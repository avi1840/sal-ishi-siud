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5"/>
  </p:sldMasterIdLst>
  <p:notesMasterIdLst>
    <p:notesMasterId r:id="rId7"/>
  </p:notesMasterIdLst>
  <p:sldIdLst>
    <p:sldId id="2147471321" r:id="rId6"/>
  </p:sldIdLst>
  <p:sldSz cx="12192000" cy="6858000"/>
  <p:notesSz cx="6858000" cy="9144000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005" autoAdjust="0"/>
    <p:restoredTop sz="94660"/>
  </p:normalViewPr>
  <p:slideViewPr>
    <p:cSldViewPr snapToGrid="0">
      <p:cViewPr>
        <p:scale>
          <a:sx n="60" d="100"/>
          <a:sy n="60" d="100"/>
        </p:scale>
        <p:origin x="840" y="-1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10" Type="http://schemas.openxmlformats.org/officeDocument/2006/relationships/theme" Target="theme/theme1.xml"/><Relationship Id="rId4" Type="http://schemas.openxmlformats.org/officeDocument/2006/relationships/customXml" Target="../customXml/item4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na Piro" userId="8d11f32d-298e-4508-aa49-935bd4df01b5" providerId="ADAL" clId="{26932A29-ACC2-4D7F-BA53-F2494F43BE19}"/>
    <pc:docChg chg="modSld">
      <pc:chgData name="Rona Piro" userId="8d11f32d-298e-4508-aa49-935bd4df01b5" providerId="ADAL" clId="{26932A29-ACC2-4D7F-BA53-F2494F43BE19}" dt="2025-03-24T07:34:47.296" v="27" actId="20577"/>
      <pc:docMkLst>
        <pc:docMk/>
      </pc:docMkLst>
      <pc:sldChg chg="modSp mod">
        <pc:chgData name="Rona Piro" userId="8d11f32d-298e-4508-aa49-935bd4df01b5" providerId="ADAL" clId="{26932A29-ACC2-4D7F-BA53-F2494F43BE19}" dt="2025-03-24T07:34:47.296" v="27" actId="20577"/>
        <pc:sldMkLst>
          <pc:docMk/>
          <pc:sldMk cId="2595788444" sldId="2147471321"/>
        </pc:sldMkLst>
        <pc:spChg chg="mod">
          <ac:chgData name="Rona Piro" userId="8d11f32d-298e-4508-aa49-935bd4df01b5" providerId="ADAL" clId="{26932A29-ACC2-4D7F-BA53-F2494F43BE19}" dt="2025-03-24T07:34:01.331" v="11" actId="20577"/>
          <ac:spMkLst>
            <pc:docMk/>
            <pc:sldMk cId="2595788444" sldId="2147471321"/>
            <ac:spMk id="3" creationId="{F4228596-3382-F789-0C75-29ED7FA20E8C}"/>
          </ac:spMkLst>
        </pc:spChg>
        <pc:spChg chg="mod">
          <ac:chgData name="Rona Piro" userId="8d11f32d-298e-4508-aa49-935bd4df01b5" providerId="ADAL" clId="{26932A29-ACC2-4D7F-BA53-F2494F43BE19}" dt="2025-03-23T12:53:22.174" v="4" actId="20577"/>
          <ac:spMkLst>
            <pc:docMk/>
            <pc:sldMk cId="2595788444" sldId="2147471321"/>
            <ac:spMk id="51" creationId="{2D3D308A-57D5-1F5E-3C85-25470EC6FBBB}"/>
          </ac:spMkLst>
        </pc:spChg>
        <pc:spChg chg="mod">
          <ac:chgData name="Rona Piro" userId="8d11f32d-298e-4508-aa49-935bd4df01b5" providerId="ADAL" clId="{26932A29-ACC2-4D7F-BA53-F2494F43BE19}" dt="2025-03-24T07:34:47.296" v="27" actId="20577"/>
          <ac:spMkLst>
            <pc:docMk/>
            <pc:sldMk cId="2595788444" sldId="2147471321"/>
            <ac:spMk id="54" creationId="{58A98DF2-04FE-CB2C-95BD-25A9E66E37E9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עליונה 1"/>
          <p:cNvSpPr>
            <a:spLocks noGrp="1"/>
          </p:cNvSpPr>
          <p:nvPr>
            <p:ph type="hdr" sz="quarter"/>
          </p:nvPr>
        </p:nvSpPr>
        <p:spPr>
          <a:xfrm>
            <a:off x="388620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idx="1"/>
          </p:nvPr>
        </p:nvSpPr>
        <p:spPr>
          <a:xfrm>
            <a:off x="1588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fld id="{2DA48311-28E7-4052-AD7B-C4055611131B}" type="datetimeFigureOut">
              <a:rPr lang="he-IL" smtClean="0"/>
              <a:t>כ"ג/אדר/תשפ"ה</a:t>
            </a:fld>
            <a:endParaRPr lang="he-IL"/>
          </a:p>
        </p:txBody>
      </p:sp>
      <p:sp>
        <p:nvSpPr>
          <p:cNvPr id="4" name="מציין מיקום של תמונת שקופית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1" anchor="ctr"/>
          <a:lstStyle/>
          <a:p>
            <a:endParaRPr lang="he-IL"/>
          </a:p>
        </p:txBody>
      </p:sp>
      <p:sp>
        <p:nvSpPr>
          <p:cNvPr id="5" name="מציין מיקום של הערות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1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4"/>
          </p:nvPr>
        </p:nvSpPr>
        <p:spPr>
          <a:xfrm>
            <a:off x="38862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5"/>
          </p:nvPr>
        </p:nvSpPr>
        <p:spPr>
          <a:xfrm>
            <a:off x="1588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fld id="{6725C3D3-F299-42C2-929B-C34AA6751DF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244357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A2191D-375B-F5EB-AD5E-2301020975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C79C88-B8E6-3F27-6B71-84A35208D7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BE7609-9CC5-7302-8F4D-A8AFBB2246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4430BC-94AA-E97B-63CC-26ECF152F3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l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EEF8C23-862A-4E90-8E18-A70B6FCB1DF9}" type="slidenum">
              <a:rPr kumimoji="0" lang="he-I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rPr>
              <a:pPr marL="0" marR="0" lvl="0" indent="0" algn="l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he-IL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77592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102D4669-6495-0EBD-EFC1-1CC71CA883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78A878E8-BA4C-F80F-6210-BD29777056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5698EE12-4660-DF45-9338-118B23E688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6A216-1055-4A0F-8147-68F9A69EAEB1}" type="datetimeFigureOut">
              <a:rPr lang="he-IL" smtClean="0"/>
              <a:t>כ"ג/אדר/תשפ"ה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EB7C6789-8D70-65C9-919B-7D515EEDE7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24988A38-B01B-D784-C33D-A4460B3EB2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2A32C-F628-4650-ABDB-DB0DF33CBBE2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9876148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2404882F-E077-9910-8FD6-4EAC2BB0AC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26EBDF21-6009-D9A6-D0F7-ADC193AE50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665C8662-0694-E143-B376-231F670AA4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6A216-1055-4A0F-8147-68F9A69EAEB1}" type="datetimeFigureOut">
              <a:rPr lang="he-IL" smtClean="0"/>
              <a:t>כ"ג/אדר/תשפ"ה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EC2B5978-EC4C-7BFE-BBA9-AFDCBADC48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6A30B015-469B-DF56-9470-AA151427D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2A32C-F628-4650-ABDB-DB0DF33CBBE2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6474731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06B5630-EE06-F9AE-1DB7-78EF3E6AEA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9F3E0E31-380F-1A1F-9383-5796D8DAF7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24D3BDCE-4561-11B7-C3EE-7879C780A5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6A216-1055-4A0F-8147-68F9A69EAEB1}" type="datetimeFigureOut">
              <a:rPr lang="he-IL" smtClean="0"/>
              <a:t>כ"ג/אדר/תשפ"ה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64FC5330-CD17-F861-87FB-E4C57A4D6E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3E20D7F1-F906-EB0E-3BBF-8005D3E6EA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2A32C-F628-4650-ABDB-DB0DF33CBBE2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2955075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E12B9E72-CE22-E519-E0A3-9152D20D0A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01B36815-1F6B-B856-33FE-5CCFC2E3AF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3DF06223-F60D-2C6F-AE30-E8C5B56E64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11E320EF-CD37-258C-11E0-44C56C77BA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6A216-1055-4A0F-8147-68F9A69EAEB1}" type="datetimeFigureOut">
              <a:rPr lang="he-IL" smtClean="0"/>
              <a:t>כ"ג/אדר/תשפ"ה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F300ECBD-507A-7212-FC95-3A8826001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EEAB6AFC-BE40-053D-3A52-C418F0EA8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2A32C-F628-4650-ABDB-DB0DF33CBBE2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7001210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DE58D7FD-79AC-9221-BEB5-277F38590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FC8A3D53-B3DE-909E-67B6-7C7656E7E5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18501C3B-736A-D9BB-144B-05CE6D2E28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טקסט 4">
            <a:extLst>
              <a:ext uri="{FF2B5EF4-FFF2-40B4-BE49-F238E27FC236}">
                <a16:creationId xmlns:a16="http://schemas.microsoft.com/office/drawing/2014/main" id="{7E0C70CC-0EAC-971E-BADF-F16AB3AFDB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מציין מיקום תוכן 5">
            <a:extLst>
              <a:ext uri="{FF2B5EF4-FFF2-40B4-BE49-F238E27FC236}">
                <a16:creationId xmlns:a16="http://schemas.microsoft.com/office/drawing/2014/main" id="{42A220C8-2E7E-9153-1F0F-0EDD2B3836A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7" name="מציין מיקום של תאריך 6">
            <a:extLst>
              <a:ext uri="{FF2B5EF4-FFF2-40B4-BE49-F238E27FC236}">
                <a16:creationId xmlns:a16="http://schemas.microsoft.com/office/drawing/2014/main" id="{C32DDE23-6953-8889-FA33-572F8EB8BA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6A216-1055-4A0F-8147-68F9A69EAEB1}" type="datetimeFigureOut">
              <a:rPr lang="he-IL" smtClean="0"/>
              <a:t>כ"ג/אדר/תשפ"ה</a:t>
            </a:fld>
            <a:endParaRPr lang="he-IL"/>
          </a:p>
        </p:txBody>
      </p:sp>
      <p:sp>
        <p:nvSpPr>
          <p:cNvPr id="8" name="מציין מיקום של כותרת תחתונה 7">
            <a:extLst>
              <a:ext uri="{FF2B5EF4-FFF2-40B4-BE49-F238E27FC236}">
                <a16:creationId xmlns:a16="http://schemas.microsoft.com/office/drawing/2014/main" id="{96672A02-D5E7-F058-E220-C5BEE77745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מציין מיקום של מספר שקופית 8">
            <a:extLst>
              <a:ext uri="{FF2B5EF4-FFF2-40B4-BE49-F238E27FC236}">
                <a16:creationId xmlns:a16="http://schemas.microsoft.com/office/drawing/2014/main" id="{B0827A79-21A4-D594-B431-9724ABDB2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2A32C-F628-4650-ABDB-DB0DF33CBBE2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1414182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317CE194-6E71-B4BC-519D-E36713129B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אריך 2">
            <a:extLst>
              <a:ext uri="{FF2B5EF4-FFF2-40B4-BE49-F238E27FC236}">
                <a16:creationId xmlns:a16="http://schemas.microsoft.com/office/drawing/2014/main" id="{8A8E05D7-EDDA-BD73-6FDA-C015F4FB30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6A216-1055-4A0F-8147-68F9A69EAEB1}" type="datetimeFigureOut">
              <a:rPr lang="he-IL" smtClean="0"/>
              <a:t>כ"ג/אדר/תשפ"ה</a:t>
            </a:fld>
            <a:endParaRPr lang="he-IL"/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9D90BE09-FD33-1423-4B7B-1EE49C94A8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EF9D2515-808C-32DE-9C7D-D43A725D3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2A32C-F628-4650-ABDB-DB0DF33CBBE2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7122370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>
            <a:extLst>
              <a:ext uri="{FF2B5EF4-FFF2-40B4-BE49-F238E27FC236}">
                <a16:creationId xmlns:a16="http://schemas.microsoft.com/office/drawing/2014/main" id="{EC002F51-B39D-4FAF-26D3-8019D64358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6A216-1055-4A0F-8147-68F9A69EAEB1}" type="datetimeFigureOut">
              <a:rPr lang="he-IL" smtClean="0"/>
              <a:t>כ"ג/אדר/תשפ"ה</a:t>
            </a:fld>
            <a:endParaRPr lang="he-IL"/>
          </a:p>
        </p:txBody>
      </p:sp>
      <p:sp>
        <p:nvSpPr>
          <p:cNvPr id="3" name="מציין מיקום של כותרת תחתונה 2">
            <a:extLst>
              <a:ext uri="{FF2B5EF4-FFF2-40B4-BE49-F238E27FC236}">
                <a16:creationId xmlns:a16="http://schemas.microsoft.com/office/drawing/2014/main" id="{32C0B33D-06A0-29F8-4326-E58C417DA5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3CD36C6C-625A-FCB9-A6E1-0BAF07FC8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2A32C-F628-4650-ABDB-DB0DF33CBBE2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5472524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2CB87551-BF02-BE36-A8B3-781E7E258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BD913A00-0571-DAE6-B9CB-8B9BE0B421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22F23512-C754-BFA1-FE65-9F7F4D61B3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DB89FAE1-5729-7324-F0F8-CD4DA2BEBF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6A216-1055-4A0F-8147-68F9A69EAEB1}" type="datetimeFigureOut">
              <a:rPr lang="he-IL" smtClean="0"/>
              <a:t>כ"ג/אדר/תשפ"ה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FF87B64A-F8B7-3F3A-0386-346014046D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B4D1CE1C-9167-4C4B-FED7-7A9E57A432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2A32C-F628-4650-ABDB-DB0DF33CBBE2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8448358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98CB34E5-82EF-DA84-B580-88EAF3FDA4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מונה 2">
            <a:extLst>
              <a:ext uri="{FF2B5EF4-FFF2-40B4-BE49-F238E27FC236}">
                <a16:creationId xmlns:a16="http://schemas.microsoft.com/office/drawing/2014/main" id="{FB48767C-8960-4826-EBB2-4B4E4E9279F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81E711FE-770B-FD1E-B1AD-3B28227C17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040779B8-1FB0-793C-C54E-AB3466BBE0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6A216-1055-4A0F-8147-68F9A69EAEB1}" type="datetimeFigureOut">
              <a:rPr lang="he-IL" smtClean="0"/>
              <a:t>כ"ג/אדר/תשפ"ה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3294F96B-FDA1-F08D-6480-0713BE30B1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E70E2D12-BEC2-F875-6D1E-B23412B91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2A32C-F628-4650-ABDB-DB0DF33CBBE2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0096498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14A81F8A-98DD-3343-FF11-CE17764AC9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29ECA048-F7A8-16D5-2EB0-A4A844EDDE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1E49E50A-C4BC-86EA-2DFD-B47EB20A9E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6A216-1055-4A0F-8147-68F9A69EAEB1}" type="datetimeFigureOut">
              <a:rPr lang="he-IL" smtClean="0"/>
              <a:t>כ"ג/אדר/תשפ"ה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E2824274-BB62-ADF3-4FD7-CDBB48F9D6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8A7DBF5C-8785-9623-3592-053EE9AF51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2A32C-F628-4650-ABDB-DB0DF33CBBE2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5019890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>
            <a:extLst>
              <a:ext uri="{FF2B5EF4-FFF2-40B4-BE49-F238E27FC236}">
                <a16:creationId xmlns:a16="http://schemas.microsoft.com/office/drawing/2014/main" id="{1A31D6F4-5A61-E2DA-F39B-B8924982718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164EA7A2-E61B-3338-9CE8-6A72F87BF4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3C3F87C6-75CD-4E01-A579-6C41997E4C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6A216-1055-4A0F-8147-68F9A69EAEB1}" type="datetimeFigureOut">
              <a:rPr lang="he-IL" smtClean="0"/>
              <a:t>כ"ג/אדר/תשפ"ה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9CDE771B-019A-2A89-C7B2-EF0DFE95D0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BA883269-CEFD-2434-40E3-2625F71BE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2A32C-F628-4650-ABDB-DB0DF33CBBE2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417045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1">
            <a:extLst>
              <a:ext uri="{FF2B5EF4-FFF2-40B4-BE49-F238E27FC236}">
                <a16:creationId xmlns:a16="http://schemas.microsoft.com/office/drawing/2014/main" id="{EF8DE357-5AE7-DEE6-D3F8-CDADADD487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C21BEFF4-1035-1033-145C-C40EB33B7C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DD355279-7281-0B9C-9A73-07EA9727C1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F6A216-1055-4A0F-8147-68F9A69EAEB1}" type="datetimeFigureOut">
              <a:rPr lang="he-IL" smtClean="0"/>
              <a:t>כ"ג/אדר/תשפ"ה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7EDB7BC8-2CCF-B730-8782-2916533C96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C9D37F05-1B97-7D7C-4E88-B152CFD882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42A32C-F628-4650-ABDB-DB0DF33CBBE2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7375854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541072-E96A-7DAB-E119-FB1E970BEB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58370864-8864-801B-07EF-5A54874367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966248"/>
            <a:ext cx="12192000" cy="910606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7706A037-25FF-ABF8-5B1D-1FD293ECD282}"/>
              </a:ext>
            </a:extLst>
          </p:cNvPr>
          <p:cNvGrpSpPr/>
          <p:nvPr/>
        </p:nvGrpSpPr>
        <p:grpSpPr>
          <a:xfrm>
            <a:off x="305330" y="6167701"/>
            <a:ext cx="2347678" cy="516168"/>
            <a:chOff x="3486150" y="1040904"/>
            <a:chExt cx="5219896" cy="1147663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3CB14FCC-BA5F-C024-907A-98AABF63813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486150" y="1807567"/>
              <a:ext cx="3619500" cy="381000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0500146B-D9CA-4193-0D3E-4F08462ADE1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245546" y="1040904"/>
              <a:ext cx="1460500" cy="1092200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D5B68886-6F2C-1A5C-67B6-F0169BEFA1C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543398" y="1080335"/>
              <a:ext cx="3632200" cy="698500"/>
            </a:xfrm>
            <a:prstGeom prst="rect">
              <a:avLst/>
            </a:prstGeom>
          </p:spPr>
        </p:pic>
      </p:grpSp>
      <p:sp>
        <p:nvSpPr>
          <p:cNvPr id="3" name="תיבת טקסט 2">
            <a:extLst>
              <a:ext uri="{FF2B5EF4-FFF2-40B4-BE49-F238E27FC236}">
                <a16:creationId xmlns:a16="http://schemas.microsoft.com/office/drawing/2014/main" id="{F4228596-3382-F789-0C75-29ED7FA20E8C}"/>
              </a:ext>
            </a:extLst>
          </p:cNvPr>
          <p:cNvSpPr txBox="1"/>
          <p:nvPr/>
        </p:nvSpPr>
        <p:spPr>
          <a:xfrm>
            <a:off x="852616" y="521906"/>
            <a:ext cx="10472528" cy="63094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e-IL" sz="3500" b="1" dirty="0">
                <a:solidFill>
                  <a:srgbClr val="9F52A3"/>
                </a:solidFill>
                <a:latin typeface="Assistant" pitchFamily="2" charset="-79"/>
                <a:cs typeface="Assistant" pitchFamily="2" charset="-79"/>
              </a:rPr>
              <a:t>מדדים משותפים ומוסכמים</a:t>
            </a:r>
            <a:r>
              <a:rPr lang="en-US" sz="3500" b="1" dirty="0">
                <a:solidFill>
                  <a:srgbClr val="9F52A3"/>
                </a:solidFill>
                <a:latin typeface="Assistant" pitchFamily="2" charset="-79"/>
                <a:cs typeface="Assistant" pitchFamily="2" charset="-79"/>
              </a:rPr>
              <a:t> </a:t>
            </a:r>
            <a:r>
              <a:rPr lang="he-IL" sz="3500" b="1" dirty="0">
                <a:solidFill>
                  <a:srgbClr val="9F52A3"/>
                </a:solidFill>
                <a:latin typeface="Assistant" pitchFamily="2" charset="-79"/>
                <a:cs typeface="Assistant" pitchFamily="2" charset="-79"/>
              </a:rPr>
              <a:t>לתוכנית מניעת הדרדרות</a:t>
            </a:r>
          </a:p>
        </p:txBody>
      </p:sp>
      <p:pic>
        <p:nvPicPr>
          <p:cNvPr id="11" name="Picture 4">
            <a:extLst>
              <a:ext uri="{FF2B5EF4-FFF2-40B4-BE49-F238E27FC236}">
                <a16:creationId xmlns:a16="http://schemas.microsoft.com/office/drawing/2014/main" id="{B3D0D8CF-752B-331D-D423-12C5C624BBA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5947394"/>
            <a:ext cx="12192000" cy="910606"/>
          </a:xfrm>
          <a:prstGeom prst="rect">
            <a:avLst/>
          </a:prstGeom>
        </p:spPr>
      </p:pic>
      <p:sp>
        <p:nvSpPr>
          <p:cNvPr id="16" name="TextBox 20">
            <a:extLst>
              <a:ext uri="{FF2B5EF4-FFF2-40B4-BE49-F238E27FC236}">
                <a16:creationId xmlns:a16="http://schemas.microsoft.com/office/drawing/2014/main" id="{0BB1CA73-8DD9-706C-7636-32514E20F13E}"/>
              </a:ext>
            </a:extLst>
          </p:cNvPr>
          <p:cNvSpPr txBox="1"/>
          <p:nvPr/>
        </p:nvSpPr>
        <p:spPr>
          <a:xfrm>
            <a:off x="8380181" y="2761766"/>
            <a:ext cx="3268594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r" defTabSz="914400" rtl="1" eaLnBrk="1" fontAlgn="auto" latinLnBrk="0" hangingPunct="1"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he-IL" dirty="0">
                <a:solidFill>
                  <a:srgbClr val="3E6BB4"/>
                </a:solidFill>
                <a:latin typeface="Assistant" pitchFamily="2" charset="-79"/>
                <a:cs typeface="Assistant" pitchFamily="2" charset="-79"/>
              </a:rPr>
              <a:t>ביטוח לאומי</a:t>
            </a:r>
          </a:p>
          <a:p>
            <a:pPr marL="285750" marR="0" lvl="0" indent="-285750" algn="r" defTabSz="914400" rtl="1" eaLnBrk="1" fontAlgn="auto" latinLnBrk="0" hangingPunct="1"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e-IL" sz="1800" i="0" u="none" strike="noStrike" kern="1200" cap="none" spc="0" normalizeH="0" baseline="0" noProof="0" dirty="0">
                <a:ln>
                  <a:noFill/>
                </a:ln>
                <a:solidFill>
                  <a:srgbClr val="3E6BB4"/>
                </a:solidFill>
                <a:effectLst/>
                <a:uLnTx/>
                <a:uFillTx/>
                <a:latin typeface="Assistant" pitchFamily="2" charset="-79"/>
                <a:ea typeface="+mn-ea"/>
                <a:cs typeface="Assistant" pitchFamily="2" charset="-79"/>
              </a:rPr>
              <a:t>קופות החולים</a:t>
            </a:r>
          </a:p>
          <a:p>
            <a:pPr marL="285750" marR="0" lvl="0" indent="-285750" algn="r" defTabSz="914400" rtl="1" eaLnBrk="1" fontAlgn="auto" latinLnBrk="0" hangingPunct="1"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he-IL" dirty="0">
                <a:solidFill>
                  <a:srgbClr val="3E6BB4"/>
                </a:solidFill>
                <a:latin typeface="Assistant" pitchFamily="2" charset="-79"/>
                <a:cs typeface="Assistant" pitchFamily="2" charset="-79"/>
              </a:rPr>
              <a:t>משרד הרווחה והביטחון החברתי</a:t>
            </a:r>
          </a:p>
          <a:p>
            <a:pPr marL="285750" marR="0" lvl="0" indent="-285750" algn="r" defTabSz="914400" rtl="1" eaLnBrk="1" fontAlgn="auto" latinLnBrk="0" hangingPunct="1"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e-IL" sz="1800" i="0" u="none" strike="noStrike" kern="1200" cap="none" spc="0" normalizeH="0" baseline="0" noProof="0" dirty="0">
                <a:ln>
                  <a:noFill/>
                </a:ln>
                <a:solidFill>
                  <a:srgbClr val="3E6BB4"/>
                </a:solidFill>
                <a:effectLst/>
                <a:uLnTx/>
                <a:uFillTx/>
                <a:latin typeface="Assistant" pitchFamily="2" charset="-79"/>
                <a:ea typeface="+mn-ea"/>
                <a:cs typeface="Assistant" pitchFamily="2" charset="-79"/>
              </a:rPr>
              <a:t>מתאמת השירות</a:t>
            </a:r>
          </a:p>
          <a:p>
            <a:pPr marL="285750" marR="0" lvl="0" indent="-285750" algn="r" defTabSz="914400" rtl="1" eaLnBrk="1" fontAlgn="auto" latinLnBrk="0" hangingPunct="1"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he-IL" dirty="0">
                <a:solidFill>
                  <a:srgbClr val="3E6BB4"/>
                </a:solidFill>
                <a:latin typeface="Assistant" pitchFamily="2" charset="-79"/>
                <a:cs typeface="Assistant" pitchFamily="2" charset="-79"/>
              </a:rPr>
              <a:t>ספק השירות</a:t>
            </a:r>
          </a:p>
          <a:p>
            <a:pPr marL="285750" marR="0" lvl="0" indent="-285750" algn="r" defTabSz="914400" rtl="1" eaLnBrk="1" fontAlgn="auto" latinLnBrk="0" hangingPunct="1"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e-IL" sz="1800" i="0" u="none" strike="noStrike" kern="1200" cap="none" spc="0" normalizeH="0" baseline="0" noProof="0" dirty="0" err="1">
                <a:ln>
                  <a:noFill/>
                </a:ln>
                <a:solidFill>
                  <a:srgbClr val="3E6BB4"/>
                </a:solidFill>
                <a:effectLst/>
                <a:uLnTx/>
                <a:uFillTx/>
                <a:latin typeface="Assistant" pitchFamily="2" charset="-79"/>
                <a:ea typeface="+mn-ea"/>
                <a:cs typeface="Assistant" pitchFamily="2" charset="-79"/>
              </a:rPr>
              <a:t>פל</a:t>
            </a:r>
            <a:r>
              <a:rPr lang="he-IL" dirty="0" err="1">
                <a:solidFill>
                  <a:srgbClr val="3E6BB4"/>
                </a:solidFill>
                <a:latin typeface="Assistant" pitchFamily="2" charset="-79"/>
                <a:cs typeface="Assistant" pitchFamily="2" charset="-79"/>
              </a:rPr>
              <a:t>טפורמה</a:t>
            </a:r>
            <a:r>
              <a:rPr lang="he-IL" dirty="0">
                <a:solidFill>
                  <a:srgbClr val="3E6BB4"/>
                </a:solidFill>
                <a:latin typeface="Assistant" pitchFamily="2" charset="-79"/>
                <a:cs typeface="Assistant" pitchFamily="2" charset="-79"/>
              </a:rPr>
              <a:t> דיגיטלית </a:t>
            </a:r>
            <a:endParaRPr kumimoji="0" lang="he-IL" sz="1800" i="0" u="none" strike="noStrike" kern="1200" cap="none" spc="0" normalizeH="0" baseline="0" noProof="0" dirty="0">
              <a:ln>
                <a:noFill/>
              </a:ln>
              <a:solidFill>
                <a:srgbClr val="3E6BB4"/>
              </a:solidFill>
              <a:effectLst/>
              <a:uLnTx/>
              <a:uFillTx/>
              <a:latin typeface="Assistant" pitchFamily="2" charset="-79"/>
              <a:ea typeface="+mn-ea"/>
              <a:cs typeface="Assistant" pitchFamily="2" charset="-79"/>
            </a:endParaRPr>
          </a:p>
        </p:txBody>
      </p:sp>
      <p:pic>
        <p:nvPicPr>
          <p:cNvPr id="19" name="Picture 29">
            <a:extLst>
              <a:ext uri="{FF2B5EF4-FFF2-40B4-BE49-F238E27FC236}">
                <a16:creationId xmlns:a16="http://schemas.microsoft.com/office/drawing/2014/main" id="{C68F246E-CEF6-CD6F-744F-B00EB03D20B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80181" y="2392234"/>
            <a:ext cx="3240000" cy="307949"/>
          </a:xfrm>
          <a:prstGeom prst="rect">
            <a:avLst/>
          </a:prstGeom>
        </p:spPr>
      </p:pic>
      <p:sp>
        <p:nvSpPr>
          <p:cNvPr id="21" name="TextBox 35">
            <a:extLst>
              <a:ext uri="{FF2B5EF4-FFF2-40B4-BE49-F238E27FC236}">
                <a16:creationId xmlns:a16="http://schemas.microsoft.com/office/drawing/2014/main" id="{AE54903E-9484-4006-9B69-BD2E42116F48}"/>
              </a:ext>
            </a:extLst>
          </p:cNvPr>
          <p:cNvSpPr txBox="1"/>
          <p:nvPr/>
        </p:nvSpPr>
        <p:spPr>
          <a:xfrm>
            <a:off x="673219" y="1797764"/>
            <a:ext cx="1721348" cy="3565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1" eaLnBrk="1" fontAlgn="auto" latinLnBrk="0" hangingPunct="1">
              <a:lnSpc>
                <a:spcPts val="223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ubik" pitchFamily="2" charset="-79"/>
                <a:ea typeface="+mn-ea"/>
                <a:cs typeface="Rubik" pitchFamily="2" charset="-79"/>
              </a:rPr>
              <a:t>מלוות התהליך:</a:t>
            </a: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ubik" pitchFamily="2" charset="-79"/>
              <a:ea typeface="+mn-ea"/>
              <a:cs typeface="Rubik" pitchFamily="2" charset="-79"/>
            </a:endParaRPr>
          </a:p>
        </p:txBody>
      </p:sp>
      <p:sp>
        <p:nvSpPr>
          <p:cNvPr id="25" name="TextBox 34">
            <a:extLst>
              <a:ext uri="{FF2B5EF4-FFF2-40B4-BE49-F238E27FC236}">
                <a16:creationId xmlns:a16="http://schemas.microsoft.com/office/drawing/2014/main" id="{2760ECF1-DF07-3C76-CA39-F851AEDEBE1D}"/>
              </a:ext>
            </a:extLst>
          </p:cNvPr>
          <p:cNvSpPr txBox="1"/>
          <p:nvPr/>
        </p:nvSpPr>
        <p:spPr>
          <a:xfrm>
            <a:off x="8316659" y="2386520"/>
            <a:ext cx="3307463" cy="3565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1" eaLnBrk="1" fontAlgn="auto" latinLnBrk="0" hangingPunct="1">
              <a:lnSpc>
                <a:spcPts val="223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e-IL" b="1" dirty="0">
                <a:solidFill>
                  <a:prstClr val="white"/>
                </a:solidFill>
                <a:latin typeface="Rubik" pitchFamily="2" charset="-79"/>
                <a:cs typeface="Rubik" pitchFamily="2" charset="-79"/>
              </a:rPr>
              <a:t>גורמים אחראיים להפקת המדדים</a:t>
            </a:r>
            <a:endParaRPr kumimoji="0" lang="he-IL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ubik" pitchFamily="2" charset="-79"/>
              <a:ea typeface="+mn-ea"/>
              <a:cs typeface="Rubik" pitchFamily="2" charset="-79"/>
            </a:endParaRPr>
          </a:p>
        </p:txBody>
      </p:sp>
      <p:sp>
        <p:nvSpPr>
          <p:cNvPr id="37" name="TextBox 38">
            <a:extLst>
              <a:ext uri="{FF2B5EF4-FFF2-40B4-BE49-F238E27FC236}">
                <a16:creationId xmlns:a16="http://schemas.microsoft.com/office/drawing/2014/main" id="{66ECCDAC-440A-F537-2B03-C619DA1978D6}"/>
              </a:ext>
            </a:extLst>
          </p:cNvPr>
          <p:cNvSpPr txBox="1"/>
          <p:nvPr/>
        </p:nvSpPr>
        <p:spPr>
          <a:xfrm>
            <a:off x="494270" y="1421971"/>
            <a:ext cx="11102321" cy="630942"/>
          </a:xfrm>
          <a:prstGeom prst="rect">
            <a:avLst/>
          </a:prstGeom>
          <a:noFill/>
          <a:ln w="9525"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pPr rtl="1"/>
            <a:r>
              <a:rPr lang="he-IL" b="1" dirty="0">
                <a:latin typeface="Assistant" pitchFamily="2" charset="-79"/>
                <a:cs typeface="Assistant" pitchFamily="2" charset="-79"/>
              </a:rPr>
              <a:t>התהליך: </a:t>
            </a:r>
          </a:p>
          <a:p>
            <a:pPr rtl="1"/>
            <a:r>
              <a:rPr lang="he-IL" sz="1700" dirty="0">
                <a:latin typeface="Assistant" pitchFamily="2" charset="-79"/>
                <a:cs typeface="Assistant" pitchFamily="2" charset="-79"/>
              </a:rPr>
              <a:t>התקיימו פגישות צוות בין-מערכתיות לקביעת עקרונות בחירת המדדים, הגדרת מדדים מדידים לכל ארגון, וגיבוש והסכמה על מדדי החובה</a:t>
            </a:r>
            <a:endParaRPr lang="en-US" sz="1700" b="1" dirty="0">
              <a:solidFill>
                <a:srgbClr val="3E6BB4"/>
              </a:solidFill>
              <a:latin typeface="Assistant" pitchFamily="2" charset="-79"/>
              <a:cs typeface="Assistant" pitchFamily="2" charset="-79"/>
            </a:endParaRPr>
          </a:p>
        </p:txBody>
      </p:sp>
      <p:sp>
        <p:nvSpPr>
          <p:cNvPr id="40" name="TextBox 20">
            <a:extLst>
              <a:ext uri="{FF2B5EF4-FFF2-40B4-BE49-F238E27FC236}">
                <a16:creationId xmlns:a16="http://schemas.microsoft.com/office/drawing/2014/main" id="{C676CDB0-F95C-45D6-6322-7B59C917ABF1}"/>
              </a:ext>
            </a:extLst>
          </p:cNvPr>
          <p:cNvSpPr txBox="1"/>
          <p:nvPr/>
        </p:nvSpPr>
        <p:spPr>
          <a:xfrm>
            <a:off x="4507688" y="2761766"/>
            <a:ext cx="3612998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r" defTabSz="914400" rtl="1" eaLnBrk="1" fontAlgn="auto" latinLnBrk="0" hangingPunct="1"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he-IL" dirty="0">
                <a:solidFill>
                  <a:srgbClr val="3E6BB4"/>
                </a:solidFill>
                <a:latin typeface="Assistant" pitchFamily="2" charset="-79"/>
                <a:cs typeface="Assistant" pitchFamily="2" charset="-79"/>
              </a:rPr>
              <a:t>מדד תוצאה</a:t>
            </a:r>
          </a:p>
          <a:p>
            <a:pPr marL="285750" marR="0" lvl="0" indent="-285750" algn="r" defTabSz="914400" rtl="1" eaLnBrk="1" fontAlgn="auto" latinLnBrk="0" hangingPunct="1"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e-IL" sz="1800" i="0" u="none" strike="noStrike" kern="1200" cap="none" spc="0" normalizeH="0" baseline="0" noProof="0" dirty="0">
                <a:ln>
                  <a:noFill/>
                </a:ln>
                <a:solidFill>
                  <a:srgbClr val="3E6BB4"/>
                </a:solidFill>
                <a:effectLst/>
                <a:uLnTx/>
                <a:uFillTx/>
                <a:latin typeface="Assistant" pitchFamily="2" charset="-79"/>
                <a:ea typeface="+mn-ea"/>
                <a:cs typeface="Assistant" pitchFamily="2" charset="-79"/>
              </a:rPr>
              <a:t>מדד מלווה לדיוק תוכנית </a:t>
            </a:r>
            <a:r>
              <a:rPr kumimoji="0" lang="he-IL" sz="1800" i="0" u="none" strike="noStrike" kern="1200" cap="none" spc="0" normalizeH="0" baseline="0" noProof="0" dirty="0" err="1">
                <a:ln>
                  <a:noFill/>
                </a:ln>
                <a:solidFill>
                  <a:srgbClr val="3E6BB4"/>
                </a:solidFill>
                <a:effectLst/>
                <a:uLnTx/>
                <a:uFillTx/>
                <a:latin typeface="Assistant" pitchFamily="2" charset="-79"/>
                <a:ea typeface="+mn-ea"/>
                <a:cs typeface="Assistant" pitchFamily="2" charset="-79"/>
              </a:rPr>
              <a:t>ההתער</a:t>
            </a:r>
            <a:r>
              <a:rPr lang="he-IL" dirty="0" err="1">
                <a:solidFill>
                  <a:srgbClr val="3E6BB4"/>
                </a:solidFill>
                <a:latin typeface="Assistant" pitchFamily="2" charset="-79"/>
                <a:cs typeface="Assistant" pitchFamily="2" charset="-79"/>
              </a:rPr>
              <a:t>בות</a:t>
            </a:r>
            <a:endParaRPr lang="he-IL" dirty="0">
              <a:solidFill>
                <a:srgbClr val="3E6BB4"/>
              </a:solidFill>
              <a:latin typeface="Assistant" pitchFamily="2" charset="-79"/>
              <a:cs typeface="Assistant" pitchFamily="2" charset="-79"/>
            </a:endParaRPr>
          </a:p>
          <a:p>
            <a:pPr marL="285750" marR="0" lvl="0" indent="-285750" algn="r" defTabSz="914400" rtl="1" eaLnBrk="1" fontAlgn="auto" latinLnBrk="0" hangingPunct="1"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e-IL" sz="1800" i="0" u="none" strike="noStrike" kern="1200" cap="none" spc="0" normalizeH="0" baseline="0" noProof="0" dirty="0">
                <a:ln>
                  <a:noFill/>
                </a:ln>
                <a:solidFill>
                  <a:srgbClr val="3E6BB4"/>
                </a:solidFill>
                <a:effectLst/>
                <a:uLnTx/>
                <a:uFillTx/>
                <a:latin typeface="Assistant" pitchFamily="2" charset="-79"/>
                <a:ea typeface="+mn-ea"/>
                <a:cs typeface="Assistant" pitchFamily="2" charset="-79"/>
              </a:rPr>
              <a:t>מדד תהליך</a:t>
            </a:r>
          </a:p>
        </p:txBody>
      </p:sp>
      <p:pic>
        <p:nvPicPr>
          <p:cNvPr id="41" name="Picture 29">
            <a:extLst>
              <a:ext uri="{FF2B5EF4-FFF2-40B4-BE49-F238E27FC236}">
                <a16:creationId xmlns:a16="http://schemas.microsoft.com/office/drawing/2014/main" id="{8A118BCF-A5B9-35E1-23A3-185B0642EA20}"/>
              </a:ext>
            </a:extLst>
          </p:cNvPr>
          <p:cNvPicPr>
            <a:picLocks/>
          </p:cNvPicPr>
          <p:nvPr/>
        </p:nvPicPr>
        <p:blipFill>
          <a:blip r:embed="rId8"/>
          <a:stretch>
            <a:fillRect/>
          </a:stretch>
        </p:blipFill>
        <p:spPr>
          <a:xfrm>
            <a:off x="4499919" y="2392234"/>
            <a:ext cx="3600000" cy="362343"/>
          </a:xfrm>
          <a:prstGeom prst="rect">
            <a:avLst/>
          </a:prstGeom>
        </p:spPr>
      </p:pic>
      <p:sp>
        <p:nvSpPr>
          <p:cNvPr id="42" name="TextBox 34">
            <a:extLst>
              <a:ext uri="{FF2B5EF4-FFF2-40B4-BE49-F238E27FC236}">
                <a16:creationId xmlns:a16="http://schemas.microsoft.com/office/drawing/2014/main" id="{C9B7E65B-C8F8-75F7-B9D3-BB0FE0E2A4F0}"/>
              </a:ext>
            </a:extLst>
          </p:cNvPr>
          <p:cNvSpPr txBox="1"/>
          <p:nvPr/>
        </p:nvSpPr>
        <p:spPr>
          <a:xfrm>
            <a:off x="5181064" y="2386520"/>
            <a:ext cx="2761335" cy="3565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1" eaLnBrk="1" fontAlgn="auto" latinLnBrk="0" hangingPunct="1">
              <a:lnSpc>
                <a:spcPts val="223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e-IL" b="1" dirty="0">
                <a:solidFill>
                  <a:prstClr val="white"/>
                </a:solidFill>
                <a:latin typeface="Rubik" pitchFamily="2" charset="-79"/>
                <a:cs typeface="Rubik" pitchFamily="2" charset="-79"/>
              </a:rPr>
              <a:t>סוגי מדדים</a:t>
            </a:r>
            <a:endParaRPr kumimoji="0" lang="he-IL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ubik" pitchFamily="2" charset="-79"/>
              <a:ea typeface="+mn-ea"/>
              <a:cs typeface="Rubik" pitchFamily="2" charset="-79"/>
            </a:endParaRPr>
          </a:p>
        </p:txBody>
      </p:sp>
      <p:sp>
        <p:nvSpPr>
          <p:cNvPr id="51" name="TextBox 20">
            <a:extLst>
              <a:ext uri="{FF2B5EF4-FFF2-40B4-BE49-F238E27FC236}">
                <a16:creationId xmlns:a16="http://schemas.microsoft.com/office/drawing/2014/main" id="{2D3D308A-57D5-1F5E-3C85-25470EC6FBBB}"/>
              </a:ext>
            </a:extLst>
          </p:cNvPr>
          <p:cNvSpPr txBox="1"/>
          <p:nvPr/>
        </p:nvSpPr>
        <p:spPr>
          <a:xfrm>
            <a:off x="494270" y="2761766"/>
            <a:ext cx="3612998" cy="36625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r" defTabSz="914400" rtl="1" eaLnBrk="1" fontAlgn="auto" latinLnBrk="0" hangingPunct="1"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he-IL" dirty="0">
                <a:solidFill>
                  <a:srgbClr val="3E6BB4"/>
                </a:solidFill>
                <a:latin typeface="Assistant" pitchFamily="2" charset="-79"/>
                <a:cs typeface="Assistant" pitchFamily="2" charset="-79"/>
              </a:rPr>
              <a:t>מערכות מידע קיימות/פנימיות</a:t>
            </a:r>
          </a:p>
          <a:p>
            <a:pPr marL="285750" marR="0" lvl="0" indent="-285750" algn="r" defTabSz="914400" rtl="1" eaLnBrk="1" fontAlgn="auto" latinLnBrk="0" hangingPunct="1"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he-IL" dirty="0">
                <a:solidFill>
                  <a:srgbClr val="3E6BB4"/>
                </a:solidFill>
                <a:latin typeface="Assistant" pitchFamily="2" charset="-79"/>
                <a:cs typeface="Assistant" pitchFamily="2" charset="-79"/>
              </a:rPr>
              <a:t>העברת נתונים אגרגטיביים</a:t>
            </a:r>
          </a:p>
          <a:p>
            <a:pPr marL="285750" marR="0" lvl="0" indent="-285750" algn="r" defTabSz="914400" rtl="1" eaLnBrk="1" fontAlgn="auto" latinLnBrk="0" hangingPunct="1"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he-IL" dirty="0">
                <a:solidFill>
                  <a:srgbClr val="3E6BB4"/>
                </a:solidFill>
                <a:latin typeface="Assistant" pitchFamily="2" charset="-79"/>
                <a:cs typeface="Assistant" pitchFamily="2" charset="-79"/>
              </a:rPr>
              <a:t>שאלונים </a:t>
            </a:r>
          </a:p>
          <a:p>
            <a:pPr marL="285750" marR="0" lvl="0" indent="-285750" algn="r" defTabSz="914400" rtl="1" eaLnBrk="1" fontAlgn="auto" latinLnBrk="0" hangingPunct="1"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he-IL" dirty="0">
                <a:solidFill>
                  <a:srgbClr val="3E6BB4"/>
                </a:solidFill>
                <a:latin typeface="Assistant" pitchFamily="2" charset="-79"/>
                <a:cs typeface="Assistant" pitchFamily="2" charset="-79"/>
              </a:rPr>
              <a:t>שיתוף מידע למערכת דיגיטלית</a:t>
            </a:r>
          </a:p>
          <a:p>
            <a:pPr marL="285750" marR="0" lvl="0" indent="-285750" algn="r" defTabSz="914400" rtl="1" eaLnBrk="1" fontAlgn="auto" latinLnBrk="0" hangingPunct="1"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he-IL" dirty="0">
                <a:solidFill>
                  <a:srgbClr val="3E6BB4"/>
                </a:solidFill>
                <a:latin typeface="Assistant" pitchFamily="2" charset="-79"/>
                <a:cs typeface="Assistant" pitchFamily="2" charset="-79"/>
              </a:rPr>
              <a:t>דיווח על התערבויות/השתתפות</a:t>
            </a:r>
          </a:p>
          <a:p>
            <a:pPr marL="285750" marR="0" lvl="0" indent="-285750" algn="r" defTabSz="914400" rtl="1" eaLnBrk="1" fontAlgn="auto" latinLnBrk="0" hangingPunct="1"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he-IL" dirty="0">
                <a:solidFill>
                  <a:srgbClr val="3E6BB4"/>
                </a:solidFill>
                <a:latin typeface="Assistant" pitchFamily="2" charset="-79"/>
                <a:cs typeface="Assistant" pitchFamily="2" charset="-79"/>
              </a:rPr>
              <a:t>הזנת נתונים במערכת</a:t>
            </a:r>
          </a:p>
          <a:p>
            <a:pPr marL="285750" marR="0" lvl="0" indent="-285750" algn="r" defTabSz="914400" rtl="1" eaLnBrk="1" fontAlgn="auto" latinLnBrk="0" hangingPunct="1"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he-IL" dirty="0">
                <a:solidFill>
                  <a:srgbClr val="3E6BB4"/>
                </a:solidFill>
                <a:latin typeface="Assistant" pitchFamily="2" charset="-79"/>
                <a:cs typeface="Assistant" pitchFamily="2" charset="-79"/>
              </a:rPr>
              <a:t>איסוף נתונים אוטומטי, </a:t>
            </a:r>
            <a:r>
              <a:rPr lang="he-IL" dirty="0" err="1">
                <a:solidFill>
                  <a:srgbClr val="3E6BB4"/>
                </a:solidFill>
                <a:latin typeface="Assistant" pitchFamily="2" charset="-79"/>
                <a:cs typeface="Assistant" pitchFamily="2" charset="-79"/>
              </a:rPr>
              <a:t>אנליטיקה</a:t>
            </a:r>
            <a:r>
              <a:rPr lang="he-IL" dirty="0">
                <a:solidFill>
                  <a:srgbClr val="3E6BB4"/>
                </a:solidFill>
                <a:latin typeface="Assistant" pitchFamily="2" charset="-79"/>
                <a:cs typeface="Assistant" pitchFamily="2" charset="-79"/>
              </a:rPr>
              <a:t>  מובנית, דוחות תקופתיים</a:t>
            </a:r>
          </a:p>
          <a:p>
            <a:pPr marL="285750" marR="0" lvl="0" indent="-285750" algn="r" defTabSz="914400" rtl="1" eaLnBrk="1" fontAlgn="auto" latinLnBrk="0" hangingPunct="1"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he-IL" sz="1800" i="0" u="none" strike="noStrike" kern="1200" cap="none" spc="0" normalizeH="0" baseline="0" noProof="0" dirty="0">
              <a:ln>
                <a:noFill/>
              </a:ln>
              <a:solidFill>
                <a:srgbClr val="3E6BB4"/>
              </a:solidFill>
              <a:effectLst/>
              <a:uLnTx/>
              <a:uFillTx/>
              <a:latin typeface="Assistant" pitchFamily="2" charset="-79"/>
              <a:ea typeface="+mn-ea"/>
              <a:cs typeface="Assistant" pitchFamily="2" charset="-79"/>
            </a:endParaRPr>
          </a:p>
        </p:txBody>
      </p:sp>
      <p:pic>
        <p:nvPicPr>
          <p:cNvPr id="52" name="Picture 29">
            <a:extLst>
              <a:ext uri="{FF2B5EF4-FFF2-40B4-BE49-F238E27FC236}">
                <a16:creationId xmlns:a16="http://schemas.microsoft.com/office/drawing/2014/main" id="{AEFB2912-05C4-573C-AE4E-6ED4ECEB1811}"/>
              </a:ext>
            </a:extLst>
          </p:cNvPr>
          <p:cNvPicPr>
            <a:picLocks/>
          </p:cNvPicPr>
          <p:nvPr/>
        </p:nvPicPr>
        <p:blipFill>
          <a:blip r:embed="rId8"/>
          <a:stretch>
            <a:fillRect/>
          </a:stretch>
        </p:blipFill>
        <p:spPr>
          <a:xfrm>
            <a:off x="456584" y="2358635"/>
            <a:ext cx="3686640" cy="362343"/>
          </a:xfrm>
          <a:prstGeom prst="rect">
            <a:avLst/>
          </a:prstGeom>
        </p:spPr>
      </p:pic>
      <p:sp>
        <p:nvSpPr>
          <p:cNvPr id="53" name="TextBox 34">
            <a:extLst>
              <a:ext uri="{FF2B5EF4-FFF2-40B4-BE49-F238E27FC236}">
                <a16:creationId xmlns:a16="http://schemas.microsoft.com/office/drawing/2014/main" id="{A37F5A7E-5CDE-95B8-2E73-5C17F3316C9B}"/>
              </a:ext>
            </a:extLst>
          </p:cNvPr>
          <p:cNvSpPr txBox="1"/>
          <p:nvPr/>
        </p:nvSpPr>
        <p:spPr>
          <a:xfrm>
            <a:off x="1157913" y="2386520"/>
            <a:ext cx="2827791" cy="3565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1" eaLnBrk="1" fontAlgn="auto" latinLnBrk="0" hangingPunct="1">
              <a:lnSpc>
                <a:spcPts val="223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e-IL" b="1" dirty="0">
                <a:solidFill>
                  <a:prstClr val="white"/>
                </a:solidFill>
                <a:latin typeface="Rubik" pitchFamily="2" charset="-79"/>
                <a:cs typeface="Rubik" pitchFamily="2" charset="-79"/>
              </a:rPr>
              <a:t>אופן המדידה</a:t>
            </a:r>
            <a:endParaRPr kumimoji="0" lang="he-IL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ubik" pitchFamily="2" charset="-79"/>
              <a:ea typeface="+mn-ea"/>
              <a:cs typeface="Rubik" pitchFamily="2" charset="-79"/>
            </a:endParaRPr>
          </a:p>
        </p:txBody>
      </p:sp>
      <p:sp>
        <p:nvSpPr>
          <p:cNvPr id="54" name="TextBox 20">
            <a:extLst>
              <a:ext uri="{FF2B5EF4-FFF2-40B4-BE49-F238E27FC236}">
                <a16:creationId xmlns:a16="http://schemas.microsoft.com/office/drawing/2014/main" id="{58A98DF2-04FE-CB2C-95BD-25A9E66E37E9}"/>
              </a:ext>
            </a:extLst>
          </p:cNvPr>
          <p:cNvSpPr txBox="1"/>
          <p:nvPr/>
        </p:nvSpPr>
        <p:spPr>
          <a:xfrm>
            <a:off x="4499919" y="4570275"/>
            <a:ext cx="3612998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r" defTabSz="914400" rtl="1" eaLnBrk="1" fontAlgn="auto" latinLnBrk="0" hangingPunct="1"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he-IL" dirty="0">
                <a:solidFill>
                  <a:srgbClr val="3E6BB4"/>
                </a:solidFill>
                <a:latin typeface="Assistant" pitchFamily="2" charset="-79"/>
                <a:cs typeface="Assistant" pitchFamily="2" charset="-79"/>
              </a:rPr>
              <a:t>מדדי חובה </a:t>
            </a:r>
          </a:p>
          <a:p>
            <a:pPr marL="285750" marR="0" lvl="0" indent="-285750" algn="r" defTabSz="914400" rtl="1" eaLnBrk="1" fontAlgn="auto" latinLnBrk="0" hangingPunct="1"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e-IL" sz="1800" i="0" u="none" strike="noStrike" kern="1200" cap="none" spc="0" normalizeH="0" baseline="0" noProof="0" dirty="0">
                <a:ln>
                  <a:noFill/>
                </a:ln>
                <a:solidFill>
                  <a:srgbClr val="3E6BB4"/>
                </a:solidFill>
                <a:effectLst/>
                <a:uLnTx/>
                <a:uFillTx/>
                <a:latin typeface="Assistant" pitchFamily="2" charset="-79"/>
                <a:ea typeface="+mn-ea"/>
                <a:cs typeface="Assistant" pitchFamily="2" charset="-79"/>
              </a:rPr>
              <a:t>מדדים מומלצים</a:t>
            </a:r>
          </a:p>
          <a:p>
            <a:pPr marL="285750" marR="0" lvl="0" indent="-285750" algn="r" defTabSz="914400" rtl="1" eaLnBrk="1" fontAlgn="auto" latinLnBrk="0" hangingPunct="1"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he-IL" dirty="0">
                <a:solidFill>
                  <a:srgbClr val="3E6BB4"/>
                </a:solidFill>
                <a:latin typeface="Assistant" pitchFamily="2" charset="-79"/>
                <a:cs typeface="Assistant" pitchFamily="2" charset="-79"/>
              </a:rPr>
              <a:t>מדדים מתקדמים (</a:t>
            </a:r>
            <a:r>
              <a:rPr lang="he-IL">
                <a:solidFill>
                  <a:srgbClr val="3E6BB4"/>
                </a:solidFill>
                <a:latin typeface="Assistant" pitchFamily="2" charset="-79"/>
                <a:cs typeface="Assistant" pitchFamily="2" charset="-79"/>
              </a:rPr>
              <a:t>יתווספו בהמשך)</a:t>
            </a:r>
            <a:endParaRPr kumimoji="0" lang="he-IL" sz="1800" i="0" u="none" strike="noStrike" kern="1200" cap="none" spc="0" normalizeH="0" baseline="0" noProof="0" dirty="0">
              <a:ln>
                <a:noFill/>
              </a:ln>
              <a:solidFill>
                <a:srgbClr val="3E6BB4"/>
              </a:solidFill>
              <a:effectLst/>
              <a:uLnTx/>
              <a:uFillTx/>
              <a:latin typeface="Assistant" pitchFamily="2" charset="-79"/>
              <a:ea typeface="+mn-ea"/>
              <a:cs typeface="Assistant" pitchFamily="2" charset="-79"/>
            </a:endParaRPr>
          </a:p>
        </p:txBody>
      </p:sp>
      <p:pic>
        <p:nvPicPr>
          <p:cNvPr id="55" name="Picture 29">
            <a:extLst>
              <a:ext uri="{FF2B5EF4-FFF2-40B4-BE49-F238E27FC236}">
                <a16:creationId xmlns:a16="http://schemas.microsoft.com/office/drawing/2014/main" id="{5FEA24D5-5617-7D75-D9E2-C6B11AE49B81}"/>
              </a:ext>
            </a:extLst>
          </p:cNvPr>
          <p:cNvPicPr>
            <a:picLocks/>
          </p:cNvPicPr>
          <p:nvPr/>
        </p:nvPicPr>
        <p:blipFill>
          <a:blip r:embed="rId8"/>
          <a:stretch>
            <a:fillRect/>
          </a:stretch>
        </p:blipFill>
        <p:spPr>
          <a:xfrm>
            <a:off x="4492150" y="4200743"/>
            <a:ext cx="3600000" cy="362343"/>
          </a:xfrm>
          <a:prstGeom prst="rect">
            <a:avLst/>
          </a:prstGeom>
        </p:spPr>
      </p:pic>
      <p:sp>
        <p:nvSpPr>
          <p:cNvPr id="56" name="TextBox 34">
            <a:extLst>
              <a:ext uri="{FF2B5EF4-FFF2-40B4-BE49-F238E27FC236}">
                <a16:creationId xmlns:a16="http://schemas.microsoft.com/office/drawing/2014/main" id="{5948622B-D8AA-E683-6024-C9D0BB413A3D}"/>
              </a:ext>
            </a:extLst>
          </p:cNvPr>
          <p:cNvSpPr txBox="1"/>
          <p:nvPr/>
        </p:nvSpPr>
        <p:spPr>
          <a:xfrm>
            <a:off x="5173295" y="4195029"/>
            <a:ext cx="2761335" cy="3565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1" eaLnBrk="1" fontAlgn="auto" latinLnBrk="0" hangingPunct="1">
              <a:lnSpc>
                <a:spcPts val="223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e-IL" b="1" dirty="0">
                <a:solidFill>
                  <a:prstClr val="white"/>
                </a:solidFill>
                <a:latin typeface="Rubik" pitchFamily="2" charset="-79"/>
                <a:cs typeface="Rubik" pitchFamily="2" charset="-79"/>
              </a:rPr>
              <a:t>היררכיה ומודולריות במדידה </a:t>
            </a:r>
            <a:endParaRPr kumimoji="0" lang="he-IL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ubik" pitchFamily="2" charset="-79"/>
              <a:ea typeface="+mn-ea"/>
              <a:cs typeface="Rubik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595788444"/>
      </p:ext>
    </p:extLst>
  </p:cSld>
  <p:clrMapOvr>
    <a:masterClrMapping/>
  </p:clrMapOvr>
</p:sld>
</file>

<file path=ppt/theme/theme1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JDCI Default Content Type" ma:contentTypeID="0x0101005E132F7B706C9D47B10A46F70A77D2DB00F723A1EBC73B9E41A50BE73F1F4B2B5F" ma:contentTypeVersion="1444" ma:contentTypeDescription="A content type to serve default crosscutting columns (each division can add their own, as needed)" ma:contentTypeScope="" ma:versionID="e4a565873e131be6b708b8594e70beff">
  <xsd:schema xmlns:xsd="http://www.w3.org/2001/XMLSchema" xmlns:xs="http://www.w3.org/2001/XMLSchema" xmlns:p="http://schemas.microsoft.com/office/2006/metadata/properties" xmlns:ns2="40865a11-04aa-4758-90f9-30fb78dc0abd" xmlns:ns3="104f4da5-538f-405d-bd44-332577b9ce93" xmlns:ns4="2fd1333a-4445-4d97-8712-034155bc4bb2" targetNamespace="http://schemas.microsoft.com/office/2006/metadata/properties" ma:root="true" ma:fieldsID="a4b29e6b8ef4f3122ec0ca16f8dc38ba" ns2:_="" ns3:_="" ns4:_="">
    <xsd:import namespace="40865a11-04aa-4758-90f9-30fb78dc0abd"/>
    <xsd:import namespace="104f4da5-538f-405d-bd44-332577b9ce93"/>
    <xsd:import namespace="2fd1333a-4445-4d97-8712-034155bc4bb2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DateTaken" minOccurs="0"/>
                <xsd:element ref="ns3:MediaServiceOCR" minOccurs="0"/>
                <xsd:element ref="ns3:MediaServiceLocation" minOccurs="0"/>
                <xsd:element ref="ns4:SharedWithUsers" minOccurs="0"/>
                <xsd:element ref="ns4:SharedWithDetails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LengthInSeconds" minOccurs="0"/>
                <xsd:element ref="ns3:lcf76f155ced4ddcb4097134ff3c332f" minOccurs="0"/>
                <xsd:element ref="ns2:TaxCatchAll" minOccurs="0"/>
                <xsd:element ref="ns3:MediaServiceObjectDetectorVersions" minOccurs="0"/>
                <xsd:element ref="ns3:MediaServiceSearchProperties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0865a11-04aa-4758-90f9-30fb78dc0abd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dexed="true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  <xsd:element name="TaxCatchAll" ma:index="26" nillable="true" ma:displayName="Taxonomy Catch All Column" ma:hidden="true" ma:list="{fd017d89-e13c-46b2-b39a-a5261efa44c4}" ma:internalName="TaxCatchAll" ma:showField="CatchAllData" ma:web="40865a11-04aa-4758-90f9-30fb78dc0ab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04f4da5-538f-405d-bd44-332577b9ce9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6" nillable="true" ma:displayName="Location" ma:internalName="MediaServiceLocation" ma:readOnly="true">
      <xsd:simpleType>
        <xsd:restriction base="dms:Text"/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21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2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3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5" nillable="true" ma:taxonomy="true" ma:internalName="lcf76f155ced4ddcb4097134ff3c332f" ma:taxonomyFieldName="MediaServiceImageTags" ma:displayName="Image Tags" ma:readOnly="false" ma:fieldId="{5cf76f15-5ced-4ddc-b409-7134ff3c332f}" ma:taxonomyMulti="true" ma:sspId="3b052595-e0a3-4aa6-8855-c090d5a7a2c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7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8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9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fd1333a-4445-4d97-8712-034155bc4bb2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dlc_DocId xmlns="40865a11-04aa-4758-90f9-30fb78dc0abd">E7RFMTJKPR4V-1699577259-358270</_dlc_DocId>
    <TaxCatchAll xmlns="40865a11-04aa-4758-90f9-30fb78dc0abd" xsi:nil="true"/>
    <lcf76f155ced4ddcb4097134ff3c332f xmlns="104f4da5-538f-405d-bd44-332577b9ce93">
      <Terms xmlns="http://schemas.microsoft.com/office/infopath/2007/PartnerControls"/>
    </lcf76f155ced4ddcb4097134ff3c332f>
    <_dlc_DocIdUrl xmlns="40865a11-04aa-4758-90f9-30fb78dc0abd">
      <Url>https://jdcil.sharepoint.com/sites/jdci/JELKA/_layouts/15/DocIdRedir.aspx?ID=E7RFMTJKPR4V-1699577259-358270</Url>
      <Description>E7RFMTJKPR4V-1699577259-358270</Description>
    </_dlc_DocIdUrl>
  </documentManagement>
</p:properties>
</file>

<file path=customXml/item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288590C-71CA-4B38-80DE-94DC6F5E92D6}">
  <ds:schemaRefs>
    <ds:schemaRef ds:uri="http://schemas.microsoft.com/sharepoint/events"/>
  </ds:schemaRefs>
</ds:datastoreItem>
</file>

<file path=customXml/itemProps2.xml><?xml version="1.0" encoding="utf-8"?>
<ds:datastoreItem xmlns:ds="http://schemas.openxmlformats.org/officeDocument/2006/customXml" ds:itemID="{0F7DA539-2002-4EA7-BF92-814F9F26B05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0865a11-04aa-4758-90f9-30fb78dc0abd"/>
    <ds:schemaRef ds:uri="104f4da5-538f-405d-bd44-332577b9ce93"/>
    <ds:schemaRef ds:uri="2fd1333a-4445-4d97-8712-034155bc4bb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841A1E7-02F8-4252-9ABD-3067FA832F0D}">
  <ds:schemaRefs>
    <ds:schemaRef ds:uri="http://schemas.microsoft.com/office/2006/metadata/properties"/>
    <ds:schemaRef ds:uri="http://schemas.microsoft.com/office/infopath/2007/PartnerControls"/>
    <ds:schemaRef ds:uri="40865a11-04aa-4758-90f9-30fb78dc0abd"/>
    <ds:schemaRef ds:uri="104f4da5-538f-405d-bd44-332577b9ce93"/>
  </ds:schemaRefs>
</ds:datastoreItem>
</file>

<file path=customXml/itemProps4.xml><?xml version="1.0" encoding="utf-8"?>
<ds:datastoreItem xmlns:ds="http://schemas.openxmlformats.org/officeDocument/2006/customXml" ds:itemID="{B5EC32E3-86B7-44FC-9AE0-C8C1E4633C6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106</Words>
  <Application>Microsoft Office PowerPoint</Application>
  <PresentationFormat>מסך רחב</PresentationFormat>
  <Paragraphs>28</Paragraphs>
  <Slides>1</Slides>
  <Notes>1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6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</vt:i4>
      </vt:variant>
    </vt:vector>
  </HeadingPairs>
  <TitlesOfParts>
    <vt:vector size="8" baseType="lpstr">
      <vt:lpstr>Aptos</vt:lpstr>
      <vt:lpstr>Aptos Display</vt:lpstr>
      <vt:lpstr>Arial</vt:lpstr>
      <vt:lpstr>Assistant</vt:lpstr>
      <vt:lpstr>Calibri</vt:lpstr>
      <vt:lpstr>Rubik</vt:lpstr>
      <vt:lpstr>ערכת נושא Office</vt:lpstr>
      <vt:lpstr>מצגת של PowerPoint‏</vt:lpstr>
    </vt:vector>
  </TitlesOfParts>
  <Company>JDC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Rona Piro</dc:creator>
  <cp:lastModifiedBy>Rona Piro</cp:lastModifiedBy>
  <cp:revision>1</cp:revision>
  <dcterms:created xsi:type="dcterms:W3CDTF">2025-03-23T12:52:11Z</dcterms:created>
  <dcterms:modified xsi:type="dcterms:W3CDTF">2025-03-24T07:34:48Z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dlc_DocIdItemGuid">
    <vt:lpwstr>1da5a31c-3255-47fe-bc4a-5de43cdaffb9</vt:lpwstr>
  </property>
  <property fmtid="{D5CDD505-2E9C-101B-9397-08002B2CF9AE}" pid="3" name="ContentTypeId">
    <vt:lpwstr>0x0101005E132F7B706C9D47B10A46F70A77D2DB00F723A1EBC73B9E41A50BE73F1F4B2B5F</vt:lpwstr>
  </property>
  <property fmtid="{D5CDD505-2E9C-101B-9397-08002B2CF9AE}" pid="4" name="MediaServiceImageTags">
    <vt:lpwstr/>
  </property>
</Properties>
</file>