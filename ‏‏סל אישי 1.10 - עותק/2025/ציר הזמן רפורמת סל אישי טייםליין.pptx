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-68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894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429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947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5735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834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327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107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305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228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253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936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F032E-3D2E-4EB6-9134-3FA6387D73C0}" type="datetimeFigureOut">
              <a:rPr lang="he-IL" smtClean="0"/>
              <a:t>י"א/כסלו/תשפ"ה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961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image" Target="../media/image88.svg"/><Relationship Id="rId3" Type="http://schemas.openxmlformats.org/officeDocument/2006/relationships/image" Target="../media/image52.svg"/><Relationship Id="rId21" Type="http://schemas.openxmlformats.org/officeDocument/2006/relationships/image" Target="../media/image70.svg"/><Relationship Id="rId34" Type="http://schemas.openxmlformats.org/officeDocument/2006/relationships/image" Target="../media/image17.png"/><Relationship Id="rId42" Type="http://schemas.openxmlformats.org/officeDocument/2006/relationships/image" Target="../media/image91.svg"/><Relationship Id="rId7" Type="http://schemas.openxmlformats.org/officeDocument/2006/relationships/image" Target="../media/image56.svg"/><Relationship Id="rId12" Type="http://schemas.openxmlformats.org/officeDocument/2006/relationships/image" Target="../media/image6.png"/><Relationship Id="rId17" Type="http://schemas.openxmlformats.org/officeDocument/2006/relationships/image" Target="../media/image66.svg"/><Relationship Id="rId25" Type="http://schemas.openxmlformats.org/officeDocument/2006/relationships/image" Target="../media/image74.svg"/><Relationship Id="rId33" Type="http://schemas.openxmlformats.org/officeDocument/2006/relationships/image" Target="../media/image82.svg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image" Target="../media/image78.sv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0.svg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image" Target="../media/image86.svg"/><Relationship Id="rId40" Type="http://schemas.openxmlformats.org/officeDocument/2006/relationships/image" Target="../media/image20.png"/><Relationship Id="rId5" Type="http://schemas.openxmlformats.org/officeDocument/2006/relationships/image" Target="../media/image54.svg"/><Relationship Id="rId15" Type="http://schemas.openxmlformats.org/officeDocument/2006/relationships/image" Target="../media/image64.svg"/><Relationship Id="rId23" Type="http://schemas.openxmlformats.org/officeDocument/2006/relationships/image" Target="../media/image72.svg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image" Target="../media/image68.svg"/><Relationship Id="rId31" Type="http://schemas.openxmlformats.org/officeDocument/2006/relationships/image" Target="../media/image80.svg"/><Relationship Id="rId4" Type="http://schemas.openxmlformats.org/officeDocument/2006/relationships/image" Target="../media/image2.png"/><Relationship Id="rId9" Type="http://schemas.openxmlformats.org/officeDocument/2006/relationships/image" Target="../media/image5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76.svg"/><Relationship Id="rId30" Type="http://schemas.openxmlformats.org/officeDocument/2006/relationships/image" Target="../media/image15.png"/><Relationship Id="rId35" Type="http://schemas.openxmlformats.org/officeDocument/2006/relationships/image" Target="../media/image8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image" Target="../media/image88.svg"/><Relationship Id="rId3" Type="http://schemas.openxmlformats.org/officeDocument/2006/relationships/image" Target="../media/image52.svg"/><Relationship Id="rId21" Type="http://schemas.openxmlformats.org/officeDocument/2006/relationships/image" Target="../media/image70.svg"/><Relationship Id="rId34" Type="http://schemas.openxmlformats.org/officeDocument/2006/relationships/image" Target="../media/image17.png"/><Relationship Id="rId42" Type="http://schemas.openxmlformats.org/officeDocument/2006/relationships/image" Target="../media/image91.svg"/><Relationship Id="rId7" Type="http://schemas.openxmlformats.org/officeDocument/2006/relationships/image" Target="../media/image56.svg"/><Relationship Id="rId12" Type="http://schemas.openxmlformats.org/officeDocument/2006/relationships/image" Target="../media/image6.png"/><Relationship Id="rId17" Type="http://schemas.openxmlformats.org/officeDocument/2006/relationships/image" Target="../media/image66.svg"/><Relationship Id="rId25" Type="http://schemas.openxmlformats.org/officeDocument/2006/relationships/image" Target="../media/image74.svg"/><Relationship Id="rId33" Type="http://schemas.openxmlformats.org/officeDocument/2006/relationships/image" Target="../media/image82.svg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image" Target="../media/image78.sv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0.svg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image" Target="../media/image86.svg"/><Relationship Id="rId40" Type="http://schemas.openxmlformats.org/officeDocument/2006/relationships/image" Target="../media/image20.png"/><Relationship Id="rId5" Type="http://schemas.openxmlformats.org/officeDocument/2006/relationships/image" Target="../media/image54.svg"/><Relationship Id="rId15" Type="http://schemas.openxmlformats.org/officeDocument/2006/relationships/image" Target="../media/image64.svg"/><Relationship Id="rId23" Type="http://schemas.openxmlformats.org/officeDocument/2006/relationships/image" Target="../media/image72.svg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image" Target="../media/image68.svg"/><Relationship Id="rId31" Type="http://schemas.openxmlformats.org/officeDocument/2006/relationships/image" Target="../media/image80.svg"/><Relationship Id="rId4" Type="http://schemas.openxmlformats.org/officeDocument/2006/relationships/image" Target="../media/image2.png"/><Relationship Id="rId9" Type="http://schemas.openxmlformats.org/officeDocument/2006/relationships/image" Target="../media/image5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76.svg"/><Relationship Id="rId30" Type="http://schemas.openxmlformats.org/officeDocument/2006/relationships/image" Target="../media/image15.png"/><Relationship Id="rId35" Type="http://schemas.openxmlformats.org/officeDocument/2006/relationships/image" Target="../media/image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6378" y="4859813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23324" y="-1801252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800" y="3240311"/>
            <a:ext cx="10820400" cy="1393127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69586" y="2660048"/>
            <a:ext cx="1726521" cy="1726521"/>
          </a:xfrm>
          <a:custGeom>
            <a:avLst/>
            <a:gdLst/>
            <a:ahLst/>
            <a:cxnLst/>
            <a:rect l="l" t="t" r="r" b="b"/>
            <a:pathLst>
              <a:path w="2589782" h="2589782">
                <a:moveTo>
                  <a:pt x="0" y="0"/>
                </a:moveTo>
                <a:lnTo>
                  <a:pt x="2589782" y="0"/>
                </a:lnTo>
                <a:lnTo>
                  <a:pt x="2589782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18624" y="3523286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6007878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9103373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458818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7554312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8" h="2589848">
                <a:moveTo>
                  <a:pt x="0" y="0"/>
                </a:moveTo>
                <a:lnTo>
                  <a:pt x="2589848" y="0"/>
                </a:lnTo>
                <a:lnTo>
                  <a:pt x="2589848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733844" y="3024306"/>
            <a:ext cx="998004" cy="9980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82905" y="3861809"/>
            <a:ext cx="998004" cy="9980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3097" y="3024306"/>
            <a:ext cx="998004" cy="9980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72158" y="3861809"/>
            <a:ext cx="998004" cy="99800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12351" y="3024306"/>
            <a:ext cx="998004" cy="99800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1412" y="3861809"/>
            <a:ext cx="998004" cy="9980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56462" y="3221661"/>
            <a:ext cx="552768" cy="603294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080601" y="3257560"/>
            <a:ext cx="482996" cy="531495"/>
          </a:xfrm>
          <a:custGeom>
            <a:avLst/>
            <a:gdLst/>
            <a:ahLst/>
            <a:cxnLst/>
            <a:rect l="l" t="t" r="r" b="b"/>
            <a:pathLst>
              <a:path w="724494" h="797242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05413" y="4113665"/>
            <a:ext cx="531495" cy="494291"/>
          </a:xfrm>
          <a:custGeom>
            <a:avLst/>
            <a:gdLst/>
            <a:ahLst/>
            <a:cxnLst/>
            <a:rect l="l" t="t" r="r" b="b"/>
            <a:pathLst>
              <a:path w="797242" h="741436">
                <a:moveTo>
                  <a:pt x="0" y="0"/>
                </a:moveTo>
                <a:lnTo>
                  <a:pt x="797243" y="0"/>
                </a:lnTo>
                <a:lnTo>
                  <a:pt x="797243" y="741436"/>
                </a:lnTo>
                <a:lnTo>
                  <a:pt x="0" y="7414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45606" y="3274834"/>
            <a:ext cx="531495" cy="496948"/>
          </a:xfrm>
          <a:custGeom>
            <a:avLst/>
            <a:gdLst/>
            <a:ahLst/>
            <a:cxnLst/>
            <a:rect l="l" t="t" r="r" b="b"/>
            <a:pathLst>
              <a:path w="797242" h="74542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518382" y="4099921"/>
            <a:ext cx="527050" cy="521779"/>
          </a:xfrm>
          <a:custGeom>
            <a:avLst/>
            <a:gdLst/>
            <a:ahLst/>
            <a:cxnLst/>
            <a:rect l="l" t="t" r="r" b="b"/>
            <a:pathLst>
              <a:path w="790575" h="782669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07914" y="193361"/>
            <a:ext cx="893513" cy="830967"/>
          </a:xfrm>
          <a:custGeom>
            <a:avLst/>
            <a:gdLst/>
            <a:ahLst/>
            <a:cxnLst/>
            <a:rect l="l" t="t" r="r" b="b"/>
            <a:pathLst>
              <a:path w="1340270" h="1246451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555969" y="6121620"/>
            <a:ext cx="2970135" cy="1317997"/>
          </a:xfrm>
          <a:custGeom>
            <a:avLst/>
            <a:gdLst/>
            <a:ahLst/>
            <a:cxnLst/>
            <a:rect l="l" t="t" r="r" b="b"/>
            <a:pathLst>
              <a:path w="4455202" h="1976996">
                <a:moveTo>
                  <a:pt x="0" y="0"/>
                </a:moveTo>
                <a:lnTo>
                  <a:pt x="4455202" y="0"/>
                </a:lnTo>
                <a:lnTo>
                  <a:pt x="4455202" y="1976996"/>
                </a:lnTo>
                <a:lnTo>
                  <a:pt x="0" y="19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732515" y="-136201"/>
            <a:ext cx="1547371" cy="1160529"/>
          </a:xfrm>
          <a:custGeom>
            <a:avLst/>
            <a:gdLst/>
            <a:ahLst/>
            <a:cxnLst/>
            <a:rect l="l" t="t" r="r" b="b"/>
            <a:pathLst>
              <a:path w="2321057" h="1740793">
                <a:moveTo>
                  <a:pt x="0" y="0"/>
                </a:moveTo>
                <a:lnTo>
                  <a:pt x="2321056" y="0"/>
                </a:lnTo>
                <a:lnTo>
                  <a:pt x="2321056" y="1740793"/>
                </a:lnTo>
                <a:lnTo>
                  <a:pt x="0" y="174079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H="1">
            <a:off x="-195911" y="5791993"/>
            <a:ext cx="1701164" cy="1456621"/>
          </a:xfrm>
          <a:custGeom>
            <a:avLst/>
            <a:gdLst/>
            <a:ahLst/>
            <a:cxnLst/>
            <a:rect l="l" t="t" r="r" b="b"/>
            <a:pathLst>
              <a:path w="2551746" h="2184932">
                <a:moveTo>
                  <a:pt x="2551745" y="0"/>
                </a:moveTo>
                <a:lnTo>
                  <a:pt x="0" y="0"/>
                </a:lnTo>
                <a:lnTo>
                  <a:pt x="0" y="2184932"/>
                </a:lnTo>
                <a:lnTo>
                  <a:pt x="2551745" y="2184932"/>
                </a:lnTo>
                <a:lnTo>
                  <a:pt x="2551745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xmlns="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V="1">
            <a:off x="2232846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3" y="704145"/>
                </a:lnTo>
                <a:lnTo>
                  <a:pt x="993503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 flipV="1">
            <a:off x="5322099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3781907" y="2986945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0"/>
                </a:moveTo>
                <a:lnTo>
                  <a:pt x="993503" y="0"/>
                </a:lnTo>
                <a:lnTo>
                  <a:pt x="993503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6917566" y="2837879"/>
            <a:ext cx="923626" cy="654620"/>
          </a:xfrm>
          <a:custGeom>
            <a:avLst/>
            <a:gdLst/>
            <a:ahLst/>
            <a:cxnLst/>
            <a:rect l="l" t="t" r="r" b="b"/>
            <a:pathLst>
              <a:path w="1385439" h="981930">
                <a:moveTo>
                  <a:pt x="0" y="0"/>
                </a:moveTo>
                <a:lnTo>
                  <a:pt x="1385439" y="0"/>
                </a:lnTo>
                <a:lnTo>
                  <a:pt x="1385439" y="981930"/>
                </a:lnTo>
                <a:lnTo>
                  <a:pt x="0" y="98193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 flipV="1">
            <a:off x="8395511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11506200" y="6112001"/>
            <a:ext cx="534837" cy="324022"/>
          </a:xfrm>
          <a:custGeom>
            <a:avLst/>
            <a:gdLst/>
            <a:ahLst/>
            <a:cxnLst/>
            <a:rect l="l" t="t" r="r" b="b"/>
            <a:pathLst>
              <a:path w="802255" h="486033">
                <a:moveTo>
                  <a:pt x="0" y="0"/>
                </a:moveTo>
                <a:lnTo>
                  <a:pt x="802255" y="0"/>
                </a:lnTo>
                <a:lnTo>
                  <a:pt x="802255" y="486033"/>
                </a:lnTo>
                <a:lnTo>
                  <a:pt x="0" y="4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xmlns="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98099" y="3992255"/>
            <a:ext cx="737112" cy="737112"/>
          </a:xfrm>
          <a:custGeom>
            <a:avLst/>
            <a:gdLst/>
            <a:ahLst/>
            <a:cxnLst/>
            <a:rect l="l" t="t" r="r" b="b"/>
            <a:pathLst>
              <a:path w="1105668" h="1105668">
                <a:moveTo>
                  <a:pt x="0" y="0"/>
                </a:moveTo>
                <a:lnTo>
                  <a:pt x="1105668" y="0"/>
                </a:lnTo>
                <a:lnTo>
                  <a:pt x="1105668" y="1105668"/>
                </a:lnTo>
                <a:lnTo>
                  <a:pt x="0" y="110566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xmlns="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509331" y="2400500"/>
            <a:ext cx="637485" cy="1055877"/>
          </a:xfrm>
          <a:custGeom>
            <a:avLst/>
            <a:gdLst/>
            <a:ahLst/>
            <a:cxnLst/>
            <a:rect l="l" t="t" r="r" b="b"/>
            <a:pathLst>
              <a:path w="956228" h="1583815">
                <a:moveTo>
                  <a:pt x="0" y="0"/>
                </a:moveTo>
                <a:lnTo>
                  <a:pt x="956228" y="0"/>
                </a:lnTo>
                <a:lnTo>
                  <a:pt x="956228" y="1583815"/>
                </a:lnTo>
                <a:lnTo>
                  <a:pt x="0" y="15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1274438" y="3551012"/>
            <a:ext cx="642144" cy="942597"/>
          </a:xfrm>
          <a:custGeom>
            <a:avLst/>
            <a:gdLst/>
            <a:ahLst/>
            <a:cxnLst/>
            <a:rect l="l" t="t" r="r" b="b"/>
            <a:pathLst>
              <a:path w="963216" h="1413895">
                <a:moveTo>
                  <a:pt x="0" y="0"/>
                </a:moveTo>
                <a:lnTo>
                  <a:pt x="963216" y="0"/>
                </a:lnTo>
                <a:lnTo>
                  <a:pt x="963216" y="1413895"/>
                </a:lnTo>
                <a:lnTo>
                  <a:pt x="0" y="141389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xmlns="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781907" y="216909"/>
            <a:ext cx="432053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946"/>
              </a:lnSpc>
            </a:pPr>
            <a:r>
              <a:rPr lang="he-IL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  <a:rtl/>
              </a:rPr>
              <a:t>המסע לסל האישי </a:t>
            </a:r>
            <a:r>
              <a:rPr lang="en-US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</a:rPr>
              <a:t>AI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6723" y="1859832"/>
            <a:ext cx="3687979" cy="1093900"/>
            <a:chOff x="0" y="115443"/>
            <a:chExt cx="7375958" cy="2187801"/>
          </a:xfrm>
        </p:grpSpPr>
        <p:sp>
          <p:nvSpPr>
            <p:cNvPr id="49" name="TextBox 49"/>
            <p:cNvSpPr txBox="1"/>
            <p:nvPr/>
          </p:nvSpPr>
          <p:spPr>
            <a:xfrm>
              <a:off x="1735630" y="115443"/>
              <a:ext cx="5640328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הרפורמה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717039"/>
              <a:ext cx="6957632" cy="1586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הצעה לשינוי בשותפות 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המלצות הוועדה הבין משרדית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חוק ההסדרים </a:t>
              </a:r>
              <a:r>
                <a:rPr lang="en-US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</a:rPr>
                <a:t>2023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482411" y="4896027"/>
            <a:ext cx="2505929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מחקר, ביסוס ולמידה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7695" y="1515259"/>
            <a:ext cx="2468541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עיצוב ותיקוף מודל השירות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9913" y="5092415"/>
            <a:ext cx="2920480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תהליכים מקבילים ומשלימים-</a:t>
            </a:r>
            <a:r>
              <a:rPr lang="en-US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</a:rPr>
              <a:t>Q1</a:t>
            </a:r>
            <a:r>
              <a:rPr lang="ar-EG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75568" y="1849026"/>
            <a:ext cx="2403065" cy="2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426"/>
              </a:lnSpc>
            </a:pPr>
            <a:r>
              <a:rPr lang="he-IL" sz="1733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צעדים להמשך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820259" y="4816290"/>
            <a:ext cx="2403065" cy="1993222"/>
            <a:chOff x="0" y="-57149"/>
            <a:chExt cx="4806131" cy="3986443"/>
          </a:xfrm>
        </p:grpSpPr>
        <p:sp>
          <p:nvSpPr>
            <p:cNvPr id="56" name="TextBox 56"/>
            <p:cNvSpPr txBox="1"/>
            <p:nvPr/>
          </p:nvSpPr>
          <p:spPr>
            <a:xfrm>
              <a:off x="700568" y="-57149"/>
              <a:ext cx="3404995" cy="10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סל תפקוד מותאם אישית </a:t>
              </a:r>
              <a:r>
                <a:rPr lang="en-US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</a:rPr>
                <a:t>AI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285365"/>
              <a:ext cx="4806131" cy="2643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האדם במרכז- ולא המערכות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הזדקנות מיטבית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מניעת הדרדרות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בחירה אישית במרקט פלייס</a:t>
              </a:r>
            </a:p>
            <a:p>
              <a:pPr algn="ctr" defTabSz="609630">
                <a:lnSpc>
                  <a:spcPts val="2053"/>
                </a:lnSpc>
              </a:pPr>
              <a:endParaRPr lang="he-IL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321307" y="1802036"/>
            <a:ext cx="2050851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סדנת עיצוב שירות</a:t>
            </a:r>
          </a:p>
          <a:p>
            <a:pPr defTabSz="609630">
              <a:lnSpc>
                <a:spcPts val="2239"/>
              </a:lnSpc>
            </a:pPr>
            <a:r>
              <a:rPr lang="ar-EG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      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מה? איך? ולמי?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מסע לקוח מחודש 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עקרונות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457155" y="5439125"/>
            <a:ext cx="321994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המלצות צוות המדדים  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פיתוח פלטפורמה דיגיטלית תומכת.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מודל </a:t>
            </a: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תמריצים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תובנות </a:t>
            </a:r>
            <a:r>
              <a:rPr lang="he-IL" sz="1600" b="1" dirty="0" err="1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7197617" y="2205049"/>
            <a:ext cx="2404467" cy="78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והרחבת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מדידה והערכה</a:t>
            </a: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סקיילינג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ארצי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758882" y="5964140"/>
            <a:ext cx="2403065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  <a:spcBef>
                <a:spcPct val="0"/>
              </a:spcBef>
            </a:pPr>
            <a:r>
              <a:rPr lang="he-IL" sz="1600" b="1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rPr>
              <a:t>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166" y="5243502"/>
            <a:ext cx="4471194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מחקר שטח עם נותני ומקבלי השירותים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מנגנון הפעלה משותף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en-US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</a:rPr>
              <a:t>2</a:t>
            </a: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נייר מדיניות משותף בפורום </a:t>
            </a:r>
            <a:r>
              <a:rPr lang="he-IL" sz="1600" b="1" dirty="0" err="1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בר"ק</a:t>
            </a:r>
            <a:endParaRPr lang="he-IL" sz="1600" b="1" dirty="0" smtClean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סקירת שוק מקיפה על פלטפורמות תומכות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</a:t>
            </a:r>
            <a:r>
              <a:rPr lang="he-IL" sz="1600" b="1" dirty="0" err="1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פיילוטים</a:t>
            </a:r>
            <a:r>
              <a:rPr lang="he-IL" sz="1600" b="1" dirty="0" smtClean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פעילים עם למידה מתמשכת מהשטח</a:t>
            </a:r>
          </a:p>
        </p:txBody>
      </p:sp>
      <p:sp>
        <p:nvSpPr>
          <p:cNvPr id="64" name="חץ ימינה 63"/>
          <p:cNvSpPr/>
          <p:nvPr/>
        </p:nvSpPr>
        <p:spPr>
          <a:xfrm>
            <a:off x="7071909" y="2830142"/>
            <a:ext cx="877069" cy="361361"/>
          </a:xfrm>
          <a:prstGeom prst="rightArrow">
            <a:avLst/>
          </a:prstGeom>
          <a:solidFill>
            <a:srgbClr val="0091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869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6378" y="4859813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23324" y="-1801252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800" y="3240311"/>
            <a:ext cx="10820400" cy="1393127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69586" y="2660048"/>
            <a:ext cx="1726521" cy="1726521"/>
          </a:xfrm>
          <a:custGeom>
            <a:avLst/>
            <a:gdLst/>
            <a:ahLst/>
            <a:cxnLst/>
            <a:rect l="l" t="t" r="r" b="b"/>
            <a:pathLst>
              <a:path w="2589782" h="2589782">
                <a:moveTo>
                  <a:pt x="0" y="0"/>
                </a:moveTo>
                <a:lnTo>
                  <a:pt x="2589782" y="0"/>
                </a:lnTo>
                <a:lnTo>
                  <a:pt x="2589782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18624" y="3523286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6007878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9103373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458818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7554312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8" h="2589848">
                <a:moveTo>
                  <a:pt x="0" y="0"/>
                </a:moveTo>
                <a:lnTo>
                  <a:pt x="2589848" y="0"/>
                </a:lnTo>
                <a:lnTo>
                  <a:pt x="2589848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733844" y="3024306"/>
            <a:ext cx="998004" cy="9980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82905" y="3861809"/>
            <a:ext cx="998004" cy="9980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3097" y="3024306"/>
            <a:ext cx="998004" cy="9980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72158" y="3861809"/>
            <a:ext cx="998004" cy="99800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12351" y="3024306"/>
            <a:ext cx="998004" cy="99800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1412" y="3861809"/>
            <a:ext cx="998004" cy="9980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56462" y="3221661"/>
            <a:ext cx="552768" cy="603294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080601" y="3257560"/>
            <a:ext cx="482996" cy="531495"/>
          </a:xfrm>
          <a:custGeom>
            <a:avLst/>
            <a:gdLst/>
            <a:ahLst/>
            <a:cxnLst/>
            <a:rect l="l" t="t" r="r" b="b"/>
            <a:pathLst>
              <a:path w="724494" h="797242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05413" y="4113665"/>
            <a:ext cx="531495" cy="494291"/>
          </a:xfrm>
          <a:custGeom>
            <a:avLst/>
            <a:gdLst/>
            <a:ahLst/>
            <a:cxnLst/>
            <a:rect l="l" t="t" r="r" b="b"/>
            <a:pathLst>
              <a:path w="797242" h="741436">
                <a:moveTo>
                  <a:pt x="0" y="0"/>
                </a:moveTo>
                <a:lnTo>
                  <a:pt x="797243" y="0"/>
                </a:lnTo>
                <a:lnTo>
                  <a:pt x="797243" y="741436"/>
                </a:lnTo>
                <a:lnTo>
                  <a:pt x="0" y="7414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45606" y="3274834"/>
            <a:ext cx="531495" cy="496948"/>
          </a:xfrm>
          <a:custGeom>
            <a:avLst/>
            <a:gdLst/>
            <a:ahLst/>
            <a:cxnLst/>
            <a:rect l="l" t="t" r="r" b="b"/>
            <a:pathLst>
              <a:path w="797242" h="74542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518382" y="4099921"/>
            <a:ext cx="527050" cy="521779"/>
          </a:xfrm>
          <a:custGeom>
            <a:avLst/>
            <a:gdLst/>
            <a:ahLst/>
            <a:cxnLst/>
            <a:rect l="l" t="t" r="r" b="b"/>
            <a:pathLst>
              <a:path w="790575" h="782669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07914" y="193361"/>
            <a:ext cx="893513" cy="830967"/>
          </a:xfrm>
          <a:custGeom>
            <a:avLst/>
            <a:gdLst/>
            <a:ahLst/>
            <a:cxnLst/>
            <a:rect l="l" t="t" r="r" b="b"/>
            <a:pathLst>
              <a:path w="1340270" h="1246451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555969" y="6121620"/>
            <a:ext cx="2970135" cy="1317997"/>
          </a:xfrm>
          <a:custGeom>
            <a:avLst/>
            <a:gdLst/>
            <a:ahLst/>
            <a:cxnLst/>
            <a:rect l="l" t="t" r="r" b="b"/>
            <a:pathLst>
              <a:path w="4455202" h="1976996">
                <a:moveTo>
                  <a:pt x="0" y="0"/>
                </a:moveTo>
                <a:lnTo>
                  <a:pt x="4455202" y="0"/>
                </a:lnTo>
                <a:lnTo>
                  <a:pt x="4455202" y="1976996"/>
                </a:lnTo>
                <a:lnTo>
                  <a:pt x="0" y="19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732515" y="-136201"/>
            <a:ext cx="1547371" cy="1160529"/>
          </a:xfrm>
          <a:custGeom>
            <a:avLst/>
            <a:gdLst/>
            <a:ahLst/>
            <a:cxnLst/>
            <a:rect l="l" t="t" r="r" b="b"/>
            <a:pathLst>
              <a:path w="2321057" h="1740793">
                <a:moveTo>
                  <a:pt x="0" y="0"/>
                </a:moveTo>
                <a:lnTo>
                  <a:pt x="2321056" y="0"/>
                </a:lnTo>
                <a:lnTo>
                  <a:pt x="2321056" y="1740793"/>
                </a:lnTo>
                <a:lnTo>
                  <a:pt x="0" y="174079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H="1">
            <a:off x="-195911" y="5791993"/>
            <a:ext cx="1701164" cy="1456621"/>
          </a:xfrm>
          <a:custGeom>
            <a:avLst/>
            <a:gdLst/>
            <a:ahLst/>
            <a:cxnLst/>
            <a:rect l="l" t="t" r="r" b="b"/>
            <a:pathLst>
              <a:path w="2551746" h="2184932">
                <a:moveTo>
                  <a:pt x="2551745" y="0"/>
                </a:moveTo>
                <a:lnTo>
                  <a:pt x="0" y="0"/>
                </a:lnTo>
                <a:lnTo>
                  <a:pt x="0" y="2184932"/>
                </a:lnTo>
                <a:lnTo>
                  <a:pt x="2551745" y="2184932"/>
                </a:lnTo>
                <a:lnTo>
                  <a:pt x="2551745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xmlns="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V="1">
            <a:off x="2232846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3" y="704145"/>
                </a:lnTo>
                <a:lnTo>
                  <a:pt x="993503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 flipV="1">
            <a:off x="5322099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3781907" y="2986945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0"/>
                </a:moveTo>
                <a:lnTo>
                  <a:pt x="993503" y="0"/>
                </a:lnTo>
                <a:lnTo>
                  <a:pt x="993503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6917566" y="2837879"/>
            <a:ext cx="923626" cy="654620"/>
          </a:xfrm>
          <a:custGeom>
            <a:avLst/>
            <a:gdLst/>
            <a:ahLst/>
            <a:cxnLst/>
            <a:rect l="l" t="t" r="r" b="b"/>
            <a:pathLst>
              <a:path w="1385439" h="981930">
                <a:moveTo>
                  <a:pt x="0" y="0"/>
                </a:moveTo>
                <a:lnTo>
                  <a:pt x="1385439" y="0"/>
                </a:lnTo>
                <a:lnTo>
                  <a:pt x="1385439" y="981930"/>
                </a:lnTo>
                <a:lnTo>
                  <a:pt x="0" y="98193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 flipV="1">
            <a:off x="8395511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11506200" y="6112001"/>
            <a:ext cx="534837" cy="324022"/>
          </a:xfrm>
          <a:custGeom>
            <a:avLst/>
            <a:gdLst/>
            <a:ahLst/>
            <a:cxnLst/>
            <a:rect l="l" t="t" r="r" b="b"/>
            <a:pathLst>
              <a:path w="802255" h="486033">
                <a:moveTo>
                  <a:pt x="0" y="0"/>
                </a:moveTo>
                <a:lnTo>
                  <a:pt x="802255" y="0"/>
                </a:lnTo>
                <a:lnTo>
                  <a:pt x="802255" y="486033"/>
                </a:lnTo>
                <a:lnTo>
                  <a:pt x="0" y="4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xmlns="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98099" y="3992255"/>
            <a:ext cx="737112" cy="737112"/>
          </a:xfrm>
          <a:custGeom>
            <a:avLst/>
            <a:gdLst/>
            <a:ahLst/>
            <a:cxnLst/>
            <a:rect l="l" t="t" r="r" b="b"/>
            <a:pathLst>
              <a:path w="1105668" h="1105668">
                <a:moveTo>
                  <a:pt x="0" y="0"/>
                </a:moveTo>
                <a:lnTo>
                  <a:pt x="1105668" y="0"/>
                </a:lnTo>
                <a:lnTo>
                  <a:pt x="1105668" y="1105668"/>
                </a:lnTo>
                <a:lnTo>
                  <a:pt x="0" y="110566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xmlns="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509331" y="2400500"/>
            <a:ext cx="637485" cy="1055877"/>
          </a:xfrm>
          <a:custGeom>
            <a:avLst/>
            <a:gdLst/>
            <a:ahLst/>
            <a:cxnLst/>
            <a:rect l="l" t="t" r="r" b="b"/>
            <a:pathLst>
              <a:path w="956228" h="1583815">
                <a:moveTo>
                  <a:pt x="0" y="0"/>
                </a:moveTo>
                <a:lnTo>
                  <a:pt x="956228" y="0"/>
                </a:lnTo>
                <a:lnTo>
                  <a:pt x="956228" y="1583815"/>
                </a:lnTo>
                <a:lnTo>
                  <a:pt x="0" y="15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1274438" y="3551012"/>
            <a:ext cx="642144" cy="942597"/>
          </a:xfrm>
          <a:custGeom>
            <a:avLst/>
            <a:gdLst/>
            <a:ahLst/>
            <a:cxnLst/>
            <a:rect l="l" t="t" r="r" b="b"/>
            <a:pathLst>
              <a:path w="963216" h="1413895">
                <a:moveTo>
                  <a:pt x="0" y="0"/>
                </a:moveTo>
                <a:lnTo>
                  <a:pt x="963216" y="0"/>
                </a:lnTo>
                <a:lnTo>
                  <a:pt x="963216" y="1413895"/>
                </a:lnTo>
                <a:lnTo>
                  <a:pt x="0" y="141389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xmlns="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781907" y="216909"/>
            <a:ext cx="432053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946"/>
              </a:lnSpc>
            </a:pPr>
            <a:r>
              <a:rPr lang="he-IL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  <a:rtl/>
              </a:rPr>
              <a:t>המסע לסל האישי </a:t>
            </a:r>
            <a:r>
              <a:rPr lang="en-US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</a:rPr>
              <a:t>AI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6723" y="1773535"/>
            <a:ext cx="3478816" cy="1180197"/>
            <a:chOff x="0" y="-57151"/>
            <a:chExt cx="6957632" cy="2360395"/>
          </a:xfrm>
        </p:grpSpPr>
        <p:sp>
          <p:nvSpPr>
            <p:cNvPr id="49" name="TextBox 49"/>
            <p:cNvSpPr txBox="1"/>
            <p:nvPr/>
          </p:nvSpPr>
          <p:spPr>
            <a:xfrm>
              <a:off x="658654" y="-57151"/>
              <a:ext cx="5640328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הרפורמה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717039"/>
              <a:ext cx="6957632" cy="1586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הצעה לשינוי בשותפות 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המלצות הוועדה הבין משרדית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חוק ההסדרים </a:t>
              </a:r>
              <a:r>
                <a:rPr lang="en-US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</a:rPr>
                <a:t>2023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482411" y="4896027"/>
            <a:ext cx="2505929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מחקר, ביסוס ולמידה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7695" y="1515259"/>
            <a:ext cx="2468541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עיצוב ותיקוף מודל השירות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9913" y="5092415"/>
            <a:ext cx="2920480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תהליכים מקבילים ומשלימים-</a:t>
            </a:r>
            <a:r>
              <a:rPr lang="en-US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</a:rPr>
              <a:t>Q1</a:t>
            </a:r>
            <a:r>
              <a:rPr lang="ar-EG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75568" y="1849026"/>
            <a:ext cx="2403065" cy="2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426"/>
              </a:lnSpc>
            </a:pPr>
            <a:r>
              <a:rPr lang="he-IL" sz="1733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צעדים להמשך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820259" y="4816290"/>
            <a:ext cx="2403065" cy="1993222"/>
            <a:chOff x="0" y="-57149"/>
            <a:chExt cx="4806131" cy="3986443"/>
          </a:xfrm>
        </p:grpSpPr>
        <p:sp>
          <p:nvSpPr>
            <p:cNvPr id="56" name="TextBox 56"/>
            <p:cNvSpPr txBox="1"/>
            <p:nvPr/>
          </p:nvSpPr>
          <p:spPr>
            <a:xfrm>
              <a:off x="700568" y="-57149"/>
              <a:ext cx="3404995" cy="10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סל תפקוד מותאם אישית </a:t>
              </a:r>
              <a:r>
                <a:rPr lang="en-US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</a:rPr>
                <a:t>AI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285365"/>
              <a:ext cx="4806131" cy="2643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האדם במרכז- ולא המערכות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הזדקנות מיטבית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מניעת הדרדרות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בחירה אישית במרקט פלייס</a:t>
              </a:r>
            </a:p>
            <a:p>
              <a:pPr algn="ctr" defTabSz="609630">
                <a:lnSpc>
                  <a:spcPts val="2053"/>
                </a:lnSpc>
              </a:pPr>
              <a:endParaRPr lang="he-IL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321307" y="1802036"/>
            <a:ext cx="2050851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סדנת עיצוב שירות</a:t>
            </a:r>
          </a:p>
          <a:p>
            <a:pPr defTabSz="609630">
              <a:lnSpc>
                <a:spcPts val="2239"/>
              </a:lnSpc>
            </a:pPr>
            <a:r>
              <a:rPr lang="ar-EG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      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מה? איך? ולמי?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מסע לקוח מחודש 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עקרונות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457155" y="5439125"/>
            <a:ext cx="3219946" cy="78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המלצות צוות המדדים  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פיתוח פלטפורמה דיגיטלית תומכת.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מודל תמריצים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197617" y="2205049"/>
            <a:ext cx="2404467" cy="78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והרחבת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מדידה והערכה</a:t>
            </a: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סקיילינג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ארצי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758882" y="5964140"/>
            <a:ext cx="2403065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  <a:spcBef>
                <a:spcPct val="0"/>
              </a:spcBef>
            </a:pPr>
            <a:r>
              <a:rPr lang="he-IL" sz="1600" b="1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rPr>
              <a:t>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166" y="5243502"/>
            <a:ext cx="4471194" cy="79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מחקר שטח עם נותני ומקבלי השירותים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מנגנון הפעלה משותף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</a:rPr>
              <a:t>2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פיילוטים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פעילים עם למידה מתמשכת מהשטח</a:t>
            </a:r>
          </a:p>
        </p:txBody>
      </p:sp>
    </p:spTree>
    <p:extLst>
      <p:ext uri="{BB962C8B-B14F-4D97-AF65-F5344CB8AC3E}">
        <p14:creationId xmlns:p14="http://schemas.microsoft.com/office/powerpoint/2010/main" val="144688773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212</Words>
  <Application>Microsoft Office PowerPoint</Application>
  <PresentationFormat>מסך רחב</PresentationFormat>
  <Paragraphs>59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10" baseType="lpstr">
      <vt:lpstr>Arial</vt:lpstr>
      <vt:lpstr>Arimo Bold</vt:lpstr>
      <vt:lpstr>Calibri</vt:lpstr>
      <vt:lpstr>Calibri Light</vt:lpstr>
      <vt:lpstr>Heebo Bold</vt:lpstr>
      <vt:lpstr>Liberation Sans Bold</vt:lpstr>
      <vt:lpstr>Times New Roman</vt:lpstr>
      <vt:lpstr>ערכת נושא Office</vt:lpstr>
      <vt:lpstr>מצגת של PowerPoint‏</vt:lpstr>
      <vt:lpstr>מצגת של PowerPoint‏</vt:lpstr>
    </vt:vector>
  </TitlesOfParts>
  <Company>Molsa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אביעד יצחקי</dc:creator>
  <cp:lastModifiedBy>אביעד יצחקי</cp:lastModifiedBy>
  <cp:revision>4</cp:revision>
  <dcterms:created xsi:type="dcterms:W3CDTF">2024-12-12T06:26:20Z</dcterms:created>
  <dcterms:modified xsi:type="dcterms:W3CDTF">2024-12-12T15:54:32Z</dcterms:modified>
</cp:coreProperties>
</file>