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1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01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F032E-3D2E-4EB6-9134-3FA6387D73C0}" type="datetimeFigureOut">
              <a:rPr lang="he-IL" smtClean="0"/>
              <a:t>י"ב/כסלו/תשפ"ה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FB063-C135-403E-A493-4257375A91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58946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F032E-3D2E-4EB6-9134-3FA6387D73C0}" type="datetimeFigureOut">
              <a:rPr lang="he-IL" smtClean="0"/>
              <a:t>י"ב/כסלו/תשפ"ה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FB063-C135-403E-A493-4257375A91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94298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F032E-3D2E-4EB6-9134-3FA6387D73C0}" type="datetimeFigureOut">
              <a:rPr lang="he-IL" smtClean="0"/>
              <a:t>י"ב/כסלו/תשפ"ה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FB063-C135-403E-A493-4257375A91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99478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F032E-3D2E-4EB6-9134-3FA6387D73C0}" type="datetimeFigureOut">
              <a:rPr lang="he-IL" smtClean="0"/>
              <a:t>י"ב/כסלו/תשפ"ה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FB063-C135-403E-A493-4257375A91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05735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F032E-3D2E-4EB6-9134-3FA6387D73C0}" type="datetimeFigureOut">
              <a:rPr lang="he-IL" smtClean="0"/>
              <a:t>י"ב/כסלו/תשפ"ה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FB063-C135-403E-A493-4257375A91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78340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F032E-3D2E-4EB6-9134-3FA6387D73C0}" type="datetimeFigureOut">
              <a:rPr lang="he-IL" smtClean="0"/>
              <a:t>י"ב/כסלו/תשפ"ה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FB063-C135-403E-A493-4257375A91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0327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F032E-3D2E-4EB6-9134-3FA6387D73C0}" type="datetimeFigureOut">
              <a:rPr lang="he-IL" smtClean="0"/>
              <a:t>י"ב/כסלו/תשפ"ה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FB063-C135-403E-A493-4257375A91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41077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F032E-3D2E-4EB6-9134-3FA6387D73C0}" type="datetimeFigureOut">
              <a:rPr lang="he-IL" smtClean="0"/>
              <a:t>י"ב/כסלו/תשפ"ה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FB063-C135-403E-A493-4257375A91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13056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F032E-3D2E-4EB6-9134-3FA6387D73C0}" type="datetimeFigureOut">
              <a:rPr lang="he-IL" smtClean="0"/>
              <a:t>י"ב/כסלו/תשפ"ה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FB063-C135-403E-A493-4257375A91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3228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F032E-3D2E-4EB6-9134-3FA6387D73C0}" type="datetimeFigureOut">
              <a:rPr lang="he-IL" smtClean="0"/>
              <a:t>י"ב/כסלו/תשפ"ה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FB063-C135-403E-A493-4257375A91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32530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F032E-3D2E-4EB6-9134-3FA6387D73C0}" type="datetimeFigureOut">
              <a:rPr lang="he-IL" smtClean="0"/>
              <a:t>י"ב/כסלו/תשפ"ה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FB063-C135-403E-A493-4257375A91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99363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F032E-3D2E-4EB6-9134-3FA6387D73C0}" type="datetimeFigureOut">
              <a:rPr lang="he-IL" smtClean="0"/>
              <a:t>י"ב/כסלו/תשפ"ה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0FB063-C135-403E-A493-4257375A91C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49616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svg"/><Relationship Id="rId21" Type="http://schemas.openxmlformats.org/officeDocument/2006/relationships/image" Target="../media/image20.svg"/><Relationship Id="rId34" Type="http://schemas.openxmlformats.org/officeDocument/2006/relationships/image" Target="../media/image33.png"/><Relationship Id="rId42" Type="http://schemas.openxmlformats.org/officeDocument/2006/relationships/image" Target="../media/image41.svg"/><Relationship Id="rId47" Type="http://schemas.openxmlformats.org/officeDocument/2006/relationships/hyperlink" Target="../Desktop/&#1505;&#1500;%20&#1488;&#1497;&#1513;&#1497;%201.10/&#1504;&#1497;&#1497;&#1512;%20&#1502;&#1491;&#1497;&#1504;&#1497;&#1493;&#1514;%20&#1505;&#1500;%20&#1514;&#1508;&#1511;&#1493;&#1491;%20&#1488;&#1497;&#1513;&#1497;%20&#1493;&#1492;&#1488;&#1494;&#1512;&#1495;%20&#1492;&#1493;&#1493;&#1514;&#1497;&#1511;%20&#1489;&#1502;&#1512;&#1499;&#1494;%20100.2024.pdf" TargetMode="External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svg"/><Relationship Id="rId40" Type="http://schemas.openxmlformats.org/officeDocument/2006/relationships/image" Target="../media/image39.png"/><Relationship Id="rId45" Type="http://schemas.openxmlformats.org/officeDocument/2006/relationships/hyperlink" Target="../Desktop/&#1505;&#1500;%20&#1488;&#1497;&#1513;&#1497;%201.10/&#1505;&#1491;&#1504;&#1488;%20&#1505;&#1500;%20&#1488;&#1497;&#1513;&#1497;/&#1502;&#1510;&#1490;&#1514;%20&#1505;&#1497;&#1499;&#1493;&#1501;%20&#1505;&#1491;&#1504;&#1514;%20&#1506;&#1497;&#1510;&#1493;&#1489;%20&#1513;&#1497;&#1512;&#1493;&#1514;%20&#1489;&#1505;&#1497;&#1506;&#1493;&#1491;%20&#1505;&#1500;%20&#1488;&#1497;&#1513;&#1497;.pdf" TargetMode="External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31" Type="http://schemas.openxmlformats.org/officeDocument/2006/relationships/image" Target="../media/image30.svg"/><Relationship Id="rId44" Type="http://schemas.openxmlformats.org/officeDocument/2006/relationships/hyperlink" Target="&#1493;&#1506;&#1491;&#1492;%20&#1489;&#1497;&#1503;%20&#1502;&#1513;&#1512;&#1491;&#1497;&#1514;%20&#1493;&#1495;&#1493;&#1511;%20&#1492;&#1492;&#1505;&#1491;&#1512;&#1497;&#1501;.pdf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Relationship Id="rId30" Type="http://schemas.openxmlformats.org/officeDocument/2006/relationships/image" Target="../media/image29.png"/><Relationship Id="rId35" Type="http://schemas.openxmlformats.org/officeDocument/2006/relationships/image" Target="../media/image34.svg"/><Relationship Id="rId43" Type="http://schemas.openxmlformats.org/officeDocument/2006/relationships/hyperlink" Target="../Desktop/&#1505;&#1500;%20&#1488;&#1497;&#1513;&#1497;%201.10/&#1492;&#1488;&#1514;&#1490;&#1512;&#1497;&#1501;%20&#1489;&#1505;&#1497;&#1506;&#1493;&#1491;%20&#1493;&#1492;&#1494;&#1491;&#1502;&#1504;&#1493;&#1514;%20&#1500;&#1513;&#1497;&#1504;&#1493;&#1497;%20&#1508;&#1493;&#1512;&#1493;&#1501;%20&#1489;&#1512;&#1511;%2011.2024.pdf" TargetMode="External"/><Relationship Id="rId48" Type="http://schemas.openxmlformats.org/officeDocument/2006/relationships/hyperlink" Target="../Desktop/&#1505;&#1500;%20&#1488;&#1497;&#1513;&#1497;%201.10/&#1496;&#1497;&#1493;&#1496;&#1514;%20&#1502;&#1497;&#1508;&#1493;&#1497;%20&#1502;&#1493;&#1491;&#1500;&#1497;&#1501;%20&#1511;&#1497;&#1497;&#1502;&#1497;&#1501;-%20&#1505;&#1511;&#1497;&#1512;&#1514;%20&#1513;&#1493;&#1511;%20&#1490;&#1512;&#1505;&#1488;%203.pdf" TargetMode="External"/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33" Type="http://schemas.openxmlformats.org/officeDocument/2006/relationships/image" Target="../media/image32.svg"/><Relationship Id="rId38" Type="http://schemas.openxmlformats.org/officeDocument/2006/relationships/image" Target="../media/image37.png"/><Relationship Id="rId46" Type="http://schemas.openxmlformats.org/officeDocument/2006/relationships/hyperlink" Target="../Desktop/&#1505;&#1500;%20&#1488;&#1497;&#1513;&#1497;%201.10/&#1502;&#1495;&#1511;&#1512;,%20&#1502;&#1504;&#1490;&#1504;&#1493;&#1503;%20&#1493;&#1514;&#1502;&#1512;&#1493;&#1510;&#1497;&#1501;%20&#1505;&#1500;%20&#1488;&#1497;&#1513;&#1497;%20&#1506;&#1489;&#1493;&#1491;&#1492;%20&#1506;&#1501;%20EY.pdf" TargetMode="External"/><Relationship Id="rId20" Type="http://schemas.openxmlformats.org/officeDocument/2006/relationships/image" Target="../media/image19.png"/><Relationship Id="rId41" Type="http://schemas.openxmlformats.org/officeDocument/2006/relationships/image" Target="../media/image40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svg"/><Relationship Id="rId21" Type="http://schemas.openxmlformats.org/officeDocument/2006/relationships/image" Target="../media/image20.svg"/><Relationship Id="rId34" Type="http://schemas.openxmlformats.org/officeDocument/2006/relationships/image" Target="../media/image33.png"/><Relationship Id="rId42" Type="http://schemas.openxmlformats.org/officeDocument/2006/relationships/image" Target="../media/image41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sv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svg"/><Relationship Id="rId40" Type="http://schemas.openxmlformats.org/officeDocument/2006/relationships/image" Target="../media/image39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31" Type="http://schemas.openxmlformats.org/officeDocument/2006/relationships/image" Target="../media/image30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Relationship Id="rId30" Type="http://schemas.openxmlformats.org/officeDocument/2006/relationships/image" Target="../media/image29.png"/><Relationship Id="rId35" Type="http://schemas.openxmlformats.org/officeDocument/2006/relationships/image" Target="../media/image34.svg"/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33" Type="http://schemas.openxmlformats.org/officeDocument/2006/relationships/image" Target="../media/image32.svg"/><Relationship Id="rId38" Type="http://schemas.openxmlformats.org/officeDocument/2006/relationships/image" Target="../media/image3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26378" y="4859813"/>
            <a:ext cx="3989224" cy="3989224"/>
          </a:xfrm>
          <a:custGeom>
            <a:avLst/>
            <a:gdLst/>
            <a:ahLst/>
            <a:cxnLst/>
            <a:rect l="l" t="t" r="r" b="b"/>
            <a:pathLst>
              <a:path w="5983836" h="5983836">
                <a:moveTo>
                  <a:pt x="0" y="0"/>
                </a:moveTo>
                <a:lnTo>
                  <a:pt x="5983836" y="0"/>
                </a:lnTo>
                <a:lnTo>
                  <a:pt x="5983836" y="5983836"/>
                </a:lnTo>
                <a:lnTo>
                  <a:pt x="0" y="5983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223324" y="-1801252"/>
            <a:ext cx="3989224" cy="3989224"/>
          </a:xfrm>
          <a:custGeom>
            <a:avLst/>
            <a:gdLst/>
            <a:ahLst/>
            <a:cxnLst/>
            <a:rect l="l" t="t" r="r" b="b"/>
            <a:pathLst>
              <a:path w="5983836" h="5983836">
                <a:moveTo>
                  <a:pt x="0" y="0"/>
                </a:moveTo>
                <a:lnTo>
                  <a:pt x="5983836" y="0"/>
                </a:lnTo>
                <a:lnTo>
                  <a:pt x="5983836" y="5983836"/>
                </a:lnTo>
                <a:lnTo>
                  <a:pt x="0" y="5983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85800" y="3240311"/>
            <a:ext cx="10820400" cy="1393127"/>
          </a:xfrm>
          <a:custGeom>
            <a:avLst/>
            <a:gdLst/>
            <a:ahLst/>
            <a:cxnLst/>
            <a:rect l="l" t="t" r="r" b="b"/>
            <a:pathLst>
              <a:path w="16230600" h="2089690">
                <a:moveTo>
                  <a:pt x="0" y="0"/>
                </a:moveTo>
                <a:lnTo>
                  <a:pt x="16230600" y="0"/>
                </a:lnTo>
                <a:lnTo>
                  <a:pt x="16230600" y="2089690"/>
                </a:lnTo>
                <a:lnTo>
                  <a:pt x="0" y="2089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1369586" y="2660048"/>
            <a:ext cx="1726521" cy="1726521"/>
          </a:xfrm>
          <a:custGeom>
            <a:avLst/>
            <a:gdLst/>
            <a:ahLst/>
            <a:cxnLst/>
            <a:rect l="l" t="t" r="r" b="b"/>
            <a:pathLst>
              <a:path w="2589782" h="2589782">
                <a:moveTo>
                  <a:pt x="0" y="0"/>
                </a:moveTo>
                <a:lnTo>
                  <a:pt x="2589782" y="0"/>
                </a:lnTo>
                <a:lnTo>
                  <a:pt x="2589782" y="2589782"/>
                </a:lnTo>
                <a:lnTo>
                  <a:pt x="0" y="25897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918624" y="3523286"/>
            <a:ext cx="1726565" cy="1726565"/>
          </a:xfrm>
          <a:custGeom>
            <a:avLst/>
            <a:gdLst/>
            <a:ahLst/>
            <a:cxnLst/>
            <a:rect l="l" t="t" r="r" b="b"/>
            <a:pathLst>
              <a:path w="2589847" h="2589848">
                <a:moveTo>
                  <a:pt x="0" y="0"/>
                </a:moveTo>
                <a:lnTo>
                  <a:pt x="2589848" y="0"/>
                </a:lnTo>
                <a:lnTo>
                  <a:pt x="2589848" y="2589848"/>
                </a:lnTo>
                <a:lnTo>
                  <a:pt x="0" y="25898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6007878" y="3523330"/>
            <a:ext cx="1726565" cy="1726565"/>
          </a:xfrm>
          <a:custGeom>
            <a:avLst/>
            <a:gdLst/>
            <a:ahLst/>
            <a:cxnLst/>
            <a:rect l="l" t="t" r="r" b="b"/>
            <a:pathLst>
              <a:path w="2589847" h="2589847">
                <a:moveTo>
                  <a:pt x="0" y="0"/>
                </a:moveTo>
                <a:lnTo>
                  <a:pt x="2589847" y="0"/>
                </a:lnTo>
                <a:lnTo>
                  <a:pt x="2589847" y="2589848"/>
                </a:lnTo>
                <a:lnTo>
                  <a:pt x="0" y="25898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6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9103373" y="3523330"/>
            <a:ext cx="1726565" cy="1726565"/>
          </a:xfrm>
          <a:custGeom>
            <a:avLst/>
            <a:gdLst/>
            <a:ahLst/>
            <a:cxnLst/>
            <a:rect l="l" t="t" r="r" b="b"/>
            <a:pathLst>
              <a:path w="2589847" h="2589847">
                <a:moveTo>
                  <a:pt x="0" y="0"/>
                </a:moveTo>
                <a:lnTo>
                  <a:pt x="2589848" y="0"/>
                </a:lnTo>
                <a:lnTo>
                  <a:pt x="2589848" y="2589848"/>
                </a:lnTo>
                <a:lnTo>
                  <a:pt x="0" y="25898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6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4458818" y="2660048"/>
            <a:ext cx="1726565" cy="1726565"/>
          </a:xfrm>
          <a:custGeom>
            <a:avLst/>
            <a:gdLst/>
            <a:ahLst/>
            <a:cxnLst/>
            <a:rect l="l" t="t" r="r" b="b"/>
            <a:pathLst>
              <a:path w="2589847" h="2589848">
                <a:moveTo>
                  <a:pt x="0" y="0"/>
                </a:moveTo>
                <a:lnTo>
                  <a:pt x="2589847" y="0"/>
                </a:lnTo>
                <a:lnTo>
                  <a:pt x="2589847" y="2589847"/>
                </a:lnTo>
                <a:lnTo>
                  <a:pt x="0" y="25898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6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7554312" y="2660048"/>
            <a:ext cx="1726565" cy="1726565"/>
          </a:xfrm>
          <a:custGeom>
            <a:avLst/>
            <a:gdLst/>
            <a:ahLst/>
            <a:cxnLst/>
            <a:rect l="l" t="t" r="r" b="b"/>
            <a:pathLst>
              <a:path w="2589848" h="2589848">
                <a:moveTo>
                  <a:pt x="0" y="0"/>
                </a:moveTo>
                <a:lnTo>
                  <a:pt x="2589848" y="0"/>
                </a:lnTo>
                <a:lnTo>
                  <a:pt x="2589848" y="2589847"/>
                </a:lnTo>
                <a:lnTo>
                  <a:pt x="0" y="25898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6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1" name="Group 11"/>
          <p:cNvGrpSpPr/>
          <p:nvPr/>
        </p:nvGrpSpPr>
        <p:grpSpPr>
          <a:xfrm>
            <a:off x="1733844" y="3024306"/>
            <a:ext cx="998004" cy="99800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FBD7D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rtl="0">
                <a:lnSpc>
                  <a:spcPts val="2239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282905" y="3861809"/>
            <a:ext cx="998004" cy="99800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882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rtl="0">
                <a:lnSpc>
                  <a:spcPts val="2239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823097" y="3024306"/>
            <a:ext cx="998004" cy="99800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A986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rtl="0">
                <a:lnSpc>
                  <a:spcPts val="2239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372158" y="3861809"/>
            <a:ext cx="998004" cy="99800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6071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rtl="0">
                <a:lnSpc>
                  <a:spcPts val="2239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912351" y="3024306"/>
            <a:ext cx="998004" cy="998004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189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rtl="0">
                <a:lnSpc>
                  <a:spcPts val="2239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461412" y="3861809"/>
            <a:ext cx="998004" cy="998004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4858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rtl="0">
                <a:lnSpc>
                  <a:spcPts val="2239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sp>
        <p:nvSpPr>
          <p:cNvPr id="29" name="Freeform 29"/>
          <p:cNvSpPr/>
          <p:nvPr/>
        </p:nvSpPr>
        <p:spPr>
          <a:xfrm>
            <a:off x="1956462" y="3221661"/>
            <a:ext cx="552768" cy="603294"/>
          </a:xfrm>
          <a:custGeom>
            <a:avLst/>
            <a:gdLst/>
            <a:ahLst/>
            <a:cxnLst/>
            <a:rect l="l" t="t" r="r" b="b"/>
            <a:pathLst>
              <a:path w="829152" h="904941">
                <a:moveTo>
                  <a:pt x="0" y="0"/>
                </a:moveTo>
                <a:lnTo>
                  <a:pt x="829152" y="0"/>
                </a:lnTo>
                <a:lnTo>
                  <a:pt x="829152" y="904941"/>
                </a:lnTo>
                <a:lnTo>
                  <a:pt x="0" y="90494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5080601" y="3257560"/>
            <a:ext cx="482996" cy="531495"/>
          </a:xfrm>
          <a:custGeom>
            <a:avLst/>
            <a:gdLst/>
            <a:ahLst/>
            <a:cxnLst/>
            <a:rect l="l" t="t" r="r" b="b"/>
            <a:pathLst>
              <a:path w="724494" h="797242">
                <a:moveTo>
                  <a:pt x="0" y="0"/>
                </a:moveTo>
                <a:lnTo>
                  <a:pt x="724494" y="0"/>
                </a:lnTo>
                <a:lnTo>
                  <a:pt x="724494" y="797243"/>
                </a:lnTo>
                <a:lnTo>
                  <a:pt x="0" y="7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6605413" y="4113665"/>
            <a:ext cx="531495" cy="494291"/>
          </a:xfrm>
          <a:custGeom>
            <a:avLst/>
            <a:gdLst/>
            <a:ahLst/>
            <a:cxnLst/>
            <a:rect l="l" t="t" r="r" b="b"/>
            <a:pathLst>
              <a:path w="797242" h="741436">
                <a:moveTo>
                  <a:pt x="0" y="0"/>
                </a:moveTo>
                <a:lnTo>
                  <a:pt x="797243" y="0"/>
                </a:lnTo>
                <a:lnTo>
                  <a:pt x="797243" y="741436"/>
                </a:lnTo>
                <a:lnTo>
                  <a:pt x="0" y="74143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8145606" y="3274834"/>
            <a:ext cx="531495" cy="496948"/>
          </a:xfrm>
          <a:custGeom>
            <a:avLst/>
            <a:gdLst/>
            <a:ahLst/>
            <a:cxnLst/>
            <a:rect l="l" t="t" r="r" b="b"/>
            <a:pathLst>
              <a:path w="797242" h="745422">
                <a:moveTo>
                  <a:pt x="0" y="0"/>
                </a:moveTo>
                <a:lnTo>
                  <a:pt x="797242" y="0"/>
                </a:lnTo>
                <a:lnTo>
                  <a:pt x="797242" y="745422"/>
                </a:lnTo>
                <a:lnTo>
                  <a:pt x="0" y="74542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3518382" y="4099921"/>
            <a:ext cx="527050" cy="521779"/>
          </a:xfrm>
          <a:custGeom>
            <a:avLst/>
            <a:gdLst/>
            <a:ahLst/>
            <a:cxnLst/>
            <a:rect l="l" t="t" r="r" b="b"/>
            <a:pathLst>
              <a:path w="790575" h="782669">
                <a:moveTo>
                  <a:pt x="0" y="0"/>
                </a:moveTo>
                <a:lnTo>
                  <a:pt x="790575" y="0"/>
                </a:lnTo>
                <a:lnTo>
                  <a:pt x="790575" y="782670"/>
                </a:lnTo>
                <a:lnTo>
                  <a:pt x="0" y="78267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207914" y="193361"/>
            <a:ext cx="893513" cy="830967"/>
          </a:xfrm>
          <a:custGeom>
            <a:avLst/>
            <a:gdLst/>
            <a:ahLst/>
            <a:cxnLst/>
            <a:rect l="l" t="t" r="r" b="b"/>
            <a:pathLst>
              <a:path w="1340270" h="1246451">
                <a:moveTo>
                  <a:pt x="0" y="0"/>
                </a:moveTo>
                <a:lnTo>
                  <a:pt x="1340269" y="0"/>
                </a:lnTo>
                <a:lnTo>
                  <a:pt x="1340269" y="1246451"/>
                </a:lnTo>
                <a:lnTo>
                  <a:pt x="0" y="1246451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0555969" y="6121620"/>
            <a:ext cx="2970135" cy="1317997"/>
          </a:xfrm>
          <a:custGeom>
            <a:avLst/>
            <a:gdLst/>
            <a:ahLst/>
            <a:cxnLst/>
            <a:rect l="l" t="t" r="r" b="b"/>
            <a:pathLst>
              <a:path w="4455202" h="1976996">
                <a:moveTo>
                  <a:pt x="0" y="0"/>
                </a:moveTo>
                <a:lnTo>
                  <a:pt x="4455202" y="0"/>
                </a:lnTo>
                <a:lnTo>
                  <a:pt x="4455202" y="1976996"/>
                </a:lnTo>
                <a:lnTo>
                  <a:pt x="0" y="1976996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0732515" y="-136201"/>
            <a:ext cx="1547371" cy="1160529"/>
          </a:xfrm>
          <a:custGeom>
            <a:avLst/>
            <a:gdLst/>
            <a:ahLst/>
            <a:cxnLst/>
            <a:rect l="l" t="t" r="r" b="b"/>
            <a:pathLst>
              <a:path w="2321057" h="1740793">
                <a:moveTo>
                  <a:pt x="0" y="0"/>
                </a:moveTo>
                <a:lnTo>
                  <a:pt x="2321056" y="0"/>
                </a:lnTo>
                <a:lnTo>
                  <a:pt x="2321056" y="1740793"/>
                </a:lnTo>
                <a:lnTo>
                  <a:pt x="0" y="1740793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 flipH="1">
            <a:off x="-195911" y="5791993"/>
            <a:ext cx="1701164" cy="1456621"/>
          </a:xfrm>
          <a:custGeom>
            <a:avLst/>
            <a:gdLst/>
            <a:ahLst/>
            <a:cxnLst/>
            <a:rect l="l" t="t" r="r" b="b"/>
            <a:pathLst>
              <a:path w="2551746" h="2184932">
                <a:moveTo>
                  <a:pt x="2551745" y="0"/>
                </a:moveTo>
                <a:lnTo>
                  <a:pt x="0" y="0"/>
                </a:lnTo>
                <a:lnTo>
                  <a:pt x="0" y="2184932"/>
                </a:lnTo>
                <a:lnTo>
                  <a:pt x="2551745" y="2184932"/>
                </a:lnTo>
                <a:lnTo>
                  <a:pt x="2551745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 flipV="1">
            <a:off x="2232846" y="4464697"/>
            <a:ext cx="662336" cy="469431"/>
          </a:xfrm>
          <a:custGeom>
            <a:avLst/>
            <a:gdLst/>
            <a:ahLst/>
            <a:cxnLst/>
            <a:rect l="l" t="t" r="r" b="b"/>
            <a:pathLst>
              <a:path w="993504" h="704146">
                <a:moveTo>
                  <a:pt x="0" y="704145"/>
                </a:moveTo>
                <a:lnTo>
                  <a:pt x="993503" y="704145"/>
                </a:lnTo>
                <a:lnTo>
                  <a:pt x="993503" y="0"/>
                </a:lnTo>
                <a:lnTo>
                  <a:pt x="0" y="0"/>
                </a:lnTo>
                <a:lnTo>
                  <a:pt x="0" y="704145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9" name="Freeform 39"/>
          <p:cNvSpPr/>
          <p:nvPr/>
        </p:nvSpPr>
        <p:spPr>
          <a:xfrm flipV="1">
            <a:off x="5322099" y="4464697"/>
            <a:ext cx="662336" cy="469431"/>
          </a:xfrm>
          <a:custGeom>
            <a:avLst/>
            <a:gdLst/>
            <a:ahLst/>
            <a:cxnLst/>
            <a:rect l="l" t="t" r="r" b="b"/>
            <a:pathLst>
              <a:path w="993504" h="704146">
                <a:moveTo>
                  <a:pt x="0" y="704145"/>
                </a:moveTo>
                <a:lnTo>
                  <a:pt x="993504" y="704145"/>
                </a:lnTo>
                <a:lnTo>
                  <a:pt x="993504" y="0"/>
                </a:lnTo>
                <a:lnTo>
                  <a:pt x="0" y="0"/>
                </a:lnTo>
                <a:lnTo>
                  <a:pt x="0" y="704145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0" name="Freeform 40"/>
          <p:cNvSpPr/>
          <p:nvPr/>
        </p:nvSpPr>
        <p:spPr>
          <a:xfrm>
            <a:off x="3781907" y="2986945"/>
            <a:ext cx="662336" cy="469431"/>
          </a:xfrm>
          <a:custGeom>
            <a:avLst/>
            <a:gdLst/>
            <a:ahLst/>
            <a:cxnLst/>
            <a:rect l="l" t="t" r="r" b="b"/>
            <a:pathLst>
              <a:path w="993504" h="704146">
                <a:moveTo>
                  <a:pt x="0" y="0"/>
                </a:moveTo>
                <a:lnTo>
                  <a:pt x="993503" y="0"/>
                </a:lnTo>
                <a:lnTo>
                  <a:pt x="993503" y="704146"/>
                </a:lnTo>
                <a:lnTo>
                  <a:pt x="0" y="704146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1" name="Freeform 41"/>
          <p:cNvSpPr/>
          <p:nvPr/>
        </p:nvSpPr>
        <p:spPr>
          <a:xfrm>
            <a:off x="6917566" y="2837879"/>
            <a:ext cx="923626" cy="654620"/>
          </a:xfrm>
          <a:custGeom>
            <a:avLst/>
            <a:gdLst/>
            <a:ahLst/>
            <a:cxnLst/>
            <a:rect l="l" t="t" r="r" b="b"/>
            <a:pathLst>
              <a:path w="1385439" h="981930">
                <a:moveTo>
                  <a:pt x="0" y="0"/>
                </a:moveTo>
                <a:lnTo>
                  <a:pt x="1385439" y="0"/>
                </a:lnTo>
                <a:lnTo>
                  <a:pt x="1385439" y="981930"/>
                </a:lnTo>
                <a:lnTo>
                  <a:pt x="0" y="981930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2" name="Freeform 42"/>
          <p:cNvSpPr/>
          <p:nvPr/>
        </p:nvSpPr>
        <p:spPr>
          <a:xfrm flipV="1">
            <a:off x="8395511" y="4464697"/>
            <a:ext cx="662336" cy="469431"/>
          </a:xfrm>
          <a:custGeom>
            <a:avLst/>
            <a:gdLst/>
            <a:ahLst/>
            <a:cxnLst/>
            <a:rect l="l" t="t" r="r" b="b"/>
            <a:pathLst>
              <a:path w="993504" h="704146">
                <a:moveTo>
                  <a:pt x="0" y="704145"/>
                </a:moveTo>
                <a:lnTo>
                  <a:pt x="993504" y="704145"/>
                </a:lnTo>
                <a:lnTo>
                  <a:pt x="993504" y="0"/>
                </a:lnTo>
                <a:lnTo>
                  <a:pt x="0" y="0"/>
                </a:lnTo>
                <a:lnTo>
                  <a:pt x="0" y="704145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3" name="Freeform 43"/>
          <p:cNvSpPr/>
          <p:nvPr/>
        </p:nvSpPr>
        <p:spPr>
          <a:xfrm>
            <a:off x="11506200" y="6112001"/>
            <a:ext cx="534837" cy="324022"/>
          </a:xfrm>
          <a:custGeom>
            <a:avLst/>
            <a:gdLst/>
            <a:ahLst/>
            <a:cxnLst/>
            <a:rect l="l" t="t" r="r" b="b"/>
            <a:pathLst>
              <a:path w="802255" h="486033">
                <a:moveTo>
                  <a:pt x="0" y="0"/>
                </a:moveTo>
                <a:lnTo>
                  <a:pt x="802255" y="0"/>
                </a:lnTo>
                <a:lnTo>
                  <a:pt x="802255" y="486033"/>
                </a:lnTo>
                <a:lnTo>
                  <a:pt x="0" y="486033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9598099" y="3992255"/>
            <a:ext cx="737112" cy="737112"/>
          </a:xfrm>
          <a:custGeom>
            <a:avLst/>
            <a:gdLst/>
            <a:ahLst/>
            <a:cxnLst/>
            <a:rect l="l" t="t" r="r" b="b"/>
            <a:pathLst>
              <a:path w="1105668" h="1105668">
                <a:moveTo>
                  <a:pt x="0" y="0"/>
                </a:moveTo>
                <a:lnTo>
                  <a:pt x="1105668" y="0"/>
                </a:lnTo>
                <a:lnTo>
                  <a:pt x="1105668" y="1105668"/>
                </a:lnTo>
                <a:lnTo>
                  <a:pt x="0" y="1105668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6509331" y="2400500"/>
            <a:ext cx="637485" cy="1055877"/>
          </a:xfrm>
          <a:custGeom>
            <a:avLst/>
            <a:gdLst/>
            <a:ahLst/>
            <a:cxnLst/>
            <a:rect l="l" t="t" r="r" b="b"/>
            <a:pathLst>
              <a:path w="956228" h="1583815">
                <a:moveTo>
                  <a:pt x="0" y="0"/>
                </a:moveTo>
                <a:lnTo>
                  <a:pt x="956228" y="0"/>
                </a:lnTo>
                <a:lnTo>
                  <a:pt x="956228" y="1583815"/>
                </a:lnTo>
                <a:lnTo>
                  <a:pt x="0" y="1583815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1274438" y="3551012"/>
            <a:ext cx="642144" cy="942597"/>
          </a:xfrm>
          <a:custGeom>
            <a:avLst/>
            <a:gdLst/>
            <a:ahLst/>
            <a:cxnLst/>
            <a:rect l="l" t="t" r="r" b="b"/>
            <a:pathLst>
              <a:path w="963216" h="1413895">
                <a:moveTo>
                  <a:pt x="0" y="0"/>
                </a:moveTo>
                <a:lnTo>
                  <a:pt x="963216" y="0"/>
                </a:lnTo>
                <a:lnTo>
                  <a:pt x="963216" y="1413895"/>
                </a:lnTo>
                <a:lnTo>
                  <a:pt x="0" y="1413895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7"/>
          <p:cNvSpPr txBox="1"/>
          <p:nvPr/>
        </p:nvSpPr>
        <p:spPr>
          <a:xfrm>
            <a:off x="3781907" y="216909"/>
            <a:ext cx="4320531" cy="60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4946"/>
              </a:lnSpc>
            </a:pPr>
            <a:r>
              <a:rPr lang="he-IL" sz="3533" b="1" dirty="0">
                <a:solidFill>
                  <a:srgbClr val="151857"/>
                </a:solidFill>
                <a:latin typeface="+mj-lt"/>
                <a:ea typeface="Heebo Bold"/>
                <a:sym typeface="Heebo Bold"/>
                <a:rtl/>
              </a:rPr>
              <a:t>המסע לסל האישי </a:t>
            </a:r>
            <a:r>
              <a:rPr lang="en-US" sz="3533" b="1" dirty="0">
                <a:solidFill>
                  <a:srgbClr val="151857"/>
                </a:solidFill>
                <a:latin typeface="+mj-lt"/>
                <a:ea typeface="Heebo Bold"/>
                <a:sym typeface="Heebo Bold"/>
              </a:rPr>
              <a:t>AI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136723" y="1859832"/>
            <a:ext cx="3687979" cy="1093900"/>
            <a:chOff x="0" y="115443"/>
            <a:chExt cx="7375958" cy="2187801"/>
          </a:xfrm>
        </p:grpSpPr>
        <p:sp>
          <p:nvSpPr>
            <p:cNvPr id="49" name="TextBox 49"/>
            <p:cNvSpPr txBox="1"/>
            <p:nvPr/>
          </p:nvSpPr>
          <p:spPr>
            <a:xfrm>
              <a:off x="1735630" y="115443"/>
              <a:ext cx="5640328" cy="5165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2239"/>
                </a:lnSpc>
              </a:pPr>
              <a:r>
                <a:rPr lang="he-IL" sz="1600" b="1" dirty="0">
                  <a:solidFill>
                    <a:srgbClr val="151857"/>
                  </a:solidFill>
                  <a:latin typeface="+mj-lt"/>
                  <a:ea typeface="Liberation Sans Bold"/>
                  <a:sym typeface="Liberation Sans Bold"/>
                  <a:rtl/>
                </a:rPr>
                <a:t>גיבוש הרפורמה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717039"/>
              <a:ext cx="6957632" cy="1586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31061" lvl="1" indent="-165531" defTabSz="609630">
                <a:lnSpc>
                  <a:spcPts val="2146"/>
                </a:lnSpc>
                <a:buFont typeface="Arial"/>
                <a:buChar char="•"/>
              </a:pPr>
              <a:r>
                <a:rPr lang="he-IL" sz="1600" b="1" dirty="0">
                  <a:solidFill>
                    <a:srgbClr val="000000"/>
                  </a:solidFill>
                  <a:latin typeface="+mj-lt"/>
                  <a:ea typeface="Liberation Sans Bold"/>
                  <a:sym typeface="Liberation Sans Bold"/>
                  <a:hlinkClick r:id="rId43" action="ppaction://hlinkfile"/>
                  <a:rtl/>
                </a:rPr>
                <a:t>גיבוש הצעה לשינוי בשותפות </a:t>
              </a:r>
              <a:endParaRPr lang="he-IL" sz="1600" b="1" dirty="0">
                <a:solidFill>
                  <a:srgbClr val="000000"/>
                </a:solidFill>
                <a:latin typeface="+mj-lt"/>
                <a:ea typeface="Liberation Sans Bold"/>
                <a:sym typeface="Liberation Sans Bold"/>
                <a:rtl/>
              </a:endParaRPr>
            </a:p>
            <a:p>
              <a:pPr marL="331061" lvl="1" indent="-165531" defTabSz="609630">
                <a:lnSpc>
                  <a:spcPts val="2146"/>
                </a:lnSpc>
                <a:buFont typeface="Arial"/>
                <a:buChar char="•"/>
              </a:pPr>
              <a:r>
                <a:rPr lang="he-IL" sz="1600" b="1" dirty="0">
                  <a:solidFill>
                    <a:srgbClr val="000000"/>
                  </a:solidFill>
                  <a:latin typeface="+mj-lt"/>
                  <a:ea typeface="Liberation Sans Bold"/>
                  <a:sym typeface="Liberation Sans Bold"/>
                  <a:hlinkClick r:id="rId44" action="ppaction://hlinkfile"/>
                  <a:rtl/>
                </a:rPr>
                <a:t>המלצות הוועדה הבין משרדית</a:t>
              </a:r>
            </a:p>
            <a:p>
              <a:pPr marL="331061" lvl="1" indent="-165531" defTabSz="609630">
                <a:lnSpc>
                  <a:spcPts val="2146"/>
                </a:lnSpc>
                <a:buFont typeface="Arial"/>
                <a:buChar char="•"/>
              </a:pPr>
              <a:r>
                <a:rPr lang="he-IL" sz="1600" b="1" dirty="0">
                  <a:solidFill>
                    <a:srgbClr val="000000"/>
                  </a:solidFill>
                  <a:latin typeface="+mj-lt"/>
                  <a:ea typeface="Liberation Sans Bold"/>
                  <a:sym typeface="Liberation Sans Bold"/>
                  <a:hlinkClick r:id="rId44" action="ppaction://hlinkfile"/>
                  <a:rtl/>
                </a:rPr>
                <a:t>חוק ההסדרים </a:t>
              </a:r>
              <a:r>
                <a:rPr lang="en-US" sz="1600" b="1" dirty="0">
                  <a:solidFill>
                    <a:srgbClr val="000000"/>
                  </a:solidFill>
                  <a:latin typeface="+mj-lt"/>
                  <a:ea typeface="Liberation Sans Bold"/>
                  <a:sym typeface="Liberation Sans Bold"/>
                  <a:hlinkClick r:id="rId44" action="ppaction://hlinkfile"/>
                </a:rPr>
                <a:t>2023</a:t>
              </a:r>
              <a:endParaRPr lang="en-US" sz="1600" b="1" dirty="0">
                <a:solidFill>
                  <a:srgbClr val="000000"/>
                </a:solidFill>
                <a:latin typeface="+mj-lt"/>
                <a:ea typeface="Liberation Sans Bold"/>
                <a:sym typeface="Liberation Sans Bold"/>
              </a:endParaRP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2482411" y="4896027"/>
            <a:ext cx="2505929" cy="258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239"/>
              </a:lnSpc>
            </a:pPr>
            <a:r>
              <a:rPr lang="he-IL" sz="1600" b="1">
                <a:solidFill>
                  <a:srgbClr val="151857"/>
                </a:solidFill>
                <a:latin typeface="+mj-lt"/>
                <a:ea typeface="Liberation Sans Bold"/>
                <a:sym typeface="Liberation Sans Bold"/>
                <a:rtl/>
              </a:rPr>
              <a:t>מחקר, ביסוס ולמידה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017695" y="1515259"/>
            <a:ext cx="2468541" cy="258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239"/>
              </a:lnSpc>
            </a:pPr>
            <a:r>
              <a:rPr lang="he-IL" sz="1600" b="1" dirty="0">
                <a:solidFill>
                  <a:srgbClr val="151857"/>
                </a:solidFill>
                <a:latin typeface="+mj-lt"/>
                <a:ea typeface="Liberation Sans Bold"/>
                <a:sym typeface="Liberation Sans Bold"/>
                <a:rtl/>
              </a:rPr>
              <a:t>עיצוב ותיקוף מודל השירות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679913" y="5092415"/>
            <a:ext cx="2920480" cy="26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239"/>
              </a:lnSpc>
            </a:pPr>
            <a:r>
              <a:rPr lang="he-IL" sz="1600" b="1" dirty="0">
                <a:solidFill>
                  <a:srgbClr val="151857"/>
                </a:solidFill>
                <a:latin typeface="+mj-lt"/>
                <a:ea typeface="Liberation Sans Bold"/>
                <a:sym typeface="Liberation Sans Bold"/>
                <a:rtl/>
              </a:rPr>
              <a:t>תהליכים מקבילים ומשלימים-</a:t>
            </a:r>
            <a:r>
              <a:rPr lang="en-US" sz="1600" b="1" dirty="0">
                <a:solidFill>
                  <a:srgbClr val="151857"/>
                </a:solidFill>
                <a:latin typeface="+mj-lt"/>
                <a:ea typeface="Liberation Sans Bold"/>
                <a:sym typeface="Liberation Sans Bold"/>
              </a:rPr>
              <a:t>Q1</a:t>
            </a:r>
            <a:r>
              <a:rPr lang="ar-EG" sz="1600" b="1" dirty="0">
                <a:solidFill>
                  <a:srgbClr val="151857"/>
                </a:solidFill>
                <a:latin typeface="+mj-lt"/>
                <a:ea typeface="Liberation Sans Bold"/>
                <a:sym typeface="Liberation Sans Bold"/>
                <a:rtl/>
              </a:rPr>
              <a:t>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475568" y="1849026"/>
            <a:ext cx="2403065" cy="281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426"/>
              </a:lnSpc>
            </a:pPr>
            <a:r>
              <a:rPr lang="he-IL" sz="1733" b="1">
                <a:solidFill>
                  <a:srgbClr val="151857"/>
                </a:solidFill>
                <a:latin typeface="+mj-lt"/>
                <a:ea typeface="Liberation Sans Bold"/>
                <a:sym typeface="Liberation Sans Bold"/>
                <a:rtl/>
              </a:rPr>
              <a:t>צעדים להמשך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8820259" y="4816290"/>
            <a:ext cx="2403065" cy="1993222"/>
            <a:chOff x="0" y="-57149"/>
            <a:chExt cx="4806131" cy="3986443"/>
          </a:xfrm>
        </p:grpSpPr>
        <p:sp>
          <p:nvSpPr>
            <p:cNvPr id="56" name="TextBox 56"/>
            <p:cNvSpPr txBox="1"/>
            <p:nvPr/>
          </p:nvSpPr>
          <p:spPr>
            <a:xfrm>
              <a:off x="700568" y="-57149"/>
              <a:ext cx="3404995" cy="1092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2239"/>
                </a:lnSpc>
              </a:pPr>
              <a:r>
                <a:rPr lang="he-IL" sz="1600" b="1" dirty="0">
                  <a:solidFill>
                    <a:srgbClr val="151857"/>
                  </a:solidFill>
                  <a:latin typeface="+mj-lt"/>
                  <a:ea typeface="Liberation Sans Bold"/>
                  <a:sym typeface="Liberation Sans Bold"/>
                  <a:rtl/>
                </a:rPr>
                <a:t>סל תפקוד מותאם אישית </a:t>
              </a:r>
              <a:r>
                <a:rPr lang="en-US" sz="1600" b="1" dirty="0">
                  <a:solidFill>
                    <a:srgbClr val="151857"/>
                  </a:solidFill>
                  <a:latin typeface="+mj-lt"/>
                  <a:ea typeface="Liberation Sans Bold"/>
                  <a:sym typeface="Liberation Sans Bold"/>
                </a:rPr>
                <a:t>AI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1285365"/>
              <a:ext cx="4806131" cy="26439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2053"/>
                </a:lnSpc>
              </a:pPr>
              <a:r>
                <a:rPr lang="he-IL" sz="1600" b="1" dirty="0">
                  <a:solidFill>
                    <a:srgbClr val="000000"/>
                  </a:solidFill>
                  <a:latin typeface="+mj-lt"/>
                  <a:ea typeface="Liberation Sans Bold"/>
                  <a:sym typeface="Liberation Sans Bold"/>
                  <a:rtl/>
                </a:rPr>
                <a:t>האדם במרכז- ולא המערכות</a:t>
              </a:r>
            </a:p>
            <a:p>
              <a:pPr algn="ctr" defTabSz="609630">
                <a:lnSpc>
                  <a:spcPts val="2053"/>
                </a:lnSpc>
              </a:pPr>
              <a:r>
                <a:rPr lang="he-IL" sz="1600" b="1" dirty="0">
                  <a:solidFill>
                    <a:srgbClr val="000000"/>
                  </a:solidFill>
                  <a:latin typeface="+mj-lt"/>
                  <a:ea typeface="Liberation Sans Bold"/>
                  <a:sym typeface="Liberation Sans Bold"/>
                  <a:rtl/>
                </a:rPr>
                <a:t>הזדקנות מיטבית</a:t>
              </a:r>
            </a:p>
            <a:p>
              <a:pPr algn="ctr" defTabSz="609630">
                <a:lnSpc>
                  <a:spcPts val="2053"/>
                </a:lnSpc>
              </a:pPr>
              <a:r>
                <a:rPr lang="he-IL" sz="1600" b="1" dirty="0">
                  <a:solidFill>
                    <a:srgbClr val="000000"/>
                  </a:solidFill>
                  <a:latin typeface="+mj-lt"/>
                  <a:ea typeface="Liberation Sans Bold"/>
                  <a:sym typeface="Liberation Sans Bold"/>
                  <a:rtl/>
                </a:rPr>
                <a:t>מניעת הדרדרות</a:t>
              </a:r>
            </a:p>
            <a:p>
              <a:pPr algn="ctr" defTabSz="609630">
                <a:lnSpc>
                  <a:spcPts val="2053"/>
                </a:lnSpc>
              </a:pPr>
              <a:r>
                <a:rPr lang="he-IL" sz="1600" b="1" dirty="0">
                  <a:solidFill>
                    <a:srgbClr val="000000"/>
                  </a:solidFill>
                  <a:latin typeface="+mj-lt"/>
                  <a:ea typeface="Liberation Sans Bold"/>
                  <a:sym typeface="Liberation Sans Bold"/>
                  <a:rtl/>
                </a:rPr>
                <a:t>בחירה אישית במרקט פלייס</a:t>
              </a:r>
            </a:p>
            <a:p>
              <a:pPr algn="ctr" defTabSz="609630">
                <a:lnSpc>
                  <a:spcPts val="2053"/>
                </a:lnSpc>
              </a:pPr>
              <a:endParaRPr lang="he-IL" sz="1600" b="1" dirty="0">
                <a:solidFill>
                  <a:srgbClr val="000000"/>
                </a:solidFill>
                <a:latin typeface="+mj-lt"/>
                <a:ea typeface="Liberation Sans Bold"/>
                <a:sym typeface="Liberation Sans Bold"/>
                <a:rtl/>
              </a:endParaRP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4321307" y="1802036"/>
            <a:ext cx="2050851" cy="1104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239"/>
              </a:lnSpc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hlinkClick r:id="rId45" action="ppaction://hlinkfile"/>
                <a:rtl/>
              </a:rPr>
              <a:t>סדנת עיצוב שירות</a:t>
            </a:r>
            <a:endParaRPr lang="he-IL" sz="1600" b="1" dirty="0">
              <a:solidFill>
                <a:srgbClr val="000000"/>
              </a:solidFill>
              <a:latin typeface="+mj-lt"/>
              <a:ea typeface="Arimo Bold"/>
              <a:sym typeface="Arimo Bold"/>
              <a:rtl/>
            </a:endParaRPr>
          </a:p>
          <a:p>
            <a:pPr defTabSz="609630">
              <a:lnSpc>
                <a:spcPts val="2239"/>
              </a:lnSpc>
            </a:pPr>
            <a:r>
              <a:rPr lang="ar-EG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       </a:t>
            </a: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מה? איך? ולמי?</a:t>
            </a:r>
          </a:p>
          <a:p>
            <a:pPr marL="345457" lvl="1" indent="-172729" defTabSz="609630">
              <a:lnSpc>
                <a:spcPts val="2239"/>
              </a:lnSpc>
              <a:buFont typeface="Arial"/>
              <a:buChar char="•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מסע לקוח מחודש </a:t>
            </a:r>
          </a:p>
          <a:p>
            <a:pPr marL="345457" lvl="1" indent="-172729" defTabSz="609630">
              <a:lnSpc>
                <a:spcPts val="2239"/>
              </a:lnSpc>
              <a:buFont typeface="Arial"/>
              <a:buChar char="•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עקרונות </a:t>
            </a:r>
            <a:r>
              <a:rPr lang="he-IL" sz="1600" b="1" dirty="0" err="1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הפיילוטים</a:t>
            </a:r>
            <a:endParaRPr lang="he-IL" sz="1600" b="1" dirty="0">
              <a:solidFill>
                <a:srgbClr val="000000"/>
              </a:solidFill>
              <a:latin typeface="+mj-lt"/>
              <a:ea typeface="Arimo Bold"/>
              <a:sym typeface="Arimo Bold"/>
              <a:rtl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5457155" y="5439125"/>
            <a:ext cx="3219946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6677" lvl="1" indent="-158339" defTabSz="609630">
              <a:lnSpc>
                <a:spcPts val="2053"/>
              </a:lnSpc>
              <a:buFont typeface="Arial"/>
              <a:buChar char="•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המלצות צוות המדדים  </a:t>
            </a:r>
          </a:p>
          <a:p>
            <a:pPr marL="316677" lvl="1" indent="-158339" defTabSz="609630">
              <a:lnSpc>
                <a:spcPts val="2053"/>
              </a:lnSpc>
              <a:buFont typeface="Arial"/>
              <a:buChar char="•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פיתוח פלטפורמה דיגיטלית תומכת.</a:t>
            </a:r>
          </a:p>
          <a:p>
            <a:pPr marL="316677" lvl="1" indent="-158339" defTabSz="609630">
              <a:lnSpc>
                <a:spcPts val="2053"/>
              </a:lnSpc>
              <a:buFont typeface="Arial"/>
              <a:buChar char="•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גיבוש מודל תמריצים</a:t>
            </a:r>
          </a:p>
          <a:p>
            <a:pPr marL="316677" lvl="1" indent="-158339" defTabSz="609630">
              <a:lnSpc>
                <a:spcPts val="2053"/>
              </a:lnSpc>
              <a:buFont typeface="Arial"/>
              <a:buChar char="•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תובנות </a:t>
            </a:r>
            <a:r>
              <a:rPr lang="he-IL" sz="1600" b="1" dirty="0" err="1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מהפיילוטים</a:t>
            </a:r>
            <a:endParaRPr lang="he-IL" sz="1600" b="1" dirty="0">
              <a:solidFill>
                <a:srgbClr val="000000"/>
              </a:solidFill>
              <a:latin typeface="+mj-lt"/>
              <a:ea typeface="Arimo Bold"/>
              <a:sym typeface="Arimo Bold"/>
              <a:rtl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7197617" y="2205049"/>
            <a:ext cx="2404467" cy="783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6668" lvl="1" indent="-158335" defTabSz="609630">
              <a:lnSpc>
                <a:spcPts val="2053"/>
              </a:lnSpc>
              <a:buFontTx/>
              <a:buAutoNum type="arabicPeriod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גיבוש והרחבת </a:t>
            </a:r>
            <a:r>
              <a:rPr lang="he-IL" sz="1600" b="1" dirty="0" err="1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הפיילוטים</a:t>
            </a:r>
            <a:endParaRPr lang="he-IL" sz="1600" b="1" dirty="0">
              <a:solidFill>
                <a:srgbClr val="000000"/>
              </a:solidFill>
              <a:latin typeface="+mj-lt"/>
              <a:ea typeface="Arimo Bold"/>
              <a:sym typeface="Arimo Bold"/>
              <a:rtl/>
            </a:endParaRPr>
          </a:p>
          <a:p>
            <a:pPr marL="316668" lvl="1" indent="-158335" defTabSz="609630">
              <a:lnSpc>
                <a:spcPts val="2053"/>
              </a:lnSpc>
              <a:buFontTx/>
              <a:buAutoNum type="arabicPeriod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מדידה והערכה</a:t>
            </a:r>
          </a:p>
          <a:p>
            <a:pPr marL="316668" lvl="1" indent="-158335" defTabSz="609630">
              <a:lnSpc>
                <a:spcPts val="2053"/>
              </a:lnSpc>
              <a:buFontTx/>
              <a:buAutoNum type="arabicPeriod"/>
            </a:pPr>
            <a:r>
              <a:rPr lang="he-IL" sz="1600" b="1" dirty="0" err="1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סקיילינג</a:t>
            </a: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 ארצי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758882" y="5964140"/>
            <a:ext cx="2403065" cy="258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239"/>
              </a:lnSpc>
              <a:spcBef>
                <a:spcPct val="0"/>
              </a:spcBef>
            </a:pPr>
            <a:r>
              <a:rPr lang="he-IL" sz="1600" b="1">
                <a:solidFill>
                  <a:srgbClr val="000000"/>
                </a:solidFill>
                <a:latin typeface="+mj-lt"/>
                <a:ea typeface="Liberation Sans Bold"/>
                <a:sym typeface="Liberation Sans Bold"/>
                <a:rtl/>
              </a:rPr>
              <a:t>י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57166" y="5243502"/>
            <a:ext cx="4471194" cy="1346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1064" lvl="1" indent="-165532" defTabSz="609630">
              <a:lnSpc>
                <a:spcPts val="2147"/>
              </a:lnSpc>
              <a:buFont typeface="Arial"/>
              <a:buChar char="•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hlinkClick r:id="rId46" action="ppaction://hlinkfile"/>
                <a:rtl/>
              </a:rPr>
              <a:t>מחקר שטח עם נותני ומקבלי השירותים</a:t>
            </a:r>
          </a:p>
          <a:p>
            <a:pPr marL="331064" lvl="1" indent="-165532" defTabSz="609630">
              <a:lnSpc>
                <a:spcPts val="2147"/>
              </a:lnSpc>
              <a:buFont typeface="Arial"/>
              <a:buChar char="•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hlinkClick r:id="rId46" action="ppaction://hlinkfile"/>
                <a:rtl/>
              </a:rPr>
              <a:t>גיבוש מנגנון הפעלה משותף</a:t>
            </a:r>
            <a:endParaRPr lang="he-IL" sz="1600" b="1" dirty="0">
              <a:solidFill>
                <a:srgbClr val="000000"/>
              </a:solidFill>
              <a:latin typeface="+mj-lt"/>
              <a:ea typeface="Arimo Bold"/>
              <a:sym typeface="Arimo Bold"/>
              <a:rtl/>
            </a:endParaRPr>
          </a:p>
          <a:p>
            <a:pPr marL="331064" lvl="1" indent="-165532" defTabSz="609630">
              <a:lnSpc>
                <a:spcPts val="2147"/>
              </a:lnSpc>
              <a:buFont typeface="Arial"/>
              <a:buChar char="•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hlinkClick r:id="rId47" action="ppaction://hlinkfile"/>
                <a:rtl/>
              </a:rPr>
              <a:t>נייר מדיניות משותף בפורום </a:t>
            </a:r>
            <a:r>
              <a:rPr lang="he-IL" sz="1600" b="1" dirty="0" err="1">
                <a:solidFill>
                  <a:srgbClr val="000000"/>
                </a:solidFill>
                <a:latin typeface="+mj-lt"/>
                <a:ea typeface="Arimo Bold"/>
                <a:sym typeface="Arimo Bold"/>
                <a:hlinkClick r:id="rId47" action="ppaction://hlinkfile"/>
                <a:rtl/>
              </a:rPr>
              <a:t>בר"ק</a:t>
            </a:r>
            <a:endParaRPr lang="he-IL" sz="1600" b="1" dirty="0">
              <a:solidFill>
                <a:srgbClr val="000000"/>
              </a:solidFill>
              <a:latin typeface="+mj-lt"/>
              <a:ea typeface="Arimo Bold"/>
              <a:sym typeface="Arimo Bold"/>
              <a:rtl/>
            </a:endParaRPr>
          </a:p>
          <a:p>
            <a:pPr marL="331064" lvl="1" indent="-165532" defTabSz="609630">
              <a:lnSpc>
                <a:spcPts val="2147"/>
              </a:lnSpc>
              <a:buFont typeface="Arial"/>
              <a:buChar char="•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hlinkClick r:id="rId48" action="ppaction://hlinkfile"/>
                <a:rtl/>
              </a:rPr>
              <a:t>סקירת שוק מקיפה על פלטפורמות תומכות</a:t>
            </a:r>
            <a:endParaRPr lang="he-IL" sz="1600" b="1" dirty="0">
              <a:solidFill>
                <a:srgbClr val="000000"/>
              </a:solidFill>
              <a:latin typeface="+mj-lt"/>
              <a:ea typeface="Arimo Bold"/>
              <a:sym typeface="Arimo Bold"/>
              <a:rtl/>
            </a:endParaRPr>
          </a:p>
          <a:p>
            <a:pPr marL="331064" lvl="1" indent="-165532" defTabSz="609630">
              <a:lnSpc>
                <a:spcPts val="2147"/>
              </a:lnSpc>
              <a:buFont typeface="Arial"/>
              <a:buChar char="•"/>
            </a:pPr>
            <a:r>
              <a:rPr lang="he-IL" sz="1600" b="1" dirty="0" err="1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פיילוטים</a:t>
            </a: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 פעילים עם למידה מתמשכת מהשטח</a:t>
            </a:r>
          </a:p>
        </p:txBody>
      </p:sp>
      <p:sp>
        <p:nvSpPr>
          <p:cNvPr id="64" name="חץ ימינה 63"/>
          <p:cNvSpPr/>
          <p:nvPr/>
        </p:nvSpPr>
        <p:spPr>
          <a:xfrm>
            <a:off x="7071909" y="2830142"/>
            <a:ext cx="877069" cy="361361"/>
          </a:xfrm>
          <a:prstGeom prst="rightArrow">
            <a:avLst/>
          </a:prstGeom>
          <a:solidFill>
            <a:srgbClr val="00918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7869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26378" y="4859813"/>
            <a:ext cx="3989224" cy="3989224"/>
          </a:xfrm>
          <a:custGeom>
            <a:avLst/>
            <a:gdLst/>
            <a:ahLst/>
            <a:cxnLst/>
            <a:rect l="l" t="t" r="r" b="b"/>
            <a:pathLst>
              <a:path w="5983836" h="5983836">
                <a:moveTo>
                  <a:pt x="0" y="0"/>
                </a:moveTo>
                <a:lnTo>
                  <a:pt x="5983836" y="0"/>
                </a:lnTo>
                <a:lnTo>
                  <a:pt x="5983836" y="5983836"/>
                </a:lnTo>
                <a:lnTo>
                  <a:pt x="0" y="5983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223324" y="-1801252"/>
            <a:ext cx="3989224" cy="3989224"/>
          </a:xfrm>
          <a:custGeom>
            <a:avLst/>
            <a:gdLst/>
            <a:ahLst/>
            <a:cxnLst/>
            <a:rect l="l" t="t" r="r" b="b"/>
            <a:pathLst>
              <a:path w="5983836" h="5983836">
                <a:moveTo>
                  <a:pt x="0" y="0"/>
                </a:moveTo>
                <a:lnTo>
                  <a:pt x="5983836" y="0"/>
                </a:lnTo>
                <a:lnTo>
                  <a:pt x="5983836" y="5983836"/>
                </a:lnTo>
                <a:lnTo>
                  <a:pt x="0" y="5983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85800" y="3240311"/>
            <a:ext cx="10820400" cy="1393127"/>
          </a:xfrm>
          <a:custGeom>
            <a:avLst/>
            <a:gdLst/>
            <a:ahLst/>
            <a:cxnLst/>
            <a:rect l="l" t="t" r="r" b="b"/>
            <a:pathLst>
              <a:path w="16230600" h="2089690">
                <a:moveTo>
                  <a:pt x="0" y="0"/>
                </a:moveTo>
                <a:lnTo>
                  <a:pt x="16230600" y="0"/>
                </a:lnTo>
                <a:lnTo>
                  <a:pt x="16230600" y="2089690"/>
                </a:lnTo>
                <a:lnTo>
                  <a:pt x="0" y="2089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1369586" y="2660048"/>
            <a:ext cx="1726521" cy="1726521"/>
          </a:xfrm>
          <a:custGeom>
            <a:avLst/>
            <a:gdLst/>
            <a:ahLst/>
            <a:cxnLst/>
            <a:rect l="l" t="t" r="r" b="b"/>
            <a:pathLst>
              <a:path w="2589782" h="2589782">
                <a:moveTo>
                  <a:pt x="0" y="0"/>
                </a:moveTo>
                <a:lnTo>
                  <a:pt x="2589782" y="0"/>
                </a:lnTo>
                <a:lnTo>
                  <a:pt x="2589782" y="2589782"/>
                </a:lnTo>
                <a:lnTo>
                  <a:pt x="0" y="25897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918624" y="3523286"/>
            <a:ext cx="1726565" cy="1726565"/>
          </a:xfrm>
          <a:custGeom>
            <a:avLst/>
            <a:gdLst/>
            <a:ahLst/>
            <a:cxnLst/>
            <a:rect l="l" t="t" r="r" b="b"/>
            <a:pathLst>
              <a:path w="2589847" h="2589848">
                <a:moveTo>
                  <a:pt x="0" y="0"/>
                </a:moveTo>
                <a:lnTo>
                  <a:pt x="2589848" y="0"/>
                </a:lnTo>
                <a:lnTo>
                  <a:pt x="2589848" y="2589848"/>
                </a:lnTo>
                <a:lnTo>
                  <a:pt x="0" y="25898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6007878" y="3523330"/>
            <a:ext cx="1726565" cy="1726565"/>
          </a:xfrm>
          <a:custGeom>
            <a:avLst/>
            <a:gdLst/>
            <a:ahLst/>
            <a:cxnLst/>
            <a:rect l="l" t="t" r="r" b="b"/>
            <a:pathLst>
              <a:path w="2589847" h="2589847">
                <a:moveTo>
                  <a:pt x="0" y="0"/>
                </a:moveTo>
                <a:lnTo>
                  <a:pt x="2589847" y="0"/>
                </a:lnTo>
                <a:lnTo>
                  <a:pt x="2589847" y="2589848"/>
                </a:lnTo>
                <a:lnTo>
                  <a:pt x="0" y="25898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6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9103373" y="3523330"/>
            <a:ext cx="1726565" cy="1726565"/>
          </a:xfrm>
          <a:custGeom>
            <a:avLst/>
            <a:gdLst/>
            <a:ahLst/>
            <a:cxnLst/>
            <a:rect l="l" t="t" r="r" b="b"/>
            <a:pathLst>
              <a:path w="2589847" h="2589847">
                <a:moveTo>
                  <a:pt x="0" y="0"/>
                </a:moveTo>
                <a:lnTo>
                  <a:pt x="2589848" y="0"/>
                </a:lnTo>
                <a:lnTo>
                  <a:pt x="2589848" y="2589848"/>
                </a:lnTo>
                <a:lnTo>
                  <a:pt x="0" y="25898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6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4458818" y="2660048"/>
            <a:ext cx="1726565" cy="1726565"/>
          </a:xfrm>
          <a:custGeom>
            <a:avLst/>
            <a:gdLst/>
            <a:ahLst/>
            <a:cxnLst/>
            <a:rect l="l" t="t" r="r" b="b"/>
            <a:pathLst>
              <a:path w="2589847" h="2589848">
                <a:moveTo>
                  <a:pt x="0" y="0"/>
                </a:moveTo>
                <a:lnTo>
                  <a:pt x="2589847" y="0"/>
                </a:lnTo>
                <a:lnTo>
                  <a:pt x="2589847" y="2589847"/>
                </a:lnTo>
                <a:lnTo>
                  <a:pt x="0" y="25898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6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7554312" y="2660048"/>
            <a:ext cx="1726565" cy="1726565"/>
          </a:xfrm>
          <a:custGeom>
            <a:avLst/>
            <a:gdLst/>
            <a:ahLst/>
            <a:cxnLst/>
            <a:rect l="l" t="t" r="r" b="b"/>
            <a:pathLst>
              <a:path w="2589848" h="2589848">
                <a:moveTo>
                  <a:pt x="0" y="0"/>
                </a:moveTo>
                <a:lnTo>
                  <a:pt x="2589848" y="0"/>
                </a:lnTo>
                <a:lnTo>
                  <a:pt x="2589848" y="2589847"/>
                </a:lnTo>
                <a:lnTo>
                  <a:pt x="0" y="25898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6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1" name="Group 11"/>
          <p:cNvGrpSpPr/>
          <p:nvPr/>
        </p:nvGrpSpPr>
        <p:grpSpPr>
          <a:xfrm>
            <a:off x="1733844" y="3024306"/>
            <a:ext cx="998004" cy="99800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FBD7D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rtl="0">
                <a:lnSpc>
                  <a:spcPts val="2239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282905" y="3861809"/>
            <a:ext cx="998004" cy="99800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882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rtl="0">
                <a:lnSpc>
                  <a:spcPts val="2239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823097" y="3024306"/>
            <a:ext cx="998004" cy="99800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A986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rtl="0">
                <a:lnSpc>
                  <a:spcPts val="2239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372158" y="3861809"/>
            <a:ext cx="998004" cy="99800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6071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rtl="0">
                <a:lnSpc>
                  <a:spcPts val="2239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912351" y="3024306"/>
            <a:ext cx="998004" cy="998004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189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rtl="0">
                <a:lnSpc>
                  <a:spcPts val="2239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461412" y="3861809"/>
            <a:ext cx="998004" cy="998004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4858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rtl="0">
                <a:lnSpc>
                  <a:spcPts val="2239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sp>
        <p:nvSpPr>
          <p:cNvPr id="29" name="Freeform 29"/>
          <p:cNvSpPr/>
          <p:nvPr/>
        </p:nvSpPr>
        <p:spPr>
          <a:xfrm>
            <a:off x="1956462" y="3221661"/>
            <a:ext cx="552768" cy="603294"/>
          </a:xfrm>
          <a:custGeom>
            <a:avLst/>
            <a:gdLst/>
            <a:ahLst/>
            <a:cxnLst/>
            <a:rect l="l" t="t" r="r" b="b"/>
            <a:pathLst>
              <a:path w="829152" h="904941">
                <a:moveTo>
                  <a:pt x="0" y="0"/>
                </a:moveTo>
                <a:lnTo>
                  <a:pt x="829152" y="0"/>
                </a:lnTo>
                <a:lnTo>
                  <a:pt x="829152" y="904941"/>
                </a:lnTo>
                <a:lnTo>
                  <a:pt x="0" y="90494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5080601" y="3257560"/>
            <a:ext cx="482996" cy="531495"/>
          </a:xfrm>
          <a:custGeom>
            <a:avLst/>
            <a:gdLst/>
            <a:ahLst/>
            <a:cxnLst/>
            <a:rect l="l" t="t" r="r" b="b"/>
            <a:pathLst>
              <a:path w="724494" h="797242">
                <a:moveTo>
                  <a:pt x="0" y="0"/>
                </a:moveTo>
                <a:lnTo>
                  <a:pt x="724494" y="0"/>
                </a:lnTo>
                <a:lnTo>
                  <a:pt x="724494" y="797243"/>
                </a:lnTo>
                <a:lnTo>
                  <a:pt x="0" y="7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6605413" y="4113665"/>
            <a:ext cx="531495" cy="494291"/>
          </a:xfrm>
          <a:custGeom>
            <a:avLst/>
            <a:gdLst/>
            <a:ahLst/>
            <a:cxnLst/>
            <a:rect l="l" t="t" r="r" b="b"/>
            <a:pathLst>
              <a:path w="797242" h="741436">
                <a:moveTo>
                  <a:pt x="0" y="0"/>
                </a:moveTo>
                <a:lnTo>
                  <a:pt x="797243" y="0"/>
                </a:lnTo>
                <a:lnTo>
                  <a:pt x="797243" y="741436"/>
                </a:lnTo>
                <a:lnTo>
                  <a:pt x="0" y="74143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8145606" y="3274834"/>
            <a:ext cx="531495" cy="496948"/>
          </a:xfrm>
          <a:custGeom>
            <a:avLst/>
            <a:gdLst/>
            <a:ahLst/>
            <a:cxnLst/>
            <a:rect l="l" t="t" r="r" b="b"/>
            <a:pathLst>
              <a:path w="797242" h="745422">
                <a:moveTo>
                  <a:pt x="0" y="0"/>
                </a:moveTo>
                <a:lnTo>
                  <a:pt x="797242" y="0"/>
                </a:lnTo>
                <a:lnTo>
                  <a:pt x="797242" y="745422"/>
                </a:lnTo>
                <a:lnTo>
                  <a:pt x="0" y="74542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3518382" y="4099921"/>
            <a:ext cx="527050" cy="521779"/>
          </a:xfrm>
          <a:custGeom>
            <a:avLst/>
            <a:gdLst/>
            <a:ahLst/>
            <a:cxnLst/>
            <a:rect l="l" t="t" r="r" b="b"/>
            <a:pathLst>
              <a:path w="790575" h="782669">
                <a:moveTo>
                  <a:pt x="0" y="0"/>
                </a:moveTo>
                <a:lnTo>
                  <a:pt x="790575" y="0"/>
                </a:lnTo>
                <a:lnTo>
                  <a:pt x="790575" y="782670"/>
                </a:lnTo>
                <a:lnTo>
                  <a:pt x="0" y="78267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207914" y="193361"/>
            <a:ext cx="893513" cy="830967"/>
          </a:xfrm>
          <a:custGeom>
            <a:avLst/>
            <a:gdLst/>
            <a:ahLst/>
            <a:cxnLst/>
            <a:rect l="l" t="t" r="r" b="b"/>
            <a:pathLst>
              <a:path w="1340270" h="1246451">
                <a:moveTo>
                  <a:pt x="0" y="0"/>
                </a:moveTo>
                <a:lnTo>
                  <a:pt x="1340269" y="0"/>
                </a:lnTo>
                <a:lnTo>
                  <a:pt x="1340269" y="1246451"/>
                </a:lnTo>
                <a:lnTo>
                  <a:pt x="0" y="1246451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0555969" y="6121620"/>
            <a:ext cx="2970135" cy="1317997"/>
          </a:xfrm>
          <a:custGeom>
            <a:avLst/>
            <a:gdLst/>
            <a:ahLst/>
            <a:cxnLst/>
            <a:rect l="l" t="t" r="r" b="b"/>
            <a:pathLst>
              <a:path w="4455202" h="1976996">
                <a:moveTo>
                  <a:pt x="0" y="0"/>
                </a:moveTo>
                <a:lnTo>
                  <a:pt x="4455202" y="0"/>
                </a:lnTo>
                <a:lnTo>
                  <a:pt x="4455202" y="1976996"/>
                </a:lnTo>
                <a:lnTo>
                  <a:pt x="0" y="1976996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0732515" y="-136201"/>
            <a:ext cx="1547371" cy="1160529"/>
          </a:xfrm>
          <a:custGeom>
            <a:avLst/>
            <a:gdLst/>
            <a:ahLst/>
            <a:cxnLst/>
            <a:rect l="l" t="t" r="r" b="b"/>
            <a:pathLst>
              <a:path w="2321057" h="1740793">
                <a:moveTo>
                  <a:pt x="0" y="0"/>
                </a:moveTo>
                <a:lnTo>
                  <a:pt x="2321056" y="0"/>
                </a:lnTo>
                <a:lnTo>
                  <a:pt x="2321056" y="1740793"/>
                </a:lnTo>
                <a:lnTo>
                  <a:pt x="0" y="1740793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 flipH="1">
            <a:off x="-195911" y="5791993"/>
            <a:ext cx="1701164" cy="1456621"/>
          </a:xfrm>
          <a:custGeom>
            <a:avLst/>
            <a:gdLst/>
            <a:ahLst/>
            <a:cxnLst/>
            <a:rect l="l" t="t" r="r" b="b"/>
            <a:pathLst>
              <a:path w="2551746" h="2184932">
                <a:moveTo>
                  <a:pt x="2551745" y="0"/>
                </a:moveTo>
                <a:lnTo>
                  <a:pt x="0" y="0"/>
                </a:lnTo>
                <a:lnTo>
                  <a:pt x="0" y="2184932"/>
                </a:lnTo>
                <a:lnTo>
                  <a:pt x="2551745" y="2184932"/>
                </a:lnTo>
                <a:lnTo>
                  <a:pt x="2551745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 flipV="1">
            <a:off x="2232846" y="4464697"/>
            <a:ext cx="662336" cy="469431"/>
          </a:xfrm>
          <a:custGeom>
            <a:avLst/>
            <a:gdLst/>
            <a:ahLst/>
            <a:cxnLst/>
            <a:rect l="l" t="t" r="r" b="b"/>
            <a:pathLst>
              <a:path w="993504" h="704146">
                <a:moveTo>
                  <a:pt x="0" y="704145"/>
                </a:moveTo>
                <a:lnTo>
                  <a:pt x="993503" y="704145"/>
                </a:lnTo>
                <a:lnTo>
                  <a:pt x="993503" y="0"/>
                </a:lnTo>
                <a:lnTo>
                  <a:pt x="0" y="0"/>
                </a:lnTo>
                <a:lnTo>
                  <a:pt x="0" y="704145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9" name="Freeform 39"/>
          <p:cNvSpPr/>
          <p:nvPr/>
        </p:nvSpPr>
        <p:spPr>
          <a:xfrm flipV="1">
            <a:off x="5322099" y="4464697"/>
            <a:ext cx="662336" cy="469431"/>
          </a:xfrm>
          <a:custGeom>
            <a:avLst/>
            <a:gdLst/>
            <a:ahLst/>
            <a:cxnLst/>
            <a:rect l="l" t="t" r="r" b="b"/>
            <a:pathLst>
              <a:path w="993504" h="704146">
                <a:moveTo>
                  <a:pt x="0" y="704145"/>
                </a:moveTo>
                <a:lnTo>
                  <a:pt x="993504" y="704145"/>
                </a:lnTo>
                <a:lnTo>
                  <a:pt x="993504" y="0"/>
                </a:lnTo>
                <a:lnTo>
                  <a:pt x="0" y="0"/>
                </a:lnTo>
                <a:lnTo>
                  <a:pt x="0" y="704145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0" name="Freeform 40"/>
          <p:cNvSpPr/>
          <p:nvPr/>
        </p:nvSpPr>
        <p:spPr>
          <a:xfrm>
            <a:off x="3781907" y="2986945"/>
            <a:ext cx="662336" cy="469431"/>
          </a:xfrm>
          <a:custGeom>
            <a:avLst/>
            <a:gdLst/>
            <a:ahLst/>
            <a:cxnLst/>
            <a:rect l="l" t="t" r="r" b="b"/>
            <a:pathLst>
              <a:path w="993504" h="704146">
                <a:moveTo>
                  <a:pt x="0" y="0"/>
                </a:moveTo>
                <a:lnTo>
                  <a:pt x="993503" y="0"/>
                </a:lnTo>
                <a:lnTo>
                  <a:pt x="993503" y="704146"/>
                </a:lnTo>
                <a:lnTo>
                  <a:pt x="0" y="704146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1" name="Freeform 41"/>
          <p:cNvSpPr/>
          <p:nvPr/>
        </p:nvSpPr>
        <p:spPr>
          <a:xfrm>
            <a:off x="6917566" y="2837879"/>
            <a:ext cx="923626" cy="654620"/>
          </a:xfrm>
          <a:custGeom>
            <a:avLst/>
            <a:gdLst/>
            <a:ahLst/>
            <a:cxnLst/>
            <a:rect l="l" t="t" r="r" b="b"/>
            <a:pathLst>
              <a:path w="1385439" h="981930">
                <a:moveTo>
                  <a:pt x="0" y="0"/>
                </a:moveTo>
                <a:lnTo>
                  <a:pt x="1385439" y="0"/>
                </a:lnTo>
                <a:lnTo>
                  <a:pt x="1385439" y="981930"/>
                </a:lnTo>
                <a:lnTo>
                  <a:pt x="0" y="981930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2" name="Freeform 42"/>
          <p:cNvSpPr/>
          <p:nvPr/>
        </p:nvSpPr>
        <p:spPr>
          <a:xfrm flipV="1">
            <a:off x="8395511" y="4464697"/>
            <a:ext cx="662336" cy="469431"/>
          </a:xfrm>
          <a:custGeom>
            <a:avLst/>
            <a:gdLst/>
            <a:ahLst/>
            <a:cxnLst/>
            <a:rect l="l" t="t" r="r" b="b"/>
            <a:pathLst>
              <a:path w="993504" h="704146">
                <a:moveTo>
                  <a:pt x="0" y="704145"/>
                </a:moveTo>
                <a:lnTo>
                  <a:pt x="993504" y="704145"/>
                </a:lnTo>
                <a:lnTo>
                  <a:pt x="993504" y="0"/>
                </a:lnTo>
                <a:lnTo>
                  <a:pt x="0" y="0"/>
                </a:lnTo>
                <a:lnTo>
                  <a:pt x="0" y="704145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3" name="Freeform 43"/>
          <p:cNvSpPr/>
          <p:nvPr/>
        </p:nvSpPr>
        <p:spPr>
          <a:xfrm>
            <a:off x="11506200" y="6112001"/>
            <a:ext cx="534837" cy="324022"/>
          </a:xfrm>
          <a:custGeom>
            <a:avLst/>
            <a:gdLst/>
            <a:ahLst/>
            <a:cxnLst/>
            <a:rect l="l" t="t" r="r" b="b"/>
            <a:pathLst>
              <a:path w="802255" h="486033">
                <a:moveTo>
                  <a:pt x="0" y="0"/>
                </a:moveTo>
                <a:lnTo>
                  <a:pt x="802255" y="0"/>
                </a:lnTo>
                <a:lnTo>
                  <a:pt x="802255" y="486033"/>
                </a:lnTo>
                <a:lnTo>
                  <a:pt x="0" y="486033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9598099" y="3992255"/>
            <a:ext cx="737112" cy="737112"/>
          </a:xfrm>
          <a:custGeom>
            <a:avLst/>
            <a:gdLst/>
            <a:ahLst/>
            <a:cxnLst/>
            <a:rect l="l" t="t" r="r" b="b"/>
            <a:pathLst>
              <a:path w="1105668" h="1105668">
                <a:moveTo>
                  <a:pt x="0" y="0"/>
                </a:moveTo>
                <a:lnTo>
                  <a:pt x="1105668" y="0"/>
                </a:lnTo>
                <a:lnTo>
                  <a:pt x="1105668" y="1105668"/>
                </a:lnTo>
                <a:lnTo>
                  <a:pt x="0" y="1105668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6509331" y="2400500"/>
            <a:ext cx="637485" cy="1055877"/>
          </a:xfrm>
          <a:custGeom>
            <a:avLst/>
            <a:gdLst/>
            <a:ahLst/>
            <a:cxnLst/>
            <a:rect l="l" t="t" r="r" b="b"/>
            <a:pathLst>
              <a:path w="956228" h="1583815">
                <a:moveTo>
                  <a:pt x="0" y="0"/>
                </a:moveTo>
                <a:lnTo>
                  <a:pt x="956228" y="0"/>
                </a:lnTo>
                <a:lnTo>
                  <a:pt x="956228" y="1583815"/>
                </a:lnTo>
                <a:lnTo>
                  <a:pt x="0" y="1583815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1274438" y="3551012"/>
            <a:ext cx="642144" cy="942597"/>
          </a:xfrm>
          <a:custGeom>
            <a:avLst/>
            <a:gdLst/>
            <a:ahLst/>
            <a:cxnLst/>
            <a:rect l="l" t="t" r="r" b="b"/>
            <a:pathLst>
              <a:path w="963216" h="1413895">
                <a:moveTo>
                  <a:pt x="0" y="0"/>
                </a:moveTo>
                <a:lnTo>
                  <a:pt x="963216" y="0"/>
                </a:lnTo>
                <a:lnTo>
                  <a:pt x="963216" y="1413895"/>
                </a:lnTo>
                <a:lnTo>
                  <a:pt x="0" y="1413895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7"/>
          <p:cNvSpPr txBox="1"/>
          <p:nvPr/>
        </p:nvSpPr>
        <p:spPr>
          <a:xfrm>
            <a:off x="3781907" y="216909"/>
            <a:ext cx="4320531" cy="60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4946"/>
              </a:lnSpc>
            </a:pPr>
            <a:r>
              <a:rPr lang="he-IL" sz="3533" b="1" dirty="0">
                <a:solidFill>
                  <a:srgbClr val="151857"/>
                </a:solidFill>
                <a:latin typeface="+mj-lt"/>
                <a:ea typeface="Heebo Bold"/>
                <a:sym typeface="Heebo Bold"/>
                <a:rtl/>
              </a:rPr>
              <a:t>המסע לסל האישי </a:t>
            </a:r>
            <a:r>
              <a:rPr lang="en-US" sz="3533" b="1" dirty="0">
                <a:solidFill>
                  <a:srgbClr val="151857"/>
                </a:solidFill>
                <a:latin typeface="+mj-lt"/>
                <a:ea typeface="Heebo Bold"/>
                <a:sym typeface="Heebo Bold"/>
              </a:rPr>
              <a:t>AI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136723" y="1773535"/>
            <a:ext cx="3478816" cy="1180197"/>
            <a:chOff x="0" y="-57151"/>
            <a:chExt cx="6957632" cy="2360395"/>
          </a:xfrm>
        </p:grpSpPr>
        <p:sp>
          <p:nvSpPr>
            <p:cNvPr id="49" name="TextBox 49"/>
            <p:cNvSpPr txBox="1"/>
            <p:nvPr/>
          </p:nvSpPr>
          <p:spPr>
            <a:xfrm>
              <a:off x="658654" y="-57151"/>
              <a:ext cx="5640328" cy="5165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2239"/>
                </a:lnSpc>
              </a:pPr>
              <a:r>
                <a:rPr lang="he-IL" sz="1600" b="1">
                  <a:solidFill>
                    <a:srgbClr val="151857"/>
                  </a:solidFill>
                  <a:latin typeface="+mj-lt"/>
                  <a:ea typeface="Liberation Sans Bold"/>
                  <a:sym typeface="Liberation Sans Bold"/>
                  <a:rtl/>
                </a:rPr>
                <a:t>גיבוש הרפורמה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717039"/>
              <a:ext cx="6957632" cy="1586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31061" lvl="1" indent="-165531" defTabSz="609630">
                <a:lnSpc>
                  <a:spcPts val="2146"/>
                </a:lnSpc>
                <a:buFont typeface="Arial"/>
                <a:buChar char="•"/>
              </a:pPr>
              <a:r>
                <a:rPr lang="he-IL" sz="1600" b="1" dirty="0">
                  <a:solidFill>
                    <a:srgbClr val="000000"/>
                  </a:solidFill>
                  <a:latin typeface="+mj-lt"/>
                  <a:ea typeface="Liberation Sans Bold"/>
                  <a:sym typeface="Liberation Sans Bold"/>
                  <a:rtl/>
                </a:rPr>
                <a:t>גיבוש הצעה לשינוי בשותפות </a:t>
              </a:r>
            </a:p>
            <a:p>
              <a:pPr marL="331061" lvl="1" indent="-165531" defTabSz="609630">
                <a:lnSpc>
                  <a:spcPts val="2146"/>
                </a:lnSpc>
                <a:buFont typeface="Arial"/>
                <a:buChar char="•"/>
              </a:pPr>
              <a:r>
                <a:rPr lang="he-IL" sz="1600" b="1" dirty="0">
                  <a:solidFill>
                    <a:srgbClr val="000000"/>
                  </a:solidFill>
                  <a:latin typeface="+mj-lt"/>
                  <a:ea typeface="Liberation Sans Bold"/>
                  <a:sym typeface="Liberation Sans Bold"/>
                  <a:rtl/>
                </a:rPr>
                <a:t>המלצות הוועדה הבין משרדית</a:t>
              </a:r>
            </a:p>
            <a:p>
              <a:pPr marL="331061" lvl="1" indent="-165531" defTabSz="609630">
                <a:lnSpc>
                  <a:spcPts val="2146"/>
                </a:lnSpc>
                <a:buFont typeface="Arial"/>
                <a:buChar char="•"/>
              </a:pPr>
              <a:r>
                <a:rPr lang="he-IL" sz="1600" b="1" dirty="0">
                  <a:solidFill>
                    <a:srgbClr val="000000"/>
                  </a:solidFill>
                  <a:latin typeface="+mj-lt"/>
                  <a:ea typeface="Liberation Sans Bold"/>
                  <a:sym typeface="Liberation Sans Bold"/>
                  <a:rtl/>
                </a:rPr>
                <a:t>חוק ההסדרים </a:t>
              </a:r>
              <a:r>
                <a:rPr lang="en-US" sz="1600" b="1" dirty="0">
                  <a:solidFill>
                    <a:srgbClr val="000000"/>
                  </a:solidFill>
                  <a:latin typeface="+mj-lt"/>
                  <a:ea typeface="Liberation Sans Bold"/>
                  <a:sym typeface="Liberation Sans Bold"/>
                </a:rPr>
                <a:t>2023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2482411" y="4896027"/>
            <a:ext cx="2505929" cy="258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239"/>
              </a:lnSpc>
            </a:pPr>
            <a:r>
              <a:rPr lang="he-IL" sz="1600" b="1">
                <a:solidFill>
                  <a:srgbClr val="151857"/>
                </a:solidFill>
                <a:latin typeface="+mj-lt"/>
                <a:ea typeface="Liberation Sans Bold"/>
                <a:sym typeface="Liberation Sans Bold"/>
                <a:rtl/>
              </a:rPr>
              <a:t>מחקר, ביסוס ולמידה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017695" y="1515259"/>
            <a:ext cx="2468541" cy="258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239"/>
              </a:lnSpc>
            </a:pPr>
            <a:r>
              <a:rPr lang="he-IL" sz="1600" b="1" dirty="0">
                <a:solidFill>
                  <a:srgbClr val="151857"/>
                </a:solidFill>
                <a:latin typeface="+mj-lt"/>
                <a:ea typeface="Liberation Sans Bold"/>
                <a:sym typeface="Liberation Sans Bold"/>
                <a:rtl/>
              </a:rPr>
              <a:t>עיצוב ותיקוף מודל השירות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679913" y="5092415"/>
            <a:ext cx="2920480" cy="26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239"/>
              </a:lnSpc>
            </a:pPr>
            <a:r>
              <a:rPr lang="he-IL" sz="1600" b="1">
                <a:solidFill>
                  <a:srgbClr val="151857"/>
                </a:solidFill>
                <a:latin typeface="+mj-lt"/>
                <a:ea typeface="Liberation Sans Bold"/>
                <a:sym typeface="Liberation Sans Bold"/>
                <a:rtl/>
              </a:rPr>
              <a:t>תהליכים מקבילים ומשלימים-</a:t>
            </a:r>
            <a:r>
              <a:rPr lang="en-US" sz="1600" b="1">
                <a:solidFill>
                  <a:srgbClr val="151857"/>
                </a:solidFill>
                <a:latin typeface="+mj-lt"/>
                <a:ea typeface="Liberation Sans Bold"/>
                <a:sym typeface="Liberation Sans Bold"/>
              </a:rPr>
              <a:t>Q1</a:t>
            </a:r>
            <a:r>
              <a:rPr lang="ar-EG" sz="1600" b="1">
                <a:solidFill>
                  <a:srgbClr val="151857"/>
                </a:solidFill>
                <a:latin typeface="+mj-lt"/>
                <a:ea typeface="Liberation Sans Bold"/>
                <a:sym typeface="Liberation Sans Bold"/>
                <a:rtl/>
              </a:rPr>
              <a:t>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475568" y="1849026"/>
            <a:ext cx="2403065" cy="281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426"/>
              </a:lnSpc>
            </a:pPr>
            <a:r>
              <a:rPr lang="he-IL" sz="1733" b="1">
                <a:solidFill>
                  <a:srgbClr val="151857"/>
                </a:solidFill>
                <a:latin typeface="+mj-lt"/>
                <a:ea typeface="Liberation Sans Bold"/>
                <a:sym typeface="Liberation Sans Bold"/>
                <a:rtl/>
              </a:rPr>
              <a:t>צעדים להמשך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8820259" y="4816290"/>
            <a:ext cx="2403065" cy="1993222"/>
            <a:chOff x="0" y="-57149"/>
            <a:chExt cx="4806131" cy="3986443"/>
          </a:xfrm>
        </p:grpSpPr>
        <p:sp>
          <p:nvSpPr>
            <p:cNvPr id="56" name="TextBox 56"/>
            <p:cNvSpPr txBox="1"/>
            <p:nvPr/>
          </p:nvSpPr>
          <p:spPr>
            <a:xfrm>
              <a:off x="700568" y="-57149"/>
              <a:ext cx="3404995" cy="1092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2239"/>
                </a:lnSpc>
              </a:pPr>
              <a:r>
                <a:rPr lang="he-IL" sz="1600" b="1" dirty="0">
                  <a:solidFill>
                    <a:srgbClr val="151857"/>
                  </a:solidFill>
                  <a:latin typeface="+mj-lt"/>
                  <a:ea typeface="Liberation Sans Bold"/>
                  <a:sym typeface="Liberation Sans Bold"/>
                  <a:rtl/>
                </a:rPr>
                <a:t>סל תפקוד מותאם אישית </a:t>
              </a:r>
              <a:r>
                <a:rPr lang="en-US" sz="1600" b="1" dirty="0">
                  <a:solidFill>
                    <a:srgbClr val="151857"/>
                  </a:solidFill>
                  <a:latin typeface="+mj-lt"/>
                  <a:ea typeface="Liberation Sans Bold"/>
                  <a:sym typeface="Liberation Sans Bold"/>
                </a:rPr>
                <a:t>AI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1285365"/>
              <a:ext cx="4806131" cy="26439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2053"/>
                </a:lnSpc>
              </a:pPr>
              <a:r>
                <a:rPr lang="he-IL" sz="1600" b="1" dirty="0">
                  <a:solidFill>
                    <a:srgbClr val="000000"/>
                  </a:solidFill>
                  <a:latin typeface="+mj-lt"/>
                  <a:ea typeface="Liberation Sans Bold"/>
                  <a:sym typeface="Liberation Sans Bold"/>
                  <a:rtl/>
                </a:rPr>
                <a:t>האדם במרכז- ולא המערכות</a:t>
              </a:r>
            </a:p>
            <a:p>
              <a:pPr algn="ctr" defTabSz="609630">
                <a:lnSpc>
                  <a:spcPts val="2053"/>
                </a:lnSpc>
              </a:pPr>
              <a:r>
                <a:rPr lang="he-IL" sz="1600" b="1" dirty="0">
                  <a:solidFill>
                    <a:srgbClr val="000000"/>
                  </a:solidFill>
                  <a:latin typeface="+mj-lt"/>
                  <a:ea typeface="Liberation Sans Bold"/>
                  <a:sym typeface="Liberation Sans Bold"/>
                  <a:rtl/>
                </a:rPr>
                <a:t>הזדקנות מיטבית</a:t>
              </a:r>
            </a:p>
            <a:p>
              <a:pPr algn="ctr" defTabSz="609630">
                <a:lnSpc>
                  <a:spcPts val="2053"/>
                </a:lnSpc>
              </a:pPr>
              <a:r>
                <a:rPr lang="he-IL" sz="1600" b="1" dirty="0">
                  <a:solidFill>
                    <a:srgbClr val="000000"/>
                  </a:solidFill>
                  <a:latin typeface="+mj-lt"/>
                  <a:ea typeface="Liberation Sans Bold"/>
                  <a:sym typeface="Liberation Sans Bold"/>
                  <a:rtl/>
                </a:rPr>
                <a:t>מניעת הדרדרות</a:t>
              </a:r>
            </a:p>
            <a:p>
              <a:pPr algn="ctr" defTabSz="609630">
                <a:lnSpc>
                  <a:spcPts val="2053"/>
                </a:lnSpc>
              </a:pPr>
              <a:r>
                <a:rPr lang="he-IL" sz="1600" b="1" dirty="0">
                  <a:solidFill>
                    <a:srgbClr val="000000"/>
                  </a:solidFill>
                  <a:latin typeface="+mj-lt"/>
                  <a:ea typeface="Liberation Sans Bold"/>
                  <a:sym typeface="Liberation Sans Bold"/>
                  <a:rtl/>
                </a:rPr>
                <a:t>בחירה אישית במרקט פלייס</a:t>
              </a:r>
            </a:p>
            <a:p>
              <a:pPr algn="ctr" defTabSz="609630">
                <a:lnSpc>
                  <a:spcPts val="2053"/>
                </a:lnSpc>
              </a:pPr>
              <a:endParaRPr lang="he-IL" sz="1600" b="1" dirty="0">
                <a:solidFill>
                  <a:srgbClr val="000000"/>
                </a:solidFill>
                <a:latin typeface="+mj-lt"/>
                <a:ea typeface="Liberation Sans Bold"/>
                <a:sym typeface="Liberation Sans Bold"/>
                <a:rtl/>
              </a:endParaRP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4321307" y="1802036"/>
            <a:ext cx="2050851" cy="1104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239"/>
              </a:lnSpc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סדנת עיצוב שירות</a:t>
            </a:r>
          </a:p>
          <a:p>
            <a:pPr defTabSz="609630">
              <a:lnSpc>
                <a:spcPts val="2239"/>
              </a:lnSpc>
            </a:pPr>
            <a:r>
              <a:rPr lang="ar-EG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       </a:t>
            </a: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מה? איך? ולמי?</a:t>
            </a:r>
          </a:p>
          <a:p>
            <a:pPr marL="345457" lvl="1" indent="-172729" defTabSz="609630">
              <a:lnSpc>
                <a:spcPts val="2239"/>
              </a:lnSpc>
              <a:buFont typeface="Arial"/>
              <a:buChar char="•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מסע לקוח מחודש </a:t>
            </a:r>
          </a:p>
          <a:p>
            <a:pPr marL="345457" lvl="1" indent="-172729" defTabSz="609630">
              <a:lnSpc>
                <a:spcPts val="2239"/>
              </a:lnSpc>
              <a:buFont typeface="Arial"/>
              <a:buChar char="•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עקרונות </a:t>
            </a:r>
            <a:r>
              <a:rPr lang="he-IL" sz="1600" b="1" dirty="0" err="1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הפיילוטים</a:t>
            </a:r>
            <a:endParaRPr lang="he-IL" sz="1600" b="1" dirty="0">
              <a:solidFill>
                <a:srgbClr val="000000"/>
              </a:solidFill>
              <a:latin typeface="+mj-lt"/>
              <a:ea typeface="Arimo Bold"/>
              <a:sym typeface="Arimo Bold"/>
              <a:rtl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5457155" y="5439125"/>
            <a:ext cx="3219946" cy="78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6677" lvl="1" indent="-158339" defTabSz="609630">
              <a:lnSpc>
                <a:spcPts val="2053"/>
              </a:lnSpc>
              <a:buFont typeface="Arial"/>
              <a:buChar char="•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המלצות צוות המדדים  </a:t>
            </a:r>
          </a:p>
          <a:p>
            <a:pPr marL="316677" lvl="1" indent="-158339" defTabSz="609630">
              <a:lnSpc>
                <a:spcPts val="2053"/>
              </a:lnSpc>
              <a:buFont typeface="Arial"/>
              <a:buChar char="•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פיתוח פלטפורמה דיגיטלית תומכת.</a:t>
            </a:r>
          </a:p>
          <a:p>
            <a:pPr marL="316677" lvl="1" indent="-158339" defTabSz="609630">
              <a:lnSpc>
                <a:spcPts val="2053"/>
              </a:lnSpc>
              <a:buFont typeface="Arial"/>
              <a:buChar char="•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גיבוש מודל תמריצים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197617" y="2205049"/>
            <a:ext cx="2404467" cy="783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6668" lvl="1" indent="-158335" defTabSz="609630">
              <a:lnSpc>
                <a:spcPts val="2053"/>
              </a:lnSpc>
              <a:buFontTx/>
              <a:buAutoNum type="arabicPeriod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גיבוש והרחבת </a:t>
            </a:r>
            <a:r>
              <a:rPr lang="he-IL" sz="1600" b="1" dirty="0" err="1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הפיילוטים</a:t>
            </a:r>
            <a:endParaRPr lang="he-IL" sz="1600" b="1" dirty="0">
              <a:solidFill>
                <a:srgbClr val="000000"/>
              </a:solidFill>
              <a:latin typeface="+mj-lt"/>
              <a:ea typeface="Arimo Bold"/>
              <a:sym typeface="Arimo Bold"/>
              <a:rtl/>
            </a:endParaRPr>
          </a:p>
          <a:p>
            <a:pPr marL="316668" lvl="1" indent="-158335" defTabSz="609630">
              <a:lnSpc>
                <a:spcPts val="2053"/>
              </a:lnSpc>
              <a:buFontTx/>
              <a:buAutoNum type="arabicPeriod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מדידה והערכה</a:t>
            </a:r>
          </a:p>
          <a:p>
            <a:pPr marL="316668" lvl="1" indent="-158335" defTabSz="609630">
              <a:lnSpc>
                <a:spcPts val="2053"/>
              </a:lnSpc>
              <a:buFontTx/>
              <a:buAutoNum type="arabicPeriod"/>
            </a:pPr>
            <a:r>
              <a:rPr lang="he-IL" sz="1600" b="1" dirty="0" err="1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סקיילינג</a:t>
            </a: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 ארצי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758882" y="5964140"/>
            <a:ext cx="2403065" cy="258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239"/>
              </a:lnSpc>
              <a:spcBef>
                <a:spcPct val="0"/>
              </a:spcBef>
            </a:pPr>
            <a:r>
              <a:rPr lang="he-IL" sz="1600" b="1">
                <a:solidFill>
                  <a:srgbClr val="000000"/>
                </a:solidFill>
                <a:latin typeface="+mj-lt"/>
                <a:ea typeface="Liberation Sans Bold"/>
                <a:sym typeface="Liberation Sans Bold"/>
                <a:rtl/>
              </a:rPr>
              <a:t>י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57166" y="5243502"/>
            <a:ext cx="4471194" cy="793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1064" lvl="1" indent="-165532" defTabSz="609630">
              <a:lnSpc>
                <a:spcPts val="2147"/>
              </a:lnSpc>
              <a:buFont typeface="Arial"/>
              <a:buChar char="•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מחקר שטח עם נותני ומקבלי השירותים</a:t>
            </a:r>
          </a:p>
          <a:p>
            <a:pPr marL="331064" lvl="1" indent="-165532" defTabSz="609630">
              <a:lnSpc>
                <a:spcPts val="2147"/>
              </a:lnSpc>
              <a:buFont typeface="Arial"/>
              <a:buChar char="•"/>
            </a:pP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גיבוש מנגנון הפעלה משותף</a:t>
            </a:r>
          </a:p>
          <a:p>
            <a:pPr marL="331064" lvl="1" indent="-165532" defTabSz="609630">
              <a:lnSpc>
                <a:spcPts val="2147"/>
              </a:lnSpc>
              <a:buFont typeface="Arial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</a:rPr>
              <a:t>2</a:t>
            </a: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 </a:t>
            </a:r>
            <a:r>
              <a:rPr lang="he-IL" sz="1600" b="1" dirty="0" err="1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פיילוטים</a:t>
            </a:r>
            <a:r>
              <a:rPr lang="he-IL" sz="1600" b="1" dirty="0">
                <a:solidFill>
                  <a:srgbClr val="000000"/>
                </a:solidFill>
                <a:latin typeface="+mj-lt"/>
                <a:ea typeface="Arimo Bold"/>
                <a:sym typeface="Arimo Bold"/>
                <a:rtl/>
              </a:rPr>
              <a:t> פעילים עם למידה מתמשכת מהשטח</a:t>
            </a:r>
          </a:p>
        </p:txBody>
      </p:sp>
    </p:spTree>
    <p:extLst>
      <p:ext uri="{BB962C8B-B14F-4D97-AF65-F5344CB8AC3E}">
        <p14:creationId xmlns:p14="http://schemas.microsoft.com/office/powerpoint/2010/main" val="1446887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E506908A-1900-1352-7C02-55A71ECEB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9" y="0"/>
            <a:ext cx="119496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081971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210</Words>
  <Application>Microsoft Office PowerPoint</Application>
  <PresentationFormat>מסך רחב</PresentationFormat>
  <Paragraphs>59</Paragraphs>
  <Slides>3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ערכת נושא Office</vt:lpstr>
      <vt:lpstr>מצגת של PowerPoint‏</vt:lpstr>
      <vt:lpstr>מצגת של PowerPoint‏</vt:lpstr>
      <vt:lpstr>מצגת של PowerPoint‏</vt:lpstr>
    </vt:vector>
  </TitlesOfParts>
  <Company>Molsa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אביעד יצחקי</dc:creator>
  <cp:lastModifiedBy>אביעד יצחק</cp:lastModifiedBy>
  <cp:revision>5</cp:revision>
  <dcterms:created xsi:type="dcterms:W3CDTF">2024-12-12T06:26:20Z</dcterms:created>
  <dcterms:modified xsi:type="dcterms:W3CDTF">2024-12-12T22:21:18Z</dcterms:modified>
</cp:coreProperties>
</file>