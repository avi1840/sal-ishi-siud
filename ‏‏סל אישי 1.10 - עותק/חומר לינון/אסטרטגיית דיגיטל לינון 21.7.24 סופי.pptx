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  <p:sldMasterId id="2147483678" r:id="rId3"/>
    <p:sldMasterId id="2147483685" r:id="rId4"/>
    <p:sldMasterId id="2147483703" r:id="rId5"/>
  </p:sldMasterIdLst>
  <p:notesMasterIdLst>
    <p:notesMasterId r:id="rId39"/>
  </p:notesMasterIdLst>
  <p:sldIdLst>
    <p:sldId id="300" r:id="rId6"/>
    <p:sldId id="308" r:id="rId7"/>
    <p:sldId id="287" r:id="rId8"/>
    <p:sldId id="298" r:id="rId9"/>
    <p:sldId id="257" r:id="rId10"/>
    <p:sldId id="305" r:id="rId11"/>
    <p:sldId id="307" r:id="rId12"/>
    <p:sldId id="304" r:id="rId13"/>
    <p:sldId id="302" r:id="rId14"/>
    <p:sldId id="266" r:id="rId15"/>
    <p:sldId id="288" r:id="rId16"/>
    <p:sldId id="301" r:id="rId17"/>
    <p:sldId id="291" r:id="rId18"/>
    <p:sldId id="289" r:id="rId19"/>
    <p:sldId id="290" r:id="rId20"/>
    <p:sldId id="286" r:id="rId21"/>
    <p:sldId id="303" r:id="rId22"/>
    <p:sldId id="271" r:id="rId23"/>
    <p:sldId id="272" r:id="rId24"/>
    <p:sldId id="273" r:id="rId25"/>
    <p:sldId id="292" r:id="rId26"/>
    <p:sldId id="293" r:id="rId27"/>
    <p:sldId id="294" r:id="rId28"/>
    <p:sldId id="295" r:id="rId29"/>
    <p:sldId id="296" r:id="rId30"/>
    <p:sldId id="297" r:id="rId31"/>
    <p:sldId id="260" r:id="rId32"/>
    <p:sldId id="261" r:id="rId33"/>
    <p:sldId id="299" r:id="rId34"/>
    <p:sldId id="267" r:id="rId35"/>
    <p:sldId id="281" r:id="rId36"/>
    <p:sldId id="282" r:id="rId37"/>
    <p:sldId id="285" r:id="rId3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iad itzhaky" initials="ai" lastIdx="10" clrIdx="0">
    <p:extLst>
      <p:ext uri="{19B8F6BF-5375-455C-9EA6-DF929625EA0E}">
        <p15:presenceInfo xmlns:p15="http://schemas.microsoft.com/office/powerpoint/2012/main" userId="85f879c6d6d2bb18" providerId="Windows Live"/>
      </p:ext>
    </p:extLst>
  </p:cmAuthor>
  <p:cmAuthor id="2" name="אביגיל ללונק" initials="אל" lastIdx="1" clrIdx="1">
    <p:extLst>
      <p:ext uri="{19B8F6BF-5375-455C-9EA6-DF929625EA0E}">
        <p15:presenceInfo xmlns:p15="http://schemas.microsoft.com/office/powerpoint/2012/main" userId="S-1-5-21-641946731-1502829466-943750798-789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FF0"/>
    <a:srgbClr val="DBE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4660"/>
  </p:normalViewPr>
  <p:slideViewPr>
    <p:cSldViewPr snapToGrid="0">
      <p:cViewPr>
        <p:scale>
          <a:sx n="110" d="100"/>
          <a:sy n="110" d="100"/>
        </p:scale>
        <p:origin x="57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75793819485774"/>
          <c:y val="4.5269724707400559E-2"/>
          <c:w val="0.83768710834154358"/>
          <c:h val="0.757995386531327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במידה רבה מאוד</c:v>
                </c:pt>
                <c:pt idx="1">
                  <c:v>במידה רבה</c:v>
                </c:pt>
                <c:pt idx="2">
                  <c:v>במידה מועטה</c:v>
                </c:pt>
                <c:pt idx="3">
                  <c:v>בכלל לא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39.799999999999997</c:v>
                </c:pt>
                <c:pt idx="1">
                  <c:v>51.3</c:v>
                </c:pt>
                <c:pt idx="2">
                  <c:v>8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C-46FB-AE8A-4C513D36D5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45644784"/>
        <c:axId val="1545646224"/>
      </c:barChart>
      <c:catAx>
        <c:axId val="154564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45646224"/>
        <c:crosses val="autoZero"/>
        <c:auto val="1"/>
        <c:lblAlgn val="ctr"/>
        <c:lblOffset val="100"/>
        <c:noMultiLvlLbl val="0"/>
      </c:catAx>
      <c:valAx>
        <c:axId val="154564622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45644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מידע שמגיע מהמשרד באמצעות דשבורד המכלול</c:v>
                </c:pt>
                <c:pt idx="1">
                  <c:v>סקר עצמאי ברשות</c:v>
                </c:pt>
                <c:pt idx="2">
                  <c:v>נתונים כלליים על בני 65+</c:v>
                </c:pt>
                <c:pt idx="3">
                  <c:v>דשבורד רשותי</c:v>
                </c:pt>
                <c:pt idx="4">
                  <c:v>אחר</c:v>
                </c:pt>
                <c:pt idx="5">
                  <c:v>GIS רשותי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56.9</c:v>
                </c:pt>
                <c:pt idx="1">
                  <c:v>46.6</c:v>
                </c:pt>
                <c:pt idx="2">
                  <c:v>45.1</c:v>
                </c:pt>
                <c:pt idx="3">
                  <c:v>19.5</c:v>
                </c:pt>
                <c:pt idx="4">
                  <c:v>13.4</c:v>
                </c:pt>
                <c:pt idx="5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C-46FB-AE8A-4C513D36D5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45644784"/>
        <c:axId val="1545646224"/>
      </c:barChart>
      <c:catAx>
        <c:axId val="154564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45646224"/>
        <c:crosses val="autoZero"/>
        <c:auto val="1"/>
        <c:lblAlgn val="ctr"/>
        <c:lblOffset val="100"/>
        <c:noMultiLvlLbl val="0"/>
      </c:catAx>
      <c:valAx>
        <c:axId val="154564622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45644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משתמש לצורך תכנון התקציב</c:v>
                </c:pt>
                <c:pt idx="1">
                  <c:v>משתמש לצורך הניהול השוטף</c:v>
                </c:pt>
                <c:pt idx="2">
                  <c:v>מכיר אבל לא משתמש</c:v>
                </c:pt>
                <c:pt idx="3">
                  <c:v>לא מכיר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39.700000000000003</c:v>
                </c:pt>
                <c:pt idx="1">
                  <c:v>34.5</c:v>
                </c:pt>
                <c:pt idx="2">
                  <c:v>30.2</c:v>
                </c:pt>
                <c:pt idx="3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C-46FB-AE8A-4C513D36D5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45644784"/>
        <c:axId val="1545646224"/>
      </c:barChart>
      <c:catAx>
        <c:axId val="154564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45646224"/>
        <c:crosses val="autoZero"/>
        <c:auto val="1"/>
        <c:lblAlgn val="ctr"/>
        <c:lblOffset val="100"/>
        <c:noMultiLvlLbl val="0"/>
      </c:catAx>
      <c:valAx>
        <c:axId val="154564622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45644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במידה רבה מאוד</c:v>
                </c:pt>
                <c:pt idx="1">
                  <c:v>במידה רבה</c:v>
                </c:pt>
                <c:pt idx="2">
                  <c:v>במידה מועטה</c:v>
                </c:pt>
                <c:pt idx="3">
                  <c:v>בכלל לא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11.9</c:v>
                </c:pt>
                <c:pt idx="1">
                  <c:v>58.8</c:v>
                </c:pt>
                <c:pt idx="2">
                  <c:v>29.4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C-46FB-AE8A-4C513D36D5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45644784"/>
        <c:axId val="1545646224"/>
      </c:barChart>
      <c:catAx>
        <c:axId val="154564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45646224"/>
        <c:crosses val="autoZero"/>
        <c:auto val="1"/>
        <c:lblAlgn val="ctr"/>
        <c:lblOffset val="100"/>
        <c:noMultiLvlLbl val="0"/>
      </c:catAx>
      <c:valAx>
        <c:axId val="154564622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45644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800"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7-14T18:23:12.737" idx="10">
    <p:pos x="5905" y="4465"/>
    <p:text>כנל- דגש על האזרח הותיק, יתכן וכאן צריך לחזור לבעיה של האזרח שתקוע בין מערכות עם צרכים רבים</p:text>
    <p:extLst>
      <p:ext uri="{C676402C-5697-4E1C-873F-D02D1690AC5C}">
        <p15:threadingInfo xmlns:p15="http://schemas.microsoft.com/office/powerpoint/2012/main" timeZoneBias="-18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6267533-D971-4E79-AE6D-09A8A8F4B4F4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C95BF79-C604-4444-A9C8-FE0C558E812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821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0E25A4-E892-4D37-8336-FC6D55174129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53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96B088-BEEC-4145-AEDC-27EC65BEFD4A}" type="slidenum">
              <a:rPr kumimoji="0" lang="en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689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he-IL" dirty="0"/>
              <a:t>דש </a:t>
            </a:r>
            <a:r>
              <a:rPr lang="he-IL" dirty="0" err="1"/>
              <a:t>בורד</a:t>
            </a:r>
            <a:r>
              <a:rPr lang="he-IL" dirty="0"/>
              <a:t>- </a:t>
            </a: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פיתוח והנגשת תמונת מצב לאומית רב מערכתית של ההיערכות להזדקנות האוכלוסייה והשלכותיה על בסיס נתונים לממשלה ולרשויות המבוסס על תשתית שהוקמה במהלך ביזור סמכויות לשלטון המקומי במשרד הרווחה.</a:t>
            </a:r>
          </a:p>
          <a:p>
            <a:pPr marL="228600" marR="0" lvl="0" indent="-2286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he-IL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פרסונליזציה- </a:t>
            </a:r>
            <a:r>
              <a:rPr lang="he-IL" sz="1800" b="0" dirty="0"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מיפוי של הצרכים של האזרחים הוותיקים ע"פ פרופילים והמענים שקיימים </a:t>
            </a:r>
          </a:p>
          <a:p>
            <a:pPr marL="228600" marR="0" lvl="0" indent="-22860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he-IL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תכנית </a:t>
            </a:r>
            <a:r>
              <a:rPr lang="he-IL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אסט</a:t>
            </a:r>
            <a:r>
              <a:rPr lang="he-IL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'- </a:t>
            </a:r>
            <a:r>
              <a:rPr lang="he-IL" sz="1800" b="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תכנית אסטרטגית ב- </a:t>
            </a:r>
            <a:r>
              <a:rPr lang="en-US" sz="1800" b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HIGH LEVEL</a:t>
            </a:r>
            <a:r>
              <a:rPr lang="he-IL" sz="1800" b="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למיפוי המצב כיום, מיפוי האפשרויות הטכנולוגיות והצעות איך לפעול בציר </a:t>
            </a:r>
            <a:endParaRPr lang="he-IL" sz="1200" b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B5E33-03CD-4FAC-A831-C3929E34E7AD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9282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06115E-15CE-4FB1-84C2-177978A25976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905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0E25A4-E892-4D37-8336-FC6D55174129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325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0E25A4-E892-4D37-8336-FC6D55174129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97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0E25A4-E892-4D37-8336-FC6D55174129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808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0E25A4-E892-4D37-8336-FC6D55174129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31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290769-FC4B-4518-8E82-10D24D0B70E5}" type="slidenum">
              <a:rPr kumimoji="0" lang="en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554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80% </a:t>
            </a:r>
            <a:r>
              <a:rPr lang="en-US" baseline="0" dirty="0"/>
              <a:t> </a:t>
            </a:r>
            <a:r>
              <a:rPr lang="he-IL" baseline="0" dirty="0"/>
              <a:t>מהבריאות בקהילה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3FB198-B410-4AA9-86F5-D09177D6400A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l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45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rookdale.jdc.org.il/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540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737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246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097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324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583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576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0251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2237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2609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329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425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609600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2"/>
          </p:nvPr>
        </p:nvSpPr>
        <p:spPr>
          <a:xfrm>
            <a:off x="300464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3"/>
          </p:nvPr>
        </p:nvSpPr>
        <p:spPr>
          <a:xfrm>
            <a:off x="539969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193573"/>
      </p:ext>
    </p:extLst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802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7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609600" y="1875925"/>
            <a:ext cx="7068400" cy="421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1716637"/>
      </p:ext>
    </p:extLst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289E-A01B-4831-8F11-C8CCC0732A3D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2A8D9-E848-4F9E-A3AB-56F7011078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5190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609600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body" idx="2"/>
          </p:nvPr>
        </p:nvSpPr>
        <p:spPr>
          <a:xfrm>
            <a:off x="300464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3"/>
          </p:nvPr>
        </p:nvSpPr>
        <p:spPr>
          <a:xfrm>
            <a:off x="5399699" y="1879333"/>
            <a:ext cx="2278400" cy="448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1867"/>
            </a:lvl1pPr>
            <a:lvl2pPr lvl="1" rtl="0">
              <a:spcBef>
                <a:spcPts val="0"/>
              </a:spcBef>
              <a:buSzPct val="100000"/>
              <a:defRPr sz="1867"/>
            </a:lvl2pPr>
            <a:lvl3pPr lvl="2" rtl="0">
              <a:spcBef>
                <a:spcPts val="0"/>
              </a:spcBef>
              <a:buSzPct val="100000"/>
              <a:defRPr sz="1867"/>
            </a:lvl3pPr>
            <a:lvl4pPr lvl="3" rtl="0">
              <a:spcBef>
                <a:spcPts val="0"/>
              </a:spcBef>
              <a:buSzPct val="100000"/>
              <a:defRPr sz="1867"/>
            </a:lvl4pPr>
            <a:lvl5pPr lvl="4" rtl="0">
              <a:spcBef>
                <a:spcPts val="0"/>
              </a:spcBef>
              <a:buSzPct val="100000"/>
              <a:defRPr sz="1867"/>
            </a:lvl5pPr>
            <a:lvl6pPr lvl="5" rtl="0">
              <a:spcBef>
                <a:spcPts val="0"/>
              </a:spcBef>
              <a:buSzPct val="100000"/>
              <a:defRPr sz="1867"/>
            </a:lvl6pPr>
            <a:lvl7pPr lvl="6" rtl="0">
              <a:spcBef>
                <a:spcPts val="0"/>
              </a:spcBef>
              <a:buSzPct val="100000"/>
              <a:defRPr sz="1867"/>
            </a:lvl7pPr>
            <a:lvl8pPr lvl="7" rtl="0">
              <a:spcBef>
                <a:spcPts val="0"/>
              </a:spcBef>
              <a:buSzPct val="100000"/>
              <a:defRPr sz="1867"/>
            </a:lvl8pPr>
            <a:lvl9pPr lvl="8" rtl="0">
              <a:spcBef>
                <a:spcPts val="0"/>
              </a:spcBef>
              <a:buSzPct val="100000"/>
              <a:defRPr sz="1867"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23624860"/>
      </p:ext>
    </p:extLst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7289E-A01B-4831-8F11-C8CCC0732A3D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2A8D9-E848-4F9E-A3AB-56F7011078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16812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798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7335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3D744-8BFC-49C4-921C-A4357DD28206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CB286-1E5E-4B02-A0C5-06BDEC1E2FA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94534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Content Bol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758A5-D8CF-7C4B-91E5-22A99FEA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30" y="263952"/>
            <a:ext cx="11281809" cy="880636"/>
          </a:xfrm>
          <a:prstGeom prst="rect">
            <a:avLst/>
          </a:prstGeom>
        </p:spPr>
        <p:txBody>
          <a:bodyPr lIns="0" tIns="0" rIns="0" bIns="45720" anchor="t"/>
          <a:lstStyle>
            <a:lvl1pPr>
              <a:lnSpc>
                <a:spcPct val="85000"/>
              </a:lnSpc>
              <a:defRPr sz="3799" b="0" i="0">
                <a:latin typeface="Arial Rounded MT Bold" panose="020F0704030504030204" pitchFamily="34" charset="77"/>
                <a:cs typeface="Arial" panose="020B0604020202020204" pitchFamily="34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CCC40F-A883-FE45-B522-4ADB03A19C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030" y="1289146"/>
            <a:ext cx="11282125" cy="4378229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20000"/>
              </a:lnSpc>
              <a:spcAft>
                <a:spcPts val="300"/>
              </a:spcAft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594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657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99720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6783" indent="-228531">
              <a:lnSpc>
                <a:spcPct val="120000"/>
              </a:lnSpc>
              <a:spcAft>
                <a:spcPts val="300"/>
              </a:spcAft>
              <a:buClr>
                <a:schemeClr val="tx2"/>
              </a:buClr>
              <a:buSzPct val="110000"/>
              <a:buFont typeface="Arial" panose="020B0604020202020204" pitchFamily="34" charset="0"/>
              <a:buChar char="•"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2E5537-E5C0-C745-AF97-2E51588BDB29}"/>
              </a:ext>
            </a:extLst>
          </p:cNvPr>
          <p:cNvSpPr/>
          <p:nvPr userDrawn="1"/>
        </p:nvSpPr>
        <p:spPr>
          <a:xfrm>
            <a:off x="2" y="6319330"/>
            <a:ext cx="12192000" cy="538673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74D112-EBB5-494B-945B-BF708C79A04A}"/>
              </a:ext>
            </a:extLst>
          </p:cNvPr>
          <p:cNvSpPr txBox="1"/>
          <p:nvPr userDrawn="1"/>
        </p:nvSpPr>
        <p:spPr>
          <a:xfrm>
            <a:off x="8110042" y="6481681"/>
            <a:ext cx="362931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tabLst>
                <a:tab pos="790338" algn="l"/>
                <a:tab pos="3593022" algn="r"/>
              </a:tabLst>
            </a:pPr>
            <a:r>
              <a:rPr lang="en-US" sz="800" b="0" i="0" spc="5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PROPRIETARY AND CONFIDENTIAL</a:t>
            </a:r>
            <a:r>
              <a:rPr lang="en-US" sz="900" b="0" i="0" spc="5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fld id="{D23125F3-EC14-7D43-B92B-F4D0E871587A}" type="slidenum">
              <a:rPr lang="en-US" sz="1200" b="0" i="0" spc="50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indent="0" algn="l">
                <a:tabLst>
                  <a:tab pos="790338" algn="l"/>
                  <a:tab pos="3593022" algn="r"/>
                </a:tabLst>
              </a:pPr>
              <a:t>‹#›</a:t>
            </a:fld>
            <a:endParaRPr lang="en-US" sz="1200" b="0" i="0" spc="50" baseline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109F4C6-65C8-174C-A967-B3AB4E41E4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842" y="6446287"/>
            <a:ext cx="916215" cy="2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58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36642-002E-4C98-915B-826072CB88D7}" type="slidenum">
              <a:rPr lang="he-IL" smtClean="0"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2128248" y="478699"/>
            <a:ext cx="0" cy="708751"/>
          </a:xfrm>
          <a:prstGeom prst="line">
            <a:avLst/>
          </a:prstGeom>
          <a:ln w="127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034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1799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כותר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7BDC0554-B7CA-4519-A16F-BED0F3478D5E}"/>
              </a:ext>
            </a:extLst>
          </p:cNvPr>
          <p:cNvSpPr/>
          <p:nvPr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5"/>
          <p:cNvSpPr/>
          <p:nvPr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7" name="Picture 11">
            <a:extLst>
              <a:ext uri="{FF2B5EF4-FFF2-40B4-BE49-F238E27FC236}">
                <a16:creationId xmlns:a16="http://schemas.microsoft.com/office/drawing/2014/main" id="{0DBFB498-3E4F-4E94-826C-66872020B0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19" name="Oval 10">
            <a:extLst>
              <a:ext uri="{FF2B5EF4-FFF2-40B4-BE49-F238E27FC236}">
                <a16:creationId xmlns:a16="http://schemas.microsoft.com/office/drawing/2014/main" id="{8EE77483-DAB6-4D01-B3AF-95B109F03143}"/>
              </a:ext>
            </a:extLst>
          </p:cNvPr>
          <p:cNvSpPr/>
          <p:nvPr/>
        </p:nvSpPr>
        <p:spPr>
          <a:xfrm>
            <a:off x="11437714" y="623384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Slide Number Placeholder 5"/>
          <p:cNvSpPr txBox="1">
            <a:spLocks/>
          </p:cNvSpPr>
          <p:nvPr/>
        </p:nvSpPr>
        <p:spPr>
          <a:xfrm>
            <a:off x="11368976" y="6272886"/>
            <a:ext cx="53347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1" eaLnBrk="1" latinLnBrk="0" hangingPunct="1">
              <a:defRPr sz="1600" kern="1200">
                <a:solidFill>
                  <a:srgbClr val="008DA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450A29C-FF3A-4789-B98E-12119F960C99}" type="slidenum">
              <a:rPr lang="en-US" sz="1400" smtClean="0">
                <a:solidFill>
                  <a:srgbClr val="424F58"/>
                </a:solidFill>
              </a:rPr>
              <a:pPr algn="ctr"/>
              <a:t>‹#›</a:t>
            </a:fld>
            <a:endParaRPr lang="en-US" sz="1400" dirty="0">
              <a:solidFill>
                <a:srgbClr val="424F58"/>
              </a:solidFill>
            </a:endParaRP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936168" y="458070"/>
            <a:ext cx="9385267" cy="1325563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480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Content Placeholder 2"/>
          <p:cNvSpPr>
            <a:spLocks noGrp="1"/>
          </p:cNvSpPr>
          <p:nvPr>
            <p:ph sz="half" idx="1"/>
          </p:nvPr>
        </p:nvSpPr>
        <p:spPr>
          <a:xfrm>
            <a:off x="936168" y="1825625"/>
            <a:ext cx="9385267" cy="4351338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C173E-0F63-4469-837F-5F34A6BD1AC7}"/>
              </a:ext>
            </a:extLst>
          </p:cNvPr>
          <p:cNvSpPr/>
          <p:nvPr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15">
            <a:extLst>
              <a:ext uri="{FF2B5EF4-FFF2-40B4-BE49-F238E27FC236}">
                <a16:creationId xmlns:a16="http://schemas.microsoft.com/office/drawing/2014/main" id="{E5BE7D73-436E-45C1-97BA-BC7AEC0FFA8C}"/>
              </a:ext>
            </a:extLst>
          </p:cNvPr>
          <p:cNvSpPr/>
          <p:nvPr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B1CA9B66-42F2-4FD4-BBB3-D3758DE175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0283395-E810-4E4C-8BF3-5DE2E8DD7A72}"/>
              </a:ext>
            </a:extLst>
          </p:cNvPr>
          <p:cNvSpPr/>
          <p:nvPr userDrawn="1"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5">
            <a:extLst>
              <a:ext uri="{FF2B5EF4-FFF2-40B4-BE49-F238E27FC236}">
                <a16:creationId xmlns:a16="http://schemas.microsoft.com/office/drawing/2014/main" id="{91EEA1A6-D48A-4870-9730-23870829D16B}"/>
              </a:ext>
            </a:extLst>
          </p:cNvPr>
          <p:cNvSpPr/>
          <p:nvPr userDrawn="1"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5" name="Picture 11">
            <a:extLst>
              <a:ext uri="{FF2B5EF4-FFF2-40B4-BE49-F238E27FC236}">
                <a16:creationId xmlns:a16="http://schemas.microsoft.com/office/drawing/2014/main" id="{29F425F9-415C-4F40-825D-3C051B3775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9223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פריסה מותאמת איש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6766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פריסה מותאמת איש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B7E6105-467F-495D-64E0-DF3EA42A18C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55917" y="288886"/>
            <a:ext cx="2401373" cy="269914"/>
            <a:chOff x="4313384" y="1520297"/>
            <a:chExt cx="4665515" cy="52440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E80E6F6-668F-C528-FAB0-B27138716A9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8"/>
            <a:stretch/>
          </p:blipFill>
          <p:spPr>
            <a:xfrm>
              <a:off x="5003800" y="1520297"/>
              <a:ext cx="3975099" cy="524404"/>
            </a:xfrm>
            <a:prstGeom prst="rect">
              <a:avLst/>
            </a:prstGeom>
          </p:spPr>
        </p:pic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20E6C68-8E24-AB01-BE3F-FA6BA3399AA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313384" y="1520297"/>
              <a:ext cx="550255" cy="524404"/>
              <a:chOff x="6096000" y="2927768"/>
              <a:chExt cx="1277303" cy="1217295"/>
            </a:xfrm>
            <a:gradFill>
              <a:gsLst>
                <a:gs pos="81000">
                  <a:schemeClr val="accent4"/>
                </a:gs>
                <a:gs pos="61000">
                  <a:schemeClr val="accent3"/>
                </a:gs>
                <a:gs pos="100000">
                  <a:schemeClr val="accent5"/>
                </a:gs>
                <a:gs pos="44000">
                  <a:schemeClr val="accent2"/>
                </a:gs>
                <a:gs pos="14000">
                  <a:schemeClr val="accent1"/>
                </a:gs>
              </a:gsLst>
              <a:lin ang="8100000" scaled="1"/>
            </a:gradFill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2381A807-A7E3-4F28-E42C-B49264FD6D28}"/>
                  </a:ext>
                </a:extLst>
              </p:cNvPr>
              <p:cNvSpPr/>
              <p:nvPr userDrawn="1"/>
            </p:nvSpPr>
            <p:spPr bwMode="gray">
              <a:xfrm>
                <a:off x="6096000" y="3485934"/>
                <a:ext cx="591503" cy="590550"/>
              </a:xfrm>
              <a:prstGeom prst="roundRect">
                <a:avLst>
                  <a:gd name="adj" fmla="val 1367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FBF09E75-4E2F-3E03-06D0-AB67B885EEE9}"/>
                  </a:ext>
                </a:extLst>
              </p:cNvPr>
              <p:cNvSpPr/>
              <p:nvPr userDrawn="1"/>
            </p:nvSpPr>
            <p:spPr bwMode="gray">
              <a:xfrm>
                <a:off x="6781800" y="3765016"/>
                <a:ext cx="375285" cy="380047"/>
              </a:xfrm>
              <a:prstGeom prst="roundRect">
                <a:avLst>
                  <a:gd name="adj" fmla="val 2103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C4A19BC-7294-5763-9CB9-9F8E812A41CA}"/>
                  </a:ext>
                </a:extLst>
              </p:cNvPr>
              <p:cNvSpPr/>
              <p:nvPr userDrawn="1"/>
            </p:nvSpPr>
            <p:spPr bwMode="gray">
              <a:xfrm>
                <a:off x="6781800" y="3237332"/>
                <a:ext cx="591503" cy="438150"/>
              </a:xfrm>
              <a:prstGeom prst="roundRect">
                <a:avLst>
                  <a:gd name="adj" fmla="val 18424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4897064D-EEEF-A234-C005-806EA2850218}"/>
                  </a:ext>
                </a:extLst>
              </p:cNvPr>
              <p:cNvSpPr/>
              <p:nvPr userDrawn="1"/>
            </p:nvSpPr>
            <p:spPr bwMode="gray">
              <a:xfrm>
                <a:off x="6312217" y="3018257"/>
                <a:ext cx="375286" cy="371056"/>
              </a:xfrm>
              <a:prstGeom prst="roundRect">
                <a:avLst>
                  <a:gd name="adj" fmla="val 2047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E49406B2-F59E-5549-60A6-881767701C38}"/>
                  </a:ext>
                </a:extLst>
              </p:cNvPr>
              <p:cNvSpPr/>
              <p:nvPr userDrawn="1"/>
            </p:nvSpPr>
            <p:spPr bwMode="gray">
              <a:xfrm>
                <a:off x="6781800" y="2927768"/>
                <a:ext cx="375285" cy="220029"/>
              </a:xfrm>
              <a:prstGeom prst="roundRect">
                <a:avLst>
                  <a:gd name="adj" fmla="val 3389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811849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פריסה מותאמת אישית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05DA283-911F-40AD-E860-B8877108AF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3717" y="6413500"/>
            <a:ext cx="1902729" cy="213867"/>
            <a:chOff x="4313384" y="1520297"/>
            <a:chExt cx="4665515" cy="52440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D9BA6F-7AA9-BFC7-BA7B-FE72D74CA3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8"/>
            <a:stretch/>
          </p:blipFill>
          <p:spPr>
            <a:xfrm>
              <a:off x="5003800" y="1520297"/>
              <a:ext cx="3975099" cy="5244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C60A013-E385-2191-17C1-2A7EDEEF70F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313384" y="1520297"/>
              <a:ext cx="550255" cy="524404"/>
              <a:chOff x="6096000" y="2927768"/>
              <a:chExt cx="1277303" cy="1217295"/>
            </a:xfrm>
            <a:gradFill>
              <a:gsLst>
                <a:gs pos="81000">
                  <a:schemeClr val="accent4"/>
                </a:gs>
                <a:gs pos="61000">
                  <a:schemeClr val="accent3"/>
                </a:gs>
                <a:gs pos="100000">
                  <a:schemeClr val="accent5"/>
                </a:gs>
                <a:gs pos="44000">
                  <a:schemeClr val="accent2"/>
                </a:gs>
                <a:gs pos="14000">
                  <a:schemeClr val="accent1"/>
                </a:gs>
              </a:gsLst>
              <a:lin ang="8100000" scaled="1"/>
            </a:gradFill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A21E795D-D8F2-EA4C-3E18-6376359AE756}"/>
                  </a:ext>
                </a:extLst>
              </p:cNvPr>
              <p:cNvSpPr/>
              <p:nvPr userDrawn="1"/>
            </p:nvSpPr>
            <p:spPr bwMode="gray">
              <a:xfrm>
                <a:off x="6096000" y="3485934"/>
                <a:ext cx="591503" cy="590550"/>
              </a:xfrm>
              <a:prstGeom prst="roundRect">
                <a:avLst>
                  <a:gd name="adj" fmla="val 1367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9A502EF-7013-DA89-3B57-7501242DD327}"/>
                  </a:ext>
                </a:extLst>
              </p:cNvPr>
              <p:cNvSpPr/>
              <p:nvPr userDrawn="1"/>
            </p:nvSpPr>
            <p:spPr bwMode="gray">
              <a:xfrm>
                <a:off x="6781800" y="3765016"/>
                <a:ext cx="375285" cy="380047"/>
              </a:xfrm>
              <a:prstGeom prst="roundRect">
                <a:avLst>
                  <a:gd name="adj" fmla="val 2103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74B778A7-BA8B-95BE-2079-A42598164E98}"/>
                  </a:ext>
                </a:extLst>
              </p:cNvPr>
              <p:cNvSpPr/>
              <p:nvPr userDrawn="1"/>
            </p:nvSpPr>
            <p:spPr bwMode="gray">
              <a:xfrm>
                <a:off x="6781800" y="3237332"/>
                <a:ext cx="591503" cy="438150"/>
              </a:xfrm>
              <a:prstGeom prst="roundRect">
                <a:avLst>
                  <a:gd name="adj" fmla="val 18424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93F88E3-0003-52CA-9B92-A3AEB7D8CAAE}"/>
                  </a:ext>
                </a:extLst>
              </p:cNvPr>
              <p:cNvSpPr/>
              <p:nvPr userDrawn="1"/>
            </p:nvSpPr>
            <p:spPr bwMode="gray">
              <a:xfrm>
                <a:off x="6312217" y="3018257"/>
                <a:ext cx="375286" cy="371056"/>
              </a:xfrm>
              <a:prstGeom prst="roundRect">
                <a:avLst>
                  <a:gd name="adj" fmla="val 2047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CF37E1C9-6309-6128-F1EC-632768F8BA6A}"/>
                  </a:ext>
                </a:extLst>
              </p:cNvPr>
              <p:cNvSpPr/>
              <p:nvPr userDrawn="1"/>
            </p:nvSpPr>
            <p:spPr bwMode="gray">
              <a:xfrm>
                <a:off x="6781800" y="2927768"/>
                <a:ext cx="375285" cy="220029"/>
              </a:xfrm>
              <a:prstGeom prst="roundRect">
                <a:avLst>
                  <a:gd name="adj" fmla="val 3389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F108ED66-519D-22F3-76CC-30C8A56257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261" y="6248429"/>
            <a:ext cx="1494394" cy="40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917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פריסה מותאמת אישית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301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פריסה מותאמת אישית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6C5943D-BC12-7B7F-DD35-04298F12724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96685" y="1564774"/>
            <a:ext cx="2798630" cy="2667151"/>
            <a:chOff x="6096000" y="2927768"/>
            <a:chExt cx="1277303" cy="1217295"/>
          </a:xfrm>
          <a:gradFill>
            <a:gsLst>
              <a:gs pos="81000">
                <a:schemeClr val="accent4"/>
              </a:gs>
              <a:gs pos="61000">
                <a:schemeClr val="accent3"/>
              </a:gs>
              <a:gs pos="100000">
                <a:schemeClr val="accent5"/>
              </a:gs>
              <a:gs pos="44000">
                <a:schemeClr val="accent2"/>
              </a:gs>
              <a:gs pos="14000">
                <a:schemeClr val="accent1"/>
              </a:gs>
            </a:gsLst>
            <a:lin ang="8100000" scaled="1"/>
          </a:gradFill>
          <a:effectLst>
            <a:outerShdw blurRad="457200" dist="647700" dir="360000" sx="90000" sy="-19000" rotWithShape="0">
              <a:schemeClr val="accent1">
                <a:alpha val="75000"/>
              </a:scheme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D1A9910-9DA6-32EF-1B50-206AF0B05254}"/>
                </a:ext>
              </a:extLst>
            </p:cNvPr>
            <p:cNvSpPr/>
            <p:nvPr userDrawn="1"/>
          </p:nvSpPr>
          <p:spPr bwMode="gray">
            <a:xfrm>
              <a:off x="6096000" y="3485934"/>
              <a:ext cx="591503" cy="590550"/>
            </a:xfrm>
            <a:prstGeom prst="roundRect">
              <a:avLst>
                <a:gd name="adj" fmla="val 13673"/>
              </a:avLst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lvl="0" algn="ctr">
                <a:lnSpc>
                  <a:spcPct val="106000"/>
                </a:lnSpc>
                <a:buFont typeface="Wingdings 2" pitchFamily="18" charset="2"/>
                <a:buNone/>
              </a:pPr>
              <a:endParaRPr lang="en-IL" sz="1600" b="1">
                <a:solidFill>
                  <a:schemeClr val="bg1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0EB4E98-AF8B-3C09-200D-28BE6C4DF312}"/>
                </a:ext>
              </a:extLst>
            </p:cNvPr>
            <p:cNvSpPr/>
            <p:nvPr userDrawn="1"/>
          </p:nvSpPr>
          <p:spPr bwMode="gray">
            <a:xfrm>
              <a:off x="6781800" y="3765016"/>
              <a:ext cx="375285" cy="380047"/>
            </a:xfrm>
            <a:prstGeom prst="roundRect">
              <a:avLst>
                <a:gd name="adj" fmla="val 21033"/>
              </a:avLst>
            </a:prstGeom>
            <a:grpFill/>
            <a:ln w="19050" algn="ctr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88900" tIns="88900" rIns="88900" bIns="88900" rtlCol="0" anchor="ctr"/>
            <a:lstStyle/>
            <a:p>
              <a:pPr lvl="0" algn="ctr">
                <a:lnSpc>
                  <a:spcPct val="106000"/>
                </a:lnSpc>
                <a:buFont typeface="Wingdings 2" pitchFamily="18" charset="2"/>
                <a:buNone/>
              </a:pPr>
              <a:endParaRPr lang="en-IL" sz="1600" b="1">
                <a:solidFill>
                  <a:schemeClr val="bg1"/>
                </a:solidFill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EC3B6DC-36B4-33AB-EA13-F732AA4886CC}"/>
                </a:ext>
              </a:extLst>
            </p:cNvPr>
            <p:cNvSpPr/>
            <p:nvPr userDrawn="1"/>
          </p:nvSpPr>
          <p:spPr bwMode="gray">
            <a:xfrm>
              <a:off x="6781800" y="3237332"/>
              <a:ext cx="591503" cy="438150"/>
            </a:xfrm>
            <a:prstGeom prst="roundRect">
              <a:avLst>
                <a:gd name="adj" fmla="val 18424"/>
              </a:avLst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lvl="0" algn="ctr">
                <a:lnSpc>
                  <a:spcPct val="106000"/>
                </a:lnSpc>
                <a:buFont typeface="Wingdings 2" pitchFamily="18" charset="2"/>
                <a:buNone/>
              </a:pPr>
              <a:endParaRPr lang="en-IL" sz="1600" b="1">
                <a:solidFill>
                  <a:schemeClr val="bg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7BA8769-C445-0D01-6BF7-316ABD85A0C0}"/>
                </a:ext>
              </a:extLst>
            </p:cNvPr>
            <p:cNvSpPr/>
            <p:nvPr userDrawn="1"/>
          </p:nvSpPr>
          <p:spPr bwMode="gray">
            <a:xfrm>
              <a:off x="6312217" y="3018257"/>
              <a:ext cx="375286" cy="371056"/>
            </a:xfrm>
            <a:prstGeom prst="roundRect">
              <a:avLst>
                <a:gd name="adj" fmla="val 20478"/>
              </a:avLst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lvl="0" algn="ctr">
                <a:lnSpc>
                  <a:spcPct val="106000"/>
                </a:lnSpc>
                <a:buFont typeface="Wingdings 2" pitchFamily="18" charset="2"/>
                <a:buNone/>
              </a:pPr>
              <a:endParaRPr lang="en-IL" sz="1600" b="1">
                <a:solidFill>
                  <a:schemeClr val="bg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334C5B0-C9FA-9871-EF65-14D0C967C790}"/>
                </a:ext>
              </a:extLst>
            </p:cNvPr>
            <p:cNvSpPr/>
            <p:nvPr userDrawn="1"/>
          </p:nvSpPr>
          <p:spPr bwMode="gray">
            <a:xfrm>
              <a:off x="6781800" y="2927768"/>
              <a:ext cx="375285" cy="220029"/>
            </a:xfrm>
            <a:prstGeom prst="roundRect">
              <a:avLst>
                <a:gd name="adj" fmla="val 33898"/>
              </a:avLst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en-IL" sz="1600" b="1">
                <a:solidFill>
                  <a:schemeClr val="bg1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E79A58A-CC50-1A05-F575-2FDF8D27C6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5"/>
          <a:stretch/>
        </p:blipFill>
        <p:spPr>
          <a:xfrm>
            <a:off x="3334675" y="4920158"/>
            <a:ext cx="5522649" cy="74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2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90923EFE-DDBD-4218-A268-B11CA2D54AC0}"/>
              </a:ext>
            </a:extLst>
          </p:cNvPr>
          <p:cNvSpPr txBox="1"/>
          <p:nvPr userDrawn="1"/>
        </p:nvSpPr>
        <p:spPr>
          <a:xfrm>
            <a:off x="85725" y="6553840"/>
            <a:ext cx="8029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10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</a:rPr>
              <a:t>©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Arial" pitchFamily="34" charset="0"/>
                <a:ea typeface="Calibri" panose="020F0502020204030204" pitchFamily="34" charset="0"/>
              </a:rPr>
              <a:t>2020 Know Your Data LTD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289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99CF2-FEF6-4884-93C8-66F225F8C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7E841-C4FD-4FF1-B5CE-C23BBF8BA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F626F-0FD8-471F-B1A2-4AD1814B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202FC-3E7A-4509-8DDA-296BDCEB9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8DB32-4651-4FF1-8118-B67BA5E0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53386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157B-F0B1-469E-A1A6-A566A2C7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A1B4C-1061-4980-BF45-9B235DFB0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48F3-B46F-4709-BD02-549F38A6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A0E69-7D9A-4CEB-A98E-7E4CB3929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2E01A-DFE0-41AC-A8D1-D1BD1C79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623782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B632-E142-4AD2-8801-0F2B830B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C64EC-1599-48AD-84BE-1CD0F455F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A8002-3169-476D-880A-CAFD35DD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7634-C145-41AB-BCB8-676B9F11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5CA2-F133-45DA-86A8-931CD91F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1862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7B1F-C30F-4EE1-80DE-DBBC3167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308DE-B05D-43F4-98DA-A6969522F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E28E0-6D63-48F2-834B-1E312B20D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2A9FA-2298-45FF-B737-DEBD5DE12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41A74-D5D7-4632-8552-E5F753F8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EFADF-CFE9-4FF7-9703-F8818639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2463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3A2F-D0D5-4522-85DD-B1717918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4B264-177E-4048-BE87-AE7838290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28566-E393-41F7-A1F4-106B2AA84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7F394-1D76-462F-A7D6-F1EBE7991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57361-AF4C-476A-BCB6-791948ADC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7CBAC-968E-42A6-94EF-EEF800C6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58A626-55D2-463E-AAEC-569D4B9C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E6598-8A49-4196-A24B-AD093A74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14889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7402-AE6F-40E6-A490-C6B533420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9E7B1-10C3-47E5-991E-0A30BE89E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E2AF4-05BF-462F-82B3-8156C516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87C240-D7C7-4798-A9A8-873C8A324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67975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467C9-466D-4974-A7C1-9E6F9852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91AED-FF97-467A-9C59-E08C094D8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B29AE-E94E-4CB8-9292-0E54DF3BF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832575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5CBB-2B55-4380-A219-C8823E2E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3ECE-61EA-455C-8AF7-73DA8CB1D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FE761-5D1B-4F2F-8D7D-F65D579B9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FE3B6-D29F-44E5-ACAC-3902BB946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2D2EF-9EDB-4502-9E3A-0FF439D8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CBD61-3498-4452-8B9E-BF128667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29451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41B7-695C-44EB-87C2-E8BF68A3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FABCF-7DCA-46FD-B86E-85C209423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CE2D2-9976-4EF9-81D3-3FEF21A0D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1DECC-0B21-4C72-B8BC-0BAF59E8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5287-1D16-4D95-B9C8-AE870CEB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48362-DB3C-46E9-9C06-7849BA31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89455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B271-1F80-4357-B2D5-8DDA4869D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A0E6-144E-4B65-8DEF-96839D4D9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7867C-9033-4B15-A0CF-A50B3B164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80DC4-82B1-4E37-BA18-D3AC56738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5E84C-8517-44AE-9B6A-25C44665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96376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4C7B9-949D-49B1-9E84-5E134665E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F19A2-2188-418F-805F-804309C6E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8A66D-F6EC-4A88-9983-D809BF71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828-D965-4B22-85AA-AF24CD109DC9}" type="datetimeFigureOut">
              <a:rPr lang="en-IL" smtClean="0"/>
              <a:t>07/21/2024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C6FCE-5E02-4FD1-9DDA-525E0E4A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D6E4-8D20-4A65-8E01-D8857D56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EFEE-B59A-439F-87BA-08D2A83B568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89473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4955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A33C2765-E215-468E-A877-F2295A9F57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2795" y="147514"/>
            <a:ext cx="1450862" cy="39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75762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0592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609600" y="751065"/>
            <a:ext cx="7068400" cy="970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609600" y="1875925"/>
            <a:ext cx="7068400" cy="421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7475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31912909"/>
      </p:ext>
    </p:extLst>
  </p:cSld>
  <p:clrMapOvr>
    <a:masterClrMapping/>
  </p:clrMapOvr>
  <p:transition spd="slow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head: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EC5EC5A-100A-7147-B3DC-6BBBC38A8B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2959100"/>
            <a:ext cx="3009900" cy="1714500"/>
          </a:xfrm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/>
            </a:lvl1pPr>
          </a:lstStyle>
          <a:p>
            <a:pPr lvl="0"/>
            <a:r>
              <a:rPr lang="en-US"/>
              <a:t>7 lines running intro text. Morbi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, porta ac </a:t>
            </a:r>
            <a:r>
              <a:rPr lang="en-US" err="1"/>
              <a:t>consectetur</a:t>
            </a:r>
            <a:r>
              <a:rPr lang="en-US"/>
              <a:t> ac, vestibulum at eros. Donec sed </a:t>
            </a:r>
            <a:r>
              <a:rPr lang="en-US" err="1"/>
              <a:t>odio</a:t>
            </a:r>
            <a:r>
              <a:rPr lang="en-US"/>
              <a:t> dui. </a:t>
            </a:r>
            <a:r>
              <a:rPr lang="en-US" err="1"/>
              <a:t>odio</a:t>
            </a:r>
            <a:r>
              <a:rPr lang="en-US"/>
              <a:t> dui.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cursus magna, vel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et. Sed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at </a:t>
            </a:r>
            <a:r>
              <a:rPr lang="en-US" err="1"/>
              <a:t>lobortis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cursus magna, vel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et.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0A1F4-8F2A-B944-8910-489459DDC3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0" y="571500"/>
            <a:ext cx="3009900" cy="2190750"/>
          </a:xfrm>
        </p:spPr>
        <p:txBody>
          <a:bodyPr anchor="b"/>
          <a:lstStyle>
            <a:lvl1pPr>
              <a:lnSpc>
                <a:spcPct val="100000"/>
              </a:lnSpc>
              <a:defRPr sz="2400">
                <a:latin typeface="Assistant" pitchFamily="2" charset="-79"/>
              </a:defRPr>
            </a:lvl1pPr>
            <a:lvl2pPr>
              <a:defRPr sz="24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slide heading</a:t>
            </a:r>
          </a:p>
        </p:txBody>
      </p:sp>
    </p:spTree>
    <p:extLst>
      <p:ext uri="{BB962C8B-B14F-4D97-AF65-F5344CB8AC3E}">
        <p14:creationId xmlns:p14="http://schemas.microsoft.com/office/powerpoint/2010/main" val="212176002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78354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פריסה מותאמת אישית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05DA283-911F-40AD-E860-B8877108AF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33717" y="6413500"/>
            <a:ext cx="1902729" cy="213867"/>
            <a:chOff x="4313384" y="1520297"/>
            <a:chExt cx="4665515" cy="52440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D9BA6F-7AA9-BFC7-BA7B-FE72D74CA3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98"/>
            <a:stretch/>
          </p:blipFill>
          <p:spPr>
            <a:xfrm>
              <a:off x="5003800" y="1520297"/>
              <a:ext cx="3975099" cy="5244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C60A013-E385-2191-17C1-2A7EDEEF70F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313384" y="1520297"/>
              <a:ext cx="550255" cy="524404"/>
              <a:chOff x="6096000" y="2927768"/>
              <a:chExt cx="1277303" cy="1217295"/>
            </a:xfrm>
            <a:gradFill>
              <a:gsLst>
                <a:gs pos="81000">
                  <a:schemeClr val="accent4"/>
                </a:gs>
                <a:gs pos="61000">
                  <a:schemeClr val="accent3"/>
                </a:gs>
                <a:gs pos="100000">
                  <a:schemeClr val="accent5"/>
                </a:gs>
                <a:gs pos="44000">
                  <a:schemeClr val="accent2"/>
                </a:gs>
                <a:gs pos="14000">
                  <a:schemeClr val="accent1"/>
                </a:gs>
              </a:gsLst>
              <a:lin ang="8100000" scaled="1"/>
            </a:gradFill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A21E795D-D8F2-EA4C-3E18-6376359AE756}"/>
                  </a:ext>
                </a:extLst>
              </p:cNvPr>
              <p:cNvSpPr/>
              <p:nvPr userDrawn="1"/>
            </p:nvSpPr>
            <p:spPr bwMode="gray">
              <a:xfrm>
                <a:off x="6096000" y="3485934"/>
                <a:ext cx="591503" cy="590550"/>
              </a:xfrm>
              <a:prstGeom prst="roundRect">
                <a:avLst>
                  <a:gd name="adj" fmla="val 1367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9A502EF-7013-DA89-3B57-7501242DD327}"/>
                  </a:ext>
                </a:extLst>
              </p:cNvPr>
              <p:cNvSpPr/>
              <p:nvPr userDrawn="1"/>
            </p:nvSpPr>
            <p:spPr bwMode="gray">
              <a:xfrm>
                <a:off x="6781800" y="3765016"/>
                <a:ext cx="375285" cy="380047"/>
              </a:xfrm>
              <a:prstGeom prst="roundRect">
                <a:avLst>
                  <a:gd name="adj" fmla="val 2103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74B778A7-BA8B-95BE-2079-A42598164E98}"/>
                  </a:ext>
                </a:extLst>
              </p:cNvPr>
              <p:cNvSpPr/>
              <p:nvPr userDrawn="1"/>
            </p:nvSpPr>
            <p:spPr bwMode="gray">
              <a:xfrm>
                <a:off x="6781800" y="3237332"/>
                <a:ext cx="591503" cy="438150"/>
              </a:xfrm>
              <a:prstGeom prst="roundRect">
                <a:avLst>
                  <a:gd name="adj" fmla="val 18424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93F88E3-0003-52CA-9B92-A3AEB7D8CAAE}"/>
                  </a:ext>
                </a:extLst>
              </p:cNvPr>
              <p:cNvSpPr/>
              <p:nvPr userDrawn="1"/>
            </p:nvSpPr>
            <p:spPr bwMode="gray">
              <a:xfrm>
                <a:off x="6312217" y="3018257"/>
                <a:ext cx="375286" cy="371056"/>
              </a:xfrm>
              <a:prstGeom prst="roundRect">
                <a:avLst>
                  <a:gd name="adj" fmla="val 2047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lvl="0"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CF37E1C9-6309-6128-F1EC-632768F8BA6A}"/>
                  </a:ext>
                </a:extLst>
              </p:cNvPr>
              <p:cNvSpPr/>
              <p:nvPr userDrawn="1"/>
            </p:nvSpPr>
            <p:spPr bwMode="gray">
              <a:xfrm>
                <a:off x="6781800" y="2927768"/>
                <a:ext cx="375285" cy="220029"/>
              </a:xfrm>
              <a:prstGeom prst="roundRect">
                <a:avLst>
                  <a:gd name="adj" fmla="val 3389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algn="ctr">
                  <a:lnSpc>
                    <a:spcPct val="106000"/>
                  </a:lnSpc>
                  <a:buFont typeface="Wingdings 2" pitchFamily="18" charset="2"/>
                  <a:buNone/>
                </a:pPr>
                <a:endParaRPr lang="en-IL" sz="1600" b="1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2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F108ED66-519D-22F3-76CC-30C8A56257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4261" y="6248429"/>
            <a:ext cx="1494394" cy="40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668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שער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מלבן 17"/>
          <p:cNvSpPr/>
          <p:nvPr/>
        </p:nvSpPr>
        <p:spPr>
          <a:xfrm>
            <a:off x="-2720" y="0"/>
            <a:ext cx="12194720" cy="51792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מלבן 22"/>
          <p:cNvSpPr/>
          <p:nvPr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1912423" y="1310138"/>
            <a:ext cx="8367154" cy="1718038"/>
          </a:xfrm>
          <a:noFill/>
        </p:spPr>
        <p:txBody>
          <a:bodyPr anchor="ctr">
            <a:noAutofit/>
          </a:bodyPr>
          <a:lstStyle>
            <a:lvl1pPr marL="0" indent="0" algn="ctr">
              <a:lnSpc>
                <a:spcPct val="85000"/>
              </a:lnSpc>
              <a:buNone/>
              <a:defRPr sz="6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תמונה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3042" y="4432042"/>
            <a:ext cx="1705916" cy="1705916"/>
          </a:xfrm>
          <a:prstGeom prst="rect">
            <a:avLst/>
          </a:prstGeom>
        </p:spPr>
      </p:pic>
      <p:sp>
        <p:nvSpPr>
          <p:cNvPr id="30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1912423" y="3134625"/>
            <a:ext cx="8367153" cy="1007754"/>
          </a:xfrm>
          <a:noFill/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524495" y="5852716"/>
            <a:ext cx="4620986" cy="575473"/>
          </a:xfrm>
          <a:noFill/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rgbClr val="323E4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7071011" y="5852716"/>
            <a:ext cx="4620986" cy="575473"/>
          </a:xfrm>
          <a:noFill/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rgbClr val="323E4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מלבן 17">
            <a:extLst>
              <a:ext uri="{FF2B5EF4-FFF2-40B4-BE49-F238E27FC236}">
                <a16:creationId xmlns:a16="http://schemas.microsoft.com/office/drawing/2014/main" id="{D1821F43-F5C8-45D9-82AC-3C87F16955C5}"/>
              </a:ext>
            </a:extLst>
          </p:cNvPr>
          <p:cNvSpPr/>
          <p:nvPr/>
        </p:nvSpPr>
        <p:spPr>
          <a:xfrm>
            <a:off x="-2720" y="0"/>
            <a:ext cx="12194720" cy="51792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מלבן 22">
            <a:extLst>
              <a:ext uri="{FF2B5EF4-FFF2-40B4-BE49-F238E27FC236}">
                <a16:creationId xmlns:a16="http://schemas.microsoft.com/office/drawing/2014/main" id="{FFC42D22-7CA4-4820-A954-FFA3B37DC869}"/>
              </a:ext>
            </a:extLst>
          </p:cNvPr>
          <p:cNvSpPr/>
          <p:nvPr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תמונה 23">
            <a:extLst>
              <a:ext uri="{FF2B5EF4-FFF2-40B4-BE49-F238E27FC236}">
                <a16:creationId xmlns:a16="http://schemas.microsoft.com/office/drawing/2014/main" id="{C7311CD7-2F14-49A9-B6E1-A771B93531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3042" y="4432042"/>
            <a:ext cx="1705916" cy="1705916"/>
          </a:xfrm>
          <a:prstGeom prst="rect">
            <a:avLst/>
          </a:prstGeom>
        </p:spPr>
      </p:pic>
      <p:sp>
        <p:nvSpPr>
          <p:cNvPr id="12" name="מלבן 17">
            <a:extLst>
              <a:ext uri="{FF2B5EF4-FFF2-40B4-BE49-F238E27FC236}">
                <a16:creationId xmlns:a16="http://schemas.microsoft.com/office/drawing/2014/main" id="{BEC259A9-1557-4D38-9429-A27556529DCC}"/>
              </a:ext>
            </a:extLst>
          </p:cNvPr>
          <p:cNvSpPr/>
          <p:nvPr userDrawn="1"/>
        </p:nvSpPr>
        <p:spPr>
          <a:xfrm>
            <a:off x="-2720" y="0"/>
            <a:ext cx="12194720" cy="51792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מלבן 22">
            <a:extLst>
              <a:ext uri="{FF2B5EF4-FFF2-40B4-BE49-F238E27FC236}">
                <a16:creationId xmlns:a16="http://schemas.microsoft.com/office/drawing/2014/main" id="{8A81CC8C-6C95-42CA-97D2-C0A98A4E2EEC}"/>
              </a:ext>
            </a:extLst>
          </p:cNvPr>
          <p:cNvSpPr/>
          <p:nvPr userDrawn="1"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4" name="תמונה 23">
            <a:extLst>
              <a:ext uri="{FF2B5EF4-FFF2-40B4-BE49-F238E27FC236}">
                <a16:creationId xmlns:a16="http://schemas.microsoft.com/office/drawing/2014/main" id="{6A5763CD-E7B1-4630-ACEB-5295BCBB5F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3042" y="4432042"/>
            <a:ext cx="1705916" cy="170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75907"/>
      </p:ext>
    </p:extLst>
  </p:cSld>
  <p:clrMapOvr>
    <a:masterClrMapping/>
  </p:clrMapOvr>
  <p:hf sldNum="0" hdr="0" ft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שע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7BDC0554-B7CA-4519-A16F-BED0F3478D5E}"/>
              </a:ext>
            </a:extLst>
          </p:cNvPr>
          <p:cNvSpPr/>
          <p:nvPr/>
        </p:nvSpPr>
        <p:spPr>
          <a:xfrm>
            <a:off x="2683452" y="0"/>
            <a:ext cx="36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/>
          <p:cNvSpPr/>
          <p:nvPr/>
        </p:nvSpPr>
        <p:spPr>
          <a:xfrm>
            <a:off x="3043452" y="0"/>
            <a:ext cx="914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5297" y="4335500"/>
            <a:ext cx="1682520" cy="1682520"/>
          </a:xfrm>
          <a:prstGeom prst="rect">
            <a:avLst/>
          </a:prstGeom>
        </p:spPr>
      </p:pic>
      <p:sp>
        <p:nvSpPr>
          <p:cNvPr id="21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041320" y="1310138"/>
            <a:ext cx="7560129" cy="1718038"/>
          </a:xfrm>
          <a:noFill/>
        </p:spPr>
        <p:txBody>
          <a:bodyPr anchor="ctr">
            <a:noAutofit/>
          </a:bodyPr>
          <a:lstStyle>
            <a:lvl1pPr marL="0" indent="0" algn="r">
              <a:lnSpc>
                <a:spcPct val="85000"/>
              </a:lnSpc>
              <a:buNone/>
              <a:defRPr sz="6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041321" y="3134625"/>
            <a:ext cx="7560128" cy="1007754"/>
          </a:xfrm>
          <a:noFill/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9"/>
          </p:nvPr>
        </p:nvSpPr>
        <p:spPr>
          <a:xfrm>
            <a:off x="6980463" y="5212453"/>
            <a:ext cx="4620986" cy="575473"/>
          </a:xfrm>
          <a:noFill/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1784FE4-FA25-4454-979F-0598519F1B2F}"/>
              </a:ext>
            </a:extLst>
          </p:cNvPr>
          <p:cNvSpPr/>
          <p:nvPr/>
        </p:nvSpPr>
        <p:spPr>
          <a:xfrm>
            <a:off x="2683452" y="0"/>
            <a:ext cx="36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8">
            <a:extLst>
              <a:ext uri="{FF2B5EF4-FFF2-40B4-BE49-F238E27FC236}">
                <a16:creationId xmlns:a16="http://schemas.microsoft.com/office/drawing/2014/main" id="{3C0D5686-6983-4EFA-8B85-D1E6A61B64A6}"/>
              </a:ext>
            </a:extLst>
          </p:cNvPr>
          <p:cNvSpPr/>
          <p:nvPr/>
        </p:nvSpPr>
        <p:spPr>
          <a:xfrm>
            <a:off x="3043452" y="0"/>
            <a:ext cx="914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4" name="תמונה 9">
            <a:extLst>
              <a:ext uri="{FF2B5EF4-FFF2-40B4-BE49-F238E27FC236}">
                <a16:creationId xmlns:a16="http://schemas.microsoft.com/office/drawing/2014/main" id="{FB1CD190-6593-476C-B0B6-D823ED9D93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5297" y="4335500"/>
            <a:ext cx="1682520" cy="1682520"/>
          </a:xfrm>
          <a:prstGeom prst="rect">
            <a:avLst/>
          </a:prstGeom>
        </p:spPr>
      </p:pic>
      <p:sp>
        <p:nvSpPr>
          <p:cNvPr id="15" name="Rectangle 8">
            <a:extLst>
              <a:ext uri="{FF2B5EF4-FFF2-40B4-BE49-F238E27FC236}">
                <a16:creationId xmlns:a16="http://schemas.microsoft.com/office/drawing/2014/main" id="{D59B68FB-5FC2-4813-89EC-0640EB1B9F99}"/>
              </a:ext>
            </a:extLst>
          </p:cNvPr>
          <p:cNvSpPr/>
          <p:nvPr userDrawn="1"/>
        </p:nvSpPr>
        <p:spPr>
          <a:xfrm>
            <a:off x="2683452" y="0"/>
            <a:ext cx="36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8">
            <a:extLst>
              <a:ext uri="{FF2B5EF4-FFF2-40B4-BE49-F238E27FC236}">
                <a16:creationId xmlns:a16="http://schemas.microsoft.com/office/drawing/2014/main" id="{34F7D37F-05B4-4F6C-8C6B-238F12DFECB3}"/>
              </a:ext>
            </a:extLst>
          </p:cNvPr>
          <p:cNvSpPr/>
          <p:nvPr userDrawn="1"/>
        </p:nvSpPr>
        <p:spPr>
          <a:xfrm>
            <a:off x="3043452" y="0"/>
            <a:ext cx="914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7" name="תמונה 9">
            <a:extLst>
              <a:ext uri="{FF2B5EF4-FFF2-40B4-BE49-F238E27FC236}">
                <a16:creationId xmlns:a16="http://schemas.microsoft.com/office/drawing/2014/main" id="{F6997AF1-F6FF-43C4-92A9-5F2F2DFBE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35297" y="4335500"/>
            <a:ext cx="1682520" cy="16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19232"/>
      </p:ext>
    </p:extLst>
  </p:cSld>
  <p:clrMapOvr>
    <a:masterClrMapping/>
  </p:clrMapOvr>
  <p:hf sldNum="0" hdr="0" ft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שער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11"/>
          <p:cNvSpPr/>
          <p:nvPr/>
        </p:nvSpPr>
        <p:spPr>
          <a:xfrm>
            <a:off x="-5440" y="1"/>
            <a:ext cx="12194720" cy="51234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393996" y="557664"/>
            <a:ext cx="5453244" cy="2241923"/>
          </a:xfrm>
          <a:noFill/>
        </p:spPr>
        <p:txBody>
          <a:bodyPr anchor="t">
            <a:noAutofit/>
          </a:bodyPr>
          <a:lstStyle>
            <a:lvl1pPr marL="0" indent="0" algn="r">
              <a:lnSpc>
                <a:spcPct val="85000"/>
              </a:lnSpc>
              <a:buNone/>
              <a:defRPr sz="6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630263" y="3166415"/>
            <a:ext cx="5216977" cy="1007754"/>
          </a:xfrm>
          <a:noFill/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890119" y="4327465"/>
            <a:ext cx="4957121" cy="575473"/>
          </a:xfrm>
          <a:noFill/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מלבן 12"/>
          <p:cNvSpPr/>
          <p:nvPr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F66CEDC6-39B5-407C-B3D4-E8B0517DC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951" y="5855444"/>
            <a:ext cx="1922190" cy="742434"/>
          </a:xfrm>
          <a:prstGeom prst="rect">
            <a:avLst/>
          </a:prstGeom>
        </p:spPr>
      </p:pic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93962" y="479159"/>
            <a:ext cx="5453244" cy="58996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מלבן 11">
            <a:extLst>
              <a:ext uri="{FF2B5EF4-FFF2-40B4-BE49-F238E27FC236}">
                <a16:creationId xmlns:a16="http://schemas.microsoft.com/office/drawing/2014/main" id="{DB45969E-A56B-45F5-A22A-1DE10523FC67}"/>
              </a:ext>
            </a:extLst>
          </p:cNvPr>
          <p:cNvSpPr/>
          <p:nvPr/>
        </p:nvSpPr>
        <p:spPr>
          <a:xfrm>
            <a:off x="-5440" y="1"/>
            <a:ext cx="12194720" cy="51234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12">
            <a:extLst>
              <a:ext uri="{FF2B5EF4-FFF2-40B4-BE49-F238E27FC236}">
                <a16:creationId xmlns:a16="http://schemas.microsoft.com/office/drawing/2014/main" id="{EED6C5C8-4AAF-4EEC-BF88-6EA92633E684}"/>
              </a:ext>
            </a:extLst>
          </p:cNvPr>
          <p:cNvSpPr/>
          <p:nvPr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4A52BCF3-4DE1-4879-AC54-759AA8E39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951" y="5855444"/>
            <a:ext cx="1922190" cy="742434"/>
          </a:xfrm>
          <a:prstGeom prst="rect">
            <a:avLst/>
          </a:prstGeom>
        </p:spPr>
      </p:pic>
      <p:sp>
        <p:nvSpPr>
          <p:cNvPr id="14" name="מלבן 11">
            <a:extLst>
              <a:ext uri="{FF2B5EF4-FFF2-40B4-BE49-F238E27FC236}">
                <a16:creationId xmlns:a16="http://schemas.microsoft.com/office/drawing/2014/main" id="{028F2505-C471-4128-BEC7-C55756F71E4C}"/>
              </a:ext>
            </a:extLst>
          </p:cNvPr>
          <p:cNvSpPr/>
          <p:nvPr userDrawn="1"/>
        </p:nvSpPr>
        <p:spPr>
          <a:xfrm>
            <a:off x="-5440" y="1"/>
            <a:ext cx="12194720" cy="51234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2">
            <a:extLst>
              <a:ext uri="{FF2B5EF4-FFF2-40B4-BE49-F238E27FC236}">
                <a16:creationId xmlns:a16="http://schemas.microsoft.com/office/drawing/2014/main" id="{6C6505BA-0816-4FBD-A5FF-8D390CE4691B}"/>
              </a:ext>
            </a:extLst>
          </p:cNvPr>
          <p:cNvSpPr/>
          <p:nvPr userDrawn="1"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84E2D833-789A-43A5-8EF7-AFBC3E76AC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951" y="5855444"/>
            <a:ext cx="1922190" cy="74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0168"/>
      </p:ext>
    </p:extLst>
  </p:cSld>
  <p:clrMapOvr>
    <a:masterClrMapping/>
  </p:clrMapOvr>
  <p:hf sldNum="0" hdr="0" ft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ראש פרק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1912423" y="2763381"/>
            <a:ext cx="8367154" cy="1718038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55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מלבן 9"/>
          <p:cNvSpPr/>
          <p:nvPr/>
        </p:nvSpPr>
        <p:spPr>
          <a:xfrm>
            <a:off x="-2720" y="1"/>
            <a:ext cx="12194720" cy="10302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1"/>
          <p:cNvSpPr/>
          <p:nvPr/>
        </p:nvSpPr>
        <p:spPr>
          <a:xfrm>
            <a:off x="-2720" y="1030258"/>
            <a:ext cx="12192000" cy="1811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4" name="Picture 11">
            <a:extLst>
              <a:ext uri="{FF2B5EF4-FFF2-40B4-BE49-F238E27FC236}">
                <a16:creationId xmlns:a16="http://schemas.microsoft.com/office/drawing/2014/main" id="{0DBFB498-3E4F-4E94-826C-66872020B0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6" name="מלבן 9">
            <a:extLst>
              <a:ext uri="{FF2B5EF4-FFF2-40B4-BE49-F238E27FC236}">
                <a16:creationId xmlns:a16="http://schemas.microsoft.com/office/drawing/2014/main" id="{1EAEA001-E2B0-4E53-91D2-5C5A9F66B604}"/>
              </a:ext>
            </a:extLst>
          </p:cNvPr>
          <p:cNvSpPr/>
          <p:nvPr/>
        </p:nvSpPr>
        <p:spPr>
          <a:xfrm>
            <a:off x="-2720" y="1"/>
            <a:ext cx="12194720" cy="10302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11">
            <a:extLst>
              <a:ext uri="{FF2B5EF4-FFF2-40B4-BE49-F238E27FC236}">
                <a16:creationId xmlns:a16="http://schemas.microsoft.com/office/drawing/2014/main" id="{12C2C3A2-2DC1-41AA-85A5-554843E9FF76}"/>
              </a:ext>
            </a:extLst>
          </p:cNvPr>
          <p:cNvSpPr/>
          <p:nvPr/>
        </p:nvSpPr>
        <p:spPr>
          <a:xfrm>
            <a:off x="-2720" y="1030258"/>
            <a:ext cx="12192000" cy="1811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29CDFEF2-4488-4360-8C03-E5A3C0BC87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9" name="מלבן 9">
            <a:extLst>
              <a:ext uri="{FF2B5EF4-FFF2-40B4-BE49-F238E27FC236}">
                <a16:creationId xmlns:a16="http://schemas.microsoft.com/office/drawing/2014/main" id="{3DF83C02-DFE1-4098-8E57-BE9E9FE7AE47}"/>
              </a:ext>
            </a:extLst>
          </p:cNvPr>
          <p:cNvSpPr/>
          <p:nvPr userDrawn="1"/>
        </p:nvSpPr>
        <p:spPr>
          <a:xfrm>
            <a:off x="-2720" y="1"/>
            <a:ext cx="12194720" cy="10302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11">
            <a:extLst>
              <a:ext uri="{FF2B5EF4-FFF2-40B4-BE49-F238E27FC236}">
                <a16:creationId xmlns:a16="http://schemas.microsoft.com/office/drawing/2014/main" id="{0D48724B-1916-4B06-8C81-5D4F930D9E52}"/>
              </a:ext>
            </a:extLst>
          </p:cNvPr>
          <p:cNvSpPr/>
          <p:nvPr userDrawn="1"/>
        </p:nvSpPr>
        <p:spPr>
          <a:xfrm>
            <a:off x="-2720" y="1030258"/>
            <a:ext cx="12192000" cy="1811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3" name="Picture 11">
            <a:extLst>
              <a:ext uri="{FF2B5EF4-FFF2-40B4-BE49-F238E27FC236}">
                <a16:creationId xmlns:a16="http://schemas.microsoft.com/office/drawing/2014/main" id="{0F11BC21-A06E-4808-8B4F-F4E4FF47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913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ראש פרק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-5440" y="1211447"/>
            <a:ext cx="6112326" cy="564655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539592" y="2122712"/>
            <a:ext cx="4957733" cy="2424019"/>
          </a:xfrm>
          <a:noFill/>
        </p:spPr>
        <p:txBody>
          <a:bodyPr anchor="t">
            <a:noAutofit/>
          </a:bodyPr>
          <a:lstStyle>
            <a:lvl1pPr marL="0" indent="0" algn="r">
              <a:buNone/>
              <a:defRPr sz="55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מלבן 9"/>
          <p:cNvSpPr/>
          <p:nvPr/>
        </p:nvSpPr>
        <p:spPr>
          <a:xfrm>
            <a:off x="-2720" y="1"/>
            <a:ext cx="12194720" cy="10302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1"/>
          <p:cNvSpPr/>
          <p:nvPr/>
        </p:nvSpPr>
        <p:spPr>
          <a:xfrm>
            <a:off x="-2720" y="1030258"/>
            <a:ext cx="12192000" cy="1811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4" name="Picture 11">
            <a:extLst>
              <a:ext uri="{FF2B5EF4-FFF2-40B4-BE49-F238E27FC236}">
                <a16:creationId xmlns:a16="http://schemas.microsoft.com/office/drawing/2014/main" id="{0DBFB498-3E4F-4E94-826C-66872020B0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8" name="מלבן 9">
            <a:extLst>
              <a:ext uri="{FF2B5EF4-FFF2-40B4-BE49-F238E27FC236}">
                <a16:creationId xmlns:a16="http://schemas.microsoft.com/office/drawing/2014/main" id="{8AE7EC51-9F31-431E-94C0-8F477C6BAF8A}"/>
              </a:ext>
            </a:extLst>
          </p:cNvPr>
          <p:cNvSpPr/>
          <p:nvPr/>
        </p:nvSpPr>
        <p:spPr>
          <a:xfrm>
            <a:off x="-2720" y="1"/>
            <a:ext cx="12194720" cy="10302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11">
            <a:extLst>
              <a:ext uri="{FF2B5EF4-FFF2-40B4-BE49-F238E27FC236}">
                <a16:creationId xmlns:a16="http://schemas.microsoft.com/office/drawing/2014/main" id="{7E127EBF-B22C-416B-96BD-8B13C07883F2}"/>
              </a:ext>
            </a:extLst>
          </p:cNvPr>
          <p:cNvSpPr/>
          <p:nvPr/>
        </p:nvSpPr>
        <p:spPr>
          <a:xfrm>
            <a:off x="-2720" y="1030258"/>
            <a:ext cx="12192000" cy="1811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4251EB9D-19AC-45A2-9FC5-D5471EC7CA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13" name="מלבן 9">
            <a:extLst>
              <a:ext uri="{FF2B5EF4-FFF2-40B4-BE49-F238E27FC236}">
                <a16:creationId xmlns:a16="http://schemas.microsoft.com/office/drawing/2014/main" id="{BF33F012-0B48-44E4-9BCA-DF9DA2B584C2}"/>
              </a:ext>
            </a:extLst>
          </p:cNvPr>
          <p:cNvSpPr/>
          <p:nvPr userDrawn="1"/>
        </p:nvSpPr>
        <p:spPr>
          <a:xfrm>
            <a:off x="-2720" y="1"/>
            <a:ext cx="12194720" cy="10302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מלבן 11">
            <a:extLst>
              <a:ext uri="{FF2B5EF4-FFF2-40B4-BE49-F238E27FC236}">
                <a16:creationId xmlns:a16="http://schemas.microsoft.com/office/drawing/2014/main" id="{2A8CD443-66D9-4AEF-A6E8-0B1C97CA5E1C}"/>
              </a:ext>
            </a:extLst>
          </p:cNvPr>
          <p:cNvSpPr/>
          <p:nvPr userDrawn="1"/>
        </p:nvSpPr>
        <p:spPr>
          <a:xfrm>
            <a:off x="-2720" y="1030258"/>
            <a:ext cx="12192000" cy="1811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6" name="Picture 11">
            <a:extLst>
              <a:ext uri="{FF2B5EF4-FFF2-40B4-BE49-F238E27FC236}">
                <a16:creationId xmlns:a16="http://schemas.microsoft.com/office/drawing/2014/main" id="{6BC636B2-668B-49D4-82F2-E6187C13EE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424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7BDC0554-B7CA-4519-A16F-BED0F3478D5E}"/>
              </a:ext>
            </a:extLst>
          </p:cNvPr>
          <p:cNvSpPr/>
          <p:nvPr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5"/>
          <p:cNvSpPr/>
          <p:nvPr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7" name="Picture 11">
            <a:extLst>
              <a:ext uri="{FF2B5EF4-FFF2-40B4-BE49-F238E27FC236}">
                <a16:creationId xmlns:a16="http://schemas.microsoft.com/office/drawing/2014/main" id="{0DBFB498-3E4F-4E94-826C-66872020B0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19" name="Oval 10">
            <a:extLst>
              <a:ext uri="{FF2B5EF4-FFF2-40B4-BE49-F238E27FC236}">
                <a16:creationId xmlns:a16="http://schemas.microsoft.com/office/drawing/2014/main" id="{8EE77483-DAB6-4D01-B3AF-95B109F03143}"/>
              </a:ext>
            </a:extLst>
          </p:cNvPr>
          <p:cNvSpPr/>
          <p:nvPr/>
        </p:nvSpPr>
        <p:spPr>
          <a:xfrm>
            <a:off x="11437714" y="623384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Slide Number Placeholder 5"/>
          <p:cNvSpPr txBox="1">
            <a:spLocks/>
          </p:cNvSpPr>
          <p:nvPr/>
        </p:nvSpPr>
        <p:spPr>
          <a:xfrm>
            <a:off x="11368976" y="6272886"/>
            <a:ext cx="53347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1" eaLnBrk="1" latinLnBrk="0" hangingPunct="1">
              <a:defRPr sz="1600" kern="1200">
                <a:solidFill>
                  <a:srgbClr val="008DA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450A29C-FF3A-4789-B98E-12119F960C99}" type="slidenum">
              <a:rPr lang="en-US" sz="1400" smtClean="0">
                <a:solidFill>
                  <a:srgbClr val="424F58"/>
                </a:solidFill>
              </a:rPr>
              <a:pPr algn="ctr"/>
              <a:t>‹#›</a:t>
            </a:fld>
            <a:endParaRPr lang="en-US" sz="1400" dirty="0">
              <a:solidFill>
                <a:srgbClr val="424F58"/>
              </a:solidFill>
            </a:endParaRP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936168" y="458070"/>
            <a:ext cx="9385267" cy="1325563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480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Content Placeholder 2"/>
          <p:cNvSpPr>
            <a:spLocks noGrp="1"/>
          </p:cNvSpPr>
          <p:nvPr>
            <p:ph sz="half" idx="1"/>
          </p:nvPr>
        </p:nvSpPr>
        <p:spPr>
          <a:xfrm>
            <a:off x="936168" y="1825625"/>
            <a:ext cx="9385267" cy="4351338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C173E-0F63-4469-837F-5F34A6BD1AC7}"/>
              </a:ext>
            </a:extLst>
          </p:cNvPr>
          <p:cNvSpPr/>
          <p:nvPr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15">
            <a:extLst>
              <a:ext uri="{FF2B5EF4-FFF2-40B4-BE49-F238E27FC236}">
                <a16:creationId xmlns:a16="http://schemas.microsoft.com/office/drawing/2014/main" id="{E5BE7D73-436E-45C1-97BA-BC7AEC0FFA8C}"/>
              </a:ext>
            </a:extLst>
          </p:cNvPr>
          <p:cNvSpPr/>
          <p:nvPr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B1CA9B66-42F2-4FD4-BBB3-D3758DE175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0283395-E810-4E4C-8BF3-5DE2E8DD7A72}"/>
              </a:ext>
            </a:extLst>
          </p:cNvPr>
          <p:cNvSpPr/>
          <p:nvPr userDrawn="1"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5">
            <a:extLst>
              <a:ext uri="{FF2B5EF4-FFF2-40B4-BE49-F238E27FC236}">
                <a16:creationId xmlns:a16="http://schemas.microsoft.com/office/drawing/2014/main" id="{91EEA1A6-D48A-4870-9730-23870829D16B}"/>
              </a:ext>
            </a:extLst>
          </p:cNvPr>
          <p:cNvSpPr/>
          <p:nvPr userDrawn="1"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5" name="Picture 11">
            <a:extLst>
              <a:ext uri="{FF2B5EF4-FFF2-40B4-BE49-F238E27FC236}">
                <a16:creationId xmlns:a16="http://schemas.microsoft.com/office/drawing/2014/main" id="{29F425F9-415C-4F40-825D-3C051B3775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2872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בולט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7BDC0554-B7CA-4519-A16F-BED0F3478D5E}"/>
              </a:ext>
            </a:extLst>
          </p:cNvPr>
          <p:cNvSpPr/>
          <p:nvPr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5"/>
          <p:cNvSpPr/>
          <p:nvPr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7" name="Picture 11">
            <a:extLst>
              <a:ext uri="{FF2B5EF4-FFF2-40B4-BE49-F238E27FC236}">
                <a16:creationId xmlns:a16="http://schemas.microsoft.com/office/drawing/2014/main" id="{0DBFB498-3E4F-4E94-826C-66872020B0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19" name="Oval 10">
            <a:extLst>
              <a:ext uri="{FF2B5EF4-FFF2-40B4-BE49-F238E27FC236}">
                <a16:creationId xmlns:a16="http://schemas.microsoft.com/office/drawing/2014/main" id="{8EE77483-DAB6-4D01-B3AF-95B109F03143}"/>
              </a:ext>
            </a:extLst>
          </p:cNvPr>
          <p:cNvSpPr/>
          <p:nvPr/>
        </p:nvSpPr>
        <p:spPr>
          <a:xfrm>
            <a:off x="11437714" y="623384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Slide Number Placeholder 5"/>
          <p:cNvSpPr txBox="1">
            <a:spLocks/>
          </p:cNvSpPr>
          <p:nvPr/>
        </p:nvSpPr>
        <p:spPr>
          <a:xfrm>
            <a:off x="11368976" y="6272886"/>
            <a:ext cx="53347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1" eaLnBrk="1" latinLnBrk="0" hangingPunct="1">
              <a:defRPr sz="1600" kern="1200">
                <a:solidFill>
                  <a:srgbClr val="008DA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450A29C-FF3A-4789-B98E-12119F960C99}" type="slidenum">
              <a:rPr lang="en-US" sz="1400" smtClean="0">
                <a:solidFill>
                  <a:srgbClr val="424F58"/>
                </a:solidFill>
              </a:rPr>
              <a:pPr algn="ctr"/>
              <a:t>‹#›</a:t>
            </a:fld>
            <a:endParaRPr lang="en-US" sz="1400" dirty="0">
              <a:solidFill>
                <a:srgbClr val="424F58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AC80F81E-ED1F-4F58-8295-592BD3D96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6168" y="1822042"/>
            <a:ext cx="9385267" cy="4351719"/>
          </a:xfrm>
        </p:spPr>
        <p:txBody>
          <a:bodyPr tIns="46800"/>
          <a:lstStyle>
            <a:lvl1pPr indent="-288000">
              <a:lnSpc>
                <a:spcPts val="3360"/>
              </a:lnSpc>
              <a:defRPr sz="2800"/>
            </a:lvl1pPr>
            <a:lvl2pPr indent="-288000">
              <a:lnSpc>
                <a:spcPts val="3360"/>
              </a:lnSpc>
              <a:defRPr sz="2800"/>
            </a:lvl2pPr>
            <a:lvl3pPr indent="-288000">
              <a:lnSpc>
                <a:spcPts val="3360"/>
              </a:lnSpc>
              <a:defRPr sz="2800"/>
            </a:lvl3pPr>
            <a:lvl4pPr indent="-288000">
              <a:lnSpc>
                <a:spcPts val="3360"/>
              </a:lnSpc>
              <a:defRPr sz="2800"/>
            </a:lvl4pPr>
            <a:lvl5pPr indent="-288000">
              <a:lnSpc>
                <a:spcPts val="3360"/>
              </a:lnSpc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723FDA-9090-43BA-A02E-EEE812C5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68" y="458070"/>
            <a:ext cx="9385267" cy="1325563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480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5ECCBBA4-F101-45CC-90B4-2DEC09A077F4}"/>
              </a:ext>
            </a:extLst>
          </p:cNvPr>
          <p:cNvSpPr/>
          <p:nvPr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5">
            <a:extLst>
              <a:ext uri="{FF2B5EF4-FFF2-40B4-BE49-F238E27FC236}">
                <a16:creationId xmlns:a16="http://schemas.microsoft.com/office/drawing/2014/main" id="{44723ADD-CBC9-4266-9683-A0ADEEA876B1}"/>
              </a:ext>
            </a:extLst>
          </p:cNvPr>
          <p:cNvSpPr/>
          <p:nvPr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3" name="Picture 11">
            <a:extLst>
              <a:ext uri="{FF2B5EF4-FFF2-40B4-BE49-F238E27FC236}">
                <a16:creationId xmlns:a16="http://schemas.microsoft.com/office/drawing/2014/main" id="{A4F01CE3-C69C-41F1-A76F-DBD3453407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15" name="Rectangle 8">
            <a:extLst>
              <a:ext uri="{FF2B5EF4-FFF2-40B4-BE49-F238E27FC236}">
                <a16:creationId xmlns:a16="http://schemas.microsoft.com/office/drawing/2014/main" id="{D21CA533-A1E8-4188-AC5B-7F84F3D824BA}"/>
              </a:ext>
            </a:extLst>
          </p:cNvPr>
          <p:cNvSpPr/>
          <p:nvPr userDrawn="1"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מלבן 15">
            <a:extLst>
              <a:ext uri="{FF2B5EF4-FFF2-40B4-BE49-F238E27FC236}">
                <a16:creationId xmlns:a16="http://schemas.microsoft.com/office/drawing/2014/main" id="{F07C8E73-6940-4BC8-9188-29674601B8F2}"/>
              </a:ext>
            </a:extLst>
          </p:cNvPr>
          <p:cNvSpPr/>
          <p:nvPr userDrawn="1"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0" name="Picture 11">
            <a:extLst>
              <a:ext uri="{FF2B5EF4-FFF2-40B4-BE49-F238E27FC236}">
                <a16:creationId xmlns:a16="http://schemas.microsoft.com/office/drawing/2014/main" id="{A9FE4719-0F47-4CF0-9405-3957B4D876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61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תרשימ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7BDC0554-B7CA-4519-A16F-BED0F3478D5E}"/>
              </a:ext>
            </a:extLst>
          </p:cNvPr>
          <p:cNvSpPr/>
          <p:nvPr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מלבן 14"/>
          <p:cNvSpPr/>
          <p:nvPr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6" name="Picture 11">
            <a:extLst>
              <a:ext uri="{FF2B5EF4-FFF2-40B4-BE49-F238E27FC236}">
                <a16:creationId xmlns:a16="http://schemas.microsoft.com/office/drawing/2014/main" id="{0DBFB498-3E4F-4E94-826C-66872020B0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17" name="Oval 10">
            <a:extLst>
              <a:ext uri="{FF2B5EF4-FFF2-40B4-BE49-F238E27FC236}">
                <a16:creationId xmlns:a16="http://schemas.microsoft.com/office/drawing/2014/main" id="{8EE77483-DAB6-4D01-B3AF-95B109F03143}"/>
              </a:ext>
            </a:extLst>
          </p:cNvPr>
          <p:cNvSpPr/>
          <p:nvPr/>
        </p:nvSpPr>
        <p:spPr>
          <a:xfrm>
            <a:off x="11437714" y="623384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Slide Number Placeholder 5"/>
          <p:cNvSpPr txBox="1">
            <a:spLocks/>
          </p:cNvSpPr>
          <p:nvPr/>
        </p:nvSpPr>
        <p:spPr>
          <a:xfrm>
            <a:off x="11368976" y="6272886"/>
            <a:ext cx="53347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1" eaLnBrk="1" latinLnBrk="0" hangingPunct="1">
              <a:defRPr sz="1600" kern="1200">
                <a:solidFill>
                  <a:srgbClr val="008DA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450A29C-FF3A-4789-B98E-12119F960C99}" type="slidenum">
              <a:rPr lang="en-US" sz="1400" smtClean="0">
                <a:solidFill>
                  <a:srgbClr val="424F58"/>
                </a:solidFill>
              </a:rPr>
              <a:pPr algn="ctr"/>
              <a:t>‹#›</a:t>
            </a:fld>
            <a:endParaRPr lang="en-US" sz="1400" dirty="0">
              <a:solidFill>
                <a:srgbClr val="424F58"/>
              </a:solidFill>
            </a:endParaRP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936168" y="458070"/>
            <a:ext cx="9385267" cy="1325563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480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Content Placeholder 2"/>
          <p:cNvSpPr>
            <a:spLocks noGrp="1"/>
          </p:cNvSpPr>
          <p:nvPr>
            <p:ph sz="half" idx="1"/>
          </p:nvPr>
        </p:nvSpPr>
        <p:spPr>
          <a:xfrm>
            <a:off x="936168" y="1825625"/>
            <a:ext cx="4476753" cy="4351338"/>
          </a:xfrm>
        </p:spPr>
        <p:txBody>
          <a:bodyPr>
            <a:normAutofit/>
          </a:bodyPr>
          <a:lstStyle>
            <a:lvl1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Content Placeholder 3"/>
          <p:cNvSpPr>
            <a:spLocks noGrp="1"/>
          </p:cNvSpPr>
          <p:nvPr>
            <p:ph sz="half" idx="2"/>
          </p:nvPr>
        </p:nvSpPr>
        <p:spPr>
          <a:xfrm>
            <a:off x="5843035" y="1825625"/>
            <a:ext cx="4478400" cy="4351338"/>
          </a:xfrm>
        </p:spPr>
        <p:txBody>
          <a:bodyPr>
            <a:normAutofit/>
          </a:bodyPr>
          <a:lstStyle>
            <a:lvl1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accent3"/>
              </a:buClr>
              <a:buFontTx/>
              <a:buNone/>
              <a:defRPr sz="28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633FB8F9-80EF-41CB-BDF7-6956A5F661F0}"/>
              </a:ext>
            </a:extLst>
          </p:cNvPr>
          <p:cNvSpPr/>
          <p:nvPr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14">
            <a:extLst>
              <a:ext uri="{FF2B5EF4-FFF2-40B4-BE49-F238E27FC236}">
                <a16:creationId xmlns:a16="http://schemas.microsoft.com/office/drawing/2014/main" id="{026E2F9C-A0C1-47DF-89B6-AF78E475AEB1}"/>
              </a:ext>
            </a:extLst>
          </p:cNvPr>
          <p:cNvSpPr/>
          <p:nvPr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09F423-51F3-46BE-9C99-3236FD525E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13" name="Oval 10">
            <a:extLst>
              <a:ext uri="{FF2B5EF4-FFF2-40B4-BE49-F238E27FC236}">
                <a16:creationId xmlns:a16="http://schemas.microsoft.com/office/drawing/2014/main" id="{01DAFF46-603D-414D-9EBB-8E74F48AD3D2}"/>
              </a:ext>
            </a:extLst>
          </p:cNvPr>
          <p:cNvSpPr/>
          <p:nvPr/>
        </p:nvSpPr>
        <p:spPr>
          <a:xfrm>
            <a:off x="11437714" y="623384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F39F1B92-2FAC-45FC-86E2-2083B6CE7DF2}"/>
              </a:ext>
            </a:extLst>
          </p:cNvPr>
          <p:cNvSpPr txBox="1">
            <a:spLocks/>
          </p:cNvSpPr>
          <p:nvPr/>
        </p:nvSpPr>
        <p:spPr>
          <a:xfrm>
            <a:off x="11368976" y="6272886"/>
            <a:ext cx="53347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1" eaLnBrk="1" latinLnBrk="0" hangingPunct="1">
              <a:defRPr sz="1600" kern="1200">
                <a:solidFill>
                  <a:srgbClr val="008DA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450A29C-FF3A-4789-B98E-12119F960C99}" type="slidenum">
              <a:rPr lang="en-US" sz="1400" smtClean="0">
                <a:solidFill>
                  <a:srgbClr val="424F58"/>
                </a:solidFill>
              </a:rPr>
              <a:pPr algn="ctr"/>
              <a:t>‹#›</a:t>
            </a:fld>
            <a:endParaRPr lang="en-US" sz="1400" dirty="0">
              <a:solidFill>
                <a:srgbClr val="424F58"/>
              </a:solidFill>
            </a:endParaRP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3FAECF9A-4A57-438B-AC44-1AFE7B30D250}"/>
              </a:ext>
            </a:extLst>
          </p:cNvPr>
          <p:cNvSpPr/>
          <p:nvPr userDrawn="1"/>
        </p:nvSpPr>
        <p:spPr>
          <a:xfrm>
            <a:off x="10929786" y="0"/>
            <a:ext cx="180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מלבן 14">
            <a:extLst>
              <a:ext uri="{FF2B5EF4-FFF2-40B4-BE49-F238E27FC236}">
                <a16:creationId xmlns:a16="http://schemas.microsoft.com/office/drawing/2014/main" id="{30C9825B-8947-4707-BF3D-2EFE9A18AB8F}"/>
              </a:ext>
            </a:extLst>
          </p:cNvPr>
          <p:cNvSpPr/>
          <p:nvPr userDrawn="1"/>
        </p:nvSpPr>
        <p:spPr>
          <a:xfrm>
            <a:off x="11099612" y="0"/>
            <a:ext cx="109238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31FD577-C140-474C-A387-CE4715F5A5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1395" y="647887"/>
            <a:ext cx="945931" cy="945931"/>
          </a:xfrm>
          <a:prstGeom prst="rect">
            <a:avLst/>
          </a:prstGeom>
        </p:spPr>
      </p:pic>
      <p:sp>
        <p:nvSpPr>
          <p:cNvPr id="24" name="Oval 10">
            <a:extLst>
              <a:ext uri="{FF2B5EF4-FFF2-40B4-BE49-F238E27FC236}">
                <a16:creationId xmlns:a16="http://schemas.microsoft.com/office/drawing/2014/main" id="{CD549C3D-B338-447F-80F2-873B3810028C}"/>
              </a:ext>
            </a:extLst>
          </p:cNvPr>
          <p:cNvSpPr/>
          <p:nvPr userDrawn="1"/>
        </p:nvSpPr>
        <p:spPr>
          <a:xfrm>
            <a:off x="11437714" y="623384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3D7179F8-7789-494D-95F3-D5352819D275}"/>
              </a:ext>
            </a:extLst>
          </p:cNvPr>
          <p:cNvSpPr txBox="1">
            <a:spLocks/>
          </p:cNvSpPr>
          <p:nvPr userDrawn="1"/>
        </p:nvSpPr>
        <p:spPr>
          <a:xfrm>
            <a:off x="11368976" y="6272886"/>
            <a:ext cx="53347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1" eaLnBrk="1" latinLnBrk="0" hangingPunct="1">
              <a:defRPr sz="1600" kern="1200">
                <a:solidFill>
                  <a:srgbClr val="008DA8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450A29C-FF3A-4789-B98E-12119F960C99}" type="slidenum">
              <a:rPr lang="en-US" sz="1400" smtClean="0">
                <a:solidFill>
                  <a:srgbClr val="424F58"/>
                </a:solidFill>
              </a:rPr>
              <a:pPr algn="ctr"/>
              <a:t>‹#›</a:t>
            </a:fld>
            <a:endParaRPr lang="en-US" sz="1400" dirty="0">
              <a:solidFill>
                <a:srgbClr val="424F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79242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שקף סיו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-2720" y="5478247"/>
            <a:ext cx="12194720" cy="1379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/>
          <p:cNvSpPr/>
          <p:nvPr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תמונה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3042" y="4432042"/>
            <a:ext cx="1705916" cy="1705916"/>
          </a:xfrm>
          <a:prstGeom prst="rect">
            <a:avLst/>
          </a:prstGeom>
        </p:spPr>
      </p:pic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609600" y="1435399"/>
            <a:ext cx="10972801" cy="850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defTabSz="4572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4F789A"/>
              </a:buClr>
              <a:buSzPct val="115000"/>
            </a:pPr>
            <a:r>
              <a:rPr lang="he-IL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תודה על ההקשבה</a:t>
            </a:r>
            <a:endParaRPr lang="en-US" b="0" spc="-3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0356A00-9B16-4839-B8B0-057E44862AEA}"/>
              </a:ext>
            </a:extLst>
          </p:cNvPr>
          <p:cNvSpPr txBox="1">
            <a:spLocks/>
          </p:cNvSpPr>
          <p:nvPr/>
        </p:nvSpPr>
        <p:spPr>
          <a:xfrm>
            <a:off x="609601" y="3423558"/>
            <a:ext cx="10972800" cy="929363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  <a:buClr>
                <a:srgbClr val="AA0171"/>
              </a:buClr>
            </a:pPr>
            <a:r>
              <a:rPr lang="en-US" sz="2800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brookdale.jdc.org</a:t>
            </a:r>
            <a:r>
              <a:rPr lang="en-US" sz="2800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.</a:t>
            </a:r>
            <a:r>
              <a:rPr lang="en-US" sz="2800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</a:t>
            </a:r>
            <a:endParaRPr lang="he-IL" sz="2800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F6B0A68-61F2-4AAA-8F1D-A8BC9577A6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84000" y="2646005"/>
            <a:ext cx="6624000" cy="575473"/>
          </a:xfrm>
          <a:noFill/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5000" b="1">
                <a:solidFill>
                  <a:schemeClr val="bg1"/>
                </a:solidFill>
              </a:defRPr>
            </a:lvl2pPr>
            <a:lvl3pPr marL="914400" indent="0">
              <a:buNone/>
              <a:defRPr sz="5000" b="1">
                <a:solidFill>
                  <a:schemeClr val="bg1"/>
                </a:solidFill>
              </a:defRPr>
            </a:lvl3pPr>
            <a:lvl4pPr marL="1371600" indent="0">
              <a:buNone/>
              <a:defRPr sz="5000" b="1">
                <a:solidFill>
                  <a:schemeClr val="bg1"/>
                </a:solidFill>
              </a:defRPr>
            </a:lvl4pPr>
            <a:lvl5pPr marL="1828800" indent="0">
              <a:buNone/>
              <a:defRPr sz="5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מלבן 7">
            <a:extLst>
              <a:ext uri="{FF2B5EF4-FFF2-40B4-BE49-F238E27FC236}">
                <a16:creationId xmlns:a16="http://schemas.microsoft.com/office/drawing/2014/main" id="{E7756C85-36BB-40DF-B74E-8FBC6C1F7B9A}"/>
              </a:ext>
            </a:extLst>
          </p:cNvPr>
          <p:cNvSpPr/>
          <p:nvPr/>
        </p:nvSpPr>
        <p:spPr>
          <a:xfrm>
            <a:off x="-2720" y="5478247"/>
            <a:ext cx="12194720" cy="1379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8">
            <a:extLst>
              <a:ext uri="{FF2B5EF4-FFF2-40B4-BE49-F238E27FC236}">
                <a16:creationId xmlns:a16="http://schemas.microsoft.com/office/drawing/2014/main" id="{CDC05934-5315-458D-AB18-479E04EB0B7E}"/>
              </a:ext>
            </a:extLst>
          </p:cNvPr>
          <p:cNvSpPr/>
          <p:nvPr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4" name="תמונה 10">
            <a:extLst>
              <a:ext uri="{FF2B5EF4-FFF2-40B4-BE49-F238E27FC236}">
                <a16:creationId xmlns:a16="http://schemas.microsoft.com/office/drawing/2014/main" id="{A900D701-BB26-416F-9B94-AAFC72BCB7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3042" y="4432042"/>
            <a:ext cx="1705916" cy="1705916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9B92886E-F97D-49EE-A9E2-6ABD6EFC5389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1435399"/>
            <a:ext cx="10972801" cy="850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defTabSz="4572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4F789A"/>
              </a:buClr>
              <a:buSzPct val="115000"/>
            </a:pPr>
            <a:r>
              <a:rPr lang="he-IL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תודה על ההקשבה</a:t>
            </a:r>
            <a:endParaRPr lang="en-US" b="0" spc="-3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3D8716EB-1DFE-43A3-9ADE-591792E6A324}"/>
              </a:ext>
            </a:extLst>
          </p:cNvPr>
          <p:cNvSpPr txBox="1">
            <a:spLocks/>
          </p:cNvSpPr>
          <p:nvPr/>
        </p:nvSpPr>
        <p:spPr>
          <a:xfrm>
            <a:off x="609601" y="3423558"/>
            <a:ext cx="10972800" cy="929363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  <a:buClr>
                <a:srgbClr val="AA0171"/>
              </a:buClr>
            </a:pPr>
            <a:r>
              <a:rPr lang="en-US" sz="2800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brookdale.jdc.org</a:t>
            </a:r>
            <a:r>
              <a:rPr lang="en-US" sz="2800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.</a:t>
            </a:r>
            <a:r>
              <a:rPr lang="en-US" sz="2800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</a:t>
            </a:r>
            <a:endParaRPr lang="he-IL" sz="2800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מלבן 7">
            <a:extLst>
              <a:ext uri="{FF2B5EF4-FFF2-40B4-BE49-F238E27FC236}">
                <a16:creationId xmlns:a16="http://schemas.microsoft.com/office/drawing/2014/main" id="{BC649F6B-057A-4D80-952A-E90E2EE34C38}"/>
              </a:ext>
            </a:extLst>
          </p:cNvPr>
          <p:cNvSpPr/>
          <p:nvPr userDrawn="1"/>
        </p:nvSpPr>
        <p:spPr>
          <a:xfrm>
            <a:off x="-2720" y="5478247"/>
            <a:ext cx="12194720" cy="1379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 8">
            <a:extLst>
              <a:ext uri="{FF2B5EF4-FFF2-40B4-BE49-F238E27FC236}">
                <a16:creationId xmlns:a16="http://schemas.microsoft.com/office/drawing/2014/main" id="{7998BCA0-1124-4447-8A36-03892AB762E3}"/>
              </a:ext>
            </a:extLst>
          </p:cNvPr>
          <p:cNvSpPr/>
          <p:nvPr userDrawn="1"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20" name="תמונה 10">
            <a:extLst>
              <a:ext uri="{FF2B5EF4-FFF2-40B4-BE49-F238E27FC236}">
                <a16:creationId xmlns:a16="http://schemas.microsoft.com/office/drawing/2014/main" id="{AD4B1353-36BB-48D0-B571-F11EE752F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3042" y="4432042"/>
            <a:ext cx="1705916" cy="1705916"/>
          </a:xfrm>
          <a:prstGeom prst="rect">
            <a:avLst/>
          </a:prstGeom>
        </p:spPr>
      </p:pic>
      <p:sp>
        <p:nvSpPr>
          <p:cNvPr id="21" name="Rectangle 2">
            <a:extLst>
              <a:ext uri="{FF2B5EF4-FFF2-40B4-BE49-F238E27FC236}">
                <a16:creationId xmlns:a16="http://schemas.microsoft.com/office/drawing/2014/main" id="{E4E84AE0-F8E4-4463-83A8-DC6451E6DB4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609600" y="1435399"/>
            <a:ext cx="10972801" cy="850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defTabSz="4572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4F789A"/>
              </a:buClr>
              <a:buSzPct val="115000"/>
            </a:pPr>
            <a:r>
              <a:rPr lang="he-IL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תודה על ההקשבה</a:t>
            </a:r>
            <a:endParaRPr lang="en-US" b="0" spc="-3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851AAAB5-9EFD-4806-8EA5-9D16ED5E9562}"/>
              </a:ext>
            </a:extLst>
          </p:cNvPr>
          <p:cNvSpPr txBox="1">
            <a:spLocks/>
          </p:cNvSpPr>
          <p:nvPr userDrawn="1"/>
        </p:nvSpPr>
        <p:spPr>
          <a:xfrm>
            <a:off x="609601" y="3423558"/>
            <a:ext cx="10972800" cy="929363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  <a:buClr>
                <a:srgbClr val="AA0171"/>
              </a:buClr>
            </a:pPr>
            <a:r>
              <a:rPr lang="en-US" sz="2800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brookdale.jdc.org</a:t>
            </a:r>
            <a:r>
              <a:rPr lang="en-US" sz="2800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.</a:t>
            </a:r>
            <a:r>
              <a:rPr lang="en-US" sz="2800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</a:t>
            </a:r>
            <a:endParaRPr lang="he-IL" sz="2800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25628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שקף סיום עם תמ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7">
            <a:extLst>
              <a:ext uri="{FF2B5EF4-FFF2-40B4-BE49-F238E27FC236}">
                <a16:creationId xmlns:a16="http://schemas.microsoft.com/office/drawing/2014/main" id="{AFE05CEA-783F-4364-A7B8-36D54E3B8549}"/>
              </a:ext>
            </a:extLst>
          </p:cNvPr>
          <p:cNvSpPr/>
          <p:nvPr/>
        </p:nvSpPr>
        <p:spPr>
          <a:xfrm>
            <a:off x="0" y="5478247"/>
            <a:ext cx="12194720" cy="1379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-17686" y="-26901"/>
            <a:ext cx="12209686" cy="514514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מלבן 8">
            <a:extLst>
              <a:ext uri="{FF2B5EF4-FFF2-40B4-BE49-F238E27FC236}">
                <a16:creationId xmlns:a16="http://schemas.microsoft.com/office/drawing/2014/main" id="{CA7EEE55-D1DC-44EF-AA92-BF9C7F3A319A}"/>
              </a:ext>
            </a:extLst>
          </p:cNvPr>
          <p:cNvSpPr/>
          <p:nvPr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301140E-BEDE-4DD4-9D4A-CB601FDCCEEF}"/>
              </a:ext>
            </a:extLst>
          </p:cNvPr>
          <p:cNvSpPr txBox="1">
            <a:spLocks noChangeArrowheads="1"/>
          </p:cNvSpPr>
          <p:nvPr/>
        </p:nvSpPr>
        <p:spPr>
          <a:xfrm>
            <a:off x="5257800" y="5723202"/>
            <a:ext cx="5495925" cy="850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 defTabSz="4572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4F789A"/>
              </a:buClr>
              <a:buSzPct val="115000"/>
            </a:pPr>
            <a:r>
              <a:rPr lang="he-IL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תודה על ההקשבה</a:t>
            </a:r>
            <a:endParaRPr lang="en-US" b="0" spc="-3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1">
            <a:extLst>
              <a:ext uri="{FF2B5EF4-FFF2-40B4-BE49-F238E27FC236}">
                <a16:creationId xmlns:a16="http://schemas.microsoft.com/office/drawing/2014/main" id="{E7611B44-B797-4531-94BB-693ADE1136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32395" y="5675539"/>
            <a:ext cx="945931" cy="945931"/>
          </a:xfrm>
          <a:prstGeom prst="rect">
            <a:avLst/>
          </a:prstGeom>
        </p:spPr>
      </p:pic>
      <p:sp>
        <p:nvSpPr>
          <p:cNvPr id="18" name="מלבן 11">
            <a:extLst>
              <a:ext uri="{FF2B5EF4-FFF2-40B4-BE49-F238E27FC236}">
                <a16:creationId xmlns:a16="http://schemas.microsoft.com/office/drawing/2014/main" id="{D11E7429-79D8-46BF-9D30-16CB05B7477E}"/>
              </a:ext>
            </a:extLst>
          </p:cNvPr>
          <p:cNvSpPr/>
          <p:nvPr/>
        </p:nvSpPr>
        <p:spPr>
          <a:xfrm>
            <a:off x="419100" y="5761469"/>
            <a:ext cx="3429000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>
                <a:srgbClr val="AA0171"/>
              </a:buClr>
            </a:pPr>
            <a:r>
              <a:rPr lang="en-US" sz="2400" u="sn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brookdale.jdc.org.il</a:t>
            </a:r>
            <a:endParaRPr lang="he-IL" sz="2400" u="sng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7BCFB976-1F9C-46A1-ABE0-30726A603247}"/>
              </a:ext>
            </a:extLst>
          </p:cNvPr>
          <p:cNvSpPr/>
          <p:nvPr/>
        </p:nvSpPr>
        <p:spPr>
          <a:xfrm>
            <a:off x="0" y="5478247"/>
            <a:ext cx="12194720" cy="1379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C499F71D-BF43-437E-B585-0966776B5335}"/>
              </a:ext>
            </a:extLst>
          </p:cNvPr>
          <p:cNvSpPr/>
          <p:nvPr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B2E6220-C74E-4298-8DF8-43F5D10BB4E4}"/>
              </a:ext>
            </a:extLst>
          </p:cNvPr>
          <p:cNvSpPr txBox="1">
            <a:spLocks noChangeArrowheads="1"/>
          </p:cNvSpPr>
          <p:nvPr/>
        </p:nvSpPr>
        <p:spPr>
          <a:xfrm>
            <a:off x="5257800" y="5723202"/>
            <a:ext cx="5495925" cy="850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 defTabSz="4572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4F789A"/>
              </a:buClr>
              <a:buSzPct val="115000"/>
            </a:pPr>
            <a:r>
              <a:rPr lang="he-IL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תודה על ההקשבה</a:t>
            </a:r>
            <a:endParaRPr lang="en-US" b="0" spc="-3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26421C-DF55-409E-9B4C-81B0D4C537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32395" y="5675539"/>
            <a:ext cx="945931" cy="945931"/>
          </a:xfrm>
          <a:prstGeom prst="rect">
            <a:avLst/>
          </a:prstGeom>
        </p:spPr>
      </p:pic>
      <p:sp>
        <p:nvSpPr>
          <p:cNvPr id="13" name="מלבן 11">
            <a:extLst>
              <a:ext uri="{FF2B5EF4-FFF2-40B4-BE49-F238E27FC236}">
                <a16:creationId xmlns:a16="http://schemas.microsoft.com/office/drawing/2014/main" id="{390FF7A6-B227-467F-86A2-6D32ED6067DA}"/>
              </a:ext>
            </a:extLst>
          </p:cNvPr>
          <p:cNvSpPr/>
          <p:nvPr/>
        </p:nvSpPr>
        <p:spPr>
          <a:xfrm>
            <a:off x="419100" y="5761469"/>
            <a:ext cx="3429000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>
                <a:srgbClr val="AA0171"/>
              </a:buClr>
            </a:pPr>
            <a:r>
              <a:rPr lang="en-US" sz="2400" u="sn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brookdale.jdc.org.il</a:t>
            </a:r>
            <a:endParaRPr lang="he-IL" sz="2400" u="sng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מלבן 7">
            <a:extLst>
              <a:ext uri="{FF2B5EF4-FFF2-40B4-BE49-F238E27FC236}">
                <a16:creationId xmlns:a16="http://schemas.microsoft.com/office/drawing/2014/main" id="{FAC8B7FA-88AD-4F68-A3B5-69379FBD6A1C}"/>
              </a:ext>
            </a:extLst>
          </p:cNvPr>
          <p:cNvSpPr/>
          <p:nvPr userDrawn="1"/>
        </p:nvSpPr>
        <p:spPr>
          <a:xfrm>
            <a:off x="0" y="5478247"/>
            <a:ext cx="12194720" cy="1379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 8">
            <a:extLst>
              <a:ext uri="{FF2B5EF4-FFF2-40B4-BE49-F238E27FC236}">
                <a16:creationId xmlns:a16="http://schemas.microsoft.com/office/drawing/2014/main" id="{8C2F7976-1514-462C-8D6E-2B87BAD3E274}"/>
              </a:ext>
            </a:extLst>
          </p:cNvPr>
          <p:cNvSpPr/>
          <p:nvPr userDrawn="1"/>
        </p:nvSpPr>
        <p:spPr>
          <a:xfrm>
            <a:off x="-2720" y="5118247"/>
            <a:ext cx="1219472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F5B0AC34-01D6-4A05-9921-0ED5E546DA6A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5257800" y="5723202"/>
            <a:ext cx="5495925" cy="850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 defTabSz="4572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4F789A"/>
              </a:buClr>
              <a:buSzPct val="115000"/>
            </a:pPr>
            <a:r>
              <a:rPr lang="he-IL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תודה על ההקשבה</a:t>
            </a:r>
            <a:endParaRPr lang="en-US" b="0" spc="-3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A5BC498-A381-4C57-8153-ADBBADC39C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32395" y="5675539"/>
            <a:ext cx="945931" cy="945931"/>
          </a:xfrm>
          <a:prstGeom prst="rect">
            <a:avLst/>
          </a:prstGeom>
        </p:spPr>
      </p:pic>
      <p:sp>
        <p:nvSpPr>
          <p:cNvPr id="22" name="מלבן 11">
            <a:extLst>
              <a:ext uri="{FF2B5EF4-FFF2-40B4-BE49-F238E27FC236}">
                <a16:creationId xmlns:a16="http://schemas.microsoft.com/office/drawing/2014/main" id="{8BB2842F-E825-48F6-B35E-198F490B6E84}"/>
              </a:ext>
            </a:extLst>
          </p:cNvPr>
          <p:cNvSpPr/>
          <p:nvPr userDrawn="1"/>
        </p:nvSpPr>
        <p:spPr>
          <a:xfrm>
            <a:off x="419100" y="5761469"/>
            <a:ext cx="3429000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>
                <a:srgbClr val="AA0171"/>
              </a:buClr>
            </a:pPr>
            <a:r>
              <a:rPr lang="en-US" sz="2400" u="sn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brookdale.jdc.org.il</a:t>
            </a:r>
            <a:endParaRPr lang="he-IL" sz="2400" u="sng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96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31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30.xml"/><Relationship Id="rId9" Type="http://schemas.openxmlformats.org/officeDocument/2006/relationships/tags" Target="../tags/tag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90636-A6F0-48EA-857C-E803965F1AA8}" type="datetimeFigureOut">
              <a:rPr lang="he-IL" smtClean="0"/>
              <a:t>ט"ו/תמוז/תשפ"ד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E5C9E-623F-45EB-AC7D-534F18A0075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578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6" r:id="rId13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60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9"/>
            </p:custDataLst>
            <p:extLst/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763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</p:sldLayoutIdLst>
  <p:transition>
    <p:fade/>
  </p:transition>
  <p:txStyles>
    <p:titleStyle>
      <a:lvl1pPr algn="r" defTabSz="914400" rtl="1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r" defTabSz="914400" rtl="1" eaLnBrk="1" latinLnBrk="0" hangingPunct="1">
        <a:spcBef>
          <a:spcPts val="0"/>
        </a:spcBef>
        <a:spcAft>
          <a:spcPts val="1000"/>
        </a:spcAft>
        <a:buSzPct val="100000"/>
        <a:buFont typeface="Arial" panose="020B0604020202020204" pitchFamily="34" charset="0"/>
        <a:buNone/>
        <a:defRPr sz="11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1" eaLnBrk="1" latinLnBrk="0" hangingPunct="1">
        <a:spcBef>
          <a:spcPts val="0"/>
        </a:spcBef>
        <a:spcAft>
          <a:spcPts val="1000"/>
        </a:spcAft>
        <a:buClrTx/>
        <a:buSzPct val="100000"/>
        <a:buFont typeface="Arial"/>
        <a:buNone/>
        <a:defRPr lang="en-US" sz="1100" b="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6400" indent="-176400" algn="r" defTabSz="914400" rtl="1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1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356400" indent="-176400" algn="r" defTabSz="914400" rtl="1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defRPr lang="en-US" sz="11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32800" indent="-176400" algn="r" defTabSz="798513" rtl="1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tabLst/>
        <a:defRPr lang="en-US" sz="11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532800" indent="-176400" algn="r" defTabSz="914400" rtl="1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r" defTabSz="914400" rtl="1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r" defTabSz="914400" rtl="1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r" defTabSz="914400" rtl="1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78">
          <p15:clr>
            <a:srgbClr val="FBAE40"/>
          </p15:clr>
        </p15:guide>
        <p15:guide id="3" orient="horz" pos="3976">
          <p15:clr>
            <a:srgbClr val="F26B43"/>
          </p15:clr>
        </p15:guide>
        <p15:guide id="11" orient="horz" pos="236">
          <p15:clr>
            <a:srgbClr val="F26B43"/>
          </p15:clr>
        </p15:guide>
        <p15:guide id="21" orient="horz" pos="884">
          <p15:clr>
            <a:srgbClr val="9FCC3B"/>
          </p15:clr>
        </p15:guide>
        <p15:guide id="22" orient="horz" pos="779">
          <p15:clr>
            <a:srgbClr val="5ACBF0"/>
          </p15:clr>
        </p15:guide>
        <p15:guide id="23" orient="horz" pos="2160">
          <p15:clr>
            <a:srgbClr val="F26B43"/>
          </p15:clr>
        </p15:guide>
        <p15:guide id="24" pos="302">
          <p15:clr>
            <a:srgbClr val="F26B43"/>
          </p15:clr>
        </p15:guide>
        <p15:guide id="26" pos="3840">
          <p15:clr>
            <a:srgbClr val="F26B43"/>
          </p15:clr>
        </p15:guide>
        <p15:guide id="27" orient="horz" pos="482">
          <p15:clr>
            <a:srgbClr val="5ACBF0"/>
          </p15:clr>
        </p15:guide>
        <p15:guide id="28" pos="2071">
          <p15:clr>
            <a:srgbClr val="9FCC3B"/>
          </p15:clr>
        </p15:guide>
        <p15:guide id="29" pos="5609">
          <p15:clr>
            <a:srgbClr val="9FCC3B"/>
          </p15:clr>
        </p15:guide>
        <p15:guide id="30" pos="4723">
          <p15:clr>
            <a:srgbClr val="9FCC3B"/>
          </p15:clr>
        </p15:guide>
        <p15:guide id="31" orient="horz" pos="1488">
          <p15:clr>
            <a:srgbClr val="9FCC3B"/>
          </p15:clr>
        </p15:guide>
        <p15:guide id="32" pos="6493">
          <p15:clr>
            <a:srgbClr val="9FCC3B"/>
          </p15:clr>
        </p15:guide>
        <p15:guide id="33" pos="2955">
          <p15:clr>
            <a:srgbClr val="9FCC3B"/>
          </p15:clr>
        </p15:guide>
        <p15:guide id="34" pos="1186">
          <p15:clr>
            <a:srgbClr val="9FCC3B"/>
          </p15:clr>
        </p15:guide>
        <p15:guide id="35" orient="horz" pos="2832">
          <p15:clr>
            <a:srgbClr val="9FCC3B"/>
          </p15:clr>
        </p15:guide>
        <p15:guide id="36" orient="horz" pos="3498">
          <p15:clr>
            <a:srgbClr val="9FCC3B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tx2">
                <a:lumMod val="10000"/>
                <a:lumOff val="90000"/>
              </a:schemeClr>
            </a:gs>
            <a:gs pos="100000">
              <a:schemeClr val="bg2">
                <a:lumMod val="63000"/>
                <a:lumOff val="37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5CCE8-6F74-484F-9997-F624AF11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2716A-3F96-417D-BD90-4BF827F0B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900DF-B938-4C8C-984E-73C86064A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cs typeface="Assistant" pitchFamily="2" charset="-79"/>
              </a:defRPr>
            </a:lvl1pPr>
          </a:lstStyle>
          <a:p>
            <a:fld id="{04C3C828-D965-4B22-85AA-AF24CD109DC9}" type="datetimeFigureOut">
              <a:rPr lang="en-IL" smtClean="0"/>
              <a:pPr/>
              <a:t>07/21/2024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C7C5F-C920-4783-A0E6-CACCA99FC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cs typeface="Assistant" pitchFamily="2" charset="-79"/>
              </a:defRPr>
            </a:lvl1pPr>
          </a:lstStyle>
          <a:p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D0F9F-CC41-4816-BBC6-018656A71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sistant" pitchFamily="2" charset="-79"/>
                <a:cs typeface="Assistant" pitchFamily="2" charset="-79"/>
              </a:defRPr>
            </a:lvl1pPr>
          </a:lstStyle>
          <a:p>
            <a:fld id="{B77FEFEE-B59A-439F-87BA-08D2A83B568B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7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96AE7613-76B4-4A78-87B0-D9597FF1FA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2795" y="147514"/>
            <a:ext cx="1450862" cy="39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72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14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sistant" pitchFamily="2" charset="-79"/>
          <a:ea typeface="+mj-ea"/>
          <a:cs typeface="Assistant" pitchFamily="2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sistant" pitchFamily="2" charset="-79"/>
          <a:ea typeface="+mn-ea"/>
          <a:cs typeface="Assistant" pitchFamily="2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595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3645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032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AA017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Clr>
          <a:srgbClr val="AA0171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Clr>
          <a:srgbClr val="AA0171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Clr>
          <a:srgbClr val="AA0171"/>
        </a:buClr>
        <a:buSzPct val="11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Clr>
          <a:srgbClr val="AA017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Clr>
          <a:srgbClr val="AA017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image" Target="../media/image19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image" Target="../media/image17.png"/><Relationship Id="rId7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microsoft.com/office/2007/relationships/hdphoto" Target="../media/hdphoto2.wdp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0.sv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7B0AC7-AE8A-4E31-9768-AEC781293D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66527" y="0"/>
            <a:ext cx="1396172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886" y="2459504"/>
            <a:ext cx="6082114" cy="1938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4800" b="1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דיגיטל עד 120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/>
            </a:r>
            <a:b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</a:br>
            <a:r>
              <a:rPr kumimoji="0" lang="he-IL" sz="36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מהלך הדיגיטל להזדקנות מיטבית -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6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75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בונים יחד את המחר של כולנו</a:t>
            </a:r>
          </a:p>
        </p:txBody>
      </p:sp>
    </p:spTree>
    <p:extLst>
      <p:ext uri="{BB962C8B-B14F-4D97-AF65-F5344CB8AC3E}">
        <p14:creationId xmlns:p14="http://schemas.microsoft.com/office/powerpoint/2010/main" val="317762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3B842E-8B18-A52D-1306-410268E572D6}"/>
              </a:ext>
            </a:extLst>
          </p:cNvPr>
          <p:cNvSpPr txBox="1">
            <a:spLocks/>
          </p:cNvSpPr>
          <p:nvPr/>
        </p:nvSpPr>
        <p:spPr>
          <a:xfrm flipH="1">
            <a:off x="787025" y="321804"/>
            <a:ext cx="11179628" cy="692150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-75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rPr>
              <a:t>אסטרטגיה מבוססת נתונים – מנהל אזרחים ותיקים</a:t>
            </a:r>
            <a:endParaRPr kumimoji="0" lang="en-US" sz="2800" b="1" i="0" u="none" strike="noStrike" kern="1200" cap="none" spc="-7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Open Sans SemiBold" panose="020B0706030804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37" name="קבוצה 36">
            <a:extLst>
              <a:ext uri="{FF2B5EF4-FFF2-40B4-BE49-F238E27FC236}">
                <a16:creationId xmlns:a16="http://schemas.microsoft.com/office/drawing/2014/main" id="{38A70C6C-1988-74D6-1B93-D9AF27354C20}"/>
              </a:ext>
            </a:extLst>
          </p:cNvPr>
          <p:cNvGrpSpPr/>
          <p:nvPr/>
        </p:nvGrpSpPr>
        <p:grpSpPr>
          <a:xfrm>
            <a:off x="9246400" y="1672163"/>
            <a:ext cx="2560320" cy="3822192"/>
            <a:chOff x="9047225" y="1672163"/>
            <a:chExt cx="2560320" cy="3822192"/>
          </a:xfrm>
        </p:grpSpPr>
        <p:sp>
          <p:nvSpPr>
            <p:cNvPr id="20" name="Rectangle: Rounded Corners 2">
              <a:extLst>
                <a:ext uri="{FF2B5EF4-FFF2-40B4-BE49-F238E27FC236}">
                  <a16:creationId xmlns:a16="http://schemas.microsoft.com/office/drawing/2014/main" id="{E67EDF60-AB2C-5B1C-208C-C57FA8184E2F}"/>
                </a:ext>
              </a:extLst>
            </p:cNvPr>
            <p:cNvSpPr/>
            <p:nvPr/>
          </p:nvSpPr>
          <p:spPr bwMode="gray">
            <a:xfrm>
              <a:off x="9047225" y="1672163"/>
              <a:ext cx="2560320" cy="3822192"/>
            </a:xfrm>
            <a:prstGeom prst="roundRect">
              <a:avLst>
                <a:gd name="adj" fmla="val 497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2"/>
                </a:gs>
              </a:gsLst>
              <a:lin ang="18900000" scaled="0"/>
              <a:tileRect/>
            </a:gradFill>
            <a:ln w="19050" algn="ctr">
              <a:noFill/>
              <a:miter lim="800000"/>
              <a:headEnd/>
              <a:tailEnd/>
            </a:ln>
            <a:effectLst>
              <a:outerShdw blurRad="50800" dist="12700" dir="5400000" algn="t" rotWithShape="0">
                <a:schemeClr val="accent5">
                  <a:alpha val="40000"/>
                </a:schemeClr>
              </a:outerShdw>
            </a:effectLst>
          </p:spPr>
          <p:txBody>
            <a:bodyPr wrap="square" lIns="88900" tIns="144000" rIns="88900" bIns="889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L" sz="1800" b="1" i="0" u="none" strike="noStrike" kern="1200" cap="none" spc="0" normalizeH="0" baseline="0" noProof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E22A8397-E7E2-25D4-25AE-2B6F81328A06}"/>
                </a:ext>
              </a:extLst>
            </p:cNvPr>
            <p:cNvSpPr txBox="1"/>
            <p:nvPr/>
          </p:nvSpPr>
          <p:spPr>
            <a:xfrm>
              <a:off x="9281700" y="2591233"/>
              <a:ext cx="2228850" cy="17543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he-IL" sz="140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מידע </a:t>
              </a:r>
              <a:r>
                <a:rPr lang="he-IL" sz="140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מקיף לטובת תמונת מצב לאומית לאתגרי הזדקנות האוכלוסייה</a:t>
              </a:r>
              <a:endPara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הבנה של הפערים</a:t>
              </a:r>
              <a:r>
                <a:rPr kumimoji="0" lang="he-IL" sz="1400" b="0" i="0" u="none" strike="noStrike" kern="1200" cap="none" spc="0" normalizeH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 לטובת שיפור </a:t>
              </a:r>
              <a:r>
                <a:rPr kumimoji="0" lang="he-IL" sz="1400" b="0" i="0" u="none" strike="noStrike" kern="1200" cap="none" spc="0" normalizeH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השירותים והתאמתם </a:t>
              </a:r>
              <a:endPara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פיתוח ויישום מדידה</a:t>
              </a:r>
              <a:endPara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B5D92938-C4B6-C3F1-7F0E-AD31F60FE5DB}"/>
                </a:ext>
              </a:extLst>
            </p:cNvPr>
            <p:cNvSpPr txBox="1"/>
            <p:nvPr/>
          </p:nvSpPr>
          <p:spPr>
            <a:xfrm>
              <a:off x="9047225" y="1953230"/>
              <a:ext cx="2560320" cy="3345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0" lang="he-IL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מטרות</a:t>
              </a:r>
              <a:r>
                <a:rPr kumimoji="0" lang="he-IL" sz="1600" b="1" i="0" u="none" strike="noStrike" kern="1200" cap="none" spc="0" normalizeH="0" noProof="0" dirty="0" smtClean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 ו</a:t>
              </a:r>
              <a:r>
                <a:rPr kumimoji="0" lang="he-IL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יעדים</a:t>
              </a:r>
              <a:endParaRPr kumimoji="0" lang="en-IL" sz="1600" b="1" i="0" u="none" strike="noStrike" kern="1200" cap="none" spc="0" normalizeH="0" baseline="0" noProof="0" dirty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cxnSp>
          <p:nvCxnSpPr>
            <p:cNvPr id="15" name="מחבר ישר 14">
              <a:extLst>
                <a:ext uri="{FF2B5EF4-FFF2-40B4-BE49-F238E27FC236}">
                  <a16:creationId xmlns:a16="http://schemas.microsoft.com/office/drawing/2014/main" id="{8DFD78FF-51AF-76FE-2D8E-D4A46E7E39D6}"/>
                </a:ext>
              </a:extLst>
            </p:cNvPr>
            <p:cNvCxnSpPr/>
            <p:nvPr/>
          </p:nvCxnSpPr>
          <p:spPr>
            <a:xfrm>
              <a:off x="9814276" y="3282741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ישר 15">
              <a:extLst>
                <a:ext uri="{FF2B5EF4-FFF2-40B4-BE49-F238E27FC236}">
                  <a16:creationId xmlns:a16="http://schemas.microsoft.com/office/drawing/2014/main" id="{0AF13A57-5853-90DB-FF94-B95A36C5D589}"/>
                </a:ext>
              </a:extLst>
            </p:cNvPr>
            <p:cNvCxnSpPr/>
            <p:nvPr/>
          </p:nvCxnSpPr>
          <p:spPr>
            <a:xfrm>
              <a:off x="9814276" y="3975332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65">
              <a:extLst>
                <a:ext uri="{FF2B5EF4-FFF2-40B4-BE49-F238E27FC236}">
                  <a16:creationId xmlns:a16="http://schemas.microsoft.com/office/drawing/2014/main" id="{42B9834F-3ABB-DECD-EDB6-0504719E388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257499" y="4874905"/>
              <a:ext cx="277253" cy="454329"/>
              <a:chOff x="8146512" y="3656719"/>
              <a:chExt cx="482495" cy="790654"/>
            </a:xfrm>
            <a:gradFill>
              <a:gsLst>
                <a:gs pos="22000">
                  <a:schemeClr val="accent1"/>
                </a:gs>
                <a:gs pos="75000">
                  <a:schemeClr val="accent4"/>
                </a:gs>
                <a:gs pos="100000">
                  <a:schemeClr val="accent5"/>
                </a:gs>
              </a:gsLst>
              <a:lin ang="8100000" scaled="0"/>
            </a:gradFill>
          </p:grpSpPr>
          <p:sp>
            <p:nvSpPr>
              <p:cNvPr id="4" name="Free-form: Shape 63">
                <a:extLst>
                  <a:ext uri="{FF2B5EF4-FFF2-40B4-BE49-F238E27FC236}">
                    <a16:creationId xmlns:a16="http://schemas.microsoft.com/office/drawing/2014/main" id="{DEAD3A7F-71E3-AF49-3FCC-5B09584FEC8A}"/>
                  </a:ext>
                </a:extLst>
              </p:cNvPr>
              <p:cNvSpPr/>
              <p:nvPr/>
            </p:nvSpPr>
            <p:spPr>
              <a:xfrm>
                <a:off x="8181331" y="3656719"/>
                <a:ext cx="257201" cy="235507"/>
              </a:xfrm>
              <a:custGeom>
                <a:avLst/>
                <a:gdLst>
                  <a:gd name="connsiteX0" fmla="*/ 57147 w 257201"/>
                  <a:gd name="connsiteY0" fmla="*/ 235508 h 235507"/>
                  <a:gd name="connsiteX1" fmla="*/ 57147 w 257201"/>
                  <a:gd name="connsiteY1" fmla="*/ 183997 h 235507"/>
                  <a:gd name="connsiteX2" fmla="*/ 73030 w 257201"/>
                  <a:gd name="connsiteY2" fmla="*/ 57018 h 235507"/>
                  <a:gd name="connsiteX3" fmla="*/ 200010 w 257201"/>
                  <a:gd name="connsiteY3" fmla="*/ 72901 h 235507"/>
                  <a:gd name="connsiteX4" fmla="*/ 200479 w 257201"/>
                  <a:gd name="connsiteY4" fmla="*/ 183387 h 235507"/>
                  <a:gd name="connsiteX5" fmla="*/ 200479 w 257201"/>
                  <a:gd name="connsiteY5" fmla="*/ 235222 h 235507"/>
                  <a:gd name="connsiteX6" fmla="*/ 235222 w 257201"/>
                  <a:gd name="connsiteY6" fmla="*/ 56722 h 235507"/>
                  <a:gd name="connsiteX7" fmla="*/ 56721 w 257201"/>
                  <a:gd name="connsiteY7" fmla="*/ 21979 h 235507"/>
                  <a:gd name="connsiteX8" fmla="*/ 21979 w 257201"/>
                  <a:gd name="connsiteY8" fmla="*/ 200480 h 235507"/>
                  <a:gd name="connsiteX9" fmla="*/ 57147 w 257201"/>
                  <a:gd name="connsiteY9" fmla="*/ 235508 h 235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7201" h="235507">
                    <a:moveTo>
                      <a:pt x="57147" y="235508"/>
                    </a:moveTo>
                    <a:lnTo>
                      <a:pt x="57147" y="183997"/>
                    </a:lnTo>
                    <a:cubicBezTo>
                      <a:pt x="26469" y="144546"/>
                      <a:pt x="33580" y="87696"/>
                      <a:pt x="73030" y="57018"/>
                    </a:cubicBezTo>
                    <a:cubicBezTo>
                      <a:pt x="112481" y="26339"/>
                      <a:pt x="169331" y="33450"/>
                      <a:pt x="200010" y="72901"/>
                    </a:cubicBezTo>
                    <a:cubicBezTo>
                      <a:pt x="225242" y="105348"/>
                      <a:pt x="225435" y="150726"/>
                      <a:pt x="200479" y="183387"/>
                    </a:cubicBezTo>
                    <a:lnTo>
                      <a:pt x="200479" y="235222"/>
                    </a:lnTo>
                    <a:cubicBezTo>
                      <a:pt x="259365" y="195525"/>
                      <a:pt x="274920" y="115607"/>
                      <a:pt x="235222" y="56722"/>
                    </a:cubicBezTo>
                    <a:cubicBezTo>
                      <a:pt x="195524" y="-2164"/>
                      <a:pt x="115607" y="-17719"/>
                      <a:pt x="56721" y="21979"/>
                    </a:cubicBezTo>
                    <a:cubicBezTo>
                      <a:pt x="-2164" y="61677"/>
                      <a:pt x="-17718" y="141594"/>
                      <a:pt x="21979" y="200480"/>
                    </a:cubicBezTo>
                    <a:cubicBezTo>
                      <a:pt x="31315" y="214329"/>
                      <a:pt x="43261" y="226227"/>
                      <a:pt x="57147" y="23550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" name="Free-form: Shape 64">
                <a:extLst>
                  <a:ext uri="{FF2B5EF4-FFF2-40B4-BE49-F238E27FC236}">
                    <a16:creationId xmlns:a16="http://schemas.microsoft.com/office/drawing/2014/main" id="{A8183644-A2BC-6493-624E-C1D5F6A888D5}"/>
                  </a:ext>
                </a:extLst>
              </p:cNvPr>
              <p:cNvSpPr/>
              <p:nvPr/>
            </p:nvSpPr>
            <p:spPr>
              <a:xfrm>
                <a:off x="8146512" y="3742523"/>
                <a:ext cx="482495" cy="704850"/>
              </a:xfrm>
              <a:custGeom>
                <a:avLst/>
                <a:gdLst>
                  <a:gd name="connsiteX0" fmla="*/ 120545 w 482495"/>
                  <a:gd name="connsiteY0" fmla="*/ 43091 h 704850"/>
                  <a:gd name="connsiteX1" fmla="*/ 120545 w 482495"/>
                  <a:gd name="connsiteY1" fmla="*/ 449723 h 704850"/>
                  <a:gd name="connsiteX2" fmla="*/ 120440 w 482495"/>
                  <a:gd name="connsiteY2" fmla="*/ 449723 h 704850"/>
                  <a:gd name="connsiteX3" fmla="*/ 85045 w 482495"/>
                  <a:gd name="connsiteY3" fmla="*/ 290513 h 704850"/>
                  <a:gd name="connsiteX4" fmla="*/ 33232 w 482495"/>
                  <a:gd name="connsiteY4" fmla="*/ 258433 h 704850"/>
                  <a:gd name="connsiteX5" fmla="*/ 921 w 482495"/>
                  <a:gd name="connsiteY5" fmla="*/ 309201 h 704850"/>
                  <a:gd name="connsiteX6" fmla="*/ 52632 w 482495"/>
                  <a:gd name="connsiteY6" fmla="*/ 541839 h 704850"/>
                  <a:gd name="connsiteX7" fmla="*/ 68424 w 482495"/>
                  <a:gd name="connsiteY7" fmla="*/ 566604 h 704850"/>
                  <a:gd name="connsiteX8" fmla="*/ 163674 w 482495"/>
                  <a:gd name="connsiteY8" fmla="*/ 639851 h 704850"/>
                  <a:gd name="connsiteX9" fmla="*/ 163674 w 482495"/>
                  <a:gd name="connsiteY9" fmla="*/ 704850 h 704850"/>
                  <a:gd name="connsiteX10" fmla="*/ 413553 w 482495"/>
                  <a:gd name="connsiteY10" fmla="*/ 704850 h 704850"/>
                  <a:gd name="connsiteX11" fmla="*/ 413553 w 482495"/>
                  <a:gd name="connsiteY11" fmla="*/ 661759 h 704850"/>
                  <a:gd name="connsiteX12" fmla="*/ 482495 w 482495"/>
                  <a:gd name="connsiteY12" fmla="*/ 480784 h 704850"/>
                  <a:gd name="connsiteX13" fmla="*/ 482495 w 482495"/>
                  <a:gd name="connsiteY13" fmla="*/ 325660 h 704850"/>
                  <a:gd name="connsiteX14" fmla="*/ 430903 w 482495"/>
                  <a:gd name="connsiteY14" fmla="*/ 273963 h 704850"/>
                  <a:gd name="connsiteX15" fmla="*/ 396075 w 482495"/>
                  <a:gd name="connsiteY15" fmla="*/ 287426 h 704850"/>
                  <a:gd name="connsiteX16" fmla="*/ 396313 w 482495"/>
                  <a:gd name="connsiteY16" fmla="*/ 282578 h 704850"/>
                  <a:gd name="connsiteX17" fmla="*/ 344672 w 482495"/>
                  <a:gd name="connsiteY17" fmla="*/ 230873 h 704850"/>
                  <a:gd name="connsiteX18" fmla="*/ 308826 w 482495"/>
                  <a:gd name="connsiteY18" fmla="*/ 245297 h 704850"/>
                  <a:gd name="connsiteX19" fmla="*/ 247037 w 482495"/>
                  <a:gd name="connsiteY19" fmla="*/ 206254 h 704850"/>
                  <a:gd name="connsiteX20" fmla="*/ 206727 w 482495"/>
                  <a:gd name="connsiteY20" fmla="*/ 256727 h 704850"/>
                  <a:gd name="connsiteX21" fmla="*/ 206727 w 482495"/>
                  <a:gd name="connsiteY21" fmla="*/ 43091 h 704850"/>
                  <a:gd name="connsiteX22" fmla="*/ 163636 w 482495"/>
                  <a:gd name="connsiteY22" fmla="*/ 0 h 704850"/>
                  <a:gd name="connsiteX23" fmla="*/ 120545 w 482495"/>
                  <a:gd name="connsiteY23" fmla="*/ 43091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82495" h="704850">
                    <a:moveTo>
                      <a:pt x="120545" y="43091"/>
                    </a:moveTo>
                    <a:lnTo>
                      <a:pt x="120545" y="449723"/>
                    </a:lnTo>
                    <a:lnTo>
                      <a:pt x="120440" y="449723"/>
                    </a:lnTo>
                    <a:lnTo>
                      <a:pt x="85045" y="290513"/>
                    </a:lnTo>
                    <a:cubicBezTo>
                      <a:pt x="79596" y="267346"/>
                      <a:pt x="56399" y="252984"/>
                      <a:pt x="33232" y="258433"/>
                    </a:cubicBezTo>
                    <a:cubicBezTo>
                      <a:pt x="10472" y="263786"/>
                      <a:pt x="-3866" y="286314"/>
                      <a:pt x="921" y="309201"/>
                    </a:cubicBezTo>
                    <a:lnTo>
                      <a:pt x="52632" y="541839"/>
                    </a:lnTo>
                    <a:cubicBezTo>
                      <a:pt x="54831" y="551690"/>
                      <a:pt x="60420" y="560455"/>
                      <a:pt x="68424" y="566604"/>
                    </a:cubicBezTo>
                    <a:lnTo>
                      <a:pt x="163674" y="639851"/>
                    </a:lnTo>
                    <a:lnTo>
                      <a:pt x="163674" y="704850"/>
                    </a:lnTo>
                    <a:lnTo>
                      <a:pt x="413553" y="704850"/>
                    </a:lnTo>
                    <a:lnTo>
                      <a:pt x="413553" y="661759"/>
                    </a:lnTo>
                    <a:cubicBezTo>
                      <a:pt x="413553" y="600713"/>
                      <a:pt x="482495" y="596036"/>
                      <a:pt x="482495" y="480784"/>
                    </a:cubicBezTo>
                    <a:lnTo>
                      <a:pt x="482495" y="325660"/>
                    </a:lnTo>
                    <a:cubicBezTo>
                      <a:pt x="482524" y="297137"/>
                      <a:pt x="459426" y="273991"/>
                      <a:pt x="430903" y="273963"/>
                    </a:cubicBezTo>
                    <a:cubicBezTo>
                      <a:pt x="418020" y="273950"/>
                      <a:pt x="405599" y="278752"/>
                      <a:pt x="396075" y="287426"/>
                    </a:cubicBezTo>
                    <a:cubicBezTo>
                      <a:pt x="396218" y="285826"/>
                      <a:pt x="396313" y="284216"/>
                      <a:pt x="396313" y="282578"/>
                    </a:cubicBezTo>
                    <a:cubicBezTo>
                      <a:pt x="396331" y="254040"/>
                      <a:pt x="373210" y="230891"/>
                      <a:pt x="344672" y="230873"/>
                    </a:cubicBezTo>
                    <a:cubicBezTo>
                      <a:pt x="331308" y="230865"/>
                      <a:pt x="318459" y="236034"/>
                      <a:pt x="308826" y="245297"/>
                    </a:cubicBezTo>
                    <a:cubicBezTo>
                      <a:pt x="302545" y="217454"/>
                      <a:pt x="274882" y="199974"/>
                      <a:pt x="247037" y="206254"/>
                    </a:cubicBezTo>
                    <a:cubicBezTo>
                      <a:pt x="223446" y="211576"/>
                      <a:pt x="206701" y="232544"/>
                      <a:pt x="206727" y="256727"/>
                    </a:cubicBezTo>
                    <a:lnTo>
                      <a:pt x="206727" y="43091"/>
                    </a:lnTo>
                    <a:cubicBezTo>
                      <a:pt x="206727" y="19293"/>
                      <a:pt x="187434" y="0"/>
                      <a:pt x="163636" y="0"/>
                    </a:cubicBezTo>
                    <a:cubicBezTo>
                      <a:pt x="139838" y="0"/>
                      <a:pt x="120545" y="19293"/>
                      <a:pt x="120545" y="4309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40" name="קבוצה 39">
            <a:extLst>
              <a:ext uri="{FF2B5EF4-FFF2-40B4-BE49-F238E27FC236}">
                <a16:creationId xmlns:a16="http://schemas.microsoft.com/office/drawing/2014/main" id="{870A36DE-5F99-6B00-2351-56F45D2455C3}"/>
              </a:ext>
            </a:extLst>
          </p:cNvPr>
          <p:cNvGrpSpPr/>
          <p:nvPr/>
        </p:nvGrpSpPr>
        <p:grpSpPr>
          <a:xfrm>
            <a:off x="424222" y="1672163"/>
            <a:ext cx="2560322" cy="3822192"/>
            <a:chOff x="876890" y="1672163"/>
            <a:chExt cx="2560322" cy="3822192"/>
          </a:xfrm>
        </p:grpSpPr>
        <p:sp>
          <p:nvSpPr>
            <p:cNvPr id="34" name="Rectangle: Rounded Corners 2">
              <a:extLst>
                <a:ext uri="{FF2B5EF4-FFF2-40B4-BE49-F238E27FC236}">
                  <a16:creationId xmlns:a16="http://schemas.microsoft.com/office/drawing/2014/main" id="{6C612BA1-2DB0-BB53-25FD-A106A0649EDB}"/>
                </a:ext>
              </a:extLst>
            </p:cNvPr>
            <p:cNvSpPr/>
            <p:nvPr/>
          </p:nvSpPr>
          <p:spPr bwMode="gray">
            <a:xfrm>
              <a:off x="876891" y="1672163"/>
              <a:ext cx="2560320" cy="3822192"/>
            </a:xfrm>
            <a:prstGeom prst="roundRect">
              <a:avLst>
                <a:gd name="adj" fmla="val 497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2"/>
                </a:gs>
              </a:gsLst>
              <a:lin ang="18900000" scaled="0"/>
              <a:tileRect/>
            </a:gradFill>
            <a:ln w="19050" algn="ctr">
              <a:noFill/>
              <a:miter lim="800000"/>
              <a:headEnd/>
              <a:tailEnd/>
            </a:ln>
            <a:effectLst>
              <a:outerShdw blurRad="50800" dist="12700" dir="5400000" algn="t" rotWithShape="0">
                <a:schemeClr val="accent5">
                  <a:alpha val="40000"/>
                </a:schemeClr>
              </a:outerShdw>
            </a:effectLst>
          </p:spPr>
          <p:txBody>
            <a:bodyPr wrap="square" lIns="88900" tIns="144000" rIns="88900" bIns="889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L" sz="1800" b="1" i="0" u="none" strike="noStrike" kern="1200" cap="none" spc="0" normalizeH="0" baseline="0" noProof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תיבת טקסט 35">
              <a:extLst>
                <a:ext uri="{FF2B5EF4-FFF2-40B4-BE49-F238E27FC236}">
                  <a16:creationId xmlns:a16="http://schemas.microsoft.com/office/drawing/2014/main" id="{230ADFE3-A64E-1F42-9BF2-E9516568A499}"/>
                </a:ext>
              </a:extLst>
            </p:cNvPr>
            <p:cNvSpPr txBox="1"/>
            <p:nvPr/>
          </p:nvSpPr>
          <p:spPr>
            <a:xfrm>
              <a:off x="876890" y="1925086"/>
              <a:ext cx="2560322" cy="327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0" lang="he-IL" sz="155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הישגים</a:t>
              </a:r>
              <a:endParaRPr kumimoji="0" lang="en-IL" sz="1550" b="1" i="0" u="none" strike="noStrike" kern="1200" cap="none" spc="0" normalizeH="0" baseline="0" noProof="0" dirty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9" name="תיבת טקסט 18">
              <a:extLst>
                <a:ext uri="{FF2B5EF4-FFF2-40B4-BE49-F238E27FC236}">
                  <a16:creationId xmlns:a16="http://schemas.microsoft.com/office/drawing/2014/main" id="{E89096E9-CE99-DEB7-EE54-CDEAF4DFBAB0}"/>
                </a:ext>
              </a:extLst>
            </p:cNvPr>
            <p:cNvSpPr txBox="1"/>
            <p:nvPr/>
          </p:nvSpPr>
          <p:spPr>
            <a:xfrm>
              <a:off x="926604" y="2247939"/>
              <a:ext cx="2384607" cy="26007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he-IL" sz="140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תכנון </a:t>
              </a:r>
              <a:r>
                <a:rPr lang="he-IL" sz="1400" dirty="0" err="1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וישום</a:t>
              </a:r>
              <a:r>
                <a:rPr lang="he-IL" sz="140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רפורמת ביזור תקציב, תכנון ודאטה לרשויות 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he-IL" sz="140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פורום ברק להיערכות המדינה להזדקנות </a:t>
              </a:r>
              <a:r>
                <a:rPr lang="he-IL" sz="1400" dirty="0" err="1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האוכלוסיה</a:t>
              </a:r>
              <a:r>
                <a:rPr lang="he-IL" sz="140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ב3 צוותי פעולה </a:t>
              </a:r>
              <a:endPara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דשבורדים</a:t>
              </a:r>
              <a:r>
                <a:rPr kumimoji="0" lang="he-IL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 </a:t>
              </a:r>
              <a:r>
                <a:rPr kumimoji="0" lang="he-IL" sz="1400" b="0" i="0" u="none" strike="noStrike" kern="1200" cap="none" spc="0" normalizeH="0" baseline="0" noProof="0" dirty="0" err="1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למינהל</a:t>
              </a:r>
              <a:r>
                <a:rPr kumimoji="0" lang="he-IL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 ולרשויות </a:t>
              </a:r>
              <a:r>
                <a:rPr kumimoji="0" lang="he-IL" sz="1400" b="0" i="0" u="none" strike="noStrike" kern="1200" cap="none" spc="0" normalizeH="0" noProof="0" dirty="0" err="1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המנגיש</a:t>
              </a:r>
              <a:r>
                <a:rPr kumimoji="0" lang="he-IL" sz="1400" b="0" i="0" u="none" strike="noStrike" kern="1200" cap="none" spc="0" normalizeH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 </a:t>
              </a:r>
              <a:r>
                <a:rPr kumimoji="0" lang="he-IL" sz="1400" b="0" i="0" u="none" strike="noStrike" kern="1200" cap="none" spc="0" normalizeH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מידע </a:t>
              </a:r>
              <a:r>
                <a:rPr kumimoji="0" lang="he-IL" sz="1400" b="0" i="0" u="none" strike="noStrike" kern="1200" cap="none" spc="0" normalizeH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רב מערכתי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he-IL" sz="1300" noProof="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תשתית מדידה המגובה בכלי דיגיטלי</a:t>
              </a:r>
              <a:endParaRPr kumimoji="0" lang="he-IL" sz="13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43" name="מחבר ישר 42">
              <a:extLst>
                <a:ext uri="{FF2B5EF4-FFF2-40B4-BE49-F238E27FC236}">
                  <a16:creationId xmlns:a16="http://schemas.microsoft.com/office/drawing/2014/main" id="{028A8F5A-7719-1723-9E18-F7ED8899ED80}"/>
                </a:ext>
              </a:extLst>
            </p:cNvPr>
            <p:cNvCxnSpPr/>
            <p:nvPr/>
          </p:nvCxnSpPr>
          <p:spPr>
            <a:xfrm>
              <a:off x="1507299" y="3036815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127">
              <a:extLst>
                <a:ext uri="{FF2B5EF4-FFF2-40B4-BE49-F238E27FC236}">
                  <a16:creationId xmlns:a16="http://schemas.microsoft.com/office/drawing/2014/main" id="{FDA5C80F-DA3A-1037-1A19-A292AA22A7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3936" y="4792269"/>
              <a:ext cx="626230" cy="518570"/>
              <a:chOff x="3890503" y="3312474"/>
              <a:chExt cx="849285" cy="721892"/>
            </a:xfrm>
            <a:gradFill>
              <a:gsLst>
                <a:gs pos="22000">
                  <a:schemeClr val="accent1"/>
                </a:gs>
                <a:gs pos="83000">
                  <a:schemeClr val="accent4"/>
                </a:gs>
                <a:gs pos="100000">
                  <a:schemeClr val="accent5"/>
                </a:gs>
              </a:gsLst>
              <a:lin ang="8100000" scaled="0"/>
            </a:gradFill>
          </p:grpSpPr>
          <p:sp>
            <p:nvSpPr>
              <p:cNvPr id="9" name="Graphic 120" descr="Monitor with solid fill">
                <a:extLst>
                  <a:ext uri="{FF2B5EF4-FFF2-40B4-BE49-F238E27FC236}">
                    <a16:creationId xmlns:a16="http://schemas.microsoft.com/office/drawing/2014/main" id="{DFD2308E-83BA-2906-D5D4-6EF7C5D23E20}"/>
                  </a:ext>
                </a:extLst>
              </p:cNvPr>
              <p:cNvSpPr/>
              <p:nvPr/>
            </p:nvSpPr>
            <p:spPr>
              <a:xfrm>
                <a:off x="3890503" y="3312474"/>
                <a:ext cx="849285" cy="721892"/>
              </a:xfrm>
              <a:custGeom>
                <a:avLst/>
                <a:gdLst>
                  <a:gd name="connsiteX0" fmla="*/ 785589 w 849285"/>
                  <a:gd name="connsiteY0" fmla="*/ 530803 h 721892"/>
                  <a:gd name="connsiteX1" fmla="*/ 63696 w 849285"/>
                  <a:gd name="connsiteY1" fmla="*/ 530803 h 721892"/>
                  <a:gd name="connsiteX2" fmla="*/ 63696 w 849285"/>
                  <a:gd name="connsiteY2" fmla="*/ 63696 h 721892"/>
                  <a:gd name="connsiteX3" fmla="*/ 785589 w 849285"/>
                  <a:gd name="connsiteY3" fmla="*/ 63696 h 721892"/>
                  <a:gd name="connsiteX4" fmla="*/ 785589 w 849285"/>
                  <a:gd name="connsiteY4" fmla="*/ 530803 h 721892"/>
                  <a:gd name="connsiteX5" fmla="*/ 806821 w 849285"/>
                  <a:gd name="connsiteY5" fmla="*/ 0 h 721892"/>
                  <a:gd name="connsiteX6" fmla="*/ 42464 w 849285"/>
                  <a:gd name="connsiteY6" fmla="*/ 0 h 721892"/>
                  <a:gd name="connsiteX7" fmla="*/ 0 w 849285"/>
                  <a:gd name="connsiteY7" fmla="*/ 42464 h 721892"/>
                  <a:gd name="connsiteX8" fmla="*/ 0 w 849285"/>
                  <a:gd name="connsiteY8" fmla="*/ 552035 h 721892"/>
                  <a:gd name="connsiteX9" fmla="*/ 42464 w 849285"/>
                  <a:gd name="connsiteY9" fmla="*/ 594500 h 721892"/>
                  <a:gd name="connsiteX10" fmla="*/ 339714 w 849285"/>
                  <a:gd name="connsiteY10" fmla="*/ 594500 h 721892"/>
                  <a:gd name="connsiteX11" fmla="*/ 339714 w 849285"/>
                  <a:gd name="connsiteY11" fmla="*/ 658196 h 721892"/>
                  <a:gd name="connsiteX12" fmla="*/ 233553 w 849285"/>
                  <a:gd name="connsiteY12" fmla="*/ 658196 h 721892"/>
                  <a:gd name="connsiteX13" fmla="*/ 233553 w 849285"/>
                  <a:gd name="connsiteY13" fmla="*/ 721892 h 721892"/>
                  <a:gd name="connsiteX14" fmla="*/ 615732 w 849285"/>
                  <a:gd name="connsiteY14" fmla="*/ 721892 h 721892"/>
                  <a:gd name="connsiteX15" fmla="*/ 615732 w 849285"/>
                  <a:gd name="connsiteY15" fmla="*/ 658196 h 721892"/>
                  <a:gd name="connsiteX16" fmla="*/ 509571 w 849285"/>
                  <a:gd name="connsiteY16" fmla="*/ 658196 h 721892"/>
                  <a:gd name="connsiteX17" fmla="*/ 509571 w 849285"/>
                  <a:gd name="connsiteY17" fmla="*/ 594500 h 721892"/>
                  <a:gd name="connsiteX18" fmla="*/ 806821 w 849285"/>
                  <a:gd name="connsiteY18" fmla="*/ 594500 h 721892"/>
                  <a:gd name="connsiteX19" fmla="*/ 849285 w 849285"/>
                  <a:gd name="connsiteY19" fmla="*/ 552035 h 721892"/>
                  <a:gd name="connsiteX20" fmla="*/ 849285 w 849285"/>
                  <a:gd name="connsiteY20" fmla="*/ 42464 h 721892"/>
                  <a:gd name="connsiteX21" fmla="*/ 806821 w 849285"/>
                  <a:gd name="connsiteY21" fmla="*/ 0 h 721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49285" h="721892">
                    <a:moveTo>
                      <a:pt x="785589" y="530803"/>
                    </a:moveTo>
                    <a:lnTo>
                      <a:pt x="63696" y="530803"/>
                    </a:lnTo>
                    <a:lnTo>
                      <a:pt x="63696" y="63696"/>
                    </a:lnTo>
                    <a:lnTo>
                      <a:pt x="785589" y="63696"/>
                    </a:lnTo>
                    <a:lnTo>
                      <a:pt x="785589" y="530803"/>
                    </a:lnTo>
                    <a:close/>
                    <a:moveTo>
                      <a:pt x="806821" y="0"/>
                    </a:moveTo>
                    <a:lnTo>
                      <a:pt x="42464" y="0"/>
                    </a:lnTo>
                    <a:cubicBezTo>
                      <a:pt x="19109" y="0"/>
                      <a:pt x="0" y="19109"/>
                      <a:pt x="0" y="42464"/>
                    </a:cubicBezTo>
                    <a:lnTo>
                      <a:pt x="0" y="552035"/>
                    </a:lnTo>
                    <a:cubicBezTo>
                      <a:pt x="0" y="575391"/>
                      <a:pt x="19109" y="594500"/>
                      <a:pt x="42464" y="594500"/>
                    </a:cubicBezTo>
                    <a:lnTo>
                      <a:pt x="339714" y="594500"/>
                    </a:lnTo>
                    <a:lnTo>
                      <a:pt x="339714" y="658196"/>
                    </a:lnTo>
                    <a:lnTo>
                      <a:pt x="233553" y="658196"/>
                    </a:lnTo>
                    <a:lnTo>
                      <a:pt x="233553" y="721892"/>
                    </a:lnTo>
                    <a:lnTo>
                      <a:pt x="615732" y="721892"/>
                    </a:lnTo>
                    <a:lnTo>
                      <a:pt x="615732" y="658196"/>
                    </a:lnTo>
                    <a:lnTo>
                      <a:pt x="509571" y="658196"/>
                    </a:lnTo>
                    <a:lnTo>
                      <a:pt x="509571" y="594500"/>
                    </a:lnTo>
                    <a:lnTo>
                      <a:pt x="806821" y="594500"/>
                    </a:lnTo>
                    <a:cubicBezTo>
                      <a:pt x="830176" y="594500"/>
                      <a:pt x="849285" y="575391"/>
                      <a:pt x="849285" y="552035"/>
                    </a:cubicBezTo>
                    <a:lnTo>
                      <a:pt x="849285" y="42464"/>
                    </a:lnTo>
                    <a:cubicBezTo>
                      <a:pt x="849285" y="19109"/>
                      <a:pt x="830176" y="0"/>
                      <a:pt x="806821" y="0"/>
                    </a:cubicBezTo>
                    <a:close/>
                  </a:path>
                </a:pathLst>
              </a:custGeom>
              <a:grpFill/>
              <a:ln w="10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grpSp>
            <p:nvGrpSpPr>
              <p:cNvPr id="12" name="Group 121">
                <a:extLst>
                  <a:ext uri="{FF2B5EF4-FFF2-40B4-BE49-F238E27FC236}">
                    <a16:creationId xmlns:a16="http://schemas.microsoft.com/office/drawing/2014/main" id="{19C3B3E2-1CFD-1B9C-90D3-B33927D0F6A3}"/>
                  </a:ext>
                </a:extLst>
              </p:cNvPr>
              <p:cNvGrpSpPr/>
              <p:nvPr/>
            </p:nvGrpSpPr>
            <p:grpSpPr>
              <a:xfrm>
                <a:off x="4091309" y="3410748"/>
                <a:ext cx="467981" cy="385046"/>
                <a:chOff x="3022003" y="3466299"/>
                <a:chExt cx="533400" cy="533402"/>
              </a:xfrm>
              <a:grpFill/>
            </p:grpSpPr>
            <p:sp>
              <p:nvSpPr>
                <p:cNvPr id="14" name="Rectangle: Rounded Corners 122">
                  <a:extLst>
                    <a:ext uri="{FF2B5EF4-FFF2-40B4-BE49-F238E27FC236}">
                      <a16:creationId xmlns:a16="http://schemas.microsoft.com/office/drawing/2014/main" id="{91591474-8B42-C667-669C-E3F99EDBA1F8}"/>
                    </a:ext>
                  </a:extLst>
                </p:cNvPr>
                <p:cNvSpPr/>
                <p:nvPr/>
              </p:nvSpPr>
              <p:spPr>
                <a:xfrm>
                  <a:off x="3022003" y="3666323"/>
                  <a:ext cx="104775" cy="333375"/>
                </a:xfrm>
                <a:prstGeom prst="roundRect">
                  <a:avLst/>
                </a:pr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1" name="Rectangle: Rounded Corners 123">
                  <a:extLst>
                    <a:ext uri="{FF2B5EF4-FFF2-40B4-BE49-F238E27FC236}">
                      <a16:creationId xmlns:a16="http://schemas.microsoft.com/office/drawing/2014/main" id="{A99D53D2-FA8A-9F49-8F53-3C6B826EBCE7}"/>
                    </a:ext>
                  </a:extLst>
                </p:cNvPr>
                <p:cNvSpPr/>
                <p:nvPr/>
              </p:nvSpPr>
              <p:spPr>
                <a:xfrm>
                  <a:off x="3164878" y="3466299"/>
                  <a:ext cx="104775" cy="533402"/>
                </a:xfrm>
                <a:prstGeom prst="roundRect">
                  <a:avLst/>
                </a:pr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" name="Rectangle: Rounded Corners 124">
                  <a:extLst>
                    <a:ext uri="{FF2B5EF4-FFF2-40B4-BE49-F238E27FC236}">
                      <a16:creationId xmlns:a16="http://schemas.microsoft.com/office/drawing/2014/main" id="{475CB64A-4A21-66D3-F6B1-0F2EDCB8F1ED}"/>
                    </a:ext>
                  </a:extLst>
                </p:cNvPr>
                <p:cNvSpPr/>
                <p:nvPr/>
              </p:nvSpPr>
              <p:spPr>
                <a:xfrm>
                  <a:off x="3307753" y="3666323"/>
                  <a:ext cx="104775" cy="333375"/>
                </a:xfrm>
                <a:prstGeom prst="roundRect">
                  <a:avLst/>
                </a:pr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3" name="Rectangle: Rounded Corners 125">
                  <a:extLst>
                    <a:ext uri="{FF2B5EF4-FFF2-40B4-BE49-F238E27FC236}">
                      <a16:creationId xmlns:a16="http://schemas.microsoft.com/office/drawing/2014/main" id="{295C5BA7-05C5-1B84-B9E7-A5070241BF00}"/>
                    </a:ext>
                  </a:extLst>
                </p:cNvPr>
                <p:cNvSpPr/>
                <p:nvPr/>
              </p:nvSpPr>
              <p:spPr>
                <a:xfrm>
                  <a:off x="3450628" y="3828248"/>
                  <a:ext cx="104775" cy="171450"/>
                </a:xfrm>
                <a:prstGeom prst="roundRect">
                  <a:avLst/>
                </a:pr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</p:grpSp>
        </p:grpSp>
      </p:grpSp>
      <p:grpSp>
        <p:nvGrpSpPr>
          <p:cNvPr id="38" name="קבוצה 37">
            <a:extLst>
              <a:ext uri="{FF2B5EF4-FFF2-40B4-BE49-F238E27FC236}">
                <a16:creationId xmlns:a16="http://schemas.microsoft.com/office/drawing/2014/main" id="{3FFA6A41-C1F3-0246-66C0-E08B771C94D7}"/>
              </a:ext>
            </a:extLst>
          </p:cNvPr>
          <p:cNvGrpSpPr/>
          <p:nvPr/>
        </p:nvGrpSpPr>
        <p:grpSpPr>
          <a:xfrm>
            <a:off x="6305674" y="1672163"/>
            <a:ext cx="2560321" cy="3822192"/>
            <a:chOff x="6323780" y="1672163"/>
            <a:chExt cx="2560321" cy="3822192"/>
          </a:xfrm>
        </p:grpSpPr>
        <p:sp>
          <p:nvSpPr>
            <p:cNvPr id="8" name="Rectangle: Rounded Corners 2">
              <a:extLst>
                <a:ext uri="{FF2B5EF4-FFF2-40B4-BE49-F238E27FC236}">
                  <a16:creationId xmlns:a16="http://schemas.microsoft.com/office/drawing/2014/main" id="{B5505B28-57C5-36F0-7FEF-5B53D87441D1}"/>
                </a:ext>
              </a:extLst>
            </p:cNvPr>
            <p:cNvSpPr/>
            <p:nvPr/>
          </p:nvSpPr>
          <p:spPr bwMode="gray">
            <a:xfrm>
              <a:off x="6323781" y="1672163"/>
              <a:ext cx="2560320" cy="3822192"/>
            </a:xfrm>
            <a:prstGeom prst="roundRect">
              <a:avLst>
                <a:gd name="adj" fmla="val 497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2"/>
                </a:gs>
              </a:gsLst>
              <a:lin ang="18900000" scaled="0"/>
              <a:tileRect/>
            </a:gradFill>
            <a:ln w="19050" algn="ctr">
              <a:noFill/>
              <a:miter lim="800000"/>
              <a:headEnd/>
              <a:tailEnd/>
            </a:ln>
            <a:effectLst>
              <a:outerShdw blurRad="50800" dist="12700" dir="5400000" algn="t" rotWithShape="0">
                <a:schemeClr val="accent5">
                  <a:alpha val="40000"/>
                </a:schemeClr>
              </a:outerShdw>
            </a:effectLst>
          </p:spPr>
          <p:txBody>
            <a:bodyPr wrap="square" lIns="88900" tIns="144000" rIns="88900" bIns="889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L" sz="1800" b="1" i="0" u="none" strike="noStrike" kern="1200" cap="none" spc="0" normalizeH="0" baseline="0" noProof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2E4C3C5F-E587-AB02-FBB1-2EFBD018DC80}"/>
                </a:ext>
              </a:extLst>
            </p:cNvPr>
            <p:cNvSpPr txBox="1"/>
            <p:nvPr/>
          </p:nvSpPr>
          <p:spPr>
            <a:xfrm>
              <a:off x="6323780" y="1953230"/>
              <a:ext cx="2560321" cy="3345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אתגרים</a:t>
              </a:r>
              <a:endParaRPr kumimoji="0" lang="en-IL" sz="1600" b="1" i="0" u="none" strike="noStrike" kern="1200" cap="none" spc="0" normalizeH="0" baseline="0" noProof="0" dirty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" name="תיבת טקסט 16">
              <a:extLst>
                <a:ext uri="{FF2B5EF4-FFF2-40B4-BE49-F238E27FC236}">
                  <a16:creationId xmlns:a16="http://schemas.microsoft.com/office/drawing/2014/main" id="{184FB2E6-1554-C629-6193-EFF1E31D82D4}"/>
                </a:ext>
              </a:extLst>
            </p:cNvPr>
            <p:cNvSpPr txBox="1"/>
            <p:nvPr/>
          </p:nvSpPr>
          <p:spPr>
            <a:xfrm>
              <a:off x="6402738" y="2591233"/>
              <a:ext cx="2391914" cy="256993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שירותים </a:t>
              </a:r>
              <a:r>
                <a:rPr kumimoji="0" lang="he-IL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לאוכלוסייה </a:t>
              </a:r>
              <a:r>
                <a:rPr kumimoji="0" lang="he-IL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אוניברסלית שאינה רשומה במחלקה</a:t>
              </a:r>
            </a:p>
            <a:p>
              <a:pPr algn="ctr">
                <a:spcBef>
                  <a:spcPts val="600"/>
                </a:spcBef>
                <a:spcAft>
                  <a:spcPts val="1200"/>
                </a:spcAft>
                <a:buSzPct val="100000"/>
                <a:defRPr/>
              </a:pPr>
              <a:r>
                <a:rPr lang="he-IL" sz="1400" dirty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מיקוד תשומת הלב הניהולית במקומות בהם קיימים פערים ובעיות.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he-IL" sz="1200" noProof="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ריבוי </a:t>
              </a:r>
              <a:r>
                <a:rPr lang="he-IL" sz="1200" noProof="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גורמים מטפלים: רווחה, ביטוח לאומי, </a:t>
              </a:r>
              <a:r>
                <a:rPr lang="he-IL" sz="1200" noProof="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בריאות, קופ"ח </a:t>
              </a:r>
              <a:r>
                <a:rPr lang="he-IL" sz="1200" noProof="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ועוד</a:t>
              </a:r>
              <a:endParaRPr kumimoji="0" lang="he-IL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he-IL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cxnSp>
          <p:nvCxnSpPr>
            <p:cNvPr id="42" name="מחבר ישר 41">
              <a:extLst>
                <a:ext uri="{FF2B5EF4-FFF2-40B4-BE49-F238E27FC236}">
                  <a16:creationId xmlns:a16="http://schemas.microsoft.com/office/drawing/2014/main" id="{0FE14E85-620E-640F-E522-75A99CEFD9FA}"/>
                </a:ext>
              </a:extLst>
            </p:cNvPr>
            <p:cNvCxnSpPr>
              <a:cxnSpLocks/>
            </p:cNvCxnSpPr>
            <p:nvPr/>
          </p:nvCxnSpPr>
          <p:spPr>
            <a:xfrm>
              <a:off x="7066197" y="3360674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קבוצה 71">
              <a:extLst>
                <a:ext uri="{FF2B5EF4-FFF2-40B4-BE49-F238E27FC236}">
                  <a16:creationId xmlns:a16="http://schemas.microsoft.com/office/drawing/2014/main" id="{1128F73F-543D-DBDA-37E0-0525D54D3D7F}"/>
                </a:ext>
              </a:extLst>
            </p:cNvPr>
            <p:cNvGrpSpPr/>
            <p:nvPr/>
          </p:nvGrpSpPr>
          <p:grpSpPr>
            <a:xfrm>
              <a:off x="7439880" y="4859253"/>
              <a:ext cx="479834" cy="454163"/>
              <a:chOff x="6192645" y="5588918"/>
              <a:chExt cx="751881" cy="752474"/>
            </a:xfrm>
          </p:grpSpPr>
          <p:sp>
            <p:nvSpPr>
              <p:cNvPr id="65" name="גרפיקה 63" descr="זכוכית מגדלת עם מילוי מלא">
                <a:extLst>
                  <a:ext uri="{FF2B5EF4-FFF2-40B4-BE49-F238E27FC236}">
                    <a16:creationId xmlns:a16="http://schemas.microsoft.com/office/drawing/2014/main" id="{F834A437-B288-EC6E-D5CA-4B4DF5D3AB88}"/>
                  </a:ext>
                </a:extLst>
              </p:cNvPr>
              <p:cNvSpPr/>
              <p:nvPr/>
            </p:nvSpPr>
            <p:spPr>
              <a:xfrm>
                <a:off x="6192645" y="5588918"/>
                <a:ext cx="751881" cy="752474"/>
              </a:xfrm>
              <a:custGeom>
                <a:avLst/>
                <a:gdLst>
                  <a:gd name="connsiteX0" fmla="*/ 732473 w 751881"/>
                  <a:gd name="connsiteY0" fmla="*/ 638175 h 752474"/>
                  <a:gd name="connsiteX1" fmla="*/ 613410 w 751881"/>
                  <a:gd name="connsiteY1" fmla="*/ 519112 h 752474"/>
                  <a:gd name="connsiteX2" fmla="*/ 554355 w 751881"/>
                  <a:gd name="connsiteY2" fmla="*/ 501015 h 752474"/>
                  <a:gd name="connsiteX3" fmla="*/ 512445 w 751881"/>
                  <a:gd name="connsiteY3" fmla="*/ 459105 h 752474"/>
                  <a:gd name="connsiteX4" fmla="*/ 571500 w 751881"/>
                  <a:gd name="connsiteY4" fmla="*/ 285750 h 752474"/>
                  <a:gd name="connsiteX5" fmla="*/ 285750 w 751881"/>
                  <a:gd name="connsiteY5" fmla="*/ 0 h 752474"/>
                  <a:gd name="connsiteX6" fmla="*/ 0 w 751881"/>
                  <a:gd name="connsiteY6" fmla="*/ 285750 h 752474"/>
                  <a:gd name="connsiteX7" fmla="*/ 285750 w 751881"/>
                  <a:gd name="connsiteY7" fmla="*/ 571500 h 752474"/>
                  <a:gd name="connsiteX8" fmla="*/ 459105 w 751881"/>
                  <a:gd name="connsiteY8" fmla="*/ 512445 h 752474"/>
                  <a:gd name="connsiteX9" fmla="*/ 501015 w 751881"/>
                  <a:gd name="connsiteY9" fmla="*/ 554355 h 752474"/>
                  <a:gd name="connsiteX10" fmla="*/ 519112 w 751881"/>
                  <a:gd name="connsiteY10" fmla="*/ 613410 h 752474"/>
                  <a:gd name="connsiteX11" fmla="*/ 638175 w 751881"/>
                  <a:gd name="connsiteY11" fmla="*/ 732473 h 752474"/>
                  <a:gd name="connsiteX12" fmla="*/ 685800 w 751881"/>
                  <a:gd name="connsiteY12" fmla="*/ 752475 h 752474"/>
                  <a:gd name="connsiteX13" fmla="*/ 733425 w 751881"/>
                  <a:gd name="connsiteY13" fmla="*/ 732473 h 752474"/>
                  <a:gd name="connsiteX14" fmla="*/ 732473 w 751881"/>
                  <a:gd name="connsiteY14" fmla="*/ 638175 h 752474"/>
                  <a:gd name="connsiteX15" fmla="*/ 284798 w 751881"/>
                  <a:gd name="connsiteY15" fmla="*/ 513398 h 752474"/>
                  <a:gd name="connsiteX16" fmla="*/ 56197 w 751881"/>
                  <a:gd name="connsiteY16" fmla="*/ 284798 h 752474"/>
                  <a:gd name="connsiteX17" fmla="*/ 284798 w 751881"/>
                  <a:gd name="connsiteY17" fmla="*/ 56197 h 752474"/>
                  <a:gd name="connsiteX18" fmla="*/ 513398 w 751881"/>
                  <a:gd name="connsiteY18" fmla="*/ 284798 h 752474"/>
                  <a:gd name="connsiteX19" fmla="*/ 284798 w 751881"/>
                  <a:gd name="connsiteY19" fmla="*/ 513398 h 752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51881" h="752474">
                    <a:moveTo>
                      <a:pt x="732473" y="638175"/>
                    </a:moveTo>
                    <a:lnTo>
                      <a:pt x="613410" y="519112"/>
                    </a:lnTo>
                    <a:cubicBezTo>
                      <a:pt x="597218" y="502920"/>
                      <a:pt x="575310" y="497205"/>
                      <a:pt x="554355" y="501015"/>
                    </a:cubicBezTo>
                    <a:lnTo>
                      <a:pt x="512445" y="459105"/>
                    </a:lnTo>
                    <a:cubicBezTo>
                      <a:pt x="549593" y="411480"/>
                      <a:pt x="571500" y="350520"/>
                      <a:pt x="571500" y="285750"/>
                    </a:cubicBezTo>
                    <a:cubicBezTo>
                      <a:pt x="571500" y="128588"/>
                      <a:pt x="442912" y="0"/>
                      <a:pt x="285750" y="0"/>
                    </a:cubicBezTo>
                    <a:cubicBezTo>
                      <a:pt x="128588" y="0"/>
                      <a:pt x="0" y="128588"/>
                      <a:pt x="0" y="285750"/>
                    </a:cubicBezTo>
                    <a:cubicBezTo>
                      <a:pt x="0" y="442912"/>
                      <a:pt x="128588" y="571500"/>
                      <a:pt x="285750" y="571500"/>
                    </a:cubicBezTo>
                    <a:cubicBezTo>
                      <a:pt x="350520" y="571500"/>
                      <a:pt x="410528" y="549593"/>
                      <a:pt x="459105" y="512445"/>
                    </a:cubicBezTo>
                    <a:lnTo>
                      <a:pt x="501015" y="554355"/>
                    </a:lnTo>
                    <a:cubicBezTo>
                      <a:pt x="497205" y="575310"/>
                      <a:pt x="502920" y="597218"/>
                      <a:pt x="519112" y="613410"/>
                    </a:cubicBezTo>
                    <a:lnTo>
                      <a:pt x="638175" y="732473"/>
                    </a:lnTo>
                    <a:cubicBezTo>
                      <a:pt x="651510" y="745808"/>
                      <a:pt x="668655" y="752475"/>
                      <a:pt x="685800" y="752475"/>
                    </a:cubicBezTo>
                    <a:cubicBezTo>
                      <a:pt x="702945" y="752475"/>
                      <a:pt x="720090" y="745808"/>
                      <a:pt x="733425" y="732473"/>
                    </a:cubicBezTo>
                    <a:cubicBezTo>
                      <a:pt x="758190" y="705802"/>
                      <a:pt x="758190" y="663893"/>
                      <a:pt x="732473" y="638175"/>
                    </a:cubicBezTo>
                    <a:close/>
                    <a:moveTo>
                      <a:pt x="284798" y="513398"/>
                    </a:moveTo>
                    <a:cubicBezTo>
                      <a:pt x="159067" y="513398"/>
                      <a:pt x="56197" y="410528"/>
                      <a:pt x="56197" y="284798"/>
                    </a:cubicBezTo>
                    <a:cubicBezTo>
                      <a:pt x="56197" y="159067"/>
                      <a:pt x="159067" y="56197"/>
                      <a:pt x="284798" y="56197"/>
                    </a:cubicBezTo>
                    <a:cubicBezTo>
                      <a:pt x="410528" y="56197"/>
                      <a:pt x="513398" y="159067"/>
                      <a:pt x="513398" y="284798"/>
                    </a:cubicBezTo>
                    <a:cubicBezTo>
                      <a:pt x="513398" y="410528"/>
                      <a:pt x="410528" y="513398"/>
                      <a:pt x="284798" y="513398"/>
                    </a:cubicBezTo>
                    <a:close/>
                  </a:path>
                </a:pathLst>
              </a:custGeom>
              <a:gradFill>
                <a:gsLst>
                  <a:gs pos="22000">
                    <a:schemeClr val="accent1"/>
                  </a:gs>
                  <a:gs pos="75000">
                    <a:schemeClr val="accent4"/>
                  </a:gs>
                  <a:gs pos="100000">
                    <a:schemeClr val="accent5"/>
                  </a:gs>
                </a:gsLst>
                <a:lin ang="8100000" scaled="0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grpSp>
            <p:nvGrpSpPr>
              <p:cNvPr id="66" name="קבוצה 65">
                <a:extLst>
                  <a:ext uri="{FF2B5EF4-FFF2-40B4-BE49-F238E27FC236}">
                    <a16:creationId xmlns:a16="http://schemas.microsoft.com/office/drawing/2014/main" id="{02132F0A-F5F6-8756-B0E8-0ED02F4BBFE0}"/>
                  </a:ext>
                </a:extLst>
              </p:cNvPr>
              <p:cNvGrpSpPr/>
              <p:nvPr/>
            </p:nvGrpSpPr>
            <p:grpSpPr>
              <a:xfrm>
                <a:off x="6345201" y="5764809"/>
                <a:ext cx="246100" cy="226416"/>
                <a:chOff x="6353837" y="5437053"/>
                <a:chExt cx="657225" cy="670656"/>
              </a:xfrm>
            </p:grpSpPr>
            <p:sp>
              <p:nvSpPr>
                <p:cNvPr id="67" name="צורה חופשית: צורה 66">
                  <a:extLst>
                    <a:ext uri="{FF2B5EF4-FFF2-40B4-BE49-F238E27FC236}">
                      <a16:creationId xmlns:a16="http://schemas.microsoft.com/office/drawing/2014/main" id="{9D9B06CB-CF79-B5EB-E8EC-40276A92C464}"/>
                    </a:ext>
                  </a:extLst>
                </p:cNvPr>
                <p:cNvSpPr/>
                <p:nvPr/>
              </p:nvSpPr>
              <p:spPr>
                <a:xfrm flipH="1">
                  <a:off x="6353837" y="5440959"/>
                  <a:ext cx="657225" cy="666750"/>
                </a:xfrm>
                <a:custGeom>
                  <a:avLst/>
                  <a:gdLst>
                    <a:gd name="connsiteX0" fmla="*/ 600075 w 657225"/>
                    <a:gd name="connsiteY0" fmla="*/ 609600 h 666750"/>
                    <a:gd name="connsiteX1" fmla="*/ 0 w 657225"/>
                    <a:gd name="connsiteY1" fmla="*/ 609600 h 666750"/>
                    <a:gd name="connsiteX2" fmla="*/ 0 w 657225"/>
                    <a:gd name="connsiteY2" fmla="*/ 666750 h 666750"/>
                    <a:gd name="connsiteX3" fmla="*/ 657225 w 657225"/>
                    <a:gd name="connsiteY3" fmla="*/ 666750 h 666750"/>
                    <a:gd name="connsiteX4" fmla="*/ 657225 w 657225"/>
                    <a:gd name="connsiteY4" fmla="*/ 0 h 666750"/>
                    <a:gd name="connsiteX5" fmla="*/ 600075 w 657225"/>
                    <a:gd name="connsiteY5" fmla="*/ 0 h 666750"/>
                    <a:gd name="connsiteX6" fmla="*/ 600075 w 657225"/>
                    <a:gd name="connsiteY6" fmla="*/ 609600 h 666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57225" h="666750">
                      <a:moveTo>
                        <a:pt x="600075" y="609600"/>
                      </a:moveTo>
                      <a:lnTo>
                        <a:pt x="0" y="609600"/>
                      </a:lnTo>
                      <a:lnTo>
                        <a:pt x="0" y="666750"/>
                      </a:lnTo>
                      <a:lnTo>
                        <a:pt x="657225" y="666750"/>
                      </a:lnTo>
                      <a:lnTo>
                        <a:pt x="657225" y="0"/>
                      </a:lnTo>
                      <a:lnTo>
                        <a:pt x="600075" y="0"/>
                      </a:lnTo>
                      <a:lnTo>
                        <a:pt x="600075" y="60960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8" name="צורה חופשית: צורה 67">
                  <a:extLst>
                    <a:ext uri="{FF2B5EF4-FFF2-40B4-BE49-F238E27FC236}">
                      <a16:creationId xmlns:a16="http://schemas.microsoft.com/office/drawing/2014/main" id="{6FAD90C5-0E06-4C8F-4076-310AF38B43A7}"/>
                    </a:ext>
                  </a:extLst>
                </p:cNvPr>
                <p:cNvSpPr/>
                <p:nvPr/>
              </p:nvSpPr>
              <p:spPr>
                <a:xfrm flipH="1">
                  <a:off x="6468137" y="5440959"/>
                  <a:ext cx="142875" cy="552450"/>
                </a:xfrm>
                <a:custGeom>
                  <a:avLst/>
                  <a:gdLst>
                    <a:gd name="connsiteX0" fmla="*/ 0 w 142875"/>
                    <a:gd name="connsiteY0" fmla="*/ 0 h 552450"/>
                    <a:gd name="connsiteX1" fmla="*/ 142875 w 142875"/>
                    <a:gd name="connsiteY1" fmla="*/ 0 h 552450"/>
                    <a:gd name="connsiteX2" fmla="*/ 142875 w 142875"/>
                    <a:gd name="connsiteY2" fmla="*/ 552450 h 552450"/>
                    <a:gd name="connsiteX3" fmla="*/ 0 w 142875"/>
                    <a:gd name="connsiteY3" fmla="*/ 552450 h 552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5" h="55245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552450"/>
                      </a:lnTo>
                      <a:lnTo>
                        <a:pt x="0" y="55245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9" name="צורה חופשית: צורה 68">
                  <a:extLst>
                    <a:ext uri="{FF2B5EF4-FFF2-40B4-BE49-F238E27FC236}">
                      <a16:creationId xmlns:a16="http://schemas.microsoft.com/office/drawing/2014/main" id="{206999D6-82CC-ABE0-98AF-9B2EC95AB434}"/>
                    </a:ext>
                  </a:extLst>
                </p:cNvPr>
                <p:cNvSpPr/>
                <p:nvPr/>
              </p:nvSpPr>
              <p:spPr>
                <a:xfrm flipH="1">
                  <a:off x="6668162" y="5631459"/>
                  <a:ext cx="142875" cy="361950"/>
                </a:xfrm>
                <a:custGeom>
                  <a:avLst/>
                  <a:gdLst>
                    <a:gd name="connsiteX0" fmla="*/ 0 w 142875"/>
                    <a:gd name="connsiteY0" fmla="*/ 0 h 361950"/>
                    <a:gd name="connsiteX1" fmla="*/ 142875 w 142875"/>
                    <a:gd name="connsiteY1" fmla="*/ 0 h 361950"/>
                    <a:gd name="connsiteX2" fmla="*/ 142875 w 142875"/>
                    <a:gd name="connsiteY2" fmla="*/ 361950 h 361950"/>
                    <a:gd name="connsiteX3" fmla="*/ 0 w 142875"/>
                    <a:gd name="connsiteY3" fmla="*/ 361950 h 361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5" h="36195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361950"/>
                      </a:lnTo>
                      <a:lnTo>
                        <a:pt x="0" y="36195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0" name="צורה חופשית: צורה 69">
                  <a:extLst>
                    <a:ext uri="{FF2B5EF4-FFF2-40B4-BE49-F238E27FC236}">
                      <a16:creationId xmlns:a16="http://schemas.microsoft.com/office/drawing/2014/main" id="{C03E0771-5CB4-F67E-CE0E-1DB7CAFDEE3C}"/>
                    </a:ext>
                  </a:extLst>
                </p:cNvPr>
                <p:cNvSpPr/>
                <p:nvPr/>
              </p:nvSpPr>
              <p:spPr>
                <a:xfrm flipH="1">
                  <a:off x="6868187" y="5802909"/>
                  <a:ext cx="142875" cy="190500"/>
                </a:xfrm>
                <a:custGeom>
                  <a:avLst/>
                  <a:gdLst>
                    <a:gd name="connsiteX0" fmla="*/ 0 w 142875"/>
                    <a:gd name="connsiteY0" fmla="*/ 0 h 190500"/>
                    <a:gd name="connsiteX1" fmla="*/ 142875 w 142875"/>
                    <a:gd name="connsiteY1" fmla="*/ 0 h 190500"/>
                    <a:gd name="connsiteX2" fmla="*/ 142875 w 142875"/>
                    <a:gd name="connsiteY2" fmla="*/ 190500 h 190500"/>
                    <a:gd name="connsiteX3" fmla="*/ 0 w 142875"/>
                    <a:gd name="connsiteY3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5" h="19050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1" name="צורה חופשית: צורה 70">
                  <a:extLst>
                    <a:ext uri="{FF2B5EF4-FFF2-40B4-BE49-F238E27FC236}">
                      <a16:creationId xmlns:a16="http://schemas.microsoft.com/office/drawing/2014/main" id="{E89B817A-8C9F-09FB-2D63-AEF54D5FF00F}"/>
                    </a:ext>
                  </a:extLst>
                </p:cNvPr>
                <p:cNvSpPr/>
                <p:nvPr/>
              </p:nvSpPr>
              <p:spPr>
                <a:xfrm flipH="1">
                  <a:off x="6692832" y="5437053"/>
                  <a:ext cx="308705" cy="308705"/>
                </a:xfrm>
                <a:custGeom>
                  <a:avLst/>
                  <a:gdLst>
                    <a:gd name="connsiteX0" fmla="*/ 0 w 308705"/>
                    <a:gd name="connsiteY0" fmla="*/ 177832 h 308705"/>
                    <a:gd name="connsiteX1" fmla="*/ 0 w 308705"/>
                    <a:gd name="connsiteY1" fmla="*/ 308705 h 308705"/>
                    <a:gd name="connsiteX2" fmla="*/ 130874 w 308705"/>
                    <a:gd name="connsiteY2" fmla="*/ 308705 h 308705"/>
                    <a:gd name="connsiteX3" fmla="*/ 78867 w 308705"/>
                    <a:gd name="connsiteY3" fmla="*/ 256699 h 308705"/>
                    <a:gd name="connsiteX4" fmla="*/ 308705 w 308705"/>
                    <a:gd name="connsiteY4" fmla="*/ 26860 h 308705"/>
                    <a:gd name="connsiteX5" fmla="*/ 281845 w 308705"/>
                    <a:gd name="connsiteY5" fmla="*/ 0 h 308705"/>
                    <a:gd name="connsiteX6" fmla="*/ 52006 w 308705"/>
                    <a:gd name="connsiteY6" fmla="*/ 229838 h 308705"/>
                    <a:gd name="connsiteX7" fmla="*/ 0 w 308705"/>
                    <a:gd name="connsiteY7" fmla="*/ 177832 h 308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8705" h="308705">
                      <a:moveTo>
                        <a:pt x="0" y="177832"/>
                      </a:moveTo>
                      <a:lnTo>
                        <a:pt x="0" y="308705"/>
                      </a:lnTo>
                      <a:lnTo>
                        <a:pt x="130874" y="308705"/>
                      </a:lnTo>
                      <a:lnTo>
                        <a:pt x="78867" y="256699"/>
                      </a:lnTo>
                      <a:lnTo>
                        <a:pt x="308705" y="26860"/>
                      </a:lnTo>
                      <a:lnTo>
                        <a:pt x="281845" y="0"/>
                      </a:lnTo>
                      <a:lnTo>
                        <a:pt x="52006" y="229838"/>
                      </a:lnTo>
                      <a:lnTo>
                        <a:pt x="0" y="177832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</p:grpSp>
        </p:grpSp>
      </p:grpSp>
      <p:grpSp>
        <p:nvGrpSpPr>
          <p:cNvPr id="39" name="קבוצה 38">
            <a:extLst>
              <a:ext uri="{FF2B5EF4-FFF2-40B4-BE49-F238E27FC236}">
                <a16:creationId xmlns:a16="http://schemas.microsoft.com/office/drawing/2014/main" id="{2EF4C54A-396E-7DCD-DBDE-1FD02A8A41A9}"/>
              </a:ext>
            </a:extLst>
          </p:cNvPr>
          <p:cNvGrpSpPr/>
          <p:nvPr/>
        </p:nvGrpSpPr>
        <p:grpSpPr>
          <a:xfrm>
            <a:off x="3364949" y="1672163"/>
            <a:ext cx="2560320" cy="3822192"/>
            <a:chOff x="3600336" y="1672163"/>
            <a:chExt cx="2560320" cy="3822192"/>
          </a:xfrm>
        </p:grpSpPr>
        <p:sp>
          <p:nvSpPr>
            <p:cNvPr id="25" name="Rectangle: Rounded Corners 2">
              <a:extLst>
                <a:ext uri="{FF2B5EF4-FFF2-40B4-BE49-F238E27FC236}">
                  <a16:creationId xmlns:a16="http://schemas.microsoft.com/office/drawing/2014/main" id="{D1D44744-D3C2-0B6E-1F4C-AB2BE33C22B6}"/>
                </a:ext>
              </a:extLst>
            </p:cNvPr>
            <p:cNvSpPr/>
            <p:nvPr/>
          </p:nvSpPr>
          <p:spPr bwMode="gray">
            <a:xfrm>
              <a:off x="3600336" y="1672163"/>
              <a:ext cx="2560320" cy="3822192"/>
            </a:xfrm>
            <a:prstGeom prst="roundRect">
              <a:avLst>
                <a:gd name="adj" fmla="val 497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2"/>
                </a:gs>
              </a:gsLst>
              <a:lin ang="18900000" scaled="0"/>
              <a:tileRect/>
            </a:gradFill>
            <a:ln w="19050" algn="ctr">
              <a:noFill/>
              <a:miter lim="800000"/>
              <a:headEnd/>
              <a:tailEnd/>
            </a:ln>
            <a:effectLst>
              <a:outerShdw blurRad="50800" dist="12700" dir="5400000" algn="t" rotWithShape="0">
                <a:schemeClr val="accent5">
                  <a:alpha val="40000"/>
                </a:schemeClr>
              </a:outerShdw>
            </a:effectLst>
          </p:spPr>
          <p:txBody>
            <a:bodyPr wrap="square" lIns="88900" tIns="144000" rIns="88900" bIns="889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L" sz="1800" b="1" i="0" u="none" strike="noStrike" kern="1200" cap="none" spc="0" normalizeH="0" baseline="0" noProof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D21CDD26-4117-2582-5C72-C665C4FCB596}"/>
                </a:ext>
              </a:extLst>
            </p:cNvPr>
            <p:cNvSpPr txBox="1"/>
            <p:nvPr/>
          </p:nvSpPr>
          <p:spPr>
            <a:xfrm>
              <a:off x="3640806" y="1953230"/>
              <a:ext cx="2360509" cy="3345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rtl="0">
                <a:lnSpc>
                  <a:spcPct val="106000"/>
                </a:lnSpc>
                <a:defRPr/>
              </a:pPr>
              <a:r>
                <a:rPr lang="he-IL" sz="1600" b="1" dirty="0">
                  <a:solidFill>
                    <a:srgbClr val="3E8F8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מיקוד המאמץ</a:t>
              </a:r>
              <a:endParaRPr lang="en-IL" sz="1600" b="1" dirty="0">
                <a:solidFill>
                  <a:srgbClr val="3E8F8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תיבת טקסט 17">
              <a:extLst>
                <a:ext uri="{FF2B5EF4-FFF2-40B4-BE49-F238E27FC236}">
                  <a16:creationId xmlns:a16="http://schemas.microsoft.com/office/drawing/2014/main" id="{CA498395-428E-DF27-2B7A-9F2F04E4F5BC}"/>
                </a:ext>
              </a:extLst>
            </p:cNvPr>
            <p:cNvSpPr txBox="1"/>
            <p:nvPr/>
          </p:nvSpPr>
          <p:spPr>
            <a:xfrm>
              <a:off x="3676272" y="2252678"/>
              <a:ext cx="2231136" cy="24314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Bef>
                  <a:spcPts val="600"/>
                </a:spcBef>
                <a:spcAft>
                  <a:spcPts val="1200"/>
                </a:spcAft>
                <a:buSzPct val="100000"/>
                <a:defRPr/>
              </a:pPr>
              <a:r>
                <a:rPr lang="he-IL" sz="1400" dirty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השגת </a:t>
              </a:r>
              <a:r>
                <a:rPr lang="he-IL" sz="1400" dirty="0" err="1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והנגשת</a:t>
              </a:r>
              <a:r>
                <a:rPr lang="he-IL" sz="1400" dirty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מידע ממקורות משלימים:</a:t>
              </a:r>
            </a:p>
            <a:p>
              <a:pPr marL="285750" lvl="0" indent="-285750">
                <a:spcBef>
                  <a:spcPts val="600"/>
                </a:spcBef>
                <a:spcAft>
                  <a:spcPts val="1200"/>
                </a:spcAft>
                <a:buSzPct val="100000"/>
                <a:buFontTx/>
                <a:buChar char="-"/>
                <a:defRPr/>
              </a:pPr>
              <a:r>
                <a:rPr lang="he-IL" sz="140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למ"ס, מרשם אוכלוסין</a:t>
              </a:r>
              <a:endParaRPr lang="he-IL" sz="1400" dirty="0">
                <a:solidFill>
                  <a:srgbClr val="31313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85750" lvl="0" indent="-285750">
                <a:spcBef>
                  <a:spcPts val="600"/>
                </a:spcBef>
                <a:spcAft>
                  <a:spcPts val="1200"/>
                </a:spcAft>
                <a:buSzPct val="100000"/>
                <a:buFontTx/>
                <a:buChar char="-"/>
                <a:defRPr/>
              </a:pPr>
              <a:r>
                <a:rPr lang="he-IL" sz="1400" dirty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ביטוח לאומי</a:t>
              </a:r>
            </a:p>
            <a:p>
              <a:pPr marL="285750" lvl="0" indent="-285750">
                <a:spcBef>
                  <a:spcPts val="600"/>
                </a:spcBef>
                <a:spcAft>
                  <a:spcPts val="1200"/>
                </a:spcAft>
                <a:buSzPct val="100000"/>
                <a:buFontTx/>
                <a:buChar char="-"/>
                <a:defRPr/>
              </a:pPr>
              <a:r>
                <a:rPr lang="he-IL" sz="1400" dirty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הרשות </a:t>
              </a:r>
              <a:r>
                <a:rPr lang="he-IL" sz="1400" dirty="0" err="1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לנצל"ש</a:t>
              </a:r>
              <a:r>
                <a:rPr lang="he-IL" sz="140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, רוה"מ</a:t>
              </a:r>
              <a:endParaRPr lang="he-IL" sz="1400" dirty="0">
                <a:solidFill>
                  <a:srgbClr val="31313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he-IL" sz="1400" dirty="0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בניית כלים והטמעתם </a:t>
              </a:r>
              <a:r>
                <a:rPr lang="he-IL" sz="1400" dirty="0" err="1" smtClean="0">
                  <a:solidFill>
                    <a:srgbClr val="31313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במינהל</a:t>
              </a:r>
              <a:endPara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grpSp>
          <p:nvGrpSpPr>
            <p:cNvPr id="49" name="Graphic 23" descr="Decision chart outline">
              <a:extLst>
                <a:ext uri="{FF2B5EF4-FFF2-40B4-BE49-F238E27FC236}">
                  <a16:creationId xmlns:a16="http://schemas.microsoft.com/office/drawing/2014/main" id="{3EE078E8-8880-14E2-C51F-28E1B0E86A2A}"/>
                </a:ext>
              </a:extLst>
            </p:cNvPr>
            <p:cNvGrpSpPr/>
            <p:nvPr/>
          </p:nvGrpSpPr>
          <p:grpSpPr>
            <a:xfrm>
              <a:off x="4580282" y="4727228"/>
              <a:ext cx="481555" cy="591386"/>
              <a:chOff x="6034030" y="5742781"/>
              <a:chExt cx="784225" cy="846137"/>
            </a:xfrm>
            <a:gradFill>
              <a:gsLst>
                <a:gs pos="22000">
                  <a:schemeClr val="accent1"/>
                </a:gs>
                <a:gs pos="75000">
                  <a:schemeClr val="accent4"/>
                </a:gs>
                <a:gs pos="100000">
                  <a:schemeClr val="accent5"/>
                </a:gs>
              </a:gsLst>
              <a:lin ang="8100000" scaled="0"/>
            </a:gradFill>
          </p:grpSpPr>
          <p:sp>
            <p:nvSpPr>
              <p:cNvPr id="50" name="צורה חופשית: צורה 49">
                <a:extLst>
                  <a:ext uri="{FF2B5EF4-FFF2-40B4-BE49-F238E27FC236}">
                    <a16:creationId xmlns:a16="http://schemas.microsoft.com/office/drawing/2014/main" id="{F6D30FEA-CDAD-1969-0114-0578D479073F}"/>
                  </a:ext>
                </a:extLst>
              </p:cNvPr>
              <p:cNvSpPr/>
              <p:nvPr/>
            </p:nvSpPr>
            <p:spPr>
              <a:xfrm>
                <a:off x="6034030" y="6444456"/>
                <a:ext cx="288925" cy="144462"/>
              </a:xfrm>
              <a:custGeom>
                <a:avLst/>
                <a:gdLst>
                  <a:gd name="connsiteX0" fmla="*/ 0 w 288925"/>
                  <a:gd name="connsiteY0" fmla="*/ 144463 h 144462"/>
                  <a:gd name="connsiteX1" fmla="*/ 288925 w 288925"/>
                  <a:gd name="connsiteY1" fmla="*/ 144463 h 144462"/>
                  <a:gd name="connsiteX2" fmla="*/ 288925 w 288925"/>
                  <a:gd name="connsiteY2" fmla="*/ 0 h 144462"/>
                  <a:gd name="connsiteX3" fmla="*/ 0 w 288925"/>
                  <a:gd name="connsiteY3" fmla="*/ 0 h 144462"/>
                  <a:gd name="connsiteX4" fmla="*/ 20638 w 288925"/>
                  <a:gd name="connsiteY4" fmla="*/ 20638 h 144462"/>
                  <a:gd name="connsiteX5" fmla="*/ 268288 w 288925"/>
                  <a:gd name="connsiteY5" fmla="*/ 20638 h 144462"/>
                  <a:gd name="connsiteX6" fmla="*/ 268288 w 288925"/>
                  <a:gd name="connsiteY6" fmla="*/ 123825 h 144462"/>
                  <a:gd name="connsiteX7" fmla="*/ 20638 w 288925"/>
                  <a:gd name="connsiteY7" fmla="*/ 123825 h 144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8925" h="144462">
                    <a:moveTo>
                      <a:pt x="0" y="144463"/>
                    </a:moveTo>
                    <a:lnTo>
                      <a:pt x="288925" y="144463"/>
                    </a:lnTo>
                    <a:lnTo>
                      <a:pt x="288925" y="0"/>
                    </a:lnTo>
                    <a:lnTo>
                      <a:pt x="0" y="0"/>
                    </a:lnTo>
                    <a:close/>
                    <a:moveTo>
                      <a:pt x="20638" y="20638"/>
                    </a:moveTo>
                    <a:lnTo>
                      <a:pt x="268288" y="20638"/>
                    </a:lnTo>
                    <a:lnTo>
                      <a:pt x="268288" y="123825"/>
                    </a:lnTo>
                    <a:lnTo>
                      <a:pt x="20638" y="123825"/>
                    </a:lnTo>
                    <a:close/>
                  </a:path>
                </a:pathLst>
              </a:custGeom>
              <a:grpFill/>
              <a:ln w="19050" cap="flat"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1" name="צורה חופשית: צורה 50">
                <a:extLst>
                  <a:ext uri="{FF2B5EF4-FFF2-40B4-BE49-F238E27FC236}">
                    <a16:creationId xmlns:a16="http://schemas.microsoft.com/office/drawing/2014/main" id="{96018293-D616-EBB1-3E4F-F21B6C945F38}"/>
                  </a:ext>
                </a:extLst>
              </p:cNvPr>
              <p:cNvSpPr/>
              <p:nvPr/>
            </p:nvSpPr>
            <p:spPr>
              <a:xfrm>
                <a:off x="6529330" y="6444456"/>
                <a:ext cx="288925" cy="144462"/>
              </a:xfrm>
              <a:custGeom>
                <a:avLst/>
                <a:gdLst>
                  <a:gd name="connsiteX0" fmla="*/ 0 w 288925"/>
                  <a:gd name="connsiteY0" fmla="*/ 0 h 144462"/>
                  <a:gd name="connsiteX1" fmla="*/ 0 w 288925"/>
                  <a:gd name="connsiteY1" fmla="*/ 144463 h 144462"/>
                  <a:gd name="connsiteX2" fmla="*/ 288925 w 288925"/>
                  <a:gd name="connsiteY2" fmla="*/ 144463 h 144462"/>
                  <a:gd name="connsiteX3" fmla="*/ 288925 w 288925"/>
                  <a:gd name="connsiteY3" fmla="*/ 0 h 144462"/>
                  <a:gd name="connsiteX4" fmla="*/ 268288 w 288925"/>
                  <a:gd name="connsiteY4" fmla="*/ 123825 h 144462"/>
                  <a:gd name="connsiteX5" fmla="*/ 20638 w 288925"/>
                  <a:gd name="connsiteY5" fmla="*/ 123825 h 144462"/>
                  <a:gd name="connsiteX6" fmla="*/ 20638 w 288925"/>
                  <a:gd name="connsiteY6" fmla="*/ 20638 h 144462"/>
                  <a:gd name="connsiteX7" fmla="*/ 268288 w 288925"/>
                  <a:gd name="connsiteY7" fmla="*/ 20638 h 144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8925" h="144462">
                    <a:moveTo>
                      <a:pt x="0" y="0"/>
                    </a:moveTo>
                    <a:lnTo>
                      <a:pt x="0" y="144463"/>
                    </a:lnTo>
                    <a:lnTo>
                      <a:pt x="288925" y="144463"/>
                    </a:lnTo>
                    <a:lnTo>
                      <a:pt x="288925" y="0"/>
                    </a:lnTo>
                    <a:close/>
                    <a:moveTo>
                      <a:pt x="268288" y="123825"/>
                    </a:moveTo>
                    <a:lnTo>
                      <a:pt x="20638" y="123825"/>
                    </a:lnTo>
                    <a:lnTo>
                      <a:pt x="20638" y="20638"/>
                    </a:lnTo>
                    <a:lnTo>
                      <a:pt x="268288" y="20638"/>
                    </a:lnTo>
                    <a:close/>
                  </a:path>
                </a:pathLst>
              </a:custGeom>
              <a:grpFill/>
              <a:ln w="19050" cap="flat"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2" name="צורה חופשית: צורה 51">
                <a:extLst>
                  <a:ext uri="{FF2B5EF4-FFF2-40B4-BE49-F238E27FC236}">
                    <a16:creationId xmlns:a16="http://schemas.microsoft.com/office/drawing/2014/main" id="{81BBFE91-9F85-C734-E650-ED6F5EED6217}"/>
                  </a:ext>
                </a:extLst>
              </p:cNvPr>
              <p:cNvSpPr/>
              <p:nvPr/>
            </p:nvSpPr>
            <p:spPr>
              <a:xfrm>
                <a:off x="6106388" y="6089346"/>
                <a:ext cx="639509" cy="334469"/>
              </a:xfrm>
              <a:custGeom>
                <a:avLst/>
                <a:gdLst>
                  <a:gd name="connsiteX0" fmla="*/ 416895 w 639509"/>
                  <a:gd name="connsiteY0" fmla="*/ 117778 h 334469"/>
                  <a:gd name="connsiteX1" fmla="*/ 557086 w 639509"/>
                  <a:gd name="connsiteY1" fmla="*/ 117778 h 334469"/>
                  <a:gd name="connsiteX2" fmla="*/ 557086 w 639509"/>
                  <a:gd name="connsiteY2" fmla="*/ 298996 h 334469"/>
                  <a:gd name="connsiteX3" fmla="*/ 556910 w 639509"/>
                  <a:gd name="connsiteY3" fmla="*/ 299068 h 334469"/>
                  <a:gd name="connsiteX4" fmla="*/ 512787 w 639509"/>
                  <a:gd name="connsiteY4" fmla="*/ 254945 h 334469"/>
                  <a:gd name="connsiteX5" fmla="*/ 498197 w 639509"/>
                  <a:gd name="connsiteY5" fmla="*/ 255199 h 334469"/>
                  <a:gd name="connsiteX6" fmla="*/ 498197 w 639509"/>
                  <a:gd name="connsiteY6" fmla="*/ 269536 h 334469"/>
                  <a:gd name="connsiteX7" fmla="*/ 560109 w 639509"/>
                  <a:gd name="connsiteY7" fmla="*/ 331449 h 334469"/>
                  <a:gd name="connsiteX8" fmla="*/ 574700 w 639509"/>
                  <a:gd name="connsiteY8" fmla="*/ 331449 h 334469"/>
                  <a:gd name="connsiteX9" fmla="*/ 636612 w 639509"/>
                  <a:gd name="connsiteY9" fmla="*/ 269536 h 334469"/>
                  <a:gd name="connsiteX10" fmla="*/ 636359 w 639509"/>
                  <a:gd name="connsiteY10" fmla="*/ 254945 h 334469"/>
                  <a:gd name="connsiteX11" fmla="*/ 622022 w 639509"/>
                  <a:gd name="connsiteY11" fmla="*/ 254945 h 334469"/>
                  <a:gd name="connsiteX12" fmla="*/ 577899 w 639509"/>
                  <a:gd name="connsiteY12" fmla="*/ 299068 h 334469"/>
                  <a:gd name="connsiteX13" fmla="*/ 577723 w 639509"/>
                  <a:gd name="connsiteY13" fmla="*/ 298996 h 334469"/>
                  <a:gd name="connsiteX14" fmla="*/ 577723 w 639509"/>
                  <a:gd name="connsiteY14" fmla="*/ 97141 h 334469"/>
                  <a:gd name="connsiteX15" fmla="*/ 416895 w 639509"/>
                  <a:gd name="connsiteY15" fmla="*/ 97141 h 334469"/>
                  <a:gd name="connsiteX16" fmla="*/ 319755 w 639509"/>
                  <a:gd name="connsiteY16" fmla="*/ 0 h 334469"/>
                  <a:gd name="connsiteX17" fmla="*/ 222614 w 639509"/>
                  <a:gd name="connsiteY17" fmla="*/ 97141 h 334469"/>
                  <a:gd name="connsiteX18" fmla="*/ 61786 w 639509"/>
                  <a:gd name="connsiteY18" fmla="*/ 97141 h 334469"/>
                  <a:gd name="connsiteX19" fmla="*/ 61786 w 639509"/>
                  <a:gd name="connsiteY19" fmla="*/ 298996 h 334469"/>
                  <a:gd name="connsiteX20" fmla="*/ 61610 w 639509"/>
                  <a:gd name="connsiteY20" fmla="*/ 299068 h 334469"/>
                  <a:gd name="connsiteX21" fmla="*/ 17487 w 639509"/>
                  <a:gd name="connsiteY21" fmla="*/ 254945 h 334469"/>
                  <a:gd name="connsiteX22" fmla="*/ 2897 w 639509"/>
                  <a:gd name="connsiteY22" fmla="*/ 255199 h 334469"/>
                  <a:gd name="connsiteX23" fmla="*/ 2897 w 639509"/>
                  <a:gd name="connsiteY23" fmla="*/ 269536 h 334469"/>
                  <a:gd name="connsiteX24" fmla="*/ 64809 w 639509"/>
                  <a:gd name="connsiteY24" fmla="*/ 331449 h 334469"/>
                  <a:gd name="connsiteX25" fmla="*/ 79400 w 639509"/>
                  <a:gd name="connsiteY25" fmla="*/ 331449 h 334469"/>
                  <a:gd name="connsiteX26" fmla="*/ 141312 w 639509"/>
                  <a:gd name="connsiteY26" fmla="*/ 269536 h 334469"/>
                  <a:gd name="connsiteX27" fmla="*/ 141566 w 639509"/>
                  <a:gd name="connsiteY27" fmla="*/ 254945 h 334469"/>
                  <a:gd name="connsiteX28" fmla="*/ 126976 w 639509"/>
                  <a:gd name="connsiteY28" fmla="*/ 254692 h 334469"/>
                  <a:gd name="connsiteX29" fmla="*/ 126722 w 639509"/>
                  <a:gd name="connsiteY29" fmla="*/ 254945 h 334469"/>
                  <a:gd name="connsiteX30" fmla="*/ 82599 w 639509"/>
                  <a:gd name="connsiteY30" fmla="*/ 299068 h 334469"/>
                  <a:gd name="connsiteX31" fmla="*/ 82423 w 639509"/>
                  <a:gd name="connsiteY31" fmla="*/ 298996 h 334469"/>
                  <a:gd name="connsiteX32" fmla="*/ 82423 w 639509"/>
                  <a:gd name="connsiteY32" fmla="*/ 117778 h 334469"/>
                  <a:gd name="connsiteX33" fmla="*/ 222614 w 639509"/>
                  <a:gd name="connsiteY33" fmla="*/ 117778 h 334469"/>
                  <a:gd name="connsiteX34" fmla="*/ 319755 w 639509"/>
                  <a:gd name="connsiteY34" fmla="*/ 214919 h 334469"/>
                  <a:gd name="connsiteX35" fmla="*/ 319755 w 639509"/>
                  <a:gd name="connsiteY35" fmla="*/ 29181 h 334469"/>
                  <a:gd name="connsiteX36" fmla="*/ 398033 w 639509"/>
                  <a:gd name="connsiteY36" fmla="*/ 107459 h 334469"/>
                  <a:gd name="connsiteX37" fmla="*/ 319755 w 639509"/>
                  <a:gd name="connsiteY37" fmla="*/ 185738 h 334469"/>
                  <a:gd name="connsiteX38" fmla="*/ 241477 w 639509"/>
                  <a:gd name="connsiteY38" fmla="*/ 107459 h 334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39509" h="334469">
                    <a:moveTo>
                      <a:pt x="416895" y="117778"/>
                    </a:moveTo>
                    <a:lnTo>
                      <a:pt x="557086" y="117778"/>
                    </a:lnTo>
                    <a:lnTo>
                      <a:pt x="557086" y="298996"/>
                    </a:lnTo>
                    <a:cubicBezTo>
                      <a:pt x="557086" y="299130"/>
                      <a:pt x="557003" y="299161"/>
                      <a:pt x="556910" y="299068"/>
                    </a:cubicBezTo>
                    <a:lnTo>
                      <a:pt x="512787" y="254945"/>
                    </a:lnTo>
                    <a:cubicBezTo>
                      <a:pt x="508688" y="250986"/>
                      <a:pt x="502156" y="251100"/>
                      <a:pt x="498197" y="255199"/>
                    </a:cubicBezTo>
                    <a:cubicBezTo>
                      <a:pt x="494334" y="259198"/>
                      <a:pt x="494334" y="265538"/>
                      <a:pt x="498197" y="269536"/>
                    </a:cubicBezTo>
                    <a:lnTo>
                      <a:pt x="560109" y="331449"/>
                    </a:lnTo>
                    <a:cubicBezTo>
                      <a:pt x="564139" y="335477"/>
                      <a:pt x="570670" y="335477"/>
                      <a:pt x="574700" y="331449"/>
                    </a:cubicBezTo>
                    <a:lnTo>
                      <a:pt x="636612" y="269536"/>
                    </a:lnTo>
                    <a:cubicBezTo>
                      <a:pt x="640572" y="265436"/>
                      <a:pt x="640458" y="258905"/>
                      <a:pt x="636359" y="254945"/>
                    </a:cubicBezTo>
                    <a:cubicBezTo>
                      <a:pt x="632360" y="251083"/>
                      <a:pt x="626020" y="251083"/>
                      <a:pt x="622022" y="254945"/>
                    </a:cubicBezTo>
                    <a:lnTo>
                      <a:pt x="577899" y="299068"/>
                    </a:lnTo>
                    <a:cubicBezTo>
                      <a:pt x="577806" y="299161"/>
                      <a:pt x="577723" y="299130"/>
                      <a:pt x="577723" y="298996"/>
                    </a:cubicBezTo>
                    <a:lnTo>
                      <a:pt x="577723" y="97141"/>
                    </a:lnTo>
                    <a:lnTo>
                      <a:pt x="416895" y="97141"/>
                    </a:lnTo>
                    <a:lnTo>
                      <a:pt x="319755" y="0"/>
                    </a:lnTo>
                    <a:lnTo>
                      <a:pt x="222614" y="97141"/>
                    </a:lnTo>
                    <a:lnTo>
                      <a:pt x="61786" y="97141"/>
                    </a:lnTo>
                    <a:lnTo>
                      <a:pt x="61786" y="298996"/>
                    </a:lnTo>
                    <a:cubicBezTo>
                      <a:pt x="61786" y="299130"/>
                      <a:pt x="61703" y="299161"/>
                      <a:pt x="61610" y="299068"/>
                    </a:cubicBezTo>
                    <a:lnTo>
                      <a:pt x="17487" y="254945"/>
                    </a:lnTo>
                    <a:cubicBezTo>
                      <a:pt x="13388" y="250986"/>
                      <a:pt x="6856" y="251100"/>
                      <a:pt x="2897" y="255199"/>
                    </a:cubicBezTo>
                    <a:cubicBezTo>
                      <a:pt x="-966" y="259198"/>
                      <a:pt x="-966" y="265538"/>
                      <a:pt x="2897" y="269536"/>
                    </a:cubicBezTo>
                    <a:lnTo>
                      <a:pt x="64809" y="331449"/>
                    </a:lnTo>
                    <a:cubicBezTo>
                      <a:pt x="68839" y="335477"/>
                      <a:pt x="75370" y="335477"/>
                      <a:pt x="79400" y="331449"/>
                    </a:cubicBezTo>
                    <a:lnTo>
                      <a:pt x="141312" y="269536"/>
                    </a:lnTo>
                    <a:cubicBezTo>
                      <a:pt x="145412" y="265577"/>
                      <a:pt x="145526" y="259045"/>
                      <a:pt x="141566" y="254945"/>
                    </a:cubicBezTo>
                    <a:cubicBezTo>
                      <a:pt x="137607" y="250846"/>
                      <a:pt x="131074" y="250732"/>
                      <a:pt x="126976" y="254692"/>
                    </a:cubicBezTo>
                    <a:cubicBezTo>
                      <a:pt x="126889" y="254775"/>
                      <a:pt x="126805" y="254860"/>
                      <a:pt x="126722" y="254945"/>
                    </a:cubicBezTo>
                    <a:lnTo>
                      <a:pt x="82599" y="299068"/>
                    </a:lnTo>
                    <a:cubicBezTo>
                      <a:pt x="82506" y="299161"/>
                      <a:pt x="82423" y="299130"/>
                      <a:pt x="82423" y="298996"/>
                    </a:cubicBezTo>
                    <a:lnTo>
                      <a:pt x="82423" y="117778"/>
                    </a:lnTo>
                    <a:lnTo>
                      <a:pt x="222614" y="117778"/>
                    </a:lnTo>
                    <a:lnTo>
                      <a:pt x="319755" y="214919"/>
                    </a:lnTo>
                    <a:close/>
                    <a:moveTo>
                      <a:pt x="319755" y="29181"/>
                    </a:moveTo>
                    <a:lnTo>
                      <a:pt x="398033" y="107459"/>
                    </a:lnTo>
                    <a:lnTo>
                      <a:pt x="319755" y="185738"/>
                    </a:lnTo>
                    <a:lnTo>
                      <a:pt x="241477" y="107459"/>
                    </a:lnTo>
                    <a:close/>
                  </a:path>
                </a:pathLst>
              </a:custGeom>
              <a:grpFill/>
              <a:ln w="19050" cap="flat"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3" name="צורה חופשית: צורה 52">
                <a:extLst>
                  <a:ext uri="{FF2B5EF4-FFF2-40B4-BE49-F238E27FC236}">
                    <a16:creationId xmlns:a16="http://schemas.microsoft.com/office/drawing/2014/main" id="{F06882E2-08B4-2BBC-0F94-35C03B05D94C}"/>
                  </a:ext>
                </a:extLst>
              </p:cNvPr>
              <p:cNvSpPr/>
              <p:nvPr/>
            </p:nvSpPr>
            <p:spPr>
              <a:xfrm>
                <a:off x="6281680" y="5742781"/>
                <a:ext cx="288925" cy="325812"/>
              </a:xfrm>
              <a:custGeom>
                <a:avLst/>
                <a:gdLst>
                  <a:gd name="connsiteX0" fmla="*/ 134144 w 288925"/>
                  <a:gd name="connsiteY0" fmla="*/ 290339 h 325812"/>
                  <a:gd name="connsiteX1" fmla="*/ 133968 w 288925"/>
                  <a:gd name="connsiteY1" fmla="*/ 290411 h 325812"/>
                  <a:gd name="connsiteX2" fmla="*/ 89845 w 288925"/>
                  <a:gd name="connsiteY2" fmla="*/ 246288 h 325812"/>
                  <a:gd name="connsiteX3" fmla="*/ 75255 w 288925"/>
                  <a:gd name="connsiteY3" fmla="*/ 246034 h 325812"/>
                  <a:gd name="connsiteX4" fmla="*/ 75001 w 288925"/>
                  <a:gd name="connsiteY4" fmla="*/ 260625 h 325812"/>
                  <a:gd name="connsiteX5" fmla="*/ 75255 w 288925"/>
                  <a:gd name="connsiteY5" fmla="*/ 260879 h 325812"/>
                  <a:gd name="connsiteX6" fmla="*/ 137167 w 288925"/>
                  <a:gd name="connsiteY6" fmla="*/ 322791 h 325812"/>
                  <a:gd name="connsiteX7" fmla="*/ 151758 w 288925"/>
                  <a:gd name="connsiteY7" fmla="*/ 322791 h 325812"/>
                  <a:gd name="connsiteX8" fmla="*/ 213670 w 288925"/>
                  <a:gd name="connsiteY8" fmla="*/ 260879 h 325812"/>
                  <a:gd name="connsiteX9" fmla="*/ 213924 w 288925"/>
                  <a:gd name="connsiteY9" fmla="*/ 246288 h 325812"/>
                  <a:gd name="connsiteX10" fmla="*/ 199333 w 288925"/>
                  <a:gd name="connsiteY10" fmla="*/ 246034 h 325812"/>
                  <a:gd name="connsiteX11" fmla="*/ 199080 w 288925"/>
                  <a:gd name="connsiteY11" fmla="*/ 246288 h 325812"/>
                  <a:gd name="connsiteX12" fmla="*/ 154957 w 288925"/>
                  <a:gd name="connsiteY12" fmla="*/ 290411 h 325812"/>
                  <a:gd name="connsiteX13" fmla="*/ 154781 w 288925"/>
                  <a:gd name="connsiteY13" fmla="*/ 290339 h 325812"/>
                  <a:gd name="connsiteX14" fmla="*/ 154781 w 288925"/>
                  <a:gd name="connsiteY14" fmla="*/ 144463 h 325812"/>
                  <a:gd name="connsiteX15" fmla="*/ 288925 w 288925"/>
                  <a:gd name="connsiteY15" fmla="*/ 144463 h 325812"/>
                  <a:gd name="connsiteX16" fmla="*/ 288925 w 288925"/>
                  <a:gd name="connsiteY16" fmla="*/ 0 h 325812"/>
                  <a:gd name="connsiteX17" fmla="*/ 0 w 288925"/>
                  <a:gd name="connsiteY17" fmla="*/ 0 h 325812"/>
                  <a:gd name="connsiteX18" fmla="*/ 0 w 288925"/>
                  <a:gd name="connsiteY18" fmla="*/ 144463 h 325812"/>
                  <a:gd name="connsiteX19" fmla="*/ 134144 w 288925"/>
                  <a:gd name="connsiteY19" fmla="*/ 144463 h 325812"/>
                  <a:gd name="connsiteX20" fmla="*/ 20638 w 288925"/>
                  <a:gd name="connsiteY20" fmla="*/ 20638 h 325812"/>
                  <a:gd name="connsiteX21" fmla="*/ 268288 w 288925"/>
                  <a:gd name="connsiteY21" fmla="*/ 20638 h 325812"/>
                  <a:gd name="connsiteX22" fmla="*/ 268288 w 288925"/>
                  <a:gd name="connsiteY22" fmla="*/ 123825 h 325812"/>
                  <a:gd name="connsiteX23" fmla="*/ 20638 w 288925"/>
                  <a:gd name="connsiteY23" fmla="*/ 123825 h 325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88925" h="325812">
                    <a:moveTo>
                      <a:pt x="134144" y="290339"/>
                    </a:moveTo>
                    <a:cubicBezTo>
                      <a:pt x="134144" y="290473"/>
                      <a:pt x="134061" y="290504"/>
                      <a:pt x="133968" y="290411"/>
                    </a:cubicBezTo>
                    <a:lnTo>
                      <a:pt x="89845" y="246288"/>
                    </a:lnTo>
                    <a:cubicBezTo>
                      <a:pt x="85886" y="242188"/>
                      <a:pt x="79354" y="242075"/>
                      <a:pt x="75255" y="246034"/>
                    </a:cubicBezTo>
                    <a:cubicBezTo>
                      <a:pt x="71155" y="249993"/>
                      <a:pt x="71042" y="256526"/>
                      <a:pt x="75001" y="260625"/>
                    </a:cubicBezTo>
                    <a:cubicBezTo>
                      <a:pt x="75084" y="260711"/>
                      <a:pt x="75169" y="260796"/>
                      <a:pt x="75255" y="260879"/>
                    </a:cubicBezTo>
                    <a:lnTo>
                      <a:pt x="137167" y="322791"/>
                    </a:lnTo>
                    <a:cubicBezTo>
                      <a:pt x="141197" y="326820"/>
                      <a:pt x="147728" y="326820"/>
                      <a:pt x="151758" y="322791"/>
                    </a:cubicBezTo>
                    <a:lnTo>
                      <a:pt x="213670" y="260879"/>
                    </a:lnTo>
                    <a:cubicBezTo>
                      <a:pt x="217770" y="256919"/>
                      <a:pt x="217884" y="250388"/>
                      <a:pt x="213924" y="246288"/>
                    </a:cubicBezTo>
                    <a:cubicBezTo>
                      <a:pt x="209965" y="242189"/>
                      <a:pt x="203432" y="242075"/>
                      <a:pt x="199333" y="246034"/>
                    </a:cubicBezTo>
                    <a:cubicBezTo>
                      <a:pt x="199247" y="246118"/>
                      <a:pt x="199162" y="246202"/>
                      <a:pt x="199080" y="246288"/>
                    </a:cubicBezTo>
                    <a:lnTo>
                      <a:pt x="154957" y="290411"/>
                    </a:lnTo>
                    <a:cubicBezTo>
                      <a:pt x="154864" y="290504"/>
                      <a:pt x="154781" y="290473"/>
                      <a:pt x="154781" y="290339"/>
                    </a:cubicBezTo>
                    <a:lnTo>
                      <a:pt x="154781" y="144463"/>
                    </a:lnTo>
                    <a:lnTo>
                      <a:pt x="288925" y="144463"/>
                    </a:lnTo>
                    <a:lnTo>
                      <a:pt x="288925" y="0"/>
                    </a:lnTo>
                    <a:lnTo>
                      <a:pt x="0" y="0"/>
                    </a:lnTo>
                    <a:lnTo>
                      <a:pt x="0" y="144463"/>
                    </a:lnTo>
                    <a:lnTo>
                      <a:pt x="134144" y="144463"/>
                    </a:lnTo>
                    <a:close/>
                    <a:moveTo>
                      <a:pt x="20638" y="20638"/>
                    </a:moveTo>
                    <a:lnTo>
                      <a:pt x="268288" y="20638"/>
                    </a:lnTo>
                    <a:lnTo>
                      <a:pt x="268288" y="123825"/>
                    </a:lnTo>
                    <a:lnTo>
                      <a:pt x="20638" y="123825"/>
                    </a:lnTo>
                    <a:close/>
                  </a:path>
                </a:pathLst>
              </a:custGeom>
              <a:grpFill/>
              <a:ln w="19050" cap="flat"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cxnSp>
          <p:nvCxnSpPr>
            <p:cNvPr id="35" name="מחבר ישר 34">
              <a:extLst>
                <a:ext uri="{FF2B5EF4-FFF2-40B4-BE49-F238E27FC236}">
                  <a16:creationId xmlns:a16="http://schemas.microsoft.com/office/drawing/2014/main" id="{5A96EF2E-E132-81EC-89FB-D9E150580479}"/>
                </a:ext>
              </a:extLst>
            </p:cNvPr>
            <p:cNvCxnSpPr>
              <a:cxnSpLocks/>
            </p:cNvCxnSpPr>
            <p:nvPr/>
          </p:nvCxnSpPr>
          <p:spPr>
            <a:xfrm>
              <a:off x="4298742" y="4253542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מחבר ישר 46">
            <a:extLst>
              <a:ext uri="{FF2B5EF4-FFF2-40B4-BE49-F238E27FC236}">
                <a16:creationId xmlns:a16="http://schemas.microsoft.com/office/drawing/2014/main" id="{0FE14E85-620E-640F-E522-75A99CEFD9FA}"/>
              </a:ext>
            </a:extLst>
          </p:cNvPr>
          <p:cNvCxnSpPr>
            <a:cxnSpLocks/>
          </p:cNvCxnSpPr>
          <p:nvPr/>
        </p:nvCxnSpPr>
        <p:spPr>
          <a:xfrm>
            <a:off x="6908107" y="4194717"/>
            <a:ext cx="1222049" cy="0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מחבר ישר 47">
            <a:extLst>
              <a:ext uri="{FF2B5EF4-FFF2-40B4-BE49-F238E27FC236}">
                <a16:creationId xmlns:a16="http://schemas.microsoft.com/office/drawing/2014/main" id="{028A8F5A-7719-1723-9E18-F7ED8899ED80}"/>
              </a:ext>
            </a:extLst>
          </p:cNvPr>
          <p:cNvCxnSpPr/>
          <p:nvPr/>
        </p:nvCxnSpPr>
        <p:spPr>
          <a:xfrm>
            <a:off x="1027610" y="3901253"/>
            <a:ext cx="1222049" cy="0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מלבן 5"/>
          <p:cNvSpPr/>
          <p:nvPr/>
        </p:nvSpPr>
        <p:spPr>
          <a:xfrm>
            <a:off x="191589" y="6026331"/>
            <a:ext cx="3173360" cy="757646"/>
          </a:xfrm>
          <a:prstGeom prst="rect">
            <a:avLst/>
          </a:prstGeom>
          <a:solidFill>
            <a:srgbClr val="DBE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95321367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7">
            <a:extLst>
              <a:ext uri="{FF2B5EF4-FFF2-40B4-BE49-F238E27FC236}">
                <a16:creationId xmlns:a16="http://schemas.microsoft.com/office/drawing/2014/main" id="{9A5A16C3-0AE7-46F5-900E-CA976586708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37025" y="3113591"/>
            <a:ext cx="2068845" cy="77413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4B0FACA9-7294-4F1E-A723-0387F7BB10D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2750" y="4857960"/>
            <a:ext cx="1374445" cy="913458"/>
          </a:xfrm>
          <a:prstGeom prst="rect">
            <a:avLst/>
          </a:prstGeo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AEF775A-F413-474B-9FE6-ABE38C29734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5497" y="2953561"/>
            <a:ext cx="1914840" cy="10941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5E7178-D35A-43BB-90B6-350ADEDC363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0742" y="4928003"/>
            <a:ext cx="2064358" cy="773372"/>
          </a:xfrm>
          <a:prstGeom prst="rect">
            <a:avLst/>
          </a:prstGeom>
        </p:spPr>
      </p:pic>
      <p:pic>
        <p:nvPicPr>
          <p:cNvPr id="11" name="תמונה 3">
            <a:extLst>
              <a:ext uri="{FF2B5EF4-FFF2-40B4-BE49-F238E27FC236}">
                <a16:creationId xmlns:a16="http://schemas.microsoft.com/office/drawing/2014/main" id="{114F2E32-5496-4E36-98C7-23C212F6BC7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39584" y="3205936"/>
            <a:ext cx="2032199" cy="5894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9EFEE9-7B0D-4A36-91D6-3DD67559A324}"/>
              </a:ext>
            </a:extLst>
          </p:cNvPr>
          <p:cNvSpPr txBox="1"/>
          <p:nvPr/>
        </p:nvSpPr>
        <p:spPr>
          <a:xfrm>
            <a:off x="3861616" y="307451"/>
            <a:ext cx="7817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36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שותפויות הן הבסיס להובלת שינוי אסטרטגי מול </a:t>
            </a:r>
            <a:r>
              <a:rPr lang="he-IL" sz="3600" b="1" dirty="0" smtClean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אתגרי </a:t>
            </a:r>
            <a:r>
              <a:rPr lang="he-IL" sz="3600" b="1" dirty="0">
                <a:solidFill>
                  <a:schemeClr val="bg2">
                    <a:lumMod val="10000"/>
                  </a:schemeClr>
                </a:solidFill>
                <a:latin typeface="Assistant" pitchFamily="2" charset="-79"/>
                <a:cs typeface="Assistant" pitchFamily="2" charset="-79"/>
              </a:rPr>
              <a:t>ההזדקנות</a:t>
            </a:r>
            <a:endParaRPr lang="en-IL" sz="3600" b="1" dirty="0">
              <a:solidFill>
                <a:schemeClr val="bg2">
                  <a:lumMod val="10000"/>
                </a:schemeClr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D1465D4-9607-4724-A317-6B74F7E15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98648" y="4927622"/>
            <a:ext cx="1865236" cy="774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מערך הדיגיטל הלאומי">
            <a:extLst>
              <a:ext uri="{FF2B5EF4-FFF2-40B4-BE49-F238E27FC236}">
                <a16:creationId xmlns:a16="http://schemas.microsoft.com/office/drawing/2014/main" id="{F069467E-5128-4869-B81D-CA77048CC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32777" y="3142231"/>
            <a:ext cx="2064358" cy="71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F1671A4-CB2A-4DAD-9463-F105ED4CF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54051" y="2991413"/>
            <a:ext cx="1945012" cy="101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E91C96-5C4E-4B40-8922-28DEDC56A1C8}"/>
              </a:ext>
            </a:extLst>
          </p:cNvPr>
          <p:cNvSpPr txBox="1"/>
          <p:nvPr/>
        </p:nvSpPr>
        <p:spPr>
          <a:xfrm>
            <a:off x="9999233" y="2540478"/>
            <a:ext cx="1697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>
                <a:solidFill>
                  <a:schemeClr val="bg2">
                    <a:lumMod val="25000"/>
                  </a:schemeClr>
                </a:solidFill>
                <a:latin typeface="Assistant SemiBold" pitchFamily="2" charset="-79"/>
                <a:cs typeface="Assistant SemiBold" pitchFamily="2" charset="-79"/>
              </a:rPr>
              <a:t>שותפים מרכזיים:</a:t>
            </a:r>
            <a:endParaRPr lang="en-IL" b="1" dirty="0">
              <a:solidFill>
                <a:schemeClr val="bg2">
                  <a:lumMod val="25000"/>
                </a:schemeClr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FB56E4-ACAE-4B6D-93FD-C95C79AE7EAE}"/>
              </a:ext>
            </a:extLst>
          </p:cNvPr>
          <p:cNvSpPr txBox="1"/>
          <p:nvPr/>
        </p:nvSpPr>
        <p:spPr>
          <a:xfrm>
            <a:off x="10153122" y="4326098"/>
            <a:ext cx="1544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IL"/>
            </a:defPPr>
            <a:lvl1pPr algn="r" rtl="1">
              <a:defRPr b="1">
                <a:solidFill>
                  <a:schemeClr val="bg2">
                    <a:lumMod val="25000"/>
                  </a:schemeClr>
                </a:solidFill>
                <a:latin typeface="Assistant SemiBold" pitchFamily="2" charset="-79"/>
                <a:cs typeface="Assistant SemiBold" pitchFamily="2" charset="-79"/>
              </a:defRPr>
            </a:lvl1pPr>
          </a:lstStyle>
          <a:p>
            <a:r>
              <a:rPr lang="he-IL" dirty="0"/>
              <a:t>שותפים נוספים:</a:t>
            </a:r>
            <a:endParaRPr lang="en-I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00825C-FD70-4ED2-8411-A27CADFD470E}"/>
              </a:ext>
            </a:extLst>
          </p:cNvPr>
          <p:cNvSpPr/>
          <p:nvPr/>
        </p:nvSpPr>
        <p:spPr>
          <a:xfrm>
            <a:off x="4155976" y="1705165"/>
            <a:ext cx="7523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he-IL" b="1" dirty="0">
                <a:solidFill>
                  <a:schemeClr val="bg2">
                    <a:lumMod val="25000"/>
                  </a:schemeClr>
                </a:solidFill>
                <a:latin typeface="Assistant SemiBold" pitchFamily="2" charset="-79"/>
                <a:cs typeface="Assistant SemiBold" pitchFamily="2" charset="-79"/>
              </a:rPr>
              <a:t>משרד הרווחה פועל ב-256 רשויות ומגוון רחב של גופים ממשלתיים, ציבורים ופרטיים </a:t>
            </a:r>
            <a:endParaRPr lang="en-IL" b="1" dirty="0">
              <a:solidFill>
                <a:schemeClr val="bg2">
                  <a:lumMod val="25000"/>
                </a:schemeClr>
              </a:solidFill>
              <a:latin typeface="Assistant SemiBold" pitchFamily="2" charset="-79"/>
              <a:cs typeface="Assistant SemiBold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ED4A7E9-ADE1-4D85-9B6C-9CA846038F1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206" y="4657165"/>
            <a:ext cx="2497703" cy="2497703"/>
          </a:xfrm>
          <a:prstGeom prst="rect">
            <a:avLst/>
          </a:prstGeom>
          <a:effectLst>
            <a:outerShdw blurRad="533400" dist="50800" dir="5400000" algn="ctr" rotWithShape="0">
              <a:schemeClr val="tx1">
                <a:lumMod val="85000"/>
                <a:lumOff val="1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63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3B842E-8B18-A52D-1306-410268E572D6}"/>
              </a:ext>
            </a:extLst>
          </p:cNvPr>
          <p:cNvSpPr txBox="1">
            <a:spLocks/>
          </p:cNvSpPr>
          <p:nvPr/>
        </p:nvSpPr>
        <p:spPr>
          <a:xfrm flipH="1">
            <a:off x="787025" y="321804"/>
            <a:ext cx="11179628" cy="692150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2800" b="1" dirty="0">
                <a:solidFill>
                  <a:srgbClr val="001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איגום </a:t>
            </a:r>
            <a:r>
              <a:rPr lang="he-IL" sz="2800" b="1" dirty="0" err="1">
                <a:solidFill>
                  <a:srgbClr val="001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והנגשת</a:t>
            </a:r>
            <a:r>
              <a:rPr lang="he-IL" sz="2800" b="1" dirty="0">
                <a:solidFill>
                  <a:srgbClr val="00102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מידע רב מערכתי </a:t>
            </a:r>
            <a:endParaRPr lang="en-US" sz="2800" b="1" dirty="0">
              <a:solidFill>
                <a:srgbClr val="00102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5061AB-2FC8-F839-0F8D-775C3DE1FBEA}"/>
              </a:ext>
            </a:extLst>
          </p:cNvPr>
          <p:cNvSpPr/>
          <p:nvPr/>
        </p:nvSpPr>
        <p:spPr bwMode="gray">
          <a:xfrm>
            <a:off x="236214" y="711167"/>
            <a:ext cx="5400000" cy="5400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4B7337A-AE62-88D4-05BF-983A98F5292B}"/>
              </a:ext>
            </a:extLst>
          </p:cNvPr>
          <p:cNvSpPr/>
          <p:nvPr/>
        </p:nvSpPr>
        <p:spPr bwMode="gray">
          <a:xfrm>
            <a:off x="1124170" y="1599123"/>
            <a:ext cx="3600000" cy="360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F1C3B3-6F1A-78F5-EA54-F416E024C770}"/>
              </a:ext>
            </a:extLst>
          </p:cNvPr>
          <p:cNvSpPr/>
          <p:nvPr/>
        </p:nvSpPr>
        <p:spPr bwMode="gray">
          <a:xfrm>
            <a:off x="2039205" y="2511167"/>
            <a:ext cx="1800000" cy="180000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648317-9931-B5A1-342E-A126C42B918A}"/>
              </a:ext>
            </a:extLst>
          </p:cNvPr>
          <p:cNvSpPr/>
          <p:nvPr/>
        </p:nvSpPr>
        <p:spPr>
          <a:xfrm>
            <a:off x="6745684" y="965134"/>
            <a:ext cx="52101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נתונים פנימיים של המשרד </a:t>
            </a:r>
            <a:r>
              <a:rPr kumimoji="0" lang="he-IL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והמינהל</a:t>
            </a:r>
            <a:endParaRPr kumimoji="0" lang="he-IL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273B2B6-1111-5E51-7214-4AD54A521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933" y="1334466"/>
            <a:ext cx="4840453" cy="135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נתוני יסוד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מערכת </a:t>
            </a:r>
            <a:r>
              <a:rPr kumimoji="0" lang="he-IL" altLang="he-I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מס"ר</a:t>
            </a:r>
            <a:endParaRPr kumimoji="0" lang="he-IL" altLang="he-IL" sz="1400" b="0" i="0" u="none" strike="noStrike" kern="120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BI</a:t>
            </a: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תקצוב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מערכת נתיב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846274-22E7-912A-3864-7DCDCC6C5C80}"/>
              </a:ext>
            </a:extLst>
          </p:cNvPr>
          <p:cNvSpPr/>
          <p:nvPr/>
        </p:nvSpPr>
        <p:spPr>
          <a:xfrm>
            <a:off x="6657284" y="2716062"/>
            <a:ext cx="52101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נתוני שותפים</a:t>
            </a:r>
            <a:endParaRPr kumimoji="0" lang="he-IL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1C6671AD-A83F-2E54-D1E9-9CD7177E2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3974" y="3037848"/>
            <a:ext cx="4840453" cy="1991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כספת נצורה – ביטוח לאומי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נתונים חברתיים-כלכליים ברמת רשות </a:t>
            </a:r>
            <a:r>
              <a:rPr kumimoji="0" lang="he-IL" altLang="he-I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וא"ס</a:t>
            </a: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– </a:t>
            </a:r>
            <a:r>
              <a:rPr kumimoji="0" lang="he-IL" altLang="he-I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למ"ס</a:t>
            </a:r>
            <a:endParaRPr kumimoji="0" lang="he-IL" altLang="he-IL" sz="1400" b="0" i="0" u="none" strike="noStrike" kern="120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נתונים דמוגרפיים – רשות האוכלוסין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שנתון סטטיסטי בני 65+ – </a:t>
            </a:r>
            <a:r>
              <a:rPr kumimoji="0" lang="he-IL" altLang="he-I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ברוקדייל</a:t>
            </a:r>
            <a:endParaRPr kumimoji="0" lang="he-IL" altLang="he-IL" sz="1400" b="0" i="0" u="none" strike="noStrike" kern="120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המועצה הלאומית לכלכלה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הרשות לניצולי שואה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877B1A-5AD1-74F6-D4A5-250BD4266F76}"/>
              </a:ext>
            </a:extLst>
          </p:cNvPr>
          <p:cNvSpPr/>
          <p:nvPr/>
        </p:nvSpPr>
        <p:spPr>
          <a:xfrm>
            <a:off x="6475106" y="4804304"/>
            <a:ext cx="52101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1" i="0" u="none" strike="noStrike" kern="1200" cap="none" spc="0" normalizeH="0" baseline="0" noProof="0" dirty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מעטפת להגדרת מדדים</a:t>
            </a:r>
            <a:endParaRPr kumimoji="0" lang="he-IL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3039BEA-0612-93C5-FFA7-EC5C8D16D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5437" y="5329174"/>
            <a:ext cx="4840453" cy="704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מדדי הזדקנות מיטבית – משרד רוה"מ, ג'וינט</a:t>
            </a:r>
          </a:p>
          <a:p>
            <a:pPr marL="285750" marR="0" lvl="0" indent="-28575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מדדי סיכון, שייכות ותפקוד – משרד הרווחה, </a:t>
            </a:r>
            <a:r>
              <a:rPr kumimoji="0" lang="he-IL" altLang="he-IL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למ"ס</a:t>
            </a:r>
            <a:r>
              <a:rPr kumimoji="0" lang="he-IL" alt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ואקדמיה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5AD5E7-0815-DA4B-F76E-7FCFE8E132F2}"/>
              </a:ext>
            </a:extLst>
          </p:cNvPr>
          <p:cNvCxnSpPr>
            <a:cxnSpLocks/>
          </p:cNvCxnSpPr>
          <p:nvPr/>
        </p:nvCxnSpPr>
        <p:spPr>
          <a:xfrm flipV="1">
            <a:off x="4406900" y="1377133"/>
            <a:ext cx="742738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030E34-74A6-05AF-F00E-E86B51C728C4}"/>
              </a:ext>
            </a:extLst>
          </p:cNvPr>
          <p:cNvCxnSpPr>
            <a:cxnSpLocks/>
          </p:cNvCxnSpPr>
          <p:nvPr/>
        </p:nvCxnSpPr>
        <p:spPr>
          <a:xfrm flipV="1">
            <a:off x="2992866" y="1377133"/>
            <a:ext cx="1413774" cy="185269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30303DB-158B-D46B-3B2E-8BFB0566286F}"/>
              </a:ext>
            </a:extLst>
          </p:cNvPr>
          <p:cNvSpPr/>
          <p:nvPr/>
        </p:nvSpPr>
        <p:spPr bwMode="gray">
          <a:xfrm>
            <a:off x="2919836" y="3211993"/>
            <a:ext cx="123564" cy="12356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 algn="ctr">
            <a:solidFill>
              <a:schemeClr val="tx2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9622CB-87C7-3663-8B6D-010EE55CCD18}"/>
              </a:ext>
            </a:extLst>
          </p:cNvPr>
          <p:cNvCxnSpPr>
            <a:cxnSpLocks/>
          </p:cNvCxnSpPr>
          <p:nvPr/>
        </p:nvCxnSpPr>
        <p:spPr>
          <a:xfrm flipV="1">
            <a:off x="4439998" y="3107221"/>
            <a:ext cx="742738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9F3B4B4-E3D4-8ACF-0FF3-790B1CDCEFAD}"/>
              </a:ext>
            </a:extLst>
          </p:cNvPr>
          <p:cNvSpPr/>
          <p:nvPr/>
        </p:nvSpPr>
        <p:spPr bwMode="gray">
          <a:xfrm>
            <a:off x="4330802" y="3045439"/>
            <a:ext cx="123564" cy="12356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 algn="ctr">
            <a:solidFill>
              <a:schemeClr val="tx2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E6FE18-A29B-0F8B-48DB-A36E0C7BAA56}"/>
              </a:ext>
            </a:extLst>
          </p:cNvPr>
          <p:cNvCxnSpPr>
            <a:cxnSpLocks/>
          </p:cNvCxnSpPr>
          <p:nvPr/>
        </p:nvCxnSpPr>
        <p:spPr>
          <a:xfrm flipV="1">
            <a:off x="4392584" y="5063077"/>
            <a:ext cx="742738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4A671DE-7352-98BB-FD3C-F2A08577CF5C}"/>
              </a:ext>
            </a:extLst>
          </p:cNvPr>
          <p:cNvSpPr/>
          <p:nvPr/>
        </p:nvSpPr>
        <p:spPr bwMode="gray">
          <a:xfrm>
            <a:off x="4316434" y="4997921"/>
            <a:ext cx="123564" cy="12356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 algn="ctr">
            <a:solidFill>
              <a:schemeClr val="tx2"/>
            </a:solidFill>
            <a:miter lim="800000"/>
            <a:headEnd/>
            <a:tailEnd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מלבן 2"/>
          <p:cNvSpPr/>
          <p:nvPr/>
        </p:nvSpPr>
        <p:spPr bwMode="gray">
          <a:xfrm>
            <a:off x="132028" y="6404122"/>
            <a:ext cx="3814354" cy="292214"/>
          </a:xfrm>
          <a:prstGeom prst="rect">
            <a:avLst/>
          </a:prstGeom>
          <a:solidFill>
            <a:srgbClr val="F2EFF0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he-IL" sz="16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5092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F30606D-4C69-49C9-B4EE-D35182697DA4}"/>
              </a:ext>
            </a:extLst>
          </p:cNvPr>
          <p:cNvSpPr/>
          <p:nvPr/>
        </p:nvSpPr>
        <p:spPr>
          <a:xfrm>
            <a:off x="0" y="0"/>
            <a:ext cx="78599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EB93A2-64A8-4208-9229-22D52D3FE645}"/>
              </a:ext>
            </a:extLst>
          </p:cNvPr>
          <p:cNvGrpSpPr>
            <a:grpSpLocks noChangeAspect="1"/>
          </p:cNvGrpSpPr>
          <p:nvPr/>
        </p:nvGrpSpPr>
        <p:grpSpPr>
          <a:xfrm>
            <a:off x="2337507" y="1521000"/>
            <a:ext cx="4286214" cy="3816000"/>
            <a:chOff x="1496309" y="2306745"/>
            <a:chExt cx="3547280" cy="3158130"/>
          </a:xfrm>
        </p:grpSpPr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2EF891F-198B-497F-9E83-36383EDA3B0D}"/>
                </a:ext>
              </a:extLst>
            </p:cNvPr>
            <p:cNvSpPr>
              <a:spLocks/>
            </p:cNvSpPr>
            <p:nvPr/>
          </p:nvSpPr>
          <p:spPr bwMode="gray">
            <a:xfrm rot="107936" flipH="1">
              <a:off x="2541303" y="2485756"/>
              <a:ext cx="1478981" cy="1493739"/>
            </a:xfrm>
            <a:custGeom>
              <a:avLst/>
              <a:gdLst/>
              <a:ahLst/>
              <a:cxnLst>
                <a:cxn ang="0">
                  <a:pos x="232" y="1261"/>
                </a:cxn>
                <a:cxn ang="0">
                  <a:pos x="213" y="1318"/>
                </a:cxn>
                <a:cxn ang="0">
                  <a:pos x="242" y="1353"/>
                </a:cxn>
                <a:cxn ang="0">
                  <a:pos x="309" y="1389"/>
                </a:cxn>
                <a:cxn ang="0">
                  <a:pos x="520" y="1407"/>
                </a:cxn>
                <a:cxn ang="0">
                  <a:pos x="514" y="1485"/>
                </a:cxn>
                <a:cxn ang="0">
                  <a:pos x="539" y="1527"/>
                </a:cxn>
                <a:cxn ang="0">
                  <a:pos x="591" y="1541"/>
                </a:cxn>
                <a:cxn ang="0">
                  <a:pos x="654" y="1526"/>
                </a:cxn>
                <a:cxn ang="0">
                  <a:pos x="850" y="1476"/>
                </a:cxn>
                <a:cxn ang="0">
                  <a:pos x="883" y="1543"/>
                </a:cxn>
                <a:cxn ang="0">
                  <a:pos x="925" y="1552"/>
                </a:cxn>
                <a:cxn ang="0">
                  <a:pos x="998" y="1529"/>
                </a:cxn>
                <a:cxn ang="0">
                  <a:pos x="1136" y="1341"/>
                </a:cxn>
                <a:cxn ang="0">
                  <a:pos x="1186" y="1384"/>
                </a:cxn>
                <a:cxn ang="0">
                  <a:pos x="1242" y="1410"/>
                </a:cxn>
                <a:cxn ang="0">
                  <a:pos x="1278" y="1387"/>
                </a:cxn>
                <a:cxn ang="0">
                  <a:pos x="1324" y="1324"/>
                </a:cxn>
                <a:cxn ang="0">
                  <a:pos x="1368" y="1115"/>
                </a:cxn>
                <a:cxn ang="0">
                  <a:pos x="1443" y="1132"/>
                </a:cxn>
                <a:cxn ang="0">
                  <a:pos x="1489" y="1113"/>
                </a:cxn>
                <a:cxn ang="0">
                  <a:pos x="1507" y="1073"/>
                </a:cxn>
                <a:cxn ang="0">
                  <a:pos x="1507" y="1002"/>
                </a:cxn>
                <a:cxn ang="0">
                  <a:pos x="1457" y="802"/>
                </a:cxn>
                <a:cxn ang="0">
                  <a:pos x="1534" y="781"/>
                </a:cxn>
                <a:cxn ang="0">
                  <a:pos x="1560" y="742"/>
                </a:cxn>
                <a:cxn ang="0">
                  <a:pos x="1557" y="689"/>
                </a:cxn>
                <a:cxn ang="0">
                  <a:pos x="1520" y="637"/>
                </a:cxn>
                <a:cxn ang="0">
                  <a:pos x="1403" y="472"/>
                </a:cxn>
                <a:cxn ang="0">
                  <a:pos x="1455" y="418"/>
                </a:cxn>
                <a:cxn ang="0">
                  <a:pos x="1449" y="374"/>
                </a:cxn>
                <a:cxn ang="0">
                  <a:pos x="1403" y="316"/>
                </a:cxn>
                <a:cxn ang="0">
                  <a:pos x="1282" y="351"/>
                </a:cxn>
                <a:cxn ang="0">
                  <a:pos x="1194" y="197"/>
                </a:cxn>
                <a:cxn ang="0">
                  <a:pos x="1201" y="132"/>
                </a:cxn>
                <a:cxn ang="0">
                  <a:pos x="1176" y="107"/>
                </a:cxn>
                <a:cxn ang="0">
                  <a:pos x="1105" y="80"/>
                </a:cxn>
                <a:cxn ang="0">
                  <a:pos x="881" y="124"/>
                </a:cxn>
                <a:cxn ang="0">
                  <a:pos x="871" y="53"/>
                </a:cxn>
                <a:cxn ang="0">
                  <a:pos x="841" y="5"/>
                </a:cxn>
                <a:cxn ang="0">
                  <a:pos x="798" y="0"/>
                </a:cxn>
                <a:cxn ang="0">
                  <a:pos x="727" y="21"/>
                </a:cxn>
                <a:cxn ang="0">
                  <a:pos x="554" y="140"/>
                </a:cxn>
                <a:cxn ang="0">
                  <a:pos x="508" y="78"/>
                </a:cxn>
                <a:cxn ang="0">
                  <a:pos x="462" y="67"/>
                </a:cxn>
                <a:cxn ang="0">
                  <a:pos x="403" y="98"/>
                </a:cxn>
                <a:cxn ang="0">
                  <a:pos x="380" y="149"/>
                </a:cxn>
                <a:cxn ang="0">
                  <a:pos x="263" y="309"/>
                </a:cxn>
                <a:cxn ang="0">
                  <a:pos x="194" y="284"/>
                </a:cxn>
                <a:cxn ang="0">
                  <a:pos x="157" y="307"/>
                </a:cxn>
                <a:cxn ang="0">
                  <a:pos x="119" y="372"/>
                </a:cxn>
                <a:cxn ang="0">
                  <a:pos x="142" y="602"/>
                </a:cxn>
                <a:cxn ang="0">
                  <a:pos x="75" y="604"/>
                </a:cxn>
                <a:cxn ang="0">
                  <a:pos x="17" y="622"/>
                </a:cxn>
                <a:cxn ang="0">
                  <a:pos x="4" y="664"/>
                </a:cxn>
                <a:cxn ang="0">
                  <a:pos x="13" y="741"/>
                </a:cxn>
                <a:cxn ang="0">
                  <a:pos x="119" y="927"/>
                </a:cxn>
                <a:cxn ang="0">
                  <a:pos x="50" y="963"/>
                </a:cxn>
                <a:cxn ang="0">
                  <a:pos x="28" y="1007"/>
                </a:cxn>
                <a:cxn ang="0">
                  <a:pos x="46" y="1057"/>
                </a:cxn>
                <a:cxn ang="0">
                  <a:pos x="92" y="1103"/>
                </a:cxn>
              </a:cxnLst>
              <a:rect l="0" t="0" r="r" b="b"/>
              <a:pathLst>
                <a:path w="1562" h="1554">
                  <a:moveTo>
                    <a:pt x="268" y="1205"/>
                  </a:moveTo>
                  <a:lnTo>
                    <a:pt x="267" y="1207"/>
                  </a:lnTo>
                  <a:lnTo>
                    <a:pt x="265" y="1209"/>
                  </a:lnTo>
                  <a:lnTo>
                    <a:pt x="265" y="1211"/>
                  </a:lnTo>
                  <a:lnTo>
                    <a:pt x="263" y="1213"/>
                  </a:lnTo>
                  <a:lnTo>
                    <a:pt x="263" y="1215"/>
                  </a:lnTo>
                  <a:lnTo>
                    <a:pt x="261" y="1217"/>
                  </a:lnTo>
                  <a:lnTo>
                    <a:pt x="259" y="1218"/>
                  </a:lnTo>
                  <a:lnTo>
                    <a:pt x="257" y="1220"/>
                  </a:lnTo>
                  <a:lnTo>
                    <a:pt x="255" y="1224"/>
                  </a:lnTo>
                  <a:lnTo>
                    <a:pt x="253" y="1226"/>
                  </a:lnTo>
                  <a:lnTo>
                    <a:pt x="251" y="1228"/>
                  </a:lnTo>
                  <a:lnTo>
                    <a:pt x="249" y="1232"/>
                  </a:lnTo>
                  <a:lnTo>
                    <a:pt x="247" y="1236"/>
                  </a:lnTo>
                  <a:lnTo>
                    <a:pt x="245" y="1238"/>
                  </a:lnTo>
                  <a:lnTo>
                    <a:pt x="243" y="1241"/>
                  </a:lnTo>
                  <a:lnTo>
                    <a:pt x="242" y="1243"/>
                  </a:lnTo>
                  <a:lnTo>
                    <a:pt x="240" y="1247"/>
                  </a:lnTo>
                  <a:lnTo>
                    <a:pt x="238" y="1251"/>
                  </a:lnTo>
                  <a:lnTo>
                    <a:pt x="236" y="1253"/>
                  </a:lnTo>
                  <a:lnTo>
                    <a:pt x="234" y="1257"/>
                  </a:lnTo>
                  <a:lnTo>
                    <a:pt x="232" y="1261"/>
                  </a:lnTo>
                  <a:lnTo>
                    <a:pt x="230" y="1265"/>
                  </a:lnTo>
                  <a:lnTo>
                    <a:pt x="226" y="1266"/>
                  </a:lnTo>
                  <a:lnTo>
                    <a:pt x="224" y="1270"/>
                  </a:lnTo>
                  <a:lnTo>
                    <a:pt x="222" y="1274"/>
                  </a:lnTo>
                  <a:lnTo>
                    <a:pt x="220" y="1276"/>
                  </a:lnTo>
                  <a:lnTo>
                    <a:pt x="220" y="1280"/>
                  </a:lnTo>
                  <a:lnTo>
                    <a:pt x="219" y="1282"/>
                  </a:lnTo>
                  <a:lnTo>
                    <a:pt x="217" y="1286"/>
                  </a:lnTo>
                  <a:lnTo>
                    <a:pt x="215" y="1288"/>
                  </a:lnTo>
                  <a:lnTo>
                    <a:pt x="213" y="1289"/>
                  </a:lnTo>
                  <a:lnTo>
                    <a:pt x="213" y="1293"/>
                  </a:lnTo>
                  <a:lnTo>
                    <a:pt x="213" y="1295"/>
                  </a:lnTo>
                  <a:lnTo>
                    <a:pt x="211" y="1299"/>
                  </a:lnTo>
                  <a:lnTo>
                    <a:pt x="211" y="1301"/>
                  </a:lnTo>
                  <a:lnTo>
                    <a:pt x="211" y="1303"/>
                  </a:lnTo>
                  <a:lnTo>
                    <a:pt x="211" y="1305"/>
                  </a:lnTo>
                  <a:lnTo>
                    <a:pt x="211" y="1309"/>
                  </a:lnTo>
                  <a:lnTo>
                    <a:pt x="211" y="1311"/>
                  </a:lnTo>
                  <a:lnTo>
                    <a:pt x="211" y="1312"/>
                  </a:lnTo>
                  <a:lnTo>
                    <a:pt x="213" y="1314"/>
                  </a:lnTo>
                  <a:lnTo>
                    <a:pt x="213" y="1316"/>
                  </a:lnTo>
                  <a:lnTo>
                    <a:pt x="213" y="1318"/>
                  </a:lnTo>
                  <a:lnTo>
                    <a:pt x="215" y="1320"/>
                  </a:lnTo>
                  <a:lnTo>
                    <a:pt x="215" y="1322"/>
                  </a:lnTo>
                  <a:lnTo>
                    <a:pt x="215" y="1324"/>
                  </a:lnTo>
                  <a:lnTo>
                    <a:pt x="217" y="1326"/>
                  </a:lnTo>
                  <a:lnTo>
                    <a:pt x="217" y="1328"/>
                  </a:lnTo>
                  <a:lnTo>
                    <a:pt x="219" y="1330"/>
                  </a:lnTo>
                  <a:lnTo>
                    <a:pt x="219" y="1332"/>
                  </a:lnTo>
                  <a:lnTo>
                    <a:pt x="220" y="1334"/>
                  </a:lnTo>
                  <a:lnTo>
                    <a:pt x="222" y="1336"/>
                  </a:lnTo>
                  <a:lnTo>
                    <a:pt x="222" y="1337"/>
                  </a:lnTo>
                  <a:lnTo>
                    <a:pt x="224" y="1337"/>
                  </a:lnTo>
                  <a:lnTo>
                    <a:pt x="224" y="1339"/>
                  </a:lnTo>
                  <a:lnTo>
                    <a:pt x="226" y="1339"/>
                  </a:lnTo>
                  <a:lnTo>
                    <a:pt x="226" y="1341"/>
                  </a:lnTo>
                  <a:lnTo>
                    <a:pt x="228" y="1341"/>
                  </a:lnTo>
                  <a:lnTo>
                    <a:pt x="230" y="1343"/>
                  </a:lnTo>
                  <a:lnTo>
                    <a:pt x="232" y="1345"/>
                  </a:lnTo>
                  <a:lnTo>
                    <a:pt x="234" y="1345"/>
                  </a:lnTo>
                  <a:lnTo>
                    <a:pt x="236" y="1347"/>
                  </a:lnTo>
                  <a:lnTo>
                    <a:pt x="236" y="1349"/>
                  </a:lnTo>
                  <a:lnTo>
                    <a:pt x="238" y="1351"/>
                  </a:lnTo>
                  <a:lnTo>
                    <a:pt x="242" y="1353"/>
                  </a:lnTo>
                  <a:lnTo>
                    <a:pt x="243" y="1355"/>
                  </a:lnTo>
                  <a:lnTo>
                    <a:pt x="245" y="1357"/>
                  </a:lnTo>
                  <a:lnTo>
                    <a:pt x="247" y="1359"/>
                  </a:lnTo>
                  <a:lnTo>
                    <a:pt x="251" y="1360"/>
                  </a:lnTo>
                  <a:lnTo>
                    <a:pt x="253" y="1362"/>
                  </a:lnTo>
                  <a:lnTo>
                    <a:pt x="257" y="1366"/>
                  </a:lnTo>
                  <a:lnTo>
                    <a:pt x="261" y="1368"/>
                  </a:lnTo>
                  <a:lnTo>
                    <a:pt x="265" y="1372"/>
                  </a:lnTo>
                  <a:lnTo>
                    <a:pt x="268" y="1376"/>
                  </a:lnTo>
                  <a:lnTo>
                    <a:pt x="272" y="1378"/>
                  </a:lnTo>
                  <a:lnTo>
                    <a:pt x="274" y="1380"/>
                  </a:lnTo>
                  <a:lnTo>
                    <a:pt x="278" y="1384"/>
                  </a:lnTo>
                  <a:lnTo>
                    <a:pt x="282" y="1384"/>
                  </a:lnTo>
                  <a:lnTo>
                    <a:pt x="286" y="1385"/>
                  </a:lnTo>
                  <a:lnTo>
                    <a:pt x="288" y="1387"/>
                  </a:lnTo>
                  <a:lnTo>
                    <a:pt x="291" y="1387"/>
                  </a:lnTo>
                  <a:lnTo>
                    <a:pt x="295" y="1389"/>
                  </a:lnTo>
                  <a:lnTo>
                    <a:pt x="297" y="1389"/>
                  </a:lnTo>
                  <a:lnTo>
                    <a:pt x="301" y="1389"/>
                  </a:lnTo>
                  <a:lnTo>
                    <a:pt x="303" y="1389"/>
                  </a:lnTo>
                  <a:lnTo>
                    <a:pt x="305" y="1389"/>
                  </a:lnTo>
                  <a:lnTo>
                    <a:pt x="309" y="1389"/>
                  </a:lnTo>
                  <a:lnTo>
                    <a:pt x="311" y="1389"/>
                  </a:lnTo>
                  <a:lnTo>
                    <a:pt x="313" y="1387"/>
                  </a:lnTo>
                  <a:lnTo>
                    <a:pt x="315" y="1387"/>
                  </a:lnTo>
                  <a:lnTo>
                    <a:pt x="316" y="1387"/>
                  </a:lnTo>
                  <a:lnTo>
                    <a:pt x="318" y="1385"/>
                  </a:lnTo>
                  <a:lnTo>
                    <a:pt x="320" y="1385"/>
                  </a:lnTo>
                  <a:lnTo>
                    <a:pt x="322" y="1384"/>
                  </a:lnTo>
                  <a:lnTo>
                    <a:pt x="324" y="1384"/>
                  </a:lnTo>
                  <a:lnTo>
                    <a:pt x="326" y="1382"/>
                  </a:lnTo>
                  <a:lnTo>
                    <a:pt x="328" y="1380"/>
                  </a:lnTo>
                  <a:lnTo>
                    <a:pt x="330" y="1378"/>
                  </a:lnTo>
                  <a:lnTo>
                    <a:pt x="332" y="1378"/>
                  </a:lnTo>
                  <a:lnTo>
                    <a:pt x="332" y="1376"/>
                  </a:lnTo>
                  <a:lnTo>
                    <a:pt x="393" y="1324"/>
                  </a:lnTo>
                  <a:lnTo>
                    <a:pt x="522" y="1393"/>
                  </a:lnTo>
                  <a:lnTo>
                    <a:pt x="522" y="1395"/>
                  </a:lnTo>
                  <a:lnTo>
                    <a:pt x="522" y="1397"/>
                  </a:lnTo>
                  <a:lnTo>
                    <a:pt x="522" y="1399"/>
                  </a:lnTo>
                  <a:lnTo>
                    <a:pt x="522" y="1401"/>
                  </a:lnTo>
                  <a:lnTo>
                    <a:pt x="522" y="1403"/>
                  </a:lnTo>
                  <a:lnTo>
                    <a:pt x="522" y="1405"/>
                  </a:lnTo>
                  <a:lnTo>
                    <a:pt x="520" y="1407"/>
                  </a:lnTo>
                  <a:lnTo>
                    <a:pt x="520" y="1410"/>
                  </a:lnTo>
                  <a:lnTo>
                    <a:pt x="520" y="1412"/>
                  </a:lnTo>
                  <a:lnTo>
                    <a:pt x="520" y="1416"/>
                  </a:lnTo>
                  <a:lnTo>
                    <a:pt x="520" y="1418"/>
                  </a:lnTo>
                  <a:lnTo>
                    <a:pt x="520" y="1422"/>
                  </a:lnTo>
                  <a:lnTo>
                    <a:pt x="518" y="1426"/>
                  </a:lnTo>
                  <a:lnTo>
                    <a:pt x="518" y="1430"/>
                  </a:lnTo>
                  <a:lnTo>
                    <a:pt x="518" y="1433"/>
                  </a:lnTo>
                  <a:lnTo>
                    <a:pt x="518" y="1437"/>
                  </a:lnTo>
                  <a:lnTo>
                    <a:pt x="518" y="1441"/>
                  </a:lnTo>
                  <a:lnTo>
                    <a:pt x="516" y="1445"/>
                  </a:lnTo>
                  <a:lnTo>
                    <a:pt x="516" y="1449"/>
                  </a:lnTo>
                  <a:lnTo>
                    <a:pt x="516" y="1453"/>
                  </a:lnTo>
                  <a:lnTo>
                    <a:pt x="516" y="1456"/>
                  </a:lnTo>
                  <a:lnTo>
                    <a:pt x="516" y="1460"/>
                  </a:lnTo>
                  <a:lnTo>
                    <a:pt x="514" y="1464"/>
                  </a:lnTo>
                  <a:lnTo>
                    <a:pt x="514" y="1466"/>
                  </a:lnTo>
                  <a:lnTo>
                    <a:pt x="514" y="1470"/>
                  </a:lnTo>
                  <a:lnTo>
                    <a:pt x="514" y="1474"/>
                  </a:lnTo>
                  <a:lnTo>
                    <a:pt x="514" y="1478"/>
                  </a:lnTo>
                  <a:lnTo>
                    <a:pt x="514" y="1481"/>
                  </a:lnTo>
                  <a:lnTo>
                    <a:pt x="514" y="1485"/>
                  </a:lnTo>
                  <a:lnTo>
                    <a:pt x="514" y="1487"/>
                  </a:lnTo>
                  <a:lnTo>
                    <a:pt x="514" y="1491"/>
                  </a:lnTo>
                  <a:lnTo>
                    <a:pt x="514" y="1493"/>
                  </a:lnTo>
                  <a:lnTo>
                    <a:pt x="514" y="1497"/>
                  </a:lnTo>
                  <a:lnTo>
                    <a:pt x="514" y="1499"/>
                  </a:lnTo>
                  <a:lnTo>
                    <a:pt x="516" y="1501"/>
                  </a:lnTo>
                  <a:lnTo>
                    <a:pt x="516" y="1504"/>
                  </a:lnTo>
                  <a:lnTo>
                    <a:pt x="518" y="1506"/>
                  </a:lnTo>
                  <a:lnTo>
                    <a:pt x="520" y="1508"/>
                  </a:lnTo>
                  <a:lnTo>
                    <a:pt x="520" y="1510"/>
                  </a:lnTo>
                  <a:lnTo>
                    <a:pt x="522" y="1512"/>
                  </a:lnTo>
                  <a:lnTo>
                    <a:pt x="524" y="1514"/>
                  </a:lnTo>
                  <a:lnTo>
                    <a:pt x="524" y="1516"/>
                  </a:lnTo>
                  <a:lnTo>
                    <a:pt x="526" y="1518"/>
                  </a:lnTo>
                  <a:lnTo>
                    <a:pt x="528" y="1520"/>
                  </a:lnTo>
                  <a:lnTo>
                    <a:pt x="530" y="1520"/>
                  </a:lnTo>
                  <a:lnTo>
                    <a:pt x="530" y="1522"/>
                  </a:lnTo>
                  <a:lnTo>
                    <a:pt x="531" y="1524"/>
                  </a:lnTo>
                  <a:lnTo>
                    <a:pt x="533" y="1524"/>
                  </a:lnTo>
                  <a:lnTo>
                    <a:pt x="535" y="1526"/>
                  </a:lnTo>
                  <a:lnTo>
                    <a:pt x="537" y="1527"/>
                  </a:lnTo>
                  <a:lnTo>
                    <a:pt x="539" y="1527"/>
                  </a:lnTo>
                  <a:lnTo>
                    <a:pt x="541" y="1529"/>
                  </a:lnTo>
                  <a:lnTo>
                    <a:pt x="543" y="1529"/>
                  </a:lnTo>
                  <a:lnTo>
                    <a:pt x="545" y="1529"/>
                  </a:lnTo>
                  <a:lnTo>
                    <a:pt x="545" y="1531"/>
                  </a:lnTo>
                  <a:lnTo>
                    <a:pt x="547" y="1531"/>
                  </a:lnTo>
                  <a:lnTo>
                    <a:pt x="549" y="1531"/>
                  </a:lnTo>
                  <a:lnTo>
                    <a:pt x="551" y="1531"/>
                  </a:lnTo>
                  <a:lnTo>
                    <a:pt x="553" y="1533"/>
                  </a:lnTo>
                  <a:lnTo>
                    <a:pt x="554" y="1533"/>
                  </a:lnTo>
                  <a:lnTo>
                    <a:pt x="556" y="1533"/>
                  </a:lnTo>
                  <a:lnTo>
                    <a:pt x="558" y="1533"/>
                  </a:lnTo>
                  <a:lnTo>
                    <a:pt x="560" y="1533"/>
                  </a:lnTo>
                  <a:lnTo>
                    <a:pt x="562" y="1535"/>
                  </a:lnTo>
                  <a:lnTo>
                    <a:pt x="564" y="1535"/>
                  </a:lnTo>
                  <a:lnTo>
                    <a:pt x="566" y="1535"/>
                  </a:lnTo>
                  <a:lnTo>
                    <a:pt x="570" y="1537"/>
                  </a:lnTo>
                  <a:lnTo>
                    <a:pt x="572" y="1537"/>
                  </a:lnTo>
                  <a:lnTo>
                    <a:pt x="576" y="1537"/>
                  </a:lnTo>
                  <a:lnTo>
                    <a:pt x="579" y="1539"/>
                  </a:lnTo>
                  <a:lnTo>
                    <a:pt x="583" y="1539"/>
                  </a:lnTo>
                  <a:lnTo>
                    <a:pt x="587" y="1541"/>
                  </a:lnTo>
                  <a:lnTo>
                    <a:pt x="591" y="1541"/>
                  </a:lnTo>
                  <a:lnTo>
                    <a:pt x="597" y="1543"/>
                  </a:lnTo>
                  <a:lnTo>
                    <a:pt x="601" y="1543"/>
                  </a:lnTo>
                  <a:lnTo>
                    <a:pt x="604" y="1545"/>
                  </a:lnTo>
                  <a:lnTo>
                    <a:pt x="610" y="1545"/>
                  </a:lnTo>
                  <a:lnTo>
                    <a:pt x="614" y="1545"/>
                  </a:lnTo>
                  <a:lnTo>
                    <a:pt x="618" y="1545"/>
                  </a:lnTo>
                  <a:lnTo>
                    <a:pt x="622" y="1545"/>
                  </a:lnTo>
                  <a:lnTo>
                    <a:pt x="624" y="1545"/>
                  </a:lnTo>
                  <a:lnTo>
                    <a:pt x="627" y="1545"/>
                  </a:lnTo>
                  <a:lnTo>
                    <a:pt x="631" y="1543"/>
                  </a:lnTo>
                  <a:lnTo>
                    <a:pt x="633" y="1543"/>
                  </a:lnTo>
                  <a:lnTo>
                    <a:pt x="637" y="1541"/>
                  </a:lnTo>
                  <a:lnTo>
                    <a:pt x="639" y="1539"/>
                  </a:lnTo>
                  <a:lnTo>
                    <a:pt x="641" y="1539"/>
                  </a:lnTo>
                  <a:lnTo>
                    <a:pt x="643" y="1537"/>
                  </a:lnTo>
                  <a:lnTo>
                    <a:pt x="645" y="1535"/>
                  </a:lnTo>
                  <a:lnTo>
                    <a:pt x="647" y="1533"/>
                  </a:lnTo>
                  <a:lnTo>
                    <a:pt x="649" y="1533"/>
                  </a:lnTo>
                  <a:lnTo>
                    <a:pt x="650" y="1531"/>
                  </a:lnTo>
                  <a:lnTo>
                    <a:pt x="650" y="1529"/>
                  </a:lnTo>
                  <a:lnTo>
                    <a:pt x="652" y="1527"/>
                  </a:lnTo>
                  <a:lnTo>
                    <a:pt x="654" y="1526"/>
                  </a:lnTo>
                  <a:lnTo>
                    <a:pt x="654" y="1524"/>
                  </a:lnTo>
                  <a:lnTo>
                    <a:pt x="656" y="1524"/>
                  </a:lnTo>
                  <a:lnTo>
                    <a:pt x="656" y="1522"/>
                  </a:lnTo>
                  <a:lnTo>
                    <a:pt x="656" y="1520"/>
                  </a:lnTo>
                  <a:lnTo>
                    <a:pt x="658" y="1520"/>
                  </a:lnTo>
                  <a:lnTo>
                    <a:pt x="658" y="1518"/>
                  </a:lnTo>
                  <a:lnTo>
                    <a:pt x="658" y="1516"/>
                  </a:lnTo>
                  <a:lnTo>
                    <a:pt x="691" y="1441"/>
                  </a:lnTo>
                  <a:lnTo>
                    <a:pt x="837" y="1443"/>
                  </a:lnTo>
                  <a:lnTo>
                    <a:pt x="837" y="1445"/>
                  </a:lnTo>
                  <a:lnTo>
                    <a:pt x="839" y="1447"/>
                  </a:lnTo>
                  <a:lnTo>
                    <a:pt x="839" y="1449"/>
                  </a:lnTo>
                  <a:lnTo>
                    <a:pt x="841" y="1451"/>
                  </a:lnTo>
                  <a:lnTo>
                    <a:pt x="841" y="1453"/>
                  </a:lnTo>
                  <a:lnTo>
                    <a:pt x="842" y="1456"/>
                  </a:lnTo>
                  <a:lnTo>
                    <a:pt x="842" y="1458"/>
                  </a:lnTo>
                  <a:lnTo>
                    <a:pt x="844" y="1460"/>
                  </a:lnTo>
                  <a:lnTo>
                    <a:pt x="844" y="1464"/>
                  </a:lnTo>
                  <a:lnTo>
                    <a:pt x="846" y="1466"/>
                  </a:lnTo>
                  <a:lnTo>
                    <a:pt x="846" y="1470"/>
                  </a:lnTo>
                  <a:lnTo>
                    <a:pt x="848" y="1472"/>
                  </a:lnTo>
                  <a:lnTo>
                    <a:pt x="850" y="1476"/>
                  </a:lnTo>
                  <a:lnTo>
                    <a:pt x="850" y="1479"/>
                  </a:lnTo>
                  <a:lnTo>
                    <a:pt x="852" y="1483"/>
                  </a:lnTo>
                  <a:lnTo>
                    <a:pt x="854" y="1485"/>
                  </a:lnTo>
                  <a:lnTo>
                    <a:pt x="856" y="1489"/>
                  </a:lnTo>
                  <a:lnTo>
                    <a:pt x="856" y="1493"/>
                  </a:lnTo>
                  <a:lnTo>
                    <a:pt x="858" y="1497"/>
                  </a:lnTo>
                  <a:lnTo>
                    <a:pt x="860" y="1501"/>
                  </a:lnTo>
                  <a:lnTo>
                    <a:pt x="862" y="1503"/>
                  </a:lnTo>
                  <a:lnTo>
                    <a:pt x="862" y="1506"/>
                  </a:lnTo>
                  <a:lnTo>
                    <a:pt x="864" y="1510"/>
                  </a:lnTo>
                  <a:lnTo>
                    <a:pt x="865" y="1514"/>
                  </a:lnTo>
                  <a:lnTo>
                    <a:pt x="867" y="1516"/>
                  </a:lnTo>
                  <a:lnTo>
                    <a:pt x="867" y="1520"/>
                  </a:lnTo>
                  <a:lnTo>
                    <a:pt x="869" y="1524"/>
                  </a:lnTo>
                  <a:lnTo>
                    <a:pt x="871" y="1526"/>
                  </a:lnTo>
                  <a:lnTo>
                    <a:pt x="873" y="1529"/>
                  </a:lnTo>
                  <a:lnTo>
                    <a:pt x="873" y="1531"/>
                  </a:lnTo>
                  <a:lnTo>
                    <a:pt x="875" y="1533"/>
                  </a:lnTo>
                  <a:lnTo>
                    <a:pt x="877" y="1537"/>
                  </a:lnTo>
                  <a:lnTo>
                    <a:pt x="879" y="1539"/>
                  </a:lnTo>
                  <a:lnTo>
                    <a:pt x="881" y="1541"/>
                  </a:lnTo>
                  <a:lnTo>
                    <a:pt x="883" y="1543"/>
                  </a:lnTo>
                  <a:lnTo>
                    <a:pt x="885" y="1545"/>
                  </a:lnTo>
                  <a:lnTo>
                    <a:pt x="887" y="1545"/>
                  </a:lnTo>
                  <a:lnTo>
                    <a:pt x="889" y="1547"/>
                  </a:lnTo>
                  <a:lnTo>
                    <a:pt x="890" y="1549"/>
                  </a:lnTo>
                  <a:lnTo>
                    <a:pt x="892" y="1549"/>
                  </a:lnTo>
                  <a:lnTo>
                    <a:pt x="894" y="1550"/>
                  </a:lnTo>
                  <a:lnTo>
                    <a:pt x="896" y="1550"/>
                  </a:lnTo>
                  <a:lnTo>
                    <a:pt x="898" y="1550"/>
                  </a:lnTo>
                  <a:lnTo>
                    <a:pt x="900" y="1552"/>
                  </a:lnTo>
                  <a:lnTo>
                    <a:pt x="902" y="1552"/>
                  </a:lnTo>
                  <a:lnTo>
                    <a:pt x="904" y="1552"/>
                  </a:lnTo>
                  <a:lnTo>
                    <a:pt x="906" y="1552"/>
                  </a:lnTo>
                  <a:lnTo>
                    <a:pt x="908" y="1552"/>
                  </a:lnTo>
                  <a:lnTo>
                    <a:pt x="910" y="1552"/>
                  </a:lnTo>
                  <a:lnTo>
                    <a:pt x="912" y="1552"/>
                  </a:lnTo>
                  <a:lnTo>
                    <a:pt x="913" y="1554"/>
                  </a:lnTo>
                  <a:lnTo>
                    <a:pt x="915" y="1552"/>
                  </a:lnTo>
                  <a:lnTo>
                    <a:pt x="917" y="1552"/>
                  </a:lnTo>
                  <a:lnTo>
                    <a:pt x="919" y="1552"/>
                  </a:lnTo>
                  <a:lnTo>
                    <a:pt x="921" y="1552"/>
                  </a:lnTo>
                  <a:lnTo>
                    <a:pt x="923" y="1552"/>
                  </a:lnTo>
                  <a:lnTo>
                    <a:pt x="925" y="1552"/>
                  </a:lnTo>
                  <a:lnTo>
                    <a:pt x="927" y="1550"/>
                  </a:lnTo>
                  <a:lnTo>
                    <a:pt x="929" y="1550"/>
                  </a:lnTo>
                  <a:lnTo>
                    <a:pt x="931" y="1550"/>
                  </a:lnTo>
                  <a:lnTo>
                    <a:pt x="935" y="1550"/>
                  </a:lnTo>
                  <a:lnTo>
                    <a:pt x="936" y="1549"/>
                  </a:lnTo>
                  <a:lnTo>
                    <a:pt x="938" y="1549"/>
                  </a:lnTo>
                  <a:lnTo>
                    <a:pt x="940" y="1549"/>
                  </a:lnTo>
                  <a:lnTo>
                    <a:pt x="944" y="1547"/>
                  </a:lnTo>
                  <a:lnTo>
                    <a:pt x="946" y="1547"/>
                  </a:lnTo>
                  <a:lnTo>
                    <a:pt x="950" y="1547"/>
                  </a:lnTo>
                  <a:lnTo>
                    <a:pt x="954" y="1545"/>
                  </a:lnTo>
                  <a:lnTo>
                    <a:pt x="958" y="1545"/>
                  </a:lnTo>
                  <a:lnTo>
                    <a:pt x="961" y="1543"/>
                  </a:lnTo>
                  <a:lnTo>
                    <a:pt x="965" y="1543"/>
                  </a:lnTo>
                  <a:lnTo>
                    <a:pt x="971" y="1541"/>
                  </a:lnTo>
                  <a:lnTo>
                    <a:pt x="975" y="1539"/>
                  </a:lnTo>
                  <a:lnTo>
                    <a:pt x="981" y="1539"/>
                  </a:lnTo>
                  <a:lnTo>
                    <a:pt x="984" y="1537"/>
                  </a:lnTo>
                  <a:lnTo>
                    <a:pt x="988" y="1535"/>
                  </a:lnTo>
                  <a:lnTo>
                    <a:pt x="990" y="1533"/>
                  </a:lnTo>
                  <a:lnTo>
                    <a:pt x="994" y="1531"/>
                  </a:lnTo>
                  <a:lnTo>
                    <a:pt x="998" y="1529"/>
                  </a:lnTo>
                  <a:lnTo>
                    <a:pt x="1000" y="1527"/>
                  </a:lnTo>
                  <a:lnTo>
                    <a:pt x="1002" y="1526"/>
                  </a:lnTo>
                  <a:lnTo>
                    <a:pt x="1004" y="1522"/>
                  </a:lnTo>
                  <a:lnTo>
                    <a:pt x="1006" y="1520"/>
                  </a:lnTo>
                  <a:lnTo>
                    <a:pt x="1008" y="1518"/>
                  </a:lnTo>
                  <a:lnTo>
                    <a:pt x="1009" y="1516"/>
                  </a:lnTo>
                  <a:lnTo>
                    <a:pt x="1009" y="1514"/>
                  </a:lnTo>
                  <a:lnTo>
                    <a:pt x="1011" y="1512"/>
                  </a:lnTo>
                  <a:lnTo>
                    <a:pt x="1011" y="1508"/>
                  </a:lnTo>
                  <a:lnTo>
                    <a:pt x="1011" y="1506"/>
                  </a:lnTo>
                  <a:lnTo>
                    <a:pt x="1013" y="1504"/>
                  </a:lnTo>
                  <a:lnTo>
                    <a:pt x="1013" y="1503"/>
                  </a:lnTo>
                  <a:lnTo>
                    <a:pt x="1013" y="1501"/>
                  </a:lnTo>
                  <a:lnTo>
                    <a:pt x="1013" y="1499"/>
                  </a:lnTo>
                  <a:lnTo>
                    <a:pt x="1013" y="1497"/>
                  </a:lnTo>
                  <a:lnTo>
                    <a:pt x="1013" y="1495"/>
                  </a:lnTo>
                  <a:lnTo>
                    <a:pt x="1013" y="1493"/>
                  </a:lnTo>
                  <a:lnTo>
                    <a:pt x="1013" y="1491"/>
                  </a:lnTo>
                  <a:lnTo>
                    <a:pt x="1013" y="1489"/>
                  </a:lnTo>
                  <a:lnTo>
                    <a:pt x="1013" y="1487"/>
                  </a:lnTo>
                  <a:lnTo>
                    <a:pt x="1006" y="1407"/>
                  </a:lnTo>
                  <a:lnTo>
                    <a:pt x="1136" y="1341"/>
                  </a:lnTo>
                  <a:lnTo>
                    <a:pt x="1138" y="1341"/>
                  </a:lnTo>
                  <a:lnTo>
                    <a:pt x="1138" y="1343"/>
                  </a:lnTo>
                  <a:lnTo>
                    <a:pt x="1140" y="1343"/>
                  </a:lnTo>
                  <a:lnTo>
                    <a:pt x="1142" y="1345"/>
                  </a:lnTo>
                  <a:lnTo>
                    <a:pt x="1142" y="1347"/>
                  </a:lnTo>
                  <a:lnTo>
                    <a:pt x="1144" y="1349"/>
                  </a:lnTo>
                  <a:lnTo>
                    <a:pt x="1146" y="1349"/>
                  </a:lnTo>
                  <a:lnTo>
                    <a:pt x="1148" y="1351"/>
                  </a:lnTo>
                  <a:lnTo>
                    <a:pt x="1152" y="1353"/>
                  </a:lnTo>
                  <a:lnTo>
                    <a:pt x="1153" y="1355"/>
                  </a:lnTo>
                  <a:lnTo>
                    <a:pt x="1155" y="1359"/>
                  </a:lnTo>
                  <a:lnTo>
                    <a:pt x="1157" y="1360"/>
                  </a:lnTo>
                  <a:lnTo>
                    <a:pt x="1161" y="1362"/>
                  </a:lnTo>
                  <a:lnTo>
                    <a:pt x="1163" y="1364"/>
                  </a:lnTo>
                  <a:lnTo>
                    <a:pt x="1167" y="1366"/>
                  </a:lnTo>
                  <a:lnTo>
                    <a:pt x="1169" y="1370"/>
                  </a:lnTo>
                  <a:lnTo>
                    <a:pt x="1173" y="1372"/>
                  </a:lnTo>
                  <a:lnTo>
                    <a:pt x="1175" y="1374"/>
                  </a:lnTo>
                  <a:lnTo>
                    <a:pt x="1178" y="1376"/>
                  </a:lnTo>
                  <a:lnTo>
                    <a:pt x="1180" y="1380"/>
                  </a:lnTo>
                  <a:lnTo>
                    <a:pt x="1184" y="1382"/>
                  </a:lnTo>
                  <a:lnTo>
                    <a:pt x="1186" y="1384"/>
                  </a:lnTo>
                  <a:lnTo>
                    <a:pt x="1190" y="1387"/>
                  </a:lnTo>
                  <a:lnTo>
                    <a:pt x="1192" y="1389"/>
                  </a:lnTo>
                  <a:lnTo>
                    <a:pt x="1196" y="1391"/>
                  </a:lnTo>
                  <a:lnTo>
                    <a:pt x="1198" y="1393"/>
                  </a:lnTo>
                  <a:lnTo>
                    <a:pt x="1201" y="1397"/>
                  </a:lnTo>
                  <a:lnTo>
                    <a:pt x="1203" y="1399"/>
                  </a:lnTo>
                  <a:lnTo>
                    <a:pt x="1205" y="1401"/>
                  </a:lnTo>
                  <a:lnTo>
                    <a:pt x="1209" y="1403"/>
                  </a:lnTo>
                  <a:lnTo>
                    <a:pt x="1211" y="1405"/>
                  </a:lnTo>
                  <a:lnTo>
                    <a:pt x="1213" y="1405"/>
                  </a:lnTo>
                  <a:lnTo>
                    <a:pt x="1217" y="1407"/>
                  </a:lnTo>
                  <a:lnTo>
                    <a:pt x="1219" y="1408"/>
                  </a:lnTo>
                  <a:lnTo>
                    <a:pt x="1221" y="1408"/>
                  </a:lnTo>
                  <a:lnTo>
                    <a:pt x="1224" y="1408"/>
                  </a:lnTo>
                  <a:lnTo>
                    <a:pt x="1226" y="1410"/>
                  </a:lnTo>
                  <a:lnTo>
                    <a:pt x="1228" y="1410"/>
                  </a:lnTo>
                  <a:lnTo>
                    <a:pt x="1230" y="1410"/>
                  </a:lnTo>
                  <a:lnTo>
                    <a:pt x="1232" y="1410"/>
                  </a:lnTo>
                  <a:lnTo>
                    <a:pt x="1236" y="1410"/>
                  </a:lnTo>
                  <a:lnTo>
                    <a:pt x="1238" y="1410"/>
                  </a:lnTo>
                  <a:lnTo>
                    <a:pt x="1240" y="1410"/>
                  </a:lnTo>
                  <a:lnTo>
                    <a:pt x="1242" y="1410"/>
                  </a:lnTo>
                  <a:lnTo>
                    <a:pt x="1244" y="1408"/>
                  </a:lnTo>
                  <a:lnTo>
                    <a:pt x="1246" y="1408"/>
                  </a:lnTo>
                  <a:lnTo>
                    <a:pt x="1247" y="1408"/>
                  </a:lnTo>
                  <a:lnTo>
                    <a:pt x="1249" y="1408"/>
                  </a:lnTo>
                  <a:lnTo>
                    <a:pt x="1251" y="1407"/>
                  </a:lnTo>
                  <a:lnTo>
                    <a:pt x="1253" y="1407"/>
                  </a:lnTo>
                  <a:lnTo>
                    <a:pt x="1255" y="1405"/>
                  </a:lnTo>
                  <a:lnTo>
                    <a:pt x="1257" y="1405"/>
                  </a:lnTo>
                  <a:lnTo>
                    <a:pt x="1259" y="1405"/>
                  </a:lnTo>
                  <a:lnTo>
                    <a:pt x="1259" y="1403"/>
                  </a:lnTo>
                  <a:lnTo>
                    <a:pt x="1261" y="1403"/>
                  </a:lnTo>
                  <a:lnTo>
                    <a:pt x="1261" y="1401"/>
                  </a:lnTo>
                  <a:lnTo>
                    <a:pt x="1263" y="1401"/>
                  </a:lnTo>
                  <a:lnTo>
                    <a:pt x="1265" y="1399"/>
                  </a:lnTo>
                  <a:lnTo>
                    <a:pt x="1267" y="1397"/>
                  </a:lnTo>
                  <a:lnTo>
                    <a:pt x="1269" y="1395"/>
                  </a:lnTo>
                  <a:lnTo>
                    <a:pt x="1271" y="1395"/>
                  </a:lnTo>
                  <a:lnTo>
                    <a:pt x="1271" y="1393"/>
                  </a:lnTo>
                  <a:lnTo>
                    <a:pt x="1272" y="1391"/>
                  </a:lnTo>
                  <a:lnTo>
                    <a:pt x="1274" y="1391"/>
                  </a:lnTo>
                  <a:lnTo>
                    <a:pt x="1276" y="1389"/>
                  </a:lnTo>
                  <a:lnTo>
                    <a:pt x="1278" y="1387"/>
                  </a:lnTo>
                  <a:lnTo>
                    <a:pt x="1280" y="1385"/>
                  </a:lnTo>
                  <a:lnTo>
                    <a:pt x="1282" y="1384"/>
                  </a:lnTo>
                  <a:lnTo>
                    <a:pt x="1286" y="1382"/>
                  </a:lnTo>
                  <a:lnTo>
                    <a:pt x="1288" y="1378"/>
                  </a:lnTo>
                  <a:lnTo>
                    <a:pt x="1292" y="1376"/>
                  </a:lnTo>
                  <a:lnTo>
                    <a:pt x="1294" y="1372"/>
                  </a:lnTo>
                  <a:lnTo>
                    <a:pt x="1297" y="1370"/>
                  </a:lnTo>
                  <a:lnTo>
                    <a:pt x="1301" y="1366"/>
                  </a:lnTo>
                  <a:lnTo>
                    <a:pt x="1305" y="1362"/>
                  </a:lnTo>
                  <a:lnTo>
                    <a:pt x="1309" y="1360"/>
                  </a:lnTo>
                  <a:lnTo>
                    <a:pt x="1311" y="1357"/>
                  </a:lnTo>
                  <a:lnTo>
                    <a:pt x="1313" y="1353"/>
                  </a:lnTo>
                  <a:lnTo>
                    <a:pt x="1317" y="1351"/>
                  </a:lnTo>
                  <a:lnTo>
                    <a:pt x="1319" y="1347"/>
                  </a:lnTo>
                  <a:lnTo>
                    <a:pt x="1319" y="1343"/>
                  </a:lnTo>
                  <a:lnTo>
                    <a:pt x="1320" y="1341"/>
                  </a:lnTo>
                  <a:lnTo>
                    <a:pt x="1322" y="1337"/>
                  </a:lnTo>
                  <a:lnTo>
                    <a:pt x="1322" y="1336"/>
                  </a:lnTo>
                  <a:lnTo>
                    <a:pt x="1322" y="1332"/>
                  </a:lnTo>
                  <a:lnTo>
                    <a:pt x="1324" y="1330"/>
                  </a:lnTo>
                  <a:lnTo>
                    <a:pt x="1324" y="1328"/>
                  </a:lnTo>
                  <a:lnTo>
                    <a:pt x="1324" y="1324"/>
                  </a:lnTo>
                  <a:lnTo>
                    <a:pt x="1324" y="1322"/>
                  </a:lnTo>
                  <a:lnTo>
                    <a:pt x="1322" y="1320"/>
                  </a:lnTo>
                  <a:lnTo>
                    <a:pt x="1322" y="1318"/>
                  </a:lnTo>
                  <a:lnTo>
                    <a:pt x="1322" y="1316"/>
                  </a:lnTo>
                  <a:lnTo>
                    <a:pt x="1322" y="1312"/>
                  </a:lnTo>
                  <a:lnTo>
                    <a:pt x="1320" y="1312"/>
                  </a:lnTo>
                  <a:lnTo>
                    <a:pt x="1320" y="1311"/>
                  </a:lnTo>
                  <a:lnTo>
                    <a:pt x="1320" y="1309"/>
                  </a:lnTo>
                  <a:lnTo>
                    <a:pt x="1319" y="1307"/>
                  </a:lnTo>
                  <a:lnTo>
                    <a:pt x="1319" y="1305"/>
                  </a:lnTo>
                  <a:lnTo>
                    <a:pt x="1317" y="1303"/>
                  </a:lnTo>
                  <a:lnTo>
                    <a:pt x="1317" y="1301"/>
                  </a:lnTo>
                  <a:lnTo>
                    <a:pt x="1315" y="1301"/>
                  </a:lnTo>
                  <a:lnTo>
                    <a:pt x="1271" y="1230"/>
                  </a:lnTo>
                  <a:lnTo>
                    <a:pt x="1353" y="1111"/>
                  </a:lnTo>
                  <a:lnTo>
                    <a:pt x="1355" y="1111"/>
                  </a:lnTo>
                  <a:lnTo>
                    <a:pt x="1357" y="1111"/>
                  </a:lnTo>
                  <a:lnTo>
                    <a:pt x="1359" y="1113"/>
                  </a:lnTo>
                  <a:lnTo>
                    <a:pt x="1361" y="1113"/>
                  </a:lnTo>
                  <a:lnTo>
                    <a:pt x="1363" y="1113"/>
                  </a:lnTo>
                  <a:lnTo>
                    <a:pt x="1365" y="1113"/>
                  </a:lnTo>
                  <a:lnTo>
                    <a:pt x="1368" y="1115"/>
                  </a:lnTo>
                  <a:lnTo>
                    <a:pt x="1370" y="1115"/>
                  </a:lnTo>
                  <a:lnTo>
                    <a:pt x="1374" y="1117"/>
                  </a:lnTo>
                  <a:lnTo>
                    <a:pt x="1376" y="1117"/>
                  </a:lnTo>
                  <a:lnTo>
                    <a:pt x="1380" y="1117"/>
                  </a:lnTo>
                  <a:lnTo>
                    <a:pt x="1382" y="1119"/>
                  </a:lnTo>
                  <a:lnTo>
                    <a:pt x="1386" y="1119"/>
                  </a:lnTo>
                  <a:lnTo>
                    <a:pt x="1390" y="1121"/>
                  </a:lnTo>
                  <a:lnTo>
                    <a:pt x="1393" y="1121"/>
                  </a:lnTo>
                  <a:lnTo>
                    <a:pt x="1397" y="1122"/>
                  </a:lnTo>
                  <a:lnTo>
                    <a:pt x="1399" y="1122"/>
                  </a:lnTo>
                  <a:lnTo>
                    <a:pt x="1403" y="1122"/>
                  </a:lnTo>
                  <a:lnTo>
                    <a:pt x="1407" y="1124"/>
                  </a:lnTo>
                  <a:lnTo>
                    <a:pt x="1411" y="1124"/>
                  </a:lnTo>
                  <a:lnTo>
                    <a:pt x="1415" y="1126"/>
                  </a:lnTo>
                  <a:lnTo>
                    <a:pt x="1418" y="1126"/>
                  </a:lnTo>
                  <a:lnTo>
                    <a:pt x="1422" y="1128"/>
                  </a:lnTo>
                  <a:lnTo>
                    <a:pt x="1426" y="1128"/>
                  </a:lnTo>
                  <a:lnTo>
                    <a:pt x="1430" y="1128"/>
                  </a:lnTo>
                  <a:lnTo>
                    <a:pt x="1434" y="1130"/>
                  </a:lnTo>
                  <a:lnTo>
                    <a:pt x="1438" y="1130"/>
                  </a:lnTo>
                  <a:lnTo>
                    <a:pt x="1439" y="1130"/>
                  </a:lnTo>
                  <a:lnTo>
                    <a:pt x="1443" y="1132"/>
                  </a:lnTo>
                  <a:lnTo>
                    <a:pt x="1447" y="1132"/>
                  </a:lnTo>
                  <a:lnTo>
                    <a:pt x="1449" y="1132"/>
                  </a:lnTo>
                  <a:lnTo>
                    <a:pt x="1453" y="1132"/>
                  </a:lnTo>
                  <a:lnTo>
                    <a:pt x="1455" y="1132"/>
                  </a:lnTo>
                  <a:lnTo>
                    <a:pt x="1459" y="1132"/>
                  </a:lnTo>
                  <a:lnTo>
                    <a:pt x="1461" y="1132"/>
                  </a:lnTo>
                  <a:lnTo>
                    <a:pt x="1462" y="1130"/>
                  </a:lnTo>
                  <a:lnTo>
                    <a:pt x="1466" y="1130"/>
                  </a:lnTo>
                  <a:lnTo>
                    <a:pt x="1468" y="1130"/>
                  </a:lnTo>
                  <a:lnTo>
                    <a:pt x="1470" y="1128"/>
                  </a:lnTo>
                  <a:lnTo>
                    <a:pt x="1472" y="1128"/>
                  </a:lnTo>
                  <a:lnTo>
                    <a:pt x="1474" y="1126"/>
                  </a:lnTo>
                  <a:lnTo>
                    <a:pt x="1476" y="1124"/>
                  </a:lnTo>
                  <a:lnTo>
                    <a:pt x="1478" y="1124"/>
                  </a:lnTo>
                  <a:lnTo>
                    <a:pt x="1480" y="1122"/>
                  </a:lnTo>
                  <a:lnTo>
                    <a:pt x="1482" y="1121"/>
                  </a:lnTo>
                  <a:lnTo>
                    <a:pt x="1484" y="1121"/>
                  </a:lnTo>
                  <a:lnTo>
                    <a:pt x="1486" y="1119"/>
                  </a:lnTo>
                  <a:lnTo>
                    <a:pt x="1486" y="1117"/>
                  </a:lnTo>
                  <a:lnTo>
                    <a:pt x="1487" y="1117"/>
                  </a:lnTo>
                  <a:lnTo>
                    <a:pt x="1489" y="1115"/>
                  </a:lnTo>
                  <a:lnTo>
                    <a:pt x="1489" y="1113"/>
                  </a:lnTo>
                  <a:lnTo>
                    <a:pt x="1491" y="1113"/>
                  </a:lnTo>
                  <a:lnTo>
                    <a:pt x="1491" y="1111"/>
                  </a:lnTo>
                  <a:lnTo>
                    <a:pt x="1491" y="1109"/>
                  </a:lnTo>
                  <a:lnTo>
                    <a:pt x="1493" y="1109"/>
                  </a:lnTo>
                  <a:lnTo>
                    <a:pt x="1493" y="1107"/>
                  </a:lnTo>
                  <a:lnTo>
                    <a:pt x="1495" y="1107"/>
                  </a:lnTo>
                  <a:lnTo>
                    <a:pt x="1495" y="1105"/>
                  </a:lnTo>
                  <a:lnTo>
                    <a:pt x="1495" y="1103"/>
                  </a:lnTo>
                  <a:lnTo>
                    <a:pt x="1495" y="1101"/>
                  </a:lnTo>
                  <a:lnTo>
                    <a:pt x="1497" y="1101"/>
                  </a:lnTo>
                  <a:lnTo>
                    <a:pt x="1497" y="1099"/>
                  </a:lnTo>
                  <a:lnTo>
                    <a:pt x="1497" y="1098"/>
                  </a:lnTo>
                  <a:lnTo>
                    <a:pt x="1499" y="1096"/>
                  </a:lnTo>
                  <a:lnTo>
                    <a:pt x="1499" y="1094"/>
                  </a:lnTo>
                  <a:lnTo>
                    <a:pt x="1499" y="1092"/>
                  </a:lnTo>
                  <a:lnTo>
                    <a:pt x="1501" y="1090"/>
                  </a:lnTo>
                  <a:lnTo>
                    <a:pt x="1501" y="1088"/>
                  </a:lnTo>
                  <a:lnTo>
                    <a:pt x="1503" y="1086"/>
                  </a:lnTo>
                  <a:lnTo>
                    <a:pt x="1503" y="1082"/>
                  </a:lnTo>
                  <a:lnTo>
                    <a:pt x="1505" y="1080"/>
                  </a:lnTo>
                  <a:lnTo>
                    <a:pt x="1505" y="1076"/>
                  </a:lnTo>
                  <a:lnTo>
                    <a:pt x="1507" y="1073"/>
                  </a:lnTo>
                  <a:lnTo>
                    <a:pt x="1509" y="1069"/>
                  </a:lnTo>
                  <a:lnTo>
                    <a:pt x="1509" y="1065"/>
                  </a:lnTo>
                  <a:lnTo>
                    <a:pt x="1510" y="1061"/>
                  </a:lnTo>
                  <a:lnTo>
                    <a:pt x="1512" y="1057"/>
                  </a:lnTo>
                  <a:lnTo>
                    <a:pt x="1514" y="1051"/>
                  </a:lnTo>
                  <a:lnTo>
                    <a:pt x="1516" y="1048"/>
                  </a:lnTo>
                  <a:lnTo>
                    <a:pt x="1516" y="1044"/>
                  </a:lnTo>
                  <a:lnTo>
                    <a:pt x="1516" y="1040"/>
                  </a:lnTo>
                  <a:lnTo>
                    <a:pt x="1518" y="1036"/>
                  </a:lnTo>
                  <a:lnTo>
                    <a:pt x="1518" y="1032"/>
                  </a:lnTo>
                  <a:lnTo>
                    <a:pt x="1518" y="1028"/>
                  </a:lnTo>
                  <a:lnTo>
                    <a:pt x="1518" y="1025"/>
                  </a:lnTo>
                  <a:lnTo>
                    <a:pt x="1516" y="1023"/>
                  </a:lnTo>
                  <a:lnTo>
                    <a:pt x="1516" y="1019"/>
                  </a:lnTo>
                  <a:lnTo>
                    <a:pt x="1516" y="1017"/>
                  </a:lnTo>
                  <a:lnTo>
                    <a:pt x="1514" y="1013"/>
                  </a:lnTo>
                  <a:lnTo>
                    <a:pt x="1514" y="1011"/>
                  </a:lnTo>
                  <a:lnTo>
                    <a:pt x="1512" y="1009"/>
                  </a:lnTo>
                  <a:lnTo>
                    <a:pt x="1510" y="1007"/>
                  </a:lnTo>
                  <a:lnTo>
                    <a:pt x="1510" y="1005"/>
                  </a:lnTo>
                  <a:lnTo>
                    <a:pt x="1509" y="1003"/>
                  </a:lnTo>
                  <a:lnTo>
                    <a:pt x="1507" y="1002"/>
                  </a:lnTo>
                  <a:lnTo>
                    <a:pt x="1505" y="1000"/>
                  </a:lnTo>
                  <a:lnTo>
                    <a:pt x="1505" y="998"/>
                  </a:lnTo>
                  <a:lnTo>
                    <a:pt x="1503" y="998"/>
                  </a:lnTo>
                  <a:lnTo>
                    <a:pt x="1501" y="996"/>
                  </a:lnTo>
                  <a:lnTo>
                    <a:pt x="1499" y="996"/>
                  </a:lnTo>
                  <a:lnTo>
                    <a:pt x="1499" y="994"/>
                  </a:lnTo>
                  <a:lnTo>
                    <a:pt x="1497" y="994"/>
                  </a:lnTo>
                  <a:lnTo>
                    <a:pt x="1497" y="992"/>
                  </a:lnTo>
                  <a:lnTo>
                    <a:pt x="1495" y="992"/>
                  </a:lnTo>
                  <a:lnTo>
                    <a:pt x="1493" y="992"/>
                  </a:lnTo>
                  <a:lnTo>
                    <a:pt x="1493" y="990"/>
                  </a:lnTo>
                  <a:lnTo>
                    <a:pt x="1422" y="950"/>
                  </a:lnTo>
                  <a:lnTo>
                    <a:pt x="1439" y="806"/>
                  </a:lnTo>
                  <a:lnTo>
                    <a:pt x="1441" y="806"/>
                  </a:lnTo>
                  <a:lnTo>
                    <a:pt x="1443" y="806"/>
                  </a:lnTo>
                  <a:lnTo>
                    <a:pt x="1443" y="804"/>
                  </a:lnTo>
                  <a:lnTo>
                    <a:pt x="1445" y="804"/>
                  </a:lnTo>
                  <a:lnTo>
                    <a:pt x="1447" y="804"/>
                  </a:lnTo>
                  <a:lnTo>
                    <a:pt x="1449" y="804"/>
                  </a:lnTo>
                  <a:lnTo>
                    <a:pt x="1451" y="804"/>
                  </a:lnTo>
                  <a:lnTo>
                    <a:pt x="1455" y="802"/>
                  </a:lnTo>
                  <a:lnTo>
                    <a:pt x="1457" y="802"/>
                  </a:lnTo>
                  <a:lnTo>
                    <a:pt x="1461" y="802"/>
                  </a:lnTo>
                  <a:lnTo>
                    <a:pt x="1462" y="800"/>
                  </a:lnTo>
                  <a:lnTo>
                    <a:pt x="1466" y="800"/>
                  </a:lnTo>
                  <a:lnTo>
                    <a:pt x="1468" y="800"/>
                  </a:lnTo>
                  <a:lnTo>
                    <a:pt x="1472" y="798"/>
                  </a:lnTo>
                  <a:lnTo>
                    <a:pt x="1476" y="798"/>
                  </a:lnTo>
                  <a:lnTo>
                    <a:pt x="1480" y="796"/>
                  </a:lnTo>
                  <a:lnTo>
                    <a:pt x="1484" y="796"/>
                  </a:lnTo>
                  <a:lnTo>
                    <a:pt x="1487" y="794"/>
                  </a:lnTo>
                  <a:lnTo>
                    <a:pt x="1491" y="794"/>
                  </a:lnTo>
                  <a:lnTo>
                    <a:pt x="1493" y="792"/>
                  </a:lnTo>
                  <a:lnTo>
                    <a:pt x="1497" y="792"/>
                  </a:lnTo>
                  <a:lnTo>
                    <a:pt x="1501" y="790"/>
                  </a:lnTo>
                  <a:lnTo>
                    <a:pt x="1505" y="790"/>
                  </a:lnTo>
                  <a:lnTo>
                    <a:pt x="1509" y="789"/>
                  </a:lnTo>
                  <a:lnTo>
                    <a:pt x="1512" y="789"/>
                  </a:lnTo>
                  <a:lnTo>
                    <a:pt x="1516" y="787"/>
                  </a:lnTo>
                  <a:lnTo>
                    <a:pt x="1520" y="785"/>
                  </a:lnTo>
                  <a:lnTo>
                    <a:pt x="1524" y="785"/>
                  </a:lnTo>
                  <a:lnTo>
                    <a:pt x="1528" y="783"/>
                  </a:lnTo>
                  <a:lnTo>
                    <a:pt x="1530" y="783"/>
                  </a:lnTo>
                  <a:lnTo>
                    <a:pt x="1534" y="781"/>
                  </a:lnTo>
                  <a:lnTo>
                    <a:pt x="1535" y="781"/>
                  </a:lnTo>
                  <a:lnTo>
                    <a:pt x="1539" y="779"/>
                  </a:lnTo>
                  <a:lnTo>
                    <a:pt x="1541" y="777"/>
                  </a:lnTo>
                  <a:lnTo>
                    <a:pt x="1543" y="775"/>
                  </a:lnTo>
                  <a:lnTo>
                    <a:pt x="1545" y="775"/>
                  </a:lnTo>
                  <a:lnTo>
                    <a:pt x="1547" y="773"/>
                  </a:lnTo>
                  <a:lnTo>
                    <a:pt x="1549" y="771"/>
                  </a:lnTo>
                  <a:lnTo>
                    <a:pt x="1551" y="769"/>
                  </a:lnTo>
                  <a:lnTo>
                    <a:pt x="1553" y="767"/>
                  </a:lnTo>
                  <a:lnTo>
                    <a:pt x="1553" y="765"/>
                  </a:lnTo>
                  <a:lnTo>
                    <a:pt x="1555" y="764"/>
                  </a:lnTo>
                  <a:lnTo>
                    <a:pt x="1555" y="762"/>
                  </a:lnTo>
                  <a:lnTo>
                    <a:pt x="1557" y="760"/>
                  </a:lnTo>
                  <a:lnTo>
                    <a:pt x="1557" y="758"/>
                  </a:lnTo>
                  <a:lnTo>
                    <a:pt x="1558" y="756"/>
                  </a:lnTo>
                  <a:lnTo>
                    <a:pt x="1558" y="754"/>
                  </a:lnTo>
                  <a:lnTo>
                    <a:pt x="1558" y="752"/>
                  </a:lnTo>
                  <a:lnTo>
                    <a:pt x="1560" y="750"/>
                  </a:lnTo>
                  <a:lnTo>
                    <a:pt x="1560" y="748"/>
                  </a:lnTo>
                  <a:lnTo>
                    <a:pt x="1560" y="746"/>
                  </a:lnTo>
                  <a:lnTo>
                    <a:pt x="1560" y="744"/>
                  </a:lnTo>
                  <a:lnTo>
                    <a:pt x="1560" y="742"/>
                  </a:lnTo>
                  <a:lnTo>
                    <a:pt x="1560" y="741"/>
                  </a:lnTo>
                  <a:lnTo>
                    <a:pt x="1560" y="739"/>
                  </a:lnTo>
                  <a:lnTo>
                    <a:pt x="1562" y="739"/>
                  </a:lnTo>
                  <a:lnTo>
                    <a:pt x="1562" y="737"/>
                  </a:lnTo>
                  <a:lnTo>
                    <a:pt x="1560" y="737"/>
                  </a:lnTo>
                  <a:lnTo>
                    <a:pt x="1560" y="735"/>
                  </a:lnTo>
                  <a:lnTo>
                    <a:pt x="1560" y="733"/>
                  </a:lnTo>
                  <a:lnTo>
                    <a:pt x="1560" y="731"/>
                  </a:lnTo>
                  <a:lnTo>
                    <a:pt x="1560" y="729"/>
                  </a:lnTo>
                  <a:lnTo>
                    <a:pt x="1560" y="727"/>
                  </a:lnTo>
                  <a:lnTo>
                    <a:pt x="1560" y="725"/>
                  </a:lnTo>
                  <a:lnTo>
                    <a:pt x="1560" y="721"/>
                  </a:lnTo>
                  <a:lnTo>
                    <a:pt x="1560" y="719"/>
                  </a:lnTo>
                  <a:lnTo>
                    <a:pt x="1558" y="718"/>
                  </a:lnTo>
                  <a:lnTo>
                    <a:pt x="1558" y="716"/>
                  </a:lnTo>
                  <a:lnTo>
                    <a:pt x="1558" y="712"/>
                  </a:lnTo>
                  <a:lnTo>
                    <a:pt x="1558" y="710"/>
                  </a:lnTo>
                  <a:lnTo>
                    <a:pt x="1558" y="706"/>
                  </a:lnTo>
                  <a:lnTo>
                    <a:pt x="1557" y="702"/>
                  </a:lnTo>
                  <a:lnTo>
                    <a:pt x="1557" y="698"/>
                  </a:lnTo>
                  <a:lnTo>
                    <a:pt x="1557" y="694"/>
                  </a:lnTo>
                  <a:lnTo>
                    <a:pt x="1557" y="689"/>
                  </a:lnTo>
                  <a:lnTo>
                    <a:pt x="1555" y="685"/>
                  </a:lnTo>
                  <a:lnTo>
                    <a:pt x="1555" y="679"/>
                  </a:lnTo>
                  <a:lnTo>
                    <a:pt x="1555" y="675"/>
                  </a:lnTo>
                  <a:lnTo>
                    <a:pt x="1553" y="671"/>
                  </a:lnTo>
                  <a:lnTo>
                    <a:pt x="1553" y="668"/>
                  </a:lnTo>
                  <a:lnTo>
                    <a:pt x="1551" y="664"/>
                  </a:lnTo>
                  <a:lnTo>
                    <a:pt x="1549" y="660"/>
                  </a:lnTo>
                  <a:lnTo>
                    <a:pt x="1547" y="658"/>
                  </a:lnTo>
                  <a:lnTo>
                    <a:pt x="1545" y="654"/>
                  </a:lnTo>
                  <a:lnTo>
                    <a:pt x="1543" y="652"/>
                  </a:lnTo>
                  <a:lnTo>
                    <a:pt x="1541" y="650"/>
                  </a:lnTo>
                  <a:lnTo>
                    <a:pt x="1539" y="648"/>
                  </a:lnTo>
                  <a:lnTo>
                    <a:pt x="1537" y="646"/>
                  </a:lnTo>
                  <a:lnTo>
                    <a:pt x="1535" y="645"/>
                  </a:lnTo>
                  <a:lnTo>
                    <a:pt x="1534" y="643"/>
                  </a:lnTo>
                  <a:lnTo>
                    <a:pt x="1532" y="641"/>
                  </a:lnTo>
                  <a:lnTo>
                    <a:pt x="1530" y="641"/>
                  </a:lnTo>
                  <a:lnTo>
                    <a:pt x="1528" y="639"/>
                  </a:lnTo>
                  <a:lnTo>
                    <a:pt x="1526" y="639"/>
                  </a:lnTo>
                  <a:lnTo>
                    <a:pt x="1524" y="637"/>
                  </a:lnTo>
                  <a:lnTo>
                    <a:pt x="1522" y="637"/>
                  </a:lnTo>
                  <a:lnTo>
                    <a:pt x="1520" y="637"/>
                  </a:lnTo>
                  <a:lnTo>
                    <a:pt x="1518" y="637"/>
                  </a:lnTo>
                  <a:lnTo>
                    <a:pt x="1516" y="637"/>
                  </a:lnTo>
                  <a:lnTo>
                    <a:pt x="1514" y="635"/>
                  </a:lnTo>
                  <a:lnTo>
                    <a:pt x="1512" y="635"/>
                  </a:lnTo>
                  <a:lnTo>
                    <a:pt x="1510" y="635"/>
                  </a:lnTo>
                  <a:lnTo>
                    <a:pt x="1509" y="635"/>
                  </a:lnTo>
                  <a:lnTo>
                    <a:pt x="1426" y="633"/>
                  </a:lnTo>
                  <a:lnTo>
                    <a:pt x="1374" y="497"/>
                  </a:lnTo>
                  <a:lnTo>
                    <a:pt x="1376" y="497"/>
                  </a:lnTo>
                  <a:lnTo>
                    <a:pt x="1376" y="495"/>
                  </a:lnTo>
                  <a:lnTo>
                    <a:pt x="1378" y="493"/>
                  </a:lnTo>
                  <a:lnTo>
                    <a:pt x="1380" y="491"/>
                  </a:lnTo>
                  <a:lnTo>
                    <a:pt x="1382" y="491"/>
                  </a:lnTo>
                  <a:lnTo>
                    <a:pt x="1384" y="489"/>
                  </a:lnTo>
                  <a:lnTo>
                    <a:pt x="1386" y="487"/>
                  </a:lnTo>
                  <a:lnTo>
                    <a:pt x="1388" y="485"/>
                  </a:lnTo>
                  <a:lnTo>
                    <a:pt x="1390" y="483"/>
                  </a:lnTo>
                  <a:lnTo>
                    <a:pt x="1391" y="481"/>
                  </a:lnTo>
                  <a:lnTo>
                    <a:pt x="1395" y="480"/>
                  </a:lnTo>
                  <a:lnTo>
                    <a:pt x="1397" y="478"/>
                  </a:lnTo>
                  <a:lnTo>
                    <a:pt x="1399" y="474"/>
                  </a:lnTo>
                  <a:lnTo>
                    <a:pt x="1403" y="472"/>
                  </a:lnTo>
                  <a:lnTo>
                    <a:pt x="1405" y="470"/>
                  </a:lnTo>
                  <a:lnTo>
                    <a:pt x="1407" y="468"/>
                  </a:lnTo>
                  <a:lnTo>
                    <a:pt x="1411" y="464"/>
                  </a:lnTo>
                  <a:lnTo>
                    <a:pt x="1413" y="462"/>
                  </a:lnTo>
                  <a:lnTo>
                    <a:pt x="1416" y="460"/>
                  </a:lnTo>
                  <a:lnTo>
                    <a:pt x="1418" y="456"/>
                  </a:lnTo>
                  <a:lnTo>
                    <a:pt x="1422" y="455"/>
                  </a:lnTo>
                  <a:lnTo>
                    <a:pt x="1424" y="451"/>
                  </a:lnTo>
                  <a:lnTo>
                    <a:pt x="1428" y="449"/>
                  </a:lnTo>
                  <a:lnTo>
                    <a:pt x="1430" y="447"/>
                  </a:lnTo>
                  <a:lnTo>
                    <a:pt x="1434" y="443"/>
                  </a:lnTo>
                  <a:lnTo>
                    <a:pt x="1436" y="441"/>
                  </a:lnTo>
                  <a:lnTo>
                    <a:pt x="1438" y="439"/>
                  </a:lnTo>
                  <a:lnTo>
                    <a:pt x="1441" y="435"/>
                  </a:lnTo>
                  <a:lnTo>
                    <a:pt x="1443" y="433"/>
                  </a:lnTo>
                  <a:lnTo>
                    <a:pt x="1445" y="432"/>
                  </a:lnTo>
                  <a:lnTo>
                    <a:pt x="1447" y="430"/>
                  </a:lnTo>
                  <a:lnTo>
                    <a:pt x="1449" y="428"/>
                  </a:lnTo>
                  <a:lnTo>
                    <a:pt x="1451" y="424"/>
                  </a:lnTo>
                  <a:lnTo>
                    <a:pt x="1451" y="422"/>
                  </a:lnTo>
                  <a:lnTo>
                    <a:pt x="1453" y="420"/>
                  </a:lnTo>
                  <a:lnTo>
                    <a:pt x="1455" y="418"/>
                  </a:lnTo>
                  <a:lnTo>
                    <a:pt x="1455" y="414"/>
                  </a:lnTo>
                  <a:lnTo>
                    <a:pt x="1455" y="412"/>
                  </a:lnTo>
                  <a:lnTo>
                    <a:pt x="1455" y="410"/>
                  </a:lnTo>
                  <a:lnTo>
                    <a:pt x="1457" y="408"/>
                  </a:lnTo>
                  <a:lnTo>
                    <a:pt x="1457" y="407"/>
                  </a:lnTo>
                  <a:lnTo>
                    <a:pt x="1457" y="403"/>
                  </a:lnTo>
                  <a:lnTo>
                    <a:pt x="1457" y="401"/>
                  </a:lnTo>
                  <a:lnTo>
                    <a:pt x="1457" y="399"/>
                  </a:lnTo>
                  <a:lnTo>
                    <a:pt x="1457" y="397"/>
                  </a:lnTo>
                  <a:lnTo>
                    <a:pt x="1457" y="395"/>
                  </a:lnTo>
                  <a:lnTo>
                    <a:pt x="1455" y="393"/>
                  </a:lnTo>
                  <a:lnTo>
                    <a:pt x="1455" y="391"/>
                  </a:lnTo>
                  <a:lnTo>
                    <a:pt x="1455" y="389"/>
                  </a:lnTo>
                  <a:lnTo>
                    <a:pt x="1455" y="387"/>
                  </a:lnTo>
                  <a:lnTo>
                    <a:pt x="1453" y="385"/>
                  </a:lnTo>
                  <a:lnTo>
                    <a:pt x="1453" y="384"/>
                  </a:lnTo>
                  <a:lnTo>
                    <a:pt x="1453" y="382"/>
                  </a:lnTo>
                  <a:lnTo>
                    <a:pt x="1451" y="380"/>
                  </a:lnTo>
                  <a:lnTo>
                    <a:pt x="1451" y="378"/>
                  </a:lnTo>
                  <a:lnTo>
                    <a:pt x="1449" y="378"/>
                  </a:lnTo>
                  <a:lnTo>
                    <a:pt x="1449" y="376"/>
                  </a:lnTo>
                  <a:lnTo>
                    <a:pt x="1449" y="374"/>
                  </a:lnTo>
                  <a:lnTo>
                    <a:pt x="1447" y="374"/>
                  </a:lnTo>
                  <a:lnTo>
                    <a:pt x="1447" y="372"/>
                  </a:lnTo>
                  <a:lnTo>
                    <a:pt x="1445" y="370"/>
                  </a:lnTo>
                  <a:lnTo>
                    <a:pt x="1443" y="368"/>
                  </a:lnTo>
                  <a:lnTo>
                    <a:pt x="1443" y="366"/>
                  </a:lnTo>
                  <a:lnTo>
                    <a:pt x="1441" y="364"/>
                  </a:lnTo>
                  <a:lnTo>
                    <a:pt x="1439" y="362"/>
                  </a:lnTo>
                  <a:lnTo>
                    <a:pt x="1438" y="361"/>
                  </a:lnTo>
                  <a:lnTo>
                    <a:pt x="1438" y="359"/>
                  </a:lnTo>
                  <a:lnTo>
                    <a:pt x="1436" y="355"/>
                  </a:lnTo>
                  <a:lnTo>
                    <a:pt x="1434" y="353"/>
                  </a:lnTo>
                  <a:lnTo>
                    <a:pt x="1432" y="349"/>
                  </a:lnTo>
                  <a:lnTo>
                    <a:pt x="1428" y="347"/>
                  </a:lnTo>
                  <a:lnTo>
                    <a:pt x="1426" y="343"/>
                  </a:lnTo>
                  <a:lnTo>
                    <a:pt x="1424" y="339"/>
                  </a:lnTo>
                  <a:lnTo>
                    <a:pt x="1422" y="336"/>
                  </a:lnTo>
                  <a:lnTo>
                    <a:pt x="1418" y="332"/>
                  </a:lnTo>
                  <a:lnTo>
                    <a:pt x="1415" y="328"/>
                  </a:lnTo>
                  <a:lnTo>
                    <a:pt x="1413" y="324"/>
                  </a:lnTo>
                  <a:lnTo>
                    <a:pt x="1409" y="322"/>
                  </a:lnTo>
                  <a:lnTo>
                    <a:pt x="1407" y="318"/>
                  </a:lnTo>
                  <a:lnTo>
                    <a:pt x="1403" y="316"/>
                  </a:lnTo>
                  <a:lnTo>
                    <a:pt x="1401" y="314"/>
                  </a:lnTo>
                  <a:lnTo>
                    <a:pt x="1397" y="313"/>
                  </a:lnTo>
                  <a:lnTo>
                    <a:pt x="1395" y="313"/>
                  </a:lnTo>
                  <a:lnTo>
                    <a:pt x="1391" y="311"/>
                  </a:lnTo>
                  <a:lnTo>
                    <a:pt x="1390" y="309"/>
                  </a:lnTo>
                  <a:lnTo>
                    <a:pt x="1388" y="309"/>
                  </a:lnTo>
                  <a:lnTo>
                    <a:pt x="1384" y="309"/>
                  </a:lnTo>
                  <a:lnTo>
                    <a:pt x="1382" y="309"/>
                  </a:lnTo>
                  <a:lnTo>
                    <a:pt x="1380" y="309"/>
                  </a:lnTo>
                  <a:lnTo>
                    <a:pt x="1378" y="309"/>
                  </a:lnTo>
                  <a:lnTo>
                    <a:pt x="1374" y="309"/>
                  </a:lnTo>
                  <a:lnTo>
                    <a:pt x="1372" y="309"/>
                  </a:lnTo>
                  <a:lnTo>
                    <a:pt x="1370" y="309"/>
                  </a:lnTo>
                  <a:lnTo>
                    <a:pt x="1368" y="309"/>
                  </a:lnTo>
                  <a:lnTo>
                    <a:pt x="1367" y="311"/>
                  </a:lnTo>
                  <a:lnTo>
                    <a:pt x="1365" y="311"/>
                  </a:lnTo>
                  <a:lnTo>
                    <a:pt x="1363" y="311"/>
                  </a:lnTo>
                  <a:lnTo>
                    <a:pt x="1361" y="313"/>
                  </a:lnTo>
                  <a:lnTo>
                    <a:pt x="1359" y="313"/>
                  </a:lnTo>
                  <a:lnTo>
                    <a:pt x="1359" y="314"/>
                  </a:lnTo>
                  <a:lnTo>
                    <a:pt x="1357" y="314"/>
                  </a:lnTo>
                  <a:lnTo>
                    <a:pt x="1282" y="351"/>
                  </a:lnTo>
                  <a:lnTo>
                    <a:pt x="1173" y="253"/>
                  </a:lnTo>
                  <a:lnTo>
                    <a:pt x="1173" y="251"/>
                  </a:lnTo>
                  <a:lnTo>
                    <a:pt x="1175" y="251"/>
                  </a:lnTo>
                  <a:lnTo>
                    <a:pt x="1175" y="249"/>
                  </a:lnTo>
                  <a:lnTo>
                    <a:pt x="1175" y="247"/>
                  </a:lnTo>
                  <a:lnTo>
                    <a:pt x="1176" y="245"/>
                  </a:lnTo>
                  <a:lnTo>
                    <a:pt x="1176" y="243"/>
                  </a:lnTo>
                  <a:lnTo>
                    <a:pt x="1176" y="242"/>
                  </a:lnTo>
                  <a:lnTo>
                    <a:pt x="1178" y="240"/>
                  </a:lnTo>
                  <a:lnTo>
                    <a:pt x="1178" y="238"/>
                  </a:lnTo>
                  <a:lnTo>
                    <a:pt x="1180" y="234"/>
                  </a:lnTo>
                  <a:lnTo>
                    <a:pt x="1180" y="232"/>
                  </a:lnTo>
                  <a:lnTo>
                    <a:pt x="1182" y="228"/>
                  </a:lnTo>
                  <a:lnTo>
                    <a:pt x="1184" y="224"/>
                  </a:lnTo>
                  <a:lnTo>
                    <a:pt x="1184" y="222"/>
                  </a:lnTo>
                  <a:lnTo>
                    <a:pt x="1186" y="218"/>
                  </a:lnTo>
                  <a:lnTo>
                    <a:pt x="1188" y="215"/>
                  </a:lnTo>
                  <a:lnTo>
                    <a:pt x="1188" y="211"/>
                  </a:lnTo>
                  <a:lnTo>
                    <a:pt x="1190" y="207"/>
                  </a:lnTo>
                  <a:lnTo>
                    <a:pt x="1192" y="205"/>
                  </a:lnTo>
                  <a:lnTo>
                    <a:pt x="1192" y="201"/>
                  </a:lnTo>
                  <a:lnTo>
                    <a:pt x="1194" y="197"/>
                  </a:lnTo>
                  <a:lnTo>
                    <a:pt x="1196" y="194"/>
                  </a:lnTo>
                  <a:lnTo>
                    <a:pt x="1196" y="190"/>
                  </a:lnTo>
                  <a:lnTo>
                    <a:pt x="1198" y="186"/>
                  </a:lnTo>
                  <a:lnTo>
                    <a:pt x="1199" y="182"/>
                  </a:lnTo>
                  <a:lnTo>
                    <a:pt x="1199" y="178"/>
                  </a:lnTo>
                  <a:lnTo>
                    <a:pt x="1201" y="174"/>
                  </a:lnTo>
                  <a:lnTo>
                    <a:pt x="1201" y="170"/>
                  </a:lnTo>
                  <a:lnTo>
                    <a:pt x="1203" y="169"/>
                  </a:lnTo>
                  <a:lnTo>
                    <a:pt x="1203" y="165"/>
                  </a:lnTo>
                  <a:lnTo>
                    <a:pt x="1205" y="161"/>
                  </a:lnTo>
                  <a:lnTo>
                    <a:pt x="1205" y="159"/>
                  </a:lnTo>
                  <a:lnTo>
                    <a:pt x="1205" y="155"/>
                  </a:lnTo>
                  <a:lnTo>
                    <a:pt x="1207" y="153"/>
                  </a:lnTo>
                  <a:lnTo>
                    <a:pt x="1207" y="151"/>
                  </a:lnTo>
                  <a:lnTo>
                    <a:pt x="1207" y="147"/>
                  </a:lnTo>
                  <a:lnTo>
                    <a:pt x="1205" y="146"/>
                  </a:lnTo>
                  <a:lnTo>
                    <a:pt x="1205" y="144"/>
                  </a:lnTo>
                  <a:lnTo>
                    <a:pt x="1205" y="140"/>
                  </a:lnTo>
                  <a:lnTo>
                    <a:pt x="1205" y="138"/>
                  </a:lnTo>
                  <a:lnTo>
                    <a:pt x="1203" y="136"/>
                  </a:lnTo>
                  <a:lnTo>
                    <a:pt x="1203" y="134"/>
                  </a:lnTo>
                  <a:lnTo>
                    <a:pt x="1201" y="132"/>
                  </a:lnTo>
                  <a:lnTo>
                    <a:pt x="1201" y="130"/>
                  </a:lnTo>
                  <a:lnTo>
                    <a:pt x="1199" y="128"/>
                  </a:lnTo>
                  <a:lnTo>
                    <a:pt x="1199" y="126"/>
                  </a:lnTo>
                  <a:lnTo>
                    <a:pt x="1198" y="124"/>
                  </a:lnTo>
                  <a:lnTo>
                    <a:pt x="1198" y="123"/>
                  </a:lnTo>
                  <a:lnTo>
                    <a:pt x="1196" y="123"/>
                  </a:lnTo>
                  <a:lnTo>
                    <a:pt x="1194" y="121"/>
                  </a:lnTo>
                  <a:lnTo>
                    <a:pt x="1194" y="119"/>
                  </a:lnTo>
                  <a:lnTo>
                    <a:pt x="1192" y="119"/>
                  </a:lnTo>
                  <a:lnTo>
                    <a:pt x="1192" y="117"/>
                  </a:lnTo>
                  <a:lnTo>
                    <a:pt x="1190" y="117"/>
                  </a:lnTo>
                  <a:lnTo>
                    <a:pt x="1190" y="115"/>
                  </a:lnTo>
                  <a:lnTo>
                    <a:pt x="1188" y="115"/>
                  </a:lnTo>
                  <a:lnTo>
                    <a:pt x="1188" y="113"/>
                  </a:lnTo>
                  <a:lnTo>
                    <a:pt x="1186" y="113"/>
                  </a:lnTo>
                  <a:lnTo>
                    <a:pt x="1186" y="111"/>
                  </a:lnTo>
                  <a:lnTo>
                    <a:pt x="1184" y="111"/>
                  </a:lnTo>
                  <a:lnTo>
                    <a:pt x="1182" y="111"/>
                  </a:lnTo>
                  <a:lnTo>
                    <a:pt x="1182" y="109"/>
                  </a:lnTo>
                  <a:lnTo>
                    <a:pt x="1180" y="109"/>
                  </a:lnTo>
                  <a:lnTo>
                    <a:pt x="1178" y="109"/>
                  </a:lnTo>
                  <a:lnTo>
                    <a:pt x="1176" y="107"/>
                  </a:lnTo>
                  <a:lnTo>
                    <a:pt x="1175" y="107"/>
                  </a:lnTo>
                  <a:lnTo>
                    <a:pt x="1173" y="105"/>
                  </a:lnTo>
                  <a:lnTo>
                    <a:pt x="1171" y="105"/>
                  </a:lnTo>
                  <a:lnTo>
                    <a:pt x="1169" y="103"/>
                  </a:lnTo>
                  <a:lnTo>
                    <a:pt x="1167" y="103"/>
                  </a:lnTo>
                  <a:lnTo>
                    <a:pt x="1163" y="101"/>
                  </a:lnTo>
                  <a:lnTo>
                    <a:pt x="1161" y="99"/>
                  </a:lnTo>
                  <a:lnTo>
                    <a:pt x="1157" y="98"/>
                  </a:lnTo>
                  <a:lnTo>
                    <a:pt x="1153" y="96"/>
                  </a:lnTo>
                  <a:lnTo>
                    <a:pt x="1152" y="96"/>
                  </a:lnTo>
                  <a:lnTo>
                    <a:pt x="1148" y="94"/>
                  </a:lnTo>
                  <a:lnTo>
                    <a:pt x="1142" y="92"/>
                  </a:lnTo>
                  <a:lnTo>
                    <a:pt x="1138" y="88"/>
                  </a:lnTo>
                  <a:lnTo>
                    <a:pt x="1134" y="86"/>
                  </a:lnTo>
                  <a:lnTo>
                    <a:pt x="1130" y="84"/>
                  </a:lnTo>
                  <a:lnTo>
                    <a:pt x="1127" y="84"/>
                  </a:lnTo>
                  <a:lnTo>
                    <a:pt x="1123" y="82"/>
                  </a:lnTo>
                  <a:lnTo>
                    <a:pt x="1119" y="80"/>
                  </a:lnTo>
                  <a:lnTo>
                    <a:pt x="1115" y="80"/>
                  </a:lnTo>
                  <a:lnTo>
                    <a:pt x="1111" y="80"/>
                  </a:lnTo>
                  <a:lnTo>
                    <a:pt x="1107" y="80"/>
                  </a:lnTo>
                  <a:lnTo>
                    <a:pt x="1105" y="80"/>
                  </a:lnTo>
                  <a:lnTo>
                    <a:pt x="1102" y="80"/>
                  </a:lnTo>
                  <a:lnTo>
                    <a:pt x="1100" y="80"/>
                  </a:lnTo>
                  <a:lnTo>
                    <a:pt x="1096" y="82"/>
                  </a:lnTo>
                  <a:lnTo>
                    <a:pt x="1094" y="82"/>
                  </a:lnTo>
                  <a:lnTo>
                    <a:pt x="1092" y="82"/>
                  </a:lnTo>
                  <a:lnTo>
                    <a:pt x="1088" y="84"/>
                  </a:lnTo>
                  <a:lnTo>
                    <a:pt x="1086" y="86"/>
                  </a:lnTo>
                  <a:lnTo>
                    <a:pt x="1084" y="86"/>
                  </a:lnTo>
                  <a:lnTo>
                    <a:pt x="1082" y="88"/>
                  </a:lnTo>
                  <a:lnTo>
                    <a:pt x="1080" y="90"/>
                  </a:lnTo>
                  <a:lnTo>
                    <a:pt x="1079" y="92"/>
                  </a:lnTo>
                  <a:lnTo>
                    <a:pt x="1077" y="94"/>
                  </a:lnTo>
                  <a:lnTo>
                    <a:pt x="1075" y="96"/>
                  </a:lnTo>
                  <a:lnTo>
                    <a:pt x="1073" y="98"/>
                  </a:lnTo>
                  <a:lnTo>
                    <a:pt x="1073" y="99"/>
                  </a:lnTo>
                  <a:lnTo>
                    <a:pt x="1071" y="99"/>
                  </a:lnTo>
                  <a:lnTo>
                    <a:pt x="1071" y="101"/>
                  </a:lnTo>
                  <a:lnTo>
                    <a:pt x="1023" y="167"/>
                  </a:lnTo>
                  <a:lnTo>
                    <a:pt x="881" y="130"/>
                  </a:lnTo>
                  <a:lnTo>
                    <a:pt x="881" y="128"/>
                  </a:lnTo>
                  <a:lnTo>
                    <a:pt x="881" y="126"/>
                  </a:lnTo>
                  <a:lnTo>
                    <a:pt x="881" y="124"/>
                  </a:lnTo>
                  <a:lnTo>
                    <a:pt x="881" y="123"/>
                  </a:lnTo>
                  <a:lnTo>
                    <a:pt x="881" y="121"/>
                  </a:lnTo>
                  <a:lnTo>
                    <a:pt x="881" y="119"/>
                  </a:lnTo>
                  <a:lnTo>
                    <a:pt x="879" y="117"/>
                  </a:lnTo>
                  <a:lnTo>
                    <a:pt x="879" y="113"/>
                  </a:lnTo>
                  <a:lnTo>
                    <a:pt x="879" y="111"/>
                  </a:lnTo>
                  <a:lnTo>
                    <a:pt x="879" y="107"/>
                  </a:lnTo>
                  <a:lnTo>
                    <a:pt x="879" y="105"/>
                  </a:lnTo>
                  <a:lnTo>
                    <a:pt x="877" y="101"/>
                  </a:lnTo>
                  <a:lnTo>
                    <a:pt x="877" y="98"/>
                  </a:lnTo>
                  <a:lnTo>
                    <a:pt x="877" y="94"/>
                  </a:lnTo>
                  <a:lnTo>
                    <a:pt x="877" y="90"/>
                  </a:lnTo>
                  <a:lnTo>
                    <a:pt x="875" y="86"/>
                  </a:lnTo>
                  <a:lnTo>
                    <a:pt x="875" y="84"/>
                  </a:lnTo>
                  <a:lnTo>
                    <a:pt x="875" y="80"/>
                  </a:lnTo>
                  <a:lnTo>
                    <a:pt x="875" y="76"/>
                  </a:lnTo>
                  <a:lnTo>
                    <a:pt x="873" y="73"/>
                  </a:lnTo>
                  <a:lnTo>
                    <a:pt x="873" y="69"/>
                  </a:lnTo>
                  <a:lnTo>
                    <a:pt x="873" y="65"/>
                  </a:lnTo>
                  <a:lnTo>
                    <a:pt x="871" y="61"/>
                  </a:lnTo>
                  <a:lnTo>
                    <a:pt x="871" y="57"/>
                  </a:lnTo>
                  <a:lnTo>
                    <a:pt x="871" y="53"/>
                  </a:lnTo>
                  <a:lnTo>
                    <a:pt x="869" y="50"/>
                  </a:lnTo>
                  <a:lnTo>
                    <a:pt x="869" y="46"/>
                  </a:lnTo>
                  <a:lnTo>
                    <a:pt x="869" y="42"/>
                  </a:lnTo>
                  <a:lnTo>
                    <a:pt x="867" y="40"/>
                  </a:lnTo>
                  <a:lnTo>
                    <a:pt x="867" y="36"/>
                  </a:lnTo>
                  <a:lnTo>
                    <a:pt x="865" y="32"/>
                  </a:lnTo>
                  <a:lnTo>
                    <a:pt x="865" y="30"/>
                  </a:lnTo>
                  <a:lnTo>
                    <a:pt x="864" y="28"/>
                  </a:lnTo>
                  <a:lnTo>
                    <a:pt x="864" y="25"/>
                  </a:lnTo>
                  <a:lnTo>
                    <a:pt x="862" y="23"/>
                  </a:lnTo>
                  <a:lnTo>
                    <a:pt x="860" y="21"/>
                  </a:lnTo>
                  <a:lnTo>
                    <a:pt x="860" y="19"/>
                  </a:lnTo>
                  <a:lnTo>
                    <a:pt x="858" y="17"/>
                  </a:lnTo>
                  <a:lnTo>
                    <a:pt x="856" y="15"/>
                  </a:lnTo>
                  <a:lnTo>
                    <a:pt x="854" y="13"/>
                  </a:lnTo>
                  <a:lnTo>
                    <a:pt x="852" y="11"/>
                  </a:lnTo>
                  <a:lnTo>
                    <a:pt x="850" y="11"/>
                  </a:lnTo>
                  <a:lnTo>
                    <a:pt x="848" y="9"/>
                  </a:lnTo>
                  <a:lnTo>
                    <a:pt x="846" y="7"/>
                  </a:lnTo>
                  <a:lnTo>
                    <a:pt x="844" y="5"/>
                  </a:lnTo>
                  <a:lnTo>
                    <a:pt x="842" y="5"/>
                  </a:lnTo>
                  <a:lnTo>
                    <a:pt x="841" y="5"/>
                  </a:lnTo>
                  <a:lnTo>
                    <a:pt x="839" y="4"/>
                  </a:lnTo>
                  <a:lnTo>
                    <a:pt x="837" y="4"/>
                  </a:lnTo>
                  <a:lnTo>
                    <a:pt x="835" y="4"/>
                  </a:lnTo>
                  <a:lnTo>
                    <a:pt x="835" y="2"/>
                  </a:lnTo>
                  <a:lnTo>
                    <a:pt x="833" y="2"/>
                  </a:lnTo>
                  <a:lnTo>
                    <a:pt x="831" y="2"/>
                  </a:lnTo>
                  <a:lnTo>
                    <a:pt x="829" y="2"/>
                  </a:lnTo>
                  <a:lnTo>
                    <a:pt x="827" y="2"/>
                  </a:lnTo>
                  <a:lnTo>
                    <a:pt x="827" y="0"/>
                  </a:lnTo>
                  <a:lnTo>
                    <a:pt x="825" y="0"/>
                  </a:lnTo>
                  <a:lnTo>
                    <a:pt x="823" y="0"/>
                  </a:lnTo>
                  <a:lnTo>
                    <a:pt x="821" y="0"/>
                  </a:lnTo>
                  <a:lnTo>
                    <a:pt x="819" y="0"/>
                  </a:lnTo>
                  <a:lnTo>
                    <a:pt x="817" y="0"/>
                  </a:lnTo>
                  <a:lnTo>
                    <a:pt x="816" y="0"/>
                  </a:lnTo>
                  <a:lnTo>
                    <a:pt x="814" y="0"/>
                  </a:lnTo>
                  <a:lnTo>
                    <a:pt x="812" y="0"/>
                  </a:lnTo>
                  <a:lnTo>
                    <a:pt x="810" y="0"/>
                  </a:lnTo>
                  <a:lnTo>
                    <a:pt x="808" y="0"/>
                  </a:lnTo>
                  <a:lnTo>
                    <a:pt x="804" y="0"/>
                  </a:lnTo>
                  <a:lnTo>
                    <a:pt x="802" y="0"/>
                  </a:lnTo>
                  <a:lnTo>
                    <a:pt x="798" y="0"/>
                  </a:lnTo>
                  <a:lnTo>
                    <a:pt x="794" y="0"/>
                  </a:lnTo>
                  <a:lnTo>
                    <a:pt x="791" y="0"/>
                  </a:lnTo>
                  <a:lnTo>
                    <a:pt x="787" y="0"/>
                  </a:lnTo>
                  <a:lnTo>
                    <a:pt x="783" y="0"/>
                  </a:lnTo>
                  <a:lnTo>
                    <a:pt x="779" y="0"/>
                  </a:lnTo>
                  <a:lnTo>
                    <a:pt x="773" y="0"/>
                  </a:lnTo>
                  <a:lnTo>
                    <a:pt x="769" y="2"/>
                  </a:lnTo>
                  <a:lnTo>
                    <a:pt x="764" y="2"/>
                  </a:lnTo>
                  <a:lnTo>
                    <a:pt x="760" y="2"/>
                  </a:lnTo>
                  <a:lnTo>
                    <a:pt x="756" y="2"/>
                  </a:lnTo>
                  <a:lnTo>
                    <a:pt x="752" y="4"/>
                  </a:lnTo>
                  <a:lnTo>
                    <a:pt x="748" y="4"/>
                  </a:lnTo>
                  <a:lnTo>
                    <a:pt x="745" y="5"/>
                  </a:lnTo>
                  <a:lnTo>
                    <a:pt x="743" y="7"/>
                  </a:lnTo>
                  <a:lnTo>
                    <a:pt x="741" y="9"/>
                  </a:lnTo>
                  <a:lnTo>
                    <a:pt x="737" y="11"/>
                  </a:lnTo>
                  <a:lnTo>
                    <a:pt x="735" y="11"/>
                  </a:lnTo>
                  <a:lnTo>
                    <a:pt x="733" y="13"/>
                  </a:lnTo>
                  <a:lnTo>
                    <a:pt x="731" y="15"/>
                  </a:lnTo>
                  <a:lnTo>
                    <a:pt x="729" y="17"/>
                  </a:lnTo>
                  <a:lnTo>
                    <a:pt x="727" y="19"/>
                  </a:lnTo>
                  <a:lnTo>
                    <a:pt x="727" y="21"/>
                  </a:lnTo>
                  <a:lnTo>
                    <a:pt x="725" y="23"/>
                  </a:lnTo>
                  <a:lnTo>
                    <a:pt x="723" y="25"/>
                  </a:lnTo>
                  <a:lnTo>
                    <a:pt x="723" y="27"/>
                  </a:lnTo>
                  <a:lnTo>
                    <a:pt x="723" y="28"/>
                  </a:lnTo>
                  <a:lnTo>
                    <a:pt x="721" y="30"/>
                  </a:lnTo>
                  <a:lnTo>
                    <a:pt x="721" y="32"/>
                  </a:lnTo>
                  <a:lnTo>
                    <a:pt x="721" y="34"/>
                  </a:lnTo>
                  <a:lnTo>
                    <a:pt x="720" y="36"/>
                  </a:lnTo>
                  <a:lnTo>
                    <a:pt x="720" y="38"/>
                  </a:lnTo>
                  <a:lnTo>
                    <a:pt x="720" y="40"/>
                  </a:lnTo>
                  <a:lnTo>
                    <a:pt x="720" y="42"/>
                  </a:lnTo>
                  <a:lnTo>
                    <a:pt x="708" y="124"/>
                  </a:lnTo>
                  <a:lnTo>
                    <a:pt x="566" y="157"/>
                  </a:lnTo>
                  <a:lnTo>
                    <a:pt x="564" y="155"/>
                  </a:lnTo>
                  <a:lnTo>
                    <a:pt x="564" y="153"/>
                  </a:lnTo>
                  <a:lnTo>
                    <a:pt x="562" y="153"/>
                  </a:lnTo>
                  <a:lnTo>
                    <a:pt x="562" y="151"/>
                  </a:lnTo>
                  <a:lnTo>
                    <a:pt x="560" y="149"/>
                  </a:lnTo>
                  <a:lnTo>
                    <a:pt x="558" y="147"/>
                  </a:lnTo>
                  <a:lnTo>
                    <a:pt x="558" y="146"/>
                  </a:lnTo>
                  <a:lnTo>
                    <a:pt x="556" y="144"/>
                  </a:lnTo>
                  <a:lnTo>
                    <a:pt x="554" y="140"/>
                  </a:lnTo>
                  <a:lnTo>
                    <a:pt x="553" y="138"/>
                  </a:lnTo>
                  <a:lnTo>
                    <a:pt x="551" y="136"/>
                  </a:lnTo>
                  <a:lnTo>
                    <a:pt x="549" y="132"/>
                  </a:lnTo>
                  <a:lnTo>
                    <a:pt x="547" y="130"/>
                  </a:lnTo>
                  <a:lnTo>
                    <a:pt x="545" y="126"/>
                  </a:lnTo>
                  <a:lnTo>
                    <a:pt x="543" y="124"/>
                  </a:lnTo>
                  <a:lnTo>
                    <a:pt x="541" y="121"/>
                  </a:lnTo>
                  <a:lnTo>
                    <a:pt x="539" y="119"/>
                  </a:lnTo>
                  <a:lnTo>
                    <a:pt x="535" y="115"/>
                  </a:lnTo>
                  <a:lnTo>
                    <a:pt x="533" y="111"/>
                  </a:lnTo>
                  <a:lnTo>
                    <a:pt x="531" y="109"/>
                  </a:lnTo>
                  <a:lnTo>
                    <a:pt x="530" y="105"/>
                  </a:lnTo>
                  <a:lnTo>
                    <a:pt x="528" y="103"/>
                  </a:lnTo>
                  <a:lnTo>
                    <a:pt x="526" y="99"/>
                  </a:lnTo>
                  <a:lnTo>
                    <a:pt x="522" y="96"/>
                  </a:lnTo>
                  <a:lnTo>
                    <a:pt x="520" y="94"/>
                  </a:lnTo>
                  <a:lnTo>
                    <a:pt x="518" y="90"/>
                  </a:lnTo>
                  <a:lnTo>
                    <a:pt x="516" y="88"/>
                  </a:lnTo>
                  <a:lnTo>
                    <a:pt x="514" y="84"/>
                  </a:lnTo>
                  <a:lnTo>
                    <a:pt x="512" y="82"/>
                  </a:lnTo>
                  <a:lnTo>
                    <a:pt x="510" y="80"/>
                  </a:lnTo>
                  <a:lnTo>
                    <a:pt x="508" y="78"/>
                  </a:lnTo>
                  <a:lnTo>
                    <a:pt x="506" y="76"/>
                  </a:lnTo>
                  <a:lnTo>
                    <a:pt x="503" y="75"/>
                  </a:lnTo>
                  <a:lnTo>
                    <a:pt x="501" y="73"/>
                  </a:lnTo>
                  <a:lnTo>
                    <a:pt x="499" y="71"/>
                  </a:lnTo>
                  <a:lnTo>
                    <a:pt x="497" y="71"/>
                  </a:lnTo>
                  <a:lnTo>
                    <a:pt x="495" y="69"/>
                  </a:lnTo>
                  <a:lnTo>
                    <a:pt x="491" y="69"/>
                  </a:lnTo>
                  <a:lnTo>
                    <a:pt x="489" y="67"/>
                  </a:lnTo>
                  <a:lnTo>
                    <a:pt x="487" y="67"/>
                  </a:lnTo>
                  <a:lnTo>
                    <a:pt x="485" y="67"/>
                  </a:lnTo>
                  <a:lnTo>
                    <a:pt x="483" y="65"/>
                  </a:lnTo>
                  <a:lnTo>
                    <a:pt x="482" y="65"/>
                  </a:lnTo>
                  <a:lnTo>
                    <a:pt x="480" y="65"/>
                  </a:lnTo>
                  <a:lnTo>
                    <a:pt x="478" y="65"/>
                  </a:lnTo>
                  <a:lnTo>
                    <a:pt x="474" y="65"/>
                  </a:lnTo>
                  <a:lnTo>
                    <a:pt x="472" y="65"/>
                  </a:lnTo>
                  <a:lnTo>
                    <a:pt x="470" y="65"/>
                  </a:lnTo>
                  <a:lnTo>
                    <a:pt x="468" y="65"/>
                  </a:lnTo>
                  <a:lnTo>
                    <a:pt x="466" y="65"/>
                  </a:lnTo>
                  <a:lnTo>
                    <a:pt x="464" y="65"/>
                  </a:lnTo>
                  <a:lnTo>
                    <a:pt x="464" y="67"/>
                  </a:lnTo>
                  <a:lnTo>
                    <a:pt x="462" y="67"/>
                  </a:lnTo>
                  <a:lnTo>
                    <a:pt x="460" y="67"/>
                  </a:lnTo>
                  <a:lnTo>
                    <a:pt x="458" y="67"/>
                  </a:lnTo>
                  <a:lnTo>
                    <a:pt x="457" y="69"/>
                  </a:lnTo>
                  <a:lnTo>
                    <a:pt x="455" y="69"/>
                  </a:lnTo>
                  <a:lnTo>
                    <a:pt x="453" y="71"/>
                  </a:lnTo>
                  <a:lnTo>
                    <a:pt x="451" y="71"/>
                  </a:lnTo>
                  <a:lnTo>
                    <a:pt x="449" y="73"/>
                  </a:lnTo>
                  <a:lnTo>
                    <a:pt x="447" y="75"/>
                  </a:lnTo>
                  <a:lnTo>
                    <a:pt x="445" y="75"/>
                  </a:lnTo>
                  <a:lnTo>
                    <a:pt x="443" y="76"/>
                  </a:lnTo>
                  <a:lnTo>
                    <a:pt x="441" y="76"/>
                  </a:lnTo>
                  <a:lnTo>
                    <a:pt x="437" y="78"/>
                  </a:lnTo>
                  <a:lnTo>
                    <a:pt x="435" y="80"/>
                  </a:lnTo>
                  <a:lnTo>
                    <a:pt x="432" y="82"/>
                  </a:lnTo>
                  <a:lnTo>
                    <a:pt x="430" y="82"/>
                  </a:lnTo>
                  <a:lnTo>
                    <a:pt x="426" y="84"/>
                  </a:lnTo>
                  <a:lnTo>
                    <a:pt x="422" y="86"/>
                  </a:lnTo>
                  <a:lnTo>
                    <a:pt x="418" y="88"/>
                  </a:lnTo>
                  <a:lnTo>
                    <a:pt x="414" y="92"/>
                  </a:lnTo>
                  <a:lnTo>
                    <a:pt x="410" y="94"/>
                  </a:lnTo>
                  <a:lnTo>
                    <a:pt x="407" y="96"/>
                  </a:lnTo>
                  <a:lnTo>
                    <a:pt x="403" y="98"/>
                  </a:lnTo>
                  <a:lnTo>
                    <a:pt x="399" y="101"/>
                  </a:lnTo>
                  <a:lnTo>
                    <a:pt x="395" y="103"/>
                  </a:lnTo>
                  <a:lnTo>
                    <a:pt x="393" y="105"/>
                  </a:lnTo>
                  <a:lnTo>
                    <a:pt x="389" y="109"/>
                  </a:lnTo>
                  <a:lnTo>
                    <a:pt x="387" y="111"/>
                  </a:lnTo>
                  <a:lnTo>
                    <a:pt x="386" y="113"/>
                  </a:lnTo>
                  <a:lnTo>
                    <a:pt x="384" y="117"/>
                  </a:lnTo>
                  <a:lnTo>
                    <a:pt x="382" y="119"/>
                  </a:lnTo>
                  <a:lnTo>
                    <a:pt x="382" y="121"/>
                  </a:lnTo>
                  <a:lnTo>
                    <a:pt x="380" y="124"/>
                  </a:lnTo>
                  <a:lnTo>
                    <a:pt x="380" y="126"/>
                  </a:lnTo>
                  <a:lnTo>
                    <a:pt x="380" y="128"/>
                  </a:lnTo>
                  <a:lnTo>
                    <a:pt x="378" y="130"/>
                  </a:lnTo>
                  <a:lnTo>
                    <a:pt x="378" y="134"/>
                  </a:lnTo>
                  <a:lnTo>
                    <a:pt x="378" y="136"/>
                  </a:lnTo>
                  <a:lnTo>
                    <a:pt x="378" y="138"/>
                  </a:lnTo>
                  <a:lnTo>
                    <a:pt x="378" y="140"/>
                  </a:lnTo>
                  <a:lnTo>
                    <a:pt x="378" y="142"/>
                  </a:lnTo>
                  <a:lnTo>
                    <a:pt x="378" y="144"/>
                  </a:lnTo>
                  <a:lnTo>
                    <a:pt x="380" y="146"/>
                  </a:lnTo>
                  <a:lnTo>
                    <a:pt x="380" y="147"/>
                  </a:lnTo>
                  <a:lnTo>
                    <a:pt x="380" y="149"/>
                  </a:lnTo>
                  <a:lnTo>
                    <a:pt x="380" y="151"/>
                  </a:lnTo>
                  <a:lnTo>
                    <a:pt x="382" y="151"/>
                  </a:lnTo>
                  <a:lnTo>
                    <a:pt x="382" y="153"/>
                  </a:lnTo>
                  <a:lnTo>
                    <a:pt x="382" y="155"/>
                  </a:lnTo>
                  <a:lnTo>
                    <a:pt x="409" y="232"/>
                  </a:lnTo>
                  <a:lnTo>
                    <a:pt x="299" y="328"/>
                  </a:lnTo>
                  <a:lnTo>
                    <a:pt x="297" y="328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3" y="326"/>
                  </a:lnTo>
                  <a:lnTo>
                    <a:pt x="291" y="324"/>
                  </a:lnTo>
                  <a:lnTo>
                    <a:pt x="290" y="324"/>
                  </a:lnTo>
                  <a:lnTo>
                    <a:pt x="288" y="322"/>
                  </a:lnTo>
                  <a:lnTo>
                    <a:pt x="286" y="320"/>
                  </a:lnTo>
                  <a:lnTo>
                    <a:pt x="284" y="320"/>
                  </a:lnTo>
                  <a:lnTo>
                    <a:pt x="282" y="318"/>
                  </a:lnTo>
                  <a:lnTo>
                    <a:pt x="278" y="316"/>
                  </a:lnTo>
                  <a:lnTo>
                    <a:pt x="276" y="316"/>
                  </a:lnTo>
                  <a:lnTo>
                    <a:pt x="272" y="314"/>
                  </a:lnTo>
                  <a:lnTo>
                    <a:pt x="270" y="313"/>
                  </a:lnTo>
                  <a:lnTo>
                    <a:pt x="267" y="311"/>
                  </a:lnTo>
                  <a:lnTo>
                    <a:pt x="263" y="309"/>
                  </a:lnTo>
                  <a:lnTo>
                    <a:pt x="261" y="307"/>
                  </a:lnTo>
                  <a:lnTo>
                    <a:pt x="257" y="307"/>
                  </a:lnTo>
                  <a:lnTo>
                    <a:pt x="253" y="305"/>
                  </a:lnTo>
                  <a:lnTo>
                    <a:pt x="249" y="303"/>
                  </a:lnTo>
                  <a:lnTo>
                    <a:pt x="245" y="301"/>
                  </a:lnTo>
                  <a:lnTo>
                    <a:pt x="243" y="299"/>
                  </a:lnTo>
                  <a:lnTo>
                    <a:pt x="240" y="297"/>
                  </a:lnTo>
                  <a:lnTo>
                    <a:pt x="236" y="295"/>
                  </a:lnTo>
                  <a:lnTo>
                    <a:pt x="232" y="295"/>
                  </a:lnTo>
                  <a:lnTo>
                    <a:pt x="228" y="293"/>
                  </a:lnTo>
                  <a:lnTo>
                    <a:pt x="226" y="291"/>
                  </a:lnTo>
                  <a:lnTo>
                    <a:pt x="222" y="289"/>
                  </a:lnTo>
                  <a:lnTo>
                    <a:pt x="219" y="289"/>
                  </a:lnTo>
                  <a:lnTo>
                    <a:pt x="217" y="288"/>
                  </a:lnTo>
                  <a:lnTo>
                    <a:pt x="213" y="286"/>
                  </a:lnTo>
                  <a:lnTo>
                    <a:pt x="211" y="286"/>
                  </a:lnTo>
                  <a:lnTo>
                    <a:pt x="207" y="284"/>
                  </a:lnTo>
                  <a:lnTo>
                    <a:pt x="205" y="284"/>
                  </a:lnTo>
                  <a:lnTo>
                    <a:pt x="201" y="284"/>
                  </a:lnTo>
                  <a:lnTo>
                    <a:pt x="199" y="284"/>
                  </a:lnTo>
                  <a:lnTo>
                    <a:pt x="197" y="284"/>
                  </a:lnTo>
                  <a:lnTo>
                    <a:pt x="194" y="284"/>
                  </a:lnTo>
                  <a:lnTo>
                    <a:pt x="192" y="284"/>
                  </a:lnTo>
                  <a:lnTo>
                    <a:pt x="190" y="284"/>
                  </a:lnTo>
                  <a:lnTo>
                    <a:pt x="188" y="284"/>
                  </a:lnTo>
                  <a:lnTo>
                    <a:pt x="186" y="284"/>
                  </a:lnTo>
                  <a:lnTo>
                    <a:pt x="184" y="286"/>
                  </a:lnTo>
                  <a:lnTo>
                    <a:pt x="182" y="286"/>
                  </a:lnTo>
                  <a:lnTo>
                    <a:pt x="180" y="288"/>
                  </a:lnTo>
                  <a:lnTo>
                    <a:pt x="178" y="288"/>
                  </a:lnTo>
                  <a:lnTo>
                    <a:pt x="176" y="289"/>
                  </a:lnTo>
                  <a:lnTo>
                    <a:pt x="174" y="289"/>
                  </a:lnTo>
                  <a:lnTo>
                    <a:pt x="172" y="291"/>
                  </a:lnTo>
                  <a:lnTo>
                    <a:pt x="171" y="291"/>
                  </a:lnTo>
                  <a:lnTo>
                    <a:pt x="171" y="293"/>
                  </a:lnTo>
                  <a:lnTo>
                    <a:pt x="169" y="293"/>
                  </a:lnTo>
                  <a:lnTo>
                    <a:pt x="167" y="295"/>
                  </a:lnTo>
                  <a:lnTo>
                    <a:pt x="165" y="297"/>
                  </a:lnTo>
                  <a:lnTo>
                    <a:pt x="163" y="299"/>
                  </a:lnTo>
                  <a:lnTo>
                    <a:pt x="163" y="301"/>
                  </a:lnTo>
                  <a:lnTo>
                    <a:pt x="161" y="301"/>
                  </a:lnTo>
                  <a:lnTo>
                    <a:pt x="161" y="303"/>
                  </a:lnTo>
                  <a:lnTo>
                    <a:pt x="159" y="305"/>
                  </a:lnTo>
                  <a:lnTo>
                    <a:pt x="157" y="307"/>
                  </a:lnTo>
                  <a:lnTo>
                    <a:pt x="157" y="309"/>
                  </a:lnTo>
                  <a:lnTo>
                    <a:pt x="155" y="311"/>
                  </a:lnTo>
                  <a:lnTo>
                    <a:pt x="153" y="313"/>
                  </a:lnTo>
                  <a:lnTo>
                    <a:pt x="153" y="314"/>
                  </a:lnTo>
                  <a:lnTo>
                    <a:pt x="151" y="316"/>
                  </a:lnTo>
                  <a:lnTo>
                    <a:pt x="149" y="318"/>
                  </a:lnTo>
                  <a:lnTo>
                    <a:pt x="147" y="320"/>
                  </a:lnTo>
                  <a:lnTo>
                    <a:pt x="146" y="322"/>
                  </a:lnTo>
                  <a:lnTo>
                    <a:pt x="144" y="326"/>
                  </a:lnTo>
                  <a:lnTo>
                    <a:pt x="142" y="328"/>
                  </a:lnTo>
                  <a:lnTo>
                    <a:pt x="140" y="332"/>
                  </a:lnTo>
                  <a:lnTo>
                    <a:pt x="138" y="336"/>
                  </a:lnTo>
                  <a:lnTo>
                    <a:pt x="136" y="339"/>
                  </a:lnTo>
                  <a:lnTo>
                    <a:pt x="132" y="343"/>
                  </a:lnTo>
                  <a:lnTo>
                    <a:pt x="130" y="347"/>
                  </a:lnTo>
                  <a:lnTo>
                    <a:pt x="128" y="351"/>
                  </a:lnTo>
                  <a:lnTo>
                    <a:pt x="124" y="355"/>
                  </a:lnTo>
                  <a:lnTo>
                    <a:pt x="124" y="359"/>
                  </a:lnTo>
                  <a:lnTo>
                    <a:pt x="123" y="362"/>
                  </a:lnTo>
                  <a:lnTo>
                    <a:pt x="121" y="366"/>
                  </a:lnTo>
                  <a:lnTo>
                    <a:pt x="121" y="368"/>
                  </a:lnTo>
                  <a:lnTo>
                    <a:pt x="119" y="372"/>
                  </a:lnTo>
                  <a:lnTo>
                    <a:pt x="119" y="376"/>
                  </a:lnTo>
                  <a:lnTo>
                    <a:pt x="119" y="378"/>
                  </a:lnTo>
                  <a:lnTo>
                    <a:pt x="119" y="382"/>
                  </a:lnTo>
                  <a:lnTo>
                    <a:pt x="119" y="384"/>
                  </a:lnTo>
                  <a:lnTo>
                    <a:pt x="121" y="385"/>
                  </a:lnTo>
                  <a:lnTo>
                    <a:pt x="121" y="389"/>
                  </a:lnTo>
                  <a:lnTo>
                    <a:pt x="121" y="391"/>
                  </a:lnTo>
                  <a:lnTo>
                    <a:pt x="123" y="393"/>
                  </a:lnTo>
                  <a:lnTo>
                    <a:pt x="123" y="395"/>
                  </a:lnTo>
                  <a:lnTo>
                    <a:pt x="124" y="397"/>
                  </a:lnTo>
                  <a:lnTo>
                    <a:pt x="124" y="399"/>
                  </a:lnTo>
                  <a:lnTo>
                    <a:pt x="126" y="401"/>
                  </a:lnTo>
                  <a:lnTo>
                    <a:pt x="126" y="403"/>
                  </a:lnTo>
                  <a:lnTo>
                    <a:pt x="128" y="403"/>
                  </a:lnTo>
                  <a:lnTo>
                    <a:pt x="130" y="405"/>
                  </a:lnTo>
                  <a:lnTo>
                    <a:pt x="130" y="407"/>
                  </a:lnTo>
                  <a:lnTo>
                    <a:pt x="132" y="407"/>
                  </a:lnTo>
                  <a:lnTo>
                    <a:pt x="132" y="408"/>
                  </a:lnTo>
                  <a:lnTo>
                    <a:pt x="134" y="408"/>
                  </a:lnTo>
                  <a:lnTo>
                    <a:pt x="136" y="410"/>
                  </a:lnTo>
                  <a:lnTo>
                    <a:pt x="195" y="466"/>
                  </a:lnTo>
                  <a:lnTo>
                    <a:pt x="142" y="602"/>
                  </a:lnTo>
                  <a:lnTo>
                    <a:pt x="140" y="602"/>
                  </a:lnTo>
                  <a:lnTo>
                    <a:pt x="138" y="602"/>
                  </a:lnTo>
                  <a:lnTo>
                    <a:pt x="136" y="602"/>
                  </a:lnTo>
                  <a:lnTo>
                    <a:pt x="134" y="602"/>
                  </a:lnTo>
                  <a:lnTo>
                    <a:pt x="132" y="602"/>
                  </a:lnTo>
                  <a:lnTo>
                    <a:pt x="130" y="602"/>
                  </a:lnTo>
                  <a:lnTo>
                    <a:pt x="126" y="602"/>
                  </a:lnTo>
                  <a:lnTo>
                    <a:pt x="124" y="602"/>
                  </a:lnTo>
                  <a:lnTo>
                    <a:pt x="121" y="602"/>
                  </a:lnTo>
                  <a:lnTo>
                    <a:pt x="119" y="602"/>
                  </a:lnTo>
                  <a:lnTo>
                    <a:pt x="115" y="602"/>
                  </a:lnTo>
                  <a:lnTo>
                    <a:pt x="113" y="602"/>
                  </a:lnTo>
                  <a:lnTo>
                    <a:pt x="109" y="602"/>
                  </a:lnTo>
                  <a:lnTo>
                    <a:pt x="105" y="604"/>
                  </a:lnTo>
                  <a:lnTo>
                    <a:pt x="101" y="604"/>
                  </a:lnTo>
                  <a:lnTo>
                    <a:pt x="98" y="604"/>
                  </a:lnTo>
                  <a:lnTo>
                    <a:pt x="94" y="604"/>
                  </a:lnTo>
                  <a:lnTo>
                    <a:pt x="90" y="604"/>
                  </a:lnTo>
                  <a:lnTo>
                    <a:pt x="86" y="604"/>
                  </a:lnTo>
                  <a:lnTo>
                    <a:pt x="82" y="604"/>
                  </a:lnTo>
                  <a:lnTo>
                    <a:pt x="78" y="604"/>
                  </a:lnTo>
                  <a:lnTo>
                    <a:pt x="75" y="604"/>
                  </a:lnTo>
                  <a:lnTo>
                    <a:pt x="71" y="604"/>
                  </a:lnTo>
                  <a:lnTo>
                    <a:pt x="67" y="604"/>
                  </a:lnTo>
                  <a:lnTo>
                    <a:pt x="65" y="604"/>
                  </a:lnTo>
                  <a:lnTo>
                    <a:pt x="61" y="604"/>
                  </a:lnTo>
                  <a:lnTo>
                    <a:pt x="57" y="606"/>
                  </a:lnTo>
                  <a:lnTo>
                    <a:pt x="53" y="606"/>
                  </a:lnTo>
                  <a:lnTo>
                    <a:pt x="50" y="606"/>
                  </a:lnTo>
                  <a:lnTo>
                    <a:pt x="48" y="606"/>
                  </a:lnTo>
                  <a:lnTo>
                    <a:pt x="44" y="606"/>
                  </a:lnTo>
                  <a:lnTo>
                    <a:pt x="42" y="606"/>
                  </a:lnTo>
                  <a:lnTo>
                    <a:pt x="38" y="608"/>
                  </a:lnTo>
                  <a:lnTo>
                    <a:pt x="36" y="608"/>
                  </a:lnTo>
                  <a:lnTo>
                    <a:pt x="34" y="610"/>
                  </a:lnTo>
                  <a:lnTo>
                    <a:pt x="30" y="610"/>
                  </a:lnTo>
                  <a:lnTo>
                    <a:pt x="28" y="612"/>
                  </a:lnTo>
                  <a:lnTo>
                    <a:pt x="27" y="614"/>
                  </a:lnTo>
                  <a:lnTo>
                    <a:pt x="25" y="614"/>
                  </a:lnTo>
                  <a:lnTo>
                    <a:pt x="23" y="616"/>
                  </a:lnTo>
                  <a:lnTo>
                    <a:pt x="21" y="618"/>
                  </a:lnTo>
                  <a:lnTo>
                    <a:pt x="19" y="620"/>
                  </a:lnTo>
                  <a:lnTo>
                    <a:pt x="19" y="622"/>
                  </a:lnTo>
                  <a:lnTo>
                    <a:pt x="17" y="622"/>
                  </a:lnTo>
                  <a:lnTo>
                    <a:pt x="15" y="623"/>
                  </a:lnTo>
                  <a:lnTo>
                    <a:pt x="15" y="625"/>
                  </a:lnTo>
                  <a:lnTo>
                    <a:pt x="13" y="627"/>
                  </a:lnTo>
                  <a:lnTo>
                    <a:pt x="13" y="629"/>
                  </a:lnTo>
                  <a:lnTo>
                    <a:pt x="11" y="631"/>
                  </a:lnTo>
                  <a:lnTo>
                    <a:pt x="9" y="633"/>
                  </a:lnTo>
                  <a:lnTo>
                    <a:pt x="9" y="635"/>
                  </a:lnTo>
                  <a:lnTo>
                    <a:pt x="9" y="637"/>
                  </a:lnTo>
                  <a:lnTo>
                    <a:pt x="7" y="639"/>
                  </a:lnTo>
                  <a:lnTo>
                    <a:pt x="7" y="641"/>
                  </a:lnTo>
                  <a:lnTo>
                    <a:pt x="7" y="643"/>
                  </a:lnTo>
                  <a:lnTo>
                    <a:pt x="7" y="645"/>
                  </a:lnTo>
                  <a:lnTo>
                    <a:pt x="7" y="646"/>
                  </a:lnTo>
                  <a:lnTo>
                    <a:pt x="5" y="646"/>
                  </a:lnTo>
                  <a:lnTo>
                    <a:pt x="5" y="648"/>
                  </a:lnTo>
                  <a:lnTo>
                    <a:pt x="5" y="650"/>
                  </a:lnTo>
                  <a:lnTo>
                    <a:pt x="5" y="652"/>
                  </a:lnTo>
                  <a:lnTo>
                    <a:pt x="5" y="654"/>
                  </a:lnTo>
                  <a:lnTo>
                    <a:pt x="5" y="656"/>
                  </a:lnTo>
                  <a:lnTo>
                    <a:pt x="5" y="658"/>
                  </a:lnTo>
                  <a:lnTo>
                    <a:pt x="5" y="662"/>
                  </a:lnTo>
                  <a:lnTo>
                    <a:pt x="4" y="664"/>
                  </a:lnTo>
                  <a:lnTo>
                    <a:pt x="4" y="666"/>
                  </a:lnTo>
                  <a:lnTo>
                    <a:pt x="4" y="670"/>
                  </a:lnTo>
                  <a:lnTo>
                    <a:pt x="4" y="673"/>
                  </a:lnTo>
                  <a:lnTo>
                    <a:pt x="4" y="677"/>
                  </a:lnTo>
                  <a:lnTo>
                    <a:pt x="2" y="681"/>
                  </a:lnTo>
                  <a:lnTo>
                    <a:pt x="2" y="685"/>
                  </a:lnTo>
                  <a:lnTo>
                    <a:pt x="2" y="689"/>
                  </a:lnTo>
                  <a:lnTo>
                    <a:pt x="2" y="694"/>
                  </a:lnTo>
                  <a:lnTo>
                    <a:pt x="0" y="698"/>
                  </a:lnTo>
                  <a:lnTo>
                    <a:pt x="0" y="704"/>
                  </a:lnTo>
                  <a:lnTo>
                    <a:pt x="0" y="708"/>
                  </a:lnTo>
                  <a:lnTo>
                    <a:pt x="0" y="712"/>
                  </a:lnTo>
                  <a:lnTo>
                    <a:pt x="2" y="716"/>
                  </a:lnTo>
                  <a:lnTo>
                    <a:pt x="2" y="719"/>
                  </a:lnTo>
                  <a:lnTo>
                    <a:pt x="4" y="723"/>
                  </a:lnTo>
                  <a:lnTo>
                    <a:pt x="4" y="725"/>
                  </a:lnTo>
                  <a:lnTo>
                    <a:pt x="5" y="729"/>
                  </a:lnTo>
                  <a:lnTo>
                    <a:pt x="5" y="731"/>
                  </a:lnTo>
                  <a:lnTo>
                    <a:pt x="7" y="733"/>
                  </a:lnTo>
                  <a:lnTo>
                    <a:pt x="9" y="737"/>
                  </a:lnTo>
                  <a:lnTo>
                    <a:pt x="11" y="739"/>
                  </a:lnTo>
                  <a:lnTo>
                    <a:pt x="13" y="741"/>
                  </a:lnTo>
                  <a:lnTo>
                    <a:pt x="13" y="742"/>
                  </a:lnTo>
                  <a:lnTo>
                    <a:pt x="15" y="742"/>
                  </a:lnTo>
                  <a:lnTo>
                    <a:pt x="17" y="744"/>
                  </a:lnTo>
                  <a:lnTo>
                    <a:pt x="19" y="746"/>
                  </a:lnTo>
                  <a:lnTo>
                    <a:pt x="21" y="746"/>
                  </a:lnTo>
                  <a:lnTo>
                    <a:pt x="23" y="748"/>
                  </a:lnTo>
                  <a:lnTo>
                    <a:pt x="25" y="748"/>
                  </a:lnTo>
                  <a:lnTo>
                    <a:pt x="27" y="750"/>
                  </a:lnTo>
                  <a:lnTo>
                    <a:pt x="28" y="750"/>
                  </a:lnTo>
                  <a:lnTo>
                    <a:pt x="30" y="750"/>
                  </a:lnTo>
                  <a:lnTo>
                    <a:pt x="32" y="752"/>
                  </a:lnTo>
                  <a:lnTo>
                    <a:pt x="34" y="752"/>
                  </a:lnTo>
                  <a:lnTo>
                    <a:pt x="36" y="752"/>
                  </a:lnTo>
                  <a:lnTo>
                    <a:pt x="117" y="775"/>
                  </a:lnTo>
                  <a:lnTo>
                    <a:pt x="130" y="919"/>
                  </a:lnTo>
                  <a:lnTo>
                    <a:pt x="130" y="921"/>
                  </a:lnTo>
                  <a:lnTo>
                    <a:pt x="128" y="921"/>
                  </a:lnTo>
                  <a:lnTo>
                    <a:pt x="126" y="923"/>
                  </a:lnTo>
                  <a:lnTo>
                    <a:pt x="124" y="923"/>
                  </a:lnTo>
                  <a:lnTo>
                    <a:pt x="123" y="925"/>
                  </a:lnTo>
                  <a:lnTo>
                    <a:pt x="121" y="925"/>
                  </a:lnTo>
                  <a:lnTo>
                    <a:pt x="119" y="927"/>
                  </a:lnTo>
                  <a:lnTo>
                    <a:pt x="115" y="927"/>
                  </a:lnTo>
                  <a:lnTo>
                    <a:pt x="113" y="929"/>
                  </a:lnTo>
                  <a:lnTo>
                    <a:pt x="111" y="931"/>
                  </a:lnTo>
                  <a:lnTo>
                    <a:pt x="107" y="932"/>
                  </a:lnTo>
                  <a:lnTo>
                    <a:pt x="105" y="934"/>
                  </a:lnTo>
                  <a:lnTo>
                    <a:pt x="101" y="934"/>
                  </a:lnTo>
                  <a:lnTo>
                    <a:pt x="100" y="936"/>
                  </a:lnTo>
                  <a:lnTo>
                    <a:pt x="96" y="938"/>
                  </a:lnTo>
                  <a:lnTo>
                    <a:pt x="92" y="940"/>
                  </a:lnTo>
                  <a:lnTo>
                    <a:pt x="88" y="942"/>
                  </a:lnTo>
                  <a:lnTo>
                    <a:pt x="86" y="944"/>
                  </a:lnTo>
                  <a:lnTo>
                    <a:pt x="82" y="946"/>
                  </a:lnTo>
                  <a:lnTo>
                    <a:pt x="78" y="948"/>
                  </a:lnTo>
                  <a:lnTo>
                    <a:pt x="75" y="950"/>
                  </a:lnTo>
                  <a:lnTo>
                    <a:pt x="73" y="952"/>
                  </a:lnTo>
                  <a:lnTo>
                    <a:pt x="69" y="954"/>
                  </a:lnTo>
                  <a:lnTo>
                    <a:pt x="65" y="955"/>
                  </a:lnTo>
                  <a:lnTo>
                    <a:pt x="63" y="957"/>
                  </a:lnTo>
                  <a:lnTo>
                    <a:pt x="59" y="959"/>
                  </a:lnTo>
                  <a:lnTo>
                    <a:pt x="55" y="961"/>
                  </a:lnTo>
                  <a:lnTo>
                    <a:pt x="53" y="963"/>
                  </a:lnTo>
                  <a:lnTo>
                    <a:pt x="50" y="963"/>
                  </a:lnTo>
                  <a:lnTo>
                    <a:pt x="48" y="965"/>
                  </a:lnTo>
                  <a:lnTo>
                    <a:pt x="46" y="967"/>
                  </a:lnTo>
                  <a:lnTo>
                    <a:pt x="42" y="969"/>
                  </a:lnTo>
                  <a:lnTo>
                    <a:pt x="40" y="971"/>
                  </a:lnTo>
                  <a:lnTo>
                    <a:pt x="38" y="973"/>
                  </a:lnTo>
                  <a:lnTo>
                    <a:pt x="38" y="975"/>
                  </a:lnTo>
                  <a:lnTo>
                    <a:pt x="36" y="979"/>
                  </a:lnTo>
                  <a:lnTo>
                    <a:pt x="34" y="980"/>
                  </a:lnTo>
                  <a:lnTo>
                    <a:pt x="32" y="982"/>
                  </a:lnTo>
                  <a:lnTo>
                    <a:pt x="32" y="984"/>
                  </a:lnTo>
                  <a:lnTo>
                    <a:pt x="30" y="986"/>
                  </a:lnTo>
                  <a:lnTo>
                    <a:pt x="30" y="988"/>
                  </a:lnTo>
                  <a:lnTo>
                    <a:pt x="30" y="990"/>
                  </a:lnTo>
                  <a:lnTo>
                    <a:pt x="28" y="992"/>
                  </a:lnTo>
                  <a:lnTo>
                    <a:pt x="28" y="994"/>
                  </a:lnTo>
                  <a:lnTo>
                    <a:pt x="28" y="996"/>
                  </a:lnTo>
                  <a:lnTo>
                    <a:pt x="28" y="998"/>
                  </a:lnTo>
                  <a:lnTo>
                    <a:pt x="28" y="1000"/>
                  </a:lnTo>
                  <a:lnTo>
                    <a:pt x="28" y="1002"/>
                  </a:lnTo>
                  <a:lnTo>
                    <a:pt x="28" y="1003"/>
                  </a:lnTo>
                  <a:lnTo>
                    <a:pt x="28" y="1005"/>
                  </a:lnTo>
                  <a:lnTo>
                    <a:pt x="28" y="1007"/>
                  </a:lnTo>
                  <a:lnTo>
                    <a:pt x="28" y="1009"/>
                  </a:lnTo>
                  <a:lnTo>
                    <a:pt x="28" y="1011"/>
                  </a:lnTo>
                  <a:lnTo>
                    <a:pt x="28" y="1013"/>
                  </a:lnTo>
                  <a:lnTo>
                    <a:pt x="28" y="1015"/>
                  </a:lnTo>
                  <a:lnTo>
                    <a:pt x="30" y="1015"/>
                  </a:lnTo>
                  <a:lnTo>
                    <a:pt x="30" y="1017"/>
                  </a:lnTo>
                  <a:lnTo>
                    <a:pt x="30" y="1019"/>
                  </a:lnTo>
                  <a:lnTo>
                    <a:pt x="32" y="1021"/>
                  </a:lnTo>
                  <a:lnTo>
                    <a:pt x="32" y="1023"/>
                  </a:lnTo>
                  <a:lnTo>
                    <a:pt x="32" y="1025"/>
                  </a:lnTo>
                  <a:lnTo>
                    <a:pt x="34" y="1027"/>
                  </a:lnTo>
                  <a:lnTo>
                    <a:pt x="34" y="1028"/>
                  </a:lnTo>
                  <a:lnTo>
                    <a:pt x="34" y="1030"/>
                  </a:lnTo>
                  <a:lnTo>
                    <a:pt x="36" y="1032"/>
                  </a:lnTo>
                  <a:lnTo>
                    <a:pt x="36" y="1034"/>
                  </a:lnTo>
                  <a:lnTo>
                    <a:pt x="38" y="1036"/>
                  </a:lnTo>
                  <a:lnTo>
                    <a:pt x="38" y="1040"/>
                  </a:lnTo>
                  <a:lnTo>
                    <a:pt x="40" y="1042"/>
                  </a:lnTo>
                  <a:lnTo>
                    <a:pt x="40" y="1046"/>
                  </a:lnTo>
                  <a:lnTo>
                    <a:pt x="42" y="1050"/>
                  </a:lnTo>
                  <a:lnTo>
                    <a:pt x="44" y="1053"/>
                  </a:lnTo>
                  <a:lnTo>
                    <a:pt x="46" y="1057"/>
                  </a:lnTo>
                  <a:lnTo>
                    <a:pt x="48" y="1061"/>
                  </a:lnTo>
                  <a:lnTo>
                    <a:pt x="48" y="1065"/>
                  </a:lnTo>
                  <a:lnTo>
                    <a:pt x="50" y="1071"/>
                  </a:lnTo>
                  <a:lnTo>
                    <a:pt x="52" y="1074"/>
                  </a:lnTo>
                  <a:lnTo>
                    <a:pt x="55" y="1078"/>
                  </a:lnTo>
                  <a:lnTo>
                    <a:pt x="57" y="1082"/>
                  </a:lnTo>
                  <a:lnTo>
                    <a:pt x="59" y="1084"/>
                  </a:lnTo>
                  <a:lnTo>
                    <a:pt x="61" y="1088"/>
                  </a:lnTo>
                  <a:lnTo>
                    <a:pt x="63" y="1090"/>
                  </a:lnTo>
                  <a:lnTo>
                    <a:pt x="65" y="1092"/>
                  </a:lnTo>
                  <a:lnTo>
                    <a:pt x="69" y="1094"/>
                  </a:lnTo>
                  <a:lnTo>
                    <a:pt x="71" y="1096"/>
                  </a:lnTo>
                  <a:lnTo>
                    <a:pt x="73" y="1098"/>
                  </a:lnTo>
                  <a:lnTo>
                    <a:pt x="75" y="1099"/>
                  </a:lnTo>
                  <a:lnTo>
                    <a:pt x="78" y="1099"/>
                  </a:lnTo>
                  <a:lnTo>
                    <a:pt x="80" y="1101"/>
                  </a:lnTo>
                  <a:lnTo>
                    <a:pt x="82" y="1101"/>
                  </a:lnTo>
                  <a:lnTo>
                    <a:pt x="84" y="1101"/>
                  </a:lnTo>
                  <a:lnTo>
                    <a:pt x="86" y="1103"/>
                  </a:lnTo>
                  <a:lnTo>
                    <a:pt x="88" y="1103"/>
                  </a:lnTo>
                  <a:lnTo>
                    <a:pt x="90" y="1103"/>
                  </a:lnTo>
                  <a:lnTo>
                    <a:pt x="92" y="1103"/>
                  </a:lnTo>
                  <a:lnTo>
                    <a:pt x="94" y="1103"/>
                  </a:lnTo>
                  <a:lnTo>
                    <a:pt x="96" y="1103"/>
                  </a:lnTo>
                  <a:lnTo>
                    <a:pt x="98" y="1103"/>
                  </a:lnTo>
                  <a:lnTo>
                    <a:pt x="100" y="1103"/>
                  </a:lnTo>
                  <a:lnTo>
                    <a:pt x="101" y="1103"/>
                  </a:lnTo>
                  <a:lnTo>
                    <a:pt x="103" y="1101"/>
                  </a:lnTo>
                  <a:lnTo>
                    <a:pt x="105" y="1101"/>
                  </a:lnTo>
                  <a:lnTo>
                    <a:pt x="188" y="1084"/>
                  </a:lnTo>
                  <a:lnTo>
                    <a:pt x="268" y="120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headEnd/>
              <a:tailEnd/>
            </a:ln>
            <a:effectLst/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44450" tIns="274320" rIns="44450" bIns="444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36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תשתית נתונים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5" name="Freeform 118">
              <a:extLst>
                <a:ext uri="{FF2B5EF4-FFF2-40B4-BE49-F238E27FC236}">
                  <a16:creationId xmlns:a16="http://schemas.microsoft.com/office/drawing/2014/main" id="{3E1193BD-58A8-4CB0-8C85-52A0633968F6}"/>
                </a:ext>
              </a:extLst>
            </p:cNvPr>
            <p:cNvSpPr>
              <a:spLocks/>
            </p:cNvSpPr>
            <p:nvPr/>
          </p:nvSpPr>
          <p:spPr bwMode="gray">
            <a:xfrm rot="107936" flipH="1">
              <a:off x="3380876" y="3782327"/>
              <a:ext cx="1503328" cy="1493739"/>
            </a:xfrm>
            <a:custGeom>
              <a:avLst/>
              <a:gdLst/>
              <a:ahLst/>
              <a:cxnLst>
                <a:cxn ang="0">
                  <a:pos x="232" y="1261"/>
                </a:cxn>
                <a:cxn ang="0">
                  <a:pos x="213" y="1318"/>
                </a:cxn>
                <a:cxn ang="0">
                  <a:pos x="242" y="1353"/>
                </a:cxn>
                <a:cxn ang="0">
                  <a:pos x="309" y="1389"/>
                </a:cxn>
                <a:cxn ang="0">
                  <a:pos x="520" y="1407"/>
                </a:cxn>
                <a:cxn ang="0">
                  <a:pos x="514" y="1485"/>
                </a:cxn>
                <a:cxn ang="0">
                  <a:pos x="539" y="1527"/>
                </a:cxn>
                <a:cxn ang="0">
                  <a:pos x="591" y="1541"/>
                </a:cxn>
                <a:cxn ang="0">
                  <a:pos x="654" y="1526"/>
                </a:cxn>
                <a:cxn ang="0">
                  <a:pos x="850" y="1476"/>
                </a:cxn>
                <a:cxn ang="0">
                  <a:pos x="883" y="1543"/>
                </a:cxn>
                <a:cxn ang="0">
                  <a:pos x="925" y="1552"/>
                </a:cxn>
                <a:cxn ang="0">
                  <a:pos x="998" y="1529"/>
                </a:cxn>
                <a:cxn ang="0">
                  <a:pos x="1136" y="1341"/>
                </a:cxn>
                <a:cxn ang="0">
                  <a:pos x="1186" y="1384"/>
                </a:cxn>
                <a:cxn ang="0">
                  <a:pos x="1242" y="1410"/>
                </a:cxn>
                <a:cxn ang="0">
                  <a:pos x="1278" y="1387"/>
                </a:cxn>
                <a:cxn ang="0">
                  <a:pos x="1324" y="1324"/>
                </a:cxn>
                <a:cxn ang="0">
                  <a:pos x="1368" y="1115"/>
                </a:cxn>
                <a:cxn ang="0">
                  <a:pos x="1443" y="1132"/>
                </a:cxn>
                <a:cxn ang="0">
                  <a:pos x="1489" y="1113"/>
                </a:cxn>
                <a:cxn ang="0">
                  <a:pos x="1507" y="1073"/>
                </a:cxn>
                <a:cxn ang="0">
                  <a:pos x="1507" y="1002"/>
                </a:cxn>
                <a:cxn ang="0">
                  <a:pos x="1457" y="802"/>
                </a:cxn>
                <a:cxn ang="0">
                  <a:pos x="1534" y="781"/>
                </a:cxn>
                <a:cxn ang="0">
                  <a:pos x="1560" y="742"/>
                </a:cxn>
                <a:cxn ang="0">
                  <a:pos x="1557" y="689"/>
                </a:cxn>
                <a:cxn ang="0">
                  <a:pos x="1520" y="637"/>
                </a:cxn>
                <a:cxn ang="0">
                  <a:pos x="1403" y="472"/>
                </a:cxn>
                <a:cxn ang="0">
                  <a:pos x="1455" y="418"/>
                </a:cxn>
                <a:cxn ang="0">
                  <a:pos x="1449" y="374"/>
                </a:cxn>
                <a:cxn ang="0">
                  <a:pos x="1403" y="316"/>
                </a:cxn>
                <a:cxn ang="0">
                  <a:pos x="1282" y="351"/>
                </a:cxn>
                <a:cxn ang="0">
                  <a:pos x="1194" y="197"/>
                </a:cxn>
                <a:cxn ang="0">
                  <a:pos x="1201" y="132"/>
                </a:cxn>
                <a:cxn ang="0">
                  <a:pos x="1176" y="107"/>
                </a:cxn>
                <a:cxn ang="0">
                  <a:pos x="1105" y="80"/>
                </a:cxn>
                <a:cxn ang="0">
                  <a:pos x="881" y="124"/>
                </a:cxn>
                <a:cxn ang="0">
                  <a:pos x="871" y="53"/>
                </a:cxn>
                <a:cxn ang="0">
                  <a:pos x="841" y="5"/>
                </a:cxn>
                <a:cxn ang="0">
                  <a:pos x="798" y="0"/>
                </a:cxn>
                <a:cxn ang="0">
                  <a:pos x="727" y="21"/>
                </a:cxn>
                <a:cxn ang="0">
                  <a:pos x="554" y="140"/>
                </a:cxn>
                <a:cxn ang="0">
                  <a:pos x="508" y="78"/>
                </a:cxn>
                <a:cxn ang="0">
                  <a:pos x="462" y="67"/>
                </a:cxn>
                <a:cxn ang="0">
                  <a:pos x="403" y="98"/>
                </a:cxn>
                <a:cxn ang="0">
                  <a:pos x="380" y="149"/>
                </a:cxn>
                <a:cxn ang="0">
                  <a:pos x="263" y="309"/>
                </a:cxn>
                <a:cxn ang="0">
                  <a:pos x="194" y="284"/>
                </a:cxn>
                <a:cxn ang="0">
                  <a:pos x="157" y="307"/>
                </a:cxn>
                <a:cxn ang="0">
                  <a:pos x="119" y="372"/>
                </a:cxn>
                <a:cxn ang="0">
                  <a:pos x="142" y="602"/>
                </a:cxn>
                <a:cxn ang="0">
                  <a:pos x="75" y="604"/>
                </a:cxn>
                <a:cxn ang="0">
                  <a:pos x="17" y="622"/>
                </a:cxn>
                <a:cxn ang="0">
                  <a:pos x="4" y="664"/>
                </a:cxn>
                <a:cxn ang="0">
                  <a:pos x="13" y="741"/>
                </a:cxn>
                <a:cxn ang="0">
                  <a:pos x="119" y="927"/>
                </a:cxn>
                <a:cxn ang="0">
                  <a:pos x="50" y="963"/>
                </a:cxn>
                <a:cxn ang="0">
                  <a:pos x="28" y="1007"/>
                </a:cxn>
                <a:cxn ang="0">
                  <a:pos x="46" y="1057"/>
                </a:cxn>
                <a:cxn ang="0">
                  <a:pos x="92" y="1103"/>
                </a:cxn>
              </a:cxnLst>
              <a:rect l="0" t="0" r="r" b="b"/>
              <a:pathLst>
                <a:path w="1562" h="1554">
                  <a:moveTo>
                    <a:pt x="268" y="1205"/>
                  </a:moveTo>
                  <a:lnTo>
                    <a:pt x="267" y="1207"/>
                  </a:lnTo>
                  <a:lnTo>
                    <a:pt x="265" y="1209"/>
                  </a:lnTo>
                  <a:lnTo>
                    <a:pt x="265" y="1211"/>
                  </a:lnTo>
                  <a:lnTo>
                    <a:pt x="263" y="1213"/>
                  </a:lnTo>
                  <a:lnTo>
                    <a:pt x="263" y="1215"/>
                  </a:lnTo>
                  <a:lnTo>
                    <a:pt x="261" y="1217"/>
                  </a:lnTo>
                  <a:lnTo>
                    <a:pt x="259" y="1218"/>
                  </a:lnTo>
                  <a:lnTo>
                    <a:pt x="257" y="1220"/>
                  </a:lnTo>
                  <a:lnTo>
                    <a:pt x="255" y="1224"/>
                  </a:lnTo>
                  <a:lnTo>
                    <a:pt x="253" y="1226"/>
                  </a:lnTo>
                  <a:lnTo>
                    <a:pt x="251" y="1228"/>
                  </a:lnTo>
                  <a:lnTo>
                    <a:pt x="249" y="1232"/>
                  </a:lnTo>
                  <a:lnTo>
                    <a:pt x="247" y="1236"/>
                  </a:lnTo>
                  <a:lnTo>
                    <a:pt x="245" y="1238"/>
                  </a:lnTo>
                  <a:lnTo>
                    <a:pt x="243" y="1241"/>
                  </a:lnTo>
                  <a:lnTo>
                    <a:pt x="242" y="1243"/>
                  </a:lnTo>
                  <a:lnTo>
                    <a:pt x="240" y="1247"/>
                  </a:lnTo>
                  <a:lnTo>
                    <a:pt x="238" y="1251"/>
                  </a:lnTo>
                  <a:lnTo>
                    <a:pt x="236" y="1253"/>
                  </a:lnTo>
                  <a:lnTo>
                    <a:pt x="234" y="1257"/>
                  </a:lnTo>
                  <a:lnTo>
                    <a:pt x="232" y="1261"/>
                  </a:lnTo>
                  <a:lnTo>
                    <a:pt x="230" y="1265"/>
                  </a:lnTo>
                  <a:lnTo>
                    <a:pt x="226" y="1266"/>
                  </a:lnTo>
                  <a:lnTo>
                    <a:pt x="224" y="1270"/>
                  </a:lnTo>
                  <a:lnTo>
                    <a:pt x="222" y="1274"/>
                  </a:lnTo>
                  <a:lnTo>
                    <a:pt x="220" y="1276"/>
                  </a:lnTo>
                  <a:lnTo>
                    <a:pt x="220" y="1280"/>
                  </a:lnTo>
                  <a:lnTo>
                    <a:pt x="219" y="1282"/>
                  </a:lnTo>
                  <a:lnTo>
                    <a:pt x="217" y="1286"/>
                  </a:lnTo>
                  <a:lnTo>
                    <a:pt x="215" y="1288"/>
                  </a:lnTo>
                  <a:lnTo>
                    <a:pt x="213" y="1289"/>
                  </a:lnTo>
                  <a:lnTo>
                    <a:pt x="213" y="1293"/>
                  </a:lnTo>
                  <a:lnTo>
                    <a:pt x="213" y="1295"/>
                  </a:lnTo>
                  <a:lnTo>
                    <a:pt x="211" y="1299"/>
                  </a:lnTo>
                  <a:lnTo>
                    <a:pt x="211" y="1301"/>
                  </a:lnTo>
                  <a:lnTo>
                    <a:pt x="211" y="1303"/>
                  </a:lnTo>
                  <a:lnTo>
                    <a:pt x="211" y="1305"/>
                  </a:lnTo>
                  <a:lnTo>
                    <a:pt x="211" y="1309"/>
                  </a:lnTo>
                  <a:lnTo>
                    <a:pt x="211" y="1311"/>
                  </a:lnTo>
                  <a:lnTo>
                    <a:pt x="211" y="1312"/>
                  </a:lnTo>
                  <a:lnTo>
                    <a:pt x="213" y="1314"/>
                  </a:lnTo>
                  <a:lnTo>
                    <a:pt x="213" y="1316"/>
                  </a:lnTo>
                  <a:lnTo>
                    <a:pt x="213" y="1318"/>
                  </a:lnTo>
                  <a:lnTo>
                    <a:pt x="215" y="1320"/>
                  </a:lnTo>
                  <a:lnTo>
                    <a:pt x="215" y="1322"/>
                  </a:lnTo>
                  <a:lnTo>
                    <a:pt x="215" y="1324"/>
                  </a:lnTo>
                  <a:lnTo>
                    <a:pt x="217" y="1326"/>
                  </a:lnTo>
                  <a:lnTo>
                    <a:pt x="217" y="1328"/>
                  </a:lnTo>
                  <a:lnTo>
                    <a:pt x="219" y="1330"/>
                  </a:lnTo>
                  <a:lnTo>
                    <a:pt x="219" y="1332"/>
                  </a:lnTo>
                  <a:lnTo>
                    <a:pt x="220" y="1334"/>
                  </a:lnTo>
                  <a:lnTo>
                    <a:pt x="222" y="1336"/>
                  </a:lnTo>
                  <a:lnTo>
                    <a:pt x="222" y="1337"/>
                  </a:lnTo>
                  <a:lnTo>
                    <a:pt x="224" y="1337"/>
                  </a:lnTo>
                  <a:lnTo>
                    <a:pt x="224" y="1339"/>
                  </a:lnTo>
                  <a:lnTo>
                    <a:pt x="226" y="1339"/>
                  </a:lnTo>
                  <a:lnTo>
                    <a:pt x="226" y="1341"/>
                  </a:lnTo>
                  <a:lnTo>
                    <a:pt x="228" y="1341"/>
                  </a:lnTo>
                  <a:lnTo>
                    <a:pt x="230" y="1343"/>
                  </a:lnTo>
                  <a:lnTo>
                    <a:pt x="232" y="1345"/>
                  </a:lnTo>
                  <a:lnTo>
                    <a:pt x="234" y="1345"/>
                  </a:lnTo>
                  <a:lnTo>
                    <a:pt x="236" y="1347"/>
                  </a:lnTo>
                  <a:lnTo>
                    <a:pt x="236" y="1349"/>
                  </a:lnTo>
                  <a:lnTo>
                    <a:pt x="238" y="1351"/>
                  </a:lnTo>
                  <a:lnTo>
                    <a:pt x="242" y="1353"/>
                  </a:lnTo>
                  <a:lnTo>
                    <a:pt x="243" y="1355"/>
                  </a:lnTo>
                  <a:lnTo>
                    <a:pt x="245" y="1357"/>
                  </a:lnTo>
                  <a:lnTo>
                    <a:pt x="247" y="1359"/>
                  </a:lnTo>
                  <a:lnTo>
                    <a:pt x="251" y="1360"/>
                  </a:lnTo>
                  <a:lnTo>
                    <a:pt x="253" y="1362"/>
                  </a:lnTo>
                  <a:lnTo>
                    <a:pt x="257" y="1366"/>
                  </a:lnTo>
                  <a:lnTo>
                    <a:pt x="261" y="1368"/>
                  </a:lnTo>
                  <a:lnTo>
                    <a:pt x="265" y="1372"/>
                  </a:lnTo>
                  <a:lnTo>
                    <a:pt x="268" y="1376"/>
                  </a:lnTo>
                  <a:lnTo>
                    <a:pt x="272" y="1378"/>
                  </a:lnTo>
                  <a:lnTo>
                    <a:pt x="274" y="1380"/>
                  </a:lnTo>
                  <a:lnTo>
                    <a:pt x="278" y="1384"/>
                  </a:lnTo>
                  <a:lnTo>
                    <a:pt x="282" y="1384"/>
                  </a:lnTo>
                  <a:lnTo>
                    <a:pt x="286" y="1385"/>
                  </a:lnTo>
                  <a:lnTo>
                    <a:pt x="288" y="1387"/>
                  </a:lnTo>
                  <a:lnTo>
                    <a:pt x="291" y="1387"/>
                  </a:lnTo>
                  <a:lnTo>
                    <a:pt x="295" y="1389"/>
                  </a:lnTo>
                  <a:lnTo>
                    <a:pt x="297" y="1389"/>
                  </a:lnTo>
                  <a:lnTo>
                    <a:pt x="301" y="1389"/>
                  </a:lnTo>
                  <a:lnTo>
                    <a:pt x="303" y="1389"/>
                  </a:lnTo>
                  <a:lnTo>
                    <a:pt x="305" y="1389"/>
                  </a:lnTo>
                  <a:lnTo>
                    <a:pt x="309" y="1389"/>
                  </a:lnTo>
                  <a:lnTo>
                    <a:pt x="311" y="1389"/>
                  </a:lnTo>
                  <a:lnTo>
                    <a:pt x="313" y="1387"/>
                  </a:lnTo>
                  <a:lnTo>
                    <a:pt x="315" y="1387"/>
                  </a:lnTo>
                  <a:lnTo>
                    <a:pt x="316" y="1387"/>
                  </a:lnTo>
                  <a:lnTo>
                    <a:pt x="318" y="1385"/>
                  </a:lnTo>
                  <a:lnTo>
                    <a:pt x="320" y="1385"/>
                  </a:lnTo>
                  <a:lnTo>
                    <a:pt x="322" y="1384"/>
                  </a:lnTo>
                  <a:lnTo>
                    <a:pt x="324" y="1384"/>
                  </a:lnTo>
                  <a:lnTo>
                    <a:pt x="326" y="1382"/>
                  </a:lnTo>
                  <a:lnTo>
                    <a:pt x="328" y="1380"/>
                  </a:lnTo>
                  <a:lnTo>
                    <a:pt x="330" y="1378"/>
                  </a:lnTo>
                  <a:lnTo>
                    <a:pt x="332" y="1378"/>
                  </a:lnTo>
                  <a:lnTo>
                    <a:pt x="332" y="1376"/>
                  </a:lnTo>
                  <a:lnTo>
                    <a:pt x="393" y="1324"/>
                  </a:lnTo>
                  <a:lnTo>
                    <a:pt x="522" y="1393"/>
                  </a:lnTo>
                  <a:lnTo>
                    <a:pt x="522" y="1395"/>
                  </a:lnTo>
                  <a:lnTo>
                    <a:pt x="522" y="1397"/>
                  </a:lnTo>
                  <a:lnTo>
                    <a:pt x="522" y="1399"/>
                  </a:lnTo>
                  <a:lnTo>
                    <a:pt x="522" y="1401"/>
                  </a:lnTo>
                  <a:lnTo>
                    <a:pt x="522" y="1403"/>
                  </a:lnTo>
                  <a:lnTo>
                    <a:pt x="522" y="1405"/>
                  </a:lnTo>
                  <a:lnTo>
                    <a:pt x="520" y="1407"/>
                  </a:lnTo>
                  <a:lnTo>
                    <a:pt x="520" y="1410"/>
                  </a:lnTo>
                  <a:lnTo>
                    <a:pt x="520" y="1412"/>
                  </a:lnTo>
                  <a:lnTo>
                    <a:pt x="520" y="1416"/>
                  </a:lnTo>
                  <a:lnTo>
                    <a:pt x="520" y="1418"/>
                  </a:lnTo>
                  <a:lnTo>
                    <a:pt x="520" y="1422"/>
                  </a:lnTo>
                  <a:lnTo>
                    <a:pt x="518" y="1426"/>
                  </a:lnTo>
                  <a:lnTo>
                    <a:pt x="518" y="1430"/>
                  </a:lnTo>
                  <a:lnTo>
                    <a:pt x="518" y="1433"/>
                  </a:lnTo>
                  <a:lnTo>
                    <a:pt x="518" y="1437"/>
                  </a:lnTo>
                  <a:lnTo>
                    <a:pt x="518" y="1441"/>
                  </a:lnTo>
                  <a:lnTo>
                    <a:pt x="516" y="1445"/>
                  </a:lnTo>
                  <a:lnTo>
                    <a:pt x="516" y="1449"/>
                  </a:lnTo>
                  <a:lnTo>
                    <a:pt x="516" y="1453"/>
                  </a:lnTo>
                  <a:lnTo>
                    <a:pt x="516" y="1456"/>
                  </a:lnTo>
                  <a:lnTo>
                    <a:pt x="516" y="1460"/>
                  </a:lnTo>
                  <a:lnTo>
                    <a:pt x="514" y="1464"/>
                  </a:lnTo>
                  <a:lnTo>
                    <a:pt x="514" y="1466"/>
                  </a:lnTo>
                  <a:lnTo>
                    <a:pt x="514" y="1470"/>
                  </a:lnTo>
                  <a:lnTo>
                    <a:pt x="514" y="1474"/>
                  </a:lnTo>
                  <a:lnTo>
                    <a:pt x="514" y="1478"/>
                  </a:lnTo>
                  <a:lnTo>
                    <a:pt x="514" y="1481"/>
                  </a:lnTo>
                  <a:lnTo>
                    <a:pt x="514" y="1485"/>
                  </a:lnTo>
                  <a:lnTo>
                    <a:pt x="514" y="1487"/>
                  </a:lnTo>
                  <a:lnTo>
                    <a:pt x="514" y="1491"/>
                  </a:lnTo>
                  <a:lnTo>
                    <a:pt x="514" y="1493"/>
                  </a:lnTo>
                  <a:lnTo>
                    <a:pt x="514" y="1497"/>
                  </a:lnTo>
                  <a:lnTo>
                    <a:pt x="514" y="1499"/>
                  </a:lnTo>
                  <a:lnTo>
                    <a:pt x="516" y="1501"/>
                  </a:lnTo>
                  <a:lnTo>
                    <a:pt x="516" y="1504"/>
                  </a:lnTo>
                  <a:lnTo>
                    <a:pt x="518" y="1506"/>
                  </a:lnTo>
                  <a:lnTo>
                    <a:pt x="520" y="1508"/>
                  </a:lnTo>
                  <a:lnTo>
                    <a:pt x="520" y="1510"/>
                  </a:lnTo>
                  <a:lnTo>
                    <a:pt x="522" y="1512"/>
                  </a:lnTo>
                  <a:lnTo>
                    <a:pt x="524" y="1514"/>
                  </a:lnTo>
                  <a:lnTo>
                    <a:pt x="524" y="1516"/>
                  </a:lnTo>
                  <a:lnTo>
                    <a:pt x="526" y="1518"/>
                  </a:lnTo>
                  <a:lnTo>
                    <a:pt x="528" y="1520"/>
                  </a:lnTo>
                  <a:lnTo>
                    <a:pt x="530" y="1520"/>
                  </a:lnTo>
                  <a:lnTo>
                    <a:pt x="530" y="1522"/>
                  </a:lnTo>
                  <a:lnTo>
                    <a:pt x="531" y="1524"/>
                  </a:lnTo>
                  <a:lnTo>
                    <a:pt x="533" y="1524"/>
                  </a:lnTo>
                  <a:lnTo>
                    <a:pt x="535" y="1526"/>
                  </a:lnTo>
                  <a:lnTo>
                    <a:pt x="537" y="1527"/>
                  </a:lnTo>
                  <a:lnTo>
                    <a:pt x="539" y="1527"/>
                  </a:lnTo>
                  <a:lnTo>
                    <a:pt x="541" y="1529"/>
                  </a:lnTo>
                  <a:lnTo>
                    <a:pt x="543" y="1529"/>
                  </a:lnTo>
                  <a:lnTo>
                    <a:pt x="545" y="1529"/>
                  </a:lnTo>
                  <a:lnTo>
                    <a:pt x="545" y="1531"/>
                  </a:lnTo>
                  <a:lnTo>
                    <a:pt x="547" y="1531"/>
                  </a:lnTo>
                  <a:lnTo>
                    <a:pt x="549" y="1531"/>
                  </a:lnTo>
                  <a:lnTo>
                    <a:pt x="551" y="1531"/>
                  </a:lnTo>
                  <a:lnTo>
                    <a:pt x="553" y="1533"/>
                  </a:lnTo>
                  <a:lnTo>
                    <a:pt x="554" y="1533"/>
                  </a:lnTo>
                  <a:lnTo>
                    <a:pt x="556" y="1533"/>
                  </a:lnTo>
                  <a:lnTo>
                    <a:pt x="558" y="1533"/>
                  </a:lnTo>
                  <a:lnTo>
                    <a:pt x="560" y="1533"/>
                  </a:lnTo>
                  <a:lnTo>
                    <a:pt x="562" y="1535"/>
                  </a:lnTo>
                  <a:lnTo>
                    <a:pt x="564" y="1535"/>
                  </a:lnTo>
                  <a:lnTo>
                    <a:pt x="566" y="1535"/>
                  </a:lnTo>
                  <a:lnTo>
                    <a:pt x="570" y="1537"/>
                  </a:lnTo>
                  <a:lnTo>
                    <a:pt x="572" y="1537"/>
                  </a:lnTo>
                  <a:lnTo>
                    <a:pt x="576" y="1537"/>
                  </a:lnTo>
                  <a:lnTo>
                    <a:pt x="579" y="1539"/>
                  </a:lnTo>
                  <a:lnTo>
                    <a:pt x="583" y="1539"/>
                  </a:lnTo>
                  <a:lnTo>
                    <a:pt x="587" y="1541"/>
                  </a:lnTo>
                  <a:lnTo>
                    <a:pt x="591" y="1541"/>
                  </a:lnTo>
                  <a:lnTo>
                    <a:pt x="597" y="1543"/>
                  </a:lnTo>
                  <a:lnTo>
                    <a:pt x="601" y="1543"/>
                  </a:lnTo>
                  <a:lnTo>
                    <a:pt x="604" y="1545"/>
                  </a:lnTo>
                  <a:lnTo>
                    <a:pt x="610" y="1545"/>
                  </a:lnTo>
                  <a:lnTo>
                    <a:pt x="614" y="1545"/>
                  </a:lnTo>
                  <a:lnTo>
                    <a:pt x="618" y="1545"/>
                  </a:lnTo>
                  <a:lnTo>
                    <a:pt x="622" y="1545"/>
                  </a:lnTo>
                  <a:lnTo>
                    <a:pt x="624" y="1545"/>
                  </a:lnTo>
                  <a:lnTo>
                    <a:pt x="627" y="1545"/>
                  </a:lnTo>
                  <a:lnTo>
                    <a:pt x="631" y="1543"/>
                  </a:lnTo>
                  <a:lnTo>
                    <a:pt x="633" y="1543"/>
                  </a:lnTo>
                  <a:lnTo>
                    <a:pt x="637" y="1541"/>
                  </a:lnTo>
                  <a:lnTo>
                    <a:pt x="639" y="1539"/>
                  </a:lnTo>
                  <a:lnTo>
                    <a:pt x="641" y="1539"/>
                  </a:lnTo>
                  <a:lnTo>
                    <a:pt x="643" y="1537"/>
                  </a:lnTo>
                  <a:lnTo>
                    <a:pt x="645" y="1535"/>
                  </a:lnTo>
                  <a:lnTo>
                    <a:pt x="647" y="1533"/>
                  </a:lnTo>
                  <a:lnTo>
                    <a:pt x="649" y="1533"/>
                  </a:lnTo>
                  <a:lnTo>
                    <a:pt x="650" y="1531"/>
                  </a:lnTo>
                  <a:lnTo>
                    <a:pt x="650" y="1529"/>
                  </a:lnTo>
                  <a:lnTo>
                    <a:pt x="652" y="1527"/>
                  </a:lnTo>
                  <a:lnTo>
                    <a:pt x="654" y="1526"/>
                  </a:lnTo>
                  <a:lnTo>
                    <a:pt x="654" y="1524"/>
                  </a:lnTo>
                  <a:lnTo>
                    <a:pt x="656" y="1524"/>
                  </a:lnTo>
                  <a:lnTo>
                    <a:pt x="656" y="1522"/>
                  </a:lnTo>
                  <a:lnTo>
                    <a:pt x="656" y="1520"/>
                  </a:lnTo>
                  <a:lnTo>
                    <a:pt x="658" y="1520"/>
                  </a:lnTo>
                  <a:lnTo>
                    <a:pt x="658" y="1518"/>
                  </a:lnTo>
                  <a:lnTo>
                    <a:pt x="658" y="1516"/>
                  </a:lnTo>
                  <a:lnTo>
                    <a:pt x="691" y="1441"/>
                  </a:lnTo>
                  <a:lnTo>
                    <a:pt x="837" y="1443"/>
                  </a:lnTo>
                  <a:lnTo>
                    <a:pt x="837" y="1445"/>
                  </a:lnTo>
                  <a:lnTo>
                    <a:pt x="839" y="1447"/>
                  </a:lnTo>
                  <a:lnTo>
                    <a:pt x="839" y="1449"/>
                  </a:lnTo>
                  <a:lnTo>
                    <a:pt x="841" y="1451"/>
                  </a:lnTo>
                  <a:lnTo>
                    <a:pt x="841" y="1453"/>
                  </a:lnTo>
                  <a:lnTo>
                    <a:pt x="842" y="1456"/>
                  </a:lnTo>
                  <a:lnTo>
                    <a:pt x="842" y="1458"/>
                  </a:lnTo>
                  <a:lnTo>
                    <a:pt x="844" y="1460"/>
                  </a:lnTo>
                  <a:lnTo>
                    <a:pt x="844" y="1464"/>
                  </a:lnTo>
                  <a:lnTo>
                    <a:pt x="846" y="1466"/>
                  </a:lnTo>
                  <a:lnTo>
                    <a:pt x="846" y="1470"/>
                  </a:lnTo>
                  <a:lnTo>
                    <a:pt x="848" y="1472"/>
                  </a:lnTo>
                  <a:lnTo>
                    <a:pt x="850" y="1476"/>
                  </a:lnTo>
                  <a:lnTo>
                    <a:pt x="850" y="1479"/>
                  </a:lnTo>
                  <a:lnTo>
                    <a:pt x="852" y="1483"/>
                  </a:lnTo>
                  <a:lnTo>
                    <a:pt x="854" y="1485"/>
                  </a:lnTo>
                  <a:lnTo>
                    <a:pt x="856" y="1489"/>
                  </a:lnTo>
                  <a:lnTo>
                    <a:pt x="856" y="1493"/>
                  </a:lnTo>
                  <a:lnTo>
                    <a:pt x="858" y="1497"/>
                  </a:lnTo>
                  <a:lnTo>
                    <a:pt x="860" y="1501"/>
                  </a:lnTo>
                  <a:lnTo>
                    <a:pt x="862" y="1503"/>
                  </a:lnTo>
                  <a:lnTo>
                    <a:pt x="862" y="1506"/>
                  </a:lnTo>
                  <a:lnTo>
                    <a:pt x="864" y="1510"/>
                  </a:lnTo>
                  <a:lnTo>
                    <a:pt x="865" y="1514"/>
                  </a:lnTo>
                  <a:lnTo>
                    <a:pt x="867" y="1516"/>
                  </a:lnTo>
                  <a:lnTo>
                    <a:pt x="867" y="1520"/>
                  </a:lnTo>
                  <a:lnTo>
                    <a:pt x="869" y="1524"/>
                  </a:lnTo>
                  <a:lnTo>
                    <a:pt x="871" y="1526"/>
                  </a:lnTo>
                  <a:lnTo>
                    <a:pt x="873" y="1529"/>
                  </a:lnTo>
                  <a:lnTo>
                    <a:pt x="873" y="1531"/>
                  </a:lnTo>
                  <a:lnTo>
                    <a:pt x="875" y="1533"/>
                  </a:lnTo>
                  <a:lnTo>
                    <a:pt x="877" y="1537"/>
                  </a:lnTo>
                  <a:lnTo>
                    <a:pt x="879" y="1539"/>
                  </a:lnTo>
                  <a:lnTo>
                    <a:pt x="881" y="1541"/>
                  </a:lnTo>
                  <a:lnTo>
                    <a:pt x="883" y="1543"/>
                  </a:lnTo>
                  <a:lnTo>
                    <a:pt x="885" y="1545"/>
                  </a:lnTo>
                  <a:lnTo>
                    <a:pt x="887" y="1545"/>
                  </a:lnTo>
                  <a:lnTo>
                    <a:pt x="889" y="1547"/>
                  </a:lnTo>
                  <a:lnTo>
                    <a:pt x="890" y="1549"/>
                  </a:lnTo>
                  <a:lnTo>
                    <a:pt x="892" y="1549"/>
                  </a:lnTo>
                  <a:lnTo>
                    <a:pt x="894" y="1550"/>
                  </a:lnTo>
                  <a:lnTo>
                    <a:pt x="896" y="1550"/>
                  </a:lnTo>
                  <a:lnTo>
                    <a:pt x="898" y="1550"/>
                  </a:lnTo>
                  <a:lnTo>
                    <a:pt x="900" y="1552"/>
                  </a:lnTo>
                  <a:lnTo>
                    <a:pt x="902" y="1552"/>
                  </a:lnTo>
                  <a:lnTo>
                    <a:pt x="904" y="1552"/>
                  </a:lnTo>
                  <a:lnTo>
                    <a:pt x="906" y="1552"/>
                  </a:lnTo>
                  <a:lnTo>
                    <a:pt x="908" y="1552"/>
                  </a:lnTo>
                  <a:lnTo>
                    <a:pt x="910" y="1552"/>
                  </a:lnTo>
                  <a:lnTo>
                    <a:pt x="912" y="1552"/>
                  </a:lnTo>
                  <a:lnTo>
                    <a:pt x="913" y="1554"/>
                  </a:lnTo>
                  <a:lnTo>
                    <a:pt x="915" y="1552"/>
                  </a:lnTo>
                  <a:lnTo>
                    <a:pt x="917" y="1552"/>
                  </a:lnTo>
                  <a:lnTo>
                    <a:pt x="919" y="1552"/>
                  </a:lnTo>
                  <a:lnTo>
                    <a:pt x="921" y="1552"/>
                  </a:lnTo>
                  <a:lnTo>
                    <a:pt x="923" y="1552"/>
                  </a:lnTo>
                  <a:lnTo>
                    <a:pt x="925" y="1552"/>
                  </a:lnTo>
                  <a:lnTo>
                    <a:pt x="927" y="1550"/>
                  </a:lnTo>
                  <a:lnTo>
                    <a:pt x="929" y="1550"/>
                  </a:lnTo>
                  <a:lnTo>
                    <a:pt x="931" y="1550"/>
                  </a:lnTo>
                  <a:lnTo>
                    <a:pt x="935" y="1550"/>
                  </a:lnTo>
                  <a:lnTo>
                    <a:pt x="936" y="1549"/>
                  </a:lnTo>
                  <a:lnTo>
                    <a:pt x="938" y="1549"/>
                  </a:lnTo>
                  <a:lnTo>
                    <a:pt x="940" y="1549"/>
                  </a:lnTo>
                  <a:lnTo>
                    <a:pt x="944" y="1547"/>
                  </a:lnTo>
                  <a:lnTo>
                    <a:pt x="946" y="1547"/>
                  </a:lnTo>
                  <a:lnTo>
                    <a:pt x="950" y="1547"/>
                  </a:lnTo>
                  <a:lnTo>
                    <a:pt x="954" y="1545"/>
                  </a:lnTo>
                  <a:lnTo>
                    <a:pt x="958" y="1545"/>
                  </a:lnTo>
                  <a:lnTo>
                    <a:pt x="961" y="1543"/>
                  </a:lnTo>
                  <a:lnTo>
                    <a:pt x="965" y="1543"/>
                  </a:lnTo>
                  <a:lnTo>
                    <a:pt x="971" y="1541"/>
                  </a:lnTo>
                  <a:lnTo>
                    <a:pt x="975" y="1539"/>
                  </a:lnTo>
                  <a:lnTo>
                    <a:pt x="981" y="1539"/>
                  </a:lnTo>
                  <a:lnTo>
                    <a:pt x="984" y="1537"/>
                  </a:lnTo>
                  <a:lnTo>
                    <a:pt x="988" y="1535"/>
                  </a:lnTo>
                  <a:lnTo>
                    <a:pt x="990" y="1533"/>
                  </a:lnTo>
                  <a:lnTo>
                    <a:pt x="994" y="1531"/>
                  </a:lnTo>
                  <a:lnTo>
                    <a:pt x="998" y="1529"/>
                  </a:lnTo>
                  <a:lnTo>
                    <a:pt x="1000" y="1527"/>
                  </a:lnTo>
                  <a:lnTo>
                    <a:pt x="1002" y="1526"/>
                  </a:lnTo>
                  <a:lnTo>
                    <a:pt x="1004" y="1522"/>
                  </a:lnTo>
                  <a:lnTo>
                    <a:pt x="1006" y="1520"/>
                  </a:lnTo>
                  <a:lnTo>
                    <a:pt x="1008" y="1518"/>
                  </a:lnTo>
                  <a:lnTo>
                    <a:pt x="1009" y="1516"/>
                  </a:lnTo>
                  <a:lnTo>
                    <a:pt x="1009" y="1514"/>
                  </a:lnTo>
                  <a:lnTo>
                    <a:pt x="1011" y="1512"/>
                  </a:lnTo>
                  <a:lnTo>
                    <a:pt x="1011" y="1508"/>
                  </a:lnTo>
                  <a:lnTo>
                    <a:pt x="1011" y="1506"/>
                  </a:lnTo>
                  <a:lnTo>
                    <a:pt x="1013" y="1504"/>
                  </a:lnTo>
                  <a:lnTo>
                    <a:pt x="1013" y="1503"/>
                  </a:lnTo>
                  <a:lnTo>
                    <a:pt x="1013" y="1501"/>
                  </a:lnTo>
                  <a:lnTo>
                    <a:pt x="1013" y="1499"/>
                  </a:lnTo>
                  <a:lnTo>
                    <a:pt x="1013" y="1497"/>
                  </a:lnTo>
                  <a:lnTo>
                    <a:pt x="1013" y="1495"/>
                  </a:lnTo>
                  <a:lnTo>
                    <a:pt x="1013" y="1493"/>
                  </a:lnTo>
                  <a:lnTo>
                    <a:pt x="1013" y="1491"/>
                  </a:lnTo>
                  <a:lnTo>
                    <a:pt x="1013" y="1489"/>
                  </a:lnTo>
                  <a:lnTo>
                    <a:pt x="1013" y="1487"/>
                  </a:lnTo>
                  <a:lnTo>
                    <a:pt x="1006" y="1407"/>
                  </a:lnTo>
                  <a:lnTo>
                    <a:pt x="1136" y="1341"/>
                  </a:lnTo>
                  <a:lnTo>
                    <a:pt x="1138" y="1341"/>
                  </a:lnTo>
                  <a:lnTo>
                    <a:pt x="1138" y="1343"/>
                  </a:lnTo>
                  <a:lnTo>
                    <a:pt x="1140" y="1343"/>
                  </a:lnTo>
                  <a:lnTo>
                    <a:pt x="1142" y="1345"/>
                  </a:lnTo>
                  <a:lnTo>
                    <a:pt x="1142" y="1347"/>
                  </a:lnTo>
                  <a:lnTo>
                    <a:pt x="1144" y="1349"/>
                  </a:lnTo>
                  <a:lnTo>
                    <a:pt x="1146" y="1349"/>
                  </a:lnTo>
                  <a:lnTo>
                    <a:pt x="1148" y="1351"/>
                  </a:lnTo>
                  <a:lnTo>
                    <a:pt x="1152" y="1353"/>
                  </a:lnTo>
                  <a:lnTo>
                    <a:pt x="1153" y="1355"/>
                  </a:lnTo>
                  <a:lnTo>
                    <a:pt x="1155" y="1359"/>
                  </a:lnTo>
                  <a:lnTo>
                    <a:pt x="1157" y="1360"/>
                  </a:lnTo>
                  <a:lnTo>
                    <a:pt x="1161" y="1362"/>
                  </a:lnTo>
                  <a:lnTo>
                    <a:pt x="1163" y="1364"/>
                  </a:lnTo>
                  <a:lnTo>
                    <a:pt x="1167" y="1366"/>
                  </a:lnTo>
                  <a:lnTo>
                    <a:pt x="1169" y="1370"/>
                  </a:lnTo>
                  <a:lnTo>
                    <a:pt x="1173" y="1372"/>
                  </a:lnTo>
                  <a:lnTo>
                    <a:pt x="1175" y="1374"/>
                  </a:lnTo>
                  <a:lnTo>
                    <a:pt x="1178" y="1376"/>
                  </a:lnTo>
                  <a:lnTo>
                    <a:pt x="1180" y="1380"/>
                  </a:lnTo>
                  <a:lnTo>
                    <a:pt x="1184" y="1382"/>
                  </a:lnTo>
                  <a:lnTo>
                    <a:pt x="1186" y="1384"/>
                  </a:lnTo>
                  <a:lnTo>
                    <a:pt x="1190" y="1387"/>
                  </a:lnTo>
                  <a:lnTo>
                    <a:pt x="1192" y="1389"/>
                  </a:lnTo>
                  <a:lnTo>
                    <a:pt x="1196" y="1391"/>
                  </a:lnTo>
                  <a:lnTo>
                    <a:pt x="1198" y="1393"/>
                  </a:lnTo>
                  <a:lnTo>
                    <a:pt x="1201" y="1397"/>
                  </a:lnTo>
                  <a:lnTo>
                    <a:pt x="1203" y="1399"/>
                  </a:lnTo>
                  <a:lnTo>
                    <a:pt x="1205" y="1401"/>
                  </a:lnTo>
                  <a:lnTo>
                    <a:pt x="1209" y="1403"/>
                  </a:lnTo>
                  <a:lnTo>
                    <a:pt x="1211" y="1405"/>
                  </a:lnTo>
                  <a:lnTo>
                    <a:pt x="1213" y="1405"/>
                  </a:lnTo>
                  <a:lnTo>
                    <a:pt x="1217" y="1407"/>
                  </a:lnTo>
                  <a:lnTo>
                    <a:pt x="1219" y="1408"/>
                  </a:lnTo>
                  <a:lnTo>
                    <a:pt x="1221" y="1408"/>
                  </a:lnTo>
                  <a:lnTo>
                    <a:pt x="1224" y="1408"/>
                  </a:lnTo>
                  <a:lnTo>
                    <a:pt x="1226" y="1410"/>
                  </a:lnTo>
                  <a:lnTo>
                    <a:pt x="1228" y="1410"/>
                  </a:lnTo>
                  <a:lnTo>
                    <a:pt x="1230" y="1410"/>
                  </a:lnTo>
                  <a:lnTo>
                    <a:pt x="1232" y="1410"/>
                  </a:lnTo>
                  <a:lnTo>
                    <a:pt x="1236" y="1410"/>
                  </a:lnTo>
                  <a:lnTo>
                    <a:pt x="1238" y="1410"/>
                  </a:lnTo>
                  <a:lnTo>
                    <a:pt x="1240" y="1410"/>
                  </a:lnTo>
                  <a:lnTo>
                    <a:pt x="1242" y="1410"/>
                  </a:lnTo>
                  <a:lnTo>
                    <a:pt x="1244" y="1408"/>
                  </a:lnTo>
                  <a:lnTo>
                    <a:pt x="1246" y="1408"/>
                  </a:lnTo>
                  <a:lnTo>
                    <a:pt x="1247" y="1408"/>
                  </a:lnTo>
                  <a:lnTo>
                    <a:pt x="1249" y="1408"/>
                  </a:lnTo>
                  <a:lnTo>
                    <a:pt x="1251" y="1407"/>
                  </a:lnTo>
                  <a:lnTo>
                    <a:pt x="1253" y="1407"/>
                  </a:lnTo>
                  <a:lnTo>
                    <a:pt x="1255" y="1405"/>
                  </a:lnTo>
                  <a:lnTo>
                    <a:pt x="1257" y="1405"/>
                  </a:lnTo>
                  <a:lnTo>
                    <a:pt x="1259" y="1405"/>
                  </a:lnTo>
                  <a:lnTo>
                    <a:pt x="1259" y="1403"/>
                  </a:lnTo>
                  <a:lnTo>
                    <a:pt x="1261" y="1403"/>
                  </a:lnTo>
                  <a:lnTo>
                    <a:pt x="1261" y="1401"/>
                  </a:lnTo>
                  <a:lnTo>
                    <a:pt x="1263" y="1401"/>
                  </a:lnTo>
                  <a:lnTo>
                    <a:pt x="1265" y="1399"/>
                  </a:lnTo>
                  <a:lnTo>
                    <a:pt x="1267" y="1397"/>
                  </a:lnTo>
                  <a:lnTo>
                    <a:pt x="1269" y="1395"/>
                  </a:lnTo>
                  <a:lnTo>
                    <a:pt x="1271" y="1395"/>
                  </a:lnTo>
                  <a:lnTo>
                    <a:pt x="1271" y="1393"/>
                  </a:lnTo>
                  <a:lnTo>
                    <a:pt x="1272" y="1391"/>
                  </a:lnTo>
                  <a:lnTo>
                    <a:pt x="1274" y="1391"/>
                  </a:lnTo>
                  <a:lnTo>
                    <a:pt x="1276" y="1389"/>
                  </a:lnTo>
                  <a:lnTo>
                    <a:pt x="1278" y="1387"/>
                  </a:lnTo>
                  <a:lnTo>
                    <a:pt x="1280" y="1385"/>
                  </a:lnTo>
                  <a:lnTo>
                    <a:pt x="1282" y="1384"/>
                  </a:lnTo>
                  <a:lnTo>
                    <a:pt x="1286" y="1382"/>
                  </a:lnTo>
                  <a:lnTo>
                    <a:pt x="1288" y="1378"/>
                  </a:lnTo>
                  <a:lnTo>
                    <a:pt x="1292" y="1376"/>
                  </a:lnTo>
                  <a:lnTo>
                    <a:pt x="1294" y="1372"/>
                  </a:lnTo>
                  <a:lnTo>
                    <a:pt x="1297" y="1370"/>
                  </a:lnTo>
                  <a:lnTo>
                    <a:pt x="1301" y="1366"/>
                  </a:lnTo>
                  <a:lnTo>
                    <a:pt x="1305" y="1362"/>
                  </a:lnTo>
                  <a:lnTo>
                    <a:pt x="1309" y="1360"/>
                  </a:lnTo>
                  <a:lnTo>
                    <a:pt x="1311" y="1357"/>
                  </a:lnTo>
                  <a:lnTo>
                    <a:pt x="1313" y="1353"/>
                  </a:lnTo>
                  <a:lnTo>
                    <a:pt x="1317" y="1351"/>
                  </a:lnTo>
                  <a:lnTo>
                    <a:pt x="1319" y="1347"/>
                  </a:lnTo>
                  <a:lnTo>
                    <a:pt x="1319" y="1343"/>
                  </a:lnTo>
                  <a:lnTo>
                    <a:pt x="1320" y="1341"/>
                  </a:lnTo>
                  <a:lnTo>
                    <a:pt x="1322" y="1337"/>
                  </a:lnTo>
                  <a:lnTo>
                    <a:pt x="1322" y="1336"/>
                  </a:lnTo>
                  <a:lnTo>
                    <a:pt x="1322" y="1332"/>
                  </a:lnTo>
                  <a:lnTo>
                    <a:pt x="1324" y="1330"/>
                  </a:lnTo>
                  <a:lnTo>
                    <a:pt x="1324" y="1328"/>
                  </a:lnTo>
                  <a:lnTo>
                    <a:pt x="1324" y="1324"/>
                  </a:lnTo>
                  <a:lnTo>
                    <a:pt x="1324" y="1322"/>
                  </a:lnTo>
                  <a:lnTo>
                    <a:pt x="1322" y="1320"/>
                  </a:lnTo>
                  <a:lnTo>
                    <a:pt x="1322" y="1318"/>
                  </a:lnTo>
                  <a:lnTo>
                    <a:pt x="1322" y="1316"/>
                  </a:lnTo>
                  <a:lnTo>
                    <a:pt x="1322" y="1312"/>
                  </a:lnTo>
                  <a:lnTo>
                    <a:pt x="1320" y="1312"/>
                  </a:lnTo>
                  <a:lnTo>
                    <a:pt x="1320" y="1311"/>
                  </a:lnTo>
                  <a:lnTo>
                    <a:pt x="1320" y="1309"/>
                  </a:lnTo>
                  <a:lnTo>
                    <a:pt x="1319" y="1307"/>
                  </a:lnTo>
                  <a:lnTo>
                    <a:pt x="1319" y="1305"/>
                  </a:lnTo>
                  <a:lnTo>
                    <a:pt x="1317" y="1303"/>
                  </a:lnTo>
                  <a:lnTo>
                    <a:pt x="1317" y="1301"/>
                  </a:lnTo>
                  <a:lnTo>
                    <a:pt x="1315" y="1301"/>
                  </a:lnTo>
                  <a:lnTo>
                    <a:pt x="1271" y="1230"/>
                  </a:lnTo>
                  <a:lnTo>
                    <a:pt x="1353" y="1111"/>
                  </a:lnTo>
                  <a:lnTo>
                    <a:pt x="1355" y="1111"/>
                  </a:lnTo>
                  <a:lnTo>
                    <a:pt x="1357" y="1111"/>
                  </a:lnTo>
                  <a:lnTo>
                    <a:pt x="1359" y="1113"/>
                  </a:lnTo>
                  <a:lnTo>
                    <a:pt x="1361" y="1113"/>
                  </a:lnTo>
                  <a:lnTo>
                    <a:pt x="1363" y="1113"/>
                  </a:lnTo>
                  <a:lnTo>
                    <a:pt x="1365" y="1113"/>
                  </a:lnTo>
                  <a:lnTo>
                    <a:pt x="1368" y="1115"/>
                  </a:lnTo>
                  <a:lnTo>
                    <a:pt x="1370" y="1115"/>
                  </a:lnTo>
                  <a:lnTo>
                    <a:pt x="1374" y="1117"/>
                  </a:lnTo>
                  <a:lnTo>
                    <a:pt x="1376" y="1117"/>
                  </a:lnTo>
                  <a:lnTo>
                    <a:pt x="1380" y="1117"/>
                  </a:lnTo>
                  <a:lnTo>
                    <a:pt x="1382" y="1119"/>
                  </a:lnTo>
                  <a:lnTo>
                    <a:pt x="1386" y="1119"/>
                  </a:lnTo>
                  <a:lnTo>
                    <a:pt x="1390" y="1121"/>
                  </a:lnTo>
                  <a:lnTo>
                    <a:pt x="1393" y="1121"/>
                  </a:lnTo>
                  <a:lnTo>
                    <a:pt x="1397" y="1122"/>
                  </a:lnTo>
                  <a:lnTo>
                    <a:pt x="1399" y="1122"/>
                  </a:lnTo>
                  <a:lnTo>
                    <a:pt x="1403" y="1122"/>
                  </a:lnTo>
                  <a:lnTo>
                    <a:pt x="1407" y="1124"/>
                  </a:lnTo>
                  <a:lnTo>
                    <a:pt x="1411" y="1124"/>
                  </a:lnTo>
                  <a:lnTo>
                    <a:pt x="1415" y="1126"/>
                  </a:lnTo>
                  <a:lnTo>
                    <a:pt x="1418" y="1126"/>
                  </a:lnTo>
                  <a:lnTo>
                    <a:pt x="1422" y="1128"/>
                  </a:lnTo>
                  <a:lnTo>
                    <a:pt x="1426" y="1128"/>
                  </a:lnTo>
                  <a:lnTo>
                    <a:pt x="1430" y="1128"/>
                  </a:lnTo>
                  <a:lnTo>
                    <a:pt x="1434" y="1130"/>
                  </a:lnTo>
                  <a:lnTo>
                    <a:pt x="1438" y="1130"/>
                  </a:lnTo>
                  <a:lnTo>
                    <a:pt x="1439" y="1130"/>
                  </a:lnTo>
                  <a:lnTo>
                    <a:pt x="1443" y="1132"/>
                  </a:lnTo>
                  <a:lnTo>
                    <a:pt x="1447" y="1132"/>
                  </a:lnTo>
                  <a:lnTo>
                    <a:pt x="1449" y="1132"/>
                  </a:lnTo>
                  <a:lnTo>
                    <a:pt x="1453" y="1132"/>
                  </a:lnTo>
                  <a:lnTo>
                    <a:pt x="1455" y="1132"/>
                  </a:lnTo>
                  <a:lnTo>
                    <a:pt x="1459" y="1132"/>
                  </a:lnTo>
                  <a:lnTo>
                    <a:pt x="1461" y="1132"/>
                  </a:lnTo>
                  <a:lnTo>
                    <a:pt x="1462" y="1130"/>
                  </a:lnTo>
                  <a:lnTo>
                    <a:pt x="1466" y="1130"/>
                  </a:lnTo>
                  <a:lnTo>
                    <a:pt x="1468" y="1130"/>
                  </a:lnTo>
                  <a:lnTo>
                    <a:pt x="1470" y="1128"/>
                  </a:lnTo>
                  <a:lnTo>
                    <a:pt x="1472" y="1128"/>
                  </a:lnTo>
                  <a:lnTo>
                    <a:pt x="1474" y="1126"/>
                  </a:lnTo>
                  <a:lnTo>
                    <a:pt x="1476" y="1124"/>
                  </a:lnTo>
                  <a:lnTo>
                    <a:pt x="1478" y="1124"/>
                  </a:lnTo>
                  <a:lnTo>
                    <a:pt x="1480" y="1122"/>
                  </a:lnTo>
                  <a:lnTo>
                    <a:pt x="1482" y="1121"/>
                  </a:lnTo>
                  <a:lnTo>
                    <a:pt x="1484" y="1121"/>
                  </a:lnTo>
                  <a:lnTo>
                    <a:pt x="1486" y="1119"/>
                  </a:lnTo>
                  <a:lnTo>
                    <a:pt x="1486" y="1117"/>
                  </a:lnTo>
                  <a:lnTo>
                    <a:pt x="1487" y="1117"/>
                  </a:lnTo>
                  <a:lnTo>
                    <a:pt x="1489" y="1115"/>
                  </a:lnTo>
                  <a:lnTo>
                    <a:pt x="1489" y="1113"/>
                  </a:lnTo>
                  <a:lnTo>
                    <a:pt x="1491" y="1113"/>
                  </a:lnTo>
                  <a:lnTo>
                    <a:pt x="1491" y="1111"/>
                  </a:lnTo>
                  <a:lnTo>
                    <a:pt x="1491" y="1109"/>
                  </a:lnTo>
                  <a:lnTo>
                    <a:pt x="1493" y="1109"/>
                  </a:lnTo>
                  <a:lnTo>
                    <a:pt x="1493" y="1107"/>
                  </a:lnTo>
                  <a:lnTo>
                    <a:pt x="1495" y="1107"/>
                  </a:lnTo>
                  <a:lnTo>
                    <a:pt x="1495" y="1105"/>
                  </a:lnTo>
                  <a:lnTo>
                    <a:pt x="1495" y="1103"/>
                  </a:lnTo>
                  <a:lnTo>
                    <a:pt x="1495" y="1101"/>
                  </a:lnTo>
                  <a:lnTo>
                    <a:pt x="1497" y="1101"/>
                  </a:lnTo>
                  <a:lnTo>
                    <a:pt x="1497" y="1099"/>
                  </a:lnTo>
                  <a:lnTo>
                    <a:pt x="1497" y="1098"/>
                  </a:lnTo>
                  <a:lnTo>
                    <a:pt x="1499" y="1096"/>
                  </a:lnTo>
                  <a:lnTo>
                    <a:pt x="1499" y="1094"/>
                  </a:lnTo>
                  <a:lnTo>
                    <a:pt x="1499" y="1092"/>
                  </a:lnTo>
                  <a:lnTo>
                    <a:pt x="1501" y="1090"/>
                  </a:lnTo>
                  <a:lnTo>
                    <a:pt x="1501" y="1088"/>
                  </a:lnTo>
                  <a:lnTo>
                    <a:pt x="1503" y="1086"/>
                  </a:lnTo>
                  <a:lnTo>
                    <a:pt x="1503" y="1082"/>
                  </a:lnTo>
                  <a:lnTo>
                    <a:pt x="1505" y="1080"/>
                  </a:lnTo>
                  <a:lnTo>
                    <a:pt x="1505" y="1076"/>
                  </a:lnTo>
                  <a:lnTo>
                    <a:pt x="1507" y="1073"/>
                  </a:lnTo>
                  <a:lnTo>
                    <a:pt x="1509" y="1069"/>
                  </a:lnTo>
                  <a:lnTo>
                    <a:pt x="1509" y="1065"/>
                  </a:lnTo>
                  <a:lnTo>
                    <a:pt x="1510" y="1061"/>
                  </a:lnTo>
                  <a:lnTo>
                    <a:pt x="1512" y="1057"/>
                  </a:lnTo>
                  <a:lnTo>
                    <a:pt x="1514" y="1051"/>
                  </a:lnTo>
                  <a:lnTo>
                    <a:pt x="1516" y="1048"/>
                  </a:lnTo>
                  <a:lnTo>
                    <a:pt x="1516" y="1044"/>
                  </a:lnTo>
                  <a:lnTo>
                    <a:pt x="1516" y="1040"/>
                  </a:lnTo>
                  <a:lnTo>
                    <a:pt x="1518" y="1036"/>
                  </a:lnTo>
                  <a:lnTo>
                    <a:pt x="1518" y="1032"/>
                  </a:lnTo>
                  <a:lnTo>
                    <a:pt x="1518" y="1028"/>
                  </a:lnTo>
                  <a:lnTo>
                    <a:pt x="1518" y="1025"/>
                  </a:lnTo>
                  <a:lnTo>
                    <a:pt x="1516" y="1023"/>
                  </a:lnTo>
                  <a:lnTo>
                    <a:pt x="1516" y="1019"/>
                  </a:lnTo>
                  <a:lnTo>
                    <a:pt x="1516" y="1017"/>
                  </a:lnTo>
                  <a:lnTo>
                    <a:pt x="1514" y="1013"/>
                  </a:lnTo>
                  <a:lnTo>
                    <a:pt x="1514" y="1011"/>
                  </a:lnTo>
                  <a:lnTo>
                    <a:pt x="1512" y="1009"/>
                  </a:lnTo>
                  <a:lnTo>
                    <a:pt x="1510" y="1007"/>
                  </a:lnTo>
                  <a:lnTo>
                    <a:pt x="1510" y="1005"/>
                  </a:lnTo>
                  <a:lnTo>
                    <a:pt x="1509" y="1003"/>
                  </a:lnTo>
                  <a:lnTo>
                    <a:pt x="1507" y="1002"/>
                  </a:lnTo>
                  <a:lnTo>
                    <a:pt x="1505" y="1000"/>
                  </a:lnTo>
                  <a:lnTo>
                    <a:pt x="1505" y="998"/>
                  </a:lnTo>
                  <a:lnTo>
                    <a:pt x="1503" y="998"/>
                  </a:lnTo>
                  <a:lnTo>
                    <a:pt x="1501" y="996"/>
                  </a:lnTo>
                  <a:lnTo>
                    <a:pt x="1499" y="996"/>
                  </a:lnTo>
                  <a:lnTo>
                    <a:pt x="1499" y="994"/>
                  </a:lnTo>
                  <a:lnTo>
                    <a:pt x="1497" y="994"/>
                  </a:lnTo>
                  <a:lnTo>
                    <a:pt x="1497" y="992"/>
                  </a:lnTo>
                  <a:lnTo>
                    <a:pt x="1495" y="992"/>
                  </a:lnTo>
                  <a:lnTo>
                    <a:pt x="1493" y="992"/>
                  </a:lnTo>
                  <a:lnTo>
                    <a:pt x="1493" y="990"/>
                  </a:lnTo>
                  <a:lnTo>
                    <a:pt x="1422" y="950"/>
                  </a:lnTo>
                  <a:lnTo>
                    <a:pt x="1439" y="806"/>
                  </a:lnTo>
                  <a:lnTo>
                    <a:pt x="1441" y="806"/>
                  </a:lnTo>
                  <a:lnTo>
                    <a:pt x="1443" y="806"/>
                  </a:lnTo>
                  <a:lnTo>
                    <a:pt x="1443" y="804"/>
                  </a:lnTo>
                  <a:lnTo>
                    <a:pt x="1445" y="804"/>
                  </a:lnTo>
                  <a:lnTo>
                    <a:pt x="1447" y="804"/>
                  </a:lnTo>
                  <a:lnTo>
                    <a:pt x="1449" y="804"/>
                  </a:lnTo>
                  <a:lnTo>
                    <a:pt x="1451" y="804"/>
                  </a:lnTo>
                  <a:lnTo>
                    <a:pt x="1455" y="802"/>
                  </a:lnTo>
                  <a:lnTo>
                    <a:pt x="1457" y="802"/>
                  </a:lnTo>
                  <a:lnTo>
                    <a:pt x="1461" y="802"/>
                  </a:lnTo>
                  <a:lnTo>
                    <a:pt x="1462" y="800"/>
                  </a:lnTo>
                  <a:lnTo>
                    <a:pt x="1466" y="800"/>
                  </a:lnTo>
                  <a:lnTo>
                    <a:pt x="1468" y="800"/>
                  </a:lnTo>
                  <a:lnTo>
                    <a:pt x="1472" y="798"/>
                  </a:lnTo>
                  <a:lnTo>
                    <a:pt x="1476" y="798"/>
                  </a:lnTo>
                  <a:lnTo>
                    <a:pt x="1480" y="796"/>
                  </a:lnTo>
                  <a:lnTo>
                    <a:pt x="1484" y="796"/>
                  </a:lnTo>
                  <a:lnTo>
                    <a:pt x="1487" y="794"/>
                  </a:lnTo>
                  <a:lnTo>
                    <a:pt x="1491" y="794"/>
                  </a:lnTo>
                  <a:lnTo>
                    <a:pt x="1493" y="792"/>
                  </a:lnTo>
                  <a:lnTo>
                    <a:pt x="1497" y="792"/>
                  </a:lnTo>
                  <a:lnTo>
                    <a:pt x="1501" y="790"/>
                  </a:lnTo>
                  <a:lnTo>
                    <a:pt x="1505" y="790"/>
                  </a:lnTo>
                  <a:lnTo>
                    <a:pt x="1509" y="789"/>
                  </a:lnTo>
                  <a:lnTo>
                    <a:pt x="1512" y="789"/>
                  </a:lnTo>
                  <a:lnTo>
                    <a:pt x="1516" y="787"/>
                  </a:lnTo>
                  <a:lnTo>
                    <a:pt x="1520" y="785"/>
                  </a:lnTo>
                  <a:lnTo>
                    <a:pt x="1524" y="785"/>
                  </a:lnTo>
                  <a:lnTo>
                    <a:pt x="1528" y="783"/>
                  </a:lnTo>
                  <a:lnTo>
                    <a:pt x="1530" y="783"/>
                  </a:lnTo>
                  <a:lnTo>
                    <a:pt x="1534" y="781"/>
                  </a:lnTo>
                  <a:lnTo>
                    <a:pt x="1535" y="781"/>
                  </a:lnTo>
                  <a:lnTo>
                    <a:pt x="1539" y="779"/>
                  </a:lnTo>
                  <a:lnTo>
                    <a:pt x="1541" y="777"/>
                  </a:lnTo>
                  <a:lnTo>
                    <a:pt x="1543" y="775"/>
                  </a:lnTo>
                  <a:lnTo>
                    <a:pt x="1545" y="775"/>
                  </a:lnTo>
                  <a:lnTo>
                    <a:pt x="1547" y="773"/>
                  </a:lnTo>
                  <a:lnTo>
                    <a:pt x="1549" y="771"/>
                  </a:lnTo>
                  <a:lnTo>
                    <a:pt x="1551" y="769"/>
                  </a:lnTo>
                  <a:lnTo>
                    <a:pt x="1553" y="767"/>
                  </a:lnTo>
                  <a:lnTo>
                    <a:pt x="1553" y="765"/>
                  </a:lnTo>
                  <a:lnTo>
                    <a:pt x="1555" y="764"/>
                  </a:lnTo>
                  <a:lnTo>
                    <a:pt x="1555" y="762"/>
                  </a:lnTo>
                  <a:lnTo>
                    <a:pt x="1557" y="760"/>
                  </a:lnTo>
                  <a:lnTo>
                    <a:pt x="1557" y="758"/>
                  </a:lnTo>
                  <a:lnTo>
                    <a:pt x="1558" y="756"/>
                  </a:lnTo>
                  <a:lnTo>
                    <a:pt x="1558" y="754"/>
                  </a:lnTo>
                  <a:lnTo>
                    <a:pt x="1558" y="752"/>
                  </a:lnTo>
                  <a:lnTo>
                    <a:pt x="1560" y="750"/>
                  </a:lnTo>
                  <a:lnTo>
                    <a:pt x="1560" y="748"/>
                  </a:lnTo>
                  <a:lnTo>
                    <a:pt x="1560" y="746"/>
                  </a:lnTo>
                  <a:lnTo>
                    <a:pt x="1560" y="744"/>
                  </a:lnTo>
                  <a:lnTo>
                    <a:pt x="1560" y="742"/>
                  </a:lnTo>
                  <a:lnTo>
                    <a:pt x="1560" y="741"/>
                  </a:lnTo>
                  <a:lnTo>
                    <a:pt x="1560" y="739"/>
                  </a:lnTo>
                  <a:lnTo>
                    <a:pt x="1562" y="739"/>
                  </a:lnTo>
                  <a:lnTo>
                    <a:pt x="1562" y="737"/>
                  </a:lnTo>
                  <a:lnTo>
                    <a:pt x="1560" y="737"/>
                  </a:lnTo>
                  <a:lnTo>
                    <a:pt x="1560" y="735"/>
                  </a:lnTo>
                  <a:lnTo>
                    <a:pt x="1560" y="733"/>
                  </a:lnTo>
                  <a:lnTo>
                    <a:pt x="1560" y="731"/>
                  </a:lnTo>
                  <a:lnTo>
                    <a:pt x="1560" y="729"/>
                  </a:lnTo>
                  <a:lnTo>
                    <a:pt x="1560" y="727"/>
                  </a:lnTo>
                  <a:lnTo>
                    <a:pt x="1560" y="725"/>
                  </a:lnTo>
                  <a:lnTo>
                    <a:pt x="1560" y="721"/>
                  </a:lnTo>
                  <a:lnTo>
                    <a:pt x="1560" y="719"/>
                  </a:lnTo>
                  <a:lnTo>
                    <a:pt x="1558" y="718"/>
                  </a:lnTo>
                  <a:lnTo>
                    <a:pt x="1558" y="716"/>
                  </a:lnTo>
                  <a:lnTo>
                    <a:pt x="1558" y="712"/>
                  </a:lnTo>
                  <a:lnTo>
                    <a:pt x="1558" y="710"/>
                  </a:lnTo>
                  <a:lnTo>
                    <a:pt x="1558" y="706"/>
                  </a:lnTo>
                  <a:lnTo>
                    <a:pt x="1557" y="702"/>
                  </a:lnTo>
                  <a:lnTo>
                    <a:pt x="1557" y="698"/>
                  </a:lnTo>
                  <a:lnTo>
                    <a:pt x="1557" y="694"/>
                  </a:lnTo>
                  <a:lnTo>
                    <a:pt x="1557" y="689"/>
                  </a:lnTo>
                  <a:lnTo>
                    <a:pt x="1555" y="685"/>
                  </a:lnTo>
                  <a:lnTo>
                    <a:pt x="1555" y="679"/>
                  </a:lnTo>
                  <a:lnTo>
                    <a:pt x="1555" y="675"/>
                  </a:lnTo>
                  <a:lnTo>
                    <a:pt x="1553" y="671"/>
                  </a:lnTo>
                  <a:lnTo>
                    <a:pt x="1553" y="668"/>
                  </a:lnTo>
                  <a:lnTo>
                    <a:pt x="1551" y="664"/>
                  </a:lnTo>
                  <a:lnTo>
                    <a:pt x="1549" y="660"/>
                  </a:lnTo>
                  <a:lnTo>
                    <a:pt x="1547" y="658"/>
                  </a:lnTo>
                  <a:lnTo>
                    <a:pt x="1545" y="654"/>
                  </a:lnTo>
                  <a:lnTo>
                    <a:pt x="1543" y="652"/>
                  </a:lnTo>
                  <a:lnTo>
                    <a:pt x="1541" y="650"/>
                  </a:lnTo>
                  <a:lnTo>
                    <a:pt x="1539" y="648"/>
                  </a:lnTo>
                  <a:lnTo>
                    <a:pt x="1537" y="646"/>
                  </a:lnTo>
                  <a:lnTo>
                    <a:pt x="1535" y="645"/>
                  </a:lnTo>
                  <a:lnTo>
                    <a:pt x="1534" y="643"/>
                  </a:lnTo>
                  <a:lnTo>
                    <a:pt x="1532" y="641"/>
                  </a:lnTo>
                  <a:lnTo>
                    <a:pt x="1530" y="641"/>
                  </a:lnTo>
                  <a:lnTo>
                    <a:pt x="1528" y="639"/>
                  </a:lnTo>
                  <a:lnTo>
                    <a:pt x="1526" y="639"/>
                  </a:lnTo>
                  <a:lnTo>
                    <a:pt x="1524" y="637"/>
                  </a:lnTo>
                  <a:lnTo>
                    <a:pt x="1522" y="637"/>
                  </a:lnTo>
                  <a:lnTo>
                    <a:pt x="1520" y="637"/>
                  </a:lnTo>
                  <a:lnTo>
                    <a:pt x="1518" y="637"/>
                  </a:lnTo>
                  <a:lnTo>
                    <a:pt x="1516" y="637"/>
                  </a:lnTo>
                  <a:lnTo>
                    <a:pt x="1514" y="635"/>
                  </a:lnTo>
                  <a:lnTo>
                    <a:pt x="1512" y="635"/>
                  </a:lnTo>
                  <a:lnTo>
                    <a:pt x="1510" y="635"/>
                  </a:lnTo>
                  <a:lnTo>
                    <a:pt x="1509" y="635"/>
                  </a:lnTo>
                  <a:lnTo>
                    <a:pt x="1426" y="633"/>
                  </a:lnTo>
                  <a:lnTo>
                    <a:pt x="1374" y="497"/>
                  </a:lnTo>
                  <a:lnTo>
                    <a:pt x="1376" y="497"/>
                  </a:lnTo>
                  <a:lnTo>
                    <a:pt x="1376" y="495"/>
                  </a:lnTo>
                  <a:lnTo>
                    <a:pt x="1378" y="493"/>
                  </a:lnTo>
                  <a:lnTo>
                    <a:pt x="1380" y="491"/>
                  </a:lnTo>
                  <a:lnTo>
                    <a:pt x="1382" y="491"/>
                  </a:lnTo>
                  <a:lnTo>
                    <a:pt x="1384" y="489"/>
                  </a:lnTo>
                  <a:lnTo>
                    <a:pt x="1386" y="487"/>
                  </a:lnTo>
                  <a:lnTo>
                    <a:pt x="1388" y="485"/>
                  </a:lnTo>
                  <a:lnTo>
                    <a:pt x="1390" y="483"/>
                  </a:lnTo>
                  <a:lnTo>
                    <a:pt x="1391" y="481"/>
                  </a:lnTo>
                  <a:lnTo>
                    <a:pt x="1395" y="480"/>
                  </a:lnTo>
                  <a:lnTo>
                    <a:pt x="1397" y="478"/>
                  </a:lnTo>
                  <a:lnTo>
                    <a:pt x="1399" y="474"/>
                  </a:lnTo>
                  <a:lnTo>
                    <a:pt x="1403" y="472"/>
                  </a:lnTo>
                  <a:lnTo>
                    <a:pt x="1405" y="470"/>
                  </a:lnTo>
                  <a:lnTo>
                    <a:pt x="1407" y="468"/>
                  </a:lnTo>
                  <a:lnTo>
                    <a:pt x="1411" y="464"/>
                  </a:lnTo>
                  <a:lnTo>
                    <a:pt x="1413" y="462"/>
                  </a:lnTo>
                  <a:lnTo>
                    <a:pt x="1416" y="460"/>
                  </a:lnTo>
                  <a:lnTo>
                    <a:pt x="1418" y="456"/>
                  </a:lnTo>
                  <a:lnTo>
                    <a:pt x="1422" y="455"/>
                  </a:lnTo>
                  <a:lnTo>
                    <a:pt x="1424" y="451"/>
                  </a:lnTo>
                  <a:lnTo>
                    <a:pt x="1428" y="449"/>
                  </a:lnTo>
                  <a:lnTo>
                    <a:pt x="1430" y="447"/>
                  </a:lnTo>
                  <a:lnTo>
                    <a:pt x="1434" y="443"/>
                  </a:lnTo>
                  <a:lnTo>
                    <a:pt x="1436" y="441"/>
                  </a:lnTo>
                  <a:lnTo>
                    <a:pt x="1438" y="439"/>
                  </a:lnTo>
                  <a:lnTo>
                    <a:pt x="1441" y="435"/>
                  </a:lnTo>
                  <a:lnTo>
                    <a:pt x="1443" y="433"/>
                  </a:lnTo>
                  <a:lnTo>
                    <a:pt x="1445" y="432"/>
                  </a:lnTo>
                  <a:lnTo>
                    <a:pt x="1447" y="430"/>
                  </a:lnTo>
                  <a:lnTo>
                    <a:pt x="1449" y="428"/>
                  </a:lnTo>
                  <a:lnTo>
                    <a:pt x="1451" y="424"/>
                  </a:lnTo>
                  <a:lnTo>
                    <a:pt x="1451" y="422"/>
                  </a:lnTo>
                  <a:lnTo>
                    <a:pt x="1453" y="420"/>
                  </a:lnTo>
                  <a:lnTo>
                    <a:pt x="1455" y="418"/>
                  </a:lnTo>
                  <a:lnTo>
                    <a:pt x="1455" y="414"/>
                  </a:lnTo>
                  <a:lnTo>
                    <a:pt x="1455" y="412"/>
                  </a:lnTo>
                  <a:lnTo>
                    <a:pt x="1455" y="410"/>
                  </a:lnTo>
                  <a:lnTo>
                    <a:pt x="1457" y="408"/>
                  </a:lnTo>
                  <a:lnTo>
                    <a:pt x="1457" y="407"/>
                  </a:lnTo>
                  <a:lnTo>
                    <a:pt x="1457" y="403"/>
                  </a:lnTo>
                  <a:lnTo>
                    <a:pt x="1457" y="401"/>
                  </a:lnTo>
                  <a:lnTo>
                    <a:pt x="1457" y="399"/>
                  </a:lnTo>
                  <a:lnTo>
                    <a:pt x="1457" y="397"/>
                  </a:lnTo>
                  <a:lnTo>
                    <a:pt x="1457" y="395"/>
                  </a:lnTo>
                  <a:lnTo>
                    <a:pt x="1455" y="393"/>
                  </a:lnTo>
                  <a:lnTo>
                    <a:pt x="1455" y="391"/>
                  </a:lnTo>
                  <a:lnTo>
                    <a:pt x="1455" y="389"/>
                  </a:lnTo>
                  <a:lnTo>
                    <a:pt x="1455" y="387"/>
                  </a:lnTo>
                  <a:lnTo>
                    <a:pt x="1453" y="385"/>
                  </a:lnTo>
                  <a:lnTo>
                    <a:pt x="1453" y="384"/>
                  </a:lnTo>
                  <a:lnTo>
                    <a:pt x="1453" y="382"/>
                  </a:lnTo>
                  <a:lnTo>
                    <a:pt x="1451" y="380"/>
                  </a:lnTo>
                  <a:lnTo>
                    <a:pt x="1451" y="378"/>
                  </a:lnTo>
                  <a:lnTo>
                    <a:pt x="1449" y="378"/>
                  </a:lnTo>
                  <a:lnTo>
                    <a:pt x="1449" y="376"/>
                  </a:lnTo>
                  <a:lnTo>
                    <a:pt x="1449" y="374"/>
                  </a:lnTo>
                  <a:lnTo>
                    <a:pt x="1447" y="374"/>
                  </a:lnTo>
                  <a:lnTo>
                    <a:pt x="1447" y="372"/>
                  </a:lnTo>
                  <a:lnTo>
                    <a:pt x="1445" y="370"/>
                  </a:lnTo>
                  <a:lnTo>
                    <a:pt x="1443" y="368"/>
                  </a:lnTo>
                  <a:lnTo>
                    <a:pt x="1443" y="366"/>
                  </a:lnTo>
                  <a:lnTo>
                    <a:pt x="1441" y="364"/>
                  </a:lnTo>
                  <a:lnTo>
                    <a:pt x="1439" y="362"/>
                  </a:lnTo>
                  <a:lnTo>
                    <a:pt x="1438" y="361"/>
                  </a:lnTo>
                  <a:lnTo>
                    <a:pt x="1438" y="359"/>
                  </a:lnTo>
                  <a:lnTo>
                    <a:pt x="1436" y="355"/>
                  </a:lnTo>
                  <a:lnTo>
                    <a:pt x="1434" y="353"/>
                  </a:lnTo>
                  <a:lnTo>
                    <a:pt x="1432" y="349"/>
                  </a:lnTo>
                  <a:lnTo>
                    <a:pt x="1428" y="347"/>
                  </a:lnTo>
                  <a:lnTo>
                    <a:pt x="1426" y="343"/>
                  </a:lnTo>
                  <a:lnTo>
                    <a:pt x="1424" y="339"/>
                  </a:lnTo>
                  <a:lnTo>
                    <a:pt x="1422" y="336"/>
                  </a:lnTo>
                  <a:lnTo>
                    <a:pt x="1418" y="332"/>
                  </a:lnTo>
                  <a:lnTo>
                    <a:pt x="1415" y="328"/>
                  </a:lnTo>
                  <a:lnTo>
                    <a:pt x="1413" y="324"/>
                  </a:lnTo>
                  <a:lnTo>
                    <a:pt x="1409" y="322"/>
                  </a:lnTo>
                  <a:lnTo>
                    <a:pt x="1407" y="318"/>
                  </a:lnTo>
                  <a:lnTo>
                    <a:pt x="1403" y="316"/>
                  </a:lnTo>
                  <a:lnTo>
                    <a:pt x="1401" y="314"/>
                  </a:lnTo>
                  <a:lnTo>
                    <a:pt x="1397" y="313"/>
                  </a:lnTo>
                  <a:lnTo>
                    <a:pt x="1395" y="313"/>
                  </a:lnTo>
                  <a:lnTo>
                    <a:pt x="1391" y="311"/>
                  </a:lnTo>
                  <a:lnTo>
                    <a:pt x="1390" y="309"/>
                  </a:lnTo>
                  <a:lnTo>
                    <a:pt x="1388" y="309"/>
                  </a:lnTo>
                  <a:lnTo>
                    <a:pt x="1384" y="309"/>
                  </a:lnTo>
                  <a:lnTo>
                    <a:pt x="1382" y="309"/>
                  </a:lnTo>
                  <a:lnTo>
                    <a:pt x="1380" y="309"/>
                  </a:lnTo>
                  <a:lnTo>
                    <a:pt x="1378" y="309"/>
                  </a:lnTo>
                  <a:lnTo>
                    <a:pt x="1374" y="309"/>
                  </a:lnTo>
                  <a:lnTo>
                    <a:pt x="1372" y="309"/>
                  </a:lnTo>
                  <a:lnTo>
                    <a:pt x="1370" y="309"/>
                  </a:lnTo>
                  <a:lnTo>
                    <a:pt x="1368" y="309"/>
                  </a:lnTo>
                  <a:lnTo>
                    <a:pt x="1367" y="311"/>
                  </a:lnTo>
                  <a:lnTo>
                    <a:pt x="1365" y="311"/>
                  </a:lnTo>
                  <a:lnTo>
                    <a:pt x="1363" y="311"/>
                  </a:lnTo>
                  <a:lnTo>
                    <a:pt x="1361" y="313"/>
                  </a:lnTo>
                  <a:lnTo>
                    <a:pt x="1359" y="313"/>
                  </a:lnTo>
                  <a:lnTo>
                    <a:pt x="1359" y="314"/>
                  </a:lnTo>
                  <a:lnTo>
                    <a:pt x="1357" y="314"/>
                  </a:lnTo>
                  <a:lnTo>
                    <a:pt x="1282" y="351"/>
                  </a:lnTo>
                  <a:lnTo>
                    <a:pt x="1173" y="253"/>
                  </a:lnTo>
                  <a:lnTo>
                    <a:pt x="1173" y="251"/>
                  </a:lnTo>
                  <a:lnTo>
                    <a:pt x="1175" y="251"/>
                  </a:lnTo>
                  <a:lnTo>
                    <a:pt x="1175" y="249"/>
                  </a:lnTo>
                  <a:lnTo>
                    <a:pt x="1175" y="247"/>
                  </a:lnTo>
                  <a:lnTo>
                    <a:pt x="1176" y="245"/>
                  </a:lnTo>
                  <a:lnTo>
                    <a:pt x="1176" y="243"/>
                  </a:lnTo>
                  <a:lnTo>
                    <a:pt x="1176" y="242"/>
                  </a:lnTo>
                  <a:lnTo>
                    <a:pt x="1178" y="240"/>
                  </a:lnTo>
                  <a:lnTo>
                    <a:pt x="1178" y="238"/>
                  </a:lnTo>
                  <a:lnTo>
                    <a:pt x="1180" y="234"/>
                  </a:lnTo>
                  <a:lnTo>
                    <a:pt x="1180" y="232"/>
                  </a:lnTo>
                  <a:lnTo>
                    <a:pt x="1182" y="228"/>
                  </a:lnTo>
                  <a:lnTo>
                    <a:pt x="1184" y="224"/>
                  </a:lnTo>
                  <a:lnTo>
                    <a:pt x="1184" y="222"/>
                  </a:lnTo>
                  <a:lnTo>
                    <a:pt x="1186" y="218"/>
                  </a:lnTo>
                  <a:lnTo>
                    <a:pt x="1188" y="215"/>
                  </a:lnTo>
                  <a:lnTo>
                    <a:pt x="1188" y="211"/>
                  </a:lnTo>
                  <a:lnTo>
                    <a:pt x="1190" y="207"/>
                  </a:lnTo>
                  <a:lnTo>
                    <a:pt x="1192" y="205"/>
                  </a:lnTo>
                  <a:lnTo>
                    <a:pt x="1192" y="201"/>
                  </a:lnTo>
                  <a:lnTo>
                    <a:pt x="1194" y="197"/>
                  </a:lnTo>
                  <a:lnTo>
                    <a:pt x="1196" y="194"/>
                  </a:lnTo>
                  <a:lnTo>
                    <a:pt x="1196" y="190"/>
                  </a:lnTo>
                  <a:lnTo>
                    <a:pt x="1198" y="186"/>
                  </a:lnTo>
                  <a:lnTo>
                    <a:pt x="1199" y="182"/>
                  </a:lnTo>
                  <a:lnTo>
                    <a:pt x="1199" y="178"/>
                  </a:lnTo>
                  <a:lnTo>
                    <a:pt x="1201" y="174"/>
                  </a:lnTo>
                  <a:lnTo>
                    <a:pt x="1201" y="170"/>
                  </a:lnTo>
                  <a:lnTo>
                    <a:pt x="1203" y="169"/>
                  </a:lnTo>
                  <a:lnTo>
                    <a:pt x="1203" y="165"/>
                  </a:lnTo>
                  <a:lnTo>
                    <a:pt x="1205" y="161"/>
                  </a:lnTo>
                  <a:lnTo>
                    <a:pt x="1205" y="159"/>
                  </a:lnTo>
                  <a:lnTo>
                    <a:pt x="1205" y="155"/>
                  </a:lnTo>
                  <a:lnTo>
                    <a:pt x="1207" y="153"/>
                  </a:lnTo>
                  <a:lnTo>
                    <a:pt x="1207" y="151"/>
                  </a:lnTo>
                  <a:lnTo>
                    <a:pt x="1207" y="147"/>
                  </a:lnTo>
                  <a:lnTo>
                    <a:pt x="1205" y="146"/>
                  </a:lnTo>
                  <a:lnTo>
                    <a:pt x="1205" y="144"/>
                  </a:lnTo>
                  <a:lnTo>
                    <a:pt x="1205" y="140"/>
                  </a:lnTo>
                  <a:lnTo>
                    <a:pt x="1205" y="138"/>
                  </a:lnTo>
                  <a:lnTo>
                    <a:pt x="1203" y="136"/>
                  </a:lnTo>
                  <a:lnTo>
                    <a:pt x="1203" y="134"/>
                  </a:lnTo>
                  <a:lnTo>
                    <a:pt x="1201" y="132"/>
                  </a:lnTo>
                  <a:lnTo>
                    <a:pt x="1201" y="130"/>
                  </a:lnTo>
                  <a:lnTo>
                    <a:pt x="1199" y="128"/>
                  </a:lnTo>
                  <a:lnTo>
                    <a:pt x="1199" y="126"/>
                  </a:lnTo>
                  <a:lnTo>
                    <a:pt x="1198" y="124"/>
                  </a:lnTo>
                  <a:lnTo>
                    <a:pt x="1198" y="123"/>
                  </a:lnTo>
                  <a:lnTo>
                    <a:pt x="1196" y="123"/>
                  </a:lnTo>
                  <a:lnTo>
                    <a:pt x="1194" y="121"/>
                  </a:lnTo>
                  <a:lnTo>
                    <a:pt x="1194" y="119"/>
                  </a:lnTo>
                  <a:lnTo>
                    <a:pt x="1192" y="119"/>
                  </a:lnTo>
                  <a:lnTo>
                    <a:pt x="1192" y="117"/>
                  </a:lnTo>
                  <a:lnTo>
                    <a:pt x="1190" y="117"/>
                  </a:lnTo>
                  <a:lnTo>
                    <a:pt x="1190" y="115"/>
                  </a:lnTo>
                  <a:lnTo>
                    <a:pt x="1188" y="115"/>
                  </a:lnTo>
                  <a:lnTo>
                    <a:pt x="1188" y="113"/>
                  </a:lnTo>
                  <a:lnTo>
                    <a:pt x="1186" y="113"/>
                  </a:lnTo>
                  <a:lnTo>
                    <a:pt x="1186" y="111"/>
                  </a:lnTo>
                  <a:lnTo>
                    <a:pt x="1184" y="111"/>
                  </a:lnTo>
                  <a:lnTo>
                    <a:pt x="1182" y="111"/>
                  </a:lnTo>
                  <a:lnTo>
                    <a:pt x="1182" y="109"/>
                  </a:lnTo>
                  <a:lnTo>
                    <a:pt x="1180" y="109"/>
                  </a:lnTo>
                  <a:lnTo>
                    <a:pt x="1178" y="109"/>
                  </a:lnTo>
                  <a:lnTo>
                    <a:pt x="1176" y="107"/>
                  </a:lnTo>
                  <a:lnTo>
                    <a:pt x="1175" y="107"/>
                  </a:lnTo>
                  <a:lnTo>
                    <a:pt x="1173" y="105"/>
                  </a:lnTo>
                  <a:lnTo>
                    <a:pt x="1171" y="105"/>
                  </a:lnTo>
                  <a:lnTo>
                    <a:pt x="1169" y="103"/>
                  </a:lnTo>
                  <a:lnTo>
                    <a:pt x="1167" y="103"/>
                  </a:lnTo>
                  <a:lnTo>
                    <a:pt x="1163" y="101"/>
                  </a:lnTo>
                  <a:lnTo>
                    <a:pt x="1161" y="99"/>
                  </a:lnTo>
                  <a:lnTo>
                    <a:pt x="1157" y="98"/>
                  </a:lnTo>
                  <a:lnTo>
                    <a:pt x="1153" y="96"/>
                  </a:lnTo>
                  <a:lnTo>
                    <a:pt x="1152" y="96"/>
                  </a:lnTo>
                  <a:lnTo>
                    <a:pt x="1148" y="94"/>
                  </a:lnTo>
                  <a:lnTo>
                    <a:pt x="1142" y="92"/>
                  </a:lnTo>
                  <a:lnTo>
                    <a:pt x="1138" y="88"/>
                  </a:lnTo>
                  <a:lnTo>
                    <a:pt x="1134" y="86"/>
                  </a:lnTo>
                  <a:lnTo>
                    <a:pt x="1130" y="84"/>
                  </a:lnTo>
                  <a:lnTo>
                    <a:pt x="1127" y="84"/>
                  </a:lnTo>
                  <a:lnTo>
                    <a:pt x="1123" y="82"/>
                  </a:lnTo>
                  <a:lnTo>
                    <a:pt x="1119" y="80"/>
                  </a:lnTo>
                  <a:lnTo>
                    <a:pt x="1115" y="80"/>
                  </a:lnTo>
                  <a:lnTo>
                    <a:pt x="1111" y="80"/>
                  </a:lnTo>
                  <a:lnTo>
                    <a:pt x="1107" y="80"/>
                  </a:lnTo>
                  <a:lnTo>
                    <a:pt x="1105" y="80"/>
                  </a:lnTo>
                  <a:lnTo>
                    <a:pt x="1102" y="80"/>
                  </a:lnTo>
                  <a:lnTo>
                    <a:pt x="1100" y="80"/>
                  </a:lnTo>
                  <a:lnTo>
                    <a:pt x="1096" y="82"/>
                  </a:lnTo>
                  <a:lnTo>
                    <a:pt x="1094" y="82"/>
                  </a:lnTo>
                  <a:lnTo>
                    <a:pt x="1092" y="82"/>
                  </a:lnTo>
                  <a:lnTo>
                    <a:pt x="1088" y="84"/>
                  </a:lnTo>
                  <a:lnTo>
                    <a:pt x="1086" y="86"/>
                  </a:lnTo>
                  <a:lnTo>
                    <a:pt x="1084" y="86"/>
                  </a:lnTo>
                  <a:lnTo>
                    <a:pt x="1082" y="88"/>
                  </a:lnTo>
                  <a:lnTo>
                    <a:pt x="1080" y="90"/>
                  </a:lnTo>
                  <a:lnTo>
                    <a:pt x="1079" y="92"/>
                  </a:lnTo>
                  <a:lnTo>
                    <a:pt x="1077" y="94"/>
                  </a:lnTo>
                  <a:lnTo>
                    <a:pt x="1075" y="96"/>
                  </a:lnTo>
                  <a:lnTo>
                    <a:pt x="1073" y="98"/>
                  </a:lnTo>
                  <a:lnTo>
                    <a:pt x="1073" y="99"/>
                  </a:lnTo>
                  <a:lnTo>
                    <a:pt x="1071" y="99"/>
                  </a:lnTo>
                  <a:lnTo>
                    <a:pt x="1071" y="101"/>
                  </a:lnTo>
                  <a:lnTo>
                    <a:pt x="1023" y="167"/>
                  </a:lnTo>
                  <a:lnTo>
                    <a:pt x="881" y="130"/>
                  </a:lnTo>
                  <a:lnTo>
                    <a:pt x="881" y="128"/>
                  </a:lnTo>
                  <a:lnTo>
                    <a:pt x="881" y="126"/>
                  </a:lnTo>
                  <a:lnTo>
                    <a:pt x="881" y="124"/>
                  </a:lnTo>
                  <a:lnTo>
                    <a:pt x="881" y="123"/>
                  </a:lnTo>
                  <a:lnTo>
                    <a:pt x="881" y="121"/>
                  </a:lnTo>
                  <a:lnTo>
                    <a:pt x="881" y="119"/>
                  </a:lnTo>
                  <a:lnTo>
                    <a:pt x="879" y="117"/>
                  </a:lnTo>
                  <a:lnTo>
                    <a:pt x="879" y="113"/>
                  </a:lnTo>
                  <a:lnTo>
                    <a:pt x="879" y="111"/>
                  </a:lnTo>
                  <a:lnTo>
                    <a:pt x="879" y="107"/>
                  </a:lnTo>
                  <a:lnTo>
                    <a:pt x="879" y="105"/>
                  </a:lnTo>
                  <a:lnTo>
                    <a:pt x="877" y="101"/>
                  </a:lnTo>
                  <a:lnTo>
                    <a:pt x="877" y="98"/>
                  </a:lnTo>
                  <a:lnTo>
                    <a:pt x="877" y="94"/>
                  </a:lnTo>
                  <a:lnTo>
                    <a:pt x="877" y="90"/>
                  </a:lnTo>
                  <a:lnTo>
                    <a:pt x="875" y="86"/>
                  </a:lnTo>
                  <a:lnTo>
                    <a:pt x="875" y="84"/>
                  </a:lnTo>
                  <a:lnTo>
                    <a:pt x="875" y="80"/>
                  </a:lnTo>
                  <a:lnTo>
                    <a:pt x="875" y="76"/>
                  </a:lnTo>
                  <a:lnTo>
                    <a:pt x="873" y="73"/>
                  </a:lnTo>
                  <a:lnTo>
                    <a:pt x="873" y="69"/>
                  </a:lnTo>
                  <a:lnTo>
                    <a:pt x="873" y="65"/>
                  </a:lnTo>
                  <a:lnTo>
                    <a:pt x="871" y="61"/>
                  </a:lnTo>
                  <a:lnTo>
                    <a:pt x="871" y="57"/>
                  </a:lnTo>
                  <a:lnTo>
                    <a:pt x="871" y="53"/>
                  </a:lnTo>
                  <a:lnTo>
                    <a:pt x="869" y="50"/>
                  </a:lnTo>
                  <a:lnTo>
                    <a:pt x="869" y="46"/>
                  </a:lnTo>
                  <a:lnTo>
                    <a:pt x="869" y="42"/>
                  </a:lnTo>
                  <a:lnTo>
                    <a:pt x="867" y="40"/>
                  </a:lnTo>
                  <a:lnTo>
                    <a:pt x="867" y="36"/>
                  </a:lnTo>
                  <a:lnTo>
                    <a:pt x="865" y="32"/>
                  </a:lnTo>
                  <a:lnTo>
                    <a:pt x="865" y="30"/>
                  </a:lnTo>
                  <a:lnTo>
                    <a:pt x="864" y="28"/>
                  </a:lnTo>
                  <a:lnTo>
                    <a:pt x="864" y="25"/>
                  </a:lnTo>
                  <a:lnTo>
                    <a:pt x="862" y="23"/>
                  </a:lnTo>
                  <a:lnTo>
                    <a:pt x="860" y="21"/>
                  </a:lnTo>
                  <a:lnTo>
                    <a:pt x="860" y="19"/>
                  </a:lnTo>
                  <a:lnTo>
                    <a:pt x="858" y="17"/>
                  </a:lnTo>
                  <a:lnTo>
                    <a:pt x="856" y="15"/>
                  </a:lnTo>
                  <a:lnTo>
                    <a:pt x="854" y="13"/>
                  </a:lnTo>
                  <a:lnTo>
                    <a:pt x="852" y="11"/>
                  </a:lnTo>
                  <a:lnTo>
                    <a:pt x="850" y="11"/>
                  </a:lnTo>
                  <a:lnTo>
                    <a:pt x="848" y="9"/>
                  </a:lnTo>
                  <a:lnTo>
                    <a:pt x="846" y="7"/>
                  </a:lnTo>
                  <a:lnTo>
                    <a:pt x="844" y="5"/>
                  </a:lnTo>
                  <a:lnTo>
                    <a:pt x="842" y="5"/>
                  </a:lnTo>
                  <a:lnTo>
                    <a:pt x="841" y="5"/>
                  </a:lnTo>
                  <a:lnTo>
                    <a:pt x="839" y="4"/>
                  </a:lnTo>
                  <a:lnTo>
                    <a:pt x="837" y="4"/>
                  </a:lnTo>
                  <a:lnTo>
                    <a:pt x="835" y="4"/>
                  </a:lnTo>
                  <a:lnTo>
                    <a:pt x="835" y="2"/>
                  </a:lnTo>
                  <a:lnTo>
                    <a:pt x="833" y="2"/>
                  </a:lnTo>
                  <a:lnTo>
                    <a:pt x="831" y="2"/>
                  </a:lnTo>
                  <a:lnTo>
                    <a:pt x="829" y="2"/>
                  </a:lnTo>
                  <a:lnTo>
                    <a:pt x="827" y="2"/>
                  </a:lnTo>
                  <a:lnTo>
                    <a:pt x="827" y="0"/>
                  </a:lnTo>
                  <a:lnTo>
                    <a:pt x="825" y="0"/>
                  </a:lnTo>
                  <a:lnTo>
                    <a:pt x="823" y="0"/>
                  </a:lnTo>
                  <a:lnTo>
                    <a:pt x="821" y="0"/>
                  </a:lnTo>
                  <a:lnTo>
                    <a:pt x="819" y="0"/>
                  </a:lnTo>
                  <a:lnTo>
                    <a:pt x="817" y="0"/>
                  </a:lnTo>
                  <a:lnTo>
                    <a:pt x="816" y="0"/>
                  </a:lnTo>
                  <a:lnTo>
                    <a:pt x="814" y="0"/>
                  </a:lnTo>
                  <a:lnTo>
                    <a:pt x="812" y="0"/>
                  </a:lnTo>
                  <a:lnTo>
                    <a:pt x="810" y="0"/>
                  </a:lnTo>
                  <a:lnTo>
                    <a:pt x="808" y="0"/>
                  </a:lnTo>
                  <a:lnTo>
                    <a:pt x="804" y="0"/>
                  </a:lnTo>
                  <a:lnTo>
                    <a:pt x="802" y="0"/>
                  </a:lnTo>
                  <a:lnTo>
                    <a:pt x="798" y="0"/>
                  </a:lnTo>
                  <a:lnTo>
                    <a:pt x="794" y="0"/>
                  </a:lnTo>
                  <a:lnTo>
                    <a:pt x="791" y="0"/>
                  </a:lnTo>
                  <a:lnTo>
                    <a:pt x="787" y="0"/>
                  </a:lnTo>
                  <a:lnTo>
                    <a:pt x="783" y="0"/>
                  </a:lnTo>
                  <a:lnTo>
                    <a:pt x="779" y="0"/>
                  </a:lnTo>
                  <a:lnTo>
                    <a:pt x="773" y="0"/>
                  </a:lnTo>
                  <a:lnTo>
                    <a:pt x="769" y="2"/>
                  </a:lnTo>
                  <a:lnTo>
                    <a:pt x="764" y="2"/>
                  </a:lnTo>
                  <a:lnTo>
                    <a:pt x="760" y="2"/>
                  </a:lnTo>
                  <a:lnTo>
                    <a:pt x="756" y="2"/>
                  </a:lnTo>
                  <a:lnTo>
                    <a:pt x="752" y="4"/>
                  </a:lnTo>
                  <a:lnTo>
                    <a:pt x="748" y="4"/>
                  </a:lnTo>
                  <a:lnTo>
                    <a:pt x="745" y="5"/>
                  </a:lnTo>
                  <a:lnTo>
                    <a:pt x="743" y="7"/>
                  </a:lnTo>
                  <a:lnTo>
                    <a:pt x="741" y="9"/>
                  </a:lnTo>
                  <a:lnTo>
                    <a:pt x="737" y="11"/>
                  </a:lnTo>
                  <a:lnTo>
                    <a:pt x="735" y="11"/>
                  </a:lnTo>
                  <a:lnTo>
                    <a:pt x="733" y="13"/>
                  </a:lnTo>
                  <a:lnTo>
                    <a:pt x="731" y="15"/>
                  </a:lnTo>
                  <a:lnTo>
                    <a:pt x="729" y="17"/>
                  </a:lnTo>
                  <a:lnTo>
                    <a:pt x="727" y="19"/>
                  </a:lnTo>
                  <a:lnTo>
                    <a:pt x="727" y="21"/>
                  </a:lnTo>
                  <a:lnTo>
                    <a:pt x="725" y="23"/>
                  </a:lnTo>
                  <a:lnTo>
                    <a:pt x="723" y="25"/>
                  </a:lnTo>
                  <a:lnTo>
                    <a:pt x="723" y="27"/>
                  </a:lnTo>
                  <a:lnTo>
                    <a:pt x="723" y="28"/>
                  </a:lnTo>
                  <a:lnTo>
                    <a:pt x="721" y="30"/>
                  </a:lnTo>
                  <a:lnTo>
                    <a:pt x="721" y="32"/>
                  </a:lnTo>
                  <a:lnTo>
                    <a:pt x="721" y="34"/>
                  </a:lnTo>
                  <a:lnTo>
                    <a:pt x="720" y="36"/>
                  </a:lnTo>
                  <a:lnTo>
                    <a:pt x="720" y="38"/>
                  </a:lnTo>
                  <a:lnTo>
                    <a:pt x="720" y="40"/>
                  </a:lnTo>
                  <a:lnTo>
                    <a:pt x="720" y="42"/>
                  </a:lnTo>
                  <a:lnTo>
                    <a:pt x="708" y="124"/>
                  </a:lnTo>
                  <a:lnTo>
                    <a:pt x="566" y="157"/>
                  </a:lnTo>
                  <a:lnTo>
                    <a:pt x="564" y="155"/>
                  </a:lnTo>
                  <a:lnTo>
                    <a:pt x="564" y="153"/>
                  </a:lnTo>
                  <a:lnTo>
                    <a:pt x="562" y="153"/>
                  </a:lnTo>
                  <a:lnTo>
                    <a:pt x="562" y="151"/>
                  </a:lnTo>
                  <a:lnTo>
                    <a:pt x="560" y="149"/>
                  </a:lnTo>
                  <a:lnTo>
                    <a:pt x="558" y="147"/>
                  </a:lnTo>
                  <a:lnTo>
                    <a:pt x="558" y="146"/>
                  </a:lnTo>
                  <a:lnTo>
                    <a:pt x="556" y="144"/>
                  </a:lnTo>
                  <a:lnTo>
                    <a:pt x="554" y="140"/>
                  </a:lnTo>
                  <a:lnTo>
                    <a:pt x="553" y="138"/>
                  </a:lnTo>
                  <a:lnTo>
                    <a:pt x="551" y="136"/>
                  </a:lnTo>
                  <a:lnTo>
                    <a:pt x="549" y="132"/>
                  </a:lnTo>
                  <a:lnTo>
                    <a:pt x="547" y="130"/>
                  </a:lnTo>
                  <a:lnTo>
                    <a:pt x="545" y="126"/>
                  </a:lnTo>
                  <a:lnTo>
                    <a:pt x="543" y="124"/>
                  </a:lnTo>
                  <a:lnTo>
                    <a:pt x="541" y="121"/>
                  </a:lnTo>
                  <a:lnTo>
                    <a:pt x="539" y="119"/>
                  </a:lnTo>
                  <a:lnTo>
                    <a:pt x="535" y="115"/>
                  </a:lnTo>
                  <a:lnTo>
                    <a:pt x="533" y="111"/>
                  </a:lnTo>
                  <a:lnTo>
                    <a:pt x="531" y="109"/>
                  </a:lnTo>
                  <a:lnTo>
                    <a:pt x="530" y="105"/>
                  </a:lnTo>
                  <a:lnTo>
                    <a:pt x="528" y="103"/>
                  </a:lnTo>
                  <a:lnTo>
                    <a:pt x="526" y="99"/>
                  </a:lnTo>
                  <a:lnTo>
                    <a:pt x="522" y="96"/>
                  </a:lnTo>
                  <a:lnTo>
                    <a:pt x="520" y="94"/>
                  </a:lnTo>
                  <a:lnTo>
                    <a:pt x="518" y="90"/>
                  </a:lnTo>
                  <a:lnTo>
                    <a:pt x="516" y="88"/>
                  </a:lnTo>
                  <a:lnTo>
                    <a:pt x="514" y="84"/>
                  </a:lnTo>
                  <a:lnTo>
                    <a:pt x="512" y="82"/>
                  </a:lnTo>
                  <a:lnTo>
                    <a:pt x="510" y="80"/>
                  </a:lnTo>
                  <a:lnTo>
                    <a:pt x="508" y="78"/>
                  </a:lnTo>
                  <a:lnTo>
                    <a:pt x="506" y="76"/>
                  </a:lnTo>
                  <a:lnTo>
                    <a:pt x="503" y="75"/>
                  </a:lnTo>
                  <a:lnTo>
                    <a:pt x="501" y="73"/>
                  </a:lnTo>
                  <a:lnTo>
                    <a:pt x="499" y="71"/>
                  </a:lnTo>
                  <a:lnTo>
                    <a:pt x="497" y="71"/>
                  </a:lnTo>
                  <a:lnTo>
                    <a:pt x="495" y="69"/>
                  </a:lnTo>
                  <a:lnTo>
                    <a:pt x="491" y="69"/>
                  </a:lnTo>
                  <a:lnTo>
                    <a:pt x="489" y="67"/>
                  </a:lnTo>
                  <a:lnTo>
                    <a:pt x="487" y="67"/>
                  </a:lnTo>
                  <a:lnTo>
                    <a:pt x="485" y="67"/>
                  </a:lnTo>
                  <a:lnTo>
                    <a:pt x="483" y="65"/>
                  </a:lnTo>
                  <a:lnTo>
                    <a:pt x="482" y="65"/>
                  </a:lnTo>
                  <a:lnTo>
                    <a:pt x="480" y="65"/>
                  </a:lnTo>
                  <a:lnTo>
                    <a:pt x="478" y="65"/>
                  </a:lnTo>
                  <a:lnTo>
                    <a:pt x="474" y="65"/>
                  </a:lnTo>
                  <a:lnTo>
                    <a:pt x="472" y="65"/>
                  </a:lnTo>
                  <a:lnTo>
                    <a:pt x="470" y="65"/>
                  </a:lnTo>
                  <a:lnTo>
                    <a:pt x="468" y="65"/>
                  </a:lnTo>
                  <a:lnTo>
                    <a:pt x="466" y="65"/>
                  </a:lnTo>
                  <a:lnTo>
                    <a:pt x="464" y="65"/>
                  </a:lnTo>
                  <a:lnTo>
                    <a:pt x="464" y="67"/>
                  </a:lnTo>
                  <a:lnTo>
                    <a:pt x="462" y="67"/>
                  </a:lnTo>
                  <a:lnTo>
                    <a:pt x="460" y="67"/>
                  </a:lnTo>
                  <a:lnTo>
                    <a:pt x="458" y="67"/>
                  </a:lnTo>
                  <a:lnTo>
                    <a:pt x="457" y="69"/>
                  </a:lnTo>
                  <a:lnTo>
                    <a:pt x="455" y="69"/>
                  </a:lnTo>
                  <a:lnTo>
                    <a:pt x="453" y="71"/>
                  </a:lnTo>
                  <a:lnTo>
                    <a:pt x="451" y="71"/>
                  </a:lnTo>
                  <a:lnTo>
                    <a:pt x="449" y="73"/>
                  </a:lnTo>
                  <a:lnTo>
                    <a:pt x="447" y="75"/>
                  </a:lnTo>
                  <a:lnTo>
                    <a:pt x="445" y="75"/>
                  </a:lnTo>
                  <a:lnTo>
                    <a:pt x="443" y="76"/>
                  </a:lnTo>
                  <a:lnTo>
                    <a:pt x="441" y="76"/>
                  </a:lnTo>
                  <a:lnTo>
                    <a:pt x="437" y="78"/>
                  </a:lnTo>
                  <a:lnTo>
                    <a:pt x="435" y="80"/>
                  </a:lnTo>
                  <a:lnTo>
                    <a:pt x="432" y="82"/>
                  </a:lnTo>
                  <a:lnTo>
                    <a:pt x="430" y="82"/>
                  </a:lnTo>
                  <a:lnTo>
                    <a:pt x="426" y="84"/>
                  </a:lnTo>
                  <a:lnTo>
                    <a:pt x="422" y="86"/>
                  </a:lnTo>
                  <a:lnTo>
                    <a:pt x="418" y="88"/>
                  </a:lnTo>
                  <a:lnTo>
                    <a:pt x="414" y="92"/>
                  </a:lnTo>
                  <a:lnTo>
                    <a:pt x="410" y="94"/>
                  </a:lnTo>
                  <a:lnTo>
                    <a:pt x="407" y="96"/>
                  </a:lnTo>
                  <a:lnTo>
                    <a:pt x="403" y="98"/>
                  </a:lnTo>
                  <a:lnTo>
                    <a:pt x="399" y="101"/>
                  </a:lnTo>
                  <a:lnTo>
                    <a:pt x="395" y="103"/>
                  </a:lnTo>
                  <a:lnTo>
                    <a:pt x="393" y="105"/>
                  </a:lnTo>
                  <a:lnTo>
                    <a:pt x="389" y="109"/>
                  </a:lnTo>
                  <a:lnTo>
                    <a:pt x="387" y="111"/>
                  </a:lnTo>
                  <a:lnTo>
                    <a:pt x="386" y="113"/>
                  </a:lnTo>
                  <a:lnTo>
                    <a:pt x="384" y="117"/>
                  </a:lnTo>
                  <a:lnTo>
                    <a:pt x="382" y="119"/>
                  </a:lnTo>
                  <a:lnTo>
                    <a:pt x="382" y="121"/>
                  </a:lnTo>
                  <a:lnTo>
                    <a:pt x="380" y="124"/>
                  </a:lnTo>
                  <a:lnTo>
                    <a:pt x="380" y="126"/>
                  </a:lnTo>
                  <a:lnTo>
                    <a:pt x="380" y="128"/>
                  </a:lnTo>
                  <a:lnTo>
                    <a:pt x="378" y="130"/>
                  </a:lnTo>
                  <a:lnTo>
                    <a:pt x="378" y="134"/>
                  </a:lnTo>
                  <a:lnTo>
                    <a:pt x="378" y="136"/>
                  </a:lnTo>
                  <a:lnTo>
                    <a:pt x="378" y="138"/>
                  </a:lnTo>
                  <a:lnTo>
                    <a:pt x="378" y="140"/>
                  </a:lnTo>
                  <a:lnTo>
                    <a:pt x="378" y="142"/>
                  </a:lnTo>
                  <a:lnTo>
                    <a:pt x="378" y="144"/>
                  </a:lnTo>
                  <a:lnTo>
                    <a:pt x="380" y="146"/>
                  </a:lnTo>
                  <a:lnTo>
                    <a:pt x="380" y="147"/>
                  </a:lnTo>
                  <a:lnTo>
                    <a:pt x="380" y="149"/>
                  </a:lnTo>
                  <a:lnTo>
                    <a:pt x="380" y="151"/>
                  </a:lnTo>
                  <a:lnTo>
                    <a:pt x="382" y="151"/>
                  </a:lnTo>
                  <a:lnTo>
                    <a:pt x="382" y="153"/>
                  </a:lnTo>
                  <a:lnTo>
                    <a:pt x="382" y="155"/>
                  </a:lnTo>
                  <a:lnTo>
                    <a:pt x="409" y="232"/>
                  </a:lnTo>
                  <a:lnTo>
                    <a:pt x="299" y="328"/>
                  </a:lnTo>
                  <a:lnTo>
                    <a:pt x="297" y="328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3" y="326"/>
                  </a:lnTo>
                  <a:lnTo>
                    <a:pt x="291" y="324"/>
                  </a:lnTo>
                  <a:lnTo>
                    <a:pt x="290" y="324"/>
                  </a:lnTo>
                  <a:lnTo>
                    <a:pt x="288" y="322"/>
                  </a:lnTo>
                  <a:lnTo>
                    <a:pt x="286" y="320"/>
                  </a:lnTo>
                  <a:lnTo>
                    <a:pt x="284" y="320"/>
                  </a:lnTo>
                  <a:lnTo>
                    <a:pt x="282" y="318"/>
                  </a:lnTo>
                  <a:lnTo>
                    <a:pt x="278" y="316"/>
                  </a:lnTo>
                  <a:lnTo>
                    <a:pt x="276" y="316"/>
                  </a:lnTo>
                  <a:lnTo>
                    <a:pt x="272" y="314"/>
                  </a:lnTo>
                  <a:lnTo>
                    <a:pt x="270" y="313"/>
                  </a:lnTo>
                  <a:lnTo>
                    <a:pt x="267" y="311"/>
                  </a:lnTo>
                  <a:lnTo>
                    <a:pt x="263" y="309"/>
                  </a:lnTo>
                  <a:lnTo>
                    <a:pt x="261" y="307"/>
                  </a:lnTo>
                  <a:lnTo>
                    <a:pt x="257" y="307"/>
                  </a:lnTo>
                  <a:lnTo>
                    <a:pt x="253" y="305"/>
                  </a:lnTo>
                  <a:lnTo>
                    <a:pt x="249" y="303"/>
                  </a:lnTo>
                  <a:lnTo>
                    <a:pt x="245" y="301"/>
                  </a:lnTo>
                  <a:lnTo>
                    <a:pt x="243" y="299"/>
                  </a:lnTo>
                  <a:lnTo>
                    <a:pt x="240" y="297"/>
                  </a:lnTo>
                  <a:lnTo>
                    <a:pt x="236" y="295"/>
                  </a:lnTo>
                  <a:lnTo>
                    <a:pt x="232" y="295"/>
                  </a:lnTo>
                  <a:lnTo>
                    <a:pt x="228" y="293"/>
                  </a:lnTo>
                  <a:lnTo>
                    <a:pt x="226" y="291"/>
                  </a:lnTo>
                  <a:lnTo>
                    <a:pt x="222" y="289"/>
                  </a:lnTo>
                  <a:lnTo>
                    <a:pt x="219" y="289"/>
                  </a:lnTo>
                  <a:lnTo>
                    <a:pt x="217" y="288"/>
                  </a:lnTo>
                  <a:lnTo>
                    <a:pt x="213" y="286"/>
                  </a:lnTo>
                  <a:lnTo>
                    <a:pt x="211" y="286"/>
                  </a:lnTo>
                  <a:lnTo>
                    <a:pt x="207" y="284"/>
                  </a:lnTo>
                  <a:lnTo>
                    <a:pt x="205" y="284"/>
                  </a:lnTo>
                  <a:lnTo>
                    <a:pt x="201" y="284"/>
                  </a:lnTo>
                  <a:lnTo>
                    <a:pt x="199" y="284"/>
                  </a:lnTo>
                  <a:lnTo>
                    <a:pt x="197" y="284"/>
                  </a:lnTo>
                  <a:lnTo>
                    <a:pt x="194" y="284"/>
                  </a:lnTo>
                  <a:lnTo>
                    <a:pt x="192" y="284"/>
                  </a:lnTo>
                  <a:lnTo>
                    <a:pt x="190" y="284"/>
                  </a:lnTo>
                  <a:lnTo>
                    <a:pt x="188" y="284"/>
                  </a:lnTo>
                  <a:lnTo>
                    <a:pt x="186" y="284"/>
                  </a:lnTo>
                  <a:lnTo>
                    <a:pt x="184" y="286"/>
                  </a:lnTo>
                  <a:lnTo>
                    <a:pt x="182" y="286"/>
                  </a:lnTo>
                  <a:lnTo>
                    <a:pt x="180" y="288"/>
                  </a:lnTo>
                  <a:lnTo>
                    <a:pt x="178" y="288"/>
                  </a:lnTo>
                  <a:lnTo>
                    <a:pt x="176" y="289"/>
                  </a:lnTo>
                  <a:lnTo>
                    <a:pt x="174" y="289"/>
                  </a:lnTo>
                  <a:lnTo>
                    <a:pt x="172" y="291"/>
                  </a:lnTo>
                  <a:lnTo>
                    <a:pt x="171" y="291"/>
                  </a:lnTo>
                  <a:lnTo>
                    <a:pt x="171" y="293"/>
                  </a:lnTo>
                  <a:lnTo>
                    <a:pt x="169" y="293"/>
                  </a:lnTo>
                  <a:lnTo>
                    <a:pt x="167" y="295"/>
                  </a:lnTo>
                  <a:lnTo>
                    <a:pt x="165" y="297"/>
                  </a:lnTo>
                  <a:lnTo>
                    <a:pt x="163" y="299"/>
                  </a:lnTo>
                  <a:lnTo>
                    <a:pt x="163" y="301"/>
                  </a:lnTo>
                  <a:lnTo>
                    <a:pt x="161" y="301"/>
                  </a:lnTo>
                  <a:lnTo>
                    <a:pt x="161" y="303"/>
                  </a:lnTo>
                  <a:lnTo>
                    <a:pt x="159" y="305"/>
                  </a:lnTo>
                  <a:lnTo>
                    <a:pt x="157" y="307"/>
                  </a:lnTo>
                  <a:lnTo>
                    <a:pt x="157" y="309"/>
                  </a:lnTo>
                  <a:lnTo>
                    <a:pt x="155" y="311"/>
                  </a:lnTo>
                  <a:lnTo>
                    <a:pt x="153" y="313"/>
                  </a:lnTo>
                  <a:lnTo>
                    <a:pt x="153" y="314"/>
                  </a:lnTo>
                  <a:lnTo>
                    <a:pt x="151" y="316"/>
                  </a:lnTo>
                  <a:lnTo>
                    <a:pt x="149" y="318"/>
                  </a:lnTo>
                  <a:lnTo>
                    <a:pt x="147" y="320"/>
                  </a:lnTo>
                  <a:lnTo>
                    <a:pt x="146" y="322"/>
                  </a:lnTo>
                  <a:lnTo>
                    <a:pt x="144" y="326"/>
                  </a:lnTo>
                  <a:lnTo>
                    <a:pt x="142" y="328"/>
                  </a:lnTo>
                  <a:lnTo>
                    <a:pt x="140" y="332"/>
                  </a:lnTo>
                  <a:lnTo>
                    <a:pt x="138" y="336"/>
                  </a:lnTo>
                  <a:lnTo>
                    <a:pt x="136" y="339"/>
                  </a:lnTo>
                  <a:lnTo>
                    <a:pt x="132" y="343"/>
                  </a:lnTo>
                  <a:lnTo>
                    <a:pt x="130" y="347"/>
                  </a:lnTo>
                  <a:lnTo>
                    <a:pt x="128" y="351"/>
                  </a:lnTo>
                  <a:lnTo>
                    <a:pt x="124" y="355"/>
                  </a:lnTo>
                  <a:lnTo>
                    <a:pt x="124" y="359"/>
                  </a:lnTo>
                  <a:lnTo>
                    <a:pt x="123" y="362"/>
                  </a:lnTo>
                  <a:lnTo>
                    <a:pt x="121" y="366"/>
                  </a:lnTo>
                  <a:lnTo>
                    <a:pt x="121" y="368"/>
                  </a:lnTo>
                  <a:lnTo>
                    <a:pt x="119" y="372"/>
                  </a:lnTo>
                  <a:lnTo>
                    <a:pt x="119" y="376"/>
                  </a:lnTo>
                  <a:lnTo>
                    <a:pt x="119" y="378"/>
                  </a:lnTo>
                  <a:lnTo>
                    <a:pt x="119" y="382"/>
                  </a:lnTo>
                  <a:lnTo>
                    <a:pt x="119" y="384"/>
                  </a:lnTo>
                  <a:lnTo>
                    <a:pt x="121" y="385"/>
                  </a:lnTo>
                  <a:lnTo>
                    <a:pt x="121" y="389"/>
                  </a:lnTo>
                  <a:lnTo>
                    <a:pt x="121" y="391"/>
                  </a:lnTo>
                  <a:lnTo>
                    <a:pt x="123" y="393"/>
                  </a:lnTo>
                  <a:lnTo>
                    <a:pt x="123" y="395"/>
                  </a:lnTo>
                  <a:lnTo>
                    <a:pt x="124" y="397"/>
                  </a:lnTo>
                  <a:lnTo>
                    <a:pt x="124" y="399"/>
                  </a:lnTo>
                  <a:lnTo>
                    <a:pt x="126" y="401"/>
                  </a:lnTo>
                  <a:lnTo>
                    <a:pt x="126" y="403"/>
                  </a:lnTo>
                  <a:lnTo>
                    <a:pt x="128" y="403"/>
                  </a:lnTo>
                  <a:lnTo>
                    <a:pt x="130" y="405"/>
                  </a:lnTo>
                  <a:lnTo>
                    <a:pt x="130" y="407"/>
                  </a:lnTo>
                  <a:lnTo>
                    <a:pt x="132" y="407"/>
                  </a:lnTo>
                  <a:lnTo>
                    <a:pt x="132" y="408"/>
                  </a:lnTo>
                  <a:lnTo>
                    <a:pt x="134" y="408"/>
                  </a:lnTo>
                  <a:lnTo>
                    <a:pt x="136" y="410"/>
                  </a:lnTo>
                  <a:lnTo>
                    <a:pt x="195" y="466"/>
                  </a:lnTo>
                  <a:lnTo>
                    <a:pt x="142" y="602"/>
                  </a:lnTo>
                  <a:lnTo>
                    <a:pt x="140" y="602"/>
                  </a:lnTo>
                  <a:lnTo>
                    <a:pt x="138" y="602"/>
                  </a:lnTo>
                  <a:lnTo>
                    <a:pt x="136" y="602"/>
                  </a:lnTo>
                  <a:lnTo>
                    <a:pt x="134" y="602"/>
                  </a:lnTo>
                  <a:lnTo>
                    <a:pt x="132" y="602"/>
                  </a:lnTo>
                  <a:lnTo>
                    <a:pt x="130" y="602"/>
                  </a:lnTo>
                  <a:lnTo>
                    <a:pt x="126" y="602"/>
                  </a:lnTo>
                  <a:lnTo>
                    <a:pt x="124" y="602"/>
                  </a:lnTo>
                  <a:lnTo>
                    <a:pt x="121" y="602"/>
                  </a:lnTo>
                  <a:lnTo>
                    <a:pt x="119" y="602"/>
                  </a:lnTo>
                  <a:lnTo>
                    <a:pt x="115" y="602"/>
                  </a:lnTo>
                  <a:lnTo>
                    <a:pt x="113" y="602"/>
                  </a:lnTo>
                  <a:lnTo>
                    <a:pt x="109" y="602"/>
                  </a:lnTo>
                  <a:lnTo>
                    <a:pt x="105" y="604"/>
                  </a:lnTo>
                  <a:lnTo>
                    <a:pt x="101" y="604"/>
                  </a:lnTo>
                  <a:lnTo>
                    <a:pt x="98" y="604"/>
                  </a:lnTo>
                  <a:lnTo>
                    <a:pt x="94" y="604"/>
                  </a:lnTo>
                  <a:lnTo>
                    <a:pt x="90" y="604"/>
                  </a:lnTo>
                  <a:lnTo>
                    <a:pt x="86" y="604"/>
                  </a:lnTo>
                  <a:lnTo>
                    <a:pt x="82" y="604"/>
                  </a:lnTo>
                  <a:lnTo>
                    <a:pt x="78" y="604"/>
                  </a:lnTo>
                  <a:lnTo>
                    <a:pt x="75" y="604"/>
                  </a:lnTo>
                  <a:lnTo>
                    <a:pt x="71" y="604"/>
                  </a:lnTo>
                  <a:lnTo>
                    <a:pt x="67" y="604"/>
                  </a:lnTo>
                  <a:lnTo>
                    <a:pt x="65" y="604"/>
                  </a:lnTo>
                  <a:lnTo>
                    <a:pt x="61" y="604"/>
                  </a:lnTo>
                  <a:lnTo>
                    <a:pt x="57" y="606"/>
                  </a:lnTo>
                  <a:lnTo>
                    <a:pt x="53" y="606"/>
                  </a:lnTo>
                  <a:lnTo>
                    <a:pt x="50" y="606"/>
                  </a:lnTo>
                  <a:lnTo>
                    <a:pt x="48" y="606"/>
                  </a:lnTo>
                  <a:lnTo>
                    <a:pt x="44" y="606"/>
                  </a:lnTo>
                  <a:lnTo>
                    <a:pt x="42" y="606"/>
                  </a:lnTo>
                  <a:lnTo>
                    <a:pt x="38" y="608"/>
                  </a:lnTo>
                  <a:lnTo>
                    <a:pt x="36" y="608"/>
                  </a:lnTo>
                  <a:lnTo>
                    <a:pt x="34" y="610"/>
                  </a:lnTo>
                  <a:lnTo>
                    <a:pt x="30" y="610"/>
                  </a:lnTo>
                  <a:lnTo>
                    <a:pt x="28" y="612"/>
                  </a:lnTo>
                  <a:lnTo>
                    <a:pt x="27" y="614"/>
                  </a:lnTo>
                  <a:lnTo>
                    <a:pt x="25" y="614"/>
                  </a:lnTo>
                  <a:lnTo>
                    <a:pt x="23" y="616"/>
                  </a:lnTo>
                  <a:lnTo>
                    <a:pt x="21" y="618"/>
                  </a:lnTo>
                  <a:lnTo>
                    <a:pt x="19" y="620"/>
                  </a:lnTo>
                  <a:lnTo>
                    <a:pt x="19" y="622"/>
                  </a:lnTo>
                  <a:lnTo>
                    <a:pt x="17" y="622"/>
                  </a:lnTo>
                  <a:lnTo>
                    <a:pt x="15" y="623"/>
                  </a:lnTo>
                  <a:lnTo>
                    <a:pt x="15" y="625"/>
                  </a:lnTo>
                  <a:lnTo>
                    <a:pt x="13" y="627"/>
                  </a:lnTo>
                  <a:lnTo>
                    <a:pt x="13" y="629"/>
                  </a:lnTo>
                  <a:lnTo>
                    <a:pt x="11" y="631"/>
                  </a:lnTo>
                  <a:lnTo>
                    <a:pt x="9" y="633"/>
                  </a:lnTo>
                  <a:lnTo>
                    <a:pt x="9" y="635"/>
                  </a:lnTo>
                  <a:lnTo>
                    <a:pt x="9" y="637"/>
                  </a:lnTo>
                  <a:lnTo>
                    <a:pt x="7" y="639"/>
                  </a:lnTo>
                  <a:lnTo>
                    <a:pt x="7" y="641"/>
                  </a:lnTo>
                  <a:lnTo>
                    <a:pt x="7" y="643"/>
                  </a:lnTo>
                  <a:lnTo>
                    <a:pt x="7" y="645"/>
                  </a:lnTo>
                  <a:lnTo>
                    <a:pt x="7" y="646"/>
                  </a:lnTo>
                  <a:lnTo>
                    <a:pt x="5" y="646"/>
                  </a:lnTo>
                  <a:lnTo>
                    <a:pt x="5" y="648"/>
                  </a:lnTo>
                  <a:lnTo>
                    <a:pt x="5" y="650"/>
                  </a:lnTo>
                  <a:lnTo>
                    <a:pt x="5" y="652"/>
                  </a:lnTo>
                  <a:lnTo>
                    <a:pt x="5" y="654"/>
                  </a:lnTo>
                  <a:lnTo>
                    <a:pt x="5" y="656"/>
                  </a:lnTo>
                  <a:lnTo>
                    <a:pt x="5" y="658"/>
                  </a:lnTo>
                  <a:lnTo>
                    <a:pt x="5" y="662"/>
                  </a:lnTo>
                  <a:lnTo>
                    <a:pt x="4" y="664"/>
                  </a:lnTo>
                  <a:lnTo>
                    <a:pt x="4" y="666"/>
                  </a:lnTo>
                  <a:lnTo>
                    <a:pt x="4" y="670"/>
                  </a:lnTo>
                  <a:lnTo>
                    <a:pt x="4" y="673"/>
                  </a:lnTo>
                  <a:lnTo>
                    <a:pt x="4" y="677"/>
                  </a:lnTo>
                  <a:lnTo>
                    <a:pt x="2" y="681"/>
                  </a:lnTo>
                  <a:lnTo>
                    <a:pt x="2" y="685"/>
                  </a:lnTo>
                  <a:lnTo>
                    <a:pt x="2" y="689"/>
                  </a:lnTo>
                  <a:lnTo>
                    <a:pt x="2" y="694"/>
                  </a:lnTo>
                  <a:lnTo>
                    <a:pt x="0" y="698"/>
                  </a:lnTo>
                  <a:lnTo>
                    <a:pt x="0" y="704"/>
                  </a:lnTo>
                  <a:lnTo>
                    <a:pt x="0" y="708"/>
                  </a:lnTo>
                  <a:lnTo>
                    <a:pt x="0" y="712"/>
                  </a:lnTo>
                  <a:lnTo>
                    <a:pt x="2" y="716"/>
                  </a:lnTo>
                  <a:lnTo>
                    <a:pt x="2" y="719"/>
                  </a:lnTo>
                  <a:lnTo>
                    <a:pt x="4" y="723"/>
                  </a:lnTo>
                  <a:lnTo>
                    <a:pt x="4" y="725"/>
                  </a:lnTo>
                  <a:lnTo>
                    <a:pt x="5" y="729"/>
                  </a:lnTo>
                  <a:lnTo>
                    <a:pt x="5" y="731"/>
                  </a:lnTo>
                  <a:lnTo>
                    <a:pt x="7" y="733"/>
                  </a:lnTo>
                  <a:lnTo>
                    <a:pt x="9" y="737"/>
                  </a:lnTo>
                  <a:lnTo>
                    <a:pt x="11" y="739"/>
                  </a:lnTo>
                  <a:lnTo>
                    <a:pt x="13" y="741"/>
                  </a:lnTo>
                  <a:lnTo>
                    <a:pt x="13" y="742"/>
                  </a:lnTo>
                  <a:lnTo>
                    <a:pt x="15" y="742"/>
                  </a:lnTo>
                  <a:lnTo>
                    <a:pt x="17" y="744"/>
                  </a:lnTo>
                  <a:lnTo>
                    <a:pt x="19" y="746"/>
                  </a:lnTo>
                  <a:lnTo>
                    <a:pt x="21" y="746"/>
                  </a:lnTo>
                  <a:lnTo>
                    <a:pt x="23" y="748"/>
                  </a:lnTo>
                  <a:lnTo>
                    <a:pt x="25" y="748"/>
                  </a:lnTo>
                  <a:lnTo>
                    <a:pt x="27" y="750"/>
                  </a:lnTo>
                  <a:lnTo>
                    <a:pt x="28" y="750"/>
                  </a:lnTo>
                  <a:lnTo>
                    <a:pt x="30" y="750"/>
                  </a:lnTo>
                  <a:lnTo>
                    <a:pt x="32" y="752"/>
                  </a:lnTo>
                  <a:lnTo>
                    <a:pt x="34" y="752"/>
                  </a:lnTo>
                  <a:lnTo>
                    <a:pt x="36" y="752"/>
                  </a:lnTo>
                  <a:lnTo>
                    <a:pt x="117" y="775"/>
                  </a:lnTo>
                  <a:lnTo>
                    <a:pt x="130" y="919"/>
                  </a:lnTo>
                  <a:lnTo>
                    <a:pt x="130" y="921"/>
                  </a:lnTo>
                  <a:lnTo>
                    <a:pt x="128" y="921"/>
                  </a:lnTo>
                  <a:lnTo>
                    <a:pt x="126" y="923"/>
                  </a:lnTo>
                  <a:lnTo>
                    <a:pt x="124" y="923"/>
                  </a:lnTo>
                  <a:lnTo>
                    <a:pt x="123" y="925"/>
                  </a:lnTo>
                  <a:lnTo>
                    <a:pt x="121" y="925"/>
                  </a:lnTo>
                  <a:lnTo>
                    <a:pt x="119" y="927"/>
                  </a:lnTo>
                  <a:lnTo>
                    <a:pt x="115" y="927"/>
                  </a:lnTo>
                  <a:lnTo>
                    <a:pt x="113" y="929"/>
                  </a:lnTo>
                  <a:lnTo>
                    <a:pt x="111" y="931"/>
                  </a:lnTo>
                  <a:lnTo>
                    <a:pt x="107" y="932"/>
                  </a:lnTo>
                  <a:lnTo>
                    <a:pt x="105" y="934"/>
                  </a:lnTo>
                  <a:lnTo>
                    <a:pt x="101" y="934"/>
                  </a:lnTo>
                  <a:lnTo>
                    <a:pt x="100" y="936"/>
                  </a:lnTo>
                  <a:lnTo>
                    <a:pt x="96" y="938"/>
                  </a:lnTo>
                  <a:lnTo>
                    <a:pt x="92" y="940"/>
                  </a:lnTo>
                  <a:lnTo>
                    <a:pt x="88" y="942"/>
                  </a:lnTo>
                  <a:lnTo>
                    <a:pt x="86" y="944"/>
                  </a:lnTo>
                  <a:lnTo>
                    <a:pt x="82" y="946"/>
                  </a:lnTo>
                  <a:lnTo>
                    <a:pt x="78" y="948"/>
                  </a:lnTo>
                  <a:lnTo>
                    <a:pt x="75" y="950"/>
                  </a:lnTo>
                  <a:lnTo>
                    <a:pt x="73" y="952"/>
                  </a:lnTo>
                  <a:lnTo>
                    <a:pt x="69" y="954"/>
                  </a:lnTo>
                  <a:lnTo>
                    <a:pt x="65" y="955"/>
                  </a:lnTo>
                  <a:lnTo>
                    <a:pt x="63" y="957"/>
                  </a:lnTo>
                  <a:lnTo>
                    <a:pt x="59" y="959"/>
                  </a:lnTo>
                  <a:lnTo>
                    <a:pt x="55" y="961"/>
                  </a:lnTo>
                  <a:lnTo>
                    <a:pt x="53" y="963"/>
                  </a:lnTo>
                  <a:lnTo>
                    <a:pt x="50" y="963"/>
                  </a:lnTo>
                  <a:lnTo>
                    <a:pt x="48" y="965"/>
                  </a:lnTo>
                  <a:lnTo>
                    <a:pt x="46" y="967"/>
                  </a:lnTo>
                  <a:lnTo>
                    <a:pt x="42" y="969"/>
                  </a:lnTo>
                  <a:lnTo>
                    <a:pt x="40" y="971"/>
                  </a:lnTo>
                  <a:lnTo>
                    <a:pt x="38" y="973"/>
                  </a:lnTo>
                  <a:lnTo>
                    <a:pt x="38" y="975"/>
                  </a:lnTo>
                  <a:lnTo>
                    <a:pt x="36" y="979"/>
                  </a:lnTo>
                  <a:lnTo>
                    <a:pt x="34" y="980"/>
                  </a:lnTo>
                  <a:lnTo>
                    <a:pt x="32" y="982"/>
                  </a:lnTo>
                  <a:lnTo>
                    <a:pt x="32" y="984"/>
                  </a:lnTo>
                  <a:lnTo>
                    <a:pt x="30" y="986"/>
                  </a:lnTo>
                  <a:lnTo>
                    <a:pt x="30" y="988"/>
                  </a:lnTo>
                  <a:lnTo>
                    <a:pt x="30" y="990"/>
                  </a:lnTo>
                  <a:lnTo>
                    <a:pt x="28" y="992"/>
                  </a:lnTo>
                  <a:lnTo>
                    <a:pt x="28" y="994"/>
                  </a:lnTo>
                  <a:lnTo>
                    <a:pt x="28" y="996"/>
                  </a:lnTo>
                  <a:lnTo>
                    <a:pt x="28" y="998"/>
                  </a:lnTo>
                  <a:lnTo>
                    <a:pt x="28" y="1000"/>
                  </a:lnTo>
                  <a:lnTo>
                    <a:pt x="28" y="1002"/>
                  </a:lnTo>
                  <a:lnTo>
                    <a:pt x="28" y="1003"/>
                  </a:lnTo>
                  <a:lnTo>
                    <a:pt x="28" y="1005"/>
                  </a:lnTo>
                  <a:lnTo>
                    <a:pt x="28" y="1007"/>
                  </a:lnTo>
                  <a:lnTo>
                    <a:pt x="28" y="1009"/>
                  </a:lnTo>
                  <a:lnTo>
                    <a:pt x="28" y="1011"/>
                  </a:lnTo>
                  <a:lnTo>
                    <a:pt x="28" y="1013"/>
                  </a:lnTo>
                  <a:lnTo>
                    <a:pt x="28" y="1015"/>
                  </a:lnTo>
                  <a:lnTo>
                    <a:pt x="30" y="1015"/>
                  </a:lnTo>
                  <a:lnTo>
                    <a:pt x="30" y="1017"/>
                  </a:lnTo>
                  <a:lnTo>
                    <a:pt x="30" y="1019"/>
                  </a:lnTo>
                  <a:lnTo>
                    <a:pt x="32" y="1021"/>
                  </a:lnTo>
                  <a:lnTo>
                    <a:pt x="32" y="1023"/>
                  </a:lnTo>
                  <a:lnTo>
                    <a:pt x="32" y="1025"/>
                  </a:lnTo>
                  <a:lnTo>
                    <a:pt x="34" y="1027"/>
                  </a:lnTo>
                  <a:lnTo>
                    <a:pt x="34" y="1028"/>
                  </a:lnTo>
                  <a:lnTo>
                    <a:pt x="34" y="1030"/>
                  </a:lnTo>
                  <a:lnTo>
                    <a:pt x="36" y="1032"/>
                  </a:lnTo>
                  <a:lnTo>
                    <a:pt x="36" y="1034"/>
                  </a:lnTo>
                  <a:lnTo>
                    <a:pt x="38" y="1036"/>
                  </a:lnTo>
                  <a:lnTo>
                    <a:pt x="38" y="1040"/>
                  </a:lnTo>
                  <a:lnTo>
                    <a:pt x="40" y="1042"/>
                  </a:lnTo>
                  <a:lnTo>
                    <a:pt x="40" y="1046"/>
                  </a:lnTo>
                  <a:lnTo>
                    <a:pt x="42" y="1050"/>
                  </a:lnTo>
                  <a:lnTo>
                    <a:pt x="44" y="1053"/>
                  </a:lnTo>
                  <a:lnTo>
                    <a:pt x="46" y="1057"/>
                  </a:lnTo>
                  <a:lnTo>
                    <a:pt x="48" y="1061"/>
                  </a:lnTo>
                  <a:lnTo>
                    <a:pt x="48" y="1065"/>
                  </a:lnTo>
                  <a:lnTo>
                    <a:pt x="50" y="1071"/>
                  </a:lnTo>
                  <a:lnTo>
                    <a:pt x="52" y="1074"/>
                  </a:lnTo>
                  <a:lnTo>
                    <a:pt x="55" y="1078"/>
                  </a:lnTo>
                  <a:lnTo>
                    <a:pt x="57" y="1082"/>
                  </a:lnTo>
                  <a:lnTo>
                    <a:pt x="59" y="1084"/>
                  </a:lnTo>
                  <a:lnTo>
                    <a:pt x="61" y="1088"/>
                  </a:lnTo>
                  <a:lnTo>
                    <a:pt x="63" y="1090"/>
                  </a:lnTo>
                  <a:lnTo>
                    <a:pt x="65" y="1092"/>
                  </a:lnTo>
                  <a:lnTo>
                    <a:pt x="69" y="1094"/>
                  </a:lnTo>
                  <a:lnTo>
                    <a:pt x="71" y="1096"/>
                  </a:lnTo>
                  <a:lnTo>
                    <a:pt x="73" y="1098"/>
                  </a:lnTo>
                  <a:lnTo>
                    <a:pt x="75" y="1099"/>
                  </a:lnTo>
                  <a:lnTo>
                    <a:pt x="78" y="1099"/>
                  </a:lnTo>
                  <a:lnTo>
                    <a:pt x="80" y="1101"/>
                  </a:lnTo>
                  <a:lnTo>
                    <a:pt x="82" y="1101"/>
                  </a:lnTo>
                  <a:lnTo>
                    <a:pt x="84" y="1101"/>
                  </a:lnTo>
                  <a:lnTo>
                    <a:pt x="86" y="1103"/>
                  </a:lnTo>
                  <a:lnTo>
                    <a:pt x="88" y="1103"/>
                  </a:lnTo>
                  <a:lnTo>
                    <a:pt x="90" y="1103"/>
                  </a:lnTo>
                  <a:lnTo>
                    <a:pt x="92" y="1103"/>
                  </a:lnTo>
                  <a:lnTo>
                    <a:pt x="94" y="1103"/>
                  </a:lnTo>
                  <a:lnTo>
                    <a:pt x="96" y="1103"/>
                  </a:lnTo>
                  <a:lnTo>
                    <a:pt x="98" y="1103"/>
                  </a:lnTo>
                  <a:lnTo>
                    <a:pt x="100" y="1103"/>
                  </a:lnTo>
                  <a:lnTo>
                    <a:pt x="101" y="1103"/>
                  </a:lnTo>
                  <a:lnTo>
                    <a:pt x="103" y="1101"/>
                  </a:lnTo>
                  <a:lnTo>
                    <a:pt x="105" y="1101"/>
                  </a:lnTo>
                  <a:lnTo>
                    <a:pt x="188" y="1084"/>
                  </a:lnTo>
                  <a:lnTo>
                    <a:pt x="268" y="12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headEnd/>
              <a:tailEnd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vert="horz" wrap="square" lIns="44450" tIns="274320" rIns="44450" bIns="444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36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הנגשת</a:t>
              </a: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תוצרי נתונים 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1046D0AB-6A9C-4FC4-99BB-D86F43C15C04}"/>
                </a:ext>
              </a:extLst>
            </p:cNvPr>
            <p:cNvSpPr>
              <a:spLocks/>
            </p:cNvSpPr>
            <p:nvPr/>
          </p:nvSpPr>
          <p:spPr bwMode="gray">
            <a:xfrm rot="107936" flipH="1">
              <a:off x="1663504" y="3736349"/>
              <a:ext cx="1478981" cy="1493739"/>
            </a:xfrm>
            <a:custGeom>
              <a:avLst/>
              <a:gdLst/>
              <a:ahLst/>
              <a:cxnLst>
                <a:cxn ang="0">
                  <a:pos x="232" y="1261"/>
                </a:cxn>
                <a:cxn ang="0">
                  <a:pos x="213" y="1318"/>
                </a:cxn>
                <a:cxn ang="0">
                  <a:pos x="242" y="1353"/>
                </a:cxn>
                <a:cxn ang="0">
                  <a:pos x="309" y="1389"/>
                </a:cxn>
                <a:cxn ang="0">
                  <a:pos x="520" y="1407"/>
                </a:cxn>
                <a:cxn ang="0">
                  <a:pos x="514" y="1485"/>
                </a:cxn>
                <a:cxn ang="0">
                  <a:pos x="539" y="1527"/>
                </a:cxn>
                <a:cxn ang="0">
                  <a:pos x="591" y="1541"/>
                </a:cxn>
                <a:cxn ang="0">
                  <a:pos x="654" y="1526"/>
                </a:cxn>
                <a:cxn ang="0">
                  <a:pos x="850" y="1476"/>
                </a:cxn>
                <a:cxn ang="0">
                  <a:pos x="883" y="1543"/>
                </a:cxn>
                <a:cxn ang="0">
                  <a:pos x="925" y="1552"/>
                </a:cxn>
                <a:cxn ang="0">
                  <a:pos x="998" y="1529"/>
                </a:cxn>
                <a:cxn ang="0">
                  <a:pos x="1136" y="1341"/>
                </a:cxn>
                <a:cxn ang="0">
                  <a:pos x="1186" y="1384"/>
                </a:cxn>
                <a:cxn ang="0">
                  <a:pos x="1242" y="1410"/>
                </a:cxn>
                <a:cxn ang="0">
                  <a:pos x="1278" y="1387"/>
                </a:cxn>
                <a:cxn ang="0">
                  <a:pos x="1324" y="1324"/>
                </a:cxn>
                <a:cxn ang="0">
                  <a:pos x="1368" y="1115"/>
                </a:cxn>
                <a:cxn ang="0">
                  <a:pos x="1443" y="1132"/>
                </a:cxn>
                <a:cxn ang="0">
                  <a:pos x="1489" y="1113"/>
                </a:cxn>
                <a:cxn ang="0">
                  <a:pos x="1507" y="1073"/>
                </a:cxn>
                <a:cxn ang="0">
                  <a:pos x="1507" y="1002"/>
                </a:cxn>
                <a:cxn ang="0">
                  <a:pos x="1457" y="802"/>
                </a:cxn>
                <a:cxn ang="0">
                  <a:pos x="1534" y="781"/>
                </a:cxn>
                <a:cxn ang="0">
                  <a:pos x="1560" y="742"/>
                </a:cxn>
                <a:cxn ang="0">
                  <a:pos x="1557" y="689"/>
                </a:cxn>
                <a:cxn ang="0">
                  <a:pos x="1520" y="637"/>
                </a:cxn>
                <a:cxn ang="0">
                  <a:pos x="1403" y="472"/>
                </a:cxn>
                <a:cxn ang="0">
                  <a:pos x="1455" y="418"/>
                </a:cxn>
                <a:cxn ang="0">
                  <a:pos x="1449" y="374"/>
                </a:cxn>
                <a:cxn ang="0">
                  <a:pos x="1403" y="316"/>
                </a:cxn>
                <a:cxn ang="0">
                  <a:pos x="1282" y="351"/>
                </a:cxn>
                <a:cxn ang="0">
                  <a:pos x="1194" y="197"/>
                </a:cxn>
                <a:cxn ang="0">
                  <a:pos x="1201" y="132"/>
                </a:cxn>
                <a:cxn ang="0">
                  <a:pos x="1176" y="107"/>
                </a:cxn>
                <a:cxn ang="0">
                  <a:pos x="1105" y="80"/>
                </a:cxn>
                <a:cxn ang="0">
                  <a:pos x="881" y="124"/>
                </a:cxn>
                <a:cxn ang="0">
                  <a:pos x="871" y="53"/>
                </a:cxn>
                <a:cxn ang="0">
                  <a:pos x="841" y="5"/>
                </a:cxn>
                <a:cxn ang="0">
                  <a:pos x="798" y="0"/>
                </a:cxn>
                <a:cxn ang="0">
                  <a:pos x="727" y="21"/>
                </a:cxn>
                <a:cxn ang="0">
                  <a:pos x="554" y="140"/>
                </a:cxn>
                <a:cxn ang="0">
                  <a:pos x="508" y="78"/>
                </a:cxn>
                <a:cxn ang="0">
                  <a:pos x="462" y="67"/>
                </a:cxn>
                <a:cxn ang="0">
                  <a:pos x="403" y="98"/>
                </a:cxn>
                <a:cxn ang="0">
                  <a:pos x="380" y="149"/>
                </a:cxn>
                <a:cxn ang="0">
                  <a:pos x="263" y="309"/>
                </a:cxn>
                <a:cxn ang="0">
                  <a:pos x="194" y="284"/>
                </a:cxn>
                <a:cxn ang="0">
                  <a:pos x="157" y="307"/>
                </a:cxn>
                <a:cxn ang="0">
                  <a:pos x="119" y="372"/>
                </a:cxn>
                <a:cxn ang="0">
                  <a:pos x="142" y="602"/>
                </a:cxn>
                <a:cxn ang="0">
                  <a:pos x="75" y="604"/>
                </a:cxn>
                <a:cxn ang="0">
                  <a:pos x="17" y="622"/>
                </a:cxn>
                <a:cxn ang="0">
                  <a:pos x="4" y="664"/>
                </a:cxn>
                <a:cxn ang="0">
                  <a:pos x="13" y="741"/>
                </a:cxn>
                <a:cxn ang="0">
                  <a:pos x="119" y="927"/>
                </a:cxn>
                <a:cxn ang="0">
                  <a:pos x="50" y="963"/>
                </a:cxn>
                <a:cxn ang="0">
                  <a:pos x="28" y="1007"/>
                </a:cxn>
                <a:cxn ang="0">
                  <a:pos x="46" y="1057"/>
                </a:cxn>
                <a:cxn ang="0">
                  <a:pos x="92" y="1103"/>
                </a:cxn>
              </a:cxnLst>
              <a:rect l="0" t="0" r="r" b="b"/>
              <a:pathLst>
                <a:path w="1562" h="1554">
                  <a:moveTo>
                    <a:pt x="268" y="1205"/>
                  </a:moveTo>
                  <a:lnTo>
                    <a:pt x="267" y="1207"/>
                  </a:lnTo>
                  <a:lnTo>
                    <a:pt x="265" y="1209"/>
                  </a:lnTo>
                  <a:lnTo>
                    <a:pt x="265" y="1211"/>
                  </a:lnTo>
                  <a:lnTo>
                    <a:pt x="263" y="1213"/>
                  </a:lnTo>
                  <a:lnTo>
                    <a:pt x="263" y="1215"/>
                  </a:lnTo>
                  <a:lnTo>
                    <a:pt x="261" y="1217"/>
                  </a:lnTo>
                  <a:lnTo>
                    <a:pt x="259" y="1218"/>
                  </a:lnTo>
                  <a:lnTo>
                    <a:pt x="257" y="1220"/>
                  </a:lnTo>
                  <a:lnTo>
                    <a:pt x="255" y="1224"/>
                  </a:lnTo>
                  <a:lnTo>
                    <a:pt x="253" y="1226"/>
                  </a:lnTo>
                  <a:lnTo>
                    <a:pt x="251" y="1228"/>
                  </a:lnTo>
                  <a:lnTo>
                    <a:pt x="249" y="1232"/>
                  </a:lnTo>
                  <a:lnTo>
                    <a:pt x="247" y="1236"/>
                  </a:lnTo>
                  <a:lnTo>
                    <a:pt x="245" y="1238"/>
                  </a:lnTo>
                  <a:lnTo>
                    <a:pt x="243" y="1241"/>
                  </a:lnTo>
                  <a:lnTo>
                    <a:pt x="242" y="1243"/>
                  </a:lnTo>
                  <a:lnTo>
                    <a:pt x="240" y="1247"/>
                  </a:lnTo>
                  <a:lnTo>
                    <a:pt x="238" y="1251"/>
                  </a:lnTo>
                  <a:lnTo>
                    <a:pt x="236" y="1253"/>
                  </a:lnTo>
                  <a:lnTo>
                    <a:pt x="234" y="1257"/>
                  </a:lnTo>
                  <a:lnTo>
                    <a:pt x="232" y="1261"/>
                  </a:lnTo>
                  <a:lnTo>
                    <a:pt x="230" y="1265"/>
                  </a:lnTo>
                  <a:lnTo>
                    <a:pt x="226" y="1266"/>
                  </a:lnTo>
                  <a:lnTo>
                    <a:pt x="224" y="1270"/>
                  </a:lnTo>
                  <a:lnTo>
                    <a:pt x="222" y="1274"/>
                  </a:lnTo>
                  <a:lnTo>
                    <a:pt x="220" y="1276"/>
                  </a:lnTo>
                  <a:lnTo>
                    <a:pt x="220" y="1280"/>
                  </a:lnTo>
                  <a:lnTo>
                    <a:pt x="219" y="1282"/>
                  </a:lnTo>
                  <a:lnTo>
                    <a:pt x="217" y="1286"/>
                  </a:lnTo>
                  <a:lnTo>
                    <a:pt x="215" y="1288"/>
                  </a:lnTo>
                  <a:lnTo>
                    <a:pt x="213" y="1289"/>
                  </a:lnTo>
                  <a:lnTo>
                    <a:pt x="213" y="1293"/>
                  </a:lnTo>
                  <a:lnTo>
                    <a:pt x="213" y="1295"/>
                  </a:lnTo>
                  <a:lnTo>
                    <a:pt x="211" y="1299"/>
                  </a:lnTo>
                  <a:lnTo>
                    <a:pt x="211" y="1301"/>
                  </a:lnTo>
                  <a:lnTo>
                    <a:pt x="211" y="1303"/>
                  </a:lnTo>
                  <a:lnTo>
                    <a:pt x="211" y="1305"/>
                  </a:lnTo>
                  <a:lnTo>
                    <a:pt x="211" y="1309"/>
                  </a:lnTo>
                  <a:lnTo>
                    <a:pt x="211" y="1311"/>
                  </a:lnTo>
                  <a:lnTo>
                    <a:pt x="211" y="1312"/>
                  </a:lnTo>
                  <a:lnTo>
                    <a:pt x="213" y="1314"/>
                  </a:lnTo>
                  <a:lnTo>
                    <a:pt x="213" y="1316"/>
                  </a:lnTo>
                  <a:lnTo>
                    <a:pt x="213" y="1318"/>
                  </a:lnTo>
                  <a:lnTo>
                    <a:pt x="215" y="1320"/>
                  </a:lnTo>
                  <a:lnTo>
                    <a:pt x="215" y="1322"/>
                  </a:lnTo>
                  <a:lnTo>
                    <a:pt x="215" y="1324"/>
                  </a:lnTo>
                  <a:lnTo>
                    <a:pt x="217" y="1326"/>
                  </a:lnTo>
                  <a:lnTo>
                    <a:pt x="217" y="1328"/>
                  </a:lnTo>
                  <a:lnTo>
                    <a:pt x="219" y="1330"/>
                  </a:lnTo>
                  <a:lnTo>
                    <a:pt x="219" y="1332"/>
                  </a:lnTo>
                  <a:lnTo>
                    <a:pt x="220" y="1334"/>
                  </a:lnTo>
                  <a:lnTo>
                    <a:pt x="222" y="1336"/>
                  </a:lnTo>
                  <a:lnTo>
                    <a:pt x="222" y="1337"/>
                  </a:lnTo>
                  <a:lnTo>
                    <a:pt x="224" y="1337"/>
                  </a:lnTo>
                  <a:lnTo>
                    <a:pt x="224" y="1339"/>
                  </a:lnTo>
                  <a:lnTo>
                    <a:pt x="226" y="1339"/>
                  </a:lnTo>
                  <a:lnTo>
                    <a:pt x="226" y="1341"/>
                  </a:lnTo>
                  <a:lnTo>
                    <a:pt x="228" y="1341"/>
                  </a:lnTo>
                  <a:lnTo>
                    <a:pt x="230" y="1343"/>
                  </a:lnTo>
                  <a:lnTo>
                    <a:pt x="232" y="1345"/>
                  </a:lnTo>
                  <a:lnTo>
                    <a:pt x="234" y="1345"/>
                  </a:lnTo>
                  <a:lnTo>
                    <a:pt x="236" y="1347"/>
                  </a:lnTo>
                  <a:lnTo>
                    <a:pt x="236" y="1349"/>
                  </a:lnTo>
                  <a:lnTo>
                    <a:pt x="238" y="1351"/>
                  </a:lnTo>
                  <a:lnTo>
                    <a:pt x="242" y="1353"/>
                  </a:lnTo>
                  <a:lnTo>
                    <a:pt x="243" y="1355"/>
                  </a:lnTo>
                  <a:lnTo>
                    <a:pt x="245" y="1357"/>
                  </a:lnTo>
                  <a:lnTo>
                    <a:pt x="247" y="1359"/>
                  </a:lnTo>
                  <a:lnTo>
                    <a:pt x="251" y="1360"/>
                  </a:lnTo>
                  <a:lnTo>
                    <a:pt x="253" y="1362"/>
                  </a:lnTo>
                  <a:lnTo>
                    <a:pt x="257" y="1366"/>
                  </a:lnTo>
                  <a:lnTo>
                    <a:pt x="261" y="1368"/>
                  </a:lnTo>
                  <a:lnTo>
                    <a:pt x="265" y="1372"/>
                  </a:lnTo>
                  <a:lnTo>
                    <a:pt x="268" y="1376"/>
                  </a:lnTo>
                  <a:lnTo>
                    <a:pt x="272" y="1378"/>
                  </a:lnTo>
                  <a:lnTo>
                    <a:pt x="274" y="1380"/>
                  </a:lnTo>
                  <a:lnTo>
                    <a:pt x="278" y="1384"/>
                  </a:lnTo>
                  <a:lnTo>
                    <a:pt x="282" y="1384"/>
                  </a:lnTo>
                  <a:lnTo>
                    <a:pt x="286" y="1385"/>
                  </a:lnTo>
                  <a:lnTo>
                    <a:pt x="288" y="1387"/>
                  </a:lnTo>
                  <a:lnTo>
                    <a:pt x="291" y="1387"/>
                  </a:lnTo>
                  <a:lnTo>
                    <a:pt x="295" y="1389"/>
                  </a:lnTo>
                  <a:lnTo>
                    <a:pt x="297" y="1389"/>
                  </a:lnTo>
                  <a:lnTo>
                    <a:pt x="301" y="1389"/>
                  </a:lnTo>
                  <a:lnTo>
                    <a:pt x="303" y="1389"/>
                  </a:lnTo>
                  <a:lnTo>
                    <a:pt x="305" y="1389"/>
                  </a:lnTo>
                  <a:lnTo>
                    <a:pt x="309" y="1389"/>
                  </a:lnTo>
                  <a:lnTo>
                    <a:pt x="311" y="1389"/>
                  </a:lnTo>
                  <a:lnTo>
                    <a:pt x="313" y="1387"/>
                  </a:lnTo>
                  <a:lnTo>
                    <a:pt x="315" y="1387"/>
                  </a:lnTo>
                  <a:lnTo>
                    <a:pt x="316" y="1387"/>
                  </a:lnTo>
                  <a:lnTo>
                    <a:pt x="318" y="1385"/>
                  </a:lnTo>
                  <a:lnTo>
                    <a:pt x="320" y="1385"/>
                  </a:lnTo>
                  <a:lnTo>
                    <a:pt x="322" y="1384"/>
                  </a:lnTo>
                  <a:lnTo>
                    <a:pt x="324" y="1384"/>
                  </a:lnTo>
                  <a:lnTo>
                    <a:pt x="326" y="1382"/>
                  </a:lnTo>
                  <a:lnTo>
                    <a:pt x="328" y="1380"/>
                  </a:lnTo>
                  <a:lnTo>
                    <a:pt x="330" y="1378"/>
                  </a:lnTo>
                  <a:lnTo>
                    <a:pt x="332" y="1378"/>
                  </a:lnTo>
                  <a:lnTo>
                    <a:pt x="332" y="1376"/>
                  </a:lnTo>
                  <a:lnTo>
                    <a:pt x="393" y="1324"/>
                  </a:lnTo>
                  <a:lnTo>
                    <a:pt x="522" y="1393"/>
                  </a:lnTo>
                  <a:lnTo>
                    <a:pt x="522" y="1395"/>
                  </a:lnTo>
                  <a:lnTo>
                    <a:pt x="522" y="1397"/>
                  </a:lnTo>
                  <a:lnTo>
                    <a:pt x="522" y="1399"/>
                  </a:lnTo>
                  <a:lnTo>
                    <a:pt x="522" y="1401"/>
                  </a:lnTo>
                  <a:lnTo>
                    <a:pt x="522" y="1403"/>
                  </a:lnTo>
                  <a:lnTo>
                    <a:pt x="522" y="1405"/>
                  </a:lnTo>
                  <a:lnTo>
                    <a:pt x="520" y="1407"/>
                  </a:lnTo>
                  <a:lnTo>
                    <a:pt x="520" y="1410"/>
                  </a:lnTo>
                  <a:lnTo>
                    <a:pt x="520" y="1412"/>
                  </a:lnTo>
                  <a:lnTo>
                    <a:pt x="520" y="1416"/>
                  </a:lnTo>
                  <a:lnTo>
                    <a:pt x="520" y="1418"/>
                  </a:lnTo>
                  <a:lnTo>
                    <a:pt x="520" y="1422"/>
                  </a:lnTo>
                  <a:lnTo>
                    <a:pt x="518" y="1426"/>
                  </a:lnTo>
                  <a:lnTo>
                    <a:pt x="518" y="1430"/>
                  </a:lnTo>
                  <a:lnTo>
                    <a:pt x="518" y="1433"/>
                  </a:lnTo>
                  <a:lnTo>
                    <a:pt x="518" y="1437"/>
                  </a:lnTo>
                  <a:lnTo>
                    <a:pt x="518" y="1441"/>
                  </a:lnTo>
                  <a:lnTo>
                    <a:pt x="516" y="1445"/>
                  </a:lnTo>
                  <a:lnTo>
                    <a:pt x="516" y="1449"/>
                  </a:lnTo>
                  <a:lnTo>
                    <a:pt x="516" y="1453"/>
                  </a:lnTo>
                  <a:lnTo>
                    <a:pt x="516" y="1456"/>
                  </a:lnTo>
                  <a:lnTo>
                    <a:pt x="516" y="1460"/>
                  </a:lnTo>
                  <a:lnTo>
                    <a:pt x="514" y="1464"/>
                  </a:lnTo>
                  <a:lnTo>
                    <a:pt x="514" y="1466"/>
                  </a:lnTo>
                  <a:lnTo>
                    <a:pt x="514" y="1470"/>
                  </a:lnTo>
                  <a:lnTo>
                    <a:pt x="514" y="1474"/>
                  </a:lnTo>
                  <a:lnTo>
                    <a:pt x="514" y="1478"/>
                  </a:lnTo>
                  <a:lnTo>
                    <a:pt x="514" y="1481"/>
                  </a:lnTo>
                  <a:lnTo>
                    <a:pt x="514" y="1485"/>
                  </a:lnTo>
                  <a:lnTo>
                    <a:pt x="514" y="1487"/>
                  </a:lnTo>
                  <a:lnTo>
                    <a:pt x="514" y="1491"/>
                  </a:lnTo>
                  <a:lnTo>
                    <a:pt x="514" y="1493"/>
                  </a:lnTo>
                  <a:lnTo>
                    <a:pt x="514" y="1497"/>
                  </a:lnTo>
                  <a:lnTo>
                    <a:pt x="514" y="1499"/>
                  </a:lnTo>
                  <a:lnTo>
                    <a:pt x="516" y="1501"/>
                  </a:lnTo>
                  <a:lnTo>
                    <a:pt x="516" y="1504"/>
                  </a:lnTo>
                  <a:lnTo>
                    <a:pt x="518" y="1506"/>
                  </a:lnTo>
                  <a:lnTo>
                    <a:pt x="520" y="1508"/>
                  </a:lnTo>
                  <a:lnTo>
                    <a:pt x="520" y="1510"/>
                  </a:lnTo>
                  <a:lnTo>
                    <a:pt x="522" y="1512"/>
                  </a:lnTo>
                  <a:lnTo>
                    <a:pt x="524" y="1514"/>
                  </a:lnTo>
                  <a:lnTo>
                    <a:pt x="524" y="1516"/>
                  </a:lnTo>
                  <a:lnTo>
                    <a:pt x="526" y="1518"/>
                  </a:lnTo>
                  <a:lnTo>
                    <a:pt x="528" y="1520"/>
                  </a:lnTo>
                  <a:lnTo>
                    <a:pt x="530" y="1520"/>
                  </a:lnTo>
                  <a:lnTo>
                    <a:pt x="530" y="1522"/>
                  </a:lnTo>
                  <a:lnTo>
                    <a:pt x="531" y="1524"/>
                  </a:lnTo>
                  <a:lnTo>
                    <a:pt x="533" y="1524"/>
                  </a:lnTo>
                  <a:lnTo>
                    <a:pt x="535" y="1526"/>
                  </a:lnTo>
                  <a:lnTo>
                    <a:pt x="537" y="1527"/>
                  </a:lnTo>
                  <a:lnTo>
                    <a:pt x="539" y="1527"/>
                  </a:lnTo>
                  <a:lnTo>
                    <a:pt x="541" y="1529"/>
                  </a:lnTo>
                  <a:lnTo>
                    <a:pt x="543" y="1529"/>
                  </a:lnTo>
                  <a:lnTo>
                    <a:pt x="545" y="1529"/>
                  </a:lnTo>
                  <a:lnTo>
                    <a:pt x="545" y="1531"/>
                  </a:lnTo>
                  <a:lnTo>
                    <a:pt x="547" y="1531"/>
                  </a:lnTo>
                  <a:lnTo>
                    <a:pt x="549" y="1531"/>
                  </a:lnTo>
                  <a:lnTo>
                    <a:pt x="551" y="1531"/>
                  </a:lnTo>
                  <a:lnTo>
                    <a:pt x="553" y="1533"/>
                  </a:lnTo>
                  <a:lnTo>
                    <a:pt x="554" y="1533"/>
                  </a:lnTo>
                  <a:lnTo>
                    <a:pt x="556" y="1533"/>
                  </a:lnTo>
                  <a:lnTo>
                    <a:pt x="558" y="1533"/>
                  </a:lnTo>
                  <a:lnTo>
                    <a:pt x="560" y="1533"/>
                  </a:lnTo>
                  <a:lnTo>
                    <a:pt x="562" y="1535"/>
                  </a:lnTo>
                  <a:lnTo>
                    <a:pt x="564" y="1535"/>
                  </a:lnTo>
                  <a:lnTo>
                    <a:pt x="566" y="1535"/>
                  </a:lnTo>
                  <a:lnTo>
                    <a:pt x="570" y="1537"/>
                  </a:lnTo>
                  <a:lnTo>
                    <a:pt x="572" y="1537"/>
                  </a:lnTo>
                  <a:lnTo>
                    <a:pt x="576" y="1537"/>
                  </a:lnTo>
                  <a:lnTo>
                    <a:pt x="579" y="1539"/>
                  </a:lnTo>
                  <a:lnTo>
                    <a:pt x="583" y="1539"/>
                  </a:lnTo>
                  <a:lnTo>
                    <a:pt x="587" y="1541"/>
                  </a:lnTo>
                  <a:lnTo>
                    <a:pt x="591" y="1541"/>
                  </a:lnTo>
                  <a:lnTo>
                    <a:pt x="597" y="1543"/>
                  </a:lnTo>
                  <a:lnTo>
                    <a:pt x="601" y="1543"/>
                  </a:lnTo>
                  <a:lnTo>
                    <a:pt x="604" y="1545"/>
                  </a:lnTo>
                  <a:lnTo>
                    <a:pt x="610" y="1545"/>
                  </a:lnTo>
                  <a:lnTo>
                    <a:pt x="614" y="1545"/>
                  </a:lnTo>
                  <a:lnTo>
                    <a:pt x="618" y="1545"/>
                  </a:lnTo>
                  <a:lnTo>
                    <a:pt x="622" y="1545"/>
                  </a:lnTo>
                  <a:lnTo>
                    <a:pt x="624" y="1545"/>
                  </a:lnTo>
                  <a:lnTo>
                    <a:pt x="627" y="1545"/>
                  </a:lnTo>
                  <a:lnTo>
                    <a:pt x="631" y="1543"/>
                  </a:lnTo>
                  <a:lnTo>
                    <a:pt x="633" y="1543"/>
                  </a:lnTo>
                  <a:lnTo>
                    <a:pt x="637" y="1541"/>
                  </a:lnTo>
                  <a:lnTo>
                    <a:pt x="639" y="1539"/>
                  </a:lnTo>
                  <a:lnTo>
                    <a:pt x="641" y="1539"/>
                  </a:lnTo>
                  <a:lnTo>
                    <a:pt x="643" y="1537"/>
                  </a:lnTo>
                  <a:lnTo>
                    <a:pt x="645" y="1535"/>
                  </a:lnTo>
                  <a:lnTo>
                    <a:pt x="647" y="1533"/>
                  </a:lnTo>
                  <a:lnTo>
                    <a:pt x="649" y="1533"/>
                  </a:lnTo>
                  <a:lnTo>
                    <a:pt x="650" y="1531"/>
                  </a:lnTo>
                  <a:lnTo>
                    <a:pt x="650" y="1529"/>
                  </a:lnTo>
                  <a:lnTo>
                    <a:pt x="652" y="1527"/>
                  </a:lnTo>
                  <a:lnTo>
                    <a:pt x="654" y="1526"/>
                  </a:lnTo>
                  <a:lnTo>
                    <a:pt x="654" y="1524"/>
                  </a:lnTo>
                  <a:lnTo>
                    <a:pt x="656" y="1524"/>
                  </a:lnTo>
                  <a:lnTo>
                    <a:pt x="656" y="1522"/>
                  </a:lnTo>
                  <a:lnTo>
                    <a:pt x="656" y="1520"/>
                  </a:lnTo>
                  <a:lnTo>
                    <a:pt x="658" y="1520"/>
                  </a:lnTo>
                  <a:lnTo>
                    <a:pt x="658" y="1518"/>
                  </a:lnTo>
                  <a:lnTo>
                    <a:pt x="658" y="1516"/>
                  </a:lnTo>
                  <a:lnTo>
                    <a:pt x="691" y="1441"/>
                  </a:lnTo>
                  <a:lnTo>
                    <a:pt x="837" y="1443"/>
                  </a:lnTo>
                  <a:lnTo>
                    <a:pt x="837" y="1445"/>
                  </a:lnTo>
                  <a:lnTo>
                    <a:pt x="839" y="1447"/>
                  </a:lnTo>
                  <a:lnTo>
                    <a:pt x="839" y="1449"/>
                  </a:lnTo>
                  <a:lnTo>
                    <a:pt x="841" y="1451"/>
                  </a:lnTo>
                  <a:lnTo>
                    <a:pt x="841" y="1453"/>
                  </a:lnTo>
                  <a:lnTo>
                    <a:pt x="842" y="1456"/>
                  </a:lnTo>
                  <a:lnTo>
                    <a:pt x="842" y="1458"/>
                  </a:lnTo>
                  <a:lnTo>
                    <a:pt x="844" y="1460"/>
                  </a:lnTo>
                  <a:lnTo>
                    <a:pt x="844" y="1464"/>
                  </a:lnTo>
                  <a:lnTo>
                    <a:pt x="846" y="1466"/>
                  </a:lnTo>
                  <a:lnTo>
                    <a:pt x="846" y="1470"/>
                  </a:lnTo>
                  <a:lnTo>
                    <a:pt x="848" y="1472"/>
                  </a:lnTo>
                  <a:lnTo>
                    <a:pt x="850" y="1476"/>
                  </a:lnTo>
                  <a:lnTo>
                    <a:pt x="850" y="1479"/>
                  </a:lnTo>
                  <a:lnTo>
                    <a:pt x="852" y="1483"/>
                  </a:lnTo>
                  <a:lnTo>
                    <a:pt x="854" y="1485"/>
                  </a:lnTo>
                  <a:lnTo>
                    <a:pt x="856" y="1489"/>
                  </a:lnTo>
                  <a:lnTo>
                    <a:pt x="856" y="1493"/>
                  </a:lnTo>
                  <a:lnTo>
                    <a:pt x="858" y="1497"/>
                  </a:lnTo>
                  <a:lnTo>
                    <a:pt x="860" y="1501"/>
                  </a:lnTo>
                  <a:lnTo>
                    <a:pt x="862" y="1503"/>
                  </a:lnTo>
                  <a:lnTo>
                    <a:pt x="862" y="1506"/>
                  </a:lnTo>
                  <a:lnTo>
                    <a:pt x="864" y="1510"/>
                  </a:lnTo>
                  <a:lnTo>
                    <a:pt x="865" y="1514"/>
                  </a:lnTo>
                  <a:lnTo>
                    <a:pt x="867" y="1516"/>
                  </a:lnTo>
                  <a:lnTo>
                    <a:pt x="867" y="1520"/>
                  </a:lnTo>
                  <a:lnTo>
                    <a:pt x="869" y="1524"/>
                  </a:lnTo>
                  <a:lnTo>
                    <a:pt x="871" y="1526"/>
                  </a:lnTo>
                  <a:lnTo>
                    <a:pt x="873" y="1529"/>
                  </a:lnTo>
                  <a:lnTo>
                    <a:pt x="873" y="1531"/>
                  </a:lnTo>
                  <a:lnTo>
                    <a:pt x="875" y="1533"/>
                  </a:lnTo>
                  <a:lnTo>
                    <a:pt x="877" y="1537"/>
                  </a:lnTo>
                  <a:lnTo>
                    <a:pt x="879" y="1539"/>
                  </a:lnTo>
                  <a:lnTo>
                    <a:pt x="881" y="1541"/>
                  </a:lnTo>
                  <a:lnTo>
                    <a:pt x="883" y="1543"/>
                  </a:lnTo>
                  <a:lnTo>
                    <a:pt x="885" y="1545"/>
                  </a:lnTo>
                  <a:lnTo>
                    <a:pt x="887" y="1545"/>
                  </a:lnTo>
                  <a:lnTo>
                    <a:pt x="889" y="1547"/>
                  </a:lnTo>
                  <a:lnTo>
                    <a:pt x="890" y="1549"/>
                  </a:lnTo>
                  <a:lnTo>
                    <a:pt x="892" y="1549"/>
                  </a:lnTo>
                  <a:lnTo>
                    <a:pt x="894" y="1550"/>
                  </a:lnTo>
                  <a:lnTo>
                    <a:pt x="896" y="1550"/>
                  </a:lnTo>
                  <a:lnTo>
                    <a:pt x="898" y="1550"/>
                  </a:lnTo>
                  <a:lnTo>
                    <a:pt x="900" y="1552"/>
                  </a:lnTo>
                  <a:lnTo>
                    <a:pt x="902" y="1552"/>
                  </a:lnTo>
                  <a:lnTo>
                    <a:pt x="904" y="1552"/>
                  </a:lnTo>
                  <a:lnTo>
                    <a:pt x="906" y="1552"/>
                  </a:lnTo>
                  <a:lnTo>
                    <a:pt x="908" y="1552"/>
                  </a:lnTo>
                  <a:lnTo>
                    <a:pt x="910" y="1552"/>
                  </a:lnTo>
                  <a:lnTo>
                    <a:pt x="912" y="1552"/>
                  </a:lnTo>
                  <a:lnTo>
                    <a:pt x="913" y="1554"/>
                  </a:lnTo>
                  <a:lnTo>
                    <a:pt x="915" y="1552"/>
                  </a:lnTo>
                  <a:lnTo>
                    <a:pt x="917" y="1552"/>
                  </a:lnTo>
                  <a:lnTo>
                    <a:pt x="919" y="1552"/>
                  </a:lnTo>
                  <a:lnTo>
                    <a:pt x="921" y="1552"/>
                  </a:lnTo>
                  <a:lnTo>
                    <a:pt x="923" y="1552"/>
                  </a:lnTo>
                  <a:lnTo>
                    <a:pt x="925" y="1552"/>
                  </a:lnTo>
                  <a:lnTo>
                    <a:pt x="927" y="1550"/>
                  </a:lnTo>
                  <a:lnTo>
                    <a:pt x="929" y="1550"/>
                  </a:lnTo>
                  <a:lnTo>
                    <a:pt x="931" y="1550"/>
                  </a:lnTo>
                  <a:lnTo>
                    <a:pt x="935" y="1550"/>
                  </a:lnTo>
                  <a:lnTo>
                    <a:pt x="936" y="1549"/>
                  </a:lnTo>
                  <a:lnTo>
                    <a:pt x="938" y="1549"/>
                  </a:lnTo>
                  <a:lnTo>
                    <a:pt x="940" y="1549"/>
                  </a:lnTo>
                  <a:lnTo>
                    <a:pt x="944" y="1547"/>
                  </a:lnTo>
                  <a:lnTo>
                    <a:pt x="946" y="1547"/>
                  </a:lnTo>
                  <a:lnTo>
                    <a:pt x="950" y="1547"/>
                  </a:lnTo>
                  <a:lnTo>
                    <a:pt x="954" y="1545"/>
                  </a:lnTo>
                  <a:lnTo>
                    <a:pt x="958" y="1545"/>
                  </a:lnTo>
                  <a:lnTo>
                    <a:pt x="961" y="1543"/>
                  </a:lnTo>
                  <a:lnTo>
                    <a:pt x="965" y="1543"/>
                  </a:lnTo>
                  <a:lnTo>
                    <a:pt x="971" y="1541"/>
                  </a:lnTo>
                  <a:lnTo>
                    <a:pt x="975" y="1539"/>
                  </a:lnTo>
                  <a:lnTo>
                    <a:pt x="981" y="1539"/>
                  </a:lnTo>
                  <a:lnTo>
                    <a:pt x="984" y="1537"/>
                  </a:lnTo>
                  <a:lnTo>
                    <a:pt x="988" y="1535"/>
                  </a:lnTo>
                  <a:lnTo>
                    <a:pt x="990" y="1533"/>
                  </a:lnTo>
                  <a:lnTo>
                    <a:pt x="994" y="1531"/>
                  </a:lnTo>
                  <a:lnTo>
                    <a:pt x="998" y="1529"/>
                  </a:lnTo>
                  <a:lnTo>
                    <a:pt x="1000" y="1527"/>
                  </a:lnTo>
                  <a:lnTo>
                    <a:pt x="1002" y="1526"/>
                  </a:lnTo>
                  <a:lnTo>
                    <a:pt x="1004" y="1522"/>
                  </a:lnTo>
                  <a:lnTo>
                    <a:pt x="1006" y="1520"/>
                  </a:lnTo>
                  <a:lnTo>
                    <a:pt x="1008" y="1518"/>
                  </a:lnTo>
                  <a:lnTo>
                    <a:pt x="1009" y="1516"/>
                  </a:lnTo>
                  <a:lnTo>
                    <a:pt x="1009" y="1514"/>
                  </a:lnTo>
                  <a:lnTo>
                    <a:pt x="1011" y="1512"/>
                  </a:lnTo>
                  <a:lnTo>
                    <a:pt x="1011" y="1508"/>
                  </a:lnTo>
                  <a:lnTo>
                    <a:pt x="1011" y="1506"/>
                  </a:lnTo>
                  <a:lnTo>
                    <a:pt x="1013" y="1504"/>
                  </a:lnTo>
                  <a:lnTo>
                    <a:pt x="1013" y="1503"/>
                  </a:lnTo>
                  <a:lnTo>
                    <a:pt x="1013" y="1501"/>
                  </a:lnTo>
                  <a:lnTo>
                    <a:pt x="1013" y="1499"/>
                  </a:lnTo>
                  <a:lnTo>
                    <a:pt x="1013" y="1497"/>
                  </a:lnTo>
                  <a:lnTo>
                    <a:pt x="1013" y="1495"/>
                  </a:lnTo>
                  <a:lnTo>
                    <a:pt x="1013" y="1493"/>
                  </a:lnTo>
                  <a:lnTo>
                    <a:pt x="1013" y="1491"/>
                  </a:lnTo>
                  <a:lnTo>
                    <a:pt x="1013" y="1489"/>
                  </a:lnTo>
                  <a:lnTo>
                    <a:pt x="1013" y="1487"/>
                  </a:lnTo>
                  <a:lnTo>
                    <a:pt x="1006" y="1407"/>
                  </a:lnTo>
                  <a:lnTo>
                    <a:pt x="1136" y="1341"/>
                  </a:lnTo>
                  <a:lnTo>
                    <a:pt x="1138" y="1341"/>
                  </a:lnTo>
                  <a:lnTo>
                    <a:pt x="1138" y="1343"/>
                  </a:lnTo>
                  <a:lnTo>
                    <a:pt x="1140" y="1343"/>
                  </a:lnTo>
                  <a:lnTo>
                    <a:pt x="1142" y="1345"/>
                  </a:lnTo>
                  <a:lnTo>
                    <a:pt x="1142" y="1347"/>
                  </a:lnTo>
                  <a:lnTo>
                    <a:pt x="1144" y="1349"/>
                  </a:lnTo>
                  <a:lnTo>
                    <a:pt x="1146" y="1349"/>
                  </a:lnTo>
                  <a:lnTo>
                    <a:pt x="1148" y="1351"/>
                  </a:lnTo>
                  <a:lnTo>
                    <a:pt x="1152" y="1353"/>
                  </a:lnTo>
                  <a:lnTo>
                    <a:pt x="1153" y="1355"/>
                  </a:lnTo>
                  <a:lnTo>
                    <a:pt x="1155" y="1359"/>
                  </a:lnTo>
                  <a:lnTo>
                    <a:pt x="1157" y="1360"/>
                  </a:lnTo>
                  <a:lnTo>
                    <a:pt x="1161" y="1362"/>
                  </a:lnTo>
                  <a:lnTo>
                    <a:pt x="1163" y="1364"/>
                  </a:lnTo>
                  <a:lnTo>
                    <a:pt x="1167" y="1366"/>
                  </a:lnTo>
                  <a:lnTo>
                    <a:pt x="1169" y="1370"/>
                  </a:lnTo>
                  <a:lnTo>
                    <a:pt x="1173" y="1372"/>
                  </a:lnTo>
                  <a:lnTo>
                    <a:pt x="1175" y="1374"/>
                  </a:lnTo>
                  <a:lnTo>
                    <a:pt x="1178" y="1376"/>
                  </a:lnTo>
                  <a:lnTo>
                    <a:pt x="1180" y="1380"/>
                  </a:lnTo>
                  <a:lnTo>
                    <a:pt x="1184" y="1382"/>
                  </a:lnTo>
                  <a:lnTo>
                    <a:pt x="1186" y="1384"/>
                  </a:lnTo>
                  <a:lnTo>
                    <a:pt x="1190" y="1387"/>
                  </a:lnTo>
                  <a:lnTo>
                    <a:pt x="1192" y="1389"/>
                  </a:lnTo>
                  <a:lnTo>
                    <a:pt x="1196" y="1391"/>
                  </a:lnTo>
                  <a:lnTo>
                    <a:pt x="1198" y="1393"/>
                  </a:lnTo>
                  <a:lnTo>
                    <a:pt x="1201" y="1397"/>
                  </a:lnTo>
                  <a:lnTo>
                    <a:pt x="1203" y="1399"/>
                  </a:lnTo>
                  <a:lnTo>
                    <a:pt x="1205" y="1401"/>
                  </a:lnTo>
                  <a:lnTo>
                    <a:pt x="1209" y="1403"/>
                  </a:lnTo>
                  <a:lnTo>
                    <a:pt x="1211" y="1405"/>
                  </a:lnTo>
                  <a:lnTo>
                    <a:pt x="1213" y="1405"/>
                  </a:lnTo>
                  <a:lnTo>
                    <a:pt x="1217" y="1407"/>
                  </a:lnTo>
                  <a:lnTo>
                    <a:pt x="1219" y="1408"/>
                  </a:lnTo>
                  <a:lnTo>
                    <a:pt x="1221" y="1408"/>
                  </a:lnTo>
                  <a:lnTo>
                    <a:pt x="1224" y="1408"/>
                  </a:lnTo>
                  <a:lnTo>
                    <a:pt x="1226" y="1410"/>
                  </a:lnTo>
                  <a:lnTo>
                    <a:pt x="1228" y="1410"/>
                  </a:lnTo>
                  <a:lnTo>
                    <a:pt x="1230" y="1410"/>
                  </a:lnTo>
                  <a:lnTo>
                    <a:pt x="1232" y="1410"/>
                  </a:lnTo>
                  <a:lnTo>
                    <a:pt x="1236" y="1410"/>
                  </a:lnTo>
                  <a:lnTo>
                    <a:pt x="1238" y="1410"/>
                  </a:lnTo>
                  <a:lnTo>
                    <a:pt x="1240" y="1410"/>
                  </a:lnTo>
                  <a:lnTo>
                    <a:pt x="1242" y="1410"/>
                  </a:lnTo>
                  <a:lnTo>
                    <a:pt x="1244" y="1408"/>
                  </a:lnTo>
                  <a:lnTo>
                    <a:pt x="1246" y="1408"/>
                  </a:lnTo>
                  <a:lnTo>
                    <a:pt x="1247" y="1408"/>
                  </a:lnTo>
                  <a:lnTo>
                    <a:pt x="1249" y="1408"/>
                  </a:lnTo>
                  <a:lnTo>
                    <a:pt x="1251" y="1407"/>
                  </a:lnTo>
                  <a:lnTo>
                    <a:pt x="1253" y="1407"/>
                  </a:lnTo>
                  <a:lnTo>
                    <a:pt x="1255" y="1405"/>
                  </a:lnTo>
                  <a:lnTo>
                    <a:pt x="1257" y="1405"/>
                  </a:lnTo>
                  <a:lnTo>
                    <a:pt x="1259" y="1405"/>
                  </a:lnTo>
                  <a:lnTo>
                    <a:pt x="1259" y="1403"/>
                  </a:lnTo>
                  <a:lnTo>
                    <a:pt x="1261" y="1403"/>
                  </a:lnTo>
                  <a:lnTo>
                    <a:pt x="1261" y="1401"/>
                  </a:lnTo>
                  <a:lnTo>
                    <a:pt x="1263" y="1401"/>
                  </a:lnTo>
                  <a:lnTo>
                    <a:pt x="1265" y="1399"/>
                  </a:lnTo>
                  <a:lnTo>
                    <a:pt x="1267" y="1397"/>
                  </a:lnTo>
                  <a:lnTo>
                    <a:pt x="1269" y="1395"/>
                  </a:lnTo>
                  <a:lnTo>
                    <a:pt x="1271" y="1395"/>
                  </a:lnTo>
                  <a:lnTo>
                    <a:pt x="1271" y="1393"/>
                  </a:lnTo>
                  <a:lnTo>
                    <a:pt x="1272" y="1391"/>
                  </a:lnTo>
                  <a:lnTo>
                    <a:pt x="1274" y="1391"/>
                  </a:lnTo>
                  <a:lnTo>
                    <a:pt x="1276" y="1389"/>
                  </a:lnTo>
                  <a:lnTo>
                    <a:pt x="1278" y="1387"/>
                  </a:lnTo>
                  <a:lnTo>
                    <a:pt x="1280" y="1385"/>
                  </a:lnTo>
                  <a:lnTo>
                    <a:pt x="1282" y="1384"/>
                  </a:lnTo>
                  <a:lnTo>
                    <a:pt x="1286" y="1382"/>
                  </a:lnTo>
                  <a:lnTo>
                    <a:pt x="1288" y="1378"/>
                  </a:lnTo>
                  <a:lnTo>
                    <a:pt x="1292" y="1376"/>
                  </a:lnTo>
                  <a:lnTo>
                    <a:pt x="1294" y="1372"/>
                  </a:lnTo>
                  <a:lnTo>
                    <a:pt x="1297" y="1370"/>
                  </a:lnTo>
                  <a:lnTo>
                    <a:pt x="1301" y="1366"/>
                  </a:lnTo>
                  <a:lnTo>
                    <a:pt x="1305" y="1362"/>
                  </a:lnTo>
                  <a:lnTo>
                    <a:pt x="1309" y="1360"/>
                  </a:lnTo>
                  <a:lnTo>
                    <a:pt x="1311" y="1357"/>
                  </a:lnTo>
                  <a:lnTo>
                    <a:pt x="1313" y="1353"/>
                  </a:lnTo>
                  <a:lnTo>
                    <a:pt x="1317" y="1351"/>
                  </a:lnTo>
                  <a:lnTo>
                    <a:pt x="1319" y="1347"/>
                  </a:lnTo>
                  <a:lnTo>
                    <a:pt x="1319" y="1343"/>
                  </a:lnTo>
                  <a:lnTo>
                    <a:pt x="1320" y="1341"/>
                  </a:lnTo>
                  <a:lnTo>
                    <a:pt x="1322" y="1337"/>
                  </a:lnTo>
                  <a:lnTo>
                    <a:pt x="1322" y="1336"/>
                  </a:lnTo>
                  <a:lnTo>
                    <a:pt x="1322" y="1332"/>
                  </a:lnTo>
                  <a:lnTo>
                    <a:pt x="1324" y="1330"/>
                  </a:lnTo>
                  <a:lnTo>
                    <a:pt x="1324" y="1328"/>
                  </a:lnTo>
                  <a:lnTo>
                    <a:pt x="1324" y="1324"/>
                  </a:lnTo>
                  <a:lnTo>
                    <a:pt x="1324" y="1322"/>
                  </a:lnTo>
                  <a:lnTo>
                    <a:pt x="1322" y="1320"/>
                  </a:lnTo>
                  <a:lnTo>
                    <a:pt x="1322" y="1318"/>
                  </a:lnTo>
                  <a:lnTo>
                    <a:pt x="1322" y="1316"/>
                  </a:lnTo>
                  <a:lnTo>
                    <a:pt x="1322" y="1312"/>
                  </a:lnTo>
                  <a:lnTo>
                    <a:pt x="1320" y="1312"/>
                  </a:lnTo>
                  <a:lnTo>
                    <a:pt x="1320" y="1311"/>
                  </a:lnTo>
                  <a:lnTo>
                    <a:pt x="1320" y="1309"/>
                  </a:lnTo>
                  <a:lnTo>
                    <a:pt x="1319" y="1307"/>
                  </a:lnTo>
                  <a:lnTo>
                    <a:pt x="1319" y="1305"/>
                  </a:lnTo>
                  <a:lnTo>
                    <a:pt x="1317" y="1303"/>
                  </a:lnTo>
                  <a:lnTo>
                    <a:pt x="1317" y="1301"/>
                  </a:lnTo>
                  <a:lnTo>
                    <a:pt x="1315" y="1301"/>
                  </a:lnTo>
                  <a:lnTo>
                    <a:pt x="1271" y="1230"/>
                  </a:lnTo>
                  <a:lnTo>
                    <a:pt x="1353" y="1111"/>
                  </a:lnTo>
                  <a:lnTo>
                    <a:pt x="1355" y="1111"/>
                  </a:lnTo>
                  <a:lnTo>
                    <a:pt x="1357" y="1111"/>
                  </a:lnTo>
                  <a:lnTo>
                    <a:pt x="1359" y="1113"/>
                  </a:lnTo>
                  <a:lnTo>
                    <a:pt x="1361" y="1113"/>
                  </a:lnTo>
                  <a:lnTo>
                    <a:pt x="1363" y="1113"/>
                  </a:lnTo>
                  <a:lnTo>
                    <a:pt x="1365" y="1113"/>
                  </a:lnTo>
                  <a:lnTo>
                    <a:pt x="1368" y="1115"/>
                  </a:lnTo>
                  <a:lnTo>
                    <a:pt x="1370" y="1115"/>
                  </a:lnTo>
                  <a:lnTo>
                    <a:pt x="1374" y="1117"/>
                  </a:lnTo>
                  <a:lnTo>
                    <a:pt x="1376" y="1117"/>
                  </a:lnTo>
                  <a:lnTo>
                    <a:pt x="1380" y="1117"/>
                  </a:lnTo>
                  <a:lnTo>
                    <a:pt x="1382" y="1119"/>
                  </a:lnTo>
                  <a:lnTo>
                    <a:pt x="1386" y="1119"/>
                  </a:lnTo>
                  <a:lnTo>
                    <a:pt x="1390" y="1121"/>
                  </a:lnTo>
                  <a:lnTo>
                    <a:pt x="1393" y="1121"/>
                  </a:lnTo>
                  <a:lnTo>
                    <a:pt x="1397" y="1122"/>
                  </a:lnTo>
                  <a:lnTo>
                    <a:pt x="1399" y="1122"/>
                  </a:lnTo>
                  <a:lnTo>
                    <a:pt x="1403" y="1122"/>
                  </a:lnTo>
                  <a:lnTo>
                    <a:pt x="1407" y="1124"/>
                  </a:lnTo>
                  <a:lnTo>
                    <a:pt x="1411" y="1124"/>
                  </a:lnTo>
                  <a:lnTo>
                    <a:pt x="1415" y="1126"/>
                  </a:lnTo>
                  <a:lnTo>
                    <a:pt x="1418" y="1126"/>
                  </a:lnTo>
                  <a:lnTo>
                    <a:pt x="1422" y="1128"/>
                  </a:lnTo>
                  <a:lnTo>
                    <a:pt x="1426" y="1128"/>
                  </a:lnTo>
                  <a:lnTo>
                    <a:pt x="1430" y="1128"/>
                  </a:lnTo>
                  <a:lnTo>
                    <a:pt x="1434" y="1130"/>
                  </a:lnTo>
                  <a:lnTo>
                    <a:pt x="1438" y="1130"/>
                  </a:lnTo>
                  <a:lnTo>
                    <a:pt x="1439" y="1130"/>
                  </a:lnTo>
                  <a:lnTo>
                    <a:pt x="1443" y="1132"/>
                  </a:lnTo>
                  <a:lnTo>
                    <a:pt x="1447" y="1132"/>
                  </a:lnTo>
                  <a:lnTo>
                    <a:pt x="1449" y="1132"/>
                  </a:lnTo>
                  <a:lnTo>
                    <a:pt x="1453" y="1132"/>
                  </a:lnTo>
                  <a:lnTo>
                    <a:pt x="1455" y="1132"/>
                  </a:lnTo>
                  <a:lnTo>
                    <a:pt x="1459" y="1132"/>
                  </a:lnTo>
                  <a:lnTo>
                    <a:pt x="1461" y="1132"/>
                  </a:lnTo>
                  <a:lnTo>
                    <a:pt x="1462" y="1130"/>
                  </a:lnTo>
                  <a:lnTo>
                    <a:pt x="1466" y="1130"/>
                  </a:lnTo>
                  <a:lnTo>
                    <a:pt x="1468" y="1130"/>
                  </a:lnTo>
                  <a:lnTo>
                    <a:pt x="1470" y="1128"/>
                  </a:lnTo>
                  <a:lnTo>
                    <a:pt x="1472" y="1128"/>
                  </a:lnTo>
                  <a:lnTo>
                    <a:pt x="1474" y="1126"/>
                  </a:lnTo>
                  <a:lnTo>
                    <a:pt x="1476" y="1124"/>
                  </a:lnTo>
                  <a:lnTo>
                    <a:pt x="1478" y="1124"/>
                  </a:lnTo>
                  <a:lnTo>
                    <a:pt x="1480" y="1122"/>
                  </a:lnTo>
                  <a:lnTo>
                    <a:pt x="1482" y="1121"/>
                  </a:lnTo>
                  <a:lnTo>
                    <a:pt x="1484" y="1121"/>
                  </a:lnTo>
                  <a:lnTo>
                    <a:pt x="1486" y="1119"/>
                  </a:lnTo>
                  <a:lnTo>
                    <a:pt x="1486" y="1117"/>
                  </a:lnTo>
                  <a:lnTo>
                    <a:pt x="1487" y="1117"/>
                  </a:lnTo>
                  <a:lnTo>
                    <a:pt x="1489" y="1115"/>
                  </a:lnTo>
                  <a:lnTo>
                    <a:pt x="1489" y="1113"/>
                  </a:lnTo>
                  <a:lnTo>
                    <a:pt x="1491" y="1113"/>
                  </a:lnTo>
                  <a:lnTo>
                    <a:pt x="1491" y="1111"/>
                  </a:lnTo>
                  <a:lnTo>
                    <a:pt x="1491" y="1109"/>
                  </a:lnTo>
                  <a:lnTo>
                    <a:pt x="1493" y="1109"/>
                  </a:lnTo>
                  <a:lnTo>
                    <a:pt x="1493" y="1107"/>
                  </a:lnTo>
                  <a:lnTo>
                    <a:pt x="1495" y="1107"/>
                  </a:lnTo>
                  <a:lnTo>
                    <a:pt x="1495" y="1105"/>
                  </a:lnTo>
                  <a:lnTo>
                    <a:pt x="1495" y="1103"/>
                  </a:lnTo>
                  <a:lnTo>
                    <a:pt x="1495" y="1101"/>
                  </a:lnTo>
                  <a:lnTo>
                    <a:pt x="1497" y="1101"/>
                  </a:lnTo>
                  <a:lnTo>
                    <a:pt x="1497" y="1099"/>
                  </a:lnTo>
                  <a:lnTo>
                    <a:pt x="1497" y="1098"/>
                  </a:lnTo>
                  <a:lnTo>
                    <a:pt x="1499" y="1096"/>
                  </a:lnTo>
                  <a:lnTo>
                    <a:pt x="1499" y="1094"/>
                  </a:lnTo>
                  <a:lnTo>
                    <a:pt x="1499" y="1092"/>
                  </a:lnTo>
                  <a:lnTo>
                    <a:pt x="1501" y="1090"/>
                  </a:lnTo>
                  <a:lnTo>
                    <a:pt x="1501" y="1088"/>
                  </a:lnTo>
                  <a:lnTo>
                    <a:pt x="1503" y="1086"/>
                  </a:lnTo>
                  <a:lnTo>
                    <a:pt x="1503" y="1082"/>
                  </a:lnTo>
                  <a:lnTo>
                    <a:pt x="1505" y="1080"/>
                  </a:lnTo>
                  <a:lnTo>
                    <a:pt x="1505" y="1076"/>
                  </a:lnTo>
                  <a:lnTo>
                    <a:pt x="1507" y="1073"/>
                  </a:lnTo>
                  <a:lnTo>
                    <a:pt x="1509" y="1069"/>
                  </a:lnTo>
                  <a:lnTo>
                    <a:pt x="1509" y="1065"/>
                  </a:lnTo>
                  <a:lnTo>
                    <a:pt x="1510" y="1061"/>
                  </a:lnTo>
                  <a:lnTo>
                    <a:pt x="1512" y="1057"/>
                  </a:lnTo>
                  <a:lnTo>
                    <a:pt x="1514" y="1051"/>
                  </a:lnTo>
                  <a:lnTo>
                    <a:pt x="1516" y="1048"/>
                  </a:lnTo>
                  <a:lnTo>
                    <a:pt x="1516" y="1044"/>
                  </a:lnTo>
                  <a:lnTo>
                    <a:pt x="1516" y="1040"/>
                  </a:lnTo>
                  <a:lnTo>
                    <a:pt x="1518" y="1036"/>
                  </a:lnTo>
                  <a:lnTo>
                    <a:pt x="1518" y="1032"/>
                  </a:lnTo>
                  <a:lnTo>
                    <a:pt x="1518" y="1028"/>
                  </a:lnTo>
                  <a:lnTo>
                    <a:pt x="1518" y="1025"/>
                  </a:lnTo>
                  <a:lnTo>
                    <a:pt x="1516" y="1023"/>
                  </a:lnTo>
                  <a:lnTo>
                    <a:pt x="1516" y="1019"/>
                  </a:lnTo>
                  <a:lnTo>
                    <a:pt x="1516" y="1017"/>
                  </a:lnTo>
                  <a:lnTo>
                    <a:pt x="1514" y="1013"/>
                  </a:lnTo>
                  <a:lnTo>
                    <a:pt x="1514" y="1011"/>
                  </a:lnTo>
                  <a:lnTo>
                    <a:pt x="1512" y="1009"/>
                  </a:lnTo>
                  <a:lnTo>
                    <a:pt x="1510" y="1007"/>
                  </a:lnTo>
                  <a:lnTo>
                    <a:pt x="1510" y="1005"/>
                  </a:lnTo>
                  <a:lnTo>
                    <a:pt x="1509" y="1003"/>
                  </a:lnTo>
                  <a:lnTo>
                    <a:pt x="1507" y="1002"/>
                  </a:lnTo>
                  <a:lnTo>
                    <a:pt x="1505" y="1000"/>
                  </a:lnTo>
                  <a:lnTo>
                    <a:pt x="1505" y="998"/>
                  </a:lnTo>
                  <a:lnTo>
                    <a:pt x="1503" y="998"/>
                  </a:lnTo>
                  <a:lnTo>
                    <a:pt x="1501" y="996"/>
                  </a:lnTo>
                  <a:lnTo>
                    <a:pt x="1499" y="996"/>
                  </a:lnTo>
                  <a:lnTo>
                    <a:pt x="1499" y="994"/>
                  </a:lnTo>
                  <a:lnTo>
                    <a:pt x="1497" y="994"/>
                  </a:lnTo>
                  <a:lnTo>
                    <a:pt x="1497" y="992"/>
                  </a:lnTo>
                  <a:lnTo>
                    <a:pt x="1495" y="992"/>
                  </a:lnTo>
                  <a:lnTo>
                    <a:pt x="1493" y="992"/>
                  </a:lnTo>
                  <a:lnTo>
                    <a:pt x="1493" y="990"/>
                  </a:lnTo>
                  <a:lnTo>
                    <a:pt x="1422" y="950"/>
                  </a:lnTo>
                  <a:lnTo>
                    <a:pt x="1439" y="806"/>
                  </a:lnTo>
                  <a:lnTo>
                    <a:pt x="1441" y="806"/>
                  </a:lnTo>
                  <a:lnTo>
                    <a:pt x="1443" y="806"/>
                  </a:lnTo>
                  <a:lnTo>
                    <a:pt x="1443" y="804"/>
                  </a:lnTo>
                  <a:lnTo>
                    <a:pt x="1445" y="804"/>
                  </a:lnTo>
                  <a:lnTo>
                    <a:pt x="1447" y="804"/>
                  </a:lnTo>
                  <a:lnTo>
                    <a:pt x="1449" y="804"/>
                  </a:lnTo>
                  <a:lnTo>
                    <a:pt x="1451" y="804"/>
                  </a:lnTo>
                  <a:lnTo>
                    <a:pt x="1455" y="802"/>
                  </a:lnTo>
                  <a:lnTo>
                    <a:pt x="1457" y="802"/>
                  </a:lnTo>
                  <a:lnTo>
                    <a:pt x="1461" y="802"/>
                  </a:lnTo>
                  <a:lnTo>
                    <a:pt x="1462" y="800"/>
                  </a:lnTo>
                  <a:lnTo>
                    <a:pt x="1466" y="800"/>
                  </a:lnTo>
                  <a:lnTo>
                    <a:pt x="1468" y="800"/>
                  </a:lnTo>
                  <a:lnTo>
                    <a:pt x="1472" y="798"/>
                  </a:lnTo>
                  <a:lnTo>
                    <a:pt x="1476" y="798"/>
                  </a:lnTo>
                  <a:lnTo>
                    <a:pt x="1480" y="796"/>
                  </a:lnTo>
                  <a:lnTo>
                    <a:pt x="1484" y="796"/>
                  </a:lnTo>
                  <a:lnTo>
                    <a:pt x="1487" y="794"/>
                  </a:lnTo>
                  <a:lnTo>
                    <a:pt x="1491" y="794"/>
                  </a:lnTo>
                  <a:lnTo>
                    <a:pt x="1493" y="792"/>
                  </a:lnTo>
                  <a:lnTo>
                    <a:pt x="1497" y="792"/>
                  </a:lnTo>
                  <a:lnTo>
                    <a:pt x="1501" y="790"/>
                  </a:lnTo>
                  <a:lnTo>
                    <a:pt x="1505" y="790"/>
                  </a:lnTo>
                  <a:lnTo>
                    <a:pt x="1509" y="789"/>
                  </a:lnTo>
                  <a:lnTo>
                    <a:pt x="1512" y="789"/>
                  </a:lnTo>
                  <a:lnTo>
                    <a:pt x="1516" y="787"/>
                  </a:lnTo>
                  <a:lnTo>
                    <a:pt x="1520" y="785"/>
                  </a:lnTo>
                  <a:lnTo>
                    <a:pt x="1524" y="785"/>
                  </a:lnTo>
                  <a:lnTo>
                    <a:pt x="1528" y="783"/>
                  </a:lnTo>
                  <a:lnTo>
                    <a:pt x="1530" y="783"/>
                  </a:lnTo>
                  <a:lnTo>
                    <a:pt x="1534" y="781"/>
                  </a:lnTo>
                  <a:lnTo>
                    <a:pt x="1535" y="781"/>
                  </a:lnTo>
                  <a:lnTo>
                    <a:pt x="1539" y="779"/>
                  </a:lnTo>
                  <a:lnTo>
                    <a:pt x="1541" y="777"/>
                  </a:lnTo>
                  <a:lnTo>
                    <a:pt x="1543" y="775"/>
                  </a:lnTo>
                  <a:lnTo>
                    <a:pt x="1545" y="775"/>
                  </a:lnTo>
                  <a:lnTo>
                    <a:pt x="1547" y="773"/>
                  </a:lnTo>
                  <a:lnTo>
                    <a:pt x="1549" y="771"/>
                  </a:lnTo>
                  <a:lnTo>
                    <a:pt x="1551" y="769"/>
                  </a:lnTo>
                  <a:lnTo>
                    <a:pt x="1553" y="767"/>
                  </a:lnTo>
                  <a:lnTo>
                    <a:pt x="1553" y="765"/>
                  </a:lnTo>
                  <a:lnTo>
                    <a:pt x="1555" y="764"/>
                  </a:lnTo>
                  <a:lnTo>
                    <a:pt x="1555" y="762"/>
                  </a:lnTo>
                  <a:lnTo>
                    <a:pt x="1557" y="760"/>
                  </a:lnTo>
                  <a:lnTo>
                    <a:pt x="1557" y="758"/>
                  </a:lnTo>
                  <a:lnTo>
                    <a:pt x="1558" y="756"/>
                  </a:lnTo>
                  <a:lnTo>
                    <a:pt x="1558" y="754"/>
                  </a:lnTo>
                  <a:lnTo>
                    <a:pt x="1558" y="752"/>
                  </a:lnTo>
                  <a:lnTo>
                    <a:pt x="1560" y="750"/>
                  </a:lnTo>
                  <a:lnTo>
                    <a:pt x="1560" y="748"/>
                  </a:lnTo>
                  <a:lnTo>
                    <a:pt x="1560" y="746"/>
                  </a:lnTo>
                  <a:lnTo>
                    <a:pt x="1560" y="744"/>
                  </a:lnTo>
                  <a:lnTo>
                    <a:pt x="1560" y="742"/>
                  </a:lnTo>
                  <a:lnTo>
                    <a:pt x="1560" y="741"/>
                  </a:lnTo>
                  <a:lnTo>
                    <a:pt x="1560" y="739"/>
                  </a:lnTo>
                  <a:lnTo>
                    <a:pt x="1562" y="739"/>
                  </a:lnTo>
                  <a:lnTo>
                    <a:pt x="1562" y="737"/>
                  </a:lnTo>
                  <a:lnTo>
                    <a:pt x="1560" y="737"/>
                  </a:lnTo>
                  <a:lnTo>
                    <a:pt x="1560" y="735"/>
                  </a:lnTo>
                  <a:lnTo>
                    <a:pt x="1560" y="733"/>
                  </a:lnTo>
                  <a:lnTo>
                    <a:pt x="1560" y="731"/>
                  </a:lnTo>
                  <a:lnTo>
                    <a:pt x="1560" y="729"/>
                  </a:lnTo>
                  <a:lnTo>
                    <a:pt x="1560" y="727"/>
                  </a:lnTo>
                  <a:lnTo>
                    <a:pt x="1560" y="725"/>
                  </a:lnTo>
                  <a:lnTo>
                    <a:pt x="1560" y="721"/>
                  </a:lnTo>
                  <a:lnTo>
                    <a:pt x="1560" y="719"/>
                  </a:lnTo>
                  <a:lnTo>
                    <a:pt x="1558" y="718"/>
                  </a:lnTo>
                  <a:lnTo>
                    <a:pt x="1558" y="716"/>
                  </a:lnTo>
                  <a:lnTo>
                    <a:pt x="1558" y="712"/>
                  </a:lnTo>
                  <a:lnTo>
                    <a:pt x="1558" y="710"/>
                  </a:lnTo>
                  <a:lnTo>
                    <a:pt x="1558" y="706"/>
                  </a:lnTo>
                  <a:lnTo>
                    <a:pt x="1557" y="702"/>
                  </a:lnTo>
                  <a:lnTo>
                    <a:pt x="1557" y="698"/>
                  </a:lnTo>
                  <a:lnTo>
                    <a:pt x="1557" y="694"/>
                  </a:lnTo>
                  <a:lnTo>
                    <a:pt x="1557" y="689"/>
                  </a:lnTo>
                  <a:lnTo>
                    <a:pt x="1555" y="685"/>
                  </a:lnTo>
                  <a:lnTo>
                    <a:pt x="1555" y="679"/>
                  </a:lnTo>
                  <a:lnTo>
                    <a:pt x="1555" y="675"/>
                  </a:lnTo>
                  <a:lnTo>
                    <a:pt x="1553" y="671"/>
                  </a:lnTo>
                  <a:lnTo>
                    <a:pt x="1553" y="668"/>
                  </a:lnTo>
                  <a:lnTo>
                    <a:pt x="1551" y="664"/>
                  </a:lnTo>
                  <a:lnTo>
                    <a:pt x="1549" y="660"/>
                  </a:lnTo>
                  <a:lnTo>
                    <a:pt x="1547" y="658"/>
                  </a:lnTo>
                  <a:lnTo>
                    <a:pt x="1545" y="654"/>
                  </a:lnTo>
                  <a:lnTo>
                    <a:pt x="1543" y="652"/>
                  </a:lnTo>
                  <a:lnTo>
                    <a:pt x="1541" y="650"/>
                  </a:lnTo>
                  <a:lnTo>
                    <a:pt x="1539" y="648"/>
                  </a:lnTo>
                  <a:lnTo>
                    <a:pt x="1537" y="646"/>
                  </a:lnTo>
                  <a:lnTo>
                    <a:pt x="1535" y="645"/>
                  </a:lnTo>
                  <a:lnTo>
                    <a:pt x="1534" y="643"/>
                  </a:lnTo>
                  <a:lnTo>
                    <a:pt x="1532" y="641"/>
                  </a:lnTo>
                  <a:lnTo>
                    <a:pt x="1530" y="641"/>
                  </a:lnTo>
                  <a:lnTo>
                    <a:pt x="1528" y="639"/>
                  </a:lnTo>
                  <a:lnTo>
                    <a:pt x="1526" y="639"/>
                  </a:lnTo>
                  <a:lnTo>
                    <a:pt x="1524" y="637"/>
                  </a:lnTo>
                  <a:lnTo>
                    <a:pt x="1522" y="637"/>
                  </a:lnTo>
                  <a:lnTo>
                    <a:pt x="1520" y="637"/>
                  </a:lnTo>
                  <a:lnTo>
                    <a:pt x="1518" y="637"/>
                  </a:lnTo>
                  <a:lnTo>
                    <a:pt x="1516" y="637"/>
                  </a:lnTo>
                  <a:lnTo>
                    <a:pt x="1514" y="635"/>
                  </a:lnTo>
                  <a:lnTo>
                    <a:pt x="1512" y="635"/>
                  </a:lnTo>
                  <a:lnTo>
                    <a:pt x="1510" y="635"/>
                  </a:lnTo>
                  <a:lnTo>
                    <a:pt x="1509" y="635"/>
                  </a:lnTo>
                  <a:lnTo>
                    <a:pt x="1426" y="633"/>
                  </a:lnTo>
                  <a:lnTo>
                    <a:pt x="1374" y="497"/>
                  </a:lnTo>
                  <a:lnTo>
                    <a:pt x="1376" y="497"/>
                  </a:lnTo>
                  <a:lnTo>
                    <a:pt x="1376" y="495"/>
                  </a:lnTo>
                  <a:lnTo>
                    <a:pt x="1378" y="493"/>
                  </a:lnTo>
                  <a:lnTo>
                    <a:pt x="1380" y="491"/>
                  </a:lnTo>
                  <a:lnTo>
                    <a:pt x="1382" y="491"/>
                  </a:lnTo>
                  <a:lnTo>
                    <a:pt x="1384" y="489"/>
                  </a:lnTo>
                  <a:lnTo>
                    <a:pt x="1386" y="487"/>
                  </a:lnTo>
                  <a:lnTo>
                    <a:pt x="1388" y="485"/>
                  </a:lnTo>
                  <a:lnTo>
                    <a:pt x="1390" y="483"/>
                  </a:lnTo>
                  <a:lnTo>
                    <a:pt x="1391" y="481"/>
                  </a:lnTo>
                  <a:lnTo>
                    <a:pt x="1395" y="480"/>
                  </a:lnTo>
                  <a:lnTo>
                    <a:pt x="1397" y="478"/>
                  </a:lnTo>
                  <a:lnTo>
                    <a:pt x="1399" y="474"/>
                  </a:lnTo>
                  <a:lnTo>
                    <a:pt x="1403" y="472"/>
                  </a:lnTo>
                  <a:lnTo>
                    <a:pt x="1405" y="470"/>
                  </a:lnTo>
                  <a:lnTo>
                    <a:pt x="1407" y="468"/>
                  </a:lnTo>
                  <a:lnTo>
                    <a:pt x="1411" y="464"/>
                  </a:lnTo>
                  <a:lnTo>
                    <a:pt x="1413" y="462"/>
                  </a:lnTo>
                  <a:lnTo>
                    <a:pt x="1416" y="460"/>
                  </a:lnTo>
                  <a:lnTo>
                    <a:pt x="1418" y="456"/>
                  </a:lnTo>
                  <a:lnTo>
                    <a:pt x="1422" y="455"/>
                  </a:lnTo>
                  <a:lnTo>
                    <a:pt x="1424" y="451"/>
                  </a:lnTo>
                  <a:lnTo>
                    <a:pt x="1428" y="449"/>
                  </a:lnTo>
                  <a:lnTo>
                    <a:pt x="1430" y="447"/>
                  </a:lnTo>
                  <a:lnTo>
                    <a:pt x="1434" y="443"/>
                  </a:lnTo>
                  <a:lnTo>
                    <a:pt x="1436" y="441"/>
                  </a:lnTo>
                  <a:lnTo>
                    <a:pt x="1438" y="439"/>
                  </a:lnTo>
                  <a:lnTo>
                    <a:pt x="1441" y="435"/>
                  </a:lnTo>
                  <a:lnTo>
                    <a:pt x="1443" y="433"/>
                  </a:lnTo>
                  <a:lnTo>
                    <a:pt x="1445" y="432"/>
                  </a:lnTo>
                  <a:lnTo>
                    <a:pt x="1447" y="430"/>
                  </a:lnTo>
                  <a:lnTo>
                    <a:pt x="1449" y="428"/>
                  </a:lnTo>
                  <a:lnTo>
                    <a:pt x="1451" y="424"/>
                  </a:lnTo>
                  <a:lnTo>
                    <a:pt x="1451" y="422"/>
                  </a:lnTo>
                  <a:lnTo>
                    <a:pt x="1453" y="420"/>
                  </a:lnTo>
                  <a:lnTo>
                    <a:pt x="1455" y="418"/>
                  </a:lnTo>
                  <a:lnTo>
                    <a:pt x="1455" y="414"/>
                  </a:lnTo>
                  <a:lnTo>
                    <a:pt x="1455" y="412"/>
                  </a:lnTo>
                  <a:lnTo>
                    <a:pt x="1455" y="410"/>
                  </a:lnTo>
                  <a:lnTo>
                    <a:pt x="1457" y="408"/>
                  </a:lnTo>
                  <a:lnTo>
                    <a:pt x="1457" y="407"/>
                  </a:lnTo>
                  <a:lnTo>
                    <a:pt x="1457" y="403"/>
                  </a:lnTo>
                  <a:lnTo>
                    <a:pt x="1457" y="401"/>
                  </a:lnTo>
                  <a:lnTo>
                    <a:pt x="1457" y="399"/>
                  </a:lnTo>
                  <a:lnTo>
                    <a:pt x="1457" y="397"/>
                  </a:lnTo>
                  <a:lnTo>
                    <a:pt x="1457" y="395"/>
                  </a:lnTo>
                  <a:lnTo>
                    <a:pt x="1455" y="393"/>
                  </a:lnTo>
                  <a:lnTo>
                    <a:pt x="1455" y="391"/>
                  </a:lnTo>
                  <a:lnTo>
                    <a:pt x="1455" y="389"/>
                  </a:lnTo>
                  <a:lnTo>
                    <a:pt x="1455" y="387"/>
                  </a:lnTo>
                  <a:lnTo>
                    <a:pt x="1453" y="385"/>
                  </a:lnTo>
                  <a:lnTo>
                    <a:pt x="1453" y="384"/>
                  </a:lnTo>
                  <a:lnTo>
                    <a:pt x="1453" y="382"/>
                  </a:lnTo>
                  <a:lnTo>
                    <a:pt x="1451" y="380"/>
                  </a:lnTo>
                  <a:lnTo>
                    <a:pt x="1451" y="378"/>
                  </a:lnTo>
                  <a:lnTo>
                    <a:pt x="1449" y="378"/>
                  </a:lnTo>
                  <a:lnTo>
                    <a:pt x="1449" y="376"/>
                  </a:lnTo>
                  <a:lnTo>
                    <a:pt x="1449" y="374"/>
                  </a:lnTo>
                  <a:lnTo>
                    <a:pt x="1447" y="374"/>
                  </a:lnTo>
                  <a:lnTo>
                    <a:pt x="1447" y="372"/>
                  </a:lnTo>
                  <a:lnTo>
                    <a:pt x="1445" y="370"/>
                  </a:lnTo>
                  <a:lnTo>
                    <a:pt x="1443" y="368"/>
                  </a:lnTo>
                  <a:lnTo>
                    <a:pt x="1443" y="366"/>
                  </a:lnTo>
                  <a:lnTo>
                    <a:pt x="1441" y="364"/>
                  </a:lnTo>
                  <a:lnTo>
                    <a:pt x="1439" y="362"/>
                  </a:lnTo>
                  <a:lnTo>
                    <a:pt x="1438" y="361"/>
                  </a:lnTo>
                  <a:lnTo>
                    <a:pt x="1438" y="359"/>
                  </a:lnTo>
                  <a:lnTo>
                    <a:pt x="1436" y="355"/>
                  </a:lnTo>
                  <a:lnTo>
                    <a:pt x="1434" y="353"/>
                  </a:lnTo>
                  <a:lnTo>
                    <a:pt x="1432" y="349"/>
                  </a:lnTo>
                  <a:lnTo>
                    <a:pt x="1428" y="347"/>
                  </a:lnTo>
                  <a:lnTo>
                    <a:pt x="1426" y="343"/>
                  </a:lnTo>
                  <a:lnTo>
                    <a:pt x="1424" y="339"/>
                  </a:lnTo>
                  <a:lnTo>
                    <a:pt x="1422" y="336"/>
                  </a:lnTo>
                  <a:lnTo>
                    <a:pt x="1418" y="332"/>
                  </a:lnTo>
                  <a:lnTo>
                    <a:pt x="1415" y="328"/>
                  </a:lnTo>
                  <a:lnTo>
                    <a:pt x="1413" y="324"/>
                  </a:lnTo>
                  <a:lnTo>
                    <a:pt x="1409" y="322"/>
                  </a:lnTo>
                  <a:lnTo>
                    <a:pt x="1407" y="318"/>
                  </a:lnTo>
                  <a:lnTo>
                    <a:pt x="1403" y="316"/>
                  </a:lnTo>
                  <a:lnTo>
                    <a:pt x="1401" y="314"/>
                  </a:lnTo>
                  <a:lnTo>
                    <a:pt x="1397" y="313"/>
                  </a:lnTo>
                  <a:lnTo>
                    <a:pt x="1395" y="313"/>
                  </a:lnTo>
                  <a:lnTo>
                    <a:pt x="1391" y="311"/>
                  </a:lnTo>
                  <a:lnTo>
                    <a:pt x="1390" y="309"/>
                  </a:lnTo>
                  <a:lnTo>
                    <a:pt x="1388" y="309"/>
                  </a:lnTo>
                  <a:lnTo>
                    <a:pt x="1384" y="309"/>
                  </a:lnTo>
                  <a:lnTo>
                    <a:pt x="1382" y="309"/>
                  </a:lnTo>
                  <a:lnTo>
                    <a:pt x="1380" y="309"/>
                  </a:lnTo>
                  <a:lnTo>
                    <a:pt x="1378" y="309"/>
                  </a:lnTo>
                  <a:lnTo>
                    <a:pt x="1374" y="309"/>
                  </a:lnTo>
                  <a:lnTo>
                    <a:pt x="1372" y="309"/>
                  </a:lnTo>
                  <a:lnTo>
                    <a:pt x="1370" y="309"/>
                  </a:lnTo>
                  <a:lnTo>
                    <a:pt x="1368" y="309"/>
                  </a:lnTo>
                  <a:lnTo>
                    <a:pt x="1367" y="311"/>
                  </a:lnTo>
                  <a:lnTo>
                    <a:pt x="1365" y="311"/>
                  </a:lnTo>
                  <a:lnTo>
                    <a:pt x="1363" y="311"/>
                  </a:lnTo>
                  <a:lnTo>
                    <a:pt x="1361" y="313"/>
                  </a:lnTo>
                  <a:lnTo>
                    <a:pt x="1359" y="313"/>
                  </a:lnTo>
                  <a:lnTo>
                    <a:pt x="1359" y="314"/>
                  </a:lnTo>
                  <a:lnTo>
                    <a:pt x="1357" y="314"/>
                  </a:lnTo>
                  <a:lnTo>
                    <a:pt x="1282" y="351"/>
                  </a:lnTo>
                  <a:lnTo>
                    <a:pt x="1173" y="253"/>
                  </a:lnTo>
                  <a:lnTo>
                    <a:pt x="1173" y="251"/>
                  </a:lnTo>
                  <a:lnTo>
                    <a:pt x="1175" y="251"/>
                  </a:lnTo>
                  <a:lnTo>
                    <a:pt x="1175" y="249"/>
                  </a:lnTo>
                  <a:lnTo>
                    <a:pt x="1175" y="247"/>
                  </a:lnTo>
                  <a:lnTo>
                    <a:pt x="1176" y="245"/>
                  </a:lnTo>
                  <a:lnTo>
                    <a:pt x="1176" y="243"/>
                  </a:lnTo>
                  <a:lnTo>
                    <a:pt x="1176" y="242"/>
                  </a:lnTo>
                  <a:lnTo>
                    <a:pt x="1178" y="240"/>
                  </a:lnTo>
                  <a:lnTo>
                    <a:pt x="1178" y="238"/>
                  </a:lnTo>
                  <a:lnTo>
                    <a:pt x="1180" y="234"/>
                  </a:lnTo>
                  <a:lnTo>
                    <a:pt x="1180" y="232"/>
                  </a:lnTo>
                  <a:lnTo>
                    <a:pt x="1182" y="228"/>
                  </a:lnTo>
                  <a:lnTo>
                    <a:pt x="1184" y="224"/>
                  </a:lnTo>
                  <a:lnTo>
                    <a:pt x="1184" y="222"/>
                  </a:lnTo>
                  <a:lnTo>
                    <a:pt x="1186" y="218"/>
                  </a:lnTo>
                  <a:lnTo>
                    <a:pt x="1188" y="215"/>
                  </a:lnTo>
                  <a:lnTo>
                    <a:pt x="1188" y="211"/>
                  </a:lnTo>
                  <a:lnTo>
                    <a:pt x="1190" y="207"/>
                  </a:lnTo>
                  <a:lnTo>
                    <a:pt x="1192" y="205"/>
                  </a:lnTo>
                  <a:lnTo>
                    <a:pt x="1192" y="201"/>
                  </a:lnTo>
                  <a:lnTo>
                    <a:pt x="1194" y="197"/>
                  </a:lnTo>
                  <a:lnTo>
                    <a:pt x="1196" y="194"/>
                  </a:lnTo>
                  <a:lnTo>
                    <a:pt x="1196" y="190"/>
                  </a:lnTo>
                  <a:lnTo>
                    <a:pt x="1198" y="186"/>
                  </a:lnTo>
                  <a:lnTo>
                    <a:pt x="1199" y="182"/>
                  </a:lnTo>
                  <a:lnTo>
                    <a:pt x="1199" y="178"/>
                  </a:lnTo>
                  <a:lnTo>
                    <a:pt x="1201" y="174"/>
                  </a:lnTo>
                  <a:lnTo>
                    <a:pt x="1201" y="170"/>
                  </a:lnTo>
                  <a:lnTo>
                    <a:pt x="1203" y="169"/>
                  </a:lnTo>
                  <a:lnTo>
                    <a:pt x="1203" y="165"/>
                  </a:lnTo>
                  <a:lnTo>
                    <a:pt x="1205" y="161"/>
                  </a:lnTo>
                  <a:lnTo>
                    <a:pt x="1205" y="159"/>
                  </a:lnTo>
                  <a:lnTo>
                    <a:pt x="1205" y="155"/>
                  </a:lnTo>
                  <a:lnTo>
                    <a:pt x="1207" y="153"/>
                  </a:lnTo>
                  <a:lnTo>
                    <a:pt x="1207" y="151"/>
                  </a:lnTo>
                  <a:lnTo>
                    <a:pt x="1207" y="147"/>
                  </a:lnTo>
                  <a:lnTo>
                    <a:pt x="1205" y="146"/>
                  </a:lnTo>
                  <a:lnTo>
                    <a:pt x="1205" y="144"/>
                  </a:lnTo>
                  <a:lnTo>
                    <a:pt x="1205" y="140"/>
                  </a:lnTo>
                  <a:lnTo>
                    <a:pt x="1205" y="138"/>
                  </a:lnTo>
                  <a:lnTo>
                    <a:pt x="1203" y="136"/>
                  </a:lnTo>
                  <a:lnTo>
                    <a:pt x="1203" y="134"/>
                  </a:lnTo>
                  <a:lnTo>
                    <a:pt x="1201" y="132"/>
                  </a:lnTo>
                  <a:lnTo>
                    <a:pt x="1201" y="130"/>
                  </a:lnTo>
                  <a:lnTo>
                    <a:pt x="1199" y="128"/>
                  </a:lnTo>
                  <a:lnTo>
                    <a:pt x="1199" y="126"/>
                  </a:lnTo>
                  <a:lnTo>
                    <a:pt x="1198" y="124"/>
                  </a:lnTo>
                  <a:lnTo>
                    <a:pt x="1198" y="123"/>
                  </a:lnTo>
                  <a:lnTo>
                    <a:pt x="1196" y="123"/>
                  </a:lnTo>
                  <a:lnTo>
                    <a:pt x="1194" y="121"/>
                  </a:lnTo>
                  <a:lnTo>
                    <a:pt x="1194" y="119"/>
                  </a:lnTo>
                  <a:lnTo>
                    <a:pt x="1192" y="119"/>
                  </a:lnTo>
                  <a:lnTo>
                    <a:pt x="1192" y="117"/>
                  </a:lnTo>
                  <a:lnTo>
                    <a:pt x="1190" y="117"/>
                  </a:lnTo>
                  <a:lnTo>
                    <a:pt x="1190" y="115"/>
                  </a:lnTo>
                  <a:lnTo>
                    <a:pt x="1188" y="115"/>
                  </a:lnTo>
                  <a:lnTo>
                    <a:pt x="1188" y="113"/>
                  </a:lnTo>
                  <a:lnTo>
                    <a:pt x="1186" y="113"/>
                  </a:lnTo>
                  <a:lnTo>
                    <a:pt x="1186" y="111"/>
                  </a:lnTo>
                  <a:lnTo>
                    <a:pt x="1184" y="111"/>
                  </a:lnTo>
                  <a:lnTo>
                    <a:pt x="1182" y="111"/>
                  </a:lnTo>
                  <a:lnTo>
                    <a:pt x="1182" y="109"/>
                  </a:lnTo>
                  <a:lnTo>
                    <a:pt x="1180" y="109"/>
                  </a:lnTo>
                  <a:lnTo>
                    <a:pt x="1178" y="109"/>
                  </a:lnTo>
                  <a:lnTo>
                    <a:pt x="1176" y="107"/>
                  </a:lnTo>
                  <a:lnTo>
                    <a:pt x="1175" y="107"/>
                  </a:lnTo>
                  <a:lnTo>
                    <a:pt x="1173" y="105"/>
                  </a:lnTo>
                  <a:lnTo>
                    <a:pt x="1171" y="105"/>
                  </a:lnTo>
                  <a:lnTo>
                    <a:pt x="1169" y="103"/>
                  </a:lnTo>
                  <a:lnTo>
                    <a:pt x="1167" y="103"/>
                  </a:lnTo>
                  <a:lnTo>
                    <a:pt x="1163" y="101"/>
                  </a:lnTo>
                  <a:lnTo>
                    <a:pt x="1161" y="99"/>
                  </a:lnTo>
                  <a:lnTo>
                    <a:pt x="1157" y="98"/>
                  </a:lnTo>
                  <a:lnTo>
                    <a:pt x="1153" y="96"/>
                  </a:lnTo>
                  <a:lnTo>
                    <a:pt x="1152" y="96"/>
                  </a:lnTo>
                  <a:lnTo>
                    <a:pt x="1148" y="94"/>
                  </a:lnTo>
                  <a:lnTo>
                    <a:pt x="1142" y="92"/>
                  </a:lnTo>
                  <a:lnTo>
                    <a:pt x="1138" y="88"/>
                  </a:lnTo>
                  <a:lnTo>
                    <a:pt x="1134" y="86"/>
                  </a:lnTo>
                  <a:lnTo>
                    <a:pt x="1130" y="84"/>
                  </a:lnTo>
                  <a:lnTo>
                    <a:pt x="1127" y="84"/>
                  </a:lnTo>
                  <a:lnTo>
                    <a:pt x="1123" y="82"/>
                  </a:lnTo>
                  <a:lnTo>
                    <a:pt x="1119" y="80"/>
                  </a:lnTo>
                  <a:lnTo>
                    <a:pt x="1115" y="80"/>
                  </a:lnTo>
                  <a:lnTo>
                    <a:pt x="1111" y="80"/>
                  </a:lnTo>
                  <a:lnTo>
                    <a:pt x="1107" y="80"/>
                  </a:lnTo>
                  <a:lnTo>
                    <a:pt x="1105" y="80"/>
                  </a:lnTo>
                  <a:lnTo>
                    <a:pt x="1102" y="80"/>
                  </a:lnTo>
                  <a:lnTo>
                    <a:pt x="1100" y="80"/>
                  </a:lnTo>
                  <a:lnTo>
                    <a:pt x="1096" y="82"/>
                  </a:lnTo>
                  <a:lnTo>
                    <a:pt x="1094" y="82"/>
                  </a:lnTo>
                  <a:lnTo>
                    <a:pt x="1092" y="82"/>
                  </a:lnTo>
                  <a:lnTo>
                    <a:pt x="1088" y="84"/>
                  </a:lnTo>
                  <a:lnTo>
                    <a:pt x="1086" y="86"/>
                  </a:lnTo>
                  <a:lnTo>
                    <a:pt x="1084" y="86"/>
                  </a:lnTo>
                  <a:lnTo>
                    <a:pt x="1082" y="88"/>
                  </a:lnTo>
                  <a:lnTo>
                    <a:pt x="1080" y="90"/>
                  </a:lnTo>
                  <a:lnTo>
                    <a:pt x="1079" y="92"/>
                  </a:lnTo>
                  <a:lnTo>
                    <a:pt x="1077" y="94"/>
                  </a:lnTo>
                  <a:lnTo>
                    <a:pt x="1075" y="96"/>
                  </a:lnTo>
                  <a:lnTo>
                    <a:pt x="1073" y="98"/>
                  </a:lnTo>
                  <a:lnTo>
                    <a:pt x="1073" y="99"/>
                  </a:lnTo>
                  <a:lnTo>
                    <a:pt x="1071" y="99"/>
                  </a:lnTo>
                  <a:lnTo>
                    <a:pt x="1071" y="101"/>
                  </a:lnTo>
                  <a:lnTo>
                    <a:pt x="1023" y="167"/>
                  </a:lnTo>
                  <a:lnTo>
                    <a:pt x="881" y="130"/>
                  </a:lnTo>
                  <a:lnTo>
                    <a:pt x="881" y="128"/>
                  </a:lnTo>
                  <a:lnTo>
                    <a:pt x="881" y="126"/>
                  </a:lnTo>
                  <a:lnTo>
                    <a:pt x="881" y="124"/>
                  </a:lnTo>
                  <a:lnTo>
                    <a:pt x="881" y="123"/>
                  </a:lnTo>
                  <a:lnTo>
                    <a:pt x="881" y="121"/>
                  </a:lnTo>
                  <a:lnTo>
                    <a:pt x="881" y="119"/>
                  </a:lnTo>
                  <a:lnTo>
                    <a:pt x="879" y="117"/>
                  </a:lnTo>
                  <a:lnTo>
                    <a:pt x="879" y="113"/>
                  </a:lnTo>
                  <a:lnTo>
                    <a:pt x="879" y="111"/>
                  </a:lnTo>
                  <a:lnTo>
                    <a:pt x="879" y="107"/>
                  </a:lnTo>
                  <a:lnTo>
                    <a:pt x="879" y="105"/>
                  </a:lnTo>
                  <a:lnTo>
                    <a:pt x="877" y="101"/>
                  </a:lnTo>
                  <a:lnTo>
                    <a:pt x="877" y="98"/>
                  </a:lnTo>
                  <a:lnTo>
                    <a:pt x="877" y="94"/>
                  </a:lnTo>
                  <a:lnTo>
                    <a:pt x="877" y="90"/>
                  </a:lnTo>
                  <a:lnTo>
                    <a:pt x="875" y="86"/>
                  </a:lnTo>
                  <a:lnTo>
                    <a:pt x="875" y="84"/>
                  </a:lnTo>
                  <a:lnTo>
                    <a:pt x="875" y="80"/>
                  </a:lnTo>
                  <a:lnTo>
                    <a:pt x="875" y="76"/>
                  </a:lnTo>
                  <a:lnTo>
                    <a:pt x="873" y="73"/>
                  </a:lnTo>
                  <a:lnTo>
                    <a:pt x="873" y="69"/>
                  </a:lnTo>
                  <a:lnTo>
                    <a:pt x="873" y="65"/>
                  </a:lnTo>
                  <a:lnTo>
                    <a:pt x="871" y="61"/>
                  </a:lnTo>
                  <a:lnTo>
                    <a:pt x="871" y="57"/>
                  </a:lnTo>
                  <a:lnTo>
                    <a:pt x="871" y="53"/>
                  </a:lnTo>
                  <a:lnTo>
                    <a:pt x="869" y="50"/>
                  </a:lnTo>
                  <a:lnTo>
                    <a:pt x="869" y="46"/>
                  </a:lnTo>
                  <a:lnTo>
                    <a:pt x="869" y="42"/>
                  </a:lnTo>
                  <a:lnTo>
                    <a:pt x="867" y="40"/>
                  </a:lnTo>
                  <a:lnTo>
                    <a:pt x="867" y="36"/>
                  </a:lnTo>
                  <a:lnTo>
                    <a:pt x="865" y="32"/>
                  </a:lnTo>
                  <a:lnTo>
                    <a:pt x="865" y="30"/>
                  </a:lnTo>
                  <a:lnTo>
                    <a:pt x="864" y="28"/>
                  </a:lnTo>
                  <a:lnTo>
                    <a:pt x="864" y="25"/>
                  </a:lnTo>
                  <a:lnTo>
                    <a:pt x="862" y="23"/>
                  </a:lnTo>
                  <a:lnTo>
                    <a:pt x="860" y="21"/>
                  </a:lnTo>
                  <a:lnTo>
                    <a:pt x="860" y="19"/>
                  </a:lnTo>
                  <a:lnTo>
                    <a:pt x="858" y="17"/>
                  </a:lnTo>
                  <a:lnTo>
                    <a:pt x="856" y="15"/>
                  </a:lnTo>
                  <a:lnTo>
                    <a:pt x="854" y="13"/>
                  </a:lnTo>
                  <a:lnTo>
                    <a:pt x="852" y="11"/>
                  </a:lnTo>
                  <a:lnTo>
                    <a:pt x="850" y="11"/>
                  </a:lnTo>
                  <a:lnTo>
                    <a:pt x="848" y="9"/>
                  </a:lnTo>
                  <a:lnTo>
                    <a:pt x="846" y="7"/>
                  </a:lnTo>
                  <a:lnTo>
                    <a:pt x="844" y="5"/>
                  </a:lnTo>
                  <a:lnTo>
                    <a:pt x="842" y="5"/>
                  </a:lnTo>
                  <a:lnTo>
                    <a:pt x="841" y="5"/>
                  </a:lnTo>
                  <a:lnTo>
                    <a:pt x="839" y="4"/>
                  </a:lnTo>
                  <a:lnTo>
                    <a:pt x="837" y="4"/>
                  </a:lnTo>
                  <a:lnTo>
                    <a:pt x="835" y="4"/>
                  </a:lnTo>
                  <a:lnTo>
                    <a:pt x="835" y="2"/>
                  </a:lnTo>
                  <a:lnTo>
                    <a:pt x="833" y="2"/>
                  </a:lnTo>
                  <a:lnTo>
                    <a:pt x="831" y="2"/>
                  </a:lnTo>
                  <a:lnTo>
                    <a:pt x="829" y="2"/>
                  </a:lnTo>
                  <a:lnTo>
                    <a:pt x="827" y="2"/>
                  </a:lnTo>
                  <a:lnTo>
                    <a:pt x="827" y="0"/>
                  </a:lnTo>
                  <a:lnTo>
                    <a:pt x="825" y="0"/>
                  </a:lnTo>
                  <a:lnTo>
                    <a:pt x="823" y="0"/>
                  </a:lnTo>
                  <a:lnTo>
                    <a:pt x="821" y="0"/>
                  </a:lnTo>
                  <a:lnTo>
                    <a:pt x="819" y="0"/>
                  </a:lnTo>
                  <a:lnTo>
                    <a:pt x="817" y="0"/>
                  </a:lnTo>
                  <a:lnTo>
                    <a:pt x="816" y="0"/>
                  </a:lnTo>
                  <a:lnTo>
                    <a:pt x="814" y="0"/>
                  </a:lnTo>
                  <a:lnTo>
                    <a:pt x="812" y="0"/>
                  </a:lnTo>
                  <a:lnTo>
                    <a:pt x="810" y="0"/>
                  </a:lnTo>
                  <a:lnTo>
                    <a:pt x="808" y="0"/>
                  </a:lnTo>
                  <a:lnTo>
                    <a:pt x="804" y="0"/>
                  </a:lnTo>
                  <a:lnTo>
                    <a:pt x="802" y="0"/>
                  </a:lnTo>
                  <a:lnTo>
                    <a:pt x="798" y="0"/>
                  </a:lnTo>
                  <a:lnTo>
                    <a:pt x="794" y="0"/>
                  </a:lnTo>
                  <a:lnTo>
                    <a:pt x="791" y="0"/>
                  </a:lnTo>
                  <a:lnTo>
                    <a:pt x="787" y="0"/>
                  </a:lnTo>
                  <a:lnTo>
                    <a:pt x="783" y="0"/>
                  </a:lnTo>
                  <a:lnTo>
                    <a:pt x="779" y="0"/>
                  </a:lnTo>
                  <a:lnTo>
                    <a:pt x="773" y="0"/>
                  </a:lnTo>
                  <a:lnTo>
                    <a:pt x="769" y="2"/>
                  </a:lnTo>
                  <a:lnTo>
                    <a:pt x="764" y="2"/>
                  </a:lnTo>
                  <a:lnTo>
                    <a:pt x="760" y="2"/>
                  </a:lnTo>
                  <a:lnTo>
                    <a:pt x="756" y="2"/>
                  </a:lnTo>
                  <a:lnTo>
                    <a:pt x="752" y="4"/>
                  </a:lnTo>
                  <a:lnTo>
                    <a:pt x="748" y="4"/>
                  </a:lnTo>
                  <a:lnTo>
                    <a:pt x="745" y="5"/>
                  </a:lnTo>
                  <a:lnTo>
                    <a:pt x="743" y="7"/>
                  </a:lnTo>
                  <a:lnTo>
                    <a:pt x="741" y="9"/>
                  </a:lnTo>
                  <a:lnTo>
                    <a:pt x="737" y="11"/>
                  </a:lnTo>
                  <a:lnTo>
                    <a:pt x="735" y="11"/>
                  </a:lnTo>
                  <a:lnTo>
                    <a:pt x="733" y="13"/>
                  </a:lnTo>
                  <a:lnTo>
                    <a:pt x="731" y="15"/>
                  </a:lnTo>
                  <a:lnTo>
                    <a:pt x="729" y="17"/>
                  </a:lnTo>
                  <a:lnTo>
                    <a:pt x="727" y="19"/>
                  </a:lnTo>
                  <a:lnTo>
                    <a:pt x="727" y="21"/>
                  </a:lnTo>
                  <a:lnTo>
                    <a:pt x="725" y="23"/>
                  </a:lnTo>
                  <a:lnTo>
                    <a:pt x="723" y="25"/>
                  </a:lnTo>
                  <a:lnTo>
                    <a:pt x="723" y="27"/>
                  </a:lnTo>
                  <a:lnTo>
                    <a:pt x="723" y="28"/>
                  </a:lnTo>
                  <a:lnTo>
                    <a:pt x="721" y="30"/>
                  </a:lnTo>
                  <a:lnTo>
                    <a:pt x="721" y="32"/>
                  </a:lnTo>
                  <a:lnTo>
                    <a:pt x="721" y="34"/>
                  </a:lnTo>
                  <a:lnTo>
                    <a:pt x="720" y="36"/>
                  </a:lnTo>
                  <a:lnTo>
                    <a:pt x="720" y="38"/>
                  </a:lnTo>
                  <a:lnTo>
                    <a:pt x="720" y="40"/>
                  </a:lnTo>
                  <a:lnTo>
                    <a:pt x="720" y="42"/>
                  </a:lnTo>
                  <a:lnTo>
                    <a:pt x="708" y="124"/>
                  </a:lnTo>
                  <a:lnTo>
                    <a:pt x="566" y="157"/>
                  </a:lnTo>
                  <a:lnTo>
                    <a:pt x="564" y="155"/>
                  </a:lnTo>
                  <a:lnTo>
                    <a:pt x="564" y="153"/>
                  </a:lnTo>
                  <a:lnTo>
                    <a:pt x="562" y="153"/>
                  </a:lnTo>
                  <a:lnTo>
                    <a:pt x="562" y="151"/>
                  </a:lnTo>
                  <a:lnTo>
                    <a:pt x="560" y="149"/>
                  </a:lnTo>
                  <a:lnTo>
                    <a:pt x="558" y="147"/>
                  </a:lnTo>
                  <a:lnTo>
                    <a:pt x="558" y="146"/>
                  </a:lnTo>
                  <a:lnTo>
                    <a:pt x="556" y="144"/>
                  </a:lnTo>
                  <a:lnTo>
                    <a:pt x="554" y="140"/>
                  </a:lnTo>
                  <a:lnTo>
                    <a:pt x="553" y="138"/>
                  </a:lnTo>
                  <a:lnTo>
                    <a:pt x="551" y="136"/>
                  </a:lnTo>
                  <a:lnTo>
                    <a:pt x="549" y="132"/>
                  </a:lnTo>
                  <a:lnTo>
                    <a:pt x="547" y="130"/>
                  </a:lnTo>
                  <a:lnTo>
                    <a:pt x="545" y="126"/>
                  </a:lnTo>
                  <a:lnTo>
                    <a:pt x="543" y="124"/>
                  </a:lnTo>
                  <a:lnTo>
                    <a:pt x="541" y="121"/>
                  </a:lnTo>
                  <a:lnTo>
                    <a:pt x="539" y="119"/>
                  </a:lnTo>
                  <a:lnTo>
                    <a:pt x="535" y="115"/>
                  </a:lnTo>
                  <a:lnTo>
                    <a:pt x="533" y="111"/>
                  </a:lnTo>
                  <a:lnTo>
                    <a:pt x="531" y="109"/>
                  </a:lnTo>
                  <a:lnTo>
                    <a:pt x="530" y="105"/>
                  </a:lnTo>
                  <a:lnTo>
                    <a:pt x="528" y="103"/>
                  </a:lnTo>
                  <a:lnTo>
                    <a:pt x="526" y="99"/>
                  </a:lnTo>
                  <a:lnTo>
                    <a:pt x="522" y="96"/>
                  </a:lnTo>
                  <a:lnTo>
                    <a:pt x="520" y="94"/>
                  </a:lnTo>
                  <a:lnTo>
                    <a:pt x="518" y="90"/>
                  </a:lnTo>
                  <a:lnTo>
                    <a:pt x="516" y="88"/>
                  </a:lnTo>
                  <a:lnTo>
                    <a:pt x="514" y="84"/>
                  </a:lnTo>
                  <a:lnTo>
                    <a:pt x="512" y="82"/>
                  </a:lnTo>
                  <a:lnTo>
                    <a:pt x="510" y="80"/>
                  </a:lnTo>
                  <a:lnTo>
                    <a:pt x="508" y="78"/>
                  </a:lnTo>
                  <a:lnTo>
                    <a:pt x="506" y="76"/>
                  </a:lnTo>
                  <a:lnTo>
                    <a:pt x="503" y="75"/>
                  </a:lnTo>
                  <a:lnTo>
                    <a:pt x="501" y="73"/>
                  </a:lnTo>
                  <a:lnTo>
                    <a:pt x="499" y="71"/>
                  </a:lnTo>
                  <a:lnTo>
                    <a:pt x="497" y="71"/>
                  </a:lnTo>
                  <a:lnTo>
                    <a:pt x="495" y="69"/>
                  </a:lnTo>
                  <a:lnTo>
                    <a:pt x="491" y="69"/>
                  </a:lnTo>
                  <a:lnTo>
                    <a:pt x="489" y="67"/>
                  </a:lnTo>
                  <a:lnTo>
                    <a:pt x="487" y="67"/>
                  </a:lnTo>
                  <a:lnTo>
                    <a:pt x="485" y="67"/>
                  </a:lnTo>
                  <a:lnTo>
                    <a:pt x="483" y="65"/>
                  </a:lnTo>
                  <a:lnTo>
                    <a:pt x="482" y="65"/>
                  </a:lnTo>
                  <a:lnTo>
                    <a:pt x="480" y="65"/>
                  </a:lnTo>
                  <a:lnTo>
                    <a:pt x="478" y="65"/>
                  </a:lnTo>
                  <a:lnTo>
                    <a:pt x="474" y="65"/>
                  </a:lnTo>
                  <a:lnTo>
                    <a:pt x="472" y="65"/>
                  </a:lnTo>
                  <a:lnTo>
                    <a:pt x="470" y="65"/>
                  </a:lnTo>
                  <a:lnTo>
                    <a:pt x="468" y="65"/>
                  </a:lnTo>
                  <a:lnTo>
                    <a:pt x="466" y="65"/>
                  </a:lnTo>
                  <a:lnTo>
                    <a:pt x="464" y="65"/>
                  </a:lnTo>
                  <a:lnTo>
                    <a:pt x="464" y="67"/>
                  </a:lnTo>
                  <a:lnTo>
                    <a:pt x="462" y="67"/>
                  </a:lnTo>
                  <a:lnTo>
                    <a:pt x="460" y="67"/>
                  </a:lnTo>
                  <a:lnTo>
                    <a:pt x="458" y="67"/>
                  </a:lnTo>
                  <a:lnTo>
                    <a:pt x="457" y="69"/>
                  </a:lnTo>
                  <a:lnTo>
                    <a:pt x="455" y="69"/>
                  </a:lnTo>
                  <a:lnTo>
                    <a:pt x="453" y="71"/>
                  </a:lnTo>
                  <a:lnTo>
                    <a:pt x="451" y="71"/>
                  </a:lnTo>
                  <a:lnTo>
                    <a:pt x="449" y="73"/>
                  </a:lnTo>
                  <a:lnTo>
                    <a:pt x="447" y="75"/>
                  </a:lnTo>
                  <a:lnTo>
                    <a:pt x="445" y="75"/>
                  </a:lnTo>
                  <a:lnTo>
                    <a:pt x="443" y="76"/>
                  </a:lnTo>
                  <a:lnTo>
                    <a:pt x="441" y="76"/>
                  </a:lnTo>
                  <a:lnTo>
                    <a:pt x="437" y="78"/>
                  </a:lnTo>
                  <a:lnTo>
                    <a:pt x="435" y="80"/>
                  </a:lnTo>
                  <a:lnTo>
                    <a:pt x="432" y="82"/>
                  </a:lnTo>
                  <a:lnTo>
                    <a:pt x="430" y="82"/>
                  </a:lnTo>
                  <a:lnTo>
                    <a:pt x="426" y="84"/>
                  </a:lnTo>
                  <a:lnTo>
                    <a:pt x="422" y="86"/>
                  </a:lnTo>
                  <a:lnTo>
                    <a:pt x="418" y="88"/>
                  </a:lnTo>
                  <a:lnTo>
                    <a:pt x="414" y="92"/>
                  </a:lnTo>
                  <a:lnTo>
                    <a:pt x="410" y="94"/>
                  </a:lnTo>
                  <a:lnTo>
                    <a:pt x="407" y="96"/>
                  </a:lnTo>
                  <a:lnTo>
                    <a:pt x="403" y="98"/>
                  </a:lnTo>
                  <a:lnTo>
                    <a:pt x="399" y="101"/>
                  </a:lnTo>
                  <a:lnTo>
                    <a:pt x="395" y="103"/>
                  </a:lnTo>
                  <a:lnTo>
                    <a:pt x="393" y="105"/>
                  </a:lnTo>
                  <a:lnTo>
                    <a:pt x="389" y="109"/>
                  </a:lnTo>
                  <a:lnTo>
                    <a:pt x="387" y="111"/>
                  </a:lnTo>
                  <a:lnTo>
                    <a:pt x="386" y="113"/>
                  </a:lnTo>
                  <a:lnTo>
                    <a:pt x="384" y="117"/>
                  </a:lnTo>
                  <a:lnTo>
                    <a:pt x="382" y="119"/>
                  </a:lnTo>
                  <a:lnTo>
                    <a:pt x="382" y="121"/>
                  </a:lnTo>
                  <a:lnTo>
                    <a:pt x="380" y="124"/>
                  </a:lnTo>
                  <a:lnTo>
                    <a:pt x="380" y="126"/>
                  </a:lnTo>
                  <a:lnTo>
                    <a:pt x="380" y="128"/>
                  </a:lnTo>
                  <a:lnTo>
                    <a:pt x="378" y="130"/>
                  </a:lnTo>
                  <a:lnTo>
                    <a:pt x="378" y="134"/>
                  </a:lnTo>
                  <a:lnTo>
                    <a:pt x="378" y="136"/>
                  </a:lnTo>
                  <a:lnTo>
                    <a:pt x="378" y="138"/>
                  </a:lnTo>
                  <a:lnTo>
                    <a:pt x="378" y="140"/>
                  </a:lnTo>
                  <a:lnTo>
                    <a:pt x="378" y="142"/>
                  </a:lnTo>
                  <a:lnTo>
                    <a:pt x="378" y="144"/>
                  </a:lnTo>
                  <a:lnTo>
                    <a:pt x="380" y="146"/>
                  </a:lnTo>
                  <a:lnTo>
                    <a:pt x="380" y="147"/>
                  </a:lnTo>
                  <a:lnTo>
                    <a:pt x="380" y="149"/>
                  </a:lnTo>
                  <a:lnTo>
                    <a:pt x="380" y="151"/>
                  </a:lnTo>
                  <a:lnTo>
                    <a:pt x="382" y="151"/>
                  </a:lnTo>
                  <a:lnTo>
                    <a:pt x="382" y="153"/>
                  </a:lnTo>
                  <a:lnTo>
                    <a:pt x="382" y="155"/>
                  </a:lnTo>
                  <a:lnTo>
                    <a:pt x="409" y="232"/>
                  </a:lnTo>
                  <a:lnTo>
                    <a:pt x="299" y="328"/>
                  </a:lnTo>
                  <a:lnTo>
                    <a:pt x="297" y="328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3" y="326"/>
                  </a:lnTo>
                  <a:lnTo>
                    <a:pt x="291" y="324"/>
                  </a:lnTo>
                  <a:lnTo>
                    <a:pt x="290" y="324"/>
                  </a:lnTo>
                  <a:lnTo>
                    <a:pt x="288" y="322"/>
                  </a:lnTo>
                  <a:lnTo>
                    <a:pt x="286" y="320"/>
                  </a:lnTo>
                  <a:lnTo>
                    <a:pt x="284" y="320"/>
                  </a:lnTo>
                  <a:lnTo>
                    <a:pt x="282" y="318"/>
                  </a:lnTo>
                  <a:lnTo>
                    <a:pt x="278" y="316"/>
                  </a:lnTo>
                  <a:lnTo>
                    <a:pt x="276" y="316"/>
                  </a:lnTo>
                  <a:lnTo>
                    <a:pt x="272" y="314"/>
                  </a:lnTo>
                  <a:lnTo>
                    <a:pt x="270" y="313"/>
                  </a:lnTo>
                  <a:lnTo>
                    <a:pt x="267" y="311"/>
                  </a:lnTo>
                  <a:lnTo>
                    <a:pt x="263" y="309"/>
                  </a:lnTo>
                  <a:lnTo>
                    <a:pt x="261" y="307"/>
                  </a:lnTo>
                  <a:lnTo>
                    <a:pt x="257" y="307"/>
                  </a:lnTo>
                  <a:lnTo>
                    <a:pt x="253" y="305"/>
                  </a:lnTo>
                  <a:lnTo>
                    <a:pt x="249" y="303"/>
                  </a:lnTo>
                  <a:lnTo>
                    <a:pt x="245" y="301"/>
                  </a:lnTo>
                  <a:lnTo>
                    <a:pt x="243" y="299"/>
                  </a:lnTo>
                  <a:lnTo>
                    <a:pt x="240" y="297"/>
                  </a:lnTo>
                  <a:lnTo>
                    <a:pt x="236" y="295"/>
                  </a:lnTo>
                  <a:lnTo>
                    <a:pt x="232" y="295"/>
                  </a:lnTo>
                  <a:lnTo>
                    <a:pt x="228" y="293"/>
                  </a:lnTo>
                  <a:lnTo>
                    <a:pt x="226" y="291"/>
                  </a:lnTo>
                  <a:lnTo>
                    <a:pt x="222" y="289"/>
                  </a:lnTo>
                  <a:lnTo>
                    <a:pt x="219" y="289"/>
                  </a:lnTo>
                  <a:lnTo>
                    <a:pt x="217" y="288"/>
                  </a:lnTo>
                  <a:lnTo>
                    <a:pt x="213" y="286"/>
                  </a:lnTo>
                  <a:lnTo>
                    <a:pt x="211" y="286"/>
                  </a:lnTo>
                  <a:lnTo>
                    <a:pt x="207" y="284"/>
                  </a:lnTo>
                  <a:lnTo>
                    <a:pt x="205" y="284"/>
                  </a:lnTo>
                  <a:lnTo>
                    <a:pt x="201" y="284"/>
                  </a:lnTo>
                  <a:lnTo>
                    <a:pt x="199" y="284"/>
                  </a:lnTo>
                  <a:lnTo>
                    <a:pt x="197" y="284"/>
                  </a:lnTo>
                  <a:lnTo>
                    <a:pt x="194" y="284"/>
                  </a:lnTo>
                  <a:lnTo>
                    <a:pt x="192" y="284"/>
                  </a:lnTo>
                  <a:lnTo>
                    <a:pt x="190" y="284"/>
                  </a:lnTo>
                  <a:lnTo>
                    <a:pt x="188" y="284"/>
                  </a:lnTo>
                  <a:lnTo>
                    <a:pt x="186" y="284"/>
                  </a:lnTo>
                  <a:lnTo>
                    <a:pt x="184" y="286"/>
                  </a:lnTo>
                  <a:lnTo>
                    <a:pt x="182" y="286"/>
                  </a:lnTo>
                  <a:lnTo>
                    <a:pt x="180" y="288"/>
                  </a:lnTo>
                  <a:lnTo>
                    <a:pt x="178" y="288"/>
                  </a:lnTo>
                  <a:lnTo>
                    <a:pt x="176" y="289"/>
                  </a:lnTo>
                  <a:lnTo>
                    <a:pt x="174" y="289"/>
                  </a:lnTo>
                  <a:lnTo>
                    <a:pt x="172" y="291"/>
                  </a:lnTo>
                  <a:lnTo>
                    <a:pt x="171" y="291"/>
                  </a:lnTo>
                  <a:lnTo>
                    <a:pt x="171" y="293"/>
                  </a:lnTo>
                  <a:lnTo>
                    <a:pt x="169" y="293"/>
                  </a:lnTo>
                  <a:lnTo>
                    <a:pt x="167" y="295"/>
                  </a:lnTo>
                  <a:lnTo>
                    <a:pt x="165" y="297"/>
                  </a:lnTo>
                  <a:lnTo>
                    <a:pt x="163" y="299"/>
                  </a:lnTo>
                  <a:lnTo>
                    <a:pt x="163" y="301"/>
                  </a:lnTo>
                  <a:lnTo>
                    <a:pt x="161" y="301"/>
                  </a:lnTo>
                  <a:lnTo>
                    <a:pt x="161" y="303"/>
                  </a:lnTo>
                  <a:lnTo>
                    <a:pt x="159" y="305"/>
                  </a:lnTo>
                  <a:lnTo>
                    <a:pt x="157" y="307"/>
                  </a:lnTo>
                  <a:lnTo>
                    <a:pt x="157" y="309"/>
                  </a:lnTo>
                  <a:lnTo>
                    <a:pt x="155" y="311"/>
                  </a:lnTo>
                  <a:lnTo>
                    <a:pt x="153" y="313"/>
                  </a:lnTo>
                  <a:lnTo>
                    <a:pt x="153" y="314"/>
                  </a:lnTo>
                  <a:lnTo>
                    <a:pt x="151" y="316"/>
                  </a:lnTo>
                  <a:lnTo>
                    <a:pt x="149" y="318"/>
                  </a:lnTo>
                  <a:lnTo>
                    <a:pt x="147" y="320"/>
                  </a:lnTo>
                  <a:lnTo>
                    <a:pt x="146" y="322"/>
                  </a:lnTo>
                  <a:lnTo>
                    <a:pt x="144" y="326"/>
                  </a:lnTo>
                  <a:lnTo>
                    <a:pt x="142" y="328"/>
                  </a:lnTo>
                  <a:lnTo>
                    <a:pt x="140" y="332"/>
                  </a:lnTo>
                  <a:lnTo>
                    <a:pt x="138" y="336"/>
                  </a:lnTo>
                  <a:lnTo>
                    <a:pt x="136" y="339"/>
                  </a:lnTo>
                  <a:lnTo>
                    <a:pt x="132" y="343"/>
                  </a:lnTo>
                  <a:lnTo>
                    <a:pt x="130" y="347"/>
                  </a:lnTo>
                  <a:lnTo>
                    <a:pt x="128" y="351"/>
                  </a:lnTo>
                  <a:lnTo>
                    <a:pt x="124" y="355"/>
                  </a:lnTo>
                  <a:lnTo>
                    <a:pt x="124" y="359"/>
                  </a:lnTo>
                  <a:lnTo>
                    <a:pt x="123" y="362"/>
                  </a:lnTo>
                  <a:lnTo>
                    <a:pt x="121" y="366"/>
                  </a:lnTo>
                  <a:lnTo>
                    <a:pt x="121" y="368"/>
                  </a:lnTo>
                  <a:lnTo>
                    <a:pt x="119" y="372"/>
                  </a:lnTo>
                  <a:lnTo>
                    <a:pt x="119" y="376"/>
                  </a:lnTo>
                  <a:lnTo>
                    <a:pt x="119" y="378"/>
                  </a:lnTo>
                  <a:lnTo>
                    <a:pt x="119" y="382"/>
                  </a:lnTo>
                  <a:lnTo>
                    <a:pt x="119" y="384"/>
                  </a:lnTo>
                  <a:lnTo>
                    <a:pt x="121" y="385"/>
                  </a:lnTo>
                  <a:lnTo>
                    <a:pt x="121" y="389"/>
                  </a:lnTo>
                  <a:lnTo>
                    <a:pt x="121" y="391"/>
                  </a:lnTo>
                  <a:lnTo>
                    <a:pt x="123" y="393"/>
                  </a:lnTo>
                  <a:lnTo>
                    <a:pt x="123" y="395"/>
                  </a:lnTo>
                  <a:lnTo>
                    <a:pt x="124" y="397"/>
                  </a:lnTo>
                  <a:lnTo>
                    <a:pt x="124" y="399"/>
                  </a:lnTo>
                  <a:lnTo>
                    <a:pt x="126" y="401"/>
                  </a:lnTo>
                  <a:lnTo>
                    <a:pt x="126" y="403"/>
                  </a:lnTo>
                  <a:lnTo>
                    <a:pt x="128" y="403"/>
                  </a:lnTo>
                  <a:lnTo>
                    <a:pt x="130" y="405"/>
                  </a:lnTo>
                  <a:lnTo>
                    <a:pt x="130" y="407"/>
                  </a:lnTo>
                  <a:lnTo>
                    <a:pt x="132" y="407"/>
                  </a:lnTo>
                  <a:lnTo>
                    <a:pt x="132" y="408"/>
                  </a:lnTo>
                  <a:lnTo>
                    <a:pt x="134" y="408"/>
                  </a:lnTo>
                  <a:lnTo>
                    <a:pt x="136" y="410"/>
                  </a:lnTo>
                  <a:lnTo>
                    <a:pt x="195" y="466"/>
                  </a:lnTo>
                  <a:lnTo>
                    <a:pt x="142" y="602"/>
                  </a:lnTo>
                  <a:lnTo>
                    <a:pt x="140" y="602"/>
                  </a:lnTo>
                  <a:lnTo>
                    <a:pt x="138" y="602"/>
                  </a:lnTo>
                  <a:lnTo>
                    <a:pt x="136" y="602"/>
                  </a:lnTo>
                  <a:lnTo>
                    <a:pt x="134" y="602"/>
                  </a:lnTo>
                  <a:lnTo>
                    <a:pt x="132" y="602"/>
                  </a:lnTo>
                  <a:lnTo>
                    <a:pt x="130" y="602"/>
                  </a:lnTo>
                  <a:lnTo>
                    <a:pt x="126" y="602"/>
                  </a:lnTo>
                  <a:lnTo>
                    <a:pt x="124" y="602"/>
                  </a:lnTo>
                  <a:lnTo>
                    <a:pt x="121" y="602"/>
                  </a:lnTo>
                  <a:lnTo>
                    <a:pt x="119" y="602"/>
                  </a:lnTo>
                  <a:lnTo>
                    <a:pt x="115" y="602"/>
                  </a:lnTo>
                  <a:lnTo>
                    <a:pt x="113" y="602"/>
                  </a:lnTo>
                  <a:lnTo>
                    <a:pt x="109" y="602"/>
                  </a:lnTo>
                  <a:lnTo>
                    <a:pt x="105" y="604"/>
                  </a:lnTo>
                  <a:lnTo>
                    <a:pt x="101" y="604"/>
                  </a:lnTo>
                  <a:lnTo>
                    <a:pt x="98" y="604"/>
                  </a:lnTo>
                  <a:lnTo>
                    <a:pt x="94" y="604"/>
                  </a:lnTo>
                  <a:lnTo>
                    <a:pt x="90" y="604"/>
                  </a:lnTo>
                  <a:lnTo>
                    <a:pt x="86" y="604"/>
                  </a:lnTo>
                  <a:lnTo>
                    <a:pt x="82" y="604"/>
                  </a:lnTo>
                  <a:lnTo>
                    <a:pt x="78" y="604"/>
                  </a:lnTo>
                  <a:lnTo>
                    <a:pt x="75" y="604"/>
                  </a:lnTo>
                  <a:lnTo>
                    <a:pt x="71" y="604"/>
                  </a:lnTo>
                  <a:lnTo>
                    <a:pt x="67" y="604"/>
                  </a:lnTo>
                  <a:lnTo>
                    <a:pt x="65" y="604"/>
                  </a:lnTo>
                  <a:lnTo>
                    <a:pt x="61" y="604"/>
                  </a:lnTo>
                  <a:lnTo>
                    <a:pt x="57" y="606"/>
                  </a:lnTo>
                  <a:lnTo>
                    <a:pt x="53" y="606"/>
                  </a:lnTo>
                  <a:lnTo>
                    <a:pt x="50" y="606"/>
                  </a:lnTo>
                  <a:lnTo>
                    <a:pt x="48" y="606"/>
                  </a:lnTo>
                  <a:lnTo>
                    <a:pt x="44" y="606"/>
                  </a:lnTo>
                  <a:lnTo>
                    <a:pt x="42" y="606"/>
                  </a:lnTo>
                  <a:lnTo>
                    <a:pt x="38" y="608"/>
                  </a:lnTo>
                  <a:lnTo>
                    <a:pt x="36" y="608"/>
                  </a:lnTo>
                  <a:lnTo>
                    <a:pt x="34" y="610"/>
                  </a:lnTo>
                  <a:lnTo>
                    <a:pt x="30" y="610"/>
                  </a:lnTo>
                  <a:lnTo>
                    <a:pt x="28" y="612"/>
                  </a:lnTo>
                  <a:lnTo>
                    <a:pt x="27" y="614"/>
                  </a:lnTo>
                  <a:lnTo>
                    <a:pt x="25" y="614"/>
                  </a:lnTo>
                  <a:lnTo>
                    <a:pt x="23" y="616"/>
                  </a:lnTo>
                  <a:lnTo>
                    <a:pt x="21" y="618"/>
                  </a:lnTo>
                  <a:lnTo>
                    <a:pt x="19" y="620"/>
                  </a:lnTo>
                  <a:lnTo>
                    <a:pt x="19" y="622"/>
                  </a:lnTo>
                  <a:lnTo>
                    <a:pt x="17" y="622"/>
                  </a:lnTo>
                  <a:lnTo>
                    <a:pt x="15" y="623"/>
                  </a:lnTo>
                  <a:lnTo>
                    <a:pt x="15" y="625"/>
                  </a:lnTo>
                  <a:lnTo>
                    <a:pt x="13" y="627"/>
                  </a:lnTo>
                  <a:lnTo>
                    <a:pt x="13" y="629"/>
                  </a:lnTo>
                  <a:lnTo>
                    <a:pt x="11" y="631"/>
                  </a:lnTo>
                  <a:lnTo>
                    <a:pt x="9" y="633"/>
                  </a:lnTo>
                  <a:lnTo>
                    <a:pt x="9" y="635"/>
                  </a:lnTo>
                  <a:lnTo>
                    <a:pt x="9" y="637"/>
                  </a:lnTo>
                  <a:lnTo>
                    <a:pt x="7" y="639"/>
                  </a:lnTo>
                  <a:lnTo>
                    <a:pt x="7" y="641"/>
                  </a:lnTo>
                  <a:lnTo>
                    <a:pt x="7" y="643"/>
                  </a:lnTo>
                  <a:lnTo>
                    <a:pt x="7" y="645"/>
                  </a:lnTo>
                  <a:lnTo>
                    <a:pt x="7" y="646"/>
                  </a:lnTo>
                  <a:lnTo>
                    <a:pt x="5" y="646"/>
                  </a:lnTo>
                  <a:lnTo>
                    <a:pt x="5" y="648"/>
                  </a:lnTo>
                  <a:lnTo>
                    <a:pt x="5" y="650"/>
                  </a:lnTo>
                  <a:lnTo>
                    <a:pt x="5" y="652"/>
                  </a:lnTo>
                  <a:lnTo>
                    <a:pt x="5" y="654"/>
                  </a:lnTo>
                  <a:lnTo>
                    <a:pt x="5" y="656"/>
                  </a:lnTo>
                  <a:lnTo>
                    <a:pt x="5" y="658"/>
                  </a:lnTo>
                  <a:lnTo>
                    <a:pt x="5" y="662"/>
                  </a:lnTo>
                  <a:lnTo>
                    <a:pt x="4" y="664"/>
                  </a:lnTo>
                  <a:lnTo>
                    <a:pt x="4" y="666"/>
                  </a:lnTo>
                  <a:lnTo>
                    <a:pt x="4" y="670"/>
                  </a:lnTo>
                  <a:lnTo>
                    <a:pt x="4" y="673"/>
                  </a:lnTo>
                  <a:lnTo>
                    <a:pt x="4" y="677"/>
                  </a:lnTo>
                  <a:lnTo>
                    <a:pt x="2" y="681"/>
                  </a:lnTo>
                  <a:lnTo>
                    <a:pt x="2" y="685"/>
                  </a:lnTo>
                  <a:lnTo>
                    <a:pt x="2" y="689"/>
                  </a:lnTo>
                  <a:lnTo>
                    <a:pt x="2" y="694"/>
                  </a:lnTo>
                  <a:lnTo>
                    <a:pt x="0" y="698"/>
                  </a:lnTo>
                  <a:lnTo>
                    <a:pt x="0" y="704"/>
                  </a:lnTo>
                  <a:lnTo>
                    <a:pt x="0" y="708"/>
                  </a:lnTo>
                  <a:lnTo>
                    <a:pt x="0" y="712"/>
                  </a:lnTo>
                  <a:lnTo>
                    <a:pt x="2" y="716"/>
                  </a:lnTo>
                  <a:lnTo>
                    <a:pt x="2" y="719"/>
                  </a:lnTo>
                  <a:lnTo>
                    <a:pt x="4" y="723"/>
                  </a:lnTo>
                  <a:lnTo>
                    <a:pt x="4" y="725"/>
                  </a:lnTo>
                  <a:lnTo>
                    <a:pt x="5" y="729"/>
                  </a:lnTo>
                  <a:lnTo>
                    <a:pt x="5" y="731"/>
                  </a:lnTo>
                  <a:lnTo>
                    <a:pt x="7" y="733"/>
                  </a:lnTo>
                  <a:lnTo>
                    <a:pt x="9" y="737"/>
                  </a:lnTo>
                  <a:lnTo>
                    <a:pt x="11" y="739"/>
                  </a:lnTo>
                  <a:lnTo>
                    <a:pt x="13" y="741"/>
                  </a:lnTo>
                  <a:lnTo>
                    <a:pt x="13" y="742"/>
                  </a:lnTo>
                  <a:lnTo>
                    <a:pt x="15" y="742"/>
                  </a:lnTo>
                  <a:lnTo>
                    <a:pt x="17" y="744"/>
                  </a:lnTo>
                  <a:lnTo>
                    <a:pt x="19" y="746"/>
                  </a:lnTo>
                  <a:lnTo>
                    <a:pt x="21" y="746"/>
                  </a:lnTo>
                  <a:lnTo>
                    <a:pt x="23" y="748"/>
                  </a:lnTo>
                  <a:lnTo>
                    <a:pt x="25" y="748"/>
                  </a:lnTo>
                  <a:lnTo>
                    <a:pt x="27" y="750"/>
                  </a:lnTo>
                  <a:lnTo>
                    <a:pt x="28" y="750"/>
                  </a:lnTo>
                  <a:lnTo>
                    <a:pt x="30" y="750"/>
                  </a:lnTo>
                  <a:lnTo>
                    <a:pt x="32" y="752"/>
                  </a:lnTo>
                  <a:lnTo>
                    <a:pt x="34" y="752"/>
                  </a:lnTo>
                  <a:lnTo>
                    <a:pt x="36" y="752"/>
                  </a:lnTo>
                  <a:lnTo>
                    <a:pt x="117" y="775"/>
                  </a:lnTo>
                  <a:lnTo>
                    <a:pt x="130" y="919"/>
                  </a:lnTo>
                  <a:lnTo>
                    <a:pt x="130" y="921"/>
                  </a:lnTo>
                  <a:lnTo>
                    <a:pt x="128" y="921"/>
                  </a:lnTo>
                  <a:lnTo>
                    <a:pt x="126" y="923"/>
                  </a:lnTo>
                  <a:lnTo>
                    <a:pt x="124" y="923"/>
                  </a:lnTo>
                  <a:lnTo>
                    <a:pt x="123" y="925"/>
                  </a:lnTo>
                  <a:lnTo>
                    <a:pt x="121" y="925"/>
                  </a:lnTo>
                  <a:lnTo>
                    <a:pt x="119" y="927"/>
                  </a:lnTo>
                  <a:lnTo>
                    <a:pt x="115" y="927"/>
                  </a:lnTo>
                  <a:lnTo>
                    <a:pt x="113" y="929"/>
                  </a:lnTo>
                  <a:lnTo>
                    <a:pt x="111" y="931"/>
                  </a:lnTo>
                  <a:lnTo>
                    <a:pt x="107" y="932"/>
                  </a:lnTo>
                  <a:lnTo>
                    <a:pt x="105" y="934"/>
                  </a:lnTo>
                  <a:lnTo>
                    <a:pt x="101" y="934"/>
                  </a:lnTo>
                  <a:lnTo>
                    <a:pt x="100" y="936"/>
                  </a:lnTo>
                  <a:lnTo>
                    <a:pt x="96" y="938"/>
                  </a:lnTo>
                  <a:lnTo>
                    <a:pt x="92" y="940"/>
                  </a:lnTo>
                  <a:lnTo>
                    <a:pt x="88" y="942"/>
                  </a:lnTo>
                  <a:lnTo>
                    <a:pt x="86" y="944"/>
                  </a:lnTo>
                  <a:lnTo>
                    <a:pt x="82" y="946"/>
                  </a:lnTo>
                  <a:lnTo>
                    <a:pt x="78" y="948"/>
                  </a:lnTo>
                  <a:lnTo>
                    <a:pt x="75" y="950"/>
                  </a:lnTo>
                  <a:lnTo>
                    <a:pt x="73" y="952"/>
                  </a:lnTo>
                  <a:lnTo>
                    <a:pt x="69" y="954"/>
                  </a:lnTo>
                  <a:lnTo>
                    <a:pt x="65" y="955"/>
                  </a:lnTo>
                  <a:lnTo>
                    <a:pt x="63" y="957"/>
                  </a:lnTo>
                  <a:lnTo>
                    <a:pt x="59" y="959"/>
                  </a:lnTo>
                  <a:lnTo>
                    <a:pt x="55" y="961"/>
                  </a:lnTo>
                  <a:lnTo>
                    <a:pt x="53" y="963"/>
                  </a:lnTo>
                  <a:lnTo>
                    <a:pt x="50" y="963"/>
                  </a:lnTo>
                  <a:lnTo>
                    <a:pt x="48" y="965"/>
                  </a:lnTo>
                  <a:lnTo>
                    <a:pt x="46" y="967"/>
                  </a:lnTo>
                  <a:lnTo>
                    <a:pt x="42" y="969"/>
                  </a:lnTo>
                  <a:lnTo>
                    <a:pt x="40" y="971"/>
                  </a:lnTo>
                  <a:lnTo>
                    <a:pt x="38" y="973"/>
                  </a:lnTo>
                  <a:lnTo>
                    <a:pt x="38" y="975"/>
                  </a:lnTo>
                  <a:lnTo>
                    <a:pt x="36" y="979"/>
                  </a:lnTo>
                  <a:lnTo>
                    <a:pt x="34" y="980"/>
                  </a:lnTo>
                  <a:lnTo>
                    <a:pt x="32" y="982"/>
                  </a:lnTo>
                  <a:lnTo>
                    <a:pt x="32" y="984"/>
                  </a:lnTo>
                  <a:lnTo>
                    <a:pt x="30" y="986"/>
                  </a:lnTo>
                  <a:lnTo>
                    <a:pt x="30" y="988"/>
                  </a:lnTo>
                  <a:lnTo>
                    <a:pt x="30" y="990"/>
                  </a:lnTo>
                  <a:lnTo>
                    <a:pt x="28" y="992"/>
                  </a:lnTo>
                  <a:lnTo>
                    <a:pt x="28" y="994"/>
                  </a:lnTo>
                  <a:lnTo>
                    <a:pt x="28" y="996"/>
                  </a:lnTo>
                  <a:lnTo>
                    <a:pt x="28" y="998"/>
                  </a:lnTo>
                  <a:lnTo>
                    <a:pt x="28" y="1000"/>
                  </a:lnTo>
                  <a:lnTo>
                    <a:pt x="28" y="1002"/>
                  </a:lnTo>
                  <a:lnTo>
                    <a:pt x="28" y="1003"/>
                  </a:lnTo>
                  <a:lnTo>
                    <a:pt x="28" y="1005"/>
                  </a:lnTo>
                  <a:lnTo>
                    <a:pt x="28" y="1007"/>
                  </a:lnTo>
                  <a:lnTo>
                    <a:pt x="28" y="1009"/>
                  </a:lnTo>
                  <a:lnTo>
                    <a:pt x="28" y="1011"/>
                  </a:lnTo>
                  <a:lnTo>
                    <a:pt x="28" y="1013"/>
                  </a:lnTo>
                  <a:lnTo>
                    <a:pt x="28" y="1015"/>
                  </a:lnTo>
                  <a:lnTo>
                    <a:pt x="30" y="1015"/>
                  </a:lnTo>
                  <a:lnTo>
                    <a:pt x="30" y="1017"/>
                  </a:lnTo>
                  <a:lnTo>
                    <a:pt x="30" y="1019"/>
                  </a:lnTo>
                  <a:lnTo>
                    <a:pt x="32" y="1021"/>
                  </a:lnTo>
                  <a:lnTo>
                    <a:pt x="32" y="1023"/>
                  </a:lnTo>
                  <a:lnTo>
                    <a:pt x="32" y="1025"/>
                  </a:lnTo>
                  <a:lnTo>
                    <a:pt x="34" y="1027"/>
                  </a:lnTo>
                  <a:lnTo>
                    <a:pt x="34" y="1028"/>
                  </a:lnTo>
                  <a:lnTo>
                    <a:pt x="34" y="1030"/>
                  </a:lnTo>
                  <a:lnTo>
                    <a:pt x="36" y="1032"/>
                  </a:lnTo>
                  <a:lnTo>
                    <a:pt x="36" y="1034"/>
                  </a:lnTo>
                  <a:lnTo>
                    <a:pt x="38" y="1036"/>
                  </a:lnTo>
                  <a:lnTo>
                    <a:pt x="38" y="1040"/>
                  </a:lnTo>
                  <a:lnTo>
                    <a:pt x="40" y="1042"/>
                  </a:lnTo>
                  <a:lnTo>
                    <a:pt x="40" y="1046"/>
                  </a:lnTo>
                  <a:lnTo>
                    <a:pt x="42" y="1050"/>
                  </a:lnTo>
                  <a:lnTo>
                    <a:pt x="44" y="1053"/>
                  </a:lnTo>
                  <a:lnTo>
                    <a:pt x="46" y="1057"/>
                  </a:lnTo>
                  <a:lnTo>
                    <a:pt x="48" y="1061"/>
                  </a:lnTo>
                  <a:lnTo>
                    <a:pt x="48" y="1065"/>
                  </a:lnTo>
                  <a:lnTo>
                    <a:pt x="50" y="1071"/>
                  </a:lnTo>
                  <a:lnTo>
                    <a:pt x="52" y="1074"/>
                  </a:lnTo>
                  <a:lnTo>
                    <a:pt x="55" y="1078"/>
                  </a:lnTo>
                  <a:lnTo>
                    <a:pt x="57" y="1082"/>
                  </a:lnTo>
                  <a:lnTo>
                    <a:pt x="59" y="1084"/>
                  </a:lnTo>
                  <a:lnTo>
                    <a:pt x="61" y="1088"/>
                  </a:lnTo>
                  <a:lnTo>
                    <a:pt x="63" y="1090"/>
                  </a:lnTo>
                  <a:lnTo>
                    <a:pt x="65" y="1092"/>
                  </a:lnTo>
                  <a:lnTo>
                    <a:pt x="69" y="1094"/>
                  </a:lnTo>
                  <a:lnTo>
                    <a:pt x="71" y="1096"/>
                  </a:lnTo>
                  <a:lnTo>
                    <a:pt x="73" y="1098"/>
                  </a:lnTo>
                  <a:lnTo>
                    <a:pt x="75" y="1099"/>
                  </a:lnTo>
                  <a:lnTo>
                    <a:pt x="78" y="1099"/>
                  </a:lnTo>
                  <a:lnTo>
                    <a:pt x="80" y="1101"/>
                  </a:lnTo>
                  <a:lnTo>
                    <a:pt x="82" y="1101"/>
                  </a:lnTo>
                  <a:lnTo>
                    <a:pt x="84" y="1101"/>
                  </a:lnTo>
                  <a:lnTo>
                    <a:pt x="86" y="1103"/>
                  </a:lnTo>
                  <a:lnTo>
                    <a:pt x="88" y="1103"/>
                  </a:lnTo>
                  <a:lnTo>
                    <a:pt x="90" y="1103"/>
                  </a:lnTo>
                  <a:lnTo>
                    <a:pt x="92" y="1103"/>
                  </a:lnTo>
                  <a:lnTo>
                    <a:pt x="94" y="1103"/>
                  </a:lnTo>
                  <a:lnTo>
                    <a:pt x="96" y="1103"/>
                  </a:lnTo>
                  <a:lnTo>
                    <a:pt x="98" y="1103"/>
                  </a:lnTo>
                  <a:lnTo>
                    <a:pt x="100" y="1103"/>
                  </a:lnTo>
                  <a:lnTo>
                    <a:pt x="101" y="1103"/>
                  </a:lnTo>
                  <a:lnTo>
                    <a:pt x="103" y="1101"/>
                  </a:lnTo>
                  <a:lnTo>
                    <a:pt x="105" y="1101"/>
                  </a:lnTo>
                  <a:lnTo>
                    <a:pt x="188" y="1084"/>
                  </a:lnTo>
                  <a:lnTo>
                    <a:pt x="268" y="12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headEnd/>
              <a:tailEnd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vert="horz" wrap="square" lIns="44450" tIns="274320" rIns="44450" bIns="444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3686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פיתוח יכולות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/>
              </a:r>
              <a:b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kumimoji="0" lang="he-IL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 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AI</a:t>
              </a:r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D9CCFA4A-3616-48CE-876F-07F1365A64CE}"/>
                </a:ext>
              </a:extLst>
            </p:cNvPr>
            <p:cNvSpPr/>
            <p:nvPr/>
          </p:nvSpPr>
          <p:spPr bwMode="gray">
            <a:xfrm rot="617810">
              <a:off x="3159925" y="3597701"/>
              <a:ext cx="1883664" cy="1867174"/>
            </a:xfrm>
            <a:prstGeom prst="arc">
              <a:avLst>
                <a:gd name="adj1" fmla="val 16686941"/>
                <a:gd name="adj2" fmla="val 8034923"/>
              </a:avLst>
            </a:prstGeom>
            <a:ln w="28575">
              <a:solidFill>
                <a:schemeClr val="accent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l" defTabSz="9136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08FA9DA3-15A3-4F2E-87C3-948BF5D3994F}"/>
                </a:ext>
              </a:extLst>
            </p:cNvPr>
            <p:cNvSpPr/>
            <p:nvPr/>
          </p:nvSpPr>
          <p:spPr bwMode="gray">
            <a:xfrm rot="617810">
              <a:off x="2390715" y="2306745"/>
              <a:ext cx="1792224" cy="1773816"/>
            </a:xfrm>
            <a:prstGeom prst="arc">
              <a:avLst>
                <a:gd name="adj1" fmla="val 10210110"/>
                <a:gd name="adj2" fmla="val 175146"/>
              </a:avLst>
            </a:prstGeom>
            <a:ln w="28575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l" defTabSz="9136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09F281AB-D5A6-44C6-A902-2ABC33B66EE6}"/>
                </a:ext>
              </a:extLst>
            </p:cNvPr>
            <p:cNvSpPr/>
            <p:nvPr/>
          </p:nvSpPr>
          <p:spPr bwMode="gray">
            <a:xfrm rot="5756245" flipH="1">
              <a:off x="1475770" y="3579735"/>
              <a:ext cx="1829831" cy="1788753"/>
            </a:xfrm>
            <a:prstGeom prst="arc">
              <a:avLst>
                <a:gd name="adj1" fmla="val 1078623"/>
                <a:gd name="adj2" fmla="val 13769744"/>
              </a:avLst>
            </a:prstGeom>
            <a:ln w="2857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l" defTabSz="9136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grpSp>
          <p:nvGrpSpPr>
            <p:cNvPr id="32" name="Group 449">
              <a:extLst>
                <a:ext uri="{FF2B5EF4-FFF2-40B4-BE49-F238E27FC236}">
                  <a16:creationId xmlns:a16="http://schemas.microsoft.com/office/drawing/2014/main" id="{02D64051-01E2-4749-B62D-BB4DE7E5D4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30085" y="2757956"/>
              <a:ext cx="316218" cy="316218"/>
              <a:chOff x="2276" y="1587"/>
              <a:chExt cx="340" cy="340"/>
            </a:xfrm>
            <a:solidFill>
              <a:schemeClr val="bg1"/>
            </a:solidFill>
          </p:grpSpPr>
          <p:sp>
            <p:nvSpPr>
              <p:cNvPr id="33" name="Freeform 450">
                <a:extLst>
                  <a:ext uri="{FF2B5EF4-FFF2-40B4-BE49-F238E27FC236}">
                    <a16:creationId xmlns:a16="http://schemas.microsoft.com/office/drawing/2014/main" id="{283CA427-C2FB-45CE-8FFE-D53E3B6E40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76" y="1587"/>
                <a:ext cx="340" cy="340"/>
              </a:xfrm>
              <a:custGeom>
                <a:avLst/>
                <a:gdLst>
                  <a:gd name="T0" fmla="*/ 256 w 512"/>
                  <a:gd name="T1" fmla="*/ 0 h 512"/>
                  <a:gd name="T2" fmla="*/ 0 w 512"/>
                  <a:gd name="T3" fmla="*/ 256 h 512"/>
                  <a:gd name="T4" fmla="*/ 256 w 512"/>
                  <a:gd name="T5" fmla="*/ 512 h 512"/>
                  <a:gd name="T6" fmla="*/ 512 w 512"/>
                  <a:gd name="T7" fmla="*/ 256 h 512"/>
                  <a:gd name="T8" fmla="*/ 256 w 512"/>
                  <a:gd name="T9" fmla="*/ 0 h 512"/>
                  <a:gd name="T10" fmla="*/ 405 w 512"/>
                  <a:gd name="T11" fmla="*/ 266 h 512"/>
                  <a:gd name="T12" fmla="*/ 266 w 512"/>
                  <a:gd name="T13" fmla="*/ 266 h 512"/>
                  <a:gd name="T14" fmla="*/ 266 w 512"/>
                  <a:gd name="T15" fmla="*/ 405 h 512"/>
                  <a:gd name="T16" fmla="*/ 256 w 512"/>
                  <a:gd name="T17" fmla="*/ 416 h 512"/>
                  <a:gd name="T18" fmla="*/ 245 w 512"/>
                  <a:gd name="T19" fmla="*/ 405 h 512"/>
                  <a:gd name="T20" fmla="*/ 245 w 512"/>
                  <a:gd name="T21" fmla="*/ 266 h 512"/>
                  <a:gd name="T22" fmla="*/ 106 w 512"/>
                  <a:gd name="T23" fmla="*/ 266 h 512"/>
                  <a:gd name="T24" fmla="*/ 96 w 512"/>
                  <a:gd name="T25" fmla="*/ 256 h 512"/>
                  <a:gd name="T26" fmla="*/ 106 w 512"/>
                  <a:gd name="T27" fmla="*/ 245 h 512"/>
                  <a:gd name="T28" fmla="*/ 245 w 512"/>
                  <a:gd name="T29" fmla="*/ 245 h 512"/>
                  <a:gd name="T30" fmla="*/ 245 w 512"/>
                  <a:gd name="T31" fmla="*/ 106 h 512"/>
                  <a:gd name="T32" fmla="*/ 256 w 512"/>
                  <a:gd name="T33" fmla="*/ 96 h 512"/>
                  <a:gd name="T34" fmla="*/ 266 w 512"/>
                  <a:gd name="T35" fmla="*/ 106 h 512"/>
                  <a:gd name="T36" fmla="*/ 266 w 512"/>
                  <a:gd name="T37" fmla="*/ 245 h 512"/>
                  <a:gd name="T38" fmla="*/ 405 w 512"/>
                  <a:gd name="T39" fmla="*/ 245 h 512"/>
                  <a:gd name="T40" fmla="*/ 416 w 512"/>
                  <a:gd name="T41" fmla="*/ 256 h 512"/>
                  <a:gd name="T42" fmla="*/ 405 w 512"/>
                  <a:gd name="T43" fmla="*/ 266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12" h="512"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  <a:moveTo>
                      <a:pt x="405" y="266"/>
                    </a:moveTo>
                    <a:cubicBezTo>
                      <a:pt x="266" y="266"/>
                      <a:pt x="266" y="266"/>
                      <a:pt x="266" y="266"/>
                    </a:cubicBezTo>
                    <a:cubicBezTo>
                      <a:pt x="266" y="405"/>
                      <a:pt x="266" y="405"/>
                      <a:pt x="266" y="405"/>
                    </a:cubicBezTo>
                    <a:cubicBezTo>
                      <a:pt x="266" y="411"/>
                      <a:pt x="262" y="416"/>
                      <a:pt x="256" y="416"/>
                    </a:cubicBezTo>
                    <a:cubicBezTo>
                      <a:pt x="250" y="416"/>
                      <a:pt x="245" y="411"/>
                      <a:pt x="245" y="405"/>
                    </a:cubicBezTo>
                    <a:cubicBezTo>
                      <a:pt x="245" y="266"/>
                      <a:pt x="245" y="266"/>
                      <a:pt x="245" y="266"/>
                    </a:cubicBezTo>
                    <a:cubicBezTo>
                      <a:pt x="106" y="266"/>
                      <a:pt x="106" y="266"/>
                      <a:pt x="106" y="266"/>
                    </a:cubicBezTo>
                    <a:cubicBezTo>
                      <a:pt x="100" y="266"/>
                      <a:pt x="96" y="262"/>
                      <a:pt x="96" y="256"/>
                    </a:cubicBezTo>
                    <a:cubicBezTo>
                      <a:pt x="96" y="250"/>
                      <a:pt x="100" y="245"/>
                      <a:pt x="106" y="245"/>
                    </a:cubicBezTo>
                    <a:cubicBezTo>
                      <a:pt x="245" y="245"/>
                      <a:pt x="245" y="245"/>
                      <a:pt x="245" y="245"/>
                    </a:cubicBezTo>
                    <a:cubicBezTo>
                      <a:pt x="245" y="106"/>
                      <a:pt x="245" y="106"/>
                      <a:pt x="245" y="106"/>
                    </a:cubicBezTo>
                    <a:cubicBezTo>
                      <a:pt x="245" y="100"/>
                      <a:pt x="250" y="96"/>
                      <a:pt x="256" y="96"/>
                    </a:cubicBezTo>
                    <a:cubicBezTo>
                      <a:pt x="262" y="96"/>
                      <a:pt x="266" y="100"/>
                      <a:pt x="266" y="106"/>
                    </a:cubicBezTo>
                    <a:cubicBezTo>
                      <a:pt x="266" y="245"/>
                      <a:pt x="266" y="245"/>
                      <a:pt x="266" y="245"/>
                    </a:cubicBezTo>
                    <a:cubicBezTo>
                      <a:pt x="405" y="245"/>
                      <a:pt x="405" y="245"/>
                      <a:pt x="405" y="245"/>
                    </a:cubicBezTo>
                    <a:cubicBezTo>
                      <a:pt x="411" y="245"/>
                      <a:pt x="416" y="250"/>
                      <a:pt x="416" y="256"/>
                    </a:cubicBezTo>
                    <a:cubicBezTo>
                      <a:pt x="416" y="262"/>
                      <a:pt x="411" y="266"/>
                      <a:pt x="405" y="2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2477" tIns="36238" rIns="72477" bIns="36238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2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34" name="Freeform 451">
                <a:extLst>
                  <a:ext uri="{FF2B5EF4-FFF2-40B4-BE49-F238E27FC236}">
                    <a16:creationId xmlns:a16="http://schemas.microsoft.com/office/drawing/2014/main" id="{F33F217B-C391-45FE-A081-3FD26A91C9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276" y="1587"/>
                <a:ext cx="340" cy="340"/>
              </a:xfrm>
              <a:custGeom>
                <a:avLst/>
                <a:gdLst>
                  <a:gd name="T0" fmla="*/ 256 w 512"/>
                  <a:gd name="T1" fmla="*/ 0 h 512"/>
                  <a:gd name="T2" fmla="*/ 0 w 512"/>
                  <a:gd name="T3" fmla="*/ 256 h 512"/>
                  <a:gd name="T4" fmla="*/ 256 w 512"/>
                  <a:gd name="T5" fmla="*/ 512 h 512"/>
                  <a:gd name="T6" fmla="*/ 512 w 512"/>
                  <a:gd name="T7" fmla="*/ 256 h 512"/>
                  <a:gd name="T8" fmla="*/ 256 w 512"/>
                  <a:gd name="T9" fmla="*/ 0 h 512"/>
                  <a:gd name="T10" fmla="*/ 405 w 512"/>
                  <a:gd name="T11" fmla="*/ 266 h 512"/>
                  <a:gd name="T12" fmla="*/ 266 w 512"/>
                  <a:gd name="T13" fmla="*/ 266 h 512"/>
                  <a:gd name="T14" fmla="*/ 266 w 512"/>
                  <a:gd name="T15" fmla="*/ 405 h 512"/>
                  <a:gd name="T16" fmla="*/ 256 w 512"/>
                  <a:gd name="T17" fmla="*/ 416 h 512"/>
                  <a:gd name="T18" fmla="*/ 245 w 512"/>
                  <a:gd name="T19" fmla="*/ 405 h 512"/>
                  <a:gd name="T20" fmla="*/ 245 w 512"/>
                  <a:gd name="T21" fmla="*/ 266 h 512"/>
                  <a:gd name="T22" fmla="*/ 106 w 512"/>
                  <a:gd name="T23" fmla="*/ 266 h 512"/>
                  <a:gd name="T24" fmla="*/ 96 w 512"/>
                  <a:gd name="T25" fmla="*/ 256 h 512"/>
                  <a:gd name="T26" fmla="*/ 106 w 512"/>
                  <a:gd name="T27" fmla="*/ 245 h 512"/>
                  <a:gd name="T28" fmla="*/ 245 w 512"/>
                  <a:gd name="T29" fmla="*/ 245 h 512"/>
                  <a:gd name="T30" fmla="*/ 245 w 512"/>
                  <a:gd name="T31" fmla="*/ 106 h 512"/>
                  <a:gd name="T32" fmla="*/ 256 w 512"/>
                  <a:gd name="T33" fmla="*/ 96 h 512"/>
                  <a:gd name="T34" fmla="*/ 266 w 512"/>
                  <a:gd name="T35" fmla="*/ 106 h 512"/>
                  <a:gd name="T36" fmla="*/ 266 w 512"/>
                  <a:gd name="T37" fmla="*/ 245 h 512"/>
                  <a:gd name="T38" fmla="*/ 405 w 512"/>
                  <a:gd name="T39" fmla="*/ 245 h 512"/>
                  <a:gd name="T40" fmla="*/ 416 w 512"/>
                  <a:gd name="T41" fmla="*/ 256 h 512"/>
                  <a:gd name="T42" fmla="*/ 405 w 512"/>
                  <a:gd name="T43" fmla="*/ 266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12" h="512"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  <a:moveTo>
                      <a:pt x="405" y="266"/>
                    </a:moveTo>
                    <a:cubicBezTo>
                      <a:pt x="266" y="266"/>
                      <a:pt x="266" y="266"/>
                      <a:pt x="266" y="266"/>
                    </a:cubicBezTo>
                    <a:cubicBezTo>
                      <a:pt x="266" y="405"/>
                      <a:pt x="266" y="405"/>
                      <a:pt x="266" y="405"/>
                    </a:cubicBezTo>
                    <a:cubicBezTo>
                      <a:pt x="266" y="411"/>
                      <a:pt x="262" y="416"/>
                      <a:pt x="256" y="416"/>
                    </a:cubicBezTo>
                    <a:cubicBezTo>
                      <a:pt x="250" y="416"/>
                      <a:pt x="245" y="411"/>
                      <a:pt x="245" y="405"/>
                    </a:cubicBezTo>
                    <a:cubicBezTo>
                      <a:pt x="245" y="266"/>
                      <a:pt x="245" y="266"/>
                      <a:pt x="245" y="266"/>
                    </a:cubicBezTo>
                    <a:cubicBezTo>
                      <a:pt x="106" y="266"/>
                      <a:pt x="106" y="266"/>
                      <a:pt x="106" y="266"/>
                    </a:cubicBezTo>
                    <a:cubicBezTo>
                      <a:pt x="100" y="266"/>
                      <a:pt x="96" y="262"/>
                      <a:pt x="96" y="256"/>
                    </a:cubicBezTo>
                    <a:cubicBezTo>
                      <a:pt x="96" y="250"/>
                      <a:pt x="100" y="245"/>
                      <a:pt x="106" y="245"/>
                    </a:cubicBezTo>
                    <a:cubicBezTo>
                      <a:pt x="245" y="245"/>
                      <a:pt x="245" y="245"/>
                      <a:pt x="245" y="245"/>
                    </a:cubicBezTo>
                    <a:cubicBezTo>
                      <a:pt x="245" y="106"/>
                      <a:pt x="245" y="106"/>
                      <a:pt x="245" y="106"/>
                    </a:cubicBezTo>
                    <a:cubicBezTo>
                      <a:pt x="245" y="100"/>
                      <a:pt x="250" y="96"/>
                      <a:pt x="256" y="96"/>
                    </a:cubicBezTo>
                    <a:cubicBezTo>
                      <a:pt x="262" y="96"/>
                      <a:pt x="266" y="100"/>
                      <a:pt x="266" y="106"/>
                    </a:cubicBezTo>
                    <a:cubicBezTo>
                      <a:pt x="266" y="245"/>
                      <a:pt x="266" y="245"/>
                      <a:pt x="266" y="245"/>
                    </a:cubicBezTo>
                    <a:cubicBezTo>
                      <a:pt x="405" y="245"/>
                      <a:pt x="405" y="245"/>
                      <a:pt x="405" y="245"/>
                    </a:cubicBezTo>
                    <a:cubicBezTo>
                      <a:pt x="411" y="245"/>
                      <a:pt x="416" y="250"/>
                      <a:pt x="416" y="256"/>
                    </a:cubicBezTo>
                    <a:cubicBezTo>
                      <a:pt x="416" y="262"/>
                      <a:pt x="411" y="266"/>
                      <a:pt x="405" y="2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72477" tIns="36238" rIns="72477" bIns="36238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27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5" name="Freeform 884">
              <a:extLst>
                <a:ext uri="{FF2B5EF4-FFF2-40B4-BE49-F238E27FC236}">
                  <a16:creationId xmlns:a16="http://schemas.microsoft.com/office/drawing/2014/main" id="{94B830AB-5E6E-4A1E-9567-03F2E3B1DC5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2238436" y="3993502"/>
              <a:ext cx="314521" cy="314521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405 w 512"/>
                <a:gd name="T11" fmla="*/ 266 h 512"/>
                <a:gd name="T12" fmla="*/ 106 w 512"/>
                <a:gd name="T13" fmla="*/ 266 h 512"/>
                <a:gd name="T14" fmla="*/ 96 w 512"/>
                <a:gd name="T15" fmla="*/ 256 h 512"/>
                <a:gd name="T16" fmla="*/ 106 w 512"/>
                <a:gd name="T17" fmla="*/ 245 h 512"/>
                <a:gd name="T18" fmla="*/ 405 w 512"/>
                <a:gd name="T19" fmla="*/ 245 h 512"/>
                <a:gd name="T20" fmla="*/ 416 w 512"/>
                <a:gd name="T21" fmla="*/ 256 h 512"/>
                <a:gd name="T22" fmla="*/ 405 w 512"/>
                <a:gd name="T23" fmla="*/ 266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05" y="266"/>
                  </a:moveTo>
                  <a:cubicBezTo>
                    <a:pt x="106" y="266"/>
                    <a:pt x="106" y="266"/>
                    <a:pt x="106" y="266"/>
                  </a:cubicBezTo>
                  <a:cubicBezTo>
                    <a:pt x="100" y="266"/>
                    <a:pt x="96" y="262"/>
                    <a:pt x="96" y="256"/>
                  </a:cubicBezTo>
                  <a:cubicBezTo>
                    <a:pt x="96" y="250"/>
                    <a:pt x="100" y="245"/>
                    <a:pt x="106" y="245"/>
                  </a:cubicBezTo>
                  <a:cubicBezTo>
                    <a:pt x="405" y="245"/>
                    <a:pt x="405" y="245"/>
                    <a:pt x="405" y="245"/>
                  </a:cubicBezTo>
                  <a:cubicBezTo>
                    <a:pt x="411" y="245"/>
                    <a:pt x="416" y="250"/>
                    <a:pt x="416" y="256"/>
                  </a:cubicBezTo>
                  <a:cubicBezTo>
                    <a:pt x="416" y="262"/>
                    <a:pt x="411" y="266"/>
                    <a:pt x="405" y="26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72477" tIns="36238" rIns="72477" bIns="3623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2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6" name="Freeform 598">
              <a:extLst>
                <a:ext uri="{FF2B5EF4-FFF2-40B4-BE49-F238E27FC236}">
                  <a16:creationId xmlns:a16="http://schemas.microsoft.com/office/drawing/2014/main" id="{AA8A77A4-5095-478D-A60E-5D43AC7E5A9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3963308" y="4083789"/>
              <a:ext cx="316779" cy="316779"/>
            </a:xfrm>
            <a:custGeom>
              <a:avLst/>
              <a:gdLst>
                <a:gd name="T0" fmla="*/ 256 w 512"/>
                <a:gd name="T1" fmla="*/ 0 h 512"/>
                <a:gd name="T2" fmla="*/ 0 w 512"/>
                <a:gd name="T3" fmla="*/ 256 h 512"/>
                <a:gd name="T4" fmla="*/ 256 w 512"/>
                <a:gd name="T5" fmla="*/ 512 h 512"/>
                <a:gd name="T6" fmla="*/ 512 w 512"/>
                <a:gd name="T7" fmla="*/ 256 h 512"/>
                <a:gd name="T8" fmla="*/ 256 w 512"/>
                <a:gd name="T9" fmla="*/ 0 h 512"/>
                <a:gd name="T10" fmla="*/ 402 w 512"/>
                <a:gd name="T11" fmla="*/ 167 h 512"/>
                <a:gd name="T12" fmla="*/ 189 w 512"/>
                <a:gd name="T13" fmla="*/ 381 h 512"/>
                <a:gd name="T14" fmla="*/ 181 w 512"/>
                <a:gd name="T15" fmla="*/ 384 h 512"/>
                <a:gd name="T16" fmla="*/ 173 w 512"/>
                <a:gd name="T17" fmla="*/ 381 h 512"/>
                <a:gd name="T18" fmla="*/ 99 w 512"/>
                <a:gd name="T19" fmla="*/ 306 h 512"/>
                <a:gd name="T20" fmla="*/ 99 w 512"/>
                <a:gd name="T21" fmla="*/ 291 h 512"/>
                <a:gd name="T22" fmla="*/ 114 w 512"/>
                <a:gd name="T23" fmla="*/ 291 h 512"/>
                <a:gd name="T24" fmla="*/ 181 w 512"/>
                <a:gd name="T25" fmla="*/ 358 h 512"/>
                <a:gd name="T26" fmla="*/ 387 w 512"/>
                <a:gd name="T27" fmla="*/ 152 h 512"/>
                <a:gd name="T28" fmla="*/ 402 w 512"/>
                <a:gd name="T29" fmla="*/ 152 h 512"/>
                <a:gd name="T30" fmla="*/ 402 w 512"/>
                <a:gd name="T31" fmla="*/ 16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2" h="512">
                  <a:moveTo>
                    <a:pt x="256" y="0"/>
                  </a:moveTo>
                  <a:cubicBezTo>
                    <a:pt x="114" y="0"/>
                    <a:pt x="0" y="114"/>
                    <a:pt x="0" y="256"/>
                  </a:cubicBezTo>
                  <a:cubicBezTo>
                    <a:pt x="0" y="397"/>
                    <a:pt x="114" y="512"/>
                    <a:pt x="256" y="512"/>
                  </a:cubicBezTo>
                  <a:cubicBezTo>
                    <a:pt x="397" y="512"/>
                    <a:pt x="512" y="397"/>
                    <a:pt x="512" y="256"/>
                  </a:cubicBezTo>
                  <a:cubicBezTo>
                    <a:pt x="512" y="114"/>
                    <a:pt x="397" y="0"/>
                    <a:pt x="256" y="0"/>
                  </a:cubicBezTo>
                  <a:close/>
                  <a:moveTo>
                    <a:pt x="402" y="167"/>
                  </a:moveTo>
                  <a:cubicBezTo>
                    <a:pt x="189" y="381"/>
                    <a:pt x="189" y="381"/>
                    <a:pt x="189" y="381"/>
                  </a:cubicBezTo>
                  <a:cubicBezTo>
                    <a:pt x="186" y="383"/>
                    <a:pt x="184" y="384"/>
                    <a:pt x="181" y="384"/>
                  </a:cubicBezTo>
                  <a:cubicBezTo>
                    <a:pt x="178" y="384"/>
                    <a:pt x="176" y="383"/>
                    <a:pt x="173" y="381"/>
                  </a:cubicBezTo>
                  <a:cubicBezTo>
                    <a:pt x="99" y="306"/>
                    <a:pt x="99" y="306"/>
                    <a:pt x="99" y="306"/>
                  </a:cubicBezTo>
                  <a:cubicBezTo>
                    <a:pt x="95" y="302"/>
                    <a:pt x="95" y="295"/>
                    <a:pt x="99" y="291"/>
                  </a:cubicBezTo>
                  <a:cubicBezTo>
                    <a:pt x="103" y="287"/>
                    <a:pt x="110" y="287"/>
                    <a:pt x="114" y="291"/>
                  </a:cubicBezTo>
                  <a:cubicBezTo>
                    <a:pt x="181" y="358"/>
                    <a:pt x="181" y="358"/>
                    <a:pt x="181" y="358"/>
                  </a:cubicBezTo>
                  <a:cubicBezTo>
                    <a:pt x="387" y="152"/>
                    <a:pt x="387" y="152"/>
                    <a:pt x="387" y="152"/>
                  </a:cubicBezTo>
                  <a:cubicBezTo>
                    <a:pt x="391" y="148"/>
                    <a:pt x="398" y="148"/>
                    <a:pt x="402" y="152"/>
                  </a:cubicBezTo>
                  <a:cubicBezTo>
                    <a:pt x="406" y="156"/>
                    <a:pt x="406" y="163"/>
                    <a:pt x="402" y="1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72477" tIns="36238" rIns="72477" bIns="36238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2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919C655-10E5-46CB-8EDA-5DC9AF1A8A9B}"/>
              </a:ext>
            </a:extLst>
          </p:cNvPr>
          <p:cNvSpPr/>
          <p:nvPr/>
        </p:nvSpPr>
        <p:spPr>
          <a:xfrm>
            <a:off x="1375341" y="907211"/>
            <a:ext cx="28626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1. איסוף, אחסון ועיבוד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של נתונים 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ממגוון מקורות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3275F5-392B-4374-84DC-73F844BCD03A}"/>
              </a:ext>
            </a:extLst>
          </p:cNvPr>
          <p:cNvSpPr/>
          <p:nvPr/>
        </p:nvSpPr>
        <p:spPr>
          <a:xfrm>
            <a:off x="4693704" y="5397801"/>
            <a:ext cx="2989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2. הנגשת מוצרי נתונים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/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תומכי החלטה 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לכלל השחקנים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6E0391-254E-43BC-93B2-F9A05A60B799}"/>
              </a:ext>
            </a:extLst>
          </p:cNvPr>
          <p:cNvSpPr/>
          <p:nvPr/>
        </p:nvSpPr>
        <p:spPr>
          <a:xfrm>
            <a:off x="60674" y="3560515"/>
            <a:ext cx="22607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3. פיתוח ושימוש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/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בפתרונות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AI</a:t>
            </a: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חדשניים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50D813-0660-48D7-A702-7BF9E0E3143A}"/>
              </a:ext>
            </a:extLst>
          </p:cNvPr>
          <p:cNvSpPr/>
          <p:nvPr/>
        </p:nvSpPr>
        <p:spPr>
          <a:xfrm>
            <a:off x="139241" y="4150855"/>
            <a:ext cx="2182355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39893E-899D-4024-B8C0-F8FC8BDCAF03}"/>
              </a:ext>
            </a:extLst>
          </p:cNvPr>
          <p:cNvSpPr/>
          <p:nvPr/>
        </p:nvSpPr>
        <p:spPr>
          <a:xfrm>
            <a:off x="2111066" y="1526415"/>
            <a:ext cx="2182355" cy="45719"/>
          </a:xfrm>
          <a:prstGeom prst="rect">
            <a:avLst/>
          </a:prstGeom>
          <a:solidFill>
            <a:srgbClr val="009D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56B75F-415B-426C-B6EC-F0588F2E5FCD}"/>
              </a:ext>
            </a:extLst>
          </p:cNvPr>
          <p:cNvSpPr/>
          <p:nvPr/>
        </p:nvSpPr>
        <p:spPr>
          <a:xfrm>
            <a:off x="5486392" y="5323056"/>
            <a:ext cx="2182355" cy="45719"/>
          </a:xfrm>
          <a:prstGeom prst="rect">
            <a:avLst/>
          </a:prstGeom>
          <a:solidFill>
            <a:srgbClr val="0BD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A120A2-EA0D-4385-8632-798C6F4B2401}"/>
              </a:ext>
            </a:extLst>
          </p:cNvPr>
          <p:cNvSpPr txBox="1"/>
          <p:nvPr/>
        </p:nvSpPr>
        <p:spPr>
          <a:xfrm>
            <a:off x="8307235" y="682177"/>
            <a:ext cx="3868677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srgbClr val="0BD0D9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בציר הטכנולוגי </a:t>
            </a: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אנו פועלים לפיתוח והטמעה של טכנולוגיות וכלים לאורך שרשרת הערך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0C3B16B-3EB3-4B99-8FB0-7CAF4CDA7BB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58064" y="3510098"/>
            <a:ext cx="2642672" cy="264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1451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/>
          <p:cNvSpPr/>
          <p:nvPr/>
        </p:nvSpPr>
        <p:spPr>
          <a:xfrm>
            <a:off x="1691944" y="340980"/>
            <a:ext cx="8759129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10751" rtl="0" hangingPunct="0">
              <a:defRPr/>
            </a:pPr>
            <a:r>
              <a:rPr lang="he-IL" sz="2800" b="1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עבודה מבוססת נתונים </a:t>
            </a:r>
            <a:r>
              <a:rPr lang="en-US" sz="2800" b="1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/>
            </a:r>
            <a:br>
              <a:rPr lang="en-US" sz="2800" b="1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</a:br>
            <a:r>
              <a:rPr lang="he-IL" sz="2000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פיתוח דשבורדים לפי נושאים ושירותים המאגדים מקורות מידע שונים</a:t>
            </a:r>
            <a:br>
              <a:rPr lang="he-IL" sz="2000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</a:br>
            <a:r>
              <a:rPr lang="he-IL" sz="2000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(למ"ס, רשות האוכלוסין, </a:t>
            </a:r>
            <a:r>
              <a:rPr lang="he-IL" sz="2000" dirty="0" err="1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בטל"א</a:t>
            </a:r>
            <a:r>
              <a:rPr lang="he-IL" sz="2000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, הרשות לניצולי שואה</a:t>
            </a:r>
            <a:r>
              <a:rPr lang="he-IL" sz="2000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, רוה"מ, </a:t>
            </a:r>
            <a:r>
              <a:rPr lang="he-IL" sz="2000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נתוני יסוד, מסר , תקצוב ועוד...)</a:t>
            </a:r>
            <a:r>
              <a:rPr lang="en-US" sz="2000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/>
            </a:r>
            <a:br>
              <a:rPr lang="en-US" sz="2000" dirty="0" smtClean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</a:br>
            <a:endParaRPr lang="he-IL" sz="2000" dirty="0">
              <a:solidFill>
                <a:prstClr val="black"/>
              </a:solidFill>
              <a:latin typeface="Calibri" panose="020F0502020204030204" pitchFamily="34" charset="0"/>
              <a:ea typeface="Tahoma"/>
              <a:cs typeface="Calibri" panose="020F0502020204030204" pitchFamily="34" charset="0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309" y="1679894"/>
            <a:ext cx="6011419" cy="3374966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7" y="3341716"/>
            <a:ext cx="6093787" cy="342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5009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21135" y="448888"/>
            <a:ext cx="713232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ביזור- 97% הגשות לשנת </a:t>
            </a:r>
            <a:r>
              <a:rPr lang="he-IL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2024 (</a:t>
            </a:r>
            <a:r>
              <a:rPr lang="he-IL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תו"כ</a:t>
            </a:r>
            <a:r>
              <a:rPr lang="he-IL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חרבות ברזל)</a:t>
            </a:r>
            <a:endParaRPr lang="he-IL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" y="3217026"/>
            <a:ext cx="6313599" cy="34218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78181" y="2847694"/>
            <a:ext cx="248827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מעקב ולמידה בזמן אמת</a:t>
            </a:r>
            <a:endParaRPr lang="he-IL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קבוצה 2"/>
          <p:cNvGrpSpPr/>
          <p:nvPr/>
        </p:nvGrpSpPr>
        <p:grpSpPr>
          <a:xfrm>
            <a:off x="5724317" y="1222238"/>
            <a:ext cx="5334925" cy="3375890"/>
            <a:chOff x="5916549" y="1074190"/>
            <a:chExt cx="5966658" cy="3853773"/>
          </a:xfrm>
          <a:noFill/>
        </p:grpSpPr>
        <p:pic>
          <p:nvPicPr>
            <p:cNvPr id="4" name="תמונה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6550" y="1074190"/>
              <a:ext cx="5966657" cy="3373120"/>
            </a:xfrm>
            <a:prstGeom prst="rect">
              <a:avLst/>
            </a:prstGeom>
            <a:grpFill/>
          </p:spPr>
        </p:pic>
        <p:pic>
          <p:nvPicPr>
            <p:cNvPr id="2" name="תמונה 1"/>
            <p:cNvPicPr>
              <a:picLocks noChangeAspect="1"/>
            </p:cNvPicPr>
            <p:nvPr/>
          </p:nvPicPr>
          <p:blipFill rotWithShape="1">
            <a:blip r:embed="rId4"/>
            <a:srcRect l="12604" t="25926" r="11250" b="12407"/>
            <a:stretch/>
          </p:blipFill>
          <p:spPr>
            <a:xfrm>
              <a:off x="5916549" y="2265776"/>
              <a:ext cx="5966657" cy="2662187"/>
            </a:xfrm>
            <a:prstGeom prst="rect">
              <a:avLst/>
            </a:prstGeom>
            <a:grpFill/>
          </p:spPr>
        </p:pic>
      </p:grpSp>
      <p:sp>
        <p:nvSpPr>
          <p:cNvPr id="8" name="מלבן 7"/>
          <p:cNvSpPr/>
          <p:nvPr/>
        </p:nvSpPr>
        <p:spPr>
          <a:xfrm>
            <a:off x="10032274" y="1767840"/>
            <a:ext cx="1026967" cy="49822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225231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 rotWithShape="1">
          <a:blip r:embed="rId2"/>
          <a:srcRect l="10263" t="11832" r="11053" b="4269"/>
          <a:stretch/>
        </p:blipFill>
        <p:spPr>
          <a:xfrm>
            <a:off x="1193680" y="623305"/>
            <a:ext cx="10395021" cy="6234695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8188113" y="100085"/>
            <a:ext cx="28488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10751" rtl="0" hangingPunct="0">
              <a:defRPr/>
            </a:pPr>
            <a:r>
              <a:rPr lang="he-IL" sz="2800" b="1" dirty="0" err="1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דשבורדים</a:t>
            </a:r>
            <a:r>
              <a:rPr lang="he-IL" sz="2800" b="1" dirty="0">
                <a:solidFill>
                  <a:prstClr val="black"/>
                </a:solidFill>
                <a:latin typeface="Calibri" panose="020F0502020204030204" pitchFamily="34" charset="0"/>
                <a:ea typeface="Tahoma"/>
                <a:cs typeface="Calibri" panose="020F0502020204030204" pitchFamily="34" charset="0"/>
              </a:rPr>
              <a:t> לשירותים</a:t>
            </a:r>
          </a:p>
        </p:txBody>
      </p:sp>
      <p:grpSp>
        <p:nvGrpSpPr>
          <p:cNvPr id="6" name="קבוצה 5"/>
          <p:cNvGrpSpPr/>
          <p:nvPr/>
        </p:nvGrpSpPr>
        <p:grpSpPr>
          <a:xfrm>
            <a:off x="-11699817" y="100085"/>
            <a:ext cx="13656954" cy="700067"/>
            <a:chOff x="-3056263" y="8858817"/>
            <a:chExt cx="19925771" cy="1048795"/>
          </a:xfrm>
        </p:grpSpPr>
        <p:grpSp>
          <p:nvGrpSpPr>
            <p:cNvPr id="7" name="קבוצה 6"/>
            <p:cNvGrpSpPr/>
            <p:nvPr/>
          </p:nvGrpSpPr>
          <p:grpSpPr>
            <a:xfrm>
              <a:off x="-3056263" y="9002217"/>
              <a:ext cx="1699846" cy="905395"/>
              <a:chOff x="-3079832" y="9022029"/>
              <a:chExt cx="1699846" cy="905395"/>
            </a:xfrm>
          </p:grpSpPr>
          <p:pic>
            <p:nvPicPr>
              <p:cNvPr id="9" name="Image" descr="Image"/>
              <p:cNvPicPr>
                <a:picLocks noChangeAspect="1"/>
              </p:cNvPicPr>
              <p:nvPr/>
            </p:nvPicPr>
            <p:blipFill rotWithShape="1">
              <a:blip r:embed="rId3">
                <a:extLst/>
              </a:blip>
              <a:srcRect r="98659"/>
              <a:stretch/>
            </p:blipFill>
            <p:spPr>
              <a:xfrm>
                <a:off x="-2312032" y="9269684"/>
                <a:ext cx="164246" cy="65774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0" name="מלבן 9"/>
              <p:cNvSpPr/>
              <p:nvPr/>
            </p:nvSpPr>
            <p:spPr>
              <a:xfrm>
                <a:off x="-3079832" y="9022029"/>
                <a:ext cx="1699846" cy="540333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35718" tIns="35718" rIns="35718" bIns="35718" numCol="1" spcCol="38100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84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he-IL" sz="984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uttman Kav" panose="02010401010101010101" pitchFamily="2" charset="-79"/>
                    <a:ea typeface="+mn-ea"/>
                    <a:cs typeface="Guttman Kav" panose="02010401010101010101" pitchFamily="2" charset="-79"/>
                    <a:sym typeface="Helvetica Neue Medium"/>
                  </a:rPr>
                  <a:t>מנהל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ts val="84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he-IL" sz="984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uttman Kav" panose="02010401010101010101" pitchFamily="2" charset="-79"/>
                    <a:ea typeface="+mn-ea"/>
                    <a:cs typeface="Guttman Kav" panose="02010401010101010101" pitchFamily="2" charset="-79"/>
                    <a:sym typeface="Helvetica Neue Medium"/>
                  </a:rPr>
                  <a:t>אזרחים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ts val="844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he-IL" sz="984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uttman Kav" panose="02010401010101010101" pitchFamily="2" charset="-79"/>
                    <a:ea typeface="+mn-ea"/>
                    <a:cs typeface="Guttman Kav" panose="02010401010101010101" pitchFamily="2" charset="-79"/>
                    <a:sym typeface="Helvetica Neue Medium"/>
                  </a:rPr>
                  <a:t>ותיקים</a:t>
                </a:r>
              </a:p>
            </p:txBody>
          </p:sp>
        </p:grpSp>
        <p:pic>
          <p:nvPicPr>
            <p:cNvPr id="8" name="תמונה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41709" y="8858817"/>
              <a:ext cx="2227799" cy="6038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429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e-IL" dirty="0" smtClean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 rotWithShape="1">
          <a:blip r:embed="rId2"/>
          <a:srcRect l="1755" t="10364" r="17280" b="5749"/>
          <a:stretch/>
        </p:blipFill>
        <p:spPr>
          <a:xfrm>
            <a:off x="0" y="0"/>
            <a:ext cx="12192000" cy="684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6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D05366-1929-4BEB-B2F0-69E56A17A07C}"/>
              </a:ext>
            </a:extLst>
          </p:cNvPr>
          <p:cNvSpPr txBox="1"/>
          <p:nvPr/>
        </p:nvSpPr>
        <p:spPr>
          <a:xfrm>
            <a:off x="4297680" y="474205"/>
            <a:ext cx="7230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מערכת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BI</a:t>
            </a: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לרשויות- המכלול</a:t>
            </a:r>
            <a:endParaRPr kumimoji="0" lang="en-IL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10" name="תמונה 1">
            <a:extLst>
              <a:ext uri="{FF2B5EF4-FFF2-40B4-BE49-F238E27FC236}">
                <a16:creationId xmlns:a16="http://schemas.microsoft.com/office/drawing/2014/main" id="{2B5B4AC0-3E64-4797-8E3C-40AA508A0A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8413" y="1058979"/>
            <a:ext cx="10797193" cy="55182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251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9105156-2634-42D6-B843-6D3E841E668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6FF407-79D8-40A3-91DF-27F8B7D83E14}"/>
              </a:ext>
            </a:extLst>
          </p:cNvPr>
          <p:cNvSpPr txBox="1"/>
          <p:nvPr/>
        </p:nvSpPr>
        <p:spPr>
          <a:xfrm>
            <a:off x="5273040" y="531116"/>
            <a:ext cx="583057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u="sng" dirty="0">
                <a:latin typeface="Calibri" panose="020F0502020204030204" pitchFamily="34" charset="0"/>
                <a:cs typeface="Calibri" panose="020F0502020204030204" pitchFamily="34" charset="0"/>
              </a:rPr>
              <a:t>שנה שנייה לרפורמה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sz="3200" b="1" dirty="0">
                <a:latin typeface="Calibri" panose="020F0502020204030204" pitchFamily="34" charset="0"/>
                <a:cs typeface="Calibri" panose="020F0502020204030204" pitchFamily="34" charset="0"/>
              </a:rPr>
              <a:t>הרפורמה מגדירה מחדש את מערכת היחסים בין המשרד לרשויות</a:t>
            </a:r>
            <a:endParaRPr lang="en-IL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D7F7E7-6108-4451-8C04-597653E774A3}"/>
              </a:ext>
            </a:extLst>
          </p:cNvPr>
          <p:cNvSpPr txBox="1"/>
          <p:nvPr/>
        </p:nvSpPr>
        <p:spPr>
          <a:xfrm>
            <a:off x="6585664" y="2162449"/>
            <a:ext cx="4146548" cy="309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400" b="1" dirty="0">
                <a:latin typeface="Calibri" panose="020F0502020204030204" pitchFamily="34" charset="0"/>
                <a:cs typeface="Calibri" panose="020F0502020204030204" pitchFamily="34" charset="0"/>
              </a:rPr>
              <a:t>משרד הרווחה</a:t>
            </a:r>
          </a:p>
          <a:p>
            <a:pPr algn="r" rtl="1">
              <a:lnSpc>
                <a:spcPct val="150000"/>
              </a:lnSpc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מוביל </a:t>
            </a: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מדיניות</a:t>
            </a: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he-IL" dirty="0" err="1">
                <a:latin typeface="Calibri" panose="020F0502020204030204" pitchFamily="34" charset="0"/>
                <a:cs typeface="Calibri" panose="020F0502020204030204" pitchFamily="34" charset="0"/>
              </a:rPr>
              <a:t>מתכלל</a:t>
            </a: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 ומבצע רגולציה וניטור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האסטרטגיה בתחום </a:t>
            </a:r>
            <a:r>
              <a:rPr lang="he-IL" dirty="0" err="1">
                <a:latin typeface="Calibri" panose="020F0502020204030204" pitchFamily="34" charset="0"/>
                <a:cs typeface="Calibri" panose="020F0502020204030204" pitchFamily="34" charset="0"/>
              </a:rPr>
              <a:t>הזיקנה</a:t>
            </a:r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מדיניות ותקציבים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גיבוש כלים תומכים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שיתוף חדשנות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מדידה ובקרה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3E26FD-955A-45CA-9EC5-E8CEDE84916A}"/>
              </a:ext>
            </a:extLst>
          </p:cNvPr>
          <p:cNvSpPr txBox="1"/>
          <p:nvPr/>
        </p:nvSpPr>
        <p:spPr>
          <a:xfrm>
            <a:off x="1476415" y="2164080"/>
            <a:ext cx="4364354" cy="309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400" b="1" dirty="0">
                <a:latin typeface="Calibri" panose="020F0502020204030204" pitchFamily="34" charset="0"/>
                <a:cs typeface="Calibri" panose="020F0502020204030204" pitchFamily="34" charset="0"/>
              </a:rPr>
              <a:t>הרשויות המקומיות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מהוות את זרוע האופרטיבית, </a:t>
            </a:r>
            <a:r>
              <a:rPr lang="he-IL" b="1" dirty="0">
                <a:latin typeface="Calibri" panose="020F0502020204030204" pitchFamily="34" charset="0"/>
                <a:cs typeface="Calibri" panose="020F0502020204030204" pitchFamily="34" charset="0"/>
              </a:rPr>
              <a:t>מתכננות</a:t>
            </a: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ומתפעלות את המענים לאזרח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ידע וניסיון אופרטיבי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חלוקת שירותים ותקציבים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יוזמות וחדשנות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dirty="0">
                <a:latin typeface="Calibri" panose="020F0502020204030204" pitchFamily="34" charset="0"/>
                <a:cs typeface="Calibri" panose="020F0502020204030204" pitchFamily="34" charset="0"/>
              </a:rPr>
              <a:t>הכרות עם </a:t>
            </a:r>
            <a:r>
              <a:rPr lang="he-IL" dirty="0" err="1">
                <a:latin typeface="Calibri" panose="020F0502020204030204" pitchFamily="34" charset="0"/>
                <a:cs typeface="Calibri" panose="020F0502020204030204" pitchFamily="34" charset="0"/>
              </a:rPr>
              <a:t>האוכלוסיה</a:t>
            </a:r>
            <a:endParaRPr lang="en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91E221-BE54-4803-8D8A-07725F554FA5}"/>
              </a:ext>
            </a:extLst>
          </p:cNvPr>
          <p:cNvSpPr/>
          <p:nvPr/>
        </p:nvSpPr>
        <p:spPr>
          <a:xfrm>
            <a:off x="2583469" y="2658319"/>
            <a:ext cx="3204000" cy="947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CB7379-B4AD-4621-914C-54C041A9E899}"/>
              </a:ext>
            </a:extLst>
          </p:cNvPr>
          <p:cNvSpPr/>
          <p:nvPr/>
        </p:nvSpPr>
        <p:spPr>
          <a:xfrm>
            <a:off x="7528212" y="2658319"/>
            <a:ext cx="3204000" cy="947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816738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AF735F-2C7F-20BB-4884-4800A2DE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58" y="681037"/>
            <a:ext cx="938526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Q42</a:t>
            </a:r>
            <a:r>
              <a:rPr lang="he-IL" dirty="0"/>
              <a:t>: באיזו מידה אתה באופן אישי מאמין בתהליך הביזור (כלומר שיש לו פוטנציאל לשיפור בפעולת המחלקה ו/או לאזרחים </a:t>
            </a:r>
            <a:r>
              <a:rPr lang="he-IL" dirty="0" err="1"/>
              <a:t>הותיקים</a:t>
            </a:r>
            <a:r>
              <a:rPr lang="he-IL" dirty="0"/>
              <a:t>)? (</a:t>
            </a:r>
            <a:r>
              <a:rPr lang="en-US" dirty="0"/>
              <a:t>N=257</a:t>
            </a:r>
            <a:r>
              <a:rPr lang="he-IL" dirty="0"/>
              <a:t>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793FBB1-A272-6228-7632-EC788A65DB94}"/>
              </a:ext>
            </a:extLst>
          </p:cNvPr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724277" y="2509283"/>
          <a:ext cx="9597648" cy="3945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799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AF735F-2C7F-20BB-4884-4800A2DE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Q12</a:t>
            </a:r>
            <a:r>
              <a:rPr lang="he-IL" dirty="0"/>
              <a:t>: מקורות המידע בהם השתמש בתהליך התכנון (</a:t>
            </a:r>
            <a:r>
              <a:rPr lang="en-US" dirty="0"/>
              <a:t>N=257</a:t>
            </a:r>
            <a:r>
              <a:rPr lang="he-IL" dirty="0"/>
              <a:t>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793FBB1-A272-6228-7632-EC788A65DB94}"/>
              </a:ext>
            </a:extLst>
          </p:cNvPr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936625" y="1825625"/>
          <a:ext cx="93853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89F9338-0556-F814-6AE0-E837A3C134AC}"/>
              </a:ext>
            </a:extLst>
          </p:cNvPr>
          <p:cNvSpPr txBox="1"/>
          <p:nvPr/>
        </p:nvSpPr>
        <p:spPr>
          <a:xfrm>
            <a:off x="2497667" y="6193896"/>
            <a:ext cx="801003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b="1" dirty="0"/>
              <a:t>* ניתן היה לענות על יותר מתשובה אחת, לכן האחוזים אינם מסתכמים ל100</a:t>
            </a:r>
          </a:p>
        </p:txBody>
      </p:sp>
    </p:spTree>
    <p:extLst>
      <p:ext uri="{BB962C8B-B14F-4D97-AF65-F5344CB8AC3E}">
        <p14:creationId xmlns:p14="http://schemas.microsoft.com/office/powerpoint/2010/main" val="3169930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AF735F-2C7F-20BB-4884-4800A2DE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Q8</a:t>
            </a:r>
            <a:r>
              <a:rPr lang="he-IL" dirty="0"/>
              <a:t>: באיזו מידה אתה משתמש </a:t>
            </a:r>
            <a:r>
              <a:rPr lang="he-IL" dirty="0" err="1"/>
              <a:t>בדשבורד</a:t>
            </a:r>
            <a:r>
              <a:rPr lang="he-IL" dirty="0"/>
              <a:t> המכלול (</a:t>
            </a:r>
            <a:r>
              <a:rPr lang="en-US" dirty="0"/>
              <a:t>N=257</a:t>
            </a:r>
            <a:r>
              <a:rPr lang="he-IL" dirty="0" smtClean="0"/>
              <a:t>) </a:t>
            </a:r>
            <a:endParaRPr lang="he-IL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793FBB1-A272-6228-7632-EC788A65DB94}"/>
              </a:ext>
            </a:extLst>
          </p:cNvPr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936625" y="1825625"/>
          <a:ext cx="93853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65A03D6-C32F-9E7D-60F9-1A71E00DCD25}"/>
              </a:ext>
            </a:extLst>
          </p:cNvPr>
          <p:cNvSpPr txBox="1"/>
          <p:nvPr/>
        </p:nvSpPr>
        <p:spPr>
          <a:xfrm>
            <a:off x="2497667" y="6193896"/>
            <a:ext cx="801003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b="1" dirty="0"/>
              <a:t>* ניתן היה לענות על יותר מתשובה אחת, לכן האחוזים אינם מסתכמים ל100</a:t>
            </a:r>
          </a:p>
        </p:txBody>
      </p:sp>
      <p:sp>
        <p:nvSpPr>
          <p:cNvPr id="3" name="מלבן 2"/>
          <p:cNvSpPr/>
          <p:nvPr/>
        </p:nvSpPr>
        <p:spPr>
          <a:xfrm>
            <a:off x="12192000" y="3631962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dirty="0" smtClean="0"/>
              <a:t>74%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6642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AF735F-2C7F-20BB-4884-4800A2DE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Q9</a:t>
            </a:r>
            <a:r>
              <a:rPr lang="he-IL" dirty="0"/>
              <a:t>: באיזו מידה </a:t>
            </a:r>
            <a:r>
              <a:rPr lang="he-IL" dirty="0" err="1"/>
              <a:t>דשבורד</a:t>
            </a:r>
            <a:r>
              <a:rPr lang="he-IL" dirty="0"/>
              <a:t> המכלול הוא נוח וידידותי לשימוש?(</a:t>
            </a:r>
            <a:r>
              <a:rPr lang="en-US" dirty="0"/>
              <a:t>N=247</a:t>
            </a:r>
            <a:r>
              <a:rPr lang="he-IL" dirty="0" smtClean="0"/>
              <a:t>)</a:t>
            </a:r>
            <a:endParaRPr lang="he-IL" dirty="0">
              <a:solidFill>
                <a:schemeClr val="tx1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793FBB1-A272-6228-7632-EC788A65DB94}"/>
              </a:ext>
            </a:extLst>
          </p:cNvPr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936625" y="1825625"/>
          <a:ext cx="93853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מלבן 1"/>
          <p:cNvSpPr/>
          <p:nvPr/>
        </p:nvSpPr>
        <p:spPr>
          <a:xfrm>
            <a:off x="3970161" y="2686985"/>
            <a:ext cx="64633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he-IL" dirty="0"/>
              <a:t>71%</a:t>
            </a:r>
          </a:p>
        </p:txBody>
      </p:sp>
    </p:spTree>
    <p:extLst>
      <p:ext uri="{BB962C8B-B14F-4D97-AF65-F5344CB8AC3E}">
        <p14:creationId xmlns:p14="http://schemas.microsoft.com/office/powerpoint/2010/main" val="321599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93109DC6-B38C-1970-58FE-DE059CBAD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  <a:solidFill>
            <a:schemeClr val="tx1"/>
          </a:solidFill>
          <a:effectLst>
            <a:reflection blurRad="1257300" stA="0" endPos="65000" dist="1270000" dir="5400000" sy="-100000" algn="bl" rotWithShape="0"/>
          </a:effectLst>
        </p:spPr>
      </p:pic>
      <p:sp>
        <p:nvSpPr>
          <p:cNvPr id="8" name="מלבן 7">
            <a:extLst>
              <a:ext uri="{FF2B5EF4-FFF2-40B4-BE49-F238E27FC236}">
                <a16:creationId xmlns:a16="http://schemas.microsoft.com/office/drawing/2014/main" id="{6EC5129C-E0D7-1E68-C5B8-2E4DE42FBCCD}"/>
              </a:ext>
            </a:extLst>
          </p:cNvPr>
          <p:cNvSpPr/>
          <p:nvPr/>
        </p:nvSpPr>
        <p:spPr>
          <a:xfrm>
            <a:off x="6766" y="0"/>
            <a:ext cx="12192000" cy="6858000"/>
          </a:xfrm>
          <a:prstGeom prst="rect">
            <a:avLst/>
          </a:prstGeom>
          <a:solidFill>
            <a:schemeClr val="dk1">
              <a:alpha val="6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bg1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44668" y="275980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he-IL" dirty="0">
                <a:solidFill>
                  <a:schemeClr val="bg1"/>
                </a:solidFill>
              </a:rPr>
              <a:t>פורום </a:t>
            </a:r>
            <a:r>
              <a:rPr lang="he-IL" dirty="0" smtClean="0">
                <a:solidFill>
                  <a:schemeClr val="bg1"/>
                </a:solidFill>
              </a:rPr>
              <a:t>ברק- </a:t>
            </a:r>
            <a:r>
              <a:rPr lang="he-IL" b="1" dirty="0">
                <a:solidFill>
                  <a:schemeClr val="bg1"/>
                </a:solidFill>
              </a:rPr>
              <a:t>צוות דאטה </a:t>
            </a:r>
            <a:r>
              <a:rPr lang="he-IL" b="1" dirty="0" err="1">
                <a:solidFill>
                  <a:schemeClr val="bg1"/>
                </a:solidFill>
              </a:rPr>
              <a:t>דיגיטל</a:t>
            </a:r>
            <a:r>
              <a:rPr lang="he-IL" sz="4000" b="1" dirty="0" smtClean="0">
                <a:solidFill>
                  <a:schemeClr val="bg1"/>
                </a:solidFill>
              </a:rPr>
              <a:t>:</a:t>
            </a:r>
            <a:br>
              <a:rPr lang="he-IL" sz="4000" b="1" dirty="0" smtClean="0">
                <a:solidFill>
                  <a:schemeClr val="bg1"/>
                </a:solidFill>
              </a:rPr>
            </a:br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45276" y="2506662"/>
            <a:ext cx="11390366" cy="4351338"/>
          </a:xfrm>
        </p:spPr>
        <p:txBody>
          <a:bodyPr>
            <a:normAutofit/>
          </a:bodyPr>
          <a:lstStyle/>
          <a:p>
            <a:endParaRPr lang="he-IL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he-IL" sz="1400" b="1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he-IL" sz="3200" b="1" dirty="0" smtClean="0">
                <a:solidFill>
                  <a:schemeClr val="bg1"/>
                </a:solidFill>
              </a:rPr>
              <a:t>פרוייקטים משותפים:</a:t>
            </a:r>
            <a:endParaRPr lang="he-IL" b="1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he-IL" sz="2600" b="1" dirty="0" smtClean="0">
                <a:solidFill>
                  <a:schemeClr val="bg1"/>
                </a:solidFill>
              </a:rPr>
              <a:t>'ברק בעיניים'- תמונת מצב לאומית בזקנה לממשלה ולרשויות (מערכת אמון)</a:t>
            </a:r>
            <a:endParaRPr lang="he-IL" sz="2600" b="1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he-IL" sz="2700" b="1" dirty="0" smtClean="0">
                <a:solidFill>
                  <a:schemeClr val="bg1"/>
                </a:solidFill>
              </a:rPr>
              <a:t>סל שירותים מותאם אישית </a:t>
            </a:r>
            <a:r>
              <a:rPr lang="en-US" sz="2700" b="1" dirty="0" smtClean="0">
                <a:solidFill>
                  <a:schemeClr val="bg1"/>
                </a:solidFill>
              </a:rPr>
              <a:t>AI</a:t>
            </a:r>
            <a:r>
              <a:rPr lang="he-IL" sz="2700" b="1" dirty="0" smtClean="0">
                <a:solidFill>
                  <a:schemeClr val="bg1"/>
                </a:solidFill>
              </a:rPr>
              <a:t>- </a:t>
            </a:r>
            <a:r>
              <a:rPr lang="he-IL" sz="2700" b="1" dirty="0" err="1">
                <a:solidFill>
                  <a:schemeClr val="bg1"/>
                </a:solidFill>
              </a:rPr>
              <a:t>בטל"א</a:t>
            </a:r>
            <a:r>
              <a:rPr lang="he-IL" sz="2700" b="1" dirty="0">
                <a:solidFill>
                  <a:schemeClr val="bg1"/>
                </a:solidFill>
              </a:rPr>
              <a:t>, רווחה, רשויות, קופ"ח ומערך הדיגיטל</a:t>
            </a:r>
          </a:p>
          <a:p>
            <a:pPr marL="514350" indent="-514350">
              <a:buFont typeface="+mj-lt"/>
              <a:buAutoNum type="arabicPeriod"/>
            </a:pPr>
            <a:r>
              <a:rPr lang="he-IL" b="1" dirty="0" smtClean="0">
                <a:solidFill>
                  <a:schemeClr val="bg1"/>
                </a:solidFill>
              </a:rPr>
              <a:t>מרשם חברתי והפניות הדדיות: </a:t>
            </a:r>
            <a:r>
              <a:rPr lang="he-IL" dirty="0" smtClean="0">
                <a:solidFill>
                  <a:schemeClr val="bg1"/>
                </a:solidFill>
              </a:rPr>
              <a:t>רווחה-קופ"ח- </a:t>
            </a:r>
            <a:r>
              <a:rPr lang="he-IL" dirty="0" err="1" smtClean="0">
                <a:solidFill>
                  <a:schemeClr val="bg1"/>
                </a:solidFill>
              </a:rPr>
              <a:t>בטל"א</a:t>
            </a:r>
            <a:endParaRPr lang="he-IL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he-IL" b="1" dirty="0" smtClean="0">
                <a:solidFill>
                  <a:schemeClr val="bg1"/>
                </a:solidFill>
              </a:rPr>
              <a:t>אופטימיזציה </a:t>
            </a:r>
            <a:r>
              <a:rPr lang="he-IL" b="1" dirty="0">
                <a:solidFill>
                  <a:schemeClr val="bg1"/>
                </a:solidFill>
              </a:rPr>
              <a:t>של צרכים ומענים- </a:t>
            </a:r>
            <a:r>
              <a:rPr lang="he-IL" sz="2400" b="1" dirty="0" smtClean="0">
                <a:solidFill>
                  <a:schemeClr val="bg1"/>
                </a:solidFill>
              </a:rPr>
              <a:t>מיפוי צרכים ומענים וחיבור חכם ביניהם</a:t>
            </a:r>
            <a:endParaRPr lang="he-IL" sz="2400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he-IL" b="1" dirty="0" smtClean="0">
                <a:solidFill>
                  <a:schemeClr val="bg1"/>
                </a:solidFill>
              </a:rPr>
              <a:t>מהלך הדיגיטל להזדקנות מיטבית- </a:t>
            </a:r>
            <a:r>
              <a:rPr lang="he-IL" sz="2400" dirty="0" smtClean="0">
                <a:solidFill>
                  <a:schemeClr val="bg1"/>
                </a:solidFill>
              </a:rPr>
              <a:t>רווחה, מערך הדיגיטל </a:t>
            </a:r>
            <a:r>
              <a:rPr lang="he-IL" sz="2400" dirty="0" err="1" smtClean="0">
                <a:solidFill>
                  <a:schemeClr val="bg1"/>
                </a:solidFill>
              </a:rPr>
              <a:t>וגוינט</a:t>
            </a:r>
            <a:endParaRPr lang="he-IL" sz="2400" dirty="0">
              <a:solidFill>
                <a:schemeClr val="bg1"/>
              </a:solidFill>
            </a:endParaRPr>
          </a:p>
          <a:p>
            <a:endParaRPr lang="he-IL" dirty="0">
              <a:solidFill>
                <a:schemeClr val="bg1"/>
              </a:solidFill>
            </a:endParaRPr>
          </a:p>
          <a:p>
            <a:endParaRPr lang="he-IL" dirty="0">
              <a:solidFill>
                <a:schemeClr val="bg1"/>
              </a:solidFill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850232" y="769959"/>
            <a:ext cx="109168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800" b="1" dirty="0" smtClean="0">
                <a:solidFill>
                  <a:schemeClr val="bg1"/>
                </a:solidFill>
              </a:rPr>
              <a:t>רווחה, מערך הדיגיטל הלאומי, </a:t>
            </a:r>
            <a:r>
              <a:rPr lang="he-IL" sz="2800" b="1" dirty="0" err="1" smtClean="0">
                <a:solidFill>
                  <a:schemeClr val="bg1"/>
                </a:solidFill>
              </a:rPr>
              <a:t>בטל"א</a:t>
            </a:r>
            <a:r>
              <a:rPr lang="he-IL" sz="2800" b="1" dirty="0" smtClean="0">
                <a:solidFill>
                  <a:schemeClr val="bg1"/>
                </a:solidFill>
              </a:rPr>
              <a:t>, בריאות</a:t>
            </a:r>
            <a:r>
              <a:rPr lang="he-IL" sz="2800" dirty="0" smtClean="0">
                <a:solidFill>
                  <a:schemeClr val="bg1"/>
                </a:solidFill>
              </a:rPr>
              <a:t>, כל קופ"ח, רשויות, למ"ס, </a:t>
            </a:r>
            <a:r>
              <a:rPr lang="he-IL" sz="2800" dirty="0" err="1" smtClean="0">
                <a:solidFill>
                  <a:schemeClr val="bg1"/>
                </a:solidFill>
              </a:rPr>
              <a:t>שיוויון</a:t>
            </a:r>
            <a:r>
              <a:rPr lang="he-IL" sz="2800" dirty="0" smtClean="0">
                <a:solidFill>
                  <a:schemeClr val="bg1"/>
                </a:solidFill>
              </a:rPr>
              <a:t> חברתי, הרשות לחדשנות, ג'וינט והאוצר</a:t>
            </a:r>
            <a:endParaRPr lang="he-IL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7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62790" y="2617390"/>
            <a:ext cx="10515600" cy="1325563"/>
          </a:xfrm>
        </p:spPr>
        <p:txBody>
          <a:bodyPr/>
          <a:lstStyle/>
          <a:p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99" y="1027906"/>
            <a:ext cx="12204399" cy="5830094"/>
          </a:xfrm>
          <a:solidFill>
            <a:schemeClr val="bg1">
              <a:alpha val="0"/>
            </a:schemeClr>
          </a:solidFill>
        </p:spPr>
      </p:pic>
      <p:sp>
        <p:nvSpPr>
          <p:cNvPr id="5" name="מלבן 4"/>
          <p:cNvSpPr/>
          <p:nvPr/>
        </p:nvSpPr>
        <p:spPr>
          <a:xfrm>
            <a:off x="4764505" y="47062"/>
            <a:ext cx="74274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4000" b="1" dirty="0" smtClean="0"/>
              <a:t>'פורום ברק</a:t>
            </a:r>
            <a:r>
              <a:rPr lang="he-IL" sz="4000" dirty="0" smtClean="0"/>
              <a:t>'- </a:t>
            </a:r>
            <a:r>
              <a:rPr lang="he-IL" sz="4000" b="1" dirty="0" smtClean="0"/>
              <a:t>צוות דאטה </a:t>
            </a:r>
            <a:r>
              <a:rPr lang="he-IL" sz="4000" b="1" dirty="0" err="1" smtClean="0"/>
              <a:t>דיגיטל</a:t>
            </a:r>
            <a:r>
              <a:rPr lang="he-IL" sz="3600" b="1" dirty="0" smtClean="0"/>
              <a:t>:</a:t>
            </a:r>
            <a:br>
              <a:rPr lang="he-IL" sz="3600" b="1" dirty="0" smtClean="0"/>
            </a:br>
            <a:endParaRPr lang="he-IL" sz="4000" dirty="0"/>
          </a:p>
        </p:txBody>
      </p:sp>
      <p:sp>
        <p:nvSpPr>
          <p:cNvPr id="6" name="מלבן 5"/>
          <p:cNvSpPr/>
          <p:nvPr/>
        </p:nvSpPr>
        <p:spPr>
          <a:xfrm>
            <a:off x="-192506" y="120995"/>
            <a:ext cx="60639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b="1" dirty="0"/>
              <a:t>רווחה, מערך הדיגיטל הלאומי, </a:t>
            </a:r>
            <a:r>
              <a:rPr lang="he-IL" b="1" dirty="0" err="1"/>
              <a:t>בטל"א</a:t>
            </a:r>
            <a:r>
              <a:rPr lang="he-IL" b="1" dirty="0"/>
              <a:t>, בריאות</a:t>
            </a:r>
            <a:r>
              <a:rPr lang="he-IL" dirty="0"/>
              <a:t>, כל קופ"ח, רשויות, למ"ס, </a:t>
            </a:r>
            <a:r>
              <a:rPr lang="he-IL" dirty="0" err="1"/>
              <a:t>שיוויון</a:t>
            </a:r>
            <a:r>
              <a:rPr lang="he-IL" dirty="0"/>
              <a:t> חברתי, הרשות לחדשנות, ג'וינט והאוצר</a:t>
            </a:r>
          </a:p>
        </p:txBody>
      </p:sp>
      <p:sp>
        <p:nvSpPr>
          <p:cNvPr id="9" name="מלבן 8"/>
          <p:cNvSpPr/>
          <p:nvPr/>
        </p:nvSpPr>
        <p:spPr>
          <a:xfrm>
            <a:off x="-12400" y="1027906"/>
            <a:ext cx="12204399" cy="5810271"/>
          </a:xfrm>
          <a:prstGeom prst="rect">
            <a:avLst/>
          </a:prstGeom>
          <a:solidFill>
            <a:schemeClr val="tx1">
              <a:alpha val="4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6"/>
          <p:cNvSpPr/>
          <p:nvPr/>
        </p:nvSpPr>
        <p:spPr>
          <a:xfrm>
            <a:off x="1219200" y="1027906"/>
            <a:ext cx="1066599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3200" b="1" dirty="0" smtClean="0">
                <a:solidFill>
                  <a:schemeClr val="bg1"/>
                </a:solidFill>
              </a:rPr>
              <a:t>פרוייקטים משותפים:</a:t>
            </a:r>
            <a:endParaRPr lang="he-IL" sz="2800" b="1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he-IL" sz="2800" b="1" dirty="0">
                <a:solidFill>
                  <a:schemeClr val="bg1"/>
                </a:solidFill>
              </a:rPr>
              <a:t>'ברק בעיניים'- </a:t>
            </a:r>
            <a:r>
              <a:rPr lang="he-IL" sz="2400" b="1" dirty="0">
                <a:solidFill>
                  <a:schemeClr val="bg1"/>
                </a:solidFill>
              </a:rPr>
              <a:t>תמונת מצב לאומית בזקנה לממשלה ולרשויות (מערכת אמון)</a:t>
            </a:r>
          </a:p>
          <a:p>
            <a:pPr marL="514350" indent="-514350">
              <a:buFont typeface="+mj-lt"/>
              <a:buAutoNum type="arabicPeriod"/>
            </a:pPr>
            <a:r>
              <a:rPr lang="he-IL" sz="2800" b="1" dirty="0">
                <a:solidFill>
                  <a:schemeClr val="bg1"/>
                </a:solidFill>
              </a:rPr>
              <a:t>סל שירותים מותאם אישית </a:t>
            </a:r>
            <a:r>
              <a:rPr lang="en-US" sz="2800" b="1" dirty="0">
                <a:solidFill>
                  <a:schemeClr val="bg1"/>
                </a:solidFill>
              </a:rPr>
              <a:t>AI</a:t>
            </a:r>
            <a:r>
              <a:rPr lang="he-IL" sz="2800" b="1" dirty="0">
                <a:solidFill>
                  <a:schemeClr val="bg1"/>
                </a:solidFill>
              </a:rPr>
              <a:t>- </a:t>
            </a:r>
            <a:r>
              <a:rPr lang="he-IL" sz="2400" b="1" dirty="0" err="1">
                <a:solidFill>
                  <a:schemeClr val="bg1"/>
                </a:solidFill>
              </a:rPr>
              <a:t>בטל"א</a:t>
            </a:r>
            <a:r>
              <a:rPr lang="he-IL" sz="2400" b="1" dirty="0">
                <a:solidFill>
                  <a:schemeClr val="bg1"/>
                </a:solidFill>
              </a:rPr>
              <a:t>, רווחה, רשויות, קופ"ח ומערך הדיגיטל</a:t>
            </a:r>
          </a:p>
          <a:p>
            <a:pPr marL="514350" indent="-514350">
              <a:buFont typeface="+mj-lt"/>
              <a:buAutoNum type="arabicPeriod"/>
            </a:pPr>
            <a:r>
              <a:rPr lang="he-IL" sz="2800" b="1" dirty="0" smtClean="0">
                <a:solidFill>
                  <a:schemeClr val="bg1"/>
                </a:solidFill>
              </a:rPr>
              <a:t>מרשם חברתי והפניות הדדיות: </a:t>
            </a:r>
            <a:r>
              <a:rPr lang="he-IL" sz="2400" dirty="0" smtClean="0">
                <a:solidFill>
                  <a:schemeClr val="bg1"/>
                </a:solidFill>
              </a:rPr>
              <a:t>רווחה-קופ"ח- </a:t>
            </a:r>
            <a:r>
              <a:rPr lang="he-IL" sz="2400" dirty="0" err="1" smtClean="0">
                <a:solidFill>
                  <a:schemeClr val="bg1"/>
                </a:solidFill>
              </a:rPr>
              <a:t>בטל"א</a:t>
            </a:r>
            <a:endParaRPr lang="he-IL" sz="2400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he-IL" sz="2800" b="1" dirty="0" smtClean="0">
                <a:solidFill>
                  <a:schemeClr val="bg1"/>
                </a:solidFill>
              </a:rPr>
              <a:t>אופטימיזציה של צרכים ומענים- </a:t>
            </a:r>
            <a:r>
              <a:rPr lang="he-IL" sz="2000" b="1" dirty="0" smtClean="0">
                <a:solidFill>
                  <a:schemeClr val="bg1"/>
                </a:solidFill>
              </a:rPr>
              <a:t>מיפוי צרכים ומענים וחיבור חכם ביניהם</a:t>
            </a:r>
            <a:endParaRPr lang="he-IL" sz="2000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he-IL" sz="2800" b="1" dirty="0" smtClean="0">
                <a:solidFill>
                  <a:schemeClr val="bg1"/>
                </a:solidFill>
              </a:rPr>
              <a:t>מהלך הדיגיטל להזדקנות מיטבית- </a:t>
            </a:r>
            <a:r>
              <a:rPr lang="he-IL" sz="2000" dirty="0" smtClean="0">
                <a:solidFill>
                  <a:schemeClr val="bg1"/>
                </a:solidFill>
              </a:rPr>
              <a:t>רווחה, מערך הדיגיטל </a:t>
            </a:r>
            <a:r>
              <a:rPr lang="he-IL" sz="2000" dirty="0" err="1" smtClean="0">
                <a:solidFill>
                  <a:schemeClr val="bg1"/>
                </a:solidFill>
              </a:rPr>
              <a:t>וגוינט</a:t>
            </a:r>
            <a:endParaRPr lang="he-IL" sz="2000" dirty="0" smtClean="0">
              <a:solidFill>
                <a:schemeClr val="bg1"/>
              </a:solidFill>
            </a:endParaRPr>
          </a:p>
          <a:p>
            <a:endParaRPr lang="he-IL" sz="2400" dirty="0" smtClean="0">
              <a:solidFill>
                <a:schemeClr val="bg1"/>
              </a:solidFill>
            </a:endParaRPr>
          </a:p>
          <a:p>
            <a:endParaRPr lang="he-I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11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04AC-4BFD-5FD0-3AB7-C3B7583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36" y="365126"/>
            <a:ext cx="6366164" cy="730344"/>
          </a:xfrm>
        </p:spPr>
        <p:txBody>
          <a:bodyPr>
            <a:normAutofit/>
          </a:bodyPr>
          <a:lstStyle/>
          <a:p>
            <a:pPr algn="r" rtl="1"/>
            <a:r>
              <a:rPr lang="he-IL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צוות דאטה-</a:t>
            </a:r>
            <a:r>
              <a:rPr lang="he-IL" sz="4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דיגיטל</a:t>
            </a:r>
            <a:r>
              <a:rPr lang="he-IL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מטרות</a:t>
            </a:r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42A39-8CE7-E478-4054-AE3815DBD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2" y="2133600"/>
            <a:ext cx="10340830" cy="377762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ליזום ולהוביל פרויקטים </a:t>
            </a:r>
            <a:r>
              <a:rPr lang="he-IL" sz="2000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משותפים פורצי דרך </a:t>
            </a:r>
            <a:r>
              <a:rPr lang="he-IL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בעולמות הדאטה </a:t>
            </a:r>
            <a:r>
              <a:rPr lang="he-IL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והדיגיטל</a:t>
            </a:r>
            <a:r>
              <a:rPr lang="he-IL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שתכליתם להעמיד תוצר שמקדם בשדה ההזדקנות: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-שיפור של כלים ותשתיות משותפות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-שיפור של שירותים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-שיפור של תהליכים, של עבודת מנגנונים, קיצור בירוקרטיות ועוד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endParaRPr lang="he-IL" sz="2000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הצוות מהווה מכפיל </a:t>
            </a:r>
            <a:r>
              <a:rPr lang="he-IL" sz="20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כח</a:t>
            </a:r>
            <a:r>
              <a:rPr lang="he-IL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למינוף יוזמות ומהלכים מכווני אימפקט, ולהוצאתם לפועל.</a:t>
            </a:r>
            <a:endParaRPr lang="he-IL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28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15CC-83D1-CC5E-5F4D-4EFAFD44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491" y="-150801"/>
            <a:ext cx="10515600" cy="857093"/>
          </a:xfrm>
        </p:spPr>
        <p:txBody>
          <a:bodyPr/>
          <a:lstStyle/>
          <a:p>
            <a:pPr algn="r" rtl="1"/>
            <a:r>
              <a:rPr lang="he-IL" dirty="0"/>
              <a:t>דאטה-</a:t>
            </a:r>
            <a:r>
              <a:rPr lang="he-IL" dirty="0" err="1"/>
              <a:t>דיגיטל</a:t>
            </a:r>
            <a:r>
              <a:rPr lang="he-IL" dirty="0"/>
              <a:t>- הצוות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A4743-CE44-EDD9-69FB-CDDA237D8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812" y="1128508"/>
            <a:ext cx="10710249" cy="4351338"/>
          </a:xfrm>
        </p:spPr>
        <p:txBody>
          <a:bodyPr>
            <a:normAutofit fontScale="92500" lnSpcReduction="20000"/>
          </a:bodyPr>
          <a:lstStyle/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הרכב הצוות: </a:t>
            </a:r>
            <a:r>
              <a:rPr lang="he-IL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 משתתפים ממגוון גופים: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משרד הרווחה והבטחון החברתי,  מערך 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הדיגיטל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הלאומי, קופ"ח כללית, קופ"ח מכבי, קופ"ח מאוחדת, המשרד לשוויון חברתי, 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הלמ"ס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עיריית תל אביב, עיריית ירושלים, הג'וינט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b="1" u="sng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מנהל.ות</a:t>
            </a:r>
            <a:r>
              <a:rPr lang="he-IL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הצוות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אביעד יצחקי-ראש אגף תכנון מדיניות הזדקנות האוכלוסייה, משרד הרווחה והבטחון החברתי</a:t>
            </a:r>
            <a:endParaRPr lang="he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רותם </a:t>
            </a:r>
            <a:r>
              <a:rPr lang="he-IL" sz="18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ארנרייך</a:t>
            </a:r>
            <a:r>
              <a:rPr lang="he-IL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- מנהלת מדיניות ואסט</a:t>
            </a:r>
            <a:r>
              <a:rPr lang="he-IL" sz="1800" dirty="0">
                <a:ea typeface="Calibri" panose="020F0502020204030204" pitchFamily="34" charset="0"/>
                <a:cs typeface="Calibri" panose="020F0502020204030204" pitchFamily="34" charset="0"/>
              </a:rPr>
              <a:t>רטגיה</a:t>
            </a:r>
            <a:r>
              <a:rPr lang="he-IL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בשלטון המקומי, מערך </a:t>
            </a:r>
            <a:r>
              <a:rPr lang="he-IL" sz="18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הדיגיטל</a:t>
            </a:r>
            <a:r>
              <a:rPr lang="he-IL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הלאומי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מובילה דיגיטלית- דפנה לוין- מנהלת טרנספורמציה דיגיטלית, תהליכי יזום ומעורבות לקוח, הג'וינט- </a:t>
            </a:r>
            <a:r>
              <a:rPr lang="he-IL" sz="1800" dirty="0" err="1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דידא</a:t>
            </a:r>
            <a:r>
              <a:rPr lang="he-IL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מלוות התהליך</a:t>
            </a:r>
            <a:r>
              <a:rPr lang="he-IL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he-IL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הדס ברזילי- מנהלת </a:t>
            </a:r>
            <a:r>
              <a:rPr lang="he-IL" sz="1800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תכניות</a:t>
            </a:r>
            <a:r>
              <a:rPr lang="he-IL" sz="1800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הג'וינט-</a:t>
            </a:r>
            <a:r>
              <a:rPr lang="he-IL" sz="1800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אלכא</a:t>
            </a:r>
            <a:endParaRPr lang="he-IL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b="1" u="sng" kern="100" dirty="0">
                <a:latin typeface="Calibri" panose="020F0502020204030204" pitchFamily="34" charset="0"/>
                <a:cs typeface="Calibri" panose="020F0502020204030204" pitchFamily="34" charset="0"/>
              </a:rPr>
              <a:t>רכז הפורום: 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חיים פרג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9520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99" y="1027906"/>
            <a:ext cx="12204399" cy="5830094"/>
          </a:xfrm>
          <a:prstGeom prst="rect">
            <a:avLst/>
          </a:prstGeom>
          <a:solidFill>
            <a:sysClr val="window" lastClr="FFFFFF">
              <a:alpha val="0"/>
            </a:sysClr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1004AC-4BFD-5FD0-3AB7-C3B75833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344"/>
          </a:xfrm>
        </p:spPr>
        <p:txBody>
          <a:bodyPr>
            <a:normAutofit fontScale="90000"/>
          </a:bodyPr>
          <a:lstStyle/>
          <a:p>
            <a:pPr algn="r" rtl="1"/>
            <a:r>
              <a:rPr lang="he-IL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צוות דאטה-</a:t>
            </a:r>
            <a:r>
              <a:rPr lang="he-IL" sz="4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דיגיטל</a:t>
            </a:r>
            <a:r>
              <a:rPr lang="he-IL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he-IL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e-IL" sz="4400" dirty="0">
                <a:latin typeface="Calibri" panose="020F0502020204030204" pitchFamily="34" charset="0"/>
                <a:cs typeface="Calibri" panose="020F0502020204030204" pitchFamily="34" charset="0"/>
              </a:rPr>
              <a:t>מעיקרי הפעילות</a:t>
            </a:r>
            <a:r>
              <a:rPr lang="he-I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he-IL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he-IL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מלבן 5"/>
          <p:cNvSpPr/>
          <p:nvPr/>
        </p:nvSpPr>
        <p:spPr>
          <a:xfrm>
            <a:off x="-463400" y="923403"/>
            <a:ext cx="13106400" cy="7650693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42A39-8CE7-E478-4054-AE3815DBD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515" y="1266700"/>
            <a:ext cx="10515600" cy="4730338"/>
          </a:xfrm>
        </p:spPr>
        <p:txBody>
          <a:bodyPr>
            <a:noAutofit/>
          </a:bodyPr>
          <a:lstStyle/>
          <a:p>
            <a:pPr marL="0" indent="0" algn="just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במסגרת צוות זה מקודמים הפרויקטים הבאים:</a:t>
            </a:r>
            <a:endParaRPr lang="en-US" sz="24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he-IL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'ברק בעיניים'- </a:t>
            </a:r>
            <a:r>
              <a:rPr lang="he-IL" sz="20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דשבורד</a:t>
            </a:r>
            <a:r>
              <a:rPr lang="he-IL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ממשלה ורשויות - </a:t>
            </a: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הנגשת תמונת מצב לאומית לאתגרי ההזדקנות לממשלה ולרשויות המקומיות דרך איגום והצלבת מידע רב מערכתי </a:t>
            </a:r>
            <a:r>
              <a:rPr lang="he-IL" sz="2000" dirty="0" err="1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והנגשתו</a:t>
            </a: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he-IL" sz="2000" dirty="0" err="1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בדשבורדים</a:t>
            </a: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he-IL" sz="2000" dirty="0" err="1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יעודיים</a:t>
            </a:r>
            <a:endParaRPr lang="en-US" sz="2000" strike="sngStrike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he-IL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he-IL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אופטימיזציה של צרכים ומענים - </a:t>
            </a:r>
            <a:r>
              <a:rPr lang="he-IL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פיתוח תשתית דאטה המבוססת על צרכים של אזרחים ותיקים לפי פרופילים והמענים הקיימים המתאימים להם, כשתשתית תומכת לפרסונליזציה של שירותים מותאמי אדם. 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he-IL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he-IL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מהלך </a:t>
            </a:r>
            <a:r>
              <a:rPr lang="he-IL" sz="20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הדיגיטל</a:t>
            </a:r>
            <a:r>
              <a:rPr lang="he-IL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להזדקנות מיטבית- </a:t>
            </a:r>
            <a:r>
              <a:rPr lang="he-IL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תכנית אסטרטגית דאטה-</a:t>
            </a:r>
            <a:r>
              <a:rPr lang="he-IL" sz="200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דיגיטל</a:t>
            </a:r>
            <a:r>
              <a:rPr lang="he-IL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להזדקנות מיטבית: מיפוי המצב כיום, מיפוי ההזדמנויות הטכנולוגיות והצעות לשינוי ומינוף.</a:t>
            </a:r>
            <a:endParaRPr lang="he-IL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he-IL" sz="2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</a:t>
            </a:r>
            <a:r>
              <a:rPr lang="he-IL" sz="2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הפניות הדדיות - </a:t>
            </a: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הבניית שיטת עבודה בין מערכת הרווחה, הבריאות וביטוח לאומי, לטובת הפניות הדדיות בין מערכות המיועדות לשימור תפקוד ומניעת הדרדרות.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he-IL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סל תפקוד מותאם אישית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</a:t>
            </a:r>
            <a:r>
              <a:rPr lang="he-IL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he-IL" sz="2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פיתוח מנגנון בר-קיימא, יעיל ואפקטיבי, לאספקת שירותים מותאמים בקהילה על ידי בחירה וניהול עצמי של האזרח הוותיק לשיפור איכות חייו, מניעת הידרדרות תפקודית, והרחבת העצמאות וההשתתפות החברתית שלו.</a:t>
            </a:r>
          </a:p>
          <a:p>
            <a:pPr marL="0" indent="0" algn="just" rtl="1">
              <a:lnSpc>
                <a:spcPct val="107000"/>
              </a:lnSpc>
              <a:spcAft>
                <a:spcPts val="800"/>
              </a:spcAft>
              <a:buNone/>
            </a:pP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 rtl="1">
              <a:buNone/>
            </a:pPr>
            <a:endParaRPr lang="he-IL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580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 idx="4294967295"/>
          </p:nvPr>
        </p:nvSpPr>
        <p:spPr>
          <a:xfrm>
            <a:off x="6625390" y="1281635"/>
            <a:ext cx="5343112" cy="23876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r" rtl="1">
              <a:spcAft>
                <a:spcPts val="600"/>
              </a:spcAft>
              <a:buSzPct val="100000"/>
            </a:pPr>
            <a:r>
              <a:rPr lang="he-IL" sz="4000" kern="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הצגת תפישה של מערכת </a:t>
            </a:r>
            <a:r>
              <a:rPr lang="he-IL" sz="4000" kern="0" dirty="0" smtClean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אסטרטגית לניהול דאטה, פערים ומדדים</a:t>
            </a:r>
            <a:endParaRPr lang="he-IL" sz="3600" dirty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12" y="177421"/>
            <a:ext cx="5299384" cy="6458805"/>
          </a:xfrm>
          <a:prstGeom prst="rect">
            <a:avLst/>
          </a:prstGeom>
        </p:spPr>
      </p:pic>
      <p:sp>
        <p:nvSpPr>
          <p:cNvPr id="5" name="מקבילית 1"/>
          <p:cNvSpPr/>
          <p:nvPr/>
        </p:nvSpPr>
        <p:spPr bwMode="gray">
          <a:xfrm>
            <a:off x="-1696876" y="0"/>
            <a:ext cx="8758334" cy="6858000"/>
          </a:xfrm>
          <a:prstGeom prst="parallelogram">
            <a:avLst>
              <a:gd name="adj" fmla="val 21164"/>
            </a:avLst>
          </a:prstGeom>
          <a:blipFill dpi="0" rotWithShape="1">
            <a:blip r:embed="rId4"/>
            <a:srcRect/>
            <a:tile tx="-1403350" ty="-31750" sx="92000" sy="92000" flip="none" algn="tl"/>
          </a:blip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he-I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43DCD03F-331A-9505-274F-512D00DF5D2D}"/>
              </a:ext>
            </a:extLst>
          </p:cNvPr>
          <p:cNvSpPr txBox="1">
            <a:spLocks/>
          </p:cNvSpPr>
          <p:nvPr/>
        </p:nvSpPr>
        <p:spPr>
          <a:xfrm>
            <a:off x="7175757" y="4197096"/>
            <a:ext cx="4632325" cy="730504"/>
          </a:xfrm>
          <a:prstGeom prst="rect">
            <a:avLst/>
          </a:prstGeom>
        </p:spPr>
        <p:txBody>
          <a:bodyPr>
            <a:normAutofit fontScale="52500" lnSpcReduction="20000"/>
          </a:bodyPr>
          <a:lstStyle>
            <a:lvl1pPr algn="r" rtl="1">
              <a:spcBef>
                <a:spcPct val="0"/>
              </a:spcBef>
              <a:spcAft>
                <a:spcPts val="600"/>
              </a:spcAft>
              <a:buSzPct val="100000"/>
              <a:buNone/>
              <a:defRPr sz="4000" kern="0">
                <a:solidFill>
                  <a:schemeClr val="accent5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he-IL" sz="4000" b="1" i="0" u="none" strike="noStrike" kern="0" cap="none" spc="0" normalizeH="0" baseline="0" noProof="0" err="1">
                <a:ln>
                  <a:noFill/>
                </a:ln>
                <a:solidFill>
                  <a:srgbClr val="001E2F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מינהל</a:t>
            </a:r>
            <a:r>
              <a:rPr kumimoji="0" lang="he-IL" sz="4000" b="1" i="0" u="none" strike="noStrike" kern="0" cap="none" spc="0" normalizeH="0" baseline="0" noProof="0">
                <a:ln>
                  <a:noFill/>
                </a:ln>
                <a:solidFill>
                  <a:srgbClr val="001E2F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אזרחים ותיקים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he-IL" sz="4000" b="1" i="0" u="none" strike="noStrike" kern="0" cap="none" spc="0" normalizeH="0" baseline="0" noProof="0">
                <a:ln>
                  <a:noFill/>
                </a:ln>
                <a:solidFill>
                  <a:srgbClr val="001E2F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משרד הרווחה</a:t>
            </a:r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0865C7A5-12B8-8ED8-AB6A-6643DFFDA611}"/>
              </a:ext>
            </a:extLst>
          </p:cNvPr>
          <p:cNvSpPr txBox="1">
            <a:spLocks/>
          </p:cNvSpPr>
          <p:nvPr/>
        </p:nvSpPr>
        <p:spPr>
          <a:xfrm>
            <a:off x="7175756" y="5832348"/>
            <a:ext cx="4632325" cy="502920"/>
          </a:xfrm>
          <a:prstGeom prst="rect">
            <a:avLst/>
          </a:prstGeom>
        </p:spPr>
        <p:txBody>
          <a:bodyPr>
            <a:normAutofit fontScale="97500"/>
          </a:bodyPr>
          <a:lstStyle>
            <a:defPPr>
              <a:defRPr lang="en-US"/>
            </a:defPPr>
            <a:lvl1pPr algn="r" rtl="1">
              <a:spcBef>
                <a:spcPct val="0"/>
              </a:spcBef>
              <a:spcAft>
                <a:spcPts val="600"/>
              </a:spcAft>
              <a:buSzPct val="100000"/>
              <a:buNone/>
              <a:defRPr sz="4000" b="1" kern="0">
                <a:solidFill>
                  <a:schemeClr val="tx2"/>
                </a:solidFill>
                <a:latin typeface="Segoe UI" panose="020B0502040204020203" pitchFamily="34" charset="0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srgbClr val="001E2F"/>
              </a:solidFill>
              <a:effectLst/>
              <a:uLnTx/>
              <a:uFillTx/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</p:txBody>
      </p:sp>
      <p:pic>
        <p:nvPicPr>
          <p:cNvPr id="6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2358F968-53FF-170F-179A-A8E461058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066" y="291690"/>
            <a:ext cx="1694750" cy="46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7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רקע לבן מופשט של טכנולוגיה">
            <a:extLst>
              <a:ext uri="{FF2B5EF4-FFF2-40B4-BE49-F238E27FC236}">
                <a16:creationId xmlns:a16="http://schemas.microsoft.com/office/drawing/2014/main" id="{12B89C69-40D5-99F6-EC3B-BFE9FE80643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2">
                <a:tint val="45000"/>
                <a:satMod val="400000"/>
              </a:schemeClr>
            </a:duoton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2EFF0"/>
          </a:solidFill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7A3B842E-8B18-A52D-1306-410268E572D6}"/>
              </a:ext>
            </a:extLst>
          </p:cNvPr>
          <p:cNvSpPr txBox="1">
            <a:spLocks/>
          </p:cNvSpPr>
          <p:nvPr/>
        </p:nvSpPr>
        <p:spPr>
          <a:xfrm flipH="1">
            <a:off x="409805" y="1543460"/>
            <a:ext cx="11372389" cy="1096092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0" i="0" u="none" strike="noStrike" kern="1200" cap="none" spc="-75" normalizeH="0" baseline="0" noProof="0">
                <a:ln>
                  <a:noFill/>
                </a:ln>
                <a:solidFill>
                  <a:srgbClr val="001E2F"/>
                </a:solidFill>
                <a:effectLst/>
                <a:uLnTx/>
                <a:uFillTx/>
                <a:latin typeface="Segoe UI" panose="020B0502040204020203" pitchFamily="34" charset="0"/>
                <a:ea typeface="Bebas Neue" charset="0"/>
                <a:cs typeface="Segoe UI" panose="020B0502040204020203" pitchFamily="34" charset="0"/>
              </a:rPr>
              <a:t>מיקוד תשומת הלב הניהולית במקומות הדורשים התערבות</a:t>
            </a:r>
            <a:endParaRPr kumimoji="0" lang="en-US" sz="2800" b="0" i="0" u="none" strike="noStrike" kern="1200" cap="none" spc="-75" normalizeH="0" baseline="0" noProof="0">
              <a:ln>
                <a:noFill/>
              </a:ln>
              <a:solidFill>
                <a:srgbClr val="001E2F"/>
              </a:solidFill>
              <a:effectLst/>
              <a:uLnTx/>
              <a:uFillTx/>
              <a:latin typeface="Segoe UI" panose="020B0502040204020203" pitchFamily="34" charset="0"/>
              <a:ea typeface="Bebas Neue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D4E02-A843-6079-5451-967F1B6A8074}"/>
              </a:ext>
            </a:extLst>
          </p:cNvPr>
          <p:cNvSpPr txBox="1"/>
          <p:nvPr/>
        </p:nvSpPr>
        <p:spPr>
          <a:xfrm>
            <a:off x="866775" y="3056291"/>
            <a:ext cx="100092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27116" rtl="1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-75" normalizeH="0" baseline="0" noProof="0" dirty="0">
                <a:ln>
                  <a:noFill/>
                </a:ln>
                <a:solidFill>
                  <a:srgbClr val="001E2F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F0502020204030204" pitchFamily="34" charset="0"/>
                <a:cs typeface="Segoe UI" panose="020B0502040204020203" pitchFamily="34" charset="0"/>
              </a:rPr>
              <a:t>הנגשת</a:t>
            </a:r>
            <a:r>
              <a:rPr kumimoji="0" lang="he-IL" sz="2400" b="1" i="0" u="none" strike="noStrike" kern="1200" cap="none" spc="-75" normalizeH="0" baseline="0" noProof="0" dirty="0">
                <a:ln>
                  <a:noFill/>
                </a:ln>
                <a:solidFill>
                  <a:srgbClr val="389D80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F0502020204030204" pitchFamily="34" charset="0"/>
                <a:cs typeface="Segoe UI" panose="020B0502040204020203" pitchFamily="34" charset="0"/>
              </a:rPr>
              <a:t> מדדים עסקיים </a:t>
            </a:r>
            <a:r>
              <a:rPr kumimoji="0" lang="he-IL" sz="2400" b="1" i="0" u="none" strike="noStrike" kern="1200" cap="none" spc="-75" normalizeH="0" baseline="0" noProof="0" dirty="0">
                <a:ln>
                  <a:noFill/>
                </a:ln>
                <a:solidFill>
                  <a:srgbClr val="001E2F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F0502020204030204" pitchFamily="34" charset="0"/>
                <a:cs typeface="Segoe UI" panose="020B0502040204020203" pitchFamily="34" charset="0"/>
              </a:rPr>
              <a:t>המשקפים את ההתנהלות והשירותים הניתנים, </a:t>
            </a:r>
            <a:r>
              <a:rPr kumimoji="0" lang="en-US" sz="2400" b="1" i="0" u="none" strike="noStrike" kern="1200" cap="none" spc="-75" normalizeH="0" baseline="0" noProof="0" dirty="0">
                <a:ln>
                  <a:noFill/>
                </a:ln>
                <a:solidFill>
                  <a:srgbClr val="001E2F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F0502020204030204" pitchFamily="34" charset="0"/>
                <a:cs typeface="Segoe UI" panose="020B0502040204020203" pitchFamily="34" charset="0"/>
              </a:rPr>
              <a:t/>
            </a:r>
            <a:br>
              <a:rPr kumimoji="0" lang="en-US" sz="2400" b="1" i="0" u="none" strike="noStrike" kern="1200" cap="none" spc="-75" normalizeH="0" baseline="0" noProof="0" dirty="0">
                <a:ln>
                  <a:noFill/>
                </a:ln>
                <a:solidFill>
                  <a:srgbClr val="001E2F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F0502020204030204" pitchFamily="34" charset="0"/>
                <a:cs typeface="Segoe UI" panose="020B0502040204020203" pitchFamily="34" charset="0"/>
              </a:rPr>
            </a:br>
            <a:r>
              <a:rPr kumimoji="0" lang="he-IL" sz="2400" b="1" i="0" u="none" strike="noStrike" kern="1200" cap="none" spc="-75" normalizeH="0" baseline="0" noProof="0" dirty="0">
                <a:ln>
                  <a:noFill/>
                </a:ln>
                <a:solidFill>
                  <a:srgbClr val="389D80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F0502020204030204" pitchFamily="34" charset="0"/>
                <a:cs typeface="Segoe UI" panose="020B0502040204020203" pitchFamily="34" charset="0"/>
              </a:rPr>
              <a:t>ומיקוד </a:t>
            </a:r>
            <a:r>
              <a:rPr kumimoji="0" lang="he-IL" sz="2400" b="1" i="0" u="none" strike="noStrike" kern="1200" cap="none" spc="-75" normalizeH="0" baseline="0" noProof="0" dirty="0">
                <a:ln>
                  <a:noFill/>
                </a:ln>
                <a:solidFill>
                  <a:srgbClr val="001E2F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F0502020204030204" pitchFamily="34" charset="0"/>
                <a:cs typeface="Segoe UI" panose="020B0502040204020203" pitchFamily="34" charset="0"/>
              </a:rPr>
              <a:t>תשומת הלב הניהולית במקומות בהם קיים פער הדורש מיקוד פעולות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E80522-E4D3-E136-0D23-E5BBAE3274B5}"/>
              </a:ext>
            </a:extLst>
          </p:cNvPr>
          <p:cNvCxnSpPr/>
          <p:nvPr/>
        </p:nvCxnSpPr>
        <p:spPr>
          <a:xfrm>
            <a:off x="866775" y="2809821"/>
            <a:ext cx="105537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מלבן 2">
            <a:extLst>
              <a:ext uri="{FF2B5EF4-FFF2-40B4-BE49-F238E27FC236}">
                <a16:creationId xmlns:a16="http://schemas.microsoft.com/office/drawing/2014/main" id="{1600E812-6C3F-F7F0-9CA1-CCF4851B1BF8}"/>
              </a:ext>
            </a:extLst>
          </p:cNvPr>
          <p:cNvSpPr/>
          <p:nvPr/>
        </p:nvSpPr>
        <p:spPr>
          <a:xfrm>
            <a:off x="4701641" y="1007188"/>
            <a:ext cx="2788713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 w="0"/>
                <a:gradFill>
                  <a:gsLst>
                    <a:gs pos="0">
                      <a:srgbClr val="95E89D"/>
                    </a:gs>
                    <a:gs pos="75000">
                      <a:srgbClr val="389D80"/>
                    </a:gs>
                    <a:gs pos="100000">
                      <a:srgbClr val="3E8F80"/>
                    </a:gs>
                  </a:gsLst>
                  <a:lin ang="8100000" scaled="0"/>
                </a:gradFill>
                <a:effectLst/>
                <a:uLnTx/>
                <a:uFillTx/>
                <a:latin typeface="Open Sans Hebrew"/>
                <a:ea typeface="+mn-ea"/>
              </a:rPr>
              <a:t>Gap Analyzer</a:t>
            </a:r>
            <a:endParaRPr kumimoji="0" lang="he-IL" sz="3200" b="1" i="0" u="none" strike="noStrike" kern="1200" cap="none" spc="0" normalizeH="0" baseline="0" noProof="0">
              <a:ln w="0"/>
              <a:gradFill>
                <a:gsLst>
                  <a:gs pos="0">
                    <a:srgbClr val="95E89D"/>
                  </a:gs>
                  <a:gs pos="75000">
                    <a:srgbClr val="389D80"/>
                  </a:gs>
                  <a:gs pos="100000">
                    <a:srgbClr val="3E8F80"/>
                  </a:gs>
                </a:gsLst>
                <a:lin ang="8100000" scaled="0"/>
              </a:gradFill>
              <a:effectLst/>
              <a:uLnTx/>
              <a:uFillTx/>
              <a:latin typeface="Open Sans Hebrew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4759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3B842E-8B18-A52D-1306-410268E572D6}"/>
              </a:ext>
            </a:extLst>
          </p:cNvPr>
          <p:cNvSpPr txBox="1">
            <a:spLocks/>
          </p:cNvSpPr>
          <p:nvPr/>
        </p:nvSpPr>
        <p:spPr>
          <a:xfrm flipH="1">
            <a:off x="787025" y="321804"/>
            <a:ext cx="11179628" cy="692150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0" i="0" u="none" strike="noStrike" kern="1200" cap="none" spc="-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rPr>
              <a:t>רכיבים מרכזיים בפתרון</a:t>
            </a:r>
            <a:endParaRPr kumimoji="0" lang="en-US" sz="2800" b="0" i="0" u="none" strike="noStrike" kern="1200" cap="none" spc="-75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Open Sans SemiBold" panose="020B0706030804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37" name="קבוצה 36">
            <a:extLst>
              <a:ext uri="{FF2B5EF4-FFF2-40B4-BE49-F238E27FC236}">
                <a16:creationId xmlns:a16="http://schemas.microsoft.com/office/drawing/2014/main" id="{38A70C6C-1988-74D6-1B93-D9AF27354C20}"/>
              </a:ext>
            </a:extLst>
          </p:cNvPr>
          <p:cNvGrpSpPr/>
          <p:nvPr/>
        </p:nvGrpSpPr>
        <p:grpSpPr>
          <a:xfrm>
            <a:off x="9246400" y="1672163"/>
            <a:ext cx="2560320" cy="3822192"/>
            <a:chOff x="9047225" y="1672163"/>
            <a:chExt cx="2560320" cy="3822192"/>
          </a:xfrm>
        </p:grpSpPr>
        <p:sp>
          <p:nvSpPr>
            <p:cNvPr id="20" name="Rectangle: Rounded Corners 2">
              <a:extLst>
                <a:ext uri="{FF2B5EF4-FFF2-40B4-BE49-F238E27FC236}">
                  <a16:creationId xmlns:a16="http://schemas.microsoft.com/office/drawing/2014/main" id="{E67EDF60-AB2C-5B1C-208C-C57FA8184E2F}"/>
                </a:ext>
              </a:extLst>
            </p:cNvPr>
            <p:cNvSpPr/>
            <p:nvPr/>
          </p:nvSpPr>
          <p:spPr bwMode="gray">
            <a:xfrm>
              <a:off x="9047225" y="1672163"/>
              <a:ext cx="2560320" cy="3822192"/>
            </a:xfrm>
            <a:prstGeom prst="roundRect">
              <a:avLst>
                <a:gd name="adj" fmla="val 497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2"/>
                </a:gs>
              </a:gsLst>
              <a:lin ang="18900000" scaled="0"/>
              <a:tileRect/>
            </a:gradFill>
            <a:ln w="19050" algn="ctr">
              <a:noFill/>
              <a:miter lim="800000"/>
              <a:headEnd/>
              <a:tailEnd/>
            </a:ln>
            <a:effectLst>
              <a:outerShdw blurRad="50800" dist="12700" dir="5400000" algn="t" rotWithShape="0">
                <a:schemeClr val="accent5">
                  <a:alpha val="40000"/>
                </a:schemeClr>
              </a:outerShdw>
            </a:effectLst>
          </p:spPr>
          <p:txBody>
            <a:bodyPr wrap="square" lIns="88900" tIns="144000" rIns="88900" bIns="889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L" sz="1800" b="1" i="0" u="none" strike="noStrike" kern="1200" cap="none" spc="0" normalizeH="0" baseline="0" noProof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" name="תיבת טקסט 9">
              <a:extLst>
                <a:ext uri="{FF2B5EF4-FFF2-40B4-BE49-F238E27FC236}">
                  <a16:creationId xmlns:a16="http://schemas.microsoft.com/office/drawing/2014/main" id="{E22A8397-E7E2-25D4-25AE-2B6F81328A06}"/>
                </a:ext>
              </a:extLst>
            </p:cNvPr>
            <p:cNvSpPr txBox="1"/>
            <p:nvPr/>
          </p:nvSpPr>
          <p:spPr>
            <a:xfrm>
              <a:off x="9248355" y="2568876"/>
              <a:ext cx="2228850" cy="196977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ממשק להגדרה עסקית של דרך חישוב המדד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מגשר בין האנליסטים במשרד לבין הגורמים העסקיים בהליך הפיתוח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מאפשר לפתח מדדים עסקיים יחד עם גורמים מחוץ למשרד</a:t>
              </a: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B5D92938-C4B6-C3F1-7F0E-AD31F60FE5DB}"/>
                </a:ext>
              </a:extLst>
            </p:cNvPr>
            <p:cNvSpPr txBox="1"/>
            <p:nvPr/>
          </p:nvSpPr>
          <p:spPr>
            <a:xfrm>
              <a:off x="9047225" y="1953230"/>
              <a:ext cx="2560320" cy="3345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0" lang="he-IL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ממשק לניהול מדדים</a:t>
              </a:r>
              <a:endParaRPr kumimoji="0" lang="en-IL" sz="1600" b="1" i="0" u="none" strike="noStrike" kern="1200" cap="none" spc="0" normalizeH="0" baseline="0" noProof="0" dirty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cxnSp>
          <p:nvCxnSpPr>
            <p:cNvPr id="15" name="מחבר ישר 14">
              <a:extLst>
                <a:ext uri="{FF2B5EF4-FFF2-40B4-BE49-F238E27FC236}">
                  <a16:creationId xmlns:a16="http://schemas.microsoft.com/office/drawing/2014/main" id="{8DFD78FF-51AF-76FE-2D8E-D4A46E7E39D6}"/>
                </a:ext>
              </a:extLst>
            </p:cNvPr>
            <p:cNvCxnSpPr/>
            <p:nvPr/>
          </p:nvCxnSpPr>
          <p:spPr>
            <a:xfrm>
              <a:off x="9785102" y="3137888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מחבר ישר 15">
              <a:extLst>
                <a:ext uri="{FF2B5EF4-FFF2-40B4-BE49-F238E27FC236}">
                  <a16:creationId xmlns:a16="http://schemas.microsoft.com/office/drawing/2014/main" id="{0AF13A57-5853-90DB-FF94-B95A36C5D589}"/>
                </a:ext>
              </a:extLst>
            </p:cNvPr>
            <p:cNvCxnSpPr/>
            <p:nvPr/>
          </p:nvCxnSpPr>
          <p:spPr>
            <a:xfrm>
              <a:off x="9785102" y="4001488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65">
              <a:extLst>
                <a:ext uri="{FF2B5EF4-FFF2-40B4-BE49-F238E27FC236}">
                  <a16:creationId xmlns:a16="http://schemas.microsoft.com/office/drawing/2014/main" id="{42B9834F-3ABB-DECD-EDB6-0504719E388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257499" y="4874905"/>
              <a:ext cx="277253" cy="454329"/>
              <a:chOff x="8146512" y="3656719"/>
              <a:chExt cx="482495" cy="790654"/>
            </a:xfrm>
            <a:gradFill>
              <a:gsLst>
                <a:gs pos="22000">
                  <a:schemeClr val="accent1"/>
                </a:gs>
                <a:gs pos="75000">
                  <a:schemeClr val="accent4"/>
                </a:gs>
                <a:gs pos="100000">
                  <a:schemeClr val="accent5"/>
                </a:gs>
              </a:gsLst>
              <a:lin ang="8100000" scaled="0"/>
            </a:gradFill>
          </p:grpSpPr>
          <p:sp>
            <p:nvSpPr>
              <p:cNvPr id="4" name="Free-form: Shape 63">
                <a:extLst>
                  <a:ext uri="{FF2B5EF4-FFF2-40B4-BE49-F238E27FC236}">
                    <a16:creationId xmlns:a16="http://schemas.microsoft.com/office/drawing/2014/main" id="{DEAD3A7F-71E3-AF49-3FCC-5B09584FEC8A}"/>
                  </a:ext>
                </a:extLst>
              </p:cNvPr>
              <p:cNvSpPr/>
              <p:nvPr/>
            </p:nvSpPr>
            <p:spPr>
              <a:xfrm>
                <a:off x="8181331" y="3656719"/>
                <a:ext cx="257201" cy="235507"/>
              </a:xfrm>
              <a:custGeom>
                <a:avLst/>
                <a:gdLst>
                  <a:gd name="connsiteX0" fmla="*/ 57147 w 257201"/>
                  <a:gd name="connsiteY0" fmla="*/ 235508 h 235507"/>
                  <a:gd name="connsiteX1" fmla="*/ 57147 w 257201"/>
                  <a:gd name="connsiteY1" fmla="*/ 183997 h 235507"/>
                  <a:gd name="connsiteX2" fmla="*/ 73030 w 257201"/>
                  <a:gd name="connsiteY2" fmla="*/ 57018 h 235507"/>
                  <a:gd name="connsiteX3" fmla="*/ 200010 w 257201"/>
                  <a:gd name="connsiteY3" fmla="*/ 72901 h 235507"/>
                  <a:gd name="connsiteX4" fmla="*/ 200479 w 257201"/>
                  <a:gd name="connsiteY4" fmla="*/ 183387 h 235507"/>
                  <a:gd name="connsiteX5" fmla="*/ 200479 w 257201"/>
                  <a:gd name="connsiteY5" fmla="*/ 235222 h 235507"/>
                  <a:gd name="connsiteX6" fmla="*/ 235222 w 257201"/>
                  <a:gd name="connsiteY6" fmla="*/ 56722 h 235507"/>
                  <a:gd name="connsiteX7" fmla="*/ 56721 w 257201"/>
                  <a:gd name="connsiteY7" fmla="*/ 21979 h 235507"/>
                  <a:gd name="connsiteX8" fmla="*/ 21979 w 257201"/>
                  <a:gd name="connsiteY8" fmla="*/ 200480 h 235507"/>
                  <a:gd name="connsiteX9" fmla="*/ 57147 w 257201"/>
                  <a:gd name="connsiteY9" fmla="*/ 235508 h 235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7201" h="235507">
                    <a:moveTo>
                      <a:pt x="57147" y="235508"/>
                    </a:moveTo>
                    <a:lnTo>
                      <a:pt x="57147" y="183997"/>
                    </a:lnTo>
                    <a:cubicBezTo>
                      <a:pt x="26469" y="144546"/>
                      <a:pt x="33580" y="87696"/>
                      <a:pt x="73030" y="57018"/>
                    </a:cubicBezTo>
                    <a:cubicBezTo>
                      <a:pt x="112481" y="26339"/>
                      <a:pt x="169331" y="33450"/>
                      <a:pt x="200010" y="72901"/>
                    </a:cubicBezTo>
                    <a:cubicBezTo>
                      <a:pt x="225242" y="105348"/>
                      <a:pt x="225435" y="150726"/>
                      <a:pt x="200479" y="183387"/>
                    </a:cubicBezTo>
                    <a:lnTo>
                      <a:pt x="200479" y="235222"/>
                    </a:lnTo>
                    <a:cubicBezTo>
                      <a:pt x="259365" y="195525"/>
                      <a:pt x="274920" y="115607"/>
                      <a:pt x="235222" y="56722"/>
                    </a:cubicBezTo>
                    <a:cubicBezTo>
                      <a:pt x="195524" y="-2164"/>
                      <a:pt x="115607" y="-17719"/>
                      <a:pt x="56721" y="21979"/>
                    </a:cubicBezTo>
                    <a:cubicBezTo>
                      <a:pt x="-2164" y="61677"/>
                      <a:pt x="-17718" y="141594"/>
                      <a:pt x="21979" y="200480"/>
                    </a:cubicBezTo>
                    <a:cubicBezTo>
                      <a:pt x="31315" y="214329"/>
                      <a:pt x="43261" y="226227"/>
                      <a:pt x="57147" y="23550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" name="Free-form: Shape 64">
                <a:extLst>
                  <a:ext uri="{FF2B5EF4-FFF2-40B4-BE49-F238E27FC236}">
                    <a16:creationId xmlns:a16="http://schemas.microsoft.com/office/drawing/2014/main" id="{A8183644-A2BC-6493-624E-C1D5F6A888D5}"/>
                  </a:ext>
                </a:extLst>
              </p:cNvPr>
              <p:cNvSpPr/>
              <p:nvPr/>
            </p:nvSpPr>
            <p:spPr>
              <a:xfrm>
                <a:off x="8146512" y="3742523"/>
                <a:ext cx="482495" cy="704850"/>
              </a:xfrm>
              <a:custGeom>
                <a:avLst/>
                <a:gdLst>
                  <a:gd name="connsiteX0" fmla="*/ 120545 w 482495"/>
                  <a:gd name="connsiteY0" fmla="*/ 43091 h 704850"/>
                  <a:gd name="connsiteX1" fmla="*/ 120545 w 482495"/>
                  <a:gd name="connsiteY1" fmla="*/ 449723 h 704850"/>
                  <a:gd name="connsiteX2" fmla="*/ 120440 w 482495"/>
                  <a:gd name="connsiteY2" fmla="*/ 449723 h 704850"/>
                  <a:gd name="connsiteX3" fmla="*/ 85045 w 482495"/>
                  <a:gd name="connsiteY3" fmla="*/ 290513 h 704850"/>
                  <a:gd name="connsiteX4" fmla="*/ 33232 w 482495"/>
                  <a:gd name="connsiteY4" fmla="*/ 258433 h 704850"/>
                  <a:gd name="connsiteX5" fmla="*/ 921 w 482495"/>
                  <a:gd name="connsiteY5" fmla="*/ 309201 h 704850"/>
                  <a:gd name="connsiteX6" fmla="*/ 52632 w 482495"/>
                  <a:gd name="connsiteY6" fmla="*/ 541839 h 704850"/>
                  <a:gd name="connsiteX7" fmla="*/ 68424 w 482495"/>
                  <a:gd name="connsiteY7" fmla="*/ 566604 h 704850"/>
                  <a:gd name="connsiteX8" fmla="*/ 163674 w 482495"/>
                  <a:gd name="connsiteY8" fmla="*/ 639851 h 704850"/>
                  <a:gd name="connsiteX9" fmla="*/ 163674 w 482495"/>
                  <a:gd name="connsiteY9" fmla="*/ 704850 h 704850"/>
                  <a:gd name="connsiteX10" fmla="*/ 413553 w 482495"/>
                  <a:gd name="connsiteY10" fmla="*/ 704850 h 704850"/>
                  <a:gd name="connsiteX11" fmla="*/ 413553 w 482495"/>
                  <a:gd name="connsiteY11" fmla="*/ 661759 h 704850"/>
                  <a:gd name="connsiteX12" fmla="*/ 482495 w 482495"/>
                  <a:gd name="connsiteY12" fmla="*/ 480784 h 704850"/>
                  <a:gd name="connsiteX13" fmla="*/ 482495 w 482495"/>
                  <a:gd name="connsiteY13" fmla="*/ 325660 h 704850"/>
                  <a:gd name="connsiteX14" fmla="*/ 430903 w 482495"/>
                  <a:gd name="connsiteY14" fmla="*/ 273963 h 704850"/>
                  <a:gd name="connsiteX15" fmla="*/ 396075 w 482495"/>
                  <a:gd name="connsiteY15" fmla="*/ 287426 h 704850"/>
                  <a:gd name="connsiteX16" fmla="*/ 396313 w 482495"/>
                  <a:gd name="connsiteY16" fmla="*/ 282578 h 704850"/>
                  <a:gd name="connsiteX17" fmla="*/ 344672 w 482495"/>
                  <a:gd name="connsiteY17" fmla="*/ 230873 h 704850"/>
                  <a:gd name="connsiteX18" fmla="*/ 308826 w 482495"/>
                  <a:gd name="connsiteY18" fmla="*/ 245297 h 704850"/>
                  <a:gd name="connsiteX19" fmla="*/ 247037 w 482495"/>
                  <a:gd name="connsiteY19" fmla="*/ 206254 h 704850"/>
                  <a:gd name="connsiteX20" fmla="*/ 206727 w 482495"/>
                  <a:gd name="connsiteY20" fmla="*/ 256727 h 704850"/>
                  <a:gd name="connsiteX21" fmla="*/ 206727 w 482495"/>
                  <a:gd name="connsiteY21" fmla="*/ 43091 h 704850"/>
                  <a:gd name="connsiteX22" fmla="*/ 163636 w 482495"/>
                  <a:gd name="connsiteY22" fmla="*/ 0 h 704850"/>
                  <a:gd name="connsiteX23" fmla="*/ 120545 w 482495"/>
                  <a:gd name="connsiteY23" fmla="*/ 43091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82495" h="704850">
                    <a:moveTo>
                      <a:pt x="120545" y="43091"/>
                    </a:moveTo>
                    <a:lnTo>
                      <a:pt x="120545" y="449723"/>
                    </a:lnTo>
                    <a:lnTo>
                      <a:pt x="120440" y="449723"/>
                    </a:lnTo>
                    <a:lnTo>
                      <a:pt x="85045" y="290513"/>
                    </a:lnTo>
                    <a:cubicBezTo>
                      <a:pt x="79596" y="267346"/>
                      <a:pt x="56399" y="252984"/>
                      <a:pt x="33232" y="258433"/>
                    </a:cubicBezTo>
                    <a:cubicBezTo>
                      <a:pt x="10472" y="263786"/>
                      <a:pt x="-3866" y="286314"/>
                      <a:pt x="921" y="309201"/>
                    </a:cubicBezTo>
                    <a:lnTo>
                      <a:pt x="52632" y="541839"/>
                    </a:lnTo>
                    <a:cubicBezTo>
                      <a:pt x="54831" y="551690"/>
                      <a:pt x="60420" y="560455"/>
                      <a:pt x="68424" y="566604"/>
                    </a:cubicBezTo>
                    <a:lnTo>
                      <a:pt x="163674" y="639851"/>
                    </a:lnTo>
                    <a:lnTo>
                      <a:pt x="163674" y="704850"/>
                    </a:lnTo>
                    <a:lnTo>
                      <a:pt x="413553" y="704850"/>
                    </a:lnTo>
                    <a:lnTo>
                      <a:pt x="413553" y="661759"/>
                    </a:lnTo>
                    <a:cubicBezTo>
                      <a:pt x="413553" y="600713"/>
                      <a:pt x="482495" y="596036"/>
                      <a:pt x="482495" y="480784"/>
                    </a:cubicBezTo>
                    <a:lnTo>
                      <a:pt x="482495" y="325660"/>
                    </a:lnTo>
                    <a:cubicBezTo>
                      <a:pt x="482524" y="297137"/>
                      <a:pt x="459426" y="273991"/>
                      <a:pt x="430903" y="273963"/>
                    </a:cubicBezTo>
                    <a:cubicBezTo>
                      <a:pt x="418020" y="273950"/>
                      <a:pt x="405599" y="278752"/>
                      <a:pt x="396075" y="287426"/>
                    </a:cubicBezTo>
                    <a:cubicBezTo>
                      <a:pt x="396218" y="285826"/>
                      <a:pt x="396313" y="284216"/>
                      <a:pt x="396313" y="282578"/>
                    </a:cubicBezTo>
                    <a:cubicBezTo>
                      <a:pt x="396331" y="254040"/>
                      <a:pt x="373210" y="230891"/>
                      <a:pt x="344672" y="230873"/>
                    </a:cubicBezTo>
                    <a:cubicBezTo>
                      <a:pt x="331308" y="230865"/>
                      <a:pt x="318459" y="236034"/>
                      <a:pt x="308826" y="245297"/>
                    </a:cubicBezTo>
                    <a:cubicBezTo>
                      <a:pt x="302545" y="217454"/>
                      <a:pt x="274882" y="199974"/>
                      <a:pt x="247037" y="206254"/>
                    </a:cubicBezTo>
                    <a:cubicBezTo>
                      <a:pt x="223446" y="211576"/>
                      <a:pt x="206701" y="232544"/>
                      <a:pt x="206727" y="256727"/>
                    </a:cubicBezTo>
                    <a:lnTo>
                      <a:pt x="206727" y="43091"/>
                    </a:lnTo>
                    <a:cubicBezTo>
                      <a:pt x="206727" y="19293"/>
                      <a:pt x="187434" y="0"/>
                      <a:pt x="163636" y="0"/>
                    </a:cubicBezTo>
                    <a:cubicBezTo>
                      <a:pt x="139838" y="0"/>
                      <a:pt x="120545" y="19293"/>
                      <a:pt x="120545" y="4309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40" name="קבוצה 39">
            <a:extLst>
              <a:ext uri="{FF2B5EF4-FFF2-40B4-BE49-F238E27FC236}">
                <a16:creationId xmlns:a16="http://schemas.microsoft.com/office/drawing/2014/main" id="{870A36DE-5F99-6B00-2351-56F45D2455C3}"/>
              </a:ext>
            </a:extLst>
          </p:cNvPr>
          <p:cNvGrpSpPr/>
          <p:nvPr/>
        </p:nvGrpSpPr>
        <p:grpSpPr>
          <a:xfrm>
            <a:off x="424222" y="1672163"/>
            <a:ext cx="2560322" cy="3822192"/>
            <a:chOff x="876890" y="1672163"/>
            <a:chExt cx="2560322" cy="3822192"/>
          </a:xfrm>
        </p:grpSpPr>
        <p:sp>
          <p:nvSpPr>
            <p:cNvPr id="34" name="Rectangle: Rounded Corners 2">
              <a:extLst>
                <a:ext uri="{FF2B5EF4-FFF2-40B4-BE49-F238E27FC236}">
                  <a16:creationId xmlns:a16="http://schemas.microsoft.com/office/drawing/2014/main" id="{6C612BA1-2DB0-BB53-25FD-A106A0649EDB}"/>
                </a:ext>
              </a:extLst>
            </p:cNvPr>
            <p:cNvSpPr/>
            <p:nvPr/>
          </p:nvSpPr>
          <p:spPr bwMode="gray">
            <a:xfrm>
              <a:off x="876891" y="1672163"/>
              <a:ext cx="2560320" cy="3822192"/>
            </a:xfrm>
            <a:prstGeom prst="roundRect">
              <a:avLst>
                <a:gd name="adj" fmla="val 497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2"/>
                </a:gs>
              </a:gsLst>
              <a:lin ang="18900000" scaled="0"/>
              <a:tileRect/>
            </a:gradFill>
            <a:ln w="19050" algn="ctr">
              <a:noFill/>
              <a:miter lim="800000"/>
              <a:headEnd/>
              <a:tailEnd/>
            </a:ln>
            <a:effectLst>
              <a:outerShdw blurRad="50800" dist="12700" dir="5400000" algn="t" rotWithShape="0">
                <a:schemeClr val="accent5">
                  <a:alpha val="40000"/>
                </a:schemeClr>
              </a:outerShdw>
            </a:effectLst>
          </p:spPr>
          <p:txBody>
            <a:bodyPr wrap="square" lIns="88900" tIns="144000" rIns="88900" bIns="889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L" sz="1800" b="1" i="0" u="none" strike="noStrike" kern="1200" cap="none" spc="0" normalizeH="0" baseline="0" noProof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תיבת טקסט 35">
              <a:extLst>
                <a:ext uri="{FF2B5EF4-FFF2-40B4-BE49-F238E27FC236}">
                  <a16:creationId xmlns:a16="http://schemas.microsoft.com/office/drawing/2014/main" id="{230ADFE3-A64E-1F42-9BF2-E9516568A499}"/>
                </a:ext>
              </a:extLst>
            </p:cNvPr>
            <p:cNvSpPr txBox="1"/>
            <p:nvPr/>
          </p:nvSpPr>
          <p:spPr>
            <a:xfrm>
              <a:off x="876890" y="1925086"/>
              <a:ext cx="2560322" cy="3270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0" lang="en-US" sz="1550" b="1" i="0" u="none" strike="noStrike" kern="1200" cap="none" spc="0" normalizeH="0" baseline="0" noProof="0" dirty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Data Explorer</a:t>
              </a:r>
              <a:r>
                <a:rPr kumimoji="0" lang="he-IL" sz="1550" b="1" i="0" u="none" strike="noStrike" kern="1200" cap="none" spc="0" normalizeH="0" baseline="0" noProof="0" dirty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 + דוח רשות</a:t>
              </a:r>
              <a:endParaRPr kumimoji="0" lang="en-IL" sz="1550" b="1" i="0" u="none" strike="noStrike" kern="1200" cap="none" spc="0" normalizeH="0" baseline="0" noProof="0" dirty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9" name="תיבת טקסט 18">
              <a:extLst>
                <a:ext uri="{FF2B5EF4-FFF2-40B4-BE49-F238E27FC236}">
                  <a16:creationId xmlns:a16="http://schemas.microsoft.com/office/drawing/2014/main" id="{E89096E9-CE99-DEB7-EE54-CDEAF4DFBAB0}"/>
                </a:ext>
              </a:extLst>
            </p:cNvPr>
            <p:cNvSpPr txBox="1"/>
            <p:nvPr/>
          </p:nvSpPr>
          <p:spPr>
            <a:xfrm>
              <a:off x="1044904" y="2575083"/>
              <a:ext cx="2231136" cy="130805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תחקור מדדים בעולמות תוכן מגוונים במסך אחד, תוך מעבר בין המדדים השונים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דו"ח רשותי ממוקד לגורמי מקצוע</a:t>
              </a:r>
            </a:p>
          </p:txBody>
        </p:sp>
        <p:cxnSp>
          <p:nvCxnSpPr>
            <p:cNvPr id="43" name="מחבר ישר 42">
              <a:extLst>
                <a:ext uri="{FF2B5EF4-FFF2-40B4-BE49-F238E27FC236}">
                  <a16:creationId xmlns:a16="http://schemas.microsoft.com/office/drawing/2014/main" id="{028A8F5A-7719-1723-9E18-F7ED8899ED80}"/>
                </a:ext>
              </a:extLst>
            </p:cNvPr>
            <p:cNvCxnSpPr/>
            <p:nvPr/>
          </p:nvCxnSpPr>
          <p:spPr>
            <a:xfrm>
              <a:off x="1549447" y="3311920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127">
              <a:extLst>
                <a:ext uri="{FF2B5EF4-FFF2-40B4-BE49-F238E27FC236}">
                  <a16:creationId xmlns:a16="http://schemas.microsoft.com/office/drawing/2014/main" id="{FDA5C80F-DA3A-1037-1A19-A292AA22A7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3936" y="4792268"/>
              <a:ext cx="626230" cy="518570"/>
              <a:chOff x="3890503" y="3312473"/>
              <a:chExt cx="849285" cy="721892"/>
            </a:xfrm>
            <a:gradFill>
              <a:gsLst>
                <a:gs pos="22000">
                  <a:schemeClr val="accent1"/>
                </a:gs>
                <a:gs pos="83000">
                  <a:schemeClr val="accent4"/>
                </a:gs>
                <a:gs pos="100000">
                  <a:schemeClr val="accent5"/>
                </a:gs>
              </a:gsLst>
              <a:lin ang="8100000" scaled="0"/>
            </a:gradFill>
          </p:grpSpPr>
          <p:sp>
            <p:nvSpPr>
              <p:cNvPr id="9" name="Graphic 120" descr="Monitor with solid fill">
                <a:extLst>
                  <a:ext uri="{FF2B5EF4-FFF2-40B4-BE49-F238E27FC236}">
                    <a16:creationId xmlns:a16="http://schemas.microsoft.com/office/drawing/2014/main" id="{DFD2308E-83BA-2906-D5D4-6EF7C5D23E20}"/>
                  </a:ext>
                </a:extLst>
              </p:cNvPr>
              <p:cNvSpPr/>
              <p:nvPr/>
            </p:nvSpPr>
            <p:spPr>
              <a:xfrm>
                <a:off x="3890503" y="3312473"/>
                <a:ext cx="849285" cy="721892"/>
              </a:xfrm>
              <a:custGeom>
                <a:avLst/>
                <a:gdLst>
                  <a:gd name="connsiteX0" fmla="*/ 785589 w 849285"/>
                  <a:gd name="connsiteY0" fmla="*/ 530803 h 721892"/>
                  <a:gd name="connsiteX1" fmla="*/ 63696 w 849285"/>
                  <a:gd name="connsiteY1" fmla="*/ 530803 h 721892"/>
                  <a:gd name="connsiteX2" fmla="*/ 63696 w 849285"/>
                  <a:gd name="connsiteY2" fmla="*/ 63696 h 721892"/>
                  <a:gd name="connsiteX3" fmla="*/ 785589 w 849285"/>
                  <a:gd name="connsiteY3" fmla="*/ 63696 h 721892"/>
                  <a:gd name="connsiteX4" fmla="*/ 785589 w 849285"/>
                  <a:gd name="connsiteY4" fmla="*/ 530803 h 721892"/>
                  <a:gd name="connsiteX5" fmla="*/ 806821 w 849285"/>
                  <a:gd name="connsiteY5" fmla="*/ 0 h 721892"/>
                  <a:gd name="connsiteX6" fmla="*/ 42464 w 849285"/>
                  <a:gd name="connsiteY6" fmla="*/ 0 h 721892"/>
                  <a:gd name="connsiteX7" fmla="*/ 0 w 849285"/>
                  <a:gd name="connsiteY7" fmla="*/ 42464 h 721892"/>
                  <a:gd name="connsiteX8" fmla="*/ 0 w 849285"/>
                  <a:gd name="connsiteY8" fmla="*/ 552035 h 721892"/>
                  <a:gd name="connsiteX9" fmla="*/ 42464 w 849285"/>
                  <a:gd name="connsiteY9" fmla="*/ 594500 h 721892"/>
                  <a:gd name="connsiteX10" fmla="*/ 339714 w 849285"/>
                  <a:gd name="connsiteY10" fmla="*/ 594500 h 721892"/>
                  <a:gd name="connsiteX11" fmla="*/ 339714 w 849285"/>
                  <a:gd name="connsiteY11" fmla="*/ 658196 h 721892"/>
                  <a:gd name="connsiteX12" fmla="*/ 233553 w 849285"/>
                  <a:gd name="connsiteY12" fmla="*/ 658196 h 721892"/>
                  <a:gd name="connsiteX13" fmla="*/ 233553 w 849285"/>
                  <a:gd name="connsiteY13" fmla="*/ 721892 h 721892"/>
                  <a:gd name="connsiteX14" fmla="*/ 615732 w 849285"/>
                  <a:gd name="connsiteY14" fmla="*/ 721892 h 721892"/>
                  <a:gd name="connsiteX15" fmla="*/ 615732 w 849285"/>
                  <a:gd name="connsiteY15" fmla="*/ 658196 h 721892"/>
                  <a:gd name="connsiteX16" fmla="*/ 509571 w 849285"/>
                  <a:gd name="connsiteY16" fmla="*/ 658196 h 721892"/>
                  <a:gd name="connsiteX17" fmla="*/ 509571 w 849285"/>
                  <a:gd name="connsiteY17" fmla="*/ 594500 h 721892"/>
                  <a:gd name="connsiteX18" fmla="*/ 806821 w 849285"/>
                  <a:gd name="connsiteY18" fmla="*/ 594500 h 721892"/>
                  <a:gd name="connsiteX19" fmla="*/ 849285 w 849285"/>
                  <a:gd name="connsiteY19" fmla="*/ 552035 h 721892"/>
                  <a:gd name="connsiteX20" fmla="*/ 849285 w 849285"/>
                  <a:gd name="connsiteY20" fmla="*/ 42464 h 721892"/>
                  <a:gd name="connsiteX21" fmla="*/ 806821 w 849285"/>
                  <a:gd name="connsiteY21" fmla="*/ 0 h 721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49285" h="721892">
                    <a:moveTo>
                      <a:pt x="785589" y="530803"/>
                    </a:moveTo>
                    <a:lnTo>
                      <a:pt x="63696" y="530803"/>
                    </a:lnTo>
                    <a:lnTo>
                      <a:pt x="63696" y="63696"/>
                    </a:lnTo>
                    <a:lnTo>
                      <a:pt x="785589" y="63696"/>
                    </a:lnTo>
                    <a:lnTo>
                      <a:pt x="785589" y="530803"/>
                    </a:lnTo>
                    <a:close/>
                    <a:moveTo>
                      <a:pt x="806821" y="0"/>
                    </a:moveTo>
                    <a:lnTo>
                      <a:pt x="42464" y="0"/>
                    </a:lnTo>
                    <a:cubicBezTo>
                      <a:pt x="19109" y="0"/>
                      <a:pt x="0" y="19109"/>
                      <a:pt x="0" y="42464"/>
                    </a:cubicBezTo>
                    <a:lnTo>
                      <a:pt x="0" y="552035"/>
                    </a:lnTo>
                    <a:cubicBezTo>
                      <a:pt x="0" y="575391"/>
                      <a:pt x="19109" y="594500"/>
                      <a:pt x="42464" y="594500"/>
                    </a:cubicBezTo>
                    <a:lnTo>
                      <a:pt x="339714" y="594500"/>
                    </a:lnTo>
                    <a:lnTo>
                      <a:pt x="339714" y="658196"/>
                    </a:lnTo>
                    <a:lnTo>
                      <a:pt x="233553" y="658196"/>
                    </a:lnTo>
                    <a:lnTo>
                      <a:pt x="233553" y="721892"/>
                    </a:lnTo>
                    <a:lnTo>
                      <a:pt x="615732" y="721892"/>
                    </a:lnTo>
                    <a:lnTo>
                      <a:pt x="615732" y="658196"/>
                    </a:lnTo>
                    <a:lnTo>
                      <a:pt x="509571" y="658196"/>
                    </a:lnTo>
                    <a:lnTo>
                      <a:pt x="509571" y="594500"/>
                    </a:lnTo>
                    <a:lnTo>
                      <a:pt x="806821" y="594500"/>
                    </a:lnTo>
                    <a:cubicBezTo>
                      <a:pt x="830176" y="594500"/>
                      <a:pt x="849285" y="575391"/>
                      <a:pt x="849285" y="552035"/>
                    </a:cubicBezTo>
                    <a:lnTo>
                      <a:pt x="849285" y="42464"/>
                    </a:lnTo>
                    <a:cubicBezTo>
                      <a:pt x="849285" y="19109"/>
                      <a:pt x="830176" y="0"/>
                      <a:pt x="806821" y="0"/>
                    </a:cubicBezTo>
                    <a:close/>
                  </a:path>
                </a:pathLst>
              </a:custGeom>
              <a:grpFill/>
              <a:ln w="10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grpSp>
            <p:nvGrpSpPr>
              <p:cNvPr id="12" name="Group 121">
                <a:extLst>
                  <a:ext uri="{FF2B5EF4-FFF2-40B4-BE49-F238E27FC236}">
                    <a16:creationId xmlns:a16="http://schemas.microsoft.com/office/drawing/2014/main" id="{19C3B3E2-1CFD-1B9C-90D3-B33927D0F6A3}"/>
                  </a:ext>
                </a:extLst>
              </p:cNvPr>
              <p:cNvGrpSpPr/>
              <p:nvPr/>
            </p:nvGrpSpPr>
            <p:grpSpPr>
              <a:xfrm>
                <a:off x="4091309" y="3410751"/>
                <a:ext cx="467981" cy="385045"/>
                <a:chOff x="3022003" y="3466298"/>
                <a:chExt cx="533400" cy="533400"/>
              </a:xfrm>
              <a:grpFill/>
            </p:grpSpPr>
            <p:sp>
              <p:nvSpPr>
                <p:cNvPr id="14" name="Rectangle: Rounded Corners 122">
                  <a:extLst>
                    <a:ext uri="{FF2B5EF4-FFF2-40B4-BE49-F238E27FC236}">
                      <a16:creationId xmlns:a16="http://schemas.microsoft.com/office/drawing/2014/main" id="{91591474-8B42-C667-669C-E3F99EDBA1F8}"/>
                    </a:ext>
                  </a:extLst>
                </p:cNvPr>
                <p:cNvSpPr/>
                <p:nvPr/>
              </p:nvSpPr>
              <p:spPr>
                <a:xfrm>
                  <a:off x="3022003" y="3666323"/>
                  <a:ext cx="104775" cy="333375"/>
                </a:xfrm>
                <a:prstGeom prst="roundRect">
                  <a:avLst/>
                </a:pr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1" name="Rectangle: Rounded Corners 123">
                  <a:extLst>
                    <a:ext uri="{FF2B5EF4-FFF2-40B4-BE49-F238E27FC236}">
                      <a16:creationId xmlns:a16="http://schemas.microsoft.com/office/drawing/2014/main" id="{A99D53D2-FA8A-9F49-8F53-3C6B826EBCE7}"/>
                    </a:ext>
                  </a:extLst>
                </p:cNvPr>
                <p:cNvSpPr/>
                <p:nvPr/>
              </p:nvSpPr>
              <p:spPr>
                <a:xfrm>
                  <a:off x="3164878" y="3466298"/>
                  <a:ext cx="104775" cy="533400"/>
                </a:xfrm>
                <a:prstGeom prst="roundRect">
                  <a:avLst/>
                </a:pr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" name="Rectangle: Rounded Corners 124">
                  <a:extLst>
                    <a:ext uri="{FF2B5EF4-FFF2-40B4-BE49-F238E27FC236}">
                      <a16:creationId xmlns:a16="http://schemas.microsoft.com/office/drawing/2014/main" id="{475CB64A-4A21-66D3-F6B1-0F2EDCB8F1ED}"/>
                    </a:ext>
                  </a:extLst>
                </p:cNvPr>
                <p:cNvSpPr/>
                <p:nvPr/>
              </p:nvSpPr>
              <p:spPr>
                <a:xfrm>
                  <a:off x="3307753" y="3666323"/>
                  <a:ext cx="104775" cy="333375"/>
                </a:xfrm>
                <a:prstGeom prst="roundRect">
                  <a:avLst/>
                </a:pr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3" name="Rectangle: Rounded Corners 125">
                  <a:extLst>
                    <a:ext uri="{FF2B5EF4-FFF2-40B4-BE49-F238E27FC236}">
                      <a16:creationId xmlns:a16="http://schemas.microsoft.com/office/drawing/2014/main" id="{295C5BA7-05C5-1B84-B9E7-A5070241BF00}"/>
                    </a:ext>
                  </a:extLst>
                </p:cNvPr>
                <p:cNvSpPr/>
                <p:nvPr/>
              </p:nvSpPr>
              <p:spPr>
                <a:xfrm>
                  <a:off x="3450628" y="3828248"/>
                  <a:ext cx="104775" cy="171450"/>
                </a:xfrm>
                <a:prstGeom prst="roundRect">
                  <a:avLst/>
                </a:pr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L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</p:grpSp>
        </p:grpSp>
      </p:grpSp>
      <p:grpSp>
        <p:nvGrpSpPr>
          <p:cNvPr id="38" name="קבוצה 37">
            <a:extLst>
              <a:ext uri="{FF2B5EF4-FFF2-40B4-BE49-F238E27FC236}">
                <a16:creationId xmlns:a16="http://schemas.microsoft.com/office/drawing/2014/main" id="{3FFA6A41-C1F3-0246-66C0-E08B771C94D7}"/>
              </a:ext>
            </a:extLst>
          </p:cNvPr>
          <p:cNvGrpSpPr/>
          <p:nvPr/>
        </p:nvGrpSpPr>
        <p:grpSpPr>
          <a:xfrm>
            <a:off x="6305674" y="1672163"/>
            <a:ext cx="2560321" cy="3822192"/>
            <a:chOff x="6323780" y="1672163"/>
            <a:chExt cx="2560321" cy="3822192"/>
          </a:xfrm>
        </p:grpSpPr>
        <p:sp>
          <p:nvSpPr>
            <p:cNvPr id="8" name="Rectangle: Rounded Corners 2">
              <a:extLst>
                <a:ext uri="{FF2B5EF4-FFF2-40B4-BE49-F238E27FC236}">
                  <a16:creationId xmlns:a16="http://schemas.microsoft.com/office/drawing/2014/main" id="{B5505B28-57C5-36F0-7FEF-5B53D87441D1}"/>
                </a:ext>
              </a:extLst>
            </p:cNvPr>
            <p:cNvSpPr/>
            <p:nvPr/>
          </p:nvSpPr>
          <p:spPr bwMode="gray">
            <a:xfrm>
              <a:off x="6323781" y="1672163"/>
              <a:ext cx="2560320" cy="3822192"/>
            </a:xfrm>
            <a:prstGeom prst="roundRect">
              <a:avLst>
                <a:gd name="adj" fmla="val 497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2"/>
                </a:gs>
              </a:gsLst>
              <a:lin ang="18900000" scaled="0"/>
              <a:tileRect/>
            </a:gradFill>
            <a:ln w="19050" algn="ctr">
              <a:noFill/>
              <a:miter lim="800000"/>
              <a:headEnd/>
              <a:tailEnd/>
            </a:ln>
            <a:effectLst>
              <a:outerShdw blurRad="50800" dist="12700" dir="5400000" algn="t" rotWithShape="0">
                <a:schemeClr val="accent5">
                  <a:alpha val="40000"/>
                </a:schemeClr>
              </a:outerShdw>
            </a:effectLst>
          </p:spPr>
          <p:txBody>
            <a:bodyPr wrap="square" lIns="88900" tIns="144000" rIns="88900" bIns="889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L" sz="1800" b="1" i="0" u="none" strike="noStrike" kern="1200" cap="none" spc="0" normalizeH="0" baseline="0" noProof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" name="תיבת טקסט 10">
              <a:extLst>
                <a:ext uri="{FF2B5EF4-FFF2-40B4-BE49-F238E27FC236}">
                  <a16:creationId xmlns:a16="http://schemas.microsoft.com/office/drawing/2014/main" id="{2E4C3C5F-E587-AB02-FBB1-2EFBD018DC80}"/>
                </a:ext>
              </a:extLst>
            </p:cNvPr>
            <p:cNvSpPr txBox="1"/>
            <p:nvPr/>
          </p:nvSpPr>
          <p:spPr>
            <a:xfrm>
              <a:off x="6323780" y="1953230"/>
              <a:ext cx="2560321" cy="3345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התראות ופערים</a:t>
              </a:r>
              <a:endParaRPr kumimoji="0" lang="en-IL" sz="1600" b="1" i="0" u="none" strike="noStrike" kern="1200" cap="none" spc="0" normalizeH="0" baseline="0" noProof="0" dirty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" name="תיבת טקסט 16">
              <a:extLst>
                <a:ext uri="{FF2B5EF4-FFF2-40B4-BE49-F238E27FC236}">
                  <a16:creationId xmlns:a16="http://schemas.microsoft.com/office/drawing/2014/main" id="{184FB2E6-1554-C629-6193-EFF1E31D82D4}"/>
                </a:ext>
              </a:extLst>
            </p:cNvPr>
            <p:cNvSpPr txBox="1"/>
            <p:nvPr/>
          </p:nvSpPr>
          <p:spPr>
            <a:xfrm>
              <a:off x="6473375" y="2568607"/>
              <a:ext cx="2231136" cy="19543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הנגשת מדדים עסקיים המשקפים התנהלות תקינה, ואשר פער בהם ביחס לקבוצת הייחוס, מייצג בעיה הדורשת בירור 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מיקוד תשומת הלב הניהולית במקומות בהם קיימים פערים ובעיות.</a:t>
              </a:r>
            </a:p>
          </p:txBody>
        </p:sp>
        <p:cxnSp>
          <p:nvCxnSpPr>
            <p:cNvPr id="42" name="מחבר ישר 41">
              <a:extLst>
                <a:ext uri="{FF2B5EF4-FFF2-40B4-BE49-F238E27FC236}">
                  <a16:creationId xmlns:a16="http://schemas.microsoft.com/office/drawing/2014/main" id="{0FE14E85-620E-640F-E522-75A99CEFD9FA}"/>
                </a:ext>
              </a:extLst>
            </p:cNvPr>
            <p:cNvCxnSpPr>
              <a:cxnSpLocks/>
            </p:cNvCxnSpPr>
            <p:nvPr/>
          </p:nvCxnSpPr>
          <p:spPr>
            <a:xfrm>
              <a:off x="6999675" y="3789386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קבוצה 71">
              <a:extLst>
                <a:ext uri="{FF2B5EF4-FFF2-40B4-BE49-F238E27FC236}">
                  <a16:creationId xmlns:a16="http://schemas.microsoft.com/office/drawing/2014/main" id="{1128F73F-543D-DBDA-37E0-0525D54D3D7F}"/>
                </a:ext>
              </a:extLst>
            </p:cNvPr>
            <p:cNvGrpSpPr/>
            <p:nvPr/>
          </p:nvGrpSpPr>
          <p:grpSpPr>
            <a:xfrm>
              <a:off x="7439880" y="4859253"/>
              <a:ext cx="479834" cy="454163"/>
              <a:chOff x="6192645" y="5588918"/>
              <a:chExt cx="751881" cy="752474"/>
            </a:xfrm>
          </p:grpSpPr>
          <p:sp>
            <p:nvSpPr>
              <p:cNvPr id="65" name="גרפיקה 63" descr="זכוכית מגדלת עם מילוי מלא">
                <a:extLst>
                  <a:ext uri="{FF2B5EF4-FFF2-40B4-BE49-F238E27FC236}">
                    <a16:creationId xmlns:a16="http://schemas.microsoft.com/office/drawing/2014/main" id="{F834A437-B288-EC6E-D5CA-4B4DF5D3AB88}"/>
                  </a:ext>
                </a:extLst>
              </p:cNvPr>
              <p:cNvSpPr/>
              <p:nvPr/>
            </p:nvSpPr>
            <p:spPr>
              <a:xfrm>
                <a:off x="6192645" y="5588918"/>
                <a:ext cx="751881" cy="752474"/>
              </a:xfrm>
              <a:custGeom>
                <a:avLst/>
                <a:gdLst>
                  <a:gd name="connsiteX0" fmla="*/ 732473 w 751881"/>
                  <a:gd name="connsiteY0" fmla="*/ 638175 h 752474"/>
                  <a:gd name="connsiteX1" fmla="*/ 613410 w 751881"/>
                  <a:gd name="connsiteY1" fmla="*/ 519112 h 752474"/>
                  <a:gd name="connsiteX2" fmla="*/ 554355 w 751881"/>
                  <a:gd name="connsiteY2" fmla="*/ 501015 h 752474"/>
                  <a:gd name="connsiteX3" fmla="*/ 512445 w 751881"/>
                  <a:gd name="connsiteY3" fmla="*/ 459105 h 752474"/>
                  <a:gd name="connsiteX4" fmla="*/ 571500 w 751881"/>
                  <a:gd name="connsiteY4" fmla="*/ 285750 h 752474"/>
                  <a:gd name="connsiteX5" fmla="*/ 285750 w 751881"/>
                  <a:gd name="connsiteY5" fmla="*/ 0 h 752474"/>
                  <a:gd name="connsiteX6" fmla="*/ 0 w 751881"/>
                  <a:gd name="connsiteY6" fmla="*/ 285750 h 752474"/>
                  <a:gd name="connsiteX7" fmla="*/ 285750 w 751881"/>
                  <a:gd name="connsiteY7" fmla="*/ 571500 h 752474"/>
                  <a:gd name="connsiteX8" fmla="*/ 459105 w 751881"/>
                  <a:gd name="connsiteY8" fmla="*/ 512445 h 752474"/>
                  <a:gd name="connsiteX9" fmla="*/ 501015 w 751881"/>
                  <a:gd name="connsiteY9" fmla="*/ 554355 h 752474"/>
                  <a:gd name="connsiteX10" fmla="*/ 519112 w 751881"/>
                  <a:gd name="connsiteY10" fmla="*/ 613410 h 752474"/>
                  <a:gd name="connsiteX11" fmla="*/ 638175 w 751881"/>
                  <a:gd name="connsiteY11" fmla="*/ 732473 h 752474"/>
                  <a:gd name="connsiteX12" fmla="*/ 685800 w 751881"/>
                  <a:gd name="connsiteY12" fmla="*/ 752475 h 752474"/>
                  <a:gd name="connsiteX13" fmla="*/ 733425 w 751881"/>
                  <a:gd name="connsiteY13" fmla="*/ 732473 h 752474"/>
                  <a:gd name="connsiteX14" fmla="*/ 732473 w 751881"/>
                  <a:gd name="connsiteY14" fmla="*/ 638175 h 752474"/>
                  <a:gd name="connsiteX15" fmla="*/ 284798 w 751881"/>
                  <a:gd name="connsiteY15" fmla="*/ 513398 h 752474"/>
                  <a:gd name="connsiteX16" fmla="*/ 56197 w 751881"/>
                  <a:gd name="connsiteY16" fmla="*/ 284798 h 752474"/>
                  <a:gd name="connsiteX17" fmla="*/ 284798 w 751881"/>
                  <a:gd name="connsiteY17" fmla="*/ 56197 h 752474"/>
                  <a:gd name="connsiteX18" fmla="*/ 513398 w 751881"/>
                  <a:gd name="connsiteY18" fmla="*/ 284798 h 752474"/>
                  <a:gd name="connsiteX19" fmla="*/ 284798 w 751881"/>
                  <a:gd name="connsiteY19" fmla="*/ 513398 h 752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51881" h="752474">
                    <a:moveTo>
                      <a:pt x="732473" y="638175"/>
                    </a:moveTo>
                    <a:lnTo>
                      <a:pt x="613410" y="519112"/>
                    </a:lnTo>
                    <a:cubicBezTo>
                      <a:pt x="597218" y="502920"/>
                      <a:pt x="575310" y="497205"/>
                      <a:pt x="554355" y="501015"/>
                    </a:cubicBezTo>
                    <a:lnTo>
                      <a:pt x="512445" y="459105"/>
                    </a:lnTo>
                    <a:cubicBezTo>
                      <a:pt x="549593" y="411480"/>
                      <a:pt x="571500" y="350520"/>
                      <a:pt x="571500" y="285750"/>
                    </a:cubicBezTo>
                    <a:cubicBezTo>
                      <a:pt x="571500" y="128588"/>
                      <a:pt x="442912" y="0"/>
                      <a:pt x="285750" y="0"/>
                    </a:cubicBezTo>
                    <a:cubicBezTo>
                      <a:pt x="128588" y="0"/>
                      <a:pt x="0" y="128588"/>
                      <a:pt x="0" y="285750"/>
                    </a:cubicBezTo>
                    <a:cubicBezTo>
                      <a:pt x="0" y="442912"/>
                      <a:pt x="128588" y="571500"/>
                      <a:pt x="285750" y="571500"/>
                    </a:cubicBezTo>
                    <a:cubicBezTo>
                      <a:pt x="350520" y="571500"/>
                      <a:pt x="410528" y="549593"/>
                      <a:pt x="459105" y="512445"/>
                    </a:cubicBezTo>
                    <a:lnTo>
                      <a:pt x="501015" y="554355"/>
                    </a:lnTo>
                    <a:cubicBezTo>
                      <a:pt x="497205" y="575310"/>
                      <a:pt x="502920" y="597218"/>
                      <a:pt x="519112" y="613410"/>
                    </a:cubicBezTo>
                    <a:lnTo>
                      <a:pt x="638175" y="732473"/>
                    </a:lnTo>
                    <a:cubicBezTo>
                      <a:pt x="651510" y="745808"/>
                      <a:pt x="668655" y="752475"/>
                      <a:pt x="685800" y="752475"/>
                    </a:cubicBezTo>
                    <a:cubicBezTo>
                      <a:pt x="702945" y="752475"/>
                      <a:pt x="720090" y="745808"/>
                      <a:pt x="733425" y="732473"/>
                    </a:cubicBezTo>
                    <a:cubicBezTo>
                      <a:pt x="758190" y="705802"/>
                      <a:pt x="758190" y="663893"/>
                      <a:pt x="732473" y="638175"/>
                    </a:cubicBezTo>
                    <a:close/>
                    <a:moveTo>
                      <a:pt x="284798" y="513398"/>
                    </a:moveTo>
                    <a:cubicBezTo>
                      <a:pt x="159067" y="513398"/>
                      <a:pt x="56197" y="410528"/>
                      <a:pt x="56197" y="284798"/>
                    </a:cubicBezTo>
                    <a:cubicBezTo>
                      <a:pt x="56197" y="159067"/>
                      <a:pt x="159067" y="56197"/>
                      <a:pt x="284798" y="56197"/>
                    </a:cubicBezTo>
                    <a:cubicBezTo>
                      <a:pt x="410528" y="56197"/>
                      <a:pt x="513398" y="159067"/>
                      <a:pt x="513398" y="284798"/>
                    </a:cubicBezTo>
                    <a:cubicBezTo>
                      <a:pt x="513398" y="410528"/>
                      <a:pt x="410528" y="513398"/>
                      <a:pt x="284798" y="513398"/>
                    </a:cubicBezTo>
                    <a:close/>
                  </a:path>
                </a:pathLst>
              </a:custGeom>
              <a:gradFill>
                <a:gsLst>
                  <a:gs pos="22000">
                    <a:schemeClr val="accent1"/>
                  </a:gs>
                  <a:gs pos="75000">
                    <a:schemeClr val="accent4"/>
                  </a:gs>
                  <a:gs pos="100000">
                    <a:schemeClr val="accent5"/>
                  </a:gs>
                </a:gsLst>
                <a:lin ang="8100000" scaled="0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grpSp>
            <p:nvGrpSpPr>
              <p:cNvPr id="66" name="קבוצה 65">
                <a:extLst>
                  <a:ext uri="{FF2B5EF4-FFF2-40B4-BE49-F238E27FC236}">
                    <a16:creationId xmlns:a16="http://schemas.microsoft.com/office/drawing/2014/main" id="{02132F0A-F5F6-8756-B0E8-0ED02F4BBFE0}"/>
                  </a:ext>
                </a:extLst>
              </p:cNvPr>
              <p:cNvGrpSpPr/>
              <p:nvPr/>
            </p:nvGrpSpPr>
            <p:grpSpPr>
              <a:xfrm>
                <a:off x="6345201" y="5764809"/>
                <a:ext cx="246100" cy="226416"/>
                <a:chOff x="6353837" y="5437053"/>
                <a:chExt cx="657225" cy="670656"/>
              </a:xfrm>
            </p:grpSpPr>
            <p:sp>
              <p:nvSpPr>
                <p:cNvPr id="67" name="צורה חופשית: צורה 66">
                  <a:extLst>
                    <a:ext uri="{FF2B5EF4-FFF2-40B4-BE49-F238E27FC236}">
                      <a16:creationId xmlns:a16="http://schemas.microsoft.com/office/drawing/2014/main" id="{9D9B06CB-CF79-B5EB-E8EC-40276A92C464}"/>
                    </a:ext>
                  </a:extLst>
                </p:cNvPr>
                <p:cNvSpPr/>
                <p:nvPr/>
              </p:nvSpPr>
              <p:spPr>
                <a:xfrm flipH="1">
                  <a:off x="6353837" y="5440959"/>
                  <a:ext cx="657225" cy="666750"/>
                </a:xfrm>
                <a:custGeom>
                  <a:avLst/>
                  <a:gdLst>
                    <a:gd name="connsiteX0" fmla="*/ 600075 w 657225"/>
                    <a:gd name="connsiteY0" fmla="*/ 609600 h 666750"/>
                    <a:gd name="connsiteX1" fmla="*/ 0 w 657225"/>
                    <a:gd name="connsiteY1" fmla="*/ 609600 h 666750"/>
                    <a:gd name="connsiteX2" fmla="*/ 0 w 657225"/>
                    <a:gd name="connsiteY2" fmla="*/ 666750 h 666750"/>
                    <a:gd name="connsiteX3" fmla="*/ 657225 w 657225"/>
                    <a:gd name="connsiteY3" fmla="*/ 666750 h 666750"/>
                    <a:gd name="connsiteX4" fmla="*/ 657225 w 657225"/>
                    <a:gd name="connsiteY4" fmla="*/ 0 h 666750"/>
                    <a:gd name="connsiteX5" fmla="*/ 600075 w 657225"/>
                    <a:gd name="connsiteY5" fmla="*/ 0 h 666750"/>
                    <a:gd name="connsiteX6" fmla="*/ 600075 w 657225"/>
                    <a:gd name="connsiteY6" fmla="*/ 609600 h 666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57225" h="666750">
                      <a:moveTo>
                        <a:pt x="600075" y="609600"/>
                      </a:moveTo>
                      <a:lnTo>
                        <a:pt x="0" y="609600"/>
                      </a:lnTo>
                      <a:lnTo>
                        <a:pt x="0" y="666750"/>
                      </a:lnTo>
                      <a:lnTo>
                        <a:pt x="657225" y="666750"/>
                      </a:lnTo>
                      <a:lnTo>
                        <a:pt x="657225" y="0"/>
                      </a:lnTo>
                      <a:lnTo>
                        <a:pt x="600075" y="0"/>
                      </a:lnTo>
                      <a:lnTo>
                        <a:pt x="600075" y="60960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8" name="צורה חופשית: צורה 67">
                  <a:extLst>
                    <a:ext uri="{FF2B5EF4-FFF2-40B4-BE49-F238E27FC236}">
                      <a16:creationId xmlns:a16="http://schemas.microsoft.com/office/drawing/2014/main" id="{6FAD90C5-0E06-4C8F-4076-310AF38B43A7}"/>
                    </a:ext>
                  </a:extLst>
                </p:cNvPr>
                <p:cNvSpPr/>
                <p:nvPr/>
              </p:nvSpPr>
              <p:spPr>
                <a:xfrm flipH="1">
                  <a:off x="6468137" y="5440959"/>
                  <a:ext cx="142875" cy="552450"/>
                </a:xfrm>
                <a:custGeom>
                  <a:avLst/>
                  <a:gdLst>
                    <a:gd name="connsiteX0" fmla="*/ 0 w 142875"/>
                    <a:gd name="connsiteY0" fmla="*/ 0 h 552450"/>
                    <a:gd name="connsiteX1" fmla="*/ 142875 w 142875"/>
                    <a:gd name="connsiteY1" fmla="*/ 0 h 552450"/>
                    <a:gd name="connsiteX2" fmla="*/ 142875 w 142875"/>
                    <a:gd name="connsiteY2" fmla="*/ 552450 h 552450"/>
                    <a:gd name="connsiteX3" fmla="*/ 0 w 142875"/>
                    <a:gd name="connsiteY3" fmla="*/ 552450 h 552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5" h="55245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552450"/>
                      </a:lnTo>
                      <a:lnTo>
                        <a:pt x="0" y="55245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9" name="צורה חופשית: צורה 68">
                  <a:extLst>
                    <a:ext uri="{FF2B5EF4-FFF2-40B4-BE49-F238E27FC236}">
                      <a16:creationId xmlns:a16="http://schemas.microsoft.com/office/drawing/2014/main" id="{206999D6-82CC-ABE0-98AF-9B2EC95AB434}"/>
                    </a:ext>
                  </a:extLst>
                </p:cNvPr>
                <p:cNvSpPr/>
                <p:nvPr/>
              </p:nvSpPr>
              <p:spPr>
                <a:xfrm flipH="1">
                  <a:off x="6668162" y="5631459"/>
                  <a:ext cx="142875" cy="361950"/>
                </a:xfrm>
                <a:custGeom>
                  <a:avLst/>
                  <a:gdLst>
                    <a:gd name="connsiteX0" fmla="*/ 0 w 142875"/>
                    <a:gd name="connsiteY0" fmla="*/ 0 h 361950"/>
                    <a:gd name="connsiteX1" fmla="*/ 142875 w 142875"/>
                    <a:gd name="connsiteY1" fmla="*/ 0 h 361950"/>
                    <a:gd name="connsiteX2" fmla="*/ 142875 w 142875"/>
                    <a:gd name="connsiteY2" fmla="*/ 361950 h 361950"/>
                    <a:gd name="connsiteX3" fmla="*/ 0 w 142875"/>
                    <a:gd name="connsiteY3" fmla="*/ 361950 h 361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5" h="36195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361950"/>
                      </a:lnTo>
                      <a:lnTo>
                        <a:pt x="0" y="36195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0" name="צורה חופשית: צורה 69">
                  <a:extLst>
                    <a:ext uri="{FF2B5EF4-FFF2-40B4-BE49-F238E27FC236}">
                      <a16:creationId xmlns:a16="http://schemas.microsoft.com/office/drawing/2014/main" id="{C03E0771-5CB4-F67E-CE0E-1DB7CAFDEE3C}"/>
                    </a:ext>
                  </a:extLst>
                </p:cNvPr>
                <p:cNvSpPr/>
                <p:nvPr/>
              </p:nvSpPr>
              <p:spPr>
                <a:xfrm flipH="1">
                  <a:off x="6868187" y="5802909"/>
                  <a:ext cx="142875" cy="190500"/>
                </a:xfrm>
                <a:custGeom>
                  <a:avLst/>
                  <a:gdLst>
                    <a:gd name="connsiteX0" fmla="*/ 0 w 142875"/>
                    <a:gd name="connsiteY0" fmla="*/ 0 h 190500"/>
                    <a:gd name="connsiteX1" fmla="*/ 142875 w 142875"/>
                    <a:gd name="connsiteY1" fmla="*/ 0 h 190500"/>
                    <a:gd name="connsiteX2" fmla="*/ 142875 w 142875"/>
                    <a:gd name="connsiteY2" fmla="*/ 190500 h 190500"/>
                    <a:gd name="connsiteX3" fmla="*/ 0 w 142875"/>
                    <a:gd name="connsiteY3" fmla="*/ 19050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2875" h="190500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190500"/>
                      </a:lnTo>
                      <a:lnTo>
                        <a:pt x="0" y="190500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1" name="צורה חופשית: צורה 70">
                  <a:extLst>
                    <a:ext uri="{FF2B5EF4-FFF2-40B4-BE49-F238E27FC236}">
                      <a16:creationId xmlns:a16="http://schemas.microsoft.com/office/drawing/2014/main" id="{E89B817A-8C9F-09FB-2D63-AEF54D5FF00F}"/>
                    </a:ext>
                  </a:extLst>
                </p:cNvPr>
                <p:cNvSpPr/>
                <p:nvPr/>
              </p:nvSpPr>
              <p:spPr>
                <a:xfrm flipH="1">
                  <a:off x="6692832" y="5437053"/>
                  <a:ext cx="308705" cy="308705"/>
                </a:xfrm>
                <a:custGeom>
                  <a:avLst/>
                  <a:gdLst>
                    <a:gd name="connsiteX0" fmla="*/ 0 w 308705"/>
                    <a:gd name="connsiteY0" fmla="*/ 177832 h 308705"/>
                    <a:gd name="connsiteX1" fmla="*/ 0 w 308705"/>
                    <a:gd name="connsiteY1" fmla="*/ 308705 h 308705"/>
                    <a:gd name="connsiteX2" fmla="*/ 130874 w 308705"/>
                    <a:gd name="connsiteY2" fmla="*/ 308705 h 308705"/>
                    <a:gd name="connsiteX3" fmla="*/ 78867 w 308705"/>
                    <a:gd name="connsiteY3" fmla="*/ 256699 h 308705"/>
                    <a:gd name="connsiteX4" fmla="*/ 308705 w 308705"/>
                    <a:gd name="connsiteY4" fmla="*/ 26860 h 308705"/>
                    <a:gd name="connsiteX5" fmla="*/ 281845 w 308705"/>
                    <a:gd name="connsiteY5" fmla="*/ 0 h 308705"/>
                    <a:gd name="connsiteX6" fmla="*/ 52006 w 308705"/>
                    <a:gd name="connsiteY6" fmla="*/ 229838 h 308705"/>
                    <a:gd name="connsiteX7" fmla="*/ 0 w 308705"/>
                    <a:gd name="connsiteY7" fmla="*/ 177832 h 308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08705" h="308705">
                      <a:moveTo>
                        <a:pt x="0" y="177832"/>
                      </a:moveTo>
                      <a:lnTo>
                        <a:pt x="0" y="308705"/>
                      </a:lnTo>
                      <a:lnTo>
                        <a:pt x="130874" y="308705"/>
                      </a:lnTo>
                      <a:lnTo>
                        <a:pt x="78867" y="256699"/>
                      </a:lnTo>
                      <a:lnTo>
                        <a:pt x="308705" y="26860"/>
                      </a:lnTo>
                      <a:lnTo>
                        <a:pt x="281845" y="0"/>
                      </a:lnTo>
                      <a:lnTo>
                        <a:pt x="52006" y="229838"/>
                      </a:lnTo>
                      <a:lnTo>
                        <a:pt x="0" y="177832"/>
                      </a:lnTo>
                      <a:close/>
                    </a:path>
                  </a:pathLst>
                </a:custGeom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1021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</p:grpSp>
        </p:grpSp>
      </p:grpSp>
      <p:grpSp>
        <p:nvGrpSpPr>
          <p:cNvPr id="39" name="קבוצה 38">
            <a:extLst>
              <a:ext uri="{FF2B5EF4-FFF2-40B4-BE49-F238E27FC236}">
                <a16:creationId xmlns:a16="http://schemas.microsoft.com/office/drawing/2014/main" id="{2EF4C54A-396E-7DCD-DBDE-1FD02A8A41A9}"/>
              </a:ext>
            </a:extLst>
          </p:cNvPr>
          <p:cNvGrpSpPr/>
          <p:nvPr/>
        </p:nvGrpSpPr>
        <p:grpSpPr>
          <a:xfrm>
            <a:off x="3364949" y="1672163"/>
            <a:ext cx="2560320" cy="3822192"/>
            <a:chOff x="3600336" y="1672163"/>
            <a:chExt cx="2560320" cy="3822192"/>
          </a:xfrm>
        </p:grpSpPr>
        <p:sp>
          <p:nvSpPr>
            <p:cNvPr id="25" name="Rectangle: Rounded Corners 2">
              <a:extLst>
                <a:ext uri="{FF2B5EF4-FFF2-40B4-BE49-F238E27FC236}">
                  <a16:creationId xmlns:a16="http://schemas.microsoft.com/office/drawing/2014/main" id="{D1D44744-D3C2-0B6E-1F4C-AB2BE33C22B6}"/>
                </a:ext>
              </a:extLst>
            </p:cNvPr>
            <p:cNvSpPr/>
            <p:nvPr/>
          </p:nvSpPr>
          <p:spPr bwMode="gray">
            <a:xfrm>
              <a:off x="3600336" y="1672163"/>
              <a:ext cx="2560320" cy="3822192"/>
            </a:xfrm>
            <a:prstGeom prst="roundRect">
              <a:avLst>
                <a:gd name="adj" fmla="val 497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2"/>
                </a:gs>
              </a:gsLst>
              <a:lin ang="18900000" scaled="0"/>
              <a:tileRect/>
            </a:gradFill>
            <a:ln w="19050" algn="ctr">
              <a:noFill/>
              <a:miter lim="800000"/>
              <a:headEnd/>
              <a:tailEnd/>
            </a:ln>
            <a:effectLst>
              <a:outerShdw blurRad="50800" dist="12700" dir="5400000" algn="t" rotWithShape="0">
                <a:schemeClr val="accent5">
                  <a:alpha val="40000"/>
                </a:schemeClr>
              </a:outerShdw>
            </a:effectLst>
          </p:spPr>
          <p:txBody>
            <a:bodyPr wrap="square" lIns="88900" tIns="144000" rIns="88900" bIns="8890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endParaRPr kumimoji="0" lang="en-IL" sz="1800" b="1" i="0" u="none" strike="noStrike" kern="1200" cap="none" spc="0" normalizeH="0" baseline="0" noProof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תיבת טקסט 26">
              <a:extLst>
                <a:ext uri="{FF2B5EF4-FFF2-40B4-BE49-F238E27FC236}">
                  <a16:creationId xmlns:a16="http://schemas.microsoft.com/office/drawing/2014/main" id="{D21CDD26-4117-2582-5C72-C665C4FCB596}"/>
                </a:ext>
              </a:extLst>
            </p:cNvPr>
            <p:cNvSpPr txBox="1"/>
            <p:nvPr/>
          </p:nvSpPr>
          <p:spPr>
            <a:xfrm>
              <a:off x="3640806" y="1953230"/>
              <a:ext cx="2360509" cy="3345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itchFamily="18" charset="2"/>
                <a:buNone/>
                <a:tabLst/>
                <a:defRPr/>
              </a:pPr>
              <a:r>
                <a:rPr kumimoji="0" lang="he-IL" sz="1600" b="1" i="0" u="none" strike="noStrike" kern="1200" cap="none" spc="0" normalizeH="0" baseline="0" noProof="0">
                  <a:ln>
                    <a:noFill/>
                  </a:ln>
                  <a:solidFill>
                    <a:srgbClr val="3E8F8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ניתוח לגורמים</a:t>
              </a:r>
              <a:endParaRPr kumimoji="0" lang="en-IL" sz="1600" b="1" i="0" u="none" strike="noStrike" kern="1200" cap="none" spc="0" normalizeH="0" baseline="0" noProof="0">
                <a:ln>
                  <a:noFill/>
                </a:ln>
                <a:solidFill>
                  <a:srgbClr val="3E8F8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8" name="תיבת טקסט 17">
              <a:extLst>
                <a:ext uri="{FF2B5EF4-FFF2-40B4-BE49-F238E27FC236}">
                  <a16:creationId xmlns:a16="http://schemas.microsoft.com/office/drawing/2014/main" id="{CA498395-428E-DF27-2B7A-9F2F04E4F5BC}"/>
                </a:ext>
              </a:extLst>
            </p:cNvPr>
            <p:cNvSpPr txBox="1"/>
            <p:nvPr/>
          </p:nvSpPr>
          <p:spPr>
            <a:xfrm>
              <a:off x="3781402" y="2568607"/>
              <a:ext cx="2231136" cy="18774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ניתוח מהמאקרו – </a:t>
              </a:r>
              <a:r>
                <a:rPr kumimoji="0" lang="he-IL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שיקוף מצב, מגמה, השוואות ביחס לעולם, לישראל ולרשויות דומות. מה הבעיות והפערים</a:t>
              </a: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 </a:t>
              </a: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he-IL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ניתוח למיקרו – היכן הבעיה ומדוע </a:t>
              </a:r>
              <a:r>
                <a:rPr kumimoji="0" lang="he-IL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(באיזה רשות / אזור סטטיסטי ובאיזו קבוצת אוכלוסייה).</a:t>
              </a:r>
              <a:endPara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120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grpSp>
          <p:nvGrpSpPr>
            <p:cNvPr id="49" name="Graphic 23" descr="Decision chart outline">
              <a:extLst>
                <a:ext uri="{FF2B5EF4-FFF2-40B4-BE49-F238E27FC236}">
                  <a16:creationId xmlns:a16="http://schemas.microsoft.com/office/drawing/2014/main" id="{3EE078E8-8880-14E2-C51F-28E1B0E86A2A}"/>
                </a:ext>
              </a:extLst>
            </p:cNvPr>
            <p:cNvGrpSpPr/>
            <p:nvPr/>
          </p:nvGrpSpPr>
          <p:grpSpPr>
            <a:xfrm>
              <a:off x="4580282" y="4727228"/>
              <a:ext cx="481555" cy="591386"/>
              <a:chOff x="6034030" y="5742781"/>
              <a:chExt cx="784225" cy="846137"/>
            </a:xfrm>
            <a:gradFill>
              <a:gsLst>
                <a:gs pos="22000">
                  <a:schemeClr val="accent1"/>
                </a:gs>
                <a:gs pos="75000">
                  <a:schemeClr val="accent4"/>
                </a:gs>
                <a:gs pos="100000">
                  <a:schemeClr val="accent5"/>
                </a:gs>
              </a:gsLst>
              <a:lin ang="8100000" scaled="0"/>
            </a:gradFill>
          </p:grpSpPr>
          <p:sp>
            <p:nvSpPr>
              <p:cNvPr id="50" name="צורה חופשית: צורה 49">
                <a:extLst>
                  <a:ext uri="{FF2B5EF4-FFF2-40B4-BE49-F238E27FC236}">
                    <a16:creationId xmlns:a16="http://schemas.microsoft.com/office/drawing/2014/main" id="{F6D30FEA-CDAD-1969-0114-0578D479073F}"/>
                  </a:ext>
                </a:extLst>
              </p:cNvPr>
              <p:cNvSpPr/>
              <p:nvPr/>
            </p:nvSpPr>
            <p:spPr>
              <a:xfrm>
                <a:off x="6034030" y="6444456"/>
                <a:ext cx="288925" cy="144462"/>
              </a:xfrm>
              <a:custGeom>
                <a:avLst/>
                <a:gdLst>
                  <a:gd name="connsiteX0" fmla="*/ 0 w 288925"/>
                  <a:gd name="connsiteY0" fmla="*/ 144463 h 144462"/>
                  <a:gd name="connsiteX1" fmla="*/ 288925 w 288925"/>
                  <a:gd name="connsiteY1" fmla="*/ 144463 h 144462"/>
                  <a:gd name="connsiteX2" fmla="*/ 288925 w 288925"/>
                  <a:gd name="connsiteY2" fmla="*/ 0 h 144462"/>
                  <a:gd name="connsiteX3" fmla="*/ 0 w 288925"/>
                  <a:gd name="connsiteY3" fmla="*/ 0 h 144462"/>
                  <a:gd name="connsiteX4" fmla="*/ 20638 w 288925"/>
                  <a:gd name="connsiteY4" fmla="*/ 20638 h 144462"/>
                  <a:gd name="connsiteX5" fmla="*/ 268288 w 288925"/>
                  <a:gd name="connsiteY5" fmla="*/ 20638 h 144462"/>
                  <a:gd name="connsiteX6" fmla="*/ 268288 w 288925"/>
                  <a:gd name="connsiteY6" fmla="*/ 123825 h 144462"/>
                  <a:gd name="connsiteX7" fmla="*/ 20638 w 288925"/>
                  <a:gd name="connsiteY7" fmla="*/ 123825 h 144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8925" h="144462">
                    <a:moveTo>
                      <a:pt x="0" y="144463"/>
                    </a:moveTo>
                    <a:lnTo>
                      <a:pt x="288925" y="144463"/>
                    </a:lnTo>
                    <a:lnTo>
                      <a:pt x="288925" y="0"/>
                    </a:lnTo>
                    <a:lnTo>
                      <a:pt x="0" y="0"/>
                    </a:lnTo>
                    <a:close/>
                    <a:moveTo>
                      <a:pt x="20638" y="20638"/>
                    </a:moveTo>
                    <a:lnTo>
                      <a:pt x="268288" y="20638"/>
                    </a:lnTo>
                    <a:lnTo>
                      <a:pt x="268288" y="123825"/>
                    </a:lnTo>
                    <a:lnTo>
                      <a:pt x="20638" y="123825"/>
                    </a:lnTo>
                    <a:close/>
                  </a:path>
                </a:pathLst>
              </a:custGeom>
              <a:grpFill/>
              <a:ln w="19050" cap="flat"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1" name="צורה חופשית: צורה 50">
                <a:extLst>
                  <a:ext uri="{FF2B5EF4-FFF2-40B4-BE49-F238E27FC236}">
                    <a16:creationId xmlns:a16="http://schemas.microsoft.com/office/drawing/2014/main" id="{96018293-D616-EBB1-3E4F-F21B6C945F38}"/>
                  </a:ext>
                </a:extLst>
              </p:cNvPr>
              <p:cNvSpPr/>
              <p:nvPr/>
            </p:nvSpPr>
            <p:spPr>
              <a:xfrm>
                <a:off x="6529330" y="6444456"/>
                <a:ext cx="288925" cy="144462"/>
              </a:xfrm>
              <a:custGeom>
                <a:avLst/>
                <a:gdLst>
                  <a:gd name="connsiteX0" fmla="*/ 0 w 288925"/>
                  <a:gd name="connsiteY0" fmla="*/ 0 h 144462"/>
                  <a:gd name="connsiteX1" fmla="*/ 0 w 288925"/>
                  <a:gd name="connsiteY1" fmla="*/ 144463 h 144462"/>
                  <a:gd name="connsiteX2" fmla="*/ 288925 w 288925"/>
                  <a:gd name="connsiteY2" fmla="*/ 144463 h 144462"/>
                  <a:gd name="connsiteX3" fmla="*/ 288925 w 288925"/>
                  <a:gd name="connsiteY3" fmla="*/ 0 h 144462"/>
                  <a:gd name="connsiteX4" fmla="*/ 268288 w 288925"/>
                  <a:gd name="connsiteY4" fmla="*/ 123825 h 144462"/>
                  <a:gd name="connsiteX5" fmla="*/ 20638 w 288925"/>
                  <a:gd name="connsiteY5" fmla="*/ 123825 h 144462"/>
                  <a:gd name="connsiteX6" fmla="*/ 20638 w 288925"/>
                  <a:gd name="connsiteY6" fmla="*/ 20638 h 144462"/>
                  <a:gd name="connsiteX7" fmla="*/ 268288 w 288925"/>
                  <a:gd name="connsiteY7" fmla="*/ 20638 h 144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8925" h="144462">
                    <a:moveTo>
                      <a:pt x="0" y="0"/>
                    </a:moveTo>
                    <a:lnTo>
                      <a:pt x="0" y="144463"/>
                    </a:lnTo>
                    <a:lnTo>
                      <a:pt x="288925" y="144463"/>
                    </a:lnTo>
                    <a:lnTo>
                      <a:pt x="288925" y="0"/>
                    </a:lnTo>
                    <a:close/>
                    <a:moveTo>
                      <a:pt x="268288" y="123825"/>
                    </a:moveTo>
                    <a:lnTo>
                      <a:pt x="20638" y="123825"/>
                    </a:lnTo>
                    <a:lnTo>
                      <a:pt x="20638" y="20638"/>
                    </a:lnTo>
                    <a:lnTo>
                      <a:pt x="268288" y="20638"/>
                    </a:lnTo>
                    <a:close/>
                  </a:path>
                </a:pathLst>
              </a:custGeom>
              <a:grpFill/>
              <a:ln w="19050" cap="flat"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2" name="צורה חופשית: צורה 51">
                <a:extLst>
                  <a:ext uri="{FF2B5EF4-FFF2-40B4-BE49-F238E27FC236}">
                    <a16:creationId xmlns:a16="http://schemas.microsoft.com/office/drawing/2014/main" id="{81BBFE91-9F85-C734-E650-ED6F5EED6217}"/>
                  </a:ext>
                </a:extLst>
              </p:cNvPr>
              <p:cNvSpPr/>
              <p:nvPr/>
            </p:nvSpPr>
            <p:spPr>
              <a:xfrm>
                <a:off x="6106388" y="6089346"/>
                <a:ext cx="639509" cy="334469"/>
              </a:xfrm>
              <a:custGeom>
                <a:avLst/>
                <a:gdLst>
                  <a:gd name="connsiteX0" fmla="*/ 416895 w 639509"/>
                  <a:gd name="connsiteY0" fmla="*/ 117778 h 334469"/>
                  <a:gd name="connsiteX1" fmla="*/ 557086 w 639509"/>
                  <a:gd name="connsiteY1" fmla="*/ 117778 h 334469"/>
                  <a:gd name="connsiteX2" fmla="*/ 557086 w 639509"/>
                  <a:gd name="connsiteY2" fmla="*/ 298996 h 334469"/>
                  <a:gd name="connsiteX3" fmla="*/ 556910 w 639509"/>
                  <a:gd name="connsiteY3" fmla="*/ 299068 h 334469"/>
                  <a:gd name="connsiteX4" fmla="*/ 512787 w 639509"/>
                  <a:gd name="connsiteY4" fmla="*/ 254945 h 334469"/>
                  <a:gd name="connsiteX5" fmla="*/ 498197 w 639509"/>
                  <a:gd name="connsiteY5" fmla="*/ 255199 h 334469"/>
                  <a:gd name="connsiteX6" fmla="*/ 498197 w 639509"/>
                  <a:gd name="connsiteY6" fmla="*/ 269536 h 334469"/>
                  <a:gd name="connsiteX7" fmla="*/ 560109 w 639509"/>
                  <a:gd name="connsiteY7" fmla="*/ 331449 h 334469"/>
                  <a:gd name="connsiteX8" fmla="*/ 574700 w 639509"/>
                  <a:gd name="connsiteY8" fmla="*/ 331449 h 334469"/>
                  <a:gd name="connsiteX9" fmla="*/ 636612 w 639509"/>
                  <a:gd name="connsiteY9" fmla="*/ 269536 h 334469"/>
                  <a:gd name="connsiteX10" fmla="*/ 636359 w 639509"/>
                  <a:gd name="connsiteY10" fmla="*/ 254945 h 334469"/>
                  <a:gd name="connsiteX11" fmla="*/ 622022 w 639509"/>
                  <a:gd name="connsiteY11" fmla="*/ 254945 h 334469"/>
                  <a:gd name="connsiteX12" fmla="*/ 577899 w 639509"/>
                  <a:gd name="connsiteY12" fmla="*/ 299068 h 334469"/>
                  <a:gd name="connsiteX13" fmla="*/ 577723 w 639509"/>
                  <a:gd name="connsiteY13" fmla="*/ 298996 h 334469"/>
                  <a:gd name="connsiteX14" fmla="*/ 577723 w 639509"/>
                  <a:gd name="connsiteY14" fmla="*/ 97141 h 334469"/>
                  <a:gd name="connsiteX15" fmla="*/ 416895 w 639509"/>
                  <a:gd name="connsiteY15" fmla="*/ 97141 h 334469"/>
                  <a:gd name="connsiteX16" fmla="*/ 319755 w 639509"/>
                  <a:gd name="connsiteY16" fmla="*/ 0 h 334469"/>
                  <a:gd name="connsiteX17" fmla="*/ 222614 w 639509"/>
                  <a:gd name="connsiteY17" fmla="*/ 97141 h 334469"/>
                  <a:gd name="connsiteX18" fmla="*/ 61786 w 639509"/>
                  <a:gd name="connsiteY18" fmla="*/ 97141 h 334469"/>
                  <a:gd name="connsiteX19" fmla="*/ 61786 w 639509"/>
                  <a:gd name="connsiteY19" fmla="*/ 298996 h 334469"/>
                  <a:gd name="connsiteX20" fmla="*/ 61610 w 639509"/>
                  <a:gd name="connsiteY20" fmla="*/ 299068 h 334469"/>
                  <a:gd name="connsiteX21" fmla="*/ 17487 w 639509"/>
                  <a:gd name="connsiteY21" fmla="*/ 254945 h 334469"/>
                  <a:gd name="connsiteX22" fmla="*/ 2897 w 639509"/>
                  <a:gd name="connsiteY22" fmla="*/ 255199 h 334469"/>
                  <a:gd name="connsiteX23" fmla="*/ 2897 w 639509"/>
                  <a:gd name="connsiteY23" fmla="*/ 269536 h 334469"/>
                  <a:gd name="connsiteX24" fmla="*/ 64809 w 639509"/>
                  <a:gd name="connsiteY24" fmla="*/ 331449 h 334469"/>
                  <a:gd name="connsiteX25" fmla="*/ 79400 w 639509"/>
                  <a:gd name="connsiteY25" fmla="*/ 331449 h 334469"/>
                  <a:gd name="connsiteX26" fmla="*/ 141312 w 639509"/>
                  <a:gd name="connsiteY26" fmla="*/ 269536 h 334469"/>
                  <a:gd name="connsiteX27" fmla="*/ 141566 w 639509"/>
                  <a:gd name="connsiteY27" fmla="*/ 254945 h 334469"/>
                  <a:gd name="connsiteX28" fmla="*/ 126976 w 639509"/>
                  <a:gd name="connsiteY28" fmla="*/ 254692 h 334469"/>
                  <a:gd name="connsiteX29" fmla="*/ 126722 w 639509"/>
                  <a:gd name="connsiteY29" fmla="*/ 254945 h 334469"/>
                  <a:gd name="connsiteX30" fmla="*/ 82599 w 639509"/>
                  <a:gd name="connsiteY30" fmla="*/ 299068 h 334469"/>
                  <a:gd name="connsiteX31" fmla="*/ 82423 w 639509"/>
                  <a:gd name="connsiteY31" fmla="*/ 298996 h 334469"/>
                  <a:gd name="connsiteX32" fmla="*/ 82423 w 639509"/>
                  <a:gd name="connsiteY32" fmla="*/ 117778 h 334469"/>
                  <a:gd name="connsiteX33" fmla="*/ 222614 w 639509"/>
                  <a:gd name="connsiteY33" fmla="*/ 117778 h 334469"/>
                  <a:gd name="connsiteX34" fmla="*/ 319755 w 639509"/>
                  <a:gd name="connsiteY34" fmla="*/ 214919 h 334469"/>
                  <a:gd name="connsiteX35" fmla="*/ 319755 w 639509"/>
                  <a:gd name="connsiteY35" fmla="*/ 29181 h 334469"/>
                  <a:gd name="connsiteX36" fmla="*/ 398033 w 639509"/>
                  <a:gd name="connsiteY36" fmla="*/ 107459 h 334469"/>
                  <a:gd name="connsiteX37" fmla="*/ 319755 w 639509"/>
                  <a:gd name="connsiteY37" fmla="*/ 185738 h 334469"/>
                  <a:gd name="connsiteX38" fmla="*/ 241477 w 639509"/>
                  <a:gd name="connsiteY38" fmla="*/ 107459 h 334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39509" h="334469">
                    <a:moveTo>
                      <a:pt x="416895" y="117778"/>
                    </a:moveTo>
                    <a:lnTo>
                      <a:pt x="557086" y="117778"/>
                    </a:lnTo>
                    <a:lnTo>
                      <a:pt x="557086" y="298996"/>
                    </a:lnTo>
                    <a:cubicBezTo>
                      <a:pt x="557086" y="299130"/>
                      <a:pt x="557003" y="299161"/>
                      <a:pt x="556910" y="299068"/>
                    </a:cubicBezTo>
                    <a:lnTo>
                      <a:pt x="512787" y="254945"/>
                    </a:lnTo>
                    <a:cubicBezTo>
                      <a:pt x="508688" y="250986"/>
                      <a:pt x="502156" y="251100"/>
                      <a:pt x="498197" y="255199"/>
                    </a:cubicBezTo>
                    <a:cubicBezTo>
                      <a:pt x="494334" y="259198"/>
                      <a:pt x="494334" y="265538"/>
                      <a:pt x="498197" y="269536"/>
                    </a:cubicBezTo>
                    <a:lnTo>
                      <a:pt x="560109" y="331449"/>
                    </a:lnTo>
                    <a:cubicBezTo>
                      <a:pt x="564139" y="335477"/>
                      <a:pt x="570670" y="335477"/>
                      <a:pt x="574700" y="331449"/>
                    </a:cubicBezTo>
                    <a:lnTo>
                      <a:pt x="636612" y="269536"/>
                    </a:lnTo>
                    <a:cubicBezTo>
                      <a:pt x="640572" y="265436"/>
                      <a:pt x="640458" y="258905"/>
                      <a:pt x="636359" y="254945"/>
                    </a:cubicBezTo>
                    <a:cubicBezTo>
                      <a:pt x="632360" y="251083"/>
                      <a:pt x="626020" y="251083"/>
                      <a:pt x="622022" y="254945"/>
                    </a:cubicBezTo>
                    <a:lnTo>
                      <a:pt x="577899" y="299068"/>
                    </a:lnTo>
                    <a:cubicBezTo>
                      <a:pt x="577806" y="299161"/>
                      <a:pt x="577723" y="299130"/>
                      <a:pt x="577723" y="298996"/>
                    </a:cubicBezTo>
                    <a:lnTo>
                      <a:pt x="577723" y="97141"/>
                    </a:lnTo>
                    <a:lnTo>
                      <a:pt x="416895" y="97141"/>
                    </a:lnTo>
                    <a:lnTo>
                      <a:pt x="319755" y="0"/>
                    </a:lnTo>
                    <a:lnTo>
                      <a:pt x="222614" y="97141"/>
                    </a:lnTo>
                    <a:lnTo>
                      <a:pt x="61786" y="97141"/>
                    </a:lnTo>
                    <a:lnTo>
                      <a:pt x="61786" y="298996"/>
                    </a:lnTo>
                    <a:cubicBezTo>
                      <a:pt x="61786" y="299130"/>
                      <a:pt x="61703" y="299161"/>
                      <a:pt x="61610" y="299068"/>
                    </a:cubicBezTo>
                    <a:lnTo>
                      <a:pt x="17487" y="254945"/>
                    </a:lnTo>
                    <a:cubicBezTo>
                      <a:pt x="13388" y="250986"/>
                      <a:pt x="6856" y="251100"/>
                      <a:pt x="2897" y="255199"/>
                    </a:cubicBezTo>
                    <a:cubicBezTo>
                      <a:pt x="-966" y="259198"/>
                      <a:pt x="-966" y="265538"/>
                      <a:pt x="2897" y="269536"/>
                    </a:cubicBezTo>
                    <a:lnTo>
                      <a:pt x="64809" y="331449"/>
                    </a:lnTo>
                    <a:cubicBezTo>
                      <a:pt x="68839" y="335477"/>
                      <a:pt x="75370" y="335477"/>
                      <a:pt x="79400" y="331449"/>
                    </a:cubicBezTo>
                    <a:lnTo>
                      <a:pt x="141312" y="269536"/>
                    </a:lnTo>
                    <a:cubicBezTo>
                      <a:pt x="145412" y="265577"/>
                      <a:pt x="145526" y="259045"/>
                      <a:pt x="141566" y="254945"/>
                    </a:cubicBezTo>
                    <a:cubicBezTo>
                      <a:pt x="137607" y="250846"/>
                      <a:pt x="131074" y="250732"/>
                      <a:pt x="126976" y="254692"/>
                    </a:cubicBezTo>
                    <a:cubicBezTo>
                      <a:pt x="126889" y="254775"/>
                      <a:pt x="126805" y="254860"/>
                      <a:pt x="126722" y="254945"/>
                    </a:cubicBezTo>
                    <a:lnTo>
                      <a:pt x="82599" y="299068"/>
                    </a:lnTo>
                    <a:cubicBezTo>
                      <a:pt x="82506" y="299161"/>
                      <a:pt x="82423" y="299130"/>
                      <a:pt x="82423" y="298996"/>
                    </a:cubicBezTo>
                    <a:lnTo>
                      <a:pt x="82423" y="117778"/>
                    </a:lnTo>
                    <a:lnTo>
                      <a:pt x="222614" y="117778"/>
                    </a:lnTo>
                    <a:lnTo>
                      <a:pt x="319755" y="214919"/>
                    </a:lnTo>
                    <a:close/>
                    <a:moveTo>
                      <a:pt x="319755" y="29181"/>
                    </a:moveTo>
                    <a:lnTo>
                      <a:pt x="398033" y="107459"/>
                    </a:lnTo>
                    <a:lnTo>
                      <a:pt x="319755" y="185738"/>
                    </a:lnTo>
                    <a:lnTo>
                      <a:pt x="241477" y="107459"/>
                    </a:lnTo>
                    <a:close/>
                  </a:path>
                </a:pathLst>
              </a:custGeom>
              <a:grpFill/>
              <a:ln w="19050" cap="flat"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53" name="צורה חופשית: צורה 52">
                <a:extLst>
                  <a:ext uri="{FF2B5EF4-FFF2-40B4-BE49-F238E27FC236}">
                    <a16:creationId xmlns:a16="http://schemas.microsoft.com/office/drawing/2014/main" id="{F06882E2-08B4-2BBC-0F94-35C03B05D94C}"/>
                  </a:ext>
                </a:extLst>
              </p:cNvPr>
              <p:cNvSpPr/>
              <p:nvPr/>
            </p:nvSpPr>
            <p:spPr>
              <a:xfrm>
                <a:off x="6281680" y="5742781"/>
                <a:ext cx="288925" cy="325812"/>
              </a:xfrm>
              <a:custGeom>
                <a:avLst/>
                <a:gdLst>
                  <a:gd name="connsiteX0" fmla="*/ 134144 w 288925"/>
                  <a:gd name="connsiteY0" fmla="*/ 290339 h 325812"/>
                  <a:gd name="connsiteX1" fmla="*/ 133968 w 288925"/>
                  <a:gd name="connsiteY1" fmla="*/ 290411 h 325812"/>
                  <a:gd name="connsiteX2" fmla="*/ 89845 w 288925"/>
                  <a:gd name="connsiteY2" fmla="*/ 246288 h 325812"/>
                  <a:gd name="connsiteX3" fmla="*/ 75255 w 288925"/>
                  <a:gd name="connsiteY3" fmla="*/ 246034 h 325812"/>
                  <a:gd name="connsiteX4" fmla="*/ 75001 w 288925"/>
                  <a:gd name="connsiteY4" fmla="*/ 260625 h 325812"/>
                  <a:gd name="connsiteX5" fmla="*/ 75255 w 288925"/>
                  <a:gd name="connsiteY5" fmla="*/ 260879 h 325812"/>
                  <a:gd name="connsiteX6" fmla="*/ 137167 w 288925"/>
                  <a:gd name="connsiteY6" fmla="*/ 322791 h 325812"/>
                  <a:gd name="connsiteX7" fmla="*/ 151758 w 288925"/>
                  <a:gd name="connsiteY7" fmla="*/ 322791 h 325812"/>
                  <a:gd name="connsiteX8" fmla="*/ 213670 w 288925"/>
                  <a:gd name="connsiteY8" fmla="*/ 260879 h 325812"/>
                  <a:gd name="connsiteX9" fmla="*/ 213924 w 288925"/>
                  <a:gd name="connsiteY9" fmla="*/ 246288 h 325812"/>
                  <a:gd name="connsiteX10" fmla="*/ 199333 w 288925"/>
                  <a:gd name="connsiteY10" fmla="*/ 246034 h 325812"/>
                  <a:gd name="connsiteX11" fmla="*/ 199080 w 288925"/>
                  <a:gd name="connsiteY11" fmla="*/ 246288 h 325812"/>
                  <a:gd name="connsiteX12" fmla="*/ 154957 w 288925"/>
                  <a:gd name="connsiteY12" fmla="*/ 290411 h 325812"/>
                  <a:gd name="connsiteX13" fmla="*/ 154781 w 288925"/>
                  <a:gd name="connsiteY13" fmla="*/ 290339 h 325812"/>
                  <a:gd name="connsiteX14" fmla="*/ 154781 w 288925"/>
                  <a:gd name="connsiteY14" fmla="*/ 144463 h 325812"/>
                  <a:gd name="connsiteX15" fmla="*/ 288925 w 288925"/>
                  <a:gd name="connsiteY15" fmla="*/ 144463 h 325812"/>
                  <a:gd name="connsiteX16" fmla="*/ 288925 w 288925"/>
                  <a:gd name="connsiteY16" fmla="*/ 0 h 325812"/>
                  <a:gd name="connsiteX17" fmla="*/ 0 w 288925"/>
                  <a:gd name="connsiteY17" fmla="*/ 0 h 325812"/>
                  <a:gd name="connsiteX18" fmla="*/ 0 w 288925"/>
                  <a:gd name="connsiteY18" fmla="*/ 144463 h 325812"/>
                  <a:gd name="connsiteX19" fmla="*/ 134144 w 288925"/>
                  <a:gd name="connsiteY19" fmla="*/ 144463 h 325812"/>
                  <a:gd name="connsiteX20" fmla="*/ 20638 w 288925"/>
                  <a:gd name="connsiteY20" fmla="*/ 20638 h 325812"/>
                  <a:gd name="connsiteX21" fmla="*/ 268288 w 288925"/>
                  <a:gd name="connsiteY21" fmla="*/ 20638 h 325812"/>
                  <a:gd name="connsiteX22" fmla="*/ 268288 w 288925"/>
                  <a:gd name="connsiteY22" fmla="*/ 123825 h 325812"/>
                  <a:gd name="connsiteX23" fmla="*/ 20638 w 288925"/>
                  <a:gd name="connsiteY23" fmla="*/ 123825 h 325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88925" h="325812">
                    <a:moveTo>
                      <a:pt x="134144" y="290339"/>
                    </a:moveTo>
                    <a:cubicBezTo>
                      <a:pt x="134144" y="290473"/>
                      <a:pt x="134061" y="290504"/>
                      <a:pt x="133968" y="290411"/>
                    </a:cubicBezTo>
                    <a:lnTo>
                      <a:pt x="89845" y="246288"/>
                    </a:lnTo>
                    <a:cubicBezTo>
                      <a:pt x="85886" y="242188"/>
                      <a:pt x="79354" y="242075"/>
                      <a:pt x="75255" y="246034"/>
                    </a:cubicBezTo>
                    <a:cubicBezTo>
                      <a:pt x="71155" y="249993"/>
                      <a:pt x="71042" y="256526"/>
                      <a:pt x="75001" y="260625"/>
                    </a:cubicBezTo>
                    <a:cubicBezTo>
                      <a:pt x="75084" y="260711"/>
                      <a:pt x="75169" y="260796"/>
                      <a:pt x="75255" y="260879"/>
                    </a:cubicBezTo>
                    <a:lnTo>
                      <a:pt x="137167" y="322791"/>
                    </a:lnTo>
                    <a:cubicBezTo>
                      <a:pt x="141197" y="326820"/>
                      <a:pt x="147728" y="326820"/>
                      <a:pt x="151758" y="322791"/>
                    </a:cubicBezTo>
                    <a:lnTo>
                      <a:pt x="213670" y="260879"/>
                    </a:lnTo>
                    <a:cubicBezTo>
                      <a:pt x="217770" y="256919"/>
                      <a:pt x="217884" y="250388"/>
                      <a:pt x="213924" y="246288"/>
                    </a:cubicBezTo>
                    <a:cubicBezTo>
                      <a:pt x="209965" y="242189"/>
                      <a:pt x="203432" y="242075"/>
                      <a:pt x="199333" y="246034"/>
                    </a:cubicBezTo>
                    <a:cubicBezTo>
                      <a:pt x="199247" y="246118"/>
                      <a:pt x="199162" y="246202"/>
                      <a:pt x="199080" y="246288"/>
                    </a:cubicBezTo>
                    <a:lnTo>
                      <a:pt x="154957" y="290411"/>
                    </a:lnTo>
                    <a:cubicBezTo>
                      <a:pt x="154864" y="290504"/>
                      <a:pt x="154781" y="290473"/>
                      <a:pt x="154781" y="290339"/>
                    </a:cubicBezTo>
                    <a:lnTo>
                      <a:pt x="154781" y="144463"/>
                    </a:lnTo>
                    <a:lnTo>
                      <a:pt x="288925" y="144463"/>
                    </a:lnTo>
                    <a:lnTo>
                      <a:pt x="288925" y="0"/>
                    </a:lnTo>
                    <a:lnTo>
                      <a:pt x="0" y="0"/>
                    </a:lnTo>
                    <a:lnTo>
                      <a:pt x="0" y="144463"/>
                    </a:lnTo>
                    <a:lnTo>
                      <a:pt x="134144" y="144463"/>
                    </a:lnTo>
                    <a:close/>
                    <a:moveTo>
                      <a:pt x="20638" y="20638"/>
                    </a:moveTo>
                    <a:lnTo>
                      <a:pt x="268288" y="20638"/>
                    </a:lnTo>
                    <a:lnTo>
                      <a:pt x="268288" y="123825"/>
                    </a:lnTo>
                    <a:lnTo>
                      <a:pt x="20638" y="123825"/>
                    </a:lnTo>
                    <a:close/>
                  </a:path>
                </a:pathLst>
              </a:custGeom>
              <a:grpFill/>
              <a:ln w="19050" cap="flat">
                <a:gradFill>
                  <a:gsLst>
                    <a:gs pos="22000">
                      <a:schemeClr val="accent1"/>
                    </a:gs>
                    <a:gs pos="75000">
                      <a:schemeClr val="accent4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021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cxnSp>
          <p:nvCxnSpPr>
            <p:cNvPr id="35" name="מחבר ישר 34">
              <a:extLst>
                <a:ext uri="{FF2B5EF4-FFF2-40B4-BE49-F238E27FC236}">
                  <a16:creationId xmlns:a16="http://schemas.microsoft.com/office/drawing/2014/main" id="{5A96EF2E-E132-81EC-89FB-D9E150580479}"/>
                </a:ext>
              </a:extLst>
            </p:cNvPr>
            <p:cNvCxnSpPr>
              <a:cxnSpLocks/>
            </p:cNvCxnSpPr>
            <p:nvPr/>
          </p:nvCxnSpPr>
          <p:spPr>
            <a:xfrm>
              <a:off x="4265421" y="3303690"/>
              <a:ext cx="1222049" cy="0"/>
            </a:xfrm>
            <a:prstGeom prst="line">
              <a:avLst/>
            </a:prstGeom>
            <a:ln w="31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79049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3B842E-8B18-A52D-1306-410268E572D6}"/>
              </a:ext>
            </a:extLst>
          </p:cNvPr>
          <p:cNvSpPr txBox="1">
            <a:spLocks/>
          </p:cNvSpPr>
          <p:nvPr/>
        </p:nvSpPr>
        <p:spPr>
          <a:xfrm flipH="1">
            <a:off x="787025" y="321804"/>
            <a:ext cx="11179628" cy="692150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0" i="0" u="none" strike="noStrike" kern="1200" cap="none" spc="-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rPr>
              <a:t>המחשת תפישת המדדים</a:t>
            </a:r>
            <a:endParaRPr kumimoji="0" lang="en-US" sz="2800" b="0" i="0" u="none" strike="noStrike" kern="1200" cap="none" spc="-75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Open Sans SemiBold" panose="020B0706030804020204" pitchFamily="34" charset="0"/>
              <a:cs typeface="Segoe UI" panose="020B0502040204020203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444C195-9A22-0A3B-EC2C-FCBF9178C882}"/>
              </a:ext>
            </a:extLst>
          </p:cNvPr>
          <p:cNvGrpSpPr/>
          <p:nvPr/>
        </p:nvGrpSpPr>
        <p:grpSpPr>
          <a:xfrm>
            <a:off x="2601087" y="1155749"/>
            <a:ext cx="6419088" cy="5178391"/>
            <a:chOff x="2686812" y="1155749"/>
            <a:chExt cx="6419088" cy="517839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4754C83-A30B-064F-1FB9-ED88E103E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6812" y="1155749"/>
              <a:ext cx="6419088" cy="517839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1E91039-4280-A73B-7A37-45FBB6753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9855" y="1409700"/>
              <a:ext cx="6130196" cy="3324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504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BF9296D3-4792-864C-C552-C8E9E739822E}"/>
              </a:ext>
            </a:extLst>
          </p:cNvPr>
          <p:cNvGrpSpPr/>
          <p:nvPr/>
        </p:nvGrpSpPr>
        <p:grpSpPr>
          <a:xfrm>
            <a:off x="2625597" y="1169517"/>
            <a:ext cx="6419088" cy="5178391"/>
            <a:chOff x="2686812" y="1155749"/>
            <a:chExt cx="6419088" cy="5178391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B651AAD-CA2A-E070-C357-AA2219448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6812" y="1155749"/>
              <a:ext cx="6419088" cy="517839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C5E9F49-73D3-EC1B-D14B-889972D36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29855" y="1409700"/>
              <a:ext cx="6130196" cy="3324225"/>
            </a:xfrm>
            <a:prstGeom prst="rect">
              <a:avLst/>
            </a:prstGeom>
          </p:spPr>
        </p:pic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7A3B842E-8B18-A52D-1306-410268E572D6}"/>
              </a:ext>
            </a:extLst>
          </p:cNvPr>
          <p:cNvSpPr txBox="1">
            <a:spLocks/>
          </p:cNvSpPr>
          <p:nvPr/>
        </p:nvSpPr>
        <p:spPr>
          <a:xfrm flipH="1">
            <a:off x="787025" y="321804"/>
            <a:ext cx="11179628" cy="692150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0" i="0" u="none" strike="noStrike" kern="1200" cap="none" spc="-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rPr>
              <a:t>המחשת תפישת המדדים</a:t>
            </a:r>
            <a:endParaRPr kumimoji="0" lang="en-US" sz="2800" b="0" i="0" u="none" strike="noStrike" kern="1200" cap="none" spc="-75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Open Sans SemiBold" panose="020B070603080402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C66E4F-884C-EDC5-170C-0D3104F02675}"/>
              </a:ext>
            </a:extLst>
          </p:cNvPr>
          <p:cNvSpPr/>
          <p:nvPr/>
        </p:nvSpPr>
        <p:spPr bwMode="gray">
          <a:xfrm>
            <a:off x="2825545" y="2511630"/>
            <a:ext cx="236161" cy="24146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60C8785-1AD9-73FC-296D-178168C335F5}"/>
              </a:ext>
            </a:extLst>
          </p:cNvPr>
          <p:cNvSpPr/>
          <p:nvPr/>
        </p:nvSpPr>
        <p:spPr bwMode="gray">
          <a:xfrm>
            <a:off x="4446396" y="3624214"/>
            <a:ext cx="236161" cy="24146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D7BCA5-6E55-B7F0-9D18-DBAB1EBF483D}"/>
              </a:ext>
            </a:extLst>
          </p:cNvPr>
          <p:cNvSpPr/>
          <p:nvPr/>
        </p:nvSpPr>
        <p:spPr bwMode="gray">
          <a:xfrm>
            <a:off x="8425076" y="2839317"/>
            <a:ext cx="236161" cy="24146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B271FD-F79C-0419-9B6D-87E8527E376B}"/>
              </a:ext>
            </a:extLst>
          </p:cNvPr>
          <p:cNvSpPr/>
          <p:nvPr/>
        </p:nvSpPr>
        <p:spPr bwMode="gray">
          <a:xfrm>
            <a:off x="6947326" y="4085817"/>
            <a:ext cx="236161" cy="24146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4F323-7CDE-992D-85B7-07B6D25838BB}"/>
              </a:ext>
            </a:extLst>
          </p:cNvPr>
          <p:cNvCxnSpPr>
            <a:cxnSpLocks/>
          </p:cNvCxnSpPr>
          <p:nvPr/>
        </p:nvCxnSpPr>
        <p:spPr>
          <a:xfrm>
            <a:off x="8543157" y="2991019"/>
            <a:ext cx="2059395" cy="0"/>
          </a:xfrm>
          <a:prstGeom prst="line">
            <a:avLst/>
          </a:prstGeom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4376E5-040F-3C51-B56B-B96CE5DE0A67}"/>
              </a:ext>
            </a:extLst>
          </p:cNvPr>
          <p:cNvCxnSpPr>
            <a:cxnSpLocks/>
          </p:cNvCxnSpPr>
          <p:nvPr/>
        </p:nvCxnSpPr>
        <p:spPr>
          <a:xfrm>
            <a:off x="7065407" y="4237517"/>
            <a:ext cx="3537145" cy="0"/>
          </a:xfrm>
          <a:prstGeom prst="line">
            <a:avLst/>
          </a:prstGeom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482B2B-309E-1CA9-ED37-22C7F707B444}"/>
              </a:ext>
            </a:extLst>
          </p:cNvPr>
          <p:cNvCxnSpPr>
            <a:cxnSpLocks/>
          </p:cNvCxnSpPr>
          <p:nvPr/>
        </p:nvCxnSpPr>
        <p:spPr>
          <a:xfrm flipH="1">
            <a:off x="1497821" y="3787134"/>
            <a:ext cx="3066656" cy="0"/>
          </a:xfrm>
          <a:prstGeom prst="line">
            <a:avLst/>
          </a:prstGeom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A532C4-DCA6-8CEF-E439-0CAD05FAE5ED}"/>
              </a:ext>
            </a:extLst>
          </p:cNvPr>
          <p:cNvCxnSpPr>
            <a:cxnSpLocks/>
          </p:cNvCxnSpPr>
          <p:nvPr/>
        </p:nvCxnSpPr>
        <p:spPr>
          <a:xfrm flipH="1">
            <a:off x="1548309" y="2646500"/>
            <a:ext cx="1395317" cy="0"/>
          </a:xfrm>
          <a:prstGeom prst="line">
            <a:avLst/>
          </a:prstGeom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70406E-A987-F8C9-3120-CC930FA63BFB}"/>
              </a:ext>
            </a:extLst>
          </p:cNvPr>
          <p:cNvGrpSpPr>
            <a:grpSpLocks noChangeAspect="1"/>
          </p:cNvGrpSpPr>
          <p:nvPr/>
        </p:nvGrpSpPr>
        <p:grpSpPr>
          <a:xfrm>
            <a:off x="605126" y="3575361"/>
            <a:ext cx="695808" cy="390241"/>
            <a:chOff x="6134932" y="3909438"/>
            <a:chExt cx="838200" cy="470101"/>
          </a:xfrm>
          <a:gradFill>
            <a:gsLst>
              <a:gs pos="81000">
                <a:schemeClr val="accent4"/>
              </a:gs>
              <a:gs pos="100000">
                <a:schemeClr val="accent5"/>
              </a:gs>
              <a:gs pos="14000">
                <a:schemeClr val="accent1"/>
              </a:gs>
            </a:gsLst>
            <a:lin ang="8100000" scaled="1"/>
          </a:gradFill>
        </p:grpSpPr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89F6EC44-8282-36BA-8CFD-7B8855C36998}"/>
                </a:ext>
              </a:extLst>
            </p:cNvPr>
            <p:cNvSpPr/>
            <p:nvPr/>
          </p:nvSpPr>
          <p:spPr>
            <a:xfrm>
              <a:off x="6303525" y="3909438"/>
              <a:ext cx="669607" cy="457200"/>
            </a:xfrm>
            <a:custGeom>
              <a:avLst/>
              <a:gdLst>
                <a:gd name="connsiteX0" fmla="*/ 269558 w 669607"/>
                <a:gd name="connsiteY0" fmla="*/ 58103 h 457200"/>
                <a:gd name="connsiteX1" fmla="*/ 269558 w 669607"/>
                <a:gd name="connsiteY1" fmla="*/ 96203 h 457200"/>
                <a:gd name="connsiteX2" fmla="*/ 250508 w 669607"/>
                <a:gd name="connsiteY2" fmla="*/ 95250 h 457200"/>
                <a:gd name="connsiteX3" fmla="*/ 231458 w 669607"/>
                <a:gd name="connsiteY3" fmla="*/ 96203 h 457200"/>
                <a:gd name="connsiteX4" fmla="*/ 231458 w 669607"/>
                <a:gd name="connsiteY4" fmla="*/ 58103 h 457200"/>
                <a:gd name="connsiteX5" fmla="*/ 126683 w 669607"/>
                <a:gd name="connsiteY5" fmla="*/ 80010 h 457200"/>
                <a:gd name="connsiteX6" fmla="*/ 140970 w 669607"/>
                <a:gd name="connsiteY6" fmla="*/ 114300 h 457200"/>
                <a:gd name="connsiteX7" fmla="*/ 105728 w 669607"/>
                <a:gd name="connsiteY7" fmla="*/ 129540 h 457200"/>
                <a:gd name="connsiteX8" fmla="*/ 91440 w 669607"/>
                <a:gd name="connsiteY8" fmla="*/ 94298 h 457200"/>
                <a:gd name="connsiteX9" fmla="*/ 40958 w 669607"/>
                <a:gd name="connsiteY9" fmla="*/ 124778 h 457200"/>
                <a:gd name="connsiteX10" fmla="*/ 0 w 669607"/>
                <a:gd name="connsiteY10" fmla="*/ 83820 h 457200"/>
                <a:gd name="connsiteX11" fmla="*/ 250508 w 669607"/>
                <a:gd name="connsiteY11" fmla="*/ 0 h 457200"/>
                <a:gd name="connsiteX12" fmla="*/ 669608 w 669607"/>
                <a:gd name="connsiteY12" fmla="*/ 419100 h 457200"/>
                <a:gd name="connsiteX13" fmla="*/ 669608 w 669607"/>
                <a:gd name="connsiteY13" fmla="*/ 457200 h 457200"/>
                <a:gd name="connsiteX14" fmla="*/ 612458 w 669607"/>
                <a:gd name="connsiteY14" fmla="*/ 457200 h 457200"/>
                <a:gd name="connsiteX15" fmla="*/ 612458 w 669607"/>
                <a:gd name="connsiteY15" fmla="*/ 419100 h 457200"/>
                <a:gd name="connsiteX16" fmla="*/ 594360 w 669607"/>
                <a:gd name="connsiteY16" fmla="*/ 306705 h 457200"/>
                <a:gd name="connsiteX17" fmla="*/ 559118 w 669607"/>
                <a:gd name="connsiteY17" fmla="*/ 320993 h 457200"/>
                <a:gd name="connsiteX18" fmla="*/ 545783 w 669607"/>
                <a:gd name="connsiteY18" fmla="*/ 285750 h 457200"/>
                <a:gd name="connsiteX19" fmla="*/ 581025 w 669607"/>
                <a:gd name="connsiteY19" fmla="*/ 271463 h 457200"/>
                <a:gd name="connsiteX20" fmla="*/ 523875 w 669607"/>
                <a:gd name="connsiteY20" fmla="*/ 182880 h 457200"/>
                <a:gd name="connsiteX21" fmla="*/ 497205 w 669607"/>
                <a:gd name="connsiteY21" fmla="*/ 209550 h 457200"/>
                <a:gd name="connsiteX22" fmla="*/ 470535 w 669607"/>
                <a:gd name="connsiteY22" fmla="*/ 181928 h 457200"/>
                <a:gd name="connsiteX23" fmla="*/ 497205 w 669607"/>
                <a:gd name="connsiteY23" fmla="*/ 155258 h 457200"/>
                <a:gd name="connsiteX24" fmla="*/ 409575 w 669607"/>
                <a:gd name="connsiteY24" fmla="*/ 94298 h 457200"/>
                <a:gd name="connsiteX25" fmla="*/ 395288 w 669607"/>
                <a:gd name="connsiteY25" fmla="*/ 129540 h 457200"/>
                <a:gd name="connsiteX26" fmla="*/ 360045 w 669607"/>
                <a:gd name="connsiteY26" fmla="*/ 114300 h 457200"/>
                <a:gd name="connsiteX27" fmla="*/ 374333 w 669607"/>
                <a:gd name="connsiteY27" fmla="*/ 79058 h 457200"/>
                <a:gd name="connsiteX28" fmla="*/ 269558 w 669607"/>
                <a:gd name="connsiteY28" fmla="*/ 5810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9607" h="457200">
                  <a:moveTo>
                    <a:pt x="269558" y="58103"/>
                  </a:moveTo>
                  <a:lnTo>
                    <a:pt x="269558" y="96203"/>
                  </a:lnTo>
                  <a:cubicBezTo>
                    <a:pt x="262890" y="96203"/>
                    <a:pt x="257175" y="95250"/>
                    <a:pt x="250508" y="95250"/>
                  </a:cubicBezTo>
                  <a:cubicBezTo>
                    <a:pt x="244143" y="95092"/>
                    <a:pt x="237775" y="95410"/>
                    <a:pt x="231458" y="96203"/>
                  </a:cubicBezTo>
                  <a:lnTo>
                    <a:pt x="231458" y="58103"/>
                  </a:lnTo>
                  <a:cubicBezTo>
                    <a:pt x="195600" y="59862"/>
                    <a:pt x="160242" y="67255"/>
                    <a:pt x="126683" y="80010"/>
                  </a:cubicBezTo>
                  <a:lnTo>
                    <a:pt x="140970" y="114300"/>
                  </a:lnTo>
                  <a:cubicBezTo>
                    <a:pt x="128588" y="119063"/>
                    <a:pt x="117158" y="123825"/>
                    <a:pt x="105728" y="129540"/>
                  </a:cubicBezTo>
                  <a:lnTo>
                    <a:pt x="91440" y="94298"/>
                  </a:lnTo>
                  <a:cubicBezTo>
                    <a:pt x="73758" y="102970"/>
                    <a:pt x="56866" y="113169"/>
                    <a:pt x="40958" y="124778"/>
                  </a:cubicBezTo>
                  <a:lnTo>
                    <a:pt x="0" y="83820"/>
                  </a:lnTo>
                  <a:cubicBezTo>
                    <a:pt x="72140" y="29333"/>
                    <a:pt x="160103" y="-99"/>
                    <a:pt x="250508" y="0"/>
                  </a:cubicBezTo>
                  <a:cubicBezTo>
                    <a:pt x="481970" y="0"/>
                    <a:pt x="669608" y="187638"/>
                    <a:pt x="669608" y="419100"/>
                  </a:cubicBezTo>
                  <a:lnTo>
                    <a:pt x="669608" y="457200"/>
                  </a:lnTo>
                  <a:lnTo>
                    <a:pt x="612458" y="457200"/>
                  </a:lnTo>
                  <a:lnTo>
                    <a:pt x="612458" y="419100"/>
                  </a:lnTo>
                  <a:cubicBezTo>
                    <a:pt x="612333" y="380920"/>
                    <a:pt x="606226" y="342995"/>
                    <a:pt x="594360" y="306705"/>
                  </a:cubicBezTo>
                  <a:lnTo>
                    <a:pt x="559118" y="320993"/>
                  </a:lnTo>
                  <a:cubicBezTo>
                    <a:pt x="555308" y="308610"/>
                    <a:pt x="550545" y="297180"/>
                    <a:pt x="545783" y="285750"/>
                  </a:cubicBezTo>
                  <a:lnTo>
                    <a:pt x="581025" y="271463"/>
                  </a:lnTo>
                  <a:cubicBezTo>
                    <a:pt x="566634" y="239178"/>
                    <a:pt x="547358" y="209301"/>
                    <a:pt x="523875" y="182880"/>
                  </a:cubicBezTo>
                  <a:lnTo>
                    <a:pt x="497205" y="209550"/>
                  </a:lnTo>
                  <a:cubicBezTo>
                    <a:pt x="488806" y="199881"/>
                    <a:pt x="479903" y="190661"/>
                    <a:pt x="470535" y="181928"/>
                  </a:cubicBezTo>
                  <a:lnTo>
                    <a:pt x="497205" y="155258"/>
                  </a:lnTo>
                  <a:cubicBezTo>
                    <a:pt x="471014" y="130909"/>
                    <a:pt x="441512" y="110385"/>
                    <a:pt x="409575" y="94298"/>
                  </a:cubicBezTo>
                  <a:lnTo>
                    <a:pt x="395288" y="129540"/>
                  </a:lnTo>
                  <a:cubicBezTo>
                    <a:pt x="383858" y="123825"/>
                    <a:pt x="372428" y="119063"/>
                    <a:pt x="360045" y="114300"/>
                  </a:cubicBezTo>
                  <a:lnTo>
                    <a:pt x="374333" y="79058"/>
                  </a:lnTo>
                  <a:cubicBezTo>
                    <a:pt x="340724" y="66619"/>
                    <a:pt x="305366" y="59548"/>
                    <a:pt x="269558" y="58103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Free-form: Shape 26">
              <a:extLst>
                <a:ext uri="{FF2B5EF4-FFF2-40B4-BE49-F238E27FC236}">
                  <a16:creationId xmlns:a16="http://schemas.microsoft.com/office/drawing/2014/main" id="{1E6B3947-A9CC-8062-68C8-10DC42DF76CB}"/>
                </a:ext>
              </a:extLst>
            </p:cNvPr>
            <p:cNvSpPr/>
            <p:nvPr/>
          </p:nvSpPr>
          <p:spPr>
            <a:xfrm>
              <a:off x="6134932" y="4088508"/>
              <a:ext cx="123826" cy="278130"/>
            </a:xfrm>
            <a:custGeom>
              <a:avLst/>
              <a:gdLst>
                <a:gd name="connsiteX0" fmla="*/ 75249 w 123826"/>
                <a:gd name="connsiteY0" fmla="*/ 0 h 278130"/>
                <a:gd name="connsiteX1" fmla="*/ 116206 w 123826"/>
                <a:gd name="connsiteY1" fmla="*/ 40957 h 278130"/>
                <a:gd name="connsiteX2" fmla="*/ 88584 w 123826"/>
                <a:gd name="connsiteY2" fmla="*/ 91440 h 278130"/>
                <a:gd name="connsiteX3" fmla="*/ 123826 w 123826"/>
                <a:gd name="connsiteY3" fmla="*/ 106680 h 278130"/>
                <a:gd name="connsiteX4" fmla="*/ 110491 w 123826"/>
                <a:gd name="connsiteY4" fmla="*/ 141923 h 278130"/>
                <a:gd name="connsiteX5" fmla="*/ 75249 w 123826"/>
                <a:gd name="connsiteY5" fmla="*/ 127635 h 278130"/>
                <a:gd name="connsiteX6" fmla="*/ 57151 w 123826"/>
                <a:gd name="connsiteY6" fmla="*/ 240030 h 278130"/>
                <a:gd name="connsiteX7" fmla="*/ 57151 w 123826"/>
                <a:gd name="connsiteY7" fmla="*/ 278130 h 278130"/>
                <a:gd name="connsiteX8" fmla="*/ 1 w 123826"/>
                <a:gd name="connsiteY8" fmla="*/ 278130 h 278130"/>
                <a:gd name="connsiteX9" fmla="*/ 1 w 123826"/>
                <a:gd name="connsiteY9" fmla="*/ 240030 h 278130"/>
                <a:gd name="connsiteX10" fmla="*/ 75249 w 123826"/>
                <a:gd name="connsiteY10" fmla="*/ 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6" h="278130">
                  <a:moveTo>
                    <a:pt x="75249" y="0"/>
                  </a:moveTo>
                  <a:lnTo>
                    <a:pt x="116206" y="40957"/>
                  </a:lnTo>
                  <a:cubicBezTo>
                    <a:pt x="105712" y="57048"/>
                    <a:pt x="96477" y="73926"/>
                    <a:pt x="88584" y="91440"/>
                  </a:cubicBezTo>
                  <a:lnTo>
                    <a:pt x="123826" y="106680"/>
                  </a:lnTo>
                  <a:cubicBezTo>
                    <a:pt x="119064" y="118110"/>
                    <a:pt x="114301" y="130493"/>
                    <a:pt x="110491" y="141923"/>
                  </a:cubicBezTo>
                  <a:lnTo>
                    <a:pt x="75249" y="127635"/>
                  </a:lnTo>
                  <a:cubicBezTo>
                    <a:pt x="63382" y="163924"/>
                    <a:pt x="57276" y="201850"/>
                    <a:pt x="57151" y="240030"/>
                  </a:cubicBezTo>
                  <a:lnTo>
                    <a:pt x="57151" y="278130"/>
                  </a:lnTo>
                  <a:lnTo>
                    <a:pt x="1" y="278130"/>
                  </a:lnTo>
                  <a:lnTo>
                    <a:pt x="1" y="240030"/>
                  </a:lnTo>
                  <a:cubicBezTo>
                    <a:pt x="-193" y="154186"/>
                    <a:pt x="26083" y="70370"/>
                    <a:pt x="75249" y="0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EDE46E59-56D1-7925-A2F8-2723170846D0}"/>
                </a:ext>
              </a:extLst>
            </p:cNvPr>
            <p:cNvSpPr/>
            <p:nvPr/>
          </p:nvSpPr>
          <p:spPr>
            <a:xfrm>
              <a:off x="6230183" y="4014214"/>
              <a:ext cx="364359" cy="365325"/>
            </a:xfrm>
            <a:custGeom>
              <a:avLst/>
              <a:gdLst>
                <a:gd name="connsiteX0" fmla="*/ 350520 w 364359"/>
                <a:gd name="connsiteY0" fmla="*/ 297180 h 365325"/>
                <a:gd name="connsiteX1" fmla="*/ 355283 w 364359"/>
                <a:gd name="connsiteY1" fmla="*/ 301942 h 365325"/>
                <a:gd name="connsiteX2" fmla="*/ 350665 w 364359"/>
                <a:gd name="connsiteY2" fmla="*/ 356247 h 365325"/>
                <a:gd name="connsiteX3" fmla="*/ 296359 w 364359"/>
                <a:gd name="connsiteY3" fmla="*/ 351630 h 365325"/>
                <a:gd name="connsiteX4" fmla="*/ 296228 w 364359"/>
                <a:gd name="connsiteY4" fmla="*/ 351473 h 365325"/>
                <a:gd name="connsiteX5" fmla="*/ 0 w 364359"/>
                <a:gd name="connsiteY5" fmla="*/ 0 h 36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359" h="365325">
                  <a:moveTo>
                    <a:pt x="350520" y="297180"/>
                  </a:moveTo>
                  <a:cubicBezTo>
                    <a:pt x="352425" y="298133"/>
                    <a:pt x="353378" y="300038"/>
                    <a:pt x="355283" y="301942"/>
                  </a:cubicBezTo>
                  <a:cubicBezTo>
                    <a:pt x="369003" y="318214"/>
                    <a:pt x="366935" y="342527"/>
                    <a:pt x="350665" y="356247"/>
                  </a:cubicBezTo>
                  <a:cubicBezTo>
                    <a:pt x="334393" y="369968"/>
                    <a:pt x="310080" y="367901"/>
                    <a:pt x="296359" y="351630"/>
                  </a:cubicBezTo>
                  <a:cubicBezTo>
                    <a:pt x="296315" y="351577"/>
                    <a:pt x="296271" y="351525"/>
                    <a:pt x="296228" y="35147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494A58C-AB6C-1B0B-FEC3-2393BD4E9DEE}"/>
              </a:ext>
            </a:extLst>
          </p:cNvPr>
          <p:cNvGrpSpPr>
            <a:grpSpLocks noChangeAspect="1"/>
          </p:cNvGrpSpPr>
          <p:nvPr/>
        </p:nvGrpSpPr>
        <p:grpSpPr>
          <a:xfrm>
            <a:off x="10896168" y="2757314"/>
            <a:ext cx="695808" cy="390241"/>
            <a:chOff x="6134932" y="3909438"/>
            <a:chExt cx="838200" cy="470101"/>
          </a:xfrm>
          <a:gradFill>
            <a:gsLst>
              <a:gs pos="81000">
                <a:schemeClr val="accent4"/>
              </a:gs>
              <a:gs pos="100000">
                <a:schemeClr val="accent5"/>
              </a:gs>
              <a:gs pos="14000">
                <a:schemeClr val="accent1"/>
              </a:gs>
            </a:gsLst>
            <a:lin ang="8100000" scaled="1"/>
          </a:gradFill>
        </p:grpSpPr>
        <p:sp>
          <p:nvSpPr>
            <p:cNvPr id="30" name="Free-form: Shape 29">
              <a:extLst>
                <a:ext uri="{FF2B5EF4-FFF2-40B4-BE49-F238E27FC236}">
                  <a16:creationId xmlns:a16="http://schemas.microsoft.com/office/drawing/2014/main" id="{3BFE7FB7-41B9-D1A0-1C84-B1028EBAD98B}"/>
                </a:ext>
              </a:extLst>
            </p:cNvPr>
            <p:cNvSpPr/>
            <p:nvPr/>
          </p:nvSpPr>
          <p:spPr>
            <a:xfrm>
              <a:off x="6303525" y="3909438"/>
              <a:ext cx="669607" cy="457200"/>
            </a:xfrm>
            <a:custGeom>
              <a:avLst/>
              <a:gdLst>
                <a:gd name="connsiteX0" fmla="*/ 269558 w 669607"/>
                <a:gd name="connsiteY0" fmla="*/ 58103 h 457200"/>
                <a:gd name="connsiteX1" fmla="*/ 269558 w 669607"/>
                <a:gd name="connsiteY1" fmla="*/ 96203 h 457200"/>
                <a:gd name="connsiteX2" fmla="*/ 250508 w 669607"/>
                <a:gd name="connsiteY2" fmla="*/ 95250 h 457200"/>
                <a:gd name="connsiteX3" fmla="*/ 231458 w 669607"/>
                <a:gd name="connsiteY3" fmla="*/ 96203 h 457200"/>
                <a:gd name="connsiteX4" fmla="*/ 231458 w 669607"/>
                <a:gd name="connsiteY4" fmla="*/ 58103 h 457200"/>
                <a:gd name="connsiteX5" fmla="*/ 126683 w 669607"/>
                <a:gd name="connsiteY5" fmla="*/ 80010 h 457200"/>
                <a:gd name="connsiteX6" fmla="*/ 140970 w 669607"/>
                <a:gd name="connsiteY6" fmla="*/ 114300 h 457200"/>
                <a:gd name="connsiteX7" fmla="*/ 105728 w 669607"/>
                <a:gd name="connsiteY7" fmla="*/ 129540 h 457200"/>
                <a:gd name="connsiteX8" fmla="*/ 91440 w 669607"/>
                <a:gd name="connsiteY8" fmla="*/ 94298 h 457200"/>
                <a:gd name="connsiteX9" fmla="*/ 40958 w 669607"/>
                <a:gd name="connsiteY9" fmla="*/ 124778 h 457200"/>
                <a:gd name="connsiteX10" fmla="*/ 0 w 669607"/>
                <a:gd name="connsiteY10" fmla="*/ 83820 h 457200"/>
                <a:gd name="connsiteX11" fmla="*/ 250508 w 669607"/>
                <a:gd name="connsiteY11" fmla="*/ 0 h 457200"/>
                <a:gd name="connsiteX12" fmla="*/ 669608 w 669607"/>
                <a:gd name="connsiteY12" fmla="*/ 419100 h 457200"/>
                <a:gd name="connsiteX13" fmla="*/ 669608 w 669607"/>
                <a:gd name="connsiteY13" fmla="*/ 457200 h 457200"/>
                <a:gd name="connsiteX14" fmla="*/ 612458 w 669607"/>
                <a:gd name="connsiteY14" fmla="*/ 457200 h 457200"/>
                <a:gd name="connsiteX15" fmla="*/ 612458 w 669607"/>
                <a:gd name="connsiteY15" fmla="*/ 419100 h 457200"/>
                <a:gd name="connsiteX16" fmla="*/ 594360 w 669607"/>
                <a:gd name="connsiteY16" fmla="*/ 306705 h 457200"/>
                <a:gd name="connsiteX17" fmla="*/ 559118 w 669607"/>
                <a:gd name="connsiteY17" fmla="*/ 320993 h 457200"/>
                <a:gd name="connsiteX18" fmla="*/ 545783 w 669607"/>
                <a:gd name="connsiteY18" fmla="*/ 285750 h 457200"/>
                <a:gd name="connsiteX19" fmla="*/ 581025 w 669607"/>
                <a:gd name="connsiteY19" fmla="*/ 271463 h 457200"/>
                <a:gd name="connsiteX20" fmla="*/ 523875 w 669607"/>
                <a:gd name="connsiteY20" fmla="*/ 182880 h 457200"/>
                <a:gd name="connsiteX21" fmla="*/ 497205 w 669607"/>
                <a:gd name="connsiteY21" fmla="*/ 209550 h 457200"/>
                <a:gd name="connsiteX22" fmla="*/ 470535 w 669607"/>
                <a:gd name="connsiteY22" fmla="*/ 181928 h 457200"/>
                <a:gd name="connsiteX23" fmla="*/ 497205 w 669607"/>
                <a:gd name="connsiteY23" fmla="*/ 155258 h 457200"/>
                <a:gd name="connsiteX24" fmla="*/ 409575 w 669607"/>
                <a:gd name="connsiteY24" fmla="*/ 94298 h 457200"/>
                <a:gd name="connsiteX25" fmla="*/ 395288 w 669607"/>
                <a:gd name="connsiteY25" fmla="*/ 129540 h 457200"/>
                <a:gd name="connsiteX26" fmla="*/ 360045 w 669607"/>
                <a:gd name="connsiteY26" fmla="*/ 114300 h 457200"/>
                <a:gd name="connsiteX27" fmla="*/ 374333 w 669607"/>
                <a:gd name="connsiteY27" fmla="*/ 79058 h 457200"/>
                <a:gd name="connsiteX28" fmla="*/ 269558 w 669607"/>
                <a:gd name="connsiteY28" fmla="*/ 5810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9607" h="457200">
                  <a:moveTo>
                    <a:pt x="269558" y="58103"/>
                  </a:moveTo>
                  <a:lnTo>
                    <a:pt x="269558" y="96203"/>
                  </a:lnTo>
                  <a:cubicBezTo>
                    <a:pt x="262890" y="96203"/>
                    <a:pt x="257175" y="95250"/>
                    <a:pt x="250508" y="95250"/>
                  </a:cubicBezTo>
                  <a:cubicBezTo>
                    <a:pt x="244143" y="95092"/>
                    <a:pt x="237775" y="95410"/>
                    <a:pt x="231458" y="96203"/>
                  </a:cubicBezTo>
                  <a:lnTo>
                    <a:pt x="231458" y="58103"/>
                  </a:lnTo>
                  <a:cubicBezTo>
                    <a:pt x="195600" y="59862"/>
                    <a:pt x="160242" y="67255"/>
                    <a:pt x="126683" y="80010"/>
                  </a:cubicBezTo>
                  <a:lnTo>
                    <a:pt x="140970" y="114300"/>
                  </a:lnTo>
                  <a:cubicBezTo>
                    <a:pt x="128588" y="119063"/>
                    <a:pt x="117158" y="123825"/>
                    <a:pt x="105728" y="129540"/>
                  </a:cubicBezTo>
                  <a:lnTo>
                    <a:pt x="91440" y="94298"/>
                  </a:lnTo>
                  <a:cubicBezTo>
                    <a:pt x="73758" y="102970"/>
                    <a:pt x="56866" y="113169"/>
                    <a:pt x="40958" y="124778"/>
                  </a:cubicBezTo>
                  <a:lnTo>
                    <a:pt x="0" y="83820"/>
                  </a:lnTo>
                  <a:cubicBezTo>
                    <a:pt x="72140" y="29333"/>
                    <a:pt x="160103" y="-99"/>
                    <a:pt x="250508" y="0"/>
                  </a:cubicBezTo>
                  <a:cubicBezTo>
                    <a:pt x="481970" y="0"/>
                    <a:pt x="669608" y="187638"/>
                    <a:pt x="669608" y="419100"/>
                  </a:cubicBezTo>
                  <a:lnTo>
                    <a:pt x="669608" y="457200"/>
                  </a:lnTo>
                  <a:lnTo>
                    <a:pt x="612458" y="457200"/>
                  </a:lnTo>
                  <a:lnTo>
                    <a:pt x="612458" y="419100"/>
                  </a:lnTo>
                  <a:cubicBezTo>
                    <a:pt x="612333" y="380920"/>
                    <a:pt x="606226" y="342995"/>
                    <a:pt x="594360" y="306705"/>
                  </a:cubicBezTo>
                  <a:lnTo>
                    <a:pt x="559118" y="320993"/>
                  </a:lnTo>
                  <a:cubicBezTo>
                    <a:pt x="555308" y="308610"/>
                    <a:pt x="550545" y="297180"/>
                    <a:pt x="545783" y="285750"/>
                  </a:cubicBezTo>
                  <a:lnTo>
                    <a:pt x="581025" y="271463"/>
                  </a:lnTo>
                  <a:cubicBezTo>
                    <a:pt x="566634" y="239178"/>
                    <a:pt x="547358" y="209301"/>
                    <a:pt x="523875" y="182880"/>
                  </a:cubicBezTo>
                  <a:lnTo>
                    <a:pt x="497205" y="209550"/>
                  </a:lnTo>
                  <a:cubicBezTo>
                    <a:pt x="488806" y="199881"/>
                    <a:pt x="479903" y="190661"/>
                    <a:pt x="470535" y="181928"/>
                  </a:cubicBezTo>
                  <a:lnTo>
                    <a:pt x="497205" y="155258"/>
                  </a:lnTo>
                  <a:cubicBezTo>
                    <a:pt x="471014" y="130909"/>
                    <a:pt x="441512" y="110385"/>
                    <a:pt x="409575" y="94298"/>
                  </a:cubicBezTo>
                  <a:lnTo>
                    <a:pt x="395288" y="129540"/>
                  </a:lnTo>
                  <a:cubicBezTo>
                    <a:pt x="383858" y="123825"/>
                    <a:pt x="372428" y="119063"/>
                    <a:pt x="360045" y="114300"/>
                  </a:cubicBezTo>
                  <a:lnTo>
                    <a:pt x="374333" y="79058"/>
                  </a:lnTo>
                  <a:cubicBezTo>
                    <a:pt x="340724" y="66619"/>
                    <a:pt x="305366" y="59548"/>
                    <a:pt x="269558" y="58103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FD415795-7597-C11F-5CDA-E1C8C7ED4556}"/>
                </a:ext>
              </a:extLst>
            </p:cNvPr>
            <p:cNvSpPr/>
            <p:nvPr/>
          </p:nvSpPr>
          <p:spPr>
            <a:xfrm>
              <a:off x="6134932" y="4088508"/>
              <a:ext cx="123826" cy="278130"/>
            </a:xfrm>
            <a:custGeom>
              <a:avLst/>
              <a:gdLst>
                <a:gd name="connsiteX0" fmla="*/ 75249 w 123826"/>
                <a:gd name="connsiteY0" fmla="*/ 0 h 278130"/>
                <a:gd name="connsiteX1" fmla="*/ 116206 w 123826"/>
                <a:gd name="connsiteY1" fmla="*/ 40957 h 278130"/>
                <a:gd name="connsiteX2" fmla="*/ 88584 w 123826"/>
                <a:gd name="connsiteY2" fmla="*/ 91440 h 278130"/>
                <a:gd name="connsiteX3" fmla="*/ 123826 w 123826"/>
                <a:gd name="connsiteY3" fmla="*/ 106680 h 278130"/>
                <a:gd name="connsiteX4" fmla="*/ 110491 w 123826"/>
                <a:gd name="connsiteY4" fmla="*/ 141923 h 278130"/>
                <a:gd name="connsiteX5" fmla="*/ 75249 w 123826"/>
                <a:gd name="connsiteY5" fmla="*/ 127635 h 278130"/>
                <a:gd name="connsiteX6" fmla="*/ 57151 w 123826"/>
                <a:gd name="connsiteY6" fmla="*/ 240030 h 278130"/>
                <a:gd name="connsiteX7" fmla="*/ 57151 w 123826"/>
                <a:gd name="connsiteY7" fmla="*/ 278130 h 278130"/>
                <a:gd name="connsiteX8" fmla="*/ 1 w 123826"/>
                <a:gd name="connsiteY8" fmla="*/ 278130 h 278130"/>
                <a:gd name="connsiteX9" fmla="*/ 1 w 123826"/>
                <a:gd name="connsiteY9" fmla="*/ 240030 h 278130"/>
                <a:gd name="connsiteX10" fmla="*/ 75249 w 123826"/>
                <a:gd name="connsiteY10" fmla="*/ 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6" h="278130">
                  <a:moveTo>
                    <a:pt x="75249" y="0"/>
                  </a:moveTo>
                  <a:lnTo>
                    <a:pt x="116206" y="40957"/>
                  </a:lnTo>
                  <a:cubicBezTo>
                    <a:pt x="105712" y="57048"/>
                    <a:pt x="96477" y="73926"/>
                    <a:pt x="88584" y="91440"/>
                  </a:cubicBezTo>
                  <a:lnTo>
                    <a:pt x="123826" y="106680"/>
                  </a:lnTo>
                  <a:cubicBezTo>
                    <a:pt x="119064" y="118110"/>
                    <a:pt x="114301" y="130493"/>
                    <a:pt x="110491" y="141923"/>
                  </a:cubicBezTo>
                  <a:lnTo>
                    <a:pt x="75249" y="127635"/>
                  </a:lnTo>
                  <a:cubicBezTo>
                    <a:pt x="63382" y="163924"/>
                    <a:pt x="57276" y="201850"/>
                    <a:pt x="57151" y="240030"/>
                  </a:cubicBezTo>
                  <a:lnTo>
                    <a:pt x="57151" y="278130"/>
                  </a:lnTo>
                  <a:lnTo>
                    <a:pt x="1" y="278130"/>
                  </a:lnTo>
                  <a:lnTo>
                    <a:pt x="1" y="240030"/>
                  </a:lnTo>
                  <a:cubicBezTo>
                    <a:pt x="-193" y="154186"/>
                    <a:pt x="26083" y="70370"/>
                    <a:pt x="75249" y="0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9A655C6C-E120-E0C4-CD6D-6151B4EB9B8B}"/>
                </a:ext>
              </a:extLst>
            </p:cNvPr>
            <p:cNvSpPr/>
            <p:nvPr/>
          </p:nvSpPr>
          <p:spPr>
            <a:xfrm>
              <a:off x="6230183" y="4014214"/>
              <a:ext cx="364359" cy="365325"/>
            </a:xfrm>
            <a:custGeom>
              <a:avLst/>
              <a:gdLst>
                <a:gd name="connsiteX0" fmla="*/ 350520 w 364359"/>
                <a:gd name="connsiteY0" fmla="*/ 297180 h 365325"/>
                <a:gd name="connsiteX1" fmla="*/ 355283 w 364359"/>
                <a:gd name="connsiteY1" fmla="*/ 301942 h 365325"/>
                <a:gd name="connsiteX2" fmla="*/ 350665 w 364359"/>
                <a:gd name="connsiteY2" fmla="*/ 356247 h 365325"/>
                <a:gd name="connsiteX3" fmla="*/ 296359 w 364359"/>
                <a:gd name="connsiteY3" fmla="*/ 351630 h 365325"/>
                <a:gd name="connsiteX4" fmla="*/ 296228 w 364359"/>
                <a:gd name="connsiteY4" fmla="*/ 351473 h 365325"/>
                <a:gd name="connsiteX5" fmla="*/ 0 w 364359"/>
                <a:gd name="connsiteY5" fmla="*/ 0 h 36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359" h="365325">
                  <a:moveTo>
                    <a:pt x="350520" y="297180"/>
                  </a:moveTo>
                  <a:cubicBezTo>
                    <a:pt x="352425" y="298133"/>
                    <a:pt x="353378" y="300038"/>
                    <a:pt x="355283" y="301942"/>
                  </a:cubicBezTo>
                  <a:cubicBezTo>
                    <a:pt x="369003" y="318214"/>
                    <a:pt x="366935" y="342527"/>
                    <a:pt x="350665" y="356247"/>
                  </a:cubicBezTo>
                  <a:cubicBezTo>
                    <a:pt x="334393" y="369968"/>
                    <a:pt x="310080" y="367901"/>
                    <a:pt x="296359" y="351630"/>
                  </a:cubicBezTo>
                  <a:cubicBezTo>
                    <a:pt x="296315" y="351577"/>
                    <a:pt x="296271" y="351525"/>
                    <a:pt x="296228" y="35147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4DB517-D983-723C-B50D-08D03FD8C049}"/>
              </a:ext>
            </a:extLst>
          </p:cNvPr>
          <p:cNvGrpSpPr>
            <a:grpSpLocks noChangeAspect="1"/>
          </p:cNvGrpSpPr>
          <p:nvPr/>
        </p:nvGrpSpPr>
        <p:grpSpPr>
          <a:xfrm>
            <a:off x="10896166" y="3965594"/>
            <a:ext cx="695810" cy="390245"/>
            <a:chOff x="6134932" y="3909433"/>
            <a:chExt cx="838203" cy="470106"/>
          </a:xfrm>
          <a:gradFill>
            <a:gsLst>
              <a:gs pos="81000">
                <a:schemeClr val="accent4"/>
              </a:gs>
              <a:gs pos="100000">
                <a:schemeClr val="accent5"/>
              </a:gs>
              <a:gs pos="14000">
                <a:schemeClr val="accent1"/>
              </a:gs>
            </a:gsLst>
            <a:lin ang="8100000" scaled="1"/>
          </a:gradFill>
        </p:grpSpPr>
        <p:sp>
          <p:nvSpPr>
            <p:cNvPr id="34" name="Free-form: Shape 33">
              <a:extLst>
                <a:ext uri="{FF2B5EF4-FFF2-40B4-BE49-F238E27FC236}">
                  <a16:creationId xmlns:a16="http://schemas.microsoft.com/office/drawing/2014/main" id="{6D9132F3-31B4-46AF-0B86-24294A230F38}"/>
                </a:ext>
              </a:extLst>
            </p:cNvPr>
            <p:cNvSpPr/>
            <p:nvPr/>
          </p:nvSpPr>
          <p:spPr>
            <a:xfrm>
              <a:off x="6303528" y="3909433"/>
              <a:ext cx="669607" cy="457200"/>
            </a:xfrm>
            <a:custGeom>
              <a:avLst/>
              <a:gdLst>
                <a:gd name="connsiteX0" fmla="*/ 269558 w 669607"/>
                <a:gd name="connsiteY0" fmla="*/ 58103 h 457200"/>
                <a:gd name="connsiteX1" fmla="*/ 269558 w 669607"/>
                <a:gd name="connsiteY1" fmla="*/ 96203 h 457200"/>
                <a:gd name="connsiteX2" fmla="*/ 250508 w 669607"/>
                <a:gd name="connsiteY2" fmla="*/ 95250 h 457200"/>
                <a:gd name="connsiteX3" fmla="*/ 231458 w 669607"/>
                <a:gd name="connsiteY3" fmla="*/ 96203 h 457200"/>
                <a:gd name="connsiteX4" fmla="*/ 231458 w 669607"/>
                <a:gd name="connsiteY4" fmla="*/ 58103 h 457200"/>
                <a:gd name="connsiteX5" fmla="*/ 126683 w 669607"/>
                <a:gd name="connsiteY5" fmla="*/ 80010 h 457200"/>
                <a:gd name="connsiteX6" fmla="*/ 140970 w 669607"/>
                <a:gd name="connsiteY6" fmla="*/ 114300 h 457200"/>
                <a:gd name="connsiteX7" fmla="*/ 105728 w 669607"/>
                <a:gd name="connsiteY7" fmla="*/ 129540 h 457200"/>
                <a:gd name="connsiteX8" fmla="*/ 91440 w 669607"/>
                <a:gd name="connsiteY8" fmla="*/ 94298 h 457200"/>
                <a:gd name="connsiteX9" fmla="*/ 40958 w 669607"/>
                <a:gd name="connsiteY9" fmla="*/ 124778 h 457200"/>
                <a:gd name="connsiteX10" fmla="*/ 0 w 669607"/>
                <a:gd name="connsiteY10" fmla="*/ 83820 h 457200"/>
                <a:gd name="connsiteX11" fmla="*/ 250508 w 669607"/>
                <a:gd name="connsiteY11" fmla="*/ 0 h 457200"/>
                <a:gd name="connsiteX12" fmla="*/ 669608 w 669607"/>
                <a:gd name="connsiteY12" fmla="*/ 419100 h 457200"/>
                <a:gd name="connsiteX13" fmla="*/ 669608 w 669607"/>
                <a:gd name="connsiteY13" fmla="*/ 457200 h 457200"/>
                <a:gd name="connsiteX14" fmla="*/ 612458 w 669607"/>
                <a:gd name="connsiteY14" fmla="*/ 457200 h 457200"/>
                <a:gd name="connsiteX15" fmla="*/ 612458 w 669607"/>
                <a:gd name="connsiteY15" fmla="*/ 419100 h 457200"/>
                <a:gd name="connsiteX16" fmla="*/ 594360 w 669607"/>
                <a:gd name="connsiteY16" fmla="*/ 306705 h 457200"/>
                <a:gd name="connsiteX17" fmla="*/ 559118 w 669607"/>
                <a:gd name="connsiteY17" fmla="*/ 320993 h 457200"/>
                <a:gd name="connsiteX18" fmla="*/ 545783 w 669607"/>
                <a:gd name="connsiteY18" fmla="*/ 285750 h 457200"/>
                <a:gd name="connsiteX19" fmla="*/ 581025 w 669607"/>
                <a:gd name="connsiteY19" fmla="*/ 271463 h 457200"/>
                <a:gd name="connsiteX20" fmla="*/ 523875 w 669607"/>
                <a:gd name="connsiteY20" fmla="*/ 182880 h 457200"/>
                <a:gd name="connsiteX21" fmla="*/ 497205 w 669607"/>
                <a:gd name="connsiteY21" fmla="*/ 209550 h 457200"/>
                <a:gd name="connsiteX22" fmla="*/ 470535 w 669607"/>
                <a:gd name="connsiteY22" fmla="*/ 181928 h 457200"/>
                <a:gd name="connsiteX23" fmla="*/ 497205 w 669607"/>
                <a:gd name="connsiteY23" fmla="*/ 155258 h 457200"/>
                <a:gd name="connsiteX24" fmla="*/ 409575 w 669607"/>
                <a:gd name="connsiteY24" fmla="*/ 94298 h 457200"/>
                <a:gd name="connsiteX25" fmla="*/ 395288 w 669607"/>
                <a:gd name="connsiteY25" fmla="*/ 129540 h 457200"/>
                <a:gd name="connsiteX26" fmla="*/ 360045 w 669607"/>
                <a:gd name="connsiteY26" fmla="*/ 114300 h 457200"/>
                <a:gd name="connsiteX27" fmla="*/ 374333 w 669607"/>
                <a:gd name="connsiteY27" fmla="*/ 79058 h 457200"/>
                <a:gd name="connsiteX28" fmla="*/ 269558 w 669607"/>
                <a:gd name="connsiteY28" fmla="*/ 5810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9607" h="457200">
                  <a:moveTo>
                    <a:pt x="269558" y="58103"/>
                  </a:moveTo>
                  <a:lnTo>
                    <a:pt x="269558" y="96203"/>
                  </a:lnTo>
                  <a:cubicBezTo>
                    <a:pt x="262890" y="96203"/>
                    <a:pt x="257175" y="95250"/>
                    <a:pt x="250508" y="95250"/>
                  </a:cubicBezTo>
                  <a:cubicBezTo>
                    <a:pt x="244143" y="95092"/>
                    <a:pt x="237775" y="95410"/>
                    <a:pt x="231458" y="96203"/>
                  </a:cubicBezTo>
                  <a:lnTo>
                    <a:pt x="231458" y="58103"/>
                  </a:lnTo>
                  <a:cubicBezTo>
                    <a:pt x="195600" y="59862"/>
                    <a:pt x="160242" y="67255"/>
                    <a:pt x="126683" y="80010"/>
                  </a:cubicBezTo>
                  <a:lnTo>
                    <a:pt x="140970" y="114300"/>
                  </a:lnTo>
                  <a:cubicBezTo>
                    <a:pt x="128588" y="119063"/>
                    <a:pt x="117158" y="123825"/>
                    <a:pt x="105728" y="129540"/>
                  </a:cubicBezTo>
                  <a:lnTo>
                    <a:pt x="91440" y="94298"/>
                  </a:lnTo>
                  <a:cubicBezTo>
                    <a:pt x="73758" y="102970"/>
                    <a:pt x="56866" y="113169"/>
                    <a:pt x="40958" y="124778"/>
                  </a:cubicBezTo>
                  <a:lnTo>
                    <a:pt x="0" y="83820"/>
                  </a:lnTo>
                  <a:cubicBezTo>
                    <a:pt x="72140" y="29333"/>
                    <a:pt x="160103" y="-99"/>
                    <a:pt x="250508" y="0"/>
                  </a:cubicBezTo>
                  <a:cubicBezTo>
                    <a:pt x="481970" y="0"/>
                    <a:pt x="669608" y="187638"/>
                    <a:pt x="669608" y="419100"/>
                  </a:cubicBezTo>
                  <a:lnTo>
                    <a:pt x="669608" y="457200"/>
                  </a:lnTo>
                  <a:lnTo>
                    <a:pt x="612458" y="457200"/>
                  </a:lnTo>
                  <a:lnTo>
                    <a:pt x="612458" y="419100"/>
                  </a:lnTo>
                  <a:cubicBezTo>
                    <a:pt x="612333" y="380920"/>
                    <a:pt x="606226" y="342995"/>
                    <a:pt x="594360" y="306705"/>
                  </a:cubicBezTo>
                  <a:lnTo>
                    <a:pt x="559118" y="320993"/>
                  </a:lnTo>
                  <a:cubicBezTo>
                    <a:pt x="555308" y="308610"/>
                    <a:pt x="550545" y="297180"/>
                    <a:pt x="545783" y="285750"/>
                  </a:cubicBezTo>
                  <a:lnTo>
                    <a:pt x="581025" y="271463"/>
                  </a:lnTo>
                  <a:cubicBezTo>
                    <a:pt x="566634" y="239178"/>
                    <a:pt x="547358" y="209301"/>
                    <a:pt x="523875" y="182880"/>
                  </a:cubicBezTo>
                  <a:lnTo>
                    <a:pt x="497205" y="209550"/>
                  </a:lnTo>
                  <a:cubicBezTo>
                    <a:pt x="488806" y="199881"/>
                    <a:pt x="479903" y="190661"/>
                    <a:pt x="470535" y="181928"/>
                  </a:cubicBezTo>
                  <a:lnTo>
                    <a:pt x="497205" y="155258"/>
                  </a:lnTo>
                  <a:cubicBezTo>
                    <a:pt x="471014" y="130909"/>
                    <a:pt x="441512" y="110385"/>
                    <a:pt x="409575" y="94298"/>
                  </a:cubicBezTo>
                  <a:lnTo>
                    <a:pt x="395288" y="129540"/>
                  </a:lnTo>
                  <a:cubicBezTo>
                    <a:pt x="383858" y="123825"/>
                    <a:pt x="372428" y="119063"/>
                    <a:pt x="360045" y="114300"/>
                  </a:cubicBezTo>
                  <a:lnTo>
                    <a:pt x="374333" y="79058"/>
                  </a:lnTo>
                  <a:cubicBezTo>
                    <a:pt x="340724" y="66619"/>
                    <a:pt x="305366" y="59548"/>
                    <a:pt x="269558" y="58103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13AC896D-111A-0422-199F-DE924115B75E}"/>
                </a:ext>
              </a:extLst>
            </p:cNvPr>
            <p:cNvSpPr/>
            <p:nvPr/>
          </p:nvSpPr>
          <p:spPr>
            <a:xfrm>
              <a:off x="6134932" y="4088508"/>
              <a:ext cx="123826" cy="278130"/>
            </a:xfrm>
            <a:custGeom>
              <a:avLst/>
              <a:gdLst>
                <a:gd name="connsiteX0" fmla="*/ 75249 w 123826"/>
                <a:gd name="connsiteY0" fmla="*/ 0 h 278130"/>
                <a:gd name="connsiteX1" fmla="*/ 116206 w 123826"/>
                <a:gd name="connsiteY1" fmla="*/ 40957 h 278130"/>
                <a:gd name="connsiteX2" fmla="*/ 88584 w 123826"/>
                <a:gd name="connsiteY2" fmla="*/ 91440 h 278130"/>
                <a:gd name="connsiteX3" fmla="*/ 123826 w 123826"/>
                <a:gd name="connsiteY3" fmla="*/ 106680 h 278130"/>
                <a:gd name="connsiteX4" fmla="*/ 110491 w 123826"/>
                <a:gd name="connsiteY4" fmla="*/ 141923 h 278130"/>
                <a:gd name="connsiteX5" fmla="*/ 75249 w 123826"/>
                <a:gd name="connsiteY5" fmla="*/ 127635 h 278130"/>
                <a:gd name="connsiteX6" fmla="*/ 57151 w 123826"/>
                <a:gd name="connsiteY6" fmla="*/ 240030 h 278130"/>
                <a:gd name="connsiteX7" fmla="*/ 57151 w 123826"/>
                <a:gd name="connsiteY7" fmla="*/ 278130 h 278130"/>
                <a:gd name="connsiteX8" fmla="*/ 1 w 123826"/>
                <a:gd name="connsiteY8" fmla="*/ 278130 h 278130"/>
                <a:gd name="connsiteX9" fmla="*/ 1 w 123826"/>
                <a:gd name="connsiteY9" fmla="*/ 240030 h 278130"/>
                <a:gd name="connsiteX10" fmla="*/ 75249 w 123826"/>
                <a:gd name="connsiteY10" fmla="*/ 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6" h="278130">
                  <a:moveTo>
                    <a:pt x="75249" y="0"/>
                  </a:moveTo>
                  <a:lnTo>
                    <a:pt x="116206" y="40957"/>
                  </a:lnTo>
                  <a:cubicBezTo>
                    <a:pt x="105712" y="57048"/>
                    <a:pt x="96477" y="73926"/>
                    <a:pt x="88584" y="91440"/>
                  </a:cubicBezTo>
                  <a:lnTo>
                    <a:pt x="123826" y="106680"/>
                  </a:lnTo>
                  <a:cubicBezTo>
                    <a:pt x="119064" y="118110"/>
                    <a:pt x="114301" y="130493"/>
                    <a:pt x="110491" y="141923"/>
                  </a:cubicBezTo>
                  <a:lnTo>
                    <a:pt x="75249" y="127635"/>
                  </a:lnTo>
                  <a:cubicBezTo>
                    <a:pt x="63382" y="163924"/>
                    <a:pt x="57276" y="201850"/>
                    <a:pt x="57151" y="240030"/>
                  </a:cubicBezTo>
                  <a:lnTo>
                    <a:pt x="57151" y="278130"/>
                  </a:lnTo>
                  <a:lnTo>
                    <a:pt x="1" y="278130"/>
                  </a:lnTo>
                  <a:lnTo>
                    <a:pt x="1" y="240030"/>
                  </a:lnTo>
                  <a:cubicBezTo>
                    <a:pt x="-193" y="154186"/>
                    <a:pt x="26083" y="70370"/>
                    <a:pt x="75249" y="0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Free-form: Shape 35">
              <a:extLst>
                <a:ext uri="{FF2B5EF4-FFF2-40B4-BE49-F238E27FC236}">
                  <a16:creationId xmlns:a16="http://schemas.microsoft.com/office/drawing/2014/main" id="{42376762-24C5-7EB7-CC4F-D6A680A9FA47}"/>
                </a:ext>
              </a:extLst>
            </p:cNvPr>
            <p:cNvSpPr/>
            <p:nvPr/>
          </p:nvSpPr>
          <p:spPr>
            <a:xfrm>
              <a:off x="6230183" y="4014214"/>
              <a:ext cx="364359" cy="365325"/>
            </a:xfrm>
            <a:custGeom>
              <a:avLst/>
              <a:gdLst>
                <a:gd name="connsiteX0" fmla="*/ 350520 w 364359"/>
                <a:gd name="connsiteY0" fmla="*/ 297180 h 365325"/>
                <a:gd name="connsiteX1" fmla="*/ 355283 w 364359"/>
                <a:gd name="connsiteY1" fmla="*/ 301942 h 365325"/>
                <a:gd name="connsiteX2" fmla="*/ 350665 w 364359"/>
                <a:gd name="connsiteY2" fmla="*/ 356247 h 365325"/>
                <a:gd name="connsiteX3" fmla="*/ 296359 w 364359"/>
                <a:gd name="connsiteY3" fmla="*/ 351630 h 365325"/>
                <a:gd name="connsiteX4" fmla="*/ 296228 w 364359"/>
                <a:gd name="connsiteY4" fmla="*/ 351473 h 365325"/>
                <a:gd name="connsiteX5" fmla="*/ 0 w 364359"/>
                <a:gd name="connsiteY5" fmla="*/ 0 h 36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359" h="365325">
                  <a:moveTo>
                    <a:pt x="350520" y="297180"/>
                  </a:moveTo>
                  <a:cubicBezTo>
                    <a:pt x="352425" y="298133"/>
                    <a:pt x="353378" y="300038"/>
                    <a:pt x="355283" y="301942"/>
                  </a:cubicBezTo>
                  <a:cubicBezTo>
                    <a:pt x="369003" y="318214"/>
                    <a:pt x="366935" y="342527"/>
                    <a:pt x="350665" y="356247"/>
                  </a:cubicBezTo>
                  <a:cubicBezTo>
                    <a:pt x="334393" y="369968"/>
                    <a:pt x="310080" y="367901"/>
                    <a:pt x="296359" y="351630"/>
                  </a:cubicBezTo>
                  <a:cubicBezTo>
                    <a:pt x="296315" y="351577"/>
                    <a:pt x="296271" y="351525"/>
                    <a:pt x="296228" y="35147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B41797-9B2B-0377-8B57-5B8DFFAE375F}"/>
              </a:ext>
            </a:extLst>
          </p:cNvPr>
          <p:cNvGrpSpPr>
            <a:grpSpLocks noChangeAspect="1"/>
          </p:cNvGrpSpPr>
          <p:nvPr/>
        </p:nvGrpSpPr>
        <p:grpSpPr>
          <a:xfrm>
            <a:off x="571498" y="2368984"/>
            <a:ext cx="695808" cy="390241"/>
            <a:chOff x="6134932" y="3909438"/>
            <a:chExt cx="838200" cy="470101"/>
          </a:xfrm>
          <a:gradFill>
            <a:gsLst>
              <a:gs pos="81000">
                <a:schemeClr val="accent4"/>
              </a:gs>
              <a:gs pos="100000">
                <a:schemeClr val="accent5"/>
              </a:gs>
              <a:gs pos="14000">
                <a:schemeClr val="accent1"/>
              </a:gs>
            </a:gsLst>
            <a:lin ang="8100000" scaled="1"/>
          </a:gradFill>
        </p:grpSpPr>
        <p:sp>
          <p:nvSpPr>
            <p:cNvPr id="38" name="Free-form: Shape 37">
              <a:extLst>
                <a:ext uri="{FF2B5EF4-FFF2-40B4-BE49-F238E27FC236}">
                  <a16:creationId xmlns:a16="http://schemas.microsoft.com/office/drawing/2014/main" id="{34FD79E7-4F72-7CAB-B12C-CA1FFD42A123}"/>
                </a:ext>
              </a:extLst>
            </p:cNvPr>
            <p:cNvSpPr/>
            <p:nvPr/>
          </p:nvSpPr>
          <p:spPr>
            <a:xfrm>
              <a:off x="6303525" y="3909438"/>
              <a:ext cx="669607" cy="457200"/>
            </a:xfrm>
            <a:custGeom>
              <a:avLst/>
              <a:gdLst>
                <a:gd name="connsiteX0" fmla="*/ 269558 w 669607"/>
                <a:gd name="connsiteY0" fmla="*/ 58103 h 457200"/>
                <a:gd name="connsiteX1" fmla="*/ 269558 w 669607"/>
                <a:gd name="connsiteY1" fmla="*/ 96203 h 457200"/>
                <a:gd name="connsiteX2" fmla="*/ 250508 w 669607"/>
                <a:gd name="connsiteY2" fmla="*/ 95250 h 457200"/>
                <a:gd name="connsiteX3" fmla="*/ 231458 w 669607"/>
                <a:gd name="connsiteY3" fmla="*/ 96203 h 457200"/>
                <a:gd name="connsiteX4" fmla="*/ 231458 w 669607"/>
                <a:gd name="connsiteY4" fmla="*/ 58103 h 457200"/>
                <a:gd name="connsiteX5" fmla="*/ 126683 w 669607"/>
                <a:gd name="connsiteY5" fmla="*/ 80010 h 457200"/>
                <a:gd name="connsiteX6" fmla="*/ 140970 w 669607"/>
                <a:gd name="connsiteY6" fmla="*/ 114300 h 457200"/>
                <a:gd name="connsiteX7" fmla="*/ 105728 w 669607"/>
                <a:gd name="connsiteY7" fmla="*/ 129540 h 457200"/>
                <a:gd name="connsiteX8" fmla="*/ 91440 w 669607"/>
                <a:gd name="connsiteY8" fmla="*/ 94298 h 457200"/>
                <a:gd name="connsiteX9" fmla="*/ 40958 w 669607"/>
                <a:gd name="connsiteY9" fmla="*/ 124778 h 457200"/>
                <a:gd name="connsiteX10" fmla="*/ 0 w 669607"/>
                <a:gd name="connsiteY10" fmla="*/ 83820 h 457200"/>
                <a:gd name="connsiteX11" fmla="*/ 250508 w 669607"/>
                <a:gd name="connsiteY11" fmla="*/ 0 h 457200"/>
                <a:gd name="connsiteX12" fmla="*/ 669608 w 669607"/>
                <a:gd name="connsiteY12" fmla="*/ 419100 h 457200"/>
                <a:gd name="connsiteX13" fmla="*/ 669608 w 669607"/>
                <a:gd name="connsiteY13" fmla="*/ 457200 h 457200"/>
                <a:gd name="connsiteX14" fmla="*/ 612458 w 669607"/>
                <a:gd name="connsiteY14" fmla="*/ 457200 h 457200"/>
                <a:gd name="connsiteX15" fmla="*/ 612458 w 669607"/>
                <a:gd name="connsiteY15" fmla="*/ 419100 h 457200"/>
                <a:gd name="connsiteX16" fmla="*/ 594360 w 669607"/>
                <a:gd name="connsiteY16" fmla="*/ 306705 h 457200"/>
                <a:gd name="connsiteX17" fmla="*/ 559118 w 669607"/>
                <a:gd name="connsiteY17" fmla="*/ 320993 h 457200"/>
                <a:gd name="connsiteX18" fmla="*/ 545783 w 669607"/>
                <a:gd name="connsiteY18" fmla="*/ 285750 h 457200"/>
                <a:gd name="connsiteX19" fmla="*/ 581025 w 669607"/>
                <a:gd name="connsiteY19" fmla="*/ 271463 h 457200"/>
                <a:gd name="connsiteX20" fmla="*/ 523875 w 669607"/>
                <a:gd name="connsiteY20" fmla="*/ 182880 h 457200"/>
                <a:gd name="connsiteX21" fmla="*/ 497205 w 669607"/>
                <a:gd name="connsiteY21" fmla="*/ 209550 h 457200"/>
                <a:gd name="connsiteX22" fmla="*/ 470535 w 669607"/>
                <a:gd name="connsiteY22" fmla="*/ 181928 h 457200"/>
                <a:gd name="connsiteX23" fmla="*/ 497205 w 669607"/>
                <a:gd name="connsiteY23" fmla="*/ 155258 h 457200"/>
                <a:gd name="connsiteX24" fmla="*/ 409575 w 669607"/>
                <a:gd name="connsiteY24" fmla="*/ 94298 h 457200"/>
                <a:gd name="connsiteX25" fmla="*/ 395288 w 669607"/>
                <a:gd name="connsiteY25" fmla="*/ 129540 h 457200"/>
                <a:gd name="connsiteX26" fmla="*/ 360045 w 669607"/>
                <a:gd name="connsiteY26" fmla="*/ 114300 h 457200"/>
                <a:gd name="connsiteX27" fmla="*/ 374333 w 669607"/>
                <a:gd name="connsiteY27" fmla="*/ 79058 h 457200"/>
                <a:gd name="connsiteX28" fmla="*/ 269558 w 669607"/>
                <a:gd name="connsiteY28" fmla="*/ 5810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9607" h="457200">
                  <a:moveTo>
                    <a:pt x="269558" y="58103"/>
                  </a:moveTo>
                  <a:lnTo>
                    <a:pt x="269558" y="96203"/>
                  </a:lnTo>
                  <a:cubicBezTo>
                    <a:pt x="262890" y="96203"/>
                    <a:pt x="257175" y="95250"/>
                    <a:pt x="250508" y="95250"/>
                  </a:cubicBezTo>
                  <a:cubicBezTo>
                    <a:pt x="244143" y="95092"/>
                    <a:pt x="237775" y="95410"/>
                    <a:pt x="231458" y="96203"/>
                  </a:cubicBezTo>
                  <a:lnTo>
                    <a:pt x="231458" y="58103"/>
                  </a:lnTo>
                  <a:cubicBezTo>
                    <a:pt x="195600" y="59862"/>
                    <a:pt x="160242" y="67255"/>
                    <a:pt x="126683" y="80010"/>
                  </a:cubicBezTo>
                  <a:lnTo>
                    <a:pt x="140970" y="114300"/>
                  </a:lnTo>
                  <a:cubicBezTo>
                    <a:pt x="128588" y="119063"/>
                    <a:pt x="117158" y="123825"/>
                    <a:pt x="105728" y="129540"/>
                  </a:cubicBezTo>
                  <a:lnTo>
                    <a:pt x="91440" y="94298"/>
                  </a:lnTo>
                  <a:cubicBezTo>
                    <a:pt x="73758" y="102970"/>
                    <a:pt x="56866" y="113169"/>
                    <a:pt x="40958" y="124778"/>
                  </a:cubicBezTo>
                  <a:lnTo>
                    <a:pt x="0" y="83820"/>
                  </a:lnTo>
                  <a:cubicBezTo>
                    <a:pt x="72140" y="29333"/>
                    <a:pt x="160103" y="-99"/>
                    <a:pt x="250508" y="0"/>
                  </a:cubicBezTo>
                  <a:cubicBezTo>
                    <a:pt x="481970" y="0"/>
                    <a:pt x="669608" y="187638"/>
                    <a:pt x="669608" y="419100"/>
                  </a:cubicBezTo>
                  <a:lnTo>
                    <a:pt x="669608" y="457200"/>
                  </a:lnTo>
                  <a:lnTo>
                    <a:pt x="612458" y="457200"/>
                  </a:lnTo>
                  <a:lnTo>
                    <a:pt x="612458" y="419100"/>
                  </a:lnTo>
                  <a:cubicBezTo>
                    <a:pt x="612333" y="380920"/>
                    <a:pt x="606226" y="342995"/>
                    <a:pt x="594360" y="306705"/>
                  </a:cubicBezTo>
                  <a:lnTo>
                    <a:pt x="559118" y="320993"/>
                  </a:lnTo>
                  <a:cubicBezTo>
                    <a:pt x="555308" y="308610"/>
                    <a:pt x="550545" y="297180"/>
                    <a:pt x="545783" y="285750"/>
                  </a:cubicBezTo>
                  <a:lnTo>
                    <a:pt x="581025" y="271463"/>
                  </a:lnTo>
                  <a:cubicBezTo>
                    <a:pt x="566634" y="239178"/>
                    <a:pt x="547358" y="209301"/>
                    <a:pt x="523875" y="182880"/>
                  </a:cubicBezTo>
                  <a:lnTo>
                    <a:pt x="497205" y="209550"/>
                  </a:lnTo>
                  <a:cubicBezTo>
                    <a:pt x="488806" y="199881"/>
                    <a:pt x="479903" y="190661"/>
                    <a:pt x="470535" y="181928"/>
                  </a:cubicBezTo>
                  <a:lnTo>
                    <a:pt x="497205" y="155258"/>
                  </a:lnTo>
                  <a:cubicBezTo>
                    <a:pt x="471014" y="130909"/>
                    <a:pt x="441512" y="110385"/>
                    <a:pt x="409575" y="94298"/>
                  </a:cubicBezTo>
                  <a:lnTo>
                    <a:pt x="395288" y="129540"/>
                  </a:lnTo>
                  <a:cubicBezTo>
                    <a:pt x="383858" y="123825"/>
                    <a:pt x="372428" y="119063"/>
                    <a:pt x="360045" y="114300"/>
                  </a:cubicBezTo>
                  <a:lnTo>
                    <a:pt x="374333" y="79058"/>
                  </a:lnTo>
                  <a:cubicBezTo>
                    <a:pt x="340724" y="66619"/>
                    <a:pt x="305366" y="59548"/>
                    <a:pt x="269558" y="58103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Free-form: Shape 38">
              <a:extLst>
                <a:ext uri="{FF2B5EF4-FFF2-40B4-BE49-F238E27FC236}">
                  <a16:creationId xmlns:a16="http://schemas.microsoft.com/office/drawing/2014/main" id="{9476D5BB-A875-E238-9107-042930051457}"/>
                </a:ext>
              </a:extLst>
            </p:cNvPr>
            <p:cNvSpPr/>
            <p:nvPr/>
          </p:nvSpPr>
          <p:spPr>
            <a:xfrm>
              <a:off x="6134932" y="4088508"/>
              <a:ext cx="123826" cy="278130"/>
            </a:xfrm>
            <a:custGeom>
              <a:avLst/>
              <a:gdLst>
                <a:gd name="connsiteX0" fmla="*/ 75249 w 123826"/>
                <a:gd name="connsiteY0" fmla="*/ 0 h 278130"/>
                <a:gd name="connsiteX1" fmla="*/ 116206 w 123826"/>
                <a:gd name="connsiteY1" fmla="*/ 40957 h 278130"/>
                <a:gd name="connsiteX2" fmla="*/ 88584 w 123826"/>
                <a:gd name="connsiteY2" fmla="*/ 91440 h 278130"/>
                <a:gd name="connsiteX3" fmla="*/ 123826 w 123826"/>
                <a:gd name="connsiteY3" fmla="*/ 106680 h 278130"/>
                <a:gd name="connsiteX4" fmla="*/ 110491 w 123826"/>
                <a:gd name="connsiteY4" fmla="*/ 141923 h 278130"/>
                <a:gd name="connsiteX5" fmla="*/ 75249 w 123826"/>
                <a:gd name="connsiteY5" fmla="*/ 127635 h 278130"/>
                <a:gd name="connsiteX6" fmla="*/ 57151 w 123826"/>
                <a:gd name="connsiteY6" fmla="*/ 240030 h 278130"/>
                <a:gd name="connsiteX7" fmla="*/ 57151 w 123826"/>
                <a:gd name="connsiteY7" fmla="*/ 278130 h 278130"/>
                <a:gd name="connsiteX8" fmla="*/ 1 w 123826"/>
                <a:gd name="connsiteY8" fmla="*/ 278130 h 278130"/>
                <a:gd name="connsiteX9" fmla="*/ 1 w 123826"/>
                <a:gd name="connsiteY9" fmla="*/ 240030 h 278130"/>
                <a:gd name="connsiteX10" fmla="*/ 75249 w 123826"/>
                <a:gd name="connsiteY10" fmla="*/ 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6" h="278130">
                  <a:moveTo>
                    <a:pt x="75249" y="0"/>
                  </a:moveTo>
                  <a:lnTo>
                    <a:pt x="116206" y="40957"/>
                  </a:lnTo>
                  <a:cubicBezTo>
                    <a:pt x="105712" y="57048"/>
                    <a:pt x="96477" y="73926"/>
                    <a:pt x="88584" y="91440"/>
                  </a:cubicBezTo>
                  <a:lnTo>
                    <a:pt x="123826" y="106680"/>
                  </a:lnTo>
                  <a:cubicBezTo>
                    <a:pt x="119064" y="118110"/>
                    <a:pt x="114301" y="130493"/>
                    <a:pt x="110491" y="141923"/>
                  </a:cubicBezTo>
                  <a:lnTo>
                    <a:pt x="75249" y="127635"/>
                  </a:lnTo>
                  <a:cubicBezTo>
                    <a:pt x="63382" y="163924"/>
                    <a:pt x="57276" y="201850"/>
                    <a:pt x="57151" y="240030"/>
                  </a:cubicBezTo>
                  <a:lnTo>
                    <a:pt x="57151" y="278130"/>
                  </a:lnTo>
                  <a:lnTo>
                    <a:pt x="1" y="278130"/>
                  </a:lnTo>
                  <a:lnTo>
                    <a:pt x="1" y="240030"/>
                  </a:lnTo>
                  <a:cubicBezTo>
                    <a:pt x="-193" y="154186"/>
                    <a:pt x="26083" y="70370"/>
                    <a:pt x="75249" y="0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0" name="Free-form: Shape 39">
              <a:extLst>
                <a:ext uri="{FF2B5EF4-FFF2-40B4-BE49-F238E27FC236}">
                  <a16:creationId xmlns:a16="http://schemas.microsoft.com/office/drawing/2014/main" id="{BFBC7C19-5EFE-131A-79C5-56B63503BF95}"/>
                </a:ext>
              </a:extLst>
            </p:cNvPr>
            <p:cNvSpPr/>
            <p:nvPr/>
          </p:nvSpPr>
          <p:spPr>
            <a:xfrm>
              <a:off x="6230183" y="4014214"/>
              <a:ext cx="364359" cy="365325"/>
            </a:xfrm>
            <a:custGeom>
              <a:avLst/>
              <a:gdLst>
                <a:gd name="connsiteX0" fmla="*/ 350520 w 364359"/>
                <a:gd name="connsiteY0" fmla="*/ 297180 h 365325"/>
                <a:gd name="connsiteX1" fmla="*/ 355283 w 364359"/>
                <a:gd name="connsiteY1" fmla="*/ 301942 h 365325"/>
                <a:gd name="connsiteX2" fmla="*/ 350665 w 364359"/>
                <a:gd name="connsiteY2" fmla="*/ 356247 h 365325"/>
                <a:gd name="connsiteX3" fmla="*/ 296359 w 364359"/>
                <a:gd name="connsiteY3" fmla="*/ 351630 h 365325"/>
                <a:gd name="connsiteX4" fmla="*/ 296228 w 364359"/>
                <a:gd name="connsiteY4" fmla="*/ 351473 h 365325"/>
                <a:gd name="connsiteX5" fmla="*/ 0 w 364359"/>
                <a:gd name="connsiteY5" fmla="*/ 0 h 36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359" h="365325">
                  <a:moveTo>
                    <a:pt x="350520" y="297180"/>
                  </a:moveTo>
                  <a:cubicBezTo>
                    <a:pt x="352425" y="298133"/>
                    <a:pt x="353378" y="300038"/>
                    <a:pt x="355283" y="301942"/>
                  </a:cubicBezTo>
                  <a:cubicBezTo>
                    <a:pt x="369003" y="318214"/>
                    <a:pt x="366935" y="342527"/>
                    <a:pt x="350665" y="356247"/>
                  </a:cubicBezTo>
                  <a:cubicBezTo>
                    <a:pt x="334393" y="369968"/>
                    <a:pt x="310080" y="367901"/>
                    <a:pt x="296359" y="351630"/>
                  </a:cubicBezTo>
                  <a:cubicBezTo>
                    <a:pt x="296315" y="351577"/>
                    <a:pt x="296271" y="351525"/>
                    <a:pt x="296228" y="35147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" name="מלבן 2">
            <a:extLst>
              <a:ext uri="{FF2B5EF4-FFF2-40B4-BE49-F238E27FC236}">
                <a16:creationId xmlns:a16="http://schemas.microsoft.com/office/drawing/2014/main" id="{AF54DC75-8F2F-0B49-C4E0-24BAC1DED7C3}"/>
              </a:ext>
            </a:extLst>
          </p:cNvPr>
          <p:cNvSpPr/>
          <p:nvPr/>
        </p:nvSpPr>
        <p:spPr bwMode="gray">
          <a:xfrm>
            <a:off x="3040428" y="2570363"/>
            <a:ext cx="980486" cy="123994"/>
          </a:xfrm>
          <a:prstGeom prst="rect">
            <a:avLst/>
          </a:prstGeom>
          <a:noFill/>
          <a:ln w="19050" algn="ctr">
            <a:solidFill>
              <a:schemeClr val="accent4"/>
            </a:solidFill>
            <a:prstDash val="sysDot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LID4096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03233046-CB26-F0E1-213B-DA25E1AF0BD0}"/>
              </a:ext>
            </a:extLst>
          </p:cNvPr>
          <p:cNvSpPr/>
          <p:nvPr/>
        </p:nvSpPr>
        <p:spPr bwMode="gray">
          <a:xfrm>
            <a:off x="4192314" y="3469546"/>
            <a:ext cx="980486" cy="123994"/>
          </a:xfrm>
          <a:prstGeom prst="rect">
            <a:avLst/>
          </a:prstGeom>
          <a:noFill/>
          <a:ln w="19050" algn="ctr">
            <a:solidFill>
              <a:schemeClr val="accent4"/>
            </a:solidFill>
            <a:prstDash val="sysDot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LID4096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52F3B567-0D11-D7DB-6823-7945CBFDA2C2}"/>
              </a:ext>
            </a:extLst>
          </p:cNvPr>
          <p:cNvSpPr/>
          <p:nvPr/>
        </p:nvSpPr>
        <p:spPr bwMode="gray">
          <a:xfrm>
            <a:off x="6521324" y="3857559"/>
            <a:ext cx="980486" cy="123994"/>
          </a:xfrm>
          <a:prstGeom prst="rect">
            <a:avLst/>
          </a:prstGeom>
          <a:noFill/>
          <a:ln w="19050" algn="ctr">
            <a:solidFill>
              <a:schemeClr val="accent4"/>
            </a:solidFill>
            <a:prstDash val="sysDot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LID4096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605ABE37-5D54-A796-0906-236F12A83BE4}"/>
              </a:ext>
            </a:extLst>
          </p:cNvPr>
          <p:cNvSpPr/>
          <p:nvPr/>
        </p:nvSpPr>
        <p:spPr bwMode="gray">
          <a:xfrm>
            <a:off x="7773248" y="2972145"/>
            <a:ext cx="980486" cy="123994"/>
          </a:xfrm>
          <a:prstGeom prst="rect">
            <a:avLst/>
          </a:prstGeom>
          <a:noFill/>
          <a:ln w="19050" algn="ctr">
            <a:solidFill>
              <a:schemeClr val="accent4"/>
            </a:solidFill>
            <a:prstDash val="sysDot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LID4096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2102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BF9296D3-4792-864C-C552-C8E9E739822E}"/>
              </a:ext>
            </a:extLst>
          </p:cNvPr>
          <p:cNvGrpSpPr/>
          <p:nvPr/>
        </p:nvGrpSpPr>
        <p:grpSpPr>
          <a:xfrm>
            <a:off x="2625597" y="1169517"/>
            <a:ext cx="6419088" cy="5178391"/>
            <a:chOff x="2686812" y="1155749"/>
            <a:chExt cx="6419088" cy="5178391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B651AAD-CA2A-E070-C357-AA2219448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6812" y="1155749"/>
              <a:ext cx="6419088" cy="517839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C5E9F49-73D3-EC1B-D14B-889972D36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29855" y="1409700"/>
              <a:ext cx="6130196" cy="3324225"/>
            </a:xfrm>
            <a:prstGeom prst="rect">
              <a:avLst/>
            </a:prstGeom>
          </p:spPr>
        </p:pic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7A3B842E-8B18-A52D-1306-410268E572D6}"/>
              </a:ext>
            </a:extLst>
          </p:cNvPr>
          <p:cNvSpPr txBox="1">
            <a:spLocks/>
          </p:cNvSpPr>
          <p:nvPr/>
        </p:nvSpPr>
        <p:spPr>
          <a:xfrm flipH="1">
            <a:off x="635079" y="330691"/>
            <a:ext cx="11179628" cy="692150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he-IL" sz="24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C66E4F-884C-EDC5-170C-0D3104F02675}"/>
              </a:ext>
            </a:extLst>
          </p:cNvPr>
          <p:cNvSpPr/>
          <p:nvPr/>
        </p:nvSpPr>
        <p:spPr bwMode="gray">
          <a:xfrm>
            <a:off x="2825545" y="2511630"/>
            <a:ext cx="236161" cy="24146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60C8785-1AD9-73FC-296D-178168C335F5}"/>
              </a:ext>
            </a:extLst>
          </p:cNvPr>
          <p:cNvSpPr/>
          <p:nvPr/>
        </p:nvSpPr>
        <p:spPr bwMode="gray">
          <a:xfrm>
            <a:off x="4446396" y="3624214"/>
            <a:ext cx="236161" cy="24146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D7BCA5-6E55-B7F0-9D18-DBAB1EBF483D}"/>
              </a:ext>
            </a:extLst>
          </p:cNvPr>
          <p:cNvSpPr/>
          <p:nvPr/>
        </p:nvSpPr>
        <p:spPr bwMode="gray">
          <a:xfrm>
            <a:off x="8425076" y="2839317"/>
            <a:ext cx="236161" cy="24146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B271FD-F79C-0419-9B6D-87E8527E376B}"/>
              </a:ext>
            </a:extLst>
          </p:cNvPr>
          <p:cNvSpPr/>
          <p:nvPr/>
        </p:nvSpPr>
        <p:spPr bwMode="gray">
          <a:xfrm>
            <a:off x="6947326" y="4085817"/>
            <a:ext cx="236161" cy="24146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srgbClr val="00102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4F323-7CDE-992D-85B7-07B6D25838BB}"/>
              </a:ext>
            </a:extLst>
          </p:cNvPr>
          <p:cNvCxnSpPr>
            <a:cxnSpLocks/>
          </p:cNvCxnSpPr>
          <p:nvPr/>
        </p:nvCxnSpPr>
        <p:spPr>
          <a:xfrm>
            <a:off x="8543157" y="2991019"/>
            <a:ext cx="2059395" cy="0"/>
          </a:xfrm>
          <a:prstGeom prst="line">
            <a:avLst/>
          </a:prstGeom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4376E5-040F-3C51-B56B-B96CE5DE0A67}"/>
              </a:ext>
            </a:extLst>
          </p:cNvPr>
          <p:cNvCxnSpPr>
            <a:cxnSpLocks/>
          </p:cNvCxnSpPr>
          <p:nvPr/>
        </p:nvCxnSpPr>
        <p:spPr>
          <a:xfrm>
            <a:off x="7065407" y="4237517"/>
            <a:ext cx="3537145" cy="0"/>
          </a:xfrm>
          <a:prstGeom prst="line">
            <a:avLst/>
          </a:prstGeom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482B2B-309E-1CA9-ED37-22C7F707B444}"/>
              </a:ext>
            </a:extLst>
          </p:cNvPr>
          <p:cNvCxnSpPr>
            <a:cxnSpLocks/>
          </p:cNvCxnSpPr>
          <p:nvPr/>
        </p:nvCxnSpPr>
        <p:spPr>
          <a:xfrm flipH="1">
            <a:off x="1497821" y="3787134"/>
            <a:ext cx="3066656" cy="0"/>
          </a:xfrm>
          <a:prstGeom prst="line">
            <a:avLst/>
          </a:prstGeom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A532C4-DCA6-8CEF-E439-0CAD05FAE5ED}"/>
              </a:ext>
            </a:extLst>
          </p:cNvPr>
          <p:cNvCxnSpPr>
            <a:cxnSpLocks/>
          </p:cNvCxnSpPr>
          <p:nvPr/>
        </p:nvCxnSpPr>
        <p:spPr>
          <a:xfrm flipH="1">
            <a:off x="1548309" y="2646500"/>
            <a:ext cx="1395317" cy="0"/>
          </a:xfrm>
          <a:prstGeom prst="line">
            <a:avLst/>
          </a:prstGeom>
          <a:ln>
            <a:solidFill>
              <a:schemeClr val="accent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70406E-A987-F8C9-3120-CC930FA63BFB}"/>
              </a:ext>
            </a:extLst>
          </p:cNvPr>
          <p:cNvGrpSpPr>
            <a:grpSpLocks noChangeAspect="1"/>
          </p:cNvGrpSpPr>
          <p:nvPr/>
        </p:nvGrpSpPr>
        <p:grpSpPr>
          <a:xfrm>
            <a:off x="605126" y="3575361"/>
            <a:ext cx="695808" cy="390241"/>
            <a:chOff x="6134932" y="3909438"/>
            <a:chExt cx="838200" cy="470101"/>
          </a:xfrm>
          <a:solidFill>
            <a:srgbClr val="43B02A"/>
          </a:solidFill>
        </p:grpSpPr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89F6EC44-8282-36BA-8CFD-7B8855C36998}"/>
                </a:ext>
              </a:extLst>
            </p:cNvPr>
            <p:cNvSpPr/>
            <p:nvPr/>
          </p:nvSpPr>
          <p:spPr>
            <a:xfrm>
              <a:off x="6303525" y="3909438"/>
              <a:ext cx="669607" cy="457200"/>
            </a:xfrm>
            <a:custGeom>
              <a:avLst/>
              <a:gdLst>
                <a:gd name="connsiteX0" fmla="*/ 269558 w 669607"/>
                <a:gd name="connsiteY0" fmla="*/ 58103 h 457200"/>
                <a:gd name="connsiteX1" fmla="*/ 269558 w 669607"/>
                <a:gd name="connsiteY1" fmla="*/ 96203 h 457200"/>
                <a:gd name="connsiteX2" fmla="*/ 250508 w 669607"/>
                <a:gd name="connsiteY2" fmla="*/ 95250 h 457200"/>
                <a:gd name="connsiteX3" fmla="*/ 231458 w 669607"/>
                <a:gd name="connsiteY3" fmla="*/ 96203 h 457200"/>
                <a:gd name="connsiteX4" fmla="*/ 231458 w 669607"/>
                <a:gd name="connsiteY4" fmla="*/ 58103 h 457200"/>
                <a:gd name="connsiteX5" fmla="*/ 126683 w 669607"/>
                <a:gd name="connsiteY5" fmla="*/ 80010 h 457200"/>
                <a:gd name="connsiteX6" fmla="*/ 140970 w 669607"/>
                <a:gd name="connsiteY6" fmla="*/ 114300 h 457200"/>
                <a:gd name="connsiteX7" fmla="*/ 105728 w 669607"/>
                <a:gd name="connsiteY7" fmla="*/ 129540 h 457200"/>
                <a:gd name="connsiteX8" fmla="*/ 91440 w 669607"/>
                <a:gd name="connsiteY8" fmla="*/ 94298 h 457200"/>
                <a:gd name="connsiteX9" fmla="*/ 40958 w 669607"/>
                <a:gd name="connsiteY9" fmla="*/ 124778 h 457200"/>
                <a:gd name="connsiteX10" fmla="*/ 0 w 669607"/>
                <a:gd name="connsiteY10" fmla="*/ 83820 h 457200"/>
                <a:gd name="connsiteX11" fmla="*/ 250508 w 669607"/>
                <a:gd name="connsiteY11" fmla="*/ 0 h 457200"/>
                <a:gd name="connsiteX12" fmla="*/ 669608 w 669607"/>
                <a:gd name="connsiteY12" fmla="*/ 419100 h 457200"/>
                <a:gd name="connsiteX13" fmla="*/ 669608 w 669607"/>
                <a:gd name="connsiteY13" fmla="*/ 457200 h 457200"/>
                <a:gd name="connsiteX14" fmla="*/ 612458 w 669607"/>
                <a:gd name="connsiteY14" fmla="*/ 457200 h 457200"/>
                <a:gd name="connsiteX15" fmla="*/ 612458 w 669607"/>
                <a:gd name="connsiteY15" fmla="*/ 419100 h 457200"/>
                <a:gd name="connsiteX16" fmla="*/ 594360 w 669607"/>
                <a:gd name="connsiteY16" fmla="*/ 306705 h 457200"/>
                <a:gd name="connsiteX17" fmla="*/ 559118 w 669607"/>
                <a:gd name="connsiteY17" fmla="*/ 320993 h 457200"/>
                <a:gd name="connsiteX18" fmla="*/ 545783 w 669607"/>
                <a:gd name="connsiteY18" fmla="*/ 285750 h 457200"/>
                <a:gd name="connsiteX19" fmla="*/ 581025 w 669607"/>
                <a:gd name="connsiteY19" fmla="*/ 271463 h 457200"/>
                <a:gd name="connsiteX20" fmla="*/ 523875 w 669607"/>
                <a:gd name="connsiteY20" fmla="*/ 182880 h 457200"/>
                <a:gd name="connsiteX21" fmla="*/ 497205 w 669607"/>
                <a:gd name="connsiteY21" fmla="*/ 209550 h 457200"/>
                <a:gd name="connsiteX22" fmla="*/ 470535 w 669607"/>
                <a:gd name="connsiteY22" fmla="*/ 181928 h 457200"/>
                <a:gd name="connsiteX23" fmla="*/ 497205 w 669607"/>
                <a:gd name="connsiteY23" fmla="*/ 155258 h 457200"/>
                <a:gd name="connsiteX24" fmla="*/ 409575 w 669607"/>
                <a:gd name="connsiteY24" fmla="*/ 94298 h 457200"/>
                <a:gd name="connsiteX25" fmla="*/ 395288 w 669607"/>
                <a:gd name="connsiteY25" fmla="*/ 129540 h 457200"/>
                <a:gd name="connsiteX26" fmla="*/ 360045 w 669607"/>
                <a:gd name="connsiteY26" fmla="*/ 114300 h 457200"/>
                <a:gd name="connsiteX27" fmla="*/ 374333 w 669607"/>
                <a:gd name="connsiteY27" fmla="*/ 79058 h 457200"/>
                <a:gd name="connsiteX28" fmla="*/ 269558 w 669607"/>
                <a:gd name="connsiteY28" fmla="*/ 5810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9607" h="457200">
                  <a:moveTo>
                    <a:pt x="269558" y="58103"/>
                  </a:moveTo>
                  <a:lnTo>
                    <a:pt x="269558" y="96203"/>
                  </a:lnTo>
                  <a:cubicBezTo>
                    <a:pt x="262890" y="96203"/>
                    <a:pt x="257175" y="95250"/>
                    <a:pt x="250508" y="95250"/>
                  </a:cubicBezTo>
                  <a:cubicBezTo>
                    <a:pt x="244143" y="95092"/>
                    <a:pt x="237775" y="95410"/>
                    <a:pt x="231458" y="96203"/>
                  </a:cubicBezTo>
                  <a:lnTo>
                    <a:pt x="231458" y="58103"/>
                  </a:lnTo>
                  <a:cubicBezTo>
                    <a:pt x="195600" y="59862"/>
                    <a:pt x="160242" y="67255"/>
                    <a:pt x="126683" y="80010"/>
                  </a:cubicBezTo>
                  <a:lnTo>
                    <a:pt x="140970" y="114300"/>
                  </a:lnTo>
                  <a:cubicBezTo>
                    <a:pt x="128588" y="119063"/>
                    <a:pt x="117158" y="123825"/>
                    <a:pt x="105728" y="129540"/>
                  </a:cubicBezTo>
                  <a:lnTo>
                    <a:pt x="91440" y="94298"/>
                  </a:lnTo>
                  <a:cubicBezTo>
                    <a:pt x="73758" y="102970"/>
                    <a:pt x="56866" y="113169"/>
                    <a:pt x="40958" y="124778"/>
                  </a:cubicBezTo>
                  <a:lnTo>
                    <a:pt x="0" y="83820"/>
                  </a:lnTo>
                  <a:cubicBezTo>
                    <a:pt x="72140" y="29333"/>
                    <a:pt x="160103" y="-99"/>
                    <a:pt x="250508" y="0"/>
                  </a:cubicBezTo>
                  <a:cubicBezTo>
                    <a:pt x="481970" y="0"/>
                    <a:pt x="669608" y="187638"/>
                    <a:pt x="669608" y="419100"/>
                  </a:cubicBezTo>
                  <a:lnTo>
                    <a:pt x="669608" y="457200"/>
                  </a:lnTo>
                  <a:lnTo>
                    <a:pt x="612458" y="457200"/>
                  </a:lnTo>
                  <a:lnTo>
                    <a:pt x="612458" y="419100"/>
                  </a:lnTo>
                  <a:cubicBezTo>
                    <a:pt x="612333" y="380920"/>
                    <a:pt x="606226" y="342995"/>
                    <a:pt x="594360" y="306705"/>
                  </a:cubicBezTo>
                  <a:lnTo>
                    <a:pt x="559118" y="320993"/>
                  </a:lnTo>
                  <a:cubicBezTo>
                    <a:pt x="555308" y="308610"/>
                    <a:pt x="550545" y="297180"/>
                    <a:pt x="545783" y="285750"/>
                  </a:cubicBezTo>
                  <a:lnTo>
                    <a:pt x="581025" y="271463"/>
                  </a:lnTo>
                  <a:cubicBezTo>
                    <a:pt x="566634" y="239178"/>
                    <a:pt x="547358" y="209301"/>
                    <a:pt x="523875" y="182880"/>
                  </a:cubicBezTo>
                  <a:lnTo>
                    <a:pt x="497205" y="209550"/>
                  </a:lnTo>
                  <a:cubicBezTo>
                    <a:pt x="488806" y="199881"/>
                    <a:pt x="479903" y="190661"/>
                    <a:pt x="470535" y="181928"/>
                  </a:cubicBezTo>
                  <a:lnTo>
                    <a:pt x="497205" y="155258"/>
                  </a:lnTo>
                  <a:cubicBezTo>
                    <a:pt x="471014" y="130909"/>
                    <a:pt x="441512" y="110385"/>
                    <a:pt x="409575" y="94298"/>
                  </a:cubicBezTo>
                  <a:lnTo>
                    <a:pt x="395288" y="129540"/>
                  </a:lnTo>
                  <a:cubicBezTo>
                    <a:pt x="383858" y="123825"/>
                    <a:pt x="372428" y="119063"/>
                    <a:pt x="360045" y="114300"/>
                  </a:cubicBezTo>
                  <a:lnTo>
                    <a:pt x="374333" y="79058"/>
                  </a:lnTo>
                  <a:cubicBezTo>
                    <a:pt x="340724" y="66619"/>
                    <a:pt x="305366" y="59548"/>
                    <a:pt x="269558" y="58103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Free-form: Shape 26">
              <a:extLst>
                <a:ext uri="{FF2B5EF4-FFF2-40B4-BE49-F238E27FC236}">
                  <a16:creationId xmlns:a16="http://schemas.microsoft.com/office/drawing/2014/main" id="{1E6B3947-A9CC-8062-68C8-10DC42DF76CB}"/>
                </a:ext>
              </a:extLst>
            </p:cNvPr>
            <p:cNvSpPr/>
            <p:nvPr/>
          </p:nvSpPr>
          <p:spPr>
            <a:xfrm>
              <a:off x="6134932" y="4088508"/>
              <a:ext cx="123826" cy="278130"/>
            </a:xfrm>
            <a:custGeom>
              <a:avLst/>
              <a:gdLst>
                <a:gd name="connsiteX0" fmla="*/ 75249 w 123826"/>
                <a:gd name="connsiteY0" fmla="*/ 0 h 278130"/>
                <a:gd name="connsiteX1" fmla="*/ 116206 w 123826"/>
                <a:gd name="connsiteY1" fmla="*/ 40957 h 278130"/>
                <a:gd name="connsiteX2" fmla="*/ 88584 w 123826"/>
                <a:gd name="connsiteY2" fmla="*/ 91440 h 278130"/>
                <a:gd name="connsiteX3" fmla="*/ 123826 w 123826"/>
                <a:gd name="connsiteY3" fmla="*/ 106680 h 278130"/>
                <a:gd name="connsiteX4" fmla="*/ 110491 w 123826"/>
                <a:gd name="connsiteY4" fmla="*/ 141923 h 278130"/>
                <a:gd name="connsiteX5" fmla="*/ 75249 w 123826"/>
                <a:gd name="connsiteY5" fmla="*/ 127635 h 278130"/>
                <a:gd name="connsiteX6" fmla="*/ 57151 w 123826"/>
                <a:gd name="connsiteY6" fmla="*/ 240030 h 278130"/>
                <a:gd name="connsiteX7" fmla="*/ 57151 w 123826"/>
                <a:gd name="connsiteY7" fmla="*/ 278130 h 278130"/>
                <a:gd name="connsiteX8" fmla="*/ 1 w 123826"/>
                <a:gd name="connsiteY8" fmla="*/ 278130 h 278130"/>
                <a:gd name="connsiteX9" fmla="*/ 1 w 123826"/>
                <a:gd name="connsiteY9" fmla="*/ 240030 h 278130"/>
                <a:gd name="connsiteX10" fmla="*/ 75249 w 123826"/>
                <a:gd name="connsiteY10" fmla="*/ 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6" h="278130">
                  <a:moveTo>
                    <a:pt x="75249" y="0"/>
                  </a:moveTo>
                  <a:lnTo>
                    <a:pt x="116206" y="40957"/>
                  </a:lnTo>
                  <a:cubicBezTo>
                    <a:pt x="105712" y="57048"/>
                    <a:pt x="96477" y="73926"/>
                    <a:pt x="88584" y="91440"/>
                  </a:cubicBezTo>
                  <a:lnTo>
                    <a:pt x="123826" y="106680"/>
                  </a:lnTo>
                  <a:cubicBezTo>
                    <a:pt x="119064" y="118110"/>
                    <a:pt x="114301" y="130493"/>
                    <a:pt x="110491" y="141923"/>
                  </a:cubicBezTo>
                  <a:lnTo>
                    <a:pt x="75249" y="127635"/>
                  </a:lnTo>
                  <a:cubicBezTo>
                    <a:pt x="63382" y="163924"/>
                    <a:pt x="57276" y="201850"/>
                    <a:pt x="57151" y="240030"/>
                  </a:cubicBezTo>
                  <a:lnTo>
                    <a:pt x="57151" y="278130"/>
                  </a:lnTo>
                  <a:lnTo>
                    <a:pt x="1" y="278130"/>
                  </a:lnTo>
                  <a:lnTo>
                    <a:pt x="1" y="240030"/>
                  </a:lnTo>
                  <a:cubicBezTo>
                    <a:pt x="-193" y="154186"/>
                    <a:pt x="26083" y="70370"/>
                    <a:pt x="75249" y="0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EDE46E59-56D1-7925-A2F8-2723170846D0}"/>
                </a:ext>
              </a:extLst>
            </p:cNvPr>
            <p:cNvSpPr/>
            <p:nvPr/>
          </p:nvSpPr>
          <p:spPr>
            <a:xfrm>
              <a:off x="6230183" y="4014214"/>
              <a:ext cx="364359" cy="365325"/>
            </a:xfrm>
            <a:custGeom>
              <a:avLst/>
              <a:gdLst>
                <a:gd name="connsiteX0" fmla="*/ 350520 w 364359"/>
                <a:gd name="connsiteY0" fmla="*/ 297180 h 365325"/>
                <a:gd name="connsiteX1" fmla="*/ 355283 w 364359"/>
                <a:gd name="connsiteY1" fmla="*/ 301942 h 365325"/>
                <a:gd name="connsiteX2" fmla="*/ 350665 w 364359"/>
                <a:gd name="connsiteY2" fmla="*/ 356247 h 365325"/>
                <a:gd name="connsiteX3" fmla="*/ 296359 w 364359"/>
                <a:gd name="connsiteY3" fmla="*/ 351630 h 365325"/>
                <a:gd name="connsiteX4" fmla="*/ 296228 w 364359"/>
                <a:gd name="connsiteY4" fmla="*/ 351473 h 365325"/>
                <a:gd name="connsiteX5" fmla="*/ 0 w 364359"/>
                <a:gd name="connsiteY5" fmla="*/ 0 h 36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359" h="365325">
                  <a:moveTo>
                    <a:pt x="350520" y="297180"/>
                  </a:moveTo>
                  <a:cubicBezTo>
                    <a:pt x="352425" y="298133"/>
                    <a:pt x="353378" y="300038"/>
                    <a:pt x="355283" y="301942"/>
                  </a:cubicBezTo>
                  <a:cubicBezTo>
                    <a:pt x="369003" y="318214"/>
                    <a:pt x="366935" y="342527"/>
                    <a:pt x="350665" y="356247"/>
                  </a:cubicBezTo>
                  <a:cubicBezTo>
                    <a:pt x="334393" y="369968"/>
                    <a:pt x="310080" y="367901"/>
                    <a:pt x="296359" y="351630"/>
                  </a:cubicBezTo>
                  <a:cubicBezTo>
                    <a:pt x="296315" y="351577"/>
                    <a:pt x="296271" y="351525"/>
                    <a:pt x="296228" y="35147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494A58C-AB6C-1B0B-FEC3-2393BD4E9DEE}"/>
              </a:ext>
            </a:extLst>
          </p:cNvPr>
          <p:cNvGrpSpPr>
            <a:grpSpLocks noChangeAspect="1"/>
          </p:cNvGrpSpPr>
          <p:nvPr/>
        </p:nvGrpSpPr>
        <p:grpSpPr>
          <a:xfrm>
            <a:off x="10896168" y="2757314"/>
            <a:ext cx="695808" cy="390241"/>
            <a:chOff x="6134932" y="3909438"/>
            <a:chExt cx="838200" cy="470101"/>
          </a:xfrm>
          <a:gradFill>
            <a:gsLst>
              <a:gs pos="0">
                <a:srgbClr val="CB5439"/>
              </a:gs>
              <a:gs pos="100000">
                <a:srgbClr val="D82835"/>
              </a:gs>
            </a:gsLst>
            <a:lin ang="8100000" scaled="1"/>
          </a:gradFill>
        </p:grpSpPr>
        <p:sp>
          <p:nvSpPr>
            <p:cNvPr id="30" name="Free-form: Shape 29">
              <a:extLst>
                <a:ext uri="{FF2B5EF4-FFF2-40B4-BE49-F238E27FC236}">
                  <a16:creationId xmlns:a16="http://schemas.microsoft.com/office/drawing/2014/main" id="{3BFE7FB7-41B9-D1A0-1C84-B1028EBAD98B}"/>
                </a:ext>
              </a:extLst>
            </p:cNvPr>
            <p:cNvSpPr/>
            <p:nvPr/>
          </p:nvSpPr>
          <p:spPr>
            <a:xfrm>
              <a:off x="6303525" y="3909438"/>
              <a:ext cx="669607" cy="457200"/>
            </a:xfrm>
            <a:custGeom>
              <a:avLst/>
              <a:gdLst>
                <a:gd name="connsiteX0" fmla="*/ 269558 w 669607"/>
                <a:gd name="connsiteY0" fmla="*/ 58103 h 457200"/>
                <a:gd name="connsiteX1" fmla="*/ 269558 w 669607"/>
                <a:gd name="connsiteY1" fmla="*/ 96203 h 457200"/>
                <a:gd name="connsiteX2" fmla="*/ 250508 w 669607"/>
                <a:gd name="connsiteY2" fmla="*/ 95250 h 457200"/>
                <a:gd name="connsiteX3" fmla="*/ 231458 w 669607"/>
                <a:gd name="connsiteY3" fmla="*/ 96203 h 457200"/>
                <a:gd name="connsiteX4" fmla="*/ 231458 w 669607"/>
                <a:gd name="connsiteY4" fmla="*/ 58103 h 457200"/>
                <a:gd name="connsiteX5" fmla="*/ 126683 w 669607"/>
                <a:gd name="connsiteY5" fmla="*/ 80010 h 457200"/>
                <a:gd name="connsiteX6" fmla="*/ 140970 w 669607"/>
                <a:gd name="connsiteY6" fmla="*/ 114300 h 457200"/>
                <a:gd name="connsiteX7" fmla="*/ 105728 w 669607"/>
                <a:gd name="connsiteY7" fmla="*/ 129540 h 457200"/>
                <a:gd name="connsiteX8" fmla="*/ 91440 w 669607"/>
                <a:gd name="connsiteY8" fmla="*/ 94298 h 457200"/>
                <a:gd name="connsiteX9" fmla="*/ 40958 w 669607"/>
                <a:gd name="connsiteY9" fmla="*/ 124778 h 457200"/>
                <a:gd name="connsiteX10" fmla="*/ 0 w 669607"/>
                <a:gd name="connsiteY10" fmla="*/ 83820 h 457200"/>
                <a:gd name="connsiteX11" fmla="*/ 250508 w 669607"/>
                <a:gd name="connsiteY11" fmla="*/ 0 h 457200"/>
                <a:gd name="connsiteX12" fmla="*/ 669608 w 669607"/>
                <a:gd name="connsiteY12" fmla="*/ 419100 h 457200"/>
                <a:gd name="connsiteX13" fmla="*/ 669608 w 669607"/>
                <a:gd name="connsiteY13" fmla="*/ 457200 h 457200"/>
                <a:gd name="connsiteX14" fmla="*/ 612458 w 669607"/>
                <a:gd name="connsiteY14" fmla="*/ 457200 h 457200"/>
                <a:gd name="connsiteX15" fmla="*/ 612458 w 669607"/>
                <a:gd name="connsiteY15" fmla="*/ 419100 h 457200"/>
                <a:gd name="connsiteX16" fmla="*/ 594360 w 669607"/>
                <a:gd name="connsiteY16" fmla="*/ 306705 h 457200"/>
                <a:gd name="connsiteX17" fmla="*/ 559118 w 669607"/>
                <a:gd name="connsiteY17" fmla="*/ 320993 h 457200"/>
                <a:gd name="connsiteX18" fmla="*/ 545783 w 669607"/>
                <a:gd name="connsiteY18" fmla="*/ 285750 h 457200"/>
                <a:gd name="connsiteX19" fmla="*/ 581025 w 669607"/>
                <a:gd name="connsiteY19" fmla="*/ 271463 h 457200"/>
                <a:gd name="connsiteX20" fmla="*/ 523875 w 669607"/>
                <a:gd name="connsiteY20" fmla="*/ 182880 h 457200"/>
                <a:gd name="connsiteX21" fmla="*/ 497205 w 669607"/>
                <a:gd name="connsiteY21" fmla="*/ 209550 h 457200"/>
                <a:gd name="connsiteX22" fmla="*/ 470535 w 669607"/>
                <a:gd name="connsiteY22" fmla="*/ 181928 h 457200"/>
                <a:gd name="connsiteX23" fmla="*/ 497205 w 669607"/>
                <a:gd name="connsiteY23" fmla="*/ 155258 h 457200"/>
                <a:gd name="connsiteX24" fmla="*/ 409575 w 669607"/>
                <a:gd name="connsiteY24" fmla="*/ 94298 h 457200"/>
                <a:gd name="connsiteX25" fmla="*/ 395288 w 669607"/>
                <a:gd name="connsiteY25" fmla="*/ 129540 h 457200"/>
                <a:gd name="connsiteX26" fmla="*/ 360045 w 669607"/>
                <a:gd name="connsiteY26" fmla="*/ 114300 h 457200"/>
                <a:gd name="connsiteX27" fmla="*/ 374333 w 669607"/>
                <a:gd name="connsiteY27" fmla="*/ 79058 h 457200"/>
                <a:gd name="connsiteX28" fmla="*/ 269558 w 669607"/>
                <a:gd name="connsiteY28" fmla="*/ 5810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9607" h="457200">
                  <a:moveTo>
                    <a:pt x="269558" y="58103"/>
                  </a:moveTo>
                  <a:lnTo>
                    <a:pt x="269558" y="96203"/>
                  </a:lnTo>
                  <a:cubicBezTo>
                    <a:pt x="262890" y="96203"/>
                    <a:pt x="257175" y="95250"/>
                    <a:pt x="250508" y="95250"/>
                  </a:cubicBezTo>
                  <a:cubicBezTo>
                    <a:pt x="244143" y="95092"/>
                    <a:pt x="237775" y="95410"/>
                    <a:pt x="231458" y="96203"/>
                  </a:cubicBezTo>
                  <a:lnTo>
                    <a:pt x="231458" y="58103"/>
                  </a:lnTo>
                  <a:cubicBezTo>
                    <a:pt x="195600" y="59862"/>
                    <a:pt x="160242" y="67255"/>
                    <a:pt x="126683" y="80010"/>
                  </a:cubicBezTo>
                  <a:lnTo>
                    <a:pt x="140970" y="114300"/>
                  </a:lnTo>
                  <a:cubicBezTo>
                    <a:pt x="128588" y="119063"/>
                    <a:pt x="117158" y="123825"/>
                    <a:pt x="105728" y="129540"/>
                  </a:cubicBezTo>
                  <a:lnTo>
                    <a:pt x="91440" y="94298"/>
                  </a:lnTo>
                  <a:cubicBezTo>
                    <a:pt x="73758" y="102970"/>
                    <a:pt x="56866" y="113169"/>
                    <a:pt x="40958" y="124778"/>
                  </a:cubicBezTo>
                  <a:lnTo>
                    <a:pt x="0" y="83820"/>
                  </a:lnTo>
                  <a:cubicBezTo>
                    <a:pt x="72140" y="29333"/>
                    <a:pt x="160103" y="-99"/>
                    <a:pt x="250508" y="0"/>
                  </a:cubicBezTo>
                  <a:cubicBezTo>
                    <a:pt x="481970" y="0"/>
                    <a:pt x="669608" y="187638"/>
                    <a:pt x="669608" y="419100"/>
                  </a:cubicBezTo>
                  <a:lnTo>
                    <a:pt x="669608" y="457200"/>
                  </a:lnTo>
                  <a:lnTo>
                    <a:pt x="612458" y="457200"/>
                  </a:lnTo>
                  <a:lnTo>
                    <a:pt x="612458" y="419100"/>
                  </a:lnTo>
                  <a:cubicBezTo>
                    <a:pt x="612333" y="380920"/>
                    <a:pt x="606226" y="342995"/>
                    <a:pt x="594360" y="306705"/>
                  </a:cubicBezTo>
                  <a:lnTo>
                    <a:pt x="559118" y="320993"/>
                  </a:lnTo>
                  <a:cubicBezTo>
                    <a:pt x="555308" y="308610"/>
                    <a:pt x="550545" y="297180"/>
                    <a:pt x="545783" y="285750"/>
                  </a:cubicBezTo>
                  <a:lnTo>
                    <a:pt x="581025" y="271463"/>
                  </a:lnTo>
                  <a:cubicBezTo>
                    <a:pt x="566634" y="239178"/>
                    <a:pt x="547358" y="209301"/>
                    <a:pt x="523875" y="182880"/>
                  </a:cubicBezTo>
                  <a:lnTo>
                    <a:pt x="497205" y="209550"/>
                  </a:lnTo>
                  <a:cubicBezTo>
                    <a:pt x="488806" y="199881"/>
                    <a:pt x="479903" y="190661"/>
                    <a:pt x="470535" y="181928"/>
                  </a:cubicBezTo>
                  <a:lnTo>
                    <a:pt x="497205" y="155258"/>
                  </a:lnTo>
                  <a:cubicBezTo>
                    <a:pt x="471014" y="130909"/>
                    <a:pt x="441512" y="110385"/>
                    <a:pt x="409575" y="94298"/>
                  </a:cubicBezTo>
                  <a:lnTo>
                    <a:pt x="395288" y="129540"/>
                  </a:lnTo>
                  <a:cubicBezTo>
                    <a:pt x="383858" y="123825"/>
                    <a:pt x="372428" y="119063"/>
                    <a:pt x="360045" y="114300"/>
                  </a:cubicBezTo>
                  <a:lnTo>
                    <a:pt x="374333" y="79058"/>
                  </a:lnTo>
                  <a:cubicBezTo>
                    <a:pt x="340724" y="66619"/>
                    <a:pt x="305366" y="59548"/>
                    <a:pt x="269558" y="58103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FD415795-7597-C11F-5CDA-E1C8C7ED4556}"/>
                </a:ext>
              </a:extLst>
            </p:cNvPr>
            <p:cNvSpPr/>
            <p:nvPr/>
          </p:nvSpPr>
          <p:spPr>
            <a:xfrm>
              <a:off x="6134932" y="4088508"/>
              <a:ext cx="123826" cy="278130"/>
            </a:xfrm>
            <a:custGeom>
              <a:avLst/>
              <a:gdLst>
                <a:gd name="connsiteX0" fmla="*/ 75249 w 123826"/>
                <a:gd name="connsiteY0" fmla="*/ 0 h 278130"/>
                <a:gd name="connsiteX1" fmla="*/ 116206 w 123826"/>
                <a:gd name="connsiteY1" fmla="*/ 40957 h 278130"/>
                <a:gd name="connsiteX2" fmla="*/ 88584 w 123826"/>
                <a:gd name="connsiteY2" fmla="*/ 91440 h 278130"/>
                <a:gd name="connsiteX3" fmla="*/ 123826 w 123826"/>
                <a:gd name="connsiteY3" fmla="*/ 106680 h 278130"/>
                <a:gd name="connsiteX4" fmla="*/ 110491 w 123826"/>
                <a:gd name="connsiteY4" fmla="*/ 141923 h 278130"/>
                <a:gd name="connsiteX5" fmla="*/ 75249 w 123826"/>
                <a:gd name="connsiteY5" fmla="*/ 127635 h 278130"/>
                <a:gd name="connsiteX6" fmla="*/ 57151 w 123826"/>
                <a:gd name="connsiteY6" fmla="*/ 240030 h 278130"/>
                <a:gd name="connsiteX7" fmla="*/ 57151 w 123826"/>
                <a:gd name="connsiteY7" fmla="*/ 278130 h 278130"/>
                <a:gd name="connsiteX8" fmla="*/ 1 w 123826"/>
                <a:gd name="connsiteY8" fmla="*/ 278130 h 278130"/>
                <a:gd name="connsiteX9" fmla="*/ 1 w 123826"/>
                <a:gd name="connsiteY9" fmla="*/ 240030 h 278130"/>
                <a:gd name="connsiteX10" fmla="*/ 75249 w 123826"/>
                <a:gd name="connsiteY10" fmla="*/ 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6" h="278130">
                  <a:moveTo>
                    <a:pt x="75249" y="0"/>
                  </a:moveTo>
                  <a:lnTo>
                    <a:pt x="116206" y="40957"/>
                  </a:lnTo>
                  <a:cubicBezTo>
                    <a:pt x="105712" y="57048"/>
                    <a:pt x="96477" y="73926"/>
                    <a:pt x="88584" y="91440"/>
                  </a:cubicBezTo>
                  <a:lnTo>
                    <a:pt x="123826" y="106680"/>
                  </a:lnTo>
                  <a:cubicBezTo>
                    <a:pt x="119064" y="118110"/>
                    <a:pt x="114301" y="130493"/>
                    <a:pt x="110491" y="141923"/>
                  </a:cubicBezTo>
                  <a:lnTo>
                    <a:pt x="75249" y="127635"/>
                  </a:lnTo>
                  <a:cubicBezTo>
                    <a:pt x="63382" y="163924"/>
                    <a:pt x="57276" y="201850"/>
                    <a:pt x="57151" y="240030"/>
                  </a:cubicBezTo>
                  <a:lnTo>
                    <a:pt x="57151" y="278130"/>
                  </a:lnTo>
                  <a:lnTo>
                    <a:pt x="1" y="278130"/>
                  </a:lnTo>
                  <a:lnTo>
                    <a:pt x="1" y="240030"/>
                  </a:lnTo>
                  <a:cubicBezTo>
                    <a:pt x="-193" y="154186"/>
                    <a:pt x="26083" y="70370"/>
                    <a:pt x="75249" y="0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9A655C6C-E120-E0C4-CD6D-6151B4EB9B8B}"/>
                </a:ext>
              </a:extLst>
            </p:cNvPr>
            <p:cNvSpPr/>
            <p:nvPr/>
          </p:nvSpPr>
          <p:spPr>
            <a:xfrm>
              <a:off x="6230183" y="4014214"/>
              <a:ext cx="364359" cy="365325"/>
            </a:xfrm>
            <a:custGeom>
              <a:avLst/>
              <a:gdLst>
                <a:gd name="connsiteX0" fmla="*/ 350520 w 364359"/>
                <a:gd name="connsiteY0" fmla="*/ 297180 h 365325"/>
                <a:gd name="connsiteX1" fmla="*/ 355283 w 364359"/>
                <a:gd name="connsiteY1" fmla="*/ 301942 h 365325"/>
                <a:gd name="connsiteX2" fmla="*/ 350665 w 364359"/>
                <a:gd name="connsiteY2" fmla="*/ 356247 h 365325"/>
                <a:gd name="connsiteX3" fmla="*/ 296359 w 364359"/>
                <a:gd name="connsiteY3" fmla="*/ 351630 h 365325"/>
                <a:gd name="connsiteX4" fmla="*/ 296228 w 364359"/>
                <a:gd name="connsiteY4" fmla="*/ 351473 h 365325"/>
                <a:gd name="connsiteX5" fmla="*/ 0 w 364359"/>
                <a:gd name="connsiteY5" fmla="*/ 0 h 36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359" h="365325">
                  <a:moveTo>
                    <a:pt x="350520" y="297180"/>
                  </a:moveTo>
                  <a:cubicBezTo>
                    <a:pt x="352425" y="298133"/>
                    <a:pt x="353378" y="300038"/>
                    <a:pt x="355283" y="301942"/>
                  </a:cubicBezTo>
                  <a:cubicBezTo>
                    <a:pt x="369003" y="318214"/>
                    <a:pt x="366935" y="342527"/>
                    <a:pt x="350665" y="356247"/>
                  </a:cubicBezTo>
                  <a:cubicBezTo>
                    <a:pt x="334393" y="369968"/>
                    <a:pt x="310080" y="367901"/>
                    <a:pt x="296359" y="351630"/>
                  </a:cubicBezTo>
                  <a:cubicBezTo>
                    <a:pt x="296315" y="351577"/>
                    <a:pt x="296271" y="351525"/>
                    <a:pt x="296228" y="35147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4DB517-D983-723C-B50D-08D03FD8C049}"/>
              </a:ext>
            </a:extLst>
          </p:cNvPr>
          <p:cNvGrpSpPr>
            <a:grpSpLocks noChangeAspect="1"/>
          </p:cNvGrpSpPr>
          <p:nvPr/>
        </p:nvGrpSpPr>
        <p:grpSpPr>
          <a:xfrm>
            <a:off x="10896166" y="3965594"/>
            <a:ext cx="695810" cy="390245"/>
            <a:chOff x="6134932" y="3909433"/>
            <a:chExt cx="838203" cy="470106"/>
          </a:xfrm>
          <a:solidFill>
            <a:srgbClr val="FFCD00"/>
          </a:solidFill>
        </p:grpSpPr>
        <p:sp>
          <p:nvSpPr>
            <p:cNvPr id="34" name="Free-form: Shape 33">
              <a:extLst>
                <a:ext uri="{FF2B5EF4-FFF2-40B4-BE49-F238E27FC236}">
                  <a16:creationId xmlns:a16="http://schemas.microsoft.com/office/drawing/2014/main" id="{6D9132F3-31B4-46AF-0B86-24294A230F38}"/>
                </a:ext>
              </a:extLst>
            </p:cNvPr>
            <p:cNvSpPr/>
            <p:nvPr/>
          </p:nvSpPr>
          <p:spPr>
            <a:xfrm>
              <a:off x="6303528" y="3909433"/>
              <a:ext cx="669607" cy="457200"/>
            </a:xfrm>
            <a:custGeom>
              <a:avLst/>
              <a:gdLst>
                <a:gd name="connsiteX0" fmla="*/ 269558 w 669607"/>
                <a:gd name="connsiteY0" fmla="*/ 58103 h 457200"/>
                <a:gd name="connsiteX1" fmla="*/ 269558 w 669607"/>
                <a:gd name="connsiteY1" fmla="*/ 96203 h 457200"/>
                <a:gd name="connsiteX2" fmla="*/ 250508 w 669607"/>
                <a:gd name="connsiteY2" fmla="*/ 95250 h 457200"/>
                <a:gd name="connsiteX3" fmla="*/ 231458 w 669607"/>
                <a:gd name="connsiteY3" fmla="*/ 96203 h 457200"/>
                <a:gd name="connsiteX4" fmla="*/ 231458 w 669607"/>
                <a:gd name="connsiteY4" fmla="*/ 58103 h 457200"/>
                <a:gd name="connsiteX5" fmla="*/ 126683 w 669607"/>
                <a:gd name="connsiteY5" fmla="*/ 80010 h 457200"/>
                <a:gd name="connsiteX6" fmla="*/ 140970 w 669607"/>
                <a:gd name="connsiteY6" fmla="*/ 114300 h 457200"/>
                <a:gd name="connsiteX7" fmla="*/ 105728 w 669607"/>
                <a:gd name="connsiteY7" fmla="*/ 129540 h 457200"/>
                <a:gd name="connsiteX8" fmla="*/ 91440 w 669607"/>
                <a:gd name="connsiteY8" fmla="*/ 94298 h 457200"/>
                <a:gd name="connsiteX9" fmla="*/ 40958 w 669607"/>
                <a:gd name="connsiteY9" fmla="*/ 124778 h 457200"/>
                <a:gd name="connsiteX10" fmla="*/ 0 w 669607"/>
                <a:gd name="connsiteY10" fmla="*/ 83820 h 457200"/>
                <a:gd name="connsiteX11" fmla="*/ 250508 w 669607"/>
                <a:gd name="connsiteY11" fmla="*/ 0 h 457200"/>
                <a:gd name="connsiteX12" fmla="*/ 669608 w 669607"/>
                <a:gd name="connsiteY12" fmla="*/ 419100 h 457200"/>
                <a:gd name="connsiteX13" fmla="*/ 669608 w 669607"/>
                <a:gd name="connsiteY13" fmla="*/ 457200 h 457200"/>
                <a:gd name="connsiteX14" fmla="*/ 612458 w 669607"/>
                <a:gd name="connsiteY14" fmla="*/ 457200 h 457200"/>
                <a:gd name="connsiteX15" fmla="*/ 612458 w 669607"/>
                <a:gd name="connsiteY15" fmla="*/ 419100 h 457200"/>
                <a:gd name="connsiteX16" fmla="*/ 594360 w 669607"/>
                <a:gd name="connsiteY16" fmla="*/ 306705 h 457200"/>
                <a:gd name="connsiteX17" fmla="*/ 559118 w 669607"/>
                <a:gd name="connsiteY17" fmla="*/ 320993 h 457200"/>
                <a:gd name="connsiteX18" fmla="*/ 545783 w 669607"/>
                <a:gd name="connsiteY18" fmla="*/ 285750 h 457200"/>
                <a:gd name="connsiteX19" fmla="*/ 581025 w 669607"/>
                <a:gd name="connsiteY19" fmla="*/ 271463 h 457200"/>
                <a:gd name="connsiteX20" fmla="*/ 523875 w 669607"/>
                <a:gd name="connsiteY20" fmla="*/ 182880 h 457200"/>
                <a:gd name="connsiteX21" fmla="*/ 497205 w 669607"/>
                <a:gd name="connsiteY21" fmla="*/ 209550 h 457200"/>
                <a:gd name="connsiteX22" fmla="*/ 470535 w 669607"/>
                <a:gd name="connsiteY22" fmla="*/ 181928 h 457200"/>
                <a:gd name="connsiteX23" fmla="*/ 497205 w 669607"/>
                <a:gd name="connsiteY23" fmla="*/ 155258 h 457200"/>
                <a:gd name="connsiteX24" fmla="*/ 409575 w 669607"/>
                <a:gd name="connsiteY24" fmla="*/ 94298 h 457200"/>
                <a:gd name="connsiteX25" fmla="*/ 395288 w 669607"/>
                <a:gd name="connsiteY25" fmla="*/ 129540 h 457200"/>
                <a:gd name="connsiteX26" fmla="*/ 360045 w 669607"/>
                <a:gd name="connsiteY26" fmla="*/ 114300 h 457200"/>
                <a:gd name="connsiteX27" fmla="*/ 374333 w 669607"/>
                <a:gd name="connsiteY27" fmla="*/ 79058 h 457200"/>
                <a:gd name="connsiteX28" fmla="*/ 269558 w 669607"/>
                <a:gd name="connsiteY28" fmla="*/ 5810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9607" h="457200">
                  <a:moveTo>
                    <a:pt x="269558" y="58103"/>
                  </a:moveTo>
                  <a:lnTo>
                    <a:pt x="269558" y="96203"/>
                  </a:lnTo>
                  <a:cubicBezTo>
                    <a:pt x="262890" y="96203"/>
                    <a:pt x="257175" y="95250"/>
                    <a:pt x="250508" y="95250"/>
                  </a:cubicBezTo>
                  <a:cubicBezTo>
                    <a:pt x="244143" y="95092"/>
                    <a:pt x="237775" y="95410"/>
                    <a:pt x="231458" y="96203"/>
                  </a:cubicBezTo>
                  <a:lnTo>
                    <a:pt x="231458" y="58103"/>
                  </a:lnTo>
                  <a:cubicBezTo>
                    <a:pt x="195600" y="59862"/>
                    <a:pt x="160242" y="67255"/>
                    <a:pt x="126683" y="80010"/>
                  </a:cubicBezTo>
                  <a:lnTo>
                    <a:pt x="140970" y="114300"/>
                  </a:lnTo>
                  <a:cubicBezTo>
                    <a:pt x="128588" y="119063"/>
                    <a:pt x="117158" y="123825"/>
                    <a:pt x="105728" y="129540"/>
                  </a:cubicBezTo>
                  <a:lnTo>
                    <a:pt x="91440" y="94298"/>
                  </a:lnTo>
                  <a:cubicBezTo>
                    <a:pt x="73758" y="102970"/>
                    <a:pt x="56866" y="113169"/>
                    <a:pt x="40958" y="124778"/>
                  </a:cubicBezTo>
                  <a:lnTo>
                    <a:pt x="0" y="83820"/>
                  </a:lnTo>
                  <a:cubicBezTo>
                    <a:pt x="72140" y="29333"/>
                    <a:pt x="160103" y="-99"/>
                    <a:pt x="250508" y="0"/>
                  </a:cubicBezTo>
                  <a:cubicBezTo>
                    <a:pt x="481970" y="0"/>
                    <a:pt x="669608" y="187638"/>
                    <a:pt x="669608" y="419100"/>
                  </a:cubicBezTo>
                  <a:lnTo>
                    <a:pt x="669608" y="457200"/>
                  </a:lnTo>
                  <a:lnTo>
                    <a:pt x="612458" y="457200"/>
                  </a:lnTo>
                  <a:lnTo>
                    <a:pt x="612458" y="419100"/>
                  </a:lnTo>
                  <a:cubicBezTo>
                    <a:pt x="612333" y="380920"/>
                    <a:pt x="606226" y="342995"/>
                    <a:pt x="594360" y="306705"/>
                  </a:cubicBezTo>
                  <a:lnTo>
                    <a:pt x="559118" y="320993"/>
                  </a:lnTo>
                  <a:cubicBezTo>
                    <a:pt x="555308" y="308610"/>
                    <a:pt x="550545" y="297180"/>
                    <a:pt x="545783" y="285750"/>
                  </a:cubicBezTo>
                  <a:lnTo>
                    <a:pt x="581025" y="271463"/>
                  </a:lnTo>
                  <a:cubicBezTo>
                    <a:pt x="566634" y="239178"/>
                    <a:pt x="547358" y="209301"/>
                    <a:pt x="523875" y="182880"/>
                  </a:cubicBezTo>
                  <a:lnTo>
                    <a:pt x="497205" y="209550"/>
                  </a:lnTo>
                  <a:cubicBezTo>
                    <a:pt x="488806" y="199881"/>
                    <a:pt x="479903" y="190661"/>
                    <a:pt x="470535" y="181928"/>
                  </a:cubicBezTo>
                  <a:lnTo>
                    <a:pt x="497205" y="155258"/>
                  </a:lnTo>
                  <a:cubicBezTo>
                    <a:pt x="471014" y="130909"/>
                    <a:pt x="441512" y="110385"/>
                    <a:pt x="409575" y="94298"/>
                  </a:cubicBezTo>
                  <a:lnTo>
                    <a:pt x="395288" y="129540"/>
                  </a:lnTo>
                  <a:cubicBezTo>
                    <a:pt x="383858" y="123825"/>
                    <a:pt x="372428" y="119063"/>
                    <a:pt x="360045" y="114300"/>
                  </a:cubicBezTo>
                  <a:lnTo>
                    <a:pt x="374333" y="79058"/>
                  </a:lnTo>
                  <a:cubicBezTo>
                    <a:pt x="340724" y="66619"/>
                    <a:pt x="305366" y="59548"/>
                    <a:pt x="269558" y="58103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13AC896D-111A-0422-199F-DE924115B75E}"/>
                </a:ext>
              </a:extLst>
            </p:cNvPr>
            <p:cNvSpPr/>
            <p:nvPr/>
          </p:nvSpPr>
          <p:spPr>
            <a:xfrm>
              <a:off x="6134932" y="4088508"/>
              <a:ext cx="123826" cy="278130"/>
            </a:xfrm>
            <a:custGeom>
              <a:avLst/>
              <a:gdLst>
                <a:gd name="connsiteX0" fmla="*/ 75249 w 123826"/>
                <a:gd name="connsiteY0" fmla="*/ 0 h 278130"/>
                <a:gd name="connsiteX1" fmla="*/ 116206 w 123826"/>
                <a:gd name="connsiteY1" fmla="*/ 40957 h 278130"/>
                <a:gd name="connsiteX2" fmla="*/ 88584 w 123826"/>
                <a:gd name="connsiteY2" fmla="*/ 91440 h 278130"/>
                <a:gd name="connsiteX3" fmla="*/ 123826 w 123826"/>
                <a:gd name="connsiteY3" fmla="*/ 106680 h 278130"/>
                <a:gd name="connsiteX4" fmla="*/ 110491 w 123826"/>
                <a:gd name="connsiteY4" fmla="*/ 141923 h 278130"/>
                <a:gd name="connsiteX5" fmla="*/ 75249 w 123826"/>
                <a:gd name="connsiteY5" fmla="*/ 127635 h 278130"/>
                <a:gd name="connsiteX6" fmla="*/ 57151 w 123826"/>
                <a:gd name="connsiteY6" fmla="*/ 240030 h 278130"/>
                <a:gd name="connsiteX7" fmla="*/ 57151 w 123826"/>
                <a:gd name="connsiteY7" fmla="*/ 278130 h 278130"/>
                <a:gd name="connsiteX8" fmla="*/ 1 w 123826"/>
                <a:gd name="connsiteY8" fmla="*/ 278130 h 278130"/>
                <a:gd name="connsiteX9" fmla="*/ 1 w 123826"/>
                <a:gd name="connsiteY9" fmla="*/ 240030 h 278130"/>
                <a:gd name="connsiteX10" fmla="*/ 75249 w 123826"/>
                <a:gd name="connsiteY10" fmla="*/ 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6" h="278130">
                  <a:moveTo>
                    <a:pt x="75249" y="0"/>
                  </a:moveTo>
                  <a:lnTo>
                    <a:pt x="116206" y="40957"/>
                  </a:lnTo>
                  <a:cubicBezTo>
                    <a:pt x="105712" y="57048"/>
                    <a:pt x="96477" y="73926"/>
                    <a:pt x="88584" y="91440"/>
                  </a:cubicBezTo>
                  <a:lnTo>
                    <a:pt x="123826" y="106680"/>
                  </a:lnTo>
                  <a:cubicBezTo>
                    <a:pt x="119064" y="118110"/>
                    <a:pt x="114301" y="130493"/>
                    <a:pt x="110491" y="141923"/>
                  </a:cubicBezTo>
                  <a:lnTo>
                    <a:pt x="75249" y="127635"/>
                  </a:lnTo>
                  <a:cubicBezTo>
                    <a:pt x="63382" y="163924"/>
                    <a:pt x="57276" y="201850"/>
                    <a:pt x="57151" y="240030"/>
                  </a:cubicBezTo>
                  <a:lnTo>
                    <a:pt x="57151" y="278130"/>
                  </a:lnTo>
                  <a:lnTo>
                    <a:pt x="1" y="278130"/>
                  </a:lnTo>
                  <a:lnTo>
                    <a:pt x="1" y="240030"/>
                  </a:lnTo>
                  <a:cubicBezTo>
                    <a:pt x="-193" y="154186"/>
                    <a:pt x="26083" y="70370"/>
                    <a:pt x="75249" y="0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Free-form: Shape 35">
              <a:extLst>
                <a:ext uri="{FF2B5EF4-FFF2-40B4-BE49-F238E27FC236}">
                  <a16:creationId xmlns:a16="http://schemas.microsoft.com/office/drawing/2014/main" id="{42376762-24C5-7EB7-CC4F-D6A680A9FA47}"/>
                </a:ext>
              </a:extLst>
            </p:cNvPr>
            <p:cNvSpPr/>
            <p:nvPr/>
          </p:nvSpPr>
          <p:spPr>
            <a:xfrm>
              <a:off x="6230183" y="4014214"/>
              <a:ext cx="364359" cy="365325"/>
            </a:xfrm>
            <a:custGeom>
              <a:avLst/>
              <a:gdLst>
                <a:gd name="connsiteX0" fmla="*/ 350520 w 364359"/>
                <a:gd name="connsiteY0" fmla="*/ 297180 h 365325"/>
                <a:gd name="connsiteX1" fmla="*/ 355283 w 364359"/>
                <a:gd name="connsiteY1" fmla="*/ 301942 h 365325"/>
                <a:gd name="connsiteX2" fmla="*/ 350665 w 364359"/>
                <a:gd name="connsiteY2" fmla="*/ 356247 h 365325"/>
                <a:gd name="connsiteX3" fmla="*/ 296359 w 364359"/>
                <a:gd name="connsiteY3" fmla="*/ 351630 h 365325"/>
                <a:gd name="connsiteX4" fmla="*/ 296228 w 364359"/>
                <a:gd name="connsiteY4" fmla="*/ 351473 h 365325"/>
                <a:gd name="connsiteX5" fmla="*/ 0 w 364359"/>
                <a:gd name="connsiteY5" fmla="*/ 0 h 36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359" h="365325">
                  <a:moveTo>
                    <a:pt x="350520" y="297180"/>
                  </a:moveTo>
                  <a:cubicBezTo>
                    <a:pt x="352425" y="298133"/>
                    <a:pt x="353378" y="300038"/>
                    <a:pt x="355283" y="301942"/>
                  </a:cubicBezTo>
                  <a:cubicBezTo>
                    <a:pt x="369003" y="318214"/>
                    <a:pt x="366935" y="342527"/>
                    <a:pt x="350665" y="356247"/>
                  </a:cubicBezTo>
                  <a:cubicBezTo>
                    <a:pt x="334393" y="369968"/>
                    <a:pt x="310080" y="367901"/>
                    <a:pt x="296359" y="351630"/>
                  </a:cubicBezTo>
                  <a:cubicBezTo>
                    <a:pt x="296315" y="351577"/>
                    <a:pt x="296271" y="351525"/>
                    <a:pt x="296228" y="35147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B41797-9B2B-0377-8B57-5B8DFFAE375F}"/>
              </a:ext>
            </a:extLst>
          </p:cNvPr>
          <p:cNvGrpSpPr>
            <a:grpSpLocks noChangeAspect="1"/>
          </p:cNvGrpSpPr>
          <p:nvPr/>
        </p:nvGrpSpPr>
        <p:grpSpPr>
          <a:xfrm>
            <a:off x="571498" y="2368984"/>
            <a:ext cx="695808" cy="390241"/>
            <a:chOff x="6134932" y="3909438"/>
            <a:chExt cx="838200" cy="470101"/>
          </a:xfrm>
          <a:solidFill>
            <a:srgbClr val="C00000"/>
          </a:solidFill>
        </p:grpSpPr>
        <p:sp>
          <p:nvSpPr>
            <p:cNvPr id="38" name="Free-form: Shape 37">
              <a:extLst>
                <a:ext uri="{FF2B5EF4-FFF2-40B4-BE49-F238E27FC236}">
                  <a16:creationId xmlns:a16="http://schemas.microsoft.com/office/drawing/2014/main" id="{34FD79E7-4F72-7CAB-B12C-CA1FFD42A123}"/>
                </a:ext>
              </a:extLst>
            </p:cNvPr>
            <p:cNvSpPr/>
            <p:nvPr/>
          </p:nvSpPr>
          <p:spPr>
            <a:xfrm>
              <a:off x="6303525" y="3909438"/>
              <a:ext cx="669607" cy="457200"/>
            </a:xfrm>
            <a:custGeom>
              <a:avLst/>
              <a:gdLst>
                <a:gd name="connsiteX0" fmla="*/ 269558 w 669607"/>
                <a:gd name="connsiteY0" fmla="*/ 58103 h 457200"/>
                <a:gd name="connsiteX1" fmla="*/ 269558 w 669607"/>
                <a:gd name="connsiteY1" fmla="*/ 96203 h 457200"/>
                <a:gd name="connsiteX2" fmla="*/ 250508 w 669607"/>
                <a:gd name="connsiteY2" fmla="*/ 95250 h 457200"/>
                <a:gd name="connsiteX3" fmla="*/ 231458 w 669607"/>
                <a:gd name="connsiteY3" fmla="*/ 96203 h 457200"/>
                <a:gd name="connsiteX4" fmla="*/ 231458 w 669607"/>
                <a:gd name="connsiteY4" fmla="*/ 58103 h 457200"/>
                <a:gd name="connsiteX5" fmla="*/ 126683 w 669607"/>
                <a:gd name="connsiteY5" fmla="*/ 80010 h 457200"/>
                <a:gd name="connsiteX6" fmla="*/ 140970 w 669607"/>
                <a:gd name="connsiteY6" fmla="*/ 114300 h 457200"/>
                <a:gd name="connsiteX7" fmla="*/ 105728 w 669607"/>
                <a:gd name="connsiteY7" fmla="*/ 129540 h 457200"/>
                <a:gd name="connsiteX8" fmla="*/ 91440 w 669607"/>
                <a:gd name="connsiteY8" fmla="*/ 94298 h 457200"/>
                <a:gd name="connsiteX9" fmla="*/ 40958 w 669607"/>
                <a:gd name="connsiteY9" fmla="*/ 124778 h 457200"/>
                <a:gd name="connsiteX10" fmla="*/ 0 w 669607"/>
                <a:gd name="connsiteY10" fmla="*/ 83820 h 457200"/>
                <a:gd name="connsiteX11" fmla="*/ 250508 w 669607"/>
                <a:gd name="connsiteY11" fmla="*/ 0 h 457200"/>
                <a:gd name="connsiteX12" fmla="*/ 669608 w 669607"/>
                <a:gd name="connsiteY12" fmla="*/ 419100 h 457200"/>
                <a:gd name="connsiteX13" fmla="*/ 669608 w 669607"/>
                <a:gd name="connsiteY13" fmla="*/ 457200 h 457200"/>
                <a:gd name="connsiteX14" fmla="*/ 612458 w 669607"/>
                <a:gd name="connsiteY14" fmla="*/ 457200 h 457200"/>
                <a:gd name="connsiteX15" fmla="*/ 612458 w 669607"/>
                <a:gd name="connsiteY15" fmla="*/ 419100 h 457200"/>
                <a:gd name="connsiteX16" fmla="*/ 594360 w 669607"/>
                <a:gd name="connsiteY16" fmla="*/ 306705 h 457200"/>
                <a:gd name="connsiteX17" fmla="*/ 559118 w 669607"/>
                <a:gd name="connsiteY17" fmla="*/ 320993 h 457200"/>
                <a:gd name="connsiteX18" fmla="*/ 545783 w 669607"/>
                <a:gd name="connsiteY18" fmla="*/ 285750 h 457200"/>
                <a:gd name="connsiteX19" fmla="*/ 581025 w 669607"/>
                <a:gd name="connsiteY19" fmla="*/ 271463 h 457200"/>
                <a:gd name="connsiteX20" fmla="*/ 523875 w 669607"/>
                <a:gd name="connsiteY20" fmla="*/ 182880 h 457200"/>
                <a:gd name="connsiteX21" fmla="*/ 497205 w 669607"/>
                <a:gd name="connsiteY21" fmla="*/ 209550 h 457200"/>
                <a:gd name="connsiteX22" fmla="*/ 470535 w 669607"/>
                <a:gd name="connsiteY22" fmla="*/ 181928 h 457200"/>
                <a:gd name="connsiteX23" fmla="*/ 497205 w 669607"/>
                <a:gd name="connsiteY23" fmla="*/ 155258 h 457200"/>
                <a:gd name="connsiteX24" fmla="*/ 409575 w 669607"/>
                <a:gd name="connsiteY24" fmla="*/ 94298 h 457200"/>
                <a:gd name="connsiteX25" fmla="*/ 395288 w 669607"/>
                <a:gd name="connsiteY25" fmla="*/ 129540 h 457200"/>
                <a:gd name="connsiteX26" fmla="*/ 360045 w 669607"/>
                <a:gd name="connsiteY26" fmla="*/ 114300 h 457200"/>
                <a:gd name="connsiteX27" fmla="*/ 374333 w 669607"/>
                <a:gd name="connsiteY27" fmla="*/ 79058 h 457200"/>
                <a:gd name="connsiteX28" fmla="*/ 269558 w 669607"/>
                <a:gd name="connsiteY28" fmla="*/ 5810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9607" h="457200">
                  <a:moveTo>
                    <a:pt x="269558" y="58103"/>
                  </a:moveTo>
                  <a:lnTo>
                    <a:pt x="269558" y="96203"/>
                  </a:lnTo>
                  <a:cubicBezTo>
                    <a:pt x="262890" y="96203"/>
                    <a:pt x="257175" y="95250"/>
                    <a:pt x="250508" y="95250"/>
                  </a:cubicBezTo>
                  <a:cubicBezTo>
                    <a:pt x="244143" y="95092"/>
                    <a:pt x="237775" y="95410"/>
                    <a:pt x="231458" y="96203"/>
                  </a:cubicBezTo>
                  <a:lnTo>
                    <a:pt x="231458" y="58103"/>
                  </a:lnTo>
                  <a:cubicBezTo>
                    <a:pt x="195600" y="59862"/>
                    <a:pt x="160242" y="67255"/>
                    <a:pt x="126683" y="80010"/>
                  </a:cubicBezTo>
                  <a:lnTo>
                    <a:pt x="140970" y="114300"/>
                  </a:lnTo>
                  <a:cubicBezTo>
                    <a:pt x="128588" y="119063"/>
                    <a:pt x="117158" y="123825"/>
                    <a:pt x="105728" y="129540"/>
                  </a:cubicBezTo>
                  <a:lnTo>
                    <a:pt x="91440" y="94298"/>
                  </a:lnTo>
                  <a:cubicBezTo>
                    <a:pt x="73758" y="102970"/>
                    <a:pt x="56866" y="113169"/>
                    <a:pt x="40958" y="124778"/>
                  </a:cubicBezTo>
                  <a:lnTo>
                    <a:pt x="0" y="83820"/>
                  </a:lnTo>
                  <a:cubicBezTo>
                    <a:pt x="72140" y="29333"/>
                    <a:pt x="160103" y="-99"/>
                    <a:pt x="250508" y="0"/>
                  </a:cubicBezTo>
                  <a:cubicBezTo>
                    <a:pt x="481970" y="0"/>
                    <a:pt x="669608" y="187638"/>
                    <a:pt x="669608" y="419100"/>
                  </a:cubicBezTo>
                  <a:lnTo>
                    <a:pt x="669608" y="457200"/>
                  </a:lnTo>
                  <a:lnTo>
                    <a:pt x="612458" y="457200"/>
                  </a:lnTo>
                  <a:lnTo>
                    <a:pt x="612458" y="419100"/>
                  </a:lnTo>
                  <a:cubicBezTo>
                    <a:pt x="612333" y="380920"/>
                    <a:pt x="606226" y="342995"/>
                    <a:pt x="594360" y="306705"/>
                  </a:cubicBezTo>
                  <a:lnTo>
                    <a:pt x="559118" y="320993"/>
                  </a:lnTo>
                  <a:cubicBezTo>
                    <a:pt x="555308" y="308610"/>
                    <a:pt x="550545" y="297180"/>
                    <a:pt x="545783" y="285750"/>
                  </a:cubicBezTo>
                  <a:lnTo>
                    <a:pt x="581025" y="271463"/>
                  </a:lnTo>
                  <a:cubicBezTo>
                    <a:pt x="566634" y="239178"/>
                    <a:pt x="547358" y="209301"/>
                    <a:pt x="523875" y="182880"/>
                  </a:cubicBezTo>
                  <a:lnTo>
                    <a:pt x="497205" y="209550"/>
                  </a:lnTo>
                  <a:cubicBezTo>
                    <a:pt x="488806" y="199881"/>
                    <a:pt x="479903" y="190661"/>
                    <a:pt x="470535" y="181928"/>
                  </a:cubicBezTo>
                  <a:lnTo>
                    <a:pt x="497205" y="155258"/>
                  </a:lnTo>
                  <a:cubicBezTo>
                    <a:pt x="471014" y="130909"/>
                    <a:pt x="441512" y="110385"/>
                    <a:pt x="409575" y="94298"/>
                  </a:cubicBezTo>
                  <a:lnTo>
                    <a:pt x="395288" y="129540"/>
                  </a:lnTo>
                  <a:cubicBezTo>
                    <a:pt x="383858" y="123825"/>
                    <a:pt x="372428" y="119063"/>
                    <a:pt x="360045" y="114300"/>
                  </a:cubicBezTo>
                  <a:lnTo>
                    <a:pt x="374333" y="79058"/>
                  </a:lnTo>
                  <a:cubicBezTo>
                    <a:pt x="340724" y="66619"/>
                    <a:pt x="305366" y="59548"/>
                    <a:pt x="269558" y="58103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Free-form: Shape 38">
              <a:extLst>
                <a:ext uri="{FF2B5EF4-FFF2-40B4-BE49-F238E27FC236}">
                  <a16:creationId xmlns:a16="http://schemas.microsoft.com/office/drawing/2014/main" id="{9476D5BB-A875-E238-9107-042930051457}"/>
                </a:ext>
              </a:extLst>
            </p:cNvPr>
            <p:cNvSpPr/>
            <p:nvPr/>
          </p:nvSpPr>
          <p:spPr>
            <a:xfrm>
              <a:off x="6134932" y="4088508"/>
              <a:ext cx="123826" cy="278130"/>
            </a:xfrm>
            <a:custGeom>
              <a:avLst/>
              <a:gdLst>
                <a:gd name="connsiteX0" fmla="*/ 75249 w 123826"/>
                <a:gd name="connsiteY0" fmla="*/ 0 h 278130"/>
                <a:gd name="connsiteX1" fmla="*/ 116206 w 123826"/>
                <a:gd name="connsiteY1" fmla="*/ 40957 h 278130"/>
                <a:gd name="connsiteX2" fmla="*/ 88584 w 123826"/>
                <a:gd name="connsiteY2" fmla="*/ 91440 h 278130"/>
                <a:gd name="connsiteX3" fmla="*/ 123826 w 123826"/>
                <a:gd name="connsiteY3" fmla="*/ 106680 h 278130"/>
                <a:gd name="connsiteX4" fmla="*/ 110491 w 123826"/>
                <a:gd name="connsiteY4" fmla="*/ 141923 h 278130"/>
                <a:gd name="connsiteX5" fmla="*/ 75249 w 123826"/>
                <a:gd name="connsiteY5" fmla="*/ 127635 h 278130"/>
                <a:gd name="connsiteX6" fmla="*/ 57151 w 123826"/>
                <a:gd name="connsiteY6" fmla="*/ 240030 h 278130"/>
                <a:gd name="connsiteX7" fmla="*/ 57151 w 123826"/>
                <a:gd name="connsiteY7" fmla="*/ 278130 h 278130"/>
                <a:gd name="connsiteX8" fmla="*/ 1 w 123826"/>
                <a:gd name="connsiteY8" fmla="*/ 278130 h 278130"/>
                <a:gd name="connsiteX9" fmla="*/ 1 w 123826"/>
                <a:gd name="connsiteY9" fmla="*/ 240030 h 278130"/>
                <a:gd name="connsiteX10" fmla="*/ 75249 w 123826"/>
                <a:gd name="connsiteY10" fmla="*/ 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6" h="278130">
                  <a:moveTo>
                    <a:pt x="75249" y="0"/>
                  </a:moveTo>
                  <a:lnTo>
                    <a:pt x="116206" y="40957"/>
                  </a:lnTo>
                  <a:cubicBezTo>
                    <a:pt x="105712" y="57048"/>
                    <a:pt x="96477" y="73926"/>
                    <a:pt x="88584" y="91440"/>
                  </a:cubicBezTo>
                  <a:lnTo>
                    <a:pt x="123826" y="106680"/>
                  </a:lnTo>
                  <a:cubicBezTo>
                    <a:pt x="119064" y="118110"/>
                    <a:pt x="114301" y="130493"/>
                    <a:pt x="110491" y="141923"/>
                  </a:cubicBezTo>
                  <a:lnTo>
                    <a:pt x="75249" y="127635"/>
                  </a:lnTo>
                  <a:cubicBezTo>
                    <a:pt x="63382" y="163924"/>
                    <a:pt x="57276" y="201850"/>
                    <a:pt x="57151" y="240030"/>
                  </a:cubicBezTo>
                  <a:lnTo>
                    <a:pt x="57151" y="278130"/>
                  </a:lnTo>
                  <a:lnTo>
                    <a:pt x="1" y="278130"/>
                  </a:lnTo>
                  <a:lnTo>
                    <a:pt x="1" y="240030"/>
                  </a:lnTo>
                  <a:cubicBezTo>
                    <a:pt x="-193" y="154186"/>
                    <a:pt x="26083" y="70370"/>
                    <a:pt x="75249" y="0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0" name="Free-form: Shape 39">
              <a:extLst>
                <a:ext uri="{FF2B5EF4-FFF2-40B4-BE49-F238E27FC236}">
                  <a16:creationId xmlns:a16="http://schemas.microsoft.com/office/drawing/2014/main" id="{BFBC7C19-5EFE-131A-79C5-56B63503BF95}"/>
                </a:ext>
              </a:extLst>
            </p:cNvPr>
            <p:cNvSpPr/>
            <p:nvPr/>
          </p:nvSpPr>
          <p:spPr>
            <a:xfrm>
              <a:off x="6230183" y="4014214"/>
              <a:ext cx="364359" cy="365325"/>
            </a:xfrm>
            <a:custGeom>
              <a:avLst/>
              <a:gdLst>
                <a:gd name="connsiteX0" fmla="*/ 350520 w 364359"/>
                <a:gd name="connsiteY0" fmla="*/ 297180 h 365325"/>
                <a:gd name="connsiteX1" fmla="*/ 355283 w 364359"/>
                <a:gd name="connsiteY1" fmla="*/ 301942 h 365325"/>
                <a:gd name="connsiteX2" fmla="*/ 350665 w 364359"/>
                <a:gd name="connsiteY2" fmla="*/ 356247 h 365325"/>
                <a:gd name="connsiteX3" fmla="*/ 296359 w 364359"/>
                <a:gd name="connsiteY3" fmla="*/ 351630 h 365325"/>
                <a:gd name="connsiteX4" fmla="*/ 296228 w 364359"/>
                <a:gd name="connsiteY4" fmla="*/ 351473 h 365325"/>
                <a:gd name="connsiteX5" fmla="*/ 0 w 364359"/>
                <a:gd name="connsiteY5" fmla="*/ 0 h 36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359" h="365325">
                  <a:moveTo>
                    <a:pt x="350520" y="297180"/>
                  </a:moveTo>
                  <a:cubicBezTo>
                    <a:pt x="352425" y="298133"/>
                    <a:pt x="353378" y="300038"/>
                    <a:pt x="355283" y="301942"/>
                  </a:cubicBezTo>
                  <a:cubicBezTo>
                    <a:pt x="369003" y="318214"/>
                    <a:pt x="366935" y="342527"/>
                    <a:pt x="350665" y="356247"/>
                  </a:cubicBezTo>
                  <a:cubicBezTo>
                    <a:pt x="334393" y="369968"/>
                    <a:pt x="310080" y="367901"/>
                    <a:pt x="296359" y="351630"/>
                  </a:cubicBezTo>
                  <a:cubicBezTo>
                    <a:pt x="296315" y="351577"/>
                    <a:pt x="296271" y="351525"/>
                    <a:pt x="296228" y="35147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srgbClr val="00102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" name="מלבן 2">
            <a:extLst>
              <a:ext uri="{FF2B5EF4-FFF2-40B4-BE49-F238E27FC236}">
                <a16:creationId xmlns:a16="http://schemas.microsoft.com/office/drawing/2014/main" id="{AF54DC75-8F2F-0B49-C4E0-24BAC1DED7C3}"/>
              </a:ext>
            </a:extLst>
          </p:cNvPr>
          <p:cNvSpPr/>
          <p:nvPr/>
        </p:nvSpPr>
        <p:spPr bwMode="gray">
          <a:xfrm>
            <a:off x="3040428" y="2570363"/>
            <a:ext cx="980486" cy="123994"/>
          </a:xfrm>
          <a:prstGeom prst="rect">
            <a:avLst/>
          </a:prstGeom>
          <a:noFill/>
          <a:ln w="19050" algn="ctr">
            <a:solidFill>
              <a:schemeClr val="accent4"/>
            </a:solidFill>
            <a:prstDash val="sysDot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LID4096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03233046-CB26-F0E1-213B-DA25E1AF0BD0}"/>
              </a:ext>
            </a:extLst>
          </p:cNvPr>
          <p:cNvSpPr/>
          <p:nvPr/>
        </p:nvSpPr>
        <p:spPr bwMode="gray">
          <a:xfrm>
            <a:off x="4192314" y="3469546"/>
            <a:ext cx="980486" cy="123994"/>
          </a:xfrm>
          <a:prstGeom prst="rect">
            <a:avLst/>
          </a:prstGeom>
          <a:noFill/>
          <a:ln w="19050" algn="ctr">
            <a:solidFill>
              <a:schemeClr val="accent4"/>
            </a:solidFill>
            <a:prstDash val="sysDot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LID4096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52F3B567-0D11-D7DB-6823-7945CBFDA2C2}"/>
              </a:ext>
            </a:extLst>
          </p:cNvPr>
          <p:cNvSpPr/>
          <p:nvPr/>
        </p:nvSpPr>
        <p:spPr bwMode="gray">
          <a:xfrm>
            <a:off x="6521324" y="3857559"/>
            <a:ext cx="980486" cy="123994"/>
          </a:xfrm>
          <a:prstGeom prst="rect">
            <a:avLst/>
          </a:prstGeom>
          <a:noFill/>
          <a:ln w="19050" algn="ctr">
            <a:solidFill>
              <a:schemeClr val="accent4"/>
            </a:solidFill>
            <a:prstDash val="sysDot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LID4096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605ABE37-5D54-A796-0906-236F12A83BE4}"/>
              </a:ext>
            </a:extLst>
          </p:cNvPr>
          <p:cNvSpPr/>
          <p:nvPr/>
        </p:nvSpPr>
        <p:spPr bwMode="gray">
          <a:xfrm>
            <a:off x="7773248" y="2972145"/>
            <a:ext cx="980486" cy="123994"/>
          </a:xfrm>
          <a:prstGeom prst="rect">
            <a:avLst/>
          </a:prstGeom>
          <a:noFill/>
          <a:ln w="19050" algn="ctr">
            <a:solidFill>
              <a:schemeClr val="accent4"/>
            </a:solidFill>
            <a:prstDash val="sysDot"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LID4096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5235AC62-8989-CC41-22A7-3D861612D2DC}"/>
              </a:ext>
            </a:extLst>
          </p:cNvPr>
          <p:cNvSpPr txBox="1">
            <a:spLocks/>
          </p:cNvSpPr>
          <p:nvPr/>
        </p:nvSpPr>
        <p:spPr>
          <a:xfrm flipH="1">
            <a:off x="787025" y="283704"/>
            <a:ext cx="11179628" cy="692150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rPr>
              <a:t>הנגשת פרטי מידע שנאספים ע"י </a:t>
            </a:r>
            <a:r>
              <a:rPr kumimoji="0" lang="he-IL" sz="2800" b="0" i="0" u="none" strike="noStrike" kern="1200" cap="none" spc="-75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rPr>
              <a:t>המינהל</a:t>
            </a:r>
            <a:r>
              <a:rPr kumimoji="0" lang="he-IL" sz="2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Open Sans SemiBold" panose="020B0706030804020204" pitchFamily="34" charset="0"/>
                <a:cs typeface="Segoe UI" panose="020B0502040204020203" pitchFamily="34" charset="0"/>
              </a:rPr>
              <a:t>, באופן של מדדים עסקיים אינדוקטיביים, המאפשרים לאבחן את מצב הישות הנמדדת</a:t>
            </a:r>
          </a:p>
        </p:txBody>
      </p:sp>
    </p:spTree>
    <p:extLst>
      <p:ext uri="{BB962C8B-B14F-4D97-AF65-F5344CB8AC3E}">
        <p14:creationId xmlns:p14="http://schemas.microsoft.com/office/powerpoint/2010/main" val="17625305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83E2A1B2-8B41-460E-873D-AF30A573CBA8}"/>
              </a:ext>
            </a:extLst>
          </p:cNvPr>
          <p:cNvSpPr/>
          <p:nvPr/>
        </p:nvSpPr>
        <p:spPr>
          <a:xfrm>
            <a:off x="0" y="0"/>
            <a:ext cx="469392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250C32-98A7-4EAA-8F45-22B5C541C4E4}"/>
              </a:ext>
            </a:extLst>
          </p:cNvPr>
          <p:cNvSpPr/>
          <p:nvPr/>
        </p:nvSpPr>
        <p:spPr>
          <a:xfrm>
            <a:off x="5757966" y="823695"/>
            <a:ext cx="5960961" cy="890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Gap Analyzer</a:t>
            </a: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מערכת לניהול מדדים ופערים לאורך שלבי תאוריית השינוי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DD68A1-56D1-41CE-A894-501B0CB9164B}"/>
              </a:ext>
            </a:extLst>
          </p:cNvPr>
          <p:cNvGrpSpPr>
            <a:grpSpLocks noChangeAspect="1"/>
          </p:cNvGrpSpPr>
          <p:nvPr/>
        </p:nvGrpSpPr>
        <p:grpSpPr>
          <a:xfrm>
            <a:off x="3163882" y="5337955"/>
            <a:ext cx="378160" cy="619682"/>
            <a:chOff x="8146508" y="3656719"/>
            <a:chExt cx="482495" cy="790654"/>
          </a:xfrm>
          <a:gradFill>
            <a:gsLst>
              <a:gs pos="22000">
                <a:schemeClr val="accent1"/>
              </a:gs>
              <a:gs pos="75000">
                <a:schemeClr val="accent4"/>
              </a:gs>
              <a:gs pos="100000">
                <a:schemeClr val="accent5"/>
              </a:gs>
            </a:gsLst>
            <a:lin ang="8100000" scaled="0"/>
          </a:gradFill>
        </p:grpSpPr>
        <p:sp>
          <p:nvSpPr>
            <p:cNvPr id="4" name="Free-form: Shape 63">
              <a:extLst>
                <a:ext uri="{FF2B5EF4-FFF2-40B4-BE49-F238E27FC236}">
                  <a16:creationId xmlns:a16="http://schemas.microsoft.com/office/drawing/2014/main" id="{6A76DA1B-C632-4A53-82F4-DB9FFC6F967B}"/>
                </a:ext>
              </a:extLst>
            </p:cNvPr>
            <p:cNvSpPr/>
            <p:nvPr/>
          </p:nvSpPr>
          <p:spPr>
            <a:xfrm>
              <a:off x="8181331" y="3656719"/>
              <a:ext cx="257201" cy="235507"/>
            </a:xfrm>
            <a:custGeom>
              <a:avLst/>
              <a:gdLst>
                <a:gd name="connsiteX0" fmla="*/ 57147 w 257201"/>
                <a:gd name="connsiteY0" fmla="*/ 235508 h 235507"/>
                <a:gd name="connsiteX1" fmla="*/ 57147 w 257201"/>
                <a:gd name="connsiteY1" fmla="*/ 183997 h 235507"/>
                <a:gd name="connsiteX2" fmla="*/ 73030 w 257201"/>
                <a:gd name="connsiteY2" fmla="*/ 57018 h 235507"/>
                <a:gd name="connsiteX3" fmla="*/ 200010 w 257201"/>
                <a:gd name="connsiteY3" fmla="*/ 72901 h 235507"/>
                <a:gd name="connsiteX4" fmla="*/ 200479 w 257201"/>
                <a:gd name="connsiteY4" fmla="*/ 183387 h 235507"/>
                <a:gd name="connsiteX5" fmla="*/ 200479 w 257201"/>
                <a:gd name="connsiteY5" fmla="*/ 235222 h 235507"/>
                <a:gd name="connsiteX6" fmla="*/ 235222 w 257201"/>
                <a:gd name="connsiteY6" fmla="*/ 56722 h 235507"/>
                <a:gd name="connsiteX7" fmla="*/ 56721 w 257201"/>
                <a:gd name="connsiteY7" fmla="*/ 21979 h 235507"/>
                <a:gd name="connsiteX8" fmla="*/ 21979 w 257201"/>
                <a:gd name="connsiteY8" fmla="*/ 200480 h 235507"/>
                <a:gd name="connsiteX9" fmla="*/ 57147 w 257201"/>
                <a:gd name="connsiteY9" fmla="*/ 235508 h 23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7201" h="235507">
                  <a:moveTo>
                    <a:pt x="57147" y="235508"/>
                  </a:moveTo>
                  <a:lnTo>
                    <a:pt x="57147" y="183997"/>
                  </a:lnTo>
                  <a:cubicBezTo>
                    <a:pt x="26469" y="144546"/>
                    <a:pt x="33580" y="87696"/>
                    <a:pt x="73030" y="57018"/>
                  </a:cubicBezTo>
                  <a:cubicBezTo>
                    <a:pt x="112481" y="26339"/>
                    <a:pt x="169331" y="33450"/>
                    <a:pt x="200010" y="72901"/>
                  </a:cubicBezTo>
                  <a:cubicBezTo>
                    <a:pt x="225242" y="105348"/>
                    <a:pt x="225435" y="150726"/>
                    <a:pt x="200479" y="183387"/>
                  </a:cubicBezTo>
                  <a:lnTo>
                    <a:pt x="200479" y="235222"/>
                  </a:lnTo>
                  <a:cubicBezTo>
                    <a:pt x="259365" y="195525"/>
                    <a:pt x="274920" y="115607"/>
                    <a:pt x="235222" y="56722"/>
                  </a:cubicBezTo>
                  <a:cubicBezTo>
                    <a:pt x="195524" y="-2164"/>
                    <a:pt x="115607" y="-17719"/>
                    <a:pt x="56721" y="21979"/>
                  </a:cubicBezTo>
                  <a:cubicBezTo>
                    <a:pt x="-2164" y="61677"/>
                    <a:pt x="-17718" y="141594"/>
                    <a:pt x="21979" y="200480"/>
                  </a:cubicBezTo>
                  <a:cubicBezTo>
                    <a:pt x="31315" y="214329"/>
                    <a:pt x="43261" y="226227"/>
                    <a:pt x="57147" y="2355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Free-form: Shape 64">
              <a:extLst>
                <a:ext uri="{FF2B5EF4-FFF2-40B4-BE49-F238E27FC236}">
                  <a16:creationId xmlns:a16="http://schemas.microsoft.com/office/drawing/2014/main" id="{227A031A-FE87-41FB-8A16-649F073B6FCA}"/>
                </a:ext>
              </a:extLst>
            </p:cNvPr>
            <p:cNvSpPr/>
            <p:nvPr/>
          </p:nvSpPr>
          <p:spPr>
            <a:xfrm>
              <a:off x="8146508" y="3742523"/>
              <a:ext cx="482495" cy="704850"/>
            </a:xfrm>
            <a:custGeom>
              <a:avLst/>
              <a:gdLst>
                <a:gd name="connsiteX0" fmla="*/ 120545 w 482495"/>
                <a:gd name="connsiteY0" fmla="*/ 43091 h 704850"/>
                <a:gd name="connsiteX1" fmla="*/ 120545 w 482495"/>
                <a:gd name="connsiteY1" fmla="*/ 449723 h 704850"/>
                <a:gd name="connsiteX2" fmla="*/ 120440 w 482495"/>
                <a:gd name="connsiteY2" fmla="*/ 449723 h 704850"/>
                <a:gd name="connsiteX3" fmla="*/ 85045 w 482495"/>
                <a:gd name="connsiteY3" fmla="*/ 290513 h 704850"/>
                <a:gd name="connsiteX4" fmla="*/ 33232 w 482495"/>
                <a:gd name="connsiteY4" fmla="*/ 258433 h 704850"/>
                <a:gd name="connsiteX5" fmla="*/ 921 w 482495"/>
                <a:gd name="connsiteY5" fmla="*/ 309201 h 704850"/>
                <a:gd name="connsiteX6" fmla="*/ 52632 w 482495"/>
                <a:gd name="connsiteY6" fmla="*/ 541839 h 704850"/>
                <a:gd name="connsiteX7" fmla="*/ 68424 w 482495"/>
                <a:gd name="connsiteY7" fmla="*/ 566604 h 704850"/>
                <a:gd name="connsiteX8" fmla="*/ 163674 w 482495"/>
                <a:gd name="connsiteY8" fmla="*/ 639851 h 704850"/>
                <a:gd name="connsiteX9" fmla="*/ 163674 w 482495"/>
                <a:gd name="connsiteY9" fmla="*/ 704850 h 704850"/>
                <a:gd name="connsiteX10" fmla="*/ 413553 w 482495"/>
                <a:gd name="connsiteY10" fmla="*/ 704850 h 704850"/>
                <a:gd name="connsiteX11" fmla="*/ 413553 w 482495"/>
                <a:gd name="connsiteY11" fmla="*/ 661759 h 704850"/>
                <a:gd name="connsiteX12" fmla="*/ 482495 w 482495"/>
                <a:gd name="connsiteY12" fmla="*/ 480784 h 704850"/>
                <a:gd name="connsiteX13" fmla="*/ 482495 w 482495"/>
                <a:gd name="connsiteY13" fmla="*/ 325660 h 704850"/>
                <a:gd name="connsiteX14" fmla="*/ 430903 w 482495"/>
                <a:gd name="connsiteY14" fmla="*/ 273963 h 704850"/>
                <a:gd name="connsiteX15" fmla="*/ 396075 w 482495"/>
                <a:gd name="connsiteY15" fmla="*/ 287426 h 704850"/>
                <a:gd name="connsiteX16" fmla="*/ 396313 w 482495"/>
                <a:gd name="connsiteY16" fmla="*/ 282578 h 704850"/>
                <a:gd name="connsiteX17" fmla="*/ 344672 w 482495"/>
                <a:gd name="connsiteY17" fmla="*/ 230873 h 704850"/>
                <a:gd name="connsiteX18" fmla="*/ 308826 w 482495"/>
                <a:gd name="connsiteY18" fmla="*/ 245297 h 704850"/>
                <a:gd name="connsiteX19" fmla="*/ 247037 w 482495"/>
                <a:gd name="connsiteY19" fmla="*/ 206254 h 704850"/>
                <a:gd name="connsiteX20" fmla="*/ 206727 w 482495"/>
                <a:gd name="connsiteY20" fmla="*/ 256727 h 704850"/>
                <a:gd name="connsiteX21" fmla="*/ 206727 w 482495"/>
                <a:gd name="connsiteY21" fmla="*/ 43091 h 704850"/>
                <a:gd name="connsiteX22" fmla="*/ 163636 w 482495"/>
                <a:gd name="connsiteY22" fmla="*/ 0 h 704850"/>
                <a:gd name="connsiteX23" fmla="*/ 120545 w 482495"/>
                <a:gd name="connsiteY23" fmla="*/ 43091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2495" h="704850">
                  <a:moveTo>
                    <a:pt x="120545" y="43091"/>
                  </a:moveTo>
                  <a:lnTo>
                    <a:pt x="120545" y="449723"/>
                  </a:lnTo>
                  <a:lnTo>
                    <a:pt x="120440" y="449723"/>
                  </a:lnTo>
                  <a:lnTo>
                    <a:pt x="85045" y="290513"/>
                  </a:lnTo>
                  <a:cubicBezTo>
                    <a:pt x="79596" y="267346"/>
                    <a:pt x="56399" y="252984"/>
                    <a:pt x="33232" y="258433"/>
                  </a:cubicBezTo>
                  <a:cubicBezTo>
                    <a:pt x="10472" y="263786"/>
                    <a:pt x="-3866" y="286314"/>
                    <a:pt x="921" y="309201"/>
                  </a:cubicBezTo>
                  <a:lnTo>
                    <a:pt x="52632" y="541839"/>
                  </a:lnTo>
                  <a:cubicBezTo>
                    <a:pt x="54831" y="551690"/>
                    <a:pt x="60420" y="560455"/>
                    <a:pt x="68424" y="566604"/>
                  </a:cubicBezTo>
                  <a:lnTo>
                    <a:pt x="163674" y="639851"/>
                  </a:lnTo>
                  <a:lnTo>
                    <a:pt x="163674" y="704850"/>
                  </a:lnTo>
                  <a:lnTo>
                    <a:pt x="413553" y="704850"/>
                  </a:lnTo>
                  <a:lnTo>
                    <a:pt x="413553" y="661759"/>
                  </a:lnTo>
                  <a:cubicBezTo>
                    <a:pt x="413553" y="600713"/>
                    <a:pt x="482495" y="596036"/>
                    <a:pt x="482495" y="480784"/>
                  </a:cubicBezTo>
                  <a:lnTo>
                    <a:pt x="482495" y="325660"/>
                  </a:lnTo>
                  <a:cubicBezTo>
                    <a:pt x="482524" y="297137"/>
                    <a:pt x="459426" y="273991"/>
                    <a:pt x="430903" y="273963"/>
                  </a:cubicBezTo>
                  <a:cubicBezTo>
                    <a:pt x="418020" y="273950"/>
                    <a:pt x="405599" y="278752"/>
                    <a:pt x="396075" y="287426"/>
                  </a:cubicBezTo>
                  <a:cubicBezTo>
                    <a:pt x="396218" y="285826"/>
                    <a:pt x="396313" y="284216"/>
                    <a:pt x="396313" y="282578"/>
                  </a:cubicBezTo>
                  <a:cubicBezTo>
                    <a:pt x="396331" y="254040"/>
                    <a:pt x="373210" y="230891"/>
                    <a:pt x="344672" y="230873"/>
                  </a:cubicBezTo>
                  <a:cubicBezTo>
                    <a:pt x="331308" y="230865"/>
                    <a:pt x="318459" y="236034"/>
                    <a:pt x="308826" y="245297"/>
                  </a:cubicBezTo>
                  <a:cubicBezTo>
                    <a:pt x="302545" y="217454"/>
                    <a:pt x="274882" y="199974"/>
                    <a:pt x="247037" y="206254"/>
                  </a:cubicBezTo>
                  <a:cubicBezTo>
                    <a:pt x="223446" y="211576"/>
                    <a:pt x="206701" y="232544"/>
                    <a:pt x="206727" y="256727"/>
                  </a:cubicBezTo>
                  <a:lnTo>
                    <a:pt x="206727" y="43091"/>
                  </a:lnTo>
                  <a:cubicBezTo>
                    <a:pt x="206727" y="19293"/>
                    <a:pt x="187434" y="0"/>
                    <a:pt x="163636" y="0"/>
                  </a:cubicBezTo>
                  <a:cubicBezTo>
                    <a:pt x="139838" y="0"/>
                    <a:pt x="120545" y="19293"/>
                    <a:pt x="120545" y="430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1BEE509-E03E-4927-8C30-9F519458897B}"/>
              </a:ext>
            </a:extLst>
          </p:cNvPr>
          <p:cNvGrpSpPr>
            <a:grpSpLocks noChangeAspect="1"/>
          </p:cNvGrpSpPr>
          <p:nvPr/>
        </p:nvGrpSpPr>
        <p:grpSpPr>
          <a:xfrm>
            <a:off x="1313647" y="1965113"/>
            <a:ext cx="560536" cy="546885"/>
            <a:chOff x="3907929" y="3593728"/>
            <a:chExt cx="700436" cy="631082"/>
          </a:xfrm>
          <a:gradFill>
            <a:gsLst>
              <a:gs pos="22000">
                <a:schemeClr val="accent1"/>
              </a:gs>
              <a:gs pos="75000">
                <a:schemeClr val="accent4"/>
              </a:gs>
              <a:gs pos="100000">
                <a:schemeClr val="accent5"/>
              </a:gs>
            </a:gsLst>
            <a:lin ang="8100000" scaled="0"/>
          </a:gradFill>
        </p:grpSpPr>
        <p:sp>
          <p:nvSpPr>
            <p:cNvPr id="7" name="Free-form: Shape 53">
              <a:extLst>
                <a:ext uri="{FF2B5EF4-FFF2-40B4-BE49-F238E27FC236}">
                  <a16:creationId xmlns:a16="http://schemas.microsoft.com/office/drawing/2014/main" id="{77E8C6F2-5C29-4ED9-BBAD-C3854B60558F}"/>
                </a:ext>
              </a:extLst>
            </p:cNvPr>
            <p:cNvSpPr/>
            <p:nvPr/>
          </p:nvSpPr>
          <p:spPr>
            <a:xfrm>
              <a:off x="3907929" y="3593728"/>
              <a:ext cx="350251" cy="631082"/>
            </a:xfrm>
            <a:custGeom>
              <a:avLst/>
              <a:gdLst>
                <a:gd name="connsiteX0" fmla="*/ 300387 w 350251"/>
                <a:gd name="connsiteY0" fmla="*/ 521640 h 631082"/>
                <a:gd name="connsiteX1" fmla="*/ 319437 w 350251"/>
                <a:gd name="connsiteY1" fmla="*/ 489731 h 631082"/>
                <a:gd name="connsiteX2" fmla="*/ 319437 w 350251"/>
                <a:gd name="connsiteY2" fmla="*/ 486588 h 631082"/>
                <a:gd name="connsiteX3" fmla="*/ 290862 w 350251"/>
                <a:gd name="connsiteY3" fmla="*/ 450965 h 631082"/>
                <a:gd name="connsiteX4" fmla="*/ 290862 w 350251"/>
                <a:gd name="connsiteY4" fmla="*/ 412007 h 631082"/>
                <a:gd name="connsiteX5" fmla="*/ 305625 w 350251"/>
                <a:gd name="connsiteY5" fmla="*/ 313328 h 631082"/>
                <a:gd name="connsiteX6" fmla="*/ 219900 w 350251"/>
                <a:gd name="connsiteY6" fmla="*/ 238843 h 631082"/>
                <a:gd name="connsiteX7" fmla="*/ 200850 w 350251"/>
                <a:gd name="connsiteY7" fmla="*/ 216554 h 631082"/>
                <a:gd name="connsiteX8" fmla="*/ 231521 w 350251"/>
                <a:gd name="connsiteY8" fmla="*/ 222746 h 631082"/>
                <a:gd name="connsiteX9" fmla="*/ 267430 w 350251"/>
                <a:gd name="connsiteY9" fmla="*/ 237319 h 631082"/>
                <a:gd name="connsiteX10" fmla="*/ 314007 w 350251"/>
                <a:gd name="connsiteY10" fmla="*/ 235985 h 631082"/>
                <a:gd name="connsiteX11" fmla="*/ 348583 w 350251"/>
                <a:gd name="connsiteY11" fmla="*/ 166643 h 631082"/>
                <a:gd name="connsiteX12" fmla="*/ 275241 w 350251"/>
                <a:gd name="connsiteY12" fmla="*/ 103493 h 631082"/>
                <a:gd name="connsiteX13" fmla="*/ 272669 w 350251"/>
                <a:gd name="connsiteY13" fmla="*/ 85490 h 631082"/>
                <a:gd name="connsiteX14" fmla="*/ 212280 w 350251"/>
                <a:gd name="connsiteY14" fmla="*/ 41485 h 631082"/>
                <a:gd name="connsiteX15" fmla="*/ 208375 w 350251"/>
                <a:gd name="connsiteY15" fmla="*/ 3385 h 631082"/>
                <a:gd name="connsiteX16" fmla="*/ 30639 w 350251"/>
                <a:gd name="connsiteY16" fmla="*/ 96920 h 631082"/>
                <a:gd name="connsiteX17" fmla="*/ 27972 w 350251"/>
                <a:gd name="connsiteY17" fmla="*/ 315995 h 631082"/>
                <a:gd name="connsiteX18" fmla="*/ 61881 w 350251"/>
                <a:gd name="connsiteY18" fmla="*/ 401720 h 631082"/>
                <a:gd name="connsiteX19" fmla="*/ 61881 w 350251"/>
                <a:gd name="connsiteY19" fmla="*/ 450965 h 631082"/>
                <a:gd name="connsiteX20" fmla="*/ 33306 w 350251"/>
                <a:gd name="connsiteY20" fmla="*/ 486588 h 631082"/>
                <a:gd name="connsiteX21" fmla="*/ 33306 w 350251"/>
                <a:gd name="connsiteY21" fmla="*/ 489731 h 631082"/>
                <a:gd name="connsiteX22" fmla="*/ 52356 w 350251"/>
                <a:gd name="connsiteY22" fmla="*/ 521640 h 631082"/>
                <a:gd name="connsiteX23" fmla="*/ 52356 w 350251"/>
                <a:gd name="connsiteY23" fmla="*/ 554882 h 631082"/>
                <a:gd name="connsiteX24" fmla="*/ 14256 w 350251"/>
                <a:gd name="connsiteY24" fmla="*/ 554882 h 631082"/>
                <a:gd name="connsiteX25" fmla="*/ 14256 w 350251"/>
                <a:gd name="connsiteY25" fmla="*/ 631082 h 631082"/>
                <a:gd name="connsiteX26" fmla="*/ 338106 w 350251"/>
                <a:gd name="connsiteY26" fmla="*/ 631082 h 631082"/>
                <a:gd name="connsiteX27" fmla="*/ 338106 w 350251"/>
                <a:gd name="connsiteY27" fmla="*/ 554882 h 631082"/>
                <a:gd name="connsiteX28" fmla="*/ 300006 w 350251"/>
                <a:gd name="connsiteY28" fmla="*/ 554882 h 631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50251" h="631082">
                  <a:moveTo>
                    <a:pt x="300387" y="521640"/>
                  </a:moveTo>
                  <a:cubicBezTo>
                    <a:pt x="312040" y="515232"/>
                    <a:pt x="319325" y="503030"/>
                    <a:pt x="319437" y="489731"/>
                  </a:cubicBezTo>
                  <a:lnTo>
                    <a:pt x="319437" y="486588"/>
                  </a:lnTo>
                  <a:cubicBezTo>
                    <a:pt x="319335" y="469520"/>
                    <a:pt x="307501" y="454767"/>
                    <a:pt x="290862" y="450965"/>
                  </a:cubicBezTo>
                  <a:lnTo>
                    <a:pt x="290862" y="412007"/>
                  </a:lnTo>
                  <a:cubicBezTo>
                    <a:pt x="315184" y="385078"/>
                    <a:pt x="321001" y="346196"/>
                    <a:pt x="305625" y="313328"/>
                  </a:cubicBezTo>
                  <a:cubicBezTo>
                    <a:pt x="294005" y="286849"/>
                    <a:pt x="239427" y="249606"/>
                    <a:pt x="219900" y="238843"/>
                  </a:cubicBezTo>
                  <a:cubicBezTo>
                    <a:pt x="211091" y="233929"/>
                    <a:pt x="204332" y="226022"/>
                    <a:pt x="200850" y="216554"/>
                  </a:cubicBezTo>
                  <a:cubicBezTo>
                    <a:pt x="209715" y="222914"/>
                    <a:pt x="220882" y="225169"/>
                    <a:pt x="231521" y="222746"/>
                  </a:cubicBezTo>
                  <a:cubicBezTo>
                    <a:pt x="248571" y="216554"/>
                    <a:pt x="263334" y="232271"/>
                    <a:pt x="267430" y="237319"/>
                  </a:cubicBezTo>
                  <a:cubicBezTo>
                    <a:pt x="278003" y="249035"/>
                    <a:pt x="296958" y="243224"/>
                    <a:pt x="314007" y="235985"/>
                  </a:cubicBezTo>
                  <a:cubicBezTo>
                    <a:pt x="340825" y="224316"/>
                    <a:pt x="355401" y="195084"/>
                    <a:pt x="348583" y="166643"/>
                  </a:cubicBezTo>
                  <a:cubicBezTo>
                    <a:pt x="348107" y="152070"/>
                    <a:pt x="275241" y="103493"/>
                    <a:pt x="275241" y="103493"/>
                  </a:cubicBezTo>
                  <a:lnTo>
                    <a:pt x="272669" y="85490"/>
                  </a:lnTo>
                  <a:cubicBezTo>
                    <a:pt x="272669" y="82347"/>
                    <a:pt x="261429" y="49867"/>
                    <a:pt x="212280" y="41485"/>
                  </a:cubicBezTo>
                  <a:cubicBezTo>
                    <a:pt x="212280" y="41485"/>
                    <a:pt x="221139" y="9671"/>
                    <a:pt x="208375" y="3385"/>
                  </a:cubicBezTo>
                  <a:cubicBezTo>
                    <a:pt x="181705" y="-8902"/>
                    <a:pt x="84550" y="10052"/>
                    <a:pt x="30639" y="96920"/>
                  </a:cubicBezTo>
                  <a:cubicBezTo>
                    <a:pt x="-9271" y="161214"/>
                    <a:pt x="-10224" y="239033"/>
                    <a:pt x="27972" y="315995"/>
                  </a:cubicBezTo>
                  <a:cubicBezTo>
                    <a:pt x="37497" y="335045"/>
                    <a:pt x="61881" y="373145"/>
                    <a:pt x="61881" y="401720"/>
                  </a:cubicBezTo>
                  <a:lnTo>
                    <a:pt x="61881" y="450965"/>
                  </a:lnTo>
                  <a:cubicBezTo>
                    <a:pt x="45241" y="454767"/>
                    <a:pt x="33408" y="469520"/>
                    <a:pt x="33306" y="486588"/>
                  </a:cubicBezTo>
                  <a:lnTo>
                    <a:pt x="33306" y="489731"/>
                  </a:lnTo>
                  <a:cubicBezTo>
                    <a:pt x="33417" y="503030"/>
                    <a:pt x="40702" y="515232"/>
                    <a:pt x="52356" y="521640"/>
                  </a:cubicBezTo>
                  <a:lnTo>
                    <a:pt x="52356" y="554882"/>
                  </a:lnTo>
                  <a:lnTo>
                    <a:pt x="14256" y="554882"/>
                  </a:lnTo>
                  <a:lnTo>
                    <a:pt x="14256" y="631082"/>
                  </a:lnTo>
                  <a:lnTo>
                    <a:pt x="338106" y="631082"/>
                  </a:lnTo>
                  <a:lnTo>
                    <a:pt x="338106" y="554882"/>
                  </a:lnTo>
                  <a:lnTo>
                    <a:pt x="300006" y="55488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-form: Shape 54">
              <a:extLst>
                <a:ext uri="{FF2B5EF4-FFF2-40B4-BE49-F238E27FC236}">
                  <a16:creationId xmlns:a16="http://schemas.microsoft.com/office/drawing/2014/main" id="{FA561AAB-6C1B-49EF-BD07-FBD22DA155EC}"/>
                </a:ext>
              </a:extLst>
            </p:cNvPr>
            <p:cNvSpPr/>
            <p:nvPr/>
          </p:nvSpPr>
          <p:spPr>
            <a:xfrm>
              <a:off x="4284515" y="3843810"/>
              <a:ext cx="323850" cy="381000"/>
            </a:xfrm>
            <a:custGeom>
              <a:avLst/>
              <a:gdLst>
                <a:gd name="connsiteX0" fmla="*/ 285750 w 323850"/>
                <a:gd name="connsiteY0" fmla="*/ 304800 h 381000"/>
                <a:gd name="connsiteX1" fmla="*/ 285750 w 323850"/>
                <a:gd name="connsiteY1" fmla="*/ 271558 h 381000"/>
                <a:gd name="connsiteX2" fmla="*/ 304800 w 323850"/>
                <a:gd name="connsiteY2" fmla="*/ 239649 h 381000"/>
                <a:gd name="connsiteX3" fmla="*/ 304800 w 323850"/>
                <a:gd name="connsiteY3" fmla="*/ 236506 h 381000"/>
                <a:gd name="connsiteX4" fmla="*/ 268319 w 323850"/>
                <a:gd name="connsiteY4" fmla="*/ 200025 h 381000"/>
                <a:gd name="connsiteX5" fmla="*/ 257651 w 323850"/>
                <a:gd name="connsiteY5" fmla="*/ 200025 h 381000"/>
                <a:gd name="connsiteX6" fmla="*/ 247079 w 323850"/>
                <a:gd name="connsiteY6" fmla="*/ 0 h 381000"/>
                <a:gd name="connsiteX7" fmla="*/ 76772 w 323850"/>
                <a:gd name="connsiteY7" fmla="*/ 0 h 381000"/>
                <a:gd name="connsiteX8" fmla="*/ 66199 w 323850"/>
                <a:gd name="connsiteY8" fmla="*/ 200025 h 381000"/>
                <a:gd name="connsiteX9" fmla="*/ 55531 w 323850"/>
                <a:gd name="connsiteY9" fmla="*/ 200025 h 381000"/>
                <a:gd name="connsiteX10" fmla="*/ 19050 w 323850"/>
                <a:gd name="connsiteY10" fmla="*/ 236506 h 381000"/>
                <a:gd name="connsiteX11" fmla="*/ 19050 w 323850"/>
                <a:gd name="connsiteY11" fmla="*/ 239649 h 381000"/>
                <a:gd name="connsiteX12" fmla="*/ 38100 w 323850"/>
                <a:gd name="connsiteY12" fmla="*/ 271558 h 381000"/>
                <a:gd name="connsiteX13" fmla="*/ 38100 w 323850"/>
                <a:gd name="connsiteY13" fmla="*/ 304800 h 381000"/>
                <a:gd name="connsiteX14" fmla="*/ 0 w 323850"/>
                <a:gd name="connsiteY14" fmla="*/ 304800 h 381000"/>
                <a:gd name="connsiteX15" fmla="*/ 0 w 323850"/>
                <a:gd name="connsiteY15" fmla="*/ 381000 h 381000"/>
                <a:gd name="connsiteX16" fmla="*/ 323850 w 323850"/>
                <a:gd name="connsiteY16" fmla="*/ 381000 h 381000"/>
                <a:gd name="connsiteX17" fmla="*/ 323850 w 323850"/>
                <a:gd name="connsiteY17" fmla="*/ 304800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3850" h="381000">
                  <a:moveTo>
                    <a:pt x="285750" y="304800"/>
                  </a:moveTo>
                  <a:lnTo>
                    <a:pt x="285750" y="271558"/>
                  </a:lnTo>
                  <a:cubicBezTo>
                    <a:pt x="297404" y="265149"/>
                    <a:pt x="304689" y="252948"/>
                    <a:pt x="304800" y="239649"/>
                  </a:cubicBezTo>
                  <a:lnTo>
                    <a:pt x="304800" y="236506"/>
                  </a:lnTo>
                  <a:cubicBezTo>
                    <a:pt x="304748" y="216379"/>
                    <a:pt x="288446" y="200077"/>
                    <a:pt x="268319" y="200025"/>
                  </a:cubicBezTo>
                  <a:lnTo>
                    <a:pt x="257651" y="200025"/>
                  </a:lnTo>
                  <a:lnTo>
                    <a:pt x="247079" y="0"/>
                  </a:lnTo>
                  <a:lnTo>
                    <a:pt x="76772" y="0"/>
                  </a:lnTo>
                  <a:lnTo>
                    <a:pt x="66199" y="200025"/>
                  </a:lnTo>
                  <a:lnTo>
                    <a:pt x="55531" y="200025"/>
                  </a:lnTo>
                  <a:cubicBezTo>
                    <a:pt x="35404" y="200077"/>
                    <a:pt x="19102" y="216379"/>
                    <a:pt x="19050" y="236506"/>
                  </a:cubicBezTo>
                  <a:lnTo>
                    <a:pt x="19050" y="239649"/>
                  </a:lnTo>
                  <a:cubicBezTo>
                    <a:pt x="19161" y="252948"/>
                    <a:pt x="26446" y="265149"/>
                    <a:pt x="38100" y="271558"/>
                  </a:cubicBezTo>
                  <a:lnTo>
                    <a:pt x="38100" y="304800"/>
                  </a:lnTo>
                  <a:lnTo>
                    <a:pt x="0" y="304800"/>
                  </a:lnTo>
                  <a:lnTo>
                    <a:pt x="0" y="381000"/>
                  </a:lnTo>
                  <a:lnTo>
                    <a:pt x="323850" y="381000"/>
                  </a:lnTo>
                  <a:lnTo>
                    <a:pt x="323850" y="3048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-form: Shape 55">
              <a:extLst>
                <a:ext uri="{FF2B5EF4-FFF2-40B4-BE49-F238E27FC236}">
                  <a16:creationId xmlns:a16="http://schemas.microsoft.com/office/drawing/2014/main" id="{DDA49FCD-38D5-48FB-940A-B47B5F65EDA4}"/>
                </a:ext>
              </a:extLst>
            </p:cNvPr>
            <p:cNvSpPr/>
            <p:nvPr/>
          </p:nvSpPr>
          <p:spPr>
            <a:xfrm>
              <a:off x="4332140" y="3767610"/>
              <a:ext cx="228600" cy="57150"/>
            </a:xfrm>
            <a:custGeom>
              <a:avLst/>
              <a:gdLst>
                <a:gd name="connsiteX0" fmla="*/ 200025 w 228600"/>
                <a:gd name="connsiteY0" fmla="*/ 0 h 57150"/>
                <a:gd name="connsiteX1" fmla="*/ 228600 w 228600"/>
                <a:gd name="connsiteY1" fmla="*/ 28575 h 57150"/>
                <a:gd name="connsiteX2" fmla="*/ 228600 w 228600"/>
                <a:gd name="connsiteY2" fmla="*/ 28575 h 57150"/>
                <a:gd name="connsiteX3" fmla="*/ 200025 w 228600"/>
                <a:gd name="connsiteY3" fmla="*/ 57150 h 57150"/>
                <a:gd name="connsiteX4" fmla="*/ 28575 w 228600"/>
                <a:gd name="connsiteY4" fmla="*/ 57150 h 57150"/>
                <a:gd name="connsiteX5" fmla="*/ 0 w 228600"/>
                <a:gd name="connsiteY5" fmla="*/ 28575 h 57150"/>
                <a:gd name="connsiteX6" fmla="*/ 0 w 228600"/>
                <a:gd name="connsiteY6" fmla="*/ 28575 h 57150"/>
                <a:gd name="connsiteX7" fmla="*/ 28575 w 228600"/>
                <a:gd name="connsiteY7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8600" h="57150">
                  <a:moveTo>
                    <a:pt x="200025" y="0"/>
                  </a:moveTo>
                  <a:cubicBezTo>
                    <a:pt x="215807" y="0"/>
                    <a:pt x="228600" y="12793"/>
                    <a:pt x="228600" y="28575"/>
                  </a:cubicBezTo>
                  <a:lnTo>
                    <a:pt x="228600" y="28575"/>
                  </a:lnTo>
                  <a:cubicBezTo>
                    <a:pt x="228600" y="44357"/>
                    <a:pt x="215807" y="57150"/>
                    <a:pt x="2000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-form: Shape 56">
              <a:extLst>
                <a:ext uri="{FF2B5EF4-FFF2-40B4-BE49-F238E27FC236}">
                  <a16:creationId xmlns:a16="http://schemas.microsoft.com/office/drawing/2014/main" id="{6428421D-C575-4623-BD95-0243BA15231D}"/>
                </a:ext>
              </a:extLst>
            </p:cNvPr>
            <p:cNvSpPr/>
            <p:nvPr/>
          </p:nvSpPr>
          <p:spPr>
            <a:xfrm>
              <a:off x="4332140" y="3605685"/>
              <a:ext cx="228600" cy="142875"/>
            </a:xfrm>
            <a:custGeom>
              <a:avLst/>
              <a:gdLst>
                <a:gd name="connsiteX0" fmla="*/ 228600 w 228600"/>
                <a:gd name="connsiteY0" fmla="*/ 0 h 142875"/>
                <a:gd name="connsiteX1" fmla="*/ 180975 w 228600"/>
                <a:gd name="connsiteY1" fmla="*/ 0 h 142875"/>
                <a:gd name="connsiteX2" fmla="*/ 180975 w 228600"/>
                <a:gd name="connsiteY2" fmla="*/ 38100 h 142875"/>
                <a:gd name="connsiteX3" fmla="*/ 161925 w 228600"/>
                <a:gd name="connsiteY3" fmla="*/ 38100 h 142875"/>
                <a:gd name="connsiteX4" fmla="*/ 161925 w 228600"/>
                <a:gd name="connsiteY4" fmla="*/ 0 h 142875"/>
                <a:gd name="connsiteX5" fmla="*/ 66675 w 228600"/>
                <a:gd name="connsiteY5" fmla="*/ 0 h 142875"/>
                <a:gd name="connsiteX6" fmla="*/ 66675 w 228600"/>
                <a:gd name="connsiteY6" fmla="*/ 38100 h 142875"/>
                <a:gd name="connsiteX7" fmla="*/ 47625 w 228600"/>
                <a:gd name="connsiteY7" fmla="*/ 38100 h 142875"/>
                <a:gd name="connsiteX8" fmla="*/ 47625 w 228600"/>
                <a:gd name="connsiteY8" fmla="*/ 0 h 142875"/>
                <a:gd name="connsiteX9" fmla="*/ 0 w 228600"/>
                <a:gd name="connsiteY9" fmla="*/ 0 h 142875"/>
                <a:gd name="connsiteX10" fmla="*/ 0 w 228600"/>
                <a:gd name="connsiteY10" fmla="*/ 114300 h 142875"/>
                <a:gd name="connsiteX11" fmla="*/ 22193 w 228600"/>
                <a:gd name="connsiteY11" fmla="*/ 114300 h 142875"/>
                <a:gd name="connsiteX12" fmla="*/ 26956 w 228600"/>
                <a:gd name="connsiteY12" fmla="*/ 142875 h 142875"/>
                <a:gd name="connsiteX13" fmla="*/ 114300 w 228600"/>
                <a:gd name="connsiteY13" fmla="*/ 142875 h 142875"/>
                <a:gd name="connsiteX14" fmla="*/ 201644 w 228600"/>
                <a:gd name="connsiteY14" fmla="*/ 142875 h 142875"/>
                <a:gd name="connsiteX15" fmla="*/ 206407 w 228600"/>
                <a:gd name="connsiteY15" fmla="*/ 114300 h 142875"/>
                <a:gd name="connsiteX16" fmla="*/ 228600 w 228600"/>
                <a:gd name="connsiteY16" fmla="*/ 114300 h 142875"/>
                <a:gd name="connsiteX17" fmla="*/ 228600 w 228600"/>
                <a:gd name="connsiteY17" fmla="*/ 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8600" h="142875">
                  <a:moveTo>
                    <a:pt x="228600" y="0"/>
                  </a:moveTo>
                  <a:lnTo>
                    <a:pt x="180975" y="0"/>
                  </a:lnTo>
                  <a:lnTo>
                    <a:pt x="180975" y="38100"/>
                  </a:lnTo>
                  <a:lnTo>
                    <a:pt x="161925" y="38100"/>
                  </a:lnTo>
                  <a:lnTo>
                    <a:pt x="161925" y="0"/>
                  </a:lnTo>
                  <a:lnTo>
                    <a:pt x="66675" y="0"/>
                  </a:lnTo>
                  <a:lnTo>
                    <a:pt x="66675" y="38100"/>
                  </a:lnTo>
                  <a:lnTo>
                    <a:pt x="47625" y="38100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22193" y="114300"/>
                  </a:lnTo>
                  <a:lnTo>
                    <a:pt x="26956" y="142875"/>
                  </a:lnTo>
                  <a:lnTo>
                    <a:pt x="114300" y="142875"/>
                  </a:lnTo>
                  <a:lnTo>
                    <a:pt x="201644" y="142875"/>
                  </a:lnTo>
                  <a:lnTo>
                    <a:pt x="206407" y="114300"/>
                  </a:lnTo>
                  <a:lnTo>
                    <a:pt x="228600" y="114300"/>
                  </a:lnTo>
                  <a:lnTo>
                    <a:pt x="2286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96260F-BF04-4C16-AD43-990F9F6245EE}"/>
              </a:ext>
            </a:extLst>
          </p:cNvPr>
          <p:cNvGrpSpPr>
            <a:grpSpLocks noChangeAspect="1"/>
          </p:cNvGrpSpPr>
          <p:nvPr/>
        </p:nvGrpSpPr>
        <p:grpSpPr>
          <a:xfrm>
            <a:off x="2905646" y="965148"/>
            <a:ext cx="894633" cy="501751"/>
            <a:chOff x="6134932" y="3909438"/>
            <a:chExt cx="838200" cy="470101"/>
          </a:xfrm>
          <a:gradFill>
            <a:gsLst>
              <a:gs pos="81000">
                <a:schemeClr val="accent4"/>
              </a:gs>
              <a:gs pos="100000">
                <a:schemeClr val="accent5"/>
              </a:gs>
              <a:gs pos="14000">
                <a:schemeClr val="accent1"/>
              </a:gs>
            </a:gsLst>
            <a:lin ang="8100000" scaled="1"/>
          </a:gradFill>
        </p:grpSpPr>
        <p:sp>
          <p:nvSpPr>
            <p:cNvPr id="12" name="Free-form: Shape 58">
              <a:extLst>
                <a:ext uri="{FF2B5EF4-FFF2-40B4-BE49-F238E27FC236}">
                  <a16:creationId xmlns:a16="http://schemas.microsoft.com/office/drawing/2014/main" id="{3E2D19B9-6C8F-4451-B91F-3D91BA7C35F3}"/>
                </a:ext>
              </a:extLst>
            </p:cNvPr>
            <p:cNvSpPr/>
            <p:nvPr/>
          </p:nvSpPr>
          <p:spPr>
            <a:xfrm>
              <a:off x="6303525" y="3909438"/>
              <a:ext cx="669607" cy="457200"/>
            </a:xfrm>
            <a:custGeom>
              <a:avLst/>
              <a:gdLst>
                <a:gd name="connsiteX0" fmla="*/ 269558 w 669607"/>
                <a:gd name="connsiteY0" fmla="*/ 58103 h 457200"/>
                <a:gd name="connsiteX1" fmla="*/ 269558 w 669607"/>
                <a:gd name="connsiteY1" fmla="*/ 96203 h 457200"/>
                <a:gd name="connsiteX2" fmla="*/ 250508 w 669607"/>
                <a:gd name="connsiteY2" fmla="*/ 95250 h 457200"/>
                <a:gd name="connsiteX3" fmla="*/ 231458 w 669607"/>
                <a:gd name="connsiteY3" fmla="*/ 96203 h 457200"/>
                <a:gd name="connsiteX4" fmla="*/ 231458 w 669607"/>
                <a:gd name="connsiteY4" fmla="*/ 58103 h 457200"/>
                <a:gd name="connsiteX5" fmla="*/ 126683 w 669607"/>
                <a:gd name="connsiteY5" fmla="*/ 80010 h 457200"/>
                <a:gd name="connsiteX6" fmla="*/ 140970 w 669607"/>
                <a:gd name="connsiteY6" fmla="*/ 114300 h 457200"/>
                <a:gd name="connsiteX7" fmla="*/ 105728 w 669607"/>
                <a:gd name="connsiteY7" fmla="*/ 129540 h 457200"/>
                <a:gd name="connsiteX8" fmla="*/ 91440 w 669607"/>
                <a:gd name="connsiteY8" fmla="*/ 94298 h 457200"/>
                <a:gd name="connsiteX9" fmla="*/ 40958 w 669607"/>
                <a:gd name="connsiteY9" fmla="*/ 124778 h 457200"/>
                <a:gd name="connsiteX10" fmla="*/ 0 w 669607"/>
                <a:gd name="connsiteY10" fmla="*/ 83820 h 457200"/>
                <a:gd name="connsiteX11" fmla="*/ 250508 w 669607"/>
                <a:gd name="connsiteY11" fmla="*/ 0 h 457200"/>
                <a:gd name="connsiteX12" fmla="*/ 669608 w 669607"/>
                <a:gd name="connsiteY12" fmla="*/ 419100 h 457200"/>
                <a:gd name="connsiteX13" fmla="*/ 669608 w 669607"/>
                <a:gd name="connsiteY13" fmla="*/ 457200 h 457200"/>
                <a:gd name="connsiteX14" fmla="*/ 612458 w 669607"/>
                <a:gd name="connsiteY14" fmla="*/ 457200 h 457200"/>
                <a:gd name="connsiteX15" fmla="*/ 612458 w 669607"/>
                <a:gd name="connsiteY15" fmla="*/ 419100 h 457200"/>
                <a:gd name="connsiteX16" fmla="*/ 594360 w 669607"/>
                <a:gd name="connsiteY16" fmla="*/ 306705 h 457200"/>
                <a:gd name="connsiteX17" fmla="*/ 559118 w 669607"/>
                <a:gd name="connsiteY17" fmla="*/ 320993 h 457200"/>
                <a:gd name="connsiteX18" fmla="*/ 545783 w 669607"/>
                <a:gd name="connsiteY18" fmla="*/ 285750 h 457200"/>
                <a:gd name="connsiteX19" fmla="*/ 581025 w 669607"/>
                <a:gd name="connsiteY19" fmla="*/ 271463 h 457200"/>
                <a:gd name="connsiteX20" fmla="*/ 523875 w 669607"/>
                <a:gd name="connsiteY20" fmla="*/ 182880 h 457200"/>
                <a:gd name="connsiteX21" fmla="*/ 497205 w 669607"/>
                <a:gd name="connsiteY21" fmla="*/ 209550 h 457200"/>
                <a:gd name="connsiteX22" fmla="*/ 470535 w 669607"/>
                <a:gd name="connsiteY22" fmla="*/ 181928 h 457200"/>
                <a:gd name="connsiteX23" fmla="*/ 497205 w 669607"/>
                <a:gd name="connsiteY23" fmla="*/ 155258 h 457200"/>
                <a:gd name="connsiteX24" fmla="*/ 409575 w 669607"/>
                <a:gd name="connsiteY24" fmla="*/ 94298 h 457200"/>
                <a:gd name="connsiteX25" fmla="*/ 395288 w 669607"/>
                <a:gd name="connsiteY25" fmla="*/ 129540 h 457200"/>
                <a:gd name="connsiteX26" fmla="*/ 360045 w 669607"/>
                <a:gd name="connsiteY26" fmla="*/ 114300 h 457200"/>
                <a:gd name="connsiteX27" fmla="*/ 374333 w 669607"/>
                <a:gd name="connsiteY27" fmla="*/ 79058 h 457200"/>
                <a:gd name="connsiteX28" fmla="*/ 269558 w 669607"/>
                <a:gd name="connsiteY28" fmla="*/ 58103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69607" h="457200">
                  <a:moveTo>
                    <a:pt x="269558" y="58103"/>
                  </a:moveTo>
                  <a:lnTo>
                    <a:pt x="269558" y="96203"/>
                  </a:lnTo>
                  <a:cubicBezTo>
                    <a:pt x="262890" y="96203"/>
                    <a:pt x="257175" y="95250"/>
                    <a:pt x="250508" y="95250"/>
                  </a:cubicBezTo>
                  <a:cubicBezTo>
                    <a:pt x="244143" y="95092"/>
                    <a:pt x="237775" y="95410"/>
                    <a:pt x="231458" y="96203"/>
                  </a:cubicBezTo>
                  <a:lnTo>
                    <a:pt x="231458" y="58103"/>
                  </a:lnTo>
                  <a:cubicBezTo>
                    <a:pt x="195600" y="59862"/>
                    <a:pt x="160242" y="67255"/>
                    <a:pt x="126683" y="80010"/>
                  </a:cubicBezTo>
                  <a:lnTo>
                    <a:pt x="140970" y="114300"/>
                  </a:lnTo>
                  <a:cubicBezTo>
                    <a:pt x="128588" y="119063"/>
                    <a:pt x="117158" y="123825"/>
                    <a:pt x="105728" y="129540"/>
                  </a:cubicBezTo>
                  <a:lnTo>
                    <a:pt x="91440" y="94298"/>
                  </a:lnTo>
                  <a:cubicBezTo>
                    <a:pt x="73758" y="102970"/>
                    <a:pt x="56866" y="113169"/>
                    <a:pt x="40958" y="124778"/>
                  </a:cubicBezTo>
                  <a:lnTo>
                    <a:pt x="0" y="83820"/>
                  </a:lnTo>
                  <a:cubicBezTo>
                    <a:pt x="72140" y="29333"/>
                    <a:pt x="160103" y="-99"/>
                    <a:pt x="250508" y="0"/>
                  </a:cubicBezTo>
                  <a:cubicBezTo>
                    <a:pt x="481970" y="0"/>
                    <a:pt x="669608" y="187638"/>
                    <a:pt x="669608" y="419100"/>
                  </a:cubicBezTo>
                  <a:lnTo>
                    <a:pt x="669608" y="457200"/>
                  </a:lnTo>
                  <a:lnTo>
                    <a:pt x="612458" y="457200"/>
                  </a:lnTo>
                  <a:lnTo>
                    <a:pt x="612458" y="419100"/>
                  </a:lnTo>
                  <a:cubicBezTo>
                    <a:pt x="612333" y="380920"/>
                    <a:pt x="606226" y="342995"/>
                    <a:pt x="594360" y="306705"/>
                  </a:cubicBezTo>
                  <a:lnTo>
                    <a:pt x="559118" y="320993"/>
                  </a:lnTo>
                  <a:cubicBezTo>
                    <a:pt x="555308" y="308610"/>
                    <a:pt x="550545" y="297180"/>
                    <a:pt x="545783" y="285750"/>
                  </a:cubicBezTo>
                  <a:lnTo>
                    <a:pt x="581025" y="271463"/>
                  </a:lnTo>
                  <a:cubicBezTo>
                    <a:pt x="566634" y="239178"/>
                    <a:pt x="547358" y="209301"/>
                    <a:pt x="523875" y="182880"/>
                  </a:cubicBezTo>
                  <a:lnTo>
                    <a:pt x="497205" y="209550"/>
                  </a:lnTo>
                  <a:cubicBezTo>
                    <a:pt x="488806" y="199881"/>
                    <a:pt x="479903" y="190661"/>
                    <a:pt x="470535" y="181928"/>
                  </a:cubicBezTo>
                  <a:lnTo>
                    <a:pt x="497205" y="155258"/>
                  </a:lnTo>
                  <a:cubicBezTo>
                    <a:pt x="471014" y="130909"/>
                    <a:pt x="441512" y="110385"/>
                    <a:pt x="409575" y="94298"/>
                  </a:cubicBezTo>
                  <a:lnTo>
                    <a:pt x="395288" y="129540"/>
                  </a:lnTo>
                  <a:cubicBezTo>
                    <a:pt x="383858" y="123825"/>
                    <a:pt x="372428" y="119063"/>
                    <a:pt x="360045" y="114300"/>
                  </a:cubicBezTo>
                  <a:lnTo>
                    <a:pt x="374333" y="79058"/>
                  </a:lnTo>
                  <a:cubicBezTo>
                    <a:pt x="340724" y="66619"/>
                    <a:pt x="305366" y="59548"/>
                    <a:pt x="269558" y="58103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-form: Shape 59">
              <a:extLst>
                <a:ext uri="{FF2B5EF4-FFF2-40B4-BE49-F238E27FC236}">
                  <a16:creationId xmlns:a16="http://schemas.microsoft.com/office/drawing/2014/main" id="{DFE420F5-0AF3-4F7D-B268-2BFD5D600E3A}"/>
                </a:ext>
              </a:extLst>
            </p:cNvPr>
            <p:cNvSpPr/>
            <p:nvPr/>
          </p:nvSpPr>
          <p:spPr>
            <a:xfrm>
              <a:off x="6134932" y="4088508"/>
              <a:ext cx="123826" cy="278130"/>
            </a:xfrm>
            <a:custGeom>
              <a:avLst/>
              <a:gdLst>
                <a:gd name="connsiteX0" fmla="*/ 75249 w 123826"/>
                <a:gd name="connsiteY0" fmla="*/ 0 h 278130"/>
                <a:gd name="connsiteX1" fmla="*/ 116206 w 123826"/>
                <a:gd name="connsiteY1" fmla="*/ 40957 h 278130"/>
                <a:gd name="connsiteX2" fmla="*/ 88584 w 123826"/>
                <a:gd name="connsiteY2" fmla="*/ 91440 h 278130"/>
                <a:gd name="connsiteX3" fmla="*/ 123826 w 123826"/>
                <a:gd name="connsiteY3" fmla="*/ 106680 h 278130"/>
                <a:gd name="connsiteX4" fmla="*/ 110491 w 123826"/>
                <a:gd name="connsiteY4" fmla="*/ 141923 h 278130"/>
                <a:gd name="connsiteX5" fmla="*/ 75249 w 123826"/>
                <a:gd name="connsiteY5" fmla="*/ 127635 h 278130"/>
                <a:gd name="connsiteX6" fmla="*/ 57151 w 123826"/>
                <a:gd name="connsiteY6" fmla="*/ 240030 h 278130"/>
                <a:gd name="connsiteX7" fmla="*/ 57151 w 123826"/>
                <a:gd name="connsiteY7" fmla="*/ 278130 h 278130"/>
                <a:gd name="connsiteX8" fmla="*/ 1 w 123826"/>
                <a:gd name="connsiteY8" fmla="*/ 278130 h 278130"/>
                <a:gd name="connsiteX9" fmla="*/ 1 w 123826"/>
                <a:gd name="connsiteY9" fmla="*/ 240030 h 278130"/>
                <a:gd name="connsiteX10" fmla="*/ 75249 w 123826"/>
                <a:gd name="connsiteY10" fmla="*/ 0 h 278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26" h="278130">
                  <a:moveTo>
                    <a:pt x="75249" y="0"/>
                  </a:moveTo>
                  <a:lnTo>
                    <a:pt x="116206" y="40957"/>
                  </a:lnTo>
                  <a:cubicBezTo>
                    <a:pt x="105712" y="57048"/>
                    <a:pt x="96477" y="73926"/>
                    <a:pt x="88584" y="91440"/>
                  </a:cubicBezTo>
                  <a:lnTo>
                    <a:pt x="123826" y="106680"/>
                  </a:lnTo>
                  <a:cubicBezTo>
                    <a:pt x="119064" y="118110"/>
                    <a:pt x="114301" y="130493"/>
                    <a:pt x="110491" y="141923"/>
                  </a:cubicBezTo>
                  <a:lnTo>
                    <a:pt x="75249" y="127635"/>
                  </a:lnTo>
                  <a:cubicBezTo>
                    <a:pt x="63382" y="163924"/>
                    <a:pt x="57276" y="201850"/>
                    <a:pt x="57151" y="240030"/>
                  </a:cubicBezTo>
                  <a:lnTo>
                    <a:pt x="57151" y="278130"/>
                  </a:lnTo>
                  <a:lnTo>
                    <a:pt x="1" y="278130"/>
                  </a:lnTo>
                  <a:lnTo>
                    <a:pt x="1" y="240030"/>
                  </a:lnTo>
                  <a:cubicBezTo>
                    <a:pt x="-193" y="154186"/>
                    <a:pt x="26083" y="70370"/>
                    <a:pt x="75249" y="0"/>
                  </a:cubicBez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-form: Shape 60">
              <a:extLst>
                <a:ext uri="{FF2B5EF4-FFF2-40B4-BE49-F238E27FC236}">
                  <a16:creationId xmlns:a16="http://schemas.microsoft.com/office/drawing/2014/main" id="{5F0F4276-72A5-4E42-87DD-9126BB391DC6}"/>
                </a:ext>
              </a:extLst>
            </p:cNvPr>
            <p:cNvSpPr/>
            <p:nvPr/>
          </p:nvSpPr>
          <p:spPr>
            <a:xfrm>
              <a:off x="6230183" y="4014214"/>
              <a:ext cx="364359" cy="365325"/>
            </a:xfrm>
            <a:custGeom>
              <a:avLst/>
              <a:gdLst>
                <a:gd name="connsiteX0" fmla="*/ 350520 w 364359"/>
                <a:gd name="connsiteY0" fmla="*/ 297180 h 365325"/>
                <a:gd name="connsiteX1" fmla="*/ 355283 w 364359"/>
                <a:gd name="connsiteY1" fmla="*/ 301942 h 365325"/>
                <a:gd name="connsiteX2" fmla="*/ 350665 w 364359"/>
                <a:gd name="connsiteY2" fmla="*/ 356247 h 365325"/>
                <a:gd name="connsiteX3" fmla="*/ 296359 w 364359"/>
                <a:gd name="connsiteY3" fmla="*/ 351630 h 365325"/>
                <a:gd name="connsiteX4" fmla="*/ 296228 w 364359"/>
                <a:gd name="connsiteY4" fmla="*/ 351473 h 365325"/>
                <a:gd name="connsiteX5" fmla="*/ 0 w 364359"/>
                <a:gd name="connsiteY5" fmla="*/ 0 h 365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4359" h="365325">
                  <a:moveTo>
                    <a:pt x="350520" y="297180"/>
                  </a:moveTo>
                  <a:cubicBezTo>
                    <a:pt x="352425" y="298133"/>
                    <a:pt x="353378" y="300038"/>
                    <a:pt x="355283" y="301942"/>
                  </a:cubicBezTo>
                  <a:cubicBezTo>
                    <a:pt x="369003" y="318214"/>
                    <a:pt x="366935" y="342527"/>
                    <a:pt x="350665" y="356247"/>
                  </a:cubicBezTo>
                  <a:cubicBezTo>
                    <a:pt x="334393" y="369968"/>
                    <a:pt x="310080" y="367901"/>
                    <a:pt x="296359" y="351630"/>
                  </a:cubicBezTo>
                  <a:cubicBezTo>
                    <a:pt x="296315" y="351577"/>
                    <a:pt x="296271" y="351525"/>
                    <a:pt x="296228" y="35147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5" name="Graphic 67" descr="Database with solid fill">
            <a:extLst>
              <a:ext uri="{FF2B5EF4-FFF2-40B4-BE49-F238E27FC236}">
                <a16:creationId xmlns:a16="http://schemas.microsoft.com/office/drawing/2014/main" id="{69C0DA33-ECF8-4D86-9F7A-42CDC84E07DB}"/>
              </a:ext>
            </a:extLst>
          </p:cNvPr>
          <p:cNvGrpSpPr>
            <a:grpSpLocks noChangeAspect="1"/>
          </p:cNvGrpSpPr>
          <p:nvPr/>
        </p:nvGrpSpPr>
        <p:grpSpPr>
          <a:xfrm>
            <a:off x="1353396" y="4186903"/>
            <a:ext cx="481038" cy="652837"/>
            <a:chOff x="5876275" y="3752048"/>
            <a:chExt cx="533400" cy="723900"/>
          </a:xfrm>
          <a:gradFill>
            <a:gsLst>
              <a:gs pos="22000">
                <a:schemeClr val="accent1"/>
              </a:gs>
              <a:gs pos="75000">
                <a:schemeClr val="accent4"/>
              </a:gs>
              <a:gs pos="100000">
                <a:schemeClr val="accent5"/>
              </a:gs>
            </a:gsLst>
            <a:lin ang="8100000" scaled="0"/>
          </a:gradFill>
        </p:grpSpPr>
        <p:sp>
          <p:nvSpPr>
            <p:cNvPr id="16" name="Free-form: Shape 69">
              <a:extLst>
                <a:ext uri="{FF2B5EF4-FFF2-40B4-BE49-F238E27FC236}">
                  <a16:creationId xmlns:a16="http://schemas.microsoft.com/office/drawing/2014/main" id="{B69079CD-4860-4A1A-83F8-0CC90E1F88FE}"/>
                </a:ext>
              </a:extLst>
            </p:cNvPr>
            <p:cNvSpPr/>
            <p:nvPr/>
          </p:nvSpPr>
          <p:spPr>
            <a:xfrm>
              <a:off x="5876275" y="3752048"/>
              <a:ext cx="533400" cy="152400"/>
            </a:xfrm>
            <a:custGeom>
              <a:avLst/>
              <a:gdLst>
                <a:gd name="connsiteX0" fmla="*/ 533400 w 533400"/>
                <a:gd name="connsiteY0" fmla="*/ 76200 h 152400"/>
                <a:gd name="connsiteX1" fmla="*/ 266700 w 533400"/>
                <a:gd name="connsiteY1" fmla="*/ 152400 h 152400"/>
                <a:gd name="connsiteX2" fmla="*/ 0 w 533400"/>
                <a:gd name="connsiteY2" fmla="*/ 76200 h 152400"/>
                <a:gd name="connsiteX3" fmla="*/ 266700 w 533400"/>
                <a:gd name="connsiteY3" fmla="*/ 0 h 152400"/>
                <a:gd name="connsiteX4" fmla="*/ 533400 w 533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152400">
                  <a:moveTo>
                    <a:pt x="533400" y="76200"/>
                  </a:moveTo>
                  <a:cubicBezTo>
                    <a:pt x="533400" y="118284"/>
                    <a:pt x="413994" y="152400"/>
                    <a:pt x="266700" y="152400"/>
                  </a:cubicBezTo>
                  <a:cubicBezTo>
                    <a:pt x="119406" y="152400"/>
                    <a:pt x="0" y="118284"/>
                    <a:pt x="0" y="76200"/>
                  </a:cubicBezTo>
                  <a:cubicBezTo>
                    <a:pt x="0" y="34116"/>
                    <a:pt x="119406" y="0"/>
                    <a:pt x="266700" y="0"/>
                  </a:cubicBezTo>
                  <a:cubicBezTo>
                    <a:pt x="413994" y="0"/>
                    <a:pt x="533400" y="34116"/>
                    <a:pt x="5334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-form: Shape 70">
              <a:extLst>
                <a:ext uri="{FF2B5EF4-FFF2-40B4-BE49-F238E27FC236}">
                  <a16:creationId xmlns:a16="http://schemas.microsoft.com/office/drawing/2014/main" id="{1910F2F2-7BA3-4A04-ADE2-9E41AEB99F0A}"/>
                </a:ext>
              </a:extLst>
            </p:cNvPr>
            <p:cNvSpPr/>
            <p:nvPr/>
          </p:nvSpPr>
          <p:spPr>
            <a:xfrm>
              <a:off x="5876275" y="3866348"/>
              <a:ext cx="533400" cy="228600"/>
            </a:xfrm>
            <a:custGeom>
              <a:avLst/>
              <a:gdLst>
                <a:gd name="connsiteX0" fmla="*/ 457200 w 533400"/>
                <a:gd name="connsiteY0" fmla="*/ 152400 h 228600"/>
                <a:gd name="connsiteX1" fmla="*/ 438150 w 533400"/>
                <a:gd name="connsiteY1" fmla="*/ 133350 h 228600"/>
                <a:gd name="connsiteX2" fmla="*/ 457200 w 533400"/>
                <a:gd name="connsiteY2" fmla="*/ 114300 h 228600"/>
                <a:gd name="connsiteX3" fmla="*/ 476250 w 533400"/>
                <a:gd name="connsiteY3" fmla="*/ 133350 h 228600"/>
                <a:gd name="connsiteX4" fmla="*/ 457200 w 533400"/>
                <a:gd name="connsiteY4" fmla="*/ 152400 h 228600"/>
                <a:gd name="connsiteX5" fmla="*/ 266700 w 533400"/>
                <a:gd name="connsiteY5" fmla="*/ 76200 h 228600"/>
                <a:gd name="connsiteX6" fmla="*/ 0 w 533400"/>
                <a:gd name="connsiteY6" fmla="*/ 0 h 228600"/>
                <a:gd name="connsiteX7" fmla="*/ 0 w 533400"/>
                <a:gd name="connsiteY7" fmla="*/ 152400 h 228600"/>
                <a:gd name="connsiteX8" fmla="*/ 266700 w 533400"/>
                <a:gd name="connsiteY8" fmla="*/ 228600 h 228600"/>
                <a:gd name="connsiteX9" fmla="*/ 533400 w 533400"/>
                <a:gd name="connsiteY9" fmla="*/ 152400 h 228600"/>
                <a:gd name="connsiteX10" fmla="*/ 533400 w 533400"/>
                <a:gd name="connsiteY10" fmla="*/ 0 h 228600"/>
                <a:gd name="connsiteX11" fmla="*/ 266700 w 533400"/>
                <a:gd name="connsiteY11" fmla="*/ 762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0" h="228600">
                  <a:moveTo>
                    <a:pt x="457200" y="152400"/>
                  </a:moveTo>
                  <a:cubicBezTo>
                    <a:pt x="445770" y="152400"/>
                    <a:pt x="438150" y="144780"/>
                    <a:pt x="438150" y="133350"/>
                  </a:cubicBezTo>
                  <a:cubicBezTo>
                    <a:pt x="438150" y="121920"/>
                    <a:pt x="445770" y="114300"/>
                    <a:pt x="457200" y="114300"/>
                  </a:cubicBezTo>
                  <a:cubicBezTo>
                    <a:pt x="468630" y="114300"/>
                    <a:pt x="476250" y="121920"/>
                    <a:pt x="476250" y="133350"/>
                  </a:cubicBezTo>
                  <a:cubicBezTo>
                    <a:pt x="476250" y="144780"/>
                    <a:pt x="468630" y="152400"/>
                    <a:pt x="457200" y="152400"/>
                  </a:cubicBezTo>
                  <a:close/>
                  <a:moveTo>
                    <a:pt x="266700" y="76200"/>
                  </a:moveTo>
                  <a:cubicBezTo>
                    <a:pt x="120015" y="76200"/>
                    <a:pt x="0" y="41910"/>
                    <a:pt x="0" y="0"/>
                  </a:cubicBezTo>
                  <a:lnTo>
                    <a:pt x="0" y="152400"/>
                  </a:lnTo>
                  <a:cubicBezTo>
                    <a:pt x="0" y="194310"/>
                    <a:pt x="120015" y="228600"/>
                    <a:pt x="266700" y="228600"/>
                  </a:cubicBezTo>
                  <a:cubicBezTo>
                    <a:pt x="413385" y="228600"/>
                    <a:pt x="533400" y="194310"/>
                    <a:pt x="533400" y="152400"/>
                  </a:cubicBezTo>
                  <a:lnTo>
                    <a:pt x="533400" y="0"/>
                  </a:lnTo>
                  <a:cubicBezTo>
                    <a:pt x="533400" y="41910"/>
                    <a:pt x="413385" y="76200"/>
                    <a:pt x="2667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-form: Shape 71">
              <a:extLst>
                <a:ext uri="{FF2B5EF4-FFF2-40B4-BE49-F238E27FC236}">
                  <a16:creationId xmlns:a16="http://schemas.microsoft.com/office/drawing/2014/main" id="{9EBC574B-B433-48B2-9EFD-8C3F4A837232}"/>
                </a:ext>
              </a:extLst>
            </p:cNvPr>
            <p:cNvSpPr/>
            <p:nvPr/>
          </p:nvSpPr>
          <p:spPr>
            <a:xfrm>
              <a:off x="5876275" y="4056848"/>
              <a:ext cx="533400" cy="228600"/>
            </a:xfrm>
            <a:custGeom>
              <a:avLst/>
              <a:gdLst>
                <a:gd name="connsiteX0" fmla="*/ 457200 w 533400"/>
                <a:gd name="connsiteY0" fmla="*/ 152400 h 228600"/>
                <a:gd name="connsiteX1" fmla="*/ 438150 w 533400"/>
                <a:gd name="connsiteY1" fmla="*/ 133350 h 228600"/>
                <a:gd name="connsiteX2" fmla="*/ 457200 w 533400"/>
                <a:gd name="connsiteY2" fmla="*/ 114300 h 228600"/>
                <a:gd name="connsiteX3" fmla="*/ 476250 w 533400"/>
                <a:gd name="connsiteY3" fmla="*/ 133350 h 228600"/>
                <a:gd name="connsiteX4" fmla="*/ 457200 w 533400"/>
                <a:gd name="connsiteY4" fmla="*/ 152400 h 228600"/>
                <a:gd name="connsiteX5" fmla="*/ 266700 w 533400"/>
                <a:gd name="connsiteY5" fmla="*/ 76200 h 228600"/>
                <a:gd name="connsiteX6" fmla="*/ 0 w 533400"/>
                <a:gd name="connsiteY6" fmla="*/ 0 h 228600"/>
                <a:gd name="connsiteX7" fmla="*/ 0 w 533400"/>
                <a:gd name="connsiteY7" fmla="*/ 152400 h 228600"/>
                <a:gd name="connsiteX8" fmla="*/ 266700 w 533400"/>
                <a:gd name="connsiteY8" fmla="*/ 228600 h 228600"/>
                <a:gd name="connsiteX9" fmla="*/ 533400 w 533400"/>
                <a:gd name="connsiteY9" fmla="*/ 152400 h 228600"/>
                <a:gd name="connsiteX10" fmla="*/ 533400 w 533400"/>
                <a:gd name="connsiteY10" fmla="*/ 0 h 228600"/>
                <a:gd name="connsiteX11" fmla="*/ 266700 w 533400"/>
                <a:gd name="connsiteY11" fmla="*/ 762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0" h="228600">
                  <a:moveTo>
                    <a:pt x="457200" y="152400"/>
                  </a:moveTo>
                  <a:cubicBezTo>
                    <a:pt x="445770" y="152400"/>
                    <a:pt x="438150" y="144780"/>
                    <a:pt x="438150" y="133350"/>
                  </a:cubicBezTo>
                  <a:cubicBezTo>
                    <a:pt x="438150" y="121920"/>
                    <a:pt x="445770" y="114300"/>
                    <a:pt x="457200" y="114300"/>
                  </a:cubicBezTo>
                  <a:cubicBezTo>
                    <a:pt x="468630" y="114300"/>
                    <a:pt x="476250" y="121920"/>
                    <a:pt x="476250" y="133350"/>
                  </a:cubicBezTo>
                  <a:cubicBezTo>
                    <a:pt x="476250" y="144780"/>
                    <a:pt x="468630" y="152400"/>
                    <a:pt x="457200" y="152400"/>
                  </a:cubicBezTo>
                  <a:close/>
                  <a:moveTo>
                    <a:pt x="266700" y="76200"/>
                  </a:moveTo>
                  <a:cubicBezTo>
                    <a:pt x="120015" y="76200"/>
                    <a:pt x="0" y="41910"/>
                    <a:pt x="0" y="0"/>
                  </a:cubicBezTo>
                  <a:lnTo>
                    <a:pt x="0" y="152400"/>
                  </a:lnTo>
                  <a:cubicBezTo>
                    <a:pt x="0" y="194310"/>
                    <a:pt x="120015" y="228600"/>
                    <a:pt x="266700" y="228600"/>
                  </a:cubicBezTo>
                  <a:cubicBezTo>
                    <a:pt x="413385" y="228600"/>
                    <a:pt x="533400" y="194310"/>
                    <a:pt x="533400" y="152400"/>
                  </a:cubicBezTo>
                  <a:lnTo>
                    <a:pt x="533400" y="0"/>
                  </a:lnTo>
                  <a:cubicBezTo>
                    <a:pt x="533400" y="41910"/>
                    <a:pt x="413385" y="76200"/>
                    <a:pt x="2667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-form: Shape 72">
              <a:extLst>
                <a:ext uri="{FF2B5EF4-FFF2-40B4-BE49-F238E27FC236}">
                  <a16:creationId xmlns:a16="http://schemas.microsoft.com/office/drawing/2014/main" id="{55C1EC23-FDAA-4811-BE38-B6BC639F86DD}"/>
                </a:ext>
              </a:extLst>
            </p:cNvPr>
            <p:cNvSpPr/>
            <p:nvPr/>
          </p:nvSpPr>
          <p:spPr>
            <a:xfrm>
              <a:off x="5876275" y="4247348"/>
              <a:ext cx="533400" cy="228600"/>
            </a:xfrm>
            <a:custGeom>
              <a:avLst/>
              <a:gdLst>
                <a:gd name="connsiteX0" fmla="*/ 457200 w 533400"/>
                <a:gd name="connsiteY0" fmla="*/ 152400 h 228600"/>
                <a:gd name="connsiteX1" fmla="*/ 438150 w 533400"/>
                <a:gd name="connsiteY1" fmla="*/ 133350 h 228600"/>
                <a:gd name="connsiteX2" fmla="*/ 457200 w 533400"/>
                <a:gd name="connsiteY2" fmla="*/ 114300 h 228600"/>
                <a:gd name="connsiteX3" fmla="*/ 476250 w 533400"/>
                <a:gd name="connsiteY3" fmla="*/ 133350 h 228600"/>
                <a:gd name="connsiteX4" fmla="*/ 457200 w 533400"/>
                <a:gd name="connsiteY4" fmla="*/ 152400 h 228600"/>
                <a:gd name="connsiteX5" fmla="*/ 266700 w 533400"/>
                <a:gd name="connsiteY5" fmla="*/ 76200 h 228600"/>
                <a:gd name="connsiteX6" fmla="*/ 0 w 533400"/>
                <a:gd name="connsiteY6" fmla="*/ 0 h 228600"/>
                <a:gd name="connsiteX7" fmla="*/ 0 w 533400"/>
                <a:gd name="connsiteY7" fmla="*/ 152400 h 228600"/>
                <a:gd name="connsiteX8" fmla="*/ 266700 w 533400"/>
                <a:gd name="connsiteY8" fmla="*/ 228600 h 228600"/>
                <a:gd name="connsiteX9" fmla="*/ 533400 w 533400"/>
                <a:gd name="connsiteY9" fmla="*/ 152400 h 228600"/>
                <a:gd name="connsiteX10" fmla="*/ 533400 w 533400"/>
                <a:gd name="connsiteY10" fmla="*/ 0 h 228600"/>
                <a:gd name="connsiteX11" fmla="*/ 266700 w 533400"/>
                <a:gd name="connsiteY11" fmla="*/ 762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0" h="228600">
                  <a:moveTo>
                    <a:pt x="457200" y="152400"/>
                  </a:moveTo>
                  <a:cubicBezTo>
                    <a:pt x="445770" y="152400"/>
                    <a:pt x="438150" y="144780"/>
                    <a:pt x="438150" y="133350"/>
                  </a:cubicBezTo>
                  <a:cubicBezTo>
                    <a:pt x="438150" y="121920"/>
                    <a:pt x="445770" y="114300"/>
                    <a:pt x="457200" y="114300"/>
                  </a:cubicBezTo>
                  <a:cubicBezTo>
                    <a:pt x="468630" y="114300"/>
                    <a:pt x="476250" y="121920"/>
                    <a:pt x="476250" y="133350"/>
                  </a:cubicBezTo>
                  <a:cubicBezTo>
                    <a:pt x="476250" y="144780"/>
                    <a:pt x="468630" y="152400"/>
                    <a:pt x="457200" y="152400"/>
                  </a:cubicBezTo>
                  <a:close/>
                  <a:moveTo>
                    <a:pt x="266700" y="76200"/>
                  </a:moveTo>
                  <a:cubicBezTo>
                    <a:pt x="120015" y="76200"/>
                    <a:pt x="0" y="41910"/>
                    <a:pt x="0" y="0"/>
                  </a:cubicBezTo>
                  <a:lnTo>
                    <a:pt x="0" y="152400"/>
                  </a:lnTo>
                  <a:cubicBezTo>
                    <a:pt x="0" y="194310"/>
                    <a:pt x="120015" y="228600"/>
                    <a:pt x="266700" y="228600"/>
                  </a:cubicBezTo>
                  <a:cubicBezTo>
                    <a:pt x="413385" y="228600"/>
                    <a:pt x="533400" y="194310"/>
                    <a:pt x="533400" y="152400"/>
                  </a:cubicBezTo>
                  <a:lnTo>
                    <a:pt x="533400" y="0"/>
                  </a:lnTo>
                  <a:cubicBezTo>
                    <a:pt x="533400" y="41910"/>
                    <a:pt x="413385" y="76200"/>
                    <a:pt x="2667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6F51A7-490B-43A7-90C2-108455B83C2C}"/>
              </a:ext>
            </a:extLst>
          </p:cNvPr>
          <p:cNvGrpSpPr>
            <a:grpSpLocks noChangeAspect="1"/>
          </p:cNvGrpSpPr>
          <p:nvPr/>
        </p:nvGrpSpPr>
        <p:grpSpPr>
          <a:xfrm>
            <a:off x="2943294" y="3010212"/>
            <a:ext cx="819336" cy="678477"/>
            <a:chOff x="3890503" y="3312473"/>
            <a:chExt cx="849285" cy="721892"/>
          </a:xfrm>
          <a:gradFill>
            <a:gsLst>
              <a:gs pos="22000">
                <a:schemeClr val="accent1"/>
              </a:gs>
              <a:gs pos="83000">
                <a:schemeClr val="accent4"/>
              </a:gs>
              <a:gs pos="100000">
                <a:schemeClr val="accent5"/>
              </a:gs>
            </a:gsLst>
            <a:lin ang="8100000" scaled="0"/>
          </a:gradFill>
        </p:grpSpPr>
        <p:sp>
          <p:nvSpPr>
            <p:cNvPr id="21" name="Graphic 120" descr="Monitor with solid fill">
              <a:extLst>
                <a:ext uri="{FF2B5EF4-FFF2-40B4-BE49-F238E27FC236}">
                  <a16:creationId xmlns:a16="http://schemas.microsoft.com/office/drawing/2014/main" id="{B51596D6-2B14-4F5F-A98D-29295679AFCF}"/>
                </a:ext>
              </a:extLst>
            </p:cNvPr>
            <p:cNvSpPr/>
            <p:nvPr/>
          </p:nvSpPr>
          <p:spPr>
            <a:xfrm>
              <a:off x="3890503" y="3312473"/>
              <a:ext cx="849285" cy="721892"/>
            </a:xfrm>
            <a:custGeom>
              <a:avLst/>
              <a:gdLst>
                <a:gd name="connsiteX0" fmla="*/ 785589 w 849285"/>
                <a:gd name="connsiteY0" fmla="*/ 530803 h 721892"/>
                <a:gd name="connsiteX1" fmla="*/ 63696 w 849285"/>
                <a:gd name="connsiteY1" fmla="*/ 530803 h 721892"/>
                <a:gd name="connsiteX2" fmla="*/ 63696 w 849285"/>
                <a:gd name="connsiteY2" fmla="*/ 63696 h 721892"/>
                <a:gd name="connsiteX3" fmla="*/ 785589 w 849285"/>
                <a:gd name="connsiteY3" fmla="*/ 63696 h 721892"/>
                <a:gd name="connsiteX4" fmla="*/ 785589 w 849285"/>
                <a:gd name="connsiteY4" fmla="*/ 530803 h 721892"/>
                <a:gd name="connsiteX5" fmla="*/ 806821 w 849285"/>
                <a:gd name="connsiteY5" fmla="*/ 0 h 721892"/>
                <a:gd name="connsiteX6" fmla="*/ 42464 w 849285"/>
                <a:gd name="connsiteY6" fmla="*/ 0 h 721892"/>
                <a:gd name="connsiteX7" fmla="*/ 0 w 849285"/>
                <a:gd name="connsiteY7" fmla="*/ 42464 h 721892"/>
                <a:gd name="connsiteX8" fmla="*/ 0 w 849285"/>
                <a:gd name="connsiteY8" fmla="*/ 552035 h 721892"/>
                <a:gd name="connsiteX9" fmla="*/ 42464 w 849285"/>
                <a:gd name="connsiteY9" fmla="*/ 594500 h 721892"/>
                <a:gd name="connsiteX10" fmla="*/ 339714 w 849285"/>
                <a:gd name="connsiteY10" fmla="*/ 594500 h 721892"/>
                <a:gd name="connsiteX11" fmla="*/ 339714 w 849285"/>
                <a:gd name="connsiteY11" fmla="*/ 658196 h 721892"/>
                <a:gd name="connsiteX12" fmla="*/ 233553 w 849285"/>
                <a:gd name="connsiteY12" fmla="*/ 658196 h 721892"/>
                <a:gd name="connsiteX13" fmla="*/ 233553 w 849285"/>
                <a:gd name="connsiteY13" fmla="*/ 721892 h 721892"/>
                <a:gd name="connsiteX14" fmla="*/ 615732 w 849285"/>
                <a:gd name="connsiteY14" fmla="*/ 721892 h 721892"/>
                <a:gd name="connsiteX15" fmla="*/ 615732 w 849285"/>
                <a:gd name="connsiteY15" fmla="*/ 658196 h 721892"/>
                <a:gd name="connsiteX16" fmla="*/ 509571 w 849285"/>
                <a:gd name="connsiteY16" fmla="*/ 658196 h 721892"/>
                <a:gd name="connsiteX17" fmla="*/ 509571 w 849285"/>
                <a:gd name="connsiteY17" fmla="*/ 594500 h 721892"/>
                <a:gd name="connsiteX18" fmla="*/ 806821 w 849285"/>
                <a:gd name="connsiteY18" fmla="*/ 594500 h 721892"/>
                <a:gd name="connsiteX19" fmla="*/ 849285 w 849285"/>
                <a:gd name="connsiteY19" fmla="*/ 552035 h 721892"/>
                <a:gd name="connsiteX20" fmla="*/ 849285 w 849285"/>
                <a:gd name="connsiteY20" fmla="*/ 42464 h 721892"/>
                <a:gd name="connsiteX21" fmla="*/ 806821 w 849285"/>
                <a:gd name="connsiteY21" fmla="*/ 0 h 721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49285" h="721892">
                  <a:moveTo>
                    <a:pt x="785589" y="530803"/>
                  </a:moveTo>
                  <a:lnTo>
                    <a:pt x="63696" y="530803"/>
                  </a:lnTo>
                  <a:lnTo>
                    <a:pt x="63696" y="63696"/>
                  </a:lnTo>
                  <a:lnTo>
                    <a:pt x="785589" y="63696"/>
                  </a:lnTo>
                  <a:lnTo>
                    <a:pt x="785589" y="530803"/>
                  </a:lnTo>
                  <a:close/>
                  <a:moveTo>
                    <a:pt x="806821" y="0"/>
                  </a:moveTo>
                  <a:lnTo>
                    <a:pt x="42464" y="0"/>
                  </a:lnTo>
                  <a:cubicBezTo>
                    <a:pt x="19109" y="0"/>
                    <a:pt x="0" y="19109"/>
                    <a:pt x="0" y="42464"/>
                  </a:cubicBezTo>
                  <a:lnTo>
                    <a:pt x="0" y="552035"/>
                  </a:lnTo>
                  <a:cubicBezTo>
                    <a:pt x="0" y="575391"/>
                    <a:pt x="19109" y="594500"/>
                    <a:pt x="42464" y="594500"/>
                  </a:cubicBezTo>
                  <a:lnTo>
                    <a:pt x="339714" y="594500"/>
                  </a:lnTo>
                  <a:lnTo>
                    <a:pt x="339714" y="658196"/>
                  </a:lnTo>
                  <a:lnTo>
                    <a:pt x="233553" y="658196"/>
                  </a:lnTo>
                  <a:lnTo>
                    <a:pt x="233553" y="721892"/>
                  </a:lnTo>
                  <a:lnTo>
                    <a:pt x="615732" y="721892"/>
                  </a:lnTo>
                  <a:lnTo>
                    <a:pt x="615732" y="658196"/>
                  </a:lnTo>
                  <a:lnTo>
                    <a:pt x="509571" y="658196"/>
                  </a:lnTo>
                  <a:lnTo>
                    <a:pt x="509571" y="594500"/>
                  </a:lnTo>
                  <a:lnTo>
                    <a:pt x="806821" y="594500"/>
                  </a:lnTo>
                  <a:cubicBezTo>
                    <a:pt x="830176" y="594500"/>
                    <a:pt x="849285" y="575391"/>
                    <a:pt x="849285" y="552035"/>
                  </a:cubicBezTo>
                  <a:lnTo>
                    <a:pt x="849285" y="42464"/>
                  </a:lnTo>
                  <a:cubicBezTo>
                    <a:pt x="849285" y="19109"/>
                    <a:pt x="830176" y="0"/>
                    <a:pt x="806821" y="0"/>
                  </a:cubicBezTo>
                  <a:close/>
                </a:path>
              </a:pathLst>
            </a:custGeom>
            <a:grpFill/>
            <a:ln w="1051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7BC0D8E-ABAE-4FA7-A76A-BD6402CB6CA9}"/>
                </a:ext>
              </a:extLst>
            </p:cNvPr>
            <p:cNvGrpSpPr/>
            <p:nvPr/>
          </p:nvGrpSpPr>
          <p:grpSpPr>
            <a:xfrm>
              <a:off x="4091325" y="3410751"/>
              <a:ext cx="467984" cy="385045"/>
              <a:chOff x="3022003" y="3466298"/>
              <a:chExt cx="533400" cy="533400"/>
            </a:xfrm>
            <a:grpFill/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3E21DF0-DF4D-4F6B-9FD9-CD04646D8468}"/>
                  </a:ext>
                </a:extLst>
              </p:cNvPr>
              <p:cNvSpPr/>
              <p:nvPr/>
            </p:nvSpPr>
            <p:spPr>
              <a:xfrm>
                <a:off x="3022003" y="3666323"/>
                <a:ext cx="104775" cy="333375"/>
              </a:xfrm>
              <a:prstGeom prst="round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AE0AD35A-515B-4BC3-8BD2-D80B982AD0AE}"/>
                  </a:ext>
                </a:extLst>
              </p:cNvPr>
              <p:cNvSpPr/>
              <p:nvPr/>
            </p:nvSpPr>
            <p:spPr>
              <a:xfrm>
                <a:off x="3164878" y="3466298"/>
                <a:ext cx="104775" cy="533400"/>
              </a:xfrm>
              <a:prstGeom prst="round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8BC9919-AC22-4C66-91F8-16FED01E960B}"/>
                  </a:ext>
                </a:extLst>
              </p:cNvPr>
              <p:cNvSpPr/>
              <p:nvPr/>
            </p:nvSpPr>
            <p:spPr>
              <a:xfrm>
                <a:off x="3307753" y="3666323"/>
                <a:ext cx="104775" cy="333375"/>
              </a:xfrm>
              <a:prstGeom prst="round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B324C446-FD1F-4302-8422-1AD45BA637C8}"/>
                  </a:ext>
                </a:extLst>
              </p:cNvPr>
              <p:cNvSpPr/>
              <p:nvPr/>
            </p:nvSpPr>
            <p:spPr>
              <a:xfrm>
                <a:off x="3450628" y="3828248"/>
                <a:ext cx="104775" cy="171450"/>
              </a:xfrm>
              <a:prstGeom prst="roundRect">
                <a:avLst/>
              </a:pr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2F102AB-8767-457B-B738-EC17C8166479}"/>
              </a:ext>
            </a:extLst>
          </p:cNvPr>
          <p:cNvSpPr/>
          <p:nvPr/>
        </p:nvSpPr>
        <p:spPr>
          <a:xfrm>
            <a:off x="996526" y="2528506"/>
            <a:ext cx="1192955" cy="6587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Arial" panose="020B0604020202020204" pitchFamily="34" charset="0"/>
              </a:rPr>
              <a:t>חיבוריות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+mn-cs"/>
              </a:rPr>
              <a:t/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+mn-cs"/>
              </a:rPr>
            </a:b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Arial" panose="020B0604020202020204" pitchFamily="34" charset="0"/>
              </a:rPr>
              <a:t>אסטרטגית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BE1253-9A22-4A60-8459-78676D8B1FC5}"/>
              </a:ext>
            </a:extLst>
          </p:cNvPr>
          <p:cNvSpPr/>
          <p:nvPr/>
        </p:nvSpPr>
        <p:spPr>
          <a:xfrm>
            <a:off x="2796660" y="3683312"/>
            <a:ext cx="1099980" cy="371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Arial" panose="020B0604020202020204" pitchFamily="34" charset="0"/>
              </a:rPr>
              <a:t>מערכת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+mn-cs"/>
              </a:rPr>
              <a:t>BI</a:t>
            </a:r>
            <a:endParaRPr kumimoji="0" lang="he-IL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4EA7BC-77FB-4A61-BA5B-DA61F43B1F9D}"/>
              </a:ext>
            </a:extLst>
          </p:cNvPr>
          <p:cNvSpPr/>
          <p:nvPr/>
        </p:nvSpPr>
        <p:spPr>
          <a:xfrm>
            <a:off x="930111" y="4868182"/>
            <a:ext cx="1327607" cy="6587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 2" pitchFamily="18" charset="2"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Arial" panose="020B0604020202020204" pitchFamily="34" charset="0"/>
              </a:rPr>
              <a:t>בסיס נתונים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+mn-cs"/>
              </a:rPr>
              <a:t/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+mn-cs"/>
              </a:rPr>
            </a:b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Arial" panose="020B0604020202020204" pitchFamily="34" charset="0"/>
              </a:rPr>
              <a:t> אחוד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DE7EFA-2A98-41C8-AF67-DF58FE191836}"/>
              </a:ext>
            </a:extLst>
          </p:cNvPr>
          <p:cNvSpPr/>
          <p:nvPr/>
        </p:nvSpPr>
        <p:spPr>
          <a:xfrm>
            <a:off x="2725515" y="5911620"/>
            <a:ext cx="1306768" cy="365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Arial" panose="020B0604020202020204" pitchFamily="34" charset="0"/>
              </a:rPr>
              <a:t>ממשק ניהול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C8ED5C-EABD-449C-8942-08D60A0E8839}"/>
              </a:ext>
            </a:extLst>
          </p:cNvPr>
          <p:cNvSpPr/>
          <p:nvPr/>
        </p:nvSpPr>
        <p:spPr>
          <a:xfrm>
            <a:off x="2999061" y="1553983"/>
            <a:ext cx="787395" cy="365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Arial" panose="020B0604020202020204" pitchFamily="34" charset="0"/>
              </a:rPr>
              <a:t>מדדים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715817-988B-45E1-94EB-18AB14A80448}"/>
              </a:ext>
            </a:extLst>
          </p:cNvPr>
          <p:cNvSpPr/>
          <p:nvPr/>
        </p:nvSpPr>
        <p:spPr>
          <a:xfrm>
            <a:off x="4907898" y="1854665"/>
            <a:ext cx="67778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פיתוח מערכת אנליטית המאפשרת </a:t>
            </a:r>
            <a:r>
              <a:rPr kumimoji="0" lang="he-IL" sz="18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הגדרה, ניהול, ניתוח והנגשה של מדדים, פערים והתראות</a:t>
            </a:r>
            <a:r>
              <a:rPr kumimoji="0" lang="he-IL" sz="1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בשירותים עליהם אמון </a:t>
            </a:r>
            <a:r>
              <a:rPr kumimoji="0" lang="he-IL" sz="1800" b="0" i="0" u="none" strike="noStrike" kern="1200" cap="none" spc="-75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מינהל</a:t>
            </a:r>
            <a:r>
              <a:rPr kumimoji="0" lang="he-IL" sz="1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אזרחים ותיקים, </a:t>
            </a:r>
            <a:r>
              <a:rPr kumimoji="0" lang="en-US" sz="1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/>
            </a:r>
            <a:br>
              <a:rPr kumimoji="0" lang="en-US" sz="1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he-IL" sz="1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לצורך מיקוד תשומת הלב הניהולית בנושאים הדורשים טיפול לאורך יישום תאוריית השינוי</a:t>
            </a:r>
            <a:endParaRPr kumimoji="0" lang="en-US" sz="1800" b="0" i="0" u="none" strike="noStrike" kern="1200" cap="none" spc="-7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A4FBEF-01C4-4D0F-B2A9-6C562DA21C4A}"/>
              </a:ext>
            </a:extLst>
          </p:cNvPr>
          <p:cNvSpPr txBox="1"/>
          <p:nvPr/>
        </p:nvSpPr>
        <p:spPr>
          <a:xfrm>
            <a:off x="1601403" y="287129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תוצרי הפרויקט</a:t>
            </a:r>
            <a:endParaRPr kumimoji="0" lang="en-IL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6479D4-98CB-464B-905F-BBE5702CAB4C}"/>
              </a:ext>
            </a:extLst>
          </p:cNvPr>
          <p:cNvSpPr/>
          <p:nvPr/>
        </p:nvSpPr>
        <p:spPr>
          <a:xfrm>
            <a:off x="6222383" y="5242440"/>
            <a:ext cx="18462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שלב 5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הרחבה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למינהלים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אחרים במשרד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EA268B4-574F-4F42-B96B-EC86062FB068}"/>
              </a:ext>
            </a:extLst>
          </p:cNvPr>
          <p:cNvSpPr/>
          <p:nvPr/>
        </p:nvSpPr>
        <p:spPr>
          <a:xfrm>
            <a:off x="8160459" y="5248249"/>
            <a:ext cx="23558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שלב 4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הוספת מדדי אימפקט לאורך תאוריית השינוי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B0042A-D1E5-40A6-B472-75E7DDBCC5E5}"/>
              </a:ext>
            </a:extLst>
          </p:cNvPr>
          <p:cNvSpPr/>
          <p:nvPr/>
        </p:nvSpPr>
        <p:spPr>
          <a:xfrm>
            <a:off x="9424480" y="4055066"/>
            <a:ext cx="21820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שלב 1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בניית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MVP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he-I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במינהל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באגפי קהילה וחוץ ביתי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DCA0C00-FDC1-4364-BFC9-A7C5CDE1F95C}"/>
              </a:ext>
            </a:extLst>
          </p:cNvPr>
          <p:cNvSpPr/>
          <p:nvPr/>
        </p:nvSpPr>
        <p:spPr>
          <a:xfrm>
            <a:off x="5463752" y="4055066"/>
            <a:ext cx="16765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שלב 3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פיתוח והרחבה מול שותפים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DAE2386-BC7C-4DAC-9A9D-CB298BA27C27}"/>
              </a:ext>
            </a:extLst>
          </p:cNvPr>
          <p:cNvSpPr/>
          <p:nvPr/>
        </p:nvSpPr>
        <p:spPr>
          <a:xfrm>
            <a:off x="6982536" y="4055066"/>
            <a:ext cx="23558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שלב 2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מיפוי צרכים </a:t>
            </a:r>
            <a:r>
              <a:rPr kumimoji="0" lang="he-IL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במינהל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ECE46D-F0D6-43B9-8CCE-D8AE81C67326}"/>
              </a:ext>
            </a:extLst>
          </p:cNvPr>
          <p:cNvSpPr txBox="1"/>
          <p:nvPr/>
        </p:nvSpPr>
        <p:spPr>
          <a:xfrm>
            <a:off x="9676380" y="3357903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שלבים מרכזיים בפרויקט</a:t>
            </a:r>
            <a:endParaRPr kumimoji="0" lang="en-IL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6F58FF4-FE12-447C-A958-E05A45813D86}"/>
              </a:ext>
            </a:extLst>
          </p:cNvPr>
          <p:cNvGrpSpPr>
            <a:grpSpLocks noChangeAspect="1"/>
          </p:cNvGrpSpPr>
          <p:nvPr/>
        </p:nvGrpSpPr>
        <p:grpSpPr>
          <a:xfrm>
            <a:off x="7787081" y="330878"/>
            <a:ext cx="1902729" cy="213867"/>
            <a:chOff x="4313384" y="1520297"/>
            <a:chExt cx="4665515" cy="524404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7F74B44C-4079-45B2-8F84-BC453BC1B71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798"/>
            <a:stretch/>
          </p:blipFill>
          <p:spPr>
            <a:xfrm>
              <a:off x="5003800" y="1520297"/>
              <a:ext cx="3975099" cy="524404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48C4683-ACB6-4389-9654-3A13C4BE625A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313384" y="1520297"/>
              <a:ext cx="550255" cy="524404"/>
              <a:chOff x="6096000" y="2927768"/>
              <a:chExt cx="1277303" cy="1217295"/>
            </a:xfrm>
            <a:gradFill>
              <a:gsLst>
                <a:gs pos="81000">
                  <a:schemeClr val="accent4"/>
                </a:gs>
                <a:gs pos="61000">
                  <a:schemeClr val="accent3"/>
                </a:gs>
                <a:gs pos="100000">
                  <a:schemeClr val="accent5"/>
                </a:gs>
                <a:gs pos="44000">
                  <a:schemeClr val="accent2"/>
                </a:gs>
                <a:gs pos="14000">
                  <a:schemeClr val="accent1"/>
                </a:gs>
              </a:gsLst>
              <a:lin ang="8100000" scaled="1"/>
            </a:gradFill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33215AEA-411C-4E27-AF32-9615D85B3794}"/>
                  </a:ext>
                </a:extLst>
              </p:cNvPr>
              <p:cNvSpPr/>
              <p:nvPr userDrawn="1"/>
            </p:nvSpPr>
            <p:spPr bwMode="gray">
              <a:xfrm>
                <a:off x="6096000" y="3485934"/>
                <a:ext cx="591503" cy="590550"/>
              </a:xfrm>
              <a:prstGeom prst="roundRect">
                <a:avLst>
                  <a:gd name="adj" fmla="val 1367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CFD42696-26A3-466D-8C1B-60152AB31A05}"/>
                  </a:ext>
                </a:extLst>
              </p:cNvPr>
              <p:cNvSpPr/>
              <p:nvPr userDrawn="1"/>
            </p:nvSpPr>
            <p:spPr bwMode="gray">
              <a:xfrm>
                <a:off x="6781800" y="3765016"/>
                <a:ext cx="375285" cy="380047"/>
              </a:xfrm>
              <a:prstGeom prst="roundRect">
                <a:avLst>
                  <a:gd name="adj" fmla="val 2103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F6AE5CC4-995D-4FA2-8DB9-3F6F4D08ABB8}"/>
                  </a:ext>
                </a:extLst>
              </p:cNvPr>
              <p:cNvSpPr/>
              <p:nvPr userDrawn="1"/>
            </p:nvSpPr>
            <p:spPr bwMode="gray">
              <a:xfrm>
                <a:off x="6781800" y="3237332"/>
                <a:ext cx="591503" cy="438150"/>
              </a:xfrm>
              <a:prstGeom prst="roundRect">
                <a:avLst>
                  <a:gd name="adj" fmla="val 18424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650A9910-1186-4D02-BE94-E8E28E3E7B6B}"/>
                  </a:ext>
                </a:extLst>
              </p:cNvPr>
              <p:cNvSpPr/>
              <p:nvPr userDrawn="1"/>
            </p:nvSpPr>
            <p:spPr bwMode="gray">
              <a:xfrm>
                <a:off x="6312217" y="3018257"/>
                <a:ext cx="375286" cy="371056"/>
              </a:xfrm>
              <a:prstGeom prst="roundRect">
                <a:avLst>
                  <a:gd name="adj" fmla="val 2047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F3806033-6D33-439F-BDB7-FE5EB3D38408}"/>
                  </a:ext>
                </a:extLst>
              </p:cNvPr>
              <p:cNvSpPr/>
              <p:nvPr userDrawn="1"/>
            </p:nvSpPr>
            <p:spPr bwMode="gray">
              <a:xfrm>
                <a:off x="6781800" y="2927768"/>
                <a:ext cx="375285" cy="220029"/>
              </a:xfrm>
              <a:prstGeom prst="roundRect">
                <a:avLst>
                  <a:gd name="adj" fmla="val 3389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3" name="Freeform 78">
            <a:extLst>
              <a:ext uri="{FF2B5EF4-FFF2-40B4-BE49-F238E27FC236}">
                <a16:creationId xmlns:a16="http://schemas.microsoft.com/office/drawing/2014/main" id="{45FC6C2A-219D-4060-907E-20DC0B398E5B}"/>
              </a:ext>
            </a:extLst>
          </p:cNvPr>
          <p:cNvSpPr>
            <a:spLocks noEditPoints="1"/>
          </p:cNvSpPr>
          <p:nvPr/>
        </p:nvSpPr>
        <p:spPr bwMode="auto">
          <a:xfrm>
            <a:off x="11148004" y="3816206"/>
            <a:ext cx="193675" cy="250825"/>
          </a:xfrm>
          <a:custGeom>
            <a:avLst/>
            <a:gdLst>
              <a:gd name="T0" fmla="*/ 122 w 243"/>
              <a:gd name="T1" fmla="*/ 317 h 317"/>
              <a:gd name="T2" fmla="*/ 125 w 243"/>
              <a:gd name="T3" fmla="*/ 314 h 317"/>
              <a:gd name="T4" fmla="*/ 146 w 243"/>
              <a:gd name="T5" fmla="*/ 293 h 317"/>
              <a:gd name="T6" fmla="*/ 187 w 243"/>
              <a:gd name="T7" fmla="*/ 244 h 317"/>
              <a:gd name="T8" fmla="*/ 216 w 243"/>
              <a:gd name="T9" fmla="*/ 197 h 317"/>
              <a:gd name="T10" fmla="*/ 232 w 243"/>
              <a:gd name="T11" fmla="*/ 166 h 317"/>
              <a:gd name="T12" fmla="*/ 242 w 243"/>
              <a:gd name="T13" fmla="*/ 135 h 317"/>
              <a:gd name="T14" fmla="*/ 243 w 243"/>
              <a:gd name="T15" fmla="*/ 122 h 317"/>
              <a:gd name="T16" fmla="*/ 240 w 243"/>
              <a:gd name="T17" fmla="*/ 94 h 317"/>
              <a:gd name="T18" fmla="*/ 232 w 243"/>
              <a:gd name="T19" fmla="*/ 70 h 317"/>
              <a:gd name="T20" fmla="*/ 220 w 243"/>
              <a:gd name="T21" fmla="*/ 50 h 317"/>
              <a:gd name="T22" fmla="*/ 206 w 243"/>
              <a:gd name="T23" fmla="*/ 32 h 317"/>
              <a:gd name="T24" fmla="*/ 187 w 243"/>
              <a:gd name="T25" fmla="*/ 19 h 317"/>
              <a:gd name="T26" fmla="*/ 167 w 243"/>
              <a:gd name="T27" fmla="*/ 8 h 317"/>
              <a:gd name="T28" fmla="*/ 144 w 243"/>
              <a:gd name="T29" fmla="*/ 1 h 317"/>
              <a:gd name="T30" fmla="*/ 122 w 243"/>
              <a:gd name="T31" fmla="*/ 0 h 317"/>
              <a:gd name="T32" fmla="*/ 110 w 243"/>
              <a:gd name="T33" fmla="*/ 0 h 317"/>
              <a:gd name="T34" fmla="*/ 89 w 243"/>
              <a:gd name="T35" fmla="*/ 4 h 317"/>
              <a:gd name="T36" fmla="*/ 67 w 243"/>
              <a:gd name="T37" fmla="*/ 12 h 317"/>
              <a:gd name="T38" fmla="*/ 47 w 243"/>
              <a:gd name="T39" fmla="*/ 24 h 317"/>
              <a:gd name="T40" fmla="*/ 31 w 243"/>
              <a:gd name="T41" fmla="*/ 40 h 317"/>
              <a:gd name="T42" fmla="*/ 16 w 243"/>
              <a:gd name="T43" fmla="*/ 59 h 317"/>
              <a:gd name="T44" fmla="*/ 7 w 243"/>
              <a:gd name="T45" fmla="*/ 82 h 317"/>
              <a:gd name="T46" fmla="*/ 1 w 243"/>
              <a:gd name="T47" fmla="*/ 107 h 317"/>
              <a:gd name="T48" fmla="*/ 0 w 243"/>
              <a:gd name="T49" fmla="*/ 122 h 317"/>
              <a:gd name="T50" fmla="*/ 5 w 243"/>
              <a:gd name="T51" fmla="*/ 150 h 317"/>
              <a:gd name="T52" fmla="*/ 18 w 243"/>
              <a:gd name="T53" fmla="*/ 182 h 317"/>
              <a:gd name="T54" fmla="*/ 36 w 243"/>
              <a:gd name="T55" fmla="*/ 213 h 317"/>
              <a:gd name="T56" fmla="*/ 79 w 243"/>
              <a:gd name="T57" fmla="*/ 271 h 317"/>
              <a:gd name="T58" fmla="*/ 118 w 243"/>
              <a:gd name="T59" fmla="*/ 314 h 317"/>
              <a:gd name="T60" fmla="*/ 120 w 243"/>
              <a:gd name="T61" fmla="*/ 315 h 317"/>
              <a:gd name="T62" fmla="*/ 122 w 243"/>
              <a:gd name="T63" fmla="*/ 317 h 317"/>
              <a:gd name="T64" fmla="*/ 85 w 243"/>
              <a:gd name="T65" fmla="*/ 121 h 317"/>
              <a:gd name="T66" fmla="*/ 87 w 243"/>
              <a:gd name="T67" fmla="*/ 106 h 317"/>
              <a:gd name="T68" fmla="*/ 95 w 243"/>
              <a:gd name="T69" fmla="*/ 95 h 317"/>
              <a:gd name="T70" fmla="*/ 108 w 243"/>
              <a:gd name="T71" fmla="*/ 87 h 317"/>
              <a:gd name="T72" fmla="*/ 122 w 243"/>
              <a:gd name="T73" fmla="*/ 84 h 317"/>
              <a:gd name="T74" fmla="*/ 129 w 243"/>
              <a:gd name="T75" fmla="*/ 84 h 317"/>
              <a:gd name="T76" fmla="*/ 142 w 243"/>
              <a:gd name="T77" fmla="*/ 90 h 317"/>
              <a:gd name="T78" fmla="*/ 152 w 243"/>
              <a:gd name="T79" fmla="*/ 101 h 317"/>
              <a:gd name="T80" fmla="*/ 159 w 243"/>
              <a:gd name="T81" fmla="*/ 114 h 317"/>
              <a:gd name="T82" fmla="*/ 159 w 243"/>
              <a:gd name="T83" fmla="*/ 121 h 317"/>
              <a:gd name="T84" fmla="*/ 156 w 243"/>
              <a:gd name="T85" fmla="*/ 135 h 317"/>
              <a:gd name="T86" fmla="*/ 148 w 243"/>
              <a:gd name="T87" fmla="*/ 148 h 317"/>
              <a:gd name="T88" fmla="*/ 136 w 243"/>
              <a:gd name="T89" fmla="*/ 156 h 317"/>
              <a:gd name="T90" fmla="*/ 122 w 243"/>
              <a:gd name="T91" fmla="*/ 158 h 317"/>
              <a:gd name="T92" fmla="*/ 114 w 243"/>
              <a:gd name="T93" fmla="*/ 157 h 317"/>
              <a:gd name="T94" fmla="*/ 101 w 243"/>
              <a:gd name="T95" fmla="*/ 152 h 317"/>
              <a:gd name="T96" fmla="*/ 91 w 243"/>
              <a:gd name="T97" fmla="*/ 142 h 317"/>
              <a:gd name="T98" fmla="*/ 86 w 243"/>
              <a:gd name="T99" fmla="*/ 129 h 317"/>
              <a:gd name="T100" fmla="*/ 85 w 243"/>
              <a:gd name="T101" fmla="*/ 121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43" h="317">
                <a:moveTo>
                  <a:pt x="122" y="317"/>
                </a:moveTo>
                <a:lnTo>
                  <a:pt x="122" y="317"/>
                </a:lnTo>
                <a:lnTo>
                  <a:pt x="124" y="315"/>
                </a:lnTo>
                <a:lnTo>
                  <a:pt x="125" y="314"/>
                </a:lnTo>
                <a:lnTo>
                  <a:pt x="125" y="314"/>
                </a:lnTo>
                <a:lnTo>
                  <a:pt x="146" y="293"/>
                </a:lnTo>
                <a:lnTo>
                  <a:pt x="165" y="271"/>
                </a:lnTo>
                <a:lnTo>
                  <a:pt x="187" y="244"/>
                </a:lnTo>
                <a:lnTo>
                  <a:pt x="207" y="213"/>
                </a:lnTo>
                <a:lnTo>
                  <a:pt x="216" y="197"/>
                </a:lnTo>
                <a:lnTo>
                  <a:pt x="226" y="182"/>
                </a:lnTo>
                <a:lnTo>
                  <a:pt x="232" y="166"/>
                </a:lnTo>
                <a:lnTo>
                  <a:pt x="238" y="150"/>
                </a:lnTo>
                <a:lnTo>
                  <a:pt x="242" y="135"/>
                </a:lnTo>
                <a:lnTo>
                  <a:pt x="243" y="122"/>
                </a:lnTo>
                <a:lnTo>
                  <a:pt x="243" y="122"/>
                </a:lnTo>
                <a:lnTo>
                  <a:pt x="243" y="107"/>
                </a:lnTo>
                <a:lnTo>
                  <a:pt x="240" y="94"/>
                </a:lnTo>
                <a:lnTo>
                  <a:pt x="238" y="82"/>
                </a:lnTo>
                <a:lnTo>
                  <a:pt x="232" y="70"/>
                </a:lnTo>
                <a:lnTo>
                  <a:pt x="227" y="59"/>
                </a:lnTo>
                <a:lnTo>
                  <a:pt x="220" y="50"/>
                </a:lnTo>
                <a:lnTo>
                  <a:pt x="214" y="40"/>
                </a:lnTo>
                <a:lnTo>
                  <a:pt x="206" y="32"/>
                </a:lnTo>
                <a:lnTo>
                  <a:pt x="196" y="24"/>
                </a:lnTo>
                <a:lnTo>
                  <a:pt x="187" y="19"/>
                </a:lnTo>
                <a:lnTo>
                  <a:pt x="176" y="12"/>
                </a:lnTo>
                <a:lnTo>
                  <a:pt x="167" y="8"/>
                </a:lnTo>
                <a:lnTo>
                  <a:pt x="156" y="4"/>
                </a:lnTo>
                <a:lnTo>
                  <a:pt x="144" y="1"/>
                </a:lnTo>
                <a:lnTo>
                  <a:pt x="133" y="0"/>
                </a:lnTo>
                <a:lnTo>
                  <a:pt x="122" y="0"/>
                </a:lnTo>
                <a:lnTo>
                  <a:pt x="122" y="0"/>
                </a:lnTo>
                <a:lnTo>
                  <a:pt x="110" y="0"/>
                </a:lnTo>
                <a:lnTo>
                  <a:pt x="99" y="1"/>
                </a:lnTo>
                <a:lnTo>
                  <a:pt x="89" y="4"/>
                </a:lnTo>
                <a:lnTo>
                  <a:pt x="78" y="8"/>
                </a:lnTo>
                <a:lnTo>
                  <a:pt x="67" y="12"/>
                </a:lnTo>
                <a:lnTo>
                  <a:pt x="58" y="19"/>
                </a:lnTo>
                <a:lnTo>
                  <a:pt x="47" y="24"/>
                </a:lnTo>
                <a:lnTo>
                  <a:pt x="39" y="32"/>
                </a:lnTo>
                <a:lnTo>
                  <a:pt x="31" y="40"/>
                </a:lnTo>
                <a:lnTo>
                  <a:pt x="23" y="50"/>
                </a:lnTo>
                <a:lnTo>
                  <a:pt x="16" y="59"/>
                </a:lnTo>
                <a:lnTo>
                  <a:pt x="11" y="70"/>
                </a:lnTo>
                <a:lnTo>
                  <a:pt x="7" y="82"/>
                </a:lnTo>
                <a:lnTo>
                  <a:pt x="3" y="94"/>
                </a:lnTo>
                <a:lnTo>
                  <a:pt x="1" y="107"/>
                </a:lnTo>
                <a:lnTo>
                  <a:pt x="0" y="122"/>
                </a:lnTo>
                <a:lnTo>
                  <a:pt x="0" y="122"/>
                </a:lnTo>
                <a:lnTo>
                  <a:pt x="1" y="135"/>
                </a:lnTo>
                <a:lnTo>
                  <a:pt x="5" y="150"/>
                </a:lnTo>
                <a:lnTo>
                  <a:pt x="11" y="166"/>
                </a:lnTo>
                <a:lnTo>
                  <a:pt x="18" y="182"/>
                </a:lnTo>
                <a:lnTo>
                  <a:pt x="27" y="197"/>
                </a:lnTo>
                <a:lnTo>
                  <a:pt x="36" y="213"/>
                </a:lnTo>
                <a:lnTo>
                  <a:pt x="58" y="244"/>
                </a:lnTo>
                <a:lnTo>
                  <a:pt x="79" y="271"/>
                </a:lnTo>
                <a:lnTo>
                  <a:pt x="98" y="293"/>
                </a:lnTo>
                <a:lnTo>
                  <a:pt x="118" y="314"/>
                </a:lnTo>
                <a:lnTo>
                  <a:pt x="118" y="314"/>
                </a:lnTo>
                <a:lnTo>
                  <a:pt x="120" y="315"/>
                </a:lnTo>
                <a:lnTo>
                  <a:pt x="122" y="317"/>
                </a:lnTo>
                <a:lnTo>
                  <a:pt x="122" y="317"/>
                </a:lnTo>
                <a:close/>
                <a:moveTo>
                  <a:pt x="85" y="121"/>
                </a:moveTo>
                <a:lnTo>
                  <a:pt x="85" y="121"/>
                </a:lnTo>
                <a:lnTo>
                  <a:pt x="86" y="114"/>
                </a:lnTo>
                <a:lnTo>
                  <a:pt x="87" y="106"/>
                </a:lnTo>
                <a:lnTo>
                  <a:pt x="91" y="101"/>
                </a:lnTo>
                <a:lnTo>
                  <a:pt x="95" y="95"/>
                </a:lnTo>
                <a:lnTo>
                  <a:pt x="101" y="90"/>
                </a:lnTo>
                <a:lnTo>
                  <a:pt x="108" y="87"/>
                </a:lnTo>
                <a:lnTo>
                  <a:pt x="114" y="84"/>
                </a:lnTo>
                <a:lnTo>
                  <a:pt x="122" y="84"/>
                </a:lnTo>
                <a:lnTo>
                  <a:pt x="122" y="84"/>
                </a:lnTo>
                <a:lnTo>
                  <a:pt x="129" y="84"/>
                </a:lnTo>
                <a:lnTo>
                  <a:pt x="136" y="87"/>
                </a:lnTo>
                <a:lnTo>
                  <a:pt x="142" y="90"/>
                </a:lnTo>
                <a:lnTo>
                  <a:pt x="148" y="95"/>
                </a:lnTo>
                <a:lnTo>
                  <a:pt x="152" y="101"/>
                </a:lnTo>
                <a:lnTo>
                  <a:pt x="156" y="106"/>
                </a:lnTo>
                <a:lnTo>
                  <a:pt x="159" y="114"/>
                </a:lnTo>
                <a:lnTo>
                  <a:pt x="159" y="121"/>
                </a:lnTo>
                <a:lnTo>
                  <a:pt x="159" y="121"/>
                </a:lnTo>
                <a:lnTo>
                  <a:pt x="159" y="129"/>
                </a:lnTo>
                <a:lnTo>
                  <a:pt x="156" y="135"/>
                </a:lnTo>
                <a:lnTo>
                  <a:pt x="152" y="142"/>
                </a:lnTo>
                <a:lnTo>
                  <a:pt x="148" y="148"/>
                </a:lnTo>
                <a:lnTo>
                  <a:pt x="142" y="152"/>
                </a:lnTo>
                <a:lnTo>
                  <a:pt x="136" y="156"/>
                </a:lnTo>
                <a:lnTo>
                  <a:pt x="129" y="157"/>
                </a:lnTo>
                <a:lnTo>
                  <a:pt x="122" y="158"/>
                </a:lnTo>
                <a:lnTo>
                  <a:pt x="122" y="158"/>
                </a:lnTo>
                <a:lnTo>
                  <a:pt x="114" y="157"/>
                </a:lnTo>
                <a:lnTo>
                  <a:pt x="108" y="156"/>
                </a:lnTo>
                <a:lnTo>
                  <a:pt x="101" y="152"/>
                </a:lnTo>
                <a:lnTo>
                  <a:pt x="95" y="148"/>
                </a:lnTo>
                <a:lnTo>
                  <a:pt x="91" y="142"/>
                </a:lnTo>
                <a:lnTo>
                  <a:pt x="87" y="135"/>
                </a:lnTo>
                <a:lnTo>
                  <a:pt x="86" y="129"/>
                </a:lnTo>
                <a:lnTo>
                  <a:pt x="85" y="121"/>
                </a:lnTo>
                <a:lnTo>
                  <a:pt x="85" y="1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4" descr="fast forward&quot; Icon - Download for free – Iconduck">
            <a:extLst>
              <a:ext uri="{FF2B5EF4-FFF2-40B4-BE49-F238E27FC236}">
                <a16:creationId xmlns:a16="http://schemas.microsoft.com/office/drawing/2014/main" id="{B3ADB82E-7C90-6BEF-D93A-46D60140B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1" y="6480925"/>
            <a:ext cx="313018" cy="31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0182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8965FBC1-2A82-108E-8B47-18FC6DCF50B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720" y="1601500"/>
            <a:ext cx="5222240" cy="29031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0DDEDA06-D0CE-410B-BCCC-F2FF827A58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179430"/>
            <a:ext cx="5669280" cy="31634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7121C56-1388-4841-9EC7-DDD4C1B48348}"/>
              </a:ext>
            </a:extLst>
          </p:cNvPr>
          <p:cNvGrpSpPr>
            <a:grpSpLocks noChangeAspect="1"/>
          </p:cNvGrpSpPr>
          <p:nvPr/>
        </p:nvGrpSpPr>
        <p:grpSpPr>
          <a:xfrm>
            <a:off x="9641840" y="542051"/>
            <a:ext cx="1902729" cy="213867"/>
            <a:chOff x="4313384" y="1520297"/>
            <a:chExt cx="4665515" cy="5244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C30878-9B4E-4D02-A5DC-86CA7B9E496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798"/>
            <a:stretch/>
          </p:blipFill>
          <p:spPr>
            <a:xfrm>
              <a:off x="5003800" y="1520297"/>
              <a:ext cx="3975099" cy="524404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A6548EF-1583-4625-8B63-E73EC8B54195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4313384" y="1520297"/>
              <a:ext cx="550255" cy="524404"/>
              <a:chOff x="6096000" y="2927768"/>
              <a:chExt cx="1277303" cy="1217295"/>
            </a:xfrm>
            <a:gradFill>
              <a:gsLst>
                <a:gs pos="81000">
                  <a:schemeClr val="accent4"/>
                </a:gs>
                <a:gs pos="61000">
                  <a:schemeClr val="accent3"/>
                </a:gs>
                <a:gs pos="100000">
                  <a:schemeClr val="accent5"/>
                </a:gs>
                <a:gs pos="44000">
                  <a:schemeClr val="accent2"/>
                </a:gs>
                <a:gs pos="14000">
                  <a:schemeClr val="accent1"/>
                </a:gs>
              </a:gsLst>
              <a:lin ang="8100000" scaled="1"/>
            </a:gradFill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A38BCC0-8804-4B36-BB99-B6ABDF3B1BBE}"/>
                  </a:ext>
                </a:extLst>
              </p:cNvPr>
              <p:cNvSpPr/>
              <p:nvPr userDrawn="1"/>
            </p:nvSpPr>
            <p:spPr bwMode="gray">
              <a:xfrm>
                <a:off x="6096000" y="3485934"/>
                <a:ext cx="591503" cy="590550"/>
              </a:xfrm>
              <a:prstGeom prst="roundRect">
                <a:avLst>
                  <a:gd name="adj" fmla="val 1367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4A7A56CB-8776-4A11-BBFC-8E67C8F479FC}"/>
                  </a:ext>
                </a:extLst>
              </p:cNvPr>
              <p:cNvSpPr/>
              <p:nvPr userDrawn="1"/>
            </p:nvSpPr>
            <p:spPr bwMode="gray">
              <a:xfrm>
                <a:off x="6781800" y="3765016"/>
                <a:ext cx="375285" cy="380047"/>
              </a:xfrm>
              <a:prstGeom prst="roundRect">
                <a:avLst>
                  <a:gd name="adj" fmla="val 21033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E12BF4B3-E293-4720-B01B-2FE8A7D62C8B}"/>
                  </a:ext>
                </a:extLst>
              </p:cNvPr>
              <p:cNvSpPr/>
              <p:nvPr userDrawn="1"/>
            </p:nvSpPr>
            <p:spPr bwMode="gray">
              <a:xfrm>
                <a:off x="6781800" y="3237332"/>
                <a:ext cx="591503" cy="438150"/>
              </a:xfrm>
              <a:prstGeom prst="roundRect">
                <a:avLst>
                  <a:gd name="adj" fmla="val 18424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167B2BD-34C6-42EB-BE77-F96FFEC83F78}"/>
                  </a:ext>
                </a:extLst>
              </p:cNvPr>
              <p:cNvSpPr/>
              <p:nvPr userDrawn="1"/>
            </p:nvSpPr>
            <p:spPr bwMode="gray">
              <a:xfrm>
                <a:off x="6312217" y="3018257"/>
                <a:ext cx="375286" cy="371056"/>
              </a:xfrm>
              <a:prstGeom prst="roundRect">
                <a:avLst>
                  <a:gd name="adj" fmla="val 2047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B94E952-462B-480B-99E7-60CEE384E920}"/>
                  </a:ext>
                </a:extLst>
              </p:cNvPr>
              <p:cNvSpPr/>
              <p:nvPr userDrawn="1"/>
            </p:nvSpPr>
            <p:spPr bwMode="gray">
              <a:xfrm>
                <a:off x="6781800" y="2927768"/>
                <a:ext cx="375285" cy="220029"/>
              </a:xfrm>
              <a:prstGeom prst="roundRect">
                <a:avLst>
                  <a:gd name="adj" fmla="val 33898"/>
                </a:avLst>
              </a:prstGeom>
              <a:grpFill/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88900" tIns="88900" rIns="88900" bIns="889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6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 2" pitchFamily="18" charset="2"/>
                  <a:buNone/>
                  <a:tabLst/>
                  <a:defRPr/>
                </a:pPr>
                <a:endParaRPr kumimoji="0" lang="en-IL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2FB103E-DE3D-4D24-A7C1-3917713F4080}"/>
              </a:ext>
            </a:extLst>
          </p:cNvPr>
          <p:cNvSpPr/>
          <p:nvPr/>
        </p:nvSpPr>
        <p:spPr>
          <a:xfrm>
            <a:off x="5757966" y="823695"/>
            <a:ext cx="5960961" cy="496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Gap Analyzer </a:t>
            </a: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 דשבורדים לדוגמא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88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3B842E-8B18-A52D-1306-410268E572D6}"/>
              </a:ext>
            </a:extLst>
          </p:cNvPr>
          <p:cNvSpPr txBox="1">
            <a:spLocks/>
          </p:cNvSpPr>
          <p:nvPr/>
        </p:nvSpPr>
        <p:spPr>
          <a:xfrm flipH="1">
            <a:off x="787025" y="321804"/>
            <a:ext cx="11179628" cy="692150"/>
          </a:xfrm>
          <a:prstGeom prst="rect">
            <a:avLst/>
          </a:prstGeom>
        </p:spPr>
        <p:txBody>
          <a:bodyPr/>
          <a:lstStyle>
            <a:lvl1pPr algn="l" defTabSz="914400" rtl="1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0" i="0" u="none" strike="noStrike" kern="1200" cap="none" spc="-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Bebas Neue" charset="0"/>
                <a:cs typeface="Segoe UI" panose="020B0502040204020203" pitchFamily="34" charset="0"/>
              </a:rPr>
              <a:t>יישום מדרגי: תכנון להטמעה מלאה של המערכת בכלל </a:t>
            </a:r>
            <a:r>
              <a:rPr kumimoji="0" lang="he-IL" sz="2800" b="0" i="0" u="none" strike="noStrike" kern="1200" cap="none" spc="-75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Bebas Neue" charset="0"/>
                <a:cs typeface="Segoe UI" panose="020B0502040204020203" pitchFamily="34" charset="0"/>
              </a:rPr>
              <a:t>המינהלים</a:t>
            </a:r>
            <a:r>
              <a:rPr kumimoji="0" lang="he-IL" sz="2800" b="0" i="0" u="none" strike="noStrike" kern="1200" cap="none" spc="-7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Bebas Neue" charset="0"/>
                <a:cs typeface="Segoe UI" panose="020B0502040204020203" pitchFamily="34" charset="0"/>
              </a:rPr>
              <a:t> במשרד </a:t>
            </a:r>
            <a:endParaRPr kumimoji="0" lang="en-US" sz="2800" b="0" i="0" u="none" strike="noStrike" kern="1200" cap="none" spc="-75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Bebas Neue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AA4D10-58F5-3062-0D31-3E98BF2BD4A1}"/>
              </a:ext>
            </a:extLst>
          </p:cNvPr>
          <p:cNvSpPr/>
          <p:nvPr/>
        </p:nvSpPr>
        <p:spPr bwMode="gray">
          <a:xfrm>
            <a:off x="10245081" y="764258"/>
            <a:ext cx="1604199" cy="47748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I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F8437C4-F74B-DF2D-D2BA-E743D98C92B3}"/>
              </a:ext>
            </a:extLst>
          </p:cNvPr>
          <p:cNvSpPr/>
          <p:nvPr/>
        </p:nvSpPr>
        <p:spPr bwMode="gray">
          <a:xfrm>
            <a:off x="1743075" y="4252292"/>
            <a:ext cx="1440000" cy="1440000"/>
          </a:xfrm>
          <a:prstGeom prst="ellipse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I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1F05DA7-17E5-644D-A048-B4F5343C0886}"/>
              </a:ext>
            </a:extLst>
          </p:cNvPr>
          <p:cNvSpPr/>
          <p:nvPr/>
        </p:nvSpPr>
        <p:spPr bwMode="gray">
          <a:xfrm>
            <a:off x="3545709" y="3586237"/>
            <a:ext cx="1440000" cy="1440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I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94B415C-0908-E71A-45C6-DD35F44F6CC2}"/>
              </a:ext>
            </a:extLst>
          </p:cNvPr>
          <p:cNvSpPr/>
          <p:nvPr/>
        </p:nvSpPr>
        <p:spPr bwMode="gray">
          <a:xfrm>
            <a:off x="5348343" y="2920180"/>
            <a:ext cx="1440000" cy="1440000"/>
          </a:xfrm>
          <a:prstGeom prst="ellipse">
            <a:avLst/>
          </a:prstGeom>
          <a:solidFill>
            <a:schemeClr val="accent4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I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4DCBBB-F4C7-2D03-9EA9-00CF62893BB7}"/>
              </a:ext>
            </a:extLst>
          </p:cNvPr>
          <p:cNvSpPr/>
          <p:nvPr/>
        </p:nvSpPr>
        <p:spPr bwMode="gray">
          <a:xfrm>
            <a:off x="7150977" y="2254123"/>
            <a:ext cx="1440000" cy="1440000"/>
          </a:xfrm>
          <a:prstGeom prst="ellipse">
            <a:avLst/>
          </a:prstGeom>
          <a:solidFill>
            <a:schemeClr val="accent5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I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22FA078-C6C1-95F0-4E37-31875425D3DF}"/>
              </a:ext>
            </a:extLst>
          </p:cNvPr>
          <p:cNvSpPr/>
          <p:nvPr/>
        </p:nvSpPr>
        <p:spPr bwMode="gray">
          <a:xfrm>
            <a:off x="8953612" y="1588066"/>
            <a:ext cx="1440000" cy="1440000"/>
          </a:xfrm>
          <a:prstGeom prst="ellipse">
            <a:avLst/>
          </a:prstGeom>
          <a:solidFill>
            <a:schemeClr val="accent6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itchFamily="18" charset="2"/>
              <a:buNone/>
              <a:tabLst/>
              <a:defRPr/>
            </a:pPr>
            <a:endParaRPr kumimoji="0" lang="en-I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7" name="Graphic 46" descr="Back with solid fill">
            <a:extLst>
              <a:ext uri="{FF2B5EF4-FFF2-40B4-BE49-F238E27FC236}">
                <a16:creationId xmlns:a16="http://schemas.microsoft.com/office/drawing/2014/main" id="{7BC8C853-E5C2-0125-3006-FEC48CAA25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0042" y="3571837"/>
            <a:ext cx="914400" cy="914400"/>
          </a:xfrm>
          <a:prstGeom prst="rect">
            <a:avLst/>
          </a:prstGeom>
        </p:spPr>
      </p:pic>
      <p:pic>
        <p:nvPicPr>
          <p:cNvPr id="48" name="Graphic 47" descr="Back with solid fill">
            <a:extLst>
              <a:ext uri="{FF2B5EF4-FFF2-40B4-BE49-F238E27FC236}">
                <a16:creationId xmlns:a16="http://schemas.microsoft.com/office/drawing/2014/main" id="{E4D0CB69-ACFC-9706-4C5D-FDFBD4864A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77814" y="2868638"/>
            <a:ext cx="914400" cy="914400"/>
          </a:xfrm>
          <a:prstGeom prst="rect">
            <a:avLst/>
          </a:prstGeom>
        </p:spPr>
      </p:pic>
      <p:pic>
        <p:nvPicPr>
          <p:cNvPr id="49" name="Graphic 48" descr="Back with solid fill">
            <a:extLst>
              <a:ext uri="{FF2B5EF4-FFF2-40B4-BE49-F238E27FC236}">
                <a16:creationId xmlns:a16="http://schemas.microsoft.com/office/drawing/2014/main" id="{DA50FF99-0AD2-BEE4-FC00-FCAD0D3D22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3714" y="2181696"/>
            <a:ext cx="914400" cy="914400"/>
          </a:xfrm>
          <a:prstGeom prst="rect">
            <a:avLst/>
          </a:prstGeom>
        </p:spPr>
      </p:pic>
      <p:pic>
        <p:nvPicPr>
          <p:cNvPr id="50" name="Graphic 49" descr="Back with solid fill">
            <a:extLst>
              <a:ext uri="{FF2B5EF4-FFF2-40B4-BE49-F238E27FC236}">
                <a16:creationId xmlns:a16="http://schemas.microsoft.com/office/drawing/2014/main" id="{691CB75E-705D-CE9D-DF90-D1CA2784449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93677" y="1502882"/>
            <a:ext cx="914400" cy="9144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E2906B9-74D5-C07A-5378-37C897378AB5}"/>
              </a:ext>
            </a:extLst>
          </p:cNvPr>
          <p:cNvSpPr txBox="1"/>
          <p:nvPr/>
        </p:nvSpPr>
        <p:spPr>
          <a:xfrm>
            <a:off x="1743075" y="4378090"/>
            <a:ext cx="14074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שלב 1</a:t>
            </a:r>
          </a:p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בניית </a:t>
            </a:r>
            <a:r>
              <a:rPr kumimoji="0" lang="en-US" sz="14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MVP</a:t>
            </a:r>
            <a:r>
              <a:rPr kumimoji="0" lang="he-IL" sz="14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he-IL" sz="1400" b="0" i="0" u="none" strike="noStrike" kern="1200" cap="none" spc="-75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במינהל</a:t>
            </a:r>
            <a:r>
              <a:rPr kumimoji="0" lang="he-IL" sz="14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במדדים שייבחרו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D1DF89-6660-3B6B-1E0B-48CA884817F3}"/>
              </a:ext>
            </a:extLst>
          </p:cNvPr>
          <p:cNvSpPr txBox="1"/>
          <p:nvPr/>
        </p:nvSpPr>
        <p:spPr>
          <a:xfrm>
            <a:off x="3494442" y="3718552"/>
            <a:ext cx="15253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-75" normalizeH="0" baseline="0" noProof="0" dirty="0">
                <a:ln>
                  <a:noFill/>
                </a:ln>
                <a:solidFill>
                  <a:srgbClr val="F3F1F2">
                    <a:lumMod val="1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שלב 2</a:t>
            </a:r>
          </a:p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-75" normalizeH="0" baseline="0" noProof="0" dirty="0">
                <a:ln>
                  <a:noFill/>
                </a:ln>
                <a:solidFill>
                  <a:srgbClr val="F3F1F2">
                    <a:lumMod val="1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בירור צרכים והרחבה למדדים נוספים </a:t>
            </a:r>
            <a:r>
              <a:rPr kumimoji="0" lang="he-IL" sz="1400" b="0" i="0" u="none" strike="noStrike" kern="1200" cap="none" spc="-75" normalizeH="0" baseline="0" noProof="0" dirty="0" err="1">
                <a:ln>
                  <a:noFill/>
                </a:ln>
                <a:solidFill>
                  <a:srgbClr val="F3F1F2">
                    <a:lumMod val="1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במינהל</a:t>
            </a:r>
            <a:r>
              <a:rPr kumimoji="0" lang="he-IL" sz="1400" b="0" i="0" u="none" strike="noStrike" kern="1200" cap="none" spc="-75" normalizeH="0" baseline="0" noProof="0" dirty="0">
                <a:ln>
                  <a:noFill/>
                </a:ln>
                <a:solidFill>
                  <a:srgbClr val="F3F1F2">
                    <a:lumMod val="1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AC05A5B-A2D0-1BAB-5DC4-3B8ACC127CED}"/>
              </a:ext>
            </a:extLst>
          </p:cNvPr>
          <p:cNvSpPr txBox="1"/>
          <p:nvPr/>
        </p:nvSpPr>
        <p:spPr>
          <a:xfrm>
            <a:off x="5305668" y="3072970"/>
            <a:ext cx="15253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-75" normalizeH="0" baseline="0" noProof="0" dirty="0">
                <a:ln>
                  <a:noFill/>
                </a:ln>
                <a:solidFill>
                  <a:srgbClr val="F3F1F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שלב 3</a:t>
            </a:r>
          </a:p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-75" normalizeH="0" baseline="0" noProof="0" dirty="0">
                <a:ln>
                  <a:noFill/>
                </a:ln>
                <a:solidFill>
                  <a:srgbClr val="F3F1F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הפעלה ושיפור מתמיד של הכלי </a:t>
            </a:r>
            <a:r>
              <a:rPr kumimoji="0" lang="he-IL" sz="1400" b="0" i="0" u="none" strike="noStrike" kern="1200" cap="none" spc="-75" normalizeH="0" baseline="0" noProof="0" dirty="0" err="1">
                <a:ln>
                  <a:noFill/>
                </a:ln>
                <a:solidFill>
                  <a:srgbClr val="F3F1F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במינהל</a:t>
            </a:r>
            <a:endParaRPr kumimoji="0" lang="he-IL" sz="1400" b="0" i="0" u="none" strike="noStrike" kern="1200" cap="none" spc="-75" normalizeH="0" baseline="0" noProof="0" dirty="0">
              <a:ln>
                <a:noFill/>
              </a:ln>
              <a:solidFill>
                <a:srgbClr val="F3F1F2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2B38B1-D7BF-D918-2FD4-0016708D642F}"/>
              </a:ext>
            </a:extLst>
          </p:cNvPr>
          <p:cNvSpPr txBox="1"/>
          <p:nvPr/>
        </p:nvSpPr>
        <p:spPr>
          <a:xfrm>
            <a:off x="7116894" y="2317244"/>
            <a:ext cx="14826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-75" normalizeH="0" baseline="0" noProof="0">
                <a:ln>
                  <a:noFill/>
                </a:ln>
                <a:solidFill>
                  <a:srgbClr val="F3F1F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שלב 4</a:t>
            </a:r>
          </a:p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-75" normalizeH="0" baseline="0" noProof="0">
                <a:ln>
                  <a:noFill/>
                </a:ln>
                <a:solidFill>
                  <a:srgbClr val="F3F1F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הוספת מדדי אימפקט ויישום לאורך תאוריית השינוי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49D082-CCC1-EC95-1C51-75FCFB544D62}"/>
              </a:ext>
            </a:extLst>
          </p:cNvPr>
          <p:cNvSpPr txBox="1"/>
          <p:nvPr/>
        </p:nvSpPr>
        <p:spPr>
          <a:xfrm>
            <a:off x="8910937" y="1779630"/>
            <a:ext cx="15253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-75" normalizeH="0" baseline="0" noProof="0">
                <a:ln>
                  <a:noFill/>
                </a:ln>
                <a:solidFill>
                  <a:srgbClr val="F3F1F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שלב 5</a:t>
            </a:r>
          </a:p>
          <a:p>
            <a:pPr marL="0" marR="0" lvl="0" indent="0" algn="ctr" defTabSz="1027116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-75" normalizeH="0" baseline="0" noProof="0">
                <a:ln>
                  <a:noFill/>
                </a:ln>
                <a:solidFill>
                  <a:srgbClr val="F3F1F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הרחבה </a:t>
            </a:r>
            <a:r>
              <a:rPr kumimoji="0" lang="he-IL" sz="1400" b="0" i="0" u="none" strike="noStrike" kern="1200" cap="none" spc="-75" normalizeH="0" baseline="0" noProof="0" err="1">
                <a:ln>
                  <a:noFill/>
                </a:ln>
                <a:solidFill>
                  <a:srgbClr val="F3F1F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למינהלים</a:t>
            </a:r>
            <a:r>
              <a:rPr kumimoji="0" lang="he-IL" sz="1400" b="0" i="0" u="none" strike="noStrike" kern="1200" cap="none" spc="-75" normalizeH="0" baseline="0" noProof="0">
                <a:ln>
                  <a:noFill/>
                </a:ln>
                <a:solidFill>
                  <a:srgbClr val="F3F1F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אחרים במשרד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07E85018-5C1C-9C44-70A1-4C450622D303}"/>
              </a:ext>
            </a:extLst>
          </p:cNvPr>
          <p:cNvSpPr txBox="1"/>
          <p:nvPr/>
        </p:nvSpPr>
        <p:spPr>
          <a:xfrm>
            <a:off x="3723717" y="5439919"/>
            <a:ext cx="1066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אנחנו כאן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07AF6AAF-B81B-F961-1202-EBE13DBB98E1}"/>
              </a:ext>
            </a:extLst>
          </p:cNvPr>
          <p:cNvCxnSpPr>
            <a:endCxn id="42" idx="4"/>
          </p:cNvCxnSpPr>
          <p:nvPr/>
        </p:nvCxnSpPr>
        <p:spPr>
          <a:xfrm flipV="1">
            <a:off x="4257117" y="5026237"/>
            <a:ext cx="8592" cy="41368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גרפיקה 7" descr="חזור עם מילוי מלא">
            <a:extLst>
              <a:ext uri="{FF2B5EF4-FFF2-40B4-BE49-F238E27FC236}">
                <a16:creationId xmlns:a16="http://schemas.microsoft.com/office/drawing/2014/main" id="{DD9554A4-5050-93A7-BD90-5A237FBB724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09077" y="4395311"/>
            <a:ext cx="373845" cy="373845"/>
          </a:xfrm>
          <a:prstGeom prst="rect">
            <a:avLst/>
          </a:prstGeom>
        </p:spPr>
      </p:pic>
      <p:pic>
        <p:nvPicPr>
          <p:cNvPr id="9" name="גרפיקה 8" descr="חזור עם מילוי מלא">
            <a:extLst>
              <a:ext uri="{FF2B5EF4-FFF2-40B4-BE49-F238E27FC236}">
                <a16:creationId xmlns:a16="http://schemas.microsoft.com/office/drawing/2014/main" id="{13E110A0-5580-EFD5-A6B1-A4D480D9F14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84054" y="3718552"/>
            <a:ext cx="373845" cy="37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516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1546BE-ED3A-4CEC-B27F-C90D888F070B}"/>
              </a:ext>
            </a:extLst>
          </p:cNvPr>
          <p:cNvSpPr/>
          <p:nvPr/>
        </p:nvSpPr>
        <p:spPr>
          <a:xfrm>
            <a:off x="0" y="5835192"/>
            <a:ext cx="12192000" cy="102280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44C1FE-D509-4D9A-9FE2-55A9181D78D1}"/>
              </a:ext>
            </a:extLst>
          </p:cNvPr>
          <p:cNvSpPr txBox="1"/>
          <p:nvPr/>
        </p:nvSpPr>
        <p:spPr>
          <a:xfrm>
            <a:off x="3953355" y="85808"/>
            <a:ext cx="76955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srgbClr val="10CF9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האזרח הוותיק במרכז-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0CF9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/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0CF9B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מהלכים להתאמת שירותים במטרה למקסם את מיצוי הזכויות ואיכות השירות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1EA28F-83EB-4F1E-9718-CA2AAB2604E8}"/>
              </a:ext>
            </a:extLst>
          </p:cNvPr>
          <p:cNvSpPr txBox="1"/>
          <p:nvPr/>
        </p:nvSpPr>
        <p:spPr>
          <a:xfrm>
            <a:off x="3158634" y="2089081"/>
            <a:ext cx="4286658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Arial" pitchFamily="34" charset="0"/>
              </a:rPr>
              <a:t>פיתוח מודל בין משרדי לטובת הסדרה ואיחוד הגדרות זכאות לשירותים ותמיכה כלל ממשלתיים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9FEF30-E6F8-43EC-9366-A9F41CFFD9C2}"/>
              </a:ext>
            </a:extLst>
          </p:cNvPr>
          <p:cNvSpPr txBox="1"/>
          <p:nvPr/>
        </p:nvSpPr>
        <p:spPr>
          <a:xfrm>
            <a:off x="2233827" y="1655468"/>
            <a:ext cx="521146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שינוי מודל מבחני הכנסה: איחוד וקיצור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D97C46-E6EA-4ECD-9797-2B06F07B7BBE}"/>
              </a:ext>
            </a:extLst>
          </p:cNvPr>
          <p:cNvSpPr txBox="1"/>
          <p:nvPr/>
        </p:nvSpPr>
        <p:spPr>
          <a:xfrm>
            <a:off x="3365505" y="3520452"/>
            <a:ext cx="4079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Arial" pitchFamily="34" charset="0"/>
              </a:rPr>
              <a:t>מנגנון העברות מידע אוטומטיות בין משרדים לטובת פישוט תהליכי עבודה מול הלקוח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5955F0-A5B9-4C91-9CD8-F285D71FE736}"/>
              </a:ext>
            </a:extLst>
          </p:cNvPr>
          <p:cNvSpPr txBox="1"/>
          <p:nvPr/>
        </p:nvSpPr>
        <p:spPr>
          <a:xfrm>
            <a:off x="2850041" y="3102428"/>
            <a:ext cx="459525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העברות מידע בין משרדיות 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A0B70F-8BC2-4CEE-94CF-875555D650D0}"/>
              </a:ext>
            </a:extLst>
          </p:cNvPr>
          <p:cNvSpPr txBox="1"/>
          <p:nvPr/>
        </p:nvSpPr>
        <p:spPr>
          <a:xfrm>
            <a:off x="2738430" y="4928188"/>
            <a:ext cx="4706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פעילות פרו אקטיבית לאור קבלת מידע לטובת דחיפת מידע וזכויות מותאמות אישית לאזרח ולמשפחתו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AFFE54-084A-412D-8B72-F18556B70AA9}"/>
              </a:ext>
            </a:extLst>
          </p:cNvPr>
          <p:cNvSpPr txBox="1"/>
          <p:nvPr/>
        </p:nvSpPr>
        <p:spPr>
          <a:xfrm>
            <a:off x="3900341" y="4466523"/>
            <a:ext cx="3544951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פרו אקטיביות מול האזרח 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B4EF72E-C904-4B03-BF4B-593DF37F1686}"/>
              </a:ext>
            </a:extLst>
          </p:cNvPr>
          <p:cNvSpPr/>
          <p:nvPr/>
        </p:nvSpPr>
        <p:spPr>
          <a:xfrm>
            <a:off x="7445292" y="1798571"/>
            <a:ext cx="72000" cy="8140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A0A797-D0BA-4055-AAE7-5A5B31BF3FEE}"/>
              </a:ext>
            </a:extLst>
          </p:cNvPr>
          <p:cNvSpPr/>
          <p:nvPr/>
        </p:nvSpPr>
        <p:spPr>
          <a:xfrm>
            <a:off x="7445292" y="3215625"/>
            <a:ext cx="72000" cy="8140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37240A-ECD0-4F63-9F56-75077FA3DA3B}"/>
              </a:ext>
            </a:extLst>
          </p:cNvPr>
          <p:cNvSpPr/>
          <p:nvPr/>
        </p:nvSpPr>
        <p:spPr>
          <a:xfrm>
            <a:off x="7445292" y="4587164"/>
            <a:ext cx="72000" cy="8140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DB82EC-FF5A-4862-B449-EA76BE57DADC}"/>
              </a:ext>
            </a:extLst>
          </p:cNvPr>
          <p:cNvSpPr txBox="1"/>
          <p:nvPr/>
        </p:nvSpPr>
        <p:spPr>
          <a:xfrm>
            <a:off x="7593716" y="1941041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</a:t>
            </a:r>
            <a:endParaRPr kumimoji="0" lang="en-IL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EF6F05-CC90-47EA-BE8D-8C069C3A03A6}"/>
              </a:ext>
            </a:extLst>
          </p:cNvPr>
          <p:cNvSpPr txBox="1"/>
          <p:nvPr/>
        </p:nvSpPr>
        <p:spPr>
          <a:xfrm>
            <a:off x="7593716" y="3333260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</a:t>
            </a:r>
            <a:endParaRPr kumimoji="0" lang="en-IL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499228-1398-4D1A-929B-6124D71F4E57}"/>
              </a:ext>
            </a:extLst>
          </p:cNvPr>
          <p:cNvSpPr txBox="1"/>
          <p:nvPr/>
        </p:nvSpPr>
        <p:spPr>
          <a:xfrm>
            <a:off x="7593716" y="4732592"/>
            <a:ext cx="3674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3</a:t>
            </a:r>
            <a:endParaRPr kumimoji="0" lang="en-IL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Picture 3" descr="קובץ:Ministry of Labor, Social Affairs and Social Services ...">
            <a:extLst>
              <a:ext uri="{FF2B5EF4-FFF2-40B4-BE49-F238E27FC236}">
                <a16:creationId xmlns:a16="http://schemas.microsoft.com/office/drawing/2014/main" id="{9878E5A3-3ADC-9C6A-546D-30A17AA43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6580" y="6084381"/>
            <a:ext cx="1923415" cy="52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מערך הדיגיטל הלאומי">
            <a:extLst>
              <a:ext uri="{FF2B5EF4-FFF2-40B4-BE49-F238E27FC236}">
                <a16:creationId xmlns:a16="http://schemas.microsoft.com/office/drawing/2014/main" id="{CBD64678-541C-A37A-EEBC-31FEB3F2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66478" y="6062139"/>
            <a:ext cx="1638329" cy="56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החלטת הממשלה לביזור">
            <a:extLst>
              <a:ext uri="{FF2B5EF4-FFF2-40B4-BE49-F238E27FC236}">
                <a16:creationId xmlns:a16="http://schemas.microsoft.com/office/drawing/2014/main" id="{0D1CE82F-6F44-8E7A-3262-469ED0987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745" y="6080661"/>
            <a:ext cx="763960" cy="53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ביטוח לאומי - כאן תמצאו הכל (!) על המוסד לביטוח לאומי [מעודכן ל-2023]">
            <a:extLst>
              <a:ext uri="{FF2B5EF4-FFF2-40B4-BE49-F238E27FC236}">
                <a16:creationId xmlns:a16="http://schemas.microsoft.com/office/drawing/2014/main" id="{BB08FB40-C93B-072A-1A01-07131AEC0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544" y="5960808"/>
            <a:ext cx="1043428" cy="77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DAF015-507E-4FB8-B571-D9503FF59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722" y="1798571"/>
            <a:ext cx="3423618" cy="34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165"/>
      </p:ext>
    </p:extLst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E73997-6574-49DE-B59B-4663D0FDC09C}"/>
              </a:ext>
            </a:extLst>
          </p:cNvPr>
          <p:cNvSpPr txBox="1"/>
          <p:nvPr/>
        </p:nvSpPr>
        <p:spPr>
          <a:xfrm>
            <a:off x="5369330" y="1869042"/>
            <a:ext cx="58435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Calibri-Bold"/>
                <a:ea typeface="+mn-ea"/>
                <a:cs typeface="Assistant" pitchFamily="2" charset="-79"/>
              </a:rPr>
              <a:t>פתיחת השוק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– היצע רחב היקף של שירותים ממשלתיים ו"עסקיים"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srgbClr val="17406D">
                  <a:lumMod val="50000"/>
                </a:srgbClr>
              </a:solidFill>
              <a:effectLst/>
              <a:uLnTx/>
              <a:uFillTx/>
              <a:latin typeface="ArialMT"/>
              <a:ea typeface="+mn-ea"/>
              <a:cs typeface="Assistant" pitchFamily="2" charset="-79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Calibri-Bold"/>
                <a:ea typeface="+mn-ea"/>
                <a:cs typeface="Assistant" pitchFamily="2" charset="-79"/>
              </a:rPr>
              <a:t>התאמה אישית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–בחירת שירות בהתבסס על חוויות אישיות של משתמשים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כולל התאמה וייעוץ מקצועי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srgbClr val="17406D">
                  <a:lumMod val="50000"/>
                </a:srgbClr>
              </a:solidFill>
              <a:effectLst/>
              <a:uLnTx/>
              <a:uFillTx/>
              <a:latin typeface="ArialMT"/>
              <a:ea typeface="+mn-ea"/>
              <a:cs typeface="Assistant" pitchFamily="2" charset="-79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Calibri-Bold"/>
                <a:ea typeface="+mn-ea"/>
                <a:cs typeface="Assistant" pitchFamily="2" charset="-79"/>
              </a:rPr>
              <a:t>חווית לקוח באמצעות דיגיטציה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– שירות דיגיטלי ואנושי משולב לייעול תהליך ההתאמה והרכש (ארנק דיגיטלי)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17406D">
                  <a:lumMod val="50000"/>
                </a:srgbClr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Calibri-Bold"/>
                <a:ea typeface="+mn-ea"/>
                <a:cs typeface="Assistant" pitchFamily="2" charset="-79"/>
              </a:rPr>
              <a:t>הצפת הערך למגוון רחב של משתמשים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– הרחבת הרלוונטיות של השירותים למספר גדול יותר של משתמשים 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srgbClr val="17406D">
                  <a:lumMod val="50000"/>
                </a:srgbClr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318F1-8DBF-4E4C-81B5-5A9847B49581}"/>
              </a:ext>
            </a:extLst>
          </p:cNvPr>
          <p:cNvSpPr txBox="1"/>
          <p:nvPr/>
        </p:nvSpPr>
        <p:spPr>
          <a:xfrm>
            <a:off x="7719581" y="512835"/>
            <a:ext cx="3493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סל תפקוד אישי חכם:</a:t>
            </a:r>
            <a:endParaRPr kumimoji="0" lang="en-IL" sz="3200" b="1" i="0" u="none" strike="noStrike" kern="1200" cap="none" spc="0" normalizeH="0" baseline="0" noProof="0" dirty="0">
              <a:ln>
                <a:noFill/>
              </a:ln>
              <a:solidFill>
                <a:srgbClr val="17406D">
                  <a:lumMod val="50000"/>
                </a:srgbClr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3EAA74-2138-409F-A65D-3533E030ED5F}"/>
              </a:ext>
            </a:extLst>
          </p:cNvPr>
          <p:cNvSpPr txBox="1"/>
          <p:nvPr/>
        </p:nvSpPr>
        <p:spPr>
          <a:xfrm>
            <a:off x="9707304" y="1458765"/>
            <a:ext cx="1505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sng" strike="noStrike" kern="1200" cap="none" spc="0" normalizeH="0" baseline="0" noProof="0" dirty="0">
                <a:ln>
                  <a:noFill/>
                </a:ln>
                <a:solidFill>
                  <a:srgbClr val="17406D">
                    <a:lumMod val="50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מטרות עסקיות</a:t>
            </a:r>
            <a:endParaRPr kumimoji="0" lang="en-IL" sz="1800" b="1" i="0" u="sng" strike="noStrike" kern="1200" cap="none" spc="0" normalizeH="0" baseline="0" noProof="0" dirty="0">
              <a:ln>
                <a:noFill/>
              </a:ln>
              <a:solidFill>
                <a:srgbClr val="17406D">
                  <a:lumMod val="50000"/>
                </a:srgbClr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BAC86D-12FA-4F9A-BC5C-3C6BC48459F6}"/>
              </a:ext>
            </a:extLst>
          </p:cNvPr>
          <p:cNvSpPr txBox="1"/>
          <p:nvPr/>
        </p:nvSpPr>
        <p:spPr>
          <a:xfrm flipH="1">
            <a:off x="8332985" y="5153048"/>
            <a:ext cx="1418732" cy="715089"/>
          </a:xfrm>
          <a:prstGeom prst="roundRect">
            <a:avLst/>
          </a:pr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50000">
                <a:schemeClr val="tx2">
                  <a:alpha val="90000"/>
                </a:schemeClr>
              </a:gs>
              <a:gs pos="100000">
                <a:srgbClr val="5C7A96">
                  <a:alpha val="92000"/>
                </a:srgbClr>
              </a:gs>
            </a:gsLst>
            <a:lin ang="0" scaled="1"/>
          </a:gradFill>
          <a:ln>
            <a:noFill/>
          </a:ln>
          <a:effectLst>
            <a:outerShdw blurRad="215900" dist="50800" dir="5400000" algn="ctr" rotWithShape="0">
              <a:schemeClr val="bg2">
                <a:lumMod val="10000"/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 SemiBold" pitchFamily="2" charset="-79"/>
                <a:ea typeface="+mn-ea"/>
                <a:cs typeface="Assistant SemiBold" pitchFamily="2" charset="-79"/>
              </a:rPr>
              <a:t>חיבור של נתונים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553BE5-B8DC-4041-9E1F-B7C8A7A5DEAB}"/>
              </a:ext>
            </a:extLst>
          </p:cNvPr>
          <p:cNvSpPr txBox="1"/>
          <p:nvPr/>
        </p:nvSpPr>
        <p:spPr>
          <a:xfrm flipH="1">
            <a:off x="6213225" y="5153048"/>
            <a:ext cx="1630680" cy="646986"/>
          </a:xfrm>
          <a:prstGeom prst="roundRect">
            <a:avLst/>
          </a:pr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50000">
                <a:schemeClr val="tx2">
                  <a:alpha val="90000"/>
                </a:schemeClr>
              </a:gs>
              <a:gs pos="100000">
                <a:srgbClr val="5C7A96">
                  <a:alpha val="92000"/>
                </a:srgbClr>
              </a:gs>
            </a:gsLst>
            <a:lin ang="0" scaled="1"/>
          </a:gradFill>
          <a:ln>
            <a:noFill/>
          </a:ln>
          <a:effectLst>
            <a:outerShdw blurRad="215900" dist="50800" dir="5400000" algn="ctr" rotWithShape="0">
              <a:schemeClr val="bg2">
                <a:lumMod val="10000"/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 SemiBold" pitchFamily="2" charset="-79"/>
                <a:ea typeface="+mn-ea"/>
                <a:cs typeface="Assistant SemiBold" pitchFamily="2" charset="-79"/>
              </a:rPr>
              <a:t>פרופילים של אזרחים ותיקים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044EA-4B18-45A5-8345-8FEDD4F05709}"/>
              </a:ext>
            </a:extLst>
          </p:cNvPr>
          <p:cNvSpPr txBox="1"/>
          <p:nvPr/>
        </p:nvSpPr>
        <p:spPr>
          <a:xfrm flipH="1">
            <a:off x="4084005" y="5153050"/>
            <a:ext cx="1630680" cy="715089"/>
          </a:xfrm>
          <a:prstGeom prst="roundRect">
            <a:avLst/>
          </a:pr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50000">
                <a:schemeClr val="tx2">
                  <a:alpha val="90000"/>
                </a:schemeClr>
              </a:gs>
              <a:gs pos="100000">
                <a:srgbClr val="5C7A96">
                  <a:alpha val="92000"/>
                </a:srgbClr>
              </a:gs>
            </a:gsLst>
            <a:lin ang="0" scaled="1"/>
          </a:gradFill>
          <a:ln>
            <a:noFill/>
          </a:ln>
          <a:effectLst>
            <a:outerShdw blurRad="215900" dist="50800" dir="5400000" algn="ctr" rotWithShape="0">
              <a:schemeClr val="bg2">
                <a:lumMod val="10000"/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 SemiBold" pitchFamily="2" charset="-79"/>
                <a:ea typeface="+mn-ea"/>
                <a:cs typeface="Assistant SemiBold" pitchFamily="2" charset="-79"/>
              </a:rPr>
              <a:t>רגולציה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 SemiBold" pitchFamily="2" charset="-79"/>
                <a:ea typeface="+mn-ea"/>
                <a:cs typeface="Assistant SemiBold" pitchFamily="2" charset="-79"/>
              </a:rPr>
              <a:t/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 SemiBold" pitchFamily="2" charset="-79"/>
                <a:ea typeface="+mn-ea"/>
                <a:cs typeface="Assistant SemiBold" pitchFamily="2" charset="-79"/>
              </a:rPr>
            </a:b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 SemiBold" pitchFamily="2" charset="-79"/>
                <a:ea typeface="+mn-ea"/>
                <a:cs typeface="Assistant SemiBold" pitchFamily="2" charset="-79"/>
              </a:rPr>
              <a:t> מאפשרת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3F520-CB8E-472C-A9F1-36E40213BDC8}"/>
              </a:ext>
            </a:extLst>
          </p:cNvPr>
          <p:cNvSpPr txBox="1"/>
          <p:nvPr/>
        </p:nvSpPr>
        <p:spPr>
          <a:xfrm flipH="1">
            <a:off x="1964245" y="5153049"/>
            <a:ext cx="1630680" cy="715089"/>
          </a:xfrm>
          <a:prstGeom prst="roundRect">
            <a:avLst/>
          </a:pr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50000">
                <a:schemeClr val="tx2">
                  <a:alpha val="90000"/>
                </a:schemeClr>
              </a:gs>
              <a:gs pos="100000">
                <a:srgbClr val="5C7A96">
                  <a:alpha val="92000"/>
                </a:srgbClr>
              </a:gs>
            </a:gsLst>
            <a:lin ang="0" scaled="1"/>
          </a:gradFill>
          <a:ln>
            <a:noFill/>
          </a:ln>
          <a:effectLst>
            <a:outerShdw blurRad="215900" dist="50800" dir="5400000" algn="ctr" rotWithShape="0">
              <a:schemeClr val="bg2">
                <a:lumMod val="10000"/>
                <a:alpha val="43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ssistant SemiBold" pitchFamily="2" charset="-79"/>
                <a:ea typeface="+mn-ea"/>
                <a:cs typeface="Assistant SemiBold" pitchFamily="2" charset="-79"/>
              </a:rPr>
              <a:t>אקוסיסטם ומערכות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E2399C-2FC9-4033-8BF8-47454D304F4E}"/>
              </a:ext>
            </a:extLst>
          </p:cNvPr>
          <p:cNvSpPr txBox="1"/>
          <p:nvPr/>
        </p:nvSpPr>
        <p:spPr>
          <a:xfrm>
            <a:off x="1429397" y="1065806"/>
            <a:ext cx="9783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DBEFF9">
                    <a:lumMod val="25000"/>
                  </a:srgbClr>
                </a:solidFill>
                <a:effectLst/>
                <a:uLnTx/>
                <a:uFillTx/>
                <a:latin typeface="Assistant" pitchFamily="2" charset="-79"/>
                <a:ea typeface="+mn-ea"/>
                <a:cs typeface="Assistant" pitchFamily="2" charset="-79"/>
              </a:rPr>
              <a:t>התאמת שירותים ותוכן לאזרח הוותיק ותשלום באמצעות גמלת סיעוד במטרה לקדם את החלטת הממשלה 127</a:t>
            </a:r>
            <a:endParaRPr kumimoji="0" lang="en-IL" sz="1800" b="1" i="0" u="none" strike="noStrike" kern="1200" cap="none" spc="0" normalizeH="0" baseline="0" noProof="0" dirty="0">
              <a:ln>
                <a:noFill/>
              </a:ln>
              <a:solidFill>
                <a:srgbClr val="DBEFF9">
                  <a:lumMod val="25000"/>
                </a:srgbClr>
              </a:solidFill>
              <a:effectLst/>
              <a:uLnTx/>
              <a:uFillTx/>
              <a:latin typeface="Assistant" pitchFamily="2" charset="-79"/>
              <a:ea typeface="+mn-ea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13090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C:\Users\USER\Downloads\עיצוב ללא שם (1).png">
            <a:extLst>
              <a:ext uri="{FF2B5EF4-FFF2-40B4-BE49-F238E27FC236}">
                <a16:creationId xmlns:a16="http://schemas.microsoft.com/office/drawing/2014/main" id="{63A64E2B-89CE-8A00-D294-0ACF660075FE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72194" y="90195"/>
            <a:ext cx="1438836" cy="5498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F0B2B9E1-7D19-A411-64F5-C0CD1D5E8BB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24" r="15587"/>
          <a:stretch/>
        </p:blipFill>
        <p:spPr>
          <a:xfrm>
            <a:off x="11353800" y="-2143"/>
            <a:ext cx="603355" cy="734536"/>
          </a:xfrm>
          <a:prstGeom prst="rect">
            <a:avLst/>
          </a:prstGeom>
        </p:spPr>
      </p:pic>
      <p:sp>
        <p:nvSpPr>
          <p:cNvPr id="8" name="מלבן 7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C71533EF-6755-7268-6CA5-79C13828B470}"/>
              </a:ext>
            </a:extLst>
          </p:cNvPr>
          <p:cNvSpPr/>
          <p:nvPr/>
        </p:nvSpPr>
        <p:spPr>
          <a:xfrm>
            <a:off x="3398106" y="1349131"/>
            <a:ext cx="4754458" cy="4719145"/>
          </a:xfrm>
          <a:prstGeom prst="ellipse">
            <a:avLst/>
          </a:prstGeom>
          <a:noFill/>
          <a:ln w="38100">
            <a:solidFill>
              <a:srgbClr val="1323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srgbClr val="13235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7F2B4F-0FBF-1F14-C16E-0C507BC66D7B}"/>
              </a:ext>
            </a:extLst>
          </p:cNvPr>
          <p:cNvSpPr txBox="1">
            <a:spLocks/>
          </p:cNvSpPr>
          <p:nvPr/>
        </p:nvSpPr>
        <p:spPr>
          <a:xfrm>
            <a:off x="2424865" y="-5259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j-ea"/>
                <a:cs typeface="Calibri"/>
              </a:rPr>
              <a:t/>
            </a:r>
            <a:br>
              <a:rPr kumimoji="0" lang="he-IL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j-ea"/>
                <a:cs typeface="Calibri"/>
              </a:rPr>
            </a:b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j-ea"/>
                <a:cs typeface="Calibri"/>
              </a:rPr>
              <a:t>ביזור שירותים לאזרח הוותיק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j-ea"/>
              <a:cs typeface="Calibri"/>
            </a:endParaRPr>
          </a:p>
        </p:txBody>
      </p:sp>
      <p:pic>
        <p:nvPicPr>
          <p:cNvPr id="11" name="Graphic 4" descr="Man with cane outline">
            <a:extLst>
              <a:ext uri="{FF2B5EF4-FFF2-40B4-BE49-F238E27FC236}">
                <a16:creationId xmlns:a16="http://schemas.microsoft.com/office/drawing/2014/main" id="{07AE29C9-0235-E0EB-FAD6-0CA385B26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flipH="1">
            <a:off x="5301119" y="3069871"/>
            <a:ext cx="1044682" cy="1171153"/>
          </a:xfrm>
        </p:spPr>
      </p:pic>
      <p:sp>
        <p:nvSpPr>
          <p:cNvPr id="13" name="צורה חופשית: צורה 26">
            <a:extLst>
              <a:ext uri="{FF2B5EF4-FFF2-40B4-BE49-F238E27FC236}">
                <a16:creationId xmlns:a16="http://schemas.microsoft.com/office/drawing/2014/main" id="{E3850D9D-E5FF-8C79-4C83-785EE1705BFA}"/>
              </a:ext>
            </a:extLst>
          </p:cNvPr>
          <p:cNvSpPr/>
          <p:nvPr/>
        </p:nvSpPr>
        <p:spPr>
          <a:xfrm>
            <a:off x="8277745" y="1944029"/>
            <a:ext cx="2033820" cy="3422835"/>
          </a:xfrm>
          <a:custGeom>
            <a:avLst/>
            <a:gdLst>
              <a:gd name="connsiteX0" fmla="*/ 0 w 1005021"/>
              <a:gd name="connsiteY0" fmla="*/ 0 h 1005021"/>
              <a:gd name="connsiteX1" fmla="*/ 1005021 w 1005021"/>
              <a:gd name="connsiteY1" fmla="*/ 0 h 1005021"/>
              <a:gd name="connsiteX2" fmla="*/ 1005021 w 1005021"/>
              <a:gd name="connsiteY2" fmla="*/ 1005021 h 1005021"/>
              <a:gd name="connsiteX3" fmla="*/ 0 w 1005021"/>
              <a:gd name="connsiteY3" fmla="*/ 1005021 h 1005021"/>
              <a:gd name="connsiteX4" fmla="*/ 0 w 1005021"/>
              <a:gd name="connsiteY4" fmla="*/ 0 h 100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5021" h="1005021">
                <a:moveTo>
                  <a:pt x="0" y="0"/>
                </a:moveTo>
                <a:lnTo>
                  <a:pt x="1005021" y="0"/>
                </a:lnTo>
                <a:lnTo>
                  <a:pt x="1005021" y="1005021"/>
                </a:lnTo>
                <a:lnTo>
                  <a:pt x="0" y="10050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780" tIns="17780" rIns="17780" bIns="17780" numCol="1" spcCol="1270" anchor="ctr" anchorCtr="0">
            <a:noAutofit/>
          </a:bodyPr>
          <a:lstStyle/>
          <a:p>
            <a:pPr marL="0" marR="0" lvl="0" indent="0" algn="ctr" defTabSz="6223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srgbClr val="13235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סל אישי קהילתי–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13235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מעטפת שירותים לבחירת האזרח הוותיק</a:t>
            </a:r>
          </a:p>
        </p:txBody>
      </p:sp>
      <p:cxnSp>
        <p:nvCxnSpPr>
          <p:cNvPr id="14" name="Straight Arrow Connector 6">
            <a:extLst>
              <a:ext uri="{FF2B5EF4-FFF2-40B4-BE49-F238E27FC236}">
                <a16:creationId xmlns:a16="http://schemas.microsoft.com/office/drawing/2014/main" id="{11819716-D485-6175-BE1F-282ECA543710}"/>
              </a:ext>
            </a:extLst>
          </p:cNvPr>
          <p:cNvCxnSpPr/>
          <p:nvPr/>
        </p:nvCxnSpPr>
        <p:spPr>
          <a:xfrm flipV="1">
            <a:off x="6116880" y="2736167"/>
            <a:ext cx="683173" cy="48610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7">
            <a:extLst>
              <a:ext uri="{FF2B5EF4-FFF2-40B4-BE49-F238E27FC236}">
                <a16:creationId xmlns:a16="http://schemas.microsoft.com/office/drawing/2014/main" id="{10DCF2AA-80BE-A4AD-8908-ACA32EE6A344}"/>
              </a:ext>
            </a:extLst>
          </p:cNvPr>
          <p:cNvCxnSpPr>
            <a:cxnSpLocks/>
          </p:cNvCxnSpPr>
          <p:nvPr/>
        </p:nvCxnSpPr>
        <p:spPr>
          <a:xfrm flipV="1">
            <a:off x="5839251" y="2311811"/>
            <a:ext cx="61943" cy="66740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8">
            <a:extLst>
              <a:ext uri="{FF2B5EF4-FFF2-40B4-BE49-F238E27FC236}">
                <a16:creationId xmlns:a16="http://schemas.microsoft.com/office/drawing/2014/main" id="{C0A0B300-6184-936E-EAAB-19720972236D}"/>
              </a:ext>
            </a:extLst>
          </p:cNvPr>
          <p:cNvCxnSpPr>
            <a:cxnSpLocks/>
          </p:cNvCxnSpPr>
          <p:nvPr/>
        </p:nvCxnSpPr>
        <p:spPr>
          <a:xfrm flipH="1" flipV="1">
            <a:off x="4642724" y="3349997"/>
            <a:ext cx="662081" cy="219823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9">
            <a:extLst>
              <a:ext uri="{FF2B5EF4-FFF2-40B4-BE49-F238E27FC236}">
                <a16:creationId xmlns:a16="http://schemas.microsoft.com/office/drawing/2014/main" id="{09C604B3-FD65-B184-3977-5703EFF44986}"/>
              </a:ext>
            </a:extLst>
          </p:cNvPr>
          <p:cNvCxnSpPr>
            <a:cxnSpLocks/>
          </p:cNvCxnSpPr>
          <p:nvPr/>
        </p:nvCxnSpPr>
        <p:spPr>
          <a:xfrm flipH="1">
            <a:off x="4587277" y="3855123"/>
            <a:ext cx="713843" cy="16213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 flipH="1">
            <a:off x="4873550" y="4261036"/>
            <a:ext cx="471790" cy="40434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1">
            <a:extLst>
              <a:ext uri="{FF2B5EF4-FFF2-40B4-BE49-F238E27FC236}">
                <a16:creationId xmlns:a16="http://schemas.microsoft.com/office/drawing/2014/main" id="{6269D0A6-D2C6-352A-5436-DC164A5C6168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5557108" y="4289069"/>
            <a:ext cx="134177" cy="79043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7E1BD4C8-B3FB-7E0C-76C8-89D0C45CBDA0}"/>
              </a:ext>
            </a:extLst>
          </p:cNvPr>
          <p:cNvCxnSpPr>
            <a:cxnSpLocks/>
          </p:cNvCxnSpPr>
          <p:nvPr/>
        </p:nvCxnSpPr>
        <p:spPr>
          <a:xfrm>
            <a:off x="6131489" y="4302346"/>
            <a:ext cx="326977" cy="543775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3">
            <a:extLst>
              <a:ext uri="{FF2B5EF4-FFF2-40B4-BE49-F238E27FC236}">
                <a16:creationId xmlns:a16="http://schemas.microsoft.com/office/drawing/2014/main" id="{D6A2BA76-8BFF-FC0A-951B-D4A8953D0363}"/>
              </a:ext>
            </a:extLst>
          </p:cNvPr>
          <p:cNvCxnSpPr>
            <a:cxnSpLocks/>
          </p:cNvCxnSpPr>
          <p:nvPr/>
        </p:nvCxnSpPr>
        <p:spPr>
          <a:xfrm flipV="1">
            <a:off x="6325298" y="3519255"/>
            <a:ext cx="700083" cy="1170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7">
            <a:extLst>
              <a:ext uri="{FF2B5EF4-FFF2-40B4-BE49-F238E27FC236}">
                <a16:creationId xmlns:a16="http://schemas.microsoft.com/office/drawing/2014/main" id="{6520BE6F-8761-B861-E6F0-2A2948C744FC}"/>
              </a:ext>
            </a:extLst>
          </p:cNvPr>
          <p:cNvCxnSpPr>
            <a:cxnSpLocks/>
          </p:cNvCxnSpPr>
          <p:nvPr/>
        </p:nvCxnSpPr>
        <p:spPr>
          <a:xfrm>
            <a:off x="6334575" y="4017253"/>
            <a:ext cx="699232" cy="28509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8">
            <a:extLst>
              <a:ext uri="{FF2B5EF4-FFF2-40B4-BE49-F238E27FC236}">
                <a16:creationId xmlns:a16="http://schemas.microsoft.com/office/drawing/2014/main" id="{1F7F8ED7-35AD-B819-798C-11CDEAAA62BD}"/>
              </a:ext>
            </a:extLst>
          </p:cNvPr>
          <p:cNvCxnSpPr>
            <a:cxnSpLocks/>
          </p:cNvCxnSpPr>
          <p:nvPr/>
        </p:nvCxnSpPr>
        <p:spPr>
          <a:xfrm flipH="1" flipV="1">
            <a:off x="5113919" y="2645514"/>
            <a:ext cx="377414" cy="424357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938A207-7763-6598-3065-862C66E1DA57}"/>
              </a:ext>
            </a:extLst>
          </p:cNvPr>
          <p:cNvSpPr txBox="1"/>
          <p:nvPr/>
        </p:nvSpPr>
        <p:spPr>
          <a:xfrm>
            <a:off x="3677140" y="3004586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מועדון חברתי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361F1E-4302-041C-B146-719731888394}"/>
              </a:ext>
            </a:extLst>
          </p:cNvPr>
          <p:cNvSpPr txBox="1"/>
          <p:nvPr/>
        </p:nvSpPr>
        <p:spPr>
          <a:xfrm>
            <a:off x="3652794" y="3708703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רווחה מרחוק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9307C2-1CA4-2D53-764C-C8EF8ADC59C6}"/>
              </a:ext>
            </a:extLst>
          </p:cNvPr>
          <p:cNvSpPr txBox="1"/>
          <p:nvPr/>
        </p:nvSpPr>
        <p:spPr>
          <a:xfrm>
            <a:off x="4109927" y="4634744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טכנולוגית עזר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24134D-E90F-5A9F-FC91-AED5FABA20C0}"/>
              </a:ext>
            </a:extLst>
          </p:cNvPr>
          <p:cNvSpPr txBox="1"/>
          <p:nvPr/>
        </p:nvSpPr>
        <p:spPr>
          <a:xfrm>
            <a:off x="4284954" y="1908991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משפחתי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041463-83C2-6462-0E82-DE2013E89751}"/>
              </a:ext>
            </a:extLst>
          </p:cNvPr>
          <p:cNvSpPr txBox="1"/>
          <p:nvPr/>
        </p:nvSpPr>
        <p:spPr>
          <a:xfrm>
            <a:off x="4997335" y="5079499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התעמלות בפארק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959D09-04DA-46AA-05CE-B8B94373665A}"/>
              </a:ext>
            </a:extLst>
          </p:cNvPr>
          <p:cNvSpPr txBox="1"/>
          <p:nvPr/>
        </p:nvSpPr>
        <p:spPr>
          <a:xfrm>
            <a:off x="6760030" y="3133900"/>
            <a:ext cx="144385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תזונה ובריאות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76670D-4580-7702-7800-00603C1C37DA}"/>
              </a:ext>
            </a:extLst>
          </p:cNvPr>
          <p:cNvSpPr txBox="1"/>
          <p:nvPr/>
        </p:nvSpPr>
        <p:spPr>
          <a:xfrm>
            <a:off x="6741774" y="4289740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תעסוקה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F7D3BC-5274-84FA-401A-348BB8E77A87}"/>
              </a:ext>
            </a:extLst>
          </p:cNvPr>
          <p:cNvSpPr txBox="1"/>
          <p:nvPr/>
        </p:nvSpPr>
        <p:spPr>
          <a:xfrm>
            <a:off x="6496801" y="2302004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התנדבות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1C5937-A365-CF42-5376-56E8CE1D7B3C}"/>
              </a:ext>
            </a:extLst>
          </p:cNvPr>
          <p:cNvSpPr txBox="1"/>
          <p:nvPr/>
        </p:nvSpPr>
        <p:spPr>
          <a:xfrm>
            <a:off x="5345340" y="1538847"/>
            <a:ext cx="11195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יעוץ פיננסי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E11621-D4E0-68EA-B1F3-772C2E7F2893}"/>
              </a:ext>
            </a:extLst>
          </p:cNvPr>
          <p:cNvSpPr txBox="1"/>
          <p:nvPr/>
        </p:nvSpPr>
        <p:spPr>
          <a:xfrm>
            <a:off x="6022607" y="4893757"/>
            <a:ext cx="11195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ניקיון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srgbClr val="1176BC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cxnSp>
        <p:nvCxnSpPr>
          <p:cNvPr id="34" name="Straight Arrow Connector 10">
            <a:extLst>
              <a:ext uri="{FF2B5EF4-FFF2-40B4-BE49-F238E27FC236}">
                <a16:creationId xmlns:a16="http://schemas.microsoft.com/office/drawing/2014/main" id="{9B8E4362-FCB8-167D-D6E4-3D866BEB1942}"/>
              </a:ext>
            </a:extLst>
          </p:cNvPr>
          <p:cNvCxnSpPr>
            <a:cxnSpLocks/>
          </p:cNvCxnSpPr>
          <p:nvPr/>
        </p:nvCxnSpPr>
        <p:spPr>
          <a:xfrm flipH="1" flipV="1">
            <a:off x="4982625" y="3064694"/>
            <a:ext cx="520665" cy="37734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מלבן 1"/>
          <p:cNvSpPr/>
          <p:nvPr/>
        </p:nvSpPr>
        <p:spPr>
          <a:xfrm>
            <a:off x="3868083" y="2635254"/>
            <a:ext cx="1252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בריכה/</a:t>
            </a:r>
            <a:r>
              <a:rPr kumimoji="0" lang="he-IL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176BC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חד"כ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55" name="קבוצה 54"/>
          <p:cNvGrpSpPr/>
          <p:nvPr/>
        </p:nvGrpSpPr>
        <p:grpSpPr>
          <a:xfrm>
            <a:off x="900898" y="2580549"/>
            <a:ext cx="1563719" cy="1307858"/>
            <a:chOff x="1670079" y="2140313"/>
            <a:chExt cx="1642835" cy="1642835"/>
          </a:xfrm>
          <a:solidFill>
            <a:srgbClr val="D8BEEC"/>
          </a:solidFill>
        </p:grpSpPr>
        <p:sp>
          <p:nvSpPr>
            <p:cNvPr id="56" name="אליפסה 55"/>
            <p:cNvSpPr/>
            <p:nvPr/>
          </p:nvSpPr>
          <p:spPr>
            <a:xfrm>
              <a:off x="1670079" y="2140313"/>
              <a:ext cx="1642835" cy="1642835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6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57" name="אליפסה 4"/>
            <p:cNvSpPr txBox="1"/>
            <p:nvPr/>
          </p:nvSpPr>
          <p:spPr>
            <a:xfrm>
              <a:off x="1910667" y="2380901"/>
              <a:ext cx="1161659" cy="116165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35560" tIns="35560" rIns="35560" bIns="35560" numCol="1" spcCol="1270" anchor="ctr" anchorCtr="0">
              <a:noAutofit/>
            </a:bodyPr>
            <a:lstStyle/>
            <a:p>
              <a:pPr marL="0" marR="0" lvl="0" indent="0" algn="ctr" defTabSz="1244600" rtl="1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58" name="אליפסה 57"/>
          <p:cNvSpPr/>
          <p:nvPr/>
        </p:nvSpPr>
        <p:spPr>
          <a:xfrm>
            <a:off x="1667454" y="2393759"/>
            <a:ext cx="1579998" cy="1221917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25629" y="3136418"/>
            <a:ext cx="546097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צורך וקושי</a:t>
            </a:r>
          </a:p>
        </p:txBody>
      </p:sp>
      <p:sp>
        <p:nvSpPr>
          <p:cNvPr id="60" name="מלבן 59"/>
          <p:cNvSpPr/>
          <p:nvPr/>
        </p:nvSpPr>
        <p:spPr>
          <a:xfrm>
            <a:off x="2319028" y="2822592"/>
            <a:ext cx="7135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רצון ובחירה</a:t>
            </a:r>
          </a:p>
        </p:txBody>
      </p:sp>
      <p:sp>
        <p:nvSpPr>
          <p:cNvPr id="66" name="אליפסה 65"/>
          <p:cNvSpPr/>
          <p:nvPr/>
        </p:nvSpPr>
        <p:spPr>
          <a:xfrm>
            <a:off x="1028906" y="1914910"/>
            <a:ext cx="1660221" cy="1294536"/>
          </a:xfrm>
          <a:prstGeom prst="ellipse">
            <a:avLst/>
          </a:prstGeom>
          <a:solidFill>
            <a:srgbClr val="D3F4A8">
              <a:alpha val="50000"/>
            </a:srgbClr>
          </a:solidFill>
          <a:ln w="127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  <a:miter lim="800000"/>
          </a:ln>
          <a:effectLst/>
        </p:spPr>
      </p:sp>
      <p:sp>
        <p:nvSpPr>
          <p:cNvPr id="67" name="מלבן 66"/>
          <p:cNvSpPr/>
          <p:nvPr/>
        </p:nvSpPr>
        <p:spPr>
          <a:xfrm>
            <a:off x="1458653" y="2640551"/>
            <a:ext cx="9099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שירות מותאם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Ai</a:t>
            </a:r>
            <a:endParaRPr kumimoji="0" lang="he-IL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69" name="תמונה 6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194" y="6105032"/>
            <a:ext cx="2176782" cy="590049"/>
          </a:xfrm>
          <a:prstGeom prst="rect">
            <a:avLst/>
          </a:prstGeom>
        </p:spPr>
      </p:pic>
      <p:sp>
        <p:nvSpPr>
          <p:cNvPr id="61" name="מלבן 60"/>
          <p:cNvSpPr/>
          <p:nvPr/>
        </p:nvSpPr>
        <p:spPr>
          <a:xfrm>
            <a:off x="1292053" y="2112034"/>
            <a:ext cx="8916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מדידה והמלצות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סל מותאם אישית</a:t>
            </a:r>
          </a:p>
        </p:txBody>
      </p:sp>
      <p:sp>
        <p:nvSpPr>
          <p:cNvPr id="47" name="כותרת 2">
            <a:extLst>
              <a:ext uri="{FF2B5EF4-FFF2-40B4-BE49-F238E27FC236}">
                <a16:creationId xmlns:a16="http://schemas.microsoft.com/office/drawing/2014/main" id="{1D17E662-D027-44FC-A328-9A22DEBD5F62}"/>
              </a:ext>
            </a:extLst>
          </p:cNvPr>
          <p:cNvSpPr txBox="1">
            <a:spLocks/>
          </p:cNvSpPr>
          <p:nvPr/>
        </p:nvSpPr>
        <p:spPr>
          <a:xfrm>
            <a:off x="8152564" y="983567"/>
            <a:ext cx="3658436" cy="163331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e-IL" dirty="0"/>
              <a:t>סל שירותים אישי</a:t>
            </a:r>
            <a:br>
              <a:rPr lang="he-IL" dirty="0"/>
            </a:br>
            <a:r>
              <a:rPr lang="he-IL" dirty="0"/>
              <a:t>מבוסס נתונים</a:t>
            </a:r>
            <a:br>
              <a:rPr lang="he-IL" dirty="0"/>
            </a:br>
            <a:r>
              <a:rPr lang="he-IL" dirty="0"/>
              <a:t>לבחירת הזקן</a:t>
            </a:r>
          </a:p>
        </p:txBody>
      </p:sp>
    </p:spTree>
    <p:extLst>
      <p:ext uri="{BB962C8B-B14F-4D97-AF65-F5344CB8AC3E}">
        <p14:creationId xmlns:p14="http://schemas.microsoft.com/office/powerpoint/2010/main" val="1895959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מלבן 20"/>
          <p:cNvSpPr/>
          <p:nvPr/>
        </p:nvSpPr>
        <p:spPr>
          <a:xfrm>
            <a:off x="560833" y="1144901"/>
            <a:ext cx="10097588" cy="8367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5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התאמה אישית, מדידה </a:t>
            </a:r>
            <a:r>
              <a:rPr lang="he-IL" sz="25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ותמרוץ שירותים </a:t>
            </a:r>
            <a:r>
              <a:rPr lang="he-IL" sz="2500" b="1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דוחקי</a:t>
            </a:r>
            <a:r>
              <a:rPr lang="he-IL" sz="25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תלות</a:t>
            </a:r>
            <a:endParaRPr lang="he-IL" sz="25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מלבן 2"/>
          <p:cNvSpPr/>
          <p:nvPr/>
        </p:nvSpPr>
        <p:spPr>
          <a:xfrm>
            <a:off x="656195" y="519432"/>
            <a:ext cx="6673066" cy="1043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20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10000"/>
                </a:srgbClr>
              </a:solidFill>
              <a:effectLst/>
              <a:uLnTx/>
              <a:uFillTx/>
              <a:latin typeface="Varela Round" panose="00000500000000000000" pitchFamily="2" charset="-79"/>
              <a:ea typeface="+mn-ea"/>
              <a:cs typeface="Varela Round" panose="00000500000000000000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0" y="0"/>
            <a:ext cx="753237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>
              <a:lnSpc>
                <a:spcPct val="150000"/>
              </a:lnSpc>
            </a:pPr>
            <a:endParaRPr lang="he-IL" sz="2400" dirty="0">
              <a:solidFill>
                <a:schemeClr val="bg1"/>
              </a:solidFill>
              <a:latin typeface="Gveret Levin AlefAlefAlef" panose="00000500000000000000" pitchFamily="50" charset="-79"/>
              <a:cs typeface="Gveret Levin AlefAlefAlef" panose="00000500000000000000" pitchFamily="50" charset="-79"/>
            </a:endParaRPr>
          </a:p>
        </p:txBody>
      </p:sp>
      <p:sp>
        <p:nvSpPr>
          <p:cNvPr id="23" name="מלבן 22"/>
          <p:cNvSpPr/>
          <p:nvPr/>
        </p:nvSpPr>
        <p:spPr>
          <a:xfrm>
            <a:off x="560833" y="5023104"/>
            <a:ext cx="11358218" cy="1220132"/>
          </a:xfrm>
          <a:prstGeom prst="rect">
            <a:avLst/>
          </a:prstGeom>
          <a:solidFill>
            <a:srgbClr val="527F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500" dirty="0">
                <a:latin typeface="Calibri" panose="020F0502020204030204" pitchFamily="34" charset="0"/>
                <a:cs typeface="Calibri" panose="020F0502020204030204" pitchFamily="34" charset="0"/>
              </a:rPr>
              <a:t>שירותים חברתיים למקבלי גמלת סיעוד מחייב הסתכלות רחבה על כל </a:t>
            </a:r>
            <a:r>
              <a:rPr lang="he-IL" sz="2500" dirty="0" smtClean="0">
                <a:latin typeface="Calibri" panose="020F0502020204030204" pitchFamily="34" charset="0"/>
                <a:cs typeface="Calibri" panose="020F0502020204030204" pitchFamily="34" charset="0"/>
              </a:rPr>
              <a:t>360 </a:t>
            </a:r>
            <a:r>
              <a:rPr lang="he-IL" sz="2500" dirty="0">
                <a:latin typeface="Calibri" panose="020F0502020204030204" pitchFamily="34" charset="0"/>
                <a:cs typeface="Calibri" panose="020F0502020204030204" pitchFamily="34" charset="0"/>
              </a:rPr>
              <a:t>אלף מקבלי הגמלה, יכולת להציע שירותים מגוונים, התאמה ותמרוץ</a:t>
            </a:r>
          </a:p>
        </p:txBody>
      </p:sp>
      <p:grpSp>
        <p:nvGrpSpPr>
          <p:cNvPr id="7" name="קבוצה 6"/>
          <p:cNvGrpSpPr/>
          <p:nvPr/>
        </p:nvGrpSpPr>
        <p:grpSpPr>
          <a:xfrm>
            <a:off x="1224251" y="1141099"/>
            <a:ext cx="9653910" cy="2580023"/>
            <a:chOff x="1291535" y="3895066"/>
            <a:chExt cx="9653910" cy="2580023"/>
          </a:xfrm>
        </p:grpSpPr>
        <p:sp>
          <p:nvSpPr>
            <p:cNvPr id="16" name="אליפסה 15"/>
            <p:cNvSpPr/>
            <p:nvPr/>
          </p:nvSpPr>
          <p:spPr>
            <a:xfrm>
              <a:off x="4637356" y="4770492"/>
              <a:ext cx="1705404" cy="16696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 err="1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אסדרת</a:t>
              </a:r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הפיקוח</a:t>
              </a:r>
            </a:p>
          </p:txBody>
        </p:sp>
        <p:sp>
          <p:nvSpPr>
            <p:cNvPr id="17" name="אליפסה 16"/>
            <p:cNvSpPr/>
            <p:nvPr/>
          </p:nvSpPr>
          <p:spPr>
            <a:xfrm>
              <a:off x="7988150" y="4805408"/>
              <a:ext cx="1705404" cy="16696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תכנון השירותים והיערכות להזדקנות</a:t>
              </a:r>
            </a:p>
          </p:txBody>
        </p:sp>
        <p:sp>
          <p:nvSpPr>
            <p:cNvPr id="15" name="אליפסה 14"/>
            <p:cNvSpPr/>
            <p:nvPr/>
          </p:nvSpPr>
          <p:spPr>
            <a:xfrm>
              <a:off x="2936925" y="4682800"/>
              <a:ext cx="1705404" cy="16696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מיקוד בנזקקים</a:t>
              </a:r>
            </a:p>
          </p:txBody>
        </p:sp>
        <p:sp>
          <p:nvSpPr>
            <p:cNvPr id="22" name="אליפסה 21"/>
            <p:cNvSpPr/>
            <p:nvPr/>
          </p:nvSpPr>
          <p:spPr>
            <a:xfrm>
              <a:off x="1291535" y="4757911"/>
              <a:ext cx="1705404" cy="166968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000" b="1" dirty="0">
                  <a:solidFill>
                    <a:srgbClr val="44546A">
                      <a:lumMod val="10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מניעת כפל</a:t>
              </a:r>
            </a:p>
          </p:txBody>
        </p:sp>
        <p:sp>
          <p:nvSpPr>
            <p:cNvPr id="25" name="מלבן 24"/>
            <p:cNvSpPr/>
            <p:nvPr/>
          </p:nvSpPr>
          <p:spPr>
            <a:xfrm>
              <a:off x="8513765" y="3895066"/>
              <a:ext cx="2431680" cy="836705"/>
            </a:xfrm>
            <a:prstGeom prst="rect">
              <a:avLst/>
            </a:prstGeom>
            <a:solidFill>
              <a:srgbClr val="527F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he-IL" sz="2500" dirty="0" smtClean="0">
                  <a:latin typeface="Calibri" panose="020F0502020204030204" pitchFamily="34" charset="0"/>
                  <a:cs typeface="Calibri" panose="020F0502020204030204" pitchFamily="34" charset="0"/>
                </a:rPr>
                <a:t>המטרה:</a:t>
              </a:r>
              <a:endParaRPr lang="he-IL" sz="2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580841" y="314925"/>
            <a:ext cx="92537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שת"פ והעברות מידע– </a:t>
            </a:r>
            <a:r>
              <a:rPr lang="he-IL" sz="2800" b="1" dirty="0">
                <a:latin typeface="Calibri" panose="020F0502020204030204" pitchFamily="34" charset="0"/>
                <a:cs typeface="Calibri" panose="020F0502020204030204" pitchFamily="34" charset="0"/>
              </a:rPr>
              <a:t>ביטוח לאומי ומשרד הרווחה</a:t>
            </a:r>
          </a:p>
        </p:txBody>
      </p:sp>
      <p:sp>
        <p:nvSpPr>
          <p:cNvPr id="20" name="מלבן 19"/>
          <p:cNvSpPr/>
          <p:nvPr/>
        </p:nvSpPr>
        <p:spPr>
          <a:xfrm>
            <a:off x="3093" y="0"/>
            <a:ext cx="244547" cy="6857999"/>
          </a:xfrm>
          <a:prstGeom prst="rect">
            <a:avLst/>
          </a:prstGeom>
          <a:solidFill>
            <a:srgbClr val="527FC4"/>
          </a:solidFill>
          <a:ln>
            <a:solidFill>
              <a:srgbClr val="8C8D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אליפסה 13"/>
          <p:cNvSpPr/>
          <p:nvPr/>
        </p:nvSpPr>
        <p:spPr>
          <a:xfrm>
            <a:off x="6275476" y="2051442"/>
            <a:ext cx="1705404" cy="16696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rgbClr val="44546A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התאמת שירותים לצרכי הלקוחות</a:t>
            </a:r>
          </a:p>
        </p:txBody>
      </p:sp>
      <p:sp>
        <p:nvSpPr>
          <p:cNvPr id="18" name="מלבן 17"/>
          <p:cNvSpPr/>
          <p:nvPr/>
        </p:nvSpPr>
        <p:spPr>
          <a:xfrm>
            <a:off x="-2308" y="1"/>
            <a:ext cx="244547" cy="6857999"/>
          </a:xfrm>
          <a:prstGeom prst="rect">
            <a:avLst/>
          </a:prstGeom>
          <a:solidFill>
            <a:srgbClr val="5EC5C5"/>
          </a:solidFill>
          <a:ln>
            <a:solidFill>
              <a:srgbClr val="2CC2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 rot="16200000">
            <a:off x="-709672" y="667069"/>
            <a:ext cx="1616148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1600" b="1" dirty="0" smtClean="0"/>
              <a:t>סל מותאם אישית</a:t>
            </a:r>
            <a:endParaRPr lang="he-IL" sz="1600" b="1" dirty="0"/>
          </a:p>
        </p:txBody>
      </p:sp>
    </p:spTree>
    <p:extLst>
      <p:ext uri="{BB962C8B-B14F-4D97-AF65-F5344CB8AC3E}">
        <p14:creationId xmlns:p14="http://schemas.microsoft.com/office/powerpoint/2010/main" val="3609658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ערכת נושא Office">
  <a:themeElements>
    <a:clrScheme name="כחול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r" rtl="1">
          <a:defRPr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ערכת נושא PP">
  <a:themeElements>
    <a:clrScheme name="Custom 2">
      <a:dk1>
        <a:srgbClr val="001021"/>
      </a:dk1>
      <a:lt1>
        <a:sysClr val="window" lastClr="FFFFFF"/>
      </a:lt1>
      <a:dk2>
        <a:srgbClr val="001E2F"/>
      </a:dk2>
      <a:lt2>
        <a:srgbClr val="F3F1F2"/>
      </a:lt2>
      <a:accent1>
        <a:srgbClr val="95E89D"/>
      </a:accent1>
      <a:accent2>
        <a:srgbClr val="6EE5DF"/>
      </a:accent2>
      <a:accent3>
        <a:srgbClr val="74EBC6"/>
      </a:accent3>
      <a:accent4>
        <a:srgbClr val="389D80"/>
      </a:accent4>
      <a:accent5>
        <a:srgbClr val="3E8F80"/>
      </a:accent5>
      <a:accent6>
        <a:srgbClr val="074E4A"/>
      </a:accent6>
      <a:hlink>
        <a:srgbClr val="8ABE9F"/>
      </a:hlink>
      <a:folHlink>
        <a:srgbClr val="C63BC1"/>
      </a:folHlink>
    </a:clrScheme>
    <a:fontScheme name="Custom 2">
      <a:majorFont>
        <a:latin typeface="Open Sans Hebrew"/>
        <a:ea typeface=""/>
        <a:cs typeface="Open Sans Hebrew"/>
      </a:majorFont>
      <a:minorFont>
        <a:latin typeface="Open Sans Hebrew"/>
        <a:ea typeface=""/>
        <a:cs typeface="Open Sans Hebr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ערכת נושא PP" id="{84F2479A-7D9B-4478-87D5-1BE6AD5050B2}" vid="{C9CE1F66-D69F-461F-8905-B97AD5DED1B9}"/>
    </a:ext>
  </a:extLst>
</a:theme>
</file>

<file path=ppt/theme/theme4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4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r" rtl="1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Brookdale PP">
  <a:themeElements>
    <a:clrScheme name="brookdale NEW">
      <a:dk1>
        <a:srgbClr val="424F58"/>
      </a:dk1>
      <a:lt1>
        <a:sysClr val="window" lastClr="FFFFFF"/>
      </a:lt1>
      <a:dk2>
        <a:srgbClr val="424F58"/>
      </a:dk2>
      <a:lt2>
        <a:srgbClr val="FFFFFF"/>
      </a:lt2>
      <a:accent1>
        <a:srgbClr val="006EA0"/>
      </a:accent1>
      <a:accent2>
        <a:srgbClr val="92C83E"/>
      </a:accent2>
      <a:accent3>
        <a:srgbClr val="A82172"/>
      </a:accent3>
      <a:accent4>
        <a:srgbClr val="533187"/>
      </a:accent4>
      <a:accent5>
        <a:srgbClr val="FAA21B"/>
      </a:accent5>
      <a:accent6>
        <a:srgbClr val="FFD500"/>
      </a:accent6>
      <a:hlink>
        <a:srgbClr val="002060"/>
      </a:hlink>
      <a:folHlink>
        <a:srgbClr val="FF0000"/>
      </a:folHlink>
    </a:clrScheme>
    <a:fontScheme name="Brookdale PP Fonts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ookdale HEB.potx" id="{31A6C8C9-7E28-4091-A30B-B7F92754AE62}" vid="{19848D88-3F6A-4220-975C-B1613D66E1A5}"/>
    </a:ext>
  </a:extLst>
</a:theme>
</file>

<file path=ppt/theme/theme6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1687</Words>
  <Application>Microsoft Office PowerPoint</Application>
  <PresentationFormat>מסך רחב</PresentationFormat>
  <Paragraphs>248</Paragraphs>
  <Slides>33</Slides>
  <Notes>10</Notes>
  <HiddenSlides>15</HiddenSlides>
  <MMClips>0</MMClips>
  <ScaleCrop>false</ScaleCrop>
  <HeadingPairs>
    <vt:vector size="8" baseType="variant">
      <vt:variant>
        <vt:lpstr>גופנים בשימוש</vt:lpstr>
      </vt:variant>
      <vt:variant>
        <vt:i4>24</vt:i4>
      </vt:variant>
      <vt:variant>
        <vt:lpstr>ערכת נושא</vt:lpstr>
      </vt:variant>
      <vt:variant>
        <vt:i4>5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33</vt:i4>
      </vt:variant>
    </vt:vector>
  </HeadingPairs>
  <TitlesOfParts>
    <vt:vector size="63" baseType="lpstr">
      <vt:lpstr>맑은 고딕</vt:lpstr>
      <vt:lpstr>Arial</vt:lpstr>
      <vt:lpstr>Arial Rounded MT Bold</vt:lpstr>
      <vt:lpstr>ArialMT</vt:lpstr>
      <vt:lpstr>Assistant</vt:lpstr>
      <vt:lpstr>Assistant SemiBold</vt:lpstr>
      <vt:lpstr>Bebas Neue</vt:lpstr>
      <vt:lpstr>Calibri</vt:lpstr>
      <vt:lpstr>Calibri Light</vt:lpstr>
      <vt:lpstr>Calibri-Bold</vt:lpstr>
      <vt:lpstr>Guttman Kav</vt:lpstr>
      <vt:lpstr>Gveret Levin AlefAlefAlef</vt:lpstr>
      <vt:lpstr>Helvetica Neue Medium</vt:lpstr>
      <vt:lpstr>Open Sans</vt:lpstr>
      <vt:lpstr>Open Sans Hebrew</vt:lpstr>
      <vt:lpstr>Open Sans Light</vt:lpstr>
      <vt:lpstr>Open Sans SemiBold</vt:lpstr>
      <vt:lpstr>Segoe UI</vt:lpstr>
      <vt:lpstr>Tahoma</vt:lpstr>
      <vt:lpstr>Times New Roman</vt:lpstr>
      <vt:lpstr>Varela Round</vt:lpstr>
      <vt:lpstr>Verdana</vt:lpstr>
      <vt:lpstr>Wingdings</vt:lpstr>
      <vt:lpstr>Wingdings 2</vt:lpstr>
      <vt:lpstr>ערכת נושא Office</vt:lpstr>
      <vt:lpstr>1_ערכת נושא Office</vt:lpstr>
      <vt:lpstr>ערכת נושא PP</vt:lpstr>
      <vt:lpstr>Office Theme</vt:lpstr>
      <vt:lpstr>Brookdale PP</vt:lpstr>
      <vt:lpstr>think-cell Slide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Q42: באיזו מידה אתה באופן אישי מאמין בתהליך הביזור (כלומר שיש לו פוטנציאל לשיפור בפעולת המחלקה ו/או לאזרחים הותיקים)? (N=257)</vt:lpstr>
      <vt:lpstr>Q12: מקורות המידע בהם השתמש בתהליך התכנון (N=257)</vt:lpstr>
      <vt:lpstr>Q8: באיזו מידה אתה משתמש בדשבורד המכלול (N=257) </vt:lpstr>
      <vt:lpstr>Q9: באיזו מידה דשבורד המכלול הוא נוח וידידותי לשימוש?(N=247)</vt:lpstr>
      <vt:lpstr>פורום ברק- צוות דאטה דיגיטל: </vt:lpstr>
      <vt:lpstr>מצגת של PowerPoint‏</vt:lpstr>
      <vt:lpstr>צוות דאטה-דיגיטל- מטרות</vt:lpstr>
      <vt:lpstr>דאטה-דיגיטל- הצוות</vt:lpstr>
      <vt:lpstr>צוות דאטה-דיגיטל - מעיקרי הפעילות </vt:lpstr>
      <vt:lpstr>הצגת תפישה של מערכת אסטרטגית לניהול דאטה, פערים ומדדים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Molsa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אביעד יצחקי</dc:creator>
  <cp:lastModifiedBy>אביעד יצחקי</cp:lastModifiedBy>
  <cp:revision>24</cp:revision>
  <dcterms:created xsi:type="dcterms:W3CDTF">2024-07-21T06:51:42Z</dcterms:created>
  <dcterms:modified xsi:type="dcterms:W3CDTF">2024-07-21T13:23:37Z</dcterms:modified>
</cp:coreProperties>
</file>