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2380-D8BE-4758-764C-5D0A1A1B4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82F0A-2E1B-2B43-768B-DB6E92992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4B73-4D1C-033D-A719-B725D247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C915E-5C47-EA05-93A0-CDEA9465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AF196-4E86-812B-450D-D8C35254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082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8CB7-9C03-F780-9004-9ECA4EC1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92B-68EE-2EF8-FEB9-234D501C3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14990-102C-F3C5-CC26-BA7B5DA0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CF595-83A1-566D-FD03-C659023E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C1E4F-6AA1-D913-6628-FA0ACD1A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227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7C46-594A-699B-4EB3-85D7D7E8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13427-384C-FF0F-5BF1-FDAD09C96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67B3E-3BDD-8103-D6F7-DCF6C25A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2D92B-A5C8-22CF-F5A3-1D6B0D6E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0BB8-16EE-8B76-5349-1202739B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09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45BF-0216-6999-242D-BB838E93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A3E6E-4891-1431-119F-83819F1C0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66EA1-5CF6-F526-71BD-72C59557B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52C2C-78C0-D802-6D80-E357059B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46EF9-51B8-483C-E6F6-38160565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F78E8-8D1B-9ACF-0284-A2575B34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449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F39A-0273-2B37-F77E-00AB01E57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D032F-4875-B96F-F677-E8282BBA6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514E3-8DCB-A207-6675-4C6B3547A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CEFF0-D6A3-E6A5-D7FD-4CC951224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9572D-79AB-0574-B96D-2D3486668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22292-9EEA-B19F-7216-7CE10100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2B6DB-1D99-CDFD-BE22-36DB42A8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BF876-1224-7050-4651-9EEC0168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561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A752-D695-92E1-E21B-2CCEEB25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C5AA6-5CD2-AC13-8B3D-C7BD6809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3278C-458C-04CE-AA3C-0F2E0643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8E55A-591B-C6C9-0F3C-844E96FE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2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BF37E-E950-88E7-8BF6-DF33E041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D9C50-7C9F-50B7-3346-804BE9B2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0E530-AFB8-05E6-AF3E-05AFB150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429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E435-A2A3-CB60-2F2F-475432D4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B693-1005-FED4-C374-3FDE234D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F54FD-75AD-A285-9BB5-A81BCA2E4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70BE8-3035-0511-049C-0D436D4D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C5A6B-4487-3629-B5BC-E8E5A6AA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6875E-7DE4-8DA7-AD11-5654361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717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E74B-F1BA-769A-E021-69A94BA8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69B46-2948-182F-EF18-82B9D5845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4DF9B-2B87-023F-CE0F-618CBCF1E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001DD-664A-6D65-5DCA-6081BDFB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FDD64-3DCD-F967-889F-44B9CE13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71CC6-AD9F-8E8C-E4CA-69E4358B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49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B868-3B0B-ECEA-A3B0-E686AB57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75FC5-A698-F2B7-B468-F321A0767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B450F-D512-7AC0-F0D6-8B31A939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FA3F9-B923-AE0A-77DC-59F36231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AF959-AA03-D781-C843-72EA16AF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526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2131F-9781-20D0-B241-BAFA74336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49967-92FB-5282-8884-E0EBCA98C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6458-A849-E91B-B788-83BC43DFA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423BF-B998-5791-980F-F908D041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EED8-E7D4-5ECB-7D00-E6F9023F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25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3E0E55-5966-44E5-CB4B-EF51F5AF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309B5-F86F-1634-7850-E7471782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717E3-9107-91BA-CC70-5879A5173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EEBBC-ABA3-4986-BADD-25CEF1780B3F}" type="datetimeFigureOut">
              <a:rPr lang="en-IL" smtClean="0"/>
              <a:t>05/10/2024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327C3-2342-AD97-A9CE-61D007A53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2C5D-EED8-B4A6-F9F8-462FF01C3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CA44E-2ADE-44FA-8298-8822ECEE41B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681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72DE7AE9-0BF3-D973-E87C-EB41E8709D13}"/>
              </a:ext>
            </a:extLst>
          </p:cNvPr>
          <p:cNvSpPr/>
          <p:nvPr/>
        </p:nvSpPr>
        <p:spPr>
          <a:xfrm>
            <a:off x="1431250" y="1737244"/>
            <a:ext cx="3588173" cy="3293937"/>
          </a:xfrm>
          <a:prstGeom prst="roundRect">
            <a:avLst/>
          </a:prstGeom>
          <a:solidFill>
            <a:schemeClr val="bg1"/>
          </a:solidFill>
          <a:ln>
            <a:solidFill>
              <a:srgbClr val="E7525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97F194-2F02-BC07-F02B-84F0400E16BE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7" name="Rounded Rectangle 111">
              <a:extLst>
                <a:ext uri="{FF2B5EF4-FFF2-40B4-BE49-F238E27FC236}">
                  <a16:creationId xmlns:a16="http://schemas.microsoft.com/office/drawing/2014/main" id="{2E6CBCBE-5B82-5329-43F6-B8A4C66C514F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21BBCE-79AE-02B8-ACF4-5F92C767733E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11" name="Rounded Rectangle 103">
                <a:extLst>
                  <a:ext uri="{FF2B5EF4-FFF2-40B4-BE49-F238E27FC236}">
                    <a16:creationId xmlns:a16="http://schemas.microsoft.com/office/drawing/2014/main" id="{4258F36B-39C2-D56D-69BF-1E5B5B20877C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BA3AF-17A3-63DD-2D71-6C4B91532AAB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EDF4C60-0A63-7DCD-5ADF-93D5C43828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CBBA451-A168-4B32-BD4E-95EB9A24A5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D0C106-4B6B-050F-081F-38A453418D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8470C0-E016-4358-548E-D7C5B52099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9053" y="2174550"/>
            <a:ext cx="3543457" cy="3446073"/>
          </a:xfrm>
        </p:spPr>
        <p:txBody>
          <a:bodyPr>
            <a:normAutofit fontScale="25000" lnSpcReduction="20000"/>
          </a:bodyPr>
          <a:lstStyle/>
          <a:p>
            <a:pPr algn="r" rtl="1"/>
            <a:r>
              <a:rPr lang="he-IL" sz="6400" dirty="0"/>
              <a:t>מנחם, בן 81, נ+1. אבחנות רפואיות:</a:t>
            </a:r>
          </a:p>
          <a:p>
            <a:pPr algn="r" rtl="1"/>
            <a:r>
              <a:rPr lang="he-IL" sz="6400" dirty="0"/>
              <a:t>* סוכרת מטופלת באינסולין</a:t>
            </a:r>
          </a:p>
          <a:p>
            <a:pPr algn="r" rtl="1"/>
            <a:r>
              <a:rPr lang="he-IL" sz="6400" dirty="0"/>
              <a:t>* יתר לחץ דם</a:t>
            </a:r>
          </a:p>
          <a:p>
            <a:pPr algn="r" rtl="1"/>
            <a:r>
              <a:rPr lang="he-IL" sz="6400" dirty="0"/>
              <a:t>* </a:t>
            </a:r>
            <a:r>
              <a:rPr lang="he-IL" sz="6400" dirty="0" err="1"/>
              <a:t>אוסטאוטריטיס</a:t>
            </a:r>
            <a:r>
              <a:rPr lang="he-IL" sz="6400" dirty="0"/>
              <a:t> – דלקת מפרקים ניוונית</a:t>
            </a:r>
          </a:p>
          <a:p>
            <a:pPr algn="r" rtl="1"/>
            <a:r>
              <a:rPr lang="he-IL" sz="6400" dirty="0"/>
              <a:t>* אי שליטה על סוגרים ודחיפות במתן שתן</a:t>
            </a:r>
          </a:p>
          <a:p>
            <a:pPr algn="r" rtl="1"/>
            <a:r>
              <a:rPr lang="he-IL" sz="6400" dirty="0"/>
              <a:t>* נפילות חוזרות</a:t>
            </a:r>
          </a:p>
          <a:p>
            <a:pPr algn="r" rtl="1"/>
            <a:r>
              <a:rPr lang="he-IL" sz="6400" dirty="0"/>
              <a:t>* אי יציבות  בהליכה</a:t>
            </a:r>
          </a:p>
          <a:p>
            <a:pPr algn="r" rtl="1">
              <a:lnSpc>
                <a:spcPct val="120000"/>
              </a:lnSpc>
            </a:pPr>
            <a:r>
              <a:rPr lang="he-IL" sz="6400" dirty="0"/>
              <a:t>מנחם במקצועו מהנדס מכונות, בעל יכולות ביצועיות, חובב מוזיקה מושבע, אוסף מכוניות עתיקות, עם מערכת משפחתית תומכת. בשנים האחרונות, מאז שהחל נופל ממעט לצאת מביתו.</a:t>
            </a:r>
          </a:p>
          <a:p>
            <a:pPr algn="r" rtl="1"/>
            <a:endParaRPr lang="he-IL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1142277" y="1953202"/>
            <a:ext cx="3788135" cy="281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sz="1600" dirty="0" smtClean="0"/>
              <a:t>1252 ₪- גמלה בכסף</a:t>
            </a:r>
          </a:p>
          <a:p>
            <a:pPr algn="r" rtl="1"/>
            <a:r>
              <a:rPr lang="he-IL" sz="1600" dirty="0" smtClean="0"/>
              <a:t>11 </a:t>
            </a:r>
            <a:r>
              <a:rPr lang="he-IL" sz="1600" dirty="0"/>
              <a:t>שעות </a:t>
            </a:r>
            <a:r>
              <a:rPr lang="he-IL" sz="1600" dirty="0" smtClean="0"/>
              <a:t>מטפלת </a:t>
            </a:r>
            <a:r>
              <a:rPr lang="he-IL" sz="1600" dirty="0"/>
              <a:t>שבועיות הכוללות: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200" dirty="0"/>
              <a:t>סיוע בניידות בבית ומחוץ לבית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200" dirty="0"/>
              <a:t>סיוע בבישול והגשת מזון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200" dirty="0"/>
              <a:t>סיוע באחזקת </a:t>
            </a:r>
            <a:r>
              <a:rPr lang="he-IL" sz="1200" dirty="0" smtClean="0"/>
              <a:t>הבית וניקיון</a:t>
            </a:r>
            <a:endParaRPr lang="he-IL" sz="12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200" dirty="0"/>
              <a:t>שמירה על סביבה בטוחה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200" dirty="0"/>
              <a:t>השגחה או עזרה חלקית ברחצה והלבשה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he-IL" sz="1200" dirty="0"/>
              <a:t>ליווי לשירותים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49271A-345A-5122-3EC4-B8002397612C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9" name="Chevron 9">
            <a:extLst>
              <a:ext uri="{FF2B5EF4-FFF2-40B4-BE49-F238E27FC236}">
                <a16:creationId xmlns:a16="http://schemas.microsoft.com/office/drawing/2014/main" id="{16ADEEB6-1E30-6D38-D568-DAADF160E382}"/>
              </a:ext>
            </a:extLst>
          </p:cNvPr>
          <p:cNvSpPr/>
          <p:nvPr/>
        </p:nvSpPr>
        <p:spPr>
          <a:xfrm rot="10800000">
            <a:off x="5436991" y="3285000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D1170E-6314-7E2A-7D50-BDA53F122E7D}"/>
              </a:ext>
            </a:extLst>
          </p:cNvPr>
          <p:cNvSpPr>
            <a:spLocks noChangeAspect="1"/>
          </p:cNvSpPr>
          <p:nvPr/>
        </p:nvSpPr>
        <p:spPr>
          <a:xfrm>
            <a:off x="6142176" y="3384213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אליפסה 1"/>
          <p:cNvSpPr/>
          <p:nvPr/>
        </p:nvSpPr>
        <p:spPr>
          <a:xfrm>
            <a:off x="10963747" y="181069"/>
            <a:ext cx="1228253" cy="1059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/>
              <a:t>רמה 3</a:t>
            </a:r>
          </a:p>
          <a:p>
            <a:pPr algn="ctr"/>
            <a:r>
              <a:rPr lang="he-IL" dirty="0" smtClean="0"/>
              <a:t>17 ש'</a:t>
            </a:r>
            <a:endParaRPr lang="he-IL" dirty="0"/>
          </a:p>
        </p:txBody>
      </p:sp>
      <p:sp>
        <p:nvSpPr>
          <p:cNvPr id="16" name="TextBox 15"/>
          <p:cNvSpPr txBox="1"/>
          <p:nvPr/>
        </p:nvSpPr>
        <p:spPr>
          <a:xfrm>
            <a:off x="5764062" y="256266"/>
            <a:ext cx="2573140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 smtClean="0"/>
              <a:t>המצב והשיטה היום</a:t>
            </a:r>
            <a:endParaRPr lang="he-IL" sz="2400" b="1" dirty="0"/>
          </a:p>
        </p:txBody>
      </p:sp>
    </p:spTree>
    <p:extLst>
      <p:ext uri="{BB962C8B-B14F-4D97-AF65-F5344CB8AC3E}">
        <p14:creationId xmlns:p14="http://schemas.microsoft.com/office/powerpoint/2010/main" val="435411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D0B4EA7B-34D5-1A23-EEE1-3B26FC65248B}"/>
              </a:ext>
            </a:extLst>
          </p:cNvPr>
          <p:cNvSpPr/>
          <p:nvPr/>
        </p:nvSpPr>
        <p:spPr>
          <a:xfrm>
            <a:off x="226103" y="588475"/>
            <a:ext cx="5449569" cy="5894061"/>
          </a:xfrm>
          <a:prstGeom prst="roundRect">
            <a:avLst/>
          </a:prstGeom>
          <a:solidFill>
            <a:srgbClr val="5EC5C5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3A88E2F-5EF4-789E-4EC1-FECE0F60DDB1}"/>
              </a:ext>
            </a:extLst>
          </p:cNvPr>
          <p:cNvGrpSpPr>
            <a:grpSpLocks noChangeAspect="1"/>
          </p:cNvGrpSpPr>
          <p:nvPr/>
        </p:nvGrpSpPr>
        <p:grpSpPr>
          <a:xfrm>
            <a:off x="7678489" y="1368598"/>
            <a:ext cx="4048894" cy="4429827"/>
            <a:chOff x="8042765" y="2046515"/>
            <a:chExt cx="3483067" cy="3810764"/>
          </a:xfrm>
        </p:grpSpPr>
        <p:sp>
          <p:nvSpPr>
            <p:cNvPr id="5" name="Rounded Rectangle 111">
              <a:extLst>
                <a:ext uri="{FF2B5EF4-FFF2-40B4-BE49-F238E27FC236}">
                  <a16:creationId xmlns:a16="http://schemas.microsoft.com/office/drawing/2014/main" id="{621A4DD8-C551-84E3-8B7C-F54D08EBF65B}"/>
                </a:ext>
              </a:extLst>
            </p:cNvPr>
            <p:cNvSpPr/>
            <p:nvPr/>
          </p:nvSpPr>
          <p:spPr>
            <a:xfrm>
              <a:off x="8131154" y="2046515"/>
              <a:ext cx="3311785" cy="3810764"/>
            </a:xfrm>
            <a:prstGeom prst="roundRect">
              <a:avLst>
                <a:gd name="adj" fmla="val 5098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0DC4F-3B2E-7161-90A3-10058A300945}"/>
                </a:ext>
              </a:extLst>
            </p:cNvPr>
            <p:cNvGrpSpPr/>
            <p:nvPr/>
          </p:nvGrpSpPr>
          <p:grpSpPr>
            <a:xfrm>
              <a:off x="8042765" y="2054133"/>
              <a:ext cx="3483067" cy="935810"/>
              <a:chOff x="8196597" y="2046513"/>
              <a:chExt cx="3483067" cy="935810"/>
            </a:xfrm>
          </p:grpSpPr>
          <p:sp>
            <p:nvSpPr>
              <p:cNvPr id="9" name="Rounded Rectangle 103">
                <a:extLst>
                  <a:ext uri="{FF2B5EF4-FFF2-40B4-BE49-F238E27FC236}">
                    <a16:creationId xmlns:a16="http://schemas.microsoft.com/office/drawing/2014/main" id="{152D9103-54F9-A90C-CB51-ABE857EDC729}"/>
                  </a:ext>
                </a:extLst>
              </p:cNvPr>
              <p:cNvSpPr/>
              <p:nvPr/>
            </p:nvSpPr>
            <p:spPr>
              <a:xfrm>
                <a:off x="8273404" y="2046513"/>
                <a:ext cx="3325748" cy="869043"/>
              </a:xfrm>
              <a:prstGeom prst="roundRect">
                <a:avLst/>
              </a:prstGeom>
              <a:noFill/>
              <a:ln w="28575">
                <a:solidFill>
                  <a:srgbClr val="5EC5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ADDB74-0E15-742D-DCB9-DF4B1ADAD329}"/>
                  </a:ext>
                </a:extLst>
              </p:cNvPr>
              <p:cNvSpPr/>
              <p:nvPr/>
            </p:nvSpPr>
            <p:spPr>
              <a:xfrm>
                <a:off x="8208414" y="2647821"/>
                <a:ext cx="3455728" cy="3345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926696-7AD8-C99A-5C5A-1619DFF240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22341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0B44494-FC7C-999B-CD19-01A9DADC86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96597" y="2495157"/>
                <a:ext cx="157323" cy="157323"/>
              </a:xfrm>
              <a:prstGeom prst="ellipse">
                <a:avLst/>
              </a:prstGeom>
              <a:solidFill>
                <a:srgbClr val="5EC5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A2A50CB-0FA1-F4DF-39D2-36E73B7A6F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65794" y="283973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1AAC09-5FEA-10F6-D909-5CE48748B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0243" y="2839894"/>
              <a:ext cx="157323" cy="1573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5F48573E-28D5-B8FD-4B49-EAC00579D7D1}"/>
              </a:ext>
            </a:extLst>
          </p:cNvPr>
          <p:cNvSpPr/>
          <p:nvPr/>
        </p:nvSpPr>
        <p:spPr>
          <a:xfrm>
            <a:off x="8966664" y="499606"/>
            <a:ext cx="1472544" cy="1519046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5E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C01B6-BCED-0B1F-3127-824C5C40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1369" y="2178994"/>
            <a:ext cx="3586386" cy="3723931"/>
          </a:xfrm>
        </p:spPr>
        <p:txBody>
          <a:bodyPr>
            <a:normAutofit fontScale="55000" lnSpcReduction="20000"/>
          </a:bodyPr>
          <a:lstStyle/>
          <a:p>
            <a:pPr algn="r" rtl="1"/>
            <a:r>
              <a:rPr lang="he-IL" dirty="0"/>
              <a:t>מנחם, בן 81, נ+1. פרופיל תפקודי:</a:t>
            </a:r>
          </a:p>
          <a:p>
            <a:pPr algn="r" rtl="1"/>
            <a:r>
              <a:rPr lang="he-IL" dirty="0"/>
              <a:t>* עייפות, ירידה ברמות האנרגיה </a:t>
            </a:r>
          </a:p>
          <a:p>
            <a:pPr algn="r" rtl="1"/>
            <a:r>
              <a:rPr lang="he-IL" dirty="0"/>
              <a:t>* בעיות שינה </a:t>
            </a:r>
          </a:p>
          <a:p>
            <a:pPr algn="r" rtl="1"/>
            <a:r>
              <a:rPr lang="he-IL" dirty="0"/>
              <a:t>* קשיים בקשב וזיכרון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 smtClean="0"/>
              <a:t>רגישות </a:t>
            </a:r>
            <a:r>
              <a:rPr lang="he-IL" dirty="0"/>
              <a:t>לכאב </a:t>
            </a:r>
            <a:endParaRPr lang="he-IL" dirty="0" smtClean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dirty="0" smtClean="0"/>
              <a:t>בעיות שמיעה</a:t>
            </a:r>
            <a:endParaRPr lang="he-IL" dirty="0"/>
          </a:p>
          <a:p>
            <a:pPr algn="r" rtl="1"/>
            <a:r>
              <a:rPr lang="he-IL" dirty="0"/>
              <a:t>* שליטה חלקית על מתן שתן </a:t>
            </a:r>
          </a:p>
          <a:p>
            <a:pPr algn="r" rtl="1"/>
            <a:r>
              <a:rPr lang="he-IL" dirty="0"/>
              <a:t>* הליכה לא יציבה ונטייה לנפילות </a:t>
            </a:r>
          </a:p>
          <a:p>
            <a:pPr algn="r" rtl="1"/>
            <a:r>
              <a:rPr lang="he-IL" dirty="0"/>
              <a:t>* נוקשות וכאב בתנועתיות ברכיים </a:t>
            </a:r>
          </a:p>
          <a:p>
            <a:pPr algn="r" rtl="1">
              <a:lnSpc>
                <a:spcPct val="170000"/>
              </a:lnSpc>
            </a:pPr>
            <a:r>
              <a:rPr lang="he-IL" dirty="0"/>
              <a:t>מנחם במקצועו מהנדס מכונות, בעל יכולות ביצועיות, חובב מוזיקה מושבע, אוסף מכוניות עתיקות, בעל מערכת משפחתית תומכת. בשנים האחרונות, מאז שהחל נופל ממעט לצאת מביתו.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A6A51E-CB76-6764-B73A-2D7D2ED69E2F}"/>
              </a:ext>
            </a:extLst>
          </p:cNvPr>
          <p:cNvSpPr txBox="1">
            <a:spLocks/>
          </p:cNvSpPr>
          <p:nvPr/>
        </p:nvSpPr>
        <p:spPr>
          <a:xfrm>
            <a:off x="223335" y="817648"/>
            <a:ext cx="5178131" cy="56648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he-IL" dirty="0" smtClean="0"/>
              <a:t>1000 ₪ </a:t>
            </a:r>
            <a:r>
              <a:rPr lang="he-IL" b="1" dirty="0" smtClean="0"/>
              <a:t>גמלה בכסף ולצריכת שירותים </a:t>
            </a:r>
            <a:r>
              <a:rPr lang="he-IL" dirty="0" smtClean="0"/>
              <a:t>מותאמים אישית </a:t>
            </a:r>
            <a:r>
              <a:rPr lang="he-IL" sz="1900" dirty="0" smtClean="0"/>
              <a:t>(5 ש'*0.7)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he-IL" b="1" dirty="0" smtClean="0"/>
              <a:t>8 </a:t>
            </a:r>
            <a:r>
              <a:rPr lang="he-IL" b="1" dirty="0"/>
              <a:t>שעות </a:t>
            </a:r>
            <a:r>
              <a:rPr lang="he-IL" b="1" dirty="0" smtClean="0"/>
              <a:t>מטפלת </a:t>
            </a:r>
            <a:r>
              <a:rPr lang="he-IL" dirty="0"/>
              <a:t>שבועיות הכוללות: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סיוע בניידות בבית ומחוץ לבית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סיוע בבישול והגשת מזון 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סיוע באחזקת הבית ושמירה על סביבה בטוחה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השגחה או עזרה חלקית ברחצה והלבשה</a:t>
            </a:r>
          </a:p>
          <a:p>
            <a:pPr marL="800100" lvl="1" indent="-342900" algn="r" rtl="1">
              <a:buFont typeface="Arial" panose="020B0604020202020204" pitchFamily="34" charset="0"/>
              <a:buChar char="•"/>
            </a:pPr>
            <a:r>
              <a:rPr lang="he-IL" dirty="0"/>
              <a:t>ליווי לשירותים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he-IL" dirty="0" smtClean="0"/>
              <a:t>2 ש' צבוע + 2 ש' בבחירה (1,118 ₪) </a:t>
            </a:r>
            <a:r>
              <a:rPr lang="he-IL" b="1" dirty="0" smtClean="0"/>
              <a:t>לקהילה ולרכישת שירותים </a:t>
            </a:r>
            <a:r>
              <a:rPr lang="he-IL" dirty="0" smtClean="0"/>
              <a:t>ומוצרים מותאמים לפרופיל האישי כגון:</a:t>
            </a:r>
            <a:endParaRPr lang="he-IL" dirty="0"/>
          </a:p>
          <a:p>
            <a:pPr algn="r" rtl="1"/>
            <a:r>
              <a:rPr lang="he-IL" dirty="0" smtClean="0"/>
              <a:t>1. </a:t>
            </a:r>
            <a:r>
              <a:rPr lang="he-IL" b="1" dirty="0" smtClean="0"/>
              <a:t>קהילה </a:t>
            </a:r>
            <a:r>
              <a:rPr lang="he-IL" b="1" dirty="0"/>
              <a:t>מקדמת שייכות, בריאות וחוסן </a:t>
            </a:r>
            <a:r>
              <a:rPr lang="he-IL" dirty="0"/>
              <a:t>(פעילות, קשר, תיקונים, </a:t>
            </a:r>
            <a:r>
              <a:rPr lang="he-IL" dirty="0" smtClean="0"/>
              <a:t>תיווך וסיוע)- 209 ₪ </a:t>
            </a:r>
          </a:p>
          <a:p>
            <a:pPr algn="r" rtl="1"/>
            <a:r>
              <a:rPr lang="he-IL" dirty="0" smtClean="0"/>
              <a:t>2. </a:t>
            </a:r>
            <a:r>
              <a:rPr lang="he-IL" b="1" dirty="0" smtClean="0"/>
              <a:t>קורס </a:t>
            </a:r>
            <a:r>
              <a:rPr lang="he-IL" b="1" dirty="0"/>
              <a:t>מוזיקה מקוון בקתדרה למוזיקה </a:t>
            </a:r>
            <a:r>
              <a:rPr lang="he-IL" dirty="0"/>
              <a:t>– </a:t>
            </a:r>
            <a:r>
              <a:rPr lang="he-IL" dirty="0" smtClean="0"/>
              <a:t>350 </a:t>
            </a:r>
            <a:r>
              <a:rPr lang="he-IL" dirty="0"/>
              <a:t>₪ </a:t>
            </a:r>
          </a:p>
          <a:p>
            <a:pPr algn="r" rtl="1"/>
            <a:r>
              <a:rPr lang="he-IL" sz="1600" dirty="0"/>
              <a:t>(מאפשר עיסוק קוגניטיבי בתחום העניין, לצד התחשבות בקשיים המוטוריים </a:t>
            </a:r>
            <a:r>
              <a:rPr lang="he-IL" sz="1600" dirty="0" err="1"/>
              <a:t>והקשביים</a:t>
            </a:r>
            <a:r>
              <a:rPr lang="he-IL" sz="1600" dirty="0"/>
              <a:t>)</a:t>
            </a:r>
          </a:p>
          <a:p>
            <a:pPr algn="r" rtl="1"/>
            <a:r>
              <a:rPr lang="he-IL" dirty="0" smtClean="0"/>
              <a:t>3. </a:t>
            </a:r>
            <a:r>
              <a:rPr lang="he-IL" b="1" dirty="0" smtClean="0"/>
              <a:t>שיעורי </a:t>
            </a:r>
            <a:r>
              <a:rPr lang="he-IL" b="1" dirty="0"/>
              <a:t>דמיון מודרך ומדיטציה במתנ"ס </a:t>
            </a:r>
            <a:r>
              <a:rPr lang="he-IL" dirty="0"/>
              <a:t>- </a:t>
            </a:r>
            <a:r>
              <a:rPr lang="he-IL" dirty="0" smtClean="0"/>
              <a:t>250 </a:t>
            </a:r>
            <a:r>
              <a:rPr lang="he-IL" dirty="0"/>
              <a:t>₪ </a:t>
            </a:r>
          </a:p>
          <a:p>
            <a:pPr algn="r" rtl="1"/>
            <a:r>
              <a:rPr lang="he-IL" sz="1800" dirty="0"/>
              <a:t>(מהווה כלי מסייע בניהול כאבים, בעיות שינה, מטפלת מסיעה ומלווה, מתנ"ס מונגש)</a:t>
            </a:r>
          </a:p>
          <a:p>
            <a:pPr algn="r" rtl="1"/>
            <a:r>
              <a:rPr lang="he-IL" dirty="0" smtClean="0"/>
              <a:t>4. </a:t>
            </a:r>
            <a:r>
              <a:rPr lang="he-IL" b="1" dirty="0" smtClean="0"/>
              <a:t>בריכה </a:t>
            </a:r>
            <a:r>
              <a:rPr lang="he-IL" b="1" dirty="0"/>
              <a:t>ו</a:t>
            </a:r>
            <a:r>
              <a:rPr lang="he-IL" b="1" dirty="0" smtClean="0"/>
              <a:t>הידרותרפיה </a:t>
            </a:r>
            <a:r>
              <a:rPr lang="he-IL" dirty="0"/>
              <a:t>– </a:t>
            </a:r>
            <a:r>
              <a:rPr lang="he-IL" dirty="0" smtClean="0"/>
              <a:t>250 </a:t>
            </a:r>
            <a:r>
              <a:rPr lang="he-IL" dirty="0"/>
              <a:t>₪ </a:t>
            </a:r>
          </a:p>
          <a:p>
            <a:pPr algn="r" rtl="1"/>
            <a:r>
              <a:rPr lang="he-IL" sz="1900" dirty="0"/>
              <a:t>(מתייחס לכלל הקשיים, דגש על נוקשות בתנועתיות, סביבת המים, וההחזקה, נותנת מענה לחשש מנפילות</a:t>
            </a:r>
            <a:r>
              <a:rPr lang="he-IL" sz="1900" dirty="0" smtClean="0"/>
              <a:t>)</a:t>
            </a:r>
          </a:p>
          <a:p>
            <a:pPr algn="r" rtl="1"/>
            <a:r>
              <a:rPr lang="he-IL" dirty="0" smtClean="0"/>
              <a:t>5. </a:t>
            </a:r>
            <a:r>
              <a:rPr lang="he-IL" b="1" dirty="0" smtClean="0"/>
              <a:t>רכישת מכשיר שמיעה מסובסד-300 </a:t>
            </a:r>
            <a:r>
              <a:rPr lang="he-IL" dirty="0" smtClean="0"/>
              <a:t>₪ </a:t>
            </a:r>
            <a:r>
              <a:rPr lang="he-IL" sz="1800" dirty="0" smtClean="0"/>
              <a:t>(קריטי במניעת הדרדרות ותפקוד)</a:t>
            </a:r>
            <a:endParaRPr lang="he-IL" sz="3200" dirty="0" smtClean="0"/>
          </a:p>
          <a:p>
            <a:pPr algn="r" rtl="1"/>
            <a:r>
              <a:rPr lang="he-IL" dirty="0" smtClean="0"/>
              <a:t>6. </a:t>
            </a:r>
            <a:r>
              <a:rPr lang="he-IL" b="1" dirty="0"/>
              <a:t>התנדבות </a:t>
            </a:r>
            <a:r>
              <a:rPr lang="he-IL" dirty="0"/>
              <a:t>דו חודשית בבית הספר "אורט" מגמת מכונאות בסיוע לתלמידים </a:t>
            </a:r>
            <a:endParaRPr lang="he-IL" dirty="0"/>
          </a:p>
          <a:p>
            <a:pPr rtl="1"/>
            <a:r>
              <a:rPr lang="he-IL" b="1" dirty="0"/>
              <a:t>סה"כ </a:t>
            </a:r>
            <a:r>
              <a:rPr lang="he-IL" b="1" dirty="0" smtClean="0"/>
              <a:t>1409 </a:t>
            </a:r>
            <a:r>
              <a:rPr lang="he-IL" b="1" dirty="0"/>
              <a:t>₪ מתוכם </a:t>
            </a:r>
            <a:r>
              <a:rPr lang="he-IL" b="1" dirty="0" smtClean="0"/>
              <a:t>1,118 </a:t>
            </a:r>
            <a:r>
              <a:rPr lang="he-IL" b="1" dirty="0"/>
              <a:t>₪ במימון מדינה </a:t>
            </a:r>
            <a:endParaRPr lang="he-IL" dirty="0"/>
          </a:p>
        </p:txBody>
      </p:sp>
      <p:sp>
        <p:nvSpPr>
          <p:cNvPr id="14" name="Chevron 9">
            <a:extLst>
              <a:ext uri="{FF2B5EF4-FFF2-40B4-BE49-F238E27FC236}">
                <a16:creationId xmlns:a16="http://schemas.microsoft.com/office/drawing/2014/main" id="{53CB9F4D-0FB1-3D16-6D13-CEF08E76D144}"/>
              </a:ext>
            </a:extLst>
          </p:cNvPr>
          <p:cNvSpPr/>
          <p:nvPr/>
        </p:nvSpPr>
        <p:spPr>
          <a:xfrm rot="10800000">
            <a:off x="5753988" y="3285000"/>
            <a:ext cx="1558343" cy="288000"/>
          </a:xfrm>
          <a:prstGeom prst="chevron">
            <a:avLst/>
          </a:prstGeom>
          <a:solidFill>
            <a:srgbClr val="5E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549171-80AC-AFAF-C88B-947BC5215AD1}"/>
              </a:ext>
            </a:extLst>
          </p:cNvPr>
          <p:cNvSpPr>
            <a:spLocks noChangeAspect="1"/>
          </p:cNvSpPr>
          <p:nvPr/>
        </p:nvSpPr>
        <p:spPr>
          <a:xfrm>
            <a:off x="6459173" y="3384213"/>
            <a:ext cx="101674" cy="1016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אליפסה 16"/>
          <p:cNvSpPr/>
          <p:nvPr/>
        </p:nvSpPr>
        <p:spPr>
          <a:xfrm>
            <a:off x="10791730" y="0"/>
            <a:ext cx="1400270" cy="115978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 smtClean="0"/>
              <a:t> פרופיל וסל  תפקודי מותאם</a:t>
            </a:r>
            <a:endParaRPr lang="he-IL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5928505" y="188365"/>
            <a:ext cx="22878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 smtClean="0"/>
              <a:t>ההזדמנות לשינוי</a:t>
            </a:r>
            <a:endParaRPr lang="he-IL" sz="2400" b="1" dirty="0"/>
          </a:p>
        </p:txBody>
      </p:sp>
    </p:spTree>
    <p:extLst>
      <p:ext uri="{BB962C8B-B14F-4D97-AF65-F5344CB8AC3E}">
        <p14:creationId xmlns:p14="http://schemas.microsoft.com/office/powerpoint/2010/main" val="1597106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396</Words>
  <Application>Microsoft Office PowerPoint</Application>
  <PresentationFormat>מסך רחב</PresentationFormat>
  <Paragraphs>49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Wingdings</vt:lpstr>
      <vt:lpstr>Office Theme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moran ran</dc:creator>
  <cp:lastModifiedBy>אביעד יצחקי</cp:lastModifiedBy>
  <cp:revision>11</cp:revision>
  <dcterms:created xsi:type="dcterms:W3CDTF">2024-05-09T21:30:57Z</dcterms:created>
  <dcterms:modified xsi:type="dcterms:W3CDTF">2024-05-10T06:57:18Z</dcterms:modified>
</cp:coreProperties>
</file>