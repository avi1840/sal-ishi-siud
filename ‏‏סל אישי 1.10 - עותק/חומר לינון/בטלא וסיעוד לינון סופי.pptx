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7.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8.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9.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0.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5" r:id="rId2"/>
    <p:sldMasterId id="2147483671" r:id="rId3"/>
    <p:sldMasterId id="2147483690" r:id="rId4"/>
    <p:sldMasterId id="2147483708" r:id="rId5"/>
  </p:sldMasterIdLst>
  <p:notesMasterIdLst>
    <p:notesMasterId r:id="rId72"/>
  </p:notesMasterIdLst>
  <p:handoutMasterIdLst>
    <p:handoutMasterId r:id="rId73"/>
  </p:handoutMasterIdLst>
  <p:sldIdLst>
    <p:sldId id="2145706343" r:id="rId6"/>
    <p:sldId id="331" r:id="rId7"/>
    <p:sldId id="2145707128" r:id="rId8"/>
    <p:sldId id="2145707091" r:id="rId9"/>
    <p:sldId id="2145707113" r:id="rId10"/>
    <p:sldId id="338" r:id="rId11"/>
    <p:sldId id="2145707129" r:id="rId12"/>
    <p:sldId id="2145707130" r:id="rId13"/>
    <p:sldId id="2145707093" r:id="rId14"/>
    <p:sldId id="2145707119" r:id="rId15"/>
    <p:sldId id="2145707120" r:id="rId16"/>
    <p:sldId id="2145707092" r:id="rId17"/>
    <p:sldId id="2145706312" r:id="rId18"/>
    <p:sldId id="2145706331" r:id="rId19"/>
    <p:sldId id="527" r:id="rId20"/>
    <p:sldId id="2145707134" r:id="rId21"/>
    <p:sldId id="2145707135" r:id="rId22"/>
    <p:sldId id="2145706317" r:id="rId23"/>
    <p:sldId id="2145707094" r:id="rId24"/>
    <p:sldId id="2145707098" r:id="rId25"/>
    <p:sldId id="2145707099" r:id="rId26"/>
    <p:sldId id="2145707124" r:id="rId27"/>
    <p:sldId id="2145707125" r:id="rId28"/>
    <p:sldId id="288" r:id="rId29"/>
    <p:sldId id="339" r:id="rId30"/>
    <p:sldId id="256" r:id="rId31"/>
    <p:sldId id="360" r:id="rId32"/>
    <p:sldId id="2145707126" r:id="rId33"/>
    <p:sldId id="2145707097" r:id="rId34"/>
    <p:sldId id="2145707141" r:id="rId35"/>
    <p:sldId id="363" r:id="rId36"/>
    <p:sldId id="2145707103" r:id="rId37"/>
    <p:sldId id="2145707101" r:id="rId38"/>
    <p:sldId id="2145707102" r:id="rId39"/>
    <p:sldId id="342" r:id="rId40"/>
    <p:sldId id="362" r:id="rId41"/>
    <p:sldId id="2145707117" r:id="rId42"/>
    <p:sldId id="345" r:id="rId43"/>
    <p:sldId id="335" r:id="rId44"/>
    <p:sldId id="351" r:id="rId45"/>
    <p:sldId id="352" r:id="rId46"/>
    <p:sldId id="2145707136" r:id="rId47"/>
    <p:sldId id="2145707137" r:id="rId48"/>
    <p:sldId id="322" r:id="rId49"/>
    <p:sldId id="323" r:id="rId50"/>
    <p:sldId id="324" r:id="rId51"/>
    <p:sldId id="326" r:id="rId52"/>
    <p:sldId id="327" r:id="rId53"/>
    <p:sldId id="325" r:id="rId54"/>
    <p:sldId id="328" r:id="rId55"/>
    <p:sldId id="298" r:id="rId56"/>
    <p:sldId id="2145707138" r:id="rId57"/>
    <p:sldId id="354" r:id="rId58"/>
    <p:sldId id="2145707139" r:id="rId59"/>
    <p:sldId id="2145707140" r:id="rId60"/>
    <p:sldId id="2145707145" r:id="rId61"/>
    <p:sldId id="2145707106" r:id="rId62"/>
    <p:sldId id="2145707110" r:id="rId63"/>
    <p:sldId id="2145707111" r:id="rId64"/>
    <p:sldId id="2145707115" r:id="rId65"/>
    <p:sldId id="2145707096" r:id="rId66"/>
    <p:sldId id="2145707090" r:id="rId67"/>
    <p:sldId id="2145707107" r:id="rId68"/>
    <p:sldId id="2145707121" r:id="rId69"/>
    <p:sldId id="2145707144" r:id="rId70"/>
    <p:sldId id="357" r:id="rId71"/>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אביעד יצחקי" initials="אי" lastIdx="1" clrIdx="0">
    <p:extLst>
      <p:ext uri="{19B8F6BF-5375-455C-9EA6-DF929625EA0E}">
        <p15:presenceInfo xmlns:p15="http://schemas.microsoft.com/office/powerpoint/2012/main" userId="S-1-5-21-641946731-1502829466-943750798-705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2980B9"/>
    <a:srgbClr val="5EC5C5"/>
    <a:srgbClr val="F2F2F2"/>
    <a:srgbClr val="70AD47"/>
    <a:srgbClr val="FFC000"/>
    <a:srgbClr val="063AD4"/>
    <a:srgbClr val="9DC3E6"/>
    <a:srgbClr val="ED7D31"/>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732" autoAdjust="0"/>
    <p:restoredTop sz="92218" autoAdjust="0"/>
  </p:normalViewPr>
  <p:slideViewPr>
    <p:cSldViewPr snapToGrid="0">
      <p:cViewPr varScale="1">
        <p:scale>
          <a:sx n="86" d="100"/>
          <a:sy n="86" d="100"/>
        </p:scale>
        <p:origin x="144" y="540"/>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1506;&#1493;&#1514;&#1511;%20&#1513;&#1500;%20&#1502;&#1493;&#1513;&#1502;&#1497;%20&#1512;&#1493;&#1493;&#1495;&#1492;%20&#1489;&#1502;&#1512;&#1499;&#1494;&#1497;%20&#1492;&#1497;&#1493;&#1501;%202019-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_______________Microsoft_Excel3.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_______________Microsoft_Excel4.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_______________Microsoft_Excel5.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_______________Microsoft_Excel6.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_______________Microsoft_Excel7.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_______________Microsoft_Excel8.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_______________Microsoft_Excel9.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97;&#1495;&#1497;&#1491;&#1514;%20&#1514;&#1511;&#1510;&#1493;&#1489;\&#1505;&#1497;&#1506;&#1493;&#1491;\&#1495;&#1493;&#1511;%20&#1514;&#1508;&#1511;&#1493;&#1491;%20&#1495;&#1493;&#1489;&#1492;\&#1495;&#1493;&#1511;%20&#1514;&#1508;&#1511;&#1493;&#1491;%20&#1495;&#1493;&#1489;&#1492;%20V10.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_______________Microsoft_Excel10.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ROI%20&#1506;&#1500;&#1493;&#1514;%20&#1514;&#1511;&#1510;&#1497;&#1489;&#1497;&#1514;%20%20&#1500;&#1508;&#1497;%20&#1512;&#1502;&#1493;&#1514;%20&#1505;&#1497;&#1506;&#1493;&#1491;.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20.xml"/><Relationship Id="rId1" Type="http://schemas.microsoft.com/office/2011/relationships/chartStyle" Target="style2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he-IL" sz="2400" b="1" dirty="0">
                <a:cs typeface="+mn-cs"/>
              </a:rPr>
              <a:t>חיזוי אחוז אזרחים ותיקים בישראל 2025-2045  </a:t>
            </a:r>
          </a:p>
          <a:p>
            <a:pPr>
              <a:defRPr/>
            </a:pPr>
            <a:r>
              <a:rPr lang="he-IL" sz="2400" b="1" dirty="0">
                <a:cs typeface="+mn-cs"/>
              </a:rPr>
              <a:t> (שנתון 2023 </a:t>
            </a:r>
            <a:r>
              <a:rPr lang="he-IL" sz="2400" b="1" dirty="0" err="1">
                <a:cs typeface="+mn-cs"/>
              </a:rPr>
              <a:t>ברוקדייל</a:t>
            </a:r>
            <a:r>
              <a:rPr lang="he-IL" sz="2400" b="1" dirty="0">
                <a:cs typeface="+mn-cs"/>
              </a:rPr>
              <a:t>)</a:t>
            </a:r>
          </a:p>
        </c:rich>
      </c:tx>
      <c:layout/>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he-IL"/>
        </a:p>
      </c:txPr>
    </c:title>
    <c:autoTitleDeleted val="0"/>
    <c:plotArea>
      <c:layout/>
      <c:barChart>
        <c:barDir val="col"/>
        <c:grouping val="clustered"/>
        <c:varyColors val="0"/>
        <c:ser>
          <c:idx val="0"/>
          <c:order val="0"/>
          <c:tx>
            <c:strRef>
              <c:f>גיליון1!$D$12</c:f>
              <c:strCache>
                <c:ptCount val="1"/>
                <c:pt idx="0">
                  <c:v>אחוז זקנים</c:v>
                </c:pt>
              </c:strCache>
            </c:strRef>
          </c:tx>
          <c:spPr>
            <a:solidFill>
              <a:srgbClr val="2980B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trendline>
            <c:spPr>
              <a:ln w="15875" cap="rnd">
                <a:solidFill>
                  <a:schemeClr val="accent5"/>
                </a:solidFill>
              </a:ln>
              <a:effectLst/>
            </c:spPr>
            <c:trendlineType val="linear"/>
            <c:dispRSqr val="0"/>
            <c:dispEq val="0"/>
          </c:trendline>
          <c:cat>
            <c:numRef>
              <c:f>גיליון1!$C$13:$C$33</c:f>
              <c:numCache>
                <c:formatCode>General</c:formatCode>
                <c:ptCount val="21"/>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numCache>
            </c:numRef>
          </c:cat>
          <c:val>
            <c:numRef>
              <c:f>גיליון1!$D$13:$D$33</c:f>
              <c:numCache>
                <c:formatCode>0.0%</c:formatCode>
                <c:ptCount val="21"/>
                <c:pt idx="0">
                  <c:v>0.128</c:v>
                </c:pt>
                <c:pt idx="1">
                  <c:v>0.129</c:v>
                </c:pt>
                <c:pt idx="2">
                  <c:v>0.13</c:v>
                </c:pt>
                <c:pt idx="3">
                  <c:v>0.13100000000000001</c:v>
                </c:pt>
                <c:pt idx="4">
                  <c:v>0.13200000000000001</c:v>
                </c:pt>
                <c:pt idx="5">
                  <c:v>0.13300000000000001</c:v>
                </c:pt>
                <c:pt idx="6">
                  <c:v>0.13400000000000001</c:v>
                </c:pt>
                <c:pt idx="7">
                  <c:v>0.13500000000000001</c:v>
                </c:pt>
                <c:pt idx="8">
                  <c:v>0.13600000000000001</c:v>
                </c:pt>
                <c:pt idx="9">
                  <c:v>0.13700000000000001</c:v>
                </c:pt>
                <c:pt idx="10">
                  <c:v>0.13800000000000001</c:v>
                </c:pt>
                <c:pt idx="11">
                  <c:v>0.13900000000000001</c:v>
                </c:pt>
                <c:pt idx="12">
                  <c:v>0.14000000000000001</c:v>
                </c:pt>
                <c:pt idx="13">
                  <c:v>0.14100000000000001</c:v>
                </c:pt>
                <c:pt idx="14">
                  <c:v>0.14200000000000002</c:v>
                </c:pt>
                <c:pt idx="15">
                  <c:v>0.14300000000000002</c:v>
                </c:pt>
                <c:pt idx="16">
                  <c:v>0.14400000000000002</c:v>
                </c:pt>
                <c:pt idx="17">
                  <c:v>0.14500000000000002</c:v>
                </c:pt>
                <c:pt idx="18">
                  <c:v>0.14599999999999999</c:v>
                </c:pt>
                <c:pt idx="19">
                  <c:v>0.14699999999999999</c:v>
                </c:pt>
                <c:pt idx="20">
                  <c:v>0.14799999999999999</c:v>
                </c:pt>
              </c:numCache>
            </c:numRef>
          </c:val>
          <c:extLst>
            <c:ext xmlns:c16="http://schemas.microsoft.com/office/drawing/2014/chart" uri="{C3380CC4-5D6E-409C-BE32-E72D297353CC}">
              <c16:uniqueId val="{00000000-C3EA-40F7-B148-C0E0BD13A585}"/>
            </c:ext>
          </c:extLst>
        </c:ser>
        <c:dLbls>
          <c:dLblPos val="outEnd"/>
          <c:showLegendKey val="0"/>
          <c:showVal val="1"/>
          <c:showCatName val="0"/>
          <c:showSerName val="0"/>
          <c:showPercent val="0"/>
          <c:showBubbleSize val="0"/>
        </c:dLbls>
        <c:gapWidth val="80"/>
        <c:overlap val="25"/>
        <c:axId val="517736920"/>
        <c:axId val="517731344"/>
      </c:barChart>
      <c:catAx>
        <c:axId val="517736920"/>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cap="none" spc="20" normalizeH="0" baseline="0">
                <a:solidFill>
                  <a:schemeClr val="tx1">
                    <a:lumMod val="65000"/>
                    <a:lumOff val="35000"/>
                  </a:schemeClr>
                </a:solidFill>
                <a:latin typeface="+mn-lt"/>
                <a:ea typeface="+mn-ea"/>
                <a:cs typeface="+mn-cs"/>
              </a:defRPr>
            </a:pPr>
            <a:endParaRPr lang="he-IL"/>
          </a:p>
        </c:txPr>
        <c:crossAx val="517731344"/>
        <c:crosses val="autoZero"/>
        <c:auto val="1"/>
        <c:lblAlgn val="ctr"/>
        <c:lblOffset val="100"/>
        <c:noMultiLvlLbl val="0"/>
      </c:catAx>
      <c:valAx>
        <c:axId val="51773134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spc="20" baseline="0">
                <a:solidFill>
                  <a:schemeClr val="tx1">
                    <a:lumMod val="65000"/>
                    <a:lumOff val="35000"/>
                  </a:schemeClr>
                </a:solidFill>
                <a:latin typeface="+mn-lt"/>
                <a:ea typeface="+mn-ea"/>
                <a:cs typeface="+mn-cs"/>
              </a:defRPr>
            </a:pPr>
            <a:endParaRPr lang="he-IL"/>
          </a:p>
        </c:txPr>
        <c:crossAx val="517736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smtClean="0">
                        <a:solidFill>
                          <a:schemeClr val="tx1"/>
                        </a:solidFill>
                      </a:rPr>
                      <a:t>29.3%</a:t>
                    </a:r>
                    <a:endParaRPr lang="en-US" sz="1400" b="1" dirty="0">
                      <a:solidFill>
                        <a:schemeClr val="tx1"/>
                      </a:solidFill>
                    </a:endParaRPr>
                  </a:p>
                </c:rich>
              </c:tx>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smtClean="0"/>
                      <a:t>360,000</a:t>
                    </a:r>
                    <a:endParaRPr lang="en-US" sz="1400" b="1" dirty="0"/>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200" b="1" dirty="0">
                <a:latin typeface="Arial" panose="020B0604020202020204" pitchFamily="34" charset="0"/>
                <a:cs typeface="Arial" panose="020B0604020202020204" pitchFamily="34" charset="0"/>
              </a:rPr>
              <a:t>חלוקת תקציב 2018</a:t>
            </a:r>
          </a:p>
        </c:rich>
      </c:tx>
      <c:layout>
        <c:manualLayout>
          <c:xMode val="edge"/>
          <c:yMode val="edge"/>
          <c:x val="0.34203430139826657"/>
          <c:y val="5.9368352929669826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r>
              <a:rPr lang="he-IL" sz="1600" b="1" dirty="0">
                <a:solidFill>
                  <a:srgbClr val="002060"/>
                </a:solidFill>
              </a:rPr>
              <a:t>השוואת תקציב לפי</a:t>
            </a:r>
            <a:r>
              <a:rPr lang="he-IL" sz="1600" b="1" baseline="0" dirty="0">
                <a:solidFill>
                  <a:srgbClr val="002060"/>
                </a:solidFill>
              </a:rPr>
              <a:t> </a:t>
            </a:r>
            <a:r>
              <a:rPr lang="he-IL" sz="1600" b="1" baseline="0" dirty="0" smtClean="0">
                <a:solidFill>
                  <a:srgbClr val="002060"/>
                </a:solidFill>
              </a:rPr>
              <a:t>שירותים במיליארדים</a:t>
            </a:r>
            <a:endParaRPr lang="he-IL" sz="1600" b="1" dirty="0">
              <a:solidFill>
                <a:srgbClr val="002060"/>
              </a:solidFill>
            </a:endParaRP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endParaRPr lang="he-IL"/>
        </a:p>
      </c:txPr>
    </c:title>
    <c:autoTitleDeleted val="0"/>
    <c:plotArea>
      <c:layout/>
      <c:barChart>
        <c:barDir val="col"/>
        <c:grouping val="clustered"/>
        <c:varyColors val="0"/>
        <c:ser>
          <c:idx val="0"/>
          <c:order val="0"/>
          <c:tx>
            <c:strRef>
              <c:f>גיליון2!$J$46</c:f>
              <c:strCache>
                <c:ptCount val="1"/>
                <c:pt idx="0">
                  <c:v>2018</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גיליון2!$J$47:$J$51</c:f>
              <c:numCache>
                <c:formatCode>General</c:formatCode>
                <c:ptCount val="5"/>
                <c:pt idx="0">
                  <c:v>6.17</c:v>
                </c:pt>
                <c:pt idx="1">
                  <c:v>0</c:v>
                </c:pt>
                <c:pt idx="2">
                  <c:v>0.17</c:v>
                </c:pt>
                <c:pt idx="3">
                  <c:v>0.23</c:v>
                </c:pt>
                <c:pt idx="4">
                  <c:v>6.69</c:v>
                </c:pt>
              </c:numCache>
            </c:numRef>
          </c:val>
          <c:extLst>
            <c:ext xmlns:c16="http://schemas.microsoft.com/office/drawing/2014/chart" uri="{C3380CC4-5D6E-409C-BE32-E72D297353CC}">
              <c16:uniqueId val="{00000000-9DA5-4F2F-A2CA-EA62740A75A1}"/>
            </c:ext>
          </c:extLst>
        </c:ser>
        <c:ser>
          <c:idx val="1"/>
          <c:order val="1"/>
          <c:tx>
            <c:strRef>
              <c:f>גיליון2!$K$46</c:f>
              <c:strCache>
                <c:ptCount val="1"/>
                <c:pt idx="0">
                  <c:v>2024</c:v>
                </c:pt>
              </c:strCache>
            </c:strRef>
          </c:tx>
          <c:spPr>
            <a:solidFill>
              <a:schemeClr val="accent2"/>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9DA5-4F2F-A2CA-EA62740A75A1}"/>
                </c:ext>
              </c:extLst>
            </c:dLbl>
            <c:dLbl>
              <c:idx val="2"/>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3-9DA5-4F2F-A2CA-EA62740A75A1}"/>
                </c:ext>
              </c:extLst>
            </c:dLbl>
            <c:dLbl>
              <c:idx val="4"/>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4-9DA5-4F2F-A2CA-EA62740A75A1}"/>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גיליון2!$K$47:$K$51</c:f>
              <c:numCache>
                <c:formatCode>General</c:formatCode>
                <c:ptCount val="5"/>
                <c:pt idx="0">
                  <c:v>6</c:v>
                </c:pt>
                <c:pt idx="1">
                  <c:v>7</c:v>
                </c:pt>
                <c:pt idx="2">
                  <c:v>3.7</c:v>
                </c:pt>
                <c:pt idx="3">
                  <c:v>0.28000000000000003</c:v>
                </c:pt>
                <c:pt idx="4">
                  <c:v>17</c:v>
                </c:pt>
              </c:numCache>
            </c:numRef>
          </c:val>
          <c:extLst>
            <c:ext xmlns:c16="http://schemas.microsoft.com/office/drawing/2014/chart" uri="{C3380CC4-5D6E-409C-BE32-E72D297353CC}">
              <c16:uniqueId val="{00000001-9DA5-4F2F-A2CA-EA62740A75A1}"/>
            </c:ext>
          </c:extLst>
        </c:ser>
        <c:dLbls>
          <c:dLblPos val="outEnd"/>
          <c:showLegendKey val="0"/>
          <c:showVal val="1"/>
          <c:showCatName val="0"/>
          <c:showSerName val="0"/>
          <c:showPercent val="0"/>
          <c:showBubbleSize val="0"/>
        </c:dLbls>
        <c:gapWidth val="219"/>
        <c:overlap val="-27"/>
        <c:axId val="357487472"/>
        <c:axId val="357489112"/>
      </c:barChart>
      <c:catAx>
        <c:axId val="357487472"/>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57489112"/>
        <c:crosses val="autoZero"/>
        <c:auto val="1"/>
        <c:lblAlgn val="ctr"/>
        <c:lblOffset val="100"/>
        <c:noMultiLvlLbl val="0"/>
      </c:catAx>
      <c:valAx>
        <c:axId val="357489112"/>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5748747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spPr>
            <a:solidFill>
              <a:schemeClr val="accent5"/>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1-DCAE-42C9-828E-61ABEE58EB87}"/>
                </c:ext>
              </c:extLst>
            </c:dLbl>
            <c:dLbl>
              <c:idx val="2"/>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DCAE-42C9-828E-61ABEE58EB87}"/>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גיליון3!$F$25:$F$28</c:f>
              <c:strCache>
                <c:ptCount val="4"/>
                <c:pt idx="0">
                  <c:v>מטפלת</c:v>
                </c:pt>
                <c:pt idx="1">
                  <c:v>בני משפחה מטפלים בשכר</c:v>
                </c:pt>
                <c:pt idx="2">
                  <c:v>גמלה בכסף</c:v>
                </c:pt>
                <c:pt idx="3">
                  <c:v>מרכז יום</c:v>
                </c:pt>
              </c:strCache>
            </c:strRef>
          </c:cat>
          <c:val>
            <c:numRef>
              <c:f>גיליון3!$I$25:$I$28</c:f>
              <c:numCache>
                <c:formatCode>0%</c:formatCode>
                <c:ptCount val="4"/>
                <c:pt idx="0">
                  <c:v>0.3529411764705882</c:v>
                </c:pt>
                <c:pt idx="1">
                  <c:v>0.41176470588235292</c:v>
                </c:pt>
                <c:pt idx="2">
                  <c:v>0.21764705882352942</c:v>
                </c:pt>
                <c:pt idx="3">
                  <c:v>1.6470588235294119E-2</c:v>
                </c:pt>
              </c:numCache>
            </c:numRef>
          </c:val>
          <c:extLst>
            <c:ext xmlns:c16="http://schemas.microsoft.com/office/drawing/2014/chart" uri="{C3380CC4-5D6E-409C-BE32-E72D297353CC}">
              <c16:uniqueId val="{00000000-DCAE-42C9-828E-61ABEE58EB87}"/>
            </c:ext>
          </c:extLst>
        </c:ser>
        <c:dLbls>
          <c:showLegendKey val="0"/>
          <c:showVal val="0"/>
          <c:showCatName val="0"/>
          <c:showSerName val="0"/>
          <c:showPercent val="0"/>
          <c:showBubbleSize val="0"/>
        </c:dLbls>
        <c:gapWidth val="219"/>
        <c:overlap val="-27"/>
        <c:axId val="363183592"/>
        <c:axId val="363183920"/>
      </c:barChart>
      <c:catAx>
        <c:axId val="363183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63183920"/>
        <c:crosses val="autoZero"/>
        <c:auto val="1"/>
        <c:lblAlgn val="ctr"/>
        <c:lblOffset val="100"/>
        <c:noMultiLvlLbl val="0"/>
      </c:catAx>
      <c:valAx>
        <c:axId val="36318392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631835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Sheet1!$B$2:$B$16</c:f>
              <c:numCache>
                <c:formatCode>0.0</c:formatCode>
                <c:ptCount val="15"/>
                <c:pt idx="0">
                  <c:v>6.2</c:v>
                </c:pt>
                <c:pt idx="1">
                  <c:v>5.6</c:v>
                </c:pt>
                <c:pt idx="2">
                  <c:v>6.2</c:v>
                </c:pt>
                <c:pt idx="3">
                  <c:v>8.8000000000000007</c:v>
                </c:pt>
                <c:pt idx="4">
                  <c:v>6.7</c:v>
                </c:pt>
                <c:pt idx="5">
                  <c:v>8.9</c:v>
                </c:pt>
                <c:pt idx="6">
                  <c:v>8</c:v>
                </c:pt>
                <c:pt idx="7">
                  <c:v>7.2</c:v>
                </c:pt>
                <c:pt idx="8">
                  <c:v>6.9</c:v>
                </c:pt>
                <c:pt idx="9">
                  <c:v>10</c:v>
                </c:pt>
                <c:pt idx="10">
                  <c:v>11.2</c:v>
                </c:pt>
                <c:pt idx="11">
                  <c:v>12.4</c:v>
                </c:pt>
                <c:pt idx="12">
                  <c:v>13.1</c:v>
                </c:pt>
                <c:pt idx="13">
                  <c:v>18.7</c:v>
                </c:pt>
                <c:pt idx="14">
                  <c:v>17.100000000000001</c:v>
                </c:pt>
              </c:numCache>
            </c:numRef>
          </c:val>
          <c:extLst>
            <c:ext xmlns:c16="http://schemas.microsoft.com/office/drawing/2014/chart" uri="{C3380CC4-5D6E-409C-BE32-E72D297353CC}">
              <c16:uniqueId val="{00000000-6F68-4C75-9501-C1A072D75D88}"/>
            </c:ext>
          </c:extLst>
        </c:ser>
        <c:ser>
          <c:idx val="1"/>
          <c:order val="1"/>
          <c:tx>
            <c:strRef>
              <c:f>Sheet1!$C$1</c:f>
              <c:strCache>
                <c:ptCount val="1"/>
                <c:pt idx="0">
                  <c:v>במוסדות</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Sheet1!$C$2:$C$16</c:f>
              <c:numCache>
                <c:formatCode>0.0</c:formatCode>
                <c:ptCount val="15"/>
                <c:pt idx="0">
                  <c:v>2.7</c:v>
                </c:pt>
                <c:pt idx="1">
                  <c:v>5</c:v>
                </c:pt>
                <c:pt idx="2">
                  <c:v>4.5</c:v>
                </c:pt>
                <c:pt idx="3">
                  <c:v>2.2000000000000002</c:v>
                </c:pt>
                <c:pt idx="4">
                  <c:v>4.8</c:v>
                </c:pt>
                <c:pt idx="5">
                  <c:v>3</c:v>
                </c:pt>
                <c:pt idx="6">
                  <c:v>4.2</c:v>
                </c:pt>
                <c:pt idx="7">
                  <c:v>5.4</c:v>
                </c:pt>
                <c:pt idx="8">
                  <c:v>6</c:v>
                </c:pt>
                <c:pt idx="9">
                  <c:v>4.3</c:v>
                </c:pt>
                <c:pt idx="10">
                  <c:v>4.0999999999999996</c:v>
                </c:pt>
                <c:pt idx="11">
                  <c:v>4.3</c:v>
                </c:pt>
                <c:pt idx="12">
                  <c:v>4.0999999999999996</c:v>
                </c:pt>
                <c:pt idx="13">
                  <c:v>1.6</c:v>
                </c:pt>
                <c:pt idx="14">
                  <c:v>5.6</c:v>
                </c:pt>
              </c:numCache>
            </c:numRef>
          </c:val>
          <c:extLst>
            <c:ext xmlns:c16="http://schemas.microsoft.com/office/drawing/2014/chart" uri="{C3380CC4-5D6E-409C-BE32-E72D297353CC}">
              <c16:uniqueId val="{00000001-6F68-4C75-9501-C1A072D75D88}"/>
            </c:ext>
          </c:extLst>
        </c:ser>
        <c:dLbls>
          <c:dLblPos val="ctr"/>
          <c:showLegendKey val="0"/>
          <c:showVal val="1"/>
          <c:showCatName val="0"/>
          <c:showSerName val="0"/>
          <c:showPercent val="0"/>
          <c:showBubbleSize val="0"/>
        </c:dLbls>
        <c:gapWidth val="50"/>
        <c:overlap val="100"/>
        <c:axId val="38849871"/>
        <c:axId val="38839055"/>
      </c:ba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25"/>
          <c:min val="0"/>
        </c:scaling>
        <c:delete val="0"/>
        <c:axPos val="l"/>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25"/>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e-I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175188859173395E-2"/>
          <c:y val="3.5914010816902757E-2"/>
          <c:w val="0.9189398314385262"/>
          <c:h val="0.71085583330920288"/>
        </c:manualLayout>
      </c:layout>
      <c:barChart>
        <c:barDir val="col"/>
        <c:grouping val="clustered"/>
        <c:varyColors val="0"/>
        <c:ser>
          <c:idx val="1"/>
          <c:order val="1"/>
          <c:tx>
            <c:strRef>
              <c:f>Sheet1!$C$1</c:f>
              <c:strCache>
                <c:ptCount val="1"/>
                <c:pt idx="0">
                  <c:v>שיעור מטופלים במוסדות</c:v>
                </c:pt>
              </c:strCache>
            </c:strRef>
          </c:tx>
          <c:spPr>
            <a:solidFill>
              <a:schemeClr val="accent2"/>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0-DB18-4F77-9A19-56D6B24C2E5A}"/>
              </c:ext>
            </c:extLst>
          </c:dPt>
          <c:dLbls>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0-DB18-4F77-9A19-56D6B24C2E5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2"/>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cat>
          <c:val>
            <c:numRef>
              <c:f>Sheet1!$C$2:$C$16</c:f>
              <c:numCache>
                <c:formatCode>0.0</c:formatCode>
                <c:ptCount val="15"/>
                <c:pt idx="0">
                  <c:v>1.6</c:v>
                </c:pt>
                <c:pt idx="1">
                  <c:v>2.2000000000000002</c:v>
                </c:pt>
                <c:pt idx="2">
                  <c:v>2.7</c:v>
                </c:pt>
                <c:pt idx="3">
                  <c:v>3</c:v>
                </c:pt>
                <c:pt idx="4">
                  <c:v>4.0999999999999996</c:v>
                </c:pt>
                <c:pt idx="5">
                  <c:v>4.0999999999999996</c:v>
                </c:pt>
                <c:pt idx="6">
                  <c:v>4.2</c:v>
                </c:pt>
                <c:pt idx="7">
                  <c:v>4.3</c:v>
                </c:pt>
                <c:pt idx="8">
                  <c:v>4.3</c:v>
                </c:pt>
                <c:pt idx="9">
                  <c:v>4.5</c:v>
                </c:pt>
                <c:pt idx="10">
                  <c:v>4.8</c:v>
                </c:pt>
                <c:pt idx="11">
                  <c:v>5</c:v>
                </c:pt>
                <c:pt idx="12">
                  <c:v>5.4</c:v>
                </c:pt>
                <c:pt idx="13">
                  <c:v>5.6</c:v>
                </c:pt>
                <c:pt idx="14">
                  <c:v>6</c:v>
                </c:pt>
              </c:numCache>
            </c:numRef>
          </c:val>
          <c:extLst>
            <c:ext xmlns:c16="http://schemas.microsoft.com/office/drawing/2014/chart" uri="{C3380CC4-5D6E-409C-BE32-E72D297353CC}">
              <c16:uniqueId val="{00000001-6F68-4C75-9501-C1A072D75D88}"/>
            </c:ext>
          </c:extLst>
        </c:ser>
        <c:dLbls>
          <c:showLegendKey val="0"/>
          <c:showVal val="0"/>
          <c:showCatName val="0"/>
          <c:showSerName val="0"/>
          <c:showPercent val="0"/>
          <c:showBubbleSize val="0"/>
        </c:dLbls>
        <c:gapWidth val="50"/>
        <c:axId val="38849871"/>
        <c:axId val="38839055"/>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Sheet1!$A$2:$A$16</c15:sqref>
                        </c15:formulaRef>
                      </c:ext>
                    </c:extLst>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cat>
                <c:val>
                  <c:numRef>
                    <c:extLst>
                      <c:ext uri="{02D57815-91ED-43cb-92C2-25804820EDAC}">
                        <c15:formulaRef>
                          <c15:sqref>Sheet1!$B$2:$B$16</c15:sqref>
                        </c15:formulaRef>
                      </c:ext>
                    </c:extLst>
                    <c:numCache>
                      <c:formatCode>0.0</c:formatCode>
                      <c:ptCount val="15"/>
                      <c:pt idx="0">
                        <c:v>18.7</c:v>
                      </c:pt>
                      <c:pt idx="1">
                        <c:v>8.8000000000000007</c:v>
                      </c:pt>
                      <c:pt idx="2">
                        <c:v>6.2</c:v>
                      </c:pt>
                      <c:pt idx="3">
                        <c:v>8.9</c:v>
                      </c:pt>
                      <c:pt idx="4">
                        <c:v>11.2</c:v>
                      </c:pt>
                      <c:pt idx="5">
                        <c:v>13.1</c:v>
                      </c:pt>
                      <c:pt idx="6">
                        <c:v>8</c:v>
                      </c:pt>
                      <c:pt idx="7">
                        <c:v>10</c:v>
                      </c:pt>
                      <c:pt idx="8">
                        <c:v>12.4</c:v>
                      </c:pt>
                      <c:pt idx="9">
                        <c:v>6.2</c:v>
                      </c:pt>
                      <c:pt idx="10">
                        <c:v>6.7</c:v>
                      </c:pt>
                      <c:pt idx="11">
                        <c:v>5.6</c:v>
                      </c:pt>
                      <c:pt idx="12">
                        <c:v>7.2</c:v>
                      </c:pt>
                      <c:pt idx="13">
                        <c:v>17.100000000000001</c:v>
                      </c:pt>
                      <c:pt idx="14">
                        <c:v>6.9</c:v>
                      </c:pt>
                    </c:numCache>
                  </c:numRef>
                </c:val>
                <c:extLst>
                  <c:ext xmlns:c16="http://schemas.microsoft.com/office/drawing/2014/chart" uri="{C3380CC4-5D6E-409C-BE32-E72D297353CC}">
                    <c16:uniqueId val="{00000000-6F68-4C75-9501-C1A072D75D88}"/>
                  </c:ext>
                </c:extLst>
              </c15:ser>
            </c15:filteredBarSeries>
          </c:ext>
        </c:extLst>
      </c:barChart>
      <c:scatterChart>
        <c:scatterStyle val="lineMarker"/>
        <c:varyColors val="0"/>
        <c:ser>
          <c:idx val="2"/>
          <c:order val="2"/>
          <c:tx>
            <c:strRef>
              <c:f>Sheet1!$D$1</c:f>
              <c:strCache>
                <c:ptCount val="1"/>
                <c:pt idx="0">
                  <c:v>שיעור השבה במוסדות</c:v>
                </c:pt>
              </c:strCache>
            </c:strRef>
          </c:tx>
          <c:spPr>
            <a:ln w="25400" cap="rnd">
              <a:noFill/>
              <a:round/>
            </a:ln>
            <a:effectLst/>
          </c:spPr>
          <c:marker>
            <c:symbol val="circle"/>
            <c:size val="5"/>
            <c:spPr>
              <a:solidFill>
                <a:schemeClr val="accent1"/>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he-IL"/>
              </a:p>
            </c:txPr>
            <c:dLblPos val="b"/>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xVal>
            <c:strRef>
              <c:f>Sheet1!$A$2:$A$16</c:f>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xVal>
          <c:yVal>
            <c:numRef>
              <c:f>Sheet1!$D$2:$D$16</c:f>
              <c:numCache>
                <c:formatCode>0.0</c:formatCode>
                <c:ptCount val="15"/>
                <c:pt idx="0">
                  <c:v>1.64</c:v>
                </c:pt>
                <c:pt idx="1">
                  <c:v>1.34</c:v>
                </c:pt>
                <c:pt idx="3">
                  <c:v>0.39</c:v>
                </c:pt>
                <c:pt idx="5">
                  <c:v>1.1000000000000001</c:v>
                </c:pt>
                <c:pt idx="8">
                  <c:v>1.78</c:v>
                </c:pt>
                <c:pt idx="9">
                  <c:v>0.75</c:v>
                </c:pt>
                <c:pt idx="10">
                  <c:v>0.81</c:v>
                </c:pt>
                <c:pt idx="11">
                  <c:v>1.27</c:v>
                </c:pt>
                <c:pt idx="12">
                  <c:v>1.75</c:v>
                </c:pt>
                <c:pt idx="13">
                  <c:v>1.92</c:v>
                </c:pt>
              </c:numCache>
            </c:numRef>
          </c:yVal>
          <c:smooth val="0"/>
          <c:extLst>
            <c:ext xmlns:c16="http://schemas.microsoft.com/office/drawing/2014/chart" uri="{C3380CC4-5D6E-409C-BE32-E72D297353CC}">
              <c16:uniqueId val="{00000001-1E1A-4809-8E97-19563F43A37A}"/>
            </c:ext>
          </c:extLst>
        </c:ser>
        <c:dLbls>
          <c:showLegendKey val="0"/>
          <c:showVal val="0"/>
          <c:showCatName val="0"/>
          <c:showSerName val="0"/>
          <c:showPercent val="0"/>
          <c:showBubbleSize val="0"/>
        </c:dLbls>
        <c:axId val="38849871"/>
        <c:axId val="38839055"/>
      </c:scatte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6.1"/>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a:t>
                </a:r>
              </a:p>
            </c:rich>
          </c:tx>
          <c:layout>
            <c:manualLayout>
              <c:xMode val="edge"/>
              <c:yMode val="edge"/>
              <c:x val="2.8416779431664412E-2"/>
              <c:y val="0.3453659541042318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6"/>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e-IL"/>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 (2018)</a:t>
            </a:r>
          </a:p>
          <a:p>
            <a:pPr algn="ctr" rtl="1">
              <a:defRPr/>
            </a:pPr>
            <a:r>
              <a:rPr lang="he-IL" sz="1400" b="0" i="0" u="none" strike="noStrike" baseline="0">
                <a:solidFill>
                  <a:srgbClr val="93A2AE"/>
                </a:solidFill>
              </a:rPr>
              <a:t>(</a:t>
            </a:r>
            <a:r>
              <a:rPr lang="en-US" sz="1400" b="0" i="0" u="none" strike="noStrike" baseline="0">
                <a:solidFill>
                  <a:srgbClr val="93A2AE"/>
                </a:solidFill>
              </a:rPr>
              <a:t>Eurostat</a:t>
            </a:r>
            <a:r>
              <a:rPr lang="he-IL" sz="1400" b="0" i="0" u="none" strike="noStrike" baseline="0">
                <a:solidFill>
                  <a:srgbClr val="93A2AE"/>
                </a:solidFill>
              </a:rPr>
              <a:t>)</a:t>
            </a:r>
            <a:endParaRPr lang="en-US" sz="140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0.15545426246397376"/>
          <c:w val="0.91162209945703154"/>
          <c:h val="0.58158977831086089"/>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27"/>
            <c:invertIfNegative val="0"/>
            <c:bubble3D val="0"/>
            <c:spPr>
              <a:solidFill>
                <a:schemeClr val="accent1">
                  <a:lumMod val="50000"/>
                </a:schemeClr>
              </a:solidFill>
              <a:ln>
                <a:noFill/>
              </a:ln>
              <a:effectLst/>
            </c:spPr>
            <c:extLst>
              <c:ext xmlns:c16="http://schemas.microsoft.com/office/drawing/2014/chart" uri="{C3380CC4-5D6E-409C-BE32-E72D297353CC}">
                <c16:uniqueId val="{0000001A-3470-4B1E-AE3D-3266D971E83A}"/>
              </c:ext>
            </c:extLst>
          </c:dPt>
          <c:dLbls>
            <c:dLbl>
              <c:idx val="0"/>
              <c:layout/>
              <c:tx>
                <c:rich>
                  <a:bodyPr/>
                  <a:lstStyle/>
                  <a:p>
                    <a:fld id="{E12552A4-C480-4F61-82A9-4C3838935D9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0-3470-4B1E-AE3D-3266D971E83A}"/>
                </c:ext>
              </c:extLst>
            </c:dLbl>
            <c:dLbl>
              <c:idx val="1"/>
              <c:layout/>
              <c:tx>
                <c:rich>
                  <a:bodyPr/>
                  <a:lstStyle/>
                  <a:p>
                    <a:fld id="{826DAD3A-3024-4332-9E19-248FBE3AB94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3470-4B1E-AE3D-3266D971E83A}"/>
                </c:ext>
              </c:extLst>
            </c:dLbl>
            <c:dLbl>
              <c:idx val="2"/>
              <c:layout/>
              <c:tx>
                <c:rich>
                  <a:bodyPr/>
                  <a:lstStyle/>
                  <a:p>
                    <a:fld id="{6DD7472C-7FF8-4EDD-9A76-59486E6B98A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2-3470-4B1E-AE3D-3266D971E83A}"/>
                </c:ext>
              </c:extLst>
            </c:dLbl>
            <c:dLbl>
              <c:idx val="3"/>
              <c:layout/>
              <c:tx>
                <c:rich>
                  <a:bodyPr/>
                  <a:lstStyle/>
                  <a:p>
                    <a:fld id="{C0D1AC0C-DE2A-4B36-BC97-84B24093F4B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3-3470-4B1E-AE3D-3266D971E83A}"/>
                </c:ext>
              </c:extLst>
            </c:dLbl>
            <c:dLbl>
              <c:idx val="4"/>
              <c:layout/>
              <c:tx>
                <c:rich>
                  <a:bodyPr/>
                  <a:lstStyle/>
                  <a:p>
                    <a:fld id="{6BEF9ED7-E5C0-4AC1-AFDC-E452BB17B2A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4-3470-4B1E-AE3D-3266D971E83A}"/>
                </c:ext>
              </c:extLst>
            </c:dLbl>
            <c:dLbl>
              <c:idx val="5"/>
              <c:layout/>
              <c:tx>
                <c:rich>
                  <a:bodyPr/>
                  <a:lstStyle/>
                  <a:p>
                    <a:fld id="{DAA238E6-7EC1-4039-B892-30C550CA25C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5-3470-4B1E-AE3D-3266D971E83A}"/>
                </c:ext>
              </c:extLst>
            </c:dLbl>
            <c:dLbl>
              <c:idx val="6"/>
              <c:layout/>
              <c:tx>
                <c:rich>
                  <a:bodyPr/>
                  <a:lstStyle/>
                  <a:p>
                    <a:fld id="{78FC4358-F313-4857-8E37-FEE18C9CEF2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6-3470-4B1E-AE3D-3266D971E83A}"/>
                </c:ext>
              </c:extLst>
            </c:dLbl>
            <c:dLbl>
              <c:idx val="7"/>
              <c:layout/>
              <c:tx>
                <c:rich>
                  <a:bodyPr/>
                  <a:lstStyle/>
                  <a:p>
                    <a:fld id="{237A6245-AA9D-47BB-A000-A7C317CBD96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7-3470-4B1E-AE3D-3266D971E83A}"/>
                </c:ext>
              </c:extLst>
            </c:dLbl>
            <c:dLbl>
              <c:idx val="8"/>
              <c:layout/>
              <c:tx>
                <c:rich>
                  <a:bodyPr/>
                  <a:lstStyle/>
                  <a:p>
                    <a:fld id="{104D8512-215B-420D-A4C4-4F769793C65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8-3470-4B1E-AE3D-3266D971E83A}"/>
                </c:ext>
              </c:extLst>
            </c:dLbl>
            <c:dLbl>
              <c:idx val="9"/>
              <c:layout/>
              <c:tx>
                <c:rich>
                  <a:bodyPr/>
                  <a:lstStyle/>
                  <a:p>
                    <a:fld id="{C8CE1F9F-EF6E-4867-8041-520DA99072A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9-3470-4B1E-AE3D-3266D971E83A}"/>
                </c:ext>
              </c:extLst>
            </c:dLbl>
            <c:dLbl>
              <c:idx val="10"/>
              <c:layout/>
              <c:tx>
                <c:rich>
                  <a:bodyPr/>
                  <a:lstStyle/>
                  <a:p>
                    <a:fld id="{3ADEB3AC-1CB6-443C-9BBD-380F8B12DB3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A-3470-4B1E-AE3D-3266D971E83A}"/>
                </c:ext>
              </c:extLst>
            </c:dLbl>
            <c:dLbl>
              <c:idx val="11"/>
              <c:layout/>
              <c:tx>
                <c:rich>
                  <a:bodyPr/>
                  <a:lstStyle/>
                  <a:p>
                    <a:fld id="{C970E70F-8163-418E-BB6D-6A572842698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B-3470-4B1E-AE3D-3266D971E83A}"/>
                </c:ext>
              </c:extLst>
            </c:dLbl>
            <c:dLbl>
              <c:idx val="12"/>
              <c:layout/>
              <c:tx>
                <c:rich>
                  <a:bodyPr/>
                  <a:lstStyle/>
                  <a:p>
                    <a:fld id="{8FD07232-1EE1-4690-93D9-F617A94E886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C-3470-4B1E-AE3D-3266D971E83A}"/>
                </c:ext>
              </c:extLst>
            </c:dLbl>
            <c:dLbl>
              <c:idx val="13"/>
              <c:layout/>
              <c:tx>
                <c:rich>
                  <a:bodyPr/>
                  <a:lstStyle/>
                  <a:p>
                    <a:fld id="{E5016BF3-2F52-46F6-ACE2-AAF8C31364D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D-3470-4B1E-AE3D-3266D971E83A}"/>
                </c:ext>
              </c:extLst>
            </c:dLbl>
            <c:dLbl>
              <c:idx val="14"/>
              <c:layout/>
              <c:tx>
                <c:rich>
                  <a:bodyPr/>
                  <a:lstStyle/>
                  <a:p>
                    <a:fld id="{68525E0B-74AC-452F-B179-12C03E8FD1A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E-3470-4B1E-AE3D-3266D971E83A}"/>
                </c:ext>
              </c:extLst>
            </c:dLbl>
            <c:dLbl>
              <c:idx val="15"/>
              <c:layout/>
              <c:tx>
                <c:rich>
                  <a:bodyPr/>
                  <a:lstStyle/>
                  <a:p>
                    <a:fld id="{94D4C93C-A450-41DE-B3D6-76FB62239E9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F-3470-4B1E-AE3D-3266D971E83A}"/>
                </c:ext>
              </c:extLst>
            </c:dLbl>
            <c:dLbl>
              <c:idx val="16"/>
              <c:layout/>
              <c:tx>
                <c:rich>
                  <a:bodyPr/>
                  <a:lstStyle/>
                  <a:p>
                    <a:fld id="{8F103851-0741-4250-A610-850F751B7DE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0-3470-4B1E-AE3D-3266D971E83A}"/>
                </c:ext>
              </c:extLst>
            </c:dLbl>
            <c:dLbl>
              <c:idx val="17"/>
              <c:layout/>
              <c:tx>
                <c:rich>
                  <a:bodyPr/>
                  <a:lstStyle/>
                  <a:p>
                    <a:fld id="{F4BED4E2-3BC4-4E0C-A9F8-312023BD5CD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1-3470-4B1E-AE3D-3266D971E83A}"/>
                </c:ext>
              </c:extLst>
            </c:dLbl>
            <c:dLbl>
              <c:idx val="18"/>
              <c:layout/>
              <c:tx>
                <c:rich>
                  <a:bodyPr/>
                  <a:lstStyle/>
                  <a:p>
                    <a:fld id="{5A0ADEE2-B02C-43BD-A7AE-98DF9101E79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2-3470-4B1E-AE3D-3266D971E83A}"/>
                </c:ext>
              </c:extLst>
            </c:dLbl>
            <c:dLbl>
              <c:idx val="19"/>
              <c:layout/>
              <c:tx>
                <c:rich>
                  <a:bodyPr/>
                  <a:lstStyle/>
                  <a:p>
                    <a:fld id="{C71241C2-BDB2-4650-ACC6-F2443CF94E9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3-3470-4B1E-AE3D-3266D971E83A}"/>
                </c:ext>
              </c:extLst>
            </c:dLbl>
            <c:dLbl>
              <c:idx val="20"/>
              <c:layout/>
              <c:tx>
                <c:rich>
                  <a:bodyPr/>
                  <a:lstStyle/>
                  <a:p>
                    <a:fld id="{F813EB78-27BA-46AD-A88A-EEFDEE7D549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BDC0-4612-BC0D-6DF39C79AC4A}"/>
                </c:ext>
              </c:extLst>
            </c:dLbl>
            <c:dLbl>
              <c:idx val="21"/>
              <c:layout/>
              <c:tx>
                <c:rich>
                  <a:bodyPr/>
                  <a:lstStyle/>
                  <a:p>
                    <a:fld id="{CDF38C93-D760-47F3-96C2-8055FC7C8E0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4-3470-4B1E-AE3D-3266D971E83A}"/>
                </c:ext>
              </c:extLst>
            </c:dLbl>
            <c:dLbl>
              <c:idx val="22"/>
              <c:layout/>
              <c:tx>
                <c:rich>
                  <a:bodyPr/>
                  <a:lstStyle/>
                  <a:p>
                    <a:fld id="{22942D50-EB7B-4BF2-8AB6-3D70E4222BA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5-3470-4B1E-AE3D-3266D971E83A}"/>
                </c:ext>
              </c:extLst>
            </c:dLbl>
            <c:dLbl>
              <c:idx val="23"/>
              <c:layout/>
              <c:tx>
                <c:rich>
                  <a:bodyPr/>
                  <a:lstStyle/>
                  <a:p>
                    <a:fld id="{D636593C-A5C4-46EE-BEC2-2EF83D43612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6-3470-4B1E-AE3D-3266D971E83A}"/>
                </c:ext>
              </c:extLst>
            </c:dLbl>
            <c:dLbl>
              <c:idx val="24"/>
              <c:layout/>
              <c:tx>
                <c:rich>
                  <a:bodyPr/>
                  <a:lstStyle/>
                  <a:p>
                    <a:fld id="{46076295-7FB4-407F-AEC8-9CE6692F67A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7-3470-4B1E-AE3D-3266D971E83A}"/>
                </c:ext>
              </c:extLst>
            </c:dLbl>
            <c:dLbl>
              <c:idx val="25"/>
              <c:layout/>
              <c:tx>
                <c:rich>
                  <a:bodyPr/>
                  <a:lstStyle/>
                  <a:p>
                    <a:fld id="{1F033898-6B8C-4B98-A595-22E51B48A7C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8-3470-4B1E-AE3D-3266D971E83A}"/>
                </c:ext>
              </c:extLst>
            </c:dLbl>
            <c:dLbl>
              <c:idx val="26"/>
              <c:layout/>
              <c:tx>
                <c:rich>
                  <a:bodyPr/>
                  <a:lstStyle/>
                  <a:p>
                    <a:fld id="{87EEB9A6-5698-4FE3-835B-B8622F35FB5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9-3470-4B1E-AE3D-3266D971E83A}"/>
                </c:ext>
              </c:extLst>
            </c:dLbl>
            <c:dLbl>
              <c:idx val="27"/>
              <c:layout/>
              <c:tx>
                <c:rich>
                  <a:bodyPr/>
                  <a:lstStyle/>
                  <a:p>
                    <a:fld id="{80E3F391-9AA7-416C-9CC2-EF771048CF0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A-3470-4B1E-AE3D-3266D971E83A}"/>
                </c:ext>
              </c:extLst>
            </c:dLbl>
            <c:dLbl>
              <c:idx val="28"/>
              <c:layout/>
              <c:tx>
                <c:rich>
                  <a:bodyPr/>
                  <a:lstStyle/>
                  <a:p>
                    <a:fld id="{FDCBC66C-D4CC-4E51-9A43-278ED0095E0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B-3470-4B1E-AE3D-3266D971E83A}"/>
                </c:ext>
              </c:extLst>
            </c:dLbl>
            <c:dLbl>
              <c:idx val="29"/>
              <c:layout/>
              <c:tx>
                <c:rich>
                  <a:bodyPr/>
                  <a:lstStyle/>
                  <a:p>
                    <a:fld id="{103B778D-9979-4B50-A26E-BD21A6E447A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C-3470-4B1E-AE3D-3266D971E83A}"/>
                </c:ext>
              </c:extLst>
            </c:dLbl>
            <c:dLbl>
              <c:idx val="30"/>
              <c:layout/>
              <c:tx>
                <c:rich>
                  <a:bodyPr/>
                  <a:lstStyle/>
                  <a:p>
                    <a:fld id="{49BBDF30-6211-4310-A2AC-20D2E50B897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D-3470-4B1E-AE3D-3266D971E83A}"/>
                </c:ext>
              </c:extLst>
            </c:dLbl>
            <c:dLbl>
              <c:idx val="31"/>
              <c:layout/>
              <c:tx>
                <c:rich>
                  <a:bodyPr/>
                  <a:lstStyle/>
                  <a:p>
                    <a:fld id="{0E0A95ED-ADA5-4177-A139-7911D44B777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E-3470-4B1E-AE3D-3266D971E83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layout/>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Sheet1!$B$2:$B$33</c:f>
              <c:numCache>
                <c:formatCode>0</c:formatCode>
                <c:ptCount val="32"/>
                <c:pt idx="0">
                  <c:v>10.199999999999999</c:v>
                </c:pt>
                <c:pt idx="1">
                  <c:v>5.9</c:v>
                </c:pt>
                <c:pt idx="2">
                  <c:v>7.4</c:v>
                </c:pt>
                <c:pt idx="3">
                  <c:v>4.7</c:v>
                </c:pt>
                <c:pt idx="4">
                  <c:v>4.5999999999999996</c:v>
                </c:pt>
                <c:pt idx="5">
                  <c:v>5</c:v>
                </c:pt>
                <c:pt idx="6">
                  <c:v>6.3</c:v>
                </c:pt>
                <c:pt idx="7">
                  <c:v>8.5</c:v>
                </c:pt>
                <c:pt idx="8">
                  <c:v>8.8000000000000007</c:v>
                </c:pt>
                <c:pt idx="9">
                  <c:v>5.8</c:v>
                </c:pt>
                <c:pt idx="10">
                  <c:v>11.8</c:v>
                </c:pt>
                <c:pt idx="11">
                  <c:v>9.5</c:v>
                </c:pt>
                <c:pt idx="12">
                  <c:v>10.7</c:v>
                </c:pt>
                <c:pt idx="13">
                  <c:v>12.2</c:v>
                </c:pt>
                <c:pt idx="14">
                  <c:v>10</c:v>
                </c:pt>
                <c:pt idx="15">
                  <c:v>7.4</c:v>
                </c:pt>
                <c:pt idx="16">
                  <c:v>13.8</c:v>
                </c:pt>
                <c:pt idx="17">
                  <c:v>15.8</c:v>
                </c:pt>
                <c:pt idx="18">
                  <c:v>15.6</c:v>
                </c:pt>
                <c:pt idx="19">
                  <c:v>6.9</c:v>
                </c:pt>
                <c:pt idx="20">
                  <c:v>7.4</c:v>
                </c:pt>
                <c:pt idx="21">
                  <c:v>7.2</c:v>
                </c:pt>
                <c:pt idx="22">
                  <c:v>11.4</c:v>
                </c:pt>
                <c:pt idx="23">
                  <c:v>6.9</c:v>
                </c:pt>
                <c:pt idx="24">
                  <c:v>9.4</c:v>
                </c:pt>
                <c:pt idx="25">
                  <c:v>8.8000000000000007</c:v>
                </c:pt>
                <c:pt idx="26">
                  <c:v>14.5</c:v>
                </c:pt>
                <c:pt idx="27">
                  <c:v>10.6</c:v>
                </c:pt>
                <c:pt idx="28">
                  <c:v>9.1999999999999993</c:v>
                </c:pt>
                <c:pt idx="29">
                  <c:v>10.199999999999999</c:v>
                </c:pt>
                <c:pt idx="30">
                  <c:v>11.3</c:v>
                </c:pt>
                <c:pt idx="31">
                  <c:v>11.3</c:v>
                </c:pt>
              </c:numCache>
            </c:numRef>
          </c:val>
          <c:extLst>
            <c:ext xmlns:c15="http://schemas.microsoft.com/office/drawing/2012/chart" uri="{02D57815-91ED-43cb-92C2-25804820EDAC}">
              <c15:datalabelsRange>
                <c15:f>Sheet1!$G$2:$G$33</c15:f>
                <c15:dlblRangeCache>
                  <c:ptCount val="32"/>
                  <c:pt idx="0">
                    <c:v>57</c:v>
                  </c:pt>
                  <c:pt idx="1">
                    <c:v>32</c:v>
                  </c:pt>
                  <c:pt idx="2">
                    <c:v>40</c:v>
                  </c:pt>
                  <c:pt idx="3">
                    <c:v>25</c:v>
                  </c:pt>
                  <c:pt idx="4">
                    <c:v>24</c:v>
                  </c:pt>
                  <c:pt idx="5">
                    <c:v>26</c:v>
                  </c:pt>
                  <c:pt idx="6">
                    <c:v>32</c:v>
                  </c:pt>
                  <c:pt idx="7">
                    <c:v>43</c:v>
                  </c:pt>
                  <c:pt idx="8">
                    <c:v>44</c:v>
                  </c:pt>
                  <c:pt idx="9">
                    <c:v>28</c:v>
                  </c:pt>
                  <c:pt idx="10">
                    <c:v>57</c:v>
                  </c:pt>
                  <c:pt idx="11">
                    <c:v>45</c:v>
                  </c:pt>
                  <c:pt idx="12">
                    <c:v>51</c:v>
                  </c:pt>
                  <c:pt idx="13">
                    <c:v>58</c:v>
                  </c:pt>
                  <c:pt idx="14">
                    <c:v>47</c:v>
                  </c:pt>
                  <c:pt idx="15">
                    <c:v>34</c:v>
                  </c:pt>
                  <c:pt idx="16">
                    <c:v>64</c:v>
                  </c:pt>
                  <c:pt idx="17">
                    <c:v>73</c:v>
                  </c:pt>
                  <c:pt idx="18">
                    <c:v>72</c:v>
                  </c:pt>
                  <c:pt idx="19">
                    <c:v>32</c:v>
                  </c:pt>
                  <c:pt idx="20">
                    <c:v>34</c:v>
                  </c:pt>
                  <c:pt idx="21">
                    <c:v>33</c:v>
                  </c:pt>
                  <c:pt idx="22">
                    <c:v>52</c:v>
                  </c:pt>
                  <c:pt idx="23">
                    <c:v>31</c:v>
                  </c:pt>
                  <c:pt idx="24">
                    <c:v>43</c:v>
                  </c:pt>
                  <c:pt idx="25">
                    <c:v>40</c:v>
                  </c:pt>
                  <c:pt idx="26">
                    <c:v>65</c:v>
                  </c:pt>
                  <c:pt idx="27">
                    <c:v>47</c:v>
                  </c:pt>
                  <c:pt idx="28">
                    <c:v>40</c:v>
                  </c:pt>
                  <c:pt idx="29">
                    <c:v>44</c:v>
                  </c:pt>
                  <c:pt idx="30">
                    <c:v>48</c:v>
                  </c:pt>
                  <c:pt idx="31">
                    <c:v>47</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27"/>
            <c:invertIfNegative val="0"/>
            <c:bubble3D val="0"/>
            <c:spPr>
              <a:solidFill>
                <a:schemeClr val="accent1"/>
              </a:solidFill>
              <a:ln>
                <a:noFill/>
              </a:ln>
              <a:effectLst/>
            </c:spPr>
            <c:extLst>
              <c:ext xmlns:c16="http://schemas.microsoft.com/office/drawing/2014/chart" uri="{C3380CC4-5D6E-409C-BE32-E72D297353CC}">
                <c16:uniqueId val="{00000003-F5BE-4B47-975E-C19DB99C136A}"/>
              </c:ext>
            </c:extLst>
          </c:dPt>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Sheet1!$C$2:$C$33</c:f>
              <c:numCache>
                <c:formatCode>0</c:formatCode>
                <c:ptCount val="32"/>
                <c:pt idx="0">
                  <c:v>7.8000000000000007</c:v>
                </c:pt>
                <c:pt idx="1">
                  <c:v>12.499999999999998</c:v>
                </c:pt>
                <c:pt idx="2">
                  <c:v>11.1</c:v>
                </c:pt>
                <c:pt idx="3">
                  <c:v>14.3</c:v>
                </c:pt>
                <c:pt idx="4">
                  <c:v>14.700000000000001</c:v>
                </c:pt>
                <c:pt idx="5">
                  <c:v>14.3</c:v>
                </c:pt>
                <c:pt idx="6">
                  <c:v>13.399999999999999</c:v>
                </c:pt>
                <c:pt idx="7">
                  <c:v>11.3</c:v>
                </c:pt>
                <c:pt idx="8">
                  <c:v>11.3</c:v>
                </c:pt>
                <c:pt idx="9">
                  <c:v>14.8</c:v>
                </c:pt>
                <c:pt idx="10">
                  <c:v>8.8999999999999986</c:v>
                </c:pt>
                <c:pt idx="11">
                  <c:v>11.600000000000001</c:v>
                </c:pt>
                <c:pt idx="12">
                  <c:v>10.400000000000002</c:v>
                </c:pt>
                <c:pt idx="13">
                  <c:v>8.9000000000000021</c:v>
                </c:pt>
                <c:pt idx="14">
                  <c:v>11.5</c:v>
                </c:pt>
                <c:pt idx="15">
                  <c:v>14.200000000000001</c:v>
                </c:pt>
                <c:pt idx="16">
                  <c:v>7.8000000000000007</c:v>
                </c:pt>
                <c:pt idx="17">
                  <c:v>5.8000000000000007</c:v>
                </c:pt>
                <c:pt idx="18">
                  <c:v>6.1</c:v>
                </c:pt>
                <c:pt idx="19">
                  <c:v>14.9</c:v>
                </c:pt>
                <c:pt idx="20">
                  <c:v>14.4</c:v>
                </c:pt>
                <c:pt idx="21">
                  <c:v>14.7</c:v>
                </c:pt>
                <c:pt idx="22">
                  <c:v>10.499999999999998</c:v>
                </c:pt>
                <c:pt idx="23">
                  <c:v>15.1</c:v>
                </c:pt>
                <c:pt idx="24">
                  <c:v>12.6</c:v>
                </c:pt>
                <c:pt idx="25">
                  <c:v>13.3</c:v>
                </c:pt>
                <c:pt idx="26">
                  <c:v>7.8000000000000007</c:v>
                </c:pt>
                <c:pt idx="27">
                  <c:v>11.8</c:v>
                </c:pt>
                <c:pt idx="28">
                  <c:v>13.600000000000001</c:v>
                </c:pt>
                <c:pt idx="29">
                  <c:v>12.8</c:v>
                </c:pt>
                <c:pt idx="30">
                  <c:v>12.2</c:v>
                </c:pt>
                <c:pt idx="31">
                  <c:v>12.5</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Sheet1!$D$2:$D$33</c:f>
              <c:numCache>
                <c:formatCode>0</c:formatCode>
                <c:ptCount val="32"/>
                <c:pt idx="0">
                  <c:v>18</c:v>
                </c:pt>
                <c:pt idx="1">
                  <c:v>18.399999999999999</c:v>
                </c:pt>
                <c:pt idx="2">
                  <c:v>18.5</c:v>
                </c:pt>
                <c:pt idx="3">
                  <c:v>19</c:v>
                </c:pt>
                <c:pt idx="4">
                  <c:v>19.3</c:v>
                </c:pt>
                <c:pt idx="5">
                  <c:v>19.3</c:v>
                </c:pt>
                <c:pt idx="6">
                  <c:v>19.7</c:v>
                </c:pt>
                <c:pt idx="7">
                  <c:v>19.8</c:v>
                </c:pt>
                <c:pt idx="8">
                  <c:v>20.100000000000001</c:v>
                </c:pt>
                <c:pt idx="9">
                  <c:v>20.6</c:v>
                </c:pt>
                <c:pt idx="10">
                  <c:v>20.7</c:v>
                </c:pt>
                <c:pt idx="11">
                  <c:v>21.1</c:v>
                </c:pt>
                <c:pt idx="12">
                  <c:v>21.1</c:v>
                </c:pt>
                <c:pt idx="13">
                  <c:v>21.1</c:v>
                </c:pt>
                <c:pt idx="14">
                  <c:v>21.5</c:v>
                </c:pt>
                <c:pt idx="15">
                  <c:v>21.6</c:v>
                </c:pt>
                <c:pt idx="16">
                  <c:v>21.6</c:v>
                </c:pt>
                <c:pt idx="17">
                  <c:v>21.6</c:v>
                </c:pt>
                <c:pt idx="18">
                  <c:v>21.7</c:v>
                </c:pt>
                <c:pt idx="19">
                  <c:v>21.8</c:v>
                </c:pt>
                <c:pt idx="20">
                  <c:v>21.8</c:v>
                </c:pt>
                <c:pt idx="21">
                  <c:v>21.9</c:v>
                </c:pt>
                <c:pt idx="22">
                  <c:v>21.9</c:v>
                </c:pt>
                <c:pt idx="23">
                  <c:v>22</c:v>
                </c:pt>
                <c:pt idx="24">
                  <c:v>22</c:v>
                </c:pt>
                <c:pt idx="25">
                  <c:v>22.1</c:v>
                </c:pt>
                <c:pt idx="26">
                  <c:v>22.3</c:v>
                </c:pt>
                <c:pt idx="27">
                  <c:v>22.4</c:v>
                </c:pt>
                <c:pt idx="28">
                  <c:v>22.8</c:v>
                </c:pt>
                <c:pt idx="29">
                  <c:v>23</c:v>
                </c:pt>
                <c:pt idx="30">
                  <c:v>23.5</c:v>
                </c:pt>
                <c:pt idx="31">
                  <c:v>23.8</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0.43668651472548758"/>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21032071061381816"/>
          <c:y val="2.55487472166682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8638968439012202"/>
          <c:y val="0.15545426246397376"/>
          <c:w val="0.68702069715970326"/>
          <c:h val="0.58096363989292954"/>
        </c:manualLayout>
      </c:layout>
      <c:barChart>
        <c:barDir val="col"/>
        <c:grouping val="stacked"/>
        <c:varyColors val="0"/>
        <c:ser>
          <c:idx val="0"/>
          <c:order val="0"/>
          <c:tx>
            <c:strRef>
              <c:f>Sheet1!$B$1</c:f>
              <c:strCache>
                <c:ptCount val="1"/>
                <c:pt idx="0">
                  <c:v>בלי מוגבלות</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9.8000000000000007</c:v>
                </c:pt>
                <c:pt idx="1">
                  <c:v>10.4</c:v>
                </c:pt>
                <c:pt idx="2">
                  <c:v>10.3</c:v>
                </c:pt>
                <c:pt idx="3">
                  <c:v>10.6</c:v>
                </c:pt>
                <c:pt idx="4">
                  <c:v>10.1</c:v>
                </c:pt>
                <c:pt idx="5">
                  <c:v>10.5</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11.9</c:v>
                </c:pt>
                <c:pt idx="1">
                  <c:v>11.5</c:v>
                </c:pt>
                <c:pt idx="2">
                  <c:v>12</c:v>
                </c:pt>
                <c:pt idx="3">
                  <c:v>11.8</c:v>
                </c:pt>
                <c:pt idx="4">
                  <c:v>12.1</c:v>
                </c:pt>
                <c:pt idx="5">
                  <c:v>11.6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layout/>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21.7</c:v>
                </c:pt>
                <c:pt idx="1">
                  <c:v>21.9</c:v>
                </c:pt>
                <c:pt idx="2">
                  <c:v>22.3</c:v>
                </c:pt>
                <c:pt idx="3">
                  <c:v>22.4</c:v>
                </c:pt>
                <c:pt idx="4">
                  <c:v>22.2</c:v>
                </c:pt>
                <c:pt idx="5">
                  <c:v>22.1</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dirty="0">
                <a:solidFill>
                  <a:schemeClr val="accent6">
                    <a:lumMod val="50000"/>
                  </a:schemeClr>
                </a:solidFill>
              </a:rPr>
              <a:t>תוחלת חיים בגיל 65 – גברים (2018)</a:t>
            </a:r>
          </a:p>
          <a:p>
            <a:pPr algn="ctr" rtl="1">
              <a:defRPr/>
            </a:pPr>
            <a:r>
              <a:rPr lang="he-IL" sz="1400" b="0" i="0" u="none" strike="noStrike" baseline="0" dirty="0">
                <a:solidFill>
                  <a:srgbClr val="93A2AE"/>
                </a:solidFill>
              </a:rPr>
              <a:t>(</a:t>
            </a:r>
            <a:r>
              <a:rPr lang="en-US" sz="1400" b="0" i="0" u="none" strike="noStrike" baseline="0" dirty="0">
                <a:solidFill>
                  <a:srgbClr val="93A2AE"/>
                </a:solidFill>
              </a:rPr>
              <a:t>Eurostat</a:t>
            </a:r>
            <a:r>
              <a:rPr lang="he-IL" sz="1400" b="0" i="0" u="none" strike="noStrike" baseline="0" dirty="0">
                <a:solidFill>
                  <a:srgbClr val="93A2AE"/>
                </a:solidFill>
              </a:rPr>
              <a:t>)</a:t>
            </a:r>
            <a:endParaRPr lang="en-US" sz="1400" dirty="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9.6344824584050512E-2"/>
          <c:w val="0.91162209945703154"/>
          <c:h val="0.64069921619078418"/>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30"/>
            <c:invertIfNegative val="0"/>
            <c:bubble3D val="0"/>
            <c:spPr>
              <a:solidFill>
                <a:schemeClr val="accent1">
                  <a:lumMod val="50000"/>
                </a:schemeClr>
              </a:solidFill>
              <a:ln>
                <a:noFill/>
              </a:ln>
              <a:effectLst/>
            </c:spPr>
            <c:extLst>
              <c:ext xmlns:c16="http://schemas.microsoft.com/office/drawing/2014/chart" uri="{C3380CC4-5D6E-409C-BE32-E72D297353CC}">
                <c16:uniqueId val="{0000001D-778D-4B2A-9D3A-2AD86BDB584A}"/>
              </c:ext>
            </c:extLst>
          </c:dPt>
          <c:dLbls>
            <c:dLbl>
              <c:idx val="0"/>
              <c:layout/>
              <c:tx>
                <c:rich>
                  <a:bodyPr/>
                  <a:lstStyle/>
                  <a:p>
                    <a:fld id="{DB444CC7-9B5C-4370-8FED-8AEAC2F927D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0-778D-4B2A-9D3A-2AD86BDB584A}"/>
                </c:ext>
              </c:extLst>
            </c:dLbl>
            <c:dLbl>
              <c:idx val="1"/>
              <c:layout/>
              <c:tx>
                <c:rich>
                  <a:bodyPr/>
                  <a:lstStyle/>
                  <a:p>
                    <a:fld id="{1985DC72-DF02-412A-914A-EA44AADE25F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778D-4B2A-9D3A-2AD86BDB584A}"/>
                </c:ext>
              </c:extLst>
            </c:dLbl>
            <c:dLbl>
              <c:idx val="2"/>
              <c:layout/>
              <c:tx>
                <c:rich>
                  <a:bodyPr/>
                  <a:lstStyle/>
                  <a:p>
                    <a:fld id="{01B124B6-408E-4288-B917-27DF3060EFC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2-778D-4B2A-9D3A-2AD86BDB584A}"/>
                </c:ext>
              </c:extLst>
            </c:dLbl>
            <c:dLbl>
              <c:idx val="3"/>
              <c:layout/>
              <c:tx>
                <c:rich>
                  <a:bodyPr/>
                  <a:lstStyle/>
                  <a:p>
                    <a:fld id="{F02B8C7A-23D2-4483-BAB0-D5720591EC1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3-778D-4B2A-9D3A-2AD86BDB584A}"/>
                </c:ext>
              </c:extLst>
            </c:dLbl>
            <c:dLbl>
              <c:idx val="4"/>
              <c:layout/>
              <c:tx>
                <c:rich>
                  <a:bodyPr/>
                  <a:lstStyle/>
                  <a:p>
                    <a:fld id="{F512A7A1-DD3D-415B-B05F-5B0386385C5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4-778D-4B2A-9D3A-2AD86BDB584A}"/>
                </c:ext>
              </c:extLst>
            </c:dLbl>
            <c:dLbl>
              <c:idx val="5"/>
              <c:layout/>
              <c:tx>
                <c:rich>
                  <a:bodyPr/>
                  <a:lstStyle/>
                  <a:p>
                    <a:fld id="{DC4231CE-C45E-4C6A-A313-CF3765233C4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5-778D-4B2A-9D3A-2AD86BDB584A}"/>
                </c:ext>
              </c:extLst>
            </c:dLbl>
            <c:dLbl>
              <c:idx val="6"/>
              <c:layout/>
              <c:tx>
                <c:rich>
                  <a:bodyPr/>
                  <a:lstStyle/>
                  <a:p>
                    <a:fld id="{EBD76837-D638-4C48-86A6-D69E65666F6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6-778D-4B2A-9D3A-2AD86BDB584A}"/>
                </c:ext>
              </c:extLst>
            </c:dLbl>
            <c:dLbl>
              <c:idx val="7"/>
              <c:layout/>
              <c:tx>
                <c:rich>
                  <a:bodyPr/>
                  <a:lstStyle/>
                  <a:p>
                    <a:fld id="{4DB360F9-13EF-412A-9D86-3B49A1209C6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7-778D-4B2A-9D3A-2AD86BDB584A}"/>
                </c:ext>
              </c:extLst>
            </c:dLbl>
            <c:dLbl>
              <c:idx val="8"/>
              <c:layout/>
              <c:tx>
                <c:rich>
                  <a:bodyPr/>
                  <a:lstStyle/>
                  <a:p>
                    <a:fld id="{54D39275-1E35-42ED-A9EB-CC56E5FC200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8-778D-4B2A-9D3A-2AD86BDB584A}"/>
                </c:ext>
              </c:extLst>
            </c:dLbl>
            <c:dLbl>
              <c:idx val="9"/>
              <c:layout/>
              <c:tx>
                <c:rich>
                  <a:bodyPr/>
                  <a:lstStyle/>
                  <a:p>
                    <a:fld id="{793EEBB8-DC7F-4930-8856-7AC13099DC2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9-778D-4B2A-9D3A-2AD86BDB584A}"/>
                </c:ext>
              </c:extLst>
            </c:dLbl>
            <c:dLbl>
              <c:idx val="10"/>
              <c:layout/>
              <c:tx>
                <c:rich>
                  <a:bodyPr/>
                  <a:lstStyle/>
                  <a:p>
                    <a:fld id="{5B969B4D-D143-4C8E-BA12-3BE14596B65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A-778D-4B2A-9D3A-2AD86BDB584A}"/>
                </c:ext>
              </c:extLst>
            </c:dLbl>
            <c:dLbl>
              <c:idx val="11"/>
              <c:layout/>
              <c:tx>
                <c:rich>
                  <a:bodyPr/>
                  <a:lstStyle/>
                  <a:p>
                    <a:fld id="{64F7003A-979C-4401-87FB-86784BE5FCD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B-778D-4B2A-9D3A-2AD86BDB584A}"/>
                </c:ext>
              </c:extLst>
            </c:dLbl>
            <c:dLbl>
              <c:idx val="12"/>
              <c:layout/>
              <c:tx>
                <c:rich>
                  <a:bodyPr/>
                  <a:lstStyle/>
                  <a:p>
                    <a:fld id="{48EFB93A-6FB9-4E52-BBC1-E38ABCA382A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C-778D-4B2A-9D3A-2AD86BDB584A}"/>
                </c:ext>
              </c:extLst>
            </c:dLbl>
            <c:dLbl>
              <c:idx val="13"/>
              <c:layout/>
              <c:tx>
                <c:rich>
                  <a:bodyPr/>
                  <a:lstStyle/>
                  <a:p>
                    <a:fld id="{055402BE-BA0C-4F8E-B432-1E2B752CCEC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D-778D-4B2A-9D3A-2AD86BDB584A}"/>
                </c:ext>
              </c:extLst>
            </c:dLbl>
            <c:dLbl>
              <c:idx val="14"/>
              <c:layout/>
              <c:tx>
                <c:rich>
                  <a:bodyPr/>
                  <a:lstStyle/>
                  <a:p>
                    <a:fld id="{BFB3B819-6037-4881-B667-F5482CF2555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E-778D-4B2A-9D3A-2AD86BDB584A}"/>
                </c:ext>
              </c:extLst>
            </c:dLbl>
            <c:dLbl>
              <c:idx val="15"/>
              <c:layout/>
              <c:tx>
                <c:rich>
                  <a:bodyPr/>
                  <a:lstStyle/>
                  <a:p>
                    <a:fld id="{7BDE9D86-A57C-4BC7-BA99-FBC2A95D2FD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F-778D-4B2A-9D3A-2AD86BDB584A}"/>
                </c:ext>
              </c:extLst>
            </c:dLbl>
            <c:dLbl>
              <c:idx val="16"/>
              <c:layout/>
              <c:tx>
                <c:rich>
                  <a:bodyPr/>
                  <a:lstStyle/>
                  <a:p>
                    <a:fld id="{0C6E696F-1AFA-4660-B5FE-BE39DEA1B2F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0-778D-4B2A-9D3A-2AD86BDB584A}"/>
                </c:ext>
              </c:extLst>
            </c:dLbl>
            <c:dLbl>
              <c:idx val="17"/>
              <c:layout/>
              <c:tx>
                <c:rich>
                  <a:bodyPr/>
                  <a:lstStyle/>
                  <a:p>
                    <a:fld id="{2A56E07D-F036-4345-82B8-777754893D2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1-778D-4B2A-9D3A-2AD86BDB584A}"/>
                </c:ext>
              </c:extLst>
            </c:dLbl>
            <c:dLbl>
              <c:idx val="18"/>
              <c:layout/>
              <c:tx>
                <c:rich>
                  <a:bodyPr/>
                  <a:lstStyle/>
                  <a:p>
                    <a:fld id="{0B6C9204-F6E9-4923-9C17-FE000DB1F41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2-778D-4B2A-9D3A-2AD86BDB584A}"/>
                </c:ext>
              </c:extLst>
            </c:dLbl>
            <c:dLbl>
              <c:idx val="19"/>
              <c:layout/>
              <c:tx>
                <c:rich>
                  <a:bodyPr/>
                  <a:lstStyle/>
                  <a:p>
                    <a:fld id="{6486E84C-3395-4431-9162-5A0B86B148B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3-778D-4B2A-9D3A-2AD86BDB584A}"/>
                </c:ext>
              </c:extLst>
            </c:dLbl>
            <c:dLbl>
              <c:idx val="20"/>
              <c:layout/>
              <c:tx>
                <c:rich>
                  <a:bodyPr/>
                  <a:lstStyle/>
                  <a:p>
                    <a:fld id="{48BEA058-87EA-4C24-9487-0503BD250BC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4-778D-4B2A-9D3A-2AD86BDB584A}"/>
                </c:ext>
              </c:extLst>
            </c:dLbl>
            <c:dLbl>
              <c:idx val="21"/>
              <c:layout/>
              <c:tx>
                <c:rich>
                  <a:bodyPr/>
                  <a:lstStyle/>
                  <a:p>
                    <a:fld id="{0E216732-D4D4-49AF-9A14-3FF60D214BB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5-778D-4B2A-9D3A-2AD86BDB584A}"/>
                </c:ext>
              </c:extLst>
            </c:dLbl>
            <c:dLbl>
              <c:idx val="22"/>
              <c:layout/>
              <c:tx>
                <c:rich>
                  <a:bodyPr/>
                  <a:lstStyle/>
                  <a:p>
                    <a:fld id="{748F4EF3-E3D2-4ABA-A99B-38C6E0C0603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9F55-4BD5-B9F3-7BADFB968245}"/>
                </c:ext>
              </c:extLst>
            </c:dLbl>
            <c:dLbl>
              <c:idx val="23"/>
              <c:layout/>
              <c:tx>
                <c:rich>
                  <a:bodyPr/>
                  <a:lstStyle/>
                  <a:p>
                    <a:fld id="{98FB070E-EF06-440F-8232-67D323C3C4A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6-778D-4B2A-9D3A-2AD86BDB584A}"/>
                </c:ext>
              </c:extLst>
            </c:dLbl>
            <c:dLbl>
              <c:idx val="24"/>
              <c:layout/>
              <c:tx>
                <c:rich>
                  <a:bodyPr/>
                  <a:lstStyle/>
                  <a:p>
                    <a:fld id="{16C85DFD-48D6-43C4-8A44-70C9AD2C454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7-778D-4B2A-9D3A-2AD86BDB584A}"/>
                </c:ext>
              </c:extLst>
            </c:dLbl>
            <c:dLbl>
              <c:idx val="25"/>
              <c:layout/>
              <c:tx>
                <c:rich>
                  <a:bodyPr/>
                  <a:lstStyle/>
                  <a:p>
                    <a:fld id="{A7A0D6E8-BCB3-42B5-985F-CDD97C0E2B8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8-778D-4B2A-9D3A-2AD86BDB584A}"/>
                </c:ext>
              </c:extLst>
            </c:dLbl>
            <c:dLbl>
              <c:idx val="26"/>
              <c:layout/>
              <c:tx>
                <c:rich>
                  <a:bodyPr/>
                  <a:lstStyle/>
                  <a:p>
                    <a:fld id="{1D82517B-E739-4EA6-B6C2-0C31E1D90E3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9-778D-4B2A-9D3A-2AD86BDB584A}"/>
                </c:ext>
              </c:extLst>
            </c:dLbl>
            <c:dLbl>
              <c:idx val="27"/>
              <c:layout/>
              <c:tx>
                <c:rich>
                  <a:bodyPr/>
                  <a:lstStyle/>
                  <a:p>
                    <a:fld id="{4A650FB6-0B1B-4B38-8AB2-EC2D9004F3D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A-778D-4B2A-9D3A-2AD86BDB584A}"/>
                </c:ext>
              </c:extLst>
            </c:dLbl>
            <c:dLbl>
              <c:idx val="28"/>
              <c:layout/>
              <c:tx>
                <c:rich>
                  <a:bodyPr/>
                  <a:lstStyle/>
                  <a:p>
                    <a:fld id="{38194B11-E7E6-4D15-930E-0890FC1D2CC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B-778D-4B2A-9D3A-2AD86BDB584A}"/>
                </c:ext>
              </c:extLst>
            </c:dLbl>
            <c:dLbl>
              <c:idx val="29"/>
              <c:layout/>
              <c:tx>
                <c:rich>
                  <a:bodyPr/>
                  <a:lstStyle/>
                  <a:p>
                    <a:fld id="{A13061D5-C76F-460A-BA71-4A0AF043856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C-778D-4B2A-9D3A-2AD86BDB584A}"/>
                </c:ext>
              </c:extLst>
            </c:dLbl>
            <c:dLbl>
              <c:idx val="30"/>
              <c:layout/>
              <c:tx>
                <c:rich>
                  <a:bodyPr/>
                  <a:lstStyle/>
                  <a:p>
                    <a:fld id="{A4745D26-F354-4C3C-B419-73D1F34D218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D-778D-4B2A-9D3A-2AD86BDB584A}"/>
                </c:ext>
              </c:extLst>
            </c:dLbl>
            <c:dLbl>
              <c:idx val="31"/>
              <c:layout/>
              <c:tx>
                <c:rich>
                  <a:bodyPr/>
                  <a:lstStyle/>
                  <a:p>
                    <a:fld id="{8AE6FB36-B510-4686-A777-7682B661879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E-778D-4B2A-9D3A-2AD86BDB584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layout/>
                <c15:showDataLabelsRange val="1"/>
                <c15:showLeaderLines val="0"/>
              </c:ext>
            </c:extLst>
          </c:dLbls>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Sheet1!$B$2:$B$33</c:f>
              <c:numCache>
                <c:formatCode>0</c:formatCode>
                <c:ptCount val="32"/>
                <c:pt idx="0">
                  <c:v>4.2</c:v>
                </c:pt>
                <c:pt idx="1">
                  <c:v>9.1999999999999993</c:v>
                </c:pt>
                <c:pt idx="2">
                  <c:v>5.6</c:v>
                </c:pt>
                <c:pt idx="3">
                  <c:v>6.9</c:v>
                </c:pt>
                <c:pt idx="4">
                  <c:v>6.3</c:v>
                </c:pt>
                <c:pt idx="5">
                  <c:v>4</c:v>
                </c:pt>
                <c:pt idx="6">
                  <c:v>5</c:v>
                </c:pt>
                <c:pt idx="7">
                  <c:v>5.6</c:v>
                </c:pt>
                <c:pt idx="8">
                  <c:v>8.1999999999999993</c:v>
                </c:pt>
                <c:pt idx="9">
                  <c:v>8.1</c:v>
                </c:pt>
                <c:pt idx="10">
                  <c:v>7.5</c:v>
                </c:pt>
                <c:pt idx="11">
                  <c:v>10.8</c:v>
                </c:pt>
                <c:pt idx="12">
                  <c:v>11.5</c:v>
                </c:pt>
                <c:pt idx="13">
                  <c:v>7.8</c:v>
                </c:pt>
                <c:pt idx="14">
                  <c:v>9.9</c:v>
                </c:pt>
                <c:pt idx="15">
                  <c:v>7.5</c:v>
                </c:pt>
                <c:pt idx="16">
                  <c:v>9.5</c:v>
                </c:pt>
                <c:pt idx="17">
                  <c:v>10.8</c:v>
                </c:pt>
                <c:pt idx="18">
                  <c:v>9.9</c:v>
                </c:pt>
                <c:pt idx="19">
                  <c:v>9.1</c:v>
                </c:pt>
                <c:pt idx="20">
                  <c:v>10.199999999999999</c:v>
                </c:pt>
                <c:pt idx="21">
                  <c:v>7.4</c:v>
                </c:pt>
                <c:pt idx="22">
                  <c:v>8.1</c:v>
                </c:pt>
                <c:pt idx="23">
                  <c:v>12</c:v>
                </c:pt>
                <c:pt idx="24">
                  <c:v>14</c:v>
                </c:pt>
                <c:pt idx="25">
                  <c:v>15.6</c:v>
                </c:pt>
                <c:pt idx="26">
                  <c:v>15.3</c:v>
                </c:pt>
                <c:pt idx="27">
                  <c:v>11.5</c:v>
                </c:pt>
                <c:pt idx="28">
                  <c:v>9.8000000000000007</c:v>
                </c:pt>
                <c:pt idx="29">
                  <c:v>10.199999999999999</c:v>
                </c:pt>
                <c:pt idx="30">
                  <c:v>11.2</c:v>
                </c:pt>
                <c:pt idx="31">
                  <c:v>10.6</c:v>
                </c:pt>
              </c:numCache>
            </c:numRef>
          </c:val>
          <c:extLst>
            <c:ext xmlns:c15="http://schemas.microsoft.com/office/drawing/2012/chart" uri="{02D57815-91ED-43cb-92C2-25804820EDAC}">
              <c15:datalabelsRange>
                <c15:f>Sheet1!$G$2:$G$33</c15:f>
                <c15:dlblRangeCache>
                  <c:ptCount val="32"/>
                  <c:pt idx="0">
                    <c:v>30</c:v>
                  </c:pt>
                  <c:pt idx="1">
                    <c:v>65</c:v>
                  </c:pt>
                  <c:pt idx="2">
                    <c:v>39</c:v>
                  </c:pt>
                  <c:pt idx="3">
                    <c:v>47</c:v>
                  </c:pt>
                  <c:pt idx="4">
                    <c:v>43</c:v>
                  </c:pt>
                  <c:pt idx="5">
                    <c:v>26</c:v>
                  </c:pt>
                  <c:pt idx="6">
                    <c:v>32</c:v>
                  </c:pt>
                  <c:pt idx="7">
                    <c:v>36</c:v>
                  </c:pt>
                  <c:pt idx="8">
                    <c:v>52</c:v>
                  </c:pt>
                  <c:pt idx="9">
                    <c:v>50</c:v>
                  </c:pt>
                  <c:pt idx="10">
                    <c:v>42</c:v>
                  </c:pt>
                  <c:pt idx="11">
                    <c:v>60</c:v>
                  </c:pt>
                  <c:pt idx="12">
                    <c:v>64</c:v>
                  </c:pt>
                  <c:pt idx="13">
                    <c:v>43</c:v>
                  </c:pt>
                  <c:pt idx="14">
                    <c:v>54</c:v>
                  </c:pt>
                  <c:pt idx="15">
                    <c:v>41</c:v>
                  </c:pt>
                  <c:pt idx="16">
                    <c:v>51</c:v>
                  </c:pt>
                  <c:pt idx="17">
                    <c:v>58</c:v>
                  </c:pt>
                  <c:pt idx="18">
                    <c:v>53</c:v>
                  </c:pt>
                  <c:pt idx="19">
                    <c:v>48</c:v>
                  </c:pt>
                  <c:pt idx="20">
                    <c:v>54</c:v>
                  </c:pt>
                  <c:pt idx="21">
                    <c:v>39</c:v>
                  </c:pt>
                  <c:pt idx="22">
                    <c:v>42</c:v>
                  </c:pt>
                  <c:pt idx="23">
                    <c:v>63</c:v>
                  </c:pt>
                  <c:pt idx="24">
                    <c:v>73</c:v>
                  </c:pt>
                  <c:pt idx="25">
                    <c:v>81</c:v>
                  </c:pt>
                  <c:pt idx="26">
                    <c:v>79</c:v>
                  </c:pt>
                  <c:pt idx="27">
                    <c:v>59</c:v>
                  </c:pt>
                  <c:pt idx="28">
                    <c:v>50</c:v>
                  </c:pt>
                  <c:pt idx="29">
                    <c:v>52</c:v>
                  </c:pt>
                  <c:pt idx="30">
                    <c:v>56</c:v>
                  </c:pt>
                  <c:pt idx="31">
                    <c:v>52</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30"/>
            <c:invertIfNegative val="0"/>
            <c:bubble3D val="0"/>
            <c:spPr>
              <a:solidFill>
                <a:schemeClr val="accent1"/>
              </a:solidFill>
              <a:ln>
                <a:noFill/>
              </a:ln>
              <a:effectLst/>
            </c:spPr>
            <c:extLst>
              <c:ext xmlns:c16="http://schemas.microsoft.com/office/drawing/2014/chart" uri="{C3380CC4-5D6E-409C-BE32-E72D297353CC}">
                <c16:uniqueId val="{00000003-82F6-4EE0-BAF0-DF0F3B78F8D3}"/>
              </c:ext>
            </c:extLst>
          </c:dPt>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Sheet1!$C$2:$C$33</c:f>
              <c:numCache>
                <c:formatCode>0</c:formatCode>
                <c:ptCount val="32"/>
                <c:pt idx="0">
                  <c:v>9.8999999999999986</c:v>
                </c:pt>
                <c:pt idx="1">
                  <c:v>5</c:v>
                </c:pt>
                <c:pt idx="2">
                  <c:v>8.9</c:v>
                </c:pt>
                <c:pt idx="3">
                  <c:v>7.6999999999999993</c:v>
                </c:pt>
                <c:pt idx="4">
                  <c:v>8.3999999999999986</c:v>
                </c:pt>
                <c:pt idx="5">
                  <c:v>11.4</c:v>
                </c:pt>
                <c:pt idx="6">
                  <c:v>10.7</c:v>
                </c:pt>
                <c:pt idx="7">
                  <c:v>10.1</c:v>
                </c:pt>
                <c:pt idx="8">
                  <c:v>7.6000000000000014</c:v>
                </c:pt>
                <c:pt idx="9">
                  <c:v>8.1</c:v>
                </c:pt>
                <c:pt idx="10">
                  <c:v>10.3</c:v>
                </c:pt>
                <c:pt idx="11">
                  <c:v>7.1999999999999993</c:v>
                </c:pt>
                <c:pt idx="12">
                  <c:v>6.5</c:v>
                </c:pt>
                <c:pt idx="13">
                  <c:v>10.399999999999999</c:v>
                </c:pt>
                <c:pt idx="14">
                  <c:v>8.2999999999999989</c:v>
                </c:pt>
                <c:pt idx="15">
                  <c:v>11</c:v>
                </c:pt>
                <c:pt idx="16">
                  <c:v>9.1000000000000014</c:v>
                </c:pt>
                <c:pt idx="17">
                  <c:v>7.8000000000000007</c:v>
                </c:pt>
                <c:pt idx="18">
                  <c:v>8.7999999999999989</c:v>
                </c:pt>
                <c:pt idx="19">
                  <c:v>9.7000000000000011</c:v>
                </c:pt>
                <c:pt idx="20">
                  <c:v>8.6999999999999993</c:v>
                </c:pt>
                <c:pt idx="21">
                  <c:v>11.700000000000001</c:v>
                </c:pt>
                <c:pt idx="22">
                  <c:v>11.000000000000002</c:v>
                </c:pt>
                <c:pt idx="23">
                  <c:v>7.1000000000000014</c:v>
                </c:pt>
                <c:pt idx="24">
                  <c:v>5.1999999999999993</c:v>
                </c:pt>
                <c:pt idx="25">
                  <c:v>3.5999999999999996</c:v>
                </c:pt>
                <c:pt idx="26">
                  <c:v>4.0999999999999979</c:v>
                </c:pt>
                <c:pt idx="27">
                  <c:v>8</c:v>
                </c:pt>
                <c:pt idx="28">
                  <c:v>9.8000000000000007</c:v>
                </c:pt>
                <c:pt idx="29">
                  <c:v>9.5</c:v>
                </c:pt>
                <c:pt idx="30">
                  <c:v>8.6999999999999993</c:v>
                </c:pt>
                <c:pt idx="31">
                  <c:v>9.6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Sheet1!$D$2:$D$33</c:f>
              <c:numCache>
                <c:formatCode>0</c:formatCode>
                <c:ptCount val="32"/>
                <c:pt idx="0">
                  <c:v>14.1</c:v>
                </c:pt>
                <c:pt idx="1">
                  <c:v>14.2</c:v>
                </c:pt>
                <c:pt idx="2">
                  <c:v>14.5</c:v>
                </c:pt>
                <c:pt idx="3">
                  <c:v>14.6</c:v>
                </c:pt>
                <c:pt idx="4">
                  <c:v>14.7</c:v>
                </c:pt>
                <c:pt idx="5">
                  <c:v>15.4</c:v>
                </c:pt>
                <c:pt idx="6">
                  <c:v>15.7</c:v>
                </c:pt>
                <c:pt idx="7">
                  <c:v>15.7</c:v>
                </c:pt>
                <c:pt idx="8">
                  <c:v>15.8</c:v>
                </c:pt>
                <c:pt idx="9">
                  <c:v>16.2</c:v>
                </c:pt>
                <c:pt idx="10">
                  <c:v>17.8</c:v>
                </c:pt>
                <c:pt idx="11">
                  <c:v>18</c:v>
                </c:pt>
                <c:pt idx="12">
                  <c:v>18</c:v>
                </c:pt>
                <c:pt idx="13">
                  <c:v>18.2</c:v>
                </c:pt>
                <c:pt idx="14">
                  <c:v>18.2</c:v>
                </c:pt>
                <c:pt idx="15">
                  <c:v>18.5</c:v>
                </c:pt>
                <c:pt idx="16">
                  <c:v>18.600000000000001</c:v>
                </c:pt>
                <c:pt idx="17">
                  <c:v>18.600000000000001</c:v>
                </c:pt>
                <c:pt idx="18">
                  <c:v>18.7</c:v>
                </c:pt>
                <c:pt idx="19">
                  <c:v>18.8</c:v>
                </c:pt>
                <c:pt idx="20">
                  <c:v>18.899999999999999</c:v>
                </c:pt>
                <c:pt idx="21">
                  <c:v>19.100000000000001</c:v>
                </c:pt>
                <c:pt idx="22">
                  <c:v>19.100000000000001</c:v>
                </c:pt>
                <c:pt idx="23">
                  <c:v>19.100000000000001</c:v>
                </c:pt>
                <c:pt idx="24">
                  <c:v>19.2</c:v>
                </c:pt>
                <c:pt idx="25">
                  <c:v>19.2</c:v>
                </c:pt>
                <c:pt idx="26">
                  <c:v>19.399999999999999</c:v>
                </c:pt>
                <c:pt idx="27">
                  <c:v>19.5</c:v>
                </c:pt>
                <c:pt idx="28">
                  <c:v>19.600000000000001</c:v>
                </c:pt>
                <c:pt idx="29">
                  <c:v>19.7</c:v>
                </c:pt>
                <c:pt idx="30">
                  <c:v>19.899999999999999</c:v>
                </c:pt>
                <c:pt idx="31">
                  <c:v>20.2</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manualLayout>
              <c:xMode val="edge"/>
              <c:yMode val="edge"/>
              <c:x val="1.5339383372728865E-2"/>
              <c:y val="0.3681463920929696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10"/>
      </c:valAx>
      <c:spPr>
        <a:noFill/>
        <a:ln>
          <a:noFill/>
        </a:ln>
        <a:effectLst/>
      </c:spPr>
    </c:plotArea>
    <c:legend>
      <c:legendPos val="b"/>
      <c:legendEntry>
        <c:idx val="2"/>
        <c:delete val="1"/>
      </c:legendEntry>
      <c:layout>
        <c:manualLayout>
          <c:xMode val="edge"/>
          <c:yMode val="edge"/>
          <c:x val="0.37018069787538527"/>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גברים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11643760173750282"/>
          <c:y val="2.5548782339750248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6291890717104321"/>
          <c:y val="0.22151775185918213"/>
          <c:w val="0.70227818082626015"/>
          <c:h val="0.51490015049772109"/>
        </c:manualLayout>
      </c:layout>
      <c:barChart>
        <c:barDir val="col"/>
        <c:grouping val="stacked"/>
        <c:varyColors val="0"/>
        <c:ser>
          <c:idx val="0"/>
          <c:order val="0"/>
          <c:tx>
            <c:strRef>
              <c:f>Sheet1!$B$1</c:f>
              <c:strCache>
                <c:ptCount val="1"/>
                <c:pt idx="0">
                  <c:v>בריאים</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10.31</c:v>
                </c:pt>
                <c:pt idx="1">
                  <c:v>10.52</c:v>
                </c:pt>
                <c:pt idx="2">
                  <c:v>10.72</c:v>
                </c:pt>
                <c:pt idx="3">
                  <c:v>11.2</c:v>
                </c:pt>
                <c:pt idx="4">
                  <c:v>11.3</c:v>
                </c:pt>
                <c:pt idx="5">
                  <c:v>11.6</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8.7799999999999994</c:v>
                </c:pt>
                <c:pt idx="1">
                  <c:v>9.1300000000000008</c:v>
                </c:pt>
                <c:pt idx="2">
                  <c:v>8.7899999999999991</c:v>
                </c:pt>
                <c:pt idx="3">
                  <c:v>8.7200000000000006</c:v>
                </c:pt>
                <c:pt idx="4">
                  <c:v>8.6</c:v>
                </c:pt>
                <c:pt idx="5">
                  <c:v>7.8</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layout/>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19.100000000000001</c:v>
                </c:pt>
                <c:pt idx="1">
                  <c:v>19.649999999999999</c:v>
                </c:pt>
                <c:pt idx="2">
                  <c:v>19.510000000000002</c:v>
                </c:pt>
                <c:pt idx="3">
                  <c:v>19.920000000000002</c:v>
                </c:pt>
                <c:pt idx="4">
                  <c:v>19.899999999999999</c:v>
                </c:pt>
                <c:pt idx="5">
                  <c:v>19.399999999999999</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10"/>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dirty="0">
                <a:solidFill>
                  <a:schemeClr val="tx1"/>
                </a:solidFill>
                <a:effectLst/>
              </a:rPr>
              <a:t>ADL</a:t>
            </a:r>
            <a:r>
              <a:rPr lang="he-IL" sz="1800" b="0" i="0" baseline="0" dirty="0">
                <a:solidFill>
                  <a:schemeClr val="tx1"/>
                </a:solidFill>
                <a:effectLst/>
              </a:rPr>
              <a:t> (1-6)</a:t>
            </a:r>
            <a:endParaRPr lang="en-US" sz="1800" dirty="0">
              <a:solidFill>
                <a:schemeClr val="tx1"/>
              </a:solidFill>
              <a:effectLst/>
            </a:endParaRPr>
          </a:p>
          <a:p>
            <a:pPr rtl="1">
              <a:defRPr/>
            </a:pPr>
            <a:r>
              <a:rPr lang="he-IL" sz="1400" b="0" i="0" baseline="0" dirty="0">
                <a:effectLst/>
              </a:rPr>
              <a:t>(</a:t>
            </a:r>
            <a:r>
              <a:rPr lang="en-US" sz="1400" b="0" i="0" baseline="0" dirty="0">
                <a:effectLst/>
              </a:rPr>
              <a:t>SHARE-2017</a:t>
            </a:r>
            <a:r>
              <a:rPr lang="he-IL" sz="1400" b="0" i="0" baseline="0" dirty="0">
                <a:effectLst/>
              </a:rPr>
              <a:t>)</a:t>
            </a:r>
            <a:endParaRPr lang="en-US" sz="1400" dirty="0">
              <a:effectLst/>
            </a:endParaRPr>
          </a:p>
        </c:rich>
      </c:tx>
      <c:layout/>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2.3690485921203781E-2"/>
          <c:y val="4.644807369396968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2"/>
            <c:invertIfNegative val="0"/>
            <c:bubble3D val="0"/>
            <c:spPr>
              <a:solidFill>
                <a:srgbClr val="57595D"/>
              </a:solidFill>
              <a:ln>
                <a:noFill/>
              </a:ln>
              <a:effectLst/>
            </c:spPr>
            <c:extLst>
              <c:ext xmlns:c16="http://schemas.microsoft.com/office/drawing/2014/chart" uri="{C3380CC4-5D6E-409C-BE32-E72D297353CC}">
                <c16:uniqueId val="{00000004-02AD-4B05-9EA2-828745E790FD}"/>
              </c:ext>
            </c:extLst>
          </c:dPt>
          <c:dPt>
            <c:idx val="15"/>
            <c:invertIfNegative val="0"/>
            <c:bubble3D val="0"/>
            <c:spPr>
              <a:solidFill>
                <a:srgbClr val="008DA8"/>
              </a:solidFill>
              <a:ln>
                <a:noFill/>
              </a:ln>
              <a:effectLst/>
            </c:spPr>
            <c:extLst>
              <c:ext xmlns:c16="http://schemas.microsoft.com/office/drawing/2014/chart" uri="{C3380CC4-5D6E-409C-BE32-E72D297353CC}">
                <c16:uniqueId val="{00000003-02AD-4B05-9EA2-828745E790F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יוון</c:v>
                </c:pt>
                <c:pt idx="2">
                  <c:v>סלובקיה</c:v>
                </c:pt>
                <c:pt idx="3">
                  <c:v>שבדיה</c:v>
                </c:pt>
                <c:pt idx="4">
                  <c:v>דנמרק</c:v>
                </c:pt>
                <c:pt idx="5">
                  <c:v>לוקסנבורג</c:v>
                </c:pt>
                <c:pt idx="6">
                  <c:v>פינלנד</c:v>
                </c:pt>
                <c:pt idx="7">
                  <c:v>איטליה</c:v>
                </c:pt>
                <c:pt idx="8">
                  <c:v>סלובניה</c:v>
                </c:pt>
                <c:pt idx="9">
                  <c:v>הונגריה</c:v>
                </c:pt>
                <c:pt idx="10">
                  <c:v>אוסטריה</c:v>
                </c:pt>
                <c:pt idx="11">
                  <c:v>גרמניה</c:v>
                </c:pt>
                <c:pt idx="12">
                  <c:v>ממוצע </c:v>
                </c:pt>
                <c:pt idx="13">
                  <c:v>צרפת</c:v>
                </c:pt>
                <c:pt idx="14">
                  <c:v>לטביה</c:v>
                </c:pt>
                <c:pt idx="15">
                  <c:v>ישראל</c:v>
                </c:pt>
                <c:pt idx="16">
                  <c:v>צ'כיה</c:v>
                </c:pt>
                <c:pt idx="17">
                  <c:v>ספרד</c:v>
                </c:pt>
                <c:pt idx="18">
                  <c:v>פולין</c:v>
                </c:pt>
                <c:pt idx="19">
                  <c:v>בלגיה</c:v>
                </c:pt>
                <c:pt idx="20">
                  <c:v>אסטוניה</c:v>
                </c:pt>
                <c:pt idx="21">
                  <c:v>ליטא</c:v>
                </c:pt>
                <c:pt idx="22">
                  <c:v>פורטוגל</c:v>
                </c:pt>
              </c:strCache>
            </c:strRef>
          </c:cat>
          <c:val>
            <c:numRef>
              <c:f>Sheet1!$B$2:$B$24</c:f>
              <c:numCache>
                <c:formatCode>0</c:formatCode>
                <c:ptCount val="23"/>
                <c:pt idx="0">
                  <c:v>7.84</c:v>
                </c:pt>
                <c:pt idx="1">
                  <c:v>8.76</c:v>
                </c:pt>
                <c:pt idx="2">
                  <c:v>8.7799999999999994</c:v>
                </c:pt>
                <c:pt idx="3">
                  <c:v>10.83</c:v>
                </c:pt>
                <c:pt idx="4">
                  <c:v>10.979999999999999</c:v>
                </c:pt>
                <c:pt idx="5">
                  <c:v>11.200000000000001</c:v>
                </c:pt>
                <c:pt idx="6">
                  <c:v>11.89</c:v>
                </c:pt>
                <c:pt idx="7">
                  <c:v>13.8</c:v>
                </c:pt>
                <c:pt idx="8">
                  <c:v>14.08</c:v>
                </c:pt>
                <c:pt idx="9">
                  <c:v>14.17</c:v>
                </c:pt>
                <c:pt idx="10">
                  <c:v>14.89</c:v>
                </c:pt>
                <c:pt idx="11">
                  <c:v>15.459999999999999</c:v>
                </c:pt>
                <c:pt idx="12">
                  <c:v>15.879999999999999</c:v>
                </c:pt>
                <c:pt idx="13">
                  <c:v>16.580000000000002</c:v>
                </c:pt>
                <c:pt idx="14">
                  <c:v>16.68</c:v>
                </c:pt>
                <c:pt idx="15">
                  <c:v>16.989999999999998</c:v>
                </c:pt>
                <c:pt idx="16">
                  <c:v>17.64</c:v>
                </c:pt>
                <c:pt idx="17">
                  <c:v>18.260000000000002</c:v>
                </c:pt>
                <c:pt idx="18">
                  <c:v>19.149999999999999</c:v>
                </c:pt>
                <c:pt idx="19">
                  <c:v>19.66</c:v>
                </c:pt>
                <c:pt idx="20">
                  <c:v>19.989999999999998</c:v>
                </c:pt>
                <c:pt idx="21">
                  <c:v>22.82</c:v>
                </c:pt>
                <c:pt idx="22">
                  <c:v>27.639999999999997</c:v>
                </c:pt>
              </c:numCache>
            </c:numRef>
          </c:val>
          <c:extLst>
            <c:ext xmlns:c16="http://schemas.microsoft.com/office/drawing/2014/chart" uri="{C3380CC4-5D6E-409C-BE32-E72D297353CC}">
              <c16:uniqueId val="{00000000-02AD-4B05-9EA2-828745E790FD}"/>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err="1">
                <a:solidFill>
                  <a:schemeClr val="tx1"/>
                </a:solidFill>
                <a:effectLst/>
              </a:rPr>
              <a:t>IADL</a:t>
            </a:r>
            <a:r>
              <a:rPr lang="he-IL" sz="1800" b="0" i="0" baseline="0">
                <a:solidFill>
                  <a:schemeClr val="tx1"/>
                </a:solidFill>
                <a:effectLst/>
              </a:rPr>
              <a:t> (1-9)</a:t>
            </a:r>
            <a:endParaRPr lang="en-US" sz="1800">
              <a:solidFill>
                <a:schemeClr val="tx1"/>
              </a:solidFill>
              <a:effectLst/>
            </a:endParaRPr>
          </a:p>
          <a:p>
            <a:pPr rtl="1">
              <a:defRPr/>
            </a:pPr>
            <a:r>
              <a:rPr lang="he-IL" sz="1400" b="0" i="0" baseline="0">
                <a:effectLst/>
              </a:rPr>
              <a:t>(</a:t>
            </a:r>
            <a:r>
              <a:rPr lang="en-US" sz="1400" b="0" i="0" baseline="0">
                <a:effectLst/>
              </a:rPr>
              <a:t>SHARE-2017</a:t>
            </a:r>
            <a:r>
              <a:rPr lang="he-IL" sz="1400" b="0" i="0" baseline="0">
                <a:effectLst/>
              </a:rPr>
              <a:t>)</a:t>
            </a:r>
            <a:endParaRPr lang="en-US" sz="1400">
              <a:effectLst/>
            </a:endParaRPr>
          </a:p>
        </c:rich>
      </c:tx>
      <c:layout/>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5.3117540302592421E-2"/>
          <c:y val="5.477707674728164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0"/>
            <c:invertIfNegative val="0"/>
            <c:bubble3D val="0"/>
            <c:spPr>
              <a:solidFill>
                <a:srgbClr val="57595D"/>
              </a:solidFill>
              <a:ln>
                <a:noFill/>
              </a:ln>
              <a:effectLst/>
            </c:spPr>
            <c:extLst>
              <c:ext xmlns:c16="http://schemas.microsoft.com/office/drawing/2014/chart" uri="{C3380CC4-5D6E-409C-BE32-E72D297353CC}">
                <c16:uniqueId val="{00000006-22E9-4254-8ABB-686C5D9E8956}"/>
              </c:ext>
            </c:extLst>
          </c:dPt>
          <c:dPt>
            <c:idx val="12"/>
            <c:invertIfNegative val="0"/>
            <c:bubble3D val="0"/>
            <c:spPr>
              <a:solidFill>
                <a:srgbClr val="B1B3B6"/>
              </a:solidFill>
              <a:ln>
                <a:noFill/>
              </a:ln>
              <a:effectLst/>
            </c:spPr>
            <c:extLst>
              <c:ext xmlns:c16="http://schemas.microsoft.com/office/drawing/2014/chart" uri="{C3380CC4-5D6E-409C-BE32-E72D297353CC}">
                <c16:uniqueId val="{00000001-22E9-4254-8ABB-686C5D9E8956}"/>
              </c:ext>
            </c:extLst>
          </c:dPt>
          <c:dPt>
            <c:idx val="15"/>
            <c:invertIfNegative val="0"/>
            <c:bubble3D val="0"/>
            <c:spPr>
              <a:solidFill>
                <a:srgbClr val="B1B3B6"/>
              </a:solidFill>
              <a:ln>
                <a:noFill/>
              </a:ln>
              <a:effectLst/>
            </c:spPr>
            <c:extLst>
              <c:ext xmlns:c16="http://schemas.microsoft.com/office/drawing/2014/chart" uri="{C3380CC4-5D6E-409C-BE32-E72D297353CC}">
                <c16:uniqueId val="{00000003-22E9-4254-8ABB-686C5D9E8956}"/>
              </c:ext>
            </c:extLst>
          </c:dPt>
          <c:dPt>
            <c:idx val="22"/>
            <c:invertIfNegative val="0"/>
            <c:bubble3D val="0"/>
            <c:spPr>
              <a:solidFill>
                <a:srgbClr val="008DA8"/>
              </a:solidFill>
              <a:ln>
                <a:noFill/>
              </a:ln>
              <a:effectLst/>
            </c:spPr>
            <c:extLst>
              <c:ext xmlns:c16="http://schemas.microsoft.com/office/drawing/2014/chart" uri="{C3380CC4-5D6E-409C-BE32-E72D297353CC}">
                <c16:uniqueId val="{00000005-22E9-4254-8ABB-686C5D9E8956}"/>
              </c:ext>
            </c:extLst>
          </c:dPt>
          <c:dLbls>
            <c:dLbl>
              <c:idx val="22"/>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5-22E9-4254-8ABB-686C5D9E895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שבדיה</c:v>
                </c:pt>
                <c:pt idx="2">
                  <c:v>פינלנד</c:v>
                </c:pt>
                <c:pt idx="3">
                  <c:v>גרמניה</c:v>
                </c:pt>
                <c:pt idx="4">
                  <c:v>דנמרק</c:v>
                </c:pt>
                <c:pt idx="5">
                  <c:v>לוקסנבורג</c:v>
                </c:pt>
                <c:pt idx="6">
                  <c:v>סלובקיה</c:v>
                </c:pt>
                <c:pt idx="7">
                  <c:v>איטליה</c:v>
                </c:pt>
                <c:pt idx="8">
                  <c:v>סלובניה</c:v>
                </c:pt>
                <c:pt idx="9">
                  <c:v>צרפת</c:v>
                </c:pt>
                <c:pt idx="10">
                  <c:v>ממוצע</c:v>
                </c:pt>
                <c:pt idx="11">
                  <c:v>פולין</c:v>
                </c:pt>
                <c:pt idx="12">
                  <c:v>צ'כיה</c:v>
                </c:pt>
                <c:pt idx="13">
                  <c:v>יוון</c:v>
                </c:pt>
                <c:pt idx="14">
                  <c:v>אוסטריה</c:v>
                </c:pt>
                <c:pt idx="15">
                  <c:v>לטביה</c:v>
                </c:pt>
                <c:pt idx="16">
                  <c:v>פורטוגל</c:v>
                </c:pt>
                <c:pt idx="17">
                  <c:v>בלגיה</c:v>
                </c:pt>
                <c:pt idx="18">
                  <c:v>ספרד</c:v>
                </c:pt>
                <c:pt idx="19">
                  <c:v>אסטוניה</c:v>
                </c:pt>
                <c:pt idx="20">
                  <c:v>ליטא</c:v>
                </c:pt>
                <c:pt idx="21">
                  <c:v>הונגריה</c:v>
                </c:pt>
                <c:pt idx="22">
                  <c:v>ישראל</c:v>
                </c:pt>
              </c:strCache>
            </c:strRef>
          </c:cat>
          <c:val>
            <c:numRef>
              <c:f>Sheet1!$B$2:$B$24</c:f>
              <c:numCache>
                <c:formatCode>0</c:formatCode>
                <c:ptCount val="23"/>
                <c:pt idx="0">
                  <c:v>12.689999999999998</c:v>
                </c:pt>
                <c:pt idx="1">
                  <c:v>15.039999999999992</c:v>
                </c:pt>
                <c:pt idx="2">
                  <c:v>16.849999999999994</c:v>
                </c:pt>
                <c:pt idx="3">
                  <c:v>18.560000000000002</c:v>
                </c:pt>
                <c:pt idx="4">
                  <c:v>18.600000000000009</c:v>
                </c:pt>
                <c:pt idx="5">
                  <c:v>19.02000000000001</c:v>
                </c:pt>
                <c:pt idx="6">
                  <c:v>22.099999999999994</c:v>
                </c:pt>
                <c:pt idx="7">
                  <c:v>22.929999999999993</c:v>
                </c:pt>
                <c:pt idx="8">
                  <c:v>22.950000000000003</c:v>
                </c:pt>
                <c:pt idx="9">
                  <c:v>23.090000000000003</c:v>
                </c:pt>
                <c:pt idx="10">
                  <c:v>25.409999999999997</c:v>
                </c:pt>
                <c:pt idx="11">
                  <c:v>26.25</c:v>
                </c:pt>
                <c:pt idx="12">
                  <c:v>26.819999999999993</c:v>
                </c:pt>
                <c:pt idx="13">
                  <c:v>27.349999999999994</c:v>
                </c:pt>
                <c:pt idx="14">
                  <c:v>27.86</c:v>
                </c:pt>
                <c:pt idx="15">
                  <c:v>28.28</c:v>
                </c:pt>
                <c:pt idx="16">
                  <c:v>28.849999999999994</c:v>
                </c:pt>
                <c:pt idx="17">
                  <c:v>29.83</c:v>
                </c:pt>
                <c:pt idx="18">
                  <c:v>30.239999999999995</c:v>
                </c:pt>
                <c:pt idx="19">
                  <c:v>31.58</c:v>
                </c:pt>
                <c:pt idx="20">
                  <c:v>31.64</c:v>
                </c:pt>
                <c:pt idx="21">
                  <c:v>31.689999999999998</c:v>
                </c:pt>
                <c:pt idx="22">
                  <c:v>32.769999999999996</c:v>
                </c:pt>
              </c:numCache>
            </c:numRef>
          </c:val>
          <c:extLst>
            <c:ext xmlns:c16="http://schemas.microsoft.com/office/drawing/2014/chart" uri="{C3380CC4-5D6E-409C-BE32-E72D297353CC}">
              <c16:uniqueId val="{00000004-22E9-4254-8ABB-686C5D9E8956}"/>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sz="2000" b="1" dirty="0">
                <a:solidFill>
                  <a:schemeClr val="tx1"/>
                </a:solidFill>
                <a:latin typeface="Calibri" panose="020F0502020204030204" pitchFamily="34" charset="0"/>
                <a:cs typeface="Calibri" panose="020F0502020204030204" pitchFamily="34" charset="0"/>
              </a:rPr>
              <a:t>השתתפות עצמית </a:t>
            </a:r>
            <a:r>
              <a:rPr lang="he-IL" sz="2000" b="1" dirty="0" smtClean="0">
                <a:solidFill>
                  <a:schemeClr val="tx1"/>
                </a:solidFill>
                <a:latin typeface="Calibri" panose="020F0502020204030204" pitchFamily="34" charset="0"/>
                <a:cs typeface="Calibri" panose="020F0502020204030204" pitchFamily="34" charset="0"/>
              </a:rPr>
              <a:t>חודשית לזקן </a:t>
            </a:r>
            <a:r>
              <a:rPr lang="he-IL" sz="2000" b="1" dirty="0">
                <a:solidFill>
                  <a:schemeClr val="tx1"/>
                </a:solidFill>
                <a:latin typeface="Calibri" panose="020F0502020204030204" pitchFamily="34" charset="0"/>
                <a:cs typeface="Calibri" panose="020F0502020204030204" pitchFamily="34" charset="0"/>
              </a:rPr>
              <a:t>על רצף השירותים</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6.5057559280670474E-2"/>
          <c:y val="9.2238359268902406E-2"/>
          <c:w val="0.92237499075658202"/>
          <c:h val="0.78634212933001069"/>
        </c:manualLayout>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השתתפות!$B$3:$B$10</c:f>
              <c:strCache>
                <c:ptCount val="8"/>
                <c:pt idx="0">
                  <c:v>קהילה תומכת</c:v>
                </c:pt>
                <c:pt idx="1">
                  <c:v>מועדון חברתי</c:v>
                </c:pt>
                <c:pt idx="2">
                  <c:v>מועדון מועשר</c:v>
                </c:pt>
                <c:pt idx="3">
                  <c:v>מועדון מופת</c:v>
                </c:pt>
                <c:pt idx="4">
                  <c:v>מועדון מופת משודרג</c:v>
                </c:pt>
                <c:pt idx="5">
                  <c:v>מרכז יום רווחה</c:v>
                </c:pt>
                <c:pt idx="6">
                  <c:v>מרכז יום לזכאי סיעוד 1-3*</c:v>
                </c:pt>
                <c:pt idx="7">
                  <c:v>מרכזי יום לזכאי סיעוד 4-6*</c:v>
                </c:pt>
              </c:strCache>
            </c:strRef>
          </c:cat>
          <c:val>
            <c:numRef>
              <c:f>השתתפות!$C$3:$C$10</c:f>
              <c:numCache>
                <c:formatCode>General</c:formatCode>
                <c:ptCount val="8"/>
                <c:pt idx="0">
                  <c:v>25</c:v>
                </c:pt>
                <c:pt idx="1">
                  <c:v>30</c:v>
                </c:pt>
                <c:pt idx="2">
                  <c:v>35</c:v>
                </c:pt>
                <c:pt idx="3">
                  <c:v>46</c:v>
                </c:pt>
                <c:pt idx="4">
                  <c:v>75</c:v>
                </c:pt>
                <c:pt idx="5">
                  <c:v>100</c:v>
                </c:pt>
                <c:pt idx="6" formatCode="0">
                  <c:v>1818.8999999999999</c:v>
                </c:pt>
                <c:pt idx="7" formatCode="0">
                  <c:v>2425.1999999999998</c:v>
                </c:pt>
              </c:numCache>
            </c:numRef>
          </c:val>
          <c:extLst>
            <c:ext xmlns:c16="http://schemas.microsoft.com/office/drawing/2014/chart" uri="{C3380CC4-5D6E-409C-BE32-E72D297353CC}">
              <c16:uniqueId val="{00000000-5D22-4D0F-93DA-FBD6ACCFE540}"/>
            </c:ext>
          </c:extLst>
        </c:ser>
        <c:dLbls>
          <c:showLegendKey val="0"/>
          <c:showVal val="1"/>
          <c:showCatName val="0"/>
          <c:showSerName val="0"/>
          <c:showPercent val="0"/>
          <c:showBubbleSize val="0"/>
        </c:dLbls>
        <c:gapWidth val="150"/>
        <c:axId val="507253416"/>
        <c:axId val="507246200"/>
      </c:barChart>
      <c:catAx>
        <c:axId val="507253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7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507246200"/>
        <c:crosses val="autoZero"/>
        <c:auto val="1"/>
        <c:lblAlgn val="ctr"/>
        <c:lblOffset val="100"/>
        <c:noMultiLvlLbl val="0"/>
      </c:catAx>
      <c:valAx>
        <c:axId val="507246200"/>
        <c:scaling>
          <c:orientation val="minMax"/>
          <c:max val="2500"/>
        </c:scaling>
        <c:delete val="0"/>
        <c:axPos val="l"/>
        <c:numFmt formatCode="General"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crossAx val="507253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r>
              <a:rPr lang="he-IL" sz="2800" b="1" dirty="0">
                <a:latin typeface="Calibri Light" panose="020F0302020204030204" pitchFamily="34" charset="0"/>
                <a:cs typeface="Calibri Light" panose="020F0302020204030204" pitchFamily="34" charset="0"/>
              </a:rPr>
              <a:t>תרומת התכנית</a:t>
            </a:r>
            <a:endParaRPr lang="en-US" sz="2800" b="1" dirty="0">
              <a:latin typeface="Calibri Light" panose="020F0302020204030204" pitchFamily="34" charset="0"/>
              <a:cs typeface="Calibri Light" panose="020F0302020204030204" pitchFamily="34" charset="0"/>
            </a:endParaRPr>
          </a:p>
        </c:rich>
      </c:tx>
      <c:layout/>
      <c:overlay val="0"/>
      <c:spPr>
        <a:noFill/>
        <a:ln>
          <a:noFill/>
        </a:ln>
        <a:effectLst/>
      </c:spPr>
      <c:txPr>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title>
    <c:autoTitleDeleted val="0"/>
    <c:plotArea>
      <c:layout/>
      <c:barChart>
        <c:barDir val="bar"/>
        <c:grouping val="clustered"/>
        <c:varyColors val="0"/>
        <c:ser>
          <c:idx val="0"/>
          <c:order val="0"/>
          <c:tx>
            <c:strRef>
              <c:f>Sheet1!$B$1</c:f>
              <c:strCache>
                <c:ptCount val="1"/>
                <c:pt idx="0">
                  <c:v>סל גמיש</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Sheet1!$B$2:$B$4</c:f>
              <c:numCache>
                <c:formatCode>General</c:formatCode>
                <c:ptCount val="3"/>
                <c:pt idx="0">
                  <c:v>71</c:v>
                </c:pt>
                <c:pt idx="1">
                  <c:v>46</c:v>
                </c:pt>
                <c:pt idx="2">
                  <c:v>35</c:v>
                </c:pt>
              </c:numCache>
            </c:numRef>
          </c:val>
          <c:extLst>
            <c:ext xmlns:c16="http://schemas.microsoft.com/office/drawing/2014/chart" uri="{C3380CC4-5D6E-409C-BE32-E72D297353CC}">
              <c16:uniqueId val="{00000000-EE9E-412E-AA32-2CEF2FE272BE}"/>
            </c:ext>
          </c:extLst>
        </c:ser>
        <c:ser>
          <c:idx val="1"/>
          <c:order val="1"/>
          <c:tx>
            <c:strRef>
              <c:f>Sheet1!$C$1</c:f>
              <c:strCache>
                <c:ptCount val="1"/>
                <c:pt idx="0">
                  <c:v>חוק סיעוד</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Sheet1!$C$2:$C$4</c:f>
              <c:numCache>
                <c:formatCode>General</c:formatCode>
                <c:ptCount val="3"/>
                <c:pt idx="0">
                  <c:v>84.2</c:v>
                </c:pt>
                <c:pt idx="1">
                  <c:v>58.6</c:v>
                </c:pt>
                <c:pt idx="2">
                  <c:v>66.8</c:v>
                </c:pt>
              </c:numCache>
            </c:numRef>
          </c:val>
          <c:extLst>
            <c:ext xmlns:c16="http://schemas.microsoft.com/office/drawing/2014/chart" uri="{C3380CC4-5D6E-409C-BE32-E72D297353CC}">
              <c16:uniqueId val="{00000001-EE9E-412E-AA32-2CEF2FE272BE}"/>
            </c:ext>
          </c:extLst>
        </c:ser>
        <c:dLbls>
          <c:dLblPos val="inEnd"/>
          <c:showLegendKey val="0"/>
          <c:showVal val="1"/>
          <c:showCatName val="0"/>
          <c:showSerName val="0"/>
          <c:showPercent val="0"/>
          <c:showBubbleSize val="0"/>
        </c:dLbls>
        <c:gapWidth val="65"/>
        <c:axId val="740025664"/>
        <c:axId val="740026320"/>
      </c:barChart>
      <c:catAx>
        <c:axId val="74002566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2400" b="1" i="0" u="none" strike="noStrike" kern="1200" cap="all"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crossAx val="740026320"/>
        <c:crosses val="autoZero"/>
        <c:auto val="1"/>
        <c:lblAlgn val="ctr"/>
        <c:lblOffset val="100"/>
        <c:noMultiLvlLbl val="0"/>
      </c:catAx>
      <c:valAx>
        <c:axId val="74002632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e-IL"/>
          </a:p>
        </c:txPr>
        <c:crossAx val="740025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egendEntry>
        <c:idx val="1"/>
        <c:txPr>
          <a:bodyPr rot="0" spcFirstLastPara="1" vertOverflow="ellipsis" vert="horz" wrap="square" anchor="ctr" anchorCtr="1"/>
          <a:lstStyle/>
          <a:p>
            <a:pPr>
              <a:defRPr sz="16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e-IL"/>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rgbClr val="002060"/>
                </a:solidFill>
              </a:rPr>
              <a:t>ROI</a:t>
            </a:r>
            <a:r>
              <a:rPr lang="he-IL" b="1" dirty="0">
                <a:solidFill>
                  <a:srgbClr val="002060"/>
                </a:solidFill>
              </a:rPr>
              <a:t> חסכון לשנה בביטוח לאומי ובקופ"ח לפי רמות</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he-IL" sz="1800" b="1"/>
              <a:t>עלויות הגמלה לחודש לפי רמות</a:t>
            </a:r>
          </a:p>
        </c:rich>
      </c:tx>
      <c:layout/>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גיליון1!$G$22:$G$27</c:f>
              <c:numCache>
                <c:formatCode>General</c:formatCode>
                <c:ptCount val="6"/>
                <c:pt idx="0">
                  <c:v>1</c:v>
                </c:pt>
                <c:pt idx="1">
                  <c:v>2</c:v>
                </c:pt>
                <c:pt idx="2">
                  <c:v>3</c:v>
                </c:pt>
                <c:pt idx="3">
                  <c:v>4</c:v>
                </c:pt>
                <c:pt idx="4">
                  <c:v>5</c:v>
                </c:pt>
                <c:pt idx="5">
                  <c:v>6</c:v>
                </c:pt>
              </c:numCache>
            </c:numRef>
          </c:cat>
          <c:val>
            <c:numRef>
              <c:f>גיליון1!$H$22:$H$27</c:f>
              <c:numCache>
                <c:formatCode>_ * #,##0_ ;_ * \-#,##0_ ;_ * "-"??_ ;_ @_ </c:formatCode>
                <c:ptCount val="6"/>
                <c:pt idx="0">
                  <c:v>1534.5</c:v>
                </c:pt>
                <c:pt idx="1">
                  <c:v>2790</c:v>
                </c:pt>
                <c:pt idx="2">
                  <c:v>4743</c:v>
                </c:pt>
                <c:pt idx="3">
                  <c:v>5859</c:v>
                </c:pt>
                <c:pt idx="4">
                  <c:v>7254</c:v>
                </c:pt>
                <c:pt idx="5">
                  <c:v>8370</c:v>
                </c:pt>
              </c:numCache>
            </c:numRef>
          </c:val>
          <c:extLst>
            <c:ext xmlns:c16="http://schemas.microsoft.com/office/drawing/2014/chart" uri="{C3380CC4-5D6E-409C-BE32-E72D297353CC}">
              <c16:uniqueId val="{00000000-64F6-4146-B367-FFFD5F867A48}"/>
            </c:ext>
          </c:extLst>
        </c:ser>
        <c:dLbls>
          <c:dLblPos val="outEnd"/>
          <c:showLegendKey val="0"/>
          <c:showVal val="1"/>
          <c:showCatName val="0"/>
          <c:showSerName val="0"/>
          <c:showPercent val="0"/>
          <c:showBubbleSize val="0"/>
        </c:dLbls>
        <c:gapWidth val="219"/>
        <c:overlap val="-27"/>
        <c:axId val="615596416"/>
        <c:axId val="615599696"/>
      </c:barChart>
      <c:catAx>
        <c:axId val="615596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he-IL"/>
          </a:p>
        </c:txPr>
        <c:crossAx val="615599696"/>
        <c:crosses val="autoZero"/>
        <c:auto val="1"/>
        <c:lblAlgn val="ctr"/>
        <c:lblOffset val="100"/>
        <c:noMultiLvlLbl val="0"/>
      </c:catAx>
      <c:valAx>
        <c:axId val="615599696"/>
        <c:scaling>
          <c:orientation val="minMax"/>
        </c:scaling>
        <c:delete val="0"/>
        <c:axPos val="l"/>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he-IL"/>
          </a:p>
        </c:txPr>
        <c:crossAx val="615596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ROI</a:t>
            </a:r>
            <a:r>
              <a:rPr lang="he-IL" b="1"/>
              <a:t> חסכון לשנה בביטוח לאומי ובקופ"ח לפי רמות</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Reversed" id="25">
  <a:schemeClr val="accent5"/>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withinLinearReversed" id="25">
  <a:schemeClr val="accent5"/>
</cs:colorStyle>
</file>

<file path=ppt/charts/colors19.xml><?xml version="1.0" encoding="utf-8"?>
<cs:colorStyle xmlns:cs="http://schemas.microsoft.com/office/drawing/2012/chartStyle" xmlns:a="http://schemas.openxmlformats.org/drawingml/2006/main" meth="withinLinearReversed" id="25">
  <a:schemeClr val="accent5"/>
</cs:colorStyle>
</file>

<file path=ppt/charts/colors20.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0D35F0-8174-460B-91B7-5259B078BD87}" type="doc">
      <dgm:prSet loTypeId="urn:microsoft.com/office/officeart/2005/8/layout/pyramid1" loCatId="pyramid" qsTypeId="urn:microsoft.com/office/officeart/2005/8/quickstyle/simple1" qsCatId="simple" csTypeId="urn:microsoft.com/office/officeart/2005/8/colors/colorful1" csCatId="colorful" phldr="1"/>
      <dgm:spPr/>
    </dgm:pt>
    <dgm:pt modelId="{5F245D62-3699-4326-8C24-96C9D00DD3AC}">
      <dgm:prSet phldrT="[טקסט]" custT="1"/>
      <dgm:spPr/>
      <dgm:t>
        <a:bodyPr/>
        <a:lstStyle/>
        <a:p>
          <a:pPr rtl="1"/>
          <a:endParaRPr lang="he-IL" sz="1100" dirty="0" smtClean="0"/>
        </a:p>
        <a:p>
          <a:pPr rtl="1"/>
          <a:endParaRPr lang="he-IL" sz="1200" b="1" dirty="0" smtClean="0"/>
        </a:p>
        <a:p>
          <a:pPr rtl="1"/>
          <a:r>
            <a:rPr lang="he-IL" sz="2000" b="1" dirty="0" smtClean="0"/>
            <a:t>הזדקנות</a:t>
          </a:r>
        </a:p>
        <a:p>
          <a:pPr rtl="1"/>
          <a:r>
            <a:rPr lang="he-IL" sz="2400" b="1" dirty="0" smtClean="0"/>
            <a:t> מיטבית</a:t>
          </a:r>
          <a:endParaRPr lang="he-IL" sz="2400" b="1" dirty="0"/>
        </a:p>
      </dgm:t>
    </dgm:pt>
    <dgm:pt modelId="{65AC23A2-3F54-4864-812A-833BD39436B9}" type="parTrans" cxnId="{78B8C709-A93D-4230-86E6-E15D289D53A1}">
      <dgm:prSet/>
      <dgm:spPr/>
      <dgm:t>
        <a:bodyPr/>
        <a:lstStyle/>
        <a:p>
          <a:pPr rtl="1"/>
          <a:endParaRPr lang="he-IL"/>
        </a:p>
      </dgm:t>
    </dgm:pt>
    <dgm:pt modelId="{2D680DEE-5688-430A-A56F-896B091ADC9C}" type="sibTrans" cxnId="{78B8C709-A93D-4230-86E6-E15D289D53A1}">
      <dgm:prSet/>
      <dgm:spPr/>
      <dgm:t>
        <a:bodyPr/>
        <a:lstStyle/>
        <a:p>
          <a:pPr rtl="1"/>
          <a:endParaRPr lang="he-IL"/>
        </a:p>
      </dgm:t>
    </dgm:pt>
    <dgm:pt modelId="{81D5B673-99AF-4C58-956C-30F45CBD5586}">
      <dgm:prSet phldrT="[טקסט]" custT="1"/>
      <dgm:spPr>
        <a:solidFill>
          <a:srgbClr val="FFC000"/>
        </a:solidFill>
      </dgm:spPr>
      <dgm:t>
        <a:bodyPr/>
        <a:lstStyle/>
        <a:p>
          <a:pPr rtl="1"/>
          <a:r>
            <a:rPr lang="he-IL" sz="3200" dirty="0" smtClean="0"/>
            <a:t>מדידה </a:t>
          </a:r>
          <a:r>
            <a:rPr lang="he-IL" sz="3200" dirty="0" err="1" smtClean="0"/>
            <a:t>ותמרוצים</a:t>
          </a:r>
          <a:r>
            <a:rPr lang="he-IL" sz="3200" dirty="0" smtClean="0"/>
            <a:t> </a:t>
          </a:r>
        </a:p>
      </dgm:t>
    </dgm:pt>
    <dgm:pt modelId="{E27AB79A-574A-4069-9DC2-F0DF479D6A66}" type="parTrans" cxnId="{66D0C72A-ADD1-4E7F-8743-96969BB478E9}">
      <dgm:prSet/>
      <dgm:spPr/>
      <dgm:t>
        <a:bodyPr/>
        <a:lstStyle/>
        <a:p>
          <a:pPr rtl="1"/>
          <a:endParaRPr lang="he-IL"/>
        </a:p>
      </dgm:t>
    </dgm:pt>
    <dgm:pt modelId="{5B8DF2BA-907C-4877-AC21-D09C8186714E}" type="sibTrans" cxnId="{66D0C72A-ADD1-4E7F-8743-96969BB478E9}">
      <dgm:prSet/>
      <dgm:spPr/>
      <dgm:t>
        <a:bodyPr/>
        <a:lstStyle/>
        <a:p>
          <a:pPr rtl="1"/>
          <a:endParaRPr lang="he-IL"/>
        </a:p>
      </dgm:t>
    </dgm:pt>
    <dgm:pt modelId="{5B8E34DD-E50F-4C49-B3B1-4341E9D6B051}">
      <dgm:prSet phldrT="[טקסט]"/>
      <dgm:spPr>
        <a:solidFill>
          <a:srgbClr val="5EC5C5"/>
        </a:solidFill>
      </dgm:spPr>
      <dgm:t>
        <a:bodyPr/>
        <a:lstStyle/>
        <a:p>
          <a:pPr rtl="1"/>
          <a:r>
            <a:rPr lang="he-IL" dirty="0" smtClean="0"/>
            <a:t>סל מותאם אישית לבחירה</a:t>
          </a:r>
          <a:endParaRPr lang="he-IL" dirty="0"/>
        </a:p>
      </dgm:t>
    </dgm:pt>
    <dgm:pt modelId="{880BE483-636C-4A06-976B-8C78874EF0F8}" type="parTrans" cxnId="{76AACF3C-30AA-4B34-9D03-FED835DCBB06}">
      <dgm:prSet/>
      <dgm:spPr/>
      <dgm:t>
        <a:bodyPr/>
        <a:lstStyle/>
        <a:p>
          <a:pPr rtl="1"/>
          <a:endParaRPr lang="he-IL"/>
        </a:p>
      </dgm:t>
    </dgm:pt>
    <dgm:pt modelId="{CD72C910-591E-45D7-8D01-2B83865B49D0}" type="sibTrans" cxnId="{76AACF3C-30AA-4B34-9D03-FED835DCBB06}">
      <dgm:prSet/>
      <dgm:spPr/>
      <dgm:t>
        <a:bodyPr/>
        <a:lstStyle/>
        <a:p>
          <a:pPr rtl="1"/>
          <a:endParaRPr lang="he-IL"/>
        </a:p>
      </dgm:t>
    </dgm:pt>
    <dgm:pt modelId="{C6B2D5B4-D25E-4FE8-82E4-1CD6A2990E93}">
      <dgm:prSet phldrT="[טקסט]"/>
      <dgm:spPr/>
      <dgm:t>
        <a:bodyPr/>
        <a:lstStyle/>
        <a:p>
          <a:pPr rtl="1"/>
          <a:r>
            <a:rPr lang="he-IL" dirty="0" smtClean="0"/>
            <a:t>שירות מעטפת </a:t>
          </a:r>
        </a:p>
        <a:p>
          <a:pPr rtl="1"/>
          <a:r>
            <a:rPr lang="he-IL" dirty="0" smtClean="0"/>
            <a:t>קהילה לכולם</a:t>
          </a:r>
          <a:endParaRPr lang="he-IL" dirty="0"/>
        </a:p>
      </dgm:t>
    </dgm:pt>
    <dgm:pt modelId="{0696B022-DF8B-46A6-8EC9-D6DDAE8B2C30}" type="parTrans" cxnId="{58D5BDB9-CC9A-4FCB-8B3C-9B88A63D5780}">
      <dgm:prSet/>
      <dgm:spPr/>
      <dgm:t>
        <a:bodyPr/>
        <a:lstStyle/>
        <a:p>
          <a:pPr rtl="1"/>
          <a:endParaRPr lang="he-IL"/>
        </a:p>
      </dgm:t>
    </dgm:pt>
    <dgm:pt modelId="{F65D5231-0170-461E-8BA5-E305680C9C22}" type="sibTrans" cxnId="{58D5BDB9-CC9A-4FCB-8B3C-9B88A63D5780}">
      <dgm:prSet/>
      <dgm:spPr/>
      <dgm:t>
        <a:bodyPr/>
        <a:lstStyle/>
        <a:p>
          <a:pPr rtl="1"/>
          <a:endParaRPr lang="he-IL"/>
        </a:p>
      </dgm:t>
    </dgm:pt>
    <dgm:pt modelId="{960AB101-0557-4EF3-BF78-5B47B3498D2C}" type="pres">
      <dgm:prSet presAssocID="{720D35F0-8174-460B-91B7-5259B078BD87}" presName="Name0" presStyleCnt="0">
        <dgm:presLayoutVars>
          <dgm:dir/>
          <dgm:animLvl val="lvl"/>
          <dgm:resizeHandles val="exact"/>
        </dgm:presLayoutVars>
      </dgm:prSet>
      <dgm:spPr/>
    </dgm:pt>
    <dgm:pt modelId="{0C8D2B12-AB50-4579-B1E8-A206563DE6F5}" type="pres">
      <dgm:prSet presAssocID="{5F245D62-3699-4326-8C24-96C9D00DD3AC}" presName="Name8" presStyleCnt="0"/>
      <dgm:spPr/>
    </dgm:pt>
    <dgm:pt modelId="{6070D69A-5440-4A89-80EA-AE849A3AF518}" type="pres">
      <dgm:prSet presAssocID="{5F245D62-3699-4326-8C24-96C9D00DD3AC}" presName="level" presStyleLbl="node1" presStyleIdx="0" presStyleCnt="4">
        <dgm:presLayoutVars>
          <dgm:chMax val="1"/>
          <dgm:bulletEnabled val="1"/>
        </dgm:presLayoutVars>
      </dgm:prSet>
      <dgm:spPr/>
      <dgm:t>
        <a:bodyPr/>
        <a:lstStyle/>
        <a:p>
          <a:pPr rtl="1"/>
          <a:endParaRPr lang="he-IL"/>
        </a:p>
      </dgm:t>
    </dgm:pt>
    <dgm:pt modelId="{7E623A44-4B05-464C-A676-DC324274F761}" type="pres">
      <dgm:prSet presAssocID="{5F245D62-3699-4326-8C24-96C9D00DD3AC}" presName="levelTx" presStyleLbl="revTx" presStyleIdx="0" presStyleCnt="0">
        <dgm:presLayoutVars>
          <dgm:chMax val="1"/>
          <dgm:bulletEnabled val="1"/>
        </dgm:presLayoutVars>
      </dgm:prSet>
      <dgm:spPr/>
      <dgm:t>
        <a:bodyPr/>
        <a:lstStyle/>
        <a:p>
          <a:pPr rtl="1"/>
          <a:endParaRPr lang="he-IL"/>
        </a:p>
      </dgm:t>
    </dgm:pt>
    <dgm:pt modelId="{E8419DFB-EFE2-4C0F-92CC-47E2CBC070EC}" type="pres">
      <dgm:prSet presAssocID="{81D5B673-99AF-4C58-956C-30F45CBD5586}" presName="Name8" presStyleCnt="0"/>
      <dgm:spPr/>
    </dgm:pt>
    <dgm:pt modelId="{7472973C-CF79-4898-91E8-E14622784BB4}" type="pres">
      <dgm:prSet presAssocID="{81D5B673-99AF-4C58-956C-30F45CBD5586}" presName="level" presStyleLbl="node1" presStyleIdx="1" presStyleCnt="4">
        <dgm:presLayoutVars>
          <dgm:chMax val="1"/>
          <dgm:bulletEnabled val="1"/>
        </dgm:presLayoutVars>
      </dgm:prSet>
      <dgm:spPr/>
      <dgm:t>
        <a:bodyPr/>
        <a:lstStyle/>
        <a:p>
          <a:pPr rtl="1"/>
          <a:endParaRPr lang="he-IL"/>
        </a:p>
      </dgm:t>
    </dgm:pt>
    <dgm:pt modelId="{4C59183A-2E52-4922-8AAB-0CD120D1A96D}" type="pres">
      <dgm:prSet presAssocID="{81D5B673-99AF-4C58-956C-30F45CBD5586}" presName="levelTx" presStyleLbl="revTx" presStyleIdx="0" presStyleCnt="0">
        <dgm:presLayoutVars>
          <dgm:chMax val="1"/>
          <dgm:bulletEnabled val="1"/>
        </dgm:presLayoutVars>
      </dgm:prSet>
      <dgm:spPr/>
      <dgm:t>
        <a:bodyPr/>
        <a:lstStyle/>
        <a:p>
          <a:pPr rtl="1"/>
          <a:endParaRPr lang="he-IL"/>
        </a:p>
      </dgm:t>
    </dgm:pt>
    <dgm:pt modelId="{A45EDDB8-1FC5-4143-94FE-36CFD1148A5E}" type="pres">
      <dgm:prSet presAssocID="{5B8E34DD-E50F-4C49-B3B1-4341E9D6B051}" presName="Name8" presStyleCnt="0"/>
      <dgm:spPr/>
    </dgm:pt>
    <dgm:pt modelId="{874210C7-DBE7-4E93-AF2F-64ECAA718ABA}" type="pres">
      <dgm:prSet presAssocID="{5B8E34DD-E50F-4C49-B3B1-4341E9D6B051}" presName="level" presStyleLbl="node1" presStyleIdx="2" presStyleCnt="4">
        <dgm:presLayoutVars>
          <dgm:chMax val="1"/>
          <dgm:bulletEnabled val="1"/>
        </dgm:presLayoutVars>
      </dgm:prSet>
      <dgm:spPr/>
    </dgm:pt>
    <dgm:pt modelId="{042B80C4-2D03-4314-88A9-C9DCBE1E0592}" type="pres">
      <dgm:prSet presAssocID="{5B8E34DD-E50F-4C49-B3B1-4341E9D6B051}" presName="levelTx" presStyleLbl="revTx" presStyleIdx="0" presStyleCnt="0">
        <dgm:presLayoutVars>
          <dgm:chMax val="1"/>
          <dgm:bulletEnabled val="1"/>
        </dgm:presLayoutVars>
      </dgm:prSet>
      <dgm:spPr/>
    </dgm:pt>
    <dgm:pt modelId="{04D0DA8B-FE1B-4E6E-84BB-48FB07465E47}" type="pres">
      <dgm:prSet presAssocID="{C6B2D5B4-D25E-4FE8-82E4-1CD6A2990E93}" presName="Name8" presStyleCnt="0"/>
      <dgm:spPr/>
    </dgm:pt>
    <dgm:pt modelId="{CE29C06B-8968-43B8-BCD7-96D804A52BBB}" type="pres">
      <dgm:prSet presAssocID="{C6B2D5B4-D25E-4FE8-82E4-1CD6A2990E93}" presName="level" presStyleLbl="node1" presStyleIdx="3" presStyleCnt="4">
        <dgm:presLayoutVars>
          <dgm:chMax val="1"/>
          <dgm:bulletEnabled val="1"/>
        </dgm:presLayoutVars>
      </dgm:prSet>
      <dgm:spPr/>
      <dgm:t>
        <a:bodyPr/>
        <a:lstStyle/>
        <a:p>
          <a:pPr rtl="1"/>
          <a:endParaRPr lang="he-IL"/>
        </a:p>
      </dgm:t>
    </dgm:pt>
    <dgm:pt modelId="{739B2ADD-5DCE-4A54-AB2F-9D6D2F3BAA39}" type="pres">
      <dgm:prSet presAssocID="{C6B2D5B4-D25E-4FE8-82E4-1CD6A2990E93}" presName="levelTx" presStyleLbl="revTx" presStyleIdx="0" presStyleCnt="0">
        <dgm:presLayoutVars>
          <dgm:chMax val="1"/>
          <dgm:bulletEnabled val="1"/>
        </dgm:presLayoutVars>
      </dgm:prSet>
      <dgm:spPr/>
      <dgm:t>
        <a:bodyPr/>
        <a:lstStyle/>
        <a:p>
          <a:pPr rtl="1"/>
          <a:endParaRPr lang="he-IL"/>
        </a:p>
      </dgm:t>
    </dgm:pt>
  </dgm:ptLst>
  <dgm:cxnLst>
    <dgm:cxn modelId="{66D0C72A-ADD1-4E7F-8743-96969BB478E9}" srcId="{720D35F0-8174-460B-91B7-5259B078BD87}" destId="{81D5B673-99AF-4C58-956C-30F45CBD5586}" srcOrd="1" destOrd="0" parTransId="{E27AB79A-574A-4069-9DC2-F0DF479D6A66}" sibTransId="{5B8DF2BA-907C-4877-AC21-D09C8186714E}"/>
    <dgm:cxn modelId="{496EA0AC-6B3C-4EBB-A44D-CECB4F0609CD}" type="presOf" srcId="{C6B2D5B4-D25E-4FE8-82E4-1CD6A2990E93}" destId="{739B2ADD-5DCE-4A54-AB2F-9D6D2F3BAA39}" srcOrd="1" destOrd="0" presId="urn:microsoft.com/office/officeart/2005/8/layout/pyramid1"/>
    <dgm:cxn modelId="{FE704B9F-B49D-4632-837B-034BD6B1C804}" type="presOf" srcId="{C6B2D5B4-D25E-4FE8-82E4-1CD6A2990E93}" destId="{CE29C06B-8968-43B8-BCD7-96D804A52BBB}" srcOrd="0" destOrd="0" presId="urn:microsoft.com/office/officeart/2005/8/layout/pyramid1"/>
    <dgm:cxn modelId="{CB20D98E-4133-4156-B121-C488B1CAC1E6}" type="presOf" srcId="{81D5B673-99AF-4C58-956C-30F45CBD5586}" destId="{7472973C-CF79-4898-91E8-E14622784BB4}" srcOrd="0" destOrd="0" presId="urn:microsoft.com/office/officeart/2005/8/layout/pyramid1"/>
    <dgm:cxn modelId="{728196F3-541C-4E82-AE79-40C13CCCD64C}" type="presOf" srcId="{5F245D62-3699-4326-8C24-96C9D00DD3AC}" destId="{6070D69A-5440-4A89-80EA-AE849A3AF518}" srcOrd="0" destOrd="0" presId="urn:microsoft.com/office/officeart/2005/8/layout/pyramid1"/>
    <dgm:cxn modelId="{398A8CCE-42F6-4F1C-9883-06C4D1A2B37F}" type="presOf" srcId="{5B8E34DD-E50F-4C49-B3B1-4341E9D6B051}" destId="{874210C7-DBE7-4E93-AF2F-64ECAA718ABA}" srcOrd="0" destOrd="0" presId="urn:microsoft.com/office/officeart/2005/8/layout/pyramid1"/>
    <dgm:cxn modelId="{76AACF3C-30AA-4B34-9D03-FED835DCBB06}" srcId="{720D35F0-8174-460B-91B7-5259B078BD87}" destId="{5B8E34DD-E50F-4C49-B3B1-4341E9D6B051}" srcOrd="2" destOrd="0" parTransId="{880BE483-636C-4A06-976B-8C78874EF0F8}" sibTransId="{CD72C910-591E-45D7-8D01-2B83865B49D0}"/>
    <dgm:cxn modelId="{BB92F085-98DE-4309-AAAE-9220D3440141}" type="presOf" srcId="{720D35F0-8174-460B-91B7-5259B078BD87}" destId="{960AB101-0557-4EF3-BF78-5B47B3498D2C}" srcOrd="0" destOrd="0" presId="urn:microsoft.com/office/officeart/2005/8/layout/pyramid1"/>
    <dgm:cxn modelId="{78B8C709-A93D-4230-86E6-E15D289D53A1}" srcId="{720D35F0-8174-460B-91B7-5259B078BD87}" destId="{5F245D62-3699-4326-8C24-96C9D00DD3AC}" srcOrd="0" destOrd="0" parTransId="{65AC23A2-3F54-4864-812A-833BD39436B9}" sibTransId="{2D680DEE-5688-430A-A56F-896B091ADC9C}"/>
    <dgm:cxn modelId="{83026824-C083-462F-9CD8-F5ABCDEEF095}" type="presOf" srcId="{5B8E34DD-E50F-4C49-B3B1-4341E9D6B051}" destId="{042B80C4-2D03-4314-88A9-C9DCBE1E0592}" srcOrd="1" destOrd="0" presId="urn:microsoft.com/office/officeart/2005/8/layout/pyramid1"/>
    <dgm:cxn modelId="{AAEE662E-95EF-4F9A-9AE2-BB736CE6678F}" type="presOf" srcId="{81D5B673-99AF-4C58-956C-30F45CBD5586}" destId="{4C59183A-2E52-4922-8AAB-0CD120D1A96D}" srcOrd="1" destOrd="0" presId="urn:microsoft.com/office/officeart/2005/8/layout/pyramid1"/>
    <dgm:cxn modelId="{8FFA93AE-9B40-45F7-8BF3-043ECB3FBF3D}" type="presOf" srcId="{5F245D62-3699-4326-8C24-96C9D00DD3AC}" destId="{7E623A44-4B05-464C-A676-DC324274F761}" srcOrd="1" destOrd="0" presId="urn:microsoft.com/office/officeart/2005/8/layout/pyramid1"/>
    <dgm:cxn modelId="{58D5BDB9-CC9A-4FCB-8B3C-9B88A63D5780}" srcId="{720D35F0-8174-460B-91B7-5259B078BD87}" destId="{C6B2D5B4-D25E-4FE8-82E4-1CD6A2990E93}" srcOrd="3" destOrd="0" parTransId="{0696B022-DF8B-46A6-8EC9-D6DDAE8B2C30}" sibTransId="{F65D5231-0170-461E-8BA5-E305680C9C22}"/>
    <dgm:cxn modelId="{DEAA688D-962A-4B6E-80E2-8D94488BDAF9}" type="presParOf" srcId="{960AB101-0557-4EF3-BF78-5B47B3498D2C}" destId="{0C8D2B12-AB50-4579-B1E8-A206563DE6F5}" srcOrd="0" destOrd="0" presId="urn:microsoft.com/office/officeart/2005/8/layout/pyramid1"/>
    <dgm:cxn modelId="{8DDE6B24-F668-405C-B26D-8CFD12559167}" type="presParOf" srcId="{0C8D2B12-AB50-4579-B1E8-A206563DE6F5}" destId="{6070D69A-5440-4A89-80EA-AE849A3AF518}" srcOrd="0" destOrd="0" presId="urn:microsoft.com/office/officeart/2005/8/layout/pyramid1"/>
    <dgm:cxn modelId="{65BAC90D-32C1-4D3D-96E8-D71C5C82D09D}" type="presParOf" srcId="{0C8D2B12-AB50-4579-B1E8-A206563DE6F5}" destId="{7E623A44-4B05-464C-A676-DC324274F761}" srcOrd="1" destOrd="0" presId="urn:microsoft.com/office/officeart/2005/8/layout/pyramid1"/>
    <dgm:cxn modelId="{42260F2A-281E-4B70-A1D7-BF4A16EB37C2}" type="presParOf" srcId="{960AB101-0557-4EF3-BF78-5B47B3498D2C}" destId="{E8419DFB-EFE2-4C0F-92CC-47E2CBC070EC}" srcOrd="1" destOrd="0" presId="urn:microsoft.com/office/officeart/2005/8/layout/pyramid1"/>
    <dgm:cxn modelId="{918D52DF-E6F1-4ADB-8AF9-3B34D8B2E8A2}" type="presParOf" srcId="{E8419DFB-EFE2-4C0F-92CC-47E2CBC070EC}" destId="{7472973C-CF79-4898-91E8-E14622784BB4}" srcOrd="0" destOrd="0" presId="urn:microsoft.com/office/officeart/2005/8/layout/pyramid1"/>
    <dgm:cxn modelId="{65EC4C3B-D5E0-4ACA-B14B-8193419B6BB3}" type="presParOf" srcId="{E8419DFB-EFE2-4C0F-92CC-47E2CBC070EC}" destId="{4C59183A-2E52-4922-8AAB-0CD120D1A96D}" srcOrd="1" destOrd="0" presId="urn:microsoft.com/office/officeart/2005/8/layout/pyramid1"/>
    <dgm:cxn modelId="{0A5B3158-1BBD-4DA5-8969-D084564311AF}" type="presParOf" srcId="{960AB101-0557-4EF3-BF78-5B47B3498D2C}" destId="{A45EDDB8-1FC5-4143-94FE-36CFD1148A5E}" srcOrd="2" destOrd="0" presId="urn:microsoft.com/office/officeart/2005/8/layout/pyramid1"/>
    <dgm:cxn modelId="{FFC88683-24A8-4D66-8848-9A2AE15E0469}" type="presParOf" srcId="{A45EDDB8-1FC5-4143-94FE-36CFD1148A5E}" destId="{874210C7-DBE7-4E93-AF2F-64ECAA718ABA}" srcOrd="0" destOrd="0" presId="urn:microsoft.com/office/officeart/2005/8/layout/pyramid1"/>
    <dgm:cxn modelId="{C3BF9EF3-8759-4A4E-898B-9BB6AF2E753F}" type="presParOf" srcId="{A45EDDB8-1FC5-4143-94FE-36CFD1148A5E}" destId="{042B80C4-2D03-4314-88A9-C9DCBE1E0592}" srcOrd="1" destOrd="0" presId="urn:microsoft.com/office/officeart/2005/8/layout/pyramid1"/>
    <dgm:cxn modelId="{06810C0D-5C58-4FAA-8AFC-D32566F6C4CD}" type="presParOf" srcId="{960AB101-0557-4EF3-BF78-5B47B3498D2C}" destId="{04D0DA8B-FE1B-4E6E-84BB-48FB07465E47}" srcOrd="3" destOrd="0" presId="urn:microsoft.com/office/officeart/2005/8/layout/pyramid1"/>
    <dgm:cxn modelId="{3365869F-71BB-4888-848E-FE8468D0ECAD}" type="presParOf" srcId="{04D0DA8B-FE1B-4E6E-84BB-48FB07465E47}" destId="{CE29C06B-8968-43B8-BCD7-96D804A52BBB}" srcOrd="0" destOrd="0" presId="urn:microsoft.com/office/officeart/2005/8/layout/pyramid1"/>
    <dgm:cxn modelId="{2BC1E005-4C6B-421B-A39B-353EFB18073A}" type="presParOf" srcId="{04D0DA8B-FE1B-4E6E-84BB-48FB07465E47}" destId="{739B2ADD-5DCE-4A54-AB2F-9D6D2F3BAA39}"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0D69A-5440-4A89-80EA-AE849A3AF518}">
      <dsp:nvSpPr>
        <dsp:cNvPr id="0" name=""/>
        <dsp:cNvSpPr/>
      </dsp:nvSpPr>
      <dsp:spPr>
        <a:xfrm>
          <a:off x="3047999" y="0"/>
          <a:ext cx="2032000" cy="1354666"/>
        </a:xfrm>
        <a:prstGeom prst="trapezoid">
          <a:avLst>
            <a:gd name="adj" fmla="val 75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rtl="1">
            <a:lnSpc>
              <a:spcPct val="90000"/>
            </a:lnSpc>
            <a:spcBef>
              <a:spcPct val="0"/>
            </a:spcBef>
            <a:spcAft>
              <a:spcPct val="35000"/>
            </a:spcAft>
          </a:pPr>
          <a:endParaRPr lang="he-IL" sz="1100" kern="1200" dirty="0" smtClean="0"/>
        </a:p>
        <a:p>
          <a:pPr lvl="0" algn="ctr" defTabSz="488950" rtl="1">
            <a:lnSpc>
              <a:spcPct val="90000"/>
            </a:lnSpc>
            <a:spcBef>
              <a:spcPct val="0"/>
            </a:spcBef>
            <a:spcAft>
              <a:spcPct val="35000"/>
            </a:spcAft>
          </a:pPr>
          <a:endParaRPr lang="he-IL" sz="1200" b="1" kern="1200" dirty="0" smtClean="0"/>
        </a:p>
        <a:p>
          <a:pPr lvl="0" algn="ctr" defTabSz="488950" rtl="1">
            <a:lnSpc>
              <a:spcPct val="90000"/>
            </a:lnSpc>
            <a:spcBef>
              <a:spcPct val="0"/>
            </a:spcBef>
            <a:spcAft>
              <a:spcPct val="35000"/>
            </a:spcAft>
          </a:pPr>
          <a:r>
            <a:rPr lang="he-IL" sz="2000" b="1" kern="1200" dirty="0" smtClean="0"/>
            <a:t>הזדקנות</a:t>
          </a:r>
        </a:p>
        <a:p>
          <a:pPr lvl="0" algn="ctr" defTabSz="488950" rtl="1">
            <a:lnSpc>
              <a:spcPct val="90000"/>
            </a:lnSpc>
            <a:spcBef>
              <a:spcPct val="0"/>
            </a:spcBef>
            <a:spcAft>
              <a:spcPct val="35000"/>
            </a:spcAft>
          </a:pPr>
          <a:r>
            <a:rPr lang="he-IL" sz="2400" b="1" kern="1200" dirty="0" smtClean="0"/>
            <a:t> מיטבית</a:t>
          </a:r>
          <a:endParaRPr lang="he-IL" sz="2400" b="1" kern="1200" dirty="0"/>
        </a:p>
      </dsp:txBody>
      <dsp:txXfrm>
        <a:off x="3047999" y="0"/>
        <a:ext cx="2032000" cy="1354666"/>
      </dsp:txXfrm>
    </dsp:sp>
    <dsp:sp modelId="{7472973C-CF79-4898-91E8-E14622784BB4}">
      <dsp:nvSpPr>
        <dsp:cNvPr id="0" name=""/>
        <dsp:cNvSpPr/>
      </dsp:nvSpPr>
      <dsp:spPr>
        <a:xfrm>
          <a:off x="2032000" y="1354666"/>
          <a:ext cx="4064000" cy="1354666"/>
        </a:xfrm>
        <a:prstGeom prst="trapezoid">
          <a:avLst>
            <a:gd name="adj" fmla="val 75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rtl="1">
            <a:lnSpc>
              <a:spcPct val="90000"/>
            </a:lnSpc>
            <a:spcBef>
              <a:spcPct val="0"/>
            </a:spcBef>
            <a:spcAft>
              <a:spcPct val="35000"/>
            </a:spcAft>
          </a:pPr>
          <a:r>
            <a:rPr lang="he-IL" sz="3200" kern="1200" dirty="0" smtClean="0"/>
            <a:t>מדידה </a:t>
          </a:r>
          <a:r>
            <a:rPr lang="he-IL" sz="3200" kern="1200" dirty="0" err="1" smtClean="0"/>
            <a:t>ותמרוצים</a:t>
          </a:r>
          <a:r>
            <a:rPr lang="he-IL" sz="3200" kern="1200" dirty="0" smtClean="0"/>
            <a:t> </a:t>
          </a:r>
        </a:p>
      </dsp:txBody>
      <dsp:txXfrm>
        <a:off x="2743199" y="1354666"/>
        <a:ext cx="2641600" cy="1354666"/>
      </dsp:txXfrm>
    </dsp:sp>
    <dsp:sp modelId="{874210C7-DBE7-4E93-AF2F-64ECAA718ABA}">
      <dsp:nvSpPr>
        <dsp:cNvPr id="0" name=""/>
        <dsp:cNvSpPr/>
      </dsp:nvSpPr>
      <dsp:spPr>
        <a:xfrm>
          <a:off x="1015999" y="2709333"/>
          <a:ext cx="6096000" cy="1354666"/>
        </a:xfrm>
        <a:prstGeom prst="trapezoid">
          <a:avLst>
            <a:gd name="adj" fmla="val 75000"/>
          </a:avLst>
        </a:prstGeom>
        <a:solidFill>
          <a:srgbClr val="5EC5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rtl="1">
            <a:lnSpc>
              <a:spcPct val="90000"/>
            </a:lnSpc>
            <a:spcBef>
              <a:spcPct val="0"/>
            </a:spcBef>
            <a:spcAft>
              <a:spcPct val="35000"/>
            </a:spcAft>
          </a:pPr>
          <a:r>
            <a:rPr lang="he-IL" sz="3900" kern="1200" dirty="0" smtClean="0"/>
            <a:t>סל מותאם אישית לבחירה</a:t>
          </a:r>
          <a:endParaRPr lang="he-IL" sz="3900" kern="1200" dirty="0"/>
        </a:p>
      </dsp:txBody>
      <dsp:txXfrm>
        <a:off x="2082799" y="2709333"/>
        <a:ext cx="3962400" cy="1354666"/>
      </dsp:txXfrm>
    </dsp:sp>
    <dsp:sp modelId="{CE29C06B-8968-43B8-BCD7-96D804A52BBB}">
      <dsp:nvSpPr>
        <dsp:cNvPr id="0" name=""/>
        <dsp:cNvSpPr/>
      </dsp:nvSpPr>
      <dsp:spPr>
        <a:xfrm>
          <a:off x="0" y="4064000"/>
          <a:ext cx="8128000" cy="1354666"/>
        </a:xfrm>
        <a:prstGeom prst="trapezoid">
          <a:avLst>
            <a:gd name="adj" fmla="val 75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rtl="1">
            <a:lnSpc>
              <a:spcPct val="90000"/>
            </a:lnSpc>
            <a:spcBef>
              <a:spcPct val="0"/>
            </a:spcBef>
            <a:spcAft>
              <a:spcPct val="35000"/>
            </a:spcAft>
          </a:pPr>
          <a:r>
            <a:rPr lang="he-IL" sz="3900" kern="1200" dirty="0" smtClean="0"/>
            <a:t>שירות מעטפת </a:t>
          </a:r>
        </a:p>
        <a:p>
          <a:pPr lvl="0" algn="ctr" defTabSz="1733550" rtl="1">
            <a:lnSpc>
              <a:spcPct val="90000"/>
            </a:lnSpc>
            <a:spcBef>
              <a:spcPct val="0"/>
            </a:spcBef>
            <a:spcAft>
              <a:spcPct val="35000"/>
            </a:spcAft>
          </a:pPr>
          <a:r>
            <a:rPr lang="he-IL" sz="3900" kern="1200" dirty="0" smtClean="0"/>
            <a:t>קהילה לכולם</a:t>
          </a:r>
          <a:endParaRPr lang="he-IL" sz="3900" kern="1200" dirty="0"/>
        </a:p>
      </dsp:txBody>
      <dsp:txXfrm>
        <a:off x="1422399" y="4064000"/>
        <a:ext cx="5283200" cy="1354666"/>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DD965A69-82C0-4442-9BB5-59E22823CB4C}" type="datetimeFigureOut">
              <a:rPr lang="he-IL" smtClean="0"/>
              <a:t>ב'/אייר/תשפ"ד</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F4C80FDF-E21C-4B95-8DFB-63C8FA336FE7}" type="slidenum">
              <a:rPr lang="he-IL" smtClean="0"/>
              <a:t>‹#›</a:t>
            </a:fld>
            <a:endParaRPr lang="he-IL"/>
          </a:p>
        </p:txBody>
      </p:sp>
    </p:spTree>
    <p:extLst>
      <p:ext uri="{BB962C8B-B14F-4D97-AF65-F5344CB8AC3E}">
        <p14:creationId xmlns:p14="http://schemas.microsoft.com/office/powerpoint/2010/main" val="955491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D6F7011-7461-4C73-AF9E-38C4B06FEE13}" type="datetimeFigureOut">
              <a:rPr lang="he-IL" smtClean="0"/>
              <a:t>ב'/אייר/תשפ"ד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3FB198-B410-4AA9-86F5-D09177D6400A}" type="slidenum">
              <a:rPr lang="he-IL" smtClean="0"/>
              <a:t>‹#›</a:t>
            </a:fld>
            <a:endParaRPr lang="he-IL"/>
          </a:p>
        </p:txBody>
      </p:sp>
    </p:spTree>
    <p:extLst>
      <p:ext uri="{BB962C8B-B14F-4D97-AF65-F5344CB8AC3E}">
        <p14:creationId xmlns:p14="http://schemas.microsoft.com/office/powerpoint/2010/main" val="175250484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ישראל מתקדמת ביחס לעולם המערבי גם בעבר וגם כיום (בריק)</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a:t>
            </a:fld>
            <a:endParaRPr lang="he-IL"/>
          </a:p>
        </p:txBody>
      </p:sp>
    </p:spTree>
    <p:extLst>
      <p:ext uri="{BB962C8B-B14F-4D97-AF65-F5344CB8AC3E}">
        <p14:creationId xmlns:p14="http://schemas.microsoft.com/office/powerpoint/2010/main" val="3409186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smtClean="0"/>
              <a:t>הסיבות העיקריות:</a:t>
            </a:r>
          </a:p>
          <a:p>
            <a:pPr lvl="0">
              <a:spcBef>
                <a:spcPts val="0"/>
              </a:spcBef>
              <a:buNone/>
            </a:pPr>
            <a:r>
              <a:rPr lang="he-IL" dirty="0" smtClean="0"/>
              <a:t>יותר זקנים</a:t>
            </a:r>
          </a:p>
          <a:p>
            <a:pPr lvl="0">
              <a:spcBef>
                <a:spcPts val="0"/>
              </a:spcBef>
              <a:buNone/>
            </a:pPr>
            <a:r>
              <a:rPr lang="he-IL" dirty="0" smtClean="0"/>
              <a:t>הרפורמה</a:t>
            </a:r>
          </a:p>
          <a:p>
            <a:pPr lvl="0">
              <a:spcBef>
                <a:spcPts val="0"/>
              </a:spcBef>
              <a:buNone/>
            </a:pPr>
            <a:r>
              <a:rPr lang="he-IL" dirty="0" smtClean="0"/>
              <a:t>הכרה מורחבת</a:t>
            </a:r>
          </a:p>
          <a:p>
            <a:pPr lvl="0">
              <a:spcBef>
                <a:spcPts val="0"/>
              </a:spcBef>
              <a:buNone/>
            </a:pPr>
            <a:r>
              <a:rPr lang="he-IL" dirty="0" smtClean="0"/>
              <a:t>תמריץ</a:t>
            </a:r>
            <a:r>
              <a:rPr lang="he-IL" baseline="0" dirty="0" smtClean="0"/>
              <a:t> שלילי לאדם ולחברות</a:t>
            </a: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זה הברדק</a:t>
            </a:r>
            <a:r>
              <a:rPr lang="he-IL" baseline="0" dirty="0" smtClean="0"/>
              <a:t> התפעולי בין הגופים</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a:t>
            </a:fld>
            <a:endParaRPr lang="he-IL"/>
          </a:p>
        </p:txBody>
      </p:sp>
    </p:spTree>
    <p:extLst>
      <p:ext uri="{BB962C8B-B14F-4D97-AF65-F5344CB8AC3E}">
        <p14:creationId xmlns:p14="http://schemas.microsoft.com/office/powerpoint/2010/main" val="3645945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זה הברדק ברמת האזרח הוותיק וצרכיו</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6</a:t>
            </a:fld>
            <a:endParaRPr lang="he-IL"/>
          </a:p>
        </p:txBody>
      </p:sp>
    </p:spTree>
    <p:extLst>
      <p:ext uri="{BB962C8B-B14F-4D97-AF65-F5344CB8AC3E}">
        <p14:creationId xmlns:p14="http://schemas.microsoft.com/office/powerpoint/2010/main" val="480680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indent="0" algn="just">
              <a:lnSpc>
                <a:spcPct val="170000"/>
              </a:lnSpc>
              <a:buFont typeface="Arial" panose="020B0604020202020204" pitchFamily="34" charset="0"/>
              <a:buNone/>
            </a:pPr>
            <a:r>
              <a:rPr lang="he-IL" sz="1200" b="1" u="sng" dirty="0" smtClean="0">
                <a:latin typeface="Tahoma" panose="020B0604030504040204" pitchFamily="34" charset="0"/>
                <a:ea typeface="Tahoma" panose="020B0604030504040204" pitchFamily="34" charset="0"/>
                <a:cs typeface="Tahoma" panose="020B0604030504040204" pitchFamily="34" charset="0"/>
              </a:rPr>
              <a:t>הרפורמה ב2018:</a:t>
            </a:r>
          </a:p>
          <a:p>
            <a:pPr marL="171450" indent="-171450" algn="just">
              <a:lnSpc>
                <a:spcPct val="170000"/>
              </a:lnSpc>
              <a:buFont typeface="Arial" panose="020B0604020202020204" pitchFamily="34" charset="0"/>
              <a:buChar char="•"/>
            </a:pPr>
            <a:r>
              <a:rPr lang="he-IL" sz="1200" b="1" dirty="0" smtClean="0">
                <a:latin typeface="Tahoma" panose="020B0604030504040204" pitchFamily="34" charset="0"/>
                <a:ea typeface="Tahoma" panose="020B0604030504040204" pitchFamily="34" charset="0"/>
                <a:cs typeface="Tahoma" panose="020B0604030504040204" pitchFamily="34" charset="0"/>
              </a:rPr>
              <a:t>גמלה </a:t>
            </a:r>
            <a:r>
              <a:rPr lang="he-IL" sz="1200" b="1" dirty="0" smtClean="0">
                <a:latin typeface="Tahoma" panose="020B0604030504040204" pitchFamily="34" charset="0"/>
                <a:ea typeface="Tahoma" panose="020B0604030504040204" pitchFamily="34" charset="0"/>
                <a:cs typeface="Tahoma" panose="020B0604030504040204" pitchFamily="34" charset="0"/>
              </a:rPr>
              <a:t>בכסף</a:t>
            </a:r>
          </a:p>
          <a:p>
            <a:pPr marL="171450" indent="-171450" algn="just">
              <a:lnSpc>
                <a:spcPct val="170000"/>
              </a:lnSpc>
              <a:buFont typeface="Arial" panose="020B0604020202020204" pitchFamily="34" charset="0"/>
              <a:buChar char="•"/>
            </a:pPr>
            <a:r>
              <a:rPr lang="he-IL" sz="1200" b="1" dirty="0" smtClean="0">
                <a:latin typeface="Tahoma" panose="020B0604030504040204" pitchFamily="34" charset="0"/>
                <a:ea typeface="Tahoma" panose="020B0604030504040204" pitchFamily="34" charset="0"/>
                <a:cs typeface="Tahoma" panose="020B0604030504040204" pitchFamily="34" charset="0"/>
              </a:rPr>
              <a:t>ומעבר מ-3 רמות גמלה ל-6 </a:t>
            </a:r>
            <a:r>
              <a:rPr lang="he-IL" sz="1200" b="1" dirty="0" smtClean="0">
                <a:latin typeface="Tahoma" panose="020B0604030504040204" pitchFamily="34" charset="0"/>
                <a:ea typeface="Tahoma" panose="020B0604030504040204" pitchFamily="34" charset="0"/>
                <a:cs typeface="Tahoma" panose="020B0604030504040204" pitchFamily="34" charset="0"/>
              </a:rPr>
              <a:t>רמות.</a:t>
            </a:r>
            <a:endParaRPr lang="he-IL" sz="1200" b="1" dirty="0" smtClean="0">
              <a:latin typeface="Tahoma" panose="020B0604030504040204" pitchFamily="34" charset="0"/>
              <a:ea typeface="Tahoma" panose="020B0604030504040204" pitchFamily="34" charset="0"/>
              <a:cs typeface="Tahoma" panose="020B0604030504040204" pitchFamily="34" charset="0"/>
            </a:endParaRPr>
          </a:p>
          <a:p>
            <a:pPr marL="171450" indent="-171450" algn="just">
              <a:lnSpc>
                <a:spcPct val="170000"/>
              </a:lnSpc>
              <a:buFont typeface="Arial" panose="020B0604020202020204" pitchFamily="34" charset="0"/>
              <a:buChar char="•"/>
            </a:pPr>
            <a:r>
              <a:rPr lang="he-IL" sz="1200" b="1" dirty="0" smtClean="0">
                <a:latin typeface="Tahoma" panose="020B0604030504040204" pitchFamily="34" charset="0"/>
                <a:ea typeface="Tahoma" panose="020B0604030504040204" pitchFamily="34" charset="0"/>
                <a:cs typeface="Tahoma" panose="020B0604030504040204" pitchFamily="34" charset="0"/>
              </a:rPr>
              <a:t>יותר יחידות וכסף</a:t>
            </a:r>
            <a:endParaRPr lang="he-IL" sz="1200" b="1" dirty="0" smtClean="0">
              <a:latin typeface="Tahoma" panose="020B0604030504040204" pitchFamily="34" charset="0"/>
              <a:ea typeface="Tahoma" panose="020B0604030504040204" pitchFamily="34" charset="0"/>
              <a:cs typeface="Tahoma" panose="020B0604030504040204" pitchFamily="34" charset="0"/>
            </a:endParaRPr>
          </a:p>
          <a:p>
            <a:pPr marL="171450" indent="-171450" algn="just">
              <a:lnSpc>
                <a:spcPct val="170000"/>
              </a:lnSpc>
              <a:buFont typeface="Arial" panose="020B0604020202020204" pitchFamily="34" charset="0"/>
              <a:buChar char="•"/>
            </a:pPr>
            <a:r>
              <a:rPr lang="he-IL" sz="1200" b="1" dirty="0" smtClean="0">
                <a:latin typeface="Tahoma" panose="020B0604030504040204" pitchFamily="34" charset="0"/>
                <a:ea typeface="Tahoma" panose="020B0604030504040204" pitchFamily="34" charset="0"/>
                <a:cs typeface="Tahoma" panose="020B0604030504040204" pitchFamily="34" charset="0"/>
              </a:rPr>
              <a:t>יותר הכרה ופחות בחינות פרטניות</a:t>
            </a:r>
          </a:p>
          <a:p>
            <a:pPr marL="171450" indent="-171450" algn="just">
              <a:lnSpc>
                <a:spcPct val="170000"/>
              </a:lnSpc>
              <a:buFont typeface="Arial" panose="020B0604020202020204" pitchFamily="34" charset="0"/>
              <a:buChar char="•"/>
            </a:pPr>
            <a:r>
              <a:rPr lang="he-IL" sz="1200" b="1" dirty="0" smtClean="0">
                <a:latin typeface="Tahoma" panose="020B0604030504040204" pitchFamily="34" charset="0"/>
                <a:ea typeface="Tahoma" panose="020B0604030504040204" pitchFamily="34" charset="0"/>
                <a:cs typeface="Tahoma" panose="020B0604030504040204" pitchFamily="34" charset="0"/>
              </a:rPr>
              <a:t>התאמת השירותים </a:t>
            </a:r>
            <a:r>
              <a:rPr lang="he-IL" sz="1200" b="1" dirty="0" smtClean="0">
                <a:latin typeface="Tahoma" panose="020B0604030504040204" pitchFamily="34" charset="0"/>
                <a:ea typeface="Tahoma" panose="020B0604030504040204" pitchFamily="34" charset="0"/>
                <a:cs typeface="Tahoma" panose="020B0604030504040204" pitchFamily="34" charset="0"/>
              </a:rPr>
              <a:t>לצרכי הזכאים</a:t>
            </a:r>
          </a:p>
          <a:p>
            <a:pPr marL="171450" indent="-171450" algn="just">
              <a:lnSpc>
                <a:spcPct val="170000"/>
              </a:lnSpc>
              <a:buFont typeface="Arial" panose="020B0604020202020204" pitchFamily="34" charset="0"/>
              <a:buChar char="•"/>
            </a:pPr>
            <a:r>
              <a:rPr lang="he-IL" b="1" dirty="0" smtClean="0"/>
              <a:t>בני משפחה </a:t>
            </a:r>
            <a:r>
              <a:rPr lang="he-IL" b="1" dirty="0" smtClean="0"/>
              <a:t>מטפלים בשכר כחלק </a:t>
            </a:r>
            <a:r>
              <a:rPr lang="he-IL" b="1" dirty="0" smtClean="0"/>
              <a:t>מהקורונה</a:t>
            </a:r>
            <a:endParaRPr lang="he-IL" b="1"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10</a:t>
            </a:fld>
            <a:endParaRPr lang="he-IL"/>
          </a:p>
        </p:txBody>
      </p:sp>
    </p:spTree>
    <p:extLst>
      <p:ext uri="{BB962C8B-B14F-4D97-AF65-F5344CB8AC3E}">
        <p14:creationId xmlns:p14="http://schemas.microsoft.com/office/powerpoint/2010/main" val="2022189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0C68-1DE9-A80F-50E1-AD715A79BD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D569414-CAAA-F014-8B80-6CDBE37EA1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5E81DD-31DB-098B-A6CC-3DCC363E34DA}"/>
              </a:ext>
            </a:extLst>
          </p:cNvPr>
          <p:cNvSpPr>
            <a:spLocks noGrp="1"/>
          </p:cNvSpPr>
          <p:nvPr>
            <p:ph type="body" idx="1"/>
          </p:nvPr>
        </p:nvSpPr>
        <p:spPr/>
        <p:txBody>
          <a:bodyPr/>
          <a:lstStyle/>
          <a:p>
            <a:endParaRPr lang="he-IL" b="1" dirty="0"/>
          </a:p>
        </p:txBody>
      </p:sp>
      <p:sp>
        <p:nvSpPr>
          <p:cNvPr id="4" name="מציין מיקום של מספר שקופית 3">
            <a:extLst>
              <a:ext uri="{FF2B5EF4-FFF2-40B4-BE49-F238E27FC236}">
                <a16:creationId xmlns:a16="http://schemas.microsoft.com/office/drawing/2014/main" id="{6FB01D4C-E335-7B92-54BA-330655ED1DAB}"/>
              </a:ext>
            </a:extLst>
          </p:cNvPr>
          <p:cNvSpPr>
            <a:spLocks noGrp="1"/>
          </p:cNvSpPr>
          <p:nvPr>
            <p:ph type="sldNum" sz="quarter" idx="5"/>
          </p:nvPr>
        </p:nvSpPr>
        <p:spPr/>
        <p:txBody>
          <a:bodyPr/>
          <a:lstStyle/>
          <a:p>
            <a:fld id="{94496DA2-19AA-4126-B875-46CF6FBC0E07}" type="slidenum">
              <a:rPr lang="he-IL" smtClean="0"/>
              <a:t>12</a:t>
            </a:fld>
            <a:endParaRPr lang="he-IL"/>
          </a:p>
        </p:txBody>
      </p:sp>
    </p:spTree>
    <p:extLst>
      <p:ext uri="{BB962C8B-B14F-4D97-AF65-F5344CB8AC3E}">
        <p14:creationId xmlns:p14="http://schemas.microsoft.com/office/powerpoint/2010/main" val="569331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a:t>מבחינת הנשים – צפויות לחיות בגיל 65 יותר זמן, 22.4 שנים (גיל 87.4), אבל שיעור נמוך יותר מהחיים שלהן בבריאות טובה: 10.6 שנים או 47%</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334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a:t>עכשיו לנתונים:</a:t>
            </a:r>
          </a:p>
          <a:p>
            <a:pPr algn="r" rtl="1"/>
            <a:r>
              <a:rPr lang="he-IL"/>
              <a:t>קודם כל – תוחלת חיים מחושבת בנפרד לגברים ולנשים (לדייק מדוע)</a:t>
            </a:r>
          </a:p>
          <a:p>
            <a:pPr algn="r" rtl="1"/>
            <a:r>
              <a:rPr lang="he-IL"/>
              <a:t>אנחנו יכולים לראות שבגיל 65, גבר ישראלי היה צפוי לחיות עוד כמעט 20 שנה. מהם 11.2 שנים בבריאות (כלומר ללא מוגבלות) ועד 8.7 שנים במוגבלות. </a:t>
            </a:r>
          </a:p>
          <a:p>
            <a:pPr algn="r" rtl="1"/>
            <a:r>
              <a:rPr lang="he-IL"/>
              <a:t>במבט </a:t>
            </a:r>
            <a:r>
              <a:rPr lang="he-IL" err="1"/>
              <a:t>הסטורי</a:t>
            </a:r>
            <a:r>
              <a:rPr lang="he-IL"/>
              <a:t> אנחנו רואים שיש עליה קלה גם בתוחלת החיים  בכלל וגם בתוחלת החיים הבריאה. </a:t>
            </a:r>
          </a:p>
          <a:p>
            <a:pPr algn="r" rtl="1"/>
            <a:endParaRPr lang="he-IL"/>
          </a:p>
          <a:p>
            <a:pPr algn="r" rtl="1"/>
            <a:r>
              <a:rPr lang="he-IL"/>
              <a:t>את המדד של שנות החיים הבריאים, אנחנו מציעים להציג כאחוז השנים הבריאות בגיל 65 – כלומר מדד שישקף את כל הפרמטרים המוצגים כאן, ויציין את היחס בין השנים הבריאות לסך תוחלת החיים בגיל 65, ולציין גם את מספרן, על מנת שהדבר יהיה ברור. </a:t>
            </a:r>
          </a:p>
          <a:p>
            <a:pPr algn="r" rtl="1"/>
            <a:r>
              <a:rPr lang="he-IL"/>
              <a:t>כלומר גבר צפוי לחיות בגיל 65 11.2 שנים בבריאות טובה, וזה מהווה 56% מחייו </a:t>
            </a:r>
          </a:p>
          <a:p>
            <a:pPr algn="r" rtl="1"/>
            <a:r>
              <a:rPr lang="he-IL"/>
              <a:t>(אם זה מדכא אתכם, חכו שנגיע לנשים....)</a:t>
            </a:r>
          </a:p>
          <a:p>
            <a:pPr algn="r" rtl="1"/>
            <a:endParaRPr lang="he-IL"/>
          </a:p>
          <a:p>
            <a:pPr algn="r" rtl="1"/>
            <a:r>
              <a:rPr lang="he-IL"/>
              <a:t>במבט בין לאומי – אנחנו רואים את היתרון של הגברים בישראל מבחינת תוחלת החיים הגבוהה (2 כאן, 4 בעולם?), אבל גם את העובדה שרק קצת יותר מחצי מהחיים בזקנה הם בבריאות טובה.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4282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ADL</a:t>
            </a:r>
            <a:r>
              <a:rPr lang="en-US"/>
              <a:t> index () describes the number of limitations with activities of daily living. </a:t>
            </a:r>
            <a:r>
              <a:rPr lang="he-IL"/>
              <a:t> </a:t>
            </a:r>
          </a:p>
          <a:p>
            <a:r>
              <a:rPr lang="en-US" sz="1200" b="0" i="0" u="none" strike="noStrike" kern="1200">
                <a:solidFill>
                  <a:schemeClr val="tx1"/>
                </a:solidFill>
                <a:effectLst/>
                <a:latin typeface="+mn-lt"/>
                <a:ea typeface="+mn-ea"/>
                <a:cs typeface="+mn-cs"/>
              </a:rPr>
              <a:t>Dressing, including putting on shoes and socks</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Walking across a room</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Bathing or showering</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Eating, such as cutting up your food</a:t>
            </a:r>
            <a:r>
              <a:rPr lang="en-US"/>
              <a:t> </a:t>
            </a:r>
            <a:endParaRPr lang="he-IL"/>
          </a:p>
          <a:p>
            <a:r>
              <a:rPr lang="en-US" sz="1200" b="0" i="0" u="none" strike="noStrike" kern="1200">
                <a:solidFill>
                  <a:schemeClr val="tx1"/>
                </a:solidFill>
                <a:effectLst/>
                <a:latin typeface="+mn-lt"/>
                <a:ea typeface="+mn-ea"/>
                <a:cs typeface="+mn-cs"/>
              </a:rPr>
              <a:t>Getting in or out of bed</a:t>
            </a:r>
            <a:r>
              <a:rPr lang="en-US"/>
              <a:t> </a:t>
            </a:r>
            <a:endParaRPr lang="he-IL"/>
          </a:p>
          <a:p>
            <a:r>
              <a:rPr lang="en-US" sz="1200" b="0" i="0" u="none" strike="noStrike" kern="1200">
                <a:solidFill>
                  <a:schemeClr val="tx1"/>
                </a:solidFill>
                <a:effectLst/>
                <a:latin typeface="+mn-lt"/>
                <a:ea typeface="+mn-ea"/>
                <a:cs typeface="+mn-cs"/>
              </a:rPr>
              <a:t>Using the toilet, including getting up or down</a:t>
            </a:r>
            <a:r>
              <a:rPr lang="en-US"/>
              <a:t> </a:t>
            </a:r>
            <a:endParaRPr lang="he-IL"/>
          </a:p>
          <a:p>
            <a:endParaRPr lang="he-IL"/>
          </a:p>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1637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857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להזכיר בכמה מילים את הגרסה הראשונה והתנגדות </a:t>
            </a:r>
            <a:r>
              <a:rPr lang="he-IL" dirty="0" err="1" smtClean="0"/>
              <a:t>בטל"א</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23</a:t>
            </a:fld>
            <a:endParaRPr lang="he-IL"/>
          </a:p>
        </p:txBody>
      </p:sp>
    </p:spTree>
    <p:extLst>
      <p:ext uri="{BB962C8B-B14F-4D97-AF65-F5344CB8AC3E}">
        <p14:creationId xmlns:p14="http://schemas.microsoft.com/office/powerpoint/2010/main" val="2739033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632191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4173743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שירותי רווחה ובריאות ניתנים</a:t>
            </a:r>
            <a:r>
              <a:rPr lang="he-IL" baseline="0" dirty="0" smtClean="0"/>
              <a:t> כמעט בחינם, בגיל 80 נצפה שהזקן יתחיל לשלם?</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26</a:t>
            </a:fld>
            <a:endParaRPr lang="he-IL"/>
          </a:p>
        </p:txBody>
      </p:sp>
    </p:spTree>
    <p:extLst>
      <p:ext uri="{BB962C8B-B14F-4D97-AF65-F5344CB8AC3E}">
        <p14:creationId xmlns:p14="http://schemas.microsoft.com/office/powerpoint/2010/main" val="4186361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1" dirty="0" smtClean="0"/>
              <a:t>לחלק</a:t>
            </a:r>
            <a:r>
              <a:rPr lang="he-IL" b="1" baseline="0" dirty="0" smtClean="0"/>
              <a:t> הזה חיכיתי שנתיים- האני מאמין שלי</a:t>
            </a:r>
            <a:endParaRPr lang="he-IL" b="1"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30</a:t>
            </a:fld>
            <a:endParaRPr lang="he-IL"/>
          </a:p>
        </p:txBody>
      </p:sp>
    </p:spTree>
    <p:extLst>
      <p:ext uri="{BB962C8B-B14F-4D97-AF65-F5344CB8AC3E}">
        <p14:creationId xmlns:p14="http://schemas.microsoft.com/office/powerpoint/2010/main" val="2322342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3225519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תגבור עם כ50</a:t>
            </a:r>
            <a:r>
              <a:rPr lang="he-IL" baseline="0" dirty="0"/>
              <a:t> קהילות תומכות, מטב עם 16 ולאחר מכן </a:t>
            </a:r>
            <a:r>
              <a:rPr lang="he-IL" baseline="0" dirty="0" err="1"/>
              <a:t>סקיולייף</a:t>
            </a:r>
            <a:r>
              <a:rPr lang="he-IL" baseline="0" dirty="0"/>
              <a:t> ואנוש.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FC9C1F-3FD7-4D5E-8930-577CB67D6D4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38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37</a:t>
            </a:fld>
            <a:endParaRPr lang="he-IL" dirty="0"/>
          </a:p>
        </p:txBody>
      </p:sp>
    </p:spTree>
    <p:extLst>
      <p:ext uri="{BB962C8B-B14F-4D97-AF65-F5344CB8AC3E}">
        <p14:creationId xmlns:p14="http://schemas.microsoft.com/office/powerpoint/2010/main" val="1844736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smtClean="0"/>
              <a:t>80% </a:t>
            </a:r>
            <a:r>
              <a:rPr lang="en-US" baseline="0" dirty="0" smtClean="0"/>
              <a:t> </a:t>
            </a:r>
            <a:r>
              <a:rPr lang="he-IL" baseline="0" dirty="0" smtClean="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39</a:t>
            </a:fld>
            <a:endParaRPr lang="he-IL"/>
          </a:p>
        </p:txBody>
      </p:sp>
    </p:spTree>
    <p:extLst>
      <p:ext uri="{BB962C8B-B14F-4D97-AF65-F5344CB8AC3E}">
        <p14:creationId xmlns:p14="http://schemas.microsoft.com/office/powerpoint/2010/main" val="1390653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0BFE6C6-84E2-6FAF-5BFB-ECA910DE7C5B}"/>
            </a:ext>
          </a:extLst>
        </p:cNvPr>
        <p:cNvGrpSpPr/>
        <p:nvPr/>
      </p:nvGrpSpPr>
      <p:grpSpPr>
        <a:xfrm>
          <a:off x="0" y="0"/>
          <a:ext cx="0" cy="0"/>
          <a:chOff x="0" y="0"/>
          <a:chExt cx="0" cy="0"/>
        </a:xfrm>
      </p:grpSpPr>
      <p:sp>
        <p:nvSpPr>
          <p:cNvPr id="95" name="Google Shape;95;p34:notes">
            <a:extLst>
              <a:ext uri="{FF2B5EF4-FFF2-40B4-BE49-F238E27FC236}">
                <a16:creationId xmlns:a16="http://schemas.microsoft.com/office/drawing/2014/main" id="{E1DC9C91-9730-007E-1D53-4405580CB5FD}"/>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96" name="Google Shape;96;p34:notes">
            <a:extLst>
              <a:ext uri="{FF2B5EF4-FFF2-40B4-BE49-F238E27FC236}">
                <a16:creationId xmlns:a16="http://schemas.microsoft.com/office/drawing/2014/main" id="{DD10A8BA-1919-9A10-2410-955B5242AA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6735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544B234C-4CBE-BCBB-B618-C006F511D26C}"/>
            </a:ext>
          </a:extLst>
        </p:cNvPr>
        <p:cNvGrpSpPr/>
        <p:nvPr/>
      </p:nvGrpSpPr>
      <p:grpSpPr>
        <a:xfrm>
          <a:off x="0" y="0"/>
          <a:ext cx="0" cy="0"/>
          <a:chOff x="0" y="0"/>
          <a:chExt cx="0" cy="0"/>
        </a:xfrm>
      </p:grpSpPr>
      <p:sp>
        <p:nvSpPr>
          <p:cNvPr id="95" name="Google Shape;95;p34:notes">
            <a:extLst>
              <a:ext uri="{FF2B5EF4-FFF2-40B4-BE49-F238E27FC236}">
                <a16:creationId xmlns:a16="http://schemas.microsoft.com/office/drawing/2014/main" id="{5005AE9E-BC9A-21FC-03EE-EB9AF94EFBC7}"/>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algn="r" rtl="1">
              <a:lnSpc>
                <a:spcPct val="150000"/>
              </a:lnSpc>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כחלק מהביזור המשרד ייתן ערך מוסף לעבודת הרשויות המקומיות:</a:t>
            </a:r>
          </a:p>
          <a:p>
            <a:pPr algn="r" rtl="1">
              <a:lnSpc>
                <a:spcPct val="150000"/>
              </a:lnSpc>
              <a:defRPr/>
            </a:pPr>
            <a:endParaRPr lang="he-IL">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marL="285750" indent="-285750" algn="r" rtl="1">
              <a:lnSpc>
                <a:spcPct val="150000"/>
              </a:lnSpc>
              <a:buFont typeface="Arial" panose="020B0604020202020204" pitchFamily="34" charset="0"/>
              <a:buChar char="•"/>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כלים מבוססי דאטה לעבודה מיטבית שמאפשרים לדייק את הטיפול בפרט </a:t>
            </a:r>
          </a:p>
          <a:p>
            <a:pPr marL="285750" indent="-285750" algn="r" rtl="1">
              <a:lnSpc>
                <a:spcPct val="150000"/>
              </a:lnSpc>
              <a:buFont typeface="Arial" panose="020B0604020202020204" pitchFamily="34" charset="0"/>
              <a:buChar char="•"/>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תכנון תקציבי מבוזר </a:t>
            </a:r>
          </a:p>
          <a:p>
            <a:pPr marL="0" lvl="0" indent="0" algn="l" rtl="0">
              <a:lnSpc>
                <a:spcPct val="117999"/>
              </a:lnSpc>
              <a:spcBef>
                <a:spcPts val="0"/>
              </a:spcBef>
              <a:spcAft>
                <a:spcPts val="0"/>
              </a:spcAft>
              <a:buSzPts val="1400"/>
              <a:buNone/>
            </a:pPr>
            <a:endParaRPr/>
          </a:p>
        </p:txBody>
      </p:sp>
      <p:sp>
        <p:nvSpPr>
          <p:cNvPr id="96" name="Google Shape;96;p34:notes">
            <a:extLst>
              <a:ext uri="{FF2B5EF4-FFF2-40B4-BE49-F238E27FC236}">
                <a16:creationId xmlns:a16="http://schemas.microsoft.com/office/drawing/2014/main" id="{9CE02FE1-49CE-6196-A266-32A3A8C774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1020747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88862D9-E127-438C-862D-D0EBBF3999FF}" type="slidenum">
              <a:rPr lang="en-IL" smtClean="0"/>
              <a:t>44</a:t>
            </a:fld>
            <a:endParaRPr lang="en-IL"/>
          </a:p>
        </p:txBody>
      </p:sp>
    </p:spTree>
    <p:extLst>
      <p:ext uri="{BB962C8B-B14F-4D97-AF65-F5344CB8AC3E}">
        <p14:creationId xmlns:p14="http://schemas.microsoft.com/office/powerpoint/2010/main" val="2450332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47</a:t>
            </a:fld>
            <a:endParaRPr lang="en-IL"/>
          </a:p>
        </p:txBody>
      </p:sp>
    </p:spTree>
    <p:extLst>
      <p:ext uri="{BB962C8B-B14F-4D97-AF65-F5344CB8AC3E}">
        <p14:creationId xmlns:p14="http://schemas.microsoft.com/office/powerpoint/2010/main" val="3688380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48</a:t>
            </a:fld>
            <a:endParaRPr lang="en-IL"/>
          </a:p>
        </p:txBody>
      </p:sp>
    </p:spTree>
    <p:extLst>
      <p:ext uri="{BB962C8B-B14F-4D97-AF65-F5344CB8AC3E}">
        <p14:creationId xmlns:p14="http://schemas.microsoft.com/office/powerpoint/2010/main" val="21966078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highlight>
                <a:srgbClr val="FFFF00"/>
              </a:highlight>
            </a:endParaRPr>
          </a:p>
        </p:txBody>
      </p:sp>
      <p:sp>
        <p:nvSpPr>
          <p:cNvPr id="4" name="Slide Number Placeholder 3"/>
          <p:cNvSpPr>
            <a:spLocks noGrp="1"/>
          </p:cNvSpPr>
          <p:nvPr>
            <p:ph type="sldNum" sz="quarter" idx="5"/>
          </p:nvPr>
        </p:nvSpPr>
        <p:spPr/>
        <p:txBody>
          <a:bodyPr/>
          <a:lstStyle/>
          <a:p>
            <a:fld id="{E9331071-0531-4F61-A5A0-E22B891BF691}" type="slidenum">
              <a:rPr lang="en-IL" smtClean="0"/>
              <a:t>49</a:t>
            </a:fld>
            <a:endParaRPr lang="en-IL"/>
          </a:p>
        </p:txBody>
      </p:sp>
    </p:spTree>
    <p:extLst>
      <p:ext uri="{BB962C8B-B14F-4D97-AF65-F5344CB8AC3E}">
        <p14:creationId xmlns:p14="http://schemas.microsoft.com/office/powerpoint/2010/main" val="1528463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50</a:t>
            </a:fld>
            <a:endParaRPr lang="en-IL"/>
          </a:p>
        </p:txBody>
      </p:sp>
    </p:spTree>
    <p:extLst>
      <p:ext uri="{BB962C8B-B14F-4D97-AF65-F5344CB8AC3E}">
        <p14:creationId xmlns:p14="http://schemas.microsoft.com/office/powerpoint/2010/main" val="5130263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לבקש   הערות לדיוקים ותוספות.</a:t>
            </a:r>
          </a:p>
          <a:p>
            <a:pPr algn="r" rtl="1"/>
            <a:r>
              <a:rPr lang="he-IL" dirty="0"/>
              <a:t>למשל להגדיר מי זה אפס בקהל היעד.</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800" kern="100" dirty="0">
                <a:effectLst/>
                <a:latin typeface="Calibri" panose="020F0502020204030204" pitchFamily="34" charset="0"/>
                <a:ea typeface="Calibri" panose="020F0502020204030204" pitchFamily="34" charset="0"/>
                <a:cs typeface="Calibri" panose="020F0502020204030204" pitchFamily="34" charset="0"/>
              </a:rPr>
              <a:t>**לציין שתהליך גיבוש התפיסה היא בתהליך בנייה מתמשך- לדיוקים ובעיקר לתוספות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302337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4F111D-1B66-4DA0-981B-C49F100C5A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692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435563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6860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41021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9126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55005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1810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942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87230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7009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368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578280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77948173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727725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E7DFC797-BCA0-4F6A-92BD-42AF0FAA3EB4}"/>
              </a:ext>
            </a:extLst>
          </p:cNvPr>
          <p:cNvSpPr>
            <a:spLocks noGrp="1"/>
          </p:cNvSpPr>
          <p:nvPr>
            <p:ph type="body" sz="quarter" idx="10" hasCustomPrompt="1"/>
          </p:nvPr>
        </p:nvSpPr>
        <p:spPr>
          <a:xfrm>
            <a:off x="340336" y="260961"/>
            <a:ext cx="9384235" cy="592268"/>
          </a:xfrm>
        </p:spPr>
        <p:txBody>
          <a:bodyPr anchor="ctr" anchorCtr="0">
            <a:normAutofit/>
          </a:bodyPr>
          <a:lstStyle>
            <a:lvl1pPr marL="0" indent="0">
              <a:buFontTx/>
              <a:buNone/>
              <a:defRPr sz="3200" b="1">
                <a:solidFill>
                  <a:srgbClr val="000000"/>
                </a:solidFill>
                <a:latin typeface="+mj-lt"/>
              </a:defRPr>
            </a:lvl1pPr>
          </a:lstStyle>
          <a:p>
            <a:pPr lvl="0"/>
            <a:r>
              <a:rPr lang="en-US" dirty="0"/>
              <a:t>Click To Edit Master Text Styles</a:t>
            </a:r>
          </a:p>
        </p:txBody>
      </p:sp>
      <p:sp>
        <p:nvSpPr>
          <p:cNvPr id="9" name="Rounded Rectangle 9">
            <a:extLst>
              <a:ext uri="{FF2B5EF4-FFF2-40B4-BE49-F238E27FC236}">
                <a16:creationId xmlns:a16="http://schemas.microsoft.com/office/drawing/2014/main" id="{C0200EDE-BFB7-4872-9956-3A7E1C596FAD}"/>
              </a:ext>
            </a:extLst>
          </p:cNvPr>
          <p:cNvSpPr/>
          <p:nvPr userDrawn="1"/>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594646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996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83341703"/>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17645140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0734219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220604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6012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6533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80434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42832335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591171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23754687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ב'/אייר/תשפ"ד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7932690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0620596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1783293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897534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2594200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89825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a:off x="9850821" y="0"/>
            <a:ext cx="2385848" cy="6858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74" name="Picture 2" descr="How To Make Pancakes (Easiest From-Scratch Recipe) | Kitch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51988" y="3924246"/>
            <a:ext cx="2240012" cy="279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8866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1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604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53128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084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2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52547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1185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4099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3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159660" y="-5140829"/>
            <a:ext cx="1872680"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Picture 2" descr="Baking a Security Layer Cake for K-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940800" y="70422"/>
            <a:ext cx="3124603" cy="175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7571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9702632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1629675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6593694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34183464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46150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10996659"/>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2414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639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898042163"/>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4845677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01679657"/>
      </p:ext>
    </p:extLst>
  </p:cSld>
  <p:clrMapOvr>
    <a:masterClrMapping/>
  </p:clrMapOvr>
  <p:transition spd="slow">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ב'/אייר/תשפ"ד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7530074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1077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7458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551779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06549"/>
      </p:ext>
    </p:extLst>
  </p:cSld>
  <p:clrMapOvr>
    <a:masterClrMapping/>
  </p:clrMapOvr>
  <p:transition>
    <p:fade/>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73987835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8152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C2380-D8BE-4758-764C-5D0A1A1B4C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77F82F0A-2E1B-2B43-768B-DB6E929927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69764B73-4D1C-033D-A719-B725D2474C4A}"/>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771C915E-5C47-EA05-93A0-CDEA946572D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B7AF196-4E86-812B-450D-D8C352544235}"/>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8412707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8CB7-9C03-F780-9004-9ECA4EC1A92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A5B692B-68EE-2EF8-FEB9-234D501C34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8C14990-102C-F3C5-CC26-BA7B5DA05162}"/>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625CF595-83A1-566D-FD03-C659023E21E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A5C1E4F-6AA1-D913-6628-FA0ACD1A0DFC}"/>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9900323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47C46-594A-699B-4EB3-85D7D7E84E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8D13427-384C-FF0F-5BF1-FDAD09C96D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E67B3E-3BDD-8103-D6F7-DCF6C25A62E7}"/>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B002D92B-A5C8-22CF-F5A3-1D6B0D6E816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3570BB8-16EE-8B76-5349-1202739B716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5157525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C45BF-0216-6999-242D-BB838E93B41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74CA3E6E-4891-1431-119F-83819F1C07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69166EA1-5CF6-F526-71BD-72C59557BC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2DA52C2C-78C0-D802-6D80-E357059BC3C7}"/>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6" name="Footer Placeholder 5">
            <a:extLst>
              <a:ext uri="{FF2B5EF4-FFF2-40B4-BE49-F238E27FC236}">
                <a16:creationId xmlns:a16="http://schemas.microsoft.com/office/drawing/2014/main" id="{57846EF9-51B8-483C-E6F6-38160565993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E0F78E8-8D1B-9ACF-0284-A2575B34D97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20114140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BF39A-0273-2B37-F77E-00AB01E57C3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EDD032F-4875-B96F-F677-E8282BBA6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A514E3-8DCB-A207-6675-4C6B3547AA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D83CEFF0-D6A3-E6A5-D7FD-4CC9512247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69572D-79AB-0574-B96D-2D34866680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A7B22292-9EEA-B19F-7216-7CE10100EB91}"/>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8" name="Footer Placeholder 7">
            <a:extLst>
              <a:ext uri="{FF2B5EF4-FFF2-40B4-BE49-F238E27FC236}">
                <a16:creationId xmlns:a16="http://schemas.microsoft.com/office/drawing/2014/main" id="{0902B6DB-1D99-CDFD-BE22-36DB42A853C0}"/>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AB9BF876-1224-7050-4651-9EEC0168453E}"/>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28252561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2A752-D695-92E1-E21B-2CCEEB25F1E4}"/>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77C5AA6-5CD2-AC13-8B3D-C7BD6809603B}"/>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4" name="Footer Placeholder 3">
            <a:extLst>
              <a:ext uri="{FF2B5EF4-FFF2-40B4-BE49-F238E27FC236}">
                <a16:creationId xmlns:a16="http://schemas.microsoft.com/office/drawing/2014/main" id="{2FD3278C-458C-04CE-AA3C-0F2E0643E28F}"/>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6528E55A-591B-C6C9-0F3C-844E96FE7F5A}"/>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71330578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BF37E-E950-88E7-8BF6-DF33E0413948}"/>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3" name="Footer Placeholder 2">
            <a:extLst>
              <a:ext uri="{FF2B5EF4-FFF2-40B4-BE49-F238E27FC236}">
                <a16:creationId xmlns:a16="http://schemas.microsoft.com/office/drawing/2014/main" id="{888D9C50-7C9F-50B7-3346-804BE9B2E2D3}"/>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66F0E530-AFB8-05E6-AF3E-05AFB1504073}"/>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47459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CE435-A2A3-CB60-2F2F-475432D452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BD8B693-1005-FED4-C374-3FDE234DA6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64F54FD-75AD-A285-9BB5-A81BCA2E4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870BE8-3035-0511-049C-0D436D4DC468}"/>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6" name="Footer Placeholder 5">
            <a:extLst>
              <a:ext uri="{FF2B5EF4-FFF2-40B4-BE49-F238E27FC236}">
                <a16:creationId xmlns:a16="http://schemas.microsoft.com/office/drawing/2014/main" id="{413C5A6B-4487-3629-B5BC-E8E5A6AA6CD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1706875E-7DE4-8DA7-AD11-565436146FF5}"/>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12159916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4E74B-F1BA-769A-E021-69A94BA82E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53169B46-2948-182F-EF18-82B9D58452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75F4DF9B-2B87-023F-CE0F-618CBCF1E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0001DD-664A-6D65-5DCA-6081BDFBFABC}"/>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6" name="Footer Placeholder 5">
            <a:extLst>
              <a:ext uri="{FF2B5EF4-FFF2-40B4-BE49-F238E27FC236}">
                <a16:creationId xmlns:a16="http://schemas.microsoft.com/office/drawing/2014/main" id="{71FFDD64-3DCD-F967-889F-44B9CE1305C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9E71CC6-AD9F-8E8C-E4CA-69E4358B171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1539314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B868-3B0B-ECEA-A3B0-E686AB573706}"/>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7575FC5-A698-F2B7-B468-F321A07678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B7B450F-D512-7AC0-F0D6-8B31A93999EF}"/>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072FA3F9-B923-AE0A-77DC-59F36231A66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59AF959-AA03-D781-C843-72EA16AF61D4}"/>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40182947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D2131F-9781-20D0-B241-BAFA74336F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A449967-92FB-5282-8884-E0EBCA98C2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3086458-A849-E91B-B788-83BC43DFA98B}"/>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425423BF-B998-5791-980F-F908D04168D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323EED8-E7D4-5ECB-7D00-E6F9023F480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2892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2.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6"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theme" Target="../theme/theme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873549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 id="2147483688" r:id="rId15"/>
    <p:sldLayoutId id="2147483689" r:id="rId16"/>
    <p:sldLayoutId id="2147483703" r:id="rId17"/>
    <p:sldLayoutId id="2147483704" r:id="rId18"/>
    <p:sldLayoutId id="2147483705" r:id="rId19"/>
    <p:sldLayoutId id="2147483706" r:id="rId20"/>
    <p:sldLayoutId id="2147483707" r:id="rId2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69160815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1ADDDE0-F1A9-41B4-86DC-E77A023621AA}" type="slidenum">
              <a:rPr lang="he-IL" smtClean="0"/>
              <a:t>‹#›</a:t>
            </a:fld>
            <a:endParaRPr lang="he-IL"/>
          </a:p>
        </p:txBody>
      </p:sp>
    </p:spTree>
    <p:extLst>
      <p:ext uri="{BB962C8B-B14F-4D97-AF65-F5344CB8AC3E}">
        <p14:creationId xmlns:p14="http://schemas.microsoft.com/office/powerpoint/2010/main" val="90105600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63788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3E0E55-5966-44E5-CB4B-EF51F5AF61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C0309B5-F86F-1634-7850-E74717823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C1717E3-9107-91BA-CC70-5879A5173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094327C3-2342-AD97-A9CE-61D007A53D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63742C5D-EED8-B4A6-F9F8-462FF01C3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DCA44E-2ADE-44FA-8298-8822ECEE41B1}" type="slidenum">
              <a:rPr lang="en-IL" smtClean="0"/>
              <a:t>‹#›</a:t>
            </a:fld>
            <a:endParaRPr lang="en-IL"/>
          </a:p>
        </p:txBody>
      </p:sp>
    </p:spTree>
    <p:extLst>
      <p:ext uri="{BB962C8B-B14F-4D97-AF65-F5344CB8AC3E}">
        <p14:creationId xmlns:p14="http://schemas.microsoft.com/office/powerpoint/2010/main" val="23550450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0.xml"/><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7.png"/><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1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1.png"/><Relationship Id="rId21" Type="http://schemas.openxmlformats.org/officeDocument/2006/relationships/image" Target="../media/image39.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notesSlide" Target="../notesSlides/notesSlide12.xml"/><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 Id="rId22" Type="http://schemas.openxmlformats.org/officeDocument/2006/relationships/image" Target="../media/image40.png"/></Relationships>
</file>

<file path=ppt/slides/_rels/slide2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image" Target="../media/image43.png"/><Relationship Id="rId12" Type="http://schemas.openxmlformats.org/officeDocument/2006/relationships/image" Target="../media/image47.jpeg"/><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image" Target="../media/image42.png"/><Relationship Id="rId11" Type="http://schemas.openxmlformats.org/officeDocument/2006/relationships/image" Target="../media/image40.png"/><Relationship Id="rId5" Type="http://schemas.openxmlformats.org/officeDocument/2006/relationships/image" Target="../media/image37.png"/><Relationship Id="rId10" Type="http://schemas.openxmlformats.org/officeDocument/2006/relationships/image" Target="../media/image46.png"/><Relationship Id="rId4" Type="http://schemas.microsoft.com/office/2007/relationships/hdphoto" Target="../media/hdphoto1.wdp"/><Relationship Id="rId9"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6.png"/><Relationship Id="rId7" Type="http://schemas.openxmlformats.org/officeDocument/2006/relationships/diagramColors" Target="../diagrams/colors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1.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26.xml"/><Relationship Id="rId6" Type="http://schemas.openxmlformats.org/officeDocument/2006/relationships/image" Target="../media/image91.svg"/><Relationship Id="rId5" Type="http://schemas.openxmlformats.org/officeDocument/2006/relationships/image" Target="../media/image58.png"/><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44.xml"/><Relationship Id="rId5" Type="http://schemas.openxmlformats.org/officeDocument/2006/relationships/image" Target="../media/image61.png"/><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8.xml"/><Relationship Id="rId6" Type="http://schemas.openxmlformats.org/officeDocument/2006/relationships/image" Target="../media/image91.svg"/><Relationship Id="rId5" Type="http://schemas.openxmlformats.org/officeDocument/2006/relationships/image" Target="../media/image58.png"/><Relationship Id="rId4" Type="http://schemas.openxmlformats.org/officeDocument/2006/relationships/image" Target="../media/image62.png"/></Relationships>
</file>

<file path=ppt/slides/_rels/slide40.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3.png"/><Relationship Id="rId7" Type="http://schemas.openxmlformats.org/officeDocument/2006/relationships/image" Target="../media/image66.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65.png"/><Relationship Id="rId5" Type="http://schemas.microsoft.com/office/2007/relationships/hdphoto" Target="../media/hdphoto2.wdp"/><Relationship Id="rId4" Type="http://schemas.openxmlformats.org/officeDocument/2006/relationships/image" Target="../media/image64.png"/></Relationships>
</file>

<file path=ppt/slides/_rels/slide4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3.png"/><Relationship Id="rId7"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65.png"/><Relationship Id="rId5" Type="http://schemas.microsoft.com/office/2007/relationships/hdphoto" Target="../media/hdphoto2.wdp"/><Relationship Id="rId4" Type="http://schemas.openxmlformats.org/officeDocument/2006/relationships/image" Target="../media/image64.png"/><Relationship Id="rId9" Type="http://schemas.openxmlformats.org/officeDocument/2006/relationships/image" Target="../media/image70.png"/></Relationships>
</file>

<file path=ppt/slides/_rels/slide4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4.xml"/></Relationships>
</file>

<file path=ppt/slides/_rels/slide4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4.xml"/></Relationships>
</file>

<file path=ppt/slides/_rels/slide4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75.jpeg"/><Relationship Id="rId5" Type="http://schemas.openxmlformats.org/officeDocument/2006/relationships/image" Target="../media/image74.png"/><Relationship Id="rId4" Type="http://schemas.openxmlformats.org/officeDocument/2006/relationships/image" Target="../media/image73.jpeg"/></Relationships>
</file>

<file path=ppt/slides/_rels/slide4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80.png"/></Relationships>
</file>

<file path=ppt/slides/_rels/slide47.xml.rels><?xml version="1.0" encoding="UTF-8" standalone="yes"?>
<Relationships xmlns="http://schemas.openxmlformats.org/package/2006/relationships"><Relationship Id="rId8" Type="http://schemas.openxmlformats.org/officeDocument/2006/relationships/image" Target="../media/image85.jpeg"/><Relationship Id="rId3" Type="http://schemas.openxmlformats.org/officeDocument/2006/relationships/image" Target="../media/image81.jpeg"/><Relationship Id="rId7" Type="http://schemas.openxmlformats.org/officeDocument/2006/relationships/image" Target="../media/image84.png"/><Relationship Id="rId2" Type="http://schemas.openxmlformats.org/officeDocument/2006/relationships/notesSlide" Target="../notesSlides/notesSlide24.xml"/><Relationship Id="rId1" Type="http://schemas.openxmlformats.org/officeDocument/2006/relationships/slideLayout" Target="../slideLayouts/slideLayout14.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2.png"/><Relationship Id="rId9" Type="http://schemas.openxmlformats.org/officeDocument/2006/relationships/image" Target="../media/image86.jpeg"/></Relationships>
</file>

<file path=ppt/slides/_rels/slide48.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image" Target="../media/image90.jpg"/><Relationship Id="rId5" Type="http://schemas.openxmlformats.org/officeDocument/2006/relationships/image" Target="../media/image89.jpg"/><Relationship Id="rId10" Type="http://schemas.openxmlformats.org/officeDocument/2006/relationships/image" Target="../media/image94.png"/><Relationship Id="rId4" Type="http://schemas.openxmlformats.org/officeDocument/2006/relationships/image" Target="../media/image88.png"/><Relationship Id="rId9" Type="http://schemas.openxmlformats.org/officeDocument/2006/relationships/image" Target="../media/image93.png"/></Relationships>
</file>

<file path=ppt/slides/_rels/slide4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docs.google.com/forms/d/e/1FAIpQLSeo4dfbT6VuxqA6KX_Nu0E1YNekSSZFeY-RRL9la6abVmkd2Q/viewform" TargetMode="External"/><Relationship Id="rId7" Type="http://schemas.openxmlformats.org/officeDocument/2006/relationships/image" Target="../media/image99.png"/><Relationship Id="rId2" Type="http://schemas.openxmlformats.org/officeDocument/2006/relationships/notesSlide" Target="../notesSlides/notesSlide27.xml"/><Relationship Id="rId1" Type="http://schemas.openxmlformats.org/officeDocument/2006/relationships/slideLayout" Target="../slideLayouts/slideLayout14.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79.svg"/><Relationship Id="rId5" Type="http://schemas.openxmlformats.org/officeDocument/2006/relationships/image" Target="../media/image101.png"/><Relationship Id="rId4" Type="http://schemas.openxmlformats.org/officeDocument/2006/relationships/image" Target="../media/image78.svg"/></Relationships>
</file>

<file path=ppt/slides/_rels/slide53.xml.rels><?xml version="1.0" encoding="UTF-8" standalone="yes"?>
<Relationships xmlns="http://schemas.openxmlformats.org/package/2006/relationships"><Relationship Id="rId8" Type="http://schemas.openxmlformats.org/officeDocument/2006/relationships/image" Target="../media/image85.svg"/><Relationship Id="rId3" Type="http://schemas.openxmlformats.org/officeDocument/2006/relationships/image" Target="../media/image102.png"/><Relationship Id="rId7" Type="http://schemas.openxmlformats.org/officeDocument/2006/relationships/image" Target="../media/image104.png"/><Relationship Id="rId2" Type="http://schemas.openxmlformats.org/officeDocument/2006/relationships/notesSlide" Target="../notesSlides/notesSlide29.xml"/><Relationship Id="rId1" Type="http://schemas.openxmlformats.org/officeDocument/2006/relationships/slideLayout" Target="../slideLayouts/slideLayout17.xml"/><Relationship Id="rId6" Type="http://schemas.openxmlformats.org/officeDocument/2006/relationships/image" Target="../media/image83.svg"/><Relationship Id="rId5" Type="http://schemas.openxmlformats.org/officeDocument/2006/relationships/image" Target="../media/image103.png"/><Relationship Id="rId4" Type="http://schemas.openxmlformats.org/officeDocument/2006/relationships/image" Target="../media/image81.svg"/></Relationships>
</file>

<file path=ppt/slides/_rels/slide5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1.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3A8A34-8E95-4761-8ACE-97368FE7CAE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 b="-1"/>
          <a:stretch/>
        </p:blipFill>
        <p:spPr>
          <a:xfrm>
            <a:off x="0" y="0"/>
            <a:ext cx="12192000" cy="6858000"/>
          </a:xfrm>
          <a:prstGeom prst="rect">
            <a:avLst/>
          </a:prstGeom>
        </p:spPr>
      </p:pic>
      <p:pic>
        <p:nvPicPr>
          <p:cNvPr id="4" name="Picture 2" descr="סמל מדינת ישראל – ויקיפדיה">
            <a:extLst>
              <a:ext uri="{FF2B5EF4-FFF2-40B4-BE49-F238E27FC236}">
                <a16:creationId xmlns:a16="http://schemas.microsoft.com/office/drawing/2014/main" id="{C4C9262C-B50B-4DDF-A8CC-F0BC81F9A4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7231" y="18002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קובץ:Ministry of Labor, Social Affairs and Social Services ...">
            <a:extLst>
              <a:ext uri="{FF2B5EF4-FFF2-40B4-BE49-F238E27FC236}">
                <a16:creationId xmlns:a16="http://schemas.microsoft.com/office/drawing/2014/main" id="{417C9674-EA89-45FD-8F19-3A311B2CFAB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362" y="203077"/>
            <a:ext cx="2136568" cy="5825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1">
            <a:extLst>
              <a:ext uri="{FF2B5EF4-FFF2-40B4-BE49-F238E27FC236}">
                <a16:creationId xmlns:a16="http://schemas.microsoft.com/office/drawing/2014/main" id="{0CFF6A6F-DA81-2985-5E52-420671A00C0E}"/>
              </a:ext>
            </a:extLst>
          </p:cNvPr>
          <p:cNvSpPr/>
          <p:nvPr/>
        </p:nvSpPr>
        <p:spPr>
          <a:xfrm>
            <a:off x="8304824" y="-5235"/>
            <a:ext cx="3884604" cy="6857999"/>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p:txBody>
      </p:sp>
      <p:sp>
        <p:nvSpPr>
          <p:cNvPr id="21" name="Rectangle 2">
            <a:extLst>
              <a:ext uri="{FF2B5EF4-FFF2-40B4-BE49-F238E27FC236}">
                <a16:creationId xmlns:a16="http://schemas.microsoft.com/office/drawing/2014/main" id="{CB6768FB-DD51-A127-0D57-B54B87C252B4}"/>
              </a:ext>
            </a:extLst>
          </p:cNvPr>
          <p:cNvSpPr/>
          <p:nvPr/>
        </p:nvSpPr>
        <p:spPr>
          <a:xfrm>
            <a:off x="5411399" y="1887039"/>
            <a:ext cx="6096000" cy="4401205"/>
          </a:xfrm>
          <a:prstGeom prst="rect">
            <a:avLst/>
          </a:prstGeom>
        </p:spPr>
        <p:txBody>
          <a:bodyPr>
            <a:spAutoFit/>
          </a:bodyPr>
          <a:lstStyle/>
          <a:p>
            <a:pPr lvl="0" algn="r" rtl="1">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רקע ותמונת מצב </a:t>
            </a:r>
            <a:endPar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endParaRPr>
          </a:p>
          <a:p>
            <a:pPr lvl="0" algn="r" rtl="1">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האתגר </a:t>
            </a: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ומה נעשה עד כה</a:t>
            </a:r>
          </a:p>
          <a:p>
            <a:pPr lvl="0" algn="r" rtl="1">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ההזדמנות </a:t>
            </a: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לשינוי בסיעוד</a:t>
            </a:r>
          </a:p>
          <a:p>
            <a:pPr lvl="0" algn="r" rtl="1">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מהלכים וכיוונים קדימה</a:t>
            </a:r>
            <a:endPar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endParaRPr>
          </a:p>
          <a:p>
            <a:pPr>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נתונים </a:t>
            </a:r>
          </a:p>
          <a:p>
            <a:pPr>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זמן </a:t>
            </a: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לשאלות</a:t>
            </a:r>
          </a:p>
          <a:p>
            <a:pPr lvl="0" algn="r" rtl="1">
              <a:lnSpc>
                <a:spcPct val="200000"/>
              </a:lnSpc>
              <a:defRPr/>
            </a:pPr>
            <a:endPar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endParaRPr>
          </a:p>
        </p:txBody>
      </p:sp>
      <p:cxnSp>
        <p:nvCxnSpPr>
          <p:cNvPr id="23" name="Straight Connector 8">
            <a:extLst>
              <a:ext uri="{FF2B5EF4-FFF2-40B4-BE49-F238E27FC236}">
                <a16:creationId xmlns:a16="http://schemas.microsoft.com/office/drawing/2014/main" id="{110DC787-51C2-E8D7-C0A8-268B6D481B42}"/>
              </a:ext>
            </a:extLst>
          </p:cNvPr>
          <p:cNvCxnSpPr>
            <a:cxnSpLocks/>
            <a:stCxn id="26" idx="4"/>
          </p:cNvCxnSpPr>
          <p:nvPr/>
        </p:nvCxnSpPr>
        <p:spPr>
          <a:xfrm>
            <a:off x="11667048" y="2441539"/>
            <a:ext cx="8597" cy="2944415"/>
          </a:xfrm>
          <a:prstGeom prst="line">
            <a:avLst/>
          </a:prstGeom>
          <a:ln w="38100">
            <a:solidFill>
              <a:srgbClr val="3F5D76"/>
            </a:solidFill>
          </a:ln>
        </p:spPr>
        <p:style>
          <a:lnRef idx="1">
            <a:schemeClr val="accent1"/>
          </a:lnRef>
          <a:fillRef idx="0">
            <a:schemeClr val="accent1"/>
          </a:fillRef>
          <a:effectRef idx="0">
            <a:schemeClr val="accent1"/>
          </a:effectRef>
          <a:fontRef idx="minor">
            <a:schemeClr val="tx1"/>
          </a:fontRef>
        </p:style>
      </p:cxnSp>
      <p:sp>
        <p:nvSpPr>
          <p:cNvPr id="24" name="Oval 3">
            <a:extLst>
              <a:ext uri="{FF2B5EF4-FFF2-40B4-BE49-F238E27FC236}">
                <a16:creationId xmlns:a16="http://schemas.microsoft.com/office/drawing/2014/main" id="{C6B90D2A-56C6-3C8C-2626-B7E6089292FB}"/>
              </a:ext>
            </a:extLst>
          </p:cNvPr>
          <p:cNvSpPr/>
          <p:nvPr/>
        </p:nvSpPr>
        <p:spPr>
          <a:xfrm>
            <a:off x="11541048" y="2798871"/>
            <a:ext cx="252000" cy="2520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5" name="Oval 5">
            <a:extLst>
              <a:ext uri="{FF2B5EF4-FFF2-40B4-BE49-F238E27FC236}">
                <a16:creationId xmlns:a16="http://schemas.microsoft.com/office/drawing/2014/main" id="{D798832D-0DBD-6E87-872F-28DBD5045E60}"/>
              </a:ext>
            </a:extLst>
          </p:cNvPr>
          <p:cNvSpPr/>
          <p:nvPr/>
        </p:nvSpPr>
        <p:spPr>
          <a:xfrm>
            <a:off x="11541048" y="3408203"/>
            <a:ext cx="252000" cy="25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6" name="Oval 7">
            <a:extLst>
              <a:ext uri="{FF2B5EF4-FFF2-40B4-BE49-F238E27FC236}">
                <a16:creationId xmlns:a16="http://schemas.microsoft.com/office/drawing/2014/main" id="{641F3CBF-5927-ABD6-A432-443DCE04B3F8}"/>
              </a:ext>
            </a:extLst>
          </p:cNvPr>
          <p:cNvSpPr/>
          <p:nvPr/>
        </p:nvSpPr>
        <p:spPr>
          <a:xfrm>
            <a:off x="11541048" y="2189539"/>
            <a:ext cx="252000" cy="25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7" name="Oval 12">
            <a:extLst>
              <a:ext uri="{FF2B5EF4-FFF2-40B4-BE49-F238E27FC236}">
                <a16:creationId xmlns:a16="http://schemas.microsoft.com/office/drawing/2014/main" id="{8A8D4CAD-25E1-79B3-9CD9-F5EFFF5C8BAA}"/>
              </a:ext>
            </a:extLst>
          </p:cNvPr>
          <p:cNvSpPr/>
          <p:nvPr/>
        </p:nvSpPr>
        <p:spPr>
          <a:xfrm>
            <a:off x="11541048" y="4017535"/>
            <a:ext cx="252000" cy="25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8" name="Oval 9">
            <a:extLst>
              <a:ext uri="{FF2B5EF4-FFF2-40B4-BE49-F238E27FC236}">
                <a16:creationId xmlns:a16="http://schemas.microsoft.com/office/drawing/2014/main" id="{45C90494-62D2-599F-30EA-7652EE4A3D67}"/>
              </a:ext>
            </a:extLst>
          </p:cNvPr>
          <p:cNvSpPr/>
          <p:nvPr/>
        </p:nvSpPr>
        <p:spPr>
          <a:xfrm>
            <a:off x="11549645" y="4626867"/>
            <a:ext cx="252000" cy="252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9" name="מלבן 28">
            <a:extLst>
              <a:ext uri="{FF2B5EF4-FFF2-40B4-BE49-F238E27FC236}">
                <a16:creationId xmlns:a16="http://schemas.microsoft.com/office/drawing/2014/main" id="{943C13C5-DA7B-1F3B-6E30-B027F30A39C7}"/>
              </a:ext>
            </a:extLst>
          </p:cNvPr>
          <p:cNvSpPr/>
          <p:nvPr/>
        </p:nvSpPr>
        <p:spPr>
          <a:xfrm>
            <a:off x="2852961" y="5085798"/>
            <a:ext cx="6096000" cy="461665"/>
          </a:xfrm>
          <a:prstGeom prst="rect">
            <a:avLst/>
          </a:prstGeom>
        </p:spPr>
        <p:txBody>
          <a:bodyPr>
            <a:spAutoFit/>
          </a:bodyPr>
          <a:lstStyle/>
          <a:p>
            <a:pPr algn="ctr"/>
            <a:endParaRPr lang="he-IL" sz="2400" b="1" dirty="0">
              <a:solidFill>
                <a:srgbClr val="FFF8E5"/>
              </a:solidFill>
            </a:endParaRPr>
          </a:p>
        </p:txBody>
      </p:sp>
      <p:sp>
        <p:nvSpPr>
          <p:cNvPr id="30" name="מלבן 29">
            <a:extLst>
              <a:ext uri="{FF2B5EF4-FFF2-40B4-BE49-F238E27FC236}">
                <a16:creationId xmlns:a16="http://schemas.microsoft.com/office/drawing/2014/main" id="{901BC5B6-E979-0A2C-3403-04EDD64FB464}"/>
              </a:ext>
            </a:extLst>
          </p:cNvPr>
          <p:cNvSpPr/>
          <p:nvPr/>
        </p:nvSpPr>
        <p:spPr>
          <a:xfrm>
            <a:off x="8140110" y="203077"/>
            <a:ext cx="4214031" cy="1877437"/>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he-IL" sz="4400" b="1" kern="0" dirty="0" smtClean="0">
                <a:solidFill>
                  <a:schemeClr val="bg1"/>
                </a:solidFill>
                <a:latin typeface="+mj-lt"/>
                <a:ea typeface="+mj-ea"/>
              </a:rPr>
              <a:t>חוק סיעוד</a:t>
            </a:r>
          </a:p>
          <a:p>
            <a:pPr marL="0" marR="0" lvl="0" indent="0" algn="ctr" defTabSz="914400" eaLnBrk="1" fontAlgn="auto" latinLnBrk="0" hangingPunct="1">
              <a:lnSpc>
                <a:spcPct val="100000"/>
              </a:lnSpc>
              <a:spcBef>
                <a:spcPts val="0"/>
              </a:spcBef>
              <a:spcAft>
                <a:spcPts val="0"/>
              </a:spcAft>
              <a:buClrTx/>
              <a:buSzTx/>
              <a:buFontTx/>
              <a:buNone/>
              <a:tabLst/>
              <a:defRPr/>
            </a:pPr>
            <a:r>
              <a:rPr lang="he-IL" sz="3600" b="1" kern="0" dirty="0" smtClean="0">
                <a:solidFill>
                  <a:schemeClr val="bg1"/>
                </a:solidFill>
                <a:latin typeface="+mj-lt"/>
                <a:ea typeface="+mj-ea"/>
              </a:rPr>
              <a:t>הבעיות וההזדמנות </a:t>
            </a:r>
            <a:r>
              <a:rPr lang="he-IL" sz="3600" b="1" kern="0" dirty="0" smtClean="0">
                <a:solidFill>
                  <a:schemeClr val="bg1"/>
                </a:solidFill>
                <a:latin typeface="+mj-lt"/>
                <a:ea typeface="+mj-ea"/>
              </a:rPr>
              <a:t>לשינוי</a:t>
            </a:r>
            <a:endParaRPr lang="he-IL" sz="3600" b="1" kern="0" dirty="0">
              <a:solidFill>
                <a:schemeClr val="bg1"/>
              </a:solidFill>
              <a:latin typeface="+mj-lt"/>
              <a:ea typeface="+mj-ea"/>
            </a:endParaRPr>
          </a:p>
        </p:txBody>
      </p:sp>
      <p:sp>
        <p:nvSpPr>
          <p:cNvPr id="31" name="Oval 9">
            <a:extLst>
              <a:ext uri="{FF2B5EF4-FFF2-40B4-BE49-F238E27FC236}">
                <a16:creationId xmlns:a16="http://schemas.microsoft.com/office/drawing/2014/main" id="{C44003DF-7173-ABEA-A639-89EF7933062D}"/>
              </a:ext>
            </a:extLst>
          </p:cNvPr>
          <p:cNvSpPr/>
          <p:nvPr/>
        </p:nvSpPr>
        <p:spPr>
          <a:xfrm>
            <a:off x="11541048" y="5200724"/>
            <a:ext cx="252000" cy="252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32" name="תיבת טקסט 31">
            <a:extLst>
              <a:ext uri="{FF2B5EF4-FFF2-40B4-BE49-F238E27FC236}">
                <a16:creationId xmlns:a16="http://schemas.microsoft.com/office/drawing/2014/main" id="{42EDC273-11FF-3182-DC87-A939D0E32708}"/>
              </a:ext>
            </a:extLst>
          </p:cNvPr>
          <p:cNvSpPr txBox="1"/>
          <p:nvPr/>
        </p:nvSpPr>
        <p:spPr>
          <a:xfrm>
            <a:off x="4306427" y="3826459"/>
            <a:ext cx="4759937" cy="1852815"/>
          </a:xfrm>
          <a:prstGeom prst="rect">
            <a:avLst/>
          </a:prstGeom>
          <a:noFill/>
        </p:spPr>
        <p:txBody>
          <a:bodyPr wrap="square">
            <a:spAutoFit/>
          </a:bodyPr>
          <a:lstStyle/>
          <a:p>
            <a:pPr>
              <a:lnSpc>
                <a:spcPct val="200000"/>
              </a:lnSpc>
              <a:defRPr/>
            </a:pPr>
            <a:endParaRPr lang="he-IL" sz="2000" b="1" dirty="0" smtClean="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a:p>
            <a:pPr>
              <a:lnSpc>
                <a:spcPct val="200000"/>
              </a:lnSpc>
              <a:defRPr/>
            </a:pP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 </a:t>
            </a: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8735572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algn="ctr">
              <a:defRPr/>
            </a:pPr>
            <a:r>
              <a:rPr kumimoji="0" lang="he-IL" sz="4400" b="1" i="0" u="none" strike="noStrike" kern="1200" cap="none" spc="0" normalizeH="0" baseline="0" noProof="0" dirty="0">
                <a:ln>
                  <a:noFill/>
                </a:ln>
                <a:solidFill>
                  <a:prstClr val="black"/>
                </a:solidFill>
                <a:effectLst/>
                <a:uLnTx/>
                <a:uFillTx/>
                <a:latin typeface="Calibri"/>
                <a:ea typeface="+mj-ea"/>
                <a:cs typeface="Calibri"/>
              </a:rPr>
              <a:t>מטרות </a:t>
            </a:r>
            <a:r>
              <a:rPr kumimoji="0" lang="he-IL" sz="4400" b="1" i="0" u="none" strike="noStrike" kern="1200" cap="none" spc="0" normalizeH="0" baseline="0" noProof="0" dirty="0" smtClean="0">
                <a:ln>
                  <a:noFill/>
                </a:ln>
                <a:solidFill>
                  <a:prstClr val="black"/>
                </a:solidFill>
                <a:effectLst/>
                <a:uLnTx/>
                <a:uFillTx/>
                <a:latin typeface="Calibri"/>
                <a:ea typeface="+mj-ea"/>
                <a:cs typeface="Calibri"/>
              </a:rPr>
              <a:t>חוק סיעוד </a:t>
            </a:r>
            <a:r>
              <a:rPr lang="he-IL" sz="1600" dirty="0" smtClean="0">
                <a:solidFill>
                  <a:schemeClr val="accent6"/>
                </a:solidFill>
              </a:rPr>
              <a:t>1980</a:t>
            </a:r>
            <a:endParaRPr lang="he-IL" sz="4400" dirty="0">
              <a:solidFill>
                <a:schemeClr val="accent6"/>
              </a:solidFill>
            </a:endParaRPr>
          </a:p>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smtClean="0">
                <a:ln>
                  <a:noFill/>
                </a:ln>
                <a:solidFill>
                  <a:prstClr val="black"/>
                </a:solidFill>
                <a:effectLst/>
                <a:uLnTx/>
                <a:uFillTx/>
                <a:latin typeface="Calibri"/>
                <a:ea typeface="+mj-ea"/>
                <a:cs typeface="Calibri"/>
              </a:rPr>
              <a:t> </a:t>
            </a:r>
            <a:endParaRPr kumimoji="0" lang="en-CA" sz="1200" b="1" i="0" u="none" strike="noStrike" kern="1200" cap="all" spc="0" normalizeH="0" baseline="0" noProof="0" dirty="0">
              <a:ln>
                <a:noFill/>
              </a:ln>
              <a:solidFill>
                <a:srgbClr val="2F3A46"/>
              </a:solidFill>
              <a:effectLst/>
              <a:uLnTx/>
              <a:uFillTx/>
              <a:latin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550077" y="1326613"/>
            <a:ext cx="3123207" cy="2496121"/>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עצמאות ותפקוד בקהילה</a:t>
            </a:r>
            <a:endPar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p:txBody>
      </p:sp>
      <p:sp>
        <p:nvSpPr>
          <p:cNvPr id="11" name="Circle">
            <a:extLst>
              <a:ext uri="{FF2B5EF4-FFF2-40B4-BE49-F238E27FC236}">
                <a16:creationId xmlns:a16="http://schemas.microsoft.com/office/drawing/2014/main" id="{BFA8BC08-2983-6C41-BCDA-7939F0275991}"/>
              </a:ext>
            </a:extLst>
          </p:cNvPr>
          <p:cNvSpPr/>
          <p:nvPr/>
        </p:nvSpPr>
        <p:spPr>
          <a:xfrm>
            <a:off x="3169888" y="1333041"/>
            <a:ext cx="3021591" cy="2563584"/>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2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חיים בכבוד ובביטחון </a:t>
            </a:r>
            <a:endPar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p:txBody>
      </p:sp>
      <p:sp>
        <p:nvSpPr>
          <p:cNvPr id="12" name="Circle">
            <a:extLst>
              <a:ext uri="{FF2B5EF4-FFF2-40B4-BE49-F238E27FC236}">
                <a16:creationId xmlns:a16="http://schemas.microsoft.com/office/drawing/2014/main" id="{34F19EA4-628E-134F-AE5C-15E847C2E5B4}"/>
              </a:ext>
            </a:extLst>
          </p:cNvPr>
          <p:cNvSpPr/>
          <p:nvPr/>
        </p:nvSpPr>
        <p:spPr>
          <a:xfrm>
            <a:off x="2000186" y="3193696"/>
            <a:ext cx="2932361" cy="2393184"/>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lang="he-IL" sz="2800" b="1" dirty="0" smtClean="0">
              <a:solidFill>
                <a:srgbClr val="4B2C50"/>
              </a:solidFill>
              <a:latin typeface="Calibri" panose="020F0502020204030204" pitchFamily="34" charset="0"/>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lang="he-IL" sz="2800" b="1" dirty="0" smtClean="0">
                <a:solidFill>
                  <a:srgbClr val="4B2C50"/>
                </a:solidFill>
                <a:latin typeface="Calibri" panose="020F0502020204030204" pitchFamily="34" charset="0"/>
                <a:cs typeface="Calibri" panose="020F0502020204030204" pitchFamily="34" charset="0"/>
              </a:rPr>
              <a:t>מערך </a:t>
            </a:r>
            <a:r>
              <a:rPr lang="he-IL" sz="2800" b="1" dirty="0" smtClean="0">
                <a:solidFill>
                  <a:srgbClr val="4B2C50"/>
                </a:solidFill>
                <a:latin typeface="Calibri" panose="020F0502020204030204" pitchFamily="34" charset="0"/>
                <a:cs typeface="Calibri" panose="020F0502020204030204" pitchFamily="34" charset="0"/>
              </a:rPr>
              <a:t>שירותי סיעוד תומך ונגיש</a:t>
            </a:r>
            <a:endParaRPr kumimoji="0" lang="he-IL" sz="2800" b="1" i="0" u="none" strike="noStrike" kern="1200" cap="none" spc="0" normalizeH="0" baseline="0" noProof="0" dirty="0">
              <a:ln>
                <a:noFill/>
              </a:ln>
              <a:solidFill>
                <a:srgbClr val="4B2C50"/>
              </a:solidFill>
              <a:effectLst/>
              <a:uLnTx/>
              <a:uFillTx/>
              <a:latin typeface="Calibri" panose="020F0502020204030204" pitchFamily="34" charset="0"/>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2" name="מלבן 1"/>
          <p:cNvSpPr/>
          <p:nvPr/>
        </p:nvSpPr>
        <p:spPr>
          <a:xfrm>
            <a:off x="5756747" y="3896625"/>
            <a:ext cx="5973339" cy="2523768"/>
          </a:xfrm>
          <a:prstGeom prst="rect">
            <a:avLst/>
          </a:prstGeom>
        </p:spPr>
        <p:txBody>
          <a:bodyPr wrap="square">
            <a:spAutoFit/>
          </a:bodyPr>
          <a:lstStyle/>
          <a:p>
            <a:endParaRPr lang="he-IL" b="1" dirty="0" smtClean="0">
              <a:solidFill>
                <a:schemeClr val="accent6"/>
              </a:solidFill>
            </a:endParaRPr>
          </a:p>
          <a:p>
            <a:r>
              <a:rPr lang="he-IL" b="1" dirty="0" smtClean="0">
                <a:solidFill>
                  <a:schemeClr val="accent6"/>
                </a:solidFill>
              </a:rPr>
              <a:t>המטרות בחוק </a:t>
            </a:r>
            <a:r>
              <a:rPr lang="he-IL" b="1" dirty="0">
                <a:solidFill>
                  <a:schemeClr val="accent6"/>
                </a:solidFill>
              </a:rPr>
              <a:t>גמלת </a:t>
            </a:r>
            <a:r>
              <a:rPr lang="he-IL" b="1" dirty="0" smtClean="0">
                <a:solidFill>
                  <a:schemeClr val="accent6"/>
                </a:solidFill>
              </a:rPr>
              <a:t>הסיעוד:</a:t>
            </a:r>
          </a:p>
          <a:p>
            <a:endParaRPr lang="he-IL" sz="1050" dirty="0"/>
          </a:p>
          <a:p>
            <a:pPr>
              <a:lnSpc>
                <a:spcPct val="150000"/>
              </a:lnSpc>
            </a:pPr>
            <a:r>
              <a:rPr lang="he-IL" b="1" dirty="0" smtClean="0">
                <a:solidFill>
                  <a:schemeClr val="accent6"/>
                </a:solidFill>
              </a:rPr>
              <a:t>1</a:t>
            </a:r>
            <a:r>
              <a:rPr lang="he-IL" b="1" dirty="0">
                <a:solidFill>
                  <a:schemeClr val="accent6"/>
                </a:solidFill>
              </a:rPr>
              <a:t>. הבטחת חיים בכבוד ובביטחון כלכלי </a:t>
            </a:r>
            <a:r>
              <a:rPr lang="he-IL" b="1" dirty="0" smtClean="0">
                <a:solidFill>
                  <a:schemeClr val="accent6"/>
                </a:solidFill>
              </a:rPr>
              <a:t>לזקנים </a:t>
            </a:r>
            <a:r>
              <a:rPr lang="he-IL" b="1" dirty="0">
                <a:solidFill>
                  <a:schemeClr val="accent6"/>
                </a:solidFill>
              </a:rPr>
              <a:t>הזקוקים </a:t>
            </a:r>
            <a:r>
              <a:rPr lang="he-IL" b="1" dirty="0" smtClean="0">
                <a:solidFill>
                  <a:schemeClr val="accent6"/>
                </a:solidFill>
              </a:rPr>
              <a:t>לסיוע.</a:t>
            </a:r>
            <a:endParaRPr lang="he-IL" dirty="0">
              <a:solidFill>
                <a:schemeClr val="accent6"/>
              </a:solidFill>
            </a:endParaRPr>
          </a:p>
          <a:p>
            <a:pPr>
              <a:lnSpc>
                <a:spcPct val="150000"/>
              </a:lnSpc>
            </a:pPr>
            <a:r>
              <a:rPr lang="he-IL" b="1" dirty="0">
                <a:solidFill>
                  <a:schemeClr val="accent6"/>
                </a:solidFill>
              </a:rPr>
              <a:t>2. עידוד עצמאות ותפקוד בקהילה של זקנים.</a:t>
            </a:r>
            <a:endParaRPr lang="he-IL" dirty="0">
              <a:solidFill>
                <a:schemeClr val="accent6"/>
              </a:solidFill>
            </a:endParaRPr>
          </a:p>
          <a:p>
            <a:pPr>
              <a:lnSpc>
                <a:spcPct val="150000"/>
              </a:lnSpc>
            </a:pPr>
            <a:r>
              <a:rPr lang="he-IL" b="1" dirty="0">
                <a:solidFill>
                  <a:schemeClr val="accent6"/>
                </a:solidFill>
              </a:rPr>
              <a:t>3. פיתוח מערכת שירותי סיעוד איכותית </a:t>
            </a:r>
            <a:r>
              <a:rPr lang="he-IL" b="1" dirty="0" smtClean="0">
                <a:solidFill>
                  <a:schemeClr val="accent6"/>
                </a:solidFill>
              </a:rPr>
              <a:t>ונגישה לכולם.</a:t>
            </a:r>
          </a:p>
          <a:p>
            <a:pPr>
              <a:lnSpc>
                <a:spcPct val="150000"/>
              </a:lnSpc>
            </a:pPr>
            <a:r>
              <a:rPr lang="he-IL" dirty="0" smtClean="0">
                <a:solidFill>
                  <a:schemeClr val="accent6"/>
                </a:solidFill>
              </a:rPr>
              <a:t>מקור</a:t>
            </a:r>
            <a:r>
              <a:rPr lang="he-IL" dirty="0">
                <a:solidFill>
                  <a:schemeClr val="accent6"/>
                </a:solidFill>
              </a:rPr>
              <a:t>: חוק גמלת הסיעוד, </a:t>
            </a:r>
            <a:r>
              <a:rPr lang="he-IL" dirty="0" smtClean="0">
                <a:solidFill>
                  <a:schemeClr val="accent6"/>
                </a:solidFill>
              </a:rPr>
              <a:t>תשנ"ו-1995</a:t>
            </a:r>
            <a:endParaRPr lang="he-IL" dirty="0">
              <a:solidFill>
                <a:schemeClr val="accent6"/>
              </a:solidFill>
            </a:endParaRPr>
          </a:p>
        </p:txBody>
      </p:sp>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2980B9"/>
              </a:solidFill>
            </a:endParaRPr>
          </a:p>
        </p:txBody>
      </p:sp>
      <p:sp>
        <p:nvSpPr>
          <p:cNvPr id="14" name="מלבן 13"/>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5" name="TextBox 14"/>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36100447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תרשים 4"/>
          <p:cNvGraphicFramePr>
            <a:graphicFrameLocks/>
          </p:cNvGraphicFramePr>
          <p:nvPr>
            <p:extLst>
              <p:ext uri="{D42A27DB-BD31-4B8C-83A1-F6EECF244321}">
                <p14:modId xmlns:p14="http://schemas.microsoft.com/office/powerpoint/2010/main" val="3218297433"/>
              </p:ext>
            </p:extLst>
          </p:nvPr>
        </p:nvGraphicFramePr>
        <p:xfrm>
          <a:off x="1244338" y="1121790"/>
          <a:ext cx="9841583" cy="4911365"/>
        </p:xfrm>
        <a:graphic>
          <a:graphicData uri="http://schemas.openxmlformats.org/drawingml/2006/chart">
            <c:chart xmlns:c="http://schemas.openxmlformats.org/drawingml/2006/chart" xmlns:r="http://schemas.openxmlformats.org/officeDocument/2006/relationships" r:id="rId2"/>
          </a:graphicData>
        </a:graphic>
      </p:graphicFrame>
      <p:sp>
        <p:nvSpPr>
          <p:cNvPr id="3" name="מלבן 2"/>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4" name="TextBox 3"/>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20902509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443391" y="3442167"/>
            <a:ext cx="1274325" cy="1263785"/>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3" name="אליפסה 2"/>
          <p:cNvSpPr/>
          <p:nvPr/>
        </p:nvSpPr>
        <p:spPr>
          <a:xfrm>
            <a:off x="10574448" y="1819373"/>
            <a:ext cx="1548422" cy="2254687"/>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r>
              <a:rPr lang="en-US" b="1" dirty="0">
                <a:solidFill>
                  <a:srgbClr val="E3403B"/>
                </a:solidFill>
              </a:rPr>
              <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3318675100"/>
              </p:ext>
            </p:extLst>
          </p:nvPr>
        </p:nvGraphicFramePr>
        <p:xfrm>
          <a:off x="1111106" y="1438520"/>
          <a:ext cx="4469562" cy="3707547"/>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1236349702"/>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r>
              <a:rPr lang="he-IL" sz="3200" b="1" dirty="0">
                <a:solidFill>
                  <a:srgbClr val="0070C0"/>
                </a:solidFill>
                <a:latin typeface="Calibri" panose="020F0502020204030204" pitchFamily="34" charset="0"/>
                <a:cs typeface="Calibri" panose="020F0502020204030204" pitchFamily="34" charset="0"/>
              </a:rPr>
              <a:t>האתגר בסיעוד 2024</a:t>
            </a:r>
            <a:endParaRPr lang="he-IL" sz="3200" dirty="0"/>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3948834139"/>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77535"/>
            <a:ext cx="10515600" cy="1325563"/>
          </a:xfrm>
        </p:spPr>
        <p:txBody>
          <a:bodyPr>
            <a:normAutofit/>
          </a:bodyPr>
          <a:lstStyle/>
          <a:p>
            <a:pPr algn="ctr"/>
            <a:r>
              <a:rPr lang="he-IL" sz="4800" b="1" dirty="0" smtClean="0">
                <a:solidFill>
                  <a:srgbClr val="002060"/>
                </a:solidFill>
                <a:latin typeface="Calibri" panose="020F0502020204030204" pitchFamily="34" charset="0"/>
                <a:ea typeface="+mn-ea"/>
                <a:cs typeface="Calibri" panose="020F0502020204030204" pitchFamily="34" charset="0"/>
              </a:rPr>
              <a:t>הפיצול בסיעוד</a:t>
            </a:r>
            <a:endParaRPr lang="he-IL" sz="4800" b="1" dirty="0">
              <a:solidFill>
                <a:srgbClr val="002060"/>
              </a:solidFill>
              <a:latin typeface="Calibri" panose="020F0502020204030204" pitchFamily="34" charset="0"/>
              <a:ea typeface="+mn-ea"/>
              <a:cs typeface="Calibri" panose="020F0502020204030204" pitchFamily="34" charset="0"/>
            </a:endParaRPr>
          </a:p>
        </p:txBody>
      </p:sp>
      <p:graphicFrame>
        <p:nvGraphicFramePr>
          <p:cNvPr id="4" name="תרשים 3"/>
          <p:cNvGraphicFramePr>
            <a:graphicFrameLocks/>
          </p:cNvGraphicFramePr>
          <p:nvPr>
            <p:extLst/>
          </p:nvPr>
        </p:nvGraphicFramePr>
        <p:xfrm>
          <a:off x="5801166" y="1179576"/>
          <a:ext cx="6292863" cy="54699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תרשים 4"/>
          <p:cNvGraphicFramePr>
            <a:graphicFrameLocks/>
          </p:cNvGraphicFramePr>
          <p:nvPr>
            <p:extLst/>
          </p:nvPr>
        </p:nvGraphicFramePr>
        <p:xfrm>
          <a:off x="0" y="1943101"/>
          <a:ext cx="6351814" cy="4002414"/>
        </p:xfrm>
        <a:graphic>
          <a:graphicData uri="http://schemas.openxmlformats.org/drawingml/2006/chart">
            <c:chart xmlns:c="http://schemas.openxmlformats.org/drawingml/2006/chart" xmlns:r="http://schemas.openxmlformats.org/officeDocument/2006/relationships" r:id="rId4"/>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1223114" y="5783589"/>
            <a:ext cx="968886" cy="974186"/>
          </a:xfrm>
          <a:prstGeom prst="rect">
            <a:avLst/>
          </a:prstGeom>
        </p:spPr>
      </p:pic>
      <p:pic>
        <p:nvPicPr>
          <p:cNvPr id="8" name="תמונה 7" descr="C:\Users\USER\Downloads\עיצוב ללא שם (1).png"/>
          <p:cNvPicPr/>
          <p:nvPr/>
        </p:nvPicPr>
        <p:blipFill rotWithShape="1">
          <a:blip r:embed="rId6" cstate="print">
            <a:extLst>
              <a:ext uri="{28A0092B-C50C-407E-A947-70E740481C1C}">
                <a14:useLocalDpi xmlns:a14="http://schemas.microsoft.com/office/drawing/2010/main"/>
              </a:ext>
            </a:extLst>
          </a:blip>
          <a:srcRect/>
          <a:stretch/>
        </p:blipFill>
        <p:spPr bwMode="auto">
          <a:xfrm>
            <a:off x="9649931" y="5945514"/>
            <a:ext cx="1573183" cy="704047"/>
          </a:xfrm>
          <a:prstGeom prst="rect">
            <a:avLst/>
          </a:prstGeom>
          <a:noFill/>
          <a:ln>
            <a:noFill/>
          </a:ln>
          <a:extLst>
            <a:ext uri="{53640926-AAD7-44D8-BBD7-CCE9431645EC}">
              <a14:shadowObscured xmlns:a14="http://schemas.microsoft.com/office/drawing/2010/main"/>
            </a:ext>
          </a:extLst>
        </p:spPr>
      </p:pic>
      <p:pic>
        <p:nvPicPr>
          <p:cNvPr id="9" name="תמונה 8"/>
          <p:cNvPicPr>
            <a:picLocks noChangeAspect="1"/>
          </p:cNvPicPr>
          <p:nvPr/>
        </p:nvPicPr>
        <p:blipFill>
          <a:blip r:embed="rId7"/>
          <a:stretch>
            <a:fillRect/>
          </a:stretch>
        </p:blipFill>
        <p:spPr>
          <a:xfrm>
            <a:off x="1639502" y="1166898"/>
            <a:ext cx="8374831" cy="5056082"/>
          </a:xfrm>
          <a:prstGeom prst="rect">
            <a:avLst/>
          </a:prstGeom>
        </p:spPr>
      </p:pic>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2091062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64A95B-BEA6-4DE5-9687-A3EDED99027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1BCB0404-0453-4AB5-ABEC-8685112412CB}"/>
              </a:ext>
            </a:extLst>
          </p:cNvPr>
          <p:cNvSpPr/>
          <p:nvPr/>
        </p:nvSpPr>
        <p:spPr>
          <a:xfrm>
            <a:off x="0" y="0"/>
            <a:ext cx="12192000" cy="6858000"/>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bg1"/>
              </a:solidFill>
            </a:endParaRPr>
          </a:p>
        </p:txBody>
      </p:sp>
      <p:sp>
        <p:nvSpPr>
          <p:cNvPr id="4" name="TextBox 3">
            <a:extLst>
              <a:ext uri="{FF2B5EF4-FFF2-40B4-BE49-F238E27FC236}">
                <a16:creationId xmlns:a16="http://schemas.microsoft.com/office/drawing/2014/main" id="{2F6C1F90-1719-4D91-AC27-D1100E0DB772}"/>
              </a:ext>
            </a:extLst>
          </p:cNvPr>
          <p:cNvSpPr txBox="1"/>
          <p:nvPr/>
        </p:nvSpPr>
        <p:spPr>
          <a:xfrm>
            <a:off x="10186585" y="3078895"/>
            <a:ext cx="96051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בדידות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817F44-A6A2-4787-BD9C-F898F7081629}"/>
              </a:ext>
            </a:extLst>
          </p:cNvPr>
          <p:cNvSpPr txBox="1"/>
          <p:nvPr/>
        </p:nvSpPr>
        <p:spPr>
          <a:xfrm>
            <a:off x="2516741" y="3097097"/>
            <a:ext cx="102463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תרופות</a:t>
            </a:r>
            <a:endParaRPr lang="en-IL" sz="24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23B14EA-D89F-4AF4-939D-6665D17727BA}"/>
              </a:ext>
            </a:extLst>
          </p:cNvPr>
          <p:cNvSpPr txBox="1"/>
          <p:nvPr/>
        </p:nvSpPr>
        <p:spPr>
          <a:xfrm>
            <a:off x="1162844" y="3678134"/>
            <a:ext cx="186621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פעילות ותנועה</a:t>
            </a:r>
            <a:endParaRPr lang="en-IL" sz="2400" b="1"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DA54D98-D921-47BA-9049-59D585707A06}"/>
              </a:ext>
            </a:extLst>
          </p:cNvPr>
          <p:cNvSpPr txBox="1"/>
          <p:nvPr/>
        </p:nvSpPr>
        <p:spPr>
          <a:xfrm>
            <a:off x="4474572" y="4366918"/>
            <a:ext cx="9733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הכנסה</a:t>
            </a:r>
            <a:endParaRPr lang="en-IL" sz="2400" b="1"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B951F87-2E3C-46FD-9A6D-8D86EAA9C4CA}"/>
              </a:ext>
            </a:extLst>
          </p:cNvPr>
          <p:cNvSpPr txBox="1"/>
          <p:nvPr/>
        </p:nvSpPr>
        <p:spPr>
          <a:xfrm>
            <a:off x="1856755" y="4593020"/>
            <a:ext cx="176522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עזרי </a:t>
            </a:r>
            <a:r>
              <a:rPr lang="he-IL" sz="2400" b="1" dirty="0" err="1">
                <a:solidFill>
                  <a:schemeClr val="bg1"/>
                </a:solidFill>
                <a:latin typeface="Calibri" panose="020F0502020204030204" pitchFamily="34" charset="0"/>
                <a:cs typeface="Calibri" panose="020F0502020204030204" pitchFamily="34" charset="0"/>
              </a:rPr>
              <a:t>התניידות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06A9C1C-887C-4CDA-AEE8-7A346445A8B7}"/>
              </a:ext>
            </a:extLst>
          </p:cNvPr>
          <p:cNvSpPr txBox="1"/>
          <p:nvPr/>
        </p:nvSpPr>
        <p:spPr>
          <a:xfrm>
            <a:off x="10061552" y="4712047"/>
            <a:ext cx="82105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חברה</a:t>
            </a:r>
            <a:endParaRPr lang="en-IL" sz="2400" b="1" dirty="0">
              <a:solidFill>
                <a:schemeClr val="bg1"/>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C646911-EF81-4B5E-92FD-691BB105FD97}"/>
              </a:ext>
            </a:extLst>
          </p:cNvPr>
          <p:cNvSpPr txBox="1"/>
          <p:nvPr/>
        </p:nvSpPr>
        <p:spPr>
          <a:xfrm>
            <a:off x="5154451" y="3216469"/>
            <a:ext cx="1479893"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מיצוי זכויות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B64865F-AEC6-4B2E-AC75-8B3339597636}"/>
              </a:ext>
            </a:extLst>
          </p:cNvPr>
          <p:cNvSpPr txBox="1"/>
          <p:nvPr/>
        </p:nvSpPr>
        <p:spPr>
          <a:xfrm>
            <a:off x="7825598" y="3216469"/>
            <a:ext cx="8130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קניות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270B0B41-1F0A-4E9F-91D2-2D9D9DD29184}"/>
              </a:ext>
            </a:extLst>
          </p:cNvPr>
          <p:cNvSpPr txBox="1"/>
          <p:nvPr/>
        </p:nvSpPr>
        <p:spPr>
          <a:xfrm>
            <a:off x="824929" y="5363135"/>
            <a:ext cx="208903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שירותים רפואיים</a:t>
            </a:r>
            <a:endParaRPr lang="en-IL" sz="2400" b="1" dirty="0">
              <a:solidFill>
                <a:schemeClr val="bg1"/>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C017820-6272-49A4-89FC-3B3CFF0C67F9}"/>
              </a:ext>
            </a:extLst>
          </p:cNvPr>
          <p:cNvSpPr txBox="1"/>
          <p:nvPr/>
        </p:nvSpPr>
        <p:spPr>
          <a:xfrm>
            <a:off x="10530204" y="5532372"/>
            <a:ext cx="111440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משפחה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FF82110-91CC-41C8-BF10-806CD4FBDFB9}"/>
              </a:ext>
            </a:extLst>
          </p:cNvPr>
          <p:cNvSpPr txBox="1"/>
          <p:nvPr/>
        </p:nvSpPr>
        <p:spPr>
          <a:xfrm>
            <a:off x="10844514" y="3998461"/>
            <a:ext cx="92525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הזנחה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50108345-8D7A-4F6A-B9A5-C47A84F3CA97}"/>
              </a:ext>
            </a:extLst>
          </p:cNvPr>
          <p:cNvSpPr txBox="1"/>
          <p:nvPr/>
        </p:nvSpPr>
        <p:spPr>
          <a:xfrm>
            <a:off x="4480592" y="643673"/>
            <a:ext cx="7289176" cy="1077218"/>
          </a:xfrm>
          <a:prstGeom prst="rect">
            <a:avLst/>
          </a:prstGeom>
          <a:noFill/>
        </p:spPr>
        <p:txBody>
          <a:bodyPr wrap="none" rtlCol="0">
            <a:spAutoFit/>
          </a:bodyPr>
          <a:lstStyle/>
          <a:p>
            <a:pPr algn="r" rtl="1"/>
            <a:r>
              <a:rPr lang="he-IL" sz="3200" b="1" dirty="0">
                <a:solidFill>
                  <a:schemeClr val="bg1"/>
                </a:solidFill>
                <a:latin typeface="Calibri" panose="020F0502020204030204" pitchFamily="34" charset="0"/>
                <a:cs typeface="Calibri" panose="020F0502020204030204" pitchFamily="34" charset="0"/>
              </a:rPr>
              <a:t>ברמת הפרט - מענה לאזרח הקשיש דורש </a:t>
            </a:r>
            <a:r>
              <a:rPr lang="en-US" sz="3200" b="1" dirty="0">
                <a:solidFill>
                  <a:schemeClr val="bg1"/>
                </a:solidFill>
                <a:latin typeface="Calibri" panose="020F0502020204030204" pitchFamily="34" charset="0"/>
                <a:cs typeface="Calibri" panose="020F0502020204030204" pitchFamily="34" charset="0"/>
              </a:rPr>
              <a:t/>
            </a:r>
            <a:br>
              <a:rPr lang="en-US" sz="3200" b="1" dirty="0">
                <a:solidFill>
                  <a:schemeClr val="bg1"/>
                </a:solidFill>
                <a:latin typeface="Calibri" panose="020F0502020204030204" pitchFamily="34" charset="0"/>
                <a:cs typeface="Calibri" panose="020F0502020204030204" pitchFamily="34" charset="0"/>
              </a:rPr>
            </a:br>
            <a:r>
              <a:rPr lang="he-IL" sz="3200" b="1" dirty="0">
                <a:solidFill>
                  <a:schemeClr val="bg1"/>
                </a:solidFill>
                <a:latin typeface="Calibri" panose="020F0502020204030204" pitchFamily="34" charset="0"/>
                <a:cs typeface="Calibri" panose="020F0502020204030204" pitchFamily="34" charset="0"/>
              </a:rPr>
              <a:t>התמודדות מורכבת עם מגוון רחב של אתגרי חייו</a:t>
            </a:r>
            <a:endParaRPr lang="en-IL" sz="3200" b="1" dirty="0">
              <a:solidFill>
                <a:schemeClr val="bg1"/>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BFBF9DD-33FE-4672-A2C3-DC53800CD940}"/>
              </a:ext>
            </a:extLst>
          </p:cNvPr>
          <p:cNvSpPr txBox="1"/>
          <p:nvPr/>
        </p:nvSpPr>
        <p:spPr>
          <a:xfrm>
            <a:off x="8393340" y="4362188"/>
            <a:ext cx="61587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דיור</a:t>
            </a:r>
            <a:endParaRPr lang="en-IL" sz="2400" b="1" dirty="0">
              <a:solidFill>
                <a:schemeClr val="bg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77A5E91-4C5C-4A85-A08A-2E635DB35746}"/>
              </a:ext>
            </a:extLst>
          </p:cNvPr>
          <p:cNvSpPr txBox="1"/>
          <p:nvPr/>
        </p:nvSpPr>
        <p:spPr>
          <a:xfrm>
            <a:off x="7923499" y="5173712"/>
            <a:ext cx="77777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ניקיון</a:t>
            </a:r>
            <a:endParaRPr lang="en-IL" sz="2400" b="1" dirty="0">
              <a:solidFill>
                <a:schemeClr val="bg1"/>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83ADF57-A673-4479-8EFC-7EEC8D882648}"/>
              </a:ext>
            </a:extLst>
          </p:cNvPr>
          <p:cNvSpPr txBox="1"/>
          <p:nvPr/>
        </p:nvSpPr>
        <p:spPr>
          <a:xfrm>
            <a:off x="5476067" y="5340150"/>
            <a:ext cx="108715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תחבורה</a:t>
            </a:r>
            <a:endParaRPr lang="en-IL" sz="24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06758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9B50A7-61E0-49CC-3311-BCF0B4EA3DBF}"/>
              </a:ext>
            </a:extLst>
          </p:cNvPr>
          <p:cNvSpPr>
            <a:spLocks noGrp="1"/>
          </p:cNvSpPr>
          <p:nvPr>
            <p:ph type="title"/>
          </p:nvPr>
        </p:nvSpPr>
        <p:spPr>
          <a:xfrm>
            <a:off x="1137139" y="118940"/>
            <a:ext cx="10515600" cy="1325563"/>
          </a:xfrm>
        </p:spPr>
        <p:txBody>
          <a:bodyPr>
            <a:normAutofit/>
          </a:bodyPr>
          <a:lstStyle/>
          <a:p>
            <a:pPr algn="ctr"/>
            <a:r>
              <a:rPr lang="he-IL" sz="3600" b="1" dirty="0">
                <a:latin typeface="Tahoma" panose="020B0604030504040204" pitchFamily="34" charset="0"/>
                <a:ea typeface="Tahoma" panose="020B0604030504040204" pitchFamily="34" charset="0"/>
                <a:cs typeface="Tahoma" panose="020B0604030504040204" pitchFamily="34" charset="0"/>
              </a:rPr>
              <a:t>תמצית עיקרי הרפורמה</a:t>
            </a:r>
            <a:r>
              <a:rPr lang="he-IL" sz="3600" b="1" dirty="0" smtClean="0">
                <a:latin typeface="Tahoma" panose="020B0604030504040204" pitchFamily="34" charset="0"/>
                <a:ea typeface="Tahoma" panose="020B0604030504040204" pitchFamily="34" charset="0"/>
                <a:cs typeface="Tahoma" panose="020B0604030504040204" pitchFamily="34" charset="0"/>
              </a:rPr>
              <a:t>:</a:t>
            </a:r>
            <a:endParaRPr lang="he-IL" sz="3600" b="1" dirty="0">
              <a:latin typeface="Tahoma" panose="020B0604030504040204" pitchFamily="34" charset="0"/>
              <a:ea typeface="Tahoma" panose="020B0604030504040204" pitchFamily="34" charset="0"/>
              <a:cs typeface="Tahoma" panose="020B0604030504040204" pitchFamily="34" charset="0"/>
            </a:endParaRPr>
          </a:p>
        </p:txBody>
      </p:sp>
      <p:sp>
        <p:nvSpPr>
          <p:cNvPr id="3" name="מציין מיקום תוכן 2">
            <a:extLst>
              <a:ext uri="{FF2B5EF4-FFF2-40B4-BE49-F238E27FC236}">
                <a16:creationId xmlns:a16="http://schemas.microsoft.com/office/drawing/2014/main" id="{90FB807F-3091-799F-0418-346E86C8A954}"/>
              </a:ext>
            </a:extLst>
          </p:cNvPr>
          <p:cNvSpPr>
            <a:spLocks noGrp="1"/>
          </p:cNvSpPr>
          <p:nvPr>
            <p:ph idx="1"/>
          </p:nvPr>
        </p:nvSpPr>
        <p:spPr>
          <a:xfrm>
            <a:off x="423746" y="1174067"/>
            <a:ext cx="11054610" cy="5032375"/>
          </a:xfrm>
        </p:spPr>
        <p:txBody>
          <a:bodyPr>
            <a:normAutofit/>
          </a:bodyPr>
          <a:lstStyle/>
          <a:p>
            <a:pPr marL="0" indent="0" algn="just">
              <a:lnSpc>
                <a:spcPct val="170000"/>
              </a:lnSpc>
              <a:buNone/>
            </a:pPr>
            <a:r>
              <a:rPr lang="he-IL" sz="3200" dirty="0" smtClean="0">
                <a:latin typeface="Tahoma" panose="020B0604030504040204" pitchFamily="34" charset="0"/>
                <a:ea typeface="Tahoma" panose="020B0604030504040204" pitchFamily="34" charset="0"/>
              </a:rPr>
              <a:t>בנובמבר </a:t>
            </a:r>
            <a:r>
              <a:rPr lang="he-IL" sz="3200" dirty="0">
                <a:latin typeface="Tahoma" panose="020B0604030504040204" pitchFamily="34" charset="0"/>
                <a:ea typeface="Tahoma" panose="020B0604030504040204" pitchFamily="34" charset="0"/>
              </a:rPr>
              <a:t>2018 נכנסה לתוקף הרפורמה בביטוח סיעוד </a:t>
            </a:r>
            <a:r>
              <a:rPr lang="he-IL" sz="3200" dirty="0" smtClean="0">
                <a:latin typeface="Tahoma" panose="020B0604030504040204" pitchFamily="34" charset="0"/>
                <a:ea typeface="Tahoma" panose="020B0604030504040204" pitchFamily="34" charset="0"/>
              </a:rPr>
              <a:t>שכללה:</a:t>
            </a:r>
          </a:p>
          <a:p>
            <a:pPr algn="just">
              <a:lnSpc>
                <a:spcPct val="100000"/>
              </a:lnSpc>
            </a:pPr>
            <a:r>
              <a:rPr lang="he-IL" sz="3200" b="1" dirty="0" smtClean="0">
                <a:latin typeface="Tahoma" panose="020B0604030504040204" pitchFamily="34" charset="0"/>
                <a:ea typeface="Tahoma" panose="020B0604030504040204" pitchFamily="34" charset="0"/>
              </a:rPr>
              <a:t>מעבר </a:t>
            </a:r>
            <a:r>
              <a:rPr lang="he-IL" sz="3200" b="1" dirty="0">
                <a:latin typeface="Tahoma" panose="020B0604030504040204" pitchFamily="34" charset="0"/>
                <a:ea typeface="Tahoma" panose="020B0604030504040204" pitchFamily="34" charset="0"/>
              </a:rPr>
              <a:t>מ-3 רמות גמלה ל-6 רמות גמלה </a:t>
            </a:r>
            <a:endParaRPr lang="he-IL" sz="3200" b="1" dirty="0" smtClean="0">
              <a:latin typeface="Tahoma" panose="020B0604030504040204" pitchFamily="34" charset="0"/>
              <a:ea typeface="Tahoma" panose="020B0604030504040204" pitchFamily="34" charset="0"/>
            </a:endParaRPr>
          </a:p>
          <a:p>
            <a:pPr algn="just">
              <a:lnSpc>
                <a:spcPct val="100000"/>
              </a:lnSpc>
            </a:pPr>
            <a:r>
              <a:rPr lang="he-IL" sz="3200" b="1" dirty="0" smtClean="0">
                <a:latin typeface="Tahoma" panose="020B0604030504040204" pitchFamily="34" charset="0"/>
                <a:ea typeface="Tahoma" panose="020B0604030504040204" pitchFamily="34" charset="0"/>
              </a:rPr>
              <a:t>גמלה </a:t>
            </a:r>
            <a:r>
              <a:rPr lang="he-IL" sz="3200" b="1" dirty="0">
                <a:latin typeface="Tahoma" panose="020B0604030504040204" pitchFamily="34" charset="0"/>
                <a:ea typeface="Tahoma" panose="020B0604030504040204" pitchFamily="34" charset="0"/>
              </a:rPr>
              <a:t>בכסף</a:t>
            </a:r>
          </a:p>
          <a:p>
            <a:pPr marL="171450" indent="-171450" algn="just">
              <a:lnSpc>
                <a:spcPct val="100000"/>
              </a:lnSpc>
            </a:pPr>
            <a:r>
              <a:rPr lang="he-IL" sz="3200" b="1" dirty="0" smtClean="0">
                <a:latin typeface="Tahoma" panose="020B0604030504040204" pitchFamily="34" charset="0"/>
                <a:ea typeface="Tahoma" panose="020B0604030504040204" pitchFamily="34" charset="0"/>
              </a:rPr>
              <a:t>יותר </a:t>
            </a:r>
            <a:r>
              <a:rPr lang="he-IL" sz="3200" b="1" dirty="0">
                <a:latin typeface="Tahoma" panose="020B0604030504040204" pitchFamily="34" charset="0"/>
                <a:ea typeface="Tahoma" panose="020B0604030504040204" pitchFamily="34" charset="0"/>
              </a:rPr>
              <a:t>יחידות </a:t>
            </a:r>
            <a:r>
              <a:rPr lang="he-IL" sz="3200" b="1" dirty="0" smtClean="0">
                <a:latin typeface="Tahoma" panose="020B0604030504040204" pitchFamily="34" charset="0"/>
                <a:ea typeface="Tahoma" panose="020B0604030504040204" pitchFamily="34" charset="0"/>
              </a:rPr>
              <a:t>וכסף-</a:t>
            </a:r>
            <a:r>
              <a:rPr lang="he-IL" sz="200" b="1" dirty="0" smtClean="0">
                <a:latin typeface="Tahoma" panose="020B0604030504040204" pitchFamily="34" charset="0"/>
                <a:ea typeface="Tahoma" panose="020B0604030504040204" pitchFamily="34" charset="0"/>
              </a:rPr>
              <a:t> </a:t>
            </a:r>
            <a:r>
              <a:rPr lang="he-IL" sz="1600" dirty="0" smtClean="0">
                <a:latin typeface="Tahoma" panose="020B0604030504040204" pitchFamily="34" charset="0"/>
                <a:ea typeface="Tahoma" panose="020B0604030504040204" pitchFamily="34" charset="0"/>
              </a:rPr>
              <a:t>(טווח </a:t>
            </a:r>
            <a:r>
              <a:rPr lang="he-IL" sz="1600" dirty="0">
                <a:latin typeface="Tahoma" panose="020B0604030504040204" pitchFamily="34" charset="0"/>
                <a:ea typeface="Tahoma" panose="020B0604030504040204" pitchFamily="34" charset="0"/>
              </a:rPr>
              <a:t>היחידות השבועיות הורחב מ-22-9.75 ב-3 רמות ל-30-5.5 יחידות שבועיות ב-6 </a:t>
            </a:r>
            <a:r>
              <a:rPr lang="he-IL" sz="1600" dirty="0" smtClean="0">
                <a:latin typeface="Tahoma" panose="020B0604030504040204" pitchFamily="34" charset="0"/>
                <a:ea typeface="Tahoma" panose="020B0604030504040204" pitchFamily="34" charset="0"/>
              </a:rPr>
              <a:t>רמות)</a:t>
            </a:r>
            <a:endParaRPr lang="he-IL" sz="1600" b="1" dirty="0">
              <a:latin typeface="Tahoma" panose="020B0604030504040204" pitchFamily="34" charset="0"/>
              <a:ea typeface="Tahoma" panose="020B0604030504040204" pitchFamily="34" charset="0"/>
            </a:endParaRPr>
          </a:p>
          <a:p>
            <a:pPr marL="171450" indent="-171450" algn="just">
              <a:lnSpc>
                <a:spcPct val="100000"/>
              </a:lnSpc>
            </a:pPr>
            <a:r>
              <a:rPr lang="he-IL" sz="3200" b="1" dirty="0">
                <a:latin typeface="Tahoma" panose="020B0604030504040204" pitchFamily="34" charset="0"/>
                <a:ea typeface="Tahoma" panose="020B0604030504040204" pitchFamily="34" charset="0"/>
              </a:rPr>
              <a:t>יותר הכרה ופחות בחינות </a:t>
            </a:r>
            <a:r>
              <a:rPr lang="he-IL" sz="3200" b="1" dirty="0" smtClean="0">
                <a:latin typeface="Tahoma" panose="020B0604030504040204" pitchFamily="34" charset="0"/>
                <a:ea typeface="Tahoma" panose="020B0604030504040204" pitchFamily="34" charset="0"/>
              </a:rPr>
              <a:t>פרטניות (שינוי רגולטורי אחרי)</a:t>
            </a:r>
            <a:endParaRPr lang="he-IL" sz="3200" b="1" dirty="0">
              <a:latin typeface="Tahoma" panose="020B0604030504040204" pitchFamily="34" charset="0"/>
              <a:ea typeface="Tahoma" panose="020B0604030504040204" pitchFamily="34" charset="0"/>
            </a:endParaRPr>
          </a:p>
          <a:p>
            <a:pPr marL="171450" indent="-171450" algn="just">
              <a:lnSpc>
                <a:spcPct val="100000"/>
              </a:lnSpc>
            </a:pPr>
            <a:r>
              <a:rPr lang="he-IL" sz="3200" b="1" dirty="0" smtClean="0"/>
              <a:t>בני </a:t>
            </a:r>
            <a:r>
              <a:rPr lang="he-IL" sz="3200" b="1" dirty="0"/>
              <a:t>משפחה מטפלים בשכר </a:t>
            </a:r>
            <a:r>
              <a:rPr lang="he-IL" sz="3200" b="1" dirty="0" smtClean="0"/>
              <a:t>(בעקבות הקורונה)</a:t>
            </a:r>
            <a:endParaRPr lang="he-IL" sz="3200" b="1" dirty="0"/>
          </a:p>
        </p:txBody>
      </p:sp>
      <p:pic>
        <p:nvPicPr>
          <p:cNvPr id="4" name="תמונה 3"/>
          <p:cNvPicPr>
            <a:picLocks noChangeAspect="1"/>
          </p:cNvPicPr>
          <p:nvPr/>
        </p:nvPicPr>
        <p:blipFill>
          <a:blip r:embed="rId2"/>
          <a:stretch>
            <a:fillRect/>
          </a:stretch>
        </p:blipFill>
        <p:spPr>
          <a:xfrm>
            <a:off x="322040" y="54342"/>
            <a:ext cx="1241400" cy="1241400"/>
          </a:xfrm>
          <a:prstGeom prst="rect">
            <a:avLst/>
          </a:prstGeom>
        </p:spPr>
      </p:pic>
      <p:sp>
        <p:nvSpPr>
          <p:cNvPr id="5" name="מלבן 4"/>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
        <p:nvSpPr>
          <p:cNvPr id="9" name="מלבן 8"/>
          <p:cNvSpPr/>
          <p:nvPr/>
        </p:nvSpPr>
        <p:spPr>
          <a:xfrm>
            <a:off x="144966" y="6242447"/>
            <a:ext cx="12047034" cy="626390"/>
          </a:xfrm>
          <a:prstGeom prst="rect">
            <a:avLst/>
          </a:prstGeom>
          <a:ln w="19050">
            <a:solidFill>
              <a:srgbClr val="4472C4"/>
            </a:solidFill>
          </a:ln>
        </p:spPr>
        <p:txBody>
          <a:bodyPr wrap="square">
            <a:spAutoFit/>
          </a:bodyPr>
          <a:lstStyle/>
          <a:p>
            <a:pPr marL="171450" indent="-171450" algn="ctr">
              <a:lnSpc>
                <a:spcPct val="170000"/>
              </a:lnSpc>
            </a:pPr>
            <a:r>
              <a:rPr lang="he-IL" sz="2400" b="1" dirty="0">
                <a:solidFill>
                  <a:srgbClr val="002060"/>
                </a:solidFill>
                <a:latin typeface="Tahoma" panose="020B0604030504040204" pitchFamily="34" charset="0"/>
                <a:ea typeface="Tahoma" panose="020B0604030504040204" pitchFamily="34" charset="0"/>
                <a:cs typeface="Tahoma" panose="020B0604030504040204" pitchFamily="34" charset="0"/>
              </a:rPr>
              <a:t>מטרת הגדלת מספר הרמות הייתה להתאים את השירותים לצרכי הזכאים</a:t>
            </a:r>
            <a:endParaRPr lang="he-IL" sz="2400" b="1" dirty="0">
              <a:solidFill>
                <a:srgbClr val="00206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598949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478CA8-625F-2781-8B71-9C6EF5E4B58A}"/>
              </a:ext>
            </a:extLst>
          </p:cNvPr>
          <p:cNvSpPr>
            <a:spLocks noGrp="1"/>
          </p:cNvSpPr>
          <p:nvPr>
            <p:ph type="title"/>
          </p:nvPr>
        </p:nvSpPr>
        <p:spPr/>
        <p:txBody>
          <a:bodyPr>
            <a:normAutofit/>
          </a:bodyPr>
          <a:lstStyle/>
          <a:p>
            <a:pPr algn="ctr"/>
            <a:r>
              <a:rPr lang="he-IL" sz="3600" b="1" dirty="0">
                <a:latin typeface="Tahoma" panose="020B0604030504040204" pitchFamily="34" charset="0"/>
                <a:ea typeface="Tahoma" panose="020B0604030504040204" pitchFamily="34" charset="0"/>
                <a:cs typeface="Tahoma" panose="020B0604030504040204" pitchFamily="34" charset="0"/>
              </a:rPr>
              <a:t>רמות הגמלה לפני הרפורמה ואחריה</a:t>
            </a:r>
          </a:p>
        </p:txBody>
      </p:sp>
      <p:sp>
        <p:nvSpPr>
          <p:cNvPr id="3" name="מציין מיקום טקסט 2">
            <a:extLst>
              <a:ext uri="{FF2B5EF4-FFF2-40B4-BE49-F238E27FC236}">
                <a16:creationId xmlns:a16="http://schemas.microsoft.com/office/drawing/2014/main" id="{BA86B5EF-532D-4426-C6CC-98B4BEB5CEAA}"/>
              </a:ext>
            </a:extLst>
          </p:cNvPr>
          <p:cNvSpPr>
            <a:spLocks noGrp="1"/>
          </p:cNvSpPr>
          <p:nvPr>
            <p:ph type="body" idx="1"/>
          </p:nvPr>
        </p:nvSpPr>
        <p:spPr/>
        <p:txBody>
          <a:bodyPr/>
          <a:lstStyle/>
          <a:p>
            <a:pPr algn="ctr"/>
            <a:r>
              <a:rPr lang="he-IL" dirty="0">
                <a:latin typeface="Tahoma" panose="020B0604030504040204" pitchFamily="34" charset="0"/>
                <a:ea typeface="Tahoma" panose="020B0604030504040204" pitchFamily="34" charset="0"/>
                <a:cs typeface="Tahoma" panose="020B0604030504040204" pitchFamily="34" charset="0"/>
              </a:rPr>
              <a:t>רמות הגמלה </a:t>
            </a:r>
            <a:r>
              <a:rPr lang="he-IL" dirty="0" smtClean="0">
                <a:latin typeface="Tahoma" panose="020B0604030504040204" pitchFamily="34" charset="0"/>
                <a:ea typeface="Tahoma" panose="020B0604030504040204" pitchFamily="34" charset="0"/>
                <a:cs typeface="Tahoma" panose="020B0604030504040204" pitchFamily="34" charset="0"/>
              </a:rPr>
              <a:t>לאחריה</a:t>
            </a:r>
            <a:endParaRPr lang="he-IL"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מציין מיקום תוכן 7">
            <a:extLst>
              <a:ext uri="{FF2B5EF4-FFF2-40B4-BE49-F238E27FC236}">
                <a16:creationId xmlns:a16="http://schemas.microsoft.com/office/drawing/2014/main" id="{F97F4E7E-CF48-7D21-0845-CECD575A1D76}"/>
              </a:ext>
            </a:extLst>
          </p:cNvPr>
          <p:cNvGraphicFramePr>
            <a:graphicFrameLocks noGrp="1"/>
          </p:cNvGraphicFramePr>
          <p:nvPr>
            <p:ph sz="half" idx="2"/>
          </p:nvPr>
        </p:nvGraphicFramePr>
        <p:xfrm>
          <a:off x="836611" y="2505073"/>
          <a:ext cx="5160964" cy="3993936"/>
        </p:xfrm>
        <a:graphic>
          <a:graphicData uri="http://schemas.openxmlformats.org/drawingml/2006/table">
            <a:tbl>
              <a:tblPr rtl="1" firstRow="1" firstCol="1" bandRow="1">
                <a:tableStyleId>{5C22544A-7EE6-4342-B048-85BDC9FD1C3A}</a:tableStyleId>
              </a:tblPr>
              <a:tblGrid>
                <a:gridCol w="1290241">
                  <a:extLst>
                    <a:ext uri="{9D8B030D-6E8A-4147-A177-3AD203B41FA5}">
                      <a16:colId xmlns:a16="http://schemas.microsoft.com/office/drawing/2014/main" val="1905873336"/>
                    </a:ext>
                  </a:extLst>
                </a:gridCol>
                <a:gridCol w="1290241">
                  <a:extLst>
                    <a:ext uri="{9D8B030D-6E8A-4147-A177-3AD203B41FA5}">
                      <a16:colId xmlns:a16="http://schemas.microsoft.com/office/drawing/2014/main" val="2143514384"/>
                    </a:ext>
                  </a:extLst>
                </a:gridCol>
                <a:gridCol w="1290241">
                  <a:extLst>
                    <a:ext uri="{9D8B030D-6E8A-4147-A177-3AD203B41FA5}">
                      <a16:colId xmlns:a16="http://schemas.microsoft.com/office/drawing/2014/main" val="2495939580"/>
                    </a:ext>
                  </a:extLst>
                </a:gridCol>
                <a:gridCol w="1290241">
                  <a:extLst>
                    <a:ext uri="{9D8B030D-6E8A-4147-A177-3AD203B41FA5}">
                      <a16:colId xmlns:a16="http://schemas.microsoft.com/office/drawing/2014/main" val="827660209"/>
                    </a:ext>
                  </a:extLst>
                </a:gridCol>
              </a:tblGrid>
              <a:tr h="1311171">
                <a:tc>
                  <a:txBody>
                    <a:bodyPr/>
                    <a:lstStyle/>
                    <a:p>
                      <a:pPr algn="r" rtl="1"/>
                      <a:r>
                        <a:rPr lang="he-IL" sz="1800" dirty="0">
                          <a:effectLst/>
                        </a:rPr>
                        <a:t>רמת גמלה</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טווח ניקוד בציון התלות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מספר יחידות שבועיות למעסיק מטפל ישראלי</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מספר יחידות שבועיות למעסיק מטפל זר</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041481940"/>
                  </a:ext>
                </a:extLst>
              </a:tr>
              <a:tr h="437056">
                <a:tc>
                  <a:txBody>
                    <a:bodyPr/>
                    <a:lstStyle/>
                    <a:p>
                      <a:pPr algn="r" rtl="1"/>
                      <a:r>
                        <a:rPr lang="he-IL" sz="1800">
                          <a:effectLst/>
                        </a:rPr>
                        <a:t>1</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3-2.5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5.5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5.5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4142276689"/>
                  </a:ext>
                </a:extLst>
              </a:tr>
              <a:tr h="437056">
                <a:tc>
                  <a:txBody>
                    <a:bodyPr/>
                    <a:lstStyle/>
                    <a:p>
                      <a:pPr algn="r" rtl="1"/>
                      <a:r>
                        <a:rPr lang="he-IL" sz="1800">
                          <a:effectLst/>
                        </a:rPr>
                        <a:t>2</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4.5-3.5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10</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10</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158634188"/>
                  </a:ext>
                </a:extLst>
              </a:tr>
              <a:tr h="437056">
                <a:tc>
                  <a:txBody>
                    <a:bodyPr/>
                    <a:lstStyle/>
                    <a:p>
                      <a:pPr algn="r" rtl="1"/>
                      <a:r>
                        <a:rPr lang="he-IL" sz="1800">
                          <a:effectLst/>
                        </a:rPr>
                        <a:t>3</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6-5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17</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14</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710520045"/>
                  </a:ext>
                </a:extLst>
              </a:tr>
              <a:tr h="437056">
                <a:tc>
                  <a:txBody>
                    <a:bodyPr/>
                    <a:lstStyle/>
                    <a:p>
                      <a:pPr algn="r" rtl="1"/>
                      <a:r>
                        <a:rPr lang="he-IL" sz="1800">
                          <a:effectLst/>
                        </a:rPr>
                        <a:t>4</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7.5-6.5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21</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18</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093340514"/>
                  </a:ext>
                </a:extLst>
              </a:tr>
              <a:tr h="437056">
                <a:tc>
                  <a:txBody>
                    <a:bodyPr/>
                    <a:lstStyle/>
                    <a:p>
                      <a:pPr algn="r" rtl="1"/>
                      <a:r>
                        <a:rPr lang="he-IL" sz="1800">
                          <a:effectLst/>
                        </a:rPr>
                        <a:t>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9-8</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22</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268801450"/>
                  </a:ext>
                </a:extLst>
              </a:tr>
              <a:tr h="437056">
                <a:tc>
                  <a:txBody>
                    <a:bodyPr/>
                    <a:lstStyle/>
                    <a:p>
                      <a:pPr algn="r" rtl="1"/>
                      <a:r>
                        <a:rPr lang="he-IL" sz="1800">
                          <a:effectLst/>
                        </a:rPr>
                        <a:t>6</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10.5-9.5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30</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872809904"/>
                  </a:ext>
                </a:extLst>
              </a:tr>
            </a:tbl>
          </a:graphicData>
        </a:graphic>
      </p:graphicFrame>
      <p:sp>
        <p:nvSpPr>
          <p:cNvPr id="5" name="מציין מיקום טקסט 4">
            <a:extLst>
              <a:ext uri="{FF2B5EF4-FFF2-40B4-BE49-F238E27FC236}">
                <a16:creationId xmlns:a16="http://schemas.microsoft.com/office/drawing/2014/main" id="{37B94A5C-5B6B-F77B-7EC3-AD83DFFA535E}"/>
              </a:ext>
            </a:extLst>
          </p:cNvPr>
          <p:cNvSpPr>
            <a:spLocks noGrp="1"/>
          </p:cNvSpPr>
          <p:nvPr>
            <p:ph type="body" sz="quarter" idx="3"/>
          </p:nvPr>
        </p:nvSpPr>
        <p:spPr/>
        <p:txBody>
          <a:bodyPr/>
          <a:lstStyle/>
          <a:p>
            <a:pPr algn="ctr"/>
            <a:r>
              <a:rPr lang="he-IL" dirty="0">
                <a:latin typeface="Tahoma" panose="020B0604030504040204" pitchFamily="34" charset="0"/>
                <a:ea typeface="Tahoma" panose="020B0604030504040204" pitchFamily="34" charset="0"/>
                <a:cs typeface="Tahoma" panose="020B0604030504040204" pitchFamily="34" charset="0"/>
              </a:rPr>
              <a:t>רמות הגמלה עד אוקטובר 2018</a:t>
            </a:r>
          </a:p>
        </p:txBody>
      </p:sp>
      <p:graphicFrame>
        <p:nvGraphicFramePr>
          <p:cNvPr id="7" name="מציין מיקום תוכן 6">
            <a:extLst>
              <a:ext uri="{FF2B5EF4-FFF2-40B4-BE49-F238E27FC236}">
                <a16:creationId xmlns:a16="http://schemas.microsoft.com/office/drawing/2014/main" id="{E703C9B4-7AB5-E957-D3D7-E6C2A5B2CEF7}"/>
              </a:ext>
            </a:extLst>
          </p:cNvPr>
          <p:cNvGraphicFramePr>
            <a:graphicFrameLocks noGrp="1"/>
          </p:cNvGraphicFramePr>
          <p:nvPr>
            <p:ph sz="quarter" idx="4"/>
          </p:nvPr>
        </p:nvGraphicFramePr>
        <p:xfrm>
          <a:off x="6194425" y="2505075"/>
          <a:ext cx="5160964" cy="3987801"/>
        </p:xfrm>
        <a:graphic>
          <a:graphicData uri="http://schemas.openxmlformats.org/drawingml/2006/table">
            <a:tbl>
              <a:tblPr rtl="1" firstRow="1" firstCol="1" bandRow="1">
                <a:tableStyleId>{5C22544A-7EE6-4342-B048-85BDC9FD1C3A}</a:tableStyleId>
              </a:tblPr>
              <a:tblGrid>
                <a:gridCol w="1290241">
                  <a:extLst>
                    <a:ext uri="{9D8B030D-6E8A-4147-A177-3AD203B41FA5}">
                      <a16:colId xmlns:a16="http://schemas.microsoft.com/office/drawing/2014/main" val="1987204195"/>
                    </a:ext>
                  </a:extLst>
                </a:gridCol>
                <a:gridCol w="1290241">
                  <a:extLst>
                    <a:ext uri="{9D8B030D-6E8A-4147-A177-3AD203B41FA5}">
                      <a16:colId xmlns:a16="http://schemas.microsoft.com/office/drawing/2014/main" val="471053899"/>
                    </a:ext>
                  </a:extLst>
                </a:gridCol>
                <a:gridCol w="1290241">
                  <a:extLst>
                    <a:ext uri="{9D8B030D-6E8A-4147-A177-3AD203B41FA5}">
                      <a16:colId xmlns:a16="http://schemas.microsoft.com/office/drawing/2014/main" val="1395733670"/>
                    </a:ext>
                  </a:extLst>
                </a:gridCol>
                <a:gridCol w="1290241">
                  <a:extLst>
                    <a:ext uri="{9D8B030D-6E8A-4147-A177-3AD203B41FA5}">
                      <a16:colId xmlns:a16="http://schemas.microsoft.com/office/drawing/2014/main" val="4014330054"/>
                    </a:ext>
                  </a:extLst>
                </a:gridCol>
              </a:tblGrid>
              <a:tr h="1638432">
                <a:tc>
                  <a:txBody>
                    <a:bodyPr/>
                    <a:lstStyle/>
                    <a:p>
                      <a:pPr algn="r" rtl="1"/>
                      <a:r>
                        <a:rPr lang="he-IL" sz="1800" dirty="0">
                          <a:effectLst/>
                        </a:rPr>
                        <a:t>רמת גמלה</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טווח ניקוד בציון התלות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מספר יחידות שבועיות למעסיק מטפל ישראלי</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מספר יחידות  שבועיות למעסיק מטפל זר</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490309848"/>
                  </a:ext>
                </a:extLst>
              </a:tr>
              <a:tr h="783123">
                <a:tc>
                  <a:txBody>
                    <a:bodyPr/>
                    <a:lstStyle/>
                    <a:p>
                      <a:pPr algn="r" rtl="1"/>
                      <a:r>
                        <a:rPr lang="he-IL" sz="1800">
                          <a:effectLst/>
                        </a:rPr>
                        <a:t>נמוכה</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5.5-2.5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9.75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9.75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945476692"/>
                  </a:ext>
                </a:extLst>
              </a:tr>
              <a:tr h="783123">
                <a:tc>
                  <a:txBody>
                    <a:bodyPr/>
                    <a:lstStyle/>
                    <a:p>
                      <a:pPr algn="r" rtl="1"/>
                      <a:r>
                        <a:rPr lang="he-IL" sz="1800" dirty="0">
                          <a:effectLst/>
                        </a:rPr>
                        <a:t>בינונית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8.5-6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19</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4034488144"/>
                  </a:ext>
                </a:extLst>
              </a:tr>
              <a:tr h="783123">
                <a:tc>
                  <a:txBody>
                    <a:bodyPr/>
                    <a:lstStyle/>
                    <a:p>
                      <a:pPr algn="r" rtl="1"/>
                      <a:r>
                        <a:rPr lang="he-IL" sz="1800">
                          <a:effectLst/>
                        </a:rPr>
                        <a:t>גבוהה</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a:effectLst/>
                        </a:rPr>
                        <a:t>11-9</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22</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18</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2404996164"/>
                  </a:ext>
                </a:extLst>
              </a:tr>
            </a:tbl>
          </a:graphicData>
        </a:graphic>
      </p:graphicFrame>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31704909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p:cNvGraphicFramePr>
            <a:graphicFrameLocks noGrp="1"/>
          </p:cNvGraphicFramePr>
          <p:nvPr>
            <p:extLst>
              <p:ext uri="{D42A27DB-BD31-4B8C-83A1-F6EECF244321}">
                <p14:modId xmlns:p14="http://schemas.microsoft.com/office/powerpoint/2010/main" val="3697865785"/>
              </p:ext>
            </p:extLst>
          </p:nvPr>
        </p:nvGraphicFramePr>
        <p:xfrm>
          <a:off x="1219200" y="839739"/>
          <a:ext cx="8128000" cy="503936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rtl="1"/>
                      <a:r>
                        <a:rPr lang="he-IL" dirty="0"/>
                        <a:t>המרכיב</a:t>
                      </a:r>
                    </a:p>
                  </a:txBody>
                  <a:tcPr/>
                </a:tc>
                <a:tc>
                  <a:txBody>
                    <a:bodyPr/>
                    <a:lstStyle/>
                    <a:p>
                      <a:pPr rtl="1"/>
                      <a:r>
                        <a:rPr lang="he-IL" dirty="0"/>
                        <a:t>מטפלת</a:t>
                      </a:r>
                    </a:p>
                  </a:txBody>
                  <a:tcPr/>
                </a:tc>
                <a:tc>
                  <a:txBody>
                    <a:bodyPr/>
                    <a:lstStyle/>
                    <a:p>
                      <a:pPr rtl="1"/>
                      <a:r>
                        <a:rPr lang="he-IL" dirty="0"/>
                        <a:t>כסף</a:t>
                      </a:r>
                    </a:p>
                  </a:txBody>
                  <a:tcPr/>
                </a:tc>
                <a:tc>
                  <a:txBody>
                    <a:bodyPr/>
                    <a:lstStyle/>
                    <a:p>
                      <a:pPr rtl="1"/>
                      <a:r>
                        <a:rPr lang="he-IL" dirty="0"/>
                        <a:t>מרכז</a:t>
                      </a:r>
                      <a:r>
                        <a:rPr lang="he-IL" baseline="0" dirty="0"/>
                        <a:t> יום</a:t>
                      </a:r>
                      <a:endParaRPr lang="he-IL" dirty="0"/>
                    </a:p>
                  </a:txBody>
                  <a:tcPr/>
                </a:tc>
                <a:extLst>
                  <a:ext uri="{0D108BD9-81ED-4DB2-BD59-A6C34878D82A}">
                    <a16:rowId xmlns:a16="http://schemas.microsoft.com/office/drawing/2014/main" val="2716684554"/>
                  </a:ext>
                </a:extLst>
              </a:tr>
              <a:tr h="370840">
                <a:tc>
                  <a:txBody>
                    <a:bodyPr/>
                    <a:lstStyle/>
                    <a:p>
                      <a:pPr rtl="1"/>
                      <a:r>
                        <a:rPr lang="he-IL" dirty="0">
                          <a:solidFill>
                            <a:schemeClr val="tx1"/>
                          </a:solidFill>
                        </a:rPr>
                        <a:t>2</a:t>
                      </a:r>
                      <a:r>
                        <a:rPr lang="he-IL" baseline="0" dirty="0">
                          <a:solidFill>
                            <a:schemeClr val="tx1"/>
                          </a:solidFill>
                        </a:rPr>
                        <a:t> שעות סיעוד</a:t>
                      </a:r>
                      <a:endParaRPr lang="he-IL" dirty="0">
                        <a:solidFill>
                          <a:schemeClr val="tx1"/>
                        </a:solidFill>
                      </a:endParaRPr>
                    </a:p>
                  </a:txBody>
                  <a:tcPr/>
                </a:tc>
                <a:tc>
                  <a:txBody>
                    <a:bodyPr/>
                    <a:lstStyle/>
                    <a:p>
                      <a:pPr rtl="1"/>
                      <a:r>
                        <a:rPr lang="he-IL" dirty="0" smtClean="0">
                          <a:solidFill>
                            <a:schemeClr val="tx1"/>
                          </a:solidFill>
                        </a:rPr>
                        <a:t>כשעה </a:t>
                      </a:r>
                      <a:r>
                        <a:rPr lang="he-IL" sz="1400" dirty="0" smtClean="0">
                          <a:solidFill>
                            <a:schemeClr val="tx1"/>
                          </a:solidFill>
                        </a:rPr>
                        <a:t>(נלקחות</a:t>
                      </a:r>
                      <a:r>
                        <a:rPr lang="he-IL" sz="1400" baseline="0" dirty="0" smtClean="0">
                          <a:solidFill>
                            <a:schemeClr val="tx1"/>
                          </a:solidFill>
                        </a:rPr>
                        <a:t> </a:t>
                      </a:r>
                      <a:r>
                        <a:rPr lang="he-IL" sz="1400" baseline="0" dirty="0">
                          <a:solidFill>
                            <a:schemeClr val="tx1"/>
                          </a:solidFill>
                        </a:rPr>
                        <a:t>שעות)</a:t>
                      </a:r>
                      <a:endParaRPr lang="he-IL" sz="1400" dirty="0">
                        <a:solidFill>
                          <a:schemeClr val="tx1"/>
                        </a:solidFill>
                      </a:endParaRPr>
                    </a:p>
                  </a:txBody>
                  <a:tcPr/>
                </a:tc>
                <a:tc>
                  <a:txBody>
                    <a:bodyPr/>
                    <a:lstStyle/>
                    <a:p>
                      <a:pPr rtl="1"/>
                      <a:r>
                        <a:rPr lang="he-IL" dirty="0"/>
                        <a:t>96 ש"ח</a:t>
                      </a:r>
                    </a:p>
                  </a:txBody>
                  <a:tcPr/>
                </a:tc>
                <a:tc>
                  <a:txBody>
                    <a:bodyPr/>
                    <a:lstStyle/>
                    <a:p>
                      <a:pPr rtl="1"/>
                      <a:r>
                        <a:rPr lang="he-IL" dirty="0"/>
                        <a:t>6 שעות</a:t>
                      </a:r>
                    </a:p>
                  </a:txBody>
                  <a:tcPr/>
                </a:tc>
                <a:extLst>
                  <a:ext uri="{0D108BD9-81ED-4DB2-BD59-A6C34878D82A}">
                    <a16:rowId xmlns:a16="http://schemas.microsoft.com/office/drawing/2014/main" val="599427766"/>
                  </a:ext>
                </a:extLst>
              </a:tr>
              <a:tr h="370840">
                <a:tc>
                  <a:txBody>
                    <a:bodyPr/>
                    <a:lstStyle/>
                    <a:p>
                      <a:pPr rtl="1"/>
                      <a:r>
                        <a:rPr lang="he-IL" dirty="0"/>
                        <a:t>הסיוע</a:t>
                      </a:r>
                    </a:p>
                  </a:txBody>
                  <a:tcPr/>
                </a:tc>
                <a:tc>
                  <a:txBody>
                    <a:bodyPr/>
                    <a:lstStyle/>
                    <a:p>
                      <a:pPr rtl="1"/>
                      <a:r>
                        <a:rPr lang="he-IL" dirty="0"/>
                        <a:t>עזרה בבית/ ניקיון</a:t>
                      </a:r>
                    </a:p>
                  </a:txBody>
                  <a:tcPr/>
                </a:tc>
                <a:tc>
                  <a:txBody>
                    <a:bodyPr/>
                    <a:lstStyle/>
                    <a:p>
                      <a:pPr rtl="1"/>
                      <a:r>
                        <a:rPr lang="he-IL" dirty="0"/>
                        <a:t>כספי</a:t>
                      </a:r>
                    </a:p>
                  </a:txBody>
                  <a:tcPr/>
                </a:tc>
                <a:tc>
                  <a:txBody>
                    <a:bodyPr/>
                    <a:lstStyle/>
                    <a:p>
                      <a:pPr rtl="1"/>
                      <a:r>
                        <a:rPr lang="he-IL" sz="1600" dirty="0"/>
                        <a:t>מפגש חברתי, חוגים, הסעה, גורמי מקצוע וטיפול: עו"ס, פיזיותרפיה,</a:t>
                      </a:r>
                      <a:r>
                        <a:rPr lang="he-IL" sz="1600" baseline="0" dirty="0"/>
                        <a:t> מדריך </a:t>
                      </a:r>
                      <a:endParaRPr lang="he-IL" sz="1600" dirty="0"/>
                    </a:p>
                  </a:txBody>
                  <a:tcPr/>
                </a:tc>
                <a:extLst>
                  <a:ext uri="{0D108BD9-81ED-4DB2-BD59-A6C34878D82A}">
                    <a16:rowId xmlns:a16="http://schemas.microsoft.com/office/drawing/2014/main" val="357535011"/>
                  </a:ext>
                </a:extLst>
              </a:tr>
              <a:tr h="370840">
                <a:tc>
                  <a:txBody>
                    <a:bodyPr/>
                    <a:lstStyle/>
                    <a:p>
                      <a:pPr rtl="1"/>
                      <a:r>
                        <a:rPr lang="he-IL" dirty="0"/>
                        <a:t>מחקר על דחיקת תלות</a:t>
                      </a:r>
                    </a:p>
                  </a:txBody>
                  <a:tcPr/>
                </a:tc>
                <a:tc>
                  <a:txBody>
                    <a:bodyPr/>
                    <a:lstStyle/>
                    <a:p>
                      <a:pPr rtl="1"/>
                      <a:r>
                        <a:rPr lang="he-IL" dirty="0"/>
                        <a:t>משתנה בין מקרים, לא נמצא כמועיל, טענות כמגביר</a:t>
                      </a:r>
                      <a:r>
                        <a:rPr lang="he-IL" baseline="0" dirty="0"/>
                        <a:t> תלות</a:t>
                      </a:r>
                      <a:endParaRPr lang="he-IL" dirty="0"/>
                    </a:p>
                  </a:txBody>
                  <a:tcPr/>
                </a:tc>
                <a:tc>
                  <a:txBody>
                    <a:bodyPr/>
                    <a:lstStyle/>
                    <a:p>
                      <a:pPr rtl="1"/>
                      <a:r>
                        <a:rPr lang="he-IL" dirty="0"/>
                        <a:t>לא רלוונטי</a:t>
                      </a:r>
                    </a:p>
                  </a:txBody>
                  <a:tcPr/>
                </a:tc>
                <a:tc>
                  <a:txBody>
                    <a:bodyPr/>
                    <a:lstStyle/>
                    <a:p>
                      <a:pPr rtl="1"/>
                      <a:r>
                        <a:rPr lang="he-IL" dirty="0"/>
                        <a:t>מוכח במחקר </a:t>
                      </a:r>
                      <a:r>
                        <a:rPr lang="he-IL" baseline="0" dirty="0"/>
                        <a:t>בארץ ובעולם </a:t>
                      </a:r>
                      <a:r>
                        <a:rPr lang="he-IL" dirty="0"/>
                        <a:t>כמועיל ודוחק תלות</a:t>
                      </a:r>
                    </a:p>
                  </a:txBody>
                  <a:tcPr/>
                </a:tc>
                <a:extLst>
                  <a:ext uri="{0D108BD9-81ED-4DB2-BD59-A6C34878D82A}">
                    <a16:rowId xmlns:a16="http://schemas.microsoft.com/office/drawing/2014/main" val="837185877"/>
                  </a:ext>
                </a:extLst>
              </a:tr>
              <a:tr h="370840">
                <a:tc>
                  <a:txBody>
                    <a:bodyPr/>
                    <a:lstStyle/>
                    <a:p>
                      <a:pPr rtl="1"/>
                      <a:r>
                        <a:rPr lang="he-IL" dirty="0"/>
                        <a:t>הכשרות והדרכות</a:t>
                      </a:r>
                    </a:p>
                  </a:txBody>
                  <a:tcPr/>
                </a:tc>
                <a:tc>
                  <a:txBody>
                    <a:bodyPr/>
                    <a:lstStyle/>
                    <a:p>
                      <a:pPr rtl="1"/>
                      <a:r>
                        <a:rPr lang="he-IL" dirty="0"/>
                        <a:t>בשוליים</a:t>
                      </a:r>
                    </a:p>
                  </a:txBody>
                  <a:tcPr/>
                </a:tc>
                <a:tc>
                  <a:txBody>
                    <a:bodyPr/>
                    <a:lstStyle/>
                    <a:p>
                      <a:pPr rtl="1"/>
                      <a:r>
                        <a:rPr lang="he-IL" dirty="0"/>
                        <a:t>לא רלוונטי</a:t>
                      </a:r>
                    </a:p>
                  </a:txBody>
                  <a:tcPr/>
                </a:tc>
                <a:tc>
                  <a:txBody>
                    <a:bodyPr/>
                    <a:lstStyle/>
                    <a:p>
                      <a:pPr rtl="1"/>
                      <a:r>
                        <a:rPr lang="he-IL" dirty="0"/>
                        <a:t>קיימת הכשרה מקצועית ושוטפת</a:t>
                      </a:r>
                    </a:p>
                  </a:txBody>
                  <a:tcPr/>
                </a:tc>
                <a:extLst>
                  <a:ext uri="{0D108BD9-81ED-4DB2-BD59-A6C34878D82A}">
                    <a16:rowId xmlns:a16="http://schemas.microsoft.com/office/drawing/2014/main" val="837517891"/>
                  </a:ext>
                </a:extLst>
              </a:tr>
              <a:tr h="370840">
                <a:tc>
                  <a:txBody>
                    <a:bodyPr/>
                    <a:lstStyle/>
                    <a:p>
                      <a:pPr rtl="1"/>
                      <a:r>
                        <a:rPr lang="he-IL" dirty="0"/>
                        <a:t>פיקוח</a:t>
                      </a:r>
                    </a:p>
                  </a:txBody>
                  <a:tcPr/>
                </a:tc>
                <a:tc>
                  <a:txBody>
                    <a:bodyPr/>
                    <a:lstStyle/>
                    <a:p>
                      <a:pPr rtl="1"/>
                      <a:r>
                        <a:rPr lang="he-IL" dirty="0"/>
                        <a:t>פיקוח מורכב</a:t>
                      </a:r>
                      <a:r>
                        <a:rPr lang="he-IL" baseline="0" dirty="0"/>
                        <a:t> על כ140 א' מטפלות בבתים</a:t>
                      </a:r>
                      <a:endParaRPr lang="he-IL" dirty="0"/>
                    </a:p>
                  </a:txBody>
                  <a:tcPr/>
                </a:tc>
                <a:tc>
                  <a:txBody>
                    <a:bodyPr/>
                    <a:lstStyle/>
                    <a:p>
                      <a:pPr rtl="1"/>
                      <a:r>
                        <a:rPr lang="he-IL" dirty="0"/>
                        <a:t>לא רלוונטי</a:t>
                      </a:r>
                    </a:p>
                  </a:txBody>
                  <a:tcPr/>
                </a:tc>
                <a:tc>
                  <a:txBody>
                    <a:bodyPr/>
                    <a:lstStyle/>
                    <a:p>
                      <a:pPr rtl="1"/>
                      <a:r>
                        <a:rPr lang="he-IL" dirty="0"/>
                        <a:t>קיים פיקוח מקצועי שוטף</a:t>
                      </a:r>
                    </a:p>
                  </a:txBody>
                  <a:tcPr/>
                </a:tc>
                <a:extLst>
                  <a:ext uri="{0D108BD9-81ED-4DB2-BD59-A6C34878D82A}">
                    <a16:rowId xmlns:a16="http://schemas.microsoft.com/office/drawing/2014/main" val="2841228541"/>
                  </a:ext>
                </a:extLst>
              </a:tr>
              <a:tr h="370840">
                <a:tc>
                  <a:txBody>
                    <a:bodyPr/>
                    <a:lstStyle/>
                    <a:p>
                      <a:pPr rtl="1"/>
                      <a:r>
                        <a:rPr lang="he-IL" dirty="0"/>
                        <a:t>הנגישות</a:t>
                      </a:r>
                    </a:p>
                  </a:txBody>
                  <a:tcPr/>
                </a:tc>
                <a:tc>
                  <a:txBody>
                    <a:bodyPr/>
                    <a:lstStyle/>
                    <a:p>
                      <a:pPr rtl="1"/>
                      <a:r>
                        <a:rPr lang="he-IL" dirty="0"/>
                        <a:t>משאב במחסור גורר תלות במטפלת</a:t>
                      </a:r>
                    </a:p>
                  </a:txBody>
                  <a:tcPr/>
                </a:tc>
                <a:tc>
                  <a:txBody>
                    <a:bodyPr/>
                    <a:lstStyle/>
                    <a:p>
                      <a:pPr rtl="1"/>
                      <a:r>
                        <a:rPr lang="he-IL" dirty="0"/>
                        <a:t>קל</a:t>
                      </a:r>
                      <a:r>
                        <a:rPr lang="he-IL" baseline="0" dirty="0"/>
                        <a:t> להעברה</a:t>
                      </a:r>
                      <a:endParaRPr lang="he-IL" dirty="0"/>
                    </a:p>
                  </a:txBody>
                  <a:tcPr/>
                </a:tc>
                <a:tc>
                  <a:txBody>
                    <a:bodyPr/>
                    <a:lstStyle/>
                    <a:p>
                      <a:pPr rtl="1"/>
                      <a:r>
                        <a:rPr lang="he-IL" dirty="0"/>
                        <a:t>יתרון משמעותי לגודל (180 מרכזים, לא בכל הארץ)</a:t>
                      </a:r>
                    </a:p>
                  </a:txBody>
                  <a:tcPr/>
                </a:tc>
                <a:extLst>
                  <a:ext uri="{0D108BD9-81ED-4DB2-BD59-A6C34878D82A}">
                    <a16:rowId xmlns:a16="http://schemas.microsoft.com/office/drawing/2014/main" val="3866147572"/>
                  </a:ext>
                </a:extLst>
              </a:tr>
              <a:tr h="370840">
                <a:tc>
                  <a:txBody>
                    <a:bodyPr/>
                    <a:lstStyle/>
                    <a:p>
                      <a:pPr rtl="1"/>
                      <a:r>
                        <a:rPr lang="he-IL" dirty="0"/>
                        <a:t>המצב בפועל</a:t>
                      </a:r>
                    </a:p>
                  </a:txBody>
                  <a:tcPr/>
                </a:tc>
                <a:tc>
                  <a:txBody>
                    <a:bodyPr/>
                    <a:lstStyle/>
                    <a:p>
                      <a:pPr rtl="1"/>
                      <a:r>
                        <a:rPr lang="he-IL" dirty="0"/>
                        <a:t>73% מהגמלאות</a:t>
                      </a:r>
                    </a:p>
                  </a:txBody>
                  <a:tcPr/>
                </a:tc>
                <a:tc>
                  <a:txBody>
                    <a:bodyPr/>
                    <a:lstStyle/>
                    <a:p>
                      <a:pPr rtl="1"/>
                      <a:r>
                        <a:rPr lang="he-IL" dirty="0"/>
                        <a:t>24% מהגמלאות</a:t>
                      </a:r>
                    </a:p>
                  </a:txBody>
                  <a:tcPr/>
                </a:tc>
                <a:tc>
                  <a:txBody>
                    <a:bodyPr/>
                    <a:lstStyle/>
                    <a:p>
                      <a:pPr rtl="1"/>
                      <a:r>
                        <a:rPr lang="he-IL" dirty="0"/>
                        <a:t>2% מהגמלאות</a:t>
                      </a:r>
                    </a:p>
                  </a:txBody>
                  <a:tcPr/>
                </a:tc>
                <a:extLst>
                  <a:ext uri="{0D108BD9-81ED-4DB2-BD59-A6C34878D82A}">
                    <a16:rowId xmlns:a16="http://schemas.microsoft.com/office/drawing/2014/main" val="3801169514"/>
                  </a:ext>
                </a:extLst>
              </a:tr>
            </a:tbl>
          </a:graphicData>
        </a:graphic>
      </p:graphicFrame>
      <p:sp>
        <p:nvSpPr>
          <p:cNvPr id="7" name="TextBox 6"/>
          <p:cNvSpPr txBox="1"/>
          <p:nvPr/>
        </p:nvSpPr>
        <p:spPr>
          <a:xfrm>
            <a:off x="1219200" y="470407"/>
            <a:ext cx="8128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1">
            <a:spAutoFit/>
          </a:bodyPr>
          <a:lstStyle/>
          <a:p>
            <a:pPr algn="ctr"/>
            <a:r>
              <a:rPr lang="he-IL" b="1" dirty="0"/>
              <a:t>ניתוח חלופות </a:t>
            </a:r>
            <a:r>
              <a:rPr lang="he-IL" b="1" dirty="0" smtClean="0"/>
              <a:t>כיום</a:t>
            </a:r>
            <a:endParaRPr lang="he-IL" b="1" dirty="0"/>
          </a:p>
        </p:txBody>
      </p:sp>
      <p:sp>
        <p:nvSpPr>
          <p:cNvPr id="8" name="מלבן 7"/>
          <p:cNvSpPr/>
          <p:nvPr/>
        </p:nvSpPr>
        <p:spPr>
          <a:xfrm>
            <a:off x="9531926" y="470407"/>
            <a:ext cx="2558473" cy="1323439"/>
          </a:xfrm>
          <a:prstGeom prst="rect">
            <a:avLst/>
          </a:prstGeom>
          <a:ln w="12700"/>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1600" b="1" dirty="0">
                <a:ln w="0"/>
                <a:solidFill>
                  <a:schemeClr val="accent1">
                    <a:lumMod val="75000"/>
                  </a:schemeClr>
                </a:solidFill>
                <a:effectLst>
                  <a:outerShdw blurRad="38100" dist="25400" dir="5400000" algn="ctr" rotWithShape="0">
                    <a:srgbClr val="6E747A">
                      <a:alpha val="43000"/>
                    </a:srgbClr>
                  </a:outerShdw>
                </a:effectLst>
              </a:rPr>
              <a:t>מה </a:t>
            </a:r>
            <a:r>
              <a:rPr lang="he-IL" sz="1600" b="1" dirty="0" smtClean="0">
                <a:ln w="0"/>
                <a:solidFill>
                  <a:schemeClr val="accent1">
                    <a:lumMod val="75000"/>
                  </a:schemeClr>
                </a:solidFill>
                <a:effectLst>
                  <a:outerShdw blurRad="38100" dist="25400" dir="5400000" algn="ctr" rotWithShape="0">
                    <a:srgbClr val="6E747A">
                      <a:alpha val="43000"/>
                    </a:srgbClr>
                  </a:outerShdw>
                </a:effectLst>
              </a:rPr>
              <a:t>ניתן </a:t>
            </a:r>
            <a:r>
              <a:rPr lang="he-IL" sz="1600" b="1" dirty="0">
                <a:ln w="0"/>
                <a:solidFill>
                  <a:schemeClr val="accent1">
                    <a:lumMod val="75000"/>
                  </a:schemeClr>
                </a:solidFill>
                <a:effectLst>
                  <a:outerShdw blurRad="38100" dist="25400" dir="5400000" algn="ctr" rotWithShape="0">
                    <a:srgbClr val="6E747A">
                      <a:alpha val="43000"/>
                    </a:srgbClr>
                  </a:outerShdw>
                </a:effectLst>
              </a:rPr>
              <a:t>ללמוד?</a:t>
            </a:r>
          </a:p>
          <a:p>
            <a:pPr marL="514350" indent="-514350">
              <a:buFont typeface="+mj-lt"/>
              <a:buAutoNum type="arabicPeriod"/>
            </a:pPr>
            <a:r>
              <a:rPr lang="he-IL" sz="1600" b="1" dirty="0">
                <a:ln w="0"/>
                <a:solidFill>
                  <a:schemeClr val="accent1">
                    <a:lumMod val="75000"/>
                  </a:schemeClr>
                </a:solidFill>
                <a:effectLst>
                  <a:outerShdw blurRad="38100" dist="25400" dir="5400000" algn="ctr" rotWithShape="0">
                    <a:srgbClr val="6E747A">
                      <a:alpha val="43000"/>
                    </a:srgbClr>
                  </a:outerShdw>
                </a:effectLst>
              </a:rPr>
              <a:t>יתרון לגודל בשירות</a:t>
            </a:r>
          </a:p>
          <a:p>
            <a:pPr marL="514350" indent="-514350">
              <a:buFont typeface="+mj-lt"/>
              <a:buAutoNum type="arabicPeriod"/>
            </a:pPr>
            <a:r>
              <a:rPr lang="he-IL" sz="1600" dirty="0" smtClean="0">
                <a:ln w="0"/>
                <a:solidFill>
                  <a:schemeClr val="accent1">
                    <a:lumMod val="75000"/>
                  </a:schemeClr>
                </a:solidFill>
                <a:effectLst>
                  <a:outerShdw blurRad="38100" dist="25400" dir="5400000" algn="ctr" rotWithShape="0">
                    <a:srgbClr val="6E747A">
                      <a:alpha val="43000"/>
                    </a:srgbClr>
                  </a:outerShdw>
                </a:effectLst>
              </a:rPr>
              <a:t>הבעיות </a:t>
            </a:r>
            <a:r>
              <a:rPr lang="he-IL" sz="1600" dirty="0" err="1" smtClean="0">
                <a:ln w="0"/>
                <a:solidFill>
                  <a:schemeClr val="accent1">
                    <a:lumMod val="75000"/>
                  </a:schemeClr>
                </a:solidFill>
                <a:effectLst>
                  <a:outerShdw blurRad="38100" dist="25400" dir="5400000" algn="ctr" rotWithShape="0">
                    <a:srgbClr val="6E747A">
                      <a:alpha val="43000"/>
                    </a:srgbClr>
                  </a:outerShdw>
                </a:effectLst>
              </a:rPr>
              <a:t>והתמרוץ</a:t>
            </a:r>
            <a:endParaRPr lang="he-IL" sz="1600" dirty="0" smtClean="0">
              <a:ln w="0"/>
              <a:solidFill>
                <a:schemeClr val="accent1">
                  <a:lumMod val="75000"/>
                </a:schemeClr>
              </a:solidFill>
              <a:effectLst>
                <a:outerShdw blurRad="38100" dist="25400" dir="5400000" algn="ctr" rotWithShape="0">
                  <a:srgbClr val="6E747A">
                    <a:alpha val="43000"/>
                  </a:srgbClr>
                </a:outerShdw>
              </a:effectLst>
            </a:endParaRPr>
          </a:p>
          <a:p>
            <a:pPr marL="514350" indent="-514350">
              <a:buFont typeface="+mj-lt"/>
              <a:buAutoNum type="arabicPeriod"/>
            </a:pPr>
            <a:r>
              <a:rPr lang="he-IL" sz="1600" b="1" dirty="0" smtClean="0">
                <a:ln w="0"/>
                <a:solidFill>
                  <a:schemeClr val="accent1">
                    <a:lumMod val="75000"/>
                  </a:schemeClr>
                </a:solidFill>
                <a:effectLst>
                  <a:outerShdw blurRad="38100" dist="25400" dir="5400000" algn="ctr" rotWithShape="0">
                    <a:srgbClr val="6E747A">
                      <a:alpha val="43000"/>
                    </a:srgbClr>
                  </a:outerShdw>
                </a:effectLst>
              </a:rPr>
              <a:t>שירותים לא רלוונטיים לרמות הנמוכות</a:t>
            </a:r>
          </a:p>
        </p:txBody>
      </p:sp>
      <p:sp>
        <p:nvSpPr>
          <p:cNvPr id="2" name="מלבן 1"/>
          <p:cNvSpPr/>
          <p:nvPr/>
        </p:nvSpPr>
        <p:spPr>
          <a:xfrm>
            <a:off x="1219200" y="5879099"/>
            <a:ext cx="8128000" cy="461665"/>
          </a:xfrm>
          <a:prstGeom prst="rect">
            <a:avLst/>
          </a:prstGeom>
          <a:ln>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he-IL" sz="2400" b="1" dirty="0">
                <a:ln w="0"/>
                <a:solidFill>
                  <a:schemeClr val="accent1">
                    <a:lumMod val="75000"/>
                  </a:schemeClr>
                </a:solidFill>
                <a:effectLst>
                  <a:outerShdw blurRad="38100" dist="25400" dir="5400000" algn="ctr" rotWithShape="0">
                    <a:srgbClr val="6E747A">
                      <a:alpha val="43000"/>
                    </a:srgbClr>
                  </a:outerShdw>
                </a:effectLst>
              </a:rPr>
              <a:t>מה ידחק </a:t>
            </a:r>
            <a:r>
              <a:rPr lang="he-IL" sz="2400" b="1" dirty="0" smtClean="0">
                <a:ln w="0"/>
                <a:solidFill>
                  <a:schemeClr val="accent1">
                    <a:lumMod val="75000"/>
                  </a:schemeClr>
                </a:solidFill>
                <a:effectLst>
                  <a:outerShdw blurRad="38100" dist="25400" dir="5400000" algn="ctr" rotWithShape="0">
                    <a:srgbClr val="6E747A">
                      <a:alpha val="43000"/>
                    </a:srgbClr>
                  </a:outerShdw>
                </a:effectLst>
              </a:rPr>
              <a:t>את התלות</a:t>
            </a:r>
            <a:r>
              <a:rPr lang="he-IL" sz="2400" b="1" dirty="0">
                <a:ln w="0"/>
                <a:solidFill>
                  <a:schemeClr val="accent1">
                    <a:lumMod val="75000"/>
                  </a:schemeClr>
                </a:solidFill>
                <a:effectLst>
                  <a:outerShdw blurRad="38100" dist="25400" dir="5400000" algn="ctr" rotWithShape="0">
                    <a:srgbClr val="6E747A">
                      <a:alpha val="43000"/>
                    </a:srgbClr>
                  </a:outerShdw>
                </a:effectLst>
              </a:rPr>
              <a:t>?</a:t>
            </a:r>
            <a:endParaRPr lang="he-IL" sz="2400" b="1" dirty="0">
              <a:ln w="0"/>
              <a:solidFill>
                <a:schemeClr val="accent1">
                  <a:lumMod val="75000"/>
                </a:schemeClr>
              </a:solidFill>
              <a:effectLst>
                <a:outerShdw blurRad="38100" dist="25400" dir="5400000" algn="ctr" rotWithShape="0">
                  <a:srgbClr val="6E747A">
                    <a:alpha val="43000"/>
                  </a:srgbClr>
                </a:outerShdw>
              </a:effectLst>
            </a:endParaRPr>
          </a:p>
        </p:txBody>
      </p:sp>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6937005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תרשים 19"/>
          <p:cNvGraphicFramePr>
            <a:graphicFrameLocks/>
          </p:cNvGraphicFramePr>
          <p:nvPr>
            <p:extLst>
              <p:ext uri="{D42A27DB-BD31-4B8C-83A1-F6EECF244321}">
                <p14:modId xmlns:p14="http://schemas.microsoft.com/office/powerpoint/2010/main" val="3488199536"/>
              </p:ext>
            </p:extLst>
          </p:nvPr>
        </p:nvGraphicFramePr>
        <p:xfrm>
          <a:off x="1940313" y="1491514"/>
          <a:ext cx="9960742" cy="4721545"/>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3346516" y="36528"/>
            <a:ext cx="6600052" cy="1325563"/>
          </a:xfrm>
        </p:spPr>
        <p:txBody>
          <a:bodyPr>
            <a:normAutofit/>
          </a:bodyPr>
          <a:lstStyle/>
          <a:p>
            <a:r>
              <a:rPr lang="he-IL" sz="4000" b="1" dirty="0">
                <a:solidFill>
                  <a:srgbClr val="002060"/>
                </a:solidFill>
                <a:latin typeface="Arial" panose="020B0604020202020204" pitchFamily="34" charset="0"/>
                <a:ea typeface="+mn-ea"/>
                <a:cs typeface="Arial" panose="020B0604020202020204" pitchFamily="34" charset="0"/>
              </a:rPr>
              <a:t>השפעות רפורמת </a:t>
            </a:r>
            <a:r>
              <a:rPr lang="he-IL" sz="4000" b="1" dirty="0" smtClean="0">
                <a:solidFill>
                  <a:srgbClr val="002060"/>
                </a:solidFill>
                <a:latin typeface="Arial" panose="020B0604020202020204" pitchFamily="34" charset="0"/>
                <a:ea typeface="+mn-ea"/>
                <a:cs typeface="Arial" panose="020B0604020202020204" pitchFamily="34" charset="0"/>
              </a:rPr>
              <a:t>2018</a:t>
            </a:r>
            <a:endParaRPr lang="he-IL" sz="4000" b="1" dirty="0">
              <a:solidFill>
                <a:srgbClr val="002060"/>
              </a:solidFill>
              <a:latin typeface="Arial" panose="020B0604020202020204" pitchFamily="34" charset="0"/>
              <a:ea typeface="+mn-ea"/>
              <a:cs typeface="Arial" panose="020B0604020202020204" pitchFamily="34" charset="0"/>
            </a:endParaRP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1138463" y="6213059"/>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endParaRPr lang="he-IL" sz="2400" dirty="0">
              <a:solidFill>
                <a:srgbClr val="FF0000"/>
              </a:solidFill>
              <a:latin typeface="Arial" panose="020B0604020202020204" pitchFamily="34" charset="0"/>
              <a:cs typeface="Arial" panose="020B0604020202020204" pitchFamily="34" charset="0"/>
            </a:endParaRPr>
          </a:p>
        </p:txBody>
      </p:sp>
      <p:cxnSp>
        <p:nvCxnSpPr>
          <p:cNvPr id="7" name="מחבר ישר 6"/>
          <p:cNvCxnSpPr/>
          <p:nvPr/>
        </p:nvCxnSpPr>
        <p:spPr>
          <a:xfrm flipH="1">
            <a:off x="4166648" y="2321903"/>
            <a:ext cx="9426" cy="3280528"/>
          </a:xfrm>
          <a:prstGeom prst="line">
            <a:avLst/>
          </a:prstGeom>
        </p:spPr>
        <p:style>
          <a:lnRef idx="3">
            <a:schemeClr val="accent1"/>
          </a:lnRef>
          <a:fillRef idx="0">
            <a:schemeClr val="accent1"/>
          </a:fillRef>
          <a:effectRef idx="2">
            <a:schemeClr val="accent1"/>
          </a:effectRef>
          <a:fontRef idx="minor">
            <a:schemeClr val="tx1"/>
          </a:fontRef>
        </p:style>
      </p:cxnSp>
      <p:sp>
        <p:nvSpPr>
          <p:cNvPr id="17" name="TextBox 10"/>
          <p:cNvSpPr txBox="1"/>
          <p:nvPr/>
        </p:nvSpPr>
        <p:spPr>
          <a:xfrm>
            <a:off x="2788773" y="1509305"/>
            <a:ext cx="771023"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rtl="1"/>
            <a:r>
              <a:rPr lang="he-IL" sz="1400" b="1" dirty="0" smtClean="0">
                <a:solidFill>
                  <a:srgbClr val="002060"/>
                </a:solidFill>
                <a:latin typeface="Arial" panose="020B0604020202020204" pitchFamily="34" charset="0"/>
                <a:cs typeface="Arial" panose="020B0604020202020204" pitchFamily="34" charset="0"/>
              </a:rPr>
              <a:t>פי 2.5</a:t>
            </a:r>
            <a:endParaRPr lang="he-IL" sz="1400" b="1" dirty="0">
              <a:solidFill>
                <a:srgbClr val="002060"/>
              </a:solidFill>
              <a:latin typeface="Arial" panose="020B0604020202020204" pitchFamily="34" charset="0"/>
              <a:cs typeface="Arial" panose="020B0604020202020204" pitchFamily="34" charset="0"/>
            </a:endParaRPr>
          </a:p>
        </p:txBody>
      </p:sp>
      <p:sp>
        <p:nvSpPr>
          <p:cNvPr id="18" name="TextBox 10"/>
          <p:cNvSpPr txBox="1"/>
          <p:nvPr/>
        </p:nvSpPr>
        <p:spPr>
          <a:xfrm>
            <a:off x="6535949" y="4051144"/>
            <a:ext cx="769469"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rtl="1"/>
            <a:r>
              <a:rPr lang="he-IL" sz="1400" b="1" dirty="0" smtClean="0">
                <a:solidFill>
                  <a:srgbClr val="002060"/>
                </a:solidFill>
                <a:latin typeface="Arial" panose="020B0604020202020204" pitchFamily="34" charset="0"/>
                <a:cs typeface="Arial" panose="020B0604020202020204" pitchFamily="34" charset="0"/>
              </a:rPr>
              <a:t>פי 22</a:t>
            </a:r>
            <a:endParaRPr lang="he-IL" sz="1400" b="1" dirty="0">
              <a:solidFill>
                <a:srgbClr val="002060"/>
              </a:solidFill>
              <a:latin typeface="Arial" panose="020B0604020202020204" pitchFamily="34" charset="0"/>
              <a:cs typeface="Arial" panose="020B0604020202020204" pitchFamily="34" charset="0"/>
            </a:endParaRPr>
          </a:p>
        </p:txBody>
      </p:sp>
      <p:sp>
        <p:nvSpPr>
          <p:cNvPr id="22" name="Rectangle 7">
            <a:extLst>
              <a:ext uri="{FF2B5EF4-FFF2-40B4-BE49-F238E27FC236}">
                <a16:creationId xmlns:a16="http://schemas.microsoft.com/office/drawing/2014/main" id="{46AD47CF-DF28-4A8A-A9B9-814AB784C8A4}"/>
              </a:ext>
            </a:extLst>
          </p:cNvPr>
          <p:cNvSpPr/>
          <p:nvPr/>
        </p:nvSpPr>
        <p:spPr>
          <a:xfrm>
            <a:off x="492301" y="165951"/>
            <a:ext cx="3424334" cy="908705"/>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rtl="1"/>
            <a:r>
              <a:rPr lang="he-IL" sz="2000" dirty="0" smtClean="0"/>
              <a:t>10.7 מיליארד מחולק בכסף </a:t>
            </a:r>
            <a:endParaRPr lang="he-IL" sz="2000" dirty="0" smtClean="0"/>
          </a:p>
          <a:p>
            <a:pPr algn="ctr" rtl="1"/>
            <a:r>
              <a:rPr lang="he-IL" sz="2000" b="1" dirty="0" smtClean="0"/>
              <a:t>פי </a:t>
            </a:r>
            <a:r>
              <a:rPr lang="he-IL" sz="2000" b="1" dirty="0" smtClean="0"/>
              <a:t>63 מ2018</a:t>
            </a:r>
            <a:endParaRPr lang="he-IL" sz="2000" b="1" dirty="0"/>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12471424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197299" y="145268"/>
            <a:ext cx="6430073" cy="1325563"/>
          </a:xfrm>
        </p:spPr>
        <p:txBody>
          <a:bodyPr>
            <a:normAutofit/>
          </a:bodyPr>
          <a:lstStyle/>
          <a:p>
            <a:r>
              <a:rPr lang="he-IL" sz="3600" b="1" dirty="0" smtClean="0">
                <a:solidFill>
                  <a:srgbClr val="002060"/>
                </a:solidFill>
                <a:latin typeface="Arial" panose="020B0604020202020204" pitchFamily="34" charset="0"/>
                <a:ea typeface="+mn-ea"/>
                <a:cs typeface="Arial" panose="020B0604020202020204" pitchFamily="34" charset="0"/>
              </a:rPr>
              <a:t>אחוז המרה לפי שירותים 2024</a:t>
            </a:r>
            <a:endParaRPr lang="he-IL" sz="3600" b="1" dirty="0">
              <a:solidFill>
                <a:srgbClr val="002060"/>
              </a:solidFill>
              <a:latin typeface="Arial" panose="020B0604020202020204" pitchFamily="34" charset="0"/>
              <a:ea typeface="+mn-ea"/>
              <a:cs typeface="Arial" panose="020B0604020202020204" pitchFamily="34" charset="0"/>
            </a:endParaRP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271197" y="5771417"/>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endParaRPr lang="he-IL" sz="2400" dirty="0">
              <a:solidFill>
                <a:srgbClr val="FF0000"/>
              </a:solidFill>
              <a:latin typeface="Arial" panose="020B0604020202020204" pitchFamily="34" charset="0"/>
              <a:cs typeface="Arial" panose="020B0604020202020204" pitchFamily="34" charset="0"/>
            </a:endParaRPr>
          </a:p>
        </p:txBody>
      </p:sp>
      <p:graphicFrame>
        <p:nvGraphicFramePr>
          <p:cNvPr id="14" name="טבלה 13"/>
          <p:cNvGraphicFramePr>
            <a:graphicFrameLocks noGrp="1"/>
          </p:cNvGraphicFramePr>
          <p:nvPr>
            <p:extLst>
              <p:ext uri="{D42A27DB-BD31-4B8C-83A1-F6EECF244321}">
                <p14:modId xmlns:p14="http://schemas.microsoft.com/office/powerpoint/2010/main" val="1752442078"/>
              </p:ext>
            </p:extLst>
          </p:nvPr>
        </p:nvGraphicFramePr>
        <p:xfrm>
          <a:off x="486909" y="121125"/>
          <a:ext cx="2133600" cy="1139190"/>
        </p:xfrm>
        <a:graphic>
          <a:graphicData uri="http://schemas.openxmlformats.org/drawingml/2006/table">
            <a:tbl>
              <a:tblPr rtl="1"/>
              <a:tblGrid>
                <a:gridCol w="1244600">
                  <a:extLst>
                    <a:ext uri="{9D8B030D-6E8A-4147-A177-3AD203B41FA5}">
                      <a16:colId xmlns:a16="http://schemas.microsoft.com/office/drawing/2014/main" val="531752868"/>
                    </a:ext>
                  </a:extLst>
                </a:gridCol>
                <a:gridCol w="889000">
                  <a:extLst>
                    <a:ext uri="{9D8B030D-6E8A-4147-A177-3AD203B41FA5}">
                      <a16:colId xmlns:a16="http://schemas.microsoft.com/office/drawing/2014/main" val="2430981515"/>
                    </a:ext>
                  </a:extLst>
                </a:gridCol>
              </a:tblGrid>
              <a:tr h="0">
                <a:tc>
                  <a:txBody>
                    <a:bodyPr/>
                    <a:lstStyle/>
                    <a:p>
                      <a:pPr algn="ctr" rtl="1" fontAlgn="ctr"/>
                      <a:r>
                        <a:rPr lang="he-IL" sz="1100" b="1" i="0" u="none" strike="noStrike" dirty="0">
                          <a:solidFill>
                            <a:srgbClr val="000000"/>
                          </a:solidFill>
                          <a:effectLst/>
                          <a:latin typeface="Arial" panose="020B0604020202020204" pitchFamily="34" charset="0"/>
                        </a:rPr>
                        <a:t>שירות</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rtl="1" fontAlgn="ctr"/>
                      <a:r>
                        <a:rPr lang="he-IL" sz="1100" b="1" i="0" u="none" strike="noStrike">
                          <a:solidFill>
                            <a:srgbClr val="000000"/>
                          </a:solidFill>
                          <a:effectLst/>
                          <a:latin typeface="Arial" panose="020B0604020202020204" pitchFamily="34" charset="0"/>
                        </a:rPr>
                        <a:t>באחוזים 2024</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667402133"/>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ישראלית</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21%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437806897"/>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זרה</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14%</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8922666"/>
                  </a:ext>
                </a:extLst>
              </a:tr>
              <a:tr h="190500">
                <a:tc>
                  <a:txBody>
                    <a:bodyPr/>
                    <a:lstStyle/>
                    <a:p>
                      <a:pPr algn="r" rtl="1" fontAlgn="b"/>
                      <a:r>
                        <a:rPr lang="he-IL" sz="1100" b="1" i="0" u="none" strike="noStrike">
                          <a:solidFill>
                            <a:srgbClr val="000000"/>
                          </a:solidFill>
                          <a:effectLst/>
                          <a:latin typeface="Arial" panose="020B0604020202020204" pitchFamily="34" charset="0"/>
                        </a:rPr>
                        <a:t>בני משפחה מטפלים</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41%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2738512730"/>
                  </a:ext>
                </a:extLst>
              </a:tr>
              <a:tr h="190500">
                <a:tc>
                  <a:txBody>
                    <a:bodyPr/>
                    <a:lstStyle/>
                    <a:p>
                      <a:pPr algn="r" rtl="1" fontAlgn="b"/>
                      <a:r>
                        <a:rPr lang="he-IL" sz="1100" b="1" i="0" u="none" strike="noStrike">
                          <a:solidFill>
                            <a:srgbClr val="000000"/>
                          </a:solidFill>
                          <a:effectLst/>
                          <a:latin typeface="Arial" panose="020B0604020202020204" pitchFamily="34" charset="0"/>
                        </a:rPr>
                        <a:t>גמלה בכסף</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22%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3151792669"/>
                  </a:ext>
                </a:extLst>
              </a:tr>
              <a:tr h="200025">
                <a:tc>
                  <a:txBody>
                    <a:bodyPr/>
                    <a:lstStyle/>
                    <a:p>
                      <a:pPr algn="r" rtl="1" fontAlgn="b"/>
                      <a:r>
                        <a:rPr lang="he-IL" sz="1100" b="1" i="0" u="none" strike="noStrike" dirty="0">
                          <a:solidFill>
                            <a:srgbClr val="000000"/>
                          </a:solidFill>
                          <a:effectLst/>
                          <a:latin typeface="Arial" panose="020B0604020202020204" pitchFamily="34" charset="0"/>
                        </a:rPr>
                        <a:t>מרכז יום</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100" b="0" i="0" u="none" strike="noStrike" dirty="0">
                          <a:solidFill>
                            <a:srgbClr val="000000"/>
                          </a:solidFill>
                          <a:effectLst/>
                          <a:latin typeface="Arial" panose="020B0604020202020204" pitchFamily="34" charset="0"/>
                        </a:rPr>
                        <a:t>2%</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0690847"/>
                  </a:ext>
                </a:extLst>
              </a:tr>
            </a:tbl>
          </a:graphicData>
        </a:graphic>
      </p:graphicFrame>
      <p:graphicFrame>
        <p:nvGraphicFramePr>
          <p:cNvPr id="10" name="תרשים 9"/>
          <p:cNvGraphicFramePr>
            <a:graphicFrameLocks/>
          </p:cNvGraphicFramePr>
          <p:nvPr>
            <p:extLst>
              <p:ext uri="{D42A27DB-BD31-4B8C-83A1-F6EECF244321}">
                <p14:modId xmlns:p14="http://schemas.microsoft.com/office/powerpoint/2010/main" val="648565606"/>
              </p:ext>
            </p:extLst>
          </p:nvPr>
        </p:nvGraphicFramePr>
        <p:xfrm>
          <a:off x="3433164" y="1136074"/>
          <a:ext cx="7711109" cy="4929772"/>
        </p:xfrm>
        <a:graphic>
          <a:graphicData uri="http://schemas.openxmlformats.org/drawingml/2006/chart">
            <c:chart xmlns:c="http://schemas.openxmlformats.org/drawingml/2006/chart" xmlns:r="http://schemas.openxmlformats.org/officeDocument/2006/relationships" r:id="rId4"/>
          </a:graphicData>
        </a:graphic>
      </p:graphicFrame>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13507927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8FBB-1903-1F57-3490-7DC7484B1CA7}"/>
            </a:ext>
          </a:extLst>
        </p:cNvPr>
        <p:cNvGrpSpPr/>
        <p:nvPr/>
      </p:nvGrpSpPr>
      <p:grpSpPr>
        <a:xfrm>
          <a:off x="0" y="0"/>
          <a:ext cx="0" cy="0"/>
          <a:chOff x="0" y="0"/>
          <a:chExt cx="0" cy="0"/>
        </a:xfrm>
      </p:grpSpPr>
      <p:sp>
        <p:nvSpPr>
          <p:cNvPr id="6" name="מלבן 5">
            <a:extLst>
              <a:ext uri="{FF2B5EF4-FFF2-40B4-BE49-F238E27FC236}">
                <a16:creationId xmlns:a16="http://schemas.microsoft.com/office/drawing/2014/main" id="{007D5769-54A2-74AF-B16F-9EF808DF7FB6}"/>
              </a:ext>
            </a:extLst>
          </p:cNvPr>
          <p:cNvSpPr/>
          <p:nvPr/>
        </p:nvSpPr>
        <p:spPr>
          <a:xfrm>
            <a:off x="3093" y="0"/>
            <a:ext cx="244547" cy="6857999"/>
          </a:xfrm>
          <a:prstGeom prst="rect">
            <a:avLst/>
          </a:prstGeom>
          <a:solidFill>
            <a:srgbClr val="8C8D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a:extLst>
              <a:ext uri="{FF2B5EF4-FFF2-40B4-BE49-F238E27FC236}">
                <a16:creationId xmlns:a16="http://schemas.microsoft.com/office/drawing/2014/main" id="{C0EFC859-1CBB-691D-9E73-D6DE33C581DD}"/>
              </a:ext>
            </a:extLst>
          </p:cNvPr>
          <p:cNvGraphicFramePr>
            <a:graphicFrameLocks noGrp="1"/>
          </p:cNvGraphicFramePr>
          <p:nvPr>
            <p:extLst>
              <p:ext uri="{D42A27DB-BD31-4B8C-83A1-F6EECF244321}">
                <p14:modId xmlns:p14="http://schemas.microsoft.com/office/powerpoint/2010/main" val="2754884324"/>
              </p:ext>
            </p:extLst>
          </p:nvPr>
        </p:nvGraphicFramePr>
        <p:xfrm>
          <a:off x="1954882" y="2484945"/>
          <a:ext cx="8128000" cy="137668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algn="ctr" rtl="1"/>
                      <a:r>
                        <a:rPr lang="he-IL" b="1" dirty="0"/>
                        <a:t>השנה</a:t>
                      </a:r>
                    </a:p>
                  </a:txBody>
                  <a:tcPr/>
                </a:tc>
                <a:tc>
                  <a:txBody>
                    <a:bodyPr/>
                    <a:lstStyle/>
                    <a:p>
                      <a:pPr algn="ctr" rtl="1"/>
                      <a:r>
                        <a:rPr lang="he-IL" b="1" dirty="0"/>
                        <a:t>ההשקעה</a:t>
                      </a:r>
                    </a:p>
                  </a:txBody>
                  <a:tcPr/>
                </a:tc>
                <a:tc>
                  <a:txBody>
                    <a:bodyPr/>
                    <a:lstStyle/>
                    <a:p>
                      <a:pPr algn="ctr" rtl="1"/>
                      <a:r>
                        <a:rPr lang="he-IL" sz="1600" b="1" dirty="0"/>
                        <a:t>מספר הזכאים</a:t>
                      </a:r>
                      <a:endParaRPr lang="he-IL" b="1" dirty="0"/>
                    </a:p>
                  </a:txBody>
                  <a:tcPr/>
                </a:tc>
                <a:tc>
                  <a:txBody>
                    <a:bodyPr/>
                    <a:lstStyle/>
                    <a:p>
                      <a:pPr algn="ctr" rtl="1"/>
                      <a:r>
                        <a:rPr lang="he-IL" b="1" dirty="0"/>
                        <a:t>הבחירה האפשרית</a:t>
                      </a:r>
                    </a:p>
                  </a:txBody>
                  <a:tcPr/>
                </a:tc>
                <a:extLst>
                  <a:ext uri="{0D108BD9-81ED-4DB2-BD59-A6C34878D82A}">
                    <a16:rowId xmlns:a16="http://schemas.microsoft.com/office/drawing/2014/main" val="3801169514"/>
                  </a:ext>
                </a:extLst>
              </a:tr>
              <a:tr h="370840">
                <a:tc>
                  <a:txBody>
                    <a:bodyPr/>
                    <a:lstStyle/>
                    <a:p>
                      <a:pPr algn="ctr" rtl="1"/>
                      <a:r>
                        <a:rPr lang="he-IL" b="1" dirty="0"/>
                        <a:t>2018</a:t>
                      </a:r>
                    </a:p>
                  </a:txBody>
                  <a:tcPr/>
                </a:tc>
                <a:tc>
                  <a:txBody>
                    <a:bodyPr/>
                    <a:lstStyle/>
                    <a:p>
                      <a:pPr algn="ctr" rtl="1"/>
                      <a:r>
                        <a:rPr lang="he-IL" b="1" dirty="0"/>
                        <a:t>7 מיליארד ₪</a:t>
                      </a:r>
                    </a:p>
                  </a:txBody>
                  <a:tcPr/>
                </a:tc>
                <a:tc>
                  <a:txBody>
                    <a:bodyPr/>
                    <a:lstStyle/>
                    <a:p>
                      <a:pPr algn="ctr" rtl="1"/>
                      <a:r>
                        <a:rPr lang="he-IL" b="1" dirty="0"/>
                        <a:t>175,000</a:t>
                      </a:r>
                    </a:p>
                  </a:txBody>
                  <a:tcPr/>
                </a:tc>
                <a:tc rowSpan="2">
                  <a:txBody>
                    <a:bodyPr/>
                    <a:lstStyle/>
                    <a:p>
                      <a:pPr algn="ctr" rtl="1"/>
                      <a:r>
                        <a:rPr lang="he-IL" sz="2000" b="1" dirty="0"/>
                        <a:t>מטפלת-73%</a:t>
                      </a:r>
                    </a:p>
                    <a:p>
                      <a:pPr algn="ctr" rtl="1"/>
                      <a:r>
                        <a:rPr lang="he-IL" sz="2000" b="1" dirty="0"/>
                        <a:t>כסף- 23%</a:t>
                      </a:r>
                    </a:p>
                    <a:p>
                      <a:pPr algn="ctr" rtl="1"/>
                      <a:r>
                        <a:rPr lang="he-IL" sz="2000" b="1" dirty="0"/>
                        <a:t>מרכז יום- 2%</a:t>
                      </a:r>
                    </a:p>
                  </a:txBody>
                  <a:tcPr/>
                </a:tc>
                <a:extLst>
                  <a:ext uri="{0D108BD9-81ED-4DB2-BD59-A6C34878D82A}">
                    <a16:rowId xmlns:a16="http://schemas.microsoft.com/office/drawing/2014/main" val="604244769"/>
                  </a:ext>
                </a:extLst>
              </a:tr>
              <a:tr h="370840">
                <a:tc>
                  <a:txBody>
                    <a:bodyPr/>
                    <a:lstStyle/>
                    <a:p>
                      <a:pPr algn="ctr" rtl="1"/>
                      <a:r>
                        <a:rPr lang="he-IL" b="1" dirty="0" smtClean="0"/>
                        <a:t>2024</a:t>
                      </a:r>
                      <a:endParaRPr lang="he-IL" b="1" dirty="0"/>
                    </a:p>
                  </a:txBody>
                  <a:tcPr/>
                </a:tc>
                <a:tc>
                  <a:txBody>
                    <a:bodyPr/>
                    <a:lstStyle/>
                    <a:p>
                      <a:pPr algn="ctr" rtl="1"/>
                      <a:r>
                        <a:rPr lang="en-US" b="1" dirty="0" smtClean="0"/>
                        <a:t>17</a:t>
                      </a:r>
                      <a:r>
                        <a:rPr lang="he-IL" b="1" dirty="0" smtClean="0"/>
                        <a:t> </a:t>
                      </a:r>
                      <a:r>
                        <a:rPr lang="he-IL" b="1" dirty="0"/>
                        <a:t>מיליארד ₪ </a:t>
                      </a:r>
                    </a:p>
                  </a:txBody>
                  <a:tcPr/>
                </a:tc>
                <a:tc>
                  <a:txBody>
                    <a:bodyPr/>
                    <a:lstStyle/>
                    <a:p>
                      <a:pPr algn="ctr" rtl="1"/>
                      <a:r>
                        <a:rPr lang="he-IL" b="1" dirty="0" smtClean="0"/>
                        <a:t>360,000</a:t>
                      </a:r>
                      <a:endParaRPr lang="he-IL" b="1" dirty="0"/>
                    </a:p>
                  </a:txBody>
                  <a:tcPr/>
                </a:tc>
                <a:tc vMerge="1">
                  <a:txBody>
                    <a:bodyPr/>
                    <a:lstStyle/>
                    <a:p>
                      <a:pPr algn="ctr" rtl="1"/>
                      <a:endParaRPr lang="he-IL" b="1" dirty="0"/>
                    </a:p>
                  </a:txBody>
                  <a:tcPr/>
                </a:tc>
                <a:extLst>
                  <a:ext uri="{0D108BD9-81ED-4DB2-BD59-A6C34878D82A}">
                    <a16:rowId xmlns:a16="http://schemas.microsoft.com/office/drawing/2014/main" val="3563191535"/>
                  </a:ext>
                </a:extLst>
              </a:tr>
            </a:tbl>
          </a:graphicData>
        </a:graphic>
      </p:graphicFrame>
      <p:sp>
        <p:nvSpPr>
          <p:cNvPr id="8" name="מלבן 7">
            <a:extLst>
              <a:ext uri="{FF2B5EF4-FFF2-40B4-BE49-F238E27FC236}">
                <a16:creationId xmlns:a16="http://schemas.microsoft.com/office/drawing/2014/main" id="{DF0E1C70-7628-5D32-4812-ED7D90BD30DE}"/>
              </a:ext>
            </a:extLst>
          </p:cNvPr>
          <p:cNvSpPr/>
          <p:nvPr/>
        </p:nvSpPr>
        <p:spPr>
          <a:xfrm>
            <a:off x="1868274" y="3823522"/>
            <a:ext cx="8301216" cy="646331"/>
          </a:xfrm>
          <a:prstGeom prst="rect">
            <a:avLst/>
          </a:prstGeom>
          <a:ln w="12700">
            <a:solidFill>
              <a:schemeClr val="bg1"/>
            </a:solidFill>
          </a:ln>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3600" b="1" dirty="0">
                <a:ln w="0"/>
                <a:solidFill>
                  <a:schemeClr val="accent1">
                    <a:lumMod val="75000"/>
                  </a:schemeClr>
                </a:solidFill>
                <a:effectLst>
                  <a:outerShdw blurRad="38100" dist="25400" dir="5400000" algn="ctr" rotWithShape="0">
                    <a:srgbClr val="6E747A">
                      <a:alpha val="43000"/>
                    </a:srgbClr>
                  </a:outerShdw>
                </a:effectLst>
              </a:rPr>
              <a:t>ישראל משקיעה הכי הרבה, והתוצאות?</a:t>
            </a:r>
          </a:p>
        </p:txBody>
      </p:sp>
      <p:sp>
        <p:nvSpPr>
          <p:cNvPr id="18" name="תיבת טקסט 17">
            <a:extLst>
              <a:ext uri="{FF2B5EF4-FFF2-40B4-BE49-F238E27FC236}">
                <a16:creationId xmlns:a16="http://schemas.microsoft.com/office/drawing/2014/main" id="{461E4C1F-2142-6570-D6F2-9CB71F00AE14}"/>
              </a:ext>
            </a:extLst>
          </p:cNvPr>
          <p:cNvSpPr txBox="1"/>
          <p:nvPr/>
        </p:nvSpPr>
        <p:spPr>
          <a:xfrm>
            <a:off x="2868058" y="1530838"/>
            <a:ext cx="6301648" cy="954107"/>
          </a:xfrm>
          <a:prstGeom prst="rect">
            <a:avLst/>
          </a:prstGeom>
          <a:noFill/>
        </p:spPr>
        <p:txBody>
          <a:bodyPr wrap="square">
            <a:spAutoFit/>
          </a:bodyPr>
          <a:lstStyle/>
          <a:p>
            <a:pPr algn="ctr" rtl="1"/>
            <a:r>
              <a:rPr lang="he-IL" sz="2800" b="1" dirty="0">
                <a:solidFill>
                  <a:schemeClr val="tx2">
                    <a:lumMod val="75000"/>
                  </a:schemeClr>
                </a:solidFill>
                <a:latin typeface="Calibri" panose="020F0502020204030204" pitchFamily="34" charset="0"/>
                <a:cs typeface="Calibri" panose="020F0502020204030204" pitchFamily="34" charset="0"/>
              </a:rPr>
              <a:t>רפורמת סיעוד 2018</a:t>
            </a:r>
          </a:p>
          <a:p>
            <a:pPr algn="ctr" rtl="1"/>
            <a:r>
              <a:rPr lang="he-IL" sz="2800" b="1" dirty="0">
                <a:solidFill>
                  <a:schemeClr val="tx2">
                    <a:lumMod val="75000"/>
                  </a:schemeClr>
                </a:solidFill>
                <a:latin typeface="Calibri" panose="020F0502020204030204" pitchFamily="34" charset="0"/>
                <a:cs typeface="Calibri" panose="020F0502020204030204" pitchFamily="34" charset="0"/>
              </a:rPr>
              <a:t>השקעה גבוהה, בחירה נמוכה, </a:t>
            </a:r>
            <a:r>
              <a:rPr lang="he-IL" sz="2800" b="1" dirty="0" smtClean="0">
                <a:solidFill>
                  <a:schemeClr val="tx2">
                    <a:lumMod val="75000"/>
                  </a:schemeClr>
                </a:solidFill>
                <a:latin typeface="Calibri" panose="020F0502020204030204" pitchFamily="34" charset="0"/>
                <a:cs typeface="Calibri" panose="020F0502020204030204" pitchFamily="34" charset="0"/>
              </a:rPr>
              <a:t>תוצאות?</a:t>
            </a:r>
            <a:endParaRPr lang="he-IL" sz="2800" b="1" dirty="0">
              <a:solidFill>
                <a:schemeClr val="tx2">
                  <a:lumMod val="75000"/>
                </a:schemeClr>
              </a:solidFill>
              <a:latin typeface="Calibri" panose="020F0502020204030204" pitchFamily="34" charset="0"/>
              <a:cs typeface="Calibri" panose="020F0502020204030204" pitchFamily="34" charset="0"/>
            </a:endParaRPr>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17718839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p:txBody>
          <a:bodyPr>
            <a:normAutofit/>
          </a:bodyPr>
          <a:lstStyle/>
          <a:p>
            <a:r>
              <a:rPr lang="he-IL" sz="3200" dirty="0">
                <a:solidFill>
                  <a:schemeClr val="tx1"/>
                </a:solidFill>
              </a:rPr>
              <a:t>אחוז </a:t>
            </a:r>
            <a:r>
              <a:rPr lang="he-IL" sz="3200" dirty="0" smtClean="0">
                <a:solidFill>
                  <a:schemeClr val="tx1"/>
                </a:solidFill>
              </a:rPr>
              <a:t>זקנים המקבלים </a:t>
            </a:r>
            <a:r>
              <a:rPr lang="he-IL" sz="3200" dirty="0">
                <a:solidFill>
                  <a:schemeClr val="tx1"/>
                </a:solidFill>
              </a:rPr>
              <a:t>סיעוד בעולם</a:t>
            </a:r>
            <a:r>
              <a:rPr lang="he-IL" sz="1600" dirty="0">
                <a:solidFill>
                  <a:schemeClr val="tx1"/>
                </a:solidFill>
              </a:rPr>
              <a:t> 2018</a:t>
            </a:r>
            <a:endParaRPr lang="he-IL" sz="1600" dirty="0">
              <a:solidFill>
                <a:schemeClr val="tx1"/>
              </a:solidFill>
            </a:endParaRPr>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extLst>
              <p:ext uri="{D42A27DB-BD31-4B8C-83A1-F6EECF244321}">
                <p14:modId xmlns:p14="http://schemas.microsoft.com/office/powerpoint/2010/main" val="3365096594"/>
              </p:ext>
            </p:extLst>
          </p:nvPr>
        </p:nvGraphicFramePr>
        <p:xfrm>
          <a:off x="440654" y="2251436"/>
          <a:ext cx="10074945"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algn="r" rtl="1"/>
            <a:r>
              <a:rPr lang="he-IL" sz="1600" dirty="0">
                <a:solidFill>
                  <a:srgbClr val="B1B3B6"/>
                </a:solidFill>
              </a:rPr>
              <a:t>מקור: </a:t>
            </a:r>
            <a:r>
              <a:rPr lang="en-US" sz="1600" dirty="0" err="1">
                <a:solidFill>
                  <a:srgbClr val="B1B3B6"/>
                </a:solidFill>
              </a:rPr>
              <a:t>OECD.stat</a:t>
            </a:r>
            <a:r>
              <a:rPr lang="he-IL" sz="1600" dirty="0">
                <a:solidFill>
                  <a:srgbClr val="B1B3B6"/>
                </a:solidFill>
              </a:rPr>
              <a:t>, הנתונים בסלובניה והולנד הם ל-2017</a:t>
            </a:r>
          </a:p>
        </p:txBody>
      </p:sp>
      <p:sp>
        <p:nvSpPr>
          <p:cNvPr id="8" name="Rectangle 7">
            <a:extLst>
              <a:ext uri="{FF2B5EF4-FFF2-40B4-BE49-F238E27FC236}">
                <a16:creationId xmlns:a16="http://schemas.microsoft.com/office/drawing/2014/main" id="{46AD47CF-DF28-4A8A-A9B9-814AB784C8A4}"/>
              </a:ext>
            </a:extLst>
          </p:cNvPr>
          <p:cNvSpPr/>
          <p:nvPr/>
        </p:nvSpPr>
        <p:spPr>
          <a:xfrm>
            <a:off x="492301" y="165951"/>
            <a:ext cx="3424334" cy="1285778"/>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rtl="1"/>
            <a:r>
              <a:rPr lang="he-IL" sz="2400" dirty="0"/>
              <a:t>שיעור הזקנים בישראל המקבלים טיפול </a:t>
            </a:r>
            <a:r>
              <a:rPr lang="he-IL" sz="2400" dirty="0" smtClean="0"/>
              <a:t>בקהילה </a:t>
            </a:r>
            <a:r>
              <a:rPr lang="he-IL" sz="2400" dirty="0"/>
              <a:t>הוא </a:t>
            </a:r>
            <a:r>
              <a:rPr lang="he-IL" sz="2400" dirty="0" smtClean="0"/>
              <a:t>הגבוה </a:t>
            </a:r>
            <a:r>
              <a:rPr lang="he-IL" sz="2400" dirty="0"/>
              <a:t>בעולם </a:t>
            </a:r>
            <a:r>
              <a:rPr lang="he-IL" sz="1200" dirty="0"/>
              <a:t>(טרום </a:t>
            </a:r>
            <a:r>
              <a:rPr lang="he-IL" sz="1200" dirty="0" smtClean="0"/>
              <a:t>הרפורמה)</a:t>
            </a:r>
            <a:endParaRPr lang="he-IL" sz="2400" dirty="0"/>
          </a:p>
        </p:txBody>
      </p:sp>
      <p:sp>
        <p:nvSpPr>
          <p:cNvPr id="3" name="חץ: ימינה 2">
            <a:extLst>
              <a:ext uri="{FF2B5EF4-FFF2-40B4-BE49-F238E27FC236}">
                <a16:creationId xmlns:a16="http://schemas.microsoft.com/office/drawing/2014/main" id="{670A6B35-230A-7F3A-6051-CFBB20404161}"/>
              </a:ext>
            </a:extLst>
          </p:cNvPr>
          <p:cNvSpPr/>
          <p:nvPr/>
        </p:nvSpPr>
        <p:spPr>
          <a:xfrm rot="18614174">
            <a:off x="9277112" y="2186496"/>
            <a:ext cx="1063365" cy="4432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he-IL"/>
          </a:p>
        </p:txBody>
      </p:sp>
      <p:sp>
        <p:nvSpPr>
          <p:cNvPr id="4" name="תיבת טקסט 3">
            <a:extLst>
              <a:ext uri="{FF2B5EF4-FFF2-40B4-BE49-F238E27FC236}">
                <a16:creationId xmlns:a16="http://schemas.microsoft.com/office/drawing/2014/main" id="{5421E4F7-A230-58B0-9974-75783F11DF47}"/>
              </a:ext>
            </a:extLst>
          </p:cNvPr>
          <p:cNvSpPr txBox="1"/>
          <p:nvPr/>
        </p:nvSpPr>
        <p:spPr>
          <a:xfrm>
            <a:off x="10321435" y="1631635"/>
            <a:ext cx="646331" cy="369332"/>
          </a:xfrm>
          <a:prstGeom prst="rect">
            <a:avLst/>
          </a:prstGeom>
          <a:solidFill>
            <a:srgbClr val="5B9BD5"/>
          </a:solidFill>
        </p:spPr>
        <p:txBody>
          <a:bodyPr wrap="none" rtlCol="1">
            <a:spAutoFit/>
          </a:bodyPr>
          <a:lstStyle/>
          <a:p>
            <a:r>
              <a:rPr lang="he-IL" dirty="0"/>
              <a:t>29%</a:t>
            </a:r>
          </a:p>
        </p:txBody>
      </p:sp>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35921153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a:xfrm>
            <a:off x="180870" y="458070"/>
            <a:ext cx="10140565" cy="1325563"/>
          </a:xfrm>
        </p:spPr>
        <p:txBody>
          <a:bodyPr>
            <a:normAutofit/>
          </a:bodyPr>
          <a:lstStyle/>
          <a:p>
            <a:r>
              <a:rPr lang="he-IL" sz="4400" dirty="0">
                <a:solidFill>
                  <a:schemeClr val="tx1"/>
                </a:solidFill>
              </a:rPr>
              <a:t>אחוז בני +65 אשר מקבלים טיפול במוסד </a:t>
            </a:r>
            <a:r>
              <a:rPr lang="he-IL" sz="4000" b="0" dirty="0">
                <a:solidFill>
                  <a:schemeClr val="tx1"/>
                </a:solidFill>
              </a:rPr>
              <a:t>(2018</a:t>
            </a:r>
            <a:r>
              <a:rPr lang="he-IL" sz="4000" b="0" dirty="0" smtClean="0"/>
              <a:t>)</a:t>
            </a:r>
            <a:endParaRPr lang="he-IL" sz="4400" b="0" dirty="0"/>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extLst>
              <p:ext uri="{D42A27DB-BD31-4B8C-83A1-F6EECF244321}">
                <p14:modId xmlns:p14="http://schemas.microsoft.com/office/powerpoint/2010/main" val="812708763"/>
              </p:ext>
            </p:extLst>
          </p:nvPr>
        </p:nvGraphicFramePr>
        <p:xfrm>
          <a:off x="1047036" y="2617814"/>
          <a:ext cx="9217191" cy="395139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algn="r" rtl="1"/>
            <a:r>
              <a:rPr lang="he-IL" sz="1600" dirty="0">
                <a:solidFill>
                  <a:srgbClr val="B1B3B6"/>
                </a:solidFill>
              </a:rPr>
              <a:t>מקור: </a:t>
            </a:r>
            <a:r>
              <a:rPr lang="en-US" sz="1600" dirty="0" err="1">
                <a:solidFill>
                  <a:srgbClr val="B1B3B6"/>
                </a:solidFill>
              </a:rPr>
              <a:t>OECD.stat</a:t>
            </a:r>
            <a:r>
              <a:rPr lang="he-IL" sz="1600" dirty="0">
                <a:solidFill>
                  <a:srgbClr val="B1B3B6"/>
                </a:solidFill>
              </a:rPr>
              <a:t>, הנתונים בסלובניה והולנד הם ל-2017</a:t>
            </a:r>
          </a:p>
        </p:txBody>
      </p:sp>
      <p:sp>
        <p:nvSpPr>
          <p:cNvPr id="5" name="Rectangle 4">
            <a:extLst>
              <a:ext uri="{FF2B5EF4-FFF2-40B4-BE49-F238E27FC236}">
                <a16:creationId xmlns:a16="http://schemas.microsoft.com/office/drawing/2014/main" id="{4CB87CA1-C087-444D-89B6-53B9A22D55A7}"/>
              </a:ext>
            </a:extLst>
          </p:cNvPr>
          <p:cNvSpPr/>
          <p:nvPr/>
        </p:nvSpPr>
        <p:spPr>
          <a:xfrm>
            <a:off x="320511" y="1659750"/>
            <a:ext cx="2987381" cy="70378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r" rtl="1"/>
            <a:r>
              <a:rPr lang="he-IL" sz="2400" dirty="0" smtClean="0"/>
              <a:t>אחוז זקנים המטופלים במוסדות הנמוך בעולם</a:t>
            </a:r>
            <a:endParaRPr lang="he-IL" sz="2400" dirty="0"/>
          </a:p>
        </p:txBody>
      </p:sp>
      <p:sp>
        <p:nvSpPr>
          <p:cNvPr id="8" name="מלבן 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17773862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74321"/>
            <a:ext cx="10657351" cy="720000"/>
          </a:xfrm>
        </p:spPr>
        <p:txBody>
          <a:bodyPr>
            <a:normAutofit fontScale="90000"/>
          </a:bodyPr>
          <a:lstStyle/>
          <a:p>
            <a:r>
              <a:rPr lang="he-IL">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נשים</a:t>
            </a:r>
            <a:br>
              <a:rPr lang="he-IL">
                <a:solidFill>
                  <a:schemeClr val="tx1">
                    <a:lumMod val="75000"/>
                    <a:lumOff val="25000"/>
                  </a:schemeClr>
                </a:solidFill>
                <a:latin typeface="Calibri Light" panose="020F0302020204030204" pitchFamily="34" charset="0"/>
                <a:cs typeface="Calibri Light" panose="020F0302020204030204" pitchFamily="34" charset="0"/>
              </a:rPr>
            </a:br>
            <a:r>
              <a:rPr lang="he-IL" sz="310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nvGraphicFramePr>
        <p:xfrm>
          <a:off x="-94528" y="1943303"/>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343633" y="1943302"/>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3F2EE287-1B97-49E9-A56E-10073DB0BD48}"/>
              </a:ext>
            </a:extLst>
          </p:cNvPr>
          <p:cNvSpPr txBox="1"/>
          <p:nvPr/>
        </p:nvSpPr>
        <p:spPr>
          <a:xfrm>
            <a:off x="3819547" y="5544389"/>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Rectangle 8">
            <a:extLst>
              <a:ext uri="{FF2B5EF4-FFF2-40B4-BE49-F238E27FC236}">
                <a16:creationId xmlns:a16="http://schemas.microsoft.com/office/drawing/2014/main" id="{F35CAC1E-C81D-42EE-903D-8CF813F29894}"/>
              </a:ext>
            </a:extLst>
          </p:cNvPr>
          <p:cNvSpPr/>
          <p:nvPr/>
        </p:nvSpPr>
        <p:spPr>
          <a:xfrm>
            <a:off x="1944863" y="6161239"/>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נשים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47%</a:t>
            </a:r>
            <a:r>
              <a:rPr kumimoji="0" lang="he-IL" sz="2000" b="0" i="0" u="none" strike="noStrike" kern="1200" cap="none" spc="0" normalizeH="0" baseline="0" noProof="0">
                <a:ln>
                  <a:noFill/>
                </a:ln>
                <a:solidFill>
                  <a:srgbClr val="008DA8"/>
                </a:solidFill>
                <a:effectLst/>
                <a:uLnTx/>
                <a:uFillTx/>
                <a:latin typeface="Calibri"/>
                <a:ea typeface="+mn-ea"/>
                <a:cs typeface="Arial"/>
              </a:rPr>
              <a:t> (10.6 שנים)</a:t>
            </a:r>
          </a:p>
        </p:txBody>
      </p:sp>
      <p:sp>
        <p:nvSpPr>
          <p:cNvPr id="10" name="Arrow: Down 10">
            <a:extLst>
              <a:ext uri="{FF2B5EF4-FFF2-40B4-BE49-F238E27FC236}">
                <a16:creationId xmlns:a16="http://schemas.microsoft.com/office/drawing/2014/main" id="{E80945E7-42A5-4B60-9627-AA57215D1880}"/>
              </a:ext>
            </a:extLst>
          </p:cNvPr>
          <p:cNvSpPr/>
          <p:nvPr/>
        </p:nvSpPr>
        <p:spPr>
          <a:xfrm rot="5400000">
            <a:off x="10684654" y="5999344"/>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8" name="TextBox 7">
            <a:extLst>
              <a:ext uri="{FF2B5EF4-FFF2-40B4-BE49-F238E27FC236}">
                <a16:creationId xmlns:a16="http://schemas.microsoft.com/office/drawing/2014/main" id="{96159013-4E89-495D-A506-C803F4E0D5B7}"/>
              </a:ext>
            </a:extLst>
          </p:cNvPr>
          <p:cNvSpPr txBox="1"/>
          <p:nvPr/>
        </p:nvSpPr>
        <p:spPr>
          <a:xfrm>
            <a:off x="1410967" y="6510006"/>
            <a:ext cx="10514417" cy="369332"/>
          </a:xfrm>
          <a:prstGeom prst="rect">
            <a:avLst/>
          </a:prstGeom>
          <a:noFill/>
        </p:spPr>
        <p:txBody>
          <a:bodyPr wrap="none" rtlCol="1">
            <a:spAutoFit/>
          </a:bodyPr>
          <a:lstStyle/>
          <a:p>
            <a:pPr algn="r" rtl="1"/>
            <a:r>
              <a:rPr lang="he-IL" dirty="0"/>
              <a:t>המוגבלות מבוססת על שאלת </a:t>
            </a:r>
            <a:r>
              <a:rPr lang="en-US" dirty="0"/>
              <a:t>GALI</a:t>
            </a:r>
            <a:r>
              <a:rPr lang="he-IL" dirty="0"/>
              <a:t> (באיזה מידה היו לך בעיות בריאות המפריעות לתפקוד) הנשאלת בסקר החברתי</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4" name="TextBox 13"/>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27632577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27496"/>
            <a:ext cx="10657351" cy="720000"/>
          </a:xfrm>
        </p:spPr>
        <p:txBody>
          <a:bodyPr>
            <a:normAutofit fontScale="90000"/>
          </a:bodyPr>
          <a:lstStyle/>
          <a:p>
            <a:r>
              <a:rPr lang="he-IL" dirty="0">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גברים</a:t>
            </a:r>
            <a:br>
              <a:rPr lang="he-IL" dirty="0">
                <a:solidFill>
                  <a:schemeClr val="tx1">
                    <a:lumMod val="75000"/>
                    <a:lumOff val="25000"/>
                  </a:schemeClr>
                </a:solidFill>
                <a:latin typeface="Calibri Light" panose="020F0302020204030204" pitchFamily="34" charset="0"/>
                <a:cs typeface="Calibri Light" panose="020F0302020204030204" pitchFamily="34" charset="0"/>
              </a:rPr>
            </a:br>
            <a:r>
              <a:rPr lang="he-IL" sz="3100" dirty="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dirty="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extLst>
              <p:ext uri="{D42A27DB-BD31-4B8C-83A1-F6EECF244321}">
                <p14:modId xmlns:p14="http://schemas.microsoft.com/office/powerpoint/2010/main" val="1832955312"/>
              </p:ext>
            </p:extLst>
          </p:nvPr>
        </p:nvGraphicFramePr>
        <p:xfrm>
          <a:off x="97970" y="1787675"/>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426256" y="1787675"/>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a:extLst>
              <a:ext uri="{FF2B5EF4-FFF2-40B4-BE49-F238E27FC236}">
                <a16:creationId xmlns:a16="http://schemas.microsoft.com/office/drawing/2014/main" id="{7E5EC7E6-E846-4AE9-9944-B9527070E881}"/>
              </a:ext>
            </a:extLst>
          </p:cNvPr>
          <p:cNvSpPr/>
          <p:nvPr/>
        </p:nvSpPr>
        <p:spPr>
          <a:xfrm>
            <a:off x="2090786" y="5843390"/>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גברים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56%</a:t>
            </a:r>
            <a:r>
              <a:rPr kumimoji="0" lang="he-IL" sz="2000" b="0" i="0" u="none" strike="noStrike" kern="1200" cap="none" spc="0" normalizeH="0" baseline="0" noProof="0">
                <a:ln>
                  <a:noFill/>
                </a:ln>
                <a:solidFill>
                  <a:srgbClr val="008DA8"/>
                </a:solidFill>
                <a:effectLst/>
                <a:uLnTx/>
                <a:uFillTx/>
                <a:latin typeface="Calibri"/>
                <a:ea typeface="+mn-ea"/>
                <a:cs typeface="Arial"/>
              </a:rPr>
              <a:t> (11.2 שנים)</a:t>
            </a:r>
          </a:p>
        </p:txBody>
      </p:sp>
      <p:sp>
        <p:nvSpPr>
          <p:cNvPr id="6" name="TextBox 5">
            <a:extLst>
              <a:ext uri="{FF2B5EF4-FFF2-40B4-BE49-F238E27FC236}">
                <a16:creationId xmlns:a16="http://schemas.microsoft.com/office/drawing/2014/main" id="{EC42BFF8-1DC8-4AD2-87DC-7075B6ED8ED6}"/>
              </a:ext>
            </a:extLst>
          </p:cNvPr>
          <p:cNvSpPr txBox="1"/>
          <p:nvPr/>
        </p:nvSpPr>
        <p:spPr>
          <a:xfrm>
            <a:off x="3350391" y="5410808"/>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Arrow: Down 10">
            <a:extLst>
              <a:ext uri="{FF2B5EF4-FFF2-40B4-BE49-F238E27FC236}">
                <a16:creationId xmlns:a16="http://schemas.microsoft.com/office/drawing/2014/main" id="{E80945E7-42A5-4B60-9627-AA57215D1880}"/>
              </a:ext>
            </a:extLst>
          </p:cNvPr>
          <p:cNvSpPr/>
          <p:nvPr/>
        </p:nvSpPr>
        <p:spPr>
          <a:xfrm rot="5400000">
            <a:off x="10827529" y="5681495"/>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2" name="TextBox 1">
            <a:extLst>
              <a:ext uri="{FF2B5EF4-FFF2-40B4-BE49-F238E27FC236}">
                <a16:creationId xmlns:a16="http://schemas.microsoft.com/office/drawing/2014/main" id="{22044022-5434-413B-BB1D-05C6865CD830}"/>
              </a:ext>
            </a:extLst>
          </p:cNvPr>
          <p:cNvSpPr txBox="1"/>
          <p:nvPr/>
        </p:nvSpPr>
        <p:spPr>
          <a:xfrm>
            <a:off x="1410967" y="6445838"/>
            <a:ext cx="10514417" cy="369332"/>
          </a:xfrm>
          <a:prstGeom prst="rect">
            <a:avLst/>
          </a:prstGeom>
          <a:noFill/>
        </p:spPr>
        <p:txBody>
          <a:bodyPr wrap="none" rtlCol="1">
            <a:spAutoFit/>
          </a:bodyPr>
          <a:lstStyle/>
          <a:p>
            <a:pPr algn="r" rtl="1"/>
            <a:r>
              <a:rPr lang="he-IL" dirty="0"/>
              <a:t>המוגבלות מבוססת על שאלת </a:t>
            </a:r>
            <a:r>
              <a:rPr lang="en-US" dirty="0"/>
              <a:t>GALI</a:t>
            </a:r>
            <a:r>
              <a:rPr lang="he-IL" dirty="0"/>
              <a:t> (באיזה מידה היו לך בעיות בריאות המפריעות לתפקוד) הנשאלת בסקר החברתי</a:t>
            </a:r>
          </a:p>
        </p:txBody>
      </p:sp>
      <p:sp>
        <p:nvSpPr>
          <p:cNvPr id="10" name="מלבן 9"/>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2" name="TextBox 11"/>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40758165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dirty="0"/>
              <a:t>בריאות –תפקוד </a:t>
            </a:r>
            <a:r>
              <a:rPr lang="en-US" dirty="0"/>
              <a:t>ADL</a:t>
            </a:r>
          </a:p>
        </p:txBody>
      </p:sp>
      <p:sp>
        <p:nvSpPr>
          <p:cNvPr id="2" name="Rectangle 1">
            <a:extLst>
              <a:ext uri="{FF2B5EF4-FFF2-40B4-BE49-F238E27FC236}">
                <a16:creationId xmlns:a16="http://schemas.microsoft.com/office/drawing/2014/main" id="{EC14B4DC-62C7-4788-ABA2-4368D0591622}"/>
              </a:ext>
            </a:extLst>
          </p:cNvPr>
          <p:cNvSpPr/>
          <p:nvPr/>
        </p:nvSpPr>
        <p:spPr>
          <a:xfrm>
            <a:off x="1433907" y="1592234"/>
            <a:ext cx="9141305" cy="382797"/>
          </a:xfrm>
          <a:prstGeom prst="rect">
            <a:avLst/>
          </a:prstGeom>
        </p:spPr>
        <p:txBody>
          <a:bodyPr wrap="square">
            <a:spAutoFit/>
          </a:bodyPr>
          <a:lstStyle/>
          <a:p>
            <a:pPr marL="271463" marR="0" lvl="0" indent="0" algn="r" defTabSz="914400" rtl="1" eaLnBrk="1" fontAlgn="auto" latinLnBrk="0" hangingPunct="1">
              <a:lnSpc>
                <a:spcPts val="22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9" name="Chart 8"/>
          <p:cNvGraphicFramePr/>
          <p:nvPr/>
        </p:nvGraphicFramePr>
        <p:xfrm>
          <a:off x="512873" y="2283623"/>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5" name="מלבן 4"/>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26280177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sz="4800" dirty="0">
                <a:solidFill>
                  <a:srgbClr val="A82172"/>
                </a:solidFill>
                <a:latin typeface="Calibri" panose="020F0502020204030204" pitchFamily="34" charset="0"/>
                <a:cs typeface="Calibri" panose="020F0502020204030204" pitchFamily="34" charset="0"/>
              </a:rPr>
              <a:t>בריאות –תפקוד </a:t>
            </a:r>
            <a:r>
              <a:rPr lang="en-US" sz="4800" dirty="0">
                <a:solidFill>
                  <a:srgbClr val="A82172"/>
                </a:solidFill>
                <a:latin typeface="Calibri" panose="020F0502020204030204" pitchFamily="34" charset="0"/>
                <a:cs typeface="Calibri" panose="020F0502020204030204" pitchFamily="34" charset="0"/>
              </a:rPr>
              <a:t>IADL</a:t>
            </a:r>
          </a:p>
        </p:txBody>
      </p:sp>
      <p:sp>
        <p:nvSpPr>
          <p:cNvPr id="5" name="Rectangle 4">
            <a:extLst>
              <a:ext uri="{FF2B5EF4-FFF2-40B4-BE49-F238E27FC236}">
                <a16:creationId xmlns:a16="http://schemas.microsoft.com/office/drawing/2014/main" id="{3407A74C-E92D-40DF-A8D4-AB6FBE1ACB26}"/>
              </a:ext>
            </a:extLst>
          </p:cNvPr>
          <p:cNvSpPr/>
          <p:nvPr/>
        </p:nvSpPr>
        <p:spPr>
          <a:xfrm>
            <a:off x="1050368" y="1519529"/>
            <a:ext cx="9537530" cy="461665"/>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IADL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11" name="Chart 10"/>
          <p:cNvGraphicFramePr/>
          <p:nvPr>
            <p:extLst>
              <p:ext uri="{D42A27DB-BD31-4B8C-83A1-F6EECF244321}">
                <p14:modId xmlns:p14="http://schemas.microsoft.com/office/powerpoint/2010/main" val="3768619553"/>
              </p:ext>
            </p:extLst>
          </p:nvPr>
        </p:nvGraphicFramePr>
        <p:xfrm>
          <a:off x="518344" y="2178756"/>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4">
            <a:extLst>
              <a:ext uri="{FF2B5EF4-FFF2-40B4-BE49-F238E27FC236}">
                <a16:creationId xmlns:a16="http://schemas.microsoft.com/office/drawing/2014/main" id="{4CB87CA1-C087-444D-89B6-53B9A22D55A7}"/>
              </a:ext>
            </a:extLst>
          </p:cNvPr>
          <p:cNvSpPr/>
          <p:nvPr/>
        </p:nvSpPr>
        <p:spPr>
          <a:xfrm>
            <a:off x="377073" y="565609"/>
            <a:ext cx="2507530" cy="6572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r" rtl="1"/>
            <a:r>
              <a:rPr lang="he-IL" sz="2400" dirty="0" smtClean="0"/>
              <a:t>ישראל מקום אחרון ב </a:t>
            </a:r>
            <a:r>
              <a:rPr lang="en-US" sz="2400" dirty="0" smtClean="0"/>
              <a:t>IADL</a:t>
            </a:r>
            <a:endParaRPr lang="he-IL" sz="2400" dirty="0"/>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37452184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3" name="מלבן 2"/>
          <p:cNvSpPr/>
          <p:nvPr/>
        </p:nvSpPr>
        <p:spPr>
          <a:xfrm>
            <a:off x="1297575" y="2740103"/>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a:solidFill>
                  <a:schemeClr val="bg1"/>
                </a:solidFill>
                <a:latin typeface="Calibri" panose="020F0502020204030204" pitchFamily="34" charset="0"/>
                <a:cs typeface="Calibri" panose="020F0502020204030204" pitchFamily="34" charset="0"/>
              </a:rPr>
              <a:t>חלק ניכר מזכאי סיעוד לא מקבל מענה </a:t>
            </a:r>
            <a:r>
              <a:rPr lang="he-IL" sz="2800" b="1" dirty="0" smtClean="0">
                <a:solidFill>
                  <a:schemeClr val="bg1"/>
                </a:solidFill>
                <a:latin typeface="Calibri" panose="020F0502020204030204" pitchFamily="34" charset="0"/>
                <a:cs typeface="Calibri" panose="020F0502020204030204" pitchFamily="34" charset="0"/>
              </a:rPr>
              <a:t>מותאם </a:t>
            </a:r>
            <a:r>
              <a:rPr lang="he-IL" sz="2800" b="1" dirty="0">
                <a:solidFill>
                  <a:schemeClr val="bg1"/>
                </a:solidFill>
                <a:latin typeface="Calibri" panose="020F0502020204030204" pitchFamily="34" charset="0"/>
                <a:cs typeface="Calibri" panose="020F0502020204030204" pitchFamily="34" charset="0"/>
              </a:rPr>
              <a:t>למצבו</a:t>
            </a:r>
            <a:endParaRPr lang="he-IL" sz="2800" dirty="0">
              <a:solidFill>
                <a:schemeClr val="bg1"/>
              </a:solidFill>
              <a:latin typeface="Calibri" panose="020F0502020204030204" pitchFamily="34" charset="0"/>
              <a:cs typeface="Calibri" panose="020F0502020204030204" pitchFamily="34" charset="0"/>
            </a:endParaRPr>
          </a:p>
        </p:txBody>
      </p:sp>
      <p:sp>
        <p:nvSpPr>
          <p:cNvPr id="7" name="מלבן 6"/>
          <p:cNvSpPr/>
          <p:nvPr/>
        </p:nvSpPr>
        <p:spPr>
          <a:xfrm>
            <a:off x="9054403" y="222329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800" b="1" dirty="0">
                <a:latin typeface="Calibri" panose="020F0502020204030204" pitchFamily="34" charset="0"/>
                <a:cs typeface="Calibri" panose="020F0502020204030204" pitchFamily="34" charset="0"/>
              </a:rPr>
              <a:t>האתגר:</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297576" y="4367735"/>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dirty="0">
                <a:solidFill>
                  <a:schemeClr val="bg1"/>
                </a:solidFill>
                <a:latin typeface="Calibri" panose="020F0502020204030204" pitchFamily="34" charset="0"/>
                <a:cs typeface="Calibri" panose="020F0502020204030204" pitchFamily="34" charset="0"/>
              </a:rPr>
              <a:t>תעדוף נמוך של שירותים חברתיים שהוכחו כמונעי התדרדרות, </a:t>
            </a:r>
            <a:r>
              <a:rPr lang="en-US" sz="2800" dirty="0">
                <a:solidFill>
                  <a:schemeClr val="bg1"/>
                </a:solidFill>
                <a:latin typeface="Calibri" panose="020F0502020204030204" pitchFamily="34" charset="0"/>
                <a:cs typeface="Calibri" panose="020F0502020204030204" pitchFamily="34" charset="0"/>
              </a:rPr>
              <a:t/>
            </a:r>
            <a:br>
              <a:rPr lang="en-US" sz="2800" dirty="0">
                <a:solidFill>
                  <a:schemeClr val="bg1"/>
                </a:solidFill>
                <a:latin typeface="Calibri" panose="020F0502020204030204" pitchFamily="34" charset="0"/>
                <a:cs typeface="Calibri" panose="020F0502020204030204" pitchFamily="34" charset="0"/>
              </a:rPr>
            </a:br>
            <a:r>
              <a:rPr lang="he-IL" sz="2800" dirty="0">
                <a:solidFill>
                  <a:schemeClr val="bg1"/>
                </a:solidFill>
                <a:latin typeface="Calibri" panose="020F0502020204030204" pitchFamily="34" charset="0"/>
                <a:cs typeface="Calibri" panose="020F0502020204030204" pitchFamily="34" charset="0"/>
              </a:rPr>
              <a:t>מעבר לגמלה בכסף בעין והמחסור במטפלות</a:t>
            </a:r>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3" name="מלבן מעוגל 22"/>
          <p:cNvSpPr/>
          <p:nvPr/>
        </p:nvSpPr>
        <p:spPr>
          <a:xfrm>
            <a:off x="321597" y="5967176"/>
            <a:ext cx="2700961" cy="8908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4" name="מלבן 23"/>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25" name="TextBox 24"/>
          <p:cNvSpPr txBox="1"/>
          <p:nvPr/>
        </p:nvSpPr>
        <p:spPr>
          <a:xfrm rot="16200000">
            <a:off x="-641174" y="889037"/>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Tree>
    <p:extLst>
      <p:ext uri="{BB962C8B-B14F-4D97-AF65-F5344CB8AC3E}">
        <p14:creationId xmlns:p14="http://schemas.microsoft.com/office/powerpoint/2010/main" val="29979078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059283" y="200512"/>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8" name="מלבן 7"/>
          <p:cNvSpPr/>
          <p:nvPr/>
        </p:nvSpPr>
        <p:spPr>
          <a:xfrm>
            <a:off x="9690027" y="2526395"/>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כסף</a:t>
            </a:r>
          </a:p>
        </p:txBody>
      </p:sp>
      <p:sp>
        <p:nvSpPr>
          <p:cNvPr id="9" name="מלבן 8"/>
          <p:cNvSpPr/>
          <p:nvPr/>
        </p:nvSpPr>
        <p:spPr>
          <a:xfrm>
            <a:off x="676005" y="2526395"/>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Calibri" panose="020F0502020204030204" pitchFamily="34" charset="0"/>
                <a:cs typeface="Calibri" panose="020F0502020204030204" pitchFamily="34" charset="0"/>
              </a:rPr>
              <a:t>תמריץ שלילי לשירותים, כיצד לתמרץ את הוותיקים לצרוך שירותים דוחקי תלות?</a:t>
            </a:r>
          </a:p>
        </p:txBody>
      </p:sp>
      <p:sp>
        <p:nvSpPr>
          <p:cNvPr id="10" name="מלבן 9"/>
          <p:cNvSpPr/>
          <p:nvPr/>
        </p:nvSpPr>
        <p:spPr>
          <a:xfrm>
            <a:off x="676004" y="4847212"/>
            <a:ext cx="8880781"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cs typeface="Calibri" panose="020F0502020204030204" pitchFamily="34" charset="0"/>
              </a:rPr>
              <a:t>כיצד להרחיב ולהתאים את המענים לזכאי סיעוד לצורך שימור תפקוד ודחיקת תלות?</a:t>
            </a:r>
          </a:p>
        </p:txBody>
      </p:sp>
      <p:sp>
        <p:nvSpPr>
          <p:cNvPr id="11" name="מלבן 10"/>
          <p:cNvSpPr/>
          <p:nvPr/>
        </p:nvSpPr>
        <p:spPr>
          <a:xfrm>
            <a:off x="676005" y="3698062"/>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Calibri" panose="020F0502020204030204" pitchFamily="34" charset="0"/>
                <a:cs typeface="Calibri" panose="020F0502020204030204" pitchFamily="34" charset="0"/>
              </a:rPr>
              <a:t>טיפול בית – משאב במחסור, למי נועד הסיוע ומה 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9690027" y="3698062"/>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מטפלות</a:t>
            </a:r>
          </a:p>
        </p:txBody>
      </p:sp>
      <p:sp>
        <p:nvSpPr>
          <p:cNvPr id="13" name="מלבן 12"/>
          <p:cNvSpPr/>
          <p:nvPr/>
        </p:nvSpPr>
        <p:spPr>
          <a:xfrm>
            <a:off x="9690027" y="486972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שירותים</a:t>
            </a:r>
          </a:p>
        </p:txBody>
      </p:sp>
      <p:sp>
        <p:nvSpPr>
          <p:cNvPr id="15" name="מלבן 14"/>
          <p:cNvSpPr/>
          <p:nvPr/>
        </p:nvSpPr>
        <p:spPr>
          <a:xfrm>
            <a:off x="9690027" y="1323847"/>
            <a:ext cx="2099854"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19" name="מלבן מעוגל 18"/>
          <p:cNvSpPr/>
          <p:nvPr/>
        </p:nvSpPr>
        <p:spPr>
          <a:xfrm>
            <a:off x="370991" y="6094158"/>
            <a:ext cx="2967644" cy="76736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41715654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339392" y="299138"/>
            <a:ext cx="10515600" cy="850789"/>
          </a:xfrm>
        </p:spPr>
        <p:txBody>
          <a:bodyPr>
            <a:normAutofit fontScale="90000"/>
          </a:bodyPr>
          <a:lstStyle/>
          <a:p>
            <a:r>
              <a:rPr lang="he-IL" b="1" dirty="0" smtClean="0">
                <a:latin typeface="Calibri" panose="020F0502020204030204" pitchFamily="34" charset="0"/>
                <a:ea typeface="Calibri" panose="020F0502020204030204" pitchFamily="34" charset="0"/>
              </a:rPr>
              <a:t>בעיות עיקריות בחוק </a:t>
            </a:r>
            <a:r>
              <a:rPr lang="he-IL" b="1" dirty="0" smtClean="0">
                <a:latin typeface="Calibri" panose="020F0502020204030204" pitchFamily="34" charset="0"/>
                <a:ea typeface="Calibri" panose="020F0502020204030204" pitchFamily="34" charset="0"/>
              </a:rPr>
              <a:t>סיעוד 2024:</a:t>
            </a:r>
            <a:r>
              <a:rPr lang="en-US" dirty="0" smtClean="0">
                <a:latin typeface="Calibri" panose="020F0502020204030204" pitchFamily="34" charset="0"/>
                <a:ea typeface="Calibri" panose="020F0502020204030204" pitchFamily="34" charset="0"/>
                <a:cs typeface="Arial" panose="020B0604020202020204" pitchFamily="34" charset="0"/>
              </a:rPr>
              <a:t/>
            </a:r>
            <a:br>
              <a:rPr lang="en-US" dirty="0" smtClean="0">
                <a:latin typeface="Calibri" panose="020F0502020204030204" pitchFamily="34" charset="0"/>
                <a:ea typeface="Calibri" panose="020F0502020204030204" pitchFamily="34" charset="0"/>
                <a:cs typeface="Arial" panose="020B0604020202020204" pitchFamily="34" charset="0"/>
              </a:rPr>
            </a:br>
            <a:endParaRPr lang="he-IL" dirty="0"/>
          </a:p>
        </p:txBody>
      </p:sp>
      <p:sp>
        <p:nvSpPr>
          <p:cNvPr id="6" name="מלבן 5"/>
          <p:cNvSpPr/>
          <p:nvPr/>
        </p:nvSpPr>
        <p:spPr>
          <a:xfrm>
            <a:off x="1590125" y="1149927"/>
            <a:ext cx="10007558" cy="5684633"/>
          </a:xfrm>
          <a:prstGeom prst="rect">
            <a:avLst/>
          </a:prstGeom>
        </p:spPr>
        <p:txBody>
          <a:bodyPr wrap="square">
            <a:spAutoFit/>
          </a:bodyPr>
          <a:lstStyle/>
          <a:p>
            <a:pPr marL="514350" indent="-514350">
              <a:lnSpc>
                <a:spcPct val="115000"/>
              </a:lnSpc>
              <a:buFont typeface="+mj-lt"/>
              <a:buAutoNum type="arabicPeriod"/>
            </a:pPr>
            <a:r>
              <a:rPr lang="he-IL" sz="2400" b="1" dirty="0">
                <a:latin typeface="Calibri" panose="020F0502020204030204" pitchFamily="34" charset="0"/>
                <a:ea typeface="Calibri" panose="020F0502020204030204" pitchFamily="34" charset="0"/>
              </a:rPr>
              <a:t>השקעה בטיפול ולא במניעה</a:t>
            </a:r>
            <a:endParaRPr lang="en-US" sz="2400" b="1" dirty="0">
              <a:latin typeface="Calibri" panose="020F0502020204030204" pitchFamily="34"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מיצוי תקציבי מופרז ותוצאות מוטלות בספק</a:t>
            </a: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סל שירותים מצומצם שאינו מותאם לצרכים</a:t>
            </a:r>
            <a:endParaRPr lang="en-US" sz="2400" dirty="0">
              <a:latin typeface="Calibri" panose="020F0502020204030204" pitchFamily="34"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he-IL" sz="2400" dirty="0" smtClean="0">
                <a:latin typeface="Calibri" panose="020F0502020204030204" pitchFamily="34" charset="0"/>
                <a:ea typeface="Calibri" panose="020F0502020204030204" pitchFamily="34" charset="0"/>
              </a:rPr>
              <a:t>הערכות </a:t>
            </a:r>
            <a:r>
              <a:rPr lang="he-IL" sz="2400" dirty="0">
                <a:latin typeface="Calibri" panose="020F0502020204030204" pitchFamily="34" charset="0"/>
                <a:ea typeface="Calibri" panose="020F0502020204030204" pitchFamily="34" charset="0"/>
              </a:rPr>
              <a:t>תלות שאינן משקפות מצב </a:t>
            </a:r>
            <a:r>
              <a:rPr lang="he-IL" sz="2400" dirty="0" err="1">
                <a:latin typeface="Calibri" panose="020F0502020204030204" pitchFamily="34" charset="0"/>
                <a:ea typeface="Calibri" panose="020F0502020204030204" pitchFamily="34" charset="0"/>
              </a:rPr>
              <a:t>תיפקודי</a:t>
            </a:r>
            <a:endParaRPr lang="he-IL" sz="2400" dirty="0">
              <a:latin typeface="Calibri" panose="020F0502020204030204" pitchFamily="34" charset="0"/>
              <a:ea typeface="Calibri" panose="020F0502020204030204" pitchFamily="34" charset="0"/>
            </a:endParaRPr>
          </a:p>
          <a:p>
            <a:pPr marL="514350" lvl="0" indent="-514350">
              <a:lnSpc>
                <a:spcPct val="115000"/>
              </a:lnSpc>
              <a:buFont typeface="+mj-lt"/>
              <a:buAutoNum type="arabicPeriod"/>
            </a:pPr>
            <a:r>
              <a:rPr lang="he-IL" sz="2400" dirty="0" smtClean="0">
                <a:latin typeface="Calibri" panose="020F0502020204030204" pitchFamily="34" charset="0"/>
                <a:ea typeface="Calibri" panose="020F0502020204030204" pitchFamily="34" charset="0"/>
              </a:rPr>
              <a:t>היעדר </a:t>
            </a:r>
            <a:r>
              <a:rPr lang="he-IL" sz="2400" dirty="0">
                <a:latin typeface="Calibri" panose="020F0502020204030204" pitchFamily="34" charset="0"/>
                <a:ea typeface="Calibri" panose="020F0502020204030204" pitchFamily="34" charset="0"/>
              </a:rPr>
              <a:t>מידע </a:t>
            </a:r>
            <a:r>
              <a:rPr lang="he-IL" sz="2400" dirty="0" smtClean="0">
                <a:latin typeface="Calibri" panose="020F0502020204030204" pitchFamily="34" charset="0"/>
                <a:ea typeface="Calibri" panose="020F0502020204030204" pitchFamily="34" charset="0"/>
              </a:rPr>
              <a:t>מסודר, </a:t>
            </a:r>
            <a:r>
              <a:rPr lang="he-IL" sz="2400" dirty="0">
                <a:latin typeface="Calibri" panose="020F0502020204030204" pitchFamily="34" charset="0"/>
                <a:ea typeface="Calibri" panose="020F0502020204030204" pitchFamily="34" charset="0"/>
              </a:rPr>
              <a:t>שקוף ונגיש </a:t>
            </a:r>
            <a:r>
              <a:rPr lang="he-IL" sz="2400" dirty="0" smtClean="0">
                <a:latin typeface="Calibri" panose="020F0502020204030204" pitchFamily="34" charset="0"/>
                <a:ea typeface="Calibri" panose="020F0502020204030204" pitchFamily="34" charset="0"/>
              </a:rPr>
              <a:t>ומדידה שוטפת</a:t>
            </a:r>
            <a:endParaRPr lang="he-IL" sz="2400" dirty="0">
              <a:latin typeface="Calibri" panose="020F0502020204030204" pitchFamily="34" charset="0"/>
              <a:ea typeface="Calibri" panose="020F0502020204030204" pitchFamily="34" charset="0"/>
            </a:endParaRPr>
          </a:p>
          <a:p>
            <a:pPr marL="514350" lvl="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הגמלה בכסף יוצרת </a:t>
            </a:r>
            <a:r>
              <a:rPr lang="he-IL" sz="2400" dirty="0" err="1">
                <a:latin typeface="Calibri" panose="020F0502020204030204" pitchFamily="34" charset="0"/>
                <a:ea typeface="Calibri" panose="020F0502020204030204" pitchFamily="34" charset="0"/>
              </a:rPr>
              <a:t>תמרוץ</a:t>
            </a:r>
            <a:r>
              <a:rPr lang="he-IL" sz="2400" dirty="0">
                <a:latin typeface="Calibri" panose="020F0502020204030204" pitchFamily="34" charset="0"/>
                <a:ea typeface="Calibri" panose="020F0502020204030204" pitchFamily="34" charset="0"/>
              </a:rPr>
              <a:t> שלילי למניעת הדרדרות לחברות הסיעוד ולזקן</a:t>
            </a:r>
          </a:p>
          <a:p>
            <a:pPr lvl="0">
              <a:lnSpc>
                <a:spcPct val="115000"/>
              </a:lnSpc>
            </a:pPr>
            <a:r>
              <a:rPr lang="he-IL" sz="2400" b="1" dirty="0" smtClean="0">
                <a:latin typeface="Calibri" panose="020F0502020204030204" pitchFamily="34" charset="0"/>
                <a:ea typeface="Calibri" panose="020F0502020204030204" pitchFamily="34" charset="0"/>
              </a:rPr>
              <a:t>7. </a:t>
            </a:r>
            <a:r>
              <a:rPr lang="he-IL" sz="3200" b="1" dirty="0" smtClean="0">
                <a:latin typeface="Calibri" panose="020F0502020204030204" pitchFamily="34" charset="0"/>
                <a:ea typeface="Calibri" panose="020F0502020204030204" pitchFamily="34" charset="0"/>
              </a:rPr>
              <a:t>מחסור </a:t>
            </a:r>
            <a:r>
              <a:rPr lang="he-IL" sz="3200" b="1" dirty="0">
                <a:latin typeface="Calibri" panose="020F0502020204030204" pitchFamily="34" charset="0"/>
                <a:ea typeface="Calibri" panose="020F0502020204030204" pitchFamily="34" charset="0"/>
              </a:rPr>
              <a:t>במטפלות </a:t>
            </a:r>
            <a:r>
              <a:rPr lang="he-IL" sz="2800" dirty="0">
                <a:latin typeface="Calibri" panose="020F0502020204030204" pitchFamily="34" charset="0"/>
                <a:ea typeface="Calibri" panose="020F0502020204030204" pitchFamily="34" charset="0"/>
              </a:rPr>
              <a:t>שגורם ל: </a:t>
            </a:r>
            <a:endParaRPr lang="en-US" sz="2800" dirty="0">
              <a:latin typeface="Calibri" panose="020F0502020204030204" pitchFamily="34" charset="0"/>
              <a:ea typeface="Calibri" panose="020F0502020204030204" pitchFamily="34" charset="0"/>
              <a:cs typeface="Arial" panose="020B0604020202020204" pitchFamily="34" charset="0"/>
            </a:endParaRPr>
          </a:p>
          <a:p>
            <a:pPr marL="742950" indent="-285750">
              <a:lnSpc>
                <a:spcPct val="115000"/>
              </a:lnSpc>
              <a:buFont typeface="Arial" panose="020B0604020202020204" pitchFamily="34" charset="0"/>
              <a:buChar char="•"/>
            </a:pPr>
            <a:r>
              <a:rPr lang="he-IL" sz="2400" b="1" dirty="0">
                <a:latin typeface="Calibri" panose="020F0502020204030204" pitchFamily="34" charset="0"/>
                <a:ea typeface="Calibri" panose="020F0502020204030204" pitchFamily="34" charset="0"/>
              </a:rPr>
              <a:t>כ-63% מהגמלה בכסף </a:t>
            </a:r>
            <a:r>
              <a:rPr lang="he-IL" sz="2400" dirty="0">
                <a:latin typeface="Calibri" panose="020F0502020204030204" pitchFamily="34" charset="0"/>
                <a:ea typeface="Calibri" panose="020F0502020204030204" pitchFamily="34" charset="0"/>
              </a:rPr>
              <a:t>שאין הוכחה לדחיקת תלות ותפקוד</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בני משפחה מטפלים בשכר (כ-7 מיליארד ₪  ובתיווך 20% לחברות הסיעוד)</a:t>
            </a:r>
            <a:endParaRPr lang="en-US" sz="2400" dirty="0">
              <a:latin typeface="Calibri" panose="020F0502020204030204" pitchFamily="34" charset="0"/>
              <a:ea typeface="Calibri" panose="020F0502020204030204" pitchFamily="34" charset="0"/>
              <a:cs typeface="Arial" panose="020B0604020202020204" pitchFamily="34" charset="0"/>
            </a:endParaRPr>
          </a:p>
          <a:p>
            <a:pPr marL="742950" indent="-285750">
              <a:lnSpc>
                <a:spcPct val="115000"/>
              </a:lnSpc>
              <a:buFont typeface="Arial" panose="020B0604020202020204" pitchFamily="34" charset="0"/>
              <a:buChar char="•"/>
            </a:pPr>
            <a:r>
              <a:rPr lang="he-IL" sz="2400" dirty="0" smtClean="0">
                <a:latin typeface="Calibri" panose="020F0502020204030204" pitchFamily="34" charset="0"/>
                <a:ea typeface="Calibri" panose="020F0502020204030204" pitchFamily="34" charset="0"/>
              </a:rPr>
              <a:t>כ-50</a:t>
            </a:r>
            <a:r>
              <a:rPr lang="he-IL" sz="2400" dirty="0">
                <a:latin typeface="Calibri" panose="020F0502020204030204" pitchFamily="34" charset="0"/>
                <a:ea typeface="Calibri" panose="020F0502020204030204" pitchFamily="34" charset="0"/>
              </a:rPr>
              <a:t>% מהשעות נלקחות ע"י המטפלות</a:t>
            </a:r>
          </a:p>
          <a:p>
            <a:pPr marL="742950" indent="-285750">
              <a:lnSpc>
                <a:spcPct val="115000"/>
              </a:lnSpc>
              <a:buFont typeface="Arial" panose="020B0604020202020204" pitchFamily="34" charset="0"/>
              <a:buChar char="•"/>
            </a:pPr>
            <a:r>
              <a:rPr lang="he-IL" sz="2400" dirty="0" smtClean="0">
                <a:latin typeface="Calibri" panose="020F0502020204030204" pitchFamily="34" charset="0"/>
                <a:ea typeface="Calibri" panose="020F0502020204030204" pitchFamily="34" charset="0"/>
              </a:rPr>
              <a:t>חוסר </a:t>
            </a:r>
            <a:r>
              <a:rPr lang="he-IL" sz="2400" dirty="0">
                <a:latin typeface="Calibri" panose="020F0502020204030204" pitchFamily="34" charset="0"/>
                <a:ea typeface="Calibri" panose="020F0502020204030204" pitchFamily="34" charset="0"/>
              </a:rPr>
              <a:t>הכשרה והדרכה</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פגיעה באיכות השירות ומקרי הזנחה, ניצול והתעללות</a:t>
            </a:r>
            <a:endParaRPr lang="en-US" sz="2400" dirty="0">
              <a:latin typeface="Calibri" panose="020F0502020204030204" pitchFamily="34" charset="0"/>
              <a:ea typeface="Calibri" panose="020F0502020204030204" pitchFamily="34" charset="0"/>
              <a:cs typeface="Arial" panose="020B0604020202020204" pitchFamily="34" charset="0"/>
            </a:endParaRPr>
          </a:p>
          <a:p>
            <a:pPr marL="514350" lvl="0" indent="-514350">
              <a:lnSpc>
                <a:spcPct val="115000"/>
              </a:lnSpc>
              <a:buFont typeface="+mj-lt"/>
              <a:buAutoNum type="arabicPeriod"/>
            </a:pPr>
            <a:endParaRPr lang="en-US" sz="2000" dirty="0">
              <a:latin typeface="Calibri" panose="020F0502020204030204" pitchFamily="34" charset="0"/>
              <a:ea typeface="Calibri" panose="020F0502020204030204" pitchFamily="34" charset="0"/>
              <a:cs typeface="Arial" panose="020B0604020202020204" pitchFamily="34" charset="0"/>
            </a:endParaRPr>
          </a:p>
        </p:txBody>
      </p:sp>
      <p:sp>
        <p:nvSpPr>
          <p:cNvPr id="7" name="מלבן 6"/>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8" name="מלבן 7"/>
          <p:cNvSpPr/>
          <p:nvPr/>
        </p:nvSpPr>
        <p:spPr>
          <a:xfrm>
            <a:off x="3093" y="0"/>
            <a:ext cx="264155" cy="6857999"/>
          </a:xfrm>
          <a:prstGeom prst="rect">
            <a:avLst/>
          </a:prstGeom>
          <a:solidFill>
            <a:srgbClr val="F2F2F2"/>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0" name="מלבן 9"/>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1003530" y="774605"/>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1329166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המלצות דו"ח קידר למניעת הדרדרות </a:t>
            </a:r>
            <a:r>
              <a:rPr lang="he-IL" sz="2400" dirty="0" smtClean="0"/>
              <a:t>2022</a:t>
            </a:r>
            <a:endParaRPr lang="he-IL" sz="2400" dirty="0"/>
          </a:p>
        </p:txBody>
      </p:sp>
      <p:sp>
        <p:nvSpPr>
          <p:cNvPr id="3" name="מציין מיקום תוכן 2"/>
          <p:cNvSpPr>
            <a:spLocks noGrp="1"/>
          </p:cNvSpPr>
          <p:nvPr>
            <p:ph idx="1"/>
          </p:nvPr>
        </p:nvSpPr>
        <p:spPr/>
        <p:txBody>
          <a:bodyPr>
            <a:normAutofit fontScale="85000" lnSpcReduction="20000"/>
          </a:bodyPr>
          <a:lstStyle/>
          <a:p>
            <a:pPr marL="0" indent="0">
              <a:buNone/>
            </a:pPr>
            <a:r>
              <a:rPr lang="he-IL" sz="3100" b="1" dirty="0" smtClean="0"/>
              <a:t>מסקנות עיקריות:</a:t>
            </a:r>
          </a:p>
          <a:p>
            <a:r>
              <a:rPr lang="he-IL" dirty="0" smtClean="0"/>
              <a:t>נדרש להשקיע בשירותי מניעת הדרדרות בדגש על רמות סיעוד הנמוכות (1-2)</a:t>
            </a:r>
          </a:p>
          <a:p>
            <a:r>
              <a:rPr lang="he-IL" dirty="0" smtClean="0"/>
              <a:t>פיצול שירותים בין </a:t>
            </a:r>
            <a:r>
              <a:rPr lang="he-IL" dirty="0"/>
              <a:t>גורמים </a:t>
            </a:r>
            <a:r>
              <a:rPr lang="he-IL" dirty="0" smtClean="0"/>
              <a:t>רבים וצורך ב</a:t>
            </a:r>
            <a:r>
              <a:rPr lang="he-IL" b="1" dirty="0" smtClean="0"/>
              <a:t>תמריץ</a:t>
            </a:r>
            <a:r>
              <a:rPr lang="he-IL" dirty="0" smtClean="0"/>
              <a:t> </a:t>
            </a:r>
            <a:r>
              <a:rPr lang="he-IL" dirty="0"/>
              <a:t>לדחיקת תלות </a:t>
            </a:r>
            <a:endParaRPr lang="he-IL" dirty="0" smtClean="0"/>
          </a:p>
          <a:p>
            <a:r>
              <a:rPr lang="he-IL" dirty="0" smtClean="0"/>
              <a:t>המערכת משקיעה בטיפול </a:t>
            </a:r>
            <a:r>
              <a:rPr lang="he-IL" dirty="0" smtClean="0"/>
              <a:t>במקום</a:t>
            </a:r>
            <a:r>
              <a:rPr lang="he-IL" dirty="0" smtClean="0"/>
              <a:t> </a:t>
            </a:r>
            <a:r>
              <a:rPr lang="he-IL" dirty="0"/>
              <a:t>במניעה</a:t>
            </a:r>
            <a:r>
              <a:rPr lang="he-IL" dirty="0" smtClean="0"/>
              <a:t>.</a:t>
            </a:r>
          </a:p>
          <a:p>
            <a:endParaRPr lang="he-IL" sz="1200" dirty="0"/>
          </a:p>
          <a:p>
            <a:r>
              <a:rPr lang="he-IL" b="1" dirty="0" smtClean="0"/>
              <a:t>עקרונות </a:t>
            </a:r>
            <a:r>
              <a:rPr lang="he-IL" b="1" dirty="0"/>
              <a:t>מרכזיים:</a:t>
            </a:r>
            <a:endParaRPr lang="he-IL" dirty="0"/>
          </a:p>
          <a:p>
            <a:r>
              <a:rPr lang="he-IL" dirty="0" smtClean="0"/>
              <a:t>שילוב </a:t>
            </a:r>
            <a:r>
              <a:rPr lang="he-IL" dirty="0"/>
              <a:t>דחיקת תלות בגמלת הסיעוד.</a:t>
            </a:r>
          </a:p>
          <a:p>
            <a:r>
              <a:rPr lang="he-IL" dirty="0"/>
              <a:t>שיתוף </a:t>
            </a:r>
            <a:r>
              <a:rPr lang="he-IL" dirty="0" smtClean="0"/>
              <a:t>קופ"ח במניעת </a:t>
            </a:r>
            <a:r>
              <a:rPr lang="he-IL" dirty="0"/>
              <a:t>הידרדרות.</a:t>
            </a:r>
          </a:p>
          <a:p>
            <a:r>
              <a:rPr lang="he-IL" dirty="0"/>
              <a:t>הרחבת שירותי הרווחה בגמלת הסיעוד.</a:t>
            </a:r>
          </a:p>
          <a:p>
            <a:r>
              <a:rPr lang="he-IL" dirty="0"/>
              <a:t>שינוי מבנה התמריצים בגמלת הסיעוד.</a:t>
            </a:r>
          </a:p>
          <a:p>
            <a:r>
              <a:rPr lang="he-IL" dirty="0" smtClean="0"/>
              <a:t>הגברת </a:t>
            </a:r>
            <a:r>
              <a:rPr lang="he-IL" dirty="0"/>
              <a:t>שיתוף </a:t>
            </a:r>
            <a:r>
              <a:rPr lang="he-IL" dirty="0" smtClean="0"/>
              <a:t>הפעולה, </a:t>
            </a:r>
            <a:r>
              <a:rPr lang="he-IL" dirty="0" err="1" smtClean="0"/>
              <a:t>הדאטה</a:t>
            </a:r>
            <a:r>
              <a:rPr lang="he-IL" dirty="0" smtClean="0"/>
              <a:t> </a:t>
            </a:r>
            <a:r>
              <a:rPr lang="he-IL" dirty="0"/>
              <a:t>והסנכרון.</a:t>
            </a:r>
          </a:p>
          <a:p>
            <a:endParaRPr lang="he-IL" dirty="0"/>
          </a:p>
          <a:p>
            <a:endParaRPr lang="he-IL" dirty="0"/>
          </a:p>
          <a:p>
            <a:endParaRPr lang="he-IL" dirty="0"/>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6" name="מלבן 5"/>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14045614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חוק ההסדרים גרסה ב' </a:t>
            </a:r>
            <a:r>
              <a:rPr lang="he-IL" sz="2800" dirty="0" smtClean="0"/>
              <a:t>(2.23)</a:t>
            </a:r>
            <a:endParaRPr lang="he-IL" sz="2800" dirty="0"/>
          </a:p>
        </p:txBody>
      </p:sp>
      <p:sp>
        <p:nvSpPr>
          <p:cNvPr id="3" name="מציין מיקום תוכן 2"/>
          <p:cNvSpPr>
            <a:spLocks noGrp="1"/>
          </p:cNvSpPr>
          <p:nvPr>
            <p:ph idx="1"/>
          </p:nvPr>
        </p:nvSpPr>
        <p:spPr>
          <a:xfrm>
            <a:off x="653473" y="1856943"/>
            <a:ext cx="11353800" cy="4351338"/>
          </a:xfrm>
        </p:spPr>
        <p:txBody>
          <a:bodyPr>
            <a:normAutofit/>
          </a:bodyPr>
          <a:lstStyle/>
          <a:p>
            <a:pPr marL="514350" indent="-514350">
              <a:buFont typeface="+mj-lt"/>
              <a:buAutoNum type="arabicPeriod"/>
            </a:pPr>
            <a:r>
              <a:rPr lang="he-IL" sz="2600" dirty="0" smtClean="0"/>
              <a:t>אימוץ </a:t>
            </a:r>
            <a:r>
              <a:rPr lang="he-IL" sz="2600" dirty="0"/>
              <a:t>המלצות </a:t>
            </a:r>
            <a:r>
              <a:rPr lang="he-IL" sz="2600" dirty="0" smtClean="0"/>
              <a:t>ועדת קידר </a:t>
            </a:r>
            <a:r>
              <a:rPr lang="he-IL" sz="2600" dirty="0"/>
              <a:t>למניעת </a:t>
            </a:r>
            <a:r>
              <a:rPr lang="he-IL" sz="2600" dirty="0" smtClean="0"/>
              <a:t>הידרדרות</a:t>
            </a:r>
          </a:p>
          <a:p>
            <a:pPr marL="514350" indent="-514350">
              <a:buFont typeface="+mj-lt"/>
              <a:buAutoNum type="arabicPeriod"/>
            </a:pPr>
            <a:r>
              <a:rPr lang="he-IL" sz="2600" dirty="0" smtClean="0"/>
              <a:t>הוספת </a:t>
            </a:r>
            <a:r>
              <a:rPr lang="he-IL" sz="2600" dirty="0"/>
              <a:t>שירותי מניעת הידרדרות לגמלת הסיעוד שיסופקו ע"י קופות החולים</a:t>
            </a:r>
          </a:p>
          <a:p>
            <a:pPr marL="514350" indent="-514350">
              <a:buFont typeface="+mj-lt"/>
              <a:buAutoNum type="arabicPeriod"/>
            </a:pPr>
            <a:r>
              <a:rPr lang="he-IL" sz="2600" b="1" dirty="0"/>
              <a:t>הרחבת שירותי הקהילה התומכת </a:t>
            </a:r>
            <a:r>
              <a:rPr lang="he-IL" sz="2600" dirty="0"/>
              <a:t>כמו מניעת </a:t>
            </a:r>
            <a:r>
              <a:rPr lang="he-IL" sz="2600" dirty="0" smtClean="0"/>
              <a:t>בדידות, יצירת משמעות </a:t>
            </a:r>
            <a:r>
              <a:rPr lang="he-IL" sz="2600" dirty="0"/>
              <a:t>ושימור תפקוד</a:t>
            </a:r>
          </a:p>
          <a:p>
            <a:pPr marL="514350" indent="-514350">
              <a:buFont typeface="+mj-lt"/>
              <a:buAutoNum type="arabicPeriod"/>
            </a:pPr>
            <a:r>
              <a:rPr lang="he-IL" sz="2600" b="1" dirty="0"/>
              <a:t>הגברת </a:t>
            </a:r>
            <a:r>
              <a:rPr lang="he-IL" sz="2600" b="1" dirty="0" smtClean="0"/>
              <a:t>הפיקוח </a:t>
            </a:r>
            <a:r>
              <a:rPr lang="he-IL" sz="2600" dirty="0"/>
              <a:t>על איכות שירותי הטיפול בבית</a:t>
            </a:r>
          </a:p>
          <a:p>
            <a:pPr marL="514350" indent="-514350">
              <a:buFont typeface="+mj-lt"/>
              <a:buAutoNum type="arabicPeriod"/>
            </a:pPr>
            <a:r>
              <a:rPr lang="he-IL" sz="2600" b="1" dirty="0" smtClean="0"/>
              <a:t>פרסום </a:t>
            </a:r>
            <a:r>
              <a:rPr lang="he-IL" sz="2600" b="1" dirty="0"/>
              <a:t>נתונים </a:t>
            </a:r>
            <a:r>
              <a:rPr lang="he-IL" sz="2600" dirty="0"/>
              <a:t>על הידרדרות ואיכות השירותים לציבור הזכאים</a:t>
            </a:r>
          </a:p>
          <a:p>
            <a:pPr marL="514350" indent="-514350">
              <a:buFont typeface="+mj-lt"/>
              <a:buAutoNum type="arabicPeriod"/>
            </a:pPr>
            <a:r>
              <a:rPr lang="he-IL" sz="2600" b="1" dirty="0"/>
              <a:t>שינוי תמריצים </a:t>
            </a:r>
            <a:r>
              <a:rPr lang="he-IL" sz="2600" dirty="0"/>
              <a:t>בהסכם הסיעוד להעדפת מניעת הידרדרות</a:t>
            </a:r>
          </a:p>
          <a:p>
            <a:pPr marL="514350" indent="-514350">
              <a:buFont typeface="+mj-lt"/>
              <a:buAutoNum type="arabicPeriod"/>
            </a:pPr>
            <a:r>
              <a:rPr lang="he-IL" sz="2600" dirty="0"/>
              <a:t>שיפור שיתוף הפעולה </a:t>
            </a:r>
            <a:r>
              <a:rPr lang="he-IL" sz="2600" b="1" dirty="0"/>
              <a:t>וזרימת המידע </a:t>
            </a:r>
            <a:r>
              <a:rPr lang="he-IL" sz="2600" dirty="0"/>
              <a:t>בין ביטוח לאומי לקופות </a:t>
            </a:r>
            <a:r>
              <a:rPr lang="he-IL" sz="2600" dirty="0" smtClean="0"/>
              <a:t>החולים </a:t>
            </a:r>
            <a:endParaRPr lang="he-IL" sz="2600" dirty="0"/>
          </a:p>
          <a:p>
            <a:pPr marL="514350" indent="-514350">
              <a:buFont typeface="+mj-lt"/>
              <a:buAutoNum type="arabicPeriod"/>
            </a:pPr>
            <a:r>
              <a:rPr lang="he-IL" sz="2600" b="1" dirty="0"/>
              <a:t>המטרה המרכזית: </a:t>
            </a:r>
            <a:r>
              <a:rPr lang="he-IL" sz="2600" dirty="0"/>
              <a:t>שיפור השירותים הסיעודיים תוך דגש על מניעת הידרדרות ודחיקת תלות של האזרחים הוותיקים.</a:t>
            </a:r>
          </a:p>
          <a:p>
            <a:pPr marL="514350" indent="-514350">
              <a:buFont typeface="+mj-lt"/>
              <a:buAutoNum type="arabicPeriod"/>
            </a:pPr>
            <a:endParaRPr lang="he-IL" dirty="0"/>
          </a:p>
        </p:txBody>
      </p:sp>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5" name="מלבן 4"/>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8045883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pSp>
        <p:nvGrpSpPr>
          <p:cNvPr id="8" name="Group 2">
            <a:extLst>
              <a:ext uri="{FF2B5EF4-FFF2-40B4-BE49-F238E27FC236}">
                <a16:creationId xmlns:a16="http://schemas.microsoft.com/office/drawing/2014/main" id="{402920BF-53F5-114C-98CB-2E5C9CFBAC55}"/>
              </a:ext>
            </a:extLst>
          </p:cNvPr>
          <p:cNvGrpSpPr/>
          <p:nvPr/>
        </p:nvGrpSpPr>
        <p:grpSpPr>
          <a:xfrm>
            <a:off x="299931" y="1476958"/>
            <a:ext cx="7831448" cy="4873660"/>
            <a:chOff x="-281492" y="1069469"/>
            <a:chExt cx="6403376" cy="3602856"/>
          </a:xfrm>
        </p:grpSpPr>
        <p:sp>
          <p:nvSpPr>
            <p:cNvPr id="18" name="Rectangle 27">
              <a:extLst>
                <a:ext uri="{FF2B5EF4-FFF2-40B4-BE49-F238E27FC236}">
                  <a16:creationId xmlns:a16="http://schemas.microsoft.com/office/drawing/2014/main" id="{BF17684F-9A2D-B548-82B1-605024D36161}"/>
                </a:ext>
              </a:extLst>
            </p:cNvPr>
            <p:cNvSpPr/>
            <p:nvPr/>
          </p:nvSpPr>
          <p:spPr>
            <a:xfrm>
              <a:off x="924748" y="2088663"/>
              <a:ext cx="1271659"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בתים חמים</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19" name="Rectangle 28">
              <a:extLst>
                <a:ext uri="{FF2B5EF4-FFF2-40B4-BE49-F238E27FC236}">
                  <a16:creationId xmlns:a16="http://schemas.microsoft.com/office/drawing/2014/main" id="{DB1DFB53-998F-C540-B005-E2A93650AE71}"/>
                </a:ext>
              </a:extLst>
            </p:cNvPr>
            <p:cNvSpPr/>
            <p:nvPr/>
          </p:nvSpPr>
          <p:spPr>
            <a:xfrm>
              <a:off x="3882493" y="1111789"/>
              <a:ext cx="726027"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תומכת</a:t>
              </a:r>
            </a:p>
          </p:txBody>
        </p:sp>
        <p:sp>
          <p:nvSpPr>
            <p:cNvPr id="20" name="Rectangle 30">
              <a:extLst>
                <a:ext uri="{FF2B5EF4-FFF2-40B4-BE49-F238E27FC236}">
                  <a16:creationId xmlns:a16="http://schemas.microsoft.com/office/drawing/2014/main" id="{023C4DE6-9869-6645-BDE5-07E9A688F8A3}"/>
                </a:ext>
              </a:extLst>
            </p:cNvPr>
            <p:cNvSpPr/>
            <p:nvPr/>
          </p:nvSpPr>
          <p:spPr>
            <a:xfrm>
              <a:off x="2559317" y="1134621"/>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 יום </a:t>
              </a:r>
            </a:p>
          </p:txBody>
        </p:sp>
        <p:sp>
          <p:nvSpPr>
            <p:cNvPr id="21" name="Rectangle 39">
              <a:extLst>
                <a:ext uri="{FF2B5EF4-FFF2-40B4-BE49-F238E27FC236}">
                  <a16:creationId xmlns:a16="http://schemas.microsoft.com/office/drawing/2014/main" id="{4B51991E-10F3-054B-AC81-031353995CDE}"/>
                </a:ext>
              </a:extLst>
            </p:cNvPr>
            <p:cNvSpPr/>
            <p:nvPr/>
          </p:nvSpPr>
          <p:spPr>
            <a:xfrm>
              <a:off x="901407" y="1069469"/>
              <a:ext cx="149155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מופ"ת ומועדונים מועשרים</a:t>
              </a:r>
            </a:p>
          </p:txBody>
        </p:sp>
        <p:sp>
          <p:nvSpPr>
            <p:cNvPr id="22" name="Rectangle 40">
              <a:extLst>
                <a:ext uri="{FF2B5EF4-FFF2-40B4-BE49-F238E27FC236}">
                  <a16:creationId xmlns:a16="http://schemas.microsoft.com/office/drawing/2014/main" id="{25F1A7D2-11CF-8041-A81F-454CBDE94DD5}"/>
                </a:ext>
              </a:extLst>
            </p:cNvPr>
            <p:cNvSpPr/>
            <p:nvPr/>
          </p:nvSpPr>
          <p:spPr>
            <a:xfrm>
              <a:off x="-281492" y="4194524"/>
              <a:ext cx="125295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פיקוח על הדיור המוגן </a:t>
              </a:r>
            </a:p>
          </p:txBody>
        </p:sp>
        <p:sp>
          <p:nvSpPr>
            <p:cNvPr id="23" name="Rectangle 41">
              <a:extLst>
                <a:ext uri="{FF2B5EF4-FFF2-40B4-BE49-F238E27FC236}">
                  <a16:creationId xmlns:a16="http://schemas.microsoft.com/office/drawing/2014/main" id="{2A080D4B-F25F-B24F-8AE4-962B4DA6480D}"/>
                </a:ext>
              </a:extLst>
            </p:cNvPr>
            <p:cNvSpPr/>
            <p:nvPr/>
          </p:nvSpPr>
          <p:spPr>
            <a:xfrm>
              <a:off x="2347632" y="3136241"/>
              <a:ext cx="1014633"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קידום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זיקנה</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פעילה</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24" name="Rectangle 42">
              <a:extLst>
                <a:ext uri="{FF2B5EF4-FFF2-40B4-BE49-F238E27FC236}">
                  <a16:creationId xmlns:a16="http://schemas.microsoft.com/office/drawing/2014/main" id="{105869BF-9FBD-474E-979A-460926775701}"/>
                </a:ext>
              </a:extLst>
            </p:cNvPr>
            <p:cNvSpPr/>
            <p:nvPr/>
          </p:nvSpPr>
          <p:spPr>
            <a:xfrm>
              <a:off x="3631204" y="3140033"/>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רווחה מרחוק</a:t>
              </a:r>
            </a:p>
          </p:txBody>
        </p:sp>
        <p:sp>
          <p:nvSpPr>
            <p:cNvPr id="26" name="Rectangle 44">
              <a:extLst>
                <a:ext uri="{FF2B5EF4-FFF2-40B4-BE49-F238E27FC236}">
                  <a16:creationId xmlns:a16="http://schemas.microsoft.com/office/drawing/2014/main" id="{B80A9F55-53FD-5C48-953B-35F88C39DF03}"/>
                </a:ext>
              </a:extLst>
            </p:cNvPr>
            <p:cNvSpPr/>
            <p:nvPr/>
          </p:nvSpPr>
          <p:spPr>
            <a:xfrm>
              <a:off x="5055142" y="2145283"/>
              <a:ext cx="87293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תעסוקה</a:t>
              </a:r>
            </a:p>
          </p:txBody>
        </p:sp>
        <p:sp>
          <p:nvSpPr>
            <p:cNvPr id="27" name="Rectangle 45">
              <a:extLst>
                <a:ext uri="{FF2B5EF4-FFF2-40B4-BE49-F238E27FC236}">
                  <a16:creationId xmlns:a16="http://schemas.microsoft.com/office/drawing/2014/main" id="{9A33BFB3-2113-454D-AC98-B07767525B2A}"/>
                </a:ext>
              </a:extLst>
            </p:cNvPr>
            <p:cNvSpPr/>
            <p:nvPr/>
          </p:nvSpPr>
          <p:spPr>
            <a:xfrm>
              <a:off x="906777" y="3176116"/>
              <a:ext cx="126044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מרכזים רב תכליתיים</a:t>
              </a:r>
            </a:p>
          </p:txBody>
        </p:sp>
        <p:sp>
          <p:nvSpPr>
            <p:cNvPr id="28" name="Rectangle 46">
              <a:extLst>
                <a:ext uri="{FF2B5EF4-FFF2-40B4-BE49-F238E27FC236}">
                  <a16:creationId xmlns:a16="http://schemas.microsoft.com/office/drawing/2014/main" id="{2204FB96-DCA2-A643-8EAE-B1B13835EDEC}"/>
                </a:ext>
              </a:extLst>
            </p:cNvPr>
            <p:cNvSpPr/>
            <p:nvPr/>
          </p:nvSpPr>
          <p:spPr>
            <a:xfrm>
              <a:off x="4858520" y="3094610"/>
              <a:ext cx="126336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תוכנית</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למרותקי</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בית </a:t>
              </a:r>
            </a:p>
          </p:txBody>
        </p:sp>
        <p:sp>
          <p:nvSpPr>
            <p:cNvPr id="29" name="Rectangle 47">
              <a:extLst>
                <a:ext uri="{FF2B5EF4-FFF2-40B4-BE49-F238E27FC236}">
                  <a16:creationId xmlns:a16="http://schemas.microsoft.com/office/drawing/2014/main" id="{0620CAA2-C475-4644-A9DE-21A1C7CE79F0}"/>
                </a:ext>
              </a:extLst>
            </p:cNvPr>
            <p:cNvSpPr/>
            <p:nvPr/>
          </p:nvSpPr>
          <p:spPr>
            <a:xfrm>
              <a:off x="2256115" y="2063366"/>
              <a:ext cx="134186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שירותים להפגת הבדידות </a:t>
              </a:r>
            </a:p>
          </p:txBody>
        </p:sp>
        <p:sp>
          <p:nvSpPr>
            <p:cNvPr id="30" name="Rectangle 49">
              <a:extLst>
                <a:ext uri="{FF2B5EF4-FFF2-40B4-BE49-F238E27FC236}">
                  <a16:creationId xmlns:a16="http://schemas.microsoft.com/office/drawing/2014/main" id="{76EFF97A-A41E-4444-947E-5B33B278AB5C}"/>
                </a:ext>
              </a:extLst>
            </p:cNvPr>
            <p:cNvSpPr/>
            <p:nvPr/>
          </p:nvSpPr>
          <p:spPr>
            <a:xfrm>
              <a:off x="3420995" y="4170709"/>
              <a:ext cx="1163380"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לדורות</a:t>
              </a:r>
            </a:p>
          </p:txBody>
        </p:sp>
        <p:sp>
          <p:nvSpPr>
            <p:cNvPr id="31" name="Rectangle 52">
              <a:extLst>
                <a:ext uri="{FF2B5EF4-FFF2-40B4-BE49-F238E27FC236}">
                  <a16:creationId xmlns:a16="http://schemas.microsoft.com/office/drawing/2014/main" id="{43332FE1-EDA0-8E49-9FA2-DF2D3A32BFCB}"/>
                </a:ext>
              </a:extLst>
            </p:cNvPr>
            <p:cNvSpPr/>
            <p:nvPr/>
          </p:nvSpPr>
          <p:spPr>
            <a:xfrm>
              <a:off x="1960327" y="4170709"/>
              <a:ext cx="1366838"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תיאום טיפול</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32" name="Rectangle 53">
              <a:extLst>
                <a:ext uri="{FF2B5EF4-FFF2-40B4-BE49-F238E27FC236}">
                  <a16:creationId xmlns:a16="http://schemas.microsoft.com/office/drawing/2014/main" id="{D8F31B09-C660-2744-A924-EC18F2FAEE42}"/>
                </a:ext>
              </a:extLst>
            </p:cNvPr>
            <p:cNvSpPr/>
            <p:nvPr/>
          </p:nvSpPr>
          <p:spPr>
            <a:xfrm>
              <a:off x="3533682" y="2222554"/>
              <a:ext cx="140704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תכניות לבני משפחה מטפלים </a:t>
              </a:r>
            </a:p>
          </p:txBody>
        </p:sp>
        <p:sp>
          <p:nvSpPr>
            <p:cNvPr id="41" name="Rectangle 51">
              <a:extLst>
                <a:ext uri="{FF2B5EF4-FFF2-40B4-BE49-F238E27FC236}">
                  <a16:creationId xmlns:a16="http://schemas.microsoft.com/office/drawing/2014/main" id="{D4CAAD3A-4136-0D44-A438-3CBE8A09AA19}"/>
                </a:ext>
              </a:extLst>
            </p:cNvPr>
            <p:cNvSpPr/>
            <p:nvPr/>
          </p:nvSpPr>
          <p:spPr>
            <a:xfrm>
              <a:off x="4850173" y="1111790"/>
              <a:ext cx="101347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מועדונים חברתיים</a:t>
              </a:r>
            </a:p>
          </p:txBody>
        </p:sp>
      </p:grpSp>
      <p:sp>
        <p:nvSpPr>
          <p:cNvPr id="46" name="Rectangle 26">
            <a:extLst>
              <a:ext uri="{FF2B5EF4-FFF2-40B4-BE49-F238E27FC236}">
                <a16:creationId xmlns:a16="http://schemas.microsoft.com/office/drawing/2014/main" id="{DC216453-99CB-AA4B-978B-E098E9977E4D}"/>
              </a:ext>
            </a:extLst>
          </p:cNvPr>
          <p:cNvSpPr/>
          <p:nvPr/>
        </p:nvSpPr>
        <p:spPr>
          <a:xfrm>
            <a:off x="6533860" y="5709019"/>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נופשונים</a:t>
            </a:r>
          </a:p>
        </p:txBody>
      </p:sp>
      <p:sp>
        <p:nvSpPr>
          <p:cNvPr id="47" name="Rectangle 26">
            <a:extLst>
              <a:ext uri="{FF2B5EF4-FFF2-40B4-BE49-F238E27FC236}">
                <a16:creationId xmlns:a16="http://schemas.microsoft.com/office/drawing/2014/main" id="{DC216453-99CB-AA4B-978B-E098E9977E4D}"/>
              </a:ext>
            </a:extLst>
          </p:cNvPr>
          <p:cNvSpPr/>
          <p:nvPr/>
        </p:nvSpPr>
        <p:spPr>
          <a:xfrm>
            <a:off x="329214" y="4334603"/>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 אבות</a:t>
            </a:r>
          </a:p>
        </p:txBody>
      </p:sp>
      <p:sp>
        <p:nvSpPr>
          <p:cNvPr id="48" name="Rectangle 26">
            <a:extLst>
              <a:ext uri="{FF2B5EF4-FFF2-40B4-BE49-F238E27FC236}">
                <a16:creationId xmlns:a16="http://schemas.microsoft.com/office/drawing/2014/main" id="{DC216453-99CB-AA4B-978B-E098E9977E4D}"/>
              </a:ext>
            </a:extLst>
          </p:cNvPr>
          <p:cNvSpPr/>
          <p:nvPr/>
        </p:nvSpPr>
        <p:spPr>
          <a:xfrm>
            <a:off x="202542" y="2869685"/>
            <a:ext cx="1634777"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מניעת התעללות והזנחה</a:t>
            </a:r>
          </a:p>
        </p:txBody>
      </p:sp>
      <p:sp>
        <p:nvSpPr>
          <p:cNvPr id="49" name="Rectangle 26">
            <a:extLst>
              <a:ext uri="{FF2B5EF4-FFF2-40B4-BE49-F238E27FC236}">
                <a16:creationId xmlns:a16="http://schemas.microsoft.com/office/drawing/2014/main" id="{DC216453-99CB-AA4B-978B-E098E9977E4D}"/>
              </a:ext>
            </a:extLst>
          </p:cNvPr>
          <p:cNvSpPr/>
          <p:nvPr/>
        </p:nvSpPr>
        <p:spPr>
          <a:xfrm>
            <a:off x="190521" y="1534207"/>
            <a:ext cx="1491439"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שירותים לניצולי שואה</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044" y="1064035"/>
            <a:ext cx="794124" cy="4564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097" y="2405001"/>
            <a:ext cx="715321" cy="480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5959" y="3835608"/>
            <a:ext cx="438917" cy="40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5514" y="5061182"/>
            <a:ext cx="498465" cy="46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9937" y="1075712"/>
            <a:ext cx="612889" cy="43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642" y="5180369"/>
            <a:ext cx="713760" cy="43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5449" y="3662871"/>
            <a:ext cx="497612" cy="567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2531" y="1053547"/>
            <a:ext cx="320565" cy="455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073" y="2437120"/>
            <a:ext cx="693027" cy="4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21294" y="3536333"/>
            <a:ext cx="510877" cy="66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08478" y="2305810"/>
            <a:ext cx="609195" cy="49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90292" y="5170175"/>
            <a:ext cx="454929" cy="38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3478" y="3908672"/>
            <a:ext cx="502420" cy="43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00075" y="5096664"/>
            <a:ext cx="476503" cy="47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375058" y="95514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6326" y="3814480"/>
            <a:ext cx="469301" cy="478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2310788" y="2398529"/>
            <a:ext cx="512233"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20">
            <a:biLevel thresh="75000"/>
            <a:extLst>
              <a:ext uri="{28A0092B-C50C-407E-A947-70E740481C1C}">
                <a14:useLocalDpi xmlns:a14="http://schemas.microsoft.com/office/drawing/2010/main" val="0"/>
              </a:ext>
            </a:extLst>
          </a:blip>
          <a:srcRect/>
          <a:stretch>
            <a:fillRect/>
          </a:stretch>
        </p:blipFill>
        <p:spPr bwMode="auto">
          <a:xfrm>
            <a:off x="5008954" y="2024741"/>
            <a:ext cx="1528821" cy="145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8" name="Picture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87193" y="998633"/>
            <a:ext cx="505473" cy="50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098834" y="510462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מלבן 1"/>
          <p:cNvSpPr/>
          <p:nvPr/>
        </p:nvSpPr>
        <p:spPr>
          <a:xfrm>
            <a:off x="1782624" y="5703318"/>
            <a:ext cx="1170513" cy="400110"/>
          </a:xfrm>
          <a:prstGeom prst="rect">
            <a:avLst/>
          </a:prstGeom>
        </p:spPr>
        <p:txBody>
          <a:bodyPr wrap="non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סיוע חומרי</a:t>
            </a:r>
            <a:endParaRPr kumimoji="0" lang="en-US"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pic>
        <p:nvPicPr>
          <p:cNvPr id="45" name="תמונה 44"/>
          <p:cNvPicPr>
            <a:picLocks noChangeAspect="1"/>
          </p:cNvPicPr>
          <p:nvPr/>
        </p:nvPicPr>
        <p:blipFill rotWithShape="1">
          <a:blip r:embed="rId22"/>
          <a:srcRect l="19841"/>
          <a:stretch/>
        </p:blipFill>
        <p:spPr>
          <a:xfrm>
            <a:off x="9663964" y="5752892"/>
            <a:ext cx="2528036" cy="1052142"/>
          </a:xfrm>
          <a:prstGeom prst="rect">
            <a:avLst/>
          </a:prstGeom>
        </p:spPr>
      </p:pic>
      <p:sp>
        <p:nvSpPr>
          <p:cNvPr id="50" name="מלבן 4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2000"/>
          </a:p>
        </p:txBody>
      </p:sp>
      <p:sp>
        <p:nvSpPr>
          <p:cNvPr id="51" name="מלבן 50"/>
          <p:cNvSpPr/>
          <p:nvPr/>
        </p:nvSpPr>
        <p:spPr>
          <a:xfrm>
            <a:off x="8745174" y="1687401"/>
            <a:ext cx="3106024" cy="3939540"/>
          </a:xfrm>
          <a:prstGeom prst="rect">
            <a:avLst/>
          </a:prstGeom>
          <a:noFill/>
        </p:spPr>
        <p:txBody>
          <a:bodyPr wrap="square" lIns="91440" tIns="45720" rIns="91440" bIns="45720">
            <a:spAutoFit/>
          </a:bodyPr>
          <a:lstStyle/>
          <a:p>
            <a:pPr algn="ctr"/>
            <a:r>
              <a:rPr lang="he-IL" sz="5400" dirty="0">
                <a:solidFill>
                  <a:srgbClr val="0070C0"/>
                </a:solidFill>
                <a:latin typeface="Calibri" panose="020F0502020204030204" pitchFamily="34" charset="0"/>
                <a:cs typeface="Calibri" panose="020F0502020204030204" pitchFamily="34" charset="0"/>
              </a:rPr>
              <a:t>שירותים להזדקנות מיטבית</a:t>
            </a:r>
          </a:p>
          <a:p>
            <a:pPr algn="ctr"/>
            <a:r>
              <a:rPr lang="he-IL" sz="4400" b="1" dirty="0">
                <a:solidFill>
                  <a:srgbClr val="7030A0"/>
                </a:solidFill>
                <a:latin typeface="Calibri" panose="020F0502020204030204" pitchFamily="34" charset="0"/>
                <a:cs typeface="Calibri" panose="020F0502020204030204" pitchFamily="34" charset="0"/>
              </a:rPr>
              <a:t>שיתוף פעולה רווחה </a:t>
            </a:r>
            <a:r>
              <a:rPr lang="he-IL" sz="4400" b="1" dirty="0" err="1">
                <a:solidFill>
                  <a:srgbClr val="7030A0"/>
                </a:solidFill>
                <a:latin typeface="Calibri" panose="020F0502020204030204" pitchFamily="34" charset="0"/>
                <a:cs typeface="Calibri" panose="020F0502020204030204" pitchFamily="34" charset="0"/>
              </a:rPr>
              <a:t>ובטל"א</a:t>
            </a:r>
            <a:endParaRPr lang="he-IL" sz="4400" b="1" dirty="0">
              <a:solidFill>
                <a:srgbClr val="7030A0"/>
              </a:solidFill>
              <a:latin typeface="Calibri" panose="020F0502020204030204" pitchFamily="34" charset="0"/>
              <a:cs typeface="Calibri" panose="020F0502020204030204" pitchFamily="34" charset="0"/>
            </a:endParaRPr>
          </a:p>
        </p:txBody>
      </p:sp>
      <p:sp>
        <p:nvSpPr>
          <p:cNvPr id="3" name="מלבן 2"/>
          <p:cNvSpPr/>
          <p:nvPr/>
        </p:nvSpPr>
        <p:spPr>
          <a:xfrm>
            <a:off x="9154282" y="1119384"/>
            <a:ext cx="2287807" cy="769441"/>
          </a:xfrm>
          <a:prstGeom prst="rect">
            <a:avLst/>
          </a:prstGeom>
        </p:spPr>
        <p:txBody>
          <a:bodyPr wrap="none">
            <a:spAutoFit/>
          </a:bodyPr>
          <a:lstStyle/>
          <a:p>
            <a:r>
              <a:rPr lang="he-IL" sz="4400" b="1" dirty="0">
                <a:solidFill>
                  <a:srgbClr val="7030A0"/>
                </a:solidFill>
                <a:latin typeface="Calibri" panose="020F0502020204030204" pitchFamily="34" charset="0"/>
                <a:cs typeface="Calibri" panose="020F0502020204030204" pitchFamily="34" charset="0"/>
              </a:rPr>
              <a:t>ההזדמנות</a:t>
            </a:r>
            <a:endParaRPr lang="he-IL" sz="4000" dirty="0">
              <a:solidFill>
                <a:srgbClr val="7030A0"/>
              </a:solidFill>
            </a:endParaRPr>
          </a:p>
        </p:txBody>
      </p:sp>
      <p:sp>
        <p:nvSpPr>
          <p:cNvPr id="52" name="מלבן 51"/>
          <p:cNvSpPr/>
          <p:nvPr/>
        </p:nvSpPr>
        <p:spPr>
          <a:xfrm>
            <a:off x="-1994" y="-7546"/>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3" name="מלבן 52"/>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4" name="TextBox 53"/>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23198816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281"/>
        <p:cNvGrpSpPr/>
        <p:nvPr/>
      </p:nvGrpSpPr>
      <p:grpSpPr>
        <a:xfrm>
          <a:off x="0" y="0"/>
          <a:ext cx="0" cy="0"/>
          <a:chOff x="0" y="0"/>
          <a:chExt cx="0" cy="0"/>
        </a:xfrm>
      </p:grpSpPr>
      <p:sp>
        <p:nvSpPr>
          <p:cNvPr id="282" name="Shape 282"/>
          <p:cNvSpPr txBox="1">
            <a:spLocks noGrp="1"/>
          </p:cNvSpPr>
          <p:nvPr>
            <p:ph type="title"/>
          </p:nvPr>
        </p:nvSpPr>
        <p:spPr>
          <a:xfrm>
            <a:off x="9270825" y="845544"/>
            <a:ext cx="2964873" cy="970400"/>
          </a:xfrm>
          <a:prstGeom prst="rect">
            <a:avLst/>
          </a:prstGeom>
        </p:spPr>
        <p:txBody>
          <a:bodyPr lIns="121900" tIns="121900" rIns="121900" bIns="121900" anchor="b" anchorCtr="0">
            <a:noAutofit/>
          </a:bodyPr>
          <a:lstStyle/>
          <a:p>
            <a:pPr algn="ctr" rtl="1">
              <a:lnSpc>
                <a:spcPct val="100000"/>
              </a:lnSpc>
            </a:pPr>
            <a:r>
              <a:rPr lang="he-IL"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rPr>
              <a:t>עקרונות מנחים במודל העבודה המשותף: </a:t>
            </a:r>
            <a:endParaRPr lang="en"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endParaRPr>
          </a:p>
        </p:txBody>
      </p:sp>
      <p:sp>
        <p:nvSpPr>
          <p:cNvPr id="283" name="Shape 283"/>
          <p:cNvSpPr txBox="1">
            <a:spLocks noGrp="1"/>
          </p:cNvSpPr>
          <p:nvPr>
            <p:ph type="body" idx="1"/>
          </p:nvPr>
        </p:nvSpPr>
        <p:spPr>
          <a:xfrm>
            <a:off x="6621610" y="4336428"/>
            <a:ext cx="2278400" cy="607638"/>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חליפה אישית לכל לקוח </a:t>
            </a:r>
            <a:endParaRPr lang="en" sz="2400" dirty="0">
              <a:latin typeface="Calibri Light" panose="020F0302020204030204" pitchFamily="34" charset="0"/>
              <a:cs typeface="Calibri Light" panose="020F0302020204030204" pitchFamily="34" charset="0"/>
            </a:endParaRPr>
          </a:p>
        </p:txBody>
      </p:sp>
      <p:sp>
        <p:nvSpPr>
          <p:cNvPr id="285" name="Shape 285"/>
          <p:cNvSpPr txBox="1">
            <a:spLocks noGrp="1"/>
          </p:cNvSpPr>
          <p:nvPr>
            <p:ph type="body" idx="3"/>
          </p:nvPr>
        </p:nvSpPr>
        <p:spPr>
          <a:xfrm>
            <a:off x="9314524" y="4231202"/>
            <a:ext cx="2524096" cy="860620"/>
          </a:xfrm>
          <a:prstGeom prst="rect">
            <a:avLst/>
          </a:prstGeom>
        </p:spPr>
        <p:txBody>
          <a:bodyPr lIns="121900" tIns="121900" rIns="121900" bIns="121900" anchor="t" anchorCtr="0">
            <a:noAutofit/>
          </a:bodyPr>
          <a:lstStyle/>
          <a:p>
            <a:pPr algn="ctr">
              <a:lnSpc>
                <a:spcPct val="100000"/>
              </a:lnSpc>
              <a:buNone/>
            </a:pPr>
            <a:r>
              <a:rPr lang="he-IL" sz="2400" dirty="0">
                <a:latin typeface="Calibri Light" panose="020F0302020204030204" pitchFamily="34" charset="0"/>
                <a:cs typeface="Calibri Light" panose="020F0302020204030204" pitchFamily="34" charset="0"/>
              </a:rPr>
              <a:t>תשתיות דאטה לתכנון והתאמת השירותים</a:t>
            </a:r>
            <a:endParaRPr sz="2400" dirty="0">
              <a:latin typeface="Calibri Light" panose="020F0302020204030204" pitchFamily="34" charset="0"/>
              <a:cs typeface="Calibri Light" panose="020F0302020204030204" pitchFamily="34" charset="0"/>
            </a:endParaRPr>
          </a:p>
        </p:txBody>
      </p:sp>
      <p:sp>
        <p:nvSpPr>
          <p:cNvPr id="290" name="Shape 290"/>
          <p:cNvSpPr txBox="1">
            <a:spLocks noGrp="1"/>
          </p:cNvSpPr>
          <p:nvPr>
            <p:ph type="body" idx="4294967295"/>
          </p:nvPr>
        </p:nvSpPr>
        <p:spPr>
          <a:xfrm>
            <a:off x="3589309" y="4344861"/>
            <a:ext cx="2617787" cy="921283"/>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גמישות מרבית במתן השירותים </a:t>
            </a:r>
            <a:endParaRPr lang="en" sz="2400" dirty="0">
              <a:latin typeface="Calibri Light" panose="020F0302020204030204" pitchFamily="34" charset="0"/>
              <a:cs typeface="Calibri Light" panose="020F0302020204030204" pitchFamily="34" charset="0"/>
            </a:endParaRPr>
          </a:p>
          <a:p>
            <a:pPr algn="ctr">
              <a:lnSpc>
                <a:spcPct val="100000"/>
              </a:lnSpc>
              <a:buNone/>
            </a:pPr>
            <a:endParaRPr sz="2400" dirty="0">
              <a:latin typeface="Calibri Light" panose="020F0302020204030204" pitchFamily="34" charset="0"/>
              <a:cs typeface="Calibri Light" panose="020F0302020204030204" pitchFamily="34" charset="0"/>
            </a:endParaRPr>
          </a:p>
        </p:txBody>
      </p:sp>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47458" y="2918284"/>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0129" y="3252862"/>
            <a:ext cx="576064" cy="55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1308" y="2997705"/>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3608" y="3250376"/>
            <a:ext cx="617496"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0810" y="5634509"/>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14591" y="5634509"/>
            <a:ext cx="723961"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314524" y="2087287"/>
            <a:ext cx="2877476" cy="1154162"/>
          </a:xfrm>
          <a:prstGeom prst="rect">
            <a:avLst/>
          </a:prstGeom>
          <a:noFill/>
        </p:spPr>
        <p:txBody>
          <a:bodyPr wrap="square" rtlCol="1">
            <a:spAutoFit/>
          </a:bodyPr>
          <a:lstStyle/>
          <a:p>
            <a:pPr algn="ctr"/>
            <a:r>
              <a:rPr lang="he-IL" sz="2300" dirty="0">
                <a:latin typeface="Calibri Light" panose="020F0302020204030204" pitchFamily="34" charset="0"/>
                <a:ea typeface="Pontano Sans"/>
                <a:cs typeface="Calibri Light" panose="020F0302020204030204" pitchFamily="34" charset="0"/>
                <a:sym typeface="Pontano Sans"/>
              </a:rPr>
              <a:t>שיתוף פעולה עם הרשויות המקומיות למענה לכלל הזקנים ברשות</a:t>
            </a:r>
          </a:p>
        </p:txBody>
      </p:sp>
      <p:sp>
        <p:nvSpPr>
          <p:cNvPr id="3" name="מלבן 2"/>
          <p:cNvSpPr/>
          <p:nvPr/>
        </p:nvSpPr>
        <p:spPr>
          <a:xfrm>
            <a:off x="3908938" y="2022066"/>
            <a:ext cx="2203650"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מנטל לנכס-  קידום זקנה פעילה</a:t>
            </a:r>
          </a:p>
        </p:txBody>
      </p:sp>
      <p:sp>
        <p:nvSpPr>
          <p:cNvPr id="18" name="מלבן 17"/>
          <p:cNvSpPr/>
          <p:nvPr/>
        </p:nvSpPr>
        <p:spPr>
          <a:xfrm>
            <a:off x="481881" y="2003364"/>
            <a:ext cx="2767612"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קידום מניעה, הגברת השייכות ודחיקת התלות</a:t>
            </a:r>
          </a:p>
        </p:txBody>
      </p:sp>
      <p:sp>
        <p:nvSpPr>
          <p:cNvPr id="4" name="מלבן 3"/>
          <p:cNvSpPr/>
          <p:nvPr/>
        </p:nvSpPr>
        <p:spPr>
          <a:xfrm>
            <a:off x="481881" y="4344861"/>
            <a:ext cx="2590027" cy="1200329"/>
          </a:xfrm>
          <a:prstGeom prst="rect">
            <a:avLst/>
          </a:prstGeom>
        </p:spPr>
        <p:txBody>
          <a:bodyPr wrap="square">
            <a:spAutoFit/>
          </a:bodyPr>
          <a:lstStyle/>
          <a:p>
            <a:pPr algn="ctr" rtl="1">
              <a:buNone/>
            </a:pPr>
            <a:r>
              <a:rPr lang="he-IL" sz="2400" dirty="0">
                <a:latin typeface="Calibri Light" panose="020F0302020204030204" pitchFamily="34" charset="0"/>
                <a:cs typeface="Calibri Light" panose="020F0302020204030204" pitchFamily="34" charset="0"/>
              </a:rPr>
              <a:t>ראיה מערכתית של האזרח הוותיק ומשפחתו</a:t>
            </a:r>
            <a:endParaRPr lang="en" dirty="0">
              <a:latin typeface="Calibri Light" panose="020F0302020204030204" pitchFamily="34" charset="0"/>
              <a:cs typeface="Calibri Light" panose="020F0302020204030204" pitchFamily="34" charset="0"/>
            </a:endParaRPr>
          </a:p>
        </p:txBody>
      </p:sp>
      <p:sp>
        <p:nvSpPr>
          <p:cNvPr id="19" name="TextBox 18"/>
          <p:cNvSpPr txBox="1"/>
          <p:nvPr/>
        </p:nvSpPr>
        <p:spPr>
          <a:xfrm>
            <a:off x="6750610" y="2063015"/>
            <a:ext cx="2335665" cy="830997"/>
          </a:xfrm>
          <a:prstGeom prst="rect">
            <a:avLst/>
          </a:prstGeom>
          <a:noFill/>
        </p:spPr>
        <p:txBody>
          <a:bodyPr wrap="square" rtlCol="1">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הזדקנות בקהילה</a:t>
            </a:r>
            <a:r>
              <a:rPr lang="en-US" sz="2400" dirty="0">
                <a:latin typeface="Calibri Light" panose="020F0302020204030204" pitchFamily="34" charset="0"/>
                <a:ea typeface="Pontano Sans"/>
                <a:cs typeface="Calibri Light" panose="020F0302020204030204" pitchFamily="34" charset="0"/>
                <a:sym typeface="Pontano Sans"/>
              </a:rPr>
              <a:t/>
            </a:r>
            <a:br>
              <a:rPr lang="en-US" sz="2400" dirty="0">
                <a:latin typeface="Calibri Light" panose="020F0302020204030204" pitchFamily="34" charset="0"/>
                <a:ea typeface="Pontano Sans"/>
                <a:cs typeface="Calibri Light" panose="020F0302020204030204" pitchFamily="34" charset="0"/>
                <a:sym typeface="Pontano Sans"/>
              </a:rPr>
            </a:br>
            <a:r>
              <a:rPr lang="he-IL" sz="2400" dirty="0">
                <a:latin typeface="Calibri Light" panose="020F0302020204030204" pitchFamily="34" charset="0"/>
                <a:ea typeface="Pontano Sans"/>
                <a:cs typeface="Calibri Light" panose="020F0302020204030204" pitchFamily="34" charset="0"/>
                <a:sym typeface="Pontano Sans"/>
              </a:rPr>
              <a:t>ודחיקת המיסוד</a:t>
            </a:r>
          </a:p>
        </p:txBody>
      </p:sp>
      <p:pic>
        <p:nvPicPr>
          <p:cNvPr id="21"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5465" y="5640878"/>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Shape 614"/>
          <p:cNvGrpSpPr/>
          <p:nvPr/>
        </p:nvGrpSpPr>
        <p:grpSpPr>
          <a:xfrm>
            <a:off x="4474801" y="5561725"/>
            <a:ext cx="780888" cy="645739"/>
            <a:chOff x="5241175" y="4959100"/>
            <a:chExt cx="539775" cy="517775"/>
          </a:xfrm>
        </p:grpSpPr>
        <p:sp>
          <p:nvSpPr>
            <p:cNvPr id="23" name="Shape 615"/>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4" name="Shape 616"/>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5" name="Shape 617"/>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6" name="Shape 618"/>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7" name="Shape 619"/>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8" name="Shape 620"/>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grpSp>
      <p:grpSp>
        <p:nvGrpSpPr>
          <p:cNvPr id="29" name="קבוצה 28"/>
          <p:cNvGrpSpPr/>
          <p:nvPr/>
        </p:nvGrpSpPr>
        <p:grpSpPr>
          <a:xfrm>
            <a:off x="109693" y="6086096"/>
            <a:ext cx="2347757" cy="803852"/>
            <a:chOff x="7978579" y="5322849"/>
            <a:chExt cx="4188021" cy="1431385"/>
          </a:xfrm>
        </p:grpSpPr>
        <p:pic>
          <p:nvPicPr>
            <p:cNvPr id="30" name="תמונה 29"/>
            <p:cNvPicPr>
              <a:picLocks noChangeAspect="1"/>
            </p:cNvPicPr>
            <p:nvPr/>
          </p:nvPicPr>
          <p:blipFill rotWithShape="1">
            <a:blip r:embed="rId11"/>
            <a:srcRect l="19841" r="9340"/>
            <a:stretch/>
          </p:blipFill>
          <p:spPr>
            <a:xfrm>
              <a:off x="9663964" y="5575300"/>
              <a:ext cx="2502636" cy="1178934"/>
            </a:xfrm>
            <a:prstGeom prst="rect">
              <a:avLst/>
            </a:prstGeom>
          </p:spPr>
        </p:pic>
        <p:pic>
          <p:nvPicPr>
            <p:cNvPr id="31" name="Picture 2" descr="צור קשר שירות לקוחות ביטוח לאומי טלפון » שירות בקליק"/>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b="15070"/>
            <a:stretch/>
          </p:blipFill>
          <p:spPr bwMode="auto">
            <a:xfrm>
              <a:off x="7978579" y="5322849"/>
              <a:ext cx="1685385" cy="1431385"/>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p:cNvSpPr txBox="1"/>
          <p:nvPr/>
        </p:nvSpPr>
        <p:spPr>
          <a:xfrm>
            <a:off x="603963" y="54331"/>
            <a:ext cx="2523448" cy="369332"/>
          </a:xfrm>
          <a:prstGeom prst="rect">
            <a:avLst/>
          </a:prstGeom>
          <a:noFill/>
        </p:spPr>
        <p:txBody>
          <a:bodyPr wrap="none" rtlCol="1">
            <a:spAutoFit/>
          </a:bodyPr>
          <a:lstStyle/>
          <a:p>
            <a:r>
              <a:rPr lang="he-IL" dirty="0" err="1"/>
              <a:t>תמרוץ</a:t>
            </a:r>
            <a:r>
              <a:rPr lang="he-IL" dirty="0"/>
              <a:t> שירותים חברתיים </a:t>
            </a:r>
          </a:p>
        </p:txBody>
      </p:sp>
      <p:sp>
        <p:nvSpPr>
          <p:cNvPr id="5" name="מלבן 4"/>
          <p:cNvSpPr/>
          <p:nvPr/>
        </p:nvSpPr>
        <p:spPr>
          <a:xfrm>
            <a:off x="6857464" y="95311"/>
            <a:ext cx="2042546" cy="369332"/>
          </a:xfrm>
          <a:prstGeom prst="rect">
            <a:avLst/>
          </a:prstGeom>
        </p:spPr>
        <p:txBody>
          <a:bodyPr wrap="none">
            <a:spAutoFit/>
          </a:bodyPr>
          <a:lstStyle/>
          <a:p>
            <a:r>
              <a:rPr lang="he-IL" dirty="0"/>
              <a:t>מענה אוניברסלי רחב</a:t>
            </a:r>
          </a:p>
        </p:txBody>
      </p:sp>
      <p:sp>
        <p:nvSpPr>
          <p:cNvPr id="7" name="מלבן 6"/>
          <p:cNvSpPr/>
          <p:nvPr/>
        </p:nvSpPr>
        <p:spPr>
          <a:xfrm>
            <a:off x="3768986" y="54331"/>
            <a:ext cx="2307349" cy="646331"/>
          </a:xfrm>
          <a:prstGeom prst="rect">
            <a:avLst/>
          </a:prstGeom>
        </p:spPr>
        <p:txBody>
          <a:bodyPr wrap="square">
            <a:spAutoFit/>
          </a:bodyPr>
          <a:lstStyle/>
          <a:p>
            <a:r>
              <a:rPr lang="he-IL" dirty="0" err="1"/>
              <a:t>תיעדוף</a:t>
            </a:r>
            <a:r>
              <a:rPr lang="he-IL" dirty="0"/>
              <a:t> מענה חברתי רחב על מענה פרטני</a:t>
            </a:r>
          </a:p>
        </p:txBody>
      </p:sp>
      <p:sp>
        <p:nvSpPr>
          <p:cNvPr id="33" name="Rectangle 16">
            <a:extLst>
              <a:ext uri="{FF2B5EF4-FFF2-40B4-BE49-F238E27FC236}">
                <a16:creationId xmlns:a16="http://schemas.microsoft.com/office/drawing/2014/main" id="{0D33B8D0-699E-42C3-8D4E-28D828460313}"/>
              </a:ext>
            </a:extLst>
          </p:cNvPr>
          <p:cNvSpPr/>
          <p:nvPr/>
        </p:nvSpPr>
        <p:spPr>
          <a:xfrm rot="2700000">
            <a:off x="4829793" y="708510"/>
            <a:ext cx="591100" cy="95977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00B0F0"/>
          </a:solidFill>
          <a:ln w="25400" cap="flat" cmpd="sng" algn="ctr">
            <a:noFill/>
            <a:prstDash val="solid"/>
          </a:ln>
          <a:effectLst/>
        </p:spPr>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34" name="Block Arc 41">
            <a:extLst>
              <a:ext uri="{FF2B5EF4-FFF2-40B4-BE49-F238E27FC236}">
                <a16:creationId xmlns:a16="http://schemas.microsoft.com/office/drawing/2014/main" id="{B3B25E34-8ABE-4D0C-9A57-89485104BAD1}"/>
              </a:ext>
            </a:extLst>
          </p:cNvPr>
          <p:cNvSpPr/>
          <p:nvPr/>
        </p:nvSpPr>
        <p:spPr>
          <a:xfrm>
            <a:off x="7490811" y="700662"/>
            <a:ext cx="855167" cy="903911"/>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5" name="Donut 24">
            <a:extLst>
              <a:ext uri="{FF2B5EF4-FFF2-40B4-BE49-F238E27FC236}">
                <a16:creationId xmlns:a16="http://schemas.microsoft.com/office/drawing/2014/main" id="{81F49C7C-DFCA-4FDE-AB0D-42B8F72E9478}"/>
              </a:ext>
            </a:extLst>
          </p:cNvPr>
          <p:cNvSpPr/>
          <p:nvPr/>
        </p:nvSpPr>
        <p:spPr>
          <a:xfrm>
            <a:off x="1321724" y="842164"/>
            <a:ext cx="843741" cy="742698"/>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6" name="מלבן 35"/>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7" name="TextBox 36"/>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נתונים נוספים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
        <p:nvSpPr>
          <p:cNvPr id="38" name="מלבן 3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39" name="TextBox 38"/>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569729984"/>
      </p:ext>
    </p:extLst>
  </p:cSld>
  <p:clrMapOvr>
    <a:masterClrMapping/>
  </p:clrMapOvr>
  <p:transition spd="slow">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75526" y="406463"/>
            <a:ext cx="1784360" cy="584775"/>
          </a:xfrm>
          <a:prstGeom prst="rect">
            <a:avLst/>
          </a:prstGeom>
          <a:noFill/>
        </p:spPr>
        <p:txBody>
          <a:bodyPr wrap="square" rtlCol="1">
            <a:spAutoFit/>
          </a:bodyPr>
          <a:lstStyle/>
          <a:p>
            <a:pPr algn="ctr"/>
            <a:r>
              <a:rPr lang="he-IL" sz="1600" b="1" dirty="0">
                <a:solidFill>
                  <a:srgbClr val="0070C0"/>
                </a:solidFill>
                <a:latin typeface="Calibri" panose="020F0502020204030204" pitchFamily="34" charset="0"/>
                <a:cs typeface="Calibri" panose="020F0502020204030204" pitchFamily="34" charset="0"/>
              </a:rPr>
              <a:t>* דרך גמלת הסיעוד</a:t>
            </a:r>
            <a:r>
              <a:rPr lang="en-US" sz="1600" b="1" dirty="0">
                <a:solidFill>
                  <a:srgbClr val="0070C0"/>
                </a:solidFill>
                <a:latin typeface="Calibri" panose="020F0502020204030204" pitchFamily="34" charset="0"/>
                <a:cs typeface="Calibri" panose="020F0502020204030204" pitchFamily="34" charset="0"/>
              </a:rPr>
              <a:t/>
            </a:r>
            <a:br>
              <a:rPr lang="en-US" sz="1600" b="1" dirty="0">
                <a:solidFill>
                  <a:srgbClr val="0070C0"/>
                </a:solidFill>
                <a:latin typeface="Calibri" panose="020F0502020204030204" pitchFamily="34" charset="0"/>
                <a:cs typeface="Calibri" panose="020F0502020204030204" pitchFamily="34" charset="0"/>
              </a:rPr>
            </a:br>
            <a:r>
              <a:rPr lang="he-IL" sz="1600" b="1" dirty="0">
                <a:solidFill>
                  <a:srgbClr val="0070C0"/>
                </a:solidFill>
                <a:latin typeface="Calibri" panose="020F0502020204030204" pitchFamily="34" charset="0"/>
                <a:cs typeface="Calibri" panose="020F0502020204030204" pitchFamily="34" charset="0"/>
              </a:rPr>
              <a:t>* 3 ימים בשבוע</a:t>
            </a:r>
          </a:p>
        </p:txBody>
      </p:sp>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10" name="תרשים 9"/>
          <p:cNvGraphicFramePr>
            <a:graphicFrameLocks/>
          </p:cNvGraphicFramePr>
          <p:nvPr>
            <p:extLst>
              <p:ext uri="{D42A27DB-BD31-4B8C-83A1-F6EECF244321}">
                <p14:modId xmlns:p14="http://schemas.microsoft.com/office/powerpoint/2010/main" val="2737684686"/>
              </p:ext>
            </p:extLst>
          </p:nvPr>
        </p:nvGraphicFramePr>
        <p:xfrm>
          <a:off x="792952" y="249806"/>
          <a:ext cx="11116018" cy="6358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חץ ימינה 2"/>
          <p:cNvSpPr/>
          <p:nvPr/>
        </p:nvSpPr>
        <p:spPr>
          <a:xfrm rot="18705618">
            <a:off x="8306867" y="4390313"/>
            <a:ext cx="1340101" cy="661540"/>
          </a:xfrm>
          <a:prstGeom prst="rightArrow">
            <a:avLst/>
          </a:prstGeom>
          <a:solidFill>
            <a:srgbClr val="FFC000"/>
          </a:solidFill>
        </p:spPr>
        <p:style>
          <a:lnRef idx="3">
            <a:schemeClr val="lt1"/>
          </a:lnRef>
          <a:fillRef idx="1">
            <a:schemeClr val="accent2"/>
          </a:fillRef>
          <a:effectRef idx="1">
            <a:schemeClr val="accent2"/>
          </a:effectRef>
          <a:fontRef idx="minor">
            <a:schemeClr val="lt1"/>
          </a:fontRef>
        </p:style>
        <p:txBody>
          <a:bodyPr rtlCol="1" anchor="ctr"/>
          <a:lstStyle/>
          <a:p>
            <a:pPr algn="ctr"/>
            <a:r>
              <a:rPr lang="he-IL" b="1" dirty="0">
                <a:solidFill>
                  <a:schemeClr val="tx1"/>
                </a:solidFill>
                <a:latin typeface="Calibri" panose="020F0502020204030204" pitchFamily="34" charset="0"/>
                <a:cs typeface="Calibri" panose="020F0502020204030204" pitchFamily="34" charset="0"/>
              </a:rPr>
              <a:t>פי 17</a:t>
            </a:r>
          </a:p>
        </p:txBody>
      </p:sp>
      <p:sp>
        <p:nvSpPr>
          <p:cNvPr id="5" name="TextBox 4"/>
          <p:cNvSpPr txBox="1"/>
          <p:nvPr/>
        </p:nvSpPr>
        <p:spPr>
          <a:xfrm>
            <a:off x="1876696" y="1371089"/>
            <a:ext cx="2752626" cy="923330"/>
          </a:xfrm>
          <a:prstGeom prst="rect">
            <a:avLst/>
          </a:prstGeom>
          <a:solidFill>
            <a:srgbClr val="FFC000"/>
          </a:solidFill>
          <a:ln>
            <a:solidFill>
              <a:srgbClr val="FFC000"/>
            </a:solidFill>
          </a:ln>
        </p:spPr>
        <p:style>
          <a:lnRef idx="2">
            <a:schemeClr val="dk1">
              <a:shade val="50000"/>
            </a:schemeClr>
          </a:lnRef>
          <a:fillRef idx="1">
            <a:schemeClr val="dk1"/>
          </a:fillRef>
          <a:effectRef idx="0">
            <a:schemeClr val="dk1"/>
          </a:effectRef>
          <a:fontRef idx="minor">
            <a:schemeClr val="lt1"/>
          </a:fontRef>
        </p:style>
        <p:txBody>
          <a:bodyPr wrap="square" rtlCol="1">
            <a:spAutoFit/>
          </a:bodyPr>
          <a:lstStyle/>
          <a:p>
            <a:r>
              <a:rPr lang="he-IL" dirty="0">
                <a:solidFill>
                  <a:schemeClr val="tx1"/>
                </a:solidFill>
              </a:rPr>
              <a:t>שירותי רווחה ובריאות ניתנים כמעט בחינם, בגיל 80 נצפה שהזקן יתחיל לשלם</a:t>
            </a:r>
            <a:r>
              <a:rPr lang="he-IL" dirty="0" smtClean="0">
                <a:solidFill>
                  <a:schemeClr val="tx1"/>
                </a:solidFill>
              </a:rPr>
              <a:t>??</a:t>
            </a:r>
            <a:endParaRPr lang="he-IL" dirty="0">
              <a:solidFill>
                <a:schemeClr val="tx1"/>
              </a:solidFill>
            </a:endParaRPr>
          </a:p>
        </p:txBody>
      </p:sp>
      <p:sp>
        <p:nvSpPr>
          <p:cNvPr id="7" name="מלבן 6"/>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36826506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93109DC6-B38C-1970-58FE-DE059CBAD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6" y="0"/>
            <a:ext cx="12178468" cy="6858000"/>
          </a:xfrm>
          <a:prstGeom prst="rect">
            <a:avLst/>
          </a:prstGeom>
          <a:solidFill>
            <a:schemeClr val="tx1"/>
          </a:solidFill>
          <a:effectLst>
            <a:reflection blurRad="1257300" stA="0" endPos="65000" dist="1270000" dir="5400000" sy="-100000" algn="bl" rotWithShape="0"/>
          </a:effectLst>
        </p:spPr>
      </p:pic>
      <p:sp>
        <p:nvSpPr>
          <p:cNvPr id="8" name="מלבן 7">
            <a:extLst>
              <a:ext uri="{FF2B5EF4-FFF2-40B4-BE49-F238E27FC236}">
                <a16:creationId xmlns:a16="http://schemas.microsoft.com/office/drawing/2014/main" id="{6EC5129C-E0D7-1E68-C5B8-2E4DE42FBCCD}"/>
              </a:ext>
            </a:extLst>
          </p:cNvPr>
          <p:cNvSpPr/>
          <p:nvPr/>
        </p:nvSpPr>
        <p:spPr>
          <a:xfrm>
            <a:off x="6766" y="0"/>
            <a:ext cx="12192000" cy="6858000"/>
          </a:xfrm>
          <a:prstGeom prst="rect">
            <a:avLst/>
          </a:prstGeom>
          <a:solidFill>
            <a:schemeClr val="dk1">
              <a:alpha val="63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algn="ctr"/>
            <a:endParaRPr lang="he-IL">
              <a:solidFill>
                <a:schemeClr val="bg1"/>
              </a:solidFill>
            </a:endParaRPr>
          </a:p>
        </p:txBody>
      </p:sp>
      <p:sp>
        <p:nvSpPr>
          <p:cNvPr id="2" name="כותרת 1"/>
          <p:cNvSpPr>
            <a:spLocks noGrp="1"/>
          </p:cNvSpPr>
          <p:nvPr>
            <p:ph type="title"/>
          </p:nvPr>
        </p:nvSpPr>
        <p:spPr>
          <a:xfrm>
            <a:off x="1244668" y="275980"/>
            <a:ext cx="10515600" cy="638485"/>
          </a:xfrm>
        </p:spPr>
        <p:txBody>
          <a:bodyPr>
            <a:normAutofit fontScale="90000"/>
          </a:bodyPr>
          <a:lstStyle/>
          <a:p>
            <a:r>
              <a:rPr lang="he-IL" dirty="0">
                <a:solidFill>
                  <a:schemeClr val="bg1"/>
                </a:solidFill>
              </a:rPr>
              <a:t>פורום </a:t>
            </a:r>
            <a:r>
              <a:rPr lang="he-IL" dirty="0" smtClean="0">
                <a:solidFill>
                  <a:schemeClr val="bg1"/>
                </a:solidFill>
              </a:rPr>
              <a:t>ברק</a:t>
            </a:r>
            <a:endParaRPr lang="he-IL" dirty="0">
              <a:solidFill>
                <a:schemeClr val="bg1"/>
              </a:solidFill>
            </a:endParaRPr>
          </a:p>
        </p:txBody>
      </p:sp>
      <p:sp>
        <p:nvSpPr>
          <p:cNvPr id="3" name="מציין מיקום תוכן 2"/>
          <p:cNvSpPr>
            <a:spLocks noGrp="1"/>
          </p:cNvSpPr>
          <p:nvPr>
            <p:ph idx="1"/>
          </p:nvPr>
        </p:nvSpPr>
        <p:spPr>
          <a:xfrm>
            <a:off x="1244668" y="1379901"/>
            <a:ext cx="10515600" cy="4351338"/>
          </a:xfrm>
        </p:spPr>
        <p:txBody>
          <a:bodyPr>
            <a:normAutofit fontScale="62500" lnSpcReduction="20000"/>
          </a:bodyPr>
          <a:lstStyle/>
          <a:p>
            <a:pPr marL="0" indent="0">
              <a:buNone/>
            </a:pPr>
            <a:endParaRPr lang="he-IL" sz="2600" b="1" dirty="0" smtClean="0">
              <a:solidFill>
                <a:schemeClr val="bg1"/>
              </a:solidFill>
            </a:endParaRPr>
          </a:p>
          <a:p>
            <a:pPr marL="0" indent="0">
              <a:buNone/>
            </a:pPr>
            <a:r>
              <a:rPr lang="he-IL" sz="2600" b="1" dirty="0" smtClean="0">
                <a:solidFill>
                  <a:schemeClr val="bg1"/>
                </a:solidFill>
              </a:rPr>
              <a:t>צוותים </a:t>
            </a:r>
            <a:r>
              <a:rPr lang="he-IL" sz="2600" b="1" dirty="0" err="1" smtClean="0">
                <a:solidFill>
                  <a:schemeClr val="bg1"/>
                </a:solidFill>
              </a:rPr>
              <a:t>יעודיים</a:t>
            </a:r>
            <a:r>
              <a:rPr lang="he-IL" sz="2600" b="1" dirty="0" smtClean="0">
                <a:solidFill>
                  <a:schemeClr val="bg1"/>
                </a:solidFill>
              </a:rPr>
              <a:t>:</a:t>
            </a:r>
            <a:endParaRPr lang="he-IL" sz="2600" b="1" dirty="0">
              <a:solidFill>
                <a:schemeClr val="bg1"/>
              </a:solidFill>
            </a:endParaRPr>
          </a:p>
          <a:p>
            <a:pPr marL="514350" indent="-514350">
              <a:buFont typeface="+mj-lt"/>
              <a:buAutoNum type="arabicPeriod"/>
            </a:pPr>
            <a:r>
              <a:rPr lang="he-IL" b="1" dirty="0">
                <a:solidFill>
                  <a:schemeClr val="bg1"/>
                </a:solidFill>
              </a:rPr>
              <a:t>צוות מדיניות- </a:t>
            </a:r>
            <a:r>
              <a:rPr lang="he-IL" dirty="0">
                <a:solidFill>
                  <a:schemeClr val="bg1"/>
                </a:solidFill>
              </a:rPr>
              <a:t>שינוי שיטות הערכה (בקופ"ח), הרחבת והתאמת </a:t>
            </a:r>
            <a:r>
              <a:rPr lang="he-IL" dirty="0" smtClean="0">
                <a:solidFill>
                  <a:schemeClr val="bg1"/>
                </a:solidFill>
              </a:rPr>
              <a:t>סל השירותים</a:t>
            </a:r>
            <a:endParaRPr lang="he-IL" dirty="0">
              <a:solidFill>
                <a:schemeClr val="bg1"/>
              </a:solidFill>
            </a:endParaRPr>
          </a:p>
          <a:p>
            <a:pPr marL="514350" indent="-514350">
              <a:buFont typeface="+mj-lt"/>
              <a:buAutoNum type="arabicPeriod"/>
            </a:pPr>
            <a:r>
              <a:rPr lang="he-IL" b="1" dirty="0">
                <a:solidFill>
                  <a:schemeClr val="bg1"/>
                </a:solidFill>
              </a:rPr>
              <a:t>צוות מדדים- </a:t>
            </a:r>
            <a:r>
              <a:rPr lang="he-IL" dirty="0">
                <a:solidFill>
                  <a:schemeClr val="bg1"/>
                </a:solidFill>
              </a:rPr>
              <a:t>מדידת תוצאות ופיתוח ממשקים.</a:t>
            </a:r>
          </a:p>
          <a:p>
            <a:pPr marL="514350" indent="-514350">
              <a:buFont typeface="+mj-lt"/>
              <a:buAutoNum type="arabicPeriod"/>
            </a:pPr>
            <a:r>
              <a:rPr lang="he-IL" b="1" dirty="0">
                <a:solidFill>
                  <a:schemeClr val="bg1"/>
                </a:solidFill>
              </a:rPr>
              <a:t>צוות </a:t>
            </a:r>
            <a:r>
              <a:rPr lang="he-IL" b="1" dirty="0" err="1">
                <a:solidFill>
                  <a:schemeClr val="bg1"/>
                </a:solidFill>
              </a:rPr>
              <a:t>תמרוצים</a:t>
            </a:r>
            <a:r>
              <a:rPr lang="he-IL" b="1" dirty="0">
                <a:solidFill>
                  <a:schemeClr val="bg1"/>
                </a:solidFill>
              </a:rPr>
              <a:t> </a:t>
            </a:r>
            <a:r>
              <a:rPr lang="he-IL" dirty="0">
                <a:solidFill>
                  <a:schemeClr val="bg1"/>
                </a:solidFill>
              </a:rPr>
              <a:t>לזקן ולמערכות</a:t>
            </a:r>
          </a:p>
          <a:p>
            <a:endParaRPr lang="he-IL" dirty="0">
              <a:solidFill>
                <a:schemeClr val="bg1"/>
              </a:solidFill>
            </a:endParaRPr>
          </a:p>
          <a:p>
            <a:pPr marL="0" indent="0">
              <a:buNone/>
            </a:pPr>
            <a:endParaRPr lang="he-IL" sz="3000" b="1" dirty="0" smtClean="0">
              <a:solidFill>
                <a:schemeClr val="bg1"/>
              </a:solidFill>
            </a:endParaRPr>
          </a:p>
          <a:p>
            <a:pPr marL="0" indent="0">
              <a:buNone/>
            </a:pPr>
            <a:endParaRPr lang="he-IL" sz="3000" b="1" dirty="0" smtClean="0">
              <a:solidFill>
                <a:schemeClr val="bg1"/>
              </a:solidFill>
            </a:endParaRPr>
          </a:p>
          <a:p>
            <a:pPr marL="0" indent="0">
              <a:buNone/>
            </a:pPr>
            <a:r>
              <a:rPr lang="he-IL" sz="3000" b="1" dirty="0" smtClean="0">
                <a:solidFill>
                  <a:schemeClr val="bg1"/>
                </a:solidFill>
              </a:rPr>
              <a:t>צוות </a:t>
            </a:r>
            <a:r>
              <a:rPr lang="he-IL" sz="3000" b="1" dirty="0">
                <a:solidFill>
                  <a:schemeClr val="bg1"/>
                </a:solidFill>
              </a:rPr>
              <a:t>דאטה </a:t>
            </a:r>
            <a:r>
              <a:rPr lang="he-IL" sz="3000" b="1" dirty="0" err="1">
                <a:solidFill>
                  <a:schemeClr val="bg1"/>
                </a:solidFill>
              </a:rPr>
              <a:t>דיגיטל</a:t>
            </a:r>
            <a:r>
              <a:rPr lang="he-IL" sz="3000" b="1" dirty="0">
                <a:solidFill>
                  <a:schemeClr val="bg1"/>
                </a:solidFill>
              </a:rPr>
              <a:t> (פרוייקטים משותפים</a:t>
            </a:r>
            <a:r>
              <a:rPr lang="he-IL" sz="3000" b="1" dirty="0" smtClean="0">
                <a:solidFill>
                  <a:schemeClr val="bg1"/>
                </a:solidFill>
              </a:rPr>
              <a:t>):</a:t>
            </a:r>
            <a:endParaRPr lang="he-IL" sz="2600" b="1" dirty="0">
              <a:solidFill>
                <a:schemeClr val="bg1"/>
              </a:solidFill>
            </a:endParaRPr>
          </a:p>
          <a:p>
            <a:pPr marL="514350" indent="-514350">
              <a:buFont typeface="+mj-lt"/>
              <a:buAutoNum type="arabicPeriod"/>
            </a:pPr>
            <a:r>
              <a:rPr lang="he-IL" b="1" dirty="0">
                <a:solidFill>
                  <a:schemeClr val="bg1"/>
                </a:solidFill>
              </a:rPr>
              <a:t>הצלבת </a:t>
            </a:r>
            <a:r>
              <a:rPr lang="he-IL" b="1" dirty="0" err="1">
                <a:solidFill>
                  <a:schemeClr val="bg1"/>
                </a:solidFill>
              </a:rPr>
              <a:t>והנגשת</a:t>
            </a:r>
            <a:r>
              <a:rPr lang="he-IL" b="1" dirty="0">
                <a:solidFill>
                  <a:schemeClr val="bg1"/>
                </a:solidFill>
              </a:rPr>
              <a:t> מידע רב מערכתי</a:t>
            </a:r>
          </a:p>
          <a:p>
            <a:pPr marL="514350" indent="-514350">
              <a:buFont typeface="+mj-lt"/>
              <a:buAutoNum type="arabicPeriod"/>
            </a:pPr>
            <a:r>
              <a:rPr lang="he-IL" b="1" dirty="0">
                <a:solidFill>
                  <a:schemeClr val="bg1"/>
                </a:solidFill>
              </a:rPr>
              <a:t>אופטימיזציה של צרכים ומענים- </a:t>
            </a:r>
            <a:r>
              <a:rPr lang="he-IL" dirty="0">
                <a:solidFill>
                  <a:schemeClr val="bg1"/>
                </a:solidFill>
              </a:rPr>
              <a:t>בניית פרופילים של רמות 0-2</a:t>
            </a:r>
          </a:p>
          <a:p>
            <a:pPr marL="514350" indent="-514350">
              <a:buFont typeface="+mj-lt"/>
              <a:buAutoNum type="arabicPeriod"/>
            </a:pPr>
            <a:r>
              <a:rPr lang="he-IL" b="1" dirty="0">
                <a:solidFill>
                  <a:schemeClr val="bg1"/>
                </a:solidFill>
              </a:rPr>
              <a:t>מדד שבריריות ומדידת מניעה ואימפקט </a:t>
            </a:r>
            <a:r>
              <a:rPr lang="he-IL" dirty="0">
                <a:solidFill>
                  <a:schemeClr val="bg1"/>
                </a:solidFill>
              </a:rPr>
              <a:t>(בשת"פ צוות מניעה)</a:t>
            </a:r>
          </a:p>
          <a:p>
            <a:pPr marL="514350" indent="-514350">
              <a:buFont typeface="+mj-lt"/>
              <a:buAutoNum type="arabicPeriod"/>
            </a:pPr>
            <a:r>
              <a:rPr lang="he-IL" dirty="0" smtClean="0">
                <a:solidFill>
                  <a:schemeClr val="bg1"/>
                </a:solidFill>
              </a:rPr>
              <a:t>הפניות </a:t>
            </a:r>
            <a:r>
              <a:rPr lang="he-IL" dirty="0">
                <a:solidFill>
                  <a:schemeClr val="bg1"/>
                </a:solidFill>
              </a:rPr>
              <a:t>הדדיות רווחה-קופ"ח (בשת"פ צוות רשויות)</a:t>
            </a:r>
          </a:p>
          <a:p>
            <a:endParaRPr lang="he-IL" dirty="0">
              <a:solidFill>
                <a:schemeClr val="bg1"/>
              </a:solidFill>
            </a:endParaRPr>
          </a:p>
          <a:p>
            <a:endParaRPr lang="he-IL" dirty="0">
              <a:solidFill>
                <a:schemeClr val="bg1"/>
              </a:solidFill>
            </a:endParaRPr>
          </a:p>
        </p:txBody>
      </p:sp>
      <p:sp>
        <p:nvSpPr>
          <p:cNvPr id="4" name="מלבן 3"/>
          <p:cNvSpPr/>
          <p:nvPr/>
        </p:nvSpPr>
        <p:spPr>
          <a:xfrm>
            <a:off x="8288671" y="1087513"/>
            <a:ext cx="3579827" cy="523220"/>
          </a:xfrm>
          <a:prstGeom prst="rect">
            <a:avLst/>
          </a:prstGeom>
        </p:spPr>
        <p:txBody>
          <a:bodyPr wrap="none">
            <a:spAutoFit/>
          </a:bodyPr>
          <a:lstStyle/>
          <a:p>
            <a:r>
              <a:rPr lang="he-IL" sz="2800" b="1" dirty="0" smtClean="0">
                <a:solidFill>
                  <a:schemeClr val="bg1"/>
                </a:solidFill>
              </a:rPr>
              <a:t>צוות </a:t>
            </a:r>
            <a:r>
              <a:rPr lang="he-IL" sz="2800" b="1" dirty="0">
                <a:solidFill>
                  <a:schemeClr val="bg1"/>
                </a:solidFill>
              </a:rPr>
              <a:t>מניעת התדרדרות</a:t>
            </a:r>
            <a:r>
              <a:rPr lang="he-IL" sz="2400" b="1" dirty="0">
                <a:solidFill>
                  <a:schemeClr val="bg1"/>
                </a:solidFill>
              </a:rPr>
              <a:t>:</a:t>
            </a:r>
          </a:p>
        </p:txBody>
      </p:sp>
      <p:sp>
        <p:nvSpPr>
          <p:cNvPr id="5" name="מלבן 4"/>
          <p:cNvSpPr/>
          <p:nvPr/>
        </p:nvSpPr>
        <p:spPr>
          <a:xfrm>
            <a:off x="2675028" y="1149068"/>
            <a:ext cx="5750292" cy="400110"/>
          </a:xfrm>
          <a:prstGeom prst="rect">
            <a:avLst/>
          </a:prstGeom>
        </p:spPr>
        <p:txBody>
          <a:bodyPr wrap="none">
            <a:spAutoFit/>
          </a:bodyPr>
          <a:lstStyle/>
          <a:p>
            <a:r>
              <a:rPr lang="he-IL" sz="2000" b="1" dirty="0" smtClean="0">
                <a:solidFill>
                  <a:schemeClr val="bg1"/>
                </a:solidFill>
              </a:rPr>
              <a:t>רווחה, </a:t>
            </a:r>
            <a:r>
              <a:rPr lang="he-IL" sz="2000" b="1" dirty="0" err="1" smtClean="0">
                <a:solidFill>
                  <a:schemeClr val="bg1"/>
                </a:solidFill>
              </a:rPr>
              <a:t>בטל"א</a:t>
            </a:r>
            <a:r>
              <a:rPr lang="he-IL" sz="2000" b="1" dirty="0" smtClean="0">
                <a:solidFill>
                  <a:schemeClr val="bg1"/>
                </a:solidFill>
              </a:rPr>
              <a:t>, בריאות</a:t>
            </a:r>
            <a:r>
              <a:rPr lang="he-IL" sz="2000" dirty="0" smtClean="0">
                <a:solidFill>
                  <a:schemeClr val="bg1"/>
                </a:solidFill>
              </a:rPr>
              <a:t>, כל קופ"ח, רשויות, ג'וינט והאוצר</a:t>
            </a:r>
            <a:endParaRPr lang="he-IL" sz="2000" dirty="0">
              <a:solidFill>
                <a:schemeClr val="bg1"/>
              </a:solidFill>
            </a:endParaRPr>
          </a:p>
        </p:txBody>
      </p:sp>
      <p:sp>
        <p:nvSpPr>
          <p:cNvPr id="9" name="מלבן 8"/>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2293563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67248" y="197856"/>
            <a:ext cx="11650710" cy="1325563"/>
          </a:xfrm>
        </p:spPr>
        <p:txBody>
          <a:bodyPr>
            <a:normAutofit/>
          </a:bodyPr>
          <a:lstStyle/>
          <a:p>
            <a:r>
              <a:rPr lang="he-IL" sz="3600" dirty="0" smtClean="0"/>
              <a:t>מודיעין עסקי: שחקני </a:t>
            </a:r>
            <a:r>
              <a:rPr lang="he-IL" sz="3600" dirty="0" smtClean="0"/>
              <a:t>המפתח, אינטרסים </a:t>
            </a:r>
            <a:r>
              <a:rPr lang="he-IL" sz="3600" dirty="0" smtClean="0"/>
              <a:t>והצצה אל מאחורי הקלעים</a:t>
            </a:r>
            <a:endParaRPr lang="he-IL" sz="3600" dirty="0"/>
          </a:p>
        </p:txBody>
      </p:sp>
      <p:sp>
        <p:nvSpPr>
          <p:cNvPr id="3" name="מציין מיקום תוכן 2"/>
          <p:cNvSpPr>
            <a:spLocks noGrp="1"/>
          </p:cNvSpPr>
          <p:nvPr>
            <p:ph idx="1"/>
          </p:nvPr>
        </p:nvSpPr>
        <p:spPr>
          <a:xfrm>
            <a:off x="838200" y="1825625"/>
            <a:ext cx="10854965" cy="4351338"/>
          </a:xfrm>
        </p:spPr>
        <p:txBody>
          <a:bodyPr>
            <a:normAutofit fontScale="85000" lnSpcReduction="20000"/>
          </a:bodyPr>
          <a:lstStyle/>
          <a:p>
            <a:r>
              <a:rPr lang="he-IL" b="1" dirty="0" smtClean="0"/>
              <a:t>האוצר</a:t>
            </a:r>
            <a:r>
              <a:rPr lang="he-IL" dirty="0" smtClean="0"/>
              <a:t>- הכנסת קופ"ח, הורדת מטפלות ברמות הנמוכות, הפחתת בני משפחה מטפלים, הרחבת קהילה תומכת, ביטול התקציב מרמות 1-2 (דרמטי).</a:t>
            </a:r>
          </a:p>
          <a:p>
            <a:r>
              <a:rPr lang="he-IL" b="1" dirty="0" smtClean="0"/>
              <a:t>צוות מניעה בפורום ברק- </a:t>
            </a:r>
            <a:r>
              <a:rPr lang="he-IL" dirty="0" smtClean="0"/>
              <a:t>שת"פ רחב ואופרטיבי למניעת הדרדרות (כיוון משותף). </a:t>
            </a:r>
          </a:p>
          <a:p>
            <a:pPr algn="just"/>
            <a:r>
              <a:rPr lang="he-IL" sz="2700" b="1" dirty="0" smtClean="0"/>
              <a:t>ביטוח לאומי- </a:t>
            </a:r>
            <a:r>
              <a:rPr lang="he-IL" sz="2700" dirty="0" smtClean="0"/>
              <a:t>הרחבת </a:t>
            </a:r>
            <a:r>
              <a:rPr lang="he-IL" sz="2700" dirty="0" smtClean="0"/>
              <a:t>השירותים</a:t>
            </a:r>
            <a:r>
              <a:rPr lang="he-IL" sz="1500" dirty="0" smtClean="0"/>
              <a:t> </a:t>
            </a:r>
            <a:r>
              <a:rPr lang="he-IL" sz="2200" dirty="0" smtClean="0"/>
              <a:t>(קול קורא), </a:t>
            </a:r>
            <a:r>
              <a:rPr lang="he-IL" sz="2700" dirty="0" smtClean="0"/>
              <a:t>שינוי השיטה לסל מותאם אישית, </a:t>
            </a:r>
            <a:r>
              <a:rPr lang="he-IL" sz="2700" dirty="0" smtClean="0"/>
              <a:t>קהילה </a:t>
            </a:r>
            <a:r>
              <a:rPr lang="he-IL" sz="2700" dirty="0" smtClean="0"/>
              <a:t>תומכת מותאמת לכולם, מופת בתוך מרכזי </a:t>
            </a:r>
            <a:r>
              <a:rPr lang="he-IL" sz="2700" dirty="0" smtClean="0"/>
              <a:t>היום,</a:t>
            </a:r>
            <a:r>
              <a:rPr lang="he-IL" sz="1100" dirty="0" smtClean="0"/>
              <a:t> </a:t>
            </a:r>
            <a:r>
              <a:rPr lang="he-IL" sz="2700" dirty="0" smtClean="0"/>
              <a:t>מעריכות התלות בקופ"ח, בני משפחה.</a:t>
            </a:r>
            <a:endParaRPr lang="he-IL" sz="2700" dirty="0" smtClean="0"/>
          </a:p>
          <a:p>
            <a:r>
              <a:rPr lang="he-IL" b="1" dirty="0" smtClean="0"/>
              <a:t>רווחה</a:t>
            </a:r>
            <a:r>
              <a:rPr lang="he-IL" dirty="0" smtClean="0"/>
              <a:t>- </a:t>
            </a:r>
            <a:r>
              <a:rPr lang="he-IL" dirty="0" err="1"/>
              <a:t>תמרוץ</a:t>
            </a:r>
            <a:r>
              <a:rPr lang="he-IL" dirty="0"/>
              <a:t> לשירותים ולא </a:t>
            </a:r>
            <a:r>
              <a:rPr lang="he-IL" dirty="0" smtClean="0"/>
              <a:t>כסף, פיתוח מדדים, שינוי השיטה, מנגנון תומך למחלקה, בני משפחה מטפלים.</a:t>
            </a:r>
          </a:p>
          <a:p>
            <a:r>
              <a:rPr lang="he-IL" b="1" dirty="0" smtClean="0"/>
              <a:t>בריאות</a:t>
            </a:r>
            <a:r>
              <a:rPr lang="he-IL" dirty="0" smtClean="0"/>
              <a:t>- אין רצון </a:t>
            </a:r>
            <a:r>
              <a:rPr lang="he-IL" dirty="0" err="1" smtClean="0"/>
              <a:t>לתעדף</a:t>
            </a:r>
            <a:r>
              <a:rPr lang="he-IL" dirty="0" smtClean="0"/>
              <a:t> סיעוד על </a:t>
            </a:r>
            <a:r>
              <a:rPr lang="he-IL" dirty="0" smtClean="0"/>
              <a:t>זקנים אחרים מהתקציב.</a:t>
            </a:r>
            <a:endParaRPr lang="he-IL" dirty="0" smtClean="0"/>
          </a:p>
          <a:p>
            <a:r>
              <a:rPr lang="he-IL" b="1" dirty="0" smtClean="0"/>
              <a:t>קופ"ח</a:t>
            </a:r>
            <a:r>
              <a:rPr lang="he-IL" dirty="0" smtClean="0"/>
              <a:t>- רצון לתקציב צבוע, פחות להפעלת שירותים (חשובים במדידה והפניות).</a:t>
            </a:r>
          </a:p>
          <a:p>
            <a:r>
              <a:rPr lang="he-IL" b="1" dirty="0" smtClean="0"/>
              <a:t>חברות הסיעוד-</a:t>
            </a:r>
            <a:r>
              <a:rPr lang="he-IL" dirty="0" smtClean="0"/>
              <a:t>חשש משינוי השיטה, רצון להיות שותפים בהובלת השינוי</a:t>
            </a:r>
            <a:r>
              <a:rPr lang="he-IL" dirty="0" smtClean="0"/>
              <a:t>.</a:t>
            </a:r>
          </a:p>
          <a:p>
            <a:pPr marL="0" indent="0">
              <a:buNone/>
            </a:pPr>
            <a:endParaRPr lang="he-IL" sz="1900" dirty="0"/>
          </a:p>
          <a:p>
            <a:pPr marL="0" indent="0" algn="ctr">
              <a:buNone/>
            </a:pPr>
            <a:r>
              <a:rPr lang="he-IL" sz="3300" b="1" dirty="0">
                <a:solidFill>
                  <a:srgbClr val="002060"/>
                </a:solidFill>
              </a:rPr>
              <a:t>קיבלנו בפורום ברק את התכניות של כלל השותפים למניעה בסיעוד</a:t>
            </a:r>
            <a:r>
              <a:rPr lang="he-IL" b="1" dirty="0" smtClean="0">
                <a:solidFill>
                  <a:srgbClr val="002060"/>
                </a:solidFill>
              </a:rPr>
              <a:t>.</a:t>
            </a:r>
            <a:endParaRPr lang="he-IL" b="1" dirty="0">
              <a:solidFill>
                <a:srgbClr val="002060"/>
              </a:solidFill>
            </a:endParaRPr>
          </a:p>
        </p:txBody>
      </p:sp>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5" name="מלבן 4"/>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27888217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אפשרויות </a:t>
            </a:r>
            <a:r>
              <a:rPr lang="he-IL" dirty="0" err="1"/>
              <a:t>לתמרוצים</a:t>
            </a:r>
            <a:endParaRPr lang="he-IL" dirty="0"/>
          </a:p>
        </p:txBody>
      </p:sp>
      <p:sp>
        <p:nvSpPr>
          <p:cNvPr id="3" name="מציין מיקום תוכן 2"/>
          <p:cNvSpPr>
            <a:spLocks noGrp="1"/>
          </p:cNvSpPr>
          <p:nvPr>
            <p:ph idx="1"/>
          </p:nvPr>
        </p:nvSpPr>
        <p:spPr>
          <a:xfrm>
            <a:off x="838200" y="1590676"/>
            <a:ext cx="10515600" cy="4351338"/>
          </a:xfrm>
        </p:spPr>
        <p:txBody>
          <a:bodyPr>
            <a:normAutofit/>
          </a:bodyPr>
          <a:lstStyle/>
          <a:p>
            <a:r>
              <a:rPr lang="he-IL" sz="2400" dirty="0"/>
              <a:t>הפרדה בין חברות סיעוד לרמות הגבוהות</a:t>
            </a:r>
          </a:p>
          <a:p>
            <a:r>
              <a:rPr lang="he-IL" sz="2400" dirty="0"/>
              <a:t>הפחתת ההמרה בכסף ל60%</a:t>
            </a:r>
          </a:p>
          <a:p>
            <a:r>
              <a:rPr lang="he-IL" sz="2400" dirty="0"/>
              <a:t>אלגוריתם מתמרץ בהתאם למדידה, תוצאות והמלצות </a:t>
            </a:r>
          </a:p>
          <a:p>
            <a:r>
              <a:rPr lang="he-IL" sz="2400" dirty="0" smtClean="0"/>
              <a:t>השקעה </a:t>
            </a:r>
            <a:r>
              <a:rPr lang="he-IL" sz="2400" dirty="0"/>
              <a:t>במניעה בסל מותאם רק עד רמה 3</a:t>
            </a:r>
          </a:p>
          <a:p>
            <a:r>
              <a:rPr lang="he-IL" sz="2400" dirty="0"/>
              <a:t>חלק צבוע לשירותים (מי שלא ילך נחסך) </a:t>
            </a:r>
          </a:p>
          <a:p>
            <a:r>
              <a:rPr lang="he-IL" sz="2400" dirty="0"/>
              <a:t>הכנסת שירותים שמוכיחים את עצמם (והוצאה)</a:t>
            </a:r>
          </a:p>
          <a:p>
            <a:r>
              <a:rPr lang="he-IL" sz="2400" dirty="0"/>
              <a:t>אג"ח חברתי</a:t>
            </a:r>
          </a:p>
          <a:p>
            <a:endParaRPr lang="he-IL" dirty="0"/>
          </a:p>
        </p:txBody>
      </p:sp>
    </p:spTree>
    <p:extLst>
      <p:ext uri="{BB962C8B-B14F-4D97-AF65-F5344CB8AC3E}">
        <p14:creationId xmlns:p14="http://schemas.microsoft.com/office/powerpoint/2010/main" val="551536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מלבן 15"/>
          <p:cNvSpPr/>
          <p:nvPr/>
        </p:nvSpPr>
        <p:spPr>
          <a:xfrm>
            <a:off x="8710" y="8466"/>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TextBox 24"/>
          <p:cNvSpPr txBox="1"/>
          <p:nvPr/>
        </p:nvSpPr>
        <p:spPr>
          <a:xfrm>
            <a:off x="156091" y="97941"/>
            <a:ext cx="7282543"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600" b="1" dirty="0">
                <a:solidFill>
                  <a:srgbClr val="002060"/>
                </a:solidFill>
                <a:latin typeface="Calibri" panose="020F0502020204030204" pitchFamily="34" charset="0"/>
                <a:cs typeface="Calibri" panose="020F0502020204030204" pitchFamily="34" charset="0"/>
              </a:rPr>
              <a:t>לאן אתה הולך?</a:t>
            </a:r>
            <a:endParaRPr kumimoji="0" lang="he-IL" sz="3600" b="1" i="0" u="none" strike="noStrike" kern="1200" cap="none" spc="0" normalizeH="0" baseline="0" noProof="0" dirty="0">
              <a:ln>
                <a:noFill/>
              </a:ln>
              <a:solidFill>
                <a:srgbClr val="002060"/>
              </a:solidFill>
              <a:effectLst/>
              <a:uLnTx/>
              <a:uFillTx/>
              <a:latin typeface="Calibri" panose="020F0502020204030204" pitchFamily="34" charset="0"/>
              <a:cs typeface="Calibri" panose="020F0502020204030204" pitchFamily="34" charset="0"/>
            </a:endParaRPr>
          </a:p>
        </p:txBody>
      </p:sp>
      <p:pic>
        <p:nvPicPr>
          <p:cNvPr id="33" name="תמונה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45419" y="6261968"/>
            <a:ext cx="1917271" cy="519704"/>
          </a:xfrm>
          <a:prstGeom prst="rect">
            <a:avLst/>
          </a:prstGeom>
        </p:spPr>
      </p:pic>
      <p:grpSp>
        <p:nvGrpSpPr>
          <p:cNvPr id="34" name="קבוצה 33"/>
          <p:cNvGrpSpPr/>
          <p:nvPr/>
        </p:nvGrpSpPr>
        <p:grpSpPr>
          <a:xfrm>
            <a:off x="1737682" y="685172"/>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2142754" y="453506"/>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1693672" y="238801"/>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41" name="חץ שמאלה 40"/>
          <p:cNvSpPr/>
          <p:nvPr/>
        </p:nvSpPr>
        <p:spPr>
          <a:xfrm>
            <a:off x="3468948" y="4867373"/>
            <a:ext cx="656830" cy="356781"/>
          </a:xfrm>
          <a:prstGeom prst="leftArrow">
            <a:avLst/>
          </a:prstGeom>
          <a:solidFill>
            <a:srgbClr val="00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aphicFrame>
        <p:nvGraphicFramePr>
          <p:cNvPr id="4" name="דיאגרמה 3"/>
          <p:cNvGraphicFramePr/>
          <p:nvPr>
            <p:extLst>
              <p:ext uri="{D42A27DB-BD31-4B8C-83A1-F6EECF244321}">
                <p14:modId xmlns:p14="http://schemas.microsoft.com/office/powerpoint/2010/main" val="1837141804"/>
              </p:ext>
            </p:extLst>
          </p:nvPr>
        </p:nvGraphicFramePr>
        <p:xfrm>
          <a:off x="2094248" y="728133"/>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7" name="TextBox 46"/>
          <p:cNvSpPr txBox="1"/>
          <p:nvPr/>
        </p:nvSpPr>
        <p:spPr>
          <a:xfrm rot="16200000">
            <a:off x="-934780" y="703270"/>
            <a:ext cx="1922322"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מהלכים וכיוונים קדימה</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30274065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459345" y="5495635"/>
            <a:ext cx="9624291"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dirty="0"/>
              <a:t>ועדה בין משרדית: "הרחבת שירותי הרווחה לזכאים וביסוס שירותי הקהילה תומכת - </a:t>
            </a:r>
            <a:r>
              <a:rPr lang="he-IL" sz="2400" dirty="0" smtClean="0"/>
              <a:t>תקצוב </a:t>
            </a:r>
            <a:r>
              <a:rPr lang="he-IL" sz="2400" dirty="0"/>
              <a:t>משרד הרווחה באופן ייעודי למערך הקהילות התומכות, כך </a:t>
            </a:r>
            <a:r>
              <a:rPr lang="he-IL" sz="2400" dirty="0" smtClean="0"/>
              <a:t>ש</a:t>
            </a:r>
            <a:r>
              <a:rPr lang="he-IL" sz="2400" b="1" dirty="0" smtClean="0"/>
              <a:t>כל </a:t>
            </a:r>
            <a:r>
              <a:rPr lang="he-IL" sz="2400" b="1" dirty="0"/>
              <a:t>זכאי לגמלת סיעוד ברמות הנמוכות יהיה זכאי גם באופן אוטומטי לשירותי קהילה תומכת</a:t>
            </a:r>
            <a:r>
              <a:rPr lang="he-IL" sz="2400" dirty="0"/>
              <a:t>".</a:t>
            </a:r>
          </a:p>
          <a:p>
            <a:pPr marL="0" indent="0">
              <a:buNone/>
            </a:pPr>
            <a:endParaRPr lang="he-IL" sz="1200" b="1" dirty="0" smtClean="0"/>
          </a:p>
          <a:p>
            <a:pPr marL="0" indent="0">
              <a:buNone/>
            </a:pPr>
            <a:endParaRPr lang="he-IL" sz="1200" b="1" dirty="0" smtClean="0"/>
          </a:p>
          <a:p>
            <a:pPr marL="0" indent="0">
              <a:buNone/>
            </a:pPr>
            <a:r>
              <a:rPr lang="he-IL" b="1" dirty="0" smtClean="0"/>
              <a:t>מתוך </a:t>
            </a:r>
            <a:r>
              <a:rPr lang="he-IL" b="1" dirty="0"/>
              <a:t>חוק ההסדרים האחרון:</a:t>
            </a:r>
          </a:p>
        </p:txBody>
      </p:sp>
      <p:pic>
        <p:nvPicPr>
          <p:cNvPr id="10" name="תמונה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6" name="מלבן 5"/>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Tree>
    <p:extLst>
      <p:ext uri="{BB962C8B-B14F-4D97-AF65-F5344CB8AC3E}">
        <p14:creationId xmlns:p14="http://schemas.microsoft.com/office/powerpoint/2010/main" val="9615878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322242" y="142856"/>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601" dirty="0" smtClean="0">
                <a:latin typeface="Tahoma"/>
                <a:ea typeface="Tahoma"/>
                <a:cs typeface="Tahoma"/>
              </a:rPr>
              <a:t>הקהילה כיום </a:t>
            </a:r>
            <a:endParaRPr lang="he-IL" sz="2601" dirty="0">
              <a:latin typeface="Tahoma"/>
              <a:ea typeface="Tahoma"/>
              <a:cs typeface="Tahoma"/>
            </a:endParaRPr>
          </a:p>
        </p:txBody>
      </p:sp>
      <p:sp>
        <p:nvSpPr>
          <p:cNvPr id="19" name="Rectangle"/>
          <p:cNvSpPr/>
          <p:nvPr/>
        </p:nvSpPr>
        <p:spPr>
          <a:xfrm>
            <a:off x="9227127" y="590271"/>
            <a:ext cx="1916928" cy="45719"/>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pic>
        <p:nvPicPr>
          <p:cNvPr id="3" name="תמונה 2"/>
          <p:cNvPicPr>
            <a:picLocks noChangeAspect="1"/>
          </p:cNvPicPr>
          <p:nvPr/>
        </p:nvPicPr>
        <p:blipFill rotWithShape="1">
          <a:blip r:embed="rId5"/>
          <a:srcRect l="9932" t="9923" r="10041" b="12916"/>
          <a:stretch/>
        </p:blipFill>
        <p:spPr>
          <a:xfrm>
            <a:off x="694944" y="677140"/>
            <a:ext cx="10049256" cy="5450257"/>
          </a:xfrm>
          <a:prstGeom prst="rect">
            <a:avLst/>
          </a:prstGeom>
        </p:spPr>
      </p:pic>
      <p:sp>
        <p:nvSpPr>
          <p:cNvPr id="14" name="מלבן 13"/>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TextBox 14"/>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2833466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8496" y="289062"/>
            <a:ext cx="4086639" cy="1325563"/>
          </a:xfrm>
        </p:spPr>
        <p:txBody>
          <a:bodyPr>
            <a:normAutofit fontScale="90000"/>
          </a:bodyPr>
          <a:lstStyle/>
          <a:p>
            <a:pPr algn="r" rtl="1"/>
            <a:r>
              <a:rPr lang="he-IL" dirty="0" smtClean="0">
                <a:latin typeface="Calibri Light" panose="020F0302020204030204" pitchFamily="34" charset="0"/>
                <a:cs typeface="Calibri Light" panose="020F0302020204030204" pitchFamily="34" charset="0"/>
              </a:rPr>
              <a:t>נתונים-</a:t>
            </a:r>
            <a:r>
              <a:rPr lang="he-IL" dirty="0">
                <a:latin typeface="Calibri Light" panose="020F0302020204030204" pitchFamily="34" charset="0"/>
                <a:cs typeface="Calibri Light" panose="020F0302020204030204" pitchFamily="34" charset="0"/>
              </a:rPr>
              <a:t/>
            </a:r>
            <a:br>
              <a:rPr lang="he-IL" dirty="0">
                <a:latin typeface="Calibri Light" panose="020F0302020204030204" pitchFamily="34" charset="0"/>
                <a:cs typeface="Calibri Light" panose="020F0302020204030204" pitchFamily="34" charset="0"/>
              </a:rPr>
            </a:br>
            <a:r>
              <a:rPr lang="he-IL" dirty="0">
                <a:latin typeface="Calibri Light" panose="020F0302020204030204" pitchFamily="34" charset="0"/>
                <a:cs typeface="Calibri Light" panose="020F0302020204030204" pitchFamily="34" charset="0"/>
              </a:rPr>
              <a:t>קהילה תומכת </a:t>
            </a:r>
            <a:r>
              <a:rPr lang="he-IL" dirty="0" smtClean="0">
                <a:latin typeface="Calibri Light" panose="020F0302020204030204" pitchFamily="34" charset="0"/>
                <a:cs typeface="Calibri Light" panose="020F0302020204030204" pitchFamily="34" charset="0"/>
              </a:rPr>
              <a:t>היום:</a:t>
            </a:r>
            <a:endParaRPr lang="en-US" dirty="0">
              <a:latin typeface="Calibri Light" panose="020F0302020204030204" pitchFamily="34" charset="0"/>
              <a:cs typeface="Calibri Light" panose="020F0302020204030204" pitchFamily="34" charset="0"/>
            </a:endParaRPr>
          </a:p>
        </p:txBody>
      </p:sp>
      <p:sp>
        <p:nvSpPr>
          <p:cNvPr id="5" name="TextBox 1"/>
          <p:cNvSpPr txBox="1"/>
          <p:nvPr/>
        </p:nvSpPr>
        <p:spPr>
          <a:xfrm>
            <a:off x="7204364" y="6175375"/>
            <a:ext cx="4518445" cy="85217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נתונים מתוך תוכנת "קהילתי"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נתונים מתוך איסוף הנתונים של אשל 2014</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a:t>
            </a:r>
            <a:endPar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6" name="Hexagon 5"/>
          <p:cNvSpPr/>
          <p:nvPr/>
        </p:nvSpPr>
        <p:spPr>
          <a:xfrm>
            <a:off x="2604656" y="2167878"/>
            <a:ext cx="2452254" cy="2089940"/>
          </a:xfrm>
          <a:prstGeom prst="hexagon">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3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rPr>
              <a:t> כ 330 קהילות תומכות- 70,000 זקנים</a:t>
            </a:r>
            <a:endParaRPr kumimoji="0" lang="en-US" sz="23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endParaRPr>
          </a:p>
        </p:txBody>
      </p:sp>
      <p:grpSp>
        <p:nvGrpSpPr>
          <p:cNvPr id="11" name="Group 10"/>
          <p:cNvGrpSpPr/>
          <p:nvPr/>
        </p:nvGrpSpPr>
        <p:grpSpPr>
          <a:xfrm>
            <a:off x="536865" y="1122907"/>
            <a:ext cx="2458026" cy="1975016"/>
            <a:chOff x="2071255" y="1122907"/>
            <a:chExt cx="2458026" cy="1975016"/>
          </a:xfrm>
          <a:solidFill>
            <a:srgbClr val="A65980"/>
          </a:solidFill>
        </p:grpSpPr>
        <p:sp>
          <p:nvSpPr>
            <p:cNvPr id="18" name="Hexagon 17"/>
            <p:cNvSpPr/>
            <p:nvPr/>
          </p:nvSpPr>
          <p:spPr>
            <a:xfrm>
              <a:off x="2071255" y="112290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2" name="TextBox 21"/>
            <p:cNvSpPr txBox="1"/>
            <p:nvPr/>
          </p:nvSpPr>
          <p:spPr>
            <a:xfrm>
              <a:off x="2141103" y="1417915"/>
              <a:ext cx="2388178"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50%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cs typeface="Calibri Light" panose="020F0302020204030204" pitchFamily="34" charset="0"/>
                </a:rPr>
                <a:t>מסובסדי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רווחה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3" name="Group 2"/>
          <p:cNvGrpSpPr/>
          <p:nvPr/>
        </p:nvGrpSpPr>
        <p:grpSpPr>
          <a:xfrm>
            <a:off x="2604656" y="77936"/>
            <a:ext cx="2452254" cy="1975016"/>
            <a:chOff x="4139046" y="77936"/>
            <a:chExt cx="2452254" cy="1975016"/>
          </a:xfrm>
          <a:solidFill>
            <a:srgbClr val="A65980"/>
          </a:solidFill>
        </p:grpSpPr>
        <p:sp>
          <p:nvSpPr>
            <p:cNvPr id="19" name="Hexagon 18"/>
            <p:cNvSpPr/>
            <p:nvPr/>
          </p:nvSpPr>
          <p:spPr>
            <a:xfrm>
              <a:off x="4139046" y="77936"/>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3" name="TextBox 22"/>
            <p:cNvSpPr txBox="1"/>
            <p:nvPr/>
          </p:nvSpPr>
          <p:spPr>
            <a:xfrm>
              <a:off x="4439085" y="660518"/>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גיל ממוצע - 80</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10" name="Group 9"/>
          <p:cNvGrpSpPr/>
          <p:nvPr/>
        </p:nvGrpSpPr>
        <p:grpSpPr>
          <a:xfrm>
            <a:off x="545299" y="3268810"/>
            <a:ext cx="2452254" cy="1975016"/>
            <a:chOff x="2079689" y="3268810"/>
            <a:chExt cx="2452254" cy="1975016"/>
          </a:xfrm>
          <a:solidFill>
            <a:srgbClr val="A65980"/>
          </a:solidFill>
        </p:grpSpPr>
        <p:sp>
          <p:nvSpPr>
            <p:cNvPr id="17" name="Hexagon 16"/>
            <p:cNvSpPr/>
            <p:nvPr/>
          </p:nvSpPr>
          <p:spPr>
            <a:xfrm>
              <a:off x="2079689" y="326881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4" name="TextBox 23"/>
            <p:cNvSpPr txBox="1"/>
            <p:nvPr/>
          </p:nvSpPr>
          <p:spPr>
            <a:xfrm>
              <a:off x="2446192" y="3560307"/>
              <a:ext cx="1705169" cy="1384995"/>
            </a:xfrm>
            <a:prstGeom prst="rect">
              <a:avLst/>
            </a:prstGeom>
            <a:grp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22% </a:t>
              </a:r>
              <a:r>
                <a:rPr kumimoji="0" lang="he-IL" sz="2800" b="0" i="0" u="none" strike="noStrike" kern="1200" cap="none" spc="0" normalizeH="0" baseline="0" noProof="0" dirty="0" smtClean="0">
                  <a:ln>
                    <a:noFill/>
                  </a:ln>
                  <a:solidFill>
                    <a:prstClr val="white"/>
                  </a:solidFill>
                  <a:effectLst/>
                  <a:uLnTx/>
                  <a:uFillTx/>
                  <a:latin typeface="Calibri Light" panose="020F0302020204030204" pitchFamily="34" charset="0"/>
                  <a:cs typeface="Calibri Light" panose="020F0302020204030204" pitchFamily="34" charset="0"/>
                </a:rPr>
                <a:t>משלמים מחוק </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סיעוד</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4" name="Group 3"/>
          <p:cNvGrpSpPr/>
          <p:nvPr/>
        </p:nvGrpSpPr>
        <p:grpSpPr>
          <a:xfrm>
            <a:off x="4672447" y="1122905"/>
            <a:ext cx="2452254" cy="1975016"/>
            <a:chOff x="6206837" y="1122905"/>
            <a:chExt cx="2452254" cy="1975016"/>
          </a:xfrm>
          <a:solidFill>
            <a:srgbClr val="A65980"/>
          </a:solidFill>
        </p:grpSpPr>
        <p:sp>
          <p:nvSpPr>
            <p:cNvPr id="16" name="Hexagon 15"/>
            <p:cNvSpPr/>
            <p:nvPr/>
          </p:nvSpPr>
          <p:spPr>
            <a:xfrm>
              <a:off x="6206837" y="1122905"/>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5" name="TextBox 24"/>
            <p:cNvSpPr txBox="1"/>
            <p:nvPr/>
          </p:nvSpPr>
          <p:spPr>
            <a:xfrm>
              <a:off x="6291407" y="1633363"/>
              <a:ext cx="2075296"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24% זוגות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76% בודדים</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8" name="Group 7"/>
          <p:cNvGrpSpPr/>
          <p:nvPr/>
        </p:nvGrpSpPr>
        <p:grpSpPr>
          <a:xfrm>
            <a:off x="4752110" y="3212847"/>
            <a:ext cx="2452254" cy="1975016"/>
            <a:chOff x="6286500" y="3212847"/>
            <a:chExt cx="2452254" cy="1975016"/>
          </a:xfrm>
          <a:solidFill>
            <a:srgbClr val="A65980"/>
          </a:solidFill>
        </p:grpSpPr>
        <p:sp>
          <p:nvSpPr>
            <p:cNvPr id="15" name="Hexagon 14"/>
            <p:cNvSpPr/>
            <p:nvPr/>
          </p:nvSpPr>
          <p:spPr>
            <a:xfrm>
              <a:off x="6286500" y="321284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6" name="TextBox 25"/>
            <p:cNvSpPr txBox="1"/>
            <p:nvPr/>
          </p:nvSpPr>
          <p:spPr>
            <a:xfrm>
              <a:off x="6623627" y="3699054"/>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30%</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ניצולי שואה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9" name="Group 8"/>
          <p:cNvGrpSpPr/>
          <p:nvPr/>
        </p:nvGrpSpPr>
        <p:grpSpPr>
          <a:xfrm>
            <a:off x="2616971" y="4372744"/>
            <a:ext cx="2452254" cy="1802631"/>
            <a:chOff x="4139046" y="4257820"/>
            <a:chExt cx="2452254" cy="1975016"/>
          </a:xfrm>
          <a:solidFill>
            <a:srgbClr val="A65980"/>
          </a:solidFill>
        </p:grpSpPr>
        <p:sp>
          <p:nvSpPr>
            <p:cNvPr id="14" name="Hexagon 13"/>
            <p:cNvSpPr/>
            <p:nvPr/>
          </p:nvSpPr>
          <p:spPr>
            <a:xfrm>
              <a:off x="4139046" y="425782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7" name="TextBox 26"/>
            <p:cNvSpPr txBox="1"/>
            <p:nvPr/>
          </p:nvSpPr>
          <p:spPr>
            <a:xfrm>
              <a:off x="4342053" y="4768274"/>
              <a:ext cx="2046240" cy="104534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21%</a:t>
              </a:r>
              <a:endPar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cs typeface="Calibri Light" panose="020F0302020204030204" pitchFamily="34" charset="0"/>
                </a:rPr>
                <a:t>מרותקי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בית</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pic>
        <p:nvPicPr>
          <p:cNvPr id="13" name="Picture 12" descr="A picture containing person, tree, outdoor, smiling&#10;&#10;Description automatically generated">
            <a:extLst>
              <a:ext uri="{FF2B5EF4-FFF2-40B4-BE49-F238E27FC236}">
                <a16:creationId xmlns:a16="http://schemas.microsoft.com/office/drawing/2014/main" id="{21E36EAA-821A-4C1D-9D80-EEE90E13BA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9278" y="2709050"/>
            <a:ext cx="3078799" cy="2052952"/>
          </a:xfrm>
          <a:prstGeom prst="rect">
            <a:avLst/>
          </a:prstGeom>
        </p:spPr>
      </p:pic>
      <p:pic>
        <p:nvPicPr>
          <p:cNvPr id="28" name="תמונה 27"/>
          <p:cNvPicPr>
            <a:picLocks noChangeAspect="1"/>
          </p:cNvPicPr>
          <p:nvPr/>
        </p:nvPicPr>
        <p:blipFill>
          <a:blip r:embed="rId4"/>
          <a:stretch>
            <a:fillRect/>
          </a:stretch>
        </p:blipFill>
        <p:spPr>
          <a:xfrm>
            <a:off x="7919634" y="5432672"/>
            <a:ext cx="4272366" cy="1425328"/>
          </a:xfrm>
          <a:prstGeom prst="rect">
            <a:avLst/>
          </a:prstGeom>
        </p:spPr>
      </p:pic>
      <p:sp>
        <p:nvSpPr>
          <p:cNvPr id="29" name="TextBox 28"/>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
        <p:nvSpPr>
          <p:cNvPr id="30" name="מלבן 2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 name="TextBox 30"/>
          <p:cNvSpPr txBox="1"/>
          <p:nvPr/>
        </p:nvSpPr>
        <p:spPr>
          <a:xfrm rot="16200000">
            <a:off x="-498612"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6206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726590119"/>
              </p:ext>
            </p:extLst>
          </p:nvPr>
        </p:nvGraphicFramePr>
        <p:xfrm>
          <a:off x="1017868" y="221009"/>
          <a:ext cx="10515600" cy="5583238"/>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1"/>
          <p:cNvSpPr txBox="1"/>
          <p:nvPr/>
        </p:nvSpPr>
        <p:spPr>
          <a:xfrm>
            <a:off x="411917" y="6292979"/>
            <a:ext cx="2442117" cy="41259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מתוך נתוני מחקר </a:t>
            </a:r>
            <a:r>
              <a:rPr kumimoji="0" lang="he-IL" sz="16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ברוקדייל</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תמונה 4"/>
          <p:cNvPicPr>
            <a:picLocks noChangeAspect="1"/>
          </p:cNvPicPr>
          <p:nvPr/>
        </p:nvPicPr>
        <p:blipFill>
          <a:blip r:embed="rId3"/>
          <a:stretch>
            <a:fillRect/>
          </a:stretch>
        </p:blipFill>
        <p:spPr>
          <a:xfrm>
            <a:off x="9035512" y="5804946"/>
            <a:ext cx="3156488" cy="1053054"/>
          </a:xfrm>
          <a:prstGeom prst="rect">
            <a:avLst/>
          </a:prstGeom>
        </p:spPr>
      </p:pic>
      <p:sp>
        <p:nvSpPr>
          <p:cNvPr id="7" name="מלבן 6"/>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
        <p:nvSpPr>
          <p:cNvPr id="11" name="מלבן 10"/>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p:cNvSpPr txBox="1"/>
          <p:nvPr/>
        </p:nvSpPr>
        <p:spPr>
          <a:xfrm rot="16200000">
            <a:off x="-498612"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309392914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497321" y="1630377"/>
            <a:ext cx="5100248"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7413756"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b="1" dirty="0"/>
              <a:t>קהילות לרמות 1-2 בישראל</a:t>
            </a:r>
            <a:endParaRPr lang="he-IL" sz="2400" b="1" dirty="0">
              <a:solidFill>
                <a:srgbClr val="000000"/>
              </a:solidFill>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80459" y="1630377"/>
            <a:ext cx="3284341"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algn="r" rtl="1"/>
            <a:r>
              <a:rPr lang="he-IL" sz="3200" b="1" dirty="0" smtClean="0">
                <a:latin typeface="Calibri" panose="020F0502020204030204" pitchFamily="34" charset="0"/>
                <a:cs typeface="Calibri" panose="020F0502020204030204" pitchFamily="34" charset="0"/>
              </a:rPr>
              <a:t>ניתוח ביקושים גאוגרפי –קהל </a:t>
            </a:r>
            <a:r>
              <a:rPr lang="he-IL" sz="3200" b="1" dirty="0">
                <a:latin typeface="Calibri" panose="020F0502020204030204" pitchFamily="34" charset="0"/>
                <a:cs typeface="Calibri" panose="020F0502020204030204" pitchFamily="34" charset="0"/>
              </a:rPr>
              <a:t>היעד למניעה ותמרוץ ברמה הארצית והמקומית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2606055"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b="1" dirty="0"/>
              <a:t>קהילות לרמות 1-2 תל אביב</a:t>
            </a:r>
            <a:endParaRPr lang="he-IL" sz="2400" b="1" dirty="0">
              <a:solidFill>
                <a:srgbClr val="000000"/>
              </a:solidFill>
              <a:latin typeface="Helvetica Neue"/>
              <a:ea typeface="Helvetica Neue"/>
              <a:cs typeface="Helvetica Neue"/>
              <a:sym typeface="Helvetica Neue"/>
            </a:endParaRPr>
          </a:p>
        </p:txBody>
      </p:sp>
      <p:sp>
        <p:nvSpPr>
          <p:cNvPr id="8" name="מלבן 7"/>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
        <p:nvSpPr>
          <p:cNvPr id="10" name="מלבן 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extBox 10"/>
          <p:cNvSpPr txBox="1"/>
          <p:nvPr/>
        </p:nvSpPr>
        <p:spPr>
          <a:xfrm rot="16200000">
            <a:off x="-498612"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298174942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t>קהילה תומכת כשירות בסיס לכולם </a:t>
            </a:r>
            <a:r>
              <a:rPr lang="he-IL" sz="3600" dirty="0"/>
              <a:t>(</a:t>
            </a:r>
            <a:r>
              <a:rPr lang="en-US" sz="3600" dirty="0"/>
              <a:t>MVP</a:t>
            </a:r>
            <a:r>
              <a:rPr lang="he-IL" sz="3600" dirty="0"/>
              <a:t> ברמה 1-2)</a:t>
            </a:r>
            <a:endParaRPr lang="he-IL" dirty="0"/>
          </a:p>
        </p:txBody>
      </p:sp>
      <p:sp>
        <p:nvSpPr>
          <p:cNvPr id="3" name="מציין מיקום תוכן 2"/>
          <p:cNvSpPr>
            <a:spLocks noGrp="1"/>
          </p:cNvSpPr>
          <p:nvPr>
            <p:ph idx="1"/>
          </p:nvPr>
        </p:nvSpPr>
        <p:spPr>
          <a:xfrm>
            <a:off x="6633441" y="1532370"/>
            <a:ext cx="5305425" cy="4351338"/>
          </a:xfrm>
        </p:spPr>
        <p:style>
          <a:lnRef idx="2">
            <a:schemeClr val="accent1">
              <a:shade val="50000"/>
            </a:schemeClr>
          </a:lnRef>
          <a:fillRef idx="1">
            <a:schemeClr val="accent1"/>
          </a:fillRef>
          <a:effectRef idx="0">
            <a:schemeClr val="accent1"/>
          </a:effectRef>
          <a:fontRef idx="minor">
            <a:schemeClr val="lt1"/>
          </a:fontRef>
        </p:style>
        <p:txBody>
          <a:bodyPr>
            <a:normAutofit fontScale="92500"/>
          </a:bodyPr>
          <a:lstStyle/>
          <a:p>
            <a:pPr marL="0" indent="0">
              <a:buNone/>
            </a:pPr>
            <a:r>
              <a:rPr lang="he-IL" b="1" dirty="0" smtClean="0">
                <a:solidFill>
                  <a:schemeClr val="tx1"/>
                </a:solidFill>
              </a:rPr>
              <a:t>היתרונות:</a:t>
            </a:r>
          </a:p>
          <a:p>
            <a:r>
              <a:rPr lang="he-IL" b="1" dirty="0" smtClean="0">
                <a:solidFill>
                  <a:schemeClr val="tx1"/>
                </a:solidFill>
              </a:rPr>
              <a:t>כולם </a:t>
            </a:r>
            <a:r>
              <a:rPr lang="he-IL" b="1" dirty="0">
                <a:solidFill>
                  <a:schemeClr val="tx1"/>
                </a:solidFill>
              </a:rPr>
              <a:t>תחת הרדאר החברתי</a:t>
            </a:r>
          </a:p>
          <a:p>
            <a:r>
              <a:rPr lang="he-IL" b="1" dirty="0">
                <a:solidFill>
                  <a:schemeClr val="tx1"/>
                </a:solidFill>
              </a:rPr>
              <a:t>רשת ביטחון חברתי- </a:t>
            </a:r>
            <a:r>
              <a:rPr lang="he-IL" sz="2600" b="1" dirty="0" smtClean="0">
                <a:solidFill>
                  <a:schemeClr val="tx1"/>
                </a:solidFill>
              </a:rPr>
              <a:t>הפניות לשירותים </a:t>
            </a:r>
            <a:endParaRPr lang="he-IL" sz="2600" b="1" dirty="0">
              <a:solidFill>
                <a:schemeClr val="tx1"/>
              </a:solidFill>
            </a:endParaRPr>
          </a:p>
          <a:p>
            <a:r>
              <a:rPr lang="he-IL" b="1" dirty="0" smtClean="0">
                <a:solidFill>
                  <a:schemeClr val="tx1"/>
                </a:solidFill>
              </a:rPr>
              <a:t>התאמה </a:t>
            </a:r>
            <a:r>
              <a:rPr lang="he-IL" b="1" dirty="0">
                <a:solidFill>
                  <a:schemeClr val="tx1"/>
                </a:solidFill>
              </a:rPr>
              <a:t>למצב </a:t>
            </a:r>
            <a:r>
              <a:rPr lang="he-IL" b="1" dirty="0" smtClean="0">
                <a:solidFill>
                  <a:schemeClr val="tx1"/>
                </a:solidFill>
              </a:rPr>
              <a:t>החברתי תפקודי</a:t>
            </a:r>
            <a:endParaRPr lang="he-IL" b="1" dirty="0">
              <a:solidFill>
                <a:schemeClr val="tx1"/>
              </a:solidFill>
            </a:endParaRPr>
          </a:p>
          <a:p>
            <a:r>
              <a:rPr lang="he-IL" sz="3000" b="1" dirty="0" smtClean="0">
                <a:solidFill>
                  <a:schemeClr val="tx1"/>
                </a:solidFill>
              </a:rPr>
              <a:t>זול </a:t>
            </a:r>
            <a:r>
              <a:rPr lang="he-IL" sz="3000" b="1" dirty="0">
                <a:solidFill>
                  <a:schemeClr val="tx1"/>
                </a:solidFill>
              </a:rPr>
              <a:t>ובסיסי </a:t>
            </a:r>
            <a:r>
              <a:rPr lang="he-IL" sz="2400" b="1" dirty="0">
                <a:solidFill>
                  <a:schemeClr val="tx1"/>
                </a:solidFill>
              </a:rPr>
              <a:t>(ניתן להרחיב בבחירה אישית)</a:t>
            </a:r>
          </a:p>
          <a:p>
            <a:r>
              <a:rPr lang="he-IL" sz="3000" b="1" dirty="0" smtClean="0">
                <a:solidFill>
                  <a:schemeClr val="tx1"/>
                </a:solidFill>
              </a:rPr>
              <a:t>שירות אוניברסלי </a:t>
            </a:r>
            <a:r>
              <a:rPr lang="he-IL" sz="2400" b="1" dirty="0">
                <a:solidFill>
                  <a:schemeClr val="tx1"/>
                </a:solidFill>
              </a:rPr>
              <a:t>ממקור </a:t>
            </a:r>
            <a:r>
              <a:rPr lang="he-IL" sz="2400" b="1" dirty="0" smtClean="0">
                <a:solidFill>
                  <a:schemeClr val="tx1"/>
                </a:solidFill>
              </a:rPr>
              <a:t>תקציבי נוסף</a:t>
            </a:r>
            <a:endParaRPr lang="he-IL" sz="2400" b="1" dirty="0">
              <a:solidFill>
                <a:schemeClr val="tx1"/>
              </a:solidFill>
            </a:endParaRPr>
          </a:p>
          <a:p>
            <a:r>
              <a:rPr lang="he-IL" b="1" dirty="0">
                <a:solidFill>
                  <a:schemeClr val="tx1"/>
                </a:solidFill>
              </a:rPr>
              <a:t>תשלום מעטפת מהגמלה (היום אין).</a:t>
            </a:r>
          </a:p>
          <a:p>
            <a:r>
              <a:rPr lang="he-IL" b="1" dirty="0">
                <a:solidFill>
                  <a:schemeClr val="tx1"/>
                </a:solidFill>
              </a:rPr>
              <a:t>מאפשר הרחבה של השירות לנוספים (רווחה או פרטיים)</a:t>
            </a:r>
          </a:p>
          <a:p>
            <a:endParaRPr lang="he-IL" dirty="0">
              <a:solidFill>
                <a:schemeClr val="tx1"/>
              </a:solidFill>
            </a:endParaRPr>
          </a:p>
        </p:txBody>
      </p:sp>
      <p:sp>
        <p:nvSpPr>
          <p:cNvPr id="4" name="מציין מיקום תוכן 2"/>
          <p:cNvSpPr txBox="1">
            <a:spLocks/>
          </p:cNvSpPr>
          <p:nvPr/>
        </p:nvSpPr>
        <p:spPr>
          <a:xfrm>
            <a:off x="438150" y="1529195"/>
            <a:ext cx="5657850" cy="435133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e-IL" b="1" dirty="0"/>
              <a:t>החסרונות:</a:t>
            </a:r>
          </a:p>
          <a:p>
            <a:r>
              <a:rPr lang="he-IL" sz="2400" b="1" dirty="0" smtClean="0"/>
              <a:t>מאבדים שליטה על השירות </a:t>
            </a:r>
            <a:r>
              <a:rPr lang="he-IL" sz="1800" b="1" dirty="0" smtClean="0"/>
              <a:t>(לא מסכים)</a:t>
            </a:r>
            <a:endParaRPr lang="he-IL" sz="1800" b="1" dirty="0" smtClean="0"/>
          </a:p>
          <a:p>
            <a:r>
              <a:rPr lang="he-IL" sz="2200" b="1" dirty="0" smtClean="0"/>
              <a:t>הצפה של זכאים, האם הם קהל היעד, מי כן? </a:t>
            </a:r>
            <a:endParaRPr lang="he-IL" sz="2200" b="1" dirty="0" smtClean="0"/>
          </a:p>
          <a:p>
            <a:r>
              <a:rPr lang="he-IL" sz="2400" b="1" dirty="0" smtClean="0"/>
              <a:t>מה </a:t>
            </a:r>
            <a:r>
              <a:rPr lang="he-IL" sz="2400" b="1" dirty="0"/>
              <a:t>תפקיד המחלקה ואיפה האחריות </a:t>
            </a:r>
            <a:r>
              <a:rPr lang="he-IL" sz="2400" b="1" dirty="0" smtClean="0"/>
              <a:t>והחיבור של </a:t>
            </a:r>
            <a:r>
              <a:rPr lang="he-IL" sz="2400" b="1" dirty="0" err="1" smtClean="0"/>
              <a:t>בטל"א</a:t>
            </a:r>
            <a:r>
              <a:rPr lang="he-IL" sz="2400" b="1" dirty="0" smtClean="0"/>
              <a:t> וקופ"ח</a:t>
            </a:r>
            <a:endParaRPr lang="he-IL" sz="2400" b="1" dirty="0"/>
          </a:p>
          <a:p>
            <a:r>
              <a:rPr lang="he-IL" sz="2400" b="1" dirty="0"/>
              <a:t>נדרש תשלום על </a:t>
            </a:r>
            <a:r>
              <a:rPr lang="he-IL" sz="2400" b="1" dirty="0" smtClean="0"/>
              <a:t>המעטפת </a:t>
            </a:r>
            <a:r>
              <a:rPr lang="he-IL" sz="1800" b="1" dirty="0" smtClean="0"/>
              <a:t>(נדרוש)</a:t>
            </a:r>
            <a:endParaRPr lang="he-IL" sz="1800" b="1" dirty="0"/>
          </a:p>
          <a:p>
            <a:r>
              <a:rPr lang="he-IL" sz="2400" b="1" dirty="0"/>
              <a:t>מה עם </a:t>
            </a:r>
            <a:r>
              <a:rPr lang="he-IL" sz="2400" b="1" dirty="0" smtClean="0"/>
              <a:t>פריפריה</a:t>
            </a:r>
            <a:r>
              <a:rPr lang="he-IL" sz="2400" b="1" dirty="0"/>
              <a:t>?</a:t>
            </a:r>
          </a:p>
          <a:p>
            <a:r>
              <a:rPr lang="he-IL" sz="2400" b="1" dirty="0"/>
              <a:t>יפסיקו להגיע </a:t>
            </a:r>
            <a:r>
              <a:rPr lang="he-IL" sz="2400" b="1" dirty="0" smtClean="0"/>
              <a:t>רווחה </a:t>
            </a:r>
            <a:r>
              <a:rPr lang="he-IL" sz="1800" b="1" dirty="0" smtClean="0"/>
              <a:t>(לא נכון)</a:t>
            </a:r>
            <a:endParaRPr lang="he-IL" sz="1800" b="1" dirty="0"/>
          </a:p>
          <a:p>
            <a:endParaRPr lang="he-IL" dirty="0"/>
          </a:p>
        </p:txBody>
      </p:sp>
      <p:sp>
        <p:nvSpPr>
          <p:cNvPr id="5" name="מלבן 4"/>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
        <p:nvSpPr>
          <p:cNvPr id="7" name="מלבן 6"/>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rot="16200000">
            <a:off x="-498612"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29765069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a:srcRect l="16304" t="34812" r="18044" b="13430"/>
          <a:stretch/>
        </p:blipFill>
        <p:spPr>
          <a:xfrm>
            <a:off x="441401" y="1290874"/>
            <a:ext cx="11319761" cy="5019864"/>
          </a:xfrm>
          <a:prstGeom prst="rect">
            <a:avLst/>
          </a:prstGeom>
        </p:spPr>
      </p:pic>
      <p:sp>
        <p:nvSpPr>
          <p:cNvPr id="4" name="תיבת טקסט 3">
            <a:extLst>
              <a:ext uri="{FF2B5EF4-FFF2-40B4-BE49-F238E27FC236}">
                <a16:creationId xmlns:a16="http://schemas.microsoft.com/office/drawing/2014/main" id="{EA7D4CCF-DEA6-42B7-83CB-29A45B04B5F5}"/>
              </a:ext>
            </a:extLst>
          </p:cNvPr>
          <p:cNvSpPr txBox="1"/>
          <p:nvPr/>
        </p:nvSpPr>
        <p:spPr>
          <a:xfrm>
            <a:off x="872474" y="191639"/>
            <a:ext cx="10888688" cy="646331"/>
          </a:xfrm>
          <a:prstGeom prst="rect">
            <a:avLst/>
          </a:prstGeom>
          <a:noFill/>
        </p:spPr>
        <p:txBody>
          <a:bodyPr wrap="square" rtlCol="1">
            <a:spAutoFit/>
          </a:bodyPr>
          <a:lstStyle/>
          <a:p>
            <a:r>
              <a:rPr lang="he-IL" sz="3600" b="1" dirty="0">
                <a:solidFill>
                  <a:srgbClr val="002060"/>
                </a:solidFill>
                <a:latin typeface="Calibri" panose="020F0502020204030204" pitchFamily="34" charset="0"/>
                <a:cs typeface="Calibri" panose="020F0502020204030204" pitchFamily="34" charset="0"/>
              </a:rPr>
              <a:t>הבעיה </a:t>
            </a:r>
            <a:r>
              <a:rPr lang="he-IL" sz="3600" b="1" dirty="0" smtClean="0">
                <a:solidFill>
                  <a:srgbClr val="002060"/>
                </a:solidFill>
                <a:latin typeface="Calibri" panose="020F0502020204030204" pitchFamily="34" charset="0"/>
                <a:cs typeface="Calibri" panose="020F0502020204030204" pitchFamily="34" charset="0"/>
              </a:rPr>
              <a:t>–כשבאמת הזקן צריך, הוא נדרש לחפש..</a:t>
            </a:r>
            <a:endParaRPr lang="he-IL" sz="3200" b="1" dirty="0">
              <a:solidFill>
                <a:srgbClr val="002060"/>
              </a:solidFill>
              <a:latin typeface="Calibri" panose="020F0502020204030204" pitchFamily="34" charset="0"/>
              <a:cs typeface="Calibri" panose="020F0502020204030204" pitchFamily="34" charset="0"/>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71600" y="5908431"/>
            <a:ext cx="445477" cy="40230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6616931" y="3247450"/>
            <a:ext cx="1763486" cy="307777"/>
          </a:xfrm>
          <a:prstGeom prst="rect">
            <a:avLst/>
          </a:prstGeom>
          <a:noFill/>
        </p:spPr>
        <p:txBody>
          <a:bodyPr wrap="square" rtlCol="1">
            <a:spAutoFit/>
          </a:bodyPr>
          <a:lstStyle/>
          <a:p>
            <a:r>
              <a:rPr lang="he-IL" sz="1400" b="1" dirty="0">
                <a:solidFill>
                  <a:schemeClr val="accent1"/>
                </a:solidFill>
              </a:rPr>
              <a:t>הרשויות המקומיות</a:t>
            </a:r>
          </a:p>
        </p:txBody>
      </p:sp>
      <p:sp>
        <p:nvSpPr>
          <p:cNvPr id="6" name="TextBox 5"/>
          <p:cNvSpPr txBox="1"/>
          <p:nvPr/>
        </p:nvSpPr>
        <p:spPr>
          <a:xfrm>
            <a:off x="6688183" y="4131242"/>
            <a:ext cx="1763486" cy="369332"/>
          </a:xfrm>
          <a:prstGeom prst="rect">
            <a:avLst/>
          </a:prstGeom>
          <a:noFill/>
        </p:spPr>
        <p:txBody>
          <a:bodyPr wrap="square" rtlCol="1">
            <a:spAutoFit/>
          </a:bodyPr>
          <a:lstStyle/>
          <a:p>
            <a:pPr algn="ctr"/>
            <a:r>
              <a:rPr lang="he-IL" b="1" dirty="0"/>
              <a:t>הלקוח במרכז</a:t>
            </a:r>
          </a:p>
        </p:txBody>
      </p:sp>
      <p:sp>
        <p:nvSpPr>
          <p:cNvPr id="7" name="מלבן 6"/>
          <p:cNvSpPr/>
          <p:nvPr/>
        </p:nvSpPr>
        <p:spPr>
          <a:xfrm>
            <a:off x="3093" y="0"/>
            <a:ext cx="244547" cy="6857999"/>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ED7D31"/>
              </a:solidFill>
            </a:endParaRPr>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145559" y="5721530"/>
            <a:ext cx="1083531" cy="1319111"/>
          </a:xfrm>
          <a:prstGeom prst="rect">
            <a:avLst/>
          </a:prstGeom>
        </p:spPr>
      </p:pic>
      <p:sp>
        <p:nvSpPr>
          <p:cNvPr id="9" name="אליפסה 8"/>
          <p:cNvSpPr/>
          <p:nvPr/>
        </p:nvSpPr>
        <p:spPr>
          <a:xfrm>
            <a:off x="6759019" y="3044858"/>
            <a:ext cx="1692650"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10"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flipH="1">
            <a:off x="7239822" y="3496363"/>
            <a:ext cx="731043" cy="819545"/>
          </a:xfrm>
          <a:prstGeom prst="rect">
            <a:avLst/>
          </a:prstGeom>
        </p:spPr>
      </p:pic>
      <p:sp>
        <p:nvSpPr>
          <p:cNvPr id="12" name="מלבן 11"/>
          <p:cNvSpPr/>
          <p:nvPr/>
        </p:nvSpPr>
        <p:spPr>
          <a:xfrm>
            <a:off x="22751" y="1"/>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21516" y="889038"/>
            <a:ext cx="1478289" cy="338554"/>
          </a:xfrm>
          <a:prstGeom prst="rect">
            <a:avLst/>
          </a:prstGeom>
          <a:noFill/>
        </p:spPr>
        <p:txBody>
          <a:bodyPr wrap="none" rtlCol="1">
            <a:spAutoFit/>
          </a:bodyPr>
          <a:lstStyle/>
          <a:p>
            <a:r>
              <a:rPr lang="he-IL" sz="1600" b="1" dirty="0" smtClean="0">
                <a:solidFill>
                  <a:prstClr val="black"/>
                </a:solidFill>
                <a:cs typeface="Calibri"/>
              </a:rPr>
              <a:t>רקע </a:t>
            </a:r>
            <a:r>
              <a:rPr lang="he-IL" sz="1600" b="1" dirty="0" err="1" smtClean="0">
                <a:solidFill>
                  <a:prstClr val="black"/>
                </a:solidFill>
                <a:cs typeface="Calibri"/>
              </a:rPr>
              <a:t>ןתמונת</a:t>
            </a:r>
            <a:r>
              <a:rPr lang="he-IL" sz="1600" b="1" dirty="0" smtClean="0">
                <a:solidFill>
                  <a:prstClr val="black"/>
                </a:solidFill>
                <a:cs typeface="Calibri"/>
              </a:rPr>
              <a:t> מצב</a:t>
            </a:r>
            <a:endParaRPr lang="he-IL" sz="1600" b="1" dirty="0">
              <a:solidFill>
                <a:prstClr val="black"/>
              </a:solidFill>
              <a:cs typeface="Calibri"/>
            </a:endParaRPr>
          </a:p>
        </p:txBody>
      </p:sp>
      <p:sp>
        <p:nvSpPr>
          <p:cNvPr id="14" name="מלבן 13"/>
          <p:cNvSpPr/>
          <p:nvPr/>
        </p:nvSpPr>
        <p:spPr>
          <a:xfrm>
            <a:off x="17580" y="-13026"/>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7" name="TextBox 16"/>
          <p:cNvSpPr txBox="1"/>
          <p:nvPr/>
        </p:nvSpPr>
        <p:spPr>
          <a:xfrm rot="16200000">
            <a:off x="-685275" y="625772"/>
            <a:ext cx="1616148" cy="338554"/>
          </a:xfrm>
          <a:prstGeom prst="rect">
            <a:avLst/>
          </a:prstGeom>
          <a:noFill/>
        </p:spPr>
        <p:txBody>
          <a:bodyPr wrap="none" rtlCol="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he-IL" sz="1600" b="1" i="0" u="none" strike="noStrike" kern="0" cap="none" spc="0" normalizeH="0" baseline="0" noProof="0" dirty="0" smtClean="0">
                <a:ln>
                  <a:noFill/>
                </a:ln>
                <a:solidFill>
                  <a:prstClr val="black"/>
                </a:solidFill>
                <a:effectLst/>
                <a:uLnTx/>
                <a:uFillTx/>
              </a:rPr>
              <a:t>סל מותאם אישית</a:t>
            </a:r>
          </a:p>
        </p:txBody>
      </p:sp>
    </p:spTree>
    <p:extLst>
      <p:ext uri="{BB962C8B-B14F-4D97-AF65-F5344CB8AC3E}">
        <p14:creationId xmlns:p14="http://schemas.microsoft.com/office/powerpoint/2010/main" val="37250113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40" name="Picture 39">
              <a:extLst>
                <a:ext uri="{FF2B5EF4-FFF2-40B4-BE49-F238E27FC236}">
                  <a16:creationId xmlns:a16="http://schemas.microsoft.com/office/drawing/2014/main" id="{20DFF503-07D6-4068-9D3D-EE92D39D77B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504470" y="3507473"/>
              <a:ext cx="1067306" cy="916445"/>
            </a:xfrm>
            <a:prstGeom prst="rect">
              <a:avLst/>
            </a:prstGeom>
          </p:spPr>
        </p:pic>
        <p:sp>
          <p:nvSpPr>
            <p:cNvPr id="41" name="TextBox 40">
              <a:extLst>
                <a:ext uri="{FF2B5EF4-FFF2-40B4-BE49-F238E27FC236}">
                  <a16:creationId xmlns:a16="http://schemas.microsoft.com/office/drawing/2014/main" id="{AA53CD91-4E6C-4325-BF69-33C6BE63F0E1}"/>
                </a:ext>
              </a:extLst>
            </p:cNvPr>
            <p:cNvSpPr txBox="1"/>
            <p:nvPr/>
          </p:nvSpPr>
          <p:spPr>
            <a:xfrm>
              <a:off x="2399096" y="2828411"/>
              <a:ext cx="1369285"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והתיק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ומשפחתו</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49" name="Picture 2" descr="סמל מדינת ישראל – ויקיפדיה">
            <a:extLst>
              <a:ext uri="{FF2B5EF4-FFF2-40B4-BE49-F238E27FC236}">
                <a16:creationId xmlns:a16="http://schemas.microsoft.com/office/drawing/2014/main" id="{FFA3BBF5-1F6D-4A72-BA4B-B84C5C4102B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1553535" y="314518"/>
            <a:ext cx="333667" cy="41420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123792" y="314518"/>
            <a:ext cx="1326800" cy="361760"/>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אליפסה 1">
            <a:extLst>
              <a:ext uri="{FF2B5EF4-FFF2-40B4-BE49-F238E27FC236}">
                <a16:creationId xmlns:a16="http://schemas.microsoft.com/office/drawing/2014/main" id="{1C4BD581-3E48-6263-53C3-5754768972AF}"/>
              </a:ext>
            </a:extLst>
          </p:cNvPr>
          <p:cNvSpPr/>
          <p:nvPr/>
        </p:nvSpPr>
        <p:spPr>
          <a:xfrm>
            <a:off x="8003406" y="2444990"/>
            <a:ext cx="2232000" cy="2231995"/>
          </a:xfrm>
          <a:prstGeom prst="ellipse">
            <a:avLst/>
          </a:prstGeom>
          <a:gradFill>
            <a:gsLst>
              <a:gs pos="100000">
                <a:schemeClr val="accent3">
                  <a:lumMod val="75000"/>
                  <a:alpha val="0"/>
                </a:schemeClr>
              </a:gs>
              <a:gs pos="100000">
                <a:schemeClr val="accent2">
                  <a:lumMod val="105000"/>
                  <a:satMod val="103000"/>
                  <a:tint val="73000"/>
                </a:schemeClr>
              </a:gs>
              <a:gs pos="100000">
                <a:schemeClr val="accent2">
                  <a:lumMod val="105000"/>
                  <a:satMod val="109000"/>
                  <a:tint val="81000"/>
                </a:schemeClr>
              </a:gs>
            </a:gsLst>
          </a:gradFill>
          <a:ln>
            <a:noFill/>
          </a:ln>
        </p:spPr>
        <p:style>
          <a:lnRef idx="1">
            <a:schemeClr val="accent2"/>
          </a:lnRef>
          <a:fillRef idx="2">
            <a:schemeClr val="accent2"/>
          </a:fillRef>
          <a:effectRef idx="1">
            <a:schemeClr val="accent2"/>
          </a:effectRef>
          <a:fontRef idx="minor">
            <a:schemeClr val="dk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6" name="מלבן 25"/>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p:cNvSpPr txBox="1"/>
          <p:nvPr/>
        </p:nvSpPr>
        <p:spPr>
          <a:xfrm rot="16200000">
            <a:off x="-685275" y="625772"/>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260095588"/>
      </p:ext>
    </p:extLst>
  </p:cSld>
  <p:clrMapOvr>
    <a:masterClrMapping/>
  </p:clrMapOvr>
  <p:transition spd="slow">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כותרת 2"/>
          <p:cNvSpPr>
            <a:spLocks noGrp="1"/>
          </p:cNvSpPr>
          <p:nvPr>
            <p:ph type="title"/>
          </p:nvPr>
        </p:nvSpPr>
        <p:spPr>
          <a:xfrm>
            <a:off x="1324579" y="602558"/>
            <a:ext cx="10515600" cy="1325563"/>
          </a:xfrm>
        </p:spPr>
        <p:txBody>
          <a:bodyPr>
            <a:normAutofit fontScale="90000"/>
          </a:bodyPr>
          <a:lstStyle/>
          <a:p>
            <a:r>
              <a:rPr lang="he-IL" dirty="0" smtClean="0"/>
              <a:t>סל שירותים אישי</a:t>
            </a:r>
            <a:br>
              <a:rPr lang="he-IL" dirty="0" smtClean="0"/>
            </a:br>
            <a:r>
              <a:rPr lang="he-IL" dirty="0"/>
              <a:t>מבוסס נתונים</a:t>
            </a:r>
            <a:br>
              <a:rPr lang="he-IL" dirty="0"/>
            </a:br>
            <a:r>
              <a:rPr lang="he-IL" dirty="0"/>
              <a:t>לבחירת הזקן</a:t>
            </a:r>
            <a:endParaRPr lang="he-IL" dirty="0"/>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a:ln>
                  <a:noFill/>
                </a:ln>
                <a:solidFill>
                  <a:prstClr val="white"/>
                </a:solidFill>
                <a:effectLst/>
                <a:uLnTx/>
                <a:uFillTx/>
                <a:latin typeface="Calibri"/>
                <a:ea typeface="+mj-ea"/>
                <a:cs typeface="Calibri"/>
              </a:rPr>
              <a:t/>
            </a:r>
            <a:br>
              <a:rPr kumimoji="0" lang="he-IL" sz="2800" b="0" i="0" u="none" strike="noStrike" kern="1200" cap="none" spc="0" normalizeH="0" baseline="0" noProof="0">
                <a:ln>
                  <a:noFill/>
                </a:ln>
                <a:solidFill>
                  <a:prstClr val="white"/>
                </a:solidFill>
                <a:effectLst/>
                <a:uLnTx/>
                <a:uFillTx/>
                <a:latin typeface="Calibri"/>
                <a:ea typeface="+mj-ea"/>
                <a:cs typeface="Calibri"/>
              </a:rPr>
            </a:br>
            <a:r>
              <a:rPr kumimoji="0" lang="he-IL" sz="2800" b="0" i="0" u="none" strike="noStrike" kern="1200" cap="none" spc="0" normalizeH="0" baseline="0" noProof="0">
                <a:ln>
                  <a:noFill/>
                </a:ln>
                <a:solidFill>
                  <a:prstClr val="white"/>
                </a:solidFill>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solidFill>
                <a:prstClr val="white"/>
              </a:solidFill>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5">
            <a:extLst>
              <a:ext uri="{96DAC541-7B7A-43D3-8B79-37D633B846F1}">
                <asvg:svgBlip xmlns:asvg="http://schemas.microsoft.com/office/drawing/2016/SVG/main" xmlns="" r:embed="rId6"/>
              </a:ext>
            </a:extLst>
          </a:blip>
          <a:stretch>
            <a:fillRect/>
          </a:stretch>
        </p:blipFill>
        <p:spPr>
          <a:xfrm flipH="1">
            <a:off x="5301119" y="3069871"/>
            <a:ext cx="1044682" cy="1171153"/>
          </a:xfrm>
        </p:spPr>
      </p:pic>
      <p:sp>
        <p:nvSpPr>
          <p:cNvPr id="12"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5B9BD5">
                    <a:lumMod val="75000"/>
                  </a:srgbClr>
                </a:solidFill>
                <a:effectLst/>
                <a:uLnTx/>
                <a:uFillTx/>
                <a:latin typeface="Calibri"/>
                <a:ea typeface="+mn-ea"/>
                <a:cs typeface="Calibri"/>
              </a:rPr>
              <a:t>               </a:t>
            </a:r>
            <a:endParaRPr kumimoji="0" lang="he-IL" sz="2000" b="1" i="0" u="none" strike="noStrike" kern="1200" cap="none" spc="0" normalizeH="0" baseline="0" noProof="0" dirty="0">
              <a:ln>
                <a:noFill/>
              </a:ln>
              <a:solidFill>
                <a:srgbClr val="FF0000"/>
              </a:solidFill>
              <a:effectLst/>
              <a:uLnTx/>
              <a:uFillTx/>
              <a:latin typeface="Calibri"/>
              <a:ea typeface="+mn-ea"/>
              <a:cs typeface="Calibri"/>
            </a:endParaRPr>
          </a:p>
        </p:txBody>
      </p:sp>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lang="he-IL" sz="2400" b="1" dirty="0" smtClean="0">
                <a:solidFill>
                  <a:srgbClr val="13235F"/>
                </a:solidFill>
                <a:latin typeface="Calibri" panose="020F0502020204030204" pitchFamily="34" charset="0"/>
                <a:cs typeface="Calibri" panose="020F0502020204030204" pitchFamily="34" charset="0"/>
              </a:rPr>
              <a:t>סל אישי קהילתי</a:t>
            </a:r>
            <a:r>
              <a:rPr kumimoji="0" lang="he-IL" sz="2400" b="1" i="0" u="none" strike="noStrike" kern="1200" cap="none" spc="0" normalizeH="0" baseline="0" noProof="0" dirty="0" smtClean="0">
                <a:ln>
                  <a:noFill/>
                </a:ln>
                <a:solidFill>
                  <a:srgbClr val="13235F"/>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676004" y="950720"/>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58" name="אליפסה 57"/>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he-IL" dirty="0"/>
          </a:p>
        </p:txBody>
      </p:sp>
      <p:sp>
        <p:nvSpPr>
          <p:cNvPr id="59" name="TextBox 58"/>
          <p:cNvSpPr txBox="1"/>
          <p:nvPr/>
        </p:nvSpPr>
        <p:spPr>
          <a:xfrm>
            <a:off x="996903" y="1568215"/>
            <a:ext cx="546097" cy="523220"/>
          </a:xfrm>
          <a:prstGeom prst="rect">
            <a:avLst/>
          </a:prstGeom>
          <a:noFill/>
        </p:spPr>
        <p:txBody>
          <a:bodyPr wrap="square" rtlCol="1">
            <a:spAutoFit/>
          </a:bodyPr>
          <a:lstStyle/>
          <a:p>
            <a:r>
              <a:rPr lang="he-IL" sz="1400" dirty="0"/>
              <a:t>צורך וקושי</a:t>
            </a:r>
          </a:p>
        </p:txBody>
      </p:sp>
      <p:sp>
        <p:nvSpPr>
          <p:cNvPr id="60" name="מלבן 59"/>
          <p:cNvSpPr/>
          <p:nvPr/>
        </p:nvSpPr>
        <p:spPr>
          <a:xfrm>
            <a:off x="2213314" y="1137706"/>
            <a:ext cx="713544" cy="523220"/>
          </a:xfrm>
          <a:prstGeom prst="rect">
            <a:avLst/>
          </a:prstGeom>
        </p:spPr>
        <p:txBody>
          <a:bodyPr wrap="square">
            <a:spAutoFit/>
          </a:bodyPr>
          <a:lstStyle/>
          <a:p>
            <a:r>
              <a:rPr lang="he-IL" sz="1400" dirty="0"/>
              <a:t>רצון ובחירה</a:t>
            </a:r>
          </a:p>
        </p:txBody>
      </p:sp>
      <p:sp>
        <p:nvSpPr>
          <p:cNvPr id="62" name="מלבן 61"/>
          <p:cNvSpPr/>
          <p:nvPr/>
        </p:nvSpPr>
        <p:spPr>
          <a:xfrm>
            <a:off x="1299617" y="963795"/>
            <a:ext cx="909995" cy="523220"/>
          </a:xfrm>
          <a:prstGeom prst="rect">
            <a:avLst/>
          </a:prstGeom>
        </p:spPr>
        <p:txBody>
          <a:bodyPr wrap="square">
            <a:spAutoFit/>
          </a:bodyPr>
          <a:lstStyle/>
          <a:p>
            <a:pPr algn="ctr"/>
            <a:r>
              <a:rPr lang="he-IL" sz="1400" b="1" dirty="0"/>
              <a:t>שירות מותאם </a:t>
            </a:r>
            <a:r>
              <a:rPr lang="en-US" sz="1400" b="1" dirty="0"/>
              <a:t>Ai</a:t>
            </a:r>
            <a:endParaRPr lang="he-IL" sz="1400" b="1" dirty="0"/>
          </a:p>
        </p:txBody>
      </p:sp>
      <p:sp>
        <p:nvSpPr>
          <p:cNvPr id="66" name="אליפסה 65"/>
          <p:cNvSpPr/>
          <p:nvPr/>
        </p:nvSpPr>
        <p:spPr>
          <a:xfrm>
            <a:off x="804012" y="285081"/>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314672" y="950383"/>
            <a:ext cx="909995" cy="523220"/>
          </a:xfrm>
          <a:prstGeom prst="rect">
            <a:avLst/>
          </a:prstGeom>
        </p:spPr>
        <p:txBody>
          <a:bodyPr wrap="square">
            <a:spAutoFit/>
          </a:bodyPr>
          <a:lstStyle/>
          <a:p>
            <a:pPr algn="ctr"/>
            <a:r>
              <a:rPr lang="he-IL" sz="1400" b="1" dirty="0"/>
              <a:t>שירות מותאם </a:t>
            </a:r>
            <a:r>
              <a:rPr lang="en-US" sz="1400" b="1" dirty="0"/>
              <a:t>Ai</a:t>
            </a:r>
            <a:endParaRPr lang="he-IL" sz="1400" b="1" dirty="0"/>
          </a:p>
        </p:txBody>
      </p:sp>
      <p:pic>
        <p:nvPicPr>
          <p:cNvPr id="69" name="תמונה 6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
        <p:nvSpPr>
          <p:cNvPr id="61" name="מלבן 60"/>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45" name="TextBox 44"/>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356493061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97">
          <a:extLst>
            <a:ext uri="{FF2B5EF4-FFF2-40B4-BE49-F238E27FC236}">
              <a16:creationId xmlns:a16="http://schemas.microsoft.com/office/drawing/2014/main" id="{15F02039-0C35-A39D-EA86-5DB771D46808}"/>
            </a:ext>
          </a:extLst>
        </p:cNvPr>
        <p:cNvGrpSpPr/>
        <p:nvPr/>
      </p:nvGrpSpPr>
      <p:grpSpPr>
        <a:xfrm>
          <a:off x="0" y="0"/>
          <a:ext cx="0" cy="0"/>
          <a:chOff x="0" y="0"/>
          <a:chExt cx="0" cy="0"/>
        </a:xfrm>
      </p:grpSpPr>
      <p:sp>
        <p:nvSpPr>
          <p:cNvPr id="20" name="מלבן 19"/>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תיבת טקסט 5">
            <a:extLst>
              <a:ext uri="{FF2B5EF4-FFF2-40B4-BE49-F238E27FC236}">
                <a16:creationId xmlns:a16="http://schemas.microsoft.com/office/drawing/2014/main" id="{9C0EB8FB-E4B8-4564-2069-695D3C25FD57}"/>
              </a:ext>
            </a:extLst>
          </p:cNvPr>
          <p:cNvSpPr txBox="1"/>
          <p:nvPr/>
        </p:nvSpPr>
        <p:spPr>
          <a:xfrm>
            <a:off x="360757" y="287898"/>
            <a:ext cx="8854749" cy="1261884"/>
          </a:xfrm>
          <a:prstGeom prst="rect">
            <a:avLst/>
          </a:prstGeom>
          <a:noFill/>
        </p:spPr>
        <p:txBody>
          <a:bodyPr wrap="square" rtlCol="0">
            <a:spAutoFit/>
          </a:bodyPr>
          <a:lstStyle/>
          <a:p>
            <a:pPr algn="r" rtl="1">
              <a:spcBef>
                <a:spcPct val="0"/>
              </a:spcBef>
              <a:defRPr/>
            </a:pPr>
            <a:r>
              <a:rPr lang="he-IL" sz="3800" b="1">
                <a:solidFill>
                  <a:srgbClr val="00B0CF"/>
                </a:solidFill>
                <a:latin typeface="Almoni Neue DL 4.0 AAA"/>
                <a:ea typeface="+mj-ea"/>
                <a:cs typeface="Almoni Neue DL 4.0 AAA Medium"/>
              </a:rPr>
              <a:t>אופטימיזציה של שירותים ומענים </a:t>
            </a:r>
          </a:p>
          <a:p>
            <a:pPr marL="0" marR="0" lvl="0" indent="0" algn="r" defTabSz="914400" rtl="1" eaLnBrk="1" fontAlgn="auto" latinLnBrk="0" hangingPunct="1">
              <a:lnSpc>
                <a:spcPct val="100000"/>
              </a:lnSpc>
              <a:spcBef>
                <a:spcPct val="0"/>
              </a:spcBef>
              <a:spcAft>
                <a:spcPts val="0"/>
              </a:spcAft>
              <a:buClrTx/>
              <a:buSzTx/>
              <a:buFontTx/>
              <a:buNone/>
              <a:tabLst/>
              <a:defRPr/>
            </a:pPr>
            <a:r>
              <a:rPr lang="he-IL" sz="3800" b="1">
                <a:solidFill>
                  <a:srgbClr val="00B0CF"/>
                </a:solidFill>
                <a:latin typeface="Almoni Neue DL 4.0 AAA"/>
                <a:ea typeface="+mj-ea"/>
                <a:cs typeface="Almoni Neue DL 4.0 AAA Medium"/>
              </a:rPr>
              <a:t> </a:t>
            </a:r>
          </a:p>
        </p:txBody>
      </p:sp>
      <p:sp>
        <p:nvSpPr>
          <p:cNvPr id="6" name="TextBox 5">
            <a:extLst>
              <a:ext uri="{FF2B5EF4-FFF2-40B4-BE49-F238E27FC236}">
                <a16:creationId xmlns:a16="http://schemas.microsoft.com/office/drawing/2014/main" id="{D72DA870-08A5-7C1A-9E76-598329F9538B}"/>
              </a:ext>
            </a:extLst>
          </p:cNvPr>
          <p:cNvSpPr txBox="1"/>
          <p:nvPr/>
        </p:nvSpPr>
        <p:spPr>
          <a:xfrm>
            <a:off x="443276" y="1147996"/>
            <a:ext cx="8646583" cy="5736186"/>
          </a:xfrm>
          <a:prstGeom prst="rect">
            <a:avLst/>
          </a:prstGeom>
          <a:noFill/>
        </p:spPr>
        <p:txBody>
          <a:bodyPr wrap="square">
            <a:spAutoFit/>
          </a:bodyPr>
          <a:lstStyle/>
          <a:p>
            <a:pPr algn="r" rtl="1">
              <a:lnSpc>
                <a:spcPct val="200000"/>
              </a:lnSpc>
              <a:defRPr/>
            </a:pPr>
            <a:endPar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200000"/>
              </a:lnSpc>
              <a:defRPr/>
            </a:pPr>
            <a:endPar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r>
              <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rPr>
              <a:t>וזאת לצד חיבור של השירותים והמענים לתוצאות והמשך תמיכה ועבודה על כלי ביניים לביזור סמכויות  תקציב גמיש למשרד רווחה מול הרשות המקומית.</a:t>
            </a:r>
          </a:p>
          <a:p>
            <a:pPr algn="r" rtl="1">
              <a:lnSpc>
                <a:spcPct val="150000"/>
              </a:lnSpc>
              <a:defRPr/>
            </a:pPr>
            <a:r>
              <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rPr>
              <a:t>התשתיות שיבנו יהוו פתרונות משמעותיים בפני עצמם ולצד זאת יהוו בסיס למהלכים נוספים ברווחה. </a:t>
            </a:r>
            <a:endParaRPr lang="he-IL" sz="1800" dirty="0">
              <a:solidFill>
                <a:schemeClr val="tx1">
                  <a:lumMod val="65000"/>
                  <a:lumOff val="35000"/>
                </a:schemeClr>
              </a:solidFill>
              <a:highlight>
                <a:srgbClr val="F8F6F9"/>
              </a:highlight>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pic>
        <p:nvPicPr>
          <p:cNvPr id="10" name="Picture 9">
            <a:extLst>
              <a:ext uri="{FF2B5EF4-FFF2-40B4-BE49-F238E27FC236}">
                <a16:creationId xmlns:a16="http://schemas.microsoft.com/office/drawing/2014/main" id="{2CD5F06A-393C-8EDE-3C82-22F0A0195D3A}"/>
              </a:ext>
            </a:extLst>
          </p:cNvPr>
          <p:cNvPicPr>
            <a:picLocks noChangeAspect="1"/>
          </p:cNvPicPr>
          <p:nvPr/>
        </p:nvPicPr>
        <p:blipFill rotWithShape="1">
          <a:blip r:embed="rId3"/>
          <a:srcRect l="46033" t="89381" r="43911" b="10135"/>
          <a:stretch/>
        </p:blipFill>
        <p:spPr>
          <a:xfrm rot="16200000">
            <a:off x="6202180" y="3367215"/>
            <a:ext cx="6863881" cy="129450"/>
          </a:xfrm>
          <a:prstGeom prst="rect">
            <a:avLst/>
          </a:prstGeom>
          <a:effectLst>
            <a:outerShdw blurRad="50800" dist="38100" dir="2700000" algn="tl" rotWithShape="0">
              <a:prstClr val="black">
                <a:alpha val="40000"/>
              </a:prstClr>
            </a:outerShdw>
          </a:effectLst>
        </p:spPr>
      </p:pic>
      <p:sp>
        <p:nvSpPr>
          <p:cNvPr id="16" name="מלבן 8">
            <a:extLst>
              <a:ext uri="{FF2B5EF4-FFF2-40B4-BE49-F238E27FC236}">
                <a16:creationId xmlns:a16="http://schemas.microsoft.com/office/drawing/2014/main" id="{C6CBD984-291F-27CB-1500-658009FE8250}"/>
              </a:ext>
            </a:extLst>
          </p:cNvPr>
          <p:cNvSpPr/>
          <p:nvPr/>
        </p:nvSpPr>
        <p:spPr>
          <a:xfrm>
            <a:off x="127590" y="6159058"/>
            <a:ext cx="489098" cy="42530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b="1">
                <a:solidFill>
                  <a:schemeClr val="tx1"/>
                </a:solidFill>
              </a:rPr>
              <a:t>6</a:t>
            </a:r>
            <a:endParaRPr lang="aa-ET" sz="1300" b="1">
              <a:solidFill>
                <a:schemeClr val="tx1"/>
              </a:solidFill>
            </a:endParaRPr>
          </a:p>
        </p:txBody>
      </p:sp>
      <p:pic>
        <p:nvPicPr>
          <p:cNvPr id="3" name="Picture 2">
            <a:extLst>
              <a:ext uri="{FF2B5EF4-FFF2-40B4-BE49-F238E27FC236}">
                <a16:creationId xmlns:a16="http://schemas.microsoft.com/office/drawing/2014/main" id="{F1427268-C55A-403E-388E-C93787658EE1}"/>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6759" b="38056" l="85990" r="92656">
                        <a14:foregroundMark x1="90469" y1="27315" x2="90469" y2="27315"/>
                        <a14:foregroundMark x1="87500" y1="27500" x2="87500" y2="27500"/>
                        <a14:foregroundMark x1="87656" y1="26759" x2="87656" y2="26759"/>
                      </a14:backgroundRemoval>
                    </a14:imgEffect>
                  </a14:imgLayer>
                </a14:imgProps>
              </a:ext>
            </a:extLst>
          </a:blip>
          <a:srcRect l="85156" t="25972" r="6485" b="60556"/>
          <a:stretch/>
        </p:blipFill>
        <p:spPr>
          <a:xfrm>
            <a:off x="10359333" y="6214661"/>
            <a:ext cx="475270" cy="430853"/>
          </a:xfrm>
          <a:prstGeom prst="rect">
            <a:avLst/>
          </a:prstGeom>
        </p:spPr>
      </p:pic>
      <p:pic>
        <p:nvPicPr>
          <p:cNvPr id="5" name="Picture 2" descr="A blue text on a black background&#10;&#10;Description automatically generated">
            <a:extLst>
              <a:ext uri="{FF2B5EF4-FFF2-40B4-BE49-F238E27FC236}">
                <a16:creationId xmlns:a16="http://schemas.microsoft.com/office/drawing/2014/main" id="{33206506-3A65-8095-6D29-380C2F0ABF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7025" y="6082323"/>
            <a:ext cx="1153905" cy="599431"/>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a:extLst>
              <a:ext uri="{FF2B5EF4-FFF2-40B4-BE49-F238E27FC236}">
                <a16:creationId xmlns:a16="http://schemas.microsoft.com/office/drawing/2014/main" id="{D37EFF87-957F-AAA5-D7B2-23FAB638601C}"/>
              </a:ext>
            </a:extLst>
          </p:cNvPr>
          <p:cNvCxnSpPr>
            <a:cxnSpLocks/>
          </p:cNvCxnSpPr>
          <p:nvPr/>
        </p:nvCxnSpPr>
        <p:spPr>
          <a:xfrm>
            <a:off x="5108623" y="2784298"/>
            <a:ext cx="0" cy="2102745"/>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5A63A59-5E0B-F876-3A9E-7E19D1C133EA}"/>
              </a:ext>
            </a:extLst>
          </p:cNvPr>
          <p:cNvSpPr txBox="1"/>
          <p:nvPr/>
        </p:nvSpPr>
        <p:spPr>
          <a:xfrm>
            <a:off x="5108622" y="3193194"/>
            <a:ext cx="4303342" cy="400110"/>
          </a:xfrm>
          <a:prstGeom prst="rect">
            <a:avLst/>
          </a:prstGeom>
          <a:noFill/>
        </p:spPr>
        <p:txBody>
          <a:bodyPr wrap="square">
            <a:spAutoFit/>
          </a:bodyPr>
          <a:lstStyle/>
          <a:p>
            <a:pPr algn="ctr"/>
            <a:r>
              <a:rPr lang="he-IL" sz="2000" b="1">
                <a:solidFill>
                  <a:srgbClr val="CE71BD"/>
                </a:solidFill>
                <a:latin typeface="Almoni Neue DL 4.0 AAA" panose="00000500000000000000" pitchFamily="50" charset="-79"/>
                <a:cs typeface="Almoni Neue DL 4.0 AAA" panose="00000500000000000000" pitchFamily="50" charset="-79"/>
              </a:rPr>
              <a:t> צרכים ומענים </a:t>
            </a:r>
            <a:endParaRPr lang="he-IL" sz="2000">
              <a:solidFill>
                <a:srgbClr val="CE71BD"/>
              </a:solidFill>
            </a:endParaRPr>
          </a:p>
        </p:txBody>
      </p:sp>
      <p:sp>
        <p:nvSpPr>
          <p:cNvPr id="26" name="TextBox 25">
            <a:extLst>
              <a:ext uri="{FF2B5EF4-FFF2-40B4-BE49-F238E27FC236}">
                <a16:creationId xmlns:a16="http://schemas.microsoft.com/office/drawing/2014/main" id="{62B24600-87AE-A46E-A227-2229A5F83E2E}"/>
              </a:ext>
            </a:extLst>
          </p:cNvPr>
          <p:cNvSpPr txBox="1"/>
          <p:nvPr/>
        </p:nvSpPr>
        <p:spPr>
          <a:xfrm>
            <a:off x="5209786" y="3657519"/>
            <a:ext cx="3861431" cy="1303627"/>
          </a:xfrm>
          <a:prstGeom prst="rect">
            <a:avLst/>
          </a:prstGeom>
          <a:noFill/>
        </p:spPr>
        <p:txBody>
          <a:bodyPr wrap="square">
            <a:spAutoFit/>
          </a:bodyPr>
          <a:lstStyle/>
          <a:p>
            <a:pPr algn="r">
              <a:lnSpc>
                <a:spcPct val="150000"/>
              </a:lnSpc>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קטלוג צרכים ומענים רלוונטי למיקודי הסיכון שיבחרו ואשר יתעדכנו  באמצעות מודל שיוגדר</a:t>
            </a:r>
            <a:endParaRPr lang="he-IL"/>
          </a:p>
        </p:txBody>
      </p:sp>
      <p:sp>
        <p:nvSpPr>
          <p:cNvPr id="28" name="TextBox 27">
            <a:extLst>
              <a:ext uri="{FF2B5EF4-FFF2-40B4-BE49-F238E27FC236}">
                <a16:creationId xmlns:a16="http://schemas.microsoft.com/office/drawing/2014/main" id="{0954BEE5-2C4A-5315-4D13-9B6AECC1F981}"/>
              </a:ext>
            </a:extLst>
          </p:cNvPr>
          <p:cNvSpPr txBox="1"/>
          <p:nvPr/>
        </p:nvSpPr>
        <p:spPr>
          <a:xfrm>
            <a:off x="525796" y="3200481"/>
            <a:ext cx="4582827" cy="400110"/>
          </a:xfrm>
          <a:prstGeom prst="rect">
            <a:avLst/>
          </a:prstGeom>
          <a:noFill/>
        </p:spPr>
        <p:txBody>
          <a:bodyPr wrap="square">
            <a:spAutoFit/>
          </a:bodyPr>
          <a:lstStyle/>
          <a:p>
            <a:pPr algn="ctr"/>
            <a:r>
              <a:rPr lang="he-IL" sz="2000" b="1">
                <a:solidFill>
                  <a:srgbClr val="F7BC68"/>
                </a:solidFill>
                <a:latin typeface="Almoni Neue DL 4.0 AAA" panose="00000500000000000000" pitchFamily="50" charset="-79"/>
                <a:cs typeface="Almoni Neue DL 4.0 AAA" panose="00000500000000000000" pitchFamily="50" charset="-79"/>
              </a:rPr>
              <a:t>פרופילים </a:t>
            </a:r>
            <a:endParaRPr lang="he-IL" sz="2000">
              <a:solidFill>
                <a:srgbClr val="F7BC68"/>
              </a:solidFill>
            </a:endParaRPr>
          </a:p>
        </p:txBody>
      </p:sp>
      <p:sp>
        <p:nvSpPr>
          <p:cNvPr id="31" name="TextBox 30">
            <a:extLst>
              <a:ext uri="{FF2B5EF4-FFF2-40B4-BE49-F238E27FC236}">
                <a16:creationId xmlns:a16="http://schemas.microsoft.com/office/drawing/2014/main" id="{58A2B0E7-95B9-610D-1103-99EFCA2625B2}"/>
              </a:ext>
            </a:extLst>
          </p:cNvPr>
          <p:cNvSpPr txBox="1"/>
          <p:nvPr/>
        </p:nvSpPr>
        <p:spPr>
          <a:xfrm>
            <a:off x="525796" y="3653325"/>
            <a:ext cx="4425632" cy="888705"/>
          </a:xfrm>
          <a:prstGeom prst="rect">
            <a:avLst/>
          </a:prstGeom>
          <a:noFill/>
        </p:spPr>
        <p:txBody>
          <a:bodyPr wrap="square">
            <a:spAutoFit/>
          </a:bodyPr>
          <a:lstStyle/>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מודלים מנבאים המחברים בין מאפיינים, צרכים, רצונות ומענים ובין מוקדי סיכון </a:t>
            </a:r>
          </a:p>
        </p:txBody>
      </p:sp>
      <p:pic>
        <p:nvPicPr>
          <p:cNvPr id="43" name="Picture 42" descr="A purple line art of a group of people in a circle&#10;&#10;Description automatically generated">
            <a:extLst>
              <a:ext uri="{FF2B5EF4-FFF2-40B4-BE49-F238E27FC236}">
                <a16:creationId xmlns:a16="http://schemas.microsoft.com/office/drawing/2014/main" id="{93E8D635-158E-C4B0-1D24-EB73F9A767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52599" y="2589780"/>
            <a:ext cx="587089" cy="587089"/>
          </a:xfrm>
          <a:prstGeom prst="rect">
            <a:avLst/>
          </a:prstGeom>
        </p:spPr>
      </p:pic>
      <p:pic>
        <p:nvPicPr>
          <p:cNvPr id="44" name="Picture 43" descr="A group of people in different poses&#10;&#10;Description automatically generated">
            <a:extLst>
              <a:ext uri="{FF2B5EF4-FFF2-40B4-BE49-F238E27FC236}">
                <a16:creationId xmlns:a16="http://schemas.microsoft.com/office/drawing/2014/main" id="{B92BA6CE-73D9-EDBC-9EA0-A47C86BA12B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50092" y="2695576"/>
            <a:ext cx="474588" cy="474588"/>
          </a:xfrm>
          <a:prstGeom prst="rect">
            <a:avLst/>
          </a:prstGeom>
        </p:spPr>
      </p:pic>
      <p:sp>
        <p:nvSpPr>
          <p:cNvPr id="2" name="Google Shape;116;p34">
            <a:extLst>
              <a:ext uri="{FF2B5EF4-FFF2-40B4-BE49-F238E27FC236}">
                <a16:creationId xmlns:a16="http://schemas.microsoft.com/office/drawing/2014/main" id="{2531C56D-AE02-8310-CCFD-22A6E4BF112B}"/>
              </a:ext>
            </a:extLst>
          </p:cNvPr>
          <p:cNvSpPr txBox="1"/>
          <p:nvPr/>
        </p:nvSpPr>
        <p:spPr>
          <a:xfrm>
            <a:off x="9698847" y="1762389"/>
            <a:ext cx="2282084" cy="2214375"/>
          </a:xfrm>
          <a:prstGeom prst="rect">
            <a:avLst/>
          </a:prstGeom>
          <a:noFill/>
          <a:ln>
            <a:noFill/>
          </a:ln>
        </p:spPr>
        <p:txBody>
          <a:bodyPr spcFirstLastPara="1" wrap="square" lIns="45713" tIns="45713" rIns="45713" bIns="45713" anchor="t" anchorCtr="0">
            <a:spAutoFit/>
          </a:bodyPr>
          <a:lstStyle/>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רקע</a:t>
            </a:r>
            <a:r>
              <a:rPr lang="en-US"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 </a:t>
            </a:r>
            <a:endParaRPr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endParaRPr>
          </a:p>
          <a:p>
            <a:pPr algn="r">
              <a:lnSpc>
                <a:spcPct val="197368"/>
              </a:lnSpc>
              <a:buClr>
                <a:srgbClr val="1281FF"/>
              </a:buClr>
              <a:buSzPts val="2280"/>
            </a:pPr>
            <a:r>
              <a:rPr lang="he-IL" sz="1400" b="1">
                <a:solidFill>
                  <a:srgbClr val="009BD4"/>
                </a:solidFill>
                <a:latin typeface="Almoni Neue DL 4.0 AAA" panose="00000500000000000000" pitchFamily="50" charset="-79"/>
                <a:cs typeface="Almoni Neue DL 4.0 AAA" panose="00000500000000000000" pitchFamily="50" charset="-79"/>
                <a:sym typeface="Helvetica Neue"/>
              </a:rPr>
              <a:t>אופטימיזציה שירותים ומענים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לוח זמנים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תקציב</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נושאים לדיון </a:t>
            </a:r>
            <a:endParaRPr sz="1200">
              <a:solidFill>
                <a:srgbClr val="5E5E5E"/>
              </a:solidFill>
              <a:latin typeface="Helvetica Neue"/>
              <a:ea typeface="Helvetica Neue"/>
              <a:cs typeface="Helvetica Neue"/>
              <a:sym typeface="Helvetica Neue"/>
            </a:endParaRPr>
          </a:p>
        </p:txBody>
      </p:sp>
      <p:sp>
        <p:nvSpPr>
          <p:cNvPr id="8" name="TextBox 7">
            <a:extLst>
              <a:ext uri="{FF2B5EF4-FFF2-40B4-BE49-F238E27FC236}">
                <a16:creationId xmlns:a16="http://schemas.microsoft.com/office/drawing/2014/main" id="{A56C2D20-C17A-1109-7E12-D668CA897A57}"/>
              </a:ext>
            </a:extLst>
          </p:cNvPr>
          <p:cNvSpPr txBox="1"/>
          <p:nvPr/>
        </p:nvSpPr>
        <p:spPr>
          <a:xfrm>
            <a:off x="443276" y="1031747"/>
            <a:ext cx="8689710" cy="888705"/>
          </a:xfrm>
          <a:prstGeom prst="rect">
            <a:avLst/>
          </a:prstGeom>
          <a:noFill/>
        </p:spPr>
        <p:txBody>
          <a:bodyPr wrap="square">
            <a:spAutoFit/>
          </a:bodyPr>
          <a:lstStyle/>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בניית תשתיות תוכן, נתונים ומודלים מבוססי נתונים: </a:t>
            </a:r>
          </a:p>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פרופילים של אוכלוסיית אזרחים וותיקים ומענים אוניברסליים והעמדתם כתשתית לפתרונות מגוונים.  </a:t>
            </a:r>
          </a:p>
        </p:txBody>
      </p:sp>
      <p:sp>
        <p:nvSpPr>
          <p:cNvPr id="9" name="TextBox 8">
            <a:extLst>
              <a:ext uri="{FF2B5EF4-FFF2-40B4-BE49-F238E27FC236}">
                <a16:creationId xmlns:a16="http://schemas.microsoft.com/office/drawing/2014/main" id="{A1F570FD-3852-1C22-5469-E75CB5D39D4E}"/>
              </a:ext>
            </a:extLst>
          </p:cNvPr>
          <p:cNvSpPr txBox="1"/>
          <p:nvPr/>
        </p:nvSpPr>
        <p:spPr>
          <a:xfrm>
            <a:off x="7979251" y="2280415"/>
            <a:ext cx="1119217" cy="369332"/>
          </a:xfrm>
          <a:prstGeom prst="rect">
            <a:avLst/>
          </a:prstGeom>
          <a:noFill/>
        </p:spPr>
        <p:txBody>
          <a:bodyPr wrap="none" rtlCol="1">
            <a:spAutoFit/>
          </a:bodyPr>
          <a:lstStyle/>
          <a:p>
            <a:r>
              <a:rPr lang="he-IL" b="1">
                <a:solidFill>
                  <a:schemeClr val="tx1">
                    <a:lumMod val="65000"/>
                    <a:lumOff val="35000"/>
                  </a:schemeClr>
                </a:solidFill>
                <a:latin typeface="Almoni Neue DL 4.0 AAA" panose="00000500000000000000" pitchFamily="50" charset="-79"/>
                <a:cs typeface="Almoni Neue DL 4.0 AAA" panose="00000500000000000000" pitchFamily="50" charset="-79"/>
              </a:rPr>
              <a:t>באמצעות</a:t>
            </a: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 </a:t>
            </a:r>
          </a:p>
        </p:txBody>
      </p:sp>
      <p:sp>
        <p:nvSpPr>
          <p:cNvPr id="18" name="TextBox 17"/>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7838509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97">
          <a:extLst>
            <a:ext uri="{FF2B5EF4-FFF2-40B4-BE49-F238E27FC236}">
              <a16:creationId xmlns:a16="http://schemas.microsoft.com/office/drawing/2014/main" id="{B7D731F2-EF13-82D0-1F55-752C9FBE4A0F}"/>
            </a:ext>
          </a:extLst>
        </p:cNvPr>
        <p:cNvGrpSpPr/>
        <p:nvPr/>
      </p:nvGrpSpPr>
      <p:grpSpPr>
        <a:xfrm>
          <a:off x="0" y="0"/>
          <a:ext cx="0" cy="0"/>
          <a:chOff x="0" y="0"/>
          <a:chExt cx="0" cy="0"/>
        </a:xfrm>
      </p:grpSpPr>
      <p:sp>
        <p:nvSpPr>
          <p:cNvPr id="22" name="מלבן 21"/>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תיבת טקסט 5">
            <a:extLst>
              <a:ext uri="{FF2B5EF4-FFF2-40B4-BE49-F238E27FC236}">
                <a16:creationId xmlns:a16="http://schemas.microsoft.com/office/drawing/2014/main" id="{864C5B30-06D5-5E23-1FB4-1AF77F7A7668}"/>
              </a:ext>
            </a:extLst>
          </p:cNvPr>
          <p:cNvSpPr txBox="1"/>
          <p:nvPr/>
        </p:nvSpPr>
        <p:spPr>
          <a:xfrm>
            <a:off x="360757" y="287898"/>
            <a:ext cx="8854749" cy="677108"/>
          </a:xfrm>
          <a:prstGeom prst="rect">
            <a:avLst/>
          </a:prstGeom>
          <a:noFill/>
        </p:spPr>
        <p:txBody>
          <a:bodyPr wrap="square" rtlCol="0">
            <a:spAutoFit/>
          </a:bodyPr>
          <a:lstStyle/>
          <a:p>
            <a:pPr algn="r" rtl="1">
              <a:spcBef>
                <a:spcPct val="0"/>
              </a:spcBef>
              <a:defRPr/>
            </a:pPr>
            <a:r>
              <a:rPr lang="he-IL" sz="3800" b="1">
                <a:solidFill>
                  <a:srgbClr val="00B0CF"/>
                </a:solidFill>
                <a:latin typeface="Almoni Neue DL 4.0 AAA"/>
                <a:ea typeface="+mj-ea"/>
                <a:cs typeface="Almoni Neue DL 4.0 AAA Medium"/>
              </a:rPr>
              <a:t> מודל ההפעלה המקצועי של הפרויקט</a:t>
            </a:r>
          </a:p>
        </p:txBody>
      </p:sp>
      <p:sp>
        <p:nvSpPr>
          <p:cNvPr id="12" name="Google Shape;98;p34">
            <a:extLst>
              <a:ext uri="{FF2B5EF4-FFF2-40B4-BE49-F238E27FC236}">
                <a16:creationId xmlns:a16="http://schemas.microsoft.com/office/drawing/2014/main" id="{76BEF586-84E4-7A32-A08F-9E479F919265}"/>
              </a:ext>
            </a:extLst>
          </p:cNvPr>
          <p:cNvSpPr/>
          <p:nvPr/>
        </p:nvSpPr>
        <p:spPr>
          <a:xfrm>
            <a:off x="9645209" y="-1"/>
            <a:ext cx="2546791" cy="6858001"/>
          </a:xfrm>
          <a:prstGeom prst="rect">
            <a:avLst/>
          </a:prstGeom>
          <a:solidFill>
            <a:srgbClr val="F8F6F9"/>
          </a:solidFill>
          <a:ln>
            <a:noFill/>
          </a:ln>
        </p:spPr>
        <p:txBody>
          <a:bodyPr spcFirstLastPara="1" wrap="square" lIns="25400" tIns="25400" rIns="25400" bIns="25400" anchor="ctr" anchorCtr="0">
            <a:noAutofit/>
          </a:bodyPr>
          <a:lstStyle/>
          <a:p>
            <a:pPr algn="ctr">
              <a:buClr>
                <a:srgbClr val="FFFFFF"/>
              </a:buClr>
              <a:buSzPts val="2400"/>
            </a:pPr>
            <a:endParaRPr sz="1200">
              <a:solidFill>
                <a:srgbClr val="5E5E5E"/>
              </a:solidFill>
              <a:latin typeface="Helvetica Neue"/>
              <a:ea typeface="Helvetica Neue"/>
              <a:cs typeface="Helvetica Neue"/>
              <a:sym typeface="Helvetica Neue"/>
            </a:endParaRPr>
          </a:p>
        </p:txBody>
      </p:sp>
      <p:pic>
        <p:nvPicPr>
          <p:cNvPr id="16" name="Picture 15">
            <a:extLst>
              <a:ext uri="{FF2B5EF4-FFF2-40B4-BE49-F238E27FC236}">
                <a16:creationId xmlns:a16="http://schemas.microsoft.com/office/drawing/2014/main" id="{5BC063DF-B8C9-2B76-6D98-FFC0AFEEE23F}"/>
              </a:ext>
            </a:extLst>
          </p:cNvPr>
          <p:cNvPicPr>
            <a:picLocks noChangeAspect="1"/>
          </p:cNvPicPr>
          <p:nvPr/>
        </p:nvPicPr>
        <p:blipFill rotWithShape="1">
          <a:blip r:embed="rId3"/>
          <a:srcRect l="46033" t="89381" r="43911" b="10135"/>
          <a:stretch/>
        </p:blipFill>
        <p:spPr>
          <a:xfrm rot="16200000">
            <a:off x="6202180" y="3367215"/>
            <a:ext cx="6863881" cy="129450"/>
          </a:xfrm>
          <a:prstGeom prst="rect">
            <a:avLst/>
          </a:prstGeom>
          <a:effectLst>
            <a:outerShdw blurRad="50800" dist="38100" dir="2700000" algn="tl" rotWithShape="0">
              <a:prstClr val="black">
                <a:alpha val="40000"/>
              </a:prstClr>
            </a:outerShdw>
          </a:effectLst>
        </p:spPr>
      </p:pic>
      <p:sp>
        <p:nvSpPr>
          <p:cNvPr id="19" name="מלבן 8">
            <a:extLst>
              <a:ext uri="{FF2B5EF4-FFF2-40B4-BE49-F238E27FC236}">
                <a16:creationId xmlns:a16="http://schemas.microsoft.com/office/drawing/2014/main" id="{1AD9E6E9-F030-B99D-76FB-0F5F4BDA8E39}"/>
              </a:ext>
            </a:extLst>
          </p:cNvPr>
          <p:cNvSpPr/>
          <p:nvPr/>
        </p:nvSpPr>
        <p:spPr>
          <a:xfrm>
            <a:off x="127590" y="6159058"/>
            <a:ext cx="489098" cy="42530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b="1">
                <a:solidFill>
                  <a:schemeClr val="tx1"/>
                </a:solidFill>
              </a:rPr>
              <a:t>8</a:t>
            </a:r>
            <a:endParaRPr lang="aa-ET" sz="1300" b="1">
              <a:solidFill>
                <a:schemeClr val="tx1"/>
              </a:solidFill>
            </a:endParaRPr>
          </a:p>
        </p:txBody>
      </p:sp>
      <p:pic>
        <p:nvPicPr>
          <p:cNvPr id="7" name="Picture 6">
            <a:extLst>
              <a:ext uri="{FF2B5EF4-FFF2-40B4-BE49-F238E27FC236}">
                <a16:creationId xmlns:a16="http://schemas.microsoft.com/office/drawing/2014/main" id="{C7FA6182-73D6-2E70-26FE-7785C81B1FCF}"/>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6759" b="38056" l="85990" r="92656">
                        <a14:foregroundMark x1="90469" y1="27315" x2="90469" y2="27315"/>
                        <a14:foregroundMark x1="87500" y1="27500" x2="87500" y2="27500"/>
                        <a14:foregroundMark x1="87656" y1="26759" x2="87656" y2="26759"/>
                      </a14:backgroundRemoval>
                    </a14:imgEffect>
                  </a14:imgLayer>
                </a14:imgProps>
              </a:ext>
            </a:extLst>
          </a:blip>
          <a:srcRect l="85156" t="25972" r="6485" b="60556"/>
          <a:stretch/>
        </p:blipFill>
        <p:spPr>
          <a:xfrm>
            <a:off x="10359333" y="6214661"/>
            <a:ext cx="475270" cy="430853"/>
          </a:xfrm>
          <a:prstGeom prst="rect">
            <a:avLst/>
          </a:prstGeom>
        </p:spPr>
      </p:pic>
      <p:pic>
        <p:nvPicPr>
          <p:cNvPr id="8" name="Picture 2" descr="A blue text on a black background&#10;&#10;Description automatically generated">
            <a:extLst>
              <a:ext uri="{FF2B5EF4-FFF2-40B4-BE49-F238E27FC236}">
                <a16:creationId xmlns:a16="http://schemas.microsoft.com/office/drawing/2014/main" id="{0758A932-FEA4-5EE1-57BE-03529661D0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7025" y="6082323"/>
            <a:ext cx="1153905" cy="599431"/>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9D6C3935-85C5-3C18-9446-DAC20902E255}"/>
              </a:ext>
            </a:extLst>
          </p:cNvPr>
          <p:cNvCxnSpPr>
            <a:cxnSpLocks/>
          </p:cNvCxnSpPr>
          <p:nvPr/>
        </p:nvCxnSpPr>
        <p:spPr>
          <a:xfrm>
            <a:off x="6354914" y="3078795"/>
            <a:ext cx="0" cy="201886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30AB45-6085-8F89-186B-BA72CB4F5BF6}"/>
              </a:ext>
            </a:extLst>
          </p:cNvPr>
          <p:cNvSpPr txBox="1"/>
          <p:nvPr/>
        </p:nvSpPr>
        <p:spPr>
          <a:xfrm>
            <a:off x="6408834" y="3937017"/>
            <a:ext cx="2713569" cy="888705"/>
          </a:xfrm>
          <a:prstGeom prst="rect">
            <a:avLst/>
          </a:prstGeom>
          <a:noFill/>
        </p:spPr>
        <p:txBody>
          <a:bodyPr wrap="square">
            <a:spAutoFit/>
          </a:bodyPr>
          <a:lstStyle/>
          <a:p>
            <a:pPr algn="ct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התאמה אישית של שירותים לזקן </a:t>
            </a:r>
          </a:p>
        </p:txBody>
      </p:sp>
      <p:sp>
        <p:nvSpPr>
          <p:cNvPr id="13" name="TextBox 12">
            <a:extLst>
              <a:ext uri="{FF2B5EF4-FFF2-40B4-BE49-F238E27FC236}">
                <a16:creationId xmlns:a16="http://schemas.microsoft.com/office/drawing/2014/main" id="{0A0AB12E-E9CB-3BE2-B849-EE2FE369F223}"/>
              </a:ext>
            </a:extLst>
          </p:cNvPr>
          <p:cNvSpPr txBox="1"/>
          <p:nvPr/>
        </p:nvSpPr>
        <p:spPr>
          <a:xfrm>
            <a:off x="3747134" y="3937017"/>
            <a:ext cx="2382411" cy="888705"/>
          </a:xfrm>
          <a:prstGeom prst="rect">
            <a:avLst/>
          </a:prstGeom>
          <a:noFill/>
        </p:spPr>
        <p:txBody>
          <a:bodyPr wrap="square">
            <a:spAutoFit/>
          </a:bodyPr>
          <a:lstStyle/>
          <a:p>
            <a:pPr algn="ctr">
              <a:lnSpc>
                <a:spcPct val="150000"/>
              </a:lnSpc>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מערכת </a:t>
            </a:r>
            <a:r>
              <a:rPr lang="he-IL" err="1">
                <a:solidFill>
                  <a:schemeClr val="tx1">
                    <a:lumMod val="65000"/>
                    <a:lumOff val="35000"/>
                  </a:schemeClr>
                </a:solidFill>
                <a:latin typeface="Almoni Neue DL 4.0 AAA" panose="00000500000000000000" pitchFamily="50" charset="-79"/>
                <a:cs typeface="Almoni Neue DL 4.0 AAA" panose="00000500000000000000" pitchFamily="50" charset="-79"/>
              </a:rPr>
              <a:t>אלוקציה</a:t>
            </a: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 ותכנון לרשות </a:t>
            </a:r>
          </a:p>
        </p:txBody>
      </p:sp>
      <p:sp>
        <p:nvSpPr>
          <p:cNvPr id="15" name="TextBox 14">
            <a:extLst>
              <a:ext uri="{FF2B5EF4-FFF2-40B4-BE49-F238E27FC236}">
                <a16:creationId xmlns:a16="http://schemas.microsoft.com/office/drawing/2014/main" id="{46240D85-5A72-AA29-658A-90C7A2130E6A}"/>
              </a:ext>
            </a:extLst>
          </p:cNvPr>
          <p:cNvSpPr txBox="1"/>
          <p:nvPr/>
        </p:nvSpPr>
        <p:spPr>
          <a:xfrm>
            <a:off x="616688" y="3965592"/>
            <a:ext cx="2872362" cy="888705"/>
          </a:xfrm>
          <a:prstGeom prst="rect">
            <a:avLst/>
          </a:prstGeom>
          <a:noFill/>
        </p:spPr>
        <p:txBody>
          <a:bodyPr wrap="square">
            <a:spAutoFit/>
          </a:bodyPr>
          <a:lstStyle/>
          <a:p>
            <a:pPr algn="ct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מערכת ניהול מדיניות ושיקוף פערים למשרד האוצר </a:t>
            </a:r>
            <a:endParaRPr lang="he-IL" b="1">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pic>
        <p:nvPicPr>
          <p:cNvPr id="17" name="Picture 16" descr="A yellow line drawing of a person in a circle with arrows&#10;&#10;Description automatically generated">
            <a:extLst>
              <a:ext uri="{FF2B5EF4-FFF2-40B4-BE49-F238E27FC236}">
                <a16:creationId xmlns:a16="http://schemas.microsoft.com/office/drawing/2014/main" id="{C930E021-7312-844B-68ED-0831AA881A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00765" y="3220635"/>
            <a:ext cx="756114" cy="726670"/>
          </a:xfrm>
          <a:prstGeom prst="rect">
            <a:avLst/>
          </a:prstGeom>
        </p:spPr>
      </p:pic>
      <p:pic>
        <p:nvPicPr>
          <p:cNvPr id="18" name="Picture 17" descr="A purple line drawing of a computer&#10;&#10;Description automatically generated">
            <a:extLst>
              <a:ext uri="{FF2B5EF4-FFF2-40B4-BE49-F238E27FC236}">
                <a16:creationId xmlns:a16="http://schemas.microsoft.com/office/drawing/2014/main" id="{1741D427-BB41-DED3-C88C-9BDB8B8D5A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10454" y="3202473"/>
            <a:ext cx="726670" cy="726670"/>
          </a:xfrm>
          <a:prstGeom prst="rect">
            <a:avLst/>
          </a:prstGeom>
        </p:spPr>
      </p:pic>
      <p:pic>
        <p:nvPicPr>
          <p:cNvPr id="21" name="Picture 20" descr="A red line drawing of a graph and a pie chart&#10;&#10;Description automatically generated">
            <a:extLst>
              <a:ext uri="{FF2B5EF4-FFF2-40B4-BE49-F238E27FC236}">
                <a16:creationId xmlns:a16="http://schemas.microsoft.com/office/drawing/2014/main" id="{D124E2BB-D881-EE02-C69E-81F1B6ECBA6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04211" y="3214459"/>
            <a:ext cx="775546" cy="775546"/>
          </a:xfrm>
          <a:prstGeom prst="rect">
            <a:avLst/>
          </a:prstGeom>
        </p:spPr>
      </p:pic>
      <p:sp>
        <p:nvSpPr>
          <p:cNvPr id="23" name="TextBox 22">
            <a:extLst>
              <a:ext uri="{FF2B5EF4-FFF2-40B4-BE49-F238E27FC236}">
                <a16:creationId xmlns:a16="http://schemas.microsoft.com/office/drawing/2014/main" id="{414B45B8-E18D-16B9-1697-079BBB076E5F}"/>
              </a:ext>
            </a:extLst>
          </p:cNvPr>
          <p:cNvSpPr txBox="1"/>
          <p:nvPr/>
        </p:nvSpPr>
        <p:spPr>
          <a:xfrm>
            <a:off x="709791" y="1257474"/>
            <a:ext cx="8505715" cy="1200329"/>
          </a:xfrm>
          <a:prstGeom prst="rect">
            <a:avLst/>
          </a:prstGeom>
          <a:noFill/>
        </p:spPr>
        <p:txBody>
          <a:bodyPr wrap="square" rtlCol="1">
            <a:spAutoFit/>
          </a:bodyPr>
          <a:lstStyle/>
          <a:p>
            <a:pPr algn="r">
              <a:lnSpc>
                <a:spcPct val="150000"/>
              </a:lnSpc>
            </a:pPr>
            <a:r>
              <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rPr>
              <a:t>צוות מקצועי ייעודי יבצע חשיבה על השימושים והתוצרים למהלכים נוספים ברווחה שיתבססו על התשתיות הנבנות בפרויקט זה.</a:t>
            </a:r>
          </a:p>
          <a:p>
            <a:pPr algn="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cxnSp>
        <p:nvCxnSpPr>
          <p:cNvPr id="28" name="Straight Connector 27">
            <a:extLst>
              <a:ext uri="{FF2B5EF4-FFF2-40B4-BE49-F238E27FC236}">
                <a16:creationId xmlns:a16="http://schemas.microsoft.com/office/drawing/2014/main" id="{34D24636-6E7B-D3FF-C0F7-739B3D490757}"/>
              </a:ext>
            </a:extLst>
          </p:cNvPr>
          <p:cNvCxnSpPr>
            <a:cxnSpLocks/>
          </p:cNvCxnSpPr>
          <p:nvPr/>
        </p:nvCxnSpPr>
        <p:spPr>
          <a:xfrm>
            <a:off x="3678389" y="3132233"/>
            <a:ext cx="0" cy="201886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0" name="Google Shape;116;p34">
            <a:extLst>
              <a:ext uri="{FF2B5EF4-FFF2-40B4-BE49-F238E27FC236}">
                <a16:creationId xmlns:a16="http://schemas.microsoft.com/office/drawing/2014/main" id="{D5718E1A-5602-89A5-2720-B1E95C1F2286}"/>
              </a:ext>
            </a:extLst>
          </p:cNvPr>
          <p:cNvSpPr txBox="1"/>
          <p:nvPr/>
        </p:nvSpPr>
        <p:spPr>
          <a:xfrm>
            <a:off x="9698847" y="1762389"/>
            <a:ext cx="2282084" cy="2214375"/>
          </a:xfrm>
          <a:prstGeom prst="rect">
            <a:avLst/>
          </a:prstGeom>
          <a:noFill/>
          <a:ln>
            <a:noFill/>
          </a:ln>
        </p:spPr>
        <p:txBody>
          <a:bodyPr spcFirstLastPara="1" wrap="square" lIns="45713" tIns="45713" rIns="45713" bIns="45713" anchor="t" anchorCtr="0">
            <a:spAutoFit/>
          </a:bodyPr>
          <a:lstStyle/>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רקע</a:t>
            </a:r>
          </a:p>
          <a:p>
            <a:pPr algn="r">
              <a:lnSpc>
                <a:spcPct val="197368"/>
              </a:lnSpc>
              <a:buClr>
                <a:srgbClr val="1281FF"/>
              </a:buClr>
              <a:buSzPts val="2280"/>
            </a:pPr>
            <a:r>
              <a:rPr lang="he-IL" sz="1400" b="1">
                <a:solidFill>
                  <a:srgbClr val="009BD4"/>
                </a:solidFill>
                <a:latin typeface="Almoni Neue DL 4.0 AAA" panose="00000500000000000000" pitchFamily="50" charset="-79"/>
                <a:cs typeface="Almoni Neue DL 4.0 AAA" panose="00000500000000000000" pitchFamily="50" charset="-79"/>
                <a:sym typeface="Helvetica Neue"/>
              </a:rPr>
              <a:t>אופטימיזציה שירותים ומענים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לוח זמנים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תקציב</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נושאים לדיון </a:t>
            </a:r>
            <a:endParaRPr sz="1200">
              <a:solidFill>
                <a:srgbClr val="5E5E5E"/>
              </a:solidFill>
              <a:latin typeface="Helvetica Neue"/>
              <a:ea typeface="Helvetica Neue"/>
              <a:cs typeface="Helvetica Neue"/>
              <a:sym typeface="Helvetica Neue"/>
            </a:endParaRPr>
          </a:p>
        </p:txBody>
      </p:sp>
      <p:sp>
        <p:nvSpPr>
          <p:cNvPr id="10" name="TextBox 9">
            <a:extLst>
              <a:ext uri="{FF2B5EF4-FFF2-40B4-BE49-F238E27FC236}">
                <a16:creationId xmlns:a16="http://schemas.microsoft.com/office/drawing/2014/main" id="{DE5A5484-F074-242E-E38E-EA0C3881B06B}"/>
              </a:ext>
            </a:extLst>
          </p:cNvPr>
          <p:cNvSpPr txBox="1"/>
          <p:nvPr/>
        </p:nvSpPr>
        <p:spPr>
          <a:xfrm>
            <a:off x="3090932" y="2503051"/>
            <a:ext cx="6096000" cy="473206"/>
          </a:xfrm>
          <a:prstGeom prst="rect">
            <a:avLst/>
          </a:prstGeom>
          <a:noFill/>
        </p:spPr>
        <p:txBody>
          <a:bodyPr wrap="square">
            <a:spAutoFit/>
          </a:bodyPr>
          <a:lstStyle/>
          <a:p>
            <a:pPr algn="r">
              <a:lnSpc>
                <a:spcPct val="150000"/>
              </a:lnSpc>
            </a:pPr>
            <a:r>
              <a:rPr lang="he-IL" b="1">
                <a:solidFill>
                  <a:schemeClr val="tx1">
                    <a:lumMod val="65000"/>
                    <a:lumOff val="35000"/>
                  </a:schemeClr>
                </a:solidFill>
                <a:latin typeface="Almoni Neue DL 4.0 AAA" panose="00000500000000000000" pitchFamily="50" charset="-79"/>
                <a:cs typeface="Almoni Neue DL 4.0 AAA" panose="00000500000000000000" pitchFamily="50" charset="-79"/>
              </a:rPr>
              <a:t>לדוגמא: </a:t>
            </a:r>
          </a:p>
        </p:txBody>
      </p:sp>
      <p:sp>
        <p:nvSpPr>
          <p:cNvPr id="20" name="TextBox 19"/>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3155946268"/>
      </p:ext>
    </p:extLst>
  </p:cSld>
  <p:clrMapOvr>
    <a:masterClrMapping/>
  </p:clrMapOvr>
  <p:transition spd="slow">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1">
            <a:extLst>
              <a:ext uri="{FF2B5EF4-FFF2-40B4-BE49-F238E27FC236}">
                <a16:creationId xmlns:a16="http://schemas.microsoft.com/office/drawing/2014/main" id="{72DE7AE9-0BF3-D973-E87C-EB41E8709D13}"/>
              </a:ext>
            </a:extLst>
          </p:cNvPr>
          <p:cNvSpPr/>
          <p:nvPr/>
        </p:nvSpPr>
        <p:spPr>
          <a:xfrm>
            <a:off x="1431250" y="1737244"/>
            <a:ext cx="3588173" cy="3293937"/>
          </a:xfrm>
          <a:prstGeom prst="roundRect">
            <a:avLst/>
          </a:prstGeom>
          <a:solidFill>
            <a:schemeClr val="bg1"/>
          </a:solidFill>
          <a:ln>
            <a:solidFill>
              <a:srgbClr val="E7525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2D97F194-2F02-BC07-F02B-84F0400E16BE}"/>
              </a:ext>
            </a:extLst>
          </p:cNvPr>
          <p:cNvGrpSpPr>
            <a:grpSpLocks noChangeAspect="1"/>
          </p:cNvGrpSpPr>
          <p:nvPr/>
        </p:nvGrpSpPr>
        <p:grpSpPr>
          <a:xfrm>
            <a:off x="7678489" y="1368598"/>
            <a:ext cx="4048894" cy="4429827"/>
            <a:chOff x="8042765" y="2046515"/>
            <a:chExt cx="3483067" cy="3810764"/>
          </a:xfrm>
        </p:grpSpPr>
        <p:sp>
          <p:nvSpPr>
            <p:cNvPr id="7" name="Rounded Rectangle 111">
              <a:extLst>
                <a:ext uri="{FF2B5EF4-FFF2-40B4-BE49-F238E27FC236}">
                  <a16:creationId xmlns:a16="http://schemas.microsoft.com/office/drawing/2014/main" id="{2E6CBCBE-5B82-5329-43F6-B8A4C66C514F}"/>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8" name="Group 7">
              <a:extLst>
                <a:ext uri="{FF2B5EF4-FFF2-40B4-BE49-F238E27FC236}">
                  <a16:creationId xmlns:a16="http://schemas.microsoft.com/office/drawing/2014/main" id="{D921BBCE-79AE-02B8-ACF4-5F92C767733E}"/>
                </a:ext>
              </a:extLst>
            </p:cNvPr>
            <p:cNvGrpSpPr/>
            <p:nvPr/>
          </p:nvGrpSpPr>
          <p:grpSpPr>
            <a:xfrm>
              <a:off x="8042765" y="2054133"/>
              <a:ext cx="3483067" cy="935810"/>
              <a:chOff x="8196597" y="2046513"/>
              <a:chExt cx="3483067" cy="935810"/>
            </a:xfrm>
          </p:grpSpPr>
          <p:sp>
            <p:nvSpPr>
              <p:cNvPr id="11" name="Rounded Rectangle 103">
                <a:extLst>
                  <a:ext uri="{FF2B5EF4-FFF2-40B4-BE49-F238E27FC236}">
                    <a16:creationId xmlns:a16="http://schemas.microsoft.com/office/drawing/2014/main" id="{4258F36B-39C2-D56D-69BF-1E5B5B20877C}"/>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FDBA3AF-17A3-63DD-2D71-6C4B91532AAB}"/>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9EDF4C60-0A63-7DCD-5ADF-93D5C438287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3CBBA451-A168-4B32-BD4E-95EB9A24A5D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9" name="Oval 8">
              <a:extLst>
                <a:ext uri="{FF2B5EF4-FFF2-40B4-BE49-F238E27FC236}">
                  <a16:creationId xmlns:a16="http://schemas.microsoft.com/office/drawing/2014/main" id="{E2D0C106-4B6B-050F-081F-38A453418D0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E58470C0-E016-4358-548E-D7C5B52099CF}"/>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929053" y="2174550"/>
            <a:ext cx="3543457" cy="3446073"/>
          </a:xfrm>
        </p:spPr>
        <p:txBody>
          <a:bodyPr>
            <a:normAutofit fontScale="25000" lnSpcReduction="20000"/>
          </a:bodyPr>
          <a:lstStyle/>
          <a:p>
            <a:pPr algn="r" rtl="1"/>
            <a:r>
              <a:rPr lang="he-IL" sz="6400" b="1" dirty="0"/>
              <a:t>מנחם, בן 81, נ+1. אבחנות רפואיות:</a:t>
            </a:r>
          </a:p>
          <a:p>
            <a:pPr algn="r" rtl="1"/>
            <a:r>
              <a:rPr lang="he-IL" sz="6400" dirty="0"/>
              <a:t>* סוכרת </a:t>
            </a:r>
            <a:r>
              <a:rPr lang="he-IL" sz="6400" dirty="0" smtClean="0"/>
              <a:t>מטופל </a:t>
            </a:r>
            <a:r>
              <a:rPr lang="he-IL" sz="6400" dirty="0"/>
              <a:t>באינסולין</a:t>
            </a:r>
          </a:p>
          <a:p>
            <a:pPr algn="r" rtl="1"/>
            <a:r>
              <a:rPr lang="he-IL" sz="6400" dirty="0"/>
              <a:t>* יתר לחץ דם</a:t>
            </a:r>
          </a:p>
          <a:p>
            <a:pPr algn="r" rtl="1"/>
            <a:r>
              <a:rPr lang="he-IL" sz="6400" dirty="0"/>
              <a:t>* </a:t>
            </a:r>
            <a:r>
              <a:rPr lang="he-IL" sz="6400" dirty="0" err="1" smtClean="0"/>
              <a:t>אוסטאוטריטיס</a:t>
            </a:r>
            <a:r>
              <a:rPr lang="he-IL" sz="6400" dirty="0" smtClean="0"/>
              <a:t>– </a:t>
            </a:r>
            <a:r>
              <a:rPr lang="he-IL" sz="6400" dirty="0"/>
              <a:t>דלקת מפרקים ניוונית</a:t>
            </a:r>
          </a:p>
          <a:p>
            <a:pPr algn="r" rtl="1"/>
            <a:r>
              <a:rPr lang="he-IL" sz="6400" dirty="0"/>
              <a:t>* אי שליטה על סוגרים ודחיפות במתן שתן</a:t>
            </a:r>
          </a:p>
          <a:p>
            <a:pPr algn="r" rtl="1"/>
            <a:r>
              <a:rPr lang="he-IL" sz="6400" dirty="0"/>
              <a:t>* נפילות חוזרות</a:t>
            </a:r>
          </a:p>
          <a:p>
            <a:pPr algn="r" rtl="1"/>
            <a:r>
              <a:rPr lang="he-IL" sz="6400" dirty="0"/>
              <a:t>* אי יציבות  בהליכה</a:t>
            </a:r>
          </a:p>
          <a:p>
            <a:pPr algn="r" rtl="1">
              <a:lnSpc>
                <a:spcPct val="120000"/>
              </a:lnSpc>
            </a:pPr>
            <a:r>
              <a:rPr lang="he-IL" sz="6400" dirty="0"/>
              <a:t>מנחם במקצועו מהנדס מכונות, בעל יכולות ביצועיות, חובב מוזיקה מושבע, אוסף מכוניות עתיקות, עם מערכת משפחתית תומכת. בשנים האחרונות, מאז שהחל </a:t>
            </a:r>
            <a:r>
              <a:rPr lang="he-IL" sz="6400" dirty="0" smtClean="0"/>
              <a:t>ליפול ממעט </a:t>
            </a:r>
            <a:r>
              <a:rPr lang="he-IL" sz="6400" dirty="0"/>
              <a:t>לצאת מביתו.</a:t>
            </a:r>
          </a:p>
          <a:p>
            <a:pPr algn="r" rtl="1"/>
            <a:endParaRPr lang="he-IL" dirty="0"/>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1142277" y="1953202"/>
            <a:ext cx="3788135" cy="28179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12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1252 ₪- גמלה בכסף</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11 </a:t>
            </a: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שעות </a:t>
            </a:r>
            <a:r>
              <a:rPr kumimoji="0" lang="he-IL" sz="16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מטפלת </a:t>
            </a: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שבועיות הכוללות: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a:t>
            </a:r>
            <a:r>
              <a:rPr kumimoji="0" lang="he-IL" sz="12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הבית וניקיון</a:t>
            </a:r>
            <a:endPar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שמירה על סביבה בטוחה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p:txBody>
      </p:sp>
      <p:sp>
        <p:nvSpPr>
          <p:cNvPr id="5" name="Oval 4">
            <a:extLst>
              <a:ext uri="{FF2B5EF4-FFF2-40B4-BE49-F238E27FC236}">
                <a16:creationId xmlns:a16="http://schemas.microsoft.com/office/drawing/2014/main" id="{2149271A-345A-5122-3EC4-B8002397612C}"/>
              </a:ext>
            </a:extLst>
          </p:cNvPr>
          <p:cNvSpPr/>
          <p:nvPr/>
        </p:nvSpPr>
        <p:spPr>
          <a:xfrm>
            <a:off x="8966664" y="499606"/>
            <a:ext cx="1472544" cy="151904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Chevron 9">
            <a:extLst>
              <a:ext uri="{FF2B5EF4-FFF2-40B4-BE49-F238E27FC236}">
                <a16:creationId xmlns:a16="http://schemas.microsoft.com/office/drawing/2014/main" id="{16ADEEB6-1E30-6D38-D568-DAADF160E382}"/>
              </a:ext>
            </a:extLst>
          </p:cNvPr>
          <p:cNvSpPr/>
          <p:nvPr/>
        </p:nvSpPr>
        <p:spPr>
          <a:xfrm rot="10800000">
            <a:off x="5436991" y="3285000"/>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A5D1170E-6314-7E2A-7D50-BDA53F122E7D}"/>
              </a:ext>
            </a:extLst>
          </p:cNvPr>
          <p:cNvSpPr>
            <a:spLocks noChangeAspect="1"/>
          </p:cNvSpPr>
          <p:nvPr/>
        </p:nvSpPr>
        <p:spPr>
          <a:xfrm>
            <a:off x="6142176" y="3384213"/>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5764062" y="256266"/>
            <a:ext cx="2573140" cy="461665"/>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המצב והשיטה היום</a:t>
            </a:r>
            <a:endPar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19" name="מלבן 18"/>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TextBox 19"/>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
        <p:nvSpPr>
          <p:cNvPr id="21" name="אליפסה 20"/>
          <p:cNvSpPr/>
          <p:nvPr/>
        </p:nvSpPr>
        <p:spPr>
          <a:xfrm>
            <a:off x="10678046" y="30951"/>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0">
              <a:defRPr/>
            </a:pPr>
            <a:r>
              <a:rPr lang="he-IL" sz="2000" b="1" dirty="0">
                <a:solidFill>
                  <a:prstClr val="white"/>
                </a:solidFill>
              </a:rPr>
              <a:t>רמה 3</a:t>
            </a:r>
          </a:p>
          <a:p>
            <a:pPr lvl="0" algn="ctr" rtl="0">
              <a:defRPr/>
            </a:pPr>
            <a:r>
              <a:rPr lang="he-IL" sz="1600" b="1" dirty="0">
                <a:solidFill>
                  <a:prstClr val="white"/>
                </a:solidFill>
              </a:rPr>
              <a:t>17 שעות</a:t>
            </a:r>
            <a:endParaRPr lang="he-IL" sz="1600" b="1" dirty="0">
              <a:solidFill>
                <a:prstClr val="white"/>
              </a:solidFill>
            </a:endParaRPr>
          </a:p>
        </p:txBody>
      </p:sp>
      <p:sp>
        <p:nvSpPr>
          <p:cNvPr id="15" name="TextBox 14"/>
          <p:cNvSpPr txBox="1"/>
          <p:nvPr/>
        </p:nvSpPr>
        <p:spPr>
          <a:xfrm>
            <a:off x="3635899" y="1833986"/>
            <a:ext cx="1260281" cy="369332"/>
          </a:xfrm>
          <a:prstGeom prst="rect">
            <a:avLst/>
          </a:prstGeom>
          <a:noFill/>
        </p:spPr>
        <p:txBody>
          <a:bodyPr wrap="none" rtlCol="1">
            <a:spAutoFit/>
          </a:bodyPr>
          <a:lstStyle/>
          <a:p>
            <a:r>
              <a:rPr lang="he-IL" b="1" dirty="0" smtClean="0"/>
              <a:t>הסל הקיים:</a:t>
            </a:r>
            <a:endParaRPr lang="he-IL" b="1" dirty="0"/>
          </a:p>
        </p:txBody>
      </p:sp>
    </p:spTree>
    <p:extLst>
      <p:ext uri="{BB962C8B-B14F-4D97-AF65-F5344CB8AC3E}">
        <p14:creationId xmlns:p14="http://schemas.microsoft.com/office/powerpoint/2010/main" val="42865333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
            <a:extLst>
              <a:ext uri="{FF2B5EF4-FFF2-40B4-BE49-F238E27FC236}">
                <a16:creationId xmlns:a16="http://schemas.microsoft.com/office/drawing/2014/main" id="{D0B4EA7B-34D5-1A23-EEE1-3B26FC65248B}"/>
              </a:ext>
            </a:extLst>
          </p:cNvPr>
          <p:cNvSpPr/>
          <p:nvPr/>
        </p:nvSpPr>
        <p:spPr>
          <a:xfrm>
            <a:off x="223335" y="588475"/>
            <a:ext cx="5449569" cy="5894061"/>
          </a:xfrm>
          <a:prstGeom prst="roundRect">
            <a:avLst/>
          </a:prstGeom>
          <a:solidFill>
            <a:srgbClr val="5EC5C5"/>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 name="Group 1">
            <a:extLst>
              <a:ext uri="{FF2B5EF4-FFF2-40B4-BE49-F238E27FC236}">
                <a16:creationId xmlns:a16="http://schemas.microsoft.com/office/drawing/2014/main" id="{93A88E2F-5EF4-789E-4EC1-FECE0F60DDB1}"/>
              </a:ext>
            </a:extLst>
          </p:cNvPr>
          <p:cNvGrpSpPr>
            <a:grpSpLocks noChangeAspect="1"/>
          </p:cNvGrpSpPr>
          <p:nvPr/>
        </p:nvGrpSpPr>
        <p:grpSpPr>
          <a:xfrm>
            <a:off x="7678489" y="1368598"/>
            <a:ext cx="4048894" cy="4429827"/>
            <a:chOff x="8042765" y="2046515"/>
            <a:chExt cx="3483067" cy="3810764"/>
          </a:xfrm>
        </p:grpSpPr>
        <p:sp>
          <p:nvSpPr>
            <p:cNvPr id="5" name="Rounded Rectangle 111">
              <a:extLst>
                <a:ext uri="{FF2B5EF4-FFF2-40B4-BE49-F238E27FC236}">
                  <a16:creationId xmlns:a16="http://schemas.microsoft.com/office/drawing/2014/main" id="{621A4DD8-C551-84E3-8B7C-F54D08EBF65B}"/>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AA60DC4F-3B2E-7161-90A3-10058A300945}"/>
                </a:ext>
              </a:extLst>
            </p:cNvPr>
            <p:cNvGrpSpPr/>
            <p:nvPr/>
          </p:nvGrpSpPr>
          <p:grpSpPr>
            <a:xfrm>
              <a:off x="8042765" y="2054133"/>
              <a:ext cx="3483067" cy="935810"/>
              <a:chOff x="8196597" y="2046513"/>
              <a:chExt cx="3483067" cy="935810"/>
            </a:xfrm>
          </p:grpSpPr>
          <p:sp>
            <p:nvSpPr>
              <p:cNvPr id="9" name="Rounded Rectangle 103">
                <a:extLst>
                  <a:ext uri="{FF2B5EF4-FFF2-40B4-BE49-F238E27FC236}">
                    <a16:creationId xmlns:a16="http://schemas.microsoft.com/office/drawing/2014/main" id="{152D9103-54F9-A90C-CB51-ABE857EDC729}"/>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4ADDB74-0E15-742D-DCB9-DF4B1ADAD329}"/>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28926696-7AD8-C99A-5C5A-1619DFF2405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90B44494-FC7C-999B-CD19-01A9DADC869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7" name="Oval 6">
              <a:extLst>
                <a:ext uri="{FF2B5EF4-FFF2-40B4-BE49-F238E27FC236}">
                  <a16:creationId xmlns:a16="http://schemas.microsoft.com/office/drawing/2014/main" id="{5A2A50CB-0FA1-F4DF-39D2-36E73B7A6FF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4D1AAC09-5FEA-10F6-D909-5CE48748BAEA}"/>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3" name="Oval 12">
            <a:extLst>
              <a:ext uri="{FF2B5EF4-FFF2-40B4-BE49-F238E27FC236}">
                <a16:creationId xmlns:a16="http://schemas.microsoft.com/office/drawing/2014/main" id="{5F48573E-28D5-B8FD-4B49-EAC00579D7D1}"/>
              </a:ext>
            </a:extLst>
          </p:cNvPr>
          <p:cNvSpPr/>
          <p:nvPr/>
        </p:nvSpPr>
        <p:spPr>
          <a:xfrm>
            <a:off x="8966664" y="499606"/>
            <a:ext cx="1472544" cy="151904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861369" y="2178994"/>
            <a:ext cx="3586386" cy="3723931"/>
          </a:xfrm>
        </p:spPr>
        <p:txBody>
          <a:bodyPr>
            <a:normAutofit fontScale="55000" lnSpcReduction="20000"/>
          </a:bodyPr>
          <a:lstStyle/>
          <a:p>
            <a:pPr algn="r" rtl="1"/>
            <a:r>
              <a:rPr lang="he-IL" dirty="0"/>
              <a:t>מנחם, בן 81, נ+1. פרופיל תפקודי:</a:t>
            </a:r>
          </a:p>
          <a:p>
            <a:pPr algn="r" rtl="1"/>
            <a:r>
              <a:rPr lang="he-IL" dirty="0"/>
              <a:t>* עייפות, ירידה ברמות האנרגיה </a:t>
            </a:r>
          </a:p>
          <a:p>
            <a:pPr algn="r" rtl="1"/>
            <a:r>
              <a:rPr lang="he-IL" dirty="0"/>
              <a:t>* בעיות שינה </a:t>
            </a:r>
          </a:p>
          <a:p>
            <a:pPr algn="r" rtl="1"/>
            <a:r>
              <a:rPr lang="he-IL" dirty="0"/>
              <a:t>* קשיים בקשב וזיכרון </a:t>
            </a:r>
          </a:p>
          <a:p>
            <a:pPr marL="342900" indent="-342900" algn="r" rtl="1">
              <a:buFont typeface="Arial" panose="020B0604020202020204" pitchFamily="34" charset="0"/>
              <a:buChar char="•"/>
            </a:pPr>
            <a:r>
              <a:rPr lang="he-IL" dirty="0" smtClean="0"/>
              <a:t>רגישות </a:t>
            </a:r>
            <a:r>
              <a:rPr lang="he-IL" dirty="0"/>
              <a:t>לכאב </a:t>
            </a:r>
            <a:endParaRPr lang="he-IL" dirty="0" smtClean="0"/>
          </a:p>
          <a:p>
            <a:pPr marL="342900" indent="-342900" algn="r" rtl="1">
              <a:buFont typeface="Arial" panose="020B0604020202020204" pitchFamily="34" charset="0"/>
              <a:buChar char="•"/>
            </a:pPr>
            <a:r>
              <a:rPr lang="he-IL" dirty="0" smtClean="0"/>
              <a:t>בעיות שמיעה</a:t>
            </a:r>
            <a:endParaRPr lang="he-IL" dirty="0"/>
          </a:p>
          <a:p>
            <a:pPr algn="r" rtl="1"/>
            <a:r>
              <a:rPr lang="he-IL" dirty="0"/>
              <a:t>* שליטה חלקית על מתן שתן </a:t>
            </a:r>
          </a:p>
          <a:p>
            <a:pPr algn="r" rtl="1"/>
            <a:r>
              <a:rPr lang="he-IL" dirty="0"/>
              <a:t>* הליכה לא יציבה ונטייה לנפילות </a:t>
            </a:r>
          </a:p>
          <a:p>
            <a:pPr algn="r" rtl="1"/>
            <a:r>
              <a:rPr lang="he-IL" dirty="0"/>
              <a:t>* נוקשות וכאב בתנועתיות ברכיים </a:t>
            </a:r>
          </a:p>
          <a:p>
            <a:pPr algn="r" rtl="1">
              <a:lnSpc>
                <a:spcPct val="170000"/>
              </a:lnSpc>
            </a:pPr>
            <a:r>
              <a:rPr lang="he-IL" dirty="0"/>
              <a:t>מנחם במקצועו מהנדס מכונות, בעל יכולות ביצועיות, חובב מוזיקה מושבע, אוסף מכוניות עתיקות, בעל מערכת משפחתית תומכת. בשנים האחרונות, מאז שהחל נופל ממעט לצאת מביתו.</a:t>
            </a:r>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223335" y="817648"/>
            <a:ext cx="5178131" cy="5361479"/>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1000</a:t>
            </a:r>
            <a:r>
              <a:rPr kumimoji="0" lang="he-IL" sz="2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a:t>
            </a:r>
            <a:r>
              <a:rPr kumimoji="0" lang="he-IL" sz="1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גמלה בכסף ולצריכת שירותים מותאמים אישית </a:t>
            </a:r>
            <a:r>
              <a:rPr kumimoji="0" lang="he-IL" sz="19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(5 ש)</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8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שעות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מטפלת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שבועיות הכוללות: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ושמירה על סביבה בטוחה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2 ש' צבוע + 2 ש' בבחירה (1,118 ₪)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לקהילה ולרכישת שירותים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ומוצרים מותאמים לפרופיל האישי כגון:</a:t>
            </a:r>
            <a:endPar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קהילה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מקדמת שייכות, בריאות וחוסן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(פעילות, קשר, תיקונים,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תיווך וסיוע)- 209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2.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קורס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מוזיקה מקוון בקתדרה למוזיקה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350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מאפשר עיסוק קוגניטיבי בתחום העניין, לצד התחשבות בקשיים המוטוריים </a:t>
            </a: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והקשביים</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3.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שיעורי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דמיון מודרך ומדיטציה במתנ"ס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250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(מהווה כלי מסייע בניהול כאבים, בעיות שינה, מטפלת מסיעה ומלווה, מתנ"ס מונגש)</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4.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בריכה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הידרותרפיה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250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(מתייחס לכלל הקשיים, דגש על נוקשות בתנועתיות, סביבת המים, וההחזקה, נותנת מענה לחשש מנפילות</a:t>
            </a:r>
            <a:r>
              <a:rPr kumimoji="0" lang="he-IL" sz="19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5.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רכישת מכשיר שמיעה מסובסד-300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 </a:t>
            </a:r>
            <a:r>
              <a:rPr kumimoji="0" lang="he-IL" sz="18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(קריטי במניעת הדרדרות ותפקוד)</a:t>
            </a:r>
            <a:endParaRPr kumimoji="0" lang="he-IL" sz="32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6.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התנדבות </a:t>
            </a:r>
            <a:r>
              <a:rPr kumimoji="0" lang="he-IL" sz="21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דו חודשית </a:t>
            </a:r>
            <a:r>
              <a:rPr kumimoji="0" lang="he-IL" sz="21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בבית הספר "אורט" מגמת מכונאות בסיוע לתלמידים</a:t>
            </a:r>
            <a:r>
              <a:rPr kumimoji="0" lang="he-IL" sz="1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סה"כ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1409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מתוכם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1,118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במימון מדינה </a:t>
            </a:r>
            <a:endPar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14" name="Chevron 9">
            <a:extLst>
              <a:ext uri="{FF2B5EF4-FFF2-40B4-BE49-F238E27FC236}">
                <a16:creationId xmlns:a16="http://schemas.microsoft.com/office/drawing/2014/main" id="{53CB9F4D-0FB1-3D16-6D13-CEF08E76D144}"/>
              </a:ext>
            </a:extLst>
          </p:cNvPr>
          <p:cNvSpPr/>
          <p:nvPr/>
        </p:nvSpPr>
        <p:spPr>
          <a:xfrm rot="10800000">
            <a:off x="5753988" y="3285000"/>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7E549171-80AC-AFAF-C88B-947BC5215AD1}"/>
              </a:ext>
            </a:extLst>
          </p:cNvPr>
          <p:cNvSpPr>
            <a:spLocks noChangeAspect="1"/>
          </p:cNvSpPr>
          <p:nvPr/>
        </p:nvSpPr>
        <p:spPr>
          <a:xfrm>
            <a:off x="6459173" y="3384213"/>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p:cNvSpPr txBox="1"/>
          <p:nvPr/>
        </p:nvSpPr>
        <p:spPr>
          <a:xfrm>
            <a:off x="6040697" y="65255"/>
            <a:ext cx="2642070" cy="523220"/>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ההזדמנות לשינוי</a:t>
            </a:r>
            <a:endParaRPr kumimoji="0" lang="he-IL" sz="2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21" name="אליפסה 20"/>
          <p:cNvSpPr/>
          <p:nvPr/>
        </p:nvSpPr>
        <p:spPr>
          <a:xfrm>
            <a:off x="10723105" y="40478"/>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0">
              <a:defRPr/>
            </a:pPr>
            <a:r>
              <a:rPr lang="he-IL" sz="1600" b="1" dirty="0">
                <a:solidFill>
                  <a:prstClr val="white"/>
                </a:solidFill>
              </a:rPr>
              <a:t> </a:t>
            </a:r>
            <a:r>
              <a:rPr lang="he-IL" sz="1500" b="1" dirty="0" smtClean="0">
                <a:solidFill>
                  <a:prstClr val="white"/>
                </a:solidFill>
              </a:rPr>
              <a:t>פרופיל  </a:t>
            </a:r>
            <a:r>
              <a:rPr lang="he-IL" sz="1350" b="1" dirty="0">
                <a:solidFill>
                  <a:prstClr val="white"/>
                </a:solidFill>
              </a:rPr>
              <a:t>וסל  תפקודי </a:t>
            </a:r>
            <a:r>
              <a:rPr lang="he-IL" sz="1500" b="1" dirty="0">
                <a:solidFill>
                  <a:prstClr val="white"/>
                </a:solidFill>
              </a:rPr>
              <a:t>מותאם</a:t>
            </a:r>
            <a:endParaRPr lang="he-IL" sz="1500" b="1" dirty="0">
              <a:solidFill>
                <a:prstClr val="white"/>
              </a:solidFill>
            </a:endParaRPr>
          </a:p>
        </p:txBody>
      </p:sp>
      <p:sp>
        <p:nvSpPr>
          <p:cNvPr id="23" name="מלבן 22"/>
          <p:cNvSpPr/>
          <p:nvPr/>
        </p:nvSpPr>
        <p:spPr>
          <a:xfrm>
            <a:off x="994130" y="187332"/>
            <a:ext cx="4030270" cy="369332"/>
          </a:xfrm>
          <a:prstGeom prst="rect">
            <a:avLst/>
          </a:prstGeom>
        </p:spPr>
        <p:txBody>
          <a:bodyPr wrap="none">
            <a:spAutoFit/>
          </a:bodyPr>
          <a:lstStyle/>
          <a:p>
            <a:r>
              <a:rPr lang="he-IL" b="1" dirty="0"/>
              <a:t>הסל </a:t>
            </a:r>
            <a:r>
              <a:rPr lang="he-IL" b="1" dirty="0" smtClean="0"/>
              <a:t>החדש: מותאם, מתמרץ ודוחק תלות:</a:t>
            </a:r>
            <a:endParaRPr lang="he-IL" b="1" dirty="0"/>
          </a:p>
        </p:txBody>
      </p:sp>
    </p:spTree>
    <p:extLst>
      <p:ext uri="{BB962C8B-B14F-4D97-AF65-F5344CB8AC3E}">
        <p14:creationId xmlns:p14="http://schemas.microsoft.com/office/powerpoint/2010/main" val="320958103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12" name="מלבן 11"/>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Rectangle 3">
            <a:extLst>
              <a:ext uri="{FF2B5EF4-FFF2-40B4-BE49-F238E27FC236}">
                <a16:creationId xmlns:a16="http://schemas.microsoft.com/office/drawing/2014/main" id="{D5474B0A-0AEC-40BB-BC61-4A7BF8916078}"/>
              </a:ext>
            </a:extLst>
          </p:cNvPr>
          <p:cNvSpPr/>
          <p:nvPr/>
        </p:nvSpPr>
        <p:spPr>
          <a:xfrm>
            <a:off x="0" y="5710335"/>
            <a:ext cx="12192000" cy="19478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74E81CE-5BB6-4B39-998F-DA850CF7B7B7}"/>
              </a:ext>
            </a:extLst>
          </p:cNvPr>
          <p:cNvSpPr/>
          <p:nvPr/>
        </p:nvSpPr>
        <p:spPr>
          <a:xfrm>
            <a:off x="0" y="5648431"/>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algn="ctr" rtl="1"/>
            <a:r>
              <a:rPr lang="he-IL" sz="4500" b="1" dirty="0">
                <a:solidFill>
                  <a:srgbClr val="34304F"/>
                </a:solidFill>
                <a:latin typeface="Calibri" panose="020F0502020204030204" pitchFamily="34" charset="0"/>
                <a:cs typeface="Calibri" panose="020F0502020204030204" pitchFamily="34" charset="0"/>
              </a:rPr>
              <a:t>פלטפורמה דיגיטלית להתאמה אישית של שירותים</a:t>
            </a:r>
            <a:endParaRPr lang="en-US" sz="4500" b="1" dirty="0">
              <a:solidFill>
                <a:srgbClr val="34304F"/>
              </a:solidFill>
              <a:latin typeface="Calibri" panose="020F0502020204030204" pitchFamily="34" charset="0"/>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557" y="5891945"/>
            <a:ext cx="4071435" cy="931341"/>
          </a:xfrm>
          <a:prstGeom prst="rect">
            <a:avLst/>
          </a:prstGeom>
        </p:spPr>
      </p:pic>
      <p:pic>
        <p:nvPicPr>
          <p:cNvPr id="1028" name="Picture 4" descr="מחקרים שפורסמו על ידי משרד הרווחה והביטחון החברתי | גראטוס">
            <a:extLst>
              <a:ext uri="{FF2B5EF4-FFF2-40B4-BE49-F238E27FC236}">
                <a16:creationId xmlns:a16="http://schemas.microsoft.com/office/drawing/2014/main" id="{A3038A59-2DEF-9A8D-50E0-FAC7032FB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8549" y="5851305"/>
            <a:ext cx="4210054" cy="1000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tvisor">
            <a:extLst>
              <a:ext uri="{FF2B5EF4-FFF2-40B4-BE49-F238E27FC236}">
                <a16:creationId xmlns:a16="http://schemas.microsoft.com/office/drawing/2014/main" id="{8C89414B-2483-4C74-D208-22F1457E17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71194" y="5824467"/>
            <a:ext cx="1188215" cy="118821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43281093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609" b="27099"/>
          <a:stretch>
            <a:fillRect/>
          </a:stretch>
        </p:blipFill>
        <p:spPr>
          <a:xfrm>
            <a:off x="0" y="0"/>
            <a:ext cx="12192000" cy="3592708"/>
          </a:xfrm>
          <a:custGeom>
            <a:avLst/>
            <a:gdLst>
              <a:gd name="connsiteX0" fmla="*/ 0 w 12192000"/>
              <a:gd name="connsiteY0" fmla="*/ 0 h 3592708"/>
              <a:gd name="connsiteX1" fmla="*/ 12192000 w 12192000"/>
              <a:gd name="connsiteY1" fmla="*/ 0 h 3592708"/>
              <a:gd name="connsiteX2" fmla="*/ 12192000 w 12192000"/>
              <a:gd name="connsiteY2" fmla="*/ 3592708 h 3592708"/>
              <a:gd name="connsiteX3" fmla="*/ 12031162 w 12192000"/>
              <a:gd name="connsiteY3" fmla="*/ 3565503 h 3592708"/>
              <a:gd name="connsiteX4" fmla="*/ 6096001 w 12192000"/>
              <a:gd name="connsiteY4" fmla="*/ 3321959 h 3592708"/>
              <a:gd name="connsiteX5" fmla="*/ 160840 w 12192000"/>
              <a:gd name="connsiteY5" fmla="*/ 3565503 h 3592708"/>
              <a:gd name="connsiteX6" fmla="*/ 0 w 12192000"/>
              <a:gd name="connsiteY6" fmla="*/ 3592708 h 35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592708">
                <a:moveTo>
                  <a:pt x="0" y="0"/>
                </a:moveTo>
                <a:lnTo>
                  <a:pt x="12192000" y="0"/>
                </a:lnTo>
                <a:lnTo>
                  <a:pt x="12192000" y="3592708"/>
                </a:lnTo>
                <a:lnTo>
                  <a:pt x="12031162" y="3565503"/>
                </a:lnTo>
                <a:cubicBezTo>
                  <a:pt x="11053311" y="3422383"/>
                  <a:pt x="8764098" y="3321959"/>
                  <a:pt x="6096001" y="3321959"/>
                </a:cubicBezTo>
                <a:cubicBezTo>
                  <a:pt x="3427905" y="3321959"/>
                  <a:pt x="1138691" y="3422383"/>
                  <a:pt x="160840" y="3565503"/>
                </a:cubicBezTo>
                <a:lnTo>
                  <a:pt x="0" y="3592708"/>
                </a:lnTo>
                <a:close/>
              </a:path>
            </a:pathLst>
          </a:custGeom>
        </p:spPr>
      </p:pic>
      <p:sp>
        <p:nvSpPr>
          <p:cNvPr id="20" name="Freeform 7">
            <a:extLst>
              <a:ext uri="{FF2B5EF4-FFF2-40B4-BE49-F238E27FC236}">
                <a16:creationId xmlns:a16="http://schemas.microsoft.com/office/drawing/2014/main" id="{11633DE3-36F3-4670-AEDC-D5D1429B7979}"/>
              </a:ext>
            </a:extLst>
          </p:cNvPr>
          <p:cNvSpPr/>
          <p:nvPr/>
        </p:nvSpPr>
        <p:spPr>
          <a:xfrm>
            <a:off x="0" y="0"/>
            <a:ext cx="12192000" cy="3592708"/>
          </a:xfrm>
          <a:custGeom>
            <a:avLst/>
            <a:gdLst>
              <a:gd name="connsiteX0" fmla="*/ 0 w 12192000"/>
              <a:gd name="connsiteY0" fmla="*/ 0 h 3309594"/>
              <a:gd name="connsiteX1" fmla="*/ 12192000 w 12192000"/>
              <a:gd name="connsiteY1" fmla="*/ 0 h 3309594"/>
              <a:gd name="connsiteX2" fmla="*/ 12192000 w 12192000"/>
              <a:gd name="connsiteY2" fmla="*/ 3309594 h 3309594"/>
              <a:gd name="connsiteX3" fmla="*/ 12031162 w 12192000"/>
              <a:gd name="connsiteY3" fmla="*/ 3284533 h 3309594"/>
              <a:gd name="connsiteX4" fmla="*/ 6096001 w 12192000"/>
              <a:gd name="connsiteY4" fmla="*/ 3060181 h 3309594"/>
              <a:gd name="connsiteX5" fmla="*/ 160840 w 12192000"/>
              <a:gd name="connsiteY5" fmla="*/ 3284533 h 3309594"/>
              <a:gd name="connsiteX6" fmla="*/ 0 w 12192000"/>
              <a:gd name="connsiteY6" fmla="*/ 3309594 h 33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09594">
                <a:moveTo>
                  <a:pt x="0" y="0"/>
                </a:moveTo>
                <a:lnTo>
                  <a:pt x="12192000" y="0"/>
                </a:lnTo>
                <a:lnTo>
                  <a:pt x="12192000" y="3309594"/>
                </a:lnTo>
                <a:lnTo>
                  <a:pt x="12031162" y="3284533"/>
                </a:lnTo>
                <a:cubicBezTo>
                  <a:pt x="11053311" y="3152691"/>
                  <a:pt x="8764098" y="3060181"/>
                  <a:pt x="6096001" y="3060181"/>
                </a:cubicBezTo>
                <a:cubicBezTo>
                  <a:pt x="3427905" y="3060181"/>
                  <a:pt x="1138691" y="3152691"/>
                  <a:pt x="160840" y="3284533"/>
                </a:cubicBezTo>
                <a:lnTo>
                  <a:pt x="0" y="3309594"/>
                </a:lnTo>
                <a:close/>
              </a:path>
            </a:pathLst>
          </a:custGeom>
          <a:solidFill>
            <a:srgbClr val="1F1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C773E972-0CD9-471D-B81F-042C0654673E}"/>
              </a:ext>
            </a:extLst>
          </p:cNvPr>
          <p:cNvSpPr/>
          <p:nvPr/>
        </p:nvSpPr>
        <p:spPr>
          <a:xfrm rot="16200000">
            <a:off x="5458443" y="-2778858"/>
            <a:ext cx="1275114" cy="12192000"/>
          </a:xfrm>
          <a:custGeom>
            <a:avLst/>
            <a:gdLst>
              <a:gd name="connsiteX0" fmla="*/ 734672 w 734672"/>
              <a:gd name="connsiteY0" fmla="*/ 6096001 h 12192000"/>
              <a:gd name="connsiteX1" fmla="*/ 510320 w 734672"/>
              <a:gd name="connsiteY1" fmla="*/ 12031162 h 12192000"/>
              <a:gd name="connsiteX2" fmla="*/ 485259 w 734672"/>
              <a:gd name="connsiteY2" fmla="*/ 12192000 h 12192000"/>
              <a:gd name="connsiteX3" fmla="*/ 0 w 734672"/>
              <a:gd name="connsiteY3" fmla="*/ 12192000 h 12192000"/>
              <a:gd name="connsiteX4" fmla="*/ 0 w 734672"/>
              <a:gd name="connsiteY4" fmla="*/ 0 h 12192000"/>
              <a:gd name="connsiteX5" fmla="*/ 485259 w 734672"/>
              <a:gd name="connsiteY5" fmla="*/ 0 h 12192000"/>
              <a:gd name="connsiteX6" fmla="*/ 510320 w 734672"/>
              <a:gd name="connsiteY6" fmla="*/ 160840 h 12192000"/>
              <a:gd name="connsiteX7" fmla="*/ 734672 w 734672"/>
              <a:gd name="connsiteY7" fmla="*/ 6096001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672" h="12192000">
                <a:moveTo>
                  <a:pt x="734672" y="6096001"/>
                </a:moveTo>
                <a:cubicBezTo>
                  <a:pt x="734672" y="8764097"/>
                  <a:pt x="642162" y="11053311"/>
                  <a:pt x="510320" y="12031162"/>
                </a:cubicBezTo>
                <a:lnTo>
                  <a:pt x="485259" y="12192000"/>
                </a:lnTo>
                <a:lnTo>
                  <a:pt x="0" y="12192000"/>
                </a:lnTo>
                <a:lnTo>
                  <a:pt x="0" y="0"/>
                </a:lnTo>
                <a:lnTo>
                  <a:pt x="485259" y="0"/>
                </a:lnTo>
                <a:lnTo>
                  <a:pt x="510320" y="160840"/>
                </a:lnTo>
                <a:cubicBezTo>
                  <a:pt x="642162" y="1138691"/>
                  <a:pt x="734672" y="3427905"/>
                  <a:pt x="734672" y="60960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240064B6-3696-438E-87B0-A13914A9AD16}"/>
              </a:ext>
            </a:extLst>
          </p:cNvPr>
          <p:cNvSpPr/>
          <p:nvPr/>
        </p:nvSpPr>
        <p:spPr>
          <a:xfrm>
            <a:off x="2250831" y="2957021"/>
            <a:ext cx="9274447" cy="3395801"/>
          </a:xfrm>
          <a:prstGeom prst="rect">
            <a:avLst/>
          </a:prstGeom>
        </p:spPr>
        <p:txBody>
          <a:bodyPr wrap="square">
            <a:spAutoFit/>
          </a:bodyPr>
          <a:lstStyle/>
          <a:p>
            <a:pPr algn="r" rtl="1">
              <a:spcAft>
                <a:spcPts val="1200"/>
              </a:spcAft>
            </a:pPr>
            <a:r>
              <a:rPr lang="he-IL" sz="2100" b="1" spc="-5" dirty="0">
                <a:latin typeface="Calibri" panose="020F0502020204030204" pitchFamily="34" charset="0"/>
                <a:cs typeface="Calibri" panose="020F0502020204030204" pitchFamily="34" charset="0"/>
              </a:rPr>
              <a:t>התאמה אישית של שירותים להזדקנות מיטבית דרך: </a:t>
            </a:r>
            <a:endParaRPr lang="he-IL" sz="2100" b="1" spc="-5" dirty="0" smtClean="0">
              <a:latin typeface="Calibri" panose="020F0502020204030204" pitchFamily="34" charset="0"/>
              <a:cs typeface="Calibri" panose="020F0502020204030204" pitchFamily="34" charset="0"/>
            </a:endParaRPr>
          </a:p>
          <a:p>
            <a:pPr marL="342900" indent="-342900" algn="r" rtl="1">
              <a:spcAft>
                <a:spcPts val="1200"/>
              </a:spcAft>
              <a:buFont typeface="Arial" panose="020B0604020202020204" pitchFamily="34" charset="0"/>
              <a:buChar char="•"/>
            </a:pPr>
            <a:r>
              <a:rPr lang="he-IL" sz="2100" b="1" spc="-5" dirty="0" smtClean="0">
                <a:latin typeface="Calibri" panose="020F0502020204030204" pitchFamily="34" charset="0"/>
                <a:cs typeface="Calibri" panose="020F0502020204030204" pitchFamily="34" charset="0"/>
              </a:rPr>
              <a:t>בניית </a:t>
            </a:r>
            <a:r>
              <a:rPr lang="he-IL" sz="2100" b="1" spc="-5" dirty="0">
                <a:latin typeface="Calibri" panose="020F0502020204030204" pitchFamily="34" charset="0"/>
                <a:cs typeface="Calibri" panose="020F0502020204030204" pitchFamily="34" charset="0"/>
              </a:rPr>
              <a:t>תכנית אישית מבוססת נתונים, זקנה פעילה ומניעת התדרדרות </a:t>
            </a:r>
          </a:p>
          <a:p>
            <a:pPr marL="342900" indent="-342900" algn="r" rtl="1">
              <a:spcAft>
                <a:spcPts val="12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a:t>
            </a:r>
            <a:r>
              <a:rPr lang="he-IL" sz="2100" spc="-5" dirty="0">
                <a:latin typeface="Calibri" panose="020F0502020204030204" pitchFamily="34" charset="0"/>
                <a:cs typeface="Calibri" panose="020F0502020204030204" pitchFamily="34" charset="0"/>
              </a:rPr>
              <a:t>– </a:t>
            </a:r>
            <a:r>
              <a:rPr lang="he-IL" sz="2100" spc="-5" dirty="0" smtClean="0">
                <a:latin typeface="Calibri" panose="020F0502020204030204" pitchFamily="34" charset="0"/>
                <a:cs typeface="Calibri" panose="020F0502020204030204" pitchFamily="34" charset="0"/>
              </a:rPr>
              <a:t>הלקוח במרכז, קבלת </a:t>
            </a:r>
            <a:r>
              <a:rPr lang="he-IL" sz="2100" spc="-5" dirty="0">
                <a:latin typeface="Calibri" panose="020F0502020204030204" pitchFamily="34" charset="0"/>
                <a:cs typeface="Calibri" panose="020F0502020204030204" pitchFamily="34" charset="0"/>
              </a:rPr>
              <a:t>החלטה על בחירת שירות בהתבסס על נתונים- חוויות אישיות של משתמשים (</a:t>
            </a:r>
            <a:r>
              <a:rPr lang="en-US" sz="2100" spc="-5" dirty="0">
                <a:latin typeface="Calibri" panose="020F0502020204030204" pitchFamily="34" charset="0"/>
                <a:cs typeface="Calibri" panose="020F0502020204030204" pitchFamily="34" charset="0"/>
              </a:rPr>
              <a:t>Lived experiences</a:t>
            </a:r>
            <a:r>
              <a:rPr lang="he-IL" sz="2100" spc="-5" dirty="0">
                <a:latin typeface="Calibri" panose="020F0502020204030204" pitchFamily="34" charset="0"/>
                <a:cs typeface="Calibri" panose="020F0502020204030204" pitchFamily="34" charset="0"/>
              </a:rPr>
              <a:t>) בשילוב עם שירות התאמה וייעוץ מקצועי.</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פתיחת השוק </a:t>
            </a:r>
            <a:r>
              <a:rPr lang="he-IL" sz="2100" spc="-5" dirty="0">
                <a:latin typeface="Calibri" panose="020F0502020204030204" pitchFamily="34" charset="0"/>
                <a:cs typeface="Calibri" panose="020F0502020204030204" pitchFamily="34" charset="0"/>
              </a:rPr>
              <a:t>– </a:t>
            </a:r>
            <a:r>
              <a:rPr lang="he-IL" sz="2100" spc="-5" dirty="0" smtClean="0">
                <a:latin typeface="Calibri" panose="020F0502020204030204" pitchFamily="34" charset="0"/>
                <a:cs typeface="Calibri" panose="020F0502020204030204" pitchFamily="34" charset="0"/>
              </a:rPr>
              <a:t>מול חברות הסיעוד יפתח </a:t>
            </a:r>
            <a:r>
              <a:rPr lang="he-IL" sz="2100" spc="-5" dirty="0" smtClean="0">
                <a:latin typeface="Calibri" panose="020F0502020204030204" pitchFamily="34" charset="0"/>
                <a:cs typeface="Calibri" panose="020F0502020204030204" pitchFamily="34" charset="0"/>
              </a:rPr>
              <a:t>היצע </a:t>
            </a:r>
            <a:r>
              <a:rPr lang="he-IL" sz="2100" spc="-5" dirty="0">
                <a:latin typeface="Calibri" panose="020F0502020204030204" pitchFamily="34" charset="0"/>
                <a:cs typeface="Calibri" panose="020F0502020204030204" pitchFamily="34" charset="0"/>
              </a:rPr>
              <a:t>רחב היקף של שירותים אשר עוצבו ייחודית עבור אזרחים ותיקים לצד שירותים מהשוק הפתוח</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דיגיטציה</a:t>
            </a:r>
            <a:r>
              <a:rPr lang="he-IL" sz="2100" spc="-5" dirty="0">
                <a:latin typeface="Calibri" panose="020F0502020204030204" pitchFamily="34" charset="0"/>
                <a:cs typeface="Calibri" panose="020F0502020204030204" pitchFamily="34" charset="0"/>
              </a:rPr>
              <a:t> – שירות דיגיטלי ואנושי משולב לייעול תהליך ההתאמה והרכש. מאפשר שילוב של מנגנוני סבסוד ותקצוב אישי.  </a:t>
            </a:r>
            <a:endParaRPr lang="en-US" sz="2100" spc="-5" dirty="0">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5DCA733B-9C47-4447-A6DC-AFEC49B53836}"/>
              </a:ext>
            </a:extLst>
          </p:cNvPr>
          <p:cNvSpPr/>
          <p:nvPr/>
        </p:nvSpPr>
        <p:spPr>
          <a:xfrm>
            <a:off x="3813717" y="93706"/>
            <a:ext cx="4294528" cy="1323439"/>
          </a:xfrm>
          <a:prstGeom prst="rect">
            <a:avLst/>
          </a:prstGeom>
        </p:spPr>
        <p:txBody>
          <a:bodyPr wrap="square" anchor="ctr">
            <a:spAutoFit/>
          </a:bodyPr>
          <a:lstStyle/>
          <a:p>
            <a:pPr algn="ctr"/>
            <a:r>
              <a:rPr lang="he-IL" sz="4000" b="1" dirty="0" smtClean="0">
                <a:solidFill>
                  <a:schemeClr val="bg1"/>
                </a:solidFill>
                <a:latin typeface="Calibri" panose="020F0502020204030204" pitchFamily="34" charset="0"/>
                <a:cs typeface="Calibri" panose="020F0502020204030204" pitchFamily="34" charset="0"/>
              </a:rPr>
              <a:t>סל מותאם אישית לאזרח הוותיק</a:t>
            </a:r>
            <a:endParaRPr lang="en-US" sz="4000" b="1" dirty="0">
              <a:solidFill>
                <a:schemeClr val="bg1"/>
              </a:solidFill>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A9B0296B-43FE-42D8-BD17-1C6AF3D7396C}"/>
              </a:ext>
            </a:extLst>
          </p:cNvPr>
          <p:cNvGrpSpPr/>
          <p:nvPr/>
        </p:nvGrpSpPr>
        <p:grpSpPr>
          <a:xfrm>
            <a:off x="5662188" y="2183163"/>
            <a:ext cx="830768" cy="830768"/>
            <a:chOff x="5680615" y="3375472"/>
            <a:chExt cx="830768" cy="830768"/>
          </a:xfrm>
        </p:grpSpPr>
        <p:sp>
          <p:nvSpPr>
            <p:cNvPr id="24" name="Oval 23">
              <a:extLst>
                <a:ext uri="{FF2B5EF4-FFF2-40B4-BE49-F238E27FC236}">
                  <a16:creationId xmlns:a16="http://schemas.microsoft.com/office/drawing/2014/main" id="{110C3C57-F28A-446E-BBC5-EEAAA1A3CE78}"/>
                </a:ext>
              </a:extLst>
            </p:cNvPr>
            <p:cNvSpPr/>
            <p:nvPr/>
          </p:nvSpPr>
          <p:spPr>
            <a:xfrm>
              <a:off x="5680615" y="3375472"/>
              <a:ext cx="830768" cy="830768"/>
            </a:xfrm>
            <a:prstGeom prst="ellipse">
              <a:avLst/>
            </a:prstGeom>
            <a:solidFill>
              <a:srgbClr val="5EC5C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5865876" y="3530172"/>
              <a:ext cx="457200" cy="457200"/>
            </a:xfrm>
            <a:prstGeom prst="rect">
              <a:avLst/>
            </a:prstGeom>
          </p:spPr>
        </p:pic>
      </p:grpSp>
      <p:sp>
        <p:nvSpPr>
          <p:cNvPr id="10" name="TextBox 9"/>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14456863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מלבן 19"/>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9" name="Oval 48">
            <a:extLst>
              <a:ext uri="{FF2B5EF4-FFF2-40B4-BE49-F238E27FC236}">
                <a16:creationId xmlns:a16="http://schemas.microsoft.com/office/drawing/2014/main" id="{4DF9634B-67A4-49F0-9969-8E79441EAEEF}"/>
              </a:ext>
            </a:extLst>
          </p:cNvPr>
          <p:cNvSpPr/>
          <p:nvPr/>
        </p:nvSpPr>
        <p:spPr>
          <a:xfrm>
            <a:off x="749334" y="1585046"/>
            <a:ext cx="4922776" cy="4860395"/>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rcRect l="17108" r="17108"/>
          <a:stretch>
            <a:fillRect/>
          </a:stretch>
        </p:blipFill>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p:spPr>
      </p:pic>
      <p:sp>
        <p:nvSpPr>
          <p:cNvPr id="43" name="Freeform 42"/>
          <p:cNvSpPr/>
          <p:nvPr/>
        </p:nvSpPr>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pPr algn="ctr"/>
            <a:r>
              <a:rPr lang="he-IL" dirty="0">
                <a:latin typeface="Calibri" panose="020F0502020204030204" pitchFamily="34" charset="0"/>
                <a:cs typeface="Calibri" panose="020F0502020204030204" pitchFamily="34" charset="0"/>
              </a:rPr>
              <a:t>אטוייזור על קצה המזלג</a:t>
            </a:r>
            <a:endParaRPr lang="en-US" dirty="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5D715D4-8FF3-45BB-AB14-A03823BBCEF0}"/>
              </a:ext>
            </a:extLst>
          </p:cNvPr>
          <p:cNvSpPr/>
          <p:nvPr/>
        </p:nvSpPr>
        <p:spPr>
          <a:xfrm>
            <a:off x="6900322" y="777569"/>
            <a:ext cx="4951342" cy="5302862"/>
          </a:xfrm>
          <a:prstGeom prst="rect">
            <a:avLst/>
          </a:prstGeom>
        </p:spPr>
        <p:txBody>
          <a:bodyPr wrap="square">
            <a:spAutoFit/>
          </a:bodyPr>
          <a:lstStyle/>
          <a:p>
            <a:pPr algn="r" rtl="1">
              <a:lnSpc>
                <a:spcPct val="150000"/>
              </a:lnSpc>
              <a:spcAft>
                <a:spcPts val="1800"/>
              </a:spcAft>
              <a:buClr>
                <a:srgbClr val="012470"/>
              </a:buClr>
            </a:pPr>
            <a:endParaRPr lang="he-IL" sz="2200" dirty="0">
              <a:latin typeface="Calibri" panose="020F0502020204030204" pitchFamily="34" charset="0"/>
              <a:cs typeface="Calibri" panose="020F0502020204030204" pitchFamily="34" charset="0"/>
            </a:endParaRP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הטכנולוגיה של אטוייזור מאפשרת חיבור בין האדם – צרכיו, העדפותיו ויעדיו האישיים לבין טכנולוגיות ושירותים המתאימים לו.</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הפלטפורמה מבוססת </a:t>
            </a:r>
            <a:r>
              <a:rPr lang="en-US" sz="2200" dirty="0">
                <a:latin typeface="Calibri" panose="020F0502020204030204" pitchFamily="34" charset="0"/>
                <a:cs typeface="Calibri" panose="020F0502020204030204" pitchFamily="34" charset="0"/>
              </a:rPr>
              <a:t>ICF</a:t>
            </a:r>
            <a:r>
              <a:rPr lang="he-IL" sz="2200" dirty="0">
                <a:latin typeface="Calibri" panose="020F0502020204030204" pitchFamily="34" charset="0"/>
                <a:cs typeface="Calibri" panose="020F0502020204030204" pitchFamily="34" charset="0"/>
              </a:rPr>
              <a:t> ובנויה לפי עקרונות של שירות מוכוון אדם. </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כוללת אפשרויות ייעוץ והתאמה, רכישה וסבסוד וכן תמיכה ושירות לקוחות אנושי, כדי לאפשר שירות מיטבי ומותאם ללקוח.</a:t>
            </a:r>
            <a:endParaRPr lang="en-US" sz="2200"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CC43C2CF-3BBA-4BD2-B778-7B766FE6B284}"/>
              </a:ext>
            </a:extLst>
          </p:cNvPr>
          <p:cNvSpPr/>
          <p:nvPr/>
        </p:nvSpPr>
        <p:spPr>
          <a:xfrm>
            <a:off x="1506033" y="1498111"/>
            <a:ext cx="188894" cy="188894"/>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B7FF5F2-EDA0-44FE-8B13-29FBF5CA90DA}"/>
              </a:ext>
            </a:extLst>
          </p:cNvPr>
          <p:cNvGrpSpPr>
            <a:grpSpLocks noChangeAspect="1"/>
          </p:cNvGrpSpPr>
          <p:nvPr/>
        </p:nvGrpSpPr>
        <p:grpSpPr>
          <a:xfrm>
            <a:off x="1286177" y="3837857"/>
            <a:ext cx="742062" cy="728464"/>
            <a:chOff x="364098" y="2811949"/>
            <a:chExt cx="731520" cy="718114"/>
          </a:xfrm>
        </p:grpSpPr>
        <p:sp>
          <p:nvSpPr>
            <p:cNvPr id="40" name="Flowchart: Connector 39">
              <a:extLst>
                <a:ext uri="{FF2B5EF4-FFF2-40B4-BE49-F238E27FC236}">
                  <a16:creationId xmlns:a16="http://schemas.microsoft.com/office/drawing/2014/main" id="{AC1556C1-DD66-4199-8A14-65941D7DB5BD}"/>
                </a:ext>
              </a:extLst>
            </p:cNvPr>
            <p:cNvSpPr/>
            <p:nvPr/>
          </p:nvSpPr>
          <p:spPr>
            <a:xfrm>
              <a:off x="364098" y="2829877"/>
              <a:ext cx="700186" cy="700186"/>
            </a:xfrm>
            <a:prstGeom prst="flowChartConnector">
              <a:avLst/>
            </a:prstGeom>
            <a:noFill/>
            <a:ln w="12700">
              <a:solidFill>
                <a:srgbClr val="1F1C3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Connector 40">
              <a:extLst>
                <a:ext uri="{FF2B5EF4-FFF2-40B4-BE49-F238E27FC236}">
                  <a16:creationId xmlns:a16="http://schemas.microsoft.com/office/drawing/2014/main" id="{AC05A67A-B3A8-4FC7-B044-C0B8DEADEA24}"/>
                </a:ext>
              </a:extLst>
            </p:cNvPr>
            <p:cNvSpPr/>
            <p:nvPr/>
          </p:nvSpPr>
          <p:spPr>
            <a:xfrm>
              <a:off x="451083" y="2916862"/>
              <a:ext cx="526216" cy="526216"/>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Block Arc 41">
              <a:extLst>
                <a:ext uri="{FF2B5EF4-FFF2-40B4-BE49-F238E27FC236}">
                  <a16:creationId xmlns:a16="http://schemas.microsoft.com/office/drawing/2014/main" id="{D321044E-D368-4830-87E6-7740B9DF04D0}"/>
                </a:ext>
              </a:extLst>
            </p:cNvPr>
            <p:cNvSpPr/>
            <p:nvPr/>
          </p:nvSpPr>
          <p:spPr>
            <a:xfrm>
              <a:off x="393997" y="2811949"/>
              <a:ext cx="701621" cy="701621"/>
            </a:xfrm>
            <a:prstGeom prst="blockArc">
              <a:avLst>
                <a:gd name="adj1" fmla="val 17211657"/>
                <a:gd name="adj2" fmla="val 98077"/>
                <a:gd name="adj3" fmla="val 8163"/>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0439" y="4061208"/>
            <a:ext cx="301752" cy="301752"/>
          </a:xfrm>
          <a:prstGeom prst="rect">
            <a:avLst/>
          </a:prstGeom>
        </p:spPr>
      </p:pic>
      <p:sp>
        <p:nvSpPr>
          <p:cNvPr id="34" name="Flowchart: Connector 33">
            <a:extLst>
              <a:ext uri="{FF2B5EF4-FFF2-40B4-BE49-F238E27FC236}">
                <a16:creationId xmlns:a16="http://schemas.microsoft.com/office/drawing/2014/main" id="{278518FE-8D6A-4994-8D77-3FF2713F62D2}"/>
              </a:ext>
            </a:extLst>
          </p:cNvPr>
          <p:cNvSpPr/>
          <p:nvPr/>
        </p:nvSpPr>
        <p:spPr>
          <a:xfrm>
            <a:off x="1286177" y="1292364"/>
            <a:ext cx="710276" cy="710278"/>
          </a:xfrm>
          <a:prstGeom prst="flowChartConnector">
            <a:avLst/>
          </a:prstGeom>
          <a:noFill/>
          <a:ln w="12700">
            <a:solidFill>
              <a:srgbClr val="5EC5C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lowchart: Connector 34">
            <a:extLst>
              <a:ext uri="{FF2B5EF4-FFF2-40B4-BE49-F238E27FC236}">
                <a16:creationId xmlns:a16="http://schemas.microsoft.com/office/drawing/2014/main" id="{E1EA04D8-86A4-4297-9CC8-10ECCD30AC71}"/>
              </a:ext>
            </a:extLst>
          </p:cNvPr>
          <p:cNvSpPr/>
          <p:nvPr/>
        </p:nvSpPr>
        <p:spPr>
          <a:xfrm>
            <a:off x="1374416" y="1380603"/>
            <a:ext cx="533799" cy="533800"/>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DA7F856F-2912-4C20-B0BE-7CC7B1C01EEC}"/>
              </a:ext>
            </a:extLst>
          </p:cNvPr>
          <p:cNvSpPr/>
          <p:nvPr/>
        </p:nvSpPr>
        <p:spPr>
          <a:xfrm>
            <a:off x="1316507" y="1274178"/>
            <a:ext cx="711732" cy="711733"/>
          </a:xfrm>
          <a:prstGeom prst="blockArc">
            <a:avLst>
              <a:gd name="adj1" fmla="val 17211657"/>
              <a:gd name="adj2" fmla="val 98077"/>
              <a:gd name="adj3" fmla="val 8163"/>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5083" y="1481585"/>
            <a:ext cx="301752" cy="301752"/>
          </a:xfrm>
          <a:prstGeom prst="rect">
            <a:avLst/>
          </a:prstGeom>
        </p:spPr>
      </p:pic>
      <p:sp>
        <p:nvSpPr>
          <p:cNvPr id="47" name="Oval 46">
            <a:extLst>
              <a:ext uri="{FF2B5EF4-FFF2-40B4-BE49-F238E27FC236}">
                <a16:creationId xmlns:a16="http://schemas.microsoft.com/office/drawing/2014/main" id="{89BA0B02-98B4-446C-BBDD-78896E3018BA}"/>
              </a:ext>
            </a:extLst>
          </p:cNvPr>
          <p:cNvSpPr/>
          <p:nvPr/>
        </p:nvSpPr>
        <p:spPr>
          <a:xfrm>
            <a:off x="656009" y="1822725"/>
            <a:ext cx="944471" cy="94447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443" t="18263" r="74820" b="13638"/>
          <a:stretch/>
        </p:blipFill>
        <p:spPr>
          <a:xfrm>
            <a:off x="903133" y="2070424"/>
            <a:ext cx="450221" cy="457200"/>
          </a:xfrm>
          <a:prstGeom prst="ellipse">
            <a:avLst/>
          </a:prstGeom>
          <a:noFill/>
          <a:ln>
            <a:noFill/>
          </a:ln>
        </p:spPr>
      </p:pic>
      <p:sp>
        <p:nvSpPr>
          <p:cNvPr id="19" name="TextBox 18"/>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2118508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56930" r="6916"/>
          <a:stretch>
            <a:fillRect/>
          </a:stretch>
        </p:blipFill>
        <p:spPr>
          <a:xfrm>
            <a:off x="8473987" y="0"/>
            <a:ext cx="3718013" cy="6858000"/>
          </a:xfrm>
          <a:custGeom>
            <a:avLst/>
            <a:gdLst>
              <a:gd name="connsiteX0" fmla="*/ 0 w 3718013"/>
              <a:gd name="connsiteY0" fmla="*/ 0 h 6858000"/>
              <a:gd name="connsiteX1" fmla="*/ 3718013 w 3718013"/>
              <a:gd name="connsiteY1" fmla="*/ 0 h 6858000"/>
              <a:gd name="connsiteX2" fmla="*/ 3718013 w 3718013"/>
              <a:gd name="connsiteY2" fmla="*/ 6858000 h 6858000"/>
              <a:gd name="connsiteX3" fmla="*/ 0 w 37180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718013" h="6858000">
                <a:moveTo>
                  <a:pt x="0" y="0"/>
                </a:moveTo>
                <a:lnTo>
                  <a:pt x="3718013" y="0"/>
                </a:lnTo>
                <a:lnTo>
                  <a:pt x="3718013" y="6858000"/>
                </a:lnTo>
                <a:lnTo>
                  <a:pt x="0" y="6858000"/>
                </a:lnTo>
                <a:close/>
              </a:path>
            </a:pathLst>
          </a:custGeom>
        </p:spPr>
      </p:pic>
      <p:sp>
        <p:nvSpPr>
          <p:cNvPr id="43" name="Rectangle 42">
            <a:extLst>
              <a:ext uri="{FF2B5EF4-FFF2-40B4-BE49-F238E27FC236}">
                <a16:creationId xmlns:a16="http://schemas.microsoft.com/office/drawing/2014/main" id="{3F82CA97-14FF-4E58-B0EF-503972342F6F}"/>
              </a:ext>
            </a:extLst>
          </p:cNvPr>
          <p:cNvSpPr/>
          <p:nvPr/>
        </p:nvSpPr>
        <p:spPr>
          <a:xfrm>
            <a:off x="8473987" y="0"/>
            <a:ext cx="3718013" cy="6858000"/>
          </a:xfrm>
          <a:prstGeom prst="rect">
            <a:avLst/>
          </a:prstGeom>
          <a:gradFill flip="none" rotWithShape="1">
            <a:gsLst>
              <a:gs pos="5000">
                <a:schemeClr val="bg1"/>
              </a:gs>
              <a:gs pos="100000">
                <a:schemeClr val="bg1">
                  <a:alpha val="88000"/>
                </a:schemeClr>
              </a:gs>
              <a:gs pos="50000">
                <a:schemeClr val="bg1">
                  <a:alpha val="9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הדגמת התאמת שירותים באמצעות הפלטפורמה</a:t>
            </a:r>
            <a:endParaRPr lang="en-US"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803E1583-2BC4-4140-8DEC-BEBBEEFAB526}"/>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Text&#10;&#10;Description automatically generated with medium confidence">
            <a:extLst>
              <a:ext uri="{FF2B5EF4-FFF2-40B4-BE49-F238E27FC236}">
                <a16:creationId xmlns:a16="http://schemas.microsoft.com/office/drawing/2014/main" id="{926FDA40-8BB1-45A3-B834-FBE844FE5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grpSp>
        <p:nvGrpSpPr>
          <p:cNvPr id="3" name="Group 2">
            <a:extLst>
              <a:ext uri="{FF2B5EF4-FFF2-40B4-BE49-F238E27FC236}">
                <a16:creationId xmlns:a16="http://schemas.microsoft.com/office/drawing/2014/main" id="{5B07773C-4B31-4231-A7C1-9910F7A17EA3}"/>
              </a:ext>
            </a:extLst>
          </p:cNvPr>
          <p:cNvGrpSpPr/>
          <p:nvPr/>
        </p:nvGrpSpPr>
        <p:grpSpPr>
          <a:xfrm>
            <a:off x="192355" y="1927365"/>
            <a:ext cx="3498891" cy="3498891"/>
            <a:chOff x="420957" y="1944465"/>
            <a:chExt cx="3498891" cy="3498891"/>
          </a:xfrm>
        </p:grpSpPr>
        <p:grpSp>
          <p:nvGrpSpPr>
            <p:cNvPr id="4" name="Group 3">
              <a:extLst>
                <a:ext uri="{FF2B5EF4-FFF2-40B4-BE49-F238E27FC236}">
                  <a16:creationId xmlns:a16="http://schemas.microsoft.com/office/drawing/2014/main" id="{730DAACB-BAD1-4321-AF25-E0DBD8D678C8}"/>
                </a:ext>
              </a:extLst>
            </p:cNvPr>
            <p:cNvGrpSpPr/>
            <p:nvPr/>
          </p:nvGrpSpPr>
          <p:grpSpPr>
            <a:xfrm>
              <a:off x="420957" y="1944465"/>
              <a:ext cx="3498891" cy="3498891"/>
              <a:chOff x="420957" y="1944465"/>
              <a:chExt cx="3498891" cy="3498891"/>
            </a:xfrm>
          </p:grpSpPr>
          <p:sp>
            <p:nvSpPr>
              <p:cNvPr id="7" name="Rounded Rectangle 2">
                <a:extLst>
                  <a:ext uri="{FF2B5EF4-FFF2-40B4-BE49-F238E27FC236}">
                    <a16:creationId xmlns:a16="http://schemas.microsoft.com/office/drawing/2014/main" id="{F4674285-406B-4E3F-84D3-1CB6AFB2D74D}"/>
                  </a:ext>
                </a:extLst>
              </p:cNvPr>
              <p:cNvSpPr/>
              <p:nvPr/>
            </p:nvSpPr>
            <p:spPr>
              <a:xfrm>
                <a:off x="2176594" y="1944465"/>
                <a:ext cx="113211" cy="3498891"/>
              </a:xfrm>
              <a:prstGeom prst="roundRect">
                <a:avLst>
                  <a:gd name="adj" fmla="val 5000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 name="Arc 8">
                <a:extLst>
                  <a:ext uri="{FF2B5EF4-FFF2-40B4-BE49-F238E27FC236}">
                    <a16:creationId xmlns:a16="http://schemas.microsoft.com/office/drawing/2014/main" id="{4787E382-3CCF-486E-852A-3F5144DC7083}"/>
                  </a:ext>
                </a:extLst>
              </p:cNvPr>
              <p:cNvSpPr/>
              <p:nvPr/>
            </p:nvSpPr>
            <p:spPr>
              <a:xfrm>
                <a:off x="420957" y="1944465"/>
                <a:ext cx="3498891" cy="3498891"/>
              </a:xfrm>
              <a:prstGeom prst="arc">
                <a:avLst>
                  <a:gd name="adj1" fmla="val 16327491"/>
                  <a:gd name="adj2" fmla="val 5239750"/>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grpSp>
        <p:sp>
          <p:nvSpPr>
            <p:cNvPr id="5" name="Rounded Rectangle 3">
              <a:extLst>
                <a:ext uri="{FF2B5EF4-FFF2-40B4-BE49-F238E27FC236}">
                  <a16:creationId xmlns:a16="http://schemas.microsoft.com/office/drawing/2014/main" id="{FEA8F177-C5BF-4895-AC25-28555BF5FA09}"/>
                </a:ext>
              </a:extLst>
            </p:cNvPr>
            <p:cNvSpPr/>
            <p:nvPr/>
          </p:nvSpPr>
          <p:spPr>
            <a:xfrm>
              <a:off x="2237531" y="5035044"/>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ounded Rectangle 4">
              <a:extLst>
                <a:ext uri="{FF2B5EF4-FFF2-40B4-BE49-F238E27FC236}">
                  <a16:creationId xmlns:a16="http://schemas.microsoft.com/office/drawing/2014/main" id="{D2C54C6A-9F66-440A-9268-50BB7E0C86EA}"/>
                </a:ext>
              </a:extLst>
            </p:cNvPr>
            <p:cNvSpPr/>
            <p:nvPr/>
          </p:nvSpPr>
          <p:spPr>
            <a:xfrm>
              <a:off x="2259312" y="1963515"/>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10" name="Group 9">
            <a:extLst>
              <a:ext uri="{FF2B5EF4-FFF2-40B4-BE49-F238E27FC236}">
                <a16:creationId xmlns:a16="http://schemas.microsoft.com/office/drawing/2014/main" id="{398F5A3C-96BA-499A-9FD3-31EC76AF3C6B}"/>
              </a:ext>
            </a:extLst>
          </p:cNvPr>
          <p:cNvGrpSpPr/>
          <p:nvPr/>
        </p:nvGrpSpPr>
        <p:grpSpPr>
          <a:xfrm>
            <a:off x="465706" y="2200716"/>
            <a:ext cx="2952189" cy="2952189"/>
            <a:chOff x="694308" y="2217816"/>
            <a:chExt cx="2952189" cy="2952189"/>
          </a:xfrm>
        </p:grpSpPr>
        <p:sp>
          <p:nvSpPr>
            <p:cNvPr id="11" name="Oval 10">
              <a:extLst>
                <a:ext uri="{FF2B5EF4-FFF2-40B4-BE49-F238E27FC236}">
                  <a16:creationId xmlns:a16="http://schemas.microsoft.com/office/drawing/2014/main" id="{E7468125-158C-440E-9FAB-E0BC765FC31F}"/>
                </a:ext>
              </a:extLst>
            </p:cNvPr>
            <p:cNvSpPr/>
            <p:nvPr/>
          </p:nvSpPr>
          <p:spPr>
            <a:xfrm>
              <a:off x="694308" y="2217816"/>
              <a:ext cx="2952189" cy="2952189"/>
            </a:xfrm>
            <a:prstGeom prst="ellipse">
              <a:avLst/>
            </a:prstGeom>
            <a:gradFill flip="none" rotWithShape="1">
              <a:gsLst>
                <a:gs pos="50000">
                  <a:srgbClr val="1F1C30"/>
                </a:gs>
                <a:gs pos="0">
                  <a:srgbClr val="5EC5C5"/>
                </a:gs>
                <a:gs pos="96000">
                  <a:srgbClr val="E75258"/>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B05C4E53-F76E-416E-A8A0-412A14B5754F}"/>
                </a:ext>
              </a:extLst>
            </p:cNvPr>
            <p:cNvSpPr/>
            <p:nvPr/>
          </p:nvSpPr>
          <p:spPr>
            <a:xfrm>
              <a:off x="912988" y="2436496"/>
              <a:ext cx="2514828" cy="25148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219EC81-48A9-4DA4-A0EA-F0EB4C928EEA}"/>
                </a:ext>
              </a:extLst>
            </p:cNvPr>
            <p:cNvSpPr/>
            <p:nvPr/>
          </p:nvSpPr>
          <p:spPr>
            <a:xfrm>
              <a:off x="989527" y="2513035"/>
              <a:ext cx="2361751" cy="2361751"/>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5" name="Rectangle 14">
            <a:extLst>
              <a:ext uri="{FF2B5EF4-FFF2-40B4-BE49-F238E27FC236}">
                <a16:creationId xmlns:a16="http://schemas.microsoft.com/office/drawing/2014/main" id="{52B2A234-9036-49F0-979C-0D87B9E6852A}"/>
              </a:ext>
            </a:extLst>
          </p:cNvPr>
          <p:cNvSpPr/>
          <p:nvPr/>
        </p:nvSpPr>
        <p:spPr>
          <a:xfrm>
            <a:off x="5720419" y="2882686"/>
            <a:ext cx="5637545" cy="1716111"/>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30 שירותים מופו עבור אוכלוסיות עם מוגבלויות בתחום הקוגניטיבי, פיזי, חושי, רגשי – </a:t>
            </a:r>
            <a:r>
              <a:rPr lang="he-IL" sz="1600" b="1" dirty="0">
                <a:latin typeface="Calibri" panose="020F0502020204030204" pitchFamily="34" charset="0"/>
                <a:cs typeface="Calibri" panose="020F0502020204030204" pitchFamily="34" charset="0"/>
              </a:rPr>
              <a:t>דגש על תפקוד ולא על אבחנה, על יעד אישי ולא על רשימה סגורה, על תהליך של בחירה ולא על מודל של "מרשם" וכן על שילוב בין שוק חופשי לשוק ייעודי של שירותים</a:t>
            </a:r>
            <a:endParaRPr lang="en-US" sz="2000" b="1"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21A9CF6-EEFD-467C-A48C-BD4A8A890DD1}"/>
              </a:ext>
            </a:extLst>
          </p:cNvPr>
          <p:cNvSpPr/>
          <p:nvPr/>
        </p:nvSpPr>
        <p:spPr>
          <a:xfrm>
            <a:off x="5260495" y="1214468"/>
            <a:ext cx="4566496" cy="1623778"/>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תחום הפנאי כולל שישה תתי תחומים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פעילות גופנית, זוגיות והיכרויות, מפגשים חברתיים, חוגים וקורסים, פעילות בארגונים חברתיים, תרבות ואומנות – מתאים ל- </a:t>
            </a:r>
            <a:r>
              <a:rPr lang="en-US" sz="1600" dirty="0">
                <a:latin typeface="Calibri" panose="020F0502020204030204" pitchFamily="34" charset="0"/>
                <a:cs typeface="Calibri" panose="020F0502020204030204" pitchFamily="34" charset="0"/>
              </a:rPr>
              <a:t>ICF</a:t>
            </a:r>
            <a:endParaRPr lang="he-IL" sz="1600" dirty="0">
              <a:latin typeface="Calibri" panose="020F0502020204030204" pitchFamily="34" charset="0"/>
              <a:cs typeface="Calibri" panose="020F0502020204030204" pitchFamily="34" charset="0"/>
            </a:endParaRPr>
          </a:p>
          <a:p>
            <a:pPr algn="r" rtl="1">
              <a:lnSpc>
                <a:spcPct val="150000"/>
              </a:lnSpc>
            </a:pPr>
            <a:r>
              <a:rPr lang="he-IL"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40D9F155-9CBD-4516-A996-3B9C415DF2CF}"/>
              </a:ext>
            </a:extLst>
          </p:cNvPr>
          <p:cNvSpPr/>
          <p:nvPr/>
        </p:nvSpPr>
        <p:spPr>
          <a:xfrm>
            <a:off x="5260495" y="5252422"/>
            <a:ext cx="5077823" cy="967957"/>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הדגמה של </a:t>
            </a:r>
            <a:r>
              <a:rPr lang="he-IL" sz="2000" b="1" dirty="0" smtClean="0">
                <a:latin typeface="Calibri" panose="020F0502020204030204" pitchFamily="34" charset="0"/>
                <a:cs typeface="Calibri" panose="020F0502020204030204" pitchFamily="34" charset="0"/>
              </a:rPr>
              <a:t>תיאורי </a:t>
            </a:r>
            <a:r>
              <a:rPr lang="he-IL" sz="2000" b="1" dirty="0">
                <a:latin typeface="Calibri" panose="020F0502020204030204" pitchFamily="34" charset="0"/>
                <a:cs typeface="Calibri" panose="020F0502020204030204" pitchFamily="34" charset="0"/>
              </a:rPr>
              <a:t>מקרה – מאפייני האדם, יעדיו והשירותים שהומלצו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כבסיס להמשך פיתוח</a:t>
            </a:r>
            <a:endParaRPr lang="en-US" sz="1600"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47A953EC-A73A-4837-8B7D-E81CF94EB5E6}"/>
              </a:ext>
            </a:extLst>
          </p:cNvPr>
          <p:cNvGrpSpPr/>
          <p:nvPr/>
        </p:nvGrpSpPr>
        <p:grpSpPr>
          <a:xfrm>
            <a:off x="2841338" y="1265802"/>
            <a:ext cx="2273669" cy="1032790"/>
            <a:chOff x="3069940" y="1282902"/>
            <a:chExt cx="2273669" cy="1032790"/>
          </a:xfrm>
        </p:grpSpPr>
        <p:sp>
          <p:nvSpPr>
            <p:cNvPr id="19" name="Oval 18">
              <a:extLst>
                <a:ext uri="{FF2B5EF4-FFF2-40B4-BE49-F238E27FC236}">
                  <a16:creationId xmlns:a16="http://schemas.microsoft.com/office/drawing/2014/main" id="{2B6B2DBA-5400-4265-B8EB-B62053DB8091}"/>
                </a:ext>
              </a:extLst>
            </p:cNvPr>
            <p:cNvSpPr/>
            <p:nvPr/>
          </p:nvSpPr>
          <p:spPr>
            <a:xfrm>
              <a:off x="3069940" y="2151681"/>
              <a:ext cx="164010" cy="164011"/>
            </a:xfrm>
            <a:prstGeom prst="ellipse">
              <a:avLst/>
            </a:prstGeom>
            <a:solidFill>
              <a:schemeClr val="bg1"/>
            </a:solidFill>
            <a:ln w="19050">
              <a:solidFill>
                <a:srgbClr val="5EC5C5"/>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AB04A4C-869D-4228-845D-3A27FE867D14}"/>
                </a:ext>
              </a:extLst>
            </p:cNvPr>
            <p:cNvSpPr/>
            <p:nvPr/>
          </p:nvSpPr>
          <p:spPr>
            <a:xfrm>
              <a:off x="3107771" y="2189223"/>
              <a:ext cx="87472" cy="87472"/>
            </a:xfrm>
            <a:prstGeom prst="ellipse">
              <a:avLst/>
            </a:prstGeom>
            <a:solidFill>
              <a:srgbClr val="5EC5C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1" name="Straight Connector 20">
              <a:extLst>
                <a:ext uri="{FF2B5EF4-FFF2-40B4-BE49-F238E27FC236}">
                  <a16:creationId xmlns:a16="http://schemas.microsoft.com/office/drawing/2014/main" id="{51F5A4F5-1E2E-428F-8322-03857EF48F7F}"/>
                </a:ext>
              </a:extLst>
            </p:cNvPr>
            <p:cNvCxnSpPr>
              <a:stCxn id="19" idx="7"/>
            </p:cNvCxnSpPr>
            <p:nvPr/>
          </p:nvCxnSpPr>
          <p:spPr>
            <a:xfrm flipV="1">
              <a:off x="3209932" y="1694821"/>
              <a:ext cx="448349" cy="480879"/>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98190C-5D6B-46D1-93A6-18A118B82C7E}"/>
                </a:ext>
              </a:extLst>
            </p:cNvPr>
            <p:cNvCxnSpPr/>
            <p:nvPr/>
          </p:nvCxnSpPr>
          <p:spPr>
            <a:xfrm flipV="1">
              <a:off x="3650767" y="1693196"/>
              <a:ext cx="923932"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DCF88A06-0490-4483-9F28-6DFB9663FD37}"/>
                </a:ext>
              </a:extLst>
            </p:cNvPr>
            <p:cNvSpPr/>
            <p:nvPr/>
          </p:nvSpPr>
          <p:spPr>
            <a:xfrm>
              <a:off x="4578227" y="1282902"/>
              <a:ext cx="765382" cy="765382"/>
            </a:xfrm>
            <a:prstGeom prst="ellipse">
              <a:avLst/>
            </a:prstGeom>
            <a:solidFill>
              <a:srgbClr val="5E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 name="Oval 23">
              <a:extLst>
                <a:ext uri="{FF2B5EF4-FFF2-40B4-BE49-F238E27FC236}">
                  <a16:creationId xmlns:a16="http://schemas.microsoft.com/office/drawing/2014/main" id="{00F4524A-AF09-4B67-A9BF-778386C23D32}"/>
                </a:ext>
              </a:extLst>
            </p:cNvPr>
            <p:cNvSpPr/>
            <p:nvPr/>
          </p:nvSpPr>
          <p:spPr>
            <a:xfrm>
              <a:off x="4655274" y="1360566"/>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0680636D-5D70-43C6-8E73-F8FCE864939D}"/>
              </a:ext>
            </a:extLst>
          </p:cNvPr>
          <p:cNvGrpSpPr/>
          <p:nvPr/>
        </p:nvGrpSpPr>
        <p:grpSpPr>
          <a:xfrm>
            <a:off x="2841338" y="5048007"/>
            <a:ext cx="2266155" cy="1005493"/>
            <a:chOff x="3069940" y="5065107"/>
            <a:chExt cx="2266155" cy="1005493"/>
          </a:xfrm>
        </p:grpSpPr>
        <p:sp>
          <p:nvSpPr>
            <p:cNvPr id="27" name="Oval 26">
              <a:extLst>
                <a:ext uri="{FF2B5EF4-FFF2-40B4-BE49-F238E27FC236}">
                  <a16:creationId xmlns:a16="http://schemas.microsoft.com/office/drawing/2014/main" id="{362E0763-7423-49E1-871F-443DC25B065A}"/>
                </a:ext>
              </a:extLst>
            </p:cNvPr>
            <p:cNvSpPr/>
            <p:nvPr/>
          </p:nvSpPr>
          <p:spPr>
            <a:xfrm>
              <a:off x="3069940" y="5065107"/>
              <a:ext cx="164010" cy="164011"/>
            </a:xfrm>
            <a:prstGeom prst="ellipse">
              <a:avLst/>
            </a:prstGeom>
            <a:solidFill>
              <a:schemeClr val="bg1"/>
            </a:solidFill>
            <a:ln w="19050">
              <a:solidFill>
                <a:srgbClr val="E75258"/>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8" name="Oval 27">
              <a:extLst>
                <a:ext uri="{FF2B5EF4-FFF2-40B4-BE49-F238E27FC236}">
                  <a16:creationId xmlns:a16="http://schemas.microsoft.com/office/drawing/2014/main" id="{E9245149-B1F2-4463-A52E-D9AA2EDB7D50}"/>
                </a:ext>
              </a:extLst>
            </p:cNvPr>
            <p:cNvSpPr/>
            <p:nvPr/>
          </p:nvSpPr>
          <p:spPr>
            <a:xfrm>
              <a:off x="3107771" y="5102649"/>
              <a:ext cx="87472" cy="87472"/>
            </a:xfrm>
            <a:prstGeom prst="ellipse">
              <a:avLst/>
            </a:prstGeom>
            <a:solidFill>
              <a:srgbClr val="E7525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A2BBD3F3-022D-4156-89E3-923D898EBCB9}"/>
                </a:ext>
              </a:extLst>
            </p:cNvPr>
            <p:cNvSpPr/>
            <p:nvPr/>
          </p:nvSpPr>
          <p:spPr>
            <a:xfrm>
              <a:off x="4570713" y="5305218"/>
              <a:ext cx="765382" cy="765382"/>
            </a:xfrm>
            <a:prstGeom prst="ellipse">
              <a:avLst/>
            </a:prstGeom>
            <a:solidFill>
              <a:srgbClr val="E75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0" name="Group 29">
              <a:extLst>
                <a:ext uri="{FF2B5EF4-FFF2-40B4-BE49-F238E27FC236}">
                  <a16:creationId xmlns:a16="http://schemas.microsoft.com/office/drawing/2014/main" id="{DC146DE7-7973-425A-901D-CFD121E5B94D}"/>
                </a:ext>
              </a:extLst>
            </p:cNvPr>
            <p:cNvGrpSpPr/>
            <p:nvPr/>
          </p:nvGrpSpPr>
          <p:grpSpPr>
            <a:xfrm flipV="1">
              <a:off x="3195242" y="5209163"/>
              <a:ext cx="1368510" cy="480881"/>
              <a:chOff x="2443843" y="1927662"/>
              <a:chExt cx="1144472" cy="402153"/>
            </a:xfrm>
          </p:grpSpPr>
          <p:cxnSp>
            <p:nvCxnSpPr>
              <p:cNvPr id="33" name="Straight Connector 32">
                <a:extLst>
                  <a:ext uri="{FF2B5EF4-FFF2-40B4-BE49-F238E27FC236}">
                    <a16:creationId xmlns:a16="http://schemas.microsoft.com/office/drawing/2014/main" id="{2E9996D6-3244-418B-AB60-4AC61D562F6E}"/>
                  </a:ext>
                </a:extLst>
              </p:cNvPr>
              <p:cNvCxnSpPr/>
              <p:nvPr/>
            </p:nvCxnSpPr>
            <p:spPr>
              <a:xfrm flipV="1">
                <a:off x="2443843" y="1927662"/>
                <a:ext cx="374949" cy="40215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8B1AA3-60BE-4CEF-B10D-FA4CA5036B5E}"/>
                  </a:ext>
                </a:extLst>
              </p:cNvPr>
              <p:cNvCxnSpPr/>
              <p:nvPr/>
            </p:nvCxnSpPr>
            <p:spPr>
              <a:xfrm flipV="1">
                <a:off x="2815642" y="1927676"/>
                <a:ext cx="772673"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B70BE0A4-653D-456B-B7D2-A41478FEAD1E}"/>
                </a:ext>
              </a:extLst>
            </p:cNvPr>
            <p:cNvSpPr/>
            <p:nvPr/>
          </p:nvSpPr>
          <p:spPr>
            <a:xfrm>
              <a:off x="4642966" y="5377290"/>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35" name="Group 34">
            <a:extLst>
              <a:ext uri="{FF2B5EF4-FFF2-40B4-BE49-F238E27FC236}">
                <a16:creationId xmlns:a16="http://schemas.microsoft.com/office/drawing/2014/main" id="{135BB2A7-06D6-489E-95CD-C6F59CCBC95B}"/>
              </a:ext>
            </a:extLst>
          </p:cNvPr>
          <p:cNvGrpSpPr/>
          <p:nvPr/>
        </p:nvGrpSpPr>
        <p:grpSpPr>
          <a:xfrm>
            <a:off x="3608562" y="3276045"/>
            <a:ext cx="2037955" cy="765382"/>
            <a:chOff x="3837164" y="3293145"/>
            <a:chExt cx="2037955" cy="765382"/>
          </a:xfrm>
        </p:grpSpPr>
        <p:sp>
          <p:nvSpPr>
            <p:cNvPr id="36" name="Oval 35">
              <a:extLst>
                <a:ext uri="{FF2B5EF4-FFF2-40B4-BE49-F238E27FC236}">
                  <a16:creationId xmlns:a16="http://schemas.microsoft.com/office/drawing/2014/main" id="{6E0BF039-4D39-4956-9656-2B4EF1C7BEC7}"/>
                </a:ext>
              </a:extLst>
            </p:cNvPr>
            <p:cNvSpPr/>
            <p:nvPr/>
          </p:nvSpPr>
          <p:spPr>
            <a:xfrm>
              <a:off x="5109737" y="3293145"/>
              <a:ext cx="765382" cy="765382"/>
            </a:xfrm>
            <a:prstGeom prst="ellipse">
              <a:avLst/>
            </a:prstGeom>
            <a:solidFill>
              <a:srgbClr val="1F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Straight Connector 36">
              <a:extLst>
                <a:ext uri="{FF2B5EF4-FFF2-40B4-BE49-F238E27FC236}">
                  <a16:creationId xmlns:a16="http://schemas.microsoft.com/office/drawing/2014/main" id="{8BFB5F3A-8CF7-444F-90A3-5A007508F59E}"/>
                </a:ext>
              </a:extLst>
            </p:cNvPr>
            <p:cNvCxnSpPr>
              <a:endCxn id="36" idx="2"/>
            </p:cNvCxnSpPr>
            <p:nvPr/>
          </p:nvCxnSpPr>
          <p:spPr>
            <a:xfrm>
              <a:off x="3929966" y="3675836"/>
              <a:ext cx="117977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24EC3FA5-18BE-45AB-AA4C-8A8DD78972B3}"/>
                </a:ext>
              </a:extLst>
            </p:cNvPr>
            <p:cNvSpPr/>
            <p:nvPr/>
          </p:nvSpPr>
          <p:spPr>
            <a:xfrm>
              <a:off x="3837164" y="3593831"/>
              <a:ext cx="164010" cy="164011"/>
            </a:xfrm>
            <a:prstGeom prst="ellipse">
              <a:avLst/>
            </a:prstGeom>
            <a:solidFill>
              <a:schemeClr val="bg1"/>
            </a:solidFill>
            <a:ln w="19050">
              <a:solidFill>
                <a:srgbClr val="1F1C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C08D880C-1D1A-4ECF-B4A8-63918A7D658C}"/>
                </a:ext>
              </a:extLst>
            </p:cNvPr>
            <p:cNvSpPr/>
            <p:nvPr/>
          </p:nvSpPr>
          <p:spPr>
            <a:xfrm>
              <a:off x="3875433" y="3632100"/>
              <a:ext cx="87472" cy="87472"/>
            </a:xfrm>
            <a:prstGeom prst="ellipse">
              <a:avLst/>
            </a:prstGeom>
            <a:solidFill>
              <a:srgbClr val="1F1C30"/>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758CF64-7F61-4E44-8A28-D8FE49E61826}"/>
                </a:ext>
              </a:extLst>
            </p:cNvPr>
            <p:cNvSpPr/>
            <p:nvPr/>
          </p:nvSpPr>
          <p:spPr>
            <a:xfrm>
              <a:off x="5183639" y="3367047"/>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58765" y="1469375"/>
            <a:ext cx="365760" cy="365760"/>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06946" y="3507160"/>
            <a:ext cx="301752" cy="301752"/>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0273" y="5486781"/>
            <a:ext cx="365760" cy="365760"/>
          </a:xfrm>
          <a:prstGeom prst="rect">
            <a:avLst/>
          </a:prstGeom>
        </p:spPr>
      </p:pic>
      <p:pic>
        <p:nvPicPr>
          <p:cNvPr id="56" name="Picture 55"/>
          <p:cNvPicPr>
            <a:picLocks noChangeAspect="1"/>
          </p:cNvPicPr>
          <p:nvPr/>
        </p:nvPicPr>
        <p:blipFill rotWithShape="1">
          <a:blip r:embed="rId8" cstate="print">
            <a:extLst>
              <a:ext uri="{28A0092B-C50C-407E-A947-70E740481C1C}">
                <a14:useLocalDpi xmlns:a14="http://schemas.microsoft.com/office/drawing/2010/main" val="0"/>
              </a:ext>
            </a:extLst>
          </a:blip>
          <a:srcRect l="5833" r="27293"/>
          <a:stretch/>
        </p:blipFill>
        <p:spPr>
          <a:xfrm>
            <a:off x="732780" y="2469802"/>
            <a:ext cx="2416726" cy="2414016"/>
          </a:xfrm>
          <a:prstGeom prst="ellipse">
            <a:avLst/>
          </a:prstGeom>
        </p:spPr>
      </p:pic>
      <p:sp>
        <p:nvSpPr>
          <p:cNvPr id="54" name="Freeform: Shape 47">
            <a:extLst>
              <a:ext uri="{FF2B5EF4-FFF2-40B4-BE49-F238E27FC236}">
                <a16:creationId xmlns:a16="http://schemas.microsoft.com/office/drawing/2014/main" id="{7D966CA3-E8AA-46B7-BF29-8BAE4372B264}"/>
              </a:ext>
            </a:extLst>
          </p:cNvPr>
          <p:cNvSpPr/>
          <p:nvPr/>
        </p:nvSpPr>
        <p:spPr>
          <a:xfrm>
            <a:off x="732780" y="2469802"/>
            <a:ext cx="2418040" cy="2414016"/>
          </a:xfrm>
          <a:custGeom>
            <a:avLst/>
            <a:gdLst>
              <a:gd name="connsiteX0" fmla="*/ 1209020 w 2418040"/>
              <a:gd name="connsiteY0" fmla="*/ 0 h 2414016"/>
              <a:gd name="connsiteX1" fmla="*/ 2418040 w 2418040"/>
              <a:gd name="connsiteY1" fmla="*/ 1207008 h 2414016"/>
              <a:gd name="connsiteX2" fmla="*/ 1209020 w 2418040"/>
              <a:gd name="connsiteY2" fmla="*/ 2414016 h 2414016"/>
              <a:gd name="connsiteX3" fmla="*/ 0 w 2418040"/>
              <a:gd name="connsiteY3" fmla="*/ 1207008 h 2414016"/>
              <a:gd name="connsiteX4" fmla="*/ 1209020 w 2418040"/>
              <a:gd name="connsiteY4" fmla="*/ 0 h 2414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040" h="2414016">
                <a:moveTo>
                  <a:pt x="1209020" y="0"/>
                </a:moveTo>
                <a:cubicBezTo>
                  <a:pt x="1876743" y="0"/>
                  <a:pt x="2418040" y="540396"/>
                  <a:pt x="2418040" y="1207008"/>
                </a:cubicBezTo>
                <a:cubicBezTo>
                  <a:pt x="2418040" y="1873620"/>
                  <a:pt x="1876743" y="2414016"/>
                  <a:pt x="1209020" y="2414016"/>
                </a:cubicBezTo>
                <a:cubicBezTo>
                  <a:pt x="541297" y="2414016"/>
                  <a:pt x="0" y="1873620"/>
                  <a:pt x="0" y="1207008"/>
                </a:cubicBezTo>
                <a:cubicBezTo>
                  <a:pt x="0" y="540396"/>
                  <a:pt x="541297" y="0"/>
                  <a:pt x="1209020" y="0"/>
                </a:cubicBezTo>
                <a:close/>
              </a:path>
            </a:pathLst>
          </a:custGeom>
          <a:blipFill dpi="0" rotWithShape="1">
            <a:blip r:embed="rId9"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מלבן 47"/>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6" name="TextBox 45"/>
          <p:cNvSpPr txBox="1"/>
          <p:nvPr/>
        </p:nvSpPr>
        <p:spPr>
          <a:xfrm rot="16200000">
            <a:off x="-683363" y="638796"/>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183860959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מלבן 33"/>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1" name="Freeform: Shape 20">
            <a:extLst>
              <a:ext uri="{FF2B5EF4-FFF2-40B4-BE49-F238E27FC236}">
                <a16:creationId xmlns:a16="http://schemas.microsoft.com/office/drawing/2014/main" id="{3FFCCD8C-DB21-459B-8185-53A55639E1A8}"/>
              </a:ext>
            </a:extLst>
          </p:cNvPr>
          <p:cNvSpPr/>
          <p:nvPr/>
        </p:nvSpPr>
        <p:spPr>
          <a:xfrm rot="5400000">
            <a:off x="7440367" y="2042363"/>
            <a:ext cx="6793992" cy="2709273"/>
          </a:xfrm>
          <a:custGeom>
            <a:avLst/>
            <a:gdLst>
              <a:gd name="connsiteX0" fmla="*/ 0 w 6858001"/>
              <a:gd name="connsiteY0" fmla="*/ 0 h 4612947"/>
              <a:gd name="connsiteX1" fmla="*/ 0 w 6858001"/>
              <a:gd name="connsiteY1" fmla="*/ 2811439 h 4612947"/>
              <a:gd name="connsiteX2" fmla="*/ 1 w 6858001"/>
              <a:gd name="connsiteY2" fmla="*/ 2811439 h 4612947"/>
              <a:gd name="connsiteX3" fmla="*/ 1 w 6858001"/>
              <a:gd name="connsiteY3" fmla="*/ 4612947 h 4612947"/>
              <a:gd name="connsiteX4" fmla="*/ 159081 w 6858001"/>
              <a:gd name="connsiteY4" fmla="*/ 4608941 h 4612947"/>
              <a:gd name="connsiteX5" fmla="*/ 3429001 w 6858001"/>
              <a:gd name="connsiteY5" fmla="*/ 3340428 h 4612947"/>
              <a:gd name="connsiteX6" fmla="*/ 6698921 w 6858001"/>
              <a:gd name="connsiteY6" fmla="*/ 4608941 h 4612947"/>
              <a:gd name="connsiteX7" fmla="*/ 6858001 w 6858001"/>
              <a:gd name="connsiteY7" fmla="*/ 4612947 h 4612947"/>
              <a:gd name="connsiteX8" fmla="*/ 6858001 w 6858001"/>
              <a:gd name="connsiteY8" fmla="*/ 2361068 h 4612947"/>
              <a:gd name="connsiteX9" fmla="*/ 6858001 w 6858001"/>
              <a:gd name="connsiteY9" fmla="*/ 2361068 h 4612947"/>
              <a:gd name="connsiteX10" fmla="*/ 6858001 w 6858001"/>
              <a:gd name="connsiteY10" fmla="*/ 0 h 461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1" h="4612947">
                <a:moveTo>
                  <a:pt x="0" y="0"/>
                </a:moveTo>
                <a:lnTo>
                  <a:pt x="0" y="2811439"/>
                </a:lnTo>
                <a:lnTo>
                  <a:pt x="1" y="2811439"/>
                </a:lnTo>
                <a:lnTo>
                  <a:pt x="1" y="4612947"/>
                </a:lnTo>
                <a:lnTo>
                  <a:pt x="159081" y="4608941"/>
                </a:lnTo>
                <a:cubicBezTo>
                  <a:pt x="1316500" y="4561231"/>
                  <a:pt x="2310774" y="3340428"/>
                  <a:pt x="3429001" y="3340428"/>
                </a:cubicBezTo>
                <a:cubicBezTo>
                  <a:pt x="4547229" y="3340428"/>
                  <a:pt x="5541503" y="4561231"/>
                  <a:pt x="6698921" y="4608941"/>
                </a:cubicBezTo>
                <a:lnTo>
                  <a:pt x="6858001" y="4612947"/>
                </a:lnTo>
                <a:lnTo>
                  <a:pt x="6858001" y="2361068"/>
                </a:lnTo>
                <a:lnTo>
                  <a:pt x="6858001" y="2361068"/>
                </a:lnTo>
                <a:lnTo>
                  <a:pt x="6858001" y="0"/>
                </a:lnTo>
                <a:close/>
              </a:path>
            </a:pathLst>
          </a:custGeom>
          <a:gradFill flip="none" rotWithShape="1">
            <a:gsLst>
              <a:gs pos="0">
                <a:srgbClr val="E75258"/>
              </a:gs>
              <a:gs pos="99000">
                <a:srgbClr val="34304F"/>
              </a:gs>
            </a:gsLst>
            <a:lin ang="10800000" scaled="1"/>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Calibri"/>
              <a:cs typeface="Calibri"/>
              <a:sym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r>
              <a:rPr lang="en-US" dirty="0"/>
              <a:t>System Flow</a:t>
            </a:r>
          </a:p>
        </p:txBody>
      </p:sp>
      <p:sp>
        <p:nvSpPr>
          <p:cNvPr id="13" name="Rectangle 12">
            <a:extLst>
              <a:ext uri="{FF2B5EF4-FFF2-40B4-BE49-F238E27FC236}">
                <a16:creationId xmlns:a16="http://schemas.microsoft.com/office/drawing/2014/main" id="{9F784FB9-7F0C-485E-A8A2-45E019135F8C}"/>
              </a:ext>
            </a:extLst>
          </p:cNvPr>
          <p:cNvSpPr/>
          <p:nvPr/>
        </p:nvSpPr>
        <p:spPr>
          <a:xfrm>
            <a:off x="8587586" y="3480115"/>
            <a:ext cx="271116" cy="53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L"/>
          </a:p>
        </p:txBody>
      </p:sp>
      <p:pic>
        <p:nvPicPr>
          <p:cNvPr id="22" name="Picture 21">
            <a:extLst>
              <a:ext uri="{FF2B5EF4-FFF2-40B4-BE49-F238E27FC236}">
                <a16:creationId xmlns:a16="http://schemas.microsoft.com/office/drawing/2014/main" id="{F89B723F-2B42-40E5-A020-C36ED239A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469" y="260961"/>
            <a:ext cx="1910648" cy="590232"/>
          </a:xfrm>
          <a:prstGeom prst="rect">
            <a:avLst/>
          </a:prstGeom>
        </p:spPr>
      </p:pic>
      <p:cxnSp>
        <p:nvCxnSpPr>
          <p:cNvPr id="18" name="Straight Connector 17"/>
          <p:cNvCxnSpPr>
            <a:stCxn id="19" idx="0"/>
            <a:endCxn id="29" idx="0"/>
          </p:cNvCxnSpPr>
          <p:nvPr/>
        </p:nvCxnSpPr>
        <p:spPr>
          <a:xfrm>
            <a:off x="518125" y="1262319"/>
            <a:ext cx="6738" cy="2096152"/>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495119" y="1140201"/>
            <a:ext cx="3443571" cy="338554"/>
          </a:xfrm>
          <a:prstGeom prst="rect">
            <a:avLst/>
          </a:prstGeom>
        </p:spPr>
        <p:txBody>
          <a:bodyPr wrap="none">
            <a:spAutoFit/>
          </a:bodyPr>
          <a:lstStyle/>
          <a:p>
            <a:r>
              <a:rPr lang="he-IL" sz="1600" b="1" dirty="0">
                <a:latin typeface="Calibri" panose="020F0502020204030204" pitchFamily="34" charset="0"/>
                <a:cs typeface="Calibri" panose="020F0502020204030204" pitchFamily="34" charset="0"/>
              </a:rPr>
              <a:t>הזנת פרטים אישיים ובחירת תחום הפעילות</a:t>
            </a:r>
            <a:endParaRPr lang="en-US" sz="1600" b="1" dirty="0">
              <a:latin typeface="Calibri" panose="020F0502020204030204" pitchFamily="34" charset="0"/>
              <a:cs typeface="Calibri" panose="020F0502020204030204" pitchFamily="34" charset="0"/>
            </a:endParaRPr>
          </a:p>
        </p:txBody>
      </p:sp>
      <p:sp>
        <p:nvSpPr>
          <p:cNvPr id="43" name="Rectangle 42"/>
          <p:cNvSpPr/>
          <p:nvPr/>
        </p:nvSpPr>
        <p:spPr>
          <a:xfrm>
            <a:off x="1527179" y="1838918"/>
            <a:ext cx="2383986" cy="338554"/>
          </a:xfrm>
          <a:prstGeom prst="rect">
            <a:avLst/>
          </a:prstGeom>
        </p:spPr>
        <p:txBody>
          <a:bodyPr wrap="none">
            <a:spAutoFit/>
          </a:bodyPr>
          <a:lstStyle/>
          <a:p>
            <a:r>
              <a:rPr lang="he-IL" sz="1600" b="1" dirty="0">
                <a:latin typeface="Calibri" panose="020F0502020204030204" pitchFamily="34" charset="0"/>
                <a:cs typeface="Calibri" panose="020F0502020204030204" pitchFamily="34" charset="0"/>
              </a:rPr>
              <a:t>מענה על שאלות לדיוק הצורך</a:t>
            </a:r>
            <a:endParaRPr lang="en-US" sz="1600" b="1" dirty="0">
              <a:latin typeface="Calibri" panose="020F0502020204030204" pitchFamily="34" charset="0"/>
              <a:cs typeface="Calibri" panose="020F0502020204030204" pitchFamily="34" charset="0"/>
            </a:endParaRPr>
          </a:p>
        </p:txBody>
      </p:sp>
      <p:sp>
        <p:nvSpPr>
          <p:cNvPr id="44" name="Rectangle 43"/>
          <p:cNvSpPr/>
          <p:nvPr/>
        </p:nvSpPr>
        <p:spPr>
          <a:xfrm>
            <a:off x="1506340" y="2537636"/>
            <a:ext cx="3002745" cy="338554"/>
          </a:xfrm>
          <a:prstGeom prst="rect">
            <a:avLst/>
          </a:prstGeom>
        </p:spPr>
        <p:txBody>
          <a:bodyPr wrap="none">
            <a:spAutoFit/>
          </a:bodyPr>
          <a:lstStyle/>
          <a:p>
            <a:r>
              <a:rPr lang="he-IL" sz="1600" b="1" dirty="0">
                <a:latin typeface="Calibri" panose="020F0502020204030204" pitchFamily="34" charset="0"/>
                <a:cs typeface="Calibri" panose="020F0502020204030204" pitchFamily="34" charset="0"/>
              </a:rPr>
              <a:t>המלצות על שירותים בתחום המבוקש</a:t>
            </a:r>
            <a:endParaRPr lang="en-US" sz="1600" b="1" dirty="0">
              <a:latin typeface="Calibri" panose="020F0502020204030204" pitchFamily="34" charset="0"/>
              <a:cs typeface="Calibri" panose="020F0502020204030204" pitchFamily="34" charset="0"/>
            </a:endParaRPr>
          </a:p>
        </p:txBody>
      </p:sp>
      <p:sp>
        <p:nvSpPr>
          <p:cNvPr id="45" name="Rectangle 44"/>
          <p:cNvSpPr/>
          <p:nvPr/>
        </p:nvSpPr>
        <p:spPr>
          <a:xfrm>
            <a:off x="1512752" y="3236353"/>
            <a:ext cx="2492991" cy="338554"/>
          </a:xfrm>
          <a:prstGeom prst="rect">
            <a:avLst/>
          </a:prstGeom>
        </p:spPr>
        <p:txBody>
          <a:bodyPr wrap="none">
            <a:spAutoFit/>
          </a:bodyPr>
          <a:lstStyle/>
          <a:p>
            <a:r>
              <a:rPr lang="he-IL" sz="1600" b="1" dirty="0">
                <a:latin typeface="Calibri" panose="020F0502020204030204" pitchFamily="34" charset="0"/>
                <a:cs typeface="Calibri" panose="020F0502020204030204" pitchFamily="34" charset="0"/>
              </a:rPr>
              <a:t>רכישה, סבסוד ושירותים נלווים</a:t>
            </a:r>
            <a:endParaRPr lang="en-US" sz="1600" b="1" dirty="0">
              <a:latin typeface="Calibri" panose="020F0502020204030204" pitchFamily="34" charset="0"/>
              <a:cs typeface="Calibri" panose="020F0502020204030204" pitchFamily="34" charset="0"/>
            </a:endParaRPr>
          </a:p>
        </p:txBody>
      </p:sp>
      <p:sp>
        <p:nvSpPr>
          <p:cNvPr id="29" name="Oval 28"/>
          <p:cNvSpPr/>
          <p:nvPr/>
        </p:nvSpPr>
        <p:spPr>
          <a:xfrm>
            <a:off x="477703" y="3358471"/>
            <a:ext cx="94319" cy="94318"/>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572022" y="3405630"/>
            <a:ext cx="457200" cy="0"/>
          </a:xfrm>
          <a:prstGeom prst="line">
            <a:avLst/>
          </a:prstGeom>
          <a:solidFill>
            <a:schemeClr val="bg1">
              <a:lumMod val="50000"/>
            </a:schemeClr>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045325" y="3209048"/>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0070C0"/>
              </a:solidFill>
              <a:cs typeface="Gotham Book" pitchFamily="2" charset="0"/>
            </a:endParaRPr>
          </a:p>
        </p:txBody>
      </p:sp>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1323" y="3305046"/>
            <a:ext cx="201168" cy="201168"/>
          </a:xfrm>
          <a:prstGeom prst="rect">
            <a:avLst/>
          </a:prstGeom>
        </p:spPr>
      </p:pic>
      <p:sp>
        <p:nvSpPr>
          <p:cNvPr id="25" name="Oval 24"/>
          <p:cNvSpPr/>
          <p:nvPr/>
        </p:nvSpPr>
        <p:spPr>
          <a:xfrm>
            <a:off x="470965" y="2659753"/>
            <a:ext cx="94319" cy="94320"/>
          </a:xfrm>
          <a:prstGeom prst="ellipse">
            <a:avLst/>
          </a:prstGeom>
          <a:solidFill>
            <a:srgbClr val="E75258"/>
          </a:solid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a:off x="572022" y="2706913"/>
            <a:ext cx="457200" cy="0"/>
          </a:xfrm>
          <a:prstGeom prst="line">
            <a:avLst/>
          </a:prstGeom>
          <a:solidFill>
            <a:srgbClr val="2C2C80"/>
          </a:solidFill>
          <a:ln w="38100">
            <a:solidFill>
              <a:srgbClr val="E75258"/>
            </a:solidFill>
            <a:prstDash val="sysDot"/>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045325" y="2510330"/>
            <a:ext cx="393164" cy="393166"/>
          </a:xfrm>
          <a:prstGeom prst="ellipse">
            <a:avLst/>
          </a:prstGeom>
          <a:blipFill>
            <a:blip r:embed="rId5"/>
            <a:stretch>
              <a:fillRect/>
            </a:stretch>
          </a:blip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38" name="Oval 37"/>
          <p:cNvSpPr/>
          <p:nvPr/>
        </p:nvSpPr>
        <p:spPr>
          <a:xfrm>
            <a:off x="470965" y="1961035"/>
            <a:ext cx="94319" cy="94320"/>
          </a:xfrm>
          <a:prstGeom prst="ellipse">
            <a:avLst/>
          </a:prstGeom>
          <a:solidFill>
            <a:srgbClr val="1F1C30"/>
          </a:solidFill>
          <a:ln w="28575">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a:off x="572022" y="2008195"/>
            <a:ext cx="457200" cy="0"/>
          </a:xfrm>
          <a:prstGeom prst="line">
            <a:avLst/>
          </a:prstGeom>
          <a:solidFill>
            <a:srgbClr val="2C2C80"/>
          </a:solidFill>
          <a:ln w="38100">
            <a:solidFill>
              <a:srgbClr val="1F1C30"/>
            </a:solidFill>
            <a:prstDash val="sysDot"/>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1045325" y="1811612"/>
            <a:ext cx="393164" cy="393166"/>
          </a:xfrm>
          <a:prstGeom prst="ellipse">
            <a:avLst/>
          </a:prstGeom>
          <a:blipFill>
            <a:blip r:embed="rId6"/>
            <a:stretch>
              <a:fillRect/>
            </a:stretch>
          </a:blipFill>
          <a:ln w="38100">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19" name="Oval 18"/>
          <p:cNvSpPr/>
          <p:nvPr/>
        </p:nvSpPr>
        <p:spPr>
          <a:xfrm>
            <a:off x="470965" y="1262319"/>
            <a:ext cx="94319" cy="94319"/>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565284" y="1307320"/>
            <a:ext cx="457200" cy="4316"/>
          </a:xfrm>
          <a:prstGeom prst="line">
            <a:avLst/>
          </a:prstGeom>
          <a:solidFill>
            <a:srgbClr val="008ED5"/>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5325" y="1112896"/>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C000"/>
              </a:solidFill>
              <a:cs typeface="Gotham Book" pitchFamily="2" charset="0"/>
            </a:endParaRPr>
          </a:p>
        </p:txBody>
      </p:sp>
      <p:pic>
        <p:nvPicPr>
          <p:cNvPr id="50" name="Picture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41323" y="1208894"/>
            <a:ext cx="201168" cy="201168"/>
          </a:xfrm>
          <a:prstGeom prst="rect">
            <a:avLst/>
          </a:prstGeom>
        </p:spPr>
      </p:pic>
      <p:sp>
        <p:nvSpPr>
          <p:cNvPr id="58" name="Rectangle 57">
            <a:extLst>
              <a:ext uri="{FF2B5EF4-FFF2-40B4-BE49-F238E27FC236}">
                <a16:creationId xmlns:a16="http://schemas.microsoft.com/office/drawing/2014/main" id="{3F80B959-BC60-4854-A69A-50BBA8DB8D52}"/>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AB30FDA-1EA5-3254-9F03-156A1B7658E3}"/>
              </a:ext>
            </a:extLst>
          </p:cNvPr>
          <p:cNvPicPr>
            <a:picLocks noChangeAspect="1"/>
          </p:cNvPicPr>
          <p:nvPr/>
        </p:nvPicPr>
        <p:blipFill>
          <a:blip r:embed="rId8"/>
          <a:stretch>
            <a:fillRect/>
          </a:stretch>
        </p:blipFill>
        <p:spPr>
          <a:xfrm>
            <a:off x="2000105" y="3721622"/>
            <a:ext cx="5129707" cy="3152478"/>
          </a:xfrm>
          <a:prstGeom prst="rect">
            <a:avLst/>
          </a:prstGeom>
        </p:spPr>
      </p:pic>
      <p:pic>
        <p:nvPicPr>
          <p:cNvPr id="35" name="Picture 34">
            <a:extLst>
              <a:ext uri="{FF2B5EF4-FFF2-40B4-BE49-F238E27FC236}">
                <a16:creationId xmlns:a16="http://schemas.microsoft.com/office/drawing/2014/main" id="{0B54BFE4-F092-F157-080A-29477B76B214}"/>
              </a:ext>
            </a:extLst>
          </p:cNvPr>
          <p:cNvPicPr>
            <a:picLocks noChangeAspect="1"/>
          </p:cNvPicPr>
          <p:nvPr/>
        </p:nvPicPr>
        <p:blipFill>
          <a:blip r:embed="rId9"/>
          <a:stretch>
            <a:fillRect/>
          </a:stretch>
        </p:blipFill>
        <p:spPr>
          <a:xfrm>
            <a:off x="6895054" y="3667126"/>
            <a:ext cx="5115310" cy="3073722"/>
          </a:xfrm>
          <a:prstGeom prst="rect">
            <a:avLst/>
          </a:prstGeom>
        </p:spPr>
      </p:pic>
      <p:pic>
        <p:nvPicPr>
          <p:cNvPr id="57" name="Picture 56">
            <a:extLst>
              <a:ext uri="{FF2B5EF4-FFF2-40B4-BE49-F238E27FC236}">
                <a16:creationId xmlns:a16="http://schemas.microsoft.com/office/drawing/2014/main" id="{C76F1400-03D3-9EA9-92DF-17A27EEB4A48}"/>
              </a:ext>
            </a:extLst>
          </p:cNvPr>
          <p:cNvPicPr>
            <a:picLocks noChangeAspect="1"/>
          </p:cNvPicPr>
          <p:nvPr/>
        </p:nvPicPr>
        <p:blipFill>
          <a:blip r:embed="rId10"/>
          <a:stretch>
            <a:fillRect/>
          </a:stretch>
        </p:blipFill>
        <p:spPr>
          <a:xfrm>
            <a:off x="5133109" y="800260"/>
            <a:ext cx="4957082" cy="3101335"/>
          </a:xfrm>
          <a:prstGeom prst="rect">
            <a:avLst/>
          </a:prstGeom>
        </p:spPr>
      </p:pic>
      <p:sp>
        <p:nvSpPr>
          <p:cNvPr id="33" name="TextBox 32"/>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139328003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B65CF1-7579-A7B5-CE04-CEDD31660D04}"/>
              </a:ext>
            </a:extLst>
          </p:cNvPr>
          <p:cNvPicPr>
            <a:picLocks noChangeAspect="1"/>
          </p:cNvPicPr>
          <p:nvPr/>
        </p:nvPicPr>
        <p:blipFill>
          <a:blip r:embed="rId3"/>
          <a:stretch>
            <a:fillRect/>
          </a:stretch>
        </p:blipFill>
        <p:spPr>
          <a:xfrm>
            <a:off x="0" y="368139"/>
            <a:ext cx="12192000" cy="6121722"/>
          </a:xfrm>
          <a:prstGeom prst="rect">
            <a:avLst/>
          </a:prstGeom>
        </p:spPr>
      </p:pic>
      <p:sp>
        <p:nvSpPr>
          <p:cNvPr id="3" name="TextBox 2"/>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29895475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מלבן 62"/>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noAutofit/>
          </a:bodyPr>
          <a:lstStyle/>
          <a:p>
            <a:pPr algn="ctr"/>
            <a:r>
              <a:rPr lang="he-IL" dirty="0">
                <a:solidFill>
                  <a:schemeClr val="tx1"/>
                </a:solidFill>
                <a:latin typeface="Calibri" panose="020F0502020204030204" pitchFamily="34" charset="0"/>
                <a:cs typeface="Calibri" panose="020F0502020204030204" pitchFamily="34" charset="0"/>
              </a:rPr>
              <a:t>רכיבי השירות</a:t>
            </a:r>
            <a:endParaRPr lang="en-US" dirty="0">
              <a:solidFill>
                <a:schemeClr val="tx1"/>
              </a:solidFill>
              <a:latin typeface="Calibri" panose="020F0502020204030204" pitchFamily="34" charset="0"/>
              <a:cs typeface="Calibri" panose="020F0502020204030204" pitchFamily="34" charset="0"/>
            </a:endParaRPr>
          </a:p>
        </p:txBody>
      </p:sp>
      <p:sp>
        <p:nvSpPr>
          <p:cNvPr id="131" name="Text Placeholder 7">
            <a:extLst>
              <a:ext uri="{FF2B5EF4-FFF2-40B4-BE49-F238E27FC236}">
                <a16:creationId xmlns:a16="http://schemas.microsoft.com/office/drawing/2014/main" id="{58DB8EF6-4540-4CFF-B873-FF0C784CE024}"/>
              </a:ext>
            </a:extLst>
          </p:cNvPr>
          <p:cNvSpPr txBox="1">
            <a:spLocks/>
          </p:cNvSpPr>
          <p:nvPr/>
        </p:nvSpPr>
        <p:spPr>
          <a:xfrm>
            <a:off x="340336" y="846803"/>
            <a:ext cx="9384235" cy="592268"/>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Tx/>
              <a:buNone/>
              <a:defRPr sz="3200" b="1" kern="1200">
                <a:solidFill>
                  <a:srgbClr val="00000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he-IL" sz="2800" dirty="0">
                <a:solidFill>
                  <a:srgbClr val="5EC5C5"/>
                </a:solidFill>
                <a:latin typeface="Calibri" panose="020F0502020204030204" pitchFamily="34" charset="0"/>
                <a:cs typeface="Calibri" panose="020F0502020204030204" pitchFamily="34" charset="0"/>
              </a:rPr>
              <a:t>מבוסס תעודות זהות קליניות עבור שירותים</a:t>
            </a:r>
            <a:endParaRPr lang="en-US" sz="2800" dirty="0">
              <a:solidFill>
                <a:srgbClr val="5EC5C5"/>
              </a:solidFill>
              <a:latin typeface="Calibri" panose="020F0502020204030204" pitchFamily="34" charset="0"/>
              <a:cs typeface="Calibri" panose="020F0502020204030204" pitchFamily="34" charset="0"/>
            </a:endParaRPr>
          </a:p>
        </p:txBody>
      </p:sp>
      <p:sp>
        <p:nvSpPr>
          <p:cNvPr id="18" name="Rectangle 17"/>
          <p:cNvSpPr/>
          <p:nvPr/>
        </p:nvSpPr>
        <p:spPr>
          <a:xfrm>
            <a:off x="4507264" y="6279694"/>
            <a:ext cx="3177472" cy="492443"/>
          </a:xfrm>
          <a:prstGeom prst="rect">
            <a:avLst/>
          </a:prstGeom>
        </p:spPr>
        <p:txBody>
          <a:bodyPr wrap="none" anchor="ctr">
            <a:spAutoFit/>
          </a:bodyPr>
          <a:lstStyle/>
          <a:p>
            <a:pPr algn="ctr"/>
            <a:r>
              <a:rPr lang="en-US" sz="2600" b="1" dirty="0">
                <a:solidFill>
                  <a:srgbClr val="E75258"/>
                </a:solidFill>
              </a:rPr>
              <a:t>AI &amp; Full Automation</a:t>
            </a:r>
          </a:p>
        </p:txBody>
      </p:sp>
      <p:cxnSp>
        <p:nvCxnSpPr>
          <p:cNvPr id="24" name="Straight Connector 23"/>
          <p:cNvCxnSpPr/>
          <p:nvPr/>
        </p:nvCxnSpPr>
        <p:spPr>
          <a:xfrm flipV="1">
            <a:off x="1284065"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8096646"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sp>
        <p:nvSpPr>
          <p:cNvPr id="87" name="Rounded Rectangle 9">
            <a:extLst>
              <a:ext uri="{FF2B5EF4-FFF2-40B4-BE49-F238E27FC236}">
                <a16:creationId xmlns:a16="http://schemas.microsoft.com/office/drawing/2014/main" id="{C0200EDE-BFB7-4872-9956-3A7E1C596FAD}"/>
              </a:ext>
            </a:extLst>
          </p:cNvPr>
          <p:cNvSpPr/>
          <p:nvPr/>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0" y="1921117"/>
            <a:ext cx="12192000" cy="0"/>
          </a:xfrm>
          <a:prstGeom prst="line">
            <a:avLst/>
          </a:prstGeom>
          <a:ln>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3CD43FB-6E98-42A8-A8D6-8FEB55A7F4A6}"/>
              </a:ext>
            </a:extLst>
          </p:cNvPr>
          <p:cNvSpPr/>
          <p:nvPr/>
        </p:nvSpPr>
        <p:spPr>
          <a:xfrm>
            <a:off x="1311585" y="2336805"/>
            <a:ext cx="1449436" cy="400110"/>
          </a:xfrm>
          <a:prstGeom prst="rect">
            <a:avLst/>
          </a:prstGeom>
        </p:spPr>
        <p:txBody>
          <a:bodyPr wrap="none">
            <a:spAutoFit/>
          </a:bodyPr>
          <a:lstStyle/>
          <a:p>
            <a:pPr algn="ctr"/>
            <a:r>
              <a:rPr lang="en-US" sz="2000" b="1" dirty="0">
                <a:solidFill>
                  <a:srgbClr val="5EC5C5"/>
                </a:solidFill>
                <a:latin typeface="+mj-lt"/>
              </a:rPr>
              <a:t>Back Office</a:t>
            </a:r>
          </a:p>
        </p:txBody>
      </p:sp>
      <p:sp>
        <p:nvSpPr>
          <p:cNvPr id="47" name="Rounded Rectangle 111">
            <a:extLst>
              <a:ext uri="{FF2B5EF4-FFF2-40B4-BE49-F238E27FC236}">
                <a16:creationId xmlns:a16="http://schemas.microsoft.com/office/drawing/2014/main" id="{A93A1425-0139-4DAD-BB0C-4D46FFD5C650}"/>
              </a:ext>
            </a:extLst>
          </p:cNvPr>
          <p:cNvSpPr/>
          <p:nvPr/>
        </p:nvSpPr>
        <p:spPr>
          <a:xfrm>
            <a:off x="516442"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103">
            <a:extLst>
              <a:ext uri="{FF2B5EF4-FFF2-40B4-BE49-F238E27FC236}">
                <a16:creationId xmlns:a16="http://schemas.microsoft.com/office/drawing/2014/main" id="{D010989A-7791-4558-ACCF-FAC60EE85AEA}"/>
              </a:ext>
            </a:extLst>
          </p:cNvPr>
          <p:cNvSpPr/>
          <p:nvPr/>
        </p:nvSpPr>
        <p:spPr>
          <a:xfrm>
            <a:off x="504404" y="3124235"/>
            <a:ext cx="3064675" cy="866449"/>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C925102-7400-4572-AFB9-A52A8240F5D8}"/>
              </a:ext>
            </a:extLst>
          </p:cNvPr>
          <p:cNvSpPr/>
          <p:nvPr/>
        </p:nvSpPr>
        <p:spPr>
          <a:xfrm>
            <a:off x="436860"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22D3CC7-9B13-401A-A565-05A0A2885DAD}"/>
              </a:ext>
            </a:extLst>
          </p:cNvPr>
          <p:cNvSpPr>
            <a:spLocks noChangeAspect="1"/>
          </p:cNvSpPr>
          <p:nvPr/>
        </p:nvSpPr>
        <p:spPr>
          <a:xfrm>
            <a:off x="3484519"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A757426-1280-4263-B29E-737A1C16A478}"/>
              </a:ext>
            </a:extLst>
          </p:cNvPr>
          <p:cNvSpPr>
            <a:spLocks noChangeAspect="1"/>
          </p:cNvSpPr>
          <p:nvPr/>
        </p:nvSpPr>
        <p:spPr>
          <a:xfrm>
            <a:off x="424578"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Isosceles Triangle 51">
            <a:extLst>
              <a:ext uri="{FF2B5EF4-FFF2-40B4-BE49-F238E27FC236}">
                <a16:creationId xmlns:a16="http://schemas.microsoft.com/office/drawing/2014/main" id="{034B4D0F-F1B2-46E7-B1AB-390D65C862AD}"/>
              </a:ext>
            </a:extLst>
          </p:cNvPr>
          <p:cNvSpPr/>
          <p:nvPr/>
        </p:nvSpPr>
        <p:spPr>
          <a:xfrm>
            <a:off x="1810469" y="2855261"/>
            <a:ext cx="452544" cy="256287"/>
          </a:xfrm>
          <a:prstGeom prst="triangl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A8839BA5-6776-45B5-8D5E-E2811E7FD69F}"/>
              </a:ext>
            </a:extLst>
          </p:cNvPr>
          <p:cNvSpPr/>
          <p:nvPr/>
        </p:nvSpPr>
        <p:spPr>
          <a:xfrm>
            <a:off x="1810469"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B12BE222-B3D9-4A4A-B22E-1BAAD6C8A36C}"/>
              </a:ext>
            </a:extLst>
          </p:cNvPr>
          <p:cNvSpPr>
            <a:spLocks noChangeAspect="1"/>
          </p:cNvSpPr>
          <p:nvPr/>
        </p:nvSpPr>
        <p:spPr>
          <a:xfrm>
            <a:off x="3484519"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013D62E-D14F-4301-87F9-F75DAC78D9F4}"/>
              </a:ext>
            </a:extLst>
          </p:cNvPr>
          <p:cNvSpPr>
            <a:spLocks noChangeAspect="1"/>
          </p:cNvSpPr>
          <p:nvPr/>
        </p:nvSpPr>
        <p:spPr>
          <a:xfrm>
            <a:off x="432350"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78CD0004-F2A9-497B-AA8D-3E74762E9D40}"/>
              </a:ext>
            </a:extLst>
          </p:cNvPr>
          <p:cNvSpPr txBox="1"/>
          <p:nvPr/>
        </p:nvSpPr>
        <p:spPr>
          <a:xfrm>
            <a:off x="625064" y="3303345"/>
            <a:ext cx="2822476" cy="1569660"/>
          </a:xfrm>
          <a:prstGeom prst="rect">
            <a:avLst/>
          </a:prstGeom>
          <a:noFill/>
        </p:spPr>
        <p:txBody>
          <a:bodyPr wrap="square">
            <a:spAutoFit/>
          </a:bodyPr>
          <a:lstStyle/>
          <a:p>
            <a:pPr marL="342891" indent="-342891" algn="r" rtl="1">
              <a:buAutoNum type="arabicPeriod"/>
            </a:pPr>
            <a:r>
              <a:rPr lang="he-IL" sz="1600" dirty="0"/>
              <a:t>מיפוי שירותים</a:t>
            </a:r>
          </a:p>
          <a:p>
            <a:pPr marL="342891" indent="-342891" algn="r" rtl="1">
              <a:buAutoNum type="arabicPeriod"/>
            </a:pPr>
            <a:r>
              <a:rPr lang="he-IL" sz="1600" dirty="0">
                <a:hlinkClick r:id="rId3"/>
              </a:rPr>
              <a:t>אישור ספקים והחתמת ספקים</a:t>
            </a:r>
            <a:endParaRPr lang="he-IL" sz="1600" dirty="0"/>
          </a:p>
          <a:p>
            <a:pPr marL="342891" indent="-342891" algn="r" rtl="1">
              <a:buAutoNum type="arabicPeriod"/>
            </a:pPr>
            <a:r>
              <a:rPr lang="he-IL" sz="1600" dirty="0"/>
              <a:t>עדכון ותחזוקת נתונים בשוטף, כולל אישור מחודש של הספק</a:t>
            </a:r>
          </a:p>
        </p:txBody>
      </p:sp>
      <p:sp>
        <p:nvSpPr>
          <p:cNvPr id="68" name="Rectangle 67">
            <a:extLst>
              <a:ext uri="{FF2B5EF4-FFF2-40B4-BE49-F238E27FC236}">
                <a16:creationId xmlns:a16="http://schemas.microsoft.com/office/drawing/2014/main" id="{E3677612-824D-4C10-8F02-4710C94A9A37}"/>
              </a:ext>
            </a:extLst>
          </p:cNvPr>
          <p:cNvSpPr/>
          <p:nvPr/>
        </p:nvSpPr>
        <p:spPr>
          <a:xfrm>
            <a:off x="5569187" y="2336805"/>
            <a:ext cx="1217000" cy="400110"/>
          </a:xfrm>
          <a:prstGeom prst="rect">
            <a:avLst/>
          </a:prstGeom>
        </p:spPr>
        <p:txBody>
          <a:bodyPr wrap="none">
            <a:spAutoFit/>
          </a:bodyPr>
          <a:lstStyle/>
          <a:p>
            <a:pPr algn="ctr"/>
            <a:r>
              <a:rPr lang="he-IL" sz="2000" b="1" dirty="0">
                <a:solidFill>
                  <a:srgbClr val="1F1C30"/>
                </a:solidFill>
                <a:latin typeface="+mj-lt"/>
              </a:rPr>
              <a:t>מסע לקוח</a:t>
            </a:r>
            <a:endParaRPr lang="en-US" sz="2000" b="1" dirty="0">
              <a:solidFill>
                <a:srgbClr val="1F1C30"/>
              </a:solidFill>
              <a:latin typeface="+mj-lt"/>
            </a:endParaRPr>
          </a:p>
        </p:txBody>
      </p:sp>
      <p:sp>
        <p:nvSpPr>
          <p:cNvPr id="69" name="Rounded Rectangle 111">
            <a:extLst>
              <a:ext uri="{FF2B5EF4-FFF2-40B4-BE49-F238E27FC236}">
                <a16:creationId xmlns:a16="http://schemas.microsoft.com/office/drawing/2014/main" id="{8480A4E7-1A10-41B4-8531-73AD6A6404F8}"/>
              </a:ext>
            </a:extLst>
          </p:cNvPr>
          <p:cNvSpPr/>
          <p:nvPr/>
        </p:nvSpPr>
        <p:spPr>
          <a:xfrm>
            <a:off x="4657826"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ounded Rectangle 103">
            <a:extLst>
              <a:ext uri="{FF2B5EF4-FFF2-40B4-BE49-F238E27FC236}">
                <a16:creationId xmlns:a16="http://schemas.microsoft.com/office/drawing/2014/main" id="{522958C8-1B92-4830-BF49-5B49047D6DBA}"/>
              </a:ext>
            </a:extLst>
          </p:cNvPr>
          <p:cNvSpPr/>
          <p:nvPr/>
        </p:nvSpPr>
        <p:spPr>
          <a:xfrm>
            <a:off x="4645788" y="3124235"/>
            <a:ext cx="3064675" cy="866449"/>
          </a:xfrm>
          <a:prstGeom prst="roundRect">
            <a:avLst/>
          </a:prstGeom>
          <a:noFill/>
          <a:ln w="28575">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218AD6F-C23A-4D59-AD2E-58CDAD660927}"/>
              </a:ext>
            </a:extLst>
          </p:cNvPr>
          <p:cNvSpPr/>
          <p:nvPr/>
        </p:nvSpPr>
        <p:spPr>
          <a:xfrm>
            <a:off x="4578244"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D021F4-DAD5-409F-98FE-9FFDDBAD7337}"/>
              </a:ext>
            </a:extLst>
          </p:cNvPr>
          <p:cNvSpPr>
            <a:spLocks noChangeAspect="1"/>
          </p:cNvSpPr>
          <p:nvPr/>
        </p:nvSpPr>
        <p:spPr>
          <a:xfrm>
            <a:off x="7625903"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A0BB1BA-21CF-4F2C-94E8-FA52805E90E2}"/>
              </a:ext>
            </a:extLst>
          </p:cNvPr>
          <p:cNvSpPr>
            <a:spLocks noChangeAspect="1"/>
          </p:cNvSpPr>
          <p:nvPr/>
        </p:nvSpPr>
        <p:spPr>
          <a:xfrm>
            <a:off x="4565962"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Isosceles Triangle 73">
            <a:extLst>
              <a:ext uri="{FF2B5EF4-FFF2-40B4-BE49-F238E27FC236}">
                <a16:creationId xmlns:a16="http://schemas.microsoft.com/office/drawing/2014/main" id="{67F3161B-FA8A-4E4E-BDB2-809483AD990C}"/>
              </a:ext>
            </a:extLst>
          </p:cNvPr>
          <p:cNvSpPr/>
          <p:nvPr/>
        </p:nvSpPr>
        <p:spPr>
          <a:xfrm>
            <a:off x="5951853" y="2855261"/>
            <a:ext cx="452544" cy="256287"/>
          </a:xfrm>
          <a:prstGeom prst="triangle">
            <a:avLst/>
          </a:prstGeom>
          <a:solidFill>
            <a:schemeClr val="bg1"/>
          </a:solidFill>
          <a:ln w="38100">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C7812075-9105-406D-ADA8-1087900BD2B7}"/>
              </a:ext>
            </a:extLst>
          </p:cNvPr>
          <p:cNvSpPr/>
          <p:nvPr/>
        </p:nvSpPr>
        <p:spPr>
          <a:xfrm>
            <a:off x="5951413"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EBC5193-D5D0-4554-BC44-0028601C20A2}"/>
              </a:ext>
            </a:extLst>
          </p:cNvPr>
          <p:cNvSpPr>
            <a:spLocks noChangeAspect="1"/>
          </p:cNvSpPr>
          <p:nvPr/>
        </p:nvSpPr>
        <p:spPr>
          <a:xfrm>
            <a:off x="7625903"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73560A6-A1EC-498D-A94D-4A69FB8257AD}"/>
              </a:ext>
            </a:extLst>
          </p:cNvPr>
          <p:cNvSpPr>
            <a:spLocks noChangeAspect="1"/>
          </p:cNvSpPr>
          <p:nvPr/>
        </p:nvSpPr>
        <p:spPr>
          <a:xfrm>
            <a:off x="4573734"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5CBBEE15-FB13-433A-8405-B449FA01C940}"/>
              </a:ext>
            </a:extLst>
          </p:cNvPr>
          <p:cNvSpPr txBox="1"/>
          <p:nvPr/>
        </p:nvSpPr>
        <p:spPr>
          <a:xfrm>
            <a:off x="4900652" y="3276661"/>
            <a:ext cx="2537242" cy="2800767"/>
          </a:xfrm>
          <a:prstGeom prst="rect">
            <a:avLst/>
          </a:prstGeom>
          <a:noFill/>
        </p:spPr>
        <p:txBody>
          <a:bodyPr wrap="square">
            <a:spAutoFit/>
          </a:bodyPr>
          <a:lstStyle/>
          <a:p>
            <a:pPr marL="342891" indent="-342891" algn="r" rtl="1">
              <a:buAutoNum type="arabicPeriod"/>
            </a:pPr>
            <a:r>
              <a:rPr lang="he-IL" sz="1600" dirty="0">
                <a:latin typeface="Calibri" panose="020F0502020204030204" pitchFamily="34" charset="0"/>
                <a:cs typeface="Calibri" panose="020F0502020204030204" pitchFamily="34" charset="0"/>
              </a:rPr>
              <a:t>בחירת פעילויות</a:t>
            </a:r>
            <a:endParaRPr lang="en-US" sz="1600" dirty="0">
              <a:latin typeface="Calibri" panose="020F0502020204030204" pitchFamily="34" charset="0"/>
              <a:cs typeface="Calibri" panose="020F0502020204030204" pitchFamily="34" charset="0"/>
            </a:endParaRPr>
          </a:p>
          <a:p>
            <a:pPr marL="342891" indent="-342891" algn="r" rtl="1">
              <a:buAutoNum type="arabicPeriod"/>
            </a:pPr>
            <a:r>
              <a:rPr lang="he-IL" sz="1600" dirty="0">
                <a:latin typeface="Calibri" panose="020F0502020204030204" pitchFamily="34" charset="0"/>
                <a:cs typeface="Calibri" panose="020F0502020204030204" pitchFamily="34" charset="0"/>
              </a:rPr>
              <a:t>דיוק צרכים והעדפת</a:t>
            </a:r>
          </a:p>
          <a:p>
            <a:pPr marL="342891" indent="-342891" algn="r" rtl="1">
              <a:buAutoNum type="arabicPeriod"/>
            </a:pPr>
            <a:r>
              <a:rPr lang="he-IL" sz="1600" dirty="0">
                <a:latin typeface="Calibri" panose="020F0502020204030204" pitchFamily="34" charset="0"/>
                <a:cs typeface="Calibri" panose="020F0502020204030204" pitchFamily="34" charset="0"/>
              </a:rPr>
              <a:t>קבלת המלצות, כולל פילטרים של נגישות</a:t>
            </a:r>
          </a:p>
          <a:p>
            <a:pPr marL="342891" indent="-342891" algn="r" rtl="1">
              <a:buAutoNum type="arabicPeriod"/>
            </a:pPr>
            <a:r>
              <a:rPr lang="he-IL" sz="1600" dirty="0">
                <a:latin typeface="Calibri" panose="020F0502020204030204" pitchFamily="34" charset="0"/>
                <a:cs typeface="Calibri" panose="020F0502020204030204" pitchFamily="34" charset="0"/>
              </a:rPr>
              <a:t>התייעצות עם מתאם תוכנית אישית</a:t>
            </a:r>
          </a:p>
          <a:p>
            <a:pPr marL="342891" indent="-342891" algn="r" rtl="1">
              <a:buAutoNum type="arabicPeriod"/>
            </a:pPr>
            <a:r>
              <a:rPr lang="he-IL" sz="1600" dirty="0">
                <a:latin typeface="Calibri" panose="020F0502020204030204" pitchFamily="34" charset="0"/>
                <a:cs typeface="Calibri" panose="020F0502020204030204" pitchFamily="34" charset="0"/>
              </a:rPr>
              <a:t>רכישת שירותים כולל קבלת סבסוד</a:t>
            </a:r>
          </a:p>
          <a:p>
            <a:pPr marL="342891" indent="-342891" algn="r" rtl="1">
              <a:buAutoNum type="arabicPeriod"/>
            </a:pPr>
            <a:r>
              <a:rPr lang="he-IL" sz="1600" dirty="0">
                <a:latin typeface="Calibri" panose="020F0502020204030204" pitchFamily="34" charset="0"/>
                <a:cs typeface="Calibri" panose="020F0502020204030204" pitchFamily="34" charset="0"/>
              </a:rPr>
              <a:t>שימוש בשירות</a:t>
            </a:r>
          </a:p>
          <a:p>
            <a:pPr marL="342891" indent="-342891" algn="r" rtl="1">
              <a:buAutoNum type="arabicPeriod"/>
            </a:pPr>
            <a:r>
              <a:rPr lang="he-IL" sz="1600" dirty="0">
                <a:latin typeface="Calibri" panose="020F0502020204030204" pitchFamily="34" charset="0"/>
                <a:cs typeface="Calibri" panose="020F0502020204030204" pitchFamily="34" charset="0"/>
              </a:rPr>
              <a:t>מתן פידבקים</a:t>
            </a:r>
          </a:p>
          <a:p>
            <a:pPr marL="342891" indent="-342891" algn="r" rtl="1">
              <a:buAutoNum type="arabicPeriod"/>
            </a:pPr>
            <a:r>
              <a:rPr lang="he-IL" sz="1600" dirty="0">
                <a:latin typeface="Calibri" panose="020F0502020204030204" pitchFamily="34" charset="0"/>
                <a:cs typeface="Calibri" panose="020F0502020204030204" pitchFamily="34" charset="0"/>
              </a:rPr>
              <a:t>קבלת תמיכה והמשך מעקב</a:t>
            </a:r>
          </a:p>
        </p:txBody>
      </p:sp>
      <p:sp>
        <p:nvSpPr>
          <p:cNvPr id="79" name="Rectangle 78">
            <a:extLst>
              <a:ext uri="{FF2B5EF4-FFF2-40B4-BE49-F238E27FC236}">
                <a16:creationId xmlns:a16="http://schemas.microsoft.com/office/drawing/2014/main" id="{4F3833E3-F8FA-4510-AF54-E1B4BF6863DC}"/>
              </a:ext>
            </a:extLst>
          </p:cNvPr>
          <p:cNvSpPr/>
          <p:nvPr/>
        </p:nvSpPr>
        <p:spPr>
          <a:xfrm>
            <a:off x="10112121" y="2336805"/>
            <a:ext cx="413896" cy="400110"/>
          </a:xfrm>
          <a:prstGeom prst="rect">
            <a:avLst/>
          </a:prstGeom>
        </p:spPr>
        <p:txBody>
          <a:bodyPr wrap="none">
            <a:spAutoFit/>
          </a:bodyPr>
          <a:lstStyle/>
          <a:p>
            <a:pPr algn="ctr" rtl="1"/>
            <a:r>
              <a:rPr lang="en-US" sz="2000" b="1" dirty="0">
                <a:solidFill>
                  <a:srgbClr val="E75258"/>
                </a:solidFill>
              </a:rPr>
              <a:t>BI</a:t>
            </a:r>
            <a:endParaRPr lang="he-IL" sz="2000" b="1" dirty="0">
              <a:solidFill>
                <a:srgbClr val="E75258"/>
              </a:solidFill>
            </a:endParaRPr>
          </a:p>
        </p:txBody>
      </p:sp>
      <p:sp>
        <p:nvSpPr>
          <p:cNvPr id="80" name="Rounded Rectangle 111">
            <a:extLst>
              <a:ext uri="{FF2B5EF4-FFF2-40B4-BE49-F238E27FC236}">
                <a16:creationId xmlns:a16="http://schemas.microsoft.com/office/drawing/2014/main" id="{72D124BC-149F-4A9A-8683-40AA9FC3F812}"/>
              </a:ext>
            </a:extLst>
          </p:cNvPr>
          <p:cNvSpPr/>
          <p:nvPr/>
        </p:nvSpPr>
        <p:spPr>
          <a:xfrm>
            <a:off x="8799209" y="3116639"/>
            <a:ext cx="3052638" cy="2918401"/>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latin typeface="Montserrat" panose="02000505000000020004" pitchFamily="2" charset="0"/>
              </a:rPr>
              <a:t>Statistics and insights</a:t>
            </a:r>
            <a:endParaRPr lang="en-US" sz="1800" b="1" dirty="0">
              <a:latin typeface="Montserrat" panose="02000505000000020004" pitchFamily="2" charset="0"/>
            </a:endParaRPr>
          </a:p>
        </p:txBody>
      </p:sp>
      <p:sp>
        <p:nvSpPr>
          <p:cNvPr id="81" name="Rounded Rectangle 103">
            <a:extLst>
              <a:ext uri="{FF2B5EF4-FFF2-40B4-BE49-F238E27FC236}">
                <a16:creationId xmlns:a16="http://schemas.microsoft.com/office/drawing/2014/main" id="{1FF5D8AA-39C6-4BB3-AADB-358B7E2C5C51}"/>
              </a:ext>
            </a:extLst>
          </p:cNvPr>
          <p:cNvSpPr/>
          <p:nvPr/>
        </p:nvSpPr>
        <p:spPr>
          <a:xfrm>
            <a:off x="8787171" y="3124235"/>
            <a:ext cx="3064675" cy="866449"/>
          </a:xfrm>
          <a:prstGeom prst="roundRect">
            <a:avLst/>
          </a:prstGeom>
          <a:no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E7FC450-C5B4-4C1B-A6B4-30A323BCA393}"/>
              </a:ext>
            </a:extLst>
          </p:cNvPr>
          <p:cNvSpPr/>
          <p:nvPr/>
        </p:nvSpPr>
        <p:spPr>
          <a:xfrm>
            <a:off x="8719627"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1587DD6A-A4F0-4E5B-9E05-55E894A56222}"/>
              </a:ext>
            </a:extLst>
          </p:cNvPr>
          <p:cNvSpPr>
            <a:spLocks noChangeAspect="1"/>
          </p:cNvSpPr>
          <p:nvPr/>
        </p:nvSpPr>
        <p:spPr>
          <a:xfrm>
            <a:off x="11767286"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B39739-072E-4F9B-9B2B-CA40348686F5}"/>
              </a:ext>
            </a:extLst>
          </p:cNvPr>
          <p:cNvSpPr>
            <a:spLocks noChangeAspect="1"/>
          </p:cNvSpPr>
          <p:nvPr/>
        </p:nvSpPr>
        <p:spPr>
          <a:xfrm>
            <a:off x="8707345"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Isosceles Triangle 89">
            <a:extLst>
              <a:ext uri="{FF2B5EF4-FFF2-40B4-BE49-F238E27FC236}">
                <a16:creationId xmlns:a16="http://schemas.microsoft.com/office/drawing/2014/main" id="{89BAA0F4-97C1-4925-9C07-55643C4DDF84}"/>
              </a:ext>
            </a:extLst>
          </p:cNvPr>
          <p:cNvSpPr/>
          <p:nvPr/>
        </p:nvSpPr>
        <p:spPr>
          <a:xfrm>
            <a:off x="10093236" y="2855261"/>
            <a:ext cx="452544" cy="256287"/>
          </a:xfrm>
          <a:prstGeom prst="triangle">
            <a:avLst/>
          </a:prstGeom>
          <a:solidFill>
            <a:schemeClr val="bg1"/>
          </a:solid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5F670EAC-AEEB-4EB1-9CD4-24F7BF488550}"/>
              </a:ext>
            </a:extLst>
          </p:cNvPr>
          <p:cNvSpPr/>
          <p:nvPr/>
        </p:nvSpPr>
        <p:spPr>
          <a:xfrm>
            <a:off x="10093236" y="2907751"/>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0F9EC0F9-2623-4033-BC57-83D9039F1ABF}"/>
              </a:ext>
            </a:extLst>
          </p:cNvPr>
          <p:cNvSpPr>
            <a:spLocks noChangeAspect="1"/>
          </p:cNvSpPr>
          <p:nvPr/>
        </p:nvSpPr>
        <p:spPr>
          <a:xfrm>
            <a:off x="11767286"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8874432-6671-4C02-B7FB-25664CBE0AB6}"/>
              </a:ext>
            </a:extLst>
          </p:cNvPr>
          <p:cNvSpPr>
            <a:spLocks noChangeAspect="1"/>
          </p:cNvSpPr>
          <p:nvPr/>
        </p:nvSpPr>
        <p:spPr>
          <a:xfrm>
            <a:off x="8715117"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p:cNvSpPr/>
          <p:nvPr/>
        </p:nvSpPr>
        <p:spPr>
          <a:xfrm rot="5400000">
            <a:off x="3700430" y="4407491"/>
            <a:ext cx="813128" cy="468967"/>
          </a:xfrm>
          <a:prstGeom prst="triangle">
            <a:avLst/>
          </a:prstGeom>
          <a:solidFill>
            <a:srgbClr val="5EC5C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p:cNvSpPr/>
          <p:nvPr/>
        </p:nvSpPr>
        <p:spPr>
          <a:xfrm rot="5400000">
            <a:off x="7841813" y="4429849"/>
            <a:ext cx="813128" cy="468967"/>
          </a:xfrm>
          <a:prstGeom prst="triangle">
            <a:avLst/>
          </a:prstGeom>
          <a:solidFill>
            <a:srgbClr val="1F1C3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719558" y="1604372"/>
            <a:ext cx="633488" cy="633490"/>
            <a:chOff x="1726017" y="1843426"/>
            <a:chExt cx="633488" cy="633490"/>
          </a:xfrm>
        </p:grpSpPr>
        <p:sp>
          <p:nvSpPr>
            <p:cNvPr id="98" name="Oval 97"/>
            <p:cNvSpPr/>
            <p:nvPr/>
          </p:nvSpPr>
          <p:spPr>
            <a:xfrm>
              <a:off x="1726017"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99" name="Oval 98"/>
            <p:cNvSpPr/>
            <p:nvPr/>
          </p:nvSpPr>
          <p:spPr>
            <a:xfrm>
              <a:off x="1849195"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0" name="Block Arc 99"/>
            <p:cNvSpPr/>
            <p:nvPr/>
          </p:nvSpPr>
          <p:spPr>
            <a:xfrm rot="5918100">
              <a:off x="1754971" y="1872382"/>
              <a:ext cx="575580" cy="575579"/>
            </a:xfrm>
            <a:prstGeom prst="blockArc">
              <a:avLst>
                <a:gd name="adj1" fmla="val 10800000"/>
                <a:gd name="adj2" fmla="val 16085249"/>
                <a:gd name="adj3" fmla="val 10115"/>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1" name="Group 100"/>
          <p:cNvGrpSpPr/>
          <p:nvPr/>
        </p:nvGrpSpPr>
        <p:grpSpPr>
          <a:xfrm>
            <a:off x="5860942" y="1604372"/>
            <a:ext cx="633488" cy="633490"/>
            <a:chOff x="5860942" y="1843426"/>
            <a:chExt cx="633488" cy="633490"/>
          </a:xfrm>
        </p:grpSpPr>
        <p:sp>
          <p:nvSpPr>
            <p:cNvPr id="102" name="Oval 101"/>
            <p:cNvSpPr/>
            <p:nvPr/>
          </p:nvSpPr>
          <p:spPr>
            <a:xfrm>
              <a:off x="5860942"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3" name="Oval 102"/>
            <p:cNvSpPr/>
            <p:nvPr/>
          </p:nvSpPr>
          <p:spPr>
            <a:xfrm>
              <a:off x="5984120"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4" name="Block Arc 103"/>
            <p:cNvSpPr/>
            <p:nvPr/>
          </p:nvSpPr>
          <p:spPr>
            <a:xfrm rot="5918100">
              <a:off x="5889896" y="1872382"/>
              <a:ext cx="575580" cy="575579"/>
            </a:xfrm>
            <a:prstGeom prst="blockArc">
              <a:avLst>
                <a:gd name="adj1" fmla="val 10800000"/>
                <a:gd name="adj2" fmla="val 16085249"/>
                <a:gd name="adj3" fmla="val 10115"/>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5" name="Group 104"/>
          <p:cNvGrpSpPr/>
          <p:nvPr/>
        </p:nvGrpSpPr>
        <p:grpSpPr>
          <a:xfrm>
            <a:off x="10008784" y="1604372"/>
            <a:ext cx="633488" cy="633490"/>
            <a:chOff x="10008784" y="1843426"/>
            <a:chExt cx="633488" cy="633490"/>
          </a:xfrm>
        </p:grpSpPr>
        <p:sp>
          <p:nvSpPr>
            <p:cNvPr id="106" name="Oval 105"/>
            <p:cNvSpPr/>
            <p:nvPr/>
          </p:nvSpPr>
          <p:spPr>
            <a:xfrm>
              <a:off x="10008784"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7" name="Oval 106"/>
            <p:cNvSpPr/>
            <p:nvPr/>
          </p:nvSpPr>
          <p:spPr>
            <a:xfrm>
              <a:off x="10131962"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8" name="Block Arc 107"/>
            <p:cNvSpPr/>
            <p:nvPr/>
          </p:nvSpPr>
          <p:spPr>
            <a:xfrm rot="5918100">
              <a:off x="10037738" y="1872382"/>
              <a:ext cx="575580" cy="575579"/>
            </a:xfrm>
            <a:prstGeom prst="blockArc">
              <a:avLst>
                <a:gd name="adj1" fmla="val 10800000"/>
                <a:gd name="adj2" fmla="val 16085249"/>
                <a:gd name="adj3" fmla="val 10115"/>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pic>
        <p:nvPicPr>
          <p:cNvPr id="109" name="Picture 10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11228" y="1806817"/>
            <a:ext cx="228600" cy="228600"/>
          </a:xfrm>
          <a:prstGeom prst="rect">
            <a:avLst/>
          </a:prstGeom>
        </p:spPr>
      </p:pic>
      <p:pic>
        <p:nvPicPr>
          <p:cNvPr id="110" name="Picture 10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63386" y="1806817"/>
            <a:ext cx="228600" cy="228600"/>
          </a:xfrm>
          <a:prstGeom prst="rect">
            <a:avLst/>
          </a:prstGeom>
        </p:spPr>
      </p:pic>
      <p:pic>
        <p:nvPicPr>
          <p:cNvPr id="111" name="Picture 1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28461" y="1806817"/>
            <a:ext cx="228600" cy="228600"/>
          </a:xfrm>
          <a:prstGeom prst="rect">
            <a:avLst/>
          </a:prstGeom>
        </p:spPr>
      </p:pic>
      <p:pic>
        <p:nvPicPr>
          <p:cNvPr id="112" name="Picture 1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758981" y="4362450"/>
            <a:ext cx="1133094" cy="1133094"/>
          </a:xfrm>
          <a:prstGeom prst="rect">
            <a:avLst/>
          </a:prstGeom>
        </p:spPr>
      </p:pic>
      <p:sp>
        <p:nvSpPr>
          <p:cNvPr id="113" name="Rectangle 112"/>
          <p:cNvSpPr/>
          <p:nvPr/>
        </p:nvSpPr>
        <p:spPr>
          <a:xfrm>
            <a:off x="9741776" y="4362450"/>
            <a:ext cx="1167504" cy="1176076"/>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5E14C21-6FAB-4EB3-8349-E3387D04CCB4}"/>
              </a:ext>
            </a:extLst>
          </p:cNvPr>
          <p:cNvSpPr txBox="1"/>
          <p:nvPr/>
        </p:nvSpPr>
        <p:spPr>
          <a:xfrm>
            <a:off x="9117135" y="3409141"/>
            <a:ext cx="2416787" cy="830997"/>
          </a:xfrm>
          <a:prstGeom prst="rect">
            <a:avLst/>
          </a:prstGeom>
          <a:noFill/>
        </p:spPr>
        <p:txBody>
          <a:bodyPr wrap="square">
            <a:spAutoFit/>
          </a:bodyPr>
          <a:lstStyle/>
          <a:p>
            <a:pPr marL="342891" indent="-342891" algn="r" rtl="1">
              <a:buAutoNum type="arabicPeriod"/>
            </a:pPr>
            <a:r>
              <a:rPr lang="he-IL" sz="1600" dirty="0" err="1"/>
              <a:t>אדמין</a:t>
            </a:r>
            <a:r>
              <a:rPr lang="he-IL" sz="1600" dirty="0"/>
              <a:t> ספקים</a:t>
            </a:r>
          </a:p>
          <a:p>
            <a:pPr marL="342891" indent="-342891" algn="r" rtl="1">
              <a:buAutoNum type="arabicPeriod"/>
            </a:pPr>
            <a:r>
              <a:rPr lang="he-IL" sz="1600" dirty="0" err="1"/>
              <a:t>אדמין</a:t>
            </a:r>
            <a:r>
              <a:rPr lang="he-IL" sz="1600" dirty="0"/>
              <a:t> מנהלי </a:t>
            </a:r>
            <a:r>
              <a:rPr lang="he-IL" sz="1600" dirty="0" err="1"/>
              <a:t>תיקצוב</a:t>
            </a:r>
            <a:r>
              <a:rPr lang="he-IL" sz="1600" dirty="0"/>
              <a:t> אישי</a:t>
            </a:r>
          </a:p>
        </p:txBody>
      </p:sp>
      <p:sp>
        <p:nvSpPr>
          <p:cNvPr id="61" name="TextBox 60"/>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112682353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מלבן 20"/>
          <p:cNvSpPr/>
          <p:nvPr/>
        </p:nvSpPr>
        <p:spPr>
          <a:xfrm>
            <a:off x="560833" y="1144901"/>
            <a:ext cx="10097588" cy="836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      התאמה אישית, מדידה </a:t>
            </a:r>
            <a:r>
              <a:rPr lang="he-IL" sz="2500" b="1" dirty="0">
                <a:solidFill>
                  <a:schemeClr val="tx1"/>
                </a:solidFill>
                <a:latin typeface="Calibri" panose="020F0502020204030204" pitchFamily="34" charset="0"/>
                <a:cs typeface="Calibri" panose="020F0502020204030204" pitchFamily="34" charset="0"/>
              </a:rPr>
              <a:t>ותמרוץ שירותים </a:t>
            </a:r>
            <a:r>
              <a:rPr lang="he-IL" sz="2500" b="1" dirty="0" err="1" smtClean="0">
                <a:solidFill>
                  <a:schemeClr val="tx1"/>
                </a:solidFill>
                <a:latin typeface="Calibri" panose="020F0502020204030204" pitchFamily="34" charset="0"/>
                <a:cs typeface="Calibri" panose="020F0502020204030204" pitchFamily="34" charset="0"/>
              </a:rPr>
              <a:t>דוחקי</a:t>
            </a:r>
            <a:r>
              <a:rPr lang="he-IL" sz="2500" b="1" dirty="0" smtClean="0">
                <a:solidFill>
                  <a:schemeClr val="tx1"/>
                </a:solidFill>
                <a:latin typeface="Calibri" panose="020F0502020204030204" pitchFamily="34" charset="0"/>
                <a:cs typeface="Calibri" panose="020F0502020204030204" pitchFamily="34" charset="0"/>
              </a:rPr>
              <a:t> תלות</a:t>
            </a:r>
            <a:endParaRPr lang="he-IL" sz="2500" b="1" dirty="0">
              <a:solidFill>
                <a:schemeClr val="tx1"/>
              </a:solidFill>
              <a:latin typeface="Calibri" panose="020F0502020204030204" pitchFamily="34" charset="0"/>
              <a:cs typeface="Calibri" panose="020F0502020204030204" pitchFamily="34" charset="0"/>
            </a:endParaRPr>
          </a:p>
        </p:txBody>
      </p:sp>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60833" y="5023104"/>
            <a:ext cx="11358218" cy="1220132"/>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latin typeface="Calibri" panose="020F0502020204030204" pitchFamily="34" charset="0"/>
                <a:cs typeface="Calibri" panose="020F0502020204030204" pitchFamily="34" charset="0"/>
              </a:rPr>
              <a:t>שירותים חברתיים למקבלי גמלת סיעוד מחייב הסתכלות רחבה על כל </a:t>
            </a:r>
            <a:r>
              <a:rPr lang="he-IL" sz="2500" dirty="0" smtClean="0">
                <a:latin typeface="Calibri" panose="020F0502020204030204" pitchFamily="34" charset="0"/>
                <a:cs typeface="Calibri" panose="020F0502020204030204" pitchFamily="34" charset="0"/>
              </a:rPr>
              <a:t>360 </a:t>
            </a:r>
            <a:r>
              <a:rPr lang="he-IL" sz="2500" dirty="0">
                <a:latin typeface="Calibri" panose="020F0502020204030204" pitchFamily="34" charset="0"/>
                <a:cs typeface="Calibri" panose="020F0502020204030204" pitchFamily="34" charset="0"/>
              </a:rPr>
              <a:t>אלף מקבלי הגמלה, יכולת להציע שירותים מגוונים, התאמה ותמרוץ</a:t>
            </a:r>
          </a:p>
        </p:txBody>
      </p:sp>
      <p:grpSp>
        <p:nvGrpSpPr>
          <p:cNvPr id="7" name="קבוצה 6"/>
          <p:cNvGrpSpPr/>
          <p:nvPr/>
        </p:nvGrpSpPr>
        <p:grpSpPr>
          <a:xfrm>
            <a:off x="1224251" y="1141099"/>
            <a:ext cx="9653910" cy="2580023"/>
            <a:chOff x="1291535" y="3895066"/>
            <a:chExt cx="9653910" cy="2580023"/>
          </a:xfrm>
        </p:grpSpPr>
        <p:sp>
          <p:nvSpPr>
            <p:cNvPr id="16" name="אליפסה 15"/>
            <p:cNvSpPr/>
            <p:nvPr/>
          </p:nvSpPr>
          <p:spPr>
            <a:xfrm>
              <a:off x="4637356" y="477049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88150" y="4805408"/>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p>
          </p:txBody>
        </p:sp>
        <p:sp>
          <p:nvSpPr>
            <p:cNvPr id="15" name="אליפסה 14"/>
            <p:cNvSpPr/>
            <p:nvPr/>
          </p:nvSpPr>
          <p:spPr>
            <a:xfrm>
              <a:off x="2936925" y="468280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91535" y="475791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8513765" y="3895066"/>
              <a:ext cx="2431680" cy="836705"/>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smtClean="0">
                  <a:latin typeface="Calibri" panose="020F0502020204030204" pitchFamily="34" charset="0"/>
                  <a:cs typeface="Calibri" panose="020F0502020204030204" pitchFamily="34" charset="0"/>
                </a:rPr>
                <a:t>המטרה:</a:t>
              </a:r>
              <a:endParaRPr lang="he-IL" sz="2500" dirty="0">
                <a:latin typeface="Calibri" panose="020F0502020204030204" pitchFamily="34" charset="0"/>
                <a:cs typeface="Calibri" panose="020F0502020204030204" pitchFamily="34" charset="0"/>
              </a:endParaRP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smtClean="0">
                <a:latin typeface="Calibri" panose="020F0502020204030204" pitchFamily="34" charset="0"/>
                <a:cs typeface="Calibri" panose="020F0502020204030204" pitchFamily="34" charset="0"/>
              </a:rPr>
              <a:t>שת"פ והעברות מידע– </a:t>
            </a:r>
            <a:r>
              <a:rPr lang="he-IL" sz="2800" b="1" dirty="0">
                <a:latin typeface="Calibri" panose="020F0502020204030204" pitchFamily="34" charset="0"/>
                <a:cs typeface="Calibri" panose="020F0502020204030204" pitchFamily="34" charset="0"/>
              </a:rPr>
              <a:t>ביטוח לאומי ומשרד הרווחה</a:t>
            </a: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אליפסה 13"/>
          <p:cNvSpPr/>
          <p:nvPr/>
        </p:nvSpPr>
        <p:spPr>
          <a:xfrm>
            <a:off x="6275476" y="205144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התאמת שירותים לצרכי הלקוחות</a:t>
            </a:r>
          </a:p>
        </p:txBody>
      </p:sp>
      <p:sp>
        <p:nvSpPr>
          <p:cNvPr id="18" name="מלבן 17"/>
          <p:cNvSpPr/>
          <p:nvPr/>
        </p:nvSpPr>
        <p:spPr>
          <a:xfrm>
            <a:off x="-2308" y="1"/>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385796697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261467" y="2699314"/>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556379"/>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96695" y="3544372"/>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78026" y="993726"/>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1" name="TextBox 10">
            <a:extLst>
              <a:ext uri="{FF2B5EF4-FFF2-40B4-BE49-F238E27FC236}">
                <a16:creationId xmlns:a16="http://schemas.microsoft.com/office/drawing/2014/main" id="{5232FA89-8984-E81F-433F-72F56A7CFBC3}"/>
              </a:ext>
            </a:extLst>
          </p:cNvPr>
          <p:cNvSpPr txBox="1"/>
          <p:nvPr/>
        </p:nvSpPr>
        <p:spPr>
          <a:xfrm rot="19789154">
            <a:off x="293119" y="132289"/>
            <a:ext cx="1248074" cy="711733"/>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0" cap="none" spc="0" normalizeH="0" baseline="0" noProof="0" dirty="0" smtClean="0">
                <a:ln>
                  <a:noFill/>
                </a:ln>
                <a:solidFill>
                  <a:srgbClr val="0070C0"/>
                </a:solidFill>
                <a:effectLst/>
                <a:uLnTx/>
                <a:uFillTx/>
                <a:latin typeface="Abadi Extra Light" panose="020B0204020104020204" pitchFamily="34" charset="0"/>
                <a:ea typeface="+mn-ea"/>
                <a:cs typeface="Assistant" pitchFamily="2" charset="-79"/>
              </a:rPr>
              <a:t>עבר בצוות דיוק </a:t>
            </a:r>
            <a:r>
              <a:rPr kumimoji="0" lang="he-IL" sz="1400" b="0" i="0" u="none" strike="noStrike" kern="0" cap="none" spc="0" normalizeH="0" baseline="0" noProof="0" dirty="0">
                <a:ln>
                  <a:noFill/>
                </a:ln>
                <a:solidFill>
                  <a:srgbClr val="0070C0"/>
                </a:solidFill>
                <a:effectLst/>
                <a:uLnTx/>
                <a:uFillTx/>
                <a:latin typeface="Abadi Extra Light" panose="020B0204020104020204" pitchFamily="34" charset="0"/>
                <a:ea typeface="+mn-ea"/>
                <a:cs typeface="Assistant" pitchFamily="2" charset="-79"/>
              </a:rPr>
              <a:t>ותיקוף </a:t>
            </a: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6" name="TextBox 5">
            <a:extLst>
              <a:ext uri="{FF2B5EF4-FFF2-40B4-BE49-F238E27FC236}">
                <a16:creationId xmlns:a16="http://schemas.microsoft.com/office/drawing/2014/main" id="{777A5C82-BB67-6A69-E96B-E772805361CB}"/>
              </a:ext>
            </a:extLst>
          </p:cNvPr>
          <p:cNvSpPr txBox="1"/>
          <p:nvPr/>
        </p:nvSpPr>
        <p:spPr>
          <a:xfrm>
            <a:off x="6299189" y="157392"/>
            <a:ext cx="5421351" cy="741645"/>
          </a:xfrm>
          <a:prstGeom prst="rect">
            <a:avLst/>
          </a:prstGeom>
          <a:solidFill>
            <a:srgbClr val="92B0B1"/>
          </a:solidFill>
          <a:ln>
            <a:solidFill>
              <a:sysClr val="window" lastClr="FFFFFF"/>
            </a:solidFill>
          </a:ln>
        </p:spPr>
        <p:txBody>
          <a:bodyPr vert="horz" lIns="91440" tIns="45720" rIns="91440" bIns="45720" rtlCol="1" anchor="ctr">
            <a:normAutofit/>
          </a:bodyPr>
          <a:lstStyle/>
          <a:p>
            <a:pPr marL="0" marR="0" lvl="1" indent="0" algn="r" defTabSz="914400" rtl="1" eaLnBrk="1" fontAlgn="auto" latinLnBrk="0" hangingPunct="1">
              <a:lnSpc>
                <a:spcPct val="90000"/>
              </a:lnSpc>
              <a:spcBef>
                <a:spcPct val="0"/>
              </a:spcBef>
              <a:spcAft>
                <a:spcPts val="601"/>
              </a:spcAft>
              <a:buClrTx/>
              <a:buSzTx/>
              <a:buFontTx/>
              <a:buNone/>
              <a:tabLst/>
              <a:defRPr/>
            </a:pPr>
            <a:r>
              <a:rPr kumimoji="0" lang="he-IL" sz="3000" b="1" i="0" u="none" strike="noStrike" kern="0" cap="none" spc="0" normalizeH="0" baseline="0" noProof="0" dirty="0" smtClean="0">
                <a:ln>
                  <a:noFill/>
                </a:ln>
                <a:effectLst/>
                <a:uLnTx/>
                <a:uFillTx/>
                <a:latin typeface="Assistant" pitchFamily="2" charset="-79"/>
                <a:ea typeface="+mn-ea"/>
                <a:cs typeface="Assistant" pitchFamily="2" charset="-79"/>
              </a:rPr>
              <a:t>תפיסת </a:t>
            </a:r>
            <a:r>
              <a:rPr kumimoji="0" lang="he-IL" sz="3000" b="1" i="0" u="none" strike="noStrike" kern="0" cap="none" spc="0" normalizeH="0" baseline="0" noProof="0" dirty="0">
                <a:ln>
                  <a:noFill/>
                </a:ln>
                <a:effectLst/>
                <a:uLnTx/>
                <a:uFillTx/>
                <a:latin typeface="Assistant" pitchFamily="2" charset="-79"/>
                <a:ea typeface="+mn-ea"/>
                <a:cs typeface="Assistant" pitchFamily="2" charset="-79"/>
              </a:rPr>
              <a:t>מניעה רב מערכתית</a:t>
            </a:r>
          </a:p>
        </p:txBody>
      </p:sp>
      <p:sp>
        <p:nvSpPr>
          <p:cNvPr id="26" name="Oval 25">
            <a:extLst>
              <a:ext uri="{FF2B5EF4-FFF2-40B4-BE49-F238E27FC236}">
                <a16:creationId xmlns:a16="http://schemas.microsoft.com/office/drawing/2014/main" id="{240B0163-0C51-75EE-8BBC-4073CE35CD1B}"/>
              </a:ext>
            </a:extLst>
          </p:cNvPr>
          <p:cNvSpPr/>
          <p:nvPr/>
        </p:nvSpPr>
        <p:spPr>
          <a:xfrm>
            <a:off x="5410645" y="-42287"/>
            <a:ext cx="1156179" cy="1036013"/>
          </a:xfrm>
          <a:prstGeom prst="ellipse">
            <a:avLst/>
          </a:prstGeom>
          <a:solidFill>
            <a:srgbClr val="92B0B1"/>
          </a:solidFill>
          <a:ln w="12700" cap="flat" cmpd="sng" algn="ctr">
            <a:solidFill>
              <a:sysClr val="window" lastClr="FFFFFF"/>
            </a:solid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Segoe UI Semilight"/>
              <a:ea typeface="+mn-ea"/>
              <a:cs typeface="Segoe UI Semilight"/>
            </a:endParaRPr>
          </a:p>
        </p:txBody>
      </p:sp>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559305" y="66112"/>
            <a:ext cx="873494" cy="790179"/>
          </a:xfrm>
          <a:prstGeom prst="rect">
            <a:avLst/>
          </a:prstGeom>
        </p:spPr>
      </p:pic>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a:t>
            </a:r>
            <a:r>
              <a:rPr kumimoji="0" lang="he-IL" sz="1400" b="1" i="0" u="none" strike="noStrike" kern="1200" cap="none" spc="0" normalizeH="0" noProof="0" dirty="0">
                <a:ln>
                  <a:noFill/>
                </a:ln>
                <a:solidFill>
                  <a:prstClr val="white"/>
                </a:solidFill>
                <a:effectLst/>
                <a:uLnTx/>
                <a:uFillTx/>
                <a:latin typeface="Assistant" pitchFamily="2" charset="-79"/>
                <a:ea typeface="+mn-ea"/>
                <a:cs typeface="Assistant" pitchFamily="2" charset="-79"/>
              </a:rPr>
              <a:t> הממשלה הרלוונטיים</a:t>
            </a:r>
            <a:endPar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48" name="מלבן 4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2" name="TextBox 51"/>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
        <p:nvSpPr>
          <p:cNvPr id="53" name="מלבן 52"/>
          <p:cNvSpPr/>
          <p:nvPr/>
        </p:nvSpPr>
        <p:spPr>
          <a:xfrm>
            <a:off x="-13034" y="0"/>
            <a:ext cx="182534"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4" name="TextBox 53"/>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מדידה ותמריצים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13369455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6" name="כותרת 1">
            <a:extLst>
              <a:ext uri="{FF2B5EF4-FFF2-40B4-BE49-F238E27FC236}">
                <a16:creationId xmlns:a16="http://schemas.microsoft.com/office/drawing/2014/main" id="{6973C292-7C91-3E09-A643-E181A0D8E667}"/>
              </a:ext>
            </a:extLst>
          </p:cNvPr>
          <p:cNvSpPr txBox="1">
            <a:spLocks/>
          </p:cNvSpPr>
          <p:nvPr/>
        </p:nvSpPr>
        <p:spPr>
          <a:xfrm>
            <a:off x="0" y="39688"/>
            <a:ext cx="11353800" cy="636587"/>
          </a:xfrm>
          <a:prstGeom prst="rect">
            <a:avLst/>
          </a:prstGeom>
        </p:spPr>
        <p:txBody>
          <a:bodyPr vert="horz" lIns="91440" tIns="45720" rIns="91440" bIns="45720" rtlCol="0" anchor="t">
            <a:noAutofit/>
          </a:bodyPr>
          <a:lstStyle>
            <a:lvl1pPr algn="r" defTabSz="914400" rtl="1" eaLnBrk="1" latinLnBrk="0" hangingPunct="1">
              <a:lnSpc>
                <a:spcPct val="100000"/>
              </a:lnSpc>
              <a:spcBef>
                <a:spcPts val="0"/>
              </a:spcBef>
              <a:buNone/>
              <a:defRPr sz="4000" b="1" kern="1200">
                <a:solidFill>
                  <a:schemeClr val="tx1"/>
                </a:solidFill>
                <a:latin typeface="Segoe UI" panose="020B0502040204020203" pitchFamily="34" charset="0"/>
                <a:ea typeface="Segoe UI Black" panose="020B0A02040204020203" pitchFamily="34" charset="0"/>
                <a:cs typeface="Segoe UI" panose="020B0502040204020203"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4000" b="1" i="0" u="none" strike="noStrike" kern="1200" cap="none" spc="0" normalizeH="0" baseline="0" noProof="0">
              <a:ln>
                <a:noFill/>
              </a:ln>
              <a:solidFill>
                <a:srgbClr val="40595A"/>
              </a:solidFill>
              <a:effectLst/>
              <a:uLnTx/>
              <a:uFillTx/>
              <a:latin typeface="Segoe UI" panose="020B0502040204020203" pitchFamily="34" charset="0"/>
              <a:ea typeface="Segoe UI Black" panose="020B0A02040204020203" pitchFamily="34" charset="0"/>
              <a:cs typeface="+mn-cs"/>
            </a:endParaRPr>
          </a:p>
        </p:txBody>
      </p:sp>
      <p:sp>
        <p:nvSpPr>
          <p:cNvPr id="10" name="TextBox 9">
            <a:extLst>
              <a:ext uri="{FF2B5EF4-FFF2-40B4-BE49-F238E27FC236}">
                <a16:creationId xmlns:a16="http://schemas.microsoft.com/office/drawing/2014/main" id="{A46F86F7-1827-A779-1C34-1903E5205FA2}"/>
              </a:ext>
            </a:extLst>
          </p:cNvPr>
          <p:cNvSpPr txBox="1"/>
          <p:nvPr/>
        </p:nvSpPr>
        <p:spPr>
          <a:xfrm>
            <a:off x="7173524" y="3690978"/>
            <a:ext cx="3355867"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sng" strike="noStrike" kern="1200" cap="none" spc="0" normalizeH="0" baseline="0" noProof="0">
                <a:ln>
                  <a:noFill/>
                </a:ln>
                <a:solidFill>
                  <a:srgbClr val="FFFFFF"/>
                </a:solidFill>
                <a:effectLst/>
                <a:uLnTx/>
                <a:uFillTx/>
                <a:latin typeface="Assistant" pitchFamily="2" charset="-79"/>
                <a:ea typeface="+mn-ea"/>
              </a:rPr>
              <a:t>קהל היעד - בקרב מי?</a:t>
            </a:r>
          </a:p>
        </p:txBody>
      </p:sp>
      <p:sp>
        <p:nvSpPr>
          <p:cNvPr id="13" name="TextBox 12">
            <a:extLst>
              <a:ext uri="{FF2B5EF4-FFF2-40B4-BE49-F238E27FC236}">
                <a16:creationId xmlns:a16="http://schemas.microsoft.com/office/drawing/2014/main" id="{B64C0090-A7A8-B4EA-F222-C0DC6A7E9849}"/>
              </a:ext>
            </a:extLst>
          </p:cNvPr>
          <p:cNvSpPr txBox="1"/>
          <p:nvPr/>
        </p:nvSpPr>
        <p:spPr>
          <a:xfrm>
            <a:off x="5863035" y="4160021"/>
            <a:ext cx="5062444" cy="198515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rPr>
              <a:t>פרופילים נוספים שסומנו בסדנה :</a:t>
            </a:r>
            <a:r>
              <a:rPr kumimoji="0" lang="en-US" b="1" i="0" u="none" strike="noStrike" kern="1200" cap="none" spc="0" normalizeH="0" baseline="0" noProof="0" dirty="0">
                <a:ln>
                  <a:noFill/>
                </a:ln>
                <a:solidFill>
                  <a:srgbClr val="E7E6E6">
                    <a:lumMod val="10000"/>
                  </a:srgbClr>
                </a:solidFill>
                <a:effectLst/>
                <a:uLnTx/>
                <a:uFillTx/>
                <a:latin typeface="Assistant" pitchFamily="2" charset="-79"/>
                <a:ea typeface="+mn-ea"/>
              </a:rPr>
              <a:t> </a:t>
            </a:r>
            <a:endPar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endParaRP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אוכלוסייה בצמתי סיכון ומשבר (פרישה, התאלמנות,</a:t>
            </a:r>
            <a:r>
              <a:rPr kumimoji="0" lang="en-US" sz="1600" b="0" i="0" u="none" strike="noStrike" kern="100" cap="none" spc="0" normalizeH="0" baseline="0" noProof="0" dirty="0">
                <a:ln>
                  <a:noFill/>
                </a:ln>
                <a:solidFill>
                  <a:srgbClr val="E7E6E6">
                    <a:lumMod val="25000"/>
                  </a:srgbClr>
                </a:solidFill>
                <a:effectLst/>
                <a:uLnTx/>
                <a:uFillTx/>
                <a:latin typeface="Assistant" pitchFamily="2" charset="-79"/>
                <a:ea typeface="+mn-ea"/>
              </a:rPr>
              <a:t> </a:t>
            </a: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אירוע רפואי, וכד') </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התמקדות גילאית (אחרי גיל 75)</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התמקדות באוכלוסייה מוחלשת כלכלית (השלמת הכנסה) </a:t>
            </a:r>
          </a:p>
        </p:txBody>
      </p:sp>
      <p:sp>
        <p:nvSpPr>
          <p:cNvPr id="15" name="TextBox 14">
            <a:extLst>
              <a:ext uri="{FF2B5EF4-FFF2-40B4-BE49-F238E27FC236}">
                <a16:creationId xmlns:a16="http://schemas.microsoft.com/office/drawing/2014/main" id="{0693EA45-9AB1-671D-BD55-00E23117D3B9}"/>
              </a:ext>
            </a:extLst>
          </p:cNvPr>
          <p:cNvSpPr txBox="1"/>
          <p:nvPr/>
        </p:nvSpPr>
        <p:spPr>
          <a:xfrm>
            <a:off x="503465" y="3865886"/>
            <a:ext cx="4203279" cy="2354491"/>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rPr>
              <a:t>מדדים נדרשים :</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גידול במשך הזמן הממוצע במעבר בין רמות הסיעוד ו/או בכניסה לרמת סיעוד</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גידול במשך הזמן הממוצע במעבר בין רמות השבריריות</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מספר שנים בריאות מגיל 65</a:t>
            </a:r>
          </a:p>
        </p:txBody>
      </p:sp>
      <p:pic>
        <p:nvPicPr>
          <p:cNvPr id="5" name="Graphic 4" descr="Group with solid fill">
            <a:extLst>
              <a:ext uri="{FF2B5EF4-FFF2-40B4-BE49-F238E27FC236}">
                <a16:creationId xmlns:a16="http://schemas.microsoft.com/office/drawing/2014/main" id="{FFA36462-8EB6-DA0A-F533-34F6376C7B6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003691" y="2889028"/>
            <a:ext cx="1051400" cy="1051400"/>
          </a:xfrm>
          <a:prstGeom prst="rect">
            <a:avLst/>
          </a:prstGeom>
        </p:spPr>
      </p:pic>
      <p:pic>
        <p:nvPicPr>
          <p:cNvPr id="7" name="Graphic 6" descr="Bar chart with solid fill">
            <a:extLst>
              <a:ext uri="{FF2B5EF4-FFF2-40B4-BE49-F238E27FC236}">
                <a16:creationId xmlns:a16="http://schemas.microsoft.com/office/drawing/2014/main" id="{6796BC9C-E1C3-19A1-EC8A-F4D1F0F19B9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3870056" y="2971800"/>
            <a:ext cx="914400" cy="914400"/>
          </a:xfrm>
          <a:prstGeom prst="rect">
            <a:avLst/>
          </a:prstGeom>
        </p:spPr>
      </p:pic>
      <p:sp>
        <p:nvSpPr>
          <p:cNvPr id="12" name="TextBox 11">
            <a:extLst>
              <a:ext uri="{FF2B5EF4-FFF2-40B4-BE49-F238E27FC236}">
                <a16:creationId xmlns:a16="http://schemas.microsoft.com/office/drawing/2014/main" id="{E48D5315-659E-1E29-32B7-F6053180AEAA}"/>
              </a:ext>
            </a:extLst>
          </p:cNvPr>
          <p:cNvSpPr txBox="1"/>
          <p:nvPr/>
        </p:nvSpPr>
        <p:spPr>
          <a:xfrm>
            <a:off x="3212657" y="1726004"/>
            <a:ext cx="5181600" cy="707886"/>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E7E6E6">
                    <a:lumMod val="10000"/>
                  </a:srgbClr>
                </a:solidFill>
                <a:effectLst/>
                <a:uLnTx/>
                <a:uFillTx/>
                <a:latin typeface="Assistant" pitchFamily="2" charset="-79"/>
                <a:ea typeface="+mn-ea"/>
              </a:rPr>
              <a:t>האטת קצב ההידרדרות </a:t>
            </a:r>
            <a:r>
              <a:rPr kumimoji="0" lang="en-US" sz="2000" b="1" i="0" u="none" strike="noStrike" kern="1200" cap="none" spc="0" normalizeH="0" baseline="0" noProof="0" dirty="0">
                <a:ln>
                  <a:noFill/>
                </a:ln>
                <a:solidFill>
                  <a:srgbClr val="E7E6E6">
                    <a:lumMod val="10000"/>
                  </a:srgbClr>
                </a:solidFill>
                <a:effectLst/>
                <a:uLnTx/>
                <a:uFillTx/>
                <a:latin typeface="Assistant" pitchFamily="2" charset="-79"/>
                <a:ea typeface="+mn-ea"/>
              </a:rPr>
              <a:t/>
            </a:r>
            <a:br>
              <a:rPr kumimoji="0" lang="en-US" sz="2000" b="1" i="0" u="none" strike="noStrike" kern="1200" cap="none" spc="0" normalizeH="0" baseline="0" noProof="0" dirty="0">
                <a:ln>
                  <a:noFill/>
                </a:ln>
                <a:solidFill>
                  <a:srgbClr val="E7E6E6">
                    <a:lumMod val="10000"/>
                  </a:srgbClr>
                </a:solidFill>
                <a:effectLst/>
                <a:uLnTx/>
                <a:uFillTx/>
                <a:latin typeface="Assistant" pitchFamily="2" charset="-79"/>
                <a:ea typeface="+mn-ea"/>
              </a:rPr>
            </a:br>
            <a:r>
              <a:rPr kumimoji="0" lang="he-IL" sz="2000" b="1" i="0" u="none" strike="noStrike" kern="1200" cap="none" spc="0" normalizeH="0" baseline="0" noProof="0" dirty="0">
                <a:ln>
                  <a:noFill/>
                </a:ln>
                <a:solidFill>
                  <a:srgbClr val="E7E6E6">
                    <a:lumMod val="10000"/>
                  </a:srgbClr>
                </a:solidFill>
                <a:effectLst/>
                <a:uLnTx/>
                <a:uFillTx/>
                <a:latin typeface="Assistant" pitchFamily="2" charset="-79"/>
                <a:ea typeface="+mn-ea"/>
              </a:rPr>
              <a:t>ושמירת תפקוד לאורך זמן </a:t>
            </a:r>
          </a:p>
        </p:txBody>
      </p:sp>
      <p:sp>
        <p:nvSpPr>
          <p:cNvPr id="22" name="TextBox 21">
            <a:extLst>
              <a:ext uri="{FF2B5EF4-FFF2-40B4-BE49-F238E27FC236}">
                <a16:creationId xmlns:a16="http://schemas.microsoft.com/office/drawing/2014/main" id="{267B6C78-21C4-7D71-B31E-D2FD9F2858B0}"/>
              </a:ext>
            </a:extLst>
          </p:cNvPr>
          <p:cNvSpPr txBox="1"/>
          <p:nvPr/>
        </p:nvSpPr>
        <p:spPr>
          <a:xfrm>
            <a:off x="7473788" y="2991280"/>
            <a:ext cx="2781300" cy="1077218"/>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E7E6E6">
                    <a:lumMod val="10000"/>
                  </a:srgbClr>
                </a:solidFill>
                <a:effectLst/>
                <a:uLnTx/>
                <a:uFillTx/>
                <a:latin typeface="Assistant" pitchFamily="2" charset="-79"/>
                <a:ea typeface="+mn-ea"/>
              </a:rPr>
              <a:t>קהל היעד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E7E6E6">
                    <a:lumMod val="10000"/>
                  </a:srgbClr>
                </a:solidFill>
                <a:effectLst/>
                <a:uLnTx/>
                <a:uFillTx/>
                <a:latin typeface="Assistant" pitchFamily="2" charset="-79"/>
                <a:ea typeface="+mn-ea"/>
              </a:rPr>
              <a:t>זכאי חוק סיעוד </a:t>
            </a:r>
            <a:r>
              <a:rPr kumimoji="0" lang="en-US" sz="2000" b="0" i="0" u="none" strike="noStrike" kern="1200" cap="none" spc="0" normalizeH="0" baseline="0" noProof="0" dirty="0">
                <a:ln>
                  <a:noFill/>
                </a:ln>
                <a:solidFill>
                  <a:srgbClr val="E7E6E6">
                    <a:lumMod val="10000"/>
                  </a:srgbClr>
                </a:solidFill>
                <a:effectLst/>
                <a:uLnTx/>
                <a:uFillTx/>
                <a:latin typeface="Assistant" pitchFamily="2" charset="-79"/>
                <a:ea typeface="+mn-ea"/>
              </a:rPr>
              <a:t/>
            </a:r>
            <a:br>
              <a:rPr kumimoji="0" lang="en-US" sz="2000" b="0" i="0" u="none" strike="noStrike" kern="1200" cap="none" spc="0" normalizeH="0" baseline="0" noProof="0" dirty="0">
                <a:ln>
                  <a:noFill/>
                </a:ln>
                <a:solidFill>
                  <a:srgbClr val="E7E6E6">
                    <a:lumMod val="10000"/>
                  </a:srgbClr>
                </a:solidFill>
                <a:effectLst/>
                <a:uLnTx/>
                <a:uFillTx/>
                <a:latin typeface="Assistant" pitchFamily="2" charset="-79"/>
                <a:ea typeface="+mn-ea"/>
              </a:rPr>
            </a:br>
            <a:r>
              <a:rPr kumimoji="0" lang="he-IL" sz="2000" b="0" i="0" u="none" strike="noStrike" kern="1200" cap="none" spc="0" normalizeH="0" baseline="0" noProof="0" dirty="0">
                <a:ln>
                  <a:noFill/>
                </a:ln>
                <a:solidFill>
                  <a:srgbClr val="E7E6E6">
                    <a:lumMod val="10000"/>
                  </a:srgbClr>
                </a:solidFill>
                <a:effectLst/>
                <a:uLnTx/>
                <a:uFillTx/>
                <a:latin typeface="Assistant" pitchFamily="2" charset="-79"/>
                <a:ea typeface="+mn-ea"/>
              </a:rPr>
              <a:t>ברמות הנמוכות</a:t>
            </a:r>
            <a:r>
              <a:rPr kumimoji="0" lang="he-IL" sz="1600" b="0" i="0" u="none" strike="noStrike" kern="1200" cap="none" spc="0" normalizeH="0" baseline="0" noProof="0" dirty="0">
                <a:ln>
                  <a:noFill/>
                </a:ln>
                <a:solidFill>
                  <a:srgbClr val="E7E6E6">
                    <a:lumMod val="10000"/>
                  </a:srgbClr>
                </a:solidFill>
                <a:effectLst/>
                <a:uLnTx/>
                <a:uFillTx/>
                <a:latin typeface="Assistant" pitchFamily="2" charset="-79"/>
                <a:ea typeface="+mn-ea"/>
              </a:rPr>
              <a:t> 0-2*</a:t>
            </a:r>
          </a:p>
        </p:txBody>
      </p:sp>
      <p:sp>
        <p:nvSpPr>
          <p:cNvPr id="23" name="TextBox 22">
            <a:extLst>
              <a:ext uri="{FF2B5EF4-FFF2-40B4-BE49-F238E27FC236}">
                <a16:creationId xmlns:a16="http://schemas.microsoft.com/office/drawing/2014/main" id="{8AEDB0D2-2F20-5D79-1F67-5B959D510AEA}"/>
              </a:ext>
            </a:extLst>
          </p:cNvPr>
          <p:cNvSpPr txBox="1"/>
          <p:nvPr/>
        </p:nvSpPr>
        <p:spPr>
          <a:xfrm>
            <a:off x="1587802" y="2991280"/>
            <a:ext cx="2282254" cy="461665"/>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E7E6E6">
                    <a:lumMod val="10000"/>
                  </a:srgbClr>
                </a:solidFill>
                <a:effectLst/>
                <a:uLnTx/>
                <a:uFillTx/>
                <a:latin typeface="Assistant" pitchFamily="2" charset="-79"/>
                <a:ea typeface="+mn-ea"/>
              </a:rPr>
              <a:t>מדדי האימפקט</a:t>
            </a:r>
          </a:p>
        </p:txBody>
      </p:sp>
      <p:sp>
        <p:nvSpPr>
          <p:cNvPr id="3" name="TextBox 2">
            <a:extLst>
              <a:ext uri="{FF2B5EF4-FFF2-40B4-BE49-F238E27FC236}">
                <a16:creationId xmlns:a16="http://schemas.microsoft.com/office/drawing/2014/main" id="{63561BE2-D3D7-A06A-A574-984DD80A750F}"/>
              </a:ext>
            </a:extLst>
          </p:cNvPr>
          <p:cNvSpPr txBox="1"/>
          <p:nvPr/>
        </p:nvSpPr>
        <p:spPr>
          <a:xfrm>
            <a:off x="9366155" y="426607"/>
            <a:ext cx="2781300" cy="144655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srgbClr val="FFC000"/>
                </a:solidFill>
                <a:effectLst/>
                <a:uLnTx/>
                <a:uFillTx/>
                <a:latin typeface="Assistant" pitchFamily="2" charset="-79"/>
                <a:ea typeface="+mn-ea"/>
              </a:rPr>
              <a:t>סקיצת</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srgbClr val="FFC000"/>
                </a:solidFill>
                <a:effectLst/>
                <a:uLnTx/>
                <a:uFillTx/>
                <a:latin typeface="Assistant" pitchFamily="2" charset="-79"/>
                <a:ea typeface="+mn-ea"/>
              </a:rPr>
              <a:t>שימור תפקוד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FFC000"/>
                </a:solidFill>
                <a:effectLst/>
                <a:uLnTx/>
                <a:uFillTx/>
                <a:latin typeface="Assistant" pitchFamily="2" charset="-79"/>
                <a:ea typeface="+mn-ea"/>
              </a:rPr>
              <a:t>פירוט</a:t>
            </a:r>
            <a:endParaRPr kumimoji="0" lang="he-IL" sz="3200" b="0" i="0" u="none" strike="noStrike" kern="1200" cap="none" spc="0" normalizeH="0" baseline="0" noProof="0" dirty="0">
              <a:ln>
                <a:noFill/>
              </a:ln>
              <a:solidFill>
                <a:srgbClr val="FFC000"/>
              </a:solidFill>
              <a:effectLst/>
              <a:uLnTx/>
              <a:uFillTx/>
              <a:latin typeface="Assistant" pitchFamily="2" charset="-79"/>
              <a:ea typeface="+mn-ea"/>
            </a:endParaRPr>
          </a:p>
        </p:txBody>
      </p:sp>
      <p:pic>
        <p:nvPicPr>
          <p:cNvPr id="9" name="Graphic 8" descr="Walk outline">
            <a:extLst>
              <a:ext uri="{FF2B5EF4-FFF2-40B4-BE49-F238E27FC236}">
                <a16:creationId xmlns:a16="http://schemas.microsoft.com/office/drawing/2014/main" id="{EC67615D-CC4A-ED0E-B540-AEA62EC9FF76}"/>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9366154" y="197835"/>
            <a:ext cx="820836" cy="820836"/>
          </a:xfrm>
          <a:prstGeom prst="rect">
            <a:avLst/>
          </a:prstGeom>
        </p:spPr>
      </p:pic>
      <p:sp>
        <p:nvSpPr>
          <p:cNvPr id="2" name="TextBox 1">
            <a:extLst>
              <a:ext uri="{FF2B5EF4-FFF2-40B4-BE49-F238E27FC236}">
                <a16:creationId xmlns:a16="http://schemas.microsoft.com/office/drawing/2014/main" id="{CF84B29B-BD08-7CD7-9E23-FBCF2051D710}"/>
              </a:ext>
            </a:extLst>
          </p:cNvPr>
          <p:cNvSpPr txBox="1"/>
          <p:nvPr/>
        </p:nvSpPr>
        <p:spPr>
          <a:xfrm rot="19789154">
            <a:off x="-188497" y="649826"/>
            <a:ext cx="3213243" cy="461665"/>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070C0"/>
                </a:solidFill>
                <a:effectLst/>
                <a:uLnTx/>
                <a:uFillTx/>
                <a:latin typeface="Assistant" pitchFamily="2" charset="-79"/>
                <a:ea typeface="+mn-ea"/>
              </a:rPr>
              <a:t>דורש דיוק תיקוף</a:t>
            </a:r>
          </a:p>
        </p:txBody>
      </p:sp>
      <p:sp>
        <p:nvSpPr>
          <p:cNvPr id="8" name="TextBox 7">
            <a:extLst>
              <a:ext uri="{FF2B5EF4-FFF2-40B4-BE49-F238E27FC236}">
                <a16:creationId xmlns:a16="http://schemas.microsoft.com/office/drawing/2014/main" id="{CB7462DD-1B2B-446F-A6F0-976833243AF3}"/>
              </a:ext>
            </a:extLst>
          </p:cNvPr>
          <p:cNvSpPr txBox="1"/>
          <p:nvPr/>
        </p:nvSpPr>
        <p:spPr>
          <a:xfrm>
            <a:off x="2697814" y="760918"/>
            <a:ext cx="6166624" cy="523220"/>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308C8B"/>
                </a:solidFill>
                <a:effectLst/>
                <a:uLnTx/>
                <a:uFillTx/>
                <a:latin typeface="Assistant" pitchFamily="2" charset="-79"/>
                <a:ea typeface="+mn-ea"/>
              </a:rPr>
              <a:t>השינוי הרצוי וקהל היעד</a:t>
            </a:r>
          </a:p>
        </p:txBody>
      </p:sp>
      <p:sp>
        <p:nvSpPr>
          <p:cNvPr id="16" name="מלבן 15"/>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7" name="TextBox 16"/>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
        <p:nvSpPr>
          <p:cNvPr id="18" name="מלבן 17"/>
          <p:cNvSpPr/>
          <p:nvPr/>
        </p:nvSpPr>
        <p:spPr>
          <a:xfrm>
            <a:off x="-13035"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מדידה ותמריצים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10028825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p:txBody>
          <a:bodyPr/>
          <a:lstStyle/>
          <a:p>
            <a:endParaRPr lang="he-IL"/>
          </a:p>
        </p:txBody>
      </p:sp>
      <p:pic>
        <p:nvPicPr>
          <p:cNvPr id="4" name="תמונה 3"/>
          <p:cNvPicPr>
            <a:picLocks noChangeAspect="1"/>
          </p:cNvPicPr>
          <p:nvPr/>
        </p:nvPicPr>
        <p:blipFill rotWithShape="1">
          <a:blip r:embed="rId2"/>
          <a:srcRect b="5484"/>
          <a:stretch/>
        </p:blipFill>
        <p:spPr>
          <a:xfrm>
            <a:off x="-13035" y="0"/>
            <a:ext cx="12205036" cy="6858000"/>
          </a:xfrm>
          <a:prstGeom prst="rect">
            <a:avLst/>
          </a:prstGeom>
        </p:spPr>
      </p:pic>
      <p:sp>
        <p:nvSpPr>
          <p:cNvPr id="5" name="TextBox 4"/>
          <p:cNvSpPr txBox="1"/>
          <p:nvPr/>
        </p:nvSpPr>
        <p:spPr>
          <a:xfrm rot="16200000">
            <a:off x="-699331" y="566656"/>
            <a:ext cx="1417376"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מדידה ותמריצים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
        <p:nvSpPr>
          <p:cNvPr id="6" name="מלבן 5"/>
          <p:cNvSpPr/>
          <p:nvPr/>
        </p:nvSpPr>
        <p:spPr>
          <a:xfrm>
            <a:off x="-13035"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מדידה ותמריצים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20068524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6897" y="207672"/>
            <a:ext cx="10515600" cy="1325563"/>
          </a:xfrm>
        </p:spPr>
        <p:txBody>
          <a:bodyPr/>
          <a:lstStyle/>
          <a:p>
            <a:r>
              <a:rPr lang="en-US" b="1" dirty="0"/>
              <a:t>ROI</a:t>
            </a:r>
            <a:r>
              <a:rPr lang="he-IL" dirty="0"/>
              <a:t> </a:t>
            </a:r>
            <a:r>
              <a:rPr lang="he-IL" dirty="0" smtClean="0"/>
              <a:t>במניעה לפי </a:t>
            </a:r>
            <a:r>
              <a:rPr lang="he-IL" dirty="0"/>
              <a:t>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3588934612"/>
              </p:ext>
            </p:extLst>
          </p:nvPr>
        </p:nvGraphicFramePr>
        <p:xfrm>
          <a:off x="3463637" y="1616364"/>
          <a:ext cx="6354617" cy="4488871"/>
        </p:xfrm>
        <a:graphic>
          <a:graphicData uri="http://schemas.openxmlformats.org/drawingml/2006/chart">
            <c:chart xmlns:c="http://schemas.openxmlformats.org/drawingml/2006/chart" xmlns:r="http://schemas.openxmlformats.org/officeDocument/2006/relationships" r:id="rId2"/>
          </a:graphicData>
        </a:graphic>
      </p:graphicFrame>
      <p:sp>
        <p:nvSpPr>
          <p:cNvPr id="8" name="מלבן 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99331" y="566656"/>
            <a:ext cx="1417376"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מדידה ותמריצים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299142759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תיבת טקסט 8">
            <a:extLst>
              <a:ext uri="{FF2B5EF4-FFF2-40B4-BE49-F238E27FC236}">
                <a16:creationId xmlns:a16="http://schemas.microsoft.com/office/drawing/2014/main" id="{AB0EC874-DDA0-94E9-3D78-D6E17DB7FBB8}"/>
              </a:ext>
            </a:extLst>
          </p:cNvPr>
          <p:cNvSpPr txBox="1"/>
          <p:nvPr/>
        </p:nvSpPr>
        <p:spPr>
          <a:xfrm>
            <a:off x="-263051" y="5794914"/>
            <a:ext cx="1443037"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chemeClr val="bg1"/>
                </a:solidFill>
                <a:effectLst/>
                <a:uLnTx/>
                <a:uFillTx/>
                <a:latin typeface="Calibri" panose="020F0502020204030204" pitchFamily="34" charset="0"/>
                <a:ea typeface="Open Sans" panose="020B0606030504020204" pitchFamily="34" charset="0"/>
                <a:cs typeface="Calibri" panose="020F0502020204030204" pitchFamily="34" charset="0"/>
              </a:rPr>
              <a:t>המסע להזדקנות מיטבית</a:t>
            </a:r>
            <a:endParaRPr kumimoji="0" lang="en-US" sz="1800" b="1" i="0" u="none" strike="noStrike" kern="1200" cap="none" spc="0" normalizeH="0" baseline="0" noProof="0" dirty="0">
              <a:ln>
                <a:noFill/>
              </a:ln>
              <a:solidFill>
                <a:schemeClr val="bg1"/>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sp>
        <p:nvSpPr>
          <p:cNvPr id="15" name="תיבת טקסט 14">
            <a:extLst>
              <a:ext uri="{FF2B5EF4-FFF2-40B4-BE49-F238E27FC236}">
                <a16:creationId xmlns:a16="http://schemas.microsoft.com/office/drawing/2014/main" id="{26E5C0E2-3404-65D5-9580-4A339A80F809}"/>
              </a:ext>
            </a:extLst>
          </p:cNvPr>
          <p:cNvSpPr txBox="1"/>
          <p:nvPr/>
        </p:nvSpPr>
        <p:spPr>
          <a:xfrm>
            <a:off x="74815" y="4855554"/>
            <a:ext cx="7253868" cy="939360"/>
          </a:xfrm>
          <a:prstGeom prst="rect">
            <a:avLst/>
          </a:prstGeom>
          <a:noFill/>
        </p:spPr>
        <p:txBody>
          <a:bodyPr wrap="square">
            <a:spAutoFit/>
          </a:bodyPr>
          <a:lstStyle/>
          <a:p>
            <a:pPr lvl="0" algn="r" rtl="1">
              <a:lnSpc>
                <a:spcPct val="200000"/>
              </a:lnSpc>
              <a:defRPr/>
            </a:pPr>
            <a:r>
              <a:rPr lang="he-IL" sz="3200" b="1" dirty="0" smtClean="0">
                <a:solidFill>
                  <a:srgbClr val="FFB84F"/>
                </a:solidFill>
                <a:latin typeface="Calibri" panose="020F0502020204030204" pitchFamily="34" charset="0"/>
                <a:ea typeface="Open Sans" panose="020B0606030504020204" pitchFamily="34" charset="0"/>
                <a:cs typeface="Calibri" panose="020F0502020204030204" pitchFamily="34" charset="0"/>
              </a:rPr>
              <a:t>תודה על ההקשבה</a:t>
            </a:r>
            <a:endParaRPr lang="he-IL" sz="3200" b="1" dirty="0">
              <a:solidFill>
                <a:srgbClr val="FFB84F"/>
              </a:solidFill>
              <a:latin typeface="Calibri" panose="020F0502020204030204" pitchFamily="34" charset="0"/>
              <a:ea typeface="Open Sans" panose="020B0606030504020204" pitchFamily="34" charset="0"/>
              <a:cs typeface="Calibri" panose="020F0502020204030204" pitchFamily="34" charset="0"/>
            </a:endParaRPr>
          </a:p>
        </p:txBody>
      </p:sp>
      <p:sp>
        <p:nvSpPr>
          <p:cNvPr id="10" name="TextBox 1">
            <a:extLst>
              <a:ext uri="{FF2B5EF4-FFF2-40B4-BE49-F238E27FC236}">
                <a16:creationId xmlns:a16="http://schemas.microsoft.com/office/drawing/2014/main" id="{25A1042E-0AC4-8E2F-E834-454DCB688119}"/>
              </a:ext>
            </a:extLst>
          </p:cNvPr>
          <p:cNvSpPr txBox="1"/>
          <p:nvPr/>
        </p:nvSpPr>
        <p:spPr>
          <a:xfrm>
            <a:off x="2525759" y="5821673"/>
            <a:ext cx="5179126" cy="492443"/>
          </a:xfrm>
          <a:prstGeom prst="rect">
            <a:avLst/>
          </a:prstGeom>
          <a:noFill/>
        </p:spPr>
        <p:txBody>
          <a:bodyPr wrap="square" lIns="0" tIns="0" rIns="0" bIns="0"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FFB84F"/>
                </a:solidFill>
                <a:effectLst/>
                <a:uLnTx/>
                <a:uFillTx/>
                <a:latin typeface="Calibri" panose="020F0502020204030204" pitchFamily="34" charset="0"/>
                <a:ea typeface="Open Sans" panose="020B0606030504020204" pitchFamily="34" charset="0"/>
                <a:cs typeface="Calibri" panose="020F0502020204030204" pitchFamily="34" charset="0"/>
              </a:rPr>
              <a:t>המסע </a:t>
            </a:r>
            <a:r>
              <a:rPr kumimoji="0" lang="he-IL" sz="3200" b="1" i="0" u="none" strike="noStrike" kern="1200" cap="none" spc="0" normalizeH="0" baseline="0" noProof="0" dirty="0" smtClean="0">
                <a:ln>
                  <a:noFill/>
                </a:ln>
                <a:solidFill>
                  <a:srgbClr val="FFB84F"/>
                </a:solidFill>
                <a:effectLst/>
                <a:uLnTx/>
                <a:uFillTx/>
                <a:latin typeface="Calibri" panose="020F0502020204030204" pitchFamily="34" charset="0"/>
                <a:ea typeface="Open Sans" panose="020B0606030504020204" pitchFamily="34" charset="0"/>
                <a:cs typeface="Calibri" panose="020F0502020204030204" pitchFamily="34" charset="0"/>
              </a:rPr>
              <a:t>שלנו מתחיל מכאן</a:t>
            </a:r>
            <a:endParaRPr kumimoji="0" lang="en-US" sz="3200" b="1" i="0" u="none" strike="noStrike" kern="1200" cap="none" spc="0" normalizeH="0" baseline="0" noProof="0" dirty="0">
              <a:ln>
                <a:noFill/>
              </a:ln>
              <a:solidFill>
                <a:srgbClr val="FFB84F"/>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8327960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a:srcRect l="12291" t="14259" r="10000" b="7408"/>
          <a:stretch/>
        </p:blipFill>
        <p:spPr>
          <a:xfrm>
            <a:off x="0" y="0"/>
            <a:ext cx="12192000" cy="6837546"/>
          </a:xfrm>
          <a:prstGeom prst="rect">
            <a:avLst/>
          </a:prstGeom>
        </p:spPr>
      </p:pic>
      <p:sp>
        <p:nvSpPr>
          <p:cNvPr id="3" name="מלבן מעוגל 2"/>
          <p:cNvSpPr/>
          <p:nvPr/>
        </p:nvSpPr>
        <p:spPr>
          <a:xfrm>
            <a:off x="742950" y="2057400"/>
            <a:ext cx="2266950" cy="4591050"/>
          </a:xfrm>
          <a:prstGeom prst="roundRect">
            <a:avLst/>
          </a:prstGeom>
          <a:solidFill>
            <a:schemeClr val="lt1">
              <a:alpha val="0"/>
            </a:schemeClr>
          </a:solidFill>
          <a:ln w="28575">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Tree>
    <p:extLst>
      <p:ext uri="{BB962C8B-B14F-4D97-AF65-F5344CB8AC3E}">
        <p14:creationId xmlns:p14="http://schemas.microsoft.com/office/powerpoint/2010/main" val="4700440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ECFF13-AD49-4A84-A314-DDA8ACF884F2}"/>
              </a:ext>
            </a:extLst>
          </p:cNvPr>
          <p:cNvSpPr txBox="1"/>
          <p:nvPr/>
        </p:nvSpPr>
        <p:spPr>
          <a:xfrm>
            <a:off x="2993543" y="69117"/>
            <a:ext cx="7890767" cy="861774"/>
          </a:xfrm>
          <a:prstGeom prst="rect">
            <a:avLst/>
          </a:prstGeom>
          <a:noFill/>
        </p:spPr>
        <p:txBody>
          <a:bodyPr wrap="square" rtlCol="0">
            <a:spAutoFit/>
          </a:bodyPr>
          <a:lstStyle/>
          <a:p>
            <a:pPr algn="ctr" defTabSz="914446">
              <a:defRPr/>
            </a:pPr>
            <a:r>
              <a:rPr lang="he-IL" altLang="ko-KR" sz="5000" b="1" dirty="0">
                <a:solidFill>
                  <a:srgbClr val="1F497D">
                    <a:lumMod val="75000"/>
                  </a:srgbClr>
                </a:solidFill>
                <a:latin typeface="Calibri Light" panose="020F0302020204030204" pitchFamily="34" charset="0"/>
                <a:cs typeface="Calibri Light" panose="020F0302020204030204" pitchFamily="34" charset="0"/>
              </a:rPr>
              <a:t>התפלגות לפי סוג שירות באחוזים </a:t>
            </a:r>
            <a:endParaRPr lang="en-US" altLang="ko-KR" sz="2000" b="1" dirty="0">
              <a:solidFill>
                <a:srgbClr val="1F497D">
                  <a:lumMod val="75000"/>
                </a:srgbClr>
              </a:solidFill>
              <a:latin typeface="Calibri Light" panose="020F0302020204030204" pitchFamily="34" charset="0"/>
              <a:cs typeface="Calibri Light" panose="020F0302020204030204" pitchFamily="34" charset="0"/>
            </a:endParaRPr>
          </a:p>
        </p:txBody>
      </p:sp>
      <p:graphicFrame>
        <p:nvGraphicFramePr>
          <p:cNvPr id="2" name="טבלה 1"/>
          <p:cNvGraphicFramePr>
            <a:graphicFrameLocks noGrp="1"/>
          </p:cNvGraphicFramePr>
          <p:nvPr>
            <p:extLst>
              <p:ext uri="{D42A27DB-BD31-4B8C-83A1-F6EECF244321}">
                <p14:modId xmlns:p14="http://schemas.microsoft.com/office/powerpoint/2010/main" val="1997478875"/>
              </p:ext>
            </p:extLst>
          </p:nvPr>
        </p:nvGraphicFramePr>
        <p:xfrm>
          <a:off x="2225843" y="1051560"/>
          <a:ext cx="8124789" cy="4653280"/>
        </p:xfrm>
        <a:graphic>
          <a:graphicData uri="http://schemas.openxmlformats.org/drawingml/2006/table">
            <a:tbl>
              <a:tblPr rtl="1" firstRow="1" bandRow="1">
                <a:tableStyleId>{5C22544A-7EE6-4342-B048-85BDC9FD1C3A}</a:tableStyleId>
              </a:tblPr>
              <a:tblGrid>
                <a:gridCol w="2708263">
                  <a:extLst>
                    <a:ext uri="{9D8B030D-6E8A-4147-A177-3AD203B41FA5}">
                      <a16:colId xmlns:a16="http://schemas.microsoft.com/office/drawing/2014/main" val="1660866896"/>
                    </a:ext>
                  </a:extLst>
                </a:gridCol>
                <a:gridCol w="2708263">
                  <a:extLst>
                    <a:ext uri="{9D8B030D-6E8A-4147-A177-3AD203B41FA5}">
                      <a16:colId xmlns:a16="http://schemas.microsoft.com/office/drawing/2014/main" val="143603730"/>
                    </a:ext>
                  </a:extLst>
                </a:gridCol>
                <a:gridCol w="2708263">
                  <a:extLst>
                    <a:ext uri="{9D8B030D-6E8A-4147-A177-3AD203B41FA5}">
                      <a16:colId xmlns:a16="http://schemas.microsoft.com/office/drawing/2014/main" val="2481658894"/>
                    </a:ext>
                  </a:extLst>
                </a:gridCol>
              </a:tblGrid>
              <a:tr h="916922">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שירות  </a:t>
                      </a:r>
                    </a:p>
                  </a:txBody>
                  <a:tcPr>
                    <a:solidFill>
                      <a:schemeClr val="tx2"/>
                    </a:solidFill>
                  </a:tcPr>
                </a:tc>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זכאים </a:t>
                      </a:r>
                    </a:p>
                  </a:txBody>
                  <a:tcPr>
                    <a:solidFill>
                      <a:schemeClr val="tx2"/>
                    </a:solidFill>
                  </a:tcPr>
                </a:tc>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אחוז מכלל הזכאים</a:t>
                      </a:r>
                    </a:p>
                  </a:txBody>
                  <a:tcPr>
                    <a:solidFill>
                      <a:schemeClr val="tx2"/>
                    </a:solidFill>
                  </a:tcPr>
                </a:tc>
                <a:extLst>
                  <a:ext uri="{0D108BD9-81ED-4DB2-BD59-A6C34878D82A}">
                    <a16:rowId xmlns:a16="http://schemas.microsoft.com/office/drawing/2014/main" val="1895310377"/>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זכאים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אחוז מכלל הזכאים</a:t>
                      </a:r>
                    </a:p>
                  </a:txBody>
                  <a:tcPr marL="6350" marR="6350" marT="6350" marB="0" anchor="b"/>
                </a:tc>
                <a:extLst>
                  <a:ext uri="{0D108BD9-81ED-4DB2-BD59-A6C34878D82A}">
                    <a16:rowId xmlns:a16="http://schemas.microsoft.com/office/drawing/2014/main" val="2559496984"/>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סך </a:t>
                      </a:r>
                      <a:r>
                        <a:rPr kumimoji="0" lang="he-IL" sz="28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הכל</a:t>
                      </a:r>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זכאים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346,00</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350" marR="6350" marT="6350" marB="0" anchor="b"/>
                </a:tc>
                <a:extLst>
                  <a:ext uri="{0D108BD9-81ED-4DB2-BD59-A6C34878D82A}">
                    <a16:rowId xmlns:a16="http://schemas.microsoft.com/office/drawing/2014/main" val="433111868"/>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טיפול אישי בבית</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279,319</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81%</a:t>
                      </a:r>
                    </a:p>
                  </a:txBody>
                  <a:tcPr marL="6350" marR="6350" marT="6350" marB="0" anchor="b"/>
                </a:tc>
                <a:extLst>
                  <a:ext uri="{0D108BD9-81ED-4DB2-BD59-A6C34878D82A}">
                    <a16:rowId xmlns:a16="http://schemas.microsoft.com/office/drawing/2014/main" val="74973186"/>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טיפול אישי במרכז יום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12,898</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a:t>
                      </a:r>
                    </a:p>
                  </a:txBody>
                  <a:tcPr marL="6350" marR="6350" marT="6350" marB="0" anchor="b"/>
                </a:tc>
                <a:extLst>
                  <a:ext uri="{0D108BD9-81ED-4DB2-BD59-A6C34878D82A}">
                    <a16:rowId xmlns:a16="http://schemas.microsoft.com/office/drawing/2014/main" val="2215869084"/>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מוצרי ספיגה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39,116</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11.3%</a:t>
                      </a:r>
                    </a:p>
                  </a:txBody>
                  <a:tcPr marL="6350" marR="6350" marT="6350" marB="0" anchor="b"/>
                </a:tc>
                <a:extLst>
                  <a:ext uri="{0D108BD9-81ED-4DB2-BD59-A6C34878D82A}">
                    <a16:rowId xmlns:a16="http://schemas.microsoft.com/office/drawing/2014/main" val="247969896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משדרי מצוקה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23,721</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6.9%</a:t>
                      </a:r>
                    </a:p>
                  </a:txBody>
                  <a:tcPr marL="6350" marR="6350" marT="6350" marB="0" anchor="b"/>
                </a:tc>
                <a:extLst>
                  <a:ext uri="{0D108BD9-81ED-4DB2-BD59-A6C34878D82A}">
                    <a16:rowId xmlns:a16="http://schemas.microsoft.com/office/drawing/2014/main" val="311252168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שירותי כביסה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644</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0.2%</a:t>
                      </a:r>
                    </a:p>
                  </a:txBody>
                  <a:tcPr marL="6350" marR="6350" marT="6350" marB="0" anchor="b"/>
                </a:tc>
                <a:extLst>
                  <a:ext uri="{0D108BD9-81ED-4DB2-BD59-A6C34878D82A}">
                    <a16:rowId xmlns:a16="http://schemas.microsoft.com/office/drawing/2014/main" val="287574375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קהילה תומכת</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5,150</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1.5%</a:t>
                      </a:r>
                    </a:p>
                  </a:txBody>
                  <a:tcPr marL="6350" marR="6350" marT="6350" marB="0" anchor="b"/>
                </a:tc>
                <a:extLst>
                  <a:ext uri="{0D108BD9-81ED-4DB2-BD59-A6C34878D82A}">
                    <a16:rowId xmlns:a16="http://schemas.microsoft.com/office/drawing/2014/main" val="2302197178"/>
                  </a:ext>
                </a:extLst>
              </a:tr>
            </a:tbl>
          </a:graphicData>
        </a:graphic>
      </p:graphicFrame>
      <p:sp>
        <p:nvSpPr>
          <p:cNvPr id="6" name="TextBox 5"/>
          <p:cNvSpPr txBox="1"/>
          <p:nvPr/>
        </p:nvSpPr>
        <p:spPr>
          <a:xfrm>
            <a:off x="6553407" y="6488669"/>
            <a:ext cx="4876800" cy="369332"/>
          </a:xfrm>
          <a:prstGeom prst="rect">
            <a:avLst/>
          </a:prstGeom>
          <a:noFill/>
        </p:spPr>
        <p:txBody>
          <a:bodyPr wrap="square" rtlCol="1">
            <a:spAutoFit/>
          </a:bodyPr>
          <a:lstStyle/>
          <a:p>
            <a:r>
              <a:rPr lang="he-IL" dirty="0"/>
              <a:t>* נתונים נכון ל 12/23</a:t>
            </a:r>
          </a:p>
        </p:txBody>
      </p:sp>
      <p:pic>
        <p:nvPicPr>
          <p:cNvPr id="7"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 y="5192691"/>
            <a:ext cx="3191085" cy="1619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מלבן 3"/>
          <p:cNvSpPr/>
          <p:nvPr/>
        </p:nvSpPr>
        <p:spPr>
          <a:xfrm>
            <a:off x="2844800" y="3103584"/>
            <a:ext cx="1371600" cy="4064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200"/>
          </a:p>
        </p:txBody>
      </p:sp>
    </p:spTree>
    <p:extLst>
      <p:ext uri="{BB962C8B-B14F-4D97-AF65-F5344CB8AC3E}">
        <p14:creationId xmlns:p14="http://schemas.microsoft.com/office/powerpoint/2010/main" val="23646704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101600" y="-48221"/>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18" b="-9518"/>
            </a:stretch>
          </a:blipFill>
        </p:spPr>
      </p:sp>
      <p:grpSp>
        <p:nvGrpSpPr>
          <p:cNvPr id="3" name="Group 3"/>
          <p:cNvGrpSpPr/>
          <p:nvPr/>
        </p:nvGrpSpPr>
        <p:grpSpPr>
          <a:xfrm>
            <a:off x="1194037" y="0"/>
            <a:ext cx="3293695" cy="6858000"/>
            <a:chOff x="0" y="0"/>
            <a:chExt cx="1301213" cy="2709333"/>
          </a:xfrm>
          <a:solidFill>
            <a:schemeClr val="accent5">
              <a:lumMod val="50000"/>
            </a:schemeClr>
          </a:solidFill>
        </p:grpSpPr>
        <p:sp>
          <p:nvSpPr>
            <p:cNvPr id="4" name="Freeform 4"/>
            <p:cNvSpPr/>
            <p:nvPr/>
          </p:nvSpPr>
          <p:spPr>
            <a:xfrm>
              <a:off x="0" y="0"/>
              <a:ext cx="1301213" cy="2709333"/>
            </a:xfrm>
            <a:custGeom>
              <a:avLst/>
              <a:gdLst/>
              <a:ahLst/>
              <a:cxnLst/>
              <a:rect l="l" t="t" r="r" b="b"/>
              <a:pathLst>
                <a:path w="1301213" h="2709333">
                  <a:moveTo>
                    <a:pt x="0" y="0"/>
                  </a:moveTo>
                  <a:lnTo>
                    <a:pt x="1301213" y="0"/>
                  </a:lnTo>
                  <a:lnTo>
                    <a:pt x="1301213" y="2709333"/>
                  </a:lnTo>
                  <a:lnTo>
                    <a:pt x="0" y="2709333"/>
                  </a:lnTo>
                  <a:close/>
                </a:path>
              </a:pathLst>
            </a:custGeom>
            <a:grpFill/>
          </p:spPr>
        </p:sp>
        <p:sp>
          <p:nvSpPr>
            <p:cNvPr id="5" name="TextBox 5"/>
            <p:cNvSpPr txBox="1"/>
            <p:nvPr/>
          </p:nvSpPr>
          <p:spPr>
            <a:xfrm>
              <a:off x="0" y="-38100"/>
              <a:ext cx="1301213" cy="2747433"/>
            </a:xfrm>
            <a:prstGeom prst="rect">
              <a:avLst/>
            </a:prstGeom>
            <a:grpFill/>
          </p:spPr>
          <p:txBody>
            <a:bodyPr lIns="33867" tIns="33867" rIns="33867" bIns="33867" rtlCol="0" anchor="ctr"/>
            <a:lstStyle/>
            <a:p>
              <a:pPr algn="ctr">
                <a:lnSpc>
                  <a:spcPts val="1773"/>
                </a:lnSpc>
                <a:spcBef>
                  <a:spcPct val="0"/>
                </a:spcBef>
              </a:pPr>
              <a:endParaRPr sz="1200"/>
            </a:p>
          </p:txBody>
        </p:sp>
      </p:grpSp>
      <p:grpSp>
        <p:nvGrpSpPr>
          <p:cNvPr id="9" name="Group 9"/>
          <p:cNvGrpSpPr/>
          <p:nvPr/>
        </p:nvGrpSpPr>
        <p:grpSpPr>
          <a:xfrm rot="-2700000">
            <a:off x="4553014" y="3764002"/>
            <a:ext cx="11122285" cy="4791646"/>
            <a:chOff x="0" y="0"/>
            <a:chExt cx="4393989" cy="1892996"/>
          </a:xfrm>
        </p:grpSpPr>
        <p:sp>
          <p:nvSpPr>
            <p:cNvPr id="10" name="Freeform 10"/>
            <p:cNvSpPr/>
            <p:nvPr/>
          </p:nvSpPr>
          <p:spPr>
            <a:xfrm>
              <a:off x="0" y="0"/>
              <a:ext cx="4393989" cy="1892996"/>
            </a:xfrm>
            <a:custGeom>
              <a:avLst/>
              <a:gdLst/>
              <a:ahLst/>
              <a:cxnLst/>
              <a:rect l="l" t="t" r="r" b="b"/>
              <a:pathLst>
                <a:path w="4393989" h="1892996">
                  <a:moveTo>
                    <a:pt x="0" y="0"/>
                  </a:moveTo>
                  <a:lnTo>
                    <a:pt x="4393989" y="0"/>
                  </a:lnTo>
                  <a:lnTo>
                    <a:pt x="4393989" y="1892996"/>
                  </a:lnTo>
                  <a:lnTo>
                    <a:pt x="0" y="1892996"/>
                  </a:lnTo>
                  <a:close/>
                </a:path>
              </a:pathLst>
            </a:custGeom>
            <a:solidFill>
              <a:srgbClr val="00B2BD">
                <a:alpha val="1961"/>
              </a:srgbClr>
            </a:solidFill>
          </p:spPr>
        </p:sp>
        <p:sp>
          <p:nvSpPr>
            <p:cNvPr id="11" name="TextBox 11"/>
            <p:cNvSpPr txBox="1"/>
            <p:nvPr/>
          </p:nvSpPr>
          <p:spPr>
            <a:xfrm>
              <a:off x="0" y="-38100"/>
              <a:ext cx="4393989" cy="193109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5" name="Group 15"/>
          <p:cNvGrpSpPr/>
          <p:nvPr/>
        </p:nvGrpSpPr>
        <p:grpSpPr>
          <a:xfrm>
            <a:off x="5420873" y="1388093"/>
            <a:ext cx="6085327" cy="4081814"/>
            <a:chOff x="0" y="0"/>
            <a:chExt cx="14544035" cy="9755605"/>
          </a:xfrm>
          <a:solidFill>
            <a:schemeClr val="bg1">
              <a:lumMod val="65000"/>
            </a:schemeClr>
          </a:solidFill>
        </p:grpSpPr>
        <p:sp>
          <p:nvSpPr>
            <p:cNvPr id="16" name="Freeform 16"/>
            <p:cNvSpPr/>
            <p:nvPr/>
          </p:nvSpPr>
          <p:spPr>
            <a:xfrm>
              <a:off x="0" y="0"/>
              <a:ext cx="14544035" cy="9755605"/>
            </a:xfrm>
            <a:custGeom>
              <a:avLst/>
              <a:gdLst/>
              <a:ahLst/>
              <a:cxnLst/>
              <a:rect l="l" t="t" r="r" b="b"/>
              <a:pathLst>
                <a:path w="14544035" h="9755605">
                  <a:moveTo>
                    <a:pt x="0" y="0"/>
                  </a:moveTo>
                  <a:lnTo>
                    <a:pt x="0" y="9755605"/>
                  </a:lnTo>
                  <a:lnTo>
                    <a:pt x="14544035" y="9755605"/>
                  </a:lnTo>
                  <a:lnTo>
                    <a:pt x="14544035" y="0"/>
                  </a:lnTo>
                  <a:lnTo>
                    <a:pt x="0" y="0"/>
                  </a:lnTo>
                  <a:close/>
                  <a:moveTo>
                    <a:pt x="14483076" y="9694645"/>
                  </a:moveTo>
                  <a:lnTo>
                    <a:pt x="59690" y="9694645"/>
                  </a:lnTo>
                  <a:lnTo>
                    <a:pt x="59690" y="59690"/>
                  </a:lnTo>
                  <a:lnTo>
                    <a:pt x="14483076" y="59690"/>
                  </a:lnTo>
                  <a:lnTo>
                    <a:pt x="14483076" y="9694645"/>
                  </a:lnTo>
                  <a:close/>
                </a:path>
              </a:pathLst>
            </a:custGeom>
            <a:grpFill/>
          </p:spPr>
        </p:sp>
      </p:grpSp>
      <p:sp>
        <p:nvSpPr>
          <p:cNvPr id="19" name="TextBox 19"/>
          <p:cNvSpPr txBox="1"/>
          <p:nvPr/>
        </p:nvSpPr>
        <p:spPr>
          <a:xfrm>
            <a:off x="4968226" y="1372190"/>
            <a:ext cx="6545470" cy="692497"/>
          </a:xfrm>
          <a:prstGeom prst="rect">
            <a:avLst/>
          </a:prstGeom>
        </p:spPr>
        <p:txBody>
          <a:bodyPr wrap="square" lIns="0" tIns="0" rIns="0" bIns="0" rtlCol="0" anchor="t">
            <a:spAutoFit/>
          </a:bodyPr>
          <a:lstStyle/>
          <a:p>
            <a:pPr>
              <a:lnSpc>
                <a:spcPts val="5366"/>
              </a:lnSpc>
            </a:pPr>
            <a:endParaRPr lang="he-IL" sz="2667" spc="181" dirty="0">
              <a:solidFill>
                <a:srgbClr val="FF0000"/>
              </a:solidFill>
              <a:latin typeface="Guttman Yad-Brush" panose="02010401010101010101" pitchFamily="2" charset="-79"/>
              <a:cs typeface="Guttman Yad-Brush" panose="02010401010101010101" pitchFamily="2" charset="-79"/>
            </a:endParaRPr>
          </a:p>
        </p:txBody>
      </p:sp>
      <p:pic>
        <p:nvPicPr>
          <p:cNvPr id="14" name="תמונה 13">
            <a:extLst>
              <a:ext uri="{FF2B5EF4-FFF2-40B4-BE49-F238E27FC236}">
                <a16:creationId xmlns:a16="http://schemas.microsoft.com/office/drawing/2014/main" id="{EE0FDD0B-689E-4ED7-8123-EAAE33C1AC2A}"/>
              </a:ext>
            </a:extLst>
          </p:cNvPr>
          <p:cNvPicPr>
            <a:picLocks noChangeAspect="1"/>
          </p:cNvPicPr>
          <p:nvPr/>
        </p:nvPicPr>
        <p:blipFill>
          <a:blip r:embed="rId3"/>
          <a:stretch>
            <a:fillRect/>
          </a:stretch>
        </p:blipFill>
        <p:spPr>
          <a:xfrm>
            <a:off x="1194036" y="1388093"/>
            <a:ext cx="4226836" cy="4081814"/>
          </a:xfrm>
          <a:prstGeom prst="rect">
            <a:avLst/>
          </a:prstGeom>
          <a:ln>
            <a:noFill/>
          </a:ln>
          <a:effectLst>
            <a:softEdge rad="112500"/>
          </a:effectLst>
        </p:spPr>
      </p:pic>
      <p:sp>
        <p:nvSpPr>
          <p:cNvPr id="8" name="TextBox 7"/>
          <p:cNvSpPr txBox="1"/>
          <p:nvPr/>
        </p:nvSpPr>
        <p:spPr>
          <a:xfrm>
            <a:off x="3454400" y="342021"/>
            <a:ext cx="10210800" cy="810350"/>
          </a:xfrm>
          <a:prstGeom prst="rect">
            <a:avLst/>
          </a:prstGeom>
          <a:noFill/>
        </p:spPr>
        <p:txBody>
          <a:bodyPr wrap="square" rtlCol="1">
            <a:spAutoFit/>
          </a:bodyPr>
          <a:lstStyle/>
          <a:p>
            <a:pPr algn="ctr"/>
            <a:r>
              <a:rPr lang="he-IL" sz="4666" spc="181" dirty="0" smtClean="0">
                <a:solidFill>
                  <a:schemeClr val="tx2"/>
                </a:solidFill>
                <a:latin typeface="Guttman Yad-Brush" panose="02010401010101010101" pitchFamily="2" charset="-79"/>
                <a:cs typeface="Guttman Yad-Brush" panose="02010401010101010101" pitchFamily="2" charset="-79"/>
              </a:rPr>
              <a:t>מדדי מיצוי זכויות: </a:t>
            </a:r>
            <a:endParaRPr lang="he-IL" sz="4666" spc="181" dirty="0">
              <a:solidFill>
                <a:schemeClr val="tx2"/>
              </a:solidFill>
              <a:latin typeface="Guttman Yad-Brush" panose="02010401010101010101" pitchFamily="2" charset="-79"/>
              <a:cs typeface="Guttman Yad-Brush" panose="02010401010101010101" pitchFamily="2" charset="-79"/>
            </a:endParaRPr>
          </a:p>
        </p:txBody>
      </p:sp>
      <p:graphicFrame>
        <p:nvGraphicFramePr>
          <p:cNvPr id="7" name="טבלה 6"/>
          <p:cNvGraphicFramePr>
            <a:graphicFrameLocks noGrp="1"/>
          </p:cNvGraphicFramePr>
          <p:nvPr>
            <p:extLst>
              <p:ext uri="{D42A27DB-BD31-4B8C-83A1-F6EECF244321}">
                <p14:modId xmlns:p14="http://schemas.microsoft.com/office/powerpoint/2010/main" val="4202512708"/>
              </p:ext>
            </p:extLst>
          </p:nvPr>
        </p:nvGraphicFramePr>
        <p:xfrm>
          <a:off x="5452869" y="1375503"/>
          <a:ext cx="6017135" cy="4048415"/>
        </p:xfrm>
        <a:graphic>
          <a:graphicData uri="http://schemas.openxmlformats.org/drawingml/2006/table">
            <a:tbl>
              <a:tblPr rtl="1" firstRow="1" bandRow="1">
                <a:tableStyleId>{B301B821-A1FF-4177-AEE7-76D212191A09}</a:tableStyleId>
              </a:tblPr>
              <a:tblGrid>
                <a:gridCol w="2171205">
                  <a:extLst>
                    <a:ext uri="{9D8B030D-6E8A-4147-A177-3AD203B41FA5}">
                      <a16:colId xmlns:a16="http://schemas.microsoft.com/office/drawing/2014/main" val="3052753508"/>
                    </a:ext>
                  </a:extLst>
                </a:gridCol>
                <a:gridCol w="1978975">
                  <a:extLst>
                    <a:ext uri="{9D8B030D-6E8A-4147-A177-3AD203B41FA5}">
                      <a16:colId xmlns:a16="http://schemas.microsoft.com/office/drawing/2014/main" val="239558192"/>
                    </a:ext>
                  </a:extLst>
                </a:gridCol>
                <a:gridCol w="1866955">
                  <a:extLst>
                    <a:ext uri="{9D8B030D-6E8A-4147-A177-3AD203B41FA5}">
                      <a16:colId xmlns:a16="http://schemas.microsoft.com/office/drawing/2014/main" val="88228322"/>
                    </a:ext>
                  </a:extLst>
                </a:gridCol>
              </a:tblGrid>
              <a:tr h="462416">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סוג תביעה </a:t>
                      </a:r>
                    </a:p>
                  </a:txBody>
                  <a:tcPr marL="60960" marR="60960" marT="30480" marB="30480"/>
                </a:tc>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כמות </a:t>
                      </a:r>
                    </a:p>
                  </a:txBody>
                  <a:tcPr marL="60960" marR="60960" marT="30480" marB="30480"/>
                </a:tc>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משך זמן טיפול </a:t>
                      </a:r>
                    </a:p>
                  </a:txBody>
                  <a:tcPr marL="60960" marR="60960" marT="30480" marB="30480"/>
                </a:tc>
                <a:extLst>
                  <a:ext uri="{0D108BD9-81ED-4DB2-BD59-A6C34878D82A}">
                    <a16:rowId xmlns:a16="http://schemas.microsoft.com/office/drawing/2014/main" val="2074906627"/>
                  </a:ext>
                </a:extLst>
              </a:tr>
              <a:tr h="792480">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סך </a:t>
                      </a:r>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הכל</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תביעות </a:t>
                      </a:r>
                    </a:p>
                  </a:txBody>
                  <a:tcPr marL="60960" marR="60960" marT="30480" marB="30480"/>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378,900</a:t>
                      </a:r>
                    </a:p>
                    <a:p>
                      <a:pPr marL="0" algn="ctr" defTabSz="914400" rtl="1" eaLnBrk="1" fontAlgn="b" latinLnBrk="0" hangingPunct="1"/>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24 ימים </a:t>
                      </a:r>
                    </a:p>
                  </a:txBody>
                  <a:tcPr marL="60960" marR="60960" marT="30480" marB="30480"/>
                </a:tc>
                <a:extLst>
                  <a:ext uri="{0D108BD9-81ED-4DB2-BD59-A6C34878D82A}">
                    <a16:rowId xmlns:a16="http://schemas.microsoft.com/office/drawing/2014/main" val="1068003580"/>
                  </a:ext>
                </a:extLst>
              </a:tr>
              <a:tr h="558712">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תביעות ראשונות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97,480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 ימים </a:t>
                      </a:r>
                    </a:p>
                  </a:txBody>
                  <a:tcPr marL="60960" marR="60960" marT="30480" marB="30480"/>
                </a:tc>
                <a:extLst>
                  <a:ext uri="{0D108BD9-81ED-4DB2-BD59-A6C34878D82A}">
                    <a16:rowId xmlns:a16="http://schemas.microsoft.com/office/drawing/2014/main" val="2946580039"/>
                  </a:ext>
                </a:extLst>
              </a:tr>
              <a:tr h="462416">
                <a:tc>
                  <a:txBody>
                    <a:bodyPr/>
                    <a:lstStyle/>
                    <a:p>
                      <a:pPr marL="0" algn="ctr" defTabSz="914400" rtl="1" eaLnBrk="1" fontAlgn="b" latinLnBrk="0" hangingPunct="1"/>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החמרות</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169,900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 ימים </a:t>
                      </a:r>
                    </a:p>
                  </a:txBody>
                  <a:tcPr marL="60960" marR="60960" marT="30480" marB="30480"/>
                </a:tc>
                <a:extLst>
                  <a:ext uri="{0D108BD9-81ED-4DB2-BD59-A6C34878D82A}">
                    <a16:rowId xmlns:a16="http://schemas.microsoft.com/office/drawing/2014/main" val="3531149575"/>
                  </a:ext>
                </a:extLst>
              </a:tr>
              <a:tr h="792480">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מחלקה ראשונה</a:t>
                      </a:r>
                    </a:p>
                  </a:txBody>
                  <a:tcPr marL="60960" marR="60960" marT="30480" marB="30480"/>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37,011</a:t>
                      </a:r>
                    </a:p>
                    <a:p>
                      <a:pPr marL="0" algn="ctr" defTabSz="914400" rtl="1" eaLnBrk="1" fontAlgn="b" latinLnBrk="0" hangingPunct="1"/>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21 ימים </a:t>
                      </a:r>
                    </a:p>
                  </a:txBody>
                  <a:tcPr marL="60960" marR="60960" marT="30480" marB="30480"/>
                </a:tc>
                <a:extLst>
                  <a:ext uri="{0D108BD9-81ED-4DB2-BD59-A6C34878D82A}">
                    <a16:rowId xmlns:a16="http://schemas.microsoft.com/office/drawing/2014/main" val="6329211"/>
                  </a:ext>
                </a:extLst>
              </a:tr>
              <a:tr h="517495">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תום זמניות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75,400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22 ימים </a:t>
                      </a:r>
                    </a:p>
                  </a:txBody>
                  <a:tcPr marL="60960" marR="60960" marT="30480" marB="30480"/>
                </a:tc>
                <a:extLst>
                  <a:ext uri="{0D108BD9-81ED-4DB2-BD59-A6C34878D82A}">
                    <a16:rowId xmlns:a16="http://schemas.microsoft.com/office/drawing/2014/main" val="94236455"/>
                  </a:ext>
                </a:extLst>
              </a:tr>
              <a:tr h="462416">
                <a:tc>
                  <a:txBody>
                    <a:bodyPr/>
                    <a:lstStyle/>
                    <a:p>
                      <a:pPr marL="0" algn="ctr" defTabSz="914400" rtl="1" eaLnBrk="1" fontAlgn="b" latinLnBrk="0" hangingPunct="1"/>
                      <a:r>
                        <a:rPr kumimoji="0" lang="he-IL" sz="2400" b="1" i="0" u="none" strike="noStrike" kern="1200" cap="none" spc="0" normalizeH="0" baseline="0" dirty="0" err="1" smtClean="0">
                          <a:ln>
                            <a:noFill/>
                          </a:ln>
                          <a:solidFill>
                            <a:srgbClr val="002060"/>
                          </a:solidFill>
                          <a:effectLst/>
                          <a:uLnTx/>
                          <a:uFillTx/>
                          <a:latin typeface="Calibri Light" panose="020F0302020204030204" pitchFamily="34" charset="0"/>
                          <a:ea typeface="+mn-ea"/>
                          <a:cs typeface="Calibri Light" panose="020F0302020204030204" pitchFamily="34" charset="0"/>
                        </a:rPr>
                        <a:t>ערירים</a:t>
                      </a:r>
                      <a:r>
                        <a:rPr kumimoji="0" lang="he-IL" sz="2400" b="1" i="0" u="none" strike="noStrike" kern="1200" cap="none" spc="0" normalizeH="0" baseline="0" dirty="0" smtClean="0">
                          <a:ln>
                            <a:noFill/>
                          </a:ln>
                          <a:solidFill>
                            <a:srgbClr val="002060"/>
                          </a:solidFill>
                          <a:effectLst/>
                          <a:uLnTx/>
                          <a:uFillTx/>
                          <a:latin typeface="Calibri Light" panose="020F0302020204030204" pitchFamily="34" charset="0"/>
                          <a:ea typeface="+mn-ea"/>
                          <a:cs typeface="Calibri Light" panose="020F0302020204030204" pitchFamily="34" charset="0"/>
                        </a:rPr>
                        <a:t> </a:t>
                      </a:r>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3,730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57 ימים </a:t>
                      </a:r>
                    </a:p>
                  </a:txBody>
                  <a:tcPr marL="60960" marR="60960" marT="30480" marB="30480"/>
                </a:tc>
                <a:extLst>
                  <a:ext uri="{0D108BD9-81ED-4DB2-BD59-A6C34878D82A}">
                    <a16:rowId xmlns:a16="http://schemas.microsoft.com/office/drawing/2014/main" val="2425530235"/>
                  </a:ext>
                </a:extLst>
              </a:tr>
            </a:tbl>
          </a:graphicData>
        </a:graphic>
      </p:graphicFrame>
      <p:sp>
        <p:nvSpPr>
          <p:cNvPr id="12" name="אליפסה 11"/>
          <p:cNvSpPr/>
          <p:nvPr/>
        </p:nvSpPr>
        <p:spPr>
          <a:xfrm>
            <a:off x="5646900" y="4948809"/>
            <a:ext cx="1371600" cy="5892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200"/>
          </a:p>
        </p:txBody>
      </p:sp>
    </p:spTree>
    <p:extLst>
      <p:ext uri="{BB962C8B-B14F-4D97-AF65-F5344CB8AC3E}">
        <p14:creationId xmlns:p14="http://schemas.microsoft.com/office/powerpoint/2010/main" val="2248888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2239723" y="200512"/>
            <a:ext cx="9102103" cy="707886"/>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4000" b="1" noProof="0" dirty="0" smtClean="0">
                <a:solidFill>
                  <a:srgbClr val="0070C0"/>
                </a:solidFill>
                <a:latin typeface="Arial" panose="020B0604020202020204" pitchFamily="34" charset="0"/>
                <a:cs typeface="Arial" panose="020B0604020202020204" pitchFamily="34" charset="0"/>
              </a:rPr>
              <a:t>סוגיות בסיעוד</a:t>
            </a:r>
            <a:endParaRPr kumimoji="0" lang="he-IL" sz="4000" b="1" i="0" u="none" kern="1200" cap="none" spc="0" normalizeH="0" baseline="0" noProof="0" dirty="0" smtClean="0">
              <a:ln>
                <a:noFill/>
              </a:ln>
              <a:solidFill>
                <a:srgbClr val="0070C0"/>
              </a:solidFill>
              <a:effectLst/>
              <a:uLnTx/>
              <a:uFillTx/>
              <a:latin typeface="Arial" panose="020B0604020202020204" pitchFamily="34" charset="0"/>
              <a:cs typeface="Arial" panose="020B0604020202020204" pitchFamily="34" charset="0"/>
            </a:endParaRPr>
          </a:p>
        </p:txBody>
      </p:sp>
      <p:sp>
        <p:nvSpPr>
          <p:cNvPr id="8" name="מלבן 7"/>
          <p:cNvSpPr/>
          <p:nvPr/>
        </p:nvSpPr>
        <p:spPr>
          <a:xfrm>
            <a:off x="10202393" y="2526395"/>
            <a:ext cx="1587487"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Arial" panose="020B0604020202020204" pitchFamily="34" charset="0"/>
                <a:cs typeface="Arial" panose="020B0604020202020204" pitchFamily="34" charset="0"/>
              </a:rPr>
              <a:t>כסף</a:t>
            </a:r>
            <a:endParaRPr lang="he-IL" sz="2200" b="1" dirty="0">
              <a:latin typeface="Arial" panose="020B0604020202020204" pitchFamily="34" charset="0"/>
              <a:cs typeface="Arial" panose="020B0604020202020204" pitchFamily="34" charset="0"/>
            </a:endParaRPr>
          </a:p>
        </p:txBody>
      </p:sp>
      <p:sp>
        <p:nvSpPr>
          <p:cNvPr id="9" name="מלבן 8"/>
          <p:cNvSpPr/>
          <p:nvPr/>
        </p:nvSpPr>
        <p:spPr>
          <a:xfrm>
            <a:off x="383177" y="2526395"/>
            <a:ext cx="974489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Arial" panose="020B0604020202020204" pitchFamily="34" charset="0"/>
                <a:cs typeface="Arial" panose="020B0604020202020204" pitchFamily="34" charset="0"/>
              </a:rPr>
              <a:t>כיצד </a:t>
            </a:r>
            <a:r>
              <a:rPr lang="he-IL" sz="2200" dirty="0">
                <a:solidFill>
                  <a:schemeClr val="tx1"/>
                </a:solidFill>
                <a:latin typeface="Arial" panose="020B0604020202020204" pitchFamily="34" charset="0"/>
                <a:cs typeface="Arial" panose="020B0604020202020204" pitchFamily="34" charset="0"/>
              </a:rPr>
              <a:t>לתמרץ </a:t>
            </a:r>
            <a:r>
              <a:rPr lang="he-IL" sz="2200" dirty="0" smtClean="0">
                <a:solidFill>
                  <a:schemeClr val="tx1"/>
                </a:solidFill>
                <a:latin typeface="Arial" panose="020B0604020202020204" pitchFamily="34" charset="0"/>
                <a:cs typeface="Arial" panose="020B0604020202020204" pitchFamily="34" charset="0"/>
              </a:rPr>
              <a:t>את הוותיקים לצרוך שירותים דוחקי תלות?</a:t>
            </a:r>
            <a:endParaRPr lang="he-IL" sz="2200" dirty="0">
              <a:solidFill>
                <a:schemeClr val="tx1"/>
              </a:solidFill>
              <a:latin typeface="Arial" panose="020B0604020202020204" pitchFamily="34" charset="0"/>
              <a:cs typeface="Arial" panose="020B0604020202020204" pitchFamily="34" charset="0"/>
            </a:endParaRPr>
          </a:p>
        </p:txBody>
      </p:sp>
      <p:sp>
        <p:nvSpPr>
          <p:cNvPr id="10" name="מלבן 9"/>
          <p:cNvSpPr/>
          <p:nvPr/>
        </p:nvSpPr>
        <p:spPr>
          <a:xfrm>
            <a:off x="383178" y="4847212"/>
            <a:ext cx="974489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Arial" panose="020B0604020202020204" pitchFamily="34" charset="0"/>
                <a:cs typeface="Arial" panose="020B0604020202020204" pitchFamily="34" charset="0"/>
              </a:rPr>
              <a:t>כיצד </a:t>
            </a:r>
            <a:r>
              <a:rPr lang="he-IL" sz="2200" dirty="0" smtClean="0">
                <a:solidFill>
                  <a:schemeClr val="tx1"/>
                </a:solidFill>
                <a:latin typeface="Arial" panose="020B0604020202020204" pitchFamily="34" charset="0"/>
                <a:cs typeface="Arial" panose="020B0604020202020204" pitchFamily="34" charset="0"/>
              </a:rPr>
              <a:t>לשפר את המענים הניתנים לזכאי סיעוד לצורך שימור תפקוד ודחיקת תלות?</a:t>
            </a:r>
            <a:endParaRPr lang="he-IL" sz="2200" dirty="0">
              <a:solidFill>
                <a:schemeClr val="tx1"/>
              </a:solidFill>
              <a:latin typeface="Arial" panose="020B0604020202020204" pitchFamily="34" charset="0"/>
              <a:cs typeface="Arial" panose="020B0604020202020204" pitchFamily="34" charset="0"/>
            </a:endParaRPr>
          </a:p>
        </p:txBody>
      </p:sp>
      <p:sp>
        <p:nvSpPr>
          <p:cNvPr id="11" name="מלבן 10"/>
          <p:cNvSpPr/>
          <p:nvPr/>
        </p:nvSpPr>
        <p:spPr>
          <a:xfrm>
            <a:off x="383177" y="3698062"/>
            <a:ext cx="974489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Arial" panose="020B0604020202020204" pitchFamily="34" charset="0"/>
                <a:cs typeface="Arial" panose="020B0604020202020204" pitchFamily="34" charset="0"/>
              </a:rPr>
              <a:t>טיפול בית – </a:t>
            </a:r>
            <a:r>
              <a:rPr lang="he-IL" sz="2200" dirty="0">
                <a:solidFill>
                  <a:schemeClr val="tx1"/>
                </a:solidFill>
                <a:latin typeface="Arial" panose="020B0604020202020204" pitchFamily="34" charset="0"/>
                <a:cs typeface="Arial" panose="020B0604020202020204" pitchFamily="34" charset="0"/>
              </a:rPr>
              <a:t>משאב </a:t>
            </a:r>
            <a:r>
              <a:rPr lang="he-IL" sz="2200" dirty="0" smtClean="0">
                <a:solidFill>
                  <a:schemeClr val="tx1"/>
                </a:solidFill>
                <a:latin typeface="Arial" panose="020B0604020202020204" pitchFamily="34" charset="0"/>
                <a:cs typeface="Arial" panose="020B0604020202020204" pitchFamily="34" charset="0"/>
              </a:rPr>
              <a:t>במחסור, למי נועד הסיוע ומה </a:t>
            </a:r>
            <a:r>
              <a:rPr lang="he-IL" sz="2200" dirty="0">
                <a:solidFill>
                  <a:schemeClr val="tx1"/>
                </a:solidFill>
                <a:latin typeface="Arial" panose="020B0604020202020204" pitchFamily="34" charset="0"/>
                <a:cs typeface="Arial" panose="020B0604020202020204" pitchFamily="34" charset="0"/>
              </a:rPr>
              <a:t>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0202393" y="3698062"/>
            <a:ext cx="1587488"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Arial" panose="020B0604020202020204" pitchFamily="34" charset="0"/>
                <a:cs typeface="Arial" panose="020B0604020202020204" pitchFamily="34" charset="0"/>
              </a:rPr>
              <a:t>מטפלות</a:t>
            </a:r>
            <a:endParaRPr lang="he-IL" sz="2200" b="1" dirty="0">
              <a:latin typeface="Arial" panose="020B0604020202020204" pitchFamily="34" charset="0"/>
              <a:cs typeface="Arial" panose="020B0604020202020204" pitchFamily="34" charset="0"/>
            </a:endParaRPr>
          </a:p>
        </p:txBody>
      </p:sp>
      <p:sp>
        <p:nvSpPr>
          <p:cNvPr id="13" name="מלבן 12"/>
          <p:cNvSpPr/>
          <p:nvPr/>
        </p:nvSpPr>
        <p:spPr>
          <a:xfrm>
            <a:off x="10202393" y="4869729"/>
            <a:ext cx="1587488"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Arial" panose="020B0604020202020204" pitchFamily="34" charset="0"/>
                <a:cs typeface="Arial" panose="020B0604020202020204" pitchFamily="34" charset="0"/>
              </a:rPr>
              <a:t>שירותים</a:t>
            </a:r>
            <a:endParaRPr lang="he-IL" sz="2200" b="1" dirty="0">
              <a:latin typeface="Arial" panose="020B0604020202020204" pitchFamily="34" charset="0"/>
              <a:cs typeface="Arial" panose="020B0604020202020204" pitchFamily="34" charset="0"/>
            </a:endParaRPr>
          </a:p>
        </p:txBody>
      </p:sp>
      <p:sp>
        <p:nvSpPr>
          <p:cNvPr id="15" name="מלבן 14"/>
          <p:cNvSpPr/>
          <p:nvPr/>
        </p:nvSpPr>
        <p:spPr>
          <a:xfrm>
            <a:off x="10202393" y="1450916"/>
            <a:ext cx="1587487"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smtClean="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9299061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cs typeface="+mn-cs"/>
              </a:rPr>
              <a:t>סטטוס מהלכים</a:t>
            </a:r>
          </a:p>
        </p:txBody>
      </p:sp>
      <p:sp>
        <p:nvSpPr>
          <p:cNvPr id="3" name="מציין מיקום תוכן 2"/>
          <p:cNvSpPr>
            <a:spLocks noGrp="1"/>
          </p:cNvSpPr>
          <p:nvPr>
            <p:ph idx="1"/>
          </p:nvPr>
        </p:nvSpPr>
        <p:spPr>
          <a:xfrm>
            <a:off x="1" y="1155031"/>
            <a:ext cx="11871158" cy="5454315"/>
          </a:xfrm>
        </p:spPr>
        <p:txBody>
          <a:bodyPr>
            <a:normAutofit/>
          </a:bodyPr>
          <a:lstStyle/>
          <a:p>
            <a:pPr marL="0" indent="0">
              <a:buNone/>
            </a:pPr>
            <a:endParaRPr lang="he-IL" sz="1400" dirty="0"/>
          </a:p>
          <a:p>
            <a:r>
              <a:rPr lang="he-IL" sz="1400" dirty="0"/>
              <a:t>תיאור הבעיה: תקציב, חוסר בחירה והתאמה, תוצאות, </a:t>
            </a:r>
            <a:r>
              <a:rPr lang="he-IL" sz="1400" dirty="0" err="1"/>
              <a:t>תמרוץ</a:t>
            </a:r>
            <a:r>
              <a:rPr lang="he-IL" sz="1400" dirty="0"/>
              <a:t> שלילי לזקן ולמערכות, כמה מהמחלקות וממקבלי השירותים מקבלי סיעוד</a:t>
            </a:r>
            <a:endParaRPr lang="en-US" sz="1400" dirty="0"/>
          </a:p>
          <a:p>
            <a:pPr marL="0" indent="0">
              <a:buNone/>
            </a:pPr>
            <a:endParaRPr lang="he-IL" sz="1400" dirty="0"/>
          </a:p>
          <a:p>
            <a:pPr marL="0" indent="0">
              <a:buNone/>
            </a:pPr>
            <a:r>
              <a:rPr lang="he-IL" sz="2000" b="1" dirty="0"/>
              <a:t>מהלכים מול חוק סיעוד-</a:t>
            </a:r>
            <a:endParaRPr lang="en-US" sz="2000" b="1" dirty="0"/>
          </a:p>
          <a:p>
            <a:pPr marL="0" indent="0">
              <a:buNone/>
            </a:pPr>
            <a:r>
              <a:rPr lang="he-IL" sz="1600" dirty="0"/>
              <a:t>1.  </a:t>
            </a:r>
            <a:r>
              <a:rPr lang="he-IL" sz="1800" dirty="0" err="1"/>
              <a:t>איפיון</a:t>
            </a:r>
            <a:r>
              <a:rPr lang="he-IL" sz="1800" dirty="0"/>
              <a:t> ומחקר פרופילים- </a:t>
            </a:r>
            <a:r>
              <a:rPr lang="he-IL" sz="1800" dirty="0" err="1"/>
              <a:t>ברוקדייל</a:t>
            </a:r>
            <a:r>
              <a:rPr lang="he-IL" sz="1800" dirty="0"/>
              <a:t> (</a:t>
            </a:r>
            <a:r>
              <a:rPr lang="he-IL" sz="1800" b="1" dirty="0"/>
              <a:t>יפורסם בקרוב</a:t>
            </a:r>
            <a:r>
              <a:rPr lang="he-IL" sz="1800" dirty="0"/>
              <a:t>)</a:t>
            </a:r>
            <a:endParaRPr lang="en-US" sz="1800" dirty="0"/>
          </a:p>
          <a:p>
            <a:pPr marL="0" indent="0">
              <a:buNone/>
            </a:pPr>
            <a:r>
              <a:rPr lang="he-IL" sz="1800" dirty="0"/>
              <a:t>2.  סקירת ספרות ומחקר למניעה בשירותים (</a:t>
            </a:r>
            <a:r>
              <a:rPr lang="he-IL" sz="1800" b="1" dirty="0"/>
              <a:t>בהתנעה</a:t>
            </a:r>
            <a:r>
              <a:rPr lang="he-IL" sz="1800" dirty="0"/>
              <a:t>)</a:t>
            </a:r>
            <a:endParaRPr lang="en-US" sz="1800" dirty="0"/>
          </a:p>
          <a:p>
            <a:pPr marL="0" indent="0">
              <a:buNone/>
            </a:pPr>
            <a:r>
              <a:rPr lang="he-IL" sz="1800" dirty="0"/>
              <a:t>3. מדידה של שירותים </a:t>
            </a:r>
            <a:r>
              <a:rPr lang="he-IL" sz="1800" b="1" dirty="0"/>
              <a:t>(דורש העברות מידע) </a:t>
            </a:r>
            <a:r>
              <a:rPr lang="he-IL" sz="1800" dirty="0" err="1"/>
              <a:t>תעדוף</a:t>
            </a:r>
            <a:r>
              <a:rPr lang="he-IL" sz="1800" dirty="0"/>
              <a:t> מה שדוחק (</a:t>
            </a:r>
            <a:r>
              <a:rPr lang="he-IL" sz="1800" b="1" dirty="0"/>
              <a:t>אלגוריתם</a:t>
            </a:r>
            <a:r>
              <a:rPr lang="he-IL" sz="1800" dirty="0"/>
              <a:t>)- </a:t>
            </a:r>
            <a:r>
              <a:rPr lang="en-US" sz="1800" dirty="0"/>
              <a:t>ROI</a:t>
            </a:r>
            <a:r>
              <a:rPr lang="he-IL" sz="1800" dirty="0"/>
              <a:t> כלכלי מול רמות סיעוד </a:t>
            </a:r>
            <a:r>
              <a:rPr lang="he-IL" sz="1800" dirty="0" err="1"/>
              <a:t>בבטל"א</a:t>
            </a:r>
            <a:r>
              <a:rPr lang="he-IL" sz="1800" dirty="0"/>
              <a:t> ומול העלויות בקופ"ח </a:t>
            </a:r>
            <a:r>
              <a:rPr lang="he-IL" sz="1800" b="1" dirty="0"/>
              <a:t>(הושלם)</a:t>
            </a:r>
            <a:endParaRPr lang="en-US" sz="1800" b="1" dirty="0"/>
          </a:p>
          <a:p>
            <a:pPr marL="0" indent="0">
              <a:buNone/>
            </a:pPr>
            <a:r>
              <a:rPr lang="he-IL" sz="1800" dirty="0"/>
              <a:t>4. אופטימיזציה של צרכים ומענים- פרופיל אוכלוסיות ומענים מותאמים (פרסונליזציה של שירותים). בפיתוח </a:t>
            </a:r>
            <a:r>
              <a:rPr lang="he-IL" sz="1800" dirty="0" err="1"/>
              <a:t>פרוייקט</a:t>
            </a:r>
            <a:r>
              <a:rPr lang="he-IL" sz="1800" dirty="0"/>
              <a:t> משותף עם </a:t>
            </a:r>
            <a:r>
              <a:rPr lang="he-IL" sz="1800" dirty="0" err="1"/>
              <a:t>גוינט</a:t>
            </a:r>
            <a:r>
              <a:rPr lang="he-IL" sz="1800" dirty="0"/>
              <a:t> ומערך </a:t>
            </a:r>
            <a:r>
              <a:rPr lang="he-IL" sz="1800" dirty="0" err="1"/>
              <a:t>הדיגיטל</a:t>
            </a:r>
            <a:r>
              <a:rPr lang="he-IL" sz="1800" dirty="0"/>
              <a:t>. </a:t>
            </a:r>
            <a:r>
              <a:rPr lang="he-IL" sz="1800" b="1" dirty="0"/>
              <a:t>בפיתוח</a:t>
            </a:r>
            <a:endParaRPr lang="en-US" sz="1800" dirty="0"/>
          </a:p>
          <a:p>
            <a:pPr marL="0" indent="0">
              <a:buNone/>
            </a:pPr>
            <a:r>
              <a:rPr lang="he-IL" sz="1800" dirty="0"/>
              <a:t>5. </a:t>
            </a:r>
            <a:r>
              <a:rPr lang="en-US" sz="1800" dirty="0"/>
              <a:t>EY </a:t>
            </a:r>
            <a:r>
              <a:rPr lang="he-IL" sz="1800" dirty="0"/>
              <a:t>מדידה- </a:t>
            </a:r>
            <a:r>
              <a:rPr lang="he-IL" sz="1800" dirty="0" err="1"/>
              <a:t>תמרוצים</a:t>
            </a:r>
            <a:r>
              <a:rPr lang="he-IL" sz="1800" dirty="0"/>
              <a:t>, מודל שירותים וחיבור לרשויות ולמחלקות. </a:t>
            </a:r>
            <a:r>
              <a:rPr lang="he-IL" sz="1800" b="1" dirty="0"/>
              <a:t>בפיתוח</a:t>
            </a:r>
            <a:endParaRPr lang="en-US" sz="1800" b="1" dirty="0"/>
          </a:p>
          <a:p>
            <a:pPr marL="0" indent="0">
              <a:buNone/>
            </a:pPr>
            <a:r>
              <a:rPr lang="he-IL" sz="1800" dirty="0"/>
              <a:t>6.  </a:t>
            </a:r>
            <a:r>
              <a:rPr lang="he-IL" sz="1800" b="1" dirty="0"/>
              <a:t>ועדת מניעה רב מערכתית-</a:t>
            </a:r>
            <a:r>
              <a:rPr lang="he-IL" sz="1800" dirty="0"/>
              <a:t> 3 צירי פעולה: מדיניות, </a:t>
            </a:r>
            <a:r>
              <a:rPr lang="he-IL" sz="1800" dirty="0" err="1"/>
              <a:t>תמרוצים</a:t>
            </a:r>
            <a:r>
              <a:rPr lang="he-IL" sz="1800" dirty="0"/>
              <a:t>, מדידה והרחבת והתאמת השירותים. </a:t>
            </a:r>
            <a:r>
              <a:rPr lang="he-IL" sz="1800" b="1" dirty="0"/>
              <a:t>בפיתוח</a:t>
            </a:r>
            <a:endParaRPr lang="en-US" sz="1800" b="1" dirty="0"/>
          </a:p>
          <a:p>
            <a:pPr marL="0" indent="0">
              <a:buNone/>
            </a:pPr>
            <a:r>
              <a:rPr lang="he-IL" sz="1800" dirty="0"/>
              <a:t>7. תפיסת תפקוד ומניעה רב מערכתית- </a:t>
            </a:r>
            <a:r>
              <a:rPr lang="he-IL" sz="1800" dirty="0" err="1"/>
              <a:t>ישום</a:t>
            </a:r>
            <a:r>
              <a:rPr lang="he-IL" sz="1800" dirty="0"/>
              <a:t> התפיסה וממשקים בין מערכות (הפניות הדדיות ועוד) </a:t>
            </a:r>
            <a:r>
              <a:rPr lang="he-IL" sz="1800" b="1" dirty="0"/>
              <a:t>בפיתוח</a:t>
            </a:r>
            <a:endParaRPr lang="en-US" sz="1800" b="1" dirty="0"/>
          </a:p>
          <a:p>
            <a:pPr marL="0" indent="0">
              <a:buNone/>
            </a:pPr>
            <a:r>
              <a:rPr lang="he-IL" sz="1800" dirty="0"/>
              <a:t>8. סל מותאם אישית </a:t>
            </a:r>
            <a:r>
              <a:rPr lang="en-US" sz="1800" dirty="0"/>
              <a:t>AI </a:t>
            </a:r>
            <a:r>
              <a:rPr lang="he-IL" sz="1800" dirty="0"/>
              <a:t>- צרכים, רצונות, המלצות ומדידה. הצרכן כלקוח הספקים מרצים אותו..</a:t>
            </a:r>
            <a:endParaRPr lang="en-US" sz="1800" dirty="0"/>
          </a:p>
          <a:p>
            <a:pPr marL="0" indent="0">
              <a:buNone/>
            </a:pPr>
            <a:r>
              <a:rPr lang="he-IL" sz="1800" dirty="0"/>
              <a:t>9.ניתוח דאטה קיים להתאמה אישית (</a:t>
            </a:r>
            <a:r>
              <a:rPr lang="he-IL" sz="1800" dirty="0" err="1"/>
              <a:t>דיגיתל</a:t>
            </a:r>
            <a:r>
              <a:rPr lang="he-IL" sz="1800" dirty="0"/>
              <a:t>). </a:t>
            </a:r>
            <a:endParaRPr lang="en-US" sz="1800" dirty="0"/>
          </a:p>
          <a:p>
            <a:pPr marL="0" indent="0">
              <a:buNone/>
            </a:pPr>
            <a:endParaRPr lang="en-US" sz="1400" dirty="0"/>
          </a:p>
          <a:p>
            <a:endParaRPr lang="he-IL" sz="1400" dirty="0"/>
          </a:p>
        </p:txBody>
      </p:sp>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נתונים נוספים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32406070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00493" y="684982"/>
            <a:ext cx="10515600" cy="4351338"/>
          </a:xfrm>
        </p:spPr>
        <p:txBody>
          <a:bodyPr/>
          <a:lstStyle/>
          <a:p>
            <a:endParaRPr lang="he-IL" dirty="0"/>
          </a:p>
          <a:p>
            <a:r>
              <a:rPr lang="he-IL" dirty="0" smtClean="0"/>
              <a:t>מקבלי חוק סיעוד 4.2024:</a:t>
            </a:r>
            <a:endParaRPr lang="he-IL" dirty="0"/>
          </a:p>
        </p:txBody>
      </p:sp>
      <p:graphicFrame>
        <p:nvGraphicFramePr>
          <p:cNvPr id="12" name="אובייקט 11"/>
          <p:cNvGraphicFramePr>
            <a:graphicFrameLocks noChangeAspect="1"/>
          </p:cNvGraphicFramePr>
          <p:nvPr>
            <p:extLst>
              <p:ext uri="{D42A27DB-BD31-4B8C-83A1-F6EECF244321}">
                <p14:modId xmlns:p14="http://schemas.microsoft.com/office/powerpoint/2010/main" val="579180899"/>
              </p:ext>
            </p:extLst>
          </p:nvPr>
        </p:nvGraphicFramePr>
        <p:xfrm>
          <a:off x="1665288" y="1998663"/>
          <a:ext cx="8542337" cy="2011362"/>
        </p:xfrm>
        <a:graphic>
          <a:graphicData uri="http://schemas.openxmlformats.org/presentationml/2006/ole">
            <mc:AlternateContent xmlns:mc="http://schemas.openxmlformats.org/markup-compatibility/2006">
              <mc:Choice xmlns:v="urn:schemas-microsoft-com:vml" Requires="v">
                <p:oleObj spid="_x0000_s1052" name="גליון עבודה" r:id="rId3" imgW="7191404" imgH="1695364" progId="Excel.Sheet.12">
                  <p:embed/>
                </p:oleObj>
              </mc:Choice>
              <mc:Fallback>
                <p:oleObj name="גליון עבודה" r:id="rId3" imgW="7191404" imgH="1695364" progId="Excel.Sheet.12">
                  <p:embed/>
                  <p:pic>
                    <p:nvPicPr>
                      <p:cNvPr id="0" name=""/>
                      <p:cNvPicPr/>
                      <p:nvPr/>
                    </p:nvPicPr>
                    <p:blipFill>
                      <a:blip r:embed="rId4"/>
                      <a:stretch>
                        <a:fillRect/>
                      </a:stretch>
                    </p:blipFill>
                    <p:spPr>
                      <a:xfrm>
                        <a:off x="1665288" y="1998663"/>
                        <a:ext cx="8542337" cy="2011362"/>
                      </a:xfrm>
                      <a:prstGeom prst="rect">
                        <a:avLst/>
                      </a:prstGeom>
                    </p:spPr>
                  </p:pic>
                </p:oleObj>
              </mc:Fallback>
            </mc:AlternateContent>
          </a:graphicData>
        </a:graphic>
      </p:graphicFrame>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נתונים נוספים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35664384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00493" y="684982"/>
            <a:ext cx="10515600" cy="4351338"/>
          </a:xfrm>
        </p:spPr>
        <p:txBody>
          <a:bodyPr/>
          <a:lstStyle/>
          <a:p>
            <a:endParaRPr lang="he-IL" dirty="0"/>
          </a:p>
          <a:p>
            <a:r>
              <a:rPr lang="he-IL" b="1" dirty="0"/>
              <a:t>טבלת המרה פר בן אדם:</a:t>
            </a:r>
          </a:p>
          <a:p>
            <a:endParaRPr lang="he-IL" dirty="0"/>
          </a:p>
          <a:p>
            <a:endParaRPr lang="he-IL" dirty="0"/>
          </a:p>
          <a:p>
            <a:endParaRPr lang="he-IL" dirty="0"/>
          </a:p>
        </p:txBody>
      </p:sp>
      <p:graphicFrame>
        <p:nvGraphicFramePr>
          <p:cNvPr id="4" name="טבלה 3">
            <a:extLst>
              <a:ext uri="{FF2B5EF4-FFF2-40B4-BE49-F238E27FC236}">
                <a16:creationId xmlns:a16="http://schemas.microsoft.com/office/drawing/2014/main" id="{38E7FBBA-F1AD-3084-F226-02A24DA8449E}"/>
              </a:ext>
            </a:extLst>
          </p:cNvPr>
          <p:cNvGraphicFramePr>
            <a:graphicFrameLocks noGrp="1"/>
          </p:cNvGraphicFramePr>
          <p:nvPr>
            <p:extLst>
              <p:ext uri="{D42A27DB-BD31-4B8C-83A1-F6EECF244321}">
                <p14:modId xmlns:p14="http://schemas.microsoft.com/office/powerpoint/2010/main" val="3517677736"/>
              </p:ext>
            </p:extLst>
          </p:nvPr>
        </p:nvGraphicFramePr>
        <p:xfrm>
          <a:off x="5092583" y="2011444"/>
          <a:ext cx="6048667" cy="1698413"/>
        </p:xfrm>
        <a:graphic>
          <a:graphicData uri="http://schemas.openxmlformats.org/drawingml/2006/table">
            <a:tbl>
              <a:tblPr rtl="1"/>
              <a:tblGrid>
                <a:gridCol w="764042">
                  <a:extLst>
                    <a:ext uri="{9D8B030D-6E8A-4147-A177-3AD203B41FA5}">
                      <a16:colId xmlns:a16="http://schemas.microsoft.com/office/drawing/2014/main" val="3727147418"/>
                    </a:ext>
                  </a:extLst>
                </a:gridCol>
                <a:gridCol w="838324">
                  <a:extLst>
                    <a:ext uri="{9D8B030D-6E8A-4147-A177-3AD203B41FA5}">
                      <a16:colId xmlns:a16="http://schemas.microsoft.com/office/drawing/2014/main" val="1595983307"/>
                    </a:ext>
                  </a:extLst>
                </a:gridCol>
                <a:gridCol w="891382">
                  <a:extLst>
                    <a:ext uri="{9D8B030D-6E8A-4147-A177-3AD203B41FA5}">
                      <a16:colId xmlns:a16="http://schemas.microsoft.com/office/drawing/2014/main" val="1708214648"/>
                    </a:ext>
                  </a:extLst>
                </a:gridCol>
                <a:gridCol w="1330000">
                  <a:extLst>
                    <a:ext uri="{9D8B030D-6E8A-4147-A177-3AD203B41FA5}">
                      <a16:colId xmlns:a16="http://schemas.microsoft.com/office/drawing/2014/main" val="792998207"/>
                    </a:ext>
                  </a:extLst>
                </a:gridCol>
                <a:gridCol w="877234">
                  <a:extLst>
                    <a:ext uri="{9D8B030D-6E8A-4147-A177-3AD203B41FA5}">
                      <a16:colId xmlns:a16="http://schemas.microsoft.com/office/drawing/2014/main" val="4129294331"/>
                    </a:ext>
                  </a:extLst>
                </a:gridCol>
                <a:gridCol w="1347685">
                  <a:extLst>
                    <a:ext uri="{9D8B030D-6E8A-4147-A177-3AD203B41FA5}">
                      <a16:colId xmlns:a16="http://schemas.microsoft.com/office/drawing/2014/main" val="830834977"/>
                    </a:ext>
                  </a:extLst>
                </a:gridCol>
              </a:tblGrid>
              <a:tr h="406805">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רמה </a:t>
                      </a:r>
                    </a:p>
                  </a:txBody>
                  <a:tcPr marL="9525" marR="9525" marT="9525"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ניתן להמיר</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יחס המרה לכסף</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יחידות מקבלים</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העלות למדינה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rtl="1" fontAlgn="t"/>
                      <a:r>
                        <a:rPr lang="he-IL" sz="1100" b="1" i="0" u="none" strike="noStrike">
                          <a:solidFill>
                            <a:srgbClr val="000000"/>
                          </a:solidFill>
                          <a:effectLst/>
                          <a:highlight>
                            <a:srgbClr val="FFC000"/>
                          </a:highlight>
                          <a:latin typeface="Arial" panose="020B0604020202020204" pitchFamily="34" charset="0"/>
                        </a:rPr>
                        <a:t>דוגמא לכמה כסף אפשר להמיר</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42800750"/>
                  </a:ext>
                </a:extLst>
              </a:tr>
              <a:tr h="213573">
                <a:tc>
                  <a:txBody>
                    <a:bodyPr/>
                    <a:lstStyle/>
                    <a:p>
                      <a:pPr algn="ctr" rtl="1" fontAlgn="ctr"/>
                      <a:r>
                        <a:rPr lang="he-IL" sz="1200" b="1" i="0" u="none" strike="noStrike">
                          <a:solidFill>
                            <a:srgbClr val="000000"/>
                          </a:solidFill>
                          <a:effectLst/>
                          <a:latin typeface="Arial" panose="020B06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1535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1,535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1183474"/>
                  </a:ext>
                </a:extLst>
              </a:tr>
              <a:tr h="213573">
                <a:tc>
                  <a:txBody>
                    <a:bodyPr/>
                    <a:lstStyle/>
                    <a:p>
                      <a:pPr algn="ctr" rtl="1" fontAlgn="ctr"/>
                      <a:r>
                        <a:rPr lang="he-IL" sz="1200" b="1" i="0" u="none" strike="noStrike">
                          <a:solidFill>
                            <a:srgbClr val="000000"/>
                          </a:solidFill>
                          <a:effectLst/>
                          <a:latin typeface="Arial" panose="020B06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rtl="1" fontAlgn="ctr"/>
                      <a:r>
                        <a:rPr lang="he-IL" sz="1200" b="1" i="0" u="none" strike="noStrike">
                          <a:solidFill>
                            <a:srgbClr val="000000"/>
                          </a:solidFill>
                          <a:effectLst/>
                          <a:latin typeface="Arial" panose="020B0604020202020204" pitchFamily="34" charset="0"/>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5">
                  <a:txBody>
                    <a:bodyPr/>
                    <a:lstStyle/>
                    <a:p>
                      <a:pPr algn="ctr" rtl="1" fontAlgn="ctr"/>
                      <a:r>
                        <a:rPr lang="he-IL" sz="1200" b="1" i="0" u="none" strike="noStrike">
                          <a:solidFill>
                            <a:srgbClr val="000000"/>
                          </a:solidFill>
                          <a:effectLst/>
                          <a:latin typeface="Arial" panose="020B0604020202020204" pitchFamily="34" charset="0"/>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2790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737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5257277"/>
                  </a:ext>
                </a:extLst>
              </a:tr>
              <a:tr h="213573">
                <a:tc>
                  <a:txBody>
                    <a:bodyPr/>
                    <a:lstStyle/>
                    <a:p>
                      <a:pPr algn="ctr" rtl="1" fontAlgn="ctr"/>
                      <a:r>
                        <a:rPr lang="he-IL" sz="1200" b="1" i="0" u="none" strike="noStrike">
                          <a:solidFill>
                            <a:srgbClr val="000000"/>
                          </a:solidFill>
                          <a:effectLst/>
                          <a:latin typeface="Arial" panose="020B06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dirty="0">
                          <a:solidFill>
                            <a:srgbClr val="000000"/>
                          </a:solidFill>
                          <a:effectLst/>
                          <a:latin typeface="Arial" panose="020B0604020202020204" pitchFamily="34" charset="0"/>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dirty="0">
                          <a:solidFill>
                            <a:srgbClr val="000000"/>
                          </a:solidFill>
                          <a:effectLst/>
                          <a:highlight>
                            <a:srgbClr val="FFF2CC"/>
                          </a:highlight>
                          <a:latin typeface="Arial" panose="020B0604020202020204" pitchFamily="34" charset="0"/>
                        </a:rPr>
                        <a:t>4743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dirty="0">
                          <a:solidFill>
                            <a:srgbClr val="000000"/>
                          </a:solidFill>
                          <a:effectLst/>
                          <a:latin typeface="Arial" panose="020B0604020202020204" pitchFamily="34" charset="0"/>
                        </a:rPr>
                        <a:t> ₪                1,252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1591550"/>
                  </a:ext>
                </a:extLst>
              </a:tr>
              <a:tr h="213573">
                <a:tc>
                  <a:txBody>
                    <a:bodyPr/>
                    <a:lstStyle/>
                    <a:p>
                      <a:pPr algn="ctr" rtl="1" fontAlgn="ctr"/>
                      <a:r>
                        <a:rPr lang="he-IL" sz="1200" b="1" i="0" u="none" strike="noStrike">
                          <a:solidFill>
                            <a:srgbClr val="000000"/>
                          </a:solidFill>
                          <a:effectLst/>
                          <a:latin typeface="Arial" panose="020B06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5859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1,547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9974257"/>
                  </a:ext>
                </a:extLst>
              </a:tr>
              <a:tr h="213573">
                <a:tc>
                  <a:txBody>
                    <a:bodyPr/>
                    <a:lstStyle/>
                    <a:p>
                      <a:pPr algn="ctr" rtl="1" fontAlgn="ctr"/>
                      <a:r>
                        <a:rPr lang="he-IL" sz="1200" b="1" i="0" u="none" strike="noStrike">
                          <a:solidFill>
                            <a:srgbClr val="000000"/>
                          </a:solidFill>
                          <a:effectLst/>
                          <a:latin typeface="Arial" panose="020B06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7254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1,915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6366104"/>
                  </a:ext>
                </a:extLst>
              </a:tr>
              <a:tr h="223743">
                <a:tc>
                  <a:txBody>
                    <a:bodyPr/>
                    <a:lstStyle/>
                    <a:p>
                      <a:pPr algn="ctr" rtl="1" fontAlgn="ctr"/>
                      <a:r>
                        <a:rPr lang="he-IL" sz="1200" b="1" i="0" u="none" strike="noStrike">
                          <a:solidFill>
                            <a:srgbClr val="000000"/>
                          </a:solidFill>
                          <a:effectLst/>
                          <a:latin typeface="Arial" panose="020B06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dirty="0">
                          <a:solidFill>
                            <a:srgbClr val="000000"/>
                          </a:solidFill>
                          <a:effectLst/>
                          <a:highlight>
                            <a:srgbClr val="FFF2CC"/>
                          </a:highlight>
                          <a:latin typeface="Arial" panose="020B0604020202020204" pitchFamily="34" charset="0"/>
                        </a:rPr>
                        <a:t>8370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dirty="0">
                          <a:solidFill>
                            <a:srgbClr val="000000"/>
                          </a:solidFill>
                          <a:effectLst/>
                          <a:latin typeface="Arial" panose="020B0604020202020204" pitchFamily="34" charset="0"/>
                        </a:rPr>
                        <a:t> ₪                2,210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8128500"/>
                  </a:ext>
                </a:extLst>
              </a:tr>
            </a:tbl>
          </a:graphicData>
        </a:graphic>
      </p:graphicFrame>
      <p:sp>
        <p:nvSpPr>
          <p:cNvPr id="5" name="מלבן 4"/>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נתונים נוספים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353588529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אז מה הם בוחרים?</a:t>
            </a:r>
            <a:endParaRPr lang="he-IL" dirty="0"/>
          </a:p>
        </p:txBody>
      </p:sp>
      <p:graphicFrame>
        <p:nvGraphicFramePr>
          <p:cNvPr id="6" name="מציין מיקום תוכן 5"/>
          <p:cNvGraphicFramePr>
            <a:graphicFrameLocks noGrp="1"/>
          </p:cNvGraphicFramePr>
          <p:nvPr>
            <p:ph idx="1"/>
            <p:extLst>
              <p:ext uri="{D42A27DB-BD31-4B8C-83A1-F6EECF244321}">
                <p14:modId xmlns:p14="http://schemas.microsoft.com/office/powerpoint/2010/main" val="863077629"/>
              </p:ext>
            </p:extLst>
          </p:nvPr>
        </p:nvGraphicFramePr>
        <p:xfrm>
          <a:off x="4221881" y="2262981"/>
          <a:ext cx="6151858" cy="2026505"/>
        </p:xfrm>
        <a:graphic>
          <a:graphicData uri="http://schemas.openxmlformats.org/drawingml/2006/table">
            <a:tbl>
              <a:tblPr rtl="1" firstRow="1" bandRow="1"/>
              <a:tblGrid>
                <a:gridCol w="1440234">
                  <a:extLst>
                    <a:ext uri="{9D8B030D-6E8A-4147-A177-3AD203B41FA5}">
                      <a16:colId xmlns:a16="http://schemas.microsoft.com/office/drawing/2014/main" val="2408701532"/>
                    </a:ext>
                  </a:extLst>
                </a:gridCol>
                <a:gridCol w="1111038">
                  <a:extLst>
                    <a:ext uri="{9D8B030D-6E8A-4147-A177-3AD203B41FA5}">
                      <a16:colId xmlns:a16="http://schemas.microsoft.com/office/drawing/2014/main" val="1749978262"/>
                    </a:ext>
                  </a:extLst>
                </a:gridCol>
                <a:gridCol w="1378510">
                  <a:extLst>
                    <a:ext uri="{9D8B030D-6E8A-4147-A177-3AD203B41FA5}">
                      <a16:colId xmlns:a16="http://schemas.microsoft.com/office/drawing/2014/main" val="2331787055"/>
                    </a:ext>
                  </a:extLst>
                </a:gridCol>
                <a:gridCol w="1111038">
                  <a:extLst>
                    <a:ext uri="{9D8B030D-6E8A-4147-A177-3AD203B41FA5}">
                      <a16:colId xmlns:a16="http://schemas.microsoft.com/office/drawing/2014/main" val="2260070688"/>
                    </a:ext>
                  </a:extLst>
                </a:gridCol>
                <a:gridCol w="1111038">
                  <a:extLst>
                    <a:ext uri="{9D8B030D-6E8A-4147-A177-3AD203B41FA5}">
                      <a16:colId xmlns:a16="http://schemas.microsoft.com/office/drawing/2014/main" val="1270198861"/>
                    </a:ext>
                  </a:extLst>
                </a:gridCol>
              </a:tblGrid>
              <a:tr h="221497">
                <a:tc>
                  <a:txBody>
                    <a:bodyPr/>
                    <a:lstStyle/>
                    <a:p>
                      <a:pPr algn="ctr" rtl="1" fontAlgn="b"/>
                      <a:r>
                        <a:rPr lang="he-IL" sz="1400" b="0" i="0" u="none" strike="noStrike">
                          <a:solidFill>
                            <a:srgbClr val="000000"/>
                          </a:solidFill>
                          <a:effectLst/>
                          <a:latin typeface="Arial" panose="020B0604020202020204" pitchFamily="34" charset="0"/>
                        </a:rPr>
                        <a:t>רמה </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בכסף</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משולבת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בעין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dirty="0">
                          <a:solidFill>
                            <a:srgbClr val="000000"/>
                          </a:solidFill>
                          <a:effectLst/>
                          <a:latin typeface="Arial" panose="020B0604020202020204" pitchFamily="34" charset="0"/>
                        </a:rPr>
                        <a:t>סה"כ </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2687450622"/>
                  </a:ext>
                </a:extLst>
              </a:tr>
              <a:tr h="233155">
                <a:tc>
                  <a:txBody>
                    <a:bodyPr/>
                    <a:lstStyle/>
                    <a:p>
                      <a:pPr algn="ctr" rtl="0" fontAlgn="b"/>
                      <a:r>
                        <a:rPr lang="he-IL" sz="1400" b="0" i="0" u="none" strike="noStrike">
                          <a:solidFill>
                            <a:srgbClr val="000000"/>
                          </a:solidFill>
                          <a:effectLst/>
                          <a:latin typeface="Arial" panose="020B0604020202020204" pitchFamily="34" charset="0"/>
                        </a:rPr>
                        <a:t>1</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1" i="0" u="none" strike="noStrike">
                          <a:solidFill>
                            <a:srgbClr val="000000"/>
                          </a:solidFill>
                          <a:effectLst/>
                          <a:latin typeface="Arial" panose="020B0604020202020204" pitchFamily="34" charset="0"/>
                        </a:rPr>
                        <a:t>80%</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17%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47,433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87524445"/>
                  </a:ext>
                </a:extLst>
              </a:tr>
              <a:tr h="221497">
                <a:tc>
                  <a:txBody>
                    <a:bodyPr/>
                    <a:lstStyle/>
                    <a:p>
                      <a:pPr algn="ctr" rtl="0" fontAlgn="b"/>
                      <a:r>
                        <a:rPr lang="he-IL" sz="1400" b="0" i="0" u="none" strike="noStrike">
                          <a:solidFill>
                            <a:srgbClr val="000000"/>
                          </a:solidFill>
                          <a:effectLst/>
                          <a:latin typeface="Arial" panose="020B0604020202020204" pitchFamily="34" charset="0"/>
                        </a:rPr>
                        <a:t>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75%</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22%</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66,392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22600891"/>
                  </a:ext>
                </a:extLst>
              </a:tr>
              <a:tr h="221497">
                <a:tc>
                  <a:txBody>
                    <a:bodyPr/>
                    <a:lstStyle/>
                    <a:p>
                      <a:pPr algn="ctr" rtl="0" fontAlgn="b"/>
                      <a:r>
                        <a:rPr lang="he-IL" sz="1400" b="0" i="0" u="none" strike="noStrike">
                          <a:solidFill>
                            <a:srgbClr val="000000"/>
                          </a:solidFill>
                          <a:effectLst/>
                          <a:latin typeface="Arial" panose="020B0604020202020204" pitchFamily="34" charset="0"/>
                        </a:rPr>
                        <a:t>3</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80%</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17%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84,496</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236863694"/>
                  </a:ext>
                </a:extLst>
              </a:tr>
              <a:tr h="221497">
                <a:tc>
                  <a:txBody>
                    <a:bodyPr/>
                    <a:lstStyle/>
                    <a:p>
                      <a:pPr algn="ctr" rtl="0" fontAlgn="b"/>
                      <a:r>
                        <a:rPr lang="he-IL" sz="1400" b="0" i="0" u="none" strike="noStrike">
                          <a:solidFill>
                            <a:srgbClr val="000000"/>
                          </a:solidFill>
                          <a:effectLst/>
                          <a:latin typeface="Arial" panose="020B0604020202020204" pitchFamily="34" charset="0"/>
                        </a:rPr>
                        <a:t>4</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74%</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21%</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52,585</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114843729"/>
                  </a:ext>
                </a:extLst>
              </a:tr>
              <a:tr h="221497">
                <a:tc>
                  <a:txBody>
                    <a:bodyPr/>
                    <a:lstStyle/>
                    <a:p>
                      <a:pPr algn="ctr" rtl="0" fontAlgn="b"/>
                      <a:r>
                        <a:rPr lang="he-IL" sz="1400" b="0" i="0" u="none" strike="noStrike">
                          <a:solidFill>
                            <a:srgbClr val="000000"/>
                          </a:solidFill>
                          <a:effectLst/>
                          <a:latin typeface="Arial" panose="020B0604020202020204" pitchFamily="34" charset="0"/>
                        </a:rPr>
                        <a:t>5</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8%</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64%</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28%</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36,093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18446966"/>
                  </a:ext>
                </a:extLst>
              </a:tr>
              <a:tr h="221497">
                <a:tc>
                  <a:txBody>
                    <a:bodyPr/>
                    <a:lstStyle/>
                    <a:p>
                      <a:pPr algn="ctr" rtl="0" fontAlgn="b"/>
                      <a:r>
                        <a:rPr lang="he-IL" sz="1400" b="0" i="0" u="none" strike="noStrike">
                          <a:solidFill>
                            <a:srgbClr val="000000"/>
                          </a:solidFill>
                          <a:effectLst/>
                          <a:latin typeface="Arial" panose="020B0604020202020204" pitchFamily="34" charset="0"/>
                        </a:rPr>
                        <a:t>6</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14%</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55%</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31%</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59,001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32702371"/>
                  </a:ext>
                </a:extLst>
              </a:tr>
              <a:tr h="221497">
                <a:tc>
                  <a:txBody>
                    <a:bodyPr/>
                    <a:lstStyle/>
                    <a:p>
                      <a:pPr algn="r" rtl="1" fontAlgn="b"/>
                      <a:r>
                        <a:rPr lang="he-IL" sz="1400" b="0" i="0" u="none" strike="noStrike">
                          <a:solidFill>
                            <a:srgbClr val="000000"/>
                          </a:solidFill>
                          <a:effectLst/>
                          <a:latin typeface="Arial" panose="020B0604020202020204" pitchFamily="34" charset="0"/>
                        </a:rPr>
                        <a:t>סך הכל</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55,397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213,654</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76,711</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346,000</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32182883"/>
                  </a:ext>
                </a:extLst>
              </a:tr>
              <a:tr h="233155">
                <a:tc>
                  <a:txBody>
                    <a:bodyPr/>
                    <a:lstStyle/>
                    <a:p>
                      <a:pPr algn="l" rtl="1" fontAlgn="b"/>
                      <a:r>
                        <a:rPr lang="he-IL" sz="1400" b="0" i="0" u="none" strike="noStrike">
                          <a:solidFill>
                            <a:srgbClr val="000000"/>
                          </a:solidFill>
                          <a:effectLst/>
                          <a:latin typeface="Arial" panose="020B0604020202020204" pitchFamily="34" charset="0"/>
                        </a:rPr>
                        <a:t>% מסוג הגמלה</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16%</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62%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22%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fontAlgn="b"/>
                      <a:r>
                        <a:rPr lang="he-IL" sz="1400" b="0" i="0" u="none" strike="noStrike" dirty="0">
                          <a:solidFill>
                            <a:srgbClr val="000000"/>
                          </a:solidFill>
                          <a:effectLst/>
                          <a:latin typeface="Arial" panose="020B0604020202020204" pitchFamily="34" charset="0"/>
                        </a:rPr>
                        <a:t> </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1060160"/>
                  </a:ext>
                </a:extLst>
              </a:tr>
            </a:tbl>
          </a:graphicData>
        </a:graphic>
      </p:graphicFrame>
      <p:sp>
        <p:nvSpPr>
          <p:cNvPr id="7" name="מלבן 6"/>
          <p:cNvSpPr/>
          <p:nvPr/>
        </p:nvSpPr>
        <p:spPr>
          <a:xfrm>
            <a:off x="2932911" y="4861779"/>
            <a:ext cx="2073003" cy="400110"/>
          </a:xfrm>
          <a:prstGeom prst="rect">
            <a:avLst/>
          </a:prstGeom>
          <a:solidFill>
            <a:schemeClr val="accent5">
              <a:lumMod val="50000"/>
            </a:schemeClr>
          </a:solidFill>
          <a:ln>
            <a:noFill/>
          </a:ln>
        </p:spPr>
        <p:style>
          <a:lnRef idx="0">
            <a:scrgbClr r="0" g="0" b="0"/>
          </a:lnRef>
          <a:fillRef idx="0">
            <a:scrgbClr r="0" g="0" b="0"/>
          </a:fillRef>
          <a:effectRef idx="0">
            <a:scrgbClr r="0" g="0" b="0"/>
          </a:effectRef>
          <a:fontRef idx="minor">
            <a:schemeClr val="lt1"/>
          </a:fontRef>
        </p:style>
        <p:txBody>
          <a:bodyPr wrap="none">
            <a:spAutoFit/>
          </a:bodyPr>
          <a:lstStyle/>
          <a:p>
            <a:r>
              <a:rPr lang="he-IL" sz="2000" dirty="0" smtClean="0"/>
              <a:t>מה שנותנים להם...</a:t>
            </a:r>
            <a:endParaRPr lang="he-IL" sz="2000" dirty="0"/>
          </a:p>
        </p:txBody>
      </p:sp>
      <p:sp>
        <p:nvSpPr>
          <p:cNvPr id="5" name="מלבן 4"/>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נתונים נוספים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253803903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תרשים 5"/>
          <p:cNvGraphicFramePr>
            <a:graphicFrameLocks/>
          </p:cNvGraphicFramePr>
          <p:nvPr>
            <p:extLst/>
          </p:nvPr>
        </p:nvGraphicFramePr>
        <p:xfrm>
          <a:off x="2523311" y="1144014"/>
          <a:ext cx="8273998" cy="4915041"/>
        </p:xfrm>
        <a:graphic>
          <a:graphicData uri="http://schemas.openxmlformats.org/drawingml/2006/chart">
            <c:chart xmlns:c="http://schemas.openxmlformats.org/drawingml/2006/chart" xmlns:r="http://schemas.openxmlformats.org/officeDocument/2006/relationships" r:id="rId2"/>
          </a:graphicData>
        </a:graphic>
      </p:graphicFrame>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Oval 9">
            <a:extLst>
              <a:ext uri="{FF2B5EF4-FFF2-40B4-BE49-F238E27FC236}">
                <a16:creationId xmlns:a16="http://schemas.microsoft.com/office/drawing/2014/main" id="{45C90494-62D2-599F-30EA-7652EE4A3D67}"/>
              </a:ext>
            </a:extLst>
          </p:cNvPr>
          <p:cNvSpPr/>
          <p:nvPr/>
        </p:nvSpPr>
        <p:spPr>
          <a:xfrm>
            <a:off x="9520123" y="7292009"/>
            <a:ext cx="252000" cy="252000"/>
          </a:xfrm>
          <a:prstGeom prst="ellipse">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8" name="TextBox 7"/>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נתונים נוספים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34051611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54825" y="281998"/>
            <a:ext cx="10515600" cy="1325563"/>
          </a:xfrm>
        </p:spPr>
        <p:txBody>
          <a:bodyPr/>
          <a:lstStyle/>
          <a:p>
            <a:r>
              <a:rPr lang="en-US" dirty="0"/>
              <a:t>ROI</a:t>
            </a:r>
            <a:r>
              <a:rPr lang="he-IL" dirty="0"/>
              <a:t> </a:t>
            </a:r>
            <a:r>
              <a:rPr lang="he-IL" dirty="0" err="1"/>
              <a:t>לבטל"א</a:t>
            </a:r>
            <a:r>
              <a:rPr lang="he-IL" dirty="0"/>
              <a:t> וקופ"ח לפי 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2120210832"/>
              </p:ext>
            </p:extLst>
          </p:nvPr>
        </p:nvGraphicFramePr>
        <p:xfrm>
          <a:off x="0" y="2703672"/>
          <a:ext cx="5270269" cy="38723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מציין מיקום תוכן 6"/>
          <p:cNvGraphicFramePr>
            <a:graphicFrameLocks noGrp="1"/>
          </p:cNvGraphicFramePr>
          <p:nvPr>
            <p:ph idx="1"/>
            <p:extLst>
              <p:ext uri="{D42A27DB-BD31-4B8C-83A1-F6EECF244321}">
                <p14:modId xmlns:p14="http://schemas.microsoft.com/office/powerpoint/2010/main" val="378096609"/>
              </p:ext>
            </p:extLst>
          </p:nvPr>
        </p:nvGraphicFramePr>
        <p:xfrm>
          <a:off x="3350032" y="1442336"/>
          <a:ext cx="8564762" cy="1915241"/>
        </p:xfrm>
        <a:graphic>
          <a:graphicData uri="http://schemas.openxmlformats.org/drawingml/2006/table">
            <a:tbl>
              <a:tblPr rtl="1"/>
              <a:tblGrid>
                <a:gridCol w="761668">
                  <a:extLst>
                    <a:ext uri="{9D8B030D-6E8A-4147-A177-3AD203B41FA5}">
                      <a16:colId xmlns:a16="http://schemas.microsoft.com/office/drawing/2014/main" val="2342730078"/>
                    </a:ext>
                  </a:extLst>
                </a:gridCol>
                <a:gridCol w="809877">
                  <a:extLst>
                    <a:ext uri="{9D8B030D-6E8A-4147-A177-3AD203B41FA5}">
                      <a16:colId xmlns:a16="http://schemas.microsoft.com/office/drawing/2014/main" val="1357150028"/>
                    </a:ext>
                  </a:extLst>
                </a:gridCol>
                <a:gridCol w="1079835">
                  <a:extLst>
                    <a:ext uri="{9D8B030D-6E8A-4147-A177-3AD203B41FA5}">
                      <a16:colId xmlns:a16="http://schemas.microsoft.com/office/drawing/2014/main" val="1301908837"/>
                    </a:ext>
                  </a:extLst>
                </a:gridCol>
                <a:gridCol w="797021">
                  <a:extLst>
                    <a:ext uri="{9D8B030D-6E8A-4147-A177-3AD203B41FA5}">
                      <a16:colId xmlns:a16="http://schemas.microsoft.com/office/drawing/2014/main" val="3854073063"/>
                    </a:ext>
                  </a:extLst>
                </a:gridCol>
                <a:gridCol w="1224456">
                  <a:extLst>
                    <a:ext uri="{9D8B030D-6E8A-4147-A177-3AD203B41FA5}">
                      <a16:colId xmlns:a16="http://schemas.microsoft.com/office/drawing/2014/main" val="3739133506"/>
                    </a:ext>
                  </a:extLst>
                </a:gridCol>
                <a:gridCol w="758455">
                  <a:extLst>
                    <a:ext uri="{9D8B030D-6E8A-4147-A177-3AD203B41FA5}">
                      <a16:colId xmlns:a16="http://schemas.microsoft.com/office/drawing/2014/main" val="3247342757"/>
                    </a:ext>
                  </a:extLst>
                </a:gridCol>
                <a:gridCol w="1147325">
                  <a:extLst>
                    <a:ext uri="{9D8B030D-6E8A-4147-A177-3AD203B41FA5}">
                      <a16:colId xmlns:a16="http://schemas.microsoft.com/office/drawing/2014/main" val="4195802496"/>
                    </a:ext>
                  </a:extLst>
                </a:gridCol>
                <a:gridCol w="1185890">
                  <a:extLst>
                    <a:ext uri="{9D8B030D-6E8A-4147-A177-3AD203B41FA5}">
                      <a16:colId xmlns:a16="http://schemas.microsoft.com/office/drawing/2014/main" val="4293482147"/>
                    </a:ext>
                  </a:extLst>
                </a:gridCol>
                <a:gridCol w="800235">
                  <a:extLst>
                    <a:ext uri="{9D8B030D-6E8A-4147-A177-3AD203B41FA5}">
                      <a16:colId xmlns:a16="http://schemas.microsoft.com/office/drawing/2014/main" val="3814229868"/>
                    </a:ext>
                  </a:extLst>
                </a:gridCol>
              </a:tblGrid>
              <a:tr h="224348">
                <a:tc>
                  <a:txBody>
                    <a:bodyPr/>
                    <a:lstStyle/>
                    <a:p>
                      <a:pPr algn="ctr" rtl="1" fontAlgn="t"/>
                      <a:r>
                        <a:rPr lang="he-IL" sz="1100" b="1" i="0" u="none" strike="noStrike">
                          <a:solidFill>
                            <a:srgbClr val="000000"/>
                          </a:solidFill>
                          <a:effectLst/>
                          <a:latin typeface="Arial" panose="020B0604020202020204" pitchFamily="34" charset="0"/>
                        </a:rPr>
                        <a:t>רמה </a:t>
                      </a:r>
                    </a:p>
                  </a:txBody>
                  <a:tcPr marL="9525" marR="9525" marT="9525"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כמה העלות למדינה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חסכון בהישארות ברמה לחודש</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חסכון לשנה בבטלא</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העלות לקופ"ח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000" b="1" i="0" u="none" strike="noStrike">
                          <a:solidFill>
                            <a:srgbClr val="000000"/>
                          </a:solidFill>
                          <a:effectLst/>
                          <a:latin typeface="Arial" panose="020B0604020202020204" pitchFamily="34" charset="0"/>
                        </a:rPr>
                        <a:t>חסכון לשנה בקופ"ח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סה"כ חסכון לשנה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gridSpan="2">
                  <a:txBody>
                    <a:bodyPr/>
                    <a:lstStyle/>
                    <a:p>
                      <a:pPr algn="ctr" rtl="1" fontAlgn="ctr"/>
                      <a:r>
                        <a:rPr lang="he-IL" sz="1100" b="1" i="0" u="none" strike="noStrike">
                          <a:solidFill>
                            <a:srgbClr val="000000"/>
                          </a:solidFill>
                          <a:effectLst/>
                          <a:latin typeface="Arial" panose="020B0604020202020204" pitchFamily="34" charset="0"/>
                        </a:rPr>
                        <a:t>עלות שירותים לשנה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rtl="1"/>
                      <a:endParaRPr lang="he-IL"/>
                    </a:p>
                  </a:txBody>
                  <a:tcPr/>
                </a:tc>
                <a:extLst>
                  <a:ext uri="{0D108BD9-81ED-4DB2-BD59-A6C34878D82A}">
                    <a16:rowId xmlns:a16="http://schemas.microsoft.com/office/drawing/2014/main" val="2641884873"/>
                  </a:ext>
                </a:extLst>
              </a:tr>
              <a:tr h="224348">
                <a:tc>
                  <a:txBody>
                    <a:bodyPr/>
                    <a:lstStyle/>
                    <a:p>
                      <a:pPr algn="ctr" rtl="1" fontAlgn="ctr"/>
                      <a:r>
                        <a:rPr lang="he-IL" sz="1100" b="0" i="0" u="none" strike="noStrike">
                          <a:solidFill>
                            <a:srgbClr val="000000"/>
                          </a:solidFill>
                          <a:effectLst/>
                          <a:latin typeface="Arial" panose="020B0604020202020204" pitchFamily="34" charset="0"/>
                        </a:rPr>
                        <a:t>0</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1,535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18,414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10,253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5,483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23,897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1,920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קהילה תומכת</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1871262"/>
                  </a:ext>
                </a:extLst>
              </a:tr>
              <a:tr h="224348">
                <a:tc>
                  <a:txBody>
                    <a:bodyPr/>
                    <a:lstStyle/>
                    <a:p>
                      <a:pPr algn="ctr" rtl="1" fontAlgn="ctr"/>
                      <a:r>
                        <a:rPr lang="he-IL" sz="1100" b="0" i="0" u="none" strike="noStrike">
                          <a:solidFill>
                            <a:srgbClr val="000000"/>
                          </a:solidFill>
                          <a:effectLst/>
                          <a:latin typeface="Arial" panose="020B06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1,535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1,256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15,066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15,736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405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20,549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8,688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מופת</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3892679"/>
                  </a:ext>
                </a:extLst>
              </a:tr>
              <a:tr h="224348">
                <a:tc>
                  <a:txBody>
                    <a:bodyPr/>
                    <a:lstStyle/>
                    <a:p>
                      <a:pPr algn="ctr" rtl="1" fontAlgn="ctr"/>
                      <a:r>
                        <a:rPr lang="he-IL" sz="1100" b="0" i="0" u="none" strike="noStrike">
                          <a:solidFill>
                            <a:srgbClr val="000000"/>
                          </a:solidFill>
                          <a:effectLst/>
                          <a:latin typeface="Arial" panose="020B06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2,790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1,953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23,436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16,141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2,508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23,841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23,220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מרכז יום</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3604184"/>
                  </a:ext>
                </a:extLst>
              </a:tr>
              <a:tr h="224348">
                <a:tc>
                  <a:txBody>
                    <a:bodyPr/>
                    <a:lstStyle/>
                    <a:p>
                      <a:pPr algn="ctr" rtl="1" fontAlgn="ctr"/>
                      <a:r>
                        <a:rPr lang="he-IL" sz="1100" b="0" i="0" u="none" strike="noStrike">
                          <a:solidFill>
                            <a:srgbClr val="000000"/>
                          </a:solidFill>
                          <a:effectLst/>
                          <a:latin typeface="Arial" panose="020B06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4,743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1,116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13,392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18,648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3,523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15,900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31712138"/>
                  </a:ext>
                </a:extLst>
              </a:tr>
              <a:tr h="224348">
                <a:tc>
                  <a:txBody>
                    <a:bodyPr/>
                    <a:lstStyle/>
                    <a:p>
                      <a:pPr algn="ctr" rtl="1" fontAlgn="ctr"/>
                      <a:r>
                        <a:rPr lang="he-IL" sz="1100" b="0" i="0" u="none" strike="noStrike">
                          <a:solidFill>
                            <a:srgbClr val="000000"/>
                          </a:solidFill>
                          <a:effectLst/>
                          <a:latin typeface="Arial" panose="020B06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5,859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1,395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16,740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22,172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718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20,263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dirty="0">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926710387"/>
                  </a:ext>
                </a:extLst>
              </a:tr>
              <a:tr h="224348">
                <a:tc>
                  <a:txBody>
                    <a:bodyPr/>
                    <a:lstStyle/>
                    <a:p>
                      <a:pPr algn="ctr" rtl="1" fontAlgn="ctr"/>
                      <a:r>
                        <a:rPr lang="he-IL" sz="1100" b="0" i="0" u="none" strike="noStrike">
                          <a:solidFill>
                            <a:srgbClr val="000000"/>
                          </a:solidFill>
                          <a:effectLst/>
                          <a:latin typeface="Arial" panose="020B06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7,254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1,116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13,392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22,889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900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14,110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004924704"/>
                  </a:ext>
                </a:extLst>
              </a:tr>
              <a:tr h="224348">
                <a:tc>
                  <a:txBody>
                    <a:bodyPr/>
                    <a:lstStyle/>
                    <a:p>
                      <a:pPr algn="ctr" rtl="1" fontAlgn="ctr"/>
                      <a:r>
                        <a:rPr lang="he-IL" sz="1100" b="0" i="0" u="none" strike="noStrike">
                          <a:solidFill>
                            <a:srgbClr val="000000"/>
                          </a:solidFill>
                          <a:effectLst/>
                          <a:latin typeface="Arial" panose="020B06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8,370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23,789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dirty="0">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268918540"/>
                  </a:ext>
                </a:extLst>
              </a:tr>
            </a:tbl>
          </a:graphicData>
        </a:graphic>
      </p:graphicFrame>
      <p:sp>
        <p:nvSpPr>
          <p:cNvPr id="5" name="מלבן 4"/>
          <p:cNvSpPr/>
          <p:nvPr/>
        </p:nvSpPr>
        <p:spPr>
          <a:xfrm>
            <a:off x="-7346" y="1"/>
            <a:ext cx="291550" cy="6857999"/>
          </a:xfrm>
          <a:prstGeom prst="rect">
            <a:avLst/>
          </a:prstGeom>
          <a:solidFill>
            <a:srgbClr val="FFC000"/>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40481" y="460062"/>
            <a:ext cx="1258678" cy="338554"/>
          </a:xfrm>
          <a:prstGeom prst="rect">
            <a:avLst/>
          </a:prstGeom>
          <a:solidFill>
            <a:srgbClr val="FFC000"/>
          </a:solidFill>
        </p:spPr>
        <p:txBody>
          <a:bodyPr wrap="none" rtlCol="1">
            <a:spAutoFit/>
          </a:bodyPr>
          <a:lstStyle/>
          <a:p>
            <a:r>
              <a:rPr lang="he-IL" sz="1600" b="1" dirty="0" smtClean="0"/>
              <a:t>קהילה לכולם</a:t>
            </a:r>
            <a:endParaRPr lang="he-IL" sz="1600" b="1" dirty="0"/>
          </a:p>
        </p:txBody>
      </p:sp>
      <p:sp>
        <p:nvSpPr>
          <p:cNvPr id="9" name="מלבן 8"/>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smtClean="0">
                <a:latin typeface="Calibri" panose="020F0502020204030204" pitchFamily="34" charset="0"/>
                <a:ea typeface="Open Sans" panose="020B0606030504020204" pitchFamily="34" charset="0"/>
                <a:cs typeface="Calibri" panose="020F0502020204030204" pitchFamily="34" charset="0"/>
              </a:rPr>
              <a:t>נתונים נוספים</a:t>
            </a:r>
            <a:endParaRPr lang="he-IL" sz="1600" b="1" dirty="0">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27350434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קליברי">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4047</TotalTime>
  <Words>4782</Words>
  <Application>Microsoft Office PowerPoint</Application>
  <PresentationFormat>מסך רחב</PresentationFormat>
  <Paragraphs>1035</Paragraphs>
  <Slides>66</Slides>
  <Notes>29</Notes>
  <HiddenSlides>21</HiddenSlides>
  <MMClips>0</MMClips>
  <ScaleCrop>false</ScaleCrop>
  <HeadingPairs>
    <vt:vector size="8" baseType="variant">
      <vt:variant>
        <vt:lpstr>גופנים בשימוש</vt:lpstr>
      </vt:variant>
      <vt:variant>
        <vt:i4>30</vt:i4>
      </vt:variant>
      <vt:variant>
        <vt:lpstr>ערכת נושא</vt:lpstr>
      </vt:variant>
      <vt:variant>
        <vt:i4>5</vt:i4>
      </vt:variant>
      <vt:variant>
        <vt:lpstr>שרתי OLE מוטבעים</vt:lpstr>
      </vt:variant>
      <vt:variant>
        <vt:i4>1</vt:i4>
      </vt:variant>
      <vt:variant>
        <vt:lpstr>כותרות שקופיות</vt:lpstr>
      </vt:variant>
      <vt:variant>
        <vt:i4>66</vt:i4>
      </vt:variant>
    </vt:vector>
  </HeadingPairs>
  <TitlesOfParts>
    <vt:vector size="102" baseType="lpstr">
      <vt:lpstr>맑은 고딕</vt:lpstr>
      <vt:lpstr>Abadi Extra Light</vt:lpstr>
      <vt:lpstr>Almoni Neue DL 4.0 AAA</vt:lpstr>
      <vt:lpstr>Almoni Neue DL 4.0 AAA Medium</vt:lpstr>
      <vt:lpstr>Aptos</vt:lpstr>
      <vt:lpstr>Aptos Display</vt:lpstr>
      <vt:lpstr>Arial</vt:lpstr>
      <vt:lpstr>Assistant</vt:lpstr>
      <vt:lpstr>Assistant Light</vt:lpstr>
      <vt:lpstr>Calibri</vt:lpstr>
      <vt:lpstr>Calibri Light</vt:lpstr>
      <vt:lpstr>David</vt:lpstr>
      <vt:lpstr>Droid Serif</vt:lpstr>
      <vt:lpstr>Gotham Book</vt:lpstr>
      <vt:lpstr>Guttman Kav</vt:lpstr>
      <vt:lpstr>Guttman Yad-Brush</vt:lpstr>
      <vt:lpstr>Gveret Levin AlefAlefAlef</vt:lpstr>
      <vt:lpstr>Helvetica Neue</vt:lpstr>
      <vt:lpstr>Helvetica Neue Medium</vt:lpstr>
      <vt:lpstr>Montserrat</vt:lpstr>
      <vt:lpstr>Open Sans</vt:lpstr>
      <vt:lpstr>Open Sans Hebrew</vt:lpstr>
      <vt:lpstr>Pontano Sans</vt:lpstr>
      <vt:lpstr>Segoe UI</vt:lpstr>
      <vt:lpstr>Segoe UI Black</vt:lpstr>
      <vt:lpstr>Segoe UI Semilight</vt:lpstr>
      <vt:lpstr>Tahoma</vt:lpstr>
      <vt:lpstr>Times New Roman</vt:lpstr>
      <vt:lpstr>Varela Round</vt:lpstr>
      <vt:lpstr>Wingdings</vt:lpstr>
      <vt:lpstr>ערכת נושא Office</vt:lpstr>
      <vt:lpstr>Showeet theme</vt:lpstr>
      <vt:lpstr>1_ערכת נושא Office</vt:lpstr>
      <vt:lpstr>2_ערכת נושא Office</vt:lpstr>
      <vt:lpstr>Office Theme</vt:lpstr>
      <vt:lpstr>גליון עבודה</vt:lpstr>
      <vt:lpstr>מצגת של PowerPoint‏</vt:lpstr>
      <vt:lpstr>מצגת של PowerPoint‏</vt:lpstr>
      <vt:lpstr>מצגת של PowerPoint‏</vt:lpstr>
      <vt:lpstr>מספר ושיעור זכאי גמלת סיעוד לפי שנים </vt:lpstr>
      <vt:lpstr>הפיצול בסיעוד</vt:lpstr>
      <vt:lpstr>מצגת של PowerPoint‏</vt:lpstr>
      <vt:lpstr>תמצית עיקרי הרפורמה:</vt:lpstr>
      <vt:lpstr>רמות הגמלה לפני הרפורמה ואחריה</vt:lpstr>
      <vt:lpstr>מצגת של PowerPoint‏</vt:lpstr>
      <vt:lpstr>השפעות רפורמת 2018</vt:lpstr>
      <vt:lpstr>אחוז המרה לפי שירותים 2024</vt:lpstr>
      <vt:lpstr>מצגת של PowerPoint‏</vt:lpstr>
      <vt:lpstr>אחוז זקנים המקבלים סיעוד בעולם 2018</vt:lpstr>
      <vt:lpstr>אחוז בני +65 אשר מקבלים טיפול במוסד (2018)</vt:lpstr>
      <vt:lpstr>בריאות – שנות חיים בריאים בגיל 65  - נשים המדד המוצע: אחוז השנים הבריאות בגיל 65</vt:lpstr>
      <vt:lpstr>בריאות – שנות חיים בריאים בגיל 65  - גברים המדד המוצע: אחוז השנים הבריאות בגיל 65</vt:lpstr>
      <vt:lpstr>בריאות –תפקוד ADL</vt:lpstr>
      <vt:lpstr>בריאות –תפקוד IADL</vt:lpstr>
      <vt:lpstr>מצגת של PowerPoint‏</vt:lpstr>
      <vt:lpstr>מצגת של PowerPoint‏</vt:lpstr>
      <vt:lpstr>בעיות עיקריות בחוק סיעוד 2024: </vt:lpstr>
      <vt:lpstr>המלצות דו"ח קידר למניעת הדרדרות 2022</vt:lpstr>
      <vt:lpstr>חוק ההסדרים גרסה ב' (2.23)</vt:lpstr>
      <vt:lpstr>מצגת של PowerPoint‏</vt:lpstr>
      <vt:lpstr>עקרונות מנחים במודל העבודה המשותף: </vt:lpstr>
      <vt:lpstr>מצגת של PowerPoint‏</vt:lpstr>
      <vt:lpstr>פורום ברק</vt:lpstr>
      <vt:lpstr>מודיעין עסקי: שחקני המפתח, אינטרסים והצצה אל מאחורי הקלעים</vt:lpstr>
      <vt:lpstr>אפשרויות לתמרוצים</vt:lpstr>
      <vt:lpstr>מצגת של PowerPoint‏</vt:lpstr>
      <vt:lpstr>ועדה בין משרדית וחוק ההסדרים</vt:lpstr>
      <vt:lpstr>מצגת של PowerPoint‏</vt:lpstr>
      <vt:lpstr>נתונים- קהילה תומכת היום:</vt:lpstr>
      <vt:lpstr>מצגת של PowerPoint‏</vt:lpstr>
      <vt:lpstr>מצגת של PowerPoint‏</vt:lpstr>
      <vt:lpstr>קהילה תומכת כשירות בסיס לכולם (MVP ברמה 1-2)</vt:lpstr>
      <vt:lpstr>מצגת של PowerPoint‏</vt:lpstr>
      <vt:lpstr>מצגת של PowerPoint‏</vt:lpstr>
      <vt:lpstr>סל שירותים אישי מבוסס נתונים לבחירת הזקן</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ROI במניעה לפי רמות סיעוד</vt:lpstr>
      <vt:lpstr>מצגת של PowerPoint‏</vt:lpstr>
      <vt:lpstr>מצגת של PowerPoint‏</vt:lpstr>
      <vt:lpstr>מצגת של PowerPoint‏</vt:lpstr>
      <vt:lpstr>מצגת של PowerPoint‏</vt:lpstr>
      <vt:lpstr>מצגת של PowerPoint‏</vt:lpstr>
      <vt:lpstr>סטטוס מהלכים</vt:lpstr>
      <vt:lpstr>מצגת של PowerPoint‏</vt:lpstr>
      <vt:lpstr>מצגת של PowerPoint‏</vt:lpstr>
      <vt:lpstr>אז מה הם בוחרים?</vt:lpstr>
      <vt:lpstr>מצגת של PowerPoint‏</vt:lpstr>
      <vt:lpstr>ROI לבטל"א וקופ"ח לפי רמות סיעוד</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עמית שמואליאן</dc:creator>
  <cp:lastModifiedBy>אביעד יצחקי</cp:lastModifiedBy>
  <cp:revision>215</cp:revision>
  <dcterms:created xsi:type="dcterms:W3CDTF">2022-08-02T10:23:38Z</dcterms:created>
  <dcterms:modified xsi:type="dcterms:W3CDTF">2024-05-10T13:35:38Z</dcterms:modified>
</cp:coreProperties>
</file>