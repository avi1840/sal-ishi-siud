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1" r:id="rId2"/>
  </p:sldMasterIdLst>
  <p:notesMasterIdLst>
    <p:notesMasterId r:id="rId8"/>
  </p:notesMasterIdLst>
  <p:sldIdLst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88DC736-A74D-492A-A719-4B6B92E3682C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8EEF0C8-3213-45B2-8E78-C795ACF204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247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2649538" y="514350"/>
            <a:ext cx="4573587" cy="25717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987268" y="3257550"/>
            <a:ext cx="7898129" cy="308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1187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he-IL" dirty="0"/>
              <a:t>דרך שלושה צירי מפתח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6B088-BEEC-4145-AEDC-27EC65BEFD4A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04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96B088-BEEC-4145-AEDC-27EC65BEFD4A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6095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862D9-E127-438C-862D-D0EBBF3999F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9765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98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826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242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442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883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898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414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775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18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921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7247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8034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80B959-BC60-4854-A69A-50BBA8DB8D52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gradFill flip="none" rotWithShape="1">
            <a:gsLst>
              <a:gs pos="0">
                <a:srgbClr val="1F1C30"/>
              </a:gs>
              <a:gs pos="100000">
                <a:srgbClr val="E7525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0953BFF1-8892-4520-AFB4-B491E394F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15975" r="73705" b="11445"/>
          <a:stretch/>
        </p:blipFill>
        <p:spPr>
          <a:xfrm>
            <a:off x="340336" y="5391250"/>
            <a:ext cx="1096578" cy="1088762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786521AC-AF58-4D0C-AC2D-55292CB60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705" y="260961"/>
            <a:ext cx="1915295" cy="5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06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671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208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09600" y="1875925"/>
            <a:ext cx="7068400" cy="421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06424656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7106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78084220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35256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481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38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8779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11512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744-8BFC-49C4-921C-A4357DD2820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B286-1E5E-4B02-A0C5-06BDEC1E2F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07372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Bol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58A5-D8CF-7C4B-91E5-22A99FEA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30" y="263952"/>
            <a:ext cx="11281809" cy="880636"/>
          </a:xfrm>
          <a:prstGeom prst="rect">
            <a:avLst/>
          </a:prstGeom>
        </p:spPr>
        <p:txBody>
          <a:bodyPr lIns="0" tIns="0" rIns="0" bIns="45720" anchor="t"/>
          <a:lstStyle>
            <a:lvl1pPr>
              <a:lnSpc>
                <a:spcPct val="85000"/>
              </a:lnSpc>
              <a:defRPr sz="3799" b="0" i="0">
                <a:latin typeface="Arial Rounded MT Bold" panose="020F0704030504030204" pitchFamily="34" charset="77"/>
                <a:cs typeface="Arial" panose="020B0604020202020204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CCC40F-A883-FE45-B522-4ADB03A19C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030" y="1289146"/>
            <a:ext cx="11282125" cy="4378229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Aft>
                <a:spcPts val="300"/>
              </a:spcAft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594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657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720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6783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2E5537-E5C0-C745-AF97-2E51588BDB29}"/>
              </a:ext>
            </a:extLst>
          </p:cNvPr>
          <p:cNvSpPr/>
          <p:nvPr userDrawn="1"/>
        </p:nvSpPr>
        <p:spPr>
          <a:xfrm>
            <a:off x="2" y="6319330"/>
            <a:ext cx="12192000" cy="53867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4D112-EBB5-494B-945B-BF708C79A04A}"/>
              </a:ext>
            </a:extLst>
          </p:cNvPr>
          <p:cNvSpPr txBox="1"/>
          <p:nvPr userDrawn="1"/>
        </p:nvSpPr>
        <p:spPr>
          <a:xfrm>
            <a:off x="8110042" y="6481681"/>
            <a:ext cx="362931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tabLst>
                <a:tab pos="790338" algn="l"/>
                <a:tab pos="3593022" algn="r"/>
              </a:tabLst>
            </a:pPr>
            <a:r>
              <a:rPr lang="en-US" sz="8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PROPRIETARY AND CONFIDENTIAL</a:t>
            </a:r>
            <a:r>
              <a:rPr lang="en-US" sz="9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fld id="{D23125F3-EC14-7D43-B92B-F4D0E871587A}" type="slidenum">
              <a:rPr lang="en-US" sz="1200" b="0" i="0" spc="50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indent="0" algn="l">
                <a:tabLst>
                  <a:tab pos="790338" algn="l"/>
                  <a:tab pos="3593022" algn="r"/>
                </a:tabLst>
              </a:pPr>
              <a:t>‹#›</a:t>
            </a:fld>
            <a:endParaRPr lang="en-US" sz="1200" b="0" i="0" spc="50" baseline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109F4C6-65C8-174C-A967-B3AB4E41E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28842" y="6446287"/>
            <a:ext cx="916215" cy="2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628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642-002E-4C98-915B-826072CB88D7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2128248" y="478699"/>
            <a:ext cx="0" cy="708751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19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362BC-9CDC-4C1E-A921-0E50989C2256}" type="datetimeFigureOut">
              <a:rPr lang="he-IL" smtClean="0"/>
              <a:t>י"ט/אלול/תשפ"ג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9BBF-092B-4F9C-A493-BE8AB365F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76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71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0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title"/>
          </p:nvPr>
        </p:nvSpPr>
        <p:spPr>
          <a:xfrm>
            <a:off x="9270825" y="845544"/>
            <a:ext cx="2964873" cy="970400"/>
          </a:xfrm>
          <a:prstGeom prst="rect">
            <a:avLst/>
          </a:prstGeom>
        </p:spPr>
        <p:txBody>
          <a:bodyPr lIns="121900" tIns="121900" rIns="121900" bIns="121900" anchor="b" anchorCtr="0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he-IL" sz="3600" b="1" kern="1200" dirty="0" smtClean="0">
                <a:solidFill>
                  <a:srgbClr val="0070C0"/>
                </a:solidFill>
                <a:latin typeface="Calibri Light" panose="020F0302020204030204" pitchFamily="34" charset="0"/>
                <a:ea typeface="Droid Serif" panose="020B0604020202020204" charset="0"/>
                <a:cs typeface="Calibri Light" panose="020F0302020204030204" pitchFamily="34" charset="0"/>
              </a:rPr>
              <a:t>עקרונות מנחים במודל העבודה המשותף: </a:t>
            </a:r>
            <a:endParaRPr lang="en" sz="3600" b="1" kern="1200" dirty="0">
              <a:solidFill>
                <a:srgbClr val="0070C0"/>
              </a:solidFill>
              <a:latin typeface="Calibri Light" panose="020F0302020204030204" pitchFamily="34" charset="0"/>
              <a:ea typeface="Droid Serif" panose="020B0604020202020204" charset="0"/>
              <a:cs typeface="Calibri Light" panose="020F0302020204030204" pitchFamily="34" charset="0"/>
            </a:endParaRPr>
          </a:p>
        </p:txBody>
      </p:sp>
      <p:sp>
        <p:nvSpPr>
          <p:cNvPr id="283" name="Shape 283"/>
          <p:cNvSpPr txBox="1">
            <a:spLocks noGrp="1"/>
          </p:cNvSpPr>
          <p:nvPr>
            <p:ph type="body" idx="1"/>
          </p:nvPr>
        </p:nvSpPr>
        <p:spPr>
          <a:xfrm>
            <a:off x="6621610" y="4336428"/>
            <a:ext cx="2278400" cy="607638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he-IL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חליפה אישית לכל לקוח </a:t>
            </a:r>
            <a:endParaRPr lang="e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5" name="Shape 285"/>
          <p:cNvSpPr txBox="1">
            <a:spLocks noGrp="1"/>
          </p:cNvSpPr>
          <p:nvPr>
            <p:ph type="body" idx="3"/>
          </p:nvPr>
        </p:nvSpPr>
        <p:spPr>
          <a:xfrm>
            <a:off x="9314524" y="4231202"/>
            <a:ext cx="2524096" cy="860620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he-IL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תשתיות דאטה לתכנון והתאמת השירותים</a:t>
            </a:r>
            <a:endParaRPr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0" name="Shape 290"/>
          <p:cNvSpPr txBox="1">
            <a:spLocks noGrp="1"/>
          </p:cNvSpPr>
          <p:nvPr>
            <p:ph type="body" idx="4294967295"/>
          </p:nvPr>
        </p:nvSpPr>
        <p:spPr>
          <a:xfrm>
            <a:off x="3589309" y="4344861"/>
            <a:ext cx="2617787" cy="921283"/>
          </a:xfrm>
          <a:prstGeom prst="rect">
            <a:avLst/>
          </a:prstGeom>
        </p:spPr>
        <p:txBody>
          <a:bodyPr lIns="121900" tIns="121900" rIns="121900" bIns="121900" anchor="t" anchorCtr="0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he-IL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גמישות מרבית במתן השירותים </a:t>
            </a:r>
            <a:endParaRPr lang="e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58" y="2918284"/>
            <a:ext cx="1341967" cy="127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129" y="3252862"/>
            <a:ext cx="576064" cy="551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308" y="2997705"/>
            <a:ext cx="1341967" cy="127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608" y="3250376"/>
            <a:ext cx="617496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810" y="5634509"/>
            <a:ext cx="540000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591" y="5634509"/>
            <a:ext cx="723961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314524" y="2087287"/>
            <a:ext cx="2877476" cy="11541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300" dirty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שיתוף פעולה עם הרשויות </a:t>
            </a:r>
            <a:r>
              <a:rPr lang="he-IL" sz="23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המקומיות למענה לכלל הזקנים ברשות</a:t>
            </a:r>
            <a:endParaRPr lang="he-IL" sz="2300" dirty="0">
              <a:latin typeface="Calibri Light" panose="020F0302020204030204" pitchFamily="34" charset="0"/>
              <a:ea typeface="Pontano Sans"/>
              <a:cs typeface="Calibri Light" panose="020F0302020204030204" pitchFamily="34" charset="0"/>
              <a:sym typeface="Pontano Sans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3908938" y="2022066"/>
            <a:ext cx="2203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מנטל לנכס-  קידום זקנה פעילה</a:t>
            </a:r>
            <a:endParaRPr lang="he-IL" sz="2400" dirty="0">
              <a:latin typeface="Calibri Light" panose="020F0302020204030204" pitchFamily="34" charset="0"/>
              <a:ea typeface="Pontano Sans"/>
              <a:cs typeface="Calibri Light" panose="020F0302020204030204" pitchFamily="34" charset="0"/>
              <a:sym typeface="Pontano Sans"/>
            </a:endParaRPr>
          </a:p>
        </p:txBody>
      </p:sp>
      <p:sp>
        <p:nvSpPr>
          <p:cNvPr id="18" name="מלבן 17"/>
          <p:cNvSpPr/>
          <p:nvPr/>
        </p:nvSpPr>
        <p:spPr>
          <a:xfrm>
            <a:off x="481881" y="2003364"/>
            <a:ext cx="2767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קידום מניעה, הגברת השייכות ודחיקת התלות</a:t>
            </a:r>
            <a:endParaRPr lang="he-IL" sz="2400" dirty="0">
              <a:latin typeface="Calibri Light" panose="020F0302020204030204" pitchFamily="34" charset="0"/>
              <a:ea typeface="Pontano Sans"/>
              <a:cs typeface="Calibri Light" panose="020F0302020204030204" pitchFamily="34" charset="0"/>
              <a:sym typeface="Pontano Sans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81881" y="4344861"/>
            <a:ext cx="25900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buNone/>
            </a:pPr>
            <a:r>
              <a:rPr lang="he-IL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ראיה מערכתית של האזרח הוותיק ומשפחתו</a:t>
            </a:r>
            <a:endParaRPr lang="en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50610" y="2063015"/>
            <a:ext cx="233566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הזדקנות בקהילה</a:t>
            </a:r>
            <a:r>
              <a:rPr lang="en-US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/>
            </a:r>
            <a:br>
              <a:rPr lang="en-US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</a:br>
            <a:r>
              <a:rPr lang="he-IL" sz="2400" dirty="0" smtClean="0">
                <a:latin typeface="Calibri Light" panose="020F0302020204030204" pitchFamily="34" charset="0"/>
                <a:ea typeface="Pontano Sans"/>
                <a:cs typeface="Calibri Light" panose="020F0302020204030204" pitchFamily="34" charset="0"/>
                <a:sym typeface="Pontano Sans"/>
              </a:rPr>
              <a:t>ודחיקת המיסוד</a:t>
            </a:r>
            <a:endParaRPr lang="he-IL" sz="2400" dirty="0">
              <a:latin typeface="Calibri Light" panose="020F0302020204030204" pitchFamily="34" charset="0"/>
              <a:ea typeface="Pontano Sans"/>
              <a:cs typeface="Calibri Light" panose="020F0302020204030204" pitchFamily="34" charset="0"/>
              <a:sym typeface="Pontano Sans"/>
            </a:endParaRP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465" y="5640878"/>
            <a:ext cx="540000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Shape 614"/>
          <p:cNvGrpSpPr/>
          <p:nvPr/>
        </p:nvGrpSpPr>
        <p:grpSpPr>
          <a:xfrm>
            <a:off x="4474801" y="5561725"/>
            <a:ext cx="780888" cy="645739"/>
            <a:chOff x="5241175" y="4959100"/>
            <a:chExt cx="539775" cy="517775"/>
          </a:xfrm>
        </p:grpSpPr>
        <p:sp>
          <p:nvSpPr>
            <p:cNvPr id="23" name="Shape 615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Shape 61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Shape 617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Shape 61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Shape 619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Shape 620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 defTabSz="1219170"/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03963" y="54331"/>
            <a:ext cx="25234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err="1" smtClean="0"/>
              <a:t>תמרוץ</a:t>
            </a:r>
            <a:r>
              <a:rPr lang="he-IL" dirty="0" smtClean="0"/>
              <a:t> שירותים חברתיים </a:t>
            </a:r>
            <a:endParaRPr lang="he-IL" dirty="0"/>
          </a:p>
        </p:txBody>
      </p:sp>
      <p:sp>
        <p:nvSpPr>
          <p:cNvPr id="5" name="מלבן 4"/>
          <p:cNvSpPr/>
          <p:nvPr/>
        </p:nvSpPr>
        <p:spPr>
          <a:xfrm>
            <a:off x="6857464" y="95311"/>
            <a:ext cx="2042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 smtClean="0"/>
              <a:t>מענה אוניברסלי רחב</a:t>
            </a:r>
          </a:p>
        </p:txBody>
      </p:sp>
      <p:sp>
        <p:nvSpPr>
          <p:cNvPr id="7" name="מלבן 6"/>
          <p:cNvSpPr/>
          <p:nvPr/>
        </p:nvSpPr>
        <p:spPr>
          <a:xfrm>
            <a:off x="3768986" y="54331"/>
            <a:ext cx="23073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 err="1" smtClean="0"/>
              <a:t>תיעדוף</a:t>
            </a:r>
            <a:r>
              <a:rPr lang="he-IL" dirty="0" smtClean="0"/>
              <a:t> מענה חברתי רחב על מענה פרטני</a:t>
            </a: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0D33B8D0-699E-42C3-8D4E-28D828460313}"/>
              </a:ext>
            </a:extLst>
          </p:cNvPr>
          <p:cNvSpPr/>
          <p:nvPr/>
        </p:nvSpPr>
        <p:spPr>
          <a:xfrm rot="2700000">
            <a:off x="4829793" y="708510"/>
            <a:ext cx="591100" cy="95977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4" name="Block Arc 41">
            <a:extLst>
              <a:ext uri="{FF2B5EF4-FFF2-40B4-BE49-F238E27FC236}">
                <a16:creationId xmlns:a16="http://schemas.microsoft.com/office/drawing/2014/main" id="{B3B25E34-8ABE-4D0C-9A57-89485104BAD1}"/>
              </a:ext>
            </a:extLst>
          </p:cNvPr>
          <p:cNvSpPr/>
          <p:nvPr/>
        </p:nvSpPr>
        <p:spPr>
          <a:xfrm>
            <a:off x="7490811" y="700662"/>
            <a:ext cx="855167" cy="903911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Donut 24">
            <a:extLst>
              <a:ext uri="{FF2B5EF4-FFF2-40B4-BE49-F238E27FC236}">
                <a16:creationId xmlns:a16="http://schemas.microsoft.com/office/drawing/2014/main" id="{81F49C7C-DFCA-4FDE-AB0D-42B8F72E9478}"/>
              </a:ext>
            </a:extLst>
          </p:cNvPr>
          <p:cNvSpPr/>
          <p:nvPr/>
        </p:nvSpPr>
        <p:spPr>
          <a:xfrm>
            <a:off x="1321724" y="842164"/>
            <a:ext cx="843741" cy="74269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6" name="קבוצה 35"/>
          <p:cNvGrpSpPr/>
          <p:nvPr/>
        </p:nvGrpSpPr>
        <p:grpSpPr>
          <a:xfrm>
            <a:off x="263250" y="6207464"/>
            <a:ext cx="3204873" cy="673827"/>
            <a:chOff x="134803" y="6246600"/>
            <a:chExt cx="3204873" cy="673827"/>
          </a:xfrm>
        </p:grpSpPr>
        <p:pic>
          <p:nvPicPr>
            <p:cNvPr id="37" name="תמונה 36"/>
            <p:cNvPicPr>
              <a:picLocks noChangeAspect="1"/>
            </p:cNvPicPr>
            <p:nvPr/>
          </p:nvPicPr>
          <p:blipFill rotWithShape="1"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34357" y="6311797"/>
              <a:ext cx="605319" cy="608630"/>
            </a:xfrm>
            <a:prstGeom prst="rect">
              <a:avLst/>
            </a:prstGeom>
          </p:spPr>
        </p:pic>
        <p:pic>
          <p:nvPicPr>
            <p:cNvPr id="38" name="תמונה 37" descr="C:\Users\USER\Downloads\עיצוב ללא שם (1).png"/>
            <p:cNvPicPr/>
            <p:nvPr/>
          </p:nvPicPr>
          <p:blipFill rotWithShape="1"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40663" y="6416534"/>
              <a:ext cx="1483454" cy="44146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9" name="תמונה 38"/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803" y="6246600"/>
              <a:ext cx="1205860" cy="553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713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930D2F-8091-4655-9DA9-8EC4B711E1D8}"/>
              </a:ext>
            </a:extLst>
          </p:cNvPr>
          <p:cNvSpPr txBox="1"/>
          <p:nvPr/>
        </p:nvSpPr>
        <p:spPr>
          <a:xfrm>
            <a:off x="1433758" y="157754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המטרה </a:t>
            </a:r>
            <a:r>
              <a:rPr kumimoji="0" lang="he-IL" sz="18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המשותפת היא </a:t>
            </a:r>
            <a:r>
              <a:rPr kumimoji="0" lang="he-IL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להנגיש</a:t>
            </a:r>
            <a:r>
              <a:rPr kumimoji="0" lang="he-I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את</a:t>
            </a:r>
            <a:endParaRPr kumimoji="0" lang="en-IL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04E1A-5CFA-4C07-BEEC-0DA690F3FBB4}"/>
              </a:ext>
            </a:extLst>
          </p:cNvPr>
          <p:cNvSpPr txBox="1"/>
          <p:nvPr/>
        </p:nvSpPr>
        <p:spPr>
          <a:xfrm>
            <a:off x="75674" y="1971285"/>
            <a:ext cx="4429759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השירות הנכון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לאדם הנכון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בזמן הנכון		</a:t>
            </a:r>
            <a:endParaRPr kumimoji="0" lang="en-IL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3C58CD-9D1C-4295-BC1C-BB82E5535C9A}"/>
              </a:ext>
            </a:extLst>
          </p:cNvPr>
          <p:cNvGrpSpPr/>
          <p:nvPr/>
        </p:nvGrpSpPr>
        <p:grpSpPr>
          <a:xfrm>
            <a:off x="6298273" y="676278"/>
            <a:ext cx="5588929" cy="5505444"/>
            <a:chOff x="232753" y="860944"/>
            <a:chExt cx="5588929" cy="550544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75FA15E-01B1-4CEE-B096-247E7DD162D4}"/>
                </a:ext>
              </a:extLst>
            </p:cNvPr>
            <p:cNvSpPr/>
            <p:nvPr/>
          </p:nvSpPr>
          <p:spPr>
            <a:xfrm>
              <a:off x="893887" y="1677056"/>
              <a:ext cx="4320000" cy="4320000"/>
            </a:xfrm>
            <a:prstGeom prst="ellipse">
              <a:avLst/>
            </a:prstGeom>
            <a:noFill/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63223BC-3437-487A-961B-094F19743AE4}"/>
                </a:ext>
              </a:extLst>
            </p:cNvPr>
            <p:cNvGrpSpPr/>
            <p:nvPr/>
          </p:nvGrpSpPr>
          <p:grpSpPr>
            <a:xfrm>
              <a:off x="232753" y="860944"/>
              <a:ext cx="5588929" cy="4527916"/>
              <a:chOff x="1237123" y="1354505"/>
              <a:chExt cx="4511824" cy="4527916"/>
            </a:xfrm>
            <a:solidFill>
              <a:schemeClr val="accent3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B471D60-5F43-4880-86CB-5D213AB65396}"/>
                  </a:ext>
                </a:extLst>
              </p:cNvPr>
              <p:cNvSpPr/>
              <p:nvPr/>
            </p:nvSpPr>
            <p:spPr>
              <a:xfrm>
                <a:off x="2360466" y="1354505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3F7D78D-3F03-4E7E-A130-7B8ED18677CE}"/>
                  </a:ext>
                </a:extLst>
              </p:cNvPr>
              <p:cNvSpPr/>
              <p:nvPr/>
            </p:nvSpPr>
            <p:spPr>
              <a:xfrm>
                <a:off x="2370243" y="3623433"/>
                <a:ext cx="2258987" cy="2258988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2258987" y="0"/>
                    </a:moveTo>
                    <a:lnTo>
                      <a:pt x="1129493" y="2258987"/>
                    </a:lnTo>
                    <a:lnTo>
                      <a:pt x="0" y="0"/>
                    </a:lnTo>
                    <a:lnTo>
                      <a:pt x="225898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18111" rIns="682857" bIns="1247604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33E53F7-AB8D-4D54-8645-8944F0810027}"/>
                  </a:ext>
                </a:extLst>
              </p:cNvPr>
              <p:cNvSpPr/>
              <p:nvPr/>
            </p:nvSpPr>
            <p:spPr>
              <a:xfrm>
                <a:off x="3489960" y="3613492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38E5488-D02F-4920-8981-C8022C00F6DC}"/>
                  </a:ext>
                </a:extLst>
              </p:cNvPr>
              <p:cNvSpPr/>
              <p:nvPr/>
            </p:nvSpPr>
            <p:spPr>
              <a:xfrm>
                <a:off x="1237123" y="3605872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AA9A8F-BD94-4D1A-8301-A0CCD0673CF5}"/>
                </a:ext>
              </a:extLst>
            </p:cNvPr>
            <p:cNvGrpSpPr/>
            <p:nvPr/>
          </p:nvGrpSpPr>
          <p:grpSpPr>
            <a:xfrm>
              <a:off x="1624269" y="3119930"/>
              <a:ext cx="2798276" cy="2251368"/>
              <a:chOff x="1624269" y="3119930"/>
              <a:chExt cx="2798276" cy="225136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1A2604F-0CC8-4E51-A4B0-5CBFBFDF2FBE}"/>
                  </a:ext>
                </a:extLst>
              </p:cNvPr>
              <p:cNvCxnSpPr>
                <a:endCxn id="47" idx="1"/>
              </p:cNvCxnSpPr>
              <p:nvPr/>
            </p:nvCxnSpPr>
            <p:spPr>
              <a:xfrm>
                <a:off x="1624269" y="3119930"/>
                <a:ext cx="2798276" cy="1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7141198-7625-43AC-9852-769924368A52}"/>
                  </a:ext>
                </a:extLst>
              </p:cNvPr>
              <p:cNvCxnSpPr>
                <a:cxnSpLocks/>
                <a:stCxn id="48" idx="2"/>
                <a:endCxn id="46" idx="1"/>
              </p:cNvCxnSpPr>
              <p:nvPr/>
            </p:nvCxnSpPr>
            <p:spPr>
              <a:xfrm flipV="1">
                <a:off x="3031027" y="3129872"/>
                <a:ext cx="4493" cy="224142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494DD75-D162-45A9-A5AA-2154EB3484DE}"/>
                </a:ext>
              </a:extLst>
            </p:cNvPr>
            <p:cNvSpPr/>
            <p:nvPr/>
          </p:nvSpPr>
          <p:spPr>
            <a:xfrm>
              <a:off x="1937886" y="2629656"/>
              <a:ext cx="2232000" cy="223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A672CD-283D-4BD2-9546-B95CA39D8536}"/>
                </a:ext>
              </a:extLst>
            </p:cNvPr>
            <p:cNvSpPr txBox="1"/>
            <p:nvPr/>
          </p:nvSpPr>
          <p:spPr>
            <a:xfrm>
              <a:off x="2597649" y="1819232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ממשלה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3710617-6A42-40BE-8DF2-73F6A946EBAE}"/>
                </a:ext>
              </a:extLst>
            </p:cNvPr>
            <p:cNvSpPr txBox="1"/>
            <p:nvPr/>
          </p:nvSpPr>
          <p:spPr>
            <a:xfrm>
              <a:off x="4251382" y="4547013"/>
              <a:ext cx="9012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רשויות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מקומיות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FE632B9-BEFB-4137-8590-42DE27B3AE4B}"/>
                </a:ext>
              </a:extLst>
            </p:cNvPr>
            <p:cNvSpPr txBox="1"/>
            <p:nvPr/>
          </p:nvSpPr>
          <p:spPr>
            <a:xfrm>
              <a:off x="1069534" y="4522532"/>
              <a:ext cx="10342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ספקי 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השירותים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0DFF503-07D6-4068-9D3D-EE92D39D77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04470" y="3507473"/>
              <a:ext cx="1067306" cy="91644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53CD91-4E6C-4325-BF69-33C6BE63F0E1}"/>
                </a:ext>
              </a:extLst>
            </p:cNvPr>
            <p:cNvSpPr txBox="1"/>
            <p:nvPr/>
          </p:nvSpPr>
          <p:spPr>
            <a:xfrm>
              <a:off x="2399096" y="2828411"/>
              <a:ext cx="13692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האזרח והתיק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ומשפחתו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C48B2C-5519-4DD7-91B1-A3C9EC5274A1}"/>
                </a:ext>
              </a:extLst>
            </p:cNvPr>
            <p:cNvSpPr txBox="1"/>
            <p:nvPr/>
          </p:nvSpPr>
          <p:spPr>
            <a:xfrm>
              <a:off x="2171272" y="5997056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דאטה וטכנולוגיה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pic>
        <p:nvPicPr>
          <p:cNvPr id="49" name="Picture 2" descr="סמל מדינת ישראל – ויקיפדיה">
            <a:extLst>
              <a:ext uri="{FF2B5EF4-FFF2-40B4-BE49-F238E27FC236}">
                <a16:creationId xmlns:a16="http://schemas.microsoft.com/office/drawing/2014/main" id="{FFA3BBF5-1F6D-4A72-BA4B-B84C5C41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53535" y="314518"/>
            <a:ext cx="333667" cy="41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473BA2BE-788A-4268-8700-59016893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3792" y="314518"/>
            <a:ext cx="1326800" cy="36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A6D7B2B-F9CA-473F-B360-C0BC9C9AE259}"/>
              </a:ext>
            </a:extLst>
          </p:cNvPr>
          <p:cNvSpPr/>
          <p:nvPr/>
        </p:nvSpPr>
        <p:spPr>
          <a:xfrm>
            <a:off x="75674" y="101600"/>
            <a:ext cx="2230646" cy="7416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אליפסה 1">
            <a:extLst>
              <a:ext uri="{FF2B5EF4-FFF2-40B4-BE49-F238E27FC236}">
                <a16:creationId xmlns:a16="http://schemas.microsoft.com/office/drawing/2014/main" id="{1C4BD581-3E48-6263-53C3-5754768972AF}"/>
              </a:ext>
            </a:extLst>
          </p:cNvPr>
          <p:cNvSpPr/>
          <p:nvPr/>
        </p:nvSpPr>
        <p:spPr>
          <a:xfrm>
            <a:off x="8003406" y="2444990"/>
            <a:ext cx="2232000" cy="2231995"/>
          </a:xfrm>
          <a:prstGeom prst="ellipse">
            <a:avLst/>
          </a:prstGeom>
          <a:gradFill>
            <a:gsLst>
              <a:gs pos="100000">
                <a:schemeClr val="accent3">
                  <a:lumMod val="75000"/>
                  <a:alpha val="0"/>
                </a:schemeClr>
              </a:gs>
              <a:gs pos="10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קבוצה 2"/>
          <p:cNvGrpSpPr/>
          <p:nvPr/>
        </p:nvGrpSpPr>
        <p:grpSpPr>
          <a:xfrm>
            <a:off x="134803" y="6246600"/>
            <a:ext cx="3204873" cy="673827"/>
            <a:chOff x="134803" y="6246600"/>
            <a:chExt cx="3204873" cy="673827"/>
          </a:xfrm>
        </p:grpSpPr>
        <p:pic>
          <p:nvPicPr>
            <p:cNvPr id="55" name="תמונה 54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34357" y="6311797"/>
              <a:ext cx="605319" cy="608630"/>
            </a:xfrm>
            <a:prstGeom prst="rect">
              <a:avLst/>
            </a:prstGeom>
          </p:spPr>
        </p:pic>
        <p:pic>
          <p:nvPicPr>
            <p:cNvPr id="56" name="תמונה 55" descr="C:\Users\USER\Downloads\עיצוב ללא שם (1).png"/>
            <p:cNvPicPr/>
            <p:nvPr/>
          </p:nvPicPr>
          <p:blipFill rotWithShape="1"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40663" y="6416534"/>
              <a:ext cx="1483454" cy="44146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7" name="תמונה 56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803" y="6246600"/>
              <a:ext cx="1205860" cy="553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5963293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D4624AC-D9D7-49E6-8A24-D075925B38EB}"/>
              </a:ext>
            </a:extLst>
          </p:cNvPr>
          <p:cNvSpPr/>
          <p:nvPr/>
        </p:nvSpPr>
        <p:spPr>
          <a:xfrm>
            <a:off x="3447288" y="1487425"/>
            <a:ext cx="1856271" cy="76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0DB72C-08D9-4B05-B8DD-94FA6E7F1AEF}"/>
              </a:ext>
            </a:extLst>
          </p:cNvPr>
          <p:cNvSpPr/>
          <p:nvPr/>
        </p:nvSpPr>
        <p:spPr>
          <a:xfrm>
            <a:off x="6535125" y="7103"/>
            <a:ext cx="5656875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כותרת 2"/>
          <p:cNvSpPr>
            <a:spLocks noGrp="1"/>
          </p:cNvSpPr>
          <p:nvPr>
            <p:ph type="title"/>
          </p:nvPr>
        </p:nvSpPr>
        <p:spPr>
          <a:xfrm>
            <a:off x="6829456" y="980545"/>
            <a:ext cx="5223776" cy="2061818"/>
          </a:xfrm>
          <a:ln>
            <a:solidFill>
              <a:schemeClr val="accent5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e-IL" sz="31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האזרח במרכז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תפיסה הפעלה </a:t>
            </a:r>
            <a:b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>של האזרח במרכז עם סל אישי לבחירה המותאם לצרכיו </a:t>
            </a:r>
            <a:r>
              <a:rPr lang="he-IL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ורצונותיו</a:t>
            </a:r>
            <a: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he-IL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he-IL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C71533EF-6755-7268-6CA5-79C13828B470}"/>
              </a:ext>
            </a:extLst>
          </p:cNvPr>
          <p:cNvSpPr/>
          <p:nvPr/>
        </p:nvSpPr>
        <p:spPr>
          <a:xfrm>
            <a:off x="654906" y="1847898"/>
            <a:ext cx="4754458" cy="471914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/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1" name="Graphic 4" descr="Man with cane outline">
            <a:extLst>
              <a:ext uri="{FF2B5EF4-FFF2-40B4-BE49-F238E27FC236}">
                <a16:creationId xmlns:a16="http://schemas.microsoft.com/office/drawing/2014/main" id="{07AE29C9-0235-E0EB-FAD6-0CA385B2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flipH="1">
            <a:off x="2557919" y="3568638"/>
            <a:ext cx="1044682" cy="1171153"/>
          </a:xfrm>
        </p:spPr>
      </p:pic>
      <p:sp>
        <p:nvSpPr>
          <p:cNvPr id="13" name="צורה חופשית: צורה 26">
            <a:extLst>
              <a:ext uri="{FF2B5EF4-FFF2-40B4-BE49-F238E27FC236}">
                <a16:creationId xmlns:a16="http://schemas.microsoft.com/office/drawing/2014/main" id="{E3850D9D-E5FF-8C79-4C83-785EE1705BFA}"/>
              </a:ext>
            </a:extLst>
          </p:cNvPr>
          <p:cNvSpPr/>
          <p:nvPr/>
        </p:nvSpPr>
        <p:spPr>
          <a:xfrm>
            <a:off x="3378175" y="663182"/>
            <a:ext cx="2861959" cy="975020"/>
          </a:xfrm>
          <a:custGeom>
            <a:avLst/>
            <a:gdLst>
              <a:gd name="connsiteX0" fmla="*/ 0 w 1005021"/>
              <a:gd name="connsiteY0" fmla="*/ 0 h 1005021"/>
              <a:gd name="connsiteX1" fmla="*/ 1005021 w 1005021"/>
              <a:gd name="connsiteY1" fmla="*/ 0 h 1005021"/>
              <a:gd name="connsiteX2" fmla="*/ 1005021 w 1005021"/>
              <a:gd name="connsiteY2" fmla="*/ 1005021 h 1005021"/>
              <a:gd name="connsiteX3" fmla="*/ 0 w 1005021"/>
              <a:gd name="connsiteY3" fmla="*/ 1005021 h 1005021"/>
              <a:gd name="connsiteX4" fmla="*/ 0 w 1005021"/>
              <a:gd name="connsiteY4" fmla="*/ 0 h 100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021" h="1005021">
                <a:moveTo>
                  <a:pt x="0" y="0"/>
                </a:moveTo>
                <a:lnTo>
                  <a:pt x="1005021" y="0"/>
                </a:lnTo>
                <a:lnTo>
                  <a:pt x="1005021" y="1005021"/>
                </a:lnTo>
                <a:lnTo>
                  <a:pt x="0" y="10050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17780" rIns="17780" bIns="17780" numCol="1" spcCol="1270" anchor="ctr" anchorCtr="0">
            <a:noAutofit/>
          </a:bodyPr>
          <a:lstStyle/>
          <a:p>
            <a:pPr marL="0" marR="0" lvl="0" indent="0" algn="ctr" defTabSz="6223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שירות מכוון אדם–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/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מעטפת קהילתית של שירותים מותאמים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לבחירת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האזרח הוותיק</a:t>
            </a: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11819716-D485-6175-BE1F-282ECA543710}"/>
              </a:ext>
            </a:extLst>
          </p:cNvPr>
          <p:cNvCxnSpPr/>
          <p:nvPr/>
        </p:nvCxnSpPr>
        <p:spPr>
          <a:xfrm flipV="1">
            <a:off x="3525093" y="2930293"/>
            <a:ext cx="683173" cy="486103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7">
            <a:extLst>
              <a:ext uri="{FF2B5EF4-FFF2-40B4-BE49-F238E27FC236}">
                <a16:creationId xmlns:a16="http://schemas.microsoft.com/office/drawing/2014/main" id="{10DCF2AA-80BE-A4AD-8908-ACA32EE6A344}"/>
              </a:ext>
            </a:extLst>
          </p:cNvPr>
          <p:cNvCxnSpPr>
            <a:cxnSpLocks/>
          </p:cNvCxnSpPr>
          <p:nvPr/>
        </p:nvCxnSpPr>
        <p:spPr>
          <a:xfrm flipV="1">
            <a:off x="3125943" y="2350401"/>
            <a:ext cx="0" cy="692412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8">
            <a:extLst>
              <a:ext uri="{FF2B5EF4-FFF2-40B4-BE49-F238E27FC236}">
                <a16:creationId xmlns:a16="http://schemas.microsoft.com/office/drawing/2014/main" id="{C0A0B300-6184-936E-EAAB-19720972236D}"/>
              </a:ext>
            </a:extLst>
          </p:cNvPr>
          <p:cNvCxnSpPr>
            <a:cxnSpLocks/>
          </p:cNvCxnSpPr>
          <p:nvPr/>
        </p:nvCxnSpPr>
        <p:spPr>
          <a:xfrm flipH="1" flipV="1">
            <a:off x="1674871" y="3481646"/>
            <a:ext cx="662081" cy="219823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09C604B3-FD65-B184-3977-5703EFF44986}"/>
              </a:ext>
            </a:extLst>
          </p:cNvPr>
          <p:cNvCxnSpPr>
            <a:cxnSpLocks/>
          </p:cNvCxnSpPr>
          <p:nvPr/>
        </p:nvCxnSpPr>
        <p:spPr>
          <a:xfrm flipH="1">
            <a:off x="1539105" y="4312746"/>
            <a:ext cx="713843" cy="162131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>
            <a:off x="2130350" y="4759803"/>
            <a:ext cx="471790" cy="404344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269D0A6-D2C6-352A-5436-DC164A5C6168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818403" y="4967656"/>
            <a:ext cx="134179" cy="79043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7E1BD4C8-B3FB-7E0C-76C8-89D0C45CBDA0}"/>
              </a:ext>
            </a:extLst>
          </p:cNvPr>
          <p:cNvCxnSpPr>
            <a:cxnSpLocks/>
          </p:cNvCxnSpPr>
          <p:nvPr/>
        </p:nvCxnSpPr>
        <p:spPr>
          <a:xfrm>
            <a:off x="3383295" y="5025559"/>
            <a:ext cx="326977" cy="54377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3">
            <a:extLst>
              <a:ext uri="{FF2B5EF4-FFF2-40B4-BE49-F238E27FC236}">
                <a16:creationId xmlns:a16="http://schemas.microsoft.com/office/drawing/2014/main" id="{D6A2BA76-8BFF-FC0A-951B-D4A8953D0363}"/>
              </a:ext>
            </a:extLst>
          </p:cNvPr>
          <p:cNvCxnSpPr>
            <a:cxnSpLocks/>
          </p:cNvCxnSpPr>
          <p:nvPr/>
        </p:nvCxnSpPr>
        <p:spPr>
          <a:xfrm flipV="1">
            <a:off x="3715214" y="3820691"/>
            <a:ext cx="700083" cy="117082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6520BE6F-8761-B861-E6F0-2A2948C744FC}"/>
              </a:ext>
            </a:extLst>
          </p:cNvPr>
          <p:cNvCxnSpPr>
            <a:cxnSpLocks/>
          </p:cNvCxnSpPr>
          <p:nvPr/>
        </p:nvCxnSpPr>
        <p:spPr>
          <a:xfrm>
            <a:off x="3656136" y="4690501"/>
            <a:ext cx="675276" cy="40069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8">
            <a:extLst>
              <a:ext uri="{FF2B5EF4-FFF2-40B4-BE49-F238E27FC236}">
                <a16:creationId xmlns:a16="http://schemas.microsoft.com/office/drawing/2014/main" id="{1F7F8ED7-35AD-B819-798C-11CDEAAA62BD}"/>
              </a:ext>
            </a:extLst>
          </p:cNvPr>
          <p:cNvCxnSpPr>
            <a:cxnSpLocks/>
          </p:cNvCxnSpPr>
          <p:nvPr/>
        </p:nvCxnSpPr>
        <p:spPr>
          <a:xfrm flipH="1" flipV="1">
            <a:off x="2211109" y="2830055"/>
            <a:ext cx="377414" cy="424357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38A207-7763-6598-3065-862C66E1DA57}"/>
              </a:ext>
            </a:extLst>
          </p:cNvPr>
          <p:cNvSpPr txBox="1"/>
          <p:nvPr/>
        </p:nvSpPr>
        <p:spPr>
          <a:xfrm>
            <a:off x="873406" y="3178490"/>
            <a:ext cx="1119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מועדון חברתי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61F1E-4302-041C-B146-719731888394}"/>
              </a:ext>
            </a:extLst>
          </p:cNvPr>
          <p:cNvSpPr txBox="1"/>
          <p:nvPr/>
        </p:nvSpPr>
        <p:spPr>
          <a:xfrm>
            <a:off x="685902" y="4166326"/>
            <a:ext cx="1119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רווחה מרחוק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307C2-1CA4-2D53-764C-C8EF8ADC59C6}"/>
              </a:ext>
            </a:extLst>
          </p:cNvPr>
          <p:cNvSpPr txBox="1"/>
          <p:nvPr/>
        </p:nvSpPr>
        <p:spPr>
          <a:xfrm>
            <a:off x="1366727" y="5133511"/>
            <a:ext cx="1119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טכנולוגית עזר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4134D-E90F-5A9F-FC91-AED5FABA20C0}"/>
              </a:ext>
            </a:extLst>
          </p:cNvPr>
          <p:cNvSpPr txBox="1"/>
          <p:nvPr/>
        </p:nvSpPr>
        <p:spPr>
          <a:xfrm>
            <a:off x="1446628" y="2295929"/>
            <a:ext cx="1119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משפחתי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41463-83C2-6462-0E82-DE2013E89751}"/>
              </a:ext>
            </a:extLst>
          </p:cNvPr>
          <p:cNvSpPr txBox="1"/>
          <p:nvPr/>
        </p:nvSpPr>
        <p:spPr>
          <a:xfrm>
            <a:off x="2258631" y="5758086"/>
            <a:ext cx="1119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התעמלות בפארק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59D09-04DA-46AA-05CE-B8B94373665A}"/>
              </a:ext>
            </a:extLst>
          </p:cNvPr>
          <p:cNvSpPr txBox="1"/>
          <p:nvPr/>
        </p:nvSpPr>
        <p:spPr>
          <a:xfrm>
            <a:off x="4046785" y="3473963"/>
            <a:ext cx="144385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תזונה ובריאות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6670D-4580-7702-7800-00603C1C37DA}"/>
              </a:ext>
            </a:extLst>
          </p:cNvPr>
          <p:cNvSpPr txBox="1"/>
          <p:nvPr/>
        </p:nvSpPr>
        <p:spPr>
          <a:xfrm>
            <a:off x="4077584" y="5056590"/>
            <a:ext cx="111954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תעסוקה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7D3BC-5274-84FA-401A-348BB8E77A87}"/>
              </a:ext>
            </a:extLst>
          </p:cNvPr>
          <p:cNvSpPr txBox="1"/>
          <p:nvPr/>
        </p:nvSpPr>
        <p:spPr>
          <a:xfrm>
            <a:off x="3765448" y="2534172"/>
            <a:ext cx="111954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התנדבות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1C5937-A365-CF42-5376-56E8CE1D7B3C}"/>
              </a:ext>
            </a:extLst>
          </p:cNvPr>
          <p:cNvSpPr txBox="1"/>
          <p:nvPr/>
        </p:nvSpPr>
        <p:spPr>
          <a:xfrm>
            <a:off x="2602140" y="2037614"/>
            <a:ext cx="111954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פיננסי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1621-D4E0-68EA-B1F3-772C2E7F2893}"/>
              </a:ext>
            </a:extLst>
          </p:cNvPr>
          <p:cNvSpPr txBox="1"/>
          <p:nvPr/>
        </p:nvSpPr>
        <p:spPr>
          <a:xfrm>
            <a:off x="3260146" y="5614731"/>
            <a:ext cx="1119544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ניקיון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>
            <a:off x="3791652" y="4336807"/>
            <a:ext cx="378263" cy="17083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מלבן 1"/>
          <p:cNvSpPr/>
          <p:nvPr/>
        </p:nvSpPr>
        <p:spPr>
          <a:xfrm>
            <a:off x="4169915" y="4236189"/>
            <a:ext cx="1133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בריכה/</a:t>
            </a:r>
            <a:r>
              <a:rPr kumimoji="0" lang="he-IL" sz="1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חד"כ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39" name="קבוצה 38">
            <a:extLst>
              <a:ext uri="{FF2B5EF4-FFF2-40B4-BE49-F238E27FC236}">
                <a16:creationId xmlns:a16="http://schemas.microsoft.com/office/drawing/2014/main" id="{4854A275-CA06-9605-83D7-238444AB59FE}"/>
              </a:ext>
            </a:extLst>
          </p:cNvPr>
          <p:cNvGrpSpPr/>
          <p:nvPr/>
        </p:nvGrpSpPr>
        <p:grpSpPr>
          <a:xfrm>
            <a:off x="8322491" y="3313754"/>
            <a:ext cx="2700051" cy="2183423"/>
            <a:chOff x="6907546" y="322760"/>
            <a:chExt cx="2346554" cy="2053583"/>
          </a:xfrm>
        </p:grpSpPr>
        <p:grpSp>
          <p:nvGrpSpPr>
            <p:cNvPr id="4" name="קבוצה 3">
              <a:extLst>
                <a:ext uri="{FF2B5EF4-FFF2-40B4-BE49-F238E27FC236}">
                  <a16:creationId xmlns:a16="http://schemas.microsoft.com/office/drawing/2014/main" id="{E11D7ABB-2BE2-60FA-B6B4-E8940B512B03}"/>
                </a:ext>
              </a:extLst>
            </p:cNvPr>
            <p:cNvGrpSpPr/>
            <p:nvPr/>
          </p:nvGrpSpPr>
          <p:grpSpPr>
            <a:xfrm>
              <a:off x="6907546" y="1068485"/>
              <a:ext cx="1563719" cy="1307858"/>
              <a:chOff x="1670079" y="2140313"/>
              <a:chExt cx="1642835" cy="1642835"/>
            </a:xfrm>
            <a:solidFill>
              <a:srgbClr val="D8BEEC"/>
            </a:solidFill>
          </p:grpSpPr>
          <p:sp>
            <p:nvSpPr>
              <p:cNvPr id="5" name="אליפסה 4">
                <a:extLst>
                  <a:ext uri="{FF2B5EF4-FFF2-40B4-BE49-F238E27FC236}">
                    <a16:creationId xmlns:a16="http://schemas.microsoft.com/office/drawing/2014/main" id="{6D6F5AF1-EDDD-1B28-437B-D6B6B982166E}"/>
                  </a:ext>
                </a:extLst>
              </p:cNvPr>
              <p:cNvSpPr/>
              <p:nvPr/>
            </p:nvSpPr>
            <p:spPr>
              <a:xfrm>
                <a:off x="1670079" y="2140313"/>
                <a:ext cx="1642835" cy="1642835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6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</p:sp>
          <p:sp>
            <p:nvSpPr>
              <p:cNvPr id="6" name="אליפסה 4">
                <a:extLst>
                  <a:ext uri="{FF2B5EF4-FFF2-40B4-BE49-F238E27FC236}">
                    <a16:creationId xmlns:a16="http://schemas.microsoft.com/office/drawing/2014/main" id="{FEAF21F0-2446-5B4E-5AB8-423380CCB8B5}"/>
                  </a:ext>
                </a:extLst>
              </p:cNvPr>
              <p:cNvSpPr txBox="1"/>
              <p:nvPr/>
            </p:nvSpPr>
            <p:spPr>
              <a:xfrm>
                <a:off x="1910667" y="2380901"/>
                <a:ext cx="1161659" cy="1161659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spcFirstLastPara="0" vert="horz" wrap="square" lIns="35560" tIns="35560" rIns="35560" bIns="35560" numCol="1" spcCol="1270" anchor="ctr" anchorCtr="0">
                <a:noAutofit/>
              </a:bodyPr>
              <a:lstStyle/>
              <a:p>
                <a:pPr lvl="0" algn="ctr" defTabSz="1244600" rtl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he-IL" sz="2800" kern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" name="אליפסה 6">
              <a:extLst>
                <a:ext uri="{FF2B5EF4-FFF2-40B4-BE49-F238E27FC236}">
                  <a16:creationId xmlns:a16="http://schemas.microsoft.com/office/drawing/2014/main" id="{314902DC-B6CA-CB26-FFE0-6D0BB08989C0}"/>
                </a:ext>
              </a:extLst>
            </p:cNvPr>
            <p:cNvSpPr/>
            <p:nvPr/>
          </p:nvSpPr>
          <p:spPr>
            <a:xfrm>
              <a:off x="7674102" y="881695"/>
              <a:ext cx="1579998" cy="1221917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 dirty="0"/>
            </a:p>
          </p:txBody>
        </p:sp>
        <p:sp>
          <p:nvSpPr>
            <p:cNvPr id="8" name="TextBox 58">
              <a:extLst>
                <a:ext uri="{FF2B5EF4-FFF2-40B4-BE49-F238E27FC236}">
                  <a16:creationId xmlns:a16="http://schemas.microsoft.com/office/drawing/2014/main" id="{A2D9D504-6A2C-B11D-D4B4-065B28E56BA3}"/>
                </a:ext>
              </a:extLst>
            </p:cNvPr>
            <p:cNvSpPr txBox="1"/>
            <p:nvPr/>
          </p:nvSpPr>
          <p:spPr>
            <a:xfrm>
              <a:off x="7009634" y="1661592"/>
              <a:ext cx="628540" cy="49210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r"/>
              <a:r>
                <a:rPr lang="he-IL" sz="1400" b="1" dirty="0" smtClean="0"/>
                <a:t>צרכים </a:t>
              </a:r>
              <a:r>
                <a:rPr lang="he-IL" sz="1400" b="1" dirty="0"/>
                <a:t>וקושי</a:t>
              </a:r>
            </a:p>
          </p:txBody>
        </p:sp>
        <p:sp>
          <p:nvSpPr>
            <p:cNvPr id="10" name="מלבן 9">
              <a:extLst>
                <a:ext uri="{FF2B5EF4-FFF2-40B4-BE49-F238E27FC236}">
                  <a16:creationId xmlns:a16="http://schemas.microsoft.com/office/drawing/2014/main" id="{2BDA196A-9F2C-BDC1-45B2-9C41D2AA4389}"/>
                </a:ext>
              </a:extLst>
            </p:cNvPr>
            <p:cNvSpPr/>
            <p:nvPr/>
          </p:nvSpPr>
          <p:spPr>
            <a:xfrm>
              <a:off x="8444856" y="1255471"/>
              <a:ext cx="7135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he-IL" sz="1400" b="1" dirty="0"/>
                <a:t>רצון ובחירה</a:t>
              </a:r>
            </a:p>
          </p:txBody>
        </p:sp>
        <p:sp>
          <p:nvSpPr>
            <p:cNvPr id="37" name="אליפסה 36">
              <a:extLst>
                <a:ext uri="{FF2B5EF4-FFF2-40B4-BE49-F238E27FC236}">
                  <a16:creationId xmlns:a16="http://schemas.microsoft.com/office/drawing/2014/main" id="{88B6102D-74E7-E890-FCE3-9652F71BE560}"/>
                </a:ext>
              </a:extLst>
            </p:cNvPr>
            <p:cNvSpPr/>
            <p:nvPr/>
          </p:nvSpPr>
          <p:spPr>
            <a:xfrm>
              <a:off x="6907546" y="322760"/>
              <a:ext cx="1660221" cy="1294536"/>
            </a:xfrm>
            <a:prstGeom prst="ellipse">
              <a:avLst/>
            </a:prstGeom>
            <a:solidFill>
              <a:srgbClr val="D3F4A8">
                <a:alpha val="50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35" name="מלבן 34">
              <a:extLst>
                <a:ext uri="{FF2B5EF4-FFF2-40B4-BE49-F238E27FC236}">
                  <a16:creationId xmlns:a16="http://schemas.microsoft.com/office/drawing/2014/main" id="{750AD64C-AA52-0F27-60CE-88E3FDCE56E6}"/>
                </a:ext>
              </a:extLst>
            </p:cNvPr>
            <p:cNvSpPr/>
            <p:nvPr/>
          </p:nvSpPr>
          <p:spPr>
            <a:xfrm>
              <a:off x="7100102" y="425428"/>
              <a:ext cx="89162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he-IL" sz="1400" dirty="0"/>
                <a:t>מדידה והמלצות</a:t>
              </a:r>
            </a:p>
          </p:txBody>
        </p:sp>
        <p:sp>
          <p:nvSpPr>
            <p:cNvPr id="38" name="מלבן 37">
              <a:extLst>
                <a:ext uri="{FF2B5EF4-FFF2-40B4-BE49-F238E27FC236}">
                  <a16:creationId xmlns:a16="http://schemas.microsoft.com/office/drawing/2014/main" id="{9021C85A-6004-759C-F223-636B85439A08}"/>
                </a:ext>
              </a:extLst>
            </p:cNvPr>
            <p:cNvSpPr/>
            <p:nvPr/>
          </p:nvSpPr>
          <p:spPr>
            <a:xfrm>
              <a:off x="7524989" y="1062116"/>
              <a:ext cx="852878" cy="52322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he-IL" sz="1200" b="1" dirty="0"/>
                <a:t>שירות</a:t>
              </a:r>
              <a:r>
                <a:rPr lang="he-IL" sz="1400" b="1" dirty="0"/>
                <a:t>   </a:t>
              </a:r>
              <a:r>
                <a:rPr lang="en-US" sz="1400" b="1" dirty="0"/>
                <a:t>Ai</a:t>
              </a:r>
              <a:r>
                <a:rPr lang="he-IL" sz="1400" dirty="0" smtClean="0"/>
                <a:t>מותאם</a:t>
              </a:r>
              <a:endParaRPr lang="he-IL" sz="1400" dirty="0"/>
            </a:p>
          </p:txBody>
        </p:sp>
      </p:grpSp>
      <p:pic>
        <p:nvPicPr>
          <p:cNvPr id="40" name="Picture 53">
            <a:extLst>
              <a:ext uri="{FF2B5EF4-FFF2-40B4-BE49-F238E27FC236}">
                <a16:creationId xmlns:a16="http://schemas.microsoft.com/office/drawing/2014/main" id="{EA320EA5-5DA2-D1A1-4BBA-C4A7E9B53B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8239" y="6993295"/>
            <a:ext cx="1547316" cy="1549003"/>
          </a:xfrm>
          <a:prstGeom prst="rect">
            <a:avLst/>
          </a:prstGeom>
        </p:spPr>
      </p:pic>
      <p:grpSp>
        <p:nvGrpSpPr>
          <p:cNvPr id="42" name="קבוצה 41"/>
          <p:cNvGrpSpPr/>
          <p:nvPr/>
        </p:nvGrpSpPr>
        <p:grpSpPr>
          <a:xfrm>
            <a:off x="7972786" y="6122425"/>
            <a:ext cx="3285196" cy="629231"/>
            <a:chOff x="134803" y="6246600"/>
            <a:chExt cx="3305887" cy="663015"/>
          </a:xfrm>
        </p:grpSpPr>
        <p:pic>
          <p:nvPicPr>
            <p:cNvPr id="43" name="תמונה 42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835371" y="6298215"/>
              <a:ext cx="605319" cy="608630"/>
            </a:xfrm>
            <a:prstGeom prst="rect">
              <a:avLst/>
            </a:prstGeom>
          </p:spPr>
        </p:pic>
        <p:pic>
          <p:nvPicPr>
            <p:cNvPr id="44" name="תמונה 43" descr="C:\Users\USER\Downloads\עיצוב ללא שם (1).png"/>
            <p:cNvPicPr/>
            <p:nvPr/>
          </p:nvPicPr>
          <p:blipFill rotWithShape="1"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413911" y="6298215"/>
              <a:ext cx="1446716" cy="6114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6" name="תמונה 4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803" y="6246600"/>
              <a:ext cx="1205860" cy="553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614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person, person&#10;&#10;Description automatically generated">
            <a:extLst>
              <a:ext uri="{FF2B5EF4-FFF2-40B4-BE49-F238E27FC236}">
                <a16:creationId xmlns:a16="http://schemas.microsoft.com/office/drawing/2014/main" id="{BED9B39D-506E-BC30-72B8-A4F4C1223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651"/>
            <a:ext cx="12192000" cy="76868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474B0A-0AEC-40BB-BC61-4A7BF8916078}"/>
              </a:ext>
            </a:extLst>
          </p:cNvPr>
          <p:cNvSpPr/>
          <p:nvPr/>
        </p:nvSpPr>
        <p:spPr>
          <a:xfrm>
            <a:off x="0" y="6176865"/>
            <a:ext cx="12192000" cy="148132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E81CE-5BB6-4B39-998F-DA850CF7B7B7}"/>
              </a:ext>
            </a:extLst>
          </p:cNvPr>
          <p:cNvSpPr/>
          <p:nvPr/>
        </p:nvSpPr>
        <p:spPr>
          <a:xfrm>
            <a:off x="0" y="6103166"/>
            <a:ext cx="12192000" cy="94725"/>
          </a:xfrm>
          <a:prstGeom prst="rect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1855E-E559-4AFE-8D66-4892C712613C}"/>
              </a:ext>
            </a:extLst>
          </p:cNvPr>
          <p:cNvSpPr/>
          <p:nvPr/>
        </p:nvSpPr>
        <p:spPr>
          <a:xfrm>
            <a:off x="376102" y="640065"/>
            <a:ext cx="4562248" cy="216982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rtl="1"/>
            <a:r>
              <a:rPr lang="he-IL" sz="4500" b="1" dirty="0">
                <a:solidFill>
                  <a:srgbClr val="3430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פלטפורמה דיגיטלית להתאמה אישית של שירותים</a:t>
            </a:r>
            <a:endParaRPr lang="en-US" sz="4500" b="1" dirty="0">
              <a:solidFill>
                <a:srgbClr val="34304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086E767E-AB25-B568-543A-85B3B7F51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02" y="6486234"/>
            <a:ext cx="3494840" cy="799445"/>
          </a:xfrm>
          <a:prstGeom prst="rect">
            <a:avLst/>
          </a:prstGeom>
        </p:spPr>
      </p:pic>
      <p:pic>
        <p:nvPicPr>
          <p:cNvPr id="1028" name="Picture 4" descr="מחקרים שפורסמו על ידי משרד הרווחה והביטחון החברתי | גראטוס">
            <a:extLst>
              <a:ext uri="{FF2B5EF4-FFF2-40B4-BE49-F238E27FC236}">
                <a16:creationId xmlns:a16="http://schemas.microsoft.com/office/drawing/2014/main" id="{A3038A59-2DEF-9A8D-50E0-FAC7032FB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593" y="6469031"/>
            <a:ext cx="3427570" cy="81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tvisor">
            <a:extLst>
              <a:ext uri="{FF2B5EF4-FFF2-40B4-BE49-F238E27FC236}">
                <a16:creationId xmlns:a16="http://schemas.microsoft.com/office/drawing/2014/main" id="{8C89414B-2483-4C74-D208-22F1457E1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505" y="6420018"/>
            <a:ext cx="1188215" cy="118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תמונה 1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6268" y="6448967"/>
            <a:ext cx="1683533" cy="65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7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" b="27099"/>
          <a:stretch>
            <a:fillRect/>
          </a:stretch>
        </p:blipFill>
        <p:spPr>
          <a:xfrm>
            <a:off x="0" y="0"/>
            <a:ext cx="12192000" cy="3592708"/>
          </a:xfrm>
          <a:custGeom>
            <a:avLst/>
            <a:gdLst>
              <a:gd name="connsiteX0" fmla="*/ 0 w 12192000"/>
              <a:gd name="connsiteY0" fmla="*/ 0 h 3592708"/>
              <a:gd name="connsiteX1" fmla="*/ 12192000 w 12192000"/>
              <a:gd name="connsiteY1" fmla="*/ 0 h 3592708"/>
              <a:gd name="connsiteX2" fmla="*/ 12192000 w 12192000"/>
              <a:gd name="connsiteY2" fmla="*/ 3592708 h 3592708"/>
              <a:gd name="connsiteX3" fmla="*/ 12031162 w 12192000"/>
              <a:gd name="connsiteY3" fmla="*/ 3565503 h 3592708"/>
              <a:gd name="connsiteX4" fmla="*/ 6096001 w 12192000"/>
              <a:gd name="connsiteY4" fmla="*/ 3321959 h 3592708"/>
              <a:gd name="connsiteX5" fmla="*/ 160840 w 12192000"/>
              <a:gd name="connsiteY5" fmla="*/ 3565503 h 3592708"/>
              <a:gd name="connsiteX6" fmla="*/ 0 w 12192000"/>
              <a:gd name="connsiteY6" fmla="*/ 3592708 h 359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592708">
                <a:moveTo>
                  <a:pt x="0" y="0"/>
                </a:moveTo>
                <a:lnTo>
                  <a:pt x="12192000" y="0"/>
                </a:lnTo>
                <a:lnTo>
                  <a:pt x="12192000" y="3592708"/>
                </a:lnTo>
                <a:lnTo>
                  <a:pt x="12031162" y="3565503"/>
                </a:lnTo>
                <a:cubicBezTo>
                  <a:pt x="11053311" y="3422383"/>
                  <a:pt x="8764098" y="3321959"/>
                  <a:pt x="6096001" y="3321959"/>
                </a:cubicBezTo>
                <a:cubicBezTo>
                  <a:pt x="3427905" y="3321959"/>
                  <a:pt x="1138691" y="3422383"/>
                  <a:pt x="160840" y="3565503"/>
                </a:cubicBezTo>
                <a:lnTo>
                  <a:pt x="0" y="3592708"/>
                </a:lnTo>
                <a:close/>
              </a:path>
            </a:pathLst>
          </a:custGeom>
        </p:spPr>
      </p:pic>
      <p:sp>
        <p:nvSpPr>
          <p:cNvPr id="20" name="Freeform 7">
            <a:extLst>
              <a:ext uri="{FF2B5EF4-FFF2-40B4-BE49-F238E27FC236}">
                <a16:creationId xmlns:a16="http://schemas.microsoft.com/office/drawing/2014/main" id="{11633DE3-36F3-4670-AEDC-D5D1429B7979}"/>
              </a:ext>
            </a:extLst>
          </p:cNvPr>
          <p:cNvSpPr/>
          <p:nvPr/>
        </p:nvSpPr>
        <p:spPr>
          <a:xfrm>
            <a:off x="0" y="0"/>
            <a:ext cx="12192000" cy="3592708"/>
          </a:xfrm>
          <a:custGeom>
            <a:avLst/>
            <a:gdLst>
              <a:gd name="connsiteX0" fmla="*/ 0 w 12192000"/>
              <a:gd name="connsiteY0" fmla="*/ 0 h 3309594"/>
              <a:gd name="connsiteX1" fmla="*/ 12192000 w 12192000"/>
              <a:gd name="connsiteY1" fmla="*/ 0 h 3309594"/>
              <a:gd name="connsiteX2" fmla="*/ 12192000 w 12192000"/>
              <a:gd name="connsiteY2" fmla="*/ 3309594 h 3309594"/>
              <a:gd name="connsiteX3" fmla="*/ 12031162 w 12192000"/>
              <a:gd name="connsiteY3" fmla="*/ 3284533 h 3309594"/>
              <a:gd name="connsiteX4" fmla="*/ 6096001 w 12192000"/>
              <a:gd name="connsiteY4" fmla="*/ 3060181 h 3309594"/>
              <a:gd name="connsiteX5" fmla="*/ 160840 w 12192000"/>
              <a:gd name="connsiteY5" fmla="*/ 3284533 h 3309594"/>
              <a:gd name="connsiteX6" fmla="*/ 0 w 12192000"/>
              <a:gd name="connsiteY6" fmla="*/ 3309594 h 330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09594">
                <a:moveTo>
                  <a:pt x="0" y="0"/>
                </a:moveTo>
                <a:lnTo>
                  <a:pt x="12192000" y="0"/>
                </a:lnTo>
                <a:lnTo>
                  <a:pt x="12192000" y="3309594"/>
                </a:lnTo>
                <a:lnTo>
                  <a:pt x="12031162" y="3284533"/>
                </a:lnTo>
                <a:cubicBezTo>
                  <a:pt x="11053311" y="3152691"/>
                  <a:pt x="8764098" y="3060181"/>
                  <a:pt x="6096001" y="3060181"/>
                </a:cubicBezTo>
                <a:cubicBezTo>
                  <a:pt x="3427905" y="3060181"/>
                  <a:pt x="1138691" y="3152691"/>
                  <a:pt x="160840" y="3284533"/>
                </a:cubicBezTo>
                <a:lnTo>
                  <a:pt x="0" y="3309594"/>
                </a:lnTo>
                <a:close/>
              </a:path>
            </a:pathLst>
          </a:custGeom>
          <a:solidFill>
            <a:srgbClr val="1F1C3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73E972-0CD9-471D-B81F-042C0654673E}"/>
              </a:ext>
            </a:extLst>
          </p:cNvPr>
          <p:cNvSpPr/>
          <p:nvPr/>
        </p:nvSpPr>
        <p:spPr>
          <a:xfrm rot="16200000">
            <a:off x="5458443" y="-2851618"/>
            <a:ext cx="1275114" cy="12192000"/>
          </a:xfrm>
          <a:custGeom>
            <a:avLst/>
            <a:gdLst>
              <a:gd name="connsiteX0" fmla="*/ 734672 w 734672"/>
              <a:gd name="connsiteY0" fmla="*/ 6096001 h 12192000"/>
              <a:gd name="connsiteX1" fmla="*/ 510320 w 734672"/>
              <a:gd name="connsiteY1" fmla="*/ 12031162 h 12192000"/>
              <a:gd name="connsiteX2" fmla="*/ 485259 w 734672"/>
              <a:gd name="connsiteY2" fmla="*/ 12192000 h 12192000"/>
              <a:gd name="connsiteX3" fmla="*/ 0 w 734672"/>
              <a:gd name="connsiteY3" fmla="*/ 12192000 h 12192000"/>
              <a:gd name="connsiteX4" fmla="*/ 0 w 734672"/>
              <a:gd name="connsiteY4" fmla="*/ 0 h 12192000"/>
              <a:gd name="connsiteX5" fmla="*/ 485259 w 734672"/>
              <a:gd name="connsiteY5" fmla="*/ 0 h 12192000"/>
              <a:gd name="connsiteX6" fmla="*/ 510320 w 734672"/>
              <a:gd name="connsiteY6" fmla="*/ 160840 h 12192000"/>
              <a:gd name="connsiteX7" fmla="*/ 734672 w 734672"/>
              <a:gd name="connsiteY7" fmla="*/ 6096001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672" h="12192000">
                <a:moveTo>
                  <a:pt x="734672" y="6096001"/>
                </a:moveTo>
                <a:cubicBezTo>
                  <a:pt x="734672" y="8764097"/>
                  <a:pt x="642162" y="11053311"/>
                  <a:pt x="510320" y="12031162"/>
                </a:cubicBezTo>
                <a:lnTo>
                  <a:pt x="48525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485259" y="0"/>
                </a:lnTo>
                <a:lnTo>
                  <a:pt x="510320" y="160840"/>
                </a:lnTo>
                <a:cubicBezTo>
                  <a:pt x="642162" y="1138691"/>
                  <a:pt x="734672" y="3427905"/>
                  <a:pt x="734672" y="609600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0064B6-3696-438E-87B0-A13914A9AD16}"/>
              </a:ext>
            </a:extLst>
          </p:cNvPr>
          <p:cNvSpPr/>
          <p:nvPr/>
        </p:nvSpPr>
        <p:spPr>
          <a:xfrm>
            <a:off x="-234462" y="3013931"/>
            <a:ext cx="12406511" cy="3235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1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התאמה אישית של שירותים להזדקנות מיטבית דרך: בניית תכנית אישית מבוססת נתונים, זקנה פעילה ומניעת התדרדרות </a:t>
            </a:r>
          </a:p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1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התאמה אישית </a:t>
            </a:r>
            <a:r>
              <a:rPr lang="he-IL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– קבלת החלטה על בחירת שירות בהתבסס על נתונים- חוויות אישיות של משתמשים (</a:t>
            </a:r>
            <a:r>
              <a:rPr lang="en-US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Lived experiences</a:t>
            </a:r>
            <a:r>
              <a:rPr lang="he-IL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) בשילוב עם שירות התאמה וייעוץ מקצועי.</a:t>
            </a:r>
          </a:p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1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פתיחת השוק </a:t>
            </a:r>
            <a:r>
              <a:rPr lang="he-IL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– היצע רחב היקף של שירותים אשר עוצבו ייחודית עבור אזרחים ותיקים לצד שירותים מהשוק הפתוח</a:t>
            </a:r>
          </a:p>
          <a:p>
            <a:pPr marL="342900" indent="-342900" algn="r" rtl="1">
              <a:lnSpc>
                <a:spcPct val="150000"/>
              </a:lnSpc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he-IL" sz="2100" b="1" spc="-5" dirty="0">
                <a:latin typeface="Calibri" panose="020F0502020204030204" pitchFamily="34" charset="0"/>
                <a:cs typeface="Calibri" panose="020F0502020204030204" pitchFamily="34" charset="0"/>
              </a:rPr>
              <a:t>דיגיטציה</a:t>
            </a:r>
            <a:r>
              <a:rPr lang="he-IL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 – שירות דיגיטלי ואנושי משולב לייעול תהליך ההתאמה והרכש. מאפשר שילוב של מנגנוני סבסוד ותקצוב אישי.  </a:t>
            </a:r>
            <a:endParaRPr lang="en-US" sz="2100" spc="-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2890C3-212A-4CD1-BAC7-14F9D19EEFC9}"/>
              </a:ext>
            </a:extLst>
          </p:cNvPr>
          <p:cNvGrpSpPr/>
          <p:nvPr/>
        </p:nvGrpSpPr>
        <p:grpSpPr>
          <a:xfrm>
            <a:off x="440575" y="6317672"/>
            <a:ext cx="1682102" cy="467225"/>
            <a:chOff x="5138351" y="260961"/>
            <a:chExt cx="1915297" cy="592268"/>
          </a:xfrm>
        </p:grpSpPr>
        <p:pic>
          <p:nvPicPr>
            <p:cNvPr id="26" name="Picture 25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992C9F51-9197-4865-8ABE-60E04157FE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12"/>
            <a:stretch/>
          </p:blipFill>
          <p:spPr>
            <a:xfrm>
              <a:off x="5680616" y="260961"/>
              <a:ext cx="1373032" cy="592268"/>
            </a:xfrm>
            <a:prstGeom prst="rect">
              <a:avLst/>
            </a:prstGeom>
          </p:spPr>
        </p:pic>
        <p:pic>
          <p:nvPicPr>
            <p:cNvPr id="27" name="Picture 26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81FC9187-2B22-454D-AD17-6426893071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688"/>
            <a:stretch/>
          </p:blipFill>
          <p:spPr>
            <a:xfrm>
              <a:off x="5138351" y="260961"/>
              <a:ext cx="542265" cy="592268"/>
            </a:xfrm>
            <a:prstGeom prst="rect">
              <a:avLst/>
            </a:prstGeom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DCA733B-9C47-4447-A6DC-AFEC49B53836}"/>
              </a:ext>
            </a:extLst>
          </p:cNvPr>
          <p:cNvSpPr/>
          <p:nvPr/>
        </p:nvSpPr>
        <p:spPr>
          <a:xfrm>
            <a:off x="2250831" y="408430"/>
            <a:ext cx="5556331" cy="175432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he-IL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המשימה- ביזור 2.0 לאזרח הוותיק</a:t>
            </a:r>
            <a:endParaRPr lang="en-US" sz="5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B0296B-43FE-42D8-BD17-1C6AF3D7396C}"/>
              </a:ext>
            </a:extLst>
          </p:cNvPr>
          <p:cNvGrpSpPr/>
          <p:nvPr/>
        </p:nvGrpSpPr>
        <p:grpSpPr>
          <a:xfrm>
            <a:off x="5662188" y="2183163"/>
            <a:ext cx="830768" cy="830768"/>
            <a:chOff x="5680615" y="3375472"/>
            <a:chExt cx="830768" cy="83076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10C3C57-F28A-446E-BBC5-EEAAA1A3CE78}"/>
                </a:ext>
              </a:extLst>
            </p:cNvPr>
            <p:cNvSpPr/>
            <p:nvPr/>
          </p:nvSpPr>
          <p:spPr>
            <a:xfrm>
              <a:off x="5680615" y="3375472"/>
              <a:ext cx="830768" cy="830768"/>
            </a:xfrm>
            <a:prstGeom prst="ellipse">
              <a:avLst/>
            </a:prstGeom>
            <a:solidFill>
              <a:srgbClr val="5EC5C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5876" y="3530172"/>
              <a:ext cx="457200" cy="457200"/>
            </a:xfrm>
            <a:prstGeom prst="rect">
              <a:avLst/>
            </a:prstGeom>
          </p:spPr>
        </p:pic>
      </p:grpSp>
      <p:sp>
        <p:nvSpPr>
          <p:cNvPr id="9" name="AutoShape 8" descr="קובץ:BituachLeumiLogo.svg – ויקיפדיה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grpSp>
        <p:nvGrpSpPr>
          <p:cNvPr id="33" name="קבוצה 32"/>
          <p:cNvGrpSpPr/>
          <p:nvPr/>
        </p:nvGrpSpPr>
        <p:grpSpPr>
          <a:xfrm>
            <a:off x="8888883" y="6249368"/>
            <a:ext cx="2952539" cy="529013"/>
            <a:chOff x="134803" y="6246600"/>
            <a:chExt cx="3204873" cy="673827"/>
          </a:xfrm>
        </p:grpSpPr>
        <p:pic>
          <p:nvPicPr>
            <p:cNvPr id="34" name="תמונה 33"/>
            <p:cNvPicPr>
              <a:picLocks noChangeAspect="1"/>
            </p:cNvPicPr>
            <p:nvPr/>
          </p:nvPicPr>
          <p:blipFill rotWithShape="1"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34357" y="6311797"/>
              <a:ext cx="605319" cy="608630"/>
            </a:xfrm>
            <a:prstGeom prst="rect">
              <a:avLst/>
            </a:prstGeom>
          </p:spPr>
        </p:pic>
        <p:pic>
          <p:nvPicPr>
            <p:cNvPr id="35" name="תמונה 34" descr="C:\Users\USER\Downloads\עיצוב ללא שם (1).png"/>
            <p:cNvPicPr/>
            <p:nvPr/>
          </p:nvPicPr>
          <p:blipFill rotWithShape="1"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40663" y="6416534"/>
              <a:ext cx="1483454" cy="44146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6" name="תמונה 35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803" y="6246600"/>
              <a:ext cx="1205860" cy="553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800529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כחול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246</Words>
  <Application>Microsoft Office PowerPoint</Application>
  <PresentationFormat>מסך רחב</PresentationFormat>
  <Paragraphs>49</Paragraphs>
  <Slides>5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5</vt:i4>
      </vt:variant>
    </vt:vector>
  </HeadingPairs>
  <TitlesOfParts>
    <vt:vector size="15" baseType="lpstr">
      <vt:lpstr>맑은 고딕</vt:lpstr>
      <vt:lpstr>Arial</vt:lpstr>
      <vt:lpstr>Arial Rounded MT Bold</vt:lpstr>
      <vt:lpstr>Calibri</vt:lpstr>
      <vt:lpstr>Calibri Light</vt:lpstr>
      <vt:lpstr>Droid Serif</vt:lpstr>
      <vt:lpstr>Pontano Sans</vt:lpstr>
      <vt:lpstr>Times New Roman</vt:lpstr>
      <vt:lpstr>ערכת נושא Office</vt:lpstr>
      <vt:lpstr>1_ערכת נושא Office</vt:lpstr>
      <vt:lpstr>עקרונות מנחים במודל העבודה המשותף: </vt:lpstr>
      <vt:lpstr>מצגת של PowerPoint‏</vt:lpstr>
      <vt:lpstr>האזרח במרכז תפיסה הפעלה  של האזרח במרכז עם סל אישי לבחירה המותאם לצרכיו ורצונותיו </vt:lpstr>
      <vt:lpstr>מצגת של PowerPoint‏</vt:lpstr>
      <vt:lpstr>מצגת של PowerPoint‏</vt:lpstr>
    </vt:vector>
  </TitlesOfParts>
  <Company>Molsa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אביעד יצחקי</dc:creator>
  <cp:lastModifiedBy>אביעד יצחקי</cp:lastModifiedBy>
  <cp:revision>3</cp:revision>
  <dcterms:created xsi:type="dcterms:W3CDTF">2023-09-05T09:33:24Z</dcterms:created>
  <dcterms:modified xsi:type="dcterms:W3CDTF">2023-09-05T09:46:56Z</dcterms:modified>
</cp:coreProperties>
</file>