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1"/>
  </p:notesMasterIdLst>
  <p:sldIdLst>
    <p:sldId id="304" r:id="rId2"/>
    <p:sldId id="281" r:id="rId3"/>
    <p:sldId id="260" r:id="rId4"/>
    <p:sldId id="344" r:id="rId5"/>
    <p:sldId id="301" r:id="rId6"/>
    <p:sldId id="294" r:id="rId7"/>
    <p:sldId id="296" r:id="rId8"/>
    <p:sldId id="278" r:id="rId9"/>
    <p:sldId id="323" r:id="rId1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013"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6076A579-DBEB-47B8-9C73-EBBCA2B63AEE}" type="datetimeFigureOut">
              <a:rPr lang="he-IL" smtClean="0"/>
              <a:t>י"ז/אייר/תשפ"ג</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337EEF9B-9618-4BC9-A438-ACB6779BAFAD}" type="slidenum">
              <a:rPr lang="he-IL" smtClean="0"/>
              <a:t>‹#›</a:t>
            </a:fld>
            <a:endParaRPr lang="he-IL"/>
          </a:p>
        </p:txBody>
      </p:sp>
    </p:spTree>
    <p:extLst>
      <p:ext uri="{BB962C8B-B14F-4D97-AF65-F5344CB8AC3E}">
        <p14:creationId xmlns:p14="http://schemas.microsoft.com/office/powerpoint/2010/main" val="139121020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1</a:t>
            </a:fld>
            <a:endParaRPr lang="en-IL"/>
          </a:p>
        </p:txBody>
      </p:sp>
    </p:spTree>
    <p:extLst>
      <p:ext uri="{BB962C8B-B14F-4D97-AF65-F5344CB8AC3E}">
        <p14:creationId xmlns:p14="http://schemas.microsoft.com/office/powerpoint/2010/main" val="1487752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highlight>
                <a:srgbClr val="FFFF00"/>
              </a:highlight>
            </a:endParaRPr>
          </a:p>
        </p:txBody>
      </p:sp>
      <p:sp>
        <p:nvSpPr>
          <p:cNvPr id="4" name="Slide Number Placeholder 3"/>
          <p:cNvSpPr>
            <a:spLocks noGrp="1"/>
          </p:cNvSpPr>
          <p:nvPr>
            <p:ph type="sldNum" sz="quarter" idx="5"/>
          </p:nvPr>
        </p:nvSpPr>
        <p:spPr/>
        <p:txBody>
          <a:bodyPr/>
          <a:lstStyle/>
          <a:p>
            <a:fld id="{E9331071-0531-4F61-A5A0-E22B891BF691}" type="slidenum">
              <a:rPr lang="en-IL" smtClean="0"/>
              <a:t>4</a:t>
            </a:fld>
            <a:endParaRPr lang="en-IL"/>
          </a:p>
        </p:txBody>
      </p:sp>
    </p:spTree>
    <p:extLst>
      <p:ext uri="{BB962C8B-B14F-4D97-AF65-F5344CB8AC3E}">
        <p14:creationId xmlns:p14="http://schemas.microsoft.com/office/powerpoint/2010/main" val="3857209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5</a:t>
            </a:fld>
            <a:endParaRPr lang="en-IL"/>
          </a:p>
        </p:txBody>
      </p:sp>
    </p:spTree>
    <p:extLst>
      <p:ext uri="{BB962C8B-B14F-4D97-AF65-F5344CB8AC3E}">
        <p14:creationId xmlns:p14="http://schemas.microsoft.com/office/powerpoint/2010/main" val="1730913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6</a:t>
            </a:fld>
            <a:endParaRPr lang="en-IL"/>
          </a:p>
        </p:txBody>
      </p:sp>
    </p:spTree>
    <p:extLst>
      <p:ext uri="{BB962C8B-B14F-4D97-AF65-F5344CB8AC3E}">
        <p14:creationId xmlns:p14="http://schemas.microsoft.com/office/powerpoint/2010/main" val="3999181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7</a:t>
            </a:fld>
            <a:endParaRPr lang="en-IL"/>
          </a:p>
        </p:txBody>
      </p:sp>
    </p:spTree>
    <p:extLst>
      <p:ext uri="{BB962C8B-B14F-4D97-AF65-F5344CB8AC3E}">
        <p14:creationId xmlns:p14="http://schemas.microsoft.com/office/powerpoint/2010/main" val="122089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48A7B5E-4BA4-7CE4-8B06-4E58B6B9E764}"/>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985359DC-EB1A-ABAA-B711-691A3CCC5A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D0711AE7-EAD8-99B3-9D66-A791692F5C8A}"/>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5" name="מציין מיקום של כותרת תחתונה 4">
            <a:extLst>
              <a:ext uri="{FF2B5EF4-FFF2-40B4-BE49-F238E27FC236}">
                <a16:creationId xmlns:a16="http://schemas.microsoft.com/office/drawing/2014/main" id="{7E4F9FA6-37A2-10D6-39D7-20F366B153D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B78F12E-67BB-CBD1-1BC9-479899AC1A74}"/>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109264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1FBEADE-90C6-4587-30E4-25E7BFCDAD4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043E606-11C4-8AFF-385B-7BEBDBB3C2E0}"/>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CD9916D-9558-5814-0FDD-9E501B189C5B}"/>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5" name="מציין מיקום של כותרת תחתונה 4">
            <a:extLst>
              <a:ext uri="{FF2B5EF4-FFF2-40B4-BE49-F238E27FC236}">
                <a16:creationId xmlns:a16="http://schemas.microsoft.com/office/drawing/2014/main" id="{A09DA3A0-B298-5825-72AD-15266FA21A0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0116A8D-4B9C-6194-BB9E-D8609B9ED2B3}"/>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14720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E40C654-49F5-BBBC-620B-43886EF8572D}"/>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FE77BA8-B4B4-7E31-84A3-4BC40C0AB8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AC653AC0-58AC-B141-B14D-9B018BD52760}"/>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5" name="מציין מיקום של כותרת תחתונה 4">
            <a:extLst>
              <a:ext uri="{FF2B5EF4-FFF2-40B4-BE49-F238E27FC236}">
                <a16:creationId xmlns:a16="http://schemas.microsoft.com/office/drawing/2014/main" id="{37EBE04F-95D6-8DB0-57A8-7EE019A5411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67652AD-711E-A9A8-39C7-F68C04C48C51}"/>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2179166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54C7533-D233-EE66-33D8-D468386DE3AD}"/>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C8A3801-1722-87E6-A7FE-DF25BB9912C5}"/>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5149C86F-A726-7BA8-C98A-FB54B96BCE93}"/>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9C7D40C9-C693-16E0-444C-3D082FCD7924}"/>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6" name="מציין מיקום של כותרת תחתונה 5">
            <a:extLst>
              <a:ext uri="{FF2B5EF4-FFF2-40B4-BE49-F238E27FC236}">
                <a16:creationId xmlns:a16="http://schemas.microsoft.com/office/drawing/2014/main" id="{652CD169-5722-BE88-A5B3-DAE23452C55A}"/>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A92173F-6985-A135-D165-5B58A0A5F2DC}"/>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2220448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E2CC24-1ECE-C415-988A-53BBD5E55A71}"/>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0D33DB3-C583-9036-1B36-D45D1E8DAC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E328FDA3-65DD-533F-B14D-09E89924A104}"/>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51AF561F-67E5-D732-5E5E-9E812561C7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6387D36C-1E3D-4FB9-4498-3658BE024983}"/>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E97877A6-1DE1-3CF1-5D18-D3479AC8943C}"/>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8" name="מציין מיקום של כותרת תחתונה 7">
            <a:extLst>
              <a:ext uri="{FF2B5EF4-FFF2-40B4-BE49-F238E27FC236}">
                <a16:creationId xmlns:a16="http://schemas.microsoft.com/office/drawing/2014/main" id="{61E8CEF5-7202-B9D3-AB0A-DE3099654BE9}"/>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D5977461-62DE-3036-B41D-3B448EE12819}"/>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3380981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CA4C08-2346-35DA-5706-CE2923B3FD0A}"/>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4874DF5F-56A2-AD07-2FC8-B4C262056D85}"/>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4" name="מציין מיקום של כותרת תחתונה 3">
            <a:extLst>
              <a:ext uri="{FF2B5EF4-FFF2-40B4-BE49-F238E27FC236}">
                <a16:creationId xmlns:a16="http://schemas.microsoft.com/office/drawing/2014/main" id="{E9C31C4E-4FD4-6022-BD29-1BE30A642A49}"/>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7F88B69A-E954-04E6-2DE8-7E1783ABA0AB}"/>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147691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83F5346D-8F19-B961-93F6-A699A93DB26D}"/>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3" name="מציין מיקום של כותרת תחתונה 2">
            <a:extLst>
              <a:ext uri="{FF2B5EF4-FFF2-40B4-BE49-F238E27FC236}">
                <a16:creationId xmlns:a16="http://schemas.microsoft.com/office/drawing/2014/main" id="{69591DAC-5D37-C8DA-0B8F-032C804EBBED}"/>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ACFA4E68-E26D-BD50-15DB-32EC03317CE9}"/>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377745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96EA305-E982-9177-1D21-3C00752EB9CE}"/>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6954BF37-98B7-801D-BDAC-1D88A0A26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6A875EC3-BBDA-F095-390A-674D8927F6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1A3DD60D-7483-71D9-B69F-C4C028540D42}"/>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6" name="מציין מיקום של כותרת תחתונה 5">
            <a:extLst>
              <a:ext uri="{FF2B5EF4-FFF2-40B4-BE49-F238E27FC236}">
                <a16:creationId xmlns:a16="http://schemas.microsoft.com/office/drawing/2014/main" id="{D4504FA8-0B2D-DC44-7115-6EE81950DD8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A4F4D75-D84C-5F2F-5EFE-41700380FFB1}"/>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3086057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8C91BEC-F5F9-B68B-ECEB-ED6F5A5C3ED5}"/>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C97AE38A-4B1A-8764-92B9-DCA92809AF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5E992A13-96E7-2797-9731-64A531D37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90529346-CD67-F63B-359B-4E6034C341C1}"/>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6" name="מציין מיקום של כותרת תחתונה 5">
            <a:extLst>
              <a:ext uri="{FF2B5EF4-FFF2-40B4-BE49-F238E27FC236}">
                <a16:creationId xmlns:a16="http://schemas.microsoft.com/office/drawing/2014/main" id="{4532298E-8AB6-F491-C8CD-C68D1305907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07C83751-AA38-9857-711A-BF9DCCAAF0BE}"/>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1887893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93ECD4-6C38-6A06-6870-2ABD41DA9911}"/>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C1EBB0B1-FFB0-D385-8144-A9C04EEF7FC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902A455-09BB-17BF-8430-44401C3DAFB8}"/>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5" name="מציין מיקום של כותרת תחתונה 4">
            <a:extLst>
              <a:ext uri="{FF2B5EF4-FFF2-40B4-BE49-F238E27FC236}">
                <a16:creationId xmlns:a16="http://schemas.microsoft.com/office/drawing/2014/main" id="{9A07C8E7-0310-4923-7F7A-39AE7CBFB20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6A2C82F-8BC7-0888-2366-BA7E7689A135}"/>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3108551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7A524AAF-20CF-A24D-80B7-16AB5058E7DB}"/>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5F464385-3E2E-24F7-CFA0-3BFB919814B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DD76E1A-2140-DB08-6FD1-35F504638146}"/>
              </a:ext>
            </a:extLst>
          </p:cNvPr>
          <p:cNvSpPr>
            <a:spLocks noGrp="1"/>
          </p:cNvSpPr>
          <p:nvPr>
            <p:ph type="dt" sz="half" idx="10"/>
          </p:nvPr>
        </p:nvSpPr>
        <p:spPr/>
        <p:txBody>
          <a:bodyPr/>
          <a:lstStyle/>
          <a:p>
            <a:fld id="{62F6A8F0-3C15-4E2A-BCD9-B182EEF4F032}" type="datetimeFigureOut">
              <a:rPr lang="he-IL" smtClean="0"/>
              <a:t>י"ז/אייר/תשפ"ג</a:t>
            </a:fld>
            <a:endParaRPr lang="he-IL"/>
          </a:p>
        </p:txBody>
      </p:sp>
      <p:sp>
        <p:nvSpPr>
          <p:cNvPr id="5" name="מציין מיקום של כותרת תחתונה 4">
            <a:extLst>
              <a:ext uri="{FF2B5EF4-FFF2-40B4-BE49-F238E27FC236}">
                <a16:creationId xmlns:a16="http://schemas.microsoft.com/office/drawing/2014/main" id="{A78C90DB-FF77-C340-BB49-099A4A5E91C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6B4B674-382F-AAAB-2814-FFF7FE7DECE8}"/>
              </a:ext>
            </a:extLst>
          </p:cNvPr>
          <p:cNvSpPr>
            <a:spLocks noGrp="1"/>
          </p:cNvSpPr>
          <p:nvPr>
            <p:ph type="sldNum" sz="quarter" idx="12"/>
          </p:nvPr>
        </p:nvSpPr>
        <p:spPr/>
        <p:txBody>
          <a:bodyPr/>
          <a:lstStyle/>
          <a:p>
            <a:fld id="{BD1438C2-4B4A-4278-BCD0-1B98381E166C}" type="slidenum">
              <a:rPr lang="he-IL" smtClean="0"/>
              <a:t>‹#›</a:t>
            </a:fld>
            <a:endParaRPr lang="he-IL"/>
          </a:p>
        </p:txBody>
      </p:sp>
    </p:spTree>
    <p:extLst>
      <p:ext uri="{BB962C8B-B14F-4D97-AF65-F5344CB8AC3E}">
        <p14:creationId xmlns:p14="http://schemas.microsoft.com/office/powerpoint/2010/main" val="2255807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836089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965622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2DD99EC-D31F-86B6-0E6B-D0DD4D9C514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4FAE5BCF-10EE-19B1-BE01-676FEB2BD3B8}"/>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2B7B01B-BE26-9CE7-C55F-8BDA8B82101C}"/>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62F6A8F0-3C15-4E2A-BCD9-B182EEF4F032}" type="datetimeFigureOut">
              <a:rPr lang="he-IL" smtClean="0"/>
              <a:t>י"ז/אייר/תשפ"ג</a:t>
            </a:fld>
            <a:endParaRPr lang="he-IL"/>
          </a:p>
        </p:txBody>
      </p:sp>
      <p:sp>
        <p:nvSpPr>
          <p:cNvPr id="5" name="מציין מיקום של כותרת תחתונה 4">
            <a:extLst>
              <a:ext uri="{FF2B5EF4-FFF2-40B4-BE49-F238E27FC236}">
                <a16:creationId xmlns:a16="http://schemas.microsoft.com/office/drawing/2014/main" id="{5CDA7C17-27E8-4A86-193C-221ABA009C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8CA140A4-38EB-503B-14FB-F6C882CE2FC0}"/>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BD1438C2-4B4A-4278-BCD0-1B98381E166C}" type="slidenum">
              <a:rPr lang="he-IL" smtClean="0"/>
              <a:t>‹#›</a:t>
            </a:fld>
            <a:endParaRPr lang="he-IL"/>
          </a:p>
        </p:txBody>
      </p:sp>
    </p:spTree>
    <p:extLst>
      <p:ext uri="{BB962C8B-B14F-4D97-AF65-F5344CB8AC3E}">
        <p14:creationId xmlns:p14="http://schemas.microsoft.com/office/powerpoint/2010/main" val="1735287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4.jpe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9.jpe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23.jpg"/><Relationship Id="rId5" Type="http://schemas.openxmlformats.org/officeDocument/2006/relationships/image" Target="../media/image22.jp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28557" y="5891945"/>
            <a:ext cx="4071435" cy="931341"/>
          </a:xfrm>
          <a:prstGeom prst="rect">
            <a:avLst/>
          </a:prstGeom>
        </p:spPr>
      </p:pic>
      <p:pic>
        <p:nvPicPr>
          <p:cNvPr id="1028" name="Picture 4" descr="מחקרים שפורסמו על ידי משרד הרווחה והביטחון החברתי | גראטוס">
            <a:extLst>
              <a:ext uri="{FF2B5EF4-FFF2-40B4-BE49-F238E27FC236}">
                <a16:creationId xmlns:a16="http://schemas.microsoft.com/office/drawing/2014/main" id="{A3038A59-2DEF-9A8D-50E0-FAC7032F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549" y="5851305"/>
            <a:ext cx="4210054" cy="1000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tvisor">
            <a:extLst>
              <a:ext uri="{FF2B5EF4-FFF2-40B4-BE49-F238E27FC236}">
                <a16:creationId xmlns:a16="http://schemas.microsoft.com/office/drawing/2014/main" id="{8C89414B-2483-4C74-D208-22F1457E17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1194" y="5824467"/>
            <a:ext cx="1188215" cy="1188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581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34462" y="3013931"/>
            <a:ext cx="12406511" cy="3235437"/>
          </a:xfrm>
          <a:prstGeom prst="rect">
            <a:avLst/>
          </a:prstGeom>
        </p:spPr>
        <p:txBody>
          <a:bodyPr wrap="square">
            <a:spAutoFit/>
          </a:bodyPr>
          <a:lstStyle/>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בניית תכנית אישית מבוססת נתונים, זקנה פעילה ומניעת התדרדרות </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6C2890C3-212A-4CD1-BAC7-14F9D19EEFC9}"/>
              </a:ext>
            </a:extLst>
          </p:cNvPr>
          <p:cNvGrpSpPr/>
          <p:nvPr/>
        </p:nvGrpSpPr>
        <p:grpSpPr>
          <a:xfrm>
            <a:off x="5136827" y="51519"/>
            <a:ext cx="1915297" cy="592268"/>
            <a:chOff x="5138351" y="260961"/>
            <a:chExt cx="1915297" cy="592268"/>
          </a:xfrm>
        </p:grpSpPr>
        <p:pic>
          <p:nvPicPr>
            <p:cNvPr id="26" name="Picture 25" descr="Text&#10;&#10;Description automatically generated with medium confidence">
              <a:extLst>
                <a:ext uri="{FF2B5EF4-FFF2-40B4-BE49-F238E27FC236}">
                  <a16:creationId xmlns:a16="http://schemas.microsoft.com/office/drawing/2014/main" id="{992C9F51-9197-4865-8ABE-60E04157FE5D}"/>
                </a:ext>
              </a:extLst>
            </p:cNvPr>
            <p:cNvPicPr>
              <a:picLocks noChangeAspect="1"/>
            </p:cNvPicPr>
            <p:nvPr/>
          </p:nvPicPr>
          <p:blipFill rotWithShape="1">
            <a:blip r:embed="rId3" cstate="hq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28312"/>
            <a:stretch/>
          </p:blipFill>
          <p:spPr>
            <a:xfrm>
              <a:off x="5680616" y="260961"/>
              <a:ext cx="1373032" cy="592268"/>
            </a:xfrm>
            <a:prstGeom prst="rect">
              <a:avLst/>
            </a:prstGeom>
          </p:spPr>
        </p:pic>
        <p:pic>
          <p:nvPicPr>
            <p:cNvPr id="27" name="Picture 26" descr="Text&#10;&#10;Description automatically generated with medium confidence">
              <a:extLst>
                <a:ext uri="{FF2B5EF4-FFF2-40B4-BE49-F238E27FC236}">
                  <a16:creationId xmlns:a16="http://schemas.microsoft.com/office/drawing/2014/main" id="{81FC9187-2B22-454D-AD17-64268930718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1688"/>
            <a:stretch/>
          </p:blipFill>
          <p:spPr>
            <a:xfrm>
              <a:off x="5138351" y="260961"/>
              <a:ext cx="542265" cy="592268"/>
            </a:xfrm>
            <a:prstGeom prst="rect">
              <a:avLst/>
            </a:prstGeom>
          </p:spPr>
        </p:pic>
      </p:grpSp>
      <p:sp>
        <p:nvSpPr>
          <p:cNvPr id="29" name="Rectangle 28">
            <a:extLst>
              <a:ext uri="{FF2B5EF4-FFF2-40B4-BE49-F238E27FC236}">
                <a16:creationId xmlns:a16="http://schemas.microsoft.com/office/drawing/2014/main" id="{5DCA733B-9C47-4447-A6DC-AFEC49B53836}"/>
              </a:ext>
            </a:extLst>
          </p:cNvPr>
          <p:cNvSpPr/>
          <p:nvPr/>
        </p:nvSpPr>
        <p:spPr>
          <a:xfrm>
            <a:off x="2250831" y="408430"/>
            <a:ext cx="5556331" cy="1754326"/>
          </a:xfrm>
          <a:prstGeom prst="rect">
            <a:avLst/>
          </a:prstGeom>
        </p:spPr>
        <p:txBody>
          <a:bodyPr wrap="square" anchor="ctr">
            <a:spAutoFit/>
          </a:bodyPr>
          <a:lstStyle/>
          <a:p>
            <a:pPr algn="ctr"/>
            <a:r>
              <a:rPr lang="he-IL" sz="5400" b="1" dirty="0">
                <a:solidFill>
                  <a:schemeClr val="bg1"/>
                </a:solidFill>
                <a:latin typeface="Calibri" panose="020F0502020204030204" pitchFamily="34" charset="0"/>
                <a:cs typeface="Calibri" panose="020F0502020204030204" pitchFamily="34" charset="0"/>
              </a:rPr>
              <a:t>המשימה- ביזור 2.0 לאזרח 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6" cstate="hq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Tree>
    <p:extLst>
      <p:ext uri="{BB962C8B-B14F-4D97-AF65-F5344CB8AC3E}">
        <p14:creationId xmlns:p14="http://schemas.microsoft.com/office/powerpoint/2010/main" val="2630102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Tree>
    <p:extLst>
      <p:ext uri="{BB962C8B-B14F-4D97-AF65-F5344CB8AC3E}">
        <p14:creationId xmlns:p14="http://schemas.microsoft.com/office/powerpoint/2010/main" val="380891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B65CF1-7579-A7B5-CE04-CEDD31660D04}"/>
              </a:ext>
            </a:extLst>
          </p:cNvPr>
          <p:cNvPicPr>
            <a:picLocks noChangeAspect="1"/>
          </p:cNvPicPr>
          <p:nvPr/>
        </p:nvPicPr>
        <p:blipFill>
          <a:blip r:embed="rId3"/>
          <a:stretch>
            <a:fillRect/>
          </a:stretch>
        </p:blipFill>
        <p:spPr>
          <a:xfrm>
            <a:off x="0" y="368139"/>
            <a:ext cx="12192000" cy="6121722"/>
          </a:xfrm>
          <a:prstGeom prst="rect">
            <a:avLst/>
          </a:prstGeom>
        </p:spPr>
      </p:pic>
    </p:spTree>
    <p:extLst>
      <p:ext uri="{BB962C8B-B14F-4D97-AF65-F5344CB8AC3E}">
        <p14:creationId xmlns:p14="http://schemas.microsoft.com/office/powerpoint/2010/main" val="2121987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260495" y="1214468"/>
            <a:ext cx="4566496"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פעילות גופנית, זוגיות והיכרויות, מפגשים חברתיים,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שישה תיאורי 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cstate="hq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87858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581681" y="1140201"/>
            <a:ext cx="3357009"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הזנת פרטים אישיים ובחירת תחום הפעילות</a:t>
            </a:r>
            <a:endParaRPr lang="en-US" sz="1600" dirty="0">
              <a:latin typeface="Calibri" panose="020F0502020204030204" pitchFamily="34" charset="0"/>
              <a:cs typeface="Calibri" panose="020F0502020204030204" pitchFamily="34" charset="0"/>
            </a:endParaRPr>
          </a:p>
        </p:txBody>
      </p:sp>
      <p:sp>
        <p:nvSpPr>
          <p:cNvPr id="43" name="Rectangle 42"/>
          <p:cNvSpPr/>
          <p:nvPr/>
        </p:nvSpPr>
        <p:spPr>
          <a:xfrm>
            <a:off x="1581681" y="1838918"/>
            <a:ext cx="232948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מענה על שאלות לדיוק הצורך</a:t>
            </a:r>
            <a:endParaRPr lang="en-US" sz="1600" dirty="0">
              <a:latin typeface="Calibri" panose="020F0502020204030204" pitchFamily="34" charset="0"/>
              <a:cs typeface="Calibri" panose="020F0502020204030204" pitchFamily="34" charset="0"/>
            </a:endParaRPr>
          </a:p>
        </p:txBody>
      </p:sp>
      <p:sp>
        <p:nvSpPr>
          <p:cNvPr id="44" name="Rectangle 43"/>
          <p:cNvSpPr/>
          <p:nvPr/>
        </p:nvSpPr>
        <p:spPr>
          <a:xfrm>
            <a:off x="1581681" y="2537636"/>
            <a:ext cx="292740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המלצות על שירותים בתחום המבוקש</a:t>
            </a:r>
            <a:endParaRPr lang="en-US" sz="1600" dirty="0">
              <a:latin typeface="Calibri" panose="020F0502020204030204" pitchFamily="34" charset="0"/>
              <a:cs typeface="Calibri" panose="020F0502020204030204" pitchFamily="34" charset="0"/>
            </a:endParaRPr>
          </a:p>
        </p:txBody>
      </p:sp>
      <p:sp>
        <p:nvSpPr>
          <p:cNvPr id="45" name="Rectangle 44"/>
          <p:cNvSpPr/>
          <p:nvPr/>
        </p:nvSpPr>
        <p:spPr>
          <a:xfrm>
            <a:off x="1581681" y="3236353"/>
            <a:ext cx="2424062"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רכישה, סבסוד ושירותים נלווים</a:t>
            </a:r>
            <a:endParaRPr lang="en-US" sz="1600"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Tree>
    <p:extLst>
      <p:ext uri="{BB962C8B-B14F-4D97-AF65-F5344CB8AC3E}">
        <p14:creationId xmlns:p14="http://schemas.microsoft.com/office/powerpoint/2010/main" val="4127182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Tree>
    <p:extLst>
      <p:ext uri="{BB962C8B-B14F-4D97-AF65-F5344CB8AC3E}">
        <p14:creationId xmlns:p14="http://schemas.microsoft.com/office/powerpoint/2010/main" val="3164209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4" name="TextBox 3">
            <a:extLst>
              <a:ext uri="{FF2B5EF4-FFF2-40B4-BE49-F238E27FC236}">
                <a16:creationId xmlns:a16="http://schemas.microsoft.com/office/drawing/2014/main" id="{57E93C5B-474E-C16C-9E04-7B918D537219}"/>
              </a:ext>
            </a:extLst>
          </p:cNvPr>
          <p:cNvSpPr txBox="1"/>
          <p:nvPr/>
        </p:nvSpPr>
        <p:spPr>
          <a:xfrm>
            <a:off x="580505" y="1678723"/>
            <a:ext cx="11030989" cy="4196020"/>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מי קהל היעד בזקנה?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ההתאמות הנדרשות?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שירותים מכניסים לסל? מה לא מכניסים?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גבולות גזרה מרחיבים או צרים?</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תיעדוף נותנים?</a:t>
            </a:r>
            <a:r>
              <a:rPr lang="he-IL" b="1" dirty="0">
                <a:latin typeface="Calibri" panose="020F0502020204030204" pitchFamily="34" charset="0"/>
                <a:ea typeface="Calibri" panose="020F0502020204030204" pitchFamily="34" charset="0"/>
              </a:rPr>
              <a:t> </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איך שומרים מניצול לרעה?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תפקיד ואחריות הספקים? </a:t>
            </a:r>
          </a:p>
          <a:p>
            <a:pPr marL="342891" indent="-342891">
              <a:lnSpc>
                <a:spcPct val="150000"/>
              </a:lnSpc>
              <a:buFont typeface="+mj-lt"/>
              <a:buAutoNum type="arabicPeriod"/>
            </a:pPr>
            <a:endParaRPr lang="he-IL" b="1"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b="1" dirty="0">
              <a:latin typeface="Calibri" panose="020F0502020204030204" pitchFamily="34" charset="0"/>
              <a:ea typeface="Calibri" panose="020F0502020204030204" pitchFamily="34" charset="0"/>
              <a:cs typeface="Arial" panose="020B0604020202020204" pitchFamily="34" charset="0"/>
            </a:endParaRPr>
          </a:p>
        </p:txBody>
      </p:sp>
      <p:sp>
        <p:nvSpPr>
          <p:cNvPr id="6" name="Text Placeholder 7">
            <a:extLst>
              <a:ext uri="{FF2B5EF4-FFF2-40B4-BE49-F238E27FC236}">
                <a16:creationId xmlns:a16="http://schemas.microsoft.com/office/drawing/2014/main" id="{6A3A5FF3-B912-8935-CA01-C95668234EEA}"/>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p>
          <a:p>
            <a:pPr marL="0" indent="0" algn="ctr">
              <a:buNone/>
            </a:pPr>
            <a:r>
              <a:rPr lang="he-IL" b="1" dirty="0">
                <a:latin typeface="Calibri" panose="020F0502020204030204" pitchFamily="34" charset="0"/>
                <a:cs typeface="Calibri" panose="020F0502020204030204" pitchFamily="34" charset="0"/>
              </a:rPr>
              <a:t>סל אישי מותאם לאזרח הוותיק</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7667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2" name="TextBox 1">
            <a:extLst>
              <a:ext uri="{FF2B5EF4-FFF2-40B4-BE49-F238E27FC236}">
                <a16:creationId xmlns:a16="http://schemas.microsoft.com/office/drawing/2014/main" id="{A14D9FB6-512F-B121-C56A-914684827662}"/>
              </a:ext>
            </a:extLst>
          </p:cNvPr>
          <p:cNvSpPr txBox="1"/>
          <p:nvPr/>
        </p:nvSpPr>
        <p:spPr>
          <a:xfrm>
            <a:off x="580505" y="1605070"/>
            <a:ext cx="11030989" cy="4096634"/>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מהי הפלטפורמה הקהילתית התומכת?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מנגישים ללקוח? מי הגורם שנמצא מול הלקוח ומחבר אותו לשירותים?</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מקורות המידע לשירותים בקהילה, לצרכי הלקוח ולרצונותיו?</a:t>
            </a:r>
          </a:p>
          <a:p>
            <a:pPr algn="r" rtl="1">
              <a:lnSpc>
                <a:spcPct val="150000"/>
              </a:lnSpc>
              <a:spcAft>
                <a:spcPts val="800"/>
              </a:spcAft>
            </a:pPr>
            <a:r>
              <a:rPr lang="he-IL" b="1" dirty="0">
                <a:latin typeface="Calibri" panose="020F0502020204030204" pitchFamily="34" charset="0"/>
                <a:ea typeface="Calibri" panose="020F0502020204030204" pitchFamily="34" charset="0"/>
                <a:cs typeface="Arial" panose="020B0604020202020204" pitchFamily="34" charset="0"/>
              </a:rPr>
              <a:t>7.  איך מודדים את איכות השירות? </a:t>
            </a:r>
            <a:r>
              <a:rPr lang="he-IL" dirty="0">
                <a:latin typeface="Calibri" panose="020F0502020204030204" pitchFamily="34" charset="0"/>
                <a:ea typeface="Calibri" panose="020F0502020204030204" pitchFamily="34" charset="0"/>
                <a:cs typeface="Arial" panose="020B0604020202020204" pitchFamily="34" charset="0"/>
              </a:rPr>
              <a:t>– עלתה שאלה לגבי איכות השירות והיחס לזקן. שתי הצעות בעניין זה:</a:t>
            </a:r>
          </a:p>
          <a:p>
            <a:pPr marL="285744" indent="-285744" algn="r" rtl="1">
              <a:lnSpc>
                <a:spcPct val="150000"/>
              </a:lnSpc>
              <a:spcAft>
                <a:spcPts val="800"/>
              </a:spcAft>
              <a:buFontTx/>
              <a:buChar char="-"/>
            </a:pPr>
            <a:r>
              <a:rPr lang="he-IL" dirty="0">
                <a:latin typeface="Calibri" panose="020F0502020204030204" pitchFamily="34" charset="0"/>
                <a:ea typeface="Calibri" panose="020F0502020204030204" pitchFamily="34" charset="0"/>
                <a:cs typeface="Arial" panose="020B0604020202020204" pitchFamily="34" charset="0"/>
              </a:rPr>
              <a:t>חתימה על </a:t>
            </a:r>
            <a:r>
              <a:rPr lang="he-IL" b="1" dirty="0">
                <a:latin typeface="Calibri" panose="020F0502020204030204" pitchFamily="34" charset="0"/>
                <a:ea typeface="Calibri" panose="020F0502020204030204" pitchFamily="34" charset="0"/>
                <a:cs typeface="Arial" panose="020B0604020202020204" pitchFamily="34" charset="0"/>
              </a:rPr>
              <a:t>אמנת שירות </a:t>
            </a:r>
            <a:r>
              <a:rPr lang="he-IL" dirty="0">
                <a:latin typeface="Calibri" panose="020F0502020204030204" pitchFamily="34" charset="0"/>
                <a:ea typeface="Calibri" panose="020F0502020204030204" pitchFamily="34" charset="0"/>
                <a:cs typeface="Arial" panose="020B0604020202020204" pitchFamily="34" charset="0"/>
              </a:rPr>
              <a:t>כחלק מההתקשרות עם נותן השירותים. </a:t>
            </a:r>
          </a:p>
          <a:p>
            <a:pPr marL="285744" indent="-285744" algn="r" rtl="1">
              <a:lnSpc>
                <a:spcPct val="150000"/>
              </a:lnSpc>
              <a:spcAft>
                <a:spcPts val="800"/>
              </a:spcAft>
              <a:buFontTx/>
              <a:buChar char="-"/>
            </a:pPr>
            <a:r>
              <a:rPr lang="he-IL" b="1" dirty="0">
                <a:latin typeface="Calibri" panose="020F0502020204030204" pitchFamily="34" charset="0"/>
                <a:ea typeface="Calibri" panose="020F0502020204030204" pitchFamily="34" charset="0"/>
                <a:cs typeface="Arial" panose="020B0604020202020204" pitchFamily="34" charset="0"/>
              </a:rPr>
              <a:t>משובים וביקורות </a:t>
            </a:r>
            <a:r>
              <a:rPr lang="he-IL" dirty="0">
                <a:latin typeface="Calibri" panose="020F0502020204030204" pitchFamily="34" charset="0"/>
                <a:ea typeface="Calibri" panose="020F0502020204030204" pitchFamily="34" charset="0"/>
                <a:cs typeface="Arial" panose="020B0604020202020204" pitchFamily="34" charset="0"/>
              </a:rPr>
              <a:t>– לאחר קבלת השירות יוכל האדם למלא משוב על התאמת השירות לצרכיו</a:t>
            </a:r>
          </a:p>
          <a:p>
            <a:pPr algn="r" rtl="1">
              <a:lnSpc>
                <a:spcPct val="150000"/>
              </a:lnSpc>
              <a:spcAft>
                <a:spcPts val="800"/>
              </a:spcAft>
            </a:pPr>
            <a:endParaRPr lang="en-IL" dirty="0">
              <a:latin typeface="Calibri" panose="020F0502020204030204" pitchFamily="34" charset="0"/>
              <a:ea typeface="Calibri" panose="020F0502020204030204" pitchFamily="34" charset="0"/>
              <a:cs typeface="Arial" panose="020B0604020202020204" pitchFamily="34" charset="0"/>
            </a:endParaRPr>
          </a:p>
        </p:txBody>
      </p:sp>
      <p:sp>
        <p:nvSpPr>
          <p:cNvPr id="3" name="Text Placeholder 7">
            <a:extLst>
              <a:ext uri="{FF2B5EF4-FFF2-40B4-BE49-F238E27FC236}">
                <a16:creationId xmlns:a16="http://schemas.microsoft.com/office/drawing/2014/main" id="{F1FADFFC-DBB8-5330-5261-A673CB1BE6E4}"/>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6201597"/>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504</Words>
  <Application>Microsoft Office PowerPoint</Application>
  <PresentationFormat>מסך רחב</PresentationFormat>
  <Paragraphs>65</Paragraphs>
  <Slides>9</Slides>
  <Notes>5</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9</vt:i4>
      </vt:variant>
    </vt:vector>
  </HeadingPairs>
  <TitlesOfParts>
    <vt:vector size="16" baseType="lpstr">
      <vt:lpstr>Arial</vt:lpstr>
      <vt:lpstr>Calibri</vt:lpstr>
      <vt:lpstr>Calibri Light</vt:lpstr>
      <vt:lpstr>Gotham Book</vt:lpstr>
      <vt:lpstr>Montserrat</vt:lpstr>
      <vt:lpstr>Times New Roman</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aviad itzhaky</dc:creator>
  <cp:lastModifiedBy>אביעד יצחקי</cp:lastModifiedBy>
  <cp:revision>1</cp:revision>
  <dcterms:created xsi:type="dcterms:W3CDTF">2023-05-07T19:02:30Z</dcterms:created>
  <dcterms:modified xsi:type="dcterms:W3CDTF">2023-05-08T05:20:37Z</dcterms:modified>
</cp:coreProperties>
</file>