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304" r:id="rId2"/>
    <p:sldId id="414" r:id="rId3"/>
    <p:sldId id="260" r:id="rId4"/>
    <p:sldId id="281" r:id="rId5"/>
    <p:sldId id="301" r:id="rId6"/>
    <p:sldId id="409" r:id="rId7"/>
    <p:sldId id="296" r:id="rId8"/>
    <p:sldId id="407" r:id="rId9"/>
    <p:sldId id="397" r:id="rId10"/>
    <p:sldId id="398" r:id="rId11"/>
    <p:sldId id="400" r:id="rId12"/>
    <p:sldId id="416" r:id="rId13"/>
    <p:sldId id="415" r:id="rId14"/>
    <p:sldId id="257" r:id="rId15"/>
    <p:sldId id="413" r:id="rId16"/>
    <p:sldId id="411" r:id="rId17"/>
    <p:sldId id="310" r:id="rId18"/>
    <p:sldId id="417" r:id="rId19"/>
    <p:sldId id="316" r:id="rId20"/>
    <p:sldId id="328" r:id="rId21"/>
  </p:sldIdLst>
  <p:sldSz cx="12192000" cy="6858000"/>
  <p:notesSz cx="6858000" cy="9144000"/>
  <p:embeddedFontLst>
    <p:embeddedFont>
      <p:font typeface="Assistant" pitchFamily="2" charset="-79"/>
      <p:regular r:id="rId23"/>
      <p:bold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04F"/>
    <a:srgbClr val="5EC5C5"/>
    <a:srgbClr val="E75258"/>
    <a:srgbClr val="1F1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84960" autoAdjust="0"/>
  </p:normalViewPr>
  <p:slideViewPr>
    <p:cSldViewPr snapToGrid="0">
      <p:cViewPr varScale="1">
        <p:scale>
          <a:sx n="89" d="100"/>
          <a:sy n="89" d="100"/>
        </p:scale>
        <p:origin x="10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6233E7-AD5E-4B23-9F0D-6741F531BE1C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E3F85A27-1273-4FF0-85C0-297E8CC619C6}">
      <dgm:prSet phldrT="[Text]"/>
      <dgm:spPr>
        <a:solidFill>
          <a:srgbClr val="5EC5C5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התאמה אישית, עצמאות ובחירה</a:t>
          </a:r>
          <a:endParaRPr lang="en-IL" dirty="0"/>
        </a:p>
      </dgm:t>
    </dgm:pt>
    <dgm:pt modelId="{A5C3AD27-4458-40B6-9DCE-85ADB8325A8B}" type="parTrans" cxnId="{F12368CE-0F16-49B8-A77A-BF253839B2ED}">
      <dgm:prSet/>
      <dgm:spPr/>
      <dgm:t>
        <a:bodyPr/>
        <a:lstStyle/>
        <a:p>
          <a:endParaRPr lang="en-IL"/>
        </a:p>
      </dgm:t>
    </dgm:pt>
    <dgm:pt modelId="{4053A1F6-1A6A-4AD0-B2A1-A2FB062F2310}" type="sibTrans" cxnId="{F12368CE-0F16-49B8-A77A-BF253839B2ED}">
      <dgm:prSet/>
      <dgm:spPr/>
      <dgm:t>
        <a:bodyPr/>
        <a:lstStyle/>
        <a:p>
          <a:endParaRPr lang="en-IL"/>
        </a:p>
      </dgm:t>
    </dgm:pt>
    <dgm:pt modelId="{B865E531-3FBC-45A5-B779-8D6F0DC652E2}">
      <dgm:prSet phldrT="[Text]"/>
      <dgm:spPr>
        <a:solidFill>
          <a:srgbClr val="E75258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תהליך שלם ונגיש</a:t>
          </a:r>
          <a:endParaRPr lang="en-IL" dirty="0"/>
        </a:p>
      </dgm:t>
    </dgm:pt>
    <dgm:pt modelId="{AE942F13-BB86-42B4-A1D9-FFAB6D10BC8F}" type="parTrans" cxnId="{0AAF4D4C-C786-44EB-97A0-6B1474AACD33}">
      <dgm:prSet/>
      <dgm:spPr/>
      <dgm:t>
        <a:bodyPr/>
        <a:lstStyle/>
        <a:p>
          <a:endParaRPr lang="en-IL"/>
        </a:p>
      </dgm:t>
    </dgm:pt>
    <dgm:pt modelId="{21610B13-B865-4032-9B71-0DF7F2A64B8C}" type="sibTrans" cxnId="{0AAF4D4C-C786-44EB-97A0-6B1474AACD33}">
      <dgm:prSet/>
      <dgm:spPr/>
      <dgm:t>
        <a:bodyPr/>
        <a:lstStyle/>
        <a:p>
          <a:endParaRPr lang="en-IL"/>
        </a:p>
      </dgm:t>
    </dgm:pt>
    <dgm:pt modelId="{FBD24061-8939-42A4-8679-BF7C8078902C}">
      <dgm:prSet phldrT="[Text]"/>
      <dgm:spPr>
        <a:solidFill>
          <a:srgbClr val="5EC5C5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סיוע והכוונה</a:t>
          </a:r>
          <a:endParaRPr lang="en-IL" dirty="0"/>
        </a:p>
      </dgm:t>
    </dgm:pt>
    <dgm:pt modelId="{6DFE8569-C4F6-4AFA-8F43-BD57C77BF520}" type="parTrans" cxnId="{E316EDC7-4B91-49A9-8CD2-580615B3ED2C}">
      <dgm:prSet/>
      <dgm:spPr/>
      <dgm:t>
        <a:bodyPr/>
        <a:lstStyle/>
        <a:p>
          <a:endParaRPr lang="en-IL"/>
        </a:p>
      </dgm:t>
    </dgm:pt>
    <dgm:pt modelId="{E82EC6D4-8045-4E8E-A660-BEB4D806996B}" type="sibTrans" cxnId="{E316EDC7-4B91-49A9-8CD2-580615B3ED2C}">
      <dgm:prSet/>
      <dgm:spPr/>
      <dgm:t>
        <a:bodyPr/>
        <a:lstStyle/>
        <a:p>
          <a:endParaRPr lang="en-IL"/>
        </a:p>
      </dgm:t>
    </dgm:pt>
    <dgm:pt modelId="{FBAC1C6A-7EB9-465E-8B27-9D7C8CAD21AB}">
      <dgm:prSet phldrT="[Text]"/>
      <dgm:spPr>
        <a:solidFill>
          <a:srgbClr val="34304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עדכניות מידע</a:t>
          </a:r>
          <a:endParaRPr lang="en-IL" dirty="0"/>
        </a:p>
      </dgm:t>
    </dgm:pt>
    <dgm:pt modelId="{1730209C-AF4D-4A4C-8C8A-C0F3EB86B7D8}" type="parTrans" cxnId="{242671B4-BD73-475A-BBE4-EBF1B95F30BF}">
      <dgm:prSet/>
      <dgm:spPr/>
      <dgm:t>
        <a:bodyPr/>
        <a:lstStyle/>
        <a:p>
          <a:endParaRPr lang="en-IL"/>
        </a:p>
      </dgm:t>
    </dgm:pt>
    <dgm:pt modelId="{4B7E2381-8F6F-4174-89F7-A46DFE6DA0B3}" type="sibTrans" cxnId="{242671B4-BD73-475A-BBE4-EBF1B95F30BF}">
      <dgm:prSet/>
      <dgm:spPr/>
      <dgm:t>
        <a:bodyPr/>
        <a:lstStyle/>
        <a:p>
          <a:endParaRPr lang="en-IL"/>
        </a:p>
      </dgm:t>
    </dgm:pt>
    <dgm:pt modelId="{A5AEBC85-DD11-4DE1-BD8B-6E9CF79D48A1}">
      <dgm:prSet phldrT="[Text]"/>
      <dgm:spPr>
        <a:solidFill>
          <a:srgbClr val="E75258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הרחבת סל השירותים </a:t>
          </a:r>
          <a:endParaRPr lang="en-IL" dirty="0"/>
        </a:p>
      </dgm:t>
    </dgm:pt>
    <dgm:pt modelId="{A0C26D8D-B1AF-48FF-A342-DC039812E79B}" type="parTrans" cxnId="{67AE422F-674A-45CF-B35B-178494C35901}">
      <dgm:prSet/>
      <dgm:spPr/>
      <dgm:t>
        <a:bodyPr/>
        <a:lstStyle/>
        <a:p>
          <a:endParaRPr lang="en-IL"/>
        </a:p>
      </dgm:t>
    </dgm:pt>
    <dgm:pt modelId="{CBFBF4F5-13CD-45E2-978C-8C566C1DC2A8}" type="sibTrans" cxnId="{67AE422F-674A-45CF-B35B-178494C35901}">
      <dgm:prSet/>
      <dgm:spPr/>
      <dgm:t>
        <a:bodyPr/>
        <a:lstStyle/>
        <a:p>
          <a:endParaRPr lang="en-IL"/>
        </a:p>
      </dgm:t>
    </dgm:pt>
    <dgm:pt modelId="{1006045F-62FD-4D91-9A8A-939A7FECCE55}">
      <dgm:prSet phldrT="[Text]"/>
      <dgm:spPr>
        <a:solidFill>
          <a:srgbClr val="5EC5C5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נקודת מפגש לכלל השחקנים </a:t>
          </a:r>
          <a:endParaRPr lang="en-IL" dirty="0"/>
        </a:p>
      </dgm:t>
    </dgm:pt>
    <dgm:pt modelId="{A234918F-5FF0-4ABF-8CD0-69A228FFBBA3}" type="parTrans" cxnId="{ACA17067-366D-4D43-9849-FD7A0403F589}">
      <dgm:prSet/>
      <dgm:spPr/>
      <dgm:t>
        <a:bodyPr/>
        <a:lstStyle/>
        <a:p>
          <a:endParaRPr lang="en-IL"/>
        </a:p>
      </dgm:t>
    </dgm:pt>
    <dgm:pt modelId="{A4746610-F0CF-4B5C-A090-0FFEAEED9B67}" type="sibTrans" cxnId="{ACA17067-366D-4D43-9849-FD7A0403F589}">
      <dgm:prSet/>
      <dgm:spPr/>
      <dgm:t>
        <a:bodyPr/>
        <a:lstStyle/>
        <a:p>
          <a:endParaRPr lang="en-IL"/>
        </a:p>
      </dgm:t>
    </dgm:pt>
    <dgm:pt modelId="{3723CCB1-ED22-4225-98B1-C48B47B95816}">
      <dgm:prSet phldrT="[Text]"/>
      <dgm:spPr>
        <a:solidFill>
          <a:srgbClr val="34304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e-IL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מדידה ובקרה</a:t>
          </a:r>
          <a:endParaRPr lang="en-IL" dirty="0"/>
        </a:p>
      </dgm:t>
    </dgm:pt>
    <dgm:pt modelId="{BEB87C9B-F294-4DDE-BE2A-97F556D618AD}" type="parTrans" cxnId="{42959E1C-2F63-473B-AB3D-C3FC493DCD4A}">
      <dgm:prSet/>
      <dgm:spPr/>
      <dgm:t>
        <a:bodyPr/>
        <a:lstStyle/>
        <a:p>
          <a:endParaRPr lang="en-IL"/>
        </a:p>
      </dgm:t>
    </dgm:pt>
    <dgm:pt modelId="{57971901-902A-466D-ABA6-3BF216242F2F}" type="sibTrans" cxnId="{42959E1C-2F63-473B-AB3D-C3FC493DCD4A}">
      <dgm:prSet/>
      <dgm:spPr/>
      <dgm:t>
        <a:bodyPr/>
        <a:lstStyle/>
        <a:p>
          <a:endParaRPr lang="en-IL"/>
        </a:p>
      </dgm:t>
    </dgm:pt>
    <dgm:pt modelId="{6184A092-A79A-4FC7-AFBE-E490DB0F41F5}" type="pres">
      <dgm:prSet presAssocID="{696233E7-AD5E-4B23-9F0D-6741F531BE1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4E012B05-826F-40DC-9D9F-9E74375E8979}" type="pres">
      <dgm:prSet presAssocID="{E3F85A27-1273-4FF0-85C0-297E8CC619C6}" presName="Parent" presStyleLbl="node0" presStyleIdx="0" presStyleCnt="1">
        <dgm:presLayoutVars>
          <dgm:chMax val="6"/>
          <dgm:chPref val="6"/>
        </dgm:presLayoutVars>
      </dgm:prSet>
      <dgm:spPr/>
    </dgm:pt>
    <dgm:pt modelId="{B3C71270-D676-44D3-AEE8-0A2E3B2727FA}" type="pres">
      <dgm:prSet presAssocID="{B865E531-3FBC-45A5-B779-8D6F0DC652E2}" presName="Accent1" presStyleCnt="0"/>
      <dgm:spPr/>
    </dgm:pt>
    <dgm:pt modelId="{798F1C60-28A4-4D0F-B439-64ED5E562B81}" type="pres">
      <dgm:prSet presAssocID="{B865E531-3FBC-45A5-B779-8D6F0DC652E2}" presName="Accent" presStyleLbl="bgShp" presStyleIdx="0" presStyleCnt="6"/>
      <dgm:spPr/>
    </dgm:pt>
    <dgm:pt modelId="{BC83C60C-96B3-4936-96C6-609B63453A53}" type="pres">
      <dgm:prSet presAssocID="{B865E531-3FBC-45A5-B779-8D6F0DC652E2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EBB29AB6-07E9-4807-B64B-2086B21C0862}" type="pres">
      <dgm:prSet presAssocID="{FBD24061-8939-42A4-8679-BF7C8078902C}" presName="Accent2" presStyleCnt="0"/>
      <dgm:spPr/>
    </dgm:pt>
    <dgm:pt modelId="{2422601E-9E5A-44D8-AA9D-003BFD94AB70}" type="pres">
      <dgm:prSet presAssocID="{FBD24061-8939-42A4-8679-BF7C8078902C}" presName="Accent" presStyleLbl="bgShp" presStyleIdx="1" presStyleCnt="6"/>
      <dgm:spPr/>
    </dgm:pt>
    <dgm:pt modelId="{E5159348-F70C-44FB-BD2C-F73C083509D8}" type="pres">
      <dgm:prSet presAssocID="{FBD24061-8939-42A4-8679-BF7C8078902C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4F129184-6CD4-4959-BE99-C650453C229D}" type="pres">
      <dgm:prSet presAssocID="{FBAC1C6A-7EB9-465E-8B27-9D7C8CAD21AB}" presName="Accent3" presStyleCnt="0"/>
      <dgm:spPr/>
    </dgm:pt>
    <dgm:pt modelId="{0653E9BE-1767-4359-B742-DEAA46F15FE0}" type="pres">
      <dgm:prSet presAssocID="{FBAC1C6A-7EB9-465E-8B27-9D7C8CAD21AB}" presName="Accent" presStyleLbl="bgShp" presStyleIdx="2" presStyleCnt="6"/>
      <dgm:spPr/>
    </dgm:pt>
    <dgm:pt modelId="{C6C8AD28-D682-4350-9EBF-0E0E0C337EEB}" type="pres">
      <dgm:prSet presAssocID="{FBAC1C6A-7EB9-465E-8B27-9D7C8CAD21AB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6E0B5EC-EED3-4953-B64D-BD0000F5C8A0}" type="pres">
      <dgm:prSet presAssocID="{A5AEBC85-DD11-4DE1-BD8B-6E9CF79D48A1}" presName="Accent4" presStyleCnt="0"/>
      <dgm:spPr/>
    </dgm:pt>
    <dgm:pt modelId="{6A79A38C-F434-4FB4-8DDF-A218E5F6D8C9}" type="pres">
      <dgm:prSet presAssocID="{A5AEBC85-DD11-4DE1-BD8B-6E9CF79D48A1}" presName="Accent" presStyleLbl="bgShp" presStyleIdx="3" presStyleCnt="6"/>
      <dgm:spPr/>
    </dgm:pt>
    <dgm:pt modelId="{42F6E0A6-9B1A-42B0-9F21-B5554995B0A3}" type="pres">
      <dgm:prSet presAssocID="{A5AEBC85-DD11-4DE1-BD8B-6E9CF79D48A1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BDF65610-FE95-4284-B4E5-F22CAEE71C8A}" type="pres">
      <dgm:prSet presAssocID="{1006045F-62FD-4D91-9A8A-939A7FECCE55}" presName="Accent5" presStyleCnt="0"/>
      <dgm:spPr/>
    </dgm:pt>
    <dgm:pt modelId="{49371B0B-CB91-493E-995E-D019C5A81B51}" type="pres">
      <dgm:prSet presAssocID="{1006045F-62FD-4D91-9A8A-939A7FECCE55}" presName="Accent" presStyleLbl="bgShp" presStyleIdx="4" presStyleCnt="6"/>
      <dgm:spPr/>
    </dgm:pt>
    <dgm:pt modelId="{526816AF-D005-4FF8-9078-FA74AAFCDD30}" type="pres">
      <dgm:prSet presAssocID="{1006045F-62FD-4D91-9A8A-939A7FECCE55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529A069B-B635-482B-8202-59C0E6EE9EC6}" type="pres">
      <dgm:prSet presAssocID="{3723CCB1-ED22-4225-98B1-C48B47B95816}" presName="Accent6" presStyleCnt="0"/>
      <dgm:spPr/>
    </dgm:pt>
    <dgm:pt modelId="{D10531BD-5C96-4005-83E5-C29E7A38D71F}" type="pres">
      <dgm:prSet presAssocID="{3723CCB1-ED22-4225-98B1-C48B47B95816}" presName="Accent" presStyleLbl="bgShp" presStyleIdx="5" presStyleCnt="6"/>
      <dgm:spPr/>
    </dgm:pt>
    <dgm:pt modelId="{97E7745F-D724-4811-9A78-F7EE941338D7}" type="pres">
      <dgm:prSet presAssocID="{3723CCB1-ED22-4225-98B1-C48B47B9581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42959E1C-2F63-473B-AB3D-C3FC493DCD4A}" srcId="{E3F85A27-1273-4FF0-85C0-297E8CC619C6}" destId="{3723CCB1-ED22-4225-98B1-C48B47B95816}" srcOrd="5" destOrd="0" parTransId="{BEB87C9B-F294-4DDE-BE2A-97F556D618AD}" sibTransId="{57971901-902A-466D-ABA6-3BF216242F2F}"/>
    <dgm:cxn modelId="{33F21A22-7852-4C1E-90D9-CDE815F96DBE}" type="presOf" srcId="{B865E531-3FBC-45A5-B779-8D6F0DC652E2}" destId="{BC83C60C-96B3-4936-96C6-609B63453A53}" srcOrd="0" destOrd="0" presId="urn:microsoft.com/office/officeart/2011/layout/HexagonRadial"/>
    <dgm:cxn modelId="{67AE422F-674A-45CF-B35B-178494C35901}" srcId="{E3F85A27-1273-4FF0-85C0-297E8CC619C6}" destId="{A5AEBC85-DD11-4DE1-BD8B-6E9CF79D48A1}" srcOrd="3" destOrd="0" parTransId="{A0C26D8D-B1AF-48FF-A342-DC039812E79B}" sibTransId="{CBFBF4F5-13CD-45E2-978C-8C566C1DC2A8}"/>
    <dgm:cxn modelId="{ACA17067-366D-4D43-9849-FD7A0403F589}" srcId="{E3F85A27-1273-4FF0-85C0-297E8CC619C6}" destId="{1006045F-62FD-4D91-9A8A-939A7FECCE55}" srcOrd="4" destOrd="0" parTransId="{A234918F-5FF0-4ABF-8CD0-69A228FFBBA3}" sibTransId="{A4746610-F0CF-4B5C-A090-0FFEAEED9B67}"/>
    <dgm:cxn modelId="{0AAF4D4C-C786-44EB-97A0-6B1474AACD33}" srcId="{E3F85A27-1273-4FF0-85C0-297E8CC619C6}" destId="{B865E531-3FBC-45A5-B779-8D6F0DC652E2}" srcOrd="0" destOrd="0" parTransId="{AE942F13-BB86-42B4-A1D9-FFAB6D10BC8F}" sibTransId="{21610B13-B865-4032-9B71-0DF7F2A64B8C}"/>
    <dgm:cxn modelId="{06C0F577-00AD-47EF-9F4A-3E284C322194}" type="presOf" srcId="{FBAC1C6A-7EB9-465E-8B27-9D7C8CAD21AB}" destId="{C6C8AD28-D682-4350-9EBF-0E0E0C337EEB}" srcOrd="0" destOrd="0" presId="urn:microsoft.com/office/officeart/2011/layout/HexagonRadial"/>
    <dgm:cxn modelId="{1FFFF58C-046B-4CC3-9C77-4227C6E00138}" type="presOf" srcId="{3723CCB1-ED22-4225-98B1-C48B47B95816}" destId="{97E7745F-D724-4811-9A78-F7EE941338D7}" srcOrd="0" destOrd="0" presId="urn:microsoft.com/office/officeart/2011/layout/HexagonRadial"/>
    <dgm:cxn modelId="{C663128F-DAFF-452F-98EB-8B1B39186BA5}" type="presOf" srcId="{E3F85A27-1273-4FF0-85C0-297E8CC619C6}" destId="{4E012B05-826F-40DC-9D9F-9E74375E8979}" srcOrd="0" destOrd="0" presId="urn:microsoft.com/office/officeart/2011/layout/HexagonRadial"/>
    <dgm:cxn modelId="{B775AAB0-B909-496B-95A1-231D5C047FBC}" type="presOf" srcId="{1006045F-62FD-4D91-9A8A-939A7FECCE55}" destId="{526816AF-D005-4FF8-9078-FA74AAFCDD30}" srcOrd="0" destOrd="0" presId="urn:microsoft.com/office/officeart/2011/layout/HexagonRadial"/>
    <dgm:cxn modelId="{242671B4-BD73-475A-BBE4-EBF1B95F30BF}" srcId="{E3F85A27-1273-4FF0-85C0-297E8CC619C6}" destId="{FBAC1C6A-7EB9-465E-8B27-9D7C8CAD21AB}" srcOrd="2" destOrd="0" parTransId="{1730209C-AF4D-4A4C-8C8A-C0F3EB86B7D8}" sibTransId="{4B7E2381-8F6F-4174-89F7-A46DFE6DA0B3}"/>
    <dgm:cxn modelId="{E316EDC7-4B91-49A9-8CD2-580615B3ED2C}" srcId="{E3F85A27-1273-4FF0-85C0-297E8CC619C6}" destId="{FBD24061-8939-42A4-8679-BF7C8078902C}" srcOrd="1" destOrd="0" parTransId="{6DFE8569-C4F6-4AFA-8F43-BD57C77BF520}" sibTransId="{E82EC6D4-8045-4E8E-A660-BEB4D806996B}"/>
    <dgm:cxn modelId="{38F10DCD-2EEF-49BD-BAB7-524A1C816061}" type="presOf" srcId="{A5AEBC85-DD11-4DE1-BD8B-6E9CF79D48A1}" destId="{42F6E0A6-9B1A-42B0-9F21-B5554995B0A3}" srcOrd="0" destOrd="0" presId="urn:microsoft.com/office/officeart/2011/layout/HexagonRadial"/>
    <dgm:cxn modelId="{F12368CE-0F16-49B8-A77A-BF253839B2ED}" srcId="{696233E7-AD5E-4B23-9F0D-6741F531BE1C}" destId="{E3F85A27-1273-4FF0-85C0-297E8CC619C6}" srcOrd="0" destOrd="0" parTransId="{A5C3AD27-4458-40B6-9DCE-85ADB8325A8B}" sibTransId="{4053A1F6-1A6A-4AD0-B2A1-A2FB062F2310}"/>
    <dgm:cxn modelId="{1BAAE8E3-4A85-47F6-8654-112977692F9A}" type="presOf" srcId="{696233E7-AD5E-4B23-9F0D-6741F531BE1C}" destId="{6184A092-A79A-4FC7-AFBE-E490DB0F41F5}" srcOrd="0" destOrd="0" presId="urn:microsoft.com/office/officeart/2011/layout/HexagonRadial"/>
    <dgm:cxn modelId="{E309A8E9-6FB5-4A49-8612-7802ED959A87}" type="presOf" srcId="{FBD24061-8939-42A4-8679-BF7C8078902C}" destId="{E5159348-F70C-44FB-BD2C-F73C083509D8}" srcOrd="0" destOrd="0" presId="urn:microsoft.com/office/officeart/2011/layout/HexagonRadial"/>
    <dgm:cxn modelId="{788B05BF-E46F-4445-B5A0-D738F724829E}" type="presParOf" srcId="{6184A092-A79A-4FC7-AFBE-E490DB0F41F5}" destId="{4E012B05-826F-40DC-9D9F-9E74375E8979}" srcOrd="0" destOrd="0" presId="urn:microsoft.com/office/officeart/2011/layout/HexagonRadial"/>
    <dgm:cxn modelId="{C8E489FE-33A2-4FD8-87C7-AC1D160F51BA}" type="presParOf" srcId="{6184A092-A79A-4FC7-AFBE-E490DB0F41F5}" destId="{B3C71270-D676-44D3-AEE8-0A2E3B2727FA}" srcOrd="1" destOrd="0" presId="urn:microsoft.com/office/officeart/2011/layout/HexagonRadial"/>
    <dgm:cxn modelId="{0E481D3B-7469-446B-8CCE-56F87D590085}" type="presParOf" srcId="{B3C71270-D676-44D3-AEE8-0A2E3B2727FA}" destId="{798F1C60-28A4-4D0F-B439-64ED5E562B81}" srcOrd="0" destOrd="0" presId="urn:microsoft.com/office/officeart/2011/layout/HexagonRadial"/>
    <dgm:cxn modelId="{B9BAC620-C3FC-46C6-8385-8215338A3515}" type="presParOf" srcId="{6184A092-A79A-4FC7-AFBE-E490DB0F41F5}" destId="{BC83C60C-96B3-4936-96C6-609B63453A53}" srcOrd="2" destOrd="0" presId="urn:microsoft.com/office/officeart/2011/layout/HexagonRadial"/>
    <dgm:cxn modelId="{658973BD-DB20-4BD7-ACDA-946FF5D1C983}" type="presParOf" srcId="{6184A092-A79A-4FC7-AFBE-E490DB0F41F5}" destId="{EBB29AB6-07E9-4807-B64B-2086B21C0862}" srcOrd="3" destOrd="0" presId="urn:microsoft.com/office/officeart/2011/layout/HexagonRadial"/>
    <dgm:cxn modelId="{BD5159FE-7533-4008-8BDB-732147380E66}" type="presParOf" srcId="{EBB29AB6-07E9-4807-B64B-2086B21C0862}" destId="{2422601E-9E5A-44D8-AA9D-003BFD94AB70}" srcOrd="0" destOrd="0" presId="urn:microsoft.com/office/officeart/2011/layout/HexagonRadial"/>
    <dgm:cxn modelId="{DECF865B-B3CF-4C0D-BE3F-7988F00B8795}" type="presParOf" srcId="{6184A092-A79A-4FC7-AFBE-E490DB0F41F5}" destId="{E5159348-F70C-44FB-BD2C-F73C083509D8}" srcOrd="4" destOrd="0" presId="urn:microsoft.com/office/officeart/2011/layout/HexagonRadial"/>
    <dgm:cxn modelId="{7937E229-BE58-4BDF-B2E4-35E986032B97}" type="presParOf" srcId="{6184A092-A79A-4FC7-AFBE-E490DB0F41F5}" destId="{4F129184-6CD4-4959-BE99-C650453C229D}" srcOrd="5" destOrd="0" presId="urn:microsoft.com/office/officeart/2011/layout/HexagonRadial"/>
    <dgm:cxn modelId="{325CD52D-7B9E-4DB4-B0EF-78F8B3C2A882}" type="presParOf" srcId="{4F129184-6CD4-4959-BE99-C650453C229D}" destId="{0653E9BE-1767-4359-B742-DEAA46F15FE0}" srcOrd="0" destOrd="0" presId="urn:microsoft.com/office/officeart/2011/layout/HexagonRadial"/>
    <dgm:cxn modelId="{19B3B57A-3604-4424-A396-F257EB7E5E80}" type="presParOf" srcId="{6184A092-A79A-4FC7-AFBE-E490DB0F41F5}" destId="{C6C8AD28-D682-4350-9EBF-0E0E0C337EEB}" srcOrd="6" destOrd="0" presId="urn:microsoft.com/office/officeart/2011/layout/HexagonRadial"/>
    <dgm:cxn modelId="{E467B6EF-1CCF-4639-8A25-695C1CB2EB11}" type="presParOf" srcId="{6184A092-A79A-4FC7-AFBE-E490DB0F41F5}" destId="{66E0B5EC-EED3-4953-B64D-BD0000F5C8A0}" srcOrd="7" destOrd="0" presId="urn:microsoft.com/office/officeart/2011/layout/HexagonRadial"/>
    <dgm:cxn modelId="{E936C99B-3AB0-4438-BDC8-676E0BF74FA8}" type="presParOf" srcId="{66E0B5EC-EED3-4953-B64D-BD0000F5C8A0}" destId="{6A79A38C-F434-4FB4-8DDF-A218E5F6D8C9}" srcOrd="0" destOrd="0" presId="urn:microsoft.com/office/officeart/2011/layout/HexagonRadial"/>
    <dgm:cxn modelId="{07922E8B-4B6C-402C-8EDC-7068647F1D74}" type="presParOf" srcId="{6184A092-A79A-4FC7-AFBE-E490DB0F41F5}" destId="{42F6E0A6-9B1A-42B0-9F21-B5554995B0A3}" srcOrd="8" destOrd="0" presId="urn:microsoft.com/office/officeart/2011/layout/HexagonRadial"/>
    <dgm:cxn modelId="{2D15ABCE-FED8-42A9-962E-157A4DDD50C3}" type="presParOf" srcId="{6184A092-A79A-4FC7-AFBE-E490DB0F41F5}" destId="{BDF65610-FE95-4284-B4E5-F22CAEE71C8A}" srcOrd="9" destOrd="0" presId="urn:microsoft.com/office/officeart/2011/layout/HexagonRadial"/>
    <dgm:cxn modelId="{D3FFC2C6-91D5-42AC-9448-1D3F7DCDB088}" type="presParOf" srcId="{BDF65610-FE95-4284-B4E5-F22CAEE71C8A}" destId="{49371B0B-CB91-493E-995E-D019C5A81B51}" srcOrd="0" destOrd="0" presId="urn:microsoft.com/office/officeart/2011/layout/HexagonRadial"/>
    <dgm:cxn modelId="{34483150-D76F-4AE9-B4DA-B5A1EEA43326}" type="presParOf" srcId="{6184A092-A79A-4FC7-AFBE-E490DB0F41F5}" destId="{526816AF-D005-4FF8-9078-FA74AAFCDD30}" srcOrd="10" destOrd="0" presId="urn:microsoft.com/office/officeart/2011/layout/HexagonRadial"/>
    <dgm:cxn modelId="{59F294D0-B023-4B9E-888C-E9EF557F38A9}" type="presParOf" srcId="{6184A092-A79A-4FC7-AFBE-E490DB0F41F5}" destId="{529A069B-B635-482B-8202-59C0E6EE9EC6}" srcOrd="11" destOrd="0" presId="urn:microsoft.com/office/officeart/2011/layout/HexagonRadial"/>
    <dgm:cxn modelId="{13DEF9A8-36CB-4919-AE71-62CDBCDA6130}" type="presParOf" srcId="{529A069B-B635-482B-8202-59C0E6EE9EC6}" destId="{D10531BD-5C96-4005-83E5-C29E7A38D71F}" srcOrd="0" destOrd="0" presId="urn:microsoft.com/office/officeart/2011/layout/HexagonRadial"/>
    <dgm:cxn modelId="{87D2FD31-2A33-4125-B5F3-7FE5ADB2BAF2}" type="presParOf" srcId="{6184A092-A79A-4FC7-AFBE-E490DB0F41F5}" destId="{97E7745F-D724-4811-9A78-F7EE941338D7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12B05-826F-40DC-9D9F-9E74375E8979}">
      <dsp:nvSpPr>
        <dsp:cNvPr id="0" name=""/>
        <dsp:cNvSpPr/>
      </dsp:nvSpPr>
      <dsp:spPr>
        <a:xfrm>
          <a:off x="2952810" y="1748061"/>
          <a:ext cx="2221862" cy="1922001"/>
        </a:xfrm>
        <a:prstGeom prst="hexagon">
          <a:avLst>
            <a:gd name="adj" fmla="val 28570"/>
            <a:gd name="vf" fmla="val 115470"/>
          </a:avLst>
        </a:prstGeom>
        <a:solidFill>
          <a:srgbClr val="5EC5C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21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התאמה אישית, עצמאות ובחירה</a:t>
          </a:r>
          <a:endParaRPr lang="en-IL" sz="2100" kern="1200" dirty="0"/>
        </a:p>
      </dsp:txBody>
      <dsp:txXfrm>
        <a:off x="3321004" y="2066564"/>
        <a:ext cx="1485474" cy="1284995"/>
      </dsp:txXfrm>
    </dsp:sp>
    <dsp:sp modelId="{2422601E-9E5A-44D8-AA9D-003BFD94AB70}">
      <dsp:nvSpPr>
        <dsp:cNvPr id="0" name=""/>
        <dsp:cNvSpPr/>
      </dsp:nvSpPr>
      <dsp:spPr>
        <a:xfrm>
          <a:off x="4344123" y="828514"/>
          <a:ext cx="838302" cy="72230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3C60C-96B3-4936-96C6-609B63453A53}">
      <dsp:nvSpPr>
        <dsp:cNvPr id="0" name=""/>
        <dsp:cNvSpPr/>
      </dsp:nvSpPr>
      <dsp:spPr>
        <a:xfrm>
          <a:off x="3157475" y="0"/>
          <a:ext cx="1820800" cy="1575206"/>
        </a:xfrm>
        <a:prstGeom prst="hexagon">
          <a:avLst>
            <a:gd name="adj" fmla="val 28570"/>
            <a:gd name="vf" fmla="val 115470"/>
          </a:avLst>
        </a:prstGeom>
        <a:solidFill>
          <a:srgbClr val="E7525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21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תהליך שלם ונגיש</a:t>
          </a:r>
          <a:endParaRPr lang="en-IL" sz="2100" kern="1200" dirty="0"/>
        </a:p>
      </dsp:txBody>
      <dsp:txXfrm>
        <a:off x="3459220" y="261045"/>
        <a:ext cx="1217310" cy="1053116"/>
      </dsp:txXfrm>
    </dsp:sp>
    <dsp:sp modelId="{0653E9BE-1767-4359-B742-DEAA46F15FE0}">
      <dsp:nvSpPr>
        <dsp:cNvPr id="0" name=""/>
        <dsp:cNvSpPr/>
      </dsp:nvSpPr>
      <dsp:spPr>
        <a:xfrm>
          <a:off x="5322487" y="2178846"/>
          <a:ext cx="838302" cy="72230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59348-F70C-44FB-BD2C-F73C083509D8}">
      <dsp:nvSpPr>
        <dsp:cNvPr id="0" name=""/>
        <dsp:cNvSpPr/>
      </dsp:nvSpPr>
      <dsp:spPr>
        <a:xfrm>
          <a:off x="4827361" y="968857"/>
          <a:ext cx="1820800" cy="1575206"/>
        </a:xfrm>
        <a:prstGeom prst="hexagon">
          <a:avLst>
            <a:gd name="adj" fmla="val 28570"/>
            <a:gd name="vf" fmla="val 115470"/>
          </a:avLst>
        </a:prstGeom>
        <a:solidFill>
          <a:srgbClr val="5EC5C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21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סיוע והכוונה</a:t>
          </a:r>
          <a:endParaRPr lang="en-IL" sz="2100" kern="1200" dirty="0"/>
        </a:p>
      </dsp:txBody>
      <dsp:txXfrm>
        <a:off x="5129106" y="1229902"/>
        <a:ext cx="1217310" cy="1053116"/>
      </dsp:txXfrm>
    </dsp:sp>
    <dsp:sp modelId="{6A79A38C-F434-4FB4-8DDF-A218E5F6D8C9}">
      <dsp:nvSpPr>
        <dsp:cNvPr id="0" name=""/>
        <dsp:cNvSpPr/>
      </dsp:nvSpPr>
      <dsp:spPr>
        <a:xfrm>
          <a:off x="4642852" y="3703117"/>
          <a:ext cx="838302" cy="72230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C8AD28-D682-4350-9EBF-0E0E0C337EEB}">
      <dsp:nvSpPr>
        <dsp:cNvPr id="0" name=""/>
        <dsp:cNvSpPr/>
      </dsp:nvSpPr>
      <dsp:spPr>
        <a:xfrm>
          <a:off x="4827361" y="2873519"/>
          <a:ext cx="1820800" cy="1575206"/>
        </a:xfrm>
        <a:prstGeom prst="hexagon">
          <a:avLst>
            <a:gd name="adj" fmla="val 28570"/>
            <a:gd name="vf" fmla="val 115470"/>
          </a:avLst>
        </a:prstGeom>
        <a:solidFill>
          <a:srgbClr val="34304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21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עדכניות מידע</a:t>
          </a:r>
          <a:endParaRPr lang="en-IL" sz="2100" kern="1200" dirty="0"/>
        </a:p>
      </dsp:txBody>
      <dsp:txXfrm>
        <a:off x="5129106" y="3134564"/>
        <a:ext cx="1217310" cy="1053116"/>
      </dsp:txXfrm>
    </dsp:sp>
    <dsp:sp modelId="{49371B0B-CB91-493E-995E-D019C5A81B51}">
      <dsp:nvSpPr>
        <dsp:cNvPr id="0" name=""/>
        <dsp:cNvSpPr/>
      </dsp:nvSpPr>
      <dsp:spPr>
        <a:xfrm>
          <a:off x="2956944" y="3861342"/>
          <a:ext cx="838302" cy="72230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6E0A6-9B1A-42B0-9F21-B5554995B0A3}">
      <dsp:nvSpPr>
        <dsp:cNvPr id="0" name=""/>
        <dsp:cNvSpPr/>
      </dsp:nvSpPr>
      <dsp:spPr>
        <a:xfrm>
          <a:off x="3157475" y="3843460"/>
          <a:ext cx="1820800" cy="1575206"/>
        </a:xfrm>
        <a:prstGeom prst="hexagon">
          <a:avLst>
            <a:gd name="adj" fmla="val 28570"/>
            <a:gd name="vf" fmla="val 115470"/>
          </a:avLst>
        </a:prstGeom>
        <a:solidFill>
          <a:srgbClr val="E7525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21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הרחבת סל השירותים </a:t>
          </a:r>
          <a:endParaRPr lang="en-IL" sz="2100" kern="1200" dirty="0"/>
        </a:p>
      </dsp:txBody>
      <dsp:txXfrm>
        <a:off x="3459220" y="4104505"/>
        <a:ext cx="1217310" cy="1053116"/>
      </dsp:txXfrm>
    </dsp:sp>
    <dsp:sp modelId="{D10531BD-5C96-4005-83E5-C29E7A38D71F}">
      <dsp:nvSpPr>
        <dsp:cNvPr id="0" name=""/>
        <dsp:cNvSpPr/>
      </dsp:nvSpPr>
      <dsp:spPr>
        <a:xfrm>
          <a:off x="1962559" y="2511552"/>
          <a:ext cx="838302" cy="72230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816AF-D005-4FF8-9078-FA74AAFCDD30}">
      <dsp:nvSpPr>
        <dsp:cNvPr id="0" name=""/>
        <dsp:cNvSpPr/>
      </dsp:nvSpPr>
      <dsp:spPr>
        <a:xfrm>
          <a:off x="1479837" y="2874602"/>
          <a:ext cx="1820800" cy="1575206"/>
        </a:xfrm>
        <a:prstGeom prst="hexagon">
          <a:avLst>
            <a:gd name="adj" fmla="val 28570"/>
            <a:gd name="vf" fmla="val 115470"/>
          </a:avLst>
        </a:prstGeom>
        <a:solidFill>
          <a:srgbClr val="5EC5C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21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נקודת מפגש לכלל השחקנים </a:t>
          </a:r>
          <a:endParaRPr lang="en-IL" sz="2100" kern="1200" dirty="0"/>
        </a:p>
      </dsp:txBody>
      <dsp:txXfrm>
        <a:off x="1781582" y="3135647"/>
        <a:ext cx="1217310" cy="1053116"/>
      </dsp:txXfrm>
    </dsp:sp>
    <dsp:sp modelId="{97E7745F-D724-4811-9A78-F7EE941338D7}">
      <dsp:nvSpPr>
        <dsp:cNvPr id="0" name=""/>
        <dsp:cNvSpPr/>
      </dsp:nvSpPr>
      <dsp:spPr>
        <a:xfrm>
          <a:off x="1479837" y="966690"/>
          <a:ext cx="1820800" cy="1575206"/>
        </a:xfrm>
        <a:prstGeom prst="hexagon">
          <a:avLst>
            <a:gd name="adj" fmla="val 28570"/>
            <a:gd name="vf" fmla="val 115470"/>
          </a:avLst>
        </a:prstGeom>
        <a:solidFill>
          <a:srgbClr val="34304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e-IL" sz="21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מדידה ובקרה</a:t>
          </a:r>
          <a:endParaRPr lang="en-IL" sz="2100" kern="1200" dirty="0"/>
        </a:p>
      </dsp:txBody>
      <dsp:txXfrm>
        <a:off x="1781582" y="1227735"/>
        <a:ext cx="1217310" cy="1053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C6EF8-0095-4DF6-878A-35CFE7D5A372}" type="datetimeFigureOut">
              <a:rPr lang="en-IL" smtClean="0"/>
              <a:t>10/12/2024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31071-0531-4F61-A5A0-E22B891BF69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6221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862D9-E127-438C-862D-D0EBBF3999FF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7752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5379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1022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4247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913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4899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0637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3167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5910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4221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0683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1769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1052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0921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31071-0531-4F61-A5A0-E22B891BF691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12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80B959-BC60-4854-A69A-50BBA8DB8D52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DFC797-BCA0-4F6A-92BD-42AF0FAA3E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336" y="260961"/>
            <a:ext cx="9384235" cy="59226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3200" b="1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C0200EDE-BFB7-4872-9956-3A7E1C596FAD}"/>
              </a:ext>
            </a:extLst>
          </p:cNvPr>
          <p:cNvSpPr/>
          <p:nvPr userDrawn="1"/>
        </p:nvSpPr>
        <p:spPr>
          <a:xfrm>
            <a:off x="449897" y="0"/>
            <a:ext cx="1097280" cy="73152"/>
          </a:xfrm>
          <a:prstGeom prst="roundRect">
            <a:avLst>
              <a:gd name="adj" fmla="val 50000"/>
            </a:avLst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0953BFF1-8892-4520-AFB4-B491E394F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15975" r="73705" b="11445"/>
          <a:stretch/>
        </p:blipFill>
        <p:spPr>
          <a:xfrm>
            <a:off x="340336" y="5391250"/>
            <a:ext cx="1096578" cy="1088762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786521AC-AF58-4D0C-AC2D-55292CB60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705" y="260961"/>
            <a:ext cx="1915295" cy="59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8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80B959-BC60-4854-A69A-50BBA8DB8D52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DFC797-BCA0-4F6A-92BD-42AF0FAA3E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336" y="260961"/>
            <a:ext cx="9384235" cy="59226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3200" b="1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C0200EDE-BFB7-4872-9956-3A7E1C596FAD}"/>
              </a:ext>
            </a:extLst>
          </p:cNvPr>
          <p:cNvSpPr/>
          <p:nvPr userDrawn="1"/>
        </p:nvSpPr>
        <p:spPr>
          <a:xfrm>
            <a:off x="449897" y="0"/>
            <a:ext cx="1097280" cy="73152"/>
          </a:xfrm>
          <a:prstGeom prst="roundRect">
            <a:avLst>
              <a:gd name="adj" fmla="val 50000"/>
            </a:avLst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0953BFF1-8892-4520-AFB4-B491E394F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15975" r="73705" b="11445"/>
          <a:stretch/>
        </p:blipFill>
        <p:spPr>
          <a:xfrm>
            <a:off x="340336" y="5391250"/>
            <a:ext cx="1096578" cy="1088762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786521AC-AF58-4D0C-AC2D-55292CB60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705" y="260961"/>
            <a:ext cx="1915295" cy="592268"/>
          </a:xfrm>
          <a:prstGeom prst="rect">
            <a:avLst/>
          </a:prstGeom>
        </p:spPr>
      </p:pic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AD2ADE69-D898-450A-8ECA-18508E0546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335" y="901055"/>
            <a:ext cx="9384235" cy="488493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5EC5C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132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80B959-BC60-4854-A69A-50BBA8DB8D52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0953BFF1-8892-4520-AFB4-B491E394F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15975" r="73705" b="11445"/>
          <a:stretch/>
        </p:blipFill>
        <p:spPr>
          <a:xfrm>
            <a:off x="340336" y="5391250"/>
            <a:ext cx="1096578" cy="1088762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786521AC-AF58-4D0C-AC2D-55292CB60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705" y="260961"/>
            <a:ext cx="1915295" cy="59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29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80B959-BC60-4854-A69A-50BBA8DB8D52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0953BFF1-8892-4520-AFB4-B491E394F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15975" r="73705" b="11445"/>
          <a:stretch/>
        </p:blipFill>
        <p:spPr>
          <a:xfrm>
            <a:off x="340336" y="5391250"/>
            <a:ext cx="1096578" cy="1088762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786521AC-AF58-4D0C-AC2D-55292CB60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353" y="260961"/>
            <a:ext cx="1915295" cy="59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639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80B959-BC60-4854-A69A-50BBA8DB8D52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0953BFF1-8892-4520-AFB4-B491E394F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15975" r="73705" b="11445"/>
          <a:stretch/>
        </p:blipFill>
        <p:spPr>
          <a:xfrm>
            <a:off x="340336" y="5391250"/>
            <a:ext cx="1096578" cy="108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2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CABB-B829-4717-8259-3691AAB2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03AB8-BBA1-4E20-9B41-B1F6CC65B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A6B4E-7B72-4C0B-BE6F-10302230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94077-C089-439D-B25E-9052DF70C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0C303-FBE0-41B2-9F9F-B472A28A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A1F3D-3E6F-47B0-81BA-D562F605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699CE-0543-4B3B-9692-A2E0A47BE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15189-86FE-43F5-9930-CD9C9865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2C996-4A0E-49FC-8D32-98E8E76F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2C3F5-93B3-494F-AEE1-B619F929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15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D27E-A990-4CC6-BE19-3788020D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2E50C-049E-4304-B0D9-0EC52A1E8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307E3-A111-4E08-A140-0AC508764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005CE-E812-4451-BC6F-874AA438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C81B8-4E85-48A3-AFEA-0F13F3E8A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95DEF-F243-48EC-A2F1-07335794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6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8623-DAD3-4B28-94C3-B5717948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1DBA1-5389-4762-AC6B-51BC19EEA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DB2F7-F333-44C2-A4FC-6F9AE4F32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962F9-6148-46D3-8FA3-E9A295802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603F3A-69E4-4C22-A61D-8F04452AA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19D73-8448-4A1B-829E-E93D8860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E3F0A-C1E7-4974-A7EB-20B87436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A3CF6A-5650-4014-8EE5-CF3DD5603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55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0990-1334-4F60-B72B-8D00D2F9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71EDC-E1B0-4C34-AFEE-BF7A2072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90CDA-765A-4B6C-8131-29541CEB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96CC6-E4DB-4D23-9B53-3D15CEA8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9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916228-99F2-4450-8C5E-3D7A825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A31B8-1ED9-45A1-B09A-AFC4CBDD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8522E-763F-4274-A630-AADE9AB2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33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FF4A-CBD5-4258-88DB-1A8901A0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24D4-0D33-484A-967D-BC03BCBB3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6BC18-6667-419E-81A8-702C35802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E5257-EE3D-4F18-BF5E-53B0D7846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BBD6E-9D83-40B7-BAD9-1AEA8679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773BE-C32B-47E2-A4BD-3AA9EAB4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36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FA1B-FFF3-4157-96A4-9BE1EB52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34191-FA71-4350-9B1A-DA67009F2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60742-54A9-4157-9491-EA37E79AA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A50B9-49A2-496D-8AA0-4CAA4D7D9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73E8A-861A-4819-9318-574A6665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58811-3723-44CE-8133-0E96ADF0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3F1A-F553-4DEB-BADF-F555DD435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B273E-BF91-40E3-9214-204C39384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44F92-DD73-4046-8638-19D58E11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CD866-25D3-4B92-A360-B75F4364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3FB8E-9FFB-4756-8733-5BC3D6ED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01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536145-5865-4BD9-AAC9-D264F608F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C7612-8DAB-45F6-B1D4-EB6E84E41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92D2-5573-48ED-A1EB-A672AEB1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15050-A7DD-47C2-B1DF-A9731FA6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366F6-1559-45B3-9F0F-3830F580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24F26-F91E-4CD4-8EFC-47B0CE72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7C22F-4ED3-41D6-9885-61CBC8636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03DC3-A876-46F9-B2BA-A1B3D7ACD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C2B72-BACE-470A-B5F8-1D524726E84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3DB8-FAA5-4328-8CBB-3931BE3E2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CBCEE-EBF8-4FA7-89A0-5DB9E4A52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CAE9B-7B9C-4C6E-937F-2EF824663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4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0" r:id="rId3"/>
    <p:sldLayoutId id="2147483661" r:id="rId4"/>
    <p:sldLayoutId id="2147483663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8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eg"/><Relationship Id="rId3" Type="http://schemas.openxmlformats.org/officeDocument/2006/relationships/image" Target="../media/image23.jpeg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old men playing cards&#10;&#10;Description automatically generated">
            <a:extLst>
              <a:ext uri="{FF2B5EF4-FFF2-40B4-BE49-F238E27FC236}">
                <a16:creationId xmlns:a16="http://schemas.microsoft.com/office/drawing/2014/main" id="{C210D50C-0B97-3E33-B7FC-0EC00E15D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35000"/>
            <a:ext cx="12191999" cy="8127999"/>
          </a:xfrm>
          <a:prstGeom prst="rect">
            <a:avLst/>
          </a:prstGeom>
        </p:spPr>
      </p:pic>
      <p:sp>
        <p:nvSpPr>
          <p:cNvPr id="12" name="Freeform 7">
            <a:extLst>
              <a:ext uri="{FF2B5EF4-FFF2-40B4-BE49-F238E27FC236}">
                <a16:creationId xmlns:a16="http://schemas.microsoft.com/office/drawing/2014/main" id="{44950107-9233-4BB0-B660-A8C7570FADAD}"/>
              </a:ext>
            </a:extLst>
          </p:cNvPr>
          <p:cNvSpPr/>
          <p:nvPr/>
        </p:nvSpPr>
        <p:spPr>
          <a:xfrm flipH="1">
            <a:off x="-1" y="-636335"/>
            <a:ext cx="12273280" cy="5941135"/>
          </a:xfrm>
          <a:prstGeom prst="rect">
            <a:avLst/>
          </a:prstGeom>
          <a:gradFill flip="none" rotWithShape="1">
            <a:gsLst>
              <a:gs pos="18000">
                <a:srgbClr val="5EC5C5">
                  <a:alpha val="20000"/>
                </a:srgbClr>
              </a:gs>
              <a:gs pos="100000">
                <a:srgbClr val="1F1C30">
                  <a:alpha val="7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74B0A-0AEC-40BB-BC61-4A7BF8916078}"/>
              </a:ext>
            </a:extLst>
          </p:cNvPr>
          <p:cNvSpPr/>
          <p:nvPr/>
        </p:nvSpPr>
        <p:spPr>
          <a:xfrm>
            <a:off x="0" y="5022001"/>
            <a:ext cx="12192000" cy="2217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4E81CE-5BB6-4B39-998F-DA850CF7B7B7}"/>
              </a:ext>
            </a:extLst>
          </p:cNvPr>
          <p:cNvSpPr/>
          <p:nvPr/>
        </p:nvSpPr>
        <p:spPr>
          <a:xfrm>
            <a:off x="0" y="5024334"/>
            <a:ext cx="12192000" cy="94725"/>
          </a:xfrm>
          <a:prstGeom prst="rect">
            <a:avLst/>
          </a:prstGeom>
          <a:gradFill>
            <a:gsLst>
              <a:gs pos="0">
                <a:srgbClr val="E75258"/>
              </a:gs>
              <a:gs pos="100000">
                <a:srgbClr val="1F1C3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25FA9458-2382-4666-968B-4B918827437E}"/>
              </a:ext>
            </a:extLst>
          </p:cNvPr>
          <p:cNvSpPr txBox="1">
            <a:spLocks/>
          </p:cNvSpPr>
          <p:nvPr/>
        </p:nvSpPr>
        <p:spPr>
          <a:xfrm>
            <a:off x="5509742" y="5227699"/>
            <a:ext cx="6380600" cy="132754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 algn="r">
              <a:lnSpc>
                <a:spcPct val="150000"/>
              </a:lnSpc>
            </a:pPr>
            <a:r>
              <a:rPr lang="he-IL" sz="3200" b="1" dirty="0">
                <a:solidFill>
                  <a:srgbClr val="E75258"/>
                </a:solidFill>
                <a:latin typeface="+mj-lt"/>
              </a:rPr>
              <a:t>פורום </a:t>
            </a:r>
            <a:r>
              <a:rPr lang="he-IL" sz="3200" b="1" dirty="0" err="1">
                <a:solidFill>
                  <a:srgbClr val="E75258"/>
                </a:solidFill>
                <a:latin typeface="+mj-lt"/>
              </a:rPr>
              <a:t>בר"ק</a:t>
            </a:r>
            <a:r>
              <a:rPr lang="he-IL" sz="3200" b="1" dirty="0">
                <a:solidFill>
                  <a:srgbClr val="E75258"/>
                </a:solidFill>
                <a:latin typeface="+mj-lt"/>
              </a:rPr>
              <a:t> – הצגת הפלטפורמה</a:t>
            </a:r>
            <a:endParaRPr lang="en-US" sz="3200" b="1" dirty="0">
              <a:latin typeface="+mj-lt"/>
            </a:endParaRPr>
          </a:p>
          <a:p>
            <a:pPr algn="r">
              <a:lnSpc>
                <a:spcPct val="150000"/>
              </a:lnSpc>
            </a:pPr>
            <a:r>
              <a:rPr lang="he-IL" sz="2400" b="1" dirty="0">
                <a:latin typeface="+mj-lt"/>
              </a:rPr>
              <a:t>אוקטובר 2024</a:t>
            </a:r>
            <a:endParaRPr lang="en-US" sz="2400" b="1" dirty="0">
              <a:latin typeface="+mj-lt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FA06B60F-40FB-4664-81AB-277F413496C0}"/>
              </a:ext>
            </a:extLst>
          </p:cNvPr>
          <p:cNvSpPr txBox="1">
            <a:spLocks/>
          </p:cNvSpPr>
          <p:nvPr/>
        </p:nvSpPr>
        <p:spPr>
          <a:xfrm>
            <a:off x="744647" y="5205026"/>
            <a:ext cx="2229236" cy="144808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>
              <a:lnSpc>
                <a:spcPct val="170000"/>
              </a:lnSpc>
            </a:pPr>
            <a:r>
              <a:rPr lang="en-US" dirty="0">
                <a:latin typeface="+mj-lt"/>
              </a:rPr>
              <a:t>moran@atvisor.ai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+mj-lt"/>
              </a:rPr>
              <a:t>+972-54-6684546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+mj-lt"/>
              </a:rPr>
              <a:t>www.atvisor.ai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C1BF22-81E0-40DF-8B1E-28960577A3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909" y="5426441"/>
            <a:ext cx="228600" cy="228600"/>
          </a:xfrm>
          <a:prstGeom prst="rect">
            <a:avLst/>
          </a:prstGeom>
        </p:spPr>
      </p:pic>
      <p:pic>
        <p:nvPicPr>
          <p:cNvPr id="17" name="Picture 16" descr="Shape&#10;&#10;Description automatically generated with low confidence">
            <a:extLst>
              <a:ext uri="{FF2B5EF4-FFF2-40B4-BE49-F238E27FC236}">
                <a16:creationId xmlns:a16="http://schemas.microsoft.com/office/drawing/2014/main" id="{F354FBB2-395C-457E-B0C3-9FE1983D5A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97" y="5891472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09A70D-87F4-4EA2-A2FE-308DFAA513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897" y="6347088"/>
            <a:ext cx="228600" cy="2286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165862" y="38273"/>
            <a:ext cx="2348045" cy="752140"/>
            <a:chOff x="592582" y="1004857"/>
            <a:chExt cx="2348045" cy="752140"/>
          </a:xfrm>
        </p:grpSpPr>
        <p:pic>
          <p:nvPicPr>
            <p:cNvPr id="21" name="Picture 20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46C58C4A-53CC-4511-BB3D-12E4E87840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4"/>
            <a:stretch/>
          </p:blipFill>
          <p:spPr>
            <a:xfrm>
              <a:off x="592582" y="1004857"/>
              <a:ext cx="2348045" cy="752140"/>
            </a:xfrm>
            <a:prstGeom prst="rect">
              <a:avLst/>
            </a:prstGeom>
          </p:spPr>
        </p:pic>
        <p:pic>
          <p:nvPicPr>
            <p:cNvPr id="23" name="Picture 22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46C58C4A-53CC-4511-BB3D-12E4E87840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43"/>
            <a:stretch/>
          </p:blipFill>
          <p:spPr>
            <a:xfrm>
              <a:off x="1200150" y="1004857"/>
              <a:ext cx="1740477" cy="7521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2581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A0AC90-E030-8D39-8C78-3978B46D66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55" b="17959"/>
          <a:stretch/>
        </p:blipFill>
        <p:spPr>
          <a:xfrm>
            <a:off x="25153" y="0"/>
            <a:ext cx="12194259" cy="68580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73AE1D-3756-E8F6-CD90-4CB8D47702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0167"/>
          <a:stretch/>
        </p:blipFill>
        <p:spPr>
          <a:xfrm>
            <a:off x="7078936" y="321180"/>
            <a:ext cx="4678927" cy="599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A19499-FD58-53AA-6848-221EC8EFC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01" y="154110"/>
            <a:ext cx="4096322" cy="933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AE876F-E1C5-D3B6-857B-7160F6CC1F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4950"/>
          <a:stretch/>
        </p:blipFill>
        <p:spPr>
          <a:xfrm>
            <a:off x="297809" y="5905855"/>
            <a:ext cx="4678927" cy="5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67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val 48">
            <a:extLst>
              <a:ext uri="{FF2B5EF4-FFF2-40B4-BE49-F238E27FC236}">
                <a16:creationId xmlns:a16="http://schemas.microsoft.com/office/drawing/2014/main" id="{4DF9634B-67A4-49F0-9969-8E79441EAEEF}"/>
              </a:ext>
            </a:extLst>
          </p:cNvPr>
          <p:cNvSpPr/>
          <p:nvPr/>
        </p:nvSpPr>
        <p:spPr>
          <a:xfrm>
            <a:off x="749334" y="1585046"/>
            <a:ext cx="4922776" cy="4860395"/>
          </a:xfrm>
          <a:prstGeom prst="ellipse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7" b="1537"/>
          <a:stretch/>
        </p:blipFill>
        <p:spPr>
          <a:xfrm>
            <a:off x="779266" y="1336973"/>
            <a:ext cx="5001768" cy="5001768"/>
          </a:xfrm>
          <a:custGeom>
            <a:avLst/>
            <a:gdLst>
              <a:gd name="connsiteX0" fmla="*/ 2500884 w 5001768"/>
              <a:gd name="connsiteY0" fmla="*/ 0 h 5001768"/>
              <a:gd name="connsiteX1" fmla="*/ 5001768 w 5001768"/>
              <a:gd name="connsiteY1" fmla="*/ 2500884 h 5001768"/>
              <a:gd name="connsiteX2" fmla="*/ 2500884 w 5001768"/>
              <a:gd name="connsiteY2" fmla="*/ 5001768 h 5001768"/>
              <a:gd name="connsiteX3" fmla="*/ 0 w 5001768"/>
              <a:gd name="connsiteY3" fmla="*/ 2500884 h 5001768"/>
              <a:gd name="connsiteX4" fmla="*/ 2500884 w 5001768"/>
              <a:gd name="connsiteY4" fmla="*/ 0 h 500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1768" h="5001768">
                <a:moveTo>
                  <a:pt x="2500884" y="0"/>
                </a:moveTo>
                <a:cubicBezTo>
                  <a:pt x="3882084" y="0"/>
                  <a:pt x="5001768" y="1119684"/>
                  <a:pt x="5001768" y="2500884"/>
                </a:cubicBezTo>
                <a:cubicBezTo>
                  <a:pt x="5001768" y="3882084"/>
                  <a:pt x="3882084" y="5001768"/>
                  <a:pt x="2500884" y="5001768"/>
                </a:cubicBezTo>
                <a:cubicBezTo>
                  <a:pt x="1119684" y="5001768"/>
                  <a:pt x="0" y="3882084"/>
                  <a:pt x="0" y="2500884"/>
                </a:cubicBezTo>
                <a:cubicBezTo>
                  <a:pt x="0" y="1119684"/>
                  <a:pt x="1119684" y="0"/>
                  <a:pt x="2500884" y="0"/>
                </a:cubicBezTo>
                <a:close/>
              </a:path>
            </a:pathLst>
          </a:custGeom>
        </p:spPr>
      </p:pic>
      <p:sp>
        <p:nvSpPr>
          <p:cNvPr id="43" name="Freeform 42"/>
          <p:cNvSpPr/>
          <p:nvPr/>
        </p:nvSpPr>
        <p:spPr>
          <a:xfrm>
            <a:off x="763667" y="1378315"/>
            <a:ext cx="5001768" cy="5001768"/>
          </a:xfrm>
          <a:custGeom>
            <a:avLst/>
            <a:gdLst>
              <a:gd name="connsiteX0" fmla="*/ 2500884 w 5001768"/>
              <a:gd name="connsiteY0" fmla="*/ 0 h 5001768"/>
              <a:gd name="connsiteX1" fmla="*/ 5001768 w 5001768"/>
              <a:gd name="connsiteY1" fmla="*/ 2500884 h 5001768"/>
              <a:gd name="connsiteX2" fmla="*/ 2500884 w 5001768"/>
              <a:gd name="connsiteY2" fmla="*/ 5001768 h 5001768"/>
              <a:gd name="connsiteX3" fmla="*/ 0 w 5001768"/>
              <a:gd name="connsiteY3" fmla="*/ 2500884 h 5001768"/>
              <a:gd name="connsiteX4" fmla="*/ 2500884 w 5001768"/>
              <a:gd name="connsiteY4" fmla="*/ 0 h 500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1768" h="5001768">
                <a:moveTo>
                  <a:pt x="2500884" y="0"/>
                </a:moveTo>
                <a:cubicBezTo>
                  <a:pt x="3882084" y="0"/>
                  <a:pt x="5001768" y="1119684"/>
                  <a:pt x="5001768" y="2500884"/>
                </a:cubicBezTo>
                <a:cubicBezTo>
                  <a:pt x="5001768" y="3882084"/>
                  <a:pt x="3882084" y="5001768"/>
                  <a:pt x="2500884" y="5001768"/>
                </a:cubicBezTo>
                <a:cubicBezTo>
                  <a:pt x="1119684" y="5001768"/>
                  <a:pt x="0" y="3882084"/>
                  <a:pt x="0" y="2500884"/>
                </a:cubicBezTo>
                <a:cubicBezTo>
                  <a:pt x="0" y="1119684"/>
                  <a:pt x="1119684" y="0"/>
                  <a:pt x="2500884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656E02-33BB-4D0D-BBF8-30DECEE31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8916" y="213490"/>
            <a:ext cx="9384235" cy="592268"/>
          </a:xfrm>
        </p:spPr>
        <p:txBody>
          <a:bodyPr/>
          <a:lstStyle/>
          <a:p>
            <a:pPr algn="ctr"/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פלטפורמת אטוייזור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D715D4-8FF3-45BB-AB14-A03823BBCEF0}"/>
              </a:ext>
            </a:extLst>
          </p:cNvPr>
          <p:cNvSpPr/>
          <p:nvPr/>
        </p:nvSpPr>
        <p:spPr>
          <a:xfrm>
            <a:off x="6542202" y="777569"/>
            <a:ext cx="5309462" cy="5302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1800"/>
              </a:spcAft>
              <a:buClr>
                <a:srgbClr val="012470"/>
              </a:buClr>
            </a:pPr>
            <a:endParaRPr lang="he-I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lnSpc>
                <a:spcPct val="150000"/>
              </a:lnSpc>
              <a:spcAft>
                <a:spcPts val="1800"/>
              </a:spcAft>
              <a:buClr>
                <a:srgbClr val="012470"/>
              </a:buClr>
              <a:buFont typeface="Arial" panose="020B0604020202020204" pitchFamily="34" charset="0"/>
              <a:buChar char="•"/>
            </a:pPr>
            <a:r>
              <a:rPr 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מערכת מבוססת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 המאפשרת </a:t>
            </a:r>
            <a:r>
              <a:rPr lang="he-IL" sz="2200" b="1" dirty="0">
                <a:latin typeface="Calibri" panose="020F0502020204030204" pitchFamily="34" charset="0"/>
                <a:cs typeface="Calibri" panose="020F0502020204030204" pitchFamily="34" charset="0"/>
              </a:rPr>
              <a:t>חיבור "חכם" בין האדם </a:t>
            </a:r>
            <a:r>
              <a:rPr 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– צרכיו, העדפותיו ויעדיו האישיים לבין </a:t>
            </a:r>
            <a:r>
              <a:rPr lang="he-IL" sz="2200" b="1" dirty="0">
                <a:latin typeface="Calibri" panose="020F0502020204030204" pitchFamily="34" charset="0"/>
                <a:cs typeface="Calibri" panose="020F0502020204030204" pitchFamily="34" charset="0"/>
              </a:rPr>
              <a:t>המוצרים והשירותים </a:t>
            </a:r>
            <a:r>
              <a:rPr 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המתאימים לו.</a:t>
            </a:r>
          </a:p>
          <a:p>
            <a:pPr marL="342900" indent="-342900" algn="r" rtl="1">
              <a:lnSpc>
                <a:spcPct val="150000"/>
              </a:lnSpc>
              <a:spcAft>
                <a:spcPts val="1800"/>
              </a:spcAft>
              <a:buClr>
                <a:srgbClr val="012470"/>
              </a:buClr>
              <a:buFont typeface="Arial" panose="020B0604020202020204" pitchFamily="34" charset="0"/>
              <a:buChar char="•"/>
            </a:pPr>
            <a:r>
              <a:rPr 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מבוססת על עקרונות של </a:t>
            </a:r>
            <a:r>
              <a:rPr lang="he-IL" sz="2200" b="1" dirty="0">
                <a:latin typeface="Calibri" panose="020F0502020204030204" pitchFamily="34" charset="0"/>
                <a:cs typeface="Calibri" panose="020F0502020204030204" pitchFamily="34" charset="0"/>
              </a:rPr>
              <a:t>שירות מוכוון אדם </a:t>
            </a:r>
            <a:r>
              <a:rPr 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ומודל ביו-פסיכו-סוציאלי </a:t>
            </a:r>
            <a:r>
              <a:rPr lang="he-IL" sz="22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ICF</a:t>
            </a:r>
            <a:r>
              <a:rPr lang="he-IL" sz="22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indent="-342900" algn="r" rtl="1">
              <a:lnSpc>
                <a:spcPct val="150000"/>
              </a:lnSpc>
              <a:spcAft>
                <a:spcPts val="1800"/>
              </a:spcAft>
              <a:buClr>
                <a:srgbClr val="012470"/>
              </a:buClr>
              <a:buFont typeface="Arial" panose="020B0604020202020204" pitchFamily="34" charset="0"/>
              <a:buChar char="•"/>
            </a:pPr>
            <a:r>
              <a:rPr 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כוללת אפשרויות ייעוץ </a:t>
            </a:r>
            <a:r>
              <a:rPr lang="he-IL" sz="2200" b="1" dirty="0">
                <a:latin typeface="Calibri" panose="020F0502020204030204" pitchFamily="34" charset="0"/>
                <a:cs typeface="Calibri" panose="020F0502020204030204" pitchFamily="34" charset="0"/>
              </a:rPr>
              <a:t>והתאמה, רכישה וסבסוד</a:t>
            </a:r>
            <a:r>
              <a:rPr 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 וכן תמיכה ושירות לקוחות אנושי, כדי לאפשר שירות מיטבי –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One Stop Shop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C43C2CF-3BBA-4BD2-B778-7B766FE6B284}"/>
              </a:ext>
            </a:extLst>
          </p:cNvPr>
          <p:cNvSpPr/>
          <p:nvPr/>
        </p:nvSpPr>
        <p:spPr>
          <a:xfrm>
            <a:off x="1506033" y="1498111"/>
            <a:ext cx="188894" cy="188894"/>
          </a:xfrm>
          <a:prstGeom prst="ellipse">
            <a:avLst/>
          </a:prstGeom>
          <a:solidFill>
            <a:srgbClr val="E75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7FF5F2-EDA0-44FE-8B13-29FBF5CA90DA}"/>
              </a:ext>
            </a:extLst>
          </p:cNvPr>
          <p:cNvGrpSpPr>
            <a:grpSpLocks noChangeAspect="1"/>
          </p:cNvGrpSpPr>
          <p:nvPr/>
        </p:nvGrpSpPr>
        <p:grpSpPr>
          <a:xfrm>
            <a:off x="362704" y="2685900"/>
            <a:ext cx="742062" cy="728464"/>
            <a:chOff x="364098" y="2811949"/>
            <a:chExt cx="731520" cy="718114"/>
          </a:xfrm>
        </p:grpSpPr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AC1556C1-DD66-4199-8A14-65941D7DB5BD}"/>
                </a:ext>
              </a:extLst>
            </p:cNvPr>
            <p:cNvSpPr/>
            <p:nvPr/>
          </p:nvSpPr>
          <p:spPr>
            <a:xfrm>
              <a:off x="364098" y="2829877"/>
              <a:ext cx="700186" cy="700186"/>
            </a:xfrm>
            <a:prstGeom prst="flowChartConnector">
              <a:avLst/>
            </a:prstGeom>
            <a:noFill/>
            <a:ln w="12700">
              <a:solidFill>
                <a:srgbClr val="1F1C3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AC05A67A-B3A8-4FC7-B044-C0B8DEADEA24}"/>
                </a:ext>
              </a:extLst>
            </p:cNvPr>
            <p:cNvSpPr/>
            <p:nvPr/>
          </p:nvSpPr>
          <p:spPr>
            <a:xfrm>
              <a:off x="451083" y="2916862"/>
              <a:ext cx="526216" cy="526216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99000" sy="99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Block Arc 41">
              <a:extLst>
                <a:ext uri="{FF2B5EF4-FFF2-40B4-BE49-F238E27FC236}">
                  <a16:creationId xmlns:a16="http://schemas.microsoft.com/office/drawing/2014/main" id="{D321044E-D368-4830-87E6-7740B9DF04D0}"/>
                </a:ext>
              </a:extLst>
            </p:cNvPr>
            <p:cNvSpPr/>
            <p:nvPr/>
          </p:nvSpPr>
          <p:spPr>
            <a:xfrm>
              <a:off x="393997" y="2811949"/>
              <a:ext cx="701621" cy="701621"/>
            </a:xfrm>
            <a:prstGeom prst="blockArc">
              <a:avLst>
                <a:gd name="adj1" fmla="val 17211657"/>
                <a:gd name="adj2" fmla="val 98077"/>
                <a:gd name="adj3" fmla="val 8163"/>
              </a:avLst>
            </a:prstGeom>
            <a:solidFill>
              <a:srgbClr val="1F1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66" y="2908349"/>
            <a:ext cx="301752" cy="301752"/>
          </a:xfrm>
          <a:prstGeom prst="rect">
            <a:avLst/>
          </a:prstGeom>
        </p:spPr>
      </p:pic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278518FE-8D6A-4994-8D77-3FF2713F62D2}"/>
              </a:ext>
            </a:extLst>
          </p:cNvPr>
          <p:cNvSpPr/>
          <p:nvPr/>
        </p:nvSpPr>
        <p:spPr>
          <a:xfrm>
            <a:off x="1286177" y="1292364"/>
            <a:ext cx="710276" cy="710278"/>
          </a:xfrm>
          <a:prstGeom prst="flowChartConnector">
            <a:avLst/>
          </a:prstGeom>
          <a:noFill/>
          <a:ln w="12700">
            <a:solidFill>
              <a:srgbClr val="5EC5C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E1EA04D8-86A4-4297-9CC8-10ECCD30AC71}"/>
              </a:ext>
            </a:extLst>
          </p:cNvPr>
          <p:cNvSpPr/>
          <p:nvPr/>
        </p:nvSpPr>
        <p:spPr>
          <a:xfrm>
            <a:off x="1374416" y="1380603"/>
            <a:ext cx="533799" cy="533800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outerShdw blurRad="635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Block Arc 35">
            <a:extLst>
              <a:ext uri="{FF2B5EF4-FFF2-40B4-BE49-F238E27FC236}">
                <a16:creationId xmlns:a16="http://schemas.microsoft.com/office/drawing/2014/main" id="{DA7F856F-2912-4C20-B0BE-7CC7B1C01EEC}"/>
              </a:ext>
            </a:extLst>
          </p:cNvPr>
          <p:cNvSpPr/>
          <p:nvPr/>
        </p:nvSpPr>
        <p:spPr>
          <a:xfrm>
            <a:off x="1316507" y="1274178"/>
            <a:ext cx="711732" cy="711733"/>
          </a:xfrm>
          <a:prstGeom prst="blockArc">
            <a:avLst>
              <a:gd name="adj1" fmla="val 17211657"/>
              <a:gd name="adj2" fmla="val 98077"/>
              <a:gd name="adj3" fmla="val 8163"/>
            </a:avLst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083" y="1481585"/>
            <a:ext cx="301752" cy="301752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89BA0B02-98B4-446C-BBDD-78896E3018BA}"/>
              </a:ext>
            </a:extLst>
          </p:cNvPr>
          <p:cNvSpPr/>
          <p:nvPr/>
        </p:nvSpPr>
        <p:spPr>
          <a:xfrm>
            <a:off x="656009" y="1822725"/>
            <a:ext cx="944471" cy="944471"/>
          </a:xfrm>
          <a:prstGeom prst="ellipse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Picture 24" descr="Text&#10;&#10;Description automatically generated with medium confidence">
            <a:extLst>
              <a:ext uri="{FF2B5EF4-FFF2-40B4-BE49-F238E27FC236}">
                <a16:creationId xmlns:a16="http://schemas.microsoft.com/office/drawing/2014/main" id="{786521AC-AF58-4D0C-AC2D-55292CB6040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3" t="18263" r="74820" b="13638"/>
          <a:stretch/>
        </p:blipFill>
        <p:spPr>
          <a:xfrm>
            <a:off x="903133" y="2070424"/>
            <a:ext cx="450221" cy="457200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8911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9" b="27099"/>
          <a:stretch>
            <a:fillRect/>
          </a:stretch>
        </p:blipFill>
        <p:spPr>
          <a:xfrm>
            <a:off x="0" y="0"/>
            <a:ext cx="12192000" cy="3592708"/>
          </a:xfrm>
          <a:custGeom>
            <a:avLst/>
            <a:gdLst>
              <a:gd name="connsiteX0" fmla="*/ 0 w 12192000"/>
              <a:gd name="connsiteY0" fmla="*/ 0 h 3592708"/>
              <a:gd name="connsiteX1" fmla="*/ 12192000 w 12192000"/>
              <a:gd name="connsiteY1" fmla="*/ 0 h 3592708"/>
              <a:gd name="connsiteX2" fmla="*/ 12192000 w 12192000"/>
              <a:gd name="connsiteY2" fmla="*/ 3592708 h 3592708"/>
              <a:gd name="connsiteX3" fmla="*/ 12031162 w 12192000"/>
              <a:gd name="connsiteY3" fmla="*/ 3565503 h 3592708"/>
              <a:gd name="connsiteX4" fmla="*/ 6096001 w 12192000"/>
              <a:gd name="connsiteY4" fmla="*/ 3321959 h 3592708"/>
              <a:gd name="connsiteX5" fmla="*/ 160840 w 12192000"/>
              <a:gd name="connsiteY5" fmla="*/ 3565503 h 3592708"/>
              <a:gd name="connsiteX6" fmla="*/ 0 w 12192000"/>
              <a:gd name="connsiteY6" fmla="*/ 3592708 h 359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592708">
                <a:moveTo>
                  <a:pt x="0" y="0"/>
                </a:moveTo>
                <a:lnTo>
                  <a:pt x="12192000" y="0"/>
                </a:lnTo>
                <a:lnTo>
                  <a:pt x="12192000" y="3592708"/>
                </a:lnTo>
                <a:lnTo>
                  <a:pt x="12031162" y="3565503"/>
                </a:lnTo>
                <a:cubicBezTo>
                  <a:pt x="11053311" y="3422383"/>
                  <a:pt x="8764098" y="3321959"/>
                  <a:pt x="6096001" y="3321959"/>
                </a:cubicBezTo>
                <a:cubicBezTo>
                  <a:pt x="3427905" y="3321959"/>
                  <a:pt x="1138691" y="3422383"/>
                  <a:pt x="160840" y="3565503"/>
                </a:cubicBezTo>
                <a:lnTo>
                  <a:pt x="0" y="3592708"/>
                </a:ln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773E972-0CD9-471D-B81F-042C0654673E}"/>
              </a:ext>
            </a:extLst>
          </p:cNvPr>
          <p:cNvSpPr/>
          <p:nvPr/>
        </p:nvSpPr>
        <p:spPr>
          <a:xfrm rot="16200000">
            <a:off x="5458443" y="-2851618"/>
            <a:ext cx="1275114" cy="12192000"/>
          </a:xfrm>
          <a:custGeom>
            <a:avLst/>
            <a:gdLst>
              <a:gd name="connsiteX0" fmla="*/ 734672 w 734672"/>
              <a:gd name="connsiteY0" fmla="*/ 6096001 h 12192000"/>
              <a:gd name="connsiteX1" fmla="*/ 510320 w 734672"/>
              <a:gd name="connsiteY1" fmla="*/ 12031162 h 12192000"/>
              <a:gd name="connsiteX2" fmla="*/ 485259 w 734672"/>
              <a:gd name="connsiteY2" fmla="*/ 12192000 h 12192000"/>
              <a:gd name="connsiteX3" fmla="*/ 0 w 734672"/>
              <a:gd name="connsiteY3" fmla="*/ 12192000 h 12192000"/>
              <a:gd name="connsiteX4" fmla="*/ 0 w 734672"/>
              <a:gd name="connsiteY4" fmla="*/ 0 h 12192000"/>
              <a:gd name="connsiteX5" fmla="*/ 485259 w 734672"/>
              <a:gd name="connsiteY5" fmla="*/ 0 h 12192000"/>
              <a:gd name="connsiteX6" fmla="*/ 510320 w 734672"/>
              <a:gd name="connsiteY6" fmla="*/ 160840 h 12192000"/>
              <a:gd name="connsiteX7" fmla="*/ 734672 w 734672"/>
              <a:gd name="connsiteY7" fmla="*/ 6096001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672" h="12192000">
                <a:moveTo>
                  <a:pt x="734672" y="6096001"/>
                </a:moveTo>
                <a:cubicBezTo>
                  <a:pt x="734672" y="8764097"/>
                  <a:pt x="642162" y="11053311"/>
                  <a:pt x="510320" y="12031162"/>
                </a:cubicBezTo>
                <a:lnTo>
                  <a:pt x="48525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485259" y="0"/>
                </a:lnTo>
                <a:lnTo>
                  <a:pt x="510320" y="160840"/>
                </a:lnTo>
                <a:cubicBezTo>
                  <a:pt x="642162" y="1138691"/>
                  <a:pt x="734672" y="3427905"/>
                  <a:pt x="734672" y="60960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0064B6-3696-438E-87B0-A13914A9AD16}"/>
              </a:ext>
            </a:extLst>
          </p:cNvPr>
          <p:cNvSpPr/>
          <p:nvPr/>
        </p:nvSpPr>
        <p:spPr>
          <a:xfrm>
            <a:off x="876694" y="3064024"/>
            <a:ext cx="10292294" cy="3327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he-IL" sz="2000" b="1" spc="-5" dirty="0">
                <a:latin typeface="Calibri" panose="020F0502020204030204" pitchFamily="34" charset="0"/>
                <a:cs typeface="Calibri" panose="020F0502020204030204" pitchFamily="34" charset="0"/>
              </a:rPr>
              <a:t>פתיחת השוק והגברת שימוש </a:t>
            </a:r>
            <a:r>
              <a:rPr lang="he-IL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– היצע רחב היקף של מוצרים ושירותים אשר עוצבו ייחודית עבור אזרחים ותיקים ואנשים עם מוגבלויות לצד מוצרים ושירותים מהשוק הפתוח. מעבר ממטופל ללקוח.</a:t>
            </a:r>
          </a:p>
          <a:p>
            <a:pPr marL="342900" indent="-342900" algn="r" rtl="1">
              <a:lnSpc>
                <a:spcPct val="150000"/>
              </a:lnSpc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he-IL" sz="2000" b="1" spc="-5" dirty="0">
                <a:latin typeface="Calibri" panose="020F0502020204030204" pitchFamily="34" charset="0"/>
                <a:cs typeface="Calibri" panose="020F0502020204030204" pitchFamily="34" charset="0"/>
              </a:rPr>
              <a:t>התאמה אישית </a:t>
            </a:r>
            <a:r>
              <a:rPr lang="he-IL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– קבלת החלטה על בחירת מוצר או שירות בהתבסס על פרופיל אישי ויעדי חיים, חוויות משתמשים, ביקורות (</a:t>
            </a:r>
            <a:r>
              <a:rPr lang="en-US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Lived experiences</a:t>
            </a:r>
            <a:r>
              <a:rPr lang="he-IL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) בשילוב עם שירות תמיכה וייעוץ מקצועי אנושי.</a:t>
            </a:r>
          </a:p>
          <a:p>
            <a:pPr marL="342900" indent="-342900" algn="r" rtl="1">
              <a:lnSpc>
                <a:spcPct val="150000"/>
              </a:lnSpc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he-IL" sz="2000" b="1" spc="-5" dirty="0">
                <a:latin typeface="Calibri" panose="020F0502020204030204" pitchFamily="34" charset="0"/>
                <a:cs typeface="Calibri" panose="020F0502020204030204" pitchFamily="34" charset="0"/>
              </a:rPr>
              <a:t>דיגיטציה</a:t>
            </a:r>
            <a:r>
              <a:rPr lang="he-IL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 – שירות דיגיטלי ואנושי משולב לייעול תהליך הנגשת המידע, ההתאמה והרכש. מאפשר שילוב של מנגנוני סבסוד ותקצוב אישי "ארנקים דיגיטליים". הכל במקום אחד.</a:t>
            </a:r>
            <a:endParaRPr lang="en-US" sz="2000" spc="-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2890C3-212A-4CD1-BAC7-14F9D19EEFC9}"/>
              </a:ext>
            </a:extLst>
          </p:cNvPr>
          <p:cNvGrpSpPr/>
          <p:nvPr/>
        </p:nvGrpSpPr>
        <p:grpSpPr>
          <a:xfrm>
            <a:off x="199067" y="97162"/>
            <a:ext cx="1915297" cy="592268"/>
            <a:chOff x="5138351" y="260961"/>
            <a:chExt cx="1915297" cy="592268"/>
          </a:xfrm>
        </p:grpSpPr>
        <p:pic>
          <p:nvPicPr>
            <p:cNvPr id="26" name="Picture 25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992C9F51-9197-4865-8ABE-60E04157FE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312"/>
            <a:stretch/>
          </p:blipFill>
          <p:spPr>
            <a:xfrm>
              <a:off x="5680616" y="260961"/>
              <a:ext cx="1373032" cy="592268"/>
            </a:xfrm>
            <a:prstGeom prst="rect">
              <a:avLst/>
            </a:prstGeom>
          </p:spPr>
        </p:pic>
        <p:pic>
          <p:nvPicPr>
            <p:cNvPr id="27" name="Picture 26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81FC9187-2B22-454D-AD17-6426893071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688"/>
            <a:stretch/>
          </p:blipFill>
          <p:spPr>
            <a:xfrm>
              <a:off x="5138351" y="260961"/>
              <a:ext cx="542265" cy="592268"/>
            </a:xfrm>
            <a:prstGeom prst="rect">
              <a:avLst/>
            </a:prstGeom>
          </p:spPr>
        </p:pic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5DCA733B-9C47-4447-A6DC-AFEC49B53836}"/>
              </a:ext>
            </a:extLst>
          </p:cNvPr>
          <p:cNvSpPr/>
          <p:nvPr/>
        </p:nvSpPr>
        <p:spPr>
          <a:xfrm>
            <a:off x="4134763" y="595526"/>
            <a:ext cx="3425372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he-IL" sz="4000" b="1" dirty="0">
                <a:latin typeface="Calibri" panose="020F0502020204030204" pitchFamily="34" charset="0"/>
                <a:cs typeface="Calibri" panose="020F0502020204030204" pitchFamily="34" charset="0"/>
              </a:rPr>
              <a:t>עקרונות מנחים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B0296B-43FE-42D8-BD17-1C6AF3D7396C}"/>
              </a:ext>
            </a:extLst>
          </p:cNvPr>
          <p:cNvGrpSpPr/>
          <p:nvPr/>
        </p:nvGrpSpPr>
        <p:grpSpPr>
          <a:xfrm>
            <a:off x="5662188" y="2183163"/>
            <a:ext cx="830768" cy="830768"/>
            <a:chOff x="5680615" y="3375472"/>
            <a:chExt cx="830768" cy="83076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10C3C57-F28A-446E-BBC5-EEAAA1A3CE78}"/>
                </a:ext>
              </a:extLst>
            </p:cNvPr>
            <p:cNvSpPr/>
            <p:nvPr/>
          </p:nvSpPr>
          <p:spPr>
            <a:xfrm>
              <a:off x="5680615" y="3375472"/>
              <a:ext cx="830768" cy="830768"/>
            </a:xfrm>
            <a:prstGeom prst="ellipse">
              <a:avLst/>
            </a:prstGeom>
            <a:solidFill>
              <a:srgbClr val="5EC5C5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7" cstate="hq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5876" y="353017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010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30" r="6916"/>
          <a:stretch>
            <a:fillRect/>
          </a:stretch>
        </p:blipFill>
        <p:spPr>
          <a:xfrm>
            <a:off x="8473987" y="0"/>
            <a:ext cx="3718013" cy="6858000"/>
          </a:xfrm>
          <a:custGeom>
            <a:avLst/>
            <a:gdLst>
              <a:gd name="connsiteX0" fmla="*/ 0 w 3718013"/>
              <a:gd name="connsiteY0" fmla="*/ 0 h 6858000"/>
              <a:gd name="connsiteX1" fmla="*/ 3718013 w 3718013"/>
              <a:gd name="connsiteY1" fmla="*/ 0 h 6858000"/>
              <a:gd name="connsiteX2" fmla="*/ 3718013 w 3718013"/>
              <a:gd name="connsiteY2" fmla="*/ 6858000 h 6858000"/>
              <a:gd name="connsiteX3" fmla="*/ 0 w 371801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8013" h="6858000">
                <a:moveTo>
                  <a:pt x="0" y="0"/>
                </a:moveTo>
                <a:lnTo>
                  <a:pt x="3718013" y="0"/>
                </a:lnTo>
                <a:lnTo>
                  <a:pt x="37180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F82CA97-14FF-4E58-B0EF-503972342F6F}"/>
              </a:ext>
            </a:extLst>
          </p:cNvPr>
          <p:cNvSpPr/>
          <p:nvPr/>
        </p:nvSpPr>
        <p:spPr>
          <a:xfrm>
            <a:off x="8473987" y="0"/>
            <a:ext cx="3718013" cy="6858000"/>
          </a:xfrm>
          <a:prstGeom prst="rect">
            <a:avLst/>
          </a:prstGeom>
          <a:gradFill flip="none" rotWithShape="1">
            <a:gsLst>
              <a:gs pos="5000">
                <a:schemeClr val="bg1"/>
              </a:gs>
              <a:gs pos="100000">
                <a:schemeClr val="bg1">
                  <a:alpha val="88000"/>
                </a:schemeClr>
              </a:gs>
              <a:gs pos="50000">
                <a:schemeClr val="bg1">
                  <a:alpha val="9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656E02-33BB-4D0D-BBF8-30DECEE31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12180"/>
            <a:ext cx="12192000" cy="592268"/>
          </a:xfrm>
        </p:spPr>
        <p:txBody>
          <a:bodyPr/>
          <a:lstStyle/>
          <a:p>
            <a:pPr algn="ctr"/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איך זה עובד?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3E1583-2BC4-4140-8DEC-BEBBEEFAB526}"/>
              </a:ext>
            </a:extLst>
          </p:cNvPr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Text&#10;&#10;Description automatically generated with medium confidence">
            <a:extLst>
              <a:ext uri="{FF2B5EF4-FFF2-40B4-BE49-F238E27FC236}">
                <a16:creationId xmlns:a16="http://schemas.microsoft.com/office/drawing/2014/main" id="{926FDA40-8BB1-45A3-B834-FBE844FE59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705" y="260961"/>
            <a:ext cx="1915295" cy="59226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B07773C-4B31-4231-A7C1-9910F7A17EA3}"/>
              </a:ext>
            </a:extLst>
          </p:cNvPr>
          <p:cNvGrpSpPr/>
          <p:nvPr/>
        </p:nvGrpSpPr>
        <p:grpSpPr>
          <a:xfrm>
            <a:off x="192355" y="1927365"/>
            <a:ext cx="3498891" cy="3498891"/>
            <a:chOff x="420957" y="1944465"/>
            <a:chExt cx="3498891" cy="349889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30DAACB-BAD1-4321-AF25-E0DBD8D678C8}"/>
                </a:ext>
              </a:extLst>
            </p:cNvPr>
            <p:cNvGrpSpPr/>
            <p:nvPr/>
          </p:nvGrpSpPr>
          <p:grpSpPr>
            <a:xfrm>
              <a:off x="420957" y="1944465"/>
              <a:ext cx="3498891" cy="3498891"/>
              <a:chOff x="420957" y="1944465"/>
              <a:chExt cx="3498891" cy="3498891"/>
            </a:xfrm>
          </p:grpSpPr>
          <p:sp>
            <p:nvSpPr>
              <p:cNvPr id="7" name="Rounded Rectangle 2">
                <a:extLst>
                  <a:ext uri="{FF2B5EF4-FFF2-40B4-BE49-F238E27FC236}">
                    <a16:creationId xmlns:a16="http://schemas.microsoft.com/office/drawing/2014/main" id="{F4674285-406B-4E3F-84D3-1CB6AFB2D74D}"/>
                  </a:ext>
                </a:extLst>
              </p:cNvPr>
              <p:cNvSpPr/>
              <p:nvPr/>
            </p:nvSpPr>
            <p:spPr>
              <a:xfrm>
                <a:off x="2176594" y="1944465"/>
                <a:ext cx="113211" cy="349889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4787E382-3CCF-486E-852A-3F5144DC7083}"/>
                  </a:ext>
                </a:extLst>
              </p:cNvPr>
              <p:cNvSpPr/>
              <p:nvPr/>
            </p:nvSpPr>
            <p:spPr>
              <a:xfrm>
                <a:off x="420957" y="1944465"/>
                <a:ext cx="3498891" cy="3498891"/>
              </a:xfrm>
              <a:prstGeom prst="arc">
                <a:avLst>
                  <a:gd name="adj1" fmla="val 16327491"/>
                  <a:gd name="adj2" fmla="val 5239750"/>
                </a:avLst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5" name="Rounded Rectangle 3">
              <a:extLst>
                <a:ext uri="{FF2B5EF4-FFF2-40B4-BE49-F238E27FC236}">
                  <a16:creationId xmlns:a16="http://schemas.microsoft.com/office/drawing/2014/main" id="{FEA8F177-C5BF-4895-AC25-28555BF5FA09}"/>
                </a:ext>
              </a:extLst>
            </p:cNvPr>
            <p:cNvSpPr/>
            <p:nvPr/>
          </p:nvSpPr>
          <p:spPr>
            <a:xfrm>
              <a:off x="2237531" y="5035044"/>
              <a:ext cx="108904" cy="39104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D2C54C6A-9F66-440A-9268-50BB7E0C86EA}"/>
                </a:ext>
              </a:extLst>
            </p:cNvPr>
            <p:cNvSpPr/>
            <p:nvPr/>
          </p:nvSpPr>
          <p:spPr>
            <a:xfrm>
              <a:off x="2259312" y="1963515"/>
              <a:ext cx="108904" cy="39104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8F5A3C-96BA-499A-9FD3-31EC76AF3C6B}"/>
              </a:ext>
            </a:extLst>
          </p:cNvPr>
          <p:cNvGrpSpPr/>
          <p:nvPr/>
        </p:nvGrpSpPr>
        <p:grpSpPr>
          <a:xfrm>
            <a:off x="465706" y="2200716"/>
            <a:ext cx="2952189" cy="2952189"/>
            <a:chOff x="694308" y="2217816"/>
            <a:chExt cx="2952189" cy="295218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7468125-158C-440E-9FAB-E0BC765FC31F}"/>
                </a:ext>
              </a:extLst>
            </p:cNvPr>
            <p:cNvSpPr/>
            <p:nvPr/>
          </p:nvSpPr>
          <p:spPr>
            <a:xfrm>
              <a:off x="694308" y="2217816"/>
              <a:ext cx="2952189" cy="2952189"/>
            </a:xfrm>
            <a:prstGeom prst="ellipse">
              <a:avLst/>
            </a:prstGeom>
            <a:gradFill flip="none" rotWithShape="1">
              <a:gsLst>
                <a:gs pos="50000">
                  <a:srgbClr val="1F1C30"/>
                </a:gs>
                <a:gs pos="0">
                  <a:srgbClr val="5EC5C5"/>
                </a:gs>
                <a:gs pos="96000">
                  <a:srgbClr val="E75258"/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05C4E53-F76E-416E-A8A0-412A14B5754F}"/>
                </a:ext>
              </a:extLst>
            </p:cNvPr>
            <p:cNvSpPr/>
            <p:nvPr/>
          </p:nvSpPr>
          <p:spPr>
            <a:xfrm>
              <a:off x="912988" y="2436496"/>
              <a:ext cx="2514828" cy="25148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219EC81-48A9-4DA4-A0EA-F0EB4C928EEA}"/>
                </a:ext>
              </a:extLst>
            </p:cNvPr>
            <p:cNvSpPr/>
            <p:nvPr/>
          </p:nvSpPr>
          <p:spPr>
            <a:xfrm>
              <a:off x="989527" y="2513035"/>
              <a:ext cx="2361751" cy="236175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2B2A234-9036-49F0-979C-0D87B9E6852A}"/>
              </a:ext>
            </a:extLst>
          </p:cNvPr>
          <p:cNvSpPr/>
          <p:nvPr/>
        </p:nvSpPr>
        <p:spPr>
          <a:xfrm>
            <a:off x="5560607" y="2943804"/>
            <a:ext cx="5289645" cy="142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המערכת מאתרת את המוצרים והשירותים המתאימים ביותר לאדם בהתאם לפרופיל ובונה מרקטפלייס אישי הכולל אפשרויות מיון וסינון וכן חיבור לזכאות וסבסוד.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1A9CF6-EEFD-467C-A48C-BD4A8A890DD1}"/>
              </a:ext>
            </a:extLst>
          </p:cNvPr>
          <p:cNvSpPr/>
          <p:nvPr/>
        </p:nvSpPr>
        <p:spPr>
          <a:xfrm>
            <a:off x="5074122" y="1055149"/>
            <a:ext cx="5069736" cy="1808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האדם נרשם לפלטפורמה ומזין את הצרכים האישיים שלו והתחומים בהם הוא מעוניין. בחיבור למערכות מדינה הקמת הפרופיל אוטומטית. </a:t>
            </a:r>
            <a:endParaRPr lang="he-IL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ct val="150000"/>
              </a:lnSpc>
            </a:pP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D9F155-9CBD-4516-A996-3B9C415DF2CF}"/>
              </a:ext>
            </a:extLst>
          </p:cNvPr>
          <p:cNvSpPr/>
          <p:nvPr/>
        </p:nvSpPr>
        <p:spPr>
          <a:xfrm>
            <a:off x="5257822" y="4954168"/>
            <a:ext cx="5077823" cy="142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האדם רוכש את המוצר או השירות באופן פרטי או תוך שימוש בארנק דיגיטלי אם ישנה זכאות (מסלולי רכישה מגוונים). כלל הגורמים מופעלים בהתאם. 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A953EC-A73A-4837-8B7D-E81CF94EB5E6}"/>
              </a:ext>
            </a:extLst>
          </p:cNvPr>
          <p:cNvGrpSpPr/>
          <p:nvPr/>
        </p:nvGrpSpPr>
        <p:grpSpPr>
          <a:xfrm>
            <a:off x="2841338" y="1265802"/>
            <a:ext cx="2273669" cy="1032790"/>
            <a:chOff x="3069940" y="1282902"/>
            <a:chExt cx="2273669" cy="103279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B6B2DBA-5400-4265-B8EB-B62053DB8091}"/>
                </a:ext>
              </a:extLst>
            </p:cNvPr>
            <p:cNvSpPr/>
            <p:nvPr/>
          </p:nvSpPr>
          <p:spPr>
            <a:xfrm>
              <a:off x="3069940" y="2151681"/>
              <a:ext cx="164010" cy="16401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EC5C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AB04A4C-869D-4228-845D-3A27FE867D14}"/>
                </a:ext>
              </a:extLst>
            </p:cNvPr>
            <p:cNvSpPr/>
            <p:nvPr/>
          </p:nvSpPr>
          <p:spPr>
            <a:xfrm>
              <a:off x="3107771" y="2189223"/>
              <a:ext cx="87472" cy="87472"/>
            </a:xfrm>
            <a:prstGeom prst="ellipse">
              <a:avLst/>
            </a:prstGeom>
            <a:solidFill>
              <a:srgbClr val="5EC5C5"/>
            </a:solidFill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F5A4F5-1E2E-428F-8322-03857EF48F7F}"/>
                </a:ext>
              </a:extLst>
            </p:cNvPr>
            <p:cNvCxnSpPr>
              <a:stCxn id="19" idx="7"/>
            </p:cNvCxnSpPr>
            <p:nvPr/>
          </p:nvCxnSpPr>
          <p:spPr>
            <a:xfrm flipV="1">
              <a:off x="3209932" y="1694821"/>
              <a:ext cx="448349" cy="480879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E98190C-5D6B-46D1-93A6-18A118B82C7E}"/>
                </a:ext>
              </a:extLst>
            </p:cNvPr>
            <p:cNvCxnSpPr/>
            <p:nvPr/>
          </p:nvCxnSpPr>
          <p:spPr>
            <a:xfrm flipV="1">
              <a:off x="3650767" y="1693196"/>
              <a:ext cx="9239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CF88A06-0490-4483-9F28-6DFB9663FD37}"/>
                </a:ext>
              </a:extLst>
            </p:cNvPr>
            <p:cNvSpPr/>
            <p:nvPr/>
          </p:nvSpPr>
          <p:spPr>
            <a:xfrm>
              <a:off x="4578227" y="1282902"/>
              <a:ext cx="765382" cy="765382"/>
            </a:xfrm>
            <a:prstGeom prst="ellipse">
              <a:avLst/>
            </a:prstGeom>
            <a:solidFill>
              <a:srgbClr val="5EC5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0F4524A-AF09-4B67-A9BF-778386C23D32}"/>
                </a:ext>
              </a:extLst>
            </p:cNvPr>
            <p:cNvSpPr/>
            <p:nvPr/>
          </p:nvSpPr>
          <p:spPr>
            <a:xfrm>
              <a:off x="4655274" y="1360566"/>
              <a:ext cx="617578" cy="6175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680636D-5D70-43C6-8E73-F8FCE864939D}"/>
              </a:ext>
            </a:extLst>
          </p:cNvPr>
          <p:cNvGrpSpPr/>
          <p:nvPr/>
        </p:nvGrpSpPr>
        <p:grpSpPr>
          <a:xfrm>
            <a:off x="2841338" y="5048007"/>
            <a:ext cx="2266155" cy="1005493"/>
            <a:chOff x="3069940" y="5065107"/>
            <a:chExt cx="2266155" cy="100549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62E0763-7423-49E1-871F-443DC25B065A}"/>
                </a:ext>
              </a:extLst>
            </p:cNvPr>
            <p:cNvSpPr/>
            <p:nvPr/>
          </p:nvSpPr>
          <p:spPr>
            <a:xfrm>
              <a:off x="3069940" y="5065107"/>
              <a:ext cx="164010" cy="16401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E752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9245149-B1F2-4463-A52E-D9AA2EDB7D50}"/>
                </a:ext>
              </a:extLst>
            </p:cNvPr>
            <p:cNvSpPr/>
            <p:nvPr/>
          </p:nvSpPr>
          <p:spPr>
            <a:xfrm>
              <a:off x="3107771" y="5102649"/>
              <a:ext cx="87472" cy="87472"/>
            </a:xfrm>
            <a:prstGeom prst="ellipse">
              <a:avLst/>
            </a:prstGeom>
            <a:solidFill>
              <a:srgbClr val="E75258"/>
            </a:solidFill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BBD3F3-022D-4156-89E3-923D898EBCB9}"/>
                </a:ext>
              </a:extLst>
            </p:cNvPr>
            <p:cNvSpPr/>
            <p:nvPr/>
          </p:nvSpPr>
          <p:spPr>
            <a:xfrm>
              <a:off x="4570713" y="5305218"/>
              <a:ext cx="765382" cy="765382"/>
            </a:xfrm>
            <a:prstGeom prst="ellipse">
              <a:avLst/>
            </a:prstGeom>
            <a:solidFill>
              <a:srgbClr val="E752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C146DE7-7973-425A-901D-CFD121E5B94D}"/>
                </a:ext>
              </a:extLst>
            </p:cNvPr>
            <p:cNvGrpSpPr/>
            <p:nvPr/>
          </p:nvGrpSpPr>
          <p:grpSpPr>
            <a:xfrm flipV="1">
              <a:off x="3195242" y="5209163"/>
              <a:ext cx="1368510" cy="480881"/>
              <a:chOff x="2443843" y="1927662"/>
              <a:chExt cx="1144472" cy="402153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E9996D6-3244-418B-AB60-4AC61D562F6E}"/>
                  </a:ext>
                </a:extLst>
              </p:cNvPr>
              <p:cNvCxnSpPr/>
              <p:nvPr/>
            </p:nvCxnSpPr>
            <p:spPr>
              <a:xfrm flipV="1">
                <a:off x="2443843" y="1927662"/>
                <a:ext cx="374949" cy="402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58B1AA3-60BE-4CEF-B10D-FA4CA5036B5E}"/>
                  </a:ext>
                </a:extLst>
              </p:cNvPr>
              <p:cNvCxnSpPr/>
              <p:nvPr/>
            </p:nvCxnSpPr>
            <p:spPr>
              <a:xfrm flipV="1">
                <a:off x="2815642" y="1927676"/>
                <a:ext cx="772673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70BE0A4-653D-456B-B7D2-A41478FEAD1E}"/>
                </a:ext>
              </a:extLst>
            </p:cNvPr>
            <p:cNvSpPr/>
            <p:nvPr/>
          </p:nvSpPr>
          <p:spPr>
            <a:xfrm>
              <a:off x="4642966" y="5377290"/>
              <a:ext cx="617578" cy="6175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35BB2A7-06D6-489E-95CD-C6F59CCBC95B}"/>
              </a:ext>
            </a:extLst>
          </p:cNvPr>
          <p:cNvGrpSpPr/>
          <p:nvPr/>
        </p:nvGrpSpPr>
        <p:grpSpPr>
          <a:xfrm>
            <a:off x="3608562" y="3276045"/>
            <a:ext cx="2037955" cy="765382"/>
            <a:chOff x="3837164" y="3293145"/>
            <a:chExt cx="2037955" cy="765382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E0BF039-4D39-4956-9656-2B4EF1C7BEC7}"/>
                </a:ext>
              </a:extLst>
            </p:cNvPr>
            <p:cNvSpPr/>
            <p:nvPr/>
          </p:nvSpPr>
          <p:spPr>
            <a:xfrm>
              <a:off x="5109737" y="3293145"/>
              <a:ext cx="765382" cy="765382"/>
            </a:xfrm>
            <a:prstGeom prst="ellipse">
              <a:avLst/>
            </a:prstGeom>
            <a:solidFill>
              <a:srgbClr val="1F1C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BFB5F3A-8CF7-444F-90A3-5A007508F59E}"/>
                </a:ext>
              </a:extLst>
            </p:cNvPr>
            <p:cNvCxnSpPr>
              <a:endCxn id="36" idx="2"/>
            </p:cNvCxnSpPr>
            <p:nvPr/>
          </p:nvCxnSpPr>
          <p:spPr>
            <a:xfrm>
              <a:off x="3929966" y="3675836"/>
              <a:ext cx="11797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4EC3FA5-18BE-45AB-AA4C-8A8DD78972B3}"/>
                </a:ext>
              </a:extLst>
            </p:cNvPr>
            <p:cNvSpPr/>
            <p:nvPr/>
          </p:nvSpPr>
          <p:spPr>
            <a:xfrm>
              <a:off x="3837164" y="3593831"/>
              <a:ext cx="164010" cy="16401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F1C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08D880C-1D1A-4ECF-B4A8-63918A7D658C}"/>
                </a:ext>
              </a:extLst>
            </p:cNvPr>
            <p:cNvSpPr/>
            <p:nvPr/>
          </p:nvSpPr>
          <p:spPr>
            <a:xfrm>
              <a:off x="3875433" y="3632100"/>
              <a:ext cx="87472" cy="87472"/>
            </a:xfrm>
            <a:prstGeom prst="ellipse">
              <a:avLst/>
            </a:prstGeom>
            <a:solidFill>
              <a:srgbClr val="1F1C30"/>
            </a:solidFill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758CF64-7F61-4E44-8A28-D8FE49E61826}"/>
                </a:ext>
              </a:extLst>
            </p:cNvPr>
            <p:cNvSpPr/>
            <p:nvPr/>
          </p:nvSpPr>
          <p:spPr>
            <a:xfrm>
              <a:off x="5183639" y="3367047"/>
              <a:ext cx="617578" cy="6175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765" y="1469375"/>
            <a:ext cx="365760" cy="36576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946" y="3507160"/>
            <a:ext cx="301752" cy="301752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73" y="5486781"/>
            <a:ext cx="365760" cy="36576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" r="27293"/>
          <a:stretch/>
        </p:blipFill>
        <p:spPr>
          <a:xfrm>
            <a:off x="732780" y="2469802"/>
            <a:ext cx="2416726" cy="241401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87858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7" b="38158"/>
          <a:stretch>
            <a:fillRect/>
          </a:stretch>
        </p:blipFill>
        <p:spPr>
          <a:xfrm>
            <a:off x="0" y="2821734"/>
            <a:ext cx="12188952" cy="4036265"/>
          </a:xfrm>
          <a:custGeom>
            <a:avLst/>
            <a:gdLst>
              <a:gd name="connsiteX0" fmla="*/ 0 w 12188952"/>
              <a:gd name="connsiteY0" fmla="*/ 0 h 4036265"/>
              <a:gd name="connsiteX1" fmla="*/ 12188952 w 12188952"/>
              <a:gd name="connsiteY1" fmla="*/ 0 h 4036265"/>
              <a:gd name="connsiteX2" fmla="*/ 12188952 w 12188952"/>
              <a:gd name="connsiteY2" fmla="*/ 4036265 h 4036265"/>
              <a:gd name="connsiteX3" fmla="*/ 0 w 12188952"/>
              <a:gd name="connsiteY3" fmla="*/ 4036265 h 403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4036265">
                <a:moveTo>
                  <a:pt x="0" y="0"/>
                </a:moveTo>
                <a:lnTo>
                  <a:pt x="12188952" y="0"/>
                </a:lnTo>
                <a:lnTo>
                  <a:pt x="12188952" y="4036265"/>
                </a:lnTo>
                <a:lnTo>
                  <a:pt x="0" y="4036265"/>
                </a:lnTo>
                <a:close/>
              </a:path>
            </a:pathLst>
          </a:cu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83734EE7-5933-4E5B-9198-B306A666949E}"/>
              </a:ext>
            </a:extLst>
          </p:cNvPr>
          <p:cNvSpPr/>
          <p:nvPr/>
        </p:nvSpPr>
        <p:spPr>
          <a:xfrm>
            <a:off x="0" y="2821734"/>
            <a:ext cx="12192000" cy="4036265"/>
          </a:xfrm>
          <a:prstGeom prst="rect">
            <a:avLst/>
          </a:prstGeom>
          <a:gradFill flip="none" rotWithShape="1">
            <a:gsLst>
              <a:gs pos="33000">
                <a:srgbClr val="FFFFFF">
                  <a:alpha val="97000"/>
                </a:srgbClr>
              </a:gs>
              <a:gs pos="0">
                <a:schemeClr val="bg1"/>
              </a:gs>
              <a:gs pos="99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656E02-33BB-4D0D-BBF8-30DECEE31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6207" y="246296"/>
            <a:ext cx="9384235" cy="592268"/>
          </a:xfrm>
        </p:spPr>
        <p:txBody>
          <a:bodyPr/>
          <a:lstStyle/>
          <a:p>
            <a:pPr algn="ctr" rtl="1"/>
            <a:r>
              <a:rPr lang="he-IL" dirty="0"/>
              <a:t>מנגנון אופרטיבי</a:t>
            </a:r>
            <a:endParaRPr lang="en-US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C0B448A9-1177-425E-AC05-B42EA92697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343701" y="843260"/>
            <a:ext cx="12188952" cy="48849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he-IL" sz="2800" dirty="0"/>
              <a:t>מעולם ידני לשירות אחוד דיגיטלי</a:t>
            </a:r>
            <a:endParaRPr lang="en-US" sz="28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EC9862-6117-4216-B54B-87F14E8441EC}"/>
              </a:ext>
            </a:extLst>
          </p:cNvPr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hevron 9">
            <a:extLst>
              <a:ext uri="{FF2B5EF4-FFF2-40B4-BE49-F238E27FC236}">
                <a16:creationId xmlns:a16="http://schemas.microsoft.com/office/drawing/2014/main" id="{EA68740E-FF98-4AD1-A738-476D0978655C}"/>
              </a:ext>
            </a:extLst>
          </p:cNvPr>
          <p:cNvSpPr/>
          <p:nvPr/>
        </p:nvSpPr>
        <p:spPr>
          <a:xfrm>
            <a:off x="1412289" y="3760834"/>
            <a:ext cx="1558343" cy="288000"/>
          </a:xfrm>
          <a:prstGeom prst="chevron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Chevron 10">
            <a:extLst>
              <a:ext uri="{FF2B5EF4-FFF2-40B4-BE49-F238E27FC236}">
                <a16:creationId xmlns:a16="http://schemas.microsoft.com/office/drawing/2014/main" id="{4BD8BAB7-9762-4812-A724-0D3235C7E495}"/>
              </a:ext>
            </a:extLst>
          </p:cNvPr>
          <p:cNvSpPr/>
          <p:nvPr/>
        </p:nvSpPr>
        <p:spPr>
          <a:xfrm>
            <a:off x="9145383" y="3760834"/>
            <a:ext cx="1558343" cy="288000"/>
          </a:xfrm>
          <a:prstGeom prst="chevron">
            <a:avLst/>
          </a:prstGeom>
          <a:solidFill>
            <a:srgbClr val="E75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Chevron 11">
            <a:extLst>
              <a:ext uri="{FF2B5EF4-FFF2-40B4-BE49-F238E27FC236}">
                <a16:creationId xmlns:a16="http://schemas.microsoft.com/office/drawing/2014/main" id="{64B58B64-1E3B-435D-97E4-F2DDC4E6D464}"/>
              </a:ext>
            </a:extLst>
          </p:cNvPr>
          <p:cNvSpPr/>
          <p:nvPr/>
        </p:nvSpPr>
        <p:spPr>
          <a:xfrm>
            <a:off x="5278836" y="3763894"/>
            <a:ext cx="1558343" cy="288000"/>
          </a:xfrm>
          <a:prstGeom prst="chevron">
            <a:avLst/>
          </a:prstGeom>
          <a:solidFill>
            <a:srgbClr val="1F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F8E571-FE71-42DB-96B6-6A81319A6D9E}"/>
              </a:ext>
            </a:extLst>
          </p:cNvPr>
          <p:cNvGrpSpPr/>
          <p:nvPr/>
        </p:nvGrpSpPr>
        <p:grpSpPr>
          <a:xfrm>
            <a:off x="6566130" y="2911185"/>
            <a:ext cx="2802115" cy="127075"/>
            <a:chOff x="2027356" y="1821373"/>
            <a:chExt cx="1587658" cy="72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03527ED-0EF8-49A4-BF6A-D10DFE0B3A12}"/>
                </a:ext>
              </a:extLst>
            </p:cNvPr>
            <p:cNvCxnSpPr/>
            <p:nvPr/>
          </p:nvCxnSpPr>
          <p:spPr>
            <a:xfrm flipV="1">
              <a:off x="2027356" y="1856837"/>
              <a:ext cx="158765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9BEB79-DF92-447C-B1DB-E2A90DB668D0}"/>
                </a:ext>
              </a:extLst>
            </p:cNvPr>
            <p:cNvSpPr/>
            <p:nvPr/>
          </p:nvSpPr>
          <p:spPr>
            <a:xfrm>
              <a:off x="2765714" y="1821373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21E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27045A-2176-4B1F-8BDB-2B0BD5E8C74E}"/>
              </a:ext>
            </a:extLst>
          </p:cNvPr>
          <p:cNvGrpSpPr/>
          <p:nvPr/>
        </p:nvGrpSpPr>
        <p:grpSpPr>
          <a:xfrm>
            <a:off x="2730749" y="2912131"/>
            <a:ext cx="2802115" cy="127075"/>
            <a:chOff x="2027356" y="1821373"/>
            <a:chExt cx="1587658" cy="72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D04E17C-7EE1-4A1A-987C-205133D1F50B}"/>
                </a:ext>
              </a:extLst>
            </p:cNvPr>
            <p:cNvCxnSpPr/>
            <p:nvPr/>
          </p:nvCxnSpPr>
          <p:spPr>
            <a:xfrm flipV="1">
              <a:off x="2027356" y="1856837"/>
              <a:ext cx="158765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BCABD5A-A3C5-4E9D-854A-BA6E7A107797}"/>
                </a:ext>
              </a:extLst>
            </p:cNvPr>
            <p:cNvSpPr/>
            <p:nvPr/>
          </p:nvSpPr>
          <p:spPr>
            <a:xfrm>
              <a:off x="2765714" y="1821373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21E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28320FF9-3FC3-4CF5-82FC-D97685A5AA11}"/>
              </a:ext>
            </a:extLst>
          </p:cNvPr>
          <p:cNvSpPr/>
          <p:nvPr/>
        </p:nvSpPr>
        <p:spPr>
          <a:xfrm>
            <a:off x="1632531" y="2380153"/>
            <a:ext cx="1143679" cy="114367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98DA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D6CADA8-8C65-4199-9511-EA3B263AEE0D}"/>
              </a:ext>
            </a:extLst>
          </p:cNvPr>
          <p:cNvSpPr/>
          <p:nvPr/>
        </p:nvSpPr>
        <p:spPr>
          <a:xfrm>
            <a:off x="1854913" y="2605354"/>
            <a:ext cx="698915" cy="6989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srgbClr val="0098DA"/>
              </a:solidFill>
            </a:endParaRPr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2011D4BA-71F1-4F63-83D1-A0A5110F3701}"/>
              </a:ext>
            </a:extLst>
          </p:cNvPr>
          <p:cNvSpPr/>
          <p:nvPr/>
        </p:nvSpPr>
        <p:spPr>
          <a:xfrm rot="5918100">
            <a:off x="1684805" y="2432427"/>
            <a:ext cx="1039131" cy="1039131"/>
          </a:xfrm>
          <a:prstGeom prst="blockArc">
            <a:avLst>
              <a:gd name="adj1" fmla="val 10800000"/>
              <a:gd name="adj2" fmla="val 16085249"/>
              <a:gd name="adj3" fmla="val 10115"/>
            </a:avLst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98DA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1DA50FF-B23C-4283-A649-DDA28022C676}"/>
              </a:ext>
            </a:extLst>
          </p:cNvPr>
          <p:cNvGrpSpPr/>
          <p:nvPr/>
        </p:nvGrpSpPr>
        <p:grpSpPr>
          <a:xfrm rot="4570371">
            <a:off x="5432072" y="2380153"/>
            <a:ext cx="1143679" cy="1143679"/>
            <a:chOff x="1405114" y="1524143"/>
            <a:chExt cx="648000" cy="648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418F007-EDA4-4DF2-B190-CD956B9B93D2}"/>
                </a:ext>
              </a:extLst>
            </p:cNvPr>
            <p:cNvSpPr/>
            <p:nvPr/>
          </p:nvSpPr>
          <p:spPr>
            <a:xfrm>
              <a:off x="1405114" y="1524143"/>
              <a:ext cx="648000" cy="648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ED3237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C12512B-3910-4E01-8D1C-2E381CB3DC37}"/>
                </a:ext>
              </a:extLst>
            </p:cNvPr>
            <p:cNvSpPr/>
            <p:nvPr/>
          </p:nvSpPr>
          <p:spPr>
            <a:xfrm>
              <a:off x="1531114" y="1651740"/>
              <a:ext cx="396000" cy="39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ED3237"/>
                </a:solidFill>
              </a:endParaRPr>
            </a:p>
          </p:txBody>
        </p:sp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DAD6AF0C-3154-4684-8B30-D171606ABC45}"/>
                </a:ext>
              </a:extLst>
            </p:cNvPr>
            <p:cNvSpPr/>
            <p:nvPr/>
          </p:nvSpPr>
          <p:spPr>
            <a:xfrm rot="5918100">
              <a:off x="1434732" y="1553761"/>
              <a:ext cx="588764" cy="588764"/>
            </a:xfrm>
            <a:prstGeom prst="blockArc">
              <a:avLst>
                <a:gd name="adj1" fmla="val 10800000"/>
                <a:gd name="adj2" fmla="val 16085249"/>
                <a:gd name="adj3" fmla="val 10115"/>
              </a:avLst>
            </a:prstGeom>
            <a:solidFill>
              <a:srgbClr val="1F1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ED3237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8D0A7E-E1C6-4154-9E74-BBDB8D999DE2}"/>
              </a:ext>
            </a:extLst>
          </p:cNvPr>
          <p:cNvGrpSpPr/>
          <p:nvPr/>
        </p:nvGrpSpPr>
        <p:grpSpPr>
          <a:xfrm rot="15214356">
            <a:off x="9339805" y="2380153"/>
            <a:ext cx="1143679" cy="1143679"/>
            <a:chOff x="1405114" y="1524143"/>
            <a:chExt cx="648000" cy="64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04B3B3-D1DB-4EC0-8B10-9B1F9AA29CED}"/>
                </a:ext>
              </a:extLst>
            </p:cNvPr>
            <p:cNvSpPr/>
            <p:nvPr/>
          </p:nvSpPr>
          <p:spPr>
            <a:xfrm>
              <a:off x="1405114" y="1524143"/>
              <a:ext cx="648000" cy="648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98DA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2546D32-FA91-4880-9FBC-5795B32F0C43}"/>
                </a:ext>
              </a:extLst>
            </p:cNvPr>
            <p:cNvSpPr/>
            <p:nvPr/>
          </p:nvSpPr>
          <p:spPr>
            <a:xfrm>
              <a:off x="1531114" y="1651740"/>
              <a:ext cx="396000" cy="39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98DA"/>
                </a:solidFill>
              </a:endParaRPr>
            </a:p>
          </p:txBody>
        </p:sp>
        <p:sp>
          <p:nvSpPr>
            <p:cNvPr id="25" name="Block Arc 24">
              <a:extLst>
                <a:ext uri="{FF2B5EF4-FFF2-40B4-BE49-F238E27FC236}">
                  <a16:creationId xmlns:a16="http://schemas.microsoft.com/office/drawing/2014/main" id="{04025CA7-F624-403A-A0DF-72B8C82122E8}"/>
                </a:ext>
              </a:extLst>
            </p:cNvPr>
            <p:cNvSpPr/>
            <p:nvPr/>
          </p:nvSpPr>
          <p:spPr>
            <a:xfrm rot="5918100">
              <a:off x="1434732" y="1553761"/>
              <a:ext cx="588764" cy="588764"/>
            </a:xfrm>
            <a:prstGeom prst="blockArc">
              <a:avLst>
                <a:gd name="adj1" fmla="val 10800000"/>
                <a:gd name="adj2" fmla="val 16085249"/>
                <a:gd name="adj3" fmla="val 10115"/>
              </a:avLst>
            </a:prstGeom>
            <a:solidFill>
              <a:srgbClr val="E75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98DA"/>
                </a:solidFill>
              </a:endParaRP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54901747-D395-4468-BA62-A064FB5BDDBF}"/>
              </a:ext>
            </a:extLst>
          </p:cNvPr>
          <p:cNvSpPr>
            <a:spLocks noChangeAspect="1"/>
          </p:cNvSpPr>
          <p:nvPr/>
        </p:nvSpPr>
        <p:spPr>
          <a:xfrm>
            <a:off x="2140623" y="3853997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1867CEA-D977-467F-9119-F84ADB05954A}"/>
              </a:ext>
            </a:extLst>
          </p:cNvPr>
          <p:cNvSpPr>
            <a:spLocks noChangeAspect="1"/>
          </p:cNvSpPr>
          <p:nvPr/>
        </p:nvSpPr>
        <p:spPr>
          <a:xfrm>
            <a:off x="6007170" y="3853575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1B523AE-7565-4483-ACFA-82CF29D7A309}"/>
              </a:ext>
            </a:extLst>
          </p:cNvPr>
          <p:cNvSpPr>
            <a:spLocks noChangeAspect="1"/>
          </p:cNvSpPr>
          <p:nvPr/>
        </p:nvSpPr>
        <p:spPr>
          <a:xfrm>
            <a:off x="9873717" y="3853575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BD9AF9-E4DA-4761-BB43-A25D32C66EC3}"/>
              </a:ext>
            </a:extLst>
          </p:cNvPr>
          <p:cNvGrpSpPr/>
          <p:nvPr/>
        </p:nvGrpSpPr>
        <p:grpSpPr>
          <a:xfrm>
            <a:off x="4528774" y="4269331"/>
            <a:ext cx="2944800" cy="1799784"/>
            <a:chOff x="468580" y="4347207"/>
            <a:chExt cx="2944800" cy="179978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C16C0FE-47B5-495B-A31B-4D440C0EC985}"/>
                </a:ext>
              </a:extLst>
            </p:cNvPr>
            <p:cNvSpPr/>
            <p:nvPr/>
          </p:nvSpPr>
          <p:spPr>
            <a:xfrm>
              <a:off x="659380" y="4347207"/>
              <a:ext cx="2558286" cy="4439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he-IL" b="1" dirty="0">
                  <a:solidFill>
                    <a:srgbClr val="1F1C30"/>
                  </a:solidFill>
                </a:rPr>
                <a:t>מרקטפלייס</a:t>
              </a:r>
              <a:endParaRPr lang="en-US" b="1" dirty="0">
                <a:solidFill>
                  <a:srgbClr val="1F1C3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AF1F27A-0D05-4A9B-92EA-B6D48D454922}"/>
                </a:ext>
              </a:extLst>
            </p:cNvPr>
            <p:cNvSpPr/>
            <p:nvPr/>
          </p:nvSpPr>
          <p:spPr>
            <a:xfrm>
              <a:off x="468580" y="4793607"/>
              <a:ext cx="2944800" cy="13533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he-IL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המערכת קולטת באופן מתמשך מוצרים ושירותים משוק ייעודי ושוק פתוח, תוך מיפוי אוטומטי של </a:t>
              </a:r>
              <a:r>
                <a:rPr lang="he-IL" sz="15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תעודות זהות תפקודיות </a:t>
              </a:r>
              <a:r>
                <a:rPr lang="he-IL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לכל פריט.</a:t>
              </a:r>
              <a:endPara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924A79-2343-4F64-ACC3-71C5B63ED779}"/>
              </a:ext>
            </a:extLst>
          </p:cNvPr>
          <p:cNvGrpSpPr/>
          <p:nvPr/>
        </p:nvGrpSpPr>
        <p:grpSpPr>
          <a:xfrm>
            <a:off x="729262" y="4260120"/>
            <a:ext cx="2945434" cy="1797352"/>
            <a:chOff x="723070" y="4347322"/>
            <a:chExt cx="2945434" cy="1797352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FB487A1-D9AB-4926-92DC-A2822E1E8BF3}"/>
                </a:ext>
              </a:extLst>
            </p:cNvPr>
            <p:cNvSpPr/>
            <p:nvPr/>
          </p:nvSpPr>
          <p:spPr>
            <a:xfrm>
              <a:off x="916644" y="4347322"/>
              <a:ext cx="2558286" cy="4439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he-IL" b="1" dirty="0">
                  <a:solidFill>
                    <a:srgbClr val="5EC5C5"/>
                  </a:solidFill>
                </a:rPr>
                <a:t>התאמה אישית</a:t>
              </a:r>
              <a:endParaRPr lang="en-US" b="1" dirty="0">
                <a:solidFill>
                  <a:srgbClr val="5EC5C5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D0078AA-6253-4E2D-BD0A-C1EBAAD10FEE}"/>
                </a:ext>
              </a:extLst>
            </p:cNvPr>
            <p:cNvSpPr/>
            <p:nvPr/>
          </p:nvSpPr>
          <p:spPr>
            <a:xfrm>
              <a:off x="723070" y="4791290"/>
              <a:ext cx="2945434" cy="13533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he-IL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בהתבסס על </a:t>
              </a:r>
              <a:r>
                <a:rPr lang="he-IL" sz="15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פרופיל אישי </a:t>
              </a:r>
              <a:r>
                <a:rPr lang="he-IL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של לקוח, המערכת מתאימה אוטומטית בין צורך ופעילות, לבין מוצרים ושירותים רלוונטיים. אפשרות למענה אנושי.</a:t>
              </a:r>
              <a:endPara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4CB83D3-E5F3-4C9C-B835-BB289F4857C2}"/>
              </a:ext>
            </a:extLst>
          </p:cNvPr>
          <p:cNvGrpSpPr/>
          <p:nvPr/>
        </p:nvGrpSpPr>
        <p:grpSpPr>
          <a:xfrm>
            <a:off x="8391211" y="4258800"/>
            <a:ext cx="2944800" cy="1810315"/>
            <a:chOff x="744941" y="4363961"/>
            <a:chExt cx="2944800" cy="181031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BB0C8B4-EF7C-4C24-BECC-8775BCD28298}"/>
                </a:ext>
              </a:extLst>
            </p:cNvPr>
            <p:cNvSpPr/>
            <p:nvPr/>
          </p:nvSpPr>
          <p:spPr>
            <a:xfrm>
              <a:off x="943330" y="4363961"/>
              <a:ext cx="2558286" cy="4440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he-IL" b="1" dirty="0">
                  <a:solidFill>
                    <a:srgbClr val="E75258"/>
                  </a:solidFill>
                </a:rPr>
                <a:t>ניהול וניתוח נתונים</a:t>
              </a:r>
              <a:endParaRPr lang="en-US" b="1" dirty="0">
                <a:solidFill>
                  <a:srgbClr val="E75258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7AB4D6B-3BFA-4244-BD2D-366026067544}"/>
                </a:ext>
              </a:extLst>
            </p:cNvPr>
            <p:cNvSpPr/>
            <p:nvPr/>
          </p:nvSpPr>
          <p:spPr>
            <a:xfrm>
              <a:off x="744941" y="4820676"/>
              <a:ext cx="2944800" cy="13536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he-IL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המערכת מפעילה </a:t>
              </a:r>
              <a:r>
                <a:rPr lang="he-IL" sz="15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לוחות ניהול </a:t>
              </a:r>
              <a:r>
                <a:rPr lang="he-IL" sz="1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מרובים המאפשרים תובנות מבוססות נתונים, קבלת החלטות, עיצוב מדיניות, וצריכת שירותים ומוצרים בסבסוד און ליין</a:t>
              </a:r>
              <a:endPara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0" name="Picture 49" descr="Shape&#10;&#10;Description automatically generated with low confidence">
            <a:extLst>
              <a:ext uri="{FF2B5EF4-FFF2-40B4-BE49-F238E27FC236}">
                <a16:creationId xmlns:a16="http://schemas.microsoft.com/office/drawing/2014/main" id="{01DBF1A3-6471-48E6-9901-06F0F816D6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775" y="2733351"/>
            <a:ext cx="480849" cy="48084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4C964F1-AD8C-49B7-AC37-D2D19F9F57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359" y="2790896"/>
            <a:ext cx="365760" cy="36576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8C96F6C-9046-4E2F-92F2-39602C3E45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1674" y="2769112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4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656E02-33BB-4D0D-BBF8-30DECEE31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2002" y="280078"/>
            <a:ext cx="9384235" cy="592268"/>
          </a:xfrm>
        </p:spPr>
        <p:txBody>
          <a:bodyPr>
            <a:noAutofit/>
          </a:bodyPr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הטכנולוגיה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 Placeholder 7">
            <a:extLst>
              <a:ext uri="{FF2B5EF4-FFF2-40B4-BE49-F238E27FC236}">
                <a16:creationId xmlns:a16="http://schemas.microsoft.com/office/drawing/2014/main" id="{58DB8EF6-4540-4CFF-B873-FF0C784CE024}"/>
              </a:ext>
            </a:extLst>
          </p:cNvPr>
          <p:cNvSpPr txBox="1">
            <a:spLocks/>
          </p:cNvSpPr>
          <p:nvPr/>
        </p:nvSpPr>
        <p:spPr>
          <a:xfrm>
            <a:off x="1168824" y="820307"/>
            <a:ext cx="9384235" cy="5922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he-IL" sz="2800" dirty="0">
                <a:solidFill>
                  <a:srgbClr val="5EC5C5"/>
                </a:solidFill>
              </a:rPr>
              <a:t>תעודות זהות "תפקודיות" לאדם, למוצרים ולשירותים</a:t>
            </a:r>
            <a:endParaRPr lang="en-US" sz="2800" dirty="0">
              <a:solidFill>
                <a:srgbClr val="5EC5C5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07264" y="6279694"/>
            <a:ext cx="3177472" cy="492443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600" b="1" dirty="0">
                <a:solidFill>
                  <a:srgbClr val="E75258"/>
                </a:solidFill>
              </a:rPr>
              <a:t>AI &amp; Full Automation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1284065" y="6525915"/>
            <a:ext cx="2811289" cy="0"/>
          </a:xfrm>
          <a:prstGeom prst="line">
            <a:avLst/>
          </a:prstGeom>
          <a:ln>
            <a:solidFill>
              <a:srgbClr val="E752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8096646" y="6525915"/>
            <a:ext cx="2811289" cy="0"/>
          </a:xfrm>
          <a:prstGeom prst="line">
            <a:avLst/>
          </a:prstGeom>
          <a:ln>
            <a:solidFill>
              <a:srgbClr val="E752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9">
            <a:extLst>
              <a:ext uri="{FF2B5EF4-FFF2-40B4-BE49-F238E27FC236}">
                <a16:creationId xmlns:a16="http://schemas.microsoft.com/office/drawing/2014/main" id="{C0200EDE-BFB7-4872-9956-3A7E1C596FAD}"/>
              </a:ext>
            </a:extLst>
          </p:cNvPr>
          <p:cNvSpPr/>
          <p:nvPr/>
        </p:nvSpPr>
        <p:spPr>
          <a:xfrm>
            <a:off x="449897" y="0"/>
            <a:ext cx="1097280" cy="73152"/>
          </a:xfrm>
          <a:prstGeom prst="roundRect">
            <a:avLst>
              <a:gd name="adj" fmla="val 50000"/>
            </a:avLst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>
            <a:off x="0" y="1921117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63CD43FB-6E98-42A8-A8D6-8FEB55A7F4A6}"/>
              </a:ext>
            </a:extLst>
          </p:cNvPr>
          <p:cNvSpPr/>
          <p:nvPr/>
        </p:nvSpPr>
        <p:spPr>
          <a:xfrm>
            <a:off x="1372501" y="2336805"/>
            <a:ext cx="13276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e-IL" sz="2000" b="1" dirty="0">
                <a:solidFill>
                  <a:srgbClr val="5EC5C5"/>
                </a:solidFill>
                <a:latin typeface="+mj-lt"/>
              </a:rPr>
              <a:t>איגום הידע</a:t>
            </a:r>
            <a:endParaRPr lang="en-US" sz="2000" b="1" dirty="0">
              <a:solidFill>
                <a:srgbClr val="5EC5C5"/>
              </a:solidFill>
              <a:latin typeface="+mj-lt"/>
            </a:endParaRPr>
          </a:p>
        </p:txBody>
      </p:sp>
      <p:sp>
        <p:nvSpPr>
          <p:cNvPr id="47" name="Rounded Rectangle 111">
            <a:extLst>
              <a:ext uri="{FF2B5EF4-FFF2-40B4-BE49-F238E27FC236}">
                <a16:creationId xmlns:a16="http://schemas.microsoft.com/office/drawing/2014/main" id="{A93A1425-0139-4DAD-BB0C-4D46FFD5C650}"/>
              </a:ext>
            </a:extLst>
          </p:cNvPr>
          <p:cNvSpPr/>
          <p:nvPr/>
        </p:nvSpPr>
        <p:spPr>
          <a:xfrm>
            <a:off x="516442" y="3116639"/>
            <a:ext cx="3052638" cy="2918401"/>
          </a:xfrm>
          <a:prstGeom prst="roundRect">
            <a:avLst>
              <a:gd name="adj" fmla="val 5098"/>
            </a:avLst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ounded Rectangle 103">
            <a:extLst>
              <a:ext uri="{FF2B5EF4-FFF2-40B4-BE49-F238E27FC236}">
                <a16:creationId xmlns:a16="http://schemas.microsoft.com/office/drawing/2014/main" id="{D010989A-7791-4558-ACCF-FAC60EE85AEA}"/>
              </a:ext>
            </a:extLst>
          </p:cNvPr>
          <p:cNvSpPr/>
          <p:nvPr/>
        </p:nvSpPr>
        <p:spPr>
          <a:xfrm>
            <a:off x="504404" y="3124235"/>
            <a:ext cx="3064675" cy="866449"/>
          </a:xfrm>
          <a:prstGeom prst="roundRect">
            <a:avLst/>
          </a:prstGeom>
          <a:noFill/>
          <a:ln w="28575"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C925102-7400-4572-AFB9-A52A8240F5D8}"/>
              </a:ext>
            </a:extLst>
          </p:cNvPr>
          <p:cNvSpPr/>
          <p:nvPr/>
        </p:nvSpPr>
        <p:spPr>
          <a:xfrm>
            <a:off x="436860" y="3723748"/>
            <a:ext cx="3168886" cy="333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22D3CC7-9B13-401A-A565-05A0A2885DAD}"/>
              </a:ext>
            </a:extLst>
          </p:cNvPr>
          <p:cNvSpPr>
            <a:spLocks noChangeAspect="1"/>
          </p:cNvSpPr>
          <p:nvPr/>
        </p:nvSpPr>
        <p:spPr>
          <a:xfrm>
            <a:off x="3484519" y="3571540"/>
            <a:ext cx="163507" cy="156853"/>
          </a:xfrm>
          <a:prstGeom prst="ellipse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757426-1280-4263-B29E-737A1C16A478}"/>
              </a:ext>
            </a:extLst>
          </p:cNvPr>
          <p:cNvSpPr>
            <a:spLocks noChangeAspect="1"/>
          </p:cNvSpPr>
          <p:nvPr/>
        </p:nvSpPr>
        <p:spPr>
          <a:xfrm>
            <a:off x="424578" y="3571540"/>
            <a:ext cx="163507" cy="156853"/>
          </a:xfrm>
          <a:prstGeom prst="ellipse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034B4D0F-F1B2-46E7-B1AB-390D65C862AD}"/>
              </a:ext>
            </a:extLst>
          </p:cNvPr>
          <p:cNvSpPr/>
          <p:nvPr/>
        </p:nvSpPr>
        <p:spPr>
          <a:xfrm>
            <a:off x="1810469" y="2855261"/>
            <a:ext cx="452544" cy="256287"/>
          </a:xfrm>
          <a:prstGeom prst="triangle">
            <a:avLst/>
          </a:prstGeom>
          <a:solidFill>
            <a:schemeClr val="bg1"/>
          </a:solidFill>
          <a:ln w="38100"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A8839BA5-6776-45B5-8D5E-E2811E7FD69F}"/>
              </a:ext>
            </a:extLst>
          </p:cNvPr>
          <p:cNvSpPr/>
          <p:nvPr/>
        </p:nvSpPr>
        <p:spPr>
          <a:xfrm>
            <a:off x="1810469" y="2891493"/>
            <a:ext cx="452544" cy="256287"/>
          </a:xfrm>
          <a:prstGeom prst="triangl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12BE222-B3D9-4A4A-B22E-1BAAD6C8A36C}"/>
              </a:ext>
            </a:extLst>
          </p:cNvPr>
          <p:cNvSpPr>
            <a:spLocks noChangeAspect="1"/>
          </p:cNvSpPr>
          <p:nvPr/>
        </p:nvSpPr>
        <p:spPr>
          <a:xfrm>
            <a:off x="3484519" y="3907491"/>
            <a:ext cx="163507" cy="1568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013D62E-D14F-4301-87F9-F75DAC78D9F4}"/>
              </a:ext>
            </a:extLst>
          </p:cNvPr>
          <p:cNvSpPr>
            <a:spLocks noChangeAspect="1"/>
          </p:cNvSpPr>
          <p:nvPr/>
        </p:nvSpPr>
        <p:spPr>
          <a:xfrm>
            <a:off x="432350" y="3907650"/>
            <a:ext cx="163507" cy="1568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8CD0004-F2A9-497B-AA8D-3E74762E9D40}"/>
              </a:ext>
            </a:extLst>
          </p:cNvPr>
          <p:cNvSpPr txBox="1"/>
          <p:nvPr/>
        </p:nvSpPr>
        <p:spPr>
          <a:xfrm>
            <a:off x="499237" y="3477790"/>
            <a:ext cx="2822476" cy="2294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  <a:buClr>
                <a:srgbClr val="5EC5C5"/>
              </a:buClr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מידע נאסף ממקורות שונים:</a:t>
            </a:r>
          </a:p>
          <a:p>
            <a:pPr marL="285750" indent="-285750" algn="r" rtl="1">
              <a:lnSpc>
                <a:spcPct val="130000"/>
              </a:lnSpc>
              <a:spcAft>
                <a:spcPts val="600"/>
              </a:spcAft>
              <a:buClr>
                <a:srgbClr val="5EC5C5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נותני שירותים וספקים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lnSpc>
                <a:spcPct val="130000"/>
              </a:lnSpc>
              <a:spcAft>
                <a:spcPts val="600"/>
              </a:spcAft>
              <a:buClr>
                <a:srgbClr val="5EC5C5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מערכות מדינה ומערכות ציבוריות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lnSpc>
                <a:spcPct val="130000"/>
              </a:lnSpc>
              <a:spcAft>
                <a:spcPts val="600"/>
              </a:spcAft>
              <a:buClr>
                <a:srgbClr val="5EC5C5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מדדי תפקוד – </a:t>
            </a:r>
            <a:r>
              <a:rPr lang="en-US" sz="1600" dirty="0">
                <a:ea typeface="Calibri" panose="020F0502020204030204" pitchFamily="34" charset="0"/>
                <a:cs typeface="Calibri" panose="020F0502020204030204" pitchFamily="34" charset="0"/>
              </a:rPr>
              <a:t>ICF</a:t>
            </a: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lnSpc>
                <a:spcPct val="130000"/>
              </a:lnSpc>
              <a:spcAft>
                <a:spcPts val="600"/>
              </a:spcAft>
              <a:buClr>
                <a:srgbClr val="5EC5C5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אבחנות - </a:t>
            </a:r>
            <a:r>
              <a:rPr lang="en-US" sz="1600" dirty="0">
                <a:ea typeface="Calibri" panose="020F0502020204030204" pitchFamily="34" charset="0"/>
                <a:cs typeface="Calibri" panose="020F0502020204030204" pitchFamily="34" charset="0"/>
              </a:rPr>
              <a:t>ICD</a:t>
            </a:r>
            <a:endParaRPr lang="en-US" sz="16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3677612-824D-4C10-8F02-4710C94A9A37}"/>
              </a:ext>
            </a:extLst>
          </p:cNvPr>
          <p:cNvSpPr/>
          <p:nvPr/>
        </p:nvSpPr>
        <p:spPr>
          <a:xfrm>
            <a:off x="5209316" y="2336805"/>
            <a:ext cx="19367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e-IL" sz="2000" b="1" dirty="0">
                <a:solidFill>
                  <a:srgbClr val="1F1C30"/>
                </a:solidFill>
                <a:latin typeface="+mj-lt"/>
              </a:rPr>
              <a:t>ייצוג וניתוח הידע</a:t>
            </a:r>
            <a:endParaRPr lang="en-US" sz="2000" b="1" dirty="0">
              <a:solidFill>
                <a:srgbClr val="1F1C30"/>
              </a:solidFill>
              <a:latin typeface="+mj-lt"/>
            </a:endParaRPr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8480A4E7-1A10-41B4-8531-73AD6A6404F8}"/>
              </a:ext>
            </a:extLst>
          </p:cNvPr>
          <p:cNvSpPr/>
          <p:nvPr/>
        </p:nvSpPr>
        <p:spPr>
          <a:xfrm>
            <a:off x="4657826" y="3116639"/>
            <a:ext cx="3052638" cy="2920335"/>
          </a:xfrm>
          <a:prstGeom prst="roundRect">
            <a:avLst>
              <a:gd name="adj" fmla="val 5098"/>
            </a:avLst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ounded Rectangle 103">
            <a:extLst>
              <a:ext uri="{FF2B5EF4-FFF2-40B4-BE49-F238E27FC236}">
                <a16:creationId xmlns:a16="http://schemas.microsoft.com/office/drawing/2014/main" id="{522958C8-1B92-4830-BF49-5B49047D6DBA}"/>
              </a:ext>
            </a:extLst>
          </p:cNvPr>
          <p:cNvSpPr/>
          <p:nvPr/>
        </p:nvSpPr>
        <p:spPr>
          <a:xfrm>
            <a:off x="4645788" y="3124235"/>
            <a:ext cx="3064675" cy="866449"/>
          </a:xfrm>
          <a:prstGeom prst="roundRect">
            <a:avLst/>
          </a:prstGeom>
          <a:noFill/>
          <a:ln w="28575">
            <a:solidFill>
              <a:srgbClr val="343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218AD6F-C23A-4D59-AD2E-58CDAD660927}"/>
              </a:ext>
            </a:extLst>
          </p:cNvPr>
          <p:cNvSpPr/>
          <p:nvPr/>
        </p:nvSpPr>
        <p:spPr>
          <a:xfrm>
            <a:off x="4578244" y="3723748"/>
            <a:ext cx="3168886" cy="333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FD021F4-DAD5-409F-98FE-9FFDDBAD7337}"/>
              </a:ext>
            </a:extLst>
          </p:cNvPr>
          <p:cNvSpPr>
            <a:spLocks noChangeAspect="1"/>
          </p:cNvSpPr>
          <p:nvPr/>
        </p:nvSpPr>
        <p:spPr>
          <a:xfrm>
            <a:off x="7625903" y="3571540"/>
            <a:ext cx="163507" cy="156853"/>
          </a:xfrm>
          <a:prstGeom prst="ellipse">
            <a:avLst/>
          </a:prstGeom>
          <a:solidFill>
            <a:srgbClr val="343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A0BB1BA-21CF-4F2C-94E8-FA52805E90E2}"/>
              </a:ext>
            </a:extLst>
          </p:cNvPr>
          <p:cNvSpPr>
            <a:spLocks noChangeAspect="1"/>
          </p:cNvSpPr>
          <p:nvPr/>
        </p:nvSpPr>
        <p:spPr>
          <a:xfrm>
            <a:off x="4565962" y="3571540"/>
            <a:ext cx="163507" cy="156853"/>
          </a:xfrm>
          <a:prstGeom prst="ellipse">
            <a:avLst/>
          </a:prstGeom>
          <a:solidFill>
            <a:srgbClr val="343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67F3161B-FA8A-4E4E-BDB2-809483AD990C}"/>
              </a:ext>
            </a:extLst>
          </p:cNvPr>
          <p:cNvSpPr/>
          <p:nvPr/>
        </p:nvSpPr>
        <p:spPr>
          <a:xfrm>
            <a:off x="5951853" y="2855261"/>
            <a:ext cx="452544" cy="256287"/>
          </a:xfrm>
          <a:prstGeom prst="triangle">
            <a:avLst/>
          </a:prstGeom>
          <a:solidFill>
            <a:schemeClr val="bg1"/>
          </a:solidFill>
          <a:ln w="38100">
            <a:solidFill>
              <a:srgbClr val="3430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C7812075-9105-406D-ADA8-1087900BD2B7}"/>
              </a:ext>
            </a:extLst>
          </p:cNvPr>
          <p:cNvSpPr/>
          <p:nvPr/>
        </p:nvSpPr>
        <p:spPr>
          <a:xfrm>
            <a:off x="5951413" y="2891493"/>
            <a:ext cx="452544" cy="256287"/>
          </a:xfrm>
          <a:prstGeom prst="triangl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EBC5193-D5D0-4554-BC44-0028601C20A2}"/>
              </a:ext>
            </a:extLst>
          </p:cNvPr>
          <p:cNvSpPr>
            <a:spLocks noChangeAspect="1"/>
          </p:cNvSpPr>
          <p:nvPr/>
        </p:nvSpPr>
        <p:spPr>
          <a:xfrm>
            <a:off x="7625903" y="3907491"/>
            <a:ext cx="163507" cy="1568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73560A6-A1EC-498D-A94D-4A69FB8257AD}"/>
              </a:ext>
            </a:extLst>
          </p:cNvPr>
          <p:cNvSpPr>
            <a:spLocks noChangeAspect="1"/>
          </p:cNvSpPr>
          <p:nvPr/>
        </p:nvSpPr>
        <p:spPr>
          <a:xfrm>
            <a:off x="4573734" y="3907650"/>
            <a:ext cx="163507" cy="1568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CBBEE15-FB13-433A-8405-B449FA01C940}"/>
              </a:ext>
            </a:extLst>
          </p:cNvPr>
          <p:cNvSpPr txBox="1"/>
          <p:nvPr/>
        </p:nvSpPr>
        <p:spPr>
          <a:xfrm>
            <a:off x="4909064" y="4276162"/>
            <a:ext cx="2537242" cy="1367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spcAft>
                <a:spcPts val="800"/>
              </a:spcAft>
              <a:buClr>
                <a:srgbClr val="34304F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תיאור שירותים ומוצרים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lnSpc>
                <a:spcPct val="150000"/>
              </a:lnSpc>
              <a:spcAft>
                <a:spcPts val="800"/>
              </a:spcAft>
              <a:buClr>
                <a:srgbClr val="34304F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פרופילים תפקודיים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lnSpc>
                <a:spcPct val="150000"/>
              </a:lnSpc>
              <a:spcAft>
                <a:spcPts val="800"/>
              </a:spcAft>
              <a:buClr>
                <a:srgbClr val="34304F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זכאויות וסלים אישיים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F3833E3-F8FA-4510-AF54-E1B4BF6863DC}"/>
              </a:ext>
            </a:extLst>
          </p:cNvPr>
          <p:cNvSpPr/>
          <p:nvPr/>
        </p:nvSpPr>
        <p:spPr>
          <a:xfrm>
            <a:off x="9446879" y="2336805"/>
            <a:ext cx="17443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e-IL" sz="2000" b="1" dirty="0">
                <a:solidFill>
                  <a:srgbClr val="E75258"/>
                </a:solidFill>
                <a:latin typeface="+mj-lt"/>
              </a:rPr>
              <a:t>למידה מנתונים</a:t>
            </a:r>
            <a:endParaRPr lang="en-US" sz="2000" b="1" dirty="0">
              <a:solidFill>
                <a:srgbClr val="E75258"/>
              </a:solidFill>
              <a:latin typeface="+mj-lt"/>
            </a:endParaRPr>
          </a:p>
        </p:txBody>
      </p:sp>
      <p:sp>
        <p:nvSpPr>
          <p:cNvPr id="80" name="Rounded Rectangle 111">
            <a:extLst>
              <a:ext uri="{FF2B5EF4-FFF2-40B4-BE49-F238E27FC236}">
                <a16:creationId xmlns:a16="http://schemas.microsoft.com/office/drawing/2014/main" id="{72D124BC-149F-4A9A-8683-40AA9FC3F812}"/>
              </a:ext>
            </a:extLst>
          </p:cNvPr>
          <p:cNvSpPr/>
          <p:nvPr/>
        </p:nvSpPr>
        <p:spPr>
          <a:xfrm>
            <a:off x="8799209" y="3116639"/>
            <a:ext cx="3052638" cy="2918401"/>
          </a:xfrm>
          <a:prstGeom prst="roundRect">
            <a:avLst>
              <a:gd name="adj" fmla="val 5098"/>
            </a:avLst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latin typeface="Montserrat" panose="02000505000000020004" pitchFamily="2" charset="0"/>
              </a:rPr>
              <a:t>Statistics and insights</a:t>
            </a:r>
            <a:endParaRPr lang="en-US" sz="1800" b="1" dirty="0">
              <a:latin typeface="Montserrat" panose="02000505000000020004" pitchFamily="2" charset="0"/>
            </a:endParaRPr>
          </a:p>
        </p:txBody>
      </p:sp>
      <p:sp>
        <p:nvSpPr>
          <p:cNvPr id="81" name="Rounded Rectangle 103">
            <a:extLst>
              <a:ext uri="{FF2B5EF4-FFF2-40B4-BE49-F238E27FC236}">
                <a16:creationId xmlns:a16="http://schemas.microsoft.com/office/drawing/2014/main" id="{1FF5D8AA-39C6-4BB3-AADB-358B7E2C5C51}"/>
              </a:ext>
            </a:extLst>
          </p:cNvPr>
          <p:cNvSpPr/>
          <p:nvPr/>
        </p:nvSpPr>
        <p:spPr>
          <a:xfrm>
            <a:off x="8787171" y="3124235"/>
            <a:ext cx="3064675" cy="866449"/>
          </a:xfrm>
          <a:prstGeom prst="roundRect">
            <a:avLst/>
          </a:prstGeom>
          <a:noFill/>
          <a:ln w="28575">
            <a:solidFill>
              <a:srgbClr val="E752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E7FC450-C5B4-4C1B-A6B4-30A323BCA393}"/>
              </a:ext>
            </a:extLst>
          </p:cNvPr>
          <p:cNvSpPr/>
          <p:nvPr/>
        </p:nvSpPr>
        <p:spPr>
          <a:xfrm>
            <a:off x="8719627" y="3723748"/>
            <a:ext cx="3168886" cy="333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587DD6A-A4F0-4E5B-9E05-55E894A56222}"/>
              </a:ext>
            </a:extLst>
          </p:cNvPr>
          <p:cNvSpPr>
            <a:spLocks noChangeAspect="1"/>
          </p:cNvSpPr>
          <p:nvPr/>
        </p:nvSpPr>
        <p:spPr>
          <a:xfrm>
            <a:off x="11767286" y="3571540"/>
            <a:ext cx="163507" cy="156853"/>
          </a:xfrm>
          <a:prstGeom prst="ellipse">
            <a:avLst/>
          </a:prstGeom>
          <a:solidFill>
            <a:srgbClr val="E75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9B39739-072E-4F9B-9B2B-CA40348686F5}"/>
              </a:ext>
            </a:extLst>
          </p:cNvPr>
          <p:cNvSpPr>
            <a:spLocks noChangeAspect="1"/>
          </p:cNvSpPr>
          <p:nvPr/>
        </p:nvSpPr>
        <p:spPr>
          <a:xfrm>
            <a:off x="8707345" y="3571540"/>
            <a:ext cx="163507" cy="156853"/>
          </a:xfrm>
          <a:prstGeom prst="ellipse">
            <a:avLst/>
          </a:prstGeom>
          <a:solidFill>
            <a:srgbClr val="E75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89BAA0F4-97C1-4925-9C07-55643C4DDF84}"/>
              </a:ext>
            </a:extLst>
          </p:cNvPr>
          <p:cNvSpPr/>
          <p:nvPr/>
        </p:nvSpPr>
        <p:spPr>
          <a:xfrm>
            <a:off x="10093236" y="2855261"/>
            <a:ext cx="452544" cy="256287"/>
          </a:xfrm>
          <a:prstGeom prst="triangle">
            <a:avLst/>
          </a:prstGeom>
          <a:solidFill>
            <a:schemeClr val="bg1"/>
          </a:solidFill>
          <a:ln w="38100">
            <a:solidFill>
              <a:srgbClr val="E752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5F670EAC-AEEB-4EB1-9CD4-24F7BF488550}"/>
              </a:ext>
            </a:extLst>
          </p:cNvPr>
          <p:cNvSpPr/>
          <p:nvPr/>
        </p:nvSpPr>
        <p:spPr>
          <a:xfrm>
            <a:off x="10093236" y="2907751"/>
            <a:ext cx="452544" cy="256287"/>
          </a:xfrm>
          <a:prstGeom prst="triangl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F9EC0F9-2623-4033-BC57-83D9039F1ABF}"/>
              </a:ext>
            </a:extLst>
          </p:cNvPr>
          <p:cNvSpPr>
            <a:spLocks noChangeAspect="1"/>
          </p:cNvSpPr>
          <p:nvPr/>
        </p:nvSpPr>
        <p:spPr>
          <a:xfrm>
            <a:off x="11767286" y="3907491"/>
            <a:ext cx="163507" cy="1568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8874432-6671-4C02-B7FB-25664CBE0AB6}"/>
              </a:ext>
            </a:extLst>
          </p:cNvPr>
          <p:cNvSpPr>
            <a:spLocks noChangeAspect="1"/>
          </p:cNvSpPr>
          <p:nvPr/>
        </p:nvSpPr>
        <p:spPr>
          <a:xfrm>
            <a:off x="8715117" y="3907650"/>
            <a:ext cx="163507" cy="15685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Isosceles Triangle 94"/>
          <p:cNvSpPr/>
          <p:nvPr/>
        </p:nvSpPr>
        <p:spPr>
          <a:xfrm rot="5400000">
            <a:off x="3700430" y="4407491"/>
            <a:ext cx="813128" cy="468967"/>
          </a:xfrm>
          <a:prstGeom prst="triangle">
            <a:avLst/>
          </a:prstGeom>
          <a:solidFill>
            <a:srgbClr val="5EC5C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sosceles Triangle 95"/>
          <p:cNvSpPr/>
          <p:nvPr/>
        </p:nvSpPr>
        <p:spPr>
          <a:xfrm rot="5400000">
            <a:off x="7841813" y="4429849"/>
            <a:ext cx="813128" cy="468967"/>
          </a:xfrm>
          <a:prstGeom prst="triangle">
            <a:avLst/>
          </a:prstGeom>
          <a:solidFill>
            <a:srgbClr val="1F1C3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/>
          <p:cNvGrpSpPr/>
          <p:nvPr/>
        </p:nvGrpSpPr>
        <p:grpSpPr>
          <a:xfrm>
            <a:off x="1719558" y="1604372"/>
            <a:ext cx="633488" cy="633490"/>
            <a:chOff x="1726017" y="1843426"/>
            <a:chExt cx="633488" cy="633490"/>
          </a:xfrm>
        </p:grpSpPr>
        <p:sp>
          <p:nvSpPr>
            <p:cNvPr id="98" name="Oval 97"/>
            <p:cNvSpPr/>
            <p:nvPr/>
          </p:nvSpPr>
          <p:spPr>
            <a:xfrm>
              <a:off x="1726017" y="1843426"/>
              <a:ext cx="633488" cy="63349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98DA"/>
                </a:solidFill>
              </a:endParaRPr>
            </a:p>
          </p:txBody>
        </p:sp>
        <p:sp>
          <p:nvSpPr>
            <p:cNvPr id="99" name="Oval 98"/>
            <p:cNvSpPr/>
            <p:nvPr/>
          </p:nvSpPr>
          <p:spPr>
            <a:xfrm>
              <a:off x="1849195" y="1968166"/>
              <a:ext cx="387132" cy="3871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>
                <a:solidFill>
                  <a:srgbClr val="0098DA"/>
                </a:solidFill>
                <a:latin typeface="+mj-lt"/>
              </a:endParaRPr>
            </a:p>
          </p:txBody>
        </p:sp>
        <p:sp>
          <p:nvSpPr>
            <p:cNvPr id="100" name="Block Arc 99"/>
            <p:cNvSpPr/>
            <p:nvPr/>
          </p:nvSpPr>
          <p:spPr>
            <a:xfrm rot="5918100">
              <a:off x="1754971" y="1872382"/>
              <a:ext cx="575580" cy="575579"/>
            </a:xfrm>
            <a:prstGeom prst="blockArc">
              <a:avLst>
                <a:gd name="adj1" fmla="val 10800000"/>
                <a:gd name="adj2" fmla="val 16085249"/>
                <a:gd name="adj3" fmla="val 10115"/>
              </a:avLst>
            </a:prstGeom>
            <a:solidFill>
              <a:srgbClr val="5EC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98DA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5860942" y="1604372"/>
            <a:ext cx="633488" cy="633490"/>
            <a:chOff x="5860942" y="1843426"/>
            <a:chExt cx="633488" cy="633490"/>
          </a:xfrm>
        </p:grpSpPr>
        <p:sp>
          <p:nvSpPr>
            <p:cNvPr id="102" name="Oval 101"/>
            <p:cNvSpPr/>
            <p:nvPr/>
          </p:nvSpPr>
          <p:spPr>
            <a:xfrm>
              <a:off x="5860942" y="1843426"/>
              <a:ext cx="633488" cy="63349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98DA"/>
                </a:solidFill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5984120" y="1968166"/>
              <a:ext cx="387132" cy="3871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>
                <a:solidFill>
                  <a:srgbClr val="0098DA"/>
                </a:solidFill>
                <a:latin typeface="+mj-lt"/>
              </a:endParaRPr>
            </a:p>
          </p:txBody>
        </p:sp>
        <p:sp>
          <p:nvSpPr>
            <p:cNvPr id="104" name="Block Arc 103"/>
            <p:cNvSpPr/>
            <p:nvPr/>
          </p:nvSpPr>
          <p:spPr>
            <a:xfrm rot="5918100">
              <a:off x="5889896" y="1872382"/>
              <a:ext cx="575580" cy="575579"/>
            </a:xfrm>
            <a:prstGeom prst="blockArc">
              <a:avLst>
                <a:gd name="adj1" fmla="val 10800000"/>
                <a:gd name="adj2" fmla="val 16085249"/>
                <a:gd name="adj3" fmla="val 10115"/>
              </a:avLst>
            </a:prstGeom>
            <a:solidFill>
              <a:srgbClr val="1F1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98DA"/>
                </a:solidFill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10008784" y="1604372"/>
            <a:ext cx="633488" cy="633490"/>
            <a:chOff x="10008784" y="1843426"/>
            <a:chExt cx="633488" cy="633490"/>
          </a:xfrm>
        </p:grpSpPr>
        <p:sp>
          <p:nvSpPr>
            <p:cNvPr id="106" name="Oval 105"/>
            <p:cNvSpPr/>
            <p:nvPr/>
          </p:nvSpPr>
          <p:spPr>
            <a:xfrm>
              <a:off x="10008784" y="1843426"/>
              <a:ext cx="633488" cy="63349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98DA"/>
                </a:solidFill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10131962" y="1968166"/>
              <a:ext cx="387132" cy="3871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>
                <a:solidFill>
                  <a:srgbClr val="0098DA"/>
                </a:solidFill>
                <a:latin typeface="+mj-lt"/>
              </a:endParaRPr>
            </a:p>
          </p:txBody>
        </p:sp>
        <p:sp>
          <p:nvSpPr>
            <p:cNvPr id="108" name="Block Arc 107"/>
            <p:cNvSpPr/>
            <p:nvPr/>
          </p:nvSpPr>
          <p:spPr>
            <a:xfrm rot="5918100">
              <a:off x="10037738" y="1872382"/>
              <a:ext cx="575580" cy="575579"/>
            </a:xfrm>
            <a:prstGeom prst="blockArc">
              <a:avLst>
                <a:gd name="adj1" fmla="val 10800000"/>
                <a:gd name="adj2" fmla="val 16085249"/>
                <a:gd name="adj3" fmla="val 10115"/>
              </a:avLst>
            </a:prstGeom>
            <a:solidFill>
              <a:srgbClr val="E75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98DA"/>
                </a:solidFill>
              </a:endParaRPr>
            </a:p>
          </p:txBody>
        </p:sp>
      </p:grpSp>
      <p:pic>
        <p:nvPicPr>
          <p:cNvPr id="109" name="Picture 10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1228" y="1806817"/>
            <a:ext cx="228600" cy="228600"/>
          </a:xfrm>
          <a:prstGeom prst="rect">
            <a:avLst/>
          </a:prstGeom>
        </p:spPr>
      </p:pic>
      <p:pic>
        <p:nvPicPr>
          <p:cNvPr id="110" name="Picture 109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386" y="1806817"/>
            <a:ext cx="228600" cy="228600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461" y="1806817"/>
            <a:ext cx="228600" cy="228600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981" y="4362450"/>
            <a:ext cx="1133094" cy="1133094"/>
          </a:xfrm>
          <a:prstGeom prst="rect">
            <a:avLst/>
          </a:prstGeom>
        </p:spPr>
      </p:pic>
      <p:sp>
        <p:nvSpPr>
          <p:cNvPr id="113" name="Rectangle 112"/>
          <p:cNvSpPr/>
          <p:nvPr/>
        </p:nvSpPr>
        <p:spPr>
          <a:xfrm>
            <a:off x="9741776" y="4362450"/>
            <a:ext cx="1167504" cy="1176076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13B88A-8298-45AA-B627-0C2DD2B67FE8}"/>
              </a:ext>
            </a:extLst>
          </p:cNvPr>
          <p:cNvSpPr/>
          <p:nvPr/>
        </p:nvSpPr>
        <p:spPr>
          <a:xfrm>
            <a:off x="4647349" y="3271517"/>
            <a:ext cx="3060675" cy="895427"/>
          </a:xfrm>
          <a:prstGeom prst="rect">
            <a:avLst/>
          </a:prstGeom>
          <a:solidFill>
            <a:srgbClr val="1F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00F0781-3156-476F-AB2A-F842C8B6B8BC}"/>
              </a:ext>
            </a:extLst>
          </p:cNvPr>
          <p:cNvSpPr/>
          <p:nvPr/>
        </p:nvSpPr>
        <p:spPr>
          <a:xfrm>
            <a:off x="5015636" y="3364005"/>
            <a:ext cx="2324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lang="he-IL" b="1" dirty="0">
                <a:solidFill>
                  <a:schemeClr val="bg1"/>
                </a:solidFill>
              </a:rPr>
              <a:t>בסיס נתונים רב שכבתי, מובנה ודינמי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E14C21-6FAB-4EB3-8349-E3387D04CCB4}"/>
              </a:ext>
            </a:extLst>
          </p:cNvPr>
          <p:cNvSpPr txBox="1"/>
          <p:nvPr/>
        </p:nvSpPr>
        <p:spPr>
          <a:xfrm>
            <a:off x="8993815" y="3465124"/>
            <a:ext cx="2416787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  <a:buClr>
                <a:srgbClr val="E75258"/>
              </a:buClr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לוחות ניהול וניתוח נתונים מתמשך לכלל השחקנים – </a:t>
            </a:r>
          </a:p>
          <a:p>
            <a:pPr marL="285750" indent="-285750" algn="r" rtl="1">
              <a:spcAft>
                <a:spcPts val="800"/>
              </a:spcAft>
              <a:buClr>
                <a:srgbClr val="E75258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משרדי ממשלה, רשויות מקומיות, קופות חולים</a:t>
            </a:r>
          </a:p>
          <a:p>
            <a:pPr marL="285750" indent="-285750" algn="r" rtl="1">
              <a:spcAft>
                <a:spcPts val="800"/>
              </a:spcAft>
              <a:buClr>
                <a:srgbClr val="E75258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נותני שירותים וספקים</a:t>
            </a:r>
          </a:p>
          <a:p>
            <a:pPr marL="285750" indent="-285750" algn="r" rtl="1">
              <a:spcAft>
                <a:spcPts val="800"/>
              </a:spcAft>
              <a:buClr>
                <a:srgbClr val="E75258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a typeface="Calibri" panose="020F0502020204030204" pitchFamily="34" charset="0"/>
                <a:cs typeface="Calibri" panose="020F0502020204030204" pitchFamily="34" charset="0"/>
              </a:rPr>
              <a:t>לקוחות</a:t>
            </a:r>
          </a:p>
          <a:p>
            <a:pPr marL="285750" indent="-285750" algn="r" rtl="1">
              <a:spcAft>
                <a:spcPts val="800"/>
              </a:spcAft>
              <a:buClr>
                <a:srgbClr val="E75258"/>
              </a:buClr>
              <a:buFont typeface="Arial" panose="020B0604020202020204" pitchFamily="34" charset="0"/>
              <a:buChar char="•"/>
            </a:pPr>
            <a:r>
              <a:rPr lang="he-IL" sz="16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אנשי מקצוע</a:t>
            </a:r>
            <a:endParaRPr lang="en-US" sz="16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20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EB1A1F-038A-6685-17D2-93427C5805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3881" y="265425"/>
            <a:ext cx="9384235" cy="592268"/>
          </a:xfrm>
        </p:spPr>
        <p:txBody>
          <a:bodyPr/>
          <a:lstStyle/>
          <a:p>
            <a:pPr algn="ctr"/>
            <a:r>
              <a:rPr lang="he-IL" dirty="0"/>
              <a:t>תהליכי פיתוח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EBA8C-ACFD-96AB-AD56-4B963E1643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3882" y="857693"/>
            <a:ext cx="9384235" cy="488493"/>
          </a:xfrm>
        </p:spPr>
        <p:txBody>
          <a:bodyPr/>
          <a:lstStyle/>
          <a:p>
            <a:pPr algn="ctr" rtl="1"/>
            <a:r>
              <a:rPr lang="he-IL" dirty="0"/>
              <a:t>דגשים נוספים ותובנות – המחשה בצילומי מסך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47B0E4-8036-2F30-69D6-CAD2E4C1045B}"/>
              </a:ext>
            </a:extLst>
          </p:cNvPr>
          <p:cNvSpPr/>
          <p:nvPr/>
        </p:nvSpPr>
        <p:spPr>
          <a:xfrm>
            <a:off x="1564849" y="1839145"/>
            <a:ext cx="9971849" cy="3737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תהליכי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אפיון ועיצוב משותפים 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– מדינה, לקוחות (קבוצות מיקוד), אנשי מקצוע, ספקים 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מסעות לקוח מותאמים 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לפרסונות השונות – משתמש פרטי, משתמש זכאי, ספק, איש מקצוע, מדינה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ארבעה תהליכי </a:t>
            </a: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הנגשה ותרגום 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לשפות שונות 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אדם – התייחסות </a:t>
            </a: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לכלל התפקודים 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והמערכות, גיל ומגדר – שני אנשים עם אותה אבחנה – פרופיל שונה 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שירות – התייחסות </a:t>
            </a: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לשוק ייעודי ושוק פתוח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Low Tech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 ו-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High Tech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, חיבור מתמשך בין ידע ורכש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הנגשת מידע והמלצות אישיות 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– דף נחיתה ייעודי לשירות, "כדאי לדעת", מאגר כתבות, ההודעות שלי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שירות לקוחות 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– חשיבות מענה אנושי, סוגי שאלות, העסקה של אוכלוסיית היעד, שירות מודולרי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b="1" dirty="0">
                <a:latin typeface="Calibri" panose="020F0502020204030204" pitchFamily="34" charset="0"/>
                <a:cs typeface="Calibri" panose="020F0502020204030204" pitchFamily="34" charset="0"/>
              </a:rPr>
              <a:t>חיבור ישיר למערכות מדינה </a:t>
            </a: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כולל ארנקים דיגיטליים, אבטחת מידע, הטמעת רגולציה </a:t>
            </a:r>
            <a:r>
              <a:rPr lang="he-IL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63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and a child in aprons&#10;&#10;Description automatically generated">
            <a:extLst>
              <a:ext uri="{FF2B5EF4-FFF2-40B4-BE49-F238E27FC236}">
                <a16:creationId xmlns:a16="http://schemas.microsoft.com/office/drawing/2014/main" id="{E4D15A7C-AFBF-8EF5-C281-4DFD87617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94" y="1223178"/>
            <a:ext cx="11619011" cy="5025221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CDA6BC6-6827-C2B8-28B7-EFEC4B67FC23}"/>
              </a:ext>
            </a:extLst>
          </p:cNvPr>
          <p:cNvSpPr txBox="1">
            <a:spLocks/>
          </p:cNvSpPr>
          <p:nvPr/>
        </p:nvSpPr>
        <p:spPr>
          <a:xfrm>
            <a:off x="-73996" y="346716"/>
            <a:ext cx="11622529" cy="5922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he-IL" sz="2000" dirty="0">
                <a:latin typeface="Calibri" panose="020F0502020204030204" pitchFamily="34" charset="0"/>
                <a:cs typeface="Calibri" panose="020F0502020204030204" pitchFamily="34" charset="0"/>
              </a:rPr>
              <a:t>עמוד הבית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17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B95B49-B1DC-E86E-96DD-3CEE44A4C0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1"/>
          <a:stretch/>
        </p:blipFill>
        <p:spPr>
          <a:xfrm>
            <a:off x="6305020" y="1043703"/>
            <a:ext cx="3606871" cy="210378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AC9A4AC-8AA7-C4F6-63A1-85ABB77DD7B3}"/>
              </a:ext>
            </a:extLst>
          </p:cNvPr>
          <p:cNvSpPr txBox="1">
            <a:spLocks/>
          </p:cNvSpPr>
          <p:nvPr/>
        </p:nvSpPr>
        <p:spPr>
          <a:xfrm>
            <a:off x="84841" y="271301"/>
            <a:ext cx="11622529" cy="5922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he-IL" sz="3000" dirty="0">
                <a:latin typeface="Calibri" panose="020F0502020204030204" pitchFamily="34" charset="0"/>
                <a:cs typeface="Calibri" panose="020F0502020204030204" pitchFamily="34" charset="0"/>
              </a:rPr>
              <a:t>תהליכי הרשמה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C383C1-6610-45DD-DF33-372ADB258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540" y="3327619"/>
            <a:ext cx="5033328" cy="32590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CB4D29-2850-DB50-B5AF-231CF8071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002" y="1128308"/>
            <a:ext cx="3606871" cy="439862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47488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90;p1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9D0D54A-59F8-E382-F4AC-95B208B7B4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251" t="12554" r="17499"/>
          <a:stretch/>
        </p:blipFill>
        <p:spPr>
          <a:xfrm>
            <a:off x="6322780" y="2118491"/>
            <a:ext cx="5293046" cy="39349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31E78DC-D715-B78A-E16C-44F0CD0CF3E6}"/>
              </a:ext>
            </a:extLst>
          </p:cNvPr>
          <p:cNvSpPr txBox="1">
            <a:spLocks/>
          </p:cNvSpPr>
          <p:nvPr/>
        </p:nvSpPr>
        <p:spPr>
          <a:xfrm>
            <a:off x="6575774" y="985260"/>
            <a:ext cx="5040052" cy="5922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he-IL" sz="3000" dirty="0">
                <a:latin typeface="Calibri" panose="020F0502020204030204" pitchFamily="34" charset="0"/>
                <a:cs typeface="Calibri" panose="020F0502020204030204" pitchFamily="34" charset="0"/>
              </a:rPr>
              <a:t>יצירת פרופיל – שאלות על תפקוד/נתוני מערכת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B34E0D8C-A732-6D03-63C7-B3868DC4E34F}"/>
              </a:ext>
            </a:extLst>
          </p:cNvPr>
          <p:cNvSpPr txBox="1">
            <a:spLocks/>
          </p:cNvSpPr>
          <p:nvPr/>
        </p:nvSpPr>
        <p:spPr>
          <a:xfrm>
            <a:off x="816066" y="892847"/>
            <a:ext cx="5040052" cy="5922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he-IL" sz="3000" dirty="0">
                <a:latin typeface="Calibri" panose="020F0502020204030204" pitchFamily="34" charset="0"/>
                <a:cs typeface="Calibri" panose="020F0502020204030204" pitchFamily="34" charset="0"/>
              </a:rPr>
              <a:t>אזור אישי – הפרטים שלי, המלצות לפי תחומי חיים, סלי זכאות, מועדפים, הזמנות והודעות אישיות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531C78B-ED4A-8352-56AE-AE2D85A19EFC}"/>
              </a:ext>
            </a:extLst>
          </p:cNvPr>
          <p:cNvGrpSpPr/>
          <p:nvPr/>
        </p:nvGrpSpPr>
        <p:grpSpPr>
          <a:xfrm>
            <a:off x="423252" y="2416152"/>
            <a:ext cx="5432866" cy="2765813"/>
            <a:chOff x="423252" y="2416152"/>
            <a:chExt cx="5432866" cy="27658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DC14A76-19FA-7664-CF79-AA4C5E03A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3252" y="2416152"/>
              <a:ext cx="5432866" cy="322943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rgbClr val="EAEAEA"/>
              </a:solidFill>
              <a:miter lim="800000"/>
            </a:ln>
            <a:effectLst>
              <a:reflection blurRad="12700" stA="33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 contourW="6350">
              <a:bevelT h="38100"/>
              <a:contourClr>
                <a:srgbClr val="C0C0C0"/>
              </a:contourClr>
            </a:sp3d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BED9C3-3190-39B6-A264-28C600D01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3252" y="2989956"/>
              <a:ext cx="5407145" cy="2192009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rgbClr val="EAEAEA"/>
              </a:solidFill>
              <a:miter lim="800000"/>
            </a:ln>
            <a:effectLst>
              <a:reflection blurRad="12700" stA="33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 contourW="6350">
              <a:bevelT h="38100"/>
              <a:contourClr>
                <a:srgbClr val="C0C0C0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201936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303;p37">
            <a:extLst>
              <a:ext uri="{FF2B5EF4-FFF2-40B4-BE49-F238E27FC236}">
                <a16:creationId xmlns:a16="http://schemas.microsoft.com/office/drawing/2014/main" id="{F1BAE0BA-5719-65F0-85E7-51155000A7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166" t="10518" r="14418" b="9630"/>
          <a:stretch/>
        </p:blipFill>
        <p:spPr>
          <a:xfrm>
            <a:off x="802981" y="1944507"/>
            <a:ext cx="4790695" cy="31553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8CB3C6E-D891-005A-3F38-E4ADF9D8A79B}"/>
              </a:ext>
            </a:extLst>
          </p:cNvPr>
          <p:cNvGrpSpPr/>
          <p:nvPr/>
        </p:nvGrpSpPr>
        <p:grpSpPr>
          <a:xfrm>
            <a:off x="6225420" y="1873662"/>
            <a:ext cx="5487765" cy="3961085"/>
            <a:chOff x="6339840" y="1220587"/>
            <a:chExt cx="5487765" cy="39610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16C7B55-ED18-CEA1-34C1-B0C8905E0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9840" y="2565118"/>
              <a:ext cx="5487765" cy="123646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4FD64B5-E80B-0587-7184-D6AE2B361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21120" y="3945209"/>
              <a:ext cx="5315157" cy="1236463"/>
            </a:xfrm>
            <a:prstGeom prst="rect">
              <a:avLst/>
            </a:prstGeom>
          </p:spPr>
        </p:pic>
        <p:pic>
          <p:nvPicPr>
            <p:cNvPr id="8" name="Google Shape;249;p27">
              <a:extLst>
                <a:ext uri="{FF2B5EF4-FFF2-40B4-BE49-F238E27FC236}">
                  <a16:creationId xmlns:a16="http://schemas.microsoft.com/office/drawing/2014/main" id="{3C2FC40C-443A-2A2E-51E3-20B5E41E885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5167" t="64237" r="14667" b="5926"/>
            <a:stretch/>
          </p:blipFill>
          <p:spPr>
            <a:xfrm>
              <a:off x="6421120" y="1220587"/>
              <a:ext cx="5335365" cy="13445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636800A-6F35-F4E3-72FB-F89A03851C67}"/>
              </a:ext>
            </a:extLst>
          </p:cNvPr>
          <p:cNvSpPr txBox="1">
            <a:spLocks/>
          </p:cNvSpPr>
          <p:nvPr/>
        </p:nvSpPr>
        <p:spPr>
          <a:xfrm>
            <a:off x="6444252" y="1137767"/>
            <a:ext cx="5040052" cy="5922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he-IL" sz="3000" dirty="0">
                <a:latin typeface="Calibri" panose="020F0502020204030204" pitchFamily="34" charset="0"/>
                <a:cs typeface="Calibri" panose="020F0502020204030204" pitchFamily="34" charset="0"/>
              </a:rPr>
              <a:t>בחירת תחום תפקוד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3DFEAFA-DAA6-17DA-C3B3-C319F916B987}"/>
              </a:ext>
            </a:extLst>
          </p:cNvPr>
          <p:cNvSpPr txBox="1">
            <a:spLocks/>
          </p:cNvSpPr>
          <p:nvPr/>
        </p:nvSpPr>
        <p:spPr>
          <a:xfrm>
            <a:off x="678302" y="1137767"/>
            <a:ext cx="5040052" cy="5922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he-IL" sz="3000" dirty="0">
                <a:latin typeface="Calibri" panose="020F0502020204030204" pitchFamily="34" charset="0"/>
                <a:cs typeface="Calibri" panose="020F0502020204030204" pitchFamily="34" charset="0"/>
              </a:rPr>
              <a:t>המלצות אישיות</a:t>
            </a:r>
          </a:p>
        </p:txBody>
      </p:sp>
    </p:spTree>
    <p:extLst>
      <p:ext uri="{BB962C8B-B14F-4D97-AF65-F5344CB8AC3E}">
        <p14:creationId xmlns:p14="http://schemas.microsoft.com/office/powerpoint/2010/main" val="49142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39;p25">
            <a:extLst>
              <a:ext uri="{FF2B5EF4-FFF2-40B4-BE49-F238E27FC236}">
                <a16:creationId xmlns:a16="http://schemas.microsoft.com/office/drawing/2014/main" id="{544B0EC1-C399-46BA-F65A-D382E2E117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8480" t="21550" r="21163" b="17674"/>
          <a:stretch/>
        </p:blipFill>
        <p:spPr>
          <a:xfrm>
            <a:off x="1598593" y="1996323"/>
            <a:ext cx="2907541" cy="305846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BB6E94-83BD-90A1-C8D8-FF2CCC84B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564" y="3076117"/>
            <a:ext cx="3207992" cy="145991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Google Shape;308;p38">
            <a:extLst>
              <a:ext uri="{FF2B5EF4-FFF2-40B4-BE49-F238E27FC236}">
                <a16:creationId xmlns:a16="http://schemas.microsoft.com/office/drawing/2014/main" id="{F9E3829F-84A1-638D-776A-D3F61718924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9564" y="1076723"/>
            <a:ext cx="3207992" cy="171184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0D2118-3801-4CD4-7A37-E1B6056A1DC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925" r="4583"/>
          <a:stretch/>
        </p:blipFill>
        <p:spPr>
          <a:xfrm>
            <a:off x="6419564" y="4789390"/>
            <a:ext cx="3207992" cy="160240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D6DD324-7901-FEAF-EEC7-AFD18FC2F7B3}"/>
              </a:ext>
            </a:extLst>
          </p:cNvPr>
          <p:cNvSpPr txBox="1">
            <a:spLocks/>
          </p:cNvSpPr>
          <p:nvPr/>
        </p:nvSpPr>
        <p:spPr>
          <a:xfrm>
            <a:off x="10020692" y="2842888"/>
            <a:ext cx="1491892" cy="13653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he-IL" sz="3000" dirty="0">
                <a:latin typeface="Calibri" panose="020F0502020204030204" pitchFamily="34" charset="0"/>
                <a:cs typeface="Calibri" panose="020F0502020204030204" pitchFamily="34" charset="0"/>
              </a:rPr>
              <a:t>בחירת מוצרים ושירותים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DE4B948-DA56-2612-93DC-9A353288DAD2}"/>
              </a:ext>
            </a:extLst>
          </p:cNvPr>
          <p:cNvSpPr txBox="1">
            <a:spLocks/>
          </p:cNvSpPr>
          <p:nvPr/>
        </p:nvSpPr>
        <p:spPr>
          <a:xfrm>
            <a:off x="4702702" y="2842888"/>
            <a:ext cx="1491892" cy="13653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he-IL" sz="3000" dirty="0">
                <a:latin typeface="Calibri" panose="020F0502020204030204" pitchFamily="34" charset="0"/>
                <a:cs typeface="Calibri" panose="020F0502020204030204" pitchFamily="34" charset="0"/>
              </a:rPr>
              <a:t>תשלום מארנק דיגיטלי</a:t>
            </a:r>
          </a:p>
        </p:txBody>
      </p:sp>
    </p:spTree>
    <p:extLst>
      <p:ext uri="{BB962C8B-B14F-4D97-AF65-F5344CB8AC3E}">
        <p14:creationId xmlns:p14="http://schemas.microsoft.com/office/powerpoint/2010/main" val="2247827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C5B67F0-9725-6ED8-9512-10E6D775B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9673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BAEA30-69B8-C8E3-D49C-B48D47BD1D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17" r="4052"/>
          <a:stretch/>
        </p:blipFill>
        <p:spPr>
          <a:xfrm>
            <a:off x="6508192" y="3676033"/>
            <a:ext cx="4796496" cy="287405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F9AA09-94CF-D594-3411-6E907E320D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913"/>
          <a:stretch/>
        </p:blipFill>
        <p:spPr>
          <a:xfrm>
            <a:off x="1377693" y="833854"/>
            <a:ext cx="3431972" cy="250651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7F9510-1572-F395-7E6F-179F02A4DE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229"/>
          <a:stretch/>
        </p:blipFill>
        <p:spPr>
          <a:xfrm>
            <a:off x="887312" y="3676033"/>
            <a:ext cx="5180258" cy="287404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F61418-387D-C0DF-F0A8-85861494F59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250"/>
          <a:stretch/>
        </p:blipFill>
        <p:spPr>
          <a:xfrm>
            <a:off x="5241304" y="808876"/>
            <a:ext cx="3946399" cy="255647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22299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AC9A4AC-8AA7-C4F6-63A1-85ABB77DD7B3}"/>
              </a:ext>
            </a:extLst>
          </p:cNvPr>
          <p:cNvSpPr txBox="1">
            <a:spLocks/>
          </p:cNvSpPr>
          <p:nvPr/>
        </p:nvSpPr>
        <p:spPr>
          <a:xfrm>
            <a:off x="84841" y="271301"/>
            <a:ext cx="11622529" cy="5922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he-IL" sz="3000" dirty="0">
                <a:latin typeface="Calibri" panose="020F0502020204030204" pitchFamily="34" charset="0"/>
                <a:cs typeface="Calibri" panose="020F0502020204030204" pitchFamily="34" charset="0"/>
              </a:rPr>
              <a:t>דוגמה למדידת אימפקט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10F38DA-F687-9887-680D-EFED7E9FE6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81" t="15460" r="21170" b="2057"/>
          <a:stretch/>
        </p:blipFill>
        <p:spPr>
          <a:xfrm>
            <a:off x="6300127" y="1291400"/>
            <a:ext cx="5294715" cy="49982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043C436-3D26-617B-1276-05EA73CC71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319" t="8937" r="25160" b="6525"/>
          <a:stretch/>
        </p:blipFill>
        <p:spPr>
          <a:xfrm>
            <a:off x="520319" y="929893"/>
            <a:ext cx="5215893" cy="55710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80530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7" b="38158"/>
          <a:stretch>
            <a:fillRect/>
          </a:stretch>
        </p:blipFill>
        <p:spPr>
          <a:xfrm>
            <a:off x="0" y="2821734"/>
            <a:ext cx="12188952" cy="4036265"/>
          </a:xfrm>
          <a:custGeom>
            <a:avLst/>
            <a:gdLst>
              <a:gd name="connsiteX0" fmla="*/ 0 w 12188952"/>
              <a:gd name="connsiteY0" fmla="*/ 0 h 4036265"/>
              <a:gd name="connsiteX1" fmla="*/ 12188952 w 12188952"/>
              <a:gd name="connsiteY1" fmla="*/ 0 h 4036265"/>
              <a:gd name="connsiteX2" fmla="*/ 12188952 w 12188952"/>
              <a:gd name="connsiteY2" fmla="*/ 4036265 h 4036265"/>
              <a:gd name="connsiteX3" fmla="*/ 0 w 12188952"/>
              <a:gd name="connsiteY3" fmla="*/ 4036265 h 403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4036265">
                <a:moveTo>
                  <a:pt x="0" y="0"/>
                </a:moveTo>
                <a:lnTo>
                  <a:pt x="12188952" y="0"/>
                </a:lnTo>
                <a:lnTo>
                  <a:pt x="12188952" y="4036265"/>
                </a:lnTo>
                <a:lnTo>
                  <a:pt x="0" y="4036265"/>
                </a:lnTo>
                <a:close/>
              </a:path>
            </a:pathLst>
          </a:cu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83734EE7-5933-4E5B-9198-B306A666949E}"/>
              </a:ext>
            </a:extLst>
          </p:cNvPr>
          <p:cNvSpPr/>
          <p:nvPr/>
        </p:nvSpPr>
        <p:spPr>
          <a:xfrm>
            <a:off x="0" y="2821734"/>
            <a:ext cx="12192000" cy="4036265"/>
          </a:xfrm>
          <a:prstGeom prst="rect">
            <a:avLst/>
          </a:prstGeom>
          <a:gradFill flip="none" rotWithShape="1">
            <a:gsLst>
              <a:gs pos="33000">
                <a:srgbClr val="FFFFFF">
                  <a:alpha val="97000"/>
                </a:srgbClr>
              </a:gs>
              <a:gs pos="0">
                <a:schemeClr val="bg1"/>
              </a:gs>
              <a:gs pos="99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EC9862-6117-4216-B54B-87F14E8441EC}"/>
              </a:ext>
            </a:extLst>
          </p:cNvPr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14DC5B-D504-B368-5076-537E98742367}"/>
              </a:ext>
            </a:extLst>
          </p:cNvPr>
          <p:cNvGrpSpPr>
            <a:grpSpLocks noChangeAspect="1"/>
          </p:cNvGrpSpPr>
          <p:nvPr/>
        </p:nvGrpSpPr>
        <p:grpSpPr>
          <a:xfrm>
            <a:off x="1548205" y="2175499"/>
            <a:ext cx="4048894" cy="4429827"/>
            <a:chOff x="8042765" y="2046515"/>
            <a:chExt cx="3483067" cy="3810764"/>
          </a:xfrm>
        </p:grpSpPr>
        <p:sp>
          <p:nvSpPr>
            <p:cNvPr id="7" name="Rounded Rectangle 111">
              <a:extLst>
                <a:ext uri="{FF2B5EF4-FFF2-40B4-BE49-F238E27FC236}">
                  <a16:creationId xmlns:a16="http://schemas.microsoft.com/office/drawing/2014/main" id="{0A5FEE6E-8A6A-CB3F-9198-3515189A5030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341ADED-708F-BF6A-0EE5-DA6E307F7AD9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12" name="Rounded Rectangle 103">
                <a:extLst>
                  <a:ext uri="{FF2B5EF4-FFF2-40B4-BE49-F238E27FC236}">
                    <a16:creationId xmlns:a16="http://schemas.microsoft.com/office/drawing/2014/main" id="{894E4A11-D182-D149-04F8-0C986D615728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B8F0B9E-9098-7955-8B80-D39279142530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7E269F4-9947-B8CF-B97C-30B70C8F8B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0B74AA7-4138-3DF9-FFBA-52D5270AC4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DB23F2-85B8-33C7-303F-ED4A9F7B21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9AAF740-09C2-4A62-2D70-4283F6BFD5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EA27800-7887-74BA-EE28-CFD711F6243D}"/>
              </a:ext>
            </a:extLst>
          </p:cNvPr>
          <p:cNvSpPr txBox="1"/>
          <p:nvPr/>
        </p:nvSpPr>
        <p:spPr>
          <a:xfrm>
            <a:off x="1919597" y="2611468"/>
            <a:ext cx="3405352" cy="409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תיאום רגולציה, דיגיטציה ומודל תקצוב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חשיבות השירות האנושי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he-IL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שירות מודולרי לטיוב משאבים 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פתיחת שוק לצד הגבלות מערכת 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אפיון בקרות, מעקב והתראות 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גמישות בעיצוב שירות מתמשך 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מדידת אימפקט ו- 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ROI</a:t>
            </a:r>
          </a:p>
          <a:p>
            <a:pPr marL="285750" indent="-285750" algn="r" rtl="1">
              <a:lnSpc>
                <a:spcPct val="150000"/>
              </a:lnSpc>
              <a:spcAft>
                <a:spcPts val="800"/>
              </a:spcAft>
              <a:buFont typeface="Assistant" panose="020B0604020202020204" charset="-79"/>
              <a:buChar char="›"/>
            </a:pPr>
            <a:endParaRPr lang="en-US" sz="18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E3E74D-73E3-9F00-E6CA-7BF6EC7A8A6D}"/>
              </a:ext>
            </a:extLst>
          </p:cNvPr>
          <p:cNvGrpSpPr>
            <a:grpSpLocks noChangeAspect="1"/>
          </p:cNvGrpSpPr>
          <p:nvPr/>
        </p:nvGrpSpPr>
        <p:grpSpPr>
          <a:xfrm>
            <a:off x="6513158" y="2175499"/>
            <a:ext cx="4048894" cy="4429827"/>
            <a:chOff x="8042765" y="2046515"/>
            <a:chExt cx="3483067" cy="3810764"/>
          </a:xfrm>
        </p:grpSpPr>
        <p:sp>
          <p:nvSpPr>
            <p:cNvPr id="19" name="Rounded Rectangle 111">
              <a:extLst>
                <a:ext uri="{FF2B5EF4-FFF2-40B4-BE49-F238E27FC236}">
                  <a16:creationId xmlns:a16="http://schemas.microsoft.com/office/drawing/2014/main" id="{A4A0039E-14C3-6694-F4F3-29A2C5EAA09C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5467218-D5EC-9C31-9D34-904C4CAA112D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23" name="Rounded Rectangle 103">
                <a:extLst>
                  <a:ext uri="{FF2B5EF4-FFF2-40B4-BE49-F238E27FC236}">
                    <a16:creationId xmlns:a16="http://schemas.microsoft.com/office/drawing/2014/main" id="{B2718160-CAA1-EAE4-3CC2-C558047F51E6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EEAE9E5-7495-1B1E-A52F-15357CC13986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8191298-E48E-12CF-A1F1-256B6CC589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DE127B1-040C-754F-71A2-8A4C0AA893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E16845-3ADB-59CD-418D-04DCF5E9D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9894672-3ADC-EADA-4197-352D0DB67A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4DE4A10-17ED-0C97-8988-53E452A145B8}"/>
              </a:ext>
            </a:extLst>
          </p:cNvPr>
          <p:cNvSpPr txBox="1"/>
          <p:nvPr/>
        </p:nvSpPr>
        <p:spPr>
          <a:xfrm>
            <a:off x="6829004" y="2593270"/>
            <a:ext cx="3405352" cy="4609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אוכלוסייה ראשונה – בעלי תעודת עיוור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כמות נרשמים שווה לחמש שנים 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40% צמיחה בנרשמים רוכשים 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6750 מוצרים בשירות (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30K</a:t>
            </a: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 ממופים)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יחס המרה יציב של 75%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פחות מאחוז החזרה על אי התאמה 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רמת שביעות רצון גבוהה (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N=160</a:t>
            </a:r>
            <a:r>
              <a:rPr lang="he-IL" dirty="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 algn="r" rtl="1">
              <a:lnSpc>
                <a:spcPct val="150000"/>
              </a:lnSpc>
              <a:spcAft>
                <a:spcPts val="800"/>
              </a:spcAft>
              <a:buFont typeface="Assistant" panose="020B0604020202020204" charset="-79"/>
              <a:buChar char="›"/>
            </a:pP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lnSpc>
                <a:spcPct val="150000"/>
              </a:lnSpc>
              <a:spcAft>
                <a:spcPts val="800"/>
              </a:spcAft>
              <a:buFont typeface="Assistant" panose="020B0604020202020204" charset="-79"/>
              <a:buChar char="›"/>
            </a:pPr>
            <a:endParaRPr lang="en-US" sz="18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A657E930-1D90-A8BC-A667-6EAFE294C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3881" y="265425"/>
            <a:ext cx="9384235" cy="592268"/>
          </a:xfrm>
        </p:spPr>
        <p:txBody>
          <a:bodyPr/>
          <a:lstStyle/>
          <a:p>
            <a:pPr algn="ctr"/>
            <a:r>
              <a:rPr lang="he-IL" dirty="0"/>
              <a:t>פיילוט משרד הרווחה מנהל מוגבלויות</a:t>
            </a:r>
            <a:endParaRPr lang="en-IL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49C687B3-3762-E5AD-AA07-F29E61879C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2357" y="741076"/>
            <a:ext cx="9384235" cy="488493"/>
          </a:xfrm>
        </p:spPr>
        <p:txBody>
          <a:bodyPr/>
          <a:lstStyle/>
          <a:p>
            <a:pPr algn="ctr" rtl="1"/>
            <a:r>
              <a:rPr lang="he-IL" dirty="0"/>
              <a:t>נתונים ותובנות שנת הפעלה ראשונה 2023-2024</a:t>
            </a:r>
            <a:endParaRPr lang="en-IL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EF1EF41-57AD-7BD4-1ECA-1BEE80056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021" y="1297371"/>
            <a:ext cx="2868909" cy="78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26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C1A0D-9035-44A7-F90C-54878EEF9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999" y="694943"/>
            <a:ext cx="8430802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87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7" b="38158"/>
          <a:stretch>
            <a:fillRect/>
          </a:stretch>
        </p:blipFill>
        <p:spPr>
          <a:xfrm>
            <a:off x="0" y="2821734"/>
            <a:ext cx="12188952" cy="4036265"/>
          </a:xfrm>
          <a:custGeom>
            <a:avLst/>
            <a:gdLst>
              <a:gd name="connsiteX0" fmla="*/ 0 w 12188952"/>
              <a:gd name="connsiteY0" fmla="*/ 0 h 4036265"/>
              <a:gd name="connsiteX1" fmla="*/ 12188952 w 12188952"/>
              <a:gd name="connsiteY1" fmla="*/ 0 h 4036265"/>
              <a:gd name="connsiteX2" fmla="*/ 12188952 w 12188952"/>
              <a:gd name="connsiteY2" fmla="*/ 4036265 h 4036265"/>
              <a:gd name="connsiteX3" fmla="*/ 0 w 12188952"/>
              <a:gd name="connsiteY3" fmla="*/ 4036265 h 403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4036265">
                <a:moveTo>
                  <a:pt x="0" y="0"/>
                </a:moveTo>
                <a:lnTo>
                  <a:pt x="12188952" y="0"/>
                </a:lnTo>
                <a:lnTo>
                  <a:pt x="12188952" y="4036265"/>
                </a:lnTo>
                <a:lnTo>
                  <a:pt x="0" y="4036265"/>
                </a:lnTo>
                <a:close/>
              </a:path>
            </a:pathLst>
          </a:cu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83734EE7-5933-4E5B-9198-B306A666949E}"/>
              </a:ext>
            </a:extLst>
          </p:cNvPr>
          <p:cNvSpPr/>
          <p:nvPr/>
        </p:nvSpPr>
        <p:spPr>
          <a:xfrm>
            <a:off x="0" y="2821734"/>
            <a:ext cx="12192000" cy="4036265"/>
          </a:xfrm>
          <a:prstGeom prst="rect">
            <a:avLst/>
          </a:prstGeom>
          <a:gradFill flip="none" rotWithShape="1">
            <a:gsLst>
              <a:gs pos="33000">
                <a:srgbClr val="FFFFFF">
                  <a:alpha val="97000"/>
                </a:srgbClr>
              </a:gs>
              <a:gs pos="0">
                <a:schemeClr val="bg1"/>
              </a:gs>
              <a:gs pos="99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656E02-33BB-4D0D-BBF8-30DECEE31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13265" y="209383"/>
            <a:ext cx="9562421" cy="901677"/>
          </a:xfrm>
        </p:spPr>
        <p:txBody>
          <a:bodyPr>
            <a:normAutofit/>
          </a:bodyPr>
          <a:lstStyle/>
          <a:p>
            <a:pPr algn="ctr"/>
            <a:r>
              <a:rPr lang="he-IL" sz="3600" dirty="0">
                <a:ea typeface="Calibri" panose="020F0502020204030204" pitchFamily="34" charset="0"/>
                <a:cs typeface="Calibri" panose="020F0502020204030204" pitchFamily="34" charset="0"/>
              </a:rPr>
              <a:t>משתמשים ופונקציונליות מערכת</a:t>
            </a:r>
            <a:endParaRPr lang="en-US" sz="36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EC9862-6117-4216-B54B-87F14E8441EC}"/>
              </a:ext>
            </a:extLst>
          </p:cNvPr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27ECEB9-E107-44D4-EB87-6373A9FED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B9B272-6122-85EF-A978-5BD4A5BC491E}"/>
              </a:ext>
            </a:extLst>
          </p:cNvPr>
          <p:cNvSpPr/>
          <p:nvPr/>
        </p:nvSpPr>
        <p:spPr>
          <a:xfrm>
            <a:off x="7564303" y="1256169"/>
            <a:ext cx="1800000" cy="923365"/>
          </a:xfrm>
          <a:prstGeom prst="roundRect">
            <a:avLst/>
          </a:prstGeom>
          <a:solidFill>
            <a:srgbClr val="E150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לקוח יחיד</a:t>
            </a:r>
            <a:endParaRPr lang="en-IL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B26BD9-DFF9-1E75-7408-6DC23DD0A383}"/>
              </a:ext>
            </a:extLst>
          </p:cNvPr>
          <p:cNvSpPr/>
          <p:nvPr/>
        </p:nvSpPr>
        <p:spPr>
          <a:xfrm>
            <a:off x="9501017" y="3142634"/>
            <a:ext cx="1800000" cy="92336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דני, בן משפחה</a:t>
            </a:r>
          </a:p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לקוח פרטי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85B97A-1849-BE07-2788-27EAE57C36C0}"/>
              </a:ext>
            </a:extLst>
          </p:cNvPr>
          <p:cNvSpPr/>
          <p:nvPr/>
        </p:nvSpPr>
        <p:spPr>
          <a:xfrm>
            <a:off x="7564303" y="3165454"/>
            <a:ext cx="1800000" cy="92336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מנחם, תעודת עיוור</a:t>
            </a:r>
          </a:p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לקוח זכאי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FB80AA-4E02-F7A2-B6A9-9476824AE641}"/>
              </a:ext>
            </a:extLst>
          </p:cNvPr>
          <p:cNvSpPr/>
          <p:nvPr/>
        </p:nvSpPr>
        <p:spPr>
          <a:xfrm>
            <a:off x="7564303" y="4190213"/>
            <a:ext cx="1800000" cy="1452290"/>
          </a:xfrm>
          <a:prstGeom prst="roundRect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התאמה אישית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אזור אישי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מרקטפלייס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חיבור לספקים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שירות לקוחות 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F50A20-1633-733B-7E6D-73198B0A7211}"/>
              </a:ext>
            </a:extLst>
          </p:cNvPr>
          <p:cNvSpPr/>
          <p:nvPr/>
        </p:nvSpPr>
        <p:spPr>
          <a:xfrm>
            <a:off x="7564303" y="5725518"/>
            <a:ext cx="1800000" cy="923365"/>
          </a:xfrm>
          <a:prstGeom prst="roundRect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ארנקים דיגיטלים</a:t>
            </a:r>
          </a:p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סבסוד אונליין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8430BB-9947-46CE-CB8C-E97AC4F2FC7A}"/>
              </a:ext>
            </a:extLst>
          </p:cNvPr>
          <p:cNvSpPr/>
          <p:nvPr/>
        </p:nvSpPr>
        <p:spPr>
          <a:xfrm>
            <a:off x="2788111" y="1256168"/>
            <a:ext cx="1800000" cy="923365"/>
          </a:xfrm>
          <a:prstGeom prst="roundRect">
            <a:avLst/>
          </a:prstGeom>
          <a:solidFill>
            <a:srgbClr val="E150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ספקי מוצרים ושירותים</a:t>
            </a:r>
            <a:endParaRPr lang="en-IL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99FDF8-D0AA-33C7-B390-A7C1CD67FCA4}"/>
              </a:ext>
            </a:extLst>
          </p:cNvPr>
          <p:cNvSpPr/>
          <p:nvPr/>
        </p:nvSpPr>
        <p:spPr>
          <a:xfrm>
            <a:off x="662205" y="1256168"/>
            <a:ext cx="1800000" cy="923365"/>
          </a:xfrm>
          <a:prstGeom prst="roundRect">
            <a:avLst/>
          </a:prstGeom>
          <a:solidFill>
            <a:srgbClr val="E150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מדינה</a:t>
            </a:r>
          </a:p>
          <a:p>
            <a:pPr algn="ctr" rtl="1"/>
            <a:r>
              <a:rPr lang="he-I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רשות מקומית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rtl="1"/>
            <a:r>
              <a:rPr lang="he-I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קופות חולים</a:t>
            </a:r>
            <a:endParaRPr lang="en-IL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06323A-C0C4-5D50-F12D-8CCBC7C33DD5}"/>
              </a:ext>
            </a:extLst>
          </p:cNvPr>
          <p:cNvSpPr/>
          <p:nvPr/>
        </p:nvSpPr>
        <p:spPr>
          <a:xfrm>
            <a:off x="5627589" y="3178177"/>
            <a:ext cx="1800000" cy="92336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אלכסנדרה, </a:t>
            </a:r>
            <a:r>
              <a:rPr lang="he-I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מרב"ע</a:t>
            </a:r>
            <a:endParaRPr lang="he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אנשי מקצוע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8883BA-23AE-6464-6DA1-5879E4FBDD6C}"/>
              </a:ext>
            </a:extLst>
          </p:cNvPr>
          <p:cNvSpPr/>
          <p:nvPr/>
        </p:nvSpPr>
        <p:spPr>
          <a:xfrm>
            <a:off x="5627589" y="5725517"/>
            <a:ext cx="1800000" cy="923365"/>
          </a:xfrm>
          <a:prstGeom prst="roundRect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אזור אישי לכל לקוח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A93DA5-D4D8-A4C1-7822-B5E999818374}"/>
              </a:ext>
            </a:extLst>
          </p:cNvPr>
          <p:cNvSpPr/>
          <p:nvPr/>
        </p:nvSpPr>
        <p:spPr>
          <a:xfrm>
            <a:off x="9501017" y="4168154"/>
            <a:ext cx="1800000" cy="1452290"/>
          </a:xfrm>
          <a:prstGeom prst="roundRect">
            <a:avLst/>
          </a:prstGeom>
          <a:solidFill>
            <a:srgbClr val="5FC6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התאמה אישית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אזור אישי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מרקטפלייס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חיבור לספקים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שירות לקוחות 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C0E062-1BA0-6417-97FA-68A7F68BB700}"/>
              </a:ext>
            </a:extLst>
          </p:cNvPr>
          <p:cNvSpPr/>
          <p:nvPr/>
        </p:nvSpPr>
        <p:spPr>
          <a:xfrm>
            <a:off x="5627589" y="4190213"/>
            <a:ext cx="1800000" cy="1452290"/>
          </a:xfrm>
          <a:prstGeom prst="roundRect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התאמה אישית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אזור אישי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מרקטפלייס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חיבור לספקים</a:t>
            </a:r>
          </a:p>
          <a:p>
            <a:pPr lvl="0"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שירות לקוחות 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1606C2-7487-D92D-EA86-1261328C030C}"/>
              </a:ext>
            </a:extLst>
          </p:cNvPr>
          <p:cNvSpPr/>
          <p:nvPr/>
        </p:nvSpPr>
        <p:spPr>
          <a:xfrm>
            <a:off x="2788111" y="4207023"/>
            <a:ext cx="1800000" cy="2481489"/>
          </a:xfrm>
          <a:prstGeom prst="roundRect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מיפוי מוצרים</a:t>
            </a:r>
          </a:p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התאמה אישית</a:t>
            </a:r>
          </a:p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דפי מוצר</a:t>
            </a:r>
          </a:p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לוח ניהול</a:t>
            </a:r>
          </a:p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סליקה </a:t>
            </a:r>
          </a:p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תפעול</a:t>
            </a:r>
          </a:p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שירות לקוחות </a:t>
            </a:r>
          </a:p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חיבור ללקוחות</a:t>
            </a:r>
          </a:p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ערוצי שיווק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733317-F958-0F0B-70FC-C40DC5B50631}"/>
              </a:ext>
            </a:extLst>
          </p:cNvPr>
          <p:cNvSpPr/>
          <p:nvPr/>
        </p:nvSpPr>
        <p:spPr>
          <a:xfrm>
            <a:off x="660037" y="4190213"/>
            <a:ext cx="1800000" cy="2468965"/>
          </a:xfrm>
          <a:prstGeom prst="roundRect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התאמות מערכת לרגולציה</a:t>
            </a:r>
          </a:p>
          <a:p>
            <a:pPr lvl="0"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לוחות ניהול וניתוחי נתונים</a:t>
            </a:r>
          </a:p>
        </p:txBody>
      </p:sp>
      <p:pic>
        <p:nvPicPr>
          <p:cNvPr id="2052" name="Picture 4" descr="‪Portrait Of An Old Woman With Eyeglasses Avatar Happy Old Age Stock  Illustration - Download Image Now - iStock‬‏">
            <a:extLst>
              <a:ext uri="{FF2B5EF4-FFF2-40B4-BE49-F238E27FC236}">
                <a16:creationId xmlns:a16="http://schemas.microsoft.com/office/drawing/2014/main" id="{820A0B76-93F3-5CE7-D894-957FA4E45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703" y="2377274"/>
            <a:ext cx="997772" cy="9977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64" name="Picture 16" descr="Portrait of an old hipster man with a bow tie. Avatar fashion grandfather. Portrait of an old hipster man with a bow tie. Avatar fashion grandfather. Vector illustration in flat style old man face stock illustrations">
            <a:extLst>
              <a:ext uri="{FF2B5EF4-FFF2-40B4-BE49-F238E27FC236}">
                <a16:creationId xmlns:a16="http://schemas.microsoft.com/office/drawing/2014/main" id="{801DC161-A6DE-5B22-FD09-D486EC12F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149" y="2396244"/>
            <a:ext cx="997772" cy="9977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78" name="Picture 30" descr="Portrait of a happy Hispanic man in half-turn. Avatar vector art illustration">
            <a:extLst>
              <a:ext uri="{FF2B5EF4-FFF2-40B4-BE49-F238E27FC236}">
                <a16:creationId xmlns:a16="http://schemas.microsoft.com/office/drawing/2014/main" id="{9E01B7CF-41BC-15F5-8766-17C78DB90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02131" y="2377274"/>
            <a:ext cx="997772" cy="9977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E7DA0C-522E-E4B6-1F50-6B6A6FCD5302}"/>
              </a:ext>
            </a:extLst>
          </p:cNvPr>
          <p:cNvSpPr/>
          <p:nvPr/>
        </p:nvSpPr>
        <p:spPr>
          <a:xfrm>
            <a:off x="2788111" y="3165453"/>
            <a:ext cx="1800000" cy="92336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עינת, מנהלת חנות</a:t>
            </a:r>
          </a:p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ספק נותן שירות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76" name="Picture 28" descr="Portrait of a happy old woman with a smartphone. Avatar. Social media for elderly people vector art illustration">
            <a:extLst>
              <a:ext uri="{FF2B5EF4-FFF2-40B4-BE49-F238E27FC236}">
                <a16:creationId xmlns:a16="http://schemas.microsoft.com/office/drawing/2014/main" id="{9DE1E1C4-63A5-ED84-E402-6471E50FF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696" y="2377274"/>
            <a:ext cx="1001573" cy="10015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E7FCC7-938B-B524-2139-52D9B566A637}"/>
              </a:ext>
            </a:extLst>
          </p:cNvPr>
          <p:cNvSpPr/>
          <p:nvPr/>
        </p:nvSpPr>
        <p:spPr>
          <a:xfrm>
            <a:off x="674725" y="3158567"/>
            <a:ext cx="1800000" cy="92336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rtl="1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רוברט, עו"ס</a:t>
            </a:r>
          </a:p>
          <a:p>
            <a:pPr algn="ctr"/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רווחה רשות מקומית</a:t>
            </a:r>
            <a:endParaRPr lang="en-I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70" name="Picture 22" descr="A young doctor in a medical gown. Portrait of professional. vector art illustration">
            <a:extLst>
              <a:ext uri="{FF2B5EF4-FFF2-40B4-BE49-F238E27FC236}">
                <a16:creationId xmlns:a16="http://schemas.microsoft.com/office/drawing/2014/main" id="{E538F20A-E1CC-1B1B-77C1-B8B0F76956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3" r="11451" b="43357"/>
          <a:stretch/>
        </p:blipFill>
        <p:spPr bwMode="auto">
          <a:xfrm>
            <a:off x="1025975" y="2378310"/>
            <a:ext cx="1029639" cy="9977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0870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BEE97CE-0488-CFAC-0B95-C3852037C915}"/>
              </a:ext>
            </a:extLst>
          </p:cNvPr>
          <p:cNvSpPr txBox="1">
            <a:spLocks/>
          </p:cNvSpPr>
          <p:nvPr/>
        </p:nvSpPr>
        <p:spPr>
          <a:xfrm>
            <a:off x="-94268" y="67981"/>
            <a:ext cx="12192000" cy="90167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he-IL" sz="3000" dirty="0"/>
              <a:t>כיצד נענה על האתגרים בעזרת שירות דיגיטלי?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16A4F7B-E68B-A0FB-2BBA-70B57ACE31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225444"/>
              </p:ext>
            </p:extLst>
          </p:nvPr>
        </p:nvGraphicFramePr>
        <p:xfrm>
          <a:off x="1937732" y="116263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001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47">
      <a:majorFont>
        <a:latin typeface="Assistant"/>
        <a:ea typeface=""/>
        <a:cs typeface=""/>
      </a:majorFont>
      <a:minorFont>
        <a:latin typeface="Assista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4281</TotalTime>
  <Words>815</Words>
  <Application>Microsoft Office PowerPoint</Application>
  <PresentationFormat>מסך רחב</PresentationFormat>
  <Paragraphs>156</Paragraphs>
  <Slides>20</Slides>
  <Notes>15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5" baseType="lpstr">
      <vt:lpstr>Calibri</vt:lpstr>
      <vt:lpstr>Arial</vt:lpstr>
      <vt:lpstr>Assistant</vt:lpstr>
      <vt:lpstr>Montserrat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moran ran</dc:creator>
  <cp:lastModifiedBy>אביעד יצחק</cp:lastModifiedBy>
  <cp:revision>291</cp:revision>
  <dcterms:created xsi:type="dcterms:W3CDTF">2021-10-09T19:35:34Z</dcterms:created>
  <dcterms:modified xsi:type="dcterms:W3CDTF">2024-12-10T15:45:47Z</dcterms:modified>
</cp:coreProperties>
</file>