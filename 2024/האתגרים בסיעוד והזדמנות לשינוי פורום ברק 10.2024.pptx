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5.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3.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34.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80" r:id="rId2"/>
    <p:sldMasterId id="2147483686" r:id="rId3"/>
    <p:sldMasterId id="2147483715" r:id="rId4"/>
    <p:sldMasterId id="2147483748" r:id="rId5"/>
  </p:sldMasterIdLst>
  <p:notesMasterIdLst>
    <p:notesMasterId r:id="rId61"/>
  </p:notesMasterIdLst>
  <p:sldIdLst>
    <p:sldId id="2145706343" r:id="rId6"/>
    <p:sldId id="331" r:id="rId7"/>
    <p:sldId id="257" r:id="rId8"/>
    <p:sldId id="2145707243" r:id="rId9"/>
    <p:sldId id="2145707113" r:id="rId10"/>
    <p:sldId id="2145707246" r:id="rId11"/>
    <p:sldId id="2145707258" r:id="rId12"/>
    <p:sldId id="2145707259" r:id="rId13"/>
    <p:sldId id="2145707247" r:id="rId14"/>
    <p:sldId id="2145707248" r:id="rId15"/>
    <p:sldId id="2145707252" r:id="rId16"/>
    <p:sldId id="2145707124" r:id="rId17"/>
    <p:sldId id="2145707254" r:id="rId18"/>
    <p:sldId id="2145707221" r:id="rId19"/>
    <p:sldId id="2145707244" r:id="rId20"/>
    <p:sldId id="2145707267" r:id="rId21"/>
    <p:sldId id="2145707250" r:id="rId22"/>
    <p:sldId id="2145707251" r:id="rId23"/>
    <p:sldId id="2145707262" r:id="rId24"/>
    <p:sldId id="2145707136" r:id="rId25"/>
    <p:sldId id="2145707201" r:id="rId26"/>
    <p:sldId id="2145706334" r:id="rId27"/>
    <p:sldId id="2145707255" r:id="rId28"/>
    <p:sldId id="2145706441" r:id="rId29"/>
    <p:sldId id="2145707238" r:id="rId30"/>
    <p:sldId id="2145707269" r:id="rId31"/>
    <p:sldId id="2145707191" r:id="rId32"/>
    <p:sldId id="2145707245" r:id="rId33"/>
    <p:sldId id="2145707149" r:id="rId34"/>
    <p:sldId id="281" r:id="rId35"/>
    <p:sldId id="260" r:id="rId36"/>
    <p:sldId id="301" r:id="rId37"/>
    <p:sldId id="294" r:id="rId38"/>
    <p:sldId id="296" r:id="rId39"/>
    <p:sldId id="2145706440" r:id="rId40"/>
    <p:sldId id="2145707194" r:id="rId41"/>
    <p:sldId id="2145707140" r:id="rId42"/>
    <p:sldId id="2145707187" r:id="rId43"/>
    <p:sldId id="2145707270" r:id="rId44"/>
    <p:sldId id="2145707242" r:id="rId45"/>
    <p:sldId id="2145707257" r:id="rId46"/>
    <p:sldId id="2145707137" r:id="rId47"/>
    <p:sldId id="2145707141" r:id="rId48"/>
    <p:sldId id="342" r:id="rId49"/>
    <p:sldId id="2145706336" r:id="rId50"/>
    <p:sldId id="2145707120" r:id="rId51"/>
    <p:sldId id="2145707135" r:id="rId52"/>
    <p:sldId id="2145706317" r:id="rId53"/>
    <p:sldId id="298" r:id="rId54"/>
    <p:sldId id="2145707103" r:id="rId55"/>
    <p:sldId id="2145707101" r:id="rId56"/>
    <p:sldId id="2145707102" r:id="rId57"/>
    <p:sldId id="362" r:id="rId58"/>
    <p:sldId id="2145707138" r:id="rId59"/>
    <p:sldId id="2145707139" r:id="rId6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2252"/>
    <a:srgbClr val="7D3FAE"/>
    <a:srgbClr val="143AA6"/>
    <a:srgbClr val="37798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סגנון בהיר 3 - הדגשה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סגנון בהיר 2 - הדגשה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13" autoAdjust="0"/>
    <p:restoredTop sz="94660"/>
  </p:normalViewPr>
  <p:slideViewPr>
    <p:cSldViewPr snapToGrid="0">
      <p:cViewPr>
        <p:scale>
          <a:sx n="90" d="100"/>
          <a:sy n="90" d="100"/>
        </p:scale>
        <p:origin x="1254"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5.xml"/><Relationship Id="rId1" Type="http://schemas.microsoft.com/office/2011/relationships/chartStyle" Target="style1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marL="0" marR="0" lvl="0" indent="0" algn="ctr" defTabSz="914400" rtl="1" eaLnBrk="1" fontAlgn="auto" latinLnBrk="0" hangingPunct="1">
              <a:lnSpc>
                <a:spcPct val="100000"/>
              </a:lnSpc>
              <a:spcBef>
                <a:spcPts val="0"/>
              </a:spcBef>
              <a:spcAft>
                <a:spcPts val="0"/>
              </a:spcAft>
              <a:buClrTx/>
              <a:buSzTx/>
              <a:buFontTx/>
              <a:buNone/>
              <a:tabLst/>
              <a:defRPr sz="2000" b="0" i="0" u="none" strike="noStrike" kern="1200" cap="none" spc="50" normalizeH="0" baseline="0">
                <a:solidFill>
                  <a:schemeClr val="tx1"/>
                </a:solidFill>
                <a:latin typeface="+mj-lt"/>
                <a:ea typeface="+mj-ea"/>
                <a:cs typeface="+mj-cs"/>
              </a:defRPr>
            </a:pPr>
            <a:r>
              <a:rPr lang="he-IL" sz="2000" b="1" dirty="0">
                <a:solidFill>
                  <a:schemeClr val="tx1"/>
                </a:solidFill>
                <a:latin typeface="Assistant" pitchFamily="2" charset="-79"/>
                <a:cs typeface="Assistant" pitchFamily="2" charset="-79"/>
              </a:rPr>
              <a:t>תחזית של אחוז בני ה-65+ מהאוכלוסייה בישראל</a:t>
            </a:r>
            <a:br>
              <a:rPr lang="en-US" sz="2000" dirty="0">
                <a:solidFill>
                  <a:schemeClr val="tx1"/>
                </a:solidFill>
                <a:latin typeface="Assistant" pitchFamily="2" charset="-79"/>
                <a:cs typeface="Assistant" pitchFamily="2" charset="-79"/>
              </a:rPr>
            </a:br>
            <a:r>
              <a:rPr lang="he-IL" sz="2000" b="1" dirty="0">
                <a:solidFill>
                  <a:schemeClr val="tx1"/>
                </a:solidFill>
                <a:latin typeface="Assistant" pitchFamily="2" charset="-79"/>
                <a:cs typeface="Assistant" pitchFamily="2" charset="-79"/>
              </a:rPr>
              <a:t>2025-2045  </a:t>
            </a:r>
            <a:r>
              <a:rPr lang="he-IL" sz="1400" b="1" dirty="0">
                <a:solidFill>
                  <a:schemeClr val="tx1"/>
                </a:solidFill>
                <a:latin typeface="Assistant" pitchFamily="2" charset="-79"/>
                <a:cs typeface="Assistant" pitchFamily="2" charset="-79"/>
              </a:rPr>
              <a:t>(שנתון 2023 </a:t>
            </a:r>
            <a:r>
              <a:rPr lang="he-IL" sz="1400" b="1" dirty="0" err="1">
                <a:solidFill>
                  <a:schemeClr val="tx1"/>
                </a:solidFill>
                <a:latin typeface="Assistant" pitchFamily="2" charset="-79"/>
                <a:cs typeface="Assistant" pitchFamily="2" charset="-79"/>
              </a:rPr>
              <a:t>ברוקדייל</a:t>
            </a:r>
            <a:r>
              <a:rPr lang="he-IL" sz="1400" b="1" dirty="0">
                <a:solidFill>
                  <a:schemeClr val="tx1"/>
                </a:solidFill>
                <a:latin typeface="Assistant" pitchFamily="2" charset="-79"/>
                <a:cs typeface="Assistant" pitchFamily="2" charset="-79"/>
              </a:rPr>
              <a:t>)</a:t>
            </a:r>
            <a:endParaRPr lang="he-IL" sz="2000" b="1" dirty="0">
              <a:solidFill>
                <a:schemeClr val="tx1"/>
              </a:solidFill>
              <a:latin typeface="Assistant" pitchFamily="2" charset="-79"/>
              <a:cs typeface="Assistant" pitchFamily="2" charset="-79"/>
            </a:endParaRPr>
          </a:p>
        </c:rich>
      </c:tx>
      <c:overlay val="0"/>
      <c:spPr>
        <a:noFill/>
        <a:ln>
          <a:noFill/>
        </a:ln>
        <a:effectLst/>
      </c:spPr>
      <c:txPr>
        <a:bodyPr rot="0" spcFirstLastPara="1" vertOverflow="ellipsis" vert="horz" wrap="square" anchor="ctr" anchorCtr="1"/>
        <a:lstStyle/>
        <a:p>
          <a:pPr marL="0" marR="0" lvl="0" indent="0" algn="ctr" defTabSz="914400" rtl="1" eaLnBrk="1" fontAlgn="auto" latinLnBrk="0" hangingPunct="1">
            <a:lnSpc>
              <a:spcPct val="100000"/>
            </a:lnSpc>
            <a:spcBef>
              <a:spcPts val="0"/>
            </a:spcBef>
            <a:spcAft>
              <a:spcPts val="0"/>
            </a:spcAft>
            <a:buClrTx/>
            <a:buSzTx/>
            <a:buFontTx/>
            <a:buNone/>
            <a:tabLst/>
            <a:defRPr sz="2000" b="0" i="0" u="none" strike="noStrike" kern="1200" cap="none" spc="50" normalizeH="0" baseline="0">
              <a:solidFill>
                <a:schemeClr val="tx1"/>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rgbClr val="0F6FC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1-FADE-4127-87FE-3836A406ABFE}"/>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05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200" b="1" dirty="0">
                <a:latin typeface="Arial" panose="020B0604020202020204" pitchFamily="34" charset="0"/>
                <a:cs typeface="Arial" panose="020B0604020202020204" pitchFamily="34" charset="0"/>
              </a:rPr>
              <a:t>חלוקת תקציב 2018</a:t>
            </a:r>
          </a:p>
        </c:rich>
      </c:tx>
      <c:layout>
        <c:manualLayout>
          <c:xMode val="edge"/>
          <c:yMode val="edge"/>
          <c:x val="0.34203430139826657"/>
          <c:y val="5.9368352929669826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9.6311576535027615E-2"/>
          <c:y val="0.22825530531457483"/>
          <c:w val="0.86731553369038539"/>
          <c:h val="0.64362569468409281"/>
        </c:manualLayout>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2">
                  <c:v>2024</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r>
              <a:rPr lang="he-IL" sz="1600" b="1" dirty="0">
                <a:solidFill>
                  <a:srgbClr val="002060"/>
                </a:solidFill>
              </a:rPr>
              <a:t>השוואת תקציב לפי</a:t>
            </a:r>
            <a:r>
              <a:rPr lang="he-IL" sz="1600" b="1" baseline="0" dirty="0">
                <a:solidFill>
                  <a:srgbClr val="002060"/>
                </a:solidFill>
              </a:rPr>
              <a:t> שירותים במיליארדים</a:t>
            </a:r>
            <a:endParaRPr lang="he-IL" sz="1600" b="1" dirty="0">
              <a:solidFill>
                <a:srgbClr val="002060"/>
              </a:solidFill>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גיליון2!$J$46</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גיליון2!$J$47:$J$51</c:f>
              <c:numCache>
                <c:formatCode>General</c:formatCode>
                <c:ptCount val="5"/>
                <c:pt idx="0">
                  <c:v>6.17</c:v>
                </c:pt>
                <c:pt idx="1">
                  <c:v>0</c:v>
                </c:pt>
                <c:pt idx="2">
                  <c:v>0.17</c:v>
                </c:pt>
                <c:pt idx="3">
                  <c:v>0.23</c:v>
                </c:pt>
                <c:pt idx="4">
                  <c:v>6.69</c:v>
                </c:pt>
              </c:numCache>
            </c:numRef>
          </c:val>
          <c:extLst>
            <c:ext xmlns:c16="http://schemas.microsoft.com/office/drawing/2014/chart" uri="{C3380CC4-5D6E-409C-BE32-E72D297353CC}">
              <c16:uniqueId val="{00000000-9DA5-4F2F-A2CA-EA62740A75A1}"/>
            </c:ext>
          </c:extLst>
        </c:ser>
        <c:ser>
          <c:idx val="1"/>
          <c:order val="1"/>
          <c:tx>
            <c:strRef>
              <c:f>גיליון2!$K$46</c:f>
              <c:strCache>
                <c:ptCount val="1"/>
                <c:pt idx="0">
                  <c:v>2024</c:v>
                </c:pt>
              </c:strCache>
            </c:strRef>
          </c:tx>
          <c:spPr>
            <a:solidFill>
              <a:schemeClr val="accent2"/>
            </a:solidFill>
            <a:ln>
              <a:noFill/>
            </a:ln>
            <a:effectLst/>
          </c:spPr>
          <c:invertIfNegative val="0"/>
          <c:dLbls>
            <c:dLbl>
              <c:idx val="0"/>
              <c:tx>
                <c:rich>
                  <a:bodyPr/>
                  <a:lstStyle/>
                  <a:p>
                    <a:r>
                      <a:rPr lang="en-US"/>
                      <a:t>6.5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9B9-4C37-99C0-8B0A7005D667}"/>
                </c:ext>
              </c:extLst>
            </c:dLbl>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9DA5-4F2F-A2CA-EA62740A75A1}"/>
                </c:ext>
              </c:extLst>
            </c:dLbl>
            <c:dLbl>
              <c:idx val="2"/>
              <c:tx>
                <c:rich>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r>
                      <a:rPr lang="en-US" dirty="0"/>
                      <a:t>4.5</a:t>
                    </a:r>
                  </a:p>
                </c:rich>
              </c:tx>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DA5-4F2F-A2CA-EA62740A75A1}"/>
                </c:ext>
              </c:extLst>
            </c:dLbl>
            <c:dLbl>
              <c:idx val="4"/>
              <c:tx>
                <c:rich>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r>
                      <a:rPr lang="en-US" dirty="0"/>
                      <a:t>18</a:t>
                    </a:r>
                  </a:p>
                </c:rich>
              </c:tx>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DA5-4F2F-A2CA-EA62740A75A1}"/>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גיליון2!$K$47:$K$51</c:f>
              <c:numCache>
                <c:formatCode>General</c:formatCode>
                <c:ptCount val="5"/>
                <c:pt idx="0">
                  <c:v>6</c:v>
                </c:pt>
                <c:pt idx="1">
                  <c:v>7</c:v>
                </c:pt>
                <c:pt idx="2">
                  <c:v>3.7</c:v>
                </c:pt>
                <c:pt idx="3">
                  <c:v>0.28000000000000003</c:v>
                </c:pt>
                <c:pt idx="4">
                  <c:v>17</c:v>
                </c:pt>
              </c:numCache>
            </c:numRef>
          </c:val>
          <c:extLst>
            <c:ext xmlns:c16="http://schemas.microsoft.com/office/drawing/2014/chart" uri="{C3380CC4-5D6E-409C-BE32-E72D297353CC}">
              <c16:uniqueId val="{00000001-9DA5-4F2F-A2CA-EA62740A75A1}"/>
            </c:ext>
          </c:extLst>
        </c:ser>
        <c:dLbls>
          <c:dLblPos val="outEnd"/>
          <c:showLegendKey val="0"/>
          <c:showVal val="1"/>
          <c:showCatName val="0"/>
          <c:showSerName val="0"/>
          <c:showPercent val="0"/>
          <c:showBubbleSize val="0"/>
        </c:dLbls>
        <c:gapWidth val="219"/>
        <c:overlap val="-27"/>
        <c:axId val="357487472"/>
        <c:axId val="357489112"/>
      </c:barChart>
      <c:catAx>
        <c:axId val="357487472"/>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57489112"/>
        <c:crosses val="autoZero"/>
        <c:auto val="1"/>
        <c:lblAlgn val="ctr"/>
        <c:lblOffset val="100"/>
        <c:noMultiLvlLbl val="0"/>
      </c:catAx>
      <c:valAx>
        <c:axId val="35748911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57487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 (2018)</a:t>
            </a:r>
          </a:p>
          <a:p>
            <a:pPr algn="ctr" rtl="1">
              <a:defRPr/>
            </a:pPr>
            <a:r>
              <a:rPr lang="he-IL" sz="1400" b="0" i="0" u="none" strike="noStrike" baseline="0">
                <a:solidFill>
                  <a:srgbClr val="93A2AE"/>
                </a:solidFill>
              </a:rPr>
              <a:t>(</a:t>
            </a:r>
            <a:r>
              <a:rPr lang="en-US" sz="1400" b="0" i="0" u="none" strike="noStrike" baseline="0">
                <a:solidFill>
                  <a:srgbClr val="93A2AE"/>
                </a:solidFill>
              </a:rPr>
              <a:t>Eurostat</a:t>
            </a:r>
            <a:r>
              <a:rPr lang="he-IL" sz="1400" b="0" i="0" u="none" strike="noStrike" baseline="0">
                <a:solidFill>
                  <a:srgbClr val="93A2AE"/>
                </a:solidFill>
              </a:rPr>
              <a:t>)</a:t>
            </a:r>
            <a:endParaRPr lang="en-US" sz="140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0.15545426246397376"/>
          <c:w val="0.91162209945703154"/>
          <c:h val="0.58158977831086089"/>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27"/>
            <c:invertIfNegative val="0"/>
            <c:bubble3D val="0"/>
            <c:spPr>
              <a:solidFill>
                <a:schemeClr val="accent1">
                  <a:lumMod val="50000"/>
                </a:schemeClr>
              </a:solidFill>
              <a:ln>
                <a:noFill/>
              </a:ln>
              <a:effectLst/>
            </c:spPr>
            <c:extLst>
              <c:ext xmlns:c16="http://schemas.microsoft.com/office/drawing/2014/chart" uri="{C3380CC4-5D6E-409C-BE32-E72D297353CC}">
                <c16:uniqueId val="{0000001A-3470-4B1E-AE3D-3266D971E83A}"/>
              </c:ext>
            </c:extLst>
          </c:dPt>
          <c:dLbls>
            <c:dLbl>
              <c:idx val="0"/>
              <c:tx>
                <c:rich>
                  <a:bodyPr/>
                  <a:lstStyle/>
                  <a:p>
                    <a:fld id="{039FF55F-6F27-4D22-8A1E-C135D269F45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3470-4B1E-AE3D-3266D971E83A}"/>
                </c:ext>
              </c:extLst>
            </c:dLbl>
            <c:dLbl>
              <c:idx val="1"/>
              <c:tx>
                <c:rich>
                  <a:bodyPr/>
                  <a:lstStyle/>
                  <a:p>
                    <a:fld id="{84EFCE60-B4B1-4F75-9770-5DDD9F7176A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3470-4B1E-AE3D-3266D971E83A}"/>
                </c:ext>
              </c:extLst>
            </c:dLbl>
            <c:dLbl>
              <c:idx val="2"/>
              <c:tx>
                <c:rich>
                  <a:bodyPr/>
                  <a:lstStyle/>
                  <a:p>
                    <a:fld id="{3578A53C-B5D7-4B88-8571-C7C93E64947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3470-4B1E-AE3D-3266D971E83A}"/>
                </c:ext>
              </c:extLst>
            </c:dLbl>
            <c:dLbl>
              <c:idx val="3"/>
              <c:tx>
                <c:rich>
                  <a:bodyPr/>
                  <a:lstStyle/>
                  <a:p>
                    <a:fld id="{95B89528-9107-4C44-A21B-C0A3C8B314A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3470-4B1E-AE3D-3266D971E83A}"/>
                </c:ext>
              </c:extLst>
            </c:dLbl>
            <c:dLbl>
              <c:idx val="4"/>
              <c:tx>
                <c:rich>
                  <a:bodyPr/>
                  <a:lstStyle/>
                  <a:p>
                    <a:fld id="{42463B60-A617-4E36-84FB-4BE4B2A9BFE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3470-4B1E-AE3D-3266D971E83A}"/>
                </c:ext>
              </c:extLst>
            </c:dLbl>
            <c:dLbl>
              <c:idx val="5"/>
              <c:tx>
                <c:rich>
                  <a:bodyPr/>
                  <a:lstStyle/>
                  <a:p>
                    <a:fld id="{72C18AD4-2FAA-45CE-B9A0-C7A8D06313A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3470-4B1E-AE3D-3266D971E83A}"/>
                </c:ext>
              </c:extLst>
            </c:dLbl>
            <c:dLbl>
              <c:idx val="6"/>
              <c:tx>
                <c:rich>
                  <a:bodyPr/>
                  <a:lstStyle/>
                  <a:p>
                    <a:fld id="{948B6A45-92D4-4BBD-A31B-8280771CD2D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3470-4B1E-AE3D-3266D971E83A}"/>
                </c:ext>
              </c:extLst>
            </c:dLbl>
            <c:dLbl>
              <c:idx val="7"/>
              <c:tx>
                <c:rich>
                  <a:bodyPr/>
                  <a:lstStyle/>
                  <a:p>
                    <a:fld id="{833C1625-0A94-4939-9E2B-475490528B3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3470-4B1E-AE3D-3266D971E83A}"/>
                </c:ext>
              </c:extLst>
            </c:dLbl>
            <c:dLbl>
              <c:idx val="8"/>
              <c:tx>
                <c:rich>
                  <a:bodyPr/>
                  <a:lstStyle/>
                  <a:p>
                    <a:fld id="{7F588995-239A-47A9-94D6-DB3E75D4F2F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3470-4B1E-AE3D-3266D971E83A}"/>
                </c:ext>
              </c:extLst>
            </c:dLbl>
            <c:dLbl>
              <c:idx val="9"/>
              <c:tx>
                <c:rich>
                  <a:bodyPr/>
                  <a:lstStyle/>
                  <a:p>
                    <a:fld id="{5020F866-E66A-4638-BECD-6E31E411E62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3470-4B1E-AE3D-3266D971E83A}"/>
                </c:ext>
              </c:extLst>
            </c:dLbl>
            <c:dLbl>
              <c:idx val="10"/>
              <c:tx>
                <c:rich>
                  <a:bodyPr/>
                  <a:lstStyle/>
                  <a:p>
                    <a:fld id="{E52A498F-7E1C-4629-B7FC-8F2032A5A82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3470-4B1E-AE3D-3266D971E83A}"/>
                </c:ext>
              </c:extLst>
            </c:dLbl>
            <c:dLbl>
              <c:idx val="11"/>
              <c:tx>
                <c:rich>
                  <a:bodyPr/>
                  <a:lstStyle/>
                  <a:p>
                    <a:fld id="{6B8E9749-0637-4576-845C-07DE0A04B23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3470-4B1E-AE3D-3266D971E83A}"/>
                </c:ext>
              </c:extLst>
            </c:dLbl>
            <c:dLbl>
              <c:idx val="12"/>
              <c:tx>
                <c:rich>
                  <a:bodyPr/>
                  <a:lstStyle/>
                  <a:p>
                    <a:fld id="{12364BB1-D320-460D-99AA-61496DDA6D3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3470-4B1E-AE3D-3266D971E83A}"/>
                </c:ext>
              </c:extLst>
            </c:dLbl>
            <c:dLbl>
              <c:idx val="13"/>
              <c:tx>
                <c:rich>
                  <a:bodyPr/>
                  <a:lstStyle/>
                  <a:p>
                    <a:fld id="{C4F014F9-B855-4080-A25E-41CBF2D257E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3470-4B1E-AE3D-3266D971E83A}"/>
                </c:ext>
              </c:extLst>
            </c:dLbl>
            <c:dLbl>
              <c:idx val="14"/>
              <c:tx>
                <c:rich>
                  <a:bodyPr/>
                  <a:lstStyle/>
                  <a:p>
                    <a:fld id="{F9B77F9E-4AF4-4D68-B69E-14AEFA6341D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3470-4B1E-AE3D-3266D971E83A}"/>
                </c:ext>
              </c:extLst>
            </c:dLbl>
            <c:dLbl>
              <c:idx val="15"/>
              <c:tx>
                <c:rich>
                  <a:bodyPr/>
                  <a:lstStyle/>
                  <a:p>
                    <a:fld id="{B3C1C139-266C-419C-9A16-D71C135308B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3470-4B1E-AE3D-3266D971E83A}"/>
                </c:ext>
              </c:extLst>
            </c:dLbl>
            <c:dLbl>
              <c:idx val="16"/>
              <c:tx>
                <c:rich>
                  <a:bodyPr/>
                  <a:lstStyle/>
                  <a:p>
                    <a:fld id="{E55BEDBA-99ED-4E49-9E7E-F803DFFE68D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3470-4B1E-AE3D-3266D971E83A}"/>
                </c:ext>
              </c:extLst>
            </c:dLbl>
            <c:dLbl>
              <c:idx val="17"/>
              <c:tx>
                <c:rich>
                  <a:bodyPr/>
                  <a:lstStyle/>
                  <a:p>
                    <a:fld id="{10F18673-2A55-4112-90D5-DAC55EE6838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3470-4B1E-AE3D-3266D971E83A}"/>
                </c:ext>
              </c:extLst>
            </c:dLbl>
            <c:dLbl>
              <c:idx val="18"/>
              <c:tx>
                <c:rich>
                  <a:bodyPr/>
                  <a:lstStyle/>
                  <a:p>
                    <a:fld id="{C8115AE2-7D7A-40B8-8903-488FE16CAE9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3470-4B1E-AE3D-3266D971E83A}"/>
                </c:ext>
              </c:extLst>
            </c:dLbl>
            <c:dLbl>
              <c:idx val="19"/>
              <c:tx>
                <c:rich>
                  <a:bodyPr/>
                  <a:lstStyle/>
                  <a:p>
                    <a:fld id="{2104E136-8F31-4232-8418-70018174D56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3470-4B1E-AE3D-3266D971E83A}"/>
                </c:ext>
              </c:extLst>
            </c:dLbl>
            <c:dLbl>
              <c:idx val="20"/>
              <c:tx>
                <c:rich>
                  <a:bodyPr/>
                  <a:lstStyle/>
                  <a:p>
                    <a:fld id="{C402D43D-73E9-42F5-B21F-E731098DF9B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BDC0-4612-BC0D-6DF39C79AC4A}"/>
                </c:ext>
              </c:extLst>
            </c:dLbl>
            <c:dLbl>
              <c:idx val="21"/>
              <c:tx>
                <c:rich>
                  <a:bodyPr/>
                  <a:lstStyle/>
                  <a:p>
                    <a:fld id="{4636C5AE-87A4-4CAA-AA4B-3251797C7B1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3470-4B1E-AE3D-3266D971E83A}"/>
                </c:ext>
              </c:extLst>
            </c:dLbl>
            <c:dLbl>
              <c:idx val="22"/>
              <c:tx>
                <c:rich>
                  <a:bodyPr/>
                  <a:lstStyle/>
                  <a:p>
                    <a:fld id="{FAB4BB4E-4B4E-4B0A-AC09-47EAC9825EF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3470-4B1E-AE3D-3266D971E83A}"/>
                </c:ext>
              </c:extLst>
            </c:dLbl>
            <c:dLbl>
              <c:idx val="23"/>
              <c:tx>
                <c:rich>
                  <a:bodyPr/>
                  <a:lstStyle/>
                  <a:p>
                    <a:fld id="{175DEC87-ACE9-4354-A3F6-2583B7106D4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3470-4B1E-AE3D-3266D971E83A}"/>
                </c:ext>
              </c:extLst>
            </c:dLbl>
            <c:dLbl>
              <c:idx val="24"/>
              <c:tx>
                <c:rich>
                  <a:bodyPr/>
                  <a:lstStyle/>
                  <a:p>
                    <a:fld id="{0FB4AEDB-0627-4B8A-A9C5-B2F46E50D48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3470-4B1E-AE3D-3266D971E83A}"/>
                </c:ext>
              </c:extLst>
            </c:dLbl>
            <c:dLbl>
              <c:idx val="25"/>
              <c:tx>
                <c:rich>
                  <a:bodyPr/>
                  <a:lstStyle/>
                  <a:p>
                    <a:fld id="{37741525-5CBE-485B-BD0C-0DD6B2C8AD1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3470-4B1E-AE3D-3266D971E83A}"/>
                </c:ext>
              </c:extLst>
            </c:dLbl>
            <c:dLbl>
              <c:idx val="26"/>
              <c:tx>
                <c:rich>
                  <a:bodyPr/>
                  <a:lstStyle/>
                  <a:p>
                    <a:fld id="{5B0CECB4-0ABB-41F0-9FAB-55275994705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3470-4B1E-AE3D-3266D971E83A}"/>
                </c:ext>
              </c:extLst>
            </c:dLbl>
            <c:dLbl>
              <c:idx val="27"/>
              <c:tx>
                <c:rich>
                  <a:bodyPr/>
                  <a:lstStyle/>
                  <a:p>
                    <a:fld id="{F7D3CB0F-476B-4CFD-8AF3-076F52A7007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3470-4B1E-AE3D-3266D971E83A}"/>
                </c:ext>
              </c:extLst>
            </c:dLbl>
            <c:dLbl>
              <c:idx val="28"/>
              <c:tx>
                <c:rich>
                  <a:bodyPr/>
                  <a:lstStyle/>
                  <a:p>
                    <a:fld id="{4774C36A-3347-40DD-B4D8-1AF3F0B43AD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3470-4B1E-AE3D-3266D971E83A}"/>
                </c:ext>
              </c:extLst>
            </c:dLbl>
            <c:dLbl>
              <c:idx val="29"/>
              <c:tx>
                <c:rich>
                  <a:bodyPr/>
                  <a:lstStyle/>
                  <a:p>
                    <a:fld id="{89D950B8-B7C4-4607-B81F-758B5E34F7E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C-3470-4B1E-AE3D-3266D971E83A}"/>
                </c:ext>
              </c:extLst>
            </c:dLbl>
            <c:dLbl>
              <c:idx val="30"/>
              <c:tx>
                <c:rich>
                  <a:bodyPr/>
                  <a:lstStyle/>
                  <a:p>
                    <a:fld id="{BBCEF041-7DD7-43AC-A41F-06A05356CD9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D-3470-4B1E-AE3D-3266D971E83A}"/>
                </c:ext>
              </c:extLst>
            </c:dLbl>
            <c:dLbl>
              <c:idx val="31"/>
              <c:tx>
                <c:rich>
                  <a:bodyPr/>
                  <a:lstStyle/>
                  <a:p>
                    <a:fld id="{D1884FF6-F8DE-4BD3-ABA9-0408405EC3D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E-3470-4B1E-AE3D-3266D971E83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Sheet1!$B$2:$B$33</c:f>
              <c:numCache>
                <c:formatCode>0</c:formatCode>
                <c:ptCount val="32"/>
                <c:pt idx="0">
                  <c:v>10.199999999999999</c:v>
                </c:pt>
                <c:pt idx="1">
                  <c:v>5.9</c:v>
                </c:pt>
                <c:pt idx="2">
                  <c:v>7.4</c:v>
                </c:pt>
                <c:pt idx="3">
                  <c:v>4.7</c:v>
                </c:pt>
                <c:pt idx="4">
                  <c:v>4.5999999999999996</c:v>
                </c:pt>
                <c:pt idx="5">
                  <c:v>5</c:v>
                </c:pt>
                <c:pt idx="6">
                  <c:v>6.3</c:v>
                </c:pt>
                <c:pt idx="7">
                  <c:v>8.5</c:v>
                </c:pt>
                <c:pt idx="8">
                  <c:v>8.8000000000000007</c:v>
                </c:pt>
                <c:pt idx="9">
                  <c:v>5.8</c:v>
                </c:pt>
                <c:pt idx="10">
                  <c:v>11.8</c:v>
                </c:pt>
                <c:pt idx="11">
                  <c:v>9.5</c:v>
                </c:pt>
                <c:pt idx="12">
                  <c:v>10.7</c:v>
                </c:pt>
                <c:pt idx="13">
                  <c:v>12.2</c:v>
                </c:pt>
                <c:pt idx="14">
                  <c:v>10</c:v>
                </c:pt>
                <c:pt idx="15">
                  <c:v>7.4</c:v>
                </c:pt>
                <c:pt idx="16">
                  <c:v>13.8</c:v>
                </c:pt>
                <c:pt idx="17">
                  <c:v>15.8</c:v>
                </c:pt>
                <c:pt idx="18">
                  <c:v>15.6</c:v>
                </c:pt>
                <c:pt idx="19">
                  <c:v>6.9</c:v>
                </c:pt>
                <c:pt idx="20">
                  <c:v>7.4</c:v>
                </c:pt>
                <c:pt idx="21">
                  <c:v>7.2</c:v>
                </c:pt>
                <c:pt idx="22">
                  <c:v>11.4</c:v>
                </c:pt>
                <c:pt idx="23">
                  <c:v>6.9</c:v>
                </c:pt>
                <c:pt idx="24">
                  <c:v>9.4</c:v>
                </c:pt>
                <c:pt idx="25">
                  <c:v>8.8000000000000007</c:v>
                </c:pt>
                <c:pt idx="26">
                  <c:v>14.5</c:v>
                </c:pt>
                <c:pt idx="27">
                  <c:v>10.6</c:v>
                </c:pt>
                <c:pt idx="28">
                  <c:v>9.1999999999999993</c:v>
                </c:pt>
                <c:pt idx="29">
                  <c:v>10.199999999999999</c:v>
                </c:pt>
                <c:pt idx="30">
                  <c:v>11.3</c:v>
                </c:pt>
                <c:pt idx="31">
                  <c:v>11.3</c:v>
                </c:pt>
              </c:numCache>
            </c:numRef>
          </c:val>
          <c:extLst>
            <c:ext xmlns:c15="http://schemas.microsoft.com/office/drawing/2012/chart" uri="{02D57815-91ED-43cb-92C2-25804820EDAC}">
              <c15:datalabelsRange>
                <c15:f>Sheet1!$G$2:$G$33</c15:f>
                <c15:dlblRangeCache>
                  <c:ptCount val="32"/>
                  <c:pt idx="0">
                    <c:v>57</c:v>
                  </c:pt>
                  <c:pt idx="1">
                    <c:v>32</c:v>
                  </c:pt>
                  <c:pt idx="2">
                    <c:v>40</c:v>
                  </c:pt>
                  <c:pt idx="3">
                    <c:v>25</c:v>
                  </c:pt>
                  <c:pt idx="4">
                    <c:v>24</c:v>
                  </c:pt>
                  <c:pt idx="5">
                    <c:v>26</c:v>
                  </c:pt>
                  <c:pt idx="6">
                    <c:v>32</c:v>
                  </c:pt>
                  <c:pt idx="7">
                    <c:v>43</c:v>
                  </c:pt>
                  <c:pt idx="8">
                    <c:v>44</c:v>
                  </c:pt>
                  <c:pt idx="9">
                    <c:v>28</c:v>
                  </c:pt>
                  <c:pt idx="10">
                    <c:v>57</c:v>
                  </c:pt>
                  <c:pt idx="11">
                    <c:v>45</c:v>
                  </c:pt>
                  <c:pt idx="12">
                    <c:v>51</c:v>
                  </c:pt>
                  <c:pt idx="13">
                    <c:v>58</c:v>
                  </c:pt>
                  <c:pt idx="14">
                    <c:v>47</c:v>
                  </c:pt>
                  <c:pt idx="15">
                    <c:v>34</c:v>
                  </c:pt>
                  <c:pt idx="16">
                    <c:v>64</c:v>
                  </c:pt>
                  <c:pt idx="17">
                    <c:v>73</c:v>
                  </c:pt>
                  <c:pt idx="18">
                    <c:v>72</c:v>
                  </c:pt>
                  <c:pt idx="19">
                    <c:v>32</c:v>
                  </c:pt>
                  <c:pt idx="20">
                    <c:v>34</c:v>
                  </c:pt>
                  <c:pt idx="21">
                    <c:v>33</c:v>
                  </c:pt>
                  <c:pt idx="22">
                    <c:v>52</c:v>
                  </c:pt>
                  <c:pt idx="23">
                    <c:v>31</c:v>
                  </c:pt>
                  <c:pt idx="24">
                    <c:v>43</c:v>
                  </c:pt>
                  <c:pt idx="25">
                    <c:v>40</c:v>
                  </c:pt>
                  <c:pt idx="26">
                    <c:v>65</c:v>
                  </c:pt>
                  <c:pt idx="27">
                    <c:v>47</c:v>
                  </c:pt>
                  <c:pt idx="28">
                    <c:v>40</c:v>
                  </c:pt>
                  <c:pt idx="29">
                    <c:v>44</c:v>
                  </c:pt>
                  <c:pt idx="30">
                    <c:v>48</c:v>
                  </c:pt>
                  <c:pt idx="31">
                    <c:v>47</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27"/>
            <c:invertIfNegative val="0"/>
            <c:bubble3D val="0"/>
            <c:spPr>
              <a:solidFill>
                <a:schemeClr val="accent1"/>
              </a:solidFill>
              <a:ln>
                <a:noFill/>
              </a:ln>
              <a:effectLst/>
            </c:spPr>
            <c:extLst>
              <c:ext xmlns:c16="http://schemas.microsoft.com/office/drawing/2014/chart" uri="{C3380CC4-5D6E-409C-BE32-E72D297353CC}">
                <c16:uniqueId val="{00000003-F5BE-4B47-975E-C19DB99C136A}"/>
              </c:ext>
            </c:extLst>
          </c:dPt>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Sheet1!$C$2:$C$33</c:f>
              <c:numCache>
                <c:formatCode>0</c:formatCode>
                <c:ptCount val="32"/>
                <c:pt idx="0">
                  <c:v>7.8000000000000007</c:v>
                </c:pt>
                <c:pt idx="1">
                  <c:v>12.499999999999998</c:v>
                </c:pt>
                <c:pt idx="2">
                  <c:v>11.1</c:v>
                </c:pt>
                <c:pt idx="3">
                  <c:v>14.3</c:v>
                </c:pt>
                <c:pt idx="4">
                  <c:v>14.700000000000001</c:v>
                </c:pt>
                <c:pt idx="5">
                  <c:v>14.3</c:v>
                </c:pt>
                <c:pt idx="6">
                  <c:v>13.399999999999999</c:v>
                </c:pt>
                <c:pt idx="7">
                  <c:v>11.3</c:v>
                </c:pt>
                <c:pt idx="8">
                  <c:v>11.3</c:v>
                </c:pt>
                <c:pt idx="9">
                  <c:v>14.8</c:v>
                </c:pt>
                <c:pt idx="10">
                  <c:v>8.8999999999999986</c:v>
                </c:pt>
                <c:pt idx="11">
                  <c:v>11.600000000000001</c:v>
                </c:pt>
                <c:pt idx="12">
                  <c:v>10.400000000000002</c:v>
                </c:pt>
                <c:pt idx="13">
                  <c:v>8.9000000000000021</c:v>
                </c:pt>
                <c:pt idx="14">
                  <c:v>11.5</c:v>
                </c:pt>
                <c:pt idx="15">
                  <c:v>14.200000000000001</c:v>
                </c:pt>
                <c:pt idx="16">
                  <c:v>7.8000000000000007</c:v>
                </c:pt>
                <c:pt idx="17">
                  <c:v>5.8000000000000007</c:v>
                </c:pt>
                <c:pt idx="18">
                  <c:v>6.1</c:v>
                </c:pt>
                <c:pt idx="19">
                  <c:v>14.9</c:v>
                </c:pt>
                <c:pt idx="20">
                  <c:v>14.4</c:v>
                </c:pt>
                <c:pt idx="21">
                  <c:v>14.7</c:v>
                </c:pt>
                <c:pt idx="22">
                  <c:v>10.499999999999998</c:v>
                </c:pt>
                <c:pt idx="23">
                  <c:v>15.1</c:v>
                </c:pt>
                <c:pt idx="24">
                  <c:v>12.6</c:v>
                </c:pt>
                <c:pt idx="25">
                  <c:v>13.3</c:v>
                </c:pt>
                <c:pt idx="26">
                  <c:v>7.8000000000000007</c:v>
                </c:pt>
                <c:pt idx="27">
                  <c:v>11.8</c:v>
                </c:pt>
                <c:pt idx="28">
                  <c:v>13.600000000000001</c:v>
                </c:pt>
                <c:pt idx="29">
                  <c:v>12.8</c:v>
                </c:pt>
                <c:pt idx="30">
                  <c:v>12.2</c:v>
                </c:pt>
                <c:pt idx="31">
                  <c:v>12.5</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Sheet1!$D$2:$D$33</c:f>
              <c:numCache>
                <c:formatCode>0</c:formatCode>
                <c:ptCount val="32"/>
                <c:pt idx="0">
                  <c:v>18</c:v>
                </c:pt>
                <c:pt idx="1">
                  <c:v>18.399999999999999</c:v>
                </c:pt>
                <c:pt idx="2">
                  <c:v>18.5</c:v>
                </c:pt>
                <c:pt idx="3">
                  <c:v>19</c:v>
                </c:pt>
                <c:pt idx="4">
                  <c:v>19.3</c:v>
                </c:pt>
                <c:pt idx="5">
                  <c:v>19.3</c:v>
                </c:pt>
                <c:pt idx="6">
                  <c:v>19.7</c:v>
                </c:pt>
                <c:pt idx="7">
                  <c:v>19.8</c:v>
                </c:pt>
                <c:pt idx="8">
                  <c:v>20.100000000000001</c:v>
                </c:pt>
                <c:pt idx="9">
                  <c:v>20.6</c:v>
                </c:pt>
                <c:pt idx="10">
                  <c:v>20.7</c:v>
                </c:pt>
                <c:pt idx="11">
                  <c:v>21.1</c:v>
                </c:pt>
                <c:pt idx="12">
                  <c:v>21.1</c:v>
                </c:pt>
                <c:pt idx="13">
                  <c:v>21.1</c:v>
                </c:pt>
                <c:pt idx="14">
                  <c:v>21.5</c:v>
                </c:pt>
                <c:pt idx="15">
                  <c:v>21.6</c:v>
                </c:pt>
                <c:pt idx="16">
                  <c:v>21.6</c:v>
                </c:pt>
                <c:pt idx="17">
                  <c:v>21.6</c:v>
                </c:pt>
                <c:pt idx="18">
                  <c:v>21.7</c:v>
                </c:pt>
                <c:pt idx="19">
                  <c:v>21.8</c:v>
                </c:pt>
                <c:pt idx="20">
                  <c:v>21.8</c:v>
                </c:pt>
                <c:pt idx="21">
                  <c:v>21.9</c:v>
                </c:pt>
                <c:pt idx="22">
                  <c:v>21.9</c:v>
                </c:pt>
                <c:pt idx="23">
                  <c:v>22</c:v>
                </c:pt>
                <c:pt idx="24">
                  <c:v>22</c:v>
                </c:pt>
                <c:pt idx="25">
                  <c:v>22.1</c:v>
                </c:pt>
                <c:pt idx="26">
                  <c:v>22.3</c:v>
                </c:pt>
                <c:pt idx="27">
                  <c:v>22.4</c:v>
                </c:pt>
                <c:pt idx="28">
                  <c:v>22.8</c:v>
                </c:pt>
                <c:pt idx="29">
                  <c:v>23</c:v>
                </c:pt>
                <c:pt idx="30">
                  <c:v>23.5</c:v>
                </c:pt>
                <c:pt idx="31">
                  <c:v>23.8</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0.43668651472548758"/>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21032071061381816"/>
          <c:y val="2.55487472166682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8638968439012202"/>
          <c:y val="0.15545426246397376"/>
          <c:w val="0.68702069715970326"/>
          <c:h val="0.58096363989292954"/>
        </c:manualLayout>
      </c:layout>
      <c:barChart>
        <c:barDir val="col"/>
        <c:grouping val="stacked"/>
        <c:varyColors val="0"/>
        <c:ser>
          <c:idx val="0"/>
          <c:order val="0"/>
          <c:tx>
            <c:strRef>
              <c:f>Sheet1!$B$1</c:f>
              <c:strCache>
                <c:ptCount val="1"/>
                <c:pt idx="0">
                  <c:v>בלי מוגבלות</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9.8000000000000007</c:v>
                </c:pt>
                <c:pt idx="1">
                  <c:v>10.4</c:v>
                </c:pt>
                <c:pt idx="2">
                  <c:v>10.3</c:v>
                </c:pt>
                <c:pt idx="3">
                  <c:v>10.6</c:v>
                </c:pt>
                <c:pt idx="4">
                  <c:v>10.1</c:v>
                </c:pt>
                <c:pt idx="5">
                  <c:v>10.5</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11.9</c:v>
                </c:pt>
                <c:pt idx="1">
                  <c:v>11.5</c:v>
                </c:pt>
                <c:pt idx="2">
                  <c:v>12</c:v>
                </c:pt>
                <c:pt idx="3">
                  <c:v>11.8</c:v>
                </c:pt>
                <c:pt idx="4">
                  <c:v>12.1</c:v>
                </c:pt>
                <c:pt idx="5">
                  <c:v>11.6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21.7</c:v>
                </c:pt>
                <c:pt idx="1">
                  <c:v>21.9</c:v>
                </c:pt>
                <c:pt idx="2">
                  <c:v>22.3</c:v>
                </c:pt>
                <c:pt idx="3">
                  <c:v>22.4</c:v>
                </c:pt>
                <c:pt idx="4">
                  <c:v>22.2</c:v>
                </c:pt>
                <c:pt idx="5">
                  <c:v>22.1</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800" b="1" u="none" dirty="0">
                <a:solidFill>
                  <a:srgbClr val="002060"/>
                </a:solidFill>
                <a:latin typeface="Calibri" panose="020F0502020204030204" pitchFamily="34" charset="0"/>
                <a:cs typeface="Calibri" panose="020F0502020204030204" pitchFamily="34" charset="0"/>
              </a:rPr>
              <a:t>התמריץ לאזרח</a:t>
            </a:r>
          </a:p>
          <a:p>
            <a:pPr>
              <a:defRPr/>
            </a:pPr>
            <a:r>
              <a:rPr lang="he-IL" sz="2800" b="1" u="none" dirty="0">
                <a:solidFill>
                  <a:srgbClr val="002060"/>
                </a:solidFill>
                <a:latin typeface="Calibri" panose="020F0502020204030204" pitchFamily="34" charset="0"/>
                <a:cs typeface="Calibri" panose="020F0502020204030204" pitchFamily="34" charset="0"/>
              </a:rPr>
              <a:t> </a:t>
            </a:r>
            <a:r>
              <a:rPr lang="he-IL" sz="2000" b="1" dirty="0">
                <a:solidFill>
                  <a:schemeClr val="tx1"/>
                </a:solidFill>
                <a:latin typeface="Calibri" panose="020F0502020204030204" pitchFamily="34" charset="0"/>
                <a:cs typeface="Calibri" panose="020F0502020204030204" pitchFamily="34" charset="0"/>
              </a:rPr>
              <a:t>השתתפות עצמית חודשית לזקן על רצף השירותים</a:t>
            </a:r>
          </a:p>
        </c:rich>
      </c:tx>
      <c:layout>
        <c:manualLayout>
          <c:xMode val="edge"/>
          <c:yMode val="edge"/>
          <c:x val="0.26018165857593967"/>
          <c:y val="1.198417522688544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6.5057559280670474E-2"/>
          <c:y val="9.2238359268902406E-2"/>
          <c:w val="0.92237499075658202"/>
          <c:h val="0.78634212933001069"/>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spPr>
            <a:solidFill>
              <a:schemeClr val="accent5"/>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1-DCAE-42C9-828E-61ABEE58EB87}"/>
                </c:ext>
              </c:extLst>
            </c:dLbl>
            <c:dLbl>
              <c:idx val="2"/>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DCAE-42C9-828E-61ABEE58EB87}"/>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גיליון3!$F$25:$F$28</c:f>
              <c:strCache>
                <c:ptCount val="4"/>
                <c:pt idx="0">
                  <c:v>מטפלת</c:v>
                </c:pt>
                <c:pt idx="1">
                  <c:v>בני משפחה מטפלים בשכר</c:v>
                </c:pt>
                <c:pt idx="2">
                  <c:v>גמלה בכסף</c:v>
                </c:pt>
                <c:pt idx="3">
                  <c:v>מרכז יום</c:v>
                </c:pt>
              </c:strCache>
            </c:strRef>
          </c:cat>
          <c:val>
            <c:numRef>
              <c:f>גיליון3!$I$25:$I$28</c:f>
              <c:numCache>
                <c:formatCode>0%</c:formatCode>
                <c:ptCount val="4"/>
                <c:pt idx="0">
                  <c:v>0.3529411764705882</c:v>
                </c:pt>
                <c:pt idx="1">
                  <c:v>0.41176470588235292</c:v>
                </c:pt>
                <c:pt idx="2">
                  <c:v>0.21764705882352942</c:v>
                </c:pt>
                <c:pt idx="3">
                  <c:v>1.6470588235294119E-2</c:v>
                </c:pt>
              </c:numCache>
            </c:numRef>
          </c:val>
          <c:extLst>
            <c:ext xmlns:c16="http://schemas.microsoft.com/office/drawing/2014/chart" uri="{C3380CC4-5D6E-409C-BE32-E72D297353CC}">
              <c16:uniqueId val="{00000000-DCAE-42C9-828E-61ABEE58EB87}"/>
            </c:ext>
          </c:extLst>
        </c:ser>
        <c:dLbls>
          <c:showLegendKey val="0"/>
          <c:showVal val="0"/>
          <c:showCatName val="0"/>
          <c:showSerName val="0"/>
          <c:showPercent val="0"/>
          <c:showBubbleSize val="0"/>
        </c:dLbls>
        <c:gapWidth val="219"/>
        <c:overlap val="-27"/>
        <c:axId val="363183592"/>
        <c:axId val="363183920"/>
      </c:barChart>
      <c:catAx>
        <c:axId val="363183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63183920"/>
        <c:crosses val="autoZero"/>
        <c:auto val="1"/>
        <c:lblAlgn val="ctr"/>
        <c:lblOffset val="100"/>
        <c:noMultiLvlLbl val="0"/>
      </c:catAx>
      <c:valAx>
        <c:axId val="3631839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63183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dirty="0">
                <a:solidFill>
                  <a:schemeClr val="tx1"/>
                </a:solidFill>
                <a:effectLst/>
              </a:rPr>
              <a:t>ADL</a:t>
            </a:r>
            <a:r>
              <a:rPr lang="he-IL" sz="1800" b="0" i="0" baseline="0" dirty="0">
                <a:solidFill>
                  <a:schemeClr val="tx1"/>
                </a:solidFill>
                <a:effectLst/>
              </a:rPr>
              <a:t> (1-6)</a:t>
            </a:r>
            <a:endParaRPr lang="en-US" sz="1800" dirty="0">
              <a:solidFill>
                <a:schemeClr val="tx1"/>
              </a:solidFill>
              <a:effectLst/>
            </a:endParaRPr>
          </a:p>
          <a:p>
            <a:pPr rtl="1">
              <a:defRPr/>
            </a:pPr>
            <a:r>
              <a:rPr lang="he-IL" sz="1400" b="0" i="0" baseline="0" dirty="0">
                <a:effectLst/>
              </a:rPr>
              <a:t>(</a:t>
            </a:r>
            <a:r>
              <a:rPr lang="en-US" sz="1400" b="0" i="0" baseline="0" dirty="0">
                <a:effectLst/>
              </a:rPr>
              <a:t>SHARE-2017</a:t>
            </a:r>
            <a:r>
              <a:rPr lang="he-IL" sz="1400" b="0" i="0" baseline="0" dirty="0">
                <a:effectLst/>
              </a:rPr>
              <a:t>)</a:t>
            </a:r>
            <a:endParaRPr lang="en-US" sz="1400" dirty="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2.3690485921203781E-2"/>
          <c:y val="4.644807369396968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2"/>
            <c:invertIfNegative val="0"/>
            <c:bubble3D val="0"/>
            <c:spPr>
              <a:solidFill>
                <a:srgbClr val="57595D"/>
              </a:solidFill>
              <a:ln>
                <a:noFill/>
              </a:ln>
              <a:effectLst/>
            </c:spPr>
            <c:extLst>
              <c:ext xmlns:c16="http://schemas.microsoft.com/office/drawing/2014/chart" uri="{C3380CC4-5D6E-409C-BE32-E72D297353CC}">
                <c16:uniqueId val="{00000004-02AD-4B05-9EA2-828745E790FD}"/>
              </c:ext>
            </c:extLst>
          </c:dPt>
          <c:dPt>
            <c:idx val="15"/>
            <c:invertIfNegative val="0"/>
            <c:bubble3D val="0"/>
            <c:spPr>
              <a:solidFill>
                <a:srgbClr val="008DA8"/>
              </a:solidFill>
              <a:ln>
                <a:noFill/>
              </a:ln>
              <a:effectLst/>
            </c:spPr>
            <c:extLst>
              <c:ext xmlns:c16="http://schemas.microsoft.com/office/drawing/2014/chart" uri="{C3380CC4-5D6E-409C-BE32-E72D297353CC}">
                <c16:uniqueId val="{00000003-02AD-4B05-9EA2-828745E790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יוון</c:v>
                </c:pt>
                <c:pt idx="2">
                  <c:v>סלובקיה</c:v>
                </c:pt>
                <c:pt idx="3">
                  <c:v>שבדיה</c:v>
                </c:pt>
                <c:pt idx="4">
                  <c:v>דנמרק</c:v>
                </c:pt>
                <c:pt idx="5">
                  <c:v>לוקסנבורג</c:v>
                </c:pt>
                <c:pt idx="6">
                  <c:v>פינלנד</c:v>
                </c:pt>
                <c:pt idx="7">
                  <c:v>איטליה</c:v>
                </c:pt>
                <c:pt idx="8">
                  <c:v>סלובניה</c:v>
                </c:pt>
                <c:pt idx="9">
                  <c:v>הונגריה</c:v>
                </c:pt>
                <c:pt idx="10">
                  <c:v>אוסטריה</c:v>
                </c:pt>
                <c:pt idx="11">
                  <c:v>גרמניה</c:v>
                </c:pt>
                <c:pt idx="12">
                  <c:v>ממוצע </c:v>
                </c:pt>
                <c:pt idx="13">
                  <c:v>צרפת</c:v>
                </c:pt>
                <c:pt idx="14">
                  <c:v>לטביה</c:v>
                </c:pt>
                <c:pt idx="15">
                  <c:v>ישראל</c:v>
                </c:pt>
                <c:pt idx="16">
                  <c:v>צ'כיה</c:v>
                </c:pt>
                <c:pt idx="17">
                  <c:v>ספרד</c:v>
                </c:pt>
                <c:pt idx="18">
                  <c:v>פולין</c:v>
                </c:pt>
                <c:pt idx="19">
                  <c:v>בלגיה</c:v>
                </c:pt>
                <c:pt idx="20">
                  <c:v>אסטוניה</c:v>
                </c:pt>
                <c:pt idx="21">
                  <c:v>ליטא</c:v>
                </c:pt>
                <c:pt idx="22">
                  <c:v>פורטוגל</c:v>
                </c:pt>
              </c:strCache>
            </c:strRef>
          </c:cat>
          <c:val>
            <c:numRef>
              <c:f>Sheet1!$B$2:$B$24</c:f>
              <c:numCache>
                <c:formatCode>0</c:formatCode>
                <c:ptCount val="23"/>
                <c:pt idx="0">
                  <c:v>7.84</c:v>
                </c:pt>
                <c:pt idx="1">
                  <c:v>8.76</c:v>
                </c:pt>
                <c:pt idx="2">
                  <c:v>8.7799999999999994</c:v>
                </c:pt>
                <c:pt idx="3">
                  <c:v>10.83</c:v>
                </c:pt>
                <c:pt idx="4">
                  <c:v>10.979999999999999</c:v>
                </c:pt>
                <c:pt idx="5">
                  <c:v>11.200000000000001</c:v>
                </c:pt>
                <c:pt idx="6">
                  <c:v>11.89</c:v>
                </c:pt>
                <c:pt idx="7">
                  <c:v>13.8</c:v>
                </c:pt>
                <c:pt idx="8">
                  <c:v>14.08</c:v>
                </c:pt>
                <c:pt idx="9">
                  <c:v>14.17</c:v>
                </c:pt>
                <c:pt idx="10">
                  <c:v>14.89</c:v>
                </c:pt>
                <c:pt idx="11">
                  <c:v>15.459999999999999</c:v>
                </c:pt>
                <c:pt idx="12">
                  <c:v>15.879999999999999</c:v>
                </c:pt>
                <c:pt idx="13">
                  <c:v>16.580000000000002</c:v>
                </c:pt>
                <c:pt idx="14">
                  <c:v>16.68</c:v>
                </c:pt>
                <c:pt idx="15">
                  <c:v>16.989999999999998</c:v>
                </c:pt>
                <c:pt idx="16">
                  <c:v>17.64</c:v>
                </c:pt>
                <c:pt idx="17">
                  <c:v>18.260000000000002</c:v>
                </c:pt>
                <c:pt idx="18">
                  <c:v>19.149999999999999</c:v>
                </c:pt>
                <c:pt idx="19">
                  <c:v>19.66</c:v>
                </c:pt>
                <c:pt idx="20">
                  <c:v>19.989999999999998</c:v>
                </c:pt>
                <c:pt idx="21">
                  <c:v>22.82</c:v>
                </c:pt>
                <c:pt idx="22">
                  <c:v>27.639999999999997</c:v>
                </c:pt>
              </c:numCache>
            </c:numRef>
          </c:val>
          <c:extLst>
            <c:ext xmlns:c16="http://schemas.microsoft.com/office/drawing/2014/chart" uri="{C3380CC4-5D6E-409C-BE32-E72D297353CC}">
              <c16:uniqueId val="{00000000-02AD-4B05-9EA2-828745E790FD}"/>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withinLinear" id="18">
  <a:schemeClr val="accent5"/>
</cs:colorStyle>
</file>

<file path=ppt/charts/colors12.xml><?xml version="1.0" encoding="utf-8"?>
<cs:colorStyle xmlns:cs="http://schemas.microsoft.com/office/drawing/2012/chartStyle" xmlns:a="http://schemas.openxmlformats.org/drawingml/2006/main" meth="withinLinearReversed" id="25">
  <a:schemeClr val="accent5"/>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8EEB4B-E0C4-418F-9BD0-25DE806D6811}" type="doc">
      <dgm:prSet loTypeId="urn:microsoft.com/office/officeart/2005/8/layout/cycle1" loCatId="cycle" qsTypeId="urn:microsoft.com/office/officeart/2005/8/quickstyle/simple1" qsCatId="simple" csTypeId="urn:microsoft.com/office/officeart/2005/8/colors/colorful1" csCatId="colorful" phldr="1"/>
      <dgm:spPr/>
      <dgm:t>
        <a:bodyPr/>
        <a:lstStyle/>
        <a:p>
          <a:pPr rtl="1"/>
          <a:endParaRPr lang="he-IL"/>
        </a:p>
      </dgm:t>
    </dgm:pt>
    <dgm:pt modelId="{E0208170-BA3F-455D-BAF5-ABAC22D88DFC}">
      <dgm:prSet phldrT="[טקסט]" custT="1"/>
      <dgm:spPr/>
      <dgm:t>
        <a:bodyPr/>
        <a:lstStyle/>
        <a:p>
          <a:pPr rtl="1">
            <a:buSzPts val="1000"/>
            <a:buFont typeface="Symbol" panose="05050102010706020507" pitchFamily="18" charset="2"/>
            <a:buChar char=""/>
          </a:pPr>
          <a:r>
            <a:rPr lang="he-IL" sz="2000" dirty="0">
              <a:effectLst/>
              <a:latin typeface="Calibri" panose="020F0502020204030204" pitchFamily="34" charset="0"/>
              <a:ea typeface="Calibri" panose="020F0502020204030204" pitchFamily="34" charset="0"/>
              <a:cs typeface="Arial" panose="020B0604020202020204" pitchFamily="34" charset="0"/>
            </a:rPr>
            <a:t>שימוש ב</a:t>
          </a:r>
          <a:r>
            <a:rPr lang="en-US" sz="2000" dirty="0">
              <a:effectLst/>
              <a:latin typeface="Calibri" panose="020F0502020204030204" pitchFamily="34" charset="0"/>
              <a:ea typeface="Calibri" panose="020F0502020204030204" pitchFamily="34" charset="0"/>
              <a:cs typeface="Arial" panose="020B0604020202020204" pitchFamily="34" charset="0"/>
            </a:rPr>
            <a:t>-AI </a:t>
          </a:r>
          <a:r>
            <a:rPr lang="he-IL" sz="2000" dirty="0">
              <a:effectLst/>
              <a:latin typeface="Calibri" panose="020F0502020204030204" pitchFamily="34" charset="0"/>
              <a:ea typeface="Calibri" panose="020F0502020204030204" pitchFamily="34" charset="0"/>
              <a:cs typeface="Arial" panose="020B0604020202020204" pitchFamily="34" charset="0"/>
            </a:rPr>
            <a:t>להתאמה אישית של שירותים</a:t>
          </a:r>
          <a:endParaRPr lang="he-IL" sz="2000" dirty="0"/>
        </a:p>
      </dgm:t>
    </dgm:pt>
    <dgm:pt modelId="{5E74FC53-E298-4FD6-96C9-2FE72F6FC25D}" type="parTrans" cxnId="{CCA7B024-E129-4D73-BB61-76AC265A1B4B}">
      <dgm:prSet/>
      <dgm:spPr/>
      <dgm:t>
        <a:bodyPr/>
        <a:lstStyle/>
        <a:p>
          <a:pPr rtl="1"/>
          <a:endParaRPr lang="he-IL"/>
        </a:p>
      </dgm:t>
    </dgm:pt>
    <dgm:pt modelId="{5AD7D0E9-4B5A-4C3E-8256-3070D3B7C000}" type="sibTrans" cxnId="{CCA7B024-E129-4D73-BB61-76AC265A1B4B}">
      <dgm:prSet/>
      <dgm:spPr/>
      <dgm:t>
        <a:bodyPr/>
        <a:lstStyle/>
        <a:p>
          <a:pPr rtl="1"/>
          <a:endParaRPr lang="he-IL"/>
        </a:p>
      </dgm:t>
    </dgm:pt>
    <dgm:pt modelId="{9E0550B1-03E9-4001-9CB2-9D7B3B850C9A}">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ניתוח מתקדם של נתוני משתמש בזמן אמת</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3D0DA03C-580E-41F3-8BF9-39BED338E03E}" type="parTrans" cxnId="{09C0093F-9071-49CE-917F-8B85EFF9EDA4}">
      <dgm:prSet/>
      <dgm:spPr/>
      <dgm:t>
        <a:bodyPr/>
        <a:lstStyle/>
        <a:p>
          <a:pPr rtl="1"/>
          <a:endParaRPr lang="he-IL"/>
        </a:p>
      </dgm:t>
    </dgm:pt>
    <dgm:pt modelId="{9B2C21BC-873E-48DC-8D6E-8DE1EA1FD2A5}" type="sibTrans" cxnId="{09C0093F-9071-49CE-917F-8B85EFF9EDA4}">
      <dgm:prSet/>
      <dgm:spPr/>
      <dgm:t>
        <a:bodyPr/>
        <a:lstStyle/>
        <a:p>
          <a:pPr rtl="1"/>
          <a:endParaRPr lang="he-IL"/>
        </a:p>
      </dgm:t>
    </dgm:pt>
    <dgm:pt modelId="{5733F75E-86C6-4436-ABC1-13D62347A5EB}">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למידת מכונה לשיפור מתמיד של המלצות</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181FF4D2-035A-4547-A8D3-37A54AA686D0}" type="parTrans" cxnId="{C00519AD-618D-4BBE-AF2E-A84390EB7174}">
      <dgm:prSet/>
      <dgm:spPr/>
      <dgm:t>
        <a:bodyPr/>
        <a:lstStyle/>
        <a:p>
          <a:pPr rtl="1"/>
          <a:endParaRPr lang="he-IL"/>
        </a:p>
      </dgm:t>
    </dgm:pt>
    <dgm:pt modelId="{05805C4B-3524-436B-8350-016289C02332}" type="sibTrans" cxnId="{C00519AD-618D-4BBE-AF2E-A84390EB7174}">
      <dgm:prSet/>
      <dgm:spPr/>
      <dgm:t>
        <a:bodyPr/>
        <a:lstStyle/>
        <a:p>
          <a:pPr rtl="1"/>
          <a:endParaRPr lang="he-IL"/>
        </a:p>
      </dgm:t>
    </dgm:pt>
    <dgm:pt modelId="{A52FB853-1F02-4E0E-87B9-2711821EEDC6}">
      <dgm:prSet custT="1"/>
      <dgm:spPr/>
      <dgm:t>
        <a:bodyPr/>
        <a:lstStyle/>
        <a:p>
          <a:pPr rtl="1"/>
          <a:r>
            <a:rPr lang="he-IL" sz="2000" dirty="0">
              <a:effectLst/>
              <a:latin typeface="Calibri" panose="020F0502020204030204" pitchFamily="34" charset="0"/>
              <a:ea typeface="Calibri" panose="020F0502020204030204" pitchFamily="34" charset="0"/>
              <a:cs typeface="Arial" panose="020B0604020202020204" pitchFamily="34" charset="0"/>
            </a:rPr>
            <a:t>יכולות חיזוי לזיהוי מוקדם של סיכונים</a:t>
          </a:r>
          <a:endParaRPr lang="en-US" sz="2000" dirty="0">
            <a:effectLst/>
            <a:latin typeface="Calibri" panose="020F0502020204030204" pitchFamily="34" charset="0"/>
            <a:ea typeface="Calibri" panose="020F0502020204030204" pitchFamily="34" charset="0"/>
            <a:cs typeface="Arial" panose="020B0604020202020204" pitchFamily="34" charset="0"/>
          </a:endParaRPr>
        </a:p>
      </dgm:t>
    </dgm:pt>
    <dgm:pt modelId="{28AC2662-D2F1-4C2D-9C6D-4D9742963727}" type="parTrans" cxnId="{B26755D6-E7F4-4065-9CA1-09F4B822CE41}">
      <dgm:prSet/>
      <dgm:spPr/>
      <dgm:t>
        <a:bodyPr/>
        <a:lstStyle/>
        <a:p>
          <a:pPr rtl="1"/>
          <a:endParaRPr lang="he-IL"/>
        </a:p>
      </dgm:t>
    </dgm:pt>
    <dgm:pt modelId="{F6855182-DD19-4ABC-ABB6-992A5696DC2E}" type="sibTrans" cxnId="{B26755D6-E7F4-4065-9CA1-09F4B822CE41}">
      <dgm:prSet/>
      <dgm:spPr/>
      <dgm:t>
        <a:bodyPr/>
        <a:lstStyle/>
        <a:p>
          <a:pPr rtl="1"/>
          <a:endParaRPr lang="he-IL"/>
        </a:p>
      </dgm:t>
    </dgm:pt>
    <dgm:pt modelId="{08DC71E0-2C91-4E02-BEC1-836D39D480E3}" type="pres">
      <dgm:prSet presAssocID="{D58EEB4B-E0C4-418F-9BD0-25DE806D6811}" presName="cycle" presStyleCnt="0">
        <dgm:presLayoutVars>
          <dgm:dir/>
          <dgm:resizeHandles val="exact"/>
        </dgm:presLayoutVars>
      </dgm:prSet>
      <dgm:spPr/>
    </dgm:pt>
    <dgm:pt modelId="{8B574FAD-07C1-4425-85F8-D4257017E474}" type="pres">
      <dgm:prSet presAssocID="{E0208170-BA3F-455D-BAF5-ABAC22D88DFC}" presName="dummy" presStyleCnt="0"/>
      <dgm:spPr/>
    </dgm:pt>
    <dgm:pt modelId="{1F96D366-0EC0-436D-9D57-849E41B2D715}" type="pres">
      <dgm:prSet presAssocID="{E0208170-BA3F-455D-BAF5-ABAC22D88DFC}" presName="node" presStyleLbl="revTx" presStyleIdx="0" presStyleCnt="4">
        <dgm:presLayoutVars>
          <dgm:bulletEnabled val="1"/>
        </dgm:presLayoutVars>
      </dgm:prSet>
      <dgm:spPr/>
    </dgm:pt>
    <dgm:pt modelId="{6DFFAECD-9523-4B56-BCB4-09A92B29E46E}" type="pres">
      <dgm:prSet presAssocID="{5AD7D0E9-4B5A-4C3E-8256-3070D3B7C000}" presName="sibTrans" presStyleLbl="node1" presStyleIdx="0" presStyleCnt="4"/>
      <dgm:spPr/>
    </dgm:pt>
    <dgm:pt modelId="{0500E23D-09E5-4567-B7BB-28AD06EF5F1B}" type="pres">
      <dgm:prSet presAssocID="{9E0550B1-03E9-4001-9CB2-9D7B3B850C9A}" presName="dummy" presStyleCnt="0"/>
      <dgm:spPr/>
    </dgm:pt>
    <dgm:pt modelId="{82736CAD-DE8C-4C19-BD20-31AF954BC33E}" type="pres">
      <dgm:prSet presAssocID="{9E0550B1-03E9-4001-9CB2-9D7B3B850C9A}" presName="node" presStyleLbl="revTx" presStyleIdx="1" presStyleCnt="4">
        <dgm:presLayoutVars>
          <dgm:bulletEnabled val="1"/>
        </dgm:presLayoutVars>
      </dgm:prSet>
      <dgm:spPr/>
    </dgm:pt>
    <dgm:pt modelId="{69EEECB8-D979-4E4A-AEF4-99988352B88C}" type="pres">
      <dgm:prSet presAssocID="{9B2C21BC-873E-48DC-8D6E-8DE1EA1FD2A5}" presName="sibTrans" presStyleLbl="node1" presStyleIdx="1" presStyleCnt="4"/>
      <dgm:spPr/>
    </dgm:pt>
    <dgm:pt modelId="{4C78ED96-10DB-44E9-A6A9-4E738470CC3A}" type="pres">
      <dgm:prSet presAssocID="{5733F75E-86C6-4436-ABC1-13D62347A5EB}" presName="dummy" presStyleCnt="0"/>
      <dgm:spPr/>
    </dgm:pt>
    <dgm:pt modelId="{F4BD634B-C425-4433-BD89-CD82332FBD17}" type="pres">
      <dgm:prSet presAssocID="{5733F75E-86C6-4436-ABC1-13D62347A5EB}" presName="node" presStyleLbl="revTx" presStyleIdx="2" presStyleCnt="4">
        <dgm:presLayoutVars>
          <dgm:bulletEnabled val="1"/>
        </dgm:presLayoutVars>
      </dgm:prSet>
      <dgm:spPr/>
    </dgm:pt>
    <dgm:pt modelId="{B2877389-AB48-4103-8CEB-C2911FDA4155}" type="pres">
      <dgm:prSet presAssocID="{05805C4B-3524-436B-8350-016289C02332}" presName="sibTrans" presStyleLbl="node1" presStyleIdx="2" presStyleCnt="4"/>
      <dgm:spPr/>
    </dgm:pt>
    <dgm:pt modelId="{33940C59-8801-43D6-BDBE-AA53902BD557}" type="pres">
      <dgm:prSet presAssocID="{A52FB853-1F02-4E0E-87B9-2711821EEDC6}" presName="dummy" presStyleCnt="0"/>
      <dgm:spPr/>
    </dgm:pt>
    <dgm:pt modelId="{27736104-542B-4BC3-B6FF-503BFE4AFB30}" type="pres">
      <dgm:prSet presAssocID="{A52FB853-1F02-4E0E-87B9-2711821EEDC6}" presName="node" presStyleLbl="revTx" presStyleIdx="3" presStyleCnt="4">
        <dgm:presLayoutVars>
          <dgm:bulletEnabled val="1"/>
        </dgm:presLayoutVars>
      </dgm:prSet>
      <dgm:spPr/>
    </dgm:pt>
    <dgm:pt modelId="{0F34D06B-6FCE-4492-B262-8C84D6FADAA5}" type="pres">
      <dgm:prSet presAssocID="{F6855182-DD19-4ABC-ABB6-992A5696DC2E}" presName="sibTrans" presStyleLbl="node1" presStyleIdx="3" presStyleCnt="4"/>
      <dgm:spPr/>
    </dgm:pt>
  </dgm:ptLst>
  <dgm:cxnLst>
    <dgm:cxn modelId="{E2703517-4909-4CBF-B890-2644132DF21D}" type="presOf" srcId="{9B2C21BC-873E-48DC-8D6E-8DE1EA1FD2A5}" destId="{69EEECB8-D979-4E4A-AEF4-99988352B88C}" srcOrd="0" destOrd="0" presId="urn:microsoft.com/office/officeart/2005/8/layout/cycle1"/>
    <dgm:cxn modelId="{CCA7B024-E129-4D73-BB61-76AC265A1B4B}" srcId="{D58EEB4B-E0C4-418F-9BD0-25DE806D6811}" destId="{E0208170-BA3F-455D-BAF5-ABAC22D88DFC}" srcOrd="0" destOrd="0" parTransId="{5E74FC53-E298-4FD6-96C9-2FE72F6FC25D}" sibTransId="{5AD7D0E9-4B5A-4C3E-8256-3070D3B7C000}"/>
    <dgm:cxn modelId="{14453C2C-AD18-4D14-97FF-244E315A2E4C}" type="presOf" srcId="{9E0550B1-03E9-4001-9CB2-9D7B3B850C9A}" destId="{82736CAD-DE8C-4C19-BD20-31AF954BC33E}" srcOrd="0" destOrd="0" presId="urn:microsoft.com/office/officeart/2005/8/layout/cycle1"/>
    <dgm:cxn modelId="{09C0093F-9071-49CE-917F-8B85EFF9EDA4}" srcId="{D58EEB4B-E0C4-418F-9BD0-25DE806D6811}" destId="{9E0550B1-03E9-4001-9CB2-9D7B3B850C9A}" srcOrd="1" destOrd="0" parTransId="{3D0DA03C-580E-41F3-8BF9-39BED338E03E}" sibTransId="{9B2C21BC-873E-48DC-8D6E-8DE1EA1FD2A5}"/>
    <dgm:cxn modelId="{1CEC1352-4D5A-4713-8D75-E8F52738137C}" type="presOf" srcId="{5733F75E-86C6-4436-ABC1-13D62347A5EB}" destId="{F4BD634B-C425-4433-BD89-CD82332FBD17}" srcOrd="0" destOrd="0" presId="urn:microsoft.com/office/officeart/2005/8/layout/cycle1"/>
    <dgm:cxn modelId="{C36A2554-F912-4F7A-AB22-05B10E532F35}" type="presOf" srcId="{E0208170-BA3F-455D-BAF5-ABAC22D88DFC}" destId="{1F96D366-0EC0-436D-9D57-849E41B2D715}" srcOrd="0" destOrd="0" presId="urn:microsoft.com/office/officeart/2005/8/layout/cycle1"/>
    <dgm:cxn modelId="{A0EAEF7C-5E3D-44BD-B181-C39E2507199B}" type="presOf" srcId="{5AD7D0E9-4B5A-4C3E-8256-3070D3B7C000}" destId="{6DFFAECD-9523-4B56-BCB4-09A92B29E46E}" srcOrd="0" destOrd="0" presId="urn:microsoft.com/office/officeart/2005/8/layout/cycle1"/>
    <dgm:cxn modelId="{A7596484-D037-40A7-90DF-9039C1033CDD}" type="presOf" srcId="{A52FB853-1F02-4E0E-87B9-2711821EEDC6}" destId="{27736104-542B-4BC3-B6FF-503BFE4AFB30}" srcOrd="0" destOrd="0" presId="urn:microsoft.com/office/officeart/2005/8/layout/cycle1"/>
    <dgm:cxn modelId="{144CDEA6-0214-4128-AC62-729605E982C8}" type="presOf" srcId="{05805C4B-3524-436B-8350-016289C02332}" destId="{B2877389-AB48-4103-8CEB-C2911FDA4155}" srcOrd="0" destOrd="0" presId="urn:microsoft.com/office/officeart/2005/8/layout/cycle1"/>
    <dgm:cxn modelId="{C00519AD-618D-4BBE-AF2E-A84390EB7174}" srcId="{D58EEB4B-E0C4-418F-9BD0-25DE806D6811}" destId="{5733F75E-86C6-4436-ABC1-13D62347A5EB}" srcOrd="2" destOrd="0" parTransId="{181FF4D2-035A-4547-A8D3-37A54AA686D0}" sibTransId="{05805C4B-3524-436B-8350-016289C02332}"/>
    <dgm:cxn modelId="{F7900CB8-FA4A-492A-962F-04F442F0D82B}" type="presOf" srcId="{D58EEB4B-E0C4-418F-9BD0-25DE806D6811}" destId="{08DC71E0-2C91-4E02-BEC1-836D39D480E3}" srcOrd="0" destOrd="0" presId="urn:microsoft.com/office/officeart/2005/8/layout/cycle1"/>
    <dgm:cxn modelId="{B26755D6-E7F4-4065-9CA1-09F4B822CE41}" srcId="{D58EEB4B-E0C4-418F-9BD0-25DE806D6811}" destId="{A52FB853-1F02-4E0E-87B9-2711821EEDC6}" srcOrd="3" destOrd="0" parTransId="{28AC2662-D2F1-4C2D-9C6D-4D9742963727}" sibTransId="{F6855182-DD19-4ABC-ABB6-992A5696DC2E}"/>
    <dgm:cxn modelId="{5D0DD1E4-2324-4536-8AE0-F731CECAB522}" type="presOf" srcId="{F6855182-DD19-4ABC-ABB6-992A5696DC2E}" destId="{0F34D06B-6FCE-4492-B262-8C84D6FADAA5}" srcOrd="0" destOrd="0" presId="urn:microsoft.com/office/officeart/2005/8/layout/cycle1"/>
    <dgm:cxn modelId="{907A15B6-9CE5-4A78-93A1-21EDEE0FEE43}" type="presParOf" srcId="{08DC71E0-2C91-4E02-BEC1-836D39D480E3}" destId="{8B574FAD-07C1-4425-85F8-D4257017E474}" srcOrd="0" destOrd="0" presId="urn:microsoft.com/office/officeart/2005/8/layout/cycle1"/>
    <dgm:cxn modelId="{11128419-31F7-4AFB-9955-EC9EA071B5F8}" type="presParOf" srcId="{08DC71E0-2C91-4E02-BEC1-836D39D480E3}" destId="{1F96D366-0EC0-436D-9D57-849E41B2D715}" srcOrd="1" destOrd="0" presId="urn:microsoft.com/office/officeart/2005/8/layout/cycle1"/>
    <dgm:cxn modelId="{81A50E73-C0F1-4BD0-8726-0163BADEDB84}" type="presParOf" srcId="{08DC71E0-2C91-4E02-BEC1-836D39D480E3}" destId="{6DFFAECD-9523-4B56-BCB4-09A92B29E46E}" srcOrd="2" destOrd="0" presId="urn:microsoft.com/office/officeart/2005/8/layout/cycle1"/>
    <dgm:cxn modelId="{6E7B2A62-A59F-4207-9861-BECB5F5CFA5A}" type="presParOf" srcId="{08DC71E0-2C91-4E02-BEC1-836D39D480E3}" destId="{0500E23D-09E5-4567-B7BB-28AD06EF5F1B}" srcOrd="3" destOrd="0" presId="urn:microsoft.com/office/officeart/2005/8/layout/cycle1"/>
    <dgm:cxn modelId="{9373FF20-37CF-4D83-80B6-A44DF62A6E8E}" type="presParOf" srcId="{08DC71E0-2C91-4E02-BEC1-836D39D480E3}" destId="{82736CAD-DE8C-4C19-BD20-31AF954BC33E}" srcOrd="4" destOrd="0" presId="urn:microsoft.com/office/officeart/2005/8/layout/cycle1"/>
    <dgm:cxn modelId="{293378B6-E2ED-4D41-82DC-429CEAC45051}" type="presParOf" srcId="{08DC71E0-2C91-4E02-BEC1-836D39D480E3}" destId="{69EEECB8-D979-4E4A-AEF4-99988352B88C}" srcOrd="5" destOrd="0" presId="urn:microsoft.com/office/officeart/2005/8/layout/cycle1"/>
    <dgm:cxn modelId="{1A1ABCC0-3D03-4C52-8270-4C5AF0B4C991}" type="presParOf" srcId="{08DC71E0-2C91-4E02-BEC1-836D39D480E3}" destId="{4C78ED96-10DB-44E9-A6A9-4E738470CC3A}" srcOrd="6" destOrd="0" presId="urn:microsoft.com/office/officeart/2005/8/layout/cycle1"/>
    <dgm:cxn modelId="{761A98CC-5756-48B9-89F7-82F410DCBDC9}" type="presParOf" srcId="{08DC71E0-2C91-4E02-BEC1-836D39D480E3}" destId="{F4BD634B-C425-4433-BD89-CD82332FBD17}" srcOrd="7" destOrd="0" presId="urn:microsoft.com/office/officeart/2005/8/layout/cycle1"/>
    <dgm:cxn modelId="{7AC20370-2299-4B2F-B550-8048DDBD05AE}" type="presParOf" srcId="{08DC71E0-2C91-4E02-BEC1-836D39D480E3}" destId="{B2877389-AB48-4103-8CEB-C2911FDA4155}" srcOrd="8" destOrd="0" presId="urn:microsoft.com/office/officeart/2005/8/layout/cycle1"/>
    <dgm:cxn modelId="{AFFA5F78-75EE-4D35-8A28-068DC8C1B3CD}" type="presParOf" srcId="{08DC71E0-2C91-4E02-BEC1-836D39D480E3}" destId="{33940C59-8801-43D6-BDBE-AA53902BD557}" srcOrd="9" destOrd="0" presId="urn:microsoft.com/office/officeart/2005/8/layout/cycle1"/>
    <dgm:cxn modelId="{9C6A3148-711E-47FF-814D-2DCD99A7269D}" type="presParOf" srcId="{08DC71E0-2C91-4E02-BEC1-836D39D480E3}" destId="{27736104-542B-4BC3-B6FF-503BFE4AFB30}" srcOrd="10" destOrd="0" presId="urn:microsoft.com/office/officeart/2005/8/layout/cycle1"/>
    <dgm:cxn modelId="{E7A08867-7A6A-47AE-92E1-4EC31F0F382C}" type="presParOf" srcId="{08DC71E0-2C91-4E02-BEC1-836D39D480E3}" destId="{0F34D06B-6FCE-4492-B262-8C84D6FADAA5}" srcOrd="11" destOrd="0" presId="urn:microsoft.com/office/officeart/2005/8/layout/cycle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0D35F0-8174-460B-91B7-5259B078BD87}" type="doc">
      <dgm:prSet loTypeId="urn:microsoft.com/office/officeart/2005/8/layout/pyramid1" loCatId="pyramid" qsTypeId="urn:microsoft.com/office/officeart/2005/8/quickstyle/simple1" qsCatId="simple" csTypeId="urn:microsoft.com/office/officeart/2005/8/colors/colorful1" csCatId="colorful" phldr="1"/>
      <dgm:spPr/>
    </dgm:pt>
    <dgm:pt modelId="{5F245D62-3699-4326-8C24-96C9D00DD3AC}">
      <dgm:prSet phldrT="[טקסט]" custT="1"/>
      <dgm:spPr/>
      <dgm:t>
        <a:bodyPr/>
        <a:lstStyle/>
        <a:p>
          <a:pPr rtl="1"/>
          <a:endParaRPr lang="he-IL" sz="1100" dirty="0"/>
        </a:p>
        <a:p>
          <a:pPr rtl="1"/>
          <a:endParaRPr lang="he-IL" sz="1200" b="1" dirty="0"/>
        </a:p>
        <a:p>
          <a:pPr rtl="1"/>
          <a:r>
            <a:rPr lang="he-IL" sz="2000" b="1" dirty="0"/>
            <a:t>הזדקנות</a:t>
          </a:r>
        </a:p>
        <a:p>
          <a:pPr rtl="1"/>
          <a:r>
            <a:rPr lang="he-IL" sz="2400" b="1" dirty="0"/>
            <a:t> מיטבית</a:t>
          </a:r>
        </a:p>
      </dgm:t>
    </dgm:pt>
    <dgm:pt modelId="{65AC23A2-3F54-4864-812A-833BD39436B9}" type="parTrans" cxnId="{78B8C709-A93D-4230-86E6-E15D289D53A1}">
      <dgm:prSet/>
      <dgm:spPr/>
      <dgm:t>
        <a:bodyPr/>
        <a:lstStyle/>
        <a:p>
          <a:pPr rtl="1"/>
          <a:endParaRPr lang="he-IL"/>
        </a:p>
      </dgm:t>
    </dgm:pt>
    <dgm:pt modelId="{2D680DEE-5688-430A-A56F-896B091ADC9C}" type="sibTrans" cxnId="{78B8C709-A93D-4230-86E6-E15D289D53A1}">
      <dgm:prSet/>
      <dgm:spPr/>
      <dgm:t>
        <a:bodyPr/>
        <a:lstStyle/>
        <a:p>
          <a:pPr rtl="1"/>
          <a:endParaRPr lang="he-IL"/>
        </a:p>
      </dgm:t>
    </dgm:pt>
    <dgm:pt modelId="{81D5B673-99AF-4C58-956C-30F45CBD5586}">
      <dgm:prSet phldrT="[טקסט]" custT="1"/>
      <dgm:spPr>
        <a:solidFill>
          <a:srgbClr val="FFC000"/>
        </a:solidFill>
      </dgm:spPr>
      <dgm:t>
        <a:bodyPr/>
        <a:lstStyle/>
        <a:p>
          <a:pPr rtl="1"/>
          <a:r>
            <a:rPr lang="he-IL" sz="3200" dirty="0"/>
            <a:t>מדידה </a:t>
          </a:r>
          <a:r>
            <a:rPr lang="he-IL" sz="3200" dirty="0" err="1"/>
            <a:t>ותמרוצים</a:t>
          </a:r>
          <a:r>
            <a:rPr lang="he-IL" sz="3200" dirty="0"/>
            <a:t> </a:t>
          </a:r>
        </a:p>
      </dgm:t>
    </dgm:pt>
    <dgm:pt modelId="{E27AB79A-574A-4069-9DC2-F0DF479D6A66}" type="parTrans" cxnId="{66D0C72A-ADD1-4E7F-8743-96969BB478E9}">
      <dgm:prSet/>
      <dgm:spPr/>
      <dgm:t>
        <a:bodyPr/>
        <a:lstStyle/>
        <a:p>
          <a:pPr rtl="1"/>
          <a:endParaRPr lang="he-IL"/>
        </a:p>
      </dgm:t>
    </dgm:pt>
    <dgm:pt modelId="{5B8DF2BA-907C-4877-AC21-D09C8186714E}" type="sibTrans" cxnId="{66D0C72A-ADD1-4E7F-8743-96969BB478E9}">
      <dgm:prSet/>
      <dgm:spPr/>
      <dgm:t>
        <a:bodyPr/>
        <a:lstStyle/>
        <a:p>
          <a:pPr rtl="1"/>
          <a:endParaRPr lang="he-IL"/>
        </a:p>
      </dgm:t>
    </dgm:pt>
    <dgm:pt modelId="{5B8E34DD-E50F-4C49-B3B1-4341E9D6B051}">
      <dgm:prSet phldrT="[טקסט]"/>
      <dgm:spPr>
        <a:solidFill>
          <a:srgbClr val="5EC5C5"/>
        </a:solidFill>
      </dgm:spPr>
      <dgm:t>
        <a:bodyPr/>
        <a:lstStyle/>
        <a:p>
          <a:pPr rtl="1"/>
          <a:r>
            <a:rPr lang="he-IL" dirty="0"/>
            <a:t>סל מותאם אישית לבחירה</a:t>
          </a:r>
        </a:p>
      </dgm:t>
    </dgm:pt>
    <dgm:pt modelId="{880BE483-636C-4A06-976B-8C78874EF0F8}" type="parTrans" cxnId="{76AACF3C-30AA-4B34-9D03-FED835DCBB06}">
      <dgm:prSet/>
      <dgm:spPr/>
      <dgm:t>
        <a:bodyPr/>
        <a:lstStyle/>
        <a:p>
          <a:pPr rtl="1"/>
          <a:endParaRPr lang="he-IL"/>
        </a:p>
      </dgm:t>
    </dgm:pt>
    <dgm:pt modelId="{CD72C910-591E-45D7-8D01-2B83865B49D0}" type="sibTrans" cxnId="{76AACF3C-30AA-4B34-9D03-FED835DCBB06}">
      <dgm:prSet/>
      <dgm:spPr/>
      <dgm:t>
        <a:bodyPr/>
        <a:lstStyle/>
        <a:p>
          <a:pPr rtl="1"/>
          <a:endParaRPr lang="he-IL"/>
        </a:p>
      </dgm:t>
    </dgm:pt>
    <dgm:pt modelId="{C6B2D5B4-D25E-4FE8-82E4-1CD6A2990E93}">
      <dgm:prSet phldrT="[טקסט]"/>
      <dgm:spPr/>
      <dgm:t>
        <a:bodyPr/>
        <a:lstStyle/>
        <a:p>
          <a:pPr rtl="1"/>
          <a:r>
            <a:rPr lang="he-IL" dirty="0"/>
            <a:t>שירות מעטפת </a:t>
          </a:r>
        </a:p>
        <a:p>
          <a:pPr rtl="1"/>
          <a:r>
            <a:rPr lang="he-IL" dirty="0"/>
            <a:t>קהילה לכולם</a:t>
          </a:r>
        </a:p>
      </dgm:t>
    </dgm:pt>
    <dgm:pt modelId="{0696B022-DF8B-46A6-8EC9-D6DDAE8B2C30}" type="parTrans" cxnId="{58D5BDB9-CC9A-4FCB-8B3C-9B88A63D5780}">
      <dgm:prSet/>
      <dgm:spPr/>
      <dgm:t>
        <a:bodyPr/>
        <a:lstStyle/>
        <a:p>
          <a:pPr rtl="1"/>
          <a:endParaRPr lang="he-IL"/>
        </a:p>
      </dgm:t>
    </dgm:pt>
    <dgm:pt modelId="{F65D5231-0170-461E-8BA5-E305680C9C22}" type="sibTrans" cxnId="{58D5BDB9-CC9A-4FCB-8B3C-9B88A63D5780}">
      <dgm:prSet/>
      <dgm:spPr/>
      <dgm:t>
        <a:bodyPr/>
        <a:lstStyle/>
        <a:p>
          <a:pPr rtl="1"/>
          <a:endParaRPr lang="he-IL"/>
        </a:p>
      </dgm:t>
    </dgm:pt>
    <dgm:pt modelId="{960AB101-0557-4EF3-BF78-5B47B3498D2C}" type="pres">
      <dgm:prSet presAssocID="{720D35F0-8174-460B-91B7-5259B078BD87}" presName="Name0" presStyleCnt="0">
        <dgm:presLayoutVars>
          <dgm:dir/>
          <dgm:animLvl val="lvl"/>
          <dgm:resizeHandles val="exact"/>
        </dgm:presLayoutVars>
      </dgm:prSet>
      <dgm:spPr/>
    </dgm:pt>
    <dgm:pt modelId="{0C8D2B12-AB50-4579-B1E8-A206563DE6F5}" type="pres">
      <dgm:prSet presAssocID="{5F245D62-3699-4326-8C24-96C9D00DD3AC}" presName="Name8" presStyleCnt="0"/>
      <dgm:spPr/>
    </dgm:pt>
    <dgm:pt modelId="{6070D69A-5440-4A89-80EA-AE849A3AF518}" type="pres">
      <dgm:prSet presAssocID="{5F245D62-3699-4326-8C24-96C9D00DD3AC}" presName="level" presStyleLbl="node1" presStyleIdx="0" presStyleCnt="4">
        <dgm:presLayoutVars>
          <dgm:chMax val="1"/>
          <dgm:bulletEnabled val="1"/>
        </dgm:presLayoutVars>
      </dgm:prSet>
      <dgm:spPr/>
    </dgm:pt>
    <dgm:pt modelId="{7E623A44-4B05-464C-A676-DC324274F761}" type="pres">
      <dgm:prSet presAssocID="{5F245D62-3699-4326-8C24-96C9D00DD3AC}" presName="levelTx" presStyleLbl="revTx" presStyleIdx="0" presStyleCnt="0">
        <dgm:presLayoutVars>
          <dgm:chMax val="1"/>
          <dgm:bulletEnabled val="1"/>
        </dgm:presLayoutVars>
      </dgm:prSet>
      <dgm:spPr/>
    </dgm:pt>
    <dgm:pt modelId="{E8419DFB-EFE2-4C0F-92CC-47E2CBC070EC}" type="pres">
      <dgm:prSet presAssocID="{81D5B673-99AF-4C58-956C-30F45CBD5586}" presName="Name8" presStyleCnt="0"/>
      <dgm:spPr/>
    </dgm:pt>
    <dgm:pt modelId="{7472973C-CF79-4898-91E8-E14622784BB4}" type="pres">
      <dgm:prSet presAssocID="{81D5B673-99AF-4C58-956C-30F45CBD5586}" presName="level" presStyleLbl="node1" presStyleIdx="1" presStyleCnt="4">
        <dgm:presLayoutVars>
          <dgm:chMax val="1"/>
          <dgm:bulletEnabled val="1"/>
        </dgm:presLayoutVars>
      </dgm:prSet>
      <dgm:spPr/>
    </dgm:pt>
    <dgm:pt modelId="{4C59183A-2E52-4922-8AAB-0CD120D1A96D}" type="pres">
      <dgm:prSet presAssocID="{81D5B673-99AF-4C58-956C-30F45CBD5586}" presName="levelTx" presStyleLbl="revTx" presStyleIdx="0" presStyleCnt="0">
        <dgm:presLayoutVars>
          <dgm:chMax val="1"/>
          <dgm:bulletEnabled val="1"/>
        </dgm:presLayoutVars>
      </dgm:prSet>
      <dgm:spPr/>
    </dgm:pt>
    <dgm:pt modelId="{A45EDDB8-1FC5-4143-94FE-36CFD1148A5E}" type="pres">
      <dgm:prSet presAssocID="{5B8E34DD-E50F-4C49-B3B1-4341E9D6B051}" presName="Name8" presStyleCnt="0"/>
      <dgm:spPr/>
    </dgm:pt>
    <dgm:pt modelId="{874210C7-DBE7-4E93-AF2F-64ECAA718ABA}" type="pres">
      <dgm:prSet presAssocID="{5B8E34DD-E50F-4C49-B3B1-4341E9D6B051}" presName="level" presStyleLbl="node1" presStyleIdx="2" presStyleCnt="4">
        <dgm:presLayoutVars>
          <dgm:chMax val="1"/>
          <dgm:bulletEnabled val="1"/>
        </dgm:presLayoutVars>
      </dgm:prSet>
      <dgm:spPr/>
    </dgm:pt>
    <dgm:pt modelId="{042B80C4-2D03-4314-88A9-C9DCBE1E0592}" type="pres">
      <dgm:prSet presAssocID="{5B8E34DD-E50F-4C49-B3B1-4341E9D6B051}" presName="levelTx" presStyleLbl="revTx" presStyleIdx="0" presStyleCnt="0">
        <dgm:presLayoutVars>
          <dgm:chMax val="1"/>
          <dgm:bulletEnabled val="1"/>
        </dgm:presLayoutVars>
      </dgm:prSet>
      <dgm:spPr/>
    </dgm:pt>
    <dgm:pt modelId="{04D0DA8B-FE1B-4E6E-84BB-48FB07465E47}" type="pres">
      <dgm:prSet presAssocID="{C6B2D5B4-D25E-4FE8-82E4-1CD6A2990E93}" presName="Name8" presStyleCnt="0"/>
      <dgm:spPr/>
    </dgm:pt>
    <dgm:pt modelId="{CE29C06B-8968-43B8-BCD7-96D804A52BBB}" type="pres">
      <dgm:prSet presAssocID="{C6B2D5B4-D25E-4FE8-82E4-1CD6A2990E93}" presName="level" presStyleLbl="node1" presStyleIdx="3" presStyleCnt="4">
        <dgm:presLayoutVars>
          <dgm:chMax val="1"/>
          <dgm:bulletEnabled val="1"/>
        </dgm:presLayoutVars>
      </dgm:prSet>
      <dgm:spPr/>
    </dgm:pt>
    <dgm:pt modelId="{739B2ADD-5DCE-4A54-AB2F-9D6D2F3BAA39}" type="pres">
      <dgm:prSet presAssocID="{C6B2D5B4-D25E-4FE8-82E4-1CD6A2990E93}" presName="levelTx" presStyleLbl="revTx" presStyleIdx="0" presStyleCnt="0">
        <dgm:presLayoutVars>
          <dgm:chMax val="1"/>
          <dgm:bulletEnabled val="1"/>
        </dgm:presLayoutVars>
      </dgm:prSet>
      <dgm:spPr/>
    </dgm:pt>
  </dgm:ptLst>
  <dgm:cxnLst>
    <dgm:cxn modelId="{78B8C709-A93D-4230-86E6-E15D289D53A1}" srcId="{720D35F0-8174-460B-91B7-5259B078BD87}" destId="{5F245D62-3699-4326-8C24-96C9D00DD3AC}" srcOrd="0" destOrd="0" parTransId="{65AC23A2-3F54-4864-812A-833BD39436B9}" sibTransId="{2D680DEE-5688-430A-A56F-896B091ADC9C}"/>
    <dgm:cxn modelId="{83026824-C083-462F-9CD8-F5ABCDEEF095}" type="presOf" srcId="{5B8E34DD-E50F-4C49-B3B1-4341E9D6B051}" destId="{042B80C4-2D03-4314-88A9-C9DCBE1E0592}" srcOrd="1" destOrd="0" presId="urn:microsoft.com/office/officeart/2005/8/layout/pyramid1"/>
    <dgm:cxn modelId="{66D0C72A-ADD1-4E7F-8743-96969BB478E9}" srcId="{720D35F0-8174-460B-91B7-5259B078BD87}" destId="{81D5B673-99AF-4C58-956C-30F45CBD5586}" srcOrd="1" destOrd="0" parTransId="{E27AB79A-574A-4069-9DC2-F0DF479D6A66}" sibTransId="{5B8DF2BA-907C-4877-AC21-D09C8186714E}"/>
    <dgm:cxn modelId="{AAEE662E-95EF-4F9A-9AE2-BB736CE6678F}" type="presOf" srcId="{81D5B673-99AF-4C58-956C-30F45CBD5586}" destId="{4C59183A-2E52-4922-8AAB-0CD120D1A96D}" srcOrd="1" destOrd="0" presId="urn:microsoft.com/office/officeart/2005/8/layout/pyramid1"/>
    <dgm:cxn modelId="{76AACF3C-30AA-4B34-9D03-FED835DCBB06}" srcId="{720D35F0-8174-460B-91B7-5259B078BD87}" destId="{5B8E34DD-E50F-4C49-B3B1-4341E9D6B051}" srcOrd="2" destOrd="0" parTransId="{880BE483-636C-4A06-976B-8C78874EF0F8}" sibTransId="{CD72C910-591E-45D7-8D01-2B83865B49D0}"/>
    <dgm:cxn modelId="{BB92F085-98DE-4309-AAAE-9220D3440141}" type="presOf" srcId="{720D35F0-8174-460B-91B7-5259B078BD87}" destId="{960AB101-0557-4EF3-BF78-5B47B3498D2C}" srcOrd="0" destOrd="0" presId="urn:microsoft.com/office/officeart/2005/8/layout/pyramid1"/>
    <dgm:cxn modelId="{CB20D98E-4133-4156-B121-C488B1CAC1E6}" type="presOf" srcId="{81D5B673-99AF-4C58-956C-30F45CBD5586}" destId="{7472973C-CF79-4898-91E8-E14622784BB4}" srcOrd="0" destOrd="0" presId="urn:microsoft.com/office/officeart/2005/8/layout/pyramid1"/>
    <dgm:cxn modelId="{FE704B9F-B49D-4632-837B-034BD6B1C804}" type="presOf" srcId="{C6B2D5B4-D25E-4FE8-82E4-1CD6A2990E93}" destId="{CE29C06B-8968-43B8-BCD7-96D804A52BBB}" srcOrd="0" destOrd="0" presId="urn:microsoft.com/office/officeart/2005/8/layout/pyramid1"/>
    <dgm:cxn modelId="{496EA0AC-6B3C-4EBB-A44D-CECB4F0609CD}" type="presOf" srcId="{C6B2D5B4-D25E-4FE8-82E4-1CD6A2990E93}" destId="{739B2ADD-5DCE-4A54-AB2F-9D6D2F3BAA39}" srcOrd="1" destOrd="0" presId="urn:microsoft.com/office/officeart/2005/8/layout/pyramid1"/>
    <dgm:cxn modelId="{8FFA93AE-9B40-45F7-8BF3-043ECB3FBF3D}" type="presOf" srcId="{5F245D62-3699-4326-8C24-96C9D00DD3AC}" destId="{7E623A44-4B05-464C-A676-DC324274F761}" srcOrd="1" destOrd="0" presId="urn:microsoft.com/office/officeart/2005/8/layout/pyramid1"/>
    <dgm:cxn modelId="{58D5BDB9-CC9A-4FCB-8B3C-9B88A63D5780}" srcId="{720D35F0-8174-460B-91B7-5259B078BD87}" destId="{C6B2D5B4-D25E-4FE8-82E4-1CD6A2990E93}" srcOrd="3" destOrd="0" parTransId="{0696B022-DF8B-46A6-8EC9-D6DDAE8B2C30}" sibTransId="{F65D5231-0170-461E-8BA5-E305680C9C22}"/>
    <dgm:cxn modelId="{398A8CCE-42F6-4F1C-9883-06C4D1A2B37F}" type="presOf" srcId="{5B8E34DD-E50F-4C49-B3B1-4341E9D6B051}" destId="{874210C7-DBE7-4E93-AF2F-64ECAA718ABA}" srcOrd="0" destOrd="0" presId="urn:microsoft.com/office/officeart/2005/8/layout/pyramid1"/>
    <dgm:cxn modelId="{728196F3-541C-4E82-AE79-40C13CCCD64C}" type="presOf" srcId="{5F245D62-3699-4326-8C24-96C9D00DD3AC}" destId="{6070D69A-5440-4A89-80EA-AE849A3AF518}" srcOrd="0" destOrd="0" presId="urn:microsoft.com/office/officeart/2005/8/layout/pyramid1"/>
    <dgm:cxn modelId="{DEAA688D-962A-4B6E-80E2-8D94488BDAF9}" type="presParOf" srcId="{960AB101-0557-4EF3-BF78-5B47B3498D2C}" destId="{0C8D2B12-AB50-4579-B1E8-A206563DE6F5}" srcOrd="0" destOrd="0" presId="urn:microsoft.com/office/officeart/2005/8/layout/pyramid1"/>
    <dgm:cxn modelId="{8DDE6B24-F668-405C-B26D-8CFD12559167}" type="presParOf" srcId="{0C8D2B12-AB50-4579-B1E8-A206563DE6F5}" destId="{6070D69A-5440-4A89-80EA-AE849A3AF518}" srcOrd="0" destOrd="0" presId="urn:microsoft.com/office/officeart/2005/8/layout/pyramid1"/>
    <dgm:cxn modelId="{65BAC90D-32C1-4D3D-96E8-D71C5C82D09D}" type="presParOf" srcId="{0C8D2B12-AB50-4579-B1E8-A206563DE6F5}" destId="{7E623A44-4B05-464C-A676-DC324274F761}" srcOrd="1" destOrd="0" presId="urn:microsoft.com/office/officeart/2005/8/layout/pyramid1"/>
    <dgm:cxn modelId="{42260F2A-281E-4B70-A1D7-BF4A16EB37C2}" type="presParOf" srcId="{960AB101-0557-4EF3-BF78-5B47B3498D2C}" destId="{E8419DFB-EFE2-4C0F-92CC-47E2CBC070EC}" srcOrd="1" destOrd="0" presId="urn:microsoft.com/office/officeart/2005/8/layout/pyramid1"/>
    <dgm:cxn modelId="{918D52DF-E6F1-4ADB-8AF9-3B34D8B2E8A2}" type="presParOf" srcId="{E8419DFB-EFE2-4C0F-92CC-47E2CBC070EC}" destId="{7472973C-CF79-4898-91E8-E14622784BB4}" srcOrd="0" destOrd="0" presId="urn:microsoft.com/office/officeart/2005/8/layout/pyramid1"/>
    <dgm:cxn modelId="{65EC4C3B-D5E0-4ACA-B14B-8193419B6BB3}" type="presParOf" srcId="{E8419DFB-EFE2-4C0F-92CC-47E2CBC070EC}" destId="{4C59183A-2E52-4922-8AAB-0CD120D1A96D}" srcOrd="1" destOrd="0" presId="urn:microsoft.com/office/officeart/2005/8/layout/pyramid1"/>
    <dgm:cxn modelId="{0A5B3158-1BBD-4DA5-8969-D084564311AF}" type="presParOf" srcId="{960AB101-0557-4EF3-BF78-5B47B3498D2C}" destId="{A45EDDB8-1FC5-4143-94FE-36CFD1148A5E}" srcOrd="2" destOrd="0" presId="urn:microsoft.com/office/officeart/2005/8/layout/pyramid1"/>
    <dgm:cxn modelId="{FFC88683-24A8-4D66-8848-9A2AE15E0469}" type="presParOf" srcId="{A45EDDB8-1FC5-4143-94FE-36CFD1148A5E}" destId="{874210C7-DBE7-4E93-AF2F-64ECAA718ABA}" srcOrd="0" destOrd="0" presId="urn:microsoft.com/office/officeart/2005/8/layout/pyramid1"/>
    <dgm:cxn modelId="{C3BF9EF3-8759-4A4E-898B-9BB6AF2E753F}" type="presParOf" srcId="{A45EDDB8-1FC5-4143-94FE-36CFD1148A5E}" destId="{042B80C4-2D03-4314-88A9-C9DCBE1E0592}" srcOrd="1" destOrd="0" presId="urn:microsoft.com/office/officeart/2005/8/layout/pyramid1"/>
    <dgm:cxn modelId="{06810C0D-5C58-4FAA-8AFC-D32566F6C4CD}" type="presParOf" srcId="{960AB101-0557-4EF3-BF78-5B47B3498D2C}" destId="{04D0DA8B-FE1B-4E6E-84BB-48FB07465E47}" srcOrd="3" destOrd="0" presId="urn:microsoft.com/office/officeart/2005/8/layout/pyramid1"/>
    <dgm:cxn modelId="{3365869F-71BB-4888-848E-FE8468D0ECAD}" type="presParOf" srcId="{04D0DA8B-FE1B-4E6E-84BB-48FB07465E47}" destId="{CE29C06B-8968-43B8-BCD7-96D804A52BBB}" srcOrd="0" destOrd="0" presId="urn:microsoft.com/office/officeart/2005/8/layout/pyramid1"/>
    <dgm:cxn modelId="{2BC1E005-4C6B-421B-A39B-353EFB18073A}" type="presParOf" srcId="{04D0DA8B-FE1B-4E6E-84BB-48FB07465E47}" destId="{739B2ADD-5DCE-4A54-AB2F-9D6D2F3BAA39}"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6D366-0EC0-436D-9D57-849E41B2D715}">
      <dsp:nvSpPr>
        <dsp:cNvPr id="0" name=""/>
        <dsp:cNvSpPr/>
      </dsp:nvSpPr>
      <dsp:spPr>
        <a:xfrm>
          <a:off x="4410613" y="114467"/>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SzPts val="1000"/>
            <a:buFont typeface="Symbol" panose="05050102010706020507" pitchFamily="18" charset="2"/>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שימוש ב</a:t>
          </a:r>
          <a:r>
            <a:rPr lang="en-US" sz="2000" kern="1200" dirty="0">
              <a:effectLst/>
              <a:latin typeface="Calibri" panose="020F0502020204030204" pitchFamily="34" charset="0"/>
              <a:ea typeface="Calibri" panose="020F0502020204030204" pitchFamily="34" charset="0"/>
              <a:cs typeface="Arial" panose="020B0604020202020204" pitchFamily="34" charset="0"/>
            </a:rPr>
            <a:t>-AI </a:t>
          </a:r>
          <a:r>
            <a:rPr lang="he-IL" sz="2000" kern="1200" dirty="0">
              <a:effectLst/>
              <a:latin typeface="Calibri" panose="020F0502020204030204" pitchFamily="34" charset="0"/>
              <a:ea typeface="Calibri" panose="020F0502020204030204" pitchFamily="34" charset="0"/>
              <a:cs typeface="Arial" panose="020B0604020202020204" pitchFamily="34" charset="0"/>
            </a:rPr>
            <a:t>להתאמה אישית של שירותים</a:t>
          </a:r>
          <a:endParaRPr lang="he-IL" sz="2000" kern="1200" dirty="0"/>
        </a:p>
      </dsp:txBody>
      <dsp:txXfrm>
        <a:off x="4410613" y="114467"/>
        <a:ext cx="1826974" cy="1826974"/>
      </dsp:txXfrm>
    </dsp:sp>
    <dsp:sp modelId="{6DFFAECD-9523-4B56-BCB4-09A92B29E46E}">
      <dsp:nvSpPr>
        <dsp:cNvPr id="0" name=""/>
        <dsp:cNvSpPr/>
      </dsp:nvSpPr>
      <dsp:spPr>
        <a:xfrm>
          <a:off x="1190612" y="-969"/>
          <a:ext cx="5162412" cy="5162412"/>
        </a:xfrm>
        <a:prstGeom prst="circularArrow">
          <a:avLst>
            <a:gd name="adj1" fmla="val 6901"/>
            <a:gd name="adj2" fmla="val 465271"/>
            <a:gd name="adj3" fmla="val 549757"/>
            <a:gd name="adj4" fmla="val 20584972"/>
            <a:gd name="adj5" fmla="val 8051"/>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736CAD-DE8C-4C19-BD20-31AF954BC33E}">
      <dsp:nvSpPr>
        <dsp:cNvPr id="0" name=""/>
        <dsp:cNvSpPr/>
      </dsp:nvSpPr>
      <dsp:spPr>
        <a:xfrm>
          <a:off x="4410613" y="3219031"/>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ניתוח מתקדם של נתוני משתמש בזמן אמת</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4410613" y="3219031"/>
        <a:ext cx="1826974" cy="1826974"/>
      </dsp:txXfrm>
    </dsp:sp>
    <dsp:sp modelId="{69EEECB8-D979-4E4A-AEF4-99988352B88C}">
      <dsp:nvSpPr>
        <dsp:cNvPr id="0" name=""/>
        <dsp:cNvSpPr/>
      </dsp:nvSpPr>
      <dsp:spPr>
        <a:xfrm>
          <a:off x="1190612" y="-969"/>
          <a:ext cx="5162412" cy="5162412"/>
        </a:xfrm>
        <a:prstGeom prst="circularArrow">
          <a:avLst>
            <a:gd name="adj1" fmla="val 6901"/>
            <a:gd name="adj2" fmla="val 465271"/>
            <a:gd name="adj3" fmla="val 5949757"/>
            <a:gd name="adj4" fmla="val 4384972"/>
            <a:gd name="adj5" fmla="val 8051"/>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BD634B-C425-4433-BD89-CD82332FBD17}">
      <dsp:nvSpPr>
        <dsp:cNvPr id="0" name=""/>
        <dsp:cNvSpPr/>
      </dsp:nvSpPr>
      <dsp:spPr>
        <a:xfrm>
          <a:off x="1306049" y="3219031"/>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למידת מכונה לשיפור מתמיד של המלצות</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1306049" y="3219031"/>
        <a:ext cx="1826974" cy="1826974"/>
      </dsp:txXfrm>
    </dsp:sp>
    <dsp:sp modelId="{B2877389-AB48-4103-8CEB-C2911FDA4155}">
      <dsp:nvSpPr>
        <dsp:cNvPr id="0" name=""/>
        <dsp:cNvSpPr/>
      </dsp:nvSpPr>
      <dsp:spPr>
        <a:xfrm>
          <a:off x="1190612" y="-969"/>
          <a:ext cx="5162412" cy="5162412"/>
        </a:xfrm>
        <a:prstGeom prst="circularArrow">
          <a:avLst>
            <a:gd name="adj1" fmla="val 6901"/>
            <a:gd name="adj2" fmla="val 465271"/>
            <a:gd name="adj3" fmla="val 11349757"/>
            <a:gd name="adj4" fmla="val 9784972"/>
            <a:gd name="adj5" fmla="val 8051"/>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736104-542B-4BC3-B6FF-503BFE4AFB30}">
      <dsp:nvSpPr>
        <dsp:cNvPr id="0" name=""/>
        <dsp:cNvSpPr/>
      </dsp:nvSpPr>
      <dsp:spPr>
        <a:xfrm>
          <a:off x="1306049" y="114467"/>
          <a:ext cx="1826974" cy="182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rtl="1">
            <a:lnSpc>
              <a:spcPct val="90000"/>
            </a:lnSpc>
            <a:spcBef>
              <a:spcPct val="0"/>
            </a:spcBef>
            <a:spcAft>
              <a:spcPct val="35000"/>
            </a:spcAft>
            <a:buNone/>
          </a:pPr>
          <a:r>
            <a:rPr lang="he-IL" sz="2000" kern="1200" dirty="0">
              <a:effectLst/>
              <a:latin typeface="Calibri" panose="020F0502020204030204" pitchFamily="34" charset="0"/>
              <a:ea typeface="Calibri" panose="020F0502020204030204" pitchFamily="34" charset="0"/>
              <a:cs typeface="Arial" panose="020B0604020202020204" pitchFamily="34" charset="0"/>
            </a:rPr>
            <a:t>יכולות חיזוי לזיהוי מוקדם של סיכונים</a:t>
          </a:r>
          <a:endParaRPr lang="en-US" sz="2000" kern="1200" dirty="0">
            <a:effectLst/>
            <a:latin typeface="Calibri" panose="020F0502020204030204" pitchFamily="34" charset="0"/>
            <a:ea typeface="Calibri" panose="020F0502020204030204" pitchFamily="34" charset="0"/>
            <a:cs typeface="Arial" panose="020B0604020202020204" pitchFamily="34" charset="0"/>
          </a:endParaRPr>
        </a:p>
      </dsp:txBody>
      <dsp:txXfrm>
        <a:off x="1306049" y="114467"/>
        <a:ext cx="1826974" cy="1826974"/>
      </dsp:txXfrm>
    </dsp:sp>
    <dsp:sp modelId="{0F34D06B-6FCE-4492-B262-8C84D6FADAA5}">
      <dsp:nvSpPr>
        <dsp:cNvPr id="0" name=""/>
        <dsp:cNvSpPr/>
      </dsp:nvSpPr>
      <dsp:spPr>
        <a:xfrm>
          <a:off x="1190612" y="-969"/>
          <a:ext cx="5162412" cy="5162412"/>
        </a:xfrm>
        <a:prstGeom prst="circularArrow">
          <a:avLst>
            <a:gd name="adj1" fmla="val 6901"/>
            <a:gd name="adj2" fmla="val 465271"/>
            <a:gd name="adj3" fmla="val 16749757"/>
            <a:gd name="adj4" fmla="val 15184972"/>
            <a:gd name="adj5" fmla="val 8051"/>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D69A-5440-4A89-80EA-AE849A3AF518}">
      <dsp:nvSpPr>
        <dsp:cNvPr id="0" name=""/>
        <dsp:cNvSpPr/>
      </dsp:nvSpPr>
      <dsp:spPr>
        <a:xfrm>
          <a:off x="3047999" y="0"/>
          <a:ext cx="2032000" cy="1354666"/>
        </a:xfrm>
        <a:prstGeom prst="trapezoid">
          <a:avLst>
            <a:gd name="adj" fmla="val 7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rtl="1">
            <a:lnSpc>
              <a:spcPct val="90000"/>
            </a:lnSpc>
            <a:spcBef>
              <a:spcPct val="0"/>
            </a:spcBef>
            <a:spcAft>
              <a:spcPct val="35000"/>
            </a:spcAft>
            <a:buNone/>
          </a:pPr>
          <a:endParaRPr lang="he-IL" sz="1100" kern="1200" dirty="0"/>
        </a:p>
        <a:p>
          <a:pPr marL="0" lvl="0" indent="0" algn="ctr" defTabSz="488950" rtl="1">
            <a:lnSpc>
              <a:spcPct val="90000"/>
            </a:lnSpc>
            <a:spcBef>
              <a:spcPct val="0"/>
            </a:spcBef>
            <a:spcAft>
              <a:spcPct val="35000"/>
            </a:spcAft>
            <a:buNone/>
          </a:pPr>
          <a:endParaRPr lang="he-IL" sz="1200" b="1" kern="1200" dirty="0"/>
        </a:p>
        <a:p>
          <a:pPr marL="0" lvl="0" indent="0" algn="ctr" defTabSz="488950" rtl="1">
            <a:lnSpc>
              <a:spcPct val="90000"/>
            </a:lnSpc>
            <a:spcBef>
              <a:spcPct val="0"/>
            </a:spcBef>
            <a:spcAft>
              <a:spcPct val="35000"/>
            </a:spcAft>
            <a:buNone/>
          </a:pPr>
          <a:r>
            <a:rPr lang="he-IL" sz="2000" b="1" kern="1200" dirty="0"/>
            <a:t>הזדקנות</a:t>
          </a:r>
        </a:p>
        <a:p>
          <a:pPr marL="0" lvl="0" indent="0" algn="ctr" defTabSz="488950" rtl="1">
            <a:lnSpc>
              <a:spcPct val="90000"/>
            </a:lnSpc>
            <a:spcBef>
              <a:spcPct val="0"/>
            </a:spcBef>
            <a:spcAft>
              <a:spcPct val="35000"/>
            </a:spcAft>
            <a:buNone/>
          </a:pPr>
          <a:r>
            <a:rPr lang="he-IL" sz="2400" b="1" kern="1200" dirty="0"/>
            <a:t> מיטבית</a:t>
          </a:r>
        </a:p>
      </dsp:txBody>
      <dsp:txXfrm>
        <a:off x="3047999" y="0"/>
        <a:ext cx="2032000" cy="1354666"/>
      </dsp:txXfrm>
    </dsp:sp>
    <dsp:sp modelId="{7472973C-CF79-4898-91E8-E14622784BB4}">
      <dsp:nvSpPr>
        <dsp:cNvPr id="0" name=""/>
        <dsp:cNvSpPr/>
      </dsp:nvSpPr>
      <dsp:spPr>
        <a:xfrm>
          <a:off x="2032000" y="1354666"/>
          <a:ext cx="4064000" cy="1354666"/>
        </a:xfrm>
        <a:prstGeom prst="trapezoid">
          <a:avLst>
            <a:gd name="adj" fmla="val 75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rtl="1">
            <a:lnSpc>
              <a:spcPct val="90000"/>
            </a:lnSpc>
            <a:spcBef>
              <a:spcPct val="0"/>
            </a:spcBef>
            <a:spcAft>
              <a:spcPct val="35000"/>
            </a:spcAft>
            <a:buNone/>
          </a:pPr>
          <a:r>
            <a:rPr lang="he-IL" sz="3200" kern="1200" dirty="0"/>
            <a:t>מדידה </a:t>
          </a:r>
          <a:r>
            <a:rPr lang="he-IL" sz="3200" kern="1200" dirty="0" err="1"/>
            <a:t>ותמרוצים</a:t>
          </a:r>
          <a:r>
            <a:rPr lang="he-IL" sz="3200" kern="1200" dirty="0"/>
            <a:t> </a:t>
          </a:r>
        </a:p>
      </dsp:txBody>
      <dsp:txXfrm>
        <a:off x="2743199" y="1354666"/>
        <a:ext cx="2641600" cy="1354666"/>
      </dsp:txXfrm>
    </dsp:sp>
    <dsp:sp modelId="{874210C7-DBE7-4E93-AF2F-64ECAA718ABA}">
      <dsp:nvSpPr>
        <dsp:cNvPr id="0" name=""/>
        <dsp:cNvSpPr/>
      </dsp:nvSpPr>
      <dsp:spPr>
        <a:xfrm>
          <a:off x="1015999" y="2709333"/>
          <a:ext cx="6096000" cy="1354666"/>
        </a:xfrm>
        <a:prstGeom prst="trapezoid">
          <a:avLst>
            <a:gd name="adj" fmla="val 75000"/>
          </a:avLst>
        </a:prstGeom>
        <a:solidFill>
          <a:srgbClr val="5EC5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rtl="1">
            <a:lnSpc>
              <a:spcPct val="90000"/>
            </a:lnSpc>
            <a:spcBef>
              <a:spcPct val="0"/>
            </a:spcBef>
            <a:spcAft>
              <a:spcPct val="35000"/>
            </a:spcAft>
            <a:buNone/>
          </a:pPr>
          <a:r>
            <a:rPr lang="he-IL" sz="3900" kern="1200" dirty="0"/>
            <a:t>סל מותאם אישית לבחירה</a:t>
          </a:r>
        </a:p>
      </dsp:txBody>
      <dsp:txXfrm>
        <a:off x="2082799" y="2709333"/>
        <a:ext cx="3962400" cy="1354666"/>
      </dsp:txXfrm>
    </dsp:sp>
    <dsp:sp modelId="{CE29C06B-8968-43B8-BCD7-96D804A52BBB}">
      <dsp:nvSpPr>
        <dsp:cNvPr id="0" name=""/>
        <dsp:cNvSpPr/>
      </dsp:nvSpPr>
      <dsp:spPr>
        <a:xfrm>
          <a:off x="0" y="4064000"/>
          <a:ext cx="8128000" cy="1354666"/>
        </a:xfrm>
        <a:prstGeom prst="trapezoid">
          <a:avLst>
            <a:gd name="adj" fmla="val 7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rtl="1">
            <a:lnSpc>
              <a:spcPct val="90000"/>
            </a:lnSpc>
            <a:spcBef>
              <a:spcPct val="0"/>
            </a:spcBef>
            <a:spcAft>
              <a:spcPct val="35000"/>
            </a:spcAft>
            <a:buNone/>
          </a:pPr>
          <a:r>
            <a:rPr lang="he-IL" sz="3900" kern="1200" dirty="0"/>
            <a:t>שירות מעטפת </a:t>
          </a:r>
        </a:p>
        <a:p>
          <a:pPr marL="0" lvl="0" indent="0" algn="ctr" defTabSz="1733550" rtl="1">
            <a:lnSpc>
              <a:spcPct val="90000"/>
            </a:lnSpc>
            <a:spcBef>
              <a:spcPct val="0"/>
            </a:spcBef>
            <a:spcAft>
              <a:spcPct val="35000"/>
            </a:spcAft>
            <a:buNone/>
          </a:pPr>
          <a:r>
            <a:rPr lang="he-IL" sz="3900" kern="1200" dirty="0"/>
            <a:t>קהילה לכולם</a:t>
          </a:r>
        </a:p>
      </dsp:txBody>
      <dsp:txXfrm>
        <a:off x="1422399" y="4064000"/>
        <a:ext cx="5283200" cy="1354666"/>
      </dsp:txXfrm>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811A27F-38C4-45A7-8262-87CD92B58974}" type="datetimeFigureOut">
              <a:rPr lang="he-IL" smtClean="0"/>
              <a:t>כ"א/אלול/תשפ"ד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BC49B76-D489-45FB-9933-B15C2574D09E}" type="slidenum">
              <a:rPr lang="he-IL" smtClean="0"/>
              <a:t>‹#›</a:t>
            </a:fld>
            <a:endParaRPr lang="he-IL"/>
          </a:p>
        </p:txBody>
      </p:sp>
    </p:spTree>
    <p:extLst>
      <p:ext uri="{BB962C8B-B14F-4D97-AF65-F5344CB8AC3E}">
        <p14:creationId xmlns:p14="http://schemas.microsoft.com/office/powerpoint/2010/main" val="208698743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604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ישראל מתקדמת ביחס לעולם המערבי גם בעבר וגם כיום (בריק)</a:t>
            </a:r>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09186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עד עשרים שנה מגיעים ל15%, הגיל הרביעי מכפיל את עצמו </a:t>
            </a:r>
            <a:r>
              <a:rPr lang="he-IL" dirty="0" err="1"/>
              <a:t>במויות</a:t>
            </a:r>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50426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a:t>
            </a:r>
            <a:r>
              <a:rPr lang="he-IL" baseline="0" dirty="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45945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3027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indent="0" algn="just">
              <a:lnSpc>
                <a:spcPct val="170000"/>
              </a:lnSpc>
              <a:buFont typeface="Arial" panose="020B0604020202020204" pitchFamily="34" charset="0"/>
              <a:buNone/>
            </a:pPr>
            <a:r>
              <a:rPr lang="he-IL" sz="1200" b="1" u="none" dirty="0">
                <a:latin typeface="Tahoma" panose="020B0604030504040204" pitchFamily="34" charset="0"/>
                <a:ea typeface="Tahoma" panose="020B0604030504040204" pitchFamily="34" charset="0"/>
                <a:cs typeface="Tahoma" panose="020B0604030504040204" pitchFamily="34" charset="0"/>
              </a:rPr>
              <a:t>41%+22%=63% בכסף</a:t>
            </a:r>
          </a:p>
          <a:p>
            <a:pPr marL="0" indent="0" algn="just">
              <a:lnSpc>
                <a:spcPct val="170000"/>
              </a:lnSpc>
              <a:buFont typeface="Arial" panose="020B0604020202020204" pitchFamily="34" charset="0"/>
              <a:buNone/>
            </a:pPr>
            <a:r>
              <a:rPr lang="he-IL" sz="1200" b="1" u="sng" dirty="0">
                <a:latin typeface="Tahoma" panose="020B0604030504040204" pitchFamily="34" charset="0"/>
                <a:ea typeface="Tahoma" panose="020B0604030504040204" pitchFamily="34" charset="0"/>
                <a:cs typeface="Tahoma" panose="020B0604030504040204" pitchFamily="34" charset="0"/>
              </a:rPr>
              <a:t>הרפורמה ב2018:</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גמלה בכסף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ומעבר מ-3 רמות גמלה ל-6 רמות.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יחידות וכסף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התאמת השירותים לצרכי הזכאים</a:t>
            </a:r>
          </a:p>
          <a:p>
            <a:pPr marL="171450" indent="-171450" algn="just">
              <a:lnSpc>
                <a:spcPct val="170000"/>
              </a:lnSpc>
              <a:buFont typeface="Arial" panose="020B0604020202020204" pitchFamily="34" charset="0"/>
              <a:buChar char="•"/>
            </a:pPr>
            <a:r>
              <a:rPr lang="he-IL" b="1" dirty="0"/>
              <a:t>בני משפחה מטפלים בשכר כחלק מהקורונה</a:t>
            </a:r>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022189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endParaRPr lang="he-IL" b="1" dirty="0"/>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94496DA2-19AA-4126-B875-46CF6FBC0E07}"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69331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82032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544594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31044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מבחינת הנשים – צפויות לחיות בגיל 65 יותר זמן, 22.4 שנים (גיל 87.4), אבל שיעור נמוך יותר מהחיים שלהן בבריאות טובה: 10.6 שנים או 47%</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4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697674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שירותי רווחה ובריאות ניתנים</a:t>
            </a:r>
            <a:r>
              <a:rPr lang="he-IL" baseline="0" dirty="0"/>
              <a:t> כמעט בחינם, בגיל 80 נצפה שהזקן יתחיל לשלם?</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86361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488862D9-E127-438C-862D-D0EBBF3999FF}"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29</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146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32</a:t>
            </a:fld>
            <a:endParaRPr lang="en-IL"/>
          </a:p>
        </p:txBody>
      </p:sp>
    </p:spTree>
    <p:extLst>
      <p:ext uri="{BB962C8B-B14F-4D97-AF65-F5344CB8AC3E}">
        <p14:creationId xmlns:p14="http://schemas.microsoft.com/office/powerpoint/2010/main" val="1730913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33</a:t>
            </a:fld>
            <a:endParaRPr lang="en-IL"/>
          </a:p>
        </p:txBody>
      </p:sp>
    </p:spTree>
    <p:extLst>
      <p:ext uri="{BB962C8B-B14F-4D97-AF65-F5344CB8AC3E}">
        <p14:creationId xmlns:p14="http://schemas.microsoft.com/office/powerpoint/2010/main" val="39991817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34</a:t>
            </a:fld>
            <a:endParaRPr lang="en-IL"/>
          </a:p>
        </p:txBody>
      </p:sp>
    </p:spTree>
    <p:extLst>
      <p:ext uri="{BB962C8B-B14F-4D97-AF65-F5344CB8AC3E}">
        <p14:creationId xmlns:p14="http://schemas.microsoft.com/office/powerpoint/2010/main" val="12208966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להוסיף על </a:t>
            </a:r>
            <a:r>
              <a:rPr lang="en-US" dirty="0"/>
              <a:t>KI</a:t>
            </a:r>
            <a:r>
              <a:rPr lang="he-IL" dirty="0"/>
              <a:t>, </a:t>
            </a:r>
            <a:r>
              <a:rPr lang="en-US" dirty="0"/>
              <a:t>EY</a:t>
            </a:r>
            <a:r>
              <a:rPr lang="he-IL" dirty="0"/>
              <a:t>, </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37</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297328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 כבר פלטפורמה דיגיטלית שעובדת שעושה התאמה אישית על בסיס תפקוד באמצעות </a:t>
            </a:r>
            <a:r>
              <a:rPr lang="en-US" dirty="0"/>
              <a:t>AI</a:t>
            </a:r>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2173465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b="1"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223429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969144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46</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6867431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ADL</a:t>
            </a:r>
            <a:r>
              <a:rPr lang="en-US"/>
              <a:t> index () describes the number of limitations with activities of daily living. </a:t>
            </a:r>
            <a:r>
              <a:rPr lang="he-IL"/>
              <a:t> </a:t>
            </a:r>
          </a:p>
          <a:p>
            <a:r>
              <a:rPr lang="en-US" sz="1200" b="0" i="0" u="none" strike="noStrike" kern="1200">
                <a:solidFill>
                  <a:schemeClr val="tx1"/>
                </a:solidFill>
                <a:effectLst/>
                <a:latin typeface="+mn-lt"/>
                <a:ea typeface="+mn-ea"/>
                <a:cs typeface="+mn-cs"/>
              </a:rPr>
              <a:t>Dressing, including putting on shoes and socks</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Walking across a room</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Bathing or showering</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Eating, such as cutting up your food</a:t>
            </a:r>
            <a:r>
              <a:rPr lang="en-US"/>
              <a:t> </a:t>
            </a:r>
            <a:endParaRPr lang="he-IL"/>
          </a:p>
          <a:p>
            <a:r>
              <a:rPr lang="en-US" sz="1200" b="0" i="0" u="none" strike="noStrike" kern="1200">
                <a:solidFill>
                  <a:schemeClr val="tx1"/>
                </a:solidFill>
                <a:effectLst/>
                <a:latin typeface="+mn-lt"/>
                <a:ea typeface="+mn-ea"/>
                <a:cs typeface="+mn-cs"/>
              </a:rPr>
              <a:t>Getting in or out of bed</a:t>
            </a:r>
            <a:r>
              <a:rPr lang="en-US"/>
              <a:t> </a:t>
            </a:r>
            <a:endParaRPr lang="he-IL"/>
          </a:p>
          <a:p>
            <a:r>
              <a:rPr lang="en-US" sz="1200" b="0" i="0" u="none" strike="noStrike" kern="1200">
                <a:solidFill>
                  <a:schemeClr val="tx1"/>
                </a:solidFill>
                <a:effectLst/>
                <a:latin typeface="+mn-lt"/>
                <a:ea typeface="+mn-ea"/>
                <a:cs typeface="+mn-cs"/>
              </a:rPr>
              <a:t>Using the toilet, including getting up or down</a:t>
            </a:r>
            <a:r>
              <a:rPr lang="en-US"/>
              <a:t> </a:t>
            </a:r>
            <a:endParaRPr lang="he-IL"/>
          </a:p>
          <a:p>
            <a:endParaRPr lang="he-IL"/>
          </a:p>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371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49</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237904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572446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299957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02337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067970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074708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78972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989952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825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25797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085140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30519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83011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51917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329595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728675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739818694"/>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283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937949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353141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3213498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29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2579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99210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11959019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4968141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38557323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3254473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1632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259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51530240"/>
      </p:ext>
    </p:extLst>
  </p:cSld>
  <p:clrMapOvr>
    <a:masterClrMapping/>
  </p:clrMapOvr>
  <p:transition spd="slow">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1920315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177153439"/>
      </p:ext>
    </p:extLst>
  </p:cSld>
  <p:clrMapOvr>
    <a:masterClrMapping/>
  </p:clrMapOvr>
  <p:transition spd="slow">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140164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4937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021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כ"א/אלול/תשפ"ד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6229623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7017054"/>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13235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72139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091898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1222111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039403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709687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821362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304381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668806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912197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2278813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7654739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24/09/2024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099942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4709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0354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9779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880000827"/>
      </p:ext>
    </p:extLst>
  </p:cSld>
  <p:clrMapOvr>
    <a:masterClrMapping/>
  </p:clrMapOvr>
  <p:transition spd="slow">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5342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16024663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417898929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8960FE-8B66-A323-86BA-D981384C3077}"/>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3772DE52-31AF-57C5-0625-43B5F30E2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EA05AFBE-BAC2-E897-0393-FDB4C4567E0A}"/>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F7544D20-C448-B144-73E3-80D56CEA9DC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42FF19A4-94F3-DDCB-8734-1CDE1E4E219B}"/>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0872546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BD2D93-FA70-3566-83D5-80058A7F0E5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C15BB50-7716-C625-696D-0A0E05D3B8A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BB807845-7CC5-CF28-C854-7A44662C3933}"/>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3EF1200F-F882-A7F4-2582-ADE4795CF128}"/>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5273F27C-F45D-C6E6-EC37-39817CB92230}"/>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43686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0B8787-D472-692C-3EBC-0516EFAC47C3}"/>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6FF75FBF-B934-1C9F-8D9E-9DE9974343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0E05488F-815E-9617-EFAE-5B956AF9A441}"/>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8EDA05CC-0778-BBC5-D16F-CEE59491432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6524B40-461D-3389-7E9E-8915DC8FF28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5183906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F6C2CB-C1FF-8D32-7EFE-C1DF64C9E0B5}"/>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C275960-9675-343F-AE41-467C2D8158BA}"/>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D4272D8C-4D7B-4EEF-A37E-7B616835756E}"/>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CA127221-BDDA-D017-FD7C-7233FBA2DFAD}"/>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B24B3478-B0CA-3C51-A5A6-968E1291E8B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127AE656-7E29-3933-2198-8CADB6FCF819}"/>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956820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D9EA19F-47B1-ECEB-A0FA-0962F2180D09}"/>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D6B4A99C-BF39-E06B-E844-A87C932F59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F17206F-3060-019A-8C27-C085F499BACB}"/>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D51BC75B-F1D0-483F-7B3E-E5E24D644C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38B8F275-99B0-2595-D312-493444A98E5A}"/>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CF191E6F-7D8A-6A44-4809-DF4894E88377}"/>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8" name="מציין מיקום של כותרת תחתונה 7">
            <a:extLst>
              <a:ext uri="{FF2B5EF4-FFF2-40B4-BE49-F238E27FC236}">
                <a16:creationId xmlns:a16="http://schemas.microsoft.com/office/drawing/2014/main" id="{18FB494C-1AF0-50E3-7B72-48BA9A2D5B49}"/>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B8F6B9C-4B25-5975-B72C-D2CBAD35CDF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5529115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E8F25C-26B6-6499-FD6E-6AE3815A66DC}"/>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258EC462-0278-E8C3-BDC3-06ED76FA1EEF}"/>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4" name="מציין מיקום של כותרת תחתונה 3">
            <a:extLst>
              <a:ext uri="{FF2B5EF4-FFF2-40B4-BE49-F238E27FC236}">
                <a16:creationId xmlns:a16="http://schemas.microsoft.com/office/drawing/2014/main" id="{ED4A54DA-EB69-799A-12E8-706FFA058FE2}"/>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B25B7449-ECFA-7247-5256-F45FCECD3862}"/>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492537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8A76AB4-8A5D-EFE7-B8A1-64D945AEA52C}"/>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3" name="מציין מיקום של כותרת תחתונה 2">
            <a:extLst>
              <a:ext uri="{FF2B5EF4-FFF2-40B4-BE49-F238E27FC236}">
                <a16:creationId xmlns:a16="http://schemas.microsoft.com/office/drawing/2014/main" id="{BE4984A6-6B2E-6642-79C3-FA7F7E13FB2D}"/>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DAC65D4C-689D-1370-05FC-76039711B36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65506068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81928F-A95C-508C-5635-AF5A42F19FDA}"/>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5419BEB-C4FA-5950-D0C6-05512381B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B9DC858B-1D66-D3D1-7713-9FF2DF4F1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B37D2017-7C9B-74E3-23C6-4EFB003B6AA3}"/>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0EE931BC-D86F-9C87-CAB9-40B7E1FF390F}"/>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BFC2D12-6240-A3E6-3A17-E0B20CC2FA61}"/>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85488212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4AA89D-5B70-9F77-7A8E-8B4955CDF60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986C3B7B-E69B-D23E-6434-D84EE4C720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656D79DB-4E4D-2D0E-D333-306A8B4B51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3CC3BF03-00A1-66E6-9C72-E07D30A9CB4D}"/>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6" name="מציין מיקום של כותרת תחתונה 5">
            <a:extLst>
              <a:ext uri="{FF2B5EF4-FFF2-40B4-BE49-F238E27FC236}">
                <a16:creationId xmlns:a16="http://schemas.microsoft.com/office/drawing/2014/main" id="{42F1BC36-C2F2-65BD-EEA9-3282AF13D6BB}"/>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18924A03-B157-6F87-3DA0-C296DF453D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10887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54C2159-C3AD-4243-A2D6-1F0008D578E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1D8EAF5A-5F03-5794-B568-132494BDC0FC}"/>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EB07ACE-5DA8-6107-17EC-FB669C23986E}"/>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750642F7-AA35-BD0A-8478-786D968377D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4B0D803-246A-88EA-4301-A09B50021D6B}"/>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95916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7870536A-BC02-8C94-4CF6-34D04A8E5E83}"/>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4722998E-4213-D003-78CB-D5FC50CAAD84}"/>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7E8EAE0-4222-5819-6181-2857D0B55BEE}"/>
              </a:ext>
            </a:extLst>
          </p:cNvPr>
          <p:cNvSpPr>
            <a:spLocks noGrp="1"/>
          </p:cNvSpPr>
          <p:nvPr>
            <p:ph type="dt" sz="half" idx="10"/>
          </p:nvPr>
        </p:nvSpPr>
        <p:spPr/>
        <p:txBody>
          <a:bodyPr/>
          <a:lstStyle/>
          <a:p>
            <a:fld id="{C33EEBBC-ABA3-4986-BADD-25CEF1780B3F}" type="datetimeFigureOut">
              <a:rPr lang="en-IL" smtClean="0"/>
              <a:t>24/09/2024</a:t>
            </a:fld>
            <a:endParaRPr lang="en-IL"/>
          </a:p>
        </p:txBody>
      </p:sp>
      <p:sp>
        <p:nvSpPr>
          <p:cNvPr id="5" name="מציין מיקום של כותרת תחתונה 4">
            <a:extLst>
              <a:ext uri="{FF2B5EF4-FFF2-40B4-BE49-F238E27FC236}">
                <a16:creationId xmlns:a16="http://schemas.microsoft.com/office/drawing/2014/main" id="{14715372-4808-2810-B607-3D89592345F3}"/>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8EFD6B4-B1A7-8EC3-B577-5AB80FDD2A22}"/>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3205491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1797104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2182896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heme" Target="../theme/theme2.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כ"א/אלול/תשפ"ד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5845138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78" r:id="rId17"/>
    <p:sldLayoutId id="2147483679" r:id="rId18"/>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255901303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25652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24/09/2024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099755471"/>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982C2669-6FE2-E087-7125-5E2310C35C47}"/>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ABB54EC6-6C06-C572-9CB9-849438C86104}"/>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95950CE4-9A09-0A0F-D73C-7F01DF8EFB4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כ"א/אלול/תשפ"ד</a:t>
            </a:fld>
            <a:endParaRPr lang="he-IL"/>
          </a:p>
        </p:txBody>
      </p:sp>
      <p:sp>
        <p:nvSpPr>
          <p:cNvPr id="5" name="מציין מיקום של כותרת תחתונה 4">
            <a:extLst>
              <a:ext uri="{FF2B5EF4-FFF2-40B4-BE49-F238E27FC236}">
                <a16:creationId xmlns:a16="http://schemas.microsoft.com/office/drawing/2014/main" id="{08574296-06B8-C9A9-ADEC-1558A4AFA1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8D82B4F2-D06E-EA08-B19F-CCAF8890E98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2951304864"/>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7.xml"/><Relationship Id="rId5" Type="http://schemas.openxmlformats.org/officeDocument/2006/relationships/image" Target="../media/image20.png"/><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6.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1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37.xml"/><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47.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2.png"/><Relationship Id="rId1" Type="http://schemas.openxmlformats.org/officeDocument/2006/relationships/slideLayout" Target="../slideLayouts/slideLayout37.xml"/><Relationship Id="rId5" Type="http://schemas.microsoft.com/office/2007/relationships/hdphoto" Target="../media/hdphoto2.wdp"/><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5.png"/><Relationship Id="rId7" Type="http://schemas.openxmlformats.org/officeDocument/2006/relationships/image" Target="../media/image15.png"/><Relationship Id="rId2" Type="http://schemas.openxmlformats.org/officeDocument/2006/relationships/image" Target="../media/image44.jpeg"/><Relationship Id="rId1" Type="http://schemas.openxmlformats.org/officeDocument/2006/relationships/slideLayout" Target="../slideLayouts/slideLayout4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6.xml"/><Relationship Id="rId5" Type="http://schemas.openxmlformats.org/officeDocument/2006/relationships/image" Target="../media/image15.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49.xml"/><Relationship Id="rId6" Type="http://schemas.openxmlformats.org/officeDocument/2006/relationships/image" Target="../media/image15.png"/><Relationship Id="rId5" Type="http://schemas.openxmlformats.org/officeDocument/2006/relationships/image" Target="../media/image47.png"/><Relationship Id="rId4" Type="http://schemas.openxmlformats.org/officeDocument/2006/relationships/image" Target="../media/image37.sv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7.xml"/><Relationship Id="rId6" Type="http://schemas.openxmlformats.org/officeDocument/2006/relationships/image" Target="../media/image47.png"/><Relationship Id="rId5" Type="http://schemas.openxmlformats.org/officeDocument/2006/relationships/image" Target="../media/image37.sv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37.svg"/><Relationship Id="rId7" Type="http://schemas.openxmlformats.org/officeDocument/2006/relationships/diagramLayout" Target="../diagrams/layout1.xml"/><Relationship Id="rId12" Type="http://schemas.microsoft.com/office/2007/relationships/hdphoto" Target="../media/hdphoto1.wdp"/><Relationship Id="rId2" Type="http://schemas.openxmlformats.org/officeDocument/2006/relationships/image" Target="../media/image36.png"/><Relationship Id="rId1" Type="http://schemas.openxmlformats.org/officeDocument/2006/relationships/slideLayout" Target="../slideLayouts/slideLayout37.xml"/><Relationship Id="rId6" Type="http://schemas.openxmlformats.org/officeDocument/2006/relationships/diagramData" Target="../diagrams/data1.xml"/><Relationship Id="rId11" Type="http://schemas.openxmlformats.org/officeDocument/2006/relationships/image" Target="../media/image42.png"/><Relationship Id="rId5" Type="http://schemas.openxmlformats.org/officeDocument/2006/relationships/image" Target="../media/image15.png"/><Relationship Id="rId10" Type="http://schemas.microsoft.com/office/2007/relationships/diagramDrawing" Target="../diagrams/drawing1.xml"/><Relationship Id="rId4" Type="http://schemas.openxmlformats.org/officeDocument/2006/relationships/image" Target="../media/image47.png"/><Relationship Id="rId9" Type="http://schemas.openxmlformats.org/officeDocument/2006/relationships/diagramColors" Target="../diagrams/colors1.xml"/></Relationships>
</file>

<file path=ppt/slides/_rels/slide2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37.xml"/><Relationship Id="rId5" Type="http://schemas.openxmlformats.org/officeDocument/2006/relationships/image" Target="../media/image15.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2.png"/><Relationship Id="rId1" Type="http://schemas.openxmlformats.org/officeDocument/2006/relationships/slideLayout" Target="../slideLayouts/slideLayout37.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3.png"/><Relationship Id="rId7"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60.xml"/><Relationship Id="rId6" Type="http://schemas.openxmlformats.org/officeDocument/2006/relationships/image" Target="../media/image15.png"/><Relationship Id="rId5" Type="http://schemas.openxmlformats.org/officeDocument/2006/relationships/image" Target="../media/image24.png"/><Relationship Id="rId4" Type="http://schemas.openxmlformats.org/officeDocument/2006/relationships/image" Target="../media/image54.jpe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5.xml"/><Relationship Id="rId6" Type="http://schemas.openxmlformats.org/officeDocument/2006/relationships/image" Target="../media/image57.png"/><Relationship Id="rId5" Type="http://schemas.openxmlformats.org/officeDocument/2006/relationships/image" Target="../media/image10.png"/><Relationship Id="rId4" Type="http://schemas.microsoft.com/office/2007/relationships/hdphoto" Target="../media/hdphoto3.wdp"/></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66.xml"/><Relationship Id="rId5" Type="http://schemas.openxmlformats.org/officeDocument/2006/relationships/image" Target="../media/image10.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61.jpeg"/><Relationship Id="rId7"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6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10.png"/><Relationship Id="rId9" Type="http://schemas.openxmlformats.org/officeDocument/2006/relationships/image" Target="../media/image66.jpeg"/></Relationships>
</file>

<file path=ppt/slides/_rels/slide3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23.xml"/><Relationship Id="rId1" Type="http://schemas.openxmlformats.org/officeDocument/2006/relationships/slideLayout" Target="../slideLayouts/slideLayout66.xml"/><Relationship Id="rId6" Type="http://schemas.openxmlformats.org/officeDocument/2006/relationships/image" Target="../media/image70.jpg"/><Relationship Id="rId5" Type="http://schemas.openxmlformats.org/officeDocument/2006/relationships/image" Target="../media/image69.jp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34.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78.png"/><Relationship Id="rId2" Type="http://schemas.openxmlformats.org/officeDocument/2006/relationships/notesSlide" Target="../notesSlides/notesSlide24.xml"/><Relationship Id="rId1" Type="http://schemas.openxmlformats.org/officeDocument/2006/relationships/slideLayout" Target="../slideLayouts/slideLayout66.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3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9.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88.png"/><Relationship Id="rId18" Type="http://schemas.openxmlformats.org/officeDocument/2006/relationships/image" Target="../media/image93.png"/><Relationship Id="rId3" Type="http://schemas.openxmlformats.org/officeDocument/2006/relationships/image" Target="../media/image80.png"/><Relationship Id="rId21" Type="http://schemas.openxmlformats.org/officeDocument/2006/relationships/image" Target="../media/image95.png"/><Relationship Id="rId7" Type="http://schemas.openxmlformats.org/officeDocument/2006/relationships/image" Target="../media/image84.png"/><Relationship Id="rId12" Type="http://schemas.openxmlformats.org/officeDocument/2006/relationships/image" Target="../media/image87.png"/><Relationship Id="rId17" Type="http://schemas.openxmlformats.org/officeDocument/2006/relationships/image" Target="../media/image92.png"/><Relationship Id="rId2" Type="http://schemas.openxmlformats.org/officeDocument/2006/relationships/notesSlide" Target="../notesSlides/notesSlide25.xml"/><Relationship Id="rId16" Type="http://schemas.openxmlformats.org/officeDocument/2006/relationships/image" Target="../media/image91.png"/><Relationship Id="rId20"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83.png"/><Relationship Id="rId11" Type="http://schemas.openxmlformats.org/officeDocument/2006/relationships/image" Target="../media/image86.png"/><Relationship Id="rId5" Type="http://schemas.openxmlformats.org/officeDocument/2006/relationships/image" Target="../media/image82.png"/><Relationship Id="rId15" Type="http://schemas.openxmlformats.org/officeDocument/2006/relationships/image" Target="../media/image90.png"/><Relationship Id="rId10" Type="http://schemas.openxmlformats.org/officeDocument/2006/relationships/image" Target="../media/image14.png"/><Relationship Id="rId19" Type="http://schemas.openxmlformats.org/officeDocument/2006/relationships/image" Target="../media/image15.png"/><Relationship Id="rId4" Type="http://schemas.openxmlformats.org/officeDocument/2006/relationships/image" Target="../media/image81.png"/><Relationship Id="rId9" Type="http://schemas.openxmlformats.org/officeDocument/2006/relationships/image" Target="../media/image85.png"/><Relationship Id="rId14" Type="http://schemas.openxmlformats.org/officeDocument/2006/relationships/image" Target="../media/image89.png"/><Relationship Id="rId22" Type="http://schemas.openxmlformats.org/officeDocument/2006/relationships/image" Target="../media/image96.png"/></Relationships>
</file>

<file path=ppt/slides/_rels/slide3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4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8.xml"/><Relationship Id="rId1" Type="http://schemas.openxmlformats.org/officeDocument/2006/relationships/slideLayout" Target="../slideLayouts/slideLayout54.xml"/><Relationship Id="rId5" Type="http://schemas.openxmlformats.org/officeDocument/2006/relationships/image" Target="../media/image15.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9.xml"/><Relationship Id="rId1" Type="http://schemas.openxmlformats.org/officeDocument/2006/relationships/slideLayout" Target="../slideLayouts/slideLayout54.xml"/><Relationship Id="rId5" Type="http://schemas.openxmlformats.org/officeDocument/2006/relationships/image" Target="../media/image15.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4.png"/><Relationship Id="rId7" Type="http://schemas.openxmlformats.org/officeDocument/2006/relationships/diagramColors" Target="../diagrams/colors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15.png"/><Relationship Id="rId4" Type="http://schemas.openxmlformats.org/officeDocument/2006/relationships/diagramData" Target="../diagrams/data2.xml"/><Relationship Id="rId9"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01.png"/></Relationships>
</file>

<file path=ppt/slides/_rels/slide45.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chart" Target="../charts/chart12.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04.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5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109.svg"/><Relationship Id="rId4" Type="http://schemas.openxmlformats.org/officeDocument/2006/relationships/image" Target="../media/image108.svg"/></Relationships>
</file>

<file path=ppt/slides/_rels/slide5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42553" y="6312179"/>
            <a:ext cx="1553881" cy="4236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0CFF6A6F-DA81-2985-5E52-420671A00C0E}"/>
              </a:ext>
            </a:extLst>
          </p:cNvPr>
          <p:cNvSpPr/>
          <p:nvPr/>
        </p:nvSpPr>
        <p:spPr>
          <a:xfrm>
            <a:off x="8344580" y="9751"/>
            <a:ext cx="3884604" cy="4535104"/>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3083921"/>
          </a:xfrm>
          <a:prstGeom prst="rect">
            <a:avLst/>
          </a:prstGeom>
        </p:spPr>
        <p:txBody>
          <a:bodyPr>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בסיעוד</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מהלכים וכיוונים קדימה</a:t>
            </a:r>
          </a:p>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a:stCxn id="26" idx="4"/>
            <a:endCxn id="31" idx="0"/>
          </p:cNvCxnSpPr>
          <p:nvPr/>
        </p:nvCxnSpPr>
        <p:spPr>
          <a:xfrm>
            <a:off x="11667048" y="2441539"/>
            <a:ext cx="0" cy="1589684"/>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6" name="Oval 7">
            <a:extLst>
              <a:ext uri="{FF2B5EF4-FFF2-40B4-BE49-F238E27FC236}">
                <a16:creationId xmlns:a16="http://schemas.microsoft.com/office/drawing/2014/main" id="{641F3CBF-5927-ABD6-A432-443DCE04B3F8}"/>
              </a:ext>
            </a:extLst>
          </p:cNvPr>
          <p:cNvSpPr/>
          <p:nvPr/>
        </p:nvSpPr>
        <p:spPr>
          <a:xfrm>
            <a:off x="11541048" y="2189539"/>
            <a:ext cx="252000" cy="25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4017535"/>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2644519" y="7033183"/>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400" b="1" i="0" u="none" strike="noStrike" kern="1200" cap="none" spc="0" normalizeH="0" baseline="0" noProof="0" dirty="0">
              <a:ln>
                <a:noFill/>
              </a:ln>
              <a:solidFill>
                <a:srgbClr val="FFF8E5"/>
              </a:solidFill>
              <a:effectLst/>
              <a:uLnTx/>
              <a:uFillTx/>
              <a:latin typeface="Calibri" panose="020F0502020204030204"/>
              <a:ea typeface="+mn-ea"/>
              <a:cs typeface="Arial" panose="020B0604020202020204" pitchFamily="34" charset="0"/>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0" cap="none" spc="0" normalizeH="0" baseline="0" noProof="0" dirty="0">
                <a:ln>
                  <a:noFill/>
                </a:ln>
                <a:solidFill>
                  <a:prstClr val="white"/>
                </a:solidFill>
                <a:effectLst/>
                <a:uLnTx/>
                <a:uFillTx/>
                <a:latin typeface="Calibri Light" panose="020F0302020204030204"/>
                <a:ea typeface="+mn-ea"/>
                <a:cs typeface="Arial" panose="020B0604020202020204" pitchFamily="34" charset="0"/>
              </a:rPr>
              <a:t>חוק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0" cap="none" spc="0" normalizeH="0" baseline="0" noProof="0" dirty="0">
                <a:ln>
                  <a:noFill/>
                </a:ln>
                <a:solidFill>
                  <a:prstClr val="white"/>
                </a:solidFill>
                <a:effectLst/>
                <a:uLnTx/>
                <a:uFillTx/>
                <a:latin typeface="Calibri Light" panose="020F0302020204030204"/>
                <a:ea typeface="+mn-ea"/>
                <a:cs typeface="Arial" panose="020B0604020202020204" pitchFamily="34" charset="0"/>
              </a:rPr>
              <a:t>המשבר וההזדמנות לשינוי</a:t>
            </a:r>
          </a:p>
        </p:txBody>
      </p:sp>
      <p:sp>
        <p:nvSpPr>
          <p:cNvPr id="31" name="Oval 9">
            <a:extLst>
              <a:ext uri="{FF2B5EF4-FFF2-40B4-BE49-F238E27FC236}">
                <a16:creationId xmlns:a16="http://schemas.microsoft.com/office/drawing/2014/main" id="{C44003DF-7173-ABEA-A639-89EF7933062D}"/>
              </a:ext>
            </a:extLst>
          </p:cNvPr>
          <p:cNvSpPr/>
          <p:nvPr/>
        </p:nvSpPr>
        <p:spPr>
          <a:xfrm>
            <a:off x="11541048" y="4031223"/>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a:p>
            <a:pPr marL="0" marR="0" lvl="0" indent="0" algn="r" defTabSz="914400" rtl="1" eaLnBrk="1" fontAlgn="auto" latinLnBrk="0" hangingPunct="1">
              <a:lnSpc>
                <a:spcPct val="200000"/>
              </a:lnSpc>
              <a:spcBef>
                <a:spcPts val="0"/>
              </a:spcBef>
              <a:spcAft>
                <a:spcPts val="0"/>
              </a:spcAft>
              <a:buClrTx/>
              <a:buSzTx/>
              <a:buFontTx/>
              <a:buNone/>
              <a:tabLst/>
              <a:defRPr/>
            </a:pP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 </a:t>
            </a:r>
            <a:endParaRPr kumimoji="0" lang="he-IL" sz="2000" b="1" i="0" u="none" strike="noStrike" kern="1200" cap="none" spc="0" normalizeH="0" baseline="0" noProof="0" dirty="0">
              <a:ln>
                <a:noFill/>
              </a:ln>
              <a:solidFill>
                <a:prstClr val="white"/>
              </a:solidFill>
              <a:effectLst/>
              <a:highlight>
                <a:srgbClr val="FFFF00"/>
              </a:highlight>
              <a:uLnTx/>
              <a:uFillTx/>
              <a:latin typeface="Calibri" panose="020F0502020204030204" pitchFamily="34" charset="0"/>
              <a:ea typeface="Open Sans" panose="020B0606030504020204" pitchFamily="34" charset="0"/>
              <a:cs typeface="Calibri" panose="020F0502020204030204" pitchFamily="34" charset="0"/>
            </a:endParaRPr>
          </a:p>
        </p:txBody>
      </p:sp>
      <p:pic>
        <p:nvPicPr>
          <p:cNvPr id="6" name="Picture 24">
            <a:extLst>
              <a:ext uri="{FF2B5EF4-FFF2-40B4-BE49-F238E27FC236}">
                <a16:creationId xmlns:a16="http://schemas.microsoft.com/office/drawing/2014/main" id="{B5124E5F-C9EF-4D24-CB61-5FEDE512DAE2}"/>
              </a:ext>
            </a:extLst>
          </p:cNvPr>
          <p:cNvPicPr>
            <a:picLocks noChangeAspect="1"/>
          </p:cNvPicPr>
          <p:nvPr/>
        </p:nvPicPr>
        <p:blipFill>
          <a:blip r:embed="rId5"/>
          <a:stretch>
            <a:fillRect/>
          </a:stretch>
        </p:blipFill>
        <p:spPr>
          <a:xfrm>
            <a:off x="1726877" y="94119"/>
            <a:ext cx="1280212" cy="467379"/>
          </a:xfrm>
          <a:prstGeom prst="rect">
            <a:avLst/>
          </a:prstGeom>
        </p:spPr>
      </p:pic>
      <p:pic>
        <p:nvPicPr>
          <p:cNvPr id="7" name="Picture 32">
            <a:extLst>
              <a:ext uri="{FF2B5EF4-FFF2-40B4-BE49-F238E27FC236}">
                <a16:creationId xmlns:a16="http://schemas.microsoft.com/office/drawing/2014/main" id="{EB1CD5ED-6BB2-0C7E-42D1-7571ED6F2136}"/>
              </a:ext>
            </a:extLst>
          </p:cNvPr>
          <p:cNvPicPr>
            <a:picLocks noChangeAspect="1"/>
          </p:cNvPicPr>
          <p:nvPr/>
        </p:nvPicPr>
        <p:blipFill>
          <a:blip r:embed="rId6"/>
          <a:stretch>
            <a:fillRect/>
          </a:stretch>
        </p:blipFill>
        <p:spPr>
          <a:xfrm>
            <a:off x="0" y="9750"/>
            <a:ext cx="1726877" cy="719532"/>
          </a:xfrm>
          <a:prstGeom prst="rect">
            <a:avLst/>
          </a:prstGeom>
        </p:spPr>
      </p:pic>
      <p:pic>
        <p:nvPicPr>
          <p:cNvPr id="8" name="Picture 26">
            <a:extLst>
              <a:ext uri="{FF2B5EF4-FFF2-40B4-BE49-F238E27FC236}">
                <a16:creationId xmlns:a16="http://schemas.microsoft.com/office/drawing/2014/main" id="{7E120179-1E00-FB85-4F37-3D303CA2EEE2}"/>
              </a:ext>
            </a:extLst>
          </p:cNvPr>
          <p:cNvPicPr>
            <a:picLocks noChangeAspect="1"/>
          </p:cNvPicPr>
          <p:nvPr/>
        </p:nvPicPr>
        <p:blipFill>
          <a:blip r:embed="rId7"/>
          <a:stretch>
            <a:fillRect/>
          </a:stretch>
        </p:blipFill>
        <p:spPr>
          <a:xfrm>
            <a:off x="9390700" y="6202179"/>
            <a:ext cx="1179780" cy="646071"/>
          </a:xfrm>
          <a:prstGeom prst="rect">
            <a:avLst/>
          </a:prstGeom>
          <a:ln>
            <a:noFill/>
          </a:ln>
        </p:spPr>
      </p:pic>
      <p:pic>
        <p:nvPicPr>
          <p:cNvPr id="9" name="Picture 5" descr="Logo&#10;&#10;Description automatically generated">
            <a:extLst>
              <a:ext uri="{FF2B5EF4-FFF2-40B4-BE49-F238E27FC236}">
                <a16:creationId xmlns:a16="http://schemas.microsoft.com/office/drawing/2014/main" id="{DD0E2C3C-282D-7772-2A8B-53C09CDCBF95}"/>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8140110" y="6220218"/>
            <a:ext cx="914227" cy="607596"/>
          </a:xfrm>
          <a:prstGeom prst="rect">
            <a:avLst/>
          </a:prstGeom>
        </p:spPr>
      </p:pic>
    </p:spTree>
    <p:extLst>
      <p:ext uri="{BB962C8B-B14F-4D97-AF65-F5344CB8AC3E}">
        <p14:creationId xmlns:p14="http://schemas.microsoft.com/office/powerpoint/2010/main" val="87355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uLnTx/>
                <a:uFillTx/>
                <a:latin typeface="Calibri"/>
                <a:ea typeface="Open Sans" panose="020B0606030504020204" pitchFamily="34" charset="0"/>
                <a:cs typeface="Calibri"/>
              </a:rPr>
              <a:t>מטרות חוק סיעוד </a:t>
            </a:r>
            <a:r>
              <a:rPr kumimoji="0" lang="he-IL" sz="1600" b="1" i="0" u="none" strike="noStrike" kern="1200" cap="all" spc="0" normalizeH="0" baseline="0" noProof="0" dirty="0">
                <a:ln>
                  <a:noFill/>
                </a:ln>
                <a:solidFill>
                  <a:srgbClr val="4B2C50"/>
                </a:solidFill>
                <a:effectLst/>
                <a:uLnTx/>
                <a:uFillTx/>
                <a:latin typeface="Open Sans" panose="020B0606030504020204" pitchFamily="34" charset="0"/>
                <a:ea typeface="Open Sans" panose="020B0606030504020204" pitchFamily="34" charset="0"/>
              </a:rPr>
              <a:t>1980</a:t>
            </a:r>
            <a:endParaRPr kumimoji="0" lang="he-IL" sz="4400" b="1" i="0" u="none" strike="noStrike" kern="1200" cap="all" spc="0" normalizeH="0" baseline="0" noProof="0" dirty="0">
              <a:ln>
                <a:noFill/>
              </a:ln>
              <a:solidFill>
                <a:srgbClr val="4B2C50"/>
              </a:solidFill>
              <a:effectLst/>
              <a:uLnTx/>
              <a:uFillTx/>
              <a:latin typeface="Open Sans" panose="020B0606030504020204" pitchFamily="34" charset="0"/>
              <a:ea typeface="Open Sans" panose="020B0606030504020204" pitchFamily="34" charset="0"/>
            </a:endParaRPr>
          </a:p>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uLnTx/>
                <a:uFillTx/>
                <a:latin typeface="Calibri"/>
                <a:ea typeface="Open Sans" panose="020B0606030504020204" pitchFamily="34" charset="0"/>
                <a:cs typeface="Calibri"/>
              </a:rPr>
              <a:t> </a:t>
            </a:r>
            <a:endParaRPr kumimoji="0" lang="en-CA" sz="1200" b="1" i="0" u="none" strike="noStrike" kern="1200" cap="all" spc="0" normalizeH="0" baseline="0" noProof="0" dirty="0">
              <a:ln>
                <a:noFill/>
              </a:ln>
              <a:solidFill>
                <a:srgbClr val="2F3A4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550077" y="1326613"/>
            <a:ext cx="3123207" cy="2496121"/>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עצמאות ותפקוד בקהילה</a:t>
            </a:r>
          </a:p>
        </p:txBody>
      </p:sp>
      <p:sp>
        <p:nvSpPr>
          <p:cNvPr id="11" name="Circle">
            <a:extLst>
              <a:ext uri="{FF2B5EF4-FFF2-40B4-BE49-F238E27FC236}">
                <a16:creationId xmlns:a16="http://schemas.microsoft.com/office/drawing/2014/main" id="{BFA8BC08-2983-6C41-BCDA-7939F0275991}"/>
              </a:ext>
            </a:extLst>
          </p:cNvPr>
          <p:cNvSpPr/>
          <p:nvPr/>
        </p:nvSpPr>
        <p:spPr>
          <a:xfrm>
            <a:off x="3169888" y="1333041"/>
            <a:ext cx="3021591" cy="256358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חיים בכבוד ובביטחון </a:t>
            </a:r>
          </a:p>
        </p:txBody>
      </p:sp>
      <p:sp>
        <p:nvSpPr>
          <p:cNvPr id="12" name="Circle">
            <a:extLst>
              <a:ext uri="{FF2B5EF4-FFF2-40B4-BE49-F238E27FC236}">
                <a16:creationId xmlns:a16="http://schemas.microsoft.com/office/drawing/2014/main" id="{34F19EA4-628E-134F-AE5C-15E847C2E5B4}"/>
              </a:ext>
            </a:extLst>
          </p:cNvPr>
          <p:cNvSpPr/>
          <p:nvPr/>
        </p:nvSpPr>
        <p:spPr>
          <a:xfrm>
            <a:off x="2000186" y="3193696"/>
            <a:ext cx="2932361" cy="2393184"/>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lang="he-IL" sz="28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28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מערך שירותי סיעוד תומך ונגיש</a:t>
            </a: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2" name="מלבן 1"/>
          <p:cNvSpPr/>
          <p:nvPr/>
        </p:nvSpPr>
        <p:spPr>
          <a:xfrm>
            <a:off x="5756747" y="3896625"/>
            <a:ext cx="5973339" cy="2523768"/>
          </a:xfrm>
          <a:prstGeom prst="rect">
            <a:avLst/>
          </a:prstGeom>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המטרות בחוק גמלת הסיעוד:</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95A5A6"/>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1. הבטחת חיים בכבוד ובביטחון כלכלי לזקנים הזקוקים לסיוע.</a:t>
            </a:r>
            <a:endParaRPr kumimoji="0" lang="he-IL" sz="1800" b="0" i="0" u="none" strike="noStrike" kern="1200" cap="none" spc="0" normalizeH="0" baseline="0" noProof="0" dirty="0">
              <a:ln>
                <a:noFill/>
              </a:ln>
              <a:solidFill>
                <a:srgbClr val="4B2C50"/>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2. עידוד עצמאות ותפקוד בקהילה של זקנים.</a:t>
            </a:r>
            <a:endParaRPr kumimoji="0" lang="he-IL" sz="1800" b="0" i="0" u="none" strike="noStrike" kern="1200" cap="none" spc="0" normalizeH="0" baseline="0" noProof="0" dirty="0">
              <a:ln>
                <a:noFill/>
              </a:ln>
              <a:solidFill>
                <a:srgbClr val="4B2C50"/>
              </a:solidFill>
              <a:effectLst/>
              <a:uLnTx/>
              <a:uFillTx/>
              <a:latin typeface="Calibri"/>
              <a:ea typeface="+mn-ea"/>
              <a:cs typeface="Arial" panose="020B0604020202020204" pitchFamily="34" charset="0"/>
            </a:endParaRP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3. פיתוח מערכת שירותי סיעוד איכותית ונגישה לכולם.</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4B2C50"/>
                </a:solidFill>
                <a:effectLst/>
                <a:uLnTx/>
                <a:uFillTx/>
                <a:latin typeface="Calibri"/>
                <a:ea typeface="+mn-ea"/>
                <a:cs typeface="Arial" panose="020B0604020202020204" pitchFamily="34" charset="0"/>
              </a:rPr>
              <a:t>מקור: חוק גמלת הסיעוד, תשנ"ו-1995</a:t>
            </a:r>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2980B9"/>
              </a:solidFill>
              <a:effectLst/>
              <a:uLnTx/>
              <a:uFillTx/>
              <a:latin typeface="Calibri"/>
              <a:ea typeface="+mn-ea"/>
              <a:cs typeface="Arial" panose="020B0604020202020204" pitchFamily="34" charset="0"/>
            </a:endParaRPr>
          </a:p>
        </p:txBody>
      </p:sp>
      <p:sp>
        <p:nvSpPr>
          <p:cNvPr id="14" name="מלבן 1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4"/>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spTree>
    <p:extLst>
      <p:ext uri="{BB962C8B-B14F-4D97-AF65-F5344CB8AC3E}">
        <p14:creationId xmlns:p14="http://schemas.microsoft.com/office/powerpoint/2010/main" val="361004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graphicFrame>
        <p:nvGraphicFramePr>
          <p:cNvPr id="16" name="תרשים 15">
            <a:extLst>
              <a:ext uri="{FF2B5EF4-FFF2-40B4-BE49-F238E27FC236}">
                <a16:creationId xmlns:a16="http://schemas.microsoft.com/office/drawing/2014/main" id="{6AC7C0A4-33F3-97AA-9276-50331151EC37}"/>
              </a:ext>
            </a:extLst>
          </p:cNvPr>
          <p:cNvGraphicFramePr>
            <a:graphicFrameLocks/>
          </p:cNvGraphicFramePr>
          <p:nvPr/>
        </p:nvGraphicFramePr>
        <p:xfrm>
          <a:off x="774801" y="1041722"/>
          <a:ext cx="7375668" cy="4505852"/>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B9CDEC3F-C2B6-7FEA-5B75-F080C7C4C7BA}"/>
              </a:ext>
            </a:extLst>
          </p:cNvPr>
          <p:cNvSpPr txBox="1"/>
          <p:nvPr/>
        </p:nvSpPr>
        <p:spPr>
          <a:xfrm>
            <a:off x="8943975" y="1439240"/>
            <a:ext cx="3138751" cy="310854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תוחלת חיים מתארכת</a:t>
            </a:r>
            <a:br>
              <a:rPr kumimoji="0" lang="en-US"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b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הזקנים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נזקקים יותר </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לשירותים והתערבות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ישנו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מיקוד בטיפול ובריאות</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 ו</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פחות</a:t>
            </a:r>
            <a:r>
              <a:rPr kumimoji="0" lang="he-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 מידי </a:t>
            </a:r>
            <a:r>
              <a:rPr kumimoji="0" lang="he-IL" sz="2800" b="1"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t>במניעה ותפקוד</a:t>
            </a:r>
            <a:br>
              <a:rPr kumimoji="0" lang="en-US"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rPr>
            </a:br>
            <a:endParaRPr kumimoji="0" lang="en-IL" sz="2800" b="0" i="0" u="none" strike="noStrike" kern="1200" cap="none" spc="0" normalizeH="0" baseline="0" noProof="0" dirty="0">
              <a:ln>
                <a:noFill/>
              </a:ln>
              <a:solidFill>
                <a:prstClr val="black">
                  <a:lumMod val="85000"/>
                  <a:lumOff val="15000"/>
                </a:prstClr>
              </a:solidFill>
              <a:effectLst/>
              <a:uLnTx/>
              <a:uFillTx/>
              <a:latin typeface="Assistant" pitchFamily="2" charset="-79"/>
              <a:ea typeface="+mn-ea"/>
              <a:cs typeface="Assistant" pitchFamily="2" charset="-79"/>
            </a:endParaRP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14">
            <a:extLst>
              <a:ext uri="{FF2B5EF4-FFF2-40B4-BE49-F238E27FC236}">
                <a16:creationId xmlns:a16="http://schemas.microsoft.com/office/drawing/2014/main" id="{4D5673BF-C328-38C1-C5B4-50538829E5B0}"/>
              </a:ext>
            </a:extLst>
          </p:cNvPr>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spTree>
    <p:extLst>
      <p:ext uri="{BB962C8B-B14F-4D97-AF65-F5344CB8AC3E}">
        <p14:creationId xmlns:p14="http://schemas.microsoft.com/office/powerpoint/2010/main" val="3241832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אליפסה 34">
            <a:extLst>
              <a:ext uri="{FF2B5EF4-FFF2-40B4-BE49-F238E27FC236}">
                <a16:creationId xmlns:a16="http://schemas.microsoft.com/office/drawing/2014/main" id="{4CFB5F21-4B11-C010-8741-F3C20D2B982C}"/>
              </a:ext>
            </a:extLst>
          </p:cNvPr>
          <p:cNvSpPr/>
          <p:nvPr/>
        </p:nvSpPr>
        <p:spPr>
          <a:xfrm>
            <a:off x="7077075" y="3804325"/>
            <a:ext cx="752475" cy="710525"/>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nvGrpSpPr>
          <p:cNvPr id="25" name="קבוצה 24">
            <a:extLst>
              <a:ext uri="{FF2B5EF4-FFF2-40B4-BE49-F238E27FC236}">
                <a16:creationId xmlns:a16="http://schemas.microsoft.com/office/drawing/2014/main" id="{5CACDF0B-74B8-9019-7B6A-91F6450BA9A1}"/>
              </a:ext>
            </a:extLst>
          </p:cNvPr>
          <p:cNvGrpSpPr/>
          <p:nvPr/>
        </p:nvGrpSpPr>
        <p:grpSpPr>
          <a:xfrm>
            <a:off x="1412369" y="718820"/>
            <a:ext cx="10163153" cy="5846207"/>
            <a:chOff x="-1645970" y="-44828"/>
            <a:chExt cx="12281546" cy="6577485"/>
          </a:xfrm>
        </p:grpSpPr>
        <p:grpSp>
          <p:nvGrpSpPr>
            <p:cNvPr id="26" name="קבוצה 25">
              <a:extLst>
                <a:ext uri="{FF2B5EF4-FFF2-40B4-BE49-F238E27FC236}">
                  <a16:creationId xmlns:a16="http://schemas.microsoft.com/office/drawing/2014/main" id="{9FEA955E-3734-6059-1EAC-EA51FD1ABFD7}"/>
                </a:ext>
              </a:extLst>
            </p:cNvPr>
            <p:cNvGrpSpPr/>
            <p:nvPr/>
          </p:nvGrpSpPr>
          <p:grpSpPr>
            <a:xfrm>
              <a:off x="-1645970" y="790196"/>
              <a:ext cx="11319761" cy="5742461"/>
              <a:chOff x="-1645970" y="790196"/>
              <a:chExt cx="11319761" cy="5742461"/>
            </a:xfrm>
          </p:grpSpPr>
          <p:pic>
            <p:nvPicPr>
              <p:cNvPr id="28" name="תמונה 27">
                <a:extLst>
                  <a:ext uri="{FF2B5EF4-FFF2-40B4-BE49-F238E27FC236}">
                    <a16:creationId xmlns:a16="http://schemas.microsoft.com/office/drawing/2014/main" id="{6C4715B3-43C6-4F9C-8943-DB58E36BBF03}"/>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30" name="TextBox 6">
                <a:extLst>
                  <a:ext uri="{FF2B5EF4-FFF2-40B4-BE49-F238E27FC236}">
                    <a16:creationId xmlns:a16="http://schemas.microsoft.com/office/drawing/2014/main" id="{1C9E4218-7665-DE7C-52CC-A1970C07F053}"/>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32" name="אליפסה 31">
                <a:extLst>
                  <a:ext uri="{FF2B5EF4-FFF2-40B4-BE49-F238E27FC236}">
                    <a16:creationId xmlns:a16="http://schemas.microsoft.com/office/drawing/2014/main" id="{7937E03E-0D2E-947A-7B15-0230A411A23A}"/>
                  </a:ext>
                </a:extLst>
              </p:cNvPr>
              <p:cNvSpPr/>
              <p:nvPr/>
            </p:nvSpPr>
            <p:spPr>
              <a:xfrm>
                <a:off x="4628080" y="2641603"/>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33" name="מלבן 32">
                <a:extLst>
                  <a:ext uri="{FF2B5EF4-FFF2-40B4-BE49-F238E27FC236}">
                    <a16:creationId xmlns:a16="http://schemas.microsoft.com/office/drawing/2014/main" id="{457FCF3B-D3CB-923F-8A51-F270291195FA}"/>
                  </a:ext>
                </a:extLst>
              </p:cNvPr>
              <p:cNvSpPr/>
              <p:nvPr/>
            </p:nvSpPr>
            <p:spPr>
              <a:xfrm>
                <a:off x="4720245" y="3879756"/>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34"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279100" y="3047249"/>
                <a:ext cx="731042" cy="819545"/>
              </a:xfrm>
              <a:prstGeom prst="rect">
                <a:avLst/>
              </a:prstGeom>
            </p:spPr>
          </p:pic>
        </p:grpSp>
        <p:sp>
          <p:nvSpPr>
            <p:cNvPr id="27" name="Text 3">
              <a:extLst>
                <a:ext uri="{FF2B5EF4-FFF2-40B4-BE49-F238E27FC236}">
                  <a16:creationId xmlns:a16="http://schemas.microsoft.com/office/drawing/2014/main" id="{0C720048-32DA-BFB7-8291-616DED21B6AC}"/>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36" name="Picture 10">
            <a:extLst>
              <a:ext uri="{FF2B5EF4-FFF2-40B4-BE49-F238E27FC236}">
                <a16:creationId xmlns:a16="http://schemas.microsoft.com/office/drawing/2014/main" id="{2EBB5F99-3B68-779D-0EF8-D3D6B755897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8804" t="42795" r="32292" b="38973"/>
          <a:stretch/>
        </p:blipFill>
        <p:spPr>
          <a:xfrm>
            <a:off x="6885967" y="3359727"/>
            <a:ext cx="943583" cy="889195"/>
          </a:xfrm>
          <a:prstGeom prst="flowChartConnector">
            <a:avLst/>
          </a:prstGeom>
        </p:spPr>
      </p:pic>
      <p:sp>
        <p:nvSpPr>
          <p:cNvPr id="37" name="Text 2">
            <a:extLst>
              <a:ext uri="{FF2B5EF4-FFF2-40B4-BE49-F238E27FC236}">
                <a16:creationId xmlns:a16="http://schemas.microsoft.com/office/drawing/2014/main" id="{8E7E166E-9895-C782-CF53-A99BB7621EF4}"/>
              </a:ext>
            </a:extLst>
          </p:cNvPr>
          <p:cNvSpPr/>
          <p:nvPr/>
        </p:nvSpPr>
        <p:spPr>
          <a:xfrm>
            <a:off x="6199973" y="521489"/>
            <a:ext cx="3722063" cy="605036"/>
          </a:xfrm>
          <a:prstGeom prst="rect">
            <a:avLst/>
          </a:prstGeom>
          <a:noFill/>
          <a:ln/>
        </p:spPr>
        <p:txBody>
          <a:bodyPr wrap="none" rtlCol="0" anchor="t"/>
          <a:lstStyle/>
          <a:p>
            <a:pPr marL="0" marR="0" lvl="0" indent="0" algn="ctr" defTabSz="914400" rtl="1" eaLnBrk="1" fontAlgn="auto" latinLnBrk="0" hangingPunct="1">
              <a:lnSpc>
                <a:spcPts val="4765"/>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פרגמנטציה בין גופים שונים</a:t>
            </a:r>
            <a:endParaRPr kumimoji="0" lang="en-US"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pic>
        <p:nvPicPr>
          <p:cNvPr id="38" name="Picture 10">
            <a:extLst>
              <a:ext uri="{FF2B5EF4-FFF2-40B4-BE49-F238E27FC236}">
                <a16:creationId xmlns:a16="http://schemas.microsoft.com/office/drawing/2014/main" id="{6343AA4B-068B-996B-90FE-062D7E365B6A}"/>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412369" y="5129524"/>
            <a:ext cx="2231823" cy="793243"/>
          </a:xfrm>
          <a:prstGeom prst="rect">
            <a:avLst/>
          </a:prstGeom>
        </p:spPr>
      </p:pic>
      <p:sp>
        <p:nvSpPr>
          <p:cNvPr id="2" name="מלבן 1">
            <a:extLst>
              <a:ext uri="{FF2B5EF4-FFF2-40B4-BE49-F238E27FC236}">
                <a16:creationId xmlns:a16="http://schemas.microsoft.com/office/drawing/2014/main" id="{052C874B-44B7-4139-6E34-8724DF3A986C}"/>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3" name="TextBox 12">
            <a:extLst>
              <a:ext uri="{FF2B5EF4-FFF2-40B4-BE49-F238E27FC236}">
                <a16:creationId xmlns:a16="http://schemas.microsoft.com/office/drawing/2014/main" id="{F1A92662-1C39-0AD9-EB74-CE14D70069F9}"/>
              </a:ext>
            </a:extLst>
          </p:cNvPr>
          <p:cNvSpPr txBox="1"/>
          <p:nvPr/>
        </p:nvSpPr>
        <p:spPr>
          <a:xfrm rot="16200000">
            <a:off x="-641174" y="64740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514966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a:solidFill>
                  <a:srgbClr val="002060"/>
                </a:solidFill>
                <a:latin typeface="Calibri" panose="020F0502020204030204" pitchFamily="34" charset="0"/>
                <a:ea typeface="+mn-ea"/>
                <a:cs typeface="Calibri" panose="020F0502020204030204" pitchFamily="34" charset="0"/>
              </a:rPr>
              <a:t>הפיצול בסיעוד</a:t>
            </a:r>
          </a:p>
        </p:txBody>
      </p:sp>
      <p:graphicFrame>
        <p:nvGraphicFramePr>
          <p:cNvPr id="4" name="תרשים 3"/>
          <p:cNvGraphicFramePr>
            <a:graphicFrameLocks/>
          </p:cNvGraphicFramePr>
          <p:nvPr/>
        </p:nvGraphicFramePr>
        <p:xfrm>
          <a:off x="5801166" y="1179576"/>
          <a:ext cx="6292863" cy="5469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תרשים 4"/>
          <p:cNvGraphicFramePr>
            <a:graphicFrameLocks/>
          </p:cNvGraphicFramePr>
          <p:nvPr/>
        </p:nvGraphicFramePr>
        <p:xfrm>
          <a:off x="0" y="1943101"/>
          <a:ext cx="6351814" cy="4002414"/>
        </p:xfrm>
        <a:graphic>
          <a:graphicData uri="http://schemas.openxmlformats.org/drawingml/2006/chart">
            <c:chart xmlns:c="http://schemas.openxmlformats.org/drawingml/2006/chart" xmlns:r="http://schemas.openxmlformats.org/officeDocument/2006/relationships" r:id="rId4"/>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7" name="תמונה 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1440852" y="6131306"/>
            <a:ext cx="701871" cy="705711"/>
          </a:xfrm>
          <a:prstGeom prst="rect">
            <a:avLst/>
          </a:prstGeom>
        </p:spPr>
      </p:pic>
      <p:pic>
        <p:nvPicPr>
          <p:cNvPr id="8" name="תמונה 7" descr="C:\Users\USER\Downloads\עיצוב ללא שם (1).png"/>
          <p:cNvPicPr/>
          <p:nvPr/>
        </p:nvPicPr>
        <p:blipFill rotWithShape="1">
          <a:blip r:embed="rId6" cstate="print">
            <a:extLst>
              <a:ext uri="{28A0092B-C50C-407E-A947-70E740481C1C}">
                <a14:useLocalDpi xmlns:a14="http://schemas.microsoft.com/office/drawing/2010/main"/>
              </a:ext>
            </a:extLst>
          </a:blip>
          <a:srcRect/>
          <a:stretch/>
        </p:blipFill>
        <p:spPr bwMode="auto">
          <a:xfrm>
            <a:off x="10014333" y="6222211"/>
            <a:ext cx="1475212" cy="582136"/>
          </a:xfrm>
          <a:prstGeom prst="rect">
            <a:avLst/>
          </a:prstGeom>
          <a:noFill/>
          <a:ln>
            <a:noFill/>
          </a:ln>
          <a:extLst>
            <a:ext uri="{53640926-AAD7-44D8-BBD7-CCE9431645EC}">
              <a14:shadowObscured xmlns:a14="http://schemas.microsoft.com/office/drawing/2010/main"/>
            </a:ext>
          </a:extLst>
        </p:spPr>
      </p:pic>
      <p:pic>
        <p:nvPicPr>
          <p:cNvPr id="9" name="תמונה 8"/>
          <p:cNvPicPr>
            <a:picLocks noChangeAspect="1"/>
          </p:cNvPicPr>
          <p:nvPr/>
        </p:nvPicPr>
        <p:blipFill>
          <a:blip r:embed="rId7"/>
          <a:stretch>
            <a:fillRect/>
          </a:stretch>
        </p:blipFill>
        <p:spPr>
          <a:xfrm>
            <a:off x="1639502" y="1166898"/>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64740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0910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920352" y="3844680"/>
            <a:ext cx="1274325" cy="1263785"/>
          </a:xfrm>
          <a:prstGeom prst="ellipse">
            <a:avLst/>
          </a:prstGeom>
          <a:ln w="19050">
            <a:solidFill>
              <a:srgbClr val="0000FF"/>
            </a:solidFill>
            <a:prstDash val="sysDash"/>
          </a:ln>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 name="אליפסה 2"/>
          <p:cNvSpPr/>
          <p:nvPr/>
        </p:nvSpPr>
        <p:spPr>
          <a:xfrm>
            <a:off x="10574448" y="1819373"/>
            <a:ext cx="1548422" cy="2254687"/>
          </a:xfrm>
          <a:prstGeom prst="ellipse">
            <a:avLst/>
          </a:prstGeom>
          <a:ln>
            <a:solidFill>
              <a:srgbClr val="0000FF"/>
            </a:solidFill>
            <a:prstDash val="sysDash"/>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2881301338"/>
              </p:ext>
            </p:extLst>
          </p:nvPr>
        </p:nvGraphicFramePr>
        <p:xfrm>
          <a:off x="1116019" y="1859210"/>
          <a:ext cx="4984894" cy="37526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7426065" y="5414584"/>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ירחון סטטיסטי, ביטוח לאומי, אוקטובר</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260210299"/>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572792" y="5457926"/>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האתגר בסיעוד 2024</a:t>
            </a:r>
            <a:endParaRPr kumimoji="0" lang="he-IL"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cxnSp>
        <p:nvCxnSpPr>
          <p:cNvPr id="5" name="מחבר חץ ישר 4">
            <a:extLst>
              <a:ext uri="{FF2B5EF4-FFF2-40B4-BE49-F238E27FC236}">
                <a16:creationId xmlns:a16="http://schemas.microsoft.com/office/drawing/2014/main" id="{EE893103-C970-3E47-DB9E-429F03BFFA41}"/>
              </a:ext>
            </a:extLst>
          </p:cNvPr>
          <p:cNvCxnSpPr/>
          <p:nvPr/>
        </p:nvCxnSpPr>
        <p:spPr>
          <a:xfrm flipV="1">
            <a:off x="11515379" y="1428889"/>
            <a:ext cx="318976" cy="8606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מחבר חץ ישר 5">
            <a:extLst>
              <a:ext uri="{FF2B5EF4-FFF2-40B4-BE49-F238E27FC236}">
                <a16:creationId xmlns:a16="http://schemas.microsoft.com/office/drawing/2014/main" id="{8F7A5E9C-AA30-328A-CAB6-4B54BB937DB0}"/>
              </a:ext>
            </a:extLst>
          </p:cNvPr>
          <p:cNvCxnSpPr>
            <a:cxnSpLocks/>
          </p:cNvCxnSpPr>
          <p:nvPr/>
        </p:nvCxnSpPr>
        <p:spPr>
          <a:xfrm flipV="1">
            <a:off x="5832068" y="4074060"/>
            <a:ext cx="403773" cy="3448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8499227"/>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14">
            <a:extLst>
              <a:ext uri="{FF2B5EF4-FFF2-40B4-BE49-F238E27FC236}">
                <a16:creationId xmlns:a16="http://schemas.microsoft.com/office/drawing/2014/main" id="{4D5673BF-C328-38C1-C5B4-50538829E5B0}"/>
              </a:ext>
            </a:extLst>
          </p:cNvPr>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algn="r" rtl="1"/>
            <a:r>
              <a:rPr lang="he-IL" sz="1750" b="1" dirty="0"/>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algn="r" rtl="1"/>
            <a:r>
              <a:rPr lang="he-IL" sz="1600" b="1" dirty="0"/>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3271685" y="362535"/>
            <a:ext cx="5674950" cy="461665"/>
          </a:xfrm>
          <a:prstGeom prst="rect">
            <a:avLst/>
          </a:prstGeom>
          <a:noFill/>
        </p:spPr>
        <p:txBody>
          <a:bodyPr wrap="none" rtlCol="1">
            <a:spAutoFit/>
          </a:bodyPr>
          <a:lstStyle/>
          <a:p>
            <a:r>
              <a:rPr lang="he-IL" sz="2400" b="1" dirty="0"/>
              <a:t>השוואה בין הגמלאות לזקנה והשוואה בינלאומית </a:t>
            </a:r>
          </a:p>
        </p:txBody>
      </p:sp>
    </p:spTree>
    <p:extLst>
      <p:ext uri="{BB962C8B-B14F-4D97-AF65-F5344CB8AC3E}">
        <p14:creationId xmlns:p14="http://schemas.microsoft.com/office/powerpoint/2010/main" val="2059835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14">
            <a:extLst>
              <a:ext uri="{FF2B5EF4-FFF2-40B4-BE49-F238E27FC236}">
                <a16:creationId xmlns:a16="http://schemas.microsoft.com/office/drawing/2014/main" id="{4D5673BF-C328-38C1-C5B4-50538829E5B0}"/>
              </a:ext>
            </a:extLst>
          </p:cNvPr>
          <p:cNvSpPr txBox="1"/>
          <p:nvPr/>
        </p:nvSpPr>
        <p:spPr>
          <a:xfrm rot="16200000">
            <a:off x="-641174" y="724559"/>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a:ea typeface="+mn-ea"/>
                <a:cs typeface="Calibri"/>
              </a:rPr>
              <a:t> מצב</a:t>
            </a:r>
          </a:p>
        </p:txBody>
      </p:sp>
      <p:sp>
        <p:nvSpPr>
          <p:cNvPr id="7" name="תיבת טקסט 6">
            <a:extLst>
              <a:ext uri="{FF2B5EF4-FFF2-40B4-BE49-F238E27FC236}">
                <a16:creationId xmlns:a16="http://schemas.microsoft.com/office/drawing/2014/main" id="{443B8AC8-0D01-3B4C-448C-1F7EF0AD8A75}"/>
              </a:ext>
            </a:extLst>
          </p:cNvPr>
          <p:cNvSpPr txBox="1"/>
          <p:nvPr/>
        </p:nvSpPr>
        <p:spPr>
          <a:xfrm>
            <a:off x="5964583" y="371374"/>
            <a:ext cx="5303482" cy="523220"/>
          </a:xfrm>
          <a:prstGeom prst="rect">
            <a:avLst/>
          </a:prstGeom>
          <a:noFill/>
        </p:spPr>
        <p:txBody>
          <a:bodyPr wrap="square" rtlCol="1">
            <a:spAutoFit/>
          </a:bodyPr>
          <a:lstStyle/>
          <a:p>
            <a:pPr algn="r" rtl="1"/>
            <a:r>
              <a:rPr lang="he-IL" sz="2800" b="1" dirty="0"/>
              <a:t>ההשלכות והמשבר בסיעוד:</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8761904" y="362535"/>
            <a:ext cx="184731" cy="461665"/>
          </a:xfrm>
          <a:prstGeom prst="rect">
            <a:avLst/>
          </a:prstGeom>
          <a:noFill/>
        </p:spPr>
        <p:txBody>
          <a:bodyPr wrap="none" rtlCol="1">
            <a:spAutoFit/>
          </a:bodyPr>
          <a:lstStyle/>
          <a:p>
            <a:pPr algn="r" rtl="1"/>
            <a:endParaRPr lang="he-IL" sz="2400" b="1" dirty="0"/>
          </a:p>
        </p:txBody>
      </p:sp>
      <p:pic>
        <p:nvPicPr>
          <p:cNvPr id="9" name="תמונה 8">
            <a:extLst>
              <a:ext uri="{FF2B5EF4-FFF2-40B4-BE49-F238E27FC236}">
                <a16:creationId xmlns:a16="http://schemas.microsoft.com/office/drawing/2014/main" id="{6A75C04C-C1E3-C38D-8EF1-452AE6E225C8}"/>
              </a:ext>
            </a:extLst>
          </p:cNvPr>
          <p:cNvPicPr>
            <a:picLocks noChangeAspect="1"/>
          </p:cNvPicPr>
          <p:nvPr/>
        </p:nvPicPr>
        <p:blipFill>
          <a:blip r:embed="rId3"/>
          <a:stretch>
            <a:fillRect/>
          </a:stretch>
        </p:blipFill>
        <p:spPr>
          <a:xfrm>
            <a:off x="7557080" y="2779725"/>
            <a:ext cx="3710985" cy="16405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6" name="קבוצה 15">
            <a:extLst>
              <a:ext uri="{FF2B5EF4-FFF2-40B4-BE49-F238E27FC236}">
                <a16:creationId xmlns:a16="http://schemas.microsoft.com/office/drawing/2014/main" id="{831C9107-37E4-0695-1F69-CDB251DBA90B}"/>
              </a:ext>
            </a:extLst>
          </p:cNvPr>
          <p:cNvGrpSpPr/>
          <p:nvPr/>
        </p:nvGrpSpPr>
        <p:grpSpPr>
          <a:xfrm>
            <a:off x="6439616" y="4952415"/>
            <a:ext cx="4828449" cy="1543050"/>
            <a:chOff x="678390" y="4414047"/>
            <a:chExt cx="6102798" cy="2081418"/>
          </a:xfrm>
        </p:grpSpPr>
        <p:pic>
          <p:nvPicPr>
            <p:cNvPr id="14" name="תמונה 13">
              <a:extLst>
                <a:ext uri="{FF2B5EF4-FFF2-40B4-BE49-F238E27FC236}">
                  <a16:creationId xmlns:a16="http://schemas.microsoft.com/office/drawing/2014/main" id="{9E757220-BCCD-633C-39F8-1B1F28DD4F08}"/>
                </a:ext>
              </a:extLst>
            </p:cNvPr>
            <p:cNvPicPr>
              <a:picLocks noChangeAspect="1"/>
            </p:cNvPicPr>
            <p:nvPr/>
          </p:nvPicPr>
          <p:blipFill>
            <a:blip r:embed="rId4"/>
            <a:stretch>
              <a:fillRect/>
            </a:stretch>
          </p:blipFill>
          <p:spPr>
            <a:xfrm>
              <a:off x="678390" y="4414047"/>
              <a:ext cx="6102798" cy="20814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מלבן 14">
              <a:extLst>
                <a:ext uri="{FF2B5EF4-FFF2-40B4-BE49-F238E27FC236}">
                  <a16:creationId xmlns:a16="http://schemas.microsoft.com/office/drawing/2014/main" id="{F574DF96-36F7-8451-852E-178E8F364E73}"/>
                </a:ext>
              </a:extLst>
            </p:cNvPr>
            <p:cNvSpPr/>
            <p:nvPr/>
          </p:nvSpPr>
          <p:spPr>
            <a:xfrm>
              <a:off x="678390" y="5657850"/>
              <a:ext cx="2162175" cy="82867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grpSp>
      <p:pic>
        <p:nvPicPr>
          <p:cNvPr id="24" name="תמונה 23">
            <a:extLst>
              <a:ext uri="{FF2B5EF4-FFF2-40B4-BE49-F238E27FC236}">
                <a16:creationId xmlns:a16="http://schemas.microsoft.com/office/drawing/2014/main" id="{70E773B1-3679-1E8C-F6A8-EF8C6A74C0E8}"/>
              </a:ext>
            </a:extLst>
          </p:cNvPr>
          <p:cNvPicPr>
            <a:picLocks noChangeAspect="1"/>
          </p:cNvPicPr>
          <p:nvPr/>
        </p:nvPicPr>
        <p:blipFill>
          <a:blip r:embed="rId5"/>
          <a:srcRect l="1835" t="1250" r="1939" b="1666"/>
          <a:stretch/>
        </p:blipFill>
        <p:spPr>
          <a:xfrm>
            <a:off x="1112565" y="880495"/>
            <a:ext cx="4501341" cy="56149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3" name="קבוצה 12">
            <a:extLst>
              <a:ext uri="{FF2B5EF4-FFF2-40B4-BE49-F238E27FC236}">
                <a16:creationId xmlns:a16="http://schemas.microsoft.com/office/drawing/2014/main" id="{D6FD1EE2-072A-471B-0E4C-31B92BDAEC45}"/>
              </a:ext>
            </a:extLst>
          </p:cNvPr>
          <p:cNvGrpSpPr/>
          <p:nvPr/>
        </p:nvGrpSpPr>
        <p:grpSpPr>
          <a:xfrm>
            <a:off x="7182063" y="1209343"/>
            <a:ext cx="4086003" cy="1038275"/>
            <a:chOff x="1509929" y="3990093"/>
            <a:chExt cx="4133816" cy="1338243"/>
          </a:xfrm>
        </p:grpSpPr>
        <p:pic>
          <p:nvPicPr>
            <p:cNvPr id="18" name="תמונה 17">
              <a:extLst>
                <a:ext uri="{FF2B5EF4-FFF2-40B4-BE49-F238E27FC236}">
                  <a16:creationId xmlns:a16="http://schemas.microsoft.com/office/drawing/2014/main" id="{A919B19F-485B-5C13-E766-E4088CF7C5B4}"/>
                </a:ext>
              </a:extLst>
            </p:cNvPr>
            <p:cNvPicPr>
              <a:picLocks noChangeAspect="1"/>
            </p:cNvPicPr>
            <p:nvPr/>
          </p:nvPicPr>
          <p:blipFill>
            <a:blip r:embed="rId6"/>
            <a:srcRect l="16248" t="92269"/>
            <a:stretch/>
          </p:blipFill>
          <p:spPr>
            <a:xfrm>
              <a:off x="1509929" y="5128296"/>
              <a:ext cx="4133816" cy="200040"/>
            </a:xfrm>
            <a:prstGeom prst="rect">
              <a:avLst/>
            </a:prstGeom>
            <a:ln w="38100" cap="sq">
              <a:noFill/>
              <a:prstDash val="solid"/>
              <a:miter lim="800000"/>
            </a:ln>
            <a:effectLst/>
          </p:spPr>
        </p:pic>
        <p:pic>
          <p:nvPicPr>
            <p:cNvPr id="6" name="תמונה 5">
              <a:extLst>
                <a:ext uri="{FF2B5EF4-FFF2-40B4-BE49-F238E27FC236}">
                  <a16:creationId xmlns:a16="http://schemas.microsoft.com/office/drawing/2014/main" id="{E9F39D5A-98C7-E8C3-F4A4-56B7FDD30500}"/>
                </a:ext>
              </a:extLst>
            </p:cNvPr>
            <p:cNvPicPr>
              <a:picLocks noChangeAspect="1"/>
            </p:cNvPicPr>
            <p:nvPr/>
          </p:nvPicPr>
          <p:blipFill>
            <a:blip r:embed="rId6"/>
            <a:srcRect l="16248" b="56011"/>
            <a:stretch/>
          </p:blipFill>
          <p:spPr>
            <a:xfrm>
              <a:off x="1509929" y="3990093"/>
              <a:ext cx="4133815" cy="1138203"/>
            </a:xfrm>
            <a:prstGeom prst="rect">
              <a:avLst/>
            </a:prstGeom>
            <a:ln w="38100" cap="sq">
              <a:noFill/>
              <a:prstDash val="solid"/>
              <a:miter lim="800000"/>
            </a:ln>
            <a:effectLst/>
          </p:spPr>
        </p:pic>
      </p:grpSp>
    </p:spTree>
    <p:extLst>
      <p:ext uri="{BB962C8B-B14F-4D97-AF65-F5344CB8AC3E}">
        <p14:creationId xmlns:p14="http://schemas.microsoft.com/office/powerpoint/2010/main" val="71252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0" name="תרשים 19"/>
          <p:cNvGraphicFramePr>
            <a:graphicFrameLocks/>
          </p:cNvGraphicFramePr>
          <p:nvPr>
            <p:extLst>
              <p:ext uri="{D42A27DB-BD31-4B8C-83A1-F6EECF244321}">
                <p14:modId xmlns:p14="http://schemas.microsoft.com/office/powerpoint/2010/main" val="2437917948"/>
              </p:ext>
            </p:extLst>
          </p:nvPr>
        </p:nvGraphicFramePr>
        <p:xfrm>
          <a:off x="1940313" y="1491514"/>
          <a:ext cx="9960742" cy="4721545"/>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3346516" y="36528"/>
            <a:ext cx="6600052" cy="1325563"/>
          </a:xfrm>
        </p:spPr>
        <p:txBody>
          <a:bodyPr>
            <a:normAutofit/>
          </a:bodyPr>
          <a:lstStyle/>
          <a:p>
            <a:r>
              <a:rPr lang="he-IL" sz="4000" b="1" dirty="0">
                <a:solidFill>
                  <a:srgbClr val="002060"/>
                </a:solidFill>
                <a:latin typeface="Arial" panose="020B0604020202020204" pitchFamily="34" charset="0"/>
                <a:ea typeface="+mn-ea"/>
                <a:cs typeface="Arial" panose="020B0604020202020204" pitchFamily="34" charset="0"/>
              </a:rPr>
              <a:t>השפעות רפורמת 2018</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1138463" y="6213059"/>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endParaRPr kumimoji="0" lang="he-IL" sz="2400" b="0" i="0" u="none" strike="noStrike" kern="120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endParaRPr>
          </a:p>
        </p:txBody>
      </p:sp>
      <p:cxnSp>
        <p:nvCxnSpPr>
          <p:cNvPr id="7" name="מחבר ישר 6"/>
          <p:cNvCxnSpPr/>
          <p:nvPr/>
        </p:nvCxnSpPr>
        <p:spPr>
          <a:xfrm flipH="1">
            <a:off x="4166648" y="2321903"/>
            <a:ext cx="9426" cy="3280528"/>
          </a:xfrm>
          <a:prstGeom prst="line">
            <a:avLst/>
          </a:prstGeom>
        </p:spPr>
        <p:style>
          <a:lnRef idx="3">
            <a:schemeClr val="accent1"/>
          </a:lnRef>
          <a:fillRef idx="0">
            <a:schemeClr val="accent1"/>
          </a:fillRef>
          <a:effectRef idx="2">
            <a:schemeClr val="accent1"/>
          </a:effectRef>
          <a:fontRef idx="minor">
            <a:schemeClr val="tx1"/>
          </a:fontRef>
        </p:style>
      </p:cxnSp>
      <p:sp>
        <p:nvSpPr>
          <p:cNvPr id="17" name="TextBox 10"/>
          <p:cNvSpPr txBox="1"/>
          <p:nvPr/>
        </p:nvSpPr>
        <p:spPr>
          <a:xfrm>
            <a:off x="2788773" y="1509305"/>
            <a:ext cx="771023"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פי 2.5</a:t>
            </a:r>
          </a:p>
        </p:txBody>
      </p:sp>
      <p:sp>
        <p:nvSpPr>
          <p:cNvPr id="18" name="TextBox 10"/>
          <p:cNvSpPr txBox="1"/>
          <p:nvPr/>
        </p:nvSpPr>
        <p:spPr>
          <a:xfrm>
            <a:off x="6535949" y="4051144"/>
            <a:ext cx="769469"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פי 22</a:t>
            </a:r>
          </a:p>
        </p:txBody>
      </p:sp>
      <p:sp>
        <p:nvSpPr>
          <p:cNvPr id="22" name="Rectangle 7">
            <a:extLst>
              <a:ext uri="{FF2B5EF4-FFF2-40B4-BE49-F238E27FC236}">
                <a16:creationId xmlns:a16="http://schemas.microsoft.com/office/drawing/2014/main" id="{46AD47CF-DF28-4A8A-A9B9-814AB784C8A4}"/>
              </a:ext>
            </a:extLst>
          </p:cNvPr>
          <p:cNvSpPr/>
          <p:nvPr/>
        </p:nvSpPr>
        <p:spPr>
          <a:xfrm>
            <a:off x="492301" y="165952"/>
            <a:ext cx="3424334" cy="478990"/>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מעל 11 מיליארד מחולק בכסף </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3448" y="606396"/>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4255089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extLst>
              <p:ext uri="{D42A27DB-BD31-4B8C-83A1-F6EECF244321}">
                <p14:modId xmlns:p14="http://schemas.microsoft.com/office/powerpoint/2010/main" val="515665582"/>
              </p:ext>
            </p:extLst>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a:t>2024</a:t>
                      </a:r>
                    </a:p>
                  </a:txBody>
                  <a:tcPr/>
                </a:tc>
                <a:tc>
                  <a:txBody>
                    <a:bodyPr/>
                    <a:lstStyle/>
                    <a:p>
                      <a:pPr algn="ctr" rtl="1"/>
                      <a:r>
                        <a:rPr lang="en-US" b="1" dirty="0"/>
                        <a:t>1</a:t>
                      </a:r>
                      <a:r>
                        <a:rPr lang="he-IL" b="1" dirty="0"/>
                        <a:t>8 מיליארד ₪ </a:t>
                      </a:r>
                    </a:p>
                  </a:txBody>
                  <a:tcPr/>
                </a:tc>
                <a:tc>
                  <a:txBody>
                    <a:bodyPr/>
                    <a:lstStyle/>
                    <a:p>
                      <a:pPr algn="ctr" rtl="1"/>
                      <a:r>
                        <a:rPr lang="he-IL" b="1" dirty="0"/>
                        <a:t>380,000</a:t>
                      </a:r>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w="0"/>
                <a:solidFill>
                  <a:srgbClr val="5B9BD5">
                    <a:lumMod val="75000"/>
                  </a:srgbClr>
                </a:solidFill>
                <a:effectLst>
                  <a:outerShdw blurRad="38100" dist="25400" dir="5400000" algn="ctr" rotWithShape="0">
                    <a:srgbClr val="6E747A">
                      <a:alpha val="43000"/>
                    </a:srgbClr>
                  </a:outerShdw>
                </a:effectLst>
                <a:uLnTx/>
                <a:uFillTx/>
                <a:latin typeface="Calibri" panose="020F0502020204030204"/>
                <a:ea typeface="+mn-ea"/>
                <a:cs typeface="Arial" panose="020B0604020202020204" pitchFamily="34" charset="0"/>
              </a:rPr>
              <a:t>ישראל משקיעה הכי הרבה, והתוצאות?</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44546A">
                    <a:lumMod val="75000"/>
                  </a:srgbClr>
                </a:solidFill>
                <a:effectLst/>
                <a:uLnTx/>
                <a:uFillTx/>
                <a:latin typeface="Calibri" panose="020F0502020204030204" pitchFamily="34" charset="0"/>
                <a:ea typeface="+mn-ea"/>
                <a:cs typeface="Calibri" panose="020F0502020204030204" pitchFamily="34" charset="0"/>
              </a:rPr>
              <a:t>רפורמת סיעוד 2018</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44546A">
                    <a:lumMod val="75000"/>
                  </a:srgbClr>
                </a:solidFill>
                <a:effectLst/>
                <a:uLnTx/>
                <a:uFillTx/>
                <a:latin typeface="Calibri" panose="020F0502020204030204" pitchFamily="34" charset="0"/>
                <a:ea typeface="+mn-ea"/>
                <a:cs typeface="Calibri" panose="020F0502020204030204" pitchFamily="34" charset="0"/>
              </a:rPr>
              <a:t>השקעה גבוהה, בחירה נמוכה, תוצאות?</a:t>
            </a: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13779" y="56986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60277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029348" y="607100"/>
            <a:ext cx="10515600" cy="850789"/>
          </a:xfrm>
        </p:spPr>
        <p:txBody>
          <a:bodyPr>
            <a:normAutofit fontScale="90000"/>
          </a:bodyPr>
          <a:lstStyle/>
          <a:p>
            <a:r>
              <a:rPr lang="he-IL" b="1" dirty="0">
                <a:latin typeface="Calibri" panose="020F0502020204030204" pitchFamily="34" charset="0"/>
                <a:ea typeface="Calibri" panose="020F0502020204030204" pitchFamily="34" charset="0"/>
                <a:cs typeface="+mn-cs"/>
              </a:rPr>
              <a:t>בעיות עיקריות בחוק סיעוד 2024:</a:t>
            </a:r>
            <a:br>
              <a:rPr lang="en-US" dirty="0">
                <a:latin typeface="Calibri" panose="020F0502020204030204" pitchFamily="34" charset="0"/>
                <a:ea typeface="Calibri" panose="020F0502020204030204" pitchFamily="34" charset="0"/>
                <a:cs typeface="+mn-cs"/>
              </a:rPr>
            </a:br>
            <a:endParaRPr lang="he-IL" dirty="0">
              <a:cs typeface="+mn-cs"/>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4" name="תיבת טקסט 3">
            <a:extLst>
              <a:ext uri="{FF2B5EF4-FFF2-40B4-BE49-F238E27FC236}">
                <a16:creationId xmlns:a16="http://schemas.microsoft.com/office/drawing/2014/main" id="{C52ED819-3C99-FAA5-EA2A-8E919ED9AB66}"/>
              </a:ext>
            </a:extLst>
          </p:cNvPr>
          <p:cNvSpPr txBox="1"/>
          <p:nvPr/>
        </p:nvSpPr>
        <p:spPr>
          <a:xfrm>
            <a:off x="2490537" y="1141003"/>
            <a:ext cx="9054411" cy="4340419"/>
          </a:xfrm>
          <a:prstGeom prst="rect">
            <a:avLst/>
          </a:prstGeom>
          <a:noFill/>
        </p:spPr>
        <p:txBody>
          <a:bodyPr wrap="square">
            <a:spAutoFit/>
          </a:bodyPr>
          <a:lstStyle/>
          <a:p>
            <a:pPr>
              <a:buFont typeface="+mj-lt"/>
              <a:buAutoNum type="arabicPeriod"/>
            </a:pPr>
            <a:r>
              <a:rPr lang="he-IL" sz="2400" dirty="0"/>
              <a:t>השקעה בטיפול ולא במניעה</a:t>
            </a:r>
          </a:p>
          <a:p>
            <a:pPr>
              <a:buFont typeface="+mj-lt"/>
              <a:buAutoNum type="arabicPeriod"/>
            </a:pPr>
            <a:r>
              <a:rPr lang="he-IL" sz="2400" dirty="0"/>
              <a:t>סל שירותים מצומצם שאינו מותאם לצרכים ואינו מונגש כיאות</a:t>
            </a:r>
          </a:p>
          <a:p>
            <a:pPr>
              <a:buFont typeface="+mj-lt"/>
              <a:buAutoNum type="arabicPeriod"/>
            </a:pPr>
            <a:r>
              <a:rPr lang="he-IL" sz="2400" dirty="0">
                <a:solidFill>
                  <a:prstClr val="black"/>
                </a:solidFill>
                <a:latin typeface="Calibri" panose="020F0502020204030204" pitchFamily="34" charset="0"/>
                <a:ea typeface="Calibri" panose="020F0502020204030204" pitchFamily="34" charset="0"/>
              </a:rPr>
              <a:t>תקציב גבוה אך תוצאות לא מוכחות</a:t>
            </a:r>
          </a:p>
          <a:p>
            <a:pPr>
              <a:buFont typeface="+mj-lt"/>
              <a:buAutoNum type="arabicPeriod"/>
            </a:pPr>
            <a:r>
              <a:rPr lang="he-IL" sz="2400" dirty="0">
                <a:solidFill>
                  <a:prstClr val="black"/>
                </a:solidFill>
                <a:latin typeface="Calibri" panose="020F0502020204030204" pitchFamily="34" charset="0"/>
                <a:ea typeface="Calibri" panose="020F0502020204030204" pitchFamily="34" charset="0"/>
              </a:rPr>
              <a:t>הערכות תלות שאינן בהכרח משקפות מצב תפקודי</a:t>
            </a:r>
          </a:p>
          <a:p>
            <a:pPr>
              <a:buFont typeface="+mj-lt"/>
              <a:buAutoNum type="arabicPeriod"/>
            </a:pPr>
            <a:r>
              <a:rPr lang="he-IL" sz="2400" dirty="0"/>
              <a:t>מבנה תמריצים שאינו מונע הידרדרות</a:t>
            </a:r>
          </a:p>
          <a:p>
            <a:endParaRPr lang="he-IL" sz="2400" dirty="0"/>
          </a:p>
          <a:p>
            <a:r>
              <a:rPr lang="he-IL" sz="2400" b="1" dirty="0"/>
              <a:t>6. מחסור במטפלות שגורם ל:</a:t>
            </a: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גידול בגמלה בכסף ובני משפחה מטפלים בשכר </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(כ-9 מיליארד ₪)</a:t>
            </a: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כ-50% מהשעות נלקחות ע"י המטפלות ובחירה סלקטיבית של לקוחות</a:t>
            </a:r>
          </a:p>
          <a:p>
            <a:pPr marL="742950" indent="-285750">
              <a:lnSpc>
                <a:spcPct val="115000"/>
              </a:lnSpc>
              <a:buFont typeface="Arial" panose="020B0604020202020204" pitchFamily="34" charset="0"/>
              <a:buChar char="•"/>
              <a:defRPr/>
            </a:pPr>
            <a:r>
              <a:rPr lang="he-IL" sz="2400" dirty="0">
                <a:solidFill>
                  <a:prstClr val="black"/>
                </a:solidFill>
                <a:latin typeface="Calibri" panose="020F0502020204030204" pitchFamily="34" charset="0"/>
                <a:ea typeface="Calibri" panose="020F0502020204030204" pitchFamily="34" charset="0"/>
              </a:rPr>
              <a:t>פגיעה באיכות השירות ומקרי הזנחה, ניצול והתעללות</a:t>
            </a:r>
            <a:endPar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742950" marR="0" lvl="0" indent="-285750" algn="r" defTabSz="914400" rtl="1"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פערי הכשרה והדרכה</a:t>
            </a:r>
          </a:p>
        </p:txBody>
      </p:sp>
    </p:spTree>
    <p:extLst>
      <p:ext uri="{BB962C8B-B14F-4D97-AF65-F5344CB8AC3E}">
        <p14:creationId xmlns:p14="http://schemas.microsoft.com/office/powerpoint/2010/main" val="1572576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211691" y="154568"/>
            <a:ext cx="11353800" cy="1325563"/>
          </a:xfrm>
        </p:spPr>
        <p:txBody>
          <a:bodyPr>
            <a:normAutofit/>
          </a:bodyPr>
          <a:lstStyle/>
          <a:p>
            <a:r>
              <a:rPr lang="he-IL" dirty="0">
                <a:latin typeface="+mn-lt"/>
                <a:cs typeface="+mn-cs"/>
              </a:rPr>
              <a:t>המלצות ועדה בין משרדית </a:t>
            </a:r>
            <a:br>
              <a:rPr lang="he-IL" dirty="0">
                <a:latin typeface="+mn-lt"/>
                <a:cs typeface="+mn-cs"/>
              </a:rPr>
            </a:br>
            <a:r>
              <a:rPr lang="he-IL" dirty="0">
                <a:latin typeface="+mn-lt"/>
                <a:cs typeface="+mn-cs"/>
              </a:rPr>
              <a:t>למניעת הדרדרות תפקודית</a:t>
            </a:r>
            <a:r>
              <a:rPr lang="he-IL" sz="2400" dirty="0">
                <a:latin typeface="+mn-lt"/>
                <a:cs typeface="+mn-cs"/>
              </a:rPr>
              <a:t> (</a:t>
            </a:r>
            <a:r>
              <a:rPr lang="he-IL" sz="2000" dirty="0">
                <a:latin typeface="+mn-lt"/>
                <a:cs typeface="+mn-cs"/>
              </a:rPr>
              <a:t>דו"ח קידר) </a:t>
            </a:r>
            <a:r>
              <a:rPr lang="he-IL" sz="2000" dirty="0">
                <a:cs typeface="+mn-cs"/>
              </a:rPr>
              <a:t>9.2022</a:t>
            </a:r>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2" name="תיבת טקסט 11">
            <a:extLst>
              <a:ext uri="{FF2B5EF4-FFF2-40B4-BE49-F238E27FC236}">
                <a16:creationId xmlns:a16="http://schemas.microsoft.com/office/drawing/2014/main" id="{BADAE2D8-F10A-441C-3C3D-FEB0FBAE3B75}"/>
              </a:ext>
            </a:extLst>
          </p:cNvPr>
          <p:cNvSpPr txBox="1"/>
          <p:nvPr/>
        </p:nvSpPr>
        <p:spPr>
          <a:xfrm>
            <a:off x="1090549" y="2064990"/>
            <a:ext cx="10474942" cy="3539430"/>
          </a:xfrm>
          <a:prstGeom prst="rect">
            <a:avLst/>
          </a:prstGeom>
          <a:noFill/>
        </p:spPr>
        <p:txBody>
          <a:bodyPr wrap="square">
            <a:spAutoFit/>
          </a:bodyPr>
          <a:lstStyle/>
          <a:p>
            <a:pPr>
              <a:buFont typeface="+mj-lt"/>
              <a:buAutoNum type="arabicPeriod"/>
            </a:pPr>
            <a:r>
              <a:rPr lang="he-IL" sz="2800" dirty="0"/>
              <a:t>שינוי מיקוד </a:t>
            </a:r>
            <a:r>
              <a:rPr lang="he-IL" sz="2800" b="1" dirty="0"/>
              <a:t>מטיפול למניעה</a:t>
            </a:r>
          </a:p>
          <a:p>
            <a:pPr>
              <a:buFont typeface="+mj-lt"/>
              <a:buAutoNum type="arabicPeriod"/>
            </a:pPr>
            <a:r>
              <a:rPr lang="he-IL" sz="2800" dirty="0"/>
              <a:t>השקעה בשירותי מניעת הידרדרות, ב</a:t>
            </a:r>
            <a:r>
              <a:rPr lang="he-IL" sz="2800" b="1" dirty="0"/>
              <a:t>דגש על רמות סיעוד נמוכות </a:t>
            </a:r>
            <a:r>
              <a:rPr lang="he-IL" sz="2800" dirty="0"/>
              <a:t>(1-2)</a:t>
            </a:r>
          </a:p>
          <a:p>
            <a:pPr>
              <a:buFont typeface="+mj-lt"/>
              <a:buAutoNum type="arabicPeriod"/>
            </a:pPr>
            <a:r>
              <a:rPr lang="he-IL" sz="2800" dirty="0"/>
              <a:t>שילוב </a:t>
            </a:r>
            <a:r>
              <a:rPr lang="he-IL" sz="2800" b="1" dirty="0"/>
              <a:t>שירותי דחיקת תלות </a:t>
            </a:r>
            <a:r>
              <a:rPr lang="he-IL" sz="2800" dirty="0"/>
              <a:t>בגמלת הסיעוד</a:t>
            </a:r>
          </a:p>
          <a:p>
            <a:pPr>
              <a:buFont typeface="+mj-lt"/>
              <a:buAutoNum type="arabicPeriod"/>
            </a:pPr>
            <a:r>
              <a:rPr lang="he-IL" sz="2800" dirty="0"/>
              <a:t> שיתוף </a:t>
            </a:r>
            <a:r>
              <a:rPr lang="he-IL" sz="2800" b="1" dirty="0"/>
              <a:t>קופות החולים </a:t>
            </a:r>
            <a:r>
              <a:rPr lang="he-IL" sz="2800" dirty="0"/>
              <a:t>במניעת הידרדרות</a:t>
            </a:r>
          </a:p>
          <a:p>
            <a:pPr>
              <a:buFont typeface="+mj-lt"/>
              <a:buAutoNum type="arabicPeriod"/>
            </a:pPr>
            <a:r>
              <a:rPr lang="he-IL" sz="2800" dirty="0"/>
              <a:t>הרחבת </a:t>
            </a:r>
            <a:r>
              <a:rPr lang="he-IL" sz="2800" b="1" dirty="0"/>
              <a:t>שירותים חברתיים </a:t>
            </a:r>
            <a:r>
              <a:rPr lang="he-IL" sz="2800" dirty="0"/>
              <a:t>בגמלת הסיעוד</a:t>
            </a:r>
          </a:p>
          <a:p>
            <a:pPr>
              <a:buFont typeface="+mj-lt"/>
              <a:buAutoNum type="arabicPeriod"/>
            </a:pPr>
            <a:r>
              <a:rPr lang="he-IL" sz="2800" b="1" dirty="0"/>
              <a:t>שינוי</a:t>
            </a:r>
            <a:r>
              <a:rPr lang="he-IL" sz="2800" dirty="0"/>
              <a:t> </a:t>
            </a:r>
            <a:r>
              <a:rPr lang="he-IL" sz="2800" b="1" dirty="0"/>
              <a:t>מבנה התמריצים </a:t>
            </a:r>
            <a:r>
              <a:rPr lang="he-IL" sz="2800" dirty="0"/>
              <a:t>במערכת</a:t>
            </a:r>
          </a:p>
          <a:p>
            <a:pPr>
              <a:buFont typeface="+mj-lt"/>
              <a:buAutoNum type="arabicPeriod"/>
            </a:pPr>
            <a:r>
              <a:rPr lang="he-IL" sz="2800" b="1" dirty="0"/>
              <a:t>הגברת שיתופי פעולה</a:t>
            </a:r>
            <a:r>
              <a:rPr lang="he-IL" sz="2800" dirty="0"/>
              <a:t>, שיתוף מידע וסנכרון בין גורמים</a:t>
            </a:r>
          </a:p>
          <a:p>
            <a:pPr>
              <a:buFont typeface="+mj-lt"/>
              <a:buAutoNum type="arabicPeriod"/>
            </a:pPr>
            <a:r>
              <a:rPr lang="he-IL" sz="2800" dirty="0"/>
              <a:t>פיתוח </a:t>
            </a:r>
            <a:r>
              <a:rPr lang="he-IL" sz="2800" b="1" dirty="0"/>
              <a:t>מערכת מדידה והערכה </a:t>
            </a:r>
            <a:r>
              <a:rPr lang="he-IL" sz="2800" dirty="0"/>
              <a:t>מבוססת תוצאות</a:t>
            </a:r>
          </a:p>
        </p:txBody>
      </p:sp>
    </p:spTree>
    <p:extLst>
      <p:ext uri="{BB962C8B-B14F-4D97-AF65-F5344CB8AC3E}">
        <p14:creationId xmlns:p14="http://schemas.microsoft.com/office/powerpoint/2010/main" val="1404561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567872" y="5495635"/>
            <a:ext cx="9515764"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b="1" dirty="0"/>
              <a:t>ועדה בין משרדית: </a:t>
            </a:r>
            <a:r>
              <a:rPr lang="he-IL" sz="2400" dirty="0"/>
              <a:t>"הרחבת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 name="TextBox 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8" name="מלבן 7">
            <a:extLst>
              <a:ext uri="{FF2B5EF4-FFF2-40B4-BE49-F238E27FC236}">
                <a16:creationId xmlns:a16="http://schemas.microsoft.com/office/drawing/2014/main" id="{7CC48B59-5592-02FC-30A6-4F5812141FE3}"/>
              </a:ext>
            </a:extLst>
          </p:cNvPr>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6">
            <a:extLst>
              <a:ext uri="{FF2B5EF4-FFF2-40B4-BE49-F238E27FC236}">
                <a16:creationId xmlns:a16="http://schemas.microsoft.com/office/drawing/2014/main" id="{60492076-6A8C-3E05-4F11-7DB2E5C83BF6}"/>
              </a:ext>
            </a:extLst>
          </p:cNvPr>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3109938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6089251" y="5221561"/>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689847" y="5647606"/>
            <a:ext cx="4812305"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ושיתוף נתונים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61357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593065"/>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593065"/>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3460977" y="494245"/>
            <a:ext cx="6580735" cy="1316832"/>
          </a:xfrm>
          <a:prstGeom prst="rect">
            <a:avLst/>
          </a:prstGeom>
          <a:noFill/>
          <a:ln/>
        </p:spPr>
        <p:txBody>
          <a:bodyPr wrap="none" rtlCol="0" anchor="t"/>
          <a:lstStyle/>
          <a:p>
            <a:pPr marL="0" marR="0" lvl="0" indent="0" algn="r" defTabSz="914400" rtl="1" eaLnBrk="1" fontAlgn="auto" latinLnBrk="0" hangingPunct="1">
              <a:lnSpc>
                <a:spcPts val="4765"/>
              </a:lnSpc>
              <a:spcBef>
                <a:spcPts val="0"/>
              </a:spcBef>
              <a:spcAft>
                <a:spcPts val="0"/>
              </a:spcAft>
              <a:buClrTx/>
              <a:buSzTx/>
              <a:buFontTx/>
              <a:buNone/>
              <a:tabLst/>
              <a:defRPr/>
            </a:pP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שינוי המצב מושתת</a:t>
            </a:r>
            <a: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br>
              <a:rPr kumimoji="0" lang="en-US"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br>
            <a:r>
              <a:rPr kumimoji="0" lang="he-IL" sz="3812"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על קידום ארבע תפיסות מרכזיות</a:t>
            </a:r>
            <a:endParaRPr kumimoji="0" lang="en-US" sz="3812"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184675" y="494245"/>
            <a:ext cx="1677714" cy="1452162"/>
          </a:xfrm>
          <a:prstGeom prst="rect">
            <a:avLst/>
          </a:prstGeom>
        </p:spPr>
      </p:pic>
      <p:sp>
        <p:nvSpPr>
          <p:cNvPr id="10" name="Text 4">
            <a:extLst>
              <a:ext uri="{FF2B5EF4-FFF2-40B4-BE49-F238E27FC236}">
                <a16:creationId xmlns:a16="http://schemas.microsoft.com/office/drawing/2014/main" id="{40CF4436-037A-E56B-836F-2EB08F88209B}"/>
              </a:ext>
            </a:extLst>
          </p:cNvPr>
          <p:cNvSpPr/>
          <p:nvPr/>
        </p:nvSpPr>
        <p:spPr>
          <a:xfrm>
            <a:off x="7677955" y="3981469"/>
            <a:ext cx="2412901" cy="1316832"/>
          </a:xfrm>
          <a:prstGeom prst="rect">
            <a:avLst/>
          </a:prstGeom>
          <a:noFill/>
          <a:ln/>
        </p:spPr>
        <p:txBody>
          <a:bodyPr wrap="square" rtlCol="0" anchor="t"/>
          <a:lstStyle/>
          <a:p>
            <a:pPr marL="0" marR="0" lvl="0" indent="0" algn="l" defTabSz="914400" rtl="1" eaLnBrk="1" fontAlgn="auto" latinLnBrk="0" hangingPunct="1">
              <a:lnSpc>
                <a:spcPts val="2592"/>
              </a:lnSpc>
              <a:spcBef>
                <a:spcPts val="0"/>
              </a:spcBef>
              <a:spcAft>
                <a:spcPts val="0"/>
              </a:spcAft>
              <a:buClrTx/>
              <a:buSzTx/>
              <a:buFontTx/>
              <a:buNone/>
              <a:tabLst/>
              <a:defRPr/>
            </a:pPr>
            <a:endParaRPr kumimoji="0" lang="en-US" sz="1620" b="0" i="0" u="none" strike="noStrike" kern="0" cap="none" spc="0" normalizeH="0" baseline="0" noProof="0" dirty="0">
              <a:ln>
                <a:noFill/>
              </a:ln>
              <a:solidFill>
                <a:prstClr val="black"/>
              </a:solidFill>
              <a:effectLst/>
              <a:uLnTx/>
              <a:uFillTx/>
              <a:latin typeface="Calibri"/>
              <a:ea typeface="+mn-ea"/>
              <a:cs typeface="Calibri"/>
            </a:endParaRPr>
          </a:p>
        </p:txBody>
      </p:sp>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968240"/>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2568927"/>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2568927"/>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8544901" y="5082213"/>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5011288"/>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2815"/>
          <a:stretch/>
        </p:blipFill>
        <p:spPr>
          <a:xfrm>
            <a:off x="11021436" y="2533506"/>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71310" y="2981594"/>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8214081" y="2984766"/>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597025" y="2981594"/>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Tree>
    <p:extLst>
      <p:ext uri="{BB962C8B-B14F-4D97-AF65-F5344CB8AC3E}">
        <p14:creationId xmlns:p14="http://schemas.microsoft.com/office/powerpoint/2010/main" val="2366899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5C9E383-1D00-411F-BD3B-B067D716193C}"/>
              </a:ext>
            </a:extLst>
          </p:cNvPr>
          <p:cNvSpPr/>
          <p:nvPr/>
        </p:nvSpPr>
        <p:spPr>
          <a:xfrm>
            <a:off x="10955443"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C3F1E569-6A48-4E32-9380-64C2E34EA53B}"/>
              </a:ext>
            </a:extLst>
          </p:cNvPr>
          <p:cNvSpPr txBox="1"/>
          <p:nvPr/>
        </p:nvSpPr>
        <p:spPr>
          <a:xfrm>
            <a:off x="4418616" y="224061"/>
            <a:ext cx="5446721" cy="129266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br>
              <a:rPr kumimoji="0" lang="en-US"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27291A11-BE90-4BE3-A04D-E8DC9C14A245}"/>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0749F052-554F-4F10-8C2A-4DAF457FDE1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28396BA2-6E09-4B7A-BD20-D26C6C3D608C}"/>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0B489560-F7D7-4336-8787-BB476E6F04E6}"/>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3F24F495-547A-4155-9CFB-AC93F104C14C}"/>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444C3F03-C278-4DB9-BD46-81228A265B5F}"/>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CAA22FC-42A8-4CBD-907E-4F889265FBD6}"/>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40C15470-1A3A-4772-A122-7AE6DCFE87BB}"/>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5A80DECE-8E00-4E3F-8C57-49C736C83A4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D3FFBADB-CA58-49C7-80E5-086E551EE241}"/>
              </a:ext>
            </a:extLst>
          </p:cNvPr>
          <p:cNvGrpSpPr>
            <a:grpSpLocks noChangeAspect="1"/>
          </p:cNvGrpSpPr>
          <p:nvPr/>
        </p:nvGrpSpPr>
        <p:grpSpPr>
          <a:xfrm>
            <a:off x="10838299" y="5630715"/>
            <a:ext cx="522288" cy="523875"/>
            <a:chOff x="11115676" y="4182110"/>
            <a:chExt cx="522288" cy="523875"/>
          </a:xfrm>
        </p:grpSpPr>
        <p:sp>
          <p:nvSpPr>
            <p:cNvPr id="20" name="Freeform 45">
              <a:extLst>
                <a:ext uri="{FF2B5EF4-FFF2-40B4-BE49-F238E27FC236}">
                  <a16:creationId xmlns:a16="http://schemas.microsoft.com/office/drawing/2014/main" id="{76DAA703-1792-4CF3-A118-69DD7F1B212F}"/>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FD995344-6A98-4276-86D6-B8D342C39203}"/>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A1ED770A-724F-497F-9FB1-8EE584298A72}"/>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B77ED6D1-62A5-E57E-9593-D46D96DF720B}"/>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259880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42386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ולמדוד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Tree>
    <p:extLst>
      <p:ext uri="{BB962C8B-B14F-4D97-AF65-F5344CB8AC3E}">
        <p14:creationId xmlns:p14="http://schemas.microsoft.com/office/powerpoint/2010/main" val="3564675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74321"/>
            <a:ext cx="10657351" cy="720000"/>
          </a:xfrm>
        </p:spPr>
        <p:txBody>
          <a:bodyPr>
            <a:normAutofit fontScale="90000"/>
          </a:bodyPr>
          <a:lstStyle/>
          <a:p>
            <a:r>
              <a:rPr lang="he-IL">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נשים</a:t>
            </a:r>
            <a:br>
              <a:rPr lang="he-IL">
                <a:solidFill>
                  <a:schemeClr val="tx1">
                    <a:lumMod val="75000"/>
                    <a:lumOff val="25000"/>
                  </a:schemeClr>
                </a:solidFill>
                <a:latin typeface="Calibri Light" panose="020F0302020204030204" pitchFamily="34" charset="0"/>
                <a:cs typeface="Calibri Light" panose="020F0302020204030204" pitchFamily="34" charset="0"/>
              </a:rPr>
            </a:br>
            <a:r>
              <a:rPr lang="he-IL" sz="310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94528" y="1943303"/>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343633" y="1943302"/>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F2EE287-1B97-49E9-A56E-10073DB0BD48}"/>
              </a:ext>
            </a:extLst>
          </p:cNvPr>
          <p:cNvSpPr txBox="1"/>
          <p:nvPr/>
        </p:nvSpPr>
        <p:spPr>
          <a:xfrm>
            <a:off x="3819547" y="5544389"/>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Rectangle 8">
            <a:extLst>
              <a:ext uri="{FF2B5EF4-FFF2-40B4-BE49-F238E27FC236}">
                <a16:creationId xmlns:a16="http://schemas.microsoft.com/office/drawing/2014/main" id="{F35CAC1E-C81D-42EE-903D-8CF813F29894}"/>
              </a:ext>
            </a:extLst>
          </p:cNvPr>
          <p:cNvSpPr/>
          <p:nvPr/>
        </p:nvSpPr>
        <p:spPr>
          <a:xfrm>
            <a:off x="1944863" y="6161239"/>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נשים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47%</a:t>
            </a:r>
            <a:r>
              <a:rPr kumimoji="0" lang="he-IL" sz="2000" b="0" i="0" u="none" strike="noStrike" kern="1200" cap="none" spc="0" normalizeH="0" baseline="0" noProof="0">
                <a:ln>
                  <a:noFill/>
                </a:ln>
                <a:solidFill>
                  <a:srgbClr val="008DA8"/>
                </a:solidFill>
                <a:effectLst/>
                <a:uLnTx/>
                <a:uFillTx/>
                <a:latin typeface="Calibri"/>
                <a:ea typeface="+mn-ea"/>
                <a:cs typeface="Arial"/>
              </a:rPr>
              <a:t> (10.6 שנים)</a:t>
            </a:r>
          </a:p>
        </p:txBody>
      </p:sp>
      <p:sp>
        <p:nvSpPr>
          <p:cNvPr id="10" name="Arrow: Down 10">
            <a:extLst>
              <a:ext uri="{FF2B5EF4-FFF2-40B4-BE49-F238E27FC236}">
                <a16:creationId xmlns:a16="http://schemas.microsoft.com/office/drawing/2014/main" id="{E80945E7-42A5-4B60-9627-AA57215D1880}"/>
              </a:ext>
            </a:extLst>
          </p:cNvPr>
          <p:cNvSpPr/>
          <p:nvPr/>
        </p:nvSpPr>
        <p:spPr>
          <a:xfrm rot="5400000">
            <a:off x="10684654" y="5999344"/>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8" name="TextBox 7">
            <a:extLst>
              <a:ext uri="{FF2B5EF4-FFF2-40B4-BE49-F238E27FC236}">
                <a16:creationId xmlns:a16="http://schemas.microsoft.com/office/drawing/2014/main" id="{96159013-4E89-495D-A506-C803F4E0D5B7}"/>
              </a:ext>
            </a:extLst>
          </p:cNvPr>
          <p:cNvSpPr txBox="1"/>
          <p:nvPr/>
        </p:nvSpPr>
        <p:spPr>
          <a:xfrm>
            <a:off x="1410967" y="6510006"/>
            <a:ext cx="10514417"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המוגבלות מבוססת על שאלת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GALI</a:t>
            </a: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(באיזה מידה היו לך בעיות בריאות המפריעות לתפקוד) הנשאלת בסקר החברתי</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4" name="TextBox 13"/>
          <p:cNvSpPr txBox="1"/>
          <p:nvPr/>
        </p:nvSpPr>
        <p:spPr>
          <a:xfrm rot="16200000">
            <a:off x="-660782" y="65091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615699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ישראל מקום אחרון ב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IADL</a:t>
            </a:r>
            <a:endPar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28535" y="57073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243373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513314" y="362933"/>
            <a:ext cx="10515600" cy="850789"/>
          </a:xfrm>
        </p:spPr>
        <p:txBody>
          <a:bodyPr>
            <a:normAutofit fontScale="90000"/>
          </a:bodyPr>
          <a:lstStyle/>
          <a:p>
            <a:r>
              <a:rPr lang="he-IL" b="1" dirty="0">
                <a:latin typeface="Calibri" panose="020F0502020204030204" pitchFamily="34" charset="0"/>
                <a:ea typeface="Calibri" panose="020F0502020204030204" pitchFamily="34" charset="0"/>
              </a:rPr>
              <a:t>בעיות עיקריות בחוק סיעוד 2024:</a:t>
            </a:r>
            <a:br>
              <a:rPr lang="en-US" dirty="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6" name="תיבת טקסט 15">
            <a:extLst>
              <a:ext uri="{FF2B5EF4-FFF2-40B4-BE49-F238E27FC236}">
                <a16:creationId xmlns:a16="http://schemas.microsoft.com/office/drawing/2014/main" id="{42EC6FB1-D23F-49F1-D2B1-A8CBF8F14E02}"/>
              </a:ext>
            </a:extLst>
          </p:cNvPr>
          <p:cNvSpPr txBox="1"/>
          <p:nvPr/>
        </p:nvSpPr>
        <p:spPr>
          <a:xfrm>
            <a:off x="-228927" y="601494"/>
            <a:ext cx="11175819" cy="6555641"/>
          </a:xfrm>
          <a:prstGeom prst="rect">
            <a:avLst/>
          </a:prstGeom>
          <a:noFill/>
        </p:spPr>
        <p:txBody>
          <a:bodyPr wrap="square">
            <a:spAutoFit/>
          </a:bodyPr>
          <a:lstStyle/>
          <a:p>
            <a:pPr marR="0" lvl="0" algn="r" defTabSz="914400" eaLnBrk="0" fontAlgn="base" latinLnBrk="0" hangingPunct="0">
              <a:lnSpc>
                <a:spcPct val="100000"/>
              </a:lnSpc>
              <a:spcBef>
                <a:spcPct val="0"/>
              </a:spcBef>
              <a:spcAft>
                <a:spcPct val="0"/>
              </a:spcAft>
              <a:buClrTx/>
              <a:buSzTx/>
              <a:tabLst/>
            </a:pPr>
            <a:endParaRPr kumimoji="0" lang="he-IL" altLang="he-IL" sz="2800" b="0" i="0" u="none" strike="noStrike" cap="none" normalizeH="0" baseline="0" dirty="0">
              <a:ln>
                <a:noFill/>
              </a:ln>
              <a:solidFill>
                <a:schemeClr val="tx1"/>
              </a:solidFill>
              <a:effectLst/>
              <a:latin typeface="Arial" panose="020B0604020202020204" pitchFamily="34" charset="0"/>
            </a:endParaRP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השקעה בטיפול ולא במניעה</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מיצוי תקציבי גבוה ותוצאות לא מוכחות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סל שירותים מצומצם שאינו מותאם לצרכים</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הערכות תלות שאינן בהכרח משקפות מצב תפקודי</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היעדר מידע מסודר, שקוף ונגיש ומדידה שוטפת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הגמלה בכסף יוצרת </a:t>
            </a:r>
            <a:r>
              <a:rPr kumimoji="0" lang="he-IL" altLang="he-IL" sz="2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תמרוץ</a:t>
            </a: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שלילי למניעת הידרדרות</a:t>
            </a:r>
          </a:p>
          <a:p>
            <a:pPr marR="0" lvl="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p>
          <a:p>
            <a:pPr marL="0" marR="0" lvl="0" indent="0" algn="r" defTabSz="914400" eaLnBrk="0" fontAlgn="base" latinLnBrk="0" hangingPunct="0">
              <a:lnSpc>
                <a:spcPct val="100000"/>
              </a:lnSpc>
              <a:spcBef>
                <a:spcPct val="0"/>
              </a:spcBef>
              <a:spcAft>
                <a:spcPct val="0"/>
              </a:spcAft>
              <a:buClrTx/>
              <a:buSzTx/>
              <a:tabLst/>
            </a:pPr>
            <a:r>
              <a:rPr kumimoji="0" lang="he-IL" altLang="he-IL" sz="2800" b="0" i="0" u="none" strike="noStrike" cap="none" normalizeH="0" baseline="0" dirty="0">
                <a:ln>
                  <a:noFill/>
                </a:ln>
                <a:solidFill>
                  <a:schemeClr val="tx1"/>
                </a:solidFill>
                <a:effectLst/>
                <a:latin typeface="Arial" panose="020B0604020202020204" pitchFamily="34" charset="0"/>
              </a:rPr>
              <a:t>👥 </a:t>
            </a:r>
            <a:r>
              <a:rPr kumimoji="0" lang="he-IL" altLang="he-IL" sz="2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מחסור במטפלות והשלכותיו</a:t>
            </a:r>
            <a:r>
              <a:rPr kumimoji="0" lang="he-IL" altLang="he-IL" sz="2800" b="1"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עלייה בגמלה בכסף ללא הוכחה לדחיקת תלות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בני משפחה מטפלים בשכר</a:t>
            </a:r>
            <a:r>
              <a:rPr kumimoji="0" lang="he-IL" altLang="he-IL" sz="2800" b="0" i="0" u="none" strike="noStrike" cap="none" normalizeH="0" baseline="0" dirty="0">
                <a:ln>
                  <a:noFill/>
                </a:ln>
                <a:solidFill>
                  <a:schemeClr val="tx1"/>
                </a:solidFill>
                <a:effectLst/>
                <a:latin typeface="Arial" panose="020B0604020202020204" pitchFamily="34" charset="0"/>
              </a:rPr>
              <a:t> (מעל 6 מיליארד)</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כ-50% מהשעות נלקחות ע"י המטפלות</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חוסר הכשרה והדרכה</a:t>
            </a:r>
            <a:r>
              <a:rPr kumimoji="0" lang="he-IL" altLang="he-IL" sz="2800" b="0" i="0" u="none" strike="noStrike" cap="none" normalizeH="0" baseline="0" dirty="0">
                <a:ln>
                  <a:noFill/>
                </a:ln>
                <a:solidFill>
                  <a:schemeClr val="tx1"/>
                </a:solidFill>
                <a:effectLst/>
                <a:latin typeface="Arial" panose="020B0604020202020204" pitchFamily="34" charset="0"/>
              </a:rPr>
              <a:t> </a:t>
            </a:r>
          </a:p>
          <a:p>
            <a:pPr marL="1371600" lvl="2" indent="-457200" eaLnBrk="0" fontAlgn="base" hangingPunct="0">
              <a:spcBef>
                <a:spcPct val="0"/>
              </a:spcBef>
              <a:spcAft>
                <a:spcPct val="0"/>
              </a:spcAft>
              <a:buFont typeface="Arial" panose="020B0604020202020204" pitchFamily="34" charset="0"/>
              <a:buChar char="•"/>
            </a:pPr>
            <a:r>
              <a:rPr kumimoji="0" lang="he-IL" altLang="he-IL"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פגיעה באיכות השירות ומקרי הזנחה</a:t>
            </a:r>
            <a:endParaRPr kumimoji="0" lang="he-IL" altLang="he-IL" sz="2800" b="0" i="0" u="none" strike="noStrike" cap="none" normalizeH="0" baseline="0" dirty="0">
              <a:ln>
                <a:noFill/>
              </a:ln>
              <a:solidFill>
                <a:schemeClr val="tx1"/>
              </a:solidFill>
              <a:effectLst/>
              <a:latin typeface="Arial" panose="020B0604020202020204" pitchFamily="34" charset="0"/>
            </a:endParaRPr>
          </a:p>
          <a:p>
            <a:pPr marR="0" lvl="0" algn="r" defTabSz="914400" eaLnBrk="0" fontAlgn="base" latinLnBrk="0" hangingPunct="0">
              <a:lnSpc>
                <a:spcPct val="100000"/>
              </a:lnSpc>
              <a:spcBef>
                <a:spcPct val="0"/>
              </a:spcBef>
              <a:spcAft>
                <a:spcPct val="0"/>
              </a:spcAft>
              <a:buClrTx/>
              <a:buSzTx/>
              <a:tabLst/>
            </a:pPr>
            <a:endParaRPr kumimoji="0" lang="he-IL" altLang="he-IL"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4496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 דרך גמלת הסיעוד</a:t>
            </a:r>
            <a:br>
              <a:rPr kumimoji="0" lang="en-US" sz="16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br>
            <a:r>
              <a:rPr kumimoji="0" lang="he-IL" sz="16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 3 ימים בשבוע</a:t>
            </a: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527FC4"/>
              </a:solidFill>
              <a:effectLst/>
              <a:uLnTx/>
              <a:uFillTx/>
              <a:latin typeface="Calibri" panose="020F0502020204030204"/>
              <a:ea typeface="+mn-ea"/>
              <a:cs typeface="Arial" panose="020B0604020202020204" pitchFamily="34" charset="0"/>
            </a:endParaRPr>
          </a:p>
        </p:txBody>
      </p:sp>
      <p:graphicFrame>
        <p:nvGraphicFramePr>
          <p:cNvPr id="10" name="תרשים 9"/>
          <p:cNvGraphicFramePr>
            <a:graphicFrameLocks/>
          </p:cNvGraphicFramePr>
          <p:nvPr>
            <p:extLst>
              <p:ext uri="{D42A27DB-BD31-4B8C-83A1-F6EECF244321}">
                <p14:modId xmlns:p14="http://schemas.microsoft.com/office/powerpoint/2010/main" val="563257307"/>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חץ ימינה 2"/>
          <p:cNvSpPr/>
          <p:nvPr/>
        </p:nvSpPr>
        <p:spPr>
          <a:xfrm rot="18705618">
            <a:off x="8306867" y="4390313"/>
            <a:ext cx="1340101" cy="661540"/>
          </a:xfrm>
          <a:prstGeom prst="rightArrow">
            <a:avLst/>
          </a:prstGeom>
          <a:solidFill>
            <a:schemeClr val="accent6">
              <a:lumMod val="60000"/>
              <a:lumOff val="40000"/>
            </a:schemeClr>
          </a:solidFill>
        </p:spPr>
        <p:style>
          <a:lnRef idx="3">
            <a:schemeClr val="lt1"/>
          </a:lnRef>
          <a:fillRef idx="1">
            <a:schemeClr val="accent2"/>
          </a:fillRef>
          <a:effectRef idx="1">
            <a:schemeClr val="accent2"/>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פי 17</a:t>
            </a:r>
          </a:p>
        </p:txBody>
      </p:sp>
      <p:sp>
        <p:nvSpPr>
          <p:cNvPr id="7" name="מלבן 6"/>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1010313" y="774604"/>
            <a:ext cx="2039340"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2" name="מלבן 1">
            <a:extLst>
              <a:ext uri="{FF2B5EF4-FFF2-40B4-BE49-F238E27FC236}">
                <a16:creationId xmlns:a16="http://schemas.microsoft.com/office/drawing/2014/main" id="{BCA28565-08D8-19F7-903A-07EFE20A7AC4}"/>
              </a:ext>
            </a:extLst>
          </p:cNvPr>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6">
            <a:extLst>
              <a:ext uri="{FF2B5EF4-FFF2-40B4-BE49-F238E27FC236}">
                <a16:creationId xmlns:a16="http://schemas.microsoft.com/office/drawing/2014/main" id="{5C8E4F9E-C8FB-57E3-10B2-6854575260B3}"/>
              </a:ext>
            </a:extLst>
          </p:cNvPr>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1" name="TextBox 68">
            <a:extLst>
              <a:ext uri="{FF2B5EF4-FFF2-40B4-BE49-F238E27FC236}">
                <a16:creationId xmlns:a16="http://schemas.microsoft.com/office/drawing/2014/main" id="{36A3DE1F-AC30-4257-5CBA-A4D46E491B1A}"/>
              </a:ext>
            </a:extLst>
          </p:cNvPr>
          <p:cNvSpPr txBox="1"/>
          <p:nvPr/>
        </p:nvSpPr>
        <p:spPr>
          <a:xfrm flipH="1">
            <a:off x="1914524" y="1554212"/>
            <a:ext cx="2960893" cy="1021556"/>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שירותי רווחה ובריאות ניתנים כמעט בחינם, בגיל 80 נצפה שהזקן יתחיל לשלם מהגמלה?</a:t>
            </a:r>
          </a:p>
        </p:txBody>
      </p:sp>
    </p:spTree>
    <p:extLst>
      <p:ext uri="{BB962C8B-B14F-4D97-AF65-F5344CB8AC3E}">
        <p14:creationId xmlns:p14="http://schemas.microsoft.com/office/powerpoint/2010/main" val="3682650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12">
            <a:extLst>
              <a:ext uri="{FF2B5EF4-FFF2-40B4-BE49-F238E27FC236}">
                <a16:creationId xmlns:a16="http://schemas.microsoft.com/office/drawing/2014/main" id="{80D5ADAA-3FBC-4D74-9A48-A00B4388B9B9}"/>
              </a:ext>
            </a:extLst>
          </p:cNvPr>
          <p:cNvSpPr txBox="1"/>
          <p:nvPr/>
        </p:nvSpPr>
        <p:spPr>
          <a:xfrm>
            <a:off x="942136" y="1777529"/>
            <a:ext cx="7870105" cy="24991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איך מתמודדים עם האתגרים </a:t>
            </a:r>
            <a:br>
              <a:rPr kumimoji="0" lang="en-US"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על מנת שפנינה ומשפחתה </a:t>
            </a:r>
            <a:br>
              <a:rPr kumimoji="0" lang="en-US"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prstClr val="black">
                    <a:lumMod val="65000"/>
                    <a:lumOff val="35000"/>
                  </a:prstClr>
                </a:solidFill>
                <a:effectLst/>
                <a:uLnTx/>
                <a:uFillTx/>
                <a:latin typeface="Assistant" pitchFamily="2" charset="-79"/>
                <a:ea typeface="+mn-ea"/>
                <a:cs typeface="Assistant" pitchFamily="2" charset="-79"/>
              </a:rPr>
              <a:t> יקבלו מענה על הצרכים היומיומיים שלהם?</a:t>
            </a:r>
          </a:p>
        </p:txBody>
      </p:sp>
      <p:grpSp>
        <p:nvGrpSpPr>
          <p:cNvPr id="3" name="Group 2">
            <a:extLst>
              <a:ext uri="{FF2B5EF4-FFF2-40B4-BE49-F238E27FC236}">
                <a16:creationId xmlns:a16="http://schemas.microsoft.com/office/drawing/2014/main" id="{D5CA5DA8-6857-4668-9C0E-F00E1C6AAE64}"/>
              </a:ext>
            </a:extLst>
          </p:cNvPr>
          <p:cNvGrpSpPr>
            <a:grpSpLocks noChangeAspect="1"/>
          </p:cNvGrpSpPr>
          <p:nvPr/>
        </p:nvGrpSpPr>
        <p:grpSpPr>
          <a:xfrm>
            <a:off x="9130273" y="2094211"/>
            <a:ext cx="1992997" cy="1992997"/>
            <a:chOff x="3192463" y="4175125"/>
            <a:chExt cx="522288" cy="522288"/>
          </a:xfrm>
          <a:solidFill>
            <a:schemeClr val="accent1"/>
          </a:solidFill>
        </p:grpSpPr>
        <p:sp>
          <p:nvSpPr>
            <p:cNvPr id="4" name="Freeform 56">
              <a:extLst>
                <a:ext uri="{FF2B5EF4-FFF2-40B4-BE49-F238E27FC236}">
                  <a16:creationId xmlns:a16="http://schemas.microsoft.com/office/drawing/2014/main" id="{C97CFE28-13B2-4490-B69C-66EE852704FF}"/>
                </a:ext>
              </a:extLst>
            </p:cNvPr>
            <p:cNvSpPr>
              <a:spLocks noEditPoints="1"/>
            </p:cNvSpPr>
            <p:nvPr/>
          </p:nvSpPr>
          <p:spPr bwMode="auto">
            <a:xfrm>
              <a:off x="3192463" y="4175125"/>
              <a:ext cx="522288" cy="522288"/>
            </a:xfrm>
            <a:custGeom>
              <a:avLst/>
              <a:gdLst>
                <a:gd name="T0" fmla="*/ 312 w 659"/>
                <a:gd name="T1" fmla="*/ 657 h 657"/>
                <a:gd name="T2" fmla="*/ 264 w 659"/>
                <a:gd name="T3" fmla="*/ 650 h 657"/>
                <a:gd name="T4" fmla="*/ 202 w 659"/>
                <a:gd name="T5" fmla="*/ 632 h 657"/>
                <a:gd name="T6" fmla="*/ 120 w 659"/>
                <a:gd name="T7" fmla="*/ 582 h 657"/>
                <a:gd name="T8" fmla="*/ 57 w 659"/>
                <a:gd name="T9" fmla="*/ 512 h 657"/>
                <a:gd name="T10" fmla="*/ 15 w 659"/>
                <a:gd name="T11" fmla="*/ 426 h 657"/>
                <a:gd name="T12" fmla="*/ 4 w 659"/>
                <a:gd name="T13" fmla="*/ 379 h 657"/>
                <a:gd name="T14" fmla="*/ 0 w 659"/>
                <a:gd name="T15" fmla="*/ 328 h 657"/>
                <a:gd name="T16" fmla="*/ 2 w 659"/>
                <a:gd name="T17" fmla="*/ 294 h 657"/>
                <a:gd name="T18" fmla="*/ 11 w 659"/>
                <a:gd name="T19" fmla="*/ 246 h 657"/>
                <a:gd name="T20" fmla="*/ 41 w 659"/>
                <a:gd name="T21" fmla="*/ 172 h 657"/>
                <a:gd name="T22" fmla="*/ 97 w 659"/>
                <a:gd name="T23" fmla="*/ 96 h 657"/>
                <a:gd name="T24" fmla="*/ 172 w 659"/>
                <a:gd name="T25" fmla="*/ 39 h 657"/>
                <a:gd name="T26" fmla="*/ 248 w 659"/>
                <a:gd name="T27" fmla="*/ 10 h 657"/>
                <a:gd name="T28" fmla="*/ 296 w 659"/>
                <a:gd name="T29" fmla="*/ 2 h 657"/>
                <a:gd name="T30" fmla="*/ 330 w 659"/>
                <a:gd name="T31" fmla="*/ 0 h 657"/>
                <a:gd name="T32" fmla="*/ 379 w 659"/>
                <a:gd name="T33" fmla="*/ 3 h 657"/>
                <a:gd name="T34" fmla="*/ 428 w 659"/>
                <a:gd name="T35" fmla="*/ 15 h 657"/>
                <a:gd name="T36" fmla="*/ 514 w 659"/>
                <a:gd name="T37" fmla="*/ 57 h 657"/>
                <a:gd name="T38" fmla="*/ 583 w 659"/>
                <a:gd name="T39" fmla="*/ 120 h 657"/>
                <a:gd name="T40" fmla="*/ 632 w 659"/>
                <a:gd name="T41" fmla="*/ 200 h 657"/>
                <a:gd name="T42" fmla="*/ 652 w 659"/>
                <a:gd name="T43" fmla="*/ 262 h 657"/>
                <a:gd name="T44" fmla="*/ 657 w 659"/>
                <a:gd name="T45" fmla="*/ 312 h 657"/>
                <a:gd name="T46" fmla="*/ 657 w 659"/>
                <a:gd name="T47" fmla="*/ 346 h 657"/>
                <a:gd name="T48" fmla="*/ 652 w 659"/>
                <a:gd name="T49" fmla="*/ 395 h 657"/>
                <a:gd name="T50" fmla="*/ 632 w 659"/>
                <a:gd name="T51" fmla="*/ 457 h 657"/>
                <a:gd name="T52" fmla="*/ 583 w 659"/>
                <a:gd name="T53" fmla="*/ 538 h 657"/>
                <a:gd name="T54" fmla="*/ 514 w 659"/>
                <a:gd name="T55" fmla="*/ 601 h 657"/>
                <a:gd name="T56" fmla="*/ 428 w 659"/>
                <a:gd name="T57" fmla="*/ 642 h 657"/>
                <a:gd name="T58" fmla="*/ 379 w 659"/>
                <a:gd name="T59" fmla="*/ 653 h 657"/>
                <a:gd name="T60" fmla="*/ 330 w 659"/>
                <a:gd name="T61" fmla="*/ 657 h 657"/>
                <a:gd name="T62" fmla="*/ 330 w 659"/>
                <a:gd name="T63" fmla="*/ 38 h 657"/>
                <a:gd name="T64" fmla="*/ 244 w 659"/>
                <a:gd name="T65" fmla="*/ 50 h 657"/>
                <a:gd name="T66" fmla="*/ 167 w 659"/>
                <a:gd name="T67" fmla="*/ 88 h 657"/>
                <a:gd name="T68" fmla="*/ 105 w 659"/>
                <a:gd name="T69" fmla="*/ 144 h 657"/>
                <a:gd name="T70" fmla="*/ 61 w 659"/>
                <a:gd name="T71" fmla="*/ 215 h 657"/>
                <a:gd name="T72" fmla="*/ 39 w 659"/>
                <a:gd name="T73" fmla="*/ 298 h 657"/>
                <a:gd name="T74" fmla="*/ 39 w 659"/>
                <a:gd name="T75" fmla="*/ 359 h 657"/>
                <a:gd name="T76" fmla="*/ 61 w 659"/>
                <a:gd name="T77" fmla="*/ 442 h 657"/>
                <a:gd name="T78" fmla="*/ 105 w 659"/>
                <a:gd name="T79" fmla="*/ 513 h 657"/>
                <a:gd name="T80" fmla="*/ 167 w 659"/>
                <a:gd name="T81" fmla="*/ 570 h 657"/>
                <a:gd name="T82" fmla="*/ 244 w 659"/>
                <a:gd name="T83" fmla="*/ 606 h 657"/>
                <a:gd name="T84" fmla="*/ 330 w 659"/>
                <a:gd name="T85" fmla="*/ 620 h 657"/>
                <a:gd name="T86" fmla="*/ 389 w 659"/>
                <a:gd name="T87" fmla="*/ 614 h 657"/>
                <a:gd name="T88" fmla="*/ 468 w 659"/>
                <a:gd name="T89" fmla="*/ 585 h 657"/>
                <a:gd name="T90" fmla="*/ 535 w 659"/>
                <a:gd name="T91" fmla="*/ 535 h 657"/>
                <a:gd name="T92" fmla="*/ 585 w 659"/>
                <a:gd name="T93" fmla="*/ 468 h 657"/>
                <a:gd name="T94" fmla="*/ 614 w 659"/>
                <a:gd name="T95" fmla="*/ 387 h 657"/>
                <a:gd name="T96" fmla="*/ 621 w 659"/>
                <a:gd name="T97" fmla="*/ 328 h 657"/>
                <a:gd name="T98" fmla="*/ 608 w 659"/>
                <a:gd name="T99" fmla="*/ 242 h 657"/>
                <a:gd name="T100" fmla="*/ 571 w 659"/>
                <a:gd name="T101" fmla="*/ 166 h 657"/>
                <a:gd name="T102" fmla="*/ 515 w 659"/>
                <a:gd name="T103" fmla="*/ 104 h 657"/>
                <a:gd name="T104" fmla="*/ 442 w 659"/>
                <a:gd name="T105" fmla="*/ 61 h 657"/>
                <a:gd name="T106" fmla="*/ 359 w 659"/>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7">
                  <a:moveTo>
                    <a:pt x="330" y="657"/>
                  </a:moveTo>
                  <a:lnTo>
                    <a:pt x="330" y="657"/>
                  </a:lnTo>
                  <a:lnTo>
                    <a:pt x="312" y="657"/>
                  </a:lnTo>
                  <a:lnTo>
                    <a:pt x="296" y="656"/>
                  </a:lnTo>
                  <a:lnTo>
                    <a:pt x="280" y="653"/>
                  </a:lnTo>
                  <a:lnTo>
                    <a:pt x="264" y="650"/>
                  </a:lnTo>
                  <a:lnTo>
                    <a:pt x="248" y="646"/>
                  </a:lnTo>
                  <a:lnTo>
                    <a:pt x="231" y="642"/>
                  </a:lnTo>
                  <a:lnTo>
                    <a:pt x="202" y="632"/>
                  </a:lnTo>
                  <a:lnTo>
                    <a:pt x="172" y="618"/>
                  </a:lnTo>
                  <a:lnTo>
                    <a:pt x="146" y="601"/>
                  </a:lnTo>
                  <a:lnTo>
                    <a:pt x="120" y="582"/>
                  </a:lnTo>
                  <a:lnTo>
                    <a:pt x="97" y="560"/>
                  </a:lnTo>
                  <a:lnTo>
                    <a:pt x="76" y="538"/>
                  </a:lnTo>
                  <a:lnTo>
                    <a:pt x="57" y="512"/>
                  </a:lnTo>
                  <a:lnTo>
                    <a:pt x="41" y="485"/>
                  </a:lnTo>
                  <a:lnTo>
                    <a:pt x="26" y="457"/>
                  </a:lnTo>
                  <a:lnTo>
                    <a:pt x="15" y="426"/>
                  </a:lnTo>
                  <a:lnTo>
                    <a:pt x="11" y="411"/>
                  </a:lnTo>
                  <a:lnTo>
                    <a:pt x="7" y="395"/>
                  </a:lnTo>
                  <a:lnTo>
                    <a:pt x="4" y="379"/>
                  </a:lnTo>
                  <a:lnTo>
                    <a:pt x="2" y="362"/>
                  </a:lnTo>
                  <a:lnTo>
                    <a:pt x="0" y="346"/>
                  </a:lnTo>
                  <a:lnTo>
                    <a:pt x="0" y="328"/>
                  </a:lnTo>
                  <a:lnTo>
                    <a:pt x="0" y="328"/>
                  </a:lnTo>
                  <a:lnTo>
                    <a:pt x="0" y="312"/>
                  </a:lnTo>
                  <a:lnTo>
                    <a:pt x="2" y="294"/>
                  </a:lnTo>
                  <a:lnTo>
                    <a:pt x="4" y="278"/>
                  </a:lnTo>
                  <a:lnTo>
                    <a:pt x="7" y="262"/>
                  </a:lnTo>
                  <a:lnTo>
                    <a:pt x="11" y="246"/>
                  </a:lnTo>
                  <a:lnTo>
                    <a:pt x="15" y="231"/>
                  </a:lnTo>
                  <a:lnTo>
                    <a:pt x="26" y="200"/>
                  </a:lnTo>
                  <a:lnTo>
                    <a:pt x="41" y="172"/>
                  </a:lnTo>
                  <a:lnTo>
                    <a:pt x="57" y="145"/>
                  </a:lnTo>
                  <a:lnTo>
                    <a:pt x="76" y="120"/>
                  </a:lnTo>
                  <a:lnTo>
                    <a:pt x="97" y="96"/>
                  </a:lnTo>
                  <a:lnTo>
                    <a:pt x="120" y="76"/>
                  </a:lnTo>
                  <a:lnTo>
                    <a:pt x="146" y="57"/>
                  </a:lnTo>
                  <a:lnTo>
                    <a:pt x="172" y="39"/>
                  </a:lnTo>
                  <a:lnTo>
                    <a:pt x="202" y="26"/>
                  </a:lnTo>
                  <a:lnTo>
                    <a:pt x="231" y="15"/>
                  </a:lnTo>
                  <a:lnTo>
                    <a:pt x="248" y="10"/>
                  </a:lnTo>
                  <a:lnTo>
                    <a:pt x="264" y="7"/>
                  </a:lnTo>
                  <a:lnTo>
                    <a:pt x="280" y="3"/>
                  </a:lnTo>
                  <a:lnTo>
                    <a:pt x="296" y="2"/>
                  </a:lnTo>
                  <a:lnTo>
                    <a:pt x="312" y="0"/>
                  </a:lnTo>
                  <a:lnTo>
                    <a:pt x="330" y="0"/>
                  </a:lnTo>
                  <a:lnTo>
                    <a:pt x="330" y="0"/>
                  </a:lnTo>
                  <a:lnTo>
                    <a:pt x="346" y="0"/>
                  </a:lnTo>
                  <a:lnTo>
                    <a:pt x="363" y="2"/>
                  </a:lnTo>
                  <a:lnTo>
                    <a:pt x="379" y="3"/>
                  </a:lnTo>
                  <a:lnTo>
                    <a:pt x="395" y="7"/>
                  </a:lnTo>
                  <a:lnTo>
                    <a:pt x="411" y="10"/>
                  </a:lnTo>
                  <a:lnTo>
                    <a:pt x="428" y="15"/>
                  </a:lnTo>
                  <a:lnTo>
                    <a:pt x="457" y="26"/>
                  </a:lnTo>
                  <a:lnTo>
                    <a:pt x="485" y="39"/>
                  </a:lnTo>
                  <a:lnTo>
                    <a:pt x="514" y="57"/>
                  </a:lnTo>
                  <a:lnTo>
                    <a:pt x="539" y="76"/>
                  </a:lnTo>
                  <a:lnTo>
                    <a:pt x="562" y="96"/>
                  </a:lnTo>
                  <a:lnTo>
                    <a:pt x="583" y="120"/>
                  </a:lnTo>
                  <a:lnTo>
                    <a:pt x="602" y="145"/>
                  </a:lnTo>
                  <a:lnTo>
                    <a:pt x="618" y="172"/>
                  </a:lnTo>
                  <a:lnTo>
                    <a:pt x="632" y="200"/>
                  </a:lnTo>
                  <a:lnTo>
                    <a:pt x="644" y="231"/>
                  </a:lnTo>
                  <a:lnTo>
                    <a:pt x="648" y="246"/>
                  </a:lnTo>
                  <a:lnTo>
                    <a:pt x="652" y="262"/>
                  </a:lnTo>
                  <a:lnTo>
                    <a:pt x="655" y="278"/>
                  </a:lnTo>
                  <a:lnTo>
                    <a:pt x="656" y="294"/>
                  </a:lnTo>
                  <a:lnTo>
                    <a:pt x="657" y="312"/>
                  </a:lnTo>
                  <a:lnTo>
                    <a:pt x="659" y="328"/>
                  </a:lnTo>
                  <a:lnTo>
                    <a:pt x="659" y="328"/>
                  </a:lnTo>
                  <a:lnTo>
                    <a:pt x="657" y="346"/>
                  </a:lnTo>
                  <a:lnTo>
                    <a:pt x="656" y="362"/>
                  </a:lnTo>
                  <a:lnTo>
                    <a:pt x="655" y="379"/>
                  </a:lnTo>
                  <a:lnTo>
                    <a:pt x="652" y="395"/>
                  </a:lnTo>
                  <a:lnTo>
                    <a:pt x="648" y="411"/>
                  </a:lnTo>
                  <a:lnTo>
                    <a:pt x="644" y="426"/>
                  </a:lnTo>
                  <a:lnTo>
                    <a:pt x="632" y="457"/>
                  </a:lnTo>
                  <a:lnTo>
                    <a:pt x="618" y="485"/>
                  </a:lnTo>
                  <a:lnTo>
                    <a:pt x="602" y="512"/>
                  </a:lnTo>
                  <a:lnTo>
                    <a:pt x="583" y="538"/>
                  </a:lnTo>
                  <a:lnTo>
                    <a:pt x="562" y="560"/>
                  </a:lnTo>
                  <a:lnTo>
                    <a:pt x="539" y="582"/>
                  </a:lnTo>
                  <a:lnTo>
                    <a:pt x="514" y="601"/>
                  </a:lnTo>
                  <a:lnTo>
                    <a:pt x="485" y="618"/>
                  </a:lnTo>
                  <a:lnTo>
                    <a:pt x="457" y="632"/>
                  </a:lnTo>
                  <a:lnTo>
                    <a:pt x="428" y="642"/>
                  </a:lnTo>
                  <a:lnTo>
                    <a:pt x="411" y="646"/>
                  </a:lnTo>
                  <a:lnTo>
                    <a:pt x="395" y="650"/>
                  </a:lnTo>
                  <a:lnTo>
                    <a:pt x="379" y="653"/>
                  </a:lnTo>
                  <a:lnTo>
                    <a:pt x="363" y="656"/>
                  </a:lnTo>
                  <a:lnTo>
                    <a:pt x="346" y="657"/>
                  </a:lnTo>
                  <a:lnTo>
                    <a:pt x="330" y="657"/>
                  </a:lnTo>
                  <a:lnTo>
                    <a:pt x="330" y="657"/>
                  </a:lnTo>
                  <a:close/>
                  <a:moveTo>
                    <a:pt x="330" y="38"/>
                  </a:moveTo>
                  <a:lnTo>
                    <a:pt x="330" y="38"/>
                  </a:lnTo>
                  <a:lnTo>
                    <a:pt x="300" y="39"/>
                  </a:lnTo>
                  <a:lnTo>
                    <a:pt x="270" y="43"/>
                  </a:lnTo>
                  <a:lnTo>
                    <a:pt x="244" y="50"/>
                  </a:lnTo>
                  <a:lnTo>
                    <a:pt x="217" y="61"/>
                  </a:lnTo>
                  <a:lnTo>
                    <a:pt x="191" y="73"/>
                  </a:lnTo>
                  <a:lnTo>
                    <a:pt x="167" y="88"/>
                  </a:lnTo>
                  <a:lnTo>
                    <a:pt x="144" y="104"/>
                  </a:lnTo>
                  <a:lnTo>
                    <a:pt x="124" y="123"/>
                  </a:lnTo>
                  <a:lnTo>
                    <a:pt x="105" y="144"/>
                  </a:lnTo>
                  <a:lnTo>
                    <a:pt x="88" y="166"/>
                  </a:lnTo>
                  <a:lnTo>
                    <a:pt x="73" y="190"/>
                  </a:lnTo>
                  <a:lnTo>
                    <a:pt x="61" y="215"/>
                  </a:lnTo>
                  <a:lnTo>
                    <a:pt x="51" y="242"/>
                  </a:lnTo>
                  <a:lnTo>
                    <a:pt x="45" y="270"/>
                  </a:lnTo>
                  <a:lnTo>
                    <a:pt x="39" y="298"/>
                  </a:lnTo>
                  <a:lnTo>
                    <a:pt x="38" y="328"/>
                  </a:lnTo>
                  <a:lnTo>
                    <a:pt x="38" y="328"/>
                  </a:lnTo>
                  <a:lnTo>
                    <a:pt x="39" y="359"/>
                  </a:lnTo>
                  <a:lnTo>
                    <a:pt x="45" y="387"/>
                  </a:lnTo>
                  <a:lnTo>
                    <a:pt x="51" y="415"/>
                  </a:lnTo>
                  <a:lnTo>
                    <a:pt x="61" y="442"/>
                  </a:lnTo>
                  <a:lnTo>
                    <a:pt x="73" y="468"/>
                  </a:lnTo>
                  <a:lnTo>
                    <a:pt x="88" y="492"/>
                  </a:lnTo>
                  <a:lnTo>
                    <a:pt x="105" y="513"/>
                  </a:lnTo>
                  <a:lnTo>
                    <a:pt x="124" y="535"/>
                  </a:lnTo>
                  <a:lnTo>
                    <a:pt x="144" y="554"/>
                  </a:lnTo>
                  <a:lnTo>
                    <a:pt x="167" y="570"/>
                  </a:lnTo>
                  <a:lnTo>
                    <a:pt x="191" y="585"/>
                  </a:lnTo>
                  <a:lnTo>
                    <a:pt x="217" y="597"/>
                  </a:lnTo>
                  <a:lnTo>
                    <a:pt x="244" y="606"/>
                  </a:lnTo>
                  <a:lnTo>
                    <a:pt x="270" y="614"/>
                  </a:lnTo>
                  <a:lnTo>
                    <a:pt x="300" y="618"/>
                  </a:lnTo>
                  <a:lnTo>
                    <a:pt x="330" y="620"/>
                  </a:lnTo>
                  <a:lnTo>
                    <a:pt x="330" y="620"/>
                  </a:lnTo>
                  <a:lnTo>
                    <a:pt x="359" y="618"/>
                  </a:lnTo>
                  <a:lnTo>
                    <a:pt x="389" y="614"/>
                  </a:lnTo>
                  <a:lnTo>
                    <a:pt x="415" y="606"/>
                  </a:lnTo>
                  <a:lnTo>
                    <a:pt x="442" y="597"/>
                  </a:lnTo>
                  <a:lnTo>
                    <a:pt x="468" y="585"/>
                  </a:lnTo>
                  <a:lnTo>
                    <a:pt x="492" y="570"/>
                  </a:lnTo>
                  <a:lnTo>
                    <a:pt x="515" y="554"/>
                  </a:lnTo>
                  <a:lnTo>
                    <a:pt x="535" y="535"/>
                  </a:lnTo>
                  <a:lnTo>
                    <a:pt x="554" y="513"/>
                  </a:lnTo>
                  <a:lnTo>
                    <a:pt x="571" y="492"/>
                  </a:lnTo>
                  <a:lnTo>
                    <a:pt x="585" y="468"/>
                  </a:lnTo>
                  <a:lnTo>
                    <a:pt x="598" y="442"/>
                  </a:lnTo>
                  <a:lnTo>
                    <a:pt x="608" y="415"/>
                  </a:lnTo>
                  <a:lnTo>
                    <a:pt x="614" y="387"/>
                  </a:lnTo>
                  <a:lnTo>
                    <a:pt x="620" y="359"/>
                  </a:lnTo>
                  <a:lnTo>
                    <a:pt x="621" y="328"/>
                  </a:lnTo>
                  <a:lnTo>
                    <a:pt x="621" y="328"/>
                  </a:lnTo>
                  <a:lnTo>
                    <a:pt x="620" y="298"/>
                  </a:lnTo>
                  <a:lnTo>
                    <a:pt x="614" y="270"/>
                  </a:lnTo>
                  <a:lnTo>
                    <a:pt x="608" y="242"/>
                  </a:lnTo>
                  <a:lnTo>
                    <a:pt x="598" y="215"/>
                  </a:lnTo>
                  <a:lnTo>
                    <a:pt x="585" y="190"/>
                  </a:lnTo>
                  <a:lnTo>
                    <a:pt x="571" y="166"/>
                  </a:lnTo>
                  <a:lnTo>
                    <a:pt x="554" y="144"/>
                  </a:lnTo>
                  <a:lnTo>
                    <a:pt x="535" y="123"/>
                  </a:lnTo>
                  <a:lnTo>
                    <a:pt x="515" y="104"/>
                  </a:lnTo>
                  <a:lnTo>
                    <a:pt x="492" y="88"/>
                  </a:lnTo>
                  <a:lnTo>
                    <a:pt x="468" y="73"/>
                  </a:lnTo>
                  <a:lnTo>
                    <a:pt x="442" y="61"/>
                  </a:lnTo>
                  <a:lnTo>
                    <a:pt x="415" y="50"/>
                  </a:lnTo>
                  <a:lnTo>
                    <a:pt x="389" y="43"/>
                  </a:lnTo>
                  <a:lnTo>
                    <a:pt x="359" y="39"/>
                  </a:lnTo>
                  <a:lnTo>
                    <a:pt x="330" y="38"/>
                  </a:lnTo>
                  <a:lnTo>
                    <a:pt x="33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sp>
          <p:nvSpPr>
            <p:cNvPr id="5" name="Freeform 269">
              <a:extLst>
                <a:ext uri="{FF2B5EF4-FFF2-40B4-BE49-F238E27FC236}">
                  <a16:creationId xmlns:a16="http://schemas.microsoft.com/office/drawing/2014/main" id="{F7CFBDE5-1577-4ABB-A748-279829A39FF2}"/>
                </a:ext>
              </a:extLst>
            </p:cNvPr>
            <p:cNvSpPr>
              <a:spLocks/>
            </p:cNvSpPr>
            <p:nvPr/>
          </p:nvSpPr>
          <p:spPr bwMode="auto">
            <a:xfrm>
              <a:off x="3411538" y="4537075"/>
              <a:ext cx="85725" cy="39688"/>
            </a:xfrm>
            <a:custGeom>
              <a:avLst/>
              <a:gdLst>
                <a:gd name="T0" fmla="*/ 54 w 107"/>
                <a:gd name="T1" fmla="*/ 50 h 50"/>
                <a:gd name="T2" fmla="*/ 54 w 107"/>
                <a:gd name="T3" fmla="*/ 50 h 50"/>
                <a:gd name="T4" fmla="*/ 64 w 107"/>
                <a:gd name="T5" fmla="*/ 48 h 50"/>
                <a:gd name="T6" fmla="*/ 74 w 107"/>
                <a:gd name="T7" fmla="*/ 46 h 50"/>
                <a:gd name="T8" fmla="*/ 82 w 107"/>
                <a:gd name="T9" fmla="*/ 40 h 50"/>
                <a:gd name="T10" fmla="*/ 90 w 107"/>
                <a:gd name="T11" fmla="*/ 35 h 50"/>
                <a:gd name="T12" fmla="*/ 97 w 107"/>
                <a:gd name="T13" fmla="*/ 28 h 50"/>
                <a:gd name="T14" fmla="*/ 102 w 107"/>
                <a:gd name="T15" fmla="*/ 20 h 50"/>
                <a:gd name="T16" fmla="*/ 106 w 107"/>
                <a:gd name="T17" fmla="*/ 11 h 50"/>
                <a:gd name="T18" fmla="*/ 107 w 107"/>
                <a:gd name="T19" fmla="*/ 0 h 50"/>
                <a:gd name="T20" fmla="*/ 0 w 107"/>
                <a:gd name="T21" fmla="*/ 0 h 50"/>
                <a:gd name="T22" fmla="*/ 0 w 107"/>
                <a:gd name="T23" fmla="*/ 0 h 50"/>
                <a:gd name="T24" fmla="*/ 1 w 107"/>
                <a:gd name="T25" fmla="*/ 11 h 50"/>
                <a:gd name="T26" fmla="*/ 5 w 107"/>
                <a:gd name="T27" fmla="*/ 20 h 50"/>
                <a:gd name="T28" fmla="*/ 11 w 107"/>
                <a:gd name="T29" fmla="*/ 28 h 50"/>
                <a:gd name="T30" fmla="*/ 17 w 107"/>
                <a:gd name="T31" fmla="*/ 35 h 50"/>
                <a:gd name="T32" fmla="*/ 25 w 107"/>
                <a:gd name="T33" fmla="*/ 40 h 50"/>
                <a:gd name="T34" fmla="*/ 33 w 107"/>
                <a:gd name="T35" fmla="*/ 46 h 50"/>
                <a:gd name="T36" fmla="*/ 43 w 107"/>
                <a:gd name="T37" fmla="*/ 48 h 50"/>
                <a:gd name="T38" fmla="*/ 54 w 107"/>
                <a:gd name="T39" fmla="*/ 50 h 50"/>
                <a:gd name="T40" fmla="*/ 54 w 107"/>
                <a:gd name="T41"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50">
                  <a:moveTo>
                    <a:pt x="54" y="50"/>
                  </a:moveTo>
                  <a:lnTo>
                    <a:pt x="54" y="50"/>
                  </a:lnTo>
                  <a:lnTo>
                    <a:pt x="64" y="48"/>
                  </a:lnTo>
                  <a:lnTo>
                    <a:pt x="74" y="46"/>
                  </a:lnTo>
                  <a:lnTo>
                    <a:pt x="82" y="40"/>
                  </a:lnTo>
                  <a:lnTo>
                    <a:pt x="90" y="35"/>
                  </a:lnTo>
                  <a:lnTo>
                    <a:pt x="97" y="28"/>
                  </a:lnTo>
                  <a:lnTo>
                    <a:pt x="102" y="20"/>
                  </a:lnTo>
                  <a:lnTo>
                    <a:pt x="106" y="11"/>
                  </a:lnTo>
                  <a:lnTo>
                    <a:pt x="107" y="0"/>
                  </a:lnTo>
                  <a:lnTo>
                    <a:pt x="0" y="0"/>
                  </a:lnTo>
                  <a:lnTo>
                    <a:pt x="0" y="0"/>
                  </a:lnTo>
                  <a:lnTo>
                    <a:pt x="1" y="11"/>
                  </a:lnTo>
                  <a:lnTo>
                    <a:pt x="5" y="20"/>
                  </a:lnTo>
                  <a:lnTo>
                    <a:pt x="11" y="28"/>
                  </a:lnTo>
                  <a:lnTo>
                    <a:pt x="17" y="35"/>
                  </a:lnTo>
                  <a:lnTo>
                    <a:pt x="25" y="40"/>
                  </a:lnTo>
                  <a:lnTo>
                    <a:pt x="33" y="46"/>
                  </a:lnTo>
                  <a:lnTo>
                    <a:pt x="43" y="48"/>
                  </a:lnTo>
                  <a:lnTo>
                    <a:pt x="54" y="50"/>
                  </a:lnTo>
                  <a:lnTo>
                    <a:pt x="54"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sp>
          <p:nvSpPr>
            <p:cNvPr id="6" name="Freeform 270">
              <a:extLst>
                <a:ext uri="{FF2B5EF4-FFF2-40B4-BE49-F238E27FC236}">
                  <a16:creationId xmlns:a16="http://schemas.microsoft.com/office/drawing/2014/main" id="{475816FB-FDAD-4E44-86C9-FAFA9341D8D3}"/>
                </a:ext>
              </a:extLst>
            </p:cNvPr>
            <p:cNvSpPr>
              <a:spLocks/>
            </p:cNvSpPr>
            <p:nvPr/>
          </p:nvSpPr>
          <p:spPr bwMode="auto">
            <a:xfrm>
              <a:off x="3359151" y="4314825"/>
              <a:ext cx="190500" cy="209550"/>
            </a:xfrm>
            <a:custGeom>
              <a:avLst/>
              <a:gdLst>
                <a:gd name="T0" fmla="*/ 106 w 239"/>
                <a:gd name="T1" fmla="*/ 0 h 265"/>
                <a:gd name="T2" fmla="*/ 86 w 239"/>
                <a:gd name="T3" fmla="*/ 4 h 265"/>
                <a:gd name="T4" fmla="*/ 52 w 239"/>
                <a:gd name="T5" fmla="*/ 20 h 265"/>
                <a:gd name="T6" fmla="*/ 24 w 239"/>
                <a:gd name="T7" fmla="*/ 47 h 265"/>
                <a:gd name="T8" fmla="*/ 7 w 239"/>
                <a:gd name="T9" fmla="*/ 81 h 265"/>
                <a:gd name="T10" fmla="*/ 1 w 239"/>
                <a:gd name="T11" fmla="*/ 100 h 265"/>
                <a:gd name="T12" fmla="*/ 0 w 239"/>
                <a:gd name="T13" fmla="*/ 110 h 265"/>
                <a:gd name="T14" fmla="*/ 1 w 239"/>
                <a:gd name="T15" fmla="*/ 139 h 265"/>
                <a:gd name="T16" fmla="*/ 13 w 239"/>
                <a:gd name="T17" fmla="*/ 175 h 265"/>
                <a:gd name="T18" fmla="*/ 36 w 239"/>
                <a:gd name="T19" fmla="*/ 203 h 265"/>
                <a:gd name="T20" fmla="*/ 66 w 239"/>
                <a:gd name="T21" fmla="*/ 225 h 265"/>
                <a:gd name="T22" fmla="*/ 114 w 239"/>
                <a:gd name="T23" fmla="*/ 265 h 265"/>
                <a:gd name="T24" fmla="*/ 114 w 239"/>
                <a:gd name="T25" fmla="*/ 151 h 265"/>
                <a:gd name="T26" fmla="*/ 90 w 239"/>
                <a:gd name="T27" fmla="*/ 145 h 265"/>
                <a:gd name="T28" fmla="*/ 71 w 239"/>
                <a:gd name="T29" fmla="*/ 131 h 265"/>
                <a:gd name="T30" fmla="*/ 59 w 239"/>
                <a:gd name="T31" fmla="*/ 110 h 265"/>
                <a:gd name="T32" fmla="*/ 55 w 239"/>
                <a:gd name="T33" fmla="*/ 86 h 265"/>
                <a:gd name="T34" fmla="*/ 55 w 239"/>
                <a:gd name="T35" fmla="*/ 75 h 265"/>
                <a:gd name="T36" fmla="*/ 74 w 239"/>
                <a:gd name="T37" fmla="*/ 78 h 265"/>
                <a:gd name="T38" fmla="*/ 90 w 239"/>
                <a:gd name="T39" fmla="*/ 86 h 265"/>
                <a:gd name="T40" fmla="*/ 105 w 239"/>
                <a:gd name="T41" fmla="*/ 98 h 265"/>
                <a:gd name="T42" fmla="*/ 114 w 239"/>
                <a:gd name="T43" fmla="*/ 114 h 265"/>
                <a:gd name="T44" fmla="*/ 114 w 239"/>
                <a:gd name="T45" fmla="*/ 54 h 265"/>
                <a:gd name="T46" fmla="*/ 115 w 239"/>
                <a:gd name="T47" fmla="*/ 50 h 265"/>
                <a:gd name="T48" fmla="*/ 120 w 239"/>
                <a:gd name="T49" fmla="*/ 49 h 265"/>
                <a:gd name="T50" fmla="*/ 121 w 239"/>
                <a:gd name="T51" fmla="*/ 49 h 265"/>
                <a:gd name="T52" fmla="*/ 125 w 239"/>
                <a:gd name="T53" fmla="*/ 51 h 265"/>
                <a:gd name="T54" fmla="*/ 125 w 239"/>
                <a:gd name="T55" fmla="*/ 157 h 265"/>
                <a:gd name="T56" fmla="*/ 129 w 239"/>
                <a:gd name="T57" fmla="*/ 149 h 265"/>
                <a:gd name="T58" fmla="*/ 141 w 239"/>
                <a:gd name="T59" fmla="*/ 136 h 265"/>
                <a:gd name="T60" fmla="*/ 157 w 239"/>
                <a:gd name="T61" fmla="*/ 125 h 265"/>
                <a:gd name="T62" fmla="*/ 175 w 239"/>
                <a:gd name="T63" fmla="*/ 120 h 265"/>
                <a:gd name="T64" fmla="*/ 184 w 239"/>
                <a:gd name="T65" fmla="*/ 129 h 265"/>
                <a:gd name="T66" fmla="*/ 183 w 239"/>
                <a:gd name="T67" fmla="*/ 143 h 265"/>
                <a:gd name="T68" fmla="*/ 175 w 239"/>
                <a:gd name="T69" fmla="*/ 164 h 265"/>
                <a:gd name="T70" fmla="*/ 158 w 239"/>
                <a:gd name="T71" fmla="*/ 182 h 265"/>
                <a:gd name="T72" fmla="*/ 137 w 239"/>
                <a:gd name="T73" fmla="*/ 192 h 265"/>
                <a:gd name="T74" fmla="*/ 125 w 239"/>
                <a:gd name="T75" fmla="*/ 265 h 265"/>
                <a:gd name="T76" fmla="*/ 173 w 239"/>
                <a:gd name="T77" fmla="*/ 225 h 265"/>
                <a:gd name="T78" fmla="*/ 188 w 239"/>
                <a:gd name="T79" fmla="*/ 217 h 265"/>
                <a:gd name="T80" fmla="*/ 211 w 239"/>
                <a:gd name="T81" fmla="*/ 195 h 265"/>
                <a:gd name="T82" fmla="*/ 228 w 239"/>
                <a:gd name="T83" fmla="*/ 168 h 265"/>
                <a:gd name="T84" fmla="*/ 238 w 239"/>
                <a:gd name="T85" fmla="*/ 136 h 265"/>
                <a:gd name="T86" fmla="*/ 239 w 239"/>
                <a:gd name="T87" fmla="*/ 118 h 265"/>
                <a:gd name="T88" fmla="*/ 236 w 239"/>
                <a:gd name="T89" fmla="*/ 93 h 265"/>
                <a:gd name="T90" fmla="*/ 228 w 239"/>
                <a:gd name="T91" fmla="*/ 70 h 265"/>
                <a:gd name="T92" fmla="*/ 215 w 239"/>
                <a:gd name="T93" fmla="*/ 49 h 265"/>
                <a:gd name="T94" fmla="*/ 199 w 239"/>
                <a:gd name="T95" fmla="*/ 30 h 265"/>
                <a:gd name="T96" fmla="*/ 180 w 239"/>
                <a:gd name="T97" fmla="*/ 16 h 265"/>
                <a:gd name="T98" fmla="*/ 157 w 239"/>
                <a:gd name="T99" fmla="*/ 6 h 265"/>
                <a:gd name="T100" fmla="*/ 132 w 239"/>
                <a:gd name="T101" fmla="*/ 0 h 265"/>
                <a:gd name="T102" fmla="*/ 106 w 239"/>
                <a:gd name="T103" fmla="*/ 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9" h="265">
                  <a:moveTo>
                    <a:pt x="106" y="0"/>
                  </a:moveTo>
                  <a:lnTo>
                    <a:pt x="106" y="0"/>
                  </a:lnTo>
                  <a:lnTo>
                    <a:pt x="95" y="2"/>
                  </a:lnTo>
                  <a:lnTo>
                    <a:pt x="86" y="4"/>
                  </a:lnTo>
                  <a:lnTo>
                    <a:pt x="68" y="11"/>
                  </a:lnTo>
                  <a:lnTo>
                    <a:pt x="52" y="20"/>
                  </a:lnTo>
                  <a:lnTo>
                    <a:pt x="38" y="32"/>
                  </a:lnTo>
                  <a:lnTo>
                    <a:pt x="24" y="47"/>
                  </a:lnTo>
                  <a:lnTo>
                    <a:pt x="13" y="63"/>
                  </a:lnTo>
                  <a:lnTo>
                    <a:pt x="7" y="81"/>
                  </a:lnTo>
                  <a:lnTo>
                    <a:pt x="4" y="90"/>
                  </a:lnTo>
                  <a:lnTo>
                    <a:pt x="1" y="100"/>
                  </a:lnTo>
                  <a:lnTo>
                    <a:pt x="1" y="100"/>
                  </a:lnTo>
                  <a:lnTo>
                    <a:pt x="0" y="110"/>
                  </a:lnTo>
                  <a:lnTo>
                    <a:pt x="0" y="120"/>
                  </a:lnTo>
                  <a:lnTo>
                    <a:pt x="1" y="139"/>
                  </a:lnTo>
                  <a:lnTo>
                    <a:pt x="7" y="157"/>
                  </a:lnTo>
                  <a:lnTo>
                    <a:pt x="13" y="175"/>
                  </a:lnTo>
                  <a:lnTo>
                    <a:pt x="24" y="190"/>
                  </a:lnTo>
                  <a:lnTo>
                    <a:pt x="36" y="203"/>
                  </a:lnTo>
                  <a:lnTo>
                    <a:pt x="50" y="215"/>
                  </a:lnTo>
                  <a:lnTo>
                    <a:pt x="66" y="225"/>
                  </a:lnTo>
                  <a:lnTo>
                    <a:pt x="66" y="265"/>
                  </a:lnTo>
                  <a:lnTo>
                    <a:pt x="114" y="265"/>
                  </a:lnTo>
                  <a:lnTo>
                    <a:pt x="114" y="151"/>
                  </a:lnTo>
                  <a:lnTo>
                    <a:pt x="114" y="151"/>
                  </a:lnTo>
                  <a:lnTo>
                    <a:pt x="102" y="149"/>
                  </a:lnTo>
                  <a:lnTo>
                    <a:pt x="90" y="145"/>
                  </a:lnTo>
                  <a:lnTo>
                    <a:pt x="81" y="139"/>
                  </a:lnTo>
                  <a:lnTo>
                    <a:pt x="71" y="131"/>
                  </a:lnTo>
                  <a:lnTo>
                    <a:pt x="64" y="121"/>
                  </a:lnTo>
                  <a:lnTo>
                    <a:pt x="59" y="110"/>
                  </a:lnTo>
                  <a:lnTo>
                    <a:pt x="55" y="98"/>
                  </a:lnTo>
                  <a:lnTo>
                    <a:pt x="55" y="86"/>
                  </a:lnTo>
                  <a:lnTo>
                    <a:pt x="55" y="75"/>
                  </a:lnTo>
                  <a:lnTo>
                    <a:pt x="55" y="75"/>
                  </a:lnTo>
                  <a:lnTo>
                    <a:pt x="64" y="77"/>
                  </a:lnTo>
                  <a:lnTo>
                    <a:pt x="74" y="78"/>
                  </a:lnTo>
                  <a:lnTo>
                    <a:pt x="82" y="82"/>
                  </a:lnTo>
                  <a:lnTo>
                    <a:pt x="90" y="86"/>
                  </a:lnTo>
                  <a:lnTo>
                    <a:pt x="98" y="92"/>
                  </a:lnTo>
                  <a:lnTo>
                    <a:pt x="105" y="98"/>
                  </a:lnTo>
                  <a:lnTo>
                    <a:pt x="110" y="106"/>
                  </a:lnTo>
                  <a:lnTo>
                    <a:pt x="114" y="114"/>
                  </a:lnTo>
                  <a:lnTo>
                    <a:pt x="114" y="54"/>
                  </a:lnTo>
                  <a:lnTo>
                    <a:pt x="114" y="54"/>
                  </a:lnTo>
                  <a:lnTo>
                    <a:pt x="114" y="51"/>
                  </a:lnTo>
                  <a:lnTo>
                    <a:pt x="115" y="50"/>
                  </a:lnTo>
                  <a:lnTo>
                    <a:pt x="117" y="49"/>
                  </a:lnTo>
                  <a:lnTo>
                    <a:pt x="120" y="49"/>
                  </a:lnTo>
                  <a:lnTo>
                    <a:pt x="120" y="49"/>
                  </a:lnTo>
                  <a:lnTo>
                    <a:pt x="121" y="49"/>
                  </a:lnTo>
                  <a:lnTo>
                    <a:pt x="124" y="50"/>
                  </a:lnTo>
                  <a:lnTo>
                    <a:pt x="125" y="51"/>
                  </a:lnTo>
                  <a:lnTo>
                    <a:pt x="125" y="54"/>
                  </a:lnTo>
                  <a:lnTo>
                    <a:pt x="125" y="157"/>
                  </a:lnTo>
                  <a:lnTo>
                    <a:pt x="125" y="157"/>
                  </a:lnTo>
                  <a:lnTo>
                    <a:pt x="129" y="149"/>
                  </a:lnTo>
                  <a:lnTo>
                    <a:pt x="134" y="143"/>
                  </a:lnTo>
                  <a:lnTo>
                    <a:pt x="141" y="136"/>
                  </a:lnTo>
                  <a:lnTo>
                    <a:pt x="148" y="129"/>
                  </a:lnTo>
                  <a:lnTo>
                    <a:pt x="157" y="125"/>
                  </a:lnTo>
                  <a:lnTo>
                    <a:pt x="165" y="121"/>
                  </a:lnTo>
                  <a:lnTo>
                    <a:pt x="175" y="120"/>
                  </a:lnTo>
                  <a:lnTo>
                    <a:pt x="184" y="118"/>
                  </a:lnTo>
                  <a:lnTo>
                    <a:pt x="184" y="129"/>
                  </a:lnTo>
                  <a:lnTo>
                    <a:pt x="184" y="129"/>
                  </a:lnTo>
                  <a:lnTo>
                    <a:pt x="183" y="143"/>
                  </a:lnTo>
                  <a:lnTo>
                    <a:pt x="180" y="153"/>
                  </a:lnTo>
                  <a:lnTo>
                    <a:pt x="175" y="164"/>
                  </a:lnTo>
                  <a:lnTo>
                    <a:pt x="167" y="174"/>
                  </a:lnTo>
                  <a:lnTo>
                    <a:pt x="158" y="182"/>
                  </a:lnTo>
                  <a:lnTo>
                    <a:pt x="148" y="188"/>
                  </a:lnTo>
                  <a:lnTo>
                    <a:pt x="137" y="192"/>
                  </a:lnTo>
                  <a:lnTo>
                    <a:pt x="125" y="195"/>
                  </a:lnTo>
                  <a:lnTo>
                    <a:pt x="125" y="265"/>
                  </a:lnTo>
                  <a:lnTo>
                    <a:pt x="173" y="265"/>
                  </a:lnTo>
                  <a:lnTo>
                    <a:pt x="173" y="225"/>
                  </a:lnTo>
                  <a:lnTo>
                    <a:pt x="173" y="225"/>
                  </a:lnTo>
                  <a:lnTo>
                    <a:pt x="188" y="217"/>
                  </a:lnTo>
                  <a:lnTo>
                    <a:pt x="200" y="207"/>
                  </a:lnTo>
                  <a:lnTo>
                    <a:pt x="211" y="195"/>
                  </a:lnTo>
                  <a:lnTo>
                    <a:pt x="220" y="182"/>
                  </a:lnTo>
                  <a:lnTo>
                    <a:pt x="228" y="168"/>
                  </a:lnTo>
                  <a:lnTo>
                    <a:pt x="234" y="152"/>
                  </a:lnTo>
                  <a:lnTo>
                    <a:pt x="238" y="136"/>
                  </a:lnTo>
                  <a:lnTo>
                    <a:pt x="239" y="118"/>
                  </a:lnTo>
                  <a:lnTo>
                    <a:pt x="239" y="118"/>
                  </a:lnTo>
                  <a:lnTo>
                    <a:pt x="238" y="106"/>
                  </a:lnTo>
                  <a:lnTo>
                    <a:pt x="236" y="93"/>
                  </a:lnTo>
                  <a:lnTo>
                    <a:pt x="232" y="81"/>
                  </a:lnTo>
                  <a:lnTo>
                    <a:pt x="228" y="70"/>
                  </a:lnTo>
                  <a:lnTo>
                    <a:pt x="222" y="59"/>
                  </a:lnTo>
                  <a:lnTo>
                    <a:pt x="215" y="49"/>
                  </a:lnTo>
                  <a:lnTo>
                    <a:pt x="208" y="39"/>
                  </a:lnTo>
                  <a:lnTo>
                    <a:pt x="199" y="30"/>
                  </a:lnTo>
                  <a:lnTo>
                    <a:pt x="189" y="23"/>
                  </a:lnTo>
                  <a:lnTo>
                    <a:pt x="180" y="16"/>
                  </a:lnTo>
                  <a:lnTo>
                    <a:pt x="168" y="10"/>
                  </a:lnTo>
                  <a:lnTo>
                    <a:pt x="157" y="6"/>
                  </a:lnTo>
                  <a:lnTo>
                    <a:pt x="145" y="3"/>
                  </a:lnTo>
                  <a:lnTo>
                    <a:pt x="132" y="0"/>
                  </a:lnTo>
                  <a:lnTo>
                    <a:pt x="120" y="0"/>
                  </a:lnTo>
                  <a:lnTo>
                    <a:pt x="106" y="0"/>
                  </a:lnTo>
                  <a:lnTo>
                    <a:pt x="10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ssistant" pitchFamily="2" charset="-79"/>
                <a:ea typeface="+mn-ea"/>
                <a:cs typeface="Assistant" pitchFamily="2" charset="-79"/>
              </a:endParaRPr>
            </a:p>
          </p:txBody>
        </p:sp>
      </p:grpSp>
    </p:spTree>
    <p:extLst>
      <p:ext uri="{BB962C8B-B14F-4D97-AF65-F5344CB8AC3E}">
        <p14:creationId xmlns:p14="http://schemas.microsoft.com/office/powerpoint/2010/main" val="2620348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ctr" defTabSz="914400" eaLnBrk="1" fontAlgn="auto" latinLnBrk="0" hangingPunct="1">
              <a:lnSpc>
                <a:spcPct val="100000"/>
              </a:lnSpc>
              <a:spcBef>
                <a:spcPts val="0"/>
              </a:spcBef>
              <a:spcAft>
                <a:spcPts val="0"/>
              </a:spcAft>
              <a:buClrTx/>
              <a:buSzTx/>
              <a:buFontTx/>
              <a:buNone/>
              <a:tabLst/>
              <a:defRPr/>
            </a:pPr>
            <a:br>
              <a:rPr kumimoji="0" lang="he-IL" sz="5400" b="1" i="0" u="sng"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b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1A295D"/>
                </a:solidFill>
                <a:effectLst/>
                <a:uLnTx/>
                <a:uFillTx/>
                <a:latin typeface="Open Sans" panose="020B0606030504020204" pitchFamily="34" charset="0"/>
                <a:ea typeface="+mn-ea"/>
                <a:cs typeface="Calibri"/>
              </a:rPr>
              <a:t>                                                                                       </a:t>
            </a:r>
            <a:endParaRPr kumimoji="0" lang="he-IL" sz="40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32575" y="6325891"/>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66473" y="6320543"/>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502443"/>
            <a:ext cx="12052699" cy="1723549"/>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a:spcAft>
                <a:spcPts val="1200"/>
              </a:spcAft>
              <a:defRPr/>
            </a:pPr>
            <a:r>
              <a:rPr kumimoji="0" lang="he-IL" sz="48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רפורמת סל תפקוד אישי</a:t>
            </a:r>
            <a:r>
              <a:rPr lang="he-IL" sz="480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 </a:t>
            </a:r>
            <a:r>
              <a:rPr lang="en-US" sz="480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latin typeface="Assistant ExtraBold" pitchFamily="2" charset="-79"/>
                <a:cs typeface="Assistant ExtraBold" pitchFamily="2" charset="-79"/>
              </a:rPr>
              <a:t>AI</a:t>
            </a:r>
            <a:endPar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endParaRPr>
          </a:p>
          <a:p>
            <a:pPr marL="0" marR="0" lvl="0" indent="0" algn="r" defTabSz="914400" rtl="1" eaLnBrk="1" fontAlgn="auto" latinLnBrk="0" hangingPunct="1">
              <a:lnSpc>
                <a:spcPct val="100000"/>
              </a:lnSpc>
              <a:spcBef>
                <a:spcPts val="0"/>
              </a:spcBef>
              <a:spcAft>
                <a:spcPts val="1200"/>
              </a:spcAft>
              <a:buClrTx/>
              <a:buSzTx/>
              <a:buFontTx/>
              <a:buNone/>
              <a:tabLst/>
              <a:defRPr/>
            </a:pP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מהלך </a:t>
            </a:r>
            <a:r>
              <a:rPr kumimoji="0" lang="he-IL" sz="4800" b="0" i="0" u="none" strike="noStrike" kern="1200" cap="none" spc="0" normalizeH="0" baseline="0" noProof="0" dirty="0" err="1">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הדיגיטל</a:t>
            </a:r>
            <a:r>
              <a:rPr kumimoji="0" lang="he-IL" sz="4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          </a:t>
            </a:r>
            <a:endPar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853026" y="6227261"/>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3810968" y="6125988"/>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8759719" y="6137367"/>
            <a:ext cx="1190944" cy="652185"/>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69647" y="6360796"/>
            <a:ext cx="1441485"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ספטמבר 2024</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8" name="Picture 5" descr="Logo&#10;&#10;Description automatically generated">
            <a:extLst>
              <a:ext uri="{FF2B5EF4-FFF2-40B4-BE49-F238E27FC236}">
                <a16:creationId xmlns:a16="http://schemas.microsoft.com/office/drawing/2014/main" id="{B3A6107C-FA07-C282-A299-502C6E7D5C22}"/>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543471" y="6181956"/>
            <a:ext cx="914227" cy="607596"/>
          </a:xfrm>
          <a:prstGeom prst="rect">
            <a:avLst/>
          </a:prstGeom>
        </p:spPr>
      </p:pic>
    </p:spTree>
    <p:extLst>
      <p:ext uri="{BB962C8B-B14F-4D97-AF65-F5344CB8AC3E}">
        <p14:creationId xmlns:p14="http://schemas.microsoft.com/office/powerpoint/2010/main" val="198068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3806" y="6281233"/>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85275" y="625772"/>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סל מותאם אישית</a:t>
            </a: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69720" y="2966542"/>
            <a:ext cx="899371" cy="945221"/>
          </a:xfrm>
          <a:prstGeom prst="rect">
            <a:avLst/>
          </a:prstGeom>
        </p:spPr>
      </p:pic>
      <p:pic>
        <p:nvPicPr>
          <p:cNvPr id="2" name="Picture 26">
            <a:extLst>
              <a:ext uri="{FF2B5EF4-FFF2-40B4-BE49-F238E27FC236}">
                <a16:creationId xmlns:a16="http://schemas.microsoft.com/office/drawing/2014/main" id="{2A234E56-D452-572C-2656-F1C61F287E0D}"/>
              </a:ext>
            </a:extLst>
          </p:cNvPr>
          <p:cNvPicPr>
            <a:picLocks noChangeAspect="1"/>
          </p:cNvPicPr>
          <p:nvPr/>
        </p:nvPicPr>
        <p:blipFill>
          <a:blip r:embed="rId5"/>
          <a:stretch>
            <a:fillRect/>
          </a:stretch>
        </p:blipFill>
        <p:spPr>
          <a:xfrm>
            <a:off x="371548" y="6181722"/>
            <a:ext cx="1118350" cy="612431"/>
          </a:xfrm>
          <a:prstGeom prst="rect">
            <a:avLst/>
          </a:prstGeom>
          <a:ln>
            <a:noFill/>
          </a:ln>
        </p:spPr>
      </p:pic>
    </p:spTree>
    <p:extLst>
      <p:ext uri="{BB962C8B-B14F-4D97-AF65-F5344CB8AC3E}">
        <p14:creationId xmlns:p14="http://schemas.microsoft.com/office/powerpoint/2010/main" val="2243344793"/>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6349013" y="288622"/>
            <a:ext cx="4863832" cy="83099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9" name="מלבן 8">
            <a:extLst>
              <a:ext uri="{FF2B5EF4-FFF2-40B4-BE49-F238E27FC236}">
                <a16:creationId xmlns:a16="http://schemas.microsoft.com/office/drawing/2014/main" id="{A8CE5D3D-FDC9-1018-E77F-AC02E60B8C82}"/>
              </a:ext>
            </a:extLst>
          </p:cNvPr>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0" name="TextBox 10">
            <a:extLst>
              <a:ext uri="{FF2B5EF4-FFF2-40B4-BE49-F238E27FC236}">
                <a16:creationId xmlns:a16="http://schemas.microsoft.com/office/drawing/2014/main" id="{B03FC295-30D6-10D0-072F-E2AA6379B3D3}"/>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Tree>
    <p:extLst>
      <p:ext uri="{BB962C8B-B14F-4D97-AF65-F5344CB8AC3E}">
        <p14:creationId xmlns:p14="http://schemas.microsoft.com/office/powerpoint/2010/main" val="2276989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AI</a:t>
            </a:r>
            <a:endPar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252834" y="343246"/>
            <a:ext cx="2358692"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
        <p:nvSpPr>
          <p:cNvPr id="7" name="מלבן 6">
            <a:extLst>
              <a:ext uri="{FF2B5EF4-FFF2-40B4-BE49-F238E27FC236}">
                <a16:creationId xmlns:a16="http://schemas.microsoft.com/office/drawing/2014/main" id="{AB5F0C56-2192-119A-B9DE-530D755B2EA5}"/>
              </a:ext>
            </a:extLst>
          </p:cNvPr>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8" name="TextBox 10">
            <a:extLst>
              <a:ext uri="{FF2B5EF4-FFF2-40B4-BE49-F238E27FC236}">
                <a16:creationId xmlns:a16="http://schemas.microsoft.com/office/drawing/2014/main" id="{480E6512-E008-81B8-0E05-1B0B217BA2E8}"/>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Tree>
    <p:extLst>
      <p:ext uri="{BB962C8B-B14F-4D97-AF65-F5344CB8AC3E}">
        <p14:creationId xmlns:p14="http://schemas.microsoft.com/office/powerpoint/2010/main" val="1632922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10360EE5-8DC6-4301-B9E8-37FCF90E9F20}"/>
              </a:ext>
            </a:extLst>
          </p:cNvPr>
          <p:cNvSpPr txBox="1"/>
          <p:nvPr/>
        </p:nvSpPr>
        <p:spPr>
          <a:xfrm>
            <a:off x="425618" y="228432"/>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 (</a:t>
            </a:r>
            <a: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a:t>
            </a: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3168472" y="267714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3168472" y="3036888"/>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3168472" y="3439804"/>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955161" y="296974"/>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5" name="מלבן 4">
            <a:extLst>
              <a:ext uri="{FF2B5EF4-FFF2-40B4-BE49-F238E27FC236}">
                <a16:creationId xmlns:a16="http://schemas.microsoft.com/office/drawing/2014/main" id="{0A4EED2D-BF5F-6386-F28E-CCD2CF712691}"/>
              </a:ext>
            </a:extLst>
          </p:cNvPr>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TextBox 10">
            <a:extLst>
              <a:ext uri="{FF2B5EF4-FFF2-40B4-BE49-F238E27FC236}">
                <a16:creationId xmlns:a16="http://schemas.microsoft.com/office/drawing/2014/main" id="{9CBB1340-D6E1-C867-8024-E50C5F69FC9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graphicFrame>
        <p:nvGraphicFramePr>
          <p:cNvPr id="9" name="טבלה 8">
            <a:extLst>
              <a:ext uri="{FF2B5EF4-FFF2-40B4-BE49-F238E27FC236}">
                <a16:creationId xmlns:a16="http://schemas.microsoft.com/office/drawing/2014/main" id="{1287A630-2018-D8E2-FE62-87F854CEBED7}"/>
              </a:ext>
            </a:extLst>
          </p:cNvPr>
          <p:cNvGraphicFramePr>
            <a:graphicFrameLocks noGrp="1"/>
          </p:cNvGraphicFramePr>
          <p:nvPr>
            <p:extLst>
              <p:ext uri="{D42A27DB-BD31-4B8C-83A1-F6EECF244321}">
                <p14:modId xmlns:p14="http://schemas.microsoft.com/office/powerpoint/2010/main" val="197118801"/>
              </p:ext>
            </p:extLst>
          </p:nvPr>
        </p:nvGraphicFramePr>
        <p:xfrm>
          <a:off x="-4415968" y="7212052"/>
          <a:ext cx="4315327" cy="1870075"/>
        </p:xfrm>
        <a:graphic>
          <a:graphicData uri="http://schemas.openxmlformats.org/drawingml/2006/table">
            <a:tbl>
              <a:tblPr firstRow="1" firstCol="1" bandRow="1">
                <a:tableStyleId>{72833802-FEF1-4C79-8D5D-14CF1EAF98D9}</a:tableStyleId>
              </a:tblPr>
              <a:tblGrid>
                <a:gridCol w="2081463">
                  <a:extLst>
                    <a:ext uri="{9D8B030D-6E8A-4147-A177-3AD203B41FA5}">
                      <a16:colId xmlns:a16="http://schemas.microsoft.com/office/drawing/2014/main" val="2671734242"/>
                    </a:ext>
                  </a:extLst>
                </a:gridCol>
                <a:gridCol w="2233864">
                  <a:extLst>
                    <a:ext uri="{9D8B030D-6E8A-4147-A177-3AD203B41FA5}">
                      <a16:colId xmlns:a16="http://schemas.microsoft.com/office/drawing/2014/main" val="837711101"/>
                    </a:ext>
                  </a:extLst>
                </a:gridCol>
              </a:tblGrid>
              <a:tr h="164802">
                <a:tc>
                  <a:txBody>
                    <a:bodyPr/>
                    <a:lstStyle/>
                    <a:p>
                      <a:pPr algn="r" rtl="1">
                        <a:lnSpc>
                          <a:spcPct val="107000"/>
                        </a:lnSpc>
                        <a:spcAft>
                          <a:spcPts val="800"/>
                        </a:spcAft>
                      </a:pPr>
                      <a:r>
                        <a:rPr lang="he-IL" sz="2400" dirty="0">
                          <a:effectLst/>
                        </a:rPr>
                        <a:t>גישה נוכחית</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dirty="0">
                          <a:effectLst/>
                        </a:rPr>
                        <a:t>גישה חדשה</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73791818"/>
                  </a:ext>
                </a:extLst>
              </a:tr>
              <a:tr h="164802">
                <a:tc>
                  <a:txBody>
                    <a:bodyPr/>
                    <a:lstStyle/>
                    <a:p>
                      <a:pPr algn="r" rtl="1">
                        <a:lnSpc>
                          <a:spcPct val="107000"/>
                        </a:lnSpc>
                        <a:spcAft>
                          <a:spcPts val="800"/>
                        </a:spcAft>
                      </a:pPr>
                      <a:r>
                        <a:rPr lang="he-IL" sz="2400" b="0">
                          <a:effectLst/>
                        </a:rPr>
                        <a:t>מיקוד בטיפול</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a:effectLst/>
                        </a:rPr>
                        <a:t>דגש על מניעה</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24532159"/>
                  </a:ext>
                </a:extLst>
              </a:tr>
              <a:tr h="164802">
                <a:tc>
                  <a:txBody>
                    <a:bodyPr/>
                    <a:lstStyle/>
                    <a:p>
                      <a:pPr algn="r" rtl="1">
                        <a:lnSpc>
                          <a:spcPct val="107000"/>
                        </a:lnSpc>
                        <a:spcAft>
                          <a:spcPts val="800"/>
                        </a:spcAft>
                      </a:pPr>
                      <a:r>
                        <a:rPr lang="he-IL" sz="2400" b="0">
                          <a:effectLst/>
                        </a:rPr>
                        <a:t>סל קבוע</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a:effectLst/>
                        </a:rPr>
                        <a:t>סל דינמי ומותאם</a:t>
                      </a:r>
                      <a:endParaRPr lang="en-US" sz="2400" b="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63171363"/>
                  </a:ext>
                </a:extLst>
              </a:tr>
              <a:tr h="164802">
                <a:tc>
                  <a:txBody>
                    <a:bodyPr/>
                    <a:lstStyle/>
                    <a:p>
                      <a:pPr algn="r" rtl="1">
                        <a:lnSpc>
                          <a:spcPct val="107000"/>
                        </a:lnSpc>
                        <a:spcAft>
                          <a:spcPts val="800"/>
                        </a:spcAft>
                      </a:pPr>
                      <a:r>
                        <a:rPr lang="he-IL" sz="2400" b="0" dirty="0">
                          <a:effectLst/>
                        </a:rPr>
                        <a:t>מענה להידרדרות</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dirty="0">
                          <a:effectLst/>
                        </a:rPr>
                        <a:t>שימור תפקוד</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006274231"/>
                  </a:ext>
                </a:extLst>
              </a:tr>
              <a:tr h="164802">
                <a:tc>
                  <a:txBody>
                    <a:bodyPr/>
                    <a:lstStyle/>
                    <a:p>
                      <a:pPr algn="r" rtl="1">
                        <a:lnSpc>
                          <a:spcPct val="107000"/>
                        </a:lnSpc>
                        <a:spcAft>
                          <a:spcPts val="800"/>
                        </a:spcAft>
                      </a:pPr>
                      <a:r>
                        <a:rPr lang="he-IL" sz="2400" b="0" dirty="0">
                          <a:effectLst/>
                        </a:rPr>
                        <a:t>ניהול מרכזי</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800"/>
                        </a:spcAft>
                      </a:pPr>
                      <a:r>
                        <a:rPr lang="he-IL" sz="2400" b="0" dirty="0">
                          <a:effectLst/>
                        </a:rPr>
                        <a:t>העצמת המשתמש</a:t>
                      </a:r>
                      <a:endParaRPr lang="en-US" sz="2400" b="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189882114"/>
                  </a:ext>
                </a:extLst>
              </a:tr>
            </a:tbl>
          </a:graphicData>
        </a:graphic>
      </p:graphicFrame>
      <p:sp>
        <p:nvSpPr>
          <p:cNvPr id="10" name="Arrow: Right 63">
            <a:extLst>
              <a:ext uri="{FF2B5EF4-FFF2-40B4-BE49-F238E27FC236}">
                <a16:creationId xmlns:a16="http://schemas.microsoft.com/office/drawing/2014/main" id="{1B114301-8D15-3DE8-E5C7-2E9297F964FA}"/>
              </a:ext>
            </a:extLst>
          </p:cNvPr>
          <p:cNvSpPr/>
          <p:nvPr/>
        </p:nvSpPr>
        <p:spPr>
          <a:xfrm flipH="1">
            <a:off x="13168472" y="3764448"/>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graphicFrame>
        <p:nvGraphicFramePr>
          <p:cNvPr id="13" name="דיאגרמה 12">
            <a:extLst>
              <a:ext uri="{FF2B5EF4-FFF2-40B4-BE49-F238E27FC236}">
                <a16:creationId xmlns:a16="http://schemas.microsoft.com/office/drawing/2014/main" id="{0AC04ADD-3E9D-A388-4DB0-833D4DE2EFC4}"/>
              </a:ext>
            </a:extLst>
          </p:cNvPr>
          <p:cNvGraphicFramePr/>
          <p:nvPr>
            <p:extLst>
              <p:ext uri="{D42A27DB-BD31-4B8C-83A1-F6EECF244321}">
                <p14:modId xmlns:p14="http://schemas.microsoft.com/office/powerpoint/2010/main" val="1602161942"/>
              </p:ext>
            </p:extLst>
          </p:nvPr>
        </p:nvGraphicFramePr>
        <p:xfrm>
          <a:off x="2435234" y="1376699"/>
          <a:ext cx="7543638" cy="516047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 name="תיבת טקסט 15">
            <a:extLst>
              <a:ext uri="{FF2B5EF4-FFF2-40B4-BE49-F238E27FC236}">
                <a16:creationId xmlns:a16="http://schemas.microsoft.com/office/drawing/2014/main" id="{AE5168FF-85E3-9A19-9F4D-CC7B29BEA903}"/>
              </a:ext>
            </a:extLst>
          </p:cNvPr>
          <p:cNvSpPr txBox="1"/>
          <p:nvPr/>
        </p:nvSpPr>
        <p:spPr>
          <a:xfrm>
            <a:off x="5216703" y="4270263"/>
            <a:ext cx="1980698" cy="772712"/>
          </a:xfrm>
          <a:prstGeom prst="rect">
            <a:avLst/>
          </a:prstGeom>
          <a:noFill/>
        </p:spPr>
        <p:txBody>
          <a:bodyPr wrap="square">
            <a:spAutoFit/>
          </a:bodyPr>
          <a:lstStyle/>
          <a:p>
            <a:pPr algn="ctr" rtl="1">
              <a:spcAft>
                <a:spcPts val="800"/>
              </a:spcAft>
            </a:pPr>
            <a:r>
              <a:rPr lang="he-IL" sz="1800" b="1" dirty="0">
                <a:effectLst/>
                <a:latin typeface="Calibri" panose="020F0502020204030204" pitchFamily="34" charset="0"/>
                <a:ea typeface="Calibri" panose="020F0502020204030204" pitchFamily="34" charset="0"/>
                <a:cs typeface="Arial" panose="020B0604020202020204" pitchFamily="34" charset="0"/>
              </a:rPr>
              <a:t>מהפכת </a:t>
            </a:r>
            <a:r>
              <a:rPr lang="en-US" sz="1800" b="1" dirty="0">
                <a:effectLst/>
                <a:latin typeface="Calibri" panose="020F0502020204030204" pitchFamily="34" charset="0"/>
                <a:ea typeface="Calibri" panose="020F0502020204030204" pitchFamily="34" charset="0"/>
                <a:cs typeface="Arial" panose="020B0604020202020204" pitchFamily="34" charset="0"/>
              </a:rPr>
              <a:t> </a:t>
            </a:r>
            <a:r>
              <a:rPr lang="en-US" b="1" dirty="0">
                <a:latin typeface="Calibri" panose="020F0502020204030204" pitchFamily="34" charset="0"/>
                <a:ea typeface="Calibri" panose="020F0502020204030204" pitchFamily="34" charset="0"/>
                <a:cs typeface="Arial" panose="020B0604020202020204" pitchFamily="34" charset="0"/>
              </a:rPr>
              <a:t>AI</a:t>
            </a:r>
            <a:endParaRPr lang="he-IL" b="1" dirty="0">
              <a:latin typeface="Calibri" panose="020F0502020204030204" pitchFamily="34" charset="0"/>
              <a:ea typeface="Calibri" panose="020F0502020204030204" pitchFamily="34" charset="0"/>
              <a:cs typeface="Arial" panose="020B0604020202020204" pitchFamily="34" charset="0"/>
            </a:endParaRPr>
          </a:p>
          <a:p>
            <a:pPr algn="ctr" rtl="1">
              <a:spcAft>
                <a:spcPts val="800"/>
              </a:spcAft>
            </a:pPr>
            <a:r>
              <a:rPr lang="he-IL" b="1" dirty="0">
                <a:latin typeface="Calibri" panose="020F0502020204030204" pitchFamily="34" charset="0"/>
                <a:ea typeface="Calibri" panose="020F0502020204030204" pitchFamily="34" charset="0"/>
                <a:cs typeface="Arial" panose="020B0604020202020204" pitchFamily="34" charset="0"/>
              </a:rPr>
              <a:t> בשירותים לאזרח</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7" name="Picture 18">
            <a:extLst>
              <a:ext uri="{FF2B5EF4-FFF2-40B4-BE49-F238E27FC236}">
                <a16:creationId xmlns:a16="http://schemas.microsoft.com/office/drawing/2014/main" id="{EE46BBEC-E1A6-F7F0-3A5B-AC8740E12B80}"/>
              </a:ext>
            </a:extLst>
          </p:cNvPr>
          <p:cNvPicPr>
            <a:picLocks noChangeAspect="1"/>
          </p:cNvPicPr>
          <p:nvPr/>
        </p:nvPicPr>
        <p:blipFill rotWithShape="1">
          <a:blip r:embed="rId11" cstate="email">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a:ext>
            </a:extLst>
          </a:blip>
          <a:srcRect/>
          <a:stretch/>
        </p:blipFill>
        <p:spPr>
          <a:xfrm>
            <a:off x="5677256" y="2816171"/>
            <a:ext cx="1059593" cy="1454092"/>
          </a:xfrm>
          <a:prstGeom prst="rect">
            <a:avLst/>
          </a:prstGeom>
        </p:spPr>
      </p:pic>
    </p:spTree>
    <p:extLst>
      <p:ext uri="{BB962C8B-B14F-4D97-AF65-F5344CB8AC3E}">
        <p14:creationId xmlns:p14="http://schemas.microsoft.com/office/powerpoint/2010/main" val="4290143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685678F4-47CE-4125-83E4-D46D4C34AF93}"/>
              </a:ext>
            </a:extLst>
          </p:cNvPr>
          <p:cNvSpPr txBox="1"/>
          <p:nvPr/>
        </p:nvSpPr>
        <p:spPr>
          <a:xfrm>
            <a:off x="2136846" y="3608660"/>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פיתוח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מנגנון גמיש לאישור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המוצרים והשירותים </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49" name="TextBox 48">
            <a:extLst>
              <a:ext uri="{FF2B5EF4-FFF2-40B4-BE49-F238E27FC236}">
                <a16:creationId xmlns:a16="http://schemas.microsoft.com/office/drawing/2014/main" id="{8E5F55E6-362B-4276-A430-7B96942F9019}"/>
              </a:ext>
            </a:extLst>
          </p:cNvPr>
          <p:cNvSpPr txBox="1"/>
          <p:nvPr/>
        </p:nvSpPr>
        <p:spPr>
          <a:xfrm>
            <a:off x="2136846" y="3024509"/>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מערכת להצגה והנגשה </a:t>
            </a: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של השירותים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ותשלום בארנק דיגיטלי</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0" name="TextBox 49">
            <a:extLst>
              <a:ext uri="{FF2B5EF4-FFF2-40B4-BE49-F238E27FC236}">
                <a16:creationId xmlns:a16="http://schemas.microsoft.com/office/drawing/2014/main" id="{AEBB95BA-D351-4272-919E-669B78D9E53B}"/>
              </a:ext>
            </a:extLst>
          </p:cNvPr>
          <p:cNvSpPr txBox="1"/>
          <p:nvPr/>
        </p:nvSpPr>
        <p:spPr>
          <a:xfrm>
            <a:off x="2136846" y="2440358"/>
            <a:ext cx="811025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גיבוש </a:t>
            </a: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רגולציה תומכת</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7" name="TextBox 56">
            <a:extLst>
              <a:ext uri="{FF2B5EF4-FFF2-40B4-BE49-F238E27FC236}">
                <a16:creationId xmlns:a16="http://schemas.microsoft.com/office/drawing/2014/main" id="{46AEBD07-2F09-4148-B492-77871EB5C3C9}"/>
              </a:ext>
            </a:extLst>
          </p:cNvPr>
          <p:cNvSpPr txBox="1"/>
          <p:nvPr/>
        </p:nvSpPr>
        <p:spPr>
          <a:xfrm>
            <a:off x="9044892" y="1902458"/>
            <a:ext cx="1877476" cy="46166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מה נדרש:</a:t>
            </a:r>
            <a:endParaRPr kumimoji="0" lang="en-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sp>
        <p:nvSpPr>
          <p:cNvPr id="58" name="TextBox 57">
            <a:extLst>
              <a:ext uri="{FF2B5EF4-FFF2-40B4-BE49-F238E27FC236}">
                <a16:creationId xmlns:a16="http://schemas.microsoft.com/office/drawing/2014/main" id="{10360EE5-8DC6-4301-B9E8-37FCF90E9F20}"/>
              </a:ext>
            </a:extLst>
          </p:cNvPr>
          <p:cNvSpPr txBox="1"/>
          <p:nvPr/>
        </p:nvSpPr>
        <p:spPr>
          <a:xfrm>
            <a:off x="114742" y="657921"/>
            <a:ext cx="10371604" cy="89255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 (</a:t>
            </a:r>
            <a: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a:t>
            </a:r>
            <a:r>
              <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פיתוח סל שירותים מותאם אישית</a:t>
            </a:r>
          </a:p>
        </p:txBody>
      </p:sp>
      <p:sp>
        <p:nvSpPr>
          <p:cNvPr id="3" name="Arrow: Right 2">
            <a:extLst>
              <a:ext uri="{FF2B5EF4-FFF2-40B4-BE49-F238E27FC236}">
                <a16:creationId xmlns:a16="http://schemas.microsoft.com/office/drawing/2014/main" id="{101E3E98-B3D9-4CF9-8C8E-64C68C0C51B2}"/>
              </a:ext>
            </a:extLst>
          </p:cNvPr>
          <p:cNvSpPr/>
          <p:nvPr/>
        </p:nvSpPr>
        <p:spPr>
          <a:xfrm flipH="1">
            <a:off x="10389177" y="2592919"/>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3" name="Arrow: Right 62">
            <a:extLst>
              <a:ext uri="{FF2B5EF4-FFF2-40B4-BE49-F238E27FC236}">
                <a16:creationId xmlns:a16="http://schemas.microsoft.com/office/drawing/2014/main" id="{0AE3B7A5-C498-423F-A13E-89BB7E65AF87}"/>
              </a:ext>
            </a:extLst>
          </p:cNvPr>
          <p:cNvSpPr/>
          <p:nvPr/>
        </p:nvSpPr>
        <p:spPr>
          <a:xfrm flipH="1">
            <a:off x="10389177" y="3177070"/>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4" name="Arrow: Right 63">
            <a:extLst>
              <a:ext uri="{FF2B5EF4-FFF2-40B4-BE49-F238E27FC236}">
                <a16:creationId xmlns:a16="http://schemas.microsoft.com/office/drawing/2014/main" id="{484B5CC0-F974-4F28-8FE8-6BD4D5D8E3A5}"/>
              </a:ext>
            </a:extLst>
          </p:cNvPr>
          <p:cNvSpPr/>
          <p:nvPr/>
        </p:nvSpPr>
        <p:spPr>
          <a:xfrm flipH="1">
            <a:off x="10377938" y="3761221"/>
            <a:ext cx="216817" cy="156543"/>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sp>
        <p:nvSpPr>
          <p:cNvPr id="68" name="TextBox 67">
            <a:extLst>
              <a:ext uri="{FF2B5EF4-FFF2-40B4-BE49-F238E27FC236}">
                <a16:creationId xmlns:a16="http://schemas.microsoft.com/office/drawing/2014/main" id="{C8F318CF-806B-4B04-AFAA-1E7E248729C7}"/>
              </a:ext>
            </a:extLst>
          </p:cNvPr>
          <p:cNvSpPr txBox="1"/>
          <p:nvPr/>
        </p:nvSpPr>
        <p:spPr>
          <a:xfrm flipH="1">
            <a:off x="8564898" y="5165422"/>
            <a:ext cx="1418732"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חיבור של נתונים</a:t>
            </a:r>
          </a:p>
        </p:txBody>
      </p:sp>
      <p:sp>
        <p:nvSpPr>
          <p:cNvPr id="69" name="TextBox 68">
            <a:extLst>
              <a:ext uri="{FF2B5EF4-FFF2-40B4-BE49-F238E27FC236}">
                <a16:creationId xmlns:a16="http://schemas.microsoft.com/office/drawing/2014/main" id="{CE8D518F-92C4-4D7C-BBA0-1A592D02CA0E}"/>
              </a:ext>
            </a:extLst>
          </p:cNvPr>
          <p:cNvSpPr txBox="1"/>
          <p:nvPr/>
        </p:nvSpPr>
        <p:spPr>
          <a:xfrm flipH="1">
            <a:off x="6445138" y="5165422"/>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פרופילים של אזרחים ותיקים</a:t>
            </a:r>
          </a:p>
        </p:txBody>
      </p:sp>
      <p:sp>
        <p:nvSpPr>
          <p:cNvPr id="70" name="TextBox 69">
            <a:extLst>
              <a:ext uri="{FF2B5EF4-FFF2-40B4-BE49-F238E27FC236}">
                <a16:creationId xmlns:a16="http://schemas.microsoft.com/office/drawing/2014/main" id="{4F8519BF-DBE8-4079-866F-257E09B43ADA}"/>
              </a:ext>
            </a:extLst>
          </p:cNvPr>
          <p:cNvSpPr txBox="1"/>
          <p:nvPr/>
        </p:nvSpPr>
        <p:spPr>
          <a:xfrm flipH="1">
            <a:off x="4315918" y="5165424"/>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רגולציה</a:t>
            </a:r>
            <a:br>
              <a:rPr kumimoji="0" lang="en-US"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b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 מאפשרת</a:t>
            </a:r>
          </a:p>
        </p:txBody>
      </p:sp>
      <p:sp>
        <p:nvSpPr>
          <p:cNvPr id="71" name="TextBox 70">
            <a:extLst>
              <a:ext uri="{FF2B5EF4-FFF2-40B4-BE49-F238E27FC236}">
                <a16:creationId xmlns:a16="http://schemas.microsoft.com/office/drawing/2014/main" id="{90219D2D-A485-4573-9D7A-CE795D1C51CF}"/>
              </a:ext>
            </a:extLst>
          </p:cNvPr>
          <p:cNvSpPr txBox="1"/>
          <p:nvPr/>
        </p:nvSpPr>
        <p:spPr>
          <a:xfrm flipH="1">
            <a:off x="2196158" y="5165423"/>
            <a:ext cx="1630680" cy="715089"/>
          </a:xfrm>
          <a:prstGeom prst="roundRect">
            <a:avLst/>
          </a:prstGeom>
          <a:solidFill>
            <a:schemeClr val="accent1"/>
          </a:solidFill>
          <a:ln>
            <a:noFill/>
          </a:ln>
          <a:effectLst>
            <a:outerShdw blurRad="215900" dist="50800" dir="5400000" algn="ctr" rotWithShape="0">
              <a:schemeClr val="bg2">
                <a:lumMod val="10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SemiBold" pitchFamily="2" charset="-79"/>
                <a:ea typeface="+mn-ea"/>
                <a:cs typeface="Assistant SemiBold" pitchFamily="2" charset="-79"/>
              </a:rPr>
              <a:t>אקוסיסטם ומערכות</a:t>
            </a:r>
          </a:p>
        </p:txBody>
      </p:sp>
      <p:pic>
        <p:nvPicPr>
          <p:cNvPr id="14" name="Graphic 13">
            <a:extLst>
              <a:ext uri="{FF2B5EF4-FFF2-40B4-BE49-F238E27FC236}">
                <a16:creationId xmlns:a16="http://schemas.microsoft.com/office/drawing/2014/main" id="{FBC4A4E5-16CA-4BB8-AEC8-78A3D6CE68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b="19918"/>
          <a:stretch/>
        </p:blipFill>
        <p:spPr>
          <a:xfrm>
            <a:off x="10594755" y="657921"/>
            <a:ext cx="823170" cy="824010"/>
          </a:xfrm>
          <a:prstGeom prst="rect">
            <a:avLst/>
          </a:prstGeom>
        </p:spPr>
      </p:pic>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63867" y="629959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5"/>
          <a:stretch>
            <a:fillRect/>
          </a:stretch>
        </p:blipFill>
        <p:spPr>
          <a:xfrm>
            <a:off x="321609" y="6200079"/>
            <a:ext cx="1118350" cy="612431"/>
          </a:xfrm>
          <a:prstGeom prst="rect">
            <a:avLst/>
          </a:prstGeom>
          <a:ln>
            <a:noFill/>
          </a:ln>
        </p:spPr>
      </p:pic>
      <p:sp>
        <p:nvSpPr>
          <p:cNvPr id="5" name="מלבן 4">
            <a:extLst>
              <a:ext uri="{FF2B5EF4-FFF2-40B4-BE49-F238E27FC236}">
                <a16:creationId xmlns:a16="http://schemas.microsoft.com/office/drawing/2014/main" id="{0A4EED2D-BF5F-6386-F28E-CCD2CF712691}"/>
              </a:ext>
            </a:extLst>
          </p:cNvPr>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TextBox 10">
            <a:extLst>
              <a:ext uri="{FF2B5EF4-FFF2-40B4-BE49-F238E27FC236}">
                <a16:creationId xmlns:a16="http://schemas.microsoft.com/office/drawing/2014/main" id="{9CBB1340-D6E1-C867-8024-E50C5F69FC9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Tree>
    <p:extLst>
      <p:ext uri="{BB962C8B-B14F-4D97-AF65-F5344CB8AC3E}">
        <p14:creationId xmlns:p14="http://schemas.microsoft.com/office/powerpoint/2010/main" val="2160939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297851" y="2695729"/>
            <a:ext cx="2415365" cy="3314633"/>
          </a:xfrm>
          <a:prstGeom prst="rect">
            <a:avLst/>
          </a:prstGeom>
        </p:spPr>
      </p:pic>
      <p:pic>
        <p:nvPicPr>
          <p:cNvPr id="7" name="תמונה 6">
            <a:extLst>
              <a:ext uri="{FF2B5EF4-FFF2-40B4-BE49-F238E27FC236}">
                <a16:creationId xmlns:a16="http://schemas.microsoft.com/office/drawing/2014/main" id="{EC3E2A61-AA9E-1343-5B2C-12C2BFFDABAA}"/>
              </a:ext>
            </a:extLst>
          </p:cNvPr>
          <p:cNvPicPr>
            <a:picLocks noChangeAspect="1"/>
          </p:cNvPicPr>
          <p:nvPr/>
        </p:nvPicPr>
        <p:blipFill>
          <a:blip r:embed="rId4">
            <a:extLst>
              <a:ext uri="{28A0092B-C50C-407E-A947-70E740481C1C}">
                <a14:useLocalDpi xmlns:a14="http://schemas.microsoft.com/office/drawing/2010/main" val="0"/>
              </a:ext>
            </a:extLst>
          </a:blip>
          <a:srcRect t="28199"/>
          <a:stretch/>
        </p:blipFill>
        <p:spPr>
          <a:xfrm>
            <a:off x="9303873" y="3653985"/>
            <a:ext cx="2590276" cy="2851965"/>
          </a:xfrm>
          <a:prstGeom prst="rect">
            <a:avLst/>
          </a:prstGeom>
        </p:spPr>
      </p:pic>
      <p:pic>
        <p:nvPicPr>
          <p:cNvPr id="9" name="תמונה 8">
            <a:extLst>
              <a:ext uri="{FF2B5EF4-FFF2-40B4-BE49-F238E27FC236}">
                <a16:creationId xmlns:a16="http://schemas.microsoft.com/office/drawing/2014/main" id="{7905EA4F-6971-34E1-1578-BD9BE9091A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8127" y="1212361"/>
            <a:ext cx="3026133" cy="5293589"/>
          </a:xfrm>
          <a:prstGeom prst="rect">
            <a:avLst/>
          </a:prstGeom>
        </p:spPr>
      </p:pic>
      <p:pic>
        <p:nvPicPr>
          <p:cNvPr id="11" name="תמונה 10">
            <a:extLst>
              <a:ext uri="{FF2B5EF4-FFF2-40B4-BE49-F238E27FC236}">
                <a16:creationId xmlns:a16="http://schemas.microsoft.com/office/drawing/2014/main" id="{584D1AD9-E626-89CA-EB20-DE493D833AB3}"/>
              </a:ext>
            </a:extLst>
          </p:cNvPr>
          <p:cNvPicPr>
            <a:picLocks noChangeAspect="1"/>
          </p:cNvPicPr>
          <p:nvPr/>
        </p:nvPicPr>
        <p:blipFill>
          <a:blip r:embed="rId6">
            <a:extLst>
              <a:ext uri="{28A0092B-C50C-407E-A947-70E740481C1C}">
                <a14:useLocalDpi xmlns:a14="http://schemas.microsoft.com/office/drawing/2010/main" val="0"/>
              </a:ext>
            </a:extLst>
          </a:blip>
          <a:srcRect t="35105"/>
          <a:stretch/>
        </p:blipFill>
        <p:spPr>
          <a:xfrm>
            <a:off x="5914260" y="2695729"/>
            <a:ext cx="3383599" cy="3810221"/>
          </a:xfrm>
          <a:prstGeom prst="rect">
            <a:avLst/>
          </a:prstGeom>
        </p:spPr>
      </p:pic>
      <p:sp>
        <p:nvSpPr>
          <p:cNvPr id="13" name="תיבת טקסט 12">
            <a:extLst>
              <a:ext uri="{FF2B5EF4-FFF2-40B4-BE49-F238E27FC236}">
                <a16:creationId xmlns:a16="http://schemas.microsoft.com/office/drawing/2014/main" id="{DD7EFE8D-D0ED-B25F-F23C-174ADF3C1321}"/>
              </a:ext>
            </a:extLst>
          </p:cNvPr>
          <p:cNvSpPr txBox="1"/>
          <p:nvPr/>
        </p:nvSpPr>
        <p:spPr>
          <a:xfrm>
            <a:off x="6580776" y="627586"/>
            <a:ext cx="5089856" cy="584775"/>
          </a:xfrm>
          <a:prstGeom prst="rect">
            <a:avLst/>
          </a:prstGeom>
          <a:noFill/>
        </p:spPr>
        <p:txBody>
          <a:bodyPr wrap="none" rtlCol="1">
            <a:spAutoFit/>
          </a:bodyPr>
          <a:lstStyle/>
          <a:p>
            <a:pPr algn="r" rtl="1"/>
            <a:r>
              <a:rPr lang="he-IL" sz="3200" b="1" dirty="0"/>
              <a:t>חווית המשתמש של פנינה 2024</a:t>
            </a:r>
          </a:p>
        </p:txBody>
      </p:sp>
    </p:spTree>
    <p:extLst>
      <p:ext uri="{BB962C8B-B14F-4D97-AF65-F5344CB8AC3E}">
        <p14:creationId xmlns:p14="http://schemas.microsoft.com/office/powerpoint/2010/main" val="3477481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3093" y="6546308"/>
            <a:ext cx="12192000" cy="10819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074E81CE-5BB6-4B39-998F-DA850CF7B7B7}"/>
              </a:ext>
            </a:extLst>
          </p:cNvPr>
          <p:cNvSpPr/>
          <p:nvPr/>
        </p:nvSpPr>
        <p:spPr>
          <a:xfrm>
            <a:off x="11470" y="6459250"/>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500" b="1" i="0" u="none" strike="noStrike" kern="1200" cap="none" spc="0" normalizeH="0" baseline="0" noProof="0" dirty="0">
                <a:ln>
                  <a:noFill/>
                </a:ln>
                <a:solidFill>
                  <a:srgbClr val="34304F"/>
                </a:solidFill>
                <a:effectLst/>
                <a:uLnTx/>
                <a:uFillTx/>
                <a:latin typeface="Calibri" panose="020F0502020204030204" pitchFamily="34" charset="0"/>
                <a:ea typeface="+mn-ea"/>
                <a:cs typeface="Calibri" panose="020F0502020204030204" pitchFamily="34" charset="0"/>
              </a:rPr>
              <a:t>פלטפורמה דיגיטלית להתאמה אישית של שירותים</a:t>
            </a:r>
            <a:endParaRPr kumimoji="0" lang="en-US" sz="4500" b="1" i="0" u="none" strike="noStrike" kern="1200" cap="none" spc="0" normalizeH="0" baseline="0" noProof="0" dirty="0">
              <a:ln>
                <a:noFill/>
              </a:ln>
              <a:solidFill>
                <a:srgbClr val="34304F"/>
              </a:solidFill>
              <a:effectLst/>
              <a:uLnTx/>
              <a:uFillTx/>
              <a:latin typeface="Calibri" panose="020F0502020204030204" pitchFamily="34" charset="0"/>
              <a:ea typeface="+mn-ea"/>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8056" y="6673256"/>
            <a:ext cx="2757567" cy="630794"/>
          </a:xfrm>
          <a:prstGeom prst="rect">
            <a:avLst/>
          </a:prstGeom>
        </p:spPr>
      </p:pic>
      <p:sp>
        <p:nvSpPr>
          <p:cNvPr id="9" name="מלבן 8"/>
          <p:cNvSpPr/>
          <p:nvPr/>
        </p:nvSpPr>
        <p:spPr>
          <a:xfrm>
            <a:off x="3093" y="0"/>
            <a:ext cx="244547" cy="7226708"/>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pic>
        <p:nvPicPr>
          <p:cNvPr id="12" name="תמונה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38944" y="6767765"/>
            <a:ext cx="1629782" cy="441776"/>
          </a:xfrm>
          <a:prstGeom prst="rect">
            <a:avLst/>
          </a:prstGeom>
        </p:spPr>
      </p:pic>
      <p:pic>
        <p:nvPicPr>
          <p:cNvPr id="2" name="Picture 26">
            <a:extLst>
              <a:ext uri="{FF2B5EF4-FFF2-40B4-BE49-F238E27FC236}">
                <a16:creationId xmlns:a16="http://schemas.microsoft.com/office/drawing/2014/main" id="{A4A0F05C-4589-8598-6409-17ABB1658546}"/>
              </a:ext>
            </a:extLst>
          </p:cNvPr>
          <p:cNvPicPr>
            <a:picLocks noChangeAspect="1"/>
          </p:cNvPicPr>
          <p:nvPr/>
        </p:nvPicPr>
        <p:blipFill>
          <a:blip r:embed="rId6"/>
          <a:stretch>
            <a:fillRect/>
          </a:stretch>
        </p:blipFill>
        <p:spPr>
          <a:xfrm>
            <a:off x="6258762" y="6546308"/>
            <a:ext cx="1395775" cy="764355"/>
          </a:xfrm>
          <a:prstGeom prst="rect">
            <a:avLst/>
          </a:prstGeom>
          <a:ln>
            <a:noFill/>
          </a:ln>
        </p:spPr>
      </p:pic>
      <p:pic>
        <p:nvPicPr>
          <p:cNvPr id="5" name="Picture 32">
            <a:extLst>
              <a:ext uri="{FF2B5EF4-FFF2-40B4-BE49-F238E27FC236}">
                <a16:creationId xmlns:a16="http://schemas.microsoft.com/office/drawing/2014/main" id="{D0D70BBE-0181-BACF-233D-97C8F5B2CC66}"/>
              </a:ext>
            </a:extLst>
          </p:cNvPr>
          <p:cNvPicPr>
            <a:picLocks noChangeAspect="1"/>
          </p:cNvPicPr>
          <p:nvPr/>
        </p:nvPicPr>
        <p:blipFill>
          <a:blip r:embed="rId7"/>
          <a:stretch>
            <a:fillRect/>
          </a:stretch>
        </p:blipFill>
        <p:spPr>
          <a:xfrm>
            <a:off x="4424444" y="6591131"/>
            <a:ext cx="1726877" cy="719532"/>
          </a:xfrm>
          <a:prstGeom prst="rect">
            <a:avLst/>
          </a:prstGeom>
        </p:spPr>
      </p:pic>
      <p:pic>
        <p:nvPicPr>
          <p:cNvPr id="13" name="Picture 5" descr="Logo&#10;&#10;Description automatically generated">
            <a:extLst>
              <a:ext uri="{FF2B5EF4-FFF2-40B4-BE49-F238E27FC236}">
                <a16:creationId xmlns:a16="http://schemas.microsoft.com/office/drawing/2014/main" id="{F71C9523-D69A-ECBC-2636-B5D38E0BB87D}"/>
              </a:ext>
            </a:extLst>
          </p:cNvPr>
          <p:cNvPicPr preferRelativeResize="0">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053133" y="6647968"/>
            <a:ext cx="997132" cy="662695"/>
          </a:xfrm>
          <a:prstGeom prst="rect">
            <a:avLst/>
          </a:prstGeom>
        </p:spPr>
      </p:pic>
    </p:spTree>
    <p:extLst>
      <p:ext uri="{BB962C8B-B14F-4D97-AF65-F5344CB8AC3E}">
        <p14:creationId xmlns:p14="http://schemas.microsoft.com/office/powerpoint/2010/main" val="2883102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14511" y="3437592"/>
            <a:ext cx="12406511" cy="3057247"/>
          </a:xfrm>
          <a:prstGeom prst="rect">
            <a:avLst/>
          </a:prstGeom>
        </p:spPr>
        <p:txBody>
          <a:bodyPr wrap="square">
            <a:spAutoFit/>
          </a:bodyPr>
          <a:lstStyle/>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בניית תכנית אישית מבוססת נתונים </a:t>
            </a:r>
            <a:r>
              <a:rPr lang="he-IL" sz="2100" spc="-5" dirty="0">
                <a:latin typeface="Calibri" panose="020F0502020204030204" pitchFamily="34" charset="0"/>
                <a:cs typeface="Calibri" panose="020F0502020204030204" pitchFamily="34" charset="0"/>
              </a:rPr>
              <a:t>ומקדמת זקנה פעילה ומניעת התדרדרות </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276070" y="16364"/>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hq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113538" y="-174538"/>
            <a:ext cx="7097299"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סל תפקוד אישי</a:t>
            </a:r>
          </a:p>
          <a:p>
            <a:pPr algn="ctr"/>
            <a:r>
              <a:rPr lang="he-IL" sz="5400" b="1" dirty="0">
                <a:solidFill>
                  <a:schemeClr val="bg1"/>
                </a:solidFill>
                <a:latin typeface="Calibri" panose="020F0502020204030204" pitchFamily="34" charset="0"/>
                <a:cs typeface="Calibri" panose="020F0502020204030204" pitchFamily="34" charset="0"/>
              </a:rPr>
              <a:t>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hq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Tree>
    <p:extLst>
      <p:ext uri="{BB962C8B-B14F-4D97-AF65-F5344CB8AC3E}">
        <p14:creationId xmlns:p14="http://schemas.microsoft.com/office/powerpoint/2010/main" val="2630102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Tree>
    <p:extLst>
      <p:ext uri="{BB962C8B-B14F-4D97-AF65-F5344CB8AC3E}">
        <p14:creationId xmlns:p14="http://schemas.microsoft.com/office/powerpoint/2010/main" val="3808911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044250" y="1142890"/>
            <a:ext cx="4976813"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p>
          <a:p>
            <a:pPr algn="r" rtl="1">
              <a:lnSpc>
                <a:spcPct val="150000"/>
              </a:lnSpc>
            </a:pPr>
            <a:r>
              <a:rPr lang="he-IL" sz="1600" dirty="0">
                <a:latin typeface="Calibri" panose="020F0502020204030204" pitchFamily="34" charset="0"/>
                <a:cs typeface="Calibri" panose="020F0502020204030204" pitchFamily="34" charset="0"/>
              </a:rPr>
              <a:t>מפגשים חברתיים, פעילות גופנית, זוגיות והיכרויות,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8785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Tree>
    <p:extLst>
      <p:ext uri="{BB962C8B-B14F-4D97-AF65-F5344CB8AC3E}">
        <p14:creationId xmlns:p14="http://schemas.microsoft.com/office/powerpoint/2010/main" val="4127182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Tree>
    <p:extLst>
      <p:ext uri="{BB962C8B-B14F-4D97-AF65-F5344CB8AC3E}">
        <p14:creationId xmlns:p14="http://schemas.microsoft.com/office/powerpoint/2010/main" val="3164209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sz="1600" b="1" dirty="0">
                <a:solidFill>
                  <a:prstClr val="black"/>
                </a:solidFill>
                <a:latin typeface="Assistant" pitchFamily="2" charset="-79"/>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7596168" y="469748"/>
            <a:ext cx="3940539"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4" name="Google Shape;492;p8">
            <a:extLst>
              <a:ext uri="{FF2B5EF4-FFF2-40B4-BE49-F238E27FC236}">
                <a16:creationId xmlns:a16="http://schemas.microsoft.com/office/drawing/2014/main" id="{B4DA0CE6-D12B-4D84-ABD5-75FA703C08CE}"/>
              </a:ext>
            </a:extLst>
          </p:cNvPr>
          <p:cNvSpPr txBox="1"/>
          <p:nvPr/>
        </p:nvSpPr>
        <p:spPr>
          <a:xfrm>
            <a:off x="8563429" y="3608883"/>
            <a:ext cx="3169051"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מיצוי הפוטנציאל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של האזרח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4925002"/>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128443"/>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pic>
        <p:nvPicPr>
          <p:cNvPr id="10" name="תמונה 9">
            <a:extLst>
              <a:ext uri="{FF2B5EF4-FFF2-40B4-BE49-F238E27FC236}">
                <a16:creationId xmlns:a16="http://schemas.microsoft.com/office/drawing/2014/main" id="{F49A402C-34A1-5C7D-CC4F-8974B1E4DE0B}"/>
              </a:ext>
            </a:extLst>
          </p:cNvPr>
          <p:cNvPicPr>
            <a:picLocks noChangeAspect="1"/>
          </p:cNvPicPr>
          <p:nvPr/>
        </p:nvPicPr>
        <p:blipFill>
          <a:blip r:embed="rId4"/>
          <a:srcRect b="12310"/>
          <a:stretch/>
        </p:blipFill>
        <p:spPr>
          <a:xfrm>
            <a:off x="3404891" y="4126147"/>
            <a:ext cx="4906986" cy="1639604"/>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861082" y="3429000"/>
            <a:ext cx="6035316"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srgbClr val="FFFFFF"/>
                </a:solidFill>
                <a:effectLst/>
                <a:uLnTx/>
                <a:uFillTx/>
                <a:latin typeface="Assistant" pitchFamily="2" charset="-79"/>
                <a:cs typeface="Assistant" pitchFamily="2" charset="-79"/>
              </a:rPr>
              <a:t>נייר מדיניות להובלת שינוי משותף</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srgbClr val="FFFFFF"/>
                </a:solidFill>
                <a:effectLst/>
                <a:uLnTx/>
                <a:uFillTx/>
                <a:latin typeface="Assistant" pitchFamily="2" charset="-79"/>
                <a:cs typeface="Assistant" pitchFamily="2" charset="-79"/>
              </a:rPr>
              <a:t>ביטוח לאומי, רווחה, בריאות, רשויות, קופות החולים</a:t>
            </a:r>
            <a:endParaRPr kumimoji="0" lang="en-US" sz="2100" b="0" i="0" u="none" strike="noStrike" kern="1200" cap="none" spc="0" normalizeH="0" baseline="0" noProof="0" dirty="0">
              <a:ln>
                <a:noFill/>
              </a:ln>
              <a:solidFill>
                <a:srgbClr val="FFFFFF"/>
              </a:solidFill>
              <a:effectLst/>
              <a:uLnTx/>
              <a:uFillTx/>
              <a:latin typeface="Assistant" pitchFamily="2" charset="-79"/>
              <a:cs typeface="Assistant" pitchFamily="2" charset="-79"/>
            </a:endParaRPr>
          </a:p>
        </p:txBody>
      </p:sp>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5"/>
          <a:stretch>
            <a:fillRect/>
          </a:stretch>
        </p:blipFill>
        <p:spPr>
          <a:xfrm>
            <a:off x="355600" y="1160339"/>
            <a:ext cx="11480800" cy="1841500"/>
          </a:xfrm>
          <a:prstGeom prst="rect">
            <a:avLst/>
          </a:prstGeom>
        </p:spPr>
      </p:pic>
      <p:sp>
        <p:nvSpPr>
          <p:cNvPr id="53" name="TextBox 52">
            <a:extLst>
              <a:ext uri="{FF2B5EF4-FFF2-40B4-BE49-F238E27FC236}">
                <a16:creationId xmlns:a16="http://schemas.microsoft.com/office/drawing/2014/main" id="{E56DC035-DE58-4748-857D-79F08BC8EC4C}"/>
              </a:ext>
            </a:extLst>
          </p:cNvPr>
          <p:cNvSpPr txBox="1"/>
          <p:nvPr/>
        </p:nvSpPr>
        <p:spPr>
          <a:xfrm>
            <a:off x="1126434" y="1440686"/>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6"/>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7"/>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8"/>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9"/>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10"/>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1"/>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2"/>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3"/>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4"/>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5"/>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6"/>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7"/>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8"/>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9"/>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9589168" y="346984"/>
            <a:ext cx="2387913" cy="414598"/>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20"/>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1"/>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2"/>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734769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extLst>
              <p:ext uri="{D42A27DB-BD31-4B8C-83A1-F6EECF244321}">
                <p14:modId xmlns:p14="http://schemas.microsoft.com/office/powerpoint/2010/main" val="1446147904"/>
              </p:ext>
            </p:extLst>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8" name="מלבן 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99331"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1908215"/>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algn="ctr"/>
            <a:r>
              <a:rPr lang="he-IL" b="1" dirty="0">
                <a:solidFill>
                  <a:schemeClr val="tx1"/>
                </a:solidFill>
              </a:rPr>
              <a:t>היעד-</a:t>
            </a:r>
            <a:r>
              <a:rPr lang="he-IL" dirty="0">
                <a:solidFill>
                  <a:schemeClr val="tx1"/>
                </a:solidFill>
              </a:rPr>
              <a:t> בתוך 3 שנים עיכוב ממוצע של כ-3 חודשים בעלייה ברמות סיעוד 0-2 = </a:t>
            </a:r>
          </a:p>
          <a:p>
            <a:pPr algn="ctr"/>
            <a:r>
              <a:rPr lang="he-IL" sz="3200" b="1" dirty="0">
                <a:solidFill>
                  <a:schemeClr val="tx1"/>
                </a:solidFill>
              </a:rPr>
              <a:t>מעל מיליארד ₪ </a:t>
            </a:r>
          </a:p>
          <a:p>
            <a:pPr algn="ctr"/>
            <a:r>
              <a:rPr lang="he-IL" sz="3200" b="1" dirty="0">
                <a:solidFill>
                  <a:schemeClr val="tx1"/>
                </a:solidFill>
              </a:rPr>
              <a:t>חסכון למשק לשנה</a:t>
            </a:r>
            <a:r>
              <a:rPr lang="he-IL" sz="2800" b="1" dirty="0">
                <a:solidFill>
                  <a:schemeClr val="tx1"/>
                </a:solidFill>
              </a:rPr>
              <a:t>    </a:t>
            </a:r>
          </a:p>
          <a:p>
            <a:pPr algn="ctr"/>
            <a:r>
              <a:rPr lang="he-IL" b="1" dirty="0">
                <a:solidFill>
                  <a:schemeClr val="tx1"/>
                </a:solidFill>
              </a:rPr>
              <a:t>  </a:t>
            </a:r>
            <a:r>
              <a:rPr lang="he-IL" sz="1400" dirty="0">
                <a:solidFill>
                  <a:schemeClr val="tx1"/>
                </a:solidFill>
              </a:rPr>
              <a:t>(לא כולל ביטוחי סיעוד)</a:t>
            </a:r>
            <a:endParaRPr lang="he-IL" dirty="0">
              <a:solidFill>
                <a:schemeClr val="tx1"/>
              </a:solidFill>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r>
              <a:rPr lang="he-IL" dirty="0"/>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116420" y="51231"/>
            <a:ext cx="9696771" cy="2123658"/>
          </a:xfrm>
          <a:prstGeom prst="rect">
            <a:avLst/>
          </a:prstGeom>
          <a:noFill/>
        </p:spPr>
        <p:txBody>
          <a:bodyPr wrap="square" rtlCol="0">
            <a:spAutoFit/>
          </a:bodyPr>
          <a:lstStyle/>
          <a:p>
            <a:pPr algn="ctr" rtl="1"/>
            <a:r>
              <a:rPr lang="he-IL" sz="4400" b="1" dirty="0">
                <a:solidFill>
                  <a:srgbClr val="3E6BB4"/>
                </a:solidFill>
                <a:latin typeface="Assistant" pitchFamily="2" charset="-79"/>
                <a:cs typeface="Assistant" pitchFamily="2" charset="-79"/>
              </a:rPr>
              <a:t>סוגיות בחשיבה</a:t>
            </a:r>
          </a:p>
          <a:p>
            <a:pPr algn="ctr" rtl="1"/>
            <a:r>
              <a:rPr lang="he-IL" sz="4400" b="1" dirty="0">
                <a:solidFill>
                  <a:srgbClr val="3E6BB4"/>
                </a:solidFill>
                <a:latin typeface="Assistant" pitchFamily="2" charset="-79"/>
                <a:cs typeface="Assistant" pitchFamily="2" charset="-79"/>
              </a:rPr>
              <a:t>סל אישי מותאם לאזרח הוותיק</a:t>
            </a:r>
          </a:p>
          <a:p>
            <a:pPr algn="ctr" rtl="1"/>
            <a:endParaRPr lang="he-IL" sz="4400" b="1" dirty="0">
              <a:solidFill>
                <a:srgbClr val="3E6BB4"/>
              </a:solidFill>
              <a:latin typeface="Assistant" pitchFamily="2" charset="-79"/>
              <a:cs typeface="Assistant" pitchFamily="2" charset="-79"/>
            </a:endParaRP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7758222" y="160768"/>
            <a:ext cx="814228" cy="596132"/>
          </a:xfrm>
          <a:prstGeom prst="rect">
            <a:avLst/>
          </a:prstGeom>
        </p:spPr>
      </p:pic>
      <p:sp>
        <p:nvSpPr>
          <p:cNvPr id="2" name="TextBox 3">
            <a:extLst>
              <a:ext uri="{FF2B5EF4-FFF2-40B4-BE49-F238E27FC236}">
                <a16:creationId xmlns:a16="http://schemas.microsoft.com/office/drawing/2014/main" id="{1B2D77AF-4E09-7D47-B435-A21266B4499F}"/>
              </a:ext>
            </a:extLst>
          </p:cNvPr>
          <p:cNvSpPr txBox="1"/>
          <p:nvPr/>
        </p:nvSpPr>
        <p:spPr>
          <a:xfrm>
            <a:off x="580505" y="1547633"/>
            <a:ext cx="11030989" cy="4611519"/>
          </a:xfrm>
          <a:prstGeom prst="rect">
            <a:avLst/>
          </a:prstGeom>
          <a:noFill/>
        </p:spPr>
        <p:txBody>
          <a:bodyPr wrap="square">
            <a:spAutoFit/>
          </a:bodyPr>
          <a:lstStyle/>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איזה שירותים מכניסים לסל ומה לא מכניסים? גבולות גזרה מרחיבים או צרים?</a:t>
            </a:r>
          </a:p>
          <a:p>
            <a:pPr marL="342891" indent="-34289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איזה תיעדוף נותנים באלגוריתם?</a:t>
            </a:r>
            <a:r>
              <a:rPr lang="he-IL"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איך מנגישים ללקוח הלא דיגיטלי? מי הגורם שנמצא מולו ומחבר אותו לשירותים?</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מיפוי מקורות המידע לשירותים בקהילה, לצרכי הלקוח ולרצונותיו?</a:t>
            </a:r>
          </a:p>
          <a:p>
            <a:pPr marL="342891" indent="-342891" algn="r" rtl="1">
              <a:lnSpc>
                <a:spcPct val="150000"/>
              </a:lnSpc>
              <a:buFont typeface="+mj-lt"/>
              <a:buAutoNum type="arabicPeriod"/>
            </a:pPr>
            <a:r>
              <a:rPr lang="he-IL" dirty="0">
                <a:latin typeface="Calibri" panose="020F0502020204030204" pitchFamily="34" charset="0"/>
                <a:ea typeface="Calibri" panose="020F0502020204030204" pitchFamily="34" charset="0"/>
                <a:cs typeface="Arial" panose="020B0604020202020204" pitchFamily="34" charset="0"/>
              </a:rPr>
              <a:t> איך מודדים את איכות השירות?</a:t>
            </a:r>
          </a:p>
          <a:p>
            <a:pPr marL="342891" indent="-342891">
              <a:lnSpc>
                <a:spcPct val="150000"/>
              </a:lnSpc>
              <a:buFont typeface="+mj-lt"/>
              <a:buAutoNum type="arabicPeriod"/>
            </a:pPr>
            <a:endParaRPr lang="he-IL"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726105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116420" y="51231"/>
            <a:ext cx="9696771" cy="2000548"/>
          </a:xfrm>
          <a:prstGeom prst="rect">
            <a:avLst/>
          </a:prstGeom>
          <a:noFill/>
        </p:spPr>
        <p:txBody>
          <a:bodyPr wrap="square" rtlCol="0">
            <a:spAutoFit/>
          </a:bodyPr>
          <a:lstStyle/>
          <a:p>
            <a:pPr algn="ctr" rtl="1"/>
            <a:r>
              <a:rPr lang="he-IL" sz="4000" b="1" dirty="0">
                <a:solidFill>
                  <a:srgbClr val="3E6BB4"/>
                </a:solidFill>
                <a:latin typeface="Assistant" pitchFamily="2" charset="-79"/>
                <a:cs typeface="Assistant" pitchFamily="2" charset="-79"/>
              </a:rPr>
              <a:t>מהלכים משותפים להובלת הרפורמה</a:t>
            </a:r>
          </a:p>
          <a:p>
            <a:pPr algn="ctr" rtl="1"/>
            <a:r>
              <a:rPr lang="he-IL" sz="4000" b="1" dirty="0">
                <a:solidFill>
                  <a:srgbClr val="3E6BB4"/>
                </a:solidFill>
                <a:latin typeface="Assistant" pitchFamily="2" charset="-79"/>
                <a:cs typeface="Assistant" pitchFamily="2" charset="-79"/>
              </a:rPr>
              <a:t>סל אישי מותאם לאזרח הוותיק</a:t>
            </a:r>
          </a:p>
          <a:p>
            <a:pPr algn="ctr" rtl="1"/>
            <a:endParaRPr lang="he-IL" sz="4400" b="1" dirty="0">
              <a:solidFill>
                <a:srgbClr val="3E6BB4"/>
              </a:solidFill>
              <a:latin typeface="Assistant" pitchFamily="2" charset="-79"/>
              <a:cs typeface="Assistant" pitchFamily="2" charset="-79"/>
            </a:endParaRP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9998963" y="139505"/>
            <a:ext cx="814228" cy="596132"/>
          </a:xfrm>
          <a:prstGeom prst="rect">
            <a:avLst/>
          </a:prstGeom>
        </p:spPr>
      </p:pic>
      <p:sp>
        <p:nvSpPr>
          <p:cNvPr id="2" name="TextBox 3">
            <a:extLst>
              <a:ext uri="{FF2B5EF4-FFF2-40B4-BE49-F238E27FC236}">
                <a16:creationId xmlns:a16="http://schemas.microsoft.com/office/drawing/2014/main" id="{1B2D77AF-4E09-7D47-B435-A21266B4499F}"/>
              </a:ext>
            </a:extLst>
          </p:cNvPr>
          <p:cNvSpPr txBox="1"/>
          <p:nvPr/>
        </p:nvSpPr>
        <p:spPr>
          <a:xfrm>
            <a:off x="580505" y="1420043"/>
            <a:ext cx="11030989" cy="4611519"/>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מחקר שטח </a:t>
            </a:r>
            <a:r>
              <a:rPr lang="he-IL" dirty="0">
                <a:latin typeface="Calibri" panose="020F0502020204030204" pitchFamily="34" charset="0"/>
                <a:ea typeface="Calibri" panose="020F0502020204030204" pitchFamily="34" charset="0"/>
                <a:cs typeface="Arial" panose="020B0604020202020204" pitchFamily="34" charset="0"/>
              </a:rPr>
              <a:t>עם מקבלי ונותני השירותים- </a:t>
            </a:r>
            <a:r>
              <a:rPr lang="en-US" dirty="0">
                <a:latin typeface="Calibri" panose="020F0502020204030204" pitchFamily="34" charset="0"/>
                <a:ea typeface="Calibri" panose="020F0502020204030204" pitchFamily="34" charset="0"/>
                <a:cs typeface="Arial" panose="020B0604020202020204" pitchFamily="34" charset="0"/>
              </a:rPr>
              <a:t>EY</a:t>
            </a:r>
            <a:r>
              <a:rPr lang="he-IL" dirty="0">
                <a:latin typeface="Calibri" panose="020F0502020204030204" pitchFamily="34" charset="0"/>
                <a:ea typeface="Calibri" panose="020F0502020204030204" pitchFamily="34" charset="0"/>
                <a:cs typeface="Arial" panose="020B0604020202020204" pitchFamily="34" charset="0"/>
              </a:rPr>
              <a:t> עם רווחה </a:t>
            </a:r>
            <a:r>
              <a:rPr lang="he-IL" dirty="0" err="1">
                <a:latin typeface="Calibri" panose="020F0502020204030204" pitchFamily="34" charset="0"/>
                <a:ea typeface="Calibri" panose="020F0502020204030204" pitchFamily="34" charset="0"/>
                <a:cs typeface="Arial" panose="020B0604020202020204" pitchFamily="34" charset="0"/>
              </a:rPr>
              <a:t>ובטלא</a:t>
            </a:r>
            <a:endParaRPr lang="he-IL" dirty="0">
              <a:latin typeface="Calibri" panose="020F0502020204030204" pitchFamily="34" charset="0"/>
              <a:ea typeface="Calibri" panose="020F0502020204030204" pitchFamily="34" charset="0"/>
              <a:cs typeface="Arial" panose="020B0604020202020204" pitchFamily="34" charset="0"/>
            </a:endParaRP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הגדרת מנגנון העבודה </a:t>
            </a:r>
            <a:r>
              <a:rPr lang="he-IL" dirty="0">
                <a:latin typeface="Calibri" panose="020F0502020204030204" pitchFamily="34" charset="0"/>
                <a:ea typeface="Calibri" panose="020F0502020204030204" pitchFamily="34" charset="0"/>
                <a:cs typeface="Arial" panose="020B0604020202020204" pitchFamily="34" charset="0"/>
              </a:rPr>
              <a:t>המשותף- </a:t>
            </a:r>
            <a:r>
              <a:rPr lang="en-US" dirty="0">
                <a:latin typeface="Calibri" panose="020F0502020204030204" pitchFamily="34" charset="0"/>
                <a:ea typeface="Calibri" panose="020F0502020204030204" pitchFamily="34" charset="0"/>
                <a:cs typeface="Arial" panose="020B0604020202020204" pitchFamily="34" charset="0"/>
              </a:rPr>
              <a:t>EY</a:t>
            </a:r>
            <a:r>
              <a:rPr lang="he-IL" dirty="0">
                <a:latin typeface="Calibri" panose="020F0502020204030204" pitchFamily="34" charset="0"/>
                <a:ea typeface="Calibri" panose="020F0502020204030204" pitchFamily="34" charset="0"/>
                <a:cs typeface="Arial" panose="020B0604020202020204" pitchFamily="34" charset="0"/>
              </a:rPr>
              <a:t> עם רווחה, </a:t>
            </a:r>
            <a:r>
              <a:rPr lang="he-IL" dirty="0" err="1">
                <a:latin typeface="Calibri" panose="020F0502020204030204" pitchFamily="34" charset="0"/>
                <a:ea typeface="Calibri" panose="020F0502020204030204" pitchFamily="34" charset="0"/>
                <a:cs typeface="Arial" panose="020B0604020202020204" pitchFamily="34" charset="0"/>
              </a:rPr>
              <a:t>בטלא</a:t>
            </a:r>
            <a:r>
              <a:rPr lang="he-IL" dirty="0">
                <a:latin typeface="Calibri" panose="020F0502020204030204" pitchFamily="34" charset="0"/>
                <a:ea typeface="Calibri" panose="020F0502020204030204" pitchFamily="34" charset="0"/>
                <a:cs typeface="Arial" panose="020B0604020202020204" pitchFamily="34" charset="0"/>
              </a:rPr>
              <a:t> ובריאות</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נייר מדיניות </a:t>
            </a:r>
            <a:r>
              <a:rPr lang="he-IL" dirty="0">
                <a:latin typeface="Calibri" panose="020F0502020204030204" pitchFamily="34" charset="0"/>
                <a:ea typeface="Calibri" panose="020F0502020204030204" pitchFamily="34" charset="0"/>
              </a:rPr>
              <a:t>משותף על סל תפקוד אישי- רווחה, </a:t>
            </a:r>
            <a:r>
              <a:rPr lang="he-IL" dirty="0" err="1">
                <a:latin typeface="Calibri" panose="020F0502020204030204" pitchFamily="34" charset="0"/>
                <a:ea typeface="Calibri" panose="020F0502020204030204" pitchFamily="34" charset="0"/>
              </a:rPr>
              <a:t>בטל"א</a:t>
            </a:r>
            <a:r>
              <a:rPr lang="he-IL" dirty="0">
                <a:latin typeface="Calibri" panose="020F0502020204030204" pitchFamily="34" charset="0"/>
                <a:ea typeface="Calibri" panose="020F0502020204030204" pitchFamily="34" charset="0"/>
              </a:rPr>
              <a:t> ובריאות</a:t>
            </a:r>
          </a:p>
          <a:p>
            <a:pPr marL="342891" indent="-342891" algn="r" rtl="1">
              <a:lnSpc>
                <a:spcPct val="150000"/>
              </a:lnSpc>
              <a:buFont typeface="+mj-lt"/>
              <a:buAutoNum type="arabicPeriod"/>
            </a:pPr>
            <a:r>
              <a:rPr lang="he-IL" dirty="0" err="1">
                <a:latin typeface="Calibri" panose="020F0502020204030204" pitchFamily="34" charset="0"/>
                <a:ea typeface="Calibri" panose="020F0502020204030204" pitchFamily="34" charset="0"/>
                <a:cs typeface="Arial" panose="020B0604020202020204" pitchFamily="34" charset="0"/>
              </a:rPr>
              <a:t>בנצ'מרק</a:t>
            </a:r>
            <a:r>
              <a:rPr lang="he-IL" dirty="0">
                <a:latin typeface="Calibri" panose="020F0502020204030204" pitchFamily="34" charset="0"/>
                <a:ea typeface="Calibri" panose="020F0502020204030204" pitchFamily="34" charset="0"/>
                <a:cs typeface="Arial" panose="020B0604020202020204" pitchFamily="34" charset="0"/>
              </a:rPr>
              <a:t> </a:t>
            </a:r>
            <a:r>
              <a:rPr lang="he-IL" b="1" dirty="0">
                <a:latin typeface="Calibri" panose="020F0502020204030204" pitchFamily="34" charset="0"/>
                <a:ea typeface="Calibri" panose="020F0502020204030204" pitchFamily="34" charset="0"/>
                <a:cs typeface="Arial" panose="020B0604020202020204" pitchFamily="34" charset="0"/>
              </a:rPr>
              <a:t>סקירת המערכות </a:t>
            </a:r>
            <a:r>
              <a:rPr lang="he-IL" b="1" dirty="0" err="1">
                <a:latin typeface="Calibri" panose="020F0502020204030204" pitchFamily="34" charset="0"/>
                <a:ea typeface="Calibri" panose="020F0502020204030204" pitchFamily="34" charset="0"/>
                <a:cs typeface="Arial" panose="020B0604020202020204" pitchFamily="34" charset="0"/>
              </a:rPr>
              <a:t>ואיפיון</a:t>
            </a:r>
            <a:r>
              <a:rPr lang="he-IL" b="1" dirty="0">
                <a:latin typeface="Calibri" panose="020F0502020204030204" pitchFamily="34" charset="0"/>
                <a:ea typeface="Calibri" panose="020F0502020204030204" pitchFamily="34" charset="0"/>
                <a:cs typeface="Arial" panose="020B0604020202020204" pitchFamily="34" charset="0"/>
              </a:rPr>
              <a:t> דרישות</a:t>
            </a:r>
            <a:r>
              <a:rPr lang="he-IL" dirty="0">
                <a:latin typeface="Calibri" panose="020F0502020204030204" pitchFamily="34" charset="0"/>
                <a:ea typeface="Calibri" panose="020F0502020204030204" pitchFamily="34" charset="0"/>
                <a:cs typeface="Arial" panose="020B0604020202020204" pitchFamily="34" charset="0"/>
              </a:rPr>
              <a:t>- ג'וינט ורווחה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עבודה על פרופילים ואופטימיזציה </a:t>
            </a:r>
            <a:r>
              <a:rPr lang="he-IL" dirty="0">
                <a:latin typeface="Calibri" panose="020F0502020204030204" pitchFamily="34" charset="0"/>
                <a:ea typeface="Calibri" panose="020F0502020204030204" pitchFamily="34" charset="0"/>
                <a:cs typeface="Arial" panose="020B0604020202020204" pitchFamily="34" charset="0"/>
              </a:rPr>
              <a:t>של צרכים ומענים- רווחה, ג'וינט</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מודל תמריצים- </a:t>
            </a:r>
            <a:r>
              <a:rPr lang="en-US" dirty="0">
                <a:latin typeface="Calibri" panose="020F0502020204030204" pitchFamily="34" charset="0"/>
                <a:ea typeface="Calibri" panose="020F0502020204030204" pitchFamily="34" charset="0"/>
                <a:cs typeface="Arial" panose="020B0604020202020204" pitchFamily="34" charset="0"/>
              </a:rPr>
              <a:t>EY</a:t>
            </a:r>
            <a:endParaRPr lang="he-IL" dirty="0">
              <a:latin typeface="Calibri" panose="020F0502020204030204" pitchFamily="34" charset="0"/>
              <a:ea typeface="Calibri" panose="020F0502020204030204" pitchFamily="34" charset="0"/>
              <a:cs typeface="Arial" panose="020B0604020202020204" pitchFamily="34" charset="0"/>
            </a:endParaRPr>
          </a:p>
          <a:p>
            <a:pPr marL="342891" indent="-342891">
              <a:lnSpc>
                <a:spcPct val="150000"/>
              </a:lnSpc>
              <a:buFont typeface="+mj-lt"/>
              <a:buAutoNum type="arabicPeriod"/>
            </a:pPr>
            <a:r>
              <a:rPr lang="he-IL" b="1" dirty="0" err="1">
                <a:latin typeface="Calibri" panose="020F0502020204030204" pitchFamily="34" charset="0"/>
                <a:ea typeface="Calibri" panose="020F0502020204030204" pitchFamily="34" charset="0"/>
                <a:cs typeface="Arial" panose="020B0604020202020204" pitchFamily="34" charset="0"/>
              </a:rPr>
              <a:t>פיילוטים</a:t>
            </a:r>
            <a:r>
              <a:rPr lang="he-IL" dirty="0">
                <a:latin typeface="Calibri" panose="020F0502020204030204" pitchFamily="34" charset="0"/>
                <a:ea typeface="Calibri" panose="020F0502020204030204" pitchFamily="34" charset="0"/>
                <a:cs typeface="Arial" panose="020B0604020202020204" pitchFamily="34" charset="0"/>
              </a:rPr>
              <a:t> בירושלים ובאשכול מפרץ</a:t>
            </a:r>
            <a:endParaRPr lang="he-IL" dirty="0">
              <a:latin typeface="Calibri" panose="020F0502020204030204" pitchFamily="34" charset="0"/>
              <a:ea typeface="Calibri" panose="020F0502020204030204" pitchFamily="34" charset="0"/>
            </a:endParaRP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צוותים רב מערכתיים משותפים </a:t>
            </a:r>
            <a:r>
              <a:rPr lang="he-IL" dirty="0">
                <a:latin typeface="Calibri" panose="020F0502020204030204" pitchFamily="34" charset="0"/>
                <a:ea typeface="Calibri" panose="020F0502020204030204" pitchFamily="34" charset="0"/>
              </a:rPr>
              <a:t>בפורום ברק:  </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פיתוח </a:t>
            </a:r>
            <a:r>
              <a:rPr lang="he-IL" b="1" dirty="0">
                <a:latin typeface="Calibri" panose="020F0502020204030204" pitchFamily="34" charset="0"/>
                <a:ea typeface="Calibri" panose="020F0502020204030204" pitchFamily="34" charset="0"/>
                <a:cs typeface="Arial" panose="020B0604020202020204" pitchFamily="34" charset="0"/>
              </a:rPr>
              <a:t>מקצועי</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a:t>
            </a:r>
            <a:r>
              <a:rPr lang="he-IL" b="1" dirty="0">
                <a:latin typeface="Calibri" panose="020F0502020204030204" pitchFamily="34" charset="0"/>
                <a:ea typeface="Calibri" panose="020F0502020204030204" pitchFamily="34" charset="0"/>
                <a:cs typeface="Arial" panose="020B0604020202020204" pitchFamily="34" charset="0"/>
              </a:rPr>
              <a:t>מדדים</a:t>
            </a:r>
          </a:p>
          <a:p>
            <a:pPr marL="285750" indent="-285750" algn="r" rtl="1">
              <a:lnSpc>
                <a:spcPct val="150000"/>
              </a:lnSpc>
              <a:buFont typeface="Arial" panose="020B0604020202020204" pitchFamily="34" charset="0"/>
              <a:buChar char="•"/>
            </a:pPr>
            <a:r>
              <a:rPr lang="he-IL" dirty="0">
                <a:latin typeface="Calibri" panose="020F0502020204030204" pitchFamily="34" charset="0"/>
                <a:ea typeface="Calibri" panose="020F0502020204030204" pitchFamily="34" charset="0"/>
                <a:cs typeface="Arial" panose="020B0604020202020204" pitchFamily="34" charset="0"/>
              </a:rPr>
              <a:t>  צוות </a:t>
            </a:r>
            <a:r>
              <a:rPr lang="he-IL" b="1" dirty="0">
                <a:latin typeface="Calibri" panose="020F0502020204030204" pitchFamily="34" charset="0"/>
                <a:ea typeface="Calibri" panose="020F0502020204030204" pitchFamily="34" charset="0"/>
                <a:cs typeface="Arial" panose="020B0604020202020204" pitchFamily="34" charset="0"/>
              </a:rPr>
              <a:t>טכנולוגי</a:t>
            </a:r>
          </a:p>
        </p:txBody>
      </p:sp>
    </p:spTree>
    <p:extLst>
      <p:ext uri="{BB962C8B-B14F-4D97-AF65-F5344CB8AC3E}">
        <p14:creationId xmlns:p14="http://schemas.microsoft.com/office/powerpoint/2010/main" val="15037782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2522671" y="153528"/>
            <a:ext cx="9094156"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a:t>
            </a:r>
            <a:r>
              <a:rPr kumimoji="0" lang="he-IL" sz="3200" b="1" i="0" u="none" strike="noStrike" kern="1200" cap="none" spc="0" normalizeH="0" baseline="0" noProof="0" dirty="0" err="1">
                <a:ln>
                  <a:noFill/>
                </a:ln>
                <a:solidFill>
                  <a:srgbClr val="0F6FC6"/>
                </a:solidFill>
                <a:effectLst/>
                <a:uLnTx/>
                <a:uFillTx/>
                <a:latin typeface="Assistant" pitchFamily="2" charset="-79"/>
                <a:ea typeface="+mn-ea"/>
                <a:cs typeface="Assistant" pitchFamily="2" charset="-79"/>
              </a:rPr>
              <a:t>הדיגיטל</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 יאפשר לפנינה ולנו הזדקנות מטיבה: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438050" y="1805463"/>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בריאות ורווחה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אפשרויות לפעילויות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תמיכה נפשית וחברתית </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497235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מטופל באינסולין</a:t>
            </a:r>
          </a:p>
          <a:p>
            <a:pPr algn="r" rtl="1"/>
            <a:r>
              <a:rPr lang="he-IL" sz="6400" dirty="0"/>
              <a:t>* יתר לחץ דם</a:t>
            </a:r>
          </a:p>
          <a:p>
            <a:pPr algn="r" rtl="1"/>
            <a:r>
              <a:rPr lang="he-IL" sz="6400" dirty="0"/>
              <a:t>* </a:t>
            </a:r>
            <a:r>
              <a:rPr lang="he-IL" sz="6400" dirty="0" err="1"/>
              <a:t>אוסטאוטריטיס</a:t>
            </a:r>
            <a:r>
              <a:rPr lang="he-IL" sz="6400" dirty="0"/>
              <a:t>– 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ליפול ממעט 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 שעות מטפלת 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וניקיון</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המצב והשיטה היום</a:t>
            </a: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רמה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17 שעות</a:t>
            </a:r>
          </a:p>
        </p:txBody>
      </p:sp>
      <p:sp>
        <p:nvSpPr>
          <p:cNvPr id="15" name="TextBox 14"/>
          <p:cNvSpPr txBox="1"/>
          <p:nvPr/>
        </p:nvSpPr>
        <p:spPr>
          <a:xfrm>
            <a:off x="3635899" y="1833986"/>
            <a:ext cx="1260281" cy="369332"/>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הסל הקיים:</a:t>
            </a:r>
          </a:p>
        </p:txBody>
      </p:sp>
      <p:pic>
        <p:nvPicPr>
          <p:cNvPr id="2" name="Picture 3" descr="קובץ:Ministry of Labor, Social Affairs and Social Services ...">
            <a:extLst>
              <a:ext uri="{FF2B5EF4-FFF2-40B4-BE49-F238E27FC236}">
                <a16:creationId xmlns:a16="http://schemas.microsoft.com/office/drawing/2014/main" id="{56384361-9FEF-5BA5-BCE4-6C97452DE551}"/>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09938"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6">
            <a:extLst>
              <a:ext uri="{FF2B5EF4-FFF2-40B4-BE49-F238E27FC236}">
                <a16:creationId xmlns:a16="http://schemas.microsoft.com/office/drawing/2014/main" id="{879C8D2E-8DD9-EE32-1121-DDC692A64B96}"/>
              </a:ext>
            </a:extLst>
          </p:cNvPr>
          <p:cNvPicPr>
            <a:picLocks noChangeAspect="1"/>
          </p:cNvPicPr>
          <p:nvPr/>
        </p:nvPicPr>
        <p:blipFill>
          <a:blip r:embed="rId5"/>
          <a:stretch>
            <a:fillRect/>
          </a:stretch>
        </p:blipFill>
        <p:spPr>
          <a:xfrm>
            <a:off x="267680" y="6217298"/>
            <a:ext cx="1118350" cy="612431"/>
          </a:xfrm>
          <a:prstGeom prst="rect">
            <a:avLst/>
          </a:prstGeom>
          <a:ln>
            <a:noFill/>
          </a:ln>
        </p:spPr>
      </p:pic>
    </p:spTree>
    <p:extLst>
      <p:ext uri="{BB962C8B-B14F-4D97-AF65-F5344CB8AC3E}">
        <p14:creationId xmlns:p14="http://schemas.microsoft.com/office/powerpoint/2010/main" val="42865333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356691" y="588475"/>
            <a:ext cx="5456668" cy="5894061"/>
          </a:xfrm>
          <a:prstGeom prst="roundRect">
            <a:avLst/>
          </a:prstGeom>
          <a:solidFill>
            <a:srgbClr val="5EC5C5"/>
          </a:solidFill>
          <a:ln>
            <a:solidFill>
              <a:schemeClr val="accent1"/>
            </a:solidFill>
          </a:ln>
          <a:effectLst>
            <a:softEdge rad="0"/>
          </a:effectLst>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a:t>רגישות לכאב </a:t>
            </a:r>
          </a:p>
          <a:p>
            <a:pPr marL="342900" indent="-342900" algn="r" rtl="1">
              <a:buFont typeface="Arial" panose="020B0604020202020204" pitchFamily="34" charset="0"/>
              <a:buChar char="•"/>
            </a:pPr>
            <a:r>
              <a:rPr lang="he-IL" dirty="0"/>
              <a:t>בעיות שמיעה</a:t>
            </a:r>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231053" y="944291"/>
            <a:ext cx="547630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endPar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8 שעות 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1,118 ₪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(2 ש' צבוע + 2 ש' בבחירה) כגון:</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 209 ₪ ל</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קהילה מקדמת שייכות, בריאות וחוסן </a:t>
            </a:r>
            <a:r>
              <a:rPr kumimoji="0" lang="he-IL"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תיווך וסיוע)-</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קורס 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350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9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שיעורי 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בריכה והידרותרפיה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(מענה לקשיים: נוקשות בתנועתיות- סביבת המים, ההחזקה- מענה לחשש מנפילות)</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(קריטי לתפקוד ולמניעת הדרדרות)</a:t>
            </a:r>
            <a:endParaRPr kumimoji="0" lang="he-IL" sz="3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דו חודשית 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(צורך בקשר ומשמעות ומיצוי עצמי)</a:t>
            </a: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1409 ₪ מתוכם 1,118 ₪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6097256" y="3295511"/>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7164023" y="3388674"/>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ההזדמנות לשינוי</a:t>
            </a: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 </a:t>
            </a:r>
            <a:r>
              <a:rPr kumimoji="0" lang="he-IL" sz="15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פרופיל  </a:t>
            </a:r>
            <a:r>
              <a:rPr kumimoji="0" lang="he-IL" sz="135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וסל  תפקודי </a:t>
            </a:r>
            <a:r>
              <a:rPr kumimoji="0" lang="he-IL" sz="1500" b="1" i="0" u="none" strike="noStrike" kern="1200" cap="none" spc="0" normalizeH="0" baseline="0" noProof="0" dirty="0">
                <a:ln>
                  <a:noFill/>
                </a:ln>
                <a:solidFill>
                  <a:prstClr val="white"/>
                </a:solidFill>
                <a:effectLst/>
                <a:uLnTx/>
                <a:uFillTx/>
                <a:latin typeface="Aptos" panose="02110004020202020204"/>
                <a:ea typeface="+mn-ea"/>
                <a:cs typeface="Arial" panose="020B0604020202020204" pitchFamily="34" charset="0"/>
              </a:rPr>
              <a:t>מותאם</a:t>
            </a:r>
          </a:p>
        </p:txBody>
      </p:sp>
      <p:sp>
        <p:nvSpPr>
          <p:cNvPr id="23" name="מלבן 22"/>
          <p:cNvSpPr/>
          <p:nvPr/>
        </p:nvSpPr>
        <p:spPr>
          <a:xfrm>
            <a:off x="994130" y="187332"/>
            <a:ext cx="4030270"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הסל החדש: מותאם, מתמרץ ודוחק תלות:</a:t>
            </a:r>
          </a:p>
        </p:txBody>
      </p:sp>
      <p:sp>
        <p:nvSpPr>
          <p:cNvPr id="17" name="מלבן 16">
            <a:extLst>
              <a:ext uri="{FF2B5EF4-FFF2-40B4-BE49-F238E27FC236}">
                <a16:creationId xmlns:a16="http://schemas.microsoft.com/office/drawing/2014/main" id="{72EB0216-DF15-0ADF-1446-3B696A77CA6A}"/>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10">
            <a:extLst>
              <a:ext uri="{FF2B5EF4-FFF2-40B4-BE49-F238E27FC236}">
                <a16:creationId xmlns:a16="http://schemas.microsoft.com/office/drawing/2014/main" id="{23D44079-AB70-B511-15B2-3CF42217CADE}"/>
              </a:ext>
            </a:extLst>
          </p:cNvPr>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סל מותאם אישית</a:t>
            </a:r>
          </a:p>
        </p:txBody>
      </p:sp>
      <p:pic>
        <p:nvPicPr>
          <p:cNvPr id="20" name="Picture 3" descr="קובץ:Ministry of Labor, Social Affairs and Social Services ...">
            <a:extLst>
              <a:ext uri="{FF2B5EF4-FFF2-40B4-BE49-F238E27FC236}">
                <a16:creationId xmlns:a16="http://schemas.microsoft.com/office/drawing/2014/main" id="{656A95EA-F359-CE94-B91F-44C14546E346}"/>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311239" y="6295970"/>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6">
            <a:extLst>
              <a:ext uri="{FF2B5EF4-FFF2-40B4-BE49-F238E27FC236}">
                <a16:creationId xmlns:a16="http://schemas.microsoft.com/office/drawing/2014/main" id="{9B3813F8-DD0B-0590-A57E-77BDC3E091AB}"/>
              </a:ext>
            </a:extLst>
          </p:cNvPr>
          <p:cNvPicPr>
            <a:picLocks noChangeAspect="1"/>
          </p:cNvPicPr>
          <p:nvPr/>
        </p:nvPicPr>
        <p:blipFill>
          <a:blip r:embed="rId5"/>
          <a:stretch>
            <a:fillRect/>
          </a:stretch>
        </p:blipFill>
        <p:spPr>
          <a:xfrm>
            <a:off x="9068981" y="6196459"/>
            <a:ext cx="1118350" cy="612431"/>
          </a:xfrm>
          <a:prstGeom prst="rect">
            <a:avLst/>
          </a:prstGeom>
          <a:ln>
            <a:noFill/>
          </a:ln>
        </p:spPr>
      </p:pic>
    </p:spTree>
    <p:extLst>
      <p:ext uri="{BB962C8B-B14F-4D97-AF65-F5344CB8AC3E}">
        <p14:creationId xmlns:p14="http://schemas.microsoft.com/office/powerpoint/2010/main" val="32095810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מלבן 15"/>
          <p:cNvSpPr/>
          <p:nvPr/>
        </p:nvSpPr>
        <p:spPr>
          <a:xfrm>
            <a:off x="8710" y="8466"/>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5" name="TextBox 24"/>
          <p:cNvSpPr txBox="1"/>
          <p:nvPr/>
        </p:nvSpPr>
        <p:spPr>
          <a:xfrm>
            <a:off x="1076242" y="49402"/>
            <a:ext cx="7282543"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מהלכים וכיוונים להמשך</a:t>
            </a:r>
          </a:p>
        </p:txBody>
      </p:sp>
      <p:pic>
        <p:nvPicPr>
          <p:cNvPr id="33" name="תמונה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33364" y="7112573"/>
            <a:ext cx="1917271" cy="519704"/>
          </a:xfrm>
          <a:prstGeom prst="rect">
            <a:avLst/>
          </a:prstGeom>
        </p:spPr>
      </p:pic>
      <p:grpSp>
        <p:nvGrpSpPr>
          <p:cNvPr id="34" name="קבוצה 33"/>
          <p:cNvGrpSpPr/>
          <p:nvPr/>
        </p:nvGrpSpPr>
        <p:grpSpPr>
          <a:xfrm>
            <a:off x="1737682" y="685172"/>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marL="0" marR="0" lvl="0" indent="0" algn="ctr" defTabSz="1244600" rtl="1" eaLnBrk="1" fontAlgn="auto" latinLnBrk="0" hangingPunct="1">
                <a:lnSpc>
                  <a:spcPct val="90000"/>
                </a:lnSpc>
                <a:spcBef>
                  <a:spcPct val="0"/>
                </a:spcBef>
                <a:spcAft>
                  <a:spcPct val="35000"/>
                </a:spcAft>
                <a:buClrTx/>
                <a:buSzTx/>
                <a:buFontTx/>
                <a:buNone/>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37" name="אליפסה 36"/>
          <p:cNvSpPr/>
          <p:nvPr/>
        </p:nvSpPr>
        <p:spPr>
          <a:xfrm>
            <a:off x="2142754" y="453506"/>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1693672" y="238801"/>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marL="0" marR="0" lvl="0" indent="0" algn="ctr" defTabSz="977900" rtl="1" eaLnBrk="1" fontAlgn="auto" latinLnBrk="0" hangingPunct="1">
                <a:lnSpc>
                  <a:spcPct val="90000"/>
                </a:lnSpc>
                <a:spcBef>
                  <a:spcPct val="0"/>
                </a:spcBef>
                <a:spcAft>
                  <a:spcPct val="35000"/>
                </a:spcAft>
                <a:buClrTx/>
                <a:buSzTx/>
                <a:buFontTx/>
                <a:buNone/>
                <a:tabLst/>
                <a:defRPr/>
              </a:pPr>
              <a:endParaRPr kumimoji="0" lang="he-IL"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sp>
        <p:nvSpPr>
          <p:cNvPr id="41" name="חץ שמאלה 40"/>
          <p:cNvSpPr/>
          <p:nvPr/>
        </p:nvSpPr>
        <p:spPr>
          <a:xfrm>
            <a:off x="3468948" y="4867373"/>
            <a:ext cx="656830" cy="356781"/>
          </a:xfrm>
          <a:prstGeom prst="leftArrow">
            <a:avLst/>
          </a:prstGeom>
          <a:solidFill>
            <a:srgbClr val="00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4" name="דיאגרמה 3"/>
          <p:cNvGraphicFramePr/>
          <p:nvPr/>
        </p:nvGraphicFramePr>
        <p:xfrm>
          <a:off x="2094248" y="728133"/>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7" name="TextBox 46"/>
          <p:cNvSpPr txBox="1"/>
          <p:nvPr/>
        </p:nvSpPr>
        <p:spPr>
          <a:xfrm rot="16200000">
            <a:off x="-934780" y="703270"/>
            <a:ext cx="1922322"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מהלכים וכיוונים קדימה</a:t>
            </a:r>
          </a:p>
        </p:txBody>
      </p:sp>
      <p:pic>
        <p:nvPicPr>
          <p:cNvPr id="2" name="Picture 3" descr="קובץ:Ministry of Labor, Social Affairs and Social Services ...">
            <a:extLst>
              <a:ext uri="{FF2B5EF4-FFF2-40B4-BE49-F238E27FC236}">
                <a16:creationId xmlns:a16="http://schemas.microsoft.com/office/drawing/2014/main" id="{BCE3E37F-4347-0AA1-4B1D-EE78582D22E1}"/>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0361997" y="6349603"/>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6">
            <a:extLst>
              <a:ext uri="{FF2B5EF4-FFF2-40B4-BE49-F238E27FC236}">
                <a16:creationId xmlns:a16="http://schemas.microsoft.com/office/drawing/2014/main" id="{B4FFC173-E8A7-FA20-B707-4655A4E8AB05}"/>
              </a:ext>
            </a:extLst>
          </p:cNvPr>
          <p:cNvPicPr>
            <a:picLocks noChangeAspect="1"/>
          </p:cNvPicPr>
          <p:nvPr/>
        </p:nvPicPr>
        <p:blipFill>
          <a:blip r:embed="rId10"/>
          <a:stretch>
            <a:fillRect/>
          </a:stretch>
        </p:blipFill>
        <p:spPr>
          <a:xfrm>
            <a:off x="9119739" y="6250092"/>
            <a:ext cx="1118350" cy="612431"/>
          </a:xfrm>
          <a:prstGeom prst="rect">
            <a:avLst/>
          </a:prstGeom>
          <a:ln>
            <a:noFill/>
          </a:ln>
        </p:spPr>
      </p:pic>
    </p:spTree>
    <p:extLst>
      <p:ext uri="{BB962C8B-B14F-4D97-AF65-F5344CB8AC3E}">
        <p14:creationId xmlns:p14="http://schemas.microsoft.com/office/powerpoint/2010/main" val="30274065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97321" y="1630377"/>
            <a:ext cx="5100248"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7413756"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בישראל</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80459" y="1630377"/>
            <a:ext cx="3284341"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ניתוח ביקושים גאוגרפי –קהל היעד למניעה ותמרוץ ברמה הארצית והמקומית</a:t>
            </a:r>
            <a:endParaRPr kumimoji="0" lang="en-IL" sz="3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2606055"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ctr" defTabSz="410751" rtl="0" eaLnBrk="1" fontAlgn="auto" latinLnBrk="0" hangingPunct="0">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קהילות לרמות 1-2 תל אביב</a:t>
            </a:r>
            <a:endParaRPr kumimoji="0" lang="he-IL" sz="2400" b="1" i="0" u="none" strike="noStrike" kern="1200" cap="none" spc="0" normalizeH="0" baseline="0" noProof="0" dirty="0">
              <a:ln>
                <a:noFill/>
              </a:ln>
              <a:solidFill>
                <a:srgbClr val="000000"/>
              </a:solidFill>
              <a:effectLst/>
              <a:uLnTx/>
              <a:uFillTx/>
              <a:latin typeface="Helvetica Neue"/>
              <a:ea typeface="Helvetica Neue"/>
              <a:cs typeface="Helvetica Neue"/>
              <a:sym typeface="Helvetica Neue"/>
            </a:endParaRPr>
          </a:p>
        </p:txBody>
      </p:sp>
      <p:sp>
        <p:nvSpPr>
          <p:cNvPr id="8" name="מלבן 7"/>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9" name="TextBox 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10" name="מלבן 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extBox 10"/>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9817494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2498484" y="167223"/>
            <a:ext cx="6904454"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מהלך </a:t>
            </a:r>
            <a:r>
              <a:rPr kumimoji="0" lang="he-IL" sz="4400" b="1" i="0" u="none" strike="noStrike" kern="1200" cap="none" spc="0" normalizeH="0" baseline="0" noProof="0" dirty="0" err="1">
                <a:ln>
                  <a:noFill/>
                </a:ln>
                <a:solidFill>
                  <a:prstClr val="white"/>
                </a:solidFill>
                <a:effectLst/>
                <a:uLnTx/>
                <a:uFillTx/>
                <a:latin typeface="Calibri" panose="020F0502020204030204" pitchFamily="34" charset="0"/>
                <a:ea typeface="+mn-ea"/>
                <a:cs typeface="Calibri" panose="020F0502020204030204" pitchFamily="34" charset="0"/>
              </a:rPr>
              <a:t>הדיגיטל</a:t>
            </a:r>
            <a:r>
              <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 להזדקנות מיטבית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e-IL" sz="2200" dirty="0">
                <a:solidFill>
                  <a:srgbClr val="FFFFFF"/>
                </a:solidFill>
              </a:rPr>
              <a:t>"יחד, נוכל להפוך את מערכת הסיעוד בישראל למודל של חדשנות, יעילות ואיכות חיים - לא רק עבור הדור הנוכחי, אלא גם עבור הדורות הבאים."</a:t>
            </a:r>
            <a:endParaRPr kumimoji="0" lang="he-IL" sz="2200" b="0" i="0" u="none" strike="noStrike" kern="1200" cap="none" spc="0" normalizeH="0" baseline="0" noProof="0" dirty="0">
              <a:ln>
                <a:noFill/>
              </a:ln>
              <a:solidFill>
                <a:srgbClr val="FFFFFF"/>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97299" y="145268"/>
            <a:ext cx="6430073" cy="1325563"/>
          </a:xfrm>
        </p:spPr>
        <p:txBody>
          <a:bodyPr>
            <a:normAutofit/>
          </a:bodyPr>
          <a:lstStyle/>
          <a:p>
            <a:r>
              <a:rPr lang="he-IL" sz="3600" b="1" dirty="0">
                <a:solidFill>
                  <a:srgbClr val="002060"/>
                </a:solidFill>
                <a:latin typeface="Arial" panose="020B0604020202020204" pitchFamily="34" charset="0"/>
                <a:ea typeface="+mn-ea"/>
                <a:cs typeface="Arial" panose="020B0604020202020204" pitchFamily="34" charset="0"/>
              </a:rPr>
              <a:t>אחוז המרה לפי שירותים 2024</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271197" y="5771417"/>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pPr marL="0" marR="0" lvl="0" indent="0" algn="r" defTabSz="914400" rtl="1" eaLnBrk="1" fontAlgn="auto" latinLnBrk="0" hangingPunct="1">
              <a:lnSpc>
                <a:spcPct val="80000"/>
              </a:lnSpc>
              <a:spcBef>
                <a:spcPct val="0"/>
              </a:spcBef>
              <a:spcAft>
                <a:spcPts val="0"/>
              </a:spcAft>
              <a:buClrTx/>
              <a:buSzTx/>
              <a:buFontTx/>
              <a:buNone/>
              <a:tabLst/>
              <a:defRPr/>
            </a:pPr>
            <a:endParaRPr kumimoji="0" lang="he-IL" sz="2400" b="0" i="0" u="none" strike="noStrike" kern="120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endParaRPr>
          </a:p>
        </p:txBody>
      </p:sp>
      <p:graphicFrame>
        <p:nvGraphicFramePr>
          <p:cNvPr id="14" name="טבלה 13"/>
          <p:cNvGraphicFramePr>
            <a:graphicFrameLocks noGrp="1"/>
          </p:cNvGraphicFramePr>
          <p:nvPr/>
        </p:nvGraphicFramePr>
        <p:xfrm>
          <a:off x="486909" y="121125"/>
          <a:ext cx="2133600" cy="1139190"/>
        </p:xfrm>
        <a:graphic>
          <a:graphicData uri="http://schemas.openxmlformats.org/drawingml/2006/table">
            <a:tbl>
              <a:tblPr rtl="1"/>
              <a:tblGrid>
                <a:gridCol w="1244600">
                  <a:extLst>
                    <a:ext uri="{9D8B030D-6E8A-4147-A177-3AD203B41FA5}">
                      <a16:colId xmlns:a16="http://schemas.microsoft.com/office/drawing/2014/main" val="531752868"/>
                    </a:ext>
                  </a:extLst>
                </a:gridCol>
                <a:gridCol w="889000">
                  <a:extLst>
                    <a:ext uri="{9D8B030D-6E8A-4147-A177-3AD203B41FA5}">
                      <a16:colId xmlns:a16="http://schemas.microsoft.com/office/drawing/2014/main" val="2430981515"/>
                    </a:ext>
                  </a:extLst>
                </a:gridCol>
              </a:tblGrid>
              <a:tr h="0">
                <a:tc>
                  <a:txBody>
                    <a:bodyPr/>
                    <a:lstStyle/>
                    <a:p>
                      <a:pPr algn="ctr" rtl="1" fontAlgn="ctr"/>
                      <a:r>
                        <a:rPr lang="he-IL" sz="1100" b="1" i="0" u="none" strike="noStrike" dirty="0">
                          <a:solidFill>
                            <a:srgbClr val="000000"/>
                          </a:solidFill>
                          <a:effectLst/>
                          <a:latin typeface="Arial" panose="020B0604020202020204" pitchFamily="34" charset="0"/>
                        </a:rPr>
                        <a:t>שירות</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rtl="1" fontAlgn="ctr"/>
                      <a:r>
                        <a:rPr lang="he-IL" sz="1100" b="1" i="0" u="none" strike="noStrike">
                          <a:solidFill>
                            <a:srgbClr val="000000"/>
                          </a:solidFill>
                          <a:effectLst/>
                          <a:latin typeface="Arial" panose="020B0604020202020204" pitchFamily="34" charset="0"/>
                        </a:rPr>
                        <a:t>באחוזים 2024</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667402133"/>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ישראלית</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37806897"/>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זרה</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14%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8922666"/>
                  </a:ext>
                </a:extLst>
              </a:tr>
              <a:tr h="190500">
                <a:tc>
                  <a:txBody>
                    <a:bodyPr/>
                    <a:lstStyle/>
                    <a:p>
                      <a:pPr algn="r" rtl="1" fontAlgn="b"/>
                      <a:r>
                        <a:rPr lang="he-IL" sz="1100" b="1" i="0" u="none" strike="noStrike">
                          <a:solidFill>
                            <a:srgbClr val="000000"/>
                          </a:solidFill>
                          <a:effectLst/>
                          <a:latin typeface="Arial" panose="020B0604020202020204" pitchFamily="34" charset="0"/>
                        </a:rPr>
                        <a:t>בני משפחה מטפלים</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41%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738512730"/>
                  </a:ext>
                </a:extLst>
              </a:tr>
              <a:tr h="190500">
                <a:tc>
                  <a:txBody>
                    <a:bodyPr/>
                    <a:lstStyle/>
                    <a:p>
                      <a:pPr algn="r" rtl="1" fontAlgn="b"/>
                      <a:r>
                        <a:rPr lang="he-IL" sz="1100" b="1" i="0" u="none" strike="noStrike">
                          <a:solidFill>
                            <a:srgbClr val="000000"/>
                          </a:solidFill>
                          <a:effectLst/>
                          <a:latin typeface="Arial" panose="020B0604020202020204" pitchFamily="34" charset="0"/>
                        </a:rPr>
                        <a:t>גמלה בכסף</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22%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3151792669"/>
                  </a:ext>
                </a:extLst>
              </a:tr>
              <a:tr h="200025">
                <a:tc>
                  <a:txBody>
                    <a:bodyPr/>
                    <a:lstStyle/>
                    <a:p>
                      <a:pPr algn="r" rtl="1" fontAlgn="b"/>
                      <a:r>
                        <a:rPr lang="he-IL" sz="1100" b="1" i="0" u="none" strike="noStrike" dirty="0">
                          <a:solidFill>
                            <a:srgbClr val="000000"/>
                          </a:solidFill>
                          <a:effectLst/>
                          <a:latin typeface="Arial" panose="020B0604020202020204" pitchFamily="34" charset="0"/>
                        </a:rPr>
                        <a:t>מרכז יום</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100" b="0" i="0" u="none" strike="noStrike" dirty="0">
                          <a:solidFill>
                            <a:srgbClr val="000000"/>
                          </a:solidFill>
                          <a:effectLst/>
                          <a:latin typeface="Arial" panose="020B0604020202020204" pitchFamily="34" charset="0"/>
                        </a:rPr>
                        <a:t>2%</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690847"/>
                  </a:ext>
                </a:extLst>
              </a:tr>
            </a:tbl>
          </a:graphicData>
        </a:graphic>
      </p:graphicFrame>
      <p:graphicFrame>
        <p:nvGraphicFramePr>
          <p:cNvPr id="10" name="תרשים 9"/>
          <p:cNvGraphicFramePr>
            <a:graphicFrameLocks/>
          </p:cNvGraphicFramePr>
          <p:nvPr/>
        </p:nvGraphicFramePr>
        <p:xfrm>
          <a:off x="3433164" y="1136074"/>
          <a:ext cx="7711109" cy="4929772"/>
        </p:xfrm>
        <a:graphic>
          <a:graphicData uri="http://schemas.openxmlformats.org/drawingml/2006/chart">
            <c:chart xmlns:c="http://schemas.openxmlformats.org/drawingml/2006/chart" xmlns:r="http://schemas.openxmlformats.org/officeDocument/2006/relationships" r:id="rId5"/>
          </a:graphicData>
        </a:graphic>
      </p:graphicFrame>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1350792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913467" y="705720"/>
            <a:ext cx="9385267" cy="1325563"/>
          </a:xfrm>
        </p:spPr>
        <p:txBody>
          <a:bodyPr/>
          <a:lstStyle/>
          <a:p>
            <a:r>
              <a:rPr lang="he-IL" dirty="0"/>
              <a:t>בריאות –תפקוד </a:t>
            </a:r>
            <a:r>
              <a:rPr lang="en-US" dirty="0"/>
              <a:t>ADL</a:t>
            </a:r>
          </a:p>
        </p:txBody>
      </p:sp>
      <p:sp>
        <p:nvSpPr>
          <p:cNvPr id="2" name="Rectangle 1">
            <a:extLst>
              <a:ext uri="{FF2B5EF4-FFF2-40B4-BE49-F238E27FC236}">
                <a16:creationId xmlns:a16="http://schemas.microsoft.com/office/drawing/2014/main" id="{EC14B4DC-62C7-4788-ABA2-4368D0591622}"/>
              </a:ext>
            </a:extLst>
          </p:cNvPr>
          <p:cNvSpPr/>
          <p:nvPr/>
        </p:nvSpPr>
        <p:spPr>
          <a:xfrm>
            <a:off x="1411206" y="1839884"/>
            <a:ext cx="9141305" cy="382797"/>
          </a:xfrm>
          <a:prstGeom prst="rect">
            <a:avLst/>
          </a:prstGeom>
        </p:spPr>
        <p:txBody>
          <a:bodyPr wrap="square">
            <a:spAutoFit/>
          </a:bodyPr>
          <a:lstStyle/>
          <a:p>
            <a:pPr marL="271463" marR="0" lvl="0" indent="0" algn="r" defTabSz="914400" rtl="1" eaLnBrk="1" fontAlgn="auto" latinLnBrk="0" hangingPunct="1">
              <a:lnSpc>
                <a:spcPts val="22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9" name="Chart 8"/>
          <p:cNvGraphicFramePr/>
          <p:nvPr/>
        </p:nvGraphicFramePr>
        <p:xfrm>
          <a:off x="490172" y="2531273"/>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5" name="מלבן 4"/>
          <p:cNvSpPr/>
          <p:nvPr/>
        </p:nvSpPr>
        <p:spPr>
          <a:xfrm>
            <a:off x="0"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16871" y="56986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6280177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ישראל מקום אחרון ב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IADL</a:t>
            </a:r>
            <a:endParaRPr kumimoji="0" lang="he-IL" sz="24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28535" y="570738"/>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3745218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5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התאמה אישית, מדידה ותמרוץ שירותים דוחקי תלות</a:t>
            </a: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400" b="0" i="0" u="none" strike="noStrike" kern="1200" cap="none" spc="0" normalizeH="0" baseline="0" noProof="0" dirty="0">
              <a:ln>
                <a:noFill/>
              </a:ln>
              <a:solidFill>
                <a:prstClr val="white"/>
              </a:solidFill>
              <a:effectLst/>
              <a:uLnTx/>
              <a:uFillTx/>
              <a:latin typeface="Gveret Levin AlefAlefAlef" panose="00000500000000000000" pitchFamily="50" charset="-79"/>
              <a:ea typeface="+mn-ea"/>
              <a:cs typeface="Gveret Levin AlefAlefAlef" panose="00000500000000000000" pitchFamily="50" charset="-79"/>
            </a:endParaRPr>
          </a:p>
        </p:txBody>
      </p:sp>
      <p:sp>
        <p:nvSpPr>
          <p:cNvPr id="23" name="מלבן 22"/>
          <p:cNvSpPr/>
          <p:nvPr/>
        </p:nvSpPr>
        <p:spPr>
          <a:xfrm>
            <a:off x="596367" y="5311931"/>
            <a:ext cx="11358218" cy="12201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5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שירותים חברתיים למקבלי סיעוד מחייב הסתכלות רחבה על כל 360 אלף מקבלי הגמלה, יכולת להציע שירותים מגוונים, התאמה ותמרוץ</a:t>
            </a:r>
          </a:p>
        </p:txBody>
      </p:sp>
      <p:grpSp>
        <p:nvGrpSpPr>
          <p:cNvPr id="7" name="קבוצה 6"/>
          <p:cNvGrpSpPr/>
          <p:nvPr/>
        </p:nvGrpSpPr>
        <p:grpSpPr>
          <a:xfrm>
            <a:off x="1154557" y="1144900"/>
            <a:ext cx="9653910" cy="2580023"/>
            <a:chOff x="1291535" y="3895066"/>
            <a:chExt cx="9653910" cy="2580023"/>
          </a:xfrm>
          <a:solidFill>
            <a:srgbClr val="FFC000"/>
          </a:solidFill>
        </p:grpSpPr>
        <p:sp>
          <p:nvSpPr>
            <p:cNvPr id="16" name="אליפסה 15"/>
            <p:cNvSpPr/>
            <p:nvPr/>
          </p:nvSpPr>
          <p:spPr>
            <a:xfrm>
              <a:off x="4637356" y="4770492"/>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err="1">
                  <a:ln>
                    <a:noFill/>
                  </a:ln>
                  <a:solidFill>
                    <a:srgbClr val="44546A">
                      <a:lumMod val="10000"/>
                    </a:srgbClr>
                  </a:solidFill>
                  <a:effectLst/>
                  <a:uLnTx/>
                  <a:uFillTx/>
                  <a:latin typeface="Calibri" panose="020F0502020204030204" pitchFamily="34" charset="0"/>
                  <a:ea typeface="+mn-ea"/>
                  <a:cs typeface="Calibri" panose="020F0502020204030204" pitchFamily="34" charset="0"/>
                </a:rPr>
                <a:t>אסדרת</a:t>
              </a: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תכנון השירותים ברשויות</a:t>
              </a:r>
            </a:p>
          </p:txBody>
        </p:sp>
        <p:sp>
          <p:nvSpPr>
            <p:cNvPr id="15" name="אליפסה 14"/>
            <p:cNvSpPr/>
            <p:nvPr/>
          </p:nvSpPr>
          <p:spPr>
            <a:xfrm>
              <a:off x="2951096" y="4762794"/>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5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a:t>
              </a:r>
            </a:p>
          </p:txBody>
        </p:sp>
      </p:grpSp>
      <p:sp>
        <p:nvSpPr>
          <p:cNvPr id="19" name="TextBox 18"/>
          <p:cNvSpPr txBox="1"/>
          <p:nvPr/>
        </p:nvSpPr>
        <p:spPr>
          <a:xfrm>
            <a:off x="2580841" y="314925"/>
            <a:ext cx="9253728" cy="5232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שת"פ והעברות מידע– 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4" name="אליפסה 13"/>
          <p:cNvSpPr/>
          <p:nvPr/>
        </p:nvSpPr>
        <p:spPr>
          <a:xfrm>
            <a:off x="6185347"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סל מותאם אישית</a:t>
            </a:r>
          </a:p>
        </p:txBody>
      </p:sp>
      <p:sp>
        <p:nvSpPr>
          <p:cNvPr id="2" name="מלבן 1">
            <a:extLst>
              <a:ext uri="{FF2B5EF4-FFF2-40B4-BE49-F238E27FC236}">
                <a16:creationId xmlns:a16="http://schemas.microsoft.com/office/drawing/2014/main" id="{67C49B9E-65D5-781E-4D41-177CE02F5461}"/>
              </a:ext>
            </a:extLst>
          </p:cNvPr>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prstClr val="white"/>
              </a:solidFill>
              <a:effectLst/>
              <a:uLnTx/>
              <a:uFillTx/>
              <a:latin typeface="Calibri"/>
              <a:ea typeface="+mn-ea"/>
              <a:cs typeface="Calibri"/>
            </a:endParaRPr>
          </a:p>
        </p:txBody>
      </p:sp>
      <p:sp>
        <p:nvSpPr>
          <p:cNvPr id="4" name="TextBox 5">
            <a:extLst>
              <a:ext uri="{FF2B5EF4-FFF2-40B4-BE49-F238E27FC236}">
                <a16:creationId xmlns:a16="http://schemas.microsoft.com/office/drawing/2014/main" id="{2CA3A015-7B6E-2195-8F3A-3584FA652760}"/>
              </a:ext>
            </a:extLst>
          </p:cNvPr>
          <p:cNvSpPr txBox="1"/>
          <p:nvPr/>
        </p:nvSpPr>
        <p:spPr>
          <a:xfrm rot="16200000">
            <a:off x="-1010313" y="774604"/>
            <a:ext cx="2039340"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8" name="אליפסה 7">
            <a:extLst>
              <a:ext uri="{FF2B5EF4-FFF2-40B4-BE49-F238E27FC236}">
                <a16:creationId xmlns:a16="http://schemas.microsoft.com/office/drawing/2014/main" id="{55525E03-FFF1-50E2-C731-4C2923713AFA}"/>
              </a:ext>
            </a:extLst>
          </p:cNvPr>
          <p:cNvSpPr/>
          <p:nvPr/>
        </p:nvSpPr>
        <p:spPr>
          <a:xfrm>
            <a:off x="9539283"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44546A">
                    <a:lumMod val="10000"/>
                  </a:srgbClr>
                </a:solidFill>
                <a:effectLst/>
                <a:uLnTx/>
                <a:uFillTx/>
                <a:latin typeface="Calibri" panose="020F0502020204030204" pitchFamily="34" charset="0"/>
                <a:ea typeface="+mn-ea"/>
                <a:cs typeface="Calibri" panose="020F0502020204030204" pitchFamily="34" charset="0"/>
              </a:rPr>
              <a:t>תמונת מצב והיערכות לאומית להזדקנות</a:t>
            </a:r>
          </a:p>
        </p:txBody>
      </p:sp>
    </p:spTree>
    <p:extLst>
      <p:ext uri="{BB962C8B-B14F-4D97-AF65-F5344CB8AC3E}">
        <p14:creationId xmlns:p14="http://schemas.microsoft.com/office/powerpoint/2010/main" val="38579669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r" defTabSz="410751" rtl="0" eaLnBrk="1" fontAlgn="auto" latinLnBrk="0" hangingPunct="0">
              <a:lnSpc>
                <a:spcPct val="100000"/>
              </a:lnSpc>
              <a:spcBef>
                <a:spcPts val="0"/>
              </a:spcBef>
              <a:spcAft>
                <a:spcPts val="0"/>
              </a:spcAft>
              <a:buClrTx/>
              <a:buSzTx/>
              <a:buFontTx/>
              <a:buNone/>
              <a:tabLst/>
              <a:defRPr/>
            </a:pPr>
            <a:r>
              <a:rPr kumimoji="0" lang="he-IL" sz="2601" b="0" i="0" u="none" strike="noStrike" kern="1200" cap="none" spc="0" normalizeH="0" baseline="0" noProof="0" dirty="0">
                <a:ln>
                  <a:noFill/>
                </a:ln>
                <a:solidFill>
                  <a:prstClr val="black"/>
                </a:solidFill>
                <a:effectLst/>
                <a:uLnTx/>
                <a:uFillTx/>
                <a:latin typeface="Tahoma"/>
                <a:ea typeface="Tahoma"/>
                <a:cs typeface="Tahoma"/>
              </a:rPr>
              <a:t>הקהילה כיום </a:t>
            </a: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marL="0" marR="0" lvl="0" indent="0" algn="r" defTabSz="914400" rtl="1" eaLnBrk="1" fontAlgn="auto" latinLnBrk="0" hangingPunct="1">
              <a:lnSpc>
                <a:spcPct val="100000"/>
              </a:lnSpc>
              <a:spcBef>
                <a:spcPts val="0"/>
              </a:spcBef>
              <a:spcAft>
                <a:spcPts val="0"/>
              </a:spcAft>
              <a:buClrTx/>
              <a:buSzTx/>
              <a:buFontTx/>
              <a:buNone/>
              <a:tabLst/>
              <a:defRPr sz="2200" b="0">
                <a:solidFill>
                  <a:srgbClr val="FFFFFF"/>
                </a:solidFill>
                <a:latin typeface="+mn-lt"/>
                <a:ea typeface="+mn-ea"/>
                <a:cs typeface="+mn-cs"/>
                <a:sym typeface="Helvetica Neue Medium"/>
              </a:defRPr>
            </a:pPr>
            <a:endParaRPr kumimoji="0" sz="1547"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5" name="TextBox 1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8334667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a:latin typeface="Calibri Light" panose="020F0302020204030204" pitchFamily="34" charset="0"/>
                <a:cs typeface="Calibri Light" panose="020F0302020204030204" pitchFamily="34" charset="0"/>
              </a:rPr>
              <a:t>נתונים-</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22% משלמים מחוק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1" name="TextBox 30"/>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4"/>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9" name="TextBox 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TextBox 11"/>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30939291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a:solidFill>
                  <a:schemeClr val="tx1"/>
                </a:solidFill>
              </a:rPr>
              <a:t>היתרונות:</a:t>
            </a:r>
          </a:p>
          <a:p>
            <a:r>
              <a:rPr lang="he-IL" b="1" dirty="0">
                <a:solidFill>
                  <a:schemeClr val="tx1"/>
                </a:solidFill>
              </a:rPr>
              <a:t>כולם תחת הרדאר החברתי</a:t>
            </a:r>
          </a:p>
          <a:p>
            <a:r>
              <a:rPr lang="he-IL" b="1" dirty="0">
                <a:solidFill>
                  <a:schemeClr val="tx1"/>
                </a:solidFill>
              </a:rPr>
              <a:t>רשת ביטחון חברתי- </a:t>
            </a:r>
            <a:r>
              <a:rPr lang="he-IL" sz="2600" b="1" dirty="0">
                <a:solidFill>
                  <a:schemeClr val="tx1"/>
                </a:solidFill>
              </a:rPr>
              <a:t>הפניות לשירותים </a:t>
            </a:r>
          </a:p>
          <a:p>
            <a:r>
              <a:rPr lang="he-IL" b="1" dirty="0">
                <a:solidFill>
                  <a:schemeClr val="tx1"/>
                </a:solidFill>
              </a:rPr>
              <a:t>התאמה למצב החברתי תפקודי</a:t>
            </a:r>
          </a:p>
          <a:p>
            <a:r>
              <a:rPr lang="he-IL" sz="3000" b="1" dirty="0">
                <a:solidFill>
                  <a:schemeClr val="tx1"/>
                </a:solidFill>
              </a:rPr>
              <a:t>זול ובסיסי </a:t>
            </a:r>
            <a:r>
              <a:rPr lang="he-IL" sz="2400" b="1" dirty="0">
                <a:solidFill>
                  <a:schemeClr val="tx1"/>
                </a:solidFill>
              </a:rPr>
              <a:t>(ניתן להרחיב בבחירה אישית)</a:t>
            </a:r>
          </a:p>
          <a:p>
            <a:r>
              <a:rPr lang="he-IL" sz="3000" b="1" dirty="0">
                <a:solidFill>
                  <a:schemeClr val="tx1"/>
                </a:solidFill>
              </a:rPr>
              <a:t>שירות אוניברסלי </a:t>
            </a:r>
            <a:r>
              <a:rPr lang="he-IL" sz="2400" b="1" dirty="0">
                <a:solidFill>
                  <a:schemeClr val="tx1"/>
                </a:solidFill>
              </a:rPr>
              <a:t>ממקור תקציבי נוסף</a:t>
            </a: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החסרונות:</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מאבדים שליטה על השירות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מסכים)</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הצפה של זכאים, האם הם קהל היעד, מי כן? </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תפקיד המחלקה ואיפה האחריות והחיבור של </a:t>
            </a:r>
            <a:r>
              <a:rPr kumimoji="0" lang="he-IL" sz="2400" b="1"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בטל"א</a:t>
            </a: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וקופ"ח</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נדרש תשלום על המעטפת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(נדרוש)</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עם פריפריה?</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יפסיקו להגיע רווחה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נכון)</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6" name="TextBox 5"/>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8" name="TextBox 7"/>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9765069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556379"/>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293119" y="132289"/>
            <a:ext cx="1248074" cy="711733"/>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cs typeface="Assistant" pitchFamily="2" charset="-79"/>
              </a:rPr>
              <a:t>עבר בצוות דיוק 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a:ln>
                  <a:noFill/>
                </a:ln>
                <a:solidFill>
                  <a:prstClr val="black"/>
                </a:solidFill>
                <a:effectLst/>
                <a:uLnTx/>
                <a:uFillTx/>
                <a:latin typeface="Assistant" pitchFamily="2" charset="-79"/>
                <a:ea typeface="+mn-ea"/>
                <a:cs typeface="Assistant" pitchFamily="2" charset="-79"/>
              </a:rPr>
              <a:t>תפיסת 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cs typeface="Segoe UI Semilight"/>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 הממשלה הרלוונטיים</a:t>
            </a:r>
          </a:p>
        </p:txBody>
      </p:sp>
      <p:sp>
        <p:nvSpPr>
          <p:cNvPr id="48" name="מלבן 4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2" name="TextBox 51"/>
          <p:cNvSpPr txBox="1"/>
          <p:nvPr/>
        </p:nvSpPr>
        <p:spPr>
          <a:xfrm rot="16200000">
            <a:off x="-1010313" y="774604"/>
            <a:ext cx="2039340"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53" name="מלבן 52"/>
          <p:cNvSpPr/>
          <p:nvPr/>
        </p:nvSpPr>
        <p:spPr>
          <a:xfrm>
            <a:off x="-13034" y="0"/>
            <a:ext cx="182534"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715459"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33694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3"/>
          <a:srcRect b="5484"/>
          <a:stretch/>
        </p:blipFill>
        <p:spPr>
          <a:xfrm>
            <a:off x="-13035" y="0"/>
            <a:ext cx="12205036" cy="6858000"/>
          </a:xfrm>
          <a:prstGeom prst="rect">
            <a:avLst/>
          </a:prstGeom>
        </p:spPr>
      </p:pic>
      <p:sp>
        <p:nvSpPr>
          <p:cNvPr id="5" name="TextBox 4"/>
          <p:cNvSpPr txBox="1"/>
          <p:nvPr/>
        </p:nvSpPr>
        <p:spPr>
          <a:xfrm rot="16200000">
            <a:off x="-699331"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6" name="מלבן 5"/>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715459" y="566656"/>
            <a:ext cx="1417376"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006852447"/>
      </p:ext>
    </p:extLst>
  </p:cSld>
  <p:clrMapOvr>
    <a:masterClrMapping/>
  </p:clrMapOvr>
</p:sld>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8515</TotalTime>
  <Words>4064</Words>
  <Application>Microsoft Office PowerPoint</Application>
  <PresentationFormat>מסך רחב</PresentationFormat>
  <Paragraphs>730</Paragraphs>
  <Slides>55</Slides>
  <Notes>41</Notes>
  <HiddenSlides>23</HiddenSlides>
  <MMClips>0</MMClips>
  <ScaleCrop>false</ScaleCrop>
  <HeadingPairs>
    <vt:vector size="6" baseType="variant">
      <vt:variant>
        <vt:lpstr>גופנים בשימוש</vt:lpstr>
      </vt:variant>
      <vt:variant>
        <vt:i4>24</vt:i4>
      </vt:variant>
      <vt:variant>
        <vt:lpstr>ערכת נושא</vt:lpstr>
      </vt:variant>
      <vt:variant>
        <vt:i4>5</vt:i4>
      </vt:variant>
      <vt:variant>
        <vt:lpstr>כותרות שקופיות</vt:lpstr>
      </vt:variant>
      <vt:variant>
        <vt:i4>55</vt:i4>
      </vt:variant>
    </vt:vector>
  </HeadingPairs>
  <TitlesOfParts>
    <vt:vector size="84" baseType="lpstr">
      <vt:lpstr>Abadi Extra Light</vt:lpstr>
      <vt:lpstr>Aptos</vt:lpstr>
      <vt:lpstr>Arial</vt:lpstr>
      <vt:lpstr>ArialMT</vt:lpstr>
      <vt:lpstr>Assistant</vt:lpstr>
      <vt:lpstr>Assistant ExtraBold</vt:lpstr>
      <vt:lpstr>Assistant Light</vt:lpstr>
      <vt:lpstr>Assistant SemiBold</vt:lpstr>
      <vt:lpstr>Calibri</vt:lpstr>
      <vt:lpstr>Calibri Light</vt:lpstr>
      <vt:lpstr>Calibri-Bold</vt:lpstr>
      <vt:lpstr>Gotham Book</vt:lpstr>
      <vt:lpstr>Guttman Kav</vt:lpstr>
      <vt:lpstr>Gveret Levin AlefAlefAlef</vt:lpstr>
      <vt:lpstr>Heebo Black</vt:lpstr>
      <vt:lpstr>Helvetica Neue</vt:lpstr>
      <vt:lpstr>Montserrat</vt:lpstr>
      <vt:lpstr>Open Sans</vt:lpstr>
      <vt:lpstr>Open Sans Hebrew</vt:lpstr>
      <vt:lpstr>Segoe UI Semilight</vt:lpstr>
      <vt:lpstr>Symbol</vt:lpstr>
      <vt:lpstr>Tahoma</vt:lpstr>
      <vt:lpstr>Varela Round</vt:lpstr>
      <vt:lpstr>Wingdings</vt:lpstr>
      <vt:lpstr>1_ערכת נושא Office</vt:lpstr>
      <vt:lpstr>Showeet theme</vt:lpstr>
      <vt:lpstr>2_ערכת נושא Office</vt:lpstr>
      <vt:lpstr>Office Theme</vt:lpstr>
      <vt:lpstr>ערכת נושא Office</vt:lpstr>
      <vt:lpstr>מצגת של PowerPoint‏</vt:lpstr>
      <vt:lpstr>מצגת של PowerPoint‏</vt:lpstr>
      <vt:lpstr>מצגת של PowerPoint‏</vt:lpstr>
      <vt:lpstr>מצגת של PowerPoint‏</vt:lpstr>
      <vt:lpstr>הפיצול בסיעוד</vt:lpstr>
      <vt:lpstr>מספר ושיעור זכאי גמלת סיעוד לפי שנים </vt:lpstr>
      <vt:lpstr>מצגת של PowerPoint‏</vt:lpstr>
      <vt:lpstr>מצגת של PowerPoint‏</vt:lpstr>
      <vt:lpstr>השפעות רפורמת 2018</vt:lpstr>
      <vt:lpstr>מצגת של PowerPoint‏</vt:lpstr>
      <vt:lpstr>בעיות עיקריות בחוק סיעוד 2024: </vt:lpstr>
      <vt:lpstr>המלצות ועדה בין משרדית  למניעת הדרדרות תפקודית (דו"ח קידר) 9.2022</vt:lpstr>
      <vt:lpstr>ועדה בין משרדית וחוק ההסדרים:</vt:lpstr>
      <vt:lpstr>מצגת של PowerPoint‏</vt:lpstr>
      <vt:lpstr>מצגת של PowerPoint‏</vt:lpstr>
      <vt:lpstr>מצגת של PowerPoint‏</vt:lpstr>
      <vt:lpstr>בריאות – שנות חיים בריאים בגיל 65  - נשים המדד המוצע: אחוז השנים הבריאות בגיל 65</vt:lpstr>
      <vt:lpstr>בריאות –תפקוד IADL</vt:lpstr>
      <vt:lpstr>בעיות עיקריות בחוק סיעוד 2024: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אחוז המרה לפי שירותים 2024</vt:lpstr>
      <vt:lpstr>בריאות –תפקוד ADL</vt:lpstr>
      <vt:lpstr>בריאות –תפקוד IADL</vt:lpstr>
      <vt:lpstr>מצגת של PowerPoint‏</vt:lpstr>
      <vt:lpstr>מצגת של PowerPoint‏</vt:lpstr>
      <vt:lpstr>נתונים- קהילה תומכת היום:</vt:lpstr>
      <vt:lpstr>מצגת של PowerPoint‏</vt:lpstr>
      <vt:lpstr>קהילה תומכת כשירות בסיס לכולם (MVP ברמה 1-2)</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17</cp:revision>
  <dcterms:created xsi:type="dcterms:W3CDTF">2024-09-19T16:15:12Z</dcterms:created>
  <dcterms:modified xsi:type="dcterms:W3CDTF">2024-09-26T09:28:22Z</dcterms:modified>
</cp:coreProperties>
</file>