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theme/theme3.xml" ContentType="application/vnd.openxmlformats-officedocument.theme+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theme/theme4.xml" ContentType="application/vnd.openxmlformats-officedocument.theme+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4.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5.xml" ContentType="application/vnd.openxmlformats-officedocument.presentationml.notesSlid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notesSlides/notesSlide12.xml" ContentType="application/vnd.openxmlformats-officedocument.presentationml.notesSlid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charts/chart9.xml" ContentType="application/vnd.openxmlformats-officedocument.drawingml.chart+xml"/>
  <Override PartName="/ppt/charts/style9.xml" ContentType="application/vnd.ms-office.chartstyle+xml"/>
  <Override PartName="/ppt/charts/colors9.xml" ContentType="application/vnd.ms-office.chartcolorstyle+xml"/>
  <Override PartName="/ppt/notesSlides/notesSlide13.xml" ContentType="application/vnd.openxmlformats-officedocument.presentationml.notesSlide+xml"/>
  <Override PartName="/ppt/charts/chart10.xml" ContentType="application/vnd.openxmlformats-officedocument.drawingml.chart+xml"/>
  <Override PartName="/ppt/charts/style10.xml" ContentType="application/vnd.ms-office.chartstyle+xml"/>
  <Override PartName="/ppt/charts/colors10.xml" ContentType="application/vnd.ms-office.chartcolorstyl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harts/chart11.xml" ContentType="application/vnd.openxmlformats-officedocument.drawingml.chart+xml"/>
  <Override PartName="/ppt/charts/style11.xml" ContentType="application/vnd.ms-office.chartstyle+xml"/>
  <Override PartName="/ppt/charts/colors11.xml" ContentType="application/vnd.ms-office.chartcolorstyl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charts/chart12.xml" ContentType="application/vnd.openxmlformats-officedocument.drawingml.chart+xml"/>
  <Override PartName="/ppt/charts/style12.xml" ContentType="application/vnd.ms-office.chartstyle+xml"/>
  <Override PartName="/ppt/charts/colors12.xml" ContentType="application/vnd.ms-office.chartcolorstyl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1.xml" ContentType="application/vnd.openxmlformats-officedocument.presentationml.notesSlide+xml"/>
  <Override PartName="/ppt/charts/chart13.xml" ContentType="application/vnd.openxmlformats-officedocument.drawingml.chart+xml"/>
  <Override PartName="/ppt/charts/style13.xml" ContentType="application/vnd.ms-office.chartstyle+xml"/>
  <Override PartName="/ppt/charts/colors13.xml" ContentType="application/vnd.ms-office.chartcolorstyle+xml"/>
  <Override PartName="/ppt/notesSlides/notesSlide32.xml" ContentType="application/vnd.openxmlformats-officedocument.presentationml.notesSlide+xml"/>
  <Override PartName="/ppt/charts/chart14.xml" ContentType="application/vnd.openxmlformats-officedocument.drawingml.chart+xml"/>
  <Override PartName="/ppt/charts/style14.xml" ContentType="application/vnd.ms-office.chartstyle+xml"/>
  <Override PartName="/ppt/charts/colors14.xml" ContentType="application/vnd.ms-office.chartcolorstyle+xml"/>
  <Override PartName="/ppt/notesSlides/notesSlide33.xml" ContentType="application/vnd.openxmlformats-officedocument.presentationml.notesSlide+xml"/>
  <Override PartName="/ppt/charts/chart15.xml" ContentType="application/vnd.openxmlformats-officedocument.drawingml.chart+xml"/>
  <Override PartName="/ppt/charts/style15.xml" ContentType="application/vnd.ms-office.chartstyle+xml"/>
  <Override PartName="/ppt/charts/colors15.xml" ContentType="application/vnd.ms-office.chartcolorstyl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charts/chart16.xml" ContentType="application/vnd.openxmlformats-officedocument.drawingml.chart+xml"/>
  <Override PartName="/ppt/charts/style16.xml" ContentType="application/vnd.ms-office.chartstyle+xml"/>
  <Override PartName="/ppt/charts/colors16.xml" ContentType="application/vnd.ms-office.chartcolorstyl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p:sldMasterIdLst>
    <p:sldMasterId id="2147483660" r:id="rId1"/>
    <p:sldMasterId id="2147483680" r:id="rId2"/>
    <p:sldMasterId id="2147483686" r:id="rId3"/>
    <p:sldMasterId id="2147483715" r:id="rId4"/>
    <p:sldMasterId id="2147483748" r:id="rId5"/>
  </p:sldMasterIdLst>
  <p:notesMasterIdLst>
    <p:notesMasterId r:id="rId58"/>
  </p:notesMasterIdLst>
  <p:sldIdLst>
    <p:sldId id="2145707264" r:id="rId6"/>
    <p:sldId id="2145706343" r:id="rId7"/>
    <p:sldId id="331" r:id="rId8"/>
    <p:sldId id="257" r:id="rId9"/>
    <p:sldId id="2145707243" r:id="rId10"/>
    <p:sldId id="2145707113" r:id="rId11"/>
    <p:sldId id="2145707246" r:id="rId12"/>
    <p:sldId id="2145707258" r:id="rId13"/>
    <p:sldId id="2145707259" r:id="rId14"/>
    <p:sldId id="2145707247" r:id="rId15"/>
    <p:sldId id="2145707248" r:id="rId16"/>
    <p:sldId id="2145707221" r:id="rId17"/>
    <p:sldId id="2145707244" r:id="rId18"/>
    <p:sldId id="2145707245" r:id="rId19"/>
    <p:sldId id="2145707249" r:id="rId20"/>
    <p:sldId id="2145707250" r:id="rId21"/>
    <p:sldId id="2145707251" r:id="rId22"/>
    <p:sldId id="2145707252" r:id="rId23"/>
    <p:sldId id="2145707262" r:id="rId24"/>
    <p:sldId id="2145707124" r:id="rId25"/>
    <p:sldId id="2145707254" r:id="rId26"/>
    <p:sldId id="2145707136" r:id="rId27"/>
    <p:sldId id="342" r:id="rId28"/>
    <p:sldId id="2145707201" r:id="rId29"/>
    <p:sldId id="2145706334" r:id="rId30"/>
    <p:sldId id="2145707255" r:id="rId31"/>
    <p:sldId id="2145706441" r:id="rId32"/>
    <p:sldId id="2145707238" r:id="rId33"/>
    <p:sldId id="2145707191" r:id="rId34"/>
    <p:sldId id="2145707149" r:id="rId35"/>
    <p:sldId id="281" r:id="rId36"/>
    <p:sldId id="260" r:id="rId37"/>
    <p:sldId id="301" r:id="rId38"/>
    <p:sldId id="294" r:id="rId39"/>
    <p:sldId id="296" r:id="rId40"/>
    <p:sldId id="278" r:id="rId41"/>
    <p:sldId id="2145707263" r:id="rId42"/>
    <p:sldId id="2145707140" r:id="rId43"/>
    <p:sldId id="2145707257" r:id="rId44"/>
    <p:sldId id="2145707137" r:id="rId45"/>
    <p:sldId id="2145707141" r:id="rId46"/>
    <p:sldId id="2145706336" r:id="rId47"/>
    <p:sldId id="2145707120" r:id="rId48"/>
    <p:sldId id="2145707135" r:id="rId49"/>
    <p:sldId id="2145706317" r:id="rId50"/>
    <p:sldId id="298" r:id="rId51"/>
    <p:sldId id="2145707103" r:id="rId52"/>
    <p:sldId id="2145707101" r:id="rId53"/>
    <p:sldId id="2145707102" r:id="rId54"/>
    <p:sldId id="362" r:id="rId55"/>
    <p:sldId id="2145707138" r:id="rId56"/>
    <p:sldId id="2145707139" r:id="rId57"/>
  </p:sldIdLst>
  <p:sldSz cx="12192000" cy="6858000"/>
  <p:notesSz cx="6858000" cy="9144000"/>
  <p:defaultText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002252"/>
    <a:srgbClr val="7D3FAE"/>
    <a:srgbClr val="143AA6"/>
    <a:srgbClr val="377982"/>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84013" autoAdjust="0"/>
    <p:restoredTop sz="94660"/>
  </p:normalViewPr>
  <p:slideViewPr>
    <p:cSldViewPr snapToGrid="0">
      <p:cViewPr>
        <p:scale>
          <a:sx n="80" d="100"/>
          <a:sy n="80" d="100"/>
        </p:scale>
        <p:origin x="936" y="61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slide" Target="slides/slide42.xml"/><Relationship Id="rId50" Type="http://schemas.openxmlformats.org/officeDocument/2006/relationships/slide" Target="slides/slide45.xml"/><Relationship Id="rId55" Type="http://schemas.openxmlformats.org/officeDocument/2006/relationships/slide" Target="slides/slide50.xml"/><Relationship Id="rId7" Type="http://schemas.openxmlformats.org/officeDocument/2006/relationships/slide" Target="slides/slide2.xml"/><Relationship Id="rId2" Type="http://schemas.openxmlformats.org/officeDocument/2006/relationships/slideMaster" Target="slideMasters/slideMaster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openxmlformats.org/officeDocument/2006/relationships/slide" Target="slides/slide48.xml"/><Relationship Id="rId58" Type="http://schemas.openxmlformats.org/officeDocument/2006/relationships/notesMaster" Target="notesMasters/notesMaster1.xml"/><Relationship Id="rId5" Type="http://schemas.openxmlformats.org/officeDocument/2006/relationships/slideMaster" Target="slideMasters/slideMaster5.xml"/><Relationship Id="rId61" Type="http://schemas.openxmlformats.org/officeDocument/2006/relationships/theme" Target="theme/theme1.xml"/><Relationship Id="rId19" Type="http://schemas.openxmlformats.org/officeDocument/2006/relationships/slide" Target="slides/slide1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slide" Target="slides/slide51.xml"/><Relationship Id="rId8" Type="http://schemas.openxmlformats.org/officeDocument/2006/relationships/slide" Target="slides/slide3.xml"/><Relationship Id="rId51" Type="http://schemas.openxmlformats.org/officeDocument/2006/relationships/slide" Target="slides/slide46.xml"/><Relationship Id="rId3" Type="http://schemas.openxmlformats.org/officeDocument/2006/relationships/slideMaster" Target="slideMasters/slideMaster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presProps" Target="presProps.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slide" Target="slides/slide49.xml"/><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slide" Target="slides/slide52.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viewProps" Target="viewProps.xml"/><Relationship Id="rId4" Type="http://schemas.openxmlformats.org/officeDocument/2006/relationships/slideMaster" Target="slideMasters/slideMaster4.xml"/><Relationship Id="rId9" Type="http://schemas.openxmlformats.org/officeDocument/2006/relationships/slide" Target="slides/slide4.xml"/></Relationships>
</file>

<file path=ppt/charts/_rels/chart1.xml.rels><?xml version="1.0" encoding="UTF-8" standalone="yes"?>
<Relationships xmlns="http://schemas.openxmlformats.org/package/2006/relationships"><Relationship Id="rId3" Type="http://schemas.openxmlformats.org/officeDocument/2006/relationships/oleObject" Target="file:///C:\Users\aviadi\AppData\Local\Microsoft\Windows\INetCache\Content.Outlook\DE53CT70\&#1506;&#1493;&#1514;&#1511;%20&#1513;&#1500;%20&#1502;&#1493;&#1513;&#1502;&#1497;%20&#1512;&#1493;&#1493;&#1495;&#1492;%20&#1489;&#1502;&#1512;&#1499;&#1494;&#1497;%20&#1492;&#1497;&#1493;&#1501;%202019-20.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C:\Users\aviadi\AppData\Local\Microsoft\Windows\INetCache\Content.Outlook\DE53CT70\(43146)%20&#1492;&#1513;&#1493;&#1493;&#1488;&#1514;%20&#1504;&#1514;&#1493;&#1504;&#1497;%20&#1514;&#1511;&#1510;&#1497;&#1489;%20&#1490;&#1502;&#1500;&#1488;&#1493;&#1514;%20&#1493;&#1502;&#1512;&#1499;&#1494;&#1497;%20&#1497;&#1493;&#1501;.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C:\Users\aviadi\AppData\Local\Microsoft\Windows\INetCache\Content.Outlook\DE53CT70\(43146)%20&#1492;&#1513;&#1493;&#1493;&#1488;&#1514;%20&#1504;&#1514;&#1493;&#1504;&#1497;%20&#1514;&#1511;&#1510;&#1497;&#1489;%20&#1490;&#1502;&#1500;&#1488;&#1493;&#1514;%20&#1493;&#1502;&#1512;&#1499;&#1494;&#1497;%20&#1497;&#1493;&#1501;.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oleObject" Target="file:///\\molsa.gov.il\Shares\&#1488;&#1490;&#1507;%20&#1488;&#1494;&#1512;&#1495;&#1497;&#1501;%20&#1493;&#1514;&#1497;&#1511;&#1497;&#1501;\&#1488;&#1490;&#1508;&#1497;%20&#1514;&#1499;&#1504;&#1493;&#1503;%20&#1493;&#1514;&#1511;&#1510;&#1493;&#1489;\&#1488;&#1505;&#1496;&#1512;&#1496;&#1490;&#1497;&#1492;\&#1489;&#1497;&#1503;%20&#1502;&#1513;&#1512;&#1491;&#1497;\&#1489;&#1496;&#1500;&#1488;\&#1495;&#1493;&#1502;&#1512;%20&#1500;&#1497;&#1504;&#1493;&#1503;\&#1506;&#1493;&#1514;&#1511;%20&#1513;&#1500;%20&#1492;&#1510;&#1490;&#1514;%20&#1504;&#1514;&#1493;&#1504;&#1497;%20&#1505;&#1497;&#1506;&#1493;&#1491;%20&#1500;&#1502;&#1504;&#1499;&#1500;.xlsx" TargetMode="External"/><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8.xml"/><Relationship Id="rId1" Type="http://schemas.microsoft.com/office/2011/relationships/chartStyle" Target="style8.xml"/></Relationships>
</file>

<file path=ppt/charts/_rels/chart9.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9.xml"/><Relationship Id="rId1" Type="http://schemas.microsoft.com/office/2011/relationships/chartStyle" Target="style9.xml"/></Relationships>
</file>

<file path=ppt/charts/_rels/chart10.xml.rels><?xml version="1.0" encoding="UTF-8" standalone="yes"?>
<Relationships xmlns="http://schemas.openxmlformats.org/package/2006/relationships"><Relationship Id="rId3" Type="http://schemas.openxmlformats.org/officeDocument/2006/relationships/package" Target="../embeddings/Microsoft_Excel_Worksheet5.xlsx"/><Relationship Id="rId2" Type="http://schemas.microsoft.com/office/2011/relationships/chartColorStyle" Target="colors10.xml"/><Relationship Id="rId1" Type="http://schemas.microsoft.com/office/2011/relationships/chartStyle" Target="style10.xml"/></Relationships>
</file>

<file path=ppt/charts/_rels/chart11.xml.rels><?xml version="1.0" encoding="UTF-8" standalone="yes"?>
<Relationships xmlns="http://schemas.openxmlformats.org/package/2006/relationships"><Relationship Id="rId3" Type="http://schemas.openxmlformats.org/officeDocument/2006/relationships/oleObject" Target="file:///\\molsa.gov.il\Shares\&#1488;&#1490;&#1507;%20&#1488;&#1494;&#1512;&#1495;&#1497;&#1501;%20&#1493;&#1514;&#1497;&#1511;&#1497;&#1501;\&#1497;&#1495;&#1497;&#1491;&#1514;%20&#1514;&#1511;&#1510;&#1493;&#1489;\&#1505;&#1497;&#1506;&#1493;&#1491;\&#1495;&#1493;&#1511;%20&#1514;&#1508;&#1511;&#1493;&#1491;%20&#1495;&#1493;&#1489;&#1492;\&#1495;&#1493;&#1511;%20&#1514;&#1508;&#1511;&#1493;&#1491;%20&#1495;&#1493;&#1489;&#1492;%20V10.xlsx" TargetMode="External"/><Relationship Id="rId2" Type="http://schemas.microsoft.com/office/2011/relationships/chartColorStyle" Target="colors11.xml"/><Relationship Id="rId1" Type="http://schemas.microsoft.com/office/2011/relationships/chartStyle" Target="style11.xml"/></Relationships>
</file>

<file path=ppt/charts/_rels/chart12.xml.rels><?xml version="1.0" encoding="UTF-8" standalone="yes"?>
<Relationships xmlns="http://schemas.openxmlformats.org/package/2006/relationships"><Relationship Id="rId3" Type="http://schemas.openxmlformats.org/officeDocument/2006/relationships/oleObject" Target="file:///\\molsa.gov.il\Shares\&#1488;&#1490;&#1507;%20&#1488;&#1494;&#1512;&#1495;&#1497;&#1501;%20&#1493;&#1514;&#1497;&#1511;&#1497;&#1501;\&#1488;&#1490;&#1508;&#1497;%20&#1514;&#1499;&#1504;&#1493;&#1503;%20&#1493;&#1514;&#1511;&#1510;&#1493;&#1489;\&#1488;&#1505;&#1496;&#1512;&#1496;&#1490;&#1497;&#1492;\&#1489;&#1497;&#1503;%20&#1502;&#1513;&#1512;&#1491;&#1497;\&#1488;&#1493;&#1510;&#1512;\&#1506;&#1493;&#1514;&#1511;%20&#1513;&#1500;%20ROI%20&#1506;&#1500;&#1493;&#1514;%20&#1514;&#1511;&#1510;&#1497;&#1489;&#1497;&#1514;%20%20&#1500;&#1508;&#1497;%20&#1512;&#1502;&#1493;&#1514;%20&#1505;&#1497;&#1506;&#1493;&#1491;.xlsx" TargetMode="External"/><Relationship Id="rId2" Type="http://schemas.microsoft.com/office/2011/relationships/chartColorStyle" Target="colors12.xml"/><Relationship Id="rId1" Type="http://schemas.microsoft.com/office/2011/relationships/chartStyle" Target="style12.xml"/></Relationships>
</file>

<file path=ppt/charts/_rels/chart13.xml.rels><?xml version="1.0" encoding="UTF-8" standalone="yes"?>
<Relationships xmlns="http://schemas.openxmlformats.org/package/2006/relationships"><Relationship Id="rId3" Type="http://schemas.openxmlformats.org/officeDocument/2006/relationships/oleObject" Target="file:///\\molsa.gov.il\Shares\&#1488;&#1490;&#1507;%20&#1488;&#1494;&#1512;&#1495;&#1497;&#1501;%20&#1493;&#1514;&#1497;&#1511;&#1497;&#1501;\&#1488;&#1490;&#1508;&#1497;%20&#1514;&#1499;&#1504;&#1493;&#1503;%20&#1493;&#1514;&#1511;&#1510;&#1493;&#1489;\&#1488;&#1505;&#1496;&#1512;&#1496;&#1490;&#1497;&#1492;\&#1489;&#1497;&#1503;%20&#1502;&#1513;&#1512;&#1491;&#1497;\&#1489;&#1496;&#1500;&#1488;\&#1495;&#1493;&#1502;&#1512;%20&#1500;&#1497;&#1504;&#1493;&#1503;\&#1506;&#1493;&#1514;&#1511;%20&#1513;&#1500;%20&#1492;&#1510;&#1490;&#1514;%20&#1504;&#1514;&#1493;&#1504;&#1497;%20&#1505;&#1497;&#1506;&#1493;&#1491;%20&#1500;&#1502;&#1504;&#1499;&#1500;.xlsx" TargetMode="External"/><Relationship Id="rId2" Type="http://schemas.microsoft.com/office/2011/relationships/chartColorStyle" Target="colors13.xml"/><Relationship Id="rId1" Type="http://schemas.microsoft.com/office/2011/relationships/chartStyle" Target="style13.xml"/></Relationships>
</file>

<file path=ppt/charts/_rels/chart14.xml.rels><?xml version="1.0" encoding="UTF-8" standalone="yes"?>
<Relationships xmlns="http://schemas.openxmlformats.org/package/2006/relationships"><Relationship Id="rId3" Type="http://schemas.openxmlformats.org/officeDocument/2006/relationships/package" Target="../embeddings/Microsoft_Excel_Worksheet6.xlsx"/><Relationship Id="rId2" Type="http://schemas.microsoft.com/office/2011/relationships/chartColorStyle" Target="colors14.xml"/><Relationship Id="rId1" Type="http://schemas.microsoft.com/office/2011/relationships/chartStyle" Target="style14.xml"/></Relationships>
</file>

<file path=ppt/charts/_rels/chart15.xml.rels><?xml version="1.0" encoding="UTF-8" standalone="yes"?>
<Relationships xmlns="http://schemas.openxmlformats.org/package/2006/relationships"><Relationship Id="rId3" Type="http://schemas.openxmlformats.org/officeDocument/2006/relationships/package" Target="../embeddings/Microsoft_Excel_Worksheet7.xlsx"/><Relationship Id="rId2" Type="http://schemas.microsoft.com/office/2011/relationships/chartColorStyle" Target="colors15.xml"/><Relationship Id="rId1" Type="http://schemas.microsoft.com/office/2011/relationships/chartStyle" Target="style15.xml"/></Relationships>
</file>

<file path=ppt/charts/_rels/chart16.xml.rels><?xml version="1.0" encoding="UTF-8" standalone="yes"?>
<Relationships xmlns="http://schemas.openxmlformats.org/package/2006/relationships"><Relationship Id="rId3" Type="http://schemas.openxmlformats.org/officeDocument/2006/relationships/package" Target="../embeddings/Microsoft_Excel_Worksheet8.xlsx"/><Relationship Id="rId2" Type="http://schemas.microsoft.com/office/2011/relationships/chartColorStyle" Target="colors16.xml"/><Relationship Id="rId1" Type="http://schemas.microsoft.com/office/2011/relationships/chartStyle" Target="style16.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e-IL"/>
  <c:roundedCorners val="0"/>
  <mc:AlternateContent xmlns:mc="http://schemas.openxmlformats.org/markup-compatibility/2006">
    <mc:Choice xmlns:c14="http://schemas.microsoft.com/office/drawing/2007/8/2/chart" Requires="c14">
      <c14:style val="107"/>
    </mc:Choice>
    <mc:Fallback>
      <c:style val="7"/>
    </mc:Fallback>
  </mc:AlternateContent>
  <c:chart>
    <c:title>
      <c:tx>
        <c:rich>
          <a:bodyPr rot="0" spcFirstLastPara="1" vertOverflow="ellipsis" vert="horz" wrap="square" anchor="ctr" anchorCtr="1"/>
          <a:lstStyle/>
          <a:p>
            <a:pPr marL="0" marR="0" lvl="0" indent="0" algn="ctr" defTabSz="914400" rtl="1" eaLnBrk="1" fontAlgn="auto" latinLnBrk="0" hangingPunct="1">
              <a:lnSpc>
                <a:spcPct val="100000"/>
              </a:lnSpc>
              <a:spcBef>
                <a:spcPts val="0"/>
              </a:spcBef>
              <a:spcAft>
                <a:spcPts val="0"/>
              </a:spcAft>
              <a:buClrTx/>
              <a:buSzTx/>
              <a:buFontTx/>
              <a:buNone/>
              <a:tabLst/>
              <a:defRPr sz="2000" b="0" i="0" u="none" strike="noStrike" kern="1200" cap="none" spc="50" normalizeH="0" baseline="0">
                <a:solidFill>
                  <a:schemeClr val="tx1"/>
                </a:solidFill>
                <a:latin typeface="+mj-lt"/>
                <a:ea typeface="+mj-ea"/>
                <a:cs typeface="+mj-cs"/>
              </a:defRPr>
            </a:pPr>
            <a:r>
              <a:rPr lang="he-IL" sz="2000" b="1" dirty="0">
                <a:solidFill>
                  <a:schemeClr val="tx1"/>
                </a:solidFill>
                <a:latin typeface="Assistant" pitchFamily="2" charset="-79"/>
                <a:cs typeface="Assistant" pitchFamily="2" charset="-79"/>
              </a:rPr>
              <a:t>תחזית של אחוז בני ה-65+ מהאוכלוסייה בישראל</a:t>
            </a:r>
            <a:br>
              <a:rPr lang="en-US" sz="2000" dirty="0">
                <a:solidFill>
                  <a:schemeClr val="tx1"/>
                </a:solidFill>
                <a:latin typeface="Assistant" pitchFamily="2" charset="-79"/>
                <a:cs typeface="Assistant" pitchFamily="2" charset="-79"/>
              </a:rPr>
            </a:br>
            <a:r>
              <a:rPr lang="he-IL" sz="2000" b="1" dirty="0">
                <a:solidFill>
                  <a:schemeClr val="tx1"/>
                </a:solidFill>
                <a:latin typeface="Assistant" pitchFamily="2" charset="-79"/>
                <a:cs typeface="Assistant" pitchFamily="2" charset="-79"/>
              </a:rPr>
              <a:t>2025-2045  </a:t>
            </a:r>
            <a:r>
              <a:rPr lang="he-IL" sz="1400" b="1" dirty="0">
                <a:solidFill>
                  <a:schemeClr val="tx1"/>
                </a:solidFill>
                <a:latin typeface="Assistant" pitchFamily="2" charset="-79"/>
                <a:cs typeface="Assistant" pitchFamily="2" charset="-79"/>
              </a:rPr>
              <a:t>(שנתון 2023 </a:t>
            </a:r>
            <a:r>
              <a:rPr lang="he-IL" sz="1400" b="1" dirty="0" err="1">
                <a:solidFill>
                  <a:schemeClr val="tx1"/>
                </a:solidFill>
                <a:latin typeface="Assistant" pitchFamily="2" charset="-79"/>
                <a:cs typeface="Assistant" pitchFamily="2" charset="-79"/>
              </a:rPr>
              <a:t>ברוקדייל</a:t>
            </a:r>
            <a:r>
              <a:rPr lang="he-IL" sz="1400" b="1" dirty="0">
                <a:solidFill>
                  <a:schemeClr val="tx1"/>
                </a:solidFill>
                <a:latin typeface="Assistant" pitchFamily="2" charset="-79"/>
                <a:cs typeface="Assistant" pitchFamily="2" charset="-79"/>
              </a:rPr>
              <a:t>)</a:t>
            </a:r>
            <a:endParaRPr lang="he-IL" sz="2000" b="1" dirty="0">
              <a:solidFill>
                <a:schemeClr val="tx1"/>
              </a:solidFill>
              <a:latin typeface="Assistant" pitchFamily="2" charset="-79"/>
              <a:cs typeface="Assistant" pitchFamily="2" charset="-79"/>
            </a:endParaRPr>
          </a:p>
        </c:rich>
      </c:tx>
      <c:overlay val="0"/>
      <c:spPr>
        <a:noFill/>
        <a:ln>
          <a:noFill/>
        </a:ln>
        <a:effectLst/>
      </c:spPr>
      <c:txPr>
        <a:bodyPr rot="0" spcFirstLastPara="1" vertOverflow="ellipsis" vert="horz" wrap="square" anchor="ctr" anchorCtr="1"/>
        <a:lstStyle/>
        <a:p>
          <a:pPr marL="0" marR="0" lvl="0" indent="0" algn="ctr" defTabSz="914400" rtl="1" eaLnBrk="1" fontAlgn="auto" latinLnBrk="0" hangingPunct="1">
            <a:lnSpc>
              <a:spcPct val="100000"/>
            </a:lnSpc>
            <a:spcBef>
              <a:spcPts val="0"/>
            </a:spcBef>
            <a:spcAft>
              <a:spcPts val="0"/>
            </a:spcAft>
            <a:buClrTx/>
            <a:buSzTx/>
            <a:buFontTx/>
            <a:buNone/>
            <a:tabLst/>
            <a:defRPr sz="2000" b="0" i="0" u="none" strike="noStrike" kern="1200" cap="none" spc="50" normalizeH="0" baseline="0">
              <a:solidFill>
                <a:schemeClr val="tx1"/>
              </a:solidFill>
              <a:latin typeface="+mj-lt"/>
              <a:ea typeface="+mj-ea"/>
              <a:cs typeface="+mj-cs"/>
            </a:defRPr>
          </a:pPr>
          <a:endParaRPr lang="he-IL"/>
        </a:p>
      </c:txPr>
    </c:title>
    <c:autoTitleDeleted val="0"/>
    <c:plotArea>
      <c:layout/>
      <c:barChart>
        <c:barDir val="col"/>
        <c:grouping val="clustered"/>
        <c:varyColors val="0"/>
        <c:ser>
          <c:idx val="0"/>
          <c:order val="0"/>
          <c:tx>
            <c:strRef>
              <c:f>גיליון1!$D$12</c:f>
              <c:strCache>
                <c:ptCount val="1"/>
                <c:pt idx="0">
                  <c:v>אחוז זקנים</c:v>
                </c:pt>
              </c:strCache>
            </c:strRef>
          </c:tx>
          <c:spPr>
            <a:solidFill>
              <a:srgbClr val="0F6FC6"/>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tx1">
                        <a:lumMod val="75000"/>
                        <a:lumOff val="25000"/>
                      </a:schemeClr>
                    </a:solidFill>
                    <a:latin typeface="+mn-lt"/>
                    <a:ea typeface="+mn-ea"/>
                    <a:cs typeface="+mn-cs"/>
                  </a:defRPr>
                </a:pPr>
                <a:endParaRPr lang="he-IL"/>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trendline>
            <c:spPr>
              <a:ln w="15875" cap="rnd">
                <a:solidFill>
                  <a:schemeClr val="accent5"/>
                </a:solidFill>
              </a:ln>
              <a:effectLst/>
            </c:spPr>
            <c:trendlineType val="linear"/>
            <c:dispRSqr val="0"/>
            <c:dispEq val="0"/>
          </c:trendline>
          <c:cat>
            <c:numRef>
              <c:f>גיליון1!$C$13:$C$33</c:f>
              <c:numCache>
                <c:formatCode>General</c:formatCode>
                <c:ptCount val="21"/>
                <c:pt idx="0">
                  <c:v>2025</c:v>
                </c:pt>
                <c:pt idx="1">
                  <c:v>2026</c:v>
                </c:pt>
                <c:pt idx="2">
                  <c:v>2027</c:v>
                </c:pt>
                <c:pt idx="3">
                  <c:v>2028</c:v>
                </c:pt>
                <c:pt idx="4">
                  <c:v>2029</c:v>
                </c:pt>
                <c:pt idx="5">
                  <c:v>2030</c:v>
                </c:pt>
                <c:pt idx="6">
                  <c:v>2031</c:v>
                </c:pt>
                <c:pt idx="7">
                  <c:v>2032</c:v>
                </c:pt>
                <c:pt idx="8">
                  <c:v>2033</c:v>
                </c:pt>
                <c:pt idx="9">
                  <c:v>2034</c:v>
                </c:pt>
                <c:pt idx="10">
                  <c:v>2035</c:v>
                </c:pt>
                <c:pt idx="11">
                  <c:v>2036</c:v>
                </c:pt>
                <c:pt idx="12">
                  <c:v>2037</c:v>
                </c:pt>
                <c:pt idx="13">
                  <c:v>2038</c:v>
                </c:pt>
                <c:pt idx="14">
                  <c:v>2039</c:v>
                </c:pt>
                <c:pt idx="15">
                  <c:v>2040</c:v>
                </c:pt>
                <c:pt idx="16">
                  <c:v>2041</c:v>
                </c:pt>
                <c:pt idx="17">
                  <c:v>2042</c:v>
                </c:pt>
                <c:pt idx="18">
                  <c:v>2043</c:v>
                </c:pt>
                <c:pt idx="19">
                  <c:v>2044</c:v>
                </c:pt>
                <c:pt idx="20">
                  <c:v>2045</c:v>
                </c:pt>
              </c:numCache>
            </c:numRef>
          </c:cat>
          <c:val>
            <c:numRef>
              <c:f>גיליון1!$D$13:$D$33</c:f>
              <c:numCache>
                <c:formatCode>0.0%</c:formatCode>
                <c:ptCount val="21"/>
                <c:pt idx="0">
                  <c:v>0.128</c:v>
                </c:pt>
                <c:pt idx="1">
                  <c:v>0.129</c:v>
                </c:pt>
                <c:pt idx="2">
                  <c:v>0.13</c:v>
                </c:pt>
                <c:pt idx="3">
                  <c:v>0.13100000000000001</c:v>
                </c:pt>
                <c:pt idx="4">
                  <c:v>0.13200000000000001</c:v>
                </c:pt>
                <c:pt idx="5">
                  <c:v>0.13300000000000001</c:v>
                </c:pt>
                <c:pt idx="6">
                  <c:v>0.13400000000000001</c:v>
                </c:pt>
                <c:pt idx="7">
                  <c:v>0.13500000000000001</c:v>
                </c:pt>
                <c:pt idx="8">
                  <c:v>0.13600000000000001</c:v>
                </c:pt>
                <c:pt idx="9">
                  <c:v>0.13700000000000001</c:v>
                </c:pt>
                <c:pt idx="10">
                  <c:v>0.13800000000000001</c:v>
                </c:pt>
                <c:pt idx="11">
                  <c:v>0.13900000000000001</c:v>
                </c:pt>
                <c:pt idx="12">
                  <c:v>0.14000000000000001</c:v>
                </c:pt>
                <c:pt idx="13">
                  <c:v>0.14100000000000001</c:v>
                </c:pt>
                <c:pt idx="14">
                  <c:v>0.14200000000000002</c:v>
                </c:pt>
                <c:pt idx="15">
                  <c:v>0.14300000000000002</c:v>
                </c:pt>
                <c:pt idx="16">
                  <c:v>0.14400000000000002</c:v>
                </c:pt>
                <c:pt idx="17">
                  <c:v>0.14500000000000002</c:v>
                </c:pt>
                <c:pt idx="18">
                  <c:v>0.14599999999999999</c:v>
                </c:pt>
                <c:pt idx="19">
                  <c:v>0.14699999999999999</c:v>
                </c:pt>
                <c:pt idx="20">
                  <c:v>0.14799999999999999</c:v>
                </c:pt>
              </c:numCache>
            </c:numRef>
          </c:val>
          <c:extLst>
            <c:ext xmlns:c16="http://schemas.microsoft.com/office/drawing/2014/chart" uri="{C3380CC4-5D6E-409C-BE32-E72D297353CC}">
              <c16:uniqueId val="{00000001-FADE-4127-87FE-3836A406ABFE}"/>
            </c:ext>
          </c:extLst>
        </c:ser>
        <c:dLbls>
          <c:dLblPos val="outEnd"/>
          <c:showLegendKey val="0"/>
          <c:showVal val="1"/>
          <c:showCatName val="0"/>
          <c:showSerName val="0"/>
          <c:showPercent val="0"/>
          <c:showBubbleSize val="0"/>
        </c:dLbls>
        <c:gapWidth val="80"/>
        <c:overlap val="25"/>
        <c:axId val="517736920"/>
        <c:axId val="517731344"/>
      </c:barChart>
      <c:catAx>
        <c:axId val="517736920"/>
        <c:scaling>
          <c:orientation val="minMax"/>
        </c:scaling>
        <c:delete val="0"/>
        <c:axPos val="b"/>
        <c:numFmt formatCode="General" sourceLinked="1"/>
        <c:majorTickMark val="none"/>
        <c:minorTickMark val="none"/>
        <c:tickLblPos val="nextTo"/>
        <c:spPr>
          <a:noFill/>
          <a:ln w="15875" cap="flat" cmpd="sng" algn="ctr">
            <a:solidFill>
              <a:schemeClr val="tx1">
                <a:lumMod val="25000"/>
                <a:lumOff val="75000"/>
              </a:schemeClr>
            </a:solidFill>
            <a:round/>
          </a:ln>
          <a:effectLst/>
        </c:spPr>
        <c:txPr>
          <a:bodyPr rot="-60000000" spcFirstLastPara="1" vertOverflow="ellipsis" vert="horz" wrap="square" anchor="ctr" anchorCtr="1"/>
          <a:lstStyle/>
          <a:p>
            <a:pPr>
              <a:defRPr sz="1050" b="1" i="0" u="none" strike="noStrike" kern="1200" cap="none" spc="20" normalizeH="0" baseline="0">
                <a:solidFill>
                  <a:schemeClr val="tx1">
                    <a:lumMod val="65000"/>
                    <a:lumOff val="35000"/>
                  </a:schemeClr>
                </a:solidFill>
                <a:latin typeface="+mn-lt"/>
                <a:ea typeface="+mn-ea"/>
                <a:cs typeface="+mn-cs"/>
              </a:defRPr>
            </a:pPr>
            <a:endParaRPr lang="he-IL"/>
          </a:p>
        </c:txPr>
        <c:crossAx val="517731344"/>
        <c:crosses val="autoZero"/>
        <c:auto val="1"/>
        <c:lblAlgn val="ctr"/>
        <c:lblOffset val="100"/>
        <c:noMultiLvlLbl val="0"/>
      </c:catAx>
      <c:valAx>
        <c:axId val="517731344"/>
        <c:scaling>
          <c:orientation val="minMax"/>
        </c:scaling>
        <c:delete val="0"/>
        <c:axPos val="l"/>
        <c:numFmt formatCode="0.0%" sourceLinked="1"/>
        <c:majorTickMark val="none"/>
        <c:minorTickMark val="none"/>
        <c:tickLblPos val="nextTo"/>
        <c:spPr>
          <a:noFill/>
          <a:ln>
            <a:noFill/>
          </a:ln>
          <a:effectLst/>
        </c:spPr>
        <c:txPr>
          <a:bodyPr rot="-60000000" spcFirstLastPara="1" vertOverflow="ellipsis" vert="horz" wrap="square" anchor="ctr" anchorCtr="1"/>
          <a:lstStyle/>
          <a:p>
            <a:pPr>
              <a:defRPr sz="1100" b="1" i="0" u="none" strike="noStrike" kern="1200" spc="20" baseline="0">
                <a:solidFill>
                  <a:schemeClr val="tx1">
                    <a:lumMod val="65000"/>
                    <a:lumOff val="35000"/>
                  </a:schemeClr>
                </a:solidFill>
                <a:latin typeface="+mn-lt"/>
                <a:ea typeface="+mn-ea"/>
                <a:cs typeface="+mn-cs"/>
              </a:defRPr>
            </a:pPr>
            <a:endParaRPr lang="he-IL"/>
          </a:p>
        </c:txPr>
        <c:crossAx val="517736920"/>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he-IL"/>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e-IL"/>
  <c:roundedCorners val="0"/>
  <mc:AlternateContent xmlns:mc="http://schemas.openxmlformats.org/markup-compatibility/2006">
    <mc:Choice xmlns:c14="http://schemas.microsoft.com/office/drawing/2007/8/2/chart" Requires="c14">
      <c14:style val="107"/>
    </mc:Choice>
    <mc:Fallback>
      <c:style val="7"/>
    </mc:Fallback>
  </mc:AlternateContent>
  <c:pivotSource>
    <c:name>[(43146) השוואת נתוני תקציב גמלאות ומרכזי יום.xlsx]שינוים בתקציב!PivotTable16</c:name>
    <c:fmtId val="-1"/>
  </c:pivotSource>
  <c:chart>
    <c:title>
      <c:tx>
        <c:rich>
          <a:bodyPr rot="0" spcFirstLastPara="1" vertOverflow="ellipsis" vert="horz" wrap="square" anchor="ctr" anchorCtr="1"/>
          <a:lstStyle/>
          <a:p>
            <a:pPr>
              <a:defRPr sz="1920" b="0" i="0" u="none" strike="noStrike" kern="1200" spc="0" baseline="0">
                <a:solidFill>
                  <a:schemeClr val="tx1">
                    <a:lumMod val="65000"/>
                    <a:lumOff val="35000"/>
                  </a:schemeClr>
                </a:solidFill>
                <a:latin typeface="Calibri" panose="020F0502020204030204" pitchFamily="34" charset="0"/>
                <a:ea typeface="+mn-ea"/>
                <a:cs typeface="Calibri" panose="020F0502020204030204" pitchFamily="34" charset="0"/>
              </a:defRPr>
            </a:pPr>
            <a:r>
              <a:rPr lang="he-IL" sz="2200" b="1" dirty="0">
                <a:latin typeface="Arial" panose="020B0604020202020204" pitchFamily="34" charset="0"/>
                <a:cs typeface="Arial" panose="020B0604020202020204" pitchFamily="34" charset="0"/>
              </a:rPr>
              <a:t>חלוקת תקציב 2018</a:t>
            </a:r>
          </a:p>
        </c:rich>
      </c:tx>
      <c:layout>
        <c:manualLayout>
          <c:xMode val="edge"/>
          <c:yMode val="edge"/>
          <c:x val="0.34203430139826657"/>
          <c:y val="5.9368352929669826E-2"/>
        </c:manualLayout>
      </c:layout>
      <c:overlay val="0"/>
      <c:spPr>
        <a:noFill/>
        <a:ln>
          <a:noFill/>
        </a:ln>
        <a:effectLst/>
      </c:spPr>
      <c:txPr>
        <a:bodyPr rot="0" spcFirstLastPara="1" vertOverflow="ellipsis" vert="horz" wrap="square" anchor="ctr" anchorCtr="1"/>
        <a:lstStyle/>
        <a:p>
          <a:pPr>
            <a:defRPr sz="1920" b="0" i="0" u="none" strike="noStrike" kern="1200" spc="0" baseline="0">
              <a:solidFill>
                <a:schemeClr val="tx1">
                  <a:lumMod val="65000"/>
                  <a:lumOff val="35000"/>
                </a:schemeClr>
              </a:solidFill>
              <a:latin typeface="Calibri" panose="020F0502020204030204" pitchFamily="34" charset="0"/>
              <a:ea typeface="+mn-ea"/>
              <a:cs typeface="Calibri" panose="020F0502020204030204" pitchFamily="34" charset="0"/>
            </a:defRPr>
          </a:pPr>
          <a:endParaRPr lang="he-IL"/>
        </a:p>
      </c:txPr>
    </c:title>
    <c:autoTitleDeleted val="0"/>
    <c:pivotFmts>
      <c:pivotFmt>
        <c:idx val="0"/>
        <c:spPr>
          <a:solidFill>
            <a:schemeClr val="accent5"/>
          </a:solidFill>
          <a:ln w="19050">
            <a:solidFill>
              <a:schemeClr val="lt1"/>
            </a:solidFill>
          </a:ln>
          <a:effectLst/>
        </c:spPr>
        <c:marker>
          <c:symbol val="none"/>
        </c:marker>
      </c:pivotFmt>
      <c:pivotFmt>
        <c:idx val="1"/>
        <c:spPr>
          <a:solidFill>
            <a:schemeClr val="accent5"/>
          </a:solidFill>
          <a:ln w="19050">
            <a:solidFill>
              <a:schemeClr val="lt1"/>
            </a:solidFill>
          </a:ln>
          <a:effectLst/>
        </c:spPr>
        <c:marker>
          <c:symbol val="none"/>
        </c:marker>
      </c:pivotFmt>
      <c:pivotFmt>
        <c:idx val="2"/>
        <c:spPr>
          <a:solidFill>
            <a:schemeClr val="accent5"/>
          </a:solidFill>
          <a:ln w="19050">
            <a:solidFill>
              <a:schemeClr val="lt1"/>
            </a:solidFill>
          </a:ln>
          <a:effectLst/>
        </c:spPr>
        <c:marker>
          <c:symbol val="none"/>
        </c:marker>
      </c:pivotFmt>
      <c:pivotFmt>
        <c:idx val="3"/>
        <c:spPr>
          <a:solidFill>
            <a:schemeClr val="accent5"/>
          </a:solidFill>
          <a:ln w="19050">
            <a:solidFill>
              <a:schemeClr val="lt1"/>
            </a:solidFill>
          </a:ln>
          <a:effectLst/>
        </c:spPr>
        <c:marker>
          <c:symbol val="none"/>
        </c:marker>
      </c:pivotFmt>
      <c:pivotFmt>
        <c:idx val="4"/>
        <c:spPr>
          <a:solidFill>
            <a:schemeClr val="accent5"/>
          </a:solidFill>
          <a:ln w="19050">
            <a:solidFill>
              <a:schemeClr val="lt1"/>
            </a:solidFill>
          </a:ln>
          <a:effectLst/>
        </c:spPr>
        <c:marker>
          <c:symbol val="none"/>
        </c:marker>
      </c:pivotFmt>
      <c:pivotFmt>
        <c:idx val="5"/>
        <c:spPr>
          <a:solidFill>
            <a:schemeClr val="accent5"/>
          </a:solidFill>
          <a:ln w="19050">
            <a:solidFill>
              <a:schemeClr val="lt1"/>
            </a:solidFill>
          </a:ln>
          <a:effectLst/>
        </c:spPr>
        <c:marker>
          <c:symbol val="none"/>
        </c:marker>
      </c:pivotFmt>
      <c:pivotFmt>
        <c:idx val="6"/>
        <c:spPr>
          <a:solidFill>
            <a:schemeClr val="accent5"/>
          </a:solidFill>
          <a:ln w="19050">
            <a:solidFill>
              <a:schemeClr val="lt1"/>
            </a:solidFill>
          </a:ln>
          <a:effectLst/>
        </c:spPr>
        <c:marker>
          <c:symbol val="none"/>
        </c:marker>
      </c:pivotFmt>
      <c:pivotFmt>
        <c:idx val="7"/>
        <c:spPr>
          <a:solidFill>
            <a:schemeClr val="accent5"/>
          </a:solidFill>
          <a:ln w="19050">
            <a:solidFill>
              <a:schemeClr val="lt1"/>
            </a:solidFill>
          </a:ln>
          <a:effectLst/>
        </c:spPr>
        <c:marker>
          <c:symbol val="none"/>
        </c:marker>
      </c:pivotFmt>
      <c:pivotFmt>
        <c:idx val="8"/>
        <c:spPr>
          <a:solidFill>
            <a:schemeClr val="accent5"/>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he-IL"/>
            </a:p>
          </c:txPr>
          <c:dLblPos val="bestFit"/>
          <c:showLegendKey val="0"/>
          <c:showVal val="0"/>
          <c:showCatName val="1"/>
          <c:showSerName val="0"/>
          <c:showPercent val="1"/>
          <c:showBubbleSize val="0"/>
          <c:extLst>
            <c:ext xmlns:c15="http://schemas.microsoft.com/office/drawing/2012/chart" uri="{CE6537A1-D6FC-4f65-9D91-7224C49458BB}"/>
          </c:extLst>
        </c:dLbl>
      </c:pivotFmt>
      <c:pivotFmt>
        <c:idx val="9"/>
        <c:dLbl>
          <c:idx val="0"/>
          <c:layout>
            <c:manualLayout>
              <c:x val="0.11925153105861767"/>
              <c:y val="1.9828739827295109E-2"/>
            </c:manualLayout>
          </c:layout>
          <c:dLblPos val="bestFit"/>
          <c:showLegendKey val="0"/>
          <c:showVal val="0"/>
          <c:showCatName val="1"/>
          <c:showSerName val="0"/>
          <c:showPercent val="1"/>
          <c:showBubbleSize val="0"/>
          <c:extLst>
            <c:ext xmlns:c15="http://schemas.microsoft.com/office/drawing/2012/chart" uri="{CE6537A1-D6FC-4f65-9D91-7224C49458BB}"/>
          </c:extLst>
        </c:dLbl>
      </c:pivotFmt>
      <c:pivotFmt>
        <c:idx val="10"/>
        <c:dLbl>
          <c:idx val="0"/>
          <c:layout>
            <c:manualLayout>
              <c:x val="-0.16880664916885385"/>
              <c:y val="-1.7361395939365965E-2"/>
            </c:manualLayout>
          </c:layout>
          <c:dLblPos val="bestFit"/>
          <c:showLegendKey val="0"/>
          <c:showVal val="0"/>
          <c:showCatName val="1"/>
          <c:showSerName val="0"/>
          <c:showPercent val="1"/>
          <c:showBubbleSize val="0"/>
          <c:extLst>
            <c:ext xmlns:c15="http://schemas.microsoft.com/office/drawing/2012/chart" uri="{CE6537A1-D6FC-4f65-9D91-7224C49458BB}"/>
          </c:extLst>
        </c:dLbl>
      </c:pivotFmt>
      <c:pivotFmt>
        <c:idx val="11"/>
        <c:dLbl>
          <c:idx val="0"/>
          <c:layout>
            <c:manualLayout>
              <c:x val="-0.19613965441819772"/>
              <c:y val="7.7105950397235945E-2"/>
            </c:manualLayout>
          </c:layout>
          <c:dLblPos val="bestFit"/>
          <c:showLegendKey val="0"/>
          <c:showVal val="0"/>
          <c:showCatName val="1"/>
          <c:showSerName val="0"/>
          <c:showPercent val="1"/>
          <c:showBubbleSize val="0"/>
          <c:extLst>
            <c:ext xmlns:c15="http://schemas.microsoft.com/office/drawing/2012/chart" uri="{CE6537A1-D6FC-4f65-9D91-7224C49458BB}"/>
          </c:extLst>
        </c:dLbl>
      </c:pivotFmt>
      <c:pivotFmt>
        <c:idx val="12"/>
        <c:spPr>
          <a:solidFill>
            <a:schemeClr val="accent5"/>
          </a:solidFill>
          <a:ln w="19050">
            <a:solidFill>
              <a:schemeClr val="lt1"/>
            </a:solidFill>
          </a:ln>
          <a:effectLst/>
        </c:spPr>
        <c:marker>
          <c:symbol val="none"/>
        </c:marker>
      </c:pivotFmt>
      <c:pivotFmt>
        <c:idx val="13"/>
        <c:spPr>
          <a:solidFill>
            <a:schemeClr val="accent5"/>
          </a:solidFill>
          <a:ln w="19050">
            <a:solidFill>
              <a:schemeClr val="lt1"/>
            </a:solidFill>
          </a:ln>
          <a:effectLst/>
        </c:spPr>
        <c:marker>
          <c:symbol val="none"/>
        </c:marker>
      </c:pivotFmt>
      <c:pivotFmt>
        <c:idx val="14"/>
        <c:spPr>
          <a:solidFill>
            <a:schemeClr val="accent5"/>
          </a:solidFill>
          <a:ln w="19050">
            <a:solidFill>
              <a:schemeClr val="lt1"/>
            </a:solidFill>
          </a:ln>
          <a:effectLst/>
        </c:spPr>
      </c:pivotFmt>
      <c:pivotFmt>
        <c:idx val="15"/>
        <c:spPr>
          <a:solidFill>
            <a:schemeClr val="accent5"/>
          </a:solidFill>
          <a:ln w="19050">
            <a:solidFill>
              <a:schemeClr val="lt1"/>
            </a:solidFill>
          </a:ln>
          <a:effectLst/>
        </c:spPr>
      </c:pivotFmt>
      <c:pivotFmt>
        <c:idx val="16"/>
        <c:spPr>
          <a:solidFill>
            <a:schemeClr val="accent5"/>
          </a:solidFill>
          <a:ln w="19050">
            <a:solidFill>
              <a:schemeClr val="lt1"/>
            </a:solidFill>
          </a:ln>
          <a:effectLst/>
        </c:spPr>
      </c:pivotFmt>
      <c:pivotFmt>
        <c:idx val="17"/>
        <c:spPr>
          <a:solidFill>
            <a:schemeClr val="accent5"/>
          </a:solidFill>
          <a:ln w="19050">
            <a:solidFill>
              <a:schemeClr val="lt1"/>
            </a:solidFill>
          </a:ln>
          <a:effectLst/>
        </c:spPr>
      </c:pivotFmt>
      <c:pivotFmt>
        <c:idx val="18"/>
        <c:spPr>
          <a:solidFill>
            <a:schemeClr val="accent5"/>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he-IL"/>
            </a:p>
          </c:txPr>
          <c:dLblPos val="bestFit"/>
          <c:showLegendKey val="0"/>
          <c:showVal val="0"/>
          <c:showCatName val="1"/>
          <c:showSerName val="0"/>
          <c:showPercent val="1"/>
          <c:showBubbleSize val="0"/>
          <c:extLst>
            <c:ext xmlns:c15="http://schemas.microsoft.com/office/drawing/2012/chart" uri="{CE6537A1-D6FC-4f65-9D91-7224C49458BB}"/>
          </c:extLst>
        </c:dLbl>
      </c:pivotFmt>
      <c:pivotFmt>
        <c:idx val="19"/>
        <c:spPr>
          <a:solidFill>
            <a:schemeClr val="accent5"/>
          </a:solidFill>
          <a:ln w="19050">
            <a:solidFill>
              <a:schemeClr val="lt1"/>
            </a:solidFill>
          </a:ln>
          <a:effectLst/>
        </c:spPr>
        <c:dLbl>
          <c:idx val="0"/>
          <c:layout>
            <c:manualLayout>
              <c:x val="0.1636758530183727"/>
              <c:y val="-1.488578778087807E-2"/>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he-IL"/>
            </a:p>
          </c:txPr>
          <c:dLblPos val="bestFit"/>
          <c:showLegendKey val="0"/>
          <c:showVal val="0"/>
          <c:showCatName val="1"/>
          <c:showSerName val="0"/>
          <c:showPercent val="1"/>
          <c:showBubbleSize val="0"/>
          <c:extLst>
            <c:ext xmlns:c15="http://schemas.microsoft.com/office/drawing/2012/chart" uri="{CE6537A1-D6FC-4f65-9D91-7224C49458BB}"/>
          </c:extLst>
        </c:dLbl>
      </c:pivotFmt>
      <c:pivotFmt>
        <c:idx val="20"/>
        <c:spPr>
          <a:solidFill>
            <a:schemeClr val="accent5"/>
          </a:solidFill>
          <a:ln w="19050">
            <a:solidFill>
              <a:schemeClr val="lt1"/>
            </a:solidFill>
          </a:ln>
          <a:effectLst/>
        </c:spPr>
        <c:dLbl>
          <c:idx val="0"/>
          <c:layout>
            <c:manualLayout>
              <c:x val="-0.15997692475940509"/>
              <c:y val="-8.1485707709278883E-3"/>
            </c:manualLayout>
          </c:layout>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tx1">
                      <a:lumMod val="75000"/>
                      <a:lumOff val="25000"/>
                    </a:schemeClr>
                  </a:solidFill>
                  <a:latin typeface="+mn-lt"/>
                  <a:ea typeface="+mn-ea"/>
                  <a:cs typeface="+mn-cs"/>
                </a:defRPr>
              </a:pPr>
              <a:endParaRPr lang="he-IL"/>
            </a:p>
          </c:txPr>
          <c:dLblPos val="bestFit"/>
          <c:showLegendKey val="0"/>
          <c:showVal val="0"/>
          <c:showCatName val="1"/>
          <c:showSerName val="0"/>
          <c:showPercent val="1"/>
          <c:showBubbleSize val="0"/>
          <c:extLst>
            <c:ext xmlns:c15="http://schemas.microsoft.com/office/drawing/2012/chart" uri="{CE6537A1-D6FC-4f65-9D91-7224C49458BB}"/>
          </c:extLst>
        </c:dLbl>
      </c:pivotFmt>
      <c:pivotFmt>
        <c:idx val="21"/>
        <c:spPr>
          <a:solidFill>
            <a:schemeClr val="accent5"/>
          </a:solidFill>
          <a:ln w="19050">
            <a:solidFill>
              <a:schemeClr val="lt1"/>
            </a:solidFill>
          </a:ln>
          <a:effectLst/>
        </c:spPr>
        <c:dLbl>
          <c:idx val="0"/>
          <c:layout>
            <c:manualLayout>
              <c:x val="1.1760936132983377E-2"/>
              <c:y val="-3.2639277445642524E-2"/>
            </c:manualLayout>
          </c:layout>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he-IL"/>
            </a:p>
          </c:txPr>
          <c:dLblPos val="bestFit"/>
          <c:showLegendKey val="0"/>
          <c:showVal val="0"/>
          <c:showCatName val="1"/>
          <c:showSerName val="0"/>
          <c:showPercent val="1"/>
          <c:showBubbleSize val="0"/>
          <c:extLst>
            <c:ext xmlns:c15="http://schemas.microsoft.com/office/drawing/2012/chart" uri="{CE6537A1-D6FC-4f65-9D91-7224C49458BB}"/>
          </c:extLst>
        </c:dLbl>
      </c:pivotFmt>
      <c:pivotFmt>
        <c:idx val="22"/>
        <c:spPr>
          <a:solidFill>
            <a:schemeClr val="accent5"/>
          </a:solidFill>
          <a:ln w="19050">
            <a:solidFill>
              <a:schemeClr val="lt1"/>
            </a:solidFill>
          </a:ln>
          <a:effectLst/>
        </c:spPr>
      </c:pivotFmt>
      <c:pivotFmt>
        <c:idx val="23"/>
        <c:spPr>
          <a:solidFill>
            <a:schemeClr val="accent5"/>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he-IL"/>
            </a:p>
          </c:txPr>
          <c:dLblPos val="bestFit"/>
          <c:showLegendKey val="0"/>
          <c:showVal val="0"/>
          <c:showCatName val="1"/>
          <c:showSerName val="0"/>
          <c:showPercent val="1"/>
          <c:showBubbleSize val="0"/>
          <c:extLst>
            <c:ext xmlns:c15="http://schemas.microsoft.com/office/drawing/2012/chart" uri="{CE6537A1-D6FC-4f65-9D91-7224C49458BB}"/>
          </c:extLst>
        </c:dLbl>
      </c:pivotFmt>
      <c:pivotFmt>
        <c:idx val="24"/>
        <c:spPr>
          <a:solidFill>
            <a:schemeClr val="accent5"/>
          </a:solidFill>
          <a:ln w="19050">
            <a:solidFill>
              <a:schemeClr val="lt1"/>
            </a:solidFill>
          </a:ln>
          <a:effectLst/>
        </c:spPr>
        <c:dLbl>
          <c:idx val="0"/>
          <c:layout>
            <c:manualLayout>
              <c:x val="0.1636758530183727"/>
              <c:y val="-1.488578778087807E-2"/>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he-IL"/>
            </a:p>
          </c:txPr>
          <c:dLblPos val="bestFit"/>
          <c:showLegendKey val="0"/>
          <c:showVal val="0"/>
          <c:showCatName val="1"/>
          <c:showSerName val="0"/>
          <c:showPercent val="1"/>
          <c:showBubbleSize val="0"/>
          <c:extLst>
            <c:ext xmlns:c15="http://schemas.microsoft.com/office/drawing/2012/chart" uri="{CE6537A1-D6FC-4f65-9D91-7224C49458BB}"/>
          </c:extLst>
        </c:dLbl>
      </c:pivotFmt>
      <c:pivotFmt>
        <c:idx val="25"/>
        <c:spPr>
          <a:solidFill>
            <a:schemeClr val="accent5"/>
          </a:solidFill>
          <a:ln w="19050">
            <a:solidFill>
              <a:schemeClr val="lt1"/>
            </a:solidFill>
          </a:ln>
          <a:effectLst/>
        </c:spPr>
      </c:pivotFmt>
      <c:pivotFmt>
        <c:idx val="26"/>
        <c:spPr>
          <a:solidFill>
            <a:schemeClr val="accent5"/>
          </a:solidFill>
          <a:ln w="19050">
            <a:solidFill>
              <a:schemeClr val="lt1"/>
            </a:solidFill>
          </a:ln>
          <a:effectLst/>
        </c:spPr>
        <c:dLbl>
          <c:idx val="0"/>
          <c:layout>
            <c:manualLayout>
              <c:x val="-0.15997692475940509"/>
              <c:y val="-8.1485707709278883E-3"/>
            </c:manualLayout>
          </c:layout>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tx1">
                      <a:lumMod val="75000"/>
                      <a:lumOff val="25000"/>
                    </a:schemeClr>
                  </a:solidFill>
                  <a:latin typeface="+mn-lt"/>
                  <a:ea typeface="+mn-ea"/>
                  <a:cs typeface="+mn-cs"/>
                </a:defRPr>
              </a:pPr>
              <a:endParaRPr lang="he-IL"/>
            </a:p>
          </c:txPr>
          <c:dLblPos val="bestFit"/>
          <c:showLegendKey val="0"/>
          <c:showVal val="0"/>
          <c:showCatName val="1"/>
          <c:showSerName val="0"/>
          <c:showPercent val="1"/>
          <c:showBubbleSize val="0"/>
          <c:extLst>
            <c:ext xmlns:c15="http://schemas.microsoft.com/office/drawing/2012/chart" uri="{CE6537A1-D6FC-4f65-9D91-7224C49458BB}"/>
          </c:extLst>
        </c:dLbl>
      </c:pivotFmt>
      <c:pivotFmt>
        <c:idx val="27"/>
        <c:spPr>
          <a:solidFill>
            <a:schemeClr val="accent5"/>
          </a:solidFill>
          <a:ln w="19050">
            <a:solidFill>
              <a:schemeClr val="lt1"/>
            </a:solidFill>
          </a:ln>
          <a:effectLst/>
        </c:spPr>
        <c:dLbl>
          <c:idx val="0"/>
          <c:layout>
            <c:manualLayout>
              <c:x val="1.1760936132983377E-2"/>
              <c:y val="-3.2639277445642524E-2"/>
            </c:manualLayout>
          </c:layout>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he-IL"/>
            </a:p>
          </c:txPr>
          <c:dLblPos val="bestFit"/>
          <c:showLegendKey val="0"/>
          <c:showVal val="0"/>
          <c:showCatName val="1"/>
          <c:showSerName val="0"/>
          <c:showPercent val="1"/>
          <c:showBubbleSize val="0"/>
          <c:extLst>
            <c:ext xmlns:c15="http://schemas.microsoft.com/office/drawing/2012/chart" uri="{CE6537A1-D6FC-4f65-9D91-7224C49458BB}"/>
          </c:extLst>
        </c:dLbl>
      </c:pivotFmt>
      <c:pivotFmt>
        <c:idx val="28"/>
        <c:spPr>
          <a:solidFill>
            <a:schemeClr val="accent5"/>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he-IL"/>
            </a:p>
          </c:txPr>
          <c:dLblPos val="bestFit"/>
          <c:showLegendKey val="0"/>
          <c:showVal val="0"/>
          <c:showCatName val="1"/>
          <c:showSerName val="0"/>
          <c:showPercent val="1"/>
          <c:showBubbleSize val="0"/>
          <c:extLst>
            <c:ext xmlns:c15="http://schemas.microsoft.com/office/drawing/2012/chart" uri="{CE6537A1-D6FC-4f65-9D91-7224C49458BB}"/>
          </c:extLst>
        </c:dLbl>
      </c:pivotFmt>
      <c:pivotFmt>
        <c:idx val="29"/>
        <c:spPr>
          <a:solidFill>
            <a:schemeClr val="accent5"/>
          </a:solidFill>
          <a:ln w="19050">
            <a:solidFill>
              <a:schemeClr val="lt1"/>
            </a:solidFill>
          </a:ln>
          <a:effectLst/>
        </c:spPr>
        <c:dLbl>
          <c:idx val="0"/>
          <c:layout>
            <c:manualLayout>
              <c:x val="0.1636758530183727"/>
              <c:y val="-1.488578778087807E-2"/>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he-IL"/>
            </a:p>
          </c:txPr>
          <c:dLblPos val="bestFit"/>
          <c:showLegendKey val="0"/>
          <c:showVal val="0"/>
          <c:showCatName val="1"/>
          <c:showSerName val="0"/>
          <c:showPercent val="1"/>
          <c:showBubbleSize val="0"/>
          <c:extLst>
            <c:ext xmlns:c15="http://schemas.microsoft.com/office/drawing/2012/chart" uri="{CE6537A1-D6FC-4f65-9D91-7224C49458BB}"/>
          </c:extLst>
        </c:dLbl>
      </c:pivotFmt>
      <c:pivotFmt>
        <c:idx val="30"/>
        <c:spPr>
          <a:solidFill>
            <a:schemeClr val="accent5"/>
          </a:solidFill>
          <a:ln w="19050">
            <a:solidFill>
              <a:schemeClr val="lt1"/>
            </a:solidFill>
          </a:ln>
          <a:effectLst/>
        </c:spPr>
      </c:pivotFmt>
      <c:pivotFmt>
        <c:idx val="31"/>
        <c:spPr>
          <a:solidFill>
            <a:schemeClr val="accent5"/>
          </a:solidFill>
          <a:ln w="19050">
            <a:solidFill>
              <a:schemeClr val="lt1"/>
            </a:solidFill>
          </a:ln>
          <a:effectLst/>
        </c:spPr>
        <c:dLbl>
          <c:idx val="0"/>
          <c:layout>
            <c:manualLayout>
              <c:x val="-0.15997692475940509"/>
              <c:y val="-8.1485707709278883E-3"/>
            </c:manualLayout>
          </c:layout>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tx1">
                      <a:lumMod val="75000"/>
                      <a:lumOff val="25000"/>
                    </a:schemeClr>
                  </a:solidFill>
                  <a:latin typeface="+mn-lt"/>
                  <a:ea typeface="+mn-ea"/>
                  <a:cs typeface="+mn-cs"/>
                </a:defRPr>
              </a:pPr>
              <a:endParaRPr lang="he-IL"/>
            </a:p>
          </c:txPr>
          <c:dLblPos val="bestFit"/>
          <c:showLegendKey val="0"/>
          <c:showVal val="0"/>
          <c:showCatName val="1"/>
          <c:showSerName val="0"/>
          <c:showPercent val="1"/>
          <c:showBubbleSize val="0"/>
          <c:extLst>
            <c:ext xmlns:c15="http://schemas.microsoft.com/office/drawing/2012/chart" uri="{CE6537A1-D6FC-4f65-9D91-7224C49458BB}"/>
          </c:extLst>
        </c:dLbl>
      </c:pivotFmt>
      <c:pivotFmt>
        <c:idx val="32"/>
        <c:spPr>
          <a:solidFill>
            <a:schemeClr val="accent5"/>
          </a:solidFill>
          <a:ln w="19050">
            <a:solidFill>
              <a:schemeClr val="lt1"/>
            </a:solidFill>
          </a:ln>
          <a:effectLst/>
        </c:spPr>
        <c:dLbl>
          <c:idx val="0"/>
          <c:layout>
            <c:manualLayout>
              <c:x val="1.1760936132983377E-2"/>
              <c:y val="-3.2639277445642524E-2"/>
            </c:manualLayout>
          </c:layout>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he-IL"/>
            </a:p>
          </c:txPr>
          <c:dLblPos val="bestFit"/>
          <c:showLegendKey val="0"/>
          <c:showVal val="0"/>
          <c:showCatName val="1"/>
          <c:showSerName val="0"/>
          <c:showPercent val="1"/>
          <c:showBubbleSize val="0"/>
          <c:extLst>
            <c:ext xmlns:c15="http://schemas.microsoft.com/office/drawing/2012/chart" uri="{CE6537A1-D6FC-4f65-9D91-7224C49458BB}"/>
          </c:extLst>
        </c:dLbl>
      </c:pivotFmt>
    </c:pivotFmts>
    <c:plotArea>
      <c:layout>
        <c:manualLayout>
          <c:layoutTarget val="inner"/>
          <c:xMode val="edge"/>
          <c:yMode val="edge"/>
          <c:x val="0.27633654188880319"/>
          <c:y val="0.32512776543262922"/>
          <c:w val="0.4494901605199414"/>
          <c:h val="0.51710927909308713"/>
        </c:manualLayout>
      </c:layout>
      <c:pieChart>
        <c:varyColors val="1"/>
        <c:dLbls>
          <c:dLblPos val="bestFit"/>
          <c:showLegendKey val="0"/>
          <c:showVal val="1"/>
          <c:showCatName val="0"/>
          <c:showSerName val="0"/>
          <c:showPercent val="0"/>
          <c:showBubbleSize val="0"/>
          <c:showLeaderLines val="0"/>
        </c:dLbls>
        <c:firstSliceAng val="360"/>
      </c:pieChart>
      <c:spPr>
        <a:noFill/>
        <a:ln>
          <a:noFill/>
        </a:ln>
        <a:effectLst/>
      </c:spPr>
    </c:plotArea>
    <c:plotVisOnly val="1"/>
    <c:dispBlanksAs val="gap"/>
    <c:showDLblsOverMax val="0"/>
  </c:chart>
  <c:spPr>
    <a:solidFill>
      <a:schemeClr val="bg1"/>
    </a:solidFill>
    <a:ln w="9525" cap="flat" cmpd="sng" algn="ctr">
      <a:noFill/>
      <a:round/>
    </a:ln>
    <a:effectLst/>
  </c:spPr>
  <c:txPr>
    <a:bodyPr/>
    <a:lstStyle/>
    <a:p>
      <a:pPr>
        <a:defRPr sz="1600">
          <a:latin typeface="Calibri" panose="020F0502020204030204" pitchFamily="34" charset="0"/>
          <a:cs typeface="Calibri" panose="020F0502020204030204" pitchFamily="34" charset="0"/>
        </a:defRPr>
      </a:pPr>
      <a:endParaRPr lang="he-IL"/>
    </a:p>
  </c:txPr>
  <c:externalData r:id="rId3">
    <c:autoUpdate val="0"/>
  </c:externalData>
  <c:extLst>
    <c:ext xmlns:c14="http://schemas.microsoft.com/office/drawing/2007/8/2/chart" uri="{781A3756-C4B2-4CAC-9D66-4F8BD8637D16}">
      <c14:pivotOptions>
        <c14:dropZoneFilter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e-IL"/>
  <c:roundedCorners val="0"/>
  <mc:AlternateContent xmlns:mc="http://schemas.openxmlformats.org/markup-compatibility/2006">
    <mc:Choice xmlns:c14="http://schemas.microsoft.com/office/drawing/2007/8/2/chart" Requires="c14">
      <c14:style val="102"/>
    </mc:Choice>
    <mc:Fallback>
      <c:style val="2"/>
    </mc:Fallback>
  </mc:AlternateContent>
  <c:pivotSource>
    <c:name>[(43146) השוואת נתוני תקציב גמלאות ומרכזי יום.xlsx]שינוים בתקציב!PivotTable17</c:name>
    <c:fmtId val="-1"/>
  </c:pivotSource>
  <c:chart>
    <c:title>
      <c:tx>
        <c:rich>
          <a:bodyPr rot="0" spcFirstLastPara="1" vertOverflow="ellipsis" vert="horz" wrap="square" anchor="ctr" anchorCtr="1"/>
          <a:lstStyle/>
          <a:p>
            <a:pPr>
              <a:defRPr sz="2160" b="0" i="0" u="none" strike="noStrike" kern="1200" spc="0" baseline="0">
                <a:solidFill>
                  <a:schemeClr val="tx1">
                    <a:lumMod val="65000"/>
                    <a:lumOff val="35000"/>
                  </a:schemeClr>
                </a:solidFill>
                <a:latin typeface="Calibri" panose="020F0502020204030204" pitchFamily="34" charset="0"/>
                <a:ea typeface="+mn-ea"/>
                <a:cs typeface="Calibri" panose="020F0502020204030204" pitchFamily="34" charset="0"/>
              </a:defRPr>
            </a:pPr>
            <a:r>
              <a:rPr lang="he-IL"/>
              <a:t>חלוקת תקציב 2022</a:t>
            </a:r>
          </a:p>
        </c:rich>
      </c:tx>
      <c:layout>
        <c:manualLayout>
          <c:xMode val="edge"/>
          <c:yMode val="edge"/>
          <c:x val="0.33305918592704381"/>
          <c:y val="0"/>
        </c:manualLayout>
      </c:layout>
      <c:overlay val="0"/>
      <c:spPr>
        <a:noFill/>
        <a:ln>
          <a:noFill/>
        </a:ln>
        <a:effectLst/>
      </c:spPr>
      <c:txPr>
        <a:bodyPr rot="0" spcFirstLastPara="1" vertOverflow="ellipsis" vert="horz" wrap="square" anchor="ctr" anchorCtr="1"/>
        <a:lstStyle/>
        <a:p>
          <a:pPr>
            <a:defRPr sz="2160" b="0" i="0" u="none" strike="noStrike" kern="1200" spc="0" baseline="0">
              <a:solidFill>
                <a:schemeClr val="tx1">
                  <a:lumMod val="65000"/>
                  <a:lumOff val="35000"/>
                </a:schemeClr>
              </a:solidFill>
              <a:latin typeface="Calibri" panose="020F0502020204030204" pitchFamily="34" charset="0"/>
              <a:ea typeface="+mn-ea"/>
              <a:cs typeface="Calibri" panose="020F0502020204030204" pitchFamily="34" charset="0"/>
            </a:defRPr>
          </a:pPr>
          <a:endParaRPr lang="he-IL"/>
        </a:p>
      </c:txPr>
    </c:title>
    <c:autoTitleDeleted val="0"/>
    <c:pivotFmts>
      <c:pivotFmt>
        <c:idx val="0"/>
        <c:spPr>
          <a:solidFill>
            <a:schemeClr val="accent6"/>
          </a:solidFill>
          <a:ln w="19050">
            <a:solidFill>
              <a:schemeClr val="lt1"/>
            </a:solidFill>
          </a:ln>
          <a:effectLst/>
        </c:spPr>
        <c:marker>
          <c:symbol val="none"/>
        </c:marker>
      </c:pivotFmt>
      <c:pivotFmt>
        <c:idx val="1"/>
        <c:spPr>
          <a:solidFill>
            <a:schemeClr val="accent6"/>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he-IL"/>
            </a:p>
          </c:txPr>
          <c:dLblPos val="bestFit"/>
          <c:showLegendKey val="0"/>
          <c:showVal val="0"/>
          <c:showCatName val="1"/>
          <c:showSerName val="0"/>
          <c:showPercent val="1"/>
          <c:showBubbleSize val="0"/>
          <c:extLst>
            <c:ext xmlns:c15="http://schemas.microsoft.com/office/drawing/2012/chart" uri="{CE6537A1-D6FC-4f65-9D91-7224C49458BB}"/>
          </c:extLst>
        </c:dLbl>
      </c:pivotFmt>
      <c:pivotFmt>
        <c:idx val="2"/>
        <c:spPr>
          <a:solidFill>
            <a:schemeClr val="accent6"/>
          </a:solidFill>
          <a:ln w="19050">
            <a:solidFill>
              <a:schemeClr val="lt1"/>
            </a:solidFill>
          </a:ln>
          <a:effectLst/>
        </c:spPr>
        <c:dLbl>
          <c:idx val="0"/>
          <c:layout>
            <c:manualLayout>
              <c:x val="-5.7158573928258967E-2"/>
              <c:y val="-1.4598279381743927E-2"/>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he-IL"/>
            </a:p>
          </c:txPr>
          <c:dLblPos val="bestFit"/>
          <c:showLegendKey val="0"/>
          <c:showVal val="0"/>
          <c:showCatName val="1"/>
          <c:showSerName val="0"/>
          <c:showPercent val="1"/>
          <c:showBubbleSize val="0"/>
          <c:extLst>
            <c:ext xmlns:c15="http://schemas.microsoft.com/office/drawing/2012/chart" uri="{CE6537A1-D6FC-4f65-9D91-7224C49458BB}"/>
          </c:extLst>
        </c:dLbl>
      </c:pivotFmt>
      <c:pivotFmt>
        <c:idx val="3"/>
        <c:spPr>
          <a:solidFill>
            <a:schemeClr val="accent6"/>
          </a:solidFill>
          <a:ln w="19050">
            <a:solidFill>
              <a:schemeClr val="lt1"/>
            </a:solidFill>
          </a:ln>
          <a:effectLst/>
        </c:spPr>
        <c:dLbl>
          <c:idx val="0"/>
          <c:layout>
            <c:manualLayout>
              <c:x val="6.8686898512685918E-2"/>
              <c:y val="-4.7160615339749197E-2"/>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he-IL"/>
            </a:p>
          </c:txPr>
          <c:dLblPos val="bestFit"/>
          <c:showLegendKey val="0"/>
          <c:showVal val="0"/>
          <c:showCatName val="1"/>
          <c:showSerName val="0"/>
          <c:showPercent val="1"/>
          <c:showBubbleSize val="0"/>
          <c:extLst>
            <c:ext xmlns:c15="http://schemas.microsoft.com/office/drawing/2012/chart" uri="{CE6537A1-D6FC-4f65-9D91-7224C49458BB}"/>
          </c:extLst>
        </c:dLbl>
      </c:pivotFmt>
      <c:pivotFmt>
        <c:idx val="4"/>
        <c:spPr>
          <a:solidFill>
            <a:schemeClr val="accent6"/>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he-IL"/>
            </a:p>
          </c:txPr>
          <c:dLblPos val="bestFit"/>
          <c:showLegendKey val="0"/>
          <c:showVal val="0"/>
          <c:showCatName val="1"/>
          <c:showSerName val="0"/>
          <c:showPercent val="1"/>
          <c:showBubbleSize val="0"/>
          <c:extLst>
            <c:ext xmlns:c15="http://schemas.microsoft.com/office/drawing/2012/chart" uri="{CE6537A1-D6FC-4f65-9D91-7224C49458BB}"/>
          </c:extLst>
        </c:dLbl>
      </c:pivotFmt>
      <c:pivotFmt>
        <c:idx val="5"/>
        <c:spPr>
          <a:solidFill>
            <a:schemeClr val="accent6"/>
          </a:solidFill>
          <a:ln w="19050">
            <a:solidFill>
              <a:schemeClr val="lt1"/>
            </a:solidFill>
          </a:ln>
          <a:effectLst/>
        </c:spPr>
      </c:pivotFmt>
      <c:pivotFmt>
        <c:idx val="6"/>
        <c:spPr>
          <a:solidFill>
            <a:schemeClr val="accent6"/>
          </a:solidFill>
          <a:ln w="19050">
            <a:solidFill>
              <a:schemeClr val="lt1"/>
            </a:solidFill>
          </a:ln>
          <a:effectLst/>
        </c:spPr>
      </c:pivotFmt>
      <c:pivotFmt>
        <c:idx val="7"/>
        <c:spPr>
          <a:solidFill>
            <a:schemeClr val="accent6"/>
          </a:solidFill>
          <a:ln w="19050">
            <a:solidFill>
              <a:schemeClr val="lt1"/>
            </a:solidFill>
          </a:ln>
          <a:effectLst/>
        </c:spPr>
        <c:dLbl>
          <c:idx val="0"/>
          <c:layout>
            <c:manualLayout>
              <c:x val="-5.7158573928258967E-2"/>
              <c:y val="-1.4598279381743927E-2"/>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he-IL"/>
            </a:p>
          </c:txPr>
          <c:dLblPos val="bestFit"/>
          <c:showLegendKey val="0"/>
          <c:showVal val="0"/>
          <c:showCatName val="1"/>
          <c:showSerName val="0"/>
          <c:showPercent val="1"/>
          <c:showBubbleSize val="0"/>
          <c:extLst>
            <c:ext xmlns:c15="http://schemas.microsoft.com/office/drawing/2012/chart" uri="{CE6537A1-D6FC-4f65-9D91-7224C49458BB}"/>
          </c:extLst>
        </c:dLbl>
      </c:pivotFmt>
      <c:pivotFmt>
        <c:idx val="8"/>
        <c:spPr>
          <a:solidFill>
            <a:schemeClr val="accent6"/>
          </a:solidFill>
          <a:ln w="19050">
            <a:solidFill>
              <a:schemeClr val="lt1"/>
            </a:solidFill>
          </a:ln>
          <a:effectLst/>
        </c:spPr>
        <c:dLbl>
          <c:idx val="0"/>
          <c:layout>
            <c:manualLayout>
              <c:x val="6.8686898512685918E-2"/>
              <c:y val="-4.7160615339749197E-2"/>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he-IL"/>
            </a:p>
          </c:txPr>
          <c:dLblPos val="bestFit"/>
          <c:showLegendKey val="0"/>
          <c:showVal val="0"/>
          <c:showCatName val="1"/>
          <c:showSerName val="0"/>
          <c:showPercent val="1"/>
          <c:showBubbleSize val="0"/>
          <c:extLst>
            <c:ext xmlns:c15="http://schemas.microsoft.com/office/drawing/2012/chart" uri="{CE6537A1-D6FC-4f65-9D91-7224C49458BB}"/>
          </c:extLst>
        </c:dLbl>
      </c:pivotFmt>
      <c:pivotFmt>
        <c:idx val="9"/>
        <c:spPr>
          <a:solidFill>
            <a:schemeClr val="accent6"/>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he-IL"/>
            </a:p>
          </c:txPr>
          <c:dLblPos val="bestFit"/>
          <c:showLegendKey val="0"/>
          <c:showVal val="0"/>
          <c:showCatName val="1"/>
          <c:showSerName val="0"/>
          <c:showPercent val="1"/>
          <c:showBubbleSize val="0"/>
          <c:extLst>
            <c:ext xmlns:c15="http://schemas.microsoft.com/office/drawing/2012/chart" uri="{CE6537A1-D6FC-4f65-9D91-7224C49458BB}"/>
          </c:extLst>
        </c:dLbl>
      </c:pivotFmt>
      <c:pivotFmt>
        <c:idx val="10"/>
        <c:spPr>
          <a:solidFill>
            <a:schemeClr val="accent6"/>
          </a:solidFill>
          <a:ln w="19050">
            <a:solidFill>
              <a:schemeClr val="lt1"/>
            </a:solidFill>
          </a:ln>
          <a:effectLst/>
        </c:spPr>
        <c:dLbl>
          <c:idx val="0"/>
          <c:layout>
            <c:manualLayout>
              <c:x val="-0.12099503981493839"/>
              <c:y val="-1.7852054207509776E-2"/>
            </c:manualLayout>
          </c:layout>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tx1">
                      <a:lumMod val="75000"/>
                      <a:lumOff val="25000"/>
                    </a:schemeClr>
                  </a:solidFill>
                  <a:latin typeface="+mn-lt"/>
                  <a:ea typeface="+mn-ea"/>
                  <a:cs typeface="+mn-cs"/>
                </a:defRPr>
              </a:pPr>
              <a:endParaRPr lang="he-IL"/>
            </a:p>
          </c:txPr>
          <c:dLblPos val="bestFit"/>
          <c:showLegendKey val="0"/>
          <c:showVal val="0"/>
          <c:showCatName val="1"/>
          <c:showSerName val="0"/>
          <c:showPercent val="1"/>
          <c:showBubbleSize val="0"/>
          <c:extLst>
            <c:ext xmlns:c15="http://schemas.microsoft.com/office/drawing/2012/chart" uri="{CE6537A1-D6FC-4f65-9D91-7224C49458BB}"/>
          </c:extLst>
        </c:dLbl>
      </c:pivotFmt>
      <c:pivotFmt>
        <c:idx val="11"/>
        <c:spPr>
          <a:solidFill>
            <a:schemeClr val="accent6"/>
          </a:solidFill>
          <a:ln w="19050">
            <a:solidFill>
              <a:schemeClr val="lt1"/>
            </a:solidFill>
          </a:ln>
          <a:effectLst/>
        </c:spPr>
      </c:pivotFmt>
      <c:pivotFmt>
        <c:idx val="12"/>
        <c:spPr>
          <a:solidFill>
            <a:schemeClr val="accent6"/>
          </a:solidFill>
          <a:ln w="19050">
            <a:solidFill>
              <a:schemeClr val="lt1"/>
            </a:solidFill>
          </a:ln>
          <a:effectLst/>
        </c:spPr>
      </c:pivotFmt>
      <c:pivotFmt>
        <c:idx val="13"/>
        <c:spPr>
          <a:solidFill>
            <a:schemeClr val="accent6"/>
          </a:solidFill>
          <a:ln w="19050">
            <a:solidFill>
              <a:schemeClr val="lt1"/>
            </a:solidFill>
          </a:ln>
          <a:effectLst/>
        </c:spPr>
      </c:pivotFmt>
      <c:pivotFmt>
        <c:idx val="14"/>
        <c:spPr>
          <a:solidFill>
            <a:schemeClr val="accent6"/>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he-IL"/>
            </a:p>
          </c:txPr>
          <c:dLblPos val="bestFit"/>
          <c:showLegendKey val="0"/>
          <c:showVal val="0"/>
          <c:showCatName val="1"/>
          <c:showSerName val="0"/>
          <c:showPercent val="1"/>
          <c:showBubbleSize val="0"/>
          <c:extLst>
            <c:ext xmlns:c15="http://schemas.microsoft.com/office/drawing/2012/chart" uri="{CE6537A1-D6FC-4f65-9D91-7224C49458BB}"/>
          </c:extLst>
        </c:dLbl>
      </c:pivotFmt>
      <c:pivotFmt>
        <c:idx val="15"/>
        <c:spPr>
          <a:solidFill>
            <a:schemeClr val="accent6"/>
          </a:solidFill>
          <a:ln w="19050">
            <a:solidFill>
              <a:schemeClr val="lt1"/>
            </a:solidFill>
          </a:ln>
          <a:effectLst/>
        </c:spPr>
      </c:pivotFmt>
      <c:pivotFmt>
        <c:idx val="16"/>
        <c:spPr>
          <a:solidFill>
            <a:schemeClr val="accent6"/>
          </a:solidFill>
          <a:ln w="19050">
            <a:solidFill>
              <a:schemeClr val="lt1"/>
            </a:solidFill>
          </a:ln>
          <a:effectLst/>
        </c:spPr>
      </c:pivotFmt>
      <c:pivotFmt>
        <c:idx val="17"/>
        <c:spPr>
          <a:solidFill>
            <a:schemeClr val="accent6"/>
          </a:solidFill>
          <a:ln w="19050">
            <a:solidFill>
              <a:schemeClr val="lt1"/>
            </a:solidFill>
          </a:ln>
          <a:effectLst/>
        </c:spPr>
        <c:dLbl>
          <c:idx val="0"/>
          <c:layout>
            <c:manualLayout>
              <c:x val="-0.12099503981493839"/>
              <c:y val="-1.7852054207509776E-2"/>
            </c:manualLayout>
          </c:layout>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tx1">
                      <a:lumMod val="75000"/>
                      <a:lumOff val="25000"/>
                    </a:schemeClr>
                  </a:solidFill>
                  <a:latin typeface="+mn-lt"/>
                  <a:ea typeface="+mn-ea"/>
                  <a:cs typeface="+mn-cs"/>
                </a:defRPr>
              </a:pPr>
              <a:endParaRPr lang="he-IL"/>
            </a:p>
          </c:txPr>
          <c:dLblPos val="bestFit"/>
          <c:showLegendKey val="0"/>
          <c:showVal val="0"/>
          <c:showCatName val="1"/>
          <c:showSerName val="0"/>
          <c:showPercent val="1"/>
          <c:showBubbleSize val="0"/>
          <c:extLst>
            <c:ext xmlns:c15="http://schemas.microsoft.com/office/drawing/2012/chart" uri="{CE6537A1-D6FC-4f65-9D91-7224C49458BB}"/>
          </c:extLst>
        </c:dLbl>
      </c:pivotFmt>
      <c:pivotFmt>
        <c:idx val="18"/>
        <c:spPr>
          <a:solidFill>
            <a:schemeClr val="accent6"/>
          </a:solidFill>
          <a:ln w="19050">
            <a:solidFill>
              <a:schemeClr val="lt1"/>
            </a:solidFill>
          </a:ln>
          <a:effectLst/>
        </c:spPr>
      </c:pivotFmt>
      <c:pivotFmt>
        <c:idx val="19"/>
        <c:spPr>
          <a:solidFill>
            <a:schemeClr val="accent6"/>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he-IL"/>
            </a:p>
          </c:txPr>
          <c:dLblPos val="bestFit"/>
          <c:showLegendKey val="0"/>
          <c:showVal val="0"/>
          <c:showCatName val="1"/>
          <c:showSerName val="0"/>
          <c:showPercent val="1"/>
          <c:showBubbleSize val="0"/>
          <c:extLst>
            <c:ext xmlns:c15="http://schemas.microsoft.com/office/drawing/2012/chart" uri="{CE6537A1-D6FC-4f65-9D91-7224C49458BB}"/>
          </c:extLst>
        </c:dLbl>
      </c:pivotFmt>
      <c:pivotFmt>
        <c:idx val="20"/>
        <c:spPr>
          <a:solidFill>
            <a:schemeClr val="accent6"/>
          </a:solidFill>
          <a:ln w="19050">
            <a:solidFill>
              <a:schemeClr val="lt1"/>
            </a:solidFill>
          </a:ln>
          <a:effectLst/>
        </c:spPr>
      </c:pivotFmt>
      <c:pivotFmt>
        <c:idx val="21"/>
        <c:spPr>
          <a:solidFill>
            <a:schemeClr val="accent6"/>
          </a:solidFill>
          <a:ln w="19050">
            <a:solidFill>
              <a:schemeClr val="lt1"/>
            </a:solidFill>
          </a:ln>
          <a:effectLst/>
        </c:spPr>
      </c:pivotFmt>
      <c:pivotFmt>
        <c:idx val="22"/>
        <c:spPr>
          <a:solidFill>
            <a:schemeClr val="accent6"/>
          </a:solidFill>
          <a:ln w="19050">
            <a:solidFill>
              <a:schemeClr val="lt1"/>
            </a:solidFill>
          </a:ln>
          <a:effectLst/>
        </c:spPr>
        <c:dLbl>
          <c:idx val="0"/>
          <c:layout>
            <c:manualLayout>
              <c:x val="-0.12099503981493839"/>
              <c:y val="-1.7852054207509776E-2"/>
            </c:manualLayout>
          </c:layout>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tx1">
                      <a:lumMod val="75000"/>
                      <a:lumOff val="25000"/>
                    </a:schemeClr>
                  </a:solidFill>
                  <a:latin typeface="+mn-lt"/>
                  <a:ea typeface="+mn-ea"/>
                  <a:cs typeface="+mn-cs"/>
                </a:defRPr>
              </a:pPr>
              <a:endParaRPr lang="he-IL"/>
            </a:p>
          </c:txPr>
          <c:dLblPos val="bestFit"/>
          <c:showLegendKey val="0"/>
          <c:showVal val="0"/>
          <c:showCatName val="1"/>
          <c:showSerName val="0"/>
          <c:showPercent val="1"/>
          <c:showBubbleSize val="0"/>
          <c:extLst>
            <c:ext xmlns:c15="http://schemas.microsoft.com/office/drawing/2012/chart" uri="{CE6537A1-D6FC-4f65-9D91-7224C49458BB}"/>
          </c:extLst>
        </c:dLbl>
      </c:pivotFmt>
      <c:pivotFmt>
        <c:idx val="23"/>
        <c:spPr>
          <a:solidFill>
            <a:schemeClr val="accent6"/>
          </a:solidFill>
          <a:ln w="19050">
            <a:solidFill>
              <a:schemeClr val="lt1"/>
            </a:solidFill>
          </a:ln>
          <a:effectLst/>
        </c:spPr>
      </c:pivotFmt>
    </c:pivotFmts>
    <c:plotArea>
      <c:layout>
        <c:manualLayout>
          <c:layoutTarget val="inner"/>
          <c:xMode val="edge"/>
          <c:yMode val="edge"/>
          <c:x val="0.28197339739312249"/>
          <c:y val="0.30668046301904567"/>
          <c:w val="0.44021864851639314"/>
          <c:h val="0.70915794045056235"/>
        </c:manualLayout>
      </c:layout>
      <c:pieChart>
        <c:varyColors val="1"/>
        <c:dLbls>
          <c:dLblPos val="bestFit"/>
          <c:showLegendKey val="0"/>
          <c:showVal val="1"/>
          <c:showCatName val="0"/>
          <c:showSerName val="0"/>
          <c:showPercent val="0"/>
          <c:showBubbleSize val="0"/>
          <c:showLeaderLines val="0"/>
        </c:dLbls>
        <c:firstSliceAng val="360"/>
      </c:pieChart>
      <c:spPr>
        <a:noFill/>
        <a:ln>
          <a:noFill/>
        </a:ln>
        <a:effectLst/>
      </c:spPr>
    </c:plotArea>
    <c:plotVisOnly val="1"/>
    <c:dispBlanksAs val="gap"/>
    <c:showDLblsOverMax val="0"/>
  </c:chart>
  <c:spPr>
    <a:solidFill>
      <a:schemeClr val="bg1"/>
    </a:solidFill>
    <a:ln w="9525" cap="flat" cmpd="sng" algn="ctr">
      <a:noFill/>
      <a:round/>
    </a:ln>
    <a:effectLst/>
  </c:spPr>
  <c:txPr>
    <a:bodyPr/>
    <a:lstStyle/>
    <a:p>
      <a:pPr>
        <a:defRPr sz="1800">
          <a:latin typeface="Calibri" panose="020F0502020204030204" pitchFamily="34" charset="0"/>
          <a:cs typeface="Calibri" panose="020F0502020204030204" pitchFamily="34" charset="0"/>
        </a:defRPr>
      </a:pPr>
      <a:endParaRPr lang="he-IL"/>
    </a:p>
  </c:txPr>
  <c:externalData r:id="rId3">
    <c:autoUpdate val="0"/>
  </c:externalData>
  <c:extLst>
    <c:ext xmlns:c14="http://schemas.microsoft.com/office/drawing/2007/8/2/chart" uri="{781A3756-C4B2-4CAC-9D66-4F8BD8637D16}">
      <c14:pivotOptions>
        <c14:dropZoneFilter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e-IL"/>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he-IL" dirty="0"/>
              <a:t>בשלושים השנים</a:t>
            </a:r>
            <a:r>
              <a:rPr lang="he-IL" baseline="0" dirty="0"/>
              <a:t> האחרונות </a:t>
            </a:r>
          </a:p>
          <a:p>
            <a:pPr>
              <a:defRPr/>
            </a:pPr>
            <a:r>
              <a:rPr lang="he-IL" baseline="0" dirty="0">
                <a:solidFill>
                  <a:schemeClr val="accent3"/>
                </a:solidFill>
              </a:rPr>
              <a:t>שיעור זכאי גמלת סיעוד</a:t>
            </a:r>
            <a:r>
              <a:rPr lang="he-IL" baseline="0" dirty="0"/>
              <a:t> גדל פי 5.5</a:t>
            </a:r>
            <a:endParaRPr lang="en-US" dirty="0"/>
          </a:p>
        </c:rich>
      </c:tx>
      <c:layout>
        <c:manualLayout>
          <c:xMode val="edge"/>
          <c:yMode val="edge"/>
          <c:x val="0.27483952991452992"/>
          <c:y val="1.7638888888888888E-2"/>
        </c:manualLayout>
      </c:layout>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he-IL"/>
        </a:p>
      </c:txPr>
    </c:title>
    <c:autoTitleDeleted val="0"/>
    <c:plotArea>
      <c:layout>
        <c:manualLayout>
          <c:layoutTarget val="inner"/>
          <c:xMode val="edge"/>
          <c:yMode val="edge"/>
          <c:x val="9.6311576535027615E-2"/>
          <c:y val="0.22825530531457483"/>
          <c:w val="0.86731553369038539"/>
          <c:h val="0.64362569468409281"/>
        </c:manualLayout>
      </c:layout>
      <c:lineChart>
        <c:grouping val="standard"/>
        <c:varyColors val="0"/>
        <c:ser>
          <c:idx val="2"/>
          <c:order val="0"/>
          <c:tx>
            <c:strRef>
              <c:f>Sheet1!$C$1</c:f>
              <c:strCache>
                <c:ptCount val="1"/>
                <c:pt idx="0">
                  <c:v>שיעור הזכאים </c:v>
                </c:pt>
              </c:strCache>
            </c:strRef>
          </c:tx>
          <c:spPr>
            <a:ln w="12700" cap="flat" cmpd="sng" algn="ctr">
              <a:solidFill>
                <a:schemeClr val="dk1">
                  <a:shade val="50000"/>
                </a:schemeClr>
              </a:solidFill>
              <a:prstDash val="solid"/>
              <a:miter lim="800000"/>
            </a:ln>
            <a:effectLst/>
          </c:spPr>
          <c:marker>
            <c:symbol val="none"/>
          </c:marker>
          <c:dPt>
            <c:idx val="0"/>
            <c:marker>
              <c:symbol val="circle"/>
              <c:size val="7"/>
              <c:spPr>
                <a:solidFill>
                  <a:schemeClr val="dk1"/>
                </a:solidFill>
                <a:ln w="12700" cap="flat" cmpd="sng" algn="ctr">
                  <a:solidFill>
                    <a:schemeClr val="dk1">
                      <a:shade val="50000"/>
                    </a:schemeClr>
                  </a:solidFill>
                  <a:prstDash val="solid"/>
                  <a:miter lim="800000"/>
                </a:ln>
                <a:effectLst/>
              </c:spPr>
            </c:marker>
            <c:bubble3D val="0"/>
            <c:extLst>
              <c:ext xmlns:c16="http://schemas.microsoft.com/office/drawing/2014/chart" uri="{C3380CC4-5D6E-409C-BE32-E72D297353CC}">
                <c16:uniqueId val="{00000000-FE80-4CD3-977E-2EBB2AD43250}"/>
              </c:ext>
            </c:extLst>
          </c:dPt>
          <c:dPt>
            <c:idx val="6"/>
            <c:marker>
              <c:symbol val="none"/>
            </c:marker>
            <c:bubble3D val="0"/>
            <c:spPr>
              <a:ln w="12700" cap="flat" cmpd="sng" algn="ctr">
                <a:solidFill>
                  <a:schemeClr val="dk1">
                    <a:shade val="50000"/>
                  </a:schemeClr>
                </a:solidFill>
                <a:prstDash val="solid"/>
                <a:miter lim="800000"/>
              </a:ln>
              <a:effectLst/>
            </c:spPr>
            <c:extLst>
              <c:ext xmlns:c16="http://schemas.microsoft.com/office/drawing/2014/chart" uri="{C3380CC4-5D6E-409C-BE32-E72D297353CC}">
                <c16:uniqueId val="{00000002-FE80-4CD3-977E-2EBB2AD43250}"/>
              </c:ext>
            </c:extLst>
          </c:dPt>
          <c:dPt>
            <c:idx val="7"/>
            <c:marker>
              <c:symbol val="none"/>
            </c:marker>
            <c:bubble3D val="0"/>
            <c:spPr>
              <a:ln w="12700" cap="flat" cmpd="sng" algn="ctr">
                <a:solidFill>
                  <a:schemeClr val="dk1">
                    <a:shade val="50000"/>
                  </a:schemeClr>
                </a:solidFill>
                <a:prstDash val="solid"/>
                <a:miter lim="800000"/>
              </a:ln>
              <a:effectLst/>
            </c:spPr>
            <c:extLst>
              <c:ext xmlns:c16="http://schemas.microsoft.com/office/drawing/2014/chart" uri="{C3380CC4-5D6E-409C-BE32-E72D297353CC}">
                <c16:uniqueId val="{00000004-FE80-4CD3-977E-2EBB2AD43250}"/>
              </c:ext>
            </c:extLst>
          </c:dPt>
          <c:dPt>
            <c:idx val="8"/>
            <c:marker>
              <c:symbol val="none"/>
            </c:marker>
            <c:bubble3D val="0"/>
            <c:spPr>
              <a:ln w="12700" cap="flat" cmpd="sng" algn="ctr">
                <a:solidFill>
                  <a:schemeClr val="dk1">
                    <a:shade val="50000"/>
                  </a:schemeClr>
                </a:solidFill>
                <a:prstDash val="solid"/>
                <a:miter lim="800000"/>
              </a:ln>
              <a:effectLst/>
            </c:spPr>
            <c:extLst>
              <c:ext xmlns:c16="http://schemas.microsoft.com/office/drawing/2014/chart" uri="{C3380CC4-5D6E-409C-BE32-E72D297353CC}">
                <c16:uniqueId val="{00000006-FE80-4CD3-977E-2EBB2AD43250}"/>
              </c:ext>
            </c:extLst>
          </c:dPt>
          <c:dPt>
            <c:idx val="9"/>
            <c:marker>
              <c:symbol val="none"/>
            </c:marker>
            <c:bubble3D val="0"/>
            <c:spPr>
              <a:ln w="12700" cap="flat" cmpd="sng" algn="ctr">
                <a:solidFill>
                  <a:schemeClr val="dk1">
                    <a:shade val="50000"/>
                  </a:schemeClr>
                </a:solidFill>
                <a:prstDash val="solid"/>
                <a:miter lim="800000"/>
              </a:ln>
              <a:effectLst/>
            </c:spPr>
            <c:extLst>
              <c:ext xmlns:c16="http://schemas.microsoft.com/office/drawing/2014/chart" uri="{C3380CC4-5D6E-409C-BE32-E72D297353CC}">
                <c16:uniqueId val="{00000008-FE80-4CD3-977E-2EBB2AD43250}"/>
              </c:ext>
            </c:extLst>
          </c:dPt>
          <c:dPt>
            <c:idx val="28"/>
            <c:marker>
              <c:symbol val="circle"/>
              <c:size val="7"/>
              <c:spPr>
                <a:solidFill>
                  <a:schemeClr val="dk1"/>
                </a:solidFill>
                <a:ln w="12700" cap="flat" cmpd="sng" algn="ctr">
                  <a:solidFill>
                    <a:schemeClr val="dk1">
                      <a:shade val="50000"/>
                    </a:schemeClr>
                  </a:solidFill>
                  <a:prstDash val="solid"/>
                  <a:miter lim="800000"/>
                </a:ln>
                <a:effectLst/>
              </c:spPr>
            </c:marker>
            <c:bubble3D val="0"/>
            <c:extLst>
              <c:ext xmlns:c16="http://schemas.microsoft.com/office/drawing/2014/chart" uri="{C3380CC4-5D6E-409C-BE32-E72D297353CC}">
                <c16:uniqueId val="{00000009-FE80-4CD3-977E-2EBB2AD43250}"/>
              </c:ext>
            </c:extLst>
          </c:dPt>
          <c:dPt>
            <c:idx val="29"/>
            <c:marker>
              <c:symbol val="none"/>
            </c:marker>
            <c:bubble3D val="0"/>
            <c:extLst>
              <c:ext xmlns:c16="http://schemas.microsoft.com/office/drawing/2014/chart" uri="{C3380CC4-5D6E-409C-BE32-E72D297353CC}">
                <c16:uniqueId val="{0000000A-FE80-4CD3-977E-2EBB2AD43250}"/>
              </c:ext>
            </c:extLst>
          </c:dPt>
          <c:dPt>
            <c:idx val="30"/>
            <c:marker>
              <c:symbol val="circle"/>
              <c:size val="7"/>
              <c:spPr>
                <a:solidFill>
                  <a:schemeClr val="dk1"/>
                </a:solidFill>
                <a:ln w="12700" cap="flat" cmpd="sng" algn="ctr">
                  <a:solidFill>
                    <a:schemeClr val="dk1">
                      <a:shade val="50000"/>
                    </a:schemeClr>
                  </a:solidFill>
                  <a:prstDash val="solid"/>
                  <a:miter lim="800000"/>
                </a:ln>
                <a:effectLst/>
              </c:spPr>
            </c:marker>
            <c:bubble3D val="0"/>
            <c:extLst>
              <c:ext xmlns:c16="http://schemas.microsoft.com/office/drawing/2014/chart" uri="{C3380CC4-5D6E-409C-BE32-E72D297353CC}">
                <c16:uniqueId val="{0000000B-FE80-4CD3-977E-2EBB2AD43250}"/>
              </c:ext>
            </c:extLst>
          </c:dPt>
          <c:dLbls>
            <c:dLbl>
              <c:idx val="0"/>
              <c:layout>
                <c:manualLayout>
                  <c:x val="-3.4518592307139009E-2"/>
                  <c:y val="-4.4669708489664665E-2"/>
                </c:manualLayout>
              </c:layout>
              <c:tx>
                <c:rich>
                  <a:bodyPr/>
                  <a:lstStyle/>
                  <a:p>
                    <a:fld id="{4C65B224-6C72-41B8-A31F-7CE73B83FEC7}" type="VALUE">
                      <a:rPr lang="en-US">
                        <a:solidFill>
                          <a:schemeClr val="accent3"/>
                        </a:solidFill>
                      </a:rPr>
                      <a:pPr/>
                      <a:t>[ערך]</a:t>
                    </a:fld>
                    <a:endParaRPr lang="he-IL"/>
                  </a:p>
                </c:rich>
              </c:tx>
              <c:dLblPos val="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0-FE80-4CD3-977E-2EBB2AD43250}"/>
                </c:ext>
              </c:extLst>
            </c:dLbl>
            <c:dLbl>
              <c:idx val="28"/>
              <c:layout>
                <c:manualLayout>
                  <c:x val="-5.4565384615384516E-2"/>
                  <c:y val="3.732106481481471E-2"/>
                </c:manualLayout>
              </c:layout>
              <c:tx>
                <c:rich>
                  <a:bodyPr/>
                  <a:lstStyle/>
                  <a:p>
                    <a:fld id="{87D127B6-8B27-4EC1-AD25-15754C05657B}" type="VALUE">
                      <a:rPr lang="en-US">
                        <a:solidFill>
                          <a:schemeClr val="accent3"/>
                        </a:solidFill>
                      </a:rPr>
                      <a:pPr/>
                      <a:t>[ערך]</a:t>
                    </a:fld>
                    <a:endParaRPr lang="he-IL"/>
                  </a:p>
                </c:rich>
              </c:tx>
              <c:dLblPos val="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9-FE80-4CD3-977E-2EBB2AD43250}"/>
                </c:ext>
              </c:extLst>
            </c:dLbl>
            <c:dLbl>
              <c:idx val="30"/>
              <c:layout>
                <c:manualLayout>
                  <c:x val="0"/>
                  <c:y val="-8.8064426425342693E-2"/>
                </c:manualLayout>
              </c:layout>
              <c:tx>
                <c:rich>
                  <a:bodyPr/>
                  <a:lstStyle/>
                  <a:p>
                    <a:r>
                      <a:rPr lang="en-US" sz="1400" b="1" dirty="0">
                        <a:solidFill>
                          <a:schemeClr val="tx1"/>
                        </a:solidFill>
                      </a:rPr>
                      <a:t>30%</a:t>
                    </a:r>
                  </a:p>
                </c:rich>
              </c:tx>
              <c:dLblPos val="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B-FE80-4CD3-977E-2EBB2AD43250}"/>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he-IL"/>
              </a:p>
            </c:txPr>
            <c:showLegendKey val="0"/>
            <c:showVal val="0"/>
            <c:showCatName val="0"/>
            <c:showSerName val="0"/>
            <c:showPercent val="0"/>
            <c:showBubbleSize val="0"/>
            <c:extLst>
              <c:ext xmlns:c15="http://schemas.microsoft.com/office/drawing/2012/chart" uri="{CE6537A1-D6FC-4f65-9D91-7224C49458BB}">
                <c15:showLeaderLines val="0"/>
              </c:ext>
            </c:extLst>
          </c:dLbls>
          <c:cat>
            <c:numRef>
              <c:f>Sheet1!$A$2:$A$34</c:f>
              <c:numCache>
                <c:formatCode>General</c:formatCode>
                <c:ptCount val="33"/>
                <c:pt idx="0">
                  <c:v>1990</c:v>
                </c:pt>
                <c:pt idx="10">
                  <c:v>2000</c:v>
                </c:pt>
                <c:pt idx="20">
                  <c:v>2010</c:v>
                </c:pt>
                <c:pt idx="32">
                  <c:v>2024</c:v>
                </c:pt>
              </c:numCache>
            </c:numRef>
          </c:cat>
          <c:val>
            <c:numRef>
              <c:f>Sheet1!$C$2:$C$34</c:f>
              <c:numCache>
                <c:formatCode>0.0</c:formatCode>
                <c:ptCount val="33"/>
                <c:pt idx="0">
                  <c:v>5.457125960969841</c:v>
                </c:pt>
                <c:pt idx="1">
                  <c:v>5.7662456525718468</c:v>
                </c:pt>
                <c:pt idx="2">
                  <c:v>6.6165176223040509</c:v>
                </c:pt>
                <c:pt idx="3">
                  <c:v>7.7731363559178135</c:v>
                </c:pt>
                <c:pt idx="4">
                  <c:v>8.5848309975267938</c:v>
                </c:pt>
                <c:pt idx="5">
                  <c:v>9.4588141025641033</c:v>
                </c:pt>
                <c:pt idx="6">
                  <c:v>10.289211100717182</c:v>
                </c:pt>
                <c:pt idx="7">
                  <c:v>10.733402031503019</c:v>
                </c:pt>
                <c:pt idx="8">
                  <c:v>11.632456518614346</c:v>
                </c:pt>
                <c:pt idx="9" formatCode="_-* #,##0.0_-;\-* #,##0.0_-;_-* &quot;-&quot;??_-;_-@_-">
                  <c:v>12.392495784148398</c:v>
                </c:pt>
                <c:pt idx="10" formatCode="_-* #,##0.0_-;\-* #,##0.0_-;_-* &quot;-&quot;??_-;_-@_-">
                  <c:v>13.1402497598463</c:v>
                </c:pt>
                <c:pt idx="11" formatCode="_-* #,##0.0_-;\-* #,##0.0_-;_-* &quot;-&quot;??_-;_-@_-">
                  <c:v>14.155003357958362</c:v>
                </c:pt>
                <c:pt idx="12" formatCode="_-* #,##0.0_-;\-* #,##0.0_-;_-* &quot;-&quot;??_-;_-@_-">
                  <c:v>14.806753726421318</c:v>
                </c:pt>
                <c:pt idx="13" formatCode="_-* #,##0.0_-;\-* #,##0.0_-;_-* &quot;-&quot;??_-;_-@_-">
                  <c:v>14.690538081622043</c:v>
                </c:pt>
                <c:pt idx="14" formatCode="_-* #,##0.0_-;\-* #,##0.0_-;_-* &quot;-&quot;??_-;_-@_-">
                  <c:v>14.530233153984115</c:v>
                </c:pt>
                <c:pt idx="15" formatCode="#,##0.0">
                  <c:v>14.470936084549571</c:v>
                </c:pt>
                <c:pt idx="16" formatCode="#,##0.0">
                  <c:v>14.800466887824056</c:v>
                </c:pt>
                <c:pt idx="17" formatCode="#,##0.0">
                  <c:v>14.992945958871355</c:v>
                </c:pt>
                <c:pt idx="18" formatCode="#,##0.0">
                  <c:v>15.279478524036783</c:v>
                </c:pt>
                <c:pt idx="19" formatCode="#,##0.0">
                  <c:v>15.225770433229119</c:v>
                </c:pt>
                <c:pt idx="20" formatCode="#,##0.0">
                  <c:v>17.391705636229389</c:v>
                </c:pt>
                <c:pt idx="21" formatCode="#,##0.0">
                  <c:v>17.274155164207521</c:v>
                </c:pt>
                <c:pt idx="22" formatCode="#,##0.0">
                  <c:v>17.656144829987237</c:v>
                </c:pt>
                <c:pt idx="23" formatCode="#,##0.0">
                  <c:v>17.462234636871507</c:v>
                </c:pt>
                <c:pt idx="24" formatCode="#,##0.0">
                  <c:v>17.045503211991434</c:v>
                </c:pt>
                <c:pt idx="25" formatCode="#,##0.0">
                  <c:v>16.497789657653954</c:v>
                </c:pt>
                <c:pt idx="26" formatCode="#,##0.0">
                  <c:v>16.260908369694565</c:v>
                </c:pt>
                <c:pt idx="27" formatCode="#,##0.0">
                  <c:v>16.181470503872262</c:v>
                </c:pt>
                <c:pt idx="28" formatCode="#,##0.0">
                  <c:v>16.230648728345006</c:v>
                </c:pt>
                <c:pt idx="29" formatCode="#,##0.0">
                  <c:v>17.600000000000001</c:v>
                </c:pt>
                <c:pt idx="30" formatCode="General">
                  <c:v>20.7</c:v>
                </c:pt>
                <c:pt idx="31" formatCode="General">
                  <c:v>25</c:v>
                </c:pt>
                <c:pt idx="32" formatCode="General">
                  <c:v>30</c:v>
                </c:pt>
              </c:numCache>
            </c:numRef>
          </c:val>
          <c:smooth val="0"/>
          <c:extLst>
            <c:ext xmlns:c16="http://schemas.microsoft.com/office/drawing/2014/chart" uri="{C3380CC4-5D6E-409C-BE32-E72D297353CC}">
              <c16:uniqueId val="{0000000C-FE80-4CD3-977E-2EBB2AD43250}"/>
            </c:ext>
          </c:extLst>
        </c:ser>
        <c:dLbls>
          <c:showLegendKey val="0"/>
          <c:showVal val="0"/>
          <c:showCatName val="0"/>
          <c:showSerName val="0"/>
          <c:showPercent val="0"/>
          <c:showBubbleSize val="0"/>
        </c:dLbls>
        <c:smooth val="0"/>
        <c:axId val="964766120"/>
        <c:axId val="964773664"/>
      </c:lineChart>
      <c:catAx>
        <c:axId val="964766120"/>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0" spcFirstLastPara="1" vertOverflow="ellipsis"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he-IL"/>
          </a:p>
        </c:txPr>
        <c:crossAx val="964773664"/>
        <c:crosses val="autoZero"/>
        <c:auto val="0"/>
        <c:lblAlgn val="ctr"/>
        <c:lblOffset val="100"/>
        <c:tickMarkSkip val="10"/>
        <c:noMultiLvlLbl val="0"/>
      </c:catAx>
      <c:valAx>
        <c:axId val="964773664"/>
        <c:scaling>
          <c:orientation val="minMax"/>
          <c:max val="100"/>
          <c:min val="0"/>
        </c:scaling>
        <c:delete val="0"/>
        <c:axPos val="l"/>
        <c:title>
          <c:tx>
            <c:rich>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r>
                  <a:rPr lang="he-IL">
                    <a:solidFill>
                      <a:schemeClr val="accent3"/>
                    </a:solidFill>
                  </a:rPr>
                  <a:t>שיעור זכאי גמלת סיעוד</a:t>
                </a:r>
                <a:endParaRPr lang="en-US">
                  <a:solidFill>
                    <a:schemeClr val="accent3"/>
                  </a:solidFill>
                </a:endParaRPr>
              </a:p>
            </c:rich>
          </c:tx>
          <c:layout>
            <c:manualLayout>
              <c:xMode val="edge"/>
              <c:yMode val="edge"/>
              <c:x val="8.0986111111111092E-2"/>
              <c:y val="0.37720694444444453"/>
            </c:manualLayout>
          </c:layout>
          <c:overlay val="0"/>
          <c:spPr>
            <a:noFill/>
            <a:ln>
              <a:noFill/>
            </a:ln>
            <a:effectLst/>
          </c:spPr>
          <c:txPr>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endParaRPr lang="he-IL"/>
            </a:p>
          </c:txPr>
        </c:title>
        <c:numFmt formatCode="0" sourceLinked="0"/>
        <c:majorTickMark val="out"/>
        <c:minorTickMark val="none"/>
        <c:tickLblPos val="nextTo"/>
        <c:spPr>
          <a:noFill/>
          <a:ln>
            <a:solidFill>
              <a:schemeClr val="accent3"/>
            </a:solidFill>
          </a:ln>
          <a:effectLst/>
        </c:spPr>
        <c:txPr>
          <a:bodyPr rot="-60000000" spcFirstLastPara="1" vertOverflow="ellipsis" vert="horz" wrap="square" anchor="ctr" anchorCtr="1"/>
          <a:lstStyle/>
          <a:p>
            <a:pPr>
              <a:defRPr sz="1197" b="0" i="0" u="none" strike="noStrike" kern="1200" baseline="0">
                <a:solidFill>
                  <a:schemeClr val="accent3"/>
                </a:solidFill>
                <a:latin typeface="+mn-lt"/>
                <a:ea typeface="+mn-ea"/>
                <a:cs typeface="+mn-cs"/>
              </a:defRPr>
            </a:pPr>
            <a:endParaRPr lang="he-IL"/>
          </a:p>
        </c:txPr>
        <c:crossAx val="964766120"/>
        <c:crosses val="autoZero"/>
        <c:crossBetween val="between"/>
        <c:majorUnit val="100"/>
      </c:valAx>
      <c:spPr>
        <a:noFill/>
        <a:ln>
          <a:noFill/>
        </a:ln>
        <a:effectLst/>
      </c:spPr>
    </c:plotArea>
    <c:plotVisOnly val="1"/>
    <c:dispBlanksAs val="gap"/>
    <c:showDLblsOverMax val="0"/>
  </c:chart>
  <c:spPr>
    <a:noFill/>
    <a:ln>
      <a:noFill/>
    </a:ln>
    <a:effectLst/>
  </c:spPr>
  <c:txPr>
    <a:bodyPr/>
    <a:lstStyle/>
    <a:p>
      <a:pPr>
        <a:defRPr/>
      </a:pPr>
      <a:endParaRPr lang="he-IL"/>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e-IL"/>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he-IL" dirty="0"/>
              <a:t>בשלושים השנים</a:t>
            </a:r>
            <a:r>
              <a:rPr lang="he-IL" baseline="0" dirty="0"/>
              <a:t> האחרונות </a:t>
            </a:r>
          </a:p>
          <a:p>
            <a:pPr>
              <a:defRPr/>
            </a:pPr>
            <a:r>
              <a:rPr lang="he-IL" b="1" baseline="0" dirty="0">
                <a:solidFill>
                  <a:schemeClr val="tx1"/>
                </a:solidFill>
              </a:rPr>
              <a:t>מספר זכאי גמלת סיעוד גדל פי 10</a:t>
            </a:r>
            <a:endParaRPr lang="en-US" b="1" dirty="0">
              <a:solidFill>
                <a:schemeClr val="tx1"/>
              </a:solidFill>
            </a:endParaRPr>
          </a:p>
        </c:rich>
      </c:tx>
      <c:layout>
        <c:manualLayout>
          <c:xMode val="edge"/>
          <c:yMode val="edge"/>
          <c:x val="0.22999145024576043"/>
          <c:y val="3.7379940403496618E-2"/>
        </c:manualLayout>
      </c:layout>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he-IL"/>
        </a:p>
      </c:txPr>
    </c:title>
    <c:autoTitleDeleted val="0"/>
    <c:plotArea>
      <c:layout/>
      <c:lineChart>
        <c:grouping val="standard"/>
        <c:varyColors val="0"/>
        <c:ser>
          <c:idx val="0"/>
          <c:order val="0"/>
          <c:tx>
            <c:strRef>
              <c:f>Sheet1!$B$1</c:f>
              <c:strCache>
                <c:ptCount val="1"/>
                <c:pt idx="0">
                  <c:v>מספר הזכאים</c:v>
                </c:pt>
              </c:strCache>
            </c:strRef>
          </c:tx>
          <c:spPr>
            <a:ln w="28575" cap="rnd">
              <a:solidFill>
                <a:schemeClr val="accent1"/>
              </a:solidFill>
              <a:round/>
            </a:ln>
            <a:effectLst/>
          </c:spPr>
          <c:marker>
            <c:symbol val="none"/>
          </c:marker>
          <c:dPt>
            <c:idx val="0"/>
            <c:marker>
              <c:symbol val="circle"/>
              <c:size val="7"/>
              <c:spPr>
                <a:solidFill>
                  <a:schemeClr val="accent1"/>
                </a:solidFill>
                <a:ln w="9525">
                  <a:solidFill>
                    <a:schemeClr val="accent1"/>
                  </a:solidFill>
                </a:ln>
                <a:effectLst/>
              </c:spPr>
            </c:marker>
            <c:bubble3D val="0"/>
            <c:extLst>
              <c:ext xmlns:c16="http://schemas.microsoft.com/office/drawing/2014/chart" uri="{C3380CC4-5D6E-409C-BE32-E72D297353CC}">
                <c16:uniqueId val="{00000000-8CDA-4CBE-BDCD-1F0E1D452D11}"/>
              </c:ext>
            </c:extLst>
          </c:dPt>
          <c:dPt>
            <c:idx val="2"/>
            <c:marker>
              <c:symbol val="none"/>
            </c:marker>
            <c:bubble3D val="0"/>
            <c:extLst>
              <c:ext xmlns:c16="http://schemas.microsoft.com/office/drawing/2014/chart" uri="{C3380CC4-5D6E-409C-BE32-E72D297353CC}">
                <c16:uniqueId val="{00000001-8CDA-4CBE-BDCD-1F0E1D452D11}"/>
              </c:ext>
            </c:extLst>
          </c:dPt>
          <c:dPt>
            <c:idx val="28"/>
            <c:marker>
              <c:symbol val="circle"/>
              <c:size val="7"/>
              <c:spPr>
                <a:solidFill>
                  <a:schemeClr val="accent1"/>
                </a:solidFill>
                <a:ln w="9525">
                  <a:solidFill>
                    <a:schemeClr val="accent1"/>
                  </a:solidFill>
                </a:ln>
                <a:effectLst/>
              </c:spPr>
            </c:marker>
            <c:bubble3D val="0"/>
            <c:extLst>
              <c:ext xmlns:c16="http://schemas.microsoft.com/office/drawing/2014/chart" uri="{C3380CC4-5D6E-409C-BE32-E72D297353CC}">
                <c16:uniqueId val="{00000002-8CDA-4CBE-BDCD-1F0E1D452D11}"/>
              </c:ext>
            </c:extLst>
          </c:dPt>
          <c:dPt>
            <c:idx val="29"/>
            <c:marker>
              <c:symbol val="none"/>
            </c:marker>
            <c:bubble3D val="0"/>
            <c:extLst>
              <c:ext xmlns:c16="http://schemas.microsoft.com/office/drawing/2014/chart" uri="{C3380CC4-5D6E-409C-BE32-E72D297353CC}">
                <c16:uniqueId val="{00000003-8CDA-4CBE-BDCD-1F0E1D452D11}"/>
              </c:ext>
            </c:extLst>
          </c:dPt>
          <c:dPt>
            <c:idx val="30"/>
            <c:marker>
              <c:symbol val="none"/>
            </c:marker>
            <c:bubble3D val="0"/>
            <c:extLst>
              <c:ext xmlns:c16="http://schemas.microsoft.com/office/drawing/2014/chart" uri="{C3380CC4-5D6E-409C-BE32-E72D297353CC}">
                <c16:uniqueId val="{00000004-8CDA-4CBE-BDCD-1F0E1D452D11}"/>
              </c:ext>
            </c:extLst>
          </c:dPt>
          <c:dPt>
            <c:idx val="32"/>
            <c:marker>
              <c:symbol val="circle"/>
              <c:size val="7"/>
              <c:spPr>
                <a:solidFill>
                  <a:schemeClr val="accent1"/>
                </a:solidFill>
                <a:ln w="9525">
                  <a:solidFill>
                    <a:schemeClr val="accent1"/>
                  </a:solidFill>
                </a:ln>
                <a:effectLst/>
              </c:spPr>
            </c:marker>
            <c:bubble3D val="0"/>
            <c:extLst>
              <c:ext xmlns:c16="http://schemas.microsoft.com/office/drawing/2014/chart" uri="{C3380CC4-5D6E-409C-BE32-E72D297353CC}">
                <c16:uniqueId val="{00000005-8CDA-4CBE-BDCD-1F0E1D452D11}"/>
              </c:ext>
            </c:extLst>
          </c:dPt>
          <c:dLbls>
            <c:dLbl>
              <c:idx val="0"/>
              <c:layout>
                <c:manualLayout>
                  <c:x val="-3.2252564102564128E-2"/>
                  <c:y val="2.8359953703703703E-2"/>
                </c:manualLayout>
              </c:layout>
              <c:tx>
                <c:rich>
                  <a:bodyPr/>
                  <a:lstStyle/>
                  <a:p>
                    <a:fld id="{62C62904-A50E-4151-9B53-906403C70C4E}" type="VALUE">
                      <a:rPr lang="en-US">
                        <a:solidFill>
                          <a:schemeClr val="accent1"/>
                        </a:solidFill>
                      </a:rPr>
                      <a:pPr/>
                      <a:t>[ערך]</a:t>
                    </a:fld>
                    <a:endParaRPr lang="he-IL"/>
                  </a:p>
                </c:rich>
              </c:tx>
              <c:dLblPos val="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0-8CDA-4CBE-BDCD-1F0E1D452D11}"/>
                </c:ext>
              </c:extLst>
            </c:dLbl>
            <c:dLbl>
              <c:idx val="28"/>
              <c:layout>
                <c:manualLayout>
                  <c:x val="-1.9943376068376067E-2"/>
                  <c:y val="4.2054166666666663E-2"/>
                </c:manualLayout>
              </c:layout>
              <c:tx>
                <c:rich>
                  <a:bodyPr/>
                  <a:lstStyle/>
                  <a:p>
                    <a:fld id="{B501C5D1-2D68-4E8F-B07D-69CEA19B6D76}" type="VALUE">
                      <a:rPr lang="en-US">
                        <a:solidFill>
                          <a:schemeClr val="accent1"/>
                        </a:solidFill>
                      </a:rPr>
                      <a:pPr/>
                      <a:t>[ערך]</a:t>
                    </a:fld>
                    <a:endParaRPr lang="he-IL"/>
                  </a:p>
                </c:rich>
              </c:tx>
              <c:dLblPos val="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2-8CDA-4CBE-BDCD-1F0E1D452D11}"/>
                </c:ext>
              </c:extLst>
            </c:dLbl>
            <c:dLbl>
              <c:idx val="32"/>
              <c:layout>
                <c:manualLayout>
                  <c:x val="0"/>
                  <c:y val="-0.15404325908757277"/>
                </c:manualLayout>
              </c:layout>
              <c:tx>
                <c:rich>
                  <a:bodyPr rot="0" spcFirstLastPara="1" vertOverflow="ellipsis" vert="horz" wrap="square" lIns="38100" tIns="19050" rIns="38100" bIns="19050" anchor="ctr" anchorCtr="1">
                    <a:noAutofit/>
                  </a:bodyPr>
                  <a:lstStyle/>
                  <a:p>
                    <a:pPr>
                      <a:defRPr sz="1197" b="0" i="0" u="none" strike="noStrike" kern="1200" baseline="0">
                        <a:solidFill>
                          <a:srgbClr val="006EA0"/>
                        </a:solidFill>
                        <a:latin typeface="+mn-lt"/>
                        <a:ea typeface="+mn-ea"/>
                        <a:cs typeface="+mn-cs"/>
                      </a:defRPr>
                    </a:pPr>
                    <a:r>
                      <a:rPr lang="en-US" sz="1400" b="1" dirty="0"/>
                      <a:t>380,000</a:t>
                    </a:r>
                  </a:p>
                </c:rich>
              </c:tx>
              <c:spPr>
                <a:noFill/>
                <a:ln>
                  <a:noFill/>
                </a:ln>
                <a:effectLst/>
              </c:spPr>
              <c:txPr>
                <a:bodyPr rot="0" spcFirstLastPara="1" vertOverflow="ellipsis" vert="horz" wrap="square" lIns="38100" tIns="19050" rIns="38100" bIns="19050" anchor="ctr" anchorCtr="1">
                  <a:noAutofit/>
                </a:bodyPr>
                <a:lstStyle/>
                <a:p>
                  <a:pPr>
                    <a:defRPr sz="1197" b="0" i="0" u="none" strike="noStrike" kern="1200" baseline="0">
                      <a:solidFill>
                        <a:srgbClr val="006EA0"/>
                      </a:solidFill>
                      <a:latin typeface="+mn-lt"/>
                      <a:ea typeface="+mn-ea"/>
                      <a:cs typeface="+mn-cs"/>
                    </a:defRPr>
                  </a:pPr>
                  <a:endParaRPr lang="he-IL"/>
                </a:p>
              </c:txPr>
              <c:dLblPos val="r"/>
              <c:showLegendKey val="0"/>
              <c:showVal val="1"/>
              <c:showCatName val="0"/>
              <c:showSerName val="0"/>
              <c:showPercent val="0"/>
              <c:showBubbleSize val="0"/>
              <c:extLst>
                <c:ext xmlns:c15="http://schemas.microsoft.com/office/drawing/2012/chart" uri="{CE6537A1-D6FC-4f65-9D91-7224C49458BB}">
                  <c15:layout>
                    <c:manualLayout>
                      <c:w val="0.11933029566159396"/>
                      <c:h val="4.3068603337134755E-2"/>
                    </c:manualLayout>
                  </c15:layout>
                  <c15:showDataLabelsRange val="0"/>
                </c:ext>
                <c:ext xmlns:c16="http://schemas.microsoft.com/office/drawing/2014/chart" uri="{C3380CC4-5D6E-409C-BE32-E72D297353CC}">
                  <c16:uniqueId val="{00000005-8CDA-4CBE-BDCD-1F0E1D452D11}"/>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rgbClr val="006EA0"/>
                    </a:solidFill>
                    <a:latin typeface="+mn-lt"/>
                    <a:ea typeface="+mn-ea"/>
                    <a:cs typeface="+mn-cs"/>
                  </a:defRPr>
                </a:pPr>
                <a:endParaRPr lang="he-IL"/>
              </a:p>
            </c:txPr>
            <c:showLegendKey val="0"/>
            <c:showVal val="0"/>
            <c:showCatName val="0"/>
            <c:showSerName val="0"/>
            <c:showPercent val="0"/>
            <c:showBubbleSize val="0"/>
            <c:extLst>
              <c:ext xmlns:c15="http://schemas.microsoft.com/office/drawing/2012/chart" uri="{CE6537A1-D6FC-4f65-9D91-7224C49458BB}">
                <c15:showLeaderLines val="0"/>
              </c:ext>
            </c:extLst>
          </c:dLbls>
          <c:cat>
            <c:numRef>
              <c:f>Sheet1!$A$2:$A$35</c:f>
              <c:numCache>
                <c:formatCode>General</c:formatCode>
                <c:ptCount val="34"/>
                <c:pt idx="0">
                  <c:v>1990</c:v>
                </c:pt>
                <c:pt idx="10">
                  <c:v>2000</c:v>
                </c:pt>
                <c:pt idx="20">
                  <c:v>2010</c:v>
                </c:pt>
                <c:pt idx="33">
                  <c:v>2024</c:v>
                </c:pt>
              </c:numCache>
            </c:numRef>
          </c:cat>
          <c:val>
            <c:numRef>
              <c:f>Sheet1!$B$2:$B$35</c:f>
              <c:numCache>
                <c:formatCode>#,##0</c:formatCode>
                <c:ptCount val="34"/>
                <c:pt idx="0">
                  <c:v>27684</c:v>
                </c:pt>
                <c:pt idx="1">
                  <c:v>31501</c:v>
                </c:pt>
                <c:pt idx="2">
                  <c:v>37734</c:v>
                </c:pt>
                <c:pt idx="3">
                  <c:v>45776</c:v>
                </c:pt>
                <c:pt idx="4">
                  <c:v>52067</c:v>
                </c:pt>
                <c:pt idx="5">
                  <c:v>59023</c:v>
                </c:pt>
                <c:pt idx="6">
                  <c:v>65995</c:v>
                </c:pt>
                <c:pt idx="7">
                  <c:v>72912</c:v>
                </c:pt>
                <c:pt idx="8">
                  <c:v>80927</c:v>
                </c:pt>
                <c:pt idx="9">
                  <c:v>88185</c:v>
                </c:pt>
                <c:pt idx="10">
                  <c:v>95753</c:v>
                </c:pt>
                <c:pt idx="11">
                  <c:v>105384</c:v>
                </c:pt>
                <c:pt idx="12">
                  <c:v>112250</c:v>
                </c:pt>
                <c:pt idx="13">
                  <c:v>113029</c:v>
                </c:pt>
                <c:pt idx="14">
                  <c:v>113423</c:v>
                </c:pt>
                <c:pt idx="15">
                  <c:v>115015</c:v>
                </c:pt>
                <c:pt idx="16">
                  <c:v>120461</c:v>
                </c:pt>
                <c:pt idx="17">
                  <c:v>125401</c:v>
                </c:pt>
                <c:pt idx="18">
                  <c:v>131076</c:v>
                </c:pt>
                <c:pt idx="19">
                  <c:v>136362</c:v>
                </c:pt>
                <c:pt idx="20">
                  <c:v>141325</c:v>
                </c:pt>
                <c:pt idx="21">
                  <c:v>145172</c:v>
                </c:pt>
                <c:pt idx="22">
                  <c:v>152143</c:v>
                </c:pt>
                <c:pt idx="23">
                  <c:v>156287</c:v>
                </c:pt>
                <c:pt idx="24">
                  <c:v>159205</c:v>
                </c:pt>
                <c:pt idx="25">
                  <c:v>160474</c:v>
                </c:pt>
                <c:pt idx="26">
                  <c:v>163975</c:v>
                </c:pt>
                <c:pt idx="27">
                  <c:v>169242</c:v>
                </c:pt>
                <c:pt idx="28">
                  <c:v>176135</c:v>
                </c:pt>
                <c:pt idx="29">
                  <c:v>197589</c:v>
                </c:pt>
                <c:pt idx="30">
                  <c:v>240577</c:v>
                </c:pt>
                <c:pt idx="31">
                  <c:v>273228</c:v>
                </c:pt>
                <c:pt idx="32">
                  <c:v>300169</c:v>
                </c:pt>
                <c:pt idx="33">
                  <c:v>350000</c:v>
                </c:pt>
              </c:numCache>
            </c:numRef>
          </c:val>
          <c:smooth val="0"/>
          <c:extLst>
            <c:ext xmlns:c16="http://schemas.microsoft.com/office/drawing/2014/chart" uri="{C3380CC4-5D6E-409C-BE32-E72D297353CC}">
              <c16:uniqueId val="{00000006-8CDA-4CBE-BDCD-1F0E1D452D11}"/>
            </c:ext>
          </c:extLst>
        </c:ser>
        <c:dLbls>
          <c:showLegendKey val="0"/>
          <c:showVal val="0"/>
          <c:showCatName val="0"/>
          <c:showSerName val="0"/>
          <c:showPercent val="0"/>
          <c:showBubbleSize val="0"/>
        </c:dLbls>
        <c:smooth val="0"/>
        <c:axId val="964766120"/>
        <c:axId val="964773664"/>
      </c:lineChart>
      <c:catAx>
        <c:axId val="964766120"/>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0" spcFirstLastPara="1" vertOverflow="ellipsis"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he-IL"/>
          </a:p>
        </c:txPr>
        <c:crossAx val="964773664"/>
        <c:crosses val="autoZero"/>
        <c:auto val="0"/>
        <c:lblAlgn val="ctr"/>
        <c:lblOffset val="100"/>
        <c:tickMarkSkip val="10"/>
        <c:noMultiLvlLbl val="0"/>
      </c:catAx>
      <c:valAx>
        <c:axId val="964773664"/>
        <c:scaling>
          <c:orientation val="minMax"/>
          <c:max val="350000"/>
          <c:min val="0"/>
        </c:scaling>
        <c:delete val="0"/>
        <c:axPos val="l"/>
        <c:title>
          <c:tx>
            <c:rich>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r>
                  <a:rPr lang="he-IL">
                    <a:solidFill>
                      <a:schemeClr val="accent1"/>
                    </a:solidFill>
                  </a:rPr>
                  <a:t>מספר</a:t>
                </a:r>
                <a:r>
                  <a:rPr lang="he-IL" baseline="0">
                    <a:solidFill>
                      <a:schemeClr val="accent1"/>
                    </a:solidFill>
                  </a:rPr>
                  <a:t> זכאי גמלת סיעוד (ממוצע שנתי)</a:t>
                </a:r>
                <a:endParaRPr lang="en-US">
                  <a:solidFill>
                    <a:schemeClr val="accent1"/>
                  </a:solidFill>
                </a:endParaRPr>
              </a:p>
            </c:rich>
          </c:tx>
          <c:layout>
            <c:manualLayout>
              <c:xMode val="edge"/>
              <c:yMode val="edge"/>
              <c:x val="0.12567820512820513"/>
              <c:y val="0.27200879629629632"/>
            </c:manualLayout>
          </c:layout>
          <c:overlay val="0"/>
          <c:spPr>
            <a:noFill/>
            <a:ln>
              <a:noFill/>
            </a:ln>
            <a:effectLst/>
          </c:spPr>
          <c:txPr>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endParaRPr lang="he-IL"/>
            </a:p>
          </c:txPr>
        </c:title>
        <c:numFmt formatCode="#,##0" sourceLinked="1"/>
        <c:majorTickMark val="out"/>
        <c:minorTickMark val="none"/>
        <c:tickLblPos val="nextTo"/>
        <c:spPr>
          <a:noFill/>
          <a:ln>
            <a:solidFill>
              <a:schemeClr val="accent1"/>
            </a:solidFill>
          </a:ln>
          <a:effectLst/>
        </c:spPr>
        <c:txPr>
          <a:bodyPr rot="-60000000" spcFirstLastPara="1" vertOverflow="ellipsis" vert="horz" wrap="square" anchor="ctr" anchorCtr="1"/>
          <a:lstStyle/>
          <a:p>
            <a:pPr>
              <a:defRPr sz="1197" b="0" i="0" u="none" strike="noStrike" kern="1200" baseline="0">
                <a:solidFill>
                  <a:schemeClr val="accent1"/>
                </a:solidFill>
                <a:latin typeface="+mn-lt"/>
                <a:ea typeface="+mn-ea"/>
                <a:cs typeface="+mn-cs"/>
              </a:defRPr>
            </a:pPr>
            <a:endParaRPr lang="he-IL"/>
          </a:p>
        </c:txPr>
        <c:crossAx val="964766120"/>
        <c:crosses val="autoZero"/>
        <c:crossBetween val="between"/>
        <c:majorUnit val="350000"/>
      </c:valAx>
      <c:spPr>
        <a:noFill/>
        <a:ln>
          <a:noFill/>
        </a:ln>
        <a:effectLst/>
      </c:spPr>
    </c:plotArea>
    <c:plotVisOnly val="1"/>
    <c:dispBlanksAs val="gap"/>
    <c:showDLblsOverMax val="0"/>
  </c:chart>
  <c:spPr>
    <a:noFill/>
    <a:ln>
      <a:noFill/>
    </a:ln>
    <a:effectLst/>
  </c:spPr>
  <c:txPr>
    <a:bodyPr/>
    <a:lstStyle/>
    <a:p>
      <a:pPr>
        <a:defRPr/>
      </a:pPr>
      <a:endParaRPr lang="he-IL"/>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e-IL"/>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1" i="0" u="none" strike="noStrike" kern="1200" spc="0" baseline="0">
                <a:solidFill>
                  <a:srgbClr val="002060"/>
                </a:solidFill>
                <a:latin typeface="+mn-lt"/>
                <a:ea typeface="+mn-ea"/>
                <a:cs typeface="+mn-cs"/>
              </a:defRPr>
            </a:pPr>
            <a:r>
              <a:rPr lang="he-IL" sz="1600" b="1" dirty="0">
                <a:solidFill>
                  <a:srgbClr val="002060"/>
                </a:solidFill>
              </a:rPr>
              <a:t>השוואת תקציב לפי</a:t>
            </a:r>
            <a:r>
              <a:rPr lang="he-IL" sz="1600" b="1" baseline="0" dirty="0">
                <a:solidFill>
                  <a:srgbClr val="002060"/>
                </a:solidFill>
              </a:rPr>
              <a:t> שירותים במיליארדים</a:t>
            </a:r>
            <a:endParaRPr lang="he-IL" sz="1600" b="1" dirty="0">
              <a:solidFill>
                <a:srgbClr val="002060"/>
              </a:solidFill>
            </a:endParaRPr>
          </a:p>
        </c:rich>
      </c:tx>
      <c:overlay val="0"/>
      <c:spPr>
        <a:noFill/>
        <a:ln>
          <a:noFill/>
        </a:ln>
        <a:effectLst/>
      </c:spPr>
      <c:txPr>
        <a:bodyPr rot="0" spcFirstLastPara="1" vertOverflow="ellipsis" vert="horz" wrap="square" anchor="ctr" anchorCtr="1"/>
        <a:lstStyle/>
        <a:p>
          <a:pPr>
            <a:defRPr sz="1600" b="1" i="0" u="none" strike="noStrike" kern="1200" spc="0" baseline="0">
              <a:solidFill>
                <a:srgbClr val="002060"/>
              </a:solidFill>
              <a:latin typeface="+mn-lt"/>
              <a:ea typeface="+mn-ea"/>
              <a:cs typeface="+mn-cs"/>
            </a:defRPr>
          </a:pPr>
          <a:endParaRPr lang="he-IL"/>
        </a:p>
      </c:txPr>
    </c:title>
    <c:autoTitleDeleted val="0"/>
    <c:plotArea>
      <c:layout/>
      <c:barChart>
        <c:barDir val="col"/>
        <c:grouping val="clustered"/>
        <c:varyColors val="0"/>
        <c:ser>
          <c:idx val="0"/>
          <c:order val="0"/>
          <c:tx>
            <c:strRef>
              <c:f>גיליון2!$J$46</c:f>
              <c:strCache>
                <c:ptCount val="1"/>
                <c:pt idx="0">
                  <c:v>2018</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chemeClr val="tx1">
                        <a:lumMod val="75000"/>
                        <a:lumOff val="25000"/>
                      </a:schemeClr>
                    </a:solidFill>
                    <a:latin typeface="+mn-lt"/>
                    <a:ea typeface="+mn-ea"/>
                    <a:cs typeface="+mn-cs"/>
                  </a:defRPr>
                </a:pPr>
                <a:endParaRPr lang="he-IL"/>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גיליון2!$I$47:$I$51</c:f>
              <c:strCache>
                <c:ptCount val="5"/>
                <c:pt idx="0">
                  <c:v>מטפלות</c:v>
                </c:pt>
                <c:pt idx="1">
                  <c:v>בני משפחה מטפלים</c:v>
                </c:pt>
                <c:pt idx="2">
                  <c:v>גמלה בכסף</c:v>
                </c:pt>
                <c:pt idx="3">
                  <c:v>מרכז יום</c:v>
                </c:pt>
                <c:pt idx="4">
                  <c:v>סה"כ</c:v>
                </c:pt>
              </c:strCache>
            </c:strRef>
          </c:cat>
          <c:val>
            <c:numRef>
              <c:f>גיליון2!$J$47:$J$51</c:f>
              <c:numCache>
                <c:formatCode>General</c:formatCode>
                <c:ptCount val="5"/>
                <c:pt idx="0">
                  <c:v>6.17</c:v>
                </c:pt>
                <c:pt idx="1">
                  <c:v>0</c:v>
                </c:pt>
                <c:pt idx="2">
                  <c:v>0.17</c:v>
                </c:pt>
                <c:pt idx="3">
                  <c:v>0.23</c:v>
                </c:pt>
                <c:pt idx="4">
                  <c:v>6.69</c:v>
                </c:pt>
              </c:numCache>
            </c:numRef>
          </c:val>
          <c:extLst>
            <c:ext xmlns:c16="http://schemas.microsoft.com/office/drawing/2014/chart" uri="{C3380CC4-5D6E-409C-BE32-E72D297353CC}">
              <c16:uniqueId val="{00000000-9DA5-4F2F-A2CA-EA62740A75A1}"/>
            </c:ext>
          </c:extLst>
        </c:ser>
        <c:ser>
          <c:idx val="1"/>
          <c:order val="1"/>
          <c:tx>
            <c:strRef>
              <c:f>גיליון2!$K$46</c:f>
              <c:strCache>
                <c:ptCount val="1"/>
                <c:pt idx="0">
                  <c:v>2024</c:v>
                </c:pt>
              </c:strCache>
            </c:strRef>
          </c:tx>
          <c:spPr>
            <a:solidFill>
              <a:schemeClr val="accent2"/>
            </a:solidFill>
            <a:ln>
              <a:noFill/>
            </a:ln>
            <a:effectLst/>
          </c:spPr>
          <c:invertIfNegative val="0"/>
          <c:dLbls>
            <c:dLbl>
              <c:idx val="0"/>
              <c:tx>
                <c:rich>
                  <a:bodyPr/>
                  <a:lstStyle/>
                  <a:p>
                    <a:r>
                      <a:rPr lang="en-US"/>
                      <a:t>6.5</a:t>
                    </a:r>
                    <a:endParaRPr lang="en-US" dirty="0"/>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0-69B9-4C37-99C0-8B0A7005D667}"/>
                </c:ext>
              </c:extLst>
            </c:dLbl>
            <c:dLbl>
              <c:idx val="1"/>
              <c:spPr>
                <a:noFill/>
                <a:ln>
                  <a:noFill/>
                </a:ln>
                <a:effectLst/>
              </c:spPr>
              <c:txPr>
                <a:bodyPr rot="0" spcFirstLastPara="1" vertOverflow="ellipsis" vert="horz" wrap="square" lIns="38100" tIns="19050" rIns="38100" bIns="19050" anchor="ctr" anchorCtr="1">
                  <a:spAutoFit/>
                </a:bodyPr>
                <a:lstStyle/>
                <a:p>
                  <a:pPr>
                    <a:defRPr sz="1600" b="1" i="0" u="none" strike="noStrike" kern="1200" baseline="0">
                      <a:solidFill>
                        <a:srgbClr val="FF0000"/>
                      </a:solidFill>
                      <a:latin typeface="+mn-lt"/>
                      <a:ea typeface="+mn-ea"/>
                      <a:cs typeface="+mn-cs"/>
                    </a:defRPr>
                  </a:pPr>
                  <a:endParaRPr lang="he-IL"/>
                </a:p>
              </c:txPr>
              <c:dLblPos val="outEnd"/>
              <c:showLegendKey val="0"/>
              <c:showVal val="1"/>
              <c:showCatName val="0"/>
              <c:showSerName val="0"/>
              <c:showPercent val="0"/>
              <c:showBubbleSize val="0"/>
              <c:extLst>
                <c:ext xmlns:c16="http://schemas.microsoft.com/office/drawing/2014/chart" uri="{C3380CC4-5D6E-409C-BE32-E72D297353CC}">
                  <c16:uniqueId val="{00000002-9DA5-4F2F-A2CA-EA62740A75A1}"/>
                </c:ext>
              </c:extLst>
            </c:dLbl>
            <c:dLbl>
              <c:idx val="2"/>
              <c:tx>
                <c:rich>
                  <a:bodyPr rot="0" spcFirstLastPara="1" vertOverflow="ellipsis" vert="horz" wrap="square" lIns="38100" tIns="19050" rIns="38100" bIns="19050" anchor="ctr" anchorCtr="1">
                    <a:spAutoFit/>
                  </a:bodyPr>
                  <a:lstStyle/>
                  <a:p>
                    <a:pPr>
                      <a:defRPr sz="1600" b="1" i="0" u="none" strike="noStrike" kern="1200" baseline="0">
                        <a:solidFill>
                          <a:srgbClr val="FF0000"/>
                        </a:solidFill>
                        <a:latin typeface="+mn-lt"/>
                        <a:ea typeface="+mn-ea"/>
                        <a:cs typeface="+mn-cs"/>
                      </a:defRPr>
                    </a:pPr>
                    <a:r>
                      <a:rPr lang="en-US" dirty="0"/>
                      <a:t>4.5</a:t>
                    </a:r>
                  </a:p>
                </c:rich>
              </c:tx>
              <c:spPr>
                <a:noFill/>
                <a:ln>
                  <a:noFill/>
                </a:ln>
                <a:effectLst/>
              </c:spPr>
              <c:txPr>
                <a:bodyPr rot="0" spcFirstLastPara="1" vertOverflow="ellipsis" vert="horz" wrap="square" lIns="38100" tIns="19050" rIns="38100" bIns="19050" anchor="ctr" anchorCtr="1">
                  <a:spAutoFit/>
                </a:bodyPr>
                <a:lstStyle/>
                <a:p>
                  <a:pPr>
                    <a:defRPr sz="1600" b="1" i="0" u="none" strike="noStrike" kern="1200" baseline="0">
                      <a:solidFill>
                        <a:srgbClr val="FF0000"/>
                      </a:solidFill>
                      <a:latin typeface="+mn-lt"/>
                      <a:ea typeface="+mn-ea"/>
                      <a:cs typeface="+mn-cs"/>
                    </a:defRPr>
                  </a:pPr>
                  <a:endParaRPr lang="he-IL"/>
                </a:p>
              </c:txPr>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9DA5-4F2F-A2CA-EA62740A75A1}"/>
                </c:ext>
              </c:extLst>
            </c:dLbl>
            <c:dLbl>
              <c:idx val="4"/>
              <c:tx>
                <c:rich>
                  <a:bodyPr rot="0" spcFirstLastPara="1" vertOverflow="ellipsis" vert="horz" wrap="square" lIns="38100" tIns="19050" rIns="38100" bIns="19050" anchor="ctr" anchorCtr="1">
                    <a:spAutoFit/>
                  </a:bodyPr>
                  <a:lstStyle/>
                  <a:p>
                    <a:pPr>
                      <a:defRPr sz="1600" b="1" i="0" u="none" strike="noStrike" kern="1200" baseline="0">
                        <a:solidFill>
                          <a:srgbClr val="FF0000"/>
                        </a:solidFill>
                        <a:latin typeface="+mn-lt"/>
                        <a:ea typeface="+mn-ea"/>
                        <a:cs typeface="+mn-cs"/>
                      </a:defRPr>
                    </a:pPr>
                    <a:r>
                      <a:rPr lang="en-US" dirty="0"/>
                      <a:t>18</a:t>
                    </a:r>
                  </a:p>
                </c:rich>
              </c:tx>
              <c:spPr>
                <a:noFill/>
                <a:ln>
                  <a:noFill/>
                </a:ln>
                <a:effectLst/>
              </c:spPr>
              <c:txPr>
                <a:bodyPr rot="0" spcFirstLastPara="1" vertOverflow="ellipsis" vert="horz" wrap="square" lIns="38100" tIns="19050" rIns="38100" bIns="19050" anchor="ctr" anchorCtr="1">
                  <a:spAutoFit/>
                </a:bodyPr>
                <a:lstStyle/>
                <a:p>
                  <a:pPr>
                    <a:defRPr sz="1600" b="1" i="0" u="none" strike="noStrike" kern="1200" baseline="0">
                      <a:solidFill>
                        <a:srgbClr val="FF0000"/>
                      </a:solidFill>
                      <a:latin typeface="+mn-lt"/>
                      <a:ea typeface="+mn-ea"/>
                      <a:cs typeface="+mn-cs"/>
                    </a:defRPr>
                  </a:pPr>
                  <a:endParaRPr lang="he-IL"/>
                </a:p>
              </c:txPr>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4-9DA5-4F2F-A2CA-EA62740A75A1}"/>
                </c:ext>
              </c:extLst>
            </c:dLbl>
            <c:spPr>
              <a:noFill/>
              <a:ln>
                <a:noFill/>
              </a:ln>
              <a:effectLst/>
            </c:spPr>
            <c:txPr>
              <a:bodyPr rot="0" spcFirstLastPara="1" vertOverflow="ellipsis" vert="horz" wrap="square" lIns="38100" tIns="19050" rIns="38100" bIns="19050" anchor="ctr" anchorCtr="1">
                <a:spAutoFit/>
              </a:bodyPr>
              <a:lstStyle/>
              <a:p>
                <a:pPr>
                  <a:defRPr sz="1600" b="1" i="0" u="none" strike="noStrike" kern="1200" baseline="0">
                    <a:solidFill>
                      <a:schemeClr val="tx1">
                        <a:lumMod val="75000"/>
                        <a:lumOff val="25000"/>
                      </a:schemeClr>
                    </a:solidFill>
                    <a:latin typeface="+mn-lt"/>
                    <a:ea typeface="+mn-ea"/>
                    <a:cs typeface="+mn-cs"/>
                  </a:defRPr>
                </a:pPr>
                <a:endParaRPr lang="he-IL"/>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גיליון2!$I$47:$I$51</c:f>
              <c:strCache>
                <c:ptCount val="5"/>
                <c:pt idx="0">
                  <c:v>מטפלות</c:v>
                </c:pt>
                <c:pt idx="1">
                  <c:v>בני משפחה מטפלים</c:v>
                </c:pt>
                <c:pt idx="2">
                  <c:v>גמלה בכסף</c:v>
                </c:pt>
                <c:pt idx="3">
                  <c:v>מרכז יום</c:v>
                </c:pt>
                <c:pt idx="4">
                  <c:v>סה"כ</c:v>
                </c:pt>
              </c:strCache>
            </c:strRef>
          </c:cat>
          <c:val>
            <c:numRef>
              <c:f>גיליון2!$K$47:$K$51</c:f>
              <c:numCache>
                <c:formatCode>General</c:formatCode>
                <c:ptCount val="5"/>
                <c:pt idx="0">
                  <c:v>6</c:v>
                </c:pt>
                <c:pt idx="1">
                  <c:v>7</c:v>
                </c:pt>
                <c:pt idx="2">
                  <c:v>3.7</c:v>
                </c:pt>
                <c:pt idx="3">
                  <c:v>0.28000000000000003</c:v>
                </c:pt>
                <c:pt idx="4">
                  <c:v>17</c:v>
                </c:pt>
              </c:numCache>
            </c:numRef>
          </c:val>
          <c:extLst>
            <c:ext xmlns:c16="http://schemas.microsoft.com/office/drawing/2014/chart" uri="{C3380CC4-5D6E-409C-BE32-E72D297353CC}">
              <c16:uniqueId val="{00000001-9DA5-4F2F-A2CA-EA62740A75A1}"/>
            </c:ext>
          </c:extLst>
        </c:ser>
        <c:dLbls>
          <c:dLblPos val="outEnd"/>
          <c:showLegendKey val="0"/>
          <c:showVal val="1"/>
          <c:showCatName val="0"/>
          <c:showSerName val="0"/>
          <c:showPercent val="0"/>
          <c:showBubbleSize val="0"/>
        </c:dLbls>
        <c:gapWidth val="219"/>
        <c:overlap val="-27"/>
        <c:axId val="357487472"/>
        <c:axId val="357489112"/>
      </c:barChart>
      <c:catAx>
        <c:axId val="357487472"/>
        <c:scaling>
          <c:orientation val="maxMin"/>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600" b="1" i="0" u="none" strike="noStrike" kern="1200" baseline="0">
                <a:solidFill>
                  <a:schemeClr val="tx1">
                    <a:lumMod val="65000"/>
                    <a:lumOff val="35000"/>
                  </a:schemeClr>
                </a:solidFill>
                <a:latin typeface="+mn-lt"/>
                <a:ea typeface="+mn-ea"/>
                <a:cs typeface="+mn-cs"/>
              </a:defRPr>
            </a:pPr>
            <a:endParaRPr lang="he-IL"/>
          </a:p>
        </c:txPr>
        <c:crossAx val="357489112"/>
        <c:crosses val="autoZero"/>
        <c:auto val="1"/>
        <c:lblAlgn val="ctr"/>
        <c:lblOffset val="100"/>
        <c:noMultiLvlLbl val="0"/>
      </c:catAx>
      <c:valAx>
        <c:axId val="357489112"/>
        <c:scaling>
          <c:orientation val="minMax"/>
        </c:scaling>
        <c:delete val="0"/>
        <c:axPos val="r"/>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he-IL"/>
          </a:p>
        </c:txPr>
        <c:crossAx val="357487472"/>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400" b="1" i="0" u="none" strike="noStrike" kern="1200" baseline="0">
              <a:solidFill>
                <a:schemeClr val="tx1">
                  <a:lumMod val="65000"/>
                  <a:lumOff val="35000"/>
                </a:schemeClr>
              </a:solidFill>
              <a:latin typeface="+mn-lt"/>
              <a:ea typeface="+mn-ea"/>
              <a:cs typeface="+mn-cs"/>
            </a:defRPr>
          </a:pPr>
          <a:endParaRPr lang="he-IL"/>
        </a:p>
      </c:txPr>
    </c:legend>
    <c:plotVisOnly val="1"/>
    <c:dispBlanksAs val="gap"/>
    <c:showDLblsOverMax val="0"/>
  </c:chart>
  <c:spPr>
    <a:noFill/>
    <a:ln>
      <a:noFill/>
    </a:ln>
    <a:effectLst/>
  </c:spPr>
  <c:txPr>
    <a:bodyPr/>
    <a:lstStyle/>
    <a:p>
      <a:pPr>
        <a:defRPr/>
      </a:pPr>
      <a:endParaRPr lang="he-IL"/>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e-IL"/>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0"/>
        <c:ser>
          <c:idx val="0"/>
          <c:order val="0"/>
          <c:tx>
            <c:strRef>
              <c:f>Sheet1!$B$1</c:f>
              <c:strCache>
                <c:ptCount val="1"/>
                <c:pt idx="0">
                  <c:v>בבית</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bg2"/>
                    </a:solidFill>
                    <a:latin typeface="+mn-lt"/>
                    <a:ea typeface="+mn-ea"/>
                    <a:cs typeface="+mn-cs"/>
                  </a:defRPr>
                </a:pPr>
                <a:endParaRPr lang="he-IL"/>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Sheet1!$A$2:$A$16</c:f>
              <c:strCache>
                <c:ptCount val="15"/>
                <c:pt idx="0">
                  <c:v>דרום קוריאה</c:v>
                </c:pt>
                <c:pt idx="1">
                  <c:v>אסטוניה</c:v>
                </c:pt>
                <c:pt idx="2">
                  <c:v>פינלנד</c:v>
                </c:pt>
                <c:pt idx="3">
                  <c:v>ספרד</c:v>
                </c:pt>
                <c:pt idx="4">
                  <c:v>סלובניה</c:v>
                </c:pt>
                <c:pt idx="5">
                  <c:v>הונגריה</c:v>
                </c:pt>
                <c:pt idx="6">
                  <c:v>הולנד</c:v>
                </c:pt>
                <c:pt idx="7">
                  <c:v>לוקסמבורג</c:v>
                </c:pt>
                <c:pt idx="8">
                  <c:v>אוסטרליה</c:v>
                </c:pt>
                <c:pt idx="9">
                  <c:v>ניו זילנד</c:v>
                </c:pt>
                <c:pt idx="10">
                  <c:v>נורווגיה</c:v>
                </c:pt>
                <c:pt idx="11">
                  <c:v>שוודיה</c:v>
                </c:pt>
                <c:pt idx="12">
                  <c:v>גרמניה</c:v>
                </c:pt>
                <c:pt idx="13">
                  <c:v>ישראל</c:v>
                </c:pt>
                <c:pt idx="14">
                  <c:v>שוויץ</c:v>
                </c:pt>
              </c:strCache>
            </c:strRef>
          </c:cat>
          <c:val>
            <c:numRef>
              <c:f>Sheet1!$B$2:$B$16</c:f>
              <c:numCache>
                <c:formatCode>0.0</c:formatCode>
                <c:ptCount val="15"/>
                <c:pt idx="0">
                  <c:v>6.2</c:v>
                </c:pt>
                <c:pt idx="1">
                  <c:v>5.6</c:v>
                </c:pt>
                <c:pt idx="2">
                  <c:v>6.2</c:v>
                </c:pt>
                <c:pt idx="3">
                  <c:v>8.8000000000000007</c:v>
                </c:pt>
                <c:pt idx="4">
                  <c:v>6.7</c:v>
                </c:pt>
                <c:pt idx="5">
                  <c:v>8.9</c:v>
                </c:pt>
                <c:pt idx="6">
                  <c:v>8</c:v>
                </c:pt>
                <c:pt idx="7">
                  <c:v>7.2</c:v>
                </c:pt>
                <c:pt idx="8">
                  <c:v>6.9</c:v>
                </c:pt>
                <c:pt idx="9">
                  <c:v>10</c:v>
                </c:pt>
                <c:pt idx="10">
                  <c:v>11.2</c:v>
                </c:pt>
                <c:pt idx="11">
                  <c:v>12.4</c:v>
                </c:pt>
                <c:pt idx="12">
                  <c:v>13.1</c:v>
                </c:pt>
                <c:pt idx="13">
                  <c:v>18.7</c:v>
                </c:pt>
                <c:pt idx="14">
                  <c:v>17.100000000000001</c:v>
                </c:pt>
              </c:numCache>
            </c:numRef>
          </c:val>
          <c:extLst>
            <c:ext xmlns:c16="http://schemas.microsoft.com/office/drawing/2014/chart" uri="{C3380CC4-5D6E-409C-BE32-E72D297353CC}">
              <c16:uniqueId val="{00000000-6F68-4C75-9501-C1A072D75D88}"/>
            </c:ext>
          </c:extLst>
        </c:ser>
        <c:ser>
          <c:idx val="1"/>
          <c:order val="1"/>
          <c:tx>
            <c:strRef>
              <c:f>Sheet1!$C$1</c:f>
              <c:strCache>
                <c:ptCount val="1"/>
                <c:pt idx="0">
                  <c:v>במוסדות</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chemeClr val="bg1"/>
                    </a:solidFill>
                    <a:latin typeface="+mn-lt"/>
                    <a:ea typeface="+mn-ea"/>
                    <a:cs typeface="+mn-cs"/>
                  </a:defRPr>
                </a:pPr>
                <a:endParaRPr lang="he-IL"/>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Sheet1!$A$2:$A$16</c:f>
              <c:strCache>
                <c:ptCount val="15"/>
                <c:pt idx="0">
                  <c:v>דרום קוריאה</c:v>
                </c:pt>
                <c:pt idx="1">
                  <c:v>אסטוניה</c:v>
                </c:pt>
                <c:pt idx="2">
                  <c:v>פינלנד</c:v>
                </c:pt>
                <c:pt idx="3">
                  <c:v>ספרד</c:v>
                </c:pt>
                <c:pt idx="4">
                  <c:v>סלובניה</c:v>
                </c:pt>
                <c:pt idx="5">
                  <c:v>הונגריה</c:v>
                </c:pt>
                <c:pt idx="6">
                  <c:v>הולנד</c:v>
                </c:pt>
                <c:pt idx="7">
                  <c:v>לוקסמבורג</c:v>
                </c:pt>
                <c:pt idx="8">
                  <c:v>אוסטרליה</c:v>
                </c:pt>
                <c:pt idx="9">
                  <c:v>ניו זילנד</c:v>
                </c:pt>
                <c:pt idx="10">
                  <c:v>נורווגיה</c:v>
                </c:pt>
                <c:pt idx="11">
                  <c:v>שוודיה</c:v>
                </c:pt>
                <c:pt idx="12">
                  <c:v>גרמניה</c:v>
                </c:pt>
                <c:pt idx="13">
                  <c:v>ישראל</c:v>
                </c:pt>
                <c:pt idx="14">
                  <c:v>שוויץ</c:v>
                </c:pt>
              </c:strCache>
            </c:strRef>
          </c:cat>
          <c:val>
            <c:numRef>
              <c:f>Sheet1!$C$2:$C$16</c:f>
              <c:numCache>
                <c:formatCode>0.0</c:formatCode>
                <c:ptCount val="15"/>
                <c:pt idx="0">
                  <c:v>2.7</c:v>
                </c:pt>
                <c:pt idx="1">
                  <c:v>5</c:v>
                </c:pt>
                <c:pt idx="2">
                  <c:v>4.5</c:v>
                </c:pt>
                <c:pt idx="3">
                  <c:v>2.2000000000000002</c:v>
                </c:pt>
                <c:pt idx="4">
                  <c:v>4.8</c:v>
                </c:pt>
                <c:pt idx="5">
                  <c:v>3</c:v>
                </c:pt>
                <c:pt idx="6">
                  <c:v>4.2</c:v>
                </c:pt>
                <c:pt idx="7">
                  <c:v>5.4</c:v>
                </c:pt>
                <c:pt idx="8">
                  <c:v>6</c:v>
                </c:pt>
                <c:pt idx="9">
                  <c:v>4.3</c:v>
                </c:pt>
                <c:pt idx="10">
                  <c:v>4.0999999999999996</c:v>
                </c:pt>
                <c:pt idx="11">
                  <c:v>4.3</c:v>
                </c:pt>
                <c:pt idx="12">
                  <c:v>4.0999999999999996</c:v>
                </c:pt>
                <c:pt idx="13">
                  <c:v>1.6</c:v>
                </c:pt>
                <c:pt idx="14">
                  <c:v>5.6</c:v>
                </c:pt>
              </c:numCache>
            </c:numRef>
          </c:val>
          <c:extLst>
            <c:ext xmlns:c16="http://schemas.microsoft.com/office/drawing/2014/chart" uri="{C3380CC4-5D6E-409C-BE32-E72D297353CC}">
              <c16:uniqueId val="{00000001-6F68-4C75-9501-C1A072D75D88}"/>
            </c:ext>
          </c:extLst>
        </c:ser>
        <c:dLbls>
          <c:dLblPos val="ctr"/>
          <c:showLegendKey val="0"/>
          <c:showVal val="1"/>
          <c:showCatName val="0"/>
          <c:showSerName val="0"/>
          <c:showPercent val="0"/>
          <c:showBubbleSize val="0"/>
        </c:dLbls>
        <c:gapWidth val="50"/>
        <c:overlap val="100"/>
        <c:axId val="38849871"/>
        <c:axId val="38839055"/>
      </c:barChart>
      <c:catAx>
        <c:axId val="38849871"/>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he-IL"/>
          </a:p>
        </c:txPr>
        <c:crossAx val="38839055"/>
        <c:crosses val="autoZero"/>
        <c:auto val="1"/>
        <c:lblAlgn val="ctr"/>
        <c:lblOffset val="100"/>
        <c:noMultiLvlLbl val="0"/>
      </c:catAx>
      <c:valAx>
        <c:axId val="38839055"/>
        <c:scaling>
          <c:orientation val="minMax"/>
          <c:max val="25"/>
          <c:min val="0"/>
        </c:scaling>
        <c:delete val="0"/>
        <c:axPos val="l"/>
        <c:numFmt formatCode="0" sourceLinked="0"/>
        <c:majorTickMark val="out"/>
        <c:minorTickMark val="none"/>
        <c:tickLblPos val="nextTo"/>
        <c:spPr>
          <a:noFill/>
          <a:ln>
            <a:solidFill>
              <a:srgbClr val="B1B3B6"/>
            </a:solid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he-IL"/>
          </a:p>
        </c:txPr>
        <c:crossAx val="38849871"/>
        <c:crosses val="autoZero"/>
        <c:crossBetween val="between"/>
        <c:majorUnit val="25"/>
      </c:valAx>
      <c:spPr>
        <a:noFill/>
        <a:ln>
          <a:noFill/>
        </a:ln>
        <a:effectLst/>
      </c:spPr>
    </c:plotArea>
    <c:legend>
      <c:legendPos val="b"/>
      <c:overlay val="0"/>
      <c:spPr>
        <a:noFill/>
        <a:ln>
          <a:noFill/>
        </a:ln>
        <a:effectLst/>
      </c:spPr>
      <c:txPr>
        <a:bodyPr rot="0" spcFirstLastPara="1" vertOverflow="ellipsis" vert="horz" wrap="square" anchor="ctr" anchorCtr="1"/>
        <a:lstStyle/>
        <a:p>
          <a:pPr>
            <a:defRPr sz="1600" b="0" i="0" u="none" strike="noStrike" kern="1200" baseline="0">
              <a:solidFill>
                <a:schemeClr val="tx1">
                  <a:lumMod val="65000"/>
                  <a:lumOff val="35000"/>
                </a:schemeClr>
              </a:solidFill>
              <a:latin typeface="+mn-lt"/>
              <a:ea typeface="+mn-ea"/>
              <a:cs typeface="+mn-cs"/>
            </a:defRPr>
          </a:pPr>
          <a:endParaRPr lang="he-IL"/>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he-IL"/>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e-IL"/>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lgn="ctr" rtl="1">
              <a:defRPr sz="1862" b="0" i="0" u="none" strike="noStrike" kern="1200" spc="0" baseline="0">
                <a:solidFill>
                  <a:schemeClr val="tx1">
                    <a:lumMod val="65000"/>
                    <a:lumOff val="35000"/>
                  </a:schemeClr>
                </a:solidFill>
                <a:latin typeface="+mn-lt"/>
                <a:ea typeface="+mn-ea"/>
                <a:cs typeface="+mn-cs"/>
              </a:defRPr>
            </a:pPr>
            <a:r>
              <a:rPr lang="he-IL" sz="1400" b="0" i="0" u="none" strike="noStrike" baseline="0">
                <a:solidFill>
                  <a:schemeClr val="accent6">
                    <a:lumMod val="50000"/>
                  </a:schemeClr>
                </a:solidFill>
              </a:rPr>
              <a:t>תוחלת חיים בגיל 65 – נשים (2018)</a:t>
            </a:r>
          </a:p>
          <a:p>
            <a:pPr algn="ctr" rtl="1">
              <a:defRPr/>
            </a:pPr>
            <a:r>
              <a:rPr lang="he-IL" sz="1400" b="0" i="0" u="none" strike="noStrike" baseline="0">
                <a:solidFill>
                  <a:srgbClr val="93A2AE"/>
                </a:solidFill>
              </a:rPr>
              <a:t>(</a:t>
            </a:r>
            <a:r>
              <a:rPr lang="en-US" sz="1400" b="0" i="0" u="none" strike="noStrike" baseline="0">
                <a:solidFill>
                  <a:srgbClr val="93A2AE"/>
                </a:solidFill>
              </a:rPr>
              <a:t>Eurostat</a:t>
            </a:r>
            <a:r>
              <a:rPr lang="he-IL" sz="1400" b="0" i="0" u="none" strike="noStrike" baseline="0">
                <a:solidFill>
                  <a:srgbClr val="93A2AE"/>
                </a:solidFill>
              </a:rPr>
              <a:t>)</a:t>
            </a:r>
            <a:endParaRPr lang="en-US" sz="1400">
              <a:solidFill>
                <a:srgbClr val="93A2AE"/>
              </a:solidFill>
            </a:endParaRPr>
          </a:p>
        </c:rich>
      </c:tx>
      <c:layout>
        <c:manualLayout>
          <c:xMode val="edge"/>
          <c:yMode val="edge"/>
          <c:x val="0.36309494820767874"/>
          <c:y val="2.2071721459025716E-2"/>
        </c:manualLayout>
      </c:layout>
      <c:overlay val="0"/>
      <c:spPr>
        <a:noFill/>
        <a:ln>
          <a:noFill/>
        </a:ln>
        <a:effectLst/>
      </c:spPr>
      <c:txPr>
        <a:bodyPr rot="0" spcFirstLastPara="1" vertOverflow="ellipsis" vert="horz" wrap="square" anchor="ctr" anchorCtr="1"/>
        <a:lstStyle/>
        <a:p>
          <a:pPr algn="ctr" rtl="1">
            <a:defRPr sz="1862" b="0" i="0" u="none" strike="noStrike" kern="1200" spc="0" baseline="0">
              <a:solidFill>
                <a:schemeClr val="tx1">
                  <a:lumMod val="65000"/>
                  <a:lumOff val="35000"/>
                </a:schemeClr>
              </a:solidFill>
              <a:latin typeface="+mn-lt"/>
              <a:ea typeface="+mn-ea"/>
              <a:cs typeface="+mn-cs"/>
            </a:defRPr>
          </a:pPr>
          <a:endParaRPr lang="he-IL"/>
        </a:p>
      </c:txPr>
    </c:title>
    <c:autoTitleDeleted val="0"/>
    <c:plotArea>
      <c:layout>
        <c:manualLayout>
          <c:layoutTarget val="inner"/>
          <c:xMode val="edge"/>
          <c:yMode val="edge"/>
          <c:x val="7.5152689418412605E-2"/>
          <c:y val="0.15545426246397376"/>
          <c:w val="0.91162209945703154"/>
          <c:h val="0.58158977831086089"/>
        </c:manualLayout>
      </c:layout>
      <c:barChart>
        <c:barDir val="col"/>
        <c:grouping val="stacked"/>
        <c:varyColors val="0"/>
        <c:ser>
          <c:idx val="0"/>
          <c:order val="0"/>
          <c:tx>
            <c:strRef>
              <c:f>Sheet1!$B$1</c:f>
              <c:strCache>
                <c:ptCount val="1"/>
                <c:pt idx="0">
                  <c:v>בריאים</c:v>
                </c:pt>
              </c:strCache>
            </c:strRef>
          </c:tx>
          <c:spPr>
            <a:solidFill>
              <a:schemeClr val="accent6">
                <a:lumMod val="50000"/>
              </a:schemeClr>
            </a:solidFill>
            <a:ln>
              <a:noFill/>
            </a:ln>
            <a:effectLst/>
          </c:spPr>
          <c:invertIfNegative val="0"/>
          <c:dPt>
            <c:idx val="27"/>
            <c:invertIfNegative val="0"/>
            <c:bubble3D val="0"/>
            <c:spPr>
              <a:solidFill>
                <a:schemeClr val="accent1">
                  <a:lumMod val="50000"/>
                </a:schemeClr>
              </a:solidFill>
              <a:ln>
                <a:noFill/>
              </a:ln>
              <a:effectLst/>
            </c:spPr>
            <c:extLst>
              <c:ext xmlns:c16="http://schemas.microsoft.com/office/drawing/2014/chart" uri="{C3380CC4-5D6E-409C-BE32-E72D297353CC}">
                <c16:uniqueId val="{0000001A-3470-4B1E-AE3D-3266D971E83A}"/>
              </c:ext>
            </c:extLst>
          </c:dPt>
          <c:dLbls>
            <c:dLbl>
              <c:idx val="0"/>
              <c:tx>
                <c:rich>
                  <a:bodyPr/>
                  <a:lstStyle/>
                  <a:p>
                    <a:fld id="{76504705-EE1A-4939-A5CA-6BE89B2522B1}"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0-3470-4B1E-AE3D-3266D971E83A}"/>
                </c:ext>
              </c:extLst>
            </c:dLbl>
            <c:dLbl>
              <c:idx val="1"/>
              <c:tx>
                <c:rich>
                  <a:bodyPr/>
                  <a:lstStyle/>
                  <a:p>
                    <a:fld id="{0E1CCE6C-45BB-4479-829F-6C3763A1306B}"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1-3470-4B1E-AE3D-3266D971E83A}"/>
                </c:ext>
              </c:extLst>
            </c:dLbl>
            <c:dLbl>
              <c:idx val="2"/>
              <c:tx>
                <c:rich>
                  <a:bodyPr/>
                  <a:lstStyle/>
                  <a:p>
                    <a:fld id="{2BA3F15C-DEAF-4814-9886-E9902116ACC6}"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2-3470-4B1E-AE3D-3266D971E83A}"/>
                </c:ext>
              </c:extLst>
            </c:dLbl>
            <c:dLbl>
              <c:idx val="3"/>
              <c:tx>
                <c:rich>
                  <a:bodyPr/>
                  <a:lstStyle/>
                  <a:p>
                    <a:fld id="{56336551-0953-45FF-B8FA-5C2971DF93F2}"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3-3470-4B1E-AE3D-3266D971E83A}"/>
                </c:ext>
              </c:extLst>
            </c:dLbl>
            <c:dLbl>
              <c:idx val="4"/>
              <c:tx>
                <c:rich>
                  <a:bodyPr/>
                  <a:lstStyle/>
                  <a:p>
                    <a:fld id="{1806B3D3-7DCE-451D-989B-47A4C7B6E7BC}"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4-3470-4B1E-AE3D-3266D971E83A}"/>
                </c:ext>
              </c:extLst>
            </c:dLbl>
            <c:dLbl>
              <c:idx val="5"/>
              <c:tx>
                <c:rich>
                  <a:bodyPr/>
                  <a:lstStyle/>
                  <a:p>
                    <a:fld id="{591B2095-E7F2-47FA-A96A-8BB73C7463F3}"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5-3470-4B1E-AE3D-3266D971E83A}"/>
                </c:ext>
              </c:extLst>
            </c:dLbl>
            <c:dLbl>
              <c:idx val="6"/>
              <c:tx>
                <c:rich>
                  <a:bodyPr/>
                  <a:lstStyle/>
                  <a:p>
                    <a:fld id="{27C7C58D-0F70-41E0-A0E9-FF717C14CD4D}"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6-3470-4B1E-AE3D-3266D971E83A}"/>
                </c:ext>
              </c:extLst>
            </c:dLbl>
            <c:dLbl>
              <c:idx val="7"/>
              <c:tx>
                <c:rich>
                  <a:bodyPr/>
                  <a:lstStyle/>
                  <a:p>
                    <a:fld id="{EACA570A-030F-425F-B681-65D8686ACD5D}"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7-3470-4B1E-AE3D-3266D971E83A}"/>
                </c:ext>
              </c:extLst>
            </c:dLbl>
            <c:dLbl>
              <c:idx val="8"/>
              <c:tx>
                <c:rich>
                  <a:bodyPr/>
                  <a:lstStyle/>
                  <a:p>
                    <a:fld id="{BC65FFF4-3AD0-4722-8B28-D01EC98198AA}"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8-3470-4B1E-AE3D-3266D971E83A}"/>
                </c:ext>
              </c:extLst>
            </c:dLbl>
            <c:dLbl>
              <c:idx val="9"/>
              <c:tx>
                <c:rich>
                  <a:bodyPr/>
                  <a:lstStyle/>
                  <a:p>
                    <a:fld id="{AF80AF49-FD2F-437F-A0FC-1F5DC56C7039}"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9-3470-4B1E-AE3D-3266D971E83A}"/>
                </c:ext>
              </c:extLst>
            </c:dLbl>
            <c:dLbl>
              <c:idx val="10"/>
              <c:tx>
                <c:rich>
                  <a:bodyPr/>
                  <a:lstStyle/>
                  <a:p>
                    <a:fld id="{1FD481C5-05DC-4F4A-990D-D66968703DE5}"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A-3470-4B1E-AE3D-3266D971E83A}"/>
                </c:ext>
              </c:extLst>
            </c:dLbl>
            <c:dLbl>
              <c:idx val="11"/>
              <c:tx>
                <c:rich>
                  <a:bodyPr/>
                  <a:lstStyle/>
                  <a:p>
                    <a:fld id="{CFA16950-214F-4F42-B554-E0FC7DC5F4DB}"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B-3470-4B1E-AE3D-3266D971E83A}"/>
                </c:ext>
              </c:extLst>
            </c:dLbl>
            <c:dLbl>
              <c:idx val="12"/>
              <c:tx>
                <c:rich>
                  <a:bodyPr/>
                  <a:lstStyle/>
                  <a:p>
                    <a:fld id="{A09D5DF4-7EC3-4D99-A0B1-A8BD1072FA20}"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C-3470-4B1E-AE3D-3266D971E83A}"/>
                </c:ext>
              </c:extLst>
            </c:dLbl>
            <c:dLbl>
              <c:idx val="13"/>
              <c:tx>
                <c:rich>
                  <a:bodyPr/>
                  <a:lstStyle/>
                  <a:p>
                    <a:fld id="{B8DFC15E-5451-4F3A-ABB2-CDDF441D1FF3}"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D-3470-4B1E-AE3D-3266D971E83A}"/>
                </c:ext>
              </c:extLst>
            </c:dLbl>
            <c:dLbl>
              <c:idx val="14"/>
              <c:tx>
                <c:rich>
                  <a:bodyPr/>
                  <a:lstStyle/>
                  <a:p>
                    <a:fld id="{8D0D93A3-CB85-4F76-873D-18A71916F393}"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E-3470-4B1E-AE3D-3266D971E83A}"/>
                </c:ext>
              </c:extLst>
            </c:dLbl>
            <c:dLbl>
              <c:idx val="15"/>
              <c:tx>
                <c:rich>
                  <a:bodyPr/>
                  <a:lstStyle/>
                  <a:p>
                    <a:fld id="{DE741C35-38F9-40F4-B098-5BBDDE483562}"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F-3470-4B1E-AE3D-3266D971E83A}"/>
                </c:ext>
              </c:extLst>
            </c:dLbl>
            <c:dLbl>
              <c:idx val="16"/>
              <c:tx>
                <c:rich>
                  <a:bodyPr/>
                  <a:lstStyle/>
                  <a:p>
                    <a:fld id="{E73E8724-867A-4157-BE9A-C1099B164EB2}"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10-3470-4B1E-AE3D-3266D971E83A}"/>
                </c:ext>
              </c:extLst>
            </c:dLbl>
            <c:dLbl>
              <c:idx val="17"/>
              <c:tx>
                <c:rich>
                  <a:bodyPr/>
                  <a:lstStyle/>
                  <a:p>
                    <a:fld id="{FDB0BD82-134E-4A7D-A6B1-DA41EA4A8E37}"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11-3470-4B1E-AE3D-3266D971E83A}"/>
                </c:ext>
              </c:extLst>
            </c:dLbl>
            <c:dLbl>
              <c:idx val="18"/>
              <c:tx>
                <c:rich>
                  <a:bodyPr/>
                  <a:lstStyle/>
                  <a:p>
                    <a:fld id="{FF29ADBA-7271-4DB2-92DC-C3035F85CBFD}"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12-3470-4B1E-AE3D-3266D971E83A}"/>
                </c:ext>
              </c:extLst>
            </c:dLbl>
            <c:dLbl>
              <c:idx val="19"/>
              <c:tx>
                <c:rich>
                  <a:bodyPr/>
                  <a:lstStyle/>
                  <a:p>
                    <a:fld id="{B4C0106C-B41F-4F11-8D73-58EACBCC5AA0}"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13-3470-4B1E-AE3D-3266D971E83A}"/>
                </c:ext>
              </c:extLst>
            </c:dLbl>
            <c:dLbl>
              <c:idx val="20"/>
              <c:tx>
                <c:rich>
                  <a:bodyPr/>
                  <a:lstStyle/>
                  <a:p>
                    <a:fld id="{8C0D0C75-D1F0-41D8-81C9-B27BC8F00BD9}"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1-BDC0-4612-BC0D-6DF39C79AC4A}"/>
                </c:ext>
              </c:extLst>
            </c:dLbl>
            <c:dLbl>
              <c:idx val="21"/>
              <c:tx>
                <c:rich>
                  <a:bodyPr/>
                  <a:lstStyle/>
                  <a:p>
                    <a:fld id="{DFDA1A90-2FA0-49F1-8BC7-0BB6B05E4A51}"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14-3470-4B1E-AE3D-3266D971E83A}"/>
                </c:ext>
              </c:extLst>
            </c:dLbl>
            <c:dLbl>
              <c:idx val="22"/>
              <c:tx>
                <c:rich>
                  <a:bodyPr/>
                  <a:lstStyle/>
                  <a:p>
                    <a:fld id="{5C9BC852-9DEB-4D90-B2AE-11DE233B5E34}"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15-3470-4B1E-AE3D-3266D971E83A}"/>
                </c:ext>
              </c:extLst>
            </c:dLbl>
            <c:dLbl>
              <c:idx val="23"/>
              <c:tx>
                <c:rich>
                  <a:bodyPr/>
                  <a:lstStyle/>
                  <a:p>
                    <a:fld id="{DA5128A8-CCF0-48F2-98EB-36BF33DBF871}"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16-3470-4B1E-AE3D-3266D971E83A}"/>
                </c:ext>
              </c:extLst>
            </c:dLbl>
            <c:dLbl>
              <c:idx val="24"/>
              <c:tx>
                <c:rich>
                  <a:bodyPr/>
                  <a:lstStyle/>
                  <a:p>
                    <a:fld id="{9B1FD26F-99BE-45FE-8D59-395CD3691617}"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17-3470-4B1E-AE3D-3266D971E83A}"/>
                </c:ext>
              </c:extLst>
            </c:dLbl>
            <c:dLbl>
              <c:idx val="25"/>
              <c:tx>
                <c:rich>
                  <a:bodyPr/>
                  <a:lstStyle/>
                  <a:p>
                    <a:fld id="{A038FAFE-5252-4819-A8BF-5CE17115C52A}"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18-3470-4B1E-AE3D-3266D971E83A}"/>
                </c:ext>
              </c:extLst>
            </c:dLbl>
            <c:dLbl>
              <c:idx val="26"/>
              <c:tx>
                <c:rich>
                  <a:bodyPr/>
                  <a:lstStyle/>
                  <a:p>
                    <a:fld id="{3EE452D1-02A7-4FC5-8CFD-1E27831AE2B6}"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19-3470-4B1E-AE3D-3266D971E83A}"/>
                </c:ext>
              </c:extLst>
            </c:dLbl>
            <c:dLbl>
              <c:idx val="27"/>
              <c:tx>
                <c:rich>
                  <a:bodyPr/>
                  <a:lstStyle/>
                  <a:p>
                    <a:fld id="{2EF648BF-CEBA-4919-BFEB-7B4FDB9FA4A5}"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1A-3470-4B1E-AE3D-3266D971E83A}"/>
                </c:ext>
              </c:extLst>
            </c:dLbl>
            <c:dLbl>
              <c:idx val="28"/>
              <c:tx>
                <c:rich>
                  <a:bodyPr/>
                  <a:lstStyle/>
                  <a:p>
                    <a:fld id="{1C2048E2-96AE-4E4D-B617-7129EE43EB13}"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1B-3470-4B1E-AE3D-3266D971E83A}"/>
                </c:ext>
              </c:extLst>
            </c:dLbl>
            <c:dLbl>
              <c:idx val="29"/>
              <c:tx>
                <c:rich>
                  <a:bodyPr/>
                  <a:lstStyle/>
                  <a:p>
                    <a:fld id="{D125EBA0-1E14-409A-A6E6-FB0A14EDD379}"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1C-3470-4B1E-AE3D-3266D971E83A}"/>
                </c:ext>
              </c:extLst>
            </c:dLbl>
            <c:dLbl>
              <c:idx val="30"/>
              <c:tx>
                <c:rich>
                  <a:bodyPr/>
                  <a:lstStyle/>
                  <a:p>
                    <a:fld id="{7C66424B-F208-4285-8C1D-5092AAE1A15A}"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1D-3470-4B1E-AE3D-3266D971E83A}"/>
                </c:ext>
              </c:extLst>
            </c:dLbl>
            <c:dLbl>
              <c:idx val="31"/>
              <c:tx>
                <c:rich>
                  <a:bodyPr/>
                  <a:lstStyle/>
                  <a:p>
                    <a:fld id="{428C5F38-A5E6-48E9-A1F3-B61AA0A41C42}"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1E-3470-4B1E-AE3D-3266D971E83A}"/>
                </c:ext>
              </c:extLst>
            </c:dLbl>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bg1"/>
                    </a:solidFill>
                    <a:latin typeface="+mn-lt"/>
                    <a:ea typeface="+mn-ea"/>
                    <a:cs typeface="+mn-cs"/>
                  </a:defRPr>
                </a:pPr>
                <a:endParaRPr lang="he-IL"/>
              </a:p>
            </c:txPr>
            <c:dLblPos val="inEnd"/>
            <c:showLegendKey val="0"/>
            <c:showVal val="0"/>
            <c:showCatName val="0"/>
            <c:showSerName val="0"/>
            <c:showPercent val="0"/>
            <c:showBubbleSize val="0"/>
            <c:showLeaderLines val="0"/>
            <c:extLst>
              <c:ext xmlns:c15="http://schemas.microsoft.com/office/drawing/2012/chart" uri="{CE6537A1-D6FC-4f65-9D91-7224C49458BB}">
                <c15:showDataLabelsRange val="1"/>
                <c15:showLeaderLines val="1"/>
                <c15:leaderLines>
                  <c:spPr>
                    <a:ln w="9525" cap="flat" cmpd="sng" algn="ctr">
                      <a:solidFill>
                        <a:schemeClr val="tx1">
                          <a:lumMod val="35000"/>
                          <a:lumOff val="65000"/>
                        </a:schemeClr>
                      </a:solidFill>
                      <a:round/>
                    </a:ln>
                    <a:effectLst/>
                  </c:spPr>
                </c15:leaderLines>
              </c:ext>
            </c:extLst>
          </c:dLbls>
          <c:cat>
            <c:strRef>
              <c:f>Sheet1!$A$2:$A$33</c:f>
              <c:strCache>
                <c:ptCount val="32"/>
                <c:pt idx="0">
                  <c:v>Bulgaria</c:v>
                </c:pt>
                <c:pt idx="1">
                  <c:v>Romania</c:v>
                </c:pt>
                <c:pt idx="2">
                  <c:v>Hungary</c:v>
                </c:pt>
                <c:pt idx="3">
                  <c:v>Latvia</c:v>
                </c:pt>
                <c:pt idx="4">
                  <c:v>Slovakia</c:v>
                </c:pt>
                <c:pt idx="5">
                  <c:v>Croatia</c:v>
                </c:pt>
                <c:pt idx="6">
                  <c:v>Lithuania</c:v>
                </c:pt>
                <c:pt idx="7">
                  <c:v>Czechia</c:v>
                </c:pt>
                <c:pt idx="8">
                  <c:v>Poland</c:v>
                </c:pt>
                <c:pt idx="9">
                  <c:v>Estonia</c:v>
                </c:pt>
                <c:pt idx="10">
                  <c:v>Denmark</c:v>
                </c:pt>
                <c:pt idx="11">
                  <c:v>Netherlands</c:v>
                </c:pt>
                <c:pt idx="12">
                  <c:v>United Kingdom</c:v>
                </c:pt>
                <c:pt idx="13">
                  <c:v>Germany</c:v>
                </c:pt>
                <c:pt idx="14">
                  <c:v>European Union</c:v>
                </c:pt>
                <c:pt idx="15">
                  <c:v>Austria</c:v>
                </c:pt>
                <c:pt idx="16">
                  <c:v>Ireland</c:v>
                </c:pt>
                <c:pt idx="17">
                  <c:v>Sweden</c:v>
                </c:pt>
                <c:pt idx="18">
                  <c:v>Norway</c:v>
                </c:pt>
                <c:pt idx="19">
                  <c:v>Cyprus</c:v>
                </c:pt>
                <c:pt idx="20">
                  <c:v>Slovenia</c:v>
                </c:pt>
                <c:pt idx="21">
                  <c:v>Greece</c:v>
                </c:pt>
                <c:pt idx="22">
                  <c:v>Belgium</c:v>
                </c:pt>
                <c:pt idx="23">
                  <c:v>Portugal</c:v>
                </c:pt>
                <c:pt idx="24">
                  <c:v>Finland</c:v>
                </c:pt>
                <c:pt idx="25">
                  <c:v>Luxembourg</c:v>
                </c:pt>
                <c:pt idx="26">
                  <c:v>Malta</c:v>
                </c:pt>
                <c:pt idx="27">
                  <c:v>Israel</c:v>
                </c:pt>
                <c:pt idx="28">
                  <c:v>Italy</c:v>
                </c:pt>
                <c:pt idx="29">
                  <c:v>Switzerland</c:v>
                </c:pt>
                <c:pt idx="30">
                  <c:v>Spain</c:v>
                </c:pt>
                <c:pt idx="31">
                  <c:v>France</c:v>
                </c:pt>
              </c:strCache>
            </c:strRef>
          </c:cat>
          <c:val>
            <c:numRef>
              <c:f>Sheet1!$B$2:$B$33</c:f>
              <c:numCache>
                <c:formatCode>0</c:formatCode>
                <c:ptCount val="32"/>
                <c:pt idx="0">
                  <c:v>10.199999999999999</c:v>
                </c:pt>
                <c:pt idx="1">
                  <c:v>5.9</c:v>
                </c:pt>
                <c:pt idx="2">
                  <c:v>7.4</c:v>
                </c:pt>
                <c:pt idx="3">
                  <c:v>4.7</c:v>
                </c:pt>
                <c:pt idx="4">
                  <c:v>4.5999999999999996</c:v>
                </c:pt>
                <c:pt idx="5">
                  <c:v>5</c:v>
                </c:pt>
                <c:pt idx="6">
                  <c:v>6.3</c:v>
                </c:pt>
                <c:pt idx="7">
                  <c:v>8.5</c:v>
                </c:pt>
                <c:pt idx="8">
                  <c:v>8.8000000000000007</c:v>
                </c:pt>
                <c:pt idx="9">
                  <c:v>5.8</c:v>
                </c:pt>
                <c:pt idx="10">
                  <c:v>11.8</c:v>
                </c:pt>
                <c:pt idx="11">
                  <c:v>9.5</c:v>
                </c:pt>
                <c:pt idx="12">
                  <c:v>10.7</c:v>
                </c:pt>
                <c:pt idx="13">
                  <c:v>12.2</c:v>
                </c:pt>
                <c:pt idx="14">
                  <c:v>10</c:v>
                </c:pt>
                <c:pt idx="15">
                  <c:v>7.4</c:v>
                </c:pt>
                <c:pt idx="16">
                  <c:v>13.8</c:v>
                </c:pt>
                <c:pt idx="17">
                  <c:v>15.8</c:v>
                </c:pt>
                <c:pt idx="18">
                  <c:v>15.6</c:v>
                </c:pt>
                <c:pt idx="19">
                  <c:v>6.9</c:v>
                </c:pt>
                <c:pt idx="20">
                  <c:v>7.4</c:v>
                </c:pt>
                <c:pt idx="21">
                  <c:v>7.2</c:v>
                </c:pt>
                <c:pt idx="22">
                  <c:v>11.4</c:v>
                </c:pt>
                <c:pt idx="23">
                  <c:v>6.9</c:v>
                </c:pt>
                <c:pt idx="24">
                  <c:v>9.4</c:v>
                </c:pt>
                <c:pt idx="25">
                  <c:v>8.8000000000000007</c:v>
                </c:pt>
                <c:pt idx="26">
                  <c:v>14.5</c:v>
                </c:pt>
                <c:pt idx="27">
                  <c:v>10.6</c:v>
                </c:pt>
                <c:pt idx="28">
                  <c:v>9.1999999999999993</c:v>
                </c:pt>
                <c:pt idx="29">
                  <c:v>10.199999999999999</c:v>
                </c:pt>
                <c:pt idx="30">
                  <c:v>11.3</c:v>
                </c:pt>
                <c:pt idx="31">
                  <c:v>11.3</c:v>
                </c:pt>
              </c:numCache>
            </c:numRef>
          </c:val>
          <c:extLst>
            <c:ext xmlns:c15="http://schemas.microsoft.com/office/drawing/2012/chart" uri="{02D57815-91ED-43cb-92C2-25804820EDAC}">
              <c15:datalabelsRange>
                <c15:f>Sheet1!$G$2:$G$33</c15:f>
                <c15:dlblRangeCache>
                  <c:ptCount val="32"/>
                  <c:pt idx="0">
                    <c:v>57</c:v>
                  </c:pt>
                  <c:pt idx="1">
                    <c:v>32</c:v>
                  </c:pt>
                  <c:pt idx="2">
                    <c:v>40</c:v>
                  </c:pt>
                  <c:pt idx="3">
                    <c:v>25</c:v>
                  </c:pt>
                  <c:pt idx="4">
                    <c:v>24</c:v>
                  </c:pt>
                  <c:pt idx="5">
                    <c:v>26</c:v>
                  </c:pt>
                  <c:pt idx="6">
                    <c:v>32</c:v>
                  </c:pt>
                  <c:pt idx="7">
                    <c:v>43</c:v>
                  </c:pt>
                  <c:pt idx="8">
                    <c:v>44</c:v>
                  </c:pt>
                  <c:pt idx="9">
                    <c:v>28</c:v>
                  </c:pt>
                  <c:pt idx="10">
                    <c:v>57</c:v>
                  </c:pt>
                  <c:pt idx="11">
                    <c:v>45</c:v>
                  </c:pt>
                  <c:pt idx="12">
                    <c:v>51</c:v>
                  </c:pt>
                  <c:pt idx="13">
                    <c:v>58</c:v>
                  </c:pt>
                  <c:pt idx="14">
                    <c:v>47</c:v>
                  </c:pt>
                  <c:pt idx="15">
                    <c:v>34</c:v>
                  </c:pt>
                  <c:pt idx="16">
                    <c:v>64</c:v>
                  </c:pt>
                  <c:pt idx="17">
                    <c:v>73</c:v>
                  </c:pt>
                  <c:pt idx="18">
                    <c:v>72</c:v>
                  </c:pt>
                  <c:pt idx="19">
                    <c:v>32</c:v>
                  </c:pt>
                  <c:pt idx="20">
                    <c:v>34</c:v>
                  </c:pt>
                  <c:pt idx="21">
                    <c:v>33</c:v>
                  </c:pt>
                  <c:pt idx="22">
                    <c:v>52</c:v>
                  </c:pt>
                  <c:pt idx="23">
                    <c:v>31</c:v>
                  </c:pt>
                  <c:pt idx="24">
                    <c:v>43</c:v>
                  </c:pt>
                  <c:pt idx="25">
                    <c:v>40</c:v>
                  </c:pt>
                  <c:pt idx="26">
                    <c:v>65</c:v>
                  </c:pt>
                  <c:pt idx="27">
                    <c:v>47</c:v>
                  </c:pt>
                  <c:pt idx="28">
                    <c:v>40</c:v>
                  </c:pt>
                  <c:pt idx="29">
                    <c:v>44</c:v>
                  </c:pt>
                  <c:pt idx="30">
                    <c:v>48</c:v>
                  </c:pt>
                  <c:pt idx="31">
                    <c:v>47</c:v>
                  </c:pt>
                </c15:dlblRangeCache>
              </c15:datalabelsRange>
            </c:ext>
            <c:ext xmlns:c16="http://schemas.microsoft.com/office/drawing/2014/chart" uri="{C3380CC4-5D6E-409C-BE32-E72D297353CC}">
              <c16:uniqueId val="{00000000-2645-4285-9CC0-6A0550A27338}"/>
            </c:ext>
          </c:extLst>
        </c:ser>
        <c:ser>
          <c:idx val="1"/>
          <c:order val="1"/>
          <c:tx>
            <c:strRef>
              <c:f>Sheet1!$C$1</c:f>
              <c:strCache>
                <c:ptCount val="1"/>
                <c:pt idx="0">
                  <c:v>עם מוגבלות</c:v>
                </c:pt>
              </c:strCache>
            </c:strRef>
          </c:tx>
          <c:spPr>
            <a:solidFill>
              <a:schemeClr val="accent6"/>
            </a:solidFill>
            <a:ln>
              <a:noFill/>
            </a:ln>
            <a:effectLst/>
          </c:spPr>
          <c:invertIfNegative val="0"/>
          <c:dPt>
            <c:idx val="27"/>
            <c:invertIfNegative val="0"/>
            <c:bubble3D val="0"/>
            <c:spPr>
              <a:solidFill>
                <a:schemeClr val="accent1"/>
              </a:solidFill>
              <a:ln>
                <a:noFill/>
              </a:ln>
              <a:effectLst/>
            </c:spPr>
            <c:extLst>
              <c:ext xmlns:c16="http://schemas.microsoft.com/office/drawing/2014/chart" uri="{C3380CC4-5D6E-409C-BE32-E72D297353CC}">
                <c16:uniqueId val="{00000003-F5BE-4B47-975E-C19DB99C136A}"/>
              </c:ext>
            </c:extLst>
          </c:dPt>
          <c:cat>
            <c:strRef>
              <c:f>Sheet1!$A$2:$A$33</c:f>
              <c:strCache>
                <c:ptCount val="32"/>
                <c:pt idx="0">
                  <c:v>Bulgaria</c:v>
                </c:pt>
                <c:pt idx="1">
                  <c:v>Romania</c:v>
                </c:pt>
                <c:pt idx="2">
                  <c:v>Hungary</c:v>
                </c:pt>
                <c:pt idx="3">
                  <c:v>Latvia</c:v>
                </c:pt>
                <c:pt idx="4">
                  <c:v>Slovakia</c:v>
                </c:pt>
                <c:pt idx="5">
                  <c:v>Croatia</c:v>
                </c:pt>
                <c:pt idx="6">
                  <c:v>Lithuania</c:v>
                </c:pt>
                <c:pt idx="7">
                  <c:v>Czechia</c:v>
                </c:pt>
                <c:pt idx="8">
                  <c:v>Poland</c:v>
                </c:pt>
                <c:pt idx="9">
                  <c:v>Estonia</c:v>
                </c:pt>
                <c:pt idx="10">
                  <c:v>Denmark</c:v>
                </c:pt>
                <c:pt idx="11">
                  <c:v>Netherlands</c:v>
                </c:pt>
                <c:pt idx="12">
                  <c:v>United Kingdom</c:v>
                </c:pt>
                <c:pt idx="13">
                  <c:v>Germany</c:v>
                </c:pt>
                <c:pt idx="14">
                  <c:v>European Union</c:v>
                </c:pt>
                <c:pt idx="15">
                  <c:v>Austria</c:v>
                </c:pt>
                <c:pt idx="16">
                  <c:v>Ireland</c:v>
                </c:pt>
                <c:pt idx="17">
                  <c:v>Sweden</c:v>
                </c:pt>
                <c:pt idx="18">
                  <c:v>Norway</c:v>
                </c:pt>
                <c:pt idx="19">
                  <c:v>Cyprus</c:v>
                </c:pt>
                <c:pt idx="20">
                  <c:v>Slovenia</c:v>
                </c:pt>
                <c:pt idx="21">
                  <c:v>Greece</c:v>
                </c:pt>
                <c:pt idx="22">
                  <c:v>Belgium</c:v>
                </c:pt>
                <c:pt idx="23">
                  <c:v>Portugal</c:v>
                </c:pt>
                <c:pt idx="24">
                  <c:v>Finland</c:v>
                </c:pt>
                <c:pt idx="25">
                  <c:v>Luxembourg</c:v>
                </c:pt>
                <c:pt idx="26">
                  <c:v>Malta</c:v>
                </c:pt>
                <c:pt idx="27">
                  <c:v>Israel</c:v>
                </c:pt>
                <c:pt idx="28">
                  <c:v>Italy</c:v>
                </c:pt>
                <c:pt idx="29">
                  <c:v>Switzerland</c:v>
                </c:pt>
                <c:pt idx="30">
                  <c:v>Spain</c:v>
                </c:pt>
                <c:pt idx="31">
                  <c:v>France</c:v>
                </c:pt>
              </c:strCache>
            </c:strRef>
          </c:cat>
          <c:val>
            <c:numRef>
              <c:f>Sheet1!$C$2:$C$33</c:f>
              <c:numCache>
                <c:formatCode>0</c:formatCode>
                <c:ptCount val="32"/>
                <c:pt idx="0">
                  <c:v>7.8000000000000007</c:v>
                </c:pt>
                <c:pt idx="1">
                  <c:v>12.499999999999998</c:v>
                </c:pt>
                <c:pt idx="2">
                  <c:v>11.1</c:v>
                </c:pt>
                <c:pt idx="3">
                  <c:v>14.3</c:v>
                </c:pt>
                <c:pt idx="4">
                  <c:v>14.700000000000001</c:v>
                </c:pt>
                <c:pt idx="5">
                  <c:v>14.3</c:v>
                </c:pt>
                <c:pt idx="6">
                  <c:v>13.399999999999999</c:v>
                </c:pt>
                <c:pt idx="7">
                  <c:v>11.3</c:v>
                </c:pt>
                <c:pt idx="8">
                  <c:v>11.3</c:v>
                </c:pt>
                <c:pt idx="9">
                  <c:v>14.8</c:v>
                </c:pt>
                <c:pt idx="10">
                  <c:v>8.8999999999999986</c:v>
                </c:pt>
                <c:pt idx="11">
                  <c:v>11.600000000000001</c:v>
                </c:pt>
                <c:pt idx="12">
                  <c:v>10.400000000000002</c:v>
                </c:pt>
                <c:pt idx="13">
                  <c:v>8.9000000000000021</c:v>
                </c:pt>
                <c:pt idx="14">
                  <c:v>11.5</c:v>
                </c:pt>
                <c:pt idx="15">
                  <c:v>14.200000000000001</c:v>
                </c:pt>
                <c:pt idx="16">
                  <c:v>7.8000000000000007</c:v>
                </c:pt>
                <c:pt idx="17">
                  <c:v>5.8000000000000007</c:v>
                </c:pt>
                <c:pt idx="18">
                  <c:v>6.1</c:v>
                </c:pt>
                <c:pt idx="19">
                  <c:v>14.9</c:v>
                </c:pt>
                <c:pt idx="20">
                  <c:v>14.4</c:v>
                </c:pt>
                <c:pt idx="21">
                  <c:v>14.7</c:v>
                </c:pt>
                <c:pt idx="22">
                  <c:v>10.499999999999998</c:v>
                </c:pt>
                <c:pt idx="23">
                  <c:v>15.1</c:v>
                </c:pt>
                <c:pt idx="24">
                  <c:v>12.6</c:v>
                </c:pt>
                <c:pt idx="25">
                  <c:v>13.3</c:v>
                </c:pt>
                <c:pt idx="26">
                  <c:v>7.8000000000000007</c:v>
                </c:pt>
                <c:pt idx="27">
                  <c:v>11.8</c:v>
                </c:pt>
                <c:pt idx="28">
                  <c:v>13.600000000000001</c:v>
                </c:pt>
                <c:pt idx="29">
                  <c:v>12.8</c:v>
                </c:pt>
                <c:pt idx="30">
                  <c:v>12.2</c:v>
                </c:pt>
                <c:pt idx="31">
                  <c:v>12.5</c:v>
                </c:pt>
              </c:numCache>
            </c:numRef>
          </c:val>
          <c:extLst>
            <c:ext xmlns:c16="http://schemas.microsoft.com/office/drawing/2014/chart" uri="{C3380CC4-5D6E-409C-BE32-E72D297353CC}">
              <c16:uniqueId val="{00000001-2645-4285-9CC0-6A0550A27338}"/>
            </c:ext>
          </c:extLst>
        </c:ser>
        <c:ser>
          <c:idx val="2"/>
          <c:order val="2"/>
          <c:tx>
            <c:strRef>
              <c:f>Sheet1!$D$1</c:f>
              <c:strCache>
                <c:ptCount val="1"/>
                <c:pt idx="0">
                  <c:v>רגילה</c:v>
                </c:pt>
              </c:strCache>
            </c:strRef>
          </c:tx>
          <c:spPr>
            <a:solidFill>
              <a:schemeClr val="bg1">
                <a:alpha val="0"/>
              </a:schemeClr>
            </a:solidFill>
            <a:ln>
              <a:noFill/>
            </a:ln>
            <a:effectLst/>
          </c:spPr>
          <c:invertIfNegative val="0"/>
          <c:cat>
            <c:strRef>
              <c:f>Sheet1!$A$2:$A$33</c:f>
              <c:strCache>
                <c:ptCount val="32"/>
                <c:pt idx="0">
                  <c:v>Bulgaria</c:v>
                </c:pt>
                <c:pt idx="1">
                  <c:v>Romania</c:v>
                </c:pt>
                <c:pt idx="2">
                  <c:v>Hungary</c:v>
                </c:pt>
                <c:pt idx="3">
                  <c:v>Latvia</c:v>
                </c:pt>
                <c:pt idx="4">
                  <c:v>Slovakia</c:v>
                </c:pt>
                <c:pt idx="5">
                  <c:v>Croatia</c:v>
                </c:pt>
                <c:pt idx="6">
                  <c:v>Lithuania</c:v>
                </c:pt>
                <c:pt idx="7">
                  <c:v>Czechia</c:v>
                </c:pt>
                <c:pt idx="8">
                  <c:v>Poland</c:v>
                </c:pt>
                <c:pt idx="9">
                  <c:v>Estonia</c:v>
                </c:pt>
                <c:pt idx="10">
                  <c:v>Denmark</c:v>
                </c:pt>
                <c:pt idx="11">
                  <c:v>Netherlands</c:v>
                </c:pt>
                <c:pt idx="12">
                  <c:v>United Kingdom</c:v>
                </c:pt>
                <c:pt idx="13">
                  <c:v>Germany</c:v>
                </c:pt>
                <c:pt idx="14">
                  <c:v>European Union</c:v>
                </c:pt>
                <c:pt idx="15">
                  <c:v>Austria</c:v>
                </c:pt>
                <c:pt idx="16">
                  <c:v>Ireland</c:v>
                </c:pt>
                <c:pt idx="17">
                  <c:v>Sweden</c:v>
                </c:pt>
                <c:pt idx="18">
                  <c:v>Norway</c:v>
                </c:pt>
                <c:pt idx="19">
                  <c:v>Cyprus</c:v>
                </c:pt>
                <c:pt idx="20">
                  <c:v>Slovenia</c:v>
                </c:pt>
                <c:pt idx="21">
                  <c:v>Greece</c:v>
                </c:pt>
                <c:pt idx="22">
                  <c:v>Belgium</c:v>
                </c:pt>
                <c:pt idx="23">
                  <c:v>Portugal</c:v>
                </c:pt>
                <c:pt idx="24">
                  <c:v>Finland</c:v>
                </c:pt>
                <c:pt idx="25">
                  <c:v>Luxembourg</c:v>
                </c:pt>
                <c:pt idx="26">
                  <c:v>Malta</c:v>
                </c:pt>
                <c:pt idx="27">
                  <c:v>Israel</c:v>
                </c:pt>
                <c:pt idx="28">
                  <c:v>Italy</c:v>
                </c:pt>
                <c:pt idx="29">
                  <c:v>Switzerland</c:v>
                </c:pt>
                <c:pt idx="30">
                  <c:v>Spain</c:v>
                </c:pt>
                <c:pt idx="31">
                  <c:v>France</c:v>
                </c:pt>
              </c:strCache>
            </c:strRef>
          </c:cat>
          <c:val>
            <c:numRef>
              <c:f>Sheet1!$D$2:$D$33</c:f>
              <c:numCache>
                <c:formatCode>0</c:formatCode>
                <c:ptCount val="32"/>
                <c:pt idx="0">
                  <c:v>18</c:v>
                </c:pt>
                <c:pt idx="1">
                  <c:v>18.399999999999999</c:v>
                </c:pt>
                <c:pt idx="2">
                  <c:v>18.5</c:v>
                </c:pt>
                <c:pt idx="3">
                  <c:v>19</c:v>
                </c:pt>
                <c:pt idx="4">
                  <c:v>19.3</c:v>
                </c:pt>
                <c:pt idx="5">
                  <c:v>19.3</c:v>
                </c:pt>
                <c:pt idx="6">
                  <c:v>19.7</c:v>
                </c:pt>
                <c:pt idx="7">
                  <c:v>19.8</c:v>
                </c:pt>
                <c:pt idx="8">
                  <c:v>20.100000000000001</c:v>
                </c:pt>
                <c:pt idx="9">
                  <c:v>20.6</c:v>
                </c:pt>
                <c:pt idx="10">
                  <c:v>20.7</c:v>
                </c:pt>
                <c:pt idx="11">
                  <c:v>21.1</c:v>
                </c:pt>
                <c:pt idx="12">
                  <c:v>21.1</c:v>
                </c:pt>
                <c:pt idx="13">
                  <c:v>21.1</c:v>
                </c:pt>
                <c:pt idx="14">
                  <c:v>21.5</c:v>
                </c:pt>
                <c:pt idx="15">
                  <c:v>21.6</c:v>
                </c:pt>
                <c:pt idx="16">
                  <c:v>21.6</c:v>
                </c:pt>
                <c:pt idx="17">
                  <c:v>21.6</c:v>
                </c:pt>
                <c:pt idx="18">
                  <c:v>21.7</c:v>
                </c:pt>
                <c:pt idx="19">
                  <c:v>21.8</c:v>
                </c:pt>
                <c:pt idx="20">
                  <c:v>21.8</c:v>
                </c:pt>
                <c:pt idx="21">
                  <c:v>21.9</c:v>
                </c:pt>
                <c:pt idx="22">
                  <c:v>21.9</c:v>
                </c:pt>
                <c:pt idx="23">
                  <c:v>22</c:v>
                </c:pt>
                <c:pt idx="24">
                  <c:v>22</c:v>
                </c:pt>
                <c:pt idx="25">
                  <c:v>22.1</c:v>
                </c:pt>
                <c:pt idx="26">
                  <c:v>22.3</c:v>
                </c:pt>
                <c:pt idx="27">
                  <c:v>22.4</c:v>
                </c:pt>
                <c:pt idx="28">
                  <c:v>22.8</c:v>
                </c:pt>
                <c:pt idx="29">
                  <c:v>23</c:v>
                </c:pt>
                <c:pt idx="30">
                  <c:v>23.5</c:v>
                </c:pt>
                <c:pt idx="31">
                  <c:v>23.8</c:v>
                </c:pt>
              </c:numCache>
            </c:numRef>
          </c:val>
          <c:extLst>
            <c:ext xmlns:c16="http://schemas.microsoft.com/office/drawing/2014/chart" uri="{C3380CC4-5D6E-409C-BE32-E72D297353CC}">
              <c16:uniqueId val="{00000003-2645-4285-9CC0-6A0550A27338}"/>
            </c:ext>
          </c:extLst>
        </c:ser>
        <c:dLbls>
          <c:showLegendKey val="0"/>
          <c:showVal val="0"/>
          <c:showCatName val="0"/>
          <c:showSerName val="0"/>
          <c:showPercent val="0"/>
          <c:showBubbleSize val="0"/>
        </c:dLbls>
        <c:gapWidth val="50"/>
        <c:overlap val="100"/>
        <c:axId val="259720800"/>
        <c:axId val="259719488"/>
      </c:barChart>
      <c:catAx>
        <c:axId val="25972080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he-IL"/>
          </a:p>
        </c:txPr>
        <c:crossAx val="259719488"/>
        <c:crosses val="autoZero"/>
        <c:auto val="1"/>
        <c:lblAlgn val="ctr"/>
        <c:lblOffset val="100"/>
        <c:noMultiLvlLbl val="0"/>
      </c:catAx>
      <c:valAx>
        <c:axId val="259719488"/>
        <c:scaling>
          <c:orientation val="minMax"/>
          <c:max val="25"/>
          <c:min val="0"/>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r>
                  <a:rPr lang="he-IL"/>
                  <a:t>שנות חיים</a:t>
                </a:r>
                <a:endParaRPr lang="en-US"/>
              </a:p>
            </c:rich>
          </c:tx>
          <c:overlay val="0"/>
          <c:spPr>
            <a:noFill/>
            <a:ln>
              <a:noFill/>
            </a:ln>
            <a:effectLst/>
          </c:spPr>
          <c:txPr>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endParaRPr lang="he-IL"/>
            </a:p>
          </c:txPr>
        </c:title>
        <c:numFmt formatCode="0" sourceLinked="0"/>
        <c:majorTickMark val="out"/>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he-IL"/>
          </a:p>
        </c:txPr>
        <c:crossAx val="259720800"/>
        <c:crosses val="autoZero"/>
        <c:crossBetween val="between"/>
        <c:majorUnit val="5"/>
      </c:valAx>
      <c:spPr>
        <a:noFill/>
        <a:ln>
          <a:noFill/>
        </a:ln>
        <a:effectLst/>
      </c:spPr>
    </c:plotArea>
    <c:legend>
      <c:legendPos val="b"/>
      <c:legendEntry>
        <c:idx val="2"/>
        <c:delete val="1"/>
      </c:legendEntry>
      <c:layout>
        <c:manualLayout>
          <c:xMode val="edge"/>
          <c:yMode val="edge"/>
          <c:x val="0.43668651472548758"/>
          <c:y val="0.93026181456391932"/>
          <c:w val="0.25503399285109601"/>
          <c:h val="6.9738185436080624E-2"/>
        </c:manualLayout>
      </c:layout>
      <c:overlay val="0"/>
      <c:spPr>
        <a:noFill/>
        <a:ln>
          <a:noFill/>
        </a:ln>
        <a:effectLst/>
      </c:spPr>
      <c:txPr>
        <a:bodyPr rot="0" spcFirstLastPara="1" vertOverflow="ellipsis" vert="horz" wrap="square" anchor="ctr" anchorCtr="1"/>
        <a:lstStyle/>
        <a:p>
          <a:pPr rtl="1">
            <a:defRPr sz="1400" b="0" i="0" u="none" strike="noStrike" kern="1200" baseline="0">
              <a:solidFill>
                <a:schemeClr val="tx1">
                  <a:lumMod val="65000"/>
                  <a:lumOff val="35000"/>
                </a:schemeClr>
              </a:solidFill>
              <a:latin typeface="+mn-lt"/>
              <a:ea typeface="+mn-ea"/>
              <a:cs typeface="+mn-cs"/>
            </a:defRPr>
          </a:pPr>
          <a:endParaRPr lang="he-IL"/>
        </a:p>
      </c:txPr>
    </c:legend>
    <c:plotVisOnly val="1"/>
    <c:dispBlanksAs val="gap"/>
    <c:showDLblsOverMax val="0"/>
  </c:chart>
  <c:spPr>
    <a:noFill/>
    <a:ln>
      <a:noFill/>
    </a:ln>
    <a:effectLst/>
  </c:spPr>
  <c:txPr>
    <a:bodyPr/>
    <a:lstStyle/>
    <a:p>
      <a:pPr rtl="1">
        <a:defRPr/>
      </a:pPr>
      <a:endParaRPr lang="he-IL"/>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e-IL"/>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lgn="ctr" rtl="1">
              <a:defRPr sz="1862" b="0" i="0" u="none" strike="noStrike" kern="1200" spc="0" baseline="0">
                <a:solidFill>
                  <a:schemeClr val="tx1">
                    <a:lumMod val="65000"/>
                    <a:lumOff val="35000"/>
                  </a:schemeClr>
                </a:solidFill>
                <a:latin typeface="+mn-lt"/>
                <a:ea typeface="+mn-ea"/>
                <a:cs typeface="+mn-cs"/>
              </a:defRPr>
            </a:pPr>
            <a:r>
              <a:rPr lang="he-IL" sz="1400" b="0" i="0" u="none" strike="noStrike" baseline="0">
                <a:solidFill>
                  <a:schemeClr val="accent6">
                    <a:lumMod val="50000"/>
                  </a:schemeClr>
                </a:solidFill>
              </a:rPr>
              <a:t>תוחלת חיים בגיל 65 – נשים</a:t>
            </a:r>
          </a:p>
          <a:p>
            <a:pPr algn="ctr" rtl="1">
              <a:defRPr/>
            </a:pPr>
            <a:r>
              <a:rPr lang="he-IL" sz="1400" b="0" i="0" u="none" strike="noStrike" baseline="0">
                <a:solidFill>
                  <a:srgbClr val="93A2AE"/>
                </a:solidFill>
              </a:rPr>
              <a:t>(</a:t>
            </a:r>
            <a:r>
              <a:rPr lang="he-IL" sz="1400" b="0" i="0" u="none" strike="noStrike" baseline="0" err="1">
                <a:solidFill>
                  <a:srgbClr val="93A2AE"/>
                </a:solidFill>
              </a:rPr>
              <a:t>למ"ס</a:t>
            </a:r>
            <a:r>
              <a:rPr lang="he-IL" sz="1400" b="0" i="0" u="none" strike="noStrike" baseline="0">
                <a:solidFill>
                  <a:srgbClr val="93A2AE"/>
                </a:solidFill>
              </a:rPr>
              <a:t>)</a:t>
            </a:r>
            <a:endParaRPr lang="en-US" sz="1400">
              <a:solidFill>
                <a:srgbClr val="93A2AE"/>
              </a:solidFill>
            </a:endParaRPr>
          </a:p>
        </c:rich>
      </c:tx>
      <c:layout>
        <c:manualLayout>
          <c:xMode val="edge"/>
          <c:yMode val="edge"/>
          <c:x val="0.21032071061381816"/>
          <c:y val="2.554874721666826E-2"/>
        </c:manualLayout>
      </c:layout>
      <c:overlay val="0"/>
      <c:spPr>
        <a:noFill/>
        <a:ln>
          <a:noFill/>
        </a:ln>
        <a:effectLst/>
      </c:spPr>
      <c:txPr>
        <a:bodyPr rot="0" spcFirstLastPara="1" vertOverflow="ellipsis" vert="horz" wrap="square" anchor="ctr" anchorCtr="1"/>
        <a:lstStyle/>
        <a:p>
          <a:pPr algn="ctr" rtl="1">
            <a:defRPr sz="1862" b="0" i="0" u="none" strike="noStrike" kern="1200" spc="0" baseline="0">
              <a:solidFill>
                <a:schemeClr val="tx1">
                  <a:lumMod val="65000"/>
                  <a:lumOff val="35000"/>
                </a:schemeClr>
              </a:solidFill>
              <a:latin typeface="+mn-lt"/>
              <a:ea typeface="+mn-ea"/>
              <a:cs typeface="+mn-cs"/>
            </a:defRPr>
          </a:pPr>
          <a:endParaRPr lang="he-IL"/>
        </a:p>
      </c:txPr>
    </c:title>
    <c:autoTitleDeleted val="0"/>
    <c:plotArea>
      <c:layout>
        <c:manualLayout>
          <c:layoutTarget val="inner"/>
          <c:xMode val="edge"/>
          <c:yMode val="edge"/>
          <c:x val="0.28638968439012202"/>
          <c:y val="0.15545426246397376"/>
          <c:w val="0.68702069715970326"/>
          <c:h val="0.58096363989292954"/>
        </c:manualLayout>
      </c:layout>
      <c:barChart>
        <c:barDir val="col"/>
        <c:grouping val="stacked"/>
        <c:varyColors val="0"/>
        <c:ser>
          <c:idx val="0"/>
          <c:order val="0"/>
          <c:tx>
            <c:strRef>
              <c:f>Sheet1!$B$1</c:f>
              <c:strCache>
                <c:ptCount val="1"/>
                <c:pt idx="0">
                  <c:v>בלי מוגבלות</c:v>
                </c:pt>
              </c:strCache>
            </c:strRef>
          </c:tx>
          <c:spPr>
            <a:solidFill>
              <a:schemeClr val="accent1">
                <a:lumMod val="5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mn-lt"/>
                    <a:ea typeface="+mn-ea"/>
                    <a:cs typeface="+mn-cs"/>
                  </a:defRPr>
                </a:pPr>
                <a:endParaRPr lang="he-IL"/>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Sheet1!$A$2:$A$7</c:f>
              <c:numCache>
                <c:formatCode>General</c:formatCode>
                <c:ptCount val="6"/>
                <c:pt idx="0">
                  <c:v>2015</c:v>
                </c:pt>
                <c:pt idx="1">
                  <c:v>2016</c:v>
                </c:pt>
                <c:pt idx="2">
                  <c:v>2017</c:v>
                </c:pt>
                <c:pt idx="3">
                  <c:v>2018</c:v>
                </c:pt>
                <c:pt idx="4">
                  <c:v>2019</c:v>
                </c:pt>
                <c:pt idx="5">
                  <c:v>2020</c:v>
                </c:pt>
              </c:numCache>
            </c:numRef>
          </c:cat>
          <c:val>
            <c:numRef>
              <c:f>Sheet1!$B$2:$B$7</c:f>
              <c:numCache>
                <c:formatCode>0.0</c:formatCode>
                <c:ptCount val="6"/>
                <c:pt idx="0">
                  <c:v>9.8000000000000007</c:v>
                </c:pt>
                <c:pt idx="1">
                  <c:v>10.4</c:v>
                </c:pt>
                <c:pt idx="2">
                  <c:v>10.3</c:v>
                </c:pt>
                <c:pt idx="3">
                  <c:v>10.6</c:v>
                </c:pt>
                <c:pt idx="4">
                  <c:v>10.1</c:v>
                </c:pt>
                <c:pt idx="5">
                  <c:v>10.5</c:v>
                </c:pt>
              </c:numCache>
            </c:numRef>
          </c:val>
          <c:extLst>
            <c:ext xmlns:c16="http://schemas.microsoft.com/office/drawing/2014/chart" uri="{C3380CC4-5D6E-409C-BE32-E72D297353CC}">
              <c16:uniqueId val="{00000000-2645-4285-9CC0-6A0550A27338}"/>
            </c:ext>
          </c:extLst>
        </c:ser>
        <c:ser>
          <c:idx val="1"/>
          <c:order val="1"/>
          <c:tx>
            <c:strRef>
              <c:f>Sheet1!$C$1</c:f>
              <c:strCache>
                <c:ptCount val="1"/>
                <c:pt idx="0">
                  <c:v>עם מוגבלות</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mn-lt"/>
                    <a:ea typeface="+mn-ea"/>
                    <a:cs typeface="+mn-cs"/>
                  </a:defRPr>
                </a:pPr>
                <a:endParaRPr lang="he-IL"/>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Sheet1!$A$2:$A$7</c:f>
              <c:numCache>
                <c:formatCode>General</c:formatCode>
                <c:ptCount val="6"/>
                <c:pt idx="0">
                  <c:v>2015</c:v>
                </c:pt>
                <c:pt idx="1">
                  <c:v>2016</c:v>
                </c:pt>
                <c:pt idx="2">
                  <c:v>2017</c:v>
                </c:pt>
                <c:pt idx="3">
                  <c:v>2018</c:v>
                </c:pt>
                <c:pt idx="4">
                  <c:v>2019</c:v>
                </c:pt>
                <c:pt idx="5">
                  <c:v>2020</c:v>
                </c:pt>
              </c:numCache>
            </c:numRef>
          </c:cat>
          <c:val>
            <c:numRef>
              <c:f>Sheet1!$C$2:$C$7</c:f>
              <c:numCache>
                <c:formatCode>0.0</c:formatCode>
                <c:ptCount val="6"/>
                <c:pt idx="0">
                  <c:v>11.9</c:v>
                </c:pt>
                <c:pt idx="1">
                  <c:v>11.5</c:v>
                </c:pt>
                <c:pt idx="2">
                  <c:v>12</c:v>
                </c:pt>
                <c:pt idx="3">
                  <c:v>11.8</c:v>
                </c:pt>
                <c:pt idx="4">
                  <c:v>12.1</c:v>
                </c:pt>
                <c:pt idx="5">
                  <c:v>11.6</c:v>
                </c:pt>
              </c:numCache>
            </c:numRef>
          </c:val>
          <c:extLst>
            <c:ext xmlns:c16="http://schemas.microsoft.com/office/drawing/2014/chart" uri="{C3380CC4-5D6E-409C-BE32-E72D297353CC}">
              <c16:uniqueId val="{00000001-2645-4285-9CC0-6A0550A27338}"/>
            </c:ext>
          </c:extLst>
        </c:ser>
        <c:ser>
          <c:idx val="2"/>
          <c:order val="2"/>
          <c:tx>
            <c:strRef>
              <c:f>Sheet1!$D$1</c:f>
              <c:strCache>
                <c:ptCount val="1"/>
                <c:pt idx="0">
                  <c:v>רגילה</c:v>
                </c:pt>
              </c:strCache>
            </c:strRef>
          </c:tx>
          <c:spPr>
            <a:solidFill>
              <a:schemeClr val="bg1">
                <a:alpha val="0"/>
              </a:schemeClr>
            </a:solidFill>
            <a:ln>
              <a:noFill/>
            </a:ln>
            <a:effectLst/>
          </c:spPr>
          <c:invertIfNegative val="0"/>
          <c:dLbls>
            <c:dLbl>
              <c:idx val="2"/>
              <c:tx>
                <c:rich>
                  <a:bodyPr/>
                  <a:lstStyle/>
                  <a:p>
                    <a:fld id="{A86F545A-6011-4F4F-9E22-188BD275D270}" type="VALUE">
                      <a:rPr lang="en-US" b="0"/>
                      <a:pPr/>
                      <a:t>[ערך]</a:t>
                    </a:fld>
                    <a:endParaRPr lang="he-IL"/>
                  </a:p>
                </c:rich>
              </c:tx>
              <c:dLblPos val="inBase"/>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2-2645-4285-9CC0-6A0550A27338}"/>
                </c:ext>
              </c:extLst>
            </c:dLbl>
            <c:spPr>
              <a:no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chemeClr val="tx1">
                        <a:lumMod val="75000"/>
                        <a:lumOff val="25000"/>
                      </a:schemeClr>
                    </a:solidFill>
                    <a:latin typeface="+mn-lt"/>
                    <a:ea typeface="+mn-ea"/>
                    <a:cs typeface="+mn-cs"/>
                  </a:defRPr>
                </a:pPr>
                <a:endParaRPr lang="he-IL"/>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Sheet1!$A$2:$A$7</c:f>
              <c:numCache>
                <c:formatCode>General</c:formatCode>
                <c:ptCount val="6"/>
                <c:pt idx="0">
                  <c:v>2015</c:v>
                </c:pt>
                <c:pt idx="1">
                  <c:v>2016</c:v>
                </c:pt>
                <c:pt idx="2">
                  <c:v>2017</c:v>
                </c:pt>
                <c:pt idx="3">
                  <c:v>2018</c:v>
                </c:pt>
                <c:pt idx="4">
                  <c:v>2019</c:v>
                </c:pt>
                <c:pt idx="5">
                  <c:v>2020</c:v>
                </c:pt>
              </c:numCache>
            </c:numRef>
          </c:cat>
          <c:val>
            <c:numRef>
              <c:f>Sheet1!$D$2:$D$7</c:f>
              <c:numCache>
                <c:formatCode>0.0</c:formatCode>
                <c:ptCount val="6"/>
                <c:pt idx="0">
                  <c:v>21.7</c:v>
                </c:pt>
                <c:pt idx="1">
                  <c:v>21.9</c:v>
                </c:pt>
                <c:pt idx="2">
                  <c:v>22.3</c:v>
                </c:pt>
                <c:pt idx="3">
                  <c:v>22.4</c:v>
                </c:pt>
                <c:pt idx="4">
                  <c:v>22.2</c:v>
                </c:pt>
                <c:pt idx="5">
                  <c:v>22.1</c:v>
                </c:pt>
              </c:numCache>
            </c:numRef>
          </c:val>
          <c:extLst>
            <c:ext xmlns:c16="http://schemas.microsoft.com/office/drawing/2014/chart" uri="{C3380CC4-5D6E-409C-BE32-E72D297353CC}">
              <c16:uniqueId val="{00000003-2645-4285-9CC0-6A0550A27338}"/>
            </c:ext>
          </c:extLst>
        </c:ser>
        <c:dLbls>
          <c:showLegendKey val="0"/>
          <c:showVal val="0"/>
          <c:showCatName val="0"/>
          <c:showSerName val="0"/>
          <c:showPercent val="0"/>
          <c:showBubbleSize val="0"/>
        </c:dLbls>
        <c:gapWidth val="50"/>
        <c:overlap val="100"/>
        <c:axId val="259720800"/>
        <c:axId val="259719488"/>
      </c:barChart>
      <c:catAx>
        <c:axId val="25972080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he-IL"/>
          </a:p>
        </c:txPr>
        <c:crossAx val="259719488"/>
        <c:crosses val="autoZero"/>
        <c:auto val="1"/>
        <c:lblAlgn val="ctr"/>
        <c:lblOffset val="100"/>
        <c:noMultiLvlLbl val="0"/>
      </c:catAx>
      <c:valAx>
        <c:axId val="259719488"/>
        <c:scaling>
          <c:orientation val="minMax"/>
          <c:max val="25"/>
          <c:min val="0"/>
        </c:scaling>
        <c:delete val="0"/>
        <c:axPos val="l"/>
        <c:title>
          <c:tx>
            <c:rich>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r>
                  <a:rPr lang="he-IL"/>
                  <a:t>שנות חיים</a:t>
                </a:r>
                <a:endParaRPr lang="en-US"/>
              </a:p>
            </c:rich>
          </c:tx>
          <c:overlay val="0"/>
          <c:spPr>
            <a:noFill/>
            <a:ln>
              <a:noFill/>
            </a:ln>
            <a:effectLst/>
          </c:spPr>
          <c:txPr>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endParaRPr lang="he-IL"/>
            </a:p>
          </c:txPr>
        </c:title>
        <c:numFmt formatCode="0" sourceLinked="0"/>
        <c:majorTickMark val="out"/>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he-IL"/>
          </a:p>
        </c:txPr>
        <c:crossAx val="259720800"/>
        <c:crosses val="autoZero"/>
        <c:crossBetween val="between"/>
        <c:majorUnit val="5"/>
      </c:valAx>
      <c:spPr>
        <a:noFill/>
        <a:ln>
          <a:noFill/>
        </a:ln>
        <a:effectLst/>
      </c:spPr>
    </c:plotArea>
    <c:legend>
      <c:legendPos val="b"/>
      <c:legendEntry>
        <c:idx val="2"/>
        <c:delete val="1"/>
      </c:legendEntry>
      <c:layout>
        <c:manualLayout>
          <c:xMode val="edge"/>
          <c:yMode val="edge"/>
          <c:x val="7.9295743620753645E-2"/>
          <c:y val="0.93026192177280231"/>
          <c:w val="0.80431584313754023"/>
          <c:h val="5.7752182539682541E-2"/>
        </c:manualLayout>
      </c:layout>
      <c:overlay val="0"/>
      <c:spPr>
        <a:noFill/>
        <a:ln>
          <a:noFill/>
        </a:ln>
        <a:effectLst/>
      </c:spPr>
      <c:txPr>
        <a:bodyPr rot="0" spcFirstLastPara="1" vertOverflow="ellipsis" vert="horz" wrap="square" anchor="ctr" anchorCtr="1"/>
        <a:lstStyle/>
        <a:p>
          <a:pPr rtl="1">
            <a:defRPr sz="1400" b="0" i="0" u="none" strike="noStrike" kern="1200" baseline="0">
              <a:solidFill>
                <a:schemeClr val="tx1">
                  <a:lumMod val="65000"/>
                  <a:lumOff val="35000"/>
                </a:schemeClr>
              </a:solidFill>
              <a:latin typeface="+mn-lt"/>
              <a:ea typeface="+mn-ea"/>
              <a:cs typeface="+mn-cs"/>
            </a:defRPr>
          </a:pPr>
          <a:endParaRPr lang="he-IL"/>
        </a:p>
      </c:txPr>
    </c:legend>
    <c:plotVisOnly val="1"/>
    <c:dispBlanksAs val="gap"/>
    <c:showDLblsOverMax val="0"/>
  </c:chart>
  <c:spPr>
    <a:noFill/>
    <a:ln>
      <a:noFill/>
    </a:ln>
    <a:effectLst/>
  </c:spPr>
  <c:txPr>
    <a:bodyPr/>
    <a:lstStyle/>
    <a:p>
      <a:pPr rtl="1">
        <a:defRPr/>
      </a:pPr>
      <a:endParaRPr lang="he-IL"/>
    </a:p>
  </c:txPr>
  <c:externalData r:id="rId3">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e-IL"/>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rtl="1">
              <a:defRPr sz="1862" b="0" i="0" u="none" strike="noStrike" kern="1200" spc="0" baseline="0">
                <a:solidFill>
                  <a:schemeClr val="tx1">
                    <a:lumMod val="65000"/>
                    <a:lumOff val="35000"/>
                  </a:schemeClr>
                </a:solidFill>
                <a:latin typeface="+mn-lt"/>
                <a:ea typeface="+mn-ea"/>
                <a:cs typeface="+mn-cs"/>
              </a:defRPr>
            </a:pPr>
            <a:r>
              <a:rPr lang="en-US" sz="1800" b="0" i="0" baseline="0" err="1">
                <a:solidFill>
                  <a:schemeClr val="tx1"/>
                </a:solidFill>
                <a:effectLst/>
              </a:rPr>
              <a:t>IADL</a:t>
            </a:r>
            <a:r>
              <a:rPr lang="he-IL" sz="1800" b="0" i="0" baseline="0">
                <a:solidFill>
                  <a:schemeClr val="tx1"/>
                </a:solidFill>
                <a:effectLst/>
              </a:rPr>
              <a:t> (1-9)</a:t>
            </a:r>
            <a:endParaRPr lang="en-US" sz="1800">
              <a:solidFill>
                <a:schemeClr val="tx1"/>
              </a:solidFill>
              <a:effectLst/>
            </a:endParaRPr>
          </a:p>
          <a:p>
            <a:pPr rtl="1">
              <a:defRPr/>
            </a:pPr>
            <a:r>
              <a:rPr lang="he-IL" sz="1400" b="0" i="0" baseline="0">
                <a:effectLst/>
              </a:rPr>
              <a:t>(</a:t>
            </a:r>
            <a:r>
              <a:rPr lang="en-US" sz="1400" b="0" i="0" baseline="0">
                <a:effectLst/>
              </a:rPr>
              <a:t>SHARE-2017</a:t>
            </a:r>
            <a:r>
              <a:rPr lang="he-IL" sz="1400" b="0" i="0" baseline="0">
                <a:effectLst/>
              </a:rPr>
              <a:t>)</a:t>
            </a:r>
            <a:endParaRPr lang="en-US" sz="1400">
              <a:effectLst/>
            </a:endParaRPr>
          </a:p>
        </c:rich>
      </c:tx>
      <c:overlay val="0"/>
      <c:spPr>
        <a:noFill/>
        <a:ln>
          <a:noFill/>
        </a:ln>
        <a:effectLst/>
      </c:spPr>
      <c:txPr>
        <a:bodyPr rot="0" spcFirstLastPara="1" vertOverflow="ellipsis" vert="horz" wrap="square" anchor="ctr" anchorCtr="1"/>
        <a:lstStyle/>
        <a:p>
          <a:pPr rtl="1">
            <a:defRPr sz="1862" b="0" i="0" u="none" strike="noStrike" kern="1200" spc="0" baseline="0">
              <a:solidFill>
                <a:schemeClr val="tx1">
                  <a:lumMod val="65000"/>
                  <a:lumOff val="35000"/>
                </a:schemeClr>
              </a:solidFill>
              <a:latin typeface="+mn-lt"/>
              <a:ea typeface="+mn-ea"/>
              <a:cs typeface="+mn-cs"/>
            </a:defRPr>
          </a:pPr>
          <a:endParaRPr lang="he-IL"/>
        </a:p>
      </c:txPr>
    </c:title>
    <c:autoTitleDeleted val="0"/>
    <c:plotArea>
      <c:layout>
        <c:manualLayout>
          <c:layoutTarget val="inner"/>
          <c:xMode val="edge"/>
          <c:yMode val="edge"/>
          <c:x val="5.3117540302592421E-2"/>
          <c:y val="5.4777076747281647E-2"/>
          <c:w val="0.95261902815759247"/>
          <c:h val="0.64998315617623992"/>
        </c:manualLayout>
      </c:layout>
      <c:barChart>
        <c:barDir val="col"/>
        <c:grouping val="clustered"/>
        <c:varyColors val="0"/>
        <c:ser>
          <c:idx val="0"/>
          <c:order val="0"/>
          <c:tx>
            <c:strRef>
              <c:f>Sheet1!$B$1</c:f>
              <c:strCache>
                <c:ptCount val="1"/>
                <c:pt idx="0">
                  <c:v>Series 1</c:v>
                </c:pt>
              </c:strCache>
            </c:strRef>
          </c:tx>
          <c:spPr>
            <a:solidFill>
              <a:srgbClr val="B1B3B6"/>
            </a:solidFill>
            <a:ln>
              <a:noFill/>
            </a:ln>
            <a:effectLst/>
          </c:spPr>
          <c:invertIfNegative val="0"/>
          <c:dPt>
            <c:idx val="10"/>
            <c:invertIfNegative val="0"/>
            <c:bubble3D val="0"/>
            <c:spPr>
              <a:solidFill>
                <a:srgbClr val="57595D"/>
              </a:solidFill>
              <a:ln>
                <a:noFill/>
              </a:ln>
              <a:effectLst/>
            </c:spPr>
            <c:extLst>
              <c:ext xmlns:c16="http://schemas.microsoft.com/office/drawing/2014/chart" uri="{C3380CC4-5D6E-409C-BE32-E72D297353CC}">
                <c16:uniqueId val="{00000006-22E9-4254-8ABB-686C5D9E8956}"/>
              </c:ext>
            </c:extLst>
          </c:dPt>
          <c:dPt>
            <c:idx val="12"/>
            <c:invertIfNegative val="0"/>
            <c:bubble3D val="0"/>
            <c:spPr>
              <a:solidFill>
                <a:srgbClr val="B1B3B6"/>
              </a:solidFill>
              <a:ln>
                <a:noFill/>
              </a:ln>
              <a:effectLst/>
            </c:spPr>
            <c:extLst>
              <c:ext xmlns:c16="http://schemas.microsoft.com/office/drawing/2014/chart" uri="{C3380CC4-5D6E-409C-BE32-E72D297353CC}">
                <c16:uniqueId val="{00000001-22E9-4254-8ABB-686C5D9E8956}"/>
              </c:ext>
            </c:extLst>
          </c:dPt>
          <c:dPt>
            <c:idx val="15"/>
            <c:invertIfNegative val="0"/>
            <c:bubble3D val="0"/>
            <c:spPr>
              <a:solidFill>
                <a:srgbClr val="B1B3B6"/>
              </a:solidFill>
              <a:ln>
                <a:noFill/>
              </a:ln>
              <a:effectLst/>
            </c:spPr>
            <c:extLst>
              <c:ext xmlns:c16="http://schemas.microsoft.com/office/drawing/2014/chart" uri="{C3380CC4-5D6E-409C-BE32-E72D297353CC}">
                <c16:uniqueId val="{00000003-22E9-4254-8ABB-686C5D9E8956}"/>
              </c:ext>
            </c:extLst>
          </c:dPt>
          <c:dPt>
            <c:idx val="22"/>
            <c:invertIfNegative val="0"/>
            <c:bubble3D val="0"/>
            <c:spPr>
              <a:solidFill>
                <a:srgbClr val="008DA8"/>
              </a:solidFill>
              <a:ln>
                <a:noFill/>
              </a:ln>
              <a:effectLst/>
            </c:spPr>
            <c:extLst>
              <c:ext xmlns:c16="http://schemas.microsoft.com/office/drawing/2014/chart" uri="{C3380CC4-5D6E-409C-BE32-E72D297353CC}">
                <c16:uniqueId val="{00000005-22E9-4254-8ABB-686C5D9E8956}"/>
              </c:ext>
            </c:extLst>
          </c:dPt>
          <c:dLbls>
            <c:dLbl>
              <c:idx val="22"/>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rgbClr val="FF0000"/>
                      </a:solidFill>
                      <a:latin typeface="+mn-lt"/>
                      <a:ea typeface="+mn-ea"/>
                      <a:cs typeface="+mn-cs"/>
                    </a:defRPr>
                  </a:pPr>
                  <a:endParaRPr lang="he-IL"/>
                </a:p>
              </c:txPr>
              <c:dLblPos val="outEnd"/>
              <c:showLegendKey val="0"/>
              <c:showVal val="1"/>
              <c:showCatName val="0"/>
              <c:showSerName val="0"/>
              <c:showPercent val="0"/>
              <c:showBubbleSize val="0"/>
              <c:extLst>
                <c:ext xmlns:c16="http://schemas.microsoft.com/office/drawing/2014/chart" uri="{C3380CC4-5D6E-409C-BE32-E72D297353CC}">
                  <c16:uniqueId val="{00000005-22E9-4254-8ABB-686C5D9E8956}"/>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solidFill>
                    <a:latin typeface="+mn-lt"/>
                    <a:ea typeface="+mn-ea"/>
                    <a:cs typeface="+mn-cs"/>
                  </a:defRPr>
                </a:pPr>
                <a:endParaRPr lang="he-IL"/>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Sheet1!$A$2:$A$24</c:f>
              <c:strCache>
                <c:ptCount val="23"/>
                <c:pt idx="0">
                  <c:v>שוויץ</c:v>
                </c:pt>
                <c:pt idx="1">
                  <c:v>שבדיה</c:v>
                </c:pt>
                <c:pt idx="2">
                  <c:v>פינלנד</c:v>
                </c:pt>
                <c:pt idx="3">
                  <c:v>גרמניה</c:v>
                </c:pt>
                <c:pt idx="4">
                  <c:v>דנמרק</c:v>
                </c:pt>
                <c:pt idx="5">
                  <c:v>לוקסנבורג</c:v>
                </c:pt>
                <c:pt idx="6">
                  <c:v>סלובקיה</c:v>
                </c:pt>
                <c:pt idx="7">
                  <c:v>איטליה</c:v>
                </c:pt>
                <c:pt idx="8">
                  <c:v>סלובניה</c:v>
                </c:pt>
                <c:pt idx="9">
                  <c:v>צרפת</c:v>
                </c:pt>
                <c:pt idx="10">
                  <c:v>ממוצע</c:v>
                </c:pt>
                <c:pt idx="11">
                  <c:v>פולין</c:v>
                </c:pt>
                <c:pt idx="12">
                  <c:v>צ'כיה</c:v>
                </c:pt>
                <c:pt idx="13">
                  <c:v>יוון</c:v>
                </c:pt>
                <c:pt idx="14">
                  <c:v>אוסטריה</c:v>
                </c:pt>
                <c:pt idx="15">
                  <c:v>לטביה</c:v>
                </c:pt>
                <c:pt idx="16">
                  <c:v>פורטוגל</c:v>
                </c:pt>
                <c:pt idx="17">
                  <c:v>בלגיה</c:v>
                </c:pt>
                <c:pt idx="18">
                  <c:v>ספרד</c:v>
                </c:pt>
                <c:pt idx="19">
                  <c:v>אסטוניה</c:v>
                </c:pt>
                <c:pt idx="20">
                  <c:v>ליטא</c:v>
                </c:pt>
                <c:pt idx="21">
                  <c:v>הונגריה</c:v>
                </c:pt>
                <c:pt idx="22">
                  <c:v>ישראל</c:v>
                </c:pt>
              </c:strCache>
            </c:strRef>
          </c:cat>
          <c:val>
            <c:numRef>
              <c:f>Sheet1!$B$2:$B$24</c:f>
              <c:numCache>
                <c:formatCode>0</c:formatCode>
                <c:ptCount val="23"/>
                <c:pt idx="0">
                  <c:v>12.689999999999998</c:v>
                </c:pt>
                <c:pt idx="1">
                  <c:v>15.039999999999992</c:v>
                </c:pt>
                <c:pt idx="2">
                  <c:v>16.849999999999994</c:v>
                </c:pt>
                <c:pt idx="3">
                  <c:v>18.560000000000002</c:v>
                </c:pt>
                <c:pt idx="4">
                  <c:v>18.600000000000009</c:v>
                </c:pt>
                <c:pt idx="5">
                  <c:v>19.02000000000001</c:v>
                </c:pt>
                <c:pt idx="6">
                  <c:v>22.099999999999994</c:v>
                </c:pt>
                <c:pt idx="7">
                  <c:v>22.929999999999993</c:v>
                </c:pt>
                <c:pt idx="8">
                  <c:v>22.950000000000003</c:v>
                </c:pt>
                <c:pt idx="9">
                  <c:v>23.090000000000003</c:v>
                </c:pt>
                <c:pt idx="10">
                  <c:v>25.409999999999997</c:v>
                </c:pt>
                <c:pt idx="11">
                  <c:v>26.25</c:v>
                </c:pt>
                <c:pt idx="12">
                  <c:v>26.819999999999993</c:v>
                </c:pt>
                <c:pt idx="13">
                  <c:v>27.349999999999994</c:v>
                </c:pt>
                <c:pt idx="14">
                  <c:v>27.86</c:v>
                </c:pt>
                <c:pt idx="15">
                  <c:v>28.28</c:v>
                </c:pt>
                <c:pt idx="16">
                  <c:v>28.849999999999994</c:v>
                </c:pt>
                <c:pt idx="17">
                  <c:v>29.83</c:v>
                </c:pt>
                <c:pt idx="18">
                  <c:v>30.239999999999995</c:v>
                </c:pt>
                <c:pt idx="19">
                  <c:v>31.58</c:v>
                </c:pt>
                <c:pt idx="20">
                  <c:v>31.64</c:v>
                </c:pt>
                <c:pt idx="21">
                  <c:v>31.689999999999998</c:v>
                </c:pt>
                <c:pt idx="22">
                  <c:v>32.769999999999996</c:v>
                </c:pt>
              </c:numCache>
            </c:numRef>
          </c:val>
          <c:extLst>
            <c:ext xmlns:c16="http://schemas.microsoft.com/office/drawing/2014/chart" uri="{C3380CC4-5D6E-409C-BE32-E72D297353CC}">
              <c16:uniqueId val="{00000004-22E9-4254-8ABB-686C5D9E8956}"/>
            </c:ext>
          </c:extLst>
        </c:ser>
        <c:dLbls>
          <c:dLblPos val="outEnd"/>
          <c:showLegendKey val="0"/>
          <c:showVal val="1"/>
          <c:showCatName val="0"/>
          <c:showSerName val="0"/>
          <c:showPercent val="0"/>
          <c:showBubbleSize val="0"/>
        </c:dLbls>
        <c:gapWidth val="50"/>
        <c:overlap val="-27"/>
        <c:axId val="518763400"/>
        <c:axId val="518763728"/>
      </c:barChart>
      <c:catAx>
        <c:axId val="51876340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he-IL"/>
          </a:p>
        </c:txPr>
        <c:crossAx val="518763728"/>
        <c:crosses val="autoZero"/>
        <c:auto val="1"/>
        <c:lblAlgn val="ctr"/>
        <c:lblOffset val="100"/>
        <c:noMultiLvlLbl val="0"/>
      </c:catAx>
      <c:valAx>
        <c:axId val="518763728"/>
        <c:scaling>
          <c:orientation val="minMax"/>
          <c:max val="100"/>
        </c:scaling>
        <c:delete val="0"/>
        <c:axPos val="l"/>
        <c:numFmt formatCode="0" sourceLinked="1"/>
        <c:majorTickMark val="out"/>
        <c:minorTickMark val="none"/>
        <c:tickLblPos val="nextTo"/>
        <c:spPr>
          <a:solidFill>
            <a:schemeClr val="bg1"/>
          </a:solidFill>
          <a:ln>
            <a:solidFill>
              <a:srgbClr val="B1B3B6"/>
            </a:solid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he-IL"/>
          </a:p>
        </c:txPr>
        <c:crossAx val="518763400"/>
        <c:crosses val="autoZero"/>
        <c:crossBetween val="between"/>
        <c:majorUnit val="100"/>
      </c:valAx>
      <c:spPr>
        <a:noFill/>
        <a:ln>
          <a:noFill/>
        </a:ln>
        <a:effectLst/>
      </c:spPr>
    </c:plotArea>
    <c:plotVisOnly val="1"/>
    <c:dispBlanksAs val="gap"/>
    <c:showDLblsOverMax val="0"/>
  </c:chart>
  <c:spPr>
    <a:noFill/>
    <a:ln>
      <a:noFill/>
    </a:ln>
    <a:effectLst/>
  </c:spPr>
  <c:txPr>
    <a:bodyPr/>
    <a:lstStyle/>
    <a:p>
      <a:pPr>
        <a:defRPr/>
      </a:pPr>
      <a:endParaRPr lang="he-IL"/>
    </a:p>
  </c:txPr>
  <c:externalData r:id="rId3">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e-IL"/>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he-IL" sz="2800" b="1" u="none" dirty="0">
                <a:solidFill>
                  <a:srgbClr val="002060"/>
                </a:solidFill>
                <a:latin typeface="Calibri" panose="020F0502020204030204" pitchFamily="34" charset="0"/>
                <a:cs typeface="Calibri" panose="020F0502020204030204" pitchFamily="34" charset="0"/>
              </a:rPr>
              <a:t>התמריץ לאזרח</a:t>
            </a:r>
          </a:p>
          <a:p>
            <a:pPr>
              <a:defRPr/>
            </a:pPr>
            <a:r>
              <a:rPr lang="he-IL" sz="2800" b="1" u="none" dirty="0">
                <a:solidFill>
                  <a:srgbClr val="002060"/>
                </a:solidFill>
                <a:latin typeface="Calibri" panose="020F0502020204030204" pitchFamily="34" charset="0"/>
                <a:cs typeface="Calibri" panose="020F0502020204030204" pitchFamily="34" charset="0"/>
              </a:rPr>
              <a:t> </a:t>
            </a:r>
            <a:r>
              <a:rPr lang="he-IL" sz="2000" b="1" dirty="0">
                <a:solidFill>
                  <a:schemeClr val="tx1"/>
                </a:solidFill>
                <a:latin typeface="Calibri" panose="020F0502020204030204" pitchFamily="34" charset="0"/>
                <a:cs typeface="Calibri" panose="020F0502020204030204" pitchFamily="34" charset="0"/>
              </a:rPr>
              <a:t>השתתפות עצמית חודשית לזקן על רצף השירותים</a:t>
            </a:r>
          </a:p>
        </c:rich>
      </c:tx>
      <c:layout>
        <c:manualLayout>
          <c:xMode val="edge"/>
          <c:yMode val="edge"/>
          <c:x val="0.26018165857593967"/>
          <c:y val="1.1984175226885444E-2"/>
        </c:manualLayout>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he-IL"/>
        </a:p>
      </c:txPr>
    </c:title>
    <c:autoTitleDeleted val="0"/>
    <c:plotArea>
      <c:layout>
        <c:manualLayout>
          <c:layoutTarget val="inner"/>
          <c:xMode val="edge"/>
          <c:yMode val="edge"/>
          <c:x val="6.5057559280670474E-2"/>
          <c:y val="9.2238359268902406E-2"/>
          <c:w val="0.92237499075658202"/>
          <c:h val="0.78634212933001069"/>
        </c:manualLayout>
      </c:layout>
      <c:barChart>
        <c:barDir val="col"/>
        <c:grouping val="clustered"/>
        <c:varyColors val="0"/>
        <c:ser>
          <c:idx val="0"/>
          <c:order val="0"/>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600" b="1" i="0" u="none" strike="noStrike" kern="1200" baseline="0">
                    <a:solidFill>
                      <a:schemeClr val="tx1">
                        <a:lumMod val="75000"/>
                        <a:lumOff val="25000"/>
                      </a:schemeClr>
                    </a:solidFill>
                    <a:latin typeface="Calibri" panose="020F0502020204030204" pitchFamily="34" charset="0"/>
                    <a:ea typeface="+mn-ea"/>
                    <a:cs typeface="Calibri" panose="020F0502020204030204" pitchFamily="34" charset="0"/>
                  </a:defRPr>
                </a:pPr>
                <a:endParaRPr lang="he-IL"/>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השתתפות!$B$3:$B$10</c:f>
              <c:strCache>
                <c:ptCount val="8"/>
                <c:pt idx="0">
                  <c:v>קהילה תומכת</c:v>
                </c:pt>
                <c:pt idx="1">
                  <c:v>מועדון חברתי</c:v>
                </c:pt>
                <c:pt idx="2">
                  <c:v>מועדון מועשר</c:v>
                </c:pt>
                <c:pt idx="3">
                  <c:v>מועדון מופת</c:v>
                </c:pt>
                <c:pt idx="4">
                  <c:v>מועדון מופת משודרג</c:v>
                </c:pt>
                <c:pt idx="5">
                  <c:v>מרכז יום רווחה</c:v>
                </c:pt>
                <c:pt idx="6">
                  <c:v>מרכז יום לזכאי סיעוד 1-3*</c:v>
                </c:pt>
                <c:pt idx="7">
                  <c:v>מרכזי יום לזכאי סיעוד 4-6*</c:v>
                </c:pt>
              </c:strCache>
            </c:strRef>
          </c:cat>
          <c:val>
            <c:numRef>
              <c:f>השתתפות!$C$3:$C$10</c:f>
              <c:numCache>
                <c:formatCode>General</c:formatCode>
                <c:ptCount val="8"/>
                <c:pt idx="0">
                  <c:v>25</c:v>
                </c:pt>
                <c:pt idx="1">
                  <c:v>30</c:v>
                </c:pt>
                <c:pt idx="2">
                  <c:v>35</c:v>
                </c:pt>
                <c:pt idx="3">
                  <c:v>46</c:v>
                </c:pt>
                <c:pt idx="4">
                  <c:v>75</c:v>
                </c:pt>
                <c:pt idx="5">
                  <c:v>100</c:v>
                </c:pt>
                <c:pt idx="6" formatCode="0">
                  <c:v>1818.8999999999999</c:v>
                </c:pt>
                <c:pt idx="7" formatCode="0">
                  <c:v>2425.1999999999998</c:v>
                </c:pt>
              </c:numCache>
            </c:numRef>
          </c:val>
          <c:extLst>
            <c:ext xmlns:c16="http://schemas.microsoft.com/office/drawing/2014/chart" uri="{C3380CC4-5D6E-409C-BE32-E72D297353CC}">
              <c16:uniqueId val="{00000000-5D22-4D0F-93DA-FBD6ACCFE540}"/>
            </c:ext>
          </c:extLst>
        </c:ser>
        <c:dLbls>
          <c:showLegendKey val="0"/>
          <c:showVal val="1"/>
          <c:showCatName val="0"/>
          <c:showSerName val="0"/>
          <c:showPercent val="0"/>
          <c:showBubbleSize val="0"/>
        </c:dLbls>
        <c:gapWidth val="150"/>
        <c:axId val="507253416"/>
        <c:axId val="507246200"/>
      </c:barChart>
      <c:catAx>
        <c:axId val="507253416"/>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700" b="1" i="0" u="none" strike="noStrike" kern="1200" baseline="0">
                <a:solidFill>
                  <a:schemeClr val="tx1">
                    <a:lumMod val="65000"/>
                    <a:lumOff val="35000"/>
                  </a:schemeClr>
                </a:solidFill>
                <a:latin typeface="Calibri" panose="020F0502020204030204" pitchFamily="34" charset="0"/>
                <a:ea typeface="+mn-ea"/>
                <a:cs typeface="Calibri" panose="020F0502020204030204" pitchFamily="34" charset="0"/>
              </a:defRPr>
            </a:pPr>
            <a:endParaRPr lang="he-IL"/>
          </a:p>
        </c:txPr>
        <c:crossAx val="507246200"/>
        <c:crosses val="autoZero"/>
        <c:auto val="1"/>
        <c:lblAlgn val="ctr"/>
        <c:lblOffset val="100"/>
        <c:noMultiLvlLbl val="0"/>
      </c:catAx>
      <c:valAx>
        <c:axId val="507246200"/>
        <c:scaling>
          <c:orientation val="minMax"/>
          <c:max val="2500"/>
        </c:scaling>
        <c:delete val="0"/>
        <c:axPos val="l"/>
        <c:numFmt formatCode="General" sourceLinked="0"/>
        <c:majorTickMark val="none"/>
        <c:minorTickMark val="none"/>
        <c:tickLblPos val="nextTo"/>
        <c:spPr>
          <a:noFill/>
          <a:ln>
            <a:solidFill>
              <a:schemeClr val="accent1"/>
            </a:solidFill>
          </a:ln>
          <a:effectLst/>
        </c:spPr>
        <c:txPr>
          <a:bodyPr rot="-60000000" spcFirstLastPara="1" vertOverflow="ellipsis" vert="horz" wrap="square" anchor="ctr" anchorCtr="1"/>
          <a:lstStyle/>
          <a:p>
            <a:pPr>
              <a:defRPr sz="1600" b="0" i="0" u="none" strike="noStrike" kern="1200" baseline="0">
                <a:solidFill>
                  <a:schemeClr val="tx1">
                    <a:lumMod val="65000"/>
                    <a:lumOff val="35000"/>
                  </a:schemeClr>
                </a:solidFill>
                <a:latin typeface="+mn-lt"/>
                <a:ea typeface="+mn-ea"/>
                <a:cs typeface="+mn-cs"/>
              </a:defRPr>
            </a:pPr>
            <a:endParaRPr lang="he-IL"/>
          </a:p>
        </c:txPr>
        <c:crossAx val="507253416"/>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he-IL"/>
    </a:p>
  </c:txPr>
  <c:externalData r:id="rId3">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e-IL"/>
  <c:roundedCorners val="0"/>
  <mc:AlternateContent xmlns:mc="http://schemas.openxmlformats.org/markup-compatibility/2006">
    <mc:Choice xmlns:c14="http://schemas.microsoft.com/office/drawing/2007/8/2/chart" Requires="c14">
      <c14:style val="107"/>
    </mc:Choice>
    <mc:Fallback>
      <c:style val="7"/>
    </mc:Fallback>
  </mc:AlternateContent>
  <c:chart>
    <c:title>
      <c:tx>
        <c:rich>
          <a:bodyPr rot="0" spcFirstLastPara="1" vertOverflow="ellipsis" vert="horz" wrap="square" anchor="ctr" anchorCtr="1"/>
          <a:lstStyle/>
          <a:p>
            <a:pPr>
              <a:defRPr sz="2128" b="1" i="0" u="none" strike="noStrike" kern="1200" baseline="0">
                <a:solidFill>
                  <a:schemeClr val="tx1">
                    <a:lumMod val="65000"/>
                    <a:lumOff val="35000"/>
                  </a:schemeClr>
                </a:solidFill>
                <a:latin typeface="+mn-lt"/>
                <a:ea typeface="+mn-ea"/>
                <a:cs typeface="+mn-cs"/>
              </a:defRPr>
            </a:pPr>
            <a:r>
              <a:rPr lang="en-US"/>
              <a:t>ROI</a:t>
            </a:r>
            <a:r>
              <a:rPr lang="he-IL"/>
              <a:t> חסכון לשנה בביטוח לאומי ובקופ"ח לפי רמות </a:t>
            </a:r>
          </a:p>
        </c:rich>
      </c:tx>
      <c:overlay val="0"/>
      <c:spPr>
        <a:noFill/>
        <a:ln>
          <a:noFill/>
        </a:ln>
        <a:effectLst/>
      </c:spPr>
      <c:txPr>
        <a:bodyPr rot="0" spcFirstLastPara="1" vertOverflow="ellipsis" vert="horz" wrap="square" anchor="ctr" anchorCtr="1"/>
        <a:lstStyle/>
        <a:p>
          <a:pPr>
            <a:defRPr sz="2128" b="1" i="0" u="none" strike="noStrike" kern="1200" baseline="0">
              <a:solidFill>
                <a:schemeClr val="tx1">
                  <a:lumMod val="65000"/>
                  <a:lumOff val="35000"/>
                </a:schemeClr>
              </a:solidFill>
              <a:latin typeface="+mn-lt"/>
              <a:ea typeface="+mn-ea"/>
              <a:cs typeface="+mn-cs"/>
            </a:defRPr>
          </a:pPr>
          <a:endParaRPr lang="he-IL"/>
        </a:p>
      </c:txPr>
    </c:title>
    <c:autoTitleDeleted val="0"/>
    <c:plotArea>
      <c:layout/>
      <c:barChart>
        <c:barDir val="col"/>
        <c:grouping val="clustered"/>
        <c:varyColors val="0"/>
        <c:ser>
          <c:idx val="0"/>
          <c:order val="0"/>
          <c:tx>
            <c:strRef>
              <c:f>גיליון1!$M$20</c:f>
              <c:strCache>
                <c:ptCount val="1"/>
                <c:pt idx="0">
                  <c:v>סה"כ חסכון לשנה</c:v>
                </c:pt>
              </c:strCache>
            </c:strRef>
          </c:tx>
          <c:spPr>
            <a:gradFill rotWithShape="1">
              <a:gsLst>
                <a:gs pos="0">
                  <a:schemeClr val="accent5">
                    <a:satMod val="103000"/>
                    <a:lumMod val="102000"/>
                    <a:tint val="94000"/>
                  </a:schemeClr>
                </a:gs>
                <a:gs pos="50000">
                  <a:schemeClr val="accent5">
                    <a:satMod val="110000"/>
                    <a:lumMod val="100000"/>
                    <a:shade val="100000"/>
                  </a:schemeClr>
                </a:gs>
                <a:gs pos="100000">
                  <a:schemeClr val="accent5">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200" b="1" i="0" u="none" strike="noStrike" kern="1200" baseline="0">
                    <a:solidFill>
                      <a:schemeClr val="tx1">
                        <a:lumMod val="75000"/>
                        <a:lumOff val="25000"/>
                      </a:schemeClr>
                    </a:solidFill>
                    <a:latin typeface="+mn-lt"/>
                    <a:ea typeface="+mn-ea"/>
                    <a:cs typeface="+mn-cs"/>
                  </a:defRPr>
                </a:pPr>
                <a:endParaRPr lang="he-IL"/>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גיליון1!$G$21:$G$26</c:f>
              <c:numCache>
                <c:formatCode>General</c:formatCode>
                <c:ptCount val="6"/>
                <c:pt idx="0">
                  <c:v>0</c:v>
                </c:pt>
                <c:pt idx="1">
                  <c:v>1</c:v>
                </c:pt>
                <c:pt idx="2">
                  <c:v>2</c:v>
                </c:pt>
                <c:pt idx="3">
                  <c:v>3</c:v>
                </c:pt>
                <c:pt idx="4">
                  <c:v>4</c:v>
                </c:pt>
                <c:pt idx="5">
                  <c:v>5</c:v>
                </c:pt>
              </c:numCache>
            </c:numRef>
          </c:cat>
          <c:val>
            <c:numRef>
              <c:f>גיליון1!$M$21:$M$26</c:f>
              <c:numCache>
                <c:formatCode>_ "₪"\ * #,##0_ ;_ "₪"\ * \-#,##0_ ;_ "₪"\ * "-"??_ ;_ @_ </c:formatCode>
                <c:ptCount val="6"/>
                <c:pt idx="0">
                  <c:v>23896.999</c:v>
                </c:pt>
                <c:pt idx="1">
                  <c:v>20548.999</c:v>
                </c:pt>
                <c:pt idx="2">
                  <c:v>23840.668000000001</c:v>
                </c:pt>
                <c:pt idx="3">
                  <c:v>15899.812999999998</c:v>
                </c:pt>
                <c:pt idx="4">
                  <c:v>20263.084999999999</c:v>
                </c:pt>
                <c:pt idx="5">
                  <c:v>14109.836000000003</c:v>
                </c:pt>
              </c:numCache>
            </c:numRef>
          </c:val>
          <c:extLst>
            <c:ext xmlns:c16="http://schemas.microsoft.com/office/drawing/2014/chart" uri="{C3380CC4-5D6E-409C-BE32-E72D297353CC}">
              <c16:uniqueId val="{00000000-2131-4845-902C-CEA812AE68F9}"/>
            </c:ext>
          </c:extLst>
        </c:ser>
        <c:dLbls>
          <c:dLblPos val="outEnd"/>
          <c:showLegendKey val="0"/>
          <c:showVal val="1"/>
          <c:showCatName val="0"/>
          <c:showSerName val="0"/>
          <c:showPercent val="0"/>
          <c:showBubbleSize val="0"/>
        </c:dLbls>
        <c:gapWidth val="100"/>
        <c:overlap val="-24"/>
        <c:axId val="423681296"/>
        <c:axId val="423681624"/>
      </c:barChart>
      <c:catAx>
        <c:axId val="423681296"/>
        <c:scaling>
          <c:orientation val="minMax"/>
        </c:scaling>
        <c:delete val="0"/>
        <c:axPos val="b"/>
        <c:numFmt formatCode="General" sourceLinked="1"/>
        <c:majorTickMark val="none"/>
        <c:minorTickMark val="none"/>
        <c:tickLblPos val="nextTo"/>
        <c:spPr>
          <a:noFill/>
          <a:ln w="12700"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he-IL"/>
          </a:p>
        </c:txPr>
        <c:crossAx val="423681624"/>
        <c:crosses val="autoZero"/>
        <c:auto val="1"/>
        <c:lblAlgn val="ctr"/>
        <c:lblOffset val="100"/>
        <c:noMultiLvlLbl val="0"/>
      </c:catAx>
      <c:valAx>
        <c:axId val="423681624"/>
        <c:scaling>
          <c:orientation val="minMax"/>
        </c:scaling>
        <c:delete val="0"/>
        <c:axPos val="l"/>
        <c:numFmt formatCode="_ &quot;₪&quot;\ * #,##0_ ;_ &quot;₪&quot;\ * \-#,##0_ ;_ &quot;₪&quot;\ * &quot;-&quot;??_ ;_ @_ "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he-IL"/>
          </a:p>
        </c:txPr>
        <c:crossAx val="423681296"/>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he-IL"/>
    </a:p>
  </c:txPr>
  <c:externalData r:id="rId3">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e-IL"/>
  <c:roundedCorners val="0"/>
  <mc:AlternateContent xmlns:mc="http://schemas.openxmlformats.org/markup-compatibility/2006">
    <mc:Choice xmlns:c14="http://schemas.microsoft.com/office/drawing/2007/8/2/chart" Requires="c14">
      <c14:style val="107"/>
    </mc:Choice>
    <mc:Fallback>
      <c:style val="7"/>
    </mc:Fallback>
  </mc:AlternateContent>
  <c:chart>
    <c:autoTitleDeleted val="1"/>
    <c:plotArea>
      <c:layout/>
      <c:barChart>
        <c:barDir val="col"/>
        <c:grouping val="clustered"/>
        <c:varyColors val="0"/>
        <c:ser>
          <c:idx val="0"/>
          <c:order val="0"/>
          <c:spPr>
            <a:solidFill>
              <a:schemeClr val="accent5"/>
            </a:solidFill>
            <a:ln>
              <a:noFill/>
            </a:ln>
            <a:effectLst/>
          </c:spPr>
          <c:invertIfNegative val="0"/>
          <c:dLbls>
            <c:dLbl>
              <c:idx val="1"/>
              <c:spPr>
                <a:noFill/>
                <a:ln>
                  <a:noFill/>
                </a:ln>
                <a:effectLst/>
              </c:spPr>
              <c:txPr>
                <a:bodyPr rot="0" spcFirstLastPara="1" vertOverflow="ellipsis" vert="horz" wrap="square" lIns="38100" tIns="19050" rIns="38100" bIns="19050" anchor="ctr" anchorCtr="1">
                  <a:spAutoFit/>
                </a:bodyPr>
                <a:lstStyle/>
                <a:p>
                  <a:pPr>
                    <a:defRPr sz="1800" b="1" i="0" u="none" strike="noStrike" kern="1200" baseline="0">
                      <a:solidFill>
                        <a:srgbClr val="FF0000"/>
                      </a:solidFill>
                      <a:latin typeface="+mn-lt"/>
                      <a:ea typeface="+mn-ea"/>
                      <a:cs typeface="+mn-cs"/>
                    </a:defRPr>
                  </a:pPr>
                  <a:endParaRPr lang="he-IL"/>
                </a:p>
              </c:txPr>
              <c:dLblPos val="outEnd"/>
              <c:showLegendKey val="0"/>
              <c:showVal val="1"/>
              <c:showCatName val="0"/>
              <c:showSerName val="0"/>
              <c:showPercent val="0"/>
              <c:showBubbleSize val="0"/>
              <c:extLst>
                <c:ext xmlns:c16="http://schemas.microsoft.com/office/drawing/2014/chart" uri="{C3380CC4-5D6E-409C-BE32-E72D297353CC}">
                  <c16:uniqueId val="{00000001-DCAE-42C9-828E-61ABEE58EB87}"/>
                </c:ext>
              </c:extLst>
            </c:dLbl>
            <c:dLbl>
              <c:idx val="2"/>
              <c:spPr>
                <a:noFill/>
                <a:ln>
                  <a:noFill/>
                </a:ln>
                <a:effectLst/>
              </c:spPr>
              <c:txPr>
                <a:bodyPr rot="0" spcFirstLastPara="1" vertOverflow="ellipsis" vert="horz" wrap="square" lIns="38100" tIns="19050" rIns="38100" bIns="19050" anchor="ctr" anchorCtr="1">
                  <a:spAutoFit/>
                </a:bodyPr>
                <a:lstStyle/>
                <a:p>
                  <a:pPr>
                    <a:defRPr sz="1800" b="1" i="0" u="none" strike="noStrike" kern="1200" baseline="0">
                      <a:solidFill>
                        <a:srgbClr val="FF0000"/>
                      </a:solidFill>
                      <a:latin typeface="+mn-lt"/>
                      <a:ea typeface="+mn-ea"/>
                      <a:cs typeface="+mn-cs"/>
                    </a:defRPr>
                  </a:pPr>
                  <a:endParaRPr lang="he-IL"/>
                </a:p>
              </c:txPr>
              <c:dLblPos val="outEnd"/>
              <c:showLegendKey val="0"/>
              <c:showVal val="1"/>
              <c:showCatName val="0"/>
              <c:showSerName val="0"/>
              <c:showPercent val="0"/>
              <c:showBubbleSize val="0"/>
              <c:extLst>
                <c:ext xmlns:c16="http://schemas.microsoft.com/office/drawing/2014/chart" uri="{C3380CC4-5D6E-409C-BE32-E72D297353CC}">
                  <c16:uniqueId val="{00000002-DCAE-42C9-828E-61ABEE58EB87}"/>
                </c:ext>
              </c:extLst>
            </c:dLbl>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chemeClr val="tx1">
                        <a:lumMod val="75000"/>
                        <a:lumOff val="25000"/>
                      </a:schemeClr>
                    </a:solidFill>
                    <a:latin typeface="+mn-lt"/>
                    <a:ea typeface="+mn-ea"/>
                    <a:cs typeface="+mn-cs"/>
                  </a:defRPr>
                </a:pPr>
                <a:endParaRPr lang="he-IL"/>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גיליון3!$F$25:$F$28</c:f>
              <c:strCache>
                <c:ptCount val="4"/>
                <c:pt idx="0">
                  <c:v>מטפלת</c:v>
                </c:pt>
                <c:pt idx="1">
                  <c:v>בני משפחה מטפלים בשכר</c:v>
                </c:pt>
                <c:pt idx="2">
                  <c:v>גמלה בכסף</c:v>
                </c:pt>
                <c:pt idx="3">
                  <c:v>מרכז יום</c:v>
                </c:pt>
              </c:strCache>
            </c:strRef>
          </c:cat>
          <c:val>
            <c:numRef>
              <c:f>גיליון3!$I$25:$I$28</c:f>
              <c:numCache>
                <c:formatCode>0%</c:formatCode>
                <c:ptCount val="4"/>
                <c:pt idx="0">
                  <c:v>0.3529411764705882</c:v>
                </c:pt>
                <c:pt idx="1">
                  <c:v>0.41176470588235292</c:v>
                </c:pt>
                <c:pt idx="2">
                  <c:v>0.21764705882352942</c:v>
                </c:pt>
                <c:pt idx="3">
                  <c:v>1.6470588235294119E-2</c:v>
                </c:pt>
              </c:numCache>
            </c:numRef>
          </c:val>
          <c:extLst>
            <c:ext xmlns:c16="http://schemas.microsoft.com/office/drawing/2014/chart" uri="{C3380CC4-5D6E-409C-BE32-E72D297353CC}">
              <c16:uniqueId val="{00000000-DCAE-42C9-828E-61ABEE58EB87}"/>
            </c:ext>
          </c:extLst>
        </c:ser>
        <c:dLbls>
          <c:showLegendKey val="0"/>
          <c:showVal val="0"/>
          <c:showCatName val="0"/>
          <c:showSerName val="0"/>
          <c:showPercent val="0"/>
          <c:showBubbleSize val="0"/>
        </c:dLbls>
        <c:gapWidth val="219"/>
        <c:overlap val="-27"/>
        <c:axId val="363183592"/>
        <c:axId val="363183920"/>
      </c:barChart>
      <c:catAx>
        <c:axId val="36318359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600" b="1" i="0" u="none" strike="noStrike" kern="1200" baseline="0">
                <a:solidFill>
                  <a:schemeClr val="tx1">
                    <a:lumMod val="65000"/>
                    <a:lumOff val="35000"/>
                  </a:schemeClr>
                </a:solidFill>
                <a:latin typeface="+mn-lt"/>
                <a:ea typeface="+mn-ea"/>
                <a:cs typeface="+mn-cs"/>
              </a:defRPr>
            </a:pPr>
            <a:endParaRPr lang="he-IL"/>
          </a:p>
        </c:txPr>
        <c:crossAx val="363183920"/>
        <c:crosses val="autoZero"/>
        <c:auto val="1"/>
        <c:lblAlgn val="ctr"/>
        <c:lblOffset val="100"/>
        <c:noMultiLvlLbl val="0"/>
      </c:catAx>
      <c:valAx>
        <c:axId val="363183920"/>
        <c:scaling>
          <c:orientation val="minMax"/>
        </c:scaling>
        <c:delete val="0"/>
        <c:axPos val="l"/>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he-IL"/>
          </a:p>
        </c:txPr>
        <c:crossAx val="363183592"/>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he-IL"/>
    </a:p>
  </c:txPr>
  <c:externalData r:id="rId3">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e-IL"/>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rtl="1">
              <a:defRPr sz="1862" b="0" i="0" u="none" strike="noStrike" kern="1200" spc="0" baseline="0">
                <a:solidFill>
                  <a:schemeClr val="tx1">
                    <a:lumMod val="65000"/>
                    <a:lumOff val="35000"/>
                  </a:schemeClr>
                </a:solidFill>
                <a:latin typeface="+mn-lt"/>
                <a:ea typeface="+mn-ea"/>
                <a:cs typeface="+mn-cs"/>
              </a:defRPr>
            </a:pPr>
            <a:r>
              <a:rPr lang="en-US" sz="1800" b="0" i="0" baseline="0" dirty="0">
                <a:solidFill>
                  <a:schemeClr val="tx1"/>
                </a:solidFill>
                <a:effectLst/>
              </a:rPr>
              <a:t>ADL</a:t>
            </a:r>
            <a:r>
              <a:rPr lang="he-IL" sz="1800" b="0" i="0" baseline="0" dirty="0">
                <a:solidFill>
                  <a:schemeClr val="tx1"/>
                </a:solidFill>
                <a:effectLst/>
              </a:rPr>
              <a:t> (1-6)</a:t>
            </a:r>
            <a:endParaRPr lang="en-US" sz="1800" dirty="0">
              <a:solidFill>
                <a:schemeClr val="tx1"/>
              </a:solidFill>
              <a:effectLst/>
            </a:endParaRPr>
          </a:p>
          <a:p>
            <a:pPr rtl="1">
              <a:defRPr/>
            </a:pPr>
            <a:r>
              <a:rPr lang="he-IL" sz="1400" b="0" i="0" baseline="0" dirty="0">
                <a:effectLst/>
              </a:rPr>
              <a:t>(</a:t>
            </a:r>
            <a:r>
              <a:rPr lang="en-US" sz="1400" b="0" i="0" baseline="0" dirty="0">
                <a:effectLst/>
              </a:rPr>
              <a:t>SHARE-2017</a:t>
            </a:r>
            <a:r>
              <a:rPr lang="he-IL" sz="1400" b="0" i="0" baseline="0" dirty="0">
                <a:effectLst/>
              </a:rPr>
              <a:t>)</a:t>
            </a:r>
            <a:endParaRPr lang="en-US" sz="1400" dirty="0">
              <a:effectLst/>
            </a:endParaRPr>
          </a:p>
        </c:rich>
      </c:tx>
      <c:overlay val="0"/>
      <c:spPr>
        <a:noFill/>
        <a:ln>
          <a:noFill/>
        </a:ln>
        <a:effectLst/>
      </c:spPr>
      <c:txPr>
        <a:bodyPr rot="0" spcFirstLastPara="1" vertOverflow="ellipsis" vert="horz" wrap="square" anchor="ctr" anchorCtr="1"/>
        <a:lstStyle/>
        <a:p>
          <a:pPr rtl="1">
            <a:defRPr sz="1862" b="0" i="0" u="none" strike="noStrike" kern="1200" spc="0" baseline="0">
              <a:solidFill>
                <a:schemeClr val="tx1">
                  <a:lumMod val="65000"/>
                  <a:lumOff val="35000"/>
                </a:schemeClr>
              </a:solidFill>
              <a:latin typeface="+mn-lt"/>
              <a:ea typeface="+mn-ea"/>
              <a:cs typeface="+mn-cs"/>
            </a:defRPr>
          </a:pPr>
          <a:endParaRPr lang="he-IL"/>
        </a:p>
      </c:txPr>
    </c:title>
    <c:autoTitleDeleted val="0"/>
    <c:plotArea>
      <c:layout>
        <c:manualLayout>
          <c:layoutTarget val="inner"/>
          <c:xMode val="edge"/>
          <c:yMode val="edge"/>
          <c:x val="2.3690485921203781E-2"/>
          <c:y val="4.6448073693969687E-2"/>
          <c:w val="0.95261902815759247"/>
          <c:h val="0.64998315617623992"/>
        </c:manualLayout>
      </c:layout>
      <c:barChart>
        <c:barDir val="col"/>
        <c:grouping val="clustered"/>
        <c:varyColors val="0"/>
        <c:ser>
          <c:idx val="0"/>
          <c:order val="0"/>
          <c:tx>
            <c:strRef>
              <c:f>Sheet1!$B$1</c:f>
              <c:strCache>
                <c:ptCount val="1"/>
                <c:pt idx="0">
                  <c:v>Series 1</c:v>
                </c:pt>
              </c:strCache>
            </c:strRef>
          </c:tx>
          <c:spPr>
            <a:solidFill>
              <a:srgbClr val="B1B3B6"/>
            </a:solidFill>
            <a:ln>
              <a:noFill/>
            </a:ln>
            <a:effectLst/>
          </c:spPr>
          <c:invertIfNegative val="0"/>
          <c:dPt>
            <c:idx val="12"/>
            <c:invertIfNegative val="0"/>
            <c:bubble3D val="0"/>
            <c:spPr>
              <a:solidFill>
                <a:srgbClr val="57595D"/>
              </a:solidFill>
              <a:ln>
                <a:noFill/>
              </a:ln>
              <a:effectLst/>
            </c:spPr>
            <c:extLst>
              <c:ext xmlns:c16="http://schemas.microsoft.com/office/drawing/2014/chart" uri="{C3380CC4-5D6E-409C-BE32-E72D297353CC}">
                <c16:uniqueId val="{00000004-02AD-4B05-9EA2-828745E790FD}"/>
              </c:ext>
            </c:extLst>
          </c:dPt>
          <c:dPt>
            <c:idx val="15"/>
            <c:invertIfNegative val="0"/>
            <c:bubble3D val="0"/>
            <c:spPr>
              <a:solidFill>
                <a:srgbClr val="008DA8"/>
              </a:solidFill>
              <a:ln>
                <a:noFill/>
              </a:ln>
              <a:effectLst/>
            </c:spPr>
            <c:extLst>
              <c:ext xmlns:c16="http://schemas.microsoft.com/office/drawing/2014/chart" uri="{C3380CC4-5D6E-409C-BE32-E72D297353CC}">
                <c16:uniqueId val="{00000003-02AD-4B05-9EA2-828745E790FD}"/>
              </c:ext>
            </c:extLst>
          </c:dPt>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solidFill>
                    <a:latin typeface="+mn-lt"/>
                    <a:ea typeface="+mn-ea"/>
                    <a:cs typeface="+mn-cs"/>
                  </a:defRPr>
                </a:pPr>
                <a:endParaRPr lang="he-IL"/>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Sheet1!$A$2:$A$24</c:f>
              <c:strCache>
                <c:ptCount val="23"/>
                <c:pt idx="0">
                  <c:v>שוויץ</c:v>
                </c:pt>
                <c:pt idx="1">
                  <c:v>יוון</c:v>
                </c:pt>
                <c:pt idx="2">
                  <c:v>סלובקיה</c:v>
                </c:pt>
                <c:pt idx="3">
                  <c:v>שבדיה</c:v>
                </c:pt>
                <c:pt idx="4">
                  <c:v>דנמרק</c:v>
                </c:pt>
                <c:pt idx="5">
                  <c:v>לוקסנבורג</c:v>
                </c:pt>
                <c:pt idx="6">
                  <c:v>פינלנד</c:v>
                </c:pt>
                <c:pt idx="7">
                  <c:v>איטליה</c:v>
                </c:pt>
                <c:pt idx="8">
                  <c:v>סלובניה</c:v>
                </c:pt>
                <c:pt idx="9">
                  <c:v>הונגריה</c:v>
                </c:pt>
                <c:pt idx="10">
                  <c:v>אוסטריה</c:v>
                </c:pt>
                <c:pt idx="11">
                  <c:v>גרמניה</c:v>
                </c:pt>
                <c:pt idx="12">
                  <c:v>ממוצע </c:v>
                </c:pt>
                <c:pt idx="13">
                  <c:v>צרפת</c:v>
                </c:pt>
                <c:pt idx="14">
                  <c:v>לטביה</c:v>
                </c:pt>
                <c:pt idx="15">
                  <c:v>ישראל</c:v>
                </c:pt>
                <c:pt idx="16">
                  <c:v>צ'כיה</c:v>
                </c:pt>
                <c:pt idx="17">
                  <c:v>ספרד</c:v>
                </c:pt>
                <c:pt idx="18">
                  <c:v>פולין</c:v>
                </c:pt>
                <c:pt idx="19">
                  <c:v>בלגיה</c:v>
                </c:pt>
                <c:pt idx="20">
                  <c:v>אסטוניה</c:v>
                </c:pt>
                <c:pt idx="21">
                  <c:v>ליטא</c:v>
                </c:pt>
                <c:pt idx="22">
                  <c:v>פורטוגל</c:v>
                </c:pt>
              </c:strCache>
            </c:strRef>
          </c:cat>
          <c:val>
            <c:numRef>
              <c:f>Sheet1!$B$2:$B$24</c:f>
              <c:numCache>
                <c:formatCode>0</c:formatCode>
                <c:ptCount val="23"/>
                <c:pt idx="0">
                  <c:v>7.84</c:v>
                </c:pt>
                <c:pt idx="1">
                  <c:v>8.76</c:v>
                </c:pt>
                <c:pt idx="2">
                  <c:v>8.7799999999999994</c:v>
                </c:pt>
                <c:pt idx="3">
                  <c:v>10.83</c:v>
                </c:pt>
                <c:pt idx="4">
                  <c:v>10.979999999999999</c:v>
                </c:pt>
                <c:pt idx="5">
                  <c:v>11.200000000000001</c:v>
                </c:pt>
                <c:pt idx="6">
                  <c:v>11.89</c:v>
                </c:pt>
                <c:pt idx="7">
                  <c:v>13.8</c:v>
                </c:pt>
                <c:pt idx="8">
                  <c:v>14.08</c:v>
                </c:pt>
                <c:pt idx="9">
                  <c:v>14.17</c:v>
                </c:pt>
                <c:pt idx="10">
                  <c:v>14.89</c:v>
                </c:pt>
                <c:pt idx="11">
                  <c:v>15.459999999999999</c:v>
                </c:pt>
                <c:pt idx="12">
                  <c:v>15.879999999999999</c:v>
                </c:pt>
                <c:pt idx="13">
                  <c:v>16.580000000000002</c:v>
                </c:pt>
                <c:pt idx="14">
                  <c:v>16.68</c:v>
                </c:pt>
                <c:pt idx="15">
                  <c:v>16.989999999999998</c:v>
                </c:pt>
                <c:pt idx="16">
                  <c:v>17.64</c:v>
                </c:pt>
                <c:pt idx="17">
                  <c:v>18.260000000000002</c:v>
                </c:pt>
                <c:pt idx="18">
                  <c:v>19.149999999999999</c:v>
                </c:pt>
                <c:pt idx="19">
                  <c:v>19.66</c:v>
                </c:pt>
                <c:pt idx="20">
                  <c:v>19.989999999999998</c:v>
                </c:pt>
                <c:pt idx="21">
                  <c:v>22.82</c:v>
                </c:pt>
                <c:pt idx="22">
                  <c:v>27.639999999999997</c:v>
                </c:pt>
              </c:numCache>
            </c:numRef>
          </c:val>
          <c:extLst>
            <c:ext xmlns:c16="http://schemas.microsoft.com/office/drawing/2014/chart" uri="{C3380CC4-5D6E-409C-BE32-E72D297353CC}">
              <c16:uniqueId val="{00000000-02AD-4B05-9EA2-828745E790FD}"/>
            </c:ext>
          </c:extLst>
        </c:ser>
        <c:dLbls>
          <c:dLblPos val="outEnd"/>
          <c:showLegendKey val="0"/>
          <c:showVal val="1"/>
          <c:showCatName val="0"/>
          <c:showSerName val="0"/>
          <c:showPercent val="0"/>
          <c:showBubbleSize val="0"/>
        </c:dLbls>
        <c:gapWidth val="50"/>
        <c:overlap val="-27"/>
        <c:axId val="518763400"/>
        <c:axId val="518763728"/>
      </c:barChart>
      <c:catAx>
        <c:axId val="51876340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he-IL"/>
          </a:p>
        </c:txPr>
        <c:crossAx val="518763728"/>
        <c:crosses val="autoZero"/>
        <c:auto val="1"/>
        <c:lblAlgn val="ctr"/>
        <c:lblOffset val="100"/>
        <c:noMultiLvlLbl val="0"/>
      </c:catAx>
      <c:valAx>
        <c:axId val="518763728"/>
        <c:scaling>
          <c:orientation val="minMax"/>
          <c:max val="100"/>
        </c:scaling>
        <c:delete val="0"/>
        <c:axPos val="l"/>
        <c:numFmt formatCode="0" sourceLinked="1"/>
        <c:majorTickMark val="out"/>
        <c:minorTickMark val="none"/>
        <c:tickLblPos val="nextTo"/>
        <c:spPr>
          <a:solidFill>
            <a:schemeClr val="bg1"/>
          </a:solidFill>
          <a:ln>
            <a:solidFill>
              <a:srgbClr val="B1B3B6"/>
            </a:solid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he-IL"/>
          </a:p>
        </c:txPr>
        <c:crossAx val="518763400"/>
        <c:crosses val="autoZero"/>
        <c:crossBetween val="between"/>
        <c:majorUnit val="100"/>
      </c:valAx>
      <c:spPr>
        <a:noFill/>
        <a:ln>
          <a:noFill/>
        </a:ln>
        <a:effectLst/>
      </c:spPr>
    </c:plotArea>
    <c:plotVisOnly val="1"/>
    <c:dispBlanksAs val="gap"/>
    <c:showDLblsOverMax val="0"/>
  </c:chart>
  <c:spPr>
    <a:noFill/>
    <a:ln>
      <a:noFill/>
    </a:ln>
    <a:effectLst/>
  </c:spPr>
  <c:txPr>
    <a:bodyPr/>
    <a:lstStyle/>
    <a:p>
      <a:pPr>
        <a:defRPr/>
      </a:pPr>
      <a:endParaRPr lang="he-IL"/>
    </a:p>
  </c:txPr>
  <c:externalData r:id="rId3">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e-IL"/>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rtl="1">
              <a:defRPr sz="1862" b="0" i="0" u="none" strike="noStrike" kern="1200" spc="0" baseline="0">
                <a:solidFill>
                  <a:schemeClr val="tx1">
                    <a:lumMod val="65000"/>
                    <a:lumOff val="35000"/>
                  </a:schemeClr>
                </a:solidFill>
                <a:latin typeface="+mn-lt"/>
                <a:ea typeface="+mn-ea"/>
                <a:cs typeface="+mn-cs"/>
              </a:defRPr>
            </a:pPr>
            <a:r>
              <a:rPr lang="en-US" sz="1800" b="0" i="0" baseline="0" err="1">
                <a:solidFill>
                  <a:schemeClr val="tx1"/>
                </a:solidFill>
                <a:effectLst/>
              </a:rPr>
              <a:t>IADL</a:t>
            </a:r>
            <a:r>
              <a:rPr lang="he-IL" sz="1800" b="0" i="0" baseline="0">
                <a:solidFill>
                  <a:schemeClr val="tx1"/>
                </a:solidFill>
                <a:effectLst/>
              </a:rPr>
              <a:t> (1-9)</a:t>
            </a:r>
            <a:endParaRPr lang="en-US" sz="1800">
              <a:solidFill>
                <a:schemeClr val="tx1"/>
              </a:solidFill>
              <a:effectLst/>
            </a:endParaRPr>
          </a:p>
          <a:p>
            <a:pPr rtl="1">
              <a:defRPr/>
            </a:pPr>
            <a:r>
              <a:rPr lang="he-IL" sz="1400" b="0" i="0" baseline="0">
                <a:effectLst/>
              </a:rPr>
              <a:t>(</a:t>
            </a:r>
            <a:r>
              <a:rPr lang="en-US" sz="1400" b="0" i="0" baseline="0">
                <a:effectLst/>
              </a:rPr>
              <a:t>SHARE-2017</a:t>
            </a:r>
            <a:r>
              <a:rPr lang="he-IL" sz="1400" b="0" i="0" baseline="0">
                <a:effectLst/>
              </a:rPr>
              <a:t>)</a:t>
            </a:r>
            <a:endParaRPr lang="en-US" sz="1400">
              <a:effectLst/>
            </a:endParaRPr>
          </a:p>
        </c:rich>
      </c:tx>
      <c:overlay val="0"/>
      <c:spPr>
        <a:noFill/>
        <a:ln>
          <a:noFill/>
        </a:ln>
        <a:effectLst/>
      </c:spPr>
      <c:txPr>
        <a:bodyPr rot="0" spcFirstLastPara="1" vertOverflow="ellipsis" vert="horz" wrap="square" anchor="ctr" anchorCtr="1"/>
        <a:lstStyle/>
        <a:p>
          <a:pPr rtl="1">
            <a:defRPr sz="1862" b="0" i="0" u="none" strike="noStrike" kern="1200" spc="0" baseline="0">
              <a:solidFill>
                <a:schemeClr val="tx1">
                  <a:lumMod val="65000"/>
                  <a:lumOff val="35000"/>
                </a:schemeClr>
              </a:solidFill>
              <a:latin typeface="+mn-lt"/>
              <a:ea typeface="+mn-ea"/>
              <a:cs typeface="+mn-cs"/>
            </a:defRPr>
          </a:pPr>
          <a:endParaRPr lang="he-IL"/>
        </a:p>
      </c:txPr>
    </c:title>
    <c:autoTitleDeleted val="0"/>
    <c:plotArea>
      <c:layout>
        <c:manualLayout>
          <c:layoutTarget val="inner"/>
          <c:xMode val="edge"/>
          <c:yMode val="edge"/>
          <c:x val="5.3117540302592421E-2"/>
          <c:y val="5.4777076747281647E-2"/>
          <c:w val="0.95261902815759247"/>
          <c:h val="0.64998315617623992"/>
        </c:manualLayout>
      </c:layout>
      <c:barChart>
        <c:barDir val="col"/>
        <c:grouping val="clustered"/>
        <c:varyColors val="0"/>
        <c:ser>
          <c:idx val="0"/>
          <c:order val="0"/>
          <c:tx>
            <c:strRef>
              <c:f>Sheet1!$B$1</c:f>
              <c:strCache>
                <c:ptCount val="1"/>
                <c:pt idx="0">
                  <c:v>Series 1</c:v>
                </c:pt>
              </c:strCache>
            </c:strRef>
          </c:tx>
          <c:spPr>
            <a:solidFill>
              <a:srgbClr val="B1B3B6"/>
            </a:solidFill>
            <a:ln>
              <a:noFill/>
            </a:ln>
            <a:effectLst/>
          </c:spPr>
          <c:invertIfNegative val="0"/>
          <c:dPt>
            <c:idx val="10"/>
            <c:invertIfNegative val="0"/>
            <c:bubble3D val="0"/>
            <c:spPr>
              <a:solidFill>
                <a:srgbClr val="57595D"/>
              </a:solidFill>
              <a:ln>
                <a:noFill/>
              </a:ln>
              <a:effectLst/>
            </c:spPr>
            <c:extLst>
              <c:ext xmlns:c16="http://schemas.microsoft.com/office/drawing/2014/chart" uri="{C3380CC4-5D6E-409C-BE32-E72D297353CC}">
                <c16:uniqueId val="{00000006-22E9-4254-8ABB-686C5D9E8956}"/>
              </c:ext>
            </c:extLst>
          </c:dPt>
          <c:dPt>
            <c:idx val="12"/>
            <c:invertIfNegative val="0"/>
            <c:bubble3D val="0"/>
            <c:spPr>
              <a:solidFill>
                <a:srgbClr val="B1B3B6"/>
              </a:solidFill>
              <a:ln>
                <a:noFill/>
              </a:ln>
              <a:effectLst/>
            </c:spPr>
            <c:extLst>
              <c:ext xmlns:c16="http://schemas.microsoft.com/office/drawing/2014/chart" uri="{C3380CC4-5D6E-409C-BE32-E72D297353CC}">
                <c16:uniqueId val="{00000001-22E9-4254-8ABB-686C5D9E8956}"/>
              </c:ext>
            </c:extLst>
          </c:dPt>
          <c:dPt>
            <c:idx val="15"/>
            <c:invertIfNegative val="0"/>
            <c:bubble3D val="0"/>
            <c:spPr>
              <a:solidFill>
                <a:srgbClr val="B1B3B6"/>
              </a:solidFill>
              <a:ln>
                <a:noFill/>
              </a:ln>
              <a:effectLst/>
            </c:spPr>
            <c:extLst>
              <c:ext xmlns:c16="http://schemas.microsoft.com/office/drawing/2014/chart" uri="{C3380CC4-5D6E-409C-BE32-E72D297353CC}">
                <c16:uniqueId val="{00000003-22E9-4254-8ABB-686C5D9E8956}"/>
              </c:ext>
            </c:extLst>
          </c:dPt>
          <c:dPt>
            <c:idx val="22"/>
            <c:invertIfNegative val="0"/>
            <c:bubble3D val="0"/>
            <c:spPr>
              <a:solidFill>
                <a:srgbClr val="008DA8"/>
              </a:solidFill>
              <a:ln>
                <a:noFill/>
              </a:ln>
              <a:effectLst/>
            </c:spPr>
            <c:extLst>
              <c:ext xmlns:c16="http://schemas.microsoft.com/office/drawing/2014/chart" uri="{C3380CC4-5D6E-409C-BE32-E72D297353CC}">
                <c16:uniqueId val="{00000005-22E9-4254-8ABB-686C5D9E8956}"/>
              </c:ext>
            </c:extLst>
          </c:dPt>
          <c:dLbls>
            <c:dLbl>
              <c:idx val="22"/>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rgbClr val="FF0000"/>
                      </a:solidFill>
                      <a:latin typeface="+mn-lt"/>
                      <a:ea typeface="+mn-ea"/>
                      <a:cs typeface="+mn-cs"/>
                    </a:defRPr>
                  </a:pPr>
                  <a:endParaRPr lang="he-IL"/>
                </a:p>
              </c:txPr>
              <c:dLblPos val="outEnd"/>
              <c:showLegendKey val="0"/>
              <c:showVal val="1"/>
              <c:showCatName val="0"/>
              <c:showSerName val="0"/>
              <c:showPercent val="0"/>
              <c:showBubbleSize val="0"/>
              <c:extLst>
                <c:ext xmlns:c16="http://schemas.microsoft.com/office/drawing/2014/chart" uri="{C3380CC4-5D6E-409C-BE32-E72D297353CC}">
                  <c16:uniqueId val="{00000005-22E9-4254-8ABB-686C5D9E8956}"/>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solidFill>
                    <a:latin typeface="+mn-lt"/>
                    <a:ea typeface="+mn-ea"/>
                    <a:cs typeface="+mn-cs"/>
                  </a:defRPr>
                </a:pPr>
                <a:endParaRPr lang="he-IL"/>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Sheet1!$A$2:$A$24</c:f>
              <c:strCache>
                <c:ptCount val="23"/>
                <c:pt idx="0">
                  <c:v>שוויץ</c:v>
                </c:pt>
                <c:pt idx="1">
                  <c:v>שבדיה</c:v>
                </c:pt>
                <c:pt idx="2">
                  <c:v>פינלנד</c:v>
                </c:pt>
                <c:pt idx="3">
                  <c:v>גרמניה</c:v>
                </c:pt>
                <c:pt idx="4">
                  <c:v>דנמרק</c:v>
                </c:pt>
                <c:pt idx="5">
                  <c:v>לוקסנבורג</c:v>
                </c:pt>
                <c:pt idx="6">
                  <c:v>סלובקיה</c:v>
                </c:pt>
                <c:pt idx="7">
                  <c:v>איטליה</c:v>
                </c:pt>
                <c:pt idx="8">
                  <c:v>סלובניה</c:v>
                </c:pt>
                <c:pt idx="9">
                  <c:v>צרפת</c:v>
                </c:pt>
                <c:pt idx="10">
                  <c:v>ממוצע</c:v>
                </c:pt>
                <c:pt idx="11">
                  <c:v>פולין</c:v>
                </c:pt>
                <c:pt idx="12">
                  <c:v>צ'כיה</c:v>
                </c:pt>
                <c:pt idx="13">
                  <c:v>יוון</c:v>
                </c:pt>
                <c:pt idx="14">
                  <c:v>אוסטריה</c:v>
                </c:pt>
                <c:pt idx="15">
                  <c:v>לטביה</c:v>
                </c:pt>
                <c:pt idx="16">
                  <c:v>פורטוגל</c:v>
                </c:pt>
                <c:pt idx="17">
                  <c:v>בלגיה</c:v>
                </c:pt>
                <c:pt idx="18">
                  <c:v>ספרד</c:v>
                </c:pt>
                <c:pt idx="19">
                  <c:v>אסטוניה</c:v>
                </c:pt>
                <c:pt idx="20">
                  <c:v>ליטא</c:v>
                </c:pt>
                <c:pt idx="21">
                  <c:v>הונגריה</c:v>
                </c:pt>
                <c:pt idx="22">
                  <c:v>ישראל</c:v>
                </c:pt>
              </c:strCache>
            </c:strRef>
          </c:cat>
          <c:val>
            <c:numRef>
              <c:f>Sheet1!$B$2:$B$24</c:f>
              <c:numCache>
                <c:formatCode>0</c:formatCode>
                <c:ptCount val="23"/>
                <c:pt idx="0">
                  <c:v>12.689999999999998</c:v>
                </c:pt>
                <c:pt idx="1">
                  <c:v>15.039999999999992</c:v>
                </c:pt>
                <c:pt idx="2">
                  <c:v>16.849999999999994</c:v>
                </c:pt>
                <c:pt idx="3">
                  <c:v>18.560000000000002</c:v>
                </c:pt>
                <c:pt idx="4">
                  <c:v>18.600000000000009</c:v>
                </c:pt>
                <c:pt idx="5">
                  <c:v>19.02000000000001</c:v>
                </c:pt>
                <c:pt idx="6">
                  <c:v>22.099999999999994</c:v>
                </c:pt>
                <c:pt idx="7">
                  <c:v>22.929999999999993</c:v>
                </c:pt>
                <c:pt idx="8">
                  <c:v>22.950000000000003</c:v>
                </c:pt>
                <c:pt idx="9">
                  <c:v>23.090000000000003</c:v>
                </c:pt>
                <c:pt idx="10">
                  <c:v>25.409999999999997</c:v>
                </c:pt>
                <c:pt idx="11">
                  <c:v>26.25</c:v>
                </c:pt>
                <c:pt idx="12">
                  <c:v>26.819999999999993</c:v>
                </c:pt>
                <c:pt idx="13">
                  <c:v>27.349999999999994</c:v>
                </c:pt>
                <c:pt idx="14">
                  <c:v>27.86</c:v>
                </c:pt>
                <c:pt idx="15">
                  <c:v>28.28</c:v>
                </c:pt>
                <c:pt idx="16">
                  <c:v>28.849999999999994</c:v>
                </c:pt>
                <c:pt idx="17">
                  <c:v>29.83</c:v>
                </c:pt>
                <c:pt idx="18">
                  <c:v>30.239999999999995</c:v>
                </c:pt>
                <c:pt idx="19">
                  <c:v>31.58</c:v>
                </c:pt>
                <c:pt idx="20">
                  <c:v>31.64</c:v>
                </c:pt>
                <c:pt idx="21">
                  <c:v>31.689999999999998</c:v>
                </c:pt>
                <c:pt idx="22">
                  <c:v>32.769999999999996</c:v>
                </c:pt>
              </c:numCache>
            </c:numRef>
          </c:val>
          <c:extLst>
            <c:ext xmlns:c16="http://schemas.microsoft.com/office/drawing/2014/chart" uri="{C3380CC4-5D6E-409C-BE32-E72D297353CC}">
              <c16:uniqueId val="{00000004-22E9-4254-8ABB-686C5D9E8956}"/>
            </c:ext>
          </c:extLst>
        </c:ser>
        <c:dLbls>
          <c:dLblPos val="outEnd"/>
          <c:showLegendKey val="0"/>
          <c:showVal val="1"/>
          <c:showCatName val="0"/>
          <c:showSerName val="0"/>
          <c:showPercent val="0"/>
          <c:showBubbleSize val="0"/>
        </c:dLbls>
        <c:gapWidth val="50"/>
        <c:overlap val="-27"/>
        <c:axId val="518763400"/>
        <c:axId val="518763728"/>
      </c:barChart>
      <c:catAx>
        <c:axId val="51876340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he-IL"/>
          </a:p>
        </c:txPr>
        <c:crossAx val="518763728"/>
        <c:crosses val="autoZero"/>
        <c:auto val="1"/>
        <c:lblAlgn val="ctr"/>
        <c:lblOffset val="100"/>
        <c:noMultiLvlLbl val="0"/>
      </c:catAx>
      <c:valAx>
        <c:axId val="518763728"/>
        <c:scaling>
          <c:orientation val="minMax"/>
          <c:max val="100"/>
        </c:scaling>
        <c:delete val="0"/>
        <c:axPos val="l"/>
        <c:numFmt formatCode="0" sourceLinked="1"/>
        <c:majorTickMark val="out"/>
        <c:minorTickMark val="none"/>
        <c:tickLblPos val="nextTo"/>
        <c:spPr>
          <a:solidFill>
            <a:schemeClr val="bg1"/>
          </a:solidFill>
          <a:ln>
            <a:solidFill>
              <a:srgbClr val="B1B3B6"/>
            </a:solid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he-IL"/>
          </a:p>
        </c:txPr>
        <c:crossAx val="518763400"/>
        <c:crosses val="autoZero"/>
        <c:crossBetween val="between"/>
        <c:majorUnit val="100"/>
      </c:valAx>
      <c:spPr>
        <a:noFill/>
        <a:ln>
          <a:noFill/>
        </a:ln>
        <a:effectLst/>
      </c:spPr>
    </c:plotArea>
    <c:plotVisOnly val="1"/>
    <c:dispBlanksAs val="gap"/>
    <c:showDLblsOverMax val="0"/>
  </c:chart>
  <c:spPr>
    <a:noFill/>
    <a:ln>
      <a:noFill/>
    </a:ln>
    <a:effectLst/>
  </c:spPr>
  <c:txPr>
    <a:bodyPr/>
    <a:lstStyle/>
    <a:p>
      <a:pPr>
        <a:defRPr/>
      </a:pPr>
      <a:endParaRPr lang="he-IL"/>
    </a:p>
  </c:txPr>
  <c:externalData r:id="rId3">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e-IL"/>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800" b="1" i="0" u="none" strike="noStrike" kern="1200" baseline="0">
                <a:solidFill>
                  <a:schemeClr val="dk1">
                    <a:lumMod val="75000"/>
                    <a:lumOff val="25000"/>
                  </a:schemeClr>
                </a:solidFill>
                <a:latin typeface="Calibri Light" panose="020F0302020204030204" pitchFamily="34" charset="0"/>
                <a:ea typeface="+mn-ea"/>
                <a:cs typeface="Calibri Light" panose="020F0302020204030204" pitchFamily="34" charset="0"/>
              </a:defRPr>
            </a:pPr>
            <a:r>
              <a:rPr lang="he-IL" sz="2800" b="1" dirty="0">
                <a:latin typeface="Calibri Light" panose="020F0302020204030204" pitchFamily="34" charset="0"/>
                <a:cs typeface="Calibri Light" panose="020F0302020204030204" pitchFamily="34" charset="0"/>
              </a:rPr>
              <a:t>תרומת התכנית</a:t>
            </a:r>
            <a:endParaRPr lang="en-US" sz="2800" b="1" dirty="0">
              <a:latin typeface="Calibri Light" panose="020F0302020204030204" pitchFamily="34" charset="0"/>
              <a:cs typeface="Calibri Light" panose="020F0302020204030204" pitchFamily="34" charset="0"/>
            </a:endParaRPr>
          </a:p>
        </c:rich>
      </c:tx>
      <c:overlay val="0"/>
      <c:spPr>
        <a:noFill/>
        <a:ln>
          <a:noFill/>
        </a:ln>
        <a:effectLst/>
      </c:spPr>
      <c:txPr>
        <a:bodyPr rot="0" spcFirstLastPara="1" vertOverflow="ellipsis" vert="horz" wrap="square" anchor="ctr" anchorCtr="1"/>
        <a:lstStyle/>
        <a:p>
          <a:pPr>
            <a:defRPr sz="2800" b="1" i="0" u="none" strike="noStrike" kern="1200" baseline="0">
              <a:solidFill>
                <a:schemeClr val="dk1">
                  <a:lumMod val="75000"/>
                  <a:lumOff val="25000"/>
                </a:schemeClr>
              </a:solidFill>
              <a:latin typeface="Calibri Light" panose="020F0302020204030204" pitchFamily="34" charset="0"/>
              <a:ea typeface="+mn-ea"/>
              <a:cs typeface="Calibri Light" panose="020F0302020204030204" pitchFamily="34" charset="0"/>
            </a:defRPr>
          </a:pPr>
          <a:endParaRPr lang="he-IL"/>
        </a:p>
      </c:txPr>
    </c:title>
    <c:autoTitleDeleted val="0"/>
    <c:plotArea>
      <c:layout/>
      <c:barChart>
        <c:barDir val="bar"/>
        <c:grouping val="clustered"/>
        <c:varyColors val="0"/>
        <c:ser>
          <c:idx val="0"/>
          <c:order val="0"/>
          <c:tx>
            <c:strRef>
              <c:f>Sheet1!$B$1</c:f>
              <c:strCache>
                <c:ptCount val="1"/>
                <c:pt idx="0">
                  <c:v>סל גמיש</c:v>
                </c:pt>
              </c:strCache>
            </c:strRef>
          </c:tx>
          <c:spPr>
            <a:solidFill>
              <a:schemeClr val="accent1">
                <a:alpha val="85000"/>
              </a:schemeClr>
            </a:solidFill>
            <a:ln w="9525" cap="flat" cmpd="sng" algn="ctr">
              <a:solidFill>
                <a:schemeClr val="lt1">
                  <a:alpha val="50000"/>
                </a:schemeClr>
              </a:solidFill>
              <a:round/>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600" b="1" i="0" u="none" strike="noStrike" kern="1200" baseline="0">
                    <a:solidFill>
                      <a:schemeClr val="lt1"/>
                    </a:solidFill>
                    <a:latin typeface="+mn-lt"/>
                    <a:ea typeface="+mn-ea"/>
                    <a:cs typeface="+mn-cs"/>
                  </a:defRPr>
                </a:pPr>
                <a:endParaRPr lang="he-IL"/>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dk1">
                          <a:lumMod val="50000"/>
                          <a:lumOff val="50000"/>
                        </a:schemeClr>
                      </a:solidFill>
                    </a:ln>
                    <a:effectLst/>
                  </c:spPr>
                </c15:leaderLines>
              </c:ext>
            </c:extLst>
          </c:dLbls>
          <c:cat>
            <c:strRef>
              <c:f>Sheet1!$A$2:$A$4</c:f>
              <c:strCache>
                <c:ptCount val="3"/>
                <c:pt idx="0">
                  <c:v>הגברת הבטחון</c:v>
                </c:pt>
                <c:pt idx="1">
                  <c:v>ניהול חיים עצמאיים</c:v>
                </c:pt>
                <c:pt idx="2">
                  <c:v>הקלה על בני משפחה </c:v>
                </c:pt>
              </c:strCache>
            </c:strRef>
          </c:cat>
          <c:val>
            <c:numRef>
              <c:f>Sheet1!$B$2:$B$4</c:f>
              <c:numCache>
                <c:formatCode>General</c:formatCode>
                <c:ptCount val="3"/>
                <c:pt idx="0">
                  <c:v>71</c:v>
                </c:pt>
                <c:pt idx="1">
                  <c:v>46</c:v>
                </c:pt>
                <c:pt idx="2">
                  <c:v>35</c:v>
                </c:pt>
              </c:numCache>
            </c:numRef>
          </c:val>
          <c:extLst>
            <c:ext xmlns:c16="http://schemas.microsoft.com/office/drawing/2014/chart" uri="{C3380CC4-5D6E-409C-BE32-E72D297353CC}">
              <c16:uniqueId val="{00000000-EE9E-412E-AA32-2CEF2FE272BE}"/>
            </c:ext>
          </c:extLst>
        </c:ser>
        <c:ser>
          <c:idx val="1"/>
          <c:order val="1"/>
          <c:tx>
            <c:strRef>
              <c:f>Sheet1!$C$1</c:f>
              <c:strCache>
                <c:ptCount val="1"/>
                <c:pt idx="0">
                  <c:v>חוק סיעוד</c:v>
                </c:pt>
              </c:strCache>
            </c:strRef>
          </c:tx>
          <c:spPr>
            <a:solidFill>
              <a:schemeClr val="accent2">
                <a:alpha val="85000"/>
              </a:schemeClr>
            </a:solidFill>
            <a:ln w="9525" cap="flat" cmpd="sng" algn="ctr">
              <a:solidFill>
                <a:schemeClr val="lt1">
                  <a:alpha val="50000"/>
                </a:schemeClr>
              </a:solidFill>
              <a:round/>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600" b="1" i="0" u="none" strike="noStrike" kern="1200" baseline="0">
                    <a:solidFill>
                      <a:schemeClr val="lt1"/>
                    </a:solidFill>
                    <a:latin typeface="+mn-lt"/>
                    <a:ea typeface="+mn-ea"/>
                    <a:cs typeface="+mn-cs"/>
                  </a:defRPr>
                </a:pPr>
                <a:endParaRPr lang="he-IL"/>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dk1">
                          <a:lumMod val="50000"/>
                          <a:lumOff val="50000"/>
                        </a:schemeClr>
                      </a:solidFill>
                    </a:ln>
                    <a:effectLst/>
                  </c:spPr>
                </c15:leaderLines>
              </c:ext>
            </c:extLst>
          </c:dLbls>
          <c:cat>
            <c:strRef>
              <c:f>Sheet1!$A$2:$A$4</c:f>
              <c:strCache>
                <c:ptCount val="3"/>
                <c:pt idx="0">
                  <c:v>הגברת הבטחון</c:v>
                </c:pt>
                <c:pt idx="1">
                  <c:v>ניהול חיים עצמאיים</c:v>
                </c:pt>
                <c:pt idx="2">
                  <c:v>הקלה על בני משפחה </c:v>
                </c:pt>
              </c:strCache>
            </c:strRef>
          </c:cat>
          <c:val>
            <c:numRef>
              <c:f>Sheet1!$C$2:$C$4</c:f>
              <c:numCache>
                <c:formatCode>General</c:formatCode>
                <c:ptCount val="3"/>
                <c:pt idx="0">
                  <c:v>84.2</c:v>
                </c:pt>
                <c:pt idx="1">
                  <c:v>58.6</c:v>
                </c:pt>
                <c:pt idx="2">
                  <c:v>66.8</c:v>
                </c:pt>
              </c:numCache>
            </c:numRef>
          </c:val>
          <c:extLst>
            <c:ext xmlns:c16="http://schemas.microsoft.com/office/drawing/2014/chart" uri="{C3380CC4-5D6E-409C-BE32-E72D297353CC}">
              <c16:uniqueId val="{00000001-EE9E-412E-AA32-2CEF2FE272BE}"/>
            </c:ext>
          </c:extLst>
        </c:ser>
        <c:dLbls>
          <c:dLblPos val="inEnd"/>
          <c:showLegendKey val="0"/>
          <c:showVal val="1"/>
          <c:showCatName val="0"/>
          <c:showSerName val="0"/>
          <c:showPercent val="0"/>
          <c:showBubbleSize val="0"/>
        </c:dLbls>
        <c:gapWidth val="65"/>
        <c:axId val="740025664"/>
        <c:axId val="740026320"/>
      </c:barChart>
      <c:catAx>
        <c:axId val="740025664"/>
        <c:scaling>
          <c:orientation val="minMax"/>
        </c:scaling>
        <c:delete val="0"/>
        <c:axPos val="l"/>
        <c:numFmt formatCode="General" sourceLinked="1"/>
        <c:majorTickMark val="none"/>
        <c:minorTickMark val="none"/>
        <c:tickLblPos val="nextTo"/>
        <c:spPr>
          <a:noFill/>
          <a:ln w="19050" cap="flat" cmpd="sng" algn="ctr">
            <a:solidFill>
              <a:schemeClr val="dk1">
                <a:lumMod val="75000"/>
                <a:lumOff val="25000"/>
              </a:schemeClr>
            </a:solidFill>
            <a:round/>
          </a:ln>
          <a:effectLst/>
        </c:spPr>
        <c:txPr>
          <a:bodyPr rot="-60000000" spcFirstLastPara="1" vertOverflow="ellipsis" vert="horz" wrap="square" anchor="ctr" anchorCtr="1"/>
          <a:lstStyle/>
          <a:p>
            <a:pPr>
              <a:defRPr sz="2400" b="1" i="0" u="none" strike="noStrike" kern="1200" cap="all" baseline="0">
                <a:solidFill>
                  <a:schemeClr val="dk1">
                    <a:lumMod val="75000"/>
                    <a:lumOff val="25000"/>
                  </a:schemeClr>
                </a:solidFill>
                <a:latin typeface="Calibri Light" panose="020F0302020204030204" pitchFamily="34" charset="0"/>
                <a:ea typeface="+mn-ea"/>
                <a:cs typeface="Calibri Light" panose="020F0302020204030204" pitchFamily="34" charset="0"/>
              </a:defRPr>
            </a:pPr>
            <a:endParaRPr lang="he-IL"/>
          </a:p>
        </c:txPr>
        <c:crossAx val="740026320"/>
        <c:crosses val="autoZero"/>
        <c:auto val="1"/>
        <c:lblAlgn val="ctr"/>
        <c:lblOffset val="100"/>
        <c:noMultiLvlLbl val="0"/>
      </c:catAx>
      <c:valAx>
        <c:axId val="740026320"/>
        <c:scaling>
          <c:orientation val="minMax"/>
        </c:scaling>
        <c:delete val="0"/>
        <c:axPos val="b"/>
        <c:majorGridlines>
          <c:spPr>
            <a:ln w="9525" cap="flat" cmpd="sng" algn="ctr">
              <a:gradFill>
                <a:gsLst>
                  <a:gs pos="100000">
                    <a:schemeClr val="dk1">
                      <a:lumMod val="95000"/>
                      <a:lumOff val="5000"/>
                      <a:alpha val="42000"/>
                    </a:schemeClr>
                  </a:gs>
                  <a:gs pos="0">
                    <a:schemeClr val="lt1">
                      <a:lumMod val="75000"/>
                      <a:alpha val="36000"/>
                    </a:schemeClr>
                  </a:gs>
                </a:gsLst>
                <a:lin ang="5400000" scaled="0"/>
              </a:gra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dk1">
                    <a:lumMod val="75000"/>
                    <a:lumOff val="25000"/>
                  </a:schemeClr>
                </a:solidFill>
                <a:latin typeface="+mn-lt"/>
                <a:ea typeface="+mn-ea"/>
                <a:cs typeface="+mn-cs"/>
              </a:defRPr>
            </a:pPr>
            <a:endParaRPr lang="he-IL"/>
          </a:p>
        </c:txPr>
        <c:crossAx val="740025664"/>
        <c:crosses val="autoZero"/>
        <c:crossBetween val="between"/>
      </c:valAx>
      <c:spPr>
        <a:noFill/>
        <a:ln>
          <a:noFill/>
        </a:ln>
        <a:effectLst/>
      </c:spPr>
    </c:plotArea>
    <c:legend>
      <c:legendPos val="b"/>
      <c:legendEntry>
        <c:idx val="0"/>
        <c:txPr>
          <a:bodyPr rot="0" spcFirstLastPara="1" vertOverflow="ellipsis" vert="horz" wrap="square" anchor="ctr" anchorCtr="1"/>
          <a:lstStyle/>
          <a:p>
            <a:pPr>
              <a:defRPr sz="1800" b="1" i="0" u="none" strike="noStrike" kern="1200" baseline="0">
                <a:solidFill>
                  <a:schemeClr val="dk1">
                    <a:lumMod val="75000"/>
                    <a:lumOff val="25000"/>
                  </a:schemeClr>
                </a:solidFill>
                <a:latin typeface="Calibri Light" panose="020F0302020204030204" pitchFamily="34" charset="0"/>
                <a:ea typeface="+mn-ea"/>
                <a:cs typeface="Calibri Light" panose="020F0302020204030204" pitchFamily="34" charset="0"/>
              </a:defRPr>
            </a:pPr>
            <a:endParaRPr lang="he-IL"/>
          </a:p>
        </c:txPr>
      </c:legendEntry>
      <c:legendEntry>
        <c:idx val="1"/>
        <c:txPr>
          <a:bodyPr rot="0" spcFirstLastPara="1" vertOverflow="ellipsis" vert="horz" wrap="square" anchor="ctr" anchorCtr="1"/>
          <a:lstStyle/>
          <a:p>
            <a:pPr>
              <a:defRPr sz="1600" b="1" i="0" u="none" strike="noStrike" kern="1200" baseline="0">
                <a:solidFill>
                  <a:schemeClr val="dk1">
                    <a:lumMod val="75000"/>
                    <a:lumOff val="25000"/>
                  </a:schemeClr>
                </a:solidFill>
                <a:latin typeface="Calibri Light" panose="020F0302020204030204" pitchFamily="34" charset="0"/>
                <a:ea typeface="+mn-ea"/>
                <a:cs typeface="Calibri Light" panose="020F0302020204030204" pitchFamily="34" charset="0"/>
              </a:defRPr>
            </a:pPr>
            <a:endParaRPr lang="he-IL"/>
          </a:p>
        </c:txPr>
      </c:legendEntry>
      <c:overlay val="0"/>
      <c:spPr>
        <a:solidFill>
          <a:schemeClr val="lt1">
            <a:lumMod val="95000"/>
            <a:alpha val="39000"/>
          </a:schemeClr>
        </a:solidFill>
        <a:ln>
          <a:noFill/>
        </a:ln>
        <a:effectLst/>
      </c:spPr>
      <c:txPr>
        <a:bodyPr rot="0" spcFirstLastPara="1" vertOverflow="ellipsis" vert="horz" wrap="square" anchor="ctr" anchorCtr="1"/>
        <a:lstStyle/>
        <a:p>
          <a:pPr>
            <a:defRPr sz="1197" b="0" i="0" u="none" strike="noStrike" kern="1200" baseline="0">
              <a:solidFill>
                <a:schemeClr val="dk1">
                  <a:lumMod val="75000"/>
                  <a:lumOff val="25000"/>
                </a:schemeClr>
              </a:solidFill>
              <a:latin typeface="Calibri Light" panose="020F0302020204030204" pitchFamily="34" charset="0"/>
              <a:ea typeface="+mn-ea"/>
              <a:cs typeface="Calibri Light" panose="020F0302020204030204" pitchFamily="34" charset="0"/>
            </a:defRPr>
          </a:pPr>
          <a:endParaRPr lang="he-IL"/>
        </a:p>
      </c:txPr>
    </c:legend>
    <c:plotVisOnly val="1"/>
    <c:dispBlanksAs val="gap"/>
    <c:showDLblsOverMax val="0"/>
  </c:chart>
  <c: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a:effectLst/>
  </c:spPr>
  <c:txPr>
    <a:bodyPr/>
    <a:lstStyle/>
    <a:p>
      <a:pPr>
        <a:defRPr/>
      </a:pPr>
      <a:endParaRPr lang="he-IL"/>
    </a:p>
  </c:txPr>
  <c:externalData r:id="rId3">
    <c:autoUpdate val="0"/>
  </c:externalData>
</c:chartSpace>
</file>

<file path=ppt/charts/colors1.xml><?xml version="1.0" encoding="utf-8"?>
<cs:colorStyle xmlns:cs="http://schemas.microsoft.com/office/drawing/2012/chartStyle" xmlns:a="http://schemas.openxmlformats.org/drawingml/2006/main" meth="withinLinearReversed" id="25">
  <a:schemeClr val="accent5"/>
</cs:colorStyle>
</file>

<file path=ppt/charts/colors2.xml><?xml version="1.0" encoding="utf-8"?>
<cs:colorStyle xmlns:cs="http://schemas.microsoft.com/office/drawing/2012/chartStyle" xmlns:a="http://schemas.openxmlformats.org/drawingml/2006/main" meth="withinLinearReversed" id="25">
  <a:schemeClr val="accent5"/>
</cs:colorStyle>
</file>

<file path=ppt/charts/colors3.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2.xml><?xml version="1.0" encoding="utf-8"?>
<cs:colorStyle xmlns:cs="http://schemas.microsoft.com/office/drawing/2012/chartStyle" xmlns:a="http://schemas.openxmlformats.org/drawingml/2006/main" meth="withinLinear" id="18">
  <a:schemeClr val="accent5"/>
</cs:colorStyle>
</file>

<file path=ppt/charts/colors13.xml><?xml version="1.0" encoding="utf-8"?>
<cs:colorStyle xmlns:cs="http://schemas.microsoft.com/office/drawing/2012/chartStyle" xmlns:a="http://schemas.openxmlformats.org/drawingml/2006/main" meth="withinLinearReversed" id="25">
  <a:schemeClr val="accent5"/>
</cs:colorStyle>
</file>

<file path=ppt/charts/colors1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15">
  <cs:axisTitle>
    <cs:lnRef idx="0"/>
    <cs:fillRef idx="0"/>
    <cs:effectRef idx="0"/>
    <cs:fontRef idx="minor">
      <a:schemeClr val="tx1">
        <a:lumMod val="65000"/>
        <a:lumOff val="35000"/>
      </a:schemeClr>
    </cs:fontRef>
    <cs:defRPr sz="1197" kern="1200" cap="all"/>
  </cs:axisTitle>
  <cs:categoryAxis>
    <cs:lnRef idx="0"/>
    <cs:fillRef idx="0"/>
    <cs:effectRef idx="0"/>
    <cs:fontRef idx="minor">
      <a:schemeClr val="tx1">
        <a:lumMod val="65000"/>
        <a:lumOff val="35000"/>
      </a:schemeClr>
    </cs:fontRef>
    <cs:spPr>
      <a:ln w="15875" cap="flat" cmpd="sng" algn="ctr">
        <a:solidFill>
          <a:schemeClr val="tx1">
            <a:lumMod val="25000"/>
            <a:lumOff val="75000"/>
          </a:schemeClr>
        </a:solidFill>
        <a:round/>
      </a:ln>
    </cs:spPr>
    <cs:defRPr sz="1197" kern="1200" cap="none" spc="20" normalizeH="0" baseline="0"/>
  </cs:categoryAxis>
  <cs:chartArea mods="allowNoFillOverride allowNoLineOverride">
    <cs:lnRef idx="0"/>
    <cs:fillRef idx="0"/>
    <cs:effectRef idx="0"/>
    <cs:fontRef idx="minor">
      <a:schemeClr val="dk1"/>
    </cs:fontRef>
    <cs:spPr>
      <a:solidFill>
        <a:schemeClr val="lt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bg1"/>
    </cs:fontRef>
    <cs:spPr>
      <a:solidFill>
        <a:schemeClr val="tx1">
          <a:lumMod val="50000"/>
          <a:lumOff val="50000"/>
        </a:schemeClr>
      </a:solidFill>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alpha val="70000"/>
        </a:schemeClr>
      </a:solidFill>
    </cs:spPr>
  </cs:dataPoint>
  <cs:dataPoint3D>
    <cs:lnRef idx="0"/>
    <cs:fillRef idx="0">
      <cs:styleClr val="auto"/>
    </cs:fillRef>
    <cs:effectRef idx="0"/>
    <cs:fontRef idx="minor">
      <a:schemeClr val="dk1"/>
    </cs:fontRef>
    <cs:spPr>
      <a:solidFill>
        <a:schemeClr val="phClr">
          <a:alpha val="70000"/>
        </a:schemeClr>
      </a:solidFill>
    </cs:spPr>
  </cs:dataPoint3D>
  <cs:dataPointLine>
    <cs:lnRef idx="0">
      <cs:styleClr val="auto"/>
    </cs:lnRef>
    <cs:fillRef idx="0"/>
    <cs:effectRef idx="0"/>
    <cs:fontRef idx="minor">
      <a:schemeClr val="dk1"/>
    </cs:fontRef>
    <cs:spPr>
      <a:ln w="28575" cap="rnd">
        <a:solidFill>
          <a:schemeClr val="phClr">
            <a:alpha val="70000"/>
          </a:schemeClr>
        </a:solidFill>
        <a:round/>
      </a:ln>
    </cs:spPr>
  </cs:dataPointLine>
  <cs:dataPointMarker>
    <cs:lnRef idx="0"/>
    <cs:fillRef idx="0">
      <cs:styleClr val="auto"/>
    </cs:fillRef>
    <cs:effectRef idx="0"/>
    <cs:fontRef idx="minor">
      <a:schemeClr val="dk1"/>
    </cs:fontRef>
    <cs:spPr>
      <a:solidFill>
        <a:schemeClr val="phClr">
          <a:alpha val="70000"/>
        </a:scheme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tx1">
            <a:lumMod val="65000"/>
            <a:lumOff val="35000"/>
          </a:schemeClr>
        </a:solidFill>
      </a:ln>
    </cs:spPr>
  </cs:downBar>
  <cs:dropLine>
    <cs:lnRef idx="0"/>
    <cs:fillRef idx="0"/>
    <cs:effectRef idx="0"/>
    <cs:fontRef idx="minor">
      <a:schemeClr val="dk1"/>
    </cs:fontRef>
    <cs:spPr>
      <a:ln w="9525">
        <a:solidFill>
          <a:schemeClr val="tx1">
            <a:lumMod val="35000"/>
            <a:lumOff val="65000"/>
          </a:schemeClr>
        </a:solidFill>
        <a:round/>
      </a:ln>
    </cs:spPr>
  </cs:dropLine>
  <cs:errorBar>
    <cs:lnRef idx="0"/>
    <cs:fillRef idx="0"/>
    <cs:effectRef idx="0"/>
    <cs:fontRef idx="minor">
      <a:schemeClr val="dk1"/>
    </cs:fontRef>
    <cs:spPr>
      <a:ln w="9525">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5000"/>
            <a:lumOff val="9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35000"/>
            <a:lumOff val="65000"/>
          </a:schemeClr>
        </a:solidFill>
        <a:round/>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1197" kern="1200" baseline="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ajor">
      <a:schemeClr val="tx1">
        <a:lumMod val="65000"/>
        <a:lumOff val="35000"/>
      </a:schemeClr>
    </cs:fontRef>
    <cs:defRPr sz="2128" b="0" i="0" kern="1200" cap="none" spc="50" normalizeH="0" baseline="0"/>
  </cs:title>
  <cs:trendline>
    <cs:lnRef idx="0">
      <cs:styleClr val="auto"/>
    </cs:lnRef>
    <cs:fillRef idx="0"/>
    <cs:effectRef idx="0"/>
    <cs:fontRef idx="minor">
      <a:schemeClr val="dk1"/>
    </cs:fontRef>
    <cs:spPr>
      <a:ln w="15875" cap="rnd">
        <a:solidFill>
          <a:schemeClr val="phClr"/>
        </a:solidFill>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defRPr sz="1197" kern="1200" spc="20" baseline="0"/>
  </cs:valueAxis>
  <cs:wall>
    <cs:lnRef idx="0"/>
    <cs:fillRef idx="0"/>
    <cs:effectRef idx="0"/>
    <cs:fontRef idx="minor">
      <a:schemeClr val="dk1"/>
    </cs:fontRef>
  </cs:wall>
</cs:chartStyle>
</file>

<file path=ppt/charts/style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2.xml><?xml version="1.0" encoding="utf-8"?>
<cs:chartStyle xmlns:cs="http://schemas.microsoft.com/office/drawing/2012/chartStyle" xmlns:a="http://schemas.openxmlformats.org/drawingml/2006/main" id="340">
  <cs:axisTitle>
    <cs:lnRef idx="0"/>
    <cs:fillRef idx="0"/>
    <cs:effectRef idx="0"/>
    <cs:fontRef idx="minor">
      <a:schemeClr val="tx1">
        <a:lumMod val="65000"/>
        <a:lumOff val="35000"/>
      </a:schemeClr>
    </cs:fontRef>
    <cs:defRPr sz="1197" kern="1200"/>
  </cs:axisTitle>
  <cs:category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lt1"/>
    </cs:fontRef>
  </cs:dataPoint>
  <cs:dataPoint3D>
    <cs:lnRef idx="0"/>
    <cs:fillRef idx="3">
      <cs:styleClr val="auto"/>
    </cs:fillRef>
    <cs:effectRef idx="3"/>
    <cs:fontRef idx="minor">
      <a:schemeClr val="lt1"/>
    </cs:fontRef>
  </cs:dataPoint3D>
  <cs:dataPointLine>
    <cs:lnRef idx="0">
      <cs:styleClr val="auto"/>
    </cs:lnRef>
    <cs:fillRef idx="3"/>
    <cs:effectRef idx="3"/>
    <cs:fontRef idx="minor">
      <a:schemeClr val="lt1"/>
    </cs:fontRef>
    <cs:spPr>
      <a:ln w="34925" cap="rnd">
        <a:solidFill>
          <a:schemeClr val="phClr"/>
        </a:solidFill>
        <a:round/>
      </a:ln>
    </cs:spPr>
  </cs:dataPointLine>
  <cs:dataPointMarker>
    <cs:lnRef idx="0">
      <cs:styleClr val="auto"/>
    </cs:lnRef>
    <cs:fillRef idx="3">
      <cs:styleClr val="auto"/>
    </cs:fillRef>
    <cs:effectRef idx="3"/>
    <cs:fontRef idx="minor">
      <a:schemeClr val="lt1"/>
    </cs:fontRef>
    <cs:spPr>
      <a:ln w="9525">
        <a:solidFill>
          <a:schemeClr val="phClr"/>
        </a:solidFill>
        <a:round/>
      </a:ln>
    </cs:spPr>
  </cs:dataPointMarker>
  <cs:dataPointMarkerLayout symbol="circle" size="6"/>
  <cs:dataPointWireframe>
    <cs:lnRef idx="0">
      <cs:styleClr val="auto"/>
    </cs:lnRef>
    <cs:fillRef idx="3"/>
    <cs:effectRef idx="3"/>
    <cs:fontRef idx="minor">
      <a:schemeClr val="lt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lt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baseline="0"/>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lt1"/>
    </cs:fontRef>
  </cs:wall>
</cs:chartStyle>
</file>

<file path=ppt/charts/style1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6.xml><?xml version="1.0" encoding="utf-8"?>
<cs:chartStyle xmlns:cs="http://schemas.microsoft.com/office/drawing/2012/chartStyle" xmlns:a="http://schemas.openxmlformats.org/drawingml/2006/main" id="218">
  <cs:axisTitle>
    <cs:lnRef idx="0"/>
    <cs:fillRef idx="0"/>
    <cs:effectRef idx="0"/>
    <cs:fontRef idx="minor">
      <a:schemeClr val="dk1">
        <a:lumMod val="75000"/>
        <a:lumOff val="25000"/>
      </a:schemeClr>
    </cs:fontRef>
    <cs:defRPr sz="1197" b="1" kern="1200"/>
  </cs:axisTitle>
  <cs:categoryAxis>
    <cs:lnRef idx="0"/>
    <cs:fillRef idx="0"/>
    <cs:effectRef idx="0"/>
    <cs:fontRef idx="minor">
      <a:schemeClr val="dk1">
        <a:lumMod val="75000"/>
        <a:lumOff val="25000"/>
      </a:schemeClr>
    </cs:fontRef>
    <cs:spPr>
      <a:ln w="19050" cap="flat" cmpd="sng" algn="ctr">
        <a:solidFill>
          <a:schemeClr val="dk1">
            <a:lumMod val="75000"/>
            <a:lumOff val="25000"/>
          </a:schemeClr>
        </a:solidFill>
        <a:round/>
      </a:ln>
    </cs:spPr>
    <cs:defRPr sz="1197" kern="1200" cap="all" baseline="0"/>
  </cs:categoryAxis>
  <cs:chartArea>
    <cs:lnRef idx="0"/>
    <cs:fillRef idx="0"/>
    <cs:effectRef idx="0"/>
    <cs:fontRef idx="minor">
      <a:schemeClr val="dk1"/>
    </cs:fontRef>
    <cs: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cs:spPr>
    <cs:defRPr sz="1197" kern="1200"/>
  </cs:chartArea>
  <cs:dataLabel>
    <cs:lnRef idx="0"/>
    <cs:fillRef idx="0"/>
    <cs:effectRef idx="0"/>
    <cs:fontRef idx="minor">
      <a:schemeClr val="lt1"/>
    </cs:fontRef>
    <cs:defRPr sz="1197" b="1" i="0" u="none" strike="noStrike" kern="1200" baseline="0"/>
  </cs:dataLabel>
  <cs:dataLabelCallout>
    <cs:lnRef idx="0"/>
    <cs:fillRef idx="0"/>
    <cs:effectRef idx="0"/>
    <cs:fontRef idx="minor">
      <a:schemeClr val="lt1"/>
    </cs:fontRef>
    <cs:spPr>
      <a:solidFill>
        <a:schemeClr val="dk1">
          <a:lumMod val="65000"/>
          <a:lumOff val="35000"/>
          <a:alpha val="75000"/>
        </a:schemeClr>
      </a:solidFill>
    </cs:spPr>
    <cs:defRPr sz="1197" b="1"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alpha val="85000"/>
        </a:schemeClr>
      </a:solidFill>
      <a:ln w="9525" cap="flat" cmpd="sng" algn="ctr">
        <a:solidFill>
          <a:schemeClr val="lt1">
            <a:alpha val="50000"/>
          </a:schemeClr>
        </a:solidFill>
        <a:round/>
      </a:ln>
    </cs:spPr>
  </cs:dataPoint>
  <cs:dataPoint3D>
    <cs:lnRef idx="0"/>
    <cs:fillRef idx="0">
      <cs:styleClr val="auto"/>
    </cs:fillRef>
    <cs:effectRef idx="0"/>
    <cs:fontRef idx="minor">
      <a:schemeClr val="dk1"/>
    </cs:fontRef>
    <cs:spPr>
      <a:solidFill>
        <a:schemeClr val="phClr">
          <a:alpha val="85000"/>
        </a:schemeClr>
      </a:solidFill>
      <a:ln w="9525" cap="flat" cmpd="sng" algn="ctr">
        <a:solidFill>
          <a:schemeClr val="lt1">
            <a:alpha val="50000"/>
          </a:schemeClr>
        </a:solidFill>
        <a:round/>
      </a:ln>
    </cs:spPr>
  </cs:dataPoint3D>
  <cs:dataPointLine>
    <cs:lnRef idx="0">
      <cs:styleClr val="auto"/>
    </cs:lnRef>
    <cs:fillRef idx="0"/>
    <cs:effectRef idx="0"/>
    <cs:fontRef idx="minor">
      <a:schemeClr val="dk1"/>
    </cs:fontRef>
    <cs:spPr>
      <a:ln w="31750" cap="rnd">
        <a:solidFill>
          <a:schemeClr val="phClr">
            <a:alpha val="85000"/>
          </a:schemeClr>
        </a:solidFill>
        <a:round/>
      </a:ln>
    </cs:spPr>
  </cs:dataPointLine>
  <cs:dataPointMarker>
    <cs:lnRef idx="0"/>
    <cs:fillRef idx="0">
      <cs:styleClr val="auto"/>
    </cs:fillRef>
    <cs:effectRef idx="0"/>
    <cs:fontRef idx="minor">
      <a:schemeClr val="dk1"/>
    </cs:fontRef>
    <cs:spPr>
      <a:solidFill>
        <a:schemeClr val="phClr">
          <a:alpha val="85000"/>
        </a:scheme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75000"/>
        <a:lumOff val="25000"/>
      </a:schemeClr>
    </cs:fontRef>
    <cs:spPr>
      <a:ln w="9525">
        <a:solidFill>
          <a:schemeClr val="dk1">
            <a:lumMod val="35000"/>
            <a:lumOff val="65000"/>
          </a:schemeClr>
        </a:solidFill>
      </a:ln>
    </cs:spPr>
    <cs:defRPr sz="1197" kern="1200"/>
  </cs:dataTable>
  <cs:downBar>
    <cs:lnRef idx="0"/>
    <cs:fillRef idx="0"/>
    <cs:effectRef idx="0"/>
    <cs:fontRef idx="minor">
      <a:schemeClr val="dk1"/>
    </cs:fontRef>
    <cs:spPr>
      <a:solidFill>
        <a:schemeClr val="dk1">
          <a:lumMod val="50000"/>
          <a:lumOff val="50000"/>
        </a:schemeClr>
      </a:solidFill>
      <a:ln w="9525">
        <a:solidFill>
          <a:schemeClr val="dk1">
            <a:lumMod val="65000"/>
            <a:lumOff val="35000"/>
          </a:schemeClr>
        </a:solidFill>
      </a:ln>
    </cs:spPr>
  </cs:downBar>
  <cs:dropLine>
    <cs:lnRef idx="0"/>
    <cs:fillRef idx="0"/>
    <cs:effectRef idx="0"/>
    <cs:fontRef idx="minor">
      <a:schemeClr val="dk1"/>
    </cs:fontRef>
    <cs:spPr>
      <a:ln w="9525">
        <a:solidFill>
          <a:schemeClr val="dk1">
            <a:lumMod val="35000"/>
            <a:lumOff val="65000"/>
          </a:schemeClr>
        </a:solidFill>
        <a:prstDash val="dash"/>
      </a:ln>
    </cs:spPr>
  </cs:dropLine>
  <cs:errorBar>
    <cs:lnRef idx="0"/>
    <cs:fillRef idx="0"/>
    <cs:effectRef idx="0"/>
    <cs:fontRef idx="minor">
      <a:schemeClr val="dk1"/>
    </cs:fontRef>
    <cs:spPr>
      <a:ln w="9525">
        <a:solidFill>
          <a:schemeClr val="dk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95000"/>
                <a:lumOff val="5000"/>
                <a:alpha val="42000"/>
              </a:schemeClr>
            </a:gs>
            <a:gs pos="0">
              <a:schemeClr val="lt1">
                <a:lumMod val="75000"/>
                <a:alpha val="36000"/>
              </a:schemeClr>
            </a:gs>
          </a:gsLst>
          <a:lin ang="5400000" scaled="0"/>
        </a:gradFill>
        <a:round/>
      </a:ln>
    </cs:spPr>
  </cs:gridlineMajor>
  <cs:gridlineMinor>
    <cs:lnRef idx="0"/>
    <cs:fillRef idx="0"/>
    <cs:effectRef idx="0"/>
    <cs:fontRef idx="minor">
      <a:schemeClr val="dk1"/>
    </cs:fontRef>
    <cs:spPr>
      <a:ln>
        <a:gradFill>
          <a:gsLst>
            <a:gs pos="100000">
              <a:schemeClr val="dk1">
                <a:lumMod val="95000"/>
                <a:lumOff val="5000"/>
                <a:alpha val="42000"/>
              </a:schemeClr>
            </a:gs>
            <a:gs pos="0">
              <a:schemeClr val="lt1">
                <a:lumMod val="75000"/>
                <a:alpha val="36000"/>
              </a:schemeClr>
            </a:gs>
          </a:gsLst>
          <a:lin ang="5400000" scaled="0"/>
        </a:gradFill>
      </a:ln>
    </cs:spPr>
  </cs:gridlineMinor>
  <cs:hiLoLine>
    <cs:lnRef idx="0"/>
    <cs:fillRef idx="0"/>
    <cs:effectRef idx="0"/>
    <cs:fontRef idx="minor">
      <a:schemeClr val="dk1"/>
    </cs:fontRef>
    <cs:spPr>
      <a:ln w="9525">
        <a:solidFill>
          <a:schemeClr val="dk1">
            <a:lumMod val="35000"/>
            <a:lumOff val="65000"/>
          </a:schemeClr>
        </a:solidFill>
        <a:prstDash val="dash"/>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75000"/>
        <a:lumOff val="25000"/>
      </a:schemeClr>
    </cs:fontRef>
    <cs:spPr>
      <a:solidFill>
        <a:schemeClr val="lt1">
          <a:lumMod val="95000"/>
          <a:alpha val="39000"/>
        </a:schemeClr>
      </a:solidFill>
    </cs:spPr>
    <cs:defRPr sz="1197"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75000"/>
        <a:lumOff val="25000"/>
      </a:schemeClr>
    </cs:fontRef>
    <cs:spPr>
      <a:ln w="31750" cap="flat" cmpd="sng" algn="ctr">
        <a:solidFill>
          <a:schemeClr val="dk1">
            <a:lumMod val="75000"/>
            <a:lumOff val="25000"/>
          </a:schemeClr>
        </a:solidFill>
        <a:round/>
      </a:ln>
    </cs:spPr>
    <cs:defRPr sz="1197"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75000"/>
        <a:lumOff val="25000"/>
      </a:schemeClr>
    </cs:fontRef>
    <cs:defRPr sz="2200" b="1" kern="120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75000"/>
        <a:lumOff val="25000"/>
      </a:schemeClr>
    </cs:fontRef>
    <cs:defRPr sz="1197" kern="12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75000"/>
        <a:lumOff val="25000"/>
      </a:schemeClr>
    </cs:fontRef>
    <cs:spPr>
      <a:ln>
        <a:noFill/>
      </a:ln>
    </cs:spPr>
    <cs:defRPr sz="1197" kern="1200"/>
  </cs:valueAxis>
  <cs:wall>
    <cs:lnRef idx="0"/>
    <cs:fillRef idx="0"/>
    <cs:effectRef idx="0"/>
    <cs:fontRef idx="minor">
      <a:schemeClr val="dk1"/>
    </cs:fontRef>
  </cs:wall>
</cs:chartStyle>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20D35F0-8174-460B-91B7-5259B078BD87}" type="doc">
      <dgm:prSet loTypeId="urn:microsoft.com/office/officeart/2005/8/layout/pyramid1" loCatId="pyramid" qsTypeId="urn:microsoft.com/office/officeart/2005/8/quickstyle/simple1" qsCatId="simple" csTypeId="urn:microsoft.com/office/officeart/2005/8/colors/colorful1" csCatId="colorful" phldr="1"/>
      <dgm:spPr/>
    </dgm:pt>
    <dgm:pt modelId="{5F245D62-3699-4326-8C24-96C9D00DD3AC}">
      <dgm:prSet phldrT="[טקסט]" custT="1"/>
      <dgm:spPr/>
      <dgm:t>
        <a:bodyPr/>
        <a:lstStyle/>
        <a:p>
          <a:pPr rtl="1"/>
          <a:endParaRPr lang="he-IL" sz="1100" dirty="0"/>
        </a:p>
        <a:p>
          <a:pPr rtl="1"/>
          <a:endParaRPr lang="he-IL" sz="1200" b="1" dirty="0"/>
        </a:p>
        <a:p>
          <a:pPr rtl="1"/>
          <a:r>
            <a:rPr lang="he-IL" sz="2000" b="1" dirty="0"/>
            <a:t>הזדקנות</a:t>
          </a:r>
        </a:p>
        <a:p>
          <a:pPr rtl="1"/>
          <a:r>
            <a:rPr lang="he-IL" sz="2400" b="1" dirty="0"/>
            <a:t> מיטבית</a:t>
          </a:r>
        </a:p>
      </dgm:t>
    </dgm:pt>
    <dgm:pt modelId="{65AC23A2-3F54-4864-812A-833BD39436B9}" type="parTrans" cxnId="{78B8C709-A93D-4230-86E6-E15D289D53A1}">
      <dgm:prSet/>
      <dgm:spPr/>
      <dgm:t>
        <a:bodyPr/>
        <a:lstStyle/>
        <a:p>
          <a:pPr rtl="1"/>
          <a:endParaRPr lang="he-IL"/>
        </a:p>
      </dgm:t>
    </dgm:pt>
    <dgm:pt modelId="{2D680DEE-5688-430A-A56F-896B091ADC9C}" type="sibTrans" cxnId="{78B8C709-A93D-4230-86E6-E15D289D53A1}">
      <dgm:prSet/>
      <dgm:spPr/>
      <dgm:t>
        <a:bodyPr/>
        <a:lstStyle/>
        <a:p>
          <a:pPr rtl="1"/>
          <a:endParaRPr lang="he-IL"/>
        </a:p>
      </dgm:t>
    </dgm:pt>
    <dgm:pt modelId="{81D5B673-99AF-4C58-956C-30F45CBD5586}">
      <dgm:prSet phldrT="[טקסט]" custT="1"/>
      <dgm:spPr>
        <a:solidFill>
          <a:srgbClr val="FFC000"/>
        </a:solidFill>
      </dgm:spPr>
      <dgm:t>
        <a:bodyPr/>
        <a:lstStyle/>
        <a:p>
          <a:pPr rtl="1"/>
          <a:r>
            <a:rPr lang="he-IL" sz="3200" dirty="0"/>
            <a:t>מדידה </a:t>
          </a:r>
          <a:r>
            <a:rPr lang="he-IL" sz="3200" dirty="0" err="1"/>
            <a:t>ותמרוצים</a:t>
          </a:r>
          <a:r>
            <a:rPr lang="he-IL" sz="3200" dirty="0"/>
            <a:t> </a:t>
          </a:r>
        </a:p>
      </dgm:t>
    </dgm:pt>
    <dgm:pt modelId="{E27AB79A-574A-4069-9DC2-F0DF479D6A66}" type="parTrans" cxnId="{66D0C72A-ADD1-4E7F-8743-96969BB478E9}">
      <dgm:prSet/>
      <dgm:spPr/>
      <dgm:t>
        <a:bodyPr/>
        <a:lstStyle/>
        <a:p>
          <a:pPr rtl="1"/>
          <a:endParaRPr lang="he-IL"/>
        </a:p>
      </dgm:t>
    </dgm:pt>
    <dgm:pt modelId="{5B8DF2BA-907C-4877-AC21-D09C8186714E}" type="sibTrans" cxnId="{66D0C72A-ADD1-4E7F-8743-96969BB478E9}">
      <dgm:prSet/>
      <dgm:spPr/>
      <dgm:t>
        <a:bodyPr/>
        <a:lstStyle/>
        <a:p>
          <a:pPr rtl="1"/>
          <a:endParaRPr lang="he-IL"/>
        </a:p>
      </dgm:t>
    </dgm:pt>
    <dgm:pt modelId="{5B8E34DD-E50F-4C49-B3B1-4341E9D6B051}">
      <dgm:prSet phldrT="[טקסט]"/>
      <dgm:spPr>
        <a:solidFill>
          <a:srgbClr val="5EC5C5"/>
        </a:solidFill>
      </dgm:spPr>
      <dgm:t>
        <a:bodyPr/>
        <a:lstStyle/>
        <a:p>
          <a:pPr rtl="1"/>
          <a:r>
            <a:rPr lang="he-IL" dirty="0"/>
            <a:t>סל מותאם אישית לבחירה</a:t>
          </a:r>
        </a:p>
      </dgm:t>
    </dgm:pt>
    <dgm:pt modelId="{880BE483-636C-4A06-976B-8C78874EF0F8}" type="parTrans" cxnId="{76AACF3C-30AA-4B34-9D03-FED835DCBB06}">
      <dgm:prSet/>
      <dgm:spPr/>
      <dgm:t>
        <a:bodyPr/>
        <a:lstStyle/>
        <a:p>
          <a:pPr rtl="1"/>
          <a:endParaRPr lang="he-IL"/>
        </a:p>
      </dgm:t>
    </dgm:pt>
    <dgm:pt modelId="{CD72C910-591E-45D7-8D01-2B83865B49D0}" type="sibTrans" cxnId="{76AACF3C-30AA-4B34-9D03-FED835DCBB06}">
      <dgm:prSet/>
      <dgm:spPr/>
      <dgm:t>
        <a:bodyPr/>
        <a:lstStyle/>
        <a:p>
          <a:pPr rtl="1"/>
          <a:endParaRPr lang="he-IL"/>
        </a:p>
      </dgm:t>
    </dgm:pt>
    <dgm:pt modelId="{C6B2D5B4-D25E-4FE8-82E4-1CD6A2990E93}">
      <dgm:prSet phldrT="[טקסט]"/>
      <dgm:spPr/>
      <dgm:t>
        <a:bodyPr/>
        <a:lstStyle/>
        <a:p>
          <a:pPr rtl="1"/>
          <a:r>
            <a:rPr lang="he-IL" dirty="0"/>
            <a:t>שירות מעטפת </a:t>
          </a:r>
        </a:p>
        <a:p>
          <a:pPr rtl="1"/>
          <a:r>
            <a:rPr lang="he-IL" dirty="0"/>
            <a:t>קהילה לכולם</a:t>
          </a:r>
        </a:p>
      </dgm:t>
    </dgm:pt>
    <dgm:pt modelId="{0696B022-DF8B-46A6-8EC9-D6DDAE8B2C30}" type="parTrans" cxnId="{58D5BDB9-CC9A-4FCB-8B3C-9B88A63D5780}">
      <dgm:prSet/>
      <dgm:spPr/>
      <dgm:t>
        <a:bodyPr/>
        <a:lstStyle/>
        <a:p>
          <a:pPr rtl="1"/>
          <a:endParaRPr lang="he-IL"/>
        </a:p>
      </dgm:t>
    </dgm:pt>
    <dgm:pt modelId="{F65D5231-0170-461E-8BA5-E305680C9C22}" type="sibTrans" cxnId="{58D5BDB9-CC9A-4FCB-8B3C-9B88A63D5780}">
      <dgm:prSet/>
      <dgm:spPr/>
      <dgm:t>
        <a:bodyPr/>
        <a:lstStyle/>
        <a:p>
          <a:pPr rtl="1"/>
          <a:endParaRPr lang="he-IL"/>
        </a:p>
      </dgm:t>
    </dgm:pt>
    <dgm:pt modelId="{960AB101-0557-4EF3-BF78-5B47B3498D2C}" type="pres">
      <dgm:prSet presAssocID="{720D35F0-8174-460B-91B7-5259B078BD87}" presName="Name0" presStyleCnt="0">
        <dgm:presLayoutVars>
          <dgm:dir/>
          <dgm:animLvl val="lvl"/>
          <dgm:resizeHandles val="exact"/>
        </dgm:presLayoutVars>
      </dgm:prSet>
      <dgm:spPr/>
    </dgm:pt>
    <dgm:pt modelId="{0C8D2B12-AB50-4579-B1E8-A206563DE6F5}" type="pres">
      <dgm:prSet presAssocID="{5F245D62-3699-4326-8C24-96C9D00DD3AC}" presName="Name8" presStyleCnt="0"/>
      <dgm:spPr/>
    </dgm:pt>
    <dgm:pt modelId="{6070D69A-5440-4A89-80EA-AE849A3AF518}" type="pres">
      <dgm:prSet presAssocID="{5F245D62-3699-4326-8C24-96C9D00DD3AC}" presName="level" presStyleLbl="node1" presStyleIdx="0" presStyleCnt="4">
        <dgm:presLayoutVars>
          <dgm:chMax val="1"/>
          <dgm:bulletEnabled val="1"/>
        </dgm:presLayoutVars>
      </dgm:prSet>
      <dgm:spPr/>
    </dgm:pt>
    <dgm:pt modelId="{7E623A44-4B05-464C-A676-DC324274F761}" type="pres">
      <dgm:prSet presAssocID="{5F245D62-3699-4326-8C24-96C9D00DD3AC}" presName="levelTx" presStyleLbl="revTx" presStyleIdx="0" presStyleCnt="0">
        <dgm:presLayoutVars>
          <dgm:chMax val="1"/>
          <dgm:bulletEnabled val="1"/>
        </dgm:presLayoutVars>
      </dgm:prSet>
      <dgm:spPr/>
    </dgm:pt>
    <dgm:pt modelId="{E8419DFB-EFE2-4C0F-92CC-47E2CBC070EC}" type="pres">
      <dgm:prSet presAssocID="{81D5B673-99AF-4C58-956C-30F45CBD5586}" presName="Name8" presStyleCnt="0"/>
      <dgm:spPr/>
    </dgm:pt>
    <dgm:pt modelId="{7472973C-CF79-4898-91E8-E14622784BB4}" type="pres">
      <dgm:prSet presAssocID="{81D5B673-99AF-4C58-956C-30F45CBD5586}" presName="level" presStyleLbl="node1" presStyleIdx="1" presStyleCnt="4">
        <dgm:presLayoutVars>
          <dgm:chMax val="1"/>
          <dgm:bulletEnabled val="1"/>
        </dgm:presLayoutVars>
      </dgm:prSet>
      <dgm:spPr/>
    </dgm:pt>
    <dgm:pt modelId="{4C59183A-2E52-4922-8AAB-0CD120D1A96D}" type="pres">
      <dgm:prSet presAssocID="{81D5B673-99AF-4C58-956C-30F45CBD5586}" presName="levelTx" presStyleLbl="revTx" presStyleIdx="0" presStyleCnt="0">
        <dgm:presLayoutVars>
          <dgm:chMax val="1"/>
          <dgm:bulletEnabled val="1"/>
        </dgm:presLayoutVars>
      </dgm:prSet>
      <dgm:spPr/>
    </dgm:pt>
    <dgm:pt modelId="{A45EDDB8-1FC5-4143-94FE-36CFD1148A5E}" type="pres">
      <dgm:prSet presAssocID="{5B8E34DD-E50F-4C49-B3B1-4341E9D6B051}" presName="Name8" presStyleCnt="0"/>
      <dgm:spPr/>
    </dgm:pt>
    <dgm:pt modelId="{874210C7-DBE7-4E93-AF2F-64ECAA718ABA}" type="pres">
      <dgm:prSet presAssocID="{5B8E34DD-E50F-4C49-B3B1-4341E9D6B051}" presName="level" presStyleLbl="node1" presStyleIdx="2" presStyleCnt="4">
        <dgm:presLayoutVars>
          <dgm:chMax val="1"/>
          <dgm:bulletEnabled val="1"/>
        </dgm:presLayoutVars>
      </dgm:prSet>
      <dgm:spPr/>
    </dgm:pt>
    <dgm:pt modelId="{042B80C4-2D03-4314-88A9-C9DCBE1E0592}" type="pres">
      <dgm:prSet presAssocID="{5B8E34DD-E50F-4C49-B3B1-4341E9D6B051}" presName="levelTx" presStyleLbl="revTx" presStyleIdx="0" presStyleCnt="0">
        <dgm:presLayoutVars>
          <dgm:chMax val="1"/>
          <dgm:bulletEnabled val="1"/>
        </dgm:presLayoutVars>
      </dgm:prSet>
      <dgm:spPr/>
    </dgm:pt>
    <dgm:pt modelId="{04D0DA8B-FE1B-4E6E-84BB-48FB07465E47}" type="pres">
      <dgm:prSet presAssocID="{C6B2D5B4-D25E-4FE8-82E4-1CD6A2990E93}" presName="Name8" presStyleCnt="0"/>
      <dgm:spPr/>
    </dgm:pt>
    <dgm:pt modelId="{CE29C06B-8968-43B8-BCD7-96D804A52BBB}" type="pres">
      <dgm:prSet presAssocID="{C6B2D5B4-D25E-4FE8-82E4-1CD6A2990E93}" presName="level" presStyleLbl="node1" presStyleIdx="3" presStyleCnt="4">
        <dgm:presLayoutVars>
          <dgm:chMax val="1"/>
          <dgm:bulletEnabled val="1"/>
        </dgm:presLayoutVars>
      </dgm:prSet>
      <dgm:spPr/>
    </dgm:pt>
    <dgm:pt modelId="{739B2ADD-5DCE-4A54-AB2F-9D6D2F3BAA39}" type="pres">
      <dgm:prSet presAssocID="{C6B2D5B4-D25E-4FE8-82E4-1CD6A2990E93}" presName="levelTx" presStyleLbl="revTx" presStyleIdx="0" presStyleCnt="0">
        <dgm:presLayoutVars>
          <dgm:chMax val="1"/>
          <dgm:bulletEnabled val="1"/>
        </dgm:presLayoutVars>
      </dgm:prSet>
      <dgm:spPr/>
    </dgm:pt>
  </dgm:ptLst>
  <dgm:cxnLst>
    <dgm:cxn modelId="{78B8C709-A93D-4230-86E6-E15D289D53A1}" srcId="{720D35F0-8174-460B-91B7-5259B078BD87}" destId="{5F245D62-3699-4326-8C24-96C9D00DD3AC}" srcOrd="0" destOrd="0" parTransId="{65AC23A2-3F54-4864-812A-833BD39436B9}" sibTransId="{2D680DEE-5688-430A-A56F-896B091ADC9C}"/>
    <dgm:cxn modelId="{83026824-C083-462F-9CD8-F5ABCDEEF095}" type="presOf" srcId="{5B8E34DD-E50F-4C49-B3B1-4341E9D6B051}" destId="{042B80C4-2D03-4314-88A9-C9DCBE1E0592}" srcOrd="1" destOrd="0" presId="urn:microsoft.com/office/officeart/2005/8/layout/pyramid1"/>
    <dgm:cxn modelId="{66D0C72A-ADD1-4E7F-8743-96969BB478E9}" srcId="{720D35F0-8174-460B-91B7-5259B078BD87}" destId="{81D5B673-99AF-4C58-956C-30F45CBD5586}" srcOrd="1" destOrd="0" parTransId="{E27AB79A-574A-4069-9DC2-F0DF479D6A66}" sibTransId="{5B8DF2BA-907C-4877-AC21-D09C8186714E}"/>
    <dgm:cxn modelId="{AAEE662E-95EF-4F9A-9AE2-BB736CE6678F}" type="presOf" srcId="{81D5B673-99AF-4C58-956C-30F45CBD5586}" destId="{4C59183A-2E52-4922-8AAB-0CD120D1A96D}" srcOrd="1" destOrd="0" presId="urn:microsoft.com/office/officeart/2005/8/layout/pyramid1"/>
    <dgm:cxn modelId="{76AACF3C-30AA-4B34-9D03-FED835DCBB06}" srcId="{720D35F0-8174-460B-91B7-5259B078BD87}" destId="{5B8E34DD-E50F-4C49-B3B1-4341E9D6B051}" srcOrd="2" destOrd="0" parTransId="{880BE483-636C-4A06-976B-8C78874EF0F8}" sibTransId="{CD72C910-591E-45D7-8D01-2B83865B49D0}"/>
    <dgm:cxn modelId="{BB92F085-98DE-4309-AAAE-9220D3440141}" type="presOf" srcId="{720D35F0-8174-460B-91B7-5259B078BD87}" destId="{960AB101-0557-4EF3-BF78-5B47B3498D2C}" srcOrd="0" destOrd="0" presId="urn:microsoft.com/office/officeart/2005/8/layout/pyramid1"/>
    <dgm:cxn modelId="{CB20D98E-4133-4156-B121-C488B1CAC1E6}" type="presOf" srcId="{81D5B673-99AF-4C58-956C-30F45CBD5586}" destId="{7472973C-CF79-4898-91E8-E14622784BB4}" srcOrd="0" destOrd="0" presId="urn:microsoft.com/office/officeart/2005/8/layout/pyramid1"/>
    <dgm:cxn modelId="{FE704B9F-B49D-4632-837B-034BD6B1C804}" type="presOf" srcId="{C6B2D5B4-D25E-4FE8-82E4-1CD6A2990E93}" destId="{CE29C06B-8968-43B8-BCD7-96D804A52BBB}" srcOrd="0" destOrd="0" presId="urn:microsoft.com/office/officeart/2005/8/layout/pyramid1"/>
    <dgm:cxn modelId="{496EA0AC-6B3C-4EBB-A44D-CECB4F0609CD}" type="presOf" srcId="{C6B2D5B4-D25E-4FE8-82E4-1CD6A2990E93}" destId="{739B2ADD-5DCE-4A54-AB2F-9D6D2F3BAA39}" srcOrd="1" destOrd="0" presId="urn:microsoft.com/office/officeart/2005/8/layout/pyramid1"/>
    <dgm:cxn modelId="{8FFA93AE-9B40-45F7-8BF3-043ECB3FBF3D}" type="presOf" srcId="{5F245D62-3699-4326-8C24-96C9D00DD3AC}" destId="{7E623A44-4B05-464C-A676-DC324274F761}" srcOrd="1" destOrd="0" presId="urn:microsoft.com/office/officeart/2005/8/layout/pyramid1"/>
    <dgm:cxn modelId="{58D5BDB9-CC9A-4FCB-8B3C-9B88A63D5780}" srcId="{720D35F0-8174-460B-91B7-5259B078BD87}" destId="{C6B2D5B4-D25E-4FE8-82E4-1CD6A2990E93}" srcOrd="3" destOrd="0" parTransId="{0696B022-DF8B-46A6-8EC9-D6DDAE8B2C30}" sibTransId="{F65D5231-0170-461E-8BA5-E305680C9C22}"/>
    <dgm:cxn modelId="{398A8CCE-42F6-4F1C-9883-06C4D1A2B37F}" type="presOf" srcId="{5B8E34DD-E50F-4C49-B3B1-4341E9D6B051}" destId="{874210C7-DBE7-4E93-AF2F-64ECAA718ABA}" srcOrd="0" destOrd="0" presId="urn:microsoft.com/office/officeart/2005/8/layout/pyramid1"/>
    <dgm:cxn modelId="{728196F3-541C-4E82-AE79-40C13CCCD64C}" type="presOf" srcId="{5F245D62-3699-4326-8C24-96C9D00DD3AC}" destId="{6070D69A-5440-4A89-80EA-AE849A3AF518}" srcOrd="0" destOrd="0" presId="urn:microsoft.com/office/officeart/2005/8/layout/pyramid1"/>
    <dgm:cxn modelId="{DEAA688D-962A-4B6E-80E2-8D94488BDAF9}" type="presParOf" srcId="{960AB101-0557-4EF3-BF78-5B47B3498D2C}" destId="{0C8D2B12-AB50-4579-B1E8-A206563DE6F5}" srcOrd="0" destOrd="0" presId="urn:microsoft.com/office/officeart/2005/8/layout/pyramid1"/>
    <dgm:cxn modelId="{8DDE6B24-F668-405C-B26D-8CFD12559167}" type="presParOf" srcId="{0C8D2B12-AB50-4579-B1E8-A206563DE6F5}" destId="{6070D69A-5440-4A89-80EA-AE849A3AF518}" srcOrd="0" destOrd="0" presId="urn:microsoft.com/office/officeart/2005/8/layout/pyramid1"/>
    <dgm:cxn modelId="{65BAC90D-32C1-4D3D-96E8-D71C5C82D09D}" type="presParOf" srcId="{0C8D2B12-AB50-4579-B1E8-A206563DE6F5}" destId="{7E623A44-4B05-464C-A676-DC324274F761}" srcOrd="1" destOrd="0" presId="urn:microsoft.com/office/officeart/2005/8/layout/pyramid1"/>
    <dgm:cxn modelId="{42260F2A-281E-4B70-A1D7-BF4A16EB37C2}" type="presParOf" srcId="{960AB101-0557-4EF3-BF78-5B47B3498D2C}" destId="{E8419DFB-EFE2-4C0F-92CC-47E2CBC070EC}" srcOrd="1" destOrd="0" presId="urn:microsoft.com/office/officeart/2005/8/layout/pyramid1"/>
    <dgm:cxn modelId="{918D52DF-E6F1-4ADB-8AF9-3B34D8B2E8A2}" type="presParOf" srcId="{E8419DFB-EFE2-4C0F-92CC-47E2CBC070EC}" destId="{7472973C-CF79-4898-91E8-E14622784BB4}" srcOrd="0" destOrd="0" presId="urn:microsoft.com/office/officeart/2005/8/layout/pyramid1"/>
    <dgm:cxn modelId="{65EC4C3B-D5E0-4ACA-B14B-8193419B6BB3}" type="presParOf" srcId="{E8419DFB-EFE2-4C0F-92CC-47E2CBC070EC}" destId="{4C59183A-2E52-4922-8AAB-0CD120D1A96D}" srcOrd="1" destOrd="0" presId="urn:microsoft.com/office/officeart/2005/8/layout/pyramid1"/>
    <dgm:cxn modelId="{0A5B3158-1BBD-4DA5-8969-D084564311AF}" type="presParOf" srcId="{960AB101-0557-4EF3-BF78-5B47B3498D2C}" destId="{A45EDDB8-1FC5-4143-94FE-36CFD1148A5E}" srcOrd="2" destOrd="0" presId="urn:microsoft.com/office/officeart/2005/8/layout/pyramid1"/>
    <dgm:cxn modelId="{FFC88683-24A8-4D66-8848-9A2AE15E0469}" type="presParOf" srcId="{A45EDDB8-1FC5-4143-94FE-36CFD1148A5E}" destId="{874210C7-DBE7-4E93-AF2F-64ECAA718ABA}" srcOrd="0" destOrd="0" presId="urn:microsoft.com/office/officeart/2005/8/layout/pyramid1"/>
    <dgm:cxn modelId="{C3BF9EF3-8759-4A4E-898B-9BB6AF2E753F}" type="presParOf" srcId="{A45EDDB8-1FC5-4143-94FE-36CFD1148A5E}" destId="{042B80C4-2D03-4314-88A9-C9DCBE1E0592}" srcOrd="1" destOrd="0" presId="urn:microsoft.com/office/officeart/2005/8/layout/pyramid1"/>
    <dgm:cxn modelId="{06810C0D-5C58-4FAA-8AFC-D32566F6C4CD}" type="presParOf" srcId="{960AB101-0557-4EF3-BF78-5B47B3498D2C}" destId="{04D0DA8B-FE1B-4E6E-84BB-48FB07465E47}" srcOrd="3" destOrd="0" presId="urn:microsoft.com/office/officeart/2005/8/layout/pyramid1"/>
    <dgm:cxn modelId="{3365869F-71BB-4888-848E-FE8468D0ECAD}" type="presParOf" srcId="{04D0DA8B-FE1B-4E6E-84BB-48FB07465E47}" destId="{CE29C06B-8968-43B8-BCD7-96D804A52BBB}" srcOrd="0" destOrd="0" presId="urn:microsoft.com/office/officeart/2005/8/layout/pyramid1"/>
    <dgm:cxn modelId="{2BC1E005-4C6B-421B-A39B-353EFB18073A}" type="presParOf" srcId="{04D0DA8B-FE1B-4E6E-84BB-48FB07465E47}" destId="{739B2ADD-5DCE-4A54-AB2F-9D6D2F3BAA39}" srcOrd="1" destOrd="0" presId="urn:microsoft.com/office/officeart/2005/8/layout/pyramid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070D69A-5440-4A89-80EA-AE849A3AF518}">
      <dsp:nvSpPr>
        <dsp:cNvPr id="0" name=""/>
        <dsp:cNvSpPr/>
      </dsp:nvSpPr>
      <dsp:spPr>
        <a:xfrm>
          <a:off x="3047999" y="0"/>
          <a:ext cx="2032000" cy="1354666"/>
        </a:xfrm>
        <a:prstGeom prst="trapezoid">
          <a:avLst>
            <a:gd name="adj" fmla="val 75000"/>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488950" rtl="1">
            <a:lnSpc>
              <a:spcPct val="90000"/>
            </a:lnSpc>
            <a:spcBef>
              <a:spcPct val="0"/>
            </a:spcBef>
            <a:spcAft>
              <a:spcPct val="35000"/>
            </a:spcAft>
            <a:buNone/>
          </a:pPr>
          <a:endParaRPr lang="he-IL" sz="1100" kern="1200" dirty="0"/>
        </a:p>
        <a:p>
          <a:pPr marL="0" lvl="0" indent="0" algn="ctr" defTabSz="488950" rtl="1">
            <a:lnSpc>
              <a:spcPct val="90000"/>
            </a:lnSpc>
            <a:spcBef>
              <a:spcPct val="0"/>
            </a:spcBef>
            <a:spcAft>
              <a:spcPct val="35000"/>
            </a:spcAft>
            <a:buNone/>
          </a:pPr>
          <a:endParaRPr lang="he-IL" sz="1200" b="1" kern="1200" dirty="0"/>
        </a:p>
        <a:p>
          <a:pPr marL="0" lvl="0" indent="0" algn="ctr" defTabSz="488950" rtl="1">
            <a:lnSpc>
              <a:spcPct val="90000"/>
            </a:lnSpc>
            <a:spcBef>
              <a:spcPct val="0"/>
            </a:spcBef>
            <a:spcAft>
              <a:spcPct val="35000"/>
            </a:spcAft>
            <a:buNone/>
          </a:pPr>
          <a:r>
            <a:rPr lang="he-IL" sz="2000" b="1" kern="1200" dirty="0"/>
            <a:t>הזדקנות</a:t>
          </a:r>
        </a:p>
        <a:p>
          <a:pPr marL="0" lvl="0" indent="0" algn="ctr" defTabSz="488950" rtl="1">
            <a:lnSpc>
              <a:spcPct val="90000"/>
            </a:lnSpc>
            <a:spcBef>
              <a:spcPct val="0"/>
            </a:spcBef>
            <a:spcAft>
              <a:spcPct val="35000"/>
            </a:spcAft>
            <a:buNone/>
          </a:pPr>
          <a:r>
            <a:rPr lang="he-IL" sz="2400" b="1" kern="1200" dirty="0"/>
            <a:t> מיטבית</a:t>
          </a:r>
        </a:p>
      </dsp:txBody>
      <dsp:txXfrm>
        <a:off x="3047999" y="0"/>
        <a:ext cx="2032000" cy="1354666"/>
      </dsp:txXfrm>
    </dsp:sp>
    <dsp:sp modelId="{7472973C-CF79-4898-91E8-E14622784BB4}">
      <dsp:nvSpPr>
        <dsp:cNvPr id="0" name=""/>
        <dsp:cNvSpPr/>
      </dsp:nvSpPr>
      <dsp:spPr>
        <a:xfrm>
          <a:off x="2032000" y="1354666"/>
          <a:ext cx="4064000" cy="1354666"/>
        </a:xfrm>
        <a:prstGeom prst="trapezoid">
          <a:avLst>
            <a:gd name="adj" fmla="val 75000"/>
          </a:avLst>
        </a:prstGeom>
        <a:solidFill>
          <a:srgbClr val="FFC00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0640" tIns="40640" rIns="40640" bIns="40640" numCol="1" spcCol="1270" anchor="ctr" anchorCtr="0">
          <a:noAutofit/>
        </a:bodyPr>
        <a:lstStyle/>
        <a:p>
          <a:pPr marL="0" lvl="0" indent="0" algn="ctr" defTabSz="1422400" rtl="1">
            <a:lnSpc>
              <a:spcPct val="90000"/>
            </a:lnSpc>
            <a:spcBef>
              <a:spcPct val="0"/>
            </a:spcBef>
            <a:spcAft>
              <a:spcPct val="35000"/>
            </a:spcAft>
            <a:buNone/>
          </a:pPr>
          <a:r>
            <a:rPr lang="he-IL" sz="3200" kern="1200" dirty="0"/>
            <a:t>מדידה </a:t>
          </a:r>
          <a:r>
            <a:rPr lang="he-IL" sz="3200" kern="1200" dirty="0" err="1"/>
            <a:t>ותמרוצים</a:t>
          </a:r>
          <a:r>
            <a:rPr lang="he-IL" sz="3200" kern="1200" dirty="0"/>
            <a:t> </a:t>
          </a:r>
        </a:p>
      </dsp:txBody>
      <dsp:txXfrm>
        <a:off x="2743199" y="1354666"/>
        <a:ext cx="2641600" cy="1354666"/>
      </dsp:txXfrm>
    </dsp:sp>
    <dsp:sp modelId="{874210C7-DBE7-4E93-AF2F-64ECAA718ABA}">
      <dsp:nvSpPr>
        <dsp:cNvPr id="0" name=""/>
        <dsp:cNvSpPr/>
      </dsp:nvSpPr>
      <dsp:spPr>
        <a:xfrm>
          <a:off x="1015999" y="2709333"/>
          <a:ext cx="6096000" cy="1354666"/>
        </a:xfrm>
        <a:prstGeom prst="trapezoid">
          <a:avLst>
            <a:gd name="adj" fmla="val 75000"/>
          </a:avLst>
        </a:prstGeom>
        <a:solidFill>
          <a:srgbClr val="5EC5C5"/>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1733550" rtl="1">
            <a:lnSpc>
              <a:spcPct val="90000"/>
            </a:lnSpc>
            <a:spcBef>
              <a:spcPct val="0"/>
            </a:spcBef>
            <a:spcAft>
              <a:spcPct val="35000"/>
            </a:spcAft>
            <a:buNone/>
          </a:pPr>
          <a:r>
            <a:rPr lang="he-IL" sz="3900" kern="1200" dirty="0"/>
            <a:t>סל מותאם אישית לבחירה</a:t>
          </a:r>
        </a:p>
      </dsp:txBody>
      <dsp:txXfrm>
        <a:off x="2082799" y="2709333"/>
        <a:ext cx="3962400" cy="1354666"/>
      </dsp:txXfrm>
    </dsp:sp>
    <dsp:sp modelId="{CE29C06B-8968-43B8-BCD7-96D804A52BBB}">
      <dsp:nvSpPr>
        <dsp:cNvPr id="0" name=""/>
        <dsp:cNvSpPr/>
      </dsp:nvSpPr>
      <dsp:spPr>
        <a:xfrm>
          <a:off x="0" y="4064000"/>
          <a:ext cx="8128000" cy="1354666"/>
        </a:xfrm>
        <a:prstGeom prst="trapezoid">
          <a:avLst>
            <a:gd name="adj" fmla="val 75000"/>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1733550" rtl="1">
            <a:lnSpc>
              <a:spcPct val="90000"/>
            </a:lnSpc>
            <a:spcBef>
              <a:spcPct val="0"/>
            </a:spcBef>
            <a:spcAft>
              <a:spcPct val="35000"/>
            </a:spcAft>
            <a:buNone/>
          </a:pPr>
          <a:r>
            <a:rPr lang="he-IL" sz="3900" kern="1200" dirty="0"/>
            <a:t>שירות מעטפת </a:t>
          </a:r>
        </a:p>
        <a:p>
          <a:pPr marL="0" lvl="0" indent="0" algn="ctr" defTabSz="1733550" rtl="1">
            <a:lnSpc>
              <a:spcPct val="90000"/>
            </a:lnSpc>
            <a:spcBef>
              <a:spcPct val="0"/>
            </a:spcBef>
            <a:spcAft>
              <a:spcPct val="35000"/>
            </a:spcAft>
            <a:buNone/>
          </a:pPr>
          <a:r>
            <a:rPr lang="he-IL" sz="3900" kern="1200" dirty="0"/>
            <a:t>קהילה לכולם</a:t>
          </a:r>
        </a:p>
      </dsp:txBody>
      <dsp:txXfrm>
        <a:off x="1422399" y="4064000"/>
        <a:ext cx="5283200" cy="1354666"/>
      </dsp:txXfrm>
    </dsp:sp>
  </dsp:spTree>
</dsp:drawing>
</file>

<file path=ppt/diagrams/layout1.xml><?xml version="1.0" encoding="utf-8"?>
<dgm:layoutDef xmlns:dgm="http://schemas.openxmlformats.org/drawingml/2006/diagram" xmlns:a="http://schemas.openxmlformats.org/drawingml/2006/main" uniqueId="urn:microsoft.com/office/officeart/2005/8/layout/pyramid1">
  <dgm:title val=""/>
  <dgm:desc val=""/>
  <dgm:catLst>
    <dgm:cat type="pyramid" pri="1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linDir" val="fromB"/>
          <dgm:param type="txDir" val="fromT"/>
          <dgm:param type="pyraAcctPos" val="aft"/>
          <dgm:param type="pyraAcctTxMar" val="step"/>
          <dgm:param type="pyraAcctBkgdNode" val="acctBkgd"/>
          <dgm:param type="pyraAcctTxNode" val="acctTx"/>
          <dgm:param type="pyraLvlNode" val="level"/>
        </dgm:alg>
      </dgm:if>
      <dgm:else name="Name3">
        <dgm:alg type="pyra">
          <dgm:param type="linDir" val="fromB"/>
          <dgm:param type="txDir" val="fromT"/>
          <dgm:param type="pyraAcctPos" val="bef"/>
          <dgm:param type="pyraAcctTxMar" val="step"/>
          <dgm:param type="pyraAcctBkgdNode" val="acctBkgd"/>
          <dgm:param type="pyraAcctTxNode" val="acctTx"/>
          <dgm:param type="pyraLvlNode" val="level"/>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mid"/>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מציין מיקום של כותרת עליונה 1"/>
          <p:cNvSpPr>
            <a:spLocks noGrp="1"/>
          </p:cNvSpPr>
          <p:nvPr>
            <p:ph type="hdr" sz="quarter"/>
          </p:nvPr>
        </p:nvSpPr>
        <p:spPr>
          <a:xfrm>
            <a:off x="3886200" y="0"/>
            <a:ext cx="2971800" cy="458788"/>
          </a:xfrm>
          <a:prstGeom prst="rect">
            <a:avLst/>
          </a:prstGeom>
        </p:spPr>
        <p:txBody>
          <a:bodyPr vert="horz" lIns="91440" tIns="45720" rIns="91440" bIns="45720" rtlCol="1"/>
          <a:lstStyle>
            <a:lvl1pPr algn="r">
              <a:defRPr sz="1200"/>
            </a:lvl1pPr>
          </a:lstStyle>
          <a:p>
            <a:endParaRPr lang="he-IL"/>
          </a:p>
        </p:txBody>
      </p:sp>
      <p:sp>
        <p:nvSpPr>
          <p:cNvPr id="3" name="מציין מיקום של תאריך 2"/>
          <p:cNvSpPr>
            <a:spLocks noGrp="1"/>
          </p:cNvSpPr>
          <p:nvPr>
            <p:ph type="dt" idx="1"/>
          </p:nvPr>
        </p:nvSpPr>
        <p:spPr>
          <a:xfrm>
            <a:off x="1588" y="0"/>
            <a:ext cx="2971800" cy="458788"/>
          </a:xfrm>
          <a:prstGeom prst="rect">
            <a:avLst/>
          </a:prstGeom>
        </p:spPr>
        <p:txBody>
          <a:bodyPr vert="horz" lIns="91440" tIns="45720" rIns="91440" bIns="45720" rtlCol="1"/>
          <a:lstStyle>
            <a:lvl1pPr algn="l">
              <a:defRPr sz="1200"/>
            </a:lvl1pPr>
          </a:lstStyle>
          <a:p>
            <a:fld id="{3811A27F-38C4-45A7-8262-87CD92B58974}" type="datetimeFigureOut">
              <a:rPr lang="he-IL" smtClean="0"/>
              <a:t>כ"א/אלול/תשפ"ד</a:t>
            </a:fld>
            <a:endParaRPr lang="he-IL"/>
          </a:p>
        </p:txBody>
      </p:sp>
      <p:sp>
        <p:nvSpPr>
          <p:cNvPr id="4" name="מציין מיקום של תמונת שקופית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1" anchor="ctr"/>
          <a:lstStyle/>
          <a:p>
            <a:endParaRPr lang="he-IL"/>
          </a:p>
        </p:txBody>
      </p:sp>
      <p:sp>
        <p:nvSpPr>
          <p:cNvPr id="5" name="מציין מיקום של הערות 4"/>
          <p:cNvSpPr>
            <a:spLocks noGrp="1"/>
          </p:cNvSpPr>
          <p:nvPr>
            <p:ph type="body" sz="quarter" idx="3"/>
          </p:nvPr>
        </p:nvSpPr>
        <p:spPr>
          <a:xfrm>
            <a:off x="685800" y="4400550"/>
            <a:ext cx="5486400" cy="3600450"/>
          </a:xfrm>
          <a:prstGeom prst="rect">
            <a:avLst/>
          </a:prstGeom>
        </p:spPr>
        <p:txBody>
          <a:bodyPr vert="horz" lIns="91440" tIns="45720" rIns="91440" bIns="45720" rtlCol="1"/>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6" name="מציין מיקום של כותרת תחתונה 5"/>
          <p:cNvSpPr>
            <a:spLocks noGrp="1"/>
          </p:cNvSpPr>
          <p:nvPr>
            <p:ph type="ftr" sz="quarter" idx="4"/>
          </p:nvPr>
        </p:nvSpPr>
        <p:spPr>
          <a:xfrm>
            <a:off x="3886200" y="8685213"/>
            <a:ext cx="2971800" cy="458787"/>
          </a:xfrm>
          <a:prstGeom prst="rect">
            <a:avLst/>
          </a:prstGeom>
        </p:spPr>
        <p:txBody>
          <a:bodyPr vert="horz" lIns="91440" tIns="45720" rIns="91440" bIns="45720" rtlCol="1" anchor="b"/>
          <a:lstStyle>
            <a:lvl1pPr algn="r">
              <a:defRPr sz="1200"/>
            </a:lvl1pPr>
          </a:lstStyle>
          <a:p>
            <a:endParaRPr lang="he-IL"/>
          </a:p>
        </p:txBody>
      </p:sp>
      <p:sp>
        <p:nvSpPr>
          <p:cNvPr id="7" name="מציין מיקום של מספר שקופית 6"/>
          <p:cNvSpPr>
            <a:spLocks noGrp="1"/>
          </p:cNvSpPr>
          <p:nvPr>
            <p:ph type="sldNum" sz="quarter" idx="5"/>
          </p:nvPr>
        </p:nvSpPr>
        <p:spPr>
          <a:xfrm>
            <a:off x="1588" y="8685213"/>
            <a:ext cx="2971800" cy="458787"/>
          </a:xfrm>
          <a:prstGeom prst="rect">
            <a:avLst/>
          </a:prstGeom>
        </p:spPr>
        <p:txBody>
          <a:bodyPr vert="horz" lIns="91440" tIns="45720" rIns="91440" bIns="45720" rtlCol="1" anchor="b"/>
          <a:lstStyle>
            <a:lvl1pPr algn="l">
              <a:defRPr sz="1200"/>
            </a:lvl1pPr>
          </a:lstStyle>
          <a:p>
            <a:fld id="{4BC49B76-D489-45FB-9933-B15C2574D09E}" type="slidenum">
              <a:rPr lang="he-IL" smtClean="0"/>
              <a:t>‹#›</a:t>
            </a:fld>
            <a:endParaRPr lang="he-IL"/>
          </a:p>
        </p:txBody>
      </p:sp>
    </p:spTree>
    <p:extLst>
      <p:ext uri="{BB962C8B-B14F-4D97-AF65-F5344CB8AC3E}">
        <p14:creationId xmlns:p14="http://schemas.microsoft.com/office/powerpoint/2010/main" val="2086987435"/>
      </p:ext>
    </p:extLst>
  </p:cSld>
  <p:clrMap bg1="lt1" tx1="dk1" bg2="lt2" tx2="dk2" accent1="accent1" accent2="accent2" accent3="accent3" accent4="accent4" accent5="accent5" accent6="accent6" hlink="hlink" folHlink="folHlink"/>
  <p:notesStyle>
    <a:lvl1pPr marL="0" algn="r" defTabSz="914400" rtl="1" eaLnBrk="1" latinLnBrk="0" hangingPunct="1">
      <a:defRPr sz="1200" kern="1200">
        <a:solidFill>
          <a:schemeClr val="tx1"/>
        </a:solidFill>
        <a:latin typeface="+mn-lt"/>
        <a:ea typeface="+mn-ea"/>
        <a:cs typeface="+mn-cs"/>
      </a:defRPr>
    </a:lvl1pPr>
    <a:lvl2pPr marL="457200" algn="r" defTabSz="914400" rtl="1" eaLnBrk="1" latinLnBrk="0" hangingPunct="1">
      <a:defRPr sz="1200" kern="1200">
        <a:solidFill>
          <a:schemeClr val="tx1"/>
        </a:solidFill>
        <a:latin typeface="+mn-lt"/>
        <a:ea typeface="+mn-ea"/>
        <a:cs typeface="+mn-cs"/>
      </a:defRPr>
    </a:lvl2pPr>
    <a:lvl3pPr marL="914400" algn="r" defTabSz="914400" rtl="1" eaLnBrk="1" latinLnBrk="0" hangingPunct="1">
      <a:defRPr sz="1200" kern="1200">
        <a:solidFill>
          <a:schemeClr val="tx1"/>
        </a:solidFill>
        <a:latin typeface="+mn-lt"/>
        <a:ea typeface="+mn-ea"/>
        <a:cs typeface="+mn-cs"/>
      </a:defRPr>
    </a:lvl3pPr>
    <a:lvl4pPr marL="1371600" algn="r" defTabSz="914400" rtl="1" eaLnBrk="1" latinLnBrk="0" hangingPunct="1">
      <a:defRPr sz="1200" kern="1200">
        <a:solidFill>
          <a:schemeClr val="tx1"/>
        </a:solidFill>
        <a:latin typeface="+mn-lt"/>
        <a:ea typeface="+mn-ea"/>
        <a:cs typeface="+mn-cs"/>
      </a:defRPr>
    </a:lvl4pPr>
    <a:lvl5pPr marL="1828800" algn="r" defTabSz="914400" rtl="1" eaLnBrk="1" latinLnBrk="0" hangingPunct="1">
      <a:defRPr sz="1200" kern="1200">
        <a:solidFill>
          <a:schemeClr val="tx1"/>
        </a:solidFill>
        <a:latin typeface="+mn-lt"/>
        <a:ea typeface="+mn-ea"/>
        <a:cs typeface="+mn-cs"/>
      </a:defRPr>
    </a:lvl5pPr>
    <a:lvl6pPr marL="2286000" algn="r" defTabSz="914400" rtl="1" eaLnBrk="1" latinLnBrk="0" hangingPunct="1">
      <a:defRPr sz="1200" kern="1200">
        <a:solidFill>
          <a:schemeClr val="tx1"/>
        </a:solidFill>
        <a:latin typeface="+mn-lt"/>
        <a:ea typeface="+mn-ea"/>
        <a:cs typeface="+mn-cs"/>
      </a:defRPr>
    </a:lvl6pPr>
    <a:lvl7pPr marL="2743200" algn="r" defTabSz="914400" rtl="1" eaLnBrk="1" latinLnBrk="0" hangingPunct="1">
      <a:defRPr sz="1200" kern="1200">
        <a:solidFill>
          <a:schemeClr val="tx1"/>
        </a:solidFill>
        <a:latin typeface="+mn-lt"/>
        <a:ea typeface="+mn-ea"/>
        <a:cs typeface="+mn-cs"/>
      </a:defRPr>
    </a:lvl7pPr>
    <a:lvl8pPr marL="3200400" algn="r" defTabSz="914400" rtl="1" eaLnBrk="1" latinLnBrk="0" hangingPunct="1">
      <a:defRPr sz="1200" kern="1200">
        <a:solidFill>
          <a:schemeClr val="tx1"/>
        </a:solidFill>
        <a:latin typeface="+mn-lt"/>
        <a:ea typeface="+mn-ea"/>
        <a:cs typeface="+mn-cs"/>
      </a:defRPr>
    </a:lvl8pPr>
    <a:lvl9pPr marL="3657600" algn="r" defTabSz="914400" rtl="1"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endParaRPr lang="he-IL"/>
          </a:p>
        </p:txBody>
      </p:sp>
      <p:sp>
        <p:nvSpPr>
          <p:cNvPr id="4" name="מציין מיקום של מספר שקופית 3"/>
          <p:cNvSpPr>
            <a:spLocks noGrp="1"/>
          </p:cNvSpPr>
          <p:nvPr>
            <p:ph type="sldNum" sz="quarter" idx="10"/>
          </p:nvPr>
        </p:nvSpPr>
        <p:spPr/>
        <p:txBody>
          <a:bodyPr/>
          <a:lstStyle/>
          <a:p>
            <a:pPr marL="0" marR="0" lvl="0" indent="0" algn="l" defTabSz="914400" rtl="1" eaLnBrk="1" fontAlgn="auto" latinLnBrk="0" hangingPunct="1">
              <a:lnSpc>
                <a:spcPct val="100000"/>
              </a:lnSpc>
              <a:spcBef>
                <a:spcPts val="0"/>
              </a:spcBef>
              <a:spcAft>
                <a:spcPts val="0"/>
              </a:spcAft>
              <a:buClrTx/>
              <a:buSzTx/>
              <a:buFontTx/>
              <a:buNone/>
              <a:tabLst/>
              <a:defRPr/>
            </a:pPr>
            <a:fld id="{5C3FB198-B410-4AA9-86F5-D09177D6400A}" type="slidenum">
              <a:rPr kumimoji="0" lang="he-IL" sz="1200" b="0" i="0" u="none" strike="noStrike" kern="1200" cap="none" spc="0" normalizeH="0" baseline="0" noProof="0" smtClean="0">
                <a:ln>
                  <a:noFill/>
                </a:ln>
                <a:solidFill>
                  <a:prstClr val="black"/>
                </a:solidFill>
                <a:effectLst/>
                <a:uLnTx/>
                <a:uFillTx/>
                <a:latin typeface="Calibri" panose="020F0502020204030204"/>
                <a:ea typeface="+mn-ea"/>
                <a:cs typeface="Arial" panose="020B0604020202020204" pitchFamily="34" charset="0"/>
              </a:rPr>
              <a:pPr marL="0" marR="0" lvl="0" indent="0" algn="l" defTabSz="914400" rtl="1" eaLnBrk="1" fontAlgn="auto" latinLnBrk="0" hangingPunct="1">
                <a:lnSpc>
                  <a:spcPct val="100000"/>
                </a:lnSpc>
                <a:spcBef>
                  <a:spcPts val="0"/>
                </a:spcBef>
                <a:spcAft>
                  <a:spcPts val="0"/>
                </a:spcAft>
                <a:buClrTx/>
                <a:buSzTx/>
                <a:buFontTx/>
                <a:buNone/>
                <a:tabLst/>
                <a:defRPr/>
              </a:pPr>
              <a:t>2</a:t>
            </a:fld>
            <a:endParaRPr kumimoji="0" lang="he-IL" sz="12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4604124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r>
              <a:rPr lang="he-IL" dirty="0"/>
              <a:t>ישראל מתקדמת ביחס לעולם המערבי גם בעבר וגם כיום (בריק)</a:t>
            </a:r>
          </a:p>
        </p:txBody>
      </p:sp>
      <p:sp>
        <p:nvSpPr>
          <p:cNvPr id="4" name="מציין מיקום של מספר שקופית 3"/>
          <p:cNvSpPr>
            <a:spLocks noGrp="1"/>
          </p:cNvSpPr>
          <p:nvPr>
            <p:ph type="sldNum" sz="quarter" idx="10"/>
          </p:nvPr>
        </p:nvSpPr>
        <p:spPr/>
        <p:txBody>
          <a:bodyPr/>
          <a:lstStyle/>
          <a:p>
            <a:pPr marL="0" marR="0" lvl="0" indent="0" algn="l" defTabSz="914400" rtl="1" eaLnBrk="1" fontAlgn="auto" latinLnBrk="0" hangingPunct="1">
              <a:lnSpc>
                <a:spcPct val="100000"/>
              </a:lnSpc>
              <a:spcBef>
                <a:spcPts val="0"/>
              </a:spcBef>
              <a:spcAft>
                <a:spcPts val="0"/>
              </a:spcAft>
              <a:buClrTx/>
              <a:buSzTx/>
              <a:buFontTx/>
              <a:buNone/>
              <a:tabLst/>
              <a:defRPr/>
            </a:pPr>
            <a:fld id="{5C3FB198-B410-4AA9-86F5-D09177D6400A}" type="slidenum">
              <a:rPr kumimoji="0" lang="he-IL" sz="1200" b="0" i="0" u="none" strike="noStrike" kern="1200" cap="none" spc="0" normalizeH="0" baseline="0" noProof="0" smtClean="0">
                <a:ln>
                  <a:noFill/>
                </a:ln>
                <a:solidFill>
                  <a:prstClr val="black"/>
                </a:solidFill>
                <a:effectLst/>
                <a:uLnTx/>
                <a:uFillTx/>
                <a:latin typeface="Calibri" panose="020F0502020204030204"/>
                <a:ea typeface="+mn-ea"/>
                <a:cs typeface="Arial" panose="020B0604020202020204" pitchFamily="34" charset="0"/>
              </a:rPr>
              <a:pPr marL="0" marR="0" lvl="0" indent="0" algn="l" defTabSz="914400" rtl="1" eaLnBrk="1" fontAlgn="auto" latinLnBrk="0" hangingPunct="1">
                <a:lnSpc>
                  <a:spcPct val="100000"/>
                </a:lnSpc>
                <a:spcBef>
                  <a:spcPts val="0"/>
                </a:spcBef>
                <a:spcAft>
                  <a:spcPts val="0"/>
                </a:spcAft>
                <a:buClrTx/>
                <a:buSzTx/>
                <a:buFontTx/>
                <a:buNone/>
                <a:tabLst/>
                <a:defRPr/>
              </a:pPr>
              <a:t>3</a:t>
            </a:fld>
            <a:endParaRPr kumimoji="0" lang="he-IL" sz="12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340918607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r>
              <a:rPr lang="he-IL" dirty="0"/>
              <a:t>עד עשרים שנה מגיעים ל15%, הגיל הרביעי מכפיל את עצמו </a:t>
            </a:r>
            <a:r>
              <a:rPr lang="he-IL" dirty="0" err="1"/>
              <a:t>במויות</a:t>
            </a:r>
            <a:endParaRPr lang="he-IL" dirty="0"/>
          </a:p>
        </p:txBody>
      </p:sp>
      <p:sp>
        <p:nvSpPr>
          <p:cNvPr id="4" name="מציין מיקום של מספר שקופית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F290769-FC4B-4518-8E82-10D24D0B70E5}" type="slidenum">
              <a:rPr kumimoji="0" lang="en-IL" sz="1200" b="0" i="0" u="none" strike="noStrike" kern="1200" cap="none" spc="0" normalizeH="0" baseline="0" noProof="0" smtClean="0">
                <a:ln>
                  <a:noFill/>
                </a:ln>
                <a:solidFill>
                  <a:prstClr val="black"/>
                </a:solidFill>
                <a:effectLst/>
                <a:uLnTx/>
                <a:uFillTx/>
                <a:latin typeface="Assistant" pitchFamily="2" charset="-79"/>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IL" sz="1200" b="0" i="0" u="none" strike="noStrike" kern="1200" cap="none" spc="0" normalizeH="0" baseline="0" noProof="0" dirty="0">
              <a:ln>
                <a:noFill/>
              </a:ln>
              <a:solidFill>
                <a:prstClr val="black"/>
              </a:solidFill>
              <a:effectLst/>
              <a:uLnTx/>
              <a:uFillTx/>
              <a:latin typeface="Assistant" pitchFamily="2" charset="-79"/>
              <a:ea typeface="+mn-ea"/>
              <a:cs typeface="+mn-cs"/>
            </a:endParaRPr>
          </a:p>
        </p:txBody>
      </p:sp>
    </p:spTree>
    <p:extLst>
      <p:ext uri="{BB962C8B-B14F-4D97-AF65-F5344CB8AC3E}">
        <p14:creationId xmlns:p14="http://schemas.microsoft.com/office/powerpoint/2010/main" val="15042646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r>
              <a:rPr lang="he-IL" dirty="0"/>
              <a:t>זה הברדק</a:t>
            </a:r>
            <a:r>
              <a:rPr lang="he-IL" baseline="0" dirty="0"/>
              <a:t> התפעולי בין הגופים</a:t>
            </a:r>
            <a:endParaRPr lang="he-IL" dirty="0"/>
          </a:p>
        </p:txBody>
      </p:sp>
      <p:sp>
        <p:nvSpPr>
          <p:cNvPr id="4" name="מציין מיקום של מספר שקופית 3"/>
          <p:cNvSpPr>
            <a:spLocks noGrp="1"/>
          </p:cNvSpPr>
          <p:nvPr>
            <p:ph type="sldNum" sz="quarter" idx="10"/>
          </p:nvPr>
        </p:nvSpPr>
        <p:spPr/>
        <p:txBody>
          <a:bodyPr/>
          <a:lstStyle/>
          <a:p>
            <a:pPr marL="0" marR="0" lvl="0" indent="0" algn="l" defTabSz="914400" rtl="1" eaLnBrk="1" fontAlgn="auto" latinLnBrk="0" hangingPunct="1">
              <a:lnSpc>
                <a:spcPct val="100000"/>
              </a:lnSpc>
              <a:spcBef>
                <a:spcPts val="0"/>
              </a:spcBef>
              <a:spcAft>
                <a:spcPts val="0"/>
              </a:spcAft>
              <a:buClrTx/>
              <a:buSzTx/>
              <a:buFontTx/>
              <a:buNone/>
              <a:tabLst/>
              <a:defRPr/>
            </a:pPr>
            <a:fld id="{5C3FB198-B410-4AA9-86F5-D09177D6400A}" type="slidenum">
              <a:rPr kumimoji="0" lang="he-IL" sz="1200" b="0" i="0" u="none" strike="noStrike" kern="1200" cap="none" spc="0" normalizeH="0" baseline="0" noProof="0" smtClean="0">
                <a:ln>
                  <a:noFill/>
                </a:ln>
                <a:solidFill>
                  <a:prstClr val="black"/>
                </a:solidFill>
                <a:effectLst/>
                <a:uLnTx/>
                <a:uFillTx/>
                <a:latin typeface="Calibri" panose="020F0502020204030204"/>
                <a:ea typeface="+mn-ea"/>
                <a:cs typeface="Arial" panose="020B0604020202020204" pitchFamily="34" charset="0"/>
              </a:rPr>
              <a:pPr marL="0" marR="0" lvl="0" indent="0" algn="l" defTabSz="914400" rtl="1" eaLnBrk="1" fontAlgn="auto" latinLnBrk="0" hangingPunct="1">
                <a:lnSpc>
                  <a:spcPct val="100000"/>
                </a:lnSpc>
                <a:spcBef>
                  <a:spcPts val="0"/>
                </a:spcBef>
                <a:spcAft>
                  <a:spcPts val="0"/>
                </a:spcAft>
                <a:buClrTx/>
                <a:buSzTx/>
                <a:buFontTx/>
                <a:buNone/>
                <a:tabLst/>
                <a:defRPr/>
              </a:pPr>
              <a:t>6</a:t>
            </a:fld>
            <a:endParaRPr kumimoji="0" lang="he-IL" sz="12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364594582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Shape 148"/>
          <p:cNvSpPr>
            <a:spLocks noGrp="1" noRot="1" noChangeAspect="1"/>
          </p:cNvSpPr>
          <p:nvPr>
            <p:ph type="sldImg" idx="2"/>
          </p:nvPr>
        </p:nvSpPr>
        <p:spPr>
          <a:xfrm>
            <a:off x="2649538" y="514350"/>
            <a:ext cx="4573587" cy="257175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49" name="Shape 149"/>
          <p:cNvSpPr txBox="1">
            <a:spLocks noGrp="1"/>
          </p:cNvSpPr>
          <p:nvPr>
            <p:ph type="body" idx="1"/>
          </p:nvPr>
        </p:nvSpPr>
        <p:spPr>
          <a:xfrm>
            <a:off x="987268" y="3257550"/>
            <a:ext cx="7898129" cy="3086100"/>
          </a:xfrm>
          <a:prstGeom prst="rect">
            <a:avLst/>
          </a:prstGeom>
        </p:spPr>
        <p:txBody>
          <a:bodyPr lIns="91425" tIns="91425" rIns="91425" bIns="91425" anchor="t" anchorCtr="0">
            <a:noAutofit/>
          </a:bodyPr>
          <a:lstStyle/>
          <a:p>
            <a:pPr lvl="0">
              <a:spcBef>
                <a:spcPts val="0"/>
              </a:spcBef>
              <a:buNone/>
            </a:pPr>
            <a:r>
              <a:rPr lang="he-IL" b="1" dirty="0"/>
              <a:t>הסיבות העיקריות:</a:t>
            </a:r>
          </a:p>
          <a:p>
            <a:pPr lvl="0">
              <a:spcBef>
                <a:spcPts val="0"/>
              </a:spcBef>
              <a:buNone/>
            </a:pPr>
            <a:r>
              <a:rPr lang="he-IL" dirty="0"/>
              <a:t>יותר זקנים</a:t>
            </a:r>
          </a:p>
          <a:p>
            <a:pPr lvl="0">
              <a:spcBef>
                <a:spcPts val="0"/>
              </a:spcBef>
              <a:buNone/>
            </a:pPr>
            <a:r>
              <a:rPr lang="he-IL" dirty="0"/>
              <a:t>הרפורמה</a:t>
            </a:r>
          </a:p>
          <a:p>
            <a:pPr lvl="0">
              <a:spcBef>
                <a:spcPts val="0"/>
              </a:spcBef>
              <a:buNone/>
            </a:pPr>
            <a:r>
              <a:rPr lang="he-IL" dirty="0"/>
              <a:t>הכרה מורחבת</a:t>
            </a:r>
          </a:p>
          <a:p>
            <a:pPr lvl="0">
              <a:spcBef>
                <a:spcPts val="0"/>
              </a:spcBef>
              <a:buNone/>
            </a:pPr>
            <a:r>
              <a:rPr lang="he-IL" dirty="0"/>
              <a:t>תמריץ</a:t>
            </a:r>
            <a:r>
              <a:rPr lang="he-IL" baseline="0" dirty="0"/>
              <a:t> שלילי לאדם ולחברות</a:t>
            </a:r>
            <a:endParaRPr dirty="0"/>
          </a:p>
        </p:txBody>
      </p:sp>
    </p:spTree>
    <p:extLst>
      <p:ext uri="{BB962C8B-B14F-4D97-AF65-F5344CB8AC3E}">
        <p14:creationId xmlns:p14="http://schemas.microsoft.com/office/powerpoint/2010/main" val="298747449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endParaRPr lang="he-IL" dirty="0"/>
          </a:p>
        </p:txBody>
      </p:sp>
      <p:sp>
        <p:nvSpPr>
          <p:cNvPr id="4" name="מציין מיקום של מספר שקופית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F290769-FC4B-4518-8E82-10D24D0B70E5}" type="slidenum">
              <a:rPr kumimoji="0" lang="en-IL" sz="1200" b="0" i="0" u="none" strike="noStrike" kern="1200" cap="none" spc="0" normalizeH="0" baseline="0" noProof="0" smtClean="0">
                <a:ln>
                  <a:noFill/>
                </a:ln>
                <a:solidFill>
                  <a:prstClr val="black"/>
                </a:solidFill>
                <a:effectLst/>
                <a:uLnTx/>
                <a:uFillTx/>
                <a:latin typeface="Assistant" pitchFamily="2" charset="-79"/>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IL" sz="1200" b="0" i="0" u="none" strike="noStrike" kern="1200" cap="none" spc="0" normalizeH="0" baseline="0" noProof="0" dirty="0">
              <a:ln>
                <a:noFill/>
              </a:ln>
              <a:solidFill>
                <a:prstClr val="black"/>
              </a:solidFill>
              <a:effectLst/>
              <a:uLnTx/>
              <a:uFillTx/>
              <a:latin typeface="Assistant" pitchFamily="2" charset="-79"/>
              <a:ea typeface="+mn-ea"/>
              <a:cs typeface="+mn-cs"/>
            </a:endParaRPr>
          </a:p>
        </p:txBody>
      </p:sp>
    </p:spTree>
    <p:extLst>
      <p:ext uri="{BB962C8B-B14F-4D97-AF65-F5344CB8AC3E}">
        <p14:creationId xmlns:p14="http://schemas.microsoft.com/office/powerpoint/2010/main" val="276127782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endParaRPr lang="he-IL" dirty="0"/>
          </a:p>
        </p:txBody>
      </p:sp>
      <p:sp>
        <p:nvSpPr>
          <p:cNvPr id="4" name="מציין מיקום של מספר שקופית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F290769-FC4B-4518-8E82-10D24D0B70E5}" type="slidenum">
              <a:rPr kumimoji="0" lang="en-IL" sz="1200" b="0" i="0" u="none" strike="noStrike" kern="1200" cap="none" spc="0" normalizeH="0" baseline="0" noProof="0" smtClean="0">
                <a:ln>
                  <a:noFill/>
                </a:ln>
                <a:solidFill>
                  <a:prstClr val="black"/>
                </a:solidFill>
                <a:effectLst/>
                <a:uLnTx/>
                <a:uFillTx/>
                <a:latin typeface="Assistant" pitchFamily="2" charset="-79"/>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IL" sz="1200" b="0" i="0" u="none" strike="noStrike" kern="1200" cap="none" spc="0" normalizeH="0" baseline="0" noProof="0" dirty="0">
              <a:ln>
                <a:noFill/>
              </a:ln>
              <a:solidFill>
                <a:prstClr val="black"/>
              </a:solidFill>
              <a:effectLst/>
              <a:uLnTx/>
              <a:uFillTx/>
              <a:latin typeface="Assistant" pitchFamily="2" charset="-79"/>
              <a:ea typeface="+mn-ea"/>
              <a:cs typeface="+mn-cs"/>
            </a:endParaRPr>
          </a:p>
        </p:txBody>
      </p:sp>
    </p:spTree>
    <p:extLst>
      <p:ext uri="{BB962C8B-B14F-4D97-AF65-F5344CB8AC3E}">
        <p14:creationId xmlns:p14="http://schemas.microsoft.com/office/powerpoint/2010/main" val="2302758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pPr marL="0" indent="0" algn="just">
              <a:lnSpc>
                <a:spcPct val="170000"/>
              </a:lnSpc>
              <a:buFont typeface="Arial" panose="020B0604020202020204" pitchFamily="34" charset="0"/>
              <a:buNone/>
            </a:pPr>
            <a:r>
              <a:rPr lang="he-IL" sz="1200" b="1" u="none" dirty="0">
                <a:latin typeface="Tahoma" panose="020B0604030504040204" pitchFamily="34" charset="0"/>
                <a:ea typeface="Tahoma" panose="020B0604030504040204" pitchFamily="34" charset="0"/>
                <a:cs typeface="Tahoma" panose="020B0604030504040204" pitchFamily="34" charset="0"/>
              </a:rPr>
              <a:t>41%+22%=63% בכסף</a:t>
            </a:r>
          </a:p>
          <a:p>
            <a:pPr marL="0" indent="0" algn="just">
              <a:lnSpc>
                <a:spcPct val="170000"/>
              </a:lnSpc>
              <a:buFont typeface="Arial" panose="020B0604020202020204" pitchFamily="34" charset="0"/>
              <a:buNone/>
            </a:pPr>
            <a:r>
              <a:rPr lang="he-IL" sz="1200" b="1" u="sng" dirty="0">
                <a:latin typeface="Tahoma" panose="020B0604030504040204" pitchFamily="34" charset="0"/>
                <a:ea typeface="Tahoma" panose="020B0604030504040204" pitchFamily="34" charset="0"/>
                <a:cs typeface="Tahoma" panose="020B0604030504040204" pitchFamily="34" charset="0"/>
              </a:rPr>
              <a:t>הרפורמה ב2018:</a:t>
            </a:r>
          </a:p>
          <a:p>
            <a:pPr marL="171450" indent="-171450" algn="just">
              <a:lnSpc>
                <a:spcPct val="170000"/>
              </a:lnSpc>
              <a:buFont typeface="Arial" panose="020B0604020202020204" pitchFamily="34" charset="0"/>
              <a:buChar char="•"/>
            </a:pPr>
            <a:r>
              <a:rPr lang="he-IL" sz="1200" b="1" dirty="0">
                <a:latin typeface="Tahoma" panose="020B0604030504040204" pitchFamily="34" charset="0"/>
                <a:ea typeface="Tahoma" panose="020B0604030504040204" pitchFamily="34" charset="0"/>
                <a:cs typeface="Tahoma" panose="020B0604030504040204" pitchFamily="34" charset="0"/>
              </a:rPr>
              <a:t>גמלה בכסף</a:t>
            </a:r>
          </a:p>
          <a:p>
            <a:pPr marL="171450" indent="-171450" algn="just">
              <a:lnSpc>
                <a:spcPct val="170000"/>
              </a:lnSpc>
              <a:buFont typeface="Arial" panose="020B0604020202020204" pitchFamily="34" charset="0"/>
              <a:buChar char="•"/>
            </a:pPr>
            <a:r>
              <a:rPr lang="he-IL" sz="1200" b="1" dirty="0">
                <a:latin typeface="Tahoma" panose="020B0604030504040204" pitchFamily="34" charset="0"/>
                <a:ea typeface="Tahoma" panose="020B0604030504040204" pitchFamily="34" charset="0"/>
                <a:cs typeface="Tahoma" panose="020B0604030504040204" pitchFamily="34" charset="0"/>
              </a:rPr>
              <a:t>ומעבר מ-3 רמות גמלה ל-6 רמות.</a:t>
            </a:r>
          </a:p>
          <a:p>
            <a:pPr marL="171450" indent="-171450" algn="just">
              <a:lnSpc>
                <a:spcPct val="170000"/>
              </a:lnSpc>
              <a:buFont typeface="Arial" panose="020B0604020202020204" pitchFamily="34" charset="0"/>
              <a:buChar char="•"/>
            </a:pPr>
            <a:r>
              <a:rPr lang="he-IL" sz="1200" b="1" dirty="0">
                <a:latin typeface="Tahoma" panose="020B0604030504040204" pitchFamily="34" charset="0"/>
                <a:ea typeface="Tahoma" panose="020B0604030504040204" pitchFamily="34" charset="0"/>
                <a:cs typeface="Tahoma" panose="020B0604030504040204" pitchFamily="34" charset="0"/>
              </a:rPr>
              <a:t>יותר יחידות וכסף</a:t>
            </a:r>
          </a:p>
          <a:p>
            <a:pPr marL="171450" indent="-171450" algn="just">
              <a:lnSpc>
                <a:spcPct val="170000"/>
              </a:lnSpc>
              <a:buFont typeface="Arial" panose="020B0604020202020204" pitchFamily="34" charset="0"/>
              <a:buChar char="•"/>
            </a:pPr>
            <a:r>
              <a:rPr lang="he-IL" sz="1200" b="1" dirty="0">
                <a:latin typeface="Tahoma" panose="020B0604030504040204" pitchFamily="34" charset="0"/>
                <a:ea typeface="Tahoma" panose="020B0604030504040204" pitchFamily="34" charset="0"/>
                <a:cs typeface="Tahoma" panose="020B0604030504040204" pitchFamily="34" charset="0"/>
              </a:rPr>
              <a:t>יותר הכרה ופחות בחינות פרטניות</a:t>
            </a:r>
          </a:p>
          <a:p>
            <a:pPr marL="171450" indent="-171450" algn="just">
              <a:lnSpc>
                <a:spcPct val="170000"/>
              </a:lnSpc>
              <a:buFont typeface="Arial" panose="020B0604020202020204" pitchFamily="34" charset="0"/>
              <a:buChar char="•"/>
            </a:pPr>
            <a:r>
              <a:rPr lang="he-IL" sz="1200" b="1" dirty="0">
                <a:latin typeface="Tahoma" panose="020B0604030504040204" pitchFamily="34" charset="0"/>
                <a:ea typeface="Tahoma" panose="020B0604030504040204" pitchFamily="34" charset="0"/>
                <a:cs typeface="Tahoma" panose="020B0604030504040204" pitchFamily="34" charset="0"/>
              </a:rPr>
              <a:t>התאמת השירותים לצרכי הזכאים</a:t>
            </a:r>
          </a:p>
          <a:p>
            <a:pPr marL="171450" indent="-171450" algn="just">
              <a:lnSpc>
                <a:spcPct val="170000"/>
              </a:lnSpc>
              <a:buFont typeface="Arial" panose="020B0604020202020204" pitchFamily="34" charset="0"/>
              <a:buChar char="•"/>
            </a:pPr>
            <a:r>
              <a:rPr lang="he-IL" b="1" dirty="0"/>
              <a:t>בני משפחה מטפלים בשכר כחלק מהקורונה</a:t>
            </a:r>
          </a:p>
        </p:txBody>
      </p:sp>
      <p:sp>
        <p:nvSpPr>
          <p:cNvPr id="4" name="מציין מיקום של מספר שקופית 3"/>
          <p:cNvSpPr>
            <a:spLocks noGrp="1"/>
          </p:cNvSpPr>
          <p:nvPr>
            <p:ph type="sldNum" sz="quarter" idx="10"/>
          </p:nvPr>
        </p:nvSpPr>
        <p:spPr/>
        <p:txBody>
          <a:bodyPr/>
          <a:lstStyle/>
          <a:p>
            <a:pPr marL="0" marR="0" lvl="0" indent="0" algn="l" defTabSz="914400" rtl="1" eaLnBrk="1" fontAlgn="auto" latinLnBrk="0" hangingPunct="1">
              <a:lnSpc>
                <a:spcPct val="100000"/>
              </a:lnSpc>
              <a:spcBef>
                <a:spcPts val="0"/>
              </a:spcBef>
              <a:spcAft>
                <a:spcPts val="0"/>
              </a:spcAft>
              <a:buClrTx/>
              <a:buSzTx/>
              <a:buFontTx/>
              <a:buNone/>
              <a:tabLst/>
              <a:defRPr/>
            </a:pPr>
            <a:fld id="{5C3FB198-B410-4AA9-86F5-D09177D6400A}" type="slidenum">
              <a:rPr kumimoji="0" lang="he-IL" sz="1200" b="0" i="0" u="none" strike="noStrike" kern="1200" cap="none" spc="0" normalizeH="0" baseline="0" noProof="0" smtClean="0">
                <a:ln>
                  <a:noFill/>
                </a:ln>
                <a:solidFill>
                  <a:prstClr val="black"/>
                </a:solidFill>
                <a:effectLst/>
                <a:uLnTx/>
                <a:uFillTx/>
                <a:latin typeface="Calibri" panose="020F0502020204030204"/>
                <a:ea typeface="+mn-ea"/>
                <a:cs typeface="Arial" panose="020B0604020202020204" pitchFamily="34" charset="0"/>
              </a:rPr>
              <a:pPr marL="0" marR="0" lvl="0" indent="0" algn="l" defTabSz="914400" rtl="1" eaLnBrk="1" fontAlgn="auto" latinLnBrk="0" hangingPunct="1">
                <a:lnSpc>
                  <a:spcPct val="100000"/>
                </a:lnSpc>
                <a:spcBef>
                  <a:spcPts val="0"/>
                </a:spcBef>
                <a:spcAft>
                  <a:spcPts val="0"/>
                </a:spcAft>
                <a:buClrTx/>
                <a:buSzTx/>
                <a:buFontTx/>
                <a:buNone/>
                <a:tabLst/>
                <a:defRPr/>
              </a:pPr>
              <a:t>10</a:t>
            </a:fld>
            <a:endParaRPr kumimoji="0" lang="he-IL" sz="12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202218994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100C68-1DE9-A80F-50E1-AD715A79BDB5}"/>
            </a:ext>
          </a:extLst>
        </p:cNvPr>
        <p:cNvGrpSpPr/>
        <p:nvPr/>
      </p:nvGrpSpPr>
      <p:grpSpPr>
        <a:xfrm>
          <a:off x="0" y="0"/>
          <a:ext cx="0" cy="0"/>
          <a:chOff x="0" y="0"/>
          <a:chExt cx="0" cy="0"/>
        </a:xfrm>
      </p:grpSpPr>
      <p:sp>
        <p:nvSpPr>
          <p:cNvPr id="2" name="מציין מיקום של תמונת שקופית 1">
            <a:extLst>
              <a:ext uri="{FF2B5EF4-FFF2-40B4-BE49-F238E27FC236}">
                <a16:creationId xmlns:a16="http://schemas.microsoft.com/office/drawing/2014/main" id="{0D569414-CAAA-F014-8B80-6CDBE37EA115}"/>
              </a:ext>
            </a:extLst>
          </p:cNvPr>
          <p:cNvSpPr>
            <a:spLocks noGrp="1" noRot="1" noChangeAspect="1"/>
          </p:cNvSpPr>
          <p:nvPr>
            <p:ph type="sldImg"/>
          </p:nvPr>
        </p:nvSpPr>
        <p:spPr/>
      </p:sp>
      <p:sp>
        <p:nvSpPr>
          <p:cNvPr id="3" name="מציין מיקום של הערות 2">
            <a:extLst>
              <a:ext uri="{FF2B5EF4-FFF2-40B4-BE49-F238E27FC236}">
                <a16:creationId xmlns:a16="http://schemas.microsoft.com/office/drawing/2014/main" id="{3F5E81DD-31DB-098B-A6CC-3DCC363E34DA}"/>
              </a:ext>
            </a:extLst>
          </p:cNvPr>
          <p:cNvSpPr>
            <a:spLocks noGrp="1"/>
          </p:cNvSpPr>
          <p:nvPr>
            <p:ph type="body" idx="1"/>
          </p:nvPr>
        </p:nvSpPr>
        <p:spPr/>
        <p:txBody>
          <a:bodyPr/>
          <a:lstStyle/>
          <a:p>
            <a:endParaRPr lang="he-IL" b="1" dirty="0"/>
          </a:p>
        </p:txBody>
      </p:sp>
      <p:sp>
        <p:nvSpPr>
          <p:cNvPr id="4" name="מציין מיקום של מספר שקופית 3">
            <a:extLst>
              <a:ext uri="{FF2B5EF4-FFF2-40B4-BE49-F238E27FC236}">
                <a16:creationId xmlns:a16="http://schemas.microsoft.com/office/drawing/2014/main" id="{6FB01D4C-E335-7B92-54BA-330655ED1DAB}"/>
              </a:ext>
            </a:extLst>
          </p:cNvPr>
          <p:cNvSpPr>
            <a:spLocks noGrp="1"/>
          </p:cNvSpPr>
          <p:nvPr>
            <p:ph type="sldNum" sz="quarter" idx="5"/>
          </p:nvPr>
        </p:nvSpPr>
        <p:spPr/>
        <p:txBody>
          <a:bodyPr/>
          <a:lstStyle/>
          <a:p>
            <a:pPr marL="0" marR="0" lvl="0" indent="0" algn="l" defTabSz="914400" rtl="1" eaLnBrk="1" fontAlgn="auto" latinLnBrk="0" hangingPunct="1">
              <a:lnSpc>
                <a:spcPct val="100000"/>
              </a:lnSpc>
              <a:spcBef>
                <a:spcPts val="0"/>
              </a:spcBef>
              <a:spcAft>
                <a:spcPts val="0"/>
              </a:spcAft>
              <a:buClrTx/>
              <a:buSzTx/>
              <a:buFontTx/>
              <a:buNone/>
              <a:tabLst/>
              <a:defRPr/>
            </a:pPr>
            <a:fld id="{94496DA2-19AA-4126-B875-46CF6FBC0E07}" type="slidenum">
              <a:rPr kumimoji="0" lang="he-IL" sz="1200" b="0" i="0" u="none" strike="noStrike" kern="1200" cap="none" spc="0" normalizeH="0" baseline="0" noProof="0" smtClean="0">
                <a:ln>
                  <a:noFill/>
                </a:ln>
                <a:solidFill>
                  <a:prstClr val="black"/>
                </a:solidFill>
                <a:effectLst/>
                <a:uLnTx/>
                <a:uFillTx/>
                <a:latin typeface="Calibri" panose="020F0502020204030204"/>
                <a:ea typeface="+mn-ea"/>
                <a:cs typeface="Arial" panose="020B0604020202020204" pitchFamily="34" charset="0"/>
              </a:rPr>
              <a:pPr marL="0" marR="0" lvl="0" indent="0" algn="l" defTabSz="914400" rtl="1" eaLnBrk="1" fontAlgn="auto" latinLnBrk="0" hangingPunct="1">
                <a:lnSpc>
                  <a:spcPct val="100000"/>
                </a:lnSpc>
                <a:spcBef>
                  <a:spcPts val="0"/>
                </a:spcBef>
                <a:spcAft>
                  <a:spcPts val="0"/>
                </a:spcAft>
                <a:buClrTx/>
                <a:buSzTx/>
                <a:buFontTx/>
                <a:buNone/>
                <a:tabLst/>
                <a:defRPr/>
              </a:pPr>
              <a:t>11</a:t>
            </a:fld>
            <a:endParaRPr kumimoji="0" lang="he-IL" sz="12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56933101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pPr marL="342900" lvl="0" indent="-342900" algn="r" rtl="1">
              <a:lnSpc>
                <a:spcPct val="107000"/>
              </a:lnSpc>
              <a:buFont typeface="Symbol" panose="05050102010706020507" pitchFamily="18" charset="2"/>
              <a:buChar char=""/>
            </a:pPr>
            <a:r>
              <a:rPr lang="he-IL" sz="1800" b="1" dirty="0">
                <a:effectLst/>
                <a:latin typeface="Calibri" panose="020F0502020204030204" pitchFamily="34" charset="0"/>
                <a:ea typeface="Calibri" panose="020F0502020204030204" pitchFamily="34" charset="0"/>
                <a:cs typeface="Arial" panose="020B0604020202020204" pitchFamily="34" charset="0"/>
              </a:rPr>
              <a:t>מושקע תקציב עתק- תוצאות לא טובות ולא במקרה:</a:t>
            </a:r>
            <a:endParaRPr lang="en-US" sz="1800" dirty="0">
              <a:effectLst/>
              <a:latin typeface="Calibri" panose="020F0502020204030204" pitchFamily="34" charset="0"/>
              <a:ea typeface="Calibri" panose="020F0502020204030204" pitchFamily="34" charset="0"/>
              <a:cs typeface="Arial" panose="020B0604020202020204" pitchFamily="34" charset="0"/>
            </a:endParaRPr>
          </a:p>
          <a:p>
            <a:pPr marL="457200" algn="r" rtl="1">
              <a:lnSpc>
                <a:spcPct val="107000"/>
              </a:lnSpc>
              <a:spcAft>
                <a:spcPts val="800"/>
              </a:spcAft>
            </a:pPr>
            <a:r>
              <a:rPr lang="he-IL" sz="1800" dirty="0">
                <a:effectLst/>
                <a:latin typeface="Calibri" panose="020F0502020204030204" pitchFamily="34" charset="0"/>
                <a:ea typeface="Calibri" panose="020F0502020204030204" pitchFamily="34" charset="0"/>
                <a:cs typeface="Arial" panose="020B0604020202020204" pitchFamily="34" charset="0"/>
              </a:rPr>
              <a:t>פנינה מקבלת כביסה, טיטולים/מטפלת/מרכז יום-</a:t>
            </a:r>
            <a:r>
              <a:rPr lang="he-IL" sz="1800" b="1" dirty="0">
                <a:effectLst/>
                <a:latin typeface="Calibri" panose="020F0502020204030204" pitchFamily="34" charset="0"/>
                <a:ea typeface="Calibri" panose="020F0502020204030204" pitchFamily="34" charset="0"/>
                <a:cs typeface="Arial" panose="020B0604020202020204" pitchFamily="34" charset="0"/>
              </a:rPr>
              <a:t> כל מה שהיא לא צריכה..</a:t>
            </a:r>
            <a:endParaRPr lang="en-US" sz="1800" dirty="0">
              <a:effectLst/>
              <a:latin typeface="Calibri" panose="020F0502020204030204" pitchFamily="34" charset="0"/>
              <a:ea typeface="Calibri" panose="020F0502020204030204" pitchFamily="34" charset="0"/>
              <a:cs typeface="Arial" panose="020B0604020202020204" pitchFamily="34" charset="0"/>
            </a:endParaRPr>
          </a:p>
          <a:p>
            <a:endParaRPr lang="he-IL" dirty="0"/>
          </a:p>
        </p:txBody>
      </p:sp>
      <p:sp>
        <p:nvSpPr>
          <p:cNvPr id="4" name="מציין מיקום של מספר שקופית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F290769-FC4B-4518-8E82-10D24D0B70E5}" type="slidenum">
              <a:rPr kumimoji="0" lang="en-IL" sz="1200" b="0" i="0" u="none" strike="noStrike" kern="1200" cap="none" spc="0" normalizeH="0" baseline="0" noProof="0" smtClean="0">
                <a:ln>
                  <a:noFill/>
                </a:ln>
                <a:solidFill>
                  <a:prstClr val="black"/>
                </a:solidFill>
                <a:effectLst/>
                <a:uLnTx/>
                <a:uFillTx/>
                <a:latin typeface="Assistant" pitchFamily="2" charset="-79"/>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IL" sz="1200" b="0" i="0" u="none" strike="noStrike" kern="1200" cap="none" spc="0" normalizeH="0" baseline="0" noProof="0" dirty="0">
              <a:ln>
                <a:noFill/>
              </a:ln>
              <a:solidFill>
                <a:prstClr val="black"/>
              </a:solidFill>
              <a:effectLst/>
              <a:uLnTx/>
              <a:uFillTx/>
              <a:latin typeface="Assistant" pitchFamily="2" charset="-79"/>
              <a:ea typeface="+mn-ea"/>
              <a:cs typeface="+mn-cs"/>
            </a:endParaRPr>
          </a:p>
        </p:txBody>
      </p:sp>
    </p:spTree>
    <p:extLst>
      <p:ext uri="{BB962C8B-B14F-4D97-AF65-F5344CB8AC3E}">
        <p14:creationId xmlns:p14="http://schemas.microsoft.com/office/powerpoint/2010/main" val="358453973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endParaRPr lang="he-IL"/>
          </a:p>
        </p:txBody>
      </p:sp>
      <p:sp>
        <p:nvSpPr>
          <p:cNvPr id="4" name="מציין מיקום של מספר שקופית 3"/>
          <p:cNvSpPr>
            <a:spLocks noGrp="1"/>
          </p:cNvSpPr>
          <p:nvPr>
            <p:ph type="sldNum" sz="quarter" idx="10"/>
          </p:nvPr>
        </p:nvSpPr>
        <p:spPr/>
        <p:txBody>
          <a:bodyPr/>
          <a:lstStyle/>
          <a:p>
            <a:pPr marL="0" marR="0" lvl="0" indent="0" algn="l" defTabSz="914400" rtl="1" eaLnBrk="1" fontAlgn="auto" latinLnBrk="0" hangingPunct="1">
              <a:lnSpc>
                <a:spcPct val="100000"/>
              </a:lnSpc>
              <a:spcBef>
                <a:spcPts val="0"/>
              </a:spcBef>
              <a:spcAft>
                <a:spcPts val="0"/>
              </a:spcAft>
              <a:buClrTx/>
              <a:buSzTx/>
              <a:buFontTx/>
              <a:buNone/>
              <a:tabLst/>
              <a:defRPr/>
            </a:pPr>
            <a:fld id="{5C3FB198-B410-4AA9-86F5-D09177D6400A}" type="slidenum">
              <a:rPr kumimoji="0" lang="he-IL" sz="1200" b="0" i="0" u="none" strike="noStrike" kern="1200" cap="none" spc="0" normalizeH="0" baseline="0" noProof="0" smtClean="0">
                <a:ln>
                  <a:noFill/>
                </a:ln>
                <a:solidFill>
                  <a:prstClr val="black"/>
                </a:solidFill>
                <a:effectLst/>
                <a:uLnTx/>
                <a:uFillTx/>
                <a:latin typeface="Calibri" panose="020F0502020204030204"/>
                <a:ea typeface="+mn-ea"/>
                <a:cs typeface="Arial" panose="020B0604020202020204" pitchFamily="34" charset="0"/>
              </a:rPr>
              <a:pPr marL="0" marR="0" lvl="0" indent="0" algn="l" defTabSz="914400" rtl="1" eaLnBrk="1" fontAlgn="auto" latinLnBrk="0" hangingPunct="1">
                <a:lnSpc>
                  <a:spcPct val="100000"/>
                </a:lnSpc>
                <a:spcBef>
                  <a:spcPts val="0"/>
                </a:spcBef>
                <a:spcAft>
                  <a:spcPts val="0"/>
                </a:spcAft>
                <a:buClrTx/>
                <a:buSzTx/>
                <a:buFontTx/>
                <a:buNone/>
                <a:tabLst/>
                <a:defRPr/>
              </a:pPr>
              <a:t>15</a:t>
            </a:fld>
            <a:endParaRPr kumimoji="0" lang="he-IL" sz="12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224635216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r>
              <a:rPr lang="he-IL" dirty="0"/>
              <a:t>מבחינת הנשים – צפויות לחיות בגיל 65 יותר זמן, 22.4 שנים (גיל 87.4), אבל שיעור נמוך יותר מהחיים שלהן בבריאות טובה: 10.6 שנים או 47%</a:t>
            </a:r>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1EB6BA5-4224-403F-B410-475A648CF9C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4833445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a:t>
            </a:r>
            <a:r>
              <a:rPr lang="en-US" b="1"/>
              <a:t>IADL</a:t>
            </a:r>
            <a:r>
              <a:rPr lang="en-US"/>
              <a:t> index (Lawton &amp; Brody, 1969) describes the number of limitations with instrumental activities of everyday life.</a:t>
            </a:r>
            <a:endParaRPr lang="he-IL"/>
          </a:p>
          <a:p>
            <a:r>
              <a:rPr lang="en-US" sz="1200" b="0" i="0" u="none" strike="noStrike" kern="1200">
                <a:solidFill>
                  <a:schemeClr val="tx1"/>
                </a:solidFill>
                <a:effectLst/>
                <a:latin typeface="+mn-lt"/>
                <a:ea typeface="+mn-ea"/>
                <a:cs typeface="+mn-cs"/>
              </a:rPr>
              <a:t>Using a map to figure out how to get around in a strange place</a:t>
            </a:r>
            <a:r>
              <a:rPr lang="en-US"/>
              <a:t> </a:t>
            </a:r>
            <a:endParaRPr lang="he-IL"/>
          </a:p>
          <a:p>
            <a:r>
              <a:rPr lang="en-US" sz="1200" b="0" i="0" u="none" strike="noStrike" kern="1200">
                <a:solidFill>
                  <a:schemeClr val="tx1"/>
                </a:solidFill>
                <a:effectLst/>
                <a:latin typeface="+mn-lt"/>
                <a:ea typeface="+mn-ea"/>
                <a:cs typeface="+mn-cs"/>
              </a:rPr>
              <a:t>Preparing a hot meal</a:t>
            </a:r>
            <a:r>
              <a:rPr lang="en-US"/>
              <a:t> </a:t>
            </a:r>
            <a:endParaRPr lang="he-IL"/>
          </a:p>
          <a:p>
            <a:r>
              <a:rPr lang="en-US" sz="1200" b="0" i="0" u="none" strike="noStrike" kern="1200">
                <a:solidFill>
                  <a:schemeClr val="tx1"/>
                </a:solidFill>
                <a:effectLst/>
                <a:latin typeface="+mn-lt"/>
                <a:ea typeface="+mn-ea"/>
                <a:cs typeface="+mn-cs"/>
              </a:rPr>
              <a:t>Shopping for groceries</a:t>
            </a:r>
            <a:r>
              <a:rPr lang="en-US"/>
              <a:t> </a:t>
            </a:r>
            <a:endParaRPr lang="he-IL"/>
          </a:p>
          <a:p>
            <a:r>
              <a:rPr lang="en-US" sz="1200" b="0" i="0" u="none" strike="noStrike" kern="1200">
                <a:solidFill>
                  <a:schemeClr val="tx1"/>
                </a:solidFill>
                <a:effectLst/>
                <a:latin typeface="+mn-lt"/>
                <a:ea typeface="+mn-ea"/>
                <a:cs typeface="+mn-cs"/>
              </a:rPr>
              <a:t>Making telephone calls</a:t>
            </a:r>
            <a:r>
              <a:rPr lang="en-US"/>
              <a:t> </a:t>
            </a:r>
            <a:endParaRPr lang="he-IL"/>
          </a:p>
          <a:p>
            <a:r>
              <a:rPr lang="en-US" sz="1200" b="0" i="0" u="none" strike="noStrike" kern="1200">
                <a:solidFill>
                  <a:schemeClr val="tx1"/>
                </a:solidFill>
                <a:effectLst/>
                <a:latin typeface="+mn-lt"/>
                <a:ea typeface="+mn-ea"/>
                <a:cs typeface="+mn-cs"/>
              </a:rPr>
              <a:t>Taking medications</a:t>
            </a:r>
            <a:r>
              <a:rPr lang="en-US"/>
              <a:t> </a:t>
            </a:r>
            <a:endParaRPr lang="he-IL"/>
          </a:p>
          <a:p>
            <a:r>
              <a:rPr lang="en-US" sz="1200" b="0" i="0" u="none" strike="noStrike" kern="1200">
                <a:solidFill>
                  <a:schemeClr val="tx1"/>
                </a:solidFill>
                <a:effectLst/>
                <a:latin typeface="+mn-lt"/>
                <a:ea typeface="+mn-ea"/>
                <a:cs typeface="+mn-cs"/>
              </a:rPr>
              <a:t>Doing work around the house or garden</a:t>
            </a:r>
            <a:r>
              <a:rPr lang="en-US"/>
              <a:t> </a:t>
            </a:r>
            <a:endParaRPr lang="he-IL"/>
          </a:p>
          <a:p>
            <a:r>
              <a:rPr lang="en-US" sz="1200" b="0" i="0" u="none" strike="noStrike" kern="1200">
                <a:solidFill>
                  <a:schemeClr val="tx1"/>
                </a:solidFill>
                <a:effectLst/>
                <a:latin typeface="+mn-lt"/>
                <a:ea typeface="+mn-ea"/>
                <a:cs typeface="+mn-cs"/>
              </a:rPr>
              <a:t>Managing money, such as paying bills and keeping track of expenses</a:t>
            </a:r>
            <a:r>
              <a:rPr lang="en-US"/>
              <a:t> </a:t>
            </a:r>
            <a:endParaRPr lang="he-IL"/>
          </a:p>
          <a:p>
            <a:r>
              <a:rPr lang="en-US" sz="1200" b="0" i="0" u="none" strike="noStrike" kern="1200">
                <a:solidFill>
                  <a:schemeClr val="tx1"/>
                </a:solidFill>
                <a:effectLst/>
                <a:latin typeface="+mn-lt"/>
                <a:ea typeface="+mn-ea"/>
                <a:cs typeface="+mn-cs"/>
              </a:rPr>
              <a:t>Leaving the house independently and accessing transportation services</a:t>
            </a:r>
            <a:r>
              <a:rPr lang="en-US"/>
              <a:t> </a:t>
            </a:r>
            <a:endParaRPr lang="he-IL"/>
          </a:p>
          <a:p>
            <a:r>
              <a:rPr lang="en-US" sz="1200" b="0" i="0" u="none" strike="noStrike" kern="1200">
                <a:solidFill>
                  <a:schemeClr val="tx1"/>
                </a:solidFill>
                <a:effectLst/>
                <a:latin typeface="+mn-lt"/>
                <a:ea typeface="+mn-ea"/>
                <a:cs typeface="+mn-cs"/>
              </a:rPr>
              <a:t>Doing personal laundry</a:t>
            </a:r>
            <a:r>
              <a:rPr lang="en-US"/>
              <a:t> </a:t>
            </a:r>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1EB6BA5-4224-403F-B410-475A648CF9C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6685731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endParaRPr lang="he-IL"/>
          </a:p>
        </p:txBody>
      </p:sp>
      <p:sp>
        <p:nvSpPr>
          <p:cNvPr id="4" name="מציין מיקום של מספר שקופית 3"/>
          <p:cNvSpPr>
            <a:spLocks noGrp="1"/>
          </p:cNvSpPr>
          <p:nvPr>
            <p:ph type="sldNum" sz="quarter" idx="10"/>
          </p:nvPr>
        </p:nvSpPr>
        <p:spPr/>
        <p:txBody>
          <a:bodyPr/>
          <a:lstStyle/>
          <a:p>
            <a:pPr marL="0" marR="0" lvl="0" indent="0" algn="l" defTabSz="914400" rtl="1" eaLnBrk="1" fontAlgn="auto" latinLnBrk="0" hangingPunct="1">
              <a:lnSpc>
                <a:spcPct val="100000"/>
              </a:lnSpc>
              <a:spcBef>
                <a:spcPts val="0"/>
              </a:spcBef>
              <a:spcAft>
                <a:spcPts val="0"/>
              </a:spcAft>
              <a:buClrTx/>
              <a:buSzTx/>
              <a:buFontTx/>
              <a:buNone/>
              <a:tabLst/>
              <a:defRPr/>
            </a:pPr>
            <a:fld id="{5C3FB198-B410-4AA9-86F5-D09177D6400A}" type="slidenum">
              <a:rPr kumimoji="0" lang="he-IL" sz="1200" b="0" i="0" u="none" strike="noStrike" kern="1200" cap="none" spc="0" normalizeH="0" baseline="0" noProof="0" smtClean="0">
                <a:ln>
                  <a:noFill/>
                </a:ln>
                <a:solidFill>
                  <a:prstClr val="black"/>
                </a:solidFill>
                <a:effectLst/>
                <a:uLnTx/>
                <a:uFillTx/>
                <a:latin typeface="Calibri" panose="020F0502020204030204"/>
                <a:ea typeface="+mn-ea"/>
                <a:cs typeface="Arial" panose="020B0604020202020204" pitchFamily="34" charset="0"/>
              </a:rPr>
              <a:pPr marL="0" marR="0" lvl="0" indent="0" algn="l" defTabSz="914400" rtl="1" eaLnBrk="1" fontAlgn="auto" latinLnBrk="0" hangingPunct="1">
                <a:lnSpc>
                  <a:spcPct val="100000"/>
                </a:lnSpc>
                <a:spcBef>
                  <a:spcPts val="0"/>
                </a:spcBef>
                <a:spcAft>
                  <a:spcPts val="0"/>
                </a:spcAft>
                <a:buClrTx/>
                <a:buSzTx/>
                <a:buFontTx/>
                <a:buNone/>
                <a:tabLst/>
                <a:defRPr/>
              </a:pPr>
              <a:t>18</a:t>
            </a:fld>
            <a:endParaRPr kumimoji="0" lang="he-IL" sz="12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348203274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endParaRPr lang="he-IL"/>
          </a:p>
        </p:txBody>
      </p:sp>
      <p:sp>
        <p:nvSpPr>
          <p:cNvPr id="4" name="מציין מיקום של מספר שקופית 3"/>
          <p:cNvSpPr>
            <a:spLocks noGrp="1"/>
          </p:cNvSpPr>
          <p:nvPr>
            <p:ph type="sldNum" sz="quarter" idx="10"/>
          </p:nvPr>
        </p:nvSpPr>
        <p:spPr/>
        <p:txBody>
          <a:bodyPr/>
          <a:lstStyle/>
          <a:p>
            <a:pPr marL="0" marR="0" lvl="0" indent="0" algn="l" defTabSz="914400" rtl="1" eaLnBrk="1" fontAlgn="auto" latinLnBrk="0" hangingPunct="1">
              <a:lnSpc>
                <a:spcPct val="100000"/>
              </a:lnSpc>
              <a:spcBef>
                <a:spcPts val="0"/>
              </a:spcBef>
              <a:spcAft>
                <a:spcPts val="0"/>
              </a:spcAft>
              <a:buClrTx/>
              <a:buSzTx/>
              <a:buFontTx/>
              <a:buNone/>
              <a:tabLst/>
              <a:defRPr/>
            </a:pPr>
            <a:fld id="{5C3FB198-B410-4AA9-86F5-D09177D6400A}" type="slidenum">
              <a:rPr kumimoji="0" lang="he-IL" sz="1200" b="0" i="0" u="none" strike="noStrike" kern="1200" cap="none" spc="0" normalizeH="0" baseline="0" noProof="0" smtClean="0">
                <a:ln>
                  <a:noFill/>
                </a:ln>
                <a:solidFill>
                  <a:prstClr val="black"/>
                </a:solidFill>
                <a:effectLst/>
                <a:uLnTx/>
                <a:uFillTx/>
                <a:latin typeface="Calibri" panose="020F0502020204030204"/>
                <a:ea typeface="+mn-ea"/>
                <a:cs typeface="Arial" panose="020B0604020202020204" pitchFamily="34" charset="0"/>
              </a:rPr>
              <a:pPr marL="0" marR="0" lvl="0" indent="0" algn="l" defTabSz="914400" rtl="1" eaLnBrk="1" fontAlgn="auto" latinLnBrk="0" hangingPunct="1">
                <a:lnSpc>
                  <a:spcPct val="100000"/>
                </a:lnSpc>
                <a:spcBef>
                  <a:spcPts val="0"/>
                </a:spcBef>
                <a:spcAft>
                  <a:spcPts val="0"/>
                </a:spcAft>
                <a:buClrTx/>
                <a:buSzTx/>
                <a:buFontTx/>
                <a:buNone/>
                <a:tabLst/>
                <a:defRPr/>
              </a:pPr>
              <a:t>19</a:t>
            </a:fld>
            <a:endParaRPr kumimoji="0" lang="he-IL" sz="12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169767405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endParaRPr lang="he-IL"/>
          </a:p>
        </p:txBody>
      </p:sp>
      <p:sp>
        <p:nvSpPr>
          <p:cNvPr id="4" name="מציין מיקום של מספר שקופית 3"/>
          <p:cNvSpPr>
            <a:spLocks noGrp="1"/>
          </p:cNvSpPr>
          <p:nvPr>
            <p:ph type="sldNum" sz="quarter" idx="10"/>
          </p:nvPr>
        </p:nvSpPr>
        <p:spPr/>
        <p:txBody>
          <a:bodyPr/>
          <a:lstStyle/>
          <a:p>
            <a:pPr marL="0" marR="0" lvl="0" indent="0" algn="l" defTabSz="914400" rtl="1" eaLnBrk="1" fontAlgn="auto" latinLnBrk="0" hangingPunct="1">
              <a:lnSpc>
                <a:spcPct val="100000"/>
              </a:lnSpc>
              <a:spcBef>
                <a:spcPts val="0"/>
              </a:spcBef>
              <a:spcAft>
                <a:spcPts val="0"/>
              </a:spcAft>
              <a:buClrTx/>
              <a:buSzTx/>
              <a:buFontTx/>
              <a:buNone/>
              <a:tabLst/>
              <a:defRPr/>
            </a:pPr>
            <a:fld id="{5C3FB198-B410-4AA9-86F5-D09177D6400A}" type="slidenum">
              <a:rPr kumimoji="0" lang="he-IL" sz="1200" b="0" i="0" u="none" strike="noStrike" kern="1200" cap="none" spc="0" normalizeH="0" baseline="0" noProof="0" smtClean="0">
                <a:ln>
                  <a:noFill/>
                </a:ln>
                <a:solidFill>
                  <a:prstClr val="black"/>
                </a:solidFill>
                <a:effectLst/>
                <a:uLnTx/>
                <a:uFillTx/>
                <a:latin typeface="Calibri" panose="020F0502020204030204"/>
                <a:ea typeface="+mn-ea"/>
                <a:cs typeface="Arial" panose="020B0604020202020204" pitchFamily="34" charset="0"/>
              </a:rPr>
              <a:pPr marL="0" marR="0" lvl="0" indent="0" algn="l" defTabSz="914400" rtl="1" eaLnBrk="1" fontAlgn="auto" latinLnBrk="0" hangingPunct="1">
                <a:lnSpc>
                  <a:spcPct val="100000"/>
                </a:lnSpc>
                <a:spcBef>
                  <a:spcPts val="0"/>
                </a:spcBef>
                <a:spcAft>
                  <a:spcPts val="0"/>
                </a:spcAft>
                <a:buClrTx/>
                <a:buSzTx/>
                <a:buFontTx/>
                <a:buNone/>
                <a:tabLst/>
                <a:defRPr/>
              </a:pPr>
              <a:t>20</a:t>
            </a:fld>
            <a:endParaRPr kumimoji="0" lang="he-IL" sz="12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354459459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endParaRPr lang="he-IL"/>
          </a:p>
        </p:txBody>
      </p:sp>
      <p:sp>
        <p:nvSpPr>
          <p:cNvPr id="4" name="מציין מיקום של מספר שקופית 3"/>
          <p:cNvSpPr>
            <a:spLocks noGrp="1"/>
          </p:cNvSpPr>
          <p:nvPr>
            <p:ph type="sldNum" sz="quarter" idx="10"/>
          </p:nvPr>
        </p:nvSpPr>
        <p:spPr/>
        <p:txBody>
          <a:bodyPr/>
          <a:lstStyle/>
          <a:p>
            <a:pPr marL="0" marR="0" lvl="0" indent="0" algn="l" defTabSz="914400" rtl="1" eaLnBrk="1" fontAlgn="auto" latinLnBrk="0" hangingPunct="1">
              <a:lnSpc>
                <a:spcPct val="100000"/>
              </a:lnSpc>
              <a:spcBef>
                <a:spcPts val="0"/>
              </a:spcBef>
              <a:spcAft>
                <a:spcPts val="0"/>
              </a:spcAft>
              <a:buClrTx/>
              <a:buSzTx/>
              <a:buFontTx/>
              <a:buNone/>
              <a:tabLst/>
              <a:defRPr/>
            </a:pPr>
            <a:fld id="{5C3FB198-B410-4AA9-86F5-D09177D6400A}" type="slidenum">
              <a:rPr kumimoji="0" lang="he-IL" sz="1200" b="0" i="0" u="none" strike="noStrike" kern="1200" cap="none" spc="0" normalizeH="0" baseline="0" noProof="0" smtClean="0">
                <a:ln>
                  <a:noFill/>
                </a:ln>
                <a:solidFill>
                  <a:prstClr val="black"/>
                </a:solidFill>
                <a:effectLst/>
                <a:uLnTx/>
                <a:uFillTx/>
                <a:latin typeface="Calibri" panose="020F0502020204030204"/>
                <a:ea typeface="+mn-ea"/>
                <a:cs typeface="Arial" panose="020B0604020202020204" pitchFamily="34" charset="0"/>
              </a:rPr>
              <a:pPr marL="0" marR="0" lvl="0" indent="0" algn="l" defTabSz="914400" rtl="1" eaLnBrk="1" fontAlgn="auto" latinLnBrk="0" hangingPunct="1">
                <a:lnSpc>
                  <a:spcPct val="100000"/>
                </a:lnSpc>
                <a:spcBef>
                  <a:spcPts val="0"/>
                </a:spcBef>
                <a:spcAft>
                  <a:spcPts val="0"/>
                </a:spcAft>
                <a:buClrTx/>
                <a:buSzTx/>
                <a:buFontTx/>
                <a:buNone/>
                <a:tabLst/>
                <a:defRPr/>
              </a:pPr>
              <a:t>21</a:t>
            </a:fld>
            <a:endParaRPr kumimoji="0" lang="he-IL" sz="12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413104428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r>
              <a:rPr lang="he-IL" dirty="0"/>
              <a:t>שירותי רווחה ובריאות ניתנים</a:t>
            </a:r>
            <a:r>
              <a:rPr lang="he-IL" baseline="0" dirty="0"/>
              <a:t> כמעט בחינם, בגיל 80 נצפה שהזקן יתחיל לשלם?</a:t>
            </a:r>
            <a:endParaRPr lang="he-IL" dirty="0"/>
          </a:p>
        </p:txBody>
      </p:sp>
      <p:sp>
        <p:nvSpPr>
          <p:cNvPr id="4" name="מציין מיקום של מספר שקופית 3"/>
          <p:cNvSpPr>
            <a:spLocks noGrp="1"/>
          </p:cNvSpPr>
          <p:nvPr>
            <p:ph type="sldNum" sz="quarter" idx="10"/>
          </p:nvPr>
        </p:nvSpPr>
        <p:spPr/>
        <p:txBody>
          <a:bodyPr/>
          <a:lstStyle/>
          <a:p>
            <a:pPr marL="0" marR="0" lvl="0" indent="0" algn="l" defTabSz="914400" rtl="1" eaLnBrk="1" fontAlgn="auto" latinLnBrk="0" hangingPunct="1">
              <a:lnSpc>
                <a:spcPct val="100000"/>
              </a:lnSpc>
              <a:spcBef>
                <a:spcPts val="0"/>
              </a:spcBef>
              <a:spcAft>
                <a:spcPts val="0"/>
              </a:spcAft>
              <a:buClrTx/>
              <a:buSzTx/>
              <a:buFontTx/>
              <a:buNone/>
              <a:tabLst/>
              <a:defRPr/>
            </a:pPr>
            <a:fld id="{5C3FB198-B410-4AA9-86F5-D09177D6400A}" type="slidenum">
              <a:rPr kumimoji="0" lang="he-IL" sz="1200" b="0" i="0" u="none" strike="noStrike" kern="1200" cap="none" spc="0" normalizeH="0" baseline="0" noProof="0" smtClean="0">
                <a:ln>
                  <a:noFill/>
                </a:ln>
                <a:solidFill>
                  <a:prstClr val="black"/>
                </a:solidFill>
                <a:effectLst/>
                <a:uLnTx/>
                <a:uFillTx/>
                <a:latin typeface="Calibri" panose="020F0502020204030204"/>
                <a:ea typeface="+mn-ea"/>
                <a:cs typeface="Arial" panose="020B0604020202020204" pitchFamily="34" charset="0"/>
              </a:rPr>
              <a:pPr marL="0" marR="0" lvl="0" indent="0" algn="l" defTabSz="914400" rtl="1" eaLnBrk="1" fontAlgn="auto" latinLnBrk="0" hangingPunct="1">
                <a:lnSpc>
                  <a:spcPct val="100000"/>
                </a:lnSpc>
                <a:spcBef>
                  <a:spcPts val="0"/>
                </a:spcBef>
                <a:spcAft>
                  <a:spcPts val="0"/>
                </a:spcAft>
                <a:buClrTx/>
                <a:buSzTx/>
                <a:buFontTx/>
                <a:buNone/>
                <a:tabLst/>
                <a:defRPr/>
              </a:pPr>
              <a:t>22</a:t>
            </a:fld>
            <a:endParaRPr kumimoji="0" lang="he-IL" sz="12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418636145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endParaRPr lang="he-IL"/>
          </a:p>
        </p:txBody>
      </p:sp>
      <p:sp>
        <p:nvSpPr>
          <p:cNvPr id="4" name="מציין מיקום של מספר שקופית 3"/>
          <p:cNvSpPr>
            <a:spLocks noGrp="1"/>
          </p:cNvSpPr>
          <p:nvPr>
            <p:ph type="sldNum" sz="quarter" idx="10"/>
          </p:nvPr>
        </p:nvSpPr>
        <p:spPr/>
        <p:txBody>
          <a:bodyPr/>
          <a:lstStyle/>
          <a:p>
            <a:pPr marL="0" marR="0" lvl="0" indent="0" algn="l" defTabSz="914400" rtl="1" eaLnBrk="1" fontAlgn="auto" latinLnBrk="0" hangingPunct="1">
              <a:lnSpc>
                <a:spcPct val="100000"/>
              </a:lnSpc>
              <a:spcBef>
                <a:spcPts val="0"/>
              </a:spcBef>
              <a:spcAft>
                <a:spcPts val="0"/>
              </a:spcAft>
              <a:buClrTx/>
              <a:buSzTx/>
              <a:buFontTx/>
              <a:buNone/>
              <a:tabLst/>
              <a:defRPr/>
            </a:pPr>
            <a:fld id="{5C3FB198-B410-4AA9-86F5-D09177D6400A}" type="slidenum">
              <a:rPr kumimoji="0" lang="he-IL" sz="1200" b="0" i="0" u="none" strike="noStrike" kern="1200" cap="none" spc="0" normalizeH="0" baseline="0" noProof="0" smtClean="0">
                <a:ln>
                  <a:noFill/>
                </a:ln>
                <a:solidFill>
                  <a:prstClr val="black"/>
                </a:solidFill>
                <a:effectLst/>
                <a:uLnTx/>
                <a:uFillTx/>
                <a:latin typeface="Calibri" panose="020F0502020204030204"/>
                <a:ea typeface="+mn-ea"/>
                <a:cs typeface="Arial" panose="020B0604020202020204" pitchFamily="34" charset="0"/>
              </a:rPr>
              <a:pPr marL="0" marR="0" lvl="0" indent="0" algn="l" defTabSz="914400" rtl="1" eaLnBrk="1" fontAlgn="auto" latinLnBrk="0" hangingPunct="1">
                <a:lnSpc>
                  <a:spcPct val="100000"/>
                </a:lnSpc>
                <a:spcBef>
                  <a:spcPts val="0"/>
                </a:spcBef>
                <a:spcAft>
                  <a:spcPts val="0"/>
                </a:spcAft>
                <a:buClrTx/>
                <a:buSzTx/>
                <a:buFontTx/>
                <a:buNone/>
                <a:tabLst/>
                <a:defRPr/>
              </a:pPr>
              <a:t>23</a:t>
            </a:fld>
            <a:endParaRPr kumimoji="0" lang="he-IL" sz="12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289691447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pPr algn="r"/>
            <a:r>
              <a:rPr lang="he-IL" dirty="0"/>
              <a:t>דרך שלושה צירי מפתח</a:t>
            </a:r>
          </a:p>
        </p:txBody>
      </p:sp>
      <p:sp>
        <p:nvSpPr>
          <p:cNvPr id="4" name="מציין מיקום של מספר שקופית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D96B088-BEEC-4145-AEDC-27EC65BEFD4A}" type="slidenum">
              <a:rPr kumimoji="0" lang="en-IL"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en-IL" sz="12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70095694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he-IL"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F290769-FC4B-4518-8E82-10D24D0B70E5}" type="slidenum">
              <a:rPr kumimoji="0" lang="en-IL" sz="1200" b="0" i="0" u="none" strike="noStrike" kern="1200" cap="none" spc="0" normalizeH="0" baseline="0" noProof="0" smtClean="0">
                <a:ln>
                  <a:noFill/>
                </a:ln>
                <a:solidFill>
                  <a:prstClr val="black"/>
                </a:solidFill>
                <a:effectLst/>
                <a:uLnTx/>
                <a:uFillTx/>
                <a:latin typeface="Assistant" pitchFamily="2" charset="-79"/>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en-IL" sz="1200" b="0" i="0" u="none" strike="noStrike" kern="1200" cap="none" spc="0" normalizeH="0" baseline="0" noProof="0" dirty="0">
              <a:ln>
                <a:noFill/>
              </a:ln>
              <a:solidFill>
                <a:prstClr val="black"/>
              </a:solidFill>
              <a:effectLst/>
              <a:uLnTx/>
              <a:uFillTx/>
              <a:latin typeface="Assistant" pitchFamily="2" charset="-79"/>
              <a:ea typeface="+mn-ea"/>
              <a:cs typeface="+mn-cs"/>
            </a:endParaRPr>
          </a:p>
        </p:txBody>
      </p:sp>
    </p:spTree>
    <p:extLst>
      <p:ext uri="{BB962C8B-B14F-4D97-AF65-F5344CB8AC3E}">
        <p14:creationId xmlns:p14="http://schemas.microsoft.com/office/powerpoint/2010/main" val="60407147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r>
              <a:rPr lang="en-US" dirty="0"/>
              <a:t>80% </a:t>
            </a:r>
            <a:r>
              <a:rPr lang="en-US" baseline="0" dirty="0"/>
              <a:t> </a:t>
            </a:r>
            <a:r>
              <a:rPr lang="he-IL" baseline="0" dirty="0"/>
              <a:t>מהבריאות בקהילה</a:t>
            </a:r>
            <a:endParaRPr lang="he-IL" dirty="0"/>
          </a:p>
        </p:txBody>
      </p:sp>
      <p:sp>
        <p:nvSpPr>
          <p:cNvPr id="4" name="מציין מיקום של מספר שקופית 3"/>
          <p:cNvSpPr>
            <a:spLocks noGrp="1"/>
          </p:cNvSpPr>
          <p:nvPr>
            <p:ph type="sldNum" sz="quarter" idx="10"/>
          </p:nvPr>
        </p:nvSpPr>
        <p:spPr/>
        <p:txBody>
          <a:bodyPr/>
          <a:lstStyle/>
          <a:p>
            <a:pPr marL="0" marR="0" lvl="0" indent="0" algn="l" defTabSz="914400" rtl="1" eaLnBrk="1" fontAlgn="auto" latinLnBrk="0" hangingPunct="1">
              <a:lnSpc>
                <a:spcPct val="100000"/>
              </a:lnSpc>
              <a:spcBef>
                <a:spcPts val="0"/>
              </a:spcBef>
              <a:spcAft>
                <a:spcPts val="0"/>
              </a:spcAft>
              <a:buClrTx/>
              <a:buSzTx/>
              <a:buFontTx/>
              <a:buNone/>
              <a:tabLst/>
              <a:defRPr/>
            </a:pPr>
            <a:fld id="{5C3FB198-B410-4AA9-86F5-D09177D6400A}" type="slidenum">
              <a:rPr kumimoji="0" lang="he-IL" sz="1200" b="0" i="0" u="none" strike="noStrike" kern="1200" cap="none" spc="0" normalizeH="0" baseline="0" noProof="0" smtClean="0">
                <a:ln>
                  <a:noFill/>
                </a:ln>
                <a:solidFill>
                  <a:prstClr val="black"/>
                </a:solidFill>
                <a:effectLst/>
                <a:uLnTx/>
                <a:uFillTx/>
                <a:latin typeface="Calibri" panose="020F0502020204030204"/>
                <a:ea typeface="+mn-ea"/>
                <a:cs typeface="Arial" panose="020B0604020202020204" pitchFamily="34" charset="0"/>
              </a:rPr>
              <a:pPr marL="0" marR="0" lvl="0" indent="0" algn="l" defTabSz="914400" rtl="1" eaLnBrk="1" fontAlgn="auto" latinLnBrk="0" hangingPunct="1">
                <a:lnSpc>
                  <a:spcPct val="100000"/>
                </a:lnSpc>
                <a:spcBef>
                  <a:spcPts val="0"/>
                </a:spcBef>
                <a:spcAft>
                  <a:spcPts val="0"/>
                </a:spcAft>
                <a:buClrTx/>
                <a:buSzTx/>
                <a:buFontTx/>
                <a:buNone/>
                <a:tabLst/>
                <a:defRPr/>
              </a:pPr>
              <a:t>28</a:t>
            </a:fld>
            <a:endParaRPr kumimoji="0" lang="he-IL" sz="12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137574613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pPr marL="0" marR="0" lvl="0" indent="0" algn="l" defTabSz="914400" rtl="1" eaLnBrk="1" fontAlgn="auto" latinLnBrk="0" hangingPunct="1">
              <a:lnSpc>
                <a:spcPct val="100000"/>
              </a:lnSpc>
              <a:spcBef>
                <a:spcPts val="0"/>
              </a:spcBef>
              <a:spcAft>
                <a:spcPts val="0"/>
              </a:spcAft>
              <a:buClrTx/>
              <a:buSzTx/>
              <a:buFontTx/>
              <a:buNone/>
              <a:tabLst/>
              <a:defRPr/>
            </a:pPr>
            <a:fld id="{488862D9-E127-438C-862D-D0EBBF3999FF}" type="slidenum">
              <a:rPr kumimoji="0" lang="en-IL"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l" defTabSz="914400" rtl="1" eaLnBrk="1" fontAlgn="auto" latinLnBrk="0" hangingPunct="1">
                <a:lnSpc>
                  <a:spcPct val="100000"/>
                </a:lnSpc>
                <a:spcBef>
                  <a:spcPts val="0"/>
                </a:spcBef>
                <a:spcAft>
                  <a:spcPts val="0"/>
                </a:spcAft>
                <a:buClrTx/>
                <a:buSzTx/>
                <a:buFontTx/>
                <a:buNone/>
                <a:tabLst/>
                <a:defRPr/>
              </a:pPr>
              <a:t>30</a:t>
            </a:fld>
            <a:endParaRPr kumimoji="0" lang="en-IL"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1614644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E9331071-0531-4F61-A5A0-E22B891BF691}" type="slidenum">
              <a:rPr lang="en-IL" smtClean="0"/>
              <a:t>33</a:t>
            </a:fld>
            <a:endParaRPr lang="en-IL"/>
          </a:p>
        </p:txBody>
      </p:sp>
    </p:spTree>
    <p:extLst>
      <p:ext uri="{BB962C8B-B14F-4D97-AF65-F5344CB8AC3E}">
        <p14:creationId xmlns:p14="http://schemas.microsoft.com/office/powerpoint/2010/main" val="173091340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E9331071-0531-4F61-A5A0-E22B891BF691}" type="slidenum">
              <a:rPr lang="en-IL" smtClean="0"/>
              <a:t>34</a:t>
            </a:fld>
            <a:endParaRPr lang="en-IL"/>
          </a:p>
        </p:txBody>
      </p:sp>
    </p:spTree>
    <p:extLst>
      <p:ext uri="{BB962C8B-B14F-4D97-AF65-F5344CB8AC3E}">
        <p14:creationId xmlns:p14="http://schemas.microsoft.com/office/powerpoint/2010/main" val="399918171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E9331071-0531-4F61-A5A0-E22B891BF691}" type="slidenum">
              <a:rPr lang="en-IL" smtClean="0"/>
              <a:t>35</a:t>
            </a:fld>
            <a:endParaRPr lang="en-IL"/>
          </a:p>
        </p:txBody>
      </p:sp>
    </p:spTree>
    <p:extLst>
      <p:ext uri="{BB962C8B-B14F-4D97-AF65-F5344CB8AC3E}">
        <p14:creationId xmlns:p14="http://schemas.microsoft.com/office/powerpoint/2010/main" val="122089665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r>
              <a:rPr lang="he-IL" dirty="0"/>
              <a:t>להוסיף על </a:t>
            </a:r>
            <a:r>
              <a:rPr lang="en-US" dirty="0"/>
              <a:t>KI</a:t>
            </a:r>
            <a:r>
              <a:rPr lang="he-IL" dirty="0"/>
              <a:t>, </a:t>
            </a:r>
            <a:r>
              <a:rPr lang="en-US" dirty="0"/>
              <a:t>EY</a:t>
            </a:r>
            <a:r>
              <a:rPr lang="he-IL" dirty="0"/>
              <a:t>, </a:t>
            </a:r>
          </a:p>
        </p:txBody>
      </p:sp>
      <p:sp>
        <p:nvSpPr>
          <p:cNvPr id="4" name="מציין מיקום של מספר שקופית 3"/>
          <p:cNvSpPr>
            <a:spLocks noGrp="1"/>
          </p:cNvSpPr>
          <p:nvPr>
            <p:ph type="sldNum" sz="quarter" idx="5"/>
          </p:nvPr>
        </p:nvSpPr>
        <p:spPr/>
        <p:txBody>
          <a:bodyPr/>
          <a:lstStyle/>
          <a:p>
            <a:pPr marL="0" marR="0" lvl="0" indent="0" algn="l" defTabSz="914400" rtl="1" eaLnBrk="1" fontAlgn="auto" latinLnBrk="0" hangingPunct="1">
              <a:lnSpc>
                <a:spcPct val="100000"/>
              </a:lnSpc>
              <a:spcBef>
                <a:spcPts val="0"/>
              </a:spcBef>
              <a:spcAft>
                <a:spcPts val="0"/>
              </a:spcAft>
              <a:buClrTx/>
              <a:buSzTx/>
              <a:buFontTx/>
              <a:buNone/>
              <a:tabLst/>
              <a:defRPr/>
            </a:pPr>
            <a:fld id="{5C3FB198-B410-4AA9-86F5-D09177D6400A}" type="slidenum">
              <a:rPr kumimoji="0" lang="he-IL" sz="1200" b="0" i="0" u="none" strike="noStrike" kern="1200" cap="none" spc="0" normalizeH="0" baseline="0" noProof="0" smtClean="0">
                <a:ln>
                  <a:noFill/>
                </a:ln>
                <a:solidFill>
                  <a:prstClr val="black"/>
                </a:solidFill>
                <a:effectLst/>
                <a:uLnTx/>
                <a:uFillTx/>
                <a:latin typeface="Calibri" panose="020F0502020204030204"/>
                <a:ea typeface="+mn-ea"/>
                <a:cs typeface="Arial" panose="020B0604020202020204" pitchFamily="34" charset="0"/>
              </a:rPr>
              <a:pPr marL="0" marR="0" lvl="0" indent="0" algn="l" defTabSz="914400" rtl="1" eaLnBrk="1" fontAlgn="auto" latinLnBrk="0" hangingPunct="1">
                <a:lnSpc>
                  <a:spcPct val="100000"/>
                </a:lnSpc>
                <a:spcBef>
                  <a:spcPts val="0"/>
                </a:spcBef>
                <a:spcAft>
                  <a:spcPts val="0"/>
                </a:spcAft>
                <a:buClrTx/>
                <a:buSzTx/>
                <a:buFontTx/>
                <a:buNone/>
                <a:tabLst/>
                <a:defRPr/>
              </a:pPr>
              <a:t>38</a:t>
            </a:fld>
            <a:endParaRPr kumimoji="0" lang="he-IL" sz="12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411293680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endParaRPr lang="he-IL"/>
          </a:p>
        </p:txBody>
      </p:sp>
      <p:sp>
        <p:nvSpPr>
          <p:cNvPr id="4" name="מציין מיקום של מספר שקופית 3"/>
          <p:cNvSpPr>
            <a:spLocks noGrp="1"/>
          </p:cNvSpPr>
          <p:nvPr>
            <p:ph type="sldNum" sz="quarter" idx="10"/>
          </p:nvPr>
        </p:nvSpPr>
        <p:spPr/>
        <p:txBody>
          <a:bodyPr/>
          <a:lstStyle/>
          <a:p>
            <a:pPr marL="0" marR="0" lvl="0" indent="0" algn="l" defTabSz="914400" rtl="1" eaLnBrk="1" fontAlgn="auto" latinLnBrk="0" hangingPunct="1">
              <a:lnSpc>
                <a:spcPct val="100000"/>
              </a:lnSpc>
              <a:spcBef>
                <a:spcPts val="0"/>
              </a:spcBef>
              <a:spcAft>
                <a:spcPts val="0"/>
              </a:spcAft>
              <a:buClrTx/>
              <a:buSzTx/>
              <a:buFontTx/>
              <a:buNone/>
              <a:tabLst/>
              <a:defRPr/>
            </a:pPr>
            <a:fld id="{5C3FB198-B410-4AA9-86F5-D09177D6400A}" type="slidenum">
              <a:rPr kumimoji="0" lang="he-IL" sz="1200" b="0" i="0" u="none" strike="noStrike" kern="1200" cap="none" spc="0" normalizeH="0" baseline="0" noProof="0" smtClean="0">
                <a:ln>
                  <a:noFill/>
                </a:ln>
                <a:solidFill>
                  <a:prstClr val="black"/>
                </a:solidFill>
                <a:effectLst/>
                <a:uLnTx/>
                <a:uFillTx/>
                <a:latin typeface="Calibri" panose="020F0502020204030204"/>
                <a:ea typeface="+mn-ea"/>
                <a:cs typeface="Arial" panose="020B0604020202020204" pitchFamily="34" charset="0"/>
              </a:rPr>
              <a:pPr marL="0" marR="0" lvl="0" indent="0" algn="l" defTabSz="914400" rtl="1" eaLnBrk="1" fontAlgn="auto" latinLnBrk="0" hangingPunct="1">
                <a:lnSpc>
                  <a:spcPct val="100000"/>
                </a:lnSpc>
                <a:spcBef>
                  <a:spcPts val="0"/>
                </a:spcBef>
                <a:spcAft>
                  <a:spcPts val="0"/>
                </a:spcAft>
                <a:buClrTx/>
                <a:buSzTx/>
                <a:buFontTx/>
                <a:buNone/>
                <a:tabLst/>
                <a:defRPr/>
              </a:pPr>
              <a:t>39</a:t>
            </a:fld>
            <a:endParaRPr kumimoji="0" lang="he-IL" sz="12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229732882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r>
              <a:rPr lang="he-IL" dirty="0"/>
              <a:t>יש כבר פלטפורמה דיגיטלית שעובדת שעושה התאמה אישית על בסיס תפקוד באמצעות </a:t>
            </a:r>
            <a:r>
              <a:rPr lang="en-US" dirty="0"/>
              <a:t>AI</a:t>
            </a:r>
            <a:endParaRPr lang="he-IL" dirty="0"/>
          </a:p>
        </p:txBody>
      </p:sp>
      <p:sp>
        <p:nvSpPr>
          <p:cNvPr id="4" name="מציין מיקום של מספר שקופית 3"/>
          <p:cNvSpPr>
            <a:spLocks noGrp="1"/>
          </p:cNvSpPr>
          <p:nvPr>
            <p:ph type="sldNum" sz="quarter" idx="5"/>
          </p:nvPr>
        </p:nvSpPr>
        <p:spPr/>
        <p:txBody>
          <a:bodyPr/>
          <a:lstStyle/>
          <a:p>
            <a:pPr marL="0" marR="0" lvl="0" indent="0" algn="l" defTabSz="914400" rtl="1" eaLnBrk="1" fontAlgn="auto" latinLnBrk="0" hangingPunct="1">
              <a:lnSpc>
                <a:spcPct val="100000"/>
              </a:lnSpc>
              <a:spcBef>
                <a:spcPts val="0"/>
              </a:spcBef>
              <a:spcAft>
                <a:spcPts val="0"/>
              </a:spcAft>
              <a:buClrTx/>
              <a:buSzTx/>
              <a:buFontTx/>
              <a:buNone/>
              <a:tabLst/>
              <a:defRPr/>
            </a:pPr>
            <a:fld id="{5C3FB198-B410-4AA9-86F5-D09177D6400A}" type="slidenum">
              <a:rPr kumimoji="0" lang="he-IL" sz="1200" b="0" i="0" u="none" strike="noStrike" kern="1200" cap="none" spc="0" normalizeH="0" baseline="0" noProof="0" smtClean="0">
                <a:ln>
                  <a:noFill/>
                </a:ln>
                <a:solidFill>
                  <a:prstClr val="black"/>
                </a:solidFill>
                <a:effectLst/>
                <a:uLnTx/>
                <a:uFillTx/>
                <a:latin typeface="Calibri" panose="020F0502020204030204"/>
                <a:ea typeface="+mn-ea"/>
                <a:cs typeface="Arial" panose="020B0604020202020204" pitchFamily="34" charset="0"/>
              </a:rPr>
              <a:pPr marL="0" marR="0" lvl="0" indent="0" algn="l" defTabSz="914400" rtl="1" eaLnBrk="1" fontAlgn="auto" latinLnBrk="0" hangingPunct="1">
                <a:lnSpc>
                  <a:spcPct val="100000"/>
                </a:lnSpc>
                <a:spcBef>
                  <a:spcPts val="0"/>
                </a:spcBef>
                <a:spcAft>
                  <a:spcPts val="0"/>
                </a:spcAft>
                <a:buClrTx/>
                <a:buSzTx/>
                <a:buFontTx/>
                <a:buNone/>
                <a:tabLst/>
                <a:defRPr/>
              </a:pPr>
              <a:t>40</a:t>
            </a:fld>
            <a:endParaRPr kumimoji="0" lang="he-IL" sz="12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121734657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endParaRPr lang="he-IL" b="1" dirty="0"/>
          </a:p>
        </p:txBody>
      </p:sp>
      <p:sp>
        <p:nvSpPr>
          <p:cNvPr id="4" name="מציין מיקום של מספר שקופית 3"/>
          <p:cNvSpPr>
            <a:spLocks noGrp="1"/>
          </p:cNvSpPr>
          <p:nvPr>
            <p:ph type="sldNum" sz="quarter" idx="10"/>
          </p:nvPr>
        </p:nvSpPr>
        <p:spPr/>
        <p:txBody>
          <a:bodyPr/>
          <a:lstStyle/>
          <a:p>
            <a:pPr marL="0" marR="0" lvl="0" indent="0" algn="l" defTabSz="914400" rtl="1" eaLnBrk="1" fontAlgn="auto" latinLnBrk="0" hangingPunct="1">
              <a:lnSpc>
                <a:spcPct val="100000"/>
              </a:lnSpc>
              <a:spcBef>
                <a:spcPts val="0"/>
              </a:spcBef>
              <a:spcAft>
                <a:spcPts val="0"/>
              </a:spcAft>
              <a:buClrTx/>
              <a:buSzTx/>
              <a:buFontTx/>
              <a:buNone/>
              <a:tabLst/>
              <a:defRPr/>
            </a:pPr>
            <a:fld id="{5C3FB198-B410-4AA9-86F5-D09177D6400A}" type="slidenum">
              <a:rPr kumimoji="0" lang="he-IL" sz="1200" b="0" i="0" u="none" strike="noStrike" kern="1200" cap="none" spc="0" normalizeH="0" baseline="0" noProof="0" smtClean="0">
                <a:ln>
                  <a:noFill/>
                </a:ln>
                <a:solidFill>
                  <a:prstClr val="black"/>
                </a:solidFill>
                <a:effectLst/>
                <a:uLnTx/>
                <a:uFillTx/>
                <a:latin typeface="Calibri" panose="020F0502020204030204"/>
                <a:ea typeface="+mn-ea"/>
                <a:cs typeface="Arial" panose="020B0604020202020204" pitchFamily="34" charset="0"/>
              </a:rPr>
              <a:pPr marL="0" marR="0" lvl="0" indent="0" algn="l" defTabSz="914400" rtl="1" eaLnBrk="1" fontAlgn="auto" latinLnBrk="0" hangingPunct="1">
                <a:lnSpc>
                  <a:spcPct val="100000"/>
                </a:lnSpc>
                <a:spcBef>
                  <a:spcPts val="0"/>
                </a:spcBef>
                <a:spcAft>
                  <a:spcPts val="0"/>
                </a:spcAft>
                <a:buClrTx/>
                <a:buSzTx/>
                <a:buFontTx/>
                <a:buNone/>
                <a:tabLst/>
                <a:defRPr/>
              </a:pPr>
              <a:t>41</a:t>
            </a:fld>
            <a:endParaRPr kumimoji="0" lang="he-IL" sz="12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232234297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endParaRPr lang="he-IL"/>
          </a:p>
        </p:txBody>
      </p:sp>
      <p:sp>
        <p:nvSpPr>
          <p:cNvPr id="4" name="מציין מיקום של מספר שקופית 3"/>
          <p:cNvSpPr>
            <a:spLocks noGrp="1"/>
          </p:cNvSpPr>
          <p:nvPr>
            <p:ph type="sldNum" sz="quarter" idx="10"/>
          </p:nvPr>
        </p:nvSpPr>
        <p:spPr/>
        <p:txBody>
          <a:bodyPr/>
          <a:lstStyle/>
          <a:p>
            <a:pPr marL="0" marR="0" lvl="0" indent="0" algn="l" defTabSz="914400" rtl="1" eaLnBrk="1" fontAlgn="auto" latinLnBrk="0" hangingPunct="1">
              <a:lnSpc>
                <a:spcPct val="100000"/>
              </a:lnSpc>
              <a:spcBef>
                <a:spcPts val="0"/>
              </a:spcBef>
              <a:spcAft>
                <a:spcPts val="0"/>
              </a:spcAft>
              <a:buClrTx/>
              <a:buSzTx/>
              <a:buFontTx/>
              <a:buNone/>
              <a:tabLst/>
              <a:defRPr/>
            </a:pPr>
            <a:fld id="{5C3FB198-B410-4AA9-86F5-D09177D6400A}" type="slidenum">
              <a:rPr kumimoji="0" lang="he-IL" sz="1200" b="0" i="0" u="none" strike="noStrike" kern="1200" cap="none" spc="0" normalizeH="0" baseline="0" noProof="0" smtClean="0">
                <a:ln>
                  <a:noFill/>
                </a:ln>
                <a:solidFill>
                  <a:prstClr val="black"/>
                </a:solidFill>
                <a:effectLst/>
                <a:uLnTx/>
                <a:uFillTx/>
                <a:latin typeface="Calibri" panose="020F0502020204030204"/>
                <a:ea typeface="+mn-ea"/>
                <a:cs typeface="Arial" panose="020B0604020202020204" pitchFamily="34" charset="0"/>
              </a:rPr>
              <a:pPr marL="0" marR="0" lvl="0" indent="0" algn="l" defTabSz="914400" rtl="1" eaLnBrk="1" fontAlgn="auto" latinLnBrk="0" hangingPunct="1">
                <a:lnSpc>
                  <a:spcPct val="100000"/>
                </a:lnSpc>
                <a:spcBef>
                  <a:spcPts val="0"/>
                </a:spcBef>
                <a:spcAft>
                  <a:spcPts val="0"/>
                </a:spcAft>
                <a:buClrTx/>
                <a:buSzTx/>
                <a:buFontTx/>
                <a:buNone/>
                <a:tabLst/>
                <a:defRPr/>
              </a:pPr>
              <a:t>43</a:t>
            </a:fld>
            <a:endParaRPr kumimoji="0" lang="he-IL" sz="12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168674314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a:t>
            </a:r>
            <a:r>
              <a:rPr lang="en-US" b="1"/>
              <a:t>ADL</a:t>
            </a:r>
            <a:r>
              <a:rPr lang="en-US"/>
              <a:t> index () describes the number of limitations with activities of daily living. </a:t>
            </a:r>
            <a:r>
              <a:rPr lang="he-IL"/>
              <a:t> </a:t>
            </a:r>
          </a:p>
          <a:p>
            <a:r>
              <a:rPr lang="en-US" sz="1200" b="0" i="0" u="none" strike="noStrike" kern="1200">
                <a:solidFill>
                  <a:schemeClr val="tx1"/>
                </a:solidFill>
                <a:effectLst/>
                <a:latin typeface="+mn-lt"/>
                <a:ea typeface="+mn-ea"/>
                <a:cs typeface="+mn-cs"/>
              </a:rPr>
              <a:t>Dressing, including putting on shoes and socks</a:t>
            </a:r>
            <a:endParaRPr lang="he-IL" sz="1200" b="0" i="0" u="none" strike="noStrike" kern="1200">
              <a:solidFill>
                <a:schemeClr val="tx1"/>
              </a:solidFill>
              <a:effectLst/>
              <a:latin typeface="+mn-lt"/>
              <a:ea typeface="+mn-ea"/>
              <a:cs typeface="+mn-cs"/>
            </a:endParaRPr>
          </a:p>
          <a:p>
            <a:r>
              <a:rPr lang="en-US"/>
              <a:t> </a:t>
            </a:r>
            <a:r>
              <a:rPr lang="en-US" sz="1200" b="0" i="0" u="none" strike="noStrike" kern="1200">
                <a:solidFill>
                  <a:schemeClr val="tx1"/>
                </a:solidFill>
                <a:effectLst/>
                <a:latin typeface="+mn-lt"/>
                <a:ea typeface="+mn-ea"/>
                <a:cs typeface="+mn-cs"/>
              </a:rPr>
              <a:t>Walking across a room</a:t>
            </a:r>
            <a:endParaRPr lang="he-IL" sz="1200" b="0" i="0" u="none" strike="noStrike" kern="1200">
              <a:solidFill>
                <a:schemeClr val="tx1"/>
              </a:solidFill>
              <a:effectLst/>
              <a:latin typeface="+mn-lt"/>
              <a:ea typeface="+mn-ea"/>
              <a:cs typeface="+mn-cs"/>
            </a:endParaRPr>
          </a:p>
          <a:p>
            <a:r>
              <a:rPr lang="en-US"/>
              <a:t> </a:t>
            </a:r>
            <a:r>
              <a:rPr lang="en-US" sz="1200" b="0" i="0" u="none" strike="noStrike" kern="1200">
                <a:solidFill>
                  <a:schemeClr val="tx1"/>
                </a:solidFill>
                <a:effectLst/>
                <a:latin typeface="+mn-lt"/>
                <a:ea typeface="+mn-ea"/>
                <a:cs typeface="+mn-cs"/>
              </a:rPr>
              <a:t>Bathing or showering</a:t>
            </a:r>
            <a:endParaRPr lang="he-IL" sz="1200" b="0" i="0" u="none" strike="noStrike" kern="1200">
              <a:solidFill>
                <a:schemeClr val="tx1"/>
              </a:solidFill>
              <a:effectLst/>
              <a:latin typeface="+mn-lt"/>
              <a:ea typeface="+mn-ea"/>
              <a:cs typeface="+mn-cs"/>
            </a:endParaRPr>
          </a:p>
          <a:p>
            <a:r>
              <a:rPr lang="en-US"/>
              <a:t> </a:t>
            </a:r>
            <a:r>
              <a:rPr lang="en-US" sz="1200" b="0" i="0" u="none" strike="noStrike" kern="1200">
                <a:solidFill>
                  <a:schemeClr val="tx1"/>
                </a:solidFill>
                <a:effectLst/>
                <a:latin typeface="+mn-lt"/>
                <a:ea typeface="+mn-ea"/>
                <a:cs typeface="+mn-cs"/>
              </a:rPr>
              <a:t>Eating, such as cutting up your food</a:t>
            </a:r>
            <a:r>
              <a:rPr lang="en-US"/>
              <a:t> </a:t>
            </a:r>
            <a:endParaRPr lang="he-IL"/>
          </a:p>
          <a:p>
            <a:r>
              <a:rPr lang="en-US" sz="1200" b="0" i="0" u="none" strike="noStrike" kern="1200">
                <a:solidFill>
                  <a:schemeClr val="tx1"/>
                </a:solidFill>
                <a:effectLst/>
                <a:latin typeface="+mn-lt"/>
                <a:ea typeface="+mn-ea"/>
                <a:cs typeface="+mn-cs"/>
              </a:rPr>
              <a:t>Getting in or out of bed</a:t>
            </a:r>
            <a:r>
              <a:rPr lang="en-US"/>
              <a:t> </a:t>
            </a:r>
            <a:endParaRPr lang="he-IL"/>
          </a:p>
          <a:p>
            <a:r>
              <a:rPr lang="en-US" sz="1200" b="0" i="0" u="none" strike="noStrike" kern="1200">
                <a:solidFill>
                  <a:schemeClr val="tx1"/>
                </a:solidFill>
                <a:effectLst/>
                <a:latin typeface="+mn-lt"/>
                <a:ea typeface="+mn-ea"/>
                <a:cs typeface="+mn-cs"/>
              </a:rPr>
              <a:t>Using the toilet, including getting up or down</a:t>
            </a:r>
            <a:r>
              <a:rPr lang="en-US"/>
              <a:t> </a:t>
            </a:r>
            <a:endParaRPr lang="he-IL"/>
          </a:p>
          <a:p>
            <a:endParaRPr lang="he-IL"/>
          </a:p>
          <a:p>
            <a:r>
              <a:rPr lang="en-US"/>
              <a:t>The </a:t>
            </a:r>
            <a:r>
              <a:rPr lang="en-US" b="1"/>
              <a:t>IADL</a:t>
            </a:r>
            <a:r>
              <a:rPr lang="en-US"/>
              <a:t> index (Lawton &amp; Brody, 1969) describes the number of limitations with instrumental activities of everyday life.</a:t>
            </a:r>
            <a:endParaRPr lang="he-IL"/>
          </a:p>
          <a:p>
            <a:r>
              <a:rPr lang="en-US" sz="1200" b="0" i="0" u="none" strike="noStrike" kern="1200">
                <a:solidFill>
                  <a:schemeClr val="tx1"/>
                </a:solidFill>
                <a:effectLst/>
                <a:latin typeface="+mn-lt"/>
                <a:ea typeface="+mn-ea"/>
                <a:cs typeface="+mn-cs"/>
              </a:rPr>
              <a:t>Using a map to figure out how to get around in a strange place</a:t>
            </a:r>
            <a:r>
              <a:rPr lang="en-US"/>
              <a:t> </a:t>
            </a:r>
            <a:endParaRPr lang="he-IL"/>
          </a:p>
          <a:p>
            <a:r>
              <a:rPr lang="en-US" sz="1200" b="0" i="0" u="none" strike="noStrike" kern="1200">
                <a:solidFill>
                  <a:schemeClr val="tx1"/>
                </a:solidFill>
                <a:effectLst/>
                <a:latin typeface="+mn-lt"/>
                <a:ea typeface="+mn-ea"/>
                <a:cs typeface="+mn-cs"/>
              </a:rPr>
              <a:t>Preparing a hot meal</a:t>
            </a:r>
            <a:r>
              <a:rPr lang="en-US"/>
              <a:t> </a:t>
            </a:r>
            <a:endParaRPr lang="he-IL"/>
          </a:p>
          <a:p>
            <a:r>
              <a:rPr lang="en-US" sz="1200" b="0" i="0" u="none" strike="noStrike" kern="1200">
                <a:solidFill>
                  <a:schemeClr val="tx1"/>
                </a:solidFill>
                <a:effectLst/>
                <a:latin typeface="+mn-lt"/>
                <a:ea typeface="+mn-ea"/>
                <a:cs typeface="+mn-cs"/>
              </a:rPr>
              <a:t>Shopping for groceries</a:t>
            </a:r>
            <a:r>
              <a:rPr lang="en-US"/>
              <a:t> </a:t>
            </a:r>
            <a:endParaRPr lang="he-IL"/>
          </a:p>
          <a:p>
            <a:r>
              <a:rPr lang="en-US" sz="1200" b="0" i="0" u="none" strike="noStrike" kern="1200">
                <a:solidFill>
                  <a:schemeClr val="tx1"/>
                </a:solidFill>
                <a:effectLst/>
                <a:latin typeface="+mn-lt"/>
                <a:ea typeface="+mn-ea"/>
                <a:cs typeface="+mn-cs"/>
              </a:rPr>
              <a:t>Making telephone calls</a:t>
            </a:r>
            <a:r>
              <a:rPr lang="en-US"/>
              <a:t> </a:t>
            </a:r>
            <a:endParaRPr lang="he-IL"/>
          </a:p>
          <a:p>
            <a:r>
              <a:rPr lang="en-US" sz="1200" b="0" i="0" u="none" strike="noStrike" kern="1200">
                <a:solidFill>
                  <a:schemeClr val="tx1"/>
                </a:solidFill>
                <a:effectLst/>
                <a:latin typeface="+mn-lt"/>
                <a:ea typeface="+mn-ea"/>
                <a:cs typeface="+mn-cs"/>
              </a:rPr>
              <a:t>Taking medications</a:t>
            </a:r>
            <a:r>
              <a:rPr lang="en-US"/>
              <a:t> </a:t>
            </a:r>
            <a:endParaRPr lang="he-IL"/>
          </a:p>
          <a:p>
            <a:r>
              <a:rPr lang="en-US" sz="1200" b="0" i="0" u="none" strike="noStrike" kern="1200">
                <a:solidFill>
                  <a:schemeClr val="tx1"/>
                </a:solidFill>
                <a:effectLst/>
                <a:latin typeface="+mn-lt"/>
                <a:ea typeface="+mn-ea"/>
                <a:cs typeface="+mn-cs"/>
              </a:rPr>
              <a:t>Doing work around the house or garden</a:t>
            </a:r>
            <a:r>
              <a:rPr lang="en-US"/>
              <a:t> </a:t>
            </a:r>
            <a:endParaRPr lang="he-IL"/>
          </a:p>
          <a:p>
            <a:r>
              <a:rPr lang="en-US" sz="1200" b="0" i="0" u="none" strike="noStrike" kern="1200">
                <a:solidFill>
                  <a:schemeClr val="tx1"/>
                </a:solidFill>
                <a:effectLst/>
                <a:latin typeface="+mn-lt"/>
                <a:ea typeface="+mn-ea"/>
                <a:cs typeface="+mn-cs"/>
              </a:rPr>
              <a:t>Managing money, such as paying bills and keeping track of expenses</a:t>
            </a:r>
            <a:r>
              <a:rPr lang="en-US"/>
              <a:t> </a:t>
            </a:r>
            <a:endParaRPr lang="he-IL"/>
          </a:p>
          <a:p>
            <a:r>
              <a:rPr lang="en-US" sz="1200" b="0" i="0" u="none" strike="noStrike" kern="1200">
                <a:solidFill>
                  <a:schemeClr val="tx1"/>
                </a:solidFill>
                <a:effectLst/>
                <a:latin typeface="+mn-lt"/>
                <a:ea typeface="+mn-ea"/>
                <a:cs typeface="+mn-cs"/>
              </a:rPr>
              <a:t>Leaving the house independently and accessing transportation services</a:t>
            </a:r>
            <a:r>
              <a:rPr lang="en-US"/>
              <a:t> </a:t>
            </a:r>
            <a:endParaRPr lang="he-IL"/>
          </a:p>
          <a:p>
            <a:r>
              <a:rPr lang="en-US" sz="1200" b="0" i="0" u="none" strike="noStrike" kern="1200">
                <a:solidFill>
                  <a:schemeClr val="tx1"/>
                </a:solidFill>
                <a:effectLst/>
                <a:latin typeface="+mn-lt"/>
                <a:ea typeface="+mn-ea"/>
                <a:cs typeface="+mn-cs"/>
              </a:rPr>
              <a:t>Doing personal laundry</a:t>
            </a:r>
            <a:r>
              <a:rPr lang="en-US"/>
              <a:t> </a:t>
            </a:r>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1EB6BA5-4224-403F-B410-475A648CF9C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3163714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a:t>
            </a:r>
            <a:r>
              <a:rPr lang="en-US" b="1"/>
              <a:t>IADL</a:t>
            </a:r>
            <a:r>
              <a:rPr lang="en-US"/>
              <a:t> index (Lawton &amp; Brody, 1969) describes the number of limitations with instrumental activities of everyday life.</a:t>
            </a:r>
            <a:endParaRPr lang="he-IL"/>
          </a:p>
          <a:p>
            <a:r>
              <a:rPr lang="en-US" sz="1200" b="0" i="0" u="none" strike="noStrike" kern="1200">
                <a:solidFill>
                  <a:schemeClr val="tx1"/>
                </a:solidFill>
                <a:effectLst/>
                <a:latin typeface="+mn-lt"/>
                <a:ea typeface="+mn-ea"/>
                <a:cs typeface="+mn-cs"/>
              </a:rPr>
              <a:t>Using a map to figure out how to get around in a strange place</a:t>
            </a:r>
            <a:r>
              <a:rPr lang="en-US"/>
              <a:t> </a:t>
            </a:r>
            <a:endParaRPr lang="he-IL"/>
          </a:p>
          <a:p>
            <a:r>
              <a:rPr lang="en-US" sz="1200" b="0" i="0" u="none" strike="noStrike" kern="1200">
                <a:solidFill>
                  <a:schemeClr val="tx1"/>
                </a:solidFill>
                <a:effectLst/>
                <a:latin typeface="+mn-lt"/>
                <a:ea typeface="+mn-ea"/>
                <a:cs typeface="+mn-cs"/>
              </a:rPr>
              <a:t>Preparing a hot meal</a:t>
            </a:r>
            <a:r>
              <a:rPr lang="en-US"/>
              <a:t> </a:t>
            </a:r>
            <a:endParaRPr lang="he-IL"/>
          </a:p>
          <a:p>
            <a:r>
              <a:rPr lang="en-US" sz="1200" b="0" i="0" u="none" strike="noStrike" kern="1200">
                <a:solidFill>
                  <a:schemeClr val="tx1"/>
                </a:solidFill>
                <a:effectLst/>
                <a:latin typeface="+mn-lt"/>
                <a:ea typeface="+mn-ea"/>
                <a:cs typeface="+mn-cs"/>
              </a:rPr>
              <a:t>Shopping for groceries</a:t>
            </a:r>
            <a:r>
              <a:rPr lang="en-US"/>
              <a:t> </a:t>
            </a:r>
            <a:endParaRPr lang="he-IL"/>
          </a:p>
          <a:p>
            <a:r>
              <a:rPr lang="en-US" sz="1200" b="0" i="0" u="none" strike="noStrike" kern="1200">
                <a:solidFill>
                  <a:schemeClr val="tx1"/>
                </a:solidFill>
                <a:effectLst/>
                <a:latin typeface="+mn-lt"/>
                <a:ea typeface="+mn-ea"/>
                <a:cs typeface="+mn-cs"/>
              </a:rPr>
              <a:t>Making telephone calls</a:t>
            </a:r>
            <a:r>
              <a:rPr lang="en-US"/>
              <a:t> </a:t>
            </a:r>
            <a:endParaRPr lang="he-IL"/>
          </a:p>
          <a:p>
            <a:r>
              <a:rPr lang="en-US" sz="1200" b="0" i="0" u="none" strike="noStrike" kern="1200">
                <a:solidFill>
                  <a:schemeClr val="tx1"/>
                </a:solidFill>
                <a:effectLst/>
                <a:latin typeface="+mn-lt"/>
                <a:ea typeface="+mn-ea"/>
                <a:cs typeface="+mn-cs"/>
              </a:rPr>
              <a:t>Taking medications</a:t>
            </a:r>
            <a:r>
              <a:rPr lang="en-US"/>
              <a:t> </a:t>
            </a:r>
            <a:endParaRPr lang="he-IL"/>
          </a:p>
          <a:p>
            <a:r>
              <a:rPr lang="en-US" sz="1200" b="0" i="0" u="none" strike="noStrike" kern="1200">
                <a:solidFill>
                  <a:schemeClr val="tx1"/>
                </a:solidFill>
                <a:effectLst/>
                <a:latin typeface="+mn-lt"/>
                <a:ea typeface="+mn-ea"/>
                <a:cs typeface="+mn-cs"/>
              </a:rPr>
              <a:t>Doing work around the house or garden</a:t>
            </a:r>
            <a:r>
              <a:rPr lang="en-US"/>
              <a:t> </a:t>
            </a:r>
            <a:endParaRPr lang="he-IL"/>
          </a:p>
          <a:p>
            <a:r>
              <a:rPr lang="en-US" sz="1200" b="0" i="0" u="none" strike="noStrike" kern="1200">
                <a:solidFill>
                  <a:schemeClr val="tx1"/>
                </a:solidFill>
                <a:effectLst/>
                <a:latin typeface="+mn-lt"/>
                <a:ea typeface="+mn-ea"/>
                <a:cs typeface="+mn-cs"/>
              </a:rPr>
              <a:t>Managing money, such as paying bills and keeping track of expenses</a:t>
            </a:r>
            <a:r>
              <a:rPr lang="en-US"/>
              <a:t> </a:t>
            </a:r>
            <a:endParaRPr lang="he-IL"/>
          </a:p>
          <a:p>
            <a:r>
              <a:rPr lang="en-US" sz="1200" b="0" i="0" u="none" strike="noStrike" kern="1200">
                <a:solidFill>
                  <a:schemeClr val="tx1"/>
                </a:solidFill>
                <a:effectLst/>
                <a:latin typeface="+mn-lt"/>
                <a:ea typeface="+mn-ea"/>
                <a:cs typeface="+mn-cs"/>
              </a:rPr>
              <a:t>Leaving the house independently and accessing transportation services</a:t>
            </a:r>
            <a:r>
              <a:rPr lang="en-US"/>
              <a:t> </a:t>
            </a:r>
            <a:endParaRPr lang="he-IL"/>
          </a:p>
          <a:p>
            <a:r>
              <a:rPr lang="en-US" sz="1200" b="0" i="0" u="none" strike="noStrike" kern="1200">
                <a:solidFill>
                  <a:schemeClr val="tx1"/>
                </a:solidFill>
                <a:effectLst/>
                <a:latin typeface="+mn-lt"/>
                <a:ea typeface="+mn-ea"/>
                <a:cs typeface="+mn-cs"/>
              </a:rPr>
              <a:t>Doing personal laundry</a:t>
            </a:r>
            <a:r>
              <a:rPr lang="en-US"/>
              <a:t> </a:t>
            </a:r>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1EB6BA5-4224-403F-B410-475A648CF9C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6685731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endParaRPr lang="he-IL"/>
          </a:p>
        </p:txBody>
      </p:sp>
      <p:sp>
        <p:nvSpPr>
          <p:cNvPr id="4" name="מציין מיקום של מספר שקופית 3"/>
          <p:cNvSpPr>
            <a:spLocks noGrp="1"/>
          </p:cNvSpPr>
          <p:nvPr>
            <p:ph type="sldNum" sz="quarter" idx="10"/>
          </p:nvPr>
        </p:nvSpPr>
        <p:spPr/>
        <p:txBody>
          <a:bodyPr/>
          <a:lstStyle/>
          <a:p>
            <a:pPr marL="0" marR="0" lvl="0" indent="0" algn="l" defTabSz="914400" rtl="1" eaLnBrk="1" fontAlgn="auto" latinLnBrk="0" hangingPunct="1">
              <a:lnSpc>
                <a:spcPct val="100000"/>
              </a:lnSpc>
              <a:spcBef>
                <a:spcPts val="0"/>
              </a:spcBef>
              <a:spcAft>
                <a:spcPts val="0"/>
              </a:spcAft>
              <a:buClrTx/>
              <a:buSzTx/>
              <a:buFontTx/>
              <a:buNone/>
              <a:tabLst/>
              <a:defRPr/>
            </a:pPr>
            <a:fld id="{5C3FB198-B410-4AA9-86F5-D09177D6400A}" type="slidenum">
              <a:rPr kumimoji="0" lang="he-IL" sz="1200" b="0" i="0" u="none" strike="noStrike" kern="1200" cap="none" spc="0" normalizeH="0" baseline="0" noProof="0" smtClean="0">
                <a:ln>
                  <a:noFill/>
                </a:ln>
                <a:solidFill>
                  <a:prstClr val="black"/>
                </a:solidFill>
                <a:effectLst/>
                <a:uLnTx/>
                <a:uFillTx/>
                <a:latin typeface="Calibri" panose="020F0502020204030204"/>
                <a:ea typeface="+mn-ea"/>
                <a:cs typeface="Arial" panose="020B0604020202020204" pitchFamily="34" charset="0"/>
              </a:rPr>
              <a:pPr marL="0" marR="0" lvl="0" indent="0" algn="l" defTabSz="914400" rtl="1" eaLnBrk="1" fontAlgn="auto" latinLnBrk="0" hangingPunct="1">
                <a:lnSpc>
                  <a:spcPct val="100000"/>
                </a:lnSpc>
                <a:spcBef>
                  <a:spcPts val="0"/>
                </a:spcBef>
                <a:spcAft>
                  <a:spcPts val="0"/>
                </a:spcAft>
                <a:buClrTx/>
                <a:buSzTx/>
                <a:buFontTx/>
                <a:buNone/>
                <a:tabLst/>
                <a:defRPr/>
              </a:pPr>
              <a:t>46</a:t>
            </a:fld>
            <a:endParaRPr kumimoji="0" lang="he-IL" sz="12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272379046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endParaRPr lang="he-IL" dirty="0"/>
          </a:p>
        </p:txBody>
      </p:sp>
    </p:spTree>
    <p:extLst>
      <p:ext uri="{BB962C8B-B14F-4D97-AF65-F5344CB8AC3E}">
        <p14:creationId xmlns:p14="http://schemas.microsoft.com/office/powerpoint/2010/main" val="322551991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he-IL" dirty="0"/>
              <a:t>תגבור עם כ50</a:t>
            </a:r>
            <a:r>
              <a:rPr lang="he-IL" baseline="0" dirty="0"/>
              <a:t> קהילות תומכות, מטב עם 16 ולאחר מכן </a:t>
            </a:r>
            <a:r>
              <a:rPr lang="he-IL" baseline="0" dirty="0" err="1"/>
              <a:t>סקיולייף</a:t>
            </a:r>
            <a:r>
              <a:rPr lang="he-IL" baseline="0" dirty="0"/>
              <a:t> ואנוש. </a:t>
            </a:r>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A5FC9C1F-3FD7-4D5E-8930-577CB67D6D43}"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193853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endParaRPr lang="he-IL"/>
          </a:p>
        </p:txBody>
      </p:sp>
      <p:sp>
        <p:nvSpPr>
          <p:cNvPr id="4" name="מציין מיקום של מספר שקופית 3"/>
          <p:cNvSpPr>
            <a:spLocks noGrp="1"/>
          </p:cNvSpPr>
          <p:nvPr>
            <p:ph type="sldNum" sz="quarter" idx="10"/>
          </p:nvPr>
        </p:nvSpPr>
        <p:spPr/>
        <p:txBody>
          <a:bodyPr/>
          <a:lstStyle/>
          <a:p>
            <a:pPr marL="0" marR="0" lvl="0" indent="0" algn="l" defTabSz="914400" rtl="1" eaLnBrk="1" fontAlgn="auto" latinLnBrk="0" hangingPunct="1">
              <a:lnSpc>
                <a:spcPct val="100000"/>
              </a:lnSpc>
              <a:spcBef>
                <a:spcPts val="0"/>
              </a:spcBef>
              <a:spcAft>
                <a:spcPts val="0"/>
              </a:spcAft>
              <a:buClrTx/>
              <a:buSzTx/>
              <a:buFontTx/>
              <a:buNone/>
              <a:tabLst/>
              <a:defRPr/>
            </a:pPr>
            <a:fld id="{5C3FB198-B410-4AA9-86F5-D09177D6400A}" type="slidenum">
              <a:rPr kumimoji="0" lang="he-IL" sz="1200" b="0" i="0" u="none" strike="noStrike" kern="1200" cap="none" spc="0" normalizeH="0" baseline="0" noProof="0" smtClean="0">
                <a:ln>
                  <a:noFill/>
                </a:ln>
                <a:solidFill>
                  <a:prstClr val="black"/>
                </a:solidFill>
                <a:effectLst/>
                <a:uLnTx/>
                <a:uFillTx/>
                <a:latin typeface="Calibri" panose="020F0502020204030204"/>
                <a:ea typeface="+mn-ea"/>
                <a:cs typeface="Arial" panose="020B0604020202020204" pitchFamily="34" charset="0"/>
              </a:rPr>
              <a:pPr marL="0" marR="0" lvl="0" indent="0" algn="l" defTabSz="914400" rtl="1" eaLnBrk="1" fontAlgn="auto" latinLnBrk="0" hangingPunct="1">
                <a:lnSpc>
                  <a:spcPct val="100000"/>
                </a:lnSpc>
                <a:spcBef>
                  <a:spcPts val="0"/>
                </a:spcBef>
                <a:spcAft>
                  <a:spcPts val="0"/>
                </a:spcAft>
                <a:buClrTx/>
                <a:buSzTx/>
                <a:buFontTx/>
                <a:buNone/>
                <a:tabLst/>
                <a:defRPr/>
              </a:pPr>
              <a:t>49</a:t>
            </a:fld>
            <a:endParaRPr kumimoji="0" lang="he-IL" sz="12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345724462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endParaRPr lang="he-IL"/>
          </a:p>
        </p:txBody>
      </p:sp>
      <p:sp>
        <p:nvSpPr>
          <p:cNvPr id="4" name="מציין מיקום של מספר שקופית 3"/>
          <p:cNvSpPr>
            <a:spLocks noGrp="1"/>
          </p:cNvSpPr>
          <p:nvPr>
            <p:ph type="sldNum" sz="quarter" idx="10"/>
          </p:nvPr>
        </p:nvSpPr>
        <p:spPr/>
        <p:txBody>
          <a:bodyPr/>
          <a:lstStyle/>
          <a:p>
            <a:pPr marL="0" marR="0" lvl="0" indent="0" algn="l" defTabSz="914400" rtl="1" eaLnBrk="1" fontAlgn="auto" latinLnBrk="0" hangingPunct="1">
              <a:lnSpc>
                <a:spcPct val="100000"/>
              </a:lnSpc>
              <a:spcBef>
                <a:spcPts val="0"/>
              </a:spcBef>
              <a:spcAft>
                <a:spcPts val="0"/>
              </a:spcAft>
              <a:buClrTx/>
              <a:buSzTx/>
              <a:buFontTx/>
              <a:buNone/>
              <a:tabLst/>
              <a:defRPr/>
            </a:pPr>
            <a:fld id="{5C3FB198-B410-4AA9-86F5-D09177D6400A}" type="slidenum">
              <a:rPr kumimoji="0" lang="he-IL" sz="1200" b="0" i="0" u="none" strike="noStrike" kern="1200" cap="none" spc="0" normalizeH="0" baseline="0" noProof="0" smtClean="0">
                <a:ln>
                  <a:noFill/>
                </a:ln>
                <a:solidFill>
                  <a:prstClr val="black"/>
                </a:solidFill>
                <a:effectLst/>
                <a:uLnTx/>
                <a:uFillTx/>
                <a:latin typeface="Calibri" panose="020F0502020204030204"/>
                <a:ea typeface="+mn-ea"/>
                <a:cs typeface="Arial" panose="020B0604020202020204" pitchFamily="34" charset="0"/>
              </a:rPr>
              <a:pPr marL="0" marR="0" lvl="0" indent="0" algn="l" defTabSz="914400" rtl="1" eaLnBrk="1" fontAlgn="auto" latinLnBrk="0" hangingPunct="1">
                <a:lnSpc>
                  <a:spcPct val="100000"/>
                </a:lnSpc>
                <a:spcBef>
                  <a:spcPts val="0"/>
                </a:spcBef>
                <a:spcAft>
                  <a:spcPts val="0"/>
                </a:spcAft>
                <a:buClrTx/>
                <a:buSzTx/>
                <a:buFontTx/>
                <a:buNone/>
                <a:tabLst/>
                <a:defRPr/>
              </a:pPr>
              <a:t>50</a:t>
            </a:fld>
            <a:endParaRPr kumimoji="0" lang="he-IL" sz="12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322999576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r>
              <a:rPr lang="he-IL" dirty="0"/>
              <a:t>לציין שמדידה מתחילה מיעדים משותפים שאותם צריך למדוד על בסיס דאטה רב מערכתי (מערך </a:t>
            </a:r>
            <a:r>
              <a:rPr lang="he-IL" dirty="0" err="1"/>
              <a:t>הדיגיטל</a:t>
            </a:r>
            <a:r>
              <a:rPr lang="he-IL" dirty="0"/>
              <a:t> תומך)</a:t>
            </a:r>
          </a:p>
        </p:txBody>
      </p:sp>
      <p:sp>
        <p:nvSpPr>
          <p:cNvPr id="4" name="Slide Number Placeholder 3"/>
          <p:cNvSpPr>
            <a:spLocks noGrp="1"/>
          </p:cNvSpPr>
          <p:nvPr>
            <p:ph type="sldNum" sz="quarter" idx="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C716BF82-8EEB-4F35-9480-BAD7C861D47C}" type="slidenum">
              <a:rPr kumimoji="0" lang="he-IL" sz="1200" b="0" i="0" u="none" strike="noStrike" kern="1200" cap="none" spc="0" normalizeH="0" baseline="0" noProof="0" smtClean="0">
                <a:ln>
                  <a:noFill/>
                </a:ln>
                <a:solidFill>
                  <a:prstClr val="black"/>
                </a:solidFill>
                <a:effectLst/>
                <a:uLnTx/>
                <a:uFillTx/>
                <a:latin typeface="Calibri" panose="020F0502020204030204"/>
                <a:ea typeface="+mn-ea"/>
                <a:cs typeface="Arial" panose="020B0604020202020204"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51</a:t>
            </a:fld>
            <a:endParaRPr kumimoji="0" lang="he-IL" sz="12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293023371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endParaRPr lang="he-IL"/>
          </a:p>
        </p:txBody>
      </p:sp>
      <p:sp>
        <p:nvSpPr>
          <p:cNvPr id="4" name="מציין מיקום של מספר שקופית 3"/>
          <p:cNvSpPr>
            <a:spLocks noGrp="1"/>
          </p:cNvSpPr>
          <p:nvPr>
            <p:ph type="sldNum" sz="quarter" idx="10"/>
          </p:nvPr>
        </p:nvSpPr>
        <p:spPr/>
        <p:txBody>
          <a:bodyPr/>
          <a:lstStyle/>
          <a:p>
            <a:pPr marL="0" marR="0" lvl="0" indent="0" algn="l" defTabSz="914400" rtl="1" eaLnBrk="1" fontAlgn="auto" latinLnBrk="0" hangingPunct="1">
              <a:lnSpc>
                <a:spcPct val="100000"/>
              </a:lnSpc>
              <a:spcBef>
                <a:spcPts val="0"/>
              </a:spcBef>
              <a:spcAft>
                <a:spcPts val="0"/>
              </a:spcAft>
              <a:buClrTx/>
              <a:buSzTx/>
              <a:buFontTx/>
              <a:buNone/>
              <a:tabLst/>
              <a:defRPr/>
            </a:pPr>
            <a:fld id="{5C3FB198-B410-4AA9-86F5-D09177D6400A}" type="slidenum">
              <a:rPr kumimoji="0" lang="he-IL" sz="1200" b="0" i="0" u="none" strike="noStrike" kern="1200" cap="none" spc="0" normalizeH="0" baseline="0" noProof="0" smtClean="0">
                <a:ln>
                  <a:noFill/>
                </a:ln>
                <a:solidFill>
                  <a:prstClr val="black"/>
                </a:solidFill>
                <a:effectLst/>
                <a:uLnTx/>
                <a:uFillTx/>
                <a:latin typeface="Calibri" panose="020F0502020204030204"/>
                <a:ea typeface="+mn-ea"/>
                <a:cs typeface="Arial" panose="020B0604020202020204" pitchFamily="34" charset="0"/>
              </a:rPr>
              <a:pPr marL="0" marR="0" lvl="0" indent="0" algn="l" defTabSz="914400" rtl="1" eaLnBrk="1" fontAlgn="auto" latinLnBrk="0" hangingPunct="1">
                <a:lnSpc>
                  <a:spcPct val="100000"/>
                </a:lnSpc>
                <a:spcBef>
                  <a:spcPts val="0"/>
                </a:spcBef>
                <a:spcAft>
                  <a:spcPts val="0"/>
                </a:spcAft>
                <a:buClrTx/>
                <a:buSzTx/>
                <a:buFontTx/>
                <a:buNone/>
                <a:tabLst/>
                <a:defRPr/>
              </a:pPr>
              <a:t>52</a:t>
            </a:fld>
            <a:endParaRPr kumimoji="0" lang="he-IL" sz="12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20679703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hyperlink" Target="http://www.showeet.com/" TargetMode="External"/><Relationship Id="rId1" Type="http://schemas.openxmlformats.org/officeDocument/2006/relationships/slideMaster" Target="../slideMasters/slideMaster2.xml"/><Relationship Id="rId4" Type="http://schemas.openxmlformats.org/officeDocument/2006/relationships/image" Target="../media/image5.png"/></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hyperlink" Target="http://www.showeet.com/" TargetMode="External"/><Relationship Id="rId1" Type="http://schemas.openxmlformats.org/officeDocument/2006/relationships/slideMaster" Target="../slideMasters/slideMaster2.xml"/><Relationship Id="rId5" Type="http://schemas.openxmlformats.org/officeDocument/2006/relationships/image" Target="../media/image5.png"/><Relationship Id="rId4" Type="http://schemas.openxmlformats.org/officeDocument/2006/relationships/image" Target="../media/image7.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Master" Target="../slideMasters/slideMaster5.xml"/></Relationships>
</file>

<file path=ppt/slideLayouts/_rels/slideLayout6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שקופית כותרת">
    <p:spTree>
      <p:nvGrpSpPr>
        <p:cNvPr id="1" name=""/>
        <p:cNvGrpSpPr/>
        <p:nvPr/>
      </p:nvGrpSpPr>
      <p:grpSpPr>
        <a:xfrm>
          <a:off x="0" y="0"/>
          <a:ext cx="0" cy="0"/>
          <a:chOff x="0" y="0"/>
          <a:chExt cx="0" cy="0"/>
        </a:xfrm>
      </p:grpSpPr>
      <p:sp>
        <p:nvSpPr>
          <p:cNvPr id="2" name="כותרת 1"/>
          <p:cNvSpPr>
            <a:spLocks noGrp="1"/>
          </p:cNvSpPr>
          <p:nvPr>
            <p:ph type="ctrTitle"/>
          </p:nvPr>
        </p:nvSpPr>
        <p:spPr>
          <a:xfrm>
            <a:off x="1524000" y="1122363"/>
            <a:ext cx="9144000" cy="2387600"/>
          </a:xfrm>
        </p:spPr>
        <p:txBody>
          <a:bodyPr anchor="b"/>
          <a:lstStyle>
            <a:lvl1pPr algn="ctr">
              <a:defRPr sz="6000"/>
            </a:lvl1pPr>
          </a:lstStyle>
          <a:p>
            <a:r>
              <a:rPr lang="he-IL"/>
              <a:t>לחץ כדי לערוך סגנון כותרת של תבנית בסיס</a:t>
            </a:r>
          </a:p>
        </p:txBody>
      </p:sp>
      <p:sp>
        <p:nvSpPr>
          <p:cNvPr id="3" name="כותרת משנה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he-IL"/>
              <a:t>לחץ כדי לערוך סגנון כותרת משנה של תבנית בסיס</a:t>
            </a:r>
          </a:p>
        </p:txBody>
      </p:sp>
      <p:sp>
        <p:nvSpPr>
          <p:cNvPr id="4" name="מציין מיקום של תאריך 3"/>
          <p:cNvSpPr>
            <a:spLocks noGrp="1"/>
          </p:cNvSpPr>
          <p:nvPr>
            <p:ph type="dt" sz="half" idx="10"/>
          </p:nvPr>
        </p:nvSpPr>
        <p:spPr/>
        <p:txBody>
          <a:bodyPr/>
          <a:lstStyle/>
          <a:p>
            <a:fld id="{A2B3D744-8BFC-49C4-921C-A4357DD28206}" type="datetimeFigureOut">
              <a:rPr lang="he-IL" smtClean="0"/>
              <a:t>כ"א/אלול/תשפ"ד</a:t>
            </a:fld>
            <a:endParaRPr lang="he-IL"/>
          </a:p>
        </p:txBody>
      </p:sp>
      <p:sp>
        <p:nvSpPr>
          <p:cNvPr id="5" name="מציין מיקום של כותרת תחתונה 4"/>
          <p:cNvSpPr>
            <a:spLocks noGrp="1"/>
          </p:cNvSpPr>
          <p:nvPr>
            <p:ph type="ftr" sz="quarter" idx="11"/>
          </p:nvPr>
        </p:nvSpPr>
        <p:spPr/>
        <p:txBody>
          <a:bodyPr/>
          <a:lstStyle/>
          <a:p>
            <a:endParaRPr lang="he-IL"/>
          </a:p>
        </p:txBody>
      </p:sp>
      <p:sp>
        <p:nvSpPr>
          <p:cNvPr id="6" name="מציין מיקום של מספר שקופית 5"/>
          <p:cNvSpPr>
            <a:spLocks noGrp="1"/>
          </p:cNvSpPr>
          <p:nvPr>
            <p:ph type="sldNum" sz="quarter" idx="12"/>
          </p:nvPr>
        </p:nvSpPr>
        <p:spPr/>
        <p:txBody>
          <a:bodyPr/>
          <a:lstStyle/>
          <a:p>
            <a:fld id="{C4BCB286-1E5E-4B02-A0C5-06BDEC1E2FA1}" type="slidenum">
              <a:rPr lang="he-IL" smtClean="0"/>
              <a:t>‹#›</a:t>
            </a:fld>
            <a:endParaRPr lang="he-IL"/>
          </a:p>
        </p:txBody>
      </p:sp>
    </p:spTree>
    <p:extLst>
      <p:ext uri="{BB962C8B-B14F-4D97-AF65-F5344CB8AC3E}">
        <p14:creationId xmlns:p14="http://schemas.microsoft.com/office/powerpoint/2010/main" val="10747089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כותרת ותוכן">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a:t>לחץ כדי לערוך סגנון כותרת של תבנית בסיס</a:t>
            </a:r>
          </a:p>
        </p:txBody>
      </p:sp>
      <p:sp>
        <p:nvSpPr>
          <p:cNvPr id="3" name="מציין מיקום תוכן 2"/>
          <p:cNvSpPr>
            <a:spLocks noGrp="1"/>
          </p:cNvSpPr>
          <p:nvPr>
            <p:ph idx="1"/>
          </p:nvPr>
        </p:nvSpPr>
        <p:spPr/>
        <p:txBody>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4" name="מציין מיקום של תאריך 3"/>
          <p:cNvSpPr>
            <a:spLocks noGrp="1"/>
          </p:cNvSpPr>
          <p:nvPr>
            <p:ph type="dt" sz="half" idx="10"/>
          </p:nvPr>
        </p:nvSpPr>
        <p:spPr/>
        <p:txBody>
          <a:bodyPr/>
          <a:lstStyle/>
          <a:p>
            <a:fld id="{A2B3D744-8BFC-49C4-921C-A4357DD28206}" type="datetimeFigureOut">
              <a:rPr lang="he-IL" smtClean="0"/>
              <a:t>כ"א/אלול/תשפ"ד</a:t>
            </a:fld>
            <a:endParaRPr lang="he-IL"/>
          </a:p>
        </p:txBody>
      </p:sp>
      <p:sp>
        <p:nvSpPr>
          <p:cNvPr id="5" name="מציין מיקום של כותרת תחתונה 4"/>
          <p:cNvSpPr>
            <a:spLocks noGrp="1"/>
          </p:cNvSpPr>
          <p:nvPr>
            <p:ph type="ftr" sz="quarter" idx="11"/>
          </p:nvPr>
        </p:nvSpPr>
        <p:spPr/>
        <p:txBody>
          <a:bodyPr/>
          <a:lstStyle/>
          <a:p>
            <a:endParaRPr lang="he-IL"/>
          </a:p>
        </p:txBody>
      </p:sp>
      <p:sp>
        <p:nvSpPr>
          <p:cNvPr id="6" name="מציין מיקום של מספר שקופית 5"/>
          <p:cNvSpPr>
            <a:spLocks noGrp="1"/>
          </p:cNvSpPr>
          <p:nvPr>
            <p:ph type="sldNum" sz="quarter" idx="12"/>
          </p:nvPr>
        </p:nvSpPr>
        <p:spPr/>
        <p:txBody>
          <a:bodyPr/>
          <a:lstStyle/>
          <a:p>
            <a:fld id="{C4BCB286-1E5E-4B02-A0C5-06BDEC1E2FA1}" type="slidenum">
              <a:rPr lang="he-IL" smtClean="0"/>
              <a:t>‹#›</a:t>
            </a:fld>
            <a:endParaRPr lang="he-IL"/>
          </a:p>
        </p:txBody>
      </p:sp>
    </p:spTree>
    <p:extLst>
      <p:ext uri="{BB962C8B-B14F-4D97-AF65-F5344CB8AC3E}">
        <p14:creationId xmlns:p14="http://schemas.microsoft.com/office/powerpoint/2010/main" val="4789726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כותרת מקטע עליונה">
    <p:spTree>
      <p:nvGrpSpPr>
        <p:cNvPr id="1" name=""/>
        <p:cNvGrpSpPr/>
        <p:nvPr/>
      </p:nvGrpSpPr>
      <p:grpSpPr>
        <a:xfrm>
          <a:off x="0" y="0"/>
          <a:ext cx="0" cy="0"/>
          <a:chOff x="0" y="0"/>
          <a:chExt cx="0" cy="0"/>
        </a:xfrm>
      </p:grpSpPr>
      <p:sp>
        <p:nvSpPr>
          <p:cNvPr id="2" name="כותרת 1"/>
          <p:cNvSpPr>
            <a:spLocks noGrp="1"/>
          </p:cNvSpPr>
          <p:nvPr>
            <p:ph type="title"/>
          </p:nvPr>
        </p:nvSpPr>
        <p:spPr>
          <a:xfrm>
            <a:off x="831850" y="1709738"/>
            <a:ext cx="10515600" cy="2852737"/>
          </a:xfrm>
        </p:spPr>
        <p:txBody>
          <a:bodyPr anchor="b"/>
          <a:lstStyle>
            <a:lvl1pPr>
              <a:defRPr sz="6000"/>
            </a:lvl1pPr>
          </a:lstStyle>
          <a:p>
            <a:r>
              <a:rPr lang="he-IL"/>
              <a:t>לחץ כדי לערוך סגנון כותרת של תבנית בסיס</a:t>
            </a:r>
          </a:p>
        </p:txBody>
      </p:sp>
      <p:sp>
        <p:nvSpPr>
          <p:cNvPr id="3" name="מציין מיקום טקסט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he-IL"/>
              <a:t>ערוך סגנונות טקסט של תבנית בסיס</a:t>
            </a:r>
          </a:p>
        </p:txBody>
      </p:sp>
      <p:sp>
        <p:nvSpPr>
          <p:cNvPr id="4" name="מציין מיקום של תאריך 3"/>
          <p:cNvSpPr>
            <a:spLocks noGrp="1"/>
          </p:cNvSpPr>
          <p:nvPr>
            <p:ph type="dt" sz="half" idx="10"/>
          </p:nvPr>
        </p:nvSpPr>
        <p:spPr/>
        <p:txBody>
          <a:bodyPr/>
          <a:lstStyle/>
          <a:p>
            <a:fld id="{A2B3D744-8BFC-49C4-921C-A4357DD28206}" type="datetimeFigureOut">
              <a:rPr lang="he-IL" smtClean="0"/>
              <a:t>כ"א/אלול/תשפ"ד</a:t>
            </a:fld>
            <a:endParaRPr lang="he-IL"/>
          </a:p>
        </p:txBody>
      </p:sp>
      <p:sp>
        <p:nvSpPr>
          <p:cNvPr id="5" name="מציין מיקום של כותרת תחתונה 4"/>
          <p:cNvSpPr>
            <a:spLocks noGrp="1"/>
          </p:cNvSpPr>
          <p:nvPr>
            <p:ph type="ftr" sz="quarter" idx="11"/>
          </p:nvPr>
        </p:nvSpPr>
        <p:spPr/>
        <p:txBody>
          <a:bodyPr/>
          <a:lstStyle/>
          <a:p>
            <a:endParaRPr lang="he-IL"/>
          </a:p>
        </p:txBody>
      </p:sp>
      <p:sp>
        <p:nvSpPr>
          <p:cNvPr id="6" name="מציין מיקום של מספר שקופית 5"/>
          <p:cNvSpPr>
            <a:spLocks noGrp="1"/>
          </p:cNvSpPr>
          <p:nvPr>
            <p:ph type="sldNum" sz="quarter" idx="12"/>
          </p:nvPr>
        </p:nvSpPr>
        <p:spPr/>
        <p:txBody>
          <a:bodyPr/>
          <a:lstStyle/>
          <a:p>
            <a:fld id="{C4BCB286-1E5E-4B02-A0C5-06BDEC1E2FA1}" type="slidenum">
              <a:rPr lang="he-IL" smtClean="0"/>
              <a:t>‹#›</a:t>
            </a:fld>
            <a:endParaRPr lang="he-IL"/>
          </a:p>
        </p:txBody>
      </p:sp>
    </p:spTree>
    <p:extLst>
      <p:ext uri="{BB962C8B-B14F-4D97-AF65-F5344CB8AC3E}">
        <p14:creationId xmlns:p14="http://schemas.microsoft.com/office/powerpoint/2010/main" val="29899526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שני תכנים">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a:t>לחץ כדי לערוך סגנון כותרת של תבנית בסיס</a:t>
            </a:r>
          </a:p>
        </p:txBody>
      </p:sp>
      <p:sp>
        <p:nvSpPr>
          <p:cNvPr id="3" name="מציין מיקום תוכן 2"/>
          <p:cNvSpPr>
            <a:spLocks noGrp="1"/>
          </p:cNvSpPr>
          <p:nvPr>
            <p:ph sz="half" idx="1"/>
          </p:nvPr>
        </p:nvSpPr>
        <p:spPr>
          <a:xfrm>
            <a:off x="838200" y="1825625"/>
            <a:ext cx="5181600" cy="4351338"/>
          </a:xfrm>
        </p:spPr>
        <p:txBody>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4" name="מציין מיקום תוכן 3"/>
          <p:cNvSpPr>
            <a:spLocks noGrp="1"/>
          </p:cNvSpPr>
          <p:nvPr>
            <p:ph sz="half" idx="2"/>
          </p:nvPr>
        </p:nvSpPr>
        <p:spPr>
          <a:xfrm>
            <a:off x="6172200" y="1825625"/>
            <a:ext cx="5181600" cy="4351338"/>
          </a:xfrm>
        </p:spPr>
        <p:txBody>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5" name="מציין מיקום של תאריך 4"/>
          <p:cNvSpPr>
            <a:spLocks noGrp="1"/>
          </p:cNvSpPr>
          <p:nvPr>
            <p:ph type="dt" sz="half" idx="10"/>
          </p:nvPr>
        </p:nvSpPr>
        <p:spPr/>
        <p:txBody>
          <a:bodyPr/>
          <a:lstStyle/>
          <a:p>
            <a:fld id="{A2B3D744-8BFC-49C4-921C-A4357DD28206}" type="datetimeFigureOut">
              <a:rPr lang="he-IL" smtClean="0"/>
              <a:t>כ"א/אלול/תשפ"ד</a:t>
            </a:fld>
            <a:endParaRPr lang="he-IL"/>
          </a:p>
        </p:txBody>
      </p:sp>
      <p:sp>
        <p:nvSpPr>
          <p:cNvPr id="6" name="מציין מיקום של כותרת תחתונה 5"/>
          <p:cNvSpPr>
            <a:spLocks noGrp="1"/>
          </p:cNvSpPr>
          <p:nvPr>
            <p:ph type="ftr" sz="quarter" idx="11"/>
          </p:nvPr>
        </p:nvSpPr>
        <p:spPr/>
        <p:txBody>
          <a:bodyPr/>
          <a:lstStyle/>
          <a:p>
            <a:endParaRPr lang="he-IL"/>
          </a:p>
        </p:txBody>
      </p:sp>
      <p:sp>
        <p:nvSpPr>
          <p:cNvPr id="7" name="מציין מיקום של מספר שקופית 6"/>
          <p:cNvSpPr>
            <a:spLocks noGrp="1"/>
          </p:cNvSpPr>
          <p:nvPr>
            <p:ph type="sldNum" sz="quarter" idx="12"/>
          </p:nvPr>
        </p:nvSpPr>
        <p:spPr/>
        <p:txBody>
          <a:bodyPr/>
          <a:lstStyle/>
          <a:p>
            <a:fld id="{C4BCB286-1E5E-4B02-A0C5-06BDEC1E2FA1}" type="slidenum">
              <a:rPr lang="he-IL" smtClean="0"/>
              <a:t>‹#›</a:t>
            </a:fld>
            <a:endParaRPr lang="he-IL"/>
          </a:p>
        </p:txBody>
      </p:sp>
    </p:spTree>
    <p:extLst>
      <p:ext uri="{BB962C8B-B14F-4D97-AF65-F5344CB8AC3E}">
        <p14:creationId xmlns:p14="http://schemas.microsoft.com/office/powerpoint/2010/main" val="3182598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השוואה">
    <p:spTree>
      <p:nvGrpSpPr>
        <p:cNvPr id="1" name=""/>
        <p:cNvGrpSpPr/>
        <p:nvPr/>
      </p:nvGrpSpPr>
      <p:grpSpPr>
        <a:xfrm>
          <a:off x="0" y="0"/>
          <a:ext cx="0" cy="0"/>
          <a:chOff x="0" y="0"/>
          <a:chExt cx="0" cy="0"/>
        </a:xfrm>
      </p:grpSpPr>
      <p:sp>
        <p:nvSpPr>
          <p:cNvPr id="2" name="כותרת 1"/>
          <p:cNvSpPr>
            <a:spLocks noGrp="1"/>
          </p:cNvSpPr>
          <p:nvPr>
            <p:ph type="title"/>
          </p:nvPr>
        </p:nvSpPr>
        <p:spPr>
          <a:xfrm>
            <a:off x="839788" y="365125"/>
            <a:ext cx="10515600" cy="1325563"/>
          </a:xfrm>
        </p:spPr>
        <p:txBody>
          <a:bodyPr/>
          <a:lstStyle/>
          <a:p>
            <a:r>
              <a:rPr lang="he-IL"/>
              <a:t>לחץ כדי לערוך סגנון כותרת של תבנית בסיס</a:t>
            </a:r>
          </a:p>
        </p:txBody>
      </p:sp>
      <p:sp>
        <p:nvSpPr>
          <p:cNvPr id="3" name="מציין מיקום טקסט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ערוך סגנונות טקסט של תבנית בסיס</a:t>
            </a:r>
          </a:p>
        </p:txBody>
      </p:sp>
      <p:sp>
        <p:nvSpPr>
          <p:cNvPr id="4" name="מציין מיקום תוכן 3"/>
          <p:cNvSpPr>
            <a:spLocks noGrp="1"/>
          </p:cNvSpPr>
          <p:nvPr>
            <p:ph sz="half" idx="2"/>
          </p:nvPr>
        </p:nvSpPr>
        <p:spPr>
          <a:xfrm>
            <a:off x="839788" y="2505075"/>
            <a:ext cx="5157787" cy="3684588"/>
          </a:xfrm>
        </p:spPr>
        <p:txBody>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5" name="מציין מיקום טקסט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ערוך סגנונות טקסט של תבנית בסיס</a:t>
            </a:r>
          </a:p>
        </p:txBody>
      </p:sp>
      <p:sp>
        <p:nvSpPr>
          <p:cNvPr id="6" name="מציין מיקום תוכן 5"/>
          <p:cNvSpPr>
            <a:spLocks noGrp="1"/>
          </p:cNvSpPr>
          <p:nvPr>
            <p:ph sz="quarter" idx="4"/>
          </p:nvPr>
        </p:nvSpPr>
        <p:spPr>
          <a:xfrm>
            <a:off x="6172200" y="2505075"/>
            <a:ext cx="5183188" cy="3684588"/>
          </a:xfrm>
        </p:spPr>
        <p:txBody>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7" name="מציין מיקום של תאריך 6"/>
          <p:cNvSpPr>
            <a:spLocks noGrp="1"/>
          </p:cNvSpPr>
          <p:nvPr>
            <p:ph type="dt" sz="half" idx="10"/>
          </p:nvPr>
        </p:nvSpPr>
        <p:spPr/>
        <p:txBody>
          <a:bodyPr/>
          <a:lstStyle/>
          <a:p>
            <a:fld id="{A2B3D744-8BFC-49C4-921C-A4357DD28206}" type="datetimeFigureOut">
              <a:rPr lang="he-IL" smtClean="0"/>
              <a:t>כ"א/אלול/תשפ"ד</a:t>
            </a:fld>
            <a:endParaRPr lang="he-IL"/>
          </a:p>
        </p:txBody>
      </p:sp>
      <p:sp>
        <p:nvSpPr>
          <p:cNvPr id="8" name="מציין מיקום של כותרת תחתונה 7"/>
          <p:cNvSpPr>
            <a:spLocks noGrp="1"/>
          </p:cNvSpPr>
          <p:nvPr>
            <p:ph type="ftr" sz="quarter" idx="11"/>
          </p:nvPr>
        </p:nvSpPr>
        <p:spPr/>
        <p:txBody>
          <a:bodyPr/>
          <a:lstStyle/>
          <a:p>
            <a:endParaRPr lang="he-IL"/>
          </a:p>
        </p:txBody>
      </p:sp>
      <p:sp>
        <p:nvSpPr>
          <p:cNvPr id="9" name="מציין מיקום של מספר שקופית 8"/>
          <p:cNvSpPr>
            <a:spLocks noGrp="1"/>
          </p:cNvSpPr>
          <p:nvPr>
            <p:ph type="sldNum" sz="quarter" idx="12"/>
          </p:nvPr>
        </p:nvSpPr>
        <p:spPr/>
        <p:txBody>
          <a:bodyPr/>
          <a:lstStyle/>
          <a:p>
            <a:fld id="{C4BCB286-1E5E-4B02-A0C5-06BDEC1E2FA1}" type="slidenum">
              <a:rPr lang="he-IL" smtClean="0"/>
              <a:t>‹#›</a:t>
            </a:fld>
            <a:endParaRPr lang="he-IL"/>
          </a:p>
        </p:txBody>
      </p:sp>
    </p:spTree>
    <p:extLst>
      <p:ext uri="{BB962C8B-B14F-4D97-AF65-F5344CB8AC3E}">
        <p14:creationId xmlns:p14="http://schemas.microsoft.com/office/powerpoint/2010/main" val="22257975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כותרת בלבד">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a:t>לחץ כדי לערוך סגנון כותרת של תבנית בסיס</a:t>
            </a:r>
          </a:p>
        </p:txBody>
      </p:sp>
      <p:sp>
        <p:nvSpPr>
          <p:cNvPr id="3" name="מציין מיקום של תאריך 2"/>
          <p:cNvSpPr>
            <a:spLocks noGrp="1"/>
          </p:cNvSpPr>
          <p:nvPr>
            <p:ph type="dt" sz="half" idx="10"/>
          </p:nvPr>
        </p:nvSpPr>
        <p:spPr/>
        <p:txBody>
          <a:bodyPr/>
          <a:lstStyle/>
          <a:p>
            <a:fld id="{A2B3D744-8BFC-49C4-921C-A4357DD28206}" type="datetimeFigureOut">
              <a:rPr lang="he-IL" smtClean="0"/>
              <a:t>כ"א/אלול/תשפ"ד</a:t>
            </a:fld>
            <a:endParaRPr lang="he-IL"/>
          </a:p>
        </p:txBody>
      </p:sp>
      <p:sp>
        <p:nvSpPr>
          <p:cNvPr id="4" name="מציין מיקום של כותרת תחתונה 3"/>
          <p:cNvSpPr>
            <a:spLocks noGrp="1"/>
          </p:cNvSpPr>
          <p:nvPr>
            <p:ph type="ftr" sz="quarter" idx="11"/>
          </p:nvPr>
        </p:nvSpPr>
        <p:spPr/>
        <p:txBody>
          <a:bodyPr/>
          <a:lstStyle/>
          <a:p>
            <a:endParaRPr lang="he-IL"/>
          </a:p>
        </p:txBody>
      </p:sp>
      <p:sp>
        <p:nvSpPr>
          <p:cNvPr id="5" name="מציין מיקום של מספר שקופית 4"/>
          <p:cNvSpPr>
            <a:spLocks noGrp="1"/>
          </p:cNvSpPr>
          <p:nvPr>
            <p:ph type="sldNum" sz="quarter" idx="12"/>
          </p:nvPr>
        </p:nvSpPr>
        <p:spPr/>
        <p:txBody>
          <a:bodyPr/>
          <a:lstStyle/>
          <a:p>
            <a:fld id="{C4BCB286-1E5E-4B02-A0C5-06BDEC1E2FA1}" type="slidenum">
              <a:rPr lang="he-IL" smtClean="0"/>
              <a:t>‹#›</a:t>
            </a:fld>
            <a:endParaRPr lang="he-IL"/>
          </a:p>
        </p:txBody>
      </p:sp>
    </p:spTree>
    <p:extLst>
      <p:ext uri="{BB962C8B-B14F-4D97-AF65-F5344CB8AC3E}">
        <p14:creationId xmlns:p14="http://schemas.microsoft.com/office/powerpoint/2010/main" val="20851401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ריק">
    <p:spTree>
      <p:nvGrpSpPr>
        <p:cNvPr id="1" name=""/>
        <p:cNvGrpSpPr/>
        <p:nvPr/>
      </p:nvGrpSpPr>
      <p:grpSpPr>
        <a:xfrm>
          <a:off x="0" y="0"/>
          <a:ext cx="0" cy="0"/>
          <a:chOff x="0" y="0"/>
          <a:chExt cx="0" cy="0"/>
        </a:xfrm>
      </p:grpSpPr>
      <p:sp>
        <p:nvSpPr>
          <p:cNvPr id="2" name="מציין מיקום של תאריך 1"/>
          <p:cNvSpPr>
            <a:spLocks noGrp="1"/>
          </p:cNvSpPr>
          <p:nvPr>
            <p:ph type="dt" sz="half" idx="10"/>
          </p:nvPr>
        </p:nvSpPr>
        <p:spPr/>
        <p:txBody>
          <a:bodyPr/>
          <a:lstStyle/>
          <a:p>
            <a:fld id="{A2B3D744-8BFC-49C4-921C-A4357DD28206}" type="datetimeFigureOut">
              <a:rPr lang="he-IL" smtClean="0"/>
              <a:t>כ"א/אלול/תשפ"ד</a:t>
            </a:fld>
            <a:endParaRPr lang="he-IL"/>
          </a:p>
        </p:txBody>
      </p:sp>
      <p:sp>
        <p:nvSpPr>
          <p:cNvPr id="3" name="מציין מיקום של כותרת תחתונה 2"/>
          <p:cNvSpPr>
            <a:spLocks noGrp="1"/>
          </p:cNvSpPr>
          <p:nvPr>
            <p:ph type="ftr" sz="quarter" idx="11"/>
          </p:nvPr>
        </p:nvSpPr>
        <p:spPr/>
        <p:txBody>
          <a:bodyPr/>
          <a:lstStyle/>
          <a:p>
            <a:endParaRPr lang="he-IL"/>
          </a:p>
        </p:txBody>
      </p:sp>
      <p:sp>
        <p:nvSpPr>
          <p:cNvPr id="4" name="מציין מיקום של מספר שקופית 3"/>
          <p:cNvSpPr>
            <a:spLocks noGrp="1"/>
          </p:cNvSpPr>
          <p:nvPr>
            <p:ph type="sldNum" sz="quarter" idx="12"/>
          </p:nvPr>
        </p:nvSpPr>
        <p:spPr/>
        <p:txBody>
          <a:bodyPr/>
          <a:lstStyle/>
          <a:p>
            <a:fld id="{C4BCB286-1E5E-4B02-A0C5-06BDEC1E2FA1}" type="slidenum">
              <a:rPr lang="he-IL" smtClean="0"/>
              <a:t>‹#›</a:t>
            </a:fld>
            <a:endParaRPr lang="he-IL"/>
          </a:p>
        </p:txBody>
      </p:sp>
    </p:spTree>
    <p:extLst>
      <p:ext uri="{BB962C8B-B14F-4D97-AF65-F5344CB8AC3E}">
        <p14:creationId xmlns:p14="http://schemas.microsoft.com/office/powerpoint/2010/main" val="23051941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תוכן עם כיתוב">
    <p:spTree>
      <p:nvGrpSpPr>
        <p:cNvPr id="1" name=""/>
        <p:cNvGrpSpPr/>
        <p:nvPr/>
      </p:nvGrpSpPr>
      <p:grpSpPr>
        <a:xfrm>
          <a:off x="0" y="0"/>
          <a:ext cx="0" cy="0"/>
          <a:chOff x="0" y="0"/>
          <a:chExt cx="0" cy="0"/>
        </a:xfrm>
      </p:grpSpPr>
      <p:sp>
        <p:nvSpPr>
          <p:cNvPr id="2" name="כותרת 1"/>
          <p:cNvSpPr>
            <a:spLocks noGrp="1"/>
          </p:cNvSpPr>
          <p:nvPr>
            <p:ph type="title"/>
          </p:nvPr>
        </p:nvSpPr>
        <p:spPr>
          <a:xfrm>
            <a:off x="839788" y="457200"/>
            <a:ext cx="3932237" cy="1600200"/>
          </a:xfrm>
        </p:spPr>
        <p:txBody>
          <a:bodyPr anchor="b"/>
          <a:lstStyle>
            <a:lvl1pPr>
              <a:defRPr sz="3200"/>
            </a:lvl1pPr>
          </a:lstStyle>
          <a:p>
            <a:r>
              <a:rPr lang="he-IL"/>
              <a:t>לחץ כדי לערוך סגנון כותרת של תבנית בסיס</a:t>
            </a:r>
          </a:p>
        </p:txBody>
      </p:sp>
      <p:sp>
        <p:nvSpPr>
          <p:cNvPr id="3" name="מציין מיקום תוכן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4" name="מציין מיקום טקסט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e-IL"/>
              <a:t>ערוך סגנונות טקסט של תבנית בסיס</a:t>
            </a:r>
          </a:p>
        </p:txBody>
      </p:sp>
      <p:sp>
        <p:nvSpPr>
          <p:cNvPr id="5" name="מציין מיקום של תאריך 4"/>
          <p:cNvSpPr>
            <a:spLocks noGrp="1"/>
          </p:cNvSpPr>
          <p:nvPr>
            <p:ph type="dt" sz="half" idx="10"/>
          </p:nvPr>
        </p:nvSpPr>
        <p:spPr/>
        <p:txBody>
          <a:bodyPr/>
          <a:lstStyle/>
          <a:p>
            <a:fld id="{A2B3D744-8BFC-49C4-921C-A4357DD28206}" type="datetimeFigureOut">
              <a:rPr lang="he-IL" smtClean="0"/>
              <a:t>כ"א/אלול/תשפ"ד</a:t>
            </a:fld>
            <a:endParaRPr lang="he-IL"/>
          </a:p>
        </p:txBody>
      </p:sp>
      <p:sp>
        <p:nvSpPr>
          <p:cNvPr id="6" name="מציין מיקום של כותרת תחתונה 5"/>
          <p:cNvSpPr>
            <a:spLocks noGrp="1"/>
          </p:cNvSpPr>
          <p:nvPr>
            <p:ph type="ftr" sz="quarter" idx="11"/>
          </p:nvPr>
        </p:nvSpPr>
        <p:spPr/>
        <p:txBody>
          <a:bodyPr/>
          <a:lstStyle/>
          <a:p>
            <a:endParaRPr lang="he-IL"/>
          </a:p>
        </p:txBody>
      </p:sp>
      <p:sp>
        <p:nvSpPr>
          <p:cNvPr id="7" name="מציין מיקום של מספר שקופית 6"/>
          <p:cNvSpPr>
            <a:spLocks noGrp="1"/>
          </p:cNvSpPr>
          <p:nvPr>
            <p:ph type="sldNum" sz="quarter" idx="12"/>
          </p:nvPr>
        </p:nvSpPr>
        <p:spPr/>
        <p:txBody>
          <a:bodyPr/>
          <a:lstStyle/>
          <a:p>
            <a:fld id="{C4BCB286-1E5E-4B02-A0C5-06BDEC1E2FA1}" type="slidenum">
              <a:rPr lang="he-IL" smtClean="0"/>
              <a:t>‹#›</a:t>
            </a:fld>
            <a:endParaRPr lang="he-IL"/>
          </a:p>
        </p:txBody>
      </p:sp>
    </p:spTree>
    <p:extLst>
      <p:ext uri="{BB962C8B-B14F-4D97-AF65-F5344CB8AC3E}">
        <p14:creationId xmlns:p14="http://schemas.microsoft.com/office/powerpoint/2010/main" val="42830117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תמונה עם כיתוב">
    <p:spTree>
      <p:nvGrpSpPr>
        <p:cNvPr id="1" name=""/>
        <p:cNvGrpSpPr/>
        <p:nvPr/>
      </p:nvGrpSpPr>
      <p:grpSpPr>
        <a:xfrm>
          <a:off x="0" y="0"/>
          <a:ext cx="0" cy="0"/>
          <a:chOff x="0" y="0"/>
          <a:chExt cx="0" cy="0"/>
        </a:xfrm>
      </p:grpSpPr>
      <p:sp>
        <p:nvSpPr>
          <p:cNvPr id="2" name="כותרת 1"/>
          <p:cNvSpPr>
            <a:spLocks noGrp="1"/>
          </p:cNvSpPr>
          <p:nvPr>
            <p:ph type="title"/>
          </p:nvPr>
        </p:nvSpPr>
        <p:spPr>
          <a:xfrm>
            <a:off x="839788" y="457200"/>
            <a:ext cx="3932237" cy="1600200"/>
          </a:xfrm>
        </p:spPr>
        <p:txBody>
          <a:bodyPr anchor="b"/>
          <a:lstStyle>
            <a:lvl1pPr>
              <a:defRPr sz="3200"/>
            </a:lvl1pPr>
          </a:lstStyle>
          <a:p>
            <a:r>
              <a:rPr lang="he-IL"/>
              <a:t>לחץ כדי לערוך סגנון כותרת של תבנית בסיס</a:t>
            </a:r>
          </a:p>
        </p:txBody>
      </p:sp>
      <p:sp>
        <p:nvSpPr>
          <p:cNvPr id="3" name="מציין מיקום של תמונה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he-IL"/>
          </a:p>
        </p:txBody>
      </p:sp>
      <p:sp>
        <p:nvSpPr>
          <p:cNvPr id="4" name="מציין מיקום טקסט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e-IL"/>
              <a:t>ערוך סגנונות טקסט של תבנית בסיס</a:t>
            </a:r>
          </a:p>
        </p:txBody>
      </p:sp>
      <p:sp>
        <p:nvSpPr>
          <p:cNvPr id="5" name="מציין מיקום של תאריך 4"/>
          <p:cNvSpPr>
            <a:spLocks noGrp="1"/>
          </p:cNvSpPr>
          <p:nvPr>
            <p:ph type="dt" sz="half" idx="10"/>
          </p:nvPr>
        </p:nvSpPr>
        <p:spPr/>
        <p:txBody>
          <a:bodyPr/>
          <a:lstStyle/>
          <a:p>
            <a:fld id="{A2B3D744-8BFC-49C4-921C-A4357DD28206}" type="datetimeFigureOut">
              <a:rPr lang="he-IL" smtClean="0"/>
              <a:t>כ"א/אלול/תשפ"ד</a:t>
            </a:fld>
            <a:endParaRPr lang="he-IL"/>
          </a:p>
        </p:txBody>
      </p:sp>
      <p:sp>
        <p:nvSpPr>
          <p:cNvPr id="6" name="מציין מיקום של כותרת תחתונה 5"/>
          <p:cNvSpPr>
            <a:spLocks noGrp="1"/>
          </p:cNvSpPr>
          <p:nvPr>
            <p:ph type="ftr" sz="quarter" idx="11"/>
          </p:nvPr>
        </p:nvSpPr>
        <p:spPr/>
        <p:txBody>
          <a:bodyPr/>
          <a:lstStyle/>
          <a:p>
            <a:endParaRPr lang="he-IL"/>
          </a:p>
        </p:txBody>
      </p:sp>
      <p:sp>
        <p:nvSpPr>
          <p:cNvPr id="7" name="מציין מיקום של מספר שקופית 6"/>
          <p:cNvSpPr>
            <a:spLocks noGrp="1"/>
          </p:cNvSpPr>
          <p:nvPr>
            <p:ph type="sldNum" sz="quarter" idx="12"/>
          </p:nvPr>
        </p:nvSpPr>
        <p:spPr/>
        <p:txBody>
          <a:bodyPr/>
          <a:lstStyle/>
          <a:p>
            <a:fld id="{C4BCB286-1E5E-4B02-A0C5-06BDEC1E2FA1}" type="slidenum">
              <a:rPr lang="he-IL" smtClean="0"/>
              <a:t>‹#›</a:t>
            </a:fld>
            <a:endParaRPr lang="he-IL"/>
          </a:p>
        </p:txBody>
      </p:sp>
    </p:spTree>
    <p:extLst>
      <p:ext uri="{BB962C8B-B14F-4D97-AF65-F5344CB8AC3E}">
        <p14:creationId xmlns:p14="http://schemas.microsoft.com/office/powerpoint/2010/main" val="6519178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כותרת וטקסט אנכי">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a:t>לחץ כדי לערוך סגנון כותרת של תבנית בסיס</a:t>
            </a:r>
          </a:p>
        </p:txBody>
      </p:sp>
      <p:sp>
        <p:nvSpPr>
          <p:cNvPr id="3" name="מציין מיקום של טקסט אנכי 2"/>
          <p:cNvSpPr>
            <a:spLocks noGrp="1"/>
          </p:cNvSpPr>
          <p:nvPr>
            <p:ph type="body" orient="vert" idx="1"/>
          </p:nvPr>
        </p:nvSpPr>
        <p:spPr/>
        <p:txBody>
          <a:bodyPr vert="eaVert"/>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4" name="מציין מיקום של תאריך 3"/>
          <p:cNvSpPr>
            <a:spLocks noGrp="1"/>
          </p:cNvSpPr>
          <p:nvPr>
            <p:ph type="dt" sz="half" idx="10"/>
          </p:nvPr>
        </p:nvSpPr>
        <p:spPr/>
        <p:txBody>
          <a:bodyPr/>
          <a:lstStyle/>
          <a:p>
            <a:fld id="{A2B3D744-8BFC-49C4-921C-A4357DD28206}" type="datetimeFigureOut">
              <a:rPr lang="he-IL" smtClean="0"/>
              <a:t>כ"א/אלול/תשפ"ד</a:t>
            </a:fld>
            <a:endParaRPr lang="he-IL"/>
          </a:p>
        </p:txBody>
      </p:sp>
      <p:sp>
        <p:nvSpPr>
          <p:cNvPr id="5" name="מציין מיקום של כותרת תחתונה 4"/>
          <p:cNvSpPr>
            <a:spLocks noGrp="1"/>
          </p:cNvSpPr>
          <p:nvPr>
            <p:ph type="ftr" sz="quarter" idx="11"/>
          </p:nvPr>
        </p:nvSpPr>
        <p:spPr/>
        <p:txBody>
          <a:bodyPr/>
          <a:lstStyle/>
          <a:p>
            <a:endParaRPr lang="he-IL"/>
          </a:p>
        </p:txBody>
      </p:sp>
      <p:sp>
        <p:nvSpPr>
          <p:cNvPr id="6" name="מציין מיקום של מספר שקופית 5"/>
          <p:cNvSpPr>
            <a:spLocks noGrp="1"/>
          </p:cNvSpPr>
          <p:nvPr>
            <p:ph type="sldNum" sz="quarter" idx="12"/>
          </p:nvPr>
        </p:nvSpPr>
        <p:spPr/>
        <p:txBody>
          <a:bodyPr/>
          <a:lstStyle/>
          <a:p>
            <a:fld id="{C4BCB286-1E5E-4B02-A0C5-06BDEC1E2FA1}" type="slidenum">
              <a:rPr lang="he-IL" smtClean="0"/>
              <a:t>‹#›</a:t>
            </a:fld>
            <a:endParaRPr lang="he-IL"/>
          </a:p>
        </p:txBody>
      </p:sp>
    </p:spTree>
    <p:extLst>
      <p:ext uri="{BB962C8B-B14F-4D97-AF65-F5344CB8AC3E}">
        <p14:creationId xmlns:p14="http://schemas.microsoft.com/office/powerpoint/2010/main" val="13295955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כותרת אנכית וטקסט">
    <p:spTree>
      <p:nvGrpSpPr>
        <p:cNvPr id="1" name=""/>
        <p:cNvGrpSpPr/>
        <p:nvPr/>
      </p:nvGrpSpPr>
      <p:grpSpPr>
        <a:xfrm>
          <a:off x="0" y="0"/>
          <a:ext cx="0" cy="0"/>
          <a:chOff x="0" y="0"/>
          <a:chExt cx="0" cy="0"/>
        </a:xfrm>
      </p:grpSpPr>
      <p:sp>
        <p:nvSpPr>
          <p:cNvPr id="2" name="כותרת אנכית 1"/>
          <p:cNvSpPr>
            <a:spLocks noGrp="1"/>
          </p:cNvSpPr>
          <p:nvPr>
            <p:ph type="title" orient="vert"/>
          </p:nvPr>
        </p:nvSpPr>
        <p:spPr>
          <a:xfrm>
            <a:off x="8724900" y="365125"/>
            <a:ext cx="2628900" cy="5811838"/>
          </a:xfrm>
        </p:spPr>
        <p:txBody>
          <a:bodyPr vert="eaVert"/>
          <a:lstStyle/>
          <a:p>
            <a:r>
              <a:rPr lang="he-IL"/>
              <a:t>לחץ כדי לערוך סגנון כותרת של תבנית בסיס</a:t>
            </a:r>
          </a:p>
        </p:txBody>
      </p:sp>
      <p:sp>
        <p:nvSpPr>
          <p:cNvPr id="3" name="מציין מיקום של טקסט אנכי 2"/>
          <p:cNvSpPr>
            <a:spLocks noGrp="1"/>
          </p:cNvSpPr>
          <p:nvPr>
            <p:ph type="body" orient="vert" idx="1"/>
          </p:nvPr>
        </p:nvSpPr>
        <p:spPr>
          <a:xfrm>
            <a:off x="838200" y="365125"/>
            <a:ext cx="7734300" cy="5811838"/>
          </a:xfrm>
        </p:spPr>
        <p:txBody>
          <a:bodyPr vert="eaVert"/>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4" name="מציין מיקום של תאריך 3"/>
          <p:cNvSpPr>
            <a:spLocks noGrp="1"/>
          </p:cNvSpPr>
          <p:nvPr>
            <p:ph type="dt" sz="half" idx="10"/>
          </p:nvPr>
        </p:nvSpPr>
        <p:spPr/>
        <p:txBody>
          <a:bodyPr/>
          <a:lstStyle/>
          <a:p>
            <a:fld id="{A2B3D744-8BFC-49C4-921C-A4357DD28206}" type="datetimeFigureOut">
              <a:rPr lang="he-IL" smtClean="0"/>
              <a:t>כ"א/אלול/תשפ"ד</a:t>
            </a:fld>
            <a:endParaRPr lang="he-IL"/>
          </a:p>
        </p:txBody>
      </p:sp>
      <p:sp>
        <p:nvSpPr>
          <p:cNvPr id="5" name="מציין מיקום של כותרת תחתונה 4"/>
          <p:cNvSpPr>
            <a:spLocks noGrp="1"/>
          </p:cNvSpPr>
          <p:nvPr>
            <p:ph type="ftr" sz="quarter" idx="11"/>
          </p:nvPr>
        </p:nvSpPr>
        <p:spPr/>
        <p:txBody>
          <a:bodyPr/>
          <a:lstStyle/>
          <a:p>
            <a:endParaRPr lang="he-IL"/>
          </a:p>
        </p:txBody>
      </p:sp>
      <p:sp>
        <p:nvSpPr>
          <p:cNvPr id="6" name="מציין מיקום של מספר שקופית 5"/>
          <p:cNvSpPr>
            <a:spLocks noGrp="1"/>
          </p:cNvSpPr>
          <p:nvPr>
            <p:ph type="sldNum" sz="quarter" idx="12"/>
          </p:nvPr>
        </p:nvSpPr>
        <p:spPr/>
        <p:txBody>
          <a:bodyPr/>
          <a:lstStyle/>
          <a:p>
            <a:fld id="{C4BCB286-1E5E-4B02-A0C5-06BDEC1E2FA1}" type="slidenum">
              <a:rPr lang="he-IL" smtClean="0"/>
              <a:t>‹#›</a:t>
            </a:fld>
            <a:endParaRPr lang="he-IL"/>
          </a:p>
        </p:txBody>
      </p:sp>
    </p:spTree>
    <p:extLst>
      <p:ext uri="{BB962C8B-B14F-4D97-AF65-F5344CB8AC3E}">
        <p14:creationId xmlns:p14="http://schemas.microsoft.com/office/powerpoint/2010/main" val="172867565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Title + 1 column">
    <p:spTree>
      <p:nvGrpSpPr>
        <p:cNvPr id="1" name="Shape 36"/>
        <p:cNvGrpSpPr/>
        <p:nvPr/>
      </p:nvGrpSpPr>
      <p:grpSpPr>
        <a:xfrm>
          <a:off x="0" y="0"/>
          <a:ext cx="0" cy="0"/>
          <a:chOff x="0" y="0"/>
          <a:chExt cx="0" cy="0"/>
        </a:xfrm>
      </p:grpSpPr>
      <p:sp>
        <p:nvSpPr>
          <p:cNvPr id="43" name="Shape 43"/>
          <p:cNvSpPr txBox="1">
            <a:spLocks noGrp="1"/>
          </p:cNvSpPr>
          <p:nvPr>
            <p:ph type="title"/>
          </p:nvPr>
        </p:nvSpPr>
        <p:spPr>
          <a:xfrm>
            <a:off x="609600" y="751065"/>
            <a:ext cx="7068400" cy="970400"/>
          </a:xfrm>
          <a:prstGeom prst="rect">
            <a:avLst/>
          </a:prstGeom>
        </p:spPr>
        <p:txBody>
          <a:bodyPr lIns="91425" tIns="91425" rIns="91425" bIns="91425" anchor="b" anchorCtr="0"/>
          <a:lstStyle>
            <a:lvl1pPr lvl="0">
              <a:spcBef>
                <a:spcPts val="0"/>
              </a:spcBef>
              <a:defRPr/>
            </a:lvl1pPr>
            <a:lvl2pPr lvl="1">
              <a:spcBef>
                <a:spcPts val="0"/>
              </a:spcBef>
              <a:defRPr/>
            </a:lvl2pPr>
            <a:lvl3pPr lvl="2">
              <a:spcBef>
                <a:spcPts val="0"/>
              </a:spcBef>
              <a:defRPr/>
            </a:lvl3pPr>
            <a:lvl4pPr lvl="3">
              <a:spcBef>
                <a:spcPts val="0"/>
              </a:spcBef>
              <a:defRPr/>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a:endParaRPr/>
          </a:p>
        </p:txBody>
      </p:sp>
      <p:sp>
        <p:nvSpPr>
          <p:cNvPr id="44" name="Shape 44"/>
          <p:cNvSpPr txBox="1">
            <a:spLocks noGrp="1"/>
          </p:cNvSpPr>
          <p:nvPr>
            <p:ph type="body" idx="1"/>
          </p:nvPr>
        </p:nvSpPr>
        <p:spPr>
          <a:xfrm>
            <a:off x="609600" y="1875925"/>
            <a:ext cx="7068400" cy="4215200"/>
          </a:xfrm>
          <a:prstGeom prst="rect">
            <a:avLst/>
          </a:prstGeom>
        </p:spPr>
        <p:txBody>
          <a:bodyPr lIns="91425" tIns="91425" rIns="91425" bIns="91425" anchor="t" anchorCtr="0"/>
          <a:lstStyle>
            <a:lvl1pPr lvl="0">
              <a:spcBef>
                <a:spcPts val="0"/>
              </a:spcBef>
              <a:defRPr/>
            </a:lvl1pPr>
            <a:lvl2pPr lvl="1">
              <a:spcBef>
                <a:spcPts val="0"/>
              </a:spcBef>
              <a:defRPr/>
            </a:lvl2pPr>
            <a:lvl3pPr lvl="2">
              <a:spcBef>
                <a:spcPts val="0"/>
              </a:spcBef>
              <a:defRPr/>
            </a:lvl3pPr>
            <a:lvl4pPr lvl="3">
              <a:spcBef>
                <a:spcPts val="0"/>
              </a:spcBef>
              <a:defRPr/>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a:endParaRPr/>
          </a:p>
        </p:txBody>
      </p:sp>
      <p:sp>
        <p:nvSpPr>
          <p:cNvPr id="45" name="Shape 45"/>
          <p:cNvSpPr txBox="1">
            <a:spLocks noGrp="1"/>
          </p:cNvSpPr>
          <p:nvPr>
            <p:ph type="sldNum" idx="12"/>
          </p:nvPr>
        </p:nvSpPr>
        <p:spPr>
          <a:xfrm>
            <a:off x="7475044" y="6333133"/>
            <a:ext cx="731600" cy="524800"/>
          </a:xfrm>
          <a:prstGeom prst="rect">
            <a:avLst/>
          </a:prstGeom>
        </p:spPr>
        <p:txBody>
          <a:bodyPr lIns="91425" tIns="91425" rIns="91425" bIns="91425" anchor="ctr" anchorCtr="0">
            <a:noAutofit/>
          </a:bodyPr>
          <a:lstStyle/>
          <a:p>
            <a:fld id="{00000000-1234-1234-1234-123412341234}" type="slidenum">
              <a:rPr lang="en" smtClean="0"/>
              <a:pPr/>
              <a:t>‹#›</a:t>
            </a:fld>
            <a:endParaRPr lang="en"/>
          </a:p>
        </p:txBody>
      </p:sp>
    </p:spTree>
    <p:extLst>
      <p:ext uri="{BB962C8B-B14F-4D97-AF65-F5344CB8AC3E}">
        <p14:creationId xmlns:p14="http://schemas.microsoft.com/office/powerpoint/2010/main" val="1739818694"/>
      </p:ext>
    </p:extLst>
  </p:cSld>
  <p:clrMapOvr>
    <a:masterClrMapping/>
  </p:clrMapOvr>
  <p:transition spd="slow">
    <p:wipe dir="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כותרת ותוכן">
    <p:spTree>
      <p:nvGrpSpPr>
        <p:cNvPr id="1" name=""/>
        <p:cNvGrpSpPr/>
        <p:nvPr/>
      </p:nvGrpSpPr>
      <p:grpSpPr>
        <a:xfrm>
          <a:off x="0" y="0"/>
          <a:ext cx="0" cy="0"/>
          <a:chOff x="0" y="0"/>
          <a:chExt cx="0" cy="0"/>
        </a:xfrm>
      </p:grpSpPr>
    </p:spTree>
    <p:extLst>
      <p:ext uri="{BB962C8B-B14F-4D97-AF65-F5344CB8AC3E}">
        <p14:creationId xmlns:p14="http://schemas.microsoft.com/office/powerpoint/2010/main" val="159528346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pic>
        <p:nvPicPr>
          <p:cNvPr id="12" name="Graphic 11">
            <a:extLst>
              <a:ext uri="{FF2B5EF4-FFF2-40B4-BE49-F238E27FC236}">
                <a16:creationId xmlns:a16="http://schemas.microsoft.com/office/drawing/2014/main" id="{35DA31B5-B3D5-4445-9A1F-F5FD45097EC7}"/>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419100" y="6476265"/>
            <a:ext cx="1051375" cy="231303"/>
          </a:xfrm>
          <a:prstGeom prst="rect">
            <a:avLst/>
          </a:prstGeom>
        </p:spPr>
      </p:pic>
      <p:pic>
        <p:nvPicPr>
          <p:cNvPr id="4" name="Picture 3" descr="A close-up of a puzzle&#10;&#10;Description automatically generated with low confidence">
            <a:extLst>
              <a:ext uri="{FF2B5EF4-FFF2-40B4-BE49-F238E27FC236}">
                <a16:creationId xmlns:a16="http://schemas.microsoft.com/office/drawing/2014/main" id="{CA03FEA0-7602-61DF-158B-FE49E7213223}"/>
              </a:ext>
            </a:extLst>
          </p:cNvPr>
          <p:cNvPicPr>
            <a:picLocks noChangeAspect="1"/>
          </p:cNvPicPr>
          <p:nvPr userDrawn="1"/>
        </p:nvPicPr>
        <p:blipFill>
          <a:blip r:embed="rId4">
            <a:lum bright="70000" contrast="-70000"/>
            <a:extLst>
              <a:ext uri="{28A0092B-C50C-407E-A947-70E740481C1C}">
                <a14:useLocalDpi xmlns:a14="http://schemas.microsoft.com/office/drawing/2010/main" val="0"/>
              </a:ext>
            </a:extLst>
          </a:blip>
          <a:stretch>
            <a:fillRect/>
          </a:stretch>
        </p:blipFill>
        <p:spPr>
          <a:xfrm>
            <a:off x="838200" y="0"/>
            <a:ext cx="9439024" cy="6858000"/>
          </a:xfrm>
          <a:prstGeom prst="rect">
            <a:avLst/>
          </a:prstGeom>
        </p:spPr>
      </p:pic>
    </p:spTree>
    <p:extLst>
      <p:ext uri="{BB962C8B-B14F-4D97-AF65-F5344CB8AC3E}">
        <p14:creationId xmlns:p14="http://schemas.microsoft.com/office/powerpoint/2010/main" val="193794962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כותרת וטקסט">
    <p:spTree>
      <p:nvGrpSpPr>
        <p:cNvPr id="1" name=""/>
        <p:cNvGrpSpPr/>
        <p:nvPr/>
      </p:nvGrpSpPr>
      <p:grpSpPr>
        <a:xfrm>
          <a:off x="0" y="0"/>
          <a:ext cx="0" cy="0"/>
          <a:chOff x="0" y="0"/>
          <a:chExt cx="0" cy="0"/>
        </a:xfrm>
      </p:grpSpPr>
      <p:sp>
        <p:nvSpPr>
          <p:cNvPr id="14" name="Rectangle 8">
            <a:extLst>
              <a:ext uri="{FF2B5EF4-FFF2-40B4-BE49-F238E27FC236}">
                <a16:creationId xmlns:a16="http://schemas.microsoft.com/office/drawing/2014/main" id="{7BDC0554-B7CA-4519-A16F-BED0F3478D5E}"/>
              </a:ext>
            </a:extLst>
          </p:cNvPr>
          <p:cNvSpPr/>
          <p:nvPr/>
        </p:nvSpPr>
        <p:spPr>
          <a:xfrm>
            <a:off x="10929786" y="0"/>
            <a:ext cx="180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6" name="מלבן 15"/>
          <p:cNvSpPr/>
          <p:nvPr/>
        </p:nvSpPr>
        <p:spPr>
          <a:xfrm>
            <a:off x="11099612" y="0"/>
            <a:ext cx="109238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pic>
        <p:nvPicPr>
          <p:cNvPr id="17" name="Picture 11">
            <a:extLst>
              <a:ext uri="{FF2B5EF4-FFF2-40B4-BE49-F238E27FC236}">
                <a16:creationId xmlns:a16="http://schemas.microsoft.com/office/drawing/2014/main" id="{0DBFB498-3E4F-4E94-826C-66872020B0AE}"/>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p:blipFill>
        <p:spPr>
          <a:xfrm>
            <a:off x="10551395" y="647887"/>
            <a:ext cx="945931" cy="945931"/>
          </a:xfrm>
          <a:prstGeom prst="rect">
            <a:avLst/>
          </a:prstGeom>
        </p:spPr>
      </p:pic>
      <p:sp>
        <p:nvSpPr>
          <p:cNvPr id="19" name="Oval 10">
            <a:extLst>
              <a:ext uri="{FF2B5EF4-FFF2-40B4-BE49-F238E27FC236}">
                <a16:creationId xmlns:a16="http://schemas.microsoft.com/office/drawing/2014/main" id="{8EE77483-DAB6-4D01-B3AF-95B109F03143}"/>
              </a:ext>
            </a:extLst>
          </p:cNvPr>
          <p:cNvSpPr/>
          <p:nvPr/>
        </p:nvSpPr>
        <p:spPr>
          <a:xfrm>
            <a:off x="11437714" y="6233847"/>
            <a:ext cx="396000" cy="396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30" name="Slide Number Placeholder 5"/>
          <p:cNvSpPr txBox="1">
            <a:spLocks/>
          </p:cNvSpPr>
          <p:nvPr/>
        </p:nvSpPr>
        <p:spPr>
          <a:xfrm>
            <a:off x="11368976" y="6272886"/>
            <a:ext cx="533475" cy="365125"/>
          </a:xfrm>
          <a:prstGeom prst="rect">
            <a:avLst/>
          </a:prstGeom>
        </p:spPr>
        <p:txBody>
          <a:bodyPr/>
          <a:lstStyle>
            <a:defPPr>
              <a:defRPr lang="en-US"/>
            </a:defPPr>
            <a:lvl1pPr marL="0" algn="r" defTabSz="914400" rtl="1" eaLnBrk="1" latinLnBrk="0" hangingPunct="1">
              <a:defRPr sz="1600" kern="1200">
                <a:solidFill>
                  <a:srgbClr val="008DA8"/>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4450A29C-FF3A-4789-B98E-12119F960C99}" type="slidenum">
              <a:rPr lang="en-US" sz="1400" smtClean="0">
                <a:solidFill>
                  <a:srgbClr val="424F58"/>
                </a:solidFill>
              </a:rPr>
              <a:pPr algn="ctr"/>
              <a:t>‹#›</a:t>
            </a:fld>
            <a:endParaRPr lang="en-US" sz="1400" dirty="0">
              <a:solidFill>
                <a:srgbClr val="424F58"/>
              </a:solidFill>
            </a:endParaRPr>
          </a:p>
        </p:txBody>
      </p:sp>
      <p:sp>
        <p:nvSpPr>
          <p:cNvPr id="22" name="Title 1"/>
          <p:cNvSpPr>
            <a:spLocks noGrp="1"/>
          </p:cNvSpPr>
          <p:nvPr>
            <p:ph type="title"/>
          </p:nvPr>
        </p:nvSpPr>
        <p:spPr>
          <a:xfrm>
            <a:off x="936168" y="458070"/>
            <a:ext cx="9385267" cy="1325563"/>
          </a:xfrm>
        </p:spPr>
        <p:txBody>
          <a:bodyPr>
            <a:normAutofit/>
          </a:bodyPr>
          <a:lstStyle>
            <a:lvl1pPr>
              <a:lnSpc>
                <a:spcPct val="80000"/>
              </a:lnSpc>
              <a:defRPr sz="4800">
                <a:solidFill>
                  <a:schemeClr val="accent3"/>
                </a:solidFill>
                <a:latin typeface="Calibri" panose="020F0502020204030204" pitchFamily="34" charset="0"/>
                <a:cs typeface="Calibri" panose="020F0502020204030204" pitchFamily="34" charset="0"/>
              </a:defRPr>
            </a:lvl1pPr>
          </a:lstStyle>
          <a:p>
            <a:r>
              <a:rPr lang="en-US"/>
              <a:t>Click to edit Master title style</a:t>
            </a:r>
            <a:endParaRPr lang="en-US" dirty="0"/>
          </a:p>
        </p:txBody>
      </p:sp>
      <p:sp>
        <p:nvSpPr>
          <p:cNvPr id="32" name="Content Placeholder 2"/>
          <p:cNvSpPr>
            <a:spLocks noGrp="1"/>
          </p:cNvSpPr>
          <p:nvPr>
            <p:ph sz="half" idx="1"/>
          </p:nvPr>
        </p:nvSpPr>
        <p:spPr>
          <a:xfrm>
            <a:off x="936168" y="1825625"/>
            <a:ext cx="9385267" cy="4351338"/>
          </a:xfrm>
        </p:spPr>
        <p:txBody>
          <a:bodyPr>
            <a:normAutofit/>
          </a:bodyPr>
          <a:lstStyle>
            <a:lvl1pPr marL="228600" indent="-228600">
              <a:lnSpc>
                <a:spcPct val="100000"/>
              </a:lnSpc>
              <a:buClr>
                <a:schemeClr val="accent3"/>
              </a:buClr>
              <a:buFontTx/>
              <a:buNone/>
              <a:defRPr sz="2800">
                <a:latin typeface="Calibri" panose="020F0502020204030204" pitchFamily="34" charset="0"/>
                <a:cs typeface="Calibri" panose="020F0502020204030204" pitchFamily="34" charset="0"/>
              </a:defRPr>
            </a:lvl1pPr>
            <a:lvl2pPr marL="685800" indent="-228600">
              <a:buClr>
                <a:schemeClr val="accent3"/>
              </a:buClr>
              <a:buFontTx/>
              <a:buNone/>
              <a:defRPr sz="2800">
                <a:latin typeface="Calibri" panose="020F0502020204030204" pitchFamily="34" charset="0"/>
                <a:cs typeface="Calibri" panose="020F0502020204030204" pitchFamily="34" charset="0"/>
              </a:defRPr>
            </a:lvl2pPr>
            <a:lvl3pPr marL="1143000" indent="-228600">
              <a:buClr>
                <a:schemeClr val="accent3"/>
              </a:buClr>
              <a:buFontTx/>
              <a:buNone/>
              <a:defRPr sz="2800">
                <a:latin typeface="Calibri" panose="020F0502020204030204" pitchFamily="34" charset="0"/>
                <a:cs typeface="Calibri" panose="020F0502020204030204" pitchFamily="34" charset="0"/>
              </a:defRPr>
            </a:lvl3pPr>
            <a:lvl4pPr marL="1600200" indent="-228600">
              <a:buClr>
                <a:schemeClr val="accent3"/>
              </a:buClr>
              <a:buFontTx/>
              <a:buNone/>
              <a:defRPr sz="2800">
                <a:latin typeface="Calibri" panose="020F0502020204030204" pitchFamily="34" charset="0"/>
                <a:cs typeface="Calibri" panose="020F0502020204030204" pitchFamily="34" charset="0"/>
              </a:defRPr>
            </a:lvl4pPr>
            <a:lvl5pPr marL="2057400" indent="-228600">
              <a:buClr>
                <a:schemeClr val="accent3"/>
              </a:buClr>
              <a:buFontTx/>
              <a:buNone/>
              <a:defRPr sz="2800">
                <a:latin typeface="Calibri" panose="020F0502020204030204" pitchFamily="34" charset="0"/>
                <a:cs typeface="Calibri" panose="020F0502020204030204" pitchFamily="34" charset="0"/>
              </a:defRPr>
            </a:lvl5pPr>
          </a:lstStyle>
          <a:p>
            <a:pPr lvl="0"/>
            <a:r>
              <a:rPr lang="en-US"/>
              <a:t>Click to edit Master text styles</a:t>
            </a:r>
          </a:p>
        </p:txBody>
      </p:sp>
      <p:sp>
        <p:nvSpPr>
          <p:cNvPr id="9" name="Rectangle 8">
            <a:extLst>
              <a:ext uri="{FF2B5EF4-FFF2-40B4-BE49-F238E27FC236}">
                <a16:creationId xmlns:a16="http://schemas.microsoft.com/office/drawing/2014/main" id="{2CBC173E-0F63-4469-837F-5F34A6BD1AC7}"/>
              </a:ext>
            </a:extLst>
          </p:cNvPr>
          <p:cNvSpPr/>
          <p:nvPr userDrawn="1"/>
        </p:nvSpPr>
        <p:spPr>
          <a:xfrm>
            <a:off x="10929786" y="0"/>
            <a:ext cx="180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0" name="מלבן 15">
            <a:extLst>
              <a:ext uri="{FF2B5EF4-FFF2-40B4-BE49-F238E27FC236}">
                <a16:creationId xmlns:a16="http://schemas.microsoft.com/office/drawing/2014/main" id="{E5BE7D73-436E-45C1-97BA-BC7AEC0FFA8C}"/>
              </a:ext>
            </a:extLst>
          </p:cNvPr>
          <p:cNvSpPr/>
          <p:nvPr userDrawn="1"/>
        </p:nvSpPr>
        <p:spPr>
          <a:xfrm>
            <a:off x="11099612" y="0"/>
            <a:ext cx="109238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pic>
        <p:nvPicPr>
          <p:cNvPr id="11" name="Picture 11">
            <a:extLst>
              <a:ext uri="{FF2B5EF4-FFF2-40B4-BE49-F238E27FC236}">
                <a16:creationId xmlns:a16="http://schemas.microsoft.com/office/drawing/2014/main" id="{B1CA9B66-42F2-4FD4-BBB3-D3758DE17508}"/>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10551395" y="647887"/>
            <a:ext cx="945931" cy="945931"/>
          </a:xfrm>
          <a:prstGeom prst="rect">
            <a:avLst/>
          </a:prstGeom>
        </p:spPr>
      </p:pic>
    </p:spTree>
    <p:extLst>
      <p:ext uri="{BB962C8B-B14F-4D97-AF65-F5344CB8AC3E}">
        <p14:creationId xmlns:p14="http://schemas.microsoft.com/office/powerpoint/2010/main" val="135314137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cSld name="כותרת ובולטים">
    <p:spTree>
      <p:nvGrpSpPr>
        <p:cNvPr id="1" name=""/>
        <p:cNvGrpSpPr/>
        <p:nvPr/>
      </p:nvGrpSpPr>
      <p:grpSpPr>
        <a:xfrm>
          <a:off x="0" y="0"/>
          <a:ext cx="0" cy="0"/>
          <a:chOff x="0" y="0"/>
          <a:chExt cx="0" cy="0"/>
        </a:xfrm>
      </p:grpSpPr>
      <p:sp>
        <p:nvSpPr>
          <p:cNvPr id="14" name="Rectangle 8">
            <a:extLst>
              <a:ext uri="{FF2B5EF4-FFF2-40B4-BE49-F238E27FC236}">
                <a16:creationId xmlns:a16="http://schemas.microsoft.com/office/drawing/2014/main" id="{7BDC0554-B7CA-4519-A16F-BED0F3478D5E}"/>
              </a:ext>
            </a:extLst>
          </p:cNvPr>
          <p:cNvSpPr/>
          <p:nvPr/>
        </p:nvSpPr>
        <p:spPr>
          <a:xfrm>
            <a:off x="10929786" y="0"/>
            <a:ext cx="180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6" name="מלבן 15"/>
          <p:cNvSpPr/>
          <p:nvPr/>
        </p:nvSpPr>
        <p:spPr>
          <a:xfrm>
            <a:off x="11099612" y="0"/>
            <a:ext cx="109238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pic>
        <p:nvPicPr>
          <p:cNvPr id="17" name="Picture 11">
            <a:extLst>
              <a:ext uri="{FF2B5EF4-FFF2-40B4-BE49-F238E27FC236}">
                <a16:creationId xmlns:a16="http://schemas.microsoft.com/office/drawing/2014/main" id="{0DBFB498-3E4F-4E94-826C-66872020B0AE}"/>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p:blipFill>
        <p:spPr>
          <a:xfrm>
            <a:off x="10551395" y="647887"/>
            <a:ext cx="945931" cy="945931"/>
          </a:xfrm>
          <a:prstGeom prst="rect">
            <a:avLst/>
          </a:prstGeom>
        </p:spPr>
      </p:pic>
      <p:sp>
        <p:nvSpPr>
          <p:cNvPr id="19" name="Oval 10">
            <a:extLst>
              <a:ext uri="{FF2B5EF4-FFF2-40B4-BE49-F238E27FC236}">
                <a16:creationId xmlns:a16="http://schemas.microsoft.com/office/drawing/2014/main" id="{8EE77483-DAB6-4D01-B3AF-95B109F03143}"/>
              </a:ext>
            </a:extLst>
          </p:cNvPr>
          <p:cNvSpPr/>
          <p:nvPr/>
        </p:nvSpPr>
        <p:spPr>
          <a:xfrm>
            <a:off x="11437714" y="6233847"/>
            <a:ext cx="396000" cy="396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30" name="Slide Number Placeholder 5"/>
          <p:cNvSpPr txBox="1">
            <a:spLocks/>
          </p:cNvSpPr>
          <p:nvPr/>
        </p:nvSpPr>
        <p:spPr>
          <a:xfrm>
            <a:off x="11368976" y="6272886"/>
            <a:ext cx="533475" cy="365125"/>
          </a:xfrm>
          <a:prstGeom prst="rect">
            <a:avLst/>
          </a:prstGeom>
        </p:spPr>
        <p:txBody>
          <a:bodyPr/>
          <a:lstStyle>
            <a:defPPr>
              <a:defRPr lang="en-US"/>
            </a:defPPr>
            <a:lvl1pPr marL="0" algn="r" defTabSz="914400" rtl="1" eaLnBrk="1" latinLnBrk="0" hangingPunct="1">
              <a:defRPr sz="1600" kern="1200">
                <a:solidFill>
                  <a:srgbClr val="008DA8"/>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4450A29C-FF3A-4789-B98E-12119F960C99}" type="slidenum">
              <a:rPr lang="en-US" sz="1400" smtClean="0">
                <a:solidFill>
                  <a:srgbClr val="424F58"/>
                </a:solidFill>
              </a:rPr>
              <a:pPr algn="ctr"/>
              <a:t>‹#›</a:t>
            </a:fld>
            <a:endParaRPr lang="en-US" sz="1400" dirty="0">
              <a:solidFill>
                <a:srgbClr val="424F58"/>
              </a:solidFill>
            </a:endParaRPr>
          </a:p>
        </p:txBody>
      </p:sp>
      <p:sp>
        <p:nvSpPr>
          <p:cNvPr id="11" name="Content Placeholder 3">
            <a:extLst>
              <a:ext uri="{FF2B5EF4-FFF2-40B4-BE49-F238E27FC236}">
                <a16:creationId xmlns:a16="http://schemas.microsoft.com/office/drawing/2014/main" id="{AC80F81E-ED1F-4F58-8295-592BD3D96A87}"/>
              </a:ext>
            </a:extLst>
          </p:cNvPr>
          <p:cNvSpPr>
            <a:spLocks noGrp="1"/>
          </p:cNvSpPr>
          <p:nvPr>
            <p:ph sz="half" idx="2"/>
          </p:nvPr>
        </p:nvSpPr>
        <p:spPr>
          <a:xfrm>
            <a:off x="936168" y="1822042"/>
            <a:ext cx="9385267" cy="4351719"/>
          </a:xfrm>
        </p:spPr>
        <p:txBody>
          <a:bodyPr tIns="46800"/>
          <a:lstStyle>
            <a:lvl1pPr indent="-288000">
              <a:lnSpc>
                <a:spcPts val="3360"/>
              </a:lnSpc>
              <a:defRPr sz="2800"/>
            </a:lvl1pPr>
            <a:lvl2pPr indent="-288000">
              <a:lnSpc>
                <a:spcPts val="3360"/>
              </a:lnSpc>
              <a:defRPr sz="2800"/>
            </a:lvl2pPr>
            <a:lvl3pPr indent="-288000">
              <a:lnSpc>
                <a:spcPts val="3360"/>
              </a:lnSpc>
              <a:defRPr sz="2800"/>
            </a:lvl3pPr>
            <a:lvl4pPr indent="-288000">
              <a:lnSpc>
                <a:spcPts val="3360"/>
              </a:lnSpc>
              <a:defRPr sz="2800"/>
            </a:lvl4pPr>
            <a:lvl5pPr indent="-288000">
              <a:lnSpc>
                <a:spcPts val="3360"/>
              </a:lnSpc>
              <a:defRPr sz="2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dirty="0"/>
          </a:p>
        </p:txBody>
      </p:sp>
      <p:sp>
        <p:nvSpPr>
          <p:cNvPr id="9" name="Title 1">
            <a:extLst>
              <a:ext uri="{FF2B5EF4-FFF2-40B4-BE49-F238E27FC236}">
                <a16:creationId xmlns:a16="http://schemas.microsoft.com/office/drawing/2014/main" id="{E5723FDA-9090-43BA-A02E-EEE812C5A940}"/>
              </a:ext>
            </a:extLst>
          </p:cNvPr>
          <p:cNvSpPr>
            <a:spLocks noGrp="1"/>
          </p:cNvSpPr>
          <p:nvPr>
            <p:ph type="title"/>
          </p:nvPr>
        </p:nvSpPr>
        <p:spPr>
          <a:xfrm>
            <a:off x="936168" y="458070"/>
            <a:ext cx="9385267" cy="1325563"/>
          </a:xfrm>
        </p:spPr>
        <p:txBody>
          <a:bodyPr>
            <a:normAutofit/>
          </a:bodyPr>
          <a:lstStyle>
            <a:lvl1pPr>
              <a:lnSpc>
                <a:spcPct val="80000"/>
              </a:lnSpc>
              <a:defRPr sz="4800">
                <a:solidFill>
                  <a:schemeClr val="accent3"/>
                </a:solidFill>
                <a:latin typeface="Calibri" panose="020F0502020204030204" pitchFamily="34" charset="0"/>
                <a:cs typeface="Calibri" panose="020F0502020204030204" pitchFamily="34" charset="0"/>
              </a:defRPr>
            </a:lvl1pPr>
          </a:lstStyle>
          <a:p>
            <a:r>
              <a:rPr lang="en-US"/>
              <a:t>Click to edit Master title style</a:t>
            </a:r>
            <a:endParaRPr lang="en-US" dirty="0"/>
          </a:p>
        </p:txBody>
      </p:sp>
      <p:sp>
        <p:nvSpPr>
          <p:cNvPr id="10" name="Rectangle 8">
            <a:extLst>
              <a:ext uri="{FF2B5EF4-FFF2-40B4-BE49-F238E27FC236}">
                <a16:creationId xmlns:a16="http://schemas.microsoft.com/office/drawing/2014/main" id="{5ECCBBA4-F101-45CC-90B4-2DEC09A077F4}"/>
              </a:ext>
            </a:extLst>
          </p:cNvPr>
          <p:cNvSpPr/>
          <p:nvPr userDrawn="1"/>
        </p:nvSpPr>
        <p:spPr>
          <a:xfrm>
            <a:off x="10929786" y="0"/>
            <a:ext cx="180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2" name="מלבן 15">
            <a:extLst>
              <a:ext uri="{FF2B5EF4-FFF2-40B4-BE49-F238E27FC236}">
                <a16:creationId xmlns:a16="http://schemas.microsoft.com/office/drawing/2014/main" id="{44723ADD-CBC9-4266-9683-A0ADEEA876B1}"/>
              </a:ext>
            </a:extLst>
          </p:cNvPr>
          <p:cNvSpPr/>
          <p:nvPr userDrawn="1"/>
        </p:nvSpPr>
        <p:spPr>
          <a:xfrm>
            <a:off x="11099612" y="0"/>
            <a:ext cx="109238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pic>
        <p:nvPicPr>
          <p:cNvPr id="13" name="Picture 11">
            <a:extLst>
              <a:ext uri="{FF2B5EF4-FFF2-40B4-BE49-F238E27FC236}">
                <a16:creationId xmlns:a16="http://schemas.microsoft.com/office/drawing/2014/main" id="{A4F01CE3-C69C-41F1-A76F-DBD345340795}"/>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10551395" y="647887"/>
            <a:ext cx="945931" cy="945931"/>
          </a:xfrm>
          <a:prstGeom prst="rect">
            <a:avLst/>
          </a:prstGeom>
        </p:spPr>
      </p:pic>
    </p:spTree>
    <p:extLst>
      <p:ext uri="{BB962C8B-B14F-4D97-AF65-F5344CB8AC3E}">
        <p14:creationId xmlns:p14="http://schemas.microsoft.com/office/powerpoint/2010/main" val="321349881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Master Slide 1">
    <p:spTree>
      <p:nvGrpSpPr>
        <p:cNvPr id="1" name=""/>
        <p:cNvGrpSpPr/>
        <p:nvPr/>
      </p:nvGrpSpPr>
      <p:grpSpPr>
        <a:xfrm>
          <a:off x="0" y="0"/>
          <a:ext cx="0" cy="0"/>
          <a:chOff x="0" y="0"/>
          <a:chExt cx="0" cy="0"/>
        </a:xfrm>
      </p:grpSpPr>
    </p:spTree>
    <p:extLst>
      <p:ext uri="{BB962C8B-B14F-4D97-AF65-F5344CB8AC3E}">
        <p14:creationId xmlns:p14="http://schemas.microsoft.com/office/powerpoint/2010/main" val="15702970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End slide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371025792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 Left">
    <p:spTree>
      <p:nvGrpSpPr>
        <p:cNvPr id="1" name=""/>
        <p:cNvGrpSpPr/>
        <p:nvPr/>
      </p:nvGrpSpPr>
      <p:grpSpPr>
        <a:xfrm>
          <a:off x="0" y="0"/>
          <a:ext cx="0" cy="0"/>
          <a:chOff x="0" y="0"/>
          <a:chExt cx="0" cy="0"/>
        </a:xfrm>
      </p:grpSpPr>
      <p:sp>
        <p:nvSpPr>
          <p:cNvPr id="2" name="Title 1"/>
          <p:cNvSpPr>
            <a:spLocks noGrp="1"/>
          </p:cNvSpPr>
          <p:nvPr>
            <p:ph type="title"/>
          </p:nvPr>
        </p:nvSpPr>
        <p:spPr>
          <a:xfrm>
            <a:off x="623887" y="137160"/>
            <a:ext cx="9797831" cy="707886"/>
          </a:xfrm>
        </p:spPr>
        <p:txBody>
          <a:bodyPr/>
          <a:lstStyle>
            <a:lvl1pPr algn="l">
              <a:defRPr/>
            </a:lvl1pPr>
          </a:lstStyle>
          <a:p>
            <a:r>
              <a:rPr lang="en-US"/>
              <a:t>Click to edit Master title style</a:t>
            </a:r>
          </a:p>
        </p:txBody>
      </p:sp>
      <p:sp>
        <p:nvSpPr>
          <p:cNvPr id="3" name="Subtitle 2"/>
          <p:cNvSpPr>
            <a:spLocks noGrp="1"/>
          </p:cNvSpPr>
          <p:nvPr>
            <p:ph type="subTitle" idx="1"/>
          </p:nvPr>
        </p:nvSpPr>
        <p:spPr>
          <a:xfrm>
            <a:off x="623887" y="845046"/>
            <a:ext cx="9797831" cy="523220"/>
          </a:xfrm>
        </p:spPr>
        <p:txBody>
          <a:bodyPr wrap="square">
            <a:spAutoFit/>
          </a:bodyPr>
          <a:lstStyle>
            <a:lvl1pPr marL="0" indent="0" algn="l">
              <a:buNone/>
              <a:defRPr sz="2800">
                <a:solidFill>
                  <a:schemeClr val="accent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grpSp>
        <p:nvGrpSpPr>
          <p:cNvPr id="6" name="Group 5"/>
          <p:cNvGrpSpPr/>
          <p:nvPr userDrawn="1"/>
        </p:nvGrpSpPr>
        <p:grpSpPr>
          <a:xfrm>
            <a:off x="328169" y="6237312"/>
            <a:ext cx="439241" cy="439240"/>
            <a:chOff x="186858" y="6096003"/>
            <a:chExt cx="580550" cy="580549"/>
          </a:xfrm>
          <a:solidFill>
            <a:schemeClr val="bg1">
              <a:lumMod val="75000"/>
              <a:alpha val="25000"/>
            </a:schemeClr>
          </a:solidFill>
        </p:grpSpPr>
        <p:sp>
          <p:nvSpPr>
            <p:cNvPr id="7" name="Rectangle 6"/>
            <p:cNvSpPr/>
            <p:nvPr userDrawn="1"/>
          </p:nvSpPr>
          <p:spPr>
            <a:xfrm>
              <a:off x="186859" y="6096003"/>
              <a:ext cx="580549" cy="58054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dirty="0">
                <a:latin typeface="Calibri Light" panose="020F0302020204030204" pitchFamily="34" charset="0"/>
              </a:endParaRPr>
            </a:p>
          </p:txBody>
        </p:sp>
        <p:sp>
          <p:nvSpPr>
            <p:cNvPr id="8" name="Rectangle 7"/>
            <p:cNvSpPr/>
            <p:nvPr userDrawn="1"/>
          </p:nvSpPr>
          <p:spPr>
            <a:xfrm>
              <a:off x="186858" y="6612049"/>
              <a:ext cx="580549" cy="64503"/>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grpSp>
      <p:sp>
        <p:nvSpPr>
          <p:cNvPr id="10" name="Slide Number Placeholder 5"/>
          <p:cNvSpPr>
            <a:spLocks noGrp="1"/>
          </p:cNvSpPr>
          <p:nvPr>
            <p:ph type="sldNum" sz="quarter" idx="12"/>
          </p:nvPr>
        </p:nvSpPr>
        <p:spPr>
          <a:xfrm>
            <a:off x="328169" y="6237312"/>
            <a:ext cx="439241" cy="390437"/>
          </a:xfrm>
          <a:prstGeom prst="rect">
            <a:avLst/>
          </a:prstGeom>
        </p:spPr>
        <p:txBody>
          <a:bodyPr anchor="ctr"/>
          <a:lstStyle>
            <a:lvl1pPr algn="ctr">
              <a:defRPr sz="1400">
                <a:solidFill>
                  <a:srgbClr val="2F3A46"/>
                </a:solidFill>
              </a:defRPr>
            </a:lvl1pPr>
          </a:lstStyle>
          <a:p>
            <a:fld id="{F68327C5-B821-4FE9-A59A-A60D9EB59A9A}" type="slidenum">
              <a:rPr lang="en-US" smtClean="0"/>
              <a:pPr/>
              <a:t>‹#›</a:t>
            </a:fld>
            <a:endParaRPr lang="en-US" dirty="0"/>
          </a:p>
        </p:txBody>
      </p:sp>
      <p:pic>
        <p:nvPicPr>
          <p:cNvPr id="11" name="Picture 10"/>
          <p:cNvPicPr>
            <a:picLocks noChangeAspect="1"/>
          </p:cNvPicPr>
          <p:nvPr userDrawn="1"/>
        </p:nvPicPr>
        <p:blipFill rotWithShape="1">
          <a:blip r:embed="rId2" cstate="print">
            <a:extLst>
              <a:ext uri="{28A0092B-C50C-407E-A947-70E740481C1C}">
                <a14:useLocalDpi xmlns:a14="http://schemas.microsoft.com/office/drawing/2010/main" val="0"/>
              </a:ext>
            </a:extLst>
          </a:blip>
          <a:srcRect r="18500" b="19391"/>
          <a:stretch/>
        </p:blipFill>
        <p:spPr>
          <a:xfrm>
            <a:off x="11096512" y="5774480"/>
            <a:ext cx="1095488" cy="1083520"/>
          </a:xfrm>
          <a:prstGeom prst="rect">
            <a:avLst/>
          </a:prstGeom>
        </p:spPr>
      </p:pic>
      <p:pic>
        <p:nvPicPr>
          <p:cNvPr id="12" name="Picture 11"/>
          <p:cNvPicPr>
            <a:picLocks noChangeAspect="1"/>
          </p:cNvPicPr>
          <p:nvPr userDrawn="1"/>
        </p:nvPicPr>
        <p:blipFill>
          <a:blip r:embed="rId3"/>
          <a:stretch>
            <a:fillRect/>
          </a:stretch>
        </p:blipFill>
        <p:spPr>
          <a:xfrm>
            <a:off x="10488488" y="229538"/>
            <a:ext cx="1627773" cy="451143"/>
          </a:xfrm>
          <a:prstGeom prst="rect">
            <a:avLst/>
          </a:prstGeom>
        </p:spPr>
      </p:pic>
      <p:sp>
        <p:nvSpPr>
          <p:cNvPr id="13" name="Rectangle 12"/>
          <p:cNvSpPr/>
          <p:nvPr userDrawn="1"/>
        </p:nvSpPr>
        <p:spPr>
          <a:xfrm>
            <a:off x="10522767" y="95859"/>
            <a:ext cx="1593494" cy="720080"/>
          </a:xfrm>
          <a:prstGeom prst="rect">
            <a:avLst/>
          </a:prstGeom>
          <a:solidFill>
            <a:srgbClr val="FFFFFF">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6992102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pic>
        <p:nvPicPr>
          <p:cNvPr id="3" name="Picture 2"/>
          <p:cNvPicPr>
            <a:picLocks noChangeAspect="1"/>
          </p:cNvPicPr>
          <p:nvPr userDrawn="1"/>
        </p:nvPicPr>
        <p:blipFill rotWithShape="1">
          <a:blip r:embed="rId2" cstate="print">
            <a:extLst>
              <a:ext uri="{28A0092B-C50C-407E-A947-70E740481C1C}">
                <a14:useLocalDpi xmlns:a14="http://schemas.microsoft.com/office/drawing/2010/main" val="0"/>
              </a:ext>
            </a:extLst>
          </a:blip>
          <a:srcRect r="18500" b="19391"/>
          <a:stretch/>
        </p:blipFill>
        <p:spPr>
          <a:xfrm>
            <a:off x="11096512" y="5774480"/>
            <a:ext cx="1095488" cy="1083520"/>
          </a:xfrm>
          <a:prstGeom prst="rect">
            <a:avLst/>
          </a:prstGeom>
        </p:spPr>
      </p:pic>
    </p:spTree>
    <p:extLst>
      <p:ext uri="{BB962C8B-B14F-4D97-AF65-F5344CB8AC3E}">
        <p14:creationId xmlns:p14="http://schemas.microsoft.com/office/powerpoint/2010/main" val="119590192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
  <p:cSld name="1_Transition">
    <p:bg>
      <p:bgPr>
        <a:solidFill>
          <a:srgbClr val="222A35"/>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solidFill>
                  <a:schemeClr val="bg1"/>
                </a:solidFill>
              </a:defRPr>
            </a:lvl1pPr>
          </a:lstStyle>
          <a:p>
            <a:r>
              <a:rPr lang="en-US" dirty="0"/>
              <a:t>Click to edit Master title style</a:t>
            </a:r>
          </a:p>
        </p:txBody>
      </p:sp>
      <p:sp>
        <p:nvSpPr>
          <p:cNvPr id="3" name="Subtitle 2"/>
          <p:cNvSpPr>
            <a:spLocks noGrp="1"/>
          </p:cNvSpPr>
          <p:nvPr>
            <p:ph type="subTitle" idx="1"/>
          </p:nvPr>
        </p:nvSpPr>
        <p:spPr>
          <a:xfrm>
            <a:off x="1524000" y="3602038"/>
            <a:ext cx="9144000" cy="1655762"/>
          </a:xfrm>
        </p:spPr>
        <p:txBody>
          <a:bodyPr>
            <a:normAutofit/>
          </a:bodyPr>
          <a:lstStyle>
            <a:lvl1pPr marL="0" indent="0" algn="ctr">
              <a:buNone/>
              <a:defRPr sz="3200">
                <a:solidFill>
                  <a:schemeClr val="accent1">
                    <a:lumMod val="60000"/>
                    <a:lumOff val="4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7" name="Rectangle 6"/>
          <p:cNvSpPr/>
          <p:nvPr userDrawn="1"/>
        </p:nvSpPr>
        <p:spPr>
          <a:xfrm>
            <a:off x="0" y="6021288"/>
            <a:ext cx="12192000" cy="83671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a:hlinkClick r:id="rId2"/>
          </p:cNvPr>
          <p:cNvPicPr>
            <a:picLocks noChangeAspect="1"/>
          </p:cNvPicPr>
          <p:nvPr userDrawn="1"/>
        </p:nvPicPr>
        <p:blipFill>
          <a:blip r:embed="rId3"/>
          <a:stretch>
            <a:fillRect/>
          </a:stretch>
        </p:blipFill>
        <p:spPr>
          <a:xfrm>
            <a:off x="10200456" y="6214072"/>
            <a:ext cx="1627773" cy="451143"/>
          </a:xfrm>
          <a:prstGeom prst="rect">
            <a:avLst/>
          </a:prstGeom>
        </p:spPr>
      </p:pic>
      <p:pic>
        <p:nvPicPr>
          <p:cNvPr id="6" name="Picture 5"/>
          <p:cNvPicPr>
            <a:picLocks noChangeAspect="1"/>
          </p:cNvPicPr>
          <p:nvPr userDrawn="1"/>
        </p:nvPicPr>
        <p:blipFill rotWithShape="1">
          <a:blip r:embed="rId4" cstate="print">
            <a:extLst>
              <a:ext uri="{28A0092B-C50C-407E-A947-70E740481C1C}">
                <a14:useLocalDpi xmlns:a14="http://schemas.microsoft.com/office/drawing/2010/main" val="0"/>
              </a:ext>
            </a:extLst>
          </a:blip>
          <a:srcRect r="18500" b="19391"/>
          <a:stretch/>
        </p:blipFill>
        <p:spPr>
          <a:xfrm>
            <a:off x="11096512" y="4937768"/>
            <a:ext cx="1095488" cy="1083520"/>
          </a:xfrm>
          <a:prstGeom prst="rect">
            <a:avLst/>
          </a:prstGeom>
        </p:spPr>
      </p:pic>
      <p:grpSp>
        <p:nvGrpSpPr>
          <p:cNvPr id="11" name="Group 10"/>
          <p:cNvGrpSpPr/>
          <p:nvPr userDrawn="1"/>
        </p:nvGrpSpPr>
        <p:grpSpPr>
          <a:xfrm>
            <a:off x="8704796" y="6336792"/>
            <a:ext cx="1470980" cy="307777"/>
            <a:chOff x="8616280" y="6285754"/>
            <a:chExt cx="1470980" cy="307777"/>
          </a:xfrm>
        </p:grpSpPr>
        <p:sp>
          <p:nvSpPr>
            <p:cNvPr id="12" name="TextBox 11"/>
            <p:cNvSpPr txBox="1"/>
            <p:nvPr userDrawn="1"/>
          </p:nvSpPr>
          <p:spPr>
            <a:xfrm>
              <a:off x="8616280" y="6285754"/>
              <a:ext cx="1470980" cy="307777"/>
            </a:xfrm>
            <a:prstGeom prst="rect">
              <a:avLst/>
            </a:prstGeom>
            <a:noFill/>
          </p:spPr>
          <p:txBody>
            <a:bodyPr wrap="none" rtlCol="0">
              <a:spAutoFit/>
            </a:bodyPr>
            <a:lstStyle/>
            <a:p>
              <a:r>
                <a:rPr lang="en-US" sz="1400">
                  <a:solidFill>
                    <a:schemeClr val="tx1"/>
                  </a:solidFill>
                </a:rPr>
                <a:t>Made with       by </a:t>
              </a:r>
            </a:p>
          </p:txBody>
        </p:sp>
        <p:sp>
          <p:nvSpPr>
            <p:cNvPr id="13" name="Freeform 290"/>
            <p:cNvSpPr/>
            <p:nvPr userDrawn="1"/>
          </p:nvSpPr>
          <p:spPr>
            <a:xfrm>
              <a:off x="9544347" y="6374509"/>
              <a:ext cx="152053" cy="130265"/>
            </a:xfrm>
            <a:custGeom>
              <a:avLst/>
              <a:gdLst/>
              <a:ahLst/>
              <a:cxnLst/>
              <a:rect l="l" t="t" r="r" b="b"/>
              <a:pathLst>
                <a:path w="504825" h="432707">
                  <a:moveTo>
                    <a:pt x="134658" y="0"/>
                  </a:moveTo>
                  <a:cubicBezTo>
                    <a:pt x="146301" y="0"/>
                    <a:pt x="158180" y="2019"/>
                    <a:pt x="170294" y="6057"/>
                  </a:cubicBezTo>
                  <a:cubicBezTo>
                    <a:pt x="182407" y="10095"/>
                    <a:pt x="193676" y="15541"/>
                    <a:pt x="204099" y="22396"/>
                  </a:cubicBezTo>
                  <a:cubicBezTo>
                    <a:pt x="214522" y="29251"/>
                    <a:pt x="223490" y="35683"/>
                    <a:pt x="231002" y="41693"/>
                  </a:cubicBezTo>
                  <a:cubicBezTo>
                    <a:pt x="238514" y="47703"/>
                    <a:pt x="245652" y="54088"/>
                    <a:pt x="252412" y="60849"/>
                  </a:cubicBezTo>
                  <a:cubicBezTo>
                    <a:pt x="259174" y="54088"/>
                    <a:pt x="266310" y="47703"/>
                    <a:pt x="273823" y="41693"/>
                  </a:cubicBezTo>
                  <a:cubicBezTo>
                    <a:pt x="281334" y="35683"/>
                    <a:pt x="290303" y="29251"/>
                    <a:pt x="300726" y="22396"/>
                  </a:cubicBezTo>
                  <a:cubicBezTo>
                    <a:pt x="311149" y="15541"/>
                    <a:pt x="322417" y="10095"/>
                    <a:pt x="334531" y="6057"/>
                  </a:cubicBezTo>
                  <a:cubicBezTo>
                    <a:pt x="346645" y="2019"/>
                    <a:pt x="358524" y="0"/>
                    <a:pt x="370167" y="0"/>
                  </a:cubicBezTo>
                  <a:cubicBezTo>
                    <a:pt x="412236" y="0"/>
                    <a:pt x="445197" y="11644"/>
                    <a:pt x="469048" y="34932"/>
                  </a:cubicBezTo>
                  <a:cubicBezTo>
                    <a:pt x="492899" y="58220"/>
                    <a:pt x="504825" y="90523"/>
                    <a:pt x="504825" y="131840"/>
                  </a:cubicBezTo>
                  <a:cubicBezTo>
                    <a:pt x="504825" y="173346"/>
                    <a:pt x="483321" y="215602"/>
                    <a:pt x="440313" y="258610"/>
                  </a:cubicBezTo>
                  <a:lnTo>
                    <a:pt x="264807" y="427636"/>
                  </a:lnTo>
                  <a:cubicBezTo>
                    <a:pt x="261427" y="431017"/>
                    <a:pt x="257295" y="432707"/>
                    <a:pt x="252412" y="432707"/>
                  </a:cubicBezTo>
                  <a:cubicBezTo>
                    <a:pt x="247529" y="432707"/>
                    <a:pt x="243398" y="431017"/>
                    <a:pt x="240018" y="427636"/>
                  </a:cubicBezTo>
                  <a:lnTo>
                    <a:pt x="64230" y="258047"/>
                  </a:lnTo>
                  <a:cubicBezTo>
                    <a:pt x="62351" y="256544"/>
                    <a:pt x="59770" y="254103"/>
                    <a:pt x="56482" y="250722"/>
                  </a:cubicBezTo>
                  <a:cubicBezTo>
                    <a:pt x="53196" y="247342"/>
                    <a:pt x="47984" y="241191"/>
                    <a:pt x="40848" y="232270"/>
                  </a:cubicBezTo>
                  <a:cubicBezTo>
                    <a:pt x="33712" y="223349"/>
                    <a:pt x="27326" y="214194"/>
                    <a:pt x="21692" y="204803"/>
                  </a:cubicBezTo>
                  <a:cubicBezTo>
                    <a:pt x="16057" y="195413"/>
                    <a:pt x="11035" y="184051"/>
                    <a:pt x="6620" y="170717"/>
                  </a:cubicBezTo>
                  <a:cubicBezTo>
                    <a:pt x="2207" y="157382"/>
                    <a:pt x="0" y="144423"/>
                    <a:pt x="0" y="131840"/>
                  </a:cubicBezTo>
                  <a:cubicBezTo>
                    <a:pt x="0" y="90523"/>
                    <a:pt x="11926" y="58220"/>
                    <a:pt x="35777" y="34932"/>
                  </a:cubicBezTo>
                  <a:cubicBezTo>
                    <a:pt x="59629" y="11644"/>
                    <a:pt x="92588" y="0"/>
                    <a:pt x="134658" y="0"/>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Tree>
    <p:extLst>
      <p:ext uri="{BB962C8B-B14F-4D97-AF65-F5344CB8AC3E}">
        <p14:creationId xmlns:p14="http://schemas.microsoft.com/office/powerpoint/2010/main" val="149681415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ver">
    <p:bg>
      <p:bgPr>
        <a:solidFill>
          <a:srgbClr val="222A35"/>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479376" y="228855"/>
            <a:ext cx="11233248" cy="954108"/>
          </a:xfrm>
        </p:spPr>
        <p:txBody>
          <a:bodyPr wrap="square" anchor="b">
            <a:spAutoFit/>
          </a:bodyPr>
          <a:lstStyle>
            <a:lvl1pPr algn="ctr">
              <a:defRPr sz="6000">
                <a:solidFill>
                  <a:schemeClr val="bg1"/>
                </a:solidFill>
              </a:defRPr>
            </a:lvl1pPr>
          </a:lstStyle>
          <a:p>
            <a:r>
              <a:rPr lang="en-US" dirty="0"/>
              <a:t>Click to edit Master title style</a:t>
            </a:r>
          </a:p>
        </p:txBody>
      </p:sp>
      <p:sp>
        <p:nvSpPr>
          <p:cNvPr id="7" name="Rectangle 6"/>
          <p:cNvSpPr/>
          <p:nvPr userDrawn="1"/>
        </p:nvSpPr>
        <p:spPr>
          <a:xfrm>
            <a:off x="0" y="6021288"/>
            <a:ext cx="12192000" cy="83671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pic>
        <p:nvPicPr>
          <p:cNvPr id="8" name="Picture 7">
            <a:hlinkClick r:id="rId2"/>
          </p:cNvPr>
          <p:cNvPicPr>
            <a:picLocks noChangeAspect="1"/>
          </p:cNvPicPr>
          <p:nvPr userDrawn="1"/>
        </p:nvPicPr>
        <p:blipFill>
          <a:blip r:embed="rId3"/>
          <a:stretch>
            <a:fillRect/>
          </a:stretch>
        </p:blipFill>
        <p:spPr>
          <a:xfrm>
            <a:off x="10200456" y="6214075"/>
            <a:ext cx="1627773" cy="451143"/>
          </a:xfrm>
          <a:prstGeom prst="rect">
            <a:avLst/>
          </a:prstGeom>
        </p:spPr>
      </p:pic>
      <p:pic>
        <p:nvPicPr>
          <p:cNvPr id="4" name="Picture 3"/>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128994" y="1426467"/>
            <a:ext cx="6338473" cy="5238748"/>
          </a:xfrm>
          <a:prstGeom prst="rect">
            <a:avLst/>
          </a:prstGeom>
          <a:effectLst>
            <a:reflection blurRad="6350" stA="52000" endA="300" endPos="35000" dir="5400000" sy="-100000" algn="bl" rotWithShape="0"/>
          </a:effectLst>
        </p:spPr>
      </p:pic>
      <p:sp>
        <p:nvSpPr>
          <p:cNvPr id="9" name="Picture Placeholder 8"/>
          <p:cNvSpPr>
            <a:spLocks noGrp="1"/>
          </p:cNvSpPr>
          <p:nvPr>
            <p:ph type="pic" sz="quarter" idx="10"/>
          </p:nvPr>
        </p:nvSpPr>
        <p:spPr>
          <a:xfrm>
            <a:off x="1489943" y="1700811"/>
            <a:ext cx="5616575" cy="3168055"/>
          </a:xfrm>
        </p:spPr>
        <p:txBody>
          <a:bodyPr/>
          <a:lstStyle>
            <a:lvl1pPr>
              <a:defRPr>
                <a:solidFill>
                  <a:schemeClr val="bg1"/>
                </a:solidFill>
              </a:defRPr>
            </a:lvl1pPr>
          </a:lstStyle>
          <a:p>
            <a:endParaRPr lang="en-US"/>
          </a:p>
        </p:txBody>
      </p:sp>
      <p:pic>
        <p:nvPicPr>
          <p:cNvPr id="10" name="Picture 9"/>
          <p:cNvPicPr>
            <a:picLocks noChangeAspect="1"/>
          </p:cNvPicPr>
          <p:nvPr userDrawn="1"/>
        </p:nvPicPr>
        <p:blipFill rotWithShape="1">
          <a:blip r:embed="rId5" cstate="print">
            <a:extLst>
              <a:ext uri="{28A0092B-C50C-407E-A947-70E740481C1C}">
                <a14:useLocalDpi xmlns:a14="http://schemas.microsoft.com/office/drawing/2010/main" val="0"/>
              </a:ext>
            </a:extLst>
          </a:blip>
          <a:srcRect r="18500" b="19391"/>
          <a:stretch/>
        </p:blipFill>
        <p:spPr>
          <a:xfrm>
            <a:off x="11096512" y="4937768"/>
            <a:ext cx="1095488" cy="1083520"/>
          </a:xfrm>
          <a:prstGeom prst="rect">
            <a:avLst/>
          </a:prstGeom>
        </p:spPr>
      </p:pic>
    </p:spTree>
    <p:extLst>
      <p:ext uri="{BB962C8B-B14F-4D97-AF65-F5344CB8AC3E}">
        <p14:creationId xmlns:p14="http://schemas.microsoft.com/office/powerpoint/2010/main" val="385573231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cSld name="ריק">
    <p:spTree>
      <p:nvGrpSpPr>
        <p:cNvPr id="1" name=""/>
        <p:cNvGrpSpPr/>
        <p:nvPr/>
      </p:nvGrpSpPr>
      <p:grpSpPr>
        <a:xfrm>
          <a:off x="0" y="0"/>
          <a:ext cx="0" cy="0"/>
          <a:chOff x="0" y="0"/>
          <a:chExt cx="0" cy="0"/>
        </a:xfrm>
      </p:grpSpPr>
      <p:sp>
        <p:nvSpPr>
          <p:cNvPr id="2" name="מציין מיקום של תאריך 1"/>
          <p:cNvSpPr>
            <a:spLocks noGrp="1"/>
          </p:cNvSpPr>
          <p:nvPr>
            <p:ph type="dt" sz="half" idx="10"/>
          </p:nvPr>
        </p:nvSpPr>
        <p:spPr/>
        <p:txBody>
          <a:bodyPr/>
          <a:lstStyle/>
          <a:p>
            <a:fld id="{36F8E4F7-F027-4D91-89F8-F6967E4FB453}" type="datetimeFigureOut">
              <a:rPr lang="he-IL" smtClean="0"/>
              <a:t>כ"א/אלול/תשפ"ד</a:t>
            </a:fld>
            <a:endParaRPr lang="he-IL"/>
          </a:p>
        </p:txBody>
      </p:sp>
      <p:sp>
        <p:nvSpPr>
          <p:cNvPr id="3" name="מציין מיקום של כותרת תחתונה 2"/>
          <p:cNvSpPr>
            <a:spLocks noGrp="1"/>
          </p:cNvSpPr>
          <p:nvPr>
            <p:ph type="ftr" sz="quarter" idx="11"/>
          </p:nvPr>
        </p:nvSpPr>
        <p:spPr/>
        <p:txBody>
          <a:bodyPr/>
          <a:lstStyle/>
          <a:p>
            <a:endParaRPr lang="he-IL"/>
          </a:p>
        </p:txBody>
      </p:sp>
      <p:sp>
        <p:nvSpPr>
          <p:cNvPr id="4" name="מציין מיקום של מספר שקופית 3"/>
          <p:cNvSpPr>
            <a:spLocks noGrp="1"/>
          </p:cNvSpPr>
          <p:nvPr>
            <p:ph type="sldNum" sz="quarter" idx="12"/>
          </p:nvPr>
        </p:nvSpPr>
        <p:spPr/>
        <p:txBody>
          <a:bodyPr/>
          <a:lstStyle/>
          <a:p>
            <a:fld id="{8A50C43C-A789-4084-B64F-03319532B81D}" type="slidenum">
              <a:rPr lang="he-IL" smtClean="0"/>
              <a:t>‹#›</a:t>
            </a:fld>
            <a:endParaRPr lang="he-IL"/>
          </a:p>
        </p:txBody>
      </p:sp>
    </p:spTree>
    <p:extLst>
      <p:ext uri="{BB962C8B-B14F-4D97-AF65-F5344CB8AC3E}">
        <p14:creationId xmlns:p14="http://schemas.microsoft.com/office/powerpoint/2010/main" val="325447350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שקופית כותרת">
    <p:spTree>
      <p:nvGrpSpPr>
        <p:cNvPr id="1" name=""/>
        <p:cNvGrpSpPr/>
        <p:nvPr/>
      </p:nvGrpSpPr>
      <p:grpSpPr>
        <a:xfrm>
          <a:off x="0" y="0"/>
          <a:ext cx="0" cy="0"/>
          <a:chOff x="0" y="0"/>
          <a:chExt cx="0" cy="0"/>
        </a:xfrm>
      </p:grpSpPr>
    </p:spTree>
    <p:extLst>
      <p:ext uri="{BB962C8B-B14F-4D97-AF65-F5344CB8AC3E}">
        <p14:creationId xmlns:p14="http://schemas.microsoft.com/office/powerpoint/2010/main" val="78216326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כותרת ותוכן">
    <p:spTree>
      <p:nvGrpSpPr>
        <p:cNvPr id="1" name=""/>
        <p:cNvGrpSpPr/>
        <p:nvPr/>
      </p:nvGrpSpPr>
      <p:grpSpPr>
        <a:xfrm>
          <a:off x="0" y="0"/>
          <a:ext cx="0" cy="0"/>
          <a:chOff x="0" y="0"/>
          <a:chExt cx="0" cy="0"/>
        </a:xfrm>
      </p:grpSpPr>
    </p:spTree>
    <p:extLst>
      <p:ext uri="{BB962C8B-B14F-4D97-AF65-F5344CB8AC3E}">
        <p14:creationId xmlns:p14="http://schemas.microsoft.com/office/powerpoint/2010/main" val="117325920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x">
  <p:cSld name="Title + 1 column">
    <p:spTree>
      <p:nvGrpSpPr>
        <p:cNvPr id="1" name="Shape 36"/>
        <p:cNvGrpSpPr/>
        <p:nvPr/>
      </p:nvGrpSpPr>
      <p:grpSpPr>
        <a:xfrm>
          <a:off x="0" y="0"/>
          <a:ext cx="0" cy="0"/>
          <a:chOff x="0" y="0"/>
          <a:chExt cx="0" cy="0"/>
        </a:xfrm>
      </p:grpSpPr>
      <p:sp>
        <p:nvSpPr>
          <p:cNvPr id="43" name="Shape 43"/>
          <p:cNvSpPr txBox="1">
            <a:spLocks noGrp="1"/>
          </p:cNvSpPr>
          <p:nvPr>
            <p:ph type="title"/>
          </p:nvPr>
        </p:nvSpPr>
        <p:spPr>
          <a:xfrm>
            <a:off x="609600" y="751065"/>
            <a:ext cx="7068400" cy="970400"/>
          </a:xfrm>
          <a:prstGeom prst="rect">
            <a:avLst/>
          </a:prstGeom>
        </p:spPr>
        <p:txBody>
          <a:bodyPr lIns="91425" tIns="91425" rIns="91425" bIns="91425" anchor="b" anchorCtr="0"/>
          <a:lstStyle>
            <a:lvl1pPr lvl="0">
              <a:spcBef>
                <a:spcPts val="0"/>
              </a:spcBef>
              <a:defRPr/>
            </a:lvl1pPr>
            <a:lvl2pPr lvl="1">
              <a:spcBef>
                <a:spcPts val="0"/>
              </a:spcBef>
              <a:defRPr/>
            </a:lvl2pPr>
            <a:lvl3pPr lvl="2">
              <a:spcBef>
                <a:spcPts val="0"/>
              </a:spcBef>
              <a:defRPr/>
            </a:lvl3pPr>
            <a:lvl4pPr lvl="3">
              <a:spcBef>
                <a:spcPts val="0"/>
              </a:spcBef>
              <a:defRPr/>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a:endParaRPr/>
          </a:p>
        </p:txBody>
      </p:sp>
      <p:sp>
        <p:nvSpPr>
          <p:cNvPr id="44" name="Shape 44"/>
          <p:cNvSpPr txBox="1">
            <a:spLocks noGrp="1"/>
          </p:cNvSpPr>
          <p:nvPr>
            <p:ph type="body" idx="1"/>
          </p:nvPr>
        </p:nvSpPr>
        <p:spPr>
          <a:xfrm>
            <a:off x="609600" y="1875925"/>
            <a:ext cx="7068400" cy="4215200"/>
          </a:xfrm>
          <a:prstGeom prst="rect">
            <a:avLst/>
          </a:prstGeom>
        </p:spPr>
        <p:txBody>
          <a:bodyPr lIns="91425" tIns="91425" rIns="91425" bIns="91425" anchor="t" anchorCtr="0"/>
          <a:lstStyle>
            <a:lvl1pPr lvl="0">
              <a:spcBef>
                <a:spcPts val="0"/>
              </a:spcBef>
              <a:defRPr/>
            </a:lvl1pPr>
            <a:lvl2pPr lvl="1">
              <a:spcBef>
                <a:spcPts val="0"/>
              </a:spcBef>
              <a:defRPr/>
            </a:lvl2pPr>
            <a:lvl3pPr lvl="2">
              <a:spcBef>
                <a:spcPts val="0"/>
              </a:spcBef>
              <a:defRPr/>
            </a:lvl3pPr>
            <a:lvl4pPr lvl="3">
              <a:spcBef>
                <a:spcPts val="0"/>
              </a:spcBef>
              <a:defRPr/>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a:endParaRPr/>
          </a:p>
        </p:txBody>
      </p:sp>
      <p:sp>
        <p:nvSpPr>
          <p:cNvPr id="45" name="Shape 45"/>
          <p:cNvSpPr txBox="1">
            <a:spLocks noGrp="1"/>
          </p:cNvSpPr>
          <p:nvPr>
            <p:ph type="sldNum" idx="12"/>
          </p:nvPr>
        </p:nvSpPr>
        <p:spPr>
          <a:xfrm>
            <a:off x="7475044" y="6333133"/>
            <a:ext cx="731600" cy="524800"/>
          </a:xfrm>
          <a:prstGeom prst="rect">
            <a:avLst/>
          </a:prstGeom>
        </p:spPr>
        <p:txBody>
          <a:bodyPr lIns="91425" tIns="91425" rIns="91425" bIns="91425" anchor="ctr" anchorCtr="0">
            <a:noAutofit/>
          </a:bodyPr>
          <a:lstStyle/>
          <a:p>
            <a:fld id="{00000000-1234-1234-1234-123412341234}" type="slidenum">
              <a:rPr lang="en" smtClean="0"/>
              <a:pPr/>
              <a:t>‹#›</a:t>
            </a:fld>
            <a:endParaRPr lang="en"/>
          </a:p>
        </p:txBody>
      </p:sp>
    </p:spTree>
    <p:extLst>
      <p:ext uri="{BB962C8B-B14F-4D97-AF65-F5344CB8AC3E}">
        <p14:creationId xmlns:p14="http://schemas.microsoft.com/office/powerpoint/2010/main" val="351530240"/>
      </p:ext>
    </p:extLst>
  </p:cSld>
  <p:clrMapOvr>
    <a:masterClrMapping/>
  </p:clrMapOvr>
  <p:transition spd="slow">
    <p:wipe dir="r"/>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type="obj">
  <p:cSld name="1_כותרת ותוכן">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a:t>לחץ כדי לערוך סגנון כותרת של תבנית בסיס</a:t>
            </a:r>
          </a:p>
        </p:txBody>
      </p:sp>
      <p:sp>
        <p:nvSpPr>
          <p:cNvPr id="3" name="מציין מיקום תוכן 2"/>
          <p:cNvSpPr>
            <a:spLocks noGrp="1"/>
          </p:cNvSpPr>
          <p:nvPr>
            <p:ph idx="1"/>
          </p:nvPr>
        </p:nvSpPr>
        <p:spPr/>
        <p:txBody>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4" name="מציין מיקום של תאריך 3"/>
          <p:cNvSpPr>
            <a:spLocks noGrp="1"/>
          </p:cNvSpPr>
          <p:nvPr>
            <p:ph type="dt" sz="half" idx="10"/>
          </p:nvPr>
        </p:nvSpPr>
        <p:spPr/>
        <p:txBody>
          <a:bodyPr/>
          <a:lstStyle/>
          <a:p>
            <a:fld id="{50A7289E-A01B-4831-8F11-C8CCC0732A3D}" type="datetimeFigureOut">
              <a:rPr lang="he-IL" smtClean="0"/>
              <a:t>כ"א/אלול/תשפ"ד</a:t>
            </a:fld>
            <a:endParaRPr lang="he-IL"/>
          </a:p>
        </p:txBody>
      </p:sp>
      <p:sp>
        <p:nvSpPr>
          <p:cNvPr id="5" name="מציין מיקום של כותרת תחתונה 4"/>
          <p:cNvSpPr>
            <a:spLocks noGrp="1"/>
          </p:cNvSpPr>
          <p:nvPr>
            <p:ph type="ftr" sz="quarter" idx="11"/>
          </p:nvPr>
        </p:nvSpPr>
        <p:spPr/>
        <p:txBody>
          <a:bodyPr/>
          <a:lstStyle/>
          <a:p>
            <a:endParaRPr lang="he-IL"/>
          </a:p>
        </p:txBody>
      </p:sp>
      <p:sp>
        <p:nvSpPr>
          <p:cNvPr id="6" name="מציין מיקום של מספר שקופית 5"/>
          <p:cNvSpPr>
            <a:spLocks noGrp="1"/>
          </p:cNvSpPr>
          <p:nvPr>
            <p:ph type="sldNum" sz="quarter" idx="12"/>
          </p:nvPr>
        </p:nvSpPr>
        <p:spPr/>
        <p:txBody>
          <a:bodyPr/>
          <a:lstStyle/>
          <a:p>
            <a:fld id="{0BF2A8D9-E848-4F9E-A3AB-56F701107823}" type="slidenum">
              <a:rPr lang="he-IL" smtClean="0"/>
              <a:t>‹#›</a:t>
            </a:fld>
            <a:endParaRPr lang="he-IL"/>
          </a:p>
        </p:txBody>
      </p:sp>
    </p:spTree>
    <p:extLst>
      <p:ext uri="{BB962C8B-B14F-4D97-AF65-F5344CB8AC3E}">
        <p14:creationId xmlns:p14="http://schemas.microsoft.com/office/powerpoint/2010/main" val="219203150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cSld name="Title + 3 columns">
    <p:spTree>
      <p:nvGrpSpPr>
        <p:cNvPr id="1" name="Shape 57"/>
        <p:cNvGrpSpPr/>
        <p:nvPr/>
      </p:nvGrpSpPr>
      <p:grpSpPr>
        <a:xfrm>
          <a:off x="0" y="0"/>
          <a:ext cx="0" cy="0"/>
          <a:chOff x="0" y="0"/>
          <a:chExt cx="0" cy="0"/>
        </a:xfrm>
      </p:grpSpPr>
      <p:sp>
        <p:nvSpPr>
          <p:cNvPr id="64" name="Shape 64"/>
          <p:cNvSpPr txBox="1">
            <a:spLocks noGrp="1"/>
          </p:cNvSpPr>
          <p:nvPr>
            <p:ph type="title"/>
          </p:nvPr>
        </p:nvSpPr>
        <p:spPr>
          <a:xfrm>
            <a:off x="609600" y="751065"/>
            <a:ext cx="7068400" cy="970400"/>
          </a:xfrm>
          <a:prstGeom prst="rect">
            <a:avLst/>
          </a:prstGeom>
        </p:spPr>
        <p:txBody>
          <a:bodyPr lIns="91425" tIns="91425" rIns="91425" bIns="91425" anchor="b" anchorCtr="0"/>
          <a:lstStyle>
            <a:lvl1pPr lvl="0" rtl="0">
              <a:spcBef>
                <a:spcPts val="0"/>
              </a:spcBef>
              <a:defRPr/>
            </a:lvl1pPr>
            <a:lvl2pPr lvl="1" rtl="0">
              <a:spcBef>
                <a:spcPts val="0"/>
              </a:spcBef>
              <a:defRPr/>
            </a:lvl2pPr>
            <a:lvl3pPr lvl="2" rtl="0">
              <a:spcBef>
                <a:spcPts val="0"/>
              </a:spcBef>
              <a:defRPr/>
            </a:lvl3pPr>
            <a:lvl4pPr lvl="3" rtl="0">
              <a:spcBef>
                <a:spcPts val="0"/>
              </a:spcBef>
              <a:defRPr/>
            </a:lvl4pPr>
            <a:lvl5pPr lvl="4" rtl="0">
              <a:spcBef>
                <a:spcPts val="0"/>
              </a:spcBef>
              <a:defRPr/>
            </a:lvl5pPr>
            <a:lvl6pPr lvl="5" rtl="0">
              <a:spcBef>
                <a:spcPts val="0"/>
              </a:spcBef>
              <a:defRPr/>
            </a:lvl6pPr>
            <a:lvl7pPr lvl="6" rtl="0">
              <a:spcBef>
                <a:spcPts val="0"/>
              </a:spcBef>
              <a:defRPr/>
            </a:lvl7pPr>
            <a:lvl8pPr lvl="7" rtl="0">
              <a:spcBef>
                <a:spcPts val="0"/>
              </a:spcBef>
              <a:defRPr/>
            </a:lvl8pPr>
            <a:lvl9pPr lvl="8" rtl="0">
              <a:spcBef>
                <a:spcPts val="0"/>
              </a:spcBef>
              <a:defRPr/>
            </a:lvl9pPr>
          </a:lstStyle>
          <a:p>
            <a:endParaRPr/>
          </a:p>
        </p:txBody>
      </p:sp>
      <p:sp>
        <p:nvSpPr>
          <p:cNvPr id="65" name="Shape 65"/>
          <p:cNvSpPr txBox="1">
            <a:spLocks noGrp="1"/>
          </p:cNvSpPr>
          <p:nvPr>
            <p:ph type="body" idx="1"/>
          </p:nvPr>
        </p:nvSpPr>
        <p:spPr>
          <a:xfrm>
            <a:off x="609600" y="1879333"/>
            <a:ext cx="2278400" cy="4483600"/>
          </a:xfrm>
          <a:prstGeom prst="rect">
            <a:avLst/>
          </a:prstGeom>
        </p:spPr>
        <p:txBody>
          <a:bodyPr lIns="91425" tIns="91425" rIns="91425" bIns="91425" anchor="t" anchorCtr="0"/>
          <a:lstStyle>
            <a:lvl1pPr lvl="0" rtl="0">
              <a:spcBef>
                <a:spcPts val="0"/>
              </a:spcBef>
              <a:buSzPct val="100000"/>
              <a:defRPr sz="1867"/>
            </a:lvl1pPr>
            <a:lvl2pPr lvl="1" rtl="0">
              <a:spcBef>
                <a:spcPts val="0"/>
              </a:spcBef>
              <a:buSzPct val="100000"/>
              <a:defRPr sz="1867"/>
            </a:lvl2pPr>
            <a:lvl3pPr lvl="2" rtl="0">
              <a:spcBef>
                <a:spcPts val="0"/>
              </a:spcBef>
              <a:buSzPct val="100000"/>
              <a:defRPr sz="1867"/>
            </a:lvl3pPr>
            <a:lvl4pPr lvl="3" rtl="0">
              <a:spcBef>
                <a:spcPts val="0"/>
              </a:spcBef>
              <a:buSzPct val="100000"/>
              <a:defRPr sz="1867"/>
            </a:lvl4pPr>
            <a:lvl5pPr lvl="4" rtl="0">
              <a:spcBef>
                <a:spcPts val="0"/>
              </a:spcBef>
              <a:buSzPct val="100000"/>
              <a:defRPr sz="1867"/>
            </a:lvl5pPr>
            <a:lvl6pPr lvl="5" rtl="0">
              <a:spcBef>
                <a:spcPts val="0"/>
              </a:spcBef>
              <a:buSzPct val="100000"/>
              <a:defRPr sz="1867"/>
            </a:lvl6pPr>
            <a:lvl7pPr lvl="6" rtl="0">
              <a:spcBef>
                <a:spcPts val="0"/>
              </a:spcBef>
              <a:buSzPct val="100000"/>
              <a:defRPr sz="1867"/>
            </a:lvl7pPr>
            <a:lvl8pPr lvl="7" rtl="0">
              <a:spcBef>
                <a:spcPts val="0"/>
              </a:spcBef>
              <a:buSzPct val="100000"/>
              <a:defRPr sz="1867"/>
            </a:lvl8pPr>
            <a:lvl9pPr lvl="8" rtl="0">
              <a:spcBef>
                <a:spcPts val="0"/>
              </a:spcBef>
              <a:buSzPct val="100000"/>
              <a:defRPr sz="1867"/>
            </a:lvl9pPr>
          </a:lstStyle>
          <a:p>
            <a:endParaRPr/>
          </a:p>
        </p:txBody>
      </p:sp>
      <p:sp>
        <p:nvSpPr>
          <p:cNvPr id="66" name="Shape 66"/>
          <p:cNvSpPr txBox="1">
            <a:spLocks noGrp="1"/>
          </p:cNvSpPr>
          <p:nvPr>
            <p:ph type="body" idx="2"/>
          </p:nvPr>
        </p:nvSpPr>
        <p:spPr>
          <a:xfrm>
            <a:off x="3004649" y="1879333"/>
            <a:ext cx="2278400" cy="4483600"/>
          </a:xfrm>
          <a:prstGeom prst="rect">
            <a:avLst/>
          </a:prstGeom>
        </p:spPr>
        <p:txBody>
          <a:bodyPr lIns="91425" tIns="91425" rIns="91425" bIns="91425" anchor="t" anchorCtr="0"/>
          <a:lstStyle>
            <a:lvl1pPr lvl="0" rtl="0">
              <a:spcBef>
                <a:spcPts val="0"/>
              </a:spcBef>
              <a:buSzPct val="100000"/>
              <a:defRPr sz="1867"/>
            </a:lvl1pPr>
            <a:lvl2pPr lvl="1" rtl="0">
              <a:spcBef>
                <a:spcPts val="0"/>
              </a:spcBef>
              <a:buSzPct val="100000"/>
              <a:defRPr sz="1867"/>
            </a:lvl2pPr>
            <a:lvl3pPr lvl="2" rtl="0">
              <a:spcBef>
                <a:spcPts val="0"/>
              </a:spcBef>
              <a:buSzPct val="100000"/>
              <a:defRPr sz="1867"/>
            </a:lvl3pPr>
            <a:lvl4pPr lvl="3" rtl="0">
              <a:spcBef>
                <a:spcPts val="0"/>
              </a:spcBef>
              <a:buSzPct val="100000"/>
              <a:defRPr sz="1867"/>
            </a:lvl4pPr>
            <a:lvl5pPr lvl="4" rtl="0">
              <a:spcBef>
                <a:spcPts val="0"/>
              </a:spcBef>
              <a:buSzPct val="100000"/>
              <a:defRPr sz="1867"/>
            </a:lvl5pPr>
            <a:lvl6pPr lvl="5" rtl="0">
              <a:spcBef>
                <a:spcPts val="0"/>
              </a:spcBef>
              <a:buSzPct val="100000"/>
              <a:defRPr sz="1867"/>
            </a:lvl6pPr>
            <a:lvl7pPr lvl="6" rtl="0">
              <a:spcBef>
                <a:spcPts val="0"/>
              </a:spcBef>
              <a:buSzPct val="100000"/>
              <a:defRPr sz="1867"/>
            </a:lvl7pPr>
            <a:lvl8pPr lvl="7" rtl="0">
              <a:spcBef>
                <a:spcPts val="0"/>
              </a:spcBef>
              <a:buSzPct val="100000"/>
              <a:defRPr sz="1867"/>
            </a:lvl8pPr>
            <a:lvl9pPr lvl="8" rtl="0">
              <a:spcBef>
                <a:spcPts val="0"/>
              </a:spcBef>
              <a:buSzPct val="100000"/>
              <a:defRPr sz="1867"/>
            </a:lvl9pPr>
          </a:lstStyle>
          <a:p>
            <a:endParaRPr/>
          </a:p>
        </p:txBody>
      </p:sp>
      <p:sp>
        <p:nvSpPr>
          <p:cNvPr id="67" name="Shape 67"/>
          <p:cNvSpPr txBox="1">
            <a:spLocks noGrp="1"/>
          </p:cNvSpPr>
          <p:nvPr>
            <p:ph type="body" idx="3"/>
          </p:nvPr>
        </p:nvSpPr>
        <p:spPr>
          <a:xfrm>
            <a:off x="5399699" y="1879333"/>
            <a:ext cx="2278400" cy="4483600"/>
          </a:xfrm>
          <a:prstGeom prst="rect">
            <a:avLst/>
          </a:prstGeom>
        </p:spPr>
        <p:txBody>
          <a:bodyPr lIns="91425" tIns="91425" rIns="91425" bIns="91425" anchor="t" anchorCtr="0"/>
          <a:lstStyle>
            <a:lvl1pPr lvl="0" rtl="0">
              <a:spcBef>
                <a:spcPts val="0"/>
              </a:spcBef>
              <a:buSzPct val="100000"/>
              <a:defRPr sz="1867"/>
            </a:lvl1pPr>
            <a:lvl2pPr lvl="1" rtl="0">
              <a:spcBef>
                <a:spcPts val="0"/>
              </a:spcBef>
              <a:buSzPct val="100000"/>
              <a:defRPr sz="1867"/>
            </a:lvl2pPr>
            <a:lvl3pPr lvl="2" rtl="0">
              <a:spcBef>
                <a:spcPts val="0"/>
              </a:spcBef>
              <a:buSzPct val="100000"/>
              <a:defRPr sz="1867"/>
            </a:lvl3pPr>
            <a:lvl4pPr lvl="3" rtl="0">
              <a:spcBef>
                <a:spcPts val="0"/>
              </a:spcBef>
              <a:buSzPct val="100000"/>
              <a:defRPr sz="1867"/>
            </a:lvl4pPr>
            <a:lvl5pPr lvl="4" rtl="0">
              <a:spcBef>
                <a:spcPts val="0"/>
              </a:spcBef>
              <a:buSzPct val="100000"/>
              <a:defRPr sz="1867"/>
            </a:lvl5pPr>
            <a:lvl6pPr lvl="5" rtl="0">
              <a:spcBef>
                <a:spcPts val="0"/>
              </a:spcBef>
              <a:buSzPct val="100000"/>
              <a:defRPr sz="1867"/>
            </a:lvl6pPr>
            <a:lvl7pPr lvl="6" rtl="0">
              <a:spcBef>
                <a:spcPts val="0"/>
              </a:spcBef>
              <a:buSzPct val="100000"/>
              <a:defRPr sz="1867"/>
            </a:lvl7pPr>
            <a:lvl8pPr lvl="7" rtl="0">
              <a:spcBef>
                <a:spcPts val="0"/>
              </a:spcBef>
              <a:buSzPct val="100000"/>
              <a:defRPr sz="1867"/>
            </a:lvl8pPr>
            <a:lvl9pPr lvl="8" rtl="0">
              <a:spcBef>
                <a:spcPts val="0"/>
              </a:spcBef>
              <a:buSzPct val="100000"/>
              <a:defRPr sz="1867"/>
            </a:lvl9pPr>
          </a:lstStyle>
          <a:p>
            <a:endParaRPr/>
          </a:p>
        </p:txBody>
      </p:sp>
      <p:sp>
        <p:nvSpPr>
          <p:cNvPr id="68" name="Shape 68"/>
          <p:cNvSpPr txBox="1">
            <a:spLocks noGrp="1"/>
          </p:cNvSpPr>
          <p:nvPr>
            <p:ph type="sldNum" idx="12"/>
          </p:nvPr>
        </p:nvSpPr>
        <p:spPr>
          <a:xfrm>
            <a:off x="7475044" y="6333133"/>
            <a:ext cx="731600" cy="524800"/>
          </a:xfrm>
          <a:prstGeom prst="rect">
            <a:avLst/>
          </a:prstGeom>
        </p:spPr>
        <p:txBody>
          <a:bodyPr lIns="91425" tIns="91425" rIns="91425" bIns="91425" anchor="ctr" anchorCtr="0">
            <a:noAutofit/>
          </a:bodyPr>
          <a:lstStyle/>
          <a:p>
            <a:fld id="{00000000-1234-1234-1234-123412341234}" type="slidenum">
              <a:rPr lang="en" smtClean="0"/>
              <a:pPr/>
              <a:t>‹#›</a:t>
            </a:fld>
            <a:endParaRPr lang="en"/>
          </a:p>
        </p:txBody>
      </p:sp>
    </p:spTree>
    <p:extLst>
      <p:ext uri="{BB962C8B-B14F-4D97-AF65-F5344CB8AC3E}">
        <p14:creationId xmlns:p14="http://schemas.microsoft.com/office/powerpoint/2010/main" val="1177153439"/>
      </p:ext>
    </p:extLst>
  </p:cSld>
  <p:clrMapOvr>
    <a:masterClrMapping/>
  </p:clrMapOvr>
  <p:transition spd="slow">
    <p:wipe dir="r"/>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cSld name="ריק">
    <p:spTree>
      <p:nvGrpSpPr>
        <p:cNvPr id="1" name=""/>
        <p:cNvGrpSpPr/>
        <p:nvPr/>
      </p:nvGrpSpPr>
      <p:grpSpPr>
        <a:xfrm>
          <a:off x="0" y="0"/>
          <a:ext cx="0" cy="0"/>
          <a:chOff x="0" y="0"/>
          <a:chExt cx="0" cy="0"/>
        </a:xfrm>
      </p:grpSpPr>
      <p:sp>
        <p:nvSpPr>
          <p:cNvPr id="2" name="מציין מיקום של תאריך 1"/>
          <p:cNvSpPr>
            <a:spLocks noGrp="1"/>
          </p:cNvSpPr>
          <p:nvPr>
            <p:ph type="dt" sz="half" idx="10"/>
          </p:nvPr>
        </p:nvSpPr>
        <p:spPr/>
        <p:txBody>
          <a:bodyPr/>
          <a:lstStyle/>
          <a:p>
            <a:fld id="{50A7289E-A01B-4831-8F11-C8CCC0732A3D}" type="datetimeFigureOut">
              <a:rPr lang="he-IL" smtClean="0"/>
              <a:t>כ"א/אלול/תשפ"ד</a:t>
            </a:fld>
            <a:endParaRPr lang="he-IL"/>
          </a:p>
        </p:txBody>
      </p:sp>
      <p:sp>
        <p:nvSpPr>
          <p:cNvPr id="3" name="מציין מיקום של כותרת תחתונה 2"/>
          <p:cNvSpPr>
            <a:spLocks noGrp="1"/>
          </p:cNvSpPr>
          <p:nvPr>
            <p:ph type="ftr" sz="quarter" idx="11"/>
          </p:nvPr>
        </p:nvSpPr>
        <p:spPr/>
        <p:txBody>
          <a:bodyPr/>
          <a:lstStyle/>
          <a:p>
            <a:endParaRPr lang="he-IL"/>
          </a:p>
        </p:txBody>
      </p:sp>
      <p:sp>
        <p:nvSpPr>
          <p:cNvPr id="4" name="מציין מיקום של מספר שקופית 3"/>
          <p:cNvSpPr>
            <a:spLocks noGrp="1"/>
          </p:cNvSpPr>
          <p:nvPr>
            <p:ph type="sldNum" sz="quarter" idx="12"/>
          </p:nvPr>
        </p:nvSpPr>
        <p:spPr/>
        <p:txBody>
          <a:bodyPr/>
          <a:lstStyle/>
          <a:p>
            <a:fld id="{0BF2A8D9-E848-4F9E-A3AB-56F701107823}" type="slidenum">
              <a:rPr lang="he-IL" smtClean="0"/>
              <a:t>‹#›</a:t>
            </a:fld>
            <a:endParaRPr lang="he-IL"/>
          </a:p>
        </p:txBody>
      </p:sp>
    </p:spTree>
    <p:extLst>
      <p:ext uri="{BB962C8B-B14F-4D97-AF65-F5344CB8AC3E}">
        <p14:creationId xmlns:p14="http://schemas.microsoft.com/office/powerpoint/2010/main" val="171401642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userDrawn="1">
  <p:cSld name="Master Slide 1">
    <p:spTree>
      <p:nvGrpSpPr>
        <p:cNvPr id="1" name=""/>
        <p:cNvGrpSpPr/>
        <p:nvPr/>
      </p:nvGrpSpPr>
      <p:grpSpPr>
        <a:xfrm>
          <a:off x="0" y="0"/>
          <a:ext cx="0" cy="0"/>
          <a:chOff x="0" y="0"/>
          <a:chExt cx="0" cy="0"/>
        </a:xfrm>
      </p:grpSpPr>
    </p:spTree>
    <p:extLst>
      <p:ext uri="{BB962C8B-B14F-4D97-AF65-F5344CB8AC3E}">
        <p14:creationId xmlns:p14="http://schemas.microsoft.com/office/powerpoint/2010/main" val="419649370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9402109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itleOnly">
  <p:cSld name="כותרת בלבד">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a:t>לחץ כדי לערוך סגנון כותרת של תבנית בסיס</a:t>
            </a:r>
          </a:p>
        </p:txBody>
      </p:sp>
      <p:sp>
        <p:nvSpPr>
          <p:cNvPr id="3" name="מציין מיקום של תאריך 2"/>
          <p:cNvSpPr>
            <a:spLocks noGrp="1"/>
          </p:cNvSpPr>
          <p:nvPr>
            <p:ph type="dt" sz="half" idx="10"/>
          </p:nvPr>
        </p:nvSpPr>
        <p:spPr/>
        <p:txBody>
          <a:bodyPr/>
          <a:lstStyle/>
          <a:p>
            <a:fld id="{50A7289E-A01B-4831-8F11-C8CCC0732A3D}" type="datetimeFigureOut">
              <a:rPr lang="he-IL" smtClean="0"/>
              <a:t>כ"א/אלול/תשפ"ד</a:t>
            </a:fld>
            <a:endParaRPr lang="he-IL"/>
          </a:p>
        </p:txBody>
      </p:sp>
      <p:sp>
        <p:nvSpPr>
          <p:cNvPr id="4" name="מציין מיקום של כותרת תחתונה 3"/>
          <p:cNvSpPr>
            <a:spLocks noGrp="1"/>
          </p:cNvSpPr>
          <p:nvPr>
            <p:ph type="ftr" sz="quarter" idx="11"/>
          </p:nvPr>
        </p:nvSpPr>
        <p:spPr/>
        <p:txBody>
          <a:bodyPr/>
          <a:lstStyle/>
          <a:p>
            <a:endParaRPr lang="he-IL"/>
          </a:p>
        </p:txBody>
      </p:sp>
      <p:sp>
        <p:nvSpPr>
          <p:cNvPr id="5" name="מציין מיקום של מספר שקופית 4"/>
          <p:cNvSpPr>
            <a:spLocks noGrp="1"/>
          </p:cNvSpPr>
          <p:nvPr>
            <p:ph type="sldNum" sz="quarter" idx="12"/>
          </p:nvPr>
        </p:nvSpPr>
        <p:spPr/>
        <p:txBody>
          <a:bodyPr/>
          <a:lstStyle/>
          <a:p>
            <a:fld id="{0BF2A8D9-E848-4F9E-A3AB-56F701107823}" type="slidenum">
              <a:rPr lang="he-IL" smtClean="0"/>
              <a:t>‹#›</a:t>
            </a:fld>
            <a:endParaRPr lang="he-IL"/>
          </a:p>
        </p:txBody>
      </p:sp>
    </p:spTree>
    <p:extLst>
      <p:ext uri="{BB962C8B-B14F-4D97-AF65-F5344CB8AC3E}">
        <p14:creationId xmlns:p14="http://schemas.microsoft.com/office/powerpoint/2010/main" val="262296230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347017054"/>
      </p:ext>
    </p:extLst>
  </p:cSld>
  <p:clrMapOvr>
    <a:masterClrMapping/>
  </p:clrMapOvr>
  <p:transition>
    <p:fade/>
  </p:transition>
  <p:hf hdr="0" dt="0"/>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cSld name="1_שקופית כותרת">
    <p:spTree>
      <p:nvGrpSpPr>
        <p:cNvPr id="1" name=""/>
        <p:cNvGrpSpPr/>
        <p:nvPr/>
      </p:nvGrpSpPr>
      <p:grpSpPr>
        <a:xfrm>
          <a:off x="0" y="0"/>
          <a:ext cx="0" cy="0"/>
          <a:chOff x="0" y="0"/>
          <a:chExt cx="0" cy="0"/>
        </a:xfrm>
      </p:grpSpPr>
      <p:sp>
        <p:nvSpPr>
          <p:cNvPr id="2" name="כותרת 1"/>
          <p:cNvSpPr>
            <a:spLocks noGrp="1"/>
          </p:cNvSpPr>
          <p:nvPr>
            <p:ph type="ctrTitle"/>
          </p:nvPr>
        </p:nvSpPr>
        <p:spPr>
          <a:xfrm>
            <a:off x="1524000" y="1122363"/>
            <a:ext cx="9144000" cy="2387600"/>
          </a:xfrm>
        </p:spPr>
        <p:txBody>
          <a:bodyPr anchor="b"/>
          <a:lstStyle>
            <a:lvl1pPr algn="ctr">
              <a:defRPr sz="6000"/>
            </a:lvl1pPr>
          </a:lstStyle>
          <a:p>
            <a:r>
              <a:rPr lang="he-IL"/>
              <a:t>לחץ כדי לערוך סגנון כותרת של תבנית בסיס</a:t>
            </a:r>
          </a:p>
        </p:txBody>
      </p:sp>
      <p:sp>
        <p:nvSpPr>
          <p:cNvPr id="3" name="כותרת משנה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he-IL"/>
              <a:t>לחץ כדי לערוך סגנון כותרת משנה של תבנית בסיס</a:t>
            </a:r>
          </a:p>
        </p:txBody>
      </p:sp>
      <p:sp>
        <p:nvSpPr>
          <p:cNvPr id="4" name="מציין מיקום של תאריך 3"/>
          <p:cNvSpPr>
            <a:spLocks noGrp="1"/>
          </p:cNvSpPr>
          <p:nvPr>
            <p:ph type="dt" sz="half" idx="10"/>
          </p:nvPr>
        </p:nvSpPr>
        <p:spPr/>
        <p:txBody>
          <a:bodyPr/>
          <a:lstStyle/>
          <a:p>
            <a:fld id="{A2B3D744-8BFC-49C4-921C-A4357DD28206}" type="datetimeFigureOut">
              <a:rPr lang="he-IL" smtClean="0"/>
              <a:t>כ"א/אלול/תשפ"ד</a:t>
            </a:fld>
            <a:endParaRPr lang="he-IL"/>
          </a:p>
        </p:txBody>
      </p:sp>
      <p:sp>
        <p:nvSpPr>
          <p:cNvPr id="5" name="מציין מיקום של כותרת תחתונה 4"/>
          <p:cNvSpPr>
            <a:spLocks noGrp="1"/>
          </p:cNvSpPr>
          <p:nvPr>
            <p:ph type="ftr" sz="quarter" idx="11"/>
          </p:nvPr>
        </p:nvSpPr>
        <p:spPr/>
        <p:txBody>
          <a:bodyPr/>
          <a:lstStyle/>
          <a:p>
            <a:endParaRPr lang="he-IL"/>
          </a:p>
        </p:txBody>
      </p:sp>
      <p:sp>
        <p:nvSpPr>
          <p:cNvPr id="6" name="מציין מיקום של מספר שקופית 5"/>
          <p:cNvSpPr>
            <a:spLocks noGrp="1"/>
          </p:cNvSpPr>
          <p:nvPr>
            <p:ph type="sldNum" sz="quarter" idx="12"/>
          </p:nvPr>
        </p:nvSpPr>
        <p:spPr/>
        <p:txBody>
          <a:bodyPr/>
          <a:lstStyle/>
          <a:p>
            <a:fld id="{C4BCB286-1E5E-4B02-A0C5-06BDEC1E2FA1}" type="slidenum">
              <a:rPr lang="he-IL" smtClean="0"/>
              <a:t>‹#›</a:t>
            </a:fld>
            <a:endParaRPr lang="he-IL"/>
          </a:p>
        </p:txBody>
      </p:sp>
    </p:spTree>
    <p:extLst>
      <p:ext uri="{BB962C8B-B14F-4D97-AF65-F5344CB8AC3E}">
        <p14:creationId xmlns:p14="http://schemas.microsoft.com/office/powerpoint/2010/main" val="3731323514"/>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userDrawn="1">
  <p:cSld name="white simp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he-IL"/>
          </a:p>
        </p:txBody>
      </p:sp>
      <p:sp>
        <p:nvSpPr>
          <p:cNvPr id="5" name="Slide Number Placeholder 4"/>
          <p:cNvSpPr>
            <a:spLocks noGrp="1"/>
          </p:cNvSpPr>
          <p:nvPr>
            <p:ph type="sldNum" sz="quarter" idx="12"/>
          </p:nvPr>
        </p:nvSpPr>
        <p:spPr/>
        <p:txBody>
          <a:bodyPr/>
          <a:lstStyle/>
          <a:p>
            <a:fld id="{18F36642-002E-4C98-915B-826072CB88D7}" type="slidenum">
              <a:rPr lang="he-IL" smtClean="0"/>
              <a:t>‹#›</a:t>
            </a:fld>
            <a:endParaRPr lang="he-IL"/>
          </a:p>
        </p:txBody>
      </p:sp>
      <p:cxnSp>
        <p:nvCxnSpPr>
          <p:cNvPr id="10" name="Straight Connector 9"/>
          <p:cNvCxnSpPr/>
          <p:nvPr userDrawn="1"/>
        </p:nvCxnSpPr>
        <p:spPr>
          <a:xfrm>
            <a:off x="12128248" y="478699"/>
            <a:ext cx="0" cy="708751"/>
          </a:xfrm>
          <a:prstGeom prst="line">
            <a:avLst/>
          </a:prstGeom>
          <a:ln w="1270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77213924"/>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F99CF2-FEF6-4884-93C8-66F225F8CA8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L"/>
          </a:p>
        </p:txBody>
      </p:sp>
      <p:sp>
        <p:nvSpPr>
          <p:cNvPr id="3" name="Subtitle 2">
            <a:extLst>
              <a:ext uri="{FF2B5EF4-FFF2-40B4-BE49-F238E27FC236}">
                <a16:creationId xmlns:a16="http://schemas.microsoft.com/office/drawing/2014/main" id="{CA27E841-C4FD-4FF1-B5CE-C23BBF8BAF2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L"/>
          </a:p>
        </p:txBody>
      </p:sp>
      <p:sp>
        <p:nvSpPr>
          <p:cNvPr id="4" name="Date Placeholder 3">
            <a:extLst>
              <a:ext uri="{FF2B5EF4-FFF2-40B4-BE49-F238E27FC236}">
                <a16:creationId xmlns:a16="http://schemas.microsoft.com/office/drawing/2014/main" id="{529F626F-0FD8-471F-B1A2-4AD1814BD785}"/>
              </a:ext>
            </a:extLst>
          </p:cNvPr>
          <p:cNvSpPr>
            <a:spLocks noGrp="1"/>
          </p:cNvSpPr>
          <p:nvPr>
            <p:ph type="dt" sz="half" idx="10"/>
          </p:nvPr>
        </p:nvSpPr>
        <p:spPr/>
        <p:txBody>
          <a:bodyPr/>
          <a:lstStyle/>
          <a:p>
            <a:fld id="{04C3C828-D965-4B22-85AA-AF24CD109DC9}" type="datetimeFigureOut">
              <a:rPr lang="en-IL" smtClean="0"/>
              <a:t>24/09/2024</a:t>
            </a:fld>
            <a:endParaRPr lang="en-IL"/>
          </a:p>
        </p:txBody>
      </p:sp>
      <p:sp>
        <p:nvSpPr>
          <p:cNvPr id="5" name="Footer Placeholder 4">
            <a:extLst>
              <a:ext uri="{FF2B5EF4-FFF2-40B4-BE49-F238E27FC236}">
                <a16:creationId xmlns:a16="http://schemas.microsoft.com/office/drawing/2014/main" id="{673202FC-3E7A-4509-8DDA-296BDCEB9E0B}"/>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BC88DB32-4651-4FF1-8118-B67BA5E0B474}"/>
              </a:ext>
            </a:extLst>
          </p:cNvPr>
          <p:cNvSpPr>
            <a:spLocks noGrp="1"/>
          </p:cNvSpPr>
          <p:nvPr>
            <p:ph type="sldNum" sz="quarter" idx="12"/>
          </p:nvPr>
        </p:nvSpPr>
        <p:spPr/>
        <p:txBody>
          <a:bodyPr/>
          <a:lstStyle/>
          <a:p>
            <a:fld id="{B77FEFEE-B59A-439F-87BA-08D2A83B568B}" type="slidenum">
              <a:rPr lang="en-IL" smtClean="0"/>
              <a:t>‹#›</a:t>
            </a:fld>
            <a:endParaRPr lang="en-IL"/>
          </a:p>
        </p:txBody>
      </p:sp>
    </p:spTree>
    <p:extLst>
      <p:ext uri="{BB962C8B-B14F-4D97-AF65-F5344CB8AC3E}">
        <p14:creationId xmlns:p14="http://schemas.microsoft.com/office/powerpoint/2010/main" val="1609189853"/>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6A157B-F0B1-469E-A1A6-A566A2C7C274}"/>
              </a:ext>
            </a:extLst>
          </p:cNvPr>
          <p:cNvSpPr>
            <a:spLocks noGrp="1"/>
          </p:cNvSpPr>
          <p:nvPr>
            <p:ph type="title"/>
          </p:nvPr>
        </p:nvSpPr>
        <p:spPr/>
        <p:txBody>
          <a:bodyPr/>
          <a:lstStyle/>
          <a:p>
            <a:r>
              <a:rPr lang="en-US"/>
              <a:t>Click to edit Master title style</a:t>
            </a:r>
            <a:endParaRPr lang="en-IL"/>
          </a:p>
        </p:txBody>
      </p:sp>
      <p:sp>
        <p:nvSpPr>
          <p:cNvPr id="3" name="Content Placeholder 2">
            <a:extLst>
              <a:ext uri="{FF2B5EF4-FFF2-40B4-BE49-F238E27FC236}">
                <a16:creationId xmlns:a16="http://schemas.microsoft.com/office/drawing/2014/main" id="{15DA1B4C-1061-4980-BF45-9B235DFB0EA8}"/>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Date Placeholder 3">
            <a:extLst>
              <a:ext uri="{FF2B5EF4-FFF2-40B4-BE49-F238E27FC236}">
                <a16:creationId xmlns:a16="http://schemas.microsoft.com/office/drawing/2014/main" id="{EAE248F3-B46F-4709-BD02-549F38A6687E}"/>
              </a:ext>
            </a:extLst>
          </p:cNvPr>
          <p:cNvSpPr>
            <a:spLocks noGrp="1"/>
          </p:cNvSpPr>
          <p:nvPr>
            <p:ph type="dt" sz="half" idx="10"/>
          </p:nvPr>
        </p:nvSpPr>
        <p:spPr/>
        <p:txBody>
          <a:bodyPr/>
          <a:lstStyle/>
          <a:p>
            <a:fld id="{04C3C828-D965-4B22-85AA-AF24CD109DC9}" type="datetimeFigureOut">
              <a:rPr lang="en-IL" smtClean="0"/>
              <a:t>24/09/2024</a:t>
            </a:fld>
            <a:endParaRPr lang="en-IL"/>
          </a:p>
        </p:txBody>
      </p:sp>
      <p:sp>
        <p:nvSpPr>
          <p:cNvPr id="5" name="Footer Placeholder 4">
            <a:extLst>
              <a:ext uri="{FF2B5EF4-FFF2-40B4-BE49-F238E27FC236}">
                <a16:creationId xmlns:a16="http://schemas.microsoft.com/office/drawing/2014/main" id="{F1BA0E69-7D9A-4CEB-A98E-7E4CB3929C40}"/>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2EA2E01A-DFE0-41AC-A8D1-D1BD1C79BAAA}"/>
              </a:ext>
            </a:extLst>
          </p:cNvPr>
          <p:cNvSpPr>
            <a:spLocks noGrp="1"/>
          </p:cNvSpPr>
          <p:nvPr>
            <p:ph type="sldNum" sz="quarter" idx="12"/>
          </p:nvPr>
        </p:nvSpPr>
        <p:spPr/>
        <p:txBody>
          <a:bodyPr/>
          <a:lstStyle/>
          <a:p>
            <a:fld id="{B77FEFEE-B59A-439F-87BA-08D2A83B568B}" type="slidenum">
              <a:rPr lang="en-IL" smtClean="0"/>
              <a:t>‹#›</a:t>
            </a:fld>
            <a:endParaRPr lang="en-IL"/>
          </a:p>
        </p:txBody>
      </p:sp>
    </p:spTree>
    <p:extLst>
      <p:ext uri="{BB962C8B-B14F-4D97-AF65-F5344CB8AC3E}">
        <p14:creationId xmlns:p14="http://schemas.microsoft.com/office/powerpoint/2010/main" val="3122211117"/>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F9B632-E142-4AD2-8801-0F2B830B1C1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L"/>
          </a:p>
        </p:txBody>
      </p:sp>
      <p:sp>
        <p:nvSpPr>
          <p:cNvPr id="3" name="Text Placeholder 2">
            <a:extLst>
              <a:ext uri="{FF2B5EF4-FFF2-40B4-BE49-F238E27FC236}">
                <a16:creationId xmlns:a16="http://schemas.microsoft.com/office/drawing/2014/main" id="{001C64EC-1599-48AD-84BE-1CD0F455F4D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ED0A8002-3169-476D-880A-CAFD35DD1D06}"/>
              </a:ext>
            </a:extLst>
          </p:cNvPr>
          <p:cNvSpPr>
            <a:spLocks noGrp="1"/>
          </p:cNvSpPr>
          <p:nvPr>
            <p:ph type="dt" sz="half" idx="10"/>
          </p:nvPr>
        </p:nvSpPr>
        <p:spPr/>
        <p:txBody>
          <a:bodyPr/>
          <a:lstStyle/>
          <a:p>
            <a:fld id="{04C3C828-D965-4B22-85AA-AF24CD109DC9}" type="datetimeFigureOut">
              <a:rPr lang="en-IL" smtClean="0"/>
              <a:t>24/09/2024</a:t>
            </a:fld>
            <a:endParaRPr lang="en-IL"/>
          </a:p>
        </p:txBody>
      </p:sp>
      <p:sp>
        <p:nvSpPr>
          <p:cNvPr id="5" name="Footer Placeholder 4">
            <a:extLst>
              <a:ext uri="{FF2B5EF4-FFF2-40B4-BE49-F238E27FC236}">
                <a16:creationId xmlns:a16="http://schemas.microsoft.com/office/drawing/2014/main" id="{B3C97634-C145-41AB-BCB8-676B9F11EE4D}"/>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4FF95CA2-F133-45DA-86A8-931CD91F11A4}"/>
              </a:ext>
            </a:extLst>
          </p:cNvPr>
          <p:cNvSpPr>
            <a:spLocks noGrp="1"/>
          </p:cNvSpPr>
          <p:nvPr>
            <p:ph type="sldNum" sz="quarter" idx="12"/>
          </p:nvPr>
        </p:nvSpPr>
        <p:spPr/>
        <p:txBody>
          <a:bodyPr/>
          <a:lstStyle/>
          <a:p>
            <a:fld id="{B77FEFEE-B59A-439F-87BA-08D2A83B568B}" type="slidenum">
              <a:rPr lang="en-IL" smtClean="0"/>
              <a:t>‹#›</a:t>
            </a:fld>
            <a:endParaRPr lang="en-IL"/>
          </a:p>
        </p:txBody>
      </p:sp>
    </p:spTree>
    <p:extLst>
      <p:ext uri="{BB962C8B-B14F-4D97-AF65-F5344CB8AC3E}">
        <p14:creationId xmlns:p14="http://schemas.microsoft.com/office/powerpoint/2010/main" val="350394030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1C7B1F-C30F-4EE1-80DE-DBBC31679109}"/>
              </a:ext>
            </a:extLst>
          </p:cNvPr>
          <p:cNvSpPr>
            <a:spLocks noGrp="1"/>
          </p:cNvSpPr>
          <p:nvPr>
            <p:ph type="title"/>
          </p:nvPr>
        </p:nvSpPr>
        <p:spPr/>
        <p:txBody>
          <a:bodyPr/>
          <a:lstStyle/>
          <a:p>
            <a:r>
              <a:rPr lang="en-US"/>
              <a:t>Click to edit Master title style</a:t>
            </a:r>
            <a:endParaRPr lang="en-IL"/>
          </a:p>
        </p:txBody>
      </p:sp>
      <p:sp>
        <p:nvSpPr>
          <p:cNvPr id="3" name="Content Placeholder 2">
            <a:extLst>
              <a:ext uri="{FF2B5EF4-FFF2-40B4-BE49-F238E27FC236}">
                <a16:creationId xmlns:a16="http://schemas.microsoft.com/office/drawing/2014/main" id="{CC4308DE-B05D-43F4-98DA-A6969522FCEB}"/>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Content Placeholder 3">
            <a:extLst>
              <a:ext uri="{FF2B5EF4-FFF2-40B4-BE49-F238E27FC236}">
                <a16:creationId xmlns:a16="http://schemas.microsoft.com/office/drawing/2014/main" id="{7FBE28E0-6D63-48F2-834B-1E312B20D52C}"/>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5" name="Date Placeholder 4">
            <a:extLst>
              <a:ext uri="{FF2B5EF4-FFF2-40B4-BE49-F238E27FC236}">
                <a16:creationId xmlns:a16="http://schemas.microsoft.com/office/drawing/2014/main" id="{7302A9FA-2298-45FF-B737-DEBD5DE12E54}"/>
              </a:ext>
            </a:extLst>
          </p:cNvPr>
          <p:cNvSpPr>
            <a:spLocks noGrp="1"/>
          </p:cNvSpPr>
          <p:nvPr>
            <p:ph type="dt" sz="half" idx="10"/>
          </p:nvPr>
        </p:nvSpPr>
        <p:spPr/>
        <p:txBody>
          <a:bodyPr/>
          <a:lstStyle/>
          <a:p>
            <a:fld id="{04C3C828-D965-4B22-85AA-AF24CD109DC9}" type="datetimeFigureOut">
              <a:rPr lang="en-IL" smtClean="0"/>
              <a:t>24/09/2024</a:t>
            </a:fld>
            <a:endParaRPr lang="en-IL"/>
          </a:p>
        </p:txBody>
      </p:sp>
      <p:sp>
        <p:nvSpPr>
          <p:cNvPr id="6" name="Footer Placeholder 5">
            <a:extLst>
              <a:ext uri="{FF2B5EF4-FFF2-40B4-BE49-F238E27FC236}">
                <a16:creationId xmlns:a16="http://schemas.microsoft.com/office/drawing/2014/main" id="{D5241A74-D5D7-4632-8552-E5F753F86246}"/>
              </a:ext>
            </a:extLst>
          </p:cNvPr>
          <p:cNvSpPr>
            <a:spLocks noGrp="1"/>
          </p:cNvSpPr>
          <p:nvPr>
            <p:ph type="ftr" sz="quarter" idx="11"/>
          </p:nvPr>
        </p:nvSpPr>
        <p:spPr/>
        <p:txBody>
          <a:bodyPr/>
          <a:lstStyle/>
          <a:p>
            <a:endParaRPr lang="en-IL"/>
          </a:p>
        </p:txBody>
      </p:sp>
      <p:sp>
        <p:nvSpPr>
          <p:cNvPr id="7" name="Slide Number Placeholder 6">
            <a:extLst>
              <a:ext uri="{FF2B5EF4-FFF2-40B4-BE49-F238E27FC236}">
                <a16:creationId xmlns:a16="http://schemas.microsoft.com/office/drawing/2014/main" id="{8B9EFADF-CFE9-4FF7-9703-F88186399E4B}"/>
              </a:ext>
            </a:extLst>
          </p:cNvPr>
          <p:cNvSpPr>
            <a:spLocks noGrp="1"/>
          </p:cNvSpPr>
          <p:nvPr>
            <p:ph type="sldNum" sz="quarter" idx="12"/>
          </p:nvPr>
        </p:nvSpPr>
        <p:spPr/>
        <p:txBody>
          <a:bodyPr/>
          <a:lstStyle/>
          <a:p>
            <a:fld id="{B77FEFEE-B59A-439F-87BA-08D2A83B568B}" type="slidenum">
              <a:rPr lang="en-IL" smtClean="0"/>
              <a:t>‹#›</a:t>
            </a:fld>
            <a:endParaRPr lang="en-IL"/>
          </a:p>
        </p:txBody>
      </p:sp>
    </p:spTree>
    <p:extLst>
      <p:ext uri="{BB962C8B-B14F-4D97-AF65-F5344CB8AC3E}">
        <p14:creationId xmlns:p14="http://schemas.microsoft.com/office/powerpoint/2010/main" val="1270968790"/>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BE3A2F-D0D5-4522-85DD-B17179181C9B}"/>
              </a:ext>
            </a:extLst>
          </p:cNvPr>
          <p:cNvSpPr>
            <a:spLocks noGrp="1"/>
          </p:cNvSpPr>
          <p:nvPr>
            <p:ph type="title"/>
          </p:nvPr>
        </p:nvSpPr>
        <p:spPr>
          <a:xfrm>
            <a:off x="839788" y="365125"/>
            <a:ext cx="10515600" cy="1325563"/>
          </a:xfrm>
        </p:spPr>
        <p:txBody>
          <a:bodyPr/>
          <a:lstStyle/>
          <a:p>
            <a:r>
              <a:rPr lang="en-US"/>
              <a:t>Click to edit Master title style</a:t>
            </a:r>
            <a:endParaRPr lang="en-IL"/>
          </a:p>
        </p:txBody>
      </p:sp>
      <p:sp>
        <p:nvSpPr>
          <p:cNvPr id="3" name="Text Placeholder 2">
            <a:extLst>
              <a:ext uri="{FF2B5EF4-FFF2-40B4-BE49-F238E27FC236}">
                <a16:creationId xmlns:a16="http://schemas.microsoft.com/office/drawing/2014/main" id="{F5F4B264-177E-4048-BE87-AE7838290A2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6E428566-E393-41F7-A1F4-106B2AA84D82}"/>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5" name="Text Placeholder 4">
            <a:extLst>
              <a:ext uri="{FF2B5EF4-FFF2-40B4-BE49-F238E27FC236}">
                <a16:creationId xmlns:a16="http://schemas.microsoft.com/office/drawing/2014/main" id="{5597F394-1D76-462F-A7D6-F1EBE7991D2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AE757361-AF4C-476A-BCB6-791948ADC163}"/>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7" name="Date Placeholder 6">
            <a:extLst>
              <a:ext uri="{FF2B5EF4-FFF2-40B4-BE49-F238E27FC236}">
                <a16:creationId xmlns:a16="http://schemas.microsoft.com/office/drawing/2014/main" id="{8BE7CBAC-968E-42A6-94EF-EEF800C6BBD3}"/>
              </a:ext>
            </a:extLst>
          </p:cNvPr>
          <p:cNvSpPr>
            <a:spLocks noGrp="1"/>
          </p:cNvSpPr>
          <p:nvPr>
            <p:ph type="dt" sz="half" idx="10"/>
          </p:nvPr>
        </p:nvSpPr>
        <p:spPr/>
        <p:txBody>
          <a:bodyPr/>
          <a:lstStyle/>
          <a:p>
            <a:fld id="{04C3C828-D965-4B22-85AA-AF24CD109DC9}" type="datetimeFigureOut">
              <a:rPr lang="en-IL" smtClean="0"/>
              <a:t>24/09/2024</a:t>
            </a:fld>
            <a:endParaRPr lang="en-IL"/>
          </a:p>
        </p:txBody>
      </p:sp>
      <p:sp>
        <p:nvSpPr>
          <p:cNvPr id="8" name="Footer Placeholder 7">
            <a:extLst>
              <a:ext uri="{FF2B5EF4-FFF2-40B4-BE49-F238E27FC236}">
                <a16:creationId xmlns:a16="http://schemas.microsoft.com/office/drawing/2014/main" id="{2758A626-55D2-463E-AAEC-569D4B9CCBA4}"/>
              </a:ext>
            </a:extLst>
          </p:cNvPr>
          <p:cNvSpPr>
            <a:spLocks noGrp="1"/>
          </p:cNvSpPr>
          <p:nvPr>
            <p:ph type="ftr" sz="quarter" idx="11"/>
          </p:nvPr>
        </p:nvSpPr>
        <p:spPr/>
        <p:txBody>
          <a:bodyPr/>
          <a:lstStyle/>
          <a:p>
            <a:endParaRPr lang="en-IL"/>
          </a:p>
        </p:txBody>
      </p:sp>
      <p:sp>
        <p:nvSpPr>
          <p:cNvPr id="9" name="Slide Number Placeholder 8">
            <a:extLst>
              <a:ext uri="{FF2B5EF4-FFF2-40B4-BE49-F238E27FC236}">
                <a16:creationId xmlns:a16="http://schemas.microsoft.com/office/drawing/2014/main" id="{D21E6598-8A49-4196-A24B-AD093A74F355}"/>
              </a:ext>
            </a:extLst>
          </p:cNvPr>
          <p:cNvSpPr>
            <a:spLocks noGrp="1"/>
          </p:cNvSpPr>
          <p:nvPr>
            <p:ph type="sldNum" sz="quarter" idx="12"/>
          </p:nvPr>
        </p:nvSpPr>
        <p:spPr/>
        <p:txBody>
          <a:bodyPr/>
          <a:lstStyle/>
          <a:p>
            <a:fld id="{B77FEFEE-B59A-439F-87BA-08D2A83B568B}" type="slidenum">
              <a:rPr lang="en-IL" smtClean="0"/>
              <a:t>‹#›</a:t>
            </a:fld>
            <a:endParaRPr lang="en-IL"/>
          </a:p>
        </p:txBody>
      </p:sp>
    </p:spTree>
    <p:extLst>
      <p:ext uri="{BB962C8B-B14F-4D97-AF65-F5344CB8AC3E}">
        <p14:creationId xmlns:p14="http://schemas.microsoft.com/office/powerpoint/2010/main" val="3582136215"/>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907402-AE6F-40E6-A490-C6B533420BDE}"/>
              </a:ext>
            </a:extLst>
          </p:cNvPr>
          <p:cNvSpPr>
            <a:spLocks noGrp="1"/>
          </p:cNvSpPr>
          <p:nvPr>
            <p:ph type="title"/>
          </p:nvPr>
        </p:nvSpPr>
        <p:spPr/>
        <p:txBody>
          <a:bodyPr/>
          <a:lstStyle/>
          <a:p>
            <a:r>
              <a:rPr lang="en-US"/>
              <a:t>Click to edit Master title style</a:t>
            </a:r>
            <a:endParaRPr lang="en-IL"/>
          </a:p>
        </p:txBody>
      </p:sp>
      <p:sp>
        <p:nvSpPr>
          <p:cNvPr id="3" name="Date Placeholder 2">
            <a:extLst>
              <a:ext uri="{FF2B5EF4-FFF2-40B4-BE49-F238E27FC236}">
                <a16:creationId xmlns:a16="http://schemas.microsoft.com/office/drawing/2014/main" id="{B409E7B1-10C3-47E5-991E-0A30BE89E94A}"/>
              </a:ext>
            </a:extLst>
          </p:cNvPr>
          <p:cNvSpPr>
            <a:spLocks noGrp="1"/>
          </p:cNvSpPr>
          <p:nvPr>
            <p:ph type="dt" sz="half" idx="10"/>
          </p:nvPr>
        </p:nvSpPr>
        <p:spPr/>
        <p:txBody>
          <a:bodyPr/>
          <a:lstStyle/>
          <a:p>
            <a:fld id="{04C3C828-D965-4B22-85AA-AF24CD109DC9}" type="datetimeFigureOut">
              <a:rPr lang="en-IL" smtClean="0"/>
              <a:t>24/09/2024</a:t>
            </a:fld>
            <a:endParaRPr lang="en-IL"/>
          </a:p>
        </p:txBody>
      </p:sp>
      <p:sp>
        <p:nvSpPr>
          <p:cNvPr id="4" name="Footer Placeholder 3">
            <a:extLst>
              <a:ext uri="{FF2B5EF4-FFF2-40B4-BE49-F238E27FC236}">
                <a16:creationId xmlns:a16="http://schemas.microsoft.com/office/drawing/2014/main" id="{3E2E2AF4-05BF-462F-82B3-8156C5166C14}"/>
              </a:ext>
            </a:extLst>
          </p:cNvPr>
          <p:cNvSpPr>
            <a:spLocks noGrp="1"/>
          </p:cNvSpPr>
          <p:nvPr>
            <p:ph type="ftr" sz="quarter" idx="11"/>
          </p:nvPr>
        </p:nvSpPr>
        <p:spPr/>
        <p:txBody>
          <a:bodyPr/>
          <a:lstStyle/>
          <a:p>
            <a:endParaRPr lang="en-IL"/>
          </a:p>
        </p:txBody>
      </p:sp>
      <p:sp>
        <p:nvSpPr>
          <p:cNvPr id="5" name="Slide Number Placeholder 4">
            <a:extLst>
              <a:ext uri="{FF2B5EF4-FFF2-40B4-BE49-F238E27FC236}">
                <a16:creationId xmlns:a16="http://schemas.microsoft.com/office/drawing/2014/main" id="{AD87C240-D7C7-4798-A9A8-873C8A32438B}"/>
              </a:ext>
            </a:extLst>
          </p:cNvPr>
          <p:cNvSpPr>
            <a:spLocks noGrp="1"/>
          </p:cNvSpPr>
          <p:nvPr>
            <p:ph type="sldNum" sz="quarter" idx="12"/>
          </p:nvPr>
        </p:nvSpPr>
        <p:spPr/>
        <p:txBody>
          <a:bodyPr/>
          <a:lstStyle/>
          <a:p>
            <a:fld id="{B77FEFEE-B59A-439F-87BA-08D2A83B568B}" type="slidenum">
              <a:rPr lang="en-IL" smtClean="0"/>
              <a:t>‹#›</a:t>
            </a:fld>
            <a:endParaRPr lang="en-IL"/>
          </a:p>
        </p:txBody>
      </p:sp>
    </p:spTree>
    <p:extLst>
      <p:ext uri="{BB962C8B-B14F-4D97-AF65-F5344CB8AC3E}">
        <p14:creationId xmlns:p14="http://schemas.microsoft.com/office/powerpoint/2010/main" val="1304381954"/>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8E467C9-466D-4974-A7C1-9E6F98524912}"/>
              </a:ext>
            </a:extLst>
          </p:cNvPr>
          <p:cNvSpPr>
            <a:spLocks noGrp="1"/>
          </p:cNvSpPr>
          <p:nvPr>
            <p:ph type="dt" sz="half" idx="10"/>
          </p:nvPr>
        </p:nvSpPr>
        <p:spPr/>
        <p:txBody>
          <a:bodyPr/>
          <a:lstStyle/>
          <a:p>
            <a:fld id="{04C3C828-D965-4B22-85AA-AF24CD109DC9}" type="datetimeFigureOut">
              <a:rPr lang="en-IL" smtClean="0"/>
              <a:t>24/09/2024</a:t>
            </a:fld>
            <a:endParaRPr lang="en-IL"/>
          </a:p>
        </p:txBody>
      </p:sp>
      <p:sp>
        <p:nvSpPr>
          <p:cNvPr id="3" name="Footer Placeholder 2">
            <a:extLst>
              <a:ext uri="{FF2B5EF4-FFF2-40B4-BE49-F238E27FC236}">
                <a16:creationId xmlns:a16="http://schemas.microsoft.com/office/drawing/2014/main" id="{6F491AED-FF97-467A-9C59-E08C094D89CB}"/>
              </a:ext>
            </a:extLst>
          </p:cNvPr>
          <p:cNvSpPr>
            <a:spLocks noGrp="1"/>
          </p:cNvSpPr>
          <p:nvPr>
            <p:ph type="ftr" sz="quarter" idx="11"/>
          </p:nvPr>
        </p:nvSpPr>
        <p:spPr/>
        <p:txBody>
          <a:bodyPr/>
          <a:lstStyle/>
          <a:p>
            <a:endParaRPr lang="en-IL"/>
          </a:p>
        </p:txBody>
      </p:sp>
      <p:sp>
        <p:nvSpPr>
          <p:cNvPr id="4" name="Slide Number Placeholder 3">
            <a:extLst>
              <a:ext uri="{FF2B5EF4-FFF2-40B4-BE49-F238E27FC236}">
                <a16:creationId xmlns:a16="http://schemas.microsoft.com/office/drawing/2014/main" id="{FFBB29AE-E94E-4CB8-9292-0E54DF3BFF67}"/>
              </a:ext>
            </a:extLst>
          </p:cNvPr>
          <p:cNvSpPr>
            <a:spLocks noGrp="1"/>
          </p:cNvSpPr>
          <p:nvPr>
            <p:ph type="sldNum" sz="quarter" idx="12"/>
          </p:nvPr>
        </p:nvSpPr>
        <p:spPr/>
        <p:txBody>
          <a:bodyPr/>
          <a:lstStyle/>
          <a:p>
            <a:fld id="{B77FEFEE-B59A-439F-87BA-08D2A83B568B}" type="slidenum">
              <a:rPr lang="en-IL" smtClean="0"/>
              <a:t>‹#›</a:t>
            </a:fld>
            <a:endParaRPr lang="en-IL"/>
          </a:p>
        </p:txBody>
      </p:sp>
    </p:spTree>
    <p:extLst>
      <p:ext uri="{BB962C8B-B14F-4D97-AF65-F5344CB8AC3E}">
        <p14:creationId xmlns:p14="http://schemas.microsoft.com/office/powerpoint/2010/main" val="2566880608"/>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E05CBB-2B55-4380-A219-C8823E2EC4D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L"/>
          </a:p>
        </p:txBody>
      </p:sp>
      <p:sp>
        <p:nvSpPr>
          <p:cNvPr id="3" name="Content Placeholder 2">
            <a:extLst>
              <a:ext uri="{FF2B5EF4-FFF2-40B4-BE49-F238E27FC236}">
                <a16:creationId xmlns:a16="http://schemas.microsoft.com/office/drawing/2014/main" id="{4A0E3ECE-61EA-455C-8AF7-73DA8CB1D0F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Text Placeholder 3">
            <a:extLst>
              <a:ext uri="{FF2B5EF4-FFF2-40B4-BE49-F238E27FC236}">
                <a16:creationId xmlns:a16="http://schemas.microsoft.com/office/drawing/2014/main" id="{E13FE761-5D1B-4F2F-8D7D-F65D579B99A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A64FE3B6-D29F-44E5-ACAC-3902BB946BE3}"/>
              </a:ext>
            </a:extLst>
          </p:cNvPr>
          <p:cNvSpPr>
            <a:spLocks noGrp="1"/>
          </p:cNvSpPr>
          <p:nvPr>
            <p:ph type="dt" sz="half" idx="10"/>
          </p:nvPr>
        </p:nvSpPr>
        <p:spPr/>
        <p:txBody>
          <a:bodyPr/>
          <a:lstStyle/>
          <a:p>
            <a:fld id="{04C3C828-D965-4B22-85AA-AF24CD109DC9}" type="datetimeFigureOut">
              <a:rPr lang="en-IL" smtClean="0"/>
              <a:t>24/09/2024</a:t>
            </a:fld>
            <a:endParaRPr lang="en-IL"/>
          </a:p>
        </p:txBody>
      </p:sp>
      <p:sp>
        <p:nvSpPr>
          <p:cNvPr id="6" name="Footer Placeholder 5">
            <a:extLst>
              <a:ext uri="{FF2B5EF4-FFF2-40B4-BE49-F238E27FC236}">
                <a16:creationId xmlns:a16="http://schemas.microsoft.com/office/drawing/2014/main" id="{7522D2EF-9EDB-4502-9E3A-0FF439D837C0}"/>
              </a:ext>
            </a:extLst>
          </p:cNvPr>
          <p:cNvSpPr>
            <a:spLocks noGrp="1"/>
          </p:cNvSpPr>
          <p:nvPr>
            <p:ph type="ftr" sz="quarter" idx="11"/>
          </p:nvPr>
        </p:nvSpPr>
        <p:spPr/>
        <p:txBody>
          <a:bodyPr/>
          <a:lstStyle/>
          <a:p>
            <a:endParaRPr lang="en-IL"/>
          </a:p>
        </p:txBody>
      </p:sp>
      <p:sp>
        <p:nvSpPr>
          <p:cNvPr id="7" name="Slide Number Placeholder 6">
            <a:extLst>
              <a:ext uri="{FF2B5EF4-FFF2-40B4-BE49-F238E27FC236}">
                <a16:creationId xmlns:a16="http://schemas.microsoft.com/office/drawing/2014/main" id="{CD1CBD61-3498-4452-8B9E-BF1286670B13}"/>
              </a:ext>
            </a:extLst>
          </p:cNvPr>
          <p:cNvSpPr>
            <a:spLocks noGrp="1"/>
          </p:cNvSpPr>
          <p:nvPr>
            <p:ph type="sldNum" sz="quarter" idx="12"/>
          </p:nvPr>
        </p:nvSpPr>
        <p:spPr/>
        <p:txBody>
          <a:bodyPr/>
          <a:lstStyle/>
          <a:p>
            <a:fld id="{B77FEFEE-B59A-439F-87BA-08D2A83B568B}" type="slidenum">
              <a:rPr lang="en-IL" smtClean="0"/>
              <a:t>‹#›</a:t>
            </a:fld>
            <a:endParaRPr lang="en-IL"/>
          </a:p>
        </p:txBody>
      </p:sp>
    </p:spTree>
    <p:extLst>
      <p:ext uri="{BB962C8B-B14F-4D97-AF65-F5344CB8AC3E}">
        <p14:creationId xmlns:p14="http://schemas.microsoft.com/office/powerpoint/2010/main" val="3291219776"/>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BF41B7-695C-44EB-87C2-E8BF68A39B8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L"/>
          </a:p>
        </p:txBody>
      </p:sp>
      <p:sp>
        <p:nvSpPr>
          <p:cNvPr id="3" name="Picture Placeholder 2">
            <a:extLst>
              <a:ext uri="{FF2B5EF4-FFF2-40B4-BE49-F238E27FC236}">
                <a16:creationId xmlns:a16="http://schemas.microsoft.com/office/drawing/2014/main" id="{6D7FABCF-7DCA-46FD-B86E-85C20942398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L"/>
          </a:p>
        </p:txBody>
      </p:sp>
      <p:sp>
        <p:nvSpPr>
          <p:cNvPr id="4" name="Text Placeholder 3">
            <a:extLst>
              <a:ext uri="{FF2B5EF4-FFF2-40B4-BE49-F238E27FC236}">
                <a16:creationId xmlns:a16="http://schemas.microsoft.com/office/drawing/2014/main" id="{35DCE2D2-9976-4EF9-81D3-3FEF21A0DC8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6201DECC-0B21-4C72-B8BC-0BAF59E88A2A}"/>
              </a:ext>
            </a:extLst>
          </p:cNvPr>
          <p:cNvSpPr>
            <a:spLocks noGrp="1"/>
          </p:cNvSpPr>
          <p:nvPr>
            <p:ph type="dt" sz="half" idx="10"/>
          </p:nvPr>
        </p:nvSpPr>
        <p:spPr/>
        <p:txBody>
          <a:bodyPr/>
          <a:lstStyle/>
          <a:p>
            <a:fld id="{04C3C828-D965-4B22-85AA-AF24CD109DC9}" type="datetimeFigureOut">
              <a:rPr lang="en-IL" smtClean="0"/>
              <a:t>24/09/2024</a:t>
            </a:fld>
            <a:endParaRPr lang="en-IL"/>
          </a:p>
        </p:txBody>
      </p:sp>
      <p:sp>
        <p:nvSpPr>
          <p:cNvPr id="6" name="Footer Placeholder 5">
            <a:extLst>
              <a:ext uri="{FF2B5EF4-FFF2-40B4-BE49-F238E27FC236}">
                <a16:creationId xmlns:a16="http://schemas.microsoft.com/office/drawing/2014/main" id="{D76E5287-1D16-4D95-B9C8-AE870CEB9137}"/>
              </a:ext>
            </a:extLst>
          </p:cNvPr>
          <p:cNvSpPr>
            <a:spLocks noGrp="1"/>
          </p:cNvSpPr>
          <p:nvPr>
            <p:ph type="ftr" sz="quarter" idx="11"/>
          </p:nvPr>
        </p:nvSpPr>
        <p:spPr/>
        <p:txBody>
          <a:bodyPr/>
          <a:lstStyle/>
          <a:p>
            <a:endParaRPr lang="en-IL"/>
          </a:p>
        </p:txBody>
      </p:sp>
      <p:sp>
        <p:nvSpPr>
          <p:cNvPr id="7" name="Slide Number Placeholder 6">
            <a:extLst>
              <a:ext uri="{FF2B5EF4-FFF2-40B4-BE49-F238E27FC236}">
                <a16:creationId xmlns:a16="http://schemas.microsoft.com/office/drawing/2014/main" id="{00948362-DB3C-46E9-9C06-7849BA318C25}"/>
              </a:ext>
            </a:extLst>
          </p:cNvPr>
          <p:cNvSpPr>
            <a:spLocks noGrp="1"/>
          </p:cNvSpPr>
          <p:nvPr>
            <p:ph type="sldNum" sz="quarter" idx="12"/>
          </p:nvPr>
        </p:nvSpPr>
        <p:spPr/>
        <p:txBody>
          <a:bodyPr/>
          <a:lstStyle/>
          <a:p>
            <a:fld id="{B77FEFEE-B59A-439F-87BA-08D2A83B568B}" type="slidenum">
              <a:rPr lang="en-IL" smtClean="0"/>
              <a:t>‹#›</a:t>
            </a:fld>
            <a:endParaRPr lang="en-IL"/>
          </a:p>
        </p:txBody>
      </p:sp>
    </p:spTree>
    <p:extLst>
      <p:ext uri="{BB962C8B-B14F-4D97-AF65-F5344CB8AC3E}">
        <p14:creationId xmlns:p14="http://schemas.microsoft.com/office/powerpoint/2010/main" val="2227881328"/>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CBB271-1F80-4357-B2D5-8DDA4869D5A5}"/>
              </a:ext>
            </a:extLst>
          </p:cNvPr>
          <p:cNvSpPr>
            <a:spLocks noGrp="1"/>
          </p:cNvSpPr>
          <p:nvPr>
            <p:ph type="title"/>
          </p:nvPr>
        </p:nvSpPr>
        <p:spPr/>
        <p:txBody>
          <a:bodyPr/>
          <a:lstStyle/>
          <a:p>
            <a:r>
              <a:rPr lang="en-US"/>
              <a:t>Click to edit Master title style</a:t>
            </a:r>
            <a:endParaRPr lang="en-IL"/>
          </a:p>
        </p:txBody>
      </p:sp>
      <p:sp>
        <p:nvSpPr>
          <p:cNvPr id="3" name="Vertical Text Placeholder 2">
            <a:extLst>
              <a:ext uri="{FF2B5EF4-FFF2-40B4-BE49-F238E27FC236}">
                <a16:creationId xmlns:a16="http://schemas.microsoft.com/office/drawing/2014/main" id="{72B5A0E6-144E-4B65-8DEF-96839D4D91B7}"/>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Date Placeholder 3">
            <a:extLst>
              <a:ext uri="{FF2B5EF4-FFF2-40B4-BE49-F238E27FC236}">
                <a16:creationId xmlns:a16="http://schemas.microsoft.com/office/drawing/2014/main" id="{6E57867C-9033-4B15-A0CF-A50B3B164324}"/>
              </a:ext>
            </a:extLst>
          </p:cNvPr>
          <p:cNvSpPr>
            <a:spLocks noGrp="1"/>
          </p:cNvSpPr>
          <p:nvPr>
            <p:ph type="dt" sz="half" idx="10"/>
          </p:nvPr>
        </p:nvSpPr>
        <p:spPr/>
        <p:txBody>
          <a:bodyPr/>
          <a:lstStyle/>
          <a:p>
            <a:fld id="{04C3C828-D965-4B22-85AA-AF24CD109DC9}" type="datetimeFigureOut">
              <a:rPr lang="en-IL" smtClean="0"/>
              <a:t>24/09/2024</a:t>
            </a:fld>
            <a:endParaRPr lang="en-IL"/>
          </a:p>
        </p:txBody>
      </p:sp>
      <p:sp>
        <p:nvSpPr>
          <p:cNvPr id="5" name="Footer Placeholder 4">
            <a:extLst>
              <a:ext uri="{FF2B5EF4-FFF2-40B4-BE49-F238E27FC236}">
                <a16:creationId xmlns:a16="http://schemas.microsoft.com/office/drawing/2014/main" id="{4DD80DC4-82B1-4E37-BA18-D3AC56738377}"/>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0D85E84C-8517-44AE-9B6A-25C446659E65}"/>
              </a:ext>
            </a:extLst>
          </p:cNvPr>
          <p:cNvSpPr>
            <a:spLocks noGrp="1"/>
          </p:cNvSpPr>
          <p:nvPr>
            <p:ph type="sldNum" sz="quarter" idx="12"/>
          </p:nvPr>
        </p:nvSpPr>
        <p:spPr/>
        <p:txBody>
          <a:bodyPr/>
          <a:lstStyle/>
          <a:p>
            <a:fld id="{B77FEFEE-B59A-439F-87BA-08D2A83B568B}" type="slidenum">
              <a:rPr lang="en-IL" smtClean="0"/>
              <a:t>‹#›</a:t>
            </a:fld>
            <a:endParaRPr lang="en-IL"/>
          </a:p>
        </p:txBody>
      </p:sp>
    </p:spTree>
    <p:extLst>
      <p:ext uri="{BB962C8B-B14F-4D97-AF65-F5344CB8AC3E}">
        <p14:creationId xmlns:p14="http://schemas.microsoft.com/office/powerpoint/2010/main" val="765473924"/>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B84C7B9-949D-49B1-9E84-5E134665E21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L"/>
          </a:p>
        </p:txBody>
      </p:sp>
      <p:sp>
        <p:nvSpPr>
          <p:cNvPr id="3" name="Vertical Text Placeholder 2">
            <a:extLst>
              <a:ext uri="{FF2B5EF4-FFF2-40B4-BE49-F238E27FC236}">
                <a16:creationId xmlns:a16="http://schemas.microsoft.com/office/drawing/2014/main" id="{DA6F19A2-2188-418F-805F-804309C6E5E8}"/>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Date Placeholder 3">
            <a:extLst>
              <a:ext uri="{FF2B5EF4-FFF2-40B4-BE49-F238E27FC236}">
                <a16:creationId xmlns:a16="http://schemas.microsoft.com/office/drawing/2014/main" id="{4428A66D-F6EC-4A88-9983-D809BF714AF2}"/>
              </a:ext>
            </a:extLst>
          </p:cNvPr>
          <p:cNvSpPr>
            <a:spLocks noGrp="1"/>
          </p:cNvSpPr>
          <p:nvPr>
            <p:ph type="dt" sz="half" idx="10"/>
          </p:nvPr>
        </p:nvSpPr>
        <p:spPr/>
        <p:txBody>
          <a:bodyPr/>
          <a:lstStyle/>
          <a:p>
            <a:fld id="{04C3C828-D965-4B22-85AA-AF24CD109DC9}" type="datetimeFigureOut">
              <a:rPr lang="en-IL" smtClean="0"/>
              <a:t>24/09/2024</a:t>
            </a:fld>
            <a:endParaRPr lang="en-IL"/>
          </a:p>
        </p:txBody>
      </p:sp>
      <p:sp>
        <p:nvSpPr>
          <p:cNvPr id="5" name="Footer Placeholder 4">
            <a:extLst>
              <a:ext uri="{FF2B5EF4-FFF2-40B4-BE49-F238E27FC236}">
                <a16:creationId xmlns:a16="http://schemas.microsoft.com/office/drawing/2014/main" id="{095C6FCE-5E02-4FD1-9DDA-525E0E4A62F0}"/>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22D5D6E4-8D20-4A65-8E01-D8857D56B232}"/>
              </a:ext>
            </a:extLst>
          </p:cNvPr>
          <p:cNvSpPr>
            <a:spLocks noGrp="1"/>
          </p:cNvSpPr>
          <p:nvPr>
            <p:ph type="sldNum" sz="quarter" idx="12"/>
          </p:nvPr>
        </p:nvSpPr>
        <p:spPr/>
        <p:txBody>
          <a:bodyPr/>
          <a:lstStyle/>
          <a:p>
            <a:fld id="{B77FEFEE-B59A-439F-87BA-08D2A83B568B}" type="slidenum">
              <a:rPr lang="en-IL" smtClean="0"/>
              <a:t>‹#›</a:t>
            </a:fld>
            <a:endParaRPr lang="en-IL"/>
          </a:p>
        </p:txBody>
      </p:sp>
    </p:spTree>
    <p:extLst>
      <p:ext uri="{BB962C8B-B14F-4D97-AF65-F5344CB8AC3E}">
        <p14:creationId xmlns:p14="http://schemas.microsoft.com/office/powerpoint/2010/main" val="3209994292"/>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userDrawn="1">
  <p:cSld name="כותרת ותוכן">
    <p:spTree>
      <p:nvGrpSpPr>
        <p:cNvPr id="1" name=""/>
        <p:cNvGrpSpPr/>
        <p:nvPr/>
      </p:nvGrpSpPr>
      <p:grpSpPr>
        <a:xfrm>
          <a:off x="0" y="0"/>
          <a:ext cx="0" cy="0"/>
          <a:chOff x="0" y="0"/>
          <a:chExt cx="0" cy="0"/>
        </a:xfrm>
      </p:grpSpPr>
    </p:spTree>
    <p:extLst>
      <p:ext uri="{BB962C8B-B14F-4D97-AF65-F5344CB8AC3E}">
        <p14:creationId xmlns:p14="http://schemas.microsoft.com/office/powerpoint/2010/main" val="3867470979"/>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userDrawn="1">
  <p:cSld name="שקופית כותרת">
    <p:spTree>
      <p:nvGrpSpPr>
        <p:cNvPr id="1" name=""/>
        <p:cNvGrpSpPr/>
        <p:nvPr/>
      </p:nvGrpSpPr>
      <p:grpSpPr>
        <a:xfrm>
          <a:off x="0" y="0"/>
          <a:ext cx="0" cy="0"/>
          <a:chOff x="0" y="0"/>
          <a:chExt cx="0" cy="0"/>
        </a:xfrm>
      </p:grpSpPr>
      <p:pic>
        <p:nvPicPr>
          <p:cNvPr id="2" name="Picture 3" descr="קובץ:Ministry of Labor, Social Affairs and Social Services ...">
            <a:extLst>
              <a:ext uri="{FF2B5EF4-FFF2-40B4-BE49-F238E27FC236}">
                <a16:creationId xmlns:a16="http://schemas.microsoft.com/office/drawing/2014/main" id="{A33C2765-E215-468E-A877-F2295A9F57E3}"/>
              </a:ext>
            </a:extLst>
          </p:cNvPr>
          <p:cNvPicPr>
            <a:picLocks noChangeAspect="1" noChangeArrowheads="1"/>
          </p:cNvPicPr>
          <p:nvPr userDrawn="1"/>
        </p:nvPicPr>
        <p:blipFill>
          <a:blip r:embed="rId2" cstate="email">
            <a:extLst>
              <a:ext uri="{28A0092B-C50C-407E-A947-70E740481C1C}">
                <a14:useLocalDpi xmlns:a14="http://schemas.microsoft.com/office/drawing/2010/main"/>
              </a:ext>
            </a:extLst>
          </a:blip>
          <a:srcRect/>
          <a:stretch>
            <a:fillRect/>
          </a:stretch>
        </p:blipFill>
        <p:spPr bwMode="auto">
          <a:xfrm>
            <a:off x="232795" y="147514"/>
            <a:ext cx="1450862" cy="3955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09035402"/>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324977921"/>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cSld name="Title + 3 columns">
    <p:spTree>
      <p:nvGrpSpPr>
        <p:cNvPr id="1" name="Shape 57"/>
        <p:cNvGrpSpPr/>
        <p:nvPr/>
      </p:nvGrpSpPr>
      <p:grpSpPr>
        <a:xfrm>
          <a:off x="0" y="0"/>
          <a:ext cx="0" cy="0"/>
          <a:chOff x="0" y="0"/>
          <a:chExt cx="0" cy="0"/>
        </a:xfrm>
      </p:grpSpPr>
      <p:sp>
        <p:nvSpPr>
          <p:cNvPr id="64" name="Shape 64"/>
          <p:cNvSpPr txBox="1">
            <a:spLocks noGrp="1"/>
          </p:cNvSpPr>
          <p:nvPr>
            <p:ph type="title"/>
          </p:nvPr>
        </p:nvSpPr>
        <p:spPr>
          <a:xfrm>
            <a:off x="609600" y="751065"/>
            <a:ext cx="7068400" cy="970400"/>
          </a:xfrm>
          <a:prstGeom prst="rect">
            <a:avLst/>
          </a:prstGeom>
        </p:spPr>
        <p:txBody>
          <a:bodyPr lIns="91425" tIns="91425" rIns="91425" bIns="91425" anchor="b" anchorCtr="0"/>
          <a:lstStyle>
            <a:lvl1pPr lvl="0" rtl="0">
              <a:spcBef>
                <a:spcPts val="0"/>
              </a:spcBef>
              <a:defRPr/>
            </a:lvl1pPr>
            <a:lvl2pPr lvl="1" rtl="0">
              <a:spcBef>
                <a:spcPts val="0"/>
              </a:spcBef>
              <a:defRPr/>
            </a:lvl2pPr>
            <a:lvl3pPr lvl="2" rtl="0">
              <a:spcBef>
                <a:spcPts val="0"/>
              </a:spcBef>
              <a:defRPr/>
            </a:lvl3pPr>
            <a:lvl4pPr lvl="3" rtl="0">
              <a:spcBef>
                <a:spcPts val="0"/>
              </a:spcBef>
              <a:defRPr/>
            </a:lvl4pPr>
            <a:lvl5pPr lvl="4" rtl="0">
              <a:spcBef>
                <a:spcPts val="0"/>
              </a:spcBef>
              <a:defRPr/>
            </a:lvl5pPr>
            <a:lvl6pPr lvl="5" rtl="0">
              <a:spcBef>
                <a:spcPts val="0"/>
              </a:spcBef>
              <a:defRPr/>
            </a:lvl6pPr>
            <a:lvl7pPr lvl="6" rtl="0">
              <a:spcBef>
                <a:spcPts val="0"/>
              </a:spcBef>
              <a:defRPr/>
            </a:lvl7pPr>
            <a:lvl8pPr lvl="7" rtl="0">
              <a:spcBef>
                <a:spcPts val="0"/>
              </a:spcBef>
              <a:defRPr/>
            </a:lvl8pPr>
            <a:lvl9pPr lvl="8" rtl="0">
              <a:spcBef>
                <a:spcPts val="0"/>
              </a:spcBef>
              <a:defRPr/>
            </a:lvl9pPr>
          </a:lstStyle>
          <a:p>
            <a:endParaRPr/>
          </a:p>
        </p:txBody>
      </p:sp>
      <p:sp>
        <p:nvSpPr>
          <p:cNvPr id="65" name="Shape 65"/>
          <p:cNvSpPr txBox="1">
            <a:spLocks noGrp="1"/>
          </p:cNvSpPr>
          <p:nvPr>
            <p:ph type="body" idx="1"/>
          </p:nvPr>
        </p:nvSpPr>
        <p:spPr>
          <a:xfrm>
            <a:off x="609600" y="1879333"/>
            <a:ext cx="2278400" cy="4483600"/>
          </a:xfrm>
          <a:prstGeom prst="rect">
            <a:avLst/>
          </a:prstGeom>
        </p:spPr>
        <p:txBody>
          <a:bodyPr lIns="91425" tIns="91425" rIns="91425" bIns="91425" anchor="t" anchorCtr="0"/>
          <a:lstStyle>
            <a:lvl1pPr lvl="0" rtl="0">
              <a:spcBef>
                <a:spcPts val="0"/>
              </a:spcBef>
              <a:buSzPct val="100000"/>
              <a:defRPr sz="1867"/>
            </a:lvl1pPr>
            <a:lvl2pPr lvl="1" rtl="0">
              <a:spcBef>
                <a:spcPts val="0"/>
              </a:spcBef>
              <a:buSzPct val="100000"/>
              <a:defRPr sz="1867"/>
            </a:lvl2pPr>
            <a:lvl3pPr lvl="2" rtl="0">
              <a:spcBef>
                <a:spcPts val="0"/>
              </a:spcBef>
              <a:buSzPct val="100000"/>
              <a:defRPr sz="1867"/>
            </a:lvl3pPr>
            <a:lvl4pPr lvl="3" rtl="0">
              <a:spcBef>
                <a:spcPts val="0"/>
              </a:spcBef>
              <a:buSzPct val="100000"/>
              <a:defRPr sz="1867"/>
            </a:lvl4pPr>
            <a:lvl5pPr lvl="4" rtl="0">
              <a:spcBef>
                <a:spcPts val="0"/>
              </a:spcBef>
              <a:buSzPct val="100000"/>
              <a:defRPr sz="1867"/>
            </a:lvl5pPr>
            <a:lvl6pPr lvl="5" rtl="0">
              <a:spcBef>
                <a:spcPts val="0"/>
              </a:spcBef>
              <a:buSzPct val="100000"/>
              <a:defRPr sz="1867"/>
            </a:lvl6pPr>
            <a:lvl7pPr lvl="6" rtl="0">
              <a:spcBef>
                <a:spcPts val="0"/>
              </a:spcBef>
              <a:buSzPct val="100000"/>
              <a:defRPr sz="1867"/>
            </a:lvl7pPr>
            <a:lvl8pPr lvl="7" rtl="0">
              <a:spcBef>
                <a:spcPts val="0"/>
              </a:spcBef>
              <a:buSzPct val="100000"/>
              <a:defRPr sz="1867"/>
            </a:lvl8pPr>
            <a:lvl9pPr lvl="8" rtl="0">
              <a:spcBef>
                <a:spcPts val="0"/>
              </a:spcBef>
              <a:buSzPct val="100000"/>
              <a:defRPr sz="1867"/>
            </a:lvl9pPr>
          </a:lstStyle>
          <a:p>
            <a:endParaRPr/>
          </a:p>
        </p:txBody>
      </p:sp>
      <p:sp>
        <p:nvSpPr>
          <p:cNvPr id="66" name="Shape 66"/>
          <p:cNvSpPr txBox="1">
            <a:spLocks noGrp="1"/>
          </p:cNvSpPr>
          <p:nvPr>
            <p:ph type="body" idx="2"/>
          </p:nvPr>
        </p:nvSpPr>
        <p:spPr>
          <a:xfrm>
            <a:off x="3004649" y="1879333"/>
            <a:ext cx="2278400" cy="4483600"/>
          </a:xfrm>
          <a:prstGeom prst="rect">
            <a:avLst/>
          </a:prstGeom>
        </p:spPr>
        <p:txBody>
          <a:bodyPr lIns="91425" tIns="91425" rIns="91425" bIns="91425" anchor="t" anchorCtr="0"/>
          <a:lstStyle>
            <a:lvl1pPr lvl="0" rtl="0">
              <a:spcBef>
                <a:spcPts val="0"/>
              </a:spcBef>
              <a:buSzPct val="100000"/>
              <a:defRPr sz="1867"/>
            </a:lvl1pPr>
            <a:lvl2pPr lvl="1" rtl="0">
              <a:spcBef>
                <a:spcPts val="0"/>
              </a:spcBef>
              <a:buSzPct val="100000"/>
              <a:defRPr sz="1867"/>
            </a:lvl2pPr>
            <a:lvl3pPr lvl="2" rtl="0">
              <a:spcBef>
                <a:spcPts val="0"/>
              </a:spcBef>
              <a:buSzPct val="100000"/>
              <a:defRPr sz="1867"/>
            </a:lvl3pPr>
            <a:lvl4pPr lvl="3" rtl="0">
              <a:spcBef>
                <a:spcPts val="0"/>
              </a:spcBef>
              <a:buSzPct val="100000"/>
              <a:defRPr sz="1867"/>
            </a:lvl4pPr>
            <a:lvl5pPr lvl="4" rtl="0">
              <a:spcBef>
                <a:spcPts val="0"/>
              </a:spcBef>
              <a:buSzPct val="100000"/>
              <a:defRPr sz="1867"/>
            </a:lvl5pPr>
            <a:lvl6pPr lvl="5" rtl="0">
              <a:spcBef>
                <a:spcPts val="0"/>
              </a:spcBef>
              <a:buSzPct val="100000"/>
              <a:defRPr sz="1867"/>
            </a:lvl6pPr>
            <a:lvl7pPr lvl="6" rtl="0">
              <a:spcBef>
                <a:spcPts val="0"/>
              </a:spcBef>
              <a:buSzPct val="100000"/>
              <a:defRPr sz="1867"/>
            </a:lvl7pPr>
            <a:lvl8pPr lvl="7" rtl="0">
              <a:spcBef>
                <a:spcPts val="0"/>
              </a:spcBef>
              <a:buSzPct val="100000"/>
              <a:defRPr sz="1867"/>
            </a:lvl8pPr>
            <a:lvl9pPr lvl="8" rtl="0">
              <a:spcBef>
                <a:spcPts val="0"/>
              </a:spcBef>
              <a:buSzPct val="100000"/>
              <a:defRPr sz="1867"/>
            </a:lvl9pPr>
          </a:lstStyle>
          <a:p>
            <a:endParaRPr/>
          </a:p>
        </p:txBody>
      </p:sp>
      <p:sp>
        <p:nvSpPr>
          <p:cNvPr id="67" name="Shape 67"/>
          <p:cNvSpPr txBox="1">
            <a:spLocks noGrp="1"/>
          </p:cNvSpPr>
          <p:nvPr>
            <p:ph type="body" idx="3"/>
          </p:nvPr>
        </p:nvSpPr>
        <p:spPr>
          <a:xfrm>
            <a:off x="5399699" y="1879333"/>
            <a:ext cx="2278400" cy="4483600"/>
          </a:xfrm>
          <a:prstGeom prst="rect">
            <a:avLst/>
          </a:prstGeom>
        </p:spPr>
        <p:txBody>
          <a:bodyPr lIns="91425" tIns="91425" rIns="91425" bIns="91425" anchor="t" anchorCtr="0"/>
          <a:lstStyle>
            <a:lvl1pPr lvl="0" rtl="0">
              <a:spcBef>
                <a:spcPts val="0"/>
              </a:spcBef>
              <a:buSzPct val="100000"/>
              <a:defRPr sz="1867"/>
            </a:lvl1pPr>
            <a:lvl2pPr lvl="1" rtl="0">
              <a:spcBef>
                <a:spcPts val="0"/>
              </a:spcBef>
              <a:buSzPct val="100000"/>
              <a:defRPr sz="1867"/>
            </a:lvl2pPr>
            <a:lvl3pPr lvl="2" rtl="0">
              <a:spcBef>
                <a:spcPts val="0"/>
              </a:spcBef>
              <a:buSzPct val="100000"/>
              <a:defRPr sz="1867"/>
            </a:lvl3pPr>
            <a:lvl4pPr lvl="3" rtl="0">
              <a:spcBef>
                <a:spcPts val="0"/>
              </a:spcBef>
              <a:buSzPct val="100000"/>
              <a:defRPr sz="1867"/>
            </a:lvl4pPr>
            <a:lvl5pPr lvl="4" rtl="0">
              <a:spcBef>
                <a:spcPts val="0"/>
              </a:spcBef>
              <a:buSzPct val="100000"/>
              <a:defRPr sz="1867"/>
            </a:lvl5pPr>
            <a:lvl6pPr lvl="5" rtl="0">
              <a:spcBef>
                <a:spcPts val="0"/>
              </a:spcBef>
              <a:buSzPct val="100000"/>
              <a:defRPr sz="1867"/>
            </a:lvl6pPr>
            <a:lvl7pPr lvl="6" rtl="0">
              <a:spcBef>
                <a:spcPts val="0"/>
              </a:spcBef>
              <a:buSzPct val="100000"/>
              <a:defRPr sz="1867"/>
            </a:lvl7pPr>
            <a:lvl8pPr lvl="7" rtl="0">
              <a:spcBef>
                <a:spcPts val="0"/>
              </a:spcBef>
              <a:buSzPct val="100000"/>
              <a:defRPr sz="1867"/>
            </a:lvl8pPr>
            <a:lvl9pPr lvl="8" rtl="0">
              <a:spcBef>
                <a:spcPts val="0"/>
              </a:spcBef>
              <a:buSzPct val="100000"/>
              <a:defRPr sz="1867"/>
            </a:lvl9pPr>
          </a:lstStyle>
          <a:p>
            <a:endParaRPr/>
          </a:p>
        </p:txBody>
      </p:sp>
      <p:sp>
        <p:nvSpPr>
          <p:cNvPr id="68" name="Shape 68"/>
          <p:cNvSpPr txBox="1">
            <a:spLocks noGrp="1"/>
          </p:cNvSpPr>
          <p:nvPr>
            <p:ph type="sldNum" idx="12"/>
          </p:nvPr>
        </p:nvSpPr>
        <p:spPr>
          <a:xfrm>
            <a:off x="7475044" y="6333133"/>
            <a:ext cx="731600" cy="524800"/>
          </a:xfrm>
          <a:prstGeom prst="rect">
            <a:avLst/>
          </a:prstGeom>
        </p:spPr>
        <p:txBody>
          <a:bodyPr lIns="91425" tIns="91425" rIns="91425" bIns="91425" anchor="ctr" anchorCtr="0">
            <a:noAutofit/>
          </a:bodyPr>
          <a:lstStyle/>
          <a:p>
            <a:fld id="{00000000-1234-1234-1234-123412341234}" type="slidenum">
              <a:rPr lang="en" smtClean="0"/>
              <a:pPr/>
              <a:t>‹#›</a:t>
            </a:fld>
            <a:endParaRPr lang="en"/>
          </a:p>
        </p:txBody>
      </p:sp>
    </p:spTree>
    <p:extLst>
      <p:ext uri="{BB962C8B-B14F-4D97-AF65-F5344CB8AC3E}">
        <p14:creationId xmlns:p14="http://schemas.microsoft.com/office/powerpoint/2010/main" val="880000827"/>
      </p:ext>
    </p:extLst>
  </p:cSld>
  <p:clrMapOvr>
    <a:masterClrMapping/>
  </p:clrMapOvr>
  <p:transition spd="slow">
    <p:wipe dir="r"/>
  </p:transition>
</p:sldLayout>
</file>

<file path=ppt/slideLayouts/slideLayout51.xml><?xml version="1.0" encoding="utf-8"?>
<p:sldLayout xmlns:a="http://schemas.openxmlformats.org/drawingml/2006/main" xmlns:r="http://schemas.openxmlformats.org/officeDocument/2006/relationships" xmlns:p="http://schemas.openxmlformats.org/presentationml/2006/main" userDrawn="1">
  <p:cSld name="Master Slide 1">
    <p:spTree>
      <p:nvGrpSpPr>
        <p:cNvPr id="1" name=""/>
        <p:cNvGrpSpPr/>
        <p:nvPr/>
      </p:nvGrpSpPr>
      <p:grpSpPr>
        <a:xfrm>
          <a:off x="0" y="0"/>
          <a:ext cx="0" cy="0"/>
          <a:chOff x="0" y="0"/>
          <a:chExt cx="0" cy="0"/>
        </a:xfrm>
      </p:grpSpPr>
    </p:spTree>
    <p:extLst>
      <p:ext uri="{BB962C8B-B14F-4D97-AF65-F5344CB8AC3E}">
        <p14:creationId xmlns:p14="http://schemas.microsoft.com/office/powerpoint/2010/main" val="4081534251"/>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matchingName="1_Title Slide">
  <p:cSld name="1_Title Slide">
    <p:spTree>
      <p:nvGrpSpPr>
        <p:cNvPr id="1" name="Shape 65"/>
        <p:cNvGrpSpPr/>
        <p:nvPr/>
      </p:nvGrpSpPr>
      <p:grpSpPr>
        <a:xfrm>
          <a:off x="0" y="0"/>
          <a:ext cx="0" cy="0"/>
          <a:chOff x="0" y="0"/>
          <a:chExt cx="0" cy="0"/>
        </a:xfrm>
      </p:grpSpPr>
    </p:spTree>
    <p:extLst>
      <p:ext uri="{BB962C8B-B14F-4D97-AF65-F5344CB8AC3E}">
        <p14:creationId xmlns:p14="http://schemas.microsoft.com/office/powerpoint/2010/main" val="1602466367"/>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matchingName="Title Only">
  <p:cSld name="1_Title Only">
    <p:spTree>
      <p:nvGrpSpPr>
        <p:cNvPr id="1" name="Shape 66"/>
        <p:cNvGrpSpPr/>
        <p:nvPr/>
      </p:nvGrpSpPr>
      <p:grpSpPr>
        <a:xfrm>
          <a:off x="0" y="0"/>
          <a:ext cx="0" cy="0"/>
          <a:chOff x="0" y="0"/>
          <a:chExt cx="0" cy="0"/>
        </a:xfrm>
      </p:grpSpPr>
    </p:spTree>
    <p:extLst>
      <p:ext uri="{BB962C8B-B14F-4D97-AF65-F5344CB8AC3E}">
        <p14:creationId xmlns:p14="http://schemas.microsoft.com/office/powerpoint/2010/main" val="4178989291"/>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title" preserve="1">
  <p:cSld name="שקופית כותרת">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5F8960FE-8B66-A323-86BA-D981384C3077}"/>
              </a:ext>
            </a:extLst>
          </p:cNvPr>
          <p:cNvSpPr>
            <a:spLocks noGrp="1"/>
          </p:cNvSpPr>
          <p:nvPr>
            <p:ph type="ctrTitle"/>
          </p:nvPr>
        </p:nvSpPr>
        <p:spPr>
          <a:xfrm>
            <a:off x="1524000" y="1122363"/>
            <a:ext cx="9144000" cy="2387600"/>
          </a:xfrm>
        </p:spPr>
        <p:txBody>
          <a:bodyPr anchor="b"/>
          <a:lstStyle>
            <a:lvl1pPr algn="ctr">
              <a:defRPr sz="6000"/>
            </a:lvl1pPr>
          </a:lstStyle>
          <a:p>
            <a:r>
              <a:rPr lang="he-IL"/>
              <a:t>לחץ כדי לערוך סגנון כותרת של תבנית בסיס</a:t>
            </a:r>
          </a:p>
        </p:txBody>
      </p:sp>
      <p:sp>
        <p:nvSpPr>
          <p:cNvPr id="3" name="כותרת משנה 2">
            <a:extLst>
              <a:ext uri="{FF2B5EF4-FFF2-40B4-BE49-F238E27FC236}">
                <a16:creationId xmlns:a16="http://schemas.microsoft.com/office/drawing/2014/main" id="{3772DE52-31AF-57C5-0625-43B5F30E219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he-IL"/>
              <a:t>לחץ כדי לערוך סגנון כותרת משנה של תבנית בסיס</a:t>
            </a:r>
          </a:p>
        </p:txBody>
      </p:sp>
      <p:sp>
        <p:nvSpPr>
          <p:cNvPr id="4" name="מציין מיקום של תאריך 3">
            <a:extLst>
              <a:ext uri="{FF2B5EF4-FFF2-40B4-BE49-F238E27FC236}">
                <a16:creationId xmlns:a16="http://schemas.microsoft.com/office/drawing/2014/main" id="{EA05AFBE-BAC2-E897-0393-FDB4C4567E0A}"/>
              </a:ext>
            </a:extLst>
          </p:cNvPr>
          <p:cNvSpPr>
            <a:spLocks noGrp="1"/>
          </p:cNvSpPr>
          <p:nvPr>
            <p:ph type="dt" sz="half" idx="10"/>
          </p:nvPr>
        </p:nvSpPr>
        <p:spPr/>
        <p:txBody>
          <a:bodyPr/>
          <a:lstStyle/>
          <a:p>
            <a:fld id="{C33EEBBC-ABA3-4986-BADD-25CEF1780B3F}" type="datetimeFigureOut">
              <a:rPr lang="en-IL" smtClean="0"/>
              <a:t>24/09/2024</a:t>
            </a:fld>
            <a:endParaRPr lang="en-IL"/>
          </a:p>
        </p:txBody>
      </p:sp>
      <p:sp>
        <p:nvSpPr>
          <p:cNvPr id="5" name="מציין מיקום של כותרת תחתונה 4">
            <a:extLst>
              <a:ext uri="{FF2B5EF4-FFF2-40B4-BE49-F238E27FC236}">
                <a16:creationId xmlns:a16="http://schemas.microsoft.com/office/drawing/2014/main" id="{F7544D20-C448-B144-73E3-80D56CEA9DC4}"/>
              </a:ext>
            </a:extLst>
          </p:cNvPr>
          <p:cNvSpPr>
            <a:spLocks noGrp="1"/>
          </p:cNvSpPr>
          <p:nvPr>
            <p:ph type="ftr" sz="quarter" idx="11"/>
          </p:nvPr>
        </p:nvSpPr>
        <p:spPr/>
        <p:txBody>
          <a:bodyPr/>
          <a:lstStyle/>
          <a:p>
            <a:endParaRPr lang="en-IL"/>
          </a:p>
        </p:txBody>
      </p:sp>
      <p:sp>
        <p:nvSpPr>
          <p:cNvPr id="6" name="מציין מיקום של מספר שקופית 5">
            <a:extLst>
              <a:ext uri="{FF2B5EF4-FFF2-40B4-BE49-F238E27FC236}">
                <a16:creationId xmlns:a16="http://schemas.microsoft.com/office/drawing/2014/main" id="{42FF19A4-94F3-DDCB-8734-1CDE1E4E219B}"/>
              </a:ext>
            </a:extLst>
          </p:cNvPr>
          <p:cNvSpPr>
            <a:spLocks noGrp="1"/>
          </p:cNvSpPr>
          <p:nvPr>
            <p:ph type="sldNum" sz="quarter" idx="12"/>
          </p:nvPr>
        </p:nvSpPr>
        <p:spPr/>
        <p:txBody>
          <a:bodyPr/>
          <a:lstStyle/>
          <a:p>
            <a:fld id="{7DDCA44E-2ADE-44FA-8298-8822ECEE41B1}" type="slidenum">
              <a:rPr lang="en-IL" smtClean="0"/>
              <a:t>‹#›</a:t>
            </a:fld>
            <a:endParaRPr lang="en-IL"/>
          </a:p>
        </p:txBody>
      </p:sp>
    </p:spTree>
    <p:extLst>
      <p:ext uri="{BB962C8B-B14F-4D97-AF65-F5344CB8AC3E}">
        <p14:creationId xmlns:p14="http://schemas.microsoft.com/office/powerpoint/2010/main" val="1087254642"/>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obj" preserve="1">
  <p:cSld name="כותרת ותוכן">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29BD2D93-FA70-3566-83D5-80058A7F0E55}"/>
              </a:ext>
            </a:extLst>
          </p:cNvPr>
          <p:cNvSpPr>
            <a:spLocks noGrp="1"/>
          </p:cNvSpPr>
          <p:nvPr>
            <p:ph type="title"/>
          </p:nvPr>
        </p:nvSpPr>
        <p:spPr/>
        <p:txBody>
          <a:bodyPr/>
          <a:lstStyle/>
          <a:p>
            <a:r>
              <a:rPr lang="he-IL"/>
              <a:t>לחץ כדי לערוך סגנון כותרת של תבנית בסיס</a:t>
            </a:r>
          </a:p>
        </p:txBody>
      </p:sp>
      <p:sp>
        <p:nvSpPr>
          <p:cNvPr id="3" name="מציין מיקום תוכן 2">
            <a:extLst>
              <a:ext uri="{FF2B5EF4-FFF2-40B4-BE49-F238E27FC236}">
                <a16:creationId xmlns:a16="http://schemas.microsoft.com/office/drawing/2014/main" id="{5C15BB50-7716-C625-696D-0A0E05D3B8A4}"/>
              </a:ext>
            </a:extLst>
          </p:cNvPr>
          <p:cNvSpPr>
            <a:spLocks noGrp="1"/>
          </p:cNvSpPr>
          <p:nvPr>
            <p:ph idx="1"/>
          </p:nvPr>
        </p:nvSpPr>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של תאריך 3">
            <a:extLst>
              <a:ext uri="{FF2B5EF4-FFF2-40B4-BE49-F238E27FC236}">
                <a16:creationId xmlns:a16="http://schemas.microsoft.com/office/drawing/2014/main" id="{BB807845-7CC5-CF28-C854-7A44662C3933}"/>
              </a:ext>
            </a:extLst>
          </p:cNvPr>
          <p:cNvSpPr>
            <a:spLocks noGrp="1"/>
          </p:cNvSpPr>
          <p:nvPr>
            <p:ph type="dt" sz="half" idx="10"/>
          </p:nvPr>
        </p:nvSpPr>
        <p:spPr/>
        <p:txBody>
          <a:bodyPr/>
          <a:lstStyle/>
          <a:p>
            <a:fld id="{C33EEBBC-ABA3-4986-BADD-25CEF1780B3F}" type="datetimeFigureOut">
              <a:rPr lang="en-IL" smtClean="0"/>
              <a:t>24/09/2024</a:t>
            </a:fld>
            <a:endParaRPr lang="en-IL"/>
          </a:p>
        </p:txBody>
      </p:sp>
      <p:sp>
        <p:nvSpPr>
          <p:cNvPr id="5" name="מציין מיקום של כותרת תחתונה 4">
            <a:extLst>
              <a:ext uri="{FF2B5EF4-FFF2-40B4-BE49-F238E27FC236}">
                <a16:creationId xmlns:a16="http://schemas.microsoft.com/office/drawing/2014/main" id="{3EF1200F-F882-A7F4-2582-ADE4795CF128}"/>
              </a:ext>
            </a:extLst>
          </p:cNvPr>
          <p:cNvSpPr>
            <a:spLocks noGrp="1"/>
          </p:cNvSpPr>
          <p:nvPr>
            <p:ph type="ftr" sz="quarter" idx="11"/>
          </p:nvPr>
        </p:nvSpPr>
        <p:spPr/>
        <p:txBody>
          <a:bodyPr/>
          <a:lstStyle/>
          <a:p>
            <a:endParaRPr lang="en-IL"/>
          </a:p>
        </p:txBody>
      </p:sp>
      <p:sp>
        <p:nvSpPr>
          <p:cNvPr id="6" name="מציין מיקום של מספר שקופית 5">
            <a:extLst>
              <a:ext uri="{FF2B5EF4-FFF2-40B4-BE49-F238E27FC236}">
                <a16:creationId xmlns:a16="http://schemas.microsoft.com/office/drawing/2014/main" id="{5273F27C-F45D-C6E6-EC37-39817CB92230}"/>
              </a:ext>
            </a:extLst>
          </p:cNvPr>
          <p:cNvSpPr>
            <a:spLocks noGrp="1"/>
          </p:cNvSpPr>
          <p:nvPr>
            <p:ph type="sldNum" sz="quarter" idx="12"/>
          </p:nvPr>
        </p:nvSpPr>
        <p:spPr/>
        <p:txBody>
          <a:bodyPr/>
          <a:lstStyle/>
          <a:p>
            <a:fld id="{7DDCA44E-2ADE-44FA-8298-8822ECEE41B1}" type="slidenum">
              <a:rPr lang="en-IL" smtClean="0"/>
              <a:t>‹#›</a:t>
            </a:fld>
            <a:endParaRPr lang="en-IL"/>
          </a:p>
        </p:txBody>
      </p:sp>
    </p:spTree>
    <p:extLst>
      <p:ext uri="{BB962C8B-B14F-4D97-AF65-F5344CB8AC3E}">
        <p14:creationId xmlns:p14="http://schemas.microsoft.com/office/powerpoint/2010/main" val="314368646"/>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secHead" preserve="1">
  <p:cSld name="כותרת מקטע עליונה">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050B8787-D472-692C-3EBC-0516EFAC47C3}"/>
              </a:ext>
            </a:extLst>
          </p:cNvPr>
          <p:cNvSpPr>
            <a:spLocks noGrp="1"/>
          </p:cNvSpPr>
          <p:nvPr>
            <p:ph type="title"/>
          </p:nvPr>
        </p:nvSpPr>
        <p:spPr>
          <a:xfrm>
            <a:off x="831850" y="1709738"/>
            <a:ext cx="10515600" cy="2852737"/>
          </a:xfrm>
        </p:spPr>
        <p:txBody>
          <a:bodyPr anchor="b"/>
          <a:lstStyle>
            <a:lvl1pPr>
              <a:defRPr sz="6000"/>
            </a:lvl1pPr>
          </a:lstStyle>
          <a:p>
            <a:r>
              <a:rPr lang="he-IL"/>
              <a:t>לחץ כדי לערוך סגנון כותרת של תבנית בסיס</a:t>
            </a:r>
          </a:p>
        </p:txBody>
      </p:sp>
      <p:sp>
        <p:nvSpPr>
          <p:cNvPr id="3" name="מציין מיקום טקסט 2">
            <a:extLst>
              <a:ext uri="{FF2B5EF4-FFF2-40B4-BE49-F238E27FC236}">
                <a16:creationId xmlns:a16="http://schemas.microsoft.com/office/drawing/2014/main" id="{6FF75FBF-B934-1C9F-8D9E-9DE99743432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he-IL"/>
              <a:t>לחץ כדי לערוך סגנונות טקסט של תבנית בסיס</a:t>
            </a:r>
          </a:p>
        </p:txBody>
      </p:sp>
      <p:sp>
        <p:nvSpPr>
          <p:cNvPr id="4" name="מציין מיקום של תאריך 3">
            <a:extLst>
              <a:ext uri="{FF2B5EF4-FFF2-40B4-BE49-F238E27FC236}">
                <a16:creationId xmlns:a16="http://schemas.microsoft.com/office/drawing/2014/main" id="{0E05488F-815E-9617-EFAE-5B956AF9A441}"/>
              </a:ext>
            </a:extLst>
          </p:cNvPr>
          <p:cNvSpPr>
            <a:spLocks noGrp="1"/>
          </p:cNvSpPr>
          <p:nvPr>
            <p:ph type="dt" sz="half" idx="10"/>
          </p:nvPr>
        </p:nvSpPr>
        <p:spPr/>
        <p:txBody>
          <a:bodyPr/>
          <a:lstStyle/>
          <a:p>
            <a:fld id="{C33EEBBC-ABA3-4986-BADD-25CEF1780B3F}" type="datetimeFigureOut">
              <a:rPr lang="en-IL" smtClean="0"/>
              <a:t>24/09/2024</a:t>
            </a:fld>
            <a:endParaRPr lang="en-IL"/>
          </a:p>
        </p:txBody>
      </p:sp>
      <p:sp>
        <p:nvSpPr>
          <p:cNvPr id="5" name="מציין מיקום של כותרת תחתונה 4">
            <a:extLst>
              <a:ext uri="{FF2B5EF4-FFF2-40B4-BE49-F238E27FC236}">
                <a16:creationId xmlns:a16="http://schemas.microsoft.com/office/drawing/2014/main" id="{8EDA05CC-0778-BBC5-D16F-CEE59491432A}"/>
              </a:ext>
            </a:extLst>
          </p:cNvPr>
          <p:cNvSpPr>
            <a:spLocks noGrp="1"/>
          </p:cNvSpPr>
          <p:nvPr>
            <p:ph type="ftr" sz="quarter" idx="11"/>
          </p:nvPr>
        </p:nvSpPr>
        <p:spPr/>
        <p:txBody>
          <a:bodyPr/>
          <a:lstStyle/>
          <a:p>
            <a:endParaRPr lang="en-IL"/>
          </a:p>
        </p:txBody>
      </p:sp>
      <p:sp>
        <p:nvSpPr>
          <p:cNvPr id="6" name="מציין מיקום של מספר שקופית 5">
            <a:extLst>
              <a:ext uri="{FF2B5EF4-FFF2-40B4-BE49-F238E27FC236}">
                <a16:creationId xmlns:a16="http://schemas.microsoft.com/office/drawing/2014/main" id="{D6524B40-461D-3389-7E9E-8915DC8FF284}"/>
              </a:ext>
            </a:extLst>
          </p:cNvPr>
          <p:cNvSpPr>
            <a:spLocks noGrp="1"/>
          </p:cNvSpPr>
          <p:nvPr>
            <p:ph type="sldNum" sz="quarter" idx="12"/>
          </p:nvPr>
        </p:nvSpPr>
        <p:spPr/>
        <p:txBody>
          <a:bodyPr/>
          <a:lstStyle/>
          <a:p>
            <a:fld id="{7DDCA44E-2ADE-44FA-8298-8822ECEE41B1}" type="slidenum">
              <a:rPr lang="en-IL" smtClean="0"/>
              <a:t>‹#›</a:t>
            </a:fld>
            <a:endParaRPr lang="en-IL"/>
          </a:p>
        </p:txBody>
      </p:sp>
    </p:spTree>
    <p:extLst>
      <p:ext uri="{BB962C8B-B14F-4D97-AF65-F5344CB8AC3E}">
        <p14:creationId xmlns:p14="http://schemas.microsoft.com/office/powerpoint/2010/main" val="1518390689"/>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twoObj" preserve="1">
  <p:cSld name="שני תכנים">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50F6C2CB-C1FF-8D32-7EFE-C1DF64C9E0B5}"/>
              </a:ext>
            </a:extLst>
          </p:cNvPr>
          <p:cNvSpPr>
            <a:spLocks noGrp="1"/>
          </p:cNvSpPr>
          <p:nvPr>
            <p:ph type="title"/>
          </p:nvPr>
        </p:nvSpPr>
        <p:spPr/>
        <p:txBody>
          <a:bodyPr/>
          <a:lstStyle/>
          <a:p>
            <a:r>
              <a:rPr lang="he-IL"/>
              <a:t>לחץ כדי לערוך סגנון כותרת של תבנית בסיס</a:t>
            </a:r>
          </a:p>
        </p:txBody>
      </p:sp>
      <p:sp>
        <p:nvSpPr>
          <p:cNvPr id="3" name="מציין מיקום תוכן 2">
            <a:extLst>
              <a:ext uri="{FF2B5EF4-FFF2-40B4-BE49-F238E27FC236}">
                <a16:creationId xmlns:a16="http://schemas.microsoft.com/office/drawing/2014/main" id="{7C275960-9675-343F-AE41-467C2D8158BA}"/>
              </a:ext>
            </a:extLst>
          </p:cNvPr>
          <p:cNvSpPr>
            <a:spLocks noGrp="1"/>
          </p:cNvSpPr>
          <p:nvPr>
            <p:ph sz="half" idx="1"/>
          </p:nvPr>
        </p:nvSpPr>
        <p:spPr>
          <a:xfrm>
            <a:off x="838200" y="1825625"/>
            <a:ext cx="5181600" cy="4351338"/>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תוכן 3">
            <a:extLst>
              <a:ext uri="{FF2B5EF4-FFF2-40B4-BE49-F238E27FC236}">
                <a16:creationId xmlns:a16="http://schemas.microsoft.com/office/drawing/2014/main" id="{D4272D8C-4D7B-4EEF-A37E-7B616835756E}"/>
              </a:ext>
            </a:extLst>
          </p:cNvPr>
          <p:cNvSpPr>
            <a:spLocks noGrp="1"/>
          </p:cNvSpPr>
          <p:nvPr>
            <p:ph sz="half" idx="2"/>
          </p:nvPr>
        </p:nvSpPr>
        <p:spPr>
          <a:xfrm>
            <a:off x="6172200" y="1825625"/>
            <a:ext cx="5181600" cy="4351338"/>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5" name="מציין מיקום של תאריך 4">
            <a:extLst>
              <a:ext uri="{FF2B5EF4-FFF2-40B4-BE49-F238E27FC236}">
                <a16:creationId xmlns:a16="http://schemas.microsoft.com/office/drawing/2014/main" id="{CA127221-BDDA-D017-FD7C-7233FBA2DFAD}"/>
              </a:ext>
            </a:extLst>
          </p:cNvPr>
          <p:cNvSpPr>
            <a:spLocks noGrp="1"/>
          </p:cNvSpPr>
          <p:nvPr>
            <p:ph type="dt" sz="half" idx="10"/>
          </p:nvPr>
        </p:nvSpPr>
        <p:spPr/>
        <p:txBody>
          <a:bodyPr/>
          <a:lstStyle/>
          <a:p>
            <a:fld id="{C33EEBBC-ABA3-4986-BADD-25CEF1780B3F}" type="datetimeFigureOut">
              <a:rPr lang="en-IL" smtClean="0"/>
              <a:t>24/09/2024</a:t>
            </a:fld>
            <a:endParaRPr lang="en-IL"/>
          </a:p>
        </p:txBody>
      </p:sp>
      <p:sp>
        <p:nvSpPr>
          <p:cNvPr id="6" name="מציין מיקום של כותרת תחתונה 5">
            <a:extLst>
              <a:ext uri="{FF2B5EF4-FFF2-40B4-BE49-F238E27FC236}">
                <a16:creationId xmlns:a16="http://schemas.microsoft.com/office/drawing/2014/main" id="{B24B3478-B0CA-3C51-A5A6-968E1291E8B7}"/>
              </a:ext>
            </a:extLst>
          </p:cNvPr>
          <p:cNvSpPr>
            <a:spLocks noGrp="1"/>
          </p:cNvSpPr>
          <p:nvPr>
            <p:ph type="ftr" sz="quarter" idx="11"/>
          </p:nvPr>
        </p:nvSpPr>
        <p:spPr/>
        <p:txBody>
          <a:bodyPr/>
          <a:lstStyle/>
          <a:p>
            <a:endParaRPr lang="en-IL"/>
          </a:p>
        </p:txBody>
      </p:sp>
      <p:sp>
        <p:nvSpPr>
          <p:cNvPr id="7" name="מציין מיקום של מספר שקופית 6">
            <a:extLst>
              <a:ext uri="{FF2B5EF4-FFF2-40B4-BE49-F238E27FC236}">
                <a16:creationId xmlns:a16="http://schemas.microsoft.com/office/drawing/2014/main" id="{127AE656-7E29-3933-2198-8CADB6FCF819}"/>
              </a:ext>
            </a:extLst>
          </p:cNvPr>
          <p:cNvSpPr>
            <a:spLocks noGrp="1"/>
          </p:cNvSpPr>
          <p:nvPr>
            <p:ph type="sldNum" sz="quarter" idx="12"/>
          </p:nvPr>
        </p:nvSpPr>
        <p:spPr/>
        <p:txBody>
          <a:bodyPr/>
          <a:lstStyle/>
          <a:p>
            <a:fld id="{7DDCA44E-2ADE-44FA-8298-8822ECEE41B1}" type="slidenum">
              <a:rPr lang="en-IL" smtClean="0"/>
              <a:t>‹#›</a:t>
            </a:fld>
            <a:endParaRPr lang="en-IL"/>
          </a:p>
        </p:txBody>
      </p:sp>
    </p:spTree>
    <p:extLst>
      <p:ext uri="{BB962C8B-B14F-4D97-AF65-F5344CB8AC3E}">
        <p14:creationId xmlns:p14="http://schemas.microsoft.com/office/powerpoint/2010/main" val="495682083"/>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twoTxTwoObj" preserve="1">
  <p:cSld name="השוואה">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4D9EA19F-47B1-ECEB-A0FA-0962F2180D09}"/>
              </a:ext>
            </a:extLst>
          </p:cNvPr>
          <p:cNvSpPr>
            <a:spLocks noGrp="1"/>
          </p:cNvSpPr>
          <p:nvPr>
            <p:ph type="title"/>
          </p:nvPr>
        </p:nvSpPr>
        <p:spPr>
          <a:xfrm>
            <a:off x="839788" y="365125"/>
            <a:ext cx="10515600" cy="1325563"/>
          </a:xfrm>
        </p:spPr>
        <p:txBody>
          <a:bodyPr/>
          <a:lstStyle/>
          <a:p>
            <a:r>
              <a:rPr lang="he-IL"/>
              <a:t>לחץ כדי לערוך סגנון כותרת של תבנית בסיס</a:t>
            </a:r>
          </a:p>
        </p:txBody>
      </p:sp>
      <p:sp>
        <p:nvSpPr>
          <p:cNvPr id="3" name="מציין מיקום טקסט 2">
            <a:extLst>
              <a:ext uri="{FF2B5EF4-FFF2-40B4-BE49-F238E27FC236}">
                <a16:creationId xmlns:a16="http://schemas.microsoft.com/office/drawing/2014/main" id="{D6B4A99C-BF39-E06B-E844-A87C932F597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לחץ כדי לערוך סגנונות טקסט של תבנית בסיס</a:t>
            </a:r>
          </a:p>
        </p:txBody>
      </p:sp>
      <p:sp>
        <p:nvSpPr>
          <p:cNvPr id="4" name="מציין מיקום תוכן 3">
            <a:extLst>
              <a:ext uri="{FF2B5EF4-FFF2-40B4-BE49-F238E27FC236}">
                <a16:creationId xmlns:a16="http://schemas.microsoft.com/office/drawing/2014/main" id="{9F17206F-3060-019A-8C27-C085F499BACB}"/>
              </a:ext>
            </a:extLst>
          </p:cNvPr>
          <p:cNvSpPr>
            <a:spLocks noGrp="1"/>
          </p:cNvSpPr>
          <p:nvPr>
            <p:ph sz="half" idx="2"/>
          </p:nvPr>
        </p:nvSpPr>
        <p:spPr>
          <a:xfrm>
            <a:off x="839788" y="2505075"/>
            <a:ext cx="5157787" cy="3684588"/>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5" name="מציין מיקום טקסט 4">
            <a:extLst>
              <a:ext uri="{FF2B5EF4-FFF2-40B4-BE49-F238E27FC236}">
                <a16:creationId xmlns:a16="http://schemas.microsoft.com/office/drawing/2014/main" id="{D51BC75B-F1D0-483F-7B3E-E5E24D644C5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לחץ כדי לערוך סגנונות טקסט של תבנית בסיס</a:t>
            </a:r>
          </a:p>
        </p:txBody>
      </p:sp>
      <p:sp>
        <p:nvSpPr>
          <p:cNvPr id="6" name="מציין מיקום תוכן 5">
            <a:extLst>
              <a:ext uri="{FF2B5EF4-FFF2-40B4-BE49-F238E27FC236}">
                <a16:creationId xmlns:a16="http://schemas.microsoft.com/office/drawing/2014/main" id="{38B8F275-99B0-2595-D312-493444A98E5A}"/>
              </a:ext>
            </a:extLst>
          </p:cNvPr>
          <p:cNvSpPr>
            <a:spLocks noGrp="1"/>
          </p:cNvSpPr>
          <p:nvPr>
            <p:ph sz="quarter" idx="4"/>
          </p:nvPr>
        </p:nvSpPr>
        <p:spPr>
          <a:xfrm>
            <a:off x="6172200" y="2505075"/>
            <a:ext cx="5183188" cy="3684588"/>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7" name="מציין מיקום של תאריך 6">
            <a:extLst>
              <a:ext uri="{FF2B5EF4-FFF2-40B4-BE49-F238E27FC236}">
                <a16:creationId xmlns:a16="http://schemas.microsoft.com/office/drawing/2014/main" id="{CF191E6F-7D8A-6A44-4809-DF4894E88377}"/>
              </a:ext>
            </a:extLst>
          </p:cNvPr>
          <p:cNvSpPr>
            <a:spLocks noGrp="1"/>
          </p:cNvSpPr>
          <p:nvPr>
            <p:ph type="dt" sz="half" idx="10"/>
          </p:nvPr>
        </p:nvSpPr>
        <p:spPr/>
        <p:txBody>
          <a:bodyPr/>
          <a:lstStyle/>
          <a:p>
            <a:fld id="{C33EEBBC-ABA3-4986-BADD-25CEF1780B3F}" type="datetimeFigureOut">
              <a:rPr lang="en-IL" smtClean="0"/>
              <a:t>24/09/2024</a:t>
            </a:fld>
            <a:endParaRPr lang="en-IL"/>
          </a:p>
        </p:txBody>
      </p:sp>
      <p:sp>
        <p:nvSpPr>
          <p:cNvPr id="8" name="מציין מיקום של כותרת תחתונה 7">
            <a:extLst>
              <a:ext uri="{FF2B5EF4-FFF2-40B4-BE49-F238E27FC236}">
                <a16:creationId xmlns:a16="http://schemas.microsoft.com/office/drawing/2014/main" id="{18FB494C-1AF0-50E3-7B72-48BA9A2D5B49}"/>
              </a:ext>
            </a:extLst>
          </p:cNvPr>
          <p:cNvSpPr>
            <a:spLocks noGrp="1"/>
          </p:cNvSpPr>
          <p:nvPr>
            <p:ph type="ftr" sz="quarter" idx="11"/>
          </p:nvPr>
        </p:nvSpPr>
        <p:spPr/>
        <p:txBody>
          <a:bodyPr/>
          <a:lstStyle/>
          <a:p>
            <a:endParaRPr lang="en-IL"/>
          </a:p>
        </p:txBody>
      </p:sp>
      <p:sp>
        <p:nvSpPr>
          <p:cNvPr id="9" name="מציין מיקום של מספר שקופית 8">
            <a:extLst>
              <a:ext uri="{FF2B5EF4-FFF2-40B4-BE49-F238E27FC236}">
                <a16:creationId xmlns:a16="http://schemas.microsoft.com/office/drawing/2014/main" id="{4B8F6B9C-4B25-5975-B72C-D2CBAD35CDF6}"/>
              </a:ext>
            </a:extLst>
          </p:cNvPr>
          <p:cNvSpPr>
            <a:spLocks noGrp="1"/>
          </p:cNvSpPr>
          <p:nvPr>
            <p:ph type="sldNum" sz="quarter" idx="12"/>
          </p:nvPr>
        </p:nvSpPr>
        <p:spPr/>
        <p:txBody>
          <a:bodyPr/>
          <a:lstStyle/>
          <a:p>
            <a:fld id="{7DDCA44E-2ADE-44FA-8298-8822ECEE41B1}" type="slidenum">
              <a:rPr lang="en-IL" smtClean="0"/>
              <a:t>‹#›</a:t>
            </a:fld>
            <a:endParaRPr lang="en-IL"/>
          </a:p>
        </p:txBody>
      </p:sp>
    </p:spTree>
    <p:extLst>
      <p:ext uri="{BB962C8B-B14F-4D97-AF65-F5344CB8AC3E}">
        <p14:creationId xmlns:p14="http://schemas.microsoft.com/office/powerpoint/2010/main" val="552911520"/>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titleOnly" preserve="1">
  <p:cSld name="כותרת בלבד">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0DE8F25C-26B6-6499-FD6E-6AE3815A66DC}"/>
              </a:ext>
            </a:extLst>
          </p:cNvPr>
          <p:cNvSpPr>
            <a:spLocks noGrp="1"/>
          </p:cNvSpPr>
          <p:nvPr>
            <p:ph type="title"/>
          </p:nvPr>
        </p:nvSpPr>
        <p:spPr/>
        <p:txBody>
          <a:bodyPr/>
          <a:lstStyle/>
          <a:p>
            <a:r>
              <a:rPr lang="he-IL"/>
              <a:t>לחץ כדי לערוך סגנון כותרת של תבנית בסיס</a:t>
            </a:r>
          </a:p>
        </p:txBody>
      </p:sp>
      <p:sp>
        <p:nvSpPr>
          <p:cNvPr id="3" name="מציין מיקום של תאריך 2">
            <a:extLst>
              <a:ext uri="{FF2B5EF4-FFF2-40B4-BE49-F238E27FC236}">
                <a16:creationId xmlns:a16="http://schemas.microsoft.com/office/drawing/2014/main" id="{258EC462-0278-E8C3-BDC3-06ED76FA1EEF}"/>
              </a:ext>
            </a:extLst>
          </p:cNvPr>
          <p:cNvSpPr>
            <a:spLocks noGrp="1"/>
          </p:cNvSpPr>
          <p:nvPr>
            <p:ph type="dt" sz="half" idx="10"/>
          </p:nvPr>
        </p:nvSpPr>
        <p:spPr/>
        <p:txBody>
          <a:bodyPr/>
          <a:lstStyle/>
          <a:p>
            <a:fld id="{C33EEBBC-ABA3-4986-BADD-25CEF1780B3F}" type="datetimeFigureOut">
              <a:rPr lang="en-IL" smtClean="0"/>
              <a:t>24/09/2024</a:t>
            </a:fld>
            <a:endParaRPr lang="en-IL"/>
          </a:p>
        </p:txBody>
      </p:sp>
      <p:sp>
        <p:nvSpPr>
          <p:cNvPr id="4" name="מציין מיקום של כותרת תחתונה 3">
            <a:extLst>
              <a:ext uri="{FF2B5EF4-FFF2-40B4-BE49-F238E27FC236}">
                <a16:creationId xmlns:a16="http://schemas.microsoft.com/office/drawing/2014/main" id="{ED4A54DA-EB69-799A-12E8-706FFA058FE2}"/>
              </a:ext>
            </a:extLst>
          </p:cNvPr>
          <p:cNvSpPr>
            <a:spLocks noGrp="1"/>
          </p:cNvSpPr>
          <p:nvPr>
            <p:ph type="ftr" sz="quarter" idx="11"/>
          </p:nvPr>
        </p:nvSpPr>
        <p:spPr/>
        <p:txBody>
          <a:bodyPr/>
          <a:lstStyle/>
          <a:p>
            <a:endParaRPr lang="en-IL"/>
          </a:p>
        </p:txBody>
      </p:sp>
      <p:sp>
        <p:nvSpPr>
          <p:cNvPr id="5" name="מציין מיקום של מספר שקופית 4">
            <a:extLst>
              <a:ext uri="{FF2B5EF4-FFF2-40B4-BE49-F238E27FC236}">
                <a16:creationId xmlns:a16="http://schemas.microsoft.com/office/drawing/2014/main" id="{B25B7449-ECFA-7247-5256-F45FCECD3862}"/>
              </a:ext>
            </a:extLst>
          </p:cNvPr>
          <p:cNvSpPr>
            <a:spLocks noGrp="1"/>
          </p:cNvSpPr>
          <p:nvPr>
            <p:ph type="sldNum" sz="quarter" idx="12"/>
          </p:nvPr>
        </p:nvSpPr>
        <p:spPr/>
        <p:txBody>
          <a:bodyPr/>
          <a:lstStyle/>
          <a:p>
            <a:fld id="{7DDCA44E-2ADE-44FA-8298-8822ECEE41B1}" type="slidenum">
              <a:rPr lang="en-IL" smtClean="0"/>
              <a:t>‹#›</a:t>
            </a:fld>
            <a:endParaRPr lang="en-IL"/>
          </a:p>
        </p:txBody>
      </p:sp>
    </p:spTree>
    <p:extLst>
      <p:ext uri="{BB962C8B-B14F-4D97-AF65-F5344CB8AC3E}">
        <p14:creationId xmlns:p14="http://schemas.microsoft.com/office/powerpoint/2010/main" val="3249253767"/>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blank" preserve="1">
  <p:cSld name="ריק">
    <p:spTree>
      <p:nvGrpSpPr>
        <p:cNvPr id="1" name=""/>
        <p:cNvGrpSpPr/>
        <p:nvPr/>
      </p:nvGrpSpPr>
      <p:grpSpPr>
        <a:xfrm>
          <a:off x="0" y="0"/>
          <a:ext cx="0" cy="0"/>
          <a:chOff x="0" y="0"/>
          <a:chExt cx="0" cy="0"/>
        </a:xfrm>
      </p:grpSpPr>
      <p:sp>
        <p:nvSpPr>
          <p:cNvPr id="2" name="מציין מיקום של תאריך 1">
            <a:extLst>
              <a:ext uri="{FF2B5EF4-FFF2-40B4-BE49-F238E27FC236}">
                <a16:creationId xmlns:a16="http://schemas.microsoft.com/office/drawing/2014/main" id="{68A76AB4-8A5D-EFE7-B8A1-64D945AEA52C}"/>
              </a:ext>
            </a:extLst>
          </p:cNvPr>
          <p:cNvSpPr>
            <a:spLocks noGrp="1"/>
          </p:cNvSpPr>
          <p:nvPr>
            <p:ph type="dt" sz="half" idx="10"/>
          </p:nvPr>
        </p:nvSpPr>
        <p:spPr/>
        <p:txBody>
          <a:bodyPr/>
          <a:lstStyle/>
          <a:p>
            <a:fld id="{C33EEBBC-ABA3-4986-BADD-25CEF1780B3F}" type="datetimeFigureOut">
              <a:rPr lang="en-IL" smtClean="0"/>
              <a:t>24/09/2024</a:t>
            </a:fld>
            <a:endParaRPr lang="en-IL"/>
          </a:p>
        </p:txBody>
      </p:sp>
      <p:sp>
        <p:nvSpPr>
          <p:cNvPr id="3" name="מציין מיקום של כותרת תחתונה 2">
            <a:extLst>
              <a:ext uri="{FF2B5EF4-FFF2-40B4-BE49-F238E27FC236}">
                <a16:creationId xmlns:a16="http://schemas.microsoft.com/office/drawing/2014/main" id="{BE4984A6-6B2E-6642-79C3-FA7F7E13FB2D}"/>
              </a:ext>
            </a:extLst>
          </p:cNvPr>
          <p:cNvSpPr>
            <a:spLocks noGrp="1"/>
          </p:cNvSpPr>
          <p:nvPr>
            <p:ph type="ftr" sz="quarter" idx="11"/>
          </p:nvPr>
        </p:nvSpPr>
        <p:spPr/>
        <p:txBody>
          <a:bodyPr/>
          <a:lstStyle/>
          <a:p>
            <a:endParaRPr lang="en-IL"/>
          </a:p>
        </p:txBody>
      </p:sp>
      <p:sp>
        <p:nvSpPr>
          <p:cNvPr id="4" name="מציין מיקום של מספר שקופית 3">
            <a:extLst>
              <a:ext uri="{FF2B5EF4-FFF2-40B4-BE49-F238E27FC236}">
                <a16:creationId xmlns:a16="http://schemas.microsoft.com/office/drawing/2014/main" id="{DAC65D4C-689D-1370-05FC-76039711B366}"/>
              </a:ext>
            </a:extLst>
          </p:cNvPr>
          <p:cNvSpPr>
            <a:spLocks noGrp="1"/>
          </p:cNvSpPr>
          <p:nvPr>
            <p:ph type="sldNum" sz="quarter" idx="12"/>
          </p:nvPr>
        </p:nvSpPr>
        <p:spPr/>
        <p:txBody>
          <a:bodyPr/>
          <a:lstStyle/>
          <a:p>
            <a:fld id="{7DDCA44E-2ADE-44FA-8298-8822ECEE41B1}" type="slidenum">
              <a:rPr lang="en-IL" smtClean="0"/>
              <a:t>‹#›</a:t>
            </a:fld>
            <a:endParaRPr lang="en-IL"/>
          </a:p>
        </p:txBody>
      </p:sp>
    </p:spTree>
    <p:extLst>
      <p:ext uri="{BB962C8B-B14F-4D97-AF65-F5344CB8AC3E}">
        <p14:creationId xmlns:p14="http://schemas.microsoft.com/office/powerpoint/2010/main" val="655060686"/>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objTx" preserve="1">
  <p:cSld name="תוכן עם כיתוב">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3381928F-A95C-508C-5635-AF5A42F19FDA}"/>
              </a:ext>
            </a:extLst>
          </p:cNvPr>
          <p:cNvSpPr>
            <a:spLocks noGrp="1"/>
          </p:cNvSpPr>
          <p:nvPr>
            <p:ph type="title"/>
          </p:nvPr>
        </p:nvSpPr>
        <p:spPr>
          <a:xfrm>
            <a:off x="839788" y="457200"/>
            <a:ext cx="3932237" cy="1600200"/>
          </a:xfrm>
        </p:spPr>
        <p:txBody>
          <a:bodyPr anchor="b"/>
          <a:lstStyle>
            <a:lvl1pPr>
              <a:defRPr sz="3200"/>
            </a:lvl1pPr>
          </a:lstStyle>
          <a:p>
            <a:r>
              <a:rPr lang="he-IL"/>
              <a:t>לחץ כדי לערוך סגנון כותרת של תבנית בסיס</a:t>
            </a:r>
          </a:p>
        </p:txBody>
      </p:sp>
      <p:sp>
        <p:nvSpPr>
          <p:cNvPr id="3" name="מציין מיקום תוכן 2">
            <a:extLst>
              <a:ext uri="{FF2B5EF4-FFF2-40B4-BE49-F238E27FC236}">
                <a16:creationId xmlns:a16="http://schemas.microsoft.com/office/drawing/2014/main" id="{85419BEB-C4FA-5950-D0C6-05512381B2A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טקסט 3">
            <a:extLst>
              <a:ext uri="{FF2B5EF4-FFF2-40B4-BE49-F238E27FC236}">
                <a16:creationId xmlns:a16="http://schemas.microsoft.com/office/drawing/2014/main" id="{B9DC858B-1D66-D3D1-7713-9FF2DF4F107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e-IL"/>
              <a:t>לחץ כדי לערוך סגנונות טקסט של תבנית בסיס</a:t>
            </a:r>
          </a:p>
        </p:txBody>
      </p:sp>
      <p:sp>
        <p:nvSpPr>
          <p:cNvPr id="5" name="מציין מיקום של תאריך 4">
            <a:extLst>
              <a:ext uri="{FF2B5EF4-FFF2-40B4-BE49-F238E27FC236}">
                <a16:creationId xmlns:a16="http://schemas.microsoft.com/office/drawing/2014/main" id="{B37D2017-7C9B-74E3-23C6-4EFB003B6AA3}"/>
              </a:ext>
            </a:extLst>
          </p:cNvPr>
          <p:cNvSpPr>
            <a:spLocks noGrp="1"/>
          </p:cNvSpPr>
          <p:nvPr>
            <p:ph type="dt" sz="half" idx="10"/>
          </p:nvPr>
        </p:nvSpPr>
        <p:spPr/>
        <p:txBody>
          <a:bodyPr/>
          <a:lstStyle/>
          <a:p>
            <a:fld id="{C33EEBBC-ABA3-4986-BADD-25CEF1780B3F}" type="datetimeFigureOut">
              <a:rPr lang="en-IL" smtClean="0"/>
              <a:t>24/09/2024</a:t>
            </a:fld>
            <a:endParaRPr lang="en-IL"/>
          </a:p>
        </p:txBody>
      </p:sp>
      <p:sp>
        <p:nvSpPr>
          <p:cNvPr id="6" name="מציין מיקום של כותרת תחתונה 5">
            <a:extLst>
              <a:ext uri="{FF2B5EF4-FFF2-40B4-BE49-F238E27FC236}">
                <a16:creationId xmlns:a16="http://schemas.microsoft.com/office/drawing/2014/main" id="{0EE931BC-D86F-9C87-CAB9-40B7E1FF390F}"/>
              </a:ext>
            </a:extLst>
          </p:cNvPr>
          <p:cNvSpPr>
            <a:spLocks noGrp="1"/>
          </p:cNvSpPr>
          <p:nvPr>
            <p:ph type="ftr" sz="quarter" idx="11"/>
          </p:nvPr>
        </p:nvSpPr>
        <p:spPr/>
        <p:txBody>
          <a:bodyPr/>
          <a:lstStyle/>
          <a:p>
            <a:endParaRPr lang="en-IL"/>
          </a:p>
        </p:txBody>
      </p:sp>
      <p:sp>
        <p:nvSpPr>
          <p:cNvPr id="7" name="מציין מיקום של מספר שקופית 6">
            <a:extLst>
              <a:ext uri="{FF2B5EF4-FFF2-40B4-BE49-F238E27FC236}">
                <a16:creationId xmlns:a16="http://schemas.microsoft.com/office/drawing/2014/main" id="{FBFC2D12-6240-A3E6-3A17-E0B20CC2FA61}"/>
              </a:ext>
            </a:extLst>
          </p:cNvPr>
          <p:cNvSpPr>
            <a:spLocks noGrp="1"/>
          </p:cNvSpPr>
          <p:nvPr>
            <p:ph type="sldNum" sz="quarter" idx="12"/>
          </p:nvPr>
        </p:nvSpPr>
        <p:spPr/>
        <p:txBody>
          <a:bodyPr/>
          <a:lstStyle/>
          <a:p>
            <a:fld id="{7DDCA44E-2ADE-44FA-8298-8822ECEE41B1}" type="slidenum">
              <a:rPr lang="en-IL" smtClean="0"/>
              <a:t>‹#›</a:t>
            </a:fld>
            <a:endParaRPr lang="en-IL"/>
          </a:p>
        </p:txBody>
      </p:sp>
    </p:spTree>
    <p:extLst>
      <p:ext uri="{BB962C8B-B14F-4D97-AF65-F5344CB8AC3E}">
        <p14:creationId xmlns:p14="http://schemas.microsoft.com/office/powerpoint/2010/main" val="854882124"/>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picTx" preserve="1">
  <p:cSld name="תמונה עם כיתוב">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BB4AA89D-5B70-9F77-7A8E-8B4955CDF60D}"/>
              </a:ext>
            </a:extLst>
          </p:cNvPr>
          <p:cNvSpPr>
            <a:spLocks noGrp="1"/>
          </p:cNvSpPr>
          <p:nvPr>
            <p:ph type="title"/>
          </p:nvPr>
        </p:nvSpPr>
        <p:spPr>
          <a:xfrm>
            <a:off x="839788" y="457200"/>
            <a:ext cx="3932237" cy="1600200"/>
          </a:xfrm>
        </p:spPr>
        <p:txBody>
          <a:bodyPr anchor="b"/>
          <a:lstStyle>
            <a:lvl1pPr>
              <a:defRPr sz="3200"/>
            </a:lvl1pPr>
          </a:lstStyle>
          <a:p>
            <a:r>
              <a:rPr lang="he-IL"/>
              <a:t>לחץ כדי לערוך סגנון כותרת של תבנית בסיס</a:t>
            </a:r>
          </a:p>
        </p:txBody>
      </p:sp>
      <p:sp>
        <p:nvSpPr>
          <p:cNvPr id="3" name="מציין מיקום של תמונה 2">
            <a:extLst>
              <a:ext uri="{FF2B5EF4-FFF2-40B4-BE49-F238E27FC236}">
                <a16:creationId xmlns:a16="http://schemas.microsoft.com/office/drawing/2014/main" id="{986C3B7B-E69B-D23E-6434-D84EE4C7202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he-IL"/>
          </a:p>
        </p:txBody>
      </p:sp>
      <p:sp>
        <p:nvSpPr>
          <p:cNvPr id="4" name="מציין מיקום טקסט 3">
            <a:extLst>
              <a:ext uri="{FF2B5EF4-FFF2-40B4-BE49-F238E27FC236}">
                <a16:creationId xmlns:a16="http://schemas.microsoft.com/office/drawing/2014/main" id="{656D79DB-4E4D-2D0E-D333-306A8B4B517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e-IL"/>
              <a:t>לחץ כדי לערוך סגנונות טקסט של תבנית בסיס</a:t>
            </a:r>
          </a:p>
        </p:txBody>
      </p:sp>
      <p:sp>
        <p:nvSpPr>
          <p:cNvPr id="5" name="מציין מיקום של תאריך 4">
            <a:extLst>
              <a:ext uri="{FF2B5EF4-FFF2-40B4-BE49-F238E27FC236}">
                <a16:creationId xmlns:a16="http://schemas.microsoft.com/office/drawing/2014/main" id="{3CC3BF03-00A1-66E6-9C72-E07D30A9CB4D}"/>
              </a:ext>
            </a:extLst>
          </p:cNvPr>
          <p:cNvSpPr>
            <a:spLocks noGrp="1"/>
          </p:cNvSpPr>
          <p:nvPr>
            <p:ph type="dt" sz="half" idx="10"/>
          </p:nvPr>
        </p:nvSpPr>
        <p:spPr/>
        <p:txBody>
          <a:bodyPr/>
          <a:lstStyle/>
          <a:p>
            <a:fld id="{C33EEBBC-ABA3-4986-BADD-25CEF1780B3F}" type="datetimeFigureOut">
              <a:rPr lang="en-IL" smtClean="0"/>
              <a:t>24/09/2024</a:t>
            </a:fld>
            <a:endParaRPr lang="en-IL"/>
          </a:p>
        </p:txBody>
      </p:sp>
      <p:sp>
        <p:nvSpPr>
          <p:cNvPr id="6" name="מציין מיקום של כותרת תחתונה 5">
            <a:extLst>
              <a:ext uri="{FF2B5EF4-FFF2-40B4-BE49-F238E27FC236}">
                <a16:creationId xmlns:a16="http://schemas.microsoft.com/office/drawing/2014/main" id="{42F1BC36-C2F2-65BD-EEA9-3282AF13D6BB}"/>
              </a:ext>
            </a:extLst>
          </p:cNvPr>
          <p:cNvSpPr>
            <a:spLocks noGrp="1"/>
          </p:cNvSpPr>
          <p:nvPr>
            <p:ph type="ftr" sz="quarter" idx="11"/>
          </p:nvPr>
        </p:nvSpPr>
        <p:spPr/>
        <p:txBody>
          <a:bodyPr/>
          <a:lstStyle/>
          <a:p>
            <a:endParaRPr lang="en-IL"/>
          </a:p>
        </p:txBody>
      </p:sp>
      <p:sp>
        <p:nvSpPr>
          <p:cNvPr id="7" name="מציין מיקום של מספר שקופית 6">
            <a:extLst>
              <a:ext uri="{FF2B5EF4-FFF2-40B4-BE49-F238E27FC236}">
                <a16:creationId xmlns:a16="http://schemas.microsoft.com/office/drawing/2014/main" id="{18924A03-B157-6F87-3DA0-C296DF453D6F}"/>
              </a:ext>
            </a:extLst>
          </p:cNvPr>
          <p:cNvSpPr>
            <a:spLocks noGrp="1"/>
          </p:cNvSpPr>
          <p:nvPr>
            <p:ph type="sldNum" sz="quarter" idx="12"/>
          </p:nvPr>
        </p:nvSpPr>
        <p:spPr/>
        <p:txBody>
          <a:bodyPr/>
          <a:lstStyle/>
          <a:p>
            <a:fld id="{7DDCA44E-2ADE-44FA-8298-8822ECEE41B1}" type="slidenum">
              <a:rPr lang="en-IL" smtClean="0"/>
              <a:t>‹#›</a:t>
            </a:fld>
            <a:endParaRPr lang="en-IL"/>
          </a:p>
        </p:txBody>
      </p:sp>
    </p:spTree>
    <p:extLst>
      <p:ext uri="{BB962C8B-B14F-4D97-AF65-F5344CB8AC3E}">
        <p14:creationId xmlns:p14="http://schemas.microsoft.com/office/powerpoint/2010/main" val="341088761"/>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vertTx" preserve="1">
  <p:cSld name="כותרת וטקסט אנכי">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F54C2159-C3AD-4243-A2D6-1F0008D578E9}"/>
              </a:ext>
            </a:extLst>
          </p:cNvPr>
          <p:cNvSpPr>
            <a:spLocks noGrp="1"/>
          </p:cNvSpPr>
          <p:nvPr>
            <p:ph type="title"/>
          </p:nvPr>
        </p:nvSpPr>
        <p:spPr/>
        <p:txBody>
          <a:bodyPr/>
          <a:lstStyle/>
          <a:p>
            <a:r>
              <a:rPr lang="he-IL"/>
              <a:t>לחץ כדי לערוך סגנון כותרת של תבנית בסיס</a:t>
            </a:r>
          </a:p>
        </p:txBody>
      </p:sp>
      <p:sp>
        <p:nvSpPr>
          <p:cNvPr id="3" name="מציין מיקום של טקסט אנכי 2">
            <a:extLst>
              <a:ext uri="{FF2B5EF4-FFF2-40B4-BE49-F238E27FC236}">
                <a16:creationId xmlns:a16="http://schemas.microsoft.com/office/drawing/2014/main" id="{1D8EAF5A-5F03-5794-B568-132494BDC0FC}"/>
              </a:ext>
            </a:extLst>
          </p:cNvPr>
          <p:cNvSpPr>
            <a:spLocks noGrp="1"/>
          </p:cNvSpPr>
          <p:nvPr>
            <p:ph type="body" orient="vert" idx="1"/>
          </p:nvPr>
        </p:nvSpPr>
        <p:spPr/>
        <p:txBody>
          <a:bodyPr vert="eaVert"/>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של תאריך 3">
            <a:extLst>
              <a:ext uri="{FF2B5EF4-FFF2-40B4-BE49-F238E27FC236}">
                <a16:creationId xmlns:a16="http://schemas.microsoft.com/office/drawing/2014/main" id="{3EB07ACE-5DA8-6107-17EC-FB669C23986E}"/>
              </a:ext>
            </a:extLst>
          </p:cNvPr>
          <p:cNvSpPr>
            <a:spLocks noGrp="1"/>
          </p:cNvSpPr>
          <p:nvPr>
            <p:ph type="dt" sz="half" idx="10"/>
          </p:nvPr>
        </p:nvSpPr>
        <p:spPr/>
        <p:txBody>
          <a:bodyPr/>
          <a:lstStyle/>
          <a:p>
            <a:fld id="{C33EEBBC-ABA3-4986-BADD-25CEF1780B3F}" type="datetimeFigureOut">
              <a:rPr lang="en-IL" smtClean="0"/>
              <a:t>24/09/2024</a:t>
            </a:fld>
            <a:endParaRPr lang="en-IL"/>
          </a:p>
        </p:txBody>
      </p:sp>
      <p:sp>
        <p:nvSpPr>
          <p:cNvPr id="5" name="מציין מיקום של כותרת תחתונה 4">
            <a:extLst>
              <a:ext uri="{FF2B5EF4-FFF2-40B4-BE49-F238E27FC236}">
                <a16:creationId xmlns:a16="http://schemas.microsoft.com/office/drawing/2014/main" id="{750642F7-AA35-BD0A-8478-786D968377D7}"/>
              </a:ext>
            </a:extLst>
          </p:cNvPr>
          <p:cNvSpPr>
            <a:spLocks noGrp="1"/>
          </p:cNvSpPr>
          <p:nvPr>
            <p:ph type="ftr" sz="quarter" idx="11"/>
          </p:nvPr>
        </p:nvSpPr>
        <p:spPr/>
        <p:txBody>
          <a:bodyPr/>
          <a:lstStyle/>
          <a:p>
            <a:endParaRPr lang="en-IL"/>
          </a:p>
        </p:txBody>
      </p:sp>
      <p:sp>
        <p:nvSpPr>
          <p:cNvPr id="6" name="מציין מיקום של מספר שקופית 5">
            <a:extLst>
              <a:ext uri="{FF2B5EF4-FFF2-40B4-BE49-F238E27FC236}">
                <a16:creationId xmlns:a16="http://schemas.microsoft.com/office/drawing/2014/main" id="{E4B0D803-246A-88EA-4301-A09B50021D6B}"/>
              </a:ext>
            </a:extLst>
          </p:cNvPr>
          <p:cNvSpPr>
            <a:spLocks noGrp="1"/>
          </p:cNvSpPr>
          <p:nvPr>
            <p:ph type="sldNum" sz="quarter" idx="12"/>
          </p:nvPr>
        </p:nvSpPr>
        <p:spPr/>
        <p:txBody>
          <a:bodyPr/>
          <a:lstStyle/>
          <a:p>
            <a:fld id="{7DDCA44E-2ADE-44FA-8298-8822ECEE41B1}" type="slidenum">
              <a:rPr lang="en-IL" smtClean="0"/>
              <a:t>‹#›</a:t>
            </a:fld>
            <a:endParaRPr lang="en-IL"/>
          </a:p>
        </p:txBody>
      </p:sp>
    </p:spTree>
    <p:extLst>
      <p:ext uri="{BB962C8B-B14F-4D97-AF65-F5344CB8AC3E}">
        <p14:creationId xmlns:p14="http://schemas.microsoft.com/office/powerpoint/2010/main" val="322959164"/>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vertTitleAndTx" preserve="1">
  <p:cSld name="כותרת אנכית וטקסט">
    <p:spTree>
      <p:nvGrpSpPr>
        <p:cNvPr id="1" name=""/>
        <p:cNvGrpSpPr/>
        <p:nvPr/>
      </p:nvGrpSpPr>
      <p:grpSpPr>
        <a:xfrm>
          <a:off x="0" y="0"/>
          <a:ext cx="0" cy="0"/>
          <a:chOff x="0" y="0"/>
          <a:chExt cx="0" cy="0"/>
        </a:xfrm>
      </p:grpSpPr>
      <p:sp>
        <p:nvSpPr>
          <p:cNvPr id="2" name="כותרת אנכית 1">
            <a:extLst>
              <a:ext uri="{FF2B5EF4-FFF2-40B4-BE49-F238E27FC236}">
                <a16:creationId xmlns:a16="http://schemas.microsoft.com/office/drawing/2014/main" id="{7870536A-BC02-8C94-4CF6-34D04A8E5E83}"/>
              </a:ext>
            </a:extLst>
          </p:cNvPr>
          <p:cNvSpPr>
            <a:spLocks noGrp="1"/>
          </p:cNvSpPr>
          <p:nvPr>
            <p:ph type="title" orient="vert"/>
          </p:nvPr>
        </p:nvSpPr>
        <p:spPr>
          <a:xfrm>
            <a:off x="8724900" y="365125"/>
            <a:ext cx="2628900" cy="5811838"/>
          </a:xfrm>
        </p:spPr>
        <p:txBody>
          <a:bodyPr vert="eaVert"/>
          <a:lstStyle/>
          <a:p>
            <a:r>
              <a:rPr lang="he-IL"/>
              <a:t>לחץ כדי לערוך סגנון כותרת של תבנית בסיס</a:t>
            </a:r>
          </a:p>
        </p:txBody>
      </p:sp>
      <p:sp>
        <p:nvSpPr>
          <p:cNvPr id="3" name="מציין מיקום של טקסט אנכי 2">
            <a:extLst>
              <a:ext uri="{FF2B5EF4-FFF2-40B4-BE49-F238E27FC236}">
                <a16:creationId xmlns:a16="http://schemas.microsoft.com/office/drawing/2014/main" id="{4722998E-4213-D003-78CB-D5FC50CAAD84}"/>
              </a:ext>
            </a:extLst>
          </p:cNvPr>
          <p:cNvSpPr>
            <a:spLocks noGrp="1"/>
          </p:cNvSpPr>
          <p:nvPr>
            <p:ph type="body" orient="vert" idx="1"/>
          </p:nvPr>
        </p:nvSpPr>
        <p:spPr>
          <a:xfrm>
            <a:off x="838200" y="365125"/>
            <a:ext cx="7734300" cy="5811838"/>
          </a:xfrm>
        </p:spPr>
        <p:txBody>
          <a:bodyPr vert="eaVert"/>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של תאריך 3">
            <a:extLst>
              <a:ext uri="{FF2B5EF4-FFF2-40B4-BE49-F238E27FC236}">
                <a16:creationId xmlns:a16="http://schemas.microsoft.com/office/drawing/2014/main" id="{17E8EAE0-4222-5819-6181-2857D0B55BEE}"/>
              </a:ext>
            </a:extLst>
          </p:cNvPr>
          <p:cNvSpPr>
            <a:spLocks noGrp="1"/>
          </p:cNvSpPr>
          <p:nvPr>
            <p:ph type="dt" sz="half" idx="10"/>
          </p:nvPr>
        </p:nvSpPr>
        <p:spPr/>
        <p:txBody>
          <a:bodyPr/>
          <a:lstStyle/>
          <a:p>
            <a:fld id="{C33EEBBC-ABA3-4986-BADD-25CEF1780B3F}" type="datetimeFigureOut">
              <a:rPr lang="en-IL" smtClean="0"/>
              <a:t>24/09/2024</a:t>
            </a:fld>
            <a:endParaRPr lang="en-IL"/>
          </a:p>
        </p:txBody>
      </p:sp>
      <p:sp>
        <p:nvSpPr>
          <p:cNvPr id="5" name="מציין מיקום של כותרת תחתונה 4">
            <a:extLst>
              <a:ext uri="{FF2B5EF4-FFF2-40B4-BE49-F238E27FC236}">
                <a16:creationId xmlns:a16="http://schemas.microsoft.com/office/drawing/2014/main" id="{14715372-4808-2810-B607-3D89592345F3}"/>
              </a:ext>
            </a:extLst>
          </p:cNvPr>
          <p:cNvSpPr>
            <a:spLocks noGrp="1"/>
          </p:cNvSpPr>
          <p:nvPr>
            <p:ph type="ftr" sz="quarter" idx="11"/>
          </p:nvPr>
        </p:nvSpPr>
        <p:spPr/>
        <p:txBody>
          <a:bodyPr/>
          <a:lstStyle/>
          <a:p>
            <a:endParaRPr lang="en-IL"/>
          </a:p>
        </p:txBody>
      </p:sp>
      <p:sp>
        <p:nvSpPr>
          <p:cNvPr id="6" name="מציין מיקום של מספר שקופית 5">
            <a:extLst>
              <a:ext uri="{FF2B5EF4-FFF2-40B4-BE49-F238E27FC236}">
                <a16:creationId xmlns:a16="http://schemas.microsoft.com/office/drawing/2014/main" id="{E8EFD6B4-B1A7-8EC3-B577-5AB80FDD2A22}"/>
              </a:ext>
            </a:extLst>
          </p:cNvPr>
          <p:cNvSpPr>
            <a:spLocks noGrp="1"/>
          </p:cNvSpPr>
          <p:nvPr>
            <p:ph type="sldNum" sz="quarter" idx="12"/>
          </p:nvPr>
        </p:nvSpPr>
        <p:spPr/>
        <p:txBody>
          <a:bodyPr/>
          <a:lstStyle/>
          <a:p>
            <a:fld id="{7DDCA44E-2ADE-44FA-8298-8822ECEE41B1}" type="slidenum">
              <a:rPr lang="en-IL" smtClean="0"/>
              <a:t>‹#›</a:t>
            </a:fld>
            <a:endParaRPr lang="en-IL"/>
          </a:p>
        </p:txBody>
      </p:sp>
    </p:spTree>
    <p:extLst>
      <p:ext uri="{BB962C8B-B14F-4D97-AF65-F5344CB8AC3E}">
        <p14:creationId xmlns:p14="http://schemas.microsoft.com/office/powerpoint/2010/main" val="3320549112"/>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F80B959-BC60-4854-A69A-50BBA8DB8D52}"/>
              </a:ext>
            </a:extLst>
          </p:cNvPr>
          <p:cNvSpPr/>
          <p:nvPr userDrawn="1"/>
        </p:nvSpPr>
        <p:spPr>
          <a:xfrm>
            <a:off x="0" y="6793992"/>
            <a:ext cx="12192000" cy="64008"/>
          </a:xfrm>
          <a:prstGeom prst="rect">
            <a:avLst/>
          </a:prstGeom>
          <a:gradFill flip="none" rotWithShape="1">
            <a:gsLst>
              <a:gs pos="0">
                <a:srgbClr val="1F1C30"/>
              </a:gs>
              <a:gs pos="100000">
                <a:srgbClr val="E75258"/>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descr="Text&#10;&#10;Description automatically generated with medium confidence">
            <a:extLst>
              <a:ext uri="{FF2B5EF4-FFF2-40B4-BE49-F238E27FC236}">
                <a16:creationId xmlns:a16="http://schemas.microsoft.com/office/drawing/2014/main" id="{0953BFF1-8892-4520-AFB4-B491E394F495}"/>
              </a:ext>
            </a:extLst>
          </p:cNvPr>
          <p:cNvPicPr>
            <a:picLocks noChangeAspect="1"/>
          </p:cNvPicPr>
          <p:nvPr userDrawn="1"/>
        </p:nvPicPr>
        <p:blipFill rotWithShape="1">
          <a:blip r:embed="rId2" cstate="print">
            <a:alphaModFix amt="8000"/>
            <a:extLst>
              <a:ext uri="{28A0092B-C50C-407E-A947-70E740481C1C}">
                <a14:useLocalDpi xmlns:a14="http://schemas.microsoft.com/office/drawing/2010/main" val="0"/>
              </a:ext>
            </a:extLst>
          </a:blip>
          <a:srcRect l="3689" t="15975" r="73705" b="11445"/>
          <a:stretch/>
        </p:blipFill>
        <p:spPr>
          <a:xfrm>
            <a:off x="340336" y="5391250"/>
            <a:ext cx="1096578" cy="1088762"/>
          </a:xfrm>
          <a:prstGeom prst="rect">
            <a:avLst/>
          </a:prstGeom>
        </p:spPr>
      </p:pic>
      <p:pic>
        <p:nvPicPr>
          <p:cNvPr id="12" name="Picture 11" descr="Text&#10;&#10;Description automatically generated with medium confidence">
            <a:extLst>
              <a:ext uri="{FF2B5EF4-FFF2-40B4-BE49-F238E27FC236}">
                <a16:creationId xmlns:a16="http://schemas.microsoft.com/office/drawing/2014/main" id="{786521AC-AF58-4D0C-AC2D-55292CB60401}"/>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884705" y="260961"/>
            <a:ext cx="1915295" cy="592268"/>
          </a:xfrm>
          <a:prstGeom prst="rect">
            <a:avLst/>
          </a:prstGeom>
        </p:spPr>
      </p:pic>
    </p:spTree>
    <p:extLst>
      <p:ext uri="{BB962C8B-B14F-4D97-AF65-F5344CB8AC3E}">
        <p14:creationId xmlns:p14="http://schemas.microsoft.com/office/powerpoint/2010/main" val="179710481"/>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userDrawn="1">
  <p:cSld name="2_Title Slid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F80B959-BC60-4854-A69A-50BBA8DB8D52}"/>
              </a:ext>
            </a:extLst>
          </p:cNvPr>
          <p:cNvSpPr/>
          <p:nvPr userDrawn="1"/>
        </p:nvSpPr>
        <p:spPr>
          <a:xfrm>
            <a:off x="0" y="6793992"/>
            <a:ext cx="12192000" cy="64008"/>
          </a:xfrm>
          <a:prstGeom prst="rect">
            <a:avLst/>
          </a:prstGeom>
          <a:gradFill flip="none" rotWithShape="1">
            <a:gsLst>
              <a:gs pos="0">
                <a:srgbClr val="1F1C30"/>
              </a:gs>
              <a:gs pos="100000">
                <a:srgbClr val="E75258"/>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 Placeholder 7">
            <a:extLst>
              <a:ext uri="{FF2B5EF4-FFF2-40B4-BE49-F238E27FC236}">
                <a16:creationId xmlns:a16="http://schemas.microsoft.com/office/drawing/2014/main" id="{E7DFC797-BCA0-4F6A-92BD-42AF0FAA3EB4}"/>
              </a:ext>
            </a:extLst>
          </p:cNvPr>
          <p:cNvSpPr>
            <a:spLocks noGrp="1"/>
          </p:cNvSpPr>
          <p:nvPr>
            <p:ph type="body" sz="quarter" idx="10" hasCustomPrompt="1"/>
          </p:nvPr>
        </p:nvSpPr>
        <p:spPr>
          <a:xfrm>
            <a:off x="340336" y="260961"/>
            <a:ext cx="9384235" cy="592268"/>
          </a:xfrm>
        </p:spPr>
        <p:txBody>
          <a:bodyPr anchor="ctr" anchorCtr="0">
            <a:normAutofit/>
          </a:bodyPr>
          <a:lstStyle>
            <a:lvl1pPr marL="0" indent="0">
              <a:buFontTx/>
              <a:buNone/>
              <a:defRPr sz="3200" b="1">
                <a:solidFill>
                  <a:srgbClr val="000000"/>
                </a:solidFill>
                <a:latin typeface="+mj-lt"/>
              </a:defRPr>
            </a:lvl1pPr>
          </a:lstStyle>
          <a:p>
            <a:pPr lvl="0"/>
            <a:r>
              <a:rPr lang="en-US" dirty="0"/>
              <a:t>Click To Edit Master Text Styles</a:t>
            </a:r>
          </a:p>
        </p:txBody>
      </p:sp>
      <p:sp>
        <p:nvSpPr>
          <p:cNvPr id="9" name="Rounded Rectangle 9">
            <a:extLst>
              <a:ext uri="{FF2B5EF4-FFF2-40B4-BE49-F238E27FC236}">
                <a16:creationId xmlns:a16="http://schemas.microsoft.com/office/drawing/2014/main" id="{C0200EDE-BFB7-4872-9956-3A7E1C596FAD}"/>
              </a:ext>
            </a:extLst>
          </p:cNvPr>
          <p:cNvSpPr/>
          <p:nvPr userDrawn="1"/>
        </p:nvSpPr>
        <p:spPr>
          <a:xfrm>
            <a:off x="449897" y="0"/>
            <a:ext cx="1097280" cy="73152"/>
          </a:xfrm>
          <a:prstGeom prst="roundRect">
            <a:avLst>
              <a:gd name="adj" fmla="val 50000"/>
            </a:avLst>
          </a:prstGeom>
          <a:solidFill>
            <a:srgbClr val="5EC5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descr="Text&#10;&#10;Description automatically generated with medium confidence">
            <a:extLst>
              <a:ext uri="{FF2B5EF4-FFF2-40B4-BE49-F238E27FC236}">
                <a16:creationId xmlns:a16="http://schemas.microsoft.com/office/drawing/2014/main" id="{0953BFF1-8892-4520-AFB4-B491E394F495}"/>
              </a:ext>
            </a:extLst>
          </p:cNvPr>
          <p:cNvPicPr>
            <a:picLocks noChangeAspect="1"/>
          </p:cNvPicPr>
          <p:nvPr userDrawn="1"/>
        </p:nvPicPr>
        <p:blipFill rotWithShape="1">
          <a:blip r:embed="rId2" cstate="print">
            <a:alphaModFix amt="8000"/>
            <a:extLst>
              <a:ext uri="{28A0092B-C50C-407E-A947-70E740481C1C}">
                <a14:useLocalDpi xmlns:a14="http://schemas.microsoft.com/office/drawing/2010/main" val="0"/>
              </a:ext>
            </a:extLst>
          </a:blip>
          <a:srcRect l="3689" t="15975" r="73705" b="11445"/>
          <a:stretch/>
        </p:blipFill>
        <p:spPr>
          <a:xfrm>
            <a:off x="340336" y="5391250"/>
            <a:ext cx="1096578" cy="1088762"/>
          </a:xfrm>
          <a:prstGeom prst="rect">
            <a:avLst/>
          </a:prstGeom>
        </p:spPr>
      </p:pic>
      <p:pic>
        <p:nvPicPr>
          <p:cNvPr id="12" name="Picture 11" descr="Text&#10;&#10;Description automatically generated with medium confidence">
            <a:extLst>
              <a:ext uri="{FF2B5EF4-FFF2-40B4-BE49-F238E27FC236}">
                <a16:creationId xmlns:a16="http://schemas.microsoft.com/office/drawing/2014/main" id="{786521AC-AF58-4D0C-AC2D-55292CB60401}"/>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884705" y="260961"/>
            <a:ext cx="1915295" cy="592268"/>
          </a:xfrm>
          <a:prstGeom prst="rect">
            <a:avLst/>
          </a:prstGeom>
        </p:spPr>
      </p:pic>
    </p:spTree>
    <p:extLst>
      <p:ext uri="{BB962C8B-B14F-4D97-AF65-F5344CB8AC3E}">
        <p14:creationId xmlns:p14="http://schemas.microsoft.com/office/powerpoint/2010/main" val="21828963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21.xml"/><Relationship Id="rId2" Type="http://schemas.openxmlformats.org/officeDocument/2006/relationships/slideLayout" Target="../slideLayouts/slideLayout20.xml"/><Relationship Id="rId1" Type="http://schemas.openxmlformats.org/officeDocument/2006/relationships/slideLayout" Target="../slideLayouts/slideLayout19.xml"/><Relationship Id="rId6" Type="http://schemas.openxmlformats.org/officeDocument/2006/relationships/theme" Target="../theme/theme2.xml"/><Relationship Id="rId5" Type="http://schemas.openxmlformats.org/officeDocument/2006/relationships/slideLayout" Target="../slideLayouts/slideLayout23.xml"/><Relationship Id="rId4" Type="http://schemas.openxmlformats.org/officeDocument/2006/relationships/slideLayout" Target="../slideLayouts/slideLayout2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1.xml"/><Relationship Id="rId13" Type="http://schemas.openxmlformats.org/officeDocument/2006/relationships/theme" Target="../theme/theme3.xml"/><Relationship Id="rId3" Type="http://schemas.openxmlformats.org/officeDocument/2006/relationships/slideLayout" Target="../slideLayouts/slideLayout26.xml"/><Relationship Id="rId7" Type="http://schemas.openxmlformats.org/officeDocument/2006/relationships/slideLayout" Target="../slideLayouts/slideLayout30.xml"/><Relationship Id="rId12" Type="http://schemas.openxmlformats.org/officeDocument/2006/relationships/slideLayout" Target="../slideLayouts/slideLayout35.xml"/><Relationship Id="rId2" Type="http://schemas.openxmlformats.org/officeDocument/2006/relationships/slideLayout" Target="../slideLayouts/slideLayout25.xml"/><Relationship Id="rId1" Type="http://schemas.openxmlformats.org/officeDocument/2006/relationships/slideLayout" Target="../slideLayouts/slideLayout24.xml"/><Relationship Id="rId6" Type="http://schemas.openxmlformats.org/officeDocument/2006/relationships/slideLayout" Target="../slideLayouts/slideLayout29.xml"/><Relationship Id="rId11" Type="http://schemas.openxmlformats.org/officeDocument/2006/relationships/slideLayout" Target="../slideLayouts/slideLayout34.xml"/><Relationship Id="rId5" Type="http://schemas.openxmlformats.org/officeDocument/2006/relationships/slideLayout" Target="../slideLayouts/slideLayout28.xml"/><Relationship Id="rId10" Type="http://schemas.openxmlformats.org/officeDocument/2006/relationships/slideLayout" Target="../slideLayouts/slideLayout33.xml"/><Relationship Id="rId4" Type="http://schemas.openxmlformats.org/officeDocument/2006/relationships/slideLayout" Target="../slideLayouts/slideLayout27.xml"/><Relationship Id="rId9" Type="http://schemas.openxmlformats.org/officeDocument/2006/relationships/slideLayout" Target="../slideLayouts/slideLayout32.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3.xml"/><Relationship Id="rId13" Type="http://schemas.openxmlformats.org/officeDocument/2006/relationships/slideLayout" Target="../slideLayouts/slideLayout48.xml"/><Relationship Id="rId18" Type="http://schemas.openxmlformats.org/officeDocument/2006/relationships/slideLayout" Target="../slideLayouts/slideLayout53.xml"/><Relationship Id="rId3" Type="http://schemas.openxmlformats.org/officeDocument/2006/relationships/slideLayout" Target="../slideLayouts/slideLayout38.xml"/><Relationship Id="rId7" Type="http://schemas.openxmlformats.org/officeDocument/2006/relationships/slideLayout" Target="../slideLayouts/slideLayout42.xml"/><Relationship Id="rId12" Type="http://schemas.openxmlformats.org/officeDocument/2006/relationships/slideLayout" Target="../slideLayouts/slideLayout47.xml"/><Relationship Id="rId17" Type="http://schemas.openxmlformats.org/officeDocument/2006/relationships/slideLayout" Target="../slideLayouts/slideLayout52.xml"/><Relationship Id="rId2" Type="http://schemas.openxmlformats.org/officeDocument/2006/relationships/slideLayout" Target="../slideLayouts/slideLayout37.xml"/><Relationship Id="rId16" Type="http://schemas.openxmlformats.org/officeDocument/2006/relationships/slideLayout" Target="../slideLayouts/slideLayout51.xml"/><Relationship Id="rId1" Type="http://schemas.openxmlformats.org/officeDocument/2006/relationships/slideLayout" Target="../slideLayouts/slideLayout36.xml"/><Relationship Id="rId6" Type="http://schemas.openxmlformats.org/officeDocument/2006/relationships/slideLayout" Target="../slideLayouts/slideLayout41.xml"/><Relationship Id="rId11" Type="http://schemas.openxmlformats.org/officeDocument/2006/relationships/slideLayout" Target="../slideLayouts/slideLayout46.xml"/><Relationship Id="rId5" Type="http://schemas.openxmlformats.org/officeDocument/2006/relationships/slideLayout" Target="../slideLayouts/slideLayout40.xml"/><Relationship Id="rId15" Type="http://schemas.openxmlformats.org/officeDocument/2006/relationships/slideLayout" Target="../slideLayouts/slideLayout50.xml"/><Relationship Id="rId10" Type="http://schemas.openxmlformats.org/officeDocument/2006/relationships/slideLayout" Target="../slideLayouts/slideLayout45.xml"/><Relationship Id="rId19" Type="http://schemas.openxmlformats.org/officeDocument/2006/relationships/theme" Target="../theme/theme4.xml"/><Relationship Id="rId4" Type="http://schemas.openxmlformats.org/officeDocument/2006/relationships/slideLayout" Target="../slideLayouts/slideLayout39.xml"/><Relationship Id="rId9" Type="http://schemas.openxmlformats.org/officeDocument/2006/relationships/slideLayout" Target="../slideLayouts/slideLayout44.xml"/><Relationship Id="rId14" Type="http://schemas.openxmlformats.org/officeDocument/2006/relationships/slideLayout" Target="../slideLayouts/slideLayout49.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61.xml"/><Relationship Id="rId13" Type="http://schemas.openxmlformats.org/officeDocument/2006/relationships/slideLayout" Target="../slideLayouts/slideLayout66.xml"/><Relationship Id="rId3" Type="http://schemas.openxmlformats.org/officeDocument/2006/relationships/slideLayout" Target="../slideLayouts/slideLayout56.xml"/><Relationship Id="rId7" Type="http://schemas.openxmlformats.org/officeDocument/2006/relationships/slideLayout" Target="../slideLayouts/slideLayout60.xml"/><Relationship Id="rId12" Type="http://schemas.openxmlformats.org/officeDocument/2006/relationships/slideLayout" Target="../slideLayouts/slideLayout65.xml"/><Relationship Id="rId2" Type="http://schemas.openxmlformats.org/officeDocument/2006/relationships/slideLayout" Target="../slideLayouts/slideLayout55.xml"/><Relationship Id="rId1" Type="http://schemas.openxmlformats.org/officeDocument/2006/relationships/slideLayout" Target="../slideLayouts/slideLayout54.xml"/><Relationship Id="rId6" Type="http://schemas.openxmlformats.org/officeDocument/2006/relationships/slideLayout" Target="../slideLayouts/slideLayout59.xml"/><Relationship Id="rId11" Type="http://schemas.openxmlformats.org/officeDocument/2006/relationships/slideLayout" Target="../slideLayouts/slideLayout64.xml"/><Relationship Id="rId5" Type="http://schemas.openxmlformats.org/officeDocument/2006/relationships/slideLayout" Target="../slideLayouts/slideLayout58.xml"/><Relationship Id="rId10" Type="http://schemas.openxmlformats.org/officeDocument/2006/relationships/slideLayout" Target="../slideLayouts/slideLayout63.xml"/><Relationship Id="rId4" Type="http://schemas.openxmlformats.org/officeDocument/2006/relationships/slideLayout" Target="../slideLayouts/slideLayout57.xml"/><Relationship Id="rId9" Type="http://schemas.openxmlformats.org/officeDocument/2006/relationships/slideLayout" Target="../slideLayouts/slideLayout62.xml"/><Relationship Id="rId14" Type="http://schemas.openxmlformats.org/officeDocument/2006/relationships/theme" Target="../theme/theme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מציין מיקום של כותרת 1"/>
          <p:cNvSpPr>
            <a:spLocks noGrp="1"/>
          </p:cNvSpPr>
          <p:nvPr>
            <p:ph type="title"/>
          </p:nvPr>
        </p:nvSpPr>
        <p:spPr>
          <a:xfrm>
            <a:off x="838200" y="365125"/>
            <a:ext cx="10515600" cy="1325563"/>
          </a:xfrm>
          <a:prstGeom prst="rect">
            <a:avLst/>
          </a:prstGeom>
        </p:spPr>
        <p:txBody>
          <a:bodyPr vert="horz" lIns="91440" tIns="45720" rIns="91440" bIns="45720" rtlCol="1" anchor="ctr">
            <a:normAutofit/>
          </a:bodyPr>
          <a:lstStyle/>
          <a:p>
            <a:r>
              <a:rPr lang="he-IL"/>
              <a:t>לחץ כדי לערוך סגנון כותרת של תבנית בסיס</a:t>
            </a:r>
          </a:p>
        </p:txBody>
      </p:sp>
      <p:sp>
        <p:nvSpPr>
          <p:cNvPr id="3" name="מציין מיקום טקסט 2"/>
          <p:cNvSpPr>
            <a:spLocks noGrp="1"/>
          </p:cNvSpPr>
          <p:nvPr>
            <p:ph type="body" idx="1"/>
          </p:nvPr>
        </p:nvSpPr>
        <p:spPr>
          <a:xfrm>
            <a:off x="838200" y="1825625"/>
            <a:ext cx="10515600" cy="4351338"/>
          </a:xfrm>
          <a:prstGeom prst="rect">
            <a:avLst/>
          </a:prstGeom>
        </p:spPr>
        <p:txBody>
          <a:bodyPr vert="horz" lIns="91440" tIns="45720" rIns="91440" bIns="45720" rtlCol="1">
            <a:normAutofit/>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4" name="מציין מיקום של תאריך 3"/>
          <p:cNvSpPr>
            <a:spLocks noGrp="1"/>
          </p:cNvSpPr>
          <p:nvPr>
            <p:ph type="dt" sz="half" idx="2"/>
          </p:nvPr>
        </p:nvSpPr>
        <p:spPr>
          <a:xfrm>
            <a:off x="8610600" y="6356350"/>
            <a:ext cx="2743200" cy="365125"/>
          </a:xfrm>
          <a:prstGeom prst="rect">
            <a:avLst/>
          </a:prstGeom>
        </p:spPr>
        <p:txBody>
          <a:bodyPr vert="horz" lIns="91440" tIns="45720" rIns="91440" bIns="45720" rtlCol="1" anchor="ctr"/>
          <a:lstStyle>
            <a:lvl1pPr algn="r">
              <a:defRPr sz="1200">
                <a:solidFill>
                  <a:schemeClr val="tx1">
                    <a:tint val="75000"/>
                  </a:schemeClr>
                </a:solidFill>
              </a:defRPr>
            </a:lvl1pPr>
          </a:lstStyle>
          <a:p>
            <a:fld id="{A2B3D744-8BFC-49C4-921C-A4357DD28206}" type="datetimeFigureOut">
              <a:rPr lang="he-IL" smtClean="0"/>
              <a:t>כ"א/אלול/תשפ"ד</a:t>
            </a:fld>
            <a:endParaRPr lang="he-IL"/>
          </a:p>
        </p:txBody>
      </p:sp>
      <p:sp>
        <p:nvSpPr>
          <p:cNvPr id="5" name="מציין מיקום של כותרת תחתונה 4"/>
          <p:cNvSpPr>
            <a:spLocks noGrp="1"/>
          </p:cNvSpPr>
          <p:nvPr>
            <p:ph type="ftr" sz="quarter" idx="3"/>
          </p:nvPr>
        </p:nvSpPr>
        <p:spPr>
          <a:xfrm>
            <a:off x="4038600" y="6356350"/>
            <a:ext cx="4114800" cy="365125"/>
          </a:xfrm>
          <a:prstGeom prst="rect">
            <a:avLst/>
          </a:prstGeom>
        </p:spPr>
        <p:txBody>
          <a:bodyPr vert="horz" lIns="91440" tIns="45720" rIns="91440" bIns="45720" rtlCol="1" anchor="ctr"/>
          <a:lstStyle>
            <a:lvl1pPr algn="ctr">
              <a:defRPr sz="1200">
                <a:solidFill>
                  <a:schemeClr val="tx1">
                    <a:tint val="75000"/>
                  </a:schemeClr>
                </a:solidFill>
              </a:defRPr>
            </a:lvl1pPr>
          </a:lstStyle>
          <a:p>
            <a:endParaRPr lang="he-IL"/>
          </a:p>
        </p:txBody>
      </p:sp>
      <p:sp>
        <p:nvSpPr>
          <p:cNvPr id="6" name="מציין מיקום של מספר שקופית 5"/>
          <p:cNvSpPr>
            <a:spLocks noGrp="1"/>
          </p:cNvSpPr>
          <p:nvPr>
            <p:ph type="sldNum" sz="quarter" idx="4"/>
          </p:nvPr>
        </p:nvSpPr>
        <p:spPr>
          <a:xfrm>
            <a:off x="838200" y="6356350"/>
            <a:ext cx="2743200" cy="365125"/>
          </a:xfrm>
          <a:prstGeom prst="rect">
            <a:avLst/>
          </a:prstGeom>
        </p:spPr>
        <p:txBody>
          <a:bodyPr vert="horz" lIns="91440" tIns="45720" rIns="91440" bIns="45720" rtlCol="1" anchor="ctr"/>
          <a:lstStyle>
            <a:lvl1pPr algn="l">
              <a:defRPr sz="1200">
                <a:solidFill>
                  <a:schemeClr val="tx1">
                    <a:tint val="75000"/>
                  </a:schemeClr>
                </a:solidFill>
              </a:defRPr>
            </a:lvl1pPr>
          </a:lstStyle>
          <a:p>
            <a:fld id="{C4BCB286-1E5E-4B02-A0C5-06BDEC1E2FA1}" type="slidenum">
              <a:rPr lang="he-IL" smtClean="0"/>
              <a:t>‹#›</a:t>
            </a:fld>
            <a:endParaRPr lang="he-IL"/>
          </a:p>
        </p:txBody>
      </p:sp>
    </p:spTree>
    <p:extLst>
      <p:ext uri="{BB962C8B-B14F-4D97-AF65-F5344CB8AC3E}">
        <p14:creationId xmlns:p14="http://schemas.microsoft.com/office/powerpoint/2010/main" val="58451384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5" r:id="rId14"/>
    <p:sldLayoutId id="2147483676" r:id="rId15"/>
    <p:sldLayoutId id="2147483677" r:id="rId16"/>
    <p:sldLayoutId id="2147483678" r:id="rId17"/>
    <p:sldLayoutId id="2147483679" r:id="rId18"/>
  </p:sldLayoutIdLst>
  <p:txStyles>
    <p:titleStyle>
      <a:lvl1pPr algn="r" defTabSz="914400" rtl="1"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a:xfrm>
            <a:off x="609600" y="137160"/>
            <a:ext cx="10972800" cy="707886"/>
          </a:xfrm>
          <a:prstGeom prst="rect">
            <a:avLst/>
          </a:prstGeom>
        </p:spPr>
        <p:txBody>
          <a:bodyPr vert="horz" lIns="91440" tIns="45720" rIns="91440" bIns="45720" rtlCol="0" anchor="ctr">
            <a:spAutoFit/>
          </a:bodyPr>
          <a:lstStyle/>
          <a:p>
            <a:pPr lvl="0"/>
            <a:r>
              <a:rPr lang="en-US"/>
              <a:t>Click to edit Master title style</a:t>
            </a:r>
            <a:endParaRPr lang="en-US" dirty="0"/>
          </a:p>
        </p:txBody>
      </p:sp>
      <p:sp>
        <p:nvSpPr>
          <p:cNvPr id="3" name="Espace réservé du texte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Rectangle 14"/>
          <p:cNvSpPr/>
          <p:nvPr/>
        </p:nvSpPr>
        <p:spPr>
          <a:xfrm rot="5400000">
            <a:off x="11604686" y="5799924"/>
            <a:ext cx="1839158" cy="276999"/>
          </a:xfrm>
          <a:prstGeom prst="rect">
            <a:avLst/>
          </a:prstGeom>
        </p:spPr>
        <p:txBody>
          <a:bodyPr wrap="none">
            <a:spAutoFit/>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dirty="0">
                <a:solidFill>
                  <a:prstClr val="black"/>
                </a:solidFill>
              </a:rPr>
              <a:t>© Copyright Showeet.com</a:t>
            </a:r>
          </a:p>
        </p:txBody>
      </p:sp>
    </p:spTree>
    <p:extLst>
      <p:ext uri="{BB962C8B-B14F-4D97-AF65-F5344CB8AC3E}">
        <p14:creationId xmlns:p14="http://schemas.microsoft.com/office/powerpoint/2010/main" val="2559013035"/>
      </p:ext>
    </p:extLst>
  </p:cSld>
  <p:clrMap bg1="lt1" tx1="dk1" bg2="lt2" tx2="dk2" accent1="accent1" accent2="accent2" accent3="accent3" accent4="accent4" accent5="accent5" accent6="accent6" hlink="hlink" folHlink="folHlink"/>
  <p:sldLayoutIdLst>
    <p:sldLayoutId id="2147483681" r:id="rId1"/>
    <p:sldLayoutId id="2147483682" r:id="rId2"/>
    <p:sldLayoutId id="2147483683" r:id="rId3"/>
    <p:sldLayoutId id="2147483684" r:id="rId4"/>
    <p:sldLayoutId id="2147483685" r:id="rId5"/>
  </p:sldLayoutIdLst>
  <p:hf hdr="0" ftr="0" dt="0"/>
  <p:txStyles>
    <p:titleStyle>
      <a:lvl1pPr algn="r" defTabSz="914354" rtl="0" eaLnBrk="1" latinLnBrk="0" hangingPunct="1">
        <a:spcBef>
          <a:spcPct val="0"/>
        </a:spcBef>
        <a:buNone/>
        <a:defRPr lang="en-US" sz="4000" b="1" kern="1200" cap="all" normalizeH="0" baseline="0" dirty="0">
          <a:solidFill>
            <a:srgbClr val="2F3A46"/>
          </a:solidFill>
          <a:latin typeface="Open Sans" panose="020B0606030504020204" pitchFamily="34" charset="0"/>
          <a:ea typeface="Open Sans" panose="020B0606030504020204" pitchFamily="34" charset="0"/>
          <a:cs typeface="Open Sans" panose="020B0606030504020204" pitchFamily="34" charset="0"/>
        </a:defRPr>
      </a:lvl1pPr>
    </p:titleStyle>
    <p:bodyStyle>
      <a:lvl1pPr marL="342882" indent="-342882" algn="l" defTabSz="914354" rtl="0" eaLnBrk="1" latinLnBrk="0" hangingPunct="1">
        <a:spcBef>
          <a:spcPct val="20000"/>
        </a:spcBef>
        <a:buFont typeface="Arial" pitchFamily="34" charset="0"/>
        <a:buChar char="•"/>
        <a:defRPr sz="3200" kern="1200">
          <a:solidFill>
            <a:schemeClr val="tx1">
              <a:lumMod val="75000"/>
            </a:schemeClr>
          </a:solidFill>
          <a:latin typeface="Open Sans" panose="020B0606030504020204" pitchFamily="34" charset="0"/>
          <a:ea typeface="Open Sans" panose="020B0606030504020204" pitchFamily="34" charset="0"/>
          <a:cs typeface="Open Sans" panose="020B0606030504020204" pitchFamily="34" charset="0"/>
        </a:defRPr>
      </a:lvl1pPr>
      <a:lvl2pPr marL="742913" indent="-285737" algn="l" defTabSz="914354" rtl="0" eaLnBrk="1" latinLnBrk="0" hangingPunct="1">
        <a:spcBef>
          <a:spcPct val="20000"/>
        </a:spcBef>
        <a:buFont typeface="Arial" pitchFamily="34" charset="0"/>
        <a:buChar char="–"/>
        <a:defRPr sz="2800" kern="1200">
          <a:solidFill>
            <a:schemeClr val="tx1">
              <a:lumMod val="75000"/>
            </a:schemeClr>
          </a:solidFill>
          <a:latin typeface="Open Sans" panose="020B0606030504020204" pitchFamily="34" charset="0"/>
          <a:ea typeface="Open Sans" panose="020B0606030504020204" pitchFamily="34" charset="0"/>
          <a:cs typeface="Open Sans" panose="020B0606030504020204" pitchFamily="34" charset="0"/>
        </a:defRPr>
      </a:lvl2pPr>
      <a:lvl3pPr marL="1142942" indent="-228589" algn="l" defTabSz="914354" rtl="0" eaLnBrk="1" latinLnBrk="0" hangingPunct="1">
        <a:spcBef>
          <a:spcPct val="20000"/>
        </a:spcBef>
        <a:buFont typeface="Arial" pitchFamily="34" charset="0"/>
        <a:buChar char="•"/>
        <a:defRPr sz="2400" kern="1200">
          <a:solidFill>
            <a:schemeClr val="tx1">
              <a:lumMod val="75000"/>
            </a:schemeClr>
          </a:solidFill>
          <a:latin typeface="Open Sans" panose="020B0606030504020204" pitchFamily="34" charset="0"/>
          <a:ea typeface="Open Sans" panose="020B0606030504020204" pitchFamily="34" charset="0"/>
          <a:cs typeface="Open Sans" panose="020B0606030504020204" pitchFamily="34" charset="0"/>
        </a:defRPr>
      </a:lvl3pPr>
      <a:lvl4pPr marL="1600120" indent="-228589" algn="l" defTabSz="914354" rtl="0" eaLnBrk="1" latinLnBrk="0" hangingPunct="1">
        <a:spcBef>
          <a:spcPct val="20000"/>
        </a:spcBef>
        <a:buFont typeface="Arial" pitchFamily="34" charset="0"/>
        <a:buChar char="–"/>
        <a:defRPr sz="2000" kern="1200">
          <a:solidFill>
            <a:schemeClr val="tx1">
              <a:lumMod val="75000"/>
            </a:schemeClr>
          </a:solidFill>
          <a:latin typeface="Open Sans" panose="020B0606030504020204" pitchFamily="34" charset="0"/>
          <a:ea typeface="Open Sans" panose="020B0606030504020204" pitchFamily="34" charset="0"/>
          <a:cs typeface="Open Sans" panose="020B0606030504020204" pitchFamily="34" charset="0"/>
        </a:defRPr>
      </a:lvl4pPr>
      <a:lvl5pPr marL="2057298" indent="-228589" algn="l" defTabSz="914354" rtl="0" eaLnBrk="1" latinLnBrk="0" hangingPunct="1">
        <a:spcBef>
          <a:spcPct val="20000"/>
        </a:spcBef>
        <a:buFont typeface="Arial" pitchFamily="34" charset="0"/>
        <a:buChar char="»"/>
        <a:defRPr sz="2000" kern="1200">
          <a:solidFill>
            <a:schemeClr val="tx1">
              <a:lumMod val="75000"/>
            </a:schemeClr>
          </a:solidFill>
          <a:latin typeface="Open Sans" panose="020B0606030504020204" pitchFamily="34" charset="0"/>
          <a:ea typeface="Open Sans" panose="020B0606030504020204" pitchFamily="34" charset="0"/>
          <a:cs typeface="Open Sans" panose="020B0606030504020204" pitchFamily="34" charset="0"/>
        </a:defRPr>
      </a:lvl5pPr>
      <a:lvl6pPr marL="2514474" indent="-228589" algn="l" defTabSz="914354"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652" indent="-228589" algn="l" defTabSz="914354"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829" indent="-228589" algn="l" defTabSz="914354"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006" indent="-228589" algn="l" defTabSz="914354"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fr-FR"/>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86256522"/>
      </p:ext>
    </p:extLst>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Lst>
  <p:txStyles>
    <p:titleStyle>
      <a:lvl1pPr algn="r" defTabSz="914400" rtl="1"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bg1"/>
            </a:gs>
            <a:gs pos="50000">
              <a:schemeClr val="tx2">
                <a:lumMod val="10000"/>
                <a:lumOff val="90000"/>
              </a:schemeClr>
            </a:gs>
            <a:gs pos="100000">
              <a:schemeClr val="bg2">
                <a:lumMod val="63000"/>
                <a:lumOff val="37000"/>
              </a:schemeClr>
            </a:gs>
          </a:gsLst>
          <a:lin ang="0" scaled="1"/>
          <a:tileRect/>
        </a:gra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C35CCE8-6F74-484F-9997-F624AF11DB6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endParaRPr lang="en-IL" dirty="0"/>
          </a:p>
        </p:txBody>
      </p:sp>
      <p:sp>
        <p:nvSpPr>
          <p:cNvPr id="3" name="Text Placeholder 2">
            <a:extLst>
              <a:ext uri="{FF2B5EF4-FFF2-40B4-BE49-F238E27FC236}">
                <a16:creationId xmlns:a16="http://schemas.microsoft.com/office/drawing/2014/main" id="{B902716A-3F96-417D-BD90-4BF827F0B3D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L" dirty="0"/>
          </a:p>
        </p:txBody>
      </p:sp>
      <p:sp>
        <p:nvSpPr>
          <p:cNvPr id="4" name="Date Placeholder 3">
            <a:extLst>
              <a:ext uri="{FF2B5EF4-FFF2-40B4-BE49-F238E27FC236}">
                <a16:creationId xmlns:a16="http://schemas.microsoft.com/office/drawing/2014/main" id="{55F900DF-B938-4C8C-984E-73C86064A3B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Assistant" pitchFamily="2" charset="-79"/>
                <a:cs typeface="Assistant" pitchFamily="2" charset="-79"/>
              </a:defRPr>
            </a:lvl1pPr>
          </a:lstStyle>
          <a:p>
            <a:fld id="{04C3C828-D965-4B22-85AA-AF24CD109DC9}" type="datetimeFigureOut">
              <a:rPr lang="en-IL" smtClean="0"/>
              <a:pPr/>
              <a:t>24/09/2024</a:t>
            </a:fld>
            <a:endParaRPr lang="en-IL" dirty="0"/>
          </a:p>
        </p:txBody>
      </p:sp>
      <p:sp>
        <p:nvSpPr>
          <p:cNvPr id="5" name="Footer Placeholder 4">
            <a:extLst>
              <a:ext uri="{FF2B5EF4-FFF2-40B4-BE49-F238E27FC236}">
                <a16:creationId xmlns:a16="http://schemas.microsoft.com/office/drawing/2014/main" id="{E23C7C5F-C920-4783-A0E6-CACCA99FC20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Assistant" pitchFamily="2" charset="-79"/>
                <a:cs typeface="Assistant" pitchFamily="2" charset="-79"/>
              </a:defRPr>
            </a:lvl1pPr>
          </a:lstStyle>
          <a:p>
            <a:endParaRPr lang="en-IL" dirty="0"/>
          </a:p>
        </p:txBody>
      </p:sp>
      <p:sp>
        <p:nvSpPr>
          <p:cNvPr id="6" name="Slide Number Placeholder 5">
            <a:extLst>
              <a:ext uri="{FF2B5EF4-FFF2-40B4-BE49-F238E27FC236}">
                <a16:creationId xmlns:a16="http://schemas.microsoft.com/office/drawing/2014/main" id="{DA9D0F9F-CC41-4816-BBC6-018656A71AE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Assistant" pitchFamily="2" charset="-79"/>
                <a:cs typeface="Assistant" pitchFamily="2" charset="-79"/>
              </a:defRPr>
            </a:lvl1pPr>
          </a:lstStyle>
          <a:p>
            <a:fld id="{B77FEFEE-B59A-439F-87BA-08D2A83B568B}" type="slidenum">
              <a:rPr lang="en-IL" smtClean="0"/>
              <a:pPr/>
              <a:t>‹#›</a:t>
            </a:fld>
            <a:endParaRPr lang="en-IL" dirty="0"/>
          </a:p>
        </p:txBody>
      </p:sp>
    </p:spTree>
    <p:extLst>
      <p:ext uri="{BB962C8B-B14F-4D97-AF65-F5344CB8AC3E}">
        <p14:creationId xmlns:p14="http://schemas.microsoft.com/office/powerpoint/2010/main" val="1099755471"/>
      </p:ext>
    </p:extLst>
  </p:cSld>
  <p:clrMap bg1="lt1" tx1="dk1" bg2="lt2" tx2="dk2" accent1="accent1" accent2="accent2" accent3="accent3" accent4="accent4" accent5="accent5" accent6="accent6" hlink="hlink" folHlink="folHlink"/>
  <p:sldLayoutIdLst>
    <p:sldLayoutId id="2147483716" r:id="rId1"/>
    <p:sldLayoutId id="2147483717" r:id="rId2"/>
    <p:sldLayoutId id="2147483718" r:id="rId3"/>
    <p:sldLayoutId id="2147483719" r:id="rId4"/>
    <p:sldLayoutId id="2147483720" r:id="rId5"/>
    <p:sldLayoutId id="2147483721" r:id="rId6"/>
    <p:sldLayoutId id="2147483722" r:id="rId7"/>
    <p:sldLayoutId id="2147483723" r:id="rId8"/>
    <p:sldLayoutId id="2147483724" r:id="rId9"/>
    <p:sldLayoutId id="2147483725" r:id="rId10"/>
    <p:sldLayoutId id="2147483726" r:id="rId11"/>
    <p:sldLayoutId id="2147483727" r:id="rId12"/>
    <p:sldLayoutId id="2147483728" r:id="rId13"/>
    <p:sldLayoutId id="2147483729" r:id="rId14"/>
    <p:sldLayoutId id="2147483730" r:id="rId15"/>
    <p:sldLayoutId id="2147483731" r:id="rId16"/>
    <p:sldLayoutId id="2147483732" r:id="rId17"/>
    <p:sldLayoutId id="2147483733" r:id="rId18"/>
  </p:sldLayoutIdLst>
  <p:txStyles>
    <p:titleStyle>
      <a:lvl1pPr algn="l" defTabSz="914400" rtl="0" eaLnBrk="1" latinLnBrk="0" hangingPunct="1">
        <a:lnSpc>
          <a:spcPct val="90000"/>
        </a:lnSpc>
        <a:spcBef>
          <a:spcPct val="0"/>
        </a:spcBef>
        <a:buNone/>
        <a:defRPr sz="4400" kern="1200">
          <a:solidFill>
            <a:schemeClr val="tx1"/>
          </a:solidFill>
          <a:latin typeface="Assistant" pitchFamily="2" charset="-79"/>
          <a:ea typeface="+mj-ea"/>
          <a:cs typeface="Assistant" pitchFamily="2" charset="-79"/>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ssistant" pitchFamily="2" charset="-79"/>
          <a:ea typeface="+mn-ea"/>
          <a:cs typeface="Assistant" pitchFamily="2" charset="-79"/>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ssistant" pitchFamily="2" charset="-79"/>
          <a:ea typeface="+mn-ea"/>
          <a:cs typeface="Assistant" pitchFamily="2" charset="-79"/>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ssistant" pitchFamily="2" charset="-79"/>
          <a:ea typeface="+mn-ea"/>
          <a:cs typeface="Assistant" pitchFamily="2" charset="-79"/>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ssistant" pitchFamily="2" charset="-79"/>
          <a:ea typeface="+mn-ea"/>
          <a:cs typeface="Assistant" pitchFamily="2" charset="-79"/>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ssistant" pitchFamily="2" charset="-79"/>
          <a:ea typeface="+mn-ea"/>
          <a:cs typeface="Assistant" pitchFamily="2" charset="-79"/>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I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מציין מיקום של כותרת 1">
            <a:extLst>
              <a:ext uri="{FF2B5EF4-FFF2-40B4-BE49-F238E27FC236}">
                <a16:creationId xmlns:a16="http://schemas.microsoft.com/office/drawing/2014/main" id="{982C2669-6FE2-E087-7125-5E2310C35C47}"/>
              </a:ext>
            </a:extLst>
          </p:cNvPr>
          <p:cNvSpPr>
            <a:spLocks noGrp="1"/>
          </p:cNvSpPr>
          <p:nvPr>
            <p:ph type="title"/>
          </p:nvPr>
        </p:nvSpPr>
        <p:spPr>
          <a:xfrm>
            <a:off x="838200" y="365125"/>
            <a:ext cx="10515600" cy="1325563"/>
          </a:xfrm>
          <a:prstGeom prst="rect">
            <a:avLst/>
          </a:prstGeom>
        </p:spPr>
        <p:txBody>
          <a:bodyPr vert="horz" lIns="91440" tIns="45720" rIns="91440" bIns="45720" rtlCol="1" anchor="ctr">
            <a:normAutofit/>
          </a:bodyPr>
          <a:lstStyle/>
          <a:p>
            <a:r>
              <a:rPr lang="he-IL"/>
              <a:t>לחץ כדי לערוך סגנון כותרת של תבנית בסיס</a:t>
            </a:r>
          </a:p>
        </p:txBody>
      </p:sp>
      <p:sp>
        <p:nvSpPr>
          <p:cNvPr id="3" name="מציין מיקום טקסט 2">
            <a:extLst>
              <a:ext uri="{FF2B5EF4-FFF2-40B4-BE49-F238E27FC236}">
                <a16:creationId xmlns:a16="http://schemas.microsoft.com/office/drawing/2014/main" id="{ABB54EC6-6C06-C572-9CB9-849438C86104}"/>
              </a:ext>
            </a:extLst>
          </p:cNvPr>
          <p:cNvSpPr>
            <a:spLocks noGrp="1"/>
          </p:cNvSpPr>
          <p:nvPr>
            <p:ph type="body" idx="1"/>
          </p:nvPr>
        </p:nvSpPr>
        <p:spPr>
          <a:xfrm>
            <a:off x="838200" y="1825625"/>
            <a:ext cx="10515600" cy="4351338"/>
          </a:xfrm>
          <a:prstGeom prst="rect">
            <a:avLst/>
          </a:prstGeom>
        </p:spPr>
        <p:txBody>
          <a:bodyPr vert="horz" lIns="91440" tIns="45720" rIns="91440" bIns="45720" rtlCol="1">
            <a:normAutofit/>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של תאריך 3">
            <a:extLst>
              <a:ext uri="{FF2B5EF4-FFF2-40B4-BE49-F238E27FC236}">
                <a16:creationId xmlns:a16="http://schemas.microsoft.com/office/drawing/2014/main" id="{95950CE4-9A09-0A0F-D73C-7F01DF8EFB4A}"/>
              </a:ext>
            </a:extLst>
          </p:cNvPr>
          <p:cNvSpPr>
            <a:spLocks noGrp="1"/>
          </p:cNvSpPr>
          <p:nvPr>
            <p:ph type="dt" sz="half" idx="2"/>
          </p:nvPr>
        </p:nvSpPr>
        <p:spPr>
          <a:xfrm>
            <a:off x="8610600" y="6356350"/>
            <a:ext cx="2743200" cy="365125"/>
          </a:xfrm>
          <a:prstGeom prst="rect">
            <a:avLst/>
          </a:prstGeom>
        </p:spPr>
        <p:txBody>
          <a:bodyPr vert="horz" lIns="91440" tIns="45720" rIns="91440" bIns="45720" rtlCol="1" anchor="ctr"/>
          <a:lstStyle>
            <a:lvl1pPr algn="r">
              <a:defRPr sz="1200">
                <a:solidFill>
                  <a:schemeClr val="tx1">
                    <a:tint val="75000"/>
                  </a:schemeClr>
                </a:solidFill>
              </a:defRPr>
            </a:lvl1pPr>
          </a:lstStyle>
          <a:p>
            <a:fld id="{A2B3D744-8BFC-49C4-921C-A4357DD28206}" type="datetimeFigureOut">
              <a:rPr lang="he-IL" smtClean="0"/>
              <a:t>כ"א/אלול/תשפ"ד</a:t>
            </a:fld>
            <a:endParaRPr lang="he-IL"/>
          </a:p>
        </p:txBody>
      </p:sp>
      <p:sp>
        <p:nvSpPr>
          <p:cNvPr id="5" name="מציין מיקום של כותרת תחתונה 4">
            <a:extLst>
              <a:ext uri="{FF2B5EF4-FFF2-40B4-BE49-F238E27FC236}">
                <a16:creationId xmlns:a16="http://schemas.microsoft.com/office/drawing/2014/main" id="{08574296-06B8-C9A9-ADEC-1558A4AFA1A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1" anchor="ctr"/>
          <a:lstStyle>
            <a:lvl1pPr algn="ctr">
              <a:defRPr sz="1200">
                <a:solidFill>
                  <a:schemeClr val="tx1">
                    <a:tint val="75000"/>
                  </a:schemeClr>
                </a:solidFill>
              </a:defRPr>
            </a:lvl1pPr>
          </a:lstStyle>
          <a:p>
            <a:endParaRPr lang="he-IL"/>
          </a:p>
        </p:txBody>
      </p:sp>
      <p:sp>
        <p:nvSpPr>
          <p:cNvPr id="6" name="מציין מיקום של מספר שקופית 5">
            <a:extLst>
              <a:ext uri="{FF2B5EF4-FFF2-40B4-BE49-F238E27FC236}">
                <a16:creationId xmlns:a16="http://schemas.microsoft.com/office/drawing/2014/main" id="{8D82B4F2-D06E-EA08-B19F-CCAF8890E980}"/>
              </a:ext>
            </a:extLst>
          </p:cNvPr>
          <p:cNvSpPr>
            <a:spLocks noGrp="1"/>
          </p:cNvSpPr>
          <p:nvPr>
            <p:ph type="sldNum" sz="quarter" idx="4"/>
          </p:nvPr>
        </p:nvSpPr>
        <p:spPr>
          <a:xfrm>
            <a:off x="838200" y="6356350"/>
            <a:ext cx="2743200" cy="365125"/>
          </a:xfrm>
          <a:prstGeom prst="rect">
            <a:avLst/>
          </a:prstGeom>
        </p:spPr>
        <p:txBody>
          <a:bodyPr vert="horz" lIns="91440" tIns="45720" rIns="91440" bIns="45720" rtlCol="1" anchor="ctr"/>
          <a:lstStyle>
            <a:lvl1pPr algn="l">
              <a:defRPr sz="1200">
                <a:solidFill>
                  <a:schemeClr val="tx1">
                    <a:tint val="75000"/>
                  </a:schemeClr>
                </a:solidFill>
              </a:defRPr>
            </a:lvl1pPr>
          </a:lstStyle>
          <a:p>
            <a:fld id="{C4BCB286-1E5E-4B02-A0C5-06BDEC1E2FA1}" type="slidenum">
              <a:rPr lang="he-IL" smtClean="0"/>
              <a:t>‹#›</a:t>
            </a:fld>
            <a:endParaRPr lang="he-IL"/>
          </a:p>
        </p:txBody>
      </p:sp>
    </p:spTree>
    <p:extLst>
      <p:ext uri="{BB962C8B-B14F-4D97-AF65-F5344CB8AC3E}">
        <p14:creationId xmlns:p14="http://schemas.microsoft.com/office/powerpoint/2010/main" val="2951304864"/>
      </p:ext>
    </p:extLst>
  </p:cSld>
  <p:clrMap bg1="lt1" tx1="dk1" bg2="lt2" tx2="dk2" accent1="accent1" accent2="accent2" accent3="accent3" accent4="accent4" accent5="accent5" accent6="accent6" hlink="hlink" folHlink="folHlink"/>
  <p:sldLayoutIdLst>
    <p:sldLayoutId id="2147483749" r:id="rId1"/>
    <p:sldLayoutId id="2147483750" r:id="rId2"/>
    <p:sldLayoutId id="2147483751" r:id="rId3"/>
    <p:sldLayoutId id="2147483752" r:id="rId4"/>
    <p:sldLayoutId id="2147483753" r:id="rId5"/>
    <p:sldLayoutId id="2147483754" r:id="rId6"/>
    <p:sldLayoutId id="2147483755" r:id="rId7"/>
    <p:sldLayoutId id="2147483756" r:id="rId8"/>
    <p:sldLayoutId id="2147483757" r:id="rId9"/>
    <p:sldLayoutId id="2147483758" r:id="rId10"/>
    <p:sldLayoutId id="2147483759" r:id="rId11"/>
    <p:sldLayoutId id="2147483760" r:id="rId12"/>
    <p:sldLayoutId id="2147483761" r:id="rId13"/>
  </p:sldLayoutIdLst>
  <p:txStyles>
    <p:titleStyle>
      <a:lvl1pPr algn="r" defTabSz="914400" rtl="1"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1.jpeg"/><Relationship Id="rId7" Type="http://schemas.openxmlformats.org/officeDocument/2006/relationships/image" Target="../media/image15.png"/><Relationship Id="rId2" Type="http://schemas.openxmlformats.org/officeDocument/2006/relationships/notesSlide" Target="../notesSlides/notesSlide1.xml"/><Relationship Id="rId1" Type="http://schemas.openxmlformats.org/officeDocument/2006/relationships/slideLayout" Target="../slideLayouts/slideLayout17.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3.xml"/></Relationships>
</file>

<file path=ppt/slides/_rels/slide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3.xml"/><Relationship Id="rId1" Type="http://schemas.openxmlformats.org/officeDocument/2006/relationships/slideLayout" Target="../slideLayouts/slideLayout36.xml"/></Relationships>
</file>

<file path=ppt/slides/_rels/slide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37.xml"/><Relationship Id="rId5" Type="http://schemas.openxmlformats.org/officeDocument/2006/relationships/image" Target="../media/image20.png"/><Relationship Id="rId4" Type="http://schemas.openxmlformats.org/officeDocument/2006/relationships/image" Target="../media/image19.svg"/></Relationships>
</file>

<file path=ppt/slides/_rels/slide6.xml.rels><?xml version="1.0" encoding="UTF-8" standalone="yes"?>
<Relationships xmlns="http://schemas.openxmlformats.org/package/2006/relationships"><Relationship Id="rId3" Type="http://schemas.openxmlformats.org/officeDocument/2006/relationships/chart" Target="../charts/chart2.xml"/><Relationship Id="rId7" Type="http://schemas.openxmlformats.org/officeDocument/2006/relationships/image" Target="../media/image23.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chart" Target="../charts/chart3.xml"/></Relationships>
</file>

<file path=ppt/slides/_rels/slide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5.xml"/><Relationship Id="rId1" Type="http://schemas.openxmlformats.org/officeDocument/2006/relationships/slideLayout" Target="../slideLayouts/slideLayout12.xml"/><Relationship Id="rId6" Type="http://schemas.openxmlformats.org/officeDocument/2006/relationships/chart" Target="../charts/chart5.xml"/><Relationship Id="rId5" Type="http://schemas.openxmlformats.org/officeDocument/2006/relationships/chart" Target="../charts/chart4.xml"/><Relationship Id="rId4" Type="http://schemas.openxmlformats.org/officeDocument/2006/relationships/image" Target="../media/image24.png"/></Relationships>
</file>

<file path=ppt/slides/_rels/slide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6.xml"/><Relationship Id="rId1" Type="http://schemas.openxmlformats.org/officeDocument/2006/relationships/slideLayout" Target="../slideLayouts/slideLayout36.xml"/><Relationship Id="rId4" Type="http://schemas.openxmlformats.org/officeDocument/2006/relationships/image" Target="../media/image26.png"/></Relationships>
</file>

<file path=ppt/slides/_rels/slide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7.xml"/><Relationship Id="rId1" Type="http://schemas.openxmlformats.org/officeDocument/2006/relationships/slideLayout" Target="../slideLayouts/slideLayout36.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_rels/slide10.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21.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8" Type="http://schemas.openxmlformats.org/officeDocument/2006/relationships/image" Target="../media/image37.svg"/><Relationship Id="rId3" Type="http://schemas.openxmlformats.org/officeDocument/2006/relationships/image" Target="../media/image32.png"/><Relationship Id="rId7" Type="http://schemas.openxmlformats.org/officeDocument/2006/relationships/image" Target="../media/image36.png"/><Relationship Id="rId2" Type="http://schemas.openxmlformats.org/officeDocument/2006/relationships/image" Target="../media/image31.png"/><Relationship Id="rId1" Type="http://schemas.openxmlformats.org/officeDocument/2006/relationships/slideLayout" Target="../slideLayouts/slideLayout37.xml"/><Relationship Id="rId6" Type="http://schemas.openxmlformats.org/officeDocument/2006/relationships/image" Target="../media/image35.svg"/><Relationship Id="rId5" Type="http://schemas.openxmlformats.org/officeDocument/2006/relationships/image" Target="../media/image34.png"/><Relationship Id="rId10" Type="http://schemas.openxmlformats.org/officeDocument/2006/relationships/image" Target="../media/image39.svg"/><Relationship Id="rId4" Type="http://schemas.openxmlformats.org/officeDocument/2006/relationships/image" Target="../media/image33.svg"/><Relationship Id="rId9" Type="http://schemas.openxmlformats.org/officeDocument/2006/relationships/image" Target="../media/image38.png"/></Relationships>
</file>

<file path=ppt/slides/_rels/slide13.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0.xml"/><Relationship Id="rId1" Type="http://schemas.openxmlformats.org/officeDocument/2006/relationships/slideLayout" Target="../slideLayouts/slideLayout47.xml"/><Relationship Id="rId4" Type="http://schemas.microsoft.com/office/2007/relationships/hdphoto" Target="../media/hdphoto1.wdp"/></Relationships>
</file>

<file path=ppt/slides/_rels/slide1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0.png"/><Relationship Id="rId1" Type="http://schemas.openxmlformats.org/officeDocument/2006/relationships/slideLayout" Target="../slideLayouts/slideLayout37.xml"/><Relationship Id="rId5" Type="http://schemas.microsoft.com/office/2007/relationships/hdphoto" Target="../media/hdphoto2.wdp"/><Relationship Id="rId4" Type="http://schemas.openxmlformats.org/officeDocument/2006/relationships/image" Target="../media/image41.png"/></Relationships>
</file>

<file path=ppt/slides/_rels/slide15.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notesSlide" Target="../notesSlides/notesSlide11.xml"/><Relationship Id="rId1" Type="http://schemas.openxmlformats.org/officeDocument/2006/relationships/slideLayout" Target="../slideLayouts/slideLayout15.xml"/></Relationships>
</file>

<file path=ppt/slides/_rels/slide16.xml.rels><?xml version="1.0" encoding="UTF-8" standalone="yes"?>
<Relationships xmlns="http://schemas.openxmlformats.org/package/2006/relationships"><Relationship Id="rId3" Type="http://schemas.openxmlformats.org/officeDocument/2006/relationships/chart" Target="../charts/chart8.xml"/><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chart" Target="../charts/chart9.xml"/></Relationships>
</file>

<file path=ppt/slides/_rels/slide17.xml.rels><?xml version="1.0" encoding="UTF-8" standalone="yes"?>
<Relationships xmlns="http://schemas.openxmlformats.org/package/2006/relationships"><Relationship Id="rId3" Type="http://schemas.openxmlformats.org/officeDocument/2006/relationships/chart" Target="../charts/chart10.xml"/><Relationship Id="rId2" Type="http://schemas.openxmlformats.org/officeDocument/2006/relationships/notesSlide" Target="../notesSlides/notesSlide13.xml"/><Relationship Id="rId1" Type="http://schemas.openxmlformats.org/officeDocument/2006/relationships/slideLayout" Target="../slideLayouts/slideLayout1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42.jp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43.jpg"/></Relationships>
</file>

<file path=ppt/slides/_rels/slide22.xml.rels><?xml version="1.0" encoding="UTF-8" standalone="yes"?>
<Relationships xmlns="http://schemas.openxmlformats.org/package/2006/relationships"><Relationship Id="rId3" Type="http://schemas.openxmlformats.org/officeDocument/2006/relationships/chart" Target="../charts/chart11.xml"/><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44.jpeg"/><Relationship Id="rId2" Type="http://schemas.openxmlformats.org/officeDocument/2006/relationships/notesSlide" Target="../notesSlides/notesSlide19.xml"/><Relationship Id="rId1" Type="http://schemas.openxmlformats.org/officeDocument/2006/relationships/slideLayout" Target="../slideLayouts/slideLayout13.xml"/><Relationship Id="rId4" Type="http://schemas.openxmlformats.org/officeDocument/2006/relationships/image" Target="../media/image4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7.xml"/></Relationships>
</file>

<file path=ppt/slides/_rels/slide25.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47.png"/><Relationship Id="rId7" Type="http://schemas.openxmlformats.org/officeDocument/2006/relationships/image" Target="../media/image15.png"/><Relationship Id="rId2" Type="http://schemas.openxmlformats.org/officeDocument/2006/relationships/image" Target="../media/image46.jpeg"/><Relationship Id="rId1" Type="http://schemas.openxmlformats.org/officeDocument/2006/relationships/slideLayout" Target="../slideLayouts/slideLayout48.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48.png"/></Relationships>
</file>

<file path=ppt/slides/_rels/slide26.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20.xml"/><Relationship Id="rId1" Type="http://schemas.openxmlformats.org/officeDocument/2006/relationships/slideLayout" Target="../slideLayouts/slideLayout26.xml"/><Relationship Id="rId5" Type="http://schemas.openxmlformats.org/officeDocument/2006/relationships/image" Target="../media/image15.png"/><Relationship Id="rId4" Type="http://schemas.openxmlformats.org/officeDocument/2006/relationships/image" Target="../media/image50.png"/></Relationships>
</file>

<file path=ppt/slides/_rels/slide27.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1.xml"/><Relationship Id="rId1" Type="http://schemas.openxmlformats.org/officeDocument/2006/relationships/slideLayout" Target="../slideLayouts/slideLayout49.xml"/><Relationship Id="rId6" Type="http://schemas.openxmlformats.org/officeDocument/2006/relationships/image" Target="../media/image15.png"/><Relationship Id="rId5" Type="http://schemas.openxmlformats.org/officeDocument/2006/relationships/image" Target="../media/image49.png"/><Relationship Id="rId4" Type="http://schemas.openxmlformats.org/officeDocument/2006/relationships/image" Target="../media/image35.svg"/></Relationships>
</file>

<file path=ppt/slides/_rels/slide28.xml.rels><?xml version="1.0" encoding="UTF-8" standalone="yes"?>
<Relationships xmlns="http://schemas.openxmlformats.org/package/2006/relationships"><Relationship Id="rId3" Type="http://schemas.openxmlformats.org/officeDocument/2006/relationships/image" Target="../media/image51.png"/><Relationship Id="rId7" Type="http://schemas.openxmlformats.org/officeDocument/2006/relationships/image" Target="../media/image15.png"/><Relationship Id="rId2" Type="http://schemas.openxmlformats.org/officeDocument/2006/relationships/notesSlide" Target="../notesSlides/notesSlide22.xml"/><Relationship Id="rId1" Type="http://schemas.openxmlformats.org/officeDocument/2006/relationships/slideLayout" Target="../slideLayouts/slideLayout37.xml"/><Relationship Id="rId6" Type="http://schemas.openxmlformats.org/officeDocument/2006/relationships/image" Target="../media/image49.png"/><Relationship Id="rId5" Type="http://schemas.openxmlformats.org/officeDocument/2006/relationships/image" Target="../media/image35.svg"/><Relationship Id="rId4" Type="http://schemas.openxmlformats.org/officeDocument/2006/relationships/image" Target="../media/image34.png"/></Relationships>
</file>

<file path=ppt/slides/_rels/slide29.xml.rels><?xml version="1.0" encoding="UTF-8" standalone="yes"?>
<Relationships xmlns="http://schemas.openxmlformats.org/package/2006/relationships"><Relationship Id="rId3" Type="http://schemas.openxmlformats.org/officeDocument/2006/relationships/image" Target="../media/image35.svg"/><Relationship Id="rId2" Type="http://schemas.openxmlformats.org/officeDocument/2006/relationships/image" Target="../media/image34.png"/><Relationship Id="rId1" Type="http://schemas.openxmlformats.org/officeDocument/2006/relationships/slideLayout" Target="../slideLayouts/slideLayout37.xml"/><Relationship Id="rId5" Type="http://schemas.openxmlformats.org/officeDocument/2006/relationships/image" Target="../media/image15.png"/><Relationship Id="rId4" Type="http://schemas.openxmlformats.org/officeDocument/2006/relationships/image" Target="../media/image49.png"/></Relationships>
</file>

<file path=ppt/slides/_rels/slide30.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52.png"/><Relationship Id="rId7" Type="http://schemas.openxmlformats.org/officeDocument/2006/relationships/image" Target="../media/image14.png"/><Relationship Id="rId2" Type="http://schemas.openxmlformats.org/officeDocument/2006/relationships/notesSlide" Target="../notesSlides/notesSlide23.xml"/><Relationship Id="rId1" Type="http://schemas.openxmlformats.org/officeDocument/2006/relationships/slideLayout" Target="../slideLayouts/slideLayout60.xml"/><Relationship Id="rId6" Type="http://schemas.openxmlformats.org/officeDocument/2006/relationships/image" Target="../media/image15.png"/><Relationship Id="rId5" Type="http://schemas.openxmlformats.org/officeDocument/2006/relationships/image" Target="../media/image24.png"/><Relationship Id="rId4" Type="http://schemas.openxmlformats.org/officeDocument/2006/relationships/image" Target="../media/image53.jpeg"/></Relationships>
</file>

<file path=ppt/slides/_rels/slide31.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65.xml"/><Relationship Id="rId6" Type="http://schemas.openxmlformats.org/officeDocument/2006/relationships/image" Target="../media/image56.png"/><Relationship Id="rId5" Type="http://schemas.openxmlformats.org/officeDocument/2006/relationships/image" Target="../media/image10.png"/><Relationship Id="rId4" Type="http://schemas.microsoft.com/office/2007/relationships/hdphoto" Target="../media/hdphoto3.wdp"/></Relationships>
</file>

<file path=ppt/slides/_rels/slide32.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7.png"/><Relationship Id="rId1" Type="http://schemas.openxmlformats.org/officeDocument/2006/relationships/slideLayout" Target="../slideLayouts/slideLayout66.xml"/><Relationship Id="rId5" Type="http://schemas.openxmlformats.org/officeDocument/2006/relationships/image" Target="../media/image10.png"/><Relationship Id="rId4" Type="http://schemas.openxmlformats.org/officeDocument/2006/relationships/image" Target="../media/image59.png"/></Relationships>
</file>

<file path=ppt/slides/_rels/slide33.xml.rels><?xml version="1.0" encoding="UTF-8" standalone="yes"?>
<Relationships xmlns="http://schemas.openxmlformats.org/package/2006/relationships"><Relationship Id="rId8" Type="http://schemas.openxmlformats.org/officeDocument/2006/relationships/image" Target="../media/image64.jpeg"/><Relationship Id="rId3" Type="http://schemas.openxmlformats.org/officeDocument/2006/relationships/image" Target="../media/image60.jpeg"/><Relationship Id="rId7" Type="http://schemas.openxmlformats.org/officeDocument/2006/relationships/image" Target="../media/image63.png"/><Relationship Id="rId2" Type="http://schemas.openxmlformats.org/officeDocument/2006/relationships/notesSlide" Target="../notesSlides/notesSlide24.xml"/><Relationship Id="rId1" Type="http://schemas.openxmlformats.org/officeDocument/2006/relationships/slideLayout" Target="../slideLayouts/slideLayout66.xml"/><Relationship Id="rId6" Type="http://schemas.openxmlformats.org/officeDocument/2006/relationships/image" Target="../media/image62.png"/><Relationship Id="rId5" Type="http://schemas.openxmlformats.org/officeDocument/2006/relationships/image" Target="../media/image61.png"/><Relationship Id="rId4" Type="http://schemas.openxmlformats.org/officeDocument/2006/relationships/image" Target="../media/image10.png"/><Relationship Id="rId9" Type="http://schemas.openxmlformats.org/officeDocument/2006/relationships/image" Target="../media/image65.jpeg"/></Relationships>
</file>

<file path=ppt/slides/_rels/slide34.xml.rels><?xml version="1.0" encoding="UTF-8" standalone="yes"?>
<Relationships xmlns="http://schemas.openxmlformats.org/package/2006/relationships"><Relationship Id="rId8" Type="http://schemas.openxmlformats.org/officeDocument/2006/relationships/image" Target="../media/image71.png"/><Relationship Id="rId3" Type="http://schemas.openxmlformats.org/officeDocument/2006/relationships/image" Target="../media/image66.png"/><Relationship Id="rId7" Type="http://schemas.openxmlformats.org/officeDocument/2006/relationships/image" Target="../media/image70.png"/><Relationship Id="rId2" Type="http://schemas.openxmlformats.org/officeDocument/2006/relationships/notesSlide" Target="../notesSlides/notesSlide25.xml"/><Relationship Id="rId1" Type="http://schemas.openxmlformats.org/officeDocument/2006/relationships/slideLayout" Target="../slideLayouts/slideLayout66.xml"/><Relationship Id="rId6" Type="http://schemas.openxmlformats.org/officeDocument/2006/relationships/image" Target="../media/image69.jpg"/><Relationship Id="rId5" Type="http://schemas.openxmlformats.org/officeDocument/2006/relationships/image" Target="../media/image68.jpg"/><Relationship Id="rId10" Type="http://schemas.openxmlformats.org/officeDocument/2006/relationships/image" Target="../media/image73.png"/><Relationship Id="rId4" Type="http://schemas.openxmlformats.org/officeDocument/2006/relationships/image" Target="../media/image67.png"/><Relationship Id="rId9" Type="http://schemas.openxmlformats.org/officeDocument/2006/relationships/image" Target="../media/image72.png"/></Relationships>
</file>

<file path=ppt/slides/_rels/slide35.xml.rels><?xml version="1.0" encoding="UTF-8" standalone="yes"?>
<Relationships xmlns="http://schemas.openxmlformats.org/package/2006/relationships"><Relationship Id="rId3" Type="http://schemas.openxmlformats.org/officeDocument/2006/relationships/hyperlink" Target="https://docs.google.com/forms/d/e/1FAIpQLSeo4dfbT6VuxqA6KX_Nu0E1YNekSSZFeY-RRL9la6abVmkd2Q/viewform" TargetMode="External"/><Relationship Id="rId7" Type="http://schemas.openxmlformats.org/officeDocument/2006/relationships/image" Target="../media/image77.png"/><Relationship Id="rId2" Type="http://schemas.openxmlformats.org/officeDocument/2006/relationships/notesSlide" Target="../notesSlides/notesSlide26.xml"/><Relationship Id="rId1" Type="http://schemas.openxmlformats.org/officeDocument/2006/relationships/slideLayout" Target="../slideLayouts/slideLayout66.xml"/><Relationship Id="rId6" Type="http://schemas.openxmlformats.org/officeDocument/2006/relationships/image" Target="../media/image76.png"/><Relationship Id="rId5" Type="http://schemas.openxmlformats.org/officeDocument/2006/relationships/image" Target="../media/image75.png"/><Relationship Id="rId4" Type="http://schemas.openxmlformats.org/officeDocument/2006/relationships/image" Target="../media/image74.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5.xml"/></Relationships>
</file>

<file path=ppt/slides/_rels/slide38.xml.rels><?xml version="1.0" encoding="UTF-8" standalone="yes"?>
<Relationships xmlns="http://schemas.openxmlformats.org/package/2006/relationships"><Relationship Id="rId3" Type="http://schemas.openxmlformats.org/officeDocument/2006/relationships/chart" Target="../charts/chart12.xml"/><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notesSlide" Target="../notesSlides/notesSlide28.xml"/><Relationship Id="rId1" Type="http://schemas.openxmlformats.org/officeDocument/2006/relationships/slideLayout" Target="../slideLayouts/slideLayout54.xml"/><Relationship Id="rId5" Type="http://schemas.openxmlformats.org/officeDocument/2006/relationships/image" Target="../media/image15.png"/><Relationship Id="rId4" Type="http://schemas.openxmlformats.org/officeDocument/2006/relationships/image" Target="../media/image49.png"/></Relationships>
</file>

<file path=ppt/slides/_rels/slide40.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notesSlide" Target="../notesSlides/notesSlide29.xml"/><Relationship Id="rId1" Type="http://schemas.openxmlformats.org/officeDocument/2006/relationships/slideLayout" Target="../slideLayouts/slideLayout54.xml"/><Relationship Id="rId5" Type="http://schemas.openxmlformats.org/officeDocument/2006/relationships/image" Target="../media/image15.png"/><Relationship Id="rId4" Type="http://schemas.openxmlformats.org/officeDocument/2006/relationships/image" Target="../media/image49.png"/></Relationships>
</file>

<file path=ppt/slides/_rels/slide41.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24.png"/><Relationship Id="rId7" Type="http://schemas.openxmlformats.org/officeDocument/2006/relationships/diagramColors" Target="../diagrams/colors1.xml"/><Relationship Id="rId2" Type="http://schemas.openxmlformats.org/officeDocument/2006/relationships/notesSlide" Target="../notesSlides/notesSlide30.xml"/><Relationship Id="rId1" Type="http://schemas.openxmlformats.org/officeDocument/2006/relationships/slideLayout" Target="../slideLayouts/slideLayout2.xml"/><Relationship Id="rId6" Type="http://schemas.openxmlformats.org/officeDocument/2006/relationships/diagramQuickStyle" Target="../diagrams/quickStyle1.xml"/><Relationship Id="rId5" Type="http://schemas.openxmlformats.org/officeDocument/2006/relationships/diagramLayout" Target="../diagrams/layout1.xml"/><Relationship Id="rId10" Type="http://schemas.openxmlformats.org/officeDocument/2006/relationships/image" Target="../media/image15.png"/><Relationship Id="rId4" Type="http://schemas.openxmlformats.org/officeDocument/2006/relationships/diagramData" Target="../diagrams/data1.xml"/><Relationship Id="rId9" Type="http://schemas.openxmlformats.org/officeDocument/2006/relationships/image" Target="../media/image49.png"/></Relationships>
</file>

<file path=ppt/slides/_rels/slide42.xml.rels><?xml version="1.0" encoding="UTF-8" standalone="yes"?>
<Relationships xmlns="http://schemas.openxmlformats.org/package/2006/relationships"><Relationship Id="rId2" Type="http://schemas.openxmlformats.org/officeDocument/2006/relationships/image" Target="../media/image79.jpeg"/><Relationship Id="rId1" Type="http://schemas.openxmlformats.org/officeDocument/2006/relationships/slideLayout" Target="../slideLayouts/slideLayout51.xml"/></Relationships>
</file>

<file path=ppt/slides/_rels/slide4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1.xml"/><Relationship Id="rId1" Type="http://schemas.openxmlformats.org/officeDocument/2006/relationships/slideLayout" Target="../slideLayouts/slideLayout2.xml"/><Relationship Id="rId5" Type="http://schemas.openxmlformats.org/officeDocument/2006/relationships/chart" Target="../charts/chart13.xml"/><Relationship Id="rId4" Type="http://schemas.openxmlformats.org/officeDocument/2006/relationships/image" Target="../media/image22.png"/></Relationships>
</file>

<file path=ppt/slides/_rels/slide44.xml.rels><?xml version="1.0" encoding="UTF-8" standalone="yes"?>
<Relationships xmlns="http://schemas.openxmlformats.org/package/2006/relationships"><Relationship Id="rId3" Type="http://schemas.openxmlformats.org/officeDocument/2006/relationships/chart" Target="../charts/chart14.xml"/><Relationship Id="rId2" Type="http://schemas.openxmlformats.org/officeDocument/2006/relationships/notesSlide" Target="../notesSlides/notesSlide32.xml"/><Relationship Id="rId1" Type="http://schemas.openxmlformats.org/officeDocument/2006/relationships/slideLayout" Target="../slideLayouts/slideLayout16.xml"/></Relationships>
</file>

<file path=ppt/slides/_rels/slide45.xml.rels><?xml version="1.0" encoding="UTF-8" standalone="yes"?>
<Relationships xmlns="http://schemas.openxmlformats.org/package/2006/relationships"><Relationship Id="rId3" Type="http://schemas.openxmlformats.org/officeDocument/2006/relationships/chart" Target="../charts/chart15.xml"/><Relationship Id="rId2" Type="http://schemas.openxmlformats.org/officeDocument/2006/relationships/notesSlide" Target="../notesSlides/notesSlide33.xml"/><Relationship Id="rId1" Type="http://schemas.openxmlformats.org/officeDocument/2006/relationships/slideLayout" Target="../slideLayouts/slideLayout15.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notesSlide" Target="../notesSlides/notesSlide35.xml"/><Relationship Id="rId1" Type="http://schemas.openxmlformats.org/officeDocument/2006/relationships/slideLayout" Target="../slideLayouts/slideLayout1.xml"/><Relationship Id="rId5" Type="http://schemas.openxmlformats.org/officeDocument/2006/relationships/image" Target="../media/image81.png"/><Relationship Id="rId4" Type="http://schemas.openxmlformats.org/officeDocument/2006/relationships/image" Target="../media/image24.png"/></Relationships>
</file>

<file path=ppt/slides/_rels/slide48.xml.rels><?xml version="1.0" encoding="UTF-8" standalone="yes"?>
<Relationships xmlns="http://schemas.openxmlformats.org/package/2006/relationships"><Relationship Id="rId3" Type="http://schemas.openxmlformats.org/officeDocument/2006/relationships/image" Target="../media/image82.jpeg"/><Relationship Id="rId2" Type="http://schemas.openxmlformats.org/officeDocument/2006/relationships/notesSlide" Target="../notesSlides/notesSlide36.xml"/><Relationship Id="rId1" Type="http://schemas.openxmlformats.org/officeDocument/2006/relationships/slideLayout" Target="../slideLayouts/slideLayout2.xml"/><Relationship Id="rId4" Type="http://schemas.openxmlformats.org/officeDocument/2006/relationships/image" Target="../media/image83.png"/></Relationships>
</file>

<file path=ppt/slides/_rels/slide49.xml.rels><?xml version="1.0" encoding="UTF-8" standalone="yes"?>
<Relationships xmlns="http://schemas.openxmlformats.org/package/2006/relationships"><Relationship Id="rId3" Type="http://schemas.openxmlformats.org/officeDocument/2006/relationships/chart" Target="../charts/chart16.xml"/><Relationship Id="rId2" Type="http://schemas.openxmlformats.org/officeDocument/2006/relationships/notesSlide" Target="../notesSlides/notesSlide37.xml"/><Relationship Id="rId1" Type="http://schemas.openxmlformats.org/officeDocument/2006/relationships/slideLayout" Target="../slideLayouts/slideLayout2.xml"/><Relationship Id="rId4" Type="http://schemas.openxmlformats.org/officeDocument/2006/relationships/image" Target="../media/image83.png"/></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notesSlide" Target="../notesSlides/notesSlide39.xml"/><Relationship Id="rId1" Type="http://schemas.openxmlformats.org/officeDocument/2006/relationships/slideLayout" Target="../slideLayouts/slideLayout7.xml"/><Relationship Id="rId5" Type="http://schemas.openxmlformats.org/officeDocument/2006/relationships/image" Target="../media/image86.svg"/><Relationship Id="rId4" Type="http://schemas.openxmlformats.org/officeDocument/2006/relationships/image" Target="../media/image85.svg"/></Relationships>
</file>

<file path=ppt/slides/_rels/slide52.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תיבת טקסט 4">
            <a:extLst>
              <a:ext uri="{FF2B5EF4-FFF2-40B4-BE49-F238E27FC236}">
                <a16:creationId xmlns:a16="http://schemas.microsoft.com/office/drawing/2014/main" id="{F78D1226-EDA4-9008-3FDD-BEE283F5F121}"/>
              </a:ext>
            </a:extLst>
          </p:cNvPr>
          <p:cNvSpPr txBox="1"/>
          <p:nvPr/>
        </p:nvSpPr>
        <p:spPr>
          <a:xfrm>
            <a:off x="-866274" y="659608"/>
            <a:ext cx="12714370" cy="5355312"/>
          </a:xfrm>
          <a:prstGeom prst="rect">
            <a:avLst/>
          </a:prstGeom>
          <a:noFill/>
        </p:spPr>
        <p:txBody>
          <a:bodyPr wrap="square">
            <a:spAutoFit/>
          </a:bodyPr>
          <a:lstStyle/>
          <a:p>
            <a:r>
              <a:rPr lang="he-IL" dirty="0"/>
              <a:t>דגשים שניתן לחזק כדי להבליט את החדשנות והערך המוסף של הרפורמה המוצעת:</a:t>
            </a:r>
          </a:p>
          <a:p>
            <a:pPr>
              <a:buFont typeface="+mj-lt"/>
              <a:buAutoNum type="arabicPeriod"/>
            </a:pPr>
            <a:r>
              <a:rPr lang="he-IL" dirty="0"/>
              <a:t>הדגשת החדשנות הטכנולוגית: </a:t>
            </a:r>
          </a:p>
          <a:p>
            <a:pPr marL="742950" lvl="1" indent="-285750">
              <a:buFont typeface="+mj-lt"/>
              <a:buAutoNum type="arabicPeriod"/>
            </a:pPr>
            <a:r>
              <a:rPr lang="he-IL" dirty="0"/>
              <a:t>הבלטת השימוש ב-</a:t>
            </a:r>
            <a:r>
              <a:rPr lang="en-US" dirty="0"/>
              <a:t>AI </a:t>
            </a:r>
            <a:r>
              <a:rPr lang="he-IL" dirty="0"/>
              <a:t>להתאמה אישית של שירותים.</a:t>
            </a:r>
          </a:p>
          <a:p>
            <a:pPr marL="742950" lvl="1" indent="-285750">
              <a:buFont typeface="+mj-lt"/>
              <a:buAutoNum type="arabicPeriod"/>
            </a:pPr>
            <a:r>
              <a:rPr lang="he-IL" dirty="0"/>
              <a:t>הדגשת הפלטפורמה הדיגיטלית כמהפכה בניהול שירותי הסיעוד.</a:t>
            </a:r>
          </a:p>
          <a:p>
            <a:pPr>
              <a:buFont typeface="+mj-lt"/>
              <a:buAutoNum type="arabicPeriod"/>
            </a:pPr>
            <a:r>
              <a:rPr lang="he-IL" dirty="0"/>
              <a:t>מיקוד ברעיון ה"סל האישי": </a:t>
            </a:r>
          </a:p>
          <a:p>
            <a:pPr marL="742950" lvl="1" indent="-285750">
              <a:buFont typeface="+mj-lt"/>
              <a:buAutoNum type="arabicPeriod"/>
            </a:pPr>
            <a:r>
              <a:rPr lang="he-IL" dirty="0"/>
              <a:t>להדגיש כיצד זה שונה מהגישה הנוכחית ומדוע זה מהווה שיפור משמעותי.</a:t>
            </a:r>
          </a:p>
          <a:p>
            <a:pPr>
              <a:buFont typeface="+mj-lt"/>
              <a:buAutoNum type="arabicPeriod"/>
            </a:pPr>
            <a:r>
              <a:rPr lang="he-IL" dirty="0"/>
              <a:t>הצגת החיסכון הכלכלי: </a:t>
            </a:r>
          </a:p>
          <a:p>
            <a:pPr marL="742950" lvl="1" indent="-285750">
              <a:buFont typeface="+mj-lt"/>
              <a:buAutoNum type="arabicPeriod"/>
            </a:pPr>
            <a:r>
              <a:rPr lang="he-IL" dirty="0"/>
              <a:t>להבליט יותר את הנתון של מעל מיליארד ₪ חיסכון למשק בשנה.</a:t>
            </a:r>
          </a:p>
          <a:p>
            <a:pPr>
              <a:buFont typeface="+mj-lt"/>
              <a:buAutoNum type="arabicPeriod"/>
            </a:pPr>
            <a:r>
              <a:rPr lang="he-IL" dirty="0"/>
              <a:t>הדגשת השינוי הפרדיגמטי: </a:t>
            </a:r>
          </a:p>
          <a:p>
            <a:pPr marL="742950" lvl="1" indent="-285750">
              <a:buFont typeface="+mj-lt"/>
              <a:buAutoNum type="arabicPeriod"/>
            </a:pPr>
            <a:r>
              <a:rPr lang="he-IL" dirty="0"/>
              <a:t>להדגיש את המעבר ממיקוד בטיפול למיקוד במניעה ושימור תפקוד.</a:t>
            </a:r>
          </a:p>
          <a:p>
            <a:pPr>
              <a:buFont typeface="+mj-lt"/>
              <a:buAutoNum type="arabicPeriod"/>
            </a:pPr>
            <a:r>
              <a:rPr lang="he-IL" dirty="0"/>
              <a:t>הצגת שיתוף הפעולה הבין-משרדי: </a:t>
            </a:r>
          </a:p>
          <a:p>
            <a:pPr marL="742950" lvl="1" indent="-285750">
              <a:buFont typeface="+mj-lt"/>
              <a:buAutoNum type="arabicPeriod"/>
            </a:pPr>
            <a:r>
              <a:rPr lang="he-IL" dirty="0"/>
              <a:t>להדגיש כיצד הרפורמה מאחדת כוחות בין משרדי ממשלה וגופים שונים.</a:t>
            </a:r>
          </a:p>
          <a:p>
            <a:pPr>
              <a:buFont typeface="+mj-lt"/>
              <a:buAutoNum type="arabicPeriod"/>
            </a:pPr>
            <a:r>
              <a:rPr lang="he-IL" dirty="0"/>
              <a:t>הבלטת ההשוואה הבינלאומית: </a:t>
            </a:r>
          </a:p>
          <a:p>
            <a:pPr marL="742950" lvl="1" indent="-285750">
              <a:buFont typeface="+mj-lt"/>
              <a:buAutoNum type="arabicPeriod"/>
            </a:pPr>
            <a:r>
              <a:rPr lang="he-IL" dirty="0"/>
              <a:t>להדגיש כיצד הרפורמה תשפר את מצבה של ישראל ביחס למדינות אחרות.</a:t>
            </a:r>
          </a:p>
          <a:p>
            <a:pPr>
              <a:buFont typeface="+mj-lt"/>
              <a:buAutoNum type="arabicPeriod"/>
            </a:pPr>
            <a:r>
              <a:rPr lang="he-IL" dirty="0"/>
              <a:t>הדגשת ההשפעה על איכות החיים: </a:t>
            </a:r>
          </a:p>
          <a:p>
            <a:pPr marL="742950" lvl="1" indent="-285750">
              <a:buFont typeface="+mj-lt"/>
              <a:buAutoNum type="arabicPeriod"/>
            </a:pPr>
            <a:r>
              <a:rPr lang="he-IL" dirty="0"/>
              <a:t>להציג בצורה ברורה יותר כיצד הרפורמה תשפר את חיי האזרחים הוותיקים.</a:t>
            </a:r>
          </a:p>
          <a:p>
            <a:pPr>
              <a:buFont typeface="+mj-lt"/>
              <a:buAutoNum type="arabicPeriod"/>
            </a:pPr>
            <a:r>
              <a:rPr lang="he-IL" dirty="0"/>
              <a:t>הצגת </a:t>
            </a:r>
            <a:r>
              <a:rPr lang="he-IL" dirty="0" err="1"/>
              <a:t>חזון</a:t>
            </a:r>
            <a:r>
              <a:rPr lang="he-IL" dirty="0"/>
              <a:t> ארוך טווח: </a:t>
            </a:r>
          </a:p>
          <a:p>
            <a:pPr marL="742950" lvl="1" indent="-285750">
              <a:buFont typeface="+mj-lt"/>
              <a:buAutoNum type="arabicPeriod"/>
            </a:pPr>
            <a:r>
              <a:rPr lang="he-IL" dirty="0"/>
              <a:t>להדגיש כיצד הרפורמה מתכוננת לאתגרי העתיד בתחום הזדקנות האוכלוסייה.</a:t>
            </a:r>
          </a:p>
          <a:p>
            <a:r>
              <a:rPr lang="he-IL" dirty="0"/>
              <a:t>לסיכום, המצגת כבר מציגה חדשנות ובשורה, אך ניתן לחדד ולהבליט נקודות אלו כדי להעביר את המסר בצורה עוד יותר אפקטיבית.</a:t>
            </a:r>
          </a:p>
        </p:txBody>
      </p:sp>
    </p:spTree>
    <p:extLst>
      <p:ext uri="{BB962C8B-B14F-4D97-AF65-F5344CB8AC3E}">
        <p14:creationId xmlns:p14="http://schemas.microsoft.com/office/powerpoint/2010/main" val="3187869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C3A8A34-8E95-4761-8ACE-97368FE7CAE8}"/>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l="-1" b="-1"/>
          <a:stretch/>
        </p:blipFill>
        <p:spPr>
          <a:xfrm>
            <a:off x="0" y="0"/>
            <a:ext cx="12192000" cy="6858000"/>
          </a:xfrm>
          <a:prstGeom prst="rect">
            <a:avLst/>
          </a:prstGeom>
        </p:spPr>
      </p:pic>
      <p:pic>
        <p:nvPicPr>
          <p:cNvPr id="5" name="Picture 3" descr="קובץ:Ministry of Labor, Social Affairs and Social Services ...">
            <a:extLst>
              <a:ext uri="{FF2B5EF4-FFF2-40B4-BE49-F238E27FC236}">
                <a16:creationId xmlns:a16="http://schemas.microsoft.com/office/drawing/2014/main" id="{417C9674-EA89-45FD-8F19-3A311B2CFAB7}"/>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542553" y="6312179"/>
            <a:ext cx="1553881" cy="423675"/>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11">
            <a:extLst>
              <a:ext uri="{FF2B5EF4-FFF2-40B4-BE49-F238E27FC236}">
                <a16:creationId xmlns:a16="http://schemas.microsoft.com/office/drawing/2014/main" id="{0CFF6A6F-DA81-2985-5E52-420671A00C0E}"/>
              </a:ext>
            </a:extLst>
          </p:cNvPr>
          <p:cNvSpPr/>
          <p:nvPr/>
        </p:nvSpPr>
        <p:spPr>
          <a:xfrm>
            <a:off x="8344580" y="9750"/>
            <a:ext cx="3884604" cy="4383545"/>
          </a:xfrm>
          <a:prstGeom prst="rect">
            <a:avLst/>
          </a:prstGeom>
          <a:solidFill>
            <a:schemeClr val="tx1">
              <a:alpha val="4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prstClr val="white"/>
              </a:solidFill>
              <a:effectLst/>
              <a:uLnTx/>
              <a:uFillTx/>
              <a:latin typeface="Calibri" panose="020F0502020204030204"/>
              <a:ea typeface="+mn-ea"/>
              <a:cs typeface="Arial" panose="020B0604020202020204" pitchFamily="34" charset="0"/>
            </a:endParaRP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prstClr val="white"/>
              </a:solidFill>
              <a:effectLst/>
              <a:uLnTx/>
              <a:uFillTx/>
              <a:latin typeface="Calibri" panose="020F0502020204030204"/>
              <a:ea typeface="+mn-ea"/>
              <a:cs typeface="Arial" panose="020B0604020202020204" pitchFamily="34" charset="0"/>
            </a:endParaRP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prstClr val="white"/>
              </a:solidFill>
              <a:effectLst/>
              <a:uLnTx/>
              <a:uFillTx/>
              <a:latin typeface="Calibri" panose="020F0502020204030204"/>
              <a:ea typeface="+mn-ea"/>
              <a:cs typeface="Arial" panose="020B0604020202020204" pitchFamily="34" charset="0"/>
            </a:endParaRP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prstClr val="white"/>
              </a:solidFill>
              <a:effectLst/>
              <a:uLnTx/>
              <a:uFillTx/>
              <a:latin typeface="Calibri" panose="020F0502020204030204"/>
              <a:ea typeface="+mn-ea"/>
              <a:cs typeface="Arial" panose="020B0604020202020204" pitchFamily="34" charset="0"/>
            </a:endParaRP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prstClr val="white"/>
              </a:solidFill>
              <a:effectLst/>
              <a:uLnTx/>
              <a:uFillTx/>
              <a:latin typeface="Calibri" panose="020F0502020204030204"/>
              <a:ea typeface="+mn-ea"/>
              <a:cs typeface="Arial" panose="020B0604020202020204" pitchFamily="34" charset="0"/>
            </a:endParaRP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prstClr val="white"/>
              </a:solidFill>
              <a:effectLst/>
              <a:uLnTx/>
              <a:uFillTx/>
              <a:latin typeface="Calibri" panose="020F0502020204030204"/>
              <a:ea typeface="+mn-ea"/>
              <a:cs typeface="Arial" panose="020B0604020202020204" pitchFamily="34" charset="0"/>
            </a:endParaRP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prstClr val="white"/>
              </a:solidFill>
              <a:effectLst/>
              <a:uLnTx/>
              <a:uFillTx/>
              <a:latin typeface="Calibri" panose="020F0502020204030204"/>
              <a:ea typeface="+mn-ea"/>
              <a:cs typeface="Arial" panose="020B0604020202020204" pitchFamily="34" charset="0"/>
            </a:endParaRP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prstClr val="white"/>
              </a:solidFill>
              <a:effectLst/>
              <a:uLnTx/>
              <a:uFillTx/>
              <a:latin typeface="Calibri" panose="020F0502020204030204"/>
              <a:ea typeface="+mn-ea"/>
              <a:cs typeface="Arial" panose="020B0604020202020204" pitchFamily="34" charset="0"/>
            </a:endParaRP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prstClr val="white"/>
              </a:solidFill>
              <a:effectLst/>
              <a:uLnTx/>
              <a:uFillTx/>
              <a:latin typeface="Calibri" panose="020F0502020204030204"/>
              <a:ea typeface="+mn-ea"/>
              <a:cs typeface="Arial" panose="020B0604020202020204" pitchFamily="34" charset="0"/>
            </a:endParaRP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prstClr val="white"/>
              </a:solidFill>
              <a:effectLst/>
              <a:uLnTx/>
              <a:uFillTx/>
              <a:latin typeface="Calibri" panose="020F0502020204030204"/>
              <a:ea typeface="+mn-ea"/>
              <a:cs typeface="Arial" panose="020B0604020202020204" pitchFamily="34" charset="0"/>
            </a:endParaRP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prstClr val="white"/>
              </a:solidFill>
              <a:effectLst/>
              <a:uLnTx/>
              <a:uFillTx/>
              <a:latin typeface="Calibri" panose="020F0502020204030204"/>
              <a:ea typeface="+mn-ea"/>
              <a:cs typeface="Arial" panose="020B0604020202020204" pitchFamily="34" charset="0"/>
            </a:endParaRP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prstClr val="white"/>
              </a:solidFill>
              <a:effectLst/>
              <a:uLnTx/>
              <a:uFillTx/>
              <a:latin typeface="Calibri" panose="020F0502020204030204"/>
              <a:ea typeface="+mn-ea"/>
              <a:cs typeface="Arial" panose="020B0604020202020204" pitchFamily="34" charset="0"/>
            </a:endParaRP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prstClr val="white"/>
              </a:solidFill>
              <a:effectLst/>
              <a:uLnTx/>
              <a:uFillTx/>
              <a:latin typeface="Calibri" panose="020F0502020204030204"/>
              <a:ea typeface="+mn-ea"/>
              <a:cs typeface="Arial" panose="020B0604020202020204" pitchFamily="34" charset="0"/>
            </a:endParaRP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prstClr val="white"/>
              </a:solidFill>
              <a:effectLst/>
              <a:uLnTx/>
              <a:uFillTx/>
              <a:latin typeface="Calibri" panose="020F0502020204030204"/>
              <a:ea typeface="+mn-ea"/>
              <a:cs typeface="Arial" panose="020B0604020202020204" pitchFamily="34" charset="0"/>
            </a:endParaRP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prstClr val="white"/>
              </a:solidFill>
              <a:effectLst/>
              <a:uLnTx/>
              <a:uFillTx/>
              <a:latin typeface="Calibri" panose="020F0502020204030204"/>
              <a:ea typeface="+mn-ea"/>
              <a:cs typeface="Arial" panose="020B0604020202020204" pitchFamily="34" charset="0"/>
            </a:endParaRP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prstClr val="white"/>
              </a:solidFill>
              <a:effectLst/>
              <a:uLnTx/>
              <a:uFillTx/>
              <a:latin typeface="Calibri" panose="020F0502020204030204"/>
              <a:ea typeface="+mn-ea"/>
              <a:cs typeface="Arial" panose="020B0604020202020204" pitchFamily="34" charset="0"/>
            </a:endParaRP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prstClr val="white"/>
              </a:solidFill>
              <a:effectLst/>
              <a:uLnTx/>
              <a:uFillTx/>
              <a:latin typeface="Calibri" panose="020F0502020204030204"/>
              <a:ea typeface="+mn-ea"/>
              <a:cs typeface="Arial" panose="020B0604020202020204" pitchFamily="34" charset="0"/>
            </a:endParaRPr>
          </a:p>
        </p:txBody>
      </p:sp>
      <p:sp>
        <p:nvSpPr>
          <p:cNvPr id="21" name="Rectangle 2">
            <a:extLst>
              <a:ext uri="{FF2B5EF4-FFF2-40B4-BE49-F238E27FC236}">
                <a16:creationId xmlns:a16="http://schemas.microsoft.com/office/drawing/2014/main" id="{CB6768FB-DD51-A127-0D57-B54B87C252B4}"/>
              </a:ext>
            </a:extLst>
          </p:cNvPr>
          <p:cNvSpPr/>
          <p:nvPr/>
        </p:nvSpPr>
        <p:spPr>
          <a:xfrm>
            <a:off x="5411399" y="1887039"/>
            <a:ext cx="6096000" cy="3083921"/>
          </a:xfrm>
          <a:prstGeom prst="rect">
            <a:avLst/>
          </a:prstGeom>
        </p:spPr>
        <p:txBody>
          <a:bodyPr>
            <a:spAutoFit/>
          </a:bodyPr>
          <a:lstStyle/>
          <a:p>
            <a:pPr marL="0" marR="0" lvl="0" indent="0" algn="r" defTabSz="914400" rtl="1" eaLnBrk="1" fontAlgn="auto" latinLnBrk="0" hangingPunct="1">
              <a:lnSpc>
                <a:spcPct val="200000"/>
              </a:lnSpc>
              <a:spcBef>
                <a:spcPts val="0"/>
              </a:spcBef>
              <a:spcAft>
                <a:spcPts val="0"/>
              </a:spcAft>
              <a:buClrTx/>
              <a:buSzTx/>
              <a:buFontTx/>
              <a:buNone/>
              <a:tabLst/>
              <a:defRPr/>
            </a:pPr>
            <a:r>
              <a:rPr kumimoji="0" lang="he-IL" sz="2000" b="1" i="0" u="none" strike="noStrike" kern="1200" cap="none" spc="0" normalizeH="0" baseline="0" noProof="0" dirty="0">
                <a:ln>
                  <a:noFill/>
                </a:ln>
                <a:solidFill>
                  <a:prstClr val="white"/>
                </a:solidFill>
                <a:effectLst/>
                <a:uLnTx/>
                <a:uFillTx/>
                <a:latin typeface="Calibri" panose="020F0502020204030204" pitchFamily="34" charset="0"/>
                <a:ea typeface="Open Sans" panose="020B0606030504020204" pitchFamily="34" charset="0"/>
                <a:cs typeface="Calibri" panose="020F0502020204030204" pitchFamily="34" charset="0"/>
              </a:rPr>
              <a:t>רקע ותמונת מצב </a:t>
            </a:r>
          </a:p>
          <a:p>
            <a:pPr marL="0" marR="0" lvl="0" indent="0" algn="r" defTabSz="914400" rtl="1" eaLnBrk="1" fontAlgn="auto" latinLnBrk="0" hangingPunct="1">
              <a:lnSpc>
                <a:spcPct val="200000"/>
              </a:lnSpc>
              <a:spcBef>
                <a:spcPts val="0"/>
              </a:spcBef>
              <a:spcAft>
                <a:spcPts val="0"/>
              </a:spcAft>
              <a:buClrTx/>
              <a:buSzTx/>
              <a:buFontTx/>
              <a:buNone/>
              <a:tabLst/>
              <a:defRPr/>
            </a:pPr>
            <a:r>
              <a:rPr kumimoji="0" lang="he-IL" sz="2000" b="1" i="0" u="none" strike="noStrike" kern="1200" cap="none" spc="0" normalizeH="0" baseline="0" noProof="0" dirty="0">
                <a:ln>
                  <a:noFill/>
                </a:ln>
                <a:solidFill>
                  <a:prstClr val="white"/>
                </a:solidFill>
                <a:effectLst/>
                <a:uLnTx/>
                <a:uFillTx/>
                <a:latin typeface="Calibri" panose="020F0502020204030204" pitchFamily="34" charset="0"/>
                <a:ea typeface="Open Sans" panose="020B0606030504020204" pitchFamily="34" charset="0"/>
                <a:cs typeface="Calibri" panose="020F0502020204030204" pitchFamily="34" charset="0"/>
              </a:rPr>
              <a:t>האתגר ומה נעשה עד כה</a:t>
            </a:r>
          </a:p>
          <a:p>
            <a:pPr marL="0" marR="0" lvl="0" indent="0" algn="r" defTabSz="914400" rtl="1" eaLnBrk="1" fontAlgn="auto" latinLnBrk="0" hangingPunct="1">
              <a:lnSpc>
                <a:spcPct val="200000"/>
              </a:lnSpc>
              <a:spcBef>
                <a:spcPts val="0"/>
              </a:spcBef>
              <a:spcAft>
                <a:spcPts val="0"/>
              </a:spcAft>
              <a:buClrTx/>
              <a:buSzTx/>
              <a:buFontTx/>
              <a:buNone/>
              <a:tabLst/>
              <a:defRPr/>
            </a:pPr>
            <a:r>
              <a:rPr kumimoji="0" lang="he-IL" sz="2000" b="1" i="0" u="none" strike="noStrike" kern="1200" cap="none" spc="0" normalizeH="0" baseline="0" noProof="0" dirty="0">
                <a:ln>
                  <a:noFill/>
                </a:ln>
                <a:solidFill>
                  <a:prstClr val="white"/>
                </a:solidFill>
                <a:effectLst/>
                <a:uLnTx/>
                <a:uFillTx/>
                <a:latin typeface="Calibri" panose="020F0502020204030204" pitchFamily="34" charset="0"/>
                <a:ea typeface="Open Sans" panose="020B0606030504020204" pitchFamily="34" charset="0"/>
                <a:cs typeface="Calibri" panose="020F0502020204030204" pitchFamily="34" charset="0"/>
              </a:rPr>
              <a:t>ההזדמנות לשינוי בסיעוד</a:t>
            </a:r>
          </a:p>
          <a:p>
            <a:pPr marL="0" marR="0" lvl="0" indent="0" algn="r" defTabSz="914400" rtl="1" eaLnBrk="1" fontAlgn="auto" latinLnBrk="0" hangingPunct="1">
              <a:lnSpc>
                <a:spcPct val="200000"/>
              </a:lnSpc>
              <a:spcBef>
                <a:spcPts val="0"/>
              </a:spcBef>
              <a:spcAft>
                <a:spcPts val="0"/>
              </a:spcAft>
              <a:buClrTx/>
              <a:buSzTx/>
              <a:buFontTx/>
              <a:buNone/>
              <a:tabLst/>
              <a:defRPr/>
            </a:pPr>
            <a:r>
              <a:rPr kumimoji="0" lang="he-IL" sz="2000" b="1" i="0" u="none" strike="noStrike" kern="1200" cap="none" spc="0" normalizeH="0" baseline="0" noProof="0" dirty="0">
                <a:ln>
                  <a:noFill/>
                </a:ln>
                <a:solidFill>
                  <a:prstClr val="white"/>
                </a:solidFill>
                <a:effectLst/>
                <a:uLnTx/>
                <a:uFillTx/>
                <a:latin typeface="Calibri" panose="020F0502020204030204" pitchFamily="34" charset="0"/>
                <a:ea typeface="Open Sans" panose="020B0606030504020204" pitchFamily="34" charset="0"/>
                <a:cs typeface="Calibri" panose="020F0502020204030204" pitchFamily="34" charset="0"/>
              </a:rPr>
              <a:t>מהלכים וכיוונים קדימה</a:t>
            </a:r>
          </a:p>
          <a:p>
            <a:pPr marL="0" marR="0" lvl="0" indent="0" algn="r" defTabSz="914400" rtl="1" eaLnBrk="1" fontAlgn="auto" latinLnBrk="0" hangingPunct="1">
              <a:lnSpc>
                <a:spcPct val="200000"/>
              </a:lnSpc>
              <a:spcBef>
                <a:spcPts val="0"/>
              </a:spcBef>
              <a:spcAft>
                <a:spcPts val="0"/>
              </a:spcAft>
              <a:buClrTx/>
              <a:buSzTx/>
              <a:buFontTx/>
              <a:buNone/>
              <a:tabLst/>
              <a:defRPr/>
            </a:pPr>
            <a:endParaRPr kumimoji="0" lang="he-IL" sz="2000" b="1" i="0" u="none" strike="noStrike" kern="1200" cap="none" spc="0" normalizeH="0" baseline="0" noProof="0" dirty="0">
              <a:ln>
                <a:noFill/>
              </a:ln>
              <a:solidFill>
                <a:prstClr val="white"/>
              </a:solidFill>
              <a:effectLst/>
              <a:uLnTx/>
              <a:uFillTx/>
              <a:latin typeface="Calibri" panose="020F0502020204030204" pitchFamily="34" charset="0"/>
              <a:ea typeface="Open Sans" panose="020B0606030504020204" pitchFamily="34" charset="0"/>
              <a:cs typeface="Calibri" panose="020F0502020204030204" pitchFamily="34" charset="0"/>
            </a:endParaRPr>
          </a:p>
        </p:txBody>
      </p:sp>
      <p:cxnSp>
        <p:nvCxnSpPr>
          <p:cNvPr id="23" name="Straight Connector 8">
            <a:extLst>
              <a:ext uri="{FF2B5EF4-FFF2-40B4-BE49-F238E27FC236}">
                <a16:creationId xmlns:a16="http://schemas.microsoft.com/office/drawing/2014/main" id="{110DC787-51C2-E8D7-C0A8-268B6D481B42}"/>
              </a:ext>
            </a:extLst>
          </p:cNvPr>
          <p:cNvCxnSpPr>
            <a:cxnSpLocks/>
            <a:stCxn id="26" idx="4"/>
          </p:cNvCxnSpPr>
          <p:nvPr/>
        </p:nvCxnSpPr>
        <p:spPr>
          <a:xfrm>
            <a:off x="11667048" y="2441539"/>
            <a:ext cx="8597" cy="2944415"/>
          </a:xfrm>
          <a:prstGeom prst="line">
            <a:avLst/>
          </a:prstGeom>
          <a:ln w="38100">
            <a:solidFill>
              <a:srgbClr val="3F5D76"/>
            </a:solidFill>
          </a:ln>
        </p:spPr>
        <p:style>
          <a:lnRef idx="1">
            <a:schemeClr val="accent1"/>
          </a:lnRef>
          <a:fillRef idx="0">
            <a:schemeClr val="accent1"/>
          </a:fillRef>
          <a:effectRef idx="0">
            <a:schemeClr val="accent1"/>
          </a:effectRef>
          <a:fontRef idx="minor">
            <a:schemeClr val="tx1"/>
          </a:fontRef>
        </p:style>
      </p:cxnSp>
      <p:sp>
        <p:nvSpPr>
          <p:cNvPr id="24" name="Oval 3">
            <a:extLst>
              <a:ext uri="{FF2B5EF4-FFF2-40B4-BE49-F238E27FC236}">
                <a16:creationId xmlns:a16="http://schemas.microsoft.com/office/drawing/2014/main" id="{C6B90D2A-56C6-3C8C-2626-B7E6089292FB}"/>
              </a:ext>
            </a:extLst>
          </p:cNvPr>
          <p:cNvSpPr/>
          <p:nvPr/>
        </p:nvSpPr>
        <p:spPr>
          <a:xfrm>
            <a:off x="11541048" y="2798871"/>
            <a:ext cx="252000" cy="252000"/>
          </a:xfrm>
          <a:prstGeom prst="ellipse">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sysClr val="windowText" lastClr="000000"/>
              </a:solidFill>
              <a:effectLst/>
              <a:uLnTx/>
              <a:uFillTx/>
              <a:latin typeface="Open Sans Hebrew" panose="00000500000000000000" pitchFamily="2" charset="-79"/>
              <a:ea typeface="+mn-ea"/>
              <a:cs typeface="Open Sans Hebrew" panose="00000500000000000000" pitchFamily="2" charset="-79"/>
            </a:endParaRPr>
          </a:p>
        </p:txBody>
      </p:sp>
      <p:sp>
        <p:nvSpPr>
          <p:cNvPr id="25" name="Oval 5">
            <a:extLst>
              <a:ext uri="{FF2B5EF4-FFF2-40B4-BE49-F238E27FC236}">
                <a16:creationId xmlns:a16="http://schemas.microsoft.com/office/drawing/2014/main" id="{D798832D-0DBD-6E87-872F-28DBD5045E60}"/>
              </a:ext>
            </a:extLst>
          </p:cNvPr>
          <p:cNvSpPr/>
          <p:nvPr/>
        </p:nvSpPr>
        <p:spPr>
          <a:xfrm>
            <a:off x="11541048" y="3408203"/>
            <a:ext cx="252000" cy="25200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sysClr val="windowText" lastClr="000000"/>
              </a:solidFill>
              <a:effectLst/>
              <a:uLnTx/>
              <a:uFillTx/>
              <a:latin typeface="Open Sans Hebrew" panose="00000500000000000000" pitchFamily="2" charset="-79"/>
              <a:ea typeface="+mn-ea"/>
              <a:cs typeface="Open Sans Hebrew" panose="00000500000000000000" pitchFamily="2" charset="-79"/>
            </a:endParaRPr>
          </a:p>
        </p:txBody>
      </p:sp>
      <p:sp>
        <p:nvSpPr>
          <p:cNvPr id="26" name="Oval 7">
            <a:extLst>
              <a:ext uri="{FF2B5EF4-FFF2-40B4-BE49-F238E27FC236}">
                <a16:creationId xmlns:a16="http://schemas.microsoft.com/office/drawing/2014/main" id="{641F3CBF-5927-ABD6-A432-443DCE04B3F8}"/>
              </a:ext>
            </a:extLst>
          </p:cNvPr>
          <p:cNvSpPr/>
          <p:nvPr/>
        </p:nvSpPr>
        <p:spPr>
          <a:xfrm>
            <a:off x="11541048" y="2189539"/>
            <a:ext cx="252000" cy="2520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sysClr val="windowText" lastClr="000000"/>
              </a:solidFill>
              <a:effectLst/>
              <a:uLnTx/>
              <a:uFillTx/>
              <a:latin typeface="Open Sans Hebrew" panose="00000500000000000000" pitchFamily="2" charset="-79"/>
              <a:ea typeface="+mn-ea"/>
              <a:cs typeface="Open Sans Hebrew" panose="00000500000000000000" pitchFamily="2" charset="-79"/>
            </a:endParaRPr>
          </a:p>
        </p:txBody>
      </p:sp>
      <p:sp>
        <p:nvSpPr>
          <p:cNvPr id="27" name="Oval 12">
            <a:extLst>
              <a:ext uri="{FF2B5EF4-FFF2-40B4-BE49-F238E27FC236}">
                <a16:creationId xmlns:a16="http://schemas.microsoft.com/office/drawing/2014/main" id="{8A8D4CAD-25E1-79B3-9CD9-F5EFFF5C8BAA}"/>
              </a:ext>
            </a:extLst>
          </p:cNvPr>
          <p:cNvSpPr/>
          <p:nvPr/>
        </p:nvSpPr>
        <p:spPr>
          <a:xfrm>
            <a:off x="11541048" y="4017535"/>
            <a:ext cx="252000" cy="252000"/>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sysClr val="windowText" lastClr="000000"/>
              </a:solidFill>
              <a:effectLst/>
              <a:uLnTx/>
              <a:uFillTx/>
              <a:latin typeface="Open Sans Hebrew" panose="00000500000000000000" pitchFamily="2" charset="-79"/>
              <a:ea typeface="+mn-ea"/>
              <a:cs typeface="Open Sans Hebrew" panose="00000500000000000000" pitchFamily="2" charset="-79"/>
            </a:endParaRPr>
          </a:p>
        </p:txBody>
      </p:sp>
      <p:sp>
        <p:nvSpPr>
          <p:cNvPr id="28" name="Oval 9">
            <a:extLst>
              <a:ext uri="{FF2B5EF4-FFF2-40B4-BE49-F238E27FC236}">
                <a16:creationId xmlns:a16="http://schemas.microsoft.com/office/drawing/2014/main" id="{45C90494-62D2-599F-30EA-7652EE4A3D67}"/>
              </a:ext>
            </a:extLst>
          </p:cNvPr>
          <p:cNvSpPr/>
          <p:nvPr/>
        </p:nvSpPr>
        <p:spPr>
          <a:xfrm>
            <a:off x="11549645" y="4626867"/>
            <a:ext cx="252000" cy="252000"/>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sysClr val="windowText" lastClr="000000"/>
              </a:solidFill>
              <a:effectLst/>
              <a:uLnTx/>
              <a:uFillTx/>
              <a:latin typeface="Open Sans Hebrew" panose="00000500000000000000" pitchFamily="2" charset="-79"/>
              <a:ea typeface="+mn-ea"/>
              <a:cs typeface="Open Sans Hebrew" panose="00000500000000000000" pitchFamily="2" charset="-79"/>
            </a:endParaRPr>
          </a:p>
        </p:txBody>
      </p:sp>
      <p:sp>
        <p:nvSpPr>
          <p:cNvPr id="29" name="מלבן 28">
            <a:extLst>
              <a:ext uri="{FF2B5EF4-FFF2-40B4-BE49-F238E27FC236}">
                <a16:creationId xmlns:a16="http://schemas.microsoft.com/office/drawing/2014/main" id="{943C13C5-DA7B-1F3B-6E30-B027F30A39C7}"/>
              </a:ext>
            </a:extLst>
          </p:cNvPr>
          <p:cNvSpPr/>
          <p:nvPr/>
        </p:nvSpPr>
        <p:spPr>
          <a:xfrm>
            <a:off x="2852961" y="5085798"/>
            <a:ext cx="6096000" cy="461665"/>
          </a:xfrm>
          <a:prstGeom prst="rect">
            <a:avLst/>
          </a:prstGeom>
        </p:spPr>
        <p:txBody>
          <a:bodyPr>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2400" b="1" i="0" u="none" strike="noStrike" kern="1200" cap="none" spc="0" normalizeH="0" baseline="0" noProof="0" dirty="0">
              <a:ln>
                <a:noFill/>
              </a:ln>
              <a:solidFill>
                <a:srgbClr val="FFF8E5"/>
              </a:solidFill>
              <a:effectLst/>
              <a:uLnTx/>
              <a:uFillTx/>
              <a:latin typeface="Calibri" panose="020F0502020204030204"/>
              <a:ea typeface="+mn-ea"/>
              <a:cs typeface="Arial" panose="020B0604020202020204" pitchFamily="34" charset="0"/>
            </a:endParaRPr>
          </a:p>
        </p:txBody>
      </p:sp>
      <p:sp>
        <p:nvSpPr>
          <p:cNvPr id="30" name="מלבן 29">
            <a:extLst>
              <a:ext uri="{FF2B5EF4-FFF2-40B4-BE49-F238E27FC236}">
                <a16:creationId xmlns:a16="http://schemas.microsoft.com/office/drawing/2014/main" id="{901BC5B6-E979-0A2C-3403-04EDD64FB464}"/>
              </a:ext>
            </a:extLst>
          </p:cNvPr>
          <p:cNvSpPr/>
          <p:nvPr/>
        </p:nvSpPr>
        <p:spPr>
          <a:xfrm>
            <a:off x="8140110" y="203077"/>
            <a:ext cx="4214031" cy="1877437"/>
          </a:xfrm>
          <a:prstGeom prst="rect">
            <a:avLst/>
          </a:prstGeom>
        </p:spPr>
        <p:txBody>
          <a:bodyPr wrap="square">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4400" b="1" i="0" u="none" strike="noStrike" kern="0" cap="none" spc="0" normalizeH="0" baseline="0" noProof="0" dirty="0">
                <a:ln>
                  <a:noFill/>
                </a:ln>
                <a:solidFill>
                  <a:prstClr val="white"/>
                </a:solidFill>
                <a:effectLst/>
                <a:uLnTx/>
                <a:uFillTx/>
                <a:latin typeface="Calibri Light" panose="020F0302020204030204"/>
                <a:ea typeface="+mn-ea"/>
                <a:cs typeface="Arial" panose="020B0604020202020204" pitchFamily="34" charset="0"/>
              </a:rPr>
              <a:t>חוק סיעוד</a:t>
            </a:r>
          </a:p>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3600" b="1" i="0" u="none" strike="noStrike" kern="0" cap="none" spc="0" normalizeH="0" baseline="0" noProof="0" dirty="0">
                <a:ln>
                  <a:noFill/>
                </a:ln>
                <a:solidFill>
                  <a:prstClr val="white"/>
                </a:solidFill>
                <a:effectLst/>
                <a:uLnTx/>
                <a:uFillTx/>
                <a:latin typeface="Calibri Light" panose="020F0302020204030204"/>
                <a:ea typeface="+mn-ea"/>
                <a:cs typeface="Arial" panose="020B0604020202020204" pitchFamily="34" charset="0"/>
              </a:rPr>
              <a:t>המשבר וההזדמנות לשינוי</a:t>
            </a:r>
          </a:p>
        </p:txBody>
      </p:sp>
      <p:sp>
        <p:nvSpPr>
          <p:cNvPr id="31" name="Oval 9">
            <a:extLst>
              <a:ext uri="{FF2B5EF4-FFF2-40B4-BE49-F238E27FC236}">
                <a16:creationId xmlns:a16="http://schemas.microsoft.com/office/drawing/2014/main" id="{C44003DF-7173-ABEA-A639-89EF7933062D}"/>
              </a:ext>
            </a:extLst>
          </p:cNvPr>
          <p:cNvSpPr/>
          <p:nvPr/>
        </p:nvSpPr>
        <p:spPr>
          <a:xfrm>
            <a:off x="11541048" y="5200724"/>
            <a:ext cx="252000" cy="252000"/>
          </a:xfrm>
          <a:prstGeom prst="ellipse">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sysClr val="windowText" lastClr="000000"/>
              </a:solidFill>
              <a:effectLst/>
              <a:uLnTx/>
              <a:uFillTx/>
              <a:latin typeface="Open Sans Hebrew" panose="00000500000000000000" pitchFamily="2" charset="-79"/>
              <a:ea typeface="+mn-ea"/>
              <a:cs typeface="Open Sans Hebrew" panose="00000500000000000000" pitchFamily="2" charset="-79"/>
            </a:endParaRPr>
          </a:p>
        </p:txBody>
      </p:sp>
      <p:sp>
        <p:nvSpPr>
          <p:cNvPr id="32" name="תיבת טקסט 31">
            <a:extLst>
              <a:ext uri="{FF2B5EF4-FFF2-40B4-BE49-F238E27FC236}">
                <a16:creationId xmlns:a16="http://schemas.microsoft.com/office/drawing/2014/main" id="{42EDC273-11FF-3182-DC87-A939D0E32708}"/>
              </a:ext>
            </a:extLst>
          </p:cNvPr>
          <p:cNvSpPr txBox="1"/>
          <p:nvPr/>
        </p:nvSpPr>
        <p:spPr>
          <a:xfrm>
            <a:off x="4306427" y="3826459"/>
            <a:ext cx="4759937" cy="1852815"/>
          </a:xfrm>
          <a:prstGeom prst="rect">
            <a:avLst/>
          </a:prstGeom>
          <a:noFill/>
        </p:spPr>
        <p:txBody>
          <a:bodyPr wrap="square">
            <a:spAutoFit/>
          </a:bodyPr>
          <a:lstStyle/>
          <a:p>
            <a:pPr marL="0" marR="0" lvl="0" indent="0" algn="r" defTabSz="914400" rtl="1" eaLnBrk="1" fontAlgn="auto" latinLnBrk="0" hangingPunct="1">
              <a:lnSpc>
                <a:spcPct val="200000"/>
              </a:lnSpc>
              <a:spcBef>
                <a:spcPts val="0"/>
              </a:spcBef>
              <a:spcAft>
                <a:spcPts val="0"/>
              </a:spcAft>
              <a:buClrTx/>
              <a:buSzTx/>
              <a:buFontTx/>
              <a:buNone/>
              <a:tabLst/>
              <a:defRPr/>
            </a:pPr>
            <a:endParaRPr kumimoji="0" lang="he-IL" sz="2000" b="1" i="0" u="none" strike="noStrike" kern="1200" cap="none" spc="0" normalizeH="0" baseline="0" noProof="0" dirty="0">
              <a:ln>
                <a:noFill/>
              </a:ln>
              <a:solidFill>
                <a:prstClr val="white"/>
              </a:solidFill>
              <a:effectLst/>
              <a:highlight>
                <a:srgbClr val="FFFF00"/>
              </a:highlight>
              <a:uLnTx/>
              <a:uFillTx/>
              <a:latin typeface="Calibri" panose="020F0502020204030204" pitchFamily="34" charset="0"/>
              <a:ea typeface="Open Sans" panose="020B0606030504020204" pitchFamily="34" charset="0"/>
              <a:cs typeface="Calibri" panose="020F0502020204030204" pitchFamily="34" charset="0"/>
            </a:endParaRPr>
          </a:p>
          <a:p>
            <a:pPr marL="0" marR="0" lvl="0" indent="0" algn="r" defTabSz="914400" rtl="1" eaLnBrk="1" fontAlgn="auto" latinLnBrk="0" hangingPunct="1">
              <a:lnSpc>
                <a:spcPct val="200000"/>
              </a:lnSpc>
              <a:spcBef>
                <a:spcPts val="0"/>
              </a:spcBef>
              <a:spcAft>
                <a:spcPts val="0"/>
              </a:spcAft>
              <a:buClrTx/>
              <a:buSzTx/>
              <a:buFontTx/>
              <a:buNone/>
              <a:tabLst/>
              <a:defRPr/>
            </a:pPr>
            <a:endParaRPr kumimoji="0" lang="he-IL" sz="2000" b="1" i="0" u="none" strike="noStrike" kern="1200" cap="none" spc="0" normalizeH="0" baseline="0" noProof="0" dirty="0">
              <a:ln>
                <a:noFill/>
              </a:ln>
              <a:solidFill>
                <a:prstClr val="white"/>
              </a:solidFill>
              <a:effectLst/>
              <a:highlight>
                <a:srgbClr val="FFFF00"/>
              </a:highlight>
              <a:uLnTx/>
              <a:uFillTx/>
              <a:latin typeface="Calibri" panose="020F0502020204030204" pitchFamily="34" charset="0"/>
              <a:ea typeface="Open Sans" panose="020B0606030504020204" pitchFamily="34" charset="0"/>
              <a:cs typeface="Calibri" panose="020F0502020204030204" pitchFamily="34" charset="0"/>
            </a:endParaRPr>
          </a:p>
          <a:p>
            <a:pPr marL="0" marR="0" lvl="0" indent="0" algn="r" defTabSz="914400" rtl="1" eaLnBrk="1" fontAlgn="auto" latinLnBrk="0" hangingPunct="1">
              <a:lnSpc>
                <a:spcPct val="200000"/>
              </a:lnSpc>
              <a:spcBef>
                <a:spcPts val="0"/>
              </a:spcBef>
              <a:spcAft>
                <a:spcPts val="0"/>
              </a:spcAft>
              <a:buClrTx/>
              <a:buSzTx/>
              <a:buFontTx/>
              <a:buNone/>
              <a:tabLst/>
              <a:defRPr/>
            </a:pPr>
            <a:r>
              <a:rPr kumimoji="0" lang="he-IL" sz="2000" b="1" i="0" u="none" strike="noStrike" kern="1200" cap="none" spc="0" normalizeH="0" baseline="0" noProof="0" dirty="0">
                <a:ln>
                  <a:noFill/>
                </a:ln>
                <a:solidFill>
                  <a:prstClr val="white"/>
                </a:solidFill>
                <a:effectLst/>
                <a:uLnTx/>
                <a:uFillTx/>
                <a:latin typeface="Calibri" panose="020F0502020204030204" pitchFamily="34" charset="0"/>
                <a:ea typeface="Open Sans" panose="020B0606030504020204" pitchFamily="34" charset="0"/>
                <a:cs typeface="Calibri" panose="020F0502020204030204" pitchFamily="34" charset="0"/>
              </a:rPr>
              <a:t> </a:t>
            </a:r>
            <a:endParaRPr kumimoji="0" lang="he-IL" sz="2000" b="1" i="0" u="none" strike="noStrike" kern="1200" cap="none" spc="0" normalizeH="0" baseline="0" noProof="0" dirty="0">
              <a:ln>
                <a:noFill/>
              </a:ln>
              <a:solidFill>
                <a:prstClr val="white"/>
              </a:solidFill>
              <a:effectLst/>
              <a:highlight>
                <a:srgbClr val="FFFF00"/>
              </a:highlight>
              <a:uLnTx/>
              <a:uFillTx/>
              <a:latin typeface="Calibri" panose="020F0502020204030204" pitchFamily="34" charset="0"/>
              <a:ea typeface="Open Sans" panose="020B0606030504020204" pitchFamily="34" charset="0"/>
              <a:cs typeface="Calibri" panose="020F0502020204030204" pitchFamily="34" charset="0"/>
            </a:endParaRPr>
          </a:p>
        </p:txBody>
      </p:sp>
      <p:pic>
        <p:nvPicPr>
          <p:cNvPr id="6" name="Picture 24">
            <a:extLst>
              <a:ext uri="{FF2B5EF4-FFF2-40B4-BE49-F238E27FC236}">
                <a16:creationId xmlns:a16="http://schemas.microsoft.com/office/drawing/2014/main" id="{B5124E5F-C9EF-4D24-CB61-5FEDE512DAE2}"/>
              </a:ext>
            </a:extLst>
          </p:cNvPr>
          <p:cNvPicPr>
            <a:picLocks noChangeAspect="1"/>
          </p:cNvPicPr>
          <p:nvPr/>
        </p:nvPicPr>
        <p:blipFill>
          <a:blip r:embed="rId5"/>
          <a:stretch>
            <a:fillRect/>
          </a:stretch>
        </p:blipFill>
        <p:spPr>
          <a:xfrm>
            <a:off x="1726877" y="94119"/>
            <a:ext cx="1280212" cy="467379"/>
          </a:xfrm>
          <a:prstGeom prst="rect">
            <a:avLst/>
          </a:prstGeom>
        </p:spPr>
      </p:pic>
      <p:pic>
        <p:nvPicPr>
          <p:cNvPr id="7" name="Picture 32">
            <a:extLst>
              <a:ext uri="{FF2B5EF4-FFF2-40B4-BE49-F238E27FC236}">
                <a16:creationId xmlns:a16="http://schemas.microsoft.com/office/drawing/2014/main" id="{EB1CD5ED-6BB2-0C7E-42D1-7571ED6F2136}"/>
              </a:ext>
            </a:extLst>
          </p:cNvPr>
          <p:cNvPicPr>
            <a:picLocks noChangeAspect="1"/>
          </p:cNvPicPr>
          <p:nvPr/>
        </p:nvPicPr>
        <p:blipFill>
          <a:blip r:embed="rId6"/>
          <a:stretch>
            <a:fillRect/>
          </a:stretch>
        </p:blipFill>
        <p:spPr>
          <a:xfrm>
            <a:off x="0" y="9750"/>
            <a:ext cx="1726877" cy="719532"/>
          </a:xfrm>
          <a:prstGeom prst="rect">
            <a:avLst/>
          </a:prstGeom>
        </p:spPr>
      </p:pic>
      <p:pic>
        <p:nvPicPr>
          <p:cNvPr id="8" name="Picture 26">
            <a:extLst>
              <a:ext uri="{FF2B5EF4-FFF2-40B4-BE49-F238E27FC236}">
                <a16:creationId xmlns:a16="http://schemas.microsoft.com/office/drawing/2014/main" id="{7E120179-1E00-FB85-4F37-3D303CA2EEE2}"/>
              </a:ext>
            </a:extLst>
          </p:cNvPr>
          <p:cNvPicPr>
            <a:picLocks noChangeAspect="1"/>
          </p:cNvPicPr>
          <p:nvPr/>
        </p:nvPicPr>
        <p:blipFill>
          <a:blip r:embed="rId7"/>
          <a:stretch>
            <a:fillRect/>
          </a:stretch>
        </p:blipFill>
        <p:spPr>
          <a:xfrm>
            <a:off x="9390700" y="6202179"/>
            <a:ext cx="1179780" cy="646071"/>
          </a:xfrm>
          <a:prstGeom prst="rect">
            <a:avLst/>
          </a:prstGeom>
          <a:ln>
            <a:noFill/>
          </a:ln>
        </p:spPr>
      </p:pic>
      <p:pic>
        <p:nvPicPr>
          <p:cNvPr id="9" name="Picture 5" descr="Logo&#10;&#10;Description automatically generated">
            <a:extLst>
              <a:ext uri="{FF2B5EF4-FFF2-40B4-BE49-F238E27FC236}">
                <a16:creationId xmlns:a16="http://schemas.microsoft.com/office/drawing/2014/main" id="{DD0E2C3C-282D-7772-2A8B-53C09CDCBF95}"/>
              </a:ext>
            </a:extLst>
          </p:cNvPr>
          <p:cNvPicPr preferRelativeResize="0">
            <a:picLocks noChangeAspect="1"/>
          </p:cNvPicPr>
          <p:nvPr/>
        </p:nvPicPr>
        <p:blipFill>
          <a:blip r:embed="rId8" cstate="email">
            <a:extLst>
              <a:ext uri="{28A0092B-C50C-407E-A947-70E740481C1C}">
                <a14:useLocalDpi xmlns:a14="http://schemas.microsoft.com/office/drawing/2010/main"/>
              </a:ext>
            </a:extLst>
          </a:blip>
          <a:stretch>
            <a:fillRect/>
          </a:stretch>
        </p:blipFill>
        <p:spPr>
          <a:xfrm>
            <a:off x="8140110" y="6220218"/>
            <a:ext cx="914227" cy="607596"/>
          </a:xfrm>
          <a:prstGeom prst="rect">
            <a:avLst/>
          </a:prstGeom>
        </p:spPr>
      </p:pic>
    </p:spTree>
    <p:extLst>
      <p:ext uri="{BB962C8B-B14F-4D97-AF65-F5344CB8AC3E}">
        <p14:creationId xmlns:p14="http://schemas.microsoft.com/office/powerpoint/2010/main" val="8735572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7" name="Title 1">
            <a:extLst>
              <a:ext uri="{FF2B5EF4-FFF2-40B4-BE49-F238E27FC236}">
                <a16:creationId xmlns:a16="http://schemas.microsoft.com/office/drawing/2014/main" id="{048F64CC-CE0C-8843-B759-4B60C810D846}"/>
              </a:ext>
            </a:extLst>
          </p:cNvPr>
          <p:cNvSpPr txBox="1">
            <a:spLocks/>
          </p:cNvSpPr>
          <p:nvPr/>
        </p:nvSpPr>
        <p:spPr>
          <a:xfrm>
            <a:off x="0" y="78184"/>
            <a:ext cx="12192000" cy="769441"/>
          </a:xfrm>
          <a:prstGeom prst="rect">
            <a:avLst/>
          </a:prstGeom>
          <a:solidFill>
            <a:srgbClr val="FEFCE3"/>
          </a:solidFill>
        </p:spPr>
        <p:txBody>
          <a:bodyPr/>
          <a:lstStyle>
            <a:lvl1pPr algn="r" defTabSz="914354" rtl="0" eaLnBrk="1" latinLnBrk="0" hangingPunct="1">
              <a:spcBef>
                <a:spcPct val="0"/>
              </a:spcBef>
              <a:buNone/>
              <a:defRPr lang="en-US" sz="4000" b="1" kern="1200" cap="all" normalizeH="0" baseline="0" dirty="0">
                <a:solidFill>
                  <a:srgbClr val="2F3A46"/>
                </a:solidFill>
                <a:latin typeface="Open Sans" panose="020B0606030504020204" pitchFamily="34" charset="0"/>
                <a:ea typeface="Open Sans" panose="020B0606030504020204" pitchFamily="34" charset="0"/>
                <a:cs typeface="Open Sans" panose="020B0606030504020204" pitchFamily="34" charset="0"/>
              </a:defRPr>
            </a:lvl1pPr>
          </a:lstStyle>
          <a:p>
            <a:pPr marL="0" marR="0" lvl="0" indent="0" algn="ctr" defTabSz="914354" rtl="0" eaLnBrk="1" fontAlgn="auto" latinLnBrk="0" hangingPunct="1">
              <a:lnSpc>
                <a:spcPct val="100000"/>
              </a:lnSpc>
              <a:spcBef>
                <a:spcPct val="0"/>
              </a:spcBef>
              <a:spcAft>
                <a:spcPts val="0"/>
              </a:spcAft>
              <a:buClrTx/>
              <a:buSzTx/>
              <a:buFontTx/>
              <a:buNone/>
              <a:tabLst/>
              <a:defRPr/>
            </a:pPr>
            <a:r>
              <a:rPr kumimoji="0" lang="he-IL" sz="4400" b="1" i="0" u="none" strike="noStrike" kern="1200" cap="none" spc="0" normalizeH="0" baseline="0" noProof="0" dirty="0">
                <a:ln>
                  <a:noFill/>
                </a:ln>
                <a:solidFill>
                  <a:prstClr val="black"/>
                </a:solidFill>
                <a:effectLst/>
                <a:uLnTx/>
                <a:uFillTx/>
                <a:latin typeface="Calibri"/>
                <a:ea typeface="Open Sans" panose="020B0606030504020204" pitchFamily="34" charset="0"/>
                <a:cs typeface="Calibri"/>
              </a:rPr>
              <a:t>מטרות חוק סיעוד </a:t>
            </a:r>
            <a:r>
              <a:rPr kumimoji="0" lang="he-IL" sz="1600" b="1" i="0" u="none" strike="noStrike" kern="1200" cap="all" spc="0" normalizeH="0" baseline="0" noProof="0" dirty="0">
                <a:ln>
                  <a:noFill/>
                </a:ln>
                <a:solidFill>
                  <a:srgbClr val="4B2C50"/>
                </a:solidFill>
                <a:effectLst/>
                <a:uLnTx/>
                <a:uFillTx/>
                <a:latin typeface="Open Sans" panose="020B0606030504020204" pitchFamily="34" charset="0"/>
                <a:ea typeface="Open Sans" panose="020B0606030504020204" pitchFamily="34" charset="0"/>
              </a:rPr>
              <a:t>1980</a:t>
            </a:r>
            <a:endParaRPr kumimoji="0" lang="he-IL" sz="4400" b="1" i="0" u="none" strike="noStrike" kern="1200" cap="all" spc="0" normalizeH="0" baseline="0" noProof="0" dirty="0">
              <a:ln>
                <a:noFill/>
              </a:ln>
              <a:solidFill>
                <a:srgbClr val="4B2C50"/>
              </a:solidFill>
              <a:effectLst/>
              <a:uLnTx/>
              <a:uFillTx/>
              <a:latin typeface="Open Sans" panose="020B0606030504020204" pitchFamily="34" charset="0"/>
              <a:ea typeface="Open Sans" panose="020B0606030504020204" pitchFamily="34" charset="0"/>
            </a:endParaRPr>
          </a:p>
          <a:p>
            <a:pPr marL="0" marR="0" lvl="0" indent="0" algn="ctr" defTabSz="914354" rtl="0" eaLnBrk="1" fontAlgn="auto" latinLnBrk="0" hangingPunct="1">
              <a:lnSpc>
                <a:spcPct val="100000"/>
              </a:lnSpc>
              <a:spcBef>
                <a:spcPct val="0"/>
              </a:spcBef>
              <a:spcAft>
                <a:spcPts val="0"/>
              </a:spcAft>
              <a:buClrTx/>
              <a:buSzTx/>
              <a:buFontTx/>
              <a:buNone/>
              <a:tabLst/>
              <a:defRPr/>
            </a:pPr>
            <a:r>
              <a:rPr kumimoji="0" lang="he-IL" sz="4400" b="1" i="0" u="none" strike="noStrike" kern="1200" cap="none" spc="0" normalizeH="0" baseline="0" noProof="0" dirty="0">
                <a:ln>
                  <a:noFill/>
                </a:ln>
                <a:solidFill>
                  <a:prstClr val="black"/>
                </a:solidFill>
                <a:effectLst/>
                <a:uLnTx/>
                <a:uFillTx/>
                <a:latin typeface="Calibri"/>
                <a:ea typeface="Open Sans" panose="020B0606030504020204" pitchFamily="34" charset="0"/>
                <a:cs typeface="Calibri"/>
              </a:rPr>
              <a:t> </a:t>
            </a:r>
            <a:endParaRPr kumimoji="0" lang="en-CA" sz="1200" b="1" i="0" u="none" strike="noStrike" kern="1200" cap="all" spc="0" normalizeH="0" baseline="0" noProof="0" dirty="0">
              <a:ln>
                <a:noFill/>
              </a:ln>
              <a:solidFill>
                <a:srgbClr val="2F3A46"/>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10" name="Circle">
            <a:extLst>
              <a:ext uri="{FF2B5EF4-FFF2-40B4-BE49-F238E27FC236}">
                <a16:creationId xmlns:a16="http://schemas.microsoft.com/office/drawing/2014/main" id="{8E771A2D-D39A-F945-8B3F-C0AE14B6EB07}"/>
              </a:ext>
            </a:extLst>
          </p:cNvPr>
          <p:cNvSpPr/>
          <p:nvPr/>
        </p:nvSpPr>
        <p:spPr>
          <a:xfrm>
            <a:off x="550077" y="1326613"/>
            <a:ext cx="3123207" cy="2496121"/>
          </a:xfrm>
          <a:prstGeom prst="ellipse">
            <a:avLst/>
          </a:prstGeom>
          <a:solidFill>
            <a:schemeClr val="accent4">
              <a:alpha val="70000"/>
            </a:schemeClr>
          </a:solidFill>
          <a:ln w="12700">
            <a:miter lim="400000"/>
          </a:ln>
        </p:spPr>
        <p:txBody>
          <a:bodyPr lIns="0" tIns="38100" rIns="0" bIns="38100"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3200" b="1" i="0" u="none" strike="noStrike" kern="1200" cap="none" spc="0" normalizeH="0" baseline="0" noProof="0" dirty="0">
                <a:ln>
                  <a:noFill/>
                </a:ln>
                <a:solidFill>
                  <a:srgbClr val="4B2C50"/>
                </a:solidFill>
                <a:effectLst/>
                <a:uLnTx/>
                <a:uFillTx/>
                <a:latin typeface="Calibri" panose="020F0502020204030204" pitchFamily="34" charset="0"/>
                <a:ea typeface="+mn-ea"/>
                <a:cs typeface="Calibri" panose="020F0502020204030204" pitchFamily="34" charset="0"/>
              </a:rPr>
              <a:t>עצמאות ותפקוד בקהילה</a:t>
            </a:r>
          </a:p>
        </p:txBody>
      </p:sp>
      <p:sp>
        <p:nvSpPr>
          <p:cNvPr id="11" name="Circle">
            <a:extLst>
              <a:ext uri="{FF2B5EF4-FFF2-40B4-BE49-F238E27FC236}">
                <a16:creationId xmlns:a16="http://schemas.microsoft.com/office/drawing/2014/main" id="{BFA8BC08-2983-6C41-BCDA-7939F0275991}"/>
              </a:ext>
            </a:extLst>
          </p:cNvPr>
          <p:cNvSpPr/>
          <p:nvPr/>
        </p:nvSpPr>
        <p:spPr>
          <a:xfrm>
            <a:off x="3169888" y="1333041"/>
            <a:ext cx="3021591" cy="2563584"/>
          </a:xfrm>
          <a:prstGeom prst="ellipse">
            <a:avLst/>
          </a:prstGeom>
          <a:solidFill>
            <a:schemeClr val="accent6">
              <a:lumMod val="60000"/>
              <a:lumOff val="40000"/>
              <a:alpha val="70000"/>
            </a:schemeClr>
          </a:solidFill>
          <a:ln w="12700">
            <a:miter lim="400000"/>
          </a:ln>
        </p:spPr>
        <p:txBody>
          <a:bodyPr lIns="0" tIns="38100" rIns="0" bIns="38100" anchor="ctr"/>
          <a:lstStyle/>
          <a:p>
            <a:pPr marL="0" marR="0" lvl="0" indent="0" algn="ctr" defTabSz="914354" rtl="0" eaLnBrk="1" fontAlgn="auto" latinLnBrk="0" hangingPunct="1">
              <a:lnSpc>
                <a:spcPct val="100000"/>
              </a:lnSpc>
              <a:spcBef>
                <a:spcPts val="0"/>
              </a:spcBef>
              <a:spcAft>
                <a:spcPts val="0"/>
              </a:spcAft>
              <a:buClrTx/>
              <a:buSzTx/>
              <a:buFontTx/>
              <a:buNone/>
              <a:tabLst/>
              <a:defRPr sz="3000">
                <a:solidFill>
                  <a:srgbClr val="FFFFFF"/>
                </a:solidFill>
              </a:defRPr>
            </a:pPr>
            <a:r>
              <a:rPr kumimoji="0" lang="he-IL" sz="3200" b="1" i="0" u="none" strike="noStrike" kern="1200" cap="none" spc="0" normalizeH="0" baseline="0" noProof="0" dirty="0">
                <a:ln>
                  <a:noFill/>
                </a:ln>
                <a:solidFill>
                  <a:srgbClr val="4B2C50"/>
                </a:solidFill>
                <a:effectLst/>
                <a:uLnTx/>
                <a:uFillTx/>
                <a:latin typeface="Calibri" panose="020F0502020204030204" pitchFamily="34" charset="0"/>
                <a:ea typeface="+mn-ea"/>
                <a:cs typeface="Calibri" panose="020F0502020204030204" pitchFamily="34" charset="0"/>
              </a:rPr>
              <a:t>חיים בכבוד ובביטחון </a:t>
            </a:r>
          </a:p>
        </p:txBody>
      </p:sp>
      <p:sp>
        <p:nvSpPr>
          <p:cNvPr id="12" name="Circle">
            <a:extLst>
              <a:ext uri="{FF2B5EF4-FFF2-40B4-BE49-F238E27FC236}">
                <a16:creationId xmlns:a16="http://schemas.microsoft.com/office/drawing/2014/main" id="{34F19EA4-628E-134F-AE5C-15E847C2E5B4}"/>
              </a:ext>
            </a:extLst>
          </p:cNvPr>
          <p:cNvSpPr/>
          <p:nvPr/>
        </p:nvSpPr>
        <p:spPr>
          <a:xfrm>
            <a:off x="2000186" y="3193696"/>
            <a:ext cx="2932361" cy="2393184"/>
          </a:xfrm>
          <a:prstGeom prst="ellipse">
            <a:avLst/>
          </a:prstGeom>
          <a:solidFill>
            <a:schemeClr val="accent2">
              <a:alpha val="70000"/>
            </a:schemeClr>
          </a:solidFill>
          <a:ln w="12700">
            <a:miter lim="400000"/>
          </a:ln>
        </p:spPr>
        <p:txBody>
          <a:bodyPr lIns="0" tIns="38100" rIns="0" bIns="38100" anchor="ctr"/>
          <a:lstStyle/>
          <a:p>
            <a:pPr marL="0" marR="0" lvl="0" indent="0" algn="ctr" defTabSz="914354" rtl="0" eaLnBrk="1" fontAlgn="auto" latinLnBrk="0" hangingPunct="1">
              <a:lnSpc>
                <a:spcPct val="100000"/>
              </a:lnSpc>
              <a:spcBef>
                <a:spcPts val="0"/>
              </a:spcBef>
              <a:spcAft>
                <a:spcPts val="0"/>
              </a:spcAft>
              <a:buClrTx/>
              <a:buSzTx/>
              <a:buFontTx/>
              <a:buNone/>
              <a:tabLst/>
              <a:defRPr sz="3000">
                <a:solidFill>
                  <a:srgbClr val="FFFFFF"/>
                </a:solidFill>
              </a:defRPr>
            </a:pPr>
            <a:endParaRPr kumimoji="0" lang="he-IL" sz="2800" b="1" i="0" u="none" strike="noStrike" kern="1200" cap="none" spc="0" normalizeH="0" baseline="0" noProof="0" dirty="0">
              <a:ln>
                <a:noFill/>
              </a:ln>
              <a:solidFill>
                <a:srgbClr val="4B2C50"/>
              </a:solidFill>
              <a:effectLst/>
              <a:uLnTx/>
              <a:uFillTx/>
              <a:latin typeface="Calibri" panose="020F0502020204030204" pitchFamily="34" charset="0"/>
              <a:ea typeface="+mn-ea"/>
              <a:cs typeface="Calibri" panose="020F0502020204030204" pitchFamily="34" charset="0"/>
            </a:endParaRPr>
          </a:p>
          <a:p>
            <a:pPr marL="0" marR="0" lvl="0" indent="0" algn="ctr" defTabSz="914354" rtl="0" eaLnBrk="1" fontAlgn="auto" latinLnBrk="0" hangingPunct="1">
              <a:lnSpc>
                <a:spcPct val="100000"/>
              </a:lnSpc>
              <a:spcBef>
                <a:spcPts val="0"/>
              </a:spcBef>
              <a:spcAft>
                <a:spcPts val="0"/>
              </a:spcAft>
              <a:buClrTx/>
              <a:buSzTx/>
              <a:buFontTx/>
              <a:buNone/>
              <a:tabLst/>
              <a:defRPr sz="3000">
                <a:solidFill>
                  <a:srgbClr val="FFFFFF"/>
                </a:solidFill>
              </a:defRPr>
            </a:pPr>
            <a:r>
              <a:rPr kumimoji="0" lang="he-IL" sz="2800" b="1" i="0" u="none" strike="noStrike" kern="1200" cap="none" spc="0" normalizeH="0" baseline="0" noProof="0" dirty="0">
                <a:ln>
                  <a:noFill/>
                </a:ln>
                <a:solidFill>
                  <a:srgbClr val="4B2C50"/>
                </a:solidFill>
                <a:effectLst/>
                <a:uLnTx/>
                <a:uFillTx/>
                <a:latin typeface="Calibri" panose="020F0502020204030204" pitchFamily="34" charset="0"/>
                <a:ea typeface="+mn-ea"/>
                <a:cs typeface="Calibri" panose="020F0502020204030204" pitchFamily="34" charset="0"/>
              </a:rPr>
              <a:t>מערך שירותי סיעוד תומך ונגיש</a:t>
            </a:r>
          </a:p>
          <a:p>
            <a:pPr marL="0" marR="0" lvl="0" indent="0" algn="ctr" defTabSz="914354" rtl="0" eaLnBrk="1" fontAlgn="auto" latinLnBrk="0" hangingPunct="1">
              <a:lnSpc>
                <a:spcPct val="100000"/>
              </a:lnSpc>
              <a:spcBef>
                <a:spcPts val="0"/>
              </a:spcBef>
              <a:spcAft>
                <a:spcPts val="0"/>
              </a:spcAft>
              <a:buClrTx/>
              <a:buSzTx/>
              <a:buFontTx/>
              <a:buNone/>
              <a:tabLst/>
              <a:defRPr sz="3000">
                <a:solidFill>
                  <a:srgbClr val="FFFFFF"/>
                </a:solidFill>
              </a:defRPr>
            </a:pPr>
            <a:endParaRPr kumimoji="0" sz="2400" b="0" i="0" u="none" strike="noStrike" kern="1200" cap="none" spc="0" normalizeH="0" baseline="0" noProof="0" dirty="0">
              <a:ln>
                <a:noFill/>
              </a:ln>
              <a:solidFill>
                <a:srgbClr val="2C3E50"/>
              </a:solidFill>
              <a:effectLst/>
              <a:uLnTx/>
              <a:uFillTx/>
              <a:latin typeface="Calibri" panose="020F0502020204030204" pitchFamily="34" charset="0"/>
              <a:ea typeface="+mn-ea"/>
              <a:cs typeface="Calibri" panose="020F0502020204030204" pitchFamily="34" charset="0"/>
            </a:endParaRPr>
          </a:p>
        </p:txBody>
      </p:sp>
      <p:sp>
        <p:nvSpPr>
          <p:cNvPr id="2" name="מלבן 1"/>
          <p:cNvSpPr/>
          <p:nvPr/>
        </p:nvSpPr>
        <p:spPr>
          <a:xfrm>
            <a:off x="5756747" y="3896625"/>
            <a:ext cx="5973339" cy="2523768"/>
          </a:xfrm>
          <a:prstGeom prst="rect">
            <a:avLst/>
          </a:prstGeom>
        </p:spPr>
        <p:txBody>
          <a:bodyPr wrap="squar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he-IL" sz="1800" b="1" i="0" u="none" strike="noStrike" kern="1200" cap="none" spc="0" normalizeH="0" baseline="0" noProof="0" dirty="0">
              <a:ln>
                <a:noFill/>
              </a:ln>
              <a:solidFill>
                <a:srgbClr val="4B2C50"/>
              </a:solidFill>
              <a:effectLst/>
              <a:uLnTx/>
              <a:uFillTx/>
              <a:latin typeface="Calibri"/>
              <a:ea typeface="+mn-ea"/>
              <a:cs typeface="Arial" panose="020B0604020202020204" pitchFamily="34" charset="0"/>
            </a:endParaRP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4B2C50"/>
                </a:solidFill>
                <a:effectLst/>
                <a:uLnTx/>
                <a:uFillTx/>
                <a:latin typeface="Calibri"/>
                <a:ea typeface="+mn-ea"/>
                <a:cs typeface="Arial" panose="020B0604020202020204" pitchFamily="34" charset="0"/>
              </a:rPr>
              <a:t>המטרות בחוק גמלת הסיעוד:</a:t>
            </a: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he-IL" sz="1050" b="0" i="0" u="none" strike="noStrike" kern="1200" cap="none" spc="0" normalizeH="0" baseline="0" noProof="0" dirty="0">
              <a:ln>
                <a:noFill/>
              </a:ln>
              <a:solidFill>
                <a:srgbClr val="95A5A6"/>
              </a:solidFill>
              <a:effectLst/>
              <a:uLnTx/>
              <a:uFillTx/>
              <a:latin typeface="Calibri"/>
              <a:ea typeface="+mn-ea"/>
              <a:cs typeface="Arial" panose="020B0604020202020204" pitchFamily="34" charset="0"/>
            </a:endParaRPr>
          </a:p>
          <a:p>
            <a:pPr marL="0" marR="0" lvl="0" indent="0" algn="r" defTabSz="914400" rtl="1" eaLnBrk="1" fontAlgn="auto" latinLnBrk="0" hangingPunct="1">
              <a:lnSpc>
                <a:spcPct val="15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4B2C50"/>
                </a:solidFill>
                <a:effectLst/>
                <a:uLnTx/>
                <a:uFillTx/>
                <a:latin typeface="Calibri"/>
                <a:ea typeface="+mn-ea"/>
                <a:cs typeface="Arial" panose="020B0604020202020204" pitchFamily="34" charset="0"/>
              </a:rPr>
              <a:t>1. הבטחת חיים בכבוד ובביטחון כלכלי לזקנים הזקוקים לסיוע.</a:t>
            </a:r>
            <a:endParaRPr kumimoji="0" lang="he-IL" sz="1800" b="0" i="0" u="none" strike="noStrike" kern="1200" cap="none" spc="0" normalizeH="0" baseline="0" noProof="0" dirty="0">
              <a:ln>
                <a:noFill/>
              </a:ln>
              <a:solidFill>
                <a:srgbClr val="4B2C50"/>
              </a:solidFill>
              <a:effectLst/>
              <a:uLnTx/>
              <a:uFillTx/>
              <a:latin typeface="Calibri"/>
              <a:ea typeface="+mn-ea"/>
              <a:cs typeface="Arial" panose="020B0604020202020204" pitchFamily="34" charset="0"/>
            </a:endParaRPr>
          </a:p>
          <a:p>
            <a:pPr marL="0" marR="0" lvl="0" indent="0" algn="r" defTabSz="914400" rtl="1" eaLnBrk="1" fontAlgn="auto" latinLnBrk="0" hangingPunct="1">
              <a:lnSpc>
                <a:spcPct val="15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4B2C50"/>
                </a:solidFill>
                <a:effectLst/>
                <a:uLnTx/>
                <a:uFillTx/>
                <a:latin typeface="Calibri"/>
                <a:ea typeface="+mn-ea"/>
                <a:cs typeface="Arial" panose="020B0604020202020204" pitchFamily="34" charset="0"/>
              </a:rPr>
              <a:t>2. עידוד עצמאות ותפקוד בקהילה של זקנים.</a:t>
            </a:r>
            <a:endParaRPr kumimoji="0" lang="he-IL" sz="1800" b="0" i="0" u="none" strike="noStrike" kern="1200" cap="none" spc="0" normalizeH="0" baseline="0" noProof="0" dirty="0">
              <a:ln>
                <a:noFill/>
              </a:ln>
              <a:solidFill>
                <a:srgbClr val="4B2C50"/>
              </a:solidFill>
              <a:effectLst/>
              <a:uLnTx/>
              <a:uFillTx/>
              <a:latin typeface="Calibri"/>
              <a:ea typeface="+mn-ea"/>
              <a:cs typeface="Arial" panose="020B0604020202020204" pitchFamily="34" charset="0"/>
            </a:endParaRPr>
          </a:p>
          <a:p>
            <a:pPr marL="0" marR="0" lvl="0" indent="0" algn="r" defTabSz="914400" rtl="1" eaLnBrk="1" fontAlgn="auto" latinLnBrk="0" hangingPunct="1">
              <a:lnSpc>
                <a:spcPct val="15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4B2C50"/>
                </a:solidFill>
                <a:effectLst/>
                <a:uLnTx/>
                <a:uFillTx/>
                <a:latin typeface="Calibri"/>
                <a:ea typeface="+mn-ea"/>
                <a:cs typeface="Arial" panose="020B0604020202020204" pitchFamily="34" charset="0"/>
              </a:rPr>
              <a:t>3. פיתוח מערכת שירותי סיעוד איכותית ונגישה לכולם.</a:t>
            </a:r>
          </a:p>
          <a:p>
            <a:pPr marL="0" marR="0" lvl="0" indent="0" algn="r" defTabSz="914400" rtl="1" eaLnBrk="1" fontAlgn="auto" latinLnBrk="0" hangingPunct="1">
              <a:lnSpc>
                <a:spcPct val="150000"/>
              </a:lnSpc>
              <a:spcBef>
                <a:spcPts val="0"/>
              </a:spcBef>
              <a:spcAft>
                <a:spcPts val="0"/>
              </a:spcAft>
              <a:buClrTx/>
              <a:buSzTx/>
              <a:buFontTx/>
              <a:buNone/>
              <a:tabLst/>
              <a:defRPr/>
            </a:pPr>
            <a:r>
              <a:rPr kumimoji="0" lang="he-IL" sz="1800" b="0" i="0" u="none" strike="noStrike" kern="1200" cap="none" spc="0" normalizeH="0" baseline="0" noProof="0" dirty="0">
                <a:ln>
                  <a:noFill/>
                </a:ln>
                <a:solidFill>
                  <a:srgbClr val="4B2C50"/>
                </a:solidFill>
                <a:effectLst/>
                <a:uLnTx/>
                <a:uFillTx/>
                <a:latin typeface="Calibri"/>
                <a:ea typeface="+mn-ea"/>
                <a:cs typeface="Arial" panose="020B0604020202020204" pitchFamily="34" charset="0"/>
              </a:rPr>
              <a:t>מקור: חוק גמלת הסיעוד, תשנ"ו-1995</a:t>
            </a:r>
          </a:p>
        </p:txBody>
      </p:sp>
      <p:sp>
        <p:nvSpPr>
          <p:cNvPr id="8" name="מלבן 7"/>
          <p:cNvSpPr/>
          <p:nvPr/>
        </p:nvSpPr>
        <p:spPr>
          <a:xfrm>
            <a:off x="0" y="0"/>
            <a:ext cx="195943" cy="6850955"/>
          </a:xfrm>
          <a:prstGeom prst="rect">
            <a:avLst/>
          </a:prstGeom>
          <a:solidFill>
            <a:srgbClr val="4C77D8"/>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srgbClr val="2980B9"/>
              </a:solidFill>
              <a:effectLst/>
              <a:uLnTx/>
              <a:uFillTx/>
              <a:latin typeface="Calibri"/>
              <a:ea typeface="+mn-ea"/>
              <a:cs typeface="Arial" panose="020B0604020202020204" pitchFamily="34" charset="0"/>
            </a:endParaRPr>
          </a:p>
        </p:txBody>
      </p:sp>
      <p:sp>
        <p:nvSpPr>
          <p:cNvPr id="14" name="מלבן 13"/>
          <p:cNvSpPr/>
          <p:nvPr/>
        </p:nvSpPr>
        <p:spPr>
          <a:xfrm>
            <a:off x="3093" y="0"/>
            <a:ext cx="244547" cy="6857999"/>
          </a:xfrm>
          <a:prstGeom prst="rect">
            <a:avLst/>
          </a:prstGeom>
          <a:solidFill>
            <a:srgbClr val="2980B9"/>
          </a:solidFill>
          <a:ln w="12700" cap="flat" cmpd="sng" algn="ctr">
            <a:solidFill>
              <a:srgbClr val="2CC2E0"/>
            </a:solidFill>
            <a:prstDash val="solid"/>
            <a:miter lim="800000"/>
          </a:ln>
          <a:effectLst/>
        </p:spPr>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0" cap="none" spc="0" normalizeH="0" baseline="0" noProof="0">
              <a:ln>
                <a:noFill/>
              </a:ln>
              <a:solidFill>
                <a:prstClr val="white"/>
              </a:solidFill>
              <a:effectLst/>
              <a:uLnTx/>
              <a:uFillTx/>
              <a:latin typeface="Calibri"/>
              <a:ea typeface="+mn-ea"/>
              <a:cs typeface="Calibri"/>
            </a:endParaRPr>
          </a:p>
        </p:txBody>
      </p:sp>
      <p:sp>
        <p:nvSpPr>
          <p:cNvPr id="15" name="TextBox 14"/>
          <p:cNvSpPr txBox="1"/>
          <p:nvPr/>
        </p:nvSpPr>
        <p:spPr>
          <a:xfrm rot="16200000">
            <a:off x="-641174" y="724559"/>
            <a:ext cx="1478289" cy="338554"/>
          </a:xfrm>
          <a:prstGeom prst="rect">
            <a:avLst/>
          </a:prstGeom>
          <a:noFill/>
        </p:spPr>
        <p:txBody>
          <a:bodyPr wrap="non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1" i="0" u="none" strike="noStrike" kern="1200" cap="none" spc="0" normalizeH="0" baseline="0" noProof="0" dirty="0">
                <a:ln>
                  <a:noFill/>
                </a:ln>
                <a:solidFill>
                  <a:prstClr val="white"/>
                </a:solidFill>
                <a:effectLst/>
                <a:uLnTx/>
                <a:uFillTx/>
                <a:latin typeface="Calibri"/>
                <a:ea typeface="+mn-ea"/>
                <a:cs typeface="Calibri"/>
              </a:rPr>
              <a:t>רקע </a:t>
            </a:r>
            <a:r>
              <a:rPr kumimoji="0" lang="he-IL" sz="1600" b="1" i="0" u="none" strike="noStrike" kern="1200" cap="none" spc="0" normalizeH="0" baseline="0" noProof="0" dirty="0" err="1">
                <a:ln>
                  <a:noFill/>
                </a:ln>
                <a:solidFill>
                  <a:prstClr val="white"/>
                </a:solidFill>
                <a:effectLst/>
                <a:uLnTx/>
                <a:uFillTx/>
                <a:latin typeface="Calibri"/>
                <a:ea typeface="+mn-ea"/>
                <a:cs typeface="Calibri"/>
              </a:rPr>
              <a:t>ןתמונת</a:t>
            </a:r>
            <a:r>
              <a:rPr kumimoji="0" lang="he-IL" sz="1600" b="1" i="0" u="none" strike="noStrike" kern="1200" cap="none" spc="0" normalizeH="0" baseline="0" noProof="0" dirty="0">
                <a:ln>
                  <a:noFill/>
                </a:ln>
                <a:solidFill>
                  <a:prstClr val="white"/>
                </a:solidFill>
                <a:effectLst/>
                <a:uLnTx/>
                <a:uFillTx/>
                <a:latin typeface="Calibri"/>
                <a:ea typeface="+mn-ea"/>
                <a:cs typeface="Calibri"/>
              </a:rPr>
              <a:t> מצב</a:t>
            </a:r>
          </a:p>
        </p:txBody>
      </p:sp>
    </p:spTree>
    <p:extLst>
      <p:ext uri="{BB962C8B-B14F-4D97-AF65-F5344CB8AC3E}">
        <p14:creationId xmlns:p14="http://schemas.microsoft.com/office/powerpoint/2010/main" val="36100447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Content Placeholder 4">
            <a:extLst>
              <a:ext uri="{FF2B5EF4-FFF2-40B4-BE49-F238E27FC236}">
                <a16:creationId xmlns:a16="http://schemas.microsoft.com/office/drawing/2014/main" id="{1DDF87A0-2D02-4AA4-948C-3565CF155EEF}"/>
              </a:ext>
            </a:extLst>
          </p:cNvPr>
          <p:cNvSpPr txBox="1">
            <a:spLocks/>
          </p:cNvSpPr>
          <p:nvPr/>
        </p:nvSpPr>
        <p:spPr>
          <a:xfrm>
            <a:off x="1400582" y="7050540"/>
            <a:ext cx="3622830" cy="1792519"/>
          </a:xfrm>
          <a:prstGeom prst="rect">
            <a:avLst/>
          </a:prstGeom>
        </p:spPr>
        <p:txBody>
          <a:bodyPr vert="horz" lIns="91440" tIns="45720" rIns="91440" bIns="45720" rtlCol="1">
            <a:noAutofit/>
          </a:bodyPr>
          <a:lst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r" defTabSz="914400" rtl="1" eaLnBrk="1" fontAlgn="auto" latinLnBrk="0" hangingPunct="1">
              <a:lnSpc>
                <a:spcPct val="150000"/>
              </a:lnSpc>
              <a:spcBef>
                <a:spcPts val="1000"/>
              </a:spcBef>
              <a:spcAft>
                <a:spcPts val="0"/>
              </a:spcAft>
              <a:buClrTx/>
              <a:buSzTx/>
              <a:buFont typeface="Arial" panose="020B0604020202020204" pitchFamily="34" charset="0"/>
              <a:buNone/>
              <a:tabLst/>
              <a:defRPr/>
            </a:pPr>
            <a:r>
              <a:rPr kumimoji="0" lang="he-IL" sz="3200" b="1" i="0" u="none" strike="noStrike" kern="1200" cap="none" spc="0" normalizeH="0" baseline="0" noProof="0" dirty="0">
                <a:ln>
                  <a:noFill/>
                </a:ln>
                <a:solidFill>
                  <a:srgbClr val="0F6FC6"/>
                </a:solidFill>
                <a:effectLst/>
                <a:uLnTx/>
                <a:uFillTx/>
                <a:latin typeface="Assistant SemiBold" pitchFamily="2" charset="-79"/>
                <a:ea typeface="+mn-ea"/>
                <a:cs typeface="Assistant SemiBold" pitchFamily="2" charset="-79"/>
              </a:rPr>
              <a:t>שיעור בני 65+ מהאוכלוסייה צפוי להמשיך ולגדול בקביעות בעשרות השנים הקרובות</a:t>
            </a:r>
          </a:p>
        </p:txBody>
      </p:sp>
      <p:graphicFrame>
        <p:nvGraphicFramePr>
          <p:cNvPr id="16" name="תרשים 15">
            <a:extLst>
              <a:ext uri="{FF2B5EF4-FFF2-40B4-BE49-F238E27FC236}">
                <a16:creationId xmlns:a16="http://schemas.microsoft.com/office/drawing/2014/main" id="{6AC7C0A4-33F3-97AA-9276-50331151EC37}"/>
              </a:ext>
            </a:extLst>
          </p:cNvPr>
          <p:cNvGraphicFramePr>
            <a:graphicFrameLocks/>
          </p:cNvGraphicFramePr>
          <p:nvPr/>
        </p:nvGraphicFramePr>
        <p:xfrm>
          <a:off x="774801" y="1041722"/>
          <a:ext cx="7375668" cy="4505852"/>
        </p:xfrm>
        <a:graphic>
          <a:graphicData uri="http://schemas.openxmlformats.org/drawingml/2006/chart">
            <c:chart xmlns:c="http://schemas.openxmlformats.org/drawingml/2006/chart" xmlns:r="http://schemas.openxmlformats.org/officeDocument/2006/relationships" r:id="rId3"/>
          </a:graphicData>
        </a:graphic>
      </p:graphicFrame>
      <p:sp>
        <p:nvSpPr>
          <p:cNvPr id="3" name="תיבת טקסט 2">
            <a:extLst>
              <a:ext uri="{FF2B5EF4-FFF2-40B4-BE49-F238E27FC236}">
                <a16:creationId xmlns:a16="http://schemas.microsoft.com/office/drawing/2014/main" id="{B9CDEC3F-C2B6-7FEA-5B75-F080C7C4C7BA}"/>
              </a:ext>
            </a:extLst>
          </p:cNvPr>
          <p:cNvSpPr txBox="1"/>
          <p:nvPr/>
        </p:nvSpPr>
        <p:spPr>
          <a:xfrm>
            <a:off x="8943975" y="1439240"/>
            <a:ext cx="3138751" cy="3108543"/>
          </a:xfrm>
          <a:prstGeom prst="rect">
            <a:avLst/>
          </a:prstGeom>
          <a:noFill/>
        </p:spPr>
        <p:txBody>
          <a:bodyPr wrap="squar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800" b="1" i="0" u="none" strike="noStrike" kern="1200" cap="none" spc="0" normalizeH="0" baseline="0" noProof="0" dirty="0">
                <a:ln>
                  <a:noFill/>
                </a:ln>
                <a:solidFill>
                  <a:srgbClr val="0F6FC6"/>
                </a:solidFill>
                <a:effectLst/>
                <a:uLnTx/>
                <a:uFillTx/>
                <a:latin typeface="Assistant" pitchFamily="2" charset="-79"/>
                <a:ea typeface="+mn-ea"/>
                <a:cs typeface="Assistant" pitchFamily="2" charset="-79"/>
              </a:rPr>
              <a:t>תוחלת חיים מתארכת</a:t>
            </a:r>
            <a:br>
              <a:rPr kumimoji="0" lang="en-US" sz="2800" b="0" i="0" u="none" strike="noStrike" kern="1200" cap="none" spc="0" normalizeH="0" baseline="0" noProof="0" dirty="0">
                <a:ln>
                  <a:noFill/>
                </a:ln>
                <a:solidFill>
                  <a:prstClr val="black">
                    <a:lumMod val="85000"/>
                    <a:lumOff val="15000"/>
                  </a:prstClr>
                </a:solidFill>
                <a:effectLst/>
                <a:uLnTx/>
                <a:uFillTx/>
                <a:latin typeface="Assistant" pitchFamily="2" charset="-79"/>
                <a:ea typeface="+mn-ea"/>
                <a:cs typeface="Assistant" pitchFamily="2" charset="-79"/>
              </a:rPr>
            </a:br>
            <a:r>
              <a:rPr kumimoji="0" lang="he-IL" sz="2800" b="0" i="0" u="none" strike="noStrike" kern="1200" cap="none" spc="0" normalizeH="0" baseline="0" noProof="0" dirty="0">
                <a:ln>
                  <a:noFill/>
                </a:ln>
                <a:solidFill>
                  <a:prstClr val="black">
                    <a:lumMod val="85000"/>
                    <a:lumOff val="15000"/>
                  </a:prstClr>
                </a:solidFill>
                <a:effectLst/>
                <a:uLnTx/>
                <a:uFillTx/>
                <a:latin typeface="Assistant" pitchFamily="2" charset="-79"/>
                <a:ea typeface="+mn-ea"/>
                <a:cs typeface="Assistant" pitchFamily="2" charset="-79"/>
              </a:rPr>
              <a:t>הזקנים </a:t>
            </a:r>
            <a:r>
              <a:rPr kumimoji="0" lang="he-IL" sz="2800" b="1" i="0" u="none" strike="noStrike" kern="1200" cap="none" spc="0" normalizeH="0" baseline="0" noProof="0" dirty="0">
                <a:ln>
                  <a:noFill/>
                </a:ln>
                <a:solidFill>
                  <a:prstClr val="black">
                    <a:lumMod val="85000"/>
                    <a:lumOff val="15000"/>
                  </a:prstClr>
                </a:solidFill>
                <a:effectLst/>
                <a:uLnTx/>
                <a:uFillTx/>
                <a:latin typeface="Assistant" pitchFamily="2" charset="-79"/>
                <a:ea typeface="+mn-ea"/>
                <a:cs typeface="Assistant" pitchFamily="2" charset="-79"/>
              </a:rPr>
              <a:t>נזקקים יותר </a:t>
            </a:r>
            <a:r>
              <a:rPr kumimoji="0" lang="he-IL" sz="2800" b="0" i="0" u="none" strike="noStrike" kern="1200" cap="none" spc="0" normalizeH="0" baseline="0" noProof="0" dirty="0">
                <a:ln>
                  <a:noFill/>
                </a:ln>
                <a:solidFill>
                  <a:prstClr val="black">
                    <a:lumMod val="85000"/>
                    <a:lumOff val="15000"/>
                  </a:prstClr>
                </a:solidFill>
                <a:effectLst/>
                <a:uLnTx/>
                <a:uFillTx/>
                <a:latin typeface="Assistant" pitchFamily="2" charset="-79"/>
                <a:ea typeface="+mn-ea"/>
                <a:cs typeface="Assistant" pitchFamily="2" charset="-79"/>
              </a:rPr>
              <a:t>לשירותים והתערבות</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800" b="0" i="0" u="none" strike="noStrike" kern="1200" cap="none" spc="0" normalizeH="0" baseline="0" noProof="0" dirty="0">
                <a:ln>
                  <a:noFill/>
                </a:ln>
                <a:solidFill>
                  <a:prstClr val="black">
                    <a:lumMod val="85000"/>
                    <a:lumOff val="15000"/>
                  </a:prstClr>
                </a:solidFill>
                <a:effectLst/>
                <a:uLnTx/>
                <a:uFillTx/>
                <a:latin typeface="Assistant" pitchFamily="2" charset="-79"/>
                <a:ea typeface="+mn-ea"/>
                <a:cs typeface="Assistant" pitchFamily="2" charset="-79"/>
              </a:rPr>
              <a:t>ישנו </a:t>
            </a:r>
            <a:r>
              <a:rPr kumimoji="0" lang="he-IL" sz="2800" b="1" i="0" u="none" strike="noStrike" kern="1200" cap="none" spc="0" normalizeH="0" baseline="0" noProof="0" dirty="0">
                <a:ln>
                  <a:noFill/>
                </a:ln>
                <a:solidFill>
                  <a:prstClr val="black">
                    <a:lumMod val="85000"/>
                    <a:lumOff val="15000"/>
                  </a:prstClr>
                </a:solidFill>
                <a:effectLst/>
                <a:uLnTx/>
                <a:uFillTx/>
                <a:latin typeface="Assistant" pitchFamily="2" charset="-79"/>
                <a:ea typeface="+mn-ea"/>
                <a:cs typeface="Assistant" pitchFamily="2" charset="-79"/>
              </a:rPr>
              <a:t>מיקוד בטיפול ובריאות</a:t>
            </a:r>
            <a:r>
              <a:rPr kumimoji="0" lang="he-IL" sz="2800" b="0" i="0" u="none" strike="noStrike" kern="1200" cap="none" spc="0" normalizeH="0" baseline="0" noProof="0" dirty="0">
                <a:ln>
                  <a:noFill/>
                </a:ln>
                <a:solidFill>
                  <a:prstClr val="black">
                    <a:lumMod val="85000"/>
                    <a:lumOff val="15000"/>
                  </a:prstClr>
                </a:solidFill>
                <a:effectLst/>
                <a:uLnTx/>
                <a:uFillTx/>
                <a:latin typeface="Assistant" pitchFamily="2" charset="-79"/>
                <a:ea typeface="+mn-ea"/>
                <a:cs typeface="Assistant" pitchFamily="2" charset="-79"/>
              </a:rPr>
              <a:t>, ו</a:t>
            </a:r>
            <a:r>
              <a:rPr kumimoji="0" lang="he-IL" sz="2800" b="1" i="0" u="none" strike="noStrike" kern="1200" cap="none" spc="0" normalizeH="0" baseline="0" noProof="0" dirty="0">
                <a:ln>
                  <a:noFill/>
                </a:ln>
                <a:solidFill>
                  <a:prstClr val="black">
                    <a:lumMod val="85000"/>
                    <a:lumOff val="15000"/>
                  </a:prstClr>
                </a:solidFill>
                <a:effectLst/>
                <a:uLnTx/>
                <a:uFillTx/>
                <a:latin typeface="Assistant" pitchFamily="2" charset="-79"/>
                <a:ea typeface="+mn-ea"/>
                <a:cs typeface="Assistant" pitchFamily="2" charset="-79"/>
              </a:rPr>
              <a:t>פחות</a:t>
            </a:r>
            <a:r>
              <a:rPr kumimoji="0" lang="he-IL" sz="2800" b="0" i="0" u="none" strike="noStrike" kern="1200" cap="none" spc="0" normalizeH="0" baseline="0" noProof="0" dirty="0">
                <a:ln>
                  <a:noFill/>
                </a:ln>
                <a:solidFill>
                  <a:prstClr val="black">
                    <a:lumMod val="85000"/>
                    <a:lumOff val="15000"/>
                  </a:prstClr>
                </a:solidFill>
                <a:effectLst/>
                <a:uLnTx/>
                <a:uFillTx/>
                <a:latin typeface="Assistant" pitchFamily="2" charset="-79"/>
                <a:ea typeface="+mn-ea"/>
                <a:cs typeface="Assistant" pitchFamily="2" charset="-79"/>
              </a:rPr>
              <a:t> מידי </a:t>
            </a:r>
            <a:r>
              <a:rPr kumimoji="0" lang="he-IL" sz="2800" b="1" i="0" u="none" strike="noStrike" kern="1200" cap="none" spc="0" normalizeH="0" baseline="0" noProof="0" dirty="0">
                <a:ln>
                  <a:noFill/>
                </a:ln>
                <a:solidFill>
                  <a:prstClr val="black">
                    <a:lumMod val="85000"/>
                    <a:lumOff val="15000"/>
                  </a:prstClr>
                </a:solidFill>
                <a:effectLst/>
                <a:uLnTx/>
                <a:uFillTx/>
                <a:latin typeface="Assistant" pitchFamily="2" charset="-79"/>
                <a:ea typeface="+mn-ea"/>
                <a:cs typeface="Assistant" pitchFamily="2" charset="-79"/>
              </a:rPr>
              <a:t>במניעה ותפקוד</a:t>
            </a:r>
            <a:br>
              <a:rPr kumimoji="0" lang="en-US" sz="2800" b="0" i="0" u="none" strike="noStrike" kern="1200" cap="none" spc="0" normalizeH="0" baseline="0" noProof="0" dirty="0">
                <a:ln>
                  <a:noFill/>
                </a:ln>
                <a:solidFill>
                  <a:prstClr val="black">
                    <a:lumMod val="85000"/>
                    <a:lumOff val="15000"/>
                  </a:prstClr>
                </a:solidFill>
                <a:effectLst/>
                <a:uLnTx/>
                <a:uFillTx/>
                <a:latin typeface="Assistant" pitchFamily="2" charset="-79"/>
                <a:ea typeface="+mn-ea"/>
                <a:cs typeface="Assistant" pitchFamily="2" charset="-79"/>
              </a:rPr>
            </a:br>
            <a:endParaRPr kumimoji="0" lang="en-IL" sz="2800" b="0" i="0" u="none" strike="noStrike" kern="1200" cap="none" spc="0" normalizeH="0" baseline="0" noProof="0" dirty="0">
              <a:ln>
                <a:noFill/>
              </a:ln>
              <a:solidFill>
                <a:prstClr val="black">
                  <a:lumMod val="85000"/>
                  <a:lumOff val="15000"/>
                </a:prstClr>
              </a:solidFill>
              <a:effectLst/>
              <a:uLnTx/>
              <a:uFillTx/>
              <a:latin typeface="Assistant" pitchFamily="2" charset="-79"/>
              <a:ea typeface="+mn-ea"/>
              <a:cs typeface="Assistant" pitchFamily="2" charset="-79"/>
            </a:endParaRPr>
          </a:p>
        </p:txBody>
      </p:sp>
      <p:sp>
        <p:nvSpPr>
          <p:cNvPr id="2" name="מלבן 1">
            <a:extLst>
              <a:ext uri="{FF2B5EF4-FFF2-40B4-BE49-F238E27FC236}">
                <a16:creationId xmlns:a16="http://schemas.microsoft.com/office/drawing/2014/main" id="{E6863806-BEB9-A270-BCC5-79F7F53C29C4}"/>
              </a:ext>
            </a:extLst>
          </p:cNvPr>
          <p:cNvSpPr/>
          <p:nvPr/>
        </p:nvSpPr>
        <p:spPr>
          <a:xfrm>
            <a:off x="3093" y="0"/>
            <a:ext cx="244547" cy="6857999"/>
          </a:xfrm>
          <a:prstGeom prst="rect">
            <a:avLst/>
          </a:prstGeom>
          <a:solidFill>
            <a:srgbClr val="2980B9"/>
          </a:solidFill>
          <a:ln w="12700" cap="flat" cmpd="sng" algn="ctr">
            <a:solidFill>
              <a:srgbClr val="2CC2E0"/>
            </a:solidFill>
            <a:prstDash val="solid"/>
            <a:miter lim="800000"/>
          </a:ln>
          <a:effectLst/>
        </p:spPr>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0" cap="none" spc="0" normalizeH="0" baseline="0" noProof="0">
              <a:ln>
                <a:noFill/>
              </a:ln>
              <a:solidFill>
                <a:prstClr val="white"/>
              </a:solidFill>
              <a:effectLst/>
              <a:uLnTx/>
              <a:uFillTx/>
              <a:latin typeface="Calibri"/>
              <a:ea typeface="+mn-ea"/>
              <a:cs typeface="Calibri"/>
            </a:endParaRPr>
          </a:p>
        </p:txBody>
      </p:sp>
      <p:sp>
        <p:nvSpPr>
          <p:cNvPr id="4" name="TextBox 14">
            <a:extLst>
              <a:ext uri="{FF2B5EF4-FFF2-40B4-BE49-F238E27FC236}">
                <a16:creationId xmlns:a16="http://schemas.microsoft.com/office/drawing/2014/main" id="{4D5673BF-C328-38C1-C5B4-50538829E5B0}"/>
              </a:ext>
            </a:extLst>
          </p:cNvPr>
          <p:cNvSpPr txBox="1"/>
          <p:nvPr/>
        </p:nvSpPr>
        <p:spPr>
          <a:xfrm rot="16200000">
            <a:off x="-641174" y="724559"/>
            <a:ext cx="1478289" cy="338554"/>
          </a:xfrm>
          <a:prstGeom prst="rect">
            <a:avLst/>
          </a:prstGeom>
          <a:noFill/>
        </p:spPr>
        <p:txBody>
          <a:bodyPr wrap="non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1" i="0" u="none" strike="noStrike" kern="1200" cap="none" spc="0" normalizeH="0" baseline="0" noProof="0" dirty="0">
                <a:ln>
                  <a:noFill/>
                </a:ln>
                <a:solidFill>
                  <a:prstClr val="white"/>
                </a:solidFill>
                <a:effectLst/>
                <a:uLnTx/>
                <a:uFillTx/>
                <a:latin typeface="Calibri"/>
                <a:ea typeface="+mn-ea"/>
                <a:cs typeface="Calibri"/>
              </a:rPr>
              <a:t>רקע </a:t>
            </a:r>
            <a:r>
              <a:rPr kumimoji="0" lang="he-IL" sz="1600" b="1" i="0" u="none" strike="noStrike" kern="1200" cap="none" spc="0" normalizeH="0" baseline="0" noProof="0" dirty="0" err="1">
                <a:ln>
                  <a:noFill/>
                </a:ln>
                <a:solidFill>
                  <a:prstClr val="white"/>
                </a:solidFill>
                <a:effectLst/>
                <a:uLnTx/>
                <a:uFillTx/>
                <a:latin typeface="Calibri"/>
                <a:ea typeface="+mn-ea"/>
                <a:cs typeface="Calibri"/>
              </a:rPr>
              <a:t>ןתמונת</a:t>
            </a:r>
            <a:r>
              <a:rPr kumimoji="0" lang="he-IL" sz="1600" b="1" i="0" u="none" strike="noStrike" kern="1200" cap="none" spc="0" normalizeH="0" baseline="0" noProof="0" dirty="0">
                <a:ln>
                  <a:noFill/>
                </a:ln>
                <a:solidFill>
                  <a:prstClr val="white"/>
                </a:solidFill>
                <a:effectLst/>
                <a:uLnTx/>
                <a:uFillTx/>
                <a:latin typeface="Calibri"/>
                <a:ea typeface="+mn-ea"/>
                <a:cs typeface="Calibri"/>
              </a:rPr>
              <a:t> מצב</a:t>
            </a:r>
          </a:p>
        </p:txBody>
      </p:sp>
    </p:spTree>
    <p:extLst>
      <p:ext uri="{BB962C8B-B14F-4D97-AF65-F5344CB8AC3E}">
        <p14:creationId xmlns:p14="http://schemas.microsoft.com/office/powerpoint/2010/main" val="32418328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אליפסה 34">
            <a:extLst>
              <a:ext uri="{FF2B5EF4-FFF2-40B4-BE49-F238E27FC236}">
                <a16:creationId xmlns:a16="http://schemas.microsoft.com/office/drawing/2014/main" id="{4CFB5F21-4B11-C010-8741-F3C20D2B982C}"/>
              </a:ext>
            </a:extLst>
          </p:cNvPr>
          <p:cNvSpPr/>
          <p:nvPr/>
        </p:nvSpPr>
        <p:spPr>
          <a:xfrm>
            <a:off x="7077075" y="3804325"/>
            <a:ext cx="752475" cy="710525"/>
          </a:xfrm>
          <a:prstGeom prst="ellipse">
            <a:avLst/>
          </a:prstGeom>
          <a:noFill/>
          <a:ln w="38100"/>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prstClr val="white"/>
              </a:solidFill>
              <a:effectLst/>
              <a:uLnTx/>
              <a:uFillTx/>
              <a:latin typeface="Calibri"/>
              <a:ea typeface="+mn-ea"/>
              <a:cs typeface="Calibri"/>
            </a:endParaRPr>
          </a:p>
        </p:txBody>
      </p:sp>
      <p:grpSp>
        <p:nvGrpSpPr>
          <p:cNvPr id="25" name="קבוצה 24">
            <a:extLst>
              <a:ext uri="{FF2B5EF4-FFF2-40B4-BE49-F238E27FC236}">
                <a16:creationId xmlns:a16="http://schemas.microsoft.com/office/drawing/2014/main" id="{5CACDF0B-74B8-9019-7B6A-91F6450BA9A1}"/>
              </a:ext>
            </a:extLst>
          </p:cNvPr>
          <p:cNvGrpSpPr/>
          <p:nvPr/>
        </p:nvGrpSpPr>
        <p:grpSpPr>
          <a:xfrm>
            <a:off x="1412369" y="718820"/>
            <a:ext cx="10163153" cy="5846207"/>
            <a:chOff x="-1645970" y="-44828"/>
            <a:chExt cx="12281546" cy="6577485"/>
          </a:xfrm>
        </p:grpSpPr>
        <p:grpSp>
          <p:nvGrpSpPr>
            <p:cNvPr id="26" name="קבוצה 25">
              <a:extLst>
                <a:ext uri="{FF2B5EF4-FFF2-40B4-BE49-F238E27FC236}">
                  <a16:creationId xmlns:a16="http://schemas.microsoft.com/office/drawing/2014/main" id="{9FEA955E-3734-6059-1EAC-EA51FD1ABFD7}"/>
                </a:ext>
              </a:extLst>
            </p:cNvPr>
            <p:cNvGrpSpPr/>
            <p:nvPr/>
          </p:nvGrpSpPr>
          <p:grpSpPr>
            <a:xfrm>
              <a:off x="-1645970" y="790196"/>
              <a:ext cx="11319761" cy="5742461"/>
              <a:chOff x="-1645970" y="790196"/>
              <a:chExt cx="11319761" cy="5742461"/>
            </a:xfrm>
          </p:grpSpPr>
          <p:pic>
            <p:nvPicPr>
              <p:cNvPr id="28" name="תמונה 27">
                <a:extLst>
                  <a:ext uri="{FF2B5EF4-FFF2-40B4-BE49-F238E27FC236}">
                    <a16:creationId xmlns:a16="http://schemas.microsoft.com/office/drawing/2014/main" id="{6C4715B3-43C6-4F9C-8943-DB58E36BBF03}"/>
                  </a:ext>
                </a:extLst>
              </p:cNvPr>
              <p:cNvPicPr>
                <a:picLocks noChangeAspect="1"/>
              </p:cNvPicPr>
              <p:nvPr/>
            </p:nvPicPr>
            <p:blipFill rotWithShape="1">
              <a:blip r:embed="rId2"/>
              <a:srcRect l="16304" t="34812" r="18044" b="13430"/>
              <a:stretch/>
            </p:blipFill>
            <p:spPr>
              <a:xfrm>
                <a:off x="-1645970" y="790196"/>
                <a:ext cx="11319761" cy="5019864"/>
              </a:xfrm>
              <a:prstGeom prst="rect">
                <a:avLst/>
              </a:prstGeom>
            </p:spPr>
          </p:pic>
          <p:sp>
            <p:nvSpPr>
              <p:cNvPr id="30" name="TextBox 6">
                <a:extLst>
                  <a:ext uri="{FF2B5EF4-FFF2-40B4-BE49-F238E27FC236}">
                    <a16:creationId xmlns:a16="http://schemas.microsoft.com/office/drawing/2014/main" id="{1C9E4218-7665-DE7C-52CC-A1970C07F053}"/>
                  </a:ext>
                </a:extLst>
              </p:cNvPr>
              <p:cNvSpPr txBox="1"/>
              <p:nvPr/>
            </p:nvSpPr>
            <p:spPr>
              <a:xfrm>
                <a:off x="1276116" y="6186381"/>
                <a:ext cx="1763487" cy="346276"/>
              </a:xfrm>
              <a:prstGeom prst="rect">
                <a:avLst/>
              </a:prstGeom>
              <a:noFill/>
            </p:spPr>
            <p:txBody>
              <a:bodyPr wrap="square" rtlCol="1">
                <a:spAutoFit/>
              </a:bodyPr>
              <a:lst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he-IL" sz="1400" b="1" i="0" u="none" strike="noStrike" kern="1200" cap="none" spc="0" normalizeH="0" baseline="0" noProof="0" dirty="0">
                  <a:ln>
                    <a:noFill/>
                  </a:ln>
                  <a:solidFill>
                    <a:srgbClr val="2980B9"/>
                  </a:solidFill>
                  <a:effectLst/>
                  <a:uLnTx/>
                  <a:uFillTx/>
                  <a:latin typeface="Calibri"/>
                  <a:ea typeface="+mn-ea"/>
                  <a:cs typeface="Arial" panose="020B0604020202020204" pitchFamily="34" charset="0"/>
                </a:endParaRPr>
              </a:p>
            </p:txBody>
          </p:sp>
          <p:sp>
            <p:nvSpPr>
              <p:cNvPr id="32" name="אליפסה 31">
                <a:extLst>
                  <a:ext uri="{FF2B5EF4-FFF2-40B4-BE49-F238E27FC236}">
                    <a16:creationId xmlns:a16="http://schemas.microsoft.com/office/drawing/2014/main" id="{7937E03E-0D2E-947A-7B15-0230A411A23A}"/>
                  </a:ext>
                </a:extLst>
              </p:cNvPr>
              <p:cNvSpPr/>
              <p:nvPr/>
            </p:nvSpPr>
            <p:spPr>
              <a:xfrm>
                <a:off x="4628080" y="2641603"/>
                <a:ext cx="1763487" cy="1630837"/>
              </a:xfrm>
              <a:prstGeom prst="ellipse">
                <a:avLst/>
              </a:prstGeom>
              <a:solidFill>
                <a:schemeClr val="bg1"/>
              </a:solidFill>
              <a:ln>
                <a:solidFill>
                  <a:schemeClr val="bg1"/>
                </a:solidFill>
              </a:ln>
            </p:spPr>
            <p:style>
              <a:lnRef idx="2">
                <a:schemeClr val="accent1"/>
              </a:lnRef>
              <a:fillRef idx="1">
                <a:schemeClr val="lt1"/>
              </a:fillRef>
              <a:effectRef idx="0">
                <a:schemeClr val="accent1"/>
              </a:effectRef>
              <a:fontRef idx="minor">
                <a:schemeClr val="dk1"/>
              </a:fontRef>
            </p:style>
            <p:txBody>
              <a:bodyPr rtlCol="1" anchor="ctr"/>
              <a:lstStyle>
                <a:defPPr>
                  <a:defRPr lang="he-IL"/>
                </a:defPPr>
                <a:lvl1pPr marL="0" algn="r" defTabSz="914400" rtl="1" eaLnBrk="1" latinLnBrk="0" hangingPunct="1">
                  <a:defRPr sz="1800" kern="1200">
                    <a:solidFill>
                      <a:schemeClr val="dk1"/>
                    </a:solidFill>
                    <a:latin typeface="+mn-lt"/>
                    <a:ea typeface="+mn-ea"/>
                    <a:cs typeface="+mn-cs"/>
                  </a:defRPr>
                </a:lvl1pPr>
                <a:lvl2pPr marL="457200" algn="r" defTabSz="914400" rtl="1" eaLnBrk="1" latinLnBrk="0" hangingPunct="1">
                  <a:defRPr sz="1800" kern="1200">
                    <a:solidFill>
                      <a:schemeClr val="dk1"/>
                    </a:solidFill>
                    <a:latin typeface="+mn-lt"/>
                    <a:ea typeface="+mn-ea"/>
                    <a:cs typeface="+mn-cs"/>
                  </a:defRPr>
                </a:lvl2pPr>
                <a:lvl3pPr marL="914400" algn="r" defTabSz="914400" rtl="1" eaLnBrk="1" latinLnBrk="0" hangingPunct="1">
                  <a:defRPr sz="1800" kern="1200">
                    <a:solidFill>
                      <a:schemeClr val="dk1"/>
                    </a:solidFill>
                    <a:latin typeface="+mn-lt"/>
                    <a:ea typeface="+mn-ea"/>
                    <a:cs typeface="+mn-cs"/>
                  </a:defRPr>
                </a:lvl3pPr>
                <a:lvl4pPr marL="1371600" algn="r" defTabSz="914400" rtl="1" eaLnBrk="1" latinLnBrk="0" hangingPunct="1">
                  <a:defRPr sz="1800" kern="1200">
                    <a:solidFill>
                      <a:schemeClr val="dk1"/>
                    </a:solidFill>
                    <a:latin typeface="+mn-lt"/>
                    <a:ea typeface="+mn-ea"/>
                    <a:cs typeface="+mn-cs"/>
                  </a:defRPr>
                </a:lvl4pPr>
                <a:lvl5pPr marL="1828800" algn="r" defTabSz="914400" rtl="1" eaLnBrk="1" latinLnBrk="0" hangingPunct="1">
                  <a:defRPr sz="1800" kern="1200">
                    <a:solidFill>
                      <a:schemeClr val="dk1"/>
                    </a:solidFill>
                    <a:latin typeface="+mn-lt"/>
                    <a:ea typeface="+mn-ea"/>
                    <a:cs typeface="+mn-cs"/>
                  </a:defRPr>
                </a:lvl5pPr>
                <a:lvl6pPr marL="2286000" algn="r" defTabSz="914400" rtl="1" eaLnBrk="1" latinLnBrk="0" hangingPunct="1">
                  <a:defRPr sz="1800" kern="1200">
                    <a:solidFill>
                      <a:schemeClr val="dk1"/>
                    </a:solidFill>
                    <a:latin typeface="+mn-lt"/>
                    <a:ea typeface="+mn-ea"/>
                    <a:cs typeface="+mn-cs"/>
                  </a:defRPr>
                </a:lvl6pPr>
                <a:lvl7pPr marL="2743200" algn="r" defTabSz="914400" rtl="1" eaLnBrk="1" latinLnBrk="0" hangingPunct="1">
                  <a:defRPr sz="1800" kern="1200">
                    <a:solidFill>
                      <a:schemeClr val="dk1"/>
                    </a:solidFill>
                    <a:latin typeface="+mn-lt"/>
                    <a:ea typeface="+mn-ea"/>
                    <a:cs typeface="+mn-cs"/>
                  </a:defRPr>
                </a:lvl7pPr>
                <a:lvl8pPr marL="3200400" algn="r" defTabSz="914400" rtl="1" eaLnBrk="1" latinLnBrk="0" hangingPunct="1">
                  <a:defRPr sz="1800" kern="1200">
                    <a:solidFill>
                      <a:schemeClr val="dk1"/>
                    </a:solidFill>
                    <a:latin typeface="+mn-lt"/>
                    <a:ea typeface="+mn-ea"/>
                    <a:cs typeface="+mn-cs"/>
                  </a:defRPr>
                </a:lvl8pPr>
                <a:lvl9pPr marL="3657600" algn="r" defTabSz="914400" rtl="1" eaLnBrk="1" latinLnBrk="0" hangingPunct="1">
                  <a:defRPr sz="1800" kern="1200">
                    <a:solidFill>
                      <a:schemeClr val="dk1"/>
                    </a:solidFill>
                    <a:latin typeface="+mn-lt"/>
                    <a:ea typeface="+mn-ea"/>
                    <a:cs typeface="+mn-cs"/>
                  </a:defRPr>
                </a:lvl9p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srgbClr val="95A5A6"/>
                  </a:solidFill>
                  <a:effectLst/>
                  <a:uLnTx/>
                  <a:uFillTx/>
                  <a:latin typeface="Calibri"/>
                  <a:ea typeface="+mn-ea"/>
                  <a:cs typeface="Arial" panose="020B0604020202020204" pitchFamily="34" charset="0"/>
                </a:endParaRPr>
              </a:p>
            </p:txBody>
          </p:sp>
          <p:sp>
            <p:nvSpPr>
              <p:cNvPr id="33" name="מלבן 32">
                <a:extLst>
                  <a:ext uri="{FF2B5EF4-FFF2-40B4-BE49-F238E27FC236}">
                    <a16:creationId xmlns:a16="http://schemas.microsoft.com/office/drawing/2014/main" id="{457FCF3B-D3CB-923F-8A51-F270291195FA}"/>
                  </a:ext>
                </a:extLst>
              </p:cNvPr>
              <p:cNvSpPr/>
              <p:nvPr/>
            </p:nvSpPr>
            <p:spPr>
              <a:xfrm>
                <a:off x="4720245" y="3879756"/>
                <a:ext cx="1579150" cy="346276"/>
              </a:xfrm>
              <a:prstGeom prst="rect">
                <a:avLst/>
              </a:prstGeom>
            </p:spPr>
            <p:txBody>
              <a:bodyPr wrap="none">
                <a:spAutoFit/>
              </a:bodyPr>
              <a:lst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400" b="1" i="0" u="none" strike="noStrike" kern="1200" cap="none" spc="0" normalizeH="0" baseline="0" noProof="0" dirty="0">
                    <a:ln>
                      <a:noFill/>
                    </a:ln>
                    <a:solidFill>
                      <a:srgbClr val="2980B9"/>
                    </a:solidFill>
                    <a:effectLst/>
                    <a:uLnTx/>
                    <a:uFillTx/>
                    <a:latin typeface="Calibri"/>
                    <a:ea typeface="+mn-ea"/>
                    <a:cs typeface="Arial" panose="020B0604020202020204" pitchFamily="34" charset="0"/>
                  </a:rPr>
                  <a:t>האזרח במרכז?</a:t>
                </a:r>
              </a:p>
            </p:txBody>
          </p:sp>
          <p:pic>
            <p:nvPicPr>
              <p:cNvPr id="34" name="Graphic 4" descr="Man with cane outline">
                <a:extLst>
                  <a:ext uri="{FF2B5EF4-FFF2-40B4-BE49-F238E27FC236}">
                    <a16:creationId xmlns:a16="http://schemas.microsoft.com/office/drawing/2014/main" id="{2C0E0B5D-6388-8B6D-E615-F403EEF752C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flipH="1">
                <a:off x="5279100" y="3047249"/>
                <a:ext cx="731042" cy="819545"/>
              </a:xfrm>
              <a:prstGeom prst="rect">
                <a:avLst/>
              </a:prstGeom>
            </p:spPr>
          </p:pic>
        </p:grpSp>
        <p:sp>
          <p:nvSpPr>
            <p:cNvPr id="27" name="Text 3">
              <a:extLst>
                <a:ext uri="{FF2B5EF4-FFF2-40B4-BE49-F238E27FC236}">
                  <a16:creationId xmlns:a16="http://schemas.microsoft.com/office/drawing/2014/main" id="{0C720048-32DA-BFB7-8291-616DED21B6AC}"/>
                </a:ext>
              </a:extLst>
            </p:cNvPr>
            <p:cNvSpPr/>
            <p:nvPr/>
          </p:nvSpPr>
          <p:spPr>
            <a:xfrm>
              <a:off x="134146" y="-44828"/>
              <a:ext cx="10501430" cy="1670050"/>
            </a:xfrm>
            <a:prstGeom prst="rect">
              <a:avLst/>
            </a:prstGeom>
            <a:noFill/>
            <a:ln/>
          </p:spPr>
          <p:txBody>
            <a:bodyPr wrap="square" rtlCol="0" anchor="t"/>
            <a:lst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en-US" sz="4000" b="1" i="0" u="none" strike="noStrike" kern="1200" cap="none" spc="0" normalizeH="0" baseline="0" noProof="0" dirty="0">
                <a:ln>
                  <a:noFill/>
                </a:ln>
                <a:solidFill>
                  <a:srgbClr val="002060"/>
                </a:solidFill>
                <a:effectLst/>
                <a:uLnTx/>
                <a:uFillTx/>
                <a:latin typeface="Calibri"/>
                <a:ea typeface="+mn-ea"/>
                <a:cs typeface="Calibri"/>
              </a:endParaRPr>
            </a:p>
          </p:txBody>
        </p:sp>
      </p:grpSp>
      <p:pic>
        <p:nvPicPr>
          <p:cNvPr id="36" name="Picture 10">
            <a:extLst>
              <a:ext uri="{FF2B5EF4-FFF2-40B4-BE49-F238E27FC236}">
                <a16:creationId xmlns:a16="http://schemas.microsoft.com/office/drawing/2014/main" id="{2EBB5F99-3B68-779D-0EF8-D3D6B7558977}"/>
              </a:ext>
            </a:extLst>
          </p:cNvPr>
          <p:cNvPicPr>
            <a:picLocks noChangeAspect="1"/>
          </p:cNvPicPr>
          <p:nvPr/>
        </p:nvPicPr>
        <p:blipFill rotWithShape="1">
          <a:blip r:embed="rId5" cstate="screen">
            <a:extLst>
              <a:ext uri="{28A0092B-C50C-407E-A947-70E740481C1C}">
                <a14:useLocalDpi xmlns:a14="http://schemas.microsoft.com/office/drawing/2010/main"/>
              </a:ext>
            </a:extLst>
          </a:blip>
          <a:srcRect l="58804" t="42795" r="32292" b="38973"/>
          <a:stretch/>
        </p:blipFill>
        <p:spPr>
          <a:xfrm>
            <a:off x="6885967" y="3359727"/>
            <a:ext cx="943583" cy="889195"/>
          </a:xfrm>
          <a:prstGeom prst="flowChartConnector">
            <a:avLst/>
          </a:prstGeom>
        </p:spPr>
      </p:pic>
      <p:sp>
        <p:nvSpPr>
          <p:cNvPr id="37" name="Text 2">
            <a:extLst>
              <a:ext uri="{FF2B5EF4-FFF2-40B4-BE49-F238E27FC236}">
                <a16:creationId xmlns:a16="http://schemas.microsoft.com/office/drawing/2014/main" id="{8E7E166E-9895-C782-CF53-A99BB7621EF4}"/>
              </a:ext>
            </a:extLst>
          </p:cNvPr>
          <p:cNvSpPr/>
          <p:nvPr/>
        </p:nvSpPr>
        <p:spPr>
          <a:xfrm>
            <a:off x="6199973" y="521489"/>
            <a:ext cx="3722063" cy="605036"/>
          </a:xfrm>
          <a:prstGeom prst="rect">
            <a:avLst/>
          </a:prstGeom>
          <a:noFill/>
          <a:ln/>
        </p:spPr>
        <p:txBody>
          <a:bodyPr wrap="none" rtlCol="0" anchor="t"/>
          <a:lstStyle/>
          <a:p>
            <a:pPr marL="0" marR="0" lvl="0" indent="0" algn="ctr" defTabSz="914400" rtl="1" eaLnBrk="1" fontAlgn="auto" latinLnBrk="0" hangingPunct="1">
              <a:lnSpc>
                <a:spcPts val="4765"/>
              </a:lnSpc>
              <a:spcBef>
                <a:spcPts val="0"/>
              </a:spcBef>
              <a:spcAft>
                <a:spcPts val="0"/>
              </a:spcAft>
              <a:buClrTx/>
              <a:buSzTx/>
              <a:buFontTx/>
              <a:buNone/>
              <a:tabLst/>
              <a:defRPr/>
            </a:pPr>
            <a:r>
              <a:rPr kumimoji="0" lang="he-IL" sz="2800" b="1" i="0" u="none" strike="noStrike" kern="1200" cap="none" spc="0" normalizeH="0" baseline="0" noProof="0" dirty="0">
                <a:ln>
                  <a:noFill/>
                </a:ln>
                <a:solidFill>
                  <a:srgbClr val="0F6FC6"/>
                </a:solidFill>
                <a:effectLst/>
                <a:uLnTx/>
                <a:uFillTx/>
                <a:latin typeface="Assistant" pitchFamily="2" charset="-79"/>
                <a:ea typeface="Quattrocento" pitchFamily="34" charset="-122"/>
                <a:cs typeface="Assistant" pitchFamily="2" charset="-79"/>
              </a:rPr>
              <a:t>פרגמנטציה בין גופים שונים</a:t>
            </a:r>
            <a:endParaRPr kumimoji="0" lang="en-US" sz="2800" b="1" i="0" u="none" strike="noStrike" kern="1200" cap="none" spc="0" normalizeH="0" baseline="0" noProof="0" dirty="0">
              <a:ln>
                <a:noFill/>
              </a:ln>
              <a:solidFill>
                <a:srgbClr val="0F6FC6"/>
              </a:solidFill>
              <a:effectLst/>
              <a:uLnTx/>
              <a:uFillTx/>
              <a:latin typeface="Assistant" pitchFamily="2" charset="-79"/>
              <a:ea typeface="+mn-ea"/>
              <a:cs typeface="Assistant" pitchFamily="2" charset="-79"/>
            </a:endParaRPr>
          </a:p>
        </p:txBody>
      </p:sp>
      <p:pic>
        <p:nvPicPr>
          <p:cNvPr id="38" name="Picture 10">
            <a:extLst>
              <a:ext uri="{FF2B5EF4-FFF2-40B4-BE49-F238E27FC236}">
                <a16:creationId xmlns:a16="http://schemas.microsoft.com/office/drawing/2014/main" id="{6343AA4B-068B-996B-90FE-062D7E365B6A}"/>
              </a:ext>
            </a:extLst>
          </p:cNvPr>
          <p:cNvPicPr>
            <a:picLocks noChangeAspect="1"/>
          </p:cNvPicPr>
          <p:nvPr/>
        </p:nvPicPr>
        <p:blipFill rotWithShape="1">
          <a:blip r:embed="rId5" cstate="screen">
            <a:clrChange>
              <a:clrFrom>
                <a:srgbClr val="EBF6F5"/>
              </a:clrFrom>
              <a:clrTo>
                <a:srgbClr val="EBF6F5">
                  <a:alpha val="0"/>
                </a:srgbClr>
              </a:clrTo>
            </a:clrChange>
            <a:extLst>
              <a:ext uri="{28A0092B-C50C-407E-A947-70E740481C1C}">
                <a14:useLocalDpi xmlns:a14="http://schemas.microsoft.com/office/drawing/2010/main"/>
              </a:ext>
            </a:extLst>
          </a:blip>
          <a:srcRect t="81298" r="76680"/>
          <a:stretch/>
        </p:blipFill>
        <p:spPr>
          <a:xfrm>
            <a:off x="1412369" y="5129524"/>
            <a:ext cx="2231823" cy="793243"/>
          </a:xfrm>
          <a:prstGeom prst="rect">
            <a:avLst/>
          </a:prstGeom>
        </p:spPr>
      </p:pic>
      <p:sp>
        <p:nvSpPr>
          <p:cNvPr id="2" name="מלבן 1">
            <a:extLst>
              <a:ext uri="{FF2B5EF4-FFF2-40B4-BE49-F238E27FC236}">
                <a16:creationId xmlns:a16="http://schemas.microsoft.com/office/drawing/2014/main" id="{052C874B-44B7-4139-6E34-8724DF3A986C}"/>
              </a:ext>
            </a:extLst>
          </p:cNvPr>
          <p:cNvSpPr/>
          <p:nvPr/>
        </p:nvSpPr>
        <p:spPr>
          <a:xfrm>
            <a:off x="3093" y="0"/>
            <a:ext cx="244547" cy="6857999"/>
          </a:xfrm>
          <a:prstGeom prst="rect">
            <a:avLst/>
          </a:prstGeom>
          <a:solidFill>
            <a:srgbClr val="2980B9"/>
          </a:solidFill>
          <a:ln w="12700" cap="flat" cmpd="sng" algn="ctr">
            <a:solidFill>
              <a:srgbClr val="2CC2E0"/>
            </a:solidFill>
            <a:prstDash val="solid"/>
            <a:miter lim="800000"/>
          </a:ln>
          <a:effectLst/>
        </p:spPr>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0" cap="none" spc="0" normalizeH="0" baseline="0" noProof="0">
              <a:ln>
                <a:noFill/>
              </a:ln>
              <a:solidFill>
                <a:prstClr val="white"/>
              </a:solidFill>
              <a:effectLst/>
              <a:uLnTx/>
              <a:uFillTx/>
              <a:latin typeface="Calibri"/>
              <a:ea typeface="+mn-ea"/>
              <a:cs typeface="Calibri"/>
            </a:endParaRPr>
          </a:p>
        </p:txBody>
      </p:sp>
      <p:sp>
        <p:nvSpPr>
          <p:cNvPr id="3" name="TextBox 12">
            <a:extLst>
              <a:ext uri="{FF2B5EF4-FFF2-40B4-BE49-F238E27FC236}">
                <a16:creationId xmlns:a16="http://schemas.microsoft.com/office/drawing/2014/main" id="{F1A92662-1C39-0AD9-EB74-CE14D70069F9}"/>
              </a:ext>
            </a:extLst>
          </p:cNvPr>
          <p:cNvSpPr txBox="1"/>
          <p:nvPr/>
        </p:nvSpPr>
        <p:spPr>
          <a:xfrm rot="16200000">
            <a:off x="-641174" y="647403"/>
            <a:ext cx="1478289" cy="338554"/>
          </a:xfrm>
          <a:prstGeom prst="rect">
            <a:avLst/>
          </a:prstGeom>
          <a:noFill/>
        </p:spPr>
        <p:txBody>
          <a:bodyPr wrap="non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1" i="0" u="none" strike="noStrike" kern="1200" cap="none" spc="0" normalizeH="0" baseline="0" noProof="0" dirty="0">
                <a:ln>
                  <a:noFill/>
                </a:ln>
                <a:solidFill>
                  <a:prstClr val="white"/>
                </a:solidFill>
                <a:effectLst/>
                <a:uLnTx/>
                <a:uFillTx/>
                <a:latin typeface="Calibri" panose="020F0502020204030204"/>
                <a:ea typeface="+mn-ea"/>
                <a:cs typeface="Calibri"/>
              </a:rPr>
              <a:t>רקע </a:t>
            </a:r>
            <a:r>
              <a:rPr kumimoji="0" lang="he-IL" sz="1600" b="1" i="0" u="none" strike="noStrike" kern="1200" cap="none" spc="0" normalizeH="0" baseline="0" noProof="0" dirty="0" err="1">
                <a:ln>
                  <a:noFill/>
                </a:ln>
                <a:solidFill>
                  <a:prstClr val="white"/>
                </a:solidFill>
                <a:effectLst/>
                <a:uLnTx/>
                <a:uFillTx/>
                <a:latin typeface="Calibri" panose="020F0502020204030204"/>
                <a:ea typeface="+mn-ea"/>
                <a:cs typeface="Calibri"/>
              </a:rPr>
              <a:t>ןתמונת</a:t>
            </a:r>
            <a:r>
              <a:rPr kumimoji="0" lang="he-IL" sz="1600" b="1" i="0" u="none" strike="noStrike" kern="1200" cap="none" spc="0" normalizeH="0" baseline="0" noProof="0" dirty="0">
                <a:ln>
                  <a:noFill/>
                </a:ln>
                <a:solidFill>
                  <a:prstClr val="white"/>
                </a:solidFill>
                <a:effectLst/>
                <a:uLnTx/>
                <a:uFillTx/>
                <a:latin typeface="Calibri" panose="020F0502020204030204"/>
                <a:ea typeface="+mn-ea"/>
                <a:cs typeface="Calibri"/>
              </a:rPr>
              <a:t> מצב</a:t>
            </a:r>
          </a:p>
        </p:txBody>
      </p:sp>
    </p:spTree>
    <p:extLst>
      <p:ext uri="{BB962C8B-B14F-4D97-AF65-F5344CB8AC3E}">
        <p14:creationId xmlns:p14="http://schemas.microsoft.com/office/powerpoint/2010/main" val="5149663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כותרת 1"/>
          <p:cNvSpPr>
            <a:spLocks noGrp="1"/>
          </p:cNvSpPr>
          <p:nvPr>
            <p:ph type="title"/>
          </p:nvPr>
        </p:nvSpPr>
        <p:spPr>
          <a:xfrm>
            <a:off x="1094014" y="77535"/>
            <a:ext cx="10515600" cy="1325563"/>
          </a:xfrm>
        </p:spPr>
        <p:txBody>
          <a:bodyPr>
            <a:normAutofit/>
          </a:bodyPr>
          <a:lstStyle/>
          <a:p>
            <a:pPr algn="ctr"/>
            <a:r>
              <a:rPr lang="he-IL" sz="4800" b="1" dirty="0">
                <a:solidFill>
                  <a:srgbClr val="002060"/>
                </a:solidFill>
                <a:latin typeface="Calibri" panose="020F0502020204030204" pitchFamily="34" charset="0"/>
                <a:ea typeface="+mn-ea"/>
                <a:cs typeface="Calibri" panose="020F0502020204030204" pitchFamily="34" charset="0"/>
              </a:rPr>
              <a:t>הפיצול בסיעוד</a:t>
            </a:r>
          </a:p>
        </p:txBody>
      </p:sp>
      <p:graphicFrame>
        <p:nvGraphicFramePr>
          <p:cNvPr id="4" name="תרשים 3"/>
          <p:cNvGraphicFramePr>
            <a:graphicFrameLocks/>
          </p:cNvGraphicFramePr>
          <p:nvPr/>
        </p:nvGraphicFramePr>
        <p:xfrm>
          <a:off x="5801166" y="1179576"/>
          <a:ext cx="6292863" cy="5469985"/>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5" name="תרשים 4"/>
          <p:cNvGraphicFramePr>
            <a:graphicFrameLocks/>
          </p:cNvGraphicFramePr>
          <p:nvPr/>
        </p:nvGraphicFramePr>
        <p:xfrm>
          <a:off x="0" y="1943101"/>
          <a:ext cx="6351814" cy="4002414"/>
        </p:xfrm>
        <a:graphic>
          <a:graphicData uri="http://schemas.openxmlformats.org/drawingml/2006/chart">
            <c:chart xmlns:c="http://schemas.openxmlformats.org/drawingml/2006/chart" xmlns:r="http://schemas.openxmlformats.org/officeDocument/2006/relationships" r:id="rId4"/>
          </a:graphicData>
        </a:graphic>
      </p:graphicFrame>
      <p:sp>
        <p:nvSpPr>
          <p:cNvPr id="6" name="מלבן 5"/>
          <p:cNvSpPr/>
          <p:nvPr/>
        </p:nvSpPr>
        <p:spPr>
          <a:xfrm>
            <a:off x="3093" y="0"/>
            <a:ext cx="244547" cy="6857999"/>
          </a:xfrm>
          <a:prstGeom prst="rect">
            <a:avLst/>
          </a:prstGeom>
          <a:solidFill>
            <a:srgbClr val="8C8DC5"/>
          </a:solidFill>
          <a:ln>
            <a:solidFill>
              <a:srgbClr val="8C8DC5"/>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Calibri" panose="020F0502020204030204"/>
              <a:ea typeface="+mn-ea"/>
              <a:cs typeface="Arial" panose="020B0604020202020204" pitchFamily="34" charset="0"/>
            </a:endParaRPr>
          </a:p>
        </p:txBody>
      </p:sp>
      <p:pic>
        <p:nvPicPr>
          <p:cNvPr id="7" name="תמונה 6"/>
          <p:cNvPicPr>
            <a:picLocks noChangeAspect="1"/>
          </p:cNvPicPr>
          <p:nvPr/>
        </p:nvPicPr>
        <p:blipFill rotWithShape="1">
          <a:blip r:embed="rId5" cstate="print">
            <a:extLst>
              <a:ext uri="{28A0092B-C50C-407E-A947-70E740481C1C}">
                <a14:useLocalDpi xmlns:a14="http://schemas.microsoft.com/office/drawing/2010/main"/>
              </a:ext>
            </a:extLst>
          </a:blip>
          <a:srcRect/>
          <a:stretch/>
        </p:blipFill>
        <p:spPr>
          <a:xfrm>
            <a:off x="11440852" y="6131306"/>
            <a:ext cx="701871" cy="705711"/>
          </a:xfrm>
          <a:prstGeom prst="rect">
            <a:avLst/>
          </a:prstGeom>
        </p:spPr>
      </p:pic>
      <p:pic>
        <p:nvPicPr>
          <p:cNvPr id="8" name="תמונה 7" descr="C:\Users\USER\Downloads\עיצוב ללא שם (1).png"/>
          <p:cNvPicPr/>
          <p:nvPr/>
        </p:nvPicPr>
        <p:blipFill rotWithShape="1">
          <a:blip r:embed="rId6" cstate="print">
            <a:extLst>
              <a:ext uri="{28A0092B-C50C-407E-A947-70E740481C1C}">
                <a14:useLocalDpi xmlns:a14="http://schemas.microsoft.com/office/drawing/2010/main"/>
              </a:ext>
            </a:extLst>
          </a:blip>
          <a:srcRect/>
          <a:stretch/>
        </p:blipFill>
        <p:spPr bwMode="auto">
          <a:xfrm>
            <a:off x="10014333" y="6222211"/>
            <a:ext cx="1475212" cy="582136"/>
          </a:xfrm>
          <a:prstGeom prst="rect">
            <a:avLst/>
          </a:prstGeom>
          <a:noFill/>
          <a:ln>
            <a:noFill/>
          </a:ln>
          <a:extLst>
            <a:ext uri="{53640926-AAD7-44D8-BBD7-CCE9431645EC}">
              <a14:shadowObscured xmlns:a14="http://schemas.microsoft.com/office/drawing/2010/main"/>
            </a:ext>
          </a:extLst>
        </p:spPr>
      </p:pic>
      <p:pic>
        <p:nvPicPr>
          <p:cNvPr id="9" name="תמונה 8"/>
          <p:cNvPicPr>
            <a:picLocks noChangeAspect="1"/>
          </p:cNvPicPr>
          <p:nvPr/>
        </p:nvPicPr>
        <p:blipFill>
          <a:blip r:embed="rId7"/>
          <a:stretch>
            <a:fillRect/>
          </a:stretch>
        </p:blipFill>
        <p:spPr>
          <a:xfrm>
            <a:off x="1639502" y="1166898"/>
            <a:ext cx="8374831" cy="5056082"/>
          </a:xfrm>
          <a:prstGeom prst="rect">
            <a:avLst/>
          </a:prstGeom>
        </p:spPr>
      </p:pic>
      <p:sp>
        <p:nvSpPr>
          <p:cNvPr id="12" name="מלבן 11"/>
          <p:cNvSpPr/>
          <p:nvPr/>
        </p:nvSpPr>
        <p:spPr>
          <a:xfrm>
            <a:off x="3093" y="0"/>
            <a:ext cx="244547" cy="6857999"/>
          </a:xfrm>
          <a:prstGeom prst="rect">
            <a:avLst/>
          </a:prstGeom>
          <a:solidFill>
            <a:srgbClr val="2980B9"/>
          </a:solidFill>
          <a:ln w="12700" cap="flat" cmpd="sng" algn="ctr">
            <a:solidFill>
              <a:srgbClr val="2CC2E0"/>
            </a:solidFill>
            <a:prstDash val="solid"/>
            <a:miter lim="800000"/>
          </a:ln>
          <a:effectLst/>
        </p:spPr>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0" cap="none" spc="0" normalizeH="0" baseline="0" noProof="0">
              <a:ln>
                <a:noFill/>
              </a:ln>
              <a:solidFill>
                <a:prstClr val="white"/>
              </a:solidFill>
              <a:effectLst/>
              <a:uLnTx/>
              <a:uFillTx/>
              <a:latin typeface="Calibri"/>
              <a:ea typeface="+mn-ea"/>
              <a:cs typeface="Calibri"/>
            </a:endParaRPr>
          </a:p>
        </p:txBody>
      </p:sp>
      <p:sp>
        <p:nvSpPr>
          <p:cNvPr id="13" name="TextBox 12"/>
          <p:cNvSpPr txBox="1"/>
          <p:nvPr/>
        </p:nvSpPr>
        <p:spPr>
          <a:xfrm rot="16200000">
            <a:off x="-641174" y="647403"/>
            <a:ext cx="1478289" cy="338554"/>
          </a:xfrm>
          <a:prstGeom prst="rect">
            <a:avLst/>
          </a:prstGeom>
          <a:noFill/>
        </p:spPr>
        <p:txBody>
          <a:bodyPr wrap="non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1" i="0" u="none" strike="noStrike" kern="1200" cap="none" spc="0" normalizeH="0" baseline="0" noProof="0" dirty="0">
                <a:ln>
                  <a:noFill/>
                </a:ln>
                <a:solidFill>
                  <a:prstClr val="white"/>
                </a:solidFill>
                <a:effectLst/>
                <a:uLnTx/>
                <a:uFillTx/>
                <a:latin typeface="Calibri" panose="020F0502020204030204"/>
                <a:ea typeface="+mn-ea"/>
                <a:cs typeface="Calibri"/>
              </a:rPr>
              <a:t>רקע </a:t>
            </a:r>
            <a:r>
              <a:rPr kumimoji="0" lang="he-IL" sz="1600" b="1" i="0" u="none" strike="noStrike" kern="1200" cap="none" spc="0" normalizeH="0" baseline="0" noProof="0" dirty="0" err="1">
                <a:ln>
                  <a:noFill/>
                </a:ln>
                <a:solidFill>
                  <a:prstClr val="white"/>
                </a:solidFill>
                <a:effectLst/>
                <a:uLnTx/>
                <a:uFillTx/>
                <a:latin typeface="Calibri" panose="020F0502020204030204"/>
                <a:ea typeface="+mn-ea"/>
                <a:cs typeface="Calibri"/>
              </a:rPr>
              <a:t>ןתמונת</a:t>
            </a:r>
            <a:r>
              <a:rPr kumimoji="0" lang="he-IL" sz="1600" b="1" i="0" u="none" strike="noStrike" kern="1200" cap="none" spc="0" normalizeH="0" baseline="0" noProof="0" dirty="0">
                <a:ln>
                  <a:noFill/>
                </a:ln>
                <a:solidFill>
                  <a:prstClr val="white"/>
                </a:solidFill>
                <a:effectLst/>
                <a:uLnTx/>
                <a:uFillTx/>
                <a:latin typeface="Calibri" panose="020F0502020204030204"/>
                <a:ea typeface="+mn-ea"/>
                <a:cs typeface="Calibri"/>
              </a:rPr>
              <a:t> מצב</a:t>
            </a:r>
          </a:p>
        </p:txBody>
      </p:sp>
    </p:spTree>
    <p:extLst>
      <p:ext uri="{BB962C8B-B14F-4D97-AF65-F5344CB8AC3E}">
        <p14:creationId xmlns:p14="http://schemas.microsoft.com/office/powerpoint/2010/main" val="2091062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7" name="אליפסה 16"/>
          <p:cNvSpPr/>
          <p:nvPr/>
        </p:nvSpPr>
        <p:spPr>
          <a:xfrm>
            <a:off x="4920352" y="3844680"/>
            <a:ext cx="1274325" cy="1263785"/>
          </a:xfrm>
          <a:prstGeom prst="ellipse">
            <a:avLst/>
          </a:prstGeom>
          <a:ln w="19050">
            <a:solidFill>
              <a:srgbClr val="0000FF"/>
            </a:solidFill>
            <a:prstDash val="sysDash"/>
          </a:ln>
        </p:spPr>
        <p:style>
          <a:lnRef idx="2">
            <a:schemeClr val="dk1"/>
          </a:lnRef>
          <a:fillRef idx="1">
            <a:schemeClr val="lt1"/>
          </a:fillRef>
          <a:effectRef idx="0">
            <a:schemeClr val="dk1"/>
          </a:effectRef>
          <a:fontRef idx="minor">
            <a:schemeClr val="dk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endParaRPr>
          </a:p>
        </p:txBody>
      </p:sp>
      <p:sp>
        <p:nvSpPr>
          <p:cNvPr id="3" name="אליפסה 2"/>
          <p:cNvSpPr/>
          <p:nvPr/>
        </p:nvSpPr>
        <p:spPr>
          <a:xfrm>
            <a:off x="10574448" y="1819373"/>
            <a:ext cx="1548422" cy="2254687"/>
          </a:xfrm>
          <a:prstGeom prst="ellipse">
            <a:avLst/>
          </a:prstGeom>
          <a:ln>
            <a:solidFill>
              <a:srgbClr val="0000FF"/>
            </a:solidFill>
            <a:prstDash val="sysDash"/>
          </a:ln>
        </p:spPr>
        <p:style>
          <a:lnRef idx="2">
            <a:schemeClr val="accent1"/>
          </a:lnRef>
          <a:fillRef idx="1">
            <a:schemeClr val="lt1"/>
          </a:fillRef>
          <a:effectRef idx="0">
            <a:schemeClr val="accent1"/>
          </a:effectRef>
          <a:fontRef idx="minor">
            <a:schemeClr val="dk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endParaRPr>
          </a:p>
        </p:txBody>
      </p:sp>
      <p:pic>
        <p:nvPicPr>
          <p:cNvPr id="9" name="תמונה 8" descr="C:\Users\USER\Downloads\עיצוב ללא שם (1).png"/>
          <p:cNvPicPr/>
          <p:nvPr/>
        </p:nvPicPr>
        <p:blipFill rotWithShape="1">
          <a:blip r:embed="rId3" cstate="print">
            <a:extLst>
              <a:ext uri="{28A0092B-C50C-407E-A947-70E740481C1C}">
                <a14:useLocalDpi xmlns:a14="http://schemas.microsoft.com/office/drawing/2010/main"/>
              </a:ext>
            </a:extLst>
          </a:blip>
          <a:srcRect/>
          <a:stretch/>
        </p:blipFill>
        <p:spPr bwMode="auto">
          <a:xfrm>
            <a:off x="9746655" y="5855497"/>
            <a:ext cx="1387633" cy="721652"/>
          </a:xfrm>
          <a:prstGeom prst="rect">
            <a:avLst/>
          </a:prstGeom>
          <a:noFill/>
          <a:ln>
            <a:noFill/>
          </a:ln>
          <a:extLst>
            <a:ext uri="{53640926-AAD7-44D8-BBD7-CCE9431645EC}">
              <a14:shadowObscured xmlns:a14="http://schemas.microsoft.com/office/drawing/2010/main"/>
            </a:ext>
          </a:extLst>
        </p:spPr>
      </p:pic>
      <p:pic>
        <p:nvPicPr>
          <p:cNvPr id="7" name="תמונה 6"/>
          <p:cNvPicPr>
            <a:picLocks noChangeAspect="1"/>
          </p:cNvPicPr>
          <p:nvPr/>
        </p:nvPicPr>
        <p:blipFill rotWithShape="1">
          <a:blip r:embed="rId4" cstate="print">
            <a:extLst>
              <a:ext uri="{28A0092B-C50C-407E-A947-70E740481C1C}">
                <a14:useLocalDpi xmlns:a14="http://schemas.microsoft.com/office/drawing/2010/main" val="0"/>
              </a:ext>
            </a:extLst>
          </a:blip>
          <a:srcRect l="68790"/>
          <a:stretch/>
        </p:blipFill>
        <p:spPr>
          <a:xfrm>
            <a:off x="11181769" y="5922593"/>
            <a:ext cx="753647" cy="654556"/>
          </a:xfrm>
          <a:prstGeom prst="rect">
            <a:avLst/>
          </a:prstGeom>
        </p:spPr>
      </p:pic>
      <p:sp>
        <p:nvSpPr>
          <p:cNvPr id="8" name="מלבן 7"/>
          <p:cNvSpPr/>
          <p:nvPr/>
        </p:nvSpPr>
        <p:spPr>
          <a:xfrm>
            <a:off x="0" y="0"/>
            <a:ext cx="195943" cy="6850955"/>
          </a:xfrm>
          <a:prstGeom prst="rect">
            <a:avLst/>
          </a:prstGeom>
          <a:solidFill>
            <a:srgbClr val="4C77D8"/>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Calibri" panose="020F0502020204030204"/>
              <a:ea typeface="+mn-ea"/>
              <a:cs typeface="Arial" panose="020B0604020202020204" pitchFamily="34" charset="0"/>
            </a:endParaRPr>
          </a:p>
        </p:txBody>
      </p:sp>
      <p:sp>
        <p:nvSpPr>
          <p:cNvPr id="11" name="Title 1">
            <a:extLst>
              <a:ext uri="{FF2B5EF4-FFF2-40B4-BE49-F238E27FC236}">
                <a16:creationId xmlns:a16="http://schemas.microsoft.com/office/drawing/2014/main" id="{E0DA82B0-6AAD-4FB1-8122-13E88F23FD3E}"/>
              </a:ext>
            </a:extLst>
          </p:cNvPr>
          <p:cNvSpPr>
            <a:spLocks noGrp="1"/>
          </p:cNvSpPr>
          <p:nvPr>
            <p:ph type="title"/>
          </p:nvPr>
        </p:nvSpPr>
        <p:spPr>
          <a:xfrm>
            <a:off x="2096515" y="1595827"/>
            <a:ext cx="9503232" cy="376239"/>
          </a:xfrm>
        </p:spPr>
        <p:txBody>
          <a:bodyPr>
            <a:noAutofit/>
          </a:bodyPr>
          <a:lstStyle/>
          <a:p>
            <a:pPr algn="ctr"/>
            <a:r>
              <a:rPr lang="he-IL" sz="2400" b="1" dirty="0">
                <a:solidFill>
                  <a:srgbClr val="0070C0"/>
                </a:solidFill>
                <a:latin typeface="Calibri" panose="020F0502020204030204" pitchFamily="34" charset="0"/>
                <a:cs typeface="Calibri" panose="020F0502020204030204" pitchFamily="34" charset="0"/>
              </a:rPr>
              <a:t>מספר ושיעור זכאי גמלת </a:t>
            </a:r>
            <a:r>
              <a:rPr lang="he-IL" sz="2800" b="1" dirty="0">
                <a:solidFill>
                  <a:srgbClr val="0070C0"/>
                </a:solidFill>
                <a:latin typeface="Calibri" panose="020F0502020204030204" pitchFamily="34" charset="0"/>
                <a:cs typeface="Calibri" panose="020F0502020204030204" pitchFamily="34" charset="0"/>
              </a:rPr>
              <a:t>סיעוד</a:t>
            </a:r>
            <a:r>
              <a:rPr lang="he-IL" sz="2400" b="1" dirty="0">
                <a:solidFill>
                  <a:srgbClr val="0070C0"/>
                </a:solidFill>
                <a:latin typeface="Calibri" panose="020F0502020204030204" pitchFamily="34" charset="0"/>
                <a:cs typeface="Calibri" panose="020F0502020204030204" pitchFamily="34" charset="0"/>
              </a:rPr>
              <a:t> לפי שנים</a:t>
            </a:r>
            <a:br>
              <a:rPr lang="en-US" b="1" dirty="0">
                <a:solidFill>
                  <a:srgbClr val="E3403B"/>
                </a:solidFill>
              </a:rPr>
            </a:br>
            <a:endParaRPr lang="he-IL" dirty="0"/>
          </a:p>
        </p:txBody>
      </p:sp>
      <p:graphicFrame>
        <p:nvGraphicFramePr>
          <p:cNvPr id="12" name="Content Placeholder 3">
            <a:extLst>
              <a:ext uri="{FF2B5EF4-FFF2-40B4-BE49-F238E27FC236}">
                <a16:creationId xmlns:a16="http://schemas.microsoft.com/office/drawing/2014/main" id="{107E15D4-FC29-448A-83AC-24A248EB1A6F}"/>
              </a:ext>
            </a:extLst>
          </p:cNvPr>
          <p:cNvGraphicFramePr>
            <a:graphicFrameLocks/>
          </p:cNvGraphicFramePr>
          <p:nvPr>
            <p:extLst>
              <p:ext uri="{D42A27DB-BD31-4B8C-83A1-F6EECF244321}">
                <p14:modId xmlns:p14="http://schemas.microsoft.com/office/powerpoint/2010/main" val="2881301338"/>
              </p:ext>
            </p:extLst>
          </p:nvPr>
        </p:nvGraphicFramePr>
        <p:xfrm>
          <a:off x="1116019" y="1859210"/>
          <a:ext cx="4984894" cy="3752605"/>
        </p:xfrm>
        <a:graphic>
          <a:graphicData uri="http://schemas.openxmlformats.org/drawingml/2006/chart">
            <c:chart xmlns:c="http://schemas.openxmlformats.org/drawingml/2006/chart" xmlns:r="http://schemas.openxmlformats.org/officeDocument/2006/relationships" r:id="rId5"/>
          </a:graphicData>
        </a:graphic>
      </p:graphicFrame>
      <p:sp>
        <p:nvSpPr>
          <p:cNvPr id="13" name="TextBox 12">
            <a:extLst>
              <a:ext uri="{FF2B5EF4-FFF2-40B4-BE49-F238E27FC236}">
                <a16:creationId xmlns:a16="http://schemas.microsoft.com/office/drawing/2014/main" id="{70876D51-5A83-46FA-A207-A8563AAFD5CA}"/>
              </a:ext>
            </a:extLst>
          </p:cNvPr>
          <p:cNvSpPr txBox="1"/>
          <p:nvPr/>
        </p:nvSpPr>
        <p:spPr>
          <a:xfrm>
            <a:off x="7426065" y="5414584"/>
            <a:ext cx="3688422" cy="307777"/>
          </a:xfrm>
          <a:prstGeom prst="rect">
            <a:avLst/>
          </a:prstGeom>
          <a:noFill/>
        </p:spPr>
        <p:txBody>
          <a:bodyPr wrap="square" rtlCol="1">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he-IL" sz="1400" b="0" i="0" u="none" strike="noStrike" kern="1200" cap="none" spc="0" normalizeH="0" baseline="0" noProof="0" dirty="0">
                <a:ln>
                  <a:noFill/>
                </a:ln>
                <a:solidFill>
                  <a:srgbClr val="424F58">
                    <a:lumMod val="60000"/>
                    <a:lumOff val="40000"/>
                  </a:srgbClr>
                </a:solidFill>
                <a:effectLst/>
                <a:uLnTx/>
                <a:uFillTx/>
                <a:latin typeface="Calibri"/>
                <a:ea typeface="+mn-ea"/>
                <a:cs typeface="Calibri"/>
              </a:rPr>
              <a:t>מקור: ירחון סטטיסטי, ביטוח לאומי, אוקטובר</a:t>
            </a:r>
            <a:r>
              <a:rPr kumimoji="0" lang="he-IL" sz="1200" b="0" i="0" u="none" strike="noStrike" kern="1200" cap="none" spc="0" normalizeH="0" baseline="0" noProof="0" dirty="0">
                <a:ln>
                  <a:noFill/>
                </a:ln>
                <a:solidFill>
                  <a:srgbClr val="424F58">
                    <a:lumMod val="60000"/>
                    <a:lumOff val="40000"/>
                  </a:srgbClr>
                </a:solidFill>
                <a:effectLst/>
                <a:uLnTx/>
                <a:uFillTx/>
                <a:latin typeface="Calibri"/>
                <a:ea typeface="+mn-ea"/>
                <a:cs typeface="Calibri"/>
              </a:rPr>
              <a:t> </a:t>
            </a:r>
            <a:r>
              <a:rPr kumimoji="0" lang="he-IL" sz="1400" b="0" i="0" u="none" strike="noStrike" kern="1200" cap="none" spc="0" normalizeH="0" baseline="0" noProof="0" dirty="0">
                <a:ln>
                  <a:noFill/>
                </a:ln>
                <a:solidFill>
                  <a:srgbClr val="424F58">
                    <a:lumMod val="60000"/>
                    <a:lumOff val="40000"/>
                  </a:srgbClr>
                </a:solidFill>
                <a:effectLst/>
                <a:uLnTx/>
                <a:uFillTx/>
                <a:latin typeface="Calibri"/>
                <a:ea typeface="+mn-ea"/>
                <a:cs typeface="Calibri"/>
              </a:rPr>
              <a:t>2022</a:t>
            </a:r>
            <a:endParaRPr kumimoji="0" lang="he-IL" sz="1600" b="0" i="0" u="none" strike="noStrike" kern="1200" cap="none" spc="0" normalizeH="0" baseline="0" noProof="0" dirty="0">
              <a:ln>
                <a:noFill/>
              </a:ln>
              <a:solidFill>
                <a:srgbClr val="424F58">
                  <a:lumMod val="60000"/>
                  <a:lumOff val="40000"/>
                </a:srgbClr>
              </a:solidFill>
              <a:effectLst/>
              <a:uLnTx/>
              <a:uFillTx/>
              <a:latin typeface="Calibri"/>
              <a:ea typeface="+mn-ea"/>
              <a:cs typeface="Calibri"/>
            </a:endParaRPr>
          </a:p>
        </p:txBody>
      </p:sp>
      <p:graphicFrame>
        <p:nvGraphicFramePr>
          <p:cNvPr id="14" name="Content Placeholder 3">
            <a:extLst>
              <a:ext uri="{FF2B5EF4-FFF2-40B4-BE49-F238E27FC236}">
                <a16:creationId xmlns:a16="http://schemas.microsoft.com/office/drawing/2014/main" id="{098FA174-A176-4DF3-BA94-8CBFBEDFC3E8}"/>
              </a:ext>
            </a:extLst>
          </p:cNvPr>
          <p:cNvGraphicFramePr>
            <a:graphicFrameLocks/>
          </p:cNvGraphicFramePr>
          <p:nvPr>
            <p:extLst>
              <p:ext uri="{D42A27DB-BD31-4B8C-83A1-F6EECF244321}">
                <p14:modId xmlns:p14="http://schemas.microsoft.com/office/powerpoint/2010/main" val="260210299"/>
              </p:ext>
            </p:extLst>
          </p:nvPr>
        </p:nvGraphicFramePr>
        <p:xfrm>
          <a:off x="6258410" y="1443416"/>
          <a:ext cx="5553376" cy="3859958"/>
        </p:xfrm>
        <a:graphic>
          <a:graphicData uri="http://schemas.openxmlformats.org/drawingml/2006/chart">
            <c:chart xmlns:c="http://schemas.openxmlformats.org/drawingml/2006/chart" xmlns:r="http://schemas.openxmlformats.org/officeDocument/2006/relationships" r:id="rId6"/>
          </a:graphicData>
        </a:graphic>
      </p:graphicFrame>
      <p:sp>
        <p:nvSpPr>
          <p:cNvPr id="15" name="TextBox 14">
            <a:extLst>
              <a:ext uri="{FF2B5EF4-FFF2-40B4-BE49-F238E27FC236}">
                <a16:creationId xmlns:a16="http://schemas.microsoft.com/office/drawing/2014/main" id="{18D5639C-6BE8-30CD-D0D1-A358E9AA2E84}"/>
              </a:ext>
            </a:extLst>
          </p:cNvPr>
          <p:cNvSpPr txBox="1"/>
          <p:nvPr/>
        </p:nvSpPr>
        <p:spPr>
          <a:xfrm>
            <a:off x="1572792" y="5457926"/>
            <a:ext cx="3688422" cy="307777"/>
          </a:xfrm>
          <a:prstGeom prst="rect">
            <a:avLst/>
          </a:prstGeom>
          <a:noFill/>
        </p:spPr>
        <p:txBody>
          <a:bodyPr wrap="square" rtlCol="1">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he-IL" sz="1400" b="0" i="0" u="none" strike="noStrike" kern="1200" cap="none" spc="0" normalizeH="0" baseline="0" noProof="0" dirty="0">
                <a:ln>
                  <a:noFill/>
                </a:ln>
                <a:solidFill>
                  <a:srgbClr val="424F58">
                    <a:lumMod val="60000"/>
                    <a:lumOff val="40000"/>
                  </a:srgbClr>
                </a:solidFill>
                <a:effectLst/>
                <a:uLnTx/>
                <a:uFillTx/>
                <a:latin typeface="Calibri"/>
                <a:ea typeface="+mn-ea"/>
                <a:cs typeface="Calibri"/>
              </a:rPr>
              <a:t>מקור: בני +65 בישראל שנתון סטטיסטי,</a:t>
            </a:r>
            <a:r>
              <a:rPr kumimoji="0" lang="he-IL" sz="1200" b="0" i="0" u="none" strike="noStrike" kern="1200" cap="none" spc="0" normalizeH="0" baseline="0" noProof="0" dirty="0">
                <a:ln>
                  <a:noFill/>
                </a:ln>
                <a:solidFill>
                  <a:srgbClr val="424F58">
                    <a:lumMod val="60000"/>
                    <a:lumOff val="40000"/>
                  </a:srgbClr>
                </a:solidFill>
                <a:effectLst/>
                <a:uLnTx/>
                <a:uFillTx/>
                <a:latin typeface="Calibri"/>
                <a:ea typeface="+mn-ea"/>
                <a:cs typeface="Calibri"/>
              </a:rPr>
              <a:t> </a:t>
            </a:r>
            <a:r>
              <a:rPr kumimoji="0" lang="he-IL" sz="1400" b="0" i="0" u="none" strike="noStrike" kern="1200" cap="none" spc="0" normalizeH="0" baseline="0" noProof="0" dirty="0">
                <a:ln>
                  <a:noFill/>
                </a:ln>
                <a:solidFill>
                  <a:srgbClr val="424F58">
                    <a:lumMod val="60000"/>
                    <a:lumOff val="40000"/>
                  </a:srgbClr>
                </a:solidFill>
                <a:effectLst/>
                <a:uLnTx/>
                <a:uFillTx/>
                <a:latin typeface="Calibri"/>
                <a:ea typeface="+mn-ea"/>
                <a:cs typeface="Calibri"/>
              </a:rPr>
              <a:t>2022</a:t>
            </a:r>
            <a:endParaRPr kumimoji="0" lang="he-IL" sz="1600" b="0" i="0" u="none" strike="noStrike" kern="1200" cap="none" spc="0" normalizeH="0" baseline="0" noProof="0" dirty="0">
              <a:ln>
                <a:noFill/>
              </a:ln>
              <a:solidFill>
                <a:srgbClr val="424F58">
                  <a:lumMod val="60000"/>
                  <a:lumOff val="40000"/>
                </a:srgbClr>
              </a:solidFill>
              <a:effectLst/>
              <a:uLnTx/>
              <a:uFillTx/>
              <a:latin typeface="Calibri"/>
              <a:ea typeface="+mn-ea"/>
              <a:cs typeface="Calibri"/>
            </a:endParaRPr>
          </a:p>
        </p:txBody>
      </p:sp>
      <p:sp>
        <p:nvSpPr>
          <p:cNvPr id="2" name="מלבן 1"/>
          <p:cNvSpPr/>
          <p:nvPr/>
        </p:nvSpPr>
        <p:spPr>
          <a:xfrm>
            <a:off x="2289055" y="234527"/>
            <a:ext cx="6096000" cy="584775"/>
          </a:xfrm>
          <a:prstGeom prst="rect">
            <a:avLst/>
          </a:prstGeom>
        </p:spPr>
        <p:txBody>
          <a:bodyPr>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3200" b="1" i="0" u="none" strike="noStrike" kern="1200" cap="none" spc="0" normalizeH="0" baseline="0" noProof="0" dirty="0">
                <a:ln>
                  <a:noFill/>
                </a:ln>
                <a:solidFill>
                  <a:srgbClr val="0070C0"/>
                </a:solidFill>
                <a:effectLst/>
                <a:uLnTx/>
                <a:uFillTx/>
                <a:latin typeface="Calibri" panose="020F0502020204030204" pitchFamily="34" charset="0"/>
                <a:ea typeface="+mn-ea"/>
                <a:cs typeface="Calibri" panose="020F0502020204030204" pitchFamily="34" charset="0"/>
              </a:rPr>
              <a:t>האתגר בסיעוד 2024</a:t>
            </a:r>
            <a:endParaRPr kumimoji="0" lang="he-IL" sz="32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endParaRPr>
          </a:p>
        </p:txBody>
      </p:sp>
      <p:sp>
        <p:nvSpPr>
          <p:cNvPr id="18" name="מלבן 17"/>
          <p:cNvSpPr/>
          <p:nvPr/>
        </p:nvSpPr>
        <p:spPr>
          <a:xfrm>
            <a:off x="3093" y="0"/>
            <a:ext cx="244547" cy="6857999"/>
          </a:xfrm>
          <a:prstGeom prst="rect">
            <a:avLst/>
          </a:prstGeom>
          <a:solidFill>
            <a:srgbClr val="2980B9"/>
          </a:solidFill>
          <a:ln w="12700" cap="flat" cmpd="sng" algn="ctr">
            <a:solidFill>
              <a:srgbClr val="2CC2E0"/>
            </a:solidFill>
            <a:prstDash val="solid"/>
            <a:miter lim="800000"/>
          </a:ln>
          <a:effectLst/>
        </p:spPr>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0" cap="none" spc="0" normalizeH="0" baseline="0" noProof="0">
              <a:ln>
                <a:noFill/>
              </a:ln>
              <a:solidFill>
                <a:prstClr val="white"/>
              </a:solidFill>
              <a:effectLst/>
              <a:uLnTx/>
              <a:uFillTx/>
              <a:latin typeface="Calibri"/>
              <a:ea typeface="+mn-ea"/>
              <a:cs typeface="Calibri"/>
            </a:endParaRPr>
          </a:p>
        </p:txBody>
      </p:sp>
      <p:sp>
        <p:nvSpPr>
          <p:cNvPr id="19" name="TextBox 18"/>
          <p:cNvSpPr txBox="1"/>
          <p:nvPr/>
        </p:nvSpPr>
        <p:spPr>
          <a:xfrm rot="16200000">
            <a:off x="-648746" y="687406"/>
            <a:ext cx="1478289" cy="338554"/>
          </a:xfrm>
          <a:prstGeom prst="rect">
            <a:avLst/>
          </a:prstGeom>
          <a:noFill/>
        </p:spPr>
        <p:txBody>
          <a:bodyPr wrap="non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1" i="0" u="none" strike="noStrike" kern="1200" cap="none" spc="0" normalizeH="0" baseline="0" noProof="0" dirty="0">
                <a:ln>
                  <a:noFill/>
                </a:ln>
                <a:solidFill>
                  <a:prstClr val="white"/>
                </a:solidFill>
                <a:effectLst/>
                <a:uLnTx/>
                <a:uFillTx/>
                <a:latin typeface="Calibri" panose="020F0502020204030204"/>
                <a:ea typeface="+mn-ea"/>
                <a:cs typeface="Calibri"/>
              </a:rPr>
              <a:t>רקע </a:t>
            </a:r>
            <a:r>
              <a:rPr kumimoji="0" lang="he-IL" sz="1600" b="1" i="0" u="none" strike="noStrike" kern="1200" cap="none" spc="0" normalizeH="0" baseline="0" noProof="0" dirty="0" err="1">
                <a:ln>
                  <a:noFill/>
                </a:ln>
                <a:solidFill>
                  <a:prstClr val="white"/>
                </a:solidFill>
                <a:effectLst/>
                <a:uLnTx/>
                <a:uFillTx/>
                <a:latin typeface="Calibri" panose="020F0502020204030204"/>
                <a:ea typeface="+mn-ea"/>
                <a:cs typeface="Calibri"/>
              </a:rPr>
              <a:t>ןתמונת</a:t>
            </a:r>
            <a:r>
              <a:rPr kumimoji="0" lang="he-IL" sz="1600" b="1" i="0" u="none" strike="noStrike" kern="1200" cap="none" spc="0" normalizeH="0" baseline="0" noProof="0" dirty="0">
                <a:ln>
                  <a:noFill/>
                </a:ln>
                <a:solidFill>
                  <a:prstClr val="white"/>
                </a:solidFill>
                <a:effectLst/>
                <a:uLnTx/>
                <a:uFillTx/>
                <a:latin typeface="Calibri" panose="020F0502020204030204"/>
                <a:ea typeface="+mn-ea"/>
                <a:cs typeface="Calibri"/>
              </a:rPr>
              <a:t> מצב</a:t>
            </a:r>
          </a:p>
        </p:txBody>
      </p:sp>
      <p:cxnSp>
        <p:nvCxnSpPr>
          <p:cNvPr id="5" name="מחבר חץ ישר 4">
            <a:extLst>
              <a:ext uri="{FF2B5EF4-FFF2-40B4-BE49-F238E27FC236}">
                <a16:creationId xmlns:a16="http://schemas.microsoft.com/office/drawing/2014/main" id="{EE893103-C970-3E47-DB9E-429F03BFFA41}"/>
              </a:ext>
            </a:extLst>
          </p:cNvPr>
          <p:cNvCxnSpPr/>
          <p:nvPr/>
        </p:nvCxnSpPr>
        <p:spPr>
          <a:xfrm flipV="1">
            <a:off x="11515379" y="1428889"/>
            <a:ext cx="318976" cy="860642"/>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6" name="מחבר חץ ישר 5">
            <a:extLst>
              <a:ext uri="{FF2B5EF4-FFF2-40B4-BE49-F238E27FC236}">
                <a16:creationId xmlns:a16="http://schemas.microsoft.com/office/drawing/2014/main" id="{8F7A5E9C-AA30-328A-CAB6-4B54BB937DB0}"/>
              </a:ext>
            </a:extLst>
          </p:cNvPr>
          <p:cNvCxnSpPr>
            <a:cxnSpLocks/>
          </p:cNvCxnSpPr>
          <p:nvPr/>
        </p:nvCxnSpPr>
        <p:spPr>
          <a:xfrm flipV="1">
            <a:off x="5832068" y="4074060"/>
            <a:ext cx="403773" cy="344896"/>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98499227"/>
      </p:ext>
    </p:extLst>
  </p:cSld>
  <p:clrMapOvr>
    <a:masterClrMapping/>
  </p:clrMapOvr>
  <p:transition spd="slow">
    <p:wipe dir="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Content Placeholder 4">
            <a:extLst>
              <a:ext uri="{FF2B5EF4-FFF2-40B4-BE49-F238E27FC236}">
                <a16:creationId xmlns:a16="http://schemas.microsoft.com/office/drawing/2014/main" id="{1DDF87A0-2D02-4AA4-948C-3565CF155EEF}"/>
              </a:ext>
            </a:extLst>
          </p:cNvPr>
          <p:cNvSpPr txBox="1">
            <a:spLocks/>
          </p:cNvSpPr>
          <p:nvPr/>
        </p:nvSpPr>
        <p:spPr>
          <a:xfrm>
            <a:off x="1400582" y="7050540"/>
            <a:ext cx="3622830" cy="1792519"/>
          </a:xfrm>
          <a:prstGeom prst="rect">
            <a:avLst/>
          </a:prstGeom>
        </p:spPr>
        <p:txBody>
          <a:bodyPr vert="horz" lIns="91440" tIns="45720" rIns="91440" bIns="45720" rtlCol="1">
            <a:noAutofit/>
          </a:bodyPr>
          <a:lst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r" defTabSz="914400" rtl="1" eaLnBrk="1" fontAlgn="auto" latinLnBrk="0" hangingPunct="1">
              <a:lnSpc>
                <a:spcPct val="150000"/>
              </a:lnSpc>
              <a:spcBef>
                <a:spcPts val="1000"/>
              </a:spcBef>
              <a:spcAft>
                <a:spcPts val="0"/>
              </a:spcAft>
              <a:buClrTx/>
              <a:buSzTx/>
              <a:buFont typeface="Arial" panose="020B0604020202020204" pitchFamily="34" charset="0"/>
              <a:buNone/>
              <a:tabLst/>
              <a:defRPr/>
            </a:pPr>
            <a:r>
              <a:rPr kumimoji="0" lang="he-IL" sz="3200" b="1" i="0" u="none" strike="noStrike" kern="1200" cap="none" spc="0" normalizeH="0" baseline="0" noProof="0" dirty="0">
                <a:ln>
                  <a:noFill/>
                </a:ln>
                <a:solidFill>
                  <a:srgbClr val="0F6FC6"/>
                </a:solidFill>
                <a:effectLst/>
                <a:uLnTx/>
                <a:uFillTx/>
                <a:latin typeface="Assistant SemiBold" pitchFamily="2" charset="-79"/>
                <a:ea typeface="+mn-ea"/>
                <a:cs typeface="Assistant SemiBold" pitchFamily="2" charset="-79"/>
              </a:rPr>
              <a:t>שיעור בני 65+ מהאוכלוסייה צפוי להמשיך ולגדול בקביעות בעשרות השנים הקרובות</a:t>
            </a:r>
          </a:p>
        </p:txBody>
      </p:sp>
      <p:sp>
        <p:nvSpPr>
          <p:cNvPr id="2" name="מלבן 1">
            <a:extLst>
              <a:ext uri="{FF2B5EF4-FFF2-40B4-BE49-F238E27FC236}">
                <a16:creationId xmlns:a16="http://schemas.microsoft.com/office/drawing/2014/main" id="{E6863806-BEB9-A270-BCC5-79F7F53C29C4}"/>
              </a:ext>
            </a:extLst>
          </p:cNvPr>
          <p:cNvSpPr/>
          <p:nvPr/>
        </p:nvSpPr>
        <p:spPr>
          <a:xfrm>
            <a:off x="3093" y="0"/>
            <a:ext cx="244547" cy="6857999"/>
          </a:xfrm>
          <a:prstGeom prst="rect">
            <a:avLst/>
          </a:prstGeom>
          <a:solidFill>
            <a:srgbClr val="2980B9"/>
          </a:solidFill>
          <a:ln w="12700" cap="flat" cmpd="sng" algn="ctr">
            <a:solidFill>
              <a:srgbClr val="2CC2E0"/>
            </a:solidFill>
            <a:prstDash val="solid"/>
            <a:miter lim="800000"/>
          </a:ln>
          <a:effectLst/>
        </p:spPr>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0" cap="none" spc="0" normalizeH="0" baseline="0" noProof="0">
              <a:ln>
                <a:noFill/>
              </a:ln>
              <a:solidFill>
                <a:prstClr val="white"/>
              </a:solidFill>
              <a:effectLst/>
              <a:uLnTx/>
              <a:uFillTx/>
              <a:latin typeface="Calibri"/>
              <a:ea typeface="+mn-ea"/>
              <a:cs typeface="Calibri"/>
            </a:endParaRPr>
          </a:p>
        </p:txBody>
      </p:sp>
      <p:sp>
        <p:nvSpPr>
          <p:cNvPr id="4" name="TextBox 14">
            <a:extLst>
              <a:ext uri="{FF2B5EF4-FFF2-40B4-BE49-F238E27FC236}">
                <a16:creationId xmlns:a16="http://schemas.microsoft.com/office/drawing/2014/main" id="{4D5673BF-C328-38C1-C5B4-50538829E5B0}"/>
              </a:ext>
            </a:extLst>
          </p:cNvPr>
          <p:cNvSpPr txBox="1"/>
          <p:nvPr/>
        </p:nvSpPr>
        <p:spPr>
          <a:xfrm rot="16200000">
            <a:off x="-641174" y="724559"/>
            <a:ext cx="1478289" cy="338554"/>
          </a:xfrm>
          <a:prstGeom prst="rect">
            <a:avLst/>
          </a:prstGeom>
          <a:noFill/>
        </p:spPr>
        <p:txBody>
          <a:bodyPr wrap="non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1" i="0" u="none" strike="noStrike" kern="1200" cap="none" spc="0" normalizeH="0" baseline="0" noProof="0" dirty="0">
                <a:ln>
                  <a:noFill/>
                </a:ln>
                <a:solidFill>
                  <a:prstClr val="white"/>
                </a:solidFill>
                <a:effectLst/>
                <a:uLnTx/>
                <a:uFillTx/>
                <a:latin typeface="Calibri"/>
                <a:ea typeface="+mn-ea"/>
                <a:cs typeface="Calibri"/>
              </a:rPr>
              <a:t>רקע </a:t>
            </a:r>
            <a:r>
              <a:rPr kumimoji="0" lang="he-IL" sz="1600" b="1" i="0" u="none" strike="noStrike" kern="1200" cap="none" spc="0" normalizeH="0" baseline="0" noProof="0" dirty="0" err="1">
                <a:ln>
                  <a:noFill/>
                </a:ln>
                <a:solidFill>
                  <a:prstClr val="white"/>
                </a:solidFill>
                <a:effectLst/>
                <a:uLnTx/>
                <a:uFillTx/>
                <a:latin typeface="Calibri"/>
                <a:ea typeface="+mn-ea"/>
                <a:cs typeface="Calibri"/>
              </a:rPr>
              <a:t>ןתמונת</a:t>
            </a:r>
            <a:r>
              <a:rPr kumimoji="0" lang="he-IL" sz="1600" b="1" i="0" u="none" strike="noStrike" kern="1200" cap="none" spc="0" normalizeH="0" baseline="0" noProof="0" dirty="0">
                <a:ln>
                  <a:noFill/>
                </a:ln>
                <a:solidFill>
                  <a:prstClr val="white"/>
                </a:solidFill>
                <a:effectLst/>
                <a:uLnTx/>
                <a:uFillTx/>
                <a:latin typeface="Calibri"/>
                <a:ea typeface="+mn-ea"/>
                <a:cs typeface="Calibri"/>
              </a:rPr>
              <a:t> מצב</a:t>
            </a:r>
          </a:p>
        </p:txBody>
      </p:sp>
      <p:pic>
        <p:nvPicPr>
          <p:cNvPr id="5" name="תמונה 4">
            <a:extLst>
              <a:ext uri="{FF2B5EF4-FFF2-40B4-BE49-F238E27FC236}">
                <a16:creationId xmlns:a16="http://schemas.microsoft.com/office/drawing/2014/main" id="{71402ACB-05EA-48A7-6789-132B540DDCA6}"/>
              </a:ext>
            </a:extLst>
          </p:cNvPr>
          <p:cNvPicPr>
            <a:picLocks noChangeAspect="1"/>
          </p:cNvPicPr>
          <p:nvPr/>
        </p:nvPicPr>
        <p:blipFill>
          <a:blip r:embed="rId3">
            <a:extLst>
              <a:ext uri="{28A0092B-C50C-407E-A947-70E740481C1C}">
                <a14:useLocalDpi xmlns:a14="http://schemas.microsoft.com/office/drawing/2010/main" val="0"/>
              </a:ext>
            </a:extLst>
          </a:blip>
          <a:srcRect t="20022"/>
          <a:stretch/>
        </p:blipFill>
        <p:spPr>
          <a:xfrm>
            <a:off x="6260310" y="1787800"/>
            <a:ext cx="5606022" cy="3372921"/>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7" name="תיבת טקסט 6">
            <a:extLst>
              <a:ext uri="{FF2B5EF4-FFF2-40B4-BE49-F238E27FC236}">
                <a16:creationId xmlns:a16="http://schemas.microsoft.com/office/drawing/2014/main" id="{443B8AC8-0D01-3B4C-448C-1F7EF0AD8A75}"/>
              </a:ext>
            </a:extLst>
          </p:cNvPr>
          <p:cNvSpPr txBox="1"/>
          <p:nvPr/>
        </p:nvSpPr>
        <p:spPr>
          <a:xfrm>
            <a:off x="362052" y="2876582"/>
            <a:ext cx="5303482" cy="361637"/>
          </a:xfrm>
          <a:prstGeom prst="rect">
            <a:avLst/>
          </a:prstGeom>
          <a:noFill/>
        </p:spPr>
        <p:txBody>
          <a:bodyPr wrap="square" rtlCol="1">
            <a:spAutoFit/>
          </a:bodyPr>
          <a:lstStyle/>
          <a:p>
            <a:pPr algn="r" rtl="1"/>
            <a:r>
              <a:rPr lang="he-IL" sz="1750" b="1" dirty="0"/>
              <a:t>שיעור אזרחים ותיקים מקבלי סיעוד בהשוואה בינלאומית 2020</a:t>
            </a:r>
          </a:p>
        </p:txBody>
      </p:sp>
      <p:grpSp>
        <p:nvGrpSpPr>
          <p:cNvPr id="3" name="קבוצה 2">
            <a:extLst>
              <a:ext uri="{FF2B5EF4-FFF2-40B4-BE49-F238E27FC236}">
                <a16:creationId xmlns:a16="http://schemas.microsoft.com/office/drawing/2014/main" id="{9A0F3AFB-3F91-5E3F-9E83-7856F7564B24}"/>
              </a:ext>
            </a:extLst>
          </p:cNvPr>
          <p:cNvGrpSpPr/>
          <p:nvPr/>
        </p:nvGrpSpPr>
        <p:grpSpPr>
          <a:xfrm>
            <a:off x="581835" y="3429000"/>
            <a:ext cx="5349855" cy="3066465"/>
            <a:chOff x="6607820" y="1632981"/>
            <a:chExt cx="5198110" cy="2694866"/>
          </a:xfrm>
        </p:grpSpPr>
        <p:pic>
          <p:nvPicPr>
            <p:cNvPr id="6" name="תמונה 5">
              <a:extLst>
                <a:ext uri="{FF2B5EF4-FFF2-40B4-BE49-F238E27FC236}">
                  <a16:creationId xmlns:a16="http://schemas.microsoft.com/office/drawing/2014/main" id="{AD9E4335-9EFE-CBA4-3A3D-B81800B60C23}"/>
                </a:ext>
              </a:extLst>
            </p:cNvPr>
            <p:cNvPicPr>
              <a:picLocks noChangeAspect="1"/>
            </p:cNvPicPr>
            <p:nvPr/>
          </p:nvPicPr>
          <p:blipFill>
            <a:blip r:embed="rId4">
              <a:extLst>
                <a:ext uri="{28A0092B-C50C-407E-A947-70E740481C1C}">
                  <a14:useLocalDpi xmlns:a14="http://schemas.microsoft.com/office/drawing/2010/main" val="0"/>
                </a:ext>
              </a:extLst>
            </a:blip>
            <a:srcRect t="16786"/>
            <a:stretch/>
          </p:blipFill>
          <p:spPr>
            <a:xfrm>
              <a:off x="6607820" y="1632981"/>
              <a:ext cx="5198110" cy="2694866"/>
            </a:xfrm>
            <a:prstGeom prst="rect">
              <a:avLst/>
            </a:prstGeom>
            <a:solidFill>
              <a:srgbClr val="377982"/>
            </a:solidFill>
            <a:ln w="38100" cap="sq">
              <a:solidFill>
                <a:srgbClr val="000000"/>
              </a:solidFill>
              <a:prstDash val="solid"/>
              <a:miter lim="800000"/>
            </a:ln>
            <a:effectLst>
              <a:outerShdw blurRad="50800" dist="38100" dir="2700000" algn="tl" rotWithShape="0">
                <a:srgbClr val="000000">
                  <a:alpha val="43000"/>
                </a:srgbClr>
              </a:outerShdw>
            </a:effectLst>
          </p:spPr>
        </p:pic>
        <p:sp>
          <p:nvSpPr>
            <p:cNvPr id="8" name="מלבן 7">
              <a:extLst>
                <a:ext uri="{FF2B5EF4-FFF2-40B4-BE49-F238E27FC236}">
                  <a16:creationId xmlns:a16="http://schemas.microsoft.com/office/drawing/2014/main" id="{CCFE7E6E-CDD1-DECB-47A3-09064CC37047}"/>
                </a:ext>
              </a:extLst>
            </p:cNvPr>
            <p:cNvSpPr/>
            <p:nvPr/>
          </p:nvSpPr>
          <p:spPr>
            <a:xfrm>
              <a:off x="10620374" y="2181225"/>
              <a:ext cx="133351" cy="161925"/>
            </a:xfrm>
            <a:prstGeom prst="rect">
              <a:avLst/>
            </a:prstGeom>
            <a:solidFill>
              <a:srgbClr val="377982"/>
            </a:solidFill>
            <a:ln>
              <a:no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dirty="0"/>
            </a:p>
          </p:txBody>
        </p:sp>
      </p:grpSp>
      <p:sp>
        <p:nvSpPr>
          <p:cNvPr id="11" name="תיבת טקסט 10">
            <a:extLst>
              <a:ext uri="{FF2B5EF4-FFF2-40B4-BE49-F238E27FC236}">
                <a16:creationId xmlns:a16="http://schemas.microsoft.com/office/drawing/2014/main" id="{12F9CFAA-A962-85E6-1699-08C6A997CF37}"/>
              </a:ext>
            </a:extLst>
          </p:cNvPr>
          <p:cNvSpPr txBox="1"/>
          <p:nvPr/>
        </p:nvSpPr>
        <p:spPr>
          <a:xfrm>
            <a:off x="5779946" y="1379487"/>
            <a:ext cx="6143624" cy="338554"/>
          </a:xfrm>
          <a:prstGeom prst="rect">
            <a:avLst/>
          </a:prstGeom>
          <a:noFill/>
        </p:spPr>
        <p:txBody>
          <a:bodyPr wrap="square">
            <a:spAutoFit/>
          </a:bodyPr>
          <a:lstStyle/>
          <a:p>
            <a:pPr algn="r" rtl="1"/>
            <a:r>
              <a:rPr lang="he-IL" sz="1600" b="1" dirty="0"/>
              <a:t>קצב גידול מקבלי גמלת סיעוד, ביטוח סיעודי וקצבת אזרח ותיק 2017-2022</a:t>
            </a:r>
          </a:p>
        </p:txBody>
      </p:sp>
      <p:sp>
        <p:nvSpPr>
          <p:cNvPr id="12" name="תיבת טקסט 11">
            <a:extLst>
              <a:ext uri="{FF2B5EF4-FFF2-40B4-BE49-F238E27FC236}">
                <a16:creationId xmlns:a16="http://schemas.microsoft.com/office/drawing/2014/main" id="{8DA4FBA9-53BA-F3E0-2F6C-0A557399D4E2}"/>
              </a:ext>
            </a:extLst>
          </p:cNvPr>
          <p:cNvSpPr txBox="1"/>
          <p:nvPr/>
        </p:nvSpPr>
        <p:spPr>
          <a:xfrm>
            <a:off x="3271685" y="362535"/>
            <a:ext cx="5674950" cy="461665"/>
          </a:xfrm>
          <a:prstGeom prst="rect">
            <a:avLst/>
          </a:prstGeom>
          <a:noFill/>
        </p:spPr>
        <p:txBody>
          <a:bodyPr wrap="none" rtlCol="1">
            <a:spAutoFit/>
          </a:bodyPr>
          <a:lstStyle/>
          <a:p>
            <a:r>
              <a:rPr lang="he-IL" sz="2400" b="1" dirty="0"/>
              <a:t>השוואה בין הגמלאות לזקנה והשוואה בינלאומית </a:t>
            </a:r>
          </a:p>
        </p:txBody>
      </p:sp>
    </p:spTree>
    <p:extLst>
      <p:ext uri="{BB962C8B-B14F-4D97-AF65-F5344CB8AC3E}">
        <p14:creationId xmlns:p14="http://schemas.microsoft.com/office/powerpoint/2010/main" val="20598354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מלבן 1">
            <a:extLst>
              <a:ext uri="{FF2B5EF4-FFF2-40B4-BE49-F238E27FC236}">
                <a16:creationId xmlns:a16="http://schemas.microsoft.com/office/drawing/2014/main" id="{E6863806-BEB9-A270-BCC5-79F7F53C29C4}"/>
              </a:ext>
            </a:extLst>
          </p:cNvPr>
          <p:cNvSpPr/>
          <p:nvPr/>
        </p:nvSpPr>
        <p:spPr>
          <a:xfrm>
            <a:off x="3093" y="0"/>
            <a:ext cx="244547" cy="6857999"/>
          </a:xfrm>
          <a:prstGeom prst="rect">
            <a:avLst/>
          </a:prstGeom>
          <a:solidFill>
            <a:srgbClr val="2980B9"/>
          </a:solidFill>
          <a:ln w="12700" cap="flat" cmpd="sng" algn="ctr">
            <a:solidFill>
              <a:srgbClr val="2CC2E0"/>
            </a:solidFill>
            <a:prstDash val="solid"/>
            <a:miter lim="800000"/>
          </a:ln>
          <a:effectLst/>
        </p:spPr>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0" cap="none" spc="0" normalizeH="0" baseline="0" noProof="0">
              <a:ln>
                <a:noFill/>
              </a:ln>
              <a:solidFill>
                <a:prstClr val="white"/>
              </a:solidFill>
              <a:effectLst/>
              <a:uLnTx/>
              <a:uFillTx/>
              <a:latin typeface="Calibri"/>
              <a:ea typeface="+mn-ea"/>
              <a:cs typeface="Calibri"/>
            </a:endParaRPr>
          </a:p>
        </p:txBody>
      </p:sp>
      <p:sp>
        <p:nvSpPr>
          <p:cNvPr id="4" name="TextBox 14">
            <a:extLst>
              <a:ext uri="{FF2B5EF4-FFF2-40B4-BE49-F238E27FC236}">
                <a16:creationId xmlns:a16="http://schemas.microsoft.com/office/drawing/2014/main" id="{4D5673BF-C328-38C1-C5B4-50538829E5B0}"/>
              </a:ext>
            </a:extLst>
          </p:cNvPr>
          <p:cNvSpPr txBox="1"/>
          <p:nvPr/>
        </p:nvSpPr>
        <p:spPr>
          <a:xfrm rot="16200000">
            <a:off x="-641174" y="724559"/>
            <a:ext cx="1478289" cy="338554"/>
          </a:xfrm>
          <a:prstGeom prst="rect">
            <a:avLst/>
          </a:prstGeom>
          <a:noFill/>
        </p:spPr>
        <p:txBody>
          <a:bodyPr wrap="non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1" i="0" u="none" strike="noStrike" kern="1200" cap="none" spc="0" normalizeH="0" baseline="0" noProof="0" dirty="0">
                <a:ln>
                  <a:noFill/>
                </a:ln>
                <a:solidFill>
                  <a:prstClr val="white"/>
                </a:solidFill>
                <a:effectLst/>
                <a:uLnTx/>
                <a:uFillTx/>
                <a:latin typeface="Calibri"/>
                <a:ea typeface="+mn-ea"/>
                <a:cs typeface="Calibri"/>
              </a:rPr>
              <a:t>רקע </a:t>
            </a:r>
            <a:r>
              <a:rPr kumimoji="0" lang="he-IL" sz="1600" b="1" i="0" u="none" strike="noStrike" kern="1200" cap="none" spc="0" normalizeH="0" baseline="0" noProof="0" dirty="0" err="1">
                <a:ln>
                  <a:noFill/>
                </a:ln>
                <a:solidFill>
                  <a:prstClr val="white"/>
                </a:solidFill>
                <a:effectLst/>
                <a:uLnTx/>
                <a:uFillTx/>
                <a:latin typeface="Calibri"/>
                <a:ea typeface="+mn-ea"/>
                <a:cs typeface="Calibri"/>
              </a:rPr>
              <a:t>ןתמונת</a:t>
            </a:r>
            <a:r>
              <a:rPr kumimoji="0" lang="he-IL" sz="1600" b="1" i="0" u="none" strike="noStrike" kern="1200" cap="none" spc="0" normalizeH="0" baseline="0" noProof="0" dirty="0">
                <a:ln>
                  <a:noFill/>
                </a:ln>
                <a:solidFill>
                  <a:prstClr val="white"/>
                </a:solidFill>
                <a:effectLst/>
                <a:uLnTx/>
                <a:uFillTx/>
                <a:latin typeface="Calibri"/>
                <a:ea typeface="+mn-ea"/>
                <a:cs typeface="Calibri"/>
              </a:rPr>
              <a:t> מצב</a:t>
            </a:r>
          </a:p>
        </p:txBody>
      </p:sp>
      <p:sp>
        <p:nvSpPr>
          <p:cNvPr id="7" name="תיבת טקסט 6">
            <a:extLst>
              <a:ext uri="{FF2B5EF4-FFF2-40B4-BE49-F238E27FC236}">
                <a16:creationId xmlns:a16="http://schemas.microsoft.com/office/drawing/2014/main" id="{443B8AC8-0D01-3B4C-448C-1F7EF0AD8A75}"/>
              </a:ext>
            </a:extLst>
          </p:cNvPr>
          <p:cNvSpPr txBox="1"/>
          <p:nvPr/>
        </p:nvSpPr>
        <p:spPr>
          <a:xfrm>
            <a:off x="5964583" y="371374"/>
            <a:ext cx="5303482" cy="523220"/>
          </a:xfrm>
          <a:prstGeom prst="rect">
            <a:avLst/>
          </a:prstGeom>
          <a:noFill/>
        </p:spPr>
        <p:txBody>
          <a:bodyPr wrap="square" rtlCol="1">
            <a:spAutoFit/>
          </a:bodyPr>
          <a:lstStyle/>
          <a:p>
            <a:pPr algn="r" rtl="1"/>
            <a:r>
              <a:rPr lang="he-IL" sz="2800" b="1" dirty="0"/>
              <a:t>ההשלכות והמשבר בסיעוד:</a:t>
            </a:r>
          </a:p>
        </p:txBody>
      </p:sp>
      <p:sp>
        <p:nvSpPr>
          <p:cNvPr id="12" name="תיבת טקסט 11">
            <a:extLst>
              <a:ext uri="{FF2B5EF4-FFF2-40B4-BE49-F238E27FC236}">
                <a16:creationId xmlns:a16="http://schemas.microsoft.com/office/drawing/2014/main" id="{8DA4FBA9-53BA-F3E0-2F6C-0A557399D4E2}"/>
              </a:ext>
            </a:extLst>
          </p:cNvPr>
          <p:cNvSpPr txBox="1"/>
          <p:nvPr/>
        </p:nvSpPr>
        <p:spPr>
          <a:xfrm>
            <a:off x="8761904" y="362535"/>
            <a:ext cx="184731" cy="461665"/>
          </a:xfrm>
          <a:prstGeom prst="rect">
            <a:avLst/>
          </a:prstGeom>
          <a:noFill/>
        </p:spPr>
        <p:txBody>
          <a:bodyPr wrap="none" rtlCol="1">
            <a:spAutoFit/>
          </a:bodyPr>
          <a:lstStyle/>
          <a:p>
            <a:pPr algn="r" rtl="1"/>
            <a:endParaRPr lang="he-IL" sz="2400" b="1" dirty="0"/>
          </a:p>
        </p:txBody>
      </p:sp>
      <p:pic>
        <p:nvPicPr>
          <p:cNvPr id="9" name="תמונה 8">
            <a:extLst>
              <a:ext uri="{FF2B5EF4-FFF2-40B4-BE49-F238E27FC236}">
                <a16:creationId xmlns:a16="http://schemas.microsoft.com/office/drawing/2014/main" id="{6A75C04C-C1E3-C38D-8EF1-452AE6E225C8}"/>
              </a:ext>
            </a:extLst>
          </p:cNvPr>
          <p:cNvPicPr>
            <a:picLocks noChangeAspect="1"/>
          </p:cNvPicPr>
          <p:nvPr/>
        </p:nvPicPr>
        <p:blipFill>
          <a:blip r:embed="rId3"/>
          <a:stretch>
            <a:fillRect/>
          </a:stretch>
        </p:blipFill>
        <p:spPr>
          <a:xfrm>
            <a:off x="7557080" y="2779725"/>
            <a:ext cx="3710985" cy="1640582"/>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grpSp>
        <p:nvGrpSpPr>
          <p:cNvPr id="16" name="קבוצה 15">
            <a:extLst>
              <a:ext uri="{FF2B5EF4-FFF2-40B4-BE49-F238E27FC236}">
                <a16:creationId xmlns:a16="http://schemas.microsoft.com/office/drawing/2014/main" id="{831C9107-37E4-0695-1F69-CDB251DBA90B}"/>
              </a:ext>
            </a:extLst>
          </p:cNvPr>
          <p:cNvGrpSpPr/>
          <p:nvPr/>
        </p:nvGrpSpPr>
        <p:grpSpPr>
          <a:xfrm>
            <a:off x="6439616" y="4952415"/>
            <a:ext cx="4828449" cy="1543050"/>
            <a:chOff x="678390" y="4414047"/>
            <a:chExt cx="6102798" cy="2081418"/>
          </a:xfrm>
        </p:grpSpPr>
        <p:pic>
          <p:nvPicPr>
            <p:cNvPr id="14" name="תמונה 13">
              <a:extLst>
                <a:ext uri="{FF2B5EF4-FFF2-40B4-BE49-F238E27FC236}">
                  <a16:creationId xmlns:a16="http://schemas.microsoft.com/office/drawing/2014/main" id="{9E757220-BCCD-633C-39F8-1B1F28DD4F08}"/>
                </a:ext>
              </a:extLst>
            </p:cNvPr>
            <p:cNvPicPr>
              <a:picLocks noChangeAspect="1"/>
            </p:cNvPicPr>
            <p:nvPr/>
          </p:nvPicPr>
          <p:blipFill>
            <a:blip r:embed="rId4"/>
            <a:stretch>
              <a:fillRect/>
            </a:stretch>
          </p:blipFill>
          <p:spPr>
            <a:xfrm>
              <a:off x="678390" y="4414047"/>
              <a:ext cx="6102798" cy="2081418"/>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15" name="מלבן 14">
              <a:extLst>
                <a:ext uri="{FF2B5EF4-FFF2-40B4-BE49-F238E27FC236}">
                  <a16:creationId xmlns:a16="http://schemas.microsoft.com/office/drawing/2014/main" id="{F574DF96-36F7-8451-852E-178E8F364E73}"/>
                </a:ext>
              </a:extLst>
            </p:cNvPr>
            <p:cNvSpPr/>
            <p:nvPr/>
          </p:nvSpPr>
          <p:spPr>
            <a:xfrm>
              <a:off x="678390" y="5657850"/>
              <a:ext cx="2162175" cy="828675"/>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dirty="0"/>
            </a:p>
          </p:txBody>
        </p:sp>
      </p:grpSp>
      <p:pic>
        <p:nvPicPr>
          <p:cNvPr id="24" name="תמונה 23">
            <a:extLst>
              <a:ext uri="{FF2B5EF4-FFF2-40B4-BE49-F238E27FC236}">
                <a16:creationId xmlns:a16="http://schemas.microsoft.com/office/drawing/2014/main" id="{70E773B1-3679-1E8C-F6A8-EF8C6A74C0E8}"/>
              </a:ext>
            </a:extLst>
          </p:cNvPr>
          <p:cNvPicPr>
            <a:picLocks noChangeAspect="1"/>
          </p:cNvPicPr>
          <p:nvPr/>
        </p:nvPicPr>
        <p:blipFill>
          <a:blip r:embed="rId5"/>
          <a:srcRect l="1835" t="1250" r="1939" b="1666"/>
          <a:stretch/>
        </p:blipFill>
        <p:spPr>
          <a:xfrm>
            <a:off x="1112565" y="880495"/>
            <a:ext cx="4501341" cy="561497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grpSp>
        <p:nvGrpSpPr>
          <p:cNvPr id="13" name="קבוצה 12">
            <a:extLst>
              <a:ext uri="{FF2B5EF4-FFF2-40B4-BE49-F238E27FC236}">
                <a16:creationId xmlns:a16="http://schemas.microsoft.com/office/drawing/2014/main" id="{D6FD1EE2-072A-471B-0E4C-31B92BDAEC45}"/>
              </a:ext>
            </a:extLst>
          </p:cNvPr>
          <p:cNvGrpSpPr/>
          <p:nvPr/>
        </p:nvGrpSpPr>
        <p:grpSpPr>
          <a:xfrm>
            <a:off x="7182063" y="1209343"/>
            <a:ext cx="4086003" cy="1038275"/>
            <a:chOff x="1509929" y="3990093"/>
            <a:chExt cx="4133816" cy="1338243"/>
          </a:xfrm>
        </p:grpSpPr>
        <p:pic>
          <p:nvPicPr>
            <p:cNvPr id="18" name="תמונה 17">
              <a:extLst>
                <a:ext uri="{FF2B5EF4-FFF2-40B4-BE49-F238E27FC236}">
                  <a16:creationId xmlns:a16="http://schemas.microsoft.com/office/drawing/2014/main" id="{A919B19F-485B-5C13-E766-E4088CF7C5B4}"/>
                </a:ext>
              </a:extLst>
            </p:cNvPr>
            <p:cNvPicPr>
              <a:picLocks noChangeAspect="1"/>
            </p:cNvPicPr>
            <p:nvPr/>
          </p:nvPicPr>
          <p:blipFill>
            <a:blip r:embed="rId6"/>
            <a:srcRect l="16248" t="92269"/>
            <a:stretch/>
          </p:blipFill>
          <p:spPr>
            <a:xfrm>
              <a:off x="1509929" y="5128296"/>
              <a:ext cx="4133816" cy="200040"/>
            </a:xfrm>
            <a:prstGeom prst="rect">
              <a:avLst/>
            </a:prstGeom>
            <a:ln w="38100" cap="sq">
              <a:noFill/>
              <a:prstDash val="solid"/>
              <a:miter lim="800000"/>
            </a:ln>
            <a:effectLst/>
          </p:spPr>
        </p:pic>
        <p:pic>
          <p:nvPicPr>
            <p:cNvPr id="6" name="תמונה 5">
              <a:extLst>
                <a:ext uri="{FF2B5EF4-FFF2-40B4-BE49-F238E27FC236}">
                  <a16:creationId xmlns:a16="http://schemas.microsoft.com/office/drawing/2014/main" id="{E9F39D5A-98C7-E8C3-F4A4-56B7FDD30500}"/>
                </a:ext>
              </a:extLst>
            </p:cNvPr>
            <p:cNvPicPr>
              <a:picLocks noChangeAspect="1"/>
            </p:cNvPicPr>
            <p:nvPr/>
          </p:nvPicPr>
          <p:blipFill>
            <a:blip r:embed="rId6"/>
            <a:srcRect l="16248" b="56011"/>
            <a:stretch/>
          </p:blipFill>
          <p:spPr>
            <a:xfrm>
              <a:off x="1509929" y="3990093"/>
              <a:ext cx="4133815" cy="1138203"/>
            </a:xfrm>
            <a:prstGeom prst="rect">
              <a:avLst/>
            </a:prstGeom>
            <a:ln w="38100" cap="sq">
              <a:noFill/>
              <a:prstDash val="solid"/>
              <a:miter lim="800000"/>
            </a:ln>
            <a:effectLst/>
          </p:spPr>
        </p:pic>
      </p:grpSp>
    </p:spTree>
    <p:extLst>
      <p:ext uri="{BB962C8B-B14F-4D97-AF65-F5344CB8AC3E}">
        <p14:creationId xmlns:p14="http://schemas.microsoft.com/office/powerpoint/2010/main" val="712528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aphicFrame>
        <p:nvGraphicFramePr>
          <p:cNvPr id="20" name="תרשים 19"/>
          <p:cNvGraphicFramePr>
            <a:graphicFrameLocks/>
          </p:cNvGraphicFramePr>
          <p:nvPr>
            <p:extLst>
              <p:ext uri="{D42A27DB-BD31-4B8C-83A1-F6EECF244321}">
                <p14:modId xmlns:p14="http://schemas.microsoft.com/office/powerpoint/2010/main" val="2437917948"/>
              </p:ext>
            </p:extLst>
          </p:nvPr>
        </p:nvGraphicFramePr>
        <p:xfrm>
          <a:off x="1940313" y="1491514"/>
          <a:ext cx="9960742" cy="4721545"/>
        </p:xfrm>
        <a:graphic>
          <a:graphicData uri="http://schemas.openxmlformats.org/drawingml/2006/chart">
            <c:chart xmlns:c="http://schemas.openxmlformats.org/drawingml/2006/chart" xmlns:r="http://schemas.openxmlformats.org/officeDocument/2006/relationships" r:id="rId3"/>
          </a:graphicData>
        </a:graphic>
      </p:graphicFrame>
      <p:sp>
        <p:nvSpPr>
          <p:cNvPr id="6" name="מלבן 5"/>
          <p:cNvSpPr/>
          <p:nvPr/>
        </p:nvSpPr>
        <p:spPr>
          <a:xfrm>
            <a:off x="3093" y="0"/>
            <a:ext cx="244547" cy="6857999"/>
          </a:xfrm>
          <a:prstGeom prst="rect">
            <a:avLst/>
          </a:prstGeom>
          <a:solidFill>
            <a:srgbClr val="8C8DC5"/>
          </a:solidFill>
          <a:ln>
            <a:solidFill>
              <a:srgbClr val="8C8DC5"/>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Calibri" panose="020F0502020204030204"/>
              <a:ea typeface="+mn-ea"/>
              <a:cs typeface="Arial" panose="020B0604020202020204" pitchFamily="34" charset="0"/>
            </a:endParaRPr>
          </a:p>
        </p:txBody>
      </p:sp>
      <p:pic>
        <p:nvPicPr>
          <p:cNvPr id="8" name="תמונה 7"/>
          <p:cNvPicPr>
            <a:picLocks noChangeAspect="1"/>
          </p:cNvPicPr>
          <p:nvPr/>
        </p:nvPicPr>
        <p:blipFill rotWithShape="1">
          <a:blip r:embed="rId4" cstate="print">
            <a:extLst>
              <a:ext uri="{28A0092B-C50C-407E-A947-70E740481C1C}">
                <a14:useLocalDpi xmlns:a14="http://schemas.microsoft.com/office/drawing/2010/main"/>
              </a:ext>
            </a:extLst>
          </a:blip>
          <a:srcRect/>
          <a:stretch/>
        </p:blipFill>
        <p:spPr>
          <a:xfrm>
            <a:off x="11144274" y="5883813"/>
            <a:ext cx="968886" cy="974186"/>
          </a:xfrm>
          <a:prstGeom prst="rect">
            <a:avLst/>
          </a:prstGeom>
        </p:spPr>
      </p:pic>
      <p:pic>
        <p:nvPicPr>
          <p:cNvPr id="11" name="תמונה 10" descr="C:\Users\USER\Downloads\עיצוב ללא שם (1).png"/>
          <p:cNvPicPr/>
          <p:nvPr/>
        </p:nvPicPr>
        <p:blipFill rotWithShape="1">
          <a:blip r:embed="rId5" cstate="print">
            <a:extLst>
              <a:ext uri="{28A0092B-C50C-407E-A947-70E740481C1C}">
                <a14:useLocalDpi xmlns:a14="http://schemas.microsoft.com/office/drawing/2010/main"/>
              </a:ext>
            </a:extLst>
          </a:blip>
          <a:srcRect/>
          <a:stretch/>
        </p:blipFill>
        <p:spPr bwMode="auto">
          <a:xfrm>
            <a:off x="9547534" y="6065845"/>
            <a:ext cx="1573183" cy="704047"/>
          </a:xfrm>
          <a:prstGeom prst="rect">
            <a:avLst/>
          </a:prstGeom>
          <a:noFill/>
          <a:ln>
            <a:noFill/>
          </a:ln>
          <a:extLst>
            <a:ext uri="{53640926-AAD7-44D8-BBD7-CCE9431645EC}">
              <a14:shadowObscured xmlns:a14="http://schemas.microsoft.com/office/drawing/2010/main"/>
            </a:ext>
          </a:extLst>
        </p:spPr>
      </p:pic>
      <p:sp>
        <p:nvSpPr>
          <p:cNvPr id="2" name="כותרת 1"/>
          <p:cNvSpPr>
            <a:spLocks noGrp="1"/>
          </p:cNvSpPr>
          <p:nvPr>
            <p:ph type="title"/>
          </p:nvPr>
        </p:nvSpPr>
        <p:spPr>
          <a:xfrm>
            <a:off x="3346516" y="36528"/>
            <a:ext cx="6600052" cy="1325563"/>
          </a:xfrm>
        </p:spPr>
        <p:txBody>
          <a:bodyPr>
            <a:normAutofit/>
          </a:bodyPr>
          <a:lstStyle/>
          <a:p>
            <a:r>
              <a:rPr lang="he-IL" sz="4000" b="1" dirty="0">
                <a:solidFill>
                  <a:srgbClr val="002060"/>
                </a:solidFill>
                <a:latin typeface="Arial" panose="020B0604020202020204" pitchFamily="34" charset="0"/>
                <a:ea typeface="+mn-ea"/>
                <a:cs typeface="Arial" panose="020B0604020202020204" pitchFamily="34" charset="0"/>
              </a:rPr>
              <a:t>השפעות רפורמת 2018</a:t>
            </a:r>
          </a:p>
        </p:txBody>
      </p:sp>
      <p:sp>
        <p:nvSpPr>
          <p:cNvPr id="9" name="Title 1">
            <a:extLst>
              <a:ext uri="{FF2B5EF4-FFF2-40B4-BE49-F238E27FC236}">
                <a16:creationId xmlns:a16="http://schemas.microsoft.com/office/drawing/2014/main" id="{E0DA82B0-6AAD-4FB1-8122-13E88F23FD3E}"/>
              </a:ext>
            </a:extLst>
          </p:cNvPr>
          <p:cNvSpPr txBox="1">
            <a:spLocks/>
          </p:cNvSpPr>
          <p:nvPr/>
        </p:nvSpPr>
        <p:spPr>
          <a:xfrm>
            <a:off x="1138463" y="6213059"/>
            <a:ext cx="9503232" cy="376239"/>
          </a:xfrm>
          <a:prstGeom prst="rect">
            <a:avLst/>
          </a:prstGeom>
        </p:spPr>
        <p:txBody>
          <a:bodyPr vert="horz" lIns="91440" tIns="45720" rIns="91440" bIns="45720" rtlCol="1" anchor="ctr">
            <a:noAutofit/>
          </a:bodyPr>
          <a:lstStyle>
            <a:lvl1pPr algn="r" defTabSz="914400" rtl="1" eaLnBrk="1" latinLnBrk="0" hangingPunct="1">
              <a:lnSpc>
                <a:spcPct val="80000"/>
              </a:lnSpc>
              <a:spcBef>
                <a:spcPct val="0"/>
              </a:spcBef>
              <a:buNone/>
              <a:defRPr sz="4800" kern="1200">
                <a:solidFill>
                  <a:schemeClr val="accent3"/>
                </a:solidFill>
                <a:latin typeface="Calibri" panose="020F0502020204030204" pitchFamily="34" charset="0"/>
                <a:ea typeface="+mj-ea"/>
                <a:cs typeface="Calibri" panose="020F0502020204030204" pitchFamily="34" charset="0"/>
              </a:defRPr>
            </a:lvl1pPr>
          </a:lstStyle>
          <a:p>
            <a:pPr marL="0" marR="0" lvl="0" indent="0" algn="r" defTabSz="914400" rtl="1" eaLnBrk="1" fontAlgn="auto" latinLnBrk="0" hangingPunct="1">
              <a:lnSpc>
                <a:spcPct val="80000"/>
              </a:lnSpc>
              <a:spcBef>
                <a:spcPct val="0"/>
              </a:spcBef>
              <a:spcAft>
                <a:spcPts val="0"/>
              </a:spcAft>
              <a:buClrTx/>
              <a:buSzTx/>
              <a:buFontTx/>
              <a:buNone/>
              <a:tabLst/>
              <a:defRPr/>
            </a:pPr>
            <a:endParaRPr kumimoji="0" lang="he-IL" sz="2400" b="0" i="0" u="none" strike="noStrike" kern="1200" cap="none" spc="0" normalizeH="0" baseline="0" noProof="0" dirty="0">
              <a:ln>
                <a:noFill/>
              </a:ln>
              <a:solidFill>
                <a:srgbClr val="FF0000"/>
              </a:solidFill>
              <a:effectLst/>
              <a:uLnTx/>
              <a:uFillTx/>
              <a:latin typeface="Arial" panose="020B0604020202020204" pitchFamily="34" charset="0"/>
              <a:ea typeface="+mj-ea"/>
              <a:cs typeface="Arial" panose="020B0604020202020204" pitchFamily="34" charset="0"/>
            </a:endParaRPr>
          </a:p>
        </p:txBody>
      </p:sp>
      <p:cxnSp>
        <p:nvCxnSpPr>
          <p:cNvPr id="7" name="מחבר ישר 6"/>
          <p:cNvCxnSpPr/>
          <p:nvPr/>
        </p:nvCxnSpPr>
        <p:spPr>
          <a:xfrm flipH="1">
            <a:off x="4166648" y="2321903"/>
            <a:ext cx="9426" cy="3280528"/>
          </a:xfrm>
          <a:prstGeom prst="line">
            <a:avLst/>
          </a:prstGeom>
        </p:spPr>
        <p:style>
          <a:lnRef idx="3">
            <a:schemeClr val="accent1"/>
          </a:lnRef>
          <a:fillRef idx="0">
            <a:schemeClr val="accent1"/>
          </a:fillRef>
          <a:effectRef idx="2">
            <a:schemeClr val="accent1"/>
          </a:effectRef>
          <a:fontRef idx="minor">
            <a:schemeClr val="tx1"/>
          </a:fontRef>
        </p:style>
      </p:cxnSp>
      <p:sp>
        <p:nvSpPr>
          <p:cNvPr id="17" name="TextBox 10"/>
          <p:cNvSpPr txBox="1"/>
          <p:nvPr/>
        </p:nvSpPr>
        <p:spPr>
          <a:xfrm>
            <a:off x="2788773" y="1509305"/>
            <a:ext cx="771023" cy="340519"/>
          </a:xfrm>
          <a:prstGeom prst="wedgeRoundRectCallout">
            <a:avLst/>
          </a:prstGeom>
          <a:noFill/>
          <a:ln>
            <a:solidFill>
              <a:schemeClr val="bg2">
                <a:lumMod val="75000"/>
              </a:schemeClr>
            </a:solidFill>
          </a:ln>
        </p:spPr>
        <p:style>
          <a:lnRef idx="0">
            <a:scrgbClr r="0" g="0" b="0"/>
          </a:lnRef>
          <a:fillRef idx="0">
            <a:scrgbClr r="0" g="0" b="0"/>
          </a:fillRef>
          <a:effectRef idx="0">
            <a:scrgbClr r="0" g="0" b="0"/>
          </a:effectRef>
          <a:fontRef idx="minor">
            <a:schemeClr val="tx1"/>
          </a:fontRef>
        </p:style>
        <p:txBody>
          <a:bodyPr wrap="square" rtlCol="1" anchor="t">
            <a:sp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400" b="1" i="0" u="none" strike="noStrike" kern="1200" cap="none" spc="0" normalizeH="0" baseline="0" noProof="0" dirty="0">
                <a:ln>
                  <a:noFill/>
                </a:ln>
                <a:solidFill>
                  <a:srgbClr val="002060"/>
                </a:solidFill>
                <a:effectLst/>
                <a:uLnTx/>
                <a:uFillTx/>
                <a:latin typeface="Arial" panose="020B0604020202020204" pitchFamily="34" charset="0"/>
                <a:ea typeface="+mn-ea"/>
                <a:cs typeface="Arial" panose="020B0604020202020204" pitchFamily="34" charset="0"/>
              </a:rPr>
              <a:t>פי 2.5</a:t>
            </a:r>
          </a:p>
        </p:txBody>
      </p:sp>
      <p:sp>
        <p:nvSpPr>
          <p:cNvPr id="18" name="TextBox 10"/>
          <p:cNvSpPr txBox="1"/>
          <p:nvPr/>
        </p:nvSpPr>
        <p:spPr>
          <a:xfrm>
            <a:off x="6535949" y="4051144"/>
            <a:ext cx="769469" cy="340519"/>
          </a:xfrm>
          <a:prstGeom prst="wedgeRoundRectCallout">
            <a:avLst/>
          </a:prstGeom>
          <a:noFill/>
          <a:ln>
            <a:solidFill>
              <a:schemeClr val="bg2">
                <a:lumMod val="75000"/>
              </a:schemeClr>
            </a:solidFill>
          </a:ln>
        </p:spPr>
        <p:style>
          <a:lnRef idx="0">
            <a:scrgbClr r="0" g="0" b="0"/>
          </a:lnRef>
          <a:fillRef idx="0">
            <a:scrgbClr r="0" g="0" b="0"/>
          </a:fillRef>
          <a:effectRef idx="0">
            <a:scrgbClr r="0" g="0" b="0"/>
          </a:effectRef>
          <a:fontRef idx="minor">
            <a:schemeClr val="tx1"/>
          </a:fontRef>
        </p:style>
        <p:txBody>
          <a:bodyPr wrap="square" rtlCol="1" anchor="t">
            <a:sp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400" b="1" i="0" u="none" strike="noStrike" kern="1200" cap="none" spc="0" normalizeH="0" baseline="0" noProof="0" dirty="0">
                <a:ln>
                  <a:noFill/>
                </a:ln>
                <a:solidFill>
                  <a:srgbClr val="002060"/>
                </a:solidFill>
                <a:effectLst/>
                <a:uLnTx/>
                <a:uFillTx/>
                <a:latin typeface="Arial" panose="020B0604020202020204" pitchFamily="34" charset="0"/>
                <a:ea typeface="+mn-ea"/>
                <a:cs typeface="Arial" panose="020B0604020202020204" pitchFamily="34" charset="0"/>
              </a:rPr>
              <a:t>פי 22</a:t>
            </a:r>
          </a:p>
        </p:txBody>
      </p:sp>
      <p:sp>
        <p:nvSpPr>
          <p:cNvPr id="22" name="Rectangle 7">
            <a:extLst>
              <a:ext uri="{FF2B5EF4-FFF2-40B4-BE49-F238E27FC236}">
                <a16:creationId xmlns:a16="http://schemas.microsoft.com/office/drawing/2014/main" id="{46AD47CF-DF28-4A8A-A9B9-814AB784C8A4}"/>
              </a:ext>
            </a:extLst>
          </p:cNvPr>
          <p:cNvSpPr/>
          <p:nvPr/>
        </p:nvSpPr>
        <p:spPr>
          <a:xfrm>
            <a:off x="492301" y="165952"/>
            <a:ext cx="3424334" cy="478990"/>
          </a:xfrm>
          <a:prstGeom prst="rect">
            <a:avLst/>
          </a:prstGeom>
          <a:solidFill>
            <a:srgbClr val="0070C0"/>
          </a:solidFill>
          <a:ln>
            <a:noFill/>
          </a:ln>
        </p:spPr>
        <p:style>
          <a:lnRef idx="0">
            <a:scrgbClr r="0" g="0" b="0"/>
          </a:lnRef>
          <a:fillRef idx="0">
            <a:scrgbClr r="0" g="0" b="0"/>
          </a:fillRef>
          <a:effectRef idx="0">
            <a:scrgbClr r="0" g="0" b="0"/>
          </a:effectRef>
          <a:fontRef idx="minor">
            <a:schemeClr val="lt1"/>
          </a:fontRef>
        </p:style>
        <p:txBody>
          <a:bodyPr rtlCol="1"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0" i="0" u="none" strike="noStrike" kern="1200" cap="none" spc="0" normalizeH="0" baseline="0" noProof="0" dirty="0">
                <a:ln>
                  <a:noFill/>
                </a:ln>
                <a:solidFill>
                  <a:prstClr val="white"/>
                </a:solidFill>
                <a:effectLst/>
                <a:uLnTx/>
                <a:uFillTx/>
                <a:latin typeface="Calibri" panose="020F0502020204030204"/>
                <a:ea typeface="+mn-ea"/>
                <a:cs typeface="Arial" panose="020B0604020202020204" pitchFamily="34" charset="0"/>
              </a:rPr>
              <a:t>מעל 11 מיליארד מחולק בכסף </a:t>
            </a:r>
          </a:p>
        </p:txBody>
      </p:sp>
      <p:sp>
        <p:nvSpPr>
          <p:cNvPr id="12" name="מלבן 11"/>
          <p:cNvSpPr/>
          <p:nvPr/>
        </p:nvSpPr>
        <p:spPr>
          <a:xfrm>
            <a:off x="3093" y="0"/>
            <a:ext cx="244547" cy="6857999"/>
          </a:xfrm>
          <a:prstGeom prst="rect">
            <a:avLst/>
          </a:prstGeom>
          <a:solidFill>
            <a:srgbClr val="2980B9"/>
          </a:solidFill>
          <a:ln w="12700" cap="flat" cmpd="sng" algn="ctr">
            <a:solidFill>
              <a:srgbClr val="2CC2E0"/>
            </a:solidFill>
            <a:prstDash val="solid"/>
            <a:miter lim="800000"/>
          </a:ln>
          <a:effectLst/>
        </p:spPr>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0" cap="none" spc="0" normalizeH="0" baseline="0" noProof="0">
              <a:ln>
                <a:noFill/>
              </a:ln>
              <a:solidFill>
                <a:prstClr val="white"/>
              </a:solidFill>
              <a:effectLst/>
              <a:uLnTx/>
              <a:uFillTx/>
              <a:latin typeface="Calibri"/>
              <a:ea typeface="+mn-ea"/>
              <a:cs typeface="Calibri"/>
            </a:endParaRPr>
          </a:p>
        </p:txBody>
      </p:sp>
      <p:sp>
        <p:nvSpPr>
          <p:cNvPr id="13" name="TextBox 12"/>
          <p:cNvSpPr txBox="1"/>
          <p:nvPr/>
        </p:nvSpPr>
        <p:spPr>
          <a:xfrm rot="16200000">
            <a:off x="-623448" y="606396"/>
            <a:ext cx="1478289" cy="338554"/>
          </a:xfrm>
          <a:prstGeom prst="rect">
            <a:avLst/>
          </a:prstGeom>
          <a:noFill/>
        </p:spPr>
        <p:txBody>
          <a:bodyPr wrap="non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1" i="0" u="none" strike="noStrike" kern="1200" cap="none" spc="0" normalizeH="0" baseline="0" noProof="0" dirty="0">
                <a:ln>
                  <a:noFill/>
                </a:ln>
                <a:solidFill>
                  <a:prstClr val="white"/>
                </a:solidFill>
                <a:effectLst/>
                <a:uLnTx/>
                <a:uFillTx/>
                <a:latin typeface="Calibri" panose="020F0502020204030204"/>
                <a:ea typeface="+mn-ea"/>
                <a:cs typeface="Calibri"/>
              </a:rPr>
              <a:t>רקע </a:t>
            </a:r>
            <a:r>
              <a:rPr kumimoji="0" lang="he-IL" sz="1600" b="1" i="0" u="none" strike="noStrike" kern="1200" cap="none" spc="0" normalizeH="0" baseline="0" noProof="0" dirty="0" err="1">
                <a:ln>
                  <a:noFill/>
                </a:ln>
                <a:solidFill>
                  <a:prstClr val="white"/>
                </a:solidFill>
                <a:effectLst/>
                <a:uLnTx/>
                <a:uFillTx/>
                <a:latin typeface="Calibri" panose="020F0502020204030204"/>
                <a:ea typeface="+mn-ea"/>
                <a:cs typeface="Calibri"/>
              </a:rPr>
              <a:t>ןתמונת</a:t>
            </a:r>
            <a:r>
              <a:rPr kumimoji="0" lang="he-IL" sz="1600" b="1" i="0" u="none" strike="noStrike" kern="1200" cap="none" spc="0" normalizeH="0" baseline="0" noProof="0" dirty="0">
                <a:ln>
                  <a:noFill/>
                </a:ln>
                <a:solidFill>
                  <a:prstClr val="white"/>
                </a:solidFill>
                <a:effectLst/>
                <a:uLnTx/>
                <a:uFillTx/>
                <a:latin typeface="Calibri" panose="020F0502020204030204"/>
                <a:ea typeface="+mn-ea"/>
                <a:cs typeface="Calibri"/>
              </a:rPr>
              <a:t> מצב</a:t>
            </a:r>
          </a:p>
        </p:txBody>
      </p:sp>
    </p:spTree>
    <p:extLst>
      <p:ext uri="{BB962C8B-B14F-4D97-AF65-F5344CB8AC3E}">
        <p14:creationId xmlns:p14="http://schemas.microsoft.com/office/powerpoint/2010/main" val="42550896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F7778FBB-1903-1F57-3490-7DC7484B1CA7}"/>
            </a:ext>
          </a:extLst>
        </p:cNvPr>
        <p:cNvGrpSpPr/>
        <p:nvPr/>
      </p:nvGrpSpPr>
      <p:grpSpPr>
        <a:xfrm>
          <a:off x="0" y="0"/>
          <a:ext cx="0" cy="0"/>
          <a:chOff x="0" y="0"/>
          <a:chExt cx="0" cy="0"/>
        </a:xfrm>
      </p:grpSpPr>
      <p:sp>
        <p:nvSpPr>
          <p:cNvPr id="6" name="מלבן 5">
            <a:extLst>
              <a:ext uri="{FF2B5EF4-FFF2-40B4-BE49-F238E27FC236}">
                <a16:creationId xmlns:a16="http://schemas.microsoft.com/office/drawing/2014/main" id="{007D5769-54A2-74AF-B16F-9EF808DF7FB6}"/>
              </a:ext>
            </a:extLst>
          </p:cNvPr>
          <p:cNvSpPr/>
          <p:nvPr/>
        </p:nvSpPr>
        <p:spPr>
          <a:xfrm>
            <a:off x="3093" y="0"/>
            <a:ext cx="244547" cy="6857999"/>
          </a:xfrm>
          <a:prstGeom prst="rect">
            <a:avLst/>
          </a:prstGeom>
          <a:solidFill>
            <a:srgbClr val="8C8DC5"/>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srgbClr val="527FC4"/>
              </a:solidFill>
              <a:effectLst/>
              <a:uLnTx/>
              <a:uFillTx/>
              <a:latin typeface="Calibri" panose="020F0502020204030204"/>
              <a:ea typeface="+mn-ea"/>
              <a:cs typeface="Arial" panose="020B0604020202020204" pitchFamily="34" charset="0"/>
            </a:endParaRPr>
          </a:p>
        </p:txBody>
      </p:sp>
      <p:graphicFrame>
        <p:nvGraphicFramePr>
          <p:cNvPr id="5" name="טבלה 4">
            <a:extLst>
              <a:ext uri="{FF2B5EF4-FFF2-40B4-BE49-F238E27FC236}">
                <a16:creationId xmlns:a16="http://schemas.microsoft.com/office/drawing/2014/main" id="{C0EFC859-1CBB-691D-9E73-D6DE33C581DD}"/>
              </a:ext>
            </a:extLst>
          </p:cNvPr>
          <p:cNvGraphicFramePr>
            <a:graphicFrameLocks noGrp="1"/>
          </p:cNvGraphicFramePr>
          <p:nvPr>
            <p:extLst>
              <p:ext uri="{D42A27DB-BD31-4B8C-83A1-F6EECF244321}">
                <p14:modId xmlns:p14="http://schemas.microsoft.com/office/powerpoint/2010/main" val="515665582"/>
              </p:ext>
            </p:extLst>
          </p:nvPr>
        </p:nvGraphicFramePr>
        <p:xfrm>
          <a:off x="1954882" y="2484945"/>
          <a:ext cx="8128000" cy="1376680"/>
        </p:xfrm>
        <a:graphic>
          <a:graphicData uri="http://schemas.openxmlformats.org/drawingml/2006/table">
            <a:tbl>
              <a:tblPr rtl="1" firstRow="1" bandRow="1">
                <a:tableStyleId>{5C22544A-7EE6-4342-B048-85BDC9FD1C3A}</a:tableStyleId>
              </a:tblPr>
              <a:tblGrid>
                <a:gridCol w="1864412">
                  <a:extLst>
                    <a:ext uri="{9D8B030D-6E8A-4147-A177-3AD203B41FA5}">
                      <a16:colId xmlns:a16="http://schemas.microsoft.com/office/drawing/2014/main" val="3096615907"/>
                    </a:ext>
                  </a:extLst>
                </a:gridCol>
                <a:gridCol w="2199588">
                  <a:extLst>
                    <a:ext uri="{9D8B030D-6E8A-4147-A177-3AD203B41FA5}">
                      <a16:colId xmlns:a16="http://schemas.microsoft.com/office/drawing/2014/main" val="2141136333"/>
                    </a:ext>
                  </a:extLst>
                </a:gridCol>
                <a:gridCol w="1495720">
                  <a:extLst>
                    <a:ext uri="{9D8B030D-6E8A-4147-A177-3AD203B41FA5}">
                      <a16:colId xmlns:a16="http://schemas.microsoft.com/office/drawing/2014/main" val="877654959"/>
                    </a:ext>
                  </a:extLst>
                </a:gridCol>
                <a:gridCol w="2568280">
                  <a:extLst>
                    <a:ext uri="{9D8B030D-6E8A-4147-A177-3AD203B41FA5}">
                      <a16:colId xmlns:a16="http://schemas.microsoft.com/office/drawing/2014/main" val="3524324189"/>
                    </a:ext>
                  </a:extLst>
                </a:gridCol>
              </a:tblGrid>
              <a:tr h="370840">
                <a:tc>
                  <a:txBody>
                    <a:bodyPr/>
                    <a:lstStyle/>
                    <a:p>
                      <a:pPr algn="ctr" rtl="1"/>
                      <a:r>
                        <a:rPr lang="he-IL" b="1" dirty="0"/>
                        <a:t>השנה</a:t>
                      </a:r>
                    </a:p>
                  </a:txBody>
                  <a:tcPr/>
                </a:tc>
                <a:tc>
                  <a:txBody>
                    <a:bodyPr/>
                    <a:lstStyle/>
                    <a:p>
                      <a:pPr algn="ctr" rtl="1"/>
                      <a:r>
                        <a:rPr lang="he-IL" b="1" dirty="0"/>
                        <a:t>ההשקעה</a:t>
                      </a:r>
                    </a:p>
                  </a:txBody>
                  <a:tcPr/>
                </a:tc>
                <a:tc>
                  <a:txBody>
                    <a:bodyPr/>
                    <a:lstStyle/>
                    <a:p>
                      <a:pPr algn="ctr" rtl="1"/>
                      <a:r>
                        <a:rPr lang="he-IL" sz="1600" b="1" dirty="0"/>
                        <a:t>מספר הזכאים</a:t>
                      </a:r>
                      <a:endParaRPr lang="he-IL" b="1" dirty="0"/>
                    </a:p>
                  </a:txBody>
                  <a:tcPr/>
                </a:tc>
                <a:tc>
                  <a:txBody>
                    <a:bodyPr/>
                    <a:lstStyle/>
                    <a:p>
                      <a:pPr algn="ctr" rtl="1"/>
                      <a:r>
                        <a:rPr lang="he-IL" b="1" dirty="0"/>
                        <a:t>הבחירה האפשרית</a:t>
                      </a:r>
                    </a:p>
                  </a:txBody>
                  <a:tcPr/>
                </a:tc>
                <a:extLst>
                  <a:ext uri="{0D108BD9-81ED-4DB2-BD59-A6C34878D82A}">
                    <a16:rowId xmlns:a16="http://schemas.microsoft.com/office/drawing/2014/main" val="3801169514"/>
                  </a:ext>
                </a:extLst>
              </a:tr>
              <a:tr h="370840">
                <a:tc>
                  <a:txBody>
                    <a:bodyPr/>
                    <a:lstStyle/>
                    <a:p>
                      <a:pPr algn="ctr" rtl="1"/>
                      <a:r>
                        <a:rPr lang="he-IL" b="1" dirty="0"/>
                        <a:t>2018</a:t>
                      </a:r>
                    </a:p>
                  </a:txBody>
                  <a:tcPr/>
                </a:tc>
                <a:tc>
                  <a:txBody>
                    <a:bodyPr/>
                    <a:lstStyle/>
                    <a:p>
                      <a:pPr algn="ctr" rtl="1"/>
                      <a:r>
                        <a:rPr lang="he-IL" b="1" dirty="0"/>
                        <a:t>7 מיליארד ₪</a:t>
                      </a:r>
                    </a:p>
                  </a:txBody>
                  <a:tcPr/>
                </a:tc>
                <a:tc>
                  <a:txBody>
                    <a:bodyPr/>
                    <a:lstStyle/>
                    <a:p>
                      <a:pPr algn="ctr" rtl="1"/>
                      <a:r>
                        <a:rPr lang="he-IL" b="1" dirty="0"/>
                        <a:t>175,000</a:t>
                      </a:r>
                    </a:p>
                  </a:txBody>
                  <a:tcPr/>
                </a:tc>
                <a:tc rowSpan="2">
                  <a:txBody>
                    <a:bodyPr/>
                    <a:lstStyle/>
                    <a:p>
                      <a:pPr algn="ctr" rtl="1"/>
                      <a:r>
                        <a:rPr lang="he-IL" sz="2000" b="1" dirty="0"/>
                        <a:t>מטפלת-73%</a:t>
                      </a:r>
                    </a:p>
                    <a:p>
                      <a:pPr algn="ctr" rtl="1"/>
                      <a:r>
                        <a:rPr lang="he-IL" sz="2000" b="1" dirty="0"/>
                        <a:t>כסף- 23%</a:t>
                      </a:r>
                    </a:p>
                    <a:p>
                      <a:pPr algn="ctr" rtl="1"/>
                      <a:r>
                        <a:rPr lang="he-IL" sz="2000" b="1" dirty="0"/>
                        <a:t>מרכז יום- 2%</a:t>
                      </a:r>
                    </a:p>
                  </a:txBody>
                  <a:tcPr/>
                </a:tc>
                <a:extLst>
                  <a:ext uri="{0D108BD9-81ED-4DB2-BD59-A6C34878D82A}">
                    <a16:rowId xmlns:a16="http://schemas.microsoft.com/office/drawing/2014/main" val="604244769"/>
                  </a:ext>
                </a:extLst>
              </a:tr>
              <a:tr h="370840">
                <a:tc>
                  <a:txBody>
                    <a:bodyPr/>
                    <a:lstStyle/>
                    <a:p>
                      <a:pPr algn="ctr" rtl="1"/>
                      <a:r>
                        <a:rPr lang="he-IL" b="1" dirty="0"/>
                        <a:t>2024</a:t>
                      </a:r>
                    </a:p>
                  </a:txBody>
                  <a:tcPr/>
                </a:tc>
                <a:tc>
                  <a:txBody>
                    <a:bodyPr/>
                    <a:lstStyle/>
                    <a:p>
                      <a:pPr algn="ctr" rtl="1"/>
                      <a:r>
                        <a:rPr lang="en-US" b="1" dirty="0"/>
                        <a:t>1</a:t>
                      </a:r>
                      <a:r>
                        <a:rPr lang="he-IL" b="1" dirty="0"/>
                        <a:t>8 מיליארד ₪ </a:t>
                      </a:r>
                    </a:p>
                  </a:txBody>
                  <a:tcPr/>
                </a:tc>
                <a:tc>
                  <a:txBody>
                    <a:bodyPr/>
                    <a:lstStyle/>
                    <a:p>
                      <a:pPr algn="ctr" rtl="1"/>
                      <a:r>
                        <a:rPr lang="he-IL" b="1" dirty="0"/>
                        <a:t>380,000</a:t>
                      </a:r>
                    </a:p>
                  </a:txBody>
                  <a:tcPr/>
                </a:tc>
                <a:tc vMerge="1">
                  <a:txBody>
                    <a:bodyPr/>
                    <a:lstStyle/>
                    <a:p>
                      <a:pPr algn="ctr" rtl="1"/>
                      <a:endParaRPr lang="he-IL" b="1" dirty="0"/>
                    </a:p>
                  </a:txBody>
                  <a:tcPr/>
                </a:tc>
                <a:extLst>
                  <a:ext uri="{0D108BD9-81ED-4DB2-BD59-A6C34878D82A}">
                    <a16:rowId xmlns:a16="http://schemas.microsoft.com/office/drawing/2014/main" val="3563191535"/>
                  </a:ext>
                </a:extLst>
              </a:tr>
            </a:tbl>
          </a:graphicData>
        </a:graphic>
      </p:graphicFrame>
      <p:sp>
        <p:nvSpPr>
          <p:cNvPr id="8" name="מלבן 7">
            <a:extLst>
              <a:ext uri="{FF2B5EF4-FFF2-40B4-BE49-F238E27FC236}">
                <a16:creationId xmlns:a16="http://schemas.microsoft.com/office/drawing/2014/main" id="{DF0E1C70-7628-5D32-4812-ED7D90BD30DE}"/>
              </a:ext>
            </a:extLst>
          </p:cNvPr>
          <p:cNvSpPr/>
          <p:nvPr/>
        </p:nvSpPr>
        <p:spPr>
          <a:xfrm>
            <a:off x="1868274" y="3823522"/>
            <a:ext cx="8301216" cy="646331"/>
          </a:xfrm>
          <a:prstGeom prst="rect">
            <a:avLst/>
          </a:prstGeom>
          <a:ln w="12700">
            <a:solidFill>
              <a:schemeClr val="bg1"/>
            </a:solidFill>
          </a:ln>
        </p:spPr>
        <p:style>
          <a:lnRef idx="2">
            <a:schemeClr val="accent5"/>
          </a:lnRef>
          <a:fillRef idx="1">
            <a:schemeClr val="lt1"/>
          </a:fillRef>
          <a:effectRef idx="0">
            <a:schemeClr val="accent5"/>
          </a:effectRef>
          <a:fontRef idx="minor">
            <a:schemeClr val="dk1"/>
          </a:fontRef>
        </p:style>
        <p:txBody>
          <a:bodyPr wrap="square" lIns="91440" tIns="45720" rIns="91440" bIns="4572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3600" b="1" i="0" u="none" strike="noStrike" kern="1200" cap="none" spc="0" normalizeH="0" baseline="0" noProof="0" dirty="0">
                <a:ln w="0"/>
                <a:solidFill>
                  <a:srgbClr val="5B9BD5">
                    <a:lumMod val="75000"/>
                  </a:srgbClr>
                </a:solidFill>
                <a:effectLst>
                  <a:outerShdw blurRad="38100" dist="25400" dir="5400000" algn="ctr" rotWithShape="0">
                    <a:srgbClr val="6E747A">
                      <a:alpha val="43000"/>
                    </a:srgbClr>
                  </a:outerShdw>
                </a:effectLst>
                <a:uLnTx/>
                <a:uFillTx/>
                <a:latin typeface="Calibri" panose="020F0502020204030204"/>
                <a:ea typeface="+mn-ea"/>
                <a:cs typeface="Arial" panose="020B0604020202020204" pitchFamily="34" charset="0"/>
              </a:rPr>
              <a:t>ישראל משקיעה הכי הרבה, והתוצאות?</a:t>
            </a:r>
          </a:p>
        </p:txBody>
      </p:sp>
      <p:sp>
        <p:nvSpPr>
          <p:cNvPr id="18" name="תיבת טקסט 17">
            <a:extLst>
              <a:ext uri="{FF2B5EF4-FFF2-40B4-BE49-F238E27FC236}">
                <a16:creationId xmlns:a16="http://schemas.microsoft.com/office/drawing/2014/main" id="{461E4C1F-2142-6570-D6F2-9CB71F00AE14}"/>
              </a:ext>
            </a:extLst>
          </p:cNvPr>
          <p:cNvSpPr txBox="1"/>
          <p:nvPr/>
        </p:nvSpPr>
        <p:spPr>
          <a:xfrm>
            <a:off x="2868058" y="1530838"/>
            <a:ext cx="6301648" cy="954107"/>
          </a:xfrm>
          <a:prstGeom prst="rect">
            <a:avLst/>
          </a:prstGeom>
          <a:noFill/>
        </p:spPr>
        <p:txBody>
          <a:bodyPr wrap="square">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800" b="1" i="0" u="none" strike="noStrike" kern="1200" cap="none" spc="0" normalizeH="0" baseline="0" noProof="0" dirty="0">
                <a:ln>
                  <a:noFill/>
                </a:ln>
                <a:solidFill>
                  <a:srgbClr val="44546A">
                    <a:lumMod val="75000"/>
                  </a:srgbClr>
                </a:solidFill>
                <a:effectLst/>
                <a:uLnTx/>
                <a:uFillTx/>
                <a:latin typeface="Calibri" panose="020F0502020204030204" pitchFamily="34" charset="0"/>
                <a:ea typeface="+mn-ea"/>
                <a:cs typeface="Calibri" panose="020F0502020204030204" pitchFamily="34" charset="0"/>
              </a:rPr>
              <a:t>רפורמת סיעוד 2018</a:t>
            </a:r>
          </a:p>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800" b="1" i="0" u="none" strike="noStrike" kern="1200" cap="none" spc="0" normalizeH="0" baseline="0" noProof="0" dirty="0">
                <a:ln>
                  <a:noFill/>
                </a:ln>
                <a:solidFill>
                  <a:srgbClr val="44546A">
                    <a:lumMod val="75000"/>
                  </a:srgbClr>
                </a:solidFill>
                <a:effectLst/>
                <a:uLnTx/>
                <a:uFillTx/>
                <a:latin typeface="Calibri" panose="020F0502020204030204" pitchFamily="34" charset="0"/>
                <a:ea typeface="+mn-ea"/>
                <a:cs typeface="Calibri" panose="020F0502020204030204" pitchFamily="34" charset="0"/>
              </a:rPr>
              <a:t>השקעה גבוהה, בחירה נמוכה, תוצאות?</a:t>
            </a:r>
          </a:p>
        </p:txBody>
      </p:sp>
      <p:sp>
        <p:nvSpPr>
          <p:cNvPr id="7" name="מלבן 6"/>
          <p:cNvSpPr/>
          <p:nvPr/>
        </p:nvSpPr>
        <p:spPr>
          <a:xfrm>
            <a:off x="3093" y="0"/>
            <a:ext cx="244547" cy="6857999"/>
          </a:xfrm>
          <a:prstGeom prst="rect">
            <a:avLst/>
          </a:prstGeom>
          <a:solidFill>
            <a:srgbClr val="2980B9"/>
          </a:solidFill>
          <a:ln w="12700" cap="flat" cmpd="sng" algn="ctr">
            <a:solidFill>
              <a:srgbClr val="2CC2E0"/>
            </a:solidFill>
            <a:prstDash val="solid"/>
            <a:miter lim="800000"/>
          </a:ln>
          <a:effectLst/>
        </p:spPr>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0" cap="none" spc="0" normalizeH="0" baseline="0" noProof="0">
              <a:ln>
                <a:noFill/>
              </a:ln>
              <a:solidFill>
                <a:prstClr val="white"/>
              </a:solidFill>
              <a:effectLst/>
              <a:uLnTx/>
              <a:uFillTx/>
              <a:latin typeface="Calibri"/>
              <a:ea typeface="+mn-ea"/>
              <a:cs typeface="Calibri"/>
            </a:endParaRPr>
          </a:p>
        </p:txBody>
      </p:sp>
      <p:sp>
        <p:nvSpPr>
          <p:cNvPr id="9" name="TextBox 8"/>
          <p:cNvSpPr txBox="1"/>
          <p:nvPr/>
        </p:nvSpPr>
        <p:spPr>
          <a:xfrm rot="16200000">
            <a:off x="-613779" y="569868"/>
            <a:ext cx="1478289" cy="338554"/>
          </a:xfrm>
          <a:prstGeom prst="rect">
            <a:avLst/>
          </a:prstGeom>
          <a:noFill/>
        </p:spPr>
        <p:txBody>
          <a:bodyPr wrap="non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1" i="0" u="none" strike="noStrike" kern="1200" cap="none" spc="0" normalizeH="0" baseline="0" noProof="0" dirty="0">
                <a:ln>
                  <a:noFill/>
                </a:ln>
                <a:solidFill>
                  <a:prstClr val="white"/>
                </a:solidFill>
                <a:effectLst/>
                <a:uLnTx/>
                <a:uFillTx/>
                <a:latin typeface="Calibri" panose="020F0502020204030204"/>
                <a:ea typeface="+mn-ea"/>
                <a:cs typeface="Calibri"/>
              </a:rPr>
              <a:t>רקע </a:t>
            </a:r>
            <a:r>
              <a:rPr kumimoji="0" lang="he-IL" sz="1600" b="1" i="0" u="none" strike="noStrike" kern="1200" cap="none" spc="0" normalizeH="0" baseline="0" noProof="0" dirty="0" err="1">
                <a:ln>
                  <a:noFill/>
                </a:ln>
                <a:solidFill>
                  <a:prstClr val="white"/>
                </a:solidFill>
                <a:effectLst/>
                <a:uLnTx/>
                <a:uFillTx/>
                <a:latin typeface="Calibri" panose="020F0502020204030204"/>
                <a:ea typeface="+mn-ea"/>
                <a:cs typeface="Calibri"/>
              </a:rPr>
              <a:t>ןתמונת</a:t>
            </a:r>
            <a:r>
              <a:rPr kumimoji="0" lang="he-IL" sz="1600" b="1" i="0" u="none" strike="noStrike" kern="1200" cap="none" spc="0" normalizeH="0" baseline="0" noProof="0" dirty="0">
                <a:ln>
                  <a:noFill/>
                </a:ln>
                <a:solidFill>
                  <a:prstClr val="white"/>
                </a:solidFill>
                <a:effectLst/>
                <a:uLnTx/>
                <a:uFillTx/>
                <a:latin typeface="Calibri" panose="020F0502020204030204"/>
                <a:ea typeface="+mn-ea"/>
                <a:cs typeface="Calibri"/>
              </a:rPr>
              <a:t> מצב</a:t>
            </a:r>
          </a:p>
        </p:txBody>
      </p:sp>
    </p:spTree>
    <p:extLst>
      <p:ext uri="{BB962C8B-B14F-4D97-AF65-F5344CB8AC3E}">
        <p14:creationId xmlns:p14="http://schemas.microsoft.com/office/powerpoint/2010/main" val="6027789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Text 3">
            <a:extLst>
              <a:ext uri="{FF2B5EF4-FFF2-40B4-BE49-F238E27FC236}">
                <a16:creationId xmlns:a16="http://schemas.microsoft.com/office/drawing/2014/main" id="{5BDC36F2-0B8D-4241-A254-A3A765B32305}"/>
              </a:ext>
            </a:extLst>
          </p:cNvPr>
          <p:cNvSpPr/>
          <p:nvPr/>
        </p:nvSpPr>
        <p:spPr>
          <a:xfrm>
            <a:off x="6089251" y="5221561"/>
            <a:ext cx="2412901" cy="302618"/>
          </a:xfrm>
          <a:prstGeom prst="rect">
            <a:avLst/>
          </a:prstGeom>
          <a:noFill/>
          <a:ln/>
        </p:spPr>
        <p:txBody>
          <a:bodyPr wrap="none" rtlCol="0" anchor="t"/>
          <a:lstStyle/>
          <a:p>
            <a:pPr marL="0" marR="0" lvl="0" indent="0" algn="r" defTabSz="914400" rtl="1" eaLnBrk="1" fontAlgn="auto" latinLnBrk="0" hangingPunct="1">
              <a:lnSpc>
                <a:spcPts val="2382"/>
              </a:lnSpc>
              <a:spcBef>
                <a:spcPts val="0"/>
              </a:spcBef>
              <a:spcAft>
                <a:spcPts val="0"/>
              </a:spcAft>
              <a:buClrTx/>
              <a:buSzTx/>
              <a:buFontTx/>
              <a:buNone/>
              <a:tabLst/>
              <a:defRPr/>
            </a:pPr>
            <a:r>
              <a:rPr kumimoji="0" lang="he-IL" sz="1906" b="1" i="0" u="none" strike="noStrike" kern="1200" cap="none" spc="0" normalizeH="0" baseline="0" noProof="0" dirty="0">
                <a:ln>
                  <a:noFill/>
                </a:ln>
                <a:solidFill>
                  <a:srgbClr val="0F6FC6"/>
                </a:solidFill>
                <a:effectLst/>
                <a:uLnTx/>
                <a:uFillTx/>
                <a:latin typeface="Assistant" pitchFamily="2" charset="-79"/>
                <a:ea typeface="Quattrocento" pitchFamily="34" charset="-122"/>
                <a:cs typeface="Assistant" pitchFamily="2" charset="-79"/>
              </a:rPr>
              <a:t>שיתוף נתונים</a:t>
            </a:r>
            <a:r>
              <a:rPr kumimoji="0" lang="en-US" sz="1906" b="1" i="0" u="none" strike="noStrike" kern="1200" cap="none" spc="0" normalizeH="0" baseline="0" noProof="0" dirty="0">
                <a:ln>
                  <a:noFill/>
                </a:ln>
                <a:solidFill>
                  <a:srgbClr val="0F6FC6"/>
                </a:solidFill>
                <a:effectLst/>
                <a:uLnTx/>
                <a:uFillTx/>
                <a:latin typeface="Assistant" pitchFamily="2" charset="-79"/>
                <a:ea typeface="Quattrocento" pitchFamily="34" charset="-122"/>
                <a:cs typeface="Assistant" pitchFamily="2" charset="-79"/>
              </a:rPr>
              <a:t> </a:t>
            </a:r>
            <a:endParaRPr kumimoji="0" lang="en-US" sz="1906" b="1" i="0" u="none" strike="noStrike" kern="1200" cap="none" spc="0" normalizeH="0" baseline="0" noProof="0" dirty="0">
              <a:ln>
                <a:noFill/>
              </a:ln>
              <a:solidFill>
                <a:srgbClr val="0F6FC6"/>
              </a:solidFill>
              <a:effectLst/>
              <a:uLnTx/>
              <a:uFillTx/>
              <a:latin typeface="Assistant" pitchFamily="2" charset="-79"/>
              <a:ea typeface="+mn-ea"/>
              <a:cs typeface="Assistant" pitchFamily="2" charset="-79"/>
            </a:endParaRPr>
          </a:p>
        </p:txBody>
      </p:sp>
      <p:sp>
        <p:nvSpPr>
          <p:cNvPr id="6" name="Text 4">
            <a:extLst>
              <a:ext uri="{FF2B5EF4-FFF2-40B4-BE49-F238E27FC236}">
                <a16:creationId xmlns:a16="http://schemas.microsoft.com/office/drawing/2014/main" id="{2403B928-EE33-401E-AA7B-E630A0D0EAD6}"/>
              </a:ext>
            </a:extLst>
          </p:cNvPr>
          <p:cNvSpPr/>
          <p:nvPr/>
        </p:nvSpPr>
        <p:spPr>
          <a:xfrm>
            <a:off x="3689847" y="5647606"/>
            <a:ext cx="4812305" cy="879060"/>
          </a:xfrm>
          <a:prstGeom prst="rect">
            <a:avLst/>
          </a:prstGeom>
          <a:noFill/>
          <a:ln/>
        </p:spPr>
        <p:txBody>
          <a:bodyPr wrap="square" rtlCol="0" anchor="t"/>
          <a:lstStyle/>
          <a:p>
            <a:pPr marL="0" marR="0" lvl="0" indent="0" algn="r" defTabSz="914400" rtl="1" eaLnBrk="1" fontAlgn="auto" latinLnBrk="0" hangingPunct="1">
              <a:lnSpc>
                <a:spcPts val="2592"/>
              </a:lnSpc>
              <a:spcBef>
                <a:spcPts val="0"/>
              </a:spcBef>
              <a:spcAft>
                <a:spcPts val="0"/>
              </a:spcAft>
              <a:buClrTx/>
              <a:buSzTx/>
              <a:buFontTx/>
              <a:buNone/>
              <a:tabLst/>
              <a:defRPr/>
            </a:pPr>
            <a:r>
              <a:rPr kumimoji="0" lang="he-IL" sz="1620" b="0" i="0" u="none" strike="noStrike" kern="1200" cap="none" spc="0" normalizeH="0" baseline="0" noProof="0" dirty="0">
                <a:ln>
                  <a:noFill/>
                </a:ln>
                <a:solidFill>
                  <a:prstClr val="black"/>
                </a:solidFill>
                <a:effectLst/>
                <a:uLnTx/>
                <a:uFillTx/>
                <a:latin typeface="Assistant" pitchFamily="2" charset="-79"/>
                <a:ea typeface="Quattrocento" pitchFamily="34" charset="-122"/>
                <a:cs typeface="Assistant" pitchFamily="2" charset="-79"/>
              </a:rPr>
              <a:t>פריצת החומות ושיתוף נתונים </a:t>
            </a:r>
            <a:r>
              <a:rPr kumimoji="0" lang="he-IL" sz="1620" b="0" i="0" u="none" strike="noStrike" kern="1200" cap="none" spc="0" normalizeH="0" baseline="0" noProof="0" dirty="0" err="1">
                <a:ln>
                  <a:noFill/>
                </a:ln>
                <a:solidFill>
                  <a:prstClr val="black"/>
                </a:solidFill>
                <a:effectLst/>
                <a:uLnTx/>
                <a:uFillTx/>
                <a:latin typeface="Assistant" pitchFamily="2" charset="-79"/>
                <a:ea typeface="Quattrocento" pitchFamily="34" charset="-122"/>
                <a:cs typeface="Assistant" pitchFamily="2" charset="-79"/>
              </a:rPr>
              <a:t>באקוסיסטם</a:t>
            </a:r>
            <a:r>
              <a:rPr kumimoji="0" lang="he-IL" sz="1620" b="0" i="0" u="none" strike="noStrike" kern="1200" cap="none" spc="0" normalizeH="0" baseline="0" noProof="0" dirty="0">
                <a:ln>
                  <a:noFill/>
                </a:ln>
                <a:solidFill>
                  <a:prstClr val="black"/>
                </a:solidFill>
                <a:effectLst/>
                <a:uLnTx/>
                <a:uFillTx/>
                <a:latin typeface="Assistant" pitchFamily="2" charset="-79"/>
                <a:ea typeface="Quattrocento" pitchFamily="34" charset="-122"/>
                <a:cs typeface="Assistant" pitchFamily="2" charset="-79"/>
              </a:rPr>
              <a:t> כבסיס לגיבוש תמונת מצב </a:t>
            </a:r>
            <a:r>
              <a:rPr kumimoji="0" lang="he-IL" sz="1620" b="0" i="0" u="none" strike="noStrike" kern="1200" cap="none" spc="0" normalizeH="0" baseline="0" noProof="0" dirty="0" err="1">
                <a:ln>
                  <a:noFill/>
                </a:ln>
                <a:solidFill>
                  <a:prstClr val="black"/>
                </a:solidFill>
                <a:effectLst/>
                <a:uLnTx/>
                <a:uFillTx/>
                <a:latin typeface="Assistant" pitchFamily="2" charset="-79"/>
                <a:ea typeface="Quattrocento" pitchFamily="34" charset="-122"/>
                <a:cs typeface="Assistant" pitchFamily="2" charset="-79"/>
              </a:rPr>
              <a:t>מדוייקת</a:t>
            </a:r>
            <a:r>
              <a:rPr kumimoji="0" lang="he-IL" sz="1620" b="0" i="0" u="none" strike="noStrike" kern="1200" cap="none" spc="0" normalizeH="0" baseline="0" noProof="0" dirty="0">
                <a:ln>
                  <a:noFill/>
                </a:ln>
                <a:solidFill>
                  <a:prstClr val="black"/>
                </a:solidFill>
                <a:effectLst/>
                <a:uLnTx/>
                <a:uFillTx/>
                <a:latin typeface="Assistant" pitchFamily="2" charset="-79"/>
                <a:ea typeface="Quattrocento" pitchFamily="34" charset="-122"/>
                <a:cs typeface="Assistant" pitchFamily="2" charset="-79"/>
              </a:rPr>
              <a:t>, שיפור השירותים והתאמתם לאזרח </a:t>
            </a:r>
            <a:endParaRPr kumimoji="0" lang="en-US" sz="1620" b="0" i="0" u="none" strike="noStrike" kern="1200" cap="none" spc="0" normalizeH="0" baseline="0" noProof="0" dirty="0">
              <a:ln>
                <a:noFill/>
              </a:ln>
              <a:solidFill>
                <a:prstClr val="black"/>
              </a:solidFill>
              <a:effectLst/>
              <a:uLnTx/>
              <a:uFillTx/>
              <a:latin typeface="Assistant" pitchFamily="2" charset="-79"/>
              <a:ea typeface="+mn-ea"/>
              <a:cs typeface="Assistant" pitchFamily="2" charset="-79"/>
            </a:endParaRPr>
          </a:p>
        </p:txBody>
      </p:sp>
      <p:sp>
        <p:nvSpPr>
          <p:cNvPr id="8" name="Text 5">
            <a:extLst>
              <a:ext uri="{FF2B5EF4-FFF2-40B4-BE49-F238E27FC236}">
                <a16:creationId xmlns:a16="http://schemas.microsoft.com/office/drawing/2014/main" id="{AED60C49-9490-40D5-AFD6-41B0164250D1}"/>
              </a:ext>
            </a:extLst>
          </p:cNvPr>
          <p:cNvSpPr/>
          <p:nvPr/>
        </p:nvSpPr>
        <p:spPr>
          <a:xfrm>
            <a:off x="8610631" y="2613575"/>
            <a:ext cx="2412901" cy="302618"/>
          </a:xfrm>
          <a:prstGeom prst="rect">
            <a:avLst/>
          </a:prstGeom>
          <a:noFill/>
          <a:ln/>
        </p:spPr>
        <p:txBody>
          <a:bodyPr wrap="none" rtlCol="0" anchor="t"/>
          <a:lstStyle/>
          <a:p>
            <a:pPr marL="0" marR="0" lvl="0" indent="0" algn="r" defTabSz="914400" rtl="1" eaLnBrk="1" fontAlgn="auto" latinLnBrk="0" hangingPunct="1">
              <a:lnSpc>
                <a:spcPts val="2382"/>
              </a:lnSpc>
              <a:spcBef>
                <a:spcPts val="0"/>
              </a:spcBef>
              <a:spcAft>
                <a:spcPts val="0"/>
              </a:spcAft>
              <a:buClrTx/>
              <a:buSzTx/>
              <a:buFontTx/>
              <a:buNone/>
              <a:tabLst/>
              <a:defRPr/>
            </a:pPr>
            <a:r>
              <a:rPr kumimoji="0" lang="he-IL" sz="1906" b="1" i="0" u="none" strike="noStrike" kern="1200" cap="none" spc="0" normalizeH="0" baseline="0" noProof="0" dirty="0">
                <a:ln>
                  <a:noFill/>
                </a:ln>
                <a:solidFill>
                  <a:srgbClr val="0F6FC6"/>
                </a:solidFill>
                <a:effectLst/>
                <a:uLnTx/>
                <a:uFillTx/>
                <a:latin typeface="Assistant" pitchFamily="2" charset="-79"/>
                <a:ea typeface="Quattrocento" pitchFamily="34" charset="-122"/>
                <a:cs typeface="Assistant" pitchFamily="2" charset="-79"/>
              </a:rPr>
              <a:t>שת"פ</a:t>
            </a:r>
            <a:r>
              <a:rPr kumimoji="0" lang="en-US" sz="1906" b="1" i="0" u="none" strike="noStrike" kern="1200" cap="none" spc="0" normalizeH="0" baseline="0" noProof="0" dirty="0">
                <a:ln>
                  <a:noFill/>
                </a:ln>
                <a:solidFill>
                  <a:srgbClr val="0F6FC6"/>
                </a:solidFill>
                <a:effectLst/>
                <a:uLnTx/>
                <a:uFillTx/>
                <a:latin typeface="Assistant" pitchFamily="2" charset="-79"/>
                <a:ea typeface="Quattrocento" pitchFamily="34" charset="-122"/>
                <a:cs typeface="Assistant" pitchFamily="2" charset="-79"/>
              </a:rPr>
              <a:t> בין-משרדי</a:t>
            </a:r>
            <a:endParaRPr kumimoji="0" lang="en-US" sz="1906" b="1" i="0" u="none" strike="noStrike" kern="1200" cap="none" spc="0" normalizeH="0" baseline="0" noProof="0" dirty="0">
              <a:ln>
                <a:noFill/>
              </a:ln>
              <a:solidFill>
                <a:srgbClr val="0F6FC6"/>
              </a:solidFill>
              <a:effectLst/>
              <a:uLnTx/>
              <a:uFillTx/>
              <a:latin typeface="Assistant" pitchFamily="2" charset="-79"/>
              <a:ea typeface="+mn-ea"/>
              <a:cs typeface="Assistant" pitchFamily="2" charset="-79"/>
            </a:endParaRPr>
          </a:p>
        </p:txBody>
      </p:sp>
      <p:sp>
        <p:nvSpPr>
          <p:cNvPr id="11" name="Text 7">
            <a:extLst>
              <a:ext uri="{FF2B5EF4-FFF2-40B4-BE49-F238E27FC236}">
                <a16:creationId xmlns:a16="http://schemas.microsoft.com/office/drawing/2014/main" id="{EFD7B525-E798-4FA9-AE46-582875A36993}"/>
              </a:ext>
            </a:extLst>
          </p:cNvPr>
          <p:cNvSpPr/>
          <p:nvPr/>
        </p:nvSpPr>
        <p:spPr>
          <a:xfrm>
            <a:off x="5029054" y="2593065"/>
            <a:ext cx="2412901" cy="302618"/>
          </a:xfrm>
          <a:prstGeom prst="rect">
            <a:avLst/>
          </a:prstGeom>
          <a:noFill/>
          <a:ln/>
        </p:spPr>
        <p:txBody>
          <a:bodyPr wrap="none" rtlCol="0" anchor="t"/>
          <a:lstStyle/>
          <a:p>
            <a:pPr marL="0" marR="0" lvl="0" indent="0" algn="r" defTabSz="914400" rtl="1" eaLnBrk="1" fontAlgn="auto" latinLnBrk="0" hangingPunct="1">
              <a:lnSpc>
                <a:spcPts val="2382"/>
              </a:lnSpc>
              <a:spcBef>
                <a:spcPts val="0"/>
              </a:spcBef>
              <a:spcAft>
                <a:spcPts val="0"/>
              </a:spcAft>
              <a:buClrTx/>
              <a:buSzTx/>
              <a:buFontTx/>
              <a:buNone/>
              <a:tabLst/>
              <a:defRPr/>
            </a:pPr>
            <a:r>
              <a:rPr kumimoji="0" lang="en-US" sz="1906" b="1" i="0" u="none" strike="noStrike" kern="1200" cap="none" spc="0" normalizeH="0" baseline="0" noProof="0" dirty="0">
                <a:ln>
                  <a:noFill/>
                </a:ln>
                <a:solidFill>
                  <a:srgbClr val="0F6FC6"/>
                </a:solidFill>
                <a:effectLst/>
                <a:uLnTx/>
                <a:uFillTx/>
                <a:latin typeface="Assistant" pitchFamily="2" charset="-79"/>
                <a:ea typeface="Quattrocento" pitchFamily="34" charset="-122"/>
                <a:cs typeface="Assistant" pitchFamily="2" charset="-79"/>
              </a:rPr>
              <a:t>ביזור סמכויות</a:t>
            </a:r>
            <a:endParaRPr kumimoji="0" lang="en-US" sz="1906" b="1" i="0" u="none" strike="noStrike" kern="1200" cap="none" spc="0" normalizeH="0" baseline="0" noProof="0" dirty="0">
              <a:ln>
                <a:noFill/>
              </a:ln>
              <a:solidFill>
                <a:srgbClr val="0F6FC6"/>
              </a:solidFill>
              <a:effectLst/>
              <a:uLnTx/>
              <a:uFillTx/>
              <a:latin typeface="Assistant" pitchFamily="2" charset="-79"/>
              <a:ea typeface="+mn-ea"/>
              <a:cs typeface="Assistant" pitchFamily="2" charset="-79"/>
            </a:endParaRPr>
          </a:p>
        </p:txBody>
      </p:sp>
      <p:sp>
        <p:nvSpPr>
          <p:cNvPr id="14" name="Text 9">
            <a:extLst>
              <a:ext uri="{FF2B5EF4-FFF2-40B4-BE49-F238E27FC236}">
                <a16:creationId xmlns:a16="http://schemas.microsoft.com/office/drawing/2014/main" id="{B0732936-C6AD-43F2-ABB3-B76CD8C8862E}"/>
              </a:ext>
            </a:extLst>
          </p:cNvPr>
          <p:cNvSpPr/>
          <p:nvPr/>
        </p:nvSpPr>
        <p:spPr>
          <a:xfrm>
            <a:off x="1161404" y="2593065"/>
            <a:ext cx="2413000" cy="302618"/>
          </a:xfrm>
          <a:prstGeom prst="rect">
            <a:avLst/>
          </a:prstGeom>
          <a:noFill/>
          <a:ln/>
        </p:spPr>
        <p:txBody>
          <a:bodyPr wrap="none" rtlCol="0" anchor="t"/>
          <a:lstStyle/>
          <a:p>
            <a:pPr marL="0" marR="0" lvl="0" indent="0" algn="r" defTabSz="914400" rtl="1" eaLnBrk="1" fontAlgn="auto" latinLnBrk="0" hangingPunct="1">
              <a:lnSpc>
                <a:spcPts val="2382"/>
              </a:lnSpc>
              <a:spcBef>
                <a:spcPts val="0"/>
              </a:spcBef>
              <a:spcAft>
                <a:spcPts val="0"/>
              </a:spcAft>
              <a:buClrTx/>
              <a:buSzTx/>
              <a:buFontTx/>
              <a:buNone/>
              <a:tabLst/>
              <a:defRPr/>
            </a:pPr>
            <a:r>
              <a:rPr kumimoji="0" lang="en-US" sz="1906" b="1" i="0" u="none" strike="noStrike" kern="1200" cap="none" spc="0" normalizeH="0" baseline="0" noProof="0" dirty="0">
                <a:ln>
                  <a:noFill/>
                </a:ln>
                <a:solidFill>
                  <a:srgbClr val="0F6FC6"/>
                </a:solidFill>
                <a:effectLst/>
                <a:uLnTx/>
                <a:uFillTx/>
                <a:latin typeface="Assistant" pitchFamily="2" charset="-79"/>
                <a:ea typeface="Quattrocento" pitchFamily="34" charset="-122"/>
                <a:cs typeface="Assistant" pitchFamily="2" charset="-79"/>
              </a:rPr>
              <a:t>האדם במרכז</a:t>
            </a:r>
            <a:endParaRPr kumimoji="0" lang="en-US" sz="1906" b="1" i="0" u="none" strike="noStrike" kern="1200" cap="none" spc="0" normalizeH="0" baseline="0" noProof="0" dirty="0">
              <a:ln>
                <a:noFill/>
              </a:ln>
              <a:solidFill>
                <a:srgbClr val="0F6FC6"/>
              </a:solidFill>
              <a:effectLst/>
              <a:uLnTx/>
              <a:uFillTx/>
              <a:latin typeface="Assistant" pitchFamily="2" charset="-79"/>
              <a:ea typeface="+mn-ea"/>
              <a:cs typeface="Assistant" pitchFamily="2" charset="-79"/>
            </a:endParaRPr>
          </a:p>
        </p:txBody>
      </p:sp>
      <p:sp>
        <p:nvSpPr>
          <p:cNvPr id="16" name="Text 2">
            <a:extLst>
              <a:ext uri="{FF2B5EF4-FFF2-40B4-BE49-F238E27FC236}">
                <a16:creationId xmlns:a16="http://schemas.microsoft.com/office/drawing/2014/main" id="{CB1FB7BD-8D2A-4BF1-A8C8-B4DE96749BB3}"/>
              </a:ext>
            </a:extLst>
          </p:cNvPr>
          <p:cNvSpPr/>
          <p:nvPr/>
        </p:nvSpPr>
        <p:spPr>
          <a:xfrm>
            <a:off x="3460977" y="494245"/>
            <a:ext cx="6580735" cy="1316832"/>
          </a:xfrm>
          <a:prstGeom prst="rect">
            <a:avLst/>
          </a:prstGeom>
          <a:noFill/>
          <a:ln/>
        </p:spPr>
        <p:txBody>
          <a:bodyPr wrap="none" rtlCol="0" anchor="t"/>
          <a:lstStyle/>
          <a:p>
            <a:pPr marL="0" marR="0" lvl="0" indent="0" algn="r" defTabSz="914400" rtl="1" eaLnBrk="1" fontAlgn="auto" latinLnBrk="0" hangingPunct="1">
              <a:lnSpc>
                <a:spcPts val="4765"/>
              </a:lnSpc>
              <a:spcBef>
                <a:spcPts val="0"/>
              </a:spcBef>
              <a:spcAft>
                <a:spcPts val="0"/>
              </a:spcAft>
              <a:buClrTx/>
              <a:buSzTx/>
              <a:buFontTx/>
              <a:buNone/>
              <a:tabLst/>
              <a:defRPr/>
            </a:pPr>
            <a:r>
              <a:rPr kumimoji="0" lang="he-IL" sz="3812" b="1" i="0" u="none" strike="noStrike" kern="1200" cap="none" spc="0" normalizeH="0" baseline="0" noProof="0" dirty="0">
                <a:ln>
                  <a:noFill/>
                </a:ln>
                <a:solidFill>
                  <a:srgbClr val="0F6FC6"/>
                </a:solidFill>
                <a:effectLst/>
                <a:uLnTx/>
                <a:uFillTx/>
                <a:latin typeface="Assistant" pitchFamily="2" charset="-79"/>
                <a:ea typeface="Quattrocento" pitchFamily="34" charset="-122"/>
                <a:cs typeface="Assistant" pitchFamily="2" charset="-79"/>
              </a:rPr>
              <a:t>שינוי המצב מושתת</a:t>
            </a:r>
            <a:r>
              <a:rPr kumimoji="0" lang="en-US" sz="3812" b="1" i="0" u="none" strike="noStrike" kern="1200" cap="none" spc="0" normalizeH="0" baseline="0" noProof="0" dirty="0">
                <a:ln>
                  <a:noFill/>
                </a:ln>
                <a:solidFill>
                  <a:srgbClr val="0F6FC6"/>
                </a:solidFill>
                <a:effectLst/>
                <a:uLnTx/>
                <a:uFillTx/>
                <a:latin typeface="Assistant" pitchFamily="2" charset="-79"/>
                <a:ea typeface="Quattrocento" pitchFamily="34" charset="-122"/>
                <a:cs typeface="Assistant" pitchFamily="2" charset="-79"/>
              </a:rPr>
              <a:t> </a:t>
            </a:r>
            <a:br>
              <a:rPr kumimoji="0" lang="en-US" sz="3812" b="1" i="0" u="none" strike="noStrike" kern="1200" cap="none" spc="0" normalizeH="0" baseline="0" noProof="0" dirty="0">
                <a:ln>
                  <a:noFill/>
                </a:ln>
                <a:solidFill>
                  <a:srgbClr val="0F6FC6"/>
                </a:solidFill>
                <a:effectLst/>
                <a:uLnTx/>
                <a:uFillTx/>
                <a:latin typeface="Assistant" pitchFamily="2" charset="-79"/>
                <a:ea typeface="Quattrocento" pitchFamily="34" charset="-122"/>
                <a:cs typeface="Assistant" pitchFamily="2" charset="-79"/>
              </a:rPr>
            </a:br>
            <a:r>
              <a:rPr kumimoji="0" lang="he-IL" sz="3812" b="1" i="0" u="none" strike="noStrike" kern="1200" cap="none" spc="0" normalizeH="0" baseline="0" noProof="0" dirty="0">
                <a:ln>
                  <a:noFill/>
                </a:ln>
                <a:solidFill>
                  <a:srgbClr val="0F6FC6"/>
                </a:solidFill>
                <a:effectLst/>
                <a:uLnTx/>
                <a:uFillTx/>
                <a:latin typeface="Assistant" pitchFamily="2" charset="-79"/>
                <a:ea typeface="Quattrocento" pitchFamily="34" charset="-122"/>
                <a:cs typeface="Assistant" pitchFamily="2" charset="-79"/>
              </a:rPr>
              <a:t>על קידום ארבע תפיסות מרכזיות</a:t>
            </a:r>
            <a:endParaRPr kumimoji="0" lang="en-US" sz="3812" b="1" i="0" u="none" strike="noStrike" kern="1200" cap="none" spc="0" normalizeH="0" baseline="0" noProof="0" dirty="0">
              <a:ln>
                <a:noFill/>
              </a:ln>
              <a:solidFill>
                <a:srgbClr val="0F6FC6"/>
              </a:solidFill>
              <a:effectLst/>
              <a:uLnTx/>
              <a:uFillTx/>
              <a:latin typeface="Assistant" pitchFamily="2" charset="-79"/>
              <a:ea typeface="+mn-ea"/>
              <a:cs typeface="Assistant" pitchFamily="2" charset="-79"/>
            </a:endParaRPr>
          </a:p>
        </p:txBody>
      </p:sp>
      <p:pic>
        <p:nvPicPr>
          <p:cNvPr id="26" name="Picture 25">
            <a:extLst>
              <a:ext uri="{FF2B5EF4-FFF2-40B4-BE49-F238E27FC236}">
                <a16:creationId xmlns:a16="http://schemas.microsoft.com/office/drawing/2014/main" id="{3CB1A339-EE6E-437F-8041-0816F89A8309}"/>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10184675" y="494245"/>
            <a:ext cx="1677714" cy="1452162"/>
          </a:xfrm>
          <a:prstGeom prst="rect">
            <a:avLst/>
          </a:prstGeom>
        </p:spPr>
      </p:pic>
      <p:sp>
        <p:nvSpPr>
          <p:cNvPr id="10" name="Text 4">
            <a:extLst>
              <a:ext uri="{FF2B5EF4-FFF2-40B4-BE49-F238E27FC236}">
                <a16:creationId xmlns:a16="http://schemas.microsoft.com/office/drawing/2014/main" id="{40CF4436-037A-E56B-836F-2EB08F88209B}"/>
              </a:ext>
            </a:extLst>
          </p:cNvPr>
          <p:cNvSpPr/>
          <p:nvPr/>
        </p:nvSpPr>
        <p:spPr>
          <a:xfrm>
            <a:off x="7677955" y="3981469"/>
            <a:ext cx="2412901" cy="1316832"/>
          </a:xfrm>
          <a:prstGeom prst="rect">
            <a:avLst/>
          </a:prstGeom>
          <a:noFill/>
          <a:ln/>
        </p:spPr>
        <p:txBody>
          <a:bodyPr wrap="square" rtlCol="0" anchor="t"/>
          <a:lstStyle/>
          <a:p>
            <a:pPr marL="0" marR="0" lvl="0" indent="0" algn="l" defTabSz="914400" rtl="1" eaLnBrk="1" fontAlgn="auto" latinLnBrk="0" hangingPunct="1">
              <a:lnSpc>
                <a:spcPts val="2592"/>
              </a:lnSpc>
              <a:spcBef>
                <a:spcPts val="0"/>
              </a:spcBef>
              <a:spcAft>
                <a:spcPts val="0"/>
              </a:spcAft>
              <a:buClrTx/>
              <a:buSzTx/>
              <a:buFontTx/>
              <a:buNone/>
              <a:tabLst/>
              <a:defRPr/>
            </a:pPr>
            <a:endParaRPr kumimoji="0" lang="en-US" sz="1620" b="0" i="0" u="none" strike="noStrike" kern="0" cap="none" spc="0" normalizeH="0" baseline="0" noProof="0" dirty="0">
              <a:ln>
                <a:noFill/>
              </a:ln>
              <a:solidFill>
                <a:prstClr val="black"/>
              </a:solidFill>
              <a:effectLst/>
              <a:uLnTx/>
              <a:uFillTx/>
              <a:latin typeface="Calibri"/>
              <a:ea typeface="+mn-ea"/>
              <a:cs typeface="Calibri"/>
            </a:endParaRPr>
          </a:p>
        </p:txBody>
      </p:sp>
      <p:cxnSp>
        <p:nvCxnSpPr>
          <p:cNvPr id="21" name="Straight Connector 20">
            <a:extLst>
              <a:ext uri="{FF2B5EF4-FFF2-40B4-BE49-F238E27FC236}">
                <a16:creationId xmlns:a16="http://schemas.microsoft.com/office/drawing/2014/main" id="{9C8E24A4-26D8-445C-AF8C-FF4C2AD06359}"/>
              </a:ext>
            </a:extLst>
          </p:cNvPr>
          <p:cNvCxnSpPr/>
          <p:nvPr/>
        </p:nvCxnSpPr>
        <p:spPr>
          <a:xfrm>
            <a:off x="487680" y="4968240"/>
            <a:ext cx="11216640" cy="0"/>
          </a:xfrm>
          <a:prstGeom prst="line">
            <a:avLst/>
          </a:prstGeom>
          <a:ln w="12700">
            <a:prstDash val="dash"/>
          </a:ln>
        </p:spPr>
        <p:style>
          <a:lnRef idx="1">
            <a:schemeClr val="accent1"/>
          </a:lnRef>
          <a:fillRef idx="0">
            <a:schemeClr val="accent1"/>
          </a:fillRef>
          <a:effectRef idx="0">
            <a:schemeClr val="accent1"/>
          </a:effectRef>
          <a:fontRef idx="minor">
            <a:schemeClr val="tx1"/>
          </a:fontRef>
        </p:style>
      </p:cxnSp>
      <p:pic>
        <p:nvPicPr>
          <p:cNvPr id="30" name="Graphic 29">
            <a:extLst>
              <a:ext uri="{FF2B5EF4-FFF2-40B4-BE49-F238E27FC236}">
                <a16:creationId xmlns:a16="http://schemas.microsoft.com/office/drawing/2014/main" id="{2B808CA6-E0DF-401A-B2E6-D75088051C54}"/>
              </a:ext>
            </a:extLst>
          </p:cNvPr>
          <p:cNvPicPr>
            <a:picLocks noChangeAspect="1"/>
          </p:cNvPicPr>
          <p:nvPr/>
        </p:nvPicPr>
        <p:blipFill rotWithShape="1">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b="19918"/>
          <a:stretch/>
        </p:blipFill>
        <p:spPr>
          <a:xfrm>
            <a:off x="7466806" y="2568927"/>
            <a:ext cx="594671" cy="595278"/>
          </a:xfrm>
          <a:prstGeom prst="rect">
            <a:avLst/>
          </a:prstGeom>
        </p:spPr>
      </p:pic>
      <p:pic>
        <p:nvPicPr>
          <p:cNvPr id="32" name="Graphic 31">
            <a:extLst>
              <a:ext uri="{FF2B5EF4-FFF2-40B4-BE49-F238E27FC236}">
                <a16:creationId xmlns:a16="http://schemas.microsoft.com/office/drawing/2014/main" id="{188306B5-7E8F-4C19-8FD9-2945E69044BC}"/>
              </a:ext>
            </a:extLst>
          </p:cNvPr>
          <p:cNvPicPr>
            <a:picLocks noChangeAspect="1"/>
          </p:cNvPicPr>
          <p:nvPr/>
        </p:nvPicPr>
        <p:blipFill rotWithShape="1">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b="19918"/>
          <a:stretch/>
        </p:blipFill>
        <p:spPr>
          <a:xfrm>
            <a:off x="3573339" y="2568927"/>
            <a:ext cx="594671" cy="595278"/>
          </a:xfrm>
          <a:prstGeom prst="rect">
            <a:avLst/>
          </a:prstGeom>
        </p:spPr>
      </p:pic>
      <p:pic>
        <p:nvPicPr>
          <p:cNvPr id="34" name="Graphic 33">
            <a:extLst>
              <a:ext uri="{FF2B5EF4-FFF2-40B4-BE49-F238E27FC236}">
                <a16:creationId xmlns:a16="http://schemas.microsoft.com/office/drawing/2014/main" id="{169A1E6F-18DB-49F4-96E0-3DF00158EDA5}"/>
              </a:ext>
            </a:extLst>
          </p:cNvPr>
          <p:cNvPicPr>
            <a:picLocks noChangeAspect="1"/>
          </p:cNvPicPr>
          <p:nvPr/>
        </p:nvPicPr>
        <p:blipFill rotWithShape="1">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rcRect b="13884"/>
          <a:stretch/>
        </p:blipFill>
        <p:spPr>
          <a:xfrm rot="20683477">
            <a:off x="8544901" y="5082213"/>
            <a:ext cx="847178" cy="895361"/>
          </a:xfrm>
          <a:prstGeom prst="rect">
            <a:avLst/>
          </a:prstGeom>
        </p:spPr>
      </p:pic>
      <p:sp>
        <p:nvSpPr>
          <p:cNvPr id="20" name="TextBox 19">
            <a:extLst>
              <a:ext uri="{FF2B5EF4-FFF2-40B4-BE49-F238E27FC236}">
                <a16:creationId xmlns:a16="http://schemas.microsoft.com/office/drawing/2014/main" id="{58906659-C38B-4A25-930E-F2728E79F09E}"/>
              </a:ext>
            </a:extLst>
          </p:cNvPr>
          <p:cNvSpPr txBox="1"/>
          <p:nvPr/>
        </p:nvSpPr>
        <p:spPr>
          <a:xfrm>
            <a:off x="9892977" y="5011288"/>
            <a:ext cx="1467333"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he-IL" sz="1400" b="0" i="0" u="none" strike="noStrike" kern="1200" cap="none" spc="0" normalizeH="0" baseline="0" noProof="0" dirty="0">
                <a:ln>
                  <a:noFill/>
                </a:ln>
                <a:solidFill>
                  <a:srgbClr val="0F6FC6"/>
                </a:solidFill>
                <a:effectLst/>
                <a:uLnTx/>
                <a:uFillTx/>
                <a:latin typeface="Assistant" pitchFamily="2" charset="-79"/>
                <a:ea typeface="Quattrocento" pitchFamily="34" charset="-122"/>
                <a:cs typeface="Assistant" pitchFamily="2" charset="-79"/>
              </a:rPr>
              <a:t>תשתית מאפשרת</a:t>
            </a:r>
            <a:endParaRPr kumimoji="0" lang="en-IL" sz="1400" b="0" i="0" u="none" strike="noStrike" kern="1200" cap="none" spc="0" normalizeH="0" baseline="0" noProof="0" dirty="0">
              <a:ln>
                <a:noFill/>
              </a:ln>
              <a:solidFill>
                <a:prstClr val="black"/>
              </a:solidFill>
              <a:effectLst/>
              <a:uLnTx/>
              <a:uFillTx/>
              <a:latin typeface="Calibri"/>
              <a:ea typeface="+mn-ea"/>
              <a:cs typeface="Calibri"/>
            </a:endParaRPr>
          </a:p>
        </p:txBody>
      </p:sp>
      <p:pic>
        <p:nvPicPr>
          <p:cNvPr id="4" name="Graphic 27">
            <a:extLst>
              <a:ext uri="{FF2B5EF4-FFF2-40B4-BE49-F238E27FC236}">
                <a16:creationId xmlns:a16="http://schemas.microsoft.com/office/drawing/2014/main" id="{D87D0DE3-BED5-FC26-BD2C-33725A04B478}"/>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rcRect b="22815"/>
          <a:stretch/>
        </p:blipFill>
        <p:spPr>
          <a:xfrm>
            <a:off x="11021436" y="2533506"/>
            <a:ext cx="677673" cy="653833"/>
          </a:xfrm>
          <a:prstGeom prst="rect">
            <a:avLst/>
          </a:prstGeom>
        </p:spPr>
      </p:pic>
      <p:sp>
        <p:nvSpPr>
          <p:cNvPr id="7" name="Text 8">
            <a:extLst>
              <a:ext uri="{FF2B5EF4-FFF2-40B4-BE49-F238E27FC236}">
                <a16:creationId xmlns:a16="http://schemas.microsoft.com/office/drawing/2014/main" id="{AD8791E5-3B62-6015-2B57-6BEA2A4AD8D4}"/>
              </a:ext>
            </a:extLst>
          </p:cNvPr>
          <p:cNvSpPr/>
          <p:nvPr/>
        </p:nvSpPr>
        <p:spPr>
          <a:xfrm>
            <a:off x="4371310" y="2981594"/>
            <a:ext cx="3095211" cy="1316832"/>
          </a:xfrm>
          <a:prstGeom prst="rect">
            <a:avLst/>
          </a:prstGeom>
          <a:noFill/>
          <a:ln/>
        </p:spPr>
        <p:txBody>
          <a:bodyPr wrap="square" rtlCol="0" anchor="t"/>
          <a:lstStyle/>
          <a:p>
            <a:pPr marL="0" marR="0" lvl="0" indent="0" algn="r" defTabSz="914400" rtl="1" eaLnBrk="1" fontAlgn="auto" latinLnBrk="0" hangingPunct="1">
              <a:lnSpc>
                <a:spcPts val="2592"/>
              </a:lnSpc>
              <a:spcBef>
                <a:spcPts val="0"/>
              </a:spcBef>
              <a:spcAft>
                <a:spcPts val="0"/>
              </a:spcAft>
              <a:buClrTx/>
              <a:buSzTx/>
              <a:buFontTx/>
              <a:buNone/>
              <a:tabLst/>
              <a:defRPr/>
            </a:pPr>
            <a:r>
              <a:rPr kumimoji="0" lang="he-IL" sz="1620" b="0" i="0" u="none" strike="noStrike" kern="1200" cap="none" spc="0" normalizeH="0" baseline="0" noProof="0" dirty="0">
                <a:ln>
                  <a:noFill/>
                </a:ln>
                <a:solidFill>
                  <a:prstClr val="black"/>
                </a:solidFill>
                <a:effectLst/>
                <a:uLnTx/>
                <a:uFillTx/>
                <a:latin typeface="Assistant" pitchFamily="2" charset="-79"/>
                <a:ea typeface="Quattrocento" pitchFamily="34" charset="-122"/>
                <a:cs typeface="Assistant" pitchFamily="2" charset="-79"/>
              </a:rPr>
              <a:t>מתן </a:t>
            </a:r>
            <a:r>
              <a:rPr kumimoji="0" lang="he-IL" sz="1620" b="1" i="0" u="none" strike="noStrike" kern="1200" cap="none" spc="0" normalizeH="0" baseline="0" noProof="0" dirty="0">
                <a:ln>
                  <a:noFill/>
                </a:ln>
                <a:solidFill>
                  <a:prstClr val="black"/>
                </a:solidFill>
                <a:effectLst/>
                <a:uLnTx/>
                <a:uFillTx/>
                <a:latin typeface="Assistant" pitchFamily="2" charset="-79"/>
                <a:ea typeface="Quattrocento" pitchFamily="34" charset="-122"/>
                <a:cs typeface="Assistant" pitchFamily="2" charset="-79"/>
              </a:rPr>
              <a:t>סמכויות לרשויות המקומיות </a:t>
            </a:r>
            <a:r>
              <a:rPr kumimoji="0" lang="he-IL" sz="1620" b="0" i="0" u="none" strike="noStrike" kern="1200" cap="none" spc="0" normalizeH="0" baseline="0" noProof="0" dirty="0">
                <a:ln>
                  <a:noFill/>
                </a:ln>
                <a:solidFill>
                  <a:prstClr val="black"/>
                </a:solidFill>
                <a:effectLst/>
                <a:uLnTx/>
                <a:uFillTx/>
                <a:latin typeface="Assistant" pitchFamily="2" charset="-79"/>
                <a:ea typeface="Quattrocento" pitchFamily="34" charset="-122"/>
                <a:cs typeface="Assistant" pitchFamily="2" charset="-79"/>
              </a:rPr>
              <a:t>לניהול ותכנון השירותים לאזרח, מתוך הבנה שהרשות קרובה לאזרח ויכולה לתת לו מענה טוב ומותאם יותר.</a:t>
            </a:r>
            <a:endParaRPr kumimoji="0" lang="en-US" sz="1620" b="0" i="0" u="none" strike="noStrike" kern="1200" cap="none" spc="0" normalizeH="0" baseline="0" noProof="0" dirty="0">
              <a:ln>
                <a:noFill/>
              </a:ln>
              <a:solidFill>
                <a:prstClr val="black"/>
              </a:solidFill>
              <a:effectLst/>
              <a:uLnTx/>
              <a:uFillTx/>
              <a:latin typeface="Assistant" pitchFamily="2" charset="-79"/>
              <a:ea typeface="+mn-ea"/>
              <a:cs typeface="Assistant" pitchFamily="2" charset="-79"/>
            </a:endParaRPr>
          </a:p>
        </p:txBody>
      </p:sp>
      <p:sp>
        <p:nvSpPr>
          <p:cNvPr id="13" name="Text 6">
            <a:extLst>
              <a:ext uri="{FF2B5EF4-FFF2-40B4-BE49-F238E27FC236}">
                <a16:creationId xmlns:a16="http://schemas.microsoft.com/office/drawing/2014/main" id="{206EB73B-FBB5-58AA-4045-F9DCB9EE7020}"/>
              </a:ext>
            </a:extLst>
          </p:cNvPr>
          <p:cNvSpPr/>
          <p:nvPr/>
        </p:nvSpPr>
        <p:spPr>
          <a:xfrm>
            <a:off x="8214081" y="2984766"/>
            <a:ext cx="2807355" cy="1316832"/>
          </a:xfrm>
          <a:prstGeom prst="rect">
            <a:avLst/>
          </a:prstGeom>
          <a:noFill/>
          <a:ln/>
        </p:spPr>
        <p:txBody>
          <a:bodyPr wrap="square" rtlCol="0" anchor="t"/>
          <a:lstStyle/>
          <a:p>
            <a:pPr marL="0" marR="0" lvl="0" indent="0" algn="r" defTabSz="914400" rtl="1" eaLnBrk="1" fontAlgn="auto" latinLnBrk="0" hangingPunct="1">
              <a:lnSpc>
                <a:spcPts val="2592"/>
              </a:lnSpc>
              <a:spcBef>
                <a:spcPts val="0"/>
              </a:spcBef>
              <a:spcAft>
                <a:spcPts val="0"/>
              </a:spcAft>
              <a:buClrTx/>
              <a:buSzTx/>
              <a:buFontTx/>
              <a:buNone/>
              <a:tabLst/>
              <a:defRPr/>
            </a:pPr>
            <a:r>
              <a:rPr kumimoji="0" lang="he-IL" sz="1620" b="1" i="0" u="none" strike="noStrike" kern="1200" cap="none" spc="0" normalizeH="0" baseline="0" noProof="0" dirty="0">
                <a:ln>
                  <a:noFill/>
                </a:ln>
                <a:solidFill>
                  <a:prstClr val="black"/>
                </a:solidFill>
                <a:effectLst/>
                <a:uLnTx/>
                <a:uFillTx/>
                <a:latin typeface="Assistant" pitchFamily="2" charset="-79"/>
                <a:ea typeface="Quattrocento" pitchFamily="34" charset="-122"/>
                <a:cs typeface="Assistant" pitchFamily="2" charset="-79"/>
              </a:rPr>
              <a:t>פורום עבודה משותף רב משרדי ומערכתי לגיבוש מדיניות </a:t>
            </a:r>
            <a:r>
              <a:rPr kumimoji="0" lang="he-IL" sz="1620" b="0" i="0" u="none" strike="noStrike" kern="1200" cap="none" spc="0" normalizeH="0" baseline="0" noProof="0" dirty="0">
                <a:ln>
                  <a:noFill/>
                </a:ln>
                <a:solidFill>
                  <a:prstClr val="black"/>
                </a:solidFill>
                <a:effectLst/>
                <a:uLnTx/>
                <a:uFillTx/>
                <a:latin typeface="Assistant" pitchFamily="2" charset="-79"/>
                <a:ea typeface="Quattrocento" pitchFamily="34" charset="-122"/>
                <a:cs typeface="Assistant" pitchFamily="2" charset="-79"/>
              </a:rPr>
              <a:t>ושולחן עבודה  משותף </a:t>
            </a:r>
            <a:r>
              <a:rPr kumimoji="0" lang="he-IL" sz="1620" b="0" i="0" u="none" strike="noStrike" kern="1200" cap="none" spc="0" normalizeH="0" baseline="0" noProof="0" dirty="0" err="1">
                <a:ln>
                  <a:noFill/>
                </a:ln>
                <a:solidFill>
                  <a:prstClr val="black"/>
                </a:solidFill>
                <a:effectLst/>
                <a:uLnTx/>
                <a:uFillTx/>
                <a:latin typeface="Assistant" pitchFamily="2" charset="-79"/>
                <a:ea typeface="Quattrocento" pitchFamily="34" charset="-122"/>
                <a:cs typeface="Assistant" pitchFamily="2" charset="-79"/>
              </a:rPr>
              <a:t>להובל</a:t>
            </a:r>
            <a:r>
              <a:rPr kumimoji="0" lang="he-IL" sz="1620" b="0" i="0" u="none" strike="noStrike" kern="1200" cap="none" spc="0" normalizeH="0" baseline="0" noProof="0" dirty="0">
                <a:ln>
                  <a:noFill/>
                </a:ln>
                <a:solidFill>
                  <a:prstClr val="black"/>
                </a:solidFill>
                <a:effectLst/>
                <a:uLnTx/>
                <a:uFillTx/>
                <a:latin typeface="Assistant" pitchFamily="2" charset="-79"/>
                <a:ea typeface="Quattrocento" pitchFamily="34" charset="-122"/>
                <a:cs typeface="Assistant" pitchFamily="2" charset="-79"/>
              </a:rPr>
              <a:t>ת שינוי ומענה לאתגרי ההזדקנות בישראל</a:t>
            </a:r>
            <a:endParaRPr kumimoji="0" lang="en-US" sz="1620" b="0" i="0" u="none" strike="noStrike" kern="1200" cap="none" spc="0" normalizeH="0" baseline="0" noProof="0" dirty="0">
              <a:ln>
                <a:noFill/>
              </a:ln>
              <a:solidFill>
                <a:prstClr val="black"/>
              </a:solidFill>
              <a:effectLst/>
              <a:uLnTx/>
              <a:uFillTx/>
              <a:latin typeface="Assistant" pitchFamily="2" charset="-79"/>
              <a:ea typeface="+mn-ea"/>
              <a:cs typeface="Assistant" pitchFamily="2" charset="-79"/>
            </a:endParaRPr>
          </a:p>
        </p:txBody>
      </p:sp>
      <p:sp>
        <p:nvSpPr>
          <p:cNvPr id="17" name="Text 10">
            <a:extLst>
              <a:ext uri="{FF2B5EF4-FFF2-40B4-BE49-F238E27FC236}">
                <a16:creationId xmlns:a16="http://schemas.microsoft.com/office/drawing/2014/main" id="{C700567B-609B-3C12-395E-2D1772823B59}"/>
              </a:ext>
            </a:extLst>
          </p:cNvPr>
          <p:cNvSpPr/>
          <p:nvPr/>
        </p:nvSpPr>
        <p:spPr>
          <a:xfrm>
            <a:off x="597025" y="2981594"/>
            <a:ext cx="3028944" cy="1316832"/>
          </a:xfrm>
          <a:prstGeom prst="rect">
            <a:avLst/>
          </a:prstGeom>
          <a:noFill/>
          <a:ln/>
        </p:spPr>
        <p:txBody>
          <a:bodyPr wrap="square" rtlCol="0" anchor="t"/>
          <a:lstStyle/>
          <a:p>
            <a:pPr marL="0" marR="0" lvl="0" indent="0" algn="r" defTabSz="914400" rtl="1" eaLnBrk="1" fontAlgn="auto" latinLnBrk="0" hangingPunct="1">
              <a:lnSpc>
                <a:spcPts val="2592"/>
              </a:lnSpc>
              <a:spcBef>
                <a:spcPts val="0"/>
              </a:spcBef>
              <a:spcAft>
                <a:spcPts val="0"/>
              </a:spcAft>
              <a:buClrTx/>
              <a:buSzTx/>
              <a:buFontTx/>
              <a:buNone/>
              <a:tabLst/>
              <a:defRPr/>
            </a:pPr>
            <a:r>
              <a:rPr kumimoji="0" lang="he-IL" sz="1620" b="0" i="0" u="none" strike="noStrike" kern="1200" cap="none" spc="0" normalizeH="0" baseline="0" noProof="0" dirty="0">
                <a:ln>
                  <a:noFill/>
                </a:ln>
                <a:solidFill>
                  <a:prstClr val="black"/>
                </a:solidFill>
                <a:effectLst/>
                <a:uLnTx/>
                <a:uFillTx/>
                <a:latin typeface="Assistant" pitchFamily="2" charset="-79"/>
                <a:ea typeface="+mn-ea"/>
                <a:cs typeface="Assistant" pitchFamily="2" charset="-79"/>
              </a:rPr>
              <a:t>תפיסה הוליסטית מבוססת דאטה לטובת </a:t>
            </a:r>
            <a:r>
              <a:rPr kumimoji="0" lang="he-IL" sz="1620" b="1" i="0" u="none" strike="noStrike" kern="1200" cap="none" spc="0" normalizeH="0" baseline="0" noProof="0" dirty="0">
                <a:ln>
                  <a:noFill/>
                </a:ln>
                <a:solidFill>
                  <a:prstClr val="black"/>
                </a:solidFill>
                <a:effectLst/>
                <a:uLnTx/>
                <a:uFillTx/>
                <a:latin typeface="Assistant" pitchFamily="2" charset="-79"/>
                <a:ea typeface="+mn-ea"/>
                <a:cs typeface="Assistant" pitchFamily="2" charset="-79"/>
              </a:rPr>
              <a:t>התאמת המערכת והשירותים לצרכי האדם </a:t>
            </a:r>
            <a:r>
              <a:rPr kumimoji="0" lang="he-IL" sz="1620" b="0" i="0" u="none" strike="noStrike" kern="1200" cap="none" spc="0" normalizeH="0" baseline="0" noProof="0" dirty="0">
                <a:ln>
                  <a:noFill/>
                </a:ln>
                <a:solidFill>
                  <a:prstClr val="black"/>
                </a:solidFill>
                <a:effectLst/>
                <a:uLnTx/>
                <a:uFillTx/>
                <a:latin typeface="Assistant" pitchFamily="2" charset="-79"/>
                <a:ea typeface="+mn-ea"/>
                <a:cs typeface="Assistant" pitchFamily="2" charset="-79"/>
              </a:rPr>
              <a:t>(ולא להפך)</a:t>
            </a:r>
          </a:p>
          <a:p>
            <a:pPr marL="0" marR="0" lvl="0" indent="0" algn="r" defTabSz="914400" rtl="1" eaLnBrk="1" fontAlgn="auto" latinLnBrk="0" hangingPunct="1">
              <a:lnSpc>
                <a:spcPts val="2592"/>
              </a:lnSpc>
              <a:spcBef>
                <a:spcPts val="0"/>
              </a:spcBef>
              <a:spcAft>
                <a:spcPts val="0"/>
              </a:spcAft>
              <a:buClrTx/>
              <a:buSzTx/>
              <a:buFontTx/>
              <a:buNone/>
              <a:tabLst/>
              <a:defRPr/>
            </a:pPr>
            <a:endParaRPr kumimoji="0" lang="he-IL" sz="1620" b="0" i="0" u="none" strike="noStrike" kern="1200" cap="none" spc="0" normalizeH="0" baseline="0" noProof="0" dirty="0">
              <a:ln>
                <a:noFill/>
              </a:ln>
              <a:solidFill>
                <a:prstClr val="black"/>
              </a:solidFill>
              <a:effectLst/>
              <a:uLnTx/>
              <a:uFillTx/>
              <a:latin typeface="Assistant" pitchFamily="2" charset="-79"/>
              <a:ea typeface="+mn-ea"/>
              <a:cs typeface="Assistant" pitchFamily="2" charset="-79"/>
            </a:endParaRPr>
          </a:p>
          <a:p>
            <a:pPr marL="0" marR="0" lvl="0" indent="0" algn="r" defTabSz="914400" rtl="1" eaLnBrk="1" fontAlgn="auto" latinLnBrk="0" hangingPunct="1">
              <a:lnSpc>
                <a:spcPts val="2592"/>
              </a:lnSpc>
              <a:spcBef>
                <a:spcPts val="0"/>
              </a:spcBef>
              <a:spcAft>
                <a:spcPts val="0"/>
              </a:spcAft>
              <a:buClrTx/>
              <a:buSzTx/>
              <a:buFontTx/>
              <a:buNone/>
              <a:tabLst/>
              <a:defRPr/>
            </a:pPr>
            <a:endParaRPr kumimoji="0" lang="he-IL" sz="1620" b="0" i="0" u="none" strike="noStrike" kern="1200" cap="none" spc="0" normalizeH="0" baseline="0" noProof="0" dirty="0">
              <a:ln>
                <a:noFill/>
              </a:ln>
              <a:solidFill>
                <a:prstClr val="black"/>
              </a:solidFill>
              <a:effectLst/>
              <a:uLnTx/>
              <a:uFillTx/>
              <a:latin typeface="Assistant" pitchFamily="2" charset="-79"/>
              <a:ea typeface="Quattrocento" pitchFamily="34" charset="-122"/>
              <a:cs typeface="Assistant" pitchFamily="2" charset="-79"/>
            </a:endParaRPr>
          </a:p>
        </p:txBody>
      </p:sp>
      <p:sp>
        <p:nvSpPr>
          <p:cNvPr id="2" name="מלבן 1">
            <a:extLst>
              <a:ext uri="{FF2B5EF4-FFF2-40B4-BE49-F238E27FC236}">
                <a16:creationId xmlns:a16="http://schemas.microsoft.com/office/drawing/2014/main" id="{9ABE669E-07AC-B180-AEBC-DD2AA16BBEDF}"/>
              </a:ext>
            </a:extLst>
          </p:cNvPr>
          <p:cNvSpPr/>
          <p:nvPr/>
        </p:nvSpPr>
        <p:spPr>
          <a:xfrm>
            <a:off x="8219996" y="2486753"/>
            <a:ext cx="3510995" cy="2028177"/>
          </a:xfrm>
          <a:prstGeom prst="rect">
            <a:avLst/>
          </a:prstGeom>
          <a:noFill/>
          <a:ln w="3810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3" name="מלבן 2">
            <a:extLst>
              <a:ext uri="{FF2B5EF4-FFF2-40B4-BE49-F238E27FC236}">
                <a16:creationId xmlns:a16="http://schemas.microsoft.com/office/drawing/2014/main" id="{477D01F7-B059-4631-E6AA-2F5BFBFDC5B3}"/>
              </a:ext>
            </a:extLst>
          </p:cNvPr>
          <p:cNvSpPr/>
          <p:nvPr/>
        </p:nvSpPr>
        <p:spPr>
          <a:xfrm>
            <a:off x="619243" y="2486753"/>
            <a:ext cx="3593548" cy="2028177"/>
          </a:xfrm>
          <a:prstGeom prst="rect">
            <a:avLst/>
          </a:prstGeom>
          <a:noFill/>
          <a:ln w="3810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spTree>
    <p:extLst>
      <p:ext uri="{BB962C8B-B14F-4D97-AF65-F5344CB8AC3E}">
        <p14:creationId xmlns:p14="http://schemas.microsoft.com/office/powerpoint/2010/main" val="236689915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val 4">
            <a:extLst>
              <a:ext uri="{FF2B5EF4-FFF2-40B4-BE49-F238E27FC236}">
                <a16:creationId xmlns:a16="http://schemas.microsoft.com/office/drawing/2014/main" id="{C5C9E383-1D00-411F-BD3B-B067D716193C}"/>
              </a:ext>
            </a:extLst>
          </p:cNvPr>
          <p:cNvSpPr/>
          <p:nvPr/>
        </p:nvSpPr>
        <p:spPr>
          <a:xfrm>
            <a:off x="10955443" y="5707972"/>
            <a:ext cx="144000" cy="144000"/>
          </a:xfrm>
          <a:prstGeom prst="ellipse">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white"/>
              </a:solidFill>
              <a:effectLst/>
              <a:uLnTx/>
              <a:uFillTx/>
              <a:latin typeface="Calibri"/>
              <a:ea typeface="+mn-ea"/>
              <a:cs typeface="Calibri"/>
            </a:endParaRPr>
          </a:p>
        </p:txBody>
      </p:sp>
      <p:sp>
        <p:nvSpPr>
          <p:cNvPr id="15" name="תיבת טקסט 5">
            <a:extLst>
              <a:ext uri="{FF2B5EF4-FFF2-40B4-BE49-F238E27FC236}">
                <a16:creationId xmlns:a16="http://schemas.microsoft.com/office/drawing/2014/main" id="{C3F1E569-6A48-4E32-9380-64C2E34EA53B}"/>
              </a:ext>
            </a:extLst>
          </p:cNvPr>
          <p:cNvSpPr txBox="1"/>
          <p:nvPr/>
        </p:nvSpPr>
        <p:spPr>
          <a:xfrm>
            <a:off x="4418616" y="224061"/>
            <a:ext cx="5446721" cy="1292662"/>
          </a:xfrm>
          <a:prstGeom prst="rect">
            <a:avLst/>
          </a:prstGeom>
          <a:noFill/>
        </p:spPr>
        <p:txBody>
          <a:bodyPr wrap="squar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400" b="1" i="0" u="none" strike="noStrike" kern="1200" cap="none" spc="0" normalizeH="0" baseline="0" noProof="0" dirty="0">
                <a:ln>
                  <a:noFill/>
                </a:ln>
                <a:solidFill>
                  <a:srgbClr val="0F6FC6"/>
                </a:solidFill>
                <a:effectLst/>
                <a:uLnTx/>
                <a:uFillTx/>
                <a:latin typeface="Assistant" pitchFamily="2" charset="-79"/>
                <a:ea typeface="+mn-ea"/>
                <a:cs typeface="Assistant" pitchFamily="2" charset="-79"/>
              </a:rPr>
              <a:t>פנינה לוי, </a:t>
            </a:r>
            <a:r>
              <a:rPr kumimoji="0" lang="he-IL" sz="1800" b="1" i="0" u="none" strike="noStrike" kern="1200" cap="none" spc="0" normalizeH="0" baseline="0" noProof="0" dirty="0">
                <a:ln>
                  <a:noFill/>
                </a:ln>
                <a:solidFill>
                  <a:srgbClr val="0F6FC6"/>
                </a:solidFill>
                <a:effectLst/>
                <a:uLnTx/>
                <a:uFillTx/>
                <a:latin typeface="Assistant" pitchFamily="2" charset="-79"/>
                <a:ea typeface="+mn-ea"/>
                <a:cs typeface="Assistant" pitchFamily="2" charset="-79"/>
              </a:rPr>
              <a:t>רמת סיעוד 2 </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(מייצגת 15% מהזקנים בישראל ברמות סיעוד הנמוכות)</a:t>
            </a:r>
          </a:p>
          <a:p>
            <a:pPr marL="0" marR="0" lvl="0" indent="0" algn="r" defTabSz="914400" rtl="1" eaLnBrk="1" fontAlgn="auto" latinLnBrk="0" hangingPunct="1">
              <a:lnSpc>
                <a:spcPct val="100000"/>
              </a:lnSpc>
              <a:spcBef>
                <a:spcPts val="0"/>
              </a:spcBef>
              <a:spcAft>
                <a:spcPts val="0"/>
              </a:spcAft>
              <a:buClrTx/>
              <a:buSzTx/>
              <a:buFontTx/>
              <a:buNone/>
              <a:tabLst/>
              <a:defRPr/>
            </a:pPr>
            <a:br>
              <a:rPr kumimoji="0" lang="en-US" sz="1800" b="1"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br>
            <a:r>
              <a:rPr kumimoji="0" lang="he-IL" sz="1800" b="0"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בת 71, אלמנה, גרה עם בנה הגרוש</a:t>
            </a:r>
          </a:p>
        </p:txBody>
      </p:sp>
      <p:sp>
        <p:nvSpPr>
          <p:cNvPr id="17" name="תיבת טקסט 9">
            <a:extLst>
              <a:ext uri="{FF2B5EF4-FFF2-40B4-BE49-F238E27FC236}">
                <a16:creationId xmlns:a16="http://schemas.microsoft.com/office/drawing/2014/main" id="{27291A11-BE90-4BE3-A04D-E8DC9C14A245}"/>
              </a:ext>
            </a:extLst>
          </p:cNvPr>
          <p:cNvSpPr txBox="1"/>
          <p:nvPr/>
        </p:nvSpPr>
        <p:spPr>
          <a:xfrm>
            <a:off x="3512689" y="2514996"/>
            <a:ext cx="4826001" cy="2126736"/>
          </a:xfrm>
          <a:prstGeom prst="rect">
            <a:avLst/>
          </a:prstGeom>
          <a:noFill/>
        </p:spPr>
        <p:txBody>
          <a:bodyPr wrap="square">
            <a:spAutoFit/>
          </a:bodyPr>
          <a:lstStyle/>
          <a:p>
            <a:pPr marL="0" marR="0" lvl="0" indent="0" algn="r" defTabSz="914400" rtl="1" eaLnBrk="1" fontAlgn="auto" latinLnBrk="0" hangingPunct="1">
              <a:lnSpc>
                <a:spcPct val="150000"/>
              </a:lnSpc>
              <a:spcBef>
                <a:spcPts val="0"/>
              </a:spcBef>
              <a:spcAft>
                <a:spcPts val="1800"/>
              </a:spcAft>
              <a:buClrTx/>
              <a:buSzTx/>
              <a:buFontTx/>
              <a:buNone/>
              <a:tabLst/>
              <a:defRPr/>
            </a:pPr>
            <a:r>
              <a:rPr kumimoji="0" lang="he-IL" sz="1800" b="1" i="0" u="none" strike="noStrike" kern="1200" cap="none" spc="0" normalizeH="0" baseline="0" noProof="0" dirty="0">
                <a:ln>
                  <a:noFill/>
                </a:ln>
                <a:solidFill>
                  <a:srgbClr val="0F6FC6"/>
                </a:solidFill>
                <a:effectLst/>
                <a:uLnTx/>
                <a:uFillTx/>
                <a:latin typeface="Assistant" pitchFamily="2" charset="-79"/>
                <a:ea typeface="+mn-ea"/>
                <a:cs typeface="Assistant" pitchFamily="2" charset="-79"/>
              </a:rPr>
              <a:t>היום יום של פנינה מתאפיין ב:</a:t>
            </a:r>
            <a:br>
              <a:rPr kumimoji="0" lang="en-US" sz="1800" b="1" i="0" u="none" strike="noStrike" kern="1200" cap="none" spc="0" normalizeH="0" baseline="0" noProof="0" dirty="0">
                <a:ln>
                  <a:noFill/>
                </a:ln>
                <a:solidFill>
                  <a:srgbClr val="0F6FC6"/>
                </a:solidFill>
                <a:effectLst/>
                <a:uLnTx/>
                <a:uFillTx/>
                <a:latin typeface="Assistant" pitchFamily="2" charset="-79"/>
                <a:ea typeface="+mn-ea"/>
                <a:cs typeface="Assistant" pitchFamily="2" charset="-79"/>
              </a:rPr>
            </a:br>
            <a:r>
              <a:rPr kumimoji="0" lang="he-IL" sz="1800" b="1"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קשיי תפקוד: </a:t>
            </a:r>
            <a:r>
              <a:rPr kumimoji="0" lang="he-IL" sz="1800" b="0"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פנינה יוצאת מעט מביתה</a:t>
            </a:r>
            <a:br>
              <a:rPr kumimoji="0" lang="en-US" sz="1800" b="0"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br>
            <a:r>
              <a:rPr kumimoji="0" lang="he-IL" sz="1800" b="1"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בדידות: </a:t>
            </a:r>
            <a:r>
              <a:rPr kumimoji="0" lang="he-IL" sz="1800" b="0"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פנינה מרגישה בודדה ומבודדת </a:t>
            </a:r>
            <a:br>
              <a:rPr kumimoji="0" lang="en-US" sz="1800" b="0"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br>
            <a:r>
              <a:rPr kumimoji="0" lang="he-IL" sz="1800" b="1"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תלות בבן: </a:t>
            </a:r>
            <a:r>
              <a:rPr kumimoji="0" lang="he-IL" sz="1800" b="0"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רגשות אשמה ועומס על הבן</a:t>
            </a:r>
            <a:br>
              <a:rPr kumimoji="0" lang="en-US" sz="1800" b="0"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br>
            <a:r>
              <a:rPr kumimoji="0" lang="he-IL" sz="1800" b="1"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חשש מנפילות: </a:t>
            </a:r>
            <a:r>
              <a:rPr kumimoji="0" lang="he-IL" sz="1800" b="0"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מונע ממנה לצאת מהבית </a:t>
            </a:r>
          </a:p>
        </p:txBody>
      </p:sp>
      <p:sp>
        <p:nvSpPr>
          <p:cNvPr id="18" name="תיבת טקסט 12">
            <a:extLst>
              <a:ext uri="{FF2B5EF4-FFF2-40B4-BE49-F238E27FC236}">
                <a16:creationId xmlns:a16="http://schemas.microsoft.com/office/drawing/2014/main" id="{0749F052-554F-4F10-8C2A-4DAF457FDE1E}"/>
              </a:ext>
            </a:extLst>
          </p:cNvPr>
          <p:cNvSpPr txBox="1"/>
          <p:nvPr/>
        </p:nvSpPr>
        <p:spPr>
          <a:xfrm>
            <a:off x="1549301" y="5191093"/>
            <a:ext cx="9246550" cy="588879"/>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1">
            <a:spAutoFit/>
          </a:bodyPr>
          <a:lstStyle/>
          <a:p>
            <a:pPr marL="0" marR="0" lvl="0" indent="0" algn="r" defTabSz="914400" rtl="1" eaLnBrk="1" fontAlgn="auto" latinLnBrk="0" hangingPunct="1">
              <a:lnSpc>
                <a:spcPct val="150000"/>
              </a:lnSpc>
              <a:spcBef>
                <a:spcPts val="0"/>
              </a:spcBef>
              <a:spcAft>
                <a:spcPts val="0"/>
              </a:spcAft>
              <a:buClrTx/>
              <a:buSzTx/>
              <a:buFontTx/>
              <a:buNone/>
              <a:tabLst/>
              <a:defRPr/>
            </a:pPr>
            <a:r>
              <a:rPr kumimoji="0" lang="he-IL" sz="2400" b="1" i="0" u="none" strike="noStrike" kern="1200" cap="none" spc="0" normalizeH="0" baseline="0" noProof="0" dirty="0">
                <a:ln>
                  <a:noFill/>
                </a:ln>
                <a:solidFill>
                  <a:prstClr val="black"/>
                </a:solidFill>
                <a:effectLst/>
                <a:uLnTx/>
                <a:uFillTx/>
                <a:latin typeface="Assistant" pitchFamily="2" charset="-79"/>
                <a:ea typeface="+mn-ea"/>
                <a:cs typeface="Assistant" pitchFamily="2" charset="-79"/>
              </a:rPr>
              <a:t>האם הסל שפנינה צריכה לקבל זהה לכ160,000 זכאים ברמות הנמוכות?</a:t>
            </a:r>
          </a:p>
        </p:txBody>
      </p:sp>
      <p:pic>
        <p:nvPicPr>
          <p:cNvPr id="19" name="Picture 18">
            <a:extLst>
              <a:ext uri="{FF2B5EF4-FFF2-40B4-BE49-F238E27FC236}">
                <a16:creationId xmlns:a16="http://schemas.microsoft.com/office/drawing/2014/main" id="{28396BA2-6E09-4B7A-BD20-D26C6C3D608C}"/>
              </a:ext>
            </a:extLst>
          </p:cNvPr>
          <p:cNvPicPr>
            <a:picLocks noChangeAspect="1"/>
          </p:cNvPicPr>
          <p:nvPr/>
        </p:nvPicPr>
        <p:blipFill rotWithShape="1">
          <a:blip r:embed="rId3" cstate="email">
            <a:extLst>
              <a:ext uri="{BEBA8EAE-BF5A-486C-A8C5-ECC9F3942E4B}">
                <a14:imgProps xmlns:a14="http://schemas.microsoft.com/office/drawing/2010/main">
                  <a14:imgLayer r:embed="rId4">
                    <a14:imgEffect>
                      <a14:saturation sat="0"/>
                    </a14:imgEffect>
                  </a14:imgLayer>
                </a14:imgProps>
              </a:ext>
              <a:ext uri="{28A0092B-C50C-407E-A947-70E740481C1C}">
                <a14:useLocalDpi xmlns:a14="http://schemas.microsoft.com/office/drawing/2010/main"/>
              </a:ext>
            </a:extLst>
          </a:blip>
          <a:srcRect/>
          <a:stretch/>
        </p:blipFill>
        <p:spPr>
          <a:xfrm>
            <a:off x="8945222" y="1304042"/>
            <a:ext cx="2415365" cy="3314633"/>
          </a:xfrm>
          <a:prstGeom prst="rect">
            <a:avLst/>
          </a:prstGeom>
        </p:spPr>
      </p:pic>
      <p:sp>
        <p:nvSpPr>
          <p:cNvPr id="26" name="Text 7">
            <a:extLst>
              <a:ext uri="{FF2B5EF4-FFF2-40B4-BE49-F238E27FC236}">
                <a16:creationId xmlns:a16="http://schemas.microsoft.com/office/drawing/2014/main" id="{0B489560-F7D7-4336-8787-BB476E6F04E6}"/>
              </a:ext>
            </a:extLst>
          </p:cNvPr>
          <p:cNvSpPr/>
          <p:nvPr/>
        </p:nvSpPr>
        <p:spPr>
          <a:xfrm>
            <a:off x="8954012" y="5851972"/>
            <a:ext cx="1822651" cy="302618"/>
          </a:xfrm>
          <a:prstGeom prst="rect">
            <a:avLst/>
          </a:prstGeom>
          <a:noFill/>
          <a:ln/>
        </p:spPr>
        <p:txBody>
          <a:bodyPr wrap="none" rtlCol="0" anchor="b"/>
          <a:lstStyle/>
          <a:p>
            <a:pPr marL="0" marR="0" lvl="0" indent="0" algn="r" defTabSz="914400" rtl="1" eaLnBrk="1" fontAlgn="auto" latinLnBrk="0" hangingPunct="1">
              <a:lnSpc>
                <a:spcPts val="2382"/>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black"/>
                </a:solidFill>
                <a:effectLst/>
                <a:uLnTx/>
                <a:uFillTx/>
                <a:latin typeface="Assistant" pitchFamily="2" charset="-79"/>
                <a:ea typeface="Quattrocento" pitchFamily="34" charset="-122"/>
                <a:cs typeface="Assistant" pitchFamily="2" charset="-79"/>
              </a:rPr>
              <a:t>מטפלת?</a:t>
            </a:r>
            <a:endParaRPr kumimoji="0" lang="en-US" sz="1800" b="0" i="0" u="none" strike="noStrike" kern="1200" cap="none" spc="0" normalizeH="0" baseline="0" noProof="0" dirty="0">
              <a:ln>
                <a:noFill/>
              </a:ln>
              <a:solidFill>
                <a:prstClr val="black"/>
              </a:solidFill>
              <a:effectLst/>
              <a:uLnTx/>
              <a:uFillTx/>
              <a:latin typeface="Assistant" pitchFamily="2" charset="-79"/>
              <a:ea typeface="Quattrocento" pitchFamily="34" charset="-122"/>
              <a:cs typeface="Assistant" pitchFamily="2" charset="-79"/>
            </a:endParaRPr>
          </a:p>
        </p:txBody>
      </p:sp>
      <p:sp>
        <p:nvSpPr>
          <p:cNvPr id="28" name="Text 7">
            <a:extLst>
              <a:ext uri="{FF2B5EF4-FFF2-40B4-BE49-F238E27FC236}">
                <a16:creationId xmlns:a16="http://schemas.microsoft.com/office/drawing/2014/main" id="{3F24F495-547A-4155-9CFB-AC93F104C14C}"/>
              </a:ext>
            </a:extLst>
          </p:cNvPr>
          <p:cNvSpPr/>
          <p:nvPr/>
        </p:nvSpPr>
        <p:spPr>
          <a:xfrm>
            <a:off x="7131327" y="5851972"/>
            <a:ext cx="1822651" cy="302618"/>
          </a:xfrm>
          <a:prstGeom prst="rect">
            <a:avLst/>
          </a:prstGeom>
          <a:noFill/>
          <a:ln/>
        </p:spPr>
        <p:txBody>
          <a:bodyPr wrap="none" rtlCol="0" anchor="b"/>
          <a:lstStyle/>
          <a:p>
            <a:pPr marL="0" marR="0" lvl="0" indent="0" algn="r" defTabSz="914400" rtl="1" eaLnBrk="1" fontAlgn="auto" latinLnBrk="0" hangingPunct="1">
              <a:lnSpc>
                <a:spcPts val="2382"/>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black"/>
                </a:solidFill>
                <a:effectLst/>
                <a:uLnTx/>
                <a:uFillTx/>
                <a:latin typeface="Assistant" pitchFamily="2" charset="-79"/>
                <a:ea typeface="Quattrocento" pitchFamily="34" charset="-122"/>
                <a:cs typeface="Assistant" pitchFamily="2" charset="-79"/>
              </a:rPr>
              <a:t>טיטולים?</a:t>
            </a:r>
            <a:endParaRPr kumimoji="0" lang="en-US" sz="1800" b="0" i="0" u="none" strike="noStrike" kern="1200" cap="none" spc="0" normalizeH="0" baseline="0" noProof="0" dirty="0">
              <a:ln>
                <a:noFill/>
              </a:ln>
              <a:solidFill>
                <a:prstClr val="black"/>
              </a:solidFill>
              <a:effectLst/>
              <a:uLnTx/>
              <a:uFillTx/>
              <a:latin typeface="Assistant" pitchFamily="2" charset="-79"/>
              <a:ea typeface="Quattrocento" pitchFamily="34" charset="-122"/>
              <a:cs typeface="Assistant" pitchFamily="2" charset="-79"/>
            </a:endParaRPr>
          </a:p>
        </p:txBody>
      </p:sp>
      <p:sp>
        <p:nvSpPr>
          <p:cNvPr id="30" name="Text 7">
            <a:extLst>
              <a:ext uri="{FF2B5EF4-FFF2-40B4-BE49-F238E27FC236}">
                <a16:creationId xmlns:a16="http://schemas.microsoft.com/office/drawing/2014/main" id="{444C3F03-C278-4DB9-BD46-81228A265B5F}"/>
              </a:ext>
            </a:extLst>
          </p:cNvPr>
          <p:cNvSpPr/>
          <p:nvPr/>
        </p:nvSpPr>
        <p:spPr>
          <a:xfrm>
            <a:off x="5026130" y="5851972"/>
            <a:ext cx="1822651" cy="302618"/>
          </a:xfrm>
          <a:prstGeom prst="rect">
            <a:avLst/>
          </a:prstGeom>
          <a:noFill/>
          <a:ln/>
        </p:spPr>
        <p:txBody>
          <a:bodyPr wrap="none" rtlCol="0" anchor="b"/>
          <a:lstStyle/>
          <a:p>
            <a:pPr marL="0" marR="0" lvl="0" indent="0" algn="r" defTabSz="914400" rtl="1" eaLnBrk="1" fontAlgn="auto" latinLnBrk="0" hangingPunct="1">
              <a:lnSpc>
                <a:spcPts val="2382"/>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black"/>
                </a:solidFill>
                <a:effectLst/>
                <a:uLnTx/>
                <a:uFillTx/>
                <a:latin typeface="Assistant" pitchFamily="2" charset="-79"/>
                <a:ea typeface="Quattrocento" pitchFamily="34" charset="-122"/>
                <a:cs typeface="Assistant" pitchFamily="2" charset="-79"/>
              </a:rPr>
              <a:t>כסף?</a:t>
            </a:r>
            <a:endParaRPr kumimoji="0" lang="en-US" sz="1800" b="0" i="0" u="none" strike="noStrike" kern="1200" cap="none" spc="0" normalizeH="0" baseline="0" noProof="0" dirty="0">
              <a:ln>
                <a:noFill/>
              </a:ln>
              <a:solidFill>
                <a:prstClr val="black"/>
              </a:solidFill>
              <a:effectLst/>
              <a:uLnTx/>
              <a:uFillTx/>
              <a:latin typeface="Assistant" pitchFamily="2" charset="-79"/>
              <a:ea typeface="Quattrocento" pitchFamily="34" charset="-122"/>
              <a:cs typeface="Assistant" pitchFamily="2" charset="-79"/>
            </a:endParaRPr>
          </a:p>
        </p:txBody>
      </p:sp>
      <p:sp>
        <p:nvSpPr>
          <p:cNvPr id="32" name="Text 7">
            <a:extLst>
              <a:ext uri="{FF2B5EF4-FFF2-40B4-BE49-F238E27FC236}">
                <a16:creationId xmlns:a16="http://schemas.microsoft.com/office/drawing/2014/main" id="{3CAA22FC-42A8-4CBD-907E-4F889265FBD6}"/>
              </a:ext>
            </a:extLst>
          </p:cNvPr>
          <p:cNvSpPr/>
          <p:nvPr/>
        </p:nvSpPr>
        <p:spPr>
          <a:xfrm>
            <a:off x="3485957" y="5851972"/>
            <a:ext cx="1822651" cy="302618"/>
          </a:xfrm>
          <a:prstGeom prst="rect">
            <a:avLst/>
          </a:prstGeom>
          <a:noFill/>
          <a:ln/>
        </p:spPr>
        <p:txBody>
          <a:bodyPr wrap="none" rtlCol="0" anchor="b"/>
          <a:lstStyle/>
          <a:p>
            <a:pPr marL="0" marR="0" lvl="0" indent="0" algn="r" defTabSz="914400" rtl="1" eaLnBrk="1" fontAlgn="auto" latinLnBrk="0" hangingPunct="1">
              <a:lnSpc>
                <a:spcPts val="2382"/>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black"/>
                </a:solidFill>
                <a:effectLst/>
                <a:uLnTx/>
                <a:uFillTx/>
                <a:latin typeface="Assistant" pitchFamily="2" charset="-79"/>
                <a:ea typeface="Quattrocento" pitchFamily="34" charset="-122"/>
                <a:cs typeface="Assistant" pitchFamily="2" charset="-79"/>
              </a:rPr>
              <a:t>שירותי כביסה?</a:t>
            </a:r>
            <a:endParaRPr kumimoji="0" lang="en-US" sz="1800" b="0" i="0" u="none" strike="noStrike" kern="1200" cap="none" spc="0" normalizeH="0" baseline="0" noProof="0" dirty="0">
              <a:ln>
                <a:noFill/>
              </a:ln>
              <a:solidFill>
                <a:prstClr val="black"/>
              </a:solidFill>
              <a:effectLst/>
              <a:uLnTx/>
              <a:uFillTx/>
              <a:latin typeface="Assistant" pitchFamily="2" charset="-79"/>
              <a:ea typeface="Quattrocento" pitchFamily="34" charset="-122"/>
              <a:cs typeface="Assistant" pitchFamily="2" charset="-79"/>
            </a:endParaRPr>
          </a:p>
        </p:txBody>
      </p:sp>
      <p:sp>
        <p:nvSpPr>
          <p:cNvPr id="34" name="Text 7">
            <a:extLst>
              <a:ext uri="{FF2B5EF4-FFF2-40B4-BE49-F238E27FC236}">
                <a16:creationId xmlns:a16="http://schemas.microsoft.com/office/drawing/2014/main" id="{40C15470-1A3A-4772-A122-7AE6DCFE87BB}"/>
              </a:ext>
            </a:extLst>
          </p:cNvPr>
          <p:cNvSpPr/>
          <p:nvPr/>
        </p:nvSpPr>
        <p:spPr>
          <a:xfrm>
            <a:off x="1663272" y="5851972"/>
            <a:ext cx="1822651" cy="302618"/>
          </a:xfrm>
          <a:prstGeom prst="rect">
            <a:avLst/>
          </a:prstGeom>
          <a:noFill/>
          <a:ln/>
        </p:spPr>
        <p:txBody>
          <a:bodyPr wrap="none" rtlCol="0" anchor="b"/>
          <a:lstStyle/>
          <a:p>
            <a:pPr marL="0" marR="0" lvl="0" indent="0" algn="r" defTabSz="914400" rtl="1" eaLnBrk="1" fontAlgn="auto" latinLnBrk="0" hangingPunct="1">
              <a:lnSpc>
                <a:spcPts val="2382"/>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black"/>
                </a:solidFill>
                <a:effectLst/>
                <a:uLnTx/>
                <a:uFillTx/>
                <a:latin typeface="Assistant" pitchFamily="2" charset="-79"/>
                <a:ea typeface="Quattrocento" pitchFamily="34" charset="-122"/>
                <a:cs typeface="Assistant" pitchFamily="2" charset="-79"/>
              </a:rPr>
              <a:t>מרכז יום?</a:t>
            </a:r>
          </a:p>
        </p:txBody>
      </p:sp>
      <p:sp>
        <p:nvSpPr>
          <p:cNvPr id="14" name="TextBox 13">
            <a:extLst>
              <a:ext uri="{FF2B5EF4-FFF2-40B4-BE49-F238E27FC236}">
                <a16:creationId xmlns:a16="http://schemas.microsoft.com/office/drawing/2014/main" id="{5A80DECE-8E00-4E3F-8C57-49C736C83A45}"/>
              </a:ext>
            </a:extLst>
          </p:cNvPr>
          <p:cNvSpPr txBox="1"/>
          <p:nvPr/>
        </p:nvSpPr>
        <p:spPr>
          <a:xfrm>
            <a:off x="5537739" y="152061"/>
            <a:ext cx="6096000" cy="800219"/>
          </a:xfrm>
          <a:prstGeom prst="rect">
            <a:avLst/>
          </a:prstGeom>
          <a:noFill/>
        </p:spPr>
        <p:txBody>
          <a:bodyPr wrap="squar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800" b="1" i="0" u="none" strike="noStrike" kern="1200" cap="none" spc="0" normalizeH="0" baseline="0" noProof="0" dirty="0">
                <a:ln>
                  <a:noFill/>
                </a:ln>
                <a:solidFill>
                  <a:srgbClr val="0F6FC6"/>
                </a:solidFill>
                <a:effectLst/>
                <a:uLnTx/>
                <a:uFillTx/>
                <a:latin typeface="Calibri"/>
                <a:ea typeface="+mn-ea"/>
                <a:cs typeface="Calibri"/>
              </a:rPr>
              <a:t>מקרה בוחן -</a:t>
            </a:r>
            <a:br>
              <a:rPr kumimoji="0" lang="en-US" sz="1800" b="0" i="0" u="none" strike="noStrike" kern="1200" cap="none" spc="0" normalizeH="0" baseline="0" noProof="0" dirty="0">
                <a:ln>
                  <a:noFill/>
                </a:ln>
                <a:solidFill>
                  <a:prstClr val="black"/>
                </a:solidFill>
                <a:effectLst/>
                <a:uLnTx/>
                <a:uFillTx/>
                <a:latin typeface="Calibri"/>
                <a:ea typeface="+mn-ea"/>
                <a:cs typeface="Calibri"/>
              </a:rPr>
            </a:br>
            <a:endParaRPr kumimoji="0" lang="en-IL" sz="1800" b="0" i="0" u="none" strike="noStrike" kern="1200" cap="none" spc="0" normalizeH="0" baseline="0" noProof="0" dirty="0">
              <a:ln>
                <a:noFill/>
              </a:ln>
              <a:solidFill>
                <a:prstClr val="black"/>
              </a:solidFill>
              <a:effectLst/>
              <a:uLnTx/>
              <a:uFillTx/>
              <a:latin typeface="Calibri"/>
              <a:ea typeface="+mn-ea"/>
              <a:cs typeface="Calibri"/>
            </a:endParaRPr>
          </a:p>
        </p:txBody>
      </p:sp>
      <p:grpSp>
        <p:nvGrpSpPr>
          <p:cNvPr id="16" name="Group 15">
            <a:extLst>
              <a:ext uri="{FF2B5EF4-FFF2-40B4-BE49-F238E27FC236}">
                <a16:creationId xmlns:a16="http://schemas.microsoft.com/office/drawing/2014/main" id="{D3FFBADB-CA58-49C7-80E5-086E551EE241}"/>
              </a:ext>
            </a:extLst>
          </p:cNvPr>
          <p:cNvGrpSpPr>
            <a:grpSpLocks noChangeAspect="1"/>
          </p:cNvGrpSpPr>
          <p:nvPr/>
        </p:nvGrpSpPr>
        <p:grpSpPr>
          <a:xfrm>
            <a:off x="10838299" y="5630715"/>
            <a:ext cx="522288" cy="523875"/>
            <a:chOff x="11115676" y="4182110"/>
            <a:chExt cx="522288" cy="523875"/>
          </a:xfrm>
        </p:grpSpPr>
        <p:sp>
          <p:nvSpPr>
            <p:cNvPr id="20" name="Freeform 45">
              <a:extLst>
                <a:ext uri="{FF2B5EF4-FFF2-40B4-BE49-F238E27FC236}">
                  <a16:creationId xmlns:a16="http://schemas.microsoft.com/office/drawing/2014/main" id="{76DAA703-1792-4CF3-A118-69DD7F1B212F}"/>
                </a:ext>
              </a:extLst>
            </p:cNvPr>
            <p:cNvSpPr>
              <a:spLocks noEditPoints="1"/>
            </p:cNvSpPr>
            <p:nvPr/>
          </p:nvSpPr>
          <p:spPr bwMode="auto">
            <a:xfrm>
              <a:off x="11115676" y="4182110"/>
              <a:ext cx="522288" cy="523875"/>
            </a:xfrm>
            <a:custGeom>
              <a:avLst/>
              <a:gdLst>
                <a:gd name="T0" fmla="*/ 312 w 659"/>
                <a:gd name="T1" fmla="*/ 657 h 658"/>
                <a:gd name="T2" fmla="*/ 263 w 659"/>
                <a:gd name="T3" fmla="*/ 651 h 658"/>
                <a:gd name="T4" fmla="*/ 202 w 659"/>
                <a:gd name="T5" fmla="*/ 631 h 658"/>
                <a:gd name="T6" fmla="*/ 120 w 659"/>
                <a:gd name="T7" fmla="*/ 583 h 658"/>
                <a:gd name="T8" fmla="*/ 57 w 659"/>
                <a:gd name="T9" fmla="*/ 513 h 658"/>
                <a:gd name="T10" fmla="*/ 15 w 659"/>
                <a:gd name="T11" fmla="*/ 427 h 658"/>
                <a:gd name="T12" fmla="*/ 4 w 659"/>
                <a:gd name="T13" fmla="*/ 379 h 658"/>
                <a:gd name="T14" fmla="*/ 0 w 659"/>
                <a:gd name="T15" fmla="*/ 329 h 658"/>
                <a:gd name="T16" fmla="*/ 2 w 659"/>
                <a:gd name="T17" fmla="*/ 295 h 658"/>
                <a:gd name="T18" fmla="*/ 11 w 659"/>
                <a:gd name="T19" fmla="*/ 247 h 658"/>
                <a:gd name="T20" fmla="*/ 41 w 659"/>
                <a:gd name="T21" fmla="*/ 172 h 658"/>
                <a:gd name="T22" fmla="*/ 97 w 659"/>
                <a:gd name="T23" fmla="*/ 96 h 658"/>
                <a:gd name="T24" fmla="*/ 172 w 659"/>
                <a:gd name="T25" fmla="*/ 40 h 658"/>
                <a:gd name="T26" fmla="*/ 248 w 659"/>
                <a:gd name="T27" fmla="*/ 10 h 658"/>
                <a:gd name="T28" fmla="*/ 296 w 659"/>
                <a:gd name="T29" fmla="*/ 1 h 658"/>
                <a:gd name="T30" fmla="*/ 330 w 659"/>
                <a:gd name="T31" fmla="*/ 0 h 658"/>
                <a:gd name="T32" fmla="*/ 379 w 659"/>
                <a:gd name="T33" fmla="*/ 4 h 658"/>
                <a:gd name="T34" fmla="*/ 426 w 659"/>
                <a:gd name="T35" fmla="*/ 14 h 658"/>
                <a:gd name="T36" fmla="*/ 514 w 659"/>
                <a:gd name="T37" fmla="*/ 56 h 658"/>
                <a:gd name="T38" fmla="*/ 584 w 659"/>
                <a:gd name="T39" fmla="*/ 119 h 658"/>
                <a:gd name="T40" fmla="*/ 632 w 659"/>
                <a:gd name="T41" fmla="*/ 201 h 658"/>
                <a:gd name="T42" fmla="*/ 652 w 659"/>
                <a:gd name="T43" fmla="*/ 263 h 658"/>
                <a:gd name="T44" fmla="*/ 658 w 659"/>
                <a:gd name="T45" fmla="*/ 311 h 658"/>
                <a:gd name="T46" fmla="*/ 658 w 659"/>
                <a:gd name="T47" fmla="*/ 346 h 658"/>
                <a:gd name="T48" fmla="*/ 652 w 659"/>
                <a:gd name="T49" fmla="*/ 395 h 658"/>
                <a:gd name="T50" fmla="*/ 632 w 659"/>
                <a:gd name="T51" fmla="*/ 456 h 658"/>
                <a:gd name="T52" fmla="*/ 584 w 659"/>
                <a:gd name="T53" fmla="*/ 538 h 658"/>
                <a:gd name="T54" fmla="*/ 514 w 659"/>
                <a:gd name="T55" fmla="*/ 602 h 658"/>
                <a:gd name="T56" fmla="*/ 426 w 659"/>
                <a:gd name="T57" fmla="*/ 643 h 658"/>
                <a:gd name="T58" fmla="*/ 379 w 659"/>
                <a:gd name="T59" fmla="*/ 654 h 658"/>
                <a:gd name="T60" fmla="*/ 330 w 659"/>
                <a:gd name="T61" fmla="*/ 658 h 658"/>
                <a:gd name="T62" fmla="*/ 330 w 659"/>
                <a:gd name="T63" fmla="*/ 37 h 658"/>
                <a:gd name="T64" fmla="*/ 242 w 659"/>
                <a:gd name="T65" fmla="*/ 51 h 658"/>
                <a:gd name="T66" fmla="*/ 167 w 659"/>
                <a:gd name="T67" fmla="*/ 87 h 658"/>
                <a:gd name="T68" fmla="*/ 105 w 659"/>
                <a:gd name="T69" fmla="*/ 143 h 658"/>
                <a:gd name="T70" fmla="*/ 61 w 659"/>
                <a:gd name="T71" fmla="*/ 216 h 658"/>
                <a:gd name="T72" fmla="*/ 39 w 659"/>
                <a:gd name="T73" fmla="*/ 299 h 658"/>
                <a:gd name="T74" fmla="*/ 39 w 659"/>
                <a:gd name="T75" fmla="*/ 358 h 658"/>
                <a:gd name="T76" fmla="*/ 61 w 659"/>
                <a:gd name="T77" fmla="*/ 442 h 658"/>
                <a:gd name="T78" fmla="*/ 105 w 659"/>
                <a:gd name="T79" fmla="*/ 514 h 658"/>
                <a:gd name="T80" fmla="*/ 167 w 659"/>
                <a:gd name="T81" fmla="*/ 571 h 658"/>
                <a:gd name="T82" fmla="*/ 242 w 659"/>
                <a:gd name="T83" fmla="*/ 607 h 658"/>
                <a:gd name="T84" fmla="*/ 330 w 659"/>
                <a:gd name="T85" fmla="*/ 620 h 658"/>
                <a:gd name="T86" fmla="*/ 388 w 659"/>
                <a:gd name="T87" fmla="*/ 614 h 658"/>
                <a:gd name="T88" fmla="*/ 468 w 659"/>
                <a:gd name="T89" fmla="*/ 586 h 658"/>
                <a:gd name="T90" fmla="*/ 535 w 659"/>
                <a:gd name="T91" fmla="*/ 534 h 658"/>
                <a:gd name="T92" fmla="*/ 585 w 659"/>
                <a:gd name="T93" fmla="*/ 467 h 658"/>
                <a:gd name="T94" fmla="*/ 615 w 659"/>
                <a:gd name="T95" fmla="*/ 388 h 658"/>
                <a:gd name="T96" fmla="*/ 621 w 659"/>
                <a:gd name="T97" fmla="*/ 329 h 658"/>
                <a:gd name="T98" fmla="*/ 608 w 659"/>
                <a:gd name="T99" fmla="*/ 243 h 658"/>
                <a:gd name="T100" fmla="*/ 570 w 659"/>
                <a:gd name="T101" fmla="*/ 166 h 658"/>
                <a:gd name="T102" fmla="*/ 515 w 659"/>
                <a:gd name="T103" fmla="*/ 104 h 658"/>
                <a:gd name="T104" fmla="*/ 443 w 659"/>
                <a:gd name="T105" fmla="*/ 60 h 658"/>
                <a:gd name="T106" fmla="*/ 359 w 659"/>
                <a:gd name="T107" fmla="*/ 38 h 6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659" h="658">
                  <a:moveTo>
                    <a:pt x="330" y="658"/>
                  </a:moveTo>
                  <a:lnTo>
                    <a:pt x="330" y="658"/>
                  </a:lnTo>
                  <a:lnTo>
                    <a:pt x="312" y="657"/>
                  </a:lnTo>
                  <a:lnTo>
                    <a:pt x="296" y="655"/>
                  </a:lnTo>
                  <a:lnTo>
                    <a:pt x="280" y="654"/>
                  </a:lnTo>
                  <a:lnTo>
                    <a:pt x="263" y="651"/>
                  </a:lnTo>
                  <a:lnTo>
                    <a:pt x="248" y="647"/>
                  </a:lnTo>
                  <a:lnTo>
                    <a:pt x="232" y="643"/>
                  </a:lnTo>
                  <a:lnTo>
                    <a:pt x="202" y="631"/>
                  </a:lnTo>
                  <a:lnTo>
                    <a:pt x="172" y="618"/>
                  </a:lnTo>
                  <a:lnTo>
                    <a:pt x="146" y="602"/>
                  </a:lnTo>
                  <a:lnTo>
                    <a:pt x="120" y="583"/>
                  </a:lnTo>
                  <a:lnTo>
                    <a:pt x="97" y="561"/>
                  </a:lnTo>
                  <a:lnTo>
                    <a:pt x="76" y="538"/>
                  </a:lnTo>
                  <a:lnTo>
                    <a:pt x="57" y="513"/>
                  </a:lnTo>
                  <a:lnTo>
                    <a:pt x="41" y="486"/>
                  </a:lnTo>
                  <a:lnTo>
                    <a:pt x="26" y="456"/>
                  </a:lnTo>
                  <a:lnTo>
                    <a:pt x="15" y="427"/>
                  </a:lnTo>
                  <a:lnTo>
                    <a:pt x="11" y="411"/>
                  </a:lnTo>
                  <a:lnTo>
                    <a:pt x="7" y="395"/>
                  </a:lnTo>
                  <a:lnTo>
                    <a:pt x="4" y="379"/>
                  </a:lnTo>
                  <a:lnTo>
                    <a:pt x="2" y="362"/>
                  </a:lnTo>
                  <a:lnTo>
                    <a:pt x="0" y="346"/>
                  </a:lnTo>
                  <a:lnTo>
                    <a:pt x="0" y="329"/>
                  </a:lnTo>
                  <a:lnTo>
                    <a:pt x="0" y="329"/>
                  </a:lnTo>
                  <a:lnTo>
                    <a:pt x="0" y="311"/>
                  </a:lnTo>
                  <a:lnTo>
                    <a:pt x="2" y="295"/>
                  </a:lnTo>
                  <a:lnTo>
                    <a:pt x="4" y="279"/>
                  </a:lnTo>
                  <a:lnTo>
                    <a:pt x="7" y="263"/>
                  </a:lnTo>
                  <a:lnTo>
                    <a:pt x="11" y="247"/>
                  </a:lnTo>
                  <a:lnTo>
                    <a:pt x="15" y="231"/>
                  </a:lnTo>
                  <a:lnTo>
                    <a:pt x="26" y="201"/>
                  </a:lnTo>
                  <a:lnTo>
                    <a:pt x="41" y="172"/>
                  </a:lnTo>
                  <a:lnTo>
                    <a:pt x="57" y="145"/>
                  </a:lnTo>
                  <a:lnTo>
                    <a:pt x="76" y="119"/>
                  </a:lnTo>
                  <a:lnTo>
                    <a:pt x="97" y="96"/>
                  </a:lnTo>
                  <a:lnTo>
                    <a:pt x="120" y="75"/>
                  </a:lnTo>
                  <a:lnTo>
                    <a:pt x="146" y="56"/>
                  </a:lnTo>
                  <a:lnTo>
                    <a:pt x="172" y="40"/>
                  </a:lnTo>
                  <a:lnTo>
                    <a:pt x="202" y="25"/>
                  </a:lnTo>
                  <a:lnTo>
                    <a:pt x="232" y="14"/>
                  </a:lnTo>
                  <a:lnTo>
                    <a:pt x="248" y="10"/>
                  </a:lnTo>
                  <a:lnTo>
                    <a:pt x="263" y="6"/>
                  </a:lnTo>
                  <a:lnTo>
                    <a:pt x="280" y="4"/>
                  </a:lnTo>
                  <a:lnTo>
                    <a:pt x="296" y="1"/>
                  </a:lnTo>
                  <a:lnTo>
                    <a:pt x="312" y="0"/>
                  </a:lnTo>
                  <a:lnTo>
                    <a:pt x="330" y="0"/>
                  </a:lnTo>
                  <a:lnTo>
                    <a:pt x="330" y="0"/>
                  </a:lnTo>
                  <a:lnTo>
                    <a:pt x="346" y="0"/>
                  </a:lnTo>
                  <a:lnTo>
                    <a:pt x="363" y="1"/>
                  </a:lnTo>
                  <a:lnTo>
                    <a:pt x="379" y="4"/>
                  </a:lnTo>
                  <a:lnTo>
                    <a:pt x="396" y="6"/>
                  </a:lnTo>
                  <a:lnTo>
                    <a:pt x="412" y="10"/>
                  </a:lnTo>
                  <a:lnTo>
                    <a:pt x="426" y="14"/>
                  </a:lnTo>
                  <a:lnTo>
                    <a:pt x="457" y="25"/>
                  </a:lnTo>
                  <a:lnTo>
                    <a:pt x="486" y="40"/>
                  </a:lnTo>
                  <a:lnTo>
                    <a:pt x="514" y="56"/>
                  </a:lnTo>
                  <a:lnTo>
                    <a:pt x="538" y="75"/>
                  </a:lnTo>
                  <a:lnTo>
                    <a:pt x="562" y="96"/>
                  </a:lnTo>
                  <a:lnTo>
                    <a:pt x="584" y="119"/>
                  </a:lnTo>
                  <a:lnTo>
                    <a:pt x="603" y="145"/>
                  </a:lnTo>
                  <a:lnTo>
                    <a:pt x="619" y="172"/>
                  </a:lnTo>
                  <a:lnTo>
                    <a:pt x="632" y="201"/>
                  </a:lnTo>
                  <a:lnTo>
                    <a:pt x="644" y="231"/>
                  </a:lnTo>
                  <a:lnTo>
                    <a:pt x="648" y="247"/>
                  </a:lnTo>
                  <a:lnTo>
                    <a:pt x="652" y="263"/>
                  </a:lnTo>
                  <a:lnTo>
                    <a:pt x="655" y="279"/>
                  </a:lnTo>
                  <a:lnTo>
                    <a:pt x="656" y="295"/>
                  </a:lnTo>
                  <a:lnTo>
                    <a:pt x="658" y="311"/>
                  </a:lnTo>
                  <a:lnTo>
                    <a:pt x="659" y="329"/>
                  </a:lnTo>
                  <a:lnTo>
                    <a:pt x="659" y="329"/>
                  </a:lnTo>
                  <a:lnTo>
                    <a:pt x="658" y="346"/>
                  </a:lnTo>
                  <a:lnTo>
                    <a:pt x="656" y="362"/>
                  </a:lnTo>
                  <a:lnTo>
                    <a:pt x="655" y="379"/>
                  </a:lnTo>
                  <a:lnTo>
                    <a:pt x="652" y="395"/>
                  </a:lnTo>
                  <a:lnTo>
                    <a:pt x="648" y="411"/>
                  </a:lnTo>
                  <a:lnTo>
                    <a:pt x="644" y="427"/>
                  </a:lnTo>
                  <a:lnTo>
                    <a:pt x="632" y="456"/>
                  </a:lnTo>
                  <a:lnTo>
                    <a:pt x="619" y="486"/>
                  </a:lnTo>
                  <a:lnTo>
                    <a:pt x="603" y="513"/>
                  </a:lnTo>
                  <a:lnTo>
                    <a:pt x="584" y="538"/>
                  </a:lnTo>
                  <a:lnTo>
                    <a:pt x="562" y="561"/>
                  </a:lnTo>
                  <a:lnTo>
                    <a:pt x="538" y="583"/>
                  </a:lnTo>
                  <a:lnTo>
                    <a:pt x="514" y="602"/>
                  </a:lnTo>
                  <a:lnTo>
                    <a:pt x="486" y="618"/>
                  </a:lnTo>
                  <a:lnTo>
                    <a:pt x="457" y="631"/>
                  </a:lnTo>
                  <a:lnTo>
                    <a:pt x="426" y="643"/>
                  </a:lnTo>
                  <a:lnTo>
                    <a:pt x="412" y="647"/>
                  </a:lnTo>
                  <a:lnTo>
                    <a:pt x="396" y="651"/>
                  </a:lnTo>
                  <a:lnTo>
                    <a:pt x="379" y="654"/>
                  </a:lnTo>
                  <a:lnTo>
                    <a:pt x="363" y="655"/>
                  </a:lnTo>
                  <a:lnTo>
                    <a:pt x="346" y="657"/>
                  </a:lnTo>
                  <a:lnTo>
                    <a:pt x="330" y="658"/>
                  </a:lnTo>
                  <a:lnTo>
                    <a:pt x="330" y="658"/>
                  </a:lnTo>
                  <a:close/>
                  <a:moveTo>
                    <a:pt x="330" y="37"/>
                  </a:moveTo>
                  <a:lnTo>
                    <a:pt x="330" y="37"/>
                  </a:lnTo>
                  <a:lnTo>
                    <a:pt x="300" y="38"/>
                  </a:lnTo>
                  <a:lnTo>
                    <a:pt x="271" y="44"/>
                  </a:lnTo>
                  <a:lnTo>
                    <a:pt x="242" y="51"/>
                  </a:lnTo>
                  <a:lnTo>
                    <a:pt x="215" y="60"/>
                  </a:lnTo>
                  <a:lnTo>
                    <a:pt x="191" y="72"/>
                  </a:lnTo>
                  <a:lnTo>
                    <a:pt x="167" y="87"/>
                  </a:lnTo>
                  <a:lnTo>
                    <a:pt x="144" y="104"/>
                  </a:lnTo>
                  <a:lnTo>
                    <a:pt x="124" y="123"/>
                  </a:lnTo>
                  <a:lnTo>
                    <a:pt x="105" y="143"/>
                  </a:lnTo>
                  <a:lnTo>
                    <a:pt x="88" y="166"/>
                  </a:lnTo>
                  <a:lnTo>
                    <a:pt x="73" y="190"/>
                  </a:lnTo>
                  <a:lnTo>
                    <a:pt x="61" y="216"/>
                  </a:lnTo>
                  <a:lnTo>
                    <a:pt x="52" y="243"/>
                  </a:lnTo>
                  <a:lnTo>
                    <a:pt x="43" y="270"/>
                  </a:lnTo>
                  <a:lnTo>
                    <a:pt x="39" y="299"/>
                  </a:lnTo>
                  <a:lnTo>
                    <a:pt x="38" y="329"/>
                  </a:lnTo>
                  <a:lnTo>
                    <a:pt x="38" y="329"/>
                  </a:lnTo>
                  <a:lnTo>
                    <a:pt x="39" y="358"/>
                  </a:lnTo>
                  <a:lnTo>
                    <a:pt x="43" y="388"/>
                  </a:lnTo>
                  <a:lnTo>
                    <a:pt x="52" y="415"/>
                  </a:lnTo>
                  <a:lnTo>
                    <a:pt x="61" y="442"/>
                  </a:lnTo>
                  <a:lnTo>
                    <a:pt x="73" y="467"/>
                  </a:lnTo>
                  <a:lnTo>
                    <a:pt x="88" y="491"/>
                  </a:lnTo>
                  <a:lnTo>
                    <a:pt x="105" y="514"/>
                  </a:lnTo>
                  <a:lnTo>
                    <a:pt x="124" y="534"/>
                  </a:lnTo>
                  <a:lnTo>
                    <a:pt x="144" y="553"/>
                  </a:lnTo>
                  <a:lnTo>
                    <a:pt x="167" y="571"/>
                  </a:lnTo>
                  <a:lnTo>
                    <a:pt x="191" y="586"/>
                  </a:lnTo>
                  <a:lnTo>
                    <a:pt x="215" y="598"/>
                  </a:lnTo>
                  <a:lnTo>
                    <a:pt x="242" y="607"/>
                  </a:lnTo>
                  <a:lnTo>
                    <a:pt x="271" y="614"/>
                  </a:lnTo>
                  <a:lnTo>
                    <a:pt x="300" y="619"/>
                  </a:lnTo>
                  <a:lnTo>
                    <a:pt x="330" y="620"/>
                  </a:lnTo>
                  <a:lnTo>
                    <a:pt x="330" y="620"/>
                  </a:lnTo>
                  <a:lnTo>
                    <a:pt x="359" y="619"/>
                  </a:lnTo>
                  <a:lnTo>
                    <a:pt x="388" y="614"/>
                  </a:lnTo>
                  <a:lnTo>
                    <a:pt x="416" y="607"/>
                  </a:lnTo>
                  <a:lnTo>
                    <a:pt x="443" y="598"/>
                  </a:lnTo>
                  <a:lnTo>
                    <a:pt x="468" y="586"/>
                  </a:lnTo>
                  <a:lnTo>
                    <a:pt x="492" y="571"/>
                  </a:lnTo>
                  <a:lnTo>
                    <a:pt x="515" y="553"/>
                  </a:lnTo>
                  <a:lnTo>
                    <a:pt x="535" y="534"/>
                  </a:lnTo>
                  <a:lnTo>
                    <a:pt x="554" y="514"/>
                  </a:lnTo>
                  <a:lnTo>
                    <a:pt x="570" y="491"/>
                  </a:lnTo>
                  <a:lnTo>
                    <a:pt x="585" y="467"/>
                  </a:lnTo>
                  <a:lnTo>
                    <a:pt x="597" y="442"/>
                  </a:lnTo>
                  <a:lnTo>
                    <a:pt x="608" y="415"/>
                  </a:lnTo>
                  <a:lnTo>
                    <a:pt x="615" y="388"/>
                  </a:lnTo>
                  <a:lnTo>
                    <a:pt x="619" y="358"/>
                  </a:lnTo>
                  <a:lnTo>
                    <a:pt x="621" y="329"/>
                  </a:lnTo>
                  <a:lnTo>
                    <a:pt x="621" y="329"/>
                  </a:lnTo>
                  <a:lnTo>
                    <a:pt x="619" y="299"/>
                  </a:lnTo>
                  <a:lnTo>
                    <a:pt x="615" y="270"/>
                  </a:lnTo>
                  <a:lnTo>
                    <a:pt x="608" y="243"/>
                  </a:lnTo>
                  <a:lnTo>
                    <a:pt x="597" y="216"/>
                  </a:lnTo>
                  <a:lnTo>
                    <a:pt x="585" y="190"/>
                  </a:lnTo>
                  <a:lnTo>
                    <a:pt x="570" y="166"/>
                  </a:lnTo>
                  <a:lnTo>
                    <a:pt x="554" y="143"/>
                  </a:lnTo>
                  <a:lnTo>
                    <a:pt x="535" y="123"/>
                  </a:lnTo>
                  <a:lnTo>
                    <a:pt x="515" y="104"/>
                  </a:lnTo>
                  <a:lnTo>
                    <a:pt x="492" y="87"/>
                  </a:lnTo>
                  <a:lnTo>
                    <a:pt x="468" y="72"/>
                  </a:lnTo>
                  <a:lnTo>
                    <a:pt x="443" y="60"/>
                  </a:lnTo>
                  <a:lnTo>
                    <a:pt x="416" y="51"/>
                  </a:lnTo>
                  <a:lnTo>
                    <a:pt x="388" y="44"/>
                  </a:lnTo>
                  <a:lnTo>
                    <a:pt x="359" y="38"/>
                  </a:lnTo>
                  <a:lnTo>
                    <a:pt x="330" y="37"/>
                  </a:lnTo>
                  <a:lnTo>
                    <a:pt x="330" y="3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Calibri"/>
              </a:endParaRPr>
            </a:p>
          </p:txBody>
        </p:sp>
        <p:sp>
          <p:nvSpPr>
            <p:cNvPr id="21" name="Freeform 327">
              <a:extLst>
                <a:ext uri="{FF2B5EF4-FFF2-40B4-BE49-F238E27FC236}">
                  <a16:creationId xmlns:a16="http://schemas.microsoft.com/office/drawing/2014/main" id="{FD995344-6A98-4276-86D6-B8D342C39203}"/>
                </a:ext>
              </a:extLst>
            </p:cNvPr>
            <p:cNvSpPr>
              <a:spLocks/>
            </p:cNvSpPr>
            <p:nvPr/>
          </p:nvSpPr>
          <p:spPr bwMode="auto">
            <a:xfrm>
              <a:off x="11260138" y="4337685"/>
              <a:ext cx="66675" cy="66675"/>
            </a:xfrm>
            <a:custGeom>
              <a:avLst/>
              <a:gdLst>
                <a:gd name="T0" fmla="*/ 2 w 85"/>
                <a:gd name="T1" fmla="*/ 81 h 85"/>
                <a:gd name="T2" fmla="*/ 2 w 85"/>
                <a:gd name="T3" fmla="*/ 81 h 85"/>
                <a:gd name="T4" fmla="*/ 4 w 85"/>
                <a:gd name="T5" fmla="*/ 84 h 85"/>
                <a:gd name="T6" fmla="*/ 7 w 85"/>
                <a:gd name="T7" fmla="*/ 84 h 85"/>
                <a:gd name="T8" fmla="*/ 7 w 85"/>
                <a:gd name="T9" fmla="*/ 84 h 85"/>
                <a:gd name="T10" fmla="*/ 8 w 85"/>
                <a:gd name="T11" fmla="*/ 85 h 85"/>
                <a:gd name="T12" fmla="*/ 8 w 85"/>
                <a:gd name="T13" fmla="*/ 85 h 85"/>
                <a:gd name="T14" fmla="*/ 11 w 85"/>
                <a:gd name="T15" fmla="*/ 84 h 85"/>
                <a:gd name="T16" fmla="*/ 14 w 85"/>
                <a:gd name="T17" fmla="*/ 82 h 85"/>
                <a:gd name="T18" fmla="*/ 16 w 85"/>
                <a:gd name="T19" fmla="*/ 80 h 85"/>
                <a:gd name="T20" fmla="*/ 16 w 85"/>
                <a:gd name="T21" fmla="*/ 77 h 85"/>
                <a:gd name="T22" fmla="*/ 16 w 85"/>
                <a:gd name="T23" fmla="*/ 77 h 85"/>
                <a:gd name="T24" fmla="*/ 19 w 85"/>
                <a:gd name="T25" fmla="*/ 66 h 85"/>
                <a:gd name="T26" fmla="*/ 24 w 85"/>
                <a:gd name="T27" fmla="*/ 56 h 85"/>
                <a:gd name="T28" fmla="*/ 30 w 85"/>
                <a:gd name="T29" fmla="*/ 46 h 85"/>
                <a:gd name="T30" fmla="*/ 37 w 85"/>
                <a:gd name="T31" fmla="*/ 37 h 85"/>
                <a:gd name="T32" fmla="*/ 46 w 85"/>
                <a:gd name="T33" fmla="*/ 30 h 85"/>
                <a:gd name="T34" fmla="*/ 55 w 85"/>
                <a:gd name="T35" fmla="*/ 23 h 85"/>
                <a:gd name="T36" fmla="*/ 66 w 85"/>
                <a:gd name="T37" fmla="*/ 19 h 85"/>
                <a:gd name="T38" fmla="*/ 77 w 85"/>
                <a:gd name="T39" fmla="*/ 17 h 85"/>
                <a:gd name="T40" fmla="*/ 77 w 85"/>
                <a:gd name="T41" fmla="*/ 17 h 85"/>
                <a:gd name="T42" fmla="*/ 81 w 85"/>
                <a:gd name="T43" fmla="*/ 15 h 85"/>
                <a:gd name="T44" fmla="*/ 82 w 85"/>
                <a:gd name="T45" fmla="*/ 14 h 85"/>
                <a:gd name="T46" fmla="*/ 82 w 85"/>
                <a:gd name="T47" fmla="*/ 14 h 85"/>
                <a:gd name="T48" fmla="*/ 84 w 85"/>
                <a:gd name="T49" fmla="*/ 10 h 85"/>
                <a:gd name="T50" fmla="*/ 85 w 85"/>
                <a:gd name="T51" fmla="*/ 7 h 85"/>
                <a:gd name="T52" fmla="*/ 85 w 85"/>
                <a:gd name="T53" fmla="*/ 7 h 85"/>
                <a:gd name="T54" fmla="*/ 84 w 85"/>
                <a:gd name="T55" fmla="*/ 4 h 85"/>
                <a:gd name="T56" fmla="*/ 81 w 85"/>
                <a:gd name="T57" fmla="*/ 2 h 85"/>
                <a:gd name="T58" fmla="*/ 78 w 85"/>
                <a:gd name="T59" fmla="*/ 0 h 85"/>
                <a:gd name="T60" fmla="*/ 74 w 85"/>
                <a:gd name="T61" fmla="*/ 0 h 85"/>
                <a:gd name="T62" fmla="*/ 74 w 85"/>
                <a:gd name="T63" fmla="*/ 0 h 85"/>
                <a:gd name="T64" fmla="*/ 61 w 85"/>
                <a:gd name="T65" fmla="*/ 3 h 85"/>
                <a:gd name="T66" fmla="*/ 47 w 85"/>
                <a:gd name="T67" fmla="*/ 8 h 85"/>
                <a:gd name="T68" fmla="*/ 35 w 85"/>
                <a:gd name="T69" fmla="*/ 15 h 85"/>
                <a:gd name="T70" fmla="*/ 24 w 85"/>
                <a:gd name="T71" fmla="*/ 25 h 85"/>
                <a:gd name="T72" fmla="*/ 16 w 85"/>
                <a:gd name="T73" fmla="*/ 35 h 85"/>
                <a:gd name="T74" fmla="*/ 8 w 85"/>
                <a:gd name="T75" fmla="*/ 47 h 85"/>
                <a:gd name="T76" fmla="*/ 3 w 85"/>
                <a:gd name="T77" fmla="*/ 61 h 85"/>
                <a:gd name="T78" fmla="*/ 0 w 85"/>
                <a:gd name="T79" fmla="*/ 74 h 85"/>
                <a:gd name="T80" fmla="*/ 0 w 85"/>
                <a:gd name="T81" fmla="*/ 74 h 85"/>
                <a:gd name="T82" fmla="*/ 0 w 85"/>
                <a:gd name="T83" fmla="*/ 78 h 85"/>
                <a:gd name="T84" fmla="*/ 2 w 85"/>
                <a:gd name="T85" fmla="*/ 81 h 85"/>
                <a:gd name="T86" fmla="*/ 2 w 85"/>
                <a:gd name="T87" fmla="*/ 81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85" h="85">
                  <a:moveTo>
                    <a:pt x="2" y="81"/>
                  </a:moveTo>
                  <a:lnTo>
                    <a:pt x="2" y="81"/>
                  </a:lnTo>
                  <a:lnTo>
                    <a:pt x="4" y="84"/>
                  </a:lnTo>
                  <a:lnTo>
                    <a:pt x="7" y="84"/>
                  </a:lnTo>
                  <a:lnTo>
                    <a:pt x="7" y="84"/>
                  </a:lnTo>
                  <a:lnTo>
                    <a:pt x="8" y="85"/>
                  </a:lnTo>
                  <a:lnTo>
                    <a:pt x="8" y="85"/>
                  </a:lnTo>
                  <a:lnTo>
                    <a:pt x="11" y="84"/>
                  </a:lnTo>
                  <a:lnTo>
                    <a:pt x="14" y="82"/>
                  </a:lnTo>
                  <a:lnTo>
                    <a:pt x="16" y="80"/>
                  </a:lnTo>
                  <a:lnTo>
                    <a:pt x="16" y="77"/>
                  </a:lnTo>
                  <a:lnTo>
                    <a:pt x="16" y="77"/>
                  </a:lnTo>
                  <a:lnTo>
                    <a:pt x="19" y="66"/>
                  </a:lnTo>
                  <a:lnTo>
                    <a:pt x="24" y="56"/>
                  </a:lnTo>
                  <a:lnTo>
                    <a:pt x="30" y="46"/>
                  </a:lnTo>
                  <a:lnTo>
                    <a:pt x="37" y="37"/>
                  </a:lnTo>
                  <a:lnTo>
                    <a:pt x="46" y="30"/>
                  </a:lnTo>
                  <a:lnTo>
                    <a:pt x="55" y="23"/>
                  </a:lnTo>
                  <a:lnTo>
                    <a:pt x="66" y="19"/>
                  </a:lnTo>
                  <a:lnTo>
                    <a:pt x="77" y="17"/>
                  </a:lnTo>
                  <a:lnTo>
                    <a:pt x="77" y="17"/>
                  </a:lnTo>
                  <a:lnTo>
                    <a:pt x="81" y="15"/>
                  </a:lnTo>
                  <a:lnTo>
                    <a:pt x="82" y="14"/>
                  </a:lnTo>
                  <a:lnTo>
                    <a:pt x="82" y="14"/>
                  </a:lnTo>
                  <a:lnTo>
                    <a:pt x="84" y="10"/>
                  </a:lnTo>
                  <a:lnTo>
                    <a:pt x="85" y="7"/>
                  </a:lnTo>
                  <a:lnTo>
                    <a:pt x="85" y="7"/>
                  </a:lnTo>
                  <a:lnTo>
                    <a:pt x="84" y="4"/>
                  </a:lnTo>
                  <a:lnTo>
                    <a:pt x="81" y="2"/>
                  </a:lnTo>
                  <a:lnTo>
                    <a:pt x="78" y="0"/>
                  </a:lnTo>
                  <a:lnTo>
                    <a:pt x="74" y="0"/>
                  </a:lnTo>
                  <a:lnTo>
                    <a:pt x="74" y="0"/>
                  </a:lnTo>
                  <a:lnTo>
                    <a:pt x="61" y="3"/>
                  </a:lnTo>
                  <a:lnTo>
                    <a:pt x="47" y="8"/>
                  </a:lnTo>
                  <a:lnTo>
                    <a:pt x="35" y="15"/>
                  </a:lnTo>
                  <a:lnTo>
                    <a:pt x="24" y="25"/>
                  </a:lnTo>
                  <a:lnTo>
                    <a:pt x="16" y="35"/>
                  </a:lnTo>
                  <a:lnTo>
                    <a:pt x="8" y="47"/>
                  </a:lnTo>
                  <a:lnTo>
                    <a:pt x="3" y="61"/>
                  </a:lnTo>
                  <a:lnTo>
                    <a:pt x="0" y="74"/>
                  </a:lnTo>
                  <a:lnTo>
                    <a:pt x="0" y="74"/>
                  </a:lnTo>
                  <a:lnTo>
                    <a:pt x="0" y="78"/>
                  </a:lnTo>
                  <a:lnTo>
                    <a:pt x="2" y="81"/>
                  </a:lnTo>
                  <a:lnTo>
                    <a:pt x="2" y="8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Calibri"/>
              </a:endParaRPr>
            </a:p>
          </p:txBody>
        </p:sp>
        <p:sp>
          <p:nvSpPr>
            <p:cNvPr id="22" name="Freeform 328">
              <a:extLst>
                <a:ext uri="{FF2B5EF4-FFF2-40B4-BE49-F238E27FC236}">
                  <a16:creationId xmlns:a16="http://schemas.microsoft.com/office/drawing/2014/main" id="{A1ED770A-724F-497F-9FB1-8EE584298A72}"/>
                </a:ext>
              </a:extLst>
            </p:cNvPr>
            <p:cNvSpPr>
              <a:spLocks noEditPoints="1"/>
            </p:cNvSpPr>
            <p:nvPr/>
          </p:nvSpPr>
          <p:spPr bwMode="auto">
            <a:xfrm>
              <a:off x="11223626" y="4299585"/>
              <a:ext cx="284163" cy="285750"/>
            </a:xfrm>
            <a:custGeom>
              <a:avLst/>
              <a:gdLst>
                <a:gd name="T0" fmla="*/ 270 w 359"/>
                <a:gd name="T1" fmla="*/ 234 h 359"/>
                <a:gd name="T2" fmla="*/ 265 w 359"/>
                <a:gd name="T3" fmla="*/ 232 h 359"/>
                <a:gd name="T4" fmla="*/ 261 w 359"/>
                <a:gd name="T5" fmla="*/ 233 h 359"/>
                <a:gd name="T6" fmla="*/ 237 w 359"/>
                <a:gd name="T7" fmla="*/ 221 h 359"/>
                <a:gd name="T8" fmla="*/ 250 w 359"/>
                <a:gd name="T9" fmla="*/ 201 h 359"/>
                <a:gd name="T10" fmla="*/ 264 w 359"/>
                <a:gd name="T11" fmla="*/ 168 h 359"/>
                <a:gd name="T12" fmla="*/ 268 w 359"/>
                <a:gd name="T13" fmla="*/ 135 h 359"/>
                <a:gd name="T14" fmla="*/ 265 w 359"/>
                <a:gd name="T15" fmla="*/ 108 h 359"/>
                <a:gd name="T16" fmla="*/ 252 w 359"/>
                <a:gd name="T17" fmla="*/ 70 h 359"/>
                <a:gd name="T18" fmla="*/ 229 w 359"/>
                <a:gd name="T19" fmla="*/ 39 h 359"/>
                <a:gd name="T20" fmla="*/ 198 w 359"/>
                <a:gd name="T21" fmla="*/ 16 h 359"/>
                <a:gd name="T22" fmla="*/ 161 w 359"/>
                <a:gd name="T23" fmla="*/ 3 h 359"/>
                <a:gd name="T24" fmla="*/ 135 w 359"/>
                <a:gd name="T25" fmla="*/ 0 h 359"/>
                <a:gd name="T26" fmla="*/ 94 w 359"/>
                <a:gd name="T27" fmla="*/ 6 h 359"/>
                <a:gd name="T28" fmla="*/ 59 w 359"/>
                <a:gd name="T29" fmla="*/ 23 h 359"/>
                <a:gd name="T30" fmla="*/ 31 w 359"/>
                <a:gd name="T31" fmla="*/ 49 h 359"/>
                <a:gd name="T32" fmla="*/ 11 w 359"/>
                <a:gd name="T33" fmla="*/ 82 h 359"/>
                <a:gd name="T34" fmla="*/ 2 w 359"/>
                <a:gd name="T35" fmla="*/ 120 h 359"/>
                <a:gd name="T36" fmla="*/ 2 w 359"/>
                <a:gd name="T37" fmla="*/ 148 h 359"/>
                <a:gd name="T38" fmla="*/ 11 w 359"/>
                <a:gd name="T39" fmla="*/ 186 h 359"/>
                <a:gd name="T40" fmla="*/ 31 w 359"/>
                <a:gd name="T41" fmla="*/ 219 h 359"/>
                <a:gd name="T42" fmla="*/ 59 w 359"/>
                <a:gd name="T43" fmla="*/ 245 h 359"/>
                <a:gd name="T44" fmla="*/ 94 w 359"/>
                <a:gd name="T45" fmla="*/ 262 h 359"/>
                <a:gd name="T46" fmla="*/ 135 w 359"/>
                <a:gd name="T47" fmla="*/ 268 h 359"/>
                <a:gd name="T48" fmla="*/ 157 w 359"/>
                <a:gd name="T49" fmla="*/ 266 h 359"/>
                <a:gd name="T50" fmla="*/ 191 w 359"/>
                <a:gd name="T51" fmla="*/ 256 h 359"/>
                <a:gd name="T52" fmla="*/ 221 w 359"/>
                <a:gd name="T53" fmla="*/ 237 h 359"/>
                <a:gd name="T54" fmla="*/ 234 w 359"/>
                <a:gd name="T55" fmla="*/ 258 h 359"/>
                <a:gd name="T56" fmla="*/ 231 w 359"/>
                <a:gd name="T57" fmla="*/ 265 h 359"/>
                <a:gd name="T58" fmla="*/ 320 w 359"/>
                <a:gd name="T59" fmla="*/ 357 h 359"/>
                <a:gd name="T60" fmla="*/ 327 w 359"/>
                <a:gd name="T61" fmla="*/ 359 h 359"/>
                <a:gd name="T62" fmla="*/ 327 w 359"/>
                <a:gd name="T63" fmla="*/ 359 h 359"/>
                <a:gd name="T64" fmla="*/ 356 w 359"/>
                <a:gd name="T65" fmla="*/ 332 h 359"/>
                <a:gd name="T66" fmla="*/ 359 w 359"/>
                <a:gd name="T67" fmla="*/ 327 h 359"/>
                <a:gd name="T68" fmla="*/ 356 w 359"/>
                <a:gd name="T69" fmla="*/ 320 h 359"/>
                <a:gd name="T70" fmla="*/ 135 w 359"/>
                <a:gd name="T71" fmla="*/ 18 h 359"/>
                <a:gd name="T72" fmla="*/ 168 w 359"/>
                <a:gd name="T73" fmla="*/ 23 h 359"/>
                <a:gd name="T74" fmla="*/ 199 w 359"/>
                <a:gd name="T75" fmla="*/ 38 h 359"/>
                <a:gd name="T76" fmla="*/ 225 w 359"/>
                <a:gd name="T77" fmla="*/ 59 h 359"/>
                <a:gd name="T78" fmla="*/ 242 w 359"/>
                <a:gd name="T79" fmla="*/ 89 h 359"/>
                <a:gd name="T80" fmla="*/ 250 w 359"/>
                <a:gd name="T81" fmla="*/ 123 h 359"/>
                <a:gd name="T82" fmla="*/ 250 w 359"/>
                <a:gd name="T83" fmla="*/ 146 h 359"/>
                <a:gd name="T84" fmla="*/ 242 w 359"/>
                <a:gd name="T85" fmla="*/ 179 h 359"/>
                <a:gd name="T86" fmla="*/ 225 w 359"/>
                <a:gd name="T87" fmla="*/ 209 h 359"/>
                <a:gd name="T88" fmla="*/ 199 w 359"/>
                <a:gd name="T89" fmla="*/ 230 h 359"/>
                <a:gd name="T90" fmla="*/ 168 w 359"/>
                <a:gd name="T91" fmla="*/ 245 h 359"/>
                <a:gd name="T92" fmla="*/ 135 w 359"/>
                <a:gd name="T93" fmla="*/ 250 h 359"/>
                <a:gd name="T94" fmla="*/ 110 w 359"/>
                <a:gd name="T95" fmla="*/ 249 h 359"/>
                <a:gd name="T96" fmla="*/ 78 w 359"/>
                <a:gd name="T97" fmla="*/ 237 h 359"/>
                <a:gd name="T98" fmla="*/ 51 w 359"/>
                <a:gd name="T99" fmla="*/ 217 h 359"/>
                <a:gd name="T100" fmla="*/ 31 w 359"/>
                <a:gd name="T101" fmla="*/ 190 h 359"/>
                <a:gd name="T102" fmla="*/ 20 w 359"/>
                <a:gd name="T103" fmla="*/ 158 h 359"/>
                <a:gd name="T104" fmla="*/ 18 w 359"/>
                <a:gd name="T105" fmla="*/ 135 h 359"/>
                <a:gd name="T106" fmla="*/ 23 w 359"/>
                <a:gd name="T107" fmla="*/ 100 h 359"/>
                <a:gd name="T108" fmla="*/ 38 w 359"/>
                <a:gd name="T109" fmla="*/ 69 h 359"/>
                <a:gd name="T110" fmla="*/ 61 w 359"/>
                <a:gd name="T111" fmla="*/ 45 h 359"/>
                <a:gd name="T112" fmla="*/ 89 w 359"/>
                <a:gd name="T113" fmla="*/ 27 h 359"/>
                <a:gd name="T114" fmla="*/ 122 w 359"/>
                <a:gd name="T115" fmla="*/ 18 h 3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359" h="359">
                  <a:moveTo>
                    <a:pt x="356" y="320"/>
                  </a:moveTo>
                  <a:lnTo>
                    <a:pt x="270" y="234"/>
                  </a:lnTo>
                  <a:lnTo>
                    <a:pt x="270" y="234"/>
                  </a:lnTo>
                  <a:lnTo>
                    <a:pt x="268" y="233"/>
                  </a:lnTo>
                  <a:lnTo>
                    <a:pt x="265" y="232"/>
                  </a:lnTo>
                  <a:lnTo>
                    <a:pt x="265" y="232"/>
                  </a:lnTo>
                  <a:lnTo>
                    <a:pt x="265" y="232"/>
                  </a:lnTo>
                  <a:lnTo>
                    <a:pt x="265" y="232"/>
                  </a:lnTo>
                  <a:lnTo>
                    <a:pt x="261" y="233"/>
                  </a:lnTo>
                  <a:lnTo>
                    <a:pt x="258" y="234"/>
                  </a:lnTo>
                  <a:lnTo>
                    <a:pt x="254" y="238"/>
                  </a:lnTo>
                  <a:lnTo>
                    <a:pt x="237" y="221"/>
                  </a:lnTo>
                  <a:lnTo>
                    <a:pt x="237" y="221"/>
                  </a:lnTo>
                  <a:lnTo>
                    <a:pt x="243" y="211"/>
                  </a:lnTo>
                  <a:lnTo>
                    <a:pt x="250" y="201"/>
                  </a:lnTo>
                  <a:lnTo>
                    <a:pt x="256" y="191"/>
                  </a:lnTo>
                  <a:lnTo>
                    <a:pt x="260" y="180"/>
                  </a:lnTo>
                  <a:lnTo>
                    <a:pt x="264" y="168"/>
                  </a:lnTo>
                  <a:lnTo>
                    <a:pt x="266" y="158"/>
                  </a:lnTo>
                  <a:lnTo>
                    <a:pt x="268" y="146"/>
                  </a:lnTo>
                  <a:lnTo>
                    <a:pt x="268" y="135"/>
                  </a:lnTo>
                  <a:lnTo>
                    <a:pt x="268" y="135"/>
                  </a:lnTo>
                  <a:lnTo>
                    <a:pt x="268" y="120"/>
                  </a:lnTo>
                  <a:lnTo>
                    <a:pt x="265" y="108"/>
                  </a:lnTo>
                  <a:lnTo>
                    <a:pt x="262" y="94"/>
                  </a:lnTo>
                  <a:lnTo>
                    <a:pt x="257" y="82"/>
                  </a:lnTo>
                  <a:lnTo>
                    <a:pt x="252" y="70"/>
                  </a:lnTo>
                  <a:lnTo>
                    <a:pt x="245" y="59"/>
                  </a:lnTo>
                  <a:lnTo>
                    <a:pt x="238" y="49"/>
                  </a:lnTo>
                  <a:lnTo>
                    <a:pt x="229" y="39"/>
                  </a:lnTo>
                  <a:lnTo>
                    <a:pt x="219" y="31"/>
                  </a:lnTo>
                  <a:lnTo>
                    <a:pt x="209" y="23"/>
                  </a:lnTo>
                  <a:lnTo>
                    <a:pt x="198" y="16"/>
                  </a:lnTo>
                  <a:lnTo>
                    <a:pt x="186" y="11"/>
                  </a:lnTo>
                  <a:lnTo>
                    <a:pt x="174" y="6"/>
                  </a:lnTo>
                  <a:lnTo>
                    <a:pt x="161" y="3"/>
                  </a:lnTo>
                  <a:lnTo>
                    <a:pt x="148" y="2"/>
                  </a:lnTo>
                  <a:lnTo>
                    <a:pt x="135" y="0"/>
                  </a:lnTo>
                  <a:lnTo>
                    <a:pt x="135" y="0"/>
                  </a:lnTo>
                  <a:lnTo>
                    <a:pt x="121" y="2"/>
                  </a:lnTo>
                  <a:lnTo>
                    <a:pt x="108" y="3"/>
                  </a:lnTo>
                  <a:lnTo>
                    <a:pt x="94" y="6"/>
                  </a:lnTo>
                  <a:lnTo>
                    <a:pt x="82" y="11"/>
                  </a:lnTo>
                  <a:lnTo>
                    <a:pt x="70" y="16"/>
                  </a:lnTo>
                  <a:lnTo>
                    <a:pt x="59" y="23"/>
                  </a:lnTo>
                  <a:lnTo>
                    <a:pt x="49" y="31"/>
                  </a:lnTo>
                  <a:lnTo>
                    <a:pt x="39" y="39"/>
                  </a:lnTo>
                  <a:lnTo>
                    <a:pt x="31" y="49"/>
                  </a:lnTo>
                  <a:lnTo>
                    <a:pt x="23" y="59"/>
                  </a:lnTo>
                  <a:lnTo>
                    <a:pt x="16" y="70"/>
                  </a:lnTo>
                  <a:lnTo>
                    <a:pt x="11" y="82"/>
                  </a:lnTo>
                  <a:lnTo>
                    <a:pt x="7" y="94"/>
                  </a:lnTo>
                  <a:lnTo>
                    <a:pt x="3" y="108"/>
                  </a:lnTo>
                  <a:lnTo>
                    <a:pt x="2" y="120"/>
                  </a:lnTo>
                  <a:lnTo>
                    <a:pt x="0" y="135"/>
                  </a:lnTo>
                  <a:lnTo>
                    <a:pt x="0" y="135"/>
                  </a:lnTo>
                  <a:lnTo>
                    <a:pt x="2" y="148"/>
                  </a:lnTo>
                  <a:lnTo>
                    <a:pt x="3" y="162"/>
                  </a:lnTo>
                  <a:lnTo>
                    <a:pt x="7" y="174"/>
                  </a:lnTo>
                  <a:lnTo>
                    <a:pt x="11" y="186"/>
                  </a:lnTo>
                  <a:lnTo>
                    <a:pt x="16" y="198"/>
                  </a:lnTo>
                  <a:lnTo>
                    <a:pt x="23" y="209"/>
                  </a:lnTo>
                  <a:lnTo>
                    <a:pt x="31" y="219"/>
                  </a:lnTo>
                  <a:lnTo>
                    <a:pt x="39" y="229"/>
                  </a:lnTo>
                  <a:lnTo>
                    <a:pt x="49" y="237"/>
                  </a:lnTo>
                  <a:lnTo>
                    <a:pt x="59" y="245"/>
                  </a:lnTo>
                  <a:lnTo>
                    <a:pt x="70" y="252"/>
                  </a:lnTo>
                  <a:lnTo>
                    <a:pt x="82" y="257"/>
                  </a:lnTo>
                  <a:lnTo>
                    <a:pt x="94" y="262"/>
                  </a:lnTo>
                  <a:lnTo>
                    <a:pt x="108" y="265"/>
                  </a:lnTo>
                  <a:lnTo>
                    <a:pt x="121" y="268"/>
                  </a:lnTo>
                  <a:lnTo>
                    <a:pt x="135" y="268"/>
                  </a:lnTo>
                  <a:lnTo>
                    <a:pt x="135" y="268"/>
                  </a:lnTo>
                  <a:lnTo>
                    <a:pt x="145" y="268"/>
                  </a:lnTo>
                  <a:lnTo>
                    <a:pt x="157" y="266"/>
                  </a:lnTo>
                  <a:lnTo>
                    <a:pt x="170" y="264"/>
                  </a:lnTo>
                  <a:lnTo>
                    <a:pt x="180" y="260"/>
                  </a:lnTo>
                  <a:lnTo>
                    <a:pt x="191" y="256"/>
                  </a:lnTo>
                  <a:lnTo>
                    <a:pt x="200" y="250"/>
                  </a:lnTo>
                  <a:lnTo>
                    <a:pt x="211" y="244"/>
                  </a:lnTo>
                  <a:lnTo>
                    <a:pt x="221" y="237"/>
                  </a:lnTo>
                  <a:lnTo>
                    <a:pt x="238" y="254"/>
                  </a:lnTo>
                  <a:lnTo>
                    <a:pt x="234" y="258"/>
                  </a:lnTo>
                  <a:lnTo>
                    <a:pt x="234" y="258"/>
                  </a:lnTo>
                  <a:lnTo>
                    <a:pt x="233" y="261"/>
                  </a:lnTo>
                  <a:lnTo>
                    <a:pt x="231" y="265"/>
                  </a:lnTo>
                  <a:lnTo>
                    <a:pt x="231" y="265"/>
                  </a:lnTo>
                  <a:lnTo>
                    <a:pt x="233" y="268"/>
                  </a:lnTo>
                  <a:lnTo>
                    <a:pt x="234" y="271"/>
                  </a:lnTo>
                  <a:lnTo>
                    <a:pt x="320" y="357"/>
                  </a:lnTo>
                  <a:lnTo>
                    <a:pt x="320" y="357"/>
                  </a:lnTo>
                  <a:lnTo>
                    <a:pt x="323" y="358"/>
                  </a:lnTo>
                  <a:lnTo>
                    <a:pt x="327" y="359"/>
                  </a:lnTo>
                  <a:lnTo>
                    <a:pt x="327" y="359"/>
                  </a:lnTo>
                  <a:lnTo>
                    <a:pt x="327" y="359"/>
                  </a:lnTo>
                  <a:lnTo>
                    <a:pt x="327" y="359"/>
                  </a:lnTo>
                  <a:lnTo>
                    <a:pt x="329" y="358"/>
                  </a:lnTo>
                  <a:lnTo>
                    <a:pt x="332" y="357"/>
                  </a:lnTo>
                  <a:lnTo>
                    <a:pt x="356" y="332"/>
                  </a:lnTo>
                  <a:lnTo>
                    <a:pt x="356" y="332"/>
                  </a:lnTo>
                  <a:lnTo>
                    <a:pt x="359" y="330"/>
                  </a:lnTo>
                  <a:lnTo>
                    <a:pt x="359" y="327"/>
                  </a:lnTo>
                  <a:lnTo>
                    <a:pt x="359" y="327"/>
                  </a:lnTo>
                  <a:lnTo>
                    <a:pt x="359" y="323"/>
                  </a:lnTo>
                  <a:lnTo>
                    <a:pt x="356" y="320"/>
                  </a:lnTo>
                  <a:lnTo>
                    <a:pt x="356" y="320"/>
                  </a:lnTo>
                  <a:close/>
                  <a:moveTo>
                    <a:pt x="135" y="18"/>
                  </a:moveTo>
                  <a:lnTo>
                    <a:pt x="135" y="18"/>
                  </a:lnTo>
                  <a:lnTo>
                    <a:pt x="147" y="18"/>
                  </a:lnTo>
                  <a:lnTo>
                    <a:pt x="157" y="21"/>
                  </a:lnTo>
                  <a:lnTo>
                    <a:pt x="168" y="23"/>
                  </a:lnTo>
                  <a:lnTo>
                    <a:pt x="179" y="27"/>
                  </a:lnTo>
                  <a:lnTo>
                    <a:pt x="190" y="31"/>
                  </a:lnTo>
                  <a:lnTo>
                    <a:pt x="199" y="38"/>
                  </a:lnTo>
                  <a:lnTo>
                    <a:pt x="209" y="45"/>
                  </a:lnTo>
                  <a:lnTo>
                    <a:pt x="217" y="51"/>
                  </a:lnTo>
                  <a:lnTo>
                    <a:pt x="225" y="59"/>
                  </a:lnTo>
                  <a:lnTo>
                    <a:pt x="231" y="69"/>
                  </a:lnTo>
                  <a:lnTo>
                    <a:pt x="237" y="78"/>
                  </a:lnTo>
                  <a:lnTo>
                    <a:pt x="242" y="89"/>
                  </a:lnTo>
                  <a:lnTo>
                    <a:pt x="246" y="100"/>
                  </a:lnTo>
                  <a:lnTo>
                    <a:pt x="249" y="111"/>
                  </a:lnTo>
                  <a:lnTo>
                    <a:pt x="250" y="123"/>
                  </a:lnTo>
                  <a:lnTo>
                    <a:pt x="250" y="135"/>
                  </a:lnTo>
                  <a:lnTo>
                    <a:pt x="250" y="135"/>
                  </a:lnTo>
                  <a:lnTo>
                    <a:pt x="250" y="146"/>
                  </a:lnTo>
                  <a:lnTo>
                    <a:pt x="249" y="158"/>
                  </a:lnTo>
                  <a:lnTo>
                    <a:pt x="246" y="168"/>
                  </a:lnTo>
                  <a:lnTo>
                    <a:pt x="242" y="179"/>
                  </a:lnTo>
                  <a:lnTo>
                    <a:pt x="237" y="190"/>
                  </a:lnTo>
                  <a:lnTo>
                    <a:pt x="231" y="199"/>
                  </a:lnTo>
                  <a:lnTo>
                    <a:pt x="225" y="209"/>
                  </a:lnTo>
                  <a:lnTo>
                    <a:pt x="217" y="217"/>
                  </a:lnTo>
                  <a:lnTo>
                    <a:pt x="209" y="223"/>
                  </a:lnTo>
                  <a:lnTo>
                    <a:pt x="199" y="230"/>
                  </a:lnTo>
                  <a:lnTo>
                    <a:pt x="190" y="237"/>
                  </a:lnTo>
                  <a:lnTo>
                    <a:pt x="179" y="242"/>
                  </a:lnTo>
                  <a:lnTo>
                    <a:pt x="168" y="245"/>
                  </a:lnTo>
                  <a:lnTo>
                    <a:pt x="157" y="249"/>
                  </a:lnTo>
                  <a:lnTo>
                    <a:pt x="147" y="250"/>
                  </a:lnTo>
                  <a:lnTo>
                    <a:pt x="135" y="250"/>
                  </a:lnTo>
                  <a:lnTo>
                    <a:pt x="135" y="250"/>
                  </a:lnTo>
                  <a:lnTo>
                    <a:pt x="122" y="250"/>
                  </a:lnTo>
                  <a:lnTo>
                    <a:pt x="110" y="249"/>
                  </a:lnTo>
                  <a:lnTo>
                    <a:pt x="100" y="245"/>
                  </a:lnTo>
                  <a:lnTo>
                    <a:pt x="89" y="242"/>
                  </a:lnTo>
                  <a:lnTo>
                    <a:pt x="78" y="237"/>
                  </a:lnTo>
                  <a:lnTo>
                    <a:pt x="69" y="230"/>
                  </a:lnTo>
                  <a:lnTo>
                    <a:pt x="61" y="223"/>
                  </a:lnTo>
                  <a:lnTo>
                    <a:pt x="51" y="217"/>
                  </a:lnTo>
                  <a:lnTo>
                    <a:pt x="45" y="209"/>
                  </a:lnTo>
                  <a:lnTo>
                    <a:pt x="38" y="199"/>
                  </a:lnTo>
                  <a:lnTo>
                    <a:pt x="31" y="190"/>
                  </a:lnTo>
                  <a:lnTo>
                    <a:pt x="27" y="179"/>
                  </a:lnTo>
                  <a:lnTo>
                    <a:pt x="23" y="168"/>
                  </a:lnTo>
                  <a:lnTo>
                    <a:pt x="20" y="158"/>
                  </a:lnTo>
                  <a:lnTo>
                    <a:pt x="18" y="146"/>
                  </a:lnTo>
                  <a:lnTo>
                    <a:pt x="18" y="135"/>
                  </a:lnTo>
                  <a:lnTo>
                    <a:pt x="18" y="135"/>
                  </a:lnTo>
                  <a:lnTo>
                    <a:pt x="18" y="123"/>
                  </a:lnTo>
                  <a:lnTo>
                    <a:pt x="20" y="111"/>
                  </a:lnTo>
                  <a:lnTo>
                    <a:pt x="23" y="100"/>
                  </a:lnTo>
                  <a:lnTo>
                    <a:pt x="27" y="89"/>
                  </a:lnTo>
                  <a:lnTo>
                    <a:pt x="31" y="78"/>
                  </a:lnTo>
                  <a:lnTo>
                    <a:pt x="38" y="69"/>
                  </a:lnTo>
                  <a:lnTo>
                    <a:pt x="45" y="59"/>
                  </a:lnTo>
                  <a:lnTo>
                    <a:pt x="51" y="51"/>
                  </a:lnTo>
                  <a:lnTo>
                    <a:pt x="61" y="45"/>
                  </a:lnTo>
                  <a:lnTo>
                    <a:pt x="69" y="38"/>
                  </a:lnTo>
                  <a:lnTo>
                    <a:pt x="78" y="31"/>
                  </a:lnTo>
                  <a:lnTo>
                    <a:pt x="89" y="27"/>
                  </a:lnTo>
                  <a:lnTo>
                    <a:pt x="100" y="23"/>
                  </a:lnTo>
                  <a:lnTo>
                    <a:pt x="110" y="21"/>
                  </a:lnTo>
                  <a:lnTo>
                    <a:pt x="122" y="18"/>
                  </a:lnTo>
                  <a:lnTo>
                    <a:pt x="135" y="18"/>
                  </a:lnTo>
                  <a:lnTo>
                    <a:pt x="135"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Calibri"/>
              </a:endParaRPr>
            </a:p>
          </p:txBody>
        </p:sp>
      </p:grpSp>
      <p:sp>
        <p:nvSpPr>
          <p:cNvPr id="2" name="Rectangle 1">
            <a:extLst>
              <a:ext uri="{FF2B5EF4-FFF2-40B4-BE49-F238E27FC236}">
                <a16:creationId xmlns:a16="http://schemas.microsoft.com/office/drawing/2014/main" id="{B77ED6D1-62A5-E57E-9593-D46D96DF720B}"/>
              </a:ext>
            </a:extLst>
          </p:cNvPr>
          <p:cNvSpPr/>
          <p:nvPr/>
        </p:nvSpPr>
        <p:spPr>
          <a:xfrm>
            <a:off x="549172" y="255507"/>
            <a:ext cx="2481583" cy="91802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002060"/>
                </a:solidFill>
                <a:effectLst/>
                <a:uLnTx/>
                <a:uFillTx/>
                <a:latin typeface="Calibri"/>
                <a:ea typeface="+mn-ea"/>
                <a:cs typeface="Calibri"/>
              </a:rPr>
              <a:t>מבוסס על סיפור אמיתי </a:t>
            </a:r>
            <a:br>
              <a:rPr kumimoji="0" lang="en-US" sz="1800" b="0" i="0" u="none" strike="noStrike" kern="1200" cap="none" spc="0" normalizeH="0" baseline="0" noProof="0" dirty="0">
                <a:ln>
                  <a:noFill/>
                </a:ln>
                <a:solidFill>
                  <a:srgbClr val="002060"/>
                </a:solidFill>
                <a:effectLst/>
                <a:uLnTx/>
                <a:uFillTx/>
                <a:latin typeface="Calibri"/>
                <a:ea typeface="+mn-ea"/>
                <a:cs typeface="Calibri"/>
              </a:rPr>
            </a:br>
            <a:r>
              <a:rPr kumimoji="0" lang="he-IL" sz="1400" b="0" i="0" u="none" strike="noStrike" kern="1200" cap="none" spc="0" normalizeH="0" baseline="0" noProof="0" dirty="0">
                <a:ln>
                  <a:noFill/>
                </a:ln>
                <a:solidFill>
                  <a:srgbClr val="002060"/>
                </a:solidFill>
                <a:effectLst/>
                <a:uLnTx/>
                <a:uFillTx/>
                <a:latin typeface="Calibri"/>
                <a:ea typeface="+mn-ea"/>
                <a:cs typeface="Calibri"/>
              </a:rPr>
              <a:t>(השמות והפרטים המזהים החולפו)</a:t>
            </a:r>
            <a:endParaRPr kumimoji="0" lang="en-IL" sz="1800" b="0" i="0" u="none" strike="noStrike" kern="1200" cap="none" spc="0" normalizeH="0" baseline="0" noProof="0" dirty="0">
              <a:ln>
                <a:noFill/>
              </a:ln>
              <a:solidFill>
                <a:srgbClr val="002060"/>
              </a:solidFill>
              <a:effectLst/>
              <a:uLnTx/>
              <a:uFillTx/>
              <a:latin typeface="Calibri"/>
              <a:ea typeface="+mn-ea"/>
              <a:cs typeface="Calibri"/>
            </a:endParaRPr>
          </a:p>
        </p:txBody>
      </p:sp>
    </p:spTree>
    <p:extLst>
      <p:ext uri="{BB962C8B-B14F-4D97-AF65-F5344CB8AC3E}">
        <p14:creationId xmlns:p14="http://schemas.microsoft.com/office/powerpoint/2010/main" val="12598809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תיבת טקסט 5">
            <a:extLst>
              <a:ext uri="{FF2B5EF4-FFF2-40B4-BE49-F238E27FC236}">
                <a16:creationId xmlns:a16="http://schemas.microsoft.com/office/drawing/2014/main" id="{4CCDC711-627C-F516-2CB4-03FD436CA5F4}"/>
              </a:ext>
            </a:extLst>
          </p:cNvPr>
          <p:cNvSpPr txBox="1"/>
          <p:nvPr/>
        </p:nvSpPr>
        <p:spPr>
          <a:xfrm>
            <a:off x="1362073" y="456416"/>
            <a:ext cx="9286870" cy="2423869"/>
          </a:xfrm>
          <a:prstGeom prst="rect">
            <a:avLst/>
          </a:prstGeom>
          <a:noFill/>
        </p:spPr>
        <p:txBody>
          <a:bodyPr wrap="squar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400" b="1" i="0" u="none" strike="noStrike" kern="1200" cap="none" spc="0" normalizeH="0" baseline="0" noProof="0" dirty="0">
                <a:ln>
                  <a:noFill/>
                </a:ln>
                <a:solidFill>
                  <a:srgbClr val="0F6FC6"/>
                </a:solidFill>
                <a:effectLst/>
                <a:uLnTx/>
                <a:uFillTx/>
                <a:latin typeface="Calibri"/>
                <a:ea typeface="+mn-ea"/>
                <a:cs typeface="Calibri"/>
              </a:rPr>
              <a:t>פנינה לוי, אישה בת 71, רמת סיעוד 2 </a:t>
            </a:r>
            <a:r>
              <a:rPr kumimoji="0" lang="he-IL" sz="1600" b="1" i="0" u="none" strike="noStrike" kern="1200" cap="none" spc="0" normalizeH="0" baseline="0" noProof="0" dirty="0">
                <a:ln>
                  <a:noFill/>
                </a:ln>
                <a:solidFill>
                  <a:prstClr val="black"/>
                </a:solidFill>
                <a:effectLst/>
                <a:uLnTx/>
                <a:uFillTx/>
                <a:latin typeface="Calibri"/>
                <a:ea typeface="+mn-ea"/>
                <a:cs typeface="Calibri"/>
              </a:rPr>
              <a:t>(מייצגת 15% מהזקנים בישראל ברמות הנמוכות)</a:t>
            </a: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he-IL" sz="1800" b="1" i="0" u="none" strike="noStrike" kern="1200" cap="none" spc="0" normalizeH="0" baseline="0" noProof="0" dirty="0">
              <a:ln>
                <a:noFill/>
              </a:ln>
              <a:solidFill>
                <a:prstClr val="black"/>
              </a:solidFill>
              <a:effectLst/>
              <a:uLnTx/>
              <a:uFillTx/>
              <a:latin typeface="Calibri"/>
              <a:ea typeface="+mn-ea"/>
              <a:cs typeface="Calibri"/>
            </a:endParaRP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1" i="0" u="none" strike="noStrike" kern="1200" cap="none" spc="0" normalizeH="0" baseline="0" noProof="0" dirty="0">
                <a:ln>
                  <a:noFill/>
                </a:ln>
                <a:solidFill>
                  <a:srgbClr val="0F6FC6"/>
                </a:solidFill>
                <a:effectLst/>
                <a:uLnTx/>
                <a:uFillTx/>
                <a:latin typeface="Assistant" pitchFamily="2" charset="-79"/>
                <a:ea typeface="+mn-ea"/>
                <a:cs typeface="Assistant" pitchFamily="2" charset="-79"/>
              </a:rPr>
              <a:t>המלצות לסל מותאם לפנינה מצ'אט </a:t>
            </a:r>
            <a:r>
              <a:rPr kumimoji="0" lang="en-US" sz="1600" b="1" i="0" u="none" strike="noStrike" kern="1200" cap="none" spc="0" normalizeH="0" baseline="0" noProof="0" dirty="0">
                <a:ln>
                  <a:noFill/>
                </a:ln>
                <a:solidFill>
                  <a:srgbClr val="0F6FC6"/>
                </a:solidFill>
                <a:effectLst/>
                <a:uLnTx/>
                <a:uFillTx/>
                <a:latin typeface="Assistant" pitchFamily="2" charset="-79"/>
                <a:ea typeface="+mn-ea"/>
                <a:cs typeface="Assistant" pitchFamily="2" charset="-79"/>
              </a:rPr>
              <a:t>GPT</a:t>
            </a:r>
            <a:r>
              <a:rPr kumimoji="0" lang="he-IL" sz="1600" b="1" i="0" u="none" strike="noStrike" kern="1200" cap="none" spc="0" normalizeH="0" baseline="0" noProof="0" dirty="0">
                <a:ln>
                  <a:noFill/>
                </a:ln>
                <a:solidFill>
                  <a:srgbClr val="0F6FC6"/>
                </a:solidFill>
                <a:effectLst/>
                <a:uLnTx/>
                <a:uFillTx/>
                <a:latin typeface="Assistant" pitchFamily="2" charset="-79"/>
                <a:ea typeface="+mn-ea"/>
                <a:cs typeface="Assistant" pitchFamily="2" charset="-79"/>
              </a:rPr>
              <a:t>:</a:t>
            </a:r>
            <a:endParaRPr kumimoji="0" lang="he-IL" sz="1600" b="0" i="0" u="none" strike="noStrike" kern="1200" cap="none" spc="0" normalizeH="0" baseline="0" noProof="0" dirty="0">
              <a:ln>
                <a:noFill/>
              </a:ln>
              <a:solidFill>
                <a:srgbClr val="0F6FC6"/>
              </a:solidFill>
              <a:effectLst/>
              <a:uLnTx/>
              <a:uFillTx/>
              <a:latin typeface="Assistant" pitchFamily="2" charset="-79"/>
              <a:ea typeface="+mn-ea"/>
              <a:cs typeface="Assistant" pitchFamily="2" charset="-79"/>
            </a:endParaRPr>
          </a:p>
          <a:p>
            <a:pPr marL="285750" marR="0" lvl="0" indent="-285750" algn="r" defTabSz="914400" rtl="1" eaLnBrk="1" fontAlgn="auto" latinLnBrk="0" hangingPunct="1">
              <a:lnSpc>
                <a:spcPct val="150000"/>
              </a:lnSpc>
              <a:spcBef>
                <a:spcPts val="0"/>
              </a:spcBef>
              <a:spcAft>
                <a:spcPts val="0"/>
              </a:spcAft>
              <a:buClrTx/>
              <a:buSzTx/>
              <a:buFont typeface="Wingdings" panose="05000000000000000000" pitchFamily="2" charset="2"/>
              <a:buChar char="Ø"/>
              <a:tabLst/>
              <a:defRPr/>
            </a:pPr>
            <a:r>
              <a:rPr kumimoji="0" lang="he-IL" sz="1600" b="1"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חיבור חברתי: </a:t>
            </a:r>
            <a:r>
              <a:rPr kumimoji="0" lang="he-IL" sz="1600" b="0"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פעילויות חברתיות בקהילה, מפגשים עם חברים, קבוצות תמיכה, פעילויות פנאי</a:t>
            </a:r>
          </a:p>
          <a:p>
            <a:pPr marL="285750" marR="0" lvl="0" indent="-285750" algn="r" defTabSz="914400" rtl="1" eaLnBrk="1" fontAlgn="auto" latinLnBrk="0" hangingPunct="1">
              <a:lnSpc>
                <a:spcPct val="150000"/>
              </a:lnSpc>
              <a:spcBef>
                <a:spcPts val="0"/>
              </a:spcBef>
              <a:spcAft>
                <a:spcPts val="0"/>
              </a:spcAft>
              <a:buClrTx/>
              <a:buSzTx/>
              <a:buFont typeface="Wingdings" panose="05000000000000000000" pitchFamily="2" charset="2"/>
              <a:buChar char="Ø"/>
              <a:tabLst/>
              <a:defRPr/>
            </a:pPr>
            <a:r>
              <a:rPr kumimoji="0" lang="he-IL" sz="1600" b="1"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פיזיותרפיה: </a:t>
            </a:r>
            <a:r>
              <a:rPr kumimoji="0" lang="he-IL" sz="1600" b="0"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טיפולים לחיזוק השרירים, שיפור שיווי המשקל והתנועתיות, והפחתת הסיכון לנפילות</a:t>
            </a:r>
          </a:p>
          <a:p>
            <a:pPr marL="285750" marR="0" lvl="0" indent="-285750" algn="r" defTabSz="914400" rtl="1" eaLnBrk="1" fontAlgn="auto" latinLnBrk="0" hangingPunct="1">
              <a:lnSpc>
                <a:spcPct val="150000"/>
              </a:lnSpc>
              <a:spcBef>
                <a:spcPts val="0"/>
              </a:spcBef>
              <a:spcAft>
                <a:spcPts val="0"/>
              </a:spcAft>
              <a:buClrTx/>
              <a:buSzTx/>
              <a:buFont typeface="Wingdings" panose="05000000000000000000" pitchFamily="2" charset="2"/>
              <a:buChar char="Ø"/>
              <a:tabLst/>
              <a:defRPr/>
            </a:pPr>
            <a:r>
              <a:rPr kumimoji="0" lang="he-IL" sz="1600" b="1"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טיפול רגשי: </a:t>
            </a:r>
            <a:r>
              <a:rPr kumimoji="0" lang="he-IL" sz="1600" b="0"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סיוע להתמודדות עם קשיים רגשיים, בדידות, דיכאון, וחששות</a:t>
            </a:r>
          </a:p>
          <a:p>
            <a:pPr marL="285750" marR="0" lvl="0" indent="-285750" algn="r" defTabSz="914400" rtl="1" eaLnBrk="1" fontAlgn="auto" latinLnBrk="0" hangingPunct="1">
              <a:lnSpc>
                <a:spcPct val="150000"/>
              </a:lnSpc>
              <a:spcBef>
                <a:spcPts val="0"/>
              </a:spcBef>
              <a:spcAft>
                <a:spcPts val="0"/>
              </a:spcAft>
              <a:buClrTx/>
              <a:buSzTx/>
              <a:buFont typeface="Wingdings" panose="05000000000000000000" pitchFamily="2" charset="2"/>
              <a:buChar char="Ø"/>
              <a:tabLst/>
              <a:defRPr/>
            </a:pPr>
            <a:r>
              <a:rPr kumimoji="0" lang="he-IL" sz="1600" b="1"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הדרכה וייעוץ: </a:t>
            </a:r>
            <a:r>
              <a:rPr kumimoji="0" lang="he-IL" sz="1600" b="0"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הדרכה לבני המשפחה בנוגע לטיפול נכון בפנינה, ייעוץ בנוגע לזכויותיה והטבות המגיעות לה</a:t>
            </a:r>
          </a:p>
        </p:txBody>
      </p:sp>
      <p:sp>
        <p:nvSpPr>
          <p:cNvPr id="12" name="תיבת טקסט 11">
            <a:extLst>
              <a:ext uri="{FF2B5EF4-FFF2-40B4-BE49-F238E27FC236}">
                <a16:creationId xmlns:a16="http://schemas.microsoft.com/office/drawing/2014/main" id="{989D5D1B-948C-CF8C-4CFE-F86AA54017FB}"/>
              </a:ext>
            </a:extLst>
          </p:cNvPr>
          <p:cNvSpPr txBox="1"/>
          <p:nvPr/>
        </p:nvSpPr>
        <p:spPr>
          <a:xfrm>
            <a:off x="3056964" y="5214421"/>
            <a:ext cx="7583577" cy="1200329"/>
          </a:xfrm>
          <a:prstGeom prst="rect">
            <a:avLst/>
          </a:prstGeom>
          <a:solidFill>
            <a:schemeClr val="accent1">
              <a:lumMod val="20000"/>
              <a:lumOff val="80000"/>
            </a:schemeClr>
          </a:solidFill>
          <a:ln>
            <a:noFill/>
          </a:ln>
        </p:spPr>
        <p:txBody>
          <a:bodyPr wrap="squar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0F6FC6"/>
                </a:solidFill>
                <a:effectLst/>
                <a:uLnTx/>
                <a:uFillTx/>
                <a:latin typeface="Calibri"/>
                <a:ea typeface="+mn-ea"/>
                <a:cs typeface="Calibri"/>
              </a:rPr>
              <a:t>דגשים חשובים:</a:t>
            </a:r>
            <a:endParaRPr kumimoji="0" lang="he-IL" sz="1800" b="0" i="0" u="none" strike="noStrike" kern="1200" cap="none" spc="0" normalizeH="0" baseline="0" noProof="0" dirty="0">
              <a:ln>
                <a:noFill/>
              </a:ln>
              <a:solidFill>
                <a:srgbClr val="0F6FC6"/>
              </a:solidFill>
              <a:effectLst/>
              <a:uLnTx/>
              <a:uFillTx/>
              <a:latin typeface="Calibri"/>
              <a:ea typeface="+mn-ea"/>
              <a:cs typeface="Calibri"/>
            </a:endParaRPr>
          </a:p>
          <a:p>
            <a:pPr marL="285750" marR="0" lvl="0" indent="-285750" algn="r" defTabSz="914400" rtl="1"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he-IL" sz="1800" b="1" i="0" u="none" strike="noStrike" kern="1200" cap="none" spc="0" normalizeH="0" baseline="0" noProof="0" dirty="0">
                <a:ln>
                  <a:noFill/>
                </a:ln>
                <a:solidFill>
                  <a:prstClr val="black"/>
                </a:solidFill>
                <a:effectLst/>
                <a:uLnTx/>
                <a:uFillTx/>
                <a:latin typeface="Calibri"/>
                <a:ea typeface="+mn-ea"/>
                <a:cs typeface="Calibri"/>
              </a:rPr>
              <a:t>סל השירותים המומלץ צריך להיות מותאם אישית </a:t>
            </a:r>
            <a:r>
              <a:rPr kumimoji="0" lang="he-IL" sz="1800" b="0" i="0" u="none" strike="noStrike" kern="1200" cap="none" spc="0" normalizeH="0" baseline="0" noProof="0" dirty="0">
                <a:ln>
                  <a:noFill/>
                </a:ln>
                <a:solidFill>
                  <a:prstClr val="black"/>
                </a:solidFill>
                <a:effectLst/>
                <a:uLnTx/>
                <a:uFillTx/>
                <a:latin typeface="Calibri"/>
                <a:ea typeface="+mn-ea"/>
                <a:cs typeface="Calibri"/>
              </a:rPr>
              <a:t>לצרכיה הייחודיים של פנינה.</a:t>
            </a:r>
          </a:p>
          <a:p>
            <a:pPr marL="285750" marR="0" lvl="0" indent="-285750" algn="r" defTabSz="914400" rtl="1"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he-IL" sz="1800" b="1" i="0" u="none" strike="noStrike" kern="1200" cap="none" spc="0" normalizeH="0" baseline="0" noProof="0" dirty="0">
                <a:ln>
                  <a:noFill/>
                </a:ln>
                <a:solidFill>
                  <a:prstClr val="black"/>
                </a:solidFill>
                <a:effectLst/>
                <a:uLnTx/>
                <a:uFillTx/>
                <a:latin typeface="Calibri"/>
                <a:ea typeface="+mn-ea"/>
                <a:cs typeface="Calibri"/>
              </a:rPr>
              <a:t>רצוי שפנינה תהיה מעורבת בתהליך קבלת ההחלטות </a:t>
            </a:r>
            <a:r>
              <a:rPr kumimoji="0" lang="he-IL" sz="1800" b="0" i="0" u="none" strike="noStrike" kern="1200" cap="none" spc="0" normalizeH="0" baseline="0" noProof="0" dirty="0">
                <a:ln>
                  <a:noFill/>
                </a:ln>
                <a:solidFill>
                  <a:prstClr val="black"/>
                </a:solidFill>
                <a:effectLst/>
                <a:uLnTx/>
                <a:uFillTx/>
                <a:latin typeface="Calibri"/>
                <a:ea typeface="+mn-ea"/>
                <a:cs typeface="Calibri"/>
              </a:rPr>
              <a:t>בנוגע לסל השירותים שיוענק לה.</a:t>
            </a:r>
          </a:p>
          <a:p>
            <a:pPr marL="285750" marR="0" lvl="0" indent="-285750" algn="r" defTabSz="914400" rtl="1"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he-IL" sz="1800" b="0" i="0" u="none" strike="noStrike" kern="1200" cap="none" spc="0" normalizeH="0" baseline="0" noProof="0" dirty="0">
                <a:ln>
                  <a:noFill/>
                </a:ln>
                <a:solidFill>
                  <a:prstClr val="black"/>
                </a:solidFill>
                <a:effectLst/>
                <a:uLnTx/>
                <a:uFillTx/>
                <a:latin typeface="Calibri"/>
                <a:ea typeface="+mn-ea"/>
                <a:cs typeface="Calibri"/>
              </a:rPr>
              <a:t>חשוב</a:t>
            </a:r>
            <a:r>
              <a:rPr kumimoji="0" lang="he-IL" sz="1800" b="1" i="0" u="none" strike="noStrike" kern="1200" cap="none" spc="0" normalizeH="0" baseline="0" noProof="0" dirty="0">
                <a:ln>
                  <a:noFill/>
                </a:ln>
                <a:solidFill>
                  <a:prstClr val="black"/>
                </a:solidFill>
                <a:effectLst/>
                <a:uLnTx/>
                <a:uFillTx/>
                <a:latin typeface="Calibri"/>
                <a:ea typeface="+mn-ea"/>
                <a:cs typeface="Calibri"/>
              </a:rPr>
              <a:t> לתעד את התקדמותה של פנינה ולעדכן את סל השירותים </a:t>
            </a:r>
            <a:r>
              <a:rPr kumimoji="0" lang="he-IL" sz="1800" b="0" i="0" u="none" strike="noStrike" kern="1200" cap="none" spc="0" normalizeH="0" baseline="0" noProof="0" dirty="0">
                <a:ln>
                  <a:noFill/>
                </a:ln>
                <a:solidFill>
                  <a:prstClr val="black"/>
                </a:solidFill>
                <a:effectLst/>
                <a:uLnTx/>
                <a:uFillTx/>
                <a:latin typeface="Calibri"/>
                <a:ea typeface="+mn-ea"/>
                <a:cs typeface="Calibri"/>
              </a:rPr>
              <a:t>בהתאם לצורך.</a:t>
            </a:r>
          </a:p>
        </p:txBody>
      </p:sp>
      <p:sp>
        <p:nvSpPr>
          <p:cNvPr id="3" name="תיבת טקסט 2">
            <a:extLst>
              <a:ext uri="{FF2B5EF4-FFF2-40B4-BE49-F238E27FC236}">
                <a16:creationId xmlns:a16="http://schemas.microsoft.com/office/drawing/2014/main" id="{1BBDCCE0-0CA5-FA69-CA6F-DE3A715936E5}"/>
              </a:ext>
            </a:extLst>
          </p:cNvPr>
          <p:cNvSpPr txBox="1"/>
          <p:nvPr/>
        </p:nvSpPr>
        <p:spPr>
          <a:xfrm>
            <a:off x="2621958" y="3047289"/>
            <a:ext cx="8018584" cy="1900649"/>
          </a:xfrm>
          <a:prstGeom prst="rect">
            <a:avLst/>
          </a:prstGeom>
          <a:noFill/>
        </p:spPr>
        <p:txBody>
          <a:bodyPr wrap="square">
            <a:spAutoFit/>
          </a:bodyPr>
          <a:lstStyle/>
          <a:p>
            <a:pPr marL="0" marR="0" lvl="0" indent="0" algn="r" defTabSz="914400" rtl="1" eaLnBrk="1" fontAlgn="auto" latinLnBrk="0" hangingPunct="1">
              <a:lnSpc>
                <a:spcPct val="150000"/>
              </a:lnSpc>
              <a:spcBef>
                <a:spcPts val="0"/>
              </a:spcBef>
              <a:spcAft>
                <a:spcPts val="0"/>
              </a:spcAft>
              <a:buClrTx/>
              <a:buSzTx/>
              <a:buFontTx/>
              <a:buNone/>
              <a:tabLst/>
              <a:defRPr/>
            </a:pPr>
            <a:r>
              <a:rPr kumimoji="0" lang="he-IL" sz="1600" b="1" i="0" u="none" strike="noStrike" kern="1200" cap="none" spc="0" normalizeH="0" baseline="0" noProof="0" dirty="0">
                <a:ln>
                  <a:noFill/>
                </a:ln>
                <a:solidFill>
                  <a:srgbClr val="0F6FC6"/>
                </a:solidFill>
                <a:effectLst/>
                <a:uLnTx/>
                <a:uFillTx/>
                <a:latin typeface="Assistant" pitchFamily="2" charset="-79"/>
                <a:ea typeface="+mn-ea"/>
                <a:cs typeface="Assistant" pitchFamily="2" charset="-79"/>
              </a:rPr>
              <a:t>מטרת סל השירותים:</a:t>
            </a:r>
            <a:endParaRPr kumimoji="0" lang="he-IL" sz="1600" b="0" i="0" u="none" strike="noStrike" kern="1200" cap="none" spc="0" normalizeH="0" baseline="0" noProof="0" dirty="0">
              <a:ln>
                <a:noFill/>
              </a:ln>
              <a:solidFill>
                <a:srgbClr val="0F6FC6"/>
              </a:solidFill>
              <a:effectLst/>
              <a:uLnTx/>
              <a:uFillTx/>
              <a:latin typeface="Assistant" pitchFamily="2" charset="-79"/>
              <a:ea typeface="+mn-ea"/>
              <a:cs typeface="Assistant" pitchFamily="2" charset="-79"/>
            </a:endParaRPr>
          </a:p>
          <a:p>
            <a:pPr marL="285750" marR="0" lvl="0" indent="-285750" algn="r" defTabSz="914400" rtl="1" eaLnBrk="1" fontAlgn="auto" latinLnBrk="0" hangingPunct="1">
              <a:lnSpc>
                <a:spcPct val="150000"/>
              </a:lnSpc>
              <a:spcBef>
                <a:spcPts val="0"/>
              </a:spcBef>
              <a:spcAft>
                <a:spcPts val="0"/>
              </a:spcAft>
              <a:buClrTx/>
              <a:buSzTx/>
              <a:buFont typeface="Wingdings" panose="05000000000000000000" pitchFamily="2" charset="2"/>
              <a:buChar char="ü"/>
              <a:tabLst/>
              <a:defRPr/>
            </a:pPr>
            <a:r>
              <a:rPr kumimoji="0" lang="he-IL" sz="1600" b="0" i="0" u="none" strike="noStrike" kern="1200" cap="none" spc="0" normalizeH="0" baseline="0" noProof="0" dirty="0">
                <a:ln>
                  <a:noFill/>
                </a:ln>
                <a:solidFill>
                  <a:prstClr val="black"/>
                </a:solidFill>
                <a:effectLst/>
                <a:uLnTx/>
                <a:uFillTx/>
                <a:latin typeface="Assistant" pitchFamily="2" charset="-79"/>
                <a:ea typeface="+mn-ea"/>
                <a:cs typeface="Assistant" pitchFamily="2" charset="-79"/>
              </a:rPr>
              <a:t>לשפר את איכות חייה של פנינה ולעזור לה לשמור על עצמאותה.</a:t>
            </a:r>
          </a:p>
          <a:p>
            <a:pPr marL="285750" marR="0" lvl="0" indent="-285750" algn="r" defTabSz="914400" rtl="1" eaLnBrk="1" fontAlgn="auto" latinLnBrk="0" hangingPunct="1">
              <a:lnSpc>
                <a:spcPct val="150000"/>
              </a:lnSpc>
              <a:spcBef>
                <a:spcPts val="0"/>
              </a:spcBef>
              <a:spcAft>
                <a:spcPts val="0"/>
              </a:spcAft>
              <a:buClrTx/>
              <a:buSzTx/>
              <a:buFont typeface="Wingdings" panose="05000000000000000000" pitchFamily="2" charset="2"/>
              <a:buChar char="ü"/>
              <a:tabLst/>
              <a:defRPr/>
            </a:pPr>
            <a:r>
              <a:rPr kumimoji="0" lang="he-IL" sz="1600" b="0" i="0" u="none" strike="noStrike" kern="1200" cap="none" spc="0" normalizeH="0" baseline="0" noProof="0" dirty="0">
                <a:ln>
                  <a:noFill/>
                </a:ln>
                <a:solidFill>
                  <a:prstClr val="black"/>
                </a:solidFill>
                <a:effectLst/>
                <a:uLnTx/>
                <a:uFillTx/>
                <a:latin typeface="Assistant" pitchFamily="2" charset="-79"/>
                <a:ea typeface="+mn-ea"/>
                <a:cs typeface="Assistant" pitchFamily="2" charset="-79"/>
              </a:rPr>
              <a:t>להפחית את תחושת הבדידות והתלות בבן.</a:t>
            </a:r>
          </a:p>
          <a:p>
            <a:pPr marL="285750" marR="0" lvl="0" indent="-285750" algn="r" defTabSz="914400" rtl="1" eaLnBrk="1" fontAlgn="auto" latinLnBrk="0" hangingPunct="1">
              <a:lnSpc>
                <a:spcPct val="150000"/>
              </a:lnSpc>
              <a:spcBef>
                <a:spcPts val="0"/>
              </a:spcBef>
              <a:spcAft>
                <a:spcPts val="0"/>
              </a:spcAft>
              <a:buClrTx/>
              <a:buSzTx/>
              <a:buFont typeface="Wingdings" panose="05000000000000000000" pitchFamily="2" charset="2"/>
              <a:buChar char="ü"/>
              <a:tabLst/>
              <a:defRPr/>
            </a:pPr>
            <a:r>
              <a:rPr kumimoji="0" lang="he-IL" sz="1600" b="0" i="0" u="none" strike="noStrike" kern="1200" cap="none" spc="0" normalizeH="0" baseline="0" noProof="0" dirty="0">
                <a:ln>
                  <a:noFill/>
                </a:ln>
                <a:solidFill>
                  <a:prstClr val="black"/>
                </a:solidFill>
                <a:effectLst/>
                <a:uLnTx/>
                <a:uFillTx/>
                <a:latin typeface="Assistant" pitchFamily="2" charset="-79"/>
                <a:ea typeface="+mn-ea"/>
                <a:cs typeface="Assistant" pitchFamily="2" charset="-79"/>
              </a:rPr>
              <a:t>לחזק את בריאותה הנפשית והפיזית.</a:t>
            </a:r>
          </a:p>
          <a:p>
            <a:pPr marL="285750" marR="0" lvl="0" indent="-285750" algn="r" defTabSz="914400" rtl="1" eaLnBrk="1" fontAlgn="auto" latinLnBrk="0" hangingPunct="1">
              <a:lnSpc>
                <a:spcPct val="150000"/>
              </a:lnSpc>
              <a:spcBef>
                <a:spcPts val="0"/>
              </a:spcBef>
              <a:spcAft>
                <a:spcPts val="0"/>
              </a:spcAft>
              <a:buClrTx/>
              <a:buSzTx/>
              <a:buFont typeface="Wingdings" panose="05000000000000000000" pitchFamily="2" charset="2"/>
              <a:buChar char="ü"/>
              <a:tabLst/>
              <a:defRPr/>
            </a:pPr>
            <a:r>
              <a:rPr kumimoji="0" lang="he-IL" sz="1600" b="0" i="0" u="none" strike="noStrike" kern="1200" cap="none" spc="0" normalizeH="0" baseline="0" noProof="0" dirty="0">
                <a:ln>
                  <a:noFill/>
                </a:ln>
                <a:solidFill>
                  <a:prstClr val="black"/>
                </a:solidFill>
                <a:effectLst/>
                <a:uLnTx/>
                <a:uFillTx/>
                <a:latin typeface="Assistant" pitchFamily="2" charset="-79"/>
                <a:ea typeface="+mn-ea"/>
                <a:cs typeface="Assistant" pitchFamily="2" charset="-79"/>
              </a:rPr>
              <a:t>לאפשר לה ליהנות מחיים מלאים ומשמעותיים.</a:t>
            </a:r>
          </a:p>
        </p:txBody>
      </p:sp>
      <p:pic>
        <p:nvPicPr>
          <p:cNvPr id="2" name="Picture 18">
            <a:extLst>
              <a:ext uri="{FF2B5EF4-FFF2-40B4-BE49-F238E27FC236}">
                <a16:creationId xmlns:a16="http://schemas.microsoft.com/office/drawing/2014/main" id="{B5FB7129-FE9E-CD89-BD53-4490FEB7F7CB}"/>
              </a:ext>
            </a:extLst>
          </p:cNvPr>
          <p:cNvPicPr>
            <a:picLocks noChangeAspect="1"/>
          </p:cNvPicPr>
          <p:nvPr/>
        </p:nvPicPr>
        <p:blipFill rotWithShape="1">
          <a:blip r:embed="rId2" cstate="email">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a:ext>
            </a:extLst>
          </a:blip>
          <a:srcRect/>
          <a:stretch/>
        </p:blipFill>
        <p:spPr>
          <a:xfrm>
            <a:off x="393290" y="2925967"/>
            <a:ext cx="2415365" cy="3314633"/>
          </a:xfrm>
          <a:prstGeom prst="rect">
            <a:avLst/>
          </a:prstGeom>
        </p:spPr>
      </p:pic>
      <p:pic>
        <p:nvPicPr>
          <p:cNvPr id="4" name="תמונה 3">
            <a:extLst>
              <a:ext uri="{FF2B5EF4-FFF2-40B4-BE49-F238E27FC236}">
                <a16:creationId xmlns:a16="http://schemas.microsoft.com/office/drawing/2014/main" id="{320C65D6-6AD9-8513-5DB0-F6B86BC191A4}"/>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10000" b="90000" l="10000" r="90000"/>
                    </a14:imgEffect>
                  </a14:imgLayer>
                </a14:imgProps>
              </a:ext>
            </a:extLst>
          </a:blip>
          <a:stretch>
            <a:fillRect/>
          </a:stretch>
        </p:blipFill>
        <p:spPr>
          <a:xfrm>
            <a:off x="10640542" y="364082"/>
            <a:ext cx="2143444" cy="1200329"/>
          </a:xfrm>
          <a:prstGeom prst="rect">
            <a:avLst/>
          </a:prstGeom>
        </p:spPr>
      </p:pic>
    </p:spTree>
    <p:extLst>
      <p:ext uri="{BB962C8B-B14F-4D97-AF65-F5344CB8AC3E}">
        <p14:creationId xmlns:p14="http://schemas.microsoft.com/office/powerpoint/2010/main" val="347748151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7BE8B9-29CD-4BA7-A48C-B6FCEEF306E2}"/>
              </a:ext>
            </a:extLst>
          </p:cNvPr>
          <p:cNvSpPr>
            <a:spLocks noGrp="1"/>
          </p:cNvSpPr>
          <p:nvPr>
            <p:ph type="title"/>
          </p:nvPr>
        </p:nvSpPr>
        <p:spPr/>
        <p:txBody>
          <a:bodyPr>
            <a:normAutofit/>
          </a:bodyPr>
          <a:lstStyle/>
          <a:p>
            <a:r>
              <a:rPr lang="he-IL" sz="3200" dirty="0">
                <a:solidFill>
                  <a:schemeClr val="tx1"/>
                </a:solidFill>
              </a:rPr>
              <a:t>אחוז זקנים המקבלים סיעוד בעולם</a:t>
            </a:r>
            <a:r>
              <a:rPr lang="he-IL" sz="1600" dirty="0">
                <a:solidFill>
                  <a:schemeClr val="tx1"/>
                </a:solidFill>
              </a:rPr>
              <a:t> 2018</a:t>
            </a:r>
          </a:p>
        </p:txBody>
      </p:sp>
      <p:graphicFrame>
        <p:nvGraphicFramePr>
          <p:cNvPr id="6" name="Content Placeholder 5">
            <a:extLst>
              <a:ext uri="{FF2B5EF4-FFF2-40B4-BE49-F238E27FC236}">
                <a16:creationId xmlns:a16="http://schemas.microsoft.com/office/drawing/2014/main" id="{A9AB55E6-0079-453B-9BC8-A76EFDCB5076}"/>
              </a:ext>
            </a:extLst>
          </p:cNvPr>
          <p:cNvGraphicFramePr>
            <a:graphicFrameLocks noGrp="1"/>
          </p:cNvGraphicFramePr>
          <p:nvPr>
            <p:ph sz="half" idx="1"/>
          </p:nvPr>
        </p:nvGraphicFramePr>
        <p:xfrm>
          <a:off x="440654" y="2251436"/>
          <a:ext cx="10074945" cy="4351338"/>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Box 6">
            <a:extLst>
              <a:ext uri="{FF2B5EF4-FFF2-40B4-BE49-F238E27FC236}">
                <a16:creationId xmlns:a16="http://schemas.microsoft.com/office/drawing/2014/main" id="{0C1782F1-8B4D-4C11-A073-833337E7B2AD}"/>
              </a:ext>
            </a:extLst>
          </p:cNvPr>
          <p:cNvSpPr txBox="1"/>
          <p:nvPr/>
        </p:nvSpPr>
        <p:spPr>
          <a:xfrm>
            <a:off x="5237806" y="6399930"/>
            <a:ext cx="5083629" cy="338554"/>
          </a:xfrm>
          <a:prstGeom prst="rect">
            <a:avLst/>
          </a:prstGeom>
          <a:noFill/>
        </p:spPr>
        <p:txBody>
          <a:bodyPr wrap="squar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0" i="0" u="none" strike="noStrike" kern="1200" cap="none" spc="0" normalizeH="0" baseline="0" noProof="0" dirty="0">
                <a:ln>
                  <a:noFill/>
                </a:ln>
                <a:solidFill>
                  <a:srgbClr val="B1B3B6"/>
                </a:solidFill>
                <a:effectLst/>
                <a:uLnTx/>
                <a:uFillTx/>
                <a:latin typeface="Calibri" panose="020F0502020204030204"/>
                <a:ea typeface="+mn-ea"/>
                <a:cs typeface="Arial" panose="020B0604020202020204" pitchFamily="34" charset="0"/>
              </a:rPr>
              <a:t>מקור: </a:t>
            </a:r>
            <a:r>
              <a:rPr kumimoji="0" lang="en-US" sz="1600" b="0" i="0" u="none" strike="noStrike" kern="1200" cap="none" spc="0" normalizeH="0" baseline="0" noProof="0" dirty="0" err="1">
                <a:ln>
                  <a:noFill/>
                </a:ln>
                <a:solidFill>
                  <a:srgbClr val="B1B3B6"/>
                </a:solidFill>
                <a:effectLst/>
                <a:uLnTx/>
                <a:uFillTx/>
                <a:latin typeface="Calibri" panose="020F0502020204030204"/>
                <a:ea typeface="+mn-ea"/>
                <a:cs typeface="+mn-cs"/>
              </a:rPr>
              <a:t>OECD.stat</a:t>
            </a:r>
            <a:r>
              <a:rPr kumimoji="0" lang="he-IL" sz="1600" b="0" i="0" u="none" strike="noStrike" kern="1200" cap="none" spc="0" normalizeH="0" baseline="0" noProof="0" dirty="0">
                <a:ln>
                  <a:noFill/>
                </a:ln>
                <a:solidFill>
                  <a:srgbClr val="B1B3B6"/>
                </a:solidFill>
                <a:effectLst/>
                <a:uLnTx/>
                <a:uFillTx/>
                <a:latin typeface="Calibri" panose="020F0502020204030204"/>
                <a:ea typeface="+mn-ea"/>
                <a:cs typeface="Arial" panose="020B0604020202020204" pitchFamily="34" charset="0"/>
              </a:rPr>
              <a:t>, הנתונים בסלובניה והולנד הם ל-2017</a:t>
            </a:r>
          </a:p>
        </p:txBody>
      </p:sp>
      <p:sp>
        <p:nvSpPr>
          <p:cNvPr id="8" name="Rectangle 7">
            <a:extLst>
              <a:ext uri="{FF2B5EF4-FFF2-40B4-BE49-F238E27FC236}">
                <a16:creationId xmlns:a16="http://schemas.microsoft.com/office/drawing/2014/main" id="{46AD47CF-DF28-4A8A-A9B9-814AB784C8A4}"/>
              </a:ext>
            </a:extLst>
          </p:cNvPr>
          <p:cNvSpPr/>
          <p:nvPr/>
        </p:nvSpPr>
        <p:spPr>
          <a:xfrm>
            <a:off x="492301" y="165951"/>
            <a:ext cx="3424334" cy="1285778"/>
          </a:xfrm>
          <a:prstGeom prst="rect">
            <a:avLst/>
          </a:prstGeom>
          <a:solidFill>
            <a:srgbClr val="0070C0"/>
          </a:solidFill>
          <a:ln>
            <a:noFill/>
          </a:ln>
        </p:spPr>
        <p:style>
          <a:lnRef idx="0">
            <a:scrgbClr r="0" g="0" b="0"/>
          </a:lnRef>
          <a:fillRef idx="0">
            <a:scrgbClr r="0" g="0" b="0"/>
          </a:fillRef>
          <a:effectRef idx="0">
            <a:scrgbClr r="0" g="0" b="0"/>
          </a:effectRef>
          <a:fontRef idx="minor">
            <a:schemeClr val="lt1"/>
          </a:fontRef>
        </p:style>
        <p:txBody>
          <a:bodyPr rtlCol="1"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400" b="0" i="0" u="none" strike="noStrike" kern="1200" cap="none" spc="0" normalizeH="0" baseline="0" noProof="0" dirty="0">
                <a:ln>
                  <a:noFill/>
                </a:ln>
                <a:solidFill>
                  <a:prstClr val="white"/>
                </a:solidFill>
                <a:effectLst/>
                <a:uLnTx/>
                <a:uFillTx/>
                <a:latin typeface="Calibri" panose="020F0502020204030204"/>
                <a:ea typeface="+mn-ea"/>
                <a:cs typeface="Arial" panose="020B0604020202020204" pitchFamily="34" charset="0"/>
              </a:rPr>
              <a:t>שיעור הזקנים בישראל המקבלים טיפול בקהילה הוא הגבוה בעולם </a:t>
            </a:r>
            <a:r>
              <a:rPr kumimoji="0" lang="he-IL" sz="1200" b="0" i="0" u="none" strike="noStrike" kern="1200" cap="none" spc="0" normalizeH="0" baseline="0" noProof="0" dirty="0">
                <a:ln>
                  <a:noFill/>
                </a:ln>
                <a:solidFill>
                  <a:prstClr val="white"/>
                </a:solidFill>
                <a:effectLst/>
                <a:uLnTx/>
                <a:uFillTx/>
                <a:latin typeface="Calibri" panose="020F0502020204030204"/>
                <a:ea typeface="+mn-ea"/>
                <a:cs typeface="Arial" panose="020B0604020202020204" pitchFamily="34" charset="0"/>
              </a:rPr>
              <a:t>(טרום הרפורמה)</a:t>
            </a:r>
            <a:endParaRPr kumimoji="0" lang="he-IL" sz="2400" b="0" i="0" u="none" strike="noStrike" kern="1200" cap="none" spc="0" normalizeH="0" baseline="0" noProof="0" dirty="0">
              <a:ln>
                <a:noFill/>
              </a:ln>
              <a:solidFill>
                <a:prstClr val="white"/>
              </a:solidFill>
              <a:effectLst/>
              <a:uLnTx/>
              <a:uFillTx/>
              <a:latin typeface="Calibri" panose="020F0502020204030204"/>
              <a:ea typeface="+mn-ea"/>
              <a:cs typeface="Arial" panose="020B0604020202020204" pitchFamily="34" charset="0"/>
            </a:endParaRPr>
          </a:p>
        </p:txBody>
      </p:sp>
      <p:sp>
        <p:nvSpPr>
          <p:cNvPr id="3" name="חץ: ימינה 2">
            <a:extLst>
              <a:ext uri="{FF2B5EF4-FFF2-40B4-BE49-F238E27FC236}">
                <a16:creationId xmlns:a16="http://schemas.microsoft.com/office/drawing/2014/main" id="{670A6B35-230A-7F3A-6051-CFBB20404161}"/>
              </a:ext>
            </a:extLst>
          </p:cNvPr>
          <p:cNvSpPr/>
          <p:nvPr/>
        </p:nvSpPr>
        <p:spPr>
          <a:xfrm rot="18614174">
            <a:off x="9277112" y="2186496"/>
            <a:ext cx="1063365" cy="44329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he-IL" sz="1100" b="0" i="0" u="none" strike="noStrike" kern="1200" cap="none" spc="0" normalizeH="0" baseline="0" noProof="0">
              <a:ln>
                <a:noFill/>
              </a:ln>
              <a:solidFill>
                <a:prstClr val="white"/>
              </a:solidFill>
              <a:effectLst/>
              <a:uLnTx/>
              <a:uFillTx/>
              <a:latin typeface="Calibri" panose="020F0502020204030204"/>
              <a:ea typeface="+mn-ea"/>
              <a:cs typeface="Arial" panose="020B0604020202020204" pitchFamily="34" charset="0"/>
            </a:endParaRPr>
          </a:p>
        </p:txBody>
      </p:sp>
      <p:sp>
        <p:nvSpPr>
          <p:cNvPr id="4" name="תיבת טקסט 3">
            <a:extLst>
              <a:ext uri="{FF2B5EF4-FFF2-40B4-BE49-F238E27FC236}">
                <a16:creationId xmlns:a16="http://schemas.microsoft.com/office/drawing/2014/main" id="{5421E4F7-A230-58B0-9974-75783F11DF47}"/>
              </a:ext>
            </a:extLst>
          </p:cNvPr>
          <p:cNvSpPr txBox="1"/>
          <p:nvPr/>
        </p:nvSpPr>
        <p:spPr>
          <a:xfrm>
            <a:off x="10321434" y="1631635"/>
            <a:ext cx="646332" cy="369332"/>
          </a:xfrm>
          <a:prstGeom prst="rect">
            <a:avLst/>
          </a:prstGeom>
          <a:solidFill>
            <a:srgbClr val="5B9BD5"/>
          </a:solidFill>
        </p:spPr>
        <p:txBody>
          <a:bodyPr wrap="non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30%</a:t>
            </a:r>
          </a:p>
        </p:txBody>
      </p:sp>
      <p:sp>
        <p:nvSpPr>
          <p:cNvPr id="9" name="מלבן 8"/>
          <p:cNvSpPr/>
          <p:nvPr/>
        </p:nvSpPr>
        <p:spPr>
          <a:xfrm>
            <a:off x="3093" y="0"/>
            <a:ext cx="244547" cy="6857999"/>
          </a:xfrm>
          <a:prstGeom prst="rect">
            <a:avLst/>
          </a:prstGeom>
          <a:solidFill>
            <a:srgbClr val="2980B9"/>
          </a:solidFill>
          <a:ln w="12700" cap="flat" cmpd="sng" algn="ctr">
            <a:solidFill>
              <a:srgbClr val="2CC2E0"/>
            </a:solidFill>
            <a:prstDash val="solid"/>
            <a:miter lim="800000"/>
          </a:ln>
          <a:effectLst/>
        </p:spPr>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0" cap="none" spc="0" normalizeH="0" baseline="0" noProof="0">
              <a:ln>
                <a:noFill/>
              </a:ln>
              <a:solidFill>
                <a:prstClr val="white"/>
              </a:solidFill>
              <a:effectLst/>
              <a:uLnTx/>
              <a:uFillTx/>
              <a:latin typeface="Calibri"/>
              <a:ea typeface="+mn-ea"/>
              <a:cs typeface="Calibri"/>
            </a:endParaRPr>
          </a:p>
        </p:txBody>
      </p:sp>
      <p:sp>
        <p:nvSpPr>
          <p:cNvPr id="10" name="TextBox 9"/>
          <p:cNvSpPr txBox="1"/>
          <p:nvPr/>
        </p:nvSpPr>
        <p:spPr>
          <a:xfrm rot="16200000">
            <a:off x="-638055" y="639563"/>
            <a:ext cx="1478289" cy="338554"/>
          </a:xfrm>
          <a:prstGeom prst="rect">
            <a:avLst/>
          </a:prstGeom>
          <a:noFill/>
        </p:spPr>
        <p:txBody>
          <a:bodyPr wrap="non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1" i="0" u="none" strike="noStrike" kern="1200" cap="none" spc="0" normalizeH="0" baseline="0" noProof="0" dirty="0">
                <a:ln>
                  <a:noFill/>
                </a:ln>
                <a:solidFill>
                  <a:prstClr val="white"/>
                </a:solidFill>
                <a:effectLst/>
                <a:uLnTx/>
                <a:uFillTx/>
                <a:latin typeface="Calibri" panose="020F0502020204030204"/>
                <a:ea typeface="+mn-ea"/>
                <a:cs typeface="Calibri"/>
              </a:rPr>
              <a:t>רקע </a:t>
            </a:r>
            <a:r>
              <a:rPr kumimoji="0" lang="he-IL" sz="1600" b="1" i="0" u="none" strike="noStrike" kern="1200" cap="none" spc="0" normalizeH="0" baseline="0" noProof="0" dirty="0" err="1">
                <a:ln>
                  <a:noFill/>
                </a:ln>
                <a:solidFill>
                  <a:prstClr val="white"/>
                </a:solidFill>
                <a:effectLst/>
                <a:uLnTx/>
                <a:uFillTx/>
                <a:latin typeface="Calibri" panose="020F0502020204030204"/>
                <a:ea typeface="+mn-ea"/>
                <a:cs typeface="Calibri"/>
              </a:rPr>
              <a:t>ןתמונת</a:t>
            </a:r>
            <a:r>
              <a:rPr kumimoji="0" lang="he-IL" sz="1600" b="1" i="0" u="none" strike="noStrike" kern="1200" cap="none" spc="0" normalizeH="0" baseline="0" noProof="0" dirty="0">
                <a:ln>
                  <a:noFill/>
                </a:ln>
                <a:solidFill>
                  <a:prstClr val="white"/>
                </a:solidFill>
                <a:effectLst/>
                <a:uLnTx/>
                <a:uFillTx/>
                <a:latin typeface="Calibri" panose="020F0502020204030204"/>
                <a:ea typeface="+mn-ea"/>
                <a:cs typeface="Calibri"/>
              </a:rPr>
              <a:t> מצב</a:t>
            </a:r>
          </a:p>
        </p:txBody>
      </p:sp>
    </p:spTree>
    <p:extLst>
      <p:ext uri="{BB962C8B-B14F-4D97-AF65-F5344CB8AC3E}">
        <p14:creationId xmlns:p14="http://schemas.microsoft.com/office/powerpoint/2010/main" val="132888289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3"/>
          <p:cNvSpPr>
            <a:spLocks noGrp="1"/>
          </p:cNvSpPr>
          <p:nvPr>
            <p:ph type="title"/>
          </p:nvPr>
        </p:nvSpPr>
        <p:spPr>
          <a:xfrm>
            <a:off x="767324" y="274321"/>
            <a:ext cx="10657351" cy="720000"/>
          </a:xfrm>
        </p:spPr>
        <p:txBody>
          <a:bodyPr>
            <a:normAutofit fontScale="90000"/>
          </a:bodyPr>
          <a:lstStyle/>
          <a:p>
            <a:r>
              <a:rPr lang="he-IL">
                <a:solidFill>
                  <a:schemeClr val="tx1">
                    <a:lumMod val="75000"/>
                    <a:lumOff val="25000"/>
                  </a:schemeClr>
                </a:solidFill>
                <a:latin typeface="Calibri Light" panose="020F0302020204030204" pitchFamily="34" charset="0"/>
                <a:cs typeface="Calibri Light" panose="020F0302020204030204" pitchFamily="34" charset="0"/>
              </a:rPr>
              <a:t>בריאות – שנות חיים בריאים בגיל 65  - נשים</a:t>
            </a:r>
            <a:br>
              <a:rPr lang="he-IL">
                <a:solidFill>
                  <a:schemeClr val="tx1">
                    <a:lumMod val="75000"/>
                    <a:lumOff val="25000"/>
                  </a:schemeClr>
                </a:solidFill>
                <a:latin typeface="Calibri Light" panose="020F0302020204030204" pitchFamily="34" charset="0"/>
                <a:cs typeface="Calibri Light" panose="020F0302020204030204" pitchFamily="34" charset="0"/>
              </a:rPr>
            </a:br>
            <a:r>
              <a:rPr lang="he-IL" sz="3100">
                <a:solidFill>
                  <a:schemeClr val="tx1">
                    <a:lumMod val="75000"/>
                    <a:lumOff val="25000"/>
                  </a:schemeClr>
                </a:solidFill>
                <a:latin typeface="Calibri Light" panose="020F0302020204030204" pitchFamily="34" charset="0"/>
                <a:cs typeface="Calibri Light" panose="020F0302020204030204" pitchFamily="34" charset="0"/>
              </a:rPr>
              <a:t>המדד המוצע: אחוז השנים הבריאות בגיל 65</a:t>
            </a:r>
            <a:endParaRPr lang="en-US" b="0">
              <a:solidFill>
                <a:srgbClr val="687D8B"/>
              </a:solidFill>
            </a:endParaRPr>
          </a:p>
        </p:txBody>
      </p:sp>
      <p:graphicFrame>
        <p:nvGraphicFramePr>
          <p:cNvPr id="13" name="Chart 12">
            <a:extLst>
              <a:ext uri="{FF2B5EF4-FFF2-40B4-BE49-F238E27FC236}">
                <a16:creationId xmlns:a16="http://schemas.microsoft.com/office/drawing/2014/main" id="{FBEF7369-5941-4F84-B72B-41A89DA633C4}"/>
              </a:ext>
            </a:extLst>
          </p:cNvPr>
          <p:cNvGraphicFramePr/>
          <p:nvPr/>
        </p:nvGraphicFramePr>
        <p:xfrm>
          <a:off x="-94528" y="1943303"/>
          <a:ext cx="9548037" cy="3652547"/>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1" name="Chart 10">
            <a:extLst>
              <a:ext uri="{FF2B5EF4-FFF2-40B4-BE49-F238E27FC236}">
                <a16:creationId xmlns:a16="http://schemas.microsoft.com/office/drawing/2014/main" id="{FBEF7369-5941-4F84-B72B-41A89DA633C4}"/>
              </a:ext>
            </a:extLst>
          </p:cNvPr>
          <p:cNvGraphicFramePr/>
          <p:nvPr/>
        </p:nvGraphicFramePr>
        <p:xfrm>
          <a:off x="9343633" y="1943302"/>
          <a:ext cx="2705492" cy="3652547"/>
        </p:xfrm>
        <a:graphic>
          <a:graphicData uri="http://schemas.openxmlformats.org/drawingml/2006/chart">
            <c:chart xmlns:c="http://schemas.openxmlformats.org/drawingml/2006/chart" xmlns:r="http://schemas.openxmlformats.org/officeDocument/2006/relationships" r:id="rId4"/>
          </a:graphicData>
        </a:graphic>
      </p:graphicFrame>
      <p:sp>
        <p:nvSpPr>
          <p:cNvPr id="2" name="TextBox 1">
            <a:extLst>
              <a:ext uri="{FF2B5EF4-FFF2-40B4-BE49-F238E27FC236}">
                <a16:creationId xmlns:a16="http://schemas.microsoft.com/office/drawing/2014/main" id="{3F2EE287-1B97-49E9-A56E-10073DB0BD48}"/>
              </a:ext>
            </a:extLst>
          </p:cNvPr>
          <p:cNvSpPr txBox="1"/>
          <p:nvPr/>
        </p:nvSpPr>
        <p:spPr>
          <a:xfrm>
            <a:off x="3819547" y="5544389"/>
            <a:ext cx="2847254" cy="307777"/>
          </a:xfrm>
          <a:prstGeom prst="rect">
            <a:avLst/>
          </a:prstGeom>
          <a:noFill/>
        </p:spPr>
        <p:txBody>
          <a:bodyPr wrap="none" rtlCol="1">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he-IL" sz="1400" b="0" i="0" u="none" strike="noStrike" kern="1200" cap="none" spc="0" normalizeH="0" baseline="0" noProof="0">
                <a:ln>
                  <a:noFill/>
                </a:ln>
                <a:solidFill>
                  <a:srgbClr val="424F58">
                    <a:lumMod val="60000"/>
                    <a:lumOff val="40000"/>
                  </a:srgbClr>
                </a:solidFill>
                <a:effectLst/>
                <a:uLnTx/>
                <a:uFillTx/>
                <a:latin typeface="Calibri"/>
                <a:ea typeface="+mn-ea"/>
                <a:cs typeface="Arial"/>
              </a:rPr>
              <a:t>לפי תוחלת חיים ואחוז השנים הבריאות</a:t>
            </a:r>
          </a:p>
        </p:txBody>
      </p:sp>
      <p:sp>
        <p:nvSpPr>
          <p:cNvPr id="9" name="Rectangle 8">
            <a:extLst>
              <a:ext uri="{FF2B5EF4-FFF2-40B4-BE49-F238E27FC236}">
                <a16:creationId xmlns:a16="http://schemas.microsoft.com/office/drawing/2014/main" id="{F35CAC1E-C81D-42EE-903D-8CF813F29894}"/>
              </a:ext>
            </a:extLst>
          </p:cNvPr>
          <p:cNvSpPr/>
          <p:nvPr/>
        </p:nvSpPr>
        <p:spPr>
          <a:xfrm>
            <a:off x="1944863" y="6161239"/>
            <a:ext cx="8830331" cy="400110"/>
          </a:xfrm>
          <a:prstGeom prst="rect">
            <a:avLst/>
          </a:prstGeom>
        </p:spPr>
        <p:txBody>
          <a:bodyPr wrap="square">
            <a:spAutoFit/>
          </a:bodyPr>
          <a:lstStyle/>
          <a:p>
            <a:pPr marL="271463" marR="0" lvl="0" indent="0" algn="r" defTabSz="914400" rtl="1" eaLnBrk="1" fontAlgn="auto" latinLnBrk="0" hangingPunct="1">
              <a:lnSpc>
                <a:spcPct val="100000"/>
              </a:lnSpc>
              <a:spcBef>
                <a:spcPts val="0"/>
              </a:spcBef>
              <a:spcAft>
                <a:spcPts val="0"/>
              </a:spcAft>
              <a:buClrTx/>
              <a:buSzTx/>
              <a:buFontTx/>
              <a:buNone/>
              <a:tabLst/>
              <a:defRPr/>
            </a:pPr>
            <a:r>
              <a:rPr kumimoji="0" lang="he-IL" sz="2000" b="0" i="0" u="none" strike="noStrike" kern="1200" cap="none" spc="0" normalizeH="0" baseline="0" noProof="0">
                <a:ln>
                  <a:noFill/>
                </a:ln>
                <a:solidFill>
                  <a:srgbClr val="008DA8"/>
                </a:solidFill>
                <a:effectLst/>
                <a:uLnTx/>
                <a:uFillTx/>
                <a:latin typeface="Calibri"/>
                <a:ea typeface="+mn-ea"/>
                <a:cs typeface="Arial"/>
              </a:rPr>
              <a:t>אחוז השנים הבריאות בגיל 65  - נשים - 2018 : </a:t>
            </a:r>
            <a:r>
              <a:rPr kumimoji="0" lang="he-IL" sz="2000" b="1" i="0" u="none" strike="noStrike" kern="1200" cap="none" spc="0" normalizeH="0" baseline="0" noProof="0">
                <a:ln>
                  <a:noFill/>
                </a:ln>
                <a:solidFill>
                  <a:srgbClr val="008DA8"/>
                </a:solidFill>
                <a:effectLst/>
                <a:uLnTx/>
                <a:uFillTx/>
                <a:latin typeface="Calibri"/>
                <a:ea typeface="+mn-ea"/>
                <a:cs typeface="Arial"/>
              </a:rPr>
              <a:t>47%</a:t>
            </a:r>
            <a:r>
              <a:rPr kumimoji="0" lang="he-IL" sz="2000" b="0" i="0" u="none" strike="noStrike" kern="1200" cap="none" spc="0" normalizeH="0" baseline="0" noProof="0">
                <a:ln>
                  <a:noFill/>
                </a:ln>
                <a:solidFill>
                  <a:srgbClr val="008DA8"/>
                </a:solidFill>
                <a:effectLst/>
                <a:uLnTx/>
                <a:uFillTx/>
                <a:latin typeface="Calibri"/>
                <a:ea typeface="+mn-ea"/>
                <a:cs typeface="Arial"/>
              </a:rPr>
              <a:t> (10.6 שנים)</a:t>
            </a:r>
          </a:p>
        </p:txBody>
      </p:sp>
      <p:sp>
        <p:nvSpPr>
          <p:cNvPr id="10" name="Arrow: Down 10">
            <a:extLst>
              <a:ext uri="{FF2B5EF4-FFF2-40B4-BE49-F238E27FC236}">
                <a16:creationId xmlns:a16="http://schemas.microsoft.com/office/drawing/2014/main" id="{E80945E7-42A5-4B60-9627-AA57215D1880}"/>
              </a:ext>
            </a:extLst>
          </p:cNvPr>
          <p:cNvSpPr/>
          <p:nvPr/>
        </p:nvSpPr>
        <p:spPr>
          <a:xfrm rot="5400000">
            <a:off x="10684654" y="5999344"/>
            <a:ext cx="444769" cy="723900"/>
          </a:xfrm>
          <a:prstGeom prst="down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Calibri"/>
              <a:ea typeface="+mn-ea"/>
              <a:cs typeface="Arial"/>
            </a:endParaRPr>
          </a:p>
        </p:txBody>
      </p:sp>
      <p:sp>
        <p:nvSpPr>
          <p:cNvPr id="8" name="TextBox 7">
            <a:extLst>
              <a:ext uri="{FF2B5EF4-FFF2-40B4-BE49-F238E27FC236}">
                <a16:creationId xmlns:a16="http://schemas.microsoft.com/office/drawing/2014/main" id="{96159013-4E89-495D-A506-C803F4E0D5B7}"/>
              </a:ext>
            </a:extLst>
          </p:cNvPr>
          <p:cNvSpPr txBox="1"/>
          <p:nvPr/>
        </p:nvSpPr>
        <p:spPr>
          <a:xfrm>
            <a:off x="1410967" y="6510006"/>
            <a:ext cx="10514417" cy="369332"/>
          </a:xfrm>
          <a:prstGeom prst="rect">
            <a:avLst/>
          </a:prstGeom>
          <a:noFill/>
        </p:spPr>
        <p:txBody>
          <a:bodyPr wrap="non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המוגבלות מבוססת על שאלת </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GALI</a:t>
            </a:r>
            <a:r>
              <a:rPr kumimoji="0" lang="he-IL" sz="18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 (באיזה מידה היו לך בעיות בריאות המפריעות לתפקוד) הנשאלת בסקר החברתי</a:t>
            </a:r>
          </a:p>
        </p:txBody>
      </p:sp>
      <p:sp>
        <p:nvSpPr>
          <p:cNvPr id="12" name="מלבן 11"/>
          <p:cNvSpPr/>
          <p:nvPr/>
        </p:nvSpPr>
        <p:spPr>
          <a:xfrm>
            <a:off x="3093" y="0"/>
            <a:ext cx="244547" cy="6857999"/>
          </a:xfrm>
          <a:prstGeom prst="rect">
            <a:avLst/>
          </a:prstGeom>
          <a:solidFill>
            <a:srgbClr val="2980B9"/>
          </a:solidFill>
          <a:ln w="12700" cap="flat" cmpd="sng" algn="ctr">
            <a:solidFill>
              <a:srgbClr val="2CC2E0"/>
            </a:solidFill>
            <a:prstDash val="solid"/>
            <a:miter lim="800000"/>
          </a:ln>
          <a:effectLst/>
        </p:spPr>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0" cap="none" spc="0" normalizeH="0" baseline="0" noProof="0">
              <a:ln>
                <a:noFill/>
              </a:ln>
              <a:solidFill>
                <a:prstClr val="white"/>
              </a:solidFill>
              <a:effectLst/>
              <a:uLnTx/>
              <a:uFillTx/>
              <a:latin typeface="Calibri"/>
              <a:ea typeface="+mn-ea"/>
              <a:cs typeface="Calibri"/>
            </a:endParaRPr>
          </a:p>
        </p:txBody>
      </p:sp>
      <p:sp>
        <p:nvSpPr>
          <p:cNvPr id="14" name="TextBox 13"/>
          <p:cNvSpPr txBox="1"/>
          <p:nvPr/>
        </p:nvSpPr>
        <p:spPr>
          <a:xfrm rot="16200000">
            <a:off x="-660782" y="650913"/>
            <a:ext cx="1478289" cy="338554"/>
          </a:xfrm>
          <a:prstGeom prst="rect">
            <a:avLst/>
          </a:prstGeom>
          <a:noFill/>
        </p:spPr>
        <p:txBody>
          <a:bodyPr wrap="non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1" i="0" u="none" strike="noStrike" kern="1200" cap="none" spc="0" normalizeH="0" baseline="0" noProof="0" dirty="0">
                <a:ln>
                  <a:noFill/>
                </a:ln>
                <a:solidFill>
                  <a:prstClr val="white"/>
                </a:solidFill>
                <a:effectLst/>
                <a:uLnTx/>
                <a:uFillTx/>
                <a:latin typeface="Calibri" panose="020F0502020204030204"/>
                <a:ea typeface="+mn-ea"/>
                <a:cs typeface="Calibri"/>
              </a:rPr>
              <a:t>רקע </a:t>
            </a:r>
            <a:r>
              <a:rPr kumimoji="0" lang="he-IL" sz="1600" b="1" i="0" u="none" strike="noStrike" kern="1200" cap="none" spc="0" normalizeH="0" baseline="0" noProof="0" dirty="0" err="1">
                <a:ln>
                  <a:noFill/>
                </a:ln>
                <a:solidFill>
                  <a:prstClr val="white"/>
                </a:solidFill>
                <a:effectLst/>
                <a:uLnTx/>
                <a:uFillTx/>
                <a:latin typeface="Calibri" panose="020F0502020204030204"/>
                <a:ea typeface="+mn-ea"/>
                <a:cs typeface="Calibri"/>
              </a:rPr>
              <a:t>ןתמונת</a:t>
            </a:r>
            <a:r>
              <a:rPr kumimoji="0" lang="he-IL" sz="1600" b="1" i="0" u="none" strike="noStrike" kern="1200" cap="none" spc="0" normalizeH="0" baseline="0" noProof="0" dirty="0">
                <a:ln>
                  <a:noFill/>
                </a:ln>
                <a:solidFill>
                  <a:prstClr val="white"/>
                </a:solidFill>
                <a:effectLst/>
                <a:uLnTx/>
                <a:uFillTx/>
                <a:latin typeface="Calibri" panose="020F0502020204030204"/>
                <a:ea typeface="+mn-ea"/>
                <a:cs typeface="Calibri"/>
              </a:rPr>
              <a:t> מצב</a:t>
            </a:r>
          </a:p>
        </p:txBody>
      </p:sp>
    </p:spTree>
    <p:extLst>
      <p:ext uri="{BB962C8B-B14F-4D97-AF65-F5344CB8AC3E}">
        <p14:creationId xmlns:p14="http://schemas.microsoft.com/office/powerpoint/2010/main" val="61569993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he-IL" sz="4800" dirty="0">
                <a:solidFill>
                  <a:srgbClr val="A82172"/>
                </a:solidFill>
                <a:latin typeface="Calibri" panose="020F0502020204030204" pitchFamily="34" charset="0"/>
                <a:cs typeface="Calibri" panose="020F0502020204030204" pitchFamily="34" charset="0"/>
              </a:rPr>
              <a:t>בריאות –תפקוד </a:t>
            </a:r>
            <a:r>
              <a:rPr lang="en-US" sz="4800" dirty="0">
                <a:solidFill>
                  <a:srgbClr val="A82172"/>
                </a:solidFill>
                <a:latin typeface="Calibri" panose="020F0502020204030204" pitchFamily="34" charset="0"/>
                <a:cs typeface="Calibri" panose="020F0502020204030204" pitchFamily="34" charset="0"/>
              </a:rPr>
              <a:t>IADL</a:t>
            </a:r>
          </a:p>
        </p:txBody>
      </p:sp>
      <p:sp>
        <p:nvSpPr>
          <p:cNvPr id="5" name="Rectangle 4">
            <a:extLst>
              <a:ext uri="{FF2B5EF4-FFF2-40B4-BE49-F238E27FC236}">
                <a16:creationId xmlns:a16="http://schemas.microsoft.com/office/drawing/2014/main" id="{3407A74C-E92D-40DF-A8D4-AB6FBE1ACB26}"/>
              </a:ext>
            </a:extLst>
          </p:cNvPr>
          <p:cNvSpPr/>
          <p:nvPr/>
        </p:nvSpPr>
        <p:spPr>
          <a:xfrm>
            <a:off x="1050368" y="1519529"/>
            <a:ext cx="9537530" cy="461665"/>
          </a:xfrm>
          <a:prstGeom prst="rect">
            <a:avLst/>
          </a:prstGeom>
        </p:spPr>
        <p:txBody>
          <a:bodyPr wrap="square">
            <a:spAutoFit/>
          </a:bodyPr>
          <a:lstStyle/>
          <a:p>
            <a:pPr marL="271463" marR="0" lvl="0" indent="0" algn="r" defTabSz="914400" rtl="1" eaLnBrk="1" fontAlgn="auto" latinLnBrk="0" hangingPunct="1">
              <a:lnSpc>
                <a:spcPct val="100000"/>
              </a:lnSpc>
              <a:spcBef>
                <a:spcPts val="0"/>
              </a:spcBef>
              <a:spcAft>
                <a:spcPts val="0"/>
              </a:spcAft>
              <a:buClrTx/>
              <a:buSzTx/>
              <a:buFontTx/>
              <a:buNone/>
              <a:tabLst/>
              <a:defRPr/>
            </a:pPr>
            <a:r>
              <a:rPr kumimoji="0" lang="he-IL" sz="2400" b="0" i="0" u="none" strike="noStrike" kern="1200" cap="none" spc="0" normalizeH="0" baseline="0" noProof="0" dirty="0">
                <a:ln>
                  <a:noFill/>
                </a:ln>
                <a:solidFill>
                  <a:srgbClr val="424F58"/>
                </a:solidFill>
                <a:effectLst/>
                <a:uLnTx/>
                <a:uFillTx/>
                <a:latin typeface="Calibri"/>
                <a:ea typeface="+mn-ea"/>
                <a:cs typeface="Arial"/>
              </a:rPr>
              <a:t>שיעור בני 65+ המוגבלים בלפחות אחת מפעולות </a:t>
            </a:r>
            <a:r>
              <a:rPr kumimoji="0" lang="en-US" sz="2400" b="0" i="0" u="none" strike="noStrike" kern="1200" cap="none" spc="0" normalizeH="0" baseline="0" noProof="0" dirty="0">
                <a:ln>
                  <a:noFill/>
                </a:ln>
                <a:solidFill>
                  <a:srgbClr val="424F58"/>
                </a:solidFill>
                <a:effectLst/>
                <a:uLnTx/>
                <a:uFillTx/>
                <a:latin typeface="Calibri"/>
                <a:ea typeface="+mn-ea"/>
                <a:cs typeface="Arial"/>
              </a:rPr>
              <a:t>IADL</a:t>
            </a:r>
            <a:endParaRPr kumimoji="0" lang="he-IL" sz="2400" b="0" i="0" u="none" strike="noStrike" kern="1200" cap="none" spc="0" normalizeH="0" baseline="0" noProof="0" dirty="0">
              <a:ln>
                <a:noFill/>
              </a:ln>
              <a:solidFill>
                <a:srgbClr val="424F58"/>
              </a:solidFill>
              <a:effectLst/>
              <a:uLnTx/>
              <a:uFillTx/>
              <a:latin typeface="Calibri"/>
              <a:ea typeface="+mn-ea"/>
              <a:cs typeface="Arial"/>
            </a:endParaRPr>
          </a:p>
        </p:txBody>
      </p:sp>
      <p:graphicFrame>
        <p:nvGraphicFramePr>
          <p:cNvPr id="11" name="Chart 10"/>
          <p:cNvGraphicFramePr/>
          <p:nvPr/>
        </p:nvGraphicFramePr>
        <p:xfrm>
          <a:off x="518344" y="2178756"/>
          <a:ext cx="9720000" cy="4574377"/>
        </p:xfrm>
        <a:graphic>
          <a:graphicData uri="http://schemas.openxmlformats.org/drawingml/2006/chart">
            <c:chart xmlns:c="http://schemas.openxmlformats.org/drawingml/2006/chart" xmlns:r="http://schemas.openxmlformats.org/officeDocument/2006/relationships" r:id="rId3"/>
          </a:graphicData>
        </a:graphic>
      </p:graphicFrame>
      <p:sp>
        <p:nvSpPr>
          <p:cNvPr id="6" name="Rectangle 4">
            <a:extLst>
              <a:ext uri="{FF2B5EF4-FFF2-40B4-BE49-F238E27FC236}">
                <a16:creationId xmlns:a16="http://schemas.microsoft.com/office/drawing/2014/main" id="{4CB87CA1-C087-444D-89B6-53B9A22D55A7}"/>
              </a:ext>
            </a:extLst>
          </p:cNvPr>
          <p:cNvSpPr/>
          <p:nvPr/>
        </p:nvSpPr>
        <p:spPr>
          <a:xfrm>
            <a:off x="377073" y="565609"/>
            <a:ext cx="2507530" cy="65728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400" b="0" i="0" u="none" strike="noStrike" kern="1200" cap="none" spc="0" normalizeH="0" baseline="0" noProof="0" dirty="0">
                <a:ln>
                  <a:noFill/>
                </a:ln>
                <a:solidFill>
                  <a:prstClr val="white"/>
                </a:solidFill>
                <a:effectLst/>
                <a:uLnTx/>
                <a:uFillTx/>
                <a:latin typeface="Calibri" panose="020F0502020204030204"/>
                <a:ea typeface="+mn-ea"/>
                <a:cs typeface="Arial" panose="020B0604020202020204" pitchFamily="34" charset="0"/>
              </a:rPr>
              <a:t>ישראל מקום אחרון ב </a:t>
            </a:r>
            <a:r>
              <a:rPr kumimoji="0" lang="en-US" sz="2400" b="0" i="0" u="none" strike="noStrike" kern="1200" cap="none" spc="0" normalizeH="0" baseline="0" noProof="0" dirty="0">
                <a:ln>
                  <a:noFill/>
                </a:ln>
                <a:solidFill>
                  <a:prstClr val="white"/>
                </a:solidFill>
                <a:effectLst/>
                <a:uLnTx/>
                <a:uFillTx/>
                <a:latin typeface="Calibri" panose="020F0502020204030204"/>
                <a:ea typeface="+mn-ea"/>
                <a:cs typeface="+mn-cs"/>
              </a:rPr>
              <a:t>IADL</a:t>
            </a:r>
            <a:endParaRPr kumimoji="0" lang="he-IL" sz="2400" b="0" i="0" u="none" strike="noStrike" kern="1200" cap="none" spc="0" normalizeH="0" baseline="0" noProof="0" dirty="0">
              <a:ln>
                <a:noFill/>
              </a:ln>
              <a:solidFill>
                <a:prstClr val="white"/>
              </a:solidFill>
              <a:effectLst/>
              <a:uLnTx/>
              <a:uFillTx/>
              <a:latin typeface="Calibri" panose="020F0502020204030204"/>
              <a:ea typeface="+mn-ea"/>
              <a:cs typeface="Arial" panose="020B0604020202020204" pitchFamily="34" charset="0"/>
            </a:endParaRPr>
          </a:p>
        </p:txBody>
      </p:sp>
      <p:sp>
        <p:nvSpPr>
          <p:cNvPr id="7" name="מלבן 6"/>
          <p:cNvSpPr/>
          <p:nvPr/>
        </p:nvSpPr>
        <p:spPr>
          <a:xfrm>
            <a:off x="3093" y="0"/>
            <a:ext cx="244547" cy="6857999"/>
          </a:xfrm>
          <a:prstGeom prst="rect">
            <a:avLst/>
          </a:prstGeom>
          <a:solidFill>
            <a:srgbClr val="2980B9"/>
          </a:solidFill>
          <a:ln w="12700" cap="flat" cmpd="sng" algn="ctr">
            <a:solidFill>
              <a:srgbClr val="2CC2E0"/>
            </a:solidFill>
            <a:prstDash val="solid"/>
            <a:miter lim="800000"/>
          </a:ln>
          <a:effectLst/>
        </p:spPr>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0" cap="none" spc="0" normalizeH="0" baseline="0" noProof="0">
              <a:ln>
                <a:noFill/>
              </a:ln>
              <a:solidFill>
                <a:prstClr val="white"/>
              </a:solidFill>
              <a:effectLst/>
              <a:uLnTx/>
              <a:uFillTx/>
              <a:latin typeface="Calibri"/>
              <a:ea typeface="+mn-ea"/>
              <a:cs typeface="Calibri"/>
            </a:endParaRPr>
          </a:p>
        </p:txBody>
      </p:sp>
      <p:sp>
        <p:nvSpPr>
          <p:cNvPr id="8" name="TextBox 7"/>
          <p:cNvSpPr txBox="1"/>
          <p:nvPr/>
        </p:nvSpPr>
        <p:spPr>
          <a:xfrm rot="16200000">
            <a:off x="-628535" y="570738"/>
            <a:ext cx="1478289" cy="338554"/>
          </a:xfrm>
          <a:prstGeom prst="rect">
            <a:avLst/>
          </a:prstGeom>
          <a:noFill/>
        </p:spPr>
        <p:txBody>
          <a:bodyPr wrap="non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1" i="0" u="none" strike="noStrike" kern="1200" cap="none" spc="0" normalizeH="0" baseline="0" noProof="0" dirty="0">
                <a:ln>
                  <a:noFill/>
                </a:ln>
                <a:solidFill>
                  <a:prstClr val="white"/>
                </a:solidFill>
                <a:effectLst/>
                <a:uLnTx/>
                <a:uFillTx/>
                <a:latin typeface="Calibri" panose="020F0502020204030204"/>
                <a:ea typeface="+mn-ea"/>
                <a:cs typeface="Calibri"/>
              </a:rPr>
              <a:t>רקע </a:t>
            </a:r>
            <a:r>
              <a:rPr kumimoji="0" lang="he-IL" sz="1600" b="1" i="0" u="none" strike="noStrike" kern="1200" cap="none" spc="0" normalizeH="0" baseline="0" noProof="0" dirty="0" err="1">
                <a:ln>
                  <a:noFill/>
                </a:ln>
                <a:solidFill>
                  <a:prstClr val="white"/>
                </a:solidFill>
                <a:effectLst/>
                <a:uLnTx/>
                <a:uFillTx/>
                <a:latin typeface="Calibri" panose="020F0502020204030204"/>
                <a:ea typeface="+mn-ea"/>
                <a:cs typeface="Calibri"/>
              </a:rPr>
              <a:t>ןתמונת</a:t>
            </a:r>
            <a:r>
              <a:rPr kumimoji="0" lang="he-IL" sz="1600" b="1" i="0" u="none" strike="noStrike" kern="1200" cap="none" spc="0" normalizeH="0" baseline="0" noProof="0" dirty="0">
                <a:ln>
                  <a:noFill/>
                </a:ln>
                <a:solidFill>
                  <a:prstClr val="white"/>
                </a:solidFill>
                <a:effectLst/>
                <a:uLnTx/>
                <a:uFillTx/>
                <a:latin typeface="Calibri" panose="020F0502020204030204"/>
                <a:ea typeface="+mn-ea"/>
                <a:cs typeface="Calibri"/>
              </a:rPr>
              <a:t> מצב</a:t>
            </a:r>
          </a:p>
        </p:txBody>
      </p:sp>
    </p:spTree>
    <p:extLst>
      <p:ext uri="{BB962C8B-B14F-4D97-AF65-F5344CB8AC3E}">
        <p14:creationId xmlns:p14="http://schemas.microsoft.com/office/powerpoint/2010/main" val="224337359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2F2F2"/>
        </a:solidFill>
        <a:effectLst/>
      </p:bgPr>
    </p:bg>
    <p:spTree>
      <p:nvGrpSpPr>
        <p:cNvPr id="1" name=""/>
        <p:cNvGrpSpPr/>
        <p:nvPr/>
      </p:nvGrpSpPr>
      <p:grpSpPr>
        <a:xfrm>
          <a:off x="0" y="0"/>
          <a:ext cx="0" cy="0"/>
          <a:chOff x="0" y="0"/>
          <a:chExt cx="0" cy="0"/>
        </a:xfrm>
      </p:grpSpPr>
      <p:sp>
        <p:nvSpPr>
          <p:cNvPr id="2" name="כותרת 1"/>
          <p:cNvSpPr>
            <a:spLocks noGrp="1"/>
          </p:cNvSpPr>
          <p:nvPr>
            <p:ph type="title"/>
          </p:nvPr>
        </p:nvSpPr>
        <p:spPr>
          <a:xfrm>
            <a:off x="1029348" y="607100"/>
            <a:ext cx="10515600" cy="850789"/>
          </a:xfrm>
        </p:spPr>
        <p:txBody>
          <a:bodyPr>
            <a:normAutofit fontScale="90000"/>
          </a:bodyPr>
          <a:lstStyle/>
          <a:p>
            <a:r>
              <a:rPr lang="he-IL" b="1" dirty="0">
                <a:latin typeface="Calibri" panose="020F0502020204030204" pitchFamily="34" charset="0"/>
                <a:ea typeface="Calibri" panose="020F0502020204030204" pitchFamily="34" charset="0"/>
              </a:rPr>
              <a:t>בעיות עיקריות בחוק סיעוד 2024:</a:t>
            </a:r>
            <a:br>
              <a:rPr lang="en-US" dirty="0">
                <a:latin typeface="Calibri" panose="020F0502020204030204" pitchFamily="34" charset="0"/>
                <a:ea typeface="Calibri" panose="020F0502020204030204" pitchFamily="34" charset="0"/>
                <a:cs typeface="Arial" panose="020B0604020202020204" pitchFamily="34" charset="0"/>
              </a:rPr>
            </a:br>
            <a:endParaRPr lang="he-IL" dirty="0"/>
          </a:p>
        </p:txBody>
      </p:sp>
      <p:sp>
        <p:nvSpPr>
          <p:cNvPr id="6" name="מלבן 5"/>
          <p:cNvSpPr/>
          <p:nvPr/>
        </p:nvSpPr>
        <p:spPr>
          <a:xfrm>
            <a:off x="1765990" y="7356341"/>
            <a:ext cx="10007558" cy="5239127"/>
          </a:xfrm>
          <a:prstGeom prst="rect">
            <a:avLst/>
          </a:prstGeom>
        </p:spPr>
        <p:txBody>
          <a:bodyPr wrap="square">
            <a:spAutoFit/>
          </a:bodyPr>
          <a:lstStyle/>
          <a:p>
            <a:pPr marL="514350" marR="0" lvl="0" indent="-514350" algn="r" defTabSz="914400" rtl="1" eaLnBrk="1" fontAlgn="auto" latinLnBrk="0" hangingPunct="1">
              <a:lnSpc>
                <a:spcPct val="115000"/>
              </a:lnSpc>
              <a:spcBef>
                <a:spcPts val="0"/>
              </a:spcBef>
              <a:spcAft>
                <a:spcPts val="0"/>
              </a:spcAft>
              <a:buClrTx/>
              <a:buSzTx/>
              <a:buFont typeface="+mj-lt"/>
              <a:buAutoNum type="arabicPeriod"/>
              <a:tabLst/>
              <a:defRPr/>
            </a:pPr>
            <a:r>
              <a:rPr kumimoji="0" lang="he-IL" sz="24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Arial" panose="020B0604020202020204" pitchFamily="34" charset="0"/>
              </a:rPr>
              <a:t>השקעה בטיפול ולא במניעה</a:t>
            </a:r>
            <a:endParaRPr kumimoji="0" lang="en-US" sz="24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Arial" panose="020B0604020202020204" pitchFamily="34" charset="0"/>
            </a:endParaRPr>
          </a:p>
          <a:p>
            <a:pPr marL="514350" marR="0" lvl="0" indent="-514350" algn="r" defTabSz="914400" rtl="1" eaLnBrk="1" fontAlgn="auto" latinLnBrk="0" hangingPunct="1">
              <a:lnSpc>
                <a:spcPct val="115000"/>
              </a:lnSpc>
              <a:spcBef>
                <a:spcPts val="0"/>
              </a:spcBef>
              <a:spcAft>
                <a:spcPts val="0"/>
              </a:spcAft>
              <a:buClrTx/>
              <a:buSzTx/>
              <a:buFont typeface="+mj-lt"/>
              <a:buAutoNum type="arabicPeriod"/>
              <a:tabLst/>
              <a:defRPr/>
            </a:pPr>
            <a:r>
              <a:rPr kumimoji="0" lang="he-IL" sz="24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Arial" panose="020B0604020202020204" pitchFamily="34" charset="0"/>
              </a:rPr>
              <a:t>מיצוי תקציבי גבוה ותוצאות לא מוכחות</a:t>
            </a:r>
          </a:p>
          <a:p>
            <a:pPr marL="514350" marR="0" lvl="0" indent="-514350" algn="r" defTabSz="914400" rtl="1" eaLnBrk="1" fontAlgn="auto" latinLnBrk="0" hangingPunct="1">
              <a:lnSpc>
                <a:spcPct val="115000"/>
              </a:lnSpc>
              <a:spcBef>
                <a:spcPts val="0"/>
              </a:spcBef>
              <a:spcAft>
                <a:spcPts val="0"/>
              </a:spcAft>
              <a:buClrTx/>
              <a:buSzTx/>
              <a:buFont typeface="+mj-lt"/>
              <a:buAutoNum type="arabicPeriod"/>
              <a:tabLst/>
              <a:defRPr/>
            </a:pPr>
            <a:r>
              <a:rPr kumimoji="0" lang="he-IL" sz="24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Arial" panose="020B0604020202020204" pitchFamily="34" charset="0"/>
              </a:rPr>
              <a:t>סל שירותים מצומצם שאינו מותאם לצרכים</a:t>
            </a:r>
            <a:endParaRPr kumimoji="0" lang="en-US" sz="24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Arial" panose="020B0604020202020204" pitchFamily="34" charset="0"/>
            </a:endParaRPr>
          </a:p>
          <a:p>
            <a:pPr marL="514350" marR="0" lvl="0" indent="-514350" algn="r" defTabSz="914400" rtl="1" eaLnBrk="1" fontAlgn="auto" latinLnBrk="0" hangingPunct="1">
              <a:lnSpc>
                <a:spcPct val="115000"/>
              </a:lnSpc>
              <a:spcBef>
                <a:spcPts val="0"/>
              </a:spcBef>
              <a:spcAft>
                <a:spcPts val="0"/>
              </a:spcAft>
              <a:buClrTx/>
              <a:buSzTx/>
              <a:buFont typeface="+mj-lt"/>
              <a:buAutoNum type="arabicPeriod"/>
              <a:tabLst/>
              <a:defRPr/>
            </a:pPr>
            <a:r>
              <a:rPr kumimoji="0" lang="he-IL" sz="24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Arial" panose="020B0604020202020204" pitchFamily="34" charset="0"/>
              </a:rPr>
              <a:t>היעדר מידע מסודר, שקוף ונגיש ומדידה שוטפת</a:t>
            </a:r>
          </a:p>
          <a:p>
            <a:pPr marL="514350" marR="0" lvl="0" indent="-514350" algn="r" defTabSz="914400" rtl="1" eaLnBrk="1" fontAlgn="auto" latinLnBrk="0" hangingPunct="1">
              <a:lnSpc>
                <a:spcPct val="115000"/>
              </a:lnSpc>
              <a:spcBef>
                <a:spcPts val="0"/>
              </a:spcBef>
              <a:spcAft>
                <a:spcPts val="0"/>
              </a:spcAft>
              <a:buClrTx/>
              <a:buSzTx/>
              <a:buFont typeface="+mj-lt"/>
              <a:buAutoNum type="arabicPeriod"/>
              <a:tabLst/>
              <a:defRPr/>
            </a:pPr>
            <a:r>
              <a:rPr kumimoji="0" lang="he-IL" sz="24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Arial" panose="020B0604020202020204" pitchFamily="34" charset="0"/>
              </a:rPr>
              <a:t>הגמלה בכסף יוצרת </a:t>
            </a:r>
            <a:r>
              <a:rPr kumimoji="0" lang="he-IL" sz="2400" b="0" i="0" u="none" strike="noStrike" kern="1200" cap="none" spc="0" normalizeH="0" baseline="0" noProof="0" dirty="0" err="1">
                <a:ln>
                  <a:noFill/>
                </a:ln>
                <a:solidFill>
                  <a:prstClr val="black"/>
                </a:solidFill>
                <a:effectLst/>
                <a:uLnTx/>
                <a:uFillTx/>
                <a:latin typeface="Calibri" panose="020F0502020204030204" pitchFamily="34" charset="0"/>
                <a:ea typeface="Calibri" panose="020F0502020204030204" pitchFamily="34" charset="0"/>
                <a:cs typeface="Arial" panose="020B0604020202020204" pitchFamily="34" charset="0"/>
              </a:rPr>
              <a:t>תמרוץ</a:t>
            </a:r>
            <a:r>
              <a:rPr kumimoji="0" lang="he-IL" sz="24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Arial" panose="020B0604020202020204" pitchFamily="34" charset="0"/>
              </a:rPr>
              <a:t> שלילי למניעת הדרדרות לחברות הסיעוד ולזקן</a:t>
            </a:r>
          </a:p>
          <a:p>
            <a:pPr marL="0" marR="0" lvl="0" indent="0" algn="r" defTabSz="914400" rtl="1" eaLnBrk="1" fontAlgn="auto" latinLnBrk="0" hangingPunct="1">
              <a:lnSpc>
                <a:spcPct val="115000"/>
              </a:lnSpc>
              <a:spcBef>
                <a:spcPts val="0"/>
              </a:spcBef>
              <a:spcAft>
                <a:spcPts val="0"/>
              </a:spcAft>
              <a:buClrTx/>
              <a:buSzTx/>
              <a:buFontTx/>
              <a:buNone/>
              <a:tabLst/>
              <a:defRPr/>
            </a:pPr>
            <a:r>
              <a:rPr kumimoji="0" lang="he-IL" sz="24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Arial" panose="020B0604020202020204" pitchFamily="34" charset="0"/>
              </a:rPr>
              <a:t>7. </a:t>
            </a:r>
            <a:r>
              <a:rPr kumimoji="0" lang="he-IL" sz="32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Arial" panose="020B0604020202020204" pitchFamily="34" charset="0"/>
              </a:rPr>
              <a:t>מחסור במטפלות </a:t>
            </a:r>
            <a:r>
              <a:rPr kumimoji="0" lang="he-IL" sz="2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Arial" panose="020B0604020202020204" pitchFamily="34" charset="0"/>
              </a:rPr>
              <a:t>שגורם ל: </a:t>
            </a:r>
            <a:endParaRPr kumimoji="0" lang="en-US" sz="2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Arial" panose="020B0604020202020204" pitchFamily="34" charset="0"/>
            </a:endParaRPr>
          </a:p>
          <a:p>
            <a:pPr marL="742950" marR="0" lvl="0" indent="-285750" algn="r" defTabSz="914400" rtl="1" eaLnBrk="1" fontAlgn="auto" latinLnBrk="0" hangingPunct="1">
              <a:lnSpc>
                <a:spcPct val="115000"/>
              </a:lnSpc>
              <a:spcBef>
                <a:spcPts val="0"/>
              </a:spcBef>
              <a:spcAft>
                <a:spcPts val="0"/>
              </a:spcAft>
              <a:buClrTx/>
              <a:buSzTx/>
              <a:buFont typeface="Arial" panose="020B0604020202020204" pitchFamily="34" charset="0"/>
              <a:buChar char="•"/>
              <a:tabLst/>
              <a:defRPr/>
            </a:pPr>
            <a:r>
              <a:rPr kumimoji="0" lang="he-IL" sz="24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Arial" panose="020B0604020202020204" pitchFamily="34" charset="0"/>
              </a:rPr>
              <a:t>עלייה בגמלה בכסף </a:t>
            </a:r>
            <a:r>
              <a:rPr kumimoji="0" lang="he-IL" sz="24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Arial" panose="020B0604020202020204" pitchFamily="34" charset="0"/>
              </a:rPr>
              <a:t>שאין הוכחה לדחיקת תלות ותפקוד</a:t>
            </a:r>
          </a:p>
          <a:p>
            <a:pPr marL="742950" marR="0" lvl="0" indent="-285750" algn="r" defTabSz="914400" rtl="1" eaLnBrk="1" fontAlgn="auto" latinLnBrk="0" hangingPunct="1">
              <a:lnSpc>
                <a:spcPct val="115000"/>
              </a:lnSpc>
              <a:spcBef>
                <a:spcPts val="0"/>
              </a:spcBef>
              <a:spcAft>
                <a:spcPts val="0"/>
              </a:spcAft>
              <a:buClrTx/>
              <a:buSzTx/>
              <a:buFont typeface="Arial" panose="020B0604020202020204" pitchFamily="34" charset="0"/>
              <a:buChar char="•"/>
              <a:tabLst/>
              <a:defRPr/>
            </a:pPr>
            <a:r>
              <a:rPr kumimoji="0" lang="he-IL" sz="24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Arial" panose="020B0604020202020204" pitchFamily="34" charset="0"/>
              </a:rPr>
              <a:t>בני משפחה מטפלים בשכר (כ-7 מיליארד ₪  ובתיווך 20% לחברות הסיעוד)</a:t>
            </a:r>
            <a:endParaRPr kumimoji="0" lang="en-US" sz="24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Arial" panose="020B0604020202020204" pitchFamily="34" charset="0"/>
            </a:endParaRPr>
          </a:p>
          <a:p>
            <a:pPr marL="742950" marR="0" lvl="0" indent="-285750" algn="r" defTabSz="914400" rtl="1" eaLnBrk="1" fontAlgn="auto" latinLnBrk="0" hangingPunct="1">
              <a:lnSpc>
                <a:spcPct val="115000"/>
              </a:lnSpc>
              <a:spcBef>
                <a:spcPts val="0"/>
              </a:spcBef>
              <a:spcAft>
                <a:spcPts val="0"/>
              </a:spcAft>
              <a:buClrTx/>
              <a:buSzTx/>
              <a:buFont typeface="Arial" panose="020B0604020202020204" pitchFamily="34" charset="0"/>
              <a:buChar char="•"/>
              <a:tabLst/>
              <a:defRPr/>
            </a:pPr>
            <a:r>
              <a:rPr kumimoji="0" lang="he-IL" sz="24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Arial" panose="020B0604020202020204" pitchFamily="34" charset="0"/>
              </a:rPr>
              <a:t>כ-50% מהשעות נלקחות ע"י המטפלות</a:t>
            </a:r>
          </a:p>
          <a:p>
            <a:pPr marL="742950" marR="0" lvl="0" indent="-285750" algn="r" defTabSz="914400" rtl="1" eaLnBrk="1" fontAlgn="auto" latinLnBrk="0" hangingPunct="1">
              <a:lnSpc>
                <a:spcPct val="115000"/>
              </a:lnSpc>
              <a:spcBef>
                <a:spcPts val="0"/>
              </a:spcBef>
              <a:spcAft>
                <a:spcPts val="0"/>
              </a:spcAft>
              <a:buClrTx/>
              <a:buSzTx/>
              <a:buFont typeface="Arial" panose="020B0604020202020204" pitchFamily="34" charset="0"/>
              <a:buChar char="•"/>
              <a:tabLst/>
              <a:defRPr/>
            </a:pPr>
            <a:r>
              <a:rPr kumimoji="0" lang="he-IL" sz="24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Arial" panose="020B0604020202020204" pitchFamily="34" charset="0"/>
              </a:rPr>
              <a:t>חוסר הכשרה והדרכה</a:t>
            </a:r>
          </a:p>
          <a:p>
            <a:pPr marL="742950" marR="0" lvl="0" indent="-285750" algn="r" defTabSz="914400" rtl="1" eaLnBrk="1" fontAlgn="auto" latinLnBrk="0" hangingPunct="1">
              <a:lnSpc>
                <a:spcPct val="115000"/>
              </a:lnSpc>
              <a:spcBef>
                <a:spcPts val="0"/>
              </a:spcBef>
              <a:spcAft>
                <a:spcPts val="0"/>
              </a:spcAft>
              <a:buClrTx/>
              <a:buSzTx/>
              <a:buFont typeface="Arial" panose="020B0604020202020204" pitchFamily="34" charset="0"/>
              <a:buChar char="•"/>
              <a:tabLst/>
              <a:defRPr/>
            </a:pPr>
            <a:r>
              <a:rPr kumimoji="0" lang="he-IL" sz="24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Arial" panose="020B0604020202020204" pitchFamily="34" charset="0"/>
              </a:rPr>
              <a:t>פגיעה באיכות השירות ומקרי הזנחה, ניצול והתעללות</a:t>
            </a:r>
            <a:endParaRPr kumimoji="0" lang="en-US" sz="24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Arial" panose="020B0604020202020204" pitchFamily="34" charset="0"/>
            </a:endParaRPr>
          </a:p>
          <a:p>
            <a:pPr marL="514350" marR="0" lvl="0" indent="-514350" algn="r" defTabSz="914400" rtl="1" eaLnBrk="1" fontAlgn="auto" latinLnBrk="0" hangingPunct="1">
              <a:lnSpc>
                <a:spcPct val="115000"/>
              </a:lnSpc>
              <a:spcBef>
                <a:spcPts val="0"/>
              </a:spcBef>
              <a:spcAft>
                <a:spcPts val="0"/>
              </a:spcAft>
              <a:buClrTx/>
              <a:buSzTx/>
              <a:buFont typeface="+mj-lt"/>
              <a:buAutoNum type="arabicPeriod"/>
              <a:tabLst/>
              <a:defRPr/>
            </a:pPr>
            <a:endParaRPr kumimoji="0" lang="en-US" sz="20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Arial" panose="020B0604020202020204" pitchFamily="34" charset="0"/>
            </a:endParaRPr>
          </a:p>
        </p:txBody>
      </p:sp>
      <p:sp>
        <p:nvSpPr>
          <p:cNvPr id="7" name="מלבן 6"/>
          <p:cNvSpPr/>
          <p:nvPr/>
        </p:nvSpPr>
        <p:spPr>
          <a:xfrm>
            <a:off x="3093" y="0"/>
            <a:ext cx="244547" cy="6857999"/>
          </a:xfrm>
          <a:prstGeom prst="rect">
            <a:avLst/>
          </a:prstGeom>
          <a:solidFill>
            <a:srgbClr val="527FC4"/>
          </a:solidFill>
          <a:ln>
            <a:solidFill>
              <a:srgbClr val="8C8DC5"/>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srgbClr val="527FC4"/>
              </a:solidFill>
              <a:effectLst/>
              <a:uLnTx/>
              <a:uFillTx/>
              <a:latin typeface="Calibri" panose="020F0502020204030204"/>
              <a:ea typeface="+mn-ea"/>
              <a:cs typeface="Arial" panose="020B0604020202020204" pitchFamily="34" charset="0"/>
            </a:endParaRPr>
          </a:p>
        </p:txBody>
      </p:sp>
      <p:sp>
        <p:nvSpPr>
          <p:cNvPr id="8" name="מלבן 7"/>
          <p:cNvSpPr/>
          <p:nvPr/>
        </p:nvSpPr>
        <p:spPr>
          <a:xfrm>
            <a:off x="3093" y="0"/>
            <a:ext cx="264155" cy="6857999"/>
          </a:xfrm>
          <a:prstGeom prst="rect">
            <a:avLst/>
          </a:prstGeom>
          <a:solidFill>
            <a:srgbClr val="F2F2F2"/>
          </a:solidFill>
          <a:ln w="12700" cap="flat" cmpd="sng" algn="ctr">
            <a:solidFill>
              <a:srgbClr val="2CC2E0"/>
            </a:solidFill>
            <a:prstDash val="solid"/>
            <a:miter lim="800000"/>
          </a:ln>
          <a:effectLst/>
        </p:spPr>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0" cap="none" spc="0" normalizeH="0" baseline="0" noProof="0">
              <a:ln>
                <a:noFill/>
              </a:ln>
              <a:solidFill>
                <a:prstClr val="white"/>
              </a:solidFill>
              <a:effectLst/>
              <a:uLnTx/>
              <a:uFillTx/>
              <a:latin typeface="Calibri"/>
              <a:ea typeface="+mn-ea"/>
              <a:cs typeface="Calibri"/>
            </a:endParaRPr>
          </a:p>
        </p:txBody>
      </p:sp>
      <p:sp>
        <p:nvSpPr>
          <p:cNvPr id="9" name="TextBox 8"/>
          <p:cNvSpPr txBox="1"/>
          <p:nvPr/>
        </p:nvSpPr>
        <p:spPr>
          <a:xfrm rot="16200000">
            <a:off x="-1023138" y="774604"/>
            <a:ext cx="2064989" cy="515782"/>
          </a:xfrm>
          <a:prstGeom prst="rect">
            <a:avLst/>
          </a:prstGeom>
          <a:noFill/>
        </p:spPr>
        <p:txBody>
          <a:bodyPr wrap="none" rtlCol="1">
            <a:spAutoFit/>
          </a:bodyPr>
          <a:lstStyle/>
          <a:p>
            <a:pPr marL="0" marR="0" lvl="0" indent="0" algn="r" defTabSz="914400" rtl="1" eaLnBrk="1" fontAlgn="auto" latinLnBrk="0" hangingPunct="1">
              <a:lnSpc>
                <a:spcPct val="200000"/>
              </a:lnSpc>
              <a:spcBef>
                <a:spcPts val="0"/>
              </a:spcBef>
              <a:spcAft>
                <a:spcPts val="0"/>
              </a:spcAft>
              <a:buClrTx/>
              <a:buSzTx/>
              <a:buFontTx/>
              <a:buNone/>
              <a:tabLst/>
              <a:defRPr/>
            </a:pPr>
            <a:r>
              <a:rPr kumimoji="0" lang="he-IL" sz="1600" b="1" i="0" u="none" strike="noStrike" kern="1200" cap="none" spc="0" normalizeH="0" baseline="0" noProof="0" dirty="0">
                <a:ln>
                  <a:noFill/>
                </a:ln>
                <a:solidFill>
                  <a:prstClr val="white"/>
                </a:solidFill>
                <a:effectLst/>
                <a:uLnTx/>
                <a:uFillTx/>
                <a:latin typeface="Calibri" panose="020F0502020204030204" pitchFamily="34" charset="0"/>
                <a:ea typeface="Open Sans" panose="020B0606030504020204" pitchFamily="34" charset="0"/>
                <a:cs typeface="Calibri" panose="020F0502020204030204" pitchFamily="34" charset="0"/>
              </a:rPr>
              <a:t>האתגר ומה נעשה עד כה</a:t>
            </a:r>
          </a:p>
        </p:txBody>
      </p:sp>
      <p:sp>
        <p:nvSpPr>
          <p:cNvPr id="10" name="מלבן 9"/>
          <p:cNvSpPr/>
          <p:nvPr/>
        </p:nvSpPr>
        <p:spPr>
          <a:xfrm>
            <a:off x="-16515" y="-1"/>
            <a:ext cx="264155" cy="6857999"/>
          </a:xfrm>
          <a:prstGeom prst="rect">
            <a:avLst/>
          </a:prstGeom>
          <a:solidFill>
            <a:srgbClr val="7030A0"/>
          </a:solidFill>
          <a:ln w="12700" cap="flat" cmpd="sng" algn="ctr">
            <a:solidFill>
              <a:srgbClr val="2CC2E0"/>
            </a:solidFill>
            <a:prstDash val="solid"/>
            <a:miter lim="800000"/>
          </a:ln>
          <a:effectLst/>
        </p:spPr>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0" cap="none" spc="0" normalizeH="0" baseline="0" noProof="0">
              <a:ln>
                <a:noFill/>
              </a:ln>
              <a:solidFill>
                <a:prstClr val="white"/>
              </a:solidFill>
              <a:effectLst/>
              <a:uLnTx/>
              <a:uFillTx/>
              <a:latin typeface="Calibri"/>
              <a:ea typeface="+mn-ea"/>
              <a:cs typeface="Calibri"/>
            </a:endParaRPr>
          </a:p>
        </p:txBody>
      </p:sp>
      <p:sp>
        <p:nvSpPr>
          <p:cNvPr id="11" name="TextBox 10"/>
          <p:cNvSpPr txBox="1"/>
          <p:nvPr/>
        </p:nvSpPr>
        <p:spPr>
          <a:xfrm rot="16200000">
            <a:off x="-1003530" y="774605"/>
            <a:ext cx="2064989" cy="515782"/>
          </a:xfrm>
          <a:prstGeom prst="rect">
            <a:avLst/>
          </a:prstGeom>
          <a:noFill/>
        </p:spPr>
        <p:txBody>
          <a:bodyPr wrap="none" rtlCol="1">
            <a:spAutoFit/>
          </a:bodyPr>
          <a:lstStyle/>
          <a:p>
            <a:pPr marL="0" marR="0" lvl="0" indent="0" algn="r" defTabSz="914400" rtl="1" eaLnBrk="1" fontAlgn="auto" latinLnBrk="0" hangingPunct="1">
              <a:lnSpc>
                <a:spcPct val="200000"/>
              </a:lnSpc>
              <a:spcBef>
                <a:spcPts val="0"/>
              </a:spcBef>
              <a:spcAft>
                <a:spcPts val="0"/>
              </a:spcAft>
              <a:buClrTx/>
              <a:buSzTx/>
              <a:buFontTx/>
              <a:buNone/>
              <a:tabLst/>
              <a:defRPr/>
            </a:pPr>
            <a:r>
              <a:rPr kumimoji="0" lang="he-IL" sz="1600" b="1" i="0" u="none" strike="noStrike" kern="1200" cap="none" spc="0" normalizeH="0" baseline="0" noProof="0" dirty="0">
                <a:ln>
                  <a:noFill/>
                </a:ln>
                <a:solidFill>
                  <a:prstClr val="white"/>
                </a:solidFill>
                <a:effectLst/>
                <a:uLnTx/>
                <a:uFillTx/>
                <a:latin typeface="Calibri" panose="020F0502020204030204" pitchFamily="34" charset="0"/>
                <a:ea typeface="Open Sans" panose="020B0606030504020204" pitchFamily="34" charset="0"/>
                <a:cs typeface="Calibri" panose="020F0502020204030204" pitchFamily="34" charset="0"/>
              </a:rPr>
              <a:t>האתגר ומה נעשה עד כה</a:t>
            </a:r>
          </a:p>
        </p:txBody>
      </p:sp>
      <p:sp>
        <p:nvSpPr>
          <p:cNvPr id="4" name="תיבת טקסט 3">
            <a:extLst>
              <a:ext uri="{FF2B5EF4-FFF2-40B4-BE49-F238E27FC236}">
                <a16:creationId xmlns:a16="http://schemas.microsoft.com/office/drawing/2014/main" id="{C52ED819-3C99-FAA5-EA2A-8E919ED9AB66}"/>
              </a:ext>
            </a:extLst>
          </p:cNvPr>
          <p:cNvSpPr txBox="1"/>
          <p:nvPr/>
        </p:nvSpPr>
        <p:spPr>
          <a:xfrm>
            <a:off x="2490537" y="1141003"/>
            <a:ext cx="9054411" cy="4718599"/>
          </a:xfrm>
          <a:prstGeom prst="rect">
            <a:avLst/>
          </a:prstGeom>
          <a:noFill/>
        </p:spPr>
        <p:txBody>
          <a:bodyPr wrap="square">
            <a:spAutoFit/>
          </a:bodyPr>
          <a:lstStyle/>
          <a:p>
            <a:pPr>
              <a:buFont typeface="+mj-lt"/>
              <a:buAutoNum type="arabicPeriod"/>
            </a:pPr>
            <a:r>
              <a:rPr lang="he-IL" sz="2400" dirty="0"/>
              <a:t>השקעה בטיפול ולא במניעה</a:t>
            </a:r>
          </a:p>
          <a:p>
            <a:pPr>
              <a:buFont typeface="+mj-lt"/>
              <a:buAutoNum type="arabicPeriod"/>
            </a:pPr>
            <a:r>
              <a:rPr lang="he-IL" sz="2400" dirty="0"/>
              <a:t>סל שירותים מצומצם שאינו מותאם לצרכים </a:t>
            </a:r>
          </a:p>
          <a:p>
            <a:pPr>
              <a:buFont typeface="+mj-lt"/>
              <a:buAutoNum type="arabicPeriod"/>
            </a:pPr>
            <a:r>
              <a:rPr lang="he-IL" sz="2400" dirty="0"/>
              <a:t>היעדר מידע מסודר ונגיש לבחירת הזקן</a:t>
            </a:r>
          </a:p>
          <a:p>
            <a:pPr>
              <a:buFont typeface="+mj-lt"/>
              <a:buAutoNum type="arabicPeriod"/>
            </a:pPr>
            <a:r>
              <a:rPr lang="he-IL" sz="2400" dirty="0">
                <a:solidFill>
                  <a:prstClr val="black"/>
                </a:solidFill>
                <a:latin typeface="Calibri" panose="020F0502020204030204" pitchFamily="34" charset="0"/>
                <a:ea typeface="Calibri" panose="020F0502020204030204" pitchFamily="34" charset="0"/>
              </a:rPr>
              <a:t>מיצוי תקציבי גבוה ותוצאות לא מוכחות</a:t>
            </a:r>
          </a:p>
          <a:p>
            <a:pPr>
              <a:buFont typeface="+mj-lt"/>
              <a:buAutoNum type="arabicPeriod"/>
            </a:pPr>
            <a:r>
              <a:rPr lang="he-IL" sz="2400" dirty="0">
                <a:solidFill>
                  <a:prstClr val="black"/>
                </a:solidFill>
                <a:latin typeface="Calibri" panose="020F0502020204030204" pitchFamily="34" charset="0"/>
                <a:ea typeface="Calibri" panose="020F0502020204030204" pitchFamily="34" charset="0"/>
              </a:rPr>
              <a:t>הערכות תלות שאינן בהכרח משקפות מצב תפקודי</a:t>
            </a:r>
          </a:p>
          <a:p>
            <a:pPr>
              <a:buFont typeface="+mj-lt"/>
              <a:buAutoNum type="arabicPeriod"/>
            </a:pPr>
            <a:r>
              <a:rPr lang="he-IL" sz="2400" dirty="0"/>
              <a:t>מבנה תמריצים שאינם מעודדים מניעת הידרדרות</a:t>
            </a:r>
          </a:p>
          <a:p>
            <a:endParaRPr lang="he-IL" sz="2400" dirty="0"/>
          </a:p>
          <a:p>
            <a:r>
              <a:rPr lang="he-IL" sz="2400" b="1" dirty="0"/>
              <a:t>מחסור במטפלות שגורם ל:</a:t>
            </a:r>
          </a:p>
          <a:p>
            <a:pPr marL="742950" marR="0" lvl="0" indent="-285750" algn="r" defTabSz="914400" rtl="1" eaLnBrk="1" fontAlgn="auto" latinLnBrk="0" hangingPunct="1">
              <a:lnSpc>
                <a:spcPct val="115000"/>
              </a:lnSpc>
              <a:spcBef>
                <a:spcPts val="0"/>
              </a:spcBef>
              <a:spcAft>
                <a:spcPts val="0"/>
              </a:spcAft>
              <a:buClrTx/>
              <a:buSzTx/>
              <a:buFont typeface="Arial" panose="020B0604020202020204" pitchFamily="34" charset="0"/>
              <a:buChar char="•"/>
              <a:tabLst/>
              <a:defRPr/>
            </a:pPr>
            <a:r>
              <a:rPr kumimoji="0" lang="he-IL" sz="24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Arial" panose="020B0604020202020204" pitchFamily="34" charset="0"/>
              </a:rPr>
              <a:t>עלייה בגמלה בכסף </a:t>
            </a:r>
            <a:r>
              <a:rPr kumimoji="0" lang="he-IL" sz="240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Arial" panose="020B0604020202020204" pitchFamily="34" charset="0"/>
              </a:rPr>
              <a:t>ובני משפחה מטפלים בשכר </a:t>
            </a:r>
            <a:r>
              <a:rPr kumimoji="0" lang="he-IL" sz="24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Arial" panose="020B0604020202020204" pitchFamily="34" charset="0"/>
              </a:rPr>
              <a:t>(כ-9 מיליארד ₪)</a:t>
            </a:r>
            <a:endParaRPr kumimoji="0" lang="en-US" sz="24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Arial" panose="020B0604020202020204" pitchFamily="34" charset="0"/>
            </a:endParaRPr>
          </a:p>
          <a:p>
            <a:pPr marL="742950" marR="0" lvl="0" indent="-285750" algn="r" defTabSz="914400" rtl="1" eaLnBrk="1" fontAlgn="auto" latinLnBrk="0" hangingPunct="1">
              <a:lnSpc>
                <a:spcPct val="115000"/>
              </a:lnSpc>
              <a:spcBef>
                <a:spcPts val="0"/>
              </a:spcBef>
              <a:spcAft>
                <a:spcPts val="0"/>
              </a:spcAft>
              <a:buClrTx/>
              <a:buSzTx/>
              <a:buFont typeface="Arial" panose="020B0604020202020204" pitchFamily="34" charset="0"/>
              <a:buChar char="•"/>
              <a:tabLst/>
              <a:defRPr/>
            </a:pPr>
            <a:r>
              <a:rPr kumimoji="0" lang="he-IL" sz="24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Arial" panose="020B0604020202020204" pitchFamily="34" charset="0"/>
              </a:rPr>
              <a:t>כ-50% מהשעות נלקחות ע"י המטפלות</a:t>
            </a:r>
          </a:p>
          <a:p>
            <a:pPr marL="742950" marR="0" lvl="0" indent="-285750" algn="r" defTabSz="914400" rtl="1" eaLnBrk="1" fontAlgn="auto" latinLnBrk="0" hangingPunct="1">
              <a:lnSpc>
                <a:spcPct val="115000"/>
              </a:lnSpc>
              <a:spcBef>
                <a:spcPts val="0"/>
              </a:spcBef>
              <a:spcAft>
                <a:spcPts val="0"/>
              </a:spcAft>
              <a:buClrTx/>
              <a:buSzTx/>
              <a:buFont typeface="Arial" panose="020B0604020202020204" pitchFamily="34" charset="0"/>
              <a:buChar char="•"/>
              <a:tabLst/>
              <a:defRPr/>
            </a:pPr>
            <a:r>
              <a:rPr kumimoji="0" lang="he-IL" sz="24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Arial" panose="020B0604020202020204" pitchFamily="34" charset="0"/>
              </a:rPr>
              <a:t>פערי הכשרה והדרכה</a:t>
            </a:r>
          </a:p>
          <a:p>
            <a:pPr marL="742950" marR="0" lvl="0" indent="-285750" algn="r" defTabSz="914400" rtl="1" eaLnBrk="1" fontAlgn="auto" latinLnBrk="0" hangingPunct="1">
              <a:lnSpc>
                <a:spcPct val="115000"/>
              </a:lnSpc>
              <a:spcBef>
                <a:spcPts val="0"/>
              </a:spcBef>
              <a:spcAft>
                <a:spcPts val="0"/>
              </a:spcAft>
              <a:buClrTx/>
              <a:buSzTx/>
              <a:buFont typeface="Arial" panose="020B0604020202020204" pitchFamily="34" charset="0"/>
              <a:buChar char="•"/>
              <a:tabLst/>
              <a:defRPr/>
            </a:pPr>
            <a:r>
              <a:rPr kumimoji="0" lang="he-IL" sz="24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Arial" panose="020B0604020202020204" pitchFamily="34" charset="0"/>
              </a:rPr>
              <a:t>פגיעה באיכות השירות ומקרי הזנחה, ניצול והתעללות</a:t>
            </a:r>
            <a:endParaRPr kumimoji="0" lang="en-US" sz="24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157257620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bg>
      <p:bgPr>
        <a:solidFill>
          <a:srgbClr val="F2F2F2"/>
        </a:solidFill>
        <a:effectLst/>
      </p:bgPr>
    </p:bg>
    <p:spTree>
      <p:nvGrpSpPr>
        <p:cNvPr id="1" name=""/>
        <p:cNvGrpSpPr/>
        <p:nvPr/>
      </p:nvGrpSpPr>
      <p:grpSpPr>
        <a:xfrm>
          <a:off x="0" y="0"/>
          <a:ext cx="0" cy="0"/>
          <a:chOff x="0" y="0"/>
          <a:chExt cx="0" cy="0"/>
        </a:xfrm>
      </p:grpSpPr>
      <p:sp>
        <p:nvSpPr>
          <p:cNvPr id="2" name="כותרת 1"/>
          <p:cNvSpPr>
            <a:spLocks noGrp="1"/>
          </p:cNvSpPr>
          <p:nvPr>
            <p:ph type="title"/>
          </p:nvPr>
        </p:nvSpPr>
        <p:spPr>
          <a:xfrm>
            <a:off x="513314" y="362933"/>
            <a:ext cx="10515600" cy="850789"/>
          </a:xfrm>
        </p:spPr>
        <p:txBody>
          <a:bodyPr>
            <a:normAutofit fontScale="90000"/>
          </a:bodyPr>
          <a:lstStyle/>
          <a:p>
            <a:r>
              <a:rPr lang="he-IL" b="1" dirty="0">
                <a:latin typeface="Calibri" panose="020F0502020204030204" pitchFamily="34" charset="0"/>
                <a:ea typeface="Calibri" panose="020F0502020204030204" pitchFamily="34" charset="0"/>
              </a:rPr>
              <a:t>בעיות עיקריות בחוק סיעוד 2024:</a:t>
            </a:r>
            <a:br>
              <a:rPr lang="en-US" dirty="0">
                <a:latin typeface="Calibri" panose="020F0502020204030204" pitchFamily="34" charset="0"/>
                <a:ea typeface="Calibri" panose="020F0502020204030204" pitchFamily="34" charset="0"/>
                <a:cs typeface="Arial" panose="020B0604020202020204" pitchFamily="34" charset="0"/>
              </a:rPr>
            </a:br>
            <a:endParaRPr lang="he-IL" dirty="0"/>
          </a:p>
        </p:txBody>
      </p:sp>
      <p:sp>
        <p:nvSpPr>
          <p:cNvPr id="7" name="מלבן 6"/>
          <p:cNvSpPr/>
          <p:nvPr/>
        </p:nvSpPr>
        <p:spPr>
          <a:xfrm>
            <a:off x="3093" y="0"/>
            <a:ext cx="244547" cy="6857999"/>
          </a:xfrm>
          <a:prstGeom prst="rect">
            <a:avLst/>
          </a:prstGeom>
          <a:solidFill>
            <a:srgbClr val="527FC4"/>
          </a:solidFill>
          <a:ln>
            <a:solidFill>
              <a:srgbClr val="8C8DC5"/>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srgbClr val="527FC4"/>
              </a:solidFill>
              <a:effectLst/>
              <a:uLnTx/>
              <a:uFillTx/>
              <a:latin typeface="Calibri" panose="020F0502020204030204"/>
              <a:ea typeface="+mn-ea"/>
              <a:cs typeface="Arial" panose="020B0604020202020204" pitchFamily="34" charset="0"/>
            </a:endParaRPr>
          </a:p>
        </p:txBody>
      </p:sp>
      <p:sp>
        <p:nvSpPr>
          <p:cNvPr id="8" name="מלבן 7"/>
          <p:cNvSpPr/>
          <p:nvPr/>
        </p:nvSpPr>
        <p:spPr>
          <a:xfrm>
            <a:off x="3093" y="0"/>
            <a:ext cx="264155" cy="6857999"/>
          </a:xfrm>
          <a:prstGeom prst="rect">
            <a:avLst/>
          </a:prstGeom>
          <a:solidFill>
            <a:srgbClr val="F2F2F2"/>
          </a:solidFill>
          <a:ln w="12700" cap="flat" cmpd="sng" algn="ctr">
            <a:solidFill>
              <a:srgbClr val="2CC2E0"/>
            </a:solidFill>
            <a:prstDash val="solid"/>
            <a:miter lim="800000"/>
          </a:ln>
          <a:effectLst/>
        </p:spPr>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0" cap="none" spc="0" normalizeH="0" baseline="0" noProof="0">
              <a:ln>
                <a:noFill/>
              </a:ln>
              <a:solidFill>
                <a:prstClr val="white"/>
              </a:solidFill>
              <a:effectLst/>
              <a:uLnTx/>
              <a:uFillTx/>
              <a:latin typeface="Calibri"/>
              <a:ea typeface="+mn-ea"/>
              <a:cs typeface="Calibri"/>
            </a:endParaRPr>
          </a:p>
        </p:txBody>
      </p:sp>
      <p:sp>
        <p:nvSpPr>
          <p:cNvPr id="9" name="TextBox 8"/>
          <p:cNvSpPr txBox="1"/>
          <p:nvPr/>
        </p:nvSpPr>
        <p:spPr>
          <a:xfrm rot="16200000">
            <a:off x="-1023138" y="774604"/>
            <a:ext cx="2064989" cy="515782"/>
          </a:xfrm>
          <a:prstGeom prst="rect">
            <a:avLst/>
          </a:prstGeom>
          <a:noFill/>
        </p:spPr>
        <p:txBody>
          <a:bodyPr wrap="none" rtlCol="1">
            <a:spAutoFit/>
          </a:bodyPr>
          <a:lstStyle/>
          <a:p>
            <a:pPr marL="0" marR="0" lvl="0" indent="0" algn="r" defTabSz="914400" rtl="1" eaLnBrk="1" fontAlgn="auto" latinLnBrk="0" hangingPunct="1">
              <a:lnSpc>
                <a:spcPct val="200000"/>
              </a:lnSpc>
              <a:spcBef>
                <a:spcPts val="0"/>
              </a:spcBef>
              <a:spcAft>
                <a:spcPts val="0"/>
              </a:spcAft>
              <a:buClrTx/>
              <a:buSzTx/>
              <a:buFontTx/>
              <a:buNone/>
              <a:tabLst/>
              <a:defRPr/>
            </a:pPr>
            <a:r>
              <a:rPr kumimoji="0" lang="he-IL" sz="1600" b="1" i="0" u="none" strike="noStrike" kern="1200" cap="none" spc="0" normalizeH="0" baseline="0" noProof="0" dirty="0">
                <a:ln>
                  <a:noFill/>
                </a:ln>
                <a:solidFill>
                  <a:prstClr val="white"/>
                </a:solidFill>
                <a:effectLst/>
                <a:uLnTx/>
                <a:uFillTx/>
                <a:latin typeface="Calibri" panose="020F0502020204030204" pitchFamily="34" charset="0"/>
                <a:ea typeface="Open Sans" panose="020B0606030504020204" pitchFamily="34" charset="0"/>
                <a:cs typeface="Calibri" panose="020F0502020204030204" pitchFamily="34" charset="0"/>
              </a:rPr>
              <a:t>האתגר ומה נעשה עד כה</a:t>
            </a:r>
          </a:p>
        </p:txBody>
      </p:sp>
      <p:sp>
        <p:nvSpPr>
          <p:cNvPr id="10" name="מלבן 9"/>
          <p:cNvSpPr/>
          <p:nvPr/>
        </p:nvSpPr>
        <p:spPr>
          <a:xfrm>
            <a:off x="-16515" y="-1"/>
            <a:ext cx="264155" cy="6857999"/>
          </a:xfrm>
          <a:prstGeom prst="rect">
            <a:avLst/>
          </a:prstGeom>
          <a:solidFill>
            <a:srgbClr val="7030A0"/>
          </a:solidFill>
          <a:ln w="12700" cap="flat" cmpd="sng" algn="ctr">
            <a:solidFill>
              <a:srgbClr val="2CC2E0"/>
            </a:solidFill>
            <a:prstDash val="solid"/>
            <a:miter lim="800000"/>
          </a:ln>
          <a:effectLst/>
        </p:spPr>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0" cap="none" spc="0" normalizeH="0" baseline="0" noProof="0">
              <a:ln>
                <a:noFill/>
              </a:ln>
              <a:solidFill>
                <a:prstClr val="white"/>
              </a:solidFill>
              <a:effectLst/>
              <a:uLnTx/>
              <a:uFillTx/>
              <a:latin typeface="Calibri"/>
              <a:ea typeface="+mn-ea"/>
              <a:cs typeface="Calibri"/>
            </a:endParaRPr>
          </a:p>
        </p:txBody>
      </p:sp>
      <p:sp>
        <p:nvSpPr>
          <p:cNvPr id="11" name="TextBox 10"/>
          <p:cNvSpPr txBox="1"/>
          <p:nvPr/>
        </p:nvSpPr>
        <p:spPr>
          <a:xfrm rot="16200000">
            <a:off x="-1003530" y="774605"/>
            <a:ext cx="2064989" cy="515782"/>
          </a:xfrm>
          <a:prstGeom prst="rect">
            <a:avLst/>
          </a:prstGeom>
          <a:noFill/>
        </p:spPr>
        <p:txBody>
          <a:bodyPr wrap="none" rtlCol="1">
            <a:spAutoFit/>
          </a:bodyPr>
          <a:lstStyle/>
          <a:p>
            <a:pPr marL="0" marR="0" lvl="0" indent="0" algn="r" defTabSz="914400" rtl="1" eaLnBrk="1" fontAlgn="auto" latinLnBrk="0" hangingPunct="1">
              <a:lnSpc>
                <a:spcPct val="200000"/>
              </a:lnSpc>
              <a:spcBef>
                <a:spcPts val="0"/>
              </a:spcBef>
              <a:spcAft>
                <a:spcPts val="0"/>
              </a:spcAft>
              <a:buClrTx/>
              <a:buSzTx/>
              <a:buFontTx/>
              <a:buNone/>
              <a:tabLst/>
              <a:defRPr/>
            </a:pPr>
            <a:r>
              <a:rPr kumimoji="0" lang="he-IL" sz="1600" b="1" i="0" u="none" strike="noStrike" kern="1200" cap="none" spc="0" normalizeH="0" baseline="0" noProof="0" dirty="0">
                <a:ln>
                  <a:noFill/>
                </a:ln>
                <a:solidFill>
                  <a:prstClr val="white"/>
                </a:solidFill>
                <a:effectLst/>
                <a:uLnTx/>
                <a:uFillTx/>
                <a:latin typeface="Calibri" panose="020F0502020204030204" pitchFamily="34" charset="0"/>
                <a:ea typeface="Open Sans" panose="020B0606030504020204" pitchFamily="34" charset="0"/>
                <a:cs typeface="Calibri" panose="020F0502020204030204" pitchFamily="34" charset="0"/>
              </a:rPr>
              <a:t>האתגר ומה נעשה עד כה</a:t>
            </a:r>
          </a:p>
        </p:txBody>
      </p:sp>
      <p:sp>
        <p:nvSpPr>
          <p:cNvPr id="16" name="תיבת טקסט 15">
            <a:extLst>
              <a:ext uri="{FF2B5EF4-FFF2-40B4-BE49-F238E27FC236}">
                <a16:creationId xmlns:a16="http://schemas.microsoft.com/office/drawing/2014/main" id="{42EC6FB1-D23F-49F1-D2B1-A8CBF8F14E02}"/>
              </a:ext>
            </a:extLst>
          </p:cNvPr>
          <p:cNvSpPr txBox="1"/>
          <p:nvPr/>
        </p:nvSpPr>
        <p:spPr>
          <a:xfrm>
            <a:off x="-228927" y="601494"/>
            <a:ext cx="11175819" cy="6555641"/>
          </a:xfrm>
          <a:prstGeom prst="rect">
            <a:avLst/>
          </a:prstGeom>
          <a:noFill/>
        </p:spPr>
        <p:txBody>
          <a:bodyPr wrap="square">
            <a:spAutoFit/>
          </a:bodyPr>
          <a:lstStyle/>
          <a:p>
            <a:pPr marR="0" lvl="0" algn="r" defTabSz="914400" eaLnBrk="0" fontAlgn="base" latinLnBrk="0" hangingPunct="0">
              <a:lnSpc>
                <a:spcPct val="100000"/>
              </a:lnSpc>
              <a:spcBef>
                <a:spcPct val="0"/>
              </a:spcBef>
              <a:spcAft>
                <a:spcPct val="0"/>
              </a:spcAft>
              <a:buClrTx/>
              <a:buSzTx/>
              <a:tabLst/>
            </a:pPr>
            <a:endParaRPr kumimoji="0" lang="he-IL" altLang="he-IL" sz="2800" b="0" i="0" u="none" strike="noStrike" cap="none" normalizeH="0" baseline="0" dirty="0">
              <a:ln>
                <a:noFill/>
              </a:ln>
              <a:solidFill>
                <a:schemeClr val="tx1"/>
              </a:solidFill>
              <a:effectLst/>
              <a:latin typeface="Arial" panose="020B0604020202020204" pitchFamily="34" charset="0"/>
            </a:endParaRPr>
          </a:p>
          <a:p>
            <a:pPr marR="0" lvl="0" algn="r" defTabSz="914400" eaLnBrk="0" fontAlgn="base" latinLnBrk="0" hangingPunct="0">
              <a:lnSpc>
                <a:spcPct val="100000"/>
              </a:lnSpc>
              <a:spcBef>
                <a:spcPct val="0"/>
              </a:spcBef>
              <a:spcAft>
                <a:spcPct val="0"/>
              </a:spcAft>
              <a:buClrTx/>
              <a:buSzTx/>
              <a:tabLst/>
            </a:pPr>
            <a:r>
              <a:rPr kumimoji="0" lang="he-IL" altLang="he-IL" sz="2800" b="0" i="0" u="none" strike="noStrike" cap="none" normalizeH="0" baseline="0" dirty="0">
                <a:ln>
                  <a:noFill/>
                </a:ln>
                <a:solidFill>
                  <a:schemeClr val="tx1"/>
                </a:solidFill>
                <a:effectLst/>
                <a:latin typeface="Arial" panose="020B0604020202020204" pitchFamily="34" charset="0"/>
              </a:rPr>
              <a:t>🏥 </a:t>
            </a:r>
            <a:r>
              <a:rPr kumimoji="0" lang="he-IL" altLang="he-IL" sz="2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השקעה בטיפול ולא במניעה</a:t>
            </a:r>
            <a:r>
              <a:rPr kumimoji="0" lang="he-IL" altLang="he-IL" sz="2800" b="0" i="0" u="none" strike="noStrike" cap="none" normalizeH="0" baseline="0" dirty="0">
                <a:ln>
                  <a:noFill/>
                </a:ln>
                <a:solidFill>
                  <a:schemeClr val="tx1"/>
                </a:solidFill>
                <a:effectLst/>
                <a:latin typeface="Arial" panose="020B0604020202020204" pitchFamily="34" charset="0"/>
              </a:rPr>
              <a:t> </a:t>
            </a:r>
          </a:p>
          <a:p>
            <a:pPr marR="0" lvl="0" algn="r" defTabSz="914400" eaLnBrk="0" fontAlgn="base" latinLnBrk="0" hangingPunct="0">
              <a:lnSpc>
                <a:spcPct val="100000"/>
              </a:lnSpc>
              <a:spcBef>
                <a:spcPct val="0"/>
              </a:spcBef>
              <a:spcAft>
                <a:spcPct val="0"/>
              </a:spcAft>
              <a:buClrTx/>
              <a:buSzTx/>
              <a:tabLst/>
            </a:pPr>
            <a:r>
              <a:rPr kumimoji="0" lang="he-IL" altLang="he-IL" sz="2800" b="0" i="0" u="none" strike="noStrike" cap="none" normalizeH="0" baseline="0" dirty="0">
                <a:ln>
                  <a:noFill/>
                </a:ln>
                <a:solidFill>
                  <a:schemeClr val="tx1"/>
                </a:solidFill>
                <a:effectLst/>
                <a:latin typeface="Arial" panose="020B0604020202020204" pitchFamily="34" charset="0"/>
              </a:rPr>
              <a:t>📊 </a:t>
            </a:r>
            <a:r>
              <a:rPr kumimoji="0" lang="he-IL" altLang="he-IL" sz="2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מיצוי תקציבי גבוה ותוצאות לא מוכחות</a:t>
            </a:r>
            <a:r>
              <a:rPr kumimoji="0" lang="he-IL" altLang="he-IL" sz="2800" b="0" i="0" u="none" strike="noStrike" cap="none" normalizeH="0" baseline="0" dirty="0">
                <a:ln>
                  <a:noFill/>
                </a:ln>
                <a:solidFill>
                  <a:schemeClr val="tx1"/>
                </a:solidFill>
                <a:effectLst/>
                <a:latin typeface="Arial" panose="020B0604020202020204" pitchFamily="34" charset="0"/>
              </a:rPr>
              <a:t> </a:t>
            </a:r>
          </a:p>
          <a:p>
            <a:pPr marR="0" lvl="0" algn="r" defTabSz="914400" eaLnBrk="0" fontAlgn="base" latinLnBrk="0" hangingPunct="0">
              <a:lnSpc>
                <a:spcPct val="100000"/>
              </a:lnSpc>
              <a:spcBef>
                <a:spcPct val="0"/>
              </a:spcBef>
              <a:spcAft>
                <a:spcPct val="0"/>
              </a:spcAft>
              <a:buClrTx/>
              <a:buSzTx/>
              <a:tabLst/>
            </a:pPr>
            <a:r>
              <a:rPr kumimoji="0" lang="he-IL" altLang="he-IL" sz="2800" b="0" i="0" u="none" strike="noStrike" cap="none" normalizeH="0" baseline="0" dirty="0">
                <a:ln>
                  <a:noFill/>
                </a:ln>
                <a:solidFill>
                  <a:schemeClr val="tx1"/>
                </a:solidFill>
                <a:effectLst/>
                <a:latin typeface="Arial" panose="020B0604020202020204" pitchFamily="34" charset="0"/>
              </a:rPr>
              <a:t>🧩 </a:t>
            </a:r>
            <a:r>
              <a:rPr kumimoji="0" lang="he-IL" altLang="he-IL" sz="2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סל שירותים מצומצם שאינו מותאם לצרכים</a:t>
            </a:r>
            <a:r>
              <a:rPr kumimoji="0" lang="he-IL" altLang="he-IL" sz="2800" b="0" i="0" u="none" strike="noStrike" cap="none" normalizeH="0" baseline="0" dirty="0">
                <a:ln>
                  <a:noFill/>
                </a:ln>
                <a:solidFill>
                  <a:schemeClr val="tx1"/>
                </a:solidFill>
                <a:effectLst/>
                <a:latin typeface="Arial" panose="020B0604020202020204" pitchFamily="34" charset="0"/>
              </a:rPr>
              <a:t> </a:t>
            </a:r>
          </a:p>
          <a:p>
            <a:pPr marR="0" lvl="0" algn="r" defTabSz="914400" eaLnBrk="0" fontAlgn="base" latinLnBrk="0" hangingPunct="0">
              <a:lnSpc>
                <a:spcPct val="100000"/>
              </a:lnSpc>
              <a:spcBef>
                <a:spcPct val="0"/>
              </a:spcBef>
              <a:spcAft>
                <a:spcPct val="0"/>
              </a:spcAft>
              <a:buClrTx/>
              <a:buSzTx/>
              <a:tabLst/>
            </a:pPr>
            <a:r>
              <a:rPr kumimoji="0" lang="he-IL" altLang="he-IL" sz="2800" b="0" i="0" u="none" strike="noStrike" cap="none" normalizeH="0" baseline="0" dirty="0">
                <a:ln>
                  <a:noFill/>
                </a:ln>
                <a:solidFill>
                  <a:schemeClr val="tx1"/>
                </a:solidFill>
                <a:effectLst/>
                <a:latin typeface="Arial" panose="020B0604020202020204" pitchFamily="34" charset="0"/>
              </a:rPr>
              <a:t>📝 </a:t>
            </a:r>
            <a:r>
              <a:rPr kumimoji="0" lang="he-IL" altLang="he-IL" sz="2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הערכות תלות שאינן בהכרח משקפות מצב תפקודי</a:t>
            </a:r>
            <a:r>
              <a:rPr kumimoji="0" lang="he-IL" altLang="he-IL" sz="2800" b="0" i="0" u="none" strike="noStrike" cap="none" normalizeH="0" baseline="0" dirty="0">
                <a:ln>
                  <a:noFill/>
                </a:ln>
                <a:solidFill>
                  <a:schemeClr val="tx1"/>
                </a:solidFill>
                <a:effectLst/>
                <a:latin typeface="Arial" panose="020B0604020202020204" pitchFamily="34" charset="0"/>
              </a:rPr>
              <a:t> </a:t>
            </a:r>
          </a:p>
          <a:p>
            <a:pPr marR="0" lvl="0" algn="r" defTabSz="914400" eaLnBrk="0" fontAlgn="base" latinLnBrk="0" hangingPunct="0">
              <a:lnSpc>
                <a:spcPct val="100000"/>
              </a:lnSpc>
              <a:spcBef>
                <a:spcPct val="0"/>
              </a:spcBef>
              <a:spcAft>
                <a:spcPct val="0"/>
              </a:spcAft>
              <a:buClrTx/>
              <a:buSzTx/>
              <a:tabLst/>
            </a:pPr>
            <a:r>
              <a:rPr kumimoji="0" lang="he-IL" altLang="he-IL" sz="2800" b="0" i="0" u="none" strike="noStrike" cap="none" normalizeH="0" baseline="0" dirty="0">
                <a:ln>
                  <a:noFill/>
                </a:ln>
                <a:solidFill>
                  <a:schemeClr val="tx1"/>
                </a:solidFill>
                <a:effectLst/>
                <a:latin typeface="Arial" panose="020B0604020202020204" pitchFamily="34" charset="0"/>
              </a:rPr>
              <a:t>💻 </a:t>
            </a:r>
            <a:r>
              <a:rPr kumimoji="0" lang="he-IL" altLang="he-IL" sz="2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היעדר מידע מסודר, שקוף ונגיש ומדידה שוטפת</a:t>
            </a:r>
            <a:r>
              <a:rPr kumimoji="0" lang="he-IL" altLang="he-IL" sz="2800" b="0" i="0" u="none" strike="noStrike" cap="none" normalizeH="0" baseline="0" dirty="0">
                <a:ln>
                  <a:noFill/>
                </a:ln>
                <a:solidFill>
                  <a:schemeClr val="tx1"/>
                </a:solidFill>
                <a:effectLst/>
                <a:latin typeface="Arial" panose="020B0604020202020204" pitchFamily="34" charset="0"/>
              </a:rPr>
              <a:t> </a:t>
            </a:r>
          </a:p>
          <a:p>
            <a:pPr marR="0" lvl="0" algn="r" defTabSz="914400" eaLnBrk="0" fontAlgn="base" latinLnBrk="0" hangingPunct="0">
              <a:lnSpc>
                <a:spcPct val="100000"/>
              </a:lnSpc>
              <a:spcBef>
                <a:spcPct val="0"/>
              </a:spcBef>
              <a:spcAft>
                <a:spcPct val="0"/>
              </a:spcAft>
              <a:buClrTx/>
              <a:buSzTx/>
              <a:tabLst/>
            </a:pPr>
            <a:r>
              <a:rPr kumimoji="0" lang="he-IL" altLang="he-IL" sz="2800" b="0" i="0" u="none" strike="noStrike" cap="none" normalizeH="0" baseline="0" dirty="0">
                <a:ln>
                  <a:noFill/>
                </a:ln>
                <a:solidFill>
                  <a:schemeClr val="tx1"/>
                </a:solidFill>
                <a:effectLst/>
                <a:latin typeface="Arial" panose="020B0604020202020204" pitchFamily="34" charset="0"/>
              </a:rPr>
              <a:t>💰 </a:t>
            </a:r>
            <a:r>
              <a:rPr kumimoji="0" lang="he-IL" altLang="he-IL" sz="2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הגמלה בכסף יוצרת </a:t>
            </a:r>
            <a:r>
              <a:rPr kumimoji="0" lang="he-IL" altLang="he-IL" sz="2800"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תמרוץ</a:t>
            </a:r>
            <a:r>
              <a:rPr kumimoji="0" lang="he-IL" altLang="he-IL" sz="2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שלילי למניעת הידרדרות</a:t>
            </a:r>
          </a:p>
          <a:p>
            <a:pPr marR="0" lvl="0" algn="r" defTabSz="914400" eaLnBrk="0" fontAlgn="base" latinLnBrk="0" hangingPunct="0">
              <a:lnSpc>
                <a:spcPct val="100000"/>
              </a:lnSpc>
              <a:spcBef>
                <a:spcPct val="0"/>
              </a:spcBef>
              <a:spcAft>
                <a:spcPct val="0"/>
              </a:spcAft>
              <a:buClrTx/>
              <a:buSzTx/>
              <a:tabLst/>
            </a:pPr>
            <a:r>
              <a:rPr kumimoji="0" lang="he-IL" altLang="he-IL" sz="2800" b="0" i="0" u="none" strike="noStrike" cap="none" normalizeH="0" baseline="0" dirty="0">
                <a:ln>
                  <a:noFill/>
                </a:ln>
                <a:solidFill>
                  <a:schemeClr val="tx1"/>
                </a:solidFill>
                <a:effectLst/>
                <a:latin typeface="Arial" panose="020B0604020202020204" pitchFamily="34" charset="0"/>
              </a:rPr>
              <a:t> </a:t>
            </a:r>
          </a:p>
          <a:p>
            <a:pPr marL="0" marR="0" lvl="0" indent="0" algn="r" defTabSz="914400" eaLnBrk="0" fontAlgn="base" latinLnBrk="0" hangingPunct="0">
              <a:lnSpc>
                <a:spcPct val="100000"/>
              </a:lnSpc>
              <a:spcBef>
                <a:spcPct val="0"/>
              </a:spcBef>
              <a:spcAft>
                <a:spcPct val="0"/>
              </a:spcAft>
              <a:buClrTx/>
              <a:buSzTx/>
              <a:tabLst/>
            </a:pPr>
            <a:r>
              <a:rPr kumimoji="0" lang="he-IL" altLang="he-IL" sz="2800" b="0" i="0" u="none" strike="noStrike" cap="none" normalizeH="0" baseline="0" dirty="0">
                <a:ln>
                  <a:noFill/>
                </a:ln>
                <a:solidFill>
                  <a:schemeClr val="tx1"/>
                </a:solidFill>
                <a:effectLst/>
                <a:latin typeface="Arial" panose="020B0604020202020204" pitchFamily="34" charset="0"/>
              </a:rPr>
              <a:t>👥 </a:t>
            </a:r>
            <a:r>
              <a:rPr kumimoji="0" lang="he-IL" altLang="he-IL" sz="28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מחסור במטפלות והשלכותיו</a:t>
            </a:r>
            <a:r>
              <a:rPr kumimoji="0" lang="he-IL" altLang="he-IL" sz="2800" b="1" i="0" u="none" strike="noStrike" cap="none" normalizeH="0" baseline="0" dirty="0">
                <a:ln>
                  <a:noFill/>
                </a:ln>
                <a:solidFill>
                  <a:schemeClr val="tx1"/>
                </a:solidFill>
                <a:effectLst/>
                <a:latin typeface="Arial" panose="020B0604020202020204" pitchFamily="34" charset="0"/>
              </a:rPr>
              <a:t>: </a:t>
            </a:r>
          </a:p>
          <a:p>
            <a:pPr marL="1371600" lvl="2" indent="-457200" eaLnBrk="0" fontAlgn="base" hangingPunct="0">
              <a:spcBef>
                <a:spcPct val="0"/>
              </a:spcBef>
              <a:spcAft>
                <a:spcPct val="0"/>
              </a:spcAft>
              <a:buFont typeface="Arial" panose="020B0604020202020204" pitchFamily="34" charset="0"/>
              <a:buChar char="•"/>
            </a:pPr>
            <a:r>
              <a:rPr kumimoji="0" lang="he-IL" altLang="he-IL" sz="2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עלייה בגמלה בכסף ללא הוכחה לדחיקת תלות</a:t>
            </a:r>
            <a:r>
              <a:rPr kumimoji="0" lang="he-IL" altLang="he-IL" sz="2800" b="0" i="0" u="none" strike="noStrike" cap="none" normalizeH="0" baseline="0" dirty="0">
                <a:ln>
                  <a:noFill/>
                </a:ln>
                <a:solidFill>
                  <a:schemeClr val="tx1"/>
                </a:solidFill>
                <a:effectLst/>
                <a:latin typeface="Arial" panose="020B0604020202020204" pitchFamily="34" charset="0"/>
              </a:rPr>
              <a:t> </a:t>
            </a:r>
          </a:p>
          <a:p>
            <a:pPr marL="1371600" lvl="2" indent="-457200" eaLnBrk="0" fontAlgn="base" hangingPunct="0">
              <a:spcBef>
                <a:spcPct val="0"/>
              </a:spcBef>
              <a:spcAft>
                <a:spcPct val="0"/>
              </a:spcAft>
              <a:buFont typeface="Arial" panose="020B0604020202020204" pitchFamily="34" charset="0"/>
              <a:buChar char="•"/>
            </a:pPr>
            <a:r>
              <a:rPr kumimoji="0" lang="he-IL" altLang="he-IL" sz="2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בני משפחה מטפלים בשכר</a:t>
            </a:r>
            <a:r>
              <a:rPr kumimoji="0" lang="he-IL" altLang="he-IL" sz="2800" b="0" i="0" u="none" strike="noStrike" cap="none" normalizeH="0" baseline="0" dirty="0">
                <a:ln>
                  <a:noFill/>
                </a:ln>
                <a:solidFill>
                  <a:schemeClr val="tx1"/>
                </a:solidFill>
                <a:effectLst/>
                <a:latin typeface="Arial" panose="020B0604020202020204" pitchFamily="34" charset="0"/>
              </a:rPr>
              <a:t> (מעל 6 מיליארד)</a:t>
            </a:r>
          </a:p>
          <a:p>
            <a:pPr marL="1371600" lvl="2" indent="-457200" eaLnBrk="0" fontAlgn="base" hangingPunct="0">
              <a:spcBef>
                <a:spcPct val="0"/>
              </a:spcBef>
              <a:spcAft>
                <a:spcPct val="0"/>
              </a:spcAft>
              <a:buFont typeface="Arial" panose="020B0604020202020204" pitchFamily="34" charset="0"/>
              <a:buChar char="•"/>
            </a:pPr>
            <a:r>
              <a:rPr kumimoji="0" lang="he-IL" altLang="he-IL" sz="2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כ-50% מהשעות נלקחות ע"י המטפלות</a:t>
            </a:r>
            <a:r>
              <a:rPr kumimoji="0" lang="he-IL" altLang="he-IL" sz="2800" b="0" i="0" u="none" strike="noStrike" cap="none" normalizeH="0" baseline="0" dirty="0">
                <a:ln>
                  <a:noFill/>
                </a:ln>
                <a:solidFill>
                  <a:schemeClr val="tx1"/>
                </a:solidFill>
                <a:effectLst/>
                <a:latin typeface="Arial" panose="020B0604020202020204" pitchFamily="34" charset="0"/>
              </a:rPr>
              <a:t> </a:t>
            </a:r>
          </a:p>
          <a:p>
            <a:pPr marL="1371600" lvl="2" indent="-457200" eaLnBrk="0" fontAlgn="base" hangingPunct="0">
              <a:spcBef>
                <a:spcPct val="0"/>
              </a:spcBef>
              <a:spcAft>
                <a:spcPct val="0"/>
              </a:spcAft>
              <a:buFont typeface="Arial" panose="020B0604020202020204" pitchFamily="34" charset="0"/>
              <a:buChar char="•"/>
            </a:pPr>
            <a:r>
              <a:rPr kumimoji="0" lang="he-IL" altLang="he-IL" sz="2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חוסר הכשרה והדרכה</a:t>
            </a:r>
            <a:r>
              <a:rPr kumimoji="0" lang="he-IL" altLang="he-IL" sz="2800" b="0" i="0" u="none" strike="noStrike" cap="none" normalizeH="0" baseline="0" dirty="0">
                <a:ln>
                  <a:noFill/>
                </a:ln>
                <a:solidFill>
                  <a:schemeClr val="tx1"/>
                </a:solidFill>
                <a:effectLst/>
                <a:latin typeface="Arial" panose="020B0604020202020204" pitchFamily="34" charset="0"/>
              </a:rPr>
              <a:t> </a:t>
            </a:r>
          </a:p>
          <a:p>
            <a:pPr marL="1371600" lvl="2" indent="-457200" eaLnBrk="0" fontAlgn="base" hangingPunct="0">
              <a:spcBef>
                <a:spcPct val="0"/>
              </a:spcBef>
              <a:spcAft>
                <a:spcPct val="0"/>
              </a:spcAft>
              <a:buFont typeface="Arial" panose="020B0604020202020204" pitchFamily="34" charset="0"/>
              <a:buChar char="•"/>
            </a:pPr>
            <a:r>
              <a:rPr kumimoji="0" lang="he-IL" altLang="he-IL" sz="2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פגיעה באיכות השירות ומקרי הזנחה</a:t>
            </a:r>
            <a:endParaRPr kumimoji="0" lang="he-IL" altLang="he-IL" sz="2800" b="0" i="0" u="none" strike="noStrike" cap="none" normalizeH="0" baseline="0" dirty="0">
              <a:ln>
                <a:noFill/>
              </a:ln>
              <a:solidFill>
                <a:schemeClr val="tx1"/>
              </a:solidFill>
              <a:effectLst/>
              <a:latin typeface="Arial" panose="020B0604020202020204" pitchFamily="34" charset="0"/>
            </a:endParaRPr>
          </a:p>
          <a:p>
            <a:pPr marR="0" lvl="0" algn="r" defTabSz="914400" eaLnBrk="0" fontAlgn="base" latinLnBrk="0" hangingPunct="0">
              <a:lnSpc>
                <a:spcPct val="100000"/>
              </a:lnSpc>
              <a:spcBef>
                <a:spcPct val="0"/>
              </a:spcBef>
              <a:spcAft>
                <a:spcPct val="0"/>
              </a:spcAft>
              <a:buClrTx/>
              <a:buSzTx/>
              <a:tabLst/>
            </a:pPr>
            <a:endParaRPr kumimoji="0" lang="he-IL" altLang="he-IL" sz="2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50449694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2F2F2"/>
        </a:solidFill>
        <a:effectLst/>
      </p:bgPr>
    </p:bg>
    <p:spTree>
      <p:nvGrpSpPr>
        <p:cNvPr id="1" name=""/>
        <p:cNvGrpSpPr/>
        <p:nvPr/>
      </p:nvGrpSpPr>
      <p:grpSpPr>
        <a:xfrm>
          <a:off x="0" y="0"/>
          <a:ext cx="0" cy="0"/>
          <a:chOff x="0" y="0"/>
          <a:chExt cx="0" cy="0"/>
        </a:xfrm>
      </p:grpSpPr>
      <p:sp>
        <p:nvSpPr>
          <p:cNvPr id="2" name="כותרת 1"/>
          <p:cNvSpPr>
            <a:spLocks noGrp="1"/>
          </p:cNvSpPr>
          <p:nvPr>
            <p:ph type="title"/>
          </p:nvPr>
        </p:nvSpPr>
        <p:spPr>
          <a:xfrm>
            <a:off x="211691" y="154568"/>
            <a:ext cx="11353800" cy="1325563"/>
          </a:xfrm>
        </p:spPr>
        <p:txBody>
          <a:bodyPr>
            <a:normAutofit/>
          </a:bodyPr>
          <a:lstStyle/>
          <a:p>
            <a:r>
              <a:rPr lang="he-IL" dirty="0">
                <a:latin typeface="+mn-lt"/>
                <a:cs typeface="+mn-cs"/>
              </a:rPr>
              <a:t>המלצות ועדה בין משרדית </a:t>
            </a:r>
            <a:br>
              <a:rPr lang="he-IL" dirty="0">
                <a:latin typeface="+mn-lt"/>
                <a:cs typeface="+mn-cs"/>
              </a:rPr>
            </a:br>
            <a:r>
              <a:rPr lang="he-IL" dirty="0">
                <a:latin typeface="+mn-lt"/>
                <a:cs typeface="+mn-cs"/>
              </a:rPr>
              <a:t>למניעת הדרדרות תפקודית</a:t>
            </a:r>
            <a:r>
              <a:rPr lang="he-IL" sz="2400" dirty="0">
                <a:latin typeface="+mn-lt"/>
                <a:cs typeface="+mn-cs"/>
              </a:rPr>
              <a:t> (</a:t>
            </a:r>
            <a:r>
              <a:rPr lang="he-IL" sz="2000" dirty="0">
                <a:latin typeface="+mn-lt"/>
                <a:cs typeface="+mn-cs"/>
              </a:rPr>
              <a:t>דו"ח קידר) </a:t>
            </a:r>
            <a:r>
              <a:rPr lang="he-IL" sz="2000" dirty="0">
                <a:cs typeface="+mn-cs"/>
              </a:rPr>
              <a:t>9.2022</a:t>
            </a:r>
          </a:p>
        </p:txBody>
      </p:sp>
      <p:sp>
        <p:nvSpPr>
          <p:cNvPr id="5" name="מלבן 4"/>
          <p:cNvSpPr/>
          <p:nvPr/>
        </p:nvSpPr>
        <p:spPr>
          <a:xfrm>
            <a:off x="3093" y="0"/>
            <a:ext cx="244547" cy="6857999"/>
          </a:xfrm>
          <a:prstGeom prst="rect">
            <a:avLst/>
          </a:prstGeom>
          <a:solidFill>
            <a:srgbClr val="527FC4"/>
          </a:solidFill>
          <a:ln>
            <a:solidFill>
              <a:srgbClr val="8C8DC5"/>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srgbClr val="527FC4"/>
              </a:solidFill>
              <a:effectLst/>
              <a:uLnTx/>
              <a:uFillTx/>
              <a:latin typeface="Calibri" panose="020F0502020204030204"/>
              <a:ea typeface="+mn-ea"/>
              <a:cs typeface="Arial" panose="020B0604020202020204" pitchFamily="34" charset="0"/>
            </a:endParaRPr>
          </a:p>
        </p:txBody>
      </p:sp>
      <p:sp>
        <p:nvSpPr>
          <p:cNvPr id="6" name="מלבן 5"/>
          <p:cNvSpPr/>
          <p:nvPr/>
        </p:nvSpPr>
        <p:spPr>
          <a:xfrm>
            <a:off x="3093" y="0"/>
            <a:ext cx="264155" cy="6857999"/>
          </a:xfrm>
          <a:prstGeom prst="rect">
            <a:avLst/>
          </a:prstGeom>
          <a:solidFill>
            <a:srgbClr val="7030A0"/>
          </a:solidFill>
          <a:ln w="12700" cap="flat" cmpd="sng" algn="ctr">
            <a:solidFill>
              <a:srgbClr val="2CC2E0"/>
            </a:solidFill>
            <a:prstDash val="solid"/>
            <a:miter lim="800000"/>
          </a:ln>
          <a:effectLst/>
        </p:spPr>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0" cap="none" spc="0" normalizeH="0" baseline="0" noProof="0">
              <a:ln>
                <a:noFill/>
              </a:ln>
              <a:solidFill>
                <a:prstClr val="white"/>
              </a:solidFill>
              <a:effectLst/>
              <a:uLnTx/>
              <a:uFillTx/>
              <a:latin typeface="Calibri"/>
              <a:ea typeface="+mn-ea"/>
              <a:cs typeface="Calibri"/>
            </a:endParaRPr>
          </a:p>
        </p:txBody>
      </p:sp>
      <p:sp>
        <p:nvSpPr>
          <p:cNvPr id="7" name="TextBox 6"/>
          <p:cNvSpPr txBox="1"/>
          <p:nvPr/>
        </p:nvSpPr>
        <p:spPr>
          <a:xfrm rot="16200000">
            <a:off x="-1023138" y="774604"/>
            <a:ext cx="2064989" cy="515782"/>
          </a:xfrm>
          <a:prstGeom prst="rect">
            <a:avLst/>
          </a:prstGeom>
          <a:noFill/>
        </p:spPr>
        <p:txBody>
          <a:bodyPr wrap="none" rtlCol="1">
            <a:spAutoFit/>
          </a:bodyPr>
          <a:lstStyle/>
          <a:p>
            <a:pPr marL="0" marR="0" lvl="0" indent="0" algn="r" defTabSz="914400" rtl="1" eaLnBrk="1" fontAlgn="auto" latinLnBrk="0" hangingPunct="1">
              <a:lnSpc>
                <a:spcPct val="200000"/>
              </a:lnSpc>
              <a:spcBef>
                <a:spcPts val="0"/>
              </a:spcBef>
              <a:spcAft>
                <a:spcPts val="0"/>
              </a:spcAft>
              <a:buClrTx/>
              <a:buSzTx/>
              <a:buFontTx/>
              <a:buNone/>
              <a:tabLst/>
              <a:defRPr/>
            </a:pPr>
            <a:r>
              <a:rPr kumimoji="0" lang="he-IL" sz="1600" b="1" i="0" u="none" strike="noStrike" kern="1200" cap="none" spc="0" normalizeH="0" baseline="0" noProof="0" dirty="0">
                <a:ln>
                  <a:noFill/>
                </a:ln>
                <a:solidFill>
                  <a:prstClr val="white"/>
                </a:solidFill>
                <a:effectLst/>
                <a:uLnTx/>
                <a:uFillTx/>
                <a:latin typeface="Calibri" panose="020F0502020204030204" pitchFamily="34" charset="0"/>
                <a:ea typeface="Open Sans" panose="020B0606030504020204" pitchFamily="34" charset="0"/>
                <a:cs typeface="Calibri" panose="020F0502020204030204" pitchFamily="34" charset="0"/>
              </a:rPr>
              <a:t>האתגר ומה נעשה עד כה</a:t>
            </a:r>
          </a:p>
        </p:txBody>
      </p:sp>
      <p:sp>
        <p:nvSpPr>
          <p:cNvPr id="12" name="תיבת טקסט 11">
            <a:extLst>
              <a:ext uri="{FF2B5EF4-FFF2-40B4-BE49-F238E27FC236}">
                <a16:creationId xmlns:a16="http://schemas.microsoft.com/office/drawing/2014/main" id="{BADAE2D8-F10A-441C-3C3D-FEB0FBAE3B75}"/>
              </a:ext>
            </a:extLst>
          </p:cNvPr>
          <p:cNvSpPr txBox="1"/>
          <p:nvPr/>
        </p:nvSpPr>
        <p:spPr>
          <a:xfrm>
            <a:off x="1090549" y="2064990"/>
            <a:ext cx="10474942" cy="3539430"/>
          </a:xfrm>
          <a:prstGeom prst="rect">
            <a:avLst/>
          </a:prstGeom>
          <a:noFill/>
        </p:spPr>
        <p:txBody>
          <a:bodyPr wrap="square">
            <a:spAutoFit/>
          </a:bodyPr>
          <a:lstStyle/>
          <a:p>
            <a:pPr>
              <a:buFont typeface="+mj-lt"/>
              <a:buAutoNum type="arabicPeriod"/>
            </a:pPr>
            <a:r>
              <a:rPr lang="he-IL" sz="2800" dirty="0"/>
              <a:t>שינוי מיקוד </a:t>
            </a:r>
            <a:r>
              <a:rPr lang="he-IL" sz="2800" b="1" dirty="0"/>
              <a:t>מטיפול למניעה</a:t>
            </a:r>
          </a:p>
          <a:p>
            <a:pPr>
              <a:buFont typeface="+mj-lt"/>
              <a:buAutoNum type="arabicPeriod"/>
            </a:pPr>
            <a:r>
              <a:rPr lang="he-IL" sz="2800" dirty="0"/>
              <a:t>השקעה בשירותי מניעת הידרדרות, ב</a:t>
            </a:r>
            <a:r>
              <a:rPr lang="he-IL" sz="2800" b="1" dirty="0"/>
              <a:t>דגש על רמות סיעוד נמוכות </a:t>
            </a:r>
            <a:r>
              <a:rPr lang="he-IL" sz="2800" dirty="0"/>
              <a:t>(1-2)</a:t>
            </a:r>
          </a:p>
          <a:p>
            <a:pPr>
              <a:buFont typeface="+mj-lt"/>
              <a:buAutoNum type="arabicPeriod"/>
            </a:pPr>
            <a:r>
              <a:rPr lang="he-IL" sz="2800" dirty="0"/>
              <a:t>שילוב </a:t>
            </a:r>
            <a:r>
              <a:rPr lang="he-IL" sz="2800" b="1" dirty="0"/>
              <a:t>שירותי דחיקת תלות </a:t>
            </a:r>
            <a:r>
              <a:rPr lang="he-IL" sz="2800" dirty="0"/>
              <a:t>בגמלת הסיעוד</a:t>
            </a:r>
          </a:p>
          <a:p>
            <a:pPr>
              <a:buFont typeface="+mj-lt"/>
              <a:buAutoNum type="arabicPeriod"/>
            </a:pPr>
            <a:r>
              <a:rPr lang="he-IL" sz="2800" dirty="0"/>
              <a:t> שיתוף </a:t>
            </a:r>
            <a:r>
              <a:rPr lang="he-IL" sz="2800" b="1" dirty="0"/>
              <a:t>קופות החולים </a:t>
            </a:r>
            <a:r>
              <a:rPr lang="he-IL" sz="2800" dirty="0"/>
              <a:t>במניעת הידרדרות</a:t>
            </a:r>
          </a:p>
          <a:p>
            <a:pPr>
              <a:buFont typeface="+mj-lt"/>
              <a:buAutoNum type="arabicPeriod"/>
            </a:pPr>
            <a:r>
              <a:rPr lang="he-IL" sz="2800" dirty="0"/>
              <a:t>הרחבת </a:t>
            </a:r>
            <a:r>
              <a:rPr lang="he-IL" sz="2800" b="1" dirty="0"/>
              <a:t>שירותים חברתיים </a:t>
            </a:r>
            <a:r>
              <a:rPr lang="he-IL" sz="2800" dirty="0"/>
              <a:t>בגמלת הסיעוד</a:t>
            </a:r>
          </a:p>
          <a:p>
            <a:pPr>
              <a:buFont typeface="+mj-lt"/>
              <a:buAutoNum type="arabicPeriod"/>
            </a:pPr>
            <a:r>
              <a:rPr lang="he-IL" sz="2800" b="1" dirty="0"/>
              <a:t>שינוי</a:t>
            </a:r>
            <a:r>
              <a:rPr lang="he-IL" sz="2800" dirty="0"/>
              <a:t> </a:t>
            </a:r>
            <a:r>
              <a:rPr lang="he-IL" sz="2800" b="1" dirty="0"/>
              <a:t>מבנה התמריצים </a:t>
            </a:r>
            <a:r>
              <a:rPr lang="he-IL" sz="2800" dirty="0"/>
              <a:t>במערכת</a:t>
            </a:r>
          </a:p>
          <a:p>
            <a:pPr>
              <a:buFont typeface="+mj-lt"/>
              <a:buAutoNum type="arabicPeriod"/>
            </a:pPr>
            <a:r>
              <a:rPr lang="he-IL" sz="2800" b="1" dirty="0"/>
              <a:t>הגברת שיתוף פעולה</a:t>
            </a:r>
            <a:r>
              <a:rPr lang="he-IL" sz="2800" dirty="0"/>
              <a:t>, שיתוף מידע וסנכרון בין גורמים</a:t>
            </a:r>
          </a:p>
          <a:p>
            <a:pPr>
              <a:buFont typeface="+mj-lt"/>
              <a:buAutoNum type="arabicPeriod"/>
            </a:pPr>
            <a:r>
              <a:rPr lang="he-IL" sz="2800" dirty="0"/>
              <a:t>פיתוח </a:t>
            </a:r>
            <a:r>
              <a:rPr lang="he-IL" sz="2800" b="1" dirty="0"/>
              <a:t>מערכת מדידה והערכה </a:t>
            </a:r>
            <a:r>
              <a:rPr lang="he-IL" sz="2800" dirty="0"/>
              <a:t>מבוססת תוצאות</a:t>
            </a:r>
          </a:p>
        </p:txBody>
      </p:sp>
    </p:spTree>
    <p:extLst>
      <p:ext uri="{BB962C8B-B14F-4D97-AF65-F5344CB8AC3E}">
        <p14:creationId xmlns:p14="http://schemas.microsoft.com/office/powerpoint/2010/main" val="140456141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תמונה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24000" y="5157788"/>
            <a:ext cx="10287000" cy="1019175"/>
          </a:xfrm>
          <a:prstGeom prst="rect">
            <a:avLst/>
          </a:prstGeom>
        </p:spPr>
      </p:pic>
      <p:sp>
        <p:nvSpPr>
          <p:cNvPr id="7" name="מלבן מעוגל 6"/>
          <p:cNvSpPr/>
          <p:nvPr/>
        </p:nvSpPr>
        <p:spPr>
          <a:xfrm>
            <a:off x="1459345" y="5495635"/>
            <a:ext cx="9624291" cy="681327"/>
          </a:xfrm>
          <a:prstGeom prst="roundRect">
            <a:avLst/>
          </a:prstGeom>
          <a:noFill/>
          <a:ln w="57150">
            <a:solidFill>
              <a:srgbClr val="0070C0"/>
            </a:solidFill>
          </a:ln>
        </p:spPr>
        <p:style>
          <a:lnRef idx="2">
            <a:schemeClr val="accent1"/>
          </a:lnRef>
          <a:fillRef idx="1">
            <a:schemeClr val="lt1"/>
          </a:fillRef>
          <a:effectRef idx="0">
            <a:schemeClr val="accent1"/>
          </a:effectRef>
          <a:fontRef idx="minor">
            <a:schemeClr val="dk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endParaRPr>
          </a:p>
        </p:txBody>
      </p:sp>
      <p:sp>
        <p:nvSpPr>
          <p:cNvPr id="2" name="כותרת 1"/>
          <p:cNvSpPr>
            <a:spLocks noGrp="1"/>
          </p:cNvSpPr>
          <p:nvPr>
            <p:ph type="title"/>
          </p:nvPr>
        </p:nvSpPr>
        <p:spPr/>
        <p:txBody>
          <a:bodyPr/>
          <a:lstStyle/>
          <a:p>
            <a:r>
              <a:rPr lang="he-IL" dirty="0"/>
              <a:t>ועדה בין משרדית וחוק ההסדרים</a:t>
            </a:r>
          </a:p>
        </p:txBody>
      </p:sp>
      <p:sp>
        <p:nvSpPr>
          <p:cNvPr id="3" name="מציין מיקום תוכן 2"/>
          <p:cNvSpPr>
            <a:spLocks noGrp="1"/>
          </p:cNvSpPr>
          <p:nvPr>
            <p:ph idx="1"/>
          </p:nvPr>
        </p:nvSpPr>
        <p:spPr>
          <a:xfrm>
            <a:off x="1801090" y="1576243"/>
            <a:ext cx="9515764" cy="4351338"/>
          </a:xfrm>
        </p:spPr>
        <p:txBody>
          <a:bodyPr/>
          <a:lstStyle/>
          <a:p>
            <a:pPr algn="just"/>
            <a:r>
              <a:rPr lang="he-IL" sz="2400" dirty="0"/>
              <a:t>ועדה בין משרדית: "הרחבת שירותי הרווחה לזכאים וביסוס שירותי הקהילה תומכת - תקצוב משרד הרווחה באופן ייעודי למערך הקהילות התומכות, כך ש</a:t>
            </a:r>
            <a:r>
              <a:rPr lang="he-IL" sz="2400" b="1" dirty="0"/>
              <a:t>כל זכאי לגמלת סיעוד ברמות הנמוכות יהיה זכאי גם באופן אוטומטי לשירותי קהילה תומכת</a:t>
            </a:r>
            <a:r>
              <a:rPr lang="he-IL" sz="2400" dirty="0"/>
              <a:t>".</a:t>
            </a:r>
          </a:p>
          <a:p>
            <a:pPr marL="0" indent="0">
              <a:buNone/>
            </a:pPr>
            <a:endParaRPr lang="he-IL" sz="1200" b="1" dirty="0"/>
          </a:p>
          <a:p>
            <a:pPr marL="0" indent="0">
              <a:buNone/>
            </a:pPr>
            <a:endParaRPr lang="he-IL" sz="1200" b="1" dirty="0"/>
          </a:p>
          <a:p>
            <a:pPr marL="0" indent="0">
              <a:buNone/>
            </a:pPr>
            <a:r>
              <a:rPr lang="he-IL" b="1" dirty="0"/>
              <a:t>מתוך חוק ההסדרים האחרון:</a:t>
            </a:r>
          </a:p>
        </p:txBody>
      </p:sp>
      <p:pic>
        <p:nvPicPr>
          <p:cNvPr id="10" name="תמונה 9"/>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524000" y="4001294"/>
            <a:ext cx="10287000" cy="1066800"/>
          </a:xfrm>
          <a:prstGeom prst="rect">
            <a:avLst/>
          </a:prstGeom>
        </p:spPr>
      </p:pic>
      <p:sp>
        <p:nvSpPr>
          <p:cNvPr id="6" name="מלבן 5"/>
          <p:cNvSpPr/>
          <p:nvPr/>
        </p:nvSpPr>
        <p:spPr>
          <a:xfrm>
            <a:off x="3093" y="0"/>
            <a:ext cx="244547" cy="6857999"/>
          </a:xfrm>
          <a:prstGeom prst="rect">
            <a:avLst/>
          </a:prstGeom>
          <a:solidFill>
            <a:srgbClr val="4472C4"/>
          </a:solidFill>
          <a:ln>
            <a:solidFill>
              <a:srgbClr val="8C8DC5"/>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Calibri" panose="020F0502020204030204"/>
              <a:ea typeface="+mn-ea"/>
              <a:cs typeface="Arial" panose="020B0604020202020204" pitchFamily="34" charset="0"/>
            </a:endParaRPr>
          </a:p>
        </p:txBody>
      </p:sp>
      <p:sp>
        <p:nvSpPr>
          <p:cNvPr id="5" name="TextBox 4"/>
          <p:cNvSpPr txBox="1"/>
          <p:nvPr/>
        </p:nvSpPr>
        <p:spPr>
          <a:xfrm rot="16200000">
            <a:off x="-503973" y="563419"/>
            <a:ext cx="1258678" cy="338554"/>
          </a:xfrm>
          <a:prstGeom prst="rect">
            <a:avLst/>
          </a:prstGeom>
          <a:noFill/>
        </p:spPr>
        <p:txBody>
          <a:bodyPr wrap="non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1"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קהילה לכולם</a:t>
            </a:r>
          </a:p>
        </p:txBody>
      </p:sp>
      <p:sp>
        <p:nvSpPr>
          <p:cNvPr id="9" name="מלבן מעוגל 8"/>
          <p:cNvSpPr/>
          <p:nvPr/>
        </p:nvSpPr>
        <p:spPr>
          <a:xfrm>
            <a:off x="1801090" y="2299854"/>
            <a:ext cx="9282546" cy="692727"/>
          </a:xfrm>
          <a:prstGeom prst="roundRect">
            <a:avLst/>
          </a:prstGeom>
          <a:noFill/>
          <a:ln w="57150">
            <a:solidFill>
              <a:srgbClr val="0070C0"/>
            </a:solidFill>
          </a:ln>
        </p:spPr>
        <p:style>
          <a:lnRef idx="2">
            <a:schemeClr val="accent1"/>
          </a:lnRef>
          <a:fillRef idx="1">
            <a:schemeClr val="lt1"/>
          </a:fillRef>
          <a:effectRef idx="0">
            <a:schemeClr val="accent1"/>
          </a:effectRef>
          <a:fontRef idx="minor">
            <a:schemeClr val="dk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310993862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extBox 3"/>
          <p:cNvSpPr txBox="1"/>
          <p:nvPr/>
        </p:nvSpPr>
        <p:spPr>
          <a:xfrm>
            <a:off x="9275526" y="406463"/>
            <a:ext cx="1784360" cy="584775"/>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600" b="1" i="0" u="none" strike="noStrike" kern="1200" cap="none" spc="0" normalizeH="0" baseline="0" noProof="0" dirty="0">
                <a:ln>
                  <a:noFill/>
                </a:ln>
                <a:solidFill>
                  <a:srgbClr val="0070C0"/>
                </a:solidFill>
                <a:effectLst/>
                <a:uLnTx/>
                <a:uFillTx/>
                <a:latin typeface="Calibri" panose="020F0502020204030204" pitchFamily="34" charset="0"/>
                <a:ea typeface="+mn-ea"/>
                <a:cs typeface="Calibri" panose="020F0502020204030204" pitchFamily="34" charset="0"/>
              </a:rPr>
              <a:t>* דרך גמלת הסיעוד</a:t>
            </a:r>
            <a:br>
              <a:rPr kumimoji="0" lang="en-US" sz="1600" b="1" i="0" u="none" strike="noStrike" kern="1200" cap="none" spc="0" normalizeH="0" baseline="0" noProof="0" dirty="0">
                <a:ln>
                  <a:noFill/>
                </a:ln>
                <a:solidFill>
                  <a:srgbClr val="0070C0"/>
                </a:solidFill>
                <a:effectLst/>
                <a:uLnTx/>
                <a:uFillTx/>
                <a:latin typeface="Calibri" panose="020F0502020204030204" pitchFamily="34" charset="0"/>
                <a:ea typeface="+mn-ea"/>
                <a:cs typeface="Calibri" panose="020F0502020204030204" pitchFamily="34" charset="0"/>
              </a:rPr>
            </a:br>
            <a:r>
              <a:rPr kumimoji="0" lang="he-IL" sz="1600" b="1" i="0" u="none" strike="noStrike" kern="1200" cap="none" spc="0" normalizeH="0" baseline="0" noProof="0" dirty="0">
                <a:ln>
                  <a:noFill/>
                </a:ln>
                <a:solidFill>
                  <a:srgbClr val="0070C0"/>
                </a:solidFill>
                <a:effectLst/>
                <a:uLnTx/>
                <a:uFillTx/>
                <a:latin typeface="Calibri" panose="020F0502020204030204" pitchFamily="34" charset="0"/>
                <a:ea typeface="+mn-ea"/>
                <a:cs typeface="Calibri" panose="020F0502020204030204" pitchFamily="34" charset="0"/>
              </a:rPr>
              <a:t>* 3 ימים בשבוע</a:t>
            </a:r>
          </a:p>
        </p:txBody>
      </p:sp>
      <p:sp>
        <p:nvSpPr>
          <p:cNvPr id="6" name="מלבן 5"/>
          <p:cNvSpPr/>
          <p:nvPr/>
        </p:nvSpPr>
        <p:spPr>
          <a:xfrm>
            <a:off x="3093" y="0"/>
            <a:ext cx="244547" cy="6857999"/>
          </a:xfrm>
          <a:prstGeom prst="rect">
            <a:avLst/>
          </a:prstGeom>
          <a:solidFill>
            <a:srgbClr val="527FC4"/>
          </a:solidFill>
          <a:ln>
            <a:solidFill>
              <a:srgbClr val="8C8DC5"/>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srgbClr val="527FC4"/>
              </a:solidFill>
              <a:effectLst/>
              <a:uLnTx/>
              <a:uFillTx/>
              <a:latin typeface="Calibri" panose="020F0502020204030204"/>
              <a:ea typeface="+mn-ea"/>
              <a:cs typeface="Arial" panose="020B0604020202020204" pitchFamily="34" charset="0"/>
            </a:endParaRPr>
          </a:p>
        </p:txBody>
      </p:sp>
      <p:graphicFrame>
        <p:nvGraphicFramePr>
          <p:cNvPr id="10" name="תרשים 9"/>
          <p:cNvGraphicFramePr>
            <a:graphicFrameLocks/>
          </p:cNvGraphicFramePr>
          <p:nvPr>
            <p:extLst>
              <p:ext uri="{D42A27DB-BD31-4B8C-83A1-F6EECF244321}">
                <p14:modId xmlns:p14="http://schemas.microsoft.com/office/powerpoint/2010/main" val="563257307"/>
              </p:ext>
            </p:extLst>
          </p:nvPr>
        </p:nvGraphicFramePr>
        <p:xfrm>
          <a:off x="792952" y="249806"/>
          <a:ext cx="11116018" cy="6358385"/>
        </p:xfrm>
        <a:graphic>
          <a:graphicData uri="http://schemas.openxmlformats.org/drawingml/2006/chart">
            <c:chart xmlns:c="http://schemas.openxmlformats.org/drawingml/2006/chart" xmlns:r="http://schemas.openxmlformats.org/officeDocument/2006/relationships" r:id="rId3"/>
          </a:graphicData>
        </a:graphic>
      </p:graphicFrame>
      <p:sp>
        <p:nvSpPr>
          <p:cNvPr id="3" name="חץ ימינה 2"/>
          <p:cNvSpPr/>
          <p:nvPr/>
        </p:nvSpPr>
        <p:spPr>
          <a:xfrm rot="18705618">
            <a:off x="8306867" y="4390313"/>
            <a:ext cx="1340101" cy="661540"/>
          </a:xfrm>
          <a:prstGeom prst="rightArrow">
            <a:avLst/>
          </a:prstGeom>
          <a:solidFill>
            <a:schemeClr val="accent6">
              <a:lumMod val="60000"/>
              <a:lumOff val="40000"/>
            </a:schemeClr>
          </a:solidFill>
        </p:spPr>
        <p:style>
          <a:lnRef idx="3">
            <a:schemeClr val="lt1"/>
          </a:lnRef>
          <a:fillRef idx="1">
            <a:schemeClr val="accent2"/>
          </a:fillRef>
          <a:effectRef idx="1">
            <a:schemeClr val="accent2"/>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פי 17</a:t>
            </a:r>
          </a:p>
        </p:txBody>
      </p:sp>
      <p:sp>
        <p:nvSpPr>
          <p:cNvPr id="7" name="מלבן 6"/>
          <p:cNvSpPr/>
          <p:nvPr/>
        </p:nvSpPr>
        <p:spPr>
          <a:xfrm>
            <a:off x="3093" y="0"/>
            <a:ext cx="264155" cy="6857999"/>
          </a:xfrm>
          <a:prstGeom prst="rect">
            <a:avLst/>
          </a:prstGeom>
          <a:solidFill>
            <a:srgbClr val="FFC000"/>
          </a:solidFill>
          <a:ln w="12700" cap="flat" cmpd="sng" algn="ctr">
            <a:solidFill>
              <a:srgbClr val="2CC2E0"/>
            </a:solidFill>
            <a:prstDash val="solid"/>
            <a:miter lim="800000"/>
          </a:ln>
          <a:effectLst/>
        </p:spPr>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0" cap="none" spc="0" normalizeH="0" baseline="0" noProof="0">
              <a:ln>
                <a:noFill/>
              </a:ln>
              <a:solidFill>
                <a:prstClr val="white"/>
              </a:solidFill>
              <a:effectLst/>
              <a:uLnTx/>
              <a:uFillTx/>
              <a:latin typeface="Calibri"/>
              <a:ea typeface="+mn-ea"/>
              <a:cs typeface="Calibri"/>
            </a:endParaRPr>
          </a:p>
        </p:txBody>
      </p:sp>
      <p:sp>
        <p:nvSpPr>
          <p:cNvPr id="8" name="TextBox 7"/>
          <p:cNvSpPr txBox="1"/>
          <p:nvPr/>
        </p:nvSpPr>
        <p:spPr>
          <a:xfrm rot="16200000">
            <a:off x="-1010313" y="774604"/>
            <a:ext cx="2039340" cy="515782"/>
          </a:xfrm>
          <a:prstGeom prst="rect">
            <a:avLst/>
          </a:prstGeom>
          <a:noFill/>
        </p:spPr>
        <p:txBody>
          <a:bodyPr wrap="none" rtlCol="1">
            <a:spAutoFit/>
          </a:bodyPr>
          <a:lstStyle/>
          <a:p>
            <a:pPr marL="0" marR="0" lvl="0" indent="0" algn="r" defTabSz="914400" rtl="1" eaLnBrk="1" fontAlgn="auto" latinLnBrk="0" hangingPunct="1">
              <a:lnSpc>
                <a:spcPct val="200000"/>
              </a:lnSpc>
              <a:spcBef>
                <a:spcPts val="0"/>
              </a:spcBef>
              <a:spcAft>
                <a:spcPts val="0"/>
              </a:spcAft>
              <a:buClrTx/>
              <a:buSzTx/>
              <a:buFontTx/>
              <a:buNone/>
              <a:tabLst/>
              <a:defRPr/>
            </a:pPr>
            <a:r>
              <a:rPr kumimoji="0" lang="he-IL" sz="1600" b="1" i="0" u="none" strike="noStrike" kern="1200" cap="none" spc="0" normalizeH="0" baseline="0" noProof="0" dirty="0">
                <a:ln>
                  <a:noFill/>
                </a:ln>
                <a:solidFill>
                  <a:prstClr val="black"/>
                </a:solidFill>
                <a:effectLst/>
                <a:uLnTx/>
                <a:uFillTx/>
                <a:latin typeface="Calibri" panose="020F0502020204030204" pitchFamily="34" charset="0"/>
                <a:ea typeface="Open Sans" panose="020B0606030504020204" pitchFamily="34" charset="0"/>
                <a:cs typeface="Calibri" panose="020F0502020204030204" pitchFamily="34" charset="0"/>
              </a:rPr>
              <a:t>ההזדמנות לשינוי בסיעוד</a:t>
            </a:r>
          </a:p>
        </p:txBody>
      </p:sp>
      <p:sp>
        <p:nvSpPr>
          <p:cNvPr id="2" name="מלבן 1">
            <a:extLst>
              <a:ext uri="{FF2B5EF4-FFF2-40B4-BE49-F238E27FC236}">
                <a16:creationId xmlns:a16="http://schemas.microsoft.com/office/drawing/2014/main" id="{BCA28565-08D8-19F7-903A-07EFE20A7AC4}"/>
              </a:ext>
            </a:extLst>
          </p:cNvPr>
          <p:cNvSpPr/>
          <p:nvPr/>
        </p:nvSpPr>
        <p:spPr>
          <a:xfrm>
            <a:off x="3093" y="0"/>
            <a:ext cx="264155" cy="6857999"/>
          </a:xfrm>
          <a:prstGeom prst="rect">
            <a:avLst/>
          </a:prstGeom>
          <a:solidFill>
            <a:srgbClr val="7030A0"/>
          </a:solidFill>
          <a:ln w="12700" cap="flat" cmpd="sng" algn="ctr">
            <a:solidFill>
              <a:srgbClr val="2CC2E0"/>
            </a:solidFill>
            <a:prstDash val="solid"/>
            <a:miter lim="800000"/>
          </a:ln>
          <a:effectLst/>
        </p:spPr>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0" cap="none" spc="0" normalizeH="0" baseline="0" noProof="0">
              <a:ln>
                <a:noFill/>
              </a:ln>
              <a:solidFill>
                <a:prstClr val="white"/>
              </a:solidFill>
              <a:effectLst/>
              <a:uLnTx/>
              <a:uFillTx/>
              <a:latin typeface="Calibri"/>
              <a:ea typeface="+mn-ea"/>
              <a:cs typeface="Calibri"/>
            </a:endParaRPr>
          </a:p>
        </p:txBody>
      </p:sp>
      <p:sp>
        <p:nvSpPr>
          <p:cNvPr id="9" name="TextBox 6">
            <a:extLst>
              <a:ext uri="{FF2B5EF4-FFF2-40B4-BE49-F238E27FC236}">
                <a16:creationId xmlns:a16="http://schemas.microsoft.com/office/drawing/2014/main" id="{5C8E4F9E-C8FB-57E3-10B2-6854575260B3}"/>
              </a:ext>
            </a:extLst>
          </p:cNvPr>
          <p:cNvSpPr txBox="1"/>
          <p:nvPr/>
        </p:nvSpPr>
        <p:spPr>
          <a:xfrm rot="16200000">
            <a:off x="-1023138" y="774604"/>
            <a:ext cx="2064989" cy="515782"/>
          </a:xfrm>
          <a:prstGeom prst="rect">
            <a:avLst/>
          </a:prstGeom>
          <a:noFill/>
        </p:spPr>
        <p:txBody>
          <a:bodyPr wrap="none" rtlCol="1">
            <a:spAutoFit/>
          </a:bodyPr>
          <a:lstStyle/>
          <a:p>
            <a:pPr marL="0" marR="0" lvl="0" indent="0" algn="r" defTabSz="914400" rtl="1" eaLnBrk="1" fontAlgn="auto" latinLnBrk="0" hangingPunct="1">
              <a:lnSpc>
                <a:spcPct val="200000"/>
              </a:lnSpc>
              <a:spcBef>
                <a:spcPts val="0"/>
              </a:spcBef>
              <a:spcAft>
                <a:spcPts val="0"/>
              </a:spcAft>
              <a:buClrTx/>
              <a:buSzTx/>
              <a:buFontTx/>
              <a:buNone/>
              <a:tabLst/>
              <a:defRPr/>
            </a:pPr>
            <a:r>
              <a:rPr kumimoji="0" lang="he-IL" sz="1600" b="1" i="0" u="none" strike="noStrike" kern="1200" cap="none" spc="0" normalizeH="0" baseline="0" noProof="0" dirty="0">
                <a:ln>
                  <a:noFill/>
                </a:ln>
                <a:solidFill>
                  <a:prstClr val="white"/>
                </a:solidFill>
                <a:effectLst/>
                <a:uLnTx/>
                <a:uFillTx/>
                <a:latin typeface="Calibri" panose="020F0502020204030204" pitchFamily="34" charset="0"/>
                <a:ea typeface="Open Sans" panose="020B0606030504020204" pitchFamily="34" charset="0"/>
                <a:cs typeface="Calibri" panose="020F0502020204030204" pitchFamily="34" charset="0"/>
              </a:rPr>
              <a:t>האתגר ומה נעשה עד כה</a:t>
            </a:r>
          </a:p>
        </p:txBody>
      </p:sp>
      <p:sp>
        <p:nvSpPr>
          <p:cNvPr id="11" name="TextBox 68">
            <a:extLst>
              <a:ext uri="{FF2B5EF4-FFF2-40B4-BE49-F238E27FC236}">
                <a16:creationId xmlns:a16="http://schemas.microsoft.com/office/drawing/2014/main" id="{36A3DE1F-AC30-4257-5CBA-A4D46E491B1A}"/>
              </a:ext>
            </a:extLst>
          </p:cNvPr>
          <p:cNvSpPr txBox="1"/>
          <p:nvPr/>
        </p:nvSpPr>
        <p:spPr>
          <a:xfrm flipH="1">
            <a:off x="1914524" y="1554212"/>
            <a:ext cx="2960893" cy="1021556"/>
          </a:xfrm>
          <a:prstGeom prst="roundRect">
            <a:avLst/>
          </a:prstGeom>
          <a:solidFill>
            <a:schemeClr val="accent1"/>
          </a:solidFill>
          <a:ln>
            <a:noFill/>
          </a:ln>
          <a:effectLst>
            <a:outerShdw blurRad="215900" dist="50800" dir="5400000" algn="ctr" rotWithShape="0">
              <a:schemeClr val="bg2">
                <a:lumMod val="10000"/>
                <a:alpha val="43000"/>
              </a:schemeClr>
            </a:outerShdw>
          </a:effectLst>
        </p:spPr>
        <p:txBody>
          <a:bodyPr wrap="squar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שירותי רווחה ובריאות ניתנים כמעט בחינם, בגיל 80 נצפה שהזקן יתחיל לשלם מהגמלה?</a:t>
            </a:r>
          </a:p>
        </p:txBody>
      </p:sp>
    </p:spTree>
    <p:extLst>
      <p:ext uri="{BB962C8B-B14F-4D97-AF65-F5344CB8AC3E}">
        <p14:creationId xmlns:p14="http://schemas.microsoft.com/office/powerpoint/2010/main" val="368265060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3" name="תמונה 5" descr="image007">
            <a:extLst>
              <a:ext uri="{FF2B5EF4-FFF2-40B4-BE49-F238E27FC236}">
                <a16:creationId xmlns:a16="http://schemas.microsoft.com/office/drawing/2014/main" id="{599CD6E7-4B92-467F-BC46-6524217D1CCC}"/>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1497321" y="1630377"/>
            <a:ext cx="5100248" cy="4132549"/>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extBox 3">
            <a:extLst>
              <a:ext uri="{FF2B5EF4-FFF2-40B4-BE49-F238E27FC236}">
                <a16:creationId xmlns:a16="http://schemas.microsoft.com/office/drawing/2014/main" id="{BF320DB9-3817-48BB-B427-A4365D727687}"/>
              </a:ext>
            </a:extLst>
          </p:cNvPr>
          <p:cNvSpPr txBox="1"/>
          <p:nvPr/>
        </p:nvSpPr>
        <p:spPr>
          <a:xfrm>
            <a:off x="7413756" y="5874317"/>
            <a:ext cx="3051044" cy="34913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35718" tIns="35718" rIns="35718" bIns="35718" numCol="1" spcCol="38100" rtlCol="1" anchor="ctr">
            <a:spAutoFit/>
          </a:bodyPr>
          <a:lstStyle/>
          <a:p>
            <a:pPr marL="0" marR="0" lvl="0" indent="0" algn="ctr" defTabSz="410751" rtl="0" eaLnBrk="1" fontAlgn="auto" latinLnBrk="0" hangingPunct="0">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קהילות לרמות 1-2 בישראל</a:t>
            </a:r>
            <a:endParaRPr kumimoji="0" lang="he-IL" sz="2400" b="1" i="0" u="none" strike="noStrike" kern="1200" cap="none" spc="0" normalizeH="0" baseline="0" noProof="0" dirty="0">
              <a:ln>
                <a:noFill/>
              </a:ln>
              <a:solidFill>
                <a:srgbClr val="000000"/>
              </a:solidFill>
              <a:effectLst/>
              <a:uLnTx/>
              <a:uFillTx/>
              <a:latin typeface="Helvetica Neue"/>
              <a:ea typeface="Helvetica Neue"/>
              <a:cs typeface="Helvetica Neue"/>
              <a:sym typeface="Helvetica Neue"/>
            </a:endParaRPr>
          </a:p>
        </p:txBody>
      </p:sp>
      <p:pic>
        <p:nvPicPr>
          <p:cNvPr id="5" name="תמונה 6" descr="image001">
            <a:extLst>
              <a:ext uri="{FF2B5EF4-FFF2-40B4-BE49-F238E27FC236}">
                <a16:creationId xmlns:a16="http://schemas.microsoft.com/office/drawing/2014/main" id="{872A14C8-C0DC-4912-BC7C-A38C6F15807F}"/>
              </a:ext>
            </a:extLst>
          </p:cNvPr>
          <p:cNvPicPr>
            <a:picLocks noChangeAspect="1" noChangeArrowheads="1"/>
          </p:cNvPicPr>
          <p:nvPr/>
        </p:nvPicPr>
        <p:blipFill>
          <a:blip r:embed="rId4" cstate="email">
            <a:extLst>
              <a:ext uri="{28A0092B-C50C-407E-A947-70E740481C1C}">
                <a14:useLocalDpi xmlns:a14="http://schemas.microsoft.com/office/drawing/2010/main"/>
              </a:ext>
            </a:extLst>
          </a:blip>
          <a:srcRect/>
          <a:stretch>
            <a:fillRect/>
          </a:stretch>
        </p:blipFill>
        <p:spPr bwMode="auto">
          <a:xfrm>
            <a:off x="7180459" y="1630377"/>
            <a:ext cx="3284341" cy="4132549"/>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5">
            <a:extLst>
              <a:ext uri="{FF2B5EF4-FFF2-40B4-BE49-F238E27FC236}">
                <a16:creationId xmlns:a16="http://schemas.microsoft.com/office/drawing/2014/main" id="{3813B7B3-0C73-4CA4-B2D4-F1A9C604B668}"/>
              </a:ext>
            </a:extLst>
          </p:cNvPr>
          <p:cNvSpPr txBox="1"/>
          <p:nvPr/>
        </p:nvSpPr>
        <p:spPr>
          <a:xfrm>
            <a:off x="3049401" y="556465"/>
            <a:ext cx="8062341" cy="1077218"/>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32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ניתוח ביקושים גאוגרפי –קהל היעד למניעה ותמרוץ ברמה הארצית והמקומית</a:t>
            </a:r>
            <a:endParaRPr kumimoji="0" lang="en-IL" sz="32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7" name="TextBox 6">
            <a:extLst>
              <a:ext uri="{FF2B5EF4-FFF2-40B4-BE49-F238E27FC236}">
                <a16:creationId xmlns:a16="http://schemas.microsoft.com/office/drawing/2014/main" id="{35D0AAB9-C379-40DE-8A7F-78B92974D6FB}"/>
              </a:ext>
            </a:extLst>
          </p:cNvPr>
          <p:cNvSpPr txBox="1"/>
          <p:nvPr/>
        </p:nvSpPr>
        <p:spPr>
          <a:xfrm>
            <a:off x="2606055" y="5874317"/>
            <a:ext cx="3051044" cy="34913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35718" tIns="35718" rIns="35718" bIns="35718" numCol="1" spcCol="38100" rtlCol="1" anchor="ctr">
            <a:spAutoFit/>
          </a:bodyPr>
          <a:lstStyle/>
          <a:p>
            <a:pPr marL="0" marR="0" lvl="0" indent="0" algn="ctr" defTabSz="410751" rtl="0" eaLnBrk="1" fontAlgn="auto" latinLnBrk="0" hangingPunct="0">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קהילות לרמות 1-2 תל אביב</a:t>
            </a:r>
            <a:endParaRPr kumimoji="0" lang="he-IL" sz="2400" b="1" i="0" u="none" strike="noStrike" kern="1200" cap="none" spc="0" normalizeH="0" baseline="0" noProof="0" dirty="0">
              <a:ln>
                <a:noFill/>
              </a:ln>
              <a:solidFill>
                <a:srgbClr val="000000"/>
              </a:solidFill>
              <a:effectLst/>
              <a:uLnTx/>
              <a:uFillTx/>
              <a:latin typeface="Helvetica Neue"/>
              <a:ea typeface="Helvetica Neue"/>
              <a:cs typeface="Helvetica Neue"/>
              <a:sym typeface="Helvetica Neue"/>
            </a:endParaRPr>
          </a:p>
        </p:txBody>
      </p:sp>
      <p:sp>
        <p:nvSpPr>
          <p:cNvPr id="8" name="מלבן 7"/>
          <p:cNvSpPr/>
          <p:nvPr/>
        </p:nvSpPr>
        <p:spPr>
          <a:xfrm>
            <a:off x="3093" y="0"/>
            <a:ext cx="244547" cy="6857999"/>
          </a:xfrm>
          <a:prstGeom prst="rect">
            <a:avLst/>
          </a:prstGeom>
          <a:solidFill>
            <a:srgbClr val="9DC3E6"/>
          </a:solidFill>
          <a:ln>
            <a:solidFill>
              <a:srgbClr val="8C8DC5"/>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Calibri" panose="020F0502020204030204"/>
              <a:ea typeface="+mn-ea"/>
              <a:cs typeface="Arial" panose="020B0604020202020204" pitchFamily="34" charset="0"/>
            </a:endParaRPr>
          </a:p>
        </p:txBody>
      </p:sp>
      <p:sp>
        <p:nvSpPr>
          <p:cNvPr id="9" name="TextBox 8"/>
          <p:cNvSpPr txBox="1"/>
          <p:nvPr/>
        </p:nvSpPr>
        <p:spPr>
          <a:xfrm rot="16200000">
            <a:off x="-503973" y="563419"/>
            <a:ext cx="1258678" cy="338554"/>
          </a:xfrm>
          <a:prstGeom prst="rect">
            <a:avLst/>
          </a:prstGeom>
          <a:noFill/>
        </p:spPr>
        <p:txBody>
          <a:bodyPr wrap="non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1"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קהילה לכולם</a:t>
            </a:r>
          </a:p>
        </p:txBody>
      </p:sp>
      <p:sp>
        <p:nvSpPr>
          <p:cNvPr id="10" name="מלבן 9"/>
          <p:cNvSpPr/>
          <p:nvPr/>
        </p:nvSpPr>
        <p:spPr>
          <a:xfrm>
            <a:off x="8454" y="0"/>
            <a:ext cx="244547" cy="6857999"/>
          </a:xfrm>
          <a:prstGeom prst="rect">
            <a:avLst/>
          </a:prstGeom>
          <a:solidFill>
            <a:srgbClr val="4472C4"/>
          </a:solidFill>
          <a:ln>
            <a:solidFill>
              <a:srgbClr val="8C8DC5"/>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Calibri" panose="020F0502020204030204"/>
              <a:ea typeface="+mn-ea"/>
              <a:cs typeface="Arial" panose="020B0604020202020204" pitchFamily="34" charset="0"/>
            </a:endParaRPr>
          </a:p>
        </p:txBody>
      </p:sp>
      <p:sp>
        <p:nvSpPr>
          <p:cNvPr id="11" name="TextBox 10"/>
          <p:cNvSpPr txBox="1"/>
          <p:nvPr/>
        </p:nvSpPr>
        <p:spPr>
          <a:xfrm rot="16200000">
            <a:off x="-498612" y="563419"/>
            <a:ext cx="1258678" cy="338554"/>
          </a:xfrm>
          <a:prstGeom prst="rect">
            <a:avLst/>
          </a:prstGeom>
          <a:noFill/>
        </p:spPr>
        <p:txBody>
          <a:bodyPr wrap="non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1"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קהילה לכולם</a:t>
            </a:r>
          </a:p>
        </p:txBody>
      </p:sp>
    </p:spTree>
    <p:extLst>
      <p:ext uri="{BB962C8B-B14F-4D97-AF65-F5344CB8AC3E}">
        <p14:creationId xmlns:p14="http://schemas.microsoft.com/office/powerpoint/2010/main" val="298174942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תיבת טקסט 12">
            <a:extLst>
              <a:ext uri="{FF2B5EF4-FFF2-40B4-BE49-F238E27FC236}">
                <a16:creationId xmlns:a16="http://schemas.microsoft.com/office/drawing/2014/main" id="{80D5ADAA-3FBC-4D74-9A48-A00B4388B9B9}"/>
              </a:ext>
            </a:extLst>
          </p:cNvPr>
          <p:cNvSpPr txBox="1"/>
          <p:nvPr/>
        </p:nvSpPr>
        <p:spPr>
          <a:xfrm>
            <a:off x="942136" y="1777529"/>
            <a:ext cx="7870105" cy="249914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1">
            <a:spAutoFit/>
          </a:bodyPr>
          <a:lstStyle/>
          <a:p>
            <a:pPr marL="0" marR="0" lvl="0" indent="0" algn="r" defTabSz="914400" rtl="1" eaLnBrk="1" fontAlgn="auto" latinLnBrk="0" hangingPunct="1">
              <a:lnSpc>
                <a:spcPct val="150000"/>
              </a:lnSpc>
              <a:spcBef>
                <a:spcPts val="0"/>
              </a:spcBef>
              <a:spcAft>
                <a:spcPts val="0"/>
              </a:spcAft>
              <a:buClrTx/>
              <a:buSzTx/>
              <a:buFontTx/>
              <a:buNone/>
              <a:tabLst/>
              <a:defRPr/>
            </a:pPr>
            <a:r>
              <a:rPr kumimoji="0" lang="he-IL" sz="3600" b="1" i="0" u="none" strike="noStrike" kern="1200" cap="none" spc="0" normalizeH="0" baseline="0" noProof="0" dirty="0">
                <a:ln>
                  <a:noFill/>
                </a:ln>
                <a:solidFill>
                  <a:prstClr val="black">
                    <a:lumMod val="65000"/>
                    <a:lumOff val="35000"/>
                  </a:prstClr>
                </a:solidFill>
                <a:effectLst/>
                <a:uLnTx/>
                <a:uFillTx/>
                <a:latin typeface="Assistant" pitchFamily="2" charset="-79"/>
                <a:ea typeface="+mn-ea"/>
                <a:cs typeface="Assistant" pitchFamily="2" charset="-79"/>
              </a:rPr>
              <a:t>איך מתמודדים עם האתגרים </a:t>
            </a:r>
            <a:br>
              <a:rPr kumimoji="0" lang="en-US" sz="3600" b="1" i="0" u="none" strike="noStrike" kern="1200" cap="none" spc="0" normalizeH="0" baseline="0" noProof="0" dirty="0">
                <a:ln>
                  <a:noFill/>
                </a:ln>
                <a:solidFill>
                  <a:prstClr val="black">
                    <a:lumMod val="65000"/>
                    <a:lumOff val="35000"/>
                  </a:prstClr>
                </a:solidFill>
                <a:effectLst/>
                <a:uLnTx/>
                <a:uFillTx/>
                <a:latin typeface="Assistant" pitchFamily="2" charset="-79"/>
                <a:ea typeface="+mn-ea"/>
                <a:cs typeface="Assistant" pitchFamily="2" charset="-79"/>
              </a:rPr>
            </a:br>
            <a:r>
              <a:rPr kumimoji="0" lang="he-IL" sz="3600" b="1" i="0" u="none" strike="noStrike" kern="1200" cap="none" spc="0" normalizeH="0" baseline="0" noProof="0" dirty="0">
                <a:ln>
                  <a:noFill/>
                </a:ln>
                <a:solidFill>
                  <a:prstClr val="black">
                    <a:lumMod val="65000"/>
                    <a:lumOff val="35000"/>
                  </a:prstClr>
                </a:solidFill>
                <a:effectLst/>
                <a:uLnTx/>
                <a:uFillTx/>
                <a:latin typeface="Assistant" pitchFamily="2" charset="-79"/>
                <a:ea typeface="+mn-ea"/>
                <a:cs typeface="Assistant" pitchFamily="2" charset="-79"/>
              </a:rPr>
              <a:t>על מנת שפנינה ומשפחתה </a:t>
            </a:r>
            <a:br>
              <a:rPr kumimoji="0" lang="en-US" sz="3600" b="1" i="0" u="none" strike="noStrike" kern="1200" cap="none" spc="0" normalizeH="0" baseline="0" noProof="0" dirty="0">
                <a:ln>
                  <a:noFill/>
                </a:ln>
                <a:solidFill>
                  <a:prstClr val="black">
                    <a:lumMod val="65000"/>
                    <a:lumOff val="35000"/>
                  </a:prstClr>
                </a:solidFill>
                <a:effectLst/>
                <a:uLnTx/>
                <a:uFillTx/>
                <a:latin typeface="Assistant" pitchFamily="2" charset="-79"/>
                <a:ea typeface="+mn-ea"/>
                <a:cs typeface="Assistant" pitchFamily="2" charset="-79"/>
              </a:rPr>
            </a:br>
            <a:r>
              <a:rPr kumimoji="0" lang="he-IL" sz="3600" b="1" i="0" u="none" strike="noStrike" kern="1200" cap="none" spc="0" normalizeH="0" baseline="0" noProof="0" dirty="0">
                <a:ln>
                  <a:noFill/>
                </a:ln>
                <a:solidFill>
                  <a:prstClr val="black">
                    <a:lumMod val="65000"/>
                    <a:lumOff val="35000"/>
                  </a:prstClr>
                </a:solidFill>
                <a:effectLst/>
                <a:uLnTx/>
                <a:uFillTx/>
                <a:latin typeface="Assistant" pitchFamily="2" charset="-79"/>
                <a:ea typeface="+mn-ea"/>
                <a:cs typeface="Assistant" pitchFamily="2" charset="-79"/>
              </a:rPr>
              <a:t> יקבלו מענה על הצרכים היומיומיים שלהם?</a:t>
            </a:r>
          </a:p>
        </p:txBody>
      </p:sp>
      <p:grpSp>
        <p:nvGrpSpPr>
          <p:cNvPr id="3" name="Group 2">
            <a:extLst>
              <a:ext uri="{FF2B5EF4-FFF2-40B4-BE49-F238E27FC236}">
                <a16:creationId xmlns:a16="http://schemas.microsoft.com/office/drawing/2014/main" id="{D5CA5DA8-6857-4668-9C0E-F00E1C6AAE64}"/>
              </a:ext>
            </a:extLst>
          </p:cNvPr>
          <p:cNvGrpSpPr>
            <a:grpSpLocks noChangeAspect="1"/>
          </p:cNvGrpSpPr>
          <p:nvPr/>
        </p:nvGrpSpPr>
        <p:grpSpPr>
          <a:xfrm>
            <a:off x="9130273" y="2094211"/>
            <a:ext cx="1992997" cy="1992997"/>
            <a:chOff x="3192463" y="4175125"/>
            <a:chExt cx="522288" cy="522288"/>
          </a:xfrm>
          <a:solidFill>
            <a:schemeClr val="accent1"/>
          </a:solidFill>
        </p:grpSpPr>
        <p:sp>
          <p:nvSpPr>
            <p:cNvPr id="4" name="Freeform 56">
              <a:extLst>
                <a:ext uri="{FF2B5EF4-FFF2-40B4-BE49-F238E27FC236}">
                  <a16:creationId xmlns:a16="http://schemas.microsoft.com/office/drawing/2014/main" id="{C97CFE28-13B2-4490-B69C-66EE852704FF}"/>
                </a:ext>
              </a:extLst>
            </p:cNvPr>
            <p:cNvSpPr>
              <a:spLocks noEditPoints="1"/>
            </p:cNvSpPr>
            <p:nvPr/>
          </p:nvSpPr>
          <p:spPr bwMode="auto">
            <a:xfrm>
              <a:off x="3192463" y="4175125"/>
              <a:ext cx="522288" cy="522288"/>
            </a:xfrm>
            <a:custGeom>
              <a:avLst/>
              <a:gdLst>
                <a:gd name="T0" fmla="*/ 312 w 659"/>
                <a:gd name="T1" fmla="*/ 657 h 657"/>
                <a:gd name="T2" fmla="*/ 264 w 659"/>
                <a:gd name="T3" fmla="*/ 650 h 657"/>
                <a:gd name="T4" fmla="*/ 202 w 659"/>
                <a:gd name="T5" fmla="*/ 632 h 657"/>
                <a:gd name="T6" fmla="*/ 120 w 659"/>
                <a:gd name="T7" fmla="*/ 582 h 657"/>
                <a:gd name="T8" fmla="*/ 57 w 659"/>
                <a:gd name="T9" fmla="*/ 512 h 657"/>
                <a:gd name="T10" fmla="*/ 15 w 659"/>
                <a:gd name="T11" fmla="*/ 426 h 657"/>
                <a:gd name="T12" fmla="*/ 4 w 659"/>
                <a:gd name="T13" fmla="*/ 379 h 657"/>
                <a:gd name="T14" fmla="*/ 0 w 659"/>
                <a:gd name="T15" fmla="*/ 328 h 657"/>
                <a:gd name="T16" fmla="*/ 2 w 659"/>
                <a:gd name="T17" fmla="*/ 294 h 657"/>
                <a:gd name="T18" fmla="*/ 11 w 659"/>
                <a:gd name="T19" fmla="*/ 246 h 657"/>
                <a:gd name="T20" fmla="*/ 41 w 659"/>
                <a:gd name="T21" fmla="*/ 172 h 657"/>
                <a:gd name="T22" fmla="*/ 97 w 659"/>
                <a:gd name="T23" fmla="*/ 96 h 657"/>
                <a:gd name="T24" fmla="*/ 172 w 659"/>
                <a:gd name="T25" fmla="*/ 39 h 657"/>
                <a:gd name="T26" fmla="*/ 248 w 659"/>
                <a:gd name="T27" fmla="*/ 10 h 657"/>
                <a:gd name="T28" fmla="*/ 296 w 659"/>
                <a:gd name="T29" fmla="*/ 2 h 657"/>
                <a:gd name="T30" fmla="*/ 330 w 659"/>
                <a:gd name="T31" fmla="*/ 0 h 657"/>
                <a:gd name="T32" fmla="*/ 379 w 659"/>
                <a:gd name="T33" fmla="*/ 3 h 657"/>
                <a:gd name="T34" fmla="*/ 428 w 659"/>
                <a:gd name="T35" fmla="*/ 15 h 657"/>
                <a:gd name="T36" fmla="*/ 514 w 659"/>
                <a:gd name="T37" fmla="*/ 57 h 657"/>
                <a:gd name="T38" fmla="*/ 583 w 659"/>
                <a:gd name="T39" fmla="*/ 120 h 657"/>
                <a:gd name="T40" fmla="*/ 632 w 659"/>
                <a:gd name="T41" fmla="*/ 200 h 657"/>
                <a:gd name="T42" fmla="*/ 652 w 659"/>
                <a:gd name="T43" fmla="*/ 262 h 657"/>
                <a:gd name="T44" fmla="*/ 657 w 659"/>
                <a:gd name="T45" fmla="*/ 312 h 657"/>
                <a:gd name="T46" fmla="*/ 657 w 659"/>
                <a:gd name="T47" fmla="*/ 346 h 657"/>
                <a:gd name="T48" fmla="*/ 652 w 659"/>
                <a:gd name="T49" fmla="*/ 395 h 657"/>
                <a:gd name="T50" fmla="*/ 632 w 659"/>
                <a:gd name="T51" fmla="*/ 457 h 657"/>
                <a:gd name="T52" fmla="*/ 583 w 659"/>
                <a:gd name="T53" fmla="*/ 538 h 657"/>
                <a:gd name="T54" fmla="*/ 514 w 659"/>
                <a:gd name="T55" fmla="*/ 601 h 657"/>
                <a:gd name="T56" fmla="*/ 428 w 659"/>
                <a:gd name="T57" fmla="*/ 642 h 657"/>
                <a:gd name="T58" fmla="*/ 379 w 659"/>
                <a:gd name="T59" fmla="*/ 653 h 657"/>
                <a:gd name="T60" fmla="*/ 330 w 659"/>
                <a:gd name="T61" fmla="*/ 657 h 657"/>
                <a:gd name="T62" fmla="*/ 330 w 659"/>
                <a:gd name="T63" fmla="*/ 38 h 657"/>
                <a:gd name="T64" fmla="*/ 244 w 659"/>
                <a:gd name="T65" fmla="*/ 50 h 657"/>
                <a:gd name="T66" fmla="*/ 167 w 659"/>
                <a:gd name="T67" fmla="*/ 88 h 657"/>
                <a:gd name="T68" fmla="*/ 105 w 659"/>
                <a:gd name="T69" fmla="*/ 144 h 657"/>
                <a:gd name="T70" fmla="*/ 61 w 659"/>
                <a:gd name="T71" fmla="*/ 215 h 657"/>
                <a:gd name="T72" fmla="*/ 39 w 659"/>
                <a:gd name="T73" fmla="*/ 298 h 657"/>
                <a:gd name="T74" fmla="*/ 39 w 659"/>
                <a:gd name="T75" fmla="*/ 359 h 657"/>
                <a:gd name="T76" fmla="*/ 61 w 659"/>
                <a:gd name="T77" fmla="*/ 442 h 657"/>
                <a:gd name="T78" fmla="*/ 105 w 659"/>
                <a:gd name="T79" fmla="*/ 513 h 657"/>
                <a:gd name="T80" fmla="*/ 167 w 659"/>
                <a:gd name="T81" fmla="*/ 570 h 657"/>
                <a:gd name="T82" fmla="*/ 244 w 659"/>
                <a:gd name="T83" fmla="*/ 606 h 657"/>
                <a:gd name="T84" fmla="*/ 330 w 659"/>
                <a:gd name="T85" fmla="*/ 620 h 657"/>
                <a:gd name="T86" fmla="*/ 389 w 659"/>
                <a:gd name="T87" fmla="*/ 614 h 657"/>
                <a:gd name="T88" fmla="*/ 468 w 659"/>
                <a:gd name="T89" fmla="*/ 585 h 657"/>
                <a:gd name="T90" fmla="*/ 535 w 659"/>
                <a:gd name="T91" fmla="*/ 535 h 657"/>
                <a:gd name="T92" fmla="*/ 585 w 659"/>
                <a:gd name="T93" fmla="*/ 468 h 657"/>
                <a:gd name="T94" fmla="*/ 614 w 659"/>
                <a:gd name="T95" fmla="*/ 387 h 657"/>
                <a:gd name="T96" fmla="*/ 621 w 659"/>
                <a:gd name="T97" fmla="*/ 328 h 657"/>
                <a:gd name="T98" fmla="*/ 608 w 659"/>
                <a:gd name="T99" fmla="*/ 242 h 657"/>
                <a:gd name="T100" fmla="*/ 571 w 659"/>
                <a:gd name="T101" fmla="*/ 166 h 657"/>
                <a:gd name="T102" fmla="*/ 515 w 659"/>
                <a:gd name="T103" fmla="*/ 104 h 657"/>
                <a:gd name="T104" fmla="*/ 442 w 659"/>
                <a:gd name="T105" fmla="*/ 61 h 657"/>
                <a:gd name="T106" fmla="*/ 359 w 659"/>
                <a:gd name="T107" fmla="*/ 39 h 6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659" h="657">
                  <a:moveTo>
                    <a:pt x="330" y="657"/>
                  </a:moveTo>
                  <a:lnTo>
                    <a:pt x="330" y="657"/>
                  </a:lnTo>
                  <a:lnTo>
                    <a:pt x="312" y="657"/>
                  </a:lnTo>
                  <a:lnTo>
                    <a:pt x="296" y="656"/>
                  </a:lnTo>
                  <a:lnTo>
                    <a:pt x="280" y="653"/>
                  </a:lnTo>
                  <a:lnTo>
                    <a:pt x="264" y="650"/>
                  </a:lnTo>
                  <a:lnTo>
                    <a:pt x="248" y="646"/>
                  </a:lnTo>
                  <a:lnTo>
                    <a:pt x="231" y="642"/>
                  </a:lnTo>
                  <a:lnTo>
                    <a:pt x="202" y="632"/>
                  </a:lnTo>
                  <a:lnTo>
                    <a:pt x="172" y="618"/>
                  </a:lnTo>
                  <a:lnTo>
                    <a:pt x="146" y="601"/>
                  </a:lnTo>
                  <a:lnTo>
                    <a:pt x="120" y="582"/>
                  </a:lnTo>
                  <a:lnTo>
                    <a:pt x="97" y="560"/>
                  </a:lnTo>
                  <a:lnTo>
                    <a:pt x="76" y="538"/>
                  </a:lnTo>
                  <a:lnTo>
                    <a:pt x="57" y="512"/>
                  </a:lnTo>
                  <a:lnTo>
                    <a:pt x="41" y="485"/>
                  </a:lnTo>
                  <a:lnTo>
                    <a:pt x="26" y="457"/>
                  </a:lnTo>
                  <a:lnTo>
                    <a:pt x="15" y="426"/>
                  </a:lnTo>
                  <a:lnTo>
                    <a:pt x="11" y="411"/>
                  </a:lnTo>
                  <a:lnTo>
                    <a:pt x="7" y="395"/>
                  </a:lnTo>
                  <a:lnTo>
                    <a:pt x="4" y="379"/>
                  </a:lnTo>
                  <a:lnTo>
                    <a:pt x="2" y="362"/>
                  </a:lnTo>
                  <a:lnTo>
                    <a:pt x="0" y="346"/>
                  </a:lnTo>
                  <a:lnTo>
                    <a:pt x="0" y="328"/>
                  </a:lnTo>
                  <a:lnTo>
                    <a:pt x="0" y="328"/>
                  </a:lnTo>
                  <a:lnTo>
                    <a:pt x="0" y="312"/>
                  </a:lnTo>
                  <a:lnTo>
                    <a:pt x="2" y="294"/>
                  </a:lnTo>
                  <a:lnTo>
                    <a:pt x="4" y="278"/>
                  </a:lnTo>
                  <a:lnTo>
                    <a:pt x="7" y="262"/>
                  </a:lnTo>
                  <a:lnTo>
                    <a:pt x="11" y="246"/>
                  </a:lnTo>
                  <a:lnTo>
                    <a:pt x="15" y="231"/>
                  </a:lnTo>
                  <a:lnTo>
                    <a:pt x="26" y="200"/>
                  </a:lnTo>
                  <a:lnTo>
                    <a:pt x="41" y="172"/>
                  </a:lnTo>
                  <a:lnTo>
                    <a:pt x="57" y="145"/>
                  </a:lnTo>
                  <a:lnTo>
                    <a:pt x="76" y="120"/>
                  </a:lnTo>
                  <a:lnTo>
                    <a:pt x="97" y="96"/>
                  </a:lnTo>
                  <a:lnTo>
                    <a:pt x="120" y="76"/>
                  </a:lnTo>
                  <a:lnTo>
                    <a:pt x="146" y="57"/>
                  </a:lnTo>
                  <a:lnTo>
                    <a:pt x="172" y="39"/>
                  </a:lnTo>
                  <a:lnTo>
                    <a:pt x="202" y="26"/>
                  </a:lnTo>
                  <a:lnTo>
                    <a:pt x="231" y="15"/>
                  </a:lnTo>
                  <a:lnTo>
                    <a:pt x="248" y="10"/>
                  </a:lnTo>
                  <a:lnTo>
                    <a:pt x="264" y="7"/>
                  </a:lnTo>
                  <a:lnTo>
                    <a:pt x="280" y="3"/>
                  </a:lnTo>
                  <a:lnTo>
                    <a:pt x="296" y="2"/>
                  </a:lnTo>
                  <a:lnTo>
                    <a:pt x="312" y="0"/>
                  </a:lnTo>
                  <a:lnTo>
                    <a:pt x="330" y="0"/>
                  </a:lnTo>
                  <a:lnTo>
                    <a:pt x="330" y="0"/>
                  </a:lnTo>
                  <a:lnTo>
                    <a:pt x="346" y="0"/>
                  </a:lnTo>
                  <a:lnTo>
                    <a:pt x="363" y="2"/>
                  </a:lnTo>
                  <a:lnTo>
                    <a:pt x="379" y="3"/>
                  </a:lnTo>
                  <a:lnTo>
                    <a:pt x="395" y="7"/>
                  </a:lnTo>
                  <a:lnTo>
                    <a:pt x="411" y="10"/>
                  </a:lnTo>
                  <a:lnTo>
                    <a:pt x="428" y="15"/>
                  </a:lnTo>
                  <a:lnTo>
                    <a:pt x="457" y="26"/>
                  </a:lnTo>
                  <a:lnTo>
                    <a:pt x="485" y="39"/>
                  </a:lnTo>
                  <a:lnTo>
                    <a:pt x="514" y="57"/>
                  </a:lnTo>
                  <a:lnTo>
                    <a:pt x="539" y="76"/>
                  </a:lnTo>
                  <a:lnTo>
                    <a:pt x="562" y="96"/>
                  </a:lnTo>
                  <a:lnTo>
                    <a:pt x="583" y="120"/>
                  </a:lnTo>
                  <a:lnTo>
                    <a:pt x="602" y="145"/>
                  </a:lnTo>
                  <a:lnTo>
                    <a:pt x="618" y="172"/>
                  </a:lnTo>
                  <a:lnTo>
                    <a:pt x="632" y="200"/>
                  </a:lnTo>
                  <a:lnTo>
                    <a:pt x="644" y="231"/>
                  </a:lnTo>
                  <a:lnTo>
                    <a:pt x="648" y="246"/>
                  </a:lnTo>
                  <a:lnTo>
                    <a:pt x="652" y="262"/>
                  </a:lnTo>
                  <a:lnTo>
                    <a:pt x="655" y="278"/>
                  </a:lnTo>
                  <a:lnTo>
                    <a:pt x="656" y="294"/>
                  </a:lnTo>
                  <a:lnTo>
                    <a:pt x="657" y="312"/>
                  </a:lnTo>
                  <a:lnTo>
                    <a:pt x="659" y="328"/>
                  </a:lnTo>
                  <a:lnTo>
                    <a:pt x="659" y="328"/>
                  </a:lnTo>
                  <a:lnTo>
                    <a:pt x="657" y="346"/>
                  </a:lnTo>
                  <a:lnTo>
                    <a:pt x="656" y="362"/>
                  </a:lnTo>
                  <a:lnTo>
                    <a:pt x="655" y="379"/>
                  </a:lnTo>
                  <a:lnTo>
                    <a:pt x="652" y="395"/>
                  </a:lnTo>
                  <a:lnTo>
                    <a:pt x="648" y="411"/>
                  </a:lnTo>
                  <a:lnTo>
                    <a:pt x="644" y="426"/>
                  </a:lnTo>
                  <a:lnTo>
                    <a:pt x="632" y="457"/>
                  </a:lnTo>
                  <a:lnTo>
                    <a:pt x="618" y="485"/>
                  </a:lnTo>
                  <a:lnTo>
                    <a:pt x="602" y="512"/>
                  </a:lnTo>
                  <a:lnTo>
                    <a:pt x="583" y="538"/>
                  </a:lnTo>
                  <a:lnTo>
                    <a:pt x="562" y="560"/>
                  </a:lnTo>
                  <a:lnTo>
                    <a:pt x="539" y="582"/>
                  </a:lnTo>
                  <a:lnTo>
                    <a:pt x="514" y="601"/>
                  </a:lnTo>
                  <a:lnTo>
                    <a:pt x="485" y="618"/>
                  </a:lnTo>
                  <a:lnTo>
                    <a:pt x="457" y="632"/>
                  </a:lnTo>
                  <a:lnTo>
                    <a:pt x="428" y="642"/>
                  </a:lnTo>
                  <a:lnTo>
                    <a:pt x="411" y="646"/>
                  </a:lnTo>
                  <a:lnTo>
                    <a:pt x="395" y="650"/>
                  </a:lnTo>
                  <a:lnTo>
                    <a:pt x="379" y="653"/>
                  </a:lnTo>
                  <a:lnTo>
                    <a:pt x="363" y="656"/>
                  </a:lnTo>
                  <a:lnTo>
                    <a:pt x="346" y="657"/>
                  </a:lnTo>
                  <a:lnTo>
                    <a:pt x="330" y="657"/>
                  </a:lnTo>
                  <a:lnTo>
                    <a:pt x="330" y="657"/>
                  </a:lnTo>
                  <a:close/>
                  <a:moveTo>
                    <a:pt x="330" y="38"/>
                  </a:moveTo>
                  <a:lnTo>
                    <a:pt x="330" y="38"/>
                  </a:lnTo>
                  <a:lnTo>
                    <a:pt x="300" y="39"/>
                  </a:lnTo>
                  <a:lnTo>
                    <a:pt x="270" y="43"/>
                  </a:lnTo>
                  <a:lnTo>
                    <a:pt x="244" y="50"/>
                  </a:lnTo>
                  <a:lnTo>
                    <a:pt x="217" y="61"/>
                  </a:lnTo>
                  <a:lnTo>
                    <a:pt x="191" y="73"/>
                  </a:lnTo>
                  <a:lnTo>
                    <a:pt x="167" y="88"/>
                  </a:lnTo>
                  <a:lnTo>
                    <a:pt x="144" y="104"/>
                  </a:lnTo>
                  <a:lnTo>
                    <a:pt x="124" y="123"/>
                  </a:lnTo>
                  <a:lnTo>
                    <a:pt x="105" y="144"/>
                  </a:lnTo>
                  <a:lnTo>
                    <a:pt x="88" y="166"/>
                  </a:lnTo>
                  <a:lnTo>
                    <a:pt x="73" y="190"/>
                  </a:lnTo>
                  <a:lnTo>
                    <a:pt x="61" y="215"/>
                  </a:lnTo>
                  <a:lnTo>
                    <a:pt x="51" y="242"/>
                  </a:lnTo>
                  <a:lnTo>
                    <a:pt x="45" y="270"/>
                  </a:lnTo>
                  <a:lnTo>
                    <a:pt x="39" y="298"/>
                  </a:lnTo>
                  <a:lnTo>
                    <a:pt x="38" y="328"/>
                  </a:lnTo>
                  <a:lnTo>
                    <a:pt x="38" y="328"/>
                  </a:lnTo>
                  <a:lnTo>
                    <a:pt x="39" y="359"/>
                  </a:lnTo>
                  <a:lnTo>
                    <a:pt x="45" y="387"/>
                  </a:lnTo>
                  <a:lnTo>
                    <a:pt x="51" y="415"/>
                  </a:lnTo>
                  <a:lnTo>
                    <a:pt x="61" y="442"/>
                  </a:lnTo>
                  <a:lnTo>
                    <a:pt x="73" y="468"/>
                  </a:lnTo>
                  <a:lnTo>
                    <a:pt x="88" y="492"/>
                  </a:lnTo>
                  <a:lnTo>
                    <a:pt x="105" y="513"/>
                  </a:lnTo>
                  <a:lnTo>
                    <a:pt x="124" y="535"/>
                  </a:lnTo>
                  <a:lnTo>
                    <a:pt x="144" y="554"/>
                  </a:lnTo>
                  <a:lnTo>
                    <a:pt x="167" y="570"/>
                  </a:lnTo>
                  <a:lnTo>
                    <a:pt x="191" y="585"/>
                  </a:lnTo>
                  <a:lnTo>
                    <a:pt x="217" y="597"/>
                  </a:lnTo>
                  <a:lnTo>
                    <a:pt x="244" y="606"/>
                  </a:lnTo>
                  <a:lnTo>
                    <a:pt x="270" y="614"/>
                  </a:lnTo>
                  <a:lnTo>
                    <a:pt x="300" y="618"/>
                  </a:lnTo>
                  <a:lnTo>
                    <a:pt x="330" y="620"/>
                  </a:lnTo>
                  <a:lnTo>
                    <a:pt x="330" y="620"/>
                  </a:lnTo>
                  <a:lnTo>
                    <a:pt x="359" y="618"/>
                  </a:lnTo>
                  <a:lnTo>
                    <a:pt x="389" y="614"/>
                  </a:lnTo>
                  <a:lnTo>
                    <a:pt x="415" y="606"/>
                  </a:lnTo>
                  <a:lnTo>
                    <a:pt x="442" y="597"/>
                  </a:lnTo>
                  <a:lnTo>
                    <a:pt x="468" y="585"/>
                  </a:lnTo>
                  <a:lnTo>
                    <a:pt x="492" y="570"/>
                  </a:lnTo>
                  <a:lnTo>
                    <a:pt x="515" y="554"/>
                  </a:lnTo>
                  <a:lnTo>
                    <a:pt x="535" y="535"/>
                  </a:lnTo>
                  <a:lnTo>
                    <a:pt x="554" y="513"/>
                  </a:lnTo>
                  <a:lnTo>
                    <a:pt x="571" y="492"/>
                  </a:lnTo>
                  <a:lnTo>
                    <a:pt x="585" y="468"/>
                  </a:lnTo>
                  <a:lnTo>
                    <a:pt x="598" y="442"/>
                  </a:lnTo>
                  <a:lnTo>
                    <a:pt x="608" y="415"/>
                  </a:lnTo>
                  <a:lnTo>
                    <a:pt x="614" y="387"/>
                  </a:lnTo>
                  <a:lnTo>
                    <a:pt x="620" y="359"/>
                  </a:lnTo>
                  <a:lnTo>
                    <a:pt x="621" y="328"/>
                  </a:lnTo>
                  <a:lnTo>
                    <a:pt x="621" y="328"/>
                  </a:lnTo>
                  <a:lnTo>
                    <a:pt x="620" y="298"/>
                  </a:lnTo>
                  <a:lnTo>
                    <a:pt x="614" y="270"/>
                  </a:lnTo>
                  <a:lnTo>
                    <a:pt x="608" y="242"/>
                  </a:lnTo>
                  <a:lnTo>
                    <a:pt x="598" y="215"/>
                  </a:lnTo>
                  <a:lnTo>
                    <a:pt x="585" y="190"/>
                  </a:lnTo>
                  <a:lnTo>
                    <a:pt x="571" y="166"/>
                  </a:lnTo>
                  <a:lnTo>
                    <a:pt x="554" y="144"/>
                  </a:lnTo>
                  <a:lnTo>
                    <a:pt x="535" y="123"/>
                  </a:lnTo>
                  <a:lnTo>
                    <a:pt x="515" y="104"/>
                  </a:lnTo>
                  <a:lnTo>
                    <a:pt x="492" y="88"/>
                  </a:lnTo>
                  <a:lnTo>
                    <a:pt x="468" y="73"/>
                  </a:lnTo>
                  <a:lnTo>
                    <a:pt x="442" y="61"/>
                  </a:lnTo>
                  <a:lnTo>
                    <a:pt x="415" y="50"/>
                  </a:lnTo>
                  <a:lnTo>
                    <a:pt x="389" y="43"/>
                  </a:lnTo>
                  <a:lnTo>
                    <a:pt x="359" y="39"/>
                  </a:lnTo>
                  <a:lnTo>
                    <a:pt x="330" y="38"/>
                  </a:lnTo>
                  <a:lnTo>
                    <a:pt x="330" y="3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ssistant" pitchFamily="2" charset="-79"/>
                <a:ea typeface="+mn-ea"/>
                <a:cs typeface="Assistant" pitchFamily="2" charset="-79"/>
              </a:endParaRPr>
            </a:p>
          </p:txBody>
        </p:sp>
        <p:sp>
          <p:nvSpPr>
            <p:cNvPr id="5" name="Freeform 269">
              <a:extLst>
                <a:ext uri="{FF2B5EF4-FFF2-40B4-BE49-F238E27FC236}">
                  <a16:creationId xmlns:a16="http://schemas.microsoft.com/office/drawing/2014/main" id="{F7CFBDE5-1577-4ABB-A748-279829A39FF2}"/>
                </a:ext>
              </a:extLst>
            </p:cNvPr>
            <p:cNvSpPr>
              <a:spLocks/>
            </p:cNvSpPr>
            <p:nvPr/>
          </p:nvSpPr>
          <p:spPr bwMode="auto">
            <a:xfrm>
              <a:off x="3411538" y="4537075"/>
              <a:ext cx="85725" cy="39688"/>
            </a:xfrm>
            <a:custGeom>
              <a:avLst/>
              <a:gdLst>
                <a:gd name="T0" fmla="*/ 54 w 107"/>
                <a:gd name="T1" fmla="*/ 50 h 50"/>
                <a:gd name="T2" fmla="*/ 54 w 107"/>
                <a:gd name="T3" fmla="*/ 50 h 50"/>
                <a:gd name="T4" fmla="*/ 64 w 107"/>
                <a:gd name="T5" fmla="*/ 48 h 50"/>
                <a:gd name="T6" fmla="*/ 74 w 107"/>
                <a:gd name="T7" fmla="*/ 46 h 50"/>
                <a:gd name="T8" fmla="*/ 82 w 107"/>
                <a:gd name="T9" fmla="*/ 40 h 50"/>
                <a:gd name="T10" fmla="*/ 90 w 107"/>
                <a:gd name="T11" fmla="*/ 35 h 50"/>
                <a:gd name="T12" fmla="*/ 97 w 107"/>
                <a:gd name="T13" fmla="*/ 28 h 50"/>
                <a:gd name="T14" fmla="*/ 102 w 107"/>
                <a:gd name="T15" fmla="*/ 20 h 50"/>
                <a:gd name="T16" fmla="*/ 106 w 107"/>
                <a:gd name="T17" fmla="*/ 11 h 50"/>
                <a:gd name="T18" fmla="*/ 107 w 107"/>
                <a:gd name="T19" fmla="*/ 0 h 50"/>
                <a:gd name="T20" fmla="*/ 0 w 107"/>
                <a:gd name="T21" fmla="*/ 0 h 50"/>
                <a:gd name="T22" fmla="*/ 0 w 107"/>
                <a:gd name="T23" fmla="*/ 0 h 50"/>
                <a:gd name="T24" fmla="*/ 1 w 107"/>
                <a:gd name="T25" fmla="*/ 11 h 50"/>
                <a:gd name="T26" fmla="*/ 5 w 107"/>
                <a:gd name="T27" fmla="*/ 20 h 50"/>
                <a:gd name="T28" fmla="*/ 11 w 107"/>
                <a:gd name="T29" fmla="*/ 28 h 50"/>
                <a:gd name="T30" fmla="*/ 17 w 107"/>
                <a:gd name="T31" fmla="*/ 35 h 50"/>
                <a:gd name="T32" fmla="*/ 25 w 107"/>
                <a:gd name="T33" fmla="*/ 40 h 50"/>
                <a:gd name="T34" fmla="*/ 33 w 107"/>
                <a:gd name="T35" fmla="*/ 46 h 50"/>
                <a:gd name="T36" fmla="*/ 43 w 107"/>
                <a:gd name="T37" fmla="*/ 48 h 50"/>
                <a:gd name="T38" fmla="*/ 54 w 107"/>
                <a:gd name="T39" fmla="*/ 50 h 50"/>
                <a:gd name="T40" fmla="*/ 54 w 107"/>
                <a:gd name="T41" fmla="*/ 50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07" h="50">
                  <a:moveTo>
                    <a:pt x="54" y="50"/>
                  </a:moveTo>
                  <a:lnTo>
                    <a:pt x="54" y="50"/>
                  </a:lnTo>
                  <a:lnTo>
                    <a:pt x="64" y="48"/>
                  </a:lnTo>
                  <a:lnTo>
                    <a:pt x="74" y="46"/>
                  </a:lnTo>
                  <a:lnTo>
                    <a:pt x="82" y="40"/>
                  </a:lnTo>
                  <a:lnTo>
                    <a:pt x="90" y="35"/>
                  </a:lnTo>
                  <a:lnTo>
                    <a:pt x="97" y="28"/>
                  </a:lnTo>
                  <a:lnTo>
                    <a:pt x="102" y="20"/>
                  </a:lnTo>
                  <a:lnTo>
                    <a:pt x="106" y="11"/>
                  </a:lnTo>
                  <a:lnTo>
                    <a:pt x="107" y="0"/>
                  </a:lnTo>
                  <a:lnTo>
                    <a:pt x="0" y="0"/>
                  </a:lnTo>
                  <a:lnTo>
                    <a:pt x="0" y="0"/>
                  </a:lnTo>
                  <a:lnTo>
                    <a:pt x="1" y="11"/>
                  </a:lnTo>
                  <a:lnTo>
                    <a:pt x="5" y="20"/>
                  </a:lnTo>
                  <a:lnTo>
                    <a:pt x="11" y="28"/>
                  </a:lnTo>
                  <a:lnTo>
                    <a:pt x="17" y="35"/>
                  </a:lnTo>
                  <a:lnTo>
                    <a:pt x="25" y="40"/>
                  </a:lnTo>
                  <a:lnTo>
                    <a:pt x="33" y="46"/>
                  </a:lnTo>
                  <a:lnTo>
                    <a:pt x="43" y="48"/>
                  </a:lnTo>
                  <a:lnTo>
                    <a:pt x="54" y="50"/>
                  </a:lnTo>
                  <a:lnTo>
                    <a:pt x="54" y="5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ssistant" pitchFamily="2" charset="-79"/>
                <a:ea typeface="+mn-ea"/>
                <a:cs typeface="Assistant" pitchFamily="2" charset="-79"/>
              </a:endParaRPr>
            </a:p>
          </p:txBody>
        </p:sp>
        <p:sp>
          <p:nvSpPr>
            <p:cNvPr id="6" name="Freeform 270">
              <a:extLst>
                <a:ext uri="{FF2B5EF4-FFF2-40B4-BE49-F238E27FC236}">
                  <a16:creationId xmlns:a16="http://schemas.microsoft.com/office/drawing/2014/main" id="{475816FB-FDAD-4E44-86C9-FAFA9341D8D3}"/>
                </a:ext>
              </a:extLst>
            </p:cNvPr>
            <p:cNvSpPr>
              <a:spLocks/>
            </p:cNvSpPr>
            <p:nvPr/>
          </p:nvSpPr>
          <p:spPr bwMode="auto">
            <a:xfrm>
              <a:off x="3359151" y="4314825"/>
              <a:ext cx="190500" cy="209550"/>
            </a:xfrm>
            <a:custGeom>
              <a:avLst/>
              <a:gdLst>
                <a:gd name="T0" fmla="*/ 106 w 239"/>
                <a:gd name="T1" fmla="*/ 0 h 265"/>
                <a:gd name="T2" fmla="*/ 86 w 239"/>
                <a:gd name="T3" fmla="*/ 4 h 265"/>
                <a:gd name="T4" fmla="*/ 52 w 239"/>
                <a:gd name="T5" fmla="*/ 20 h 265"/>
                <a:gd name="T6" fmla="*/ 24 w 239"/>
                <a:gd name="T7" fmla="*/ 47 h 265"/>
                <a:gd name="T8" fmla="*/ 7 w 239"/>
                <a:gd name="T9" fmla="*/ 81 h 265"/>
                <a:gd name="T10" fmla="*/ 1 w 239"/>
                <a:gd name="T11" fmla="*/ 100 h 265"/>
                <a:gd name="T12" fmla="*/ 0 w 239"/>
                <a:gd name="T13" fmla="*/ 110 h 265"/>
                <a:gd name="T14" fmla="*/ 1 w 239"/>
                <a:gd name="T15" fmla="*/ 139 h 265"/>
                <a:gd name="T16" fmla="*/ 13 w 239"/>
                <a:gd name="T17" fmla="*/ 175 h 265"/>
                <a:gd name="T18" fmla="*/ 36 w 239"/>
                <a:gd name="T19" fmla="*/ 203 h 265"/>
                <a:gd name="T20" fmla="*/ 66 w 239"/>
                <a:gd name="T21" fmla="*/ 225 h 265"/>
                <a:gd name="T22" fmla="*/ 114 w 239"/>
                <a:gd name="T23" fmla="*/ 265 h 265"/>
                <a:gd name="T24" fmla="*/ 114 w 239"/>
                <a:gd name="T25" fmla="*/ 151 h 265"/>
                <a:gd name="T26" fmla="*/ 90 w 239"/>
                <a:gd name="T27" fmla="*/ 145 h 265"/>
                <a:gd name="T28" fmla="*/ 71 w 239"/>
                <a:gd name="T29" fmla="*/ 131 h 265"/>
                <a:gd name="T30" fmla="*/ 59 w 239"/>
                <a:gd name="T31" fmla="*/ 110 h 265"/>
                <a:gd name="T32" fmla="*/ 55 w 239"/>
                <a:gd name="T33" fmla="*/ 86 h 265"/>
                <a:gd name="T34" fmla="*/ 55 w 239"/>
                <a:gd name="T35" fmla="*/ 75 h 265"/>
                <a:gd name="T36" fmla="*/ 74 w 239"/>
                <a:gd name="T37" fmla="*/ 78 h 265"/>
                <a:gd name="T38" fmla="*/ 90 w 239"/>
                <a:gd name="T39" fmla="*/ 86 h 265"/>
                <a:gd name="T40" fmla="*/ 105 w 239"/>
                <a:gd name="T41" fmla="*/ 98 h 265"/>
                <a:gd name="T42" fmla="*/ 114 w 239"/>
                <a:gd name="T43" fmla="*/ 114 h 265"/>
                <a:gd name="T44" fmla="*/ 114 w 239"/>
                <a:gd name="T45" fmla="*/ 54 h 265"/>
                <a:gd name="T46" fmla="*/ 115 w 239"/>
                <a:gd name="T47" fmla="*/ 50 h 265"/>
                <a:gd name="T48" fmla="*/ 120 w 239"/>
                <a:gd name="T49" fmla="*/ 49 h 265"/>
                <a:gd name="T50" fmla="*/ 121 w 239"/>
                <a:gd name="T51" fmla="*/ 49 h 265"/>
                <a:gd name="T52" fmla="*/ 125 w 239"/>
                <a:gd name="T53" fmla="*/ 51 h 265"/>
                <a:gd name="T54" fmla="*/ 125 w 239"/>
                <a:gd name="T55" fmla="*/ 157 h 265"/>
                <a:gd name="T56" fmla="*/ 129 w 239"/>
                <a:gd name="T57" fmla="*/ 149 h 265"/>
                <a:gd name="T58" fmla="*/ 141 w 239"/>
                <a:gd name="T59" fmla="*/ 136 h 265"/>
                <a:gd name="T60" fmla="*/ 157 w 239"/>
                <a:gd name="T61" fmla="*/ 125 h 265"/>
                <a:gd name="T62" fmla="*/ 175 w 239"/>
                <a:gd name="T63" fmla="*/ 120 h 265"/>
                <a:gd name="T64" fmla="*/ 184 w 239"/>
                <a:gd name="T65" fmla="*/ 129 h 265"/>
                <a:gd name="T66" fmla="*/ 183 w 239"/>
                <a:gd name="T67" fmla="*/ 143 h 265"/>
                <a:gd name="T68" fmla="*/ 175 w 239"/>
                <a:gd name="T69" fmla="*/ 164 h 265"/>
                <a:gd name="T70" fmla="*/ 158 w 239"/>
                <a:gd name="T71" fmla="*/ 182 h 265"/>
                <a:gd name="T72" fmla="*/ 137 w 239"/>
                <a:gd name="T73" fmla="*/ 192 h 265"/>
                <a:gd name="T74" fmla="*/ 125 w 239"/>
                <a:gd name="T75" fmla="*/ 265 h 265"/>
                <a:gd name="T76" fmla="*/ 173 w 239"/>
                <a:gd name="T77" fmla="*/ 225 h 265"/>
                <a:gd name="T78" fmla="*/ 188 w 239"/>
                <a:gd name="T79" fmla="*/ 217 h 265"/>
                <a:gd name="T80" fmla="*/ 211 w 239"/>
                <a:gd name="T81" fmla="*/ 195 h 265"/>
                <a:gd name="T82" fmla="*/ 228 w 239"/>
                <a:gd name="T83" fmla="*/ 168 h 265"/>
                <a:gd name="T84" fmla="*/ 238 w 239"/>
                <a:gd name="T85" fmla="*/ 136 h 265"/>
                <a:gd name="T86" fmla="*/ 239 w 239"/>
                <a:gd name="T87" fmla="*/ 118 h 265"/>
                <a:gd name="T88" fmla="*/ 236 w 239"/>
                <a:gd name="T89" fmla="*/ 93 h 265"/>
                <a:gd name="T90" fmla="*/ 228 w 239"/>
                <a:gd name="T91" fmla="*/ 70 h 265"/>
                <a:gd name="T92" fmla="*/ 215 w 239"/>
                <a:gd name="T93" fmla="*/ 49 h 265"/>
                <a:gd name="T94" fmla="*/ 199 w 239"/>
                <a:gd name="T95" fmla="*/ 30 h 265"/>
                <a:gd name="T96" fmla="*/ 180 w 239"/>
                <a:gd name="T97" fmla="*/ 16 h 265"/>
                <a:gd name="T98" fmla="*/ 157 w 239"/>
                <a:gd name="T99" fmla="*/ 6 h 265"/>
                <a:gd name="T100" fmla="*/ 132 w 239"/>
                <a:gd name="T101" fmla="*/ 0 h 265"/>
                <a:gd name="T102" fmla="*/ 106 w 239"/>
                <a:gd name="T103" fmla="*/ 0 h 2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39" h="265">
                  <a:moveTo>
                    <a:pt x="106" y="0"/>
                  </a:moveTo>
                  <a:lnTo>
                    <a:pt x="106" y="0"/>
                  </a:lnTo>
                  <a:lnTo>
                    <a:pt x="95" y="2"/>
                  </a:lnTo>
                  <a:lnTo>
                    <a:pt x="86" y="4"/>
                  </a:lnTo>
                  <a:lnTo>
                    <a:pt x="68" y="11"/>
                  </a:lnTo>
                  <a:lnTo>
                    <a:pt x="52" y="20"/>
                  </a:lnTo>
                  <a:lnTo>
                    <a:pt x="38" y="32"/>
                  </a:lnTo>
                  <a:lnTo>
                    <a:pt x="24" y="47"/>
                  </a:lnTo>
                  <a:lnTo>
                    <a:pt x="13" y="63"/>
                  </a:lnTo>
                  <a:lnTo>
                    <a:pt x="7" y="81"/>
                  </a:lnTo>
                  <a:lnTo>
                    <a:pt x="4" y="90"/>
                  </a:lnTo>
                  <a:lnTo>
                    <a:pt x="1" y="100"/>
                  </a:lnTo>
                  <a:lnTo>
                    <a:pt x="1" y="100"/>
                  </a:lnTo>
                  <a:lnTo>
                    <a:pt x="0" y="110"/>
                  </a:lnTo>
                  <a:lnTo>
                    <a:pt x="0" y="120"/>
                  </a:lnTo>
                  <a:lnTo>
                    <a:pt x="1" y="139"/>
                  </a:lnTo>
                  <a:lnTo>
                    <a:pt x="7" y="157"/>
                  </a:lnTo>
                  <a:lnTo>
                    <a:pt x="13" y="175"/>
                  </a:lnTo>
                  <a:lnTo>
                    <a:pt x="24" y="190"/>
                  </a:lnTo>
                  <a:lnTo>
                    <a:pt x="36" y="203"/>
                  </a:lnTo>
                  <a:lnTo>
                    <a:pt x="50" y="215"/>
                  </a:lnTo>
                  <a:lnTo>
                    <a:pt x="66" y="225"/>
                  </a:lnTo>
                  <a:lnTo>
                    <a:pt x="66" y="265"/>
                  </a:lnTo>
                  <a:lnTo>
                    <a:pt x="114" y="265"/>
                  </a:lnTo>
                  <a:lnTo>
                    <a:pt x="114" y="151"/>
                  </a:lnTo>
                  <a:lnTo>
                    <a:pt x="114" y="151"/>
                  </a:lnTo>
                  <a:lnTo>
                    <a:pt x="102" y="149"/>
                  </a:lnTo>
                  <a:lnTo>
                    <a:pt x="90" y="145"/>
                  </a:lnTo>
                  <a:lnTo>
                    <a:pt x="81" y="139"/>
                  </a:lnTo>
                  <a:lnTo>
                    <a:pt x="71" y="131"/>
                  </a:lnTo>
                  <a:lnTo>
                    <a:pt x="64" y="121"/>
                  </a:lnTo>
                  <a:lnTo>
                    <a:pt x="59" y="110"/>
                  </a:lnTo>
                  <a:lnTo>
                    <a:pt x="55" y="98"/>
                  </a:lnTo>
                  <a:lnTo>
                    <a:pt x="55" y="86"/>
                  </a:lnTo>
                  <a:lnTo>
                    <a:pt x="55" y="75"/>
                  </a:lnTo>
                  <a:lnTo>
                    <a:pt x="55" y="75"/>
                  </a:lnTo>
                  <a:lnTo>
                    <a:pt x="64" y="77"/>
                  </a:lnTo>
                  <a:lnTo>
                    <a:pt x="74" y="78"/>
                  </a:lnTo>
                  <a:lnTo>
                    <a:pt x="82" y="82"/>
                  </a:lnTo>
                  <a:lnTo>
                    <a:pt x="90" y="86"/>
                  </a:lnTo>
                  <a:lnTo>
                    <a:pt x="98" y="92"/>
                  </a:lnTo>
                  <a:lnTo>
                    <a:pt x="105" y="98"/>
                  </a:lnTo>
                  <a:lnTo>
                    <a:pt x="110" y="106"/>
                  </a:lnTo>
                  <a:lnTo>
                    <a:pt x="114" y="114"/>
                  </a:lnTo>
                  <a:lnTo>
                    <a:pt x="114" y="54"/>
                  </a:lnTo>
                  <a:lnTo>
                    <a:pt x="114" y="54"/>
                  </a:lnTo>
                  <a:lnTo>
                    <a:pt x="114" y="51"/>
                  </a:lnTo>
                  <a:lnTo>
                    <a:pt x="115" y="50"/>
                  </a:lnTo>
                  <a:lnTo>
                    <a:pt x="117" y="49"/>
                  </a:lnTo>
                  <a:lnTo>
                    <a:pt x="120" y="49"/>
                  </a:lnTo>
                  <a:lnTo>
                    <a:pt x="120" y="49"/>
                  </a:lnTo>
                  <a:lnTo>
                    <a:pt x="121" y="49"/>
                  </a:lnTo>
                  <a:lnTo>
                    <a:pt x="124" y="50"/>
                  </a:lnTo>
                  <a:lnTo>
                    <a:pt x="125" y="51"/>
                  </a:lnTo>
                  <a:lnTo>
                    <a:pt x="125" y="54"/>
                  </a:lnTo>
                  <a:lnTo>
                    <a:pt x="125" y="157"/>
                  </a:lnTo>
                  <a:lnTo>
                    <a:pt x="125" y="157"/>
                  </a:lnTo>
                  <a:lnTo>
                    <a:pt x="129" y="149"/>
                  </a:lnTo>
                  <a:lnTo>
                    <a:pt x="134" y="143"/>
                  </a:lnTo>
                  <a:lnTo>
                    <a:pt x="141" y="136"/>
                  </a:lnTo>
                  <a:lnTo>
                    <a:pt x="148" y="129"/>
                  </a:lnTo>
                  <a:lnTo>
                    <a:pt x="157" y="125"/>
                  </a:lnTo>
                  <a:lnTo>
                    <a:pt x="165" y="121"/>
                  </a:lnTo>
                  <a:lnTo>
                    <a:pt x="175" y="120"/>
                  </a:lnTo>
                  <a:lnTo>
                    <a:pt x="184" y="118"/>
                  </a:lnTo>
                  <a:lnTo>
                    <a:pt x="184" y="129"/>
                  </a:lnTo>
                  <a:lnTo>
                    <a:pt x="184" y="129"/>
                  </a:lnTo>
                  <a:lnTo>
                    <a:pt x="183" y="143"/>
                  </a:lnTo>
                  <a:lnTo>
                    <a:pt x="180" y="153"/>
                  </a:lnTo>
                  <a:lnTo>
                    <a:pt x="175" y="164"/>
                  </a:lnTo>
                  <a:lnTo>
                    <a:pt x="167" y="174"/>
                  </a:lnTo>
                  <a:lnTo>
                    <a:pt x="158" y="182"/>
                  </a:lnTo>
                  <a:lnTo>
                    <a:pt x="148" y="188"/>
                  </a:lnTo>
                  <a:lnTo>
                    <a:pt x="137" y="192"/>
                  </a:lnTo>
                  <a:lnTo>
                    <a:pt x="125" y="195"/>
                  </a:lnTo>
                  <a:lnTo>
                    <a:pt x="125" y="265"/>
                  </a:lnTo>
                  <a:lnTo>
                    <a:pt x="173" y="265"/>
                  </a:lnTo>
                  <a:lnTo>
                    <a:pt x="173" y="225"/>
                  </a:lnTo>
                  <a:lnTo>
                    <a:pt x="173" y="225"/>
                  </a:lnTo>
                  <a:lnTo>
                    <a:pt x="188" y="217"/>
                  </a:lnTo>
                  <a:lnTo>
                    <a:pt x="200" y="207"/>
                  </a:lnTo>
                  <a:lnTo>
                    <a:pt x="211" y="195"/>
                  </a:lnTo>
                  <a:lnTo>
                    <a:pt x="220" y="182"/>
                  </a:lnTo>
                  <a:lnTo>
                    <a:pt x="228" y="168"/>
                  </a:lnTo>
                  <a:lnTo>
                    <a:pt x="234" y="152"/>
                  </a:lnTo>
                  <a:lnTo>
                    <a:pt x="238" y="136"/>
                  </a:lnTo>
                  <a:lnTo>
                    <a:pt x="239" y="118"/>
                  </a:lnTo>
                  <a:lnTo>
                    <a:pt x="239" y="118"/>
                  </a:lnTo>
                  <a:lnTo>
                    <a:pt x="238" y="106"/>
                  </a:lnTo>
                  <a:lnTo>
                    <a:pt x="236" y="93"/>
                  </a:lnTo>
                  <a:lnTo>
                    <a:pt x="232" y="81"/>
                  </a:lnTo>
                  <a:lnTo>
                    <a:pt x="228" y="70"/>
                  </a:lnTo>
                  <a:lnTo>
                    <a:pt x="222" y="59"/>
                  </a:lnTo>
                  <a:lnTo>
                    <a:pt x="215" y="49"/>
                  </a:lnTo>
                  <a:lnTo>
                    <a:pt x="208" y="39"/>
                  </a:lnTo>
                  <a:lnTo>
                    <a:pt x="199" y="30"/>
                  </a:lnTo>
                  <a:lnTo>
                    <a:pt x="189" y="23"/>
                  </a:lnTo>
                  <a:lnTo>
                    <a:pt x="180" y="16"/>
                  </a:lnTo>
                  <a:lnTo>
                    <a:pt x="168" y="10"/>
                  </a:lnTo>
                  <a:lnTo>
                    <a:pt x="157" y="6"/>
                  </a:lnTo>
                  <a:lnTo>
                    <a:pt x="145" y="3"/>
                  </a:lnTo>
                  <a:lnTo>
                    <a:pt x="132" y="0"/>
                  </a:lnTo>
                  <a:lnTo>
                    <a:pt x="120" y="0"/>
                  </a:lnTo>
                  <a:lnTo>
                    <a:pt x="106" y="0"/>
                  </a:lnTo>
                  <a:lnTo>
                    <a:pt x="106"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ssistant" pitchFamily="2" charset="-79"/>
                <a:ea typeface="+mn-ea"/>
                <a:cs typeface="Assistant" pitchFamily="2" charset="-79"/>
              </a:endParaRPr>
            </a:p>
          </p:txBody>
        </p:sp>
      </p:grpSp>
    </p:spTree>
    <p:extLst>
      <p:ext uri="{BB962C8B-B14F-4D97-AF65-F5344CB8AC3E}">
        <p14:creationId xmlns:p14="http://schemas.microsoft.com/office/powerpoint/2010/main" val="262034873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D4A5461-BA89-4815-B878-B0B361FD351D}"/>
              </a:ext>
            </a:extLst>
          </p:cNvPr>
          <p:cNvPicPr>
            <a:picLocks noChangeAspect="1"/>
          </p:cNvPicPr>
          <p:nvPr/>
        </p:nvPicPr>
        <p:blipFill rotWithShape="1">
          <a:blip r:embed="rId2" cstate="screen">
            <a:duotone>
              <a:prstClr val="black"/>
              <a:schemeClr val="accent1">
                <a:tint val="45000"/>
                <a:satMod val="400000"/>
              </a:schemeClr>
            </a:duotone>
            <a:extLst>
              <a:ext uri="{28A0092B-C50C-407E-A947-70E740481C1C}">
                <a14:useLocalDpi xmlns:a14="http://schemas.microsoft.com/office/drawing/2010/main"/>
              </a:ext>
            </a:extLst>
          </a:blip>
          <a:srcRect/>
          <a:stretch/>
        </p:blipFill>
        <p:spPr>
          <a:xfrm>
            <a:off x="-1" y="-81023"/>
            <a:ext cx="12192001" cy="6939023"/>
          </a:xfrm>
          <a:prstGeom prst="rect">
            <a:avLst/>
          </a:prstGeom>
          <a:noFill/>
        </p:spPr>
      </p:pic>
      <p:sp>
        <p:nvSpPr>
          <p:cNvPr id="4" name="Rectangle 3">
            <a:extLst>
              <a:ext uri="{FF2B5EF4-FFF2-40B4-BE49-F238E27FC236}">
                <a16:creationId xmlns:a16="http://schemas.microsoft.com/office/drawing/2014/main" id="{5F197EF3-6EA1-4DEA-850B-B06D98EDF6EE}"/>
              </a:ext>
            </a:extLst>
          </p:cNvPr>
          <p:cNvSpPr/>
          <p:nvPr/>
        </p:nvSpPr>
        <p:spPr>
          <a:xfrm>
            <a:off x="-3" y="-81022"/>
            <a:ext cx="12192001" cy="6947490"/>
          </a:xfrm>
          <a:prstGeom prst="rect">
            <a:avLst/>
          </a:prstGeom>
          <a:gradFill flip="none" rotWithShape="1">
            <a:gsLst>
              <a:gs pos="0">
                <a:schemeClr val="accent1">
                  <a:alpha val="41000"/>
                  <a:lumMod val="70000"/>
                  <a:lumOff val="30000"/>
                </a:schemeClr>
              </a:gs>
              <a:gs pos="50000">
                <a:srgbClr val="F8FCFF">
                  <a:alpha val="46000"/>
                </a:srgbClr>
              </a:gs>
              <a:gs pos="100000">
                <a:schemeClr val="bg1"/>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4000" b="0" i="0" u="none" strike="noStrike" kern="1200" cap="none" spc="0" normalizeH="0" baseline="0" noProof="0" dirty="0">
              <a:ln>
                <a:noFill/>
              </a:ln>
              <a:solidFill>
                <a:prstClr val="white"/>
              </a:solidFill>
              <a:effectLst/>
              <a:uLnTx/>
              <a:uFillTx/>
              <a:latin typeface="Assistant" pitchFamily="2" charset="-79"/>
              <a:ea typeface="+mn-ea"/>
              <a:cs typeface="Assistant" pitchFamily="2" charset="-79"/>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4000" b="0" i="0" u="none" strike="noStrike" kern="1200" cap="none" spc="0" normalizeH="0" baseline="0" noProof="0" dirty="0">
              <a:ln>
                <a:noFill/>
              </a:ln>
              <a:solidFill>
                <a:prstClr val="white"/>
              </a:solidFill>
              <a:effectLst/>
              <a:uLnTx/>
              <a:uFillTx/>
              <a:latin typeface="Assistant" pitchFamily="2" charset="-79"/>
              <a:ea typeface="+mn-ea"/>
              <a:cs typeface="Assistant" pitchFamily="2" charset="-79"/>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4000" b="0" i="0" u="none" strike="noStrike" kern="1200" cap="none" spc="0" normalizeH="0" baseline="0" noProof="0" dirty="0">
              <a:ln>
                <a:noFill/>
              </a:ln>
              <a:solidFill>
                <a:prstClr val="white"/>
              </a:solidFill>
              <a:effectLst/>
              <a:uLnTx/>
              <a:uFillTx/>
              <a:latin typeface="Assistant" pitchFamily="2" charset="-79"/>
              <a:ea typeface="+mn-ea"/>
              <a:cs typeface="Assistant" pitchFamily="2" charset="-79"/>
            </a:endParaRPr>
          </a:p>
          <a:p>
            <a:pPr marL="0" marR="0" lvl="0" indent="0" algn="ctr" defTabSz="914400" eaLnBrk="1" fontAlgn="auto" latinLnBrk="0" hangingPunct="1">
              <a:lnSpc>
                <a:spcPct val="100000"/>
              </a:lnSpc>
              <a:spcBef>
                <a:spcPts val="0"/>
              </a:spcBef>
              <a:spcAft>
                <a:spcPts val="0"/>
              </a:spcAft>
              <a:buClrTx/>
              <a:buSzTx/>
              <a:buFontTx/>
              <a:buNone/>
              <a:tabLst/>
              <a:defRPr/>
            </a:pPr>
            <a:br>
              <a:rPr kumimoji="0" lang="he-IL" sz="5400" b="1" i="0" u="sng" strike="noStrike" kern="1200" cap="none" spc="0" normalizeH="0" baseline="0" noProof="0" dirty="0">
                <a:ln w="6350">
                  <a:solidFill>
                    <a:srgbClr val="DBEFF9">
                      <a:lumMod val="25000"/>
                      <a:alpha val="79000"/>
                    </a:srgbClr>
                  </a:solidFill>
                </a:ln>
                <a:gradFill>
                  <a:gsLst>
                    <a:gs pos="100000">
                      <a:srgbClr val="5C7A96"/>
                    </a:gs>
                    <a:gs pos="54000">
                      <a:srgbClr val="17406D">
                        <a:alpha val="82000"/>
                      </a:srgbClr>
                    </a:gs>
                    <a:gs pos="0">
                      <a:srgbClr val="17406D">
                        <a:lumMod val="50000"/>
                      </a:srgbClr>
                    </a:gs>
                  </a:gsLst>
                  <a:lin ang="0" scaled="1"/>
                </a:gradFill>
                <a:effectLst/>
                <a:uLnTx/>
                <a:uFillTx/>
                <a:latin typeface="Assistant ExtraBold" pitchFamily="2" charset="-79"/>
                <a:ea typeface="+mn-ea"/>
                <a:cs typeface="Assistant ExtraBold" pitchFamily="2" charset="-79"/>
              </a:rPr>
            </a:br>
            <a:endParaRPr kumimoji="0" lang="he-IL" sz="4000" b="0" i="0" u="none" strike="noStrike" kern="1200" cap="none" spc="0" normalizeH="0" baseline="0" noProof="0" dirty="0">
              <a:ln>
                <a:noFill/>
              </a:ln>
              <a:solidFill>
                <a:prstClr val="white"/>
              </a:solidFill>
              <a:effectLst/>
              <a:uLnTx/>
              <a:uFillTx/>
              <a:latin typeface="Assistant" pitchFamily="2" charset="-79"/>
              <a:ea typeface="+mn-ea"/>
              <a:cs typeface="Assistant" pitchFamily="2" charset="-79"/>
            </a:endParaRP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4000" b="1" i="0" u="none" strike="noStrike" kern="1200" cap="none" spc="0" normalizeH="0" baseline="0" noProof="0" dirty="0">
                <a:ln>
                  <a:noFill/>
                </a:ln>
                <a:solidFill>
                  <a:srgbClr val="1A295D"/>
                </a:solidFill>
                <a:effectLst/>
                <a:uLnTx/>
                <a:uFillTx/>
                <a:latin typeface="Open Sans" panose="020B0606030504020204" pitchFamily="34" charset="0"/>
                <a:ea typeface="+mn-ea"/>
                <a:cs typeface="Calibri"/>
              </a:rPr>
              <a:t>                                                                                       </a:t>
            </a:r>
            <a:endParaRPr kumimoji="0" lang="he-IL" sz="4000" b="0" i="0" u="none" strike="noStrike" kern="1200" cap="none" spc="0" normalizeH="0" baseline="0" noProof="0" dirty="0">
              <a:ln>
                <a:noFill/>
              </a:ln>
              <a:solidFill>
                <a:prstClr val="white"/>
              </a:solidFill>
              <a:effectLst/>
              <a:uLnTx/>
              <a:uFillTx/>
              <a:latin typeface="Assistant" pitchFamily="2" charset="-79"/>
              <a:ea typeface="+mn-ea"/>
              <a:cs typeface="Assistant" pitchFamily="2" charset="-79"/>
            </a:endParaRPr>
          </a:p>
        </p:txBody>
      </p:sp>
      <p:pic>
        <p:nvPicPr>
          <p:cNvPr id="12" name="Picture 2" descr="סמל מדינת ישראל – ויקיפדיה">
            <a:extLst>
              <a:ext uri="{FF2B5EF4-FFF2-40B4-BE49-F238E27FC236}">
                <a16:creationId xmlns:a16="http://schemas.microsoft.com/office/drawing/2014/main" id="{DE329001-0C6C-46CD-9878-72412AE8EBFF}"/>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11732575" y="6325891"/>
            <a:ext cx="343613" cy="426554"/>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3" descr="קובץ:Ministry of Labor, Social Affairs and Social Services ...">
            <a:extLst>
              <a:ext uri="{FF2B5EF4-FFF2-40B4-BE49-F238E27FC236}">
                <a16:creationId xmlns:a16="http://schemas.microsoft.com/office/drawing/2014/main" id="{28CB81A5-97EE-488A-BEE8-86E17EC2FA00}"/>
              </a:ext>
            </a:extLst>
          </p:cNvPr>
          <p:cNvPicPr>
            <a:picLocks noChangeAspect="1" noChangeArrowheads="1"/>
          </p:cNvPicPr>
          <p:nvPr/>
        </p:nvPicPr>
        <p:blipFill>
          <a:blip r:embed="rId4" cstate="email">
            <a:extLst>
              <a:ext uri="{28A0092B-C50C-407E-A947-70E740481C1C}">
                <a14:useLocalDpi xmlns:a14="http://schemas.microsoft.com/office/drawing/2010/main"/>
              </a:ext>
            </a:extLst>
          </a:blip>
          <a:srcRect/>
          <a:stretch>
            <a:fillRect/>
          </a:stretch>
        </p:blipFill>
        <p:spPr bwMode="auto">
          <a:xfrm>
            <a:off x="10066473" y="6320543"/>
            <a:ext cx="1446914" cy="394510"/>
          </a:xfrm>
          <a:prstGeom prst="rect">
            <a:avLst/>
          </a:prstGeom>
          <a:noFill/>
          <a:extLst>
            <a:ext uri="{909E8E84-426E-40DD-AFC4-6F175D3DCCD1}">
              <a14:hiddenFill xmlns:a14="http://schemas.microsoft.com/office/drawing/2010/main">
                <a:solidFill>
                  <a:srgbClr val="FFFFFF"/>
                </a:solidFill>
              </a14:hiddenFill>
            </a:ext>
          </a:extLst>
        </p:spPr>
      </p:pic>
      <p:sp>
        <p:nvSpPr>
          <p:cNvPr id="14" name="TextBox 13">
            <a:extLst>
              <a:ext uri="{FF2B5EF4-FFF2-40B4-BE49-F238E27FC236}">
                <a16:creationId xmlns:a16="http://schemas.microsoft.com/office/drawing/2014/main" id="{D97B8A50-8755-45B7-A2E0-8358F1AD4FC0}"/>
              </a:ext>
            </a:extLst>
          </p:cNvPr>
          <p:cNvSpPr txBox="1"/>
          <p:nvPr/>
        </p:nvSpPr>
        <p:spPr>
          <a:xfrm>
            <a:off x="69647" y="3502443"/>
            <a:ext cx="12052699" cy="1723549"/>
          </a:xfrm>
          <a:prstGeom prst="rect">
            <a:avLst/>
          </a:prstGeom>
          <a:noFill/>
          <a:effectLst>
            <a:outerShdw blurRad="127000" dist="50800" dir="5400000" algn="ctr" rotWithShape="0">
              <a:schemeClr val="tx1">
                <a:lumMod val="85000"/>
                <a:lumOff val="15000"/>
                <a:alpha val="43000"/>
              </a:schemeClr>
            </a:outerShdw>
          </a:effectLst>
        </p:spPr>
        <p:txBody>
          <a:bodyPr wrap="square">
            <a:spAutoFit/>
          </a:bodyPr>
          <a:lstStyle/>
          <a:p>
            <a:pPr>
              <a:spcAft>
                <a:spcPts val="1200"/>
              </a:spcAft>
              <a:defRPr/>
            </a:pPr>
            <a:r>
              <a:rPr kumimoji="0" lang="he-IL" sz="4800" b="1" i="0" u="none" strike="noStrike" kern="1200" cap="none" spc="0" normalizeH="0" baseline="0" noProof="0" dirty="0">
                <a:ln w="6350">
                  <a:solidFill>
                    <a:srgbClr val="DBEFF9">
                      <a:lumMod val="25000"/>
                      <a:alpha val="79000"/>
                    </a:srgbClr>
                  </a:solidFill>
                </a:ln>
                <a:gradFill>
                  <a:gsLst>
                    <a:gs pos="100000">
                      <a:srgbClr val="5C7A96"/>
                    </a:gs>
                    <a:gs pos="54000">
                      <a:srgbClr val="17406D">
                        <a:alpha val="82000"/>
                      </a:srgbClr>
                    </a:gs>
                    <a:gs pos="0">
                      <a:srgbClr val="17406D">
                        <a:lumMod val="50000"/>
                      </a:srgbClr>
                    </a:gs>
                  </a:gsLst>
                  <a:lin ang="0" scaled="1"/>
                </a:gradFill>
                <a:effectLst/>
                <a:uLnTx/>
                <a:uFillTx/>
                <a:latin typeface="Assistant ExtraBold" pitchFamily="2" charset="-79"/>
                <a:ea typeface="+mn-ea"/>
                <a:cs typeface="Assistant ExtraBold" pitchFamily="2" charset="-79"/>
              </a:rPr>
              <a:t>רפורמת סל תפקוד אישי</a:t>
            </a:r>
            <a:r>
              <a:rPr lang="he-IL" sz="4800" dirty="0">
                <a:ln w="6350">
                  <a:solidFill>
                    <a:srgbClr val="DBEFF9">
                      <a:lumMod val="25000"/>
                      <a:alpha val="79000"/>
                    </a:srgbClr>
                  </a:solidFill>
                </a:ln>
                <a:gradFill>
                  <a:gsLst>
                    <a:gs pos="100000">
                      <a:srgbClr val="5C7A96"/>
                    </a:gs>
                    <a:gs pos="54000">
                      <a:srgbClr val="17406D">
                        <a:alpha val="82000"/>
                      </a:srgbClr>
                    </a:gs>
                    <a:gs pos="0">
                      <a:srgbClr val="17406D">
                        <a:lumMod val="50000"/>
                      </a:srgbClr>
                    </a:gs>
                  </a:gsLst>
                  <a:lin ang="0" scaled="1"/>
                </a:gradFill>
                <a:latin typeface="Assistant ExtraBold" pitchFamily="2" charset="-79"/>
                <a:cs typeface="Assistant ExtraBold" pitchFamily="2" charset="-79"/>
              </a:rPr>
              <a:t> </a:t>
            </a:r>
            <a:r>
              <a:rPr lang="en-US" sz="4800" dirty="0">
                <a:ln w="6350">
                  <a:solidFill>
                    <a:srgbClr val="DBEFF9">
                      <a:lumMod val="25000"/>
                      <a:alpha val="79000"/>
                    </a:srgbClr>
                  </a:solidFill>
                </a:ln>
                <a:gradFill>
                  <a:gsLst>
                    <a:gs pos="100000">
                      <a:srgbClr val="5C7A96"/>
                    </a:gs>
                    <a:gs pos="54000">
                      <a:srgbClr val="17406D">
                        <a:alpha val="82000"/>
                      </a:srgbClr>
                    </a:gs>
                    <a:gs pos="0">
                      <a:srgbClr val="17406D">
                        <a:lumMod val="50000"/>
                      </a:srgbClr>
                    </a:gs>
                  </a:gsLst>
                  <a:lin ang="0" scaled="1"/>
                </a:gradFill>
                <a:latin typeface="Assistant ExtraBold" pitchFamily="2" charset="-79"/>
                <a:cs typeface="Assistant ExtraBold" pitchFamily="2" charset="-79"/>
              </a:rPr>
              <a:t>AI</a:t>
            </a:r>
            <a:endParaRPr kumimoji="0" lang="he-IL" sz="4800" b="0" i="0" u="none" strike="noStrike" kern="1200" cap="none" spc="0" normalizeH="0" baseline="0" noProof="0" dirty="0">
              <a:ln w="6350">
                <a:solidFill>
                  <a:srgbClr val="DBEFF9">
                    <a:lumMod val="25000"/>
                    <a:alpha val="79000"/>
                  </a:srgbClr>
                </a:solidFill>
              </a:ln>
              <a:gradFill>
                <a:gsLst>
                  <a:gs pos="100000">
                    <a:srgbClr val="5C7A96"/>
                  </a:gs>
                  <a:gs pos="54000">
                    <a:srgbClr val="17406D">
                      <a:alpha val="82000"/>
                    </a:srgbClr>
                  </a:gs>
                  <a:gs pos="0">
                    <a:srgbClr val="17406D">
                      <a:lumMod val="50000"/>
                    </a:srgbClr>
                  </a:gs>
                </a:gsLst>
                <a:lin ang="0" scaled="1"/>
              </a:gradFill>
              <a:effectLst/>
              <a:uLnTx/>
              <a:uFillTx/>
              <a:latin typeface="Assistant ExtraBold" pitchFamily="2" charset="-79"/>
              <a:ea typeface="+mn-ea"/>
              <a:cs typeface="Assistant ExtraBold" pitchFamily="2" charset="-79"/>
            </a:endParaRPr>
          </a:p>
          <a:p>
            <a:pPr marL="0" marR="0" lvl="0" indent="0" algn="r" defTabSz="914400" rtl="1" eaLnBrk="1" fontAlgn="auto" latinLnBrk="0" hangingPunct="1">
              <a:lnSpc>
                <a:spcPct val="100000"/>
              </a:lnSpc>
              <a:spcBef>
                <a:spcPts val="0"/>
              </a:spcBef>
              <a:spcAft>
                <a:spcPts val="1200"/>
              </a:spcAft>
              <a:buClrTx/>
              <a:buSzTx/>
              <a:buFontTx/>
              <a:buNone/>
              <a:tabLst/>
              <a:defRPr/>
            </a:pPr>
            <a:r>
              <a:rPr kumimoji="0" lang="he-IL" sz="4800" b="0" i="0" u="none" strike="noStrike" kern="1200" cap="none" spc="0" normalizeH="0" baseline="0" noProof="0" dirty="0">
                <a:ln w="6350">
                  <a:solidFill>
                    <a:srgbClr val="DBEFF9">
                      <a:lumMod val="25000"/>
                      <a:alpha val="79000"/>
                    </a:srgbClr>
                  </a:solidFill>
                </a:ln>
                <a:gradFill>
                  <a:gsLst>
                    <a:gs pos="100000">
                      <a:srgbClr val="5C7A96"/>
                    </a:gs>
                    <a:gs pos="54000">
                      <a:srgbClr val="17406D">
                        <a:alpha val="82000"/>
                      </a:srgbClr>
                    </a:gs>
                    <a:gs pos="0">
                      <a:srgbClr val="17406D">
                        <a:lumMod val="50000"/>
                      </a:srgbClr>
                    </a:gs>
                  </a:gsLst>
                  <a:lin ang="0" scaled="1"/>
                </a:gradFill>
                <a:effectLst/>
                <a:uLnTx/>
                <a:uFillTx/>
                <a:latin typeface="Assistant ExtraBold" pitchFamily="2" charset="-79"/>
                <a:ea typeface="+mn-ea"/>
                <a:cs typeface="Assistant ExtraBold" pitchFamily="2" charset="-79"/>
              </a:rPr>
              <a:t>מהלך </a:t>
            </a:r>
            <a:r>
              <a:rPr kumimoji="0" lang="he-IL" sz="4800" b="0" i="0" u="none" strike="noStrike" kern="1200" cap="none" spc="0" normalizeH="0" baseline="0" noProof="0" dirty="0" err="1">
                <a:ln w="6350">
                  <a:solidFill>
                    <a:srgbClr val="DBEFF9">
                      <a:lumMod val="25000"/>
                      <a:alpha val="79000"/>
                    </a:srgbClr>
                  </a:solidFill>
                </a:ln>
                <a:gradFill>
                  <a:gsLst>
                    <a:gs pos="100000">
                      <a:srgbClr val="5C7A96"/>
                    </a:gs>
                    <a:gs pos="54000">
                      <a:srgbClr val="17406D">
                        <a:alpha val="82000"/>
                      </a:srgbClr>
                    </a:gs>
                    <a:gs pos="0">
                      <a:srgbClr val="17406D">
                        <a:lumMod val="50000"/>
                      </a:srgbClr>
                    </a:gs>
                  </a:gsLst>
                  <a:lin ang="0" scaled="1"/>
                </a:gradFill>
                <a:effectLst/>
                <a:uLnTx/>
                <a:uFillTx/>
                <a:latin typeface="Assistant ExtraBold" pitchFamily="2" charset="-79"/>
                <a:ea typeface="+mn-ea"/>
                <a:cs typeface="Assistant ExtraBold" pitchFamily="2" charset="-79"/>
              </a:rPr>
              <a:t>הדיגיטל</a:t>
            </a:r>
            <a:r>
              <a:rPr kumimoji="0" lang="he-IL" sz="4800" b="0" i="0" u="none" strike="noStrike" kern="1200" cap="none" spc="0" normalizeH="0" baseline="0" noProof="0" dirty="0">
                <a:ln w="6350">
                  <a:solidFill>
                    <a:srgbClr val="DBEFF9">
                      <a:lumMod val="25000"/>
                      <a:alpha val="79000"/>
                    </a:srgbClr>
                  </a:solidFill>
                </a:ln>
                <a:gradFill>
                  <a:gsLst>
                    <a:gs pos="100000">
                      <a:srgbClr val="5C7A96"/>
                    </a:gs>
                    <a:gs pos="54000">
                      <a:srgbClr val="17406D">
                        <a:alpha val="82000"/>
                      </a:srgbClr>
                    </a:gs>
                    <a:gs pos="0">
                      <a:srgbClr val="17406D">
                        <a:lumMod val="50000"/>
                      </a:srgbClr>
                    </a:gs>
                  </a:gsLst>
                  <a:lin ang="0" scaled="1"/>
                </a:gradFill>
                <a:effectLst/>
                <a:uLnTx/>
                <a:uFillTx/>
                <a:latin typeface="Assistant ExtraBold" pitchFamily="2" charset="-79"/>
                <a:ea typeface="+mn-ea"/>
                <a:cs typeface="Assistant ExtraBold" pitchFamily="2" charset="-79"/>
              </a:rPr>
              <a:t> להזדקנות מיטבית</a:t>
            </a:r>
          </a:p>
        </p:txBody>
      </p:sp>
      <p:sp>
        <p:nvSpPr>
          <p:cNvPr id="2" name="תיבת טקסט 1">
            <a:extLst>
              <a:ext uri="{FF2B5EF4-FFF2-40B4-BE49-F238E27FC236}">
                <a16:creationId xmlns:a16="http://schemas.microsoft.com/office/drawing/2014/main" id="{22857A66-CDA4-AEF6-22B4-471C6A32831E}"/>
              </a:ext>
            </a:extLst>
          </p:cNvPr>
          <p:cNvSpPr txBox="1"/>
          <p:nvPr/>
        </p:nvSpPr>
        <p:spPr>
          <a:xfrm>
            <a:off x="10260919" y="4364218"/>
            <a:ext cx="1643463" cy="646331"/>
          </a:xfrm>
          <a:prstGeom prst="rect">
            <a:avLst/>
          </a:prstGeom>
          <a:noFill/>
        </p:spPr>
        <p:txBody>
          <a:bodyPr wrap="non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0" i="0" u="none" strike="noStrike" kern="1200" cap="none" spc="0" normalizeH="0" baseline="0" noProof="0" dirty="0">
                <a:ln>
                  <a:noFill/>
                </a:ln>
                <a:solidFill>
                  <a:srgbClr val="002060"/>
                </a:solidFill>
                <a:effectLst/>
                <a:uLnTx/>
                <a:uFillTx/>
                <a:latin typeface="Open Sans" panose="020B0606030504020204" pitchFamily="34" charset="0"/>
                <a:ea typeface="+mn-ea"/>
                <a:cs typeface="Calibri"/>
              </a:rPr>
              <a:t>                    </a:t>
            </a:r>
            <a:r>
              <a:rPr kumimoji="0" lang="he-IL" sz="1800" b="0" i="0" u="none" strike="noStrike" kern="1200" cap="none" spc="0" normalizeH="0" baseline="0" noProof="0" dirty="0">
                <a:ln>
                  <a:noFill/>
                </a:ln>
                <a:solidFill>
                  <a:srgbClr val="002060"/>
                </a:solidFill>
                <a:effectLst/>
                <a:uLnTx/>
                <a:uFillTx/>
                <a:latin typeface="Open Sans" panose="020B0606030504020204" pitchFamily="34" charset="0"/>
                <a:ea typeface="+mn-ea"/>
                <a:cs typeface="Calibri"/>
              </a:rPr>
              <a:t>          </a:t>
            </a:r>
            <a:endParaRPr kumimoji="0" lang="he-IL" sz="1800" b="0" i="0" u="none" strike="noStrike" kern="1200" cap="none" spc="0" normalizeH="0" baseline="0" noProof="0" dirty="0">
              <a:ln>
                <a:noFill/>
              </a:ln>
              <a:solidFill>
                <a:srgbClr val="002060"/>
              </a:solidFill>
              <a:effectLst/>
              <a:uLnTx/>
              <a:uFillTx/>
              <a:latin typeface="Assistant" pitchFamily="2" charset="-79"/>
              <a:ea typeface="+mn-ea"/>
              <a:cs typeface="Assistant" pitchFamily="2" charset="-79"/>
            </a:endParaRP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srgbClr val="002060"/>
              </a:solidFill>
              <a:effectLst/>
              <a:uLnTx/>
              <a:uFillTx/>
              <a:latin typeface="Calibri"/>
              <a:ea typeface="+mn-ea"/>
              <a:cs typeface="Calibri"/>
            </a:endParaRPr>
          </a:p>
        </p:txBody>
      </p:sp>
      <p:pic>
        <p:nvPicPr>
          <p:cNvPr id="5" name="Picture 24">
            <a:extLst>
              <a:ext uri="{FF2B5EF4-FFF2-40B4-BE49-F238E27FC236}">
                <a16:creationId xmlns:a16="http://schemas.microsoft.com/office/drawing/2014/main" id="{C8A51ACD-3FD6-4467-354C-9D7E89E84A5E}"/>
              </a:ext>
            </a:extLst>
          </p:cNvPr>
          <p:cNvPicPr>
            <a:picLocks noChangeAspect="1"/>
          </p:cNvPicPr>
          <p:nvPr/>
        </p:nvPicPr>
        <p:blipFill>
          <a:blip r:embed="rId5"/>
          <a:stretch>
            <a:fillRect/>
          </a:stretch>
        </p:blipFill>
        <p:spPr>
          <a:xfrm>
            <a:off x="5853026" y="6227261"/>
            <a:ext cx="1280212" cy="467379"/>
          </a:xfrm>
          <a:prstGeom prst="rect">
            <a:avLst/>
          </a:prstGeom>
        </p:spPr>
      </p:pic>
      <p:pic>
        <p:nvPicPr>
          <p:cNvPr id="6" name="Picture 32">
            <a:extLst>
              <a:ext uri="{FF2B5EF4-FFF2-40B4-BE49-F238E27FC236}">
                <a16:creationId xmlns:a16="http://schemas.microsoft.com/office/drawing/2014/main" id="{6072C801-4CCF-798E-6936-C2B596412EC3}"/>
              </a:ext>
            </a:extLst>
          </p:cNvPr>
          <p:cNvPicPr>
            <a:picLocks noChangeAspect="1"/>
          </p:cNvPicPr>
          <p:nvPr/>
        </p:nvPicPr>
        <p:blipFill>
          <a:blip r:embed="rId6"/>
          <a:stretch>
            <a:fillRect/>
          </a:stretch>
        </p:blipFill>
        <p:spPr>
          <a:xfrm>
            <a:off x="3810968" y="6125988"/>
            <a:ext cx="1726877" cy="719532"/>
          </a:xfrm>
          <a:prstGeom prst="rect">
            <a:avLst/>
          </a:prstGeom>
        </p:spPr>
      </p:pic>
      <p:pic>
        <p:nvPicPr>
          <p:cNvPr id="7" name="Picture 26">
            <a:extLst>
              <a:ext uri="{FF2B5EF4-FFF2-40B4-BE49-F238E27FC236}">
                <a16:creationId xmlns:a16="http://schemas.microsoft.com/office/drawing/2014/main" id="{AAA4F558-21C9-DA28-98F2-035233B1455B}"/>
              </a:ext>
            </a:extLst>
          </p:cNvPr>
          <p:cNvPicPr>
            <a:picLocks noChangeAspect="1"/>
          </p:cNvPicPr>
          <p:nvPr/>
        </p:nvPicPr>
        <p:blipFill>
          <a:blip r:embed="rId7"/>
          <a:stretch>
            <a:fillRect/>
          </a:stretch>
        </p:blipFill>
        <p:spPr>
          <a:xfrm>
            <a:off x="8759719" y="6137367"/>
            <a:ext cx="1190944" cy="652185"/>
          </a:xfrm>
          <a:prstGeom prst="rect">
            <a:avLst/>
          </a:prstGeom>
          <a:ln>
            <a:noFill/>
          </a:ln>
        </p:spPr>
      </p:pic>
      <p:sp>
        <p:nvSpPr>
          <p:cNvPr id="9" name="תיבת טקסט 8">
            <a:extLst>
              <a:ext uri="{FF2B5EF4-FFF2-40B4-BE49-F238E27FC236}">
                <a16:creationId xmlns:a16="http://schemas.microsoft.com/office/drawing/2014/main" id="{FC94119B-D148-B85C-139F-E5B27FCE8925}"/>
              </a:ext>
            </a:extLst>
          </p:cNvPr>
          <p:cNvSpPr txBox="1"/>
          <p:nvPr/>
        </p:nvSpPr>
        <p:spPr>
          <a:xfrm>
            <a:off x="69647" y="6360796"/>
            <a:ext cx="1441485" cy="646331"/>
          </a:xfrm>
          <a:prstGeom prst="rect">
            <a:avLst/>
          </a:prstGeom>
          <a:noFill/>
        </p:spPr>
        <p:txBody>
          <a:bodyPr wrap="non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srgbClr val="002060"/>
                </a:solidFill>
                <a:effectLst/>
                <a:uLnTx/>
                <a:uFillTx/>
                <a:latin typeface="Open Sans" panose="020B0606030504020204" pitchFamily="34" charset="0"/>
                <a:ea typeface="+mn-ea"/>
                <a:cs typeface="Calibri"/>
              </a:rPr>
              <a:t>ספטמבר 2024</a:t>
            </a: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srgbClr val="002060"/>
              </a:solidFill>
              <a:effectLst/>
              <a:uLnTx/>
              <a:uFillTx/>
              <a:latin typeface="Calibri"/>
              <a:ea typeface="+mn-ea"/>
              <a:cs typeface="Calibri"/>
            </a:endParaRPr>
          </a:p>
        </p:txBody>
      </p:sp>
      <p:pic>
        <p:nvPicPr>
          <p:cNvPr id="8" name="Picture 5" descr="Logo&#10;&#10;Description automatically generated">
            <a:extLst>
              <a:ext uri="{FF2B5EF4-FFF2-40B4-BE49-F238E27FC236}">
                <a16:creationId xmlns:a16="http://schemas.microsoft.com/office/drawing/2014/main" id="{B3A6107C-FA07-C282-A299-502C6E7D5C22}"/>
              </a:ext>
            </a:extLst>
          </p:cNvPr>
          <p:cNvPicPr preferRelativeResize="0">
            <a:picLocks noChangeAspect="1"/>
          </p:cNvPicPr>
          <p:nvPr/>
        </p:nvPicPr>
        <p:blipFill>
          <a:blip r:embed="rId8" cstate="email">
            <a:extLst>
              <a:ext uri="{28A0092B-C50C-407E-A947-70E740481C1C}">
                <a14:useLocalDpi xmlns:a14="http://schemas.microsoft.com/office/drawing/2010/main"/>
              </a:ext>
            </a:extLst>
          </a:blip>
          <a:stretch>
            <a:fillRect/>
          </a:stretch>
        </p:blipFill>
        <p:spPr>
          <a:xfrm>
            <a:off x="7543471" y="6181956"/>
            <a:ext cx="914227" cy="607596"/>
          </a:xfrm>
          <a:prstGeom prst="rect">
            <a:avLst/>
          </a:prstGeom>
        </p:spPr>
      </p:pic>
    </p:spTree>
    <p:extLst>
      <p:ext uri="{BB962C8B-B14F-4D97-AF65-F5344CB8AC3E}">
        <p14:creationId xmlns:p14="http://schemas.microsoft.com/office/powerpoint/2010/main" val="19806840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mph" presetSubtype="0" repeatCount="indefinite" fill="remove" nodeType="withEffect">
                                  <p:stCondLst>
                                    <p:cond delay="0"/>
                                  </p:stCondLst>
                                  <p:endCondLst>
                                    <p:cond evt="onNext" delay="0">
                                      <p:tgtEl>
                                        <p:sldTgt/>
                                      </p:tgtEl>
                                    </p:cond>
                                  </p:endCondLst>
                                  <p:childTnLst>
                                    <p:animScale>
                                      <p:cBhvr>
                                        <p:cTn id="6" dur="8000" fill="hold"/>
                                        <p:tgtEl>
                                          <p:spTgt spid="3"/>
                                        </p:tgtEl>
                                      </p:cBhvr>
                                      <p:by x="150000" y="15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7930D2F-8091-4655-9DA9-8EC4B711E1D8}"/>
              </a:ext>
            </a:extLst>
          </p:cNvPr>
          <p:cNvSpPr txBox="1"/>
          <p:nvPr/>
        </p:nvSpPr>
        <p:spPr>
          <a:xfrm>
            <a:off x="2284953" y="1577540"/>
            <a:ext cx="2220480" cy="369332"/>
          </a:xfrm>
          <a:prstGeom prst="rect">
            <a:avLst/>
          </a:prstGeom>
          <a:noFill/>
        </p:spPr>
        <p:txBody>
          <a:bodyPr wrap="non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0" i="0" u="sng"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המטרה היא </a:t>
            </a:r>
            <a:r>
              <a:rPr kumimoji="0" lang="he-IL" sz="1800" b="0" i="0" u="sng" strike="noStrike" kern="1200" cap="none" spc="0" normalizeH="0" baseline="0" noProof="0" dirty="0" err="1">
                <a:ln>
                  <a:noFill/>
                </a:ln>
                <a:solidFill>
                  <a:prstClr val="black"/>
                </a:solidFill>
                <a:effectLst/>
                <a:uLnTx/>
                <a:uFillTx/>
                <a:latin typeface="Calibri" panose="020F0502020204030204" pitchFamily="34" charset="0"/>
                <a:ea typeface="+mn-ea"/>
                <a:cs typeface="Calibri" panose="020F0502020204030204" pitchFamily="34" charset="0"/>
              </a:rPr>
              <a:t>להנגיש</a:t>
            </a:r>
            <a:r>
              <a:rPr kumimoji="0" lang="he-IL" sz="1800" b="0" i="0" u="sng"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 את</a:t>
            </a:r>
            <a:endParaRPr kumimoji="0" lang="en-IL" sz="1800" b="0" i="0" u="sng"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28" name="TextBox 27">
            <a:extLst>
              <a:ext uri="{FF2B5EF4-FFF2-40B4-BE49-F238E27FC236}">
                <a16:creationId xmlns:a16="http://schemas.microsoft.com/office/drawing/2014/main" id="{B3704E1A-5CFA-4C07-BEEC-0DA690F3FBB4}"/>
              </a:ext>
            </a:extLst>
          </p:cNvPr>
          <p:cNvSpPr txBox="1"/>
          <p:nvPr/>
        </p:nvSpPr>
        <p:spPr>
          <a:xfrm>
            <a:off x="75674" y="1971285"/>
            <a:ext cx="4429759" cy="2766911"/>
          </a:xfrm>
          <a:prstGeom prst="rect">
            <a:avLst/>
          </a:prstGeom>
          <a:noFill/>
        </p:spPr>
        <p:txBody>
          <a:bodyPr wrap="square" rtlCol="0">
            <a:spAutoFit/>
          </a:bodyPr>
          <a:lstStyle/>
          <a:p>
            <a:pPr marL="0" marR="0" lvl="0" indent="0" algn="r" defTabSz="914400" rtl="1" eaLnBrk="1" fontAlgn="auto" latinLnBrk="0" hangingPunct="1">
              <a:lnSpc>
                <a:spcPct val="150000"/>
              </a:lnSpc>
              <a:spcBef>
                <a:spcPts val="0"/>
              </a:spcBef>
              <a:spcAft>
                <a:spcPts val="0"/>
              </a:spcAft>
              <a:buClrTx/>
              <a:buSzTx/>
              <a:buFontTx/>
              <a:buNone/>
              <a:tabLst/>
              <a:defRPr/>
            </a:pPr>
            <a:r>
              <a:rPr kumimoji="0" lang="he-IL" sz="40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השירות הנכון</a:t>
            </a:r>
          </a:p>
          <a:p>
            <a:pPr marL="0" marR="0" lvl="0" indent="0" algn="r" defTabSz="914400" rtl="1" eaLnBrk="1" fontAlgn="auto" latinLnBrk="0" hangingPunct="1">
              <a:lnSpc>
                <a:spcPct val="150000"/>
              </a:lnSpc>
              <a:spcBef>
                <a:spcPts val="0"/>
              </a:spcBef>
              <a:spcAft>
                <a:spcPts val="0"/>
              </a:spcAft>
              <a:buClrTx/>
              <a:buSzTx/>
              <a:buFontTx/>
              <a:buNone/>
              <a:tabLst/>
              <a:defRPr/>
            </a:pPr>
            <a:r>
              <a:rPr kumimoji="0" lang="he-IL" sz="40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לאדם הנכון</a:t>
            </a:r>
          </a:p>
          <a:p>
            <a:pPr marL="0" marR="0" lvl="0" indent="0" algn="r" defTabSz="914400" rtl="1" eaLnBrk="1" fontAlgn="auto" latinLnBrk="0" hangingPunct="1">
              <a:lnSpc>
                <a:spcPct val="150000"/>
              </a:lnSpc>
              <a:spcBef>
                <a:spcPts val="0"/>
              </a:spcBef>
              <a:spcAft>
                <a:spcPts val="0"/>
              </a:spcAft>
              <a:buClrTx/>
              <a:buSzTx/>
              <a:buFontTx/>
              <a:buNone/>
              <a:tabLst/>
              <a:defRPr/>
            </a:pPr>
            <a:r>
              <a:rPr kumimoji="0" lang="he-IL" sz="40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בזמן הנכון		</a:t>
            </a:r>
            <a:endParaRPr kumimoji="0" lang="en-IL" sz="40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grpSp>
        <p:nvGrpSpPr>
          <p:cNvPr id="32" name="Group 31">
            <a:extLst>
              <a:ext uri="{FF2B5EF4-FFF2-40B4-BE49-F238E27FC236}">
                <a16:creationId xmlns:a16="http://schemas.microsoft.com/office/drawing/2014/main" id="{EE3C58CD-9D1C-4295-BC1C-BB82E5535C9A}"/>
              </a:ext>
            </a:extLst>
          </p:cNvPr>
          <p:cNvGrpSpPr/>
          <p:nvPr/>
        </p:nvGrpSpPr>
        <p:grpSpPr>
          <a:xfrm>
            <a:off x="6298273" y="676278"/>
            <a:ext cx="5588929" cy="5505444"/>
            <a:chOff x="232753" y="860944"/>
            <a:chExt cx="5588929" cy="5505444"/>
          </a:xfrm>
        </p:grpSpPr>
        <p:sp>
          <p:nvSpPr>
            <p:cNvPr id="33" name="Oval 32">
              <a:extLst>
                <a:ext uri="{FF2B5EF4-FFF2-40B4-BE49-F238E27FC236}">
                  <a16:creationId xmlns:a16="http://schemas.microsoft.com/office/drawing/2014/main" id="{D75FA15E-01B1-4CEE-B096-247E7DD162D4}"/>
                </a:ext>
              </a:extLst>
            </p:cNvPr>
            <p:cNvSpPr/>
            <p:nvPr/>
          </p:nvSpPr>
          <p:spPr>
            <a:xfrm>
              <a:off x="893887" y="1677056"/>
              <a:ext cx="4320000" cy="4320000"/>
            </a:xfrm>
            <a:prstGeom prst="ellipse">
              <a:avLst/>
            </a:prstGeom>
            <a:noFill/>
            <a:ln w="7620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grpSp>
          <p:nvGrpSpPr>
            <p:cNvPr id="34" name="Group 33">
              <a:extLst>
                <a:ext uri="{FF2B5EF4-FFF2-40B4-BE49-F238E27FC236}">
                  <a16:creationId xmlns:a16="http://schemas.microsoft.com/office/drawing/2014/main" id="{163223BC-3437-487A-961B-094F19743AE4}"/>
                </a:ext>
              </a:extLst>
            </p:cNvPr>
            <p:cNvGrpSpPr/>
            <p:nvPr/>
          </p:nvGrpSpPr>
          <p:grpSpPr>
            <a:xfrm>
              <a:off x="232753" y="860944"/>
              <a:ext cx="5588929" cy="4527916"/>
              <a:chOff x="1237123" y="1354505"/>
              <a:chExt cx="4511824" cy="4527916"/>
            </a:xfrm>
            <a:solidFill>
              <a:schemeClr val="accent3"/>
            </a:solidFill>
          </p:grpSpPr>
          <p:sp>
            <p:nvSpPr>
              <p:cNvPr id="45" name="Freeform: Shape 44">
                <a:extLst>
                  <a:ext uri="{FF2B5EF4-FFF2-40B4-BE49-F238E27FC236}">
                    <a16:creationId xmlns:a16="http://schemas.microsoft.com/office/drawing/2014/main" id="{FB471D60-5F43-4880-86CB-5D213AB65396}"/>
                  </a:ext>
                </a:extLst>
              </p:cNvPr>
              <p:cNvSpPr/>
              <p:nvPr/>
            </p:nvSpPr>
            <p:spPr>
              <a:xfrm>
                <a:off x="2360466" y="1354505"/>
                <a:ext cx="2258987" cy="2258987"/>
              </a:xfrm>
              <a:custGeom>
                <a:avLst/>
                <a:gdLst>
                  <a:gd name="connsiteX0" fmla="*/ 0 w 2258987"/>
                  <a:gd name="connsiteY0" fmla="*/ 2258987 h 2258987"/>
                  <a:gd name="connsiteX1" fmla="*/ 1129494 w 2258987"/>
                  <a:gd name="connsiteY1" fmla="*/ 0 h 2258987"/>
                  <a:gd name="connsiteX2" fmla="*/ 2258987 w 2258987"/>
                  <a:gd name="connsiteY2" fmla="*/ 2258987 h 2258987"/>
                  <a:gd name="connsiteX3" fmla="*/ 0 w 2258987"/>
                  <a:gd name="connsiteY3" fmla="*/ 2258987 h 2258987"/>
                </a:gdLst>
                <a:ahLst/>
                <a:cxnLst>
                  <a:cxn ang="0">
                    <a:pos x="connsiteX0" y="connsiteY0"/>
                  </a:cxn>
                  <a:cxn ang="0">
                    <a:pos x="connsiteX1" y="connsiteY1"/>
                  </a:cxn>
                  <a:cxn ang="0">
                    <a:pos x="connsiteX2" y="connsiteY2"/>
                  </a:cxn>
                  <a:cxn ang="0">
                    <a:pos x="connsiteX3" y="connsiteY3"/>
                  </a:cxn>
                </a:cxnLst>
                <a:rect l="l" t="t" r="r" b="b"/>
                <a:pathLst>
                  <a:path w="2258987" h="2258987">
                    <a:moveTo>
                      <a:pt x="0" y="2258987"/>
                    </a:moveTo>
                    <a:lnTo>
                      <a:pt x="1129494" y="0"/>
                    </a:lnTo>
                    <a:lnTo>
                      <a:pt x="2258987" y="2258987"/>
                    </a:lnTo>
                    <a:lnTo>
                      <a:pt x="0" y="2258987"/>
                    </a:lnTo>
                    <a:close/>
                  </a:path>
                </a:pathLst>
              </a:custGeom>
              <a:grp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682857" tIns="1247604" rIns="682857" bIns="118110" numCol="1" spcCol="1270" anchor="ctr" anchorCtr="0">
                <a:noAutofit/>
              </a:bodyPr>
              <a:lstStyle/>
              <a:p>
                <a:pPr marL="0" marR="0" lvl="0" indent="0" algn="ctr" defTabSz="1377950" rtl="0" eaLnBrk="1" fontAlgn="auto" latinLnBrk="0" hangingPunct="1">
                  <a:lnSpc>
                    <a:spcPct val="90000"/>
                  </a:lnSpc>
                  <a:spcBef>
                    <a:spcPct val="0"/>
                  </a:spcBef>
                  <a:spcAft>
                    <a:spcPct val="35000"/>
                  </a:spcAft>
                  <a:buClrTx/>
                  <a:buSzTx/>
                  <a:buFontTx/>
                  <a:buNone/>
                  <a:tabLst/>
                  <a:defRPr/>
                </a:pPr>
                <a:endParaRPr kumimoji="0" lang="en-IL" sz="31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46" name="Freeform: Shape 45">
                <a:extLst>
                  <a:ext uri="{FF2B5EF4-FFF2-40B4-BE49-F238E27FC236}">
                    <a16:creationId xmlns:a16="http://schemas.microsoft.com/office/drawing/2014/main" id="{F3F7D78D-3F03-4E7E-A130-7B8ED18677CE}"/>
                  </a:ext>
                </a:extLst>
              </p:cNvPr>
              <p:cNvSpPr/>
              <p:nvPr/>
            </p:nvSpPr>
            <p:spPr>
              <a:xfrm>
                <a:off x="2370243" y="3623433"/>
                <a:ext cx="2258987" cy="2258988"/>
              </a:xfrm>
              <a:custGeom>
                <a:avLst/>
                <a:gdLst>
                  <a:gd name="connsiteX0" fmla="*/ 0 w 2258987"/>
                  <a:gd name="connsiteY0" fmla="*/ 2258987 h 2258987"/>
                  <a:gd name="connsiteX1" fmla="*/ 1129494 w 2258987"/>
                  <a:gd name="connsiteY1" fmla="*/ 0 h 2258987"/>
                  <a:gd name="connsiteX2" fmla="*/ 2258987 w 2258987"/>
                  <a:gd name="connsiteY2" fmla="*/ 2258987 h 2258987"/>
                  <a:gd name="connsiteX3" fmla="*/ 0 w 2258987"/>
                  <a:gd name="connsiteY3" fmla="*/ 2258987 h 2258987"/>
                </a:gdLst>
                <a:ahLst/>
                <a:cxnLst>
                  <a:cxn ang="0">
                    <a:pos x="connsiteX0" y="connsiteY0"/>
                  </a:cxn>
                  <a:cxn ang="0">
                    <a:pos x="connsiteX1" y="connsiteY1"/>
                  </a:cxn>
                  <a:cxn ang="0">
                    <a:pos x="connsiteX2" y="connsiteY2"/>
                  </a:cxn>
                  <a:cxn ang="0">
                    <a:pos x="connsiteX3" y="connsiteY3"/>
                  </a:cxn>
                </a:cxnLst>
                <a:rect l="l" t="t" r="r" b="b"/>
                <a:pathLst>
                  <a:path w="2258987" h="2258987">
                    <a:moveTo>
                      <a:pt x="2258987" y="0"/>
                    </a:moveTo>
                    <a:lnTo>
                      <a:pt x="1129493" y="2258987"/>
                    </a:lnTo>
                    <a:lnTo>
                      <a:pt x="0" y="0"/>
                    </a:lnTo>
                    <a:lnTo>
                      <a:pt x="2258987" y="0"/>
                    </a:lnTo>
                    <a:close/>
                  </a:path>
                </a:pathLst>
              </a:custGeom>
              <a:grp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682857" tIns="118111" rIns="682857" bIns="1247604" numCol="1" spcCol="1270" anchor="ctr" anchorCtr="0">
                <a:noAutofit/>
              </a:bodyPr>
              <a:lstStyle/>
              <a:p>
                <a:pPr marL="0" marR="0" lvl="0" indent="0" algn="ctr" defTabSz="1377950" rtl="0" eaLnBrk="1" fontAlgn="auto" latinLnBrk="0" hangingPunct="1">
                  <a:lnSpc>
                    <a:spcPct val="90000"/>
                  </a:lnSpc>
                  <a:spcBef>
                    <a:spcPct val="0"/>
                  </a:spcBef>
                  <a:spcAft>
                    <a:spcPct val="35000"/>
                  </a:spcAft>
                  <a:buClrTx/>
                  <a:buSzTx/>
                  <a:buFontTx/>
                  <a:buNone/>
                  <a:tabLst/>
                  <a:defRPr/>
                </a:pPr>
                <a:endParaRPr kumimoji="0" lang="en-IL" sz="3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
            <p:nvSpPr>
              <p:cNvPr id="47" name="Freeform: Shape 46">
                <a:extLst>
                  <a:ext uri="{FF2B5EF4-FFF2-40B4-BE49-F238E27FC236}">
                    <a16:creationId xmlns:a16="http://schemas.microsoft.com/office/drawing/2014/main" id="{733E53F7-AB8D-4D54-8645-8944F0810027}"/>
                  </a:ext>
                </a:extLst>
              </p:cNvPr>
              <p:cNvSpPr/>
              <p:nvPr/>
            </p:nvSpPr>
            <p:spPr>
              <a:xfrm>
                <a:off x="3489960" y="3613492"/>
                <a:ext cx="2258987" cy="2258987"/>
              </a:xfrm>
              <a:custGeom>
                <a:avLst/>
                <a:gdLst>
                  <a:gd name="connsiteX0" fmla="*/ 0 w 2258987"/>
                  <a:gd name="connsiteY0" fmla="*/ 2258987 h 2258987"/>
                  <a:gd name="connsiteX1" fmla="*/ 1129494 w 2258987"/>
                  <a:gd name="connsiteY1" fmla="*/ 0 h 2258987"/>
                  <a:gd name="connsiteX2" fmla="*/ 2258987 w 2258987"/>
                  <a:gd name="connsiteY2" fmla="*/ 2258987 h 2258987"/>
                  <a:gd name="connsiteX3" fmla="*/ 0 w 2258987"/>
                  <a:gd name="connsiteY3" fmla="*/ 2258987 h 2258987"/>
                </a:gdLst>
                <a:ahLst/>
                <a:cxnLst>
                  <a:cxn ang="0">
                    <a:pos x="connsiteX0" y="connsiteY0"/>
                  </a:cxn>
                  <a:cxn ang="0">
                    <a:pos x="connsiteX1" y="connsiteY1"/>
                  </a:cxn>
                  <a:cxn ang="0">
                    <a:pos x="connsiteX2" y="connsiteY2"/>
                  </a:cxn>
                  <a:cxn ang="0">
                    <a:pos x="connsiteX3" y="connsiteY3"/>
                  </a:cxn>
                </a:cxnLst>
                <a:rect l="l" t="t" r="r" b="b"/>
                <a:pathLst>
                  <a:path w="2258987" h="2258987">
                    <a:moveTo>
                      <a:pt x="0" y="2258987"/>
                    </a:moveTo>
                    <a:lnTo>
                      <a:pt x="1129494" y="0"/>
                    </a:lnTo>
                    <a:lnTo>
                      <a:pt x="2258987" y="2258987"/>
                    </a:lnTo>
                    <a:lnTo>
                      <a:pt x="0" y="2258987"/>
                    </a:lnTo>
                    <a:close/>
                  </a:path>
                </a:pathLst>
              </a:custGeom>
              <a:grp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682857" tIns="1247604" rIns="682857" bIns="118110" numCol="1" spcCol="1270" anchor="ctr" anchorCtr="0">
                <a:noAutofit/>
              </a:bodyPr>
              <a:lstStyle/>
              <a:p>
                <a:pPr marL="0" marR="0" lvl="0" indent="0" algn="ctr" defTabSz="1377950" rtl="0" eaLnBrk="1" fontAlgn="auto" latinLnBrk="0" hangingPunct="1">
                  <a:lnSpc>
                    <a:spcPct val="90000"/>
                  </a:lnSpc>
                  <a:spcBef>
                    <a:spcPct val="0"/>
                  </a:spcBef>
                  <a:spcAft>
                    <a:spcPct val="35000"/>
                  </a:spcAft>
                  <a:buClrTx/>
                  <a:buSzTx/>
                  <a:buFontTx/>
                  <a:buNone/>
                  <a:tabLst/>
                  <a:defRPr/>
                </a:pPr>
                <a:endParaRPr kumimoji="0" lang="en-IL" sz="31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48" name="Freeform: Shape 47">
                <a:extLst>
                  <a:ext uri="{FF2B5EF4-FFF2-40B4-BE49-F238E27FC236}">
                    <a16:creationId xmlns:a16="http://schemas.microsoft.com/office/drawing/2014/main" id="{B38E5488-D02F-4920-8981-C8022C00F6DC}"/>
                  </a:ext>
                </a:extLst>
              </p:cNvPr>
              <p:cNvSpPr/>
              <p:nvPr/>
            </p:nvSpPr>
            <p:spPr>
              <a:xfrm>
                <a:off x="1237123" y="3605872"/>
                <a:ext cx="2258987" cy="2258987"/>
              </a:xfrm>
              <a:custGeom>
                <a:avLst/>
                <a:gdLst>
                  <a:gd name="connsiteX0" fmla="*/ 0 w 2258987"/>
                  <a:gd name="connsiteY0" fmla="*/ 2258987 h 2258987"/>
                  <a:gd name="connsiteX1" fmla="*/ 1129494 w 2258987"/>
                  <a:gd name="connsiteY1" fmla="*/ 0 h 2258987"/>
                  <a:gd name="connsiteX2" fmla="*/ 2258987 w 2258987"/>
                  <a:gd name="connsiteY2" fmla="*/ 2258987 h 2258987"/>
                  <a:gd name="connsiteX3" fmla="*/ 0 w 2258987"/>
                  <a:gd name="connsiteY3" fmla="*/ 2258987 h 2258987"/>
                </a:gdLst>
                <a:ahLst/>
                <a:cxnLst>
                  <a:cxn ang="0">
                    <a:pos x="connsiteX0" y="connsiteY0"/>
                  </a:cxn>
                  <a:cxn ang="0">
                    <a:pos x="connsiteX1" y="connsiteY1"/>
                  </a:cxn>
                  <a:cxn ang="0">
                    <a:pos x="connsiteX2" y="connsiteY2"/>
                  </a:cxn>
                  <a:cxn ang="0">
                    <a:pos x="connsiteX3" y="connsiteY3"/>
                  </a:cxn>
                </a:cxnLst>
                <a:rect l="l" t="t" r="r" b="b"/>
                <a:pathLst>
                  <a:path w="2258987" h="2258987">
                    <a:moveTo>
                      <a:pt x="0" y="2258987"/>
                    </a:moveTo>
                    <a:lnTo>
                      <a:pt x="1129494" y="0"/>
                    </a:lnTo>
                    <a:lnTo>
                      <a:pt x="2258987" y="2258987"/>
                    </a:lnTo>
                    <a:lnTo>
                      <a:pt x="0" y="2258987"/>
                    </a:lnTo>
                    <a:close/>
                  </a:path>
                </a:pathLst>
              </a:custGeom>
              <a:grp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682857" tIns="1247604" rIns="682857" bIns="118110" numCol="1" spcCol="1270" anchor="ctr" anchorCtr="0">
                <a:noAutofit/>
              </a:bodyPr>
              <a:lstStyle/>
              <a:p>
                <a:pPr marL="0" marR="0" lvl="0" indent="0" algn="ctr" defTabSz="1377950" rtl="0" eaLnBrk="1" fontAlgn="auto" latinLnBrk="0" hangingPunct="1">
                  <a:lnSpc>
                    <a:spcPct val="90000"/>
                  </a:lnSpc>
                  <a:spcBef>
                    <a:spcPct val="0"/>
                  </a:spcBef>
                  <a:spcAft>
                    <a:spcPct val="35000"/>
                  </a:spcAft>
                  <a:buClrTx/>
                  <a:buSzTx/>
                  <a:buFontTx/>
                  <a:buNone/>
                  <a:tabLst/>
                  <a:defRPr/>
                </a:pPr>
                <a:endParaRPr kumimoji="0" lang="en-IL" sz="31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grpSp>
        <p:grpSp>
          <p:nvGrpSpPr>
            <p:cNvPr id="35" name="Group 34">
              <a:extLst>
                <a:ext uri="{FF2B5EF4-FFF2-40B4-BE49-F238E27FC236}">
                  <a16:creationId xmlns:a16="http://schemas.microsoft.com/office/drawing/2014/main" id="{2DAA9A8F-BD94-4D1A-8301-A0CCD0673CF5}"/>
                </a:ext>
              </a:extLst>
            </p:cNvPr>
            <p:cNvGrpSpPr/>
            <p:nvPr/>
          </p:nvGrpSpPr>
          <p:grpSpPr>
            <a:xfrm>
              <a:off x="1624269" y="3119930"/>
              <a:ext cx="2798276" cy="2251368"/>
              <a:chOff x="1624269" y="3119930"/>
              <a:chExt cx="2798276" cy="2251368"/>
            </a:xfrm>
          </p:grpSpPr>
          <p:cxnSp>
            <p:nvCxnSpPr>
              <p:cNvPr id="43" name="Straight Connector 42">
                <a:extLst>
                  <a:ext uri="{FF2B5EF4-FFF2-40B4-BE49-F238E27FC236}">
                    <a16:creationId xmlns:a16="http://schemas.microsoft.com/office/drawing/2014/main" id="{71A2604F-0CC8-4E51-A4B0-5CBFBFDF2FBE}"/>
                  </a:ext>
                </a:extLst>
              </p:cNvPr>
              <p:cNvCxnSpPr>
                <a:endCxn id="47" idx="1"/>
              </p:cNvCxnSpPr>
              <p:nvPr/>
            </p:nvCxnSpPr>
            <p:spPr>
              <a:xfrm>
                <a:off x="1624269" y="3119930"/>
                <a:ext cx="2798276" cy="1"/>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B7141198-7625-43AC-9852-769924368A52}"/>
                  </a:ext>
                </a:extLst>
              </p:cNvPr>
              <p:cNvCxnSpPr>
                <a:cxnSpLocks/>
                <a:stCxn id="48" idx="2"/>
                <a:endCxn id="46" idx="1"/>
              </p:cNvCxnSpPr>
              <p:nvPr/>
            </p:nvCxnSpPr>
            <p:spPr>
              <a:xfrm flipV="1">
                <a:off x="3031027" y="3129872"/>
                <a:ext cx="4493" cy="2241426"/>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36" name="Oval 35">
              <a:extLst>
                <a:ext uri="{FF2B5EF4-FFF2-40B4-BE49-F238E27FC236}">
                  <a16:creationId xmlns:a16="http://schemas.microsoft.com/office/drawing/2014/main" id="{4494DD75-D162-45A9-A5AA-2154EB3484DE}"/>
                </a:ext>
              </a:extLst>
            </p:cNvPr>
            <p:cNvSpPr/>
            <p:nvPr/>
          </p:nvSpPr>
          <p:spPr>
            <a:xfrm>
              <a:off x="1937886" y="2629656"/>
              <a:ext cx="2232000" cy="2232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sp>
          <p:nvSpPr>
            <p:cNvPr id="37" name="TextBox 36">
              <a:extLst>
                <a:ext uri="{FF2B5EF4-FFF2-40B4-BE49-F238E27FC236}">
                  <a16:creationId xmlns:a16="http://schemas.microsoft.com/office/drawing/2014/main" id="{DCA672CD-283D-4BD2-9546-B95CA39D8536}"/>
                </a:ext>
              </a:extLst>
            </p:cNvPr>
            <p:cNvSpPr txBox="1"/>
            <p:nvPr/>
          </p:nvSpPr>
          <p:spPr>
            <a:xfrm>
              <a:off x="2597649" y="1819232"/>
              <a:ext cx="851515" cy="369332"/>
            </a:xfrm>
            <a:prstGeom prst="rect">
              <a:avLst/>
            </a:prstGeom>
            <a:noFill/>
          </p:spPr>
          <p:txBody>
            <a:bodyPr wrap="non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ממשלה</a:t>
              </a:r>
              <a:endParaRPr kumimoji="0" lang="en-IL"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38" name="TextBox 37">
              <a:extLst>
                <a:ext uri="{FF2B5EF4-FFF2-40B4-BE49-F238E27FC236}">
                  <a16:creationId xmlns:a16="http://schemas.microsoft.com/office/drawing/2014/main" id="{13710617-6A42-40BE-8DF2-73F6A946EBAE}"/>
                </a:ext>
              </a:extLst>
            </p:cNvPr>
            <p:cNvSpPr txBox="1"/>
            <p:nvPr/>
          </p:nvSpPr>
          <p:spPr>
            <a:xfrm>
              <a:off x="4251382" y="4547013"/>
              <a:ext cx="901209" cy="646331"/>
            </a:xfrm>
            <a:prstGeom prst="rect">
              <a:avLst/>
            </a:prstGeom>
            <a:noFill/>
          </p:spPr>
          <p:txBody>
            <a:bodyPr wrap="non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רשויות </a:t>
              </a:r>
              <a:br>
                <a:rPr kumimoji="0" lang="en-US"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br>
              <a:r>
                <a:rPr kumimoji="0" lang="he-IL"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מקומיות</a:t>
              </a:r>
              <a:endParaRPr kumimoji="0" lang="en-IL"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39" name="TextBox 38">
              <a:extLst>
                <a:ext uri="{FF2B5EF4-FFF2-40B4-BE49-F238E27FC236}">
                  <a16:creationId xmlns:a16="http://schemas.microsoft.com/office/drawing/2014/main" id="{0FE632B9-BEFB-4137-8590-42DE27B3AE4B}"/>
                </a:ext>
              </a:extLst>
            </p:cNvPr>
            <p:cNvSpPr txBox="1"/>
            <p:nvPr/>
          </p:nvSpPr>
          <p:spPr>
            <a:xfrm>
              <a:off x="1069534" y="4522532"/>
              <a:ext cx="1034257" cy="646331"/>
            </a:xfrm>
            <a:prstGeom prst="rect">
              <a:avLst/>
            </a:prstGeom>
            <a:noFill/>
          </p:spPr>
          <p:txBody>
            <a:bodyPr wrap="non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ספקי </a:t>
              </a:r>
            </a:p>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השירותים</a:t>
              </a:r>
              <a:endParaRPr kumimoji="0" lang="en-IL"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41" name="TextBox 40">
              <a:extLst>
                <a:ext uri="{FF2B5EF4-FFF2-40B4-BE49-F238E27FC236}">
                  <a16:creationId xmlns:a16="http://schemas.microsoft.com/office/drawing/2014/main" id="{AA53CD91-4E6C-4325-BF69-33C6BE63F0E1}"/>
                </a:ext>
              </a:extLst>
            </p:cNvPr>
            <p:cNvSpPr txBox="1"/>
            <p:nvPr/>
          </p:nvSpPr>
          <p:spPr>
            <a:xfrm>
              <a:off x="2279438" y="4065808"/>
              <a:ext cx="1563248" cy="707886"/>
            </a:xfrm>
            <a:prstGeom prst="rect">
              <a:avLst/>
            </a:prstGeom>
            <a:noFill/>
          </p:spPr>
          <p:txBody>
            <a:bodyPr wrap="non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האזרח הוותיק </a:t>
              </a:r>
              <a:br>
                <a:rPr kumimoji="0" lang="en-US" sz="20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br>
              <a:r>
                <a:rPr kumimoji="0" lang="he-IL" sz="20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במרכז</a:t>
              </a:r>
              <a:endParaRPr kumimoji="0" lang="en-IL" sz="20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42" name="TextBox 41">
              <a:extLst>
                <a:ext uri="{FF2B5EF4-FFF2-40B4-BE49-F238E27FC236}">
                  <a16:creationId xmlns:a16="http://schemas.microsoft.com/office/drawing/2014/main" id="{F7C48B2C-5519-4DD7-91B1-A3C9EC5274A1}"/>
                </a:ext>
              </a:extLst>
            </p:cNvPr>
            <p:cNvSpPr txBox="1"/>
            <p:nvPr/>
          </p:nvSpPr>
          <p:spPr>
            <a:xfrm>
              <a:off x="2171272" y="5997056"/>
              <a:ext cx="1608133" cy="369332"/>
            </a:xfrm>
            <a:prstGeom prst="rect">
              <a:avLst/>
            </a:prstGeom>
            <a:noFill/>
          </p:spPr>
          <p:txBody>
            <a:bodyPr wrap="non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דאטה וטכנולוגיה</a:t>
              </a:r>
              <a:endParaRPr kumimoji="0" lang="en-IL"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grpSp>
      <p:pic>
        <p:nvPicPr>
          <p:cNvPr id="50" name="Picture 3" descr="קובץ:Ministry of Labor, Social Affairs and Social Services ...">
            <a:extLst>
              <a:ext uri="{FF2B5EF4-FFF2-40B4-BE49-F238E27FC236}">
                <a16:creationId xmlns:a16="http://schemas.microsoft.com/office/drawing/2014/main" id="{473BA2BE-788A-4268-8700-59016893033D}"/>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1613806" y="6281233"/>
            <a:ext cx="1742734" cy="475167"/>
          </a:xfrm>
          <a:prstGeom prst="rect">
            <a:avLst/>
          </a:prstGeom>
          <a:noFill/>
          <a:extLst>
            <a:ext uri="{909E8E84-426E-40DD-AFC4-6F175D3DCCD1}">
              <a14:hiddenFill xmlns:a14="http://schemas.microsoft.com/office/drawing/2010/main">
                <a:solidFill>
                  <a:srgbClr val="FFFFFF"/>
                </a:solidFill>
              </a14:hiddenFill>
            </a:ext>
          </a:extLst>
        </p:spPr>
      </p:pic>
      <p:sp>
        <p:nvSpPr>
          <p:cNvPr id="51" name="Rectangle 50">
            <a:extLst>
              <a:ext uri="{FF2B5EF4-FFF2-40B4-BE49-F238E27FC236}">
                <a16:creationId xmlns:a16="http://schemas.microsoft.com/office/drawing/2014/main" id="{EA6D7B2B-F9CA-473F-B360-C0BC9C9AE259}"/>
              </a:ext>
            </a:extLst>
          </p:cNvPr>
          <p:cNvSpPr/>
          <p:nvPr/>
        </p:nvSpPr>
        <p:spPr>
          <a:xfrm>
            <a:off x="75674" y="101600"/>
            <a:ext cx="2230646" cy="741680"/>
          </a:xfrm>
          <a:prstGeom prst="rect">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sp>
        <p:nvSpPr>
          <p:cNvPr id="26" name="מלבן 25"/>
          <p:cNvSpPr/>
          <p:nvPr/>
        </p:nvSpPr>
        <p:spPr>
          <a:xfrm>
            <a:off x="3093" y="0"/>
            <a:ext cx="244547" cy="6857999"/>
          </a:xfrm>
          <a:prstGeom prst="rect">
            <a:avLst/>
          </a:prstGeom>
          <a:solidFill>
            <a:srgbClr val="5EC5C5"/>
          </a:solidFill>
          <a:ln>
            <a:solidFill>
              <a:srgbClr val="2CC2E0"/>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Calibri"/>
              <a:ea typeface="+mn-ea"/>
              <a:cs typeface="Calibri"/>
            </a:endParaRPr>
          </a:p>
        </p:txBody>
      </p:sp>
      <p:sp>
        <p:nvSpPr>
          <p:cNvPr id="27" name="TextBox 26"/>
          <p:cNvSpPr txBox="1"/>
          <p:nvPr/>
        </p:nvSpPr>
        <p:spPr>
          <a:xfrm rot="16200000">
            <a:off x="-685275" y="625772"/>
            <a:ext cx="1616148" cy="338554"/>
          </a:xfrm>
          <a:prstGeom prst="rect">
            <a:avLst/>
          </a:prstGeom>
          <a:noFill/>
        </p:spPr>
        <p:txBody>
          <a:bodyPr wrap="non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1"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סל מותאם אישית</a:t>
            </a:r>
          </a:p>
        </p:txBody>
      </p:sp>
      <p:pic>
        <p:nvPicPr>
          <p:cNvPr id="66" name="תמונה 65">
            <a:extLst>
              <a:ext uri="{FF2B5EF4-FFF2-40B4-BE49-F238E27FC236}">
                <a16:creationId xmlns:a16="http://schemas.microsoft.com/office/drawing/2014/main" id="{CEF87F6E-70F3-AAFD-2A3A-116043169CFA}"/>
              </a:ext>
            </a:extLst>
          </p:cNvPr>
          <p:cNvPicPr>
            <a:picLocks noChangeAspect="1"/>
          </p:cNvPicPr>
          <p:nvPr/>
        </p:nvPicPr>
        <p:blipFill>
          <a:blip r:embed="rId4"/>
          <a:stretch>
            <a:fillRect/>
          </a:stretch>
        </p:blipFill>
        <p:spPr>
          <a:xfrm>
            <a:off x="8669720" y="2966542"/>
            <a:ext cx="899371" cy="945221"/>
          </a:xfrm>
          <a:prstGeom prst="rect">
            <a:avLst/>
          </a:prstGeom>
        </p:spPr>
      </p:pic>
      <p:pic>
        <p:nvPicPr>
          <p:cNvPr id="2" name="Picture 26">
            <a:extLst>
              <a:ext uri="{FF2B5EF4-FFF2-40B4-BE49-F238E27FC236}">
                <a16:creationId xmlns:a16="http://schemas.microsoft.com/office/drawing/2014/main" id="{2A234E56-D452-572C-2656-F1C61F287E0D}"/>
              </a:ext>
            </a:extLst>
          </p:cNvPr>
          <p:cNvPicPr>
            <a:picLocks noChangeAspect="1"/>
          </p:cNvPicPr>
          <p:nvPr/>
        </p:nvPicPr>
        <p:blipFill>
          <a:blip r:embed="rId5"/>
          <a:stretch>
            <a:fillRect/>
          </a:stretch>
        </p:blipFill>
        <p:spPr>
          <a:xfrm>
            <a:off x="371548" y="6181722"/>
            <a:ext cx="1118350" cy="612431"/>
          </a:xfrm>
          <a:prstGeom prst="rect">
            <a:avLst/>
          </a:prstGeom>
          <a:ln>
            <a:noFill/>
          </a:ln>
        </p:spPr>
      </p:pic>
    </p:spTree>
    <p:extLst>
      <p:ext uri="{BB962C8B-B14F-4D97-AF65-F5344CB8AC3E}">
        <p14:creationId xmlns:p14="http://schemas.microsoft.com/office/powerpoint/2010/main" val="2243344793"/>
      </p:ext>
    </p:extLst>
  </p:cSld>
  <p:clrMapOvr>
    <a:masterClrMapping/>
  </p:clrMapOvr>
  <p:transition spd="slow">
    <p:wipe dir="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CE73997-6574-49DE-B59B-4663D0FDC09C}"/>
              </a:ext>
            </a:extLst>
          </p:cNvPr>
          <p:cNvSpPr txBox="1"/>
          <p:nvPr/>
        </p:nvSpPr>
        <p:spPr>
          <a:xfrm>
            <a:off x="1478050" y="2702162"/>
            <a:ext cx="5843515" cy="3139321"/>
          </a:xfrm>
          <a:prstGeom prst="rect">
            <a:avLst/>
          </a:prstGeom>
          <a:noFill/>
        </p:spPr>
        <p:txBody>
          <a:bodyPr wrap="squar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prstClr val="black"/>
                </a:solidFill>
                <a:effectLst/>
                <a:uLnTx/>
                <a:uFillTx/>
                <a:latin typeface="Calibri-Bold"/>
                <a:ea typeface="+mn-ea"/>
                <a:cs typeface="Assistant" pitchFamily="2" charset="-79"/>
              </a:rPr>
              <a:t>התאמה אישית </a:t>
            </a:r>
            <a:r>
              <a:rPr kumimoji="0" lang="he-IL" sz="1800" b="0" i="0" u="none" strike="noStrike" kern="1200" cap="none" spc="0" normalizeH="0" baseline="0" noProof="0" dirty="0">
                <a:ln>
                  <a:noFill/>
                </a:ln>
                <a:solidFill>
                  <a:prstClr val="black"/>
                </a:solidFill>
                <a:effectLst/>
                <a:uLnTx/>
                <a:uFillTx/>
                <a:latin typeface="Assistant" pitchFamily="2" charset="-79"/>
                <a:ea typeface="+mn-ea"/>
                <a:cs typeface="Assistant" pitchFamily="2" charset="-79"/>
              </a:rPr>
              <a:t>–בחירת שירות בהתבסס על צרכים </a:t>
            </a:r>
            <a:br>
              <a:rPr kumimoji="0" lang="en-US" sz="1800" b="0" i="0" u="none" strike="noStrike" kern="1200" cap="none" spc="0" normalizeH="0" baseline="0" noProof="0" dirty="0">
                <a:ln>
                  <a:noFill/>
                </a:ln>
                <a:solidFill>
                  <a:prstClr val="black"/>
                </a:solidFill>
                <a:effectLst/>
                <a:uLnTx/>
                <a:uFillTx/>
                <a:latin typeface="Assistant" pitchFamily="2" charset="-79"/>
                <a:ea typeface="+mn-ea"/>
                <a:cs typeface="Assistant" pitchFamily="2" charset="-79"/>
              </a:rPr>
            </a:br>
            <a:r>
              <a:rPr kumimoji="0" lang="he-IL" sz="1800" b="0" i="0" u="none" strike="noStrike" kern="1200" cap="none" spc="0" normalizeH="0" baseline="0" noProof="0" dirty="0">
                <a:ln>
                  <a:noFill/>
                </a:ln>
                <a:solidFill>
                  <a:prstClr val="black"/>
                </a:solidFill>
                <a:effectLst/>
                <a:uLnTx/>
                <a:uFillTx/>
                <a:latin typeface="Assistant" pitchFamily="2" charset="-79"/>
                <a:ea typeface="+mn-ea"/>
                <a:cs typeface="Assistant" pitchFamily="2" charset="-79"/>
              </a:rPr>
              <a:t>של משתמשים, כולל התאמה וייעוץ מקצועי</a:t>
            </a: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he-IL" sz="1800" b="1" i="0" u="none" strike="noStrike" kern="1200" cap="none" spc="0" normalizeH="0" baseline="0" noProof="0" dirty="0">
              <a:ln>
                <a:noFill/>
              </a:ln>
              <a:solidFill>
                <a:prstClr val="black"/>
              </a:solidFill>
              <a:effectLst/>
              <a:uLnTx/>
              <a:uFillTx/>
              <a:latin typeface="Calibri-Bold"/>
              <a:ea typeface="+mn-ea"/>
              <a:cs typeface="Assistant" pitchFamily="2" charset="-79"/>
            </a:endParaRP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prstClr val="black"/>
                </a:solidFill>
                <a:effectLst/>
                <a:uLnTx/>
                <a:uFillTx/>
                <a:latin typeface="Calibri-Bold"/>
                <a:ea typeface="+mn-ea"/>
                <a:cs typeface="Assistant" pitchFamily="2" charset="-79"/>
              </a:rPr>
              <a:t>חווית ובחירת הלקוח באמצעות דיגיטציה </a:t>
            </a:r>
            <a:r>
              <a:rPr kumimoji="0" lang="he-IL" sz="1800" b="0" i="0" u="none" strike="noStrike" kern="1200" cap="none" spc="0" normalizeH="0" baseline="0" noProof="0" dirty="0">
                <a:ln>
                  <a:noFill/>
                </a:ln>
                <a:solidFill>
                  <a:prstClr val="black"/>
                </a:solidFill>
                <a:effectLst/>
                <a:uLnTx/>
                <a:uFillTx/>
                <a:latin typeface="Assistant" pitchFamily="2" charset="-79"/>
                <a:ea typeface="+mn-ea"/>
                <a:cs typeface="Assistant" pitchFamily="2" charset="-79"/>
              </a:rPr>
              <a:t>– שירות דיגיטלי ואנושי משולב לייעול תהליך ההתאמה והרכש (</a:t>
            </a:r>
            <a:r>
              <a:rPr kumimoji="0" lang="he-IL" sz="1800" b="1" i="0" u="none" strike="noStrike" kern="1200" cap="none" spc="0" normalizeH="0" baseline="0" noProof="0" dirty="0">
                <a:ln>
                  <a:noFill/>
                </a:ln>
                <a:solidFill>
                  <a:prstClr val="black"/>
                </a:solidFill>
                <a:effectLst/>
                <a:uLnTx/>
                <a:uFillTx/>
                <a:latin typeface="Assistant" pitchFamily="2" charset="-79"/>
                <a:ea typeface="+mn-ea"/>
                <a:cs typeface="Assistant" pitchFamily="2" charset="-79"/>
              </a:rPr>
              <a:t>ארנק דיגיטלי</a:t>
            </a:r>
            <a:r>
              <a:rPr kumimoji="0" lang="he-IL" sz="1800" b="0" i="0" u="none" strike="noStrike" kern="1200" cap="none" spc="0" normalizeH="0" baseline="0" noProof="0" dirty="0">
                <a:ln>
                  <a:noFill/>
                </a:ln>
                <a:solidFill>
                  <a:prstClr val="black"/>
                </a:solidFill>
                <a:effectLst/>
                <a:uLnTx/>
                <a:uFillTx/>
                <a:latin typeface="Assistant" pitchFamily="2" charset="-79"/>
                <a:ea typeface="+mn-ea"/>
                <a:cs typeface="Assistant" pitchFamily="2" charset="-79"/>
              </a:rPr>
              <a:t>)</a:t>
            </a: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he-IL" sz="1800" b="1" i="0" u="none" strike="noStrike" kern="1200" cap="none" spc="0" normalizeH="0" baseline="0" noProof="0" dirty="0">
              <a:ln>
                <a:noFill/>
              </a:ln>
              <a:solidFill>
                <a:prstClr val="black"/>
              </a:solidFill>
              <a:effectLst/>
              <a:uLnTx/>
              <a:uFillTx/>
              <a:latin typeface="Calibri-Bold"/>
              <a:ea typeface="+mn-ea"/>
              <a:cs typeface="Assistant" pitchFamily="2" charset="-79"/>
            </a:endParaRP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prstClr val="black"/>
                </a:solidFill>
                <a:effectLst/>
                <a:uLnTx/>
                <a:uFillTx/>
                <a:latin typeface="Calibri-Bold"/>
                <a:ea typeface="+mn-ea"/>
                <a:cs typeface="Assistant" pitchFamily="2" charset="-79"/>
              </a:rPr>
              <a:t>פתיחת השוק והתחרות </a:t>
            </a:r>
            <a:r>
              <a:rPr kumimoji="0" lang="he-IL" sz="1800" b="0" i="0" u="none" strike="noStrike" kern="1200" cap="none" spc="0" normalizeH="0" baseline="0" noProof="0" dirty="0">
                <a:ln>
                  <a:noFill/>
                </a:ln>
                <a:solidFill>
                  <a:prstClr val="black"/>
                </a:solidFill>
                <a:effectLst/>
                <a:uLnTx/>
                <a:uFillTx/>
                <a:latin typeface="Assistant" pitchFamily="2" charset="-79"/>
                <a:ea typeface="+mn-ea"/>
                <a:cs typeface="Assistant" pitchFamily="2" charset="-79"/>
              </a:rPr>
              <a:t>– היצע רחב היקף של שירותים ממשלתיים ו"עסקיים"</a:t>
            </a: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dirty="0">
              <a:ln>
                <a:noFill/>
              </a:ln>
              <a:solidFill>
                <a:prstClr val="black"/>
              </a:solidFill>
              <a:effectLst/>
              <a:uLnTx/>
              <a:uFillTx/>
              <a:latin typeface="ArialMT"/>
              <a:ea typeface="+mn-ea"/>
              <a:cs typeface="Assistant" pitchFamily="2" charset="-79"/>
            </a:endParaRP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prstClr val="black"/>
                </a:solidFill>
                <a:effectLst/>
                <a:uLnTx/>
                <a:uFillTx/>
                <a:latin typeface="Calibri-Bold"/>
                <a:ea typeface="+mn-ea"/>
                <a:cs typeface="Assistant" pitchFamily="2" charset="-79"/>
              </a:rPr>
              <a:t>הצפת הערך למגוון רחב של משתמשים </a:t>
            </a:r>
            <a:r>
              <a:rPr kumimoji="0" lang="he-IL" sz="1800" b="0" i="0" u="none" strike="noStrike" kern="1200" cap="none" spc="0" normalizeH="0" baseline="0" noProof="0" dirty="0">
                <a:ln>
                  <a:noFill/>
                </a:ln>
                <a:solidFill>
                  <a:prstClr val="black"/>
                </a:solidFill>
                <a:effectLst/>
                <a:uLnTx/>
                <a:uFillTx/>
                <a:latin typeface="Assistant" pitchFamily="2" charset="-79"/>
                <a:ea typeface="+mn-ea"/>
                <a:cs typeface="Assistant" pitchFamily="2" charset="-79"/>
              </a:rPr>
              <a:t>– הרחבת הרלוונטיות של השירותים למספר גדול יותר של משתמשים </a:t>
            </a:r>
            <a:endParaRPr kumimoji="0" lang="en-IL" sz="1800" b="0" i="0" u="none" strike="noStrike" kern="1200" cap="none" spc="0" normalizeH="0" baseline="0" noProof="0" dirty="0">
              <a:ln>
                <a:noFill/>
              </a:ln>
              <a:solidFill>
                <a:prstClr val="black"/>
              </a:solidFill>
              <a:effectLst/>
              <a:uLnTx/>
              <a:uFillTx/>
              <a:latin typeface="Assistant" pitchFamily="2" charset="-79"/>
              <a:ea typeface="+mn-ea"/>
              <a:cs typeface="Assistant" pitchFamily="2" charset="-79"/>
            </a:endParaRPr>
          </a:p>
        </p:txBody>
      </p:sp>
      <p:sp>
        <p:nvSpPr>
          <p:cNvPr id="4" name="TextBox 3">
            <a:extLst>
              <a:ext uri="{FF2B5EF4-FFF2-40B4-BE49-F238E27FC236}">
                <a16:creationId xmlns:a16="http://schemas.microsoft.com/office/drawing/2014/main" id="{DE6318F1-8DBF-4E4C-81B5-5A9847B49581}"/>
              </a:ext>
            </a:extLst>
          </p:cNvPr>
          <p:cNvSpPr txBox="1"/>
          <p:nvPr/>
        </p:nvSpPr>
        <p:spPr>
          <a:xfrm>
            <a:off x="6349013" y="288622"/>
            <a:ext cx="4863832" cy="830997"/>
          </a:xfrm>
          <a:prstGeom prst="rect">
            <a:avLst/>
          </a:prstGeom>
          <a:noFill/>
        </p:spPr>
        <p:txBody>
          <a:bodyPr wrap="non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1" i="0" u="none" strike="noStrike" kern="1200" cap="none" spc="0" normalizeH="0" baseline="0" noProof="0" dirty="0">
                <a:ln>
                  <a:noFill/>
                </a:ln>
                <a:solidFill>
                  <a:srgbClr val="0F6FC6"/>
                </a:solidFill>
                <a:effectLst/>
                <a:uLnTx/>
                <a:uFillTx/>
                <a:latin typeface="Assistant" pitchFamily="2" charset="-79"/>
                <a:ea typeface="+mn-ea"/>
                <a:cs typeface="Assistant" pitchFamily="2" charset="-79"/>
              </a:rPr>
              <a:t>האדם במרכז</a:t>
            </a:r>
            <a:br>
              <a:rPr kumimoji="0" lang="en-US" sz="1600" b="0" i="0" u="none" strike="noStrike" kern="1200" cap="none" spc="0" normalizeH="0" baseline="0" noProof="0" dirty="0">
                <a:ln>
                  <a:noFill/>
                </a:ln>
                <a:solidFill>
                  <a:srgbClr val="0F6FC6"/>
                </a:solidFill>
                <a:effectLst/>
                <a:uLnTx/>
                <a:uFillTx/>
                <a:latin typeface="Assistant" pitchFamily="2" charset="-79"/>
                <a:ea typeface="+mn-ea"/>
                <a:cs typeface="Assistant" pitchFamily="2" charset="-79"/>
              </a:rPr>
            </a:br>
            <a:r>
              <a:rPr kumimoji="0" lang="he-IL" sz="3200" b="1" i="0" u="none" strike="noStrike" kern="1200" cap="none" spc="0" normalizeH="0" baseline="0" noProof="0" dirty="0">
                <a:ln>
                  <a:noFill/>
                </a:ln>
                <a:solidFill>
                  <a:srgbClr val="0F6FC6"/>
                </a:solidFill>
                <a:effectLst/>
                <a:uLnTx/>
                <a:uFillTx/>
                <a:latin typeface="Assistant" pitchFamily="2" charset="-79"/>
                <a:ea typeface="+mn-ea"/>
                <a:cs typeface="Assistant" pitchFamily="2" charset="-79"/>
              </a:rPr>
              <a:t>סל שירותים מותאם אישית </a:t>
            </a:r>
            <a:r>
              <a:rPr kumimoji="0" lang="en-US" sz="3200" b="1" i="0" u="none" strike="noStrike" kern="1200" cap="none" spc="0" normalizeH="0" baseline="0" noProof="0" dirty="0">
                <a:ln>
                  <a:noFill/>
                </a:ln>
                <a:solidFill>
                  <a:srgbClr val="0F6FC6"/>
                </a:solidFill>
                <a:effectLst/>
                <a:uLnTx/>
                <a:uFillTx/>
                <a:latin typeface="Assistant" pitchFamily="2" charset="-79"/>
                <a:ea typeface="+mn-ea"/>
                <a:cs typeface="Assistant" pitchFamily="2" charset="-79"/>
              </a:rPr>
              <a:t>AI</a:t>
            </a:r>
            <a:r>
              <a:rPr kumimoji="0" lang="he-IL" sz="3200" b="1" i="0" u="none" strike="noStrike" kern="1200" cap="none" spc="0" normalizeH="0" baseline="0" noProof="0" dirty="0">
                <a:ln>
                  <a:noFill/>
                </a:ln>
                <a:solidFill>
                  <a:srgbClr val="0F6FC6"/>
                </a:solidFill>
                <a:effectLst/>
                <a:uLnTx/>
                <a:uFillTx/>
                <a:latin typeface="Assistant" pitchFamily="2" charset="-79"/>
                <a:ea typeface="+mn-ea"/>
                <a:cs typeface="Assistant" pitchFamily="2" charset="-79"/>
              </a:rPr>
              <a:t>:</a:t>
            </a:r>
            <a:endParaRPr kumimoji="0" lang="en-IL" sz="3200" b="1" i="0" u="none" strike="noStrike" kern="1200" cap="none" spc="0" normalizeH="0" baseline="0" noProof="0" dirty="0">
              <a:ln>
                <a:noFill/>
              </a:ln>
              <a:solidFill>
                <a:srgbClr val="0F6FC6"/>
              </a:solidFill>
              <a:effectLst/>
              <a:uLnTx/>
              <a:uFillTx/>
              <a:latin typeface="Assistant" pitchFamily="2" charset="-79"/>
              <a:ea typeface="+mn-ea"/>
              <a:cs typeface="Assistant" pitchFamily="2" charset="-79"/>
            </a:endParaRPr>
          </a:p>
        </p:txBody>
      </p:sp>
      <p:sp>
        <p:nvSpPr>
          <p:cNvPr id="5" name="TextBox 4">
            <a:extLst>
              <a:ext uri="{FF2B5EF4-FFF2-40B4-BE49-F238E27FC236}">
                <a16:creationId xmlns:a16="http://schemas.microsoft.com/office/drawing/2014/main" id="{8E3EAA74-2138-409F-A65D-3533E030ED5F}"/>
              </a:ext>
            </a:extLst>
          </p:cNvPr>
          <p:cNvSpPr txBox="1"/>
          <p:nvPr/>
        </p:nvSpPr>
        <p:spPr>
          <a:xfrm>
            <a:off x="6255247" y="2291885"/>
            <a:ext cx="1066318" cy="369332"/>
          </a:xfrm>
          <a:prstGeom prst="rect">
            <a:avLst/>
          </a:prstGeom>
          <a:noFill/>
        </p:spPr>
        <p:txBody>
          <a:bodyPr wrap="non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sng" strike="noStrike" kern="1200" cap="none" spc="0" normalizeH="0" baseline="0" noProof="0" dirty="0">
                <a:ln>
                  <a:noFill/>
                </a:ln>
                <a:solidFill>
                  <a:prstClr val="black"/>
                </a:solidFill>
                <a:effectLst/>
                <a:uLnTx/>
                <a:uFillTx/>
                <a:latin typeface="Assistant" pitchFamily="2" charset="-79"/>
                <a:ea typeface="+mn-ea"/>
                <a:cs typeface="Assistant" pitchFamily="2" charset="-79"/>
              </a:rPr>
              <a:t>באמצעות</a:t>
            </a:r>
            <a:endParaRPr kumimoji="0" lang="en-IL" sz="1800" b="1" i="0" u="sng" strike="noStrike" kern="1200" cap="none" spc="0" normalizeH="0" baseline="0" noProof="0" dirty="0">
              <a:ln>
                <a:noFill/>
              </a:ln>
              <a:solidFill>
                <a:prstClr val="black"/>
              </a:solidFill>
              <a:effectLst/>
              <a:uLnTx/>
              <a:uFillTx/>
              <a:latin typeface="Assistant" pitchFamily="2" charset="-79"/>
              <a:ea typeface="+mn-ea"/>
              <a:cs typeface="Assistant" pitchFamily="2" charset="-79"/>
            </a:endParaRPr>
          </a:p>
        </p:txBody>
      </p:sp>
      <p:sp>
        <p:nvSpPr>
          <p:cNvPr id="15" name="TextBox 14">
            <a:extLst>
              <a:ext uri="{FF2B5EF4-FFF2-40B4-BE49-F238E27FC236}">
                <a16:creationId xmlns:a16="http://schemas.microsoft.com/office/drawing/2014/main" id="{02E2399C-2FC9-4033-8BF8-47454D304F4E}"/>
              </a:ext>
            </a:extLst>
          </p:cNvPr>
          <p:cNvSpPr txBox="1"/>
          <p:nvPr/>
        </p:nvSpPr>
        <p:spPr>
          <a:xfrm>
            <a:off x="5977116" y="1065806"/>
            <a:ext cx="5235729" cy="646331"/>
          </a:xfrm>
          <a:prstGeom prst="rect">
            <a:avLst/>
          </a:prstGeom>
          <a:noFill/>
        </p:spPr>
        <p:txBody>
          <a:bodyPr wrap="non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prstClr val="black"/>
                </a:solidFill>
                <a:effectLst/>
                <a:uLnTx/>
                <a:uFillTx/>
                <a:latin typeface="Assistant" pitchFamily="2" charset="-79"/>
                <a:ea typeface="+mn-ea"/>
                <a:cs typeface="Assistant" pitchFamily="2" charset="-79"/>
              </a:rPr>
              <a:t>התאמת שירותים </a:t>
            </a:r>
            <a:r>
              <a:rPr kumimoji="0" lang="he-IL" sz="1800" b="0" i="0" u="none" strike="noStrike" kern="1200" cap="none" spc="0" normalizeH="0" baseline="0" noProof="0" dirty="0">
                <a:ln>
                  <a:noFill/>
                </a:ln>
                <a:solidFill>
                  <a:prstClr val="black"/>
                </a:solidFill>
                <a:effectLst/>
                <a:uLnTx/>
                <a:uFillTx/>
                <a:latin typeface="Assistant" pitchFamily="2" charset="-79"/>
                <a:ea typeface="+mn-ea"/>
                <a:cs typeface="Assistant" pitchFamily="2" charset="-79"/>
              </a:rPr>
              <a:t>ותוכן לאזרח הוותיק באמצעות גמלת סיעוד</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black"/>
                </a:solidFill>
                <a:effectLst/>
                <a:uLnTx/>
                <a:uFillTx/>
                <a:latin typeface="Assistant" pitchFamily="2" charset="-79"/>
                <a:ea typeface="+mn-ea"/>
                <a:cs typeface="Assistant" pitchFamily="2" charset="-79"/>
              </a:rPr>
              <a:t> </a:t>
            </a:r>
            <a:r>
              <a:rPr kumimoji="0" lang="he-IL" sz="1800" b="1" i="0" u="none" strike="noStrike" kern="1200" cap="none" spc="0" normalizeH="0" baseline="0" noProof="0" dirty="0">
                <a:ln>
                  <a:noFill/>
                </a:ln>
                <a:solidFill>
                  <a:prstClr val="black"/>
                </a:solidFill>
                <a:effectLst/>
                <a:uLnTx/>
                <a:uFillTx/>
                <a:latin typeface="Assistant" pitchFamily="2" charset="-79"/>
                <a:ea typeface="+mn-ea"/>
                <a:cs typeface="Assistant" pitchFamily="2" charset="-79"/>
              </a:rPr>
              <a:t>במטרה לקדם הזדקנות מיטבית ומניעת הדרדרות</a:t>
            </a:r>
          </a:p>
        </p:txBody>
      </p:sp>
      <p:pic>
        <p:nvPicPr>
          <p:cNvPr id="19" name="Graphic 18">
            <a:extLst>
              <a:ext uri="{FF2B5EF4-FFF2-40B4-BE49-F238E27FC236}">
                <a16:creationId xmlns:a16="http://schemas.microsoft.com/office/drawing/2014/main" id="{6931C870-1520-4714-93CE-556578F46075}"/>
              </a:ext>
            </a:extLst>
          </p:cNvPr>
          <p:cNvPicPr>
            <a:picLocks noChangeAspect="1"/>
          </p:cNvPicPr>
          <p:nvPr/>
        </p:nvPicPr>
        <p:blipFill rotWithShape="1">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b="19918"/>
          <a:stretch/>
        </p:blipFill>
        <p:spPr>
          <a:xfrm>
            <a:off x="11212845" y="536003"/>
            <a:ext cx="823170" cy="824010"/>
          </a:xfrm>
          <a:prstGeom prst="rect">
            <a:avLst/>
          </a:prstGeom>
        </p:spPr>
      </p:pic>
      <p:sp>
        <p:nvSpPr>
          <p:cNvPr id="20" name="TextBox 19">
            <a:extLst>
              <a:ext uri="{FF2B5EF4-FFF2-40B4-BE49-F238E27FC236}">
                <a16:creationId xmlns:a16="http://schemas.microsoft.com/office/drawing/2014/main" id="{E461B5B5-4817-47F3-858D-D066FF5758E0}"/>
              </a:ext>
            </a:extLst>
          </p:cNvPr>
          <p:cNvSpPr txBox="1"/>
          <p:nvPr/>
        </p:nvSpPr>
        <p:spPr>
          <a:xfrm>
            <a:off x="8173052" y="3225787"/>
            <a:ext cx="3871325" cy="1569660"/>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400" b="1"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סל תפקוד אישי </a:t>
            </a:r>
          </a:p>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400" b="1"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למניעת התדרדרות </a:t>
            </a:r>
            <a:br>
              <a:rPr kumimoji="0" lang="en-US" sz="2400" b="1"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br>
            <a:r>
              <a:rPr kumimoji="0" lang="he-IL" sz="2400" b="1"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ודחיקת תלות</a:t>
            </a:r>
            <a:br>
              <a:rPr kumimoji="0" lang="en-US" sz="2400" b="1"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br>
            <a:r>
              <a:rPr kumimoji="0" lang="he-IL" sz="2400" b="1"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 של האזרחים הוותיקים</a:t>
            </a:r>
            <a:endParaRPr kumimoji="0" lang="en-IL" sz="2400" b="0"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endParaRPr>
          </a:p>
        </p:txBody>
      </p:sp>
      <p:grpSp>
        <p:nvGrpSpPr>
          <p:cNvPr id="21" name="Group 20">
            <a:extLst>
              <a:ext uri="{FF2B5EF4-FFF2-40B4-BE49-F238E27FC236}">
                <a16:creationId xmlns:a16="http://schemas.microsoft.com/office/drawing/2014/main" id="{E0235D9D-852B-4BCA-A0E1-12338D972B33}"/>
              </a:ext>
            </a:extLst>
          </p:cNvPr>
          <p:cNvGrpSpPr>
            <a:grpSpLocks noChangeAspect="1"/>
          </p:cNvGrpSpPr>
          <p:nvPr/>
        </p:nvGrpSpPr>
        <p:grpSpPr>
          <a:xfrm>
            <a:off x="9778278" y="2604268"/>
            <a:ext cx="660872" cy="612000"/>
            <a:chOff x="11115676" y="4182110"/>
            <a:chExt cx="522288" cy="523875"/>
          </a:xfrm>
          <a:solidFill>
            <a:schemeClr val="tx1"/>
          </a:solidFill>
        </p:grpSpPr>
        <p:sp>
          <p:nvSpPr>
            <p:cNvPr id="22" name="Freeform 45">
              <a:extLst>
                <a:ext uri="{FF2B5EF4-FFF2-40B4-BE49-F238E27FC236}">
                  <a16:creationId xmlns:a16="http://schemas.microsoft.com/office/drawing/2014/main" id="{5DB4660E-6DCD-4373-BAA5-B2099EE905F6}"/>
                </a:ext>
              </a:extLst>
            </p:cNvPr>
            <p:cNvSpPr>
              <a:spLocks noEditPoints="1"/>
            </p:cNvSpPr>
            <p:nvPr/>
          </p:nvSpPr>
          <p:spPr bwMode="auto">
            <a:xfrm>
              <a:off x="11115676" y="4182110"/>
              <a:ext cx="522288" cy="523875"/>
            </a:xfrm>
            <a:custGeom>
              <a:avLst/>
              <a:gdLst>
                <a:gd name="T0" fmla="*/ 312 w 659"/>
                <a:gd name="T1" fmla="*/ 657 h 658"/>
                <a:gd name="T2" fmla="*/ 263 w 659"/>
                <a:gd name="T3" fmla="*/ 651 h 658"/>
                <a:gd name="T4" fmla="*/ 202 w 659"/>
                <a:gd name="T5" fmla="*/ 631 h 658"/>
                <a:gd name="T6" fmla="*/ 120 w 659"/>
                <a:gd name="T7" fmla="*/ 583 h 658"/>
                <a:gd name="T8" fmla="*/ 57 w 659"/>
                <a:gd name="T9" fmla="*/ 513 h 658"/>
                <a:gd name="T10" fmla="*/ 15 w 659"/>
                <a:gd name="T11" fmla="*/ 427 h 658"/>
                <a:gd name="T12" fmla="*/ 4 w 659"/>
                <a:gd name="T13" fmla="*/ 379 h 658"/>
                <a:gd name="T14" fmla="*/ 0 w 659"/>
                <a:gd name="T15" fmla="*/ 329 h 658"/>
                <a:gd name="T16" fmla="*/ 2 w 659"/>
                <a:gd name="T17" fmla="*/ 295 h 658"/>
                <a:gd name="T18" fmla="*/ 11 w 659"/>
                <a:gd name="T19" fmla="*/ 247 h 658"/>
                <a:gd name="T20" fmla="*/ 41 w 659"/>
                <a:gd name="T21" fmla="*/ 172 h 658"/>
                <a:gd name="T22" fmla="*/ 97 w 659"/>
                <a:gd name="T23" fmla="*/ 96 h 658"/>
                <a:gd name="T24" fmla="*/ 172 w 659"/>
                <a:gd name="T25" fmla="*/ 40 h 658"/>
                <a:gd name="T26" fmla="*/ 248 w 659"/>
                <a:gd name="T27" fmla="*/ 10 h 658"/>
                <a:gd name="T28" fmla="*/ 296 w 659"/>
                <a:gd name="T29" fmla="*/ 1 h 658"/>
                <a:gd name="T30" fmla="*/ 330 w 659"/>
                <a:gd name="T31" fmla="*/ 0 h 658"/>
                <a:gd name="T32" fmla="*/ 379 w 659"/>
                <a:gd name="T33" fmla="*/ 4 h 658"/>
                <a:gd name="T34" fmla="*/ 426 w 659"/>
                <a:gd name="T35" fmla="*/ 14 h 658"/>
                <a:gd name="T36" fmla="*/ 514 w 659"/>
                <a:gd name="T37" fmla="*/ 56 h 658"/>
                <a:gd name="T38" fmla="*/ 584 w 659"/>
                <a:gd name="T39" fmla="*/ 119 h 658"/>
                <a:gd name="T40" fmla="*/ 632 w 659"/>
                <a:gd name="T41" fmla="*/ 201 h 658"/>
                <a:gd name="T42" fmla="*/ 652 w 659"/>
                <a:gd name="T43" fmla="*/ 263 h 658"/>
                <a:gd name="T44" fmla="*/ 658 w 659"/>
                <a:gd name="T45" fmla="*/ 311 h 658"/>
                <a:gd name="T46" fmla="*/ 658 w 659"/>
                <a:gd name="T47" fmla="*/ 346 h 658"/>
                <a:gd name="T48" fmla="*/ 652 w 659"/>
                <a:gd name="T49" fmla="*/ 395 h 658"/>
                <a:gd name="T50" fmla="*/ 632 w 659"/>
                <a:gd name="T51" fmla="*/ 456 h 658"/>
                <a:gd name="T52" fmla="*/ 584 w 659"/>
                <a:gd name="T53" fmla="*/ 538 h 658"/>
                <a:gd name="T54" fmla="*/ 514 w 659"/>
                <a:gd name="T55" fmla="*/ 602 h 658"/>
                <a:gd name="T56" fmla="*/ 426 w 659"/>
                <a:gd name="T57" fmla="*/ 643 h 658"/>
                <a:gd name="T58" fmla="*/ 379 w 659"/>
                <a:gd name="T59" fmla="*/ 654 h 658"/>
                <a:gd name="T60" fmla="*/ 330 w 659"/>
                <a:gd name="T61" fmla="*/ 658 h 658"/>
                <a:gd name="T62" fmla="*/ 330 w 659"/>
                <a:gd name="T63" fmla="*/ 37 h 658"/>
                <a:gd name="T64" fmla="*/ 242 w 659"/>
                <a:gd name="T65" fmla="*/ 51 h 658"/>
                <a:gd name="T66" fmla="*/ 167 w 659"/>
                <a:gd name="T67" fmla="*/ 87 h 658"/>
                <a:gd name="T68" fmla="*/ 105 w 659"/>
                <a:gd name="T69" fmla="*/ 143 h 658"/>
                <a:gd name="T70" fmla="*/ 61 w 659"/>
                <a:gd name="T71" fmla="*/ 216 h 658"/>
                <a:gd name="T72" fmla="*/ 39 w 659"/>
                <a:gd name="T73" fmla="*/ 299 h 658"/>
                <a:gd name="T74" fmla="*/ 39 w 659"/>
                <a:gd name="T75" fmla="*/ 358 h 658"/>
                <a:gd name="T76" fmla="*/ 61 w 659"/>
                <a:gd name="T77" fmla="*/ 442 h 658"/>
                <a:gd name="T78" fmla="*/ 105 w 659"/>
                <a:gd name="T79" fmla="*/ 514 h 658"/>
                <a:gd name="T80" fmla="*/ 167 w 659"/>
                <a:gd name="T81" fmla="*/ 571 h 658"/>
                <a:gd name="T82" fmla="*/ 242 w 659"/>
                <a:gd name="T83" fmla="*/ 607 h 658"/>
                <a:gd name="T84" fmla="*/ 330 w 659"/>
                <a:gd name="T85" fmla="*/ 620 h 658"/>
                <a:gd name="T86" fmla="*/ 388 w 659"/>
                <a:gd name="T87" fmla="*/ 614 h 658"/>
                <a:gd name="T88" fmla="*/ 468 w 659"/>
                <a:gd name="T89" fmla="*/ 586 h 658"/>
                <a:gd name="T90" fmla="*/ 535 w 659"/>
                <a:gd name="T91" fmla="*/ 534 h 658"/>
                <a:gd name="T92" fmla="*/ 585 w 659"/>
                <a:gd name="T93" fmla="*/ 467 h 658"/>
                <a:gd name="T94" fmla="*/ 615 w 659"/>
                <a:gd name="T95" fmla="*/ 388 h 658"/>
                <a:gd name="T96" fmla="*/ 621 w 659"/>
                <a:gd name="T97" fmla="*/ 329 h 658"/>
                <a:gd name="T98" fmla="*/ 608 w 659"/>
                <a:gd name="T99" fmla="*/ 243 h 658"/>
                <a:gd name="T100" fmla="*/ 570 w 659"/>
                <a:gd name="T101" fmla="*/ 166 h 658"/>
                <a:gd name="T102" fmla="*/ 515 w 659"/>
                <a:gd name="T103" fmla="*/ 104 h 658"/>
                <a:gd name="T104" fmla="*/ 443 w 659"/>
                <a:gd name="T105" fmla="*/ 60 h 658"/>
                <a:gd name="T106" fmla="*/ 359 w 659"/>
                <a:gd name="T107" fmla="*/ 38 h 6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659" h="658">
                  <a:moveTo>
                    <a:pt x="330" y="658"/>
                  </a:moveTo>
                  <a:lnTo>
                    <a:pt x="330" y="658"/>
                  </a:lnTo>
                  <a:lnTo>
                    <a:pt x="312" y="657"/>
                  </a:lnTo>
                  <a:lnTo>
                    <a:pt x="296" y="655"/>
                  </a:lnTo>
                  <a:lnTo>
                    <a:pt x="280" y="654"/>
                  </a:lnTo>
                  <a:lnTo>
                    <a:pt x="263" y="651"/>
                  </a:lnTo>
                  <a:lnTo>
                    <a:pt x="248" y="647"/>
                  </a:lnTo>
                  <a:lnTo>
                    <a:pt x="232" y="643"/>
                  </a:lnTo>
                  <a:lnTo>
                    <a:pt x="202" y="631"/>
                  </a:lnTo>
                  <a:lnTo>
                    <a:pt x="172" y="618"/>
                  </a:lnTo>
                  <a:lnTo>
                    <a:pt x="146" y="602"/>
                  </a:lnTo>
                  <a:lnTo>
                    <a:pt x="120" y="583"/>
                  </a:lnTo>
                  <a:lnTo>
                    <a:pt x="97" y="561"/>
                  </a:lnTo>
                  <a:lnTo>
                    <a:pt x="76" y="538"/>
                  </a:lnTo>
                  <a:lnTo>
                    <a:pt x="57" y="513"/>
                  </a:lnTo>
                  <a:lnTo>
                    <a:pt x="41" y="486"/>
                  </a:lnTo>
                  <a:lnTo>
                    <a:pt x="26" y="456"/>
                  </a:lnTo>
                  <a:lnTo>
                    <a:pt x="15" y="427"/>
                  </a:lnTo>
                  <a:lnTo>
                    <a:pt x="11" y="411"/>
                  </a:lnTo>
                  <a:lnTo>
                    <a:pt x="7" y="395"/>
                  </a:lnTo>
                  <a:lnTo>
                    <a:pt x="4" y="379"/>
                  </a:lnTo>
                  <a:lnTo>
                    <a:pt x="2" y="362"/>
                  </a:lnTo>
                  <a:lnTo>
                    <a:pt x="0" y="346"/>
                  </a:lnTo>
                  <a:lnTo>
                    <a:pt x="0" y="329"/>
                  </a:lnTo>
                  <a:lnTo>
                    <a:pt x="0" y="329"/>
                  </a:lnTo>
                  <a:lnTo>
                    <a:pt x="0" y="311"/>
                  </a:lnTo>
                  <a:lnTo>
                    <a:pt x="2" y="295"/>
                  </a:lnTo>
                  <a:lnTo>
                    <a:pt x="4" y="279"/>
                  </a:lnTo>
                  <a:lnTo>
                    <a:pt x="7" y="263"/>
                  </a:lnTo>
                  <a:lnTo>
                    <a:pt x="11" y="247"/>
                  </a:lnTo>
                  <a:lnTo>
                    <a:pt x="15" y="231"/>
                  </a:lnTo>
                  <a:lnTo>
                    <a:pt x="26" y="201"/>
                  </a:lnTo>
                  <a:lnTo>
                    <a:pt x="41" y="172"/>
                  </a:lnTo>
                  <a:lnTo>
                    <a:pt x="57" y="145"/>
                  </a:lnTo>
                  <a:lnTo>
                    <a:pt x="76" y="119"/>
                  </a:lnTo>
                  <a:lnTo>
                    <a:pt x="97" y="96"/>
                  </a:lnTo>
                  <a:lnTo>
                    <a:pt x="120" y="75"/>
                  </a:lnTo>
                  <a:lnTo>
                    <a:pt x="146" y="56"/>
                  </a:lnTo>
                  <a:lnTo>
                    <a:pt x="172" y="40"/>
                  </a:lnTo>
                  <a:lnTo>
                    <a:pt x="202" y="25"/>
                  </a:lnTo>
                  <a:lnTo>
                    <a:pt x="232" y="14"/>
                  </a:lnTo>
                  <a:lnTo>
                    <a:pt x="248" y="10"/>
                  </a:lnTo>
                  <a:lnTo>
                    <a:pt x="263" y="6"/>
                  </a:lnTo>
                  <a:lnTo>
                    <a:pt x="280" y="4"/>
                  </a:lnTo>
                  <a:lnTo>
                    <a:pt x="296" y="1"/>
                  </a:lnTo>
                  <a:lnTo>
                    <a:pt x="312" y="0"/>
                  </a:lnTo>
                  <a:lnTo>
                    <a:pt x="330" y="0"/>
                  </a:lnTo>
                  <a:lnTo>
                    <a:pt x="330" y="0"/>
                  </a:lnTo>
                  <a:lnTo>
                    <a:pt x="346" y="0"/>
                  </a:lnTo>
                  <a:lnTo>
                    <a:pt x="363" y="1"/>
                  </a:lnTo>
                  <a:lnTo>
                    <a:pt x="379" y="4"/>
                  </a:lnTo>
                  <a:lnTo>
                    <a:pt x="396" y="6"/>
                  </a:lnTo>
                  <a:lnTo>
                    <a:pt x="412" y="10"/>
                  </a:lnTo>
                  <a:lnTo>
                    <a:pt x="426" y="14"/>
                  </a:lnTo>
                  <a:lnTo>
                    <a:pt x="457" y="25"/>
                  </a:lnTo>
                  <a:lnTo>
                    <a:pt x="486" y="40"/>
                  </a:lnTo>
                  <a:lnTo>
                    <a:pt x="514" y="56"/>
                  </a:lnTo>
                  <a:lnTo>
                    <a:pt x="538" y="75"/>
                  </a:lnTo>
                  <a:lnTo>
                    <a:pt x="562" y="96"/>
                  </a:lnTo>
                  <a:lnTo>
                    <a:pt x="584" y="119"/>
                  </a:lnTo>
                  <a:lnTo>
                    <a:pt x="603" y="145"/>
                  </a:lnTo>
                  <a:lnTo>
                    <a:pt x="619" y="172"/>
                  </a:lnTo>
                  <a:lnTo>
                    <a:pt x="632" y="201"/>
                  </a:lnTo>
                  <a:lnTo>
                    <a:pt x="644" y="231"/>
                  </a:lnTo>
                  <a:lnTo>
                    <a:pt x="648" y="247"/>
                  </a:lnTo>
                  <a:lnTo>
                    <a:pt x="652" y="263"/>
                  </a:lnTo>
                  <a:lnTo>
                    <a:pt x="655" y="279"/>
                  </a:lnTo>
                  <a:lnTo>
                    <a:pt x="656" y="295"/>
                  </a:lnTo>
                  <a:lnTo>
                    <a:pt x="658" y="311"/>
                  </a:lnTo>
                  <a:lnTo>
                    <a:pt x="659" y="329"/>
                  </a:lnTo>
                  <a:lnTo>
                    <a:pt x="659" y="329"/>
                  </a:lnTo>
                  <a:lnTo>
                    <a:pt x="658" y="346"/>
                  </a:lnTo>
                  <a:lnTo>
                    <a:pt x="656" y="362"/>
                  </a:lnTo>
                  <a:lnTo>
                    <a:pt x="655" y="379"/>
                  </a:lnTo>
                  <a:lnTo>
                    <a:pt x="652" y="395"/>
                  </a:lnTo>
                  <a:lnTo>
                    <a:pt x="648" y="411"/>
                  </a:lnTo>
                  <a:lnTo>
                    <a:pt x="644" y="427"/>
                  </a:lnTo>
                  <a:lnTo>
                    <a:pt x="632" y="456"/>
                  </a:lnTo>
                  <a:lnTo>
                    <a:pt x="619" y="486"/>
                  </a:lnTo>
                  <a:lnTo>
                    <a:pt x="603" y="513"/>
                  </a:lnTo>
                  <a:lnTo>
                    <a:pt x="584" y="538"/>
                  </a:lnTo>
                  <a:lnTo>
                    <a:pt x="562" y="561"/>
                  </a:lnTo>
                  <a:lnTo>
                    <a:pt x="538" y="583"/>
                  </a:lnTo>
                  <a:lnTo>
                    <a:pt x="514" y="602"/>
                  </a:lnTo>
                  <a:lnTo>
                    <a:pt x="486" y="618"/>
                  </a:lnTo>
                  <a:lnTo>
                    <a:pt x="457" y="631"/>
                  </a:lnTo>
                  <a:lnTo>
                    <a:pt x="426" y="643"/>
                  </a:lnTo>
                  <a:lnTo>
                    <a:pt x="412" y="647"/>
                  </a:lnTo>
                  <a:lnTo>
                    <a:pt x="396" y="651"/>
                  </a:lnTo>
                  <a:lnTo>
                    <a:pt x="379" y="654"/>
                  </a:lnTo>
                  <a:lnTo>
                    <a:pt x="363" y="655"/>
                  </a:lnTo>
                  <a:lnTo>
                    <a:pt x="346" y="657"/>
                  </a:lnTo>
                  <a:lnTo>
                    <a:pt x="330" y="658"/>
                  </a:lnTo>
                  <a:lnTo>
                    <a:pt x="330" y="658"/>
                  </a:lnTo>
                  <a:close/>
                  <a:moveTo>
                    <a:pt x="330" y="37"/>
                  </a:moveTo>
                  <a:lnTo>
                    <a:pt x="330" y="37"/>
                  </a:lnTo>
                  <a:lnTo>
                    <a:pt x="300" y="38"/>
                  </a:lnTo>
                  <a:lnTo>
                    <a:pt x="271" y="44"/>
                  </a:lnTo>
                  <a:lnTo>
                    <a:pt x="242" y="51"/>
                  </a:lnTo>
                  <a:lnTo>
                    <a:pt x="215" y="60"/>
                  </a:lnTo>
                  <a:lnTo>
                    <a:pt x="191" y="72"/>
                  </a:lnTo>
                  <a:lnTo>
                    <a:pt x="167" y="87"/>
                  </a:lnTo>
                  <a:lnTo>
                    <a:pt x="144" y="104"/>
                  </a:lnTo>
                  <a:lnTo>
                    <a:pt x="124" y="123"/>
                  </a:lnTo>
                  <a:lnTo>
                    <a:pt x="105" y="143"/>
                  </a:lnTo>
                  <a:lnTo>
                    <a:pt x="88" y="166"/>
                  </a:lnTo>
                  <a:lnTo>
                    <a:pt x="73" y="190"/>
                  </a:lnTo>
                  <a:lnTo>
                    <a:pt x="61" y="216"/>
                  </a:lnTo>
                  <a:lnTo>
                    <a:pt x="52" y="243"/>
                  </a:lnTo>
                  <a:lnTo>
                    <a:pt x="43" y="270"/>
                  </a:lnTo>
                  <a:lnTo>
                    <a:pt x="39" y="299"/>
                  </a:lnTo>
                  <a:lnTo>
                    <a:pt x="38" y="329"/>
                  </a:lnTo>
                  <a:lnTo>
                    <a:pt x="38" y="329"/>
                  </a:lnTo>
                  <a:lnTo>
                    <a:pt x="39" y="358"/>
                  </a:lnTo>
                  <a:lnTo>
                    <a:pt x="43" y="388"/>
                  </a:lnTo>
                  <a:lnTo>
                    <a:pt x="52" y="415"/>
                  </a:lnTo>
                  <a:lnTo>
                    <a:pt x="61" y="442"/>
                  </a:lnTo>
                  <a:lnTo>
                    <a:pt x="73" y="467"/>
                  </a:lnTo>
                  <a:lnTo>
                    <a:pt x="88" y="491"/>
                  </a:lnTo>
                  <a:lnTo>
                    <a:pt x="105" y="514"/>
                  </a:lnTo>
                  <a:lnTo>
                    <a:pt x="124" y="534"/>
                  </a:lnTo>
                  <a:lnTo>
                    <a:pt x="144" y="553"/>
                  </a:lnTo>
                  <a:lnTo>
                    <a:pt x="167" y="571"/>
                  </a:lnTo>
                  <a:lnTo>
                    <a:pt x="191" y="586"/>
                  </a:lnTo>
                  <a:lnTo>
                    <a:pt x="215" y="598"/>
                  </a:lnTo>
                  <a:lnTo>
                    <a:pt x="242" y="607"/>
                  </a:lnTo>
                  <a:lnTo>
                    <a:pt x="271" y="614"/>
                  </a:lnTo>
                  <a:lnTo>
                    <a:pt x="300" y="619"/>
                  </a:lnTo>
                  <a:lnTo>
                    <a:pt x="330" y="620"/>
                  </a:lnTo>
                  <a:lnTo>
                    <a:pt x="330" y="620"/>
                  </a:lnTo>
                  <a:lnTo>
                    <a:pt x="359" y="619"/>
                  </a:lnTo>
                  <a:lnTo>
                    <a:pt x="388" y="614"/>
                  </a:lnTo>
                  <a:lnTo>
                    <a:pt x="416" y="607"/>
                  </a:lnTo>
                  <a:lnTo>
                    <a:pt x="443" y="598"/>
                  </a:lnTo>
                  <a:lnTo>
                    <a:pt x="468" y="586"/>
                  </a:lnTo>
                  <a:lnTo>
                    <a:pt x="492" y="571"/>
                  </a:lnTo>
                  <a:lnTo>
                    <a:pt x="515" y="553"/>
                  </a:lnTo>
                  <a:lnTo>
                    <a:pt x="535" y="534"/>
                  </a:lnTo>
                  <a:lnTo>
                    <a:pt x="554" y="514"/>
                  </a:lnTo>
                  <a:lnTo>
                    <a:pt x="570" y="491"/>
                  </a:lnTo>
                  <a:lnTo>
                    <a:pt x="585" y="467"/>
                  </a:lnTo>
                  <a:lnTo>
                    <a:pt x="597" y="442"/>
                  </a:lnTo>
                  <a:lnTo>
                    <a:pt x="608" y="415"/>
                  </a:lnTo>
                  <a:lnTo>
                    <a:pt x="615" y="388"/>
                  </a:lnTo>
                  <a:lnTo>
                    <a:pt x="619" y="358"/>
                  </a:lnTo>
                  <a:lnTo>
                    <a:pt x="621" y="329"/>
                  </a:lnTo>
                  <a:lnTo>
                    <a:pt x="621" y="329"/>
                  </a:lnTo>
                  <a:lnTo>
                    <a:pt x="619" y="299"/>
                  </a:lnTo>
                  <a:lnTo>
                    <a:pt x="615" y="270"/>
                  </a:lnTo>
                  <a:lnTo>
                    <a:pt x="608" y="243"/>
                  </a:lnTo>
                  <a:lnTo>
                    <a:pt x="597" y="216"/>
                  </a:lnTo>
                  <a:lnTo>
                    <a:pt x="585" y="190"/>
                  </a:lnTo>
                  <a:lnTo>
                    <a:pt x="570" y="166"/>
                  </a:lnTo>
                  <a:lnTo>
                    <a:pt x="554" y="143"/>
                  </a:lnTo>
                  <a:lnTo>
                    <a:pt x="535" y="123"/>
                  </a:lnTo>
                  <a:lnTo>
                    <a:pt x="515" y="104"/>
                  </a:lnTo>
                  <a:lnTo>
                    <a:pt x="492" y="87"/>
                  </a:lnTo>
                  <a:lnTo>
                    <a:pt x="468" y="72"/>
                  </a:lnTo>
                  <a:lnTo>
                    <a:pt x="443" y="60"/>
                  </a:lnTo>
                  <a:lnTo>
                    <a:pt x="416" y="51"/>
                  </a:lnTo>
                  <a:lnTo>
                    <a:pt x="388" y="44"/>
                  </a:lnTo>
                  <a:lnTo>
                    <a:pt x="359" y="38"/>
                  </a:lnTo>
                  <a:lnTo>
                    <a:pt x="330" y="37"/>
                  </a:lnTo>
                  <a:lnTo>
                    <a:pt x="330" y="3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srgbClr val="0F6FC6">
                    <a:lumMod val="50000"/>
                  </a:srgbClr>
                </a:solidFill>
                <a:effectLst/>
                <a:uLnTx/>
                <a:uFillTx/>
                <a:latin typeface="Assistant" pitchFamily="2" charset="-79"/>
                <a:ea typeface="+mn-ea"/>
                <a:cs typeface="Assistant" pitchFamily="2" charset="-79"/>
              </a:endParaRPr>
            </a:p>
          </p:txBody>
        </p:sp>
        <p:sp>
          <p:nvSpPr>
            <p:cNvPr id="23" name="Freeform 327">
              <a:extLst>
                <a:ext uri="{FF2B5EF4-FFF2-40B4-BE49-F238E27FC236}">
                  <a16:creationId xmlns:a16="http://schemas.microsoft.com/office/drawing/2014/main" id="{6A8BC4C7-7D58-4703-BB9C-F0B7DFF21179}"/>
                </a:ext>
              </a:extLst>
            </p:cNvPr>
            <p:cNvSpPr>
              <a:spLocks/>
            </p:cNvSpPr>
            <p:nvPr/>
          </p:nvSpPr>
          <p:spPr bwMode="auto">
            <a:xfrm>
              <a:off x="11260138" y="4337685"/>
              <a:ext cx="66675" cy="66675"/>
            </a:xfrm>
            <a:custGeom>
              <a:avLst/>
              <a:gdLst>
                <a:gd name="T0" fmla="*/ 2 w 85"/>
                <a:gd name="T1" fmla="*/ 81 h 85"/>
                <a:gd name="T2" fmla="*/ 2 w 85"/>
                <a:gd name="T3" fmla="*/ 81 h 85"/>
                <a:gd name="T4" fmla="*/ 4 w 85"/>
                <a:gd name="T5" fmla="*/ 84 h 85"/>
                <a:gd name="T6" fmla="*/ 7 w 85"/>
                <a:gd name="T7" fmla="*/ 84 h 85"/>
                <a:gd name="T8" fmla="*/ 7 w 85"/>
                <a:gd name="T9" fmla="*/ 84 h 85"/>
                <a:gd name="T10" fmla="*/ 8 w 85"/>
                <a:gd name="T11" fmla="*/ 85 h 85"/>
                <a:gd name="T12" fmla="*/ 8 w 85"/>
                <a:gd name="T13" fmla="*/ 85 h 85"/>
                <a:gd name="T14" fmla="*/ 11 w 85"/>
                <a:gd name="T15" fmla="*/ 84 h 85"/>
                <a:gd name="T16" fmla="*/ 14 w 85"/>
                <a:gd name="T17" fmla="*/ 82 h 85"/>
                <a:gd name="T18" fmla="*/ 16 w 85"/>
                <a:gd name="T19" fmla="*/ 80 h 85"/>
                <a:gd name="T20" fmla="*/ 16 w 85"/>
                <a:gd name="T21" fmla="*/ 77 h 85"/>
                <a:gd name="T22" fmla="*/ 16 w 85"/>
                <a:gd name="T23" fmla="*/ 77 h 85"/>
                <a:gd name="T24" fmla="*/ 19 w 85"/>
                <a:gd name="T25" fmla="*/ 66 h 85"/>
                <a:gd name="T26" fmla="*/ 24 w 85"/>
                <a:gd name="T27" fmla="*/ 56 h 85"/>
                <a:gd name="T28" fmla="*/ 30 w 85"/>
                <a:gd name="T29" fmla="*/ 46 h 85"/>
                <a:gd name="T30" fmla="*/ 37 w 85"/>
                <a:gd name="T31" fmla="*/ 37 h 85"/>
                <a:gd name="T32" fmla="*/ 46 w 85"/>
                <a:gd name="T33" fmla="*/ 30 h 85"/>
                <a:gd name="T34" fmla="*/ 55 w 85"/>
                <a:gd name="T35" fmla="*/ 23 h 85"/>
                <a:gd name="T36" fmla="*/ 66 w 85"/>
                <a:gd name="T37" fmla="*/ 19 h 85"/>
                <a:gd name="T38" fmla="*/ 77 w 85"/>
                <a:gd name="T39" fmla="*/ 17 h 85"/>
                <a:gd name="T40" fmla="*/ 77 w 85"/>
                <a:gd name="T41" fmla="*/ 17 h 85"/>
                <a:gd name="T42" fmla="*/ 81 w 85"/>
                <a:gd name="T43" fmla="*/ 15 h 85"/>
                <a:gd name="T44" fmla="*/ 82 w 85"/>
                <a:gd name="T45" fmla="*/ 14 h 85"/>
                <a:gd name="T46" fmla="*/ 82 w 85"/>
                <a:gd name="T47" fmla="*/ 14 h 85"/>
                <a:gd name="T48" fmla="*/ 84 w 85"/>
                <a:gd name="T49" fmla="*/ 10 h 85"/>
                <a:gd name="T50" fmla="*/ 85 w 85"/>
                <a:gd name="T51" fmla="*/ 7 h 85"/>
                <a:gd name="T52" fmla="*/ 85 w 85"/>
                <a:gd name="T53" fmla="*/ 7 h 85"/>
                <a:gd name="T54" fmla="*/ 84 w 85"/>
                <a:gd name="T55" fmla="*/ 4 h 85"/>
                <a:gd name="T56" fmla="*/ 81 w 85"/>
                <a:gd name="T57" fmla="*/ 2 h 85"/>
                <a:gd name="T58" fmla="*/ 78 w 85"/>
                <a:gd name="T59" fmla="*/ 0 h 85"/>
                <a:gd name="T60" fmla="*/ 74 w 85"/>
                <a:gd name="T61" fmla="*/ 0 h 85"/>
                <a:gd name="T62" fmla="*/ 74 w 85"/>
                <a:gd name="T63" fmla="*/ 0 h 85"/>
                <a:gd name="T64" fmla="*/ 61 w 85"/>
                <a:gd name="T65" fmla="*/ 3 h 85"/>
                <a:gd name="T66" fmla="*/ 47 w 85"/>
                <a:gd name="T67" fmla="*/ 8 h 85"/>
                <a:gd name="T68" fmla="*/ 35 w 85"/>
                <a:gd name="T69" fmla="*/ 15 h 85"/>
                <a:gd name="T70" fmla="*/ 24 w 85"/>
                <a:gd name="T71" fmla="*/ 25 h 85"/>
                <a:gd name="T72" fmla="*/ 16 w 85"/>
                <a:gd name="T73" fmla="*/ 35 h 85"/>
                <a:gd name="T74" fmla="*/ 8 w 85"/>
                <a:gd name="T75" fmla="*/ 47 h 85"/>
                <a:gd name="T76" fmla="*/ 3 w 85"/>
                <a:gd name="T77" fmla="*/ 61 h 85"/>
                <a:gd name="T78" fmla="*/ 0 w 85"/>
                <a:gd name="T79" fmla="*/ 74 h 85"/>
                <a:gd name="T80" fmla="*/ 0 w 85"/>
                <a:gd name="T81" fmla="*/ 74 h 85"/>
                <a:gd name="T82" fmla="*/ 0 w 85"/>
                <a:gd name="T83" fmla="*/ 78 h 85"/>
                <a:gd name="T84" fmla="*/ 2 w 85"/>
                <a:gd name="T85" fmla="*/ 81 h 85"/>
                <a:gd name="T86" fmla="*/ 2 w 85"/>
                <a:gd name="T87" fmla="*/ 81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85" h="85">
                  <a:moveTo>
                    <a:pt x="2" y="81"/>
                  </a:moveTo>
                  <a:lnTo>
                    <a:pt x="2" y="81"/>
                  </a:lnTo>
                  <a:lnTo>
                    <a:pt x="4" y="84"/>
                  </a:lnTo>
                  <a:lnTo>
                    <a:pt x="7" y="84"/>
                  </a:lnTo>
                  <a:lnTo>
                    <a:pt x="7" y="84"/>
                  </a:lnTo>
                  <a:lnTo>
                    <a:pt x="8" y="85"/>
                  </a:lnTo>
                  <a:lnTo>
                    <a:pt x="8" y="85"/>
                  </a:lnTo>
                  <a:lnTo>
                    <a:pt x="11" y="84"/>
                  </a:lnTo>
                  <a:lnTo>
                    <a:pt x="14" y="82"/>
                  </a:lnTo>
                  <a:lnTo>
                    <a:pt x="16" y="80"/>
                  </a:lnTo>
                  <a:lnTo>
                    <a:pt x="16" y="77"/>
                  </a:lnTo>
                  <a:lnTo>
                    <a:pt x="16" y="77"/>
                  </a:lnTo>
                  <a:lnTo>
                    <a:pt x="19" y="66"/>
                  </a:lnTo>
                  <a:lnTo>
                    <a:pt x="24" y="56"/>
                  </a:lnTo>
                  <a:lnTo>
                    <a:pt x="30" y="46"/>
                  </a:lnTo>
                  <a:lnTo>
                    <a:pt x="37" y="37"/>
                  </a:lnTo>
                  <a:lnTo>
                    <a:pt x="46" y="30"/>
                  </a:lnTo>
                  <a:lnTo>
                    <a:pt x="55" y="23"/>
                  </a:lnTo>
                  <a:lnTo>
                    <a:pt x="66" y="19"/>
                  </a:lnTo>
                  <a:lnTo>
                    <a:pt x="77" y="17"/>
                  </a:lnTo>
                  <a:lnTo>
                    <a:pt x="77" y="17"/>
                  </a:lnTo>
                  <a:lnTo>
                    <a:pt x="81" y="15"/>
                  </a:lnTo>
                  <a:lnTo>
                    <a:pt x="82" y="14"/>
                  </a:lnTo>
                  <a:lnTo>
                    <a:pt x="82" y="14"/>
                  </a:lnTo>
                  <a:lnTo>
                    <a:pt x="84" y="10"/>
                  </a:lnTo>
                  <a:lnTo>
                    <a:pt x="85" y="7"/>
                  </a:lnTo>
                  <a:lnTo>
                    <a:pt x="85" y="7"/>
                  </a:lnTo>
                  <a:lnTo>
                    <a:pt x="84" y="4"/>
                  </a:lnTo>
                  <a:lnTo>
                    <a:pt x="81" y="2"/>
                  </a:lnTo>
                  <a:lnTo>
                    <a:pt x="78" y="0"/>
                  </a:lnTo>
                  <a:lnTo>
                    <a:pt x="74" y="0"/>
                  </a:lnTo>
                  <a:lnTo>
                    <a:pt x="74" y="0"/>
                  </a:lnTo>
                  <a:lnTo>
                    <a:pt x="61" y="3"/>
                  </a:lnTo>
                  <a:lnTo>
                    <a:pt x="47" y="8"/>
                  </a:lnTo>
                  <a:lnTo>
                    <a:pt x="35" y="15"/>
                  </a:lnTo>
                  <a:lnTo>
                    <a:pt x="24" y="25"/>
                  </a:lnTo>
                  <a:lnTo>
                    <a:pt x="16" y="35"/>
                  </a:lnTo>
                  <a:lnTo>
                    <a:pt x="8" y="47"/>
                  </a:lnTo>
                  <a:lnTo>
                    <a:pt x="3" y="61"/>
                  </a:lnTo>
                  <a:lnTo>
                    <a:pt x="0" y="74"/>
                  </a:lnTo>
                  <a:lnTo>
                    <a:pt x="0" y="74"/>
                  </a:lnTo>
                  <a:lnTo>
                    <a:pt x="0" y="78"/>
                  </a:lnTo>
                  <a:lnTo>
                    <a:pt x="2" y="81"/>
                  </a:lnTo>
                  <a:lnTo>
                    <a:pt x="2" y="8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srgbClr val="0F6FC6">
                    <a:lumMod val="50000"/>
                  </a:srgbClr>
                </a:solidFill>
                <a:effectLst/>
                <a:uLnTx/>
                <a:uFillTx/>
                <a:latin typeface="Assistant" pitchFamily="2" charset="-79"/>
                <a:ea typeface="+mn-ea"/>
                <a:cs typeface="Assistant" pitchFamily="2" charset="-79"/>
              </a:endParaRPr>
            </a:p>
          </p:txBody>
        </p:sp>
        <p:sp>
          <p:nvSpPr>
            <p:cNvPr id="24" name="Freeform 328">
              <a:extLst>
                <a:ext uri="{FF2B5EF4-FFF2-40B4-BE49-F238E27FC236}">
                  <a16:creationId xmlns:a16="http://schemas.microsoft.com/office/drawing/2014/main" id="{096A7D54-E97E-46C5-8F21-55223F5EBED9}"/>
                </a:ext>
              </a:extLst>
            </p:cNvPr>
            <p:cNvSpPr>
              <a:spLocks noEditPoints="1"/>
            </p:cNvSpPr>
            <p:nvPr/>
          </p:nvSpPr>
          <p:spPr bwMode="auto">
            <a:xfrm>
              <a:off x="11223626" y="4299585"/>
              <a:ext cx="284163" cy="285750"/>
            </a:xfrm>
            <a:custGeom>
              <a:avLst/>
              <a:gdLst>
                <a:gd name="T0" fmla="*/ 270 w 359"/>
                <a:gd name="T1" fmla="*/ 234 h 359"/>
                <a:gd name="T2" fmla="*/ 265 w 359"/>
                <a:gd name="T3" fmla="*/ 232 h 359"/>
                <a:gd name="T4" fmla="*/ 261 w 359"/>
                <a:gd name="T5" fmla="*/ 233 h 359"/>
                <a:gd name="T6" fmla="*/ 237 w 359"/>
                <a:gd name="T7" fmla="*/ 221 h 359"/>
                <a:gd name="T8" fmla="*/ 250 w 359"/>
                <a:gd name="T9" fmla="*/ 201 h 359"/>
                <a:gd name="T10" fmla="*/ 264 w 359"/>
                <a:gd name="T11" fmla="*/ 168 h 359"/>
                <a:gd name="T12" fmla="*/ 268 w 359"/>
                <a:gd name="T13" fmla="*/ 135 h 359"/>
                <a:gd name="T14" fmla="*/ 265 w 359"/>
                <a:gd name="T15" fmla="*/ 108 h 359"/>
                <a:gd name="T16" fmla="*/ 252 w 359"/>
                <a:gd name="T17" fmla="*/ 70 h 359"/>
                <a:gd name="T18" fmla="*/ 229 w 359"/>
                <a:gd name="T19" fmla="*/ 39 h 359"/>
                <a:gd name="T20" fmla="*/ 198 w 359"/>
                <a:gd name="T21" fmla="*/ 16 h 359"/>
                <a:gd name="T22" fmla="*/ 161 w 359"/>
                <a:gd name="T23" fmla="*/ 3 h 359"/>
                <a:gd name="T24" fmla="*/ 135 w 359"/>
                <a:gd name="T25" fmla="*/ 0 h 359"/>
                <a:gd name="T26" fmla="*/ 94 w 359"/>
                <a:gd name="T27" fmla="*/ 6 h 359"/>
                <a:gd name="T28" fmla="*/ 59 w 359"/>
                <a:gd name="T29" fmla="*/ 23 h 359"/>
                <a:gd name="T30" fmla="*/ 31 w 359"/>
                <a:gd name="T31" fmla="*/ 49 h 359"/>
                <a:gd name="T32" fmla="*/ 11 w 359"/>
                <a:gd name="T33" fmla="*/ 82 h 359"/>
                <a:gd name="T34" fmla="*/ 2 w 359"/>
                <a:gd name="T35" fmla="*/ 120 h 359"/>
                <a:gd name="T36" fmla="*/ 2 w 359"/>
                <a:gd name="T37" fmla="*/ 148 h 359"/>
                <a:gd name="T38" fmla="*/ 11 w 359"/>
                <a:gd name="T39" fmla="*/ 186 h 359"/>
                <a:gd name="T40" fmla="*/ 31 w 359"/>
                <a:gd name="T41" fmla="*/ 219 h 359"/>
                <a:gd name="T42" fmla="*/ 59 w 359"/>
                <a:gd name="T43" fmla="*/ 245 h 359"/>
                <a:gd name="T44" fmla="*/ 94 w 359"/>
                <a:gd name="T45" fmla="*/ 262 h 359"/>
                <a:gd name="T46" fmla="*/ 135 w 359"/>
                <a:gd name="T47" fmla="*/ 268 h 359"/>
                <a:gd name="T48" fmla="*/ 157 w 359"/>
                <a:gd name="T49" fmla="*/ 266 h 359"/>
                <a:gd name="T50" fmla="*/ 191 w 359"/>
                <a:gd name="T51" fmla="*/ 256 h 359"/>
                <a:gd name="T52" fmla="*/ 221 w 359"/>
                <a:gd name="T53" fmla="*/ 237 h 359"/>
                <a:gd name="T54" fmla="*/ 234 w 359"/>
                <a:gd name="T55" fmla="*/ 258 h 359"/>
                <a:gd name="T56" fmla="*/ 231 w 359"/>
                <a:gd name="T57" fmla="*/ 265 h 359"/>
                <a:gd name="T58" fmla="*/ 320 w 359"/>
                <a:gd name="T59" fmla="*/ 357 h 359"/>
                <a:gd name="T60" fmla="*/ 327 w 359"/>
                <a:gd name="T61" fmla="*/ 359 h 359"/>
                <a:gd name="T62" fmla="*/ 327 w 359"/>
                <a:gd name="T63" fmla="*/ 359 h 359"/>
                <a:gd name="T64" fmla="*/ 356 w 359"/>
                <a:gd name="T65" fmla="*/ 332 h 359"/>
                <a:gd name="T66" fmla="*/ 359 w 359"/>
                <a:gd name="T67" fmla="*/ 327 h 359"/>
                <a:gd name="T68" fmla="*/ 356 w 359"/>
                <a:gd name="T69" fmla="*/ 320 h 359"/>
                <a:gd name="T70" fmla="*/ 135 w 359"/>
                <a:gd name="T71" fmla="*/ 18 h 359"/>
                <a:gd name="T72" fmla="*/ 168 w 359"/>
                <a:gd name="T73" fmla="*/ 23 h 359"/>
                <a:gd name="T74" fmla="*/ 199 w 359"/>
                <a:gd name="T75" fmla="*/ 38 h 359"/>
                <a:gd name="T76" fmla="*/ 225 w 359"/>
                <a:gd name="T77" fmla="*/ 59 h 359"/>
                <a:gd name="T78" fmla="*/ 242 w 359"/>
                <a:gd name="T79" fmla="*/ 89 h 359"/>
                <a:gd name="T80" fmla="*/ 250 w 359"/>
                <a:gd name="T81" fmla="*/ 123 h 359"/>
                <a:gd name="T82" fmla="*/ 250 w 359"/>
                <a:gd name="T83" fmla="*/ 146 h 359"/>
                <a:gd name="T84" fmla="*/ 242 w 359"/>
                <a:gd name="T85" fmla="*/ 179 h 359"/>
                <a:gd name="T86" fmla="*/ 225 w 359"/>
                <a:gd name="T87" fmla="*/ 209 h 359"/>
                <a:gd name="T88" fmla="*/ 199 w 359"/>
                <a:gd name="T89" fmla="*/ 230 h 359"/>
                <a:gd name="T90" fmla="*/ 168 w 359"/>
                <a:gd name="T91" fmla="*/ 245 h 359"/>
                <a:gd name="T92" fmla="*/ 135 w 359"/>
                <a:gd name="T93" fmla="*/ 250 h 359"/>
                <a:gd name="T94" fmla="*/ 110 w 359"/>
                <a:gd name="T95" fmla="*/ 249 h 359"/>
                <a:gd name="T96" fmla="*/ 78 w 359"/>
                <a:gd name="T97" fmla="*/ 237 h 359"/>
                <a:gd name="T98" fmla="*/ 51 w 359"/>
                <a:gd name="T99" fmla="*/ 217 h 359"/>
                <a:gd name="T100" fmla="*/ 31 w 359"/>
                <a:gd name="T101" fmla="*/ 190 h 359"/>
                <a:gd name="T102" fmla="*/ 20 w 359"/>
                <a:gd name="T103" fmla="*/ 158 h 359"/>
                <a:gd name="T104" fmla="*/ 18 w 359"/>
                <a:gd name="T105" fmla="*/ 135 h 359"/>
                <a:gd name="T106" fmla="*/ 23 w 359"/>
                <a:gd name="T107" fmla="*/ 100 h 359"/>
                <a:gd name="T108" fmla="*/ 38 w 359"/>
                <a:gd name="T109" fmla="*/ 69 h 359"/>
                <a:gd name="T110" fmla="*/ 61 w 359"/>
                <a:gd name="T111" fmla="*/ 45 h 359"/>
                <a:gd name="T112" fmla="*/ 89 w 359"/>
                <a:gd name="T113" fmla="*/ 27 h 359"/>
                <a:gd name="T114" fmla="*/ 122 w 359"/>
                <a:gd name="T115" fmla="*/ 18 h 3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359" h="359">
                  <a:moveTo>
                    <a:pt x="356" y="320"/>
                  </a:moveTo>
                  <a:lnTo>
                    <a:pt x="270" y="234"/>
                  </a:lnTo>
                  <a:lnTo>
                    <a:pt x="270" y="234"/>
                  </a:lnTo>
                  <a:lnTo>
                    <a:pt x="268" y="233"/>
                  </a:lnTo>
                  <a:lnTo>
                    <a:pt x="265" y="232"/>
                  </a:lnTo>
                  <a:lnTo>
                    <a:pt x="265" y="232"/>
                  </a:lnTo>
                  <a:lnTo>
                    <a:pt x="265" y="232"/>
                  </a:lnTo>
                  <a:lnTo>
                    <a:pt x="265" y="232"/>
                  </a:lnTo>
                  <a:lnTo>
                    <a:pt x="261" y="233"/>
                  </a:lnTo>
                  <a:lnTo>
                    <a:pt x="258" y="234"/>
                  </a:lnTo>
                  <a:lnTo>
                    <a:pt x="254" y="238"/>
                  </a:lnTo>
                  <a:lnTo>
                    <a:pt x="237" y="221"/>
                  </a:lnTo>
                  <a:lnTo>
                    <a:pt x="237" y="221"/>
                  </a:lnTo>
                  <a:lnTo>
                    <a:pt x="243" y="211"/>
                  </a:lnTo>
                  <a:lnTo>
                    <a:pt x="250" y="201"/>
                  </a:lnTo>
                  <a:lnTo>
                    <a:pt x="256" y="191"/>
                  </a:lnTo>
                  <a:lnTo>
                    <a:pt x="260" y="180"/>
                  </a:lnTo>
                  <a:lnTo>
                    <a:pt x="264" y="168"/>
                  </a:lnTo>
                  <a:lnTo>
                    <a:pt x="266" y="158"/>
                  </a:lnTo>
                  <a:lnTo>
                    <a:pt x="268" y="146"/>
                  </a:lnTo>
                  <a:lnTo>
                    <a:pt x="268" y="135"/>
                  </a:lnTo>
                  <a:lnTo>
                    <a:pt x="268" y="135"/>
                  </a:lnTo>
                  <a:lnTo>
                    <a:pt x="268" y="120"/>
                  </a:lnTo>
                  <a:lnTo>
                    <a:pt x="265" y="108"/>
                  </a:lnTo>
                  <a:lnTo>
                    <a:pt x="262" y="94"/>
                  </a:lnTo>
                  <a:lnTo>
                    <a:pt x="257" y="82"/>
                  </a:lnTo>
                  <a:lnTo>
                    <a:pt x="252" y="70"/>
                  </a:lnTo>
                  <a:lnTo>
                    <a:pt x="245" y="59"/>
                  </a:lnTo>
                  <a:lnTo>
                    <a:pt x="238" y="49"/>
                  </a:lnTo>
                  <a:lnTo>
                    <a:pt x="229" y="39"/>
                  </a:lnTo>
                  <a:lnTo>
                    <a:pt x="219" y="31"/>
                  </a:lnTo>
                  <a:lnTo>
                    <a:pt x="209" y="23"/>
                  </a:lnTo>
                  <a:lnTo>
                    <a:pt x="198" y="16"/>
                  </a:lnTo>
                  <a:lnTo>
                    <a:pt x="186" y="11"/>
                  </a:lnTo>
                  <a:lnTo>
                    <a:pt x="174" y="6"/>
                  </a:lnTo>
                  <a:lnTo>
                    <a:pt x="161" y="3"/>
                  </a:lnTo>
                  <a:lnTo>
                    <a:pt x="148" y="2"/>
                  </a:lnTo>
                  <a:lnTo>
                    <a:pt x="135" y="0"/>
                  </a:lnTo>
                  <a:lnTo>
                    <a:pt x="135" y="0"/>
                  </a:lnTo>
                  <a:lnTo>
                    <a:pt x="121" y="2"/>
                  </a:lnTo>
                  <a:lnTo>
                    <a:pt x="108" y="3"/>
                  </a:lnTo>
                  <a:lnTo>
                    <a:pt x="94" y="6"/>
                  </a:lnTo>
                  <a:lnTo>
                    <a:pt x="82" y="11"/>
                  </a:lnTo>
                  <a:lnTo>
                    <a:pt x="70" y="16"/>
                  </a:lnTo>
                  <a:lnTo>
                    <a:pt x="59" y="23"/>
                  </a:lnTo>
                  <a:lnTo>
                    <a:pt x="49" y="31"/>
                  </a:lnTo>
                  <a:lnTo>
                    <a:pt x="39" y="39"/>
                  </a:lnTo>
                  <a:lnTo>
                    <a:pt x="31" y="49"/>
                  </a:lnTo>
                  <a:lnTo>
                    <a:pt x="23" y="59"/>
                  </a:lnTo>
                  <a:lnTo>
                    <a:pt x="16" y="70"/>
                  </a:lnTo>
                  <a:lnTo>
                    <a:pt x="11" y="82"/>
                  </a:lnTo>
                  <a:lnTo>
                    <a:pt x="7" y="94"/>
                  </a:lnTo>
                  <a:lnTo>
                    <a:pt x="3" y="108"/>
                  </a:lnTo>
                  <a:lnTo>
                    <a:pt x="2" y="120"/>
                  </a:lnTo>
                  <a:lnTo>
                    <a:pt x="0" y="135"/>
                  </a:lnTo>
                  <a:lnTo>
                    <a:pt x="0" y="135"/>
                  </a:lnTo>
                  <a:lnTo>
                    <a:pt x="2" y="148"/>
                  </a:lnTo>
                  <a:lnTo>
                    <a:pt x="3" y="162"/>
                  </a:lnTo>
                  <a:lnTo>
                    <a:pt x="7" y="174"/>
                  </a:lnTo>
                  <a:lnTo>
                    <a:pt x="11" y="186"/>
                  </a:lnTo>
                  <a:lnTo>
                    <a:pt x="16" y="198"/>
                  </a:lnTo>
                  <a:lnTo>
                    <a:pt x="23" y="209"/>
                  </a:lnTo>
                  <a:lnTo>
                    <a:pt x="31" y="219"/>
                  </a:lnTo>
                  <a:lnTo>
                    <a:pt x="39" y="229"/>
                  </a:lnTo>
                  <a:lnTo>
                    <a:pt x="49" y="237"/>
                  </a:lnTo>
                  <a:lnTo>
                    <a:pt x="59" y="245"/>
                  </a:lnTo>
                  <a:lnTo>
                    <a:pt x="70" y="252"/>
                  </a:lnTo>
                  <a:lnTo>
                    <a:pt x="82" y="257"/>
                  </a:lnTo>
                  <a:lnTo>
                    <a:pt x="94" y="262"/>
                  </a:lnTo>
                  <a:lnTo>
                    <a:pt x="108" y="265"/>
                  </a:lnTo>
                  <a:lnTo>
                    <a:pt x="121" y="268"/>
                  </a:lnTo>
                  <a:lnTo>
                    <a:pt x="135" y="268"/>
                  </a:lnTo>
                  <a:lnTo>
                    <a:pt x="135" y="268"/>
                  </a:lnTo>
                  <a:lnTo>
                    <a:pt x="145" y="268"/>
                  </a:lnTo>
                  <a:lnTo>
                    <a:pt x="157" y="266"/>
                  </a:lnTo>
                  <a:lnTo>
                    <a:pt x="170" y="264"/>
                  </a:lnTo>
                  <a:lnTo>
                    <a:pt x="180" y="260"/>
                  </a:lnTo>
                  <a:lnTo>
                    <a:pt x="191" y="256"/>
                  </a:lnTo>
                  <a:lnTo>
                    <a:pt x="200" y="250"/>
                  </a:lnTo>
                  <a:lnTo>
                    <a:pt x="211" y="244"/>
                  </a:lnTo>
                  <a:lnTo>
                    <a:pt x="221" y="237"/>
                  </a:lnTo>
                  <a:lnTo>
                    <a:pt x="238" y="254"/>
                  </a:lnTo>
                  <a:lnTo>
                    <a:pt x="234" y="258"/>
                  </a:lnTo>
                  <a:lnTo>
                    <a:pt x="234" y="258"/>
                  </a:lnTo>
                  <a:lnTo>
                    <a:pt x="233" y="261"/>
                  </a:lnTo>
                  <a:lnTo>
                    <a:pt x="231" y="265"/>
                  </a:lnTo>
                  <a:lnTo>
                    <a:pt x="231" y="265"/>
                  </a:lnTo>
                  <a:lnTo>
                    <a:pt x="233" y="268"/>
                  </a:lnTo>
                  <a:lnTo>
                    <a:pt x="234" y="271"/>
                  </a:lnTo>
                  <a:lnTo>
                    <a:pt x="320" y="357"/>
                  </a:lnTo>
                  <a:lnTo>
                    <a:pt x="320" y="357"/>
                  </a:lnTo>
                  <a:lnTo>
                    <a:pt x="323" y="358"/>
                  </a:lnTo>
                  <a:lnTo>
                    <a:pt x="327" y="359"/>
                  </a:lnTo>
                  <a:lnTo>
                    <a:pt x="327" y="359"/>
                  </a:lnTo>
                  <a:lnTo>
                    <a:pt x="327" y="359"/>
                  </a:lnTo>
                  <a:lnTo>
                    <a:pt x="327" y="359"/>
                  </a:lnTo>
                  <a:lnTo>
                    <a:pt x="329" y="358"/>
                  </a:lnTo>
                  <a:lnTo>
                    <a:pt x="332" y="357"/>
                  </a:lnTo>
                  <a:lnTo>
                    <a:pt x="356" y="332"/>
                  </a:lnTo>
                  <a:lnTo>
                    <a:pt x="356" y="332"/>
                  </a:lnTo>
                  <a:lnTo>
                    <a:pt x="359" y="330"/>
                  </a:lnTo>
                  <a:lnTo>
                    <a:pt x="359" y="327"/>
                  </a:lnTo>
                  <a:lnTo>
                    <a:pt x="359" y="327"/>
                  </a:lnTo>
                  <a:lnTo>
                    <a:pt x="359" y="323"/>
                  </a:lnTo>
                  <a:lnTo>
                    <a:pt x="356" y="320"/>
                  </a:lnTo>
                  <a:lnTo>
                    <a:pt x="356" y="320"/>
                  </a:lnTo>
                  <a:close/>
                  <a:moveTo>
                    <a:pt x="135" y="18"/>
                  </a:moveTo>
                  <a:lnTo>
                    <a:pt x="135" y="18"/>
                  </a:lnTo>
                  <a:lnTo>
                    <a:pt x="147" y="18"/>
                  </a:lnTo>
                  <a:lnTo>
                    <a:pt x="157" y="21"/>
                  </a:lnTo>
                  <a:lnTo>
                    <a:pt x="168" y="23"/>
                  </a:lnTo>
                  <a:lnTo>
                    <a:pt x="179" y="27"/>
                  </a:lnTo>
                  <a:lnTo>
                    <a:pt x="190" y="31"/>
                  </a:lnTo>
                  <a:lnTo>
                    <a:pt x="199" y="38"/>
                  </a:lnTo>
                  <a:lnTo>
                    <a:pt x="209" y="45"/>
                  </a:lnTo>
                  <a:lnTo>
                    <a:pt x="217" y="51"/>
                  </a:lnTo>
                  <a:lnTo>
                    <a:pt x="225" y="59"/>
                  </a:lnTo>
                  <a:lnTo>
                    <a:pt x="231" y="69"/>
                  </a:lnTo>
                  <a:lnTo>
                    <a:pt x="237" y="78"/>
                  </a:lnTo>
                  <a:lnTo>
                    <a:pt x="242" y="89"/>
                  </a:lnTo>
                  <a:lnTo>
                    <a:pt x="246" y="100"/>
                  </a:lnTo>
                  <a:lnTo>
                    <a:pt x="249" y="111"/>
                  </a:lnTo>
                  <a:lnTo>
                    <a:pt x="250" y="123"/>
                  </a:lnTo>
                  <a:lnTo>
                    <a:pt x="250" y="135"/>
                  </a:lnTo>
                  <a:lnTo>
                    <a:pt x="250" y="135"/>
                  </a:lnTo>
                  <a:lnTo>
                    <a:pt x="250" y="146"/>
                  </a:lnTo>
                  <a:lnTo>
                    <a:pt x="249" y="158"/>
                  </a:lnTo>
                  <a:lnTo>
                    <a:pt x="246" y="168"/>
                  </a:lnTo>
                  <a:lnTo>
                    <a:pt x="242" y="179"/>
                  </a:lnTo>
                  <a:lnTo>
                    <a:pt x="237" y="190"/>
                  </a:lnTo>
                  <a:lnTo>
                    <a:pt x="231" y="199"/>
                  </a:lnTo>
                  <a:lnTo>
                    <a:pt x="225" y="209"/>
                  </a:lnTo>
                  <a:lnTo>
                    <a:pt x="217" y="217"/>
                  </a:lnTo>
                  <a:lnTo>
                    <a:pt x="209" y="223"/>
                  </a:lnTo>
                  <a:lnTo>
                    <a:pt x="199" y="230"/>
                  </a:lnTo>
                  <a:lnTo>
                    <a:pt x="190" y="237"/>
                  </a:lnTo>
                  <a:lnTo>
                    <a:pt x="179" y="242"/>
                  </a:lnTo>
                  <a:lnTo>
                    <a:pt x="168" y="245"/>
                  </a:lnTo>
                  <a:lnTo>
                    <a:pt x="157" y="249"/>
                  </a:lnTo>
                  <a:lnTo>
                    <a:pt x="147" y="250"/>
                  </a:lnTo>
                  <a:lnTo>
                    <a:pt x="135" y="250"/>
                  </a:lnTo>
                  <a:lnTo>
                    <a:pt x="135" y="250"/>
                  </a:lnTo>
                  <a:lnTo>
                    <a:pt x="122" y="250"/>
                  </a:lnTo>
                  <a:lnTo>
                    <a:pt x="110" y="249"/>
                  </a:lnTo>
                  <a:lnTo>
                    <a:pt x="100" y="245"/>
                  </a:lnTo>
                  <a:lnTo>
                    <a:pt x="89" y="242"/>
                  </a:lnTo>
                  <a:lnTo>
                    <a:pt x="78" y="237"/>
                  </a:lnTo>
                  <a:lnTo>
                    <a:pt x="69" y="230"/>
                  </a:lnTo>
                  <a:lnTo>
                    <a:pt x="61" y="223"/>
                  </a:lnTo>
                  <a:lnTo>
                    <a:pt x="51" y="217"/>
                  </a:lnTo>
                  <a:lnTo>
                    <a:pt x="45" y="209"/>
                  </a:lnTo>
                  <a:lnTo>
                    <a:pt x="38" y="199"/>
                  </a:lnTo>
                  <a:lnTo>
                    <a:pt x="31" y="190"/>
                  </a:lnTo>
                  <a:lnTo>
                    <a:pt x="27" y="179"/>
                  </a:lnTo>
                  <a:lnTo>
                    <a:pt x="23" y="168"/>
                  </a:lnTo>
                  <a:lnTo>
                    <a:pt x="20" y="158"/>
                  </a:lnTo>
                  <a:lnTo>
                    <a:pt x="18" y="146"/>
                  </a:lnTo>
                  <a:lnTo>
                    <a:pt x="18" y="135"/>
                  </a:lnTo>
                  <a:lnTo>
                    <a:pt x="18" y="135"/>
                  </a:lnTo>
                  <a:lnTo>
                    <a:pt x="18" y="123"/>
                  </a:lnTo>
                  <a:lnTo>
                    <a:pt x="20" y="111"/>
                  </a:lnTo>
                  <a:lnTo>
                    <a:pt x="23" y="100"/>
                  </a:lnTo>
                  <a:lnTo>
                    <a:pt x="27" y="89"/>
                  </a:lnTo>
                  <a:lnTo>
                    <a:pt x="31" y="78"/>
                  </a:lnTo>
                  <a:lnTo>
                    <a:pt x="38" y="69"/>
                  </a:lnTo>
                  <a:lnTo>
                    <a:pt x="45" y="59"/>
                  </a:lnTo>
                  <a:lnTo>
                    <a:pt x="51" y="51"/>
                  </a:lnTo>
                  <a:lnTo>
                    <a:pt x="61" y="45"/>
                  </a:lnTo>
                  <a:lnTo>
                    <a:pt x="69" y="38"/>
                  </a:lnTo>
                  <a:lnTo>
                    <a:pt x="78" y="31"/>
                  </a:lnTo>
                  <a:lnTo>
                    <a:pt x="89" y="27"/>
                  </a:lnTo>
                  <a:lnTo>
                    <a:pt x="100" y="23"/>
                  </a:lnTo>
                  <a:lnTo>
                    <a:pt x="110" y="21"/>
                  </a:lnTo>
                  <a:lnTo>
                    <a:pt x="122" y="18"/>
                  </a:lnTo>
                  <a:lnTo>
                    <a:pt x="135" y="18"/>
                  </a:lnTo>
                  <a:lnTo>
                    <a:pt x="135" y="1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srgbClr val="0F6FC6">
                    <a:lumMod val="50000"/>
                  </a:srgbClr>
                </a:solidFill>
                <a:effectLst/>
                <a:uLnTx/>
                <a:uFillTx/>
                <a:latin typeface="Assistant" pitchFamily="2" charset="-79"/>
                <a:ea typeface="+mn-ea"/>
                <a:cs typeface="Assistant" pitchFamily="2" charset="-79"/>
              </a:endParaRPr>
            </a:p>
          </p:txBody>
        </p:sp>
      </p:grpSp>
      <p:sp>
        <p:nvSpPr>
          <p:cNvPr id="25" name="Oval 24">
            <a:extLst>
              <a:ext uri="{FF2B5EF4-FFF2-40B4-BE49-F238E27FC236}">
                <a16:creationId xmlns:a16="http://schemas.microsoft.com/office/drawing/2014/main" id="{00F6D303-BAF2-4290-914B-94A556A4EC02}"/>
              </a:ext>
            </a:extLst>
          </p:cNvPr>
          <p:cNvSpPr/>
          <p:nvPr/>
        </p:nvSpPr>
        <p:spPr>
          <a:xfrm>
            <a:off x="10060312" y="2786013"/>
            <a:ext cx="72000" cy="72000"/>
          </a:xfrm>
          <a:prstGeom prst="ellipse">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2400" b="0" i="0" u="none" strike="noStrike" kern="1200" cap="none" spc="0" normalizeH="0" baseline="0" noProof="0">
              <a:ln>
                <a:noFill/>
              </a:ln>
              <a:solidFill>
                <a:prstClr val="white"/>
              </a:solidFill>
              <a:effectLst/>
              <a:uLnTx/>
              <a:uFillTx/>
              <a:latin typeface="Assistant" pitchFamily="2" charset="-79"/>
              <a:ea typeface="+mn-ea"/>
              <a:cs typeface="Assistant" pitchFamily="2" charset="-79"/>
            </a:endParaRPr>
          </a:p>
        </p:txBody>
      </p:sp>
      <p:pic>
        <p:nvPicPr>
          <p:cNvPr id="7" name="Picture 3" descr="קובץ:Ministry of Labor, Social Affairs and Social Services ...">
            <a:extLst>
              <a:ext uri="{FF2B5EF4-FFF2-40B4-BE49-F238E27FC236}">
                <a16:creationId xmlns:a16="http://schemas.microsoft.com/office/drawing/2014/main" id="{9DECE81A-79CC-3A98-BD70-47EEF2E64495}"/>
              </a:ext>
            </a:extLst>
          </p:cNvPr>
          <p:cNvPicPr>
            <a:picLocks noChangeAspect="1" noChangeArrowheads="1"/>
          </p:cNvPicPr>
          <p:nvPr/>
        </p:nvPicPr>
        <p:blipFill>
          <a:blip r:embed="rId5" cstate="email">
            <a:extLst>
              <a:ext uri="{28A0092B-C50C-407E-A947-70E740481C1C}">
                <a14:useLocalDpi xmlns:a14="http://schemas.microsoft.com/office/drawing/2010/main"/>
              </a:ext>
            </a:extLst>
          </a:blip>
          <a:srcRect/>
          <a:stretch>
            <a:fillRect/>
          </a:stretch>
        </p:blipFill>
        <p:spPr bwMode="auto">
          <a:xfrm>
            <a:off x="1619882" y="6318588"/>
            <a:ext cx="1742734" cy="475167"/>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26">
            <a:extLst>
              <a:ext uri="{FF2B5EF4-FFF2-40B4-BE49-F238E27FC236}">
                <a16:creationId xmlns:a16="http://schemas.microsoft.com/office/drawing/2014/main" id="{038E027F-05B7-1EB3-2296-8270A939290D}"/>
              </a:ext>
            </a:extLst>
          </p:cNvPr>
          <p:cNvPicPr>
            <a:picLocks noChangeAspect="1"/>
          </p:cNvPicPr>
          <p:nvPr/>
        </p:nvPicPr>
        <p:blipFill>
          <a:blip r:embed="rId6"/>
          <a:stretch>
            <a:fillRect/>
          </a:stretch>
        </p:blipFill>
        <p:spPr>
          <a:xfrm>
            <a:off x="377624" y="6219077"/>
            <a:ext cx="1118350" cy="612431"/>
          </a:xfrm>
          <a:prstGeom prst="rect">
            <a:avLst/>
          </a:prstGeom>
          <a:ln>
            <a:noFill/>
          </a:ln>
        </p:spPr>
      </p:pic>
      <p:sp>
        <p:nvSpPr>
          <p:cNvPr id="9" name="מלבן 8">
            <a:extLst>
              <a:ext uri="{FF2B5EF4-FFF2-40B4-BE49-F238E27FC236}">
                <a16:creationId xmlns:a16="http://schemas.microsoft.com/office/drawing/2014/main" id="{A8CE5D3D-FDC9-1018-E77F-AC02E60B8C82}"/>
              </a:ext>
            </a:extLst>
          </p:cNvPr>
          <p:cNvSpPr/>
          <p:nvPr/>
        </p:nvSpPr>
        <p:spPr>
          <a:xfrm>
            <a:off x="3093" y="0"/>
            <a:ext cx="244547" cy="7226708"/>
          </a:xfrm>
          <a:prstGeom prst="rect">
            <a:avLst/>
          </a:prstGeom>
          <a:solidFill>
            <a:srgbClr val="5EC5C5"/>
          </a:solidFill>
          <a:ln>
            <a:solidFill>
              <a:srgbClr val="2CC2E0"/>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Calibri"/>
              <a:ea typeface="+mn-ea"/>
              <a:cs typeface="Calibri"/>
            </a:endParaRPr>
          </a:p>
        </p:txBody>
      </p:sp>
      <p:sp>
        <p:nvSpPr>
          <p:cNvPr id="10" name="TextBox 10">
            <a:extLst>
              <a:ext uri="{FF2B5EF4-FFF2-40B4-BE49-F238E27FC236}">
                <a16:creationId xmlns:a16="http://schemas.microsoft.com/office/drawing/2014/main" id="{B03FC295-30D6-10D0-072F-E2AA6379B3D3}"/>
              </a:ext>
            </a:extLst>
          </p:cNvPr>
          <p:cNvSpPr txBox="1"/>
          <p:nvPr/>
        </p:nvSpPr>
        <p:spPr>
          <a:xfrm rot="16200000">
            <a:off x="-709672" y="667069"/>
            <a:ext cx="1616148" cy="338554"/>
          </a:xfrm>
          <a:prstGeom prst="rect">
            <a:avLst/>
          </a:prstGeom>
          <a:noFill/>
        </p:spPr>
        <p:txBody>
          <a:bodyPr wrap="non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1"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סל מותאם אישית</a:t>
            </a:r>
          </a:p>
        </p:txBody>
      </p:sp>
    </p:spTree>
    <p:extLst>
      <p:ext uri="{BB962C8B-B14F-4D97-AF65-F5344CB8AC3E}">
        <p14:creationId xmlns:p14="http://schemas.microsoft.com/office/powerpoint/2010/main" val="227698966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אליפסה 8">
            <a:extLst>
              <a:ext uri="{FF2B5EF4-FFF2-40B4-BE49-F238E27FC236}">
                <a16:creationId xmlns:a16="http://schemas.microsoft.com/office/drawing/2014/main" id="{C71533EF-6755-7268-6CA5-79C13828B470}"/>
              </a:ext>
            </a:extLst>
          </p:cNvPr>
          <p:cNvSpPr/>
          <p:nvPr/>
        </p:nvSpPr>
        <p:spPr>
          <a:xfrm>
            <a:off x="3161563" y="1580950"/>
            <a:ext cx="4754458" cy="4719145"/>
          </a:xfrm>
          <a:prstGeom prst="ellipse">
            <a:avLst/>
          </a:prstGeom>
          <a:noFill/>
          <a:ln w="38100">
            <a:solidFill>
              <a:srgbClr val="13235F"/>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srgbClr val="13235F"/>
              </a:solidFill>
              <a:effectLst/>
              <a:uLnTx/>
              <a:uFillTx/>
              <a:latin typeface="Calibri" panose="020F0502020204030204" pitchFamily="34" charset="0"/>
              <a:ea typeface="+mn-ea"/>
              <a:cs typeface="Calibri" panose="020F0502020204030204" pitchFamily="34" charset="0"/>
            </a:endParaRPr>
          </a:p>
        </p:txBody>
      </p:sp>
      <p:cxnSp>
        <p:nvCxnSpPr>
          <p:cNvPr id="14" name="Straight Arrow Connector 6">
            <a:extLst>
              <a:ext uri="{FF2B5EF4-FFF2-40B4-BE49-F238E27FC236}">
                <a16:creationId xmlns:a16="http://schemas.microsoft.com/office/drawing/2014/main" id="{11819716-D485-6175-BE1F-282ECA543710}"/>
              </a:ext>
            </a:extLst>
          </p:cNvPr>
          <p:cNvCxnSpPr/>
          <p:nvPr/>
        </p:nvCxnSpPr>
        <p:spPr>
          <a:xfrm flipV="1">
            <a:off x="5929289" y="2967987"/>
            <a:ext cx="683173" cy="486103"/>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cxnSp>
        <p:nvCxnSpPr>
          <p:cNvPr id="15" name="Straight Arrow Connector 7">
            <a:extLst>
              <a:ext uri="{FF2B5EF4-FFF2-40B4-BE49-F238E27FC236}">
                <a16:creationId xmlns:a16="http://schemas.microsoft.com/office/drawing/2014/main" id="{10DCF2AA-80BE-A4AD-8908-ACA32EE6A344}"/>
              </a:ext>
            </a:extLst>
          </p:cNvPr>
          <p:cNvCxnSpPr>
            <a:cxnSpLocks/>
          </p:cNvCxnSpPr>
          <p:nvPr/>
        </p:nvCxnSpPr>
        <p:spPr>
          <a:xfrm flipV="1">
            <a:off x="5651660" y="2543631"/>
            <a:ext cx="61943" cy="667407"/>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cxnSp>
        <p:nvCxnSpPr>
          <p:cNvPr id="16" name="Straight Arrow Connector 8">
            <a:extLst>
              <a:ext uri="{FF2B5EF4-FFF2-40B4-BE49-F238E27FC236}">
                <a16:creationId xmlns:a16="http://schemas.microsoft.com/office/drawing/2014/main" id="{C0A0B300-6184-936E-EAAB-19720972236D}"/>
              </a:ext>
            </a:extLst>
          </p:cNvPr>
          <p:cNvCxnSpPr>
            <a:cxnSpLocks/>
          </p:cNvCxnSpPr>
          <p:nvPr/>
        </p:nvCxnSpPr>
        <p:spPr>
          <a:xfrm flipH="1" flipV="1">
            <a:off x="4455133" y="3581817"/>
            <a:ext cx="662081" cy="219823"/>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cxnSp>
        <p:nvCxnSpPr>
          <p:cNvPr id="17" name="Straight Arrow Connector 9">
            <a:extLst>
              <a:ext uri="{FF2B5EF4-FFF2-40B4-BE49-F238E27FC236}">
                <a16:creationId xmlns:a16="http://schemas.microsoft.com/office/drawing/2014/main" id="{09C604B3-FD65-B184-3977-5703EFF44986}"/>
              </a:ext>
            </a:extLst>
          </p:cNvPr>
          <p:cNvCxnSpPr>
            <a:cxnSpLocks/>
          </p:cNvCxnSpPr>
          <p:nvPr/>
        </p:nvCxnSpPr>
        <p:spPr>
          <a:xfrm flipH="1">
            <a:off x="4399686" y="4086943"/>
            <a:ext cx="713843" cy="162131"/>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cxnSp>
        <p:nvCxnSpPr>
          <p:cNvPr id="18" name="Straight Arrow Connector 10">
            <a:extLst>
              <a:ext uri="{FF2B5EF4-FFF2-40B4-BE49-F238E27FC236}">
                <a16:creationId xmlns:a16="http://schemas.microsoft.com/office/drawing/2014/main" id="{9B8E4362-FCB8-167D-D6E4-3D866BEB1942}"/>
              </a:ext>
            </a:extLst>
          </p:cNvPr>
          <p:cNvCxnSpPr>
            <a:cxnSpLocks/>
          </p:cNvCxnSpPr>
          <p:nvPr/>
        </p:nvCxnSpPr>
        <p:spPr>
          <a:xfrm flipH="1">
            <a:off x="4704368" y="4462220"/>
            <a:ext cx="471790" cy="404344"/>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cxnSp>
        <p:nvCxnSpPr>
          <p:cNvPr id="19" name="Straight Arrow Connector 11">
            <a:extLst>
              <a:ext uri="{FF2B5EF4-FFF2-40B4-BE49-F238E27FC236}">
                <a16:creationId xmlns:a16="http://schemas.microsoft.com/office/drawing/2014/main" id="{6269D0A6-D2C6-352A-5436-DC164A5C6168}"/>
              </a:ext>
            </a:extLst>
          </p:cNvPr>
          <p:cNvCxnSpPr>
            <a:cxnSpLocks/>
          </p:cNvCxnSpPr>
          <p:nvPr/>
        </p:nvCxnSpPr>
        <p:spPr>
          <a:xfrm flipH="1">
            <a:off x="5408699" y="4569817"/>
            <a:ext cx="134177" cy="790430"/>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cxnSp>
        <p:nvCxnSpPr>
          <p:cNvPr id="20" name="Straight Arrow Connector 12">
            <a:extLst>
              <a:ext uri="{FF2B5EF4-FFF2-40B4-BE49-F238E27FC236}">
                <a16:creationId xmlns:a16="http://schemas.microsoft.com/office/drawing/2014/main" id="{7E1BD4C8-B3FB-7E0C-76C8-89D0C45CBDA0}"/>
              </a:ext>
            </a:extLst>
          </p:cNvPr>
          <p:cNvCxnSpPr>
            <a:cxnSpLocks/>
          </p:cNvCxnSpPr>
          <p:nvPr/>
        </p:nvCxnSpPr>
        <p:spPr>
          <a:xfrm>
            <a:off x="5943898" y="4534166"/>
            <a:ext cx="326977" cy="543775"/>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cxnSp>
        <p:nvCxnSpPr>
          <p:cNvPr id="21" name="Straight Arrow Connector 13">
            <a:extLst>
              <a:ext uri="{FF2B5EF4-FFF2-40B4-BE49-F238E27FC236}">
                <a16:creationId xmlns:a16="http://schemas.microsoft.com/office/drawing/2014/main" id="{D6A2BA76-8BFF-FC0A-951B-D4A8953D0363}"/>
              </a:ext>
            </a:extLst>
          </p:cNvPr>
          <p:cNvCxnSpPr>
            <a:cxnSpLocks/>
          </p:cNvCxnSpPr>
          <p:nvPr/>
        </p:nvCxnSpPr>
        <p:spPr>
          <a:xfrm flipV="1">
            <a:off x="6137707" y="3751075"/>
            <a:ext cx="700083" cy="117082"/>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cxnSp>
        <p:nvCxnSpPr>
          <p:cNvPr id="22" name="Straight Arrow Connector 27">
            <a:extLst>
              <a:ext uri="{FF2B5EF4-FFF2-40B4-BE49-F238E27FC236}">
                <a16:creationId xmlns:a16="http://schemas.microsoft.com/office/drawing/2014/main" id="{6520BE6F-8761-B861-E6F0-2A2948C744FC}"/>
              </a:ext>
            </a:extLst>
          </p:cNvPr>
          <p:cNvCxnSpPr>
            <a:cxnSpLocks/>
          </p:cNvCxnSpPr>
          <p:nvPr/>
        </p:nvCxnSpPr>
        <p:spPr>
          <a:xfrm>
            <a:off x="6146984" y="4249073"/>
            <a:ext cx="699232" cy="285092"/>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cxnSp>
        <p:nvCxnSpPr>
          <p:cNvPr id="23" name="Straight Arrow Connector 28">
            <a:extLst>
              <a:ext uri="{FF2B5EF4-FFF2-40B4-BE49-F238E27FC236}">
                <a16:creationId xmlns:a16="http://schemas.microsoft.com/office/drawing/2014/main" id="{1F7F8ED7-35AD-B819-798C-11CDEAAA62BD}"/>
              </a:ext>
            </a:extLst>
          </p:cNvPr>
          <p:cNvCxnSpPr>
            <a:cxnSpLocks/>
          </p:cNvCxnSpPr>
          <p:nvPr/>
        </p:nvCxnSpPr>
        <p:spPr>
          <a:xfrm flipH="1" flipV="1">
            <a:off x="5021855" y="2902571"/>
            <a:ext cx="377414" cy="424357"/>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sp>
        <p:nvSpPr>
          <p:cNvPr id="24" name="TextBox 23">
            <a:extLst>
              <a:ext uri="{FF2B5EF4-FFF2-40B4-BE49-F238E27FC236}">
                <a16:creationId xmlns:a16="http://schemas.microsoft.com/office/drawing/2014/main" id="{A938A207-7763-6598-3065-862C66E1DA57}"/>
              </a:ext>
            </a:extLst>
          </p:cNvPr>
          <p:cNvSpPr txBox="1"/>
          <p:nvPr/>
        </p:nvSpPr>
        <p:spPr>
          <a:xfrm>
            <a:off x="3489549" y="3236406"/>
            <a:ext cx="1119544" cy="707886"/>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1176BC"/>
                </a:solidFill>
                <a:effectLst/>
                <a:uLnTx/>
                <a:uFillTx/>
                <a:latin typeface="Calibri" panose="020F0502020204030204" pitchFamily="34" charset="0"/>
                <a:ea typeface="+mn-ea"/>
                <a:cs typeface="Calibri" panose="020F0502020204030204" pitchFamily="34" charset="0"/>
              </a:rPr>
              <a:t>מועדון חברתי</a:t>
            </a:r>
            <a:endParaRPr kumimoji="0" lang="he-IL" sz="2400" b="1" i="0" u="none" strike="noStrike" kern="1200" cap="none" spc="0" normalizeH="0" baseline="0" noProof="0" dirty="0">
              <a:ln>
                <a:noFill/>
              </a:ln>
              <a:solidFill>
                <a:srgbClr val="1176BC"/>
              </a:solidFill>
              <a:effectLst/>
              <a:uLnTx/>
              <a:uFillTx/>
              <a:latin typeface="Calibri"/>
              <a:ea typeface="+mn-ea"/>
              <a:cs typeface="Calibri"/>
            </a:endParaRPr>
          </a:p>
        </p:txBody>
      </p:sp>
      <p:sp>
        <p:nvSpPr>
          <p:cNvPr id="25" name="TextBox 24">
            <a:extLst>
              <a:ext uri="{FF2B5EF4-FFF2-40B4-BE49-F238E27FC236}">
                <a16:creationId xmlns:a16="http://schemas.microsoft.com/office/drawing/2014/main" id="{0D361F1E-4302-041C-B146-719731888394}"/>
              </a:ext>
            </a:extLst>
          </p:cNvPr>
          <p:cNvSpPr txBox="1"/>
          <p:nvPr/>
        </p:nvSpPr>
        <p:spPr>
          <a:xfrm>
            <a:off x="3465203" y="3940523"/>
            <a:ext cx="1119544" cy="707886"/>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1176BC"/>
                </a:solidFill>
                <a:effectLst/>
                <a:uLnTx/>
                <a:uFillTx/>
                <a:latin typeface="Calibri" panose="020F0502020204030204" pitchFamily="34" charset="0"/>
                <a:ea typeface="+mn-ea"/>
                <a:cs typeface="Calibri" panose="020F0502020204030204" pitchFamily="34" charset="0"/>
              </a:rPr>
              <a:t>רווחה מרחוק</a:t>
            </a:r>
            <a:endParaRPr kumimoji="0" lang="he-IL" sz="2400" b="1" i="0" u="none" strike="noStrike" kern="1200" cap="none" spc="0" normalizeH="0" baseline="0" noProof="0" dirty="0">
              <a:ln>
                <a:noFill/>
              </a:ln>
              <a:solidFill>
                <a:srgbClr val="1176BC"/>
              </a:solidFill>
              <a:effectLst/>
              <a:uLnTx/>
              <a:uFillTx/>
              <a:latin typeface="Calibri"/>
              <a:ea typeface="+mn-ea"/>
              <a:cs typeface="Calibri"/>
            </a:endParaRPr>
          </a:p>
        </p:txBody>
      </p:sp>
      <p:sp>
        <p:nvSpPr>
          <p:cNvPr id="26" name="TextBox 25">
            <a:extLst>
              <a:ext uri="{FF2B5EF4-FFF2-40B4-BE49-F238E27FC236}">
                <a16:creationId xmlns:a16="http://schemas.microsoft.com/office/drawing/2014/main" id="{789307C2-1CA4-2D53-764C-C8EF8ADC59C6}"/>
              </a:ext>
            </a:extLst>
          </p:cNvPr>
          <p:cNvSpPr txBox="1"/>
          <p:nvPr/>
        </p:nvSpPr>
        <p:spPr>
          <a:xfrm>
            <a:off x="3922336" y="4866564"/>
            <a:ext cx="1119544" cy="707886"/>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1176BC"/>
                </a:solidFill>
                <a:effectLst/>
                <a:uLnTx/>
                <a:uFillTx/>
                <a:latin typeface="Calibri" panose="020F0502020204030204" pitchFamily="34" charset="0"/>
                <a:ea typeface="+mn-ea"/>
                <a:cs typeface="Calibri" panose="020F0502020204030204" pitchFamily="34" charset="0"/>
              </a:rPr>
              <a:t>טכנולוגית עזר</a:t>
            </a:r>
            <a:endParaRPr kumimoji="0" lang="he-IL" sz="2400" b="1" i="0" u="none" strike="noStrike" kern="1200" cap="none" spc="0" normalizeH="0" baseline="0" noProof="0" dirty="0">
              <a:ln>
                <a:noFill/>
              </a:ln>
              <a:solidFill>
                <a:srgbClr val="1176BC"/>
              </a:solidFill>
              <a:effectLst/>
              <a:uLnTx/>
              <a:uFillTx/>
              <a:latin typeface="Calibri"/>
              <a:ea typeface="+mn-ea"/>
              <a:cs typeface="Calibri"/>
            </a:endParaRPr>
          </a:p>
        </p:txBody>
      </p:sp>
      <p:sp>
        <p:nvSpPr>
          <p:cNvPr id="27" name="TextBox 26">
            <a:extLst>
              <a:ext uri="{FF2B5EF4-FFF2-40B4-BE49-F238E27FC236}">
                <a16:creationId xmlns:a16="http://schemas.microsoft.com/office/drawing/2014/main" id="{E524134D-E90F-5A9F-FC91-AED5FABA20C0}"/>
              </a:ext>
            </a:extLst>
          </p:cNvPr>
          <p:cNvSpPr txBox="1"/>
          <p:nvPr/>
        </p:nvSpPr>
        <p:spPr>
          <a:xfrm>
            <a:off x="4097363" y="2140811"/>
            <a:ext cx="1119544" cy="707886"/>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1176BC"/>
                </a:solidFill>
                <a:effectLst/>
                <a:uLnTx/>
                <a:uFillTx/>
                <a:latin typeface="Calibri" panose="020F0502020204030204" pitchFamily="34" charset="0"/>
                <a:ea typeface="+mn-ea"/>
                <a:cs typeface="Calibri" panose="020F0502020204030204" pitchFamily="34" charset="0"/>
              </a:rPr>
              <a:t>יעוץ משפחתי</a:t>
            </a:r>
            <a:endParaRPr kumimoji="0" lang="he-IL" sz="2400" b="1" i="0" u="none" strike="noStrike" kern="1200" cap="none" spc="0" normalizeH="0" baseline="0" noProof="0" dirty="0">
              <a:ln>
                <a:noFill/>
              </a:ln>
              <a:solidFill>
                <a:srgbClr val="1176BC"/>
              </a:solidFill>
              <a:effectLst/>
              <a:uLnTx/>
              <a:uFillTx/>
              <a:latin typeface="Calibri"/>
              <a:ea typeface="+mn-ea"/>
              <a:cs typeface="Calibri"/>
            </a:endParaRPr>
          </a:p>
        </p:txBody>
      </p:sp>
      <p:sp>
        <p:nvSpPr>
          <p:cNvPr id="28" name="TextBox 27">
            <a:extLst>
              <a:ext uri="{FF2B5EF4-FFF2-40B4-BE49-F238E27FC236}">
                <a16:creationId xmlns:a16="http://schemas.microsoft.com/office/drawing/2014/main" id="{60041463-83C2-6462-0E82-DE2013E89751}"/>
              </a:ext>
            </a:extLst>
          </p:cNvPr>
          <p:cNvSpPr txBox="1"/>
          <p:nvPr/>
        </p:nvSpPr>
        <p:spPr>
          <a:xfrm>
            <a:off x="4809744" y="5311319"/>
            <a:ext cx="1119544" cy="707886"/>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1176BC"/>
                </a:solidFill>
                <a:effectLst/>
                <a:uLnTx/>
                <a:uFillTx/>
                <a:latin typeface="Calibri" panose="020F0502020204030204" pitchFamily="34" charset="0"/>
                <a:ea typeface="+mn-ea"/>
                <a:cs typeface="Calibri" panose="020F0502020204030204" pitchFamily="34" charset="0"/>
              </a:rPr>
              <a:t>התעמלות בפארק</a:t>
            </a:r>
            <a:endParaRPr kumimoji="0" lang="he-IL" sz="2400" b="1" i="0" u="none" strike="noStrike" kern="1200" cap="none" spc="0" normalizeH="0" baseline="0" noProof="0" dirty="0">
              <a:ln>
                <a:noFill/>
              </a:ln>
              <a:solidFill>
                <a:srgbClr val="1176BC"/>
              </a:solidFill>
              <a:effectLst/>
              <a:uLnTx/>
              <a:uFillTx/>
              <a:latin typeface="Calibri"/>
              <a:ea typeface="+mn-ea"/>
              <a:cs typeface="Calibri"/>
            </a:endParaRPr>
          </a:p>
        </p:txBody>
      </p:sp>
      <p:sp>
        <p:nvSpPr>
          <p:cNvPr id="29" name="TextBox 28">
            <a:extLst>
              <a:ext uri="{FF2B5EF4-FFF2-40B4-BE49-F238E27FC236}">
                <a16:creationId xmlns:a16="http://schemas.microsoft.com/office/drawing/2014/main" id="{71959D09-04DA-46AA-05CE-B8B94373665A}"/>
              </a:ext>
            </a:extLst>
          </p:cNvPr>
          <p:cNvSpPr txBox="1"/>
          <p:nvPr/>
        </p:nvSpPr>
        <p:spPr>
          <a:xfrm>
            <a:off x="6572439" y="3365720"/>
            <a:ext cx="1443858" cy="707886"/>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1176BC"/>
                </a:solidFill>
                <a:effectLst/>
                <a:uLnTx/>
                <a:uFillTx/>
                <a:latin typeface="Calibri" panose="020F0502020204030204" pitchFamily="34" charset="0"/>
                <a:ea typeface="+mn-ea"/>
                <a:cs typeface="Calibri" panose="020F0502020204030204" pitchFamily="34" charset="0"/>
              </a:rPr>
              <a:t>יעוץ תזונה ובריאות</a:t>
            </a:r>
            <a:endParaRPr kumimoji="0" lang="he-IL" sz="2400" b="1" i="0" u="none" strike="noStrike" kern="1200" cap="none" spc="0" normalizeH="0" baseline="0" noProof="0" dirty="0">
              <a:ln>
                <a:noFill/>
              </a:ln>
              <a:solidFill>
                <a:srgbClr val="1176BC"/>
              </a:solidFill>
              <a:effectLst/>
              <a:uLnTx/>
              <a:uFillTx/>
              <a:latin typeface="Calibri"/>
              <a:ea typeface="+mn-ea"/>
              <a:cs typeface="Calibri"/>
            </a:endParaRPr>
          </a:p>
        </p:txBody>
      </p:sp>
      <p:sp>
        <p:nvSpPr>
          <p:cNvPr id="30" name="TextBox 29">
            <a:extLst>
              <a:ext uri="{FF2B5EF4-FFF2-40B4-BE49-F238E27FC236}">
                <a16:creationId xmlns:a16="http://schemas.microsoft.com/office/drawing/2014/main" id="{BD76670D-4580-7702-7800-00603C1C37DA}"/>
              </a:ext>
            </a:extLst>
          </p:cNvPr>
          <p:cNvSpPr txBox="1"/>
          <p:nvPr/>
        </p:nvSpPr>
        <p:spPr>
          <a:xfrm>
            <a:off x="6554183" y="4521560"/>
            <a:ext cx="1119544" cy="400110"/>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1176BC"/>
                </a:solidFill>
                <a:effectLst/>
                <a:uLnTx/>
                <a:uFillTx/>
                <a:latin typeface="Calibri" panose="020F0502020204030204" pitchFamily="34" charset="0"/>
                <a:ea typeface="+mn-ea"/>
                <a:cs typeface="Calibri" panose="020F0502020204030204" pitchFamily="34" charset="0"/>
              </a:rPr>
              <a:t>תעסוקה</a:t>
            </a:r>
            <a:endParaRPr kumimoji="0" lang="he-IL" sz="2400" b="1" i="0" u="none" strike="noStrike" kern="1200" cap="none" spc="0" normalizeH="0" baseline="0" noProof="0" dirty="0">
              <a:ln>
                <a:noFill/>
              </a:ln>
              <a:solidFill>
                <a:srgbClr val="1176BC"/>
              </a:solidFill>
              <a:effectLst/>
              <a:uLnTx/>
              <a:uFillTx/>
              <a:latin typeface="Calibri"/>
              <a:ea typeface="+mn-ea"/>
              <a:cs typeface="Calibri"/>
            </a:endParaRPr>
          </a:p>
        </p:txBody>
      </p:sp>
      <p:sp>
        <p:nvSpPr>
          <p:cNvPr id="31" name="TextBox 30">
            <a:extLst>
              <a:ext uri="{FF2B5EF4-FFF2-40B4-BE49-F238E27FC236}">
                <a16:creationId xmlns:a16="http://schemas.microsoft.com/office/drawing/2014/main" id="{02F7D3BC-5274-84FA-401A-348BB8E77A87}"/>
              </a:ext>
            </a:extLst>
          </p:cNvPr>
          <p:cNvSpPr txBox="1"/>
          <p:nvPr/>
        </p:nvSpPr>
        <p:spPr>
          <a:xfrm>
            <a:off x="6309210" y="2533824"/>
            <a:ext cx="1119544" cy="400110"/>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1176BC"/>
                </a:solidFill>
                <a:effectLst/>
                <a:uLnTx/>
                <a:uFillTx/>
                <a:latin typeface="Calibri" panose="020F0502020204030204" pitchFamily="34" charset="0"/>
                <a:ea typeface="+mn-ea"/>
                <a:cs typeface="Calibri" panose="020F0502020204030204" pitchFamily="34" charset="0"/>
              </a:rPr>
              <a:t>התנדבות</a:t>
            </a:r>
            <a:endParaRPr kumimoji="0" lang="he-IL" sz="2400" b="1" i="0" u="none" strike="noStrike" kern="1200" cap="none" spc="0" normalizeH="0" baseline="0" noProof="0" dirty="0">
              <a:ln>
                <a:noFill/>
              </a:ln>
              <a:solidFill>
                <a:srgbClr val="1176BC"/>
              </a:solidFill>
              <a:effectLst/>
              <a:uLnTx/>
              <a:uFillTx/>
              <a:latin typeface="Calibri"/>
              <a:ea typeface="+mn-ea"/>
              <a:cs typeface="Calibri"/>
            </a:endParaRPr>
          </a:p>
        </p:txBody>
      </p:sp>
      <p:sp>
        <p:nvSpPr>
          <p:cNvPr id="32" name="TextBox 31">
            <a:extLst>
              <a:ext uri="{FF2B5EF4-FFF2-40B4-BE49-F238E27FC236}">
                <a16:creationId xmlns:a16="http://schemas.microsoft.com/office/drawing/2014/main" id="{941C5937-A365-CF42-5376-56E8CE1D7B3C}"/>
              </a:ext>
            </a:extLst>
          </p:cNvPr>
          <p:cNvSpPr txBox="1"/>
          <p:nvPr/>
        </p:nvSpPr>
        <p:spPr>
          <a:xfrm>
            <a:off x="5157749" y="1770667"/>
            <a:ext cx="1119544" cy="707886"/>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1176BC"/>
                </a:solidFill>
                <a:effectLst/>
                <a:uLnTx/>
                <a:uFillTx/>
                <a:latin typeface="Calibri" panose="020F0502020204030204" pitchFamily="34" charset="0"/>
                <a:ea typeface="+mn-ea"/>
                <a:cs typeface="Calibri" panose="020F0502020204030204" pitchFamily="34" charset="0"/>
              </a:rPr>
              <a:t>יעוץ פיננסי</a:t>
            </a:r>
            <a:endParaRPr kumimoji="0" lang="he-IL" sz="2400" b="1" i="0" u="none" strike="noStrike" kern="1200" cap="none" spc="0" normalizeH="0" baseline="0" noProof="0" dirty="0">
              <a:ln>
                <a:noFill/>
              </a:ln>
              <a:solidFill>
                <a:srgbClr val="1176BC"/>
              </a:solidFill>
              <a:effectLst/>
              <a:uLnTx/>
              <a:uFillTx/>
              <a:latin typeface="Calibri"/>
              <a:ea typeface="+mn-ea"/>
              <a:cs typeface="Calibri"/>
            </a:endParaRPr>
          </a:p>
        </p:txBody>
      </p:sp>
      <p:sp>
        <p:nvSpPr>
          <p:cNvPr id="33" name="TextBox 32">
            <a:extLst>
              <a:ext uri="{FF2B5EF4-FFF2-40B4-BE49-F238E27FC236}">
                <a16:creationId xmlns:a16="http://schemas.microsoft.com/office/drawing/2014/main" id="{0BE11621-D4E0-68EA-B1F3-772C2E7F2893}"/>
              </a:ext>
            </a:extLst>
          </p:cNvPr>
          <p:cNvSpPr txBox="1"/>
          <p:nvPr/>
        </p:nvSpPr>
        <p:spPr>
          <a:xfrm>
            <a:off x="5835016" y="5125577"/>
            <a:ext cx="1119544" cy="400110"/>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1176BC"/>
                </a:solidFill>
                <a:effectLst/>
                <a:uLnTx/>
                <a:uFillTx/>
                <a:latin typeface="Calibri" panose="020F0502020204030204" pitchFamily="34" charset="0"/>
                <a:ea typeface="+mn-ea"/>
                <a:cs typeface="Calibri" panose="020F0502020204030204" pitchFamily="34" charset="0"/>
              </a:rPr>
              <a:t>ניקיון</a:t>
            </a:r>
            <a:endParaRPr kumimoji="0" lang="he-IL" sz="2400" b="1" i="0" u="none" strike="noStrike" kern="1200" cap="none" spc="0" normalizeH="0" baseline="0" noProof="0" dirty="0">
              <a:ln>
                <a:noFill/>
              </a:ln>
              <a:solidFill>
                <a:srgbClr val="1176BC"/>
              </a:solidFill>
              <a:effectLst/>
              <a:uLnTx/>
              <a:uFillTx/>
              <a:latin typeface="Calibri"/>
              <a:ea typeface="+mn-ea"/>
              <a:cs typeface="Calibri"/>
            </a:endParaRPr>
          </a:p>
        </p:txBody>
      </p:sp>
      <p:cxnSp>
        <p:nvCxnSpPr>
          <p:cNvPr id="34" name="Straight Arrow Connector 10">
            <a:extLst>
              <a:ext uri="{FF2B5EF4-FFF2-40B4-BE49-F238E27FC236}">
                <a16:creationId xmlns:a16="http://schemas.microsoft.com/office/drawing/2014/main" id="{9B8E4362-FCB8-167D-D6E4-3D866BEB1942}"/>
              </a:ext>
            </a:extLst>
          </p:cNvPr>
          <p:cNvCxnSpPr>
            <a:cxnSpLocks/>
          </p:cNvCxnSpPr>
          <p:nvPr/>
        </p:nvCxnSpPr>
        <p:spPr>
          <a:xfrm flipH="1" flipV="1">
            <a:off x="4711567" y="3229314"/>
            <a:ext cx="520665" cy="377348"/>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sp>
        <p:nvSpPr>
          <p:cNvPr id="2" name="מלבן 1"/>
          <p:cNvSpPr/>
          <p:nvPr/>
        </p:nvSpPr>
        <p:spPr>
          <a:xfrm>
            <a:off x="3680492" y="2867074"/>
            <a:ext cx="1252267" cy="369332"/>
          </a:xfrm>
          <a:prstGeom prst="rect">
            <a:avLst/>
          </a:prstGeom>
        </p:spPr>
        <p:txBody>
          <a:bodyPr wrap="non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1176BC"/>
                </a:solidFill>
                <a:effectLst/>
                <a:uLnTx/>
                <a:uFillTx/>
                <a:latin typeface="Calibri" panose="020F0502020204030204" pitchFamily="34" charset="0"/>
                <a:ea typeface="+mn-ea"/>
                <a:cs typeface="Calibri" panose="020F0502020204030204" pitchFamily="34" charset="0"/>
              </a:rPr>
              <a:t>בריכה/</a:t>
            </a:r>
            <a:r>
              <a:rPr kumimoji="0" lang="he-IL" sz="1800" b="1" i="0" u="none" strike="noStrike" kern="1200" cap="none" spc="0" normalizeH="0" baseline="0" noProof="0" dirty="0" err="1">
                <a:ln>
                  <a:noFill/>
                </a:ln>
                <a:solidFill>
                  <a:srgbClr val="1176BC"/>
                </a:solidFill>
                <a:effectLst/>
                <a:uLnTx/>
                <a:uFillTx/>
                <a:latin typeface="Calibri" panose="020F0502020204030204" pitchFamily="34" charset="0"/>
                <a:ea typeface="+mn-ea"/>
                <a:cs typeface="Calibri" panose="020F0502020204030204" pitchFamily="34" charset="0"/>
              </a:rPr>
              <a:t>חד"כ</a:t>
            </a:r>
            <a:endParaRPr kumimoji="0" lang="he-IL" sz="1800" b="0" i="0" u="none" strike="noStrike" kern="1200" cap="none" spc="0" normalizeH="0" baseline="0" noProof="0" dirty="0">
              <a:ln>
                <a:noFill/>
              </a:ln>
              <a:solidFill>
                <a:prstClr val="black"/>
              </a:solidFill>
              <a:effectLst/>
              <a:uLnTx/>
              <a:uFillTx/>
              <a:latin typeface="Calibri"/>
              <a:ea typeface="+mn-ea"/>
              <a:cs typeface="Calibri"/>
            </a:endParaRPr>
          </a:p>
        </p:txBody>
      </p:sp>
      <p:pic>
        <p:nvPicPr>
          <p:cNvPr id="35" name="Picture 28">
            <a:extLst>
              <a:ext uri="{FF2B5EF4-FFF2-40B4-BE49-F238E27FC236}">
                <a16:creationId xmlns:a16="http://schemas.microsoft.com/office/drawing/2014/main" id="{EF8D4F03-17FB-2890-09B5-7BB76E8A60CB}"/>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5174483" y="3258674"/>
            <a:ext cx="880565" cy="1208410"/>
          </a:xfrm>
          <a:prstGeom prst="rect">
            <a:avLst/>
          </a:prstGeom>
        </p:spPr>
      </p:pic>
      <p:pic>
        <p:nvPicPr>
          <p:cNvPr id="36" name="Graphic 18">
            <a:extLst>
              <a:ext uri="{FF2B5EF4-FFF2-40B4-BE49-F238E27FC236}">
                <a16:creationId xmlns:a16="http://schemas.microsoft.com/office/drawing/2014/main" id="{7F2C6167-3062-BA39-5F1F-DE5FC2673C75}"/>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b="19918"/>
          <a:stretch/>
        </p:blipFill>
        <p:spPr>
          <a:xfrm>
            <a:off x="249772" y="225370"/>
            <a:ext cx="823170" cy="824010"/>
          </a:xfrm>
          <a:prstGeom prst="rect">
            <a:avLst/>
          </a:prstGeom>
        </p:spPr>
      </p:pic>
      <p:sp>
        <p:nvSpPr>
          <p:cNvPr id="38" name="Freeform: Shape 7">
            <a:extLst>
              <a:ext uri="{FF2B5EF4-FFF2-40B4-BE49-F238E27FC236}">
                <a16:creationId xmlns:a16="http://schemas.microsoft.com/office/drawing/2014/main" id="{D9021EB3-D6DD-4977-14C2-47DCAC1703CB}"/>
              </a:ext>
            </a:extLst>
          </p:cNvPr>
          <p:cNvSpPr/>
          <p:nvPr/>
        </p:nvSpPr>
        <p:spPr>
          <a:xfrm>
            <a:off x="9669290" y="3989725"/>
            <a:ext cx="1047456" cy="1047456"/>
          </a:xfrm>
          <a:custGeom>
            <a:avLst/>
            <a:gdLst>
              <a:gd name="connsiteX0" fmla="*/ 0 w 1047456"/>
              <a:gd name="connsiteY0" fmla="*/ 523728 h 1047456"/>
              <a:gd name="connsiteX1" fmla="*/ 523728 w 1047456"/>
              <a:gd name="connsiteY1" fmla="*/ 0 h 1047456"/>
              <a:gd name="connsiteX2" fmla="*/ 1047456 w 1047456"/>
              <a:gd name="connsiteY2" fmla="*/ 523728 h 1047456"/>
              <a:gd name="connsiteX3" fmla="*/ 523728 w 1047456"/>
              <a:gd name="connsiteY3" fmla="*/ 1047456 h 1047456"/>
              <a:gd name="connsiteX4" fmla="*/ 0 w 1047456"/>
              <a:gd name="connsiteY4" fmla="*/ 523728 h 10474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456" h="1047456">
                <a:moveTo>
                  <a:pt x="0" y="523728"/>
                </a:moveTo>
                <a:cubicBezTo>
                  <a:pt x="0" y="234481"/>
                  <a:pt x="234481" y="0"/>
                  <a:pt x="523728" y="0"/>
                </a:cubicBezTo>
                <a:cubicBezTo>
                  <a:pt x="812975" y="0"/>
                  <a:pt x="1047456" y="234481"/>
                  <a:pt x="1047456" y="523728"/>
                </a:cubicBezTo>
                <a:cubicBezTo>
                  <a:pt x="1047456" y="812975"/>
                  <a:pt x="812975" y="1047456"/>
                  <a:pt x="523728" y="1047456"/>
                </a:cubicBezTo>
                <a:cubicBezTo>
                  <a:pt x="234481" y="1047456"/>
                  <a:pt x="0" y="812975"/>
                  <a:pt x="0" y="523728"/>
                </a:cubicBezTo>
                <a:close/>
              </a:path>
            </a:pathLst>
          </a:custGeom>
          <a:solidFill>
            <a:schemeClr val="accent1">
              <a:lumMod val="20000"/>
              <a:lumOff val="80000"/>
            </a:schemeClr>
          </a:solidFill>
          <a:ln>
            <a:solidFill>
              <a:schemeClr val="accent1"/>
            </a:solidFill>
          </a:ln>
        </p:spPr>
        <p:style>
          <a:lnRef idx="3">
            <a:schemeClr val="lt1">
              <a:hueOff val="0"/>
              <a:satOff val="0"/>
              <a:lumOff val="0"/>
              <a:alphaOff val="0"/>
            </a:schemeClr>
          </a:lnRef>
          <a:fillRef idx="1">
            <a:scrgbClr r="0" g="0" b="0"/>
          </a:fillRef>
          <a:effectRef idx="1">
            <a:schemeClr val="accent1">
              <a:hueOff val="0"/>
              <a:satOff val="0"/>
              <a:lumOff val="0"/>
              <a:alphaOff val="0"/>
            </a:schemeClr>
          </a:effectRef>
          <a:fontRef idx="minor">
            <a:schemeClr val="lt1"/>
          </a:fontRef>
        </p:style>
        <p:txBody>
          <a:bodyPr spcFirstLastPara="0" vert="horz" wrap="square" lIns="164191" tIns="164191" rIns="164191" bIns="164191" numCol="1" spcCol="1270" anchor="ctr" anchorCtr="0">
            <a:noAutofit/>
          </a:bodyPr>
          <a:lstStyle/>
          <a:p>
            <a:pPr marL="0" marR="0" lvl="0" indent="0" algn="ctr" defTabSz="755650" rtl="1" eaLnBrk="1" fontAlgn="auto" latinLnBrk="0" hangingPunct="1">
              <a:lnSpc>
                <a:spcPct val="90000"/>
              </a:lnSpc>
              <a:spcBef>
                <a:spcPct val="0"/>
              </a:spcBef>
              <a:spcAft>
                <a:spcPct val="35000"/>
              </a:spcAft>
              <a:buClrTx/>
              <a:buSzTx/>
              <a:buFontTx/>
              <a:buNone/>
              <a:tabLst/>
              <a:defRPr/>
            </a:pPr>
            <a:r>
              <a:rPr kumimoji="0" lang="he-IL" sz="1400" b="1" i="0" u="none" strike="noStrike" kern="1200" cap="none" spc="0" normalizeH="0" baseline="0" noProof="0" dirty="0">
                <a:ln>
                  <a:noFill/>
                </a:ln>
                <a:solidFill>
                  <a:prstClr val="black"/>
                </a:solidFill>
                <a:effectLst/>
                <a:uLnTx/>
                <a:uFillTx/>
                <a:latin typeface="Assistant" pitchFamily="2" charset="-79"/>
                <a:ea typeface="+mn-ea"/>
                <a:cs typeface="Assistant" pitchFamily="2" charset="-79"/>
              </a:rPr>
              <a:t>שירות מותאם </a:t>
            </a:r>
            <a:r>
              <a:rPr kumimoji="0" lang="en-US" sz="1400" b="1" i="0" u="none" strike="noStrike" kern="1200" cap="none" spc="0" normalizeH="0" baseline="0" noProof="0" dirty="0">
                <a:ln>
                  <a:noFill/>
                </a:ln>
                <a:solidFill>
                  <a:prstClr val="black"/>
                </a:solidFill>
                <a:effectLst/>
                <a:uLnTx/>
                <a:uFillTx/>
                <a:latin typeface="Assistant" pitchFamily="2" charset="-79"/>
                <a:ea typeface="+mn-ea"/>
                <a:cs typeface="Assistant" pitchFamily="2" charset="-79"/>
              </a:rPr>
              <a:t>AI</a:t>
            </a:r>
            <a:endParaRPr kumimoji="0" lang="he-IL" sz="1400" b="1" i="0" u="none" strike="noStrike" kern="1200" cap="none" spc="0" normalizeH="0" baseline="0" noProof="0" dirty="0">
              <a:ln>
                <a:noFill/>
              </a:ln>
              <a:solidFill>
                <a:prstClr val="black"/>
              </a:solidFill>
              <a:effectLst/>
              <a:uLnTx/>
              <a:uFillTx/>
              <a:latin typeface="Assistant" pitchFamily="2" charset="-79"/>
              <a:ea typeface="+mn-ea"/>
              <a:cs typeface="Assistant" pitchFamily="2" charset="-79"/>
            </a:endParaRPr>
          </a:p>
        </p:txBody>
      </p:sp>
      <p:sp>
        <p:nvSpPr>
          <p:cNvPr id="39" name="Arrow: Left 9">
            <a:extLst>
              <a:ext uri="{FF2B5EF4-FFF2-40B4-BE49-F238E27FC236}">
                <a16:creationId xmlns:a16="http://schemas.microsoft.com/office/drawing/2014/main" id="{EA53B4A3-D66F-B475-AD79-0C25D88C7AB3}"/>
              </a:ext>
            </a:extLst>
          </p:cNvPr>
          <p:cNvSpPr/>
          <p:nvPr/>
        </p:nvSpPr>
        <p:spPr>
          <a:xfrm rot="12900000">
            <a:off x="8954790" y="3793135"/>
            <a:ext cx="845353" cy="298525"/>
          </a:xfrm>
          <a:prstGeom prst="leftArrow">
            <a:avLst>
              <a:gd name="adj1" fmla="val 60000"/>
              <a:gd name="adj2" fmla="val 50000"/>
            </a:avLst>
          </a:prstGeom>
          <a:solidFill>
            <a:schemeClr val="accent1">
              <a:lumMod val="20000"/>
              <a:lumOff val="80000"/>
            </a:schemeClr>
          </a:solidFill>
          <a:ln>
            <a:solidFill>
              <a:schemeClr val="accent1"/>
            </a:solidFill>
          </a:ln>
        </p:spPr>
        <p:style>
          <a:lnRef idx="0">
            <a:schemeClr val="lt1">
              <a:hueOff val="0"/>
              <a:satOff val="0"/>
              <a:lumOff val="0"/>
              <a:alphaOff val="0"/>
            </a:schemeClr>
          </a:lnRef>
          <a:fillRef idx="1">
            <a:schemeClr val="accent2">
              <a:hueOff val="0"/>
              <a:satOff val="0"/>
              <a:lumOff val="0"/>
              <a:alphaOff val="0"/>
            </a:schemeClr>
          </a:fillRef>
          <a:effectRef idx="1">
            <a:schemeClr val="accent2">
              <a:hueOff val="0"/>
              <a:satOff val="0"/>
              <a:lumOff val="0"/>
              <a:alphaOff val="0"/>
            </a:schemeClr>
          </a:effectRef>
          <a:fontRef idx="minor">
            <a:schemeClr val="lt1">
              <a:hueOff val="0"/>
              <a:satOff val="0"/>
              <a:lumOff val="0"/>
              <a:alphaOff val="0"/>
            </a:schemeClr>
          </a:fontRef>
        </p:style>
      </p:sp>
      <p:sp>
        <p:nvSpPr>
          <p:cNvPr id="40" name="Freeform: Shape 10">
            <a:extLst>
              <a:ext uri="{FF2B5EF4-FFF2-40B4-BE49-F238E27FC236}">
                <a16:creationId xmlns:a16="http://schemas.microsoft.com/office/drawing/2014/main" id="{1B124F26-45B8-D498-F4AF-961AD4B6BEBA}"/>
              </a:ext>
            </a:extLst>
          </p:cNvPr>
          <p:cNvSpPr/>
          <p:nvPr/>
        </p:nvSpPr>
        <p:spPr>
          <a:xfrm>
            <a:off x="8533688" y="3301927"/>
            <a:ext cx="995083" cy="796066"/>
          </a:xfrm>
          <a:custGeom>
            <a:avLst/>
            <a:gdLst>
              <a:gd name="connsiteX0" fmla="*/ 0 w 995083"/>
              <a:gd name="connsiteY0" fmla="*/ 79607 h 796066"/>
              <a:gd name="connsiteX1" fmla="*/ 79607 w 995083"/>
              <a:gd name="connsiteY1" fmla="*/ 0 h 796066"/>
              <a:gd name="connsiteX2" fmla="*/ 915476 w 995083"/>
              <a:gd name="connsiteY2" fmla="*/ 0 h 796066"/>
              <a:gd name="connsiteX3" fmla="*/ 995083 w 995083"/>
              <a:gd name="connsiteY3" fmla="*/ 79607 h 796066"/>
              <a:gd name="connsiteX4" fmla="*/ 995083 w 995083"/>
              <a:gd name="connsiteY4" fmla="*/ 716459 h 796066"/>
              <a:gd name="connsiteX5" fmla="*/ 915476 w 995083"/>
              <a:gd name="connsiteY5" fmla="*/ 796066 h 796066"/>
              <a:gd name="connsiteX6" fmla="*/ 79607 w 995083"/>
              <a:gd name="connsiteY6" fmla="*/ 796066 h 796066"/>
              <a:gd name="connsiteX7" fmla="*/ 0 w 995083"/>
              <a:gd name="connsiteY7" fmla="*/ 716459 h 796066"/>
              <a:gd name="connsiteX8" fmla="*/ 0 w 995083"/>
              <a:gd name="connsiteY8" fmla="*/ 79607 h 7960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95083" h="796066">
                <a:moveTo>
                  <a:pt x="0" y="79607"/>
                </a:moveTo>
                <a:cubicBezTo>
                  <a:pt x="0" y="35641"/>
                  <a:pt x="35641" y="0"/>
                  <a:pt x="79607" y="0"/>
                </a:cubicBezTo>
                <a:lnTo>
                  <a:pt x="915476" y="0"/>
                </a:lnTo>
                <a:cubicBezTo>
                  <a:pt x="959442" y="0"/>
                  <a:pt x="995083" y="35641"/>
                  <a:pt x="995083" y="79607"/>
                </a:cubicBezTo>
                <a:lnTo>
                  <a:pt x="995083" y="716459"/>
                </a:lnTo>
                <a:cubicBezTo>
                  <a:pt x="995083" y="760425"/>
                  <a:pt x="959442" y="796066"/>
                  <a:pt x="915476" y="796066"/>
                </a:cubicBezTo>
                <a:lnTo>
                  <a:pt x="79607" y="796066"/>
                </a:lnTo>
                <a:cubicBezTo>
                  <a:pt x="35641" y="796066"/>
                  <a:pt x="0" y="760425"/>
                  <a:pt x="0" y="716459"/>
                </a:cubicBezTo>
                <a:lnTo>
                  <a:pt x="0" y="79607"/>
                </a:lnTo>
                <a:close/>
              </a:path>
            </a:pathLst>
          </a:custGeom>
          <a:solidFill>
            <a:schemeClr val="accent1">
              <a:lumMod val="20000"/>
              <a:lumOff val="80000"/>
            </a:schemeClr>
          </a:solidFill>
          <a:ln>
            <a:solidFill>
              <a:schemeClr val="accent1"/>
            </a:solidFill>
          </a:ln>
        </p:spPr>
        <p:style>
          <a:lnRef idx="3">
            <a:schemeClr val="lt1">
              <a:hueOff val="0"/>
              <a:satOff val="0"/>
              <a:lumOff val="0"/>
              <a:alphaOff val="0"/>
            </a:schemeClr>
          </a:lnRef>
          <a:fillRef idx="1">
            <a:schemeClr val="accent2">
              <a:hueOff val="0"/>
              <a:satOff val="0"/>
              <a:lumOff val="0"/>
              <a:alphaOff val="0"/>
            </a:schemeClr>
          </a:fillRef>
          <a:effectRef idx="1">
            <a:schemeClr val="accent2">
              <a:hueOff val="0"/>
              <a:satOff val="0"/>
              <a:lumOff val="0"/>
              <a:alphaOff val="0"/>
            </a:schemeClr>
          </a:effectRef>
          <a:fontRef idx="minor">
            <a:schemeClr val="lt1"/>
          </a:fontRef>
        </p:style>
        <p:txBody>
          <a:bodyPr spcFirstLastPara="0" vert="horz" wrap="square" lIns="63321" tIns="63321" rIns="63321" bIns="63321" numCol="1" spcCol="1270" anchor="ctr" anchorCtr="0">
            <a:noAutofit/>
          </a:bodyPr>
          <a:lstStyle/>
          <a:p>
            <a:pPr marL="0" marR="0" lvl="0" indent="0" algn="ctr" defTabSz="933450" rtl="1" eaLnBrk="1" fontAlgn="auto" latinLnBrk="0" hangingPunct="1">
              <a:lnSpc>
                <a:spcPct val="90000"/>
              </a:lnSpc>
              <a:spcBef>
                <a:spcPct val="0"/>
              </a:spcBef>
              <a:spcAft>
                <a:spcPct val="35000"/>
              </a:spcAft>
              <a:buClrTx/>
              <a:buSzTx/>
              <a:buFontTx/>
              <a:buNone/>
              <a:tabLst/>
              <a:defRPr/>
            </a:pPr>
            <a:r>
              <a:rPr kumimoji="0" lang="he-IL" sz="1400" b="0" i="0" u="none" strike="noStrike" kern="1200" cap="none" spc="0" normalizeH="0" baseline="0" noProof="0" dirty="0">
                <a:ln>
                  <a:noFill/>
                </a:ln>
                <a:solidFill>
                  <a:prstClr val="black"/>
                </a:solidFill>
                <a:effectLst/>
                <a:uLnTx/>
                <a:uFillTx/>
                <a:latin typeface="Assistant" pitchFamily="2" charset="-79"/>
                <a:ea typeface="+mn-ea"/>
                <a:cs typeface="Assistant" pitchFamily="2" charset="-79"/>
              </a:rPr>
              <a:t>רצון ובחירה</a:t>
            </a:r>
          </a:p>
        </p:txBody>
      </p:sp>
      <p:sp>
        <p:nvSpPr>
          <p:cNvPr id="41" name="Arrow: Left 35">
            <a:extLst>
              <a:ext uri="{FF2B5EF4-FFF2-40B4-BE49-F238E27FC236}">
                <a16:creationId xmlns:a16="http://schemas.microsoft.com/office/drawing/2014/main" id="{0E32CBDD-6D1A-6450-D585-29473E5900AC}"/>
              </a:ext>
            </a:extLst>
          </p:cNvPr>
          <p:cNvSpPr/>
          <p:nvPr/>
        </p:nvSpPr>
        <p:spPr>
          <a:xfrm rot="16200000">
            <a:off x="9770341" y="3368585"/>
            <a:ext cx="845353" cy="298525"/>
          </a:xfrm>
          <a:prstGeom prst="leftArrow">
            <a:avLst>
              <a:gd name="adj1" fmla="val 60000"/>
              <a:gd name="adj2" fmla="val 50000"/>
            </a:avLst>
          </a:prstGeom>
          <a:solidFill>
            <a:schemeClr val="accent1">
              <a:lumMod val="20000"/>
              <a:lumOff val="80000"/>
            </a:schemeClr>
          </a:solidFill>
          <a:ln>
            <a:solidFill>
              <a:schemeClr val="accent1"/>
            </a:solidFill>
          </a:ln>
        </p:spPr>
        <p:style>
          <a:lnRef idx="0">
            <a:schemeClr val="lt1">
              <a:hueOff val="0"/>
              <a:satOff val="0"/>
              <a:lumOff val="0"/>
              <a:alphaOff val="0"/>
            </a:schemeClr>
          </a:lnRef>
          <a:fillRef idx="1">
            <a:schemeClr val="accent2">
              <a:hueOff val="-419062"/>
              <a:satOff val="-4829"/>
              <a:lumOff val="1079"/>
              <a:alphaOff val="0"/>
            </a:schemeClr>
          </a:fillRef>
          <a:effectRef idx="1">
            <a:schemeClr val="accent2">
              <a:hueOff val="-419062"/>
              <a:satOff val="-4829"/>
              <a:lumOff val="1079"/>
              <a:alphaOff val="0"/>
            </a:schemeClr>
          </a:effectRef>
          <a:fontRef idx="minor">
            <a:schemeClr val="lt1">
              <a:hueOff val="0"/>
              <a:satOff val="0"/>
              <a:lumOff val="0"/>
              <a:alphaOff val="0"/>
            </a:schemeClr>
          </a:fontRef>
        </p:style>
      </p:sp>
      <p:sp>
        <p:nvSpPr>
          <p:cNvPr id="42" name="Freeform: Shape 36">
            <a:extLst>
              <a:ext uri="{FF2B5EF4-FFF2-40B4-BE49-F238E27FC236}">
                <a16:creationId xmlns:a16="http://schemas.microsoft.com/office/drawing/2014/main" id="{C5DDEDD0-0F04-B6E8-5FC9-E0FB5ACB2A70}"/>
              </a:ext>
            </a:extLst>
          </p:cNvPr>
          <p:cNvSpPr/>
          <p:nvPr/>
        </p:nvSpPr>
        <p:spPr>
          <a:xfrm>
            <a:off x="9695476" y="2697138"/>
            <a:ext cx="995083" cy="796066"/>
          </a:xfrm>
          <a:custGeom>
            <a:avLst/>
            <a:gdLst>
              <a:gd name="connsiteX0" fmla="*/ 0 w 995083"/>
              <a:gd name="connsiteY0" fmla="*/ 79607 h 796066"/>
              <a:gd name="connsiteX1" fmla="*/ 79607 w 995083"/>
              <a:gd name="connsiteY1" fmla="*/ 0 h 796066"/>
              <a:gd name="connsiteX2" fmla="*/ 915476 w 995083"/>
              <a:gd name="connsiteY2" fmla="*/ 0 h 796066"/>
              <a:gd name="connsiteX3" fmla="*/ 995083 w 995083"/>
              <a:gd name="connsiteY3" fmla="*/ 79607 h 796066"/>
              <a:gd name="connsiteX4" fmla="*/ 995083 w 995083"/>
              <a:gd name="connsiteY4" fmla="*/ 716459 h 796066"/>
              <a:gd name="connsiteX5" fmla="*/ 915476 w 995083"/>
              <a:gd name="connsiteY5" fmla="*/ 796066 h 796066"/>
              <a:gd name="connsiteX6" fmla="*/ 79607 w 995083"/>
              <a:gd name="connsiteY6" fmla="*/ 796066 h 796066"/>
              <a:gd name="connsiteX7" fmla="*/ 0 w 995083"/>
              <a:gd name="connsiteY7" fmla="*/ 716459 h 796066"/>
              <a:gd name="connsiteX8" fmla="*/ 0 w 995083"/>
              <a:gd name="connsiteY8" fmla="*/ 79607 h 7960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95083" h="796066">
                <a:moveTo>
                  <a:pt x="0" y="79607"/>
                </a:moveTo>
                <a:cubicBezTo>
                  <a:pt x="0" y="35641"/>
                  <a:pt x="35641" y="0"/>
                  <a:pt x="79607" y="0"/>
                </a:cubicBezTo>
                <a:lnTo>
                  <a:pt x="915476" y="0"/>
                </a:lnTo>
                <a:cubicBezTo>
                  <a:pt x="959442" y="0"/>
                  <a:pt x="995083" y="35641"/>
                  <a:pt x="995083" y="79607"/>
                </a:cubicBezTo>
                <a:lnTo>
                  <a:pt x="995083" y="716459"/>
                </a:lnTo>
                <a:cubicBezTo>
                  <a:pt x="995083" y="760425"/>
                  <a:pt x="959442" y="796066"/>
                  <a:pt x="915476" y="796066"/>
                </a:cubicBezTo>
                <a:lnTo>
                  <a:pt x="79607" y="796066"/>
                </a:lnTo>
                <a:cubicBezTo>
                  <a:pt x="35641" y="796066"/>
                  <a:pt x="0" y="760425"/>
                  <a:pt x="0" y="716459"/>
                </a:cubicBezTo>
                <a:lnTo>
                  <a:pt x="0" y="79607"/>
                </a:lnTo>
                <a:close/>
              </a:path>
            </a:pathLst>
          </a:custGeom>
          <a:solidFill>
            <a:schemeClr val="accent1">
              <a:lumMod val="20000"/>
              <a:lumOff val="80000"/>
            </a:schemeClr>
          </a:solidFill>
          <a:ln>
            <a:solidFill>
              <a:schemeClr val="accent1"/>
            </a:solidFill>
          </a:ln>
        </p:spPr>
        <p:style>
          <a:lnRef idx="3">
            <a:schemeClr val="lt1">
              <a:hueOff val="0"/>
              <a:satOff val="0"/>
              <a:lumOff val="0"/>
              <a:alphaOff val="0"/>
            </a:schemeClr>
          </a:lnRef>
          <a:fillRef idx="1">
            <a:schemeClr val="accent2">
              <a:hueOff val="-419062"/>
              <a:satOff val="-4829"/>
              <a:lumOff val="1079"/>
              <a:alphaOff val="0"/>
            </a:schemeClr>
          </a:fillRef>
          <a:effectRef idx="1">
            <a:schemeClr val="accent2">
              <a:hueOff val="-419062"/>
              <a:satOff val="-4829"/>
              <a:lumOff val="1079"/>
              <a:alphaOff val="0"/>
            </a:schemeClr>
          </a:effectRef>
          <a:fontRef idx="minor">
            <a:schemeClr val="lt1"/>
          </a:fontRef>
        </p:style>
        <p:txBody>
          <a:bodyPr spcFirstLastPara="0" vert="horz" wrap="square" lIns="63321" tIns="63321" rIns="63321" bIns="63321" numCol="1" spcCol="1270" anchor="ctr" anchorCtr="0">
            <a:noAutofit/>
          </a:bodyPr>
          <a:lstStyle/>
          <a:p>
            <a:pPr marL="0" marR="0" lvl="0" indent="0" algn="ctr" defTabSz="933450" rtl="1" eaLnBrk="1" fontAlgn="auto" latinLnBrk="0" hangingPunct="1">
              <a:lnSpc>
                <a:spcPct val="90000"/>
              </a:lnSpc>
              <a:spcBef>
                <a:spcPct val="0"/>
              </a:spcBef>
              <a:spcAft>
                <a:spcPct val="35000"/>
              </a:spcAft>
              <a:buClrTx/>
              <a:buSzTx/>
              <a:buFontTx/>
              <a:buNone/>
              <a:tabLst/>
              <a:defRPr/>
            </a:pPr>
            <a:r>
              <a:rPr kumimoji="0" lang="he-IL" sz="1400" b="0" i="0" u="none" strike="noStrike" kern="1200" cap="none" spc="0" normalizeH="0" baseline="0" noProof="0" dirty="0">
                <a:ln>
                  <a:noFill/>
                </a:ln>
                <a:solidFill>
                  <a:prstClr val="black"/>
                </a:solidFill>
                <a:effectLst/>
                <a:uLnTx/>
                <a:uFillTx/>
                <a:latin typeface="Assistant" pitchFamily="2" charset="-79"/>
                <a:ea typeface="+mn-ea"/>
                <a:cs typeface="Assistant" pitchFamily="2" charset="-79"/>
              </a:rPr>
              <a:t>מדידה והמלצות</a:t>
            </a:r>
          </a:p>
        </p:txBody>
      </p:sp>
      <p:sp>
        <p:nvSpPr>
          <p:cNvPr id="43" name="Arrow: Left 37">
            <a:extLst>
              <a:ext uri="{FF2B5EF4-FFF2-40B4-BE49-F238E27FC236}">
                <a16:creationId xmlns:a16="http://schemas.microsoft.com/office/drawing/2014/main" id="{6183D7EE-C3F6-AFEC-6464-7F9488F30154}"/>
              </a:ext>
            </a:extLst>
          </p:cNvPr>
          <p:cNvSpPr/>
          <p:nvPr/>
        </p:nvSpPr>
        <p:spPr>
          <a:xfrm rot="19500000">
            <a:off x="10585893" y="3793135"/>
            <a:ext cx="845353" cy="298525"/>
          </a:xfrm>
          <a:prstGeom prst="leftArrow">
            <a:avLst>
              <a:gd name="adj1" fmla="val 60000"/>
              <a:gd name="adj2" fmla="val 50000"/>
            </a:avLst>
          </a:prstGeom>
          <a:solidFill>
            <a:schemeClr val="accent1">
              <a:lumMod val="20000"/>
              <a:lumOff val="80000"/>
            </a:schemeClr>
          </a:solidFill>
          <a:ln>
            <a:solidFill>
              <a:schemeClr val="accent1"/>
            </a:solidFill>
          </a:ln>
        </p:spPr>
        <p:style>
          <a:lnRef idx="0">
            <a:schemeClr val="lt1">
              <a:hueOff val="0"/>
              <a:satOff val="0"/>
              <a:lumOff val="0"/>
              <a:alphaOff val="0"/>
            </a:schemeClr>
          </a:lnRef>
          <a:fillRef idx="1">
            <a:schemeClr val="accent2">
              <a:hueOff val="-838123"/>
              <a:satOff val="-9658"/>
              <a:lumOff val="2159"/>
              <a:alphaOff val="0"/>
            </a:schemeClr>
          </a:fillRef>
          <a:effectRef idx="1">
            <a:schemeClr val="accent2">
              <a:hueOff val="-838123"/>
              <a:satOff val="-9658"/>
              <a:lumOff val="2159"/>
              <a:alphaOff val="0"/>
            </a:schemeClr>
          </a:effectRef>
          <a:fontRef idx="minor">
            <a:schemeClr val="lt1">
              <a:hueOff val="0"/>
              <a:satOff val="0"/>
              <a:lumOff val="0"/>
              <a:alphaOff val="0"/>
            </a:schemeClr>
          </a:fontRef>
        </p:style>
      </p:sp>
      <p:sp>
        <p:nvSpPr>
          <p:cNvPr id="44" name="Freeform: Shape 38">
            <a:extLst>
              <a:ext uri="{FF2B5EF4-FFF2-40B4-BE49-F238E27FC236}">
                <a16:creationId xmlns:a16="http://schemas.microsoft.com/office/drawing/2014/main" id="{8A01B39F-ACC8-4B4B-EA8D-C5DDB1D4DB2F}"/>
              </a:ext>
            </a:extLst>
          </p:cNvPr>
          <p:cNvSpPr/>
          <p:nvPr/>
        </p:nvSpPr>
        <p:spPr>
          <a:xfrm>
            <a:off x="10857265" y="3301927"/>
            <a:ext cx="995083" cy="796066"/>
          </a:xfrm>
          <a:custGeom>
            <a:avLst/>
            <a:gdLst>
              <a:gd name="connsiteX0" fmla="*/ 0 w 995083"/>
              <a:gd name="connsiteY0" fmla="*/ 79607 h 796066"/>
              <a:gd name="connsiteX1" fmla="*/ 79607 w 995083"/>
              <a:gd name="connsiteY1" fmla="*/ 0 h 796066"/>
              <a:gd name="connsiteX2" fmla="*/ 915476 w 995083"/>
              <a:gd name="connsiteY2" fmla="*/ 0 h 796066"/>
              <a:gd name="connsiteX3" fmla="*/ 995083 w 995083"/>
              <a:gd name="connsiteY3" fmla="*/ 79607 h 796066"/>
              <a:gd name="connsiteX4" fmla="*/ 995083 w 995083"/>
              <a:gd name="connsiteY4" fmla="*/ 716459 h 796066"/>
              <a:gd name="connsiteX5" fmla="*/ 915476 w 995083"/>
              <a:gd name="connsiteY5" fmla="*/ 796066 h 796066"/>
              <a:gd name="connsiteX6" fmla="*/ 79607 w 995083"/>
              <a:gd name="connsiteY6" fmla="*/ 796066 h 796066"/>
              <a:gd name="connsiteX7" fmla="*/ 0 w 995083"/>
              <a:gd name="connsiteY7" fmla="*/ 716459 h 796066"/>
              <a:gd name="connsiteX8" fmla="*/ 0 w 995083"/>
              <a:gd name="connsiteY8" fmla="*/ 79607 h 7960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95083" h="796066">
                <a:moveTo>
                  <a:pt x="0" y="79607"/>
                </a:moveTo>
                <a:cubicBezTo>
                  <a:pt x="0" y="35641"/>
                  <a:pt x="35641" y="0"/>
                  <a:pt x="79607" y="0"/>
                </a:cubicBezTo>
                <a:lnTo>
                  <a:pt x="915476" y="0"/>
                </a:lnTo>
                <a:cubicBezTo>
                  <a:pt x="959442" y="0"/>
                  <a:pt x="995083" y="35641"/>
                  <a:pt x="995083" y="79607"/>
                </a:cubicBezTo>
                <a:lnTo>
                  <a:pt x="995083" y="716459"/>
                </a:lnTo>
                <a:cubicBezTo>
                  <a:pt x="995083" y="760425"/>
                  <a:pt x="959442" y="796066"/>
                  <a:pt x="915476" y="796066"/>
                </a:cubicBezTo>
                <a:lnTo>
                  <a:pt x="79607" y="796066"/>
                </a:lnTo>
                <a:cubicBezTo>
                  <a:pt x="35641" y="796066"/>
                  <a:pt x="0" y="760425"/>
                  <a:pt x="0" y="716459"/>
                </a:cubicBezTo>
                <a:lnTo>
                  <a:pt x="0" y="79607"/>
                </a:lnTo>
                <a:close/>
              </a:path>
            </a:pathLst>
          </a:custGeom>
          <a:solidFill>
            <a:schemeClr val="accent1">
              <a:lumMod val="20000"/>
              <a:lumOff val="80000"/>
            </a:schemeClr>
          </a:solidFill>
          <a:ln>
            <a:solidFill>
              <a:schemeClr val="accent1"/>
            </a:solidFill>
          </a:ln>
        </p:spPr>
        <p:style>
          <a:lnRef idx="3">
            <a:schemeClr val="lt1">
              <a:hueOff val="0"/>
              <a:satOff val="0"/>
              <a:lumOff val="0"/>
              <a:alphaOff val="0"/>
            </a:schemeClr>
          </a:lnRef>
          <a:fillRef idx="1">
            <a:schemeClr val="accent2">
              <a:hueOff val="-838123"/>
              <a:satOff val="-9658"/>
              <a:lumOff val="2159"/>
              <a:alphaOff val="0"/>
            </a:schemeClr>
          </a:fillRef>
          <a:effectRef idx="1">
            <a:schemeClr val="accent2">
              <a:hueOff val="-838123"/>
              <a:satOff val="-9658"/>
              <a:lumOff val="2159"/>
              <a:alphaOff val="0"/>
            </a:schemeClr>
          </a:effectRef>
          <a:fontRef idx="minor">
            <a:schemeClr val="lt1"/>
          </a:fontRef>
        </p:style>
        <p:txBody>
          <a:bodyPr spcFirstLastPara="0" vert="horz" wrap="square" lIns="63321" tIns="63321" rIns="63321" bIns="63321" numCol="1" spcCol="1270" anchor="ctr" anchorCtr="0">
            <a:noAutofit/>
          </a:bodyPr>
          <a:lstStyle/>
          <a:p>
            <a:pPr marL="0" marR="0" lvl="0" indent="0" algn="ctr" defTabSz="933450" rtl="1" eaLnBrk="1" fontAlgn="auto" latinLnBrk="0" hangingPunct="1">
              <a:lnSpc>
                <a:spcPct val="90000"/>
              </a:lnSpc>
              <a:spcBef>
                <a:spcPct val="0"/>
              </a:spcBef>
              <a:spcAft>
                <a:spcPct val="35000"/>
              </a:spcAft>
              <a:buClrTx/>
              <a:buSzTx/>
              <a:buFontTx/>
              <a:buNone/>
              <a:tabLst/>
              <a:defRPr/>
            </a:pPr>
            <a:r>
              <a:rPr kumimoji="0" lang="he-IL" sz="1400" b="0" i="0" u="none" strike="noStrike" kern="1200" cap="none" spc="0" normalizeH="0" baseline="0" noProof="0" dirty="0">
                <a:ln>
                  <a:noFill/>
                </a:ln>
                <a:solidFill>
                  <a:prstClr val="black"/>
                </a:solidFill>
                <a:effectLst/>
                <a:uLnTx/>
                <a:uFillTx/>
                <a:latin typeface="Assistant" pitchFamily="2" charset="-79"/>
                <a:ea typeface="+mn-ea"/>
                <a:cs typeface="Assistant" pitchFamily="2" charset="-79"/>
              </a:rPr>
              <a:t>צורך וקושי</a:t>
            </a:r>
          </a:p>
        </p:txBody>
      </p:sp>
      <p:sp>
        <p:nvSpPr>
          <p:cNvPr id="46" name="כותרת 2">
            <a:extLst>
              <a:ext uri="{FF2B5EF4-FFF2-40B4-BE49-F238E27FC236}">
                <a16:creationId xmlns:a16="http://schemas.microsoft.com/office/drawing/2014/main" id="{E0E22840-919C-33A6-3D01-C97ED1B4BDBD}"/>
              </a:ext>
            </a:extLst>
          </p:cNvPr>
          <p:cNvSpPr txBox="1">
            <a:spLocks/>
          </p:cNvSpPr>
          <p:nvPr/>
        </p:nvSpPr>
        <p:spPr>
          <a:xfrm>
            <a:off x="8344588" y="1541312"/>
            <a:ext cx="3696858" cy="1067587"/>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4400" kern="1200">
                <a:solidFill>
                  <a:schemeClr val="tx1"/>
                </a:solidFill>
                <a:latin typeface="Assistant" pitchFamily="2" charset="-79"/>
                <a:ea typeface="+mj-ea"/>
                <a:cs typeface="Assistant" pitchFamily="2" charset="-79"/>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he-IL" sz="2400" b="1" i="0" u="none" strike="noStrike" kern="1200" cap="none" spc="0" normalizeH="0" baseline="0" noProof="0" dirty="0">
                <a:ln>
                  <a:noFill/>
                </a:ln>
                <a:solidFill>
                  <a:srgbClr val="0F6FC6"/>
                </a:solidFill>
                <a:effectLst/>
                <a:uLnTx/>
                <a:uFillTx/>
                <a:latin typeface="Assistant" pitchFamily="2" charset="-79"/>
                <a:ea typeface="+mj-ea"/>
                <a:cs typeface="Assistant" pitchFamily="2" charset="-79"/>
              </a:rPr>
              <a:t> </a:t>
            </a:r>
            <a:r>
              <a:rPr kumimoji="0" lang="en-US" sz="2400" b="1" i="0" u="none" strike="noStrike" kern="1200" cap="none" spc="0" normalizeH="0" baseline="0" noProof="0" dirty="0">
                <a:ln>
                  <a:noFill/>
                </a:ln>
                <a:solidFill>
                  <a:srgbClr val="0F6FC6"/>
                </a:solidFill>
                <a:effectLst/>
                <a:uLnTx/>
                <a:uFillTx/>
                <a:latin typeface="Assistant" pitchFamily="2" charset="-79"/>
                <a:ea typeface="+mj-ea"/>
                <a:cs typeface="Assistant" pitchFamily="2" charset="-79"/>
              </a:rPr>
              <a:t>AI</a:t>
            </a:r>
            <a:r>
              <a:rPr kumimoji="0" lang="he-IL" sz="2400" b="1" i="0" u="none" strike="noStrike" kern="1200" cap="none" spc="0" normalizeH="0" baseline="0" noProof="0" dirty="0">
                <a:ln>
                  <a:noFill/>
                </a:ln>
                <a:solidFill>
                  <a:srgbClr val="0F6FC6"/>
                </a:solidFill>
                <a:effectLst/>
                <a:uLnTx/>
                <a:uFillTx/>
                <a:latin typeface="Assistant" pitchFamily="2" charset="-79"/>
                <a:ea typeface="+mj-ea"/>
                <a:cs typeface="Assistant" pitchFamily="2" charset="-79"/>
              </a:rPr>
              <a:t>סל מותאם אישית </a:t>
            </a:r>
            <a:br>
              <a:rPr kumimoji="0" lang="he-IL" sz="3200" b="0" i="0" u="none" strike="noStrike" kern="1200" cap="none" spc="0" normalizeH="0" baseline="0" noProof="0" dirty="0">
                <a:ln>
                  <a:noFill/>
                </a:ln>
                <a:solidFill>
                  <a:prstClr val="black"/>
                </a:solidFill>
                <a:effectLst/>
                <a:uLnTx/>
                <a:uFillTx/>
                <a:latin typeface="Assistant" pitchFamily="2" charset="-79"/>
                <a:ea typeface="+mj-ea"/>
                <a:cs typeface="Assistant" pitchFamily="2" charset="-79"/>
              </a:rPr>
            </a:br>
            <a:r>
              <a:rPr kumimoji="0" lang="he-IL" sz="1800" b="0" i="0" u="none" strike="noStrike" kern="1200" cap="none" spc="0" normalizeH="0" baseline="0" noProof="0" dirty="0">
                <a:ln>
                  <a:noFill/>
                </a:ln>
                <a:solidFill>
                  <a:prstClr val="black"/>
                </a:solidFill>
                <a:effectLst/>
                <a:uLnTx/>
                <a:uFillTx/>
                <a:latin typeface="Assistant" pitchFamily="2" charset="-79"/>
                <a:ea typeface="+mj-ea"/>
                <a:cs typeface="Assistant" pitchFamily="2" charset="-79"/>
              </a:rPr>
              <a:t>מבוסס נתונים</a:t>
            </a:r>
            <a:br>
              <a:rPr kumimoji="0" lang="he-IL" sz="1800" b="0" i="0" u="none" strike="noStrike" kern="1200" cap="none" spc="0" normalizeH="0" baseline="0" noProof="0" dirty="0">
                <a:ln>
                  <a:noFill/>
                </a:ln>
                <a:solidFill>
                  <a:prstClr val="black"/>
                </a:solidFill>
                <a:effectLst/>
                <a:uLnTx/>
                <a:uFillTx/>
                <a:latin typeface="Assistant" pitchFamily="2" charset="-79"/>
                <a:ea typeface="+mj-ea"/>
                <a:cs typeface="Assistant" pitchFamily="2" charset="-79"/>
              </a:rPr>
            </a:br>
            <a:r>
              <a:rPr kumimoji="0" lang="he-IL" sz="1800" b="0" i="0" u="none" strike="noStrike" kern="1200" cap="none" spc="0" normalizeH="0" baseline="0" noProof="0" dirty="0">
                <a:ln>
                  <a:noFill/>
                </a:ln>
                <a:solidFill>
                  <a:prstClr val="black"/>
                </a:solidFill>
                <a:effectLst/>
                <a:uLnTx/>
                <a:uFillTx/>
                <a:latin typeface="Assistant" pitchFamily="2" charset="-79"/>
                <a:ea typeface="+mj-ea"/>
                <a:cs typeface="Assistant" pitchFamily="2" charset="-79"/>
              </a:rPr>
              <a:t>לבחירת האזרח</a:t>
            </a:r>
          </a:p>
        </p:txBody>
      </p:sp>
      <p:sp>
        <p:nvSpPr>
          <p:cNvPr id="47" name="צורה חופשית: צורה 26">
            <a:extLst>
              <a:ext uri="{FF2B5EF4-FFF2-40B4-BE49-F238E27FC236}">
                <a16:creationId xmlns:a16="http://schemas.microsoft.com/office/drawing/2014/main" id="{FC9996F3-9B6D-F6D5-51F8-8D581C3E4D72}"/>
              </a:ext>
            </a:extLst>
          </p:cNvPr>
          <p:cNvSpPr/>
          <p:nvPr/>
        </p:nvSpPr>
        <p:spPr>
          <a:xfrm>
            <a:off x="4252834" y="343246"/>
            <a:ext cx="2358692" cy="1134971"/>
          </a:xfrm>
          <a:custGeom>
            <a:avLst/>
            <a:gdLst>
              <a:gd name="connsiteX0" fmla="*/ 0 w 1005021"/>
              <a:gd name="connsiteY0" fmla="*/ 0 h 1005021"/>
              <a:gd name="connsiteX1" fmla="*/ 1005021 w 1005021"/>
              <a:gd name="connsiteY1" fmla="*/ 0 h 1005021"/>
              <a:gd name="connsiteX2" fmla="*/ 1005021 w 1005021"/>
              <a:gd name="connsiteY2" fmla="*/ 1005021 h 1005021"/>
              <a:gd name="connsiteX3" fmla="*/ 0 w 1005021"/>
              <a:gd name="connsiteY3" fmla="*/ 1005021 h 1005021"/>
              <a:gd name="connsiteX4" fmla="*/ 0 w 1005021"/>
              <a:gd name="connsiteY4" fmla="*/ 0 h 100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5021" h="1005021">
                <a:moveTo>
                  <a:pt x="0" y="0"/>
                </a:moveTo>
                <a:lnTo>
                  <a:pt x="1005021" y="0"/>
                </a:lnTo>
                <a:lnTo>
                  <a:pt x="1005021" y="1005021"/>
                </a:lnTo>
                <a:lnTo>
                  <a:pt x="0" y="1005021"/>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7780" tIns="17780" rIns="17780" bIns="17780" numCol="1" spcCol="1270" anchor="t" anchorCtr="0">
            <a:noAutofit/>
          </a:bodyPr>
          <a:lstStyle/>
          <a:p>
            <a:pPr marL="0" marR="0" lvl="0" indent="0" algn="ctr" defTabSz="622300" rtl="1" eaLnBrk="1" fontAlgn="auto" latinLnBrk="0" hangingPunct="1">
              <a:lnSpc>
                <a:spcPct val="90000"/>
              </a:lnSpc>
              <a:spcBef>
                <a:spcPct val="0"/>
              </a:spcBef>
              <a:spcAft>
                <a:spcPct val="35000"/>
              </a:spcAft>
              <a:buClrTx/>
              <a:buSzTx/>
              <a:buFontTx/>
              <a:buNone/>
              <a:tabLst/>
              <a:defRPr/>
            </a:pPr>
            <a:r>
              <a:rPr kumimoji="0" lang="he-IL" sz="2800" b="1" i="0" u="none" strike="noStrike" kern="1200" cap="none" spc="0" normalizeH="0" baseline="0" noProof="0" dirty="0">
                <a:ln>
                  <a:noFill/>
                </a:ln>
                <a:solidFill>
                  <a:srgbClr val="0F6FC6"/>
                </a:solidFill>
                <a:effectLst/>
                <a:uLnTx/>
                <a:uFillTx/>
                <a:latin typeface="Assistant" pitchFamily="2" charset="-79"/>
                <a:ea typeface="+mn-ea"/>
                <a:cs typeface="Assistant" pitchFamily="2" charset="-79"/>
              </a:rPr>
              <a:t>סל שירותים אישי </a:t>
            </a:r>
            <a:r>
              <a:rPr kumimoji="0" lang="he-IL" sz="2000" b="0" i="0" u="none" strike="noStrike" kern="1200" cap="none" spc="0" normalizeH="0" baseline="0" noProof="0" dirty="0">
                <a:ln>
                  <a:noFill/>
                </a:ln>
                <a:solidFill>
                  <a:prstClr val="black"/>
                </a:solidFill>
                <a:effectLst/>
                <a:uLnTx/>
                <a:uFillTx/>
                <a:latin typeface="Assistant" pitchFamily="2" charset="-79"/>
                <a:ea typeface="+mn-ea"/>
                <a:cs typeface="Assistant" pitchFamily="2" charset="-79"/>
              </a:rPr>
              <a:t>מעטפת שירותים לבחירת האזרח הוותיק</a:t>
            </a:r>
          </a:p>
        </p:txBody>
      </p:sp>
      <p:pic>
        <p:nvPicPr>
          <p:cNvPr id="5" name="Picture 3" descr="קובץ:Ministry of Labor, Social Affairs and Social Services ...">
            <a:extLst>
              <a:ext uri="{FF2B5EF4-FFF2-40B4-BE49-F238E27FC236}">
                <a16:creationId xmlns:a16="http://schemas.microsoft.com/office/drawing/2014/main" id="{87212E7D-CD60-4A37-EDE5-F7C0DB8512FB}"/>
              </a:ext>
            </a:extLst>
          </p:cNvPr>
          <p:cNvPicPr>
            <a:picLocks noChangeAspect="1" noChangeArrowheads="1"/>
          </p:cNvPicPr>
          <p:nvPr/>
        </p:nvPicPr>
        <p:blipFill>
          <a:blip r:embed="rId6" cstate="email">
            <a:extLst>
              <a:ext uri="{28A0092B-C50C-407E-A947-70E740481C1C}">
                <a14:useLocalDpi xmlns:a14="http://schemas.microsoft.com/office/drawing/2010/main"/>
              </a:ext>
            </a:extLst>
          </a:blip>
          <a:srcRect/>
          <a:stretch>
            <a:fillRect/>
          </a:stretch>
        </p:blipFill>
        <p:spPr bwMode="auto">
          <a:xfrm>
            <a:off x="1672529" y="6316809"/>
            <a:ext cx="1742734" cy="475167"/>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6">
            <a:extLst>
              <a:ext uri="{FF2B5EF4-FFF2-40B4-BE49-F238E27FC236}">
                <a16:creationId xmlns:a16="http://schemas.microsoft.com/office/drawing/2014/main" id="{2A1BCDDE-186F-562E-DECB-D7D8B64FEE2D}"/>
              </a:ext>
            </a:extLst>
          </p:cNvPr>
          <p:cNvPicPr>
            <a:picLocks noChangeAspect="1"/>
          </p:cNvPicPr>
          <p:nvPr/>
        </p:nvPicPr>
        <p:blipFill>
          <a:blip r:embed="rId7"/>
          <a:stretch>
            <a:fillRect/>
          </a:stretch>
        </p:blipFill>
        <p:spPr>
          <a:xfrm>
            <a:off x="430271" y="6217298"/>
            <a:ext cx="1118350" cy="612431"/>
          </a:xfrm>
          <a:prstGeom prst="rect">
            <a:avLst/>
          </a:prstGeom>
          <a:ln>
            <a:noFill/>
          </a:ln>
        </p:spPr>
      </p:pic>
      <p:sp>
        <p:nvSpPr>
          <p:cNvPr id="7" name="מלבן 6">
            <a:extLst>
              <a:ext uri="{FF2B5EF4-FFF2-40B4-BE49-F238E27FC236}">
                <a16:creationId xmlns:a16="http://schemas.microsoft.com/office/drawing/2014/main" id="{AB5F0C56-2192-119A-B9DE-530D755B2EA5}"/>
              </a:ext>
            </a:extLst>
          </p:cNvPr>
          <p:cNvSpPr/>
          <p:nvPr/>
        </p:nvSpPr>
        <p:spPr>
          <a:xfrm>
            <a:off x="3093" y="0"/>
            <a:ext cx="244547" cy="7226708"/>
          </a:xfrm>
          <a:prstGeom prst="rect">
            <a:avLst/>
          </a:prstGeom>
          <a:solidFill>
            <a:srgbClr val="5EC5C5"/>
          </a:solidFill>
          <a:ln>
            <a:solidFill>
              <a:srgbClr val="2CC2E0"/>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Calibri"/>
              <a:ea typeface="+mn-ea"/>
              <a:cs typeface="Calibri"/>
            </a:endParaRPr>
          </a:p>
        </p:txBody>
      </p:sp>
      <p:sp>
        <p:nvSpPr>
          <p:cNvPr id="8" name="TextBox 10">
            <a:extLst>
              <a:ext uri="{FF2B5EF4-FFF2-40B4-BE49-F238E27FC236}">
                <a16:creationId xmlns:a16="http://schemas.microsoft.com/office/drawing/2014/main" id="{480E6512-E008-81B8-0E05-1B0B217BA2E8}"/>
              </a:ext>
            </a:extLst>
          </p:cNvPr>
          <p:cNvSpPr txBox="1"/>
          <p:nvPr/>
        </p:nvSpPr>
        <p:spPr>
          <a:xfrm rot="16200000">
            <a:off x="-709672" y="667069"/>
            <a:ext cx="1616148" cy="338554"/>
          </a:xfrm>
          <a:prstGeom prst="rect">
            <a:avLst/>
          </a:prstGeom>
          <a:noFill/>
        </p:spPr>
        <p:txBody>
          <a:bodyPr wrap="non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1"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סל מותאם אישית</a:t>
            </a:r>
          </a:p>
        </p:txBody>
      </p:sp>
    </p:spTree>
    <p:extLst>
      <p:ext uri="{BB962C8B-B14F-4D97-AF65-F5344CB8AC3E}">
        <p14:creationId xmlns:p14="http://schemas.microsoft.com/office/powerpoint/2010/main" val="163292281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TextBox 47">
            <a:extLst>
              <a:ext uri="{FF2B5EF4-FFF2-40B4-BE49-F238E27FC236}">
                <a16:creationId xmlns:a16="http://schemas.microsoft.com/office/drawing/2014/main" id="{685678F4-47CE-4125-83E4-D46D4C34AF93}"/>
              </a:ext>
            </a:extLst>
          </p:cNvPr>
          <p:cNvSpPr txBox="1"/>
          <p:nvPr/>
        </p:nvSpPr>
        <p:spPr>
          <a:xfrm>
            <a:off x="2136846" y="3608660"/>
            <a:ext cx="8110256" cy="461665"/>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400" b="0"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פיתוח </a:t>
            </a:r>
            <a:r>
              <a:rPr kumimoji="0" lang="he-IL" sz="2400" b="1"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מנגנון גמיש לאישור </a:t>
            </a:r>
            <a:r>
              <a:rPr kumimoji="0" lang="he-IL" sz="2400" b="0"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המוצרים והשירותים </a:t>
            </a:r>
            <a:endParaRPr kumimoji="0" lang="en-IL" sz="2400" b="0"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endParaRPr>
          </a:p>
        </p:txBody>
      </p:sp>
      <p:sp>
        <p:nvSpPr>
          <p:cNvPr id="49" name="TextBox 48">
            <a:extLst>
              <a:ext uri="{FF2B5EF4-FFF2-40B4-BE49-F238E27FC236}">
                <a16:creationId xmlns:a16="http://schemas.microsoft.com/office/drawing/2014/main" id="{8E5F55E6-362B-4276-A430-7B96942F9019}"/>
              </a:ext>
            </a:extLst>
          </p:cNvPr>
          <p:cNvSpPr txBox="1"/>
          <p:nvPr/>
        </p:nvSpPr>
        <p:spPr>
          <a:xfrm>
            <a:off x="2136846" y="3024509"/>
            <a:ext cx="8110256" cy="461665"/>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400" b="1"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מערכת להצגה והנגשה </a:t>
            </a:r>
            <a:r>
              <a:rPr kumimoji="0" lang="he-IL" sz="2400" b="0"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של השירותים </a:t>
            </a:r>
            <a:r>
              <a:rPr kumimoji="0" lang="he-IL" sz="2400" b="1"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ותשלום בארנק דיגיטלי</a:t>
            </a:r>
            <a:endParaRPr kumimoji="0" lang="en-IL" sz="2400" b="1"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endParaRPr>
          </a:p>
        </p:txBody>
      </p:sp>
      <p:sp>
        <p:nvSpPr>
          <p:cNvPr id="50" name="TextBox 49">
            <a:extLst>
              <a:ext uri="{FF2B5EF4-FFF2-40B4-BE49-F238E27FC236}">
                <a16:creationId xmlns:a16="http://schemas.microsoft.com/office/drawing/2014/main" id="{AEBB95BA-D351-4272-919E-669B78D9E53B}"/>
              </a:ext>
            </a:extLst>
          </p:cNvPr>
          <p:cNvSpPr txBox="1"/>
          <p:nvPr/>
        </p:nvSpPr>
        <p:spPr>
          <a:xfrm>
            <a:off x="2136846" y="2440358"/>
            <a:ext cx="8110256" cy="461665"/>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400" b="0"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גיבוש </a:t>
            </a:r>
            <a:r>
              <a:rPr kumimoji="0" lang="he-IL" sz="2400" b="1"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רגולציה תומכת</a:t>
            </a:r>
            <a:endParaRPr kumimoji="0" lang="en-IL" sz="2400" b="1"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endParaRPr>
          </a:p>
        </p:txBody>
      </p:sp>
      <p:sp>
        <p:nvSpPr>
          <p:cNvPr id="57" name="TextBox 56">
            <a:extLst>
              <a:ext uri="{FF2B5EF4-FFF2-40B4-BE49-F238E27FC236}">
                <a16:creationId xmlns:a16="http://schemas.microsoft.com/office/drawing/2014/main" id="{46AEBD07-2F09-4148-B492-77871EB5C3C9}"/>
              </a:ext>
            </a:extLst>
          </p:cNvPr>
          <p:cNvSpPr txBox="1"/>
          <p:nvPr/>
        </p:nvSpPr>
        <p:spPr>
          <a:xfrm>
            <a:off x="9044892" y="1902458"/>
            <a:ext cx="1877476" cy="461665"/>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400" b="1"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מה נדרש:</a:t>
            </a:r>
            <a:endParaRPr kumimoji="0" lang="en-IL" sz="2400" b="1"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endParaRPr>
          </a:p>
        </p:txBody>
      </p:sp>
      <p:sp>
        <p:nvSpPr>
          <p:cNvPr id="58" name="TextBox 57">
            <a:extLst>
              <a:ext uri="{FF2B5EF4-FFF2-40B4-BE49-F238E27FC236}">
                <a16:creationId xmlns:a16="http://schemas.microsoft.com/office/drawing/2014/main" id="{10360EE5-8DC6-4301-B9E8-37FCF90E9F20}"/>
              </a:ext>
            </a:extLst>
          </p:cNvPr>
          <p:cNvSpPr txBox="1"/>
          <p:nvPr/>
        </p:nvSpPr>
        <p:spPr>
          <a:xfrm>
            <a:off x="114742" y="657921"/>
            <a:ext cx="10371604" cy="892552"/>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0" i="0" u="none" strike="noStrike" kern="1200" cap="none" spc="0" normalizeH="0" baseline="0" noProof="0" dirty="0">
                <a:ln>
                  <a:noFill/>
                </a:ln>
                <a:solidFill>
                  <a:srgbClr val="0F6FC6"/>
                </a:solidFill>
                <a:effectLst/>
                <a:uLnTx/>
                <a:uFillTx/>
                <a:latin typeface="Assistant" pitchFamily="2" charset="-79"/>
                <a:ea typeface="+mn-ea"/>
                <a:cs typeface="Assistant" pitchFamily="2" charset="-79"/>
              </a:rPr>
              <a:t>האדם במרכז (</a:t>
            </a:r>
            <a:r>
              <a:rPr kumimoji="0" lang="en-US" sz="1600" b="0" i="0" u="none" strike="noStrike" kern="1200" cap="none" spc="0" normalizeH="0" baseline="0" noProof="0" dirty="0">
                <a:ln>
                  <a:noFill/>
                </a:ln>
                <a:solidFill>
                  <a:srgbClr val="0F6FC6"/>
                </a:solidFill>
                <a:effectLst/>
                <a:uLnTx/>
                <a:uFillTx/>
                <a:latin typeface="Assistant" pitchFamily="2" charset="-79"/>
                <a:ea typeface="+mn-ea"/>
                <a:cs typeface="Assistant" pitchFamily="2" charset="-79"/>
              </a:rPr>
              <a:t>A</a:t>
            </a:r>
            <a:r>
              <a:rPr kumimoji="0" lang="he-IL" sz="1600" b="0" i="0" u="none" strike="noStrike" kern="1200" cap="none" spc="0" normalizeH="0" baseline="0" noProof="0" dirty="0">
                <a:ln>
                  <a:noFill/>
                </a:ln>
                <a:solidFill>
                  <a:srgbClr val="0F6FC6"/>
                </a:solidFill>
                <a:effectLst/>
                <a:uLnTx/>
                <a:uFillTx/>
                <a:latin typeface="Assistant" pitchFamily="2" charset="-79"/>
                <a:ea typeface="+mn-ea"/>
                <a:cs typeface="Assistant" pitchFamily="2" charset="-79"/>
              </a:rPr>
              <a:t>) </a:t>
            </a:r>
            <a:br>
              <a:rPr kumimoji="0" lang="en-US" sz="1600" b="0" i="0" u="none" strike="noStrike" kern="1200" cap="none" spc="0" normalizeH="0" baseline="0" noProof="0" dirty="0">
                <a:ln>
                  <a:noFill/>
                </a:ln>
                <a:solidFill>
                  <a:srgbClr val="0F6FC6"/>
                </a:solidFill>
                <a:effectLst/>
                <a:uLnTx/>
                <a:uFillTx/>
                <a:latin typeface="Assistant" pitchFamily="2" charset="-79"/>
                <a:ea typeface="+mn-ea"/>
                <a:cs typeface="Assistant" pitchFamily="2" charset="-79"/>
              </a:rPr>
            </a:br>
            <a:r>
              <a:rPr kumimoji="0" lang="he-IL" sz="3600" b="1" i="0" u="none" strike="noStrike" kern="1200" cap="none" spc="0" normalizeH="0" baseline="0" noProof="0" dirty="0">
                <a:ln>
                  <a:noFill/>
                </a:ln>
                <a:solidFill>
                  <a:srgbClr val="0F6FC6"/>
                </a:solidFill>
                <a:effectLst/>
                <a:uLnTx/>
                <a:uFillTx/>
                <a:latin typeface="Assistant" pitchFamily="2" charset="-79"/>
                <a:ea typeface="+mn-ea"/>
                <a:cs typeface="Assistant" pitchFamily="2" charset="-79"/>
              </a:rPr>
              <a:t>פיתוח סל שירותים מותאם אישית</a:t>
            </a:r>
          </a:p>
        </p:txBody>
      </p:sp>
      <p:sp>
        <p:nvSpPr>
          <p:cNvPr id="3" name="Arrow: Right 2">
            <a:extLst>
              <a:ext uri="{FF2B5EF4-FFF2-40B4-BE49-F238E27FC236}">
                <a16:creationId xmlns:a16="http://schemas.microsoft.com/office/drawing/2014/main" id="{101E3E98-B3D9-4CF9-8C8E-64C68C0C51B2}"/>
              </a:ext>
            </a:extLst>
          </p:cNvPr>
          <p:cNvSpPr/>
          <p:nvPr/>
        </p:nvSpPr>
        <p:spPr>
          <a:xfrm flipH="1">
            <a:off x="10389177" y="2592919"/>
            <a:ext cx="216817" cy="156543"/>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white"/>
              </a:solidFill>
              <a:effectLst/>
              <a:uLnTx/>
              <a:uFillTx/>
              <a:latin typeface="Assistant" pitchFamily="2" charset="-79"/>
              <a:ea typeface="+mn-ea"/>
              <a:cs typeface="Assistant" pitchFamily="2" charset="-79"/>
            </a:endParaRPr>
          </a:p>
        </p:txBody>
      </p:sp>
      <p:sp>
        <p:nvSpPr>
          <p:cNvPr id="63" name="Arrow: Right 62">
            <a:extLst>
              <a:ext uri="{FF2B5EF4-FFF2-40B4-BE49-F238E27FC236}">
                <a16:creationId xmlns:a16="http://schemas.microsoft.com/office/drawing/2014/main" id="{0AE3B7A5-C498-423F-A13E-89BB7E65AF87}"/>
              </a:ext>
            </a:extLst>
          </p:cNvPr>
          <p:cNvSpPr/>
          <p:nvPr/>
        </p:nvSpPr>
        <p:spPr>
          <a:xfrm flipH="1">
            <a:off x="10389177" y="3177070"/>
            <a:ext cx="216817" cy="156543"/>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white"/>
              </a:solidFill>
              <a:effectLst/>
              <a:uLnTx/>
              <a:uFillTx/>
              <a:latin typeface="Assistant" pitchFamily="2" charset="-79"/>
              <a:ea typeface="+mn-ea"/>
              <a:cs typeface="Assistant" pitchFamily="2" charset="-79"/>
            </a:endParaRPr>
          </a:p>
        </p:txBody>
      </p:sp>
      <p:sp>
        <p:nvSpPr>
          <p:cNvPr id="64" name="Arrow: Right 63">
            <a:extLst>
              <a:ext uri="{FF2B5EF4-FFF2-40B4-BE49-F238E27FC236}">
                <a16:creationId xmlns:a16="http://schemas.microsoft.com/office/drawing/2014/main" id="{484B5CC0-F974-4F28-8FE8-6BD4D5D8E3A5}"/>
              </a:ext>
            </a:extLst>
          </p:cNvPr>
          <p:cNvSpPr/>
          <p:nvPr/>
        </p:nvSpPr>
        <p:spPr>
          <a:xfrm flipH="1">
            <a:off x="10377938" y="3761221"/>
            <a:ext cx="216817" cy="156543"/>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white"/>
              </a:solidFill>
              <a:effectLst/>
              <a:uLnTx/>
              <a:uFillTx/>
              <a:latin typeface="Assistant" pitchFamily="2" charset="-79"/>
              <a:ea typeface="+mn-ea"/>
              <a:cs typeface="Assistant" pitchFamily="2" charset="-79"/>
            </a:endParaRPr>
          </a:p>
        </p:txBody>
      </p:sp>
      <p:sp>
        <p:nvSpPr>
          <p:cNvPr id="68" name="TextBox 67">
            <a:extLst>
              <a:ext uri="{FF2B5EF4-FFF2-40B4-BE49-F238E27FC236}">
                <a16:creationId xmlns:a16="http://schemas.microsoft.com/office/drawing/2014/main" id="{C8F318CF-806B-4B04-AFAA-1E7E248729C7}"/>
              </a:ext>
            </a:extLst>
          </p:cNvPr>
          <p:cNvSpPr txBox="1"/>
          <p:nvPr/>
        </p:nvSpPr>
        <p:spPr>
          <a:xfrm flipH="1">
            <a:off x="8564898" y="5165422"/>
            <a:ext cx="1418732" cy="715089"/>
          </a:xfrm>
          <a:prstGeom prst="roundRect">
            <a:avLst/>
          </a:prstGeom>
          <a:solidFill>
            <a:schemeClr val="accent1"/>
          </a:solidFill>
          <a:ln>
            <a:noFill/>
          </a:ln>
          <a:effectLst>
            <a:outerShdw blurRad="215900" dist="50800" dir="5400000" algn="ctr" rotWithShape="0">
              <a:schemeClr val="bg2">
                <a:lumMod val="10000"/>
                <a:alpha val="43000"/>
              </a:schemeClr>
            </a:outerShdw>
          </a:effectLst>
        </p:spPr>
        <p:txBody>
          <a:bodyPr wrap="square">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white"/>
                </a:solidFill>
                <a:effectLst/>
                <a:uLnTx/>
                <a:uFillTx/>
                <a:latin typeface="Assistant SemiBold" pitchFamily="2" charset="-79"/>
                <a:ea typeface="+mn-ea"/>
                <a:cs typeface="Assistant SemiBold" pitchFamily="2" charset="-79"/>
              </a:rPr>
              <a:t>חיבור של נתונים</a:t>
            </a:r>
          </a:p>
        </p:txBody>
      </p:sp>
      <p:sp>
        <p:nvSpPr>
          <p:cNvPr id="69" name="TextBox 68">
            <a:extLst>
              <a:ext uri="{FF2B5EF4-FFF2-40B4-BE49-F238E27FC236}">
                <a16:creationId xmlns:a16="http://schemas.microsoft.com/office/drawing/2014/main" id="{CE8D518F-92C4-4D7C-BBA0-1A592D02CA0E}"/>
              </a:ext>
            </a:extLst>
          </p:cNvPr>
          <p:cNvSpPr txBox="1"/>
          <p:nvPr/>
        </p:nvSpPr>
        <p:spPr>
          <a:xfrm flipH="1">
            <a:off x="6445138" y="5165422"/>
            <a:ext cx="1630680" cy="715089"/>
          </a:xfrm>
          <a:prstGeom prst="roundRect">
            <a:avLst/>
          </a:prstGeom>
          <a:solidFill>
            <a:schemeClr val="accent1"/>
          </a:solidFill>
          <a:ln>
            <a:noFill/>
          </a:ln>
          <a:effectLst>
            <a:outerShdw blurRad="215900" dist="50800" dir="5400000" algn="ctr" rotWithShape="0">
              <a:schemeClr val="bg2">
                <a:lumMod val="10000"/>
                <a:alpha val="43000"/>
              </a:schemeClr>
            </a:outerShdw>
          </a:effectLst>
        </p:spPr>
        <p:txBody>
          <a:bodyPr wrap="square">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white"/>
                </a:solidFill>
                <a:effectLst/>
                <a:uLnTx/>
                <a:uFillTx/>
                <a:latin typeface="Assistant SemiBold" pitchFamily="2" charset="-79"/>
                <a:ea typeface="+mn-ea"/>
                <a:cs typeface="Assistant SemiBold" pitchFamily="2" charset="-79"/>
              </a:rPr>
              <a:t>פרופילים של אזרחים ותיקים</a:t>
            </a:r>
          </a:p>
        </p:txBody>
      </p:sp>
      <p:sp>
        <p:nvSpPr>
          <p:cNvPr id="70" name="TextBox 69">
            <a:extLst>
              <a:ext uri="{FF2B5EF4-FFF2-40B4-BE49-F238E27FC236}">
                <a16:creationId xmlns:a16="http://schemas.microsoft.com/office/drawing/2014/main" id="{4F8519BF-DBE8-4079-866F-257E09B43ADA}"/>
              </a:ext>
            </a:extLst>
          </p:cNvPr>
          <p:cNvSpPr txBox="1"/>
          <p:nvPr/>
        </p:nvSpPr>
        <p:spPr>
          <a:xfrm flipH="1">
            <a:off x="4315918" y="5165424"/>
            <a:ext cx="1630680" cy="715089"/>
          </a:xfrm>
          <a:prstGeom prst="roundRect">
            <a:avLst/>
          </a:prstGeom>
          <a:solidFill>
            <a:schemeClr val="accent1"/>
          </a:solidFill>
          <a:ln>
            <a:noFill/>
          </a:ln>
          <a:effectLst>
            <a:outerShdw blurRad="215900" dist="50800" dir="5400000" algn="ctr" rotWithShape="0">
              <a:schemeClr val="bg2">
                <a:lumMod val="10000"/>
                <a:alpha val="43000"/>
              </a:schemeClr>
            </a:outerShdw>
          </a:effectLst>
        </p:spPr>
        <p:txBody>
          <a:bodyPr wrap="square">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white"/>
                </a:solidFill>
                <a:effectLst/>
                <a:uLnTx/>
                <a:uFillTx/>
                <a:latin typeface="Assistant SemiBold" pitchFamily="2" charset="-79"/>
                <a:ea typeface="+mn-ea"/>
                <a:cs typeface="Assistant SemiBold" pitchFamily="2" charset="-79"/>
              </a:rPr>
              <a:t>רגולציה</a:t>
            </a:r>
            <a:br>
              <a:rPr kumimoji="0" lang="en-US" sz="1800" b="0" i="0" u="none" strike="noStrike" kern="1200" cap="none" spc="0" normalizeH="0" baseline="0" noProof="0" dirty="0">
                <a:ln>
                  <a:noFill/>
                </a:ln>
                <a:solidFill>
                  <a:prstClr val="white"/>
                </a:solidFill>
                <a:effectLst/>
                <a:uLnTx/>
                <a:uFillTx/>
                <a:latin typeface="Assistant SemiBold" pitchFamily="2" charset="-79"/>
                <a:ea typeface="+mn-ea"/>
                <a:cs typeface="Assistant SemiBold" pitchFamily="2" charset="-79"/>
              </a:rPr>
            </a:br>
            <a:r>
              <a:rPr kumimoji="0" lang="he-IL" sz="1800" b="0" i="0" u="none" strike="noStrike" kern="1200" cap="none" spc="0" normalizeH="0" baseline="0" noProof="0" dirty="0">
                <a:ln>
                  <a:noFill/>
                </a:ln>
                <a:solidFill>
                  <a:prstClr val="white"/>
                </a:solidFill>
                <a:effectLst/>
                <a:uLnTx/>
                <a:uFillTx/>
                <a:latin typeface="Assistant SemiBold" pitchFamily="2" charset="-79"/>
                <a:ea typeface="+mn-ea"/>
                <a:cs typeface="Assistant SemiBold" pitchFamily="2" charset="-79"/>
              </a:rPr>
              <a:t> מאפשרת</a:t>
            </a:r>
          </a:p>
        </p:txBody>
      </p:sp>
      <p:sp>
        <p:nvSpPr>
          <p:cNvPr id="71" name="TextBox 70">
            <a:extLst>
              <a:ext uri="{FF2B5EF4-FFF2-40B4-BE49-F238E27FC236}">
                <a16:creationId xmlns:a16="http://schemas.microsoft.com/office/drawing/2014/main" id="{90219D2D-A485-4573-9D7A-CE795D1C51CF}"/>
              </a:ext>
            </a:extLst>
          </p:cNvPr>
          <p:cNvSpPr txBox="1"/>
          <p:nvPr/>
        </p:nvSpPr>
        <p:spPr>
          <a:xfrm flipH="1">
            <a:off x="2196158" y="5165423"/>
            <a:ext cx="1630680" cy="715089"/>
          </a:xfrm>
          <a:prstGeom prst="roundRect">
            <a:avLst/>
          </a:prstGeom>
          <a:solidFill>
            <a:schemeClr val="accent1"/>
          </a:solidFill>
          <a:ln>
            <a:noFill/>
          </a:ln>
          <a:effectLst>
            <a:outerShdw blurRad="215900" dist="50800" dir="5400000" algn="ctr" rotWithShape="0">
              <a:schemeClr val="bg2">
                <a:lumMod val="10000"/>
                <a:alpha val="43000"/>
              </a:schemeClr>
            </a:outerShdw>
          </a:effectLst>
        </p:spPr>
        <p:txBody>
          <a:bodyPr wrap="square">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white"/>
                </a:solidFill>
                <a:effectLst/>
                <a:uLnTx/>
                <a:uFillTx/>
                <a:latin typeface="Assistant SemiBold" pitchFamily="2" charset="-79"/>
                <a:ea typeface="+mn-ea"/>
                <a:cs typeface="Assistant SemiBold" pitchFamily="2" charset="-79"/>
              </a:rPr>
              <a:t>אקוסיסטם ומערכות</a:t>
            </a:r>
          </a:p>
        </p:txBody>
      </p:sp>
      <p:pic>
        <p:nvPicPr>
          <p:cNvPr id="14" name="Graphic 13">
            <a:extLst>
              <a:ext uri="{FF2B5EF4-FFF2-40B4-BE49-F238E27FC236}">
                <a16:creationId xmlns:a16="http://schemas.microsoft.com/office/drawing/2014/main" id="{FBC4A4E5-16CA-4BB8-AEC8-78A3D6CE6840}"/>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b="19918"/>
          <a:stretch/>
        </p:blipFill>
        <p:spPr>
          <a:xfrm>
            <a:off x="10594755" y="657921"/>
            <a:ext cx="823170" cy="824010"/>
          </a:xfrm>
          <a:prstGeom prst="rect">
            <a:avLst/>
          </a:prstGeom>
        </p:spPr>
      </p:pic>
      <p:pic>
        <p:nvPicPr>
          <p:cNvPr id="2" name="Picture 3" descr="קובץ:Ministry of Labor, Social Affairs and Social Services ...">
            <a:extLst>
              <a:ext uri="{FF2B5EF4-FFF2-40B4-BE49-F238E27FC236}">
                <a16:creationId xmlns:a16="http://schemas.microsoft.com/office/drawing/2014/main" id="{2BA23FAF-F69F-86A8-8CB3-ADB8AA566E8E}"/>
              </a:ext>
            </a:extLst>
          </p:cNvPr>
          <p:cNvPicPr>
            <a:picLocks noChangeAspect="1" noChangeArrowheads="1"/>
          </p:cNvPicPr>
          <p:nvPr/>
        </p:nvPicPr>
        <p:blipFill>
          <a:blip r:embed="rId4" cstate="email">
            <a:extLst>
              <a:ext uri="{28A0092B-C50C-407E-A947-70E740481C1C}">
                <a14:useLocalDpi xmlns:a14="http://schemas.microsoft.com/office/drawing/2010/main"/>
              </a:ext>
            </a:extLst>
          </a:blip>
          <a:srcRect/>
          <a:stretch>
            <a:fillRect/>
          </a:stretch>
        </p:blipFill>
        <p:spPr bwMode="auto">
          <a:xfrm>
            <a:off x="1563867" y="6299590"/>
            <a:ext cx="1742734" cy="475167"/>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26">
            <a:extLst>
              <a:ext uri="{FF2B5EF4-FFF2-40B4-BE49-F238E27FC236}">
                <a16:creationId xmlns:a16="http://schemas.microsoft.com/office/drawing/2014/main" id="{1BADA18F-C193-2D8B-28FF-D3AA6B2C1084}"/>
              </a:ext>
            </a:extLst>
          </p:cNvPr>
          <p:cNvPicPr>
            <a:picLocks noChangeAspect="1"/>
          </p:cNvPicPr>
          <p:nvPr/>
        </p:nvPicPr>
        <p:blipFill>
          <a:blip r:embed="rId5"/>
          <a:stretch>
            <a:fillRect/>
          </a:stretch>
        </p:blipFill>
        <p:spPr>
          <a:xfrm>
            <a:off x="321609" y="6200079"/>
            <a:ext cx="1118350" cy="612431"/>
          </a:xfrm>
          <a:prstGeom prst="rect">
            <a:avLst/>
          </a:prstGeom>
          <a:ln>
            <a:noFill/>
          </a:ln>
        </p:spPr>
      </p:pic>
      <p:sp>
        <p:nvSpPr>
          <p:cNvPr id="5" name="מלבן 4">
            <a:extLst>
              <a:ext uri="{FF2B5EF4-FFF2-40B4-BE49-F238E27FC236}">
                <a16:creationId xmlns:a16="http://schemas.microsoft.com/office/drawing/2014/main" id="{0A4EED2D-BF5F-6386-F28E-CCD2CF712691}"/>
              </a:ext>
            </a:extLst>
          </p:cNvPr>
          <p:cNvSpPr/>
          <p:nvPr/>
        </p:nvSpPr>
        <p:spPr>
          <a:xfrm>
            <a:off x="3093" y="0"/>
            <a:ext cx="244547" cy="7226708"/>
          </a:xfrm>
          <a:prstGeom prst="rect">
            <a:avLst/>
          </a:prstGeom>
          <a:solidFill>
            <a:srgbClr val="5EC5C5"/>
          </a:solidFill>
          <a:ln>
            <a:solidFill>
              <a:srgbClr val="2CC2E0"/>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Calibri"/>
              <a:ea typeface="+mn-ea"/>
              <a:cs typeface="Calibri"/>
            </a:endParaRPr>
          </a:p>
        </p:txBody>
      </p:sp>
      <p:sp>
        <p:nvSpPr>
          <p:cNvPr id="6" name="TextBox 10">
            <a:extLst>
              <a:ext uri="{FF2B5EF4-FFF2-40B4-BE49-F238E27FC236}">
                <a16:creationId xmlns:a16="http://schemas.microsoft.com/office/drawing/2014/main" id="{9CBB1340-D6E1-C867-8024-E50C5F69FC9E}"/>
              </a:ext>
            </a:extLst>
          </p:cNvPr>
          <p:cNvSpPr txBox="1"/>
          <p:nvPr/>
        </p:nvSpPr>
        <p:spPr>
          <a:xfrm rot="16200000">
            <a:off x="-709672" y="667069"/>
            <a:ext cx="1616148" cy="338554"/>
          </a:xfrm>
          <a:prstGeom prst="rect">
            <a:avLst/>
          </a:prstGeom>
          <a:noFill/>
        </p:spPr>
        <p:txBody>
          <a:bodyPr wrap="non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1"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סל מותאם אישית</a:t>
            </a:r>
          </a:p>
        </p:txBody>
      </p:sp>
    </p:spTree>
    <p:extLst>
      <p:ext uri="{BB962C8B-B14F-4D97-AF65-F5344CB8AC3E}">
        <p14:creationId xmlns:p14="http://schemas.microsoft.com/office/powerpoint/2010/main" val="216093984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descr="A picture containing person, person&#10;&#10;Description automatically generated">
            <a:extLst>
              <a:ext uri="{FF2B5EF4-FFF2-40B4-BE49-F238E27FC236}">
                <a16:creationId xmlns:a16="http://schemas.microsoft.com/office/drawing/2014/main" id="{BED9B39D-506E-BC30-72B8-A4F4C12235C9}"/>
              </a:ext>
            </a:extLst>
          </p:cNvPr>
          <p:cNvPicPr>
            <a:picLocks noChangeAspect="1"/>
          </p:cNvPicPr>
          <p:nvPr/>
        </p:nvPicPr>
        <p:blipFill>
          <a:blip r:embed="rId3">
            <a:alphaModFix amt="85000"/>
            <a:extLst>
              <a:ext uri="{28A0092B-C50C-407E-A947-70E740481C1C}">
                <a14:useLocalDpi xmlns:a14="http://schemas.microsoft.com/office/drawing/2010/main" val="0"/>
              </a:ext>
            </a:extLst>
          </a:blip>
          <a:stretch>
            <a:fillRect/>
          </a:stretch>
        </p:blipFill>
        <p:spPr>
          <a:xfrm>
            <a:off x="0" y="-28651"/>
            <a:ext cx="12192000" cy="7686842"/>
          </a:xfrm>
          <a:prstGeom prst="rect">
            <a:avLst/>
          </a:prstGeom>
        </p:spPr>
      </p:pic>
      <p:sp>
        <p:nvSpPr>
          <p:cNvPr id="4" name="Rectangle 3">
            <a:extLst>
              <a:ext uri="{FF2B5EF4-FFF2-40B4-BE49-F238E27FC236}">
                <a16:creationId xmlns:a16="http://schemas.microsoft.com/office/drawing/2014/main" id="{D5474B0A-0AEC-40BB-BC61-4A7BF8916078}"/>
              </a:ext>
            </a:extLst>
          </p:cNvPr>
          <p:cNvSpPr/>
          <p:nvPr/>
        </p:nvSpPr>
        <p:spPr>
          <a:xfrm>
            <a:off x="-3093" y="6546308"/>
            <a:ext cx="12192000" cy="108197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6" name="Rectangle 5">
            <a:extLst>
              <a:ext uri="{FF2B5EF4-FFF2-40B4-BE49-F238E27FC236}">
                <a16:creationId xmlns:a16="http://schemas.microsoft.com/office/drawing/2014/main" id="{074E81CE-5BB6-4B39-998F-DA850CF7B7B7}"/>
              </a:ext>
            </a:extLst>
          </p:cNvPr>
          <p:cNvSpPr/>
          <p:nvPr/>
        </p:nvSpPr>
        <p:spPr>
          <a:xfrm>
            <a:off x="11470" y="6459250"/>
            <a:ext cx="12192000" cy="94725"/>
          </a:xfrm>
          <a:prstGeom prst="rect">
            <a:avLst/>
          </a:prstGeom>
          <a:solidFill>
            <a:srgbClr val="5EC5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7" name="Rectangle 6">
            <a:extLst>
              <a:ext uri="{FF2B5EF4-FFF2-40B4-BE49-F238E27FC236}">
                <a16:creationId xmlns:a16="http://schemas.microsoft.com/office/drawing/2014/main" id="{E331855E-E559-4AFE-8D66-4892C712613C}"/>
              </a:ext>
            </a:extLst>
          </p:cNvPr>
          <p:cNvSpPr/>
          <p:nvPr/>
        </p:nvSpPr>
        <p:spPr>
          <a:xfrm>
            <a:off x="376102" y="640065"/>
            <a:ext cx="4562248" cy="2169825"/>
          </a:xfrm>
          <a:prstGeom prst="rect">
            <a:avLst/>
          </a:prstGeom>
        </p:spPr>
        <p:txBody>
          <a:bodyPr wrap="square" anchor="ctr">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4500" b="1" i="0" u="none" strike="noStrike" kern="1200" cap="none" spc="0" normalizeH="0" baseline="0" noProof="0" dirty="0">
                <a:ln>
                  <a:noFill/>
                </a:ln>
                <a:solidFill>
                  <a:srgbClr val="34304F"/>
                </a:solidFill>
                <a:effectLst/>
                <a:uLnTx/>
                <a:uFillTx/>
                <a:latin typeface="Calibri" panose="020F0502020204030204" pitchFamily="34" charset="0"/>
                <a:ea typeface="+mn-ea"/>
                <a:cs typeface="Calibri" panose="020F0502020204030204" pitchFamily="34" charset="0"/>
              </a:rPr>
              <a:t>פלטפורמה דיגיטלית להתאמה אישית של שירותים</a:t>
            </a:r>
            <a:endParaRPr kumimoji="0" lang="en-US" sz="4500" b="1" i="0" u="none" strike="noStrike" kern="1200" cap="none" spc="0" normalizeH="0" baseline="0" noProof="0" dirty="0">
              <a:ln>
                <a:noFill/>
              </a:ln>
              <a:solidFill>
                <a:srgbClr val="34304F"/>
              </a:solidFill>
              <a:effectLst/>
              <a:uLnTx/>
              <a:uFillTx/>
              <a:latin typeface="Calibri" panose="020F0502020204030204" pitchFamily="34" charset="0"/>
              <a:ea typeface="+mn-ea"/>
              <a:cs typeface="Calibri" panose="020F0502020204030204" pitchFamily="34" charset="0"/>
            </a:endParaRPr>
          </a:p>
        </p:txBody>
      </p:sp>
      <p:pic>
        <p:nvPicPr>
          <p:cNvPr id="8" name="Picture 7" descr="Graphical user interface, text, website&#10;&#10;Description automatically generated">
            <a:extLst>
              <a:ext uri="{FF2B5EF4-FFF2-40B4-BE49-F238E27FC236}">
                <a16:creationId xmlns:a16="http://schemas.microsoft.com/office/drawing/2014/main" id="{086E767E-AB25-B568-543A-85B3B7F5167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298056" y="6673256"/>
            <a:ext cx="2757567" cy="630794"/>
          </a:xfrm>
          <a:prstGeom prst="rect">
            <a:avLst/>
          </a:prstGeom>
        </p:spPr>
      </p:pic>
      <p:sp>
        <p:nvSpPr>
          <p:cNvPr id="9" name="מלבן 8"/>
          <p:cNvSpPr/>
          <p:nvPr/>
        </p:nvSpPr>
        <p:spPr>
          <a:xfrm>
            <a:off x="3093" y="0"/>
            <a:ext cx="244547" cy="7226708"/>
          </a:xfrm>
          <a:prstGeom prst="rect">
            <a:avLst/>
          </a:prstGeom>
          <a:solidFill>
            <a:srgbClr val="5EC5C5"/>
          </a:solidFill>
          <a:ln>
            <a:solidFill>
              <a:srgbClr val="2CC2E0"/>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Calibri"/>
              <a:ea typeface="+mn-ea"/>
              <a:cs typeface="Calibri"/>
            </a:endParaRPr>
          </a:p>
        </p:txBody>
      </p:sp>
      <p:sp>
        <p:nvSpPr>
          <p:cNvPr id="11" name="TextBox 10"/>
          <p:cNvSpPr txBox="1"/>
          <p:nvPr/>
        </p:nvSpPr>
        <p:spPr>
          <a:xfrm rot="16200000">
            <a:off x="-709672" y="667069"/>
            <a:ext cx="1616148" cy="338554"/>
          </a:xfrm>
          <a:prstGeom prst="rect">
            <a:avLst/>
          </a:prstGeom>
          <a:noFill/>
        </p:spPr>
        <p:txBody>
          <a:bodyPr wrap="non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1"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סל מותאם אישית</a:t>
            </a:r>
          </a:p>
        </p:txBody>
      </p:sp>
      <p:pic>
        <p:nvPicPr>
          <p:cNvPr id="12" name="תמונה 11"/>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038944" y="6767765"/>
            <a:ext cx="1629782" cy="441776"/>
          </a:xfrm>
          <a:prstGeom prst="rect">
            <a:avLst/>
          </a:prstGeom>
        </p:spPr>
      </p:pic>
      <p:pic>
        <p:nvPicPr>
          <p:cNvPr id="2" name="Picture 26">
            <a:extLst>
              <a:ext uri="{FF2B5EF4-FFF2-40B4-BE49-F238E27FC236}">
                <a16:creationId xmlns:a16="http://schemas.microsoft.com/office/drawing/2014/main" id="{A4A0F05C-4589-8598-6409-17ABB1658546}"/>
              </a:ext>
            </a:extLst>
          </p:cNvPr>
          <p:cNvPicPr>
            <a:picLocks noChangeAspect="1"/>
          </p:cNvPicPr>
          <p:nvPr/>
        </p:nvPicPr>
        <p:blipFill>
          <a:blip r:embed="rId6"/>
          <a:stretch>
            <a:fillRect/>
          </a:stretch>
        </p:blipFill>
        <p:spPr>
          <a:xfrm>
            <a:off x="6258762" y="6546308"/>
            <a:ext cx="1395775" cy="764355"/>
          </a:xfrm>
          <a:prstGeom prst="rect">
            <a:avLst/>
          </a:prstGeom>
          <a:ln>
            <a:noFill/>
          </a:ln>
        </p:spPr>
      </p:pic>
      <p:pic>
        <p:nvPicPr>
          <p:cNvPr id="5" name="Picture 32">
            <a:extLst>
              <a:ext uri="{FF2B5EF4-FFF2-40B4-BE49-F238E27FC236}">
                <a16:creationId xmlns:a16="http://schemas.microsoft.com/office/drawing/2014/main" id="{D0D70BBE-0181-BACF-233D-97C8F5B2CC66}"/>
              </a:ext>
            </a:extLst>
          </p:cNvPr>
          <p:cNvPicPr>
            <a:picLocks noChangeAspect="1"/>
          </p:cNvPicPr>
          <p:nvPr/>
        </p:nvPicPr>
        <p:blipFill>
          <a:blip r:embed="rId7"/>
          <a:stretch>
            <a:fillRect/>
          </a:stretch>
        </p:blipFill>
        <p:spPr>
          <a:xfrm>
            <a:off x="4424444" y="6591131"/>
            <a:ext cx="1726877" cy="719532"/>
          </a:xfrm>
          <a:prstGeom prst="rect">
            <a:avLst/>
          </a:prstGeom>
        </p:spPr>
      </p:pic>
      <p:pic>
        <p:nvPicPr>
          <p:cNvPr id="13" name="Picture 5" descr="Logo&#10;&#10;Description automatically generated">
            <a:extLst>
              <a:ext uri="{FF2B5EF4-FFF2-40B4-BE49-F238E27FC236}">
                <a16:creationId xmlns:a16="http://schemas.microsoft.com/office/drawing/2014/main" id="{F71C9523-D69A-ECBC-2636-B5D38E0BB87D}"/>
              </a:ext>
            </a:extLst>
          </p:cNvPr>
          <p:cNvPicPr preferRelativeResize="0">
            <a:picLocks noChangeAspect="1"/>
          </p:cNvPicPr>
          <p:nvPr/>
        </p:nvPicPr>
        <p:blipFill>
          <a:blip r:embed="rId8" cstate="email">
            <a:extLst>
              <a:ext uri="{28A0092B-C50C-407E-A947-70E740481C1C}">
                <a14:useLocalDpi xmlns:a14="http://schemas.microsoft.com/office/drawing/2010/main"/>
              </a:ext>
            </a:extLst>
          </a:blip>
          <a:stretch>
            <a:fillRect/>
          </a:stretch>
        </p:blipFill>
        <p:spPr>
          <a:xfrm>
            <a:off x="10053133" y="6647968"/>
            <a:ext cx="997132" cy="662695"/>
          </a:xfrm>
          <a:prstGeom prst="rect">
            <a:avLst/>
          </a:prstGeom>
        </p:spPr>
      </p:pic>
    </p:spTree>
    <p:extLst>
      <p:ext uri="{BB962C8B-B14F-4D97-AF65-F5344CB8AC3E}">
        <p14:creationId xmlns:p14="http://schemas.microsoft.com/office/powerpoint/2010/main" val="288310238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4"/>
          <p:cNvPicPr>
            <a:picLocks noChangeAspect="1"/>
          </p:cNvPicPr>
          <p:nvPr/>
        </p:nvPicPr>
        <p:blipFill>
          <a:blip r:embed="rId2">
            <a:extLst>
              <a:ext uri="{28A0092B-C50C-407E-A947-70E740481C1C}">
                <a14:useLocalDpi xmlns:a14="http://schemas.microsoft.com/office/drawing/2010/main" val="0"/>
              </a:ext>
            </a:extLst>
          </a:blip>
          <a:srcRect t="2609" b="27099"/>
          <a:stretch>
            <a:fillRect/>
          </a:stretch>
        </p:blipFill>
        <p:spPr>
          <a:xfrm>
            <a:off x="0" y="0"/>
            <a:ext cx="12192000" cy="3592708"/>
          </a:xfrm>
          <a:custGeom>
            <a:avLst/>
            <a:gdLst>
              <a:gd name="connsiteX0" fmla="*/ 0 w 12192000"/>
              <a:gd name="connsiteY0" fmla="*/ 0 h 3592708"/>
              <a:gd name="connsiteX1" fmla="*/ 12192000 w 12192000"/>
              <a:gd name="connsiteY1" fmla="*/ 0 h 3592708"/>
              <a:gd name="connsiteX2" fmla="*/ 12192000 w 12192000"/>
              <a:gd name="connsiteY2" fmla="*/ 3592708 h 3592708"/>
              <a:gd name="connsiteX3" fmla="*/ 12031162 w 12192000"/>
              <a:gd name="connsiteY3" fmla="*/ 3565503 h 3592708"/>
              <a:gd name="connsiteX4" fmla="*/ 6096001 w 12192000"/>
              <a:gd name="connsiteY4" fmla="*/ 3321959 h 3592708"/>
              <a:gd name="connsiteX5" fmla="*/ 160840 w 12192000"/>
              <a:gd name="connsiteY5" fmla="*/ 3565503 h 3592708"/>
              <a:gd name="connsiteX6" fmla="*/ 0 w 12192000"/>
              <a:gd name="connsiteY6" fmla="*/ 3592708 h 35927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3592708">
                <a:moveTo>
                  <a:pt x="0" y="0"/>
                </a:moveTo>
                <a:lnTo>
                  <a:pt x="12192000" y="0"/>
                </a:lnTo>
                <a:lnTo>
                  <a:pt x="12192000" y="3592708"/>
                </a:lnTo>
                <a:lnTo>
                  <a:pt x="12031162" y="3565503"/>
                </a:lnTo>
                <a:cubicBezTo>
                  <a:pt x="11053311" y="3422383"/>
                  <a:pt x="8764098" y="3321959"/>
                  <a:pt x="6096001" y="3321959"/>
                </a:cubicBezTo>
                <a:cubicBezTo>
                  <a:pt x="3427905" y="3321959"/>
                  <a:pt x="1138691" y="3422383"/>
                  <a:pt x="160840" y="3565503"/>
                </a:cubicBezTo>
                <a:lnTo>
                  <a:pt x="0" y="3592708"/>
                </a:lnTo>
                <a:close/>
              </a:path>
            </a:pathLst>
          </a:custGeom>
        </p:spPr>
      </p:pic>
      <p:sp>
        <p:nvSpPr>
          <p:cNvPr id="20" name="Freeform 7">
            <a:extLst>
              <a:ext uri="{FF2B5EF4-FFF2-40B4-BE49-F238E27FC236}">
                <a16:creationId xmlns:a16="http://schemas.microsoft.com/office/drawing/2014/main" id="{11633DE3-36F3-4670-AEDC-D5D1429B7979}"/>
              </a:ext>
            </a:extLst>
          </p:cNvPr>
          <p:cNvSpPr/>
          <p:nvPr/>
        </p:nvSpPr>
        <p:spPr>
          <a:xfrm>
            <a:off x="0" y="0"/>
            <a:ext cx="12192000" cy="3592708"/>
          </a:xfrm>
          <a:custGeom>
            <a:avLst/>
            <a:gdLst>
              <a:gd name="connsiteX0" fmla="*/ 0 w 12192000"/>
              <a:gd name="connsiteY0" fmla="*/ 0 h 3309594"/>
              <a:gd name="connsiteX1" fmla="*/ 12192000 w 12192000"/>
              <a:gd name="connsiteY1" fmla="*/ 0 h 3309594"/>
              <a:gd name="connsiteX2" fmla="*/ 12192000 w 12192000"/>
              <a:gd name="connsiteY2" fmla="*/ 3309594 h 3309594"/>
              <a:gd name="connsiteX3" fmla="*/ 12031162 w 12192000"/>
              <a:gd name="connsiteY3" fmla="*/ 3284533 h 3309594"/>
              <a:gd name="connsiteX4" fmla="*/ 6096001 w 12192000"/>
              <a:gd name="connsiteY4" fmla="*/ 3060181 h 3309594"/>
              <a:gd name="connsiteX5" fmla="*/ 160840 w 12192000"/>
              <a:gd name="connsiteY5" fmla="*/ 3284533 h 3309594"/>
              <a:gd name="connsiteX6" fmla="*/ 0 w 12192000"/>
              <a:gd name="connsiteY6" fmla="*/ 3309594 h 3309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3309594">
                <a:moveTo>
                  <a:pt x="0" y="0"/>
                </a:moveTo>
                <a:lnTo>
                  <a:pt x="12192000" y="0"/>
                </a:lnTo>
                <a:lnTo>
                  <a:pt x="12192000" y="3309594"/>
                </a:lnTo>
                <a:lnTo>
                  <a:pt x="12031162" y="3284533"/>
                </a:lnTo>
                <a:cubicBezTo>
                  <a:pt x="11053311" y="3152691"/>
                  <a:pt x="8764098" y="3060181"/>
                  <a:pt x="6096001" y="3060181"/>
                </a:cubicBezTo>
                <a:cubicBezTo>
                  <a:pt x="3427905" y="3060181"/>
                  <a:pt x="1138691" y="3152691"/>
                  <a:pt x="160840" y="3284533"/>
                </a:cubicBezTo>
                <a:lnTo>
                  <a:pt x="0" y="3309594"/>
                </a:lnTo>
                <a:close/>
              </a:path>
            </a:pathLst>
          </a:custGeom>
          <a:solidFill>
            <a:srgbClr val="1F1C3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1" name="Freeform: Shape 20">
            <a:extLst>
              <a:ext uri="{FF2B5EF4-FFF2-40B4-BE49-F238E27FC236}">
                <a16:creationId xmlns:a16="http://schemas.microsoft.com/office/drawing/2014/main" id="{C773E972-0CD9-471D-B81F-042C0654673E}"/>
              </a:ext>
            </a:extLst>
          </p:cNvPr>
          <p:cNvSpPr/>
          <p:nvPr/>
        </p:nvSpPr>
        <p:spPr>
          <a:xfrm rot="16200000">
            <a:off x="5458443" y="-2851618"/>
            <a:ext cx="1275114" cy="12192000"/>
          </a:xfrm>
          <a:custGeom>
            <a:avLst/>
            <a:gdLst>
              <a:gd name="connsiteX0" fmla="*/ 734672 w 734672"/>
              <a:gd name="connsiteY0" fmla="*/ 6096001 h 12192000"/>
              <a:gd name="connsiteX1" fmla="*/ 510320 w 734672"/>
              <a:gd name="connsiteY1" fmla="*/ 12031162 h 12192000"/>
              <a:gd name="connsiteX2" fmla="*/ 485259 w 734672"/>
              <a:gd name="connsiteY2" fmla="*/ 12192000 h 12192000"/>
              <a:gd name="connsiteX3" fmla="*/ 0 w 734672"/>
              <a:gd name="connsiteY3" fmla="*/ 12192000 h 12192000"/>
              <a:gd name="connsiteX4" fmla="*/ 0 w 734672"/>
              <a:gd name="connsiteY4" fmla="*/ 0 h 12192000"/>
              <a:gd name="connsiteX5" fmla="*/ 485259 w 734672"/>
              <a:gd name="connsiteY5" fmla="*/ 0 h 12192000"/>
              <a:gd name="connsiteX6" fmla="*/ 510320 w 734672"/>
              <a:gd name="connsiteY6" fmla="*/ 160840 h 12192000"/>
              <a:gd name="connsiteX7" fmla="*/ 734672 w 734672"/>
              <a:gd name="connsiteY7" fmla="*/ 6096001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34672" h="12192000">
                <a:moveTo>
                  <a:pt x="734672" y="6096001"/>
                </a:moveTo>
                <a:cubicBezTo>
                  <a:pt x="734672" y="8764097"/>
                  <a:pt x="642162" y="11053311"/>
                  <a:pt x="510320" y="12031162"/>
                </a:cubicBezTo>
                <a:lnTo>
                  <a:pt x="485259" y="12192000"/>
                </a:lnTo>
                <a:lnTo>
                  <a:pt x="0" y="12192000"/>
                </a:lnTo>
                <a:lnTo>
                  <a:pt x="0" y="0"/>
                </a:lnTo>
                <a:lnTo>
                  <a:pt x="485259" y="0"/>
                </a:lnTo>
                <a:lnTo>
                  <a:pt x="510320" y="160840"/>
                </a:lnTo>
                <a:cubicBezTo>
                  <a:pt x="642162" y="1138691"/>
                  <a:pt x="734672" y="3427905"/>
                  <a:pt x="734672" y="6096001"/>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2" name="Rectangle 21">
            <a:extLst>
              <a:ext uri="{FF2B5EF4-FFF2-40B4-BE49-F238E27FC236}">
                <a16:creationId xmlns:a16="http://schemas.microsoft.com/office/drawing/2014/main" id="{240064B6-3696-438E-87B0-A13914A9AD16}"/>
              </a:ext>
            </a:extLst>
          </p:cNvPr>
          <p:cNvSpPr/>
          <p:nvPr/>
        </p:nvSpPr>
        <p:spPr>
          <a:xfrm>
            <a:off x="-214511" y="3437592"/>
            <a:ext cx="12406511" cy="3057247"/>
          </a:xfrm>
          <a:prstGeom prst="rect">
            <a:avLst/>
          </a:prstGeom>
        </p:spPr>
        <p:txBody>
          <a:bodyPr wrap="square">
            <a:spAutoFit/>
          </a:bodyPr>
          <a:lstStyle/>
          <a:p>
            <a:pPr marL="342900" indent="-342900" algn="r" rtl="1">
              <a:spcAft>
                <a:spcPts val="2000"/>
              </a:spcAft>
              <a:buFont typeface="Arial" panose="020B0604020202020204" pitchFamily="34" charset="0"/>
              <a:buChar char="•"/>
            </a:pPr>
            <a:r>
              <a:rPr lang="he-IL" sz="2100" b="1" spc="-5" dirty="0">
                <a:latin typeface="Calibri" panose="020F0502020204030204" pitchFamily="34" charset="0"/>
                <a:cs typeface="Calibri" panose="020F0502020204030204" pitchFamily="34" charset="0"/>
              </a:rPr>
              <a:t>התאמה אישית של שירותים להזדקנות מיטבית דרך: </a:t>
            </a:r>
          </a:p>
          <a:p>
            <a:pPr marL="342900" indent="-342900" algn="r" rtl="1">
              <a:spcAft>
                <a:spcPts val="2000"/>
              </a:spcAft>
              <a:buFont typeface="Arial" panose="020B0604020202020204" pitchFamily="34" charset="0"/>
              <a:buChar char="•"/>
            </a:pPr>
            <a:r>
              <a:rPr lang="he-IL" sz="2100" b="1" spc="-5" dirty="0">
                <a:latin typeface="Calibri" panose="020F0502020204030204" pitchFamily="34" charset="0"/>
                <a:cs typeface="Calibri" panose="020F0502020204030204" pitchFamily="34" charset="0"/>
              </a:rPr>
              <a:t>בניית תכנית אישית מבוססת נתונים </a:t>
            </a:r>
            <a:r>
              <a:rPr lang="he-IL" sz="2100" spc="-5" dirty="0">
                <a:latin typeface="Calibri" panose="020F0502020204030204" pitchFamily="34" charset="0"/>
                <a:cs typeface="Calibri" panose="020F0502020204030204" pitchFamily="34" charset="0"/>
              </a:rPr>
              <a:t>ומקדמת זקנה פעילה ומניעת התדרדרות </a:t>
            </a:r>
          </a:p>
          <a:p>
            <a:pPr marL="342900" indent="-342900" algn="r" rtl="1">
              <a:spcAft>
                <a:spcPts val="2000"/>
              </a:spcAft>
              <a:buFont typeface="Arial" panose="020B0604020202020204" pitchFamily="34" charset="0"/>
              <a:buChar char="•"/>
            </a:pPr>
            <a:r>
              <a:rPr lang="he-IL" sz="2100" b="1" spc="-5" dirty="0">
                <a:latin typeface="Calibri" panose="020F0502020204030204" pitchFamily="34" charset="0"/>
                <a:cs typeface="Calibri" panose="020F0502020204030204" pitchFamily="34" charset="0"/>
              </a:rPr>
              <a:t>התאמה אישית </a:t>
            </a:r>
            <a:r>
              <a:rPr lang="he-IL" sz="2100" spc="-5" dirty="0">
                <a:latin typeface="Calibri" panose="020F0502020204030204" pitchFamily="34" charset="0"/>
                <a:cs typeface="Calibri" panose="020F0502020204030204" pitchFamily="34" charset="0"/>
              </a:rPr>
              <a:t>– קבלת החלטה על בחירת שירות בהתבסס על נתונים- חוויות אישיות של משתמשים (</a:t>
            </a:r>
            <a:r>
              <a:rPr lang="en-US" sz="2100" spc="-5" dirty="0">
                <a:latin typeface="Calibri" panose="020F0502020204030204" pitchFamily="34" charset="0"/>
                <a:cs typeface="Calibri" panose="020F0502020204030204" pitchFamily="34" charset="0"/>
              </a:rPr>
              <a:t>Lived experiences</a:t>
            </a:r>
            <a:r>
              <a:rPr lang="he-IL" sz="2100" spc="-5" dirty="0">
                <a:latin typeface="Calibri" panose="020F0502020204030204" pitchFamily="34" charset="0"/>
                <a:cs typeface="Calibri" panose="020F0502020204030204" pitchFamily="34" charset="0"/>
              </a:rPr>
              <a:t>) בשילוב עם שירות התאמה וייעוץ מקצועי.</a:t>
            </a:r>
          </a:p>
          <a:p>
            <a:pPr marL="342900" indent="-342900" algn="r" rtl="1">
              <a:spcAft>
                <a:spcPts val="2000"/>
              </a:spcAft>
              <a:buFont typeface="Arial" panose="020B0604020202020204" pitchFamily="34" charset="0"/>
              <a:buChar char="•"/>
            </a:pPr>
            <a:r>
              <a:rPr lang="he-IL" sz="2100" b="1" spc="-5" dirty="0">
                <a:latin typeface="Calibri" panose="020F0502020204030204" pitchFamily="34" charset="0"/>
                <a:cs typeface="Calibri" panose="020F0502020204030204" pitchFamily="34" charset="0"/>
              </a:rPr>
              <a:t>פתיחת השוק </a:t>
            </a:r>
            <a:r>
              <a:rPr lang="he-IL" sz="2100" spc="-5" dirty="0">
                <a:latin typeface="Calibri" panose="020F0502020204030204" pitchFamily="34" charset="0"/>
                <a:cs typeface="Calibri" panose="020F0502020204030204" pitchFamily="34" charset="0"/>
              </a:rPr>
              <a:t>– היצע רחב היקף של שירותים אשר עוצבו ייחודית עבור אזרחים ותיקים לצד שירותים מהשוק הפתוח</a:t>
            </a:r>
          </a:p>
          <a:p>
            <a:pPr marL="342900" indent="-342900" algn="r" rtl="1">
              <a:spcAft>
                <a:spcPts val="2000"/>
              </a:spcAft>
              <a:buFont typeface="Arial" panose="020B0604020202020204" pitchFamily="34" charset="0"/>
              <a:buChar char="•"/>
            </a:pPr>
            <a:r>
              <a:rPr lang="he-IL" sz="2100" b="1" spc="-5" dirty="0">
                <a:latin typeface="Calibri" panose="020F0502020204030204" pitchFamily="34" charset="0"/>
                <a:cs typeface="Calibri" panose="020F0502020204030204" pitchFamily="34" charset="0"/>
              </a:rPr>
              <a:t>דיגיטציה</a:t>
            </a:r>
            <a:r>
              <a:rPr lang="he-IL" sz="2100" spc="-5" dirty="0">
                <a:latin typeface="Calibri" panose="020F0502020204030204" pitchFamily="34" charset="0"/>
                <a:cs typeface="Calibri" panose="020F0502020204030204" pitchFamily="34" charset="0"/>
              </a:rPr>
              <a:t> – שירות דיגיטלי ואנושי משולב לייעול תהליך ההתאמה והרכש. מאפשר שילוב של מנגנוני סבסוד ותקצוב אישי.  </a:t>
            </a:r>
            <a:endParaRPr lang="en-US" sz="2100" spc="-5" dirty="0">
              <a:latin typeface="Calibri" panose="020F0502020204030204" pitchFamily="34" charset="0"/>
              <a:cs typeface="Calibri" panose="020F0502020204030204" pitchFamily="34" charset="0"/>
            </a:endParaRPr>
          </a:p>
        </p:txBody>
      </p:sp>
      <p:grpSp>
        <p:nvGrpSpPr>
          <p:cNvPr id="28" name="Group 27">
            <a:extLst>
              <a:ext uri="{FF2B5EF4-FFF2-40B4-BE49-F238E27FC236}">
                <a16:creationId xmlns:a16="http://schemas.microsoft.com/office/drawing/2014/main" id="{6C2890C3-212A-4CD1-BAC7-14F9D19EEFC9}"/>
              </a:ext>
            </a:extLst>
          </p:cNvPr>
          <p:cNvGrpSpPr/>
          <p:nvPr/>
        </p:nvGrpSpPr>
        <p:grpSpPr>
          <a:xfrm>
            <a:off x="276070" y="16364"/>
            <a:ext cx="1915297" cy="592268"/>
            <a:chOff x="5138351" y="260961"/>
            <a:chExt cx="1915297" cy="592268"/>
          </a:xfrm>
        </p:grpSpPr>
        <p:pic>
          <p:nvPicPr>
            <p:cNvPr id="26" name="Picture 25" descr="Text&#10;&#10;Description automatically generated with medium confidence">
              <a:extLst>
                <a:ext uri="{FF2B5EF4-FFF2-40B4-BE49-F238E27FC236}">
                  <a16:creationId xmlns:a16="http://schemas.microsoft.com/office/drawing/2014/main" id="{992C9F51-9197-4865-8ABE-60E04157FE5D}"/>
                </a:ext>
              </a:extLst>
            </p:cNvPr>
            <p:cNvPicPr>
              <a:picLocks noChangeAspect="1"/>
            </p:cNvPicPr>
            <p:nvPr/>
          </p:nvPicPr>
          <p:blipFill rotWithShape="1">
            <a:blip r:embed="rId3" cstate="hqprint">
              <a:lum bright="70000" contrast="-70000"/>
              <a:extLst>
                <a:ext uri="{BEBA8EAE-BF5A-486C-A8C5-ECC9F3942E4B}">
                  <a14:imgProps xmlns:a14="http://schemas.microsoft.com/office/drawing/2010/main">
                    <a14:imgLayer r:embed="rId4">
                      <a14:imgEffect>
                        <a14:artisticPhotocopy/>
                      </a14:imgEffect>
                    </a14:imgLayer>
                  </a14:imgProps>
                </a:ext>
                <a:ext uri="{28A0092B-C50C-407E-A947-70E740481C1C}">
                  <a14:useLocalDpi xmlns:a14="http://schemas.microsoft.com/office/drawing/2010/main" val="0"/>
                </a:ext>
              </a:extLst>
            </a:blip>
            <a:srcRect l="28312"/>
            <a:stretch/>
          </p:blipFill>
          <p:spPr>
            <a:xfrm>
              <a:off x="5680616" y="260961"/>
              <a:ext cx="1373032" cy="592268"/>
            </a:xfrm>
            <a:prstGeom prst="rect">
              <a:avLst/>
            </a:prstGeom>
          </p:spPr>
        </p:pic>
        <p:pic>
          <p:nvPicPr>
            <p:cNvPr id="27" name="Picture 26" descr="Text&#10;&#10;Description automatically generated with medium confidence">
              <a:extLst>
                <a:ext uri="{FF2B5EF4-FFF2-40B4-BE49-F238E27FC236}">
                  <a16:creationId xmlns:a16="http://schemas.microsoft.com/office/drawing/2014/main" id="{81FC9187-2B22-454D-AD17-642689307186}"/>
                </a:ext>
              </a:extLst>
            </p:cNvPr>
            <p:cNvPicPr>
              <a:picLocks noChangeAspect="1"/>
            </p:cNvPicPr>
            <p:nvPr/>
          </p:nvPicPr>
          <p:blipFill rotWithShape="1">
            <a:blip r:embed="rId5" cstate="print">
              <a:extLst>
                <a:ext uri="{28A0092B-C50C-407E-A947-70E740481C1C}">
                  <a14:useLocalDpi xmlns:a14="http://schemas.microsoft.com/office/drawing/2010/main" val="0"/>
                </a:ext>
              </a:extLst>
            </a:blip>
            <a:srcRect r="71688"/>
            <a:stretch/>
          </p:blipFill>
          <p:spPr>
            <a:xfrm>
              <a:off x="5138351" y="260961"/>
              <a:ext cx="542265" cy="592268"/>
            </a:xfrm>
            <a:prstGeom prst="rect">
              <a:avLst/>
            </a:prstGeom>
          </p:spPr>
        </p:pic>
      </p:grpSp>
      <p:sp>
        <p:nvSpPr>
          <p:cNvPr id="29" name="Rectangle 28">
            <a:extLst>
              <a:ext uri="{FF2B5EF4-FFF2-40B4-BE49-F238E27FC236}">
                <a16:creationId xmlns:a16="http://schemas.microsoft.com/office/drawing/2014/main" id="{5DCA733B-9C47-4447-A6DC-AFEC49B53836}"/>
              </a:ext>
            </a:extLst>
          </p:cNvPr>
          <p:cNvSpPr/>
          <p:nvPr/>
        </p:nvSpPr>
        <p:spPr>
          <a:xfrm>
            <a:off x="2113538" y="-174538"/>
            <a:ext cx="7097299" cy="1754326"/>
          </a:xfrm>
          <a:prstGeom prst="rect">
            <a:avLst/>
          </a:prstGeom>
        </p:spPr>
        <p:txBody>
          <a:bodyPr wrap="square" anchor="ctr">
            <a:spAutoFit/>
          </a:bodyPr>
          <a:lstStyle/>
          <a:p>
            <a:pPr algn="ctr"/>
            <a:r>
              <a:rPr lang="he-IL" sz="5400" b="1" dirty="0">
                <a:solidFill>
                  <a:schemeClr val="bg1"/>
                </a:solidFill>
                <a:latin typeface="Calibri" panose="020F0502020204030204" pitchFamily="34" charset="0"/>
                <a:cs typeface="Calibri" panose="020F0502020204030204" pitchFamily="34" charset="0"/>
              </a:rPr>
              <a:t>סל תפקוד אישי</a:t>
            </a:r>
          </a:p>
          <a:p>
            <a:pPr algn="ctr"/>
            <a:r>
              <a:rPr lang="he-IL" sz="5400" b="1" dirty="0">
                <a:solidFill>
                  <a:schemeClr val="bg1"/>
                </a:solidFill>
                <a:latin typeface="Calibri" panose="020F0502020204030204" pitchFamily="34" charset="0"/>
                <a:cs typeface="Calibri" panose="020F0502020204030204" pitchFamily="34" charset="0"/>
              </a:rPr>
              <a:t> לאזרח הוותיק</a:t>
            </a:r>
            <a:endParaRPr lang="en-US" sz="5400" b="1" dirty="0">
              <a:solidFill>
                <a:schemeClr val="bg1"/>
              </a:solidFill>
              <a:latin typeface="Calibri" panose="020F0502020204030204" pitchFamily="34" charset="0"/>
              <a:cs typeface="Calibri" panose="020F0502020204030204" pitchFamily="34" charset="0"/>
            </a:endParaRPr>
          </a:p>
        </p:txBody>
      </p:sp>
      <p:grpSp>
        <p:nvGrpSpPr>
          <p:cNvPr id="4" name="Group 3">
            <a:extLst>
              <a:ext uri="{FF2B5EF4-FFF2-40B4-BE49-F238E27FC236}">
                <a16:creationId xmlns:a16="http://schemas.microsoft.com/office/drawing/2014/main" id="{A9B0296B-43FE-42D8-BD17-1C6AF3D7396C}"/>
              </a:ext>
            </a:extLst>
          </p:cNvPr>
          <p:cNvGrpSpPr/>
          <p:nvPr/>
        </p:nvGrpSpPr>
        <p:grpSpPr>
          <a:xfrm>
            <a:off x="5662188" y="2183163"/>
            <a:ext cx="830768" cy="830768"/>
            <a:chOff x="5680615" y="3375472"/>
            <a:chExt cx="830768" cy="830768"/>
          </a:xfrm>
        </p:grpSpPr>
        <p:sp>
          <p:nvSpPr>
            <p:cNvPr id="24" name="Oval 23">
              <a:extLst>
                <a:ext uri="{FF2B5EF4-FFF2-40B4-BE49-F238E27FC236}">
                  <a16:creationId xmlns:a16="http://schemas.microsoft.com/office/drawing/2014/main" id="{110C3C57-F28A-446E-BBC5-EEAAA1A3CE78}"/>
                </a:ext>
              </a:extLst>
            </p:cNvPr>
            <p:cNvSpPr/>
            <p:nvPr/>
          </p:nvSpPr>
          <p:spPr>
            <a:xfrm>
              <a:off x="5680615" y="3375472"/>
              <a:ext cx="830768" cy="830768"/>
            </a:xfrm>
            <a:prstGeom prst="ellipse">
              <a:avLst/>
            </a:prstGeom>
            <a:solidFill>
              <a:srgbClr val="5EC5C5"/>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 name="Picture 2"/>
            <p:cNvPicPr>
              <a:picLocks noChangeAspect="1"/>
            </p:cNvPicPr>
            <p:nvPr/>
          </p:nvPicPr>
          <p:blipFill>
            <a:blip r:embed="rId6" cstate="hqprint">
              <a:lum bright="70000" contrast="-70000"/>
              <a:extLst>
                <a:ext uri="{28A0092B-C50C-407E-A947-70E740481C1C}">
                  <a14:useLocalDpi xmlns:a14="http://schemas.microsoft.com/office/drawing/2010/main" val="0"/>
                </a:ext>
              </a:extLst>
            </a:blip>
            <a:stretch>
              <a:fillRect/>
            </a:stretch>
          </p:blipFill>
          <p:spPr>
            <a:xfrm>
              <a:off x="5865876" y="3530172"/>
              <a:ext cx="457200" cy="457200"/>
            </a:xfrm>
            <a:prstGeom prst="rect">
              <a:avLst/>
            </a:prstGeom>
          </p:spPr>
        </p:pic>
      </p:grpSp>
    </p:spTree>
    <p:extLst>
      <p:ext uri="{BB962C8B-B14F-4D97-AF65-F5344CB8AC3E}">
        <p14:creationId xmlns:p14="http://schemas.microsoft.com/office/powerpoint/2010/main" val="263010258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9" name="Oval 48">
            <a:extLst>
              <a:ext uri="{FF2B5EF4-FFF2-40B4-BE49-F238E27FC236}">
                <a16:creationId xmlns:a16="http://schemas.microsoft.com/office/drawing/2014/main" id="{4DF9634B-67A4-49F0-9969-8E79441EAEEF}"/>
              </a:ext>
            </a:extLst>
          </p:cNvPr>
          <p:cNvSpPr/>
          <p:nvPr/>
        </p:nvSpPr>
        <p:spPr>
          <a:xfrm>
            <a:off x="749334" y="1585046"/>
            <a:ext cx="4922776" cy="4860395"/>
          </a:xfrm>
          <a:prstGeom prst="ellipse">
            <a:avLst/>
          </a:prstGeom>
          <a:solidFill>
            <a:srgbClr val="5EC5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6" name="Picture 25"/>
          <p:cNvPicPr>
            <a:picLocks noChangeAspect="1"/>
          </p:cNvPicPr>
          <p:nvPr/>
        </p:nvPicPr>
        <p:blipFill>
          <a:blip r:embed="rId2">
            <a:extLst>
              <a:ext uri="{28A0092B-C50C-407E-A947-70E740481C1C}">
                <a14:useLocalDpi xmlns:a14="http://schemas.microsoft.com/office/drawing/2010/main" val="0"/>
              </a:ext>
            </a:extLst>
          </a:blip>
          <a:srcRect l="17108" r="17108"/>
          <a:stretch>
            <a:fillRect/>
          </a:stretch>
        </p:blipFill>
        <p:spPr>
          <a:xfrm>
            <a:off x="779266" y="1336973"/>
            <a:ext cx="5001768" cy="5001768"/>
          </a:xfrm>
          <a:custGeom>
            <a:avLst/>
            <a:gdLst>
              <a:gd name="connsiteX0" fmla="*/ 2500884 w 5001768"/>
              <a:gd name="connsiteY0" fmla="*/ 0 h 5001768"/>
              <a:gd name="connsiteX1" fmla="*/ 5001768 w 5001768"/>
              <a:gd name="connsiteY1" fmla="*/ 2500884 h 5001768"/>
              <a:gd name="connsiteX2" fmla="*/ 2500884 w 5001768"/>
              <a:gd name="connsiteY2" fmla="*/ 5001768 h 5001768"/>
              <a:gd name="connsiteX3" fmla="*/ 0 w 5001768"/>
              <a:gd name="connsiteY3" fmla="*/ 2500884 h 5001768"/>
              <a:gd name="connsiteX4" fmla="*/ 2500884 w 5001768"/>
              <a:gd name="connsiteY4" fmla="*/ 0 h 50017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01768" h="5001768">
                <a:moveTo>
                  <a:pt x="2500884" y="0"/>
                </a:moveTo>
                <a:cubicBezTo>
                  <a:pt x="3882084" y="0"/>
                  <a:pt x="5001768" y="1119684"/>
                  <a:pt x="5001768" y="2500884"/>
                </a:cubicBezTo>
                <a:cubicBezTo>
                  <a:pt x="5001768" y="3882084"/>
                  <a:pt x="3882084" y="5001768"/>
                  <a:pt x="2500884" y="5001768"/>
                </a:cubicBezTo>
                <a:cubicBezTo>
                  <a:pt x="1119684" y="5001768"/>
                  <a:pt x="0" y="3882084"/>
                  <a:pt x="0" y="2500884"/>
                </a:cubicBezTo>
                <a:cubicBezTo>
                  <a:pt x="0" y="1119684"/>
                  <a:pt x="1119684" y="0"/>
                  <a:pt x="2500884" y="0"/>
                </a:cubicBezTo>
                <a:close/>
              </a:path>
            </a:pathLst>
          </a:custGeom>
        </p:spPr>
      </p:pic>
      <p:sp>
        <p:nvSpPr>
          <p:cNvPr id="43" name="Freeform 42"/>
          <p:cNvSpPr/>
          <p:nvPr/>
        </p:nvSpPr>
        <p:spPr>
          <a:xfrm>
            <a:off x="779266" y="1336973"/>
            <a:ext cx="5001768" cy="5001768"/>
          </a:xfrm>
          <a:custGeom>
            <a:avLst/>
            <a:gdLst>
              <a:gd name="connsiteX0" fmla="*/ 2500884 w 5001768"/>
              <a:gd name="connsiteY0" fmla="*/ 0 h 5001768"/>
              <a:gd name="connsiteX1" fmla="*/ 5001768 w 5001768"/>
              <a:gd name="connsiteY1" fmla="*/ 2500884 h 5001768"/>
              <a:gd name="connsiteX2" fmla="*/ 2500884 w 5001768"/>
              <a:gd name="connsiteY2" fmla="*/ 5001768 h 5001768"/>
              <a:gd name="connsiteX3" fmla="*/ 0 w 5001768"/>
              <a:gd name="connsiteY3" fmla="*/ 2500884 h 5001768"/>
              <a:gd name="connsiteX4" fmla="*/ 2500884 w 5001768"/>
              <a:gd name="connsiteY4" fmla="*/ 0 h 50017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01768" h="5001768">
                <a:moveTo>
                  <a:pt x="2500884" y="0"/>
                </a:moveTo>
                <a:cubicBezTo>
                  <a:pt x="3882084" y="0"/>
                  <a:pt x="5001768" y="1119684"/>
                  <a:pt x="5001768" y="2500884"/>
                </a:cubicBezTo>
                <a:cubicBezTo>
                  <a:pt x="5001768" y="3882084"/>
                  <a:pt x="3882084" y="5001768"/>
                  <a:pt x="2500884" y="5001768"/>
                </a:cubicBezTo>
                <a:cubicBezTo>
                  <a:pt x="1119684" y="5001768"/>
                  <a:pt x="0" y="3882084"/>
                  <a:pt x="0" y="2500884"/>
                </a:cubicBezTo>
                <a:cubicBezTo>
                  <a:pt x="0" y="1119684"/>
                  <a:pt x="1119684" y="0"/>
                  <a:pt x="2500884" y="0"/>
                </a:cubicBezTo>
                <a:close/>
              </a:path>
            </a:pathLst>
          </a:custGeom>
          <a:solidFill>
            <a:schemeClr val="tx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 Placeholder 7">
            <a:extLst>
              <a:ext uri="{FF2B5EF4-FFF2-40B4-BE49-F238E27FC236}">
                <a16:creationId xmlns:a16="http://schemas.microsoft.com/office/drawing/2014/main" id="{DC656E02-33BB-4D0D-BBF8-30DECEE31148}"/>
              </a:ext>
            </a:extLst>
          </p:cNvPr>
          <p:cNvSpPr>
            <a:spLocks noGrp="1"/>
          </p:cNvSpPr>
          <p:nvPr>
            <p:ph type="body" sz="quarter" idx="10"/>
          </p:nvPr>
        </p:nvSpPr>
        <p:spPr/>
        <p:txBody>
          <a:bodyPr/>
          <a:lstStyle/>
          <a:p>
            <a:pPr algn="ctr"/>
            <a:r>
              <a:rPr lang="he-IL" dirty="0">
                <a:latin typeface="Calibri" panose="020F0502020204030204" pitchFamily="34" charset="0"/>
                <a:cs typeface="Calibri" panose="020F0502020204030204" pitchFamily="34" charset="0"/>
              </a:rPr>
              <a:t>אטוייזור על קצה המזלג</a:t>
            </a:r>
            <a:endParaRPr lang="en-US" dirty="0">
              <a:latin typeface="Calibri" panose="020F0502020204030204" pitchFamily="34" charset="0"/>
              <a:cs typeface="Calibri" panose="020F0502020204030204" pitchFamily="34" charset="0"/>
            </a:endParaRPr>
          </a:p>
        </p:txBody>
      </p:sp>
      <p:sp>
        <p:nvSpPr>
          <p:cNvPr id="30" name="Rectangle 29">
            <a:extLst>
              <a:ext uri="{FF2B5EF4-FFF2-40B4-BE49-F238E27FC236}">
                <a16:creationId xmlns:a16="http://schemas.microsoft.com/office/drawing/2014/main" id="{25D715D4-8FF3-45BB-AB14-A03823BBCEF0}"/>
              </a:ext>
            </a:extLst>
          </p:cNvPr>
          <p:cNvSpPr/>
          <p:nvPr/>
        </p:nvSpPr>
        <p:spPr>
          <a:xfrm>
            <a:off x="6900322" y="777569"/>
            <a:ext cx="4951342" cy="5302862"/>
          </a:xfrm>
          <a:prstGeom prst="rect">
            <a:avLst/>
          </a:prstGeom>
        </p:spPr>
        <p:txBody>
          <a:bodyPr wrap="square">
            <a:spAutoFit/>
          </a:bodyPr>
          <a:lstStyle/>
          <a:p>
            <a:pPr algn="r" rtl="1">
              <a:lnSpc>
                <a:spcPct val="150000"/>
              </a:lnSpc>
              <a:spcAft>
                <a:spcPts val="1800"/>
              </a:spcAft>
              <a:buClr>
                <a:srgbClr val="012470"/>
              </a:buClr>
            </a:pPr>
            <a:endParaRPr lang="he-IL" sz="2200" dirty="0">
              <a:latin typeface="Calibri" panose="020F0502020204030204" pitchFamily="34" charset="0"/>
              <a:cs typeface="Calibri" panose="020F0502020204030204" pitchFamily="34" charset="0"/>
            </a:endParaRPr>
          </a:p>
          <a:p>
            <a:pPr marL="342900" indent="-342900" algn="r" rtl="1">
              <a:lnSpc>
                <a:spcPct val="150000"/>
              </a:lnSpc>
              <a:spcAft>
                <a:spcPts val="1800"/>
              </a:spcAft>
              <a:buClr>
                <a:srgbClr val="012470"/>
              </a:buClr>
              <a:buFont typeface="Arial" panose="020B0604020202020204" pitchFamily="34" charset="0"/>
              <a:buChar char="•"/>
            </a:pPr>
            <a:r>
              <a:rPr lang="he-IL" sz="2200" dirty="0">
                <a:latin typeface="Calibri" panose="020F0502020204030204" pitchFamily="34" charset="0"/>
                <a:cs typeface="Calibri" panose="020F0502020204030204" pitchFamily="34" charset="0"/>
              </a:rPr>
              <a:t>הטכנולוגיה של אטוייזור מאפשרת חיבור בין האדם – צרכיו, העדפותיו ויעדיו האישיים לבין טכנולוגיות ושירותים המתאימים לו.</a:t>
            </a:r>
          </a:p>
          <a:p>
            <a:pPr marL="342900" indent="-342900" algn="r" rtl="1">
              <a:lnSpc>
                <a:spcPct val="150000"/>
              </a:lnSpc>
              <a:spcAft>
                <a:spcPts val="1800"/>
              </a:spcAft>
              <a:buClr>
                <a:srgbClr val="012470"/>
              </a:buClr>
              <a:buFont typeface="Arial" panose="020B0604020202020204" pitchFamily="34" charset="0"/>
              <a:buChar char="•"/>
            </a:pPr>
            <a:r>
              <a:rPr lang="he-IL" sz="2200" dirty="0">
                <a:latin typeface="Calibri" panose="020F0502020204030204" pitchFamily="34" charset="0"/>
                <a:cs typeface="Calibri" panose="020F0502020204030204" pitchFamily="34" charset="0"/>
              </a:rPr>
              <a:t>הפלטפורמה מבוססת </a:t>
            </a:r>
            <a:r>
              <a:rPr lang="en-US" sz="2200" dirty="0">
                <a:latin typeface="Calibri" panose="020F0502020204030204" pitchFamily="34" charset="0"/>
                <a:cs typeface="Calibri" panose="020F0502020204030204" pitchFamily="34" charset="0"/>
              </a:rPr>
              <a:t>ICF</a:t>
            </a:r>
            <a:r>
              <a:rPr lang="he-IL" sz="2200" dirty="0">
                <a:latin typeface="Calibri" panose="020F0502020204030204" pitchFamily="34" charset="0"/>
                <a:cs typeface="Calibri" panose="020F0502020204030204" pitchFamily="34" charset="0"/>
              </a:rPr>
              <a:t> ובנויה לפי עקרונות של שירות מוכוון אדם. </a:t>
            </a:r>
          </a:p>
          <a:p>
            <a:pPr marL="342900" indent="-342900" algn="r" rtl="1">
              <a:lnSpc>
                <a:spcPct val="150000"/>
              </a:lnSpc>
              <a:spcAft>
                <a:spcPts val="1800"/>
              </a:spcAft>
              <a:buClr>
                <a:srgbClr val="012470"/>
              </a:buClr>
              <a:buFont typeface="Arial" panose="020B0604020202020204" pitchFamily="34" charset="0"/>
              <a:buChar char="•"/>
            </a:pPr>
            <a:r>
              <a:rPr lang="he-IL" sz="2200" dirty="0">
                <a:latin typeface="Calibri" panose="020F0502020204030204" pitchFamily="34" charset="0"/>
                <a:cs typeface="Calibri" panose="020F0502020204030204" pitchFamily="34" charset="0"/>
              </a:rPr>
              <a:t>כוללת אפשרויות ייעוץ והתאמה, רכישה וסבסוד וכן תמיכה ושירות לקוחות אנושי, כדי לאפשר שירות מיטבי ומותאם ללקוח.</a:t>
            </a:r>
            <a:endParaRPr lang="en-US" sz="2200" dirty="0">
              <a:latin typeface="Calibri" panose="020F0502020204030204" pitchFamily="34" charset="0"/>
              <a:cs typeface="Calibri" panose="020F0502020204030204" pitchFamily="34" charset="0"/>
            </a:endParaRPr>
          </a:p>
        </p:txBody>
      </p:sp>
      <p:sp>
        <p:nvSpPr>
          <p:cNvPr id="46" name="Oval 45">
            <a:extLst>
              <a:ext uri="{FF2B5EF4-FFF2-40B4-BE49-F238E27FC236}">
                <a16:creationId xmlns:a16="http://schemas.microsoft.com/office/drawing/2014/main" id="{CC43C2CF-3BBA-4BD2-B778-7B766FE6B284}"/>
              </a:ext>
            </a:extLst>
          </p:cNvPr>
          <p:cNvSpPr/>
          <p:nvPr/>
        </p:nvSpPr>
        <p:spPr>
          <a:xfrm>
            <a:off x="1506033" y="1498111"/>
            <a:ext cx="188894" cy="188894"/>
          </a:xfrm>
          <a:prstGeom prst="ellipse">
            <a:avLst/>
          </a:prstGeom>
          <a:solidFill>
            <a:srgbClr val="E752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8" name="Group 37">
            <a:extLst>
              <a:ext uri="{FF2B5EF4-FFF2-40B4-BE49-F238E27FC236}">
                <a16:creationId xmlns:a16="http://schemas.microsoft.com/office/drawing/2014/main" id="{CB7FF5F2-EDA0-44FE-8B13-29FBF5CA90DA}"/>
              </a:ext>
            </a:extLst>
          </p:cNvPr>
          <p:cNvGrpSpPr>
            <a:grpSpLocks noChangeAspect="1"/>
          </p:cNvGrpSpPr>
          <p:nvPr/>
        </p:nvGrpSpPr>
        <p:grpSpPr>
          <a:xfrm>
            <a:off x="1286177" y="3837857"/>
            <a:ext cx="742062" cy="728464"/>
            <a:chOff x="364098" y="2811949"/>
            <a:chExt cx="731520" cy="718114"/>
          </a:xfrm>
        </p:grpSpPr>
        <p:sp>
          <p:nvSpPr>
            <p:cNvPr id="40" name="Flowchart: Connector 39">
              <a:extLst>
                <a:ext uri="{FF2B5EF4-FFF2-40B4-BE49-F238E27FC236}">
                  <a16:creationId xmlns:a16="http://schemas.microsoft.com/office/drawing/2014/main" id="{AC1556C1-DD66-4199-8A14-65941D7DB5BD}"/>
                </a:ext>
              </a:extLst>
            </p:cNvPr>
            <p:cNvSpPr/>
            <p:nvPr/>
          </p:nvSpPr>
          <p:spPr>
            <a:xfrm>
              <a:off x="364098" y="2829877"/>
              <a:ext cx="700186" cy="700186"/>
            </a:xfrm>
            <a:prstGeom prst="flowChartConnector">
              <a:avLst/>
            </a:prstGeom>
            <a:noFill/>
            <a:ln w="12700">
              <a:solidFill>
                <a:srgbClr val="1F1C30"/>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1" name="Flowchart: Connector 40">
              <a:extLst>
                <a:ext uri="{FF2B5EF4-FFF2-40B4-BE49-F238E27FC236}">
                  <a16:creationId xmlns:a16="http://schemas.microsoft.com/office/drawing/2014/main" id="{AC05A67A-B3A8-4FC7-B044-C0B8DEADEA24}"/>
                </a:ext>
              </a:extLst>
            </p:cNvPr>
            <p:cNvSpPr/>
            <p:nvPr/>
          </p:nvSpPr>
          <p:spPr>
            <a:xfrm>
              <a:off x="451083" y="2916862"/>
              <a:ext cx="526216" cy="526216"/>
            </a:xfrm>
            <a:prstGeom prst="flowChartConnector">
              <a:avLst/>
            </a:prstGeom>
            <a:solidFill>
              <a:schemeClr val="bg1"/>
            </a:solidFill>
            <a:ln>
              <a:noFill/>
            </a:ln>
            <a:effectLst>
              <a:outerShdw blurRad="63500" sx="99000" sy="99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2" name="Block Arc 41">
              <a:extLst>
                <a:ext uri="{FF2B5EF4-FFF2-40B4-BE49-F238E27FC236}">
                  <a16:creationId xmlns:a16="http://schemas.microsoft.com/office/drawing/2014/main" id="{D321044E-D368-4830-87E6-7740B9DF04D0}"/>
                </a:ext>
              </a:extLst>
            </p:cNvPr>
            <p:cNvSpPr/>
            <p:nvPr/>
          </p:nvSpPr>
          <p:spPr>
            <a:xfrm>
              <a:off x="393997" y="2811949"/>
              <a:ext cx="701621" cy="701621"/>
            </a:xfrm>
            <a:prstGeom prst="blockArc">
              <a:avLst>
                <a:gd name="adj1" fmla="val 17211657"/>
                <a:gd name="adj2" fmla="val 98077"/>
                <a:gd name="adj3" fmla="val 8163"/>
              </a:avLst>
            </a:prstGeom>
            <a:solidFill>
              <a:srgbClr val="1F1C3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pic>
        <p:nvPicPr>
          <p:cNvPr id="3" name="Picture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490439" y="4061208"/>
            <a:ext cx="301752" cy="301752"/>
          </a:xfrm>
          <a:prstGeom prst="rect">
            <a:avLst/>
          </a:prstGeom>
        </p:spPr>
      </p:pic>
      <p:sp>
        <p:nvSpPr>
          <p:cNvPr id="34" name="Flowchart: Connector 33">
            <a:extLst>
              <a:ext uri="{FF2B5EF4-FFF2-40B4-BE49-F238E27FC236}">
                <a16:creationId xmlns:a16="http://schemas.microsoft.com/office/drawing/2014/main" id="{278518FE-8D6A-4994-8D77-3FF2713F62D2}"/>
              </a:ext>
            </a:extLst>
          </p:cNvPr>
          <p:cNvSpPr/>
          <p:nvPr/>
        </p:nvSpPr>
        <p:spPr>
          <a:xfrm>
            <a:off x="1286177" y="1292364"/>
            <a:ext cx="710276" cy="710278"/>
          </a:xfrm>
          <a:prstGeom prst="flowChartConnector">
            <a:avLst/>
          </a:prstGeom>
          <a:noFill/>
          <a:ln w="12700">
            <a:solidFill>
              <a:srgbClr val="5EC5C5"/>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5" name="Flowchart: Connector 34">
            <a:extLst>
              <a:ext uri="{FF2B5EF4-FFF2-40B4-BE49-F238E27FC236}">
                <a16:creationId xmlns:a16="http://schemas.microsoft.com/office/drawing/2014/main" id="{E1EA04D8-86A4-4297-9CC8-10ECCD30AC71}"/>
              </a:ext>
            </a:extLst>
          </p:cNvPr>
          <p:cNvSpPr/>
          <p:nvPr/>
        </p:nvSpPr>
        <p:spPr>
          <a:xfrm>
            <a:off x="1374416" y="1380603"/>
            <a:ext cx="533799" cy="533800"/>
          </a:xfrm>
          <a:prstGeom prst="flowChartConnector">
            <a:avLst/>
          </a:prstGeom>
          <a:solidFill>
            <a:schemeClr val="bg1"/>
          </a:solidFill>
          <a:ln>
            <a:noFill/>
          </a:ln>
          <a:effectLst>
            <a:outerShdw blurRad="63500" sx="99000" sy="99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6" name="Block Arc 35">
            <a:extLst>
              <a:ext uri="{FF2B5EF4-FFF2-40B4-BE49-F238E27FC236}">
                <a16:creationId xmlns:a16="http://schemas.microsoft.com/office/drawing/2014/main" id="{DA7F856F-2912-4C20-B0BE-7CC7B1C01EEC}"/>
              </a:ext>
            </a:extLst>
          </p:cNvPr>
          <p:cNvSpPr/>
          <p:nvPr/>
        </p:nvSpPr>
        <p:spPr>
          <a:xfrm>
            <a:off x="1316507" y="1274178"/>
            <a:ext cx="711732" cy="711733"/>
          </a:xfrm>
          <a:prstGeom prst="blockArc">
            <a:avLst>
              <a:gd name="adj1" fmla="val 17211657"/>
              <a:gd name="adj2" fmla="val 98077"/>
              <a:gd name="adj3" fmla="val 8163"/>
            </a:avLst>
          </a:prstGeom>
          <a:solidFill>
            <a:srgbClr val="5EC5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pic>
        <p:nvPicPr>
          <p:cNvPr id="4" name="Picture 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495083" y="1481585"/>
            <a:ext cx="301752" cy="301752"/>
          </a:xfrm>
          <a:prstGeom prst="rect">
            <a:avLst/>
          </a:prstGeom>
        </p:spPr>
      </p:pic>
      <p:sp>
        <p:nvSpPr>
          <p:cNvPr id="47" name="Oval 46">
            <a:extLst>
              <a:ext uri="{FF2B5EF4-FFF2-40B4-BE49-F238E27FC236}">
                <a16:creationId xmlns:a16="http://schemas.microsoft.com/office/drawing/2014/main" id="{89BA0B02-98B4-446C-BBDD-78896E3018BA}"/>
              </a:ext>
            </a:extLst>
          </p:cNvPr>
          <p:cNvSpPr/>
          <p:nvPr/>
        </p:nvSpPr>
        <p:spPr>
          <a:xfrm>
            <a:off x="656009" y="1822725"/>
            <a:ext cx="944471" cy="944471"/>
          </a:xfrm>
          <a:prstGeom prst="ellipse">
            <a:avLst/>
          </a:prstGeom>
          <a:solidFill>
            <a:srgbClr val="5EC5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5" name="Picture 24" descr="Text&#10;&#10;Description automatically generated with medium confidence">
            <a:extLst>
              <a:ext uri="{FF2B5EF4-FFF2-40B4-BE49-F238E27FC236}">
                <a16:creationId xmlns:a16="http://schemas.microsoft.com/office/drawing/2014/main" id="{786521AC-AF58-4D0C-AC2D-55292CB60401}"/>
              </a:ext>
            </a:extLst>
          </p:cNvPr>
          <p:cNvPicPr>
            <a:picLocks noChangeAspect="1"/>
          </p:cNvPicPr>
          <p:nvPr/>
        </p:nvPicPr>
        <p:blipFill rotWithShape="1">
          <a:blip r:embed="rId5" cstate="print">
            <a:extLst>
              <a:ext uri="{28A0092B-C50C-407E-A947-70E740481C1C}">
                <a14:useLocalDpi xmlns:a14="http://schemas.microsoft.com/office/drawing/2010/main" val="0"/>
              </a:ext>
            </a:extLst>
          </a:blip>
          <a:srcRect l="4443" t="18263" r="74820" b="13638"/>
          <a:stretch/>
        </p:blipFill>
        <p:spPr>
          <a:xfrm>
            <a:off x="903133" y="2070424"/>
            <a:ext cx="450221" cy="457200"/>
          </a:xfrm>
          <a:prstGeom prst="ellipse">
            <a:avLst/>
          </a:prstGeom>
          <a:noFill/>
          <a:ln>
            <a:noFill/>
          </a:ln>
        </p:spPr>
      </p:pic>
    </p:spTree>
    <p:extLst>
      <p:ext uri="{BB962C8B-B14F-4D97-AF65-F5344CB8AC3E}">
        <p14:creationId xmlns:p14="http://schemas.microsoft.com/office/powerpoint/2010/main" val="380891111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3" name="Picture 52"/>
          <p:cNvPicPr>
            <a:picLocks noChangeAspect="1"/>
          </p:cNvPicPr>
          <p:nvPr/>
        </p:nvPicPr>
        <p:blipFill>
          <a:blip r:embed="rId3">
            <a:extLst>
              <a:ext uri="{28A0092B-C50C-407E-A947-70E740481C1C}">
                <a14:useLocalDpi xmlns:a14="http://schemas.microsoft.com/office/drawing/2010/main" val="0"/>
              </a:ext>
            </a:extLst>
          </a:blip>
          <a:srcRect l="56930" r="6916"/>
          <a:stretch>
            <a:fillRect/>
          </a:stretch>
        </p:blipFill>
        <p:spPr>
          <a:xfrm>
            <a:off x="8473987" y="0"/>
            <a:ext cx="3718013" cy="6858000"/>
          </a:xfrm>
          <a:custGeom>
            <a:avLst/>
            <a:gdLst>
              <a:gd name="connsiteX0" fmla="*/ 0 w 3718013"/>
              <a:gd name="connsiteY0" fmla="*/ 0 h 6858000"/>
              <a:gd name="connsiteX1" fmla="*/ 3718013 w 3718013"/>
              <a:gd name="connsiteY1" fmla="*/ 0 h 6858000"/>
              <a:gd name="connsiteX2" fmla="*/ 3718013 w 3718013"/>
              <a:gd name="connsiteY2" fmla="*/ 6858000 h 6858000"/>
              <a:gd name="connsiteX3" fmla="*/ 0 w 371801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3718013" h="6858000">
                <a:moveTo>
                  <a:pt x="0" y="0"/>
                </a:moveTo>
                <a:lnTo>
                  <a:pt x="3718013" y="0"/>
                </a:lnTo>
                <a:lnTo>
                  <a:pt x="3718013" y="6858000"/>
                </a:lnTo>
                <a:lnTo>
                  <a:pt x="0" y="6858000"/>
                </a:lnTo>
                <a:close/>
              </a:path>
            </a:pathLst>
          </a:custGeom>
        </p:spPr>
      </p:pic>
      <p:sp>
        <p:nvSpPr>
          <p:cNvPr id="43" name="Rectangle 42">
            <a:extLst>
              <a:ext uri="{FF2B5EF4-FFF2-40B4-BE49-F238E27FC236}">
                <a16:creationId xmlns:a16="http://schemas.microsoft.com/office/drawing/2014/main" id="{3F82CA97-14FF-4E58-B0EF-503972342F6F}"/>
              </a:ext>
            </a:extLst>
          </p:cNvPr>
          <p:cNvSpPr/>
          <p:nvPr/>
        </p:nvSpPr>
        <p:spPr>
          <a:xfrm>
            <a:off x="8473987" y="0"/>
            <a:ext cx="3718013" cy="6858000"/>
          </a:xfrm>
          <a:prstGeom prst="rect">
            <a:avLst/>
          </a:prstGeom>
          <a:gradFill flip="none" rotWithShape="1">
            <a:gsLst>
              <a:gs pos="5000">
                <a:schemeClr val="bg1"/>
              </a:gs>
              <a:gs pos="100000">
                <a:schemeClr val="bg1">
                  <a:alpha val="88000"/>
                </a:schemeClr>
              </a:gs>
              <a:gs pos="50000">
                <a:schemeClr val="bg1">
                  <a:alpha val="94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 Placeholder 7">
            <a:extLst>
              <a:ext uri="{FF2B5EF4-FFF2-40B4-BE49-F238E27FC236}">
                <a16:creationId xmlns:a16="http://schemas.microsoft.com/office/drawing/2014/main" id="{DC656E02-33BB-4D0D-BBF8-30DECEE31148}"/>
              </a:ext>
            </a:extLst>
          </p:cNvPr>
          <p:cNvSpPr>
            <a:spLocks noGrp="1"/>
          </p:cNvSpPr>
          <p:nvPr>
            <p:ph type="body" sz="quarter" idx="10"/>
          </p:nvPr>
        </p:nvSpPr>
        <p:spPr/>
        <p:txBody>
          <a:bodyPr/>
          <a:lstStyle/>
          <a:p>
            <a:pPr algn="ctr"/>
            <a:r>
              <a:rPr lang="he-IL" dirty="0">
                <a:latin typeface="Calibri" panose="020F0502020204030204" pitchFamily="34" charset="0"/>
                <a:cs typeface="Calibri" panose="020F0502020204030204" pitchFamily="34" charset="0"/>
              </a:rPr>
              <a:t>הדגמת התאמת שירותים באמצעות הפלטפורמה</a:t>
            </a:r>
            <a:endParaRPr lang="en-US" dirty="0">
              <a:latin typeface="Calibri" panose="020F0502020204030204" pitchFamily="34" charset="0"/>
              <a:cs typeface="Calibri" panose="020F0502020204030204" pitchFamily="34" charset="0"/>
            </a:endParaRPr>
          </a:p>
        </p:txBody>
      </p:sp>
      <p:sp>
        <p:nvSpPr>
          <p:cNvPr id="44" name="Rectangle 43">
            <a:extLst>
              <a:ext uri="{FF2B5EF4-FFF2-40B4-BE49-F238E27FC236}">
                <a16:creationId xmlns:a16="http://schemas.microsoft.com/office/drawing/2014/main" id="{803E1583-2BC4-4140-8DEC-BEBBEEFAB526}"/>
              </a:ext>
            </a:extLst>
          </p:cNvPr>
          <p:cNvSpPr/>
          <p:nvPr/>
        </p:nvSpPr>
        <p:spPr>
          <a:xfrm>
            <a:off x="0" y="6793992"/>
            <a:ext cx="12192000" cy="64008"/>
          </a:xfrm>
          <a:prstGeom prst="rect">
            <a:avLst/>
          </a:prstGeom>
          <a:gradFill flip="none" rotWithShape="1">
            <a:gsLst>
              <a:gs pos="0">
                <a:srgbClr val="1F1C30"/>
              </a:gs>
              <a:gs pos="100000">
                <a:srgbClr val="E75258"/>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5" name="Picture 44" descr="Text&#10;&#10;Description automatically generated with medium confidence">
            <a:extLst>
              <a:ext uri="{FF2B5EF4-FFF2-40B4-BE49-F238E27FC236}">
                <a16:creationId xmlns:a16="http://schemas.microsoft.com/office/drawing/2014/main" id="{926FDA40-8BB1-45A3-B834-FBE844FE595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884705" y="260961"/>
            <a:ext cx="1915295" cy="592268"/>
          </a:xfrm>
          <a:prstGeom prst="rect">
            <a:avLst/>
          </a:prstGeom>
        </p:spPr>
      </p:pic>
      <p:grpSp>
        <p:nvGrpSpPr>
          <p:cNvPr id="3" name="Group 2">
            <a:extLst>
              <a:ext uri="{FF2B5EF4-FFF2-40B4-BE49-F238E27FC236}">
                <a16:creationId xmlns:a16="http://schemas.microsoft.com/office/drawing/2014/main" id="{5B07773C-4B31-4231-A7C1-9910F7A17EA3}"/>
              </a:ext>
            </a:extLst>
          </p:cNvPr>
          <p:cNvGrpSpPr/>
          <p:nvPr/>
        </p:nvGrpSpPr>
        <p:grpSpPr>
          <a:xfrm>
            <a:off x="192355" y="1927365"/>
            <a:ext cx="3498891" cy="3498891"/>
            <a:chOff x="420957" y="1944465"/>
            <a:chExt cx="3498891" cy="3498891"/>
          </a:xfrm>
        </p:grpSpPr>
        <p:grpSp>
          <p:nvGrpSpPr>
            <p:cNvPr id="4" name="Group 3">
              <a:extLst>
                <a:ext uri="{FF2B5EF4-FFF2-40B4-BE49-F238E27FC236}">
                  <a16:creationId xmlns:a16="http://schemas.microsoft.com/office/drawing/2014/main" id="{730DAACB-BAD1-4321-AF25-E0DBD8D678C8}"/>
                </a:ext>
              </a:extLst>
            </p:cNvPr>
            <p:cNvGrpSpPr/>
            <p:nvPr/>
          </p:nvGrpSpPr>
          <p:grpSpPr>
            <a:xfrm>
              <a:off x="420957" y="1944465"/>
              <a:ext cx="3498891" cy="3498891"/>
              <a:chOff x="420957" y="1944465"/>
              <a:chExt cx="3498891" cy="3498891"/>
            </a:xfrm>
          </p:grpSpPr>
          <p:sp>
            <p:nvSpPr>
              <p:cNvPr id="7" name="Rounded Rectangle 2">
                <a:extLst>
                  <a:ext uri="{FF2B5EF4-FFF2-40B4-BE49-F238E27FC236}">
                    <a16:creationId xmlns:a16="http://schemas.microsoft.com/office/drawing/2014/main" id="{F4674285-406B-4E3F-84D3-1CB6AFB2D74D}"/>
                  </a:ext>
                </a:extLst>
              </p:cNvPr>
              <p:cNvSpPr/>
              <p:nvPr/>
            </p:nvSpPr>
            <p:spPr>
              <a:xfrm>
                <a:off x="2176594" y="1944465"/>
                <a:ext cx="113211" cy="3498891"/>
              </a:xfrm>
              <a:prstGeom prst="roundRect">
                <a:avLst>
                  <a:gd name="adj" fmla="val 50000"/>
                </a:avLst>
              </a:prstGeom>
              <a:solidFill>
                <a:schemeClr val="bg1"/>
              </a:solidFill>
              <a:ln w="19050">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p:nvSpPr>
              <p:cNvPr id="9" name="Arc 8">
                <a:extLst>
                  <a:ext uri="{FF2B5EF4-FFF2-40B4-BE49-F238E27FC236}">
                    <a16:creationId xmlns:a16="http://schemas.microsoft.com/office/drawing/2014/main" id="{4787E382-3CCF-486E-852A-3F5144DC7083}"/>
                  </a:ext>
                </a:extLst>
              </p:cNvPr>
              <p:cNvSpPr/>
              <p:nvPr/>
            </p:nvSpPr>
            <p:spPr>
              <a:xfrm>
                <a:off x="420957" y="1944465"/>
                <a:ext cx="3498891" cy="3498891"/>
              </a:xfrm>
              <a:prstGeom prst="arc">
                <a:avLst>
                  <a:gd name="adj1" fmla="val 16327491"/>
                  <a:gd name="adj2" fmla="val 5239750"/>
                </a:avLst>
              </a:prstGeom>
              <a:noFill/>
              <a:ln w="19050">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solidFill>
                    <a:schemeClr val="lt1"/>
                  </a:solidFill>
                </a:endParaRPr>
              </a:p>
            </p:txBody>
          </p:sp>
        </p:grpSp>
        <p:sp>
          <p:nvSpPr>
            <p:cNvPr id="5" name="Rounded Rectangle 3">
              <a:extLst>
                <a:ext uri="{FF2B5EF4-FFF2-40B4-BE49-F238E27FC236}">
                  <a16:creationId xmlns:a16="http://schemas.microsoft.com/office/drawing/2014/main" id="{FEA8F177-C5BF-4895-AC25-28555BF5FA09}"/>
                </a:ext>
              </a:extLst>
            </p:cNvPr>
            <p:cNvSpPr/>
            <p:nvPr/>
          </p:nvSpPr>
          <p:spPr>
            <a:xfrm>
              <a:off x="2237531" y="5035044"/>
              <a:ext cx="108904" cy="391045"/>
            </a:xfrm>
            <a:prstGeom prst="round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6" name="Rounded Rectangle 4">
              <a:extLst>
                <a:ext uri="{FF2B5EF4-FFF2-40B4-BE49-F238E27FC236}">
                  <a16:creationId xmlns:a16="http://schemas.microsoft.com/office/drawing/2014/main" id="{D2C54C6A-9F66-440A-9268-50BB7E0C86EA}"/>
                </a:ext>
              </a:extLst>
            </p:cNvPr>
            <p:cNvSpPr/>
            <p:nvPr/>
          </p:nvSpPr>
          <p:spPr>
            <a:xfrm>
              <a:off x="2259312" y="1963515"/>
              <a:ext cx="108904" cy="391045"/>
            </a:xfrm>
            <a:prstGeom prst="round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grpSp>
      <p:grpSp>
        <p:nvGrpSpPr>
          <p:cNvPr id="10" name="Group 9">
            <a:extLst>
              <a:ext uri="{FF2B5EF4-FFF2-40B4-BE49-F238E27FC236}">
                <a16:creationId xmlns:a16="http://schemas.microsoft.com/office/drawing/2014/main" id="{398F5A3C-96BA-499A-9FD3-31EC76AF3C6B}"/>
              </a:ext>
            </a:extLst>
          </p:cNvPr>
          <p:cNvGrpSpPr/>
          <p:nvPr/>
        </p:nvGrpSpPr>
        <p:grpSpPr>
          <a:xfrm>
            <a:off x="465706" y="2200716"/>
            <a:ext cx="2952189" cy="2952189"/>
            <a:chOff x="694308" y="2217816"/>
            <a:chExt cx="2952189" cy="2952189"/>
          </a:xfrm>
        </p:grpSpPr>
        <p:sp>
          <p:nvSpPr>
            <p:cNvPr id="11" name="Oval 10">
              <a:extLst>
                <a:ext uri="{FF2B5EF4-FFF2-40B4-BE49-F238E27FC236}">
                  <a16:creationId xmlns:a16="http://schemas.microsoft.com/office/drawing/2014/main" id="{E7468125-158C-440E-9FAB-E0BC765FC31F}"/>
                </a:ext>
              </a:extLst>
            </p:cNvPr>
            <p:cNvSpPr/>
            <p:nvPr/>
          </p:nvSpPr>
          <p:spPr>
            <a:xfrm>
              <a:off x="694308" y="2217816"/>
              <a:ext cx="2952189" cy="2952189"/>
            </a:xfrm>
            <a:prstGeom prst="ellipse">
              <a:avLst/>
            </a:prstGeom>
            <a:gradFill flip="none" rotWithShape="1">
              <a:gsLst>
                <a:gs pos="50000">
                  <a:srgbClr val="1F1C30"/>
                </a:gs>
                <a:gs pos="0">
                  <a:srgbClr val="5EC5C5"/>
                </a:gs>
                <a:gs pos="96000">
                  <a:srgbClr val="E75258"/>
                </a:gs>
              </a:gsLst>
              <a:lin ang="5400000" scaled="1"/>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2" name="Oval 11">
              <a:extLst>
                <a:ext uri="{FF2B5EF4-FFF2-40B4-BE49-F238E27FC236}">
                  <a16:creationId xmlns:a16="http://schemas.microsoft.com/office/drawing/2014/main" id="{B05C4E53-F76E-416E-A8A0-412A14B5754F}"/>
                </a:ext>
              </a:extLst>
            </p:cNvPr>
            <p:cNvSpPr/>
            <p:nvPr/>
          </p:nvSpPr>
          <p:spPr>
            <a:xfrm>
              <a:off x="912988" y="2436496"/>
              <a:ext cx="2514828" cy="2514828"/>
            </a:xfrm>
            <a:prstGeom prst="ellipse">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3" name="Oval 12">
              <a:extLst>
                <a:ext uri="{FF2B5EF4-FFF2-40B4-BE49-F238E27FC236}">
                  <a16:creationId xmlns:a16="http://schemas.microsoft.com/office/drawing/2014/main" id="{7219EC81-48A9-4DA4-A0EA-F0EB4C928EEA}"/>
                </a:ext>
              </a:extLst>
            </p:cNvPr>
            <p:cNvSpPr/>
            <p:nvPr/>
          </p:nvSpPr>
          <p:spPr>
            <a:xfrm>
              <a:off x="989527" y="2513035"/>
              <a:ext cx="2361751" cy="2361751"/>
            </a:xfrm>
            <a:prstGeom prst="ellipse">
              <a:avLst/>
            </a:prstGeom>
            <a:solidFill>
              <a:schemeClr val="bg1"/>
            </a:solidFill>
            <a:ln w="2857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grpSp>
      <p:sp>
        <p:nvSpPr>
          <p:cNvPr id="15" name="Rectangle 14">
            <a:extLst>
              <a:ext uri="{FF2B5EF4-FFF2-40B4-BE49-F238E27FC236}">
                <a16:creationId xmlns:a16="http://schemas.microsoft.com/office/drawing/2014/main" id="{52B2A234-9036-49F0-979C-0D87B9E6852A}"/>
              </a:ext>
            </a:extLst>
          </p:cNvPr>
          <p:cNvSpPr/>
          <p:nvPr/>
        </p:nvSpPr>
        <p:spPr>
          <a:xfrm>
            <a:off x="5720419" y="2882686"/>
            <a:ext cx="5637545" cy="1716111"/>
          </a:xfrm>
          <a:prstGeom prst="rect">
            <a:avLst/>
          </a:prstGeom>
        </p:spPr>
        <p:txBody>
          <a:bodyPr wrap="square">
            <a:spAutoFit/>
          </a:bodyPr>
          <a:lstStyle/>
          <a:p>
            <a:pPr algn="r" rtl="1">
              <a:lnSpc>
                <a:spcPct val="150000"/>
              </a:lnSpc>
            </a:pPr>
            <a:r>
              <a:rPr lang="he-IL" sz="2000" b="1" dirty="0">
                <a:latin typeface="Calibri" panose="020F0502020204030204" pitchFamily="34" charset="0"/>
                <a:cs typeface="Calibri" panose="020F0502020204030204" pitchFamily="34" charset="0"/>
              </a:rPr>
              <a:t>30 שירותים מופו עבור אוכלוסיות עם מוגבלויות בתחום הקוגניטיבי, פיזי, חושי, רגשי – </a:t>
            </a:r>
            <a:r>
              <a:rPr lang="he-IL" sz="1600" b="1" dirty="0">
                <a:latin typeface="Calibri" panose="020F0502020204030204" pitchFamily="34" charset="0"/>
                <a:cs typeface="Calibri" panose="020F0502020204030204" pitchFamily="34" charset="0"/>
              </a:rPr>
              <a:t>דגש על תפקוד ולא על אבחנה, על יעד אישי ולא על רשימה סגורה, על תהליך של בחירה ולא על מודל של "מרשם" וכן על שילוב בין שוק חופשי לשוק ייעודי של שירותים</a:t>
            </a:r>
            <a:endParaRPr lang="en-US" sz="2000" b="1" dirty="0">
              <a:latin typeface="Calibri" panose="020F0502020204030204" pitchFamily="34" charset="0"/>
              <a:cs typeface="Calibri" panose="020F0502020204030204" pitchFamily="34" charset="0"/>
            </a:endParaRPr>
          </a:p>
        </p:txBody>
      </p:sp>
      <p:sp>
        <p:nvSpPr>
          <p:cNvPr id="16" name="Rectangle 15">
            <a:extLst>
              <a:ext uri="{FF2B5EF4-FFF2-40B4-BE49-F238E27FC236}">
                <a16:creationId xmlns:a16="http://schemas.microsoft.com/office/drawing/2014/main" id="{B21A9CF6-EEFD-467C-A48C-BD4A8A890DD1}"/>
              </a:ext>
            </a:extLst>
          </p:cNvPr>
          <p:cNvSpPr/>
          <p:nvPr/>
        </p:nvSpPr>
        <p:spPr>
          <a:xfrm>
            <a:off x="5044250" y="1142890"/>
            <a:ext cx="4976813" cy="1623778"/>
          </a:xfrm>
          <a:prstGeom prst="rect">
            <a:avLst/>
          </a:prstGeom>
        </p:spPr>
        <p:txBody>
          <a:bodyPr wrap="square">
            <a:spAutoFit/>
          </a:bodyPr>
          <a:lstStyle/>
          <a:p>
            <a:pPr algn="r" rtl="1">
              <a:lnSpc>
                <a:spcPct val="150000"/>
              </a:lnSpc>
            </a:pPr>
            <a:r>
              <a:rPr lang="he-IL" sz="2000" b="1" dirty="0">
                <a:latin typeface="Calibri" panose="020F0502020204030204" pitchFamily="34" charset="0"/>
                <a:cs typeface="Calibri" panose="020F0502020204030204" pitchFamily="34" charset="0"/>
              </a:rPr>
              <a:t>תחום הפנאי כולל שישה תתי תחומים </a:t>
            </a:r>
            <a:r>
              <a:rPr lang="he-IL" sz="2000" dirty="0">
                <a:latin typeface="Calibri" panose="020F0502020204030204" pitchFamily="34" charset="0"/>
                <a:cs typeface="Calibri" panose="020F0502020204030204" pitchFamily="34" charset="0"/>
              </a:rPr>
              <a:t>– </a:t>
            </a:r>
          </a:p>
          <a:p>
            <a:pPr algn="r" rtl="1">
              <a:lnSpc>
                <a:spcPct val="150000"/>
              </a:lnSpc>
            </a:pPr>
            <a:r>
              <a:rPr lang="he-IL" sz="1600" dirty="0">
                <a:latin typeface="Calibri" panose="020F0502020204030204" pitchFamily="34" charset="0"/>
                <a:cs typeface="Calibri" panose="020F0502020204030204" pitchFamily="34" charset="0"/>
              </a:rPr>
              <a:t>מפגשים חברתיים, פעילות גופנית, זוגיות והיכרויות, חוגים וקורסים, פעילות בארגונים חברתיים, תרבות ואומנות – מתאים ל- </a:t>
            </a:r>
            <a:r>
              <a:rPr lang="en-US" sz="1600" dirty="0">
                <a:latin typeface="Calibri" panose="020F0502020204030204" pitchFamily="34" charset="0"/>
                <a:cs typeface="Calibri" panose="020F0502020204030204" pitchFamily="34" charset="0"/>
              </a:rPr>
              <a:t>ICF</a:t>
            </a:r>
            <a:endParaRPr lang="he-IL" sz="1600" dirty="0">
              <a:latin typeface="Calibri" panose="020F0502020204030204" pitchFamily="34" charset="0"/>
              <a:cs typeface="Calibri" panose="020F0502020204030204" pitchFamily="34" charset="0"/>
            </a:endParaRPr>
          </a:p>
          <a:p>
            <a:pPr algn="r" rtl="1">
              <a:lnSpc>
                <a:spcPct val="150000"/>
              </a:lnSpc>
            </a:pPr>
            <a:r>
              <a:rPr lang="he-IL" sz="1600" dirty="0">
                <a:latin typeface="Calibri" panose="020F0502020204030204" pitchFamily="34" charset="0"/>
                <a:cs typeface="Calibri" panose="020F0502020204030204" pitchFamily="34" charset="0"/>
              </a:rPr>
              <a:t> </a:t>
            </a:r>
            <a:endParaRPr lang="en-US" sz="1600" dirty="0">
              <a:latin typeface="Calibri" panose="020F0502020204030204" pitchFamily="34" charset="0"/>
              <a:cs typeface="Calibri" panose="020F0502020204030204" pitchFamily="34" charset="0"/>
            </a:endParaRPr>
          </a:p>
        </p:txBody>
      </p:sp>
      <p:sp>
        <p:nvSpPr>
          <p:cNvPr id="17" name="Rectangle 16">
            <a:extLst>
              <a:ext uri="{FF2B5EF4-FFF2-40B4-BE49-F238E27FC236}">
                <a16:creationId xmlns:a16="http://schemas.microsoft.com/office/drawing/2014/main" id="{40D9F155-9CBD-4516-A996-3B9C415DF2CF}"/>
              </a:ext>
            </a:extLst>
          </p:cNvPr>
          <p:cNvSpPr/>
          <p:nvPr/>
        </p:nvSpPr>
        <p:spPr>
          <a:xfrm>
            <a:off x="5260495" y="5252422"/>
            <a:ext cx="5077823" cy="967957"/>
          </a:xfrm>
          <a:prstGeom prst="rect">
            <a:avLst/>
          </a:prstGeom>
        </p:spPr>
        <p:txBody>
          <a:bodyPr wrap="square">
            <a:spAutoFit/>
          </a:bodyPr>
          <a:lstStyle/>
          <a:p>
            <a:pPr algn="r" rtl="1">
              <a:lnSpc>
                <a:spcPct val="150000"/>
              </a:lnSpc>
            </a:pPr>
            <a:r>
              <a:rPr lang="he-IL" sz="2000" b="1" dirty="0">
                <a:latin typeface="Calibri" panose="020F0502020204030204" pitchFamily="34" charset="0"/>
                <a:cs typeface="Calibri" panose="020F0502020204030204" pitchFamily="34" charset="0"/>
              </a:rPr>
              <a:t>הדגמה של תיאורי מקרה – מאפייני האדם, יעדיו והשירותים שהומלצו </a:t>
            </a:r>
            <a:r>
              <a:rPr lang="he-IL" sz="2000" dirty="0">
                <a:latin typeface="Calibri" panose="020F0502020204030204" pitchFamily="34" charset="0"/>
                <a:cs typeface="Calibri" panose="020F0502020204030204" pitchFamily="34" charset="0"/>
              </a:rPr>
              <a:t>– </a:t>
            </a:r>
            <a:r>
              <a:rPr lang="he-IL" sz="1600" dirty="0">
                <a:latin typeface="Calibri" panose="020F0502020204030204" pitchFamily="34" charset="0"/>
                <a:cs typeface="Calibri" panose="020F0502020204030204" pitchFamily="34" charset="0"/>
              </a:rPr>
              <a:t>כבסיס להמשך פיתוח</a:t>
            </a:r>
            <a:endParaRPr lang="en-US" sz="1600" dirty="0">
              <a:latin typeface="Calibri" panose="020F0502020204030204" pitchFamily="34" charset="0"/>
              <a:cs typeface="Calibri" panose="020F0502020204030204" pitchFamily="34" charset="0"/>
            </a:endParaRPr>
          </a:p>
        </p:txBody>
      </p:sp>
      <p:grpSp>
        <p:nvGrpSpPr>
          <p:cNvPr id="18" name="Group 17">
            <a:extLst>
              <a:ext uri="{FF2B5EF4-FFF2-40B4-BE49-F238E27FC236}">
                <a16:creationId xmlns:a16="http://schemas.microsoft.com/office/drawing/2014/main" id="{47A953EC-A73A-4837-8B7D-E81CF94EB5E6}"/>
              </a:ext>
            </a:extLst>
          </p:cNvPr>
          <p:cNvGrpSpPr/>
          <p:nvPr/>
        </p:nvGrpSpPr>
        <p:grpSpPr>
          <a:xfrm>
            <a:off x="2841338" y="1265802"/>
            <a:ext cx="2273669" cy="1032790"/>
            <a:chOff x="3069940" y="1282902"/>
            <a:chExt cx="2273669" cy="1032790"/>
          </a:xfrm>
        </p:grpSpPr>
        <p:sp>
          <p:nvSpPr>
            <p:cNvPr id="19" name="Oval 18">
              <a:extLst>
                <a:ext uri="{FF2B5EF4-FFF2-40B4-BE49-F238E27FC236}">
                  <a16:creationId xmlns:a16="http://schemas.microsoft.com/office/drawing/2014/main" id="{2B6B2DBA-5400-4265-B8EB-B62053DB8091}"/>
                </a:ext>
              </a:extLst>
            </p:cNvPr>
            <p:cNvSpPr/>
            <p:nvPr/>
          </p:nvSpPr>
          <p:spPr>
            <a:xfrm>
              <a:off x="3069940" y="2151681"/>
              <a:ext cx="164010" cy="164011"/>
            </a:xfrm>
            <a:prstGeom prst="ellipse">
              <a:avLst/>
            </a:prstGeom>
            <a:solidFill>
              <a:schemeClr val="bg1"/>
            </a:solidFill>
            <a:ln w="19050">
              <a:solidFill>
                <a:srgbClr val="5EC5C5"/>
              </a:solid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0" name="Oval 19">
              <a:extLst>
                <a:ext uri="{FF2B5EF4-FFF2-40B4-BE49-F238E27FC236}">
                  <a16:creationId xmlns:a16="http://schemas.microsoft.com/office/drawing/2014/main" id="{EAB04A4C-869D-4228-845D-3A27FE867D14}"/>
                </a:ext>
              </a:extLst>
            </p:cNvPr>
            <p:cNvSpPr/>
            <p:nvPr/>
          </p:nvSpPr>
          <p:spPr>
            <a:xfrm>
              <a:off x="3107771" y="2189223"/>
              <a:ext cx="87472" cy="87472"/>
            </a:xfrm>
            <a:prstGeom prst="ellipse">
              <a:avLst/>
            </a:prstGeom>
            <a:solidFill>
              <a:srgbClr val="5EC5C5"/>
            </a:solidFill>
            <a:ln w="19050">
              <a:no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cxnSp>
          <p:nvCxnSpPr>
            <p:cNvPr id="21" name="Straight Connector 20">
              <a:extLst>
                <a:ext uri="{FF2B5EF4-FFF2-40B4-BE49-F238E27FC236}">
                  <a16:creationId xmlns:a16="http://schemas.microsoft.com/office/drawing/2014/main" id="{51F5A4F5-1E2E-428F-8322-03857EF48F7F}"/>
                </a:ext>
              </a:extLst>
            </p:cNvPr>
            <p:cNvCxnSpPr>
              <a:stCxn id="19" idx="7"/>
            </p:cNvCxnSpPr>
            <p:nvPr/>
          </p:nvCxnSpPr>
          <p:spPr>
            <a:xfrm flipV="1">
              <a:off x="3209932" y="1694821"/>
              <a:ext cx="448349" cy="480879"/>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22" name="Straight Connector 21">
              <a:extLst>
                <a:ext uri="{FF2B5EF4-FFF2-40B4-BE49-F238E27FC236}">
                  <a16:creationId xmlns:a16="http://schemas.microsoft.com/office/drawing/2014/main" id="{4E98190C-5D6B-46D1-93A6-18A118B82C7E}"/>
                </a:ext>
              </a:extLst>
            </p:cNvPr>
            <p:cNvCxnSpPr/>
            <p:nvPr/>
          </p:nvCxnSpPr>
          <p:spPr>
            <a:xfrm flipV="1">
              <a:off x="3650767" y="1693196"/>
              <a:ext cx="923932" cy="0"/>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3" name="Oval 22">
              <a:extLst>
                <a:ext uri="{FF2B5EF4-FFF2-40B4-BE49-F238E27FC236}">
                  <a16:creationId xmlns:a16="http://schemas.microsoft.com/office/drawing/2014/main" id="{DCF88A06-0490-4483-9F28-6DFB9663FD37}"/>
                </a:ext>
              </a:extLst>
            </p:cNvPr>
            <p:cNvSpPr/>
            <p:nvPr/>
          </p:nvSpPr>
          <p:spPr>
            <a:xfrm>
              <a:off x="4578227" y="1282902"/>
              <a:ext cx="765382" cy="765382"/>
            </a:xfrm>
            <a:prstGeom prst="ellipse">
              <a:avLst/>
            </a:prstGeom>
            <a:solidFill>
              <a:srgbClr val="5EC5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p:nvSpPr>
            <p:cNvPr id="24" name="Oval 23">
              <a:extLst>
                <a:ext uri="{FF2B5EF4-FFF2-40B4-BE49-F238E27FC236}">
                  <a16:creationId xmlns:a16="http://schemas.microsoft.com/office/drawing/2014/main" id="{00F4524A-AF09-4B67-A9BF-778386C23D32}"/>
                </a:ext>
              </a:extLst>
            </p:cNvPr>
            <p:cNvSpPr/>
            <p:nvPr/>
          </p:nvSpPr>
          <p:spPr>
            <a:xfrm>
              <a:off x="4655274" y="1360566"/>
              <a:ext cx="617578" cy="617578"/>
            </a:xfrm>
            <a:prstGeom prst="ellipse">
              <a:avLst/>
            </a:prstGeom>
            <a:solidFill>
              <a:schemeClr val="bg1"/>
            </a:solidFill>
            <a:ln>
              <a:noFill/>
            </a:ln>
            <a:effectLst>
              <a:outerShdw blurRad="63500" algn="ctr"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grpSp>
      <p:grpSp>
        <p:nvGrpSpPr>
          <p:cNvPr id="26" name="Group 25">
            <a:extLst>
              <a:ext uri="{FF2B5EF4-FFF2-40B4-BE49-F238E27FC236}">
                <a16:creationId xmlns:a16="http://schemas.microsoft.com/office/drawing/2014/main" id="{0680636D-5D70-43C6-8E73-F8FCE864939D}"/>
              </a:ext>
            </a:extLst>
          </p:cNvPr>
          <p:cNvGrpSpPr/>
          <p:nvPr/>
        </p:nvGrpSpPr>
        <p:grpSpPr>
          <a:xfrm>
            <a:off x="2841338" y="5048007"/>
            <a:ext cx="2266155" cy="1005493"/>
            <a:chOff x="3069940" y="5065107"/>
            <a:chExt cx="2266155" cy="1005493"/>
          </a:xfrm>
        </p:grpSpPr>
        <p:sp>
          <p:nvSpPr>
            <p:cNvPr id="27" name="Oval 26">
              <a:extLst>
                <a:ext uri="{FF2B5EF4-FFF2-40B4-BE49-F238E27FC236}">
                  <a16:creationId xmlns:a16="http://schemas.microsoft.com/office/drawing/2014/main" id="{362E0763-7423-49E1-871F-443DC25B065A}"/>
                </a:ext>
              </a:extLst>
            </p:cNvPr>
            <p:cNvSpPr/>
            <p:nvPr/>
          </p:nvSpPr>
          <p:spPr>
            <a:xfrm>
              <a:off x="3069940" y="5065107"/>
              <a:ext cx="164010" cy="164011"/>
            </a:xfrm>
            <a:prstGeom prst="ellipse">
              <a:avLst/>
            </a:prstGeom>
            <a:solidFill>
              <a:schemeClr val="bg1"/>
            </a:solidFill>
            <a:ln w="19050">
              <a:solidFill>
                <a:srgbClr val="E75258"/>
              </a:solid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p:nvSpPr>
            <p:cNvPr id="28" name="Oval 27">
              <a:extLst>
                <a:ext uri="{FF2B5EF4-FFF2-40B4-BE49-F238E27FC236}">
                  <a16:creationId xmlns:a16="http://schemas.microsoft.com/office/drawing/2014/main" id="{E9245149-B1F2-4463-A52E-D9AA2EDB7D50}"/>
                </a:ext>
              </a:extLst>
            </p:cNvPr>
            <p:cNvSpPr/>
            <p:nvPr/>
          </p:nvSpPr>
          <p:spPr>
            <a:xfrm>
              <a:off x="3107771" y="5102649"/>
              <a:ext cx="87472" cy="87472"/>
            </a:xfrm>
            <a:prstGeom prst="ellipse">
              <a:avLst/>
            </a:prstGeom>
            <a:solidFill>
              <a:srgbClr val="E75258"/>
            </a:solidFill>
            <a:ln w="19050">
              <a:no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9" name="Oval 28">
              <a:extLst>
                <a:ext uri="{FF2B5EF4-FFF2-40B4-BE49-F238E27FC236}">
                  <a16:creationId xmlns:a16="http://schemas.microsoft.com/office/drawing/2014/main" id="{A2BBD3F3-022D-4156-89E3-923D898EBCB9}"/>
                </a:ext>
              </a:extLst>
            </p:cNvPr>
            <p:cNvSpPr/>
            <p:nvPr/>
          </p:nvSpPr>
          <p:spPr>
            <a:xfrm>
              <a:off x="4570713" y="5305218"/>
              <a:ext cx="765382" cy="765382"/>
            </a:xfrm>
            <a:prstGeom prst="ellipse">
              <a:avLst/>
            </a:prstGeom>
            <a:solidFill>
              <a:srgbClr val="E752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grpSp>
          <p:nvGrpSpPr>
            <p:cNvPr id="30" name="Group 29">
              <a:extLst>
                <a:ext uri="{FF2B5EF4-FFF2-40B4-BE49-F238E27FC236}">
                  <a16:creationId xmlns:a16="http://schemas.microsoft.com/office/drawing/2014/main" id="{DC146DE7-7973-425A-901D-CFD121E5B94D}"/>
                </a:ext>
              </a:extLst>
            </p:cNvPr>
            <p:cNvGrpSpPr/>
            <p:nvPr/>
          </p:nvGrpSpPr>
          <p:grpSpPr>
            <a:xfrm flipV="1">
              <a:off x="3195242" y="5209163"/>
              <a:ext cx="1368510" cy="480881"/>
              <a:chOff x="2443843" y="1927662"/>
              <a:chExt cx="1144472" cy="402153"/>
            </a:xfrm>
          </p:grpSpPr>
          <p:cxnSp>
            <p:nvCxnSpPr>
              <p:cNvPr id="33" name="Straight Connector 32">
                <a:extLst>
                  <a:ext uri="{FF2B5EF4-FFF2-40B4-BE49-F238E27FC236}">
                    <a16:creationId xmlns:a16="http://schemas.microsoft.com/office/drawing/2014/main" id="{2E9996D6-3244-418B-AB60-4AC61D562F6E}"/>
                  </a:ext>
                </a:extLst>
              </p:cNvPr>
              <p:cNvCxnSpPr/>
              <p:nvPr/>
            </p:nvCxnSpPr>
            <p:spPr>
              <a:xfrm flipV="1">
                <a:off x="2443843" y="1927662"/>
                <a:ext cx="374949" cy="402153"/>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34" name="Straight Connector 33">
                <a:extLst>
                  <a:ext uri="{FF2B5EF4-FFF2-40B4-BE49-F238E27FC236}">
                    <a16:creationId xmlns:a16="http://schemas.microsoft.com/office/drawing/2014/main" id="{958B1AA3-60BE-4CEF-B10D-FA4CA5036B5E}"/>
                  </a:ext>
                </a:extLst>
              </p:cNvPr>
              <p:cNvCxnSpPr/>
              <p:nvPr/>
            </p:nvCxnSpPr>
            <p:spPr>
              <a:xfrm flipV="1">
                <a:off x="2815642" y="1927676"/>
                <a:ext cx="772673" cy="0"/>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grpSp>
        <p:sp>
          <p:nvSpPr>
            <p:cNvPr id="31" name="Oval 30">
              <a:extLst>
                <a:ext uri="{FF2B5EF4-FFF2-40B4-BE49-F238E27FC236}">
                  <a16:creationId xmlns:a16="http://schemas.microsoft.com/office/drawing/2014/main" id="{B70BE0A4-653D-456B-B7D2-A41478FEAD1E}"/>
                </a:ext>
              </a:extLst>
            </p:cNvPr>
            <p:cNvSpPr/>
            <p:nvPr/>
          </p:nvSpPr>
          <p:spPr>
            <a:xfrm>
              <a:off x="4642966" y="5377290"/>
              <a:ext cx="617578" cy="617578"/>
            </a:xfrm>
            <a:prstGeom prst="ellipse">
              <a:avLst/>
            </a:prstGeom>
            <a:solidFill>
              <a:schemeClr val="bg1"/>
            </a:solidFill>
            <a:ln>
              <a:noFill/>
            </a:ln>
            <a:effectLst>
              <a:outerShdw blurRad="63500" algn="ctr"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grpSp>
      <p:grpSp>
        <p:nvGrpSpPr>
          <p:cNvPr id="35" name="Group 34">
            <a:extLst>
              <a:ext uri="{FF2B5EF4-FFF2-40B4-BE49-F238E27FC236}">
                <a16:creationId xmlns:a16="http://schemas.microsoft.com/office/drawing/2014/main" id="{135BB2A7-06D6-489E-95CD-C6F59CCBC95B}"/>
              </a:ext>
            </a:extLst>
          </p:cNvPr>
          <p:cNvGrpSpPr/>
          <p:nvPr/>
        </p:nvGrpSpPr>
        <p:grpSpPr>
          <a:xfrm>
            <a:off x="3608562" y="3276045"/>
            <a:ext cx="2037955" cy="765382"/>
            <a:chOff x="3837164" y="3293145"/>
            <a:chExt cx="2037955" cy="765382"/>
          </a:xfrm>
        </p:grpSpPr>
        <p:sp>
          <p:nvSpPr>
            <p:cNvPr id="36" name="Oval 35">
              <a:extLst>
                <a:ext uri="{FF2B5EF4-FFF2-40B4-BE49-F238E27FC236}">
                  <a16:creationId xmlns:a16="http://schemas.microsoft.com/office/drawing/2014/main" id="{6E0BF039-4D39-4956-9656-2B4EF1C7BEC7}"/>
                </a:ext>
              </a:extLst>
            </p:cNvPr>
            <p:cNvSpPr/>
            <p:nvPr/>
          </p:nvSpPr>
          <p:spPr>
            <a:xfrm>
              <a:off x="5109737" y="3293145"/>
              <a:ext cx="765382" cy="765382"/>
            </a:xfrm>
            <a:prstGeom prst="ellipse">
              <a:avLst/>
            </a:prstGeom>
            <a:solidFill>
              <a:srgbClr val="1F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cxnSp>
          <p:nvCxnSpPr>
            <p:cNvPr id="37" name="Straight Connector 36">
              <a:extLst>
                <a:ext uri="{FF2B5EF4-FFF2-40B4-BE49-F238E27FC236}">
                  <a16:creationId xmlns:a16="http://schemas.microsoft.com/office/drawing/2014/main" id="{8BFB5F3A-8CF7-444F-90A3-5A007508F59E}"/>
                </a:ext>
              </a:extLst>
            </p:cNvPr>
            <p:cNvCxnSpPr>
              <a:endCxn id="36" idx="2"/>
            </p:cNvCxnSpPr>
            <p:nvPr/>
          </p:nvCxnSpPr>
          <p:spPr>
            <a:xfrm>
              <a:off x="3929966" y="3675836"/>
              <a:ext cx="1179771" cy="0"/>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38" name="Oval 37">
              <a:extLst>
                <a:ext uri="{FF2B5EF4-FFF2-40B4-BE49-F238E27FC236}">
                  <a16:creationId xmlns:a16="http://schemas.microsoft.com/office/drawing/2014/main" id="{24EC3FA5-18BE-45AB-AA4C-8A8DD78972B3}"/>
                </a:ext>
              </a:extLst>
            </p:cNvPr>
            <p:cNvSpPr/>
            <p:nvPr/>
          </p:nvSpPr>
          <p:spPr>
            <a:xfrm>
              <a:off x="3837164" y="3593831"/>
              <a:ext cx="164010" cy="164011"/>
            </a:xfrm>
            <a:prstGeom prst="ellipse">
              <a:avLst/>
            </a:prstGeom>
            <a:solidFill>
              <a:schemeClr val="bg1"/>
            </a:solidFill>
            <a:ln w="19050">
              <a:solidFill>
                <a:srgbClr val="1F1C30"/>
              </a:solid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9" name="Oval 38">
              <a:extLst>
                <a:ext uri="{FF2B5EF4-FFF2-40B4-BE49-F238E27FC236}">
                  <a16:creationId xmlns:a16="http://schemas.microsoft.com/office/drawing/2014/main" id="{C08D880C-1D1A-4ECF-B4A8-63918A7D658C}"/>
                </a:ext>
              </a:extLst>
            </p:cNvPr>
            <p:cNvSpPr/>
            <p:nvPr/>
          </p:nvSpPr>
          <p:spPr>
            <a:xfrm>
              <a:off x="3875433" y="3632100"/>
              <a:ext cx="87472" cy="87472"/>
            </a:xfrm>
            <a:prstGeom prst="ellipse">
              <a:avLst/>
            </a:prstGeom>
            <a:solidFill>
              <a:srgbClr val="1F1C30"/>
            </a:solidFill>
            <a:ln w="19050">
              <a:no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40" name="Oval 39">
              <a:extLst>
                <a:ext uri="{FF2B5EF4-FFF2-40B4-BE49-F238E27FC236}">
                  <a16:creationId xmlns:a16="http://schemas.microsoft.com/office/drawing/2014/main" id="{C758CF64-7F61-4E44-8A28-D8FE49E61826}"/>
                </a:ext>
              </a:extLst>
            </p:cNvPr>
            <p:cNvSpPr/>
            <p:nvPr/>
          </p:nvSpPr>
          <p:spPr>
            <a:xfrm>
              <a:off x="5183639" y="3367047"/>
              <a:ext cx="617578" cy="617578"/>
            </a:xfrm>
            <a:prstGeom prst="ellipse">
              <a:avLst/>
            </a:prstGeom>
            <a:solidFill>
              <a:schemeClr val="bg1"/>
            </a:solidFill>
            <a:ln>
              <a:noFill/>
            </a:ln>
            <a:effectLst>
              <a:outerShdw blurRad="63500" algn="ctr"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grpSp>
      <p:pic>
        <p:nvPicPr>
          <p:cNvPr id="14" name="Picture 13"/>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558765" y="1469375"/>
            <a:ext cx="365760" cy="365760"/>
          </a:xfrm>
          <a:prstGeom prst="rect">
            <a:avLst/>
          </a:prstGeom>
        </p:spPr>
      </p:pic>
      <p:pic>
        <p:nvPicPr>
          <p:cNvPr id="47" name="Picture 46"/>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5106946" y="3507160"/>
            <a:ext cx="301752" cy="301752"/>
          </a:xfrm>
          <a:prstGeom prst="rect">
            <a:avLst/>
          </a:prstGeom>
        </p:spPr>
      </p:pic>
      <p:pic>
        <p:nvPicPr>
          <p:cNvPr id="51" name="Picture 50"/>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4540273" y="5486781"/>
            <a:ext cx="365760" cy="365760"/>
          </a:xfrm>
          <a:prstGeom prst="rect">
            <a:avLst/>
          </a:prstGeom>
        </p:spPr>
      </p:pic>
      <p:pic>
        <p:nvPicPr>
          <p:cNvPr id="56" name="Picture 55"/>
          <p:cNvPicPr>
            <a:picLocks noChangeAspect="1"/>
          </p:cNvPicPr>
          <p:nvPr/>
        </p:nvPicPr>
        <p:blipFill rotWithShape="1">
          <a:blip r:embed="rId8" cstate="print">
            <a:extLst>
              <a:ext uri="{28A0092B-C50C-407E-A947-70E740481C1C}">
                <a14:useLocalDpi xmlns:a14="http://schemas.microsoft.com/office/drawing/2010/main" val="0"/>
              </a:ext>
            </a:extLst>
          </a:blip>
          <a:srcRect l="5833" r="27293"/>
          <a:stretch/>
        </p:blipFill>
        <p:spPr>
          <a:xfrm>
            <a:off x="732780" y="2469802"/>
            <a:ext cx="2416726" cy="2414016"/>
          </a:xfrm>
          <a:prstGeom prst="ellipse">
            <a:avLst/>
          </a:prstGeom>
        </p:spPr>
      </p:pic>
      <p:sp>
        <p:nvSpPr>
          <p:cNvPr id="54" name="Freeform: Shape 47">
            <a:extLst>
              <a:ext uri="{FF2B5EF4-FFF2-40B4-BE49-F238E27FC236}">
                <a16:creationId xmlns:a16="http://schemas.microsoft.com/office/drawing/2014/main" id="{7D966CA3-E8AA-46B7-BF29-8BAE4372B264}"/>
              </a:ext>
            </a:extLst>
          </p:cNvPr>
          <p:cNvSpPr/>
          <p:nvPr/>
        </p:nvSpPr>
        <p:spPr>
          <a:xfrm>
            <a:off x="732780" y="2469802"/>
            <a:ext cx="2418040" cy="2414016"/>
          </a:xfrm>
          <a:custGeom>
            <a:avLst/>
            <a:gdLst>
              <a:gd name="connsiteX0" fmla="*/ 1209020 w 2418040"/>
              <a:gd name="connsiteY0" fmla="*/ 0 h 2414016"/>
              <a:gd name="connsiteX1" fmla="*/ 2418040 w 2418040"/>
              <a:gd name="connsiteY1" fmla="*/ 1207008 h 2414016"/>
              <a:gd name="connsiteX2" fmla="*/ 1209020 w 2418040"/>
              <a:gd name="connsiteY2" fmla="*/ 2414016 h 2414016"/>
              <a:gd name="connsiteX3" fmla="*/ 0 w 2418040"/>
              <a:gd name="connsiteY3" fmla="*/ 1207008 h 2414016"/>
              <a:gd name="connsiteX4" fmla="*/ 1209020 w 2418040"/>
              <a:gd name="connsiteY4" fmla="*/ 0 h 24140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18040" h="2414016">
                <a:moveTo>
                  <a:pt x="1209020" y="0"/>
                </a:moveTo>
                <a:cubicBezTo>
                  <a:pt x="1876743" y="0"/>
                  <a:pt x="2418040" y="540396"/>
                  <a:pt x="2418040" y="1207008"/>
                </a:cubicBezTo>
                <a:cubicBezTo>
                  <a:pt x="2418040" y="1873620"/>
                  <a:pt x="1876743" y="2414016"/>
                  <a:pt x="1209020" y="2414016"/>
                </a:cubicBezTo>
                <a:cubicBezTo>
                  <a:pt x="541297" y="2414016"/>
                  <a:pt x="0" y="1873620"/>
                  <a:pt x="0" y="1207008"/>
                </a:cubicBezTo>
                <a:cubicBezTo>
                  <a:pt x="0" y="540396"/>
                  <a:pt x="541297" y="0"/>
                  <a:pt x="1209020" y="0"/>
                </a:cubicBezTo>
                <a:close/>
              </a:path>
            </a:pathLst>
          </a:custGeom>
          <a:blipFill dpi="0" rotWithShape="1">
            <a:blip r:embed="rId9">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228785835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Freeform: Shape 20">
            <a:extLst>
              <a:ext uri="{FF2B5EF4-FFF2-40B4-BE49-F238E27FC236}">
                <a16:creationId xmlns:a16="http://schemas.microsoft.com/office/drawing/2014/main" id="{3FFCCD8C-DB21-459B-8185-53A55639E1A8}"/>
              </a:ext>
            </a:extLst>
          </p:cNvPr>
          <p:cNvSpPr/>
          <p:nvPr/>
        </p:nvSpPr>
        <p:spPr>
          <a:xfrm rot="5400000">
            <a:off x="7440367" y="2042363"/>
            <a:ext cx="6793992" cy="2709273"/>
          </a:xfrm>
          <a:custGeom>
            <a:avLst/>
            <a:gdLst>
              <a:gd name="connsiteX0" fmla="*/ 0 w 6858001"/>
              <a:gd name="connsiteY0" fmla="*/ 0 h 4612947"/>
              <a:gd name="connsiteX1" fmla="*/ 0 w 6858001"/>
              <a:gd name="connsiteY1" fmla="*/ 2811439 h 4612947"/>
              <a:gd name="connsiteX2" fmla="*/ 1 w 6858001"/>
              <a:gd name="connsiteY2" fmla="*/ 2811439 h 4612947"/>
              <a:gd name="connsiteX3" fmla="*/ 1 w 6858001"/>
              <a:gd name="connsiteY3" fmla="*/ 4612947 h 4612947"/>
              <a:gd name="connsiteX4" fmla="*/ 159081 w 6858001"/>
              <a:gd name="connsiteY4" fmla="*/ 4608941 h 4612947"/>
              <a:gd name="connsiteX5" fmla="*/ 3429001 w 6858001"/>
              <a:gd name="connsiteY5" fmla="*/ 3340428 h 4612947"/>
              <a:gd name="connsiteX6" fmla="*/ 6698921 w 6858001"/>
              <a:gd name="connsiteY6" fmla="*/ 4608941 h 4612947"/>
              <a:gd name="connsiteX7" fmla="*/ 6858001 w 6858001"/>
              <a:gd name="connsiteY7" fmla="*/ 4612947 h 4612947"/>
              <a:gd name="connsiteX8" fmla="*/ 6858001 w 6858001"/>
              <a:gd name="connsiteY8" fmla="*/ 2361068 h 4612947"/>
              <a:gd name="connsiteX9" fmla="*/ 6858001 w 6858001"/>
              <a:gd name="connsiteY9" fmla="*/ 2361068 h 4612947"/>
              <a:gd name="connsiteX10" fmla="*/ 6858001 w 6858001"/>
              <a:gd name="connsiteY10" fmla="*/ 0 h 4612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858001" h="4612947">
                <a:moveTo>
                  <a:pt x="0" y="0"/>
                </a:moveTo>
                <a:lnTo>
                  <a:pt x="0" y="2811439"/>
                </a:lnTo>
                <a:lnTo>
                  <a:pt x="1" y="2811439"/>
                </a:lnTo>
                <a:lnTo>
                  <a:pt x="1" y="4612947"/>
                </a:lnTo>
                <a:lnTo>
                  <a:pt x="159081" y="4608941"/>
                </a:lnTo>
                <a:cubicBezTo>
                  <a:pt x="1316500" y="4561231"/>
                  <a:pt x="2310774" y="3340428"/>
                  <a:pt x="3429001" y="3340428"/>
                </a:cubicBezTo>
                <a:cubicBezTo>
                  <a:pt x="4547229" y="3340428"/>
                  <a:pt x="5541503" y="4561231"/>
                  <a:pt x="6698921" y="4608941"/>
                </a:cubicBezTo>
                <a:lnTo>
                  <a:pt x="6858001" y="4612947"/>
                </a:lnTo>
                <a:lnTo>
                  <a:pt x="6858001" y="2361068"/>
                </a:lnTo>
                <a:lnTo>
                  <a:pt x="6858001" y="2361068"/>
                </a:lnTo>
                <a:lnTo>
                  <a:pt x="6858001" y="0"/>
                </a:lnTo>
                <a:close/>
              </a:path>
            </a:pathLst>
          </a:custGeom>
          <a:gradFill flip="none" rotWithShape="1">
            <a:gsLst>
              <a:gs pos="0">
                <a:srgbClr val="E75258"/>
              </a:gs>
              <a:gs pos="99000">
                <a:srgbClr val="34304F"/>
              </a:gs>
            </a:gsLst>
            <a:lin ang="10800000" scaled="1"/>
            <a:tileRect/>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dirty="0">
              <a:solidFill>
                <a:schemeClr val="lt1"/>
              </a:solidFill>
              <a:ea typeface="Calibri"/>
              <a:cs typeface="Calibri"/>
              <a:sym typeface="Calibri"/>
            </a:endParaRPr>
          </a:p>
        </p:txBody>
      </p:sp>
      <p:sp>
        <p:nvSpPr>
          <p:cNvPr id="8" name="Text Placeholder 7">
            <a:extLst>
              <a:ext uri="{FF2B5EF4-FFF2-40B4-BE49-F238E27FC236}">
                <a16:creationId xmlns:a16="http://schemas.microsoft.com/office/drawing/2014/main" id="{DC656E02-33BB-4D0D-BBF8-30DECEE31148}"/>
              </a:ext>
            </a:extLst>
          </p:cNvPr>
          <p:cNvSpPr>
            <a:spLocks noGrp="1"/>
          </p:cNvSpPr>
          <p:nvPr>
            <p:ph type="body" sz="quarter" idx="10"/>
          </p:nvPr>
        </p:nvSpPr>
        <p:spPr/>
        <p:txBody>
          <a:bodyPr/>
          <a:lstStyle/>
          <a:p>
            <a:r>
              <a:rPr lang="en-US" dirty="0"/>
              <a:t>System Flow</a:t>
            </a:r>
          </a:p>
        </p:txBody>
      </p:sp>
      <p:sp>
        <p:nvSpPr>
          <p:cNvPr id="13" name="Rectangle 12">
            <a:extLst>
              <a:ext uri="{FF2B5EF4-FFF2-40B4-BE49-F238E27FC236}">
                <a16:creationId xmlns:a16="http://schemas.microsoft.com/office/drawing/2014/main" id="{9F784FB9-7F0C-485E-A8A2-45E019135F8C}"/>
              </a:ext>
            </a:extLst>
          </p:cNvPr>
          <p:cNvSpPr/>
          <p:nvPr/>
        </p:nvSpPr>
        <p:spPr>
          <a:xfrm>
            <a:off x="8587586" y="3480115"/>
            <a:ext cx="271116" cy="5375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L"/>
          </a:p>
        </p:txBody>
      </p:sp>
      <p:pic>
        <p:nvPicPr>
          <p:cNvPr id="22" name="Picture 21">
            <a:extLst>
              <a:ext uri="{FF2B5EF4-FFF2-40B4-BE49-F238E27FC236}">
                <a16:creationId xmlns:a16="http://schemas.microsoft.com/office/drawing/2014/main" id="{F89B723F-2B42-40E5-A020-C36ED239A9B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87469" y="260961"/>
            <a:ext cx="1910648" cy="590232"/>
          </a:xfrm>
          <a:prstGeom prst="rect">
            <a:avLst/>
          </a:prstGeom>
        </p:spPr>
      </p:pic>
      <p:cxnSp>
        <p:nvCxnSpPr>
          <p:cNvPr id="18" name="Straight Connector 17"/>
          <p:cNvCxnSpPr>
            <a:stCxn id="19" idx="0"/>
            <a:endCxn id="29" idx="0"/>
          </p:cNvCxnSpPr>
          <p:nvPr/>
        </p:nvCxnSpPr>
        <p:spPr>
          <a:xfrm>
            <a:off x="518125" y="1262319"/>
            <a:ext cx="6738" cy="2096152"/>
          </a:xfrm>
          <a:prstGeom prst="line">
            <a:avLst/>
          </a:prstGeom>
          <a:ln w="381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42" name="Rectangle 41"/>
          <p:cNvSpPr/>
          <p:nvPr/>
        </p:nvSpPr>
        <p:spPr>
          <a:xfrm>
            <a:off x="1581681" y="1140201"/>
            <a:ext cx="3357009" cy="338554"/>
          </a:xfrm>
          <a:prstGeom prst="rect">
            <a:avLst/>
          </a:prstGeom>
        </p:spPr>
        <p:txBody>
          <a:bodyPr wrap="none">
            <a:spAutoFit/>
          </a:bodyPr>
          <a:lstStyle/>
          <a:p>
            <a:r>
              <a:rPr lang="he-IL" sz="1600" dirty="0">
                <a:latin typeface="Calibri" panose="020F0502020204030204" pitchFamily="34" charset="0"/>
                <a:cs typeface="Calibri" panose="020F0502020204030204" pitchFamily="34" charset="0"/>
              </a:rPr>
              <a:t>הזנת פרטים אישיים ובחירת תחום הפעילות</a:t>
            </a:r>
            <a:endParaRPr lang="en-US" sz="1600" dirty="0">
              <a:latin typeface="Calibri" panose="020F0502020204030204" pitchFamily="34" charset="0"/>
              <a:cs typeface="Calibri" panose="020F0502020204030204" pitchFamily="34" charset="0"/>
            </a:endParaRPr>
          </a:p>
        </p:txBody>
      </p:sp>
      <p:sp>
        <p:nvSpPr>
          <p:cNvPr id="43" name="Rectangle 42"/>
          <p:cNvSpPr/>
          <p:nvPr/>
        </p:nvSpPr>
        <p:spPr>
          <a:xfrm>
            <a:off x="1581681" y="1838918"/>
            <a:ext cx="2329484" cy="338554"/>
          </a:xfrm>
          <a:prstGeom prst="rect">
            <a:avLst/>
          </a:prstGeom>
        </p:spPr>
        <p:txBody>
          <a:bodyPr wrap="none">
            <a:spAutoFit/>
          </a:bodyPr>
          <a:lstStyle/>
          <a:p>
            <a:r>
              <a:rPr lang="he-IL" sz="1600" dirty="0">
                <a:latin typeface="Calibri" panose="020F0502020204030204" pitchFamily="34" charset="0"/>
                <a:cs typeface="Calibri" panose="020F0502020204030204" pitchFamily="34" charset="0"/>
              </a:rPr>
              <a:t>מענה על שאלות לדיוק הצורך</a:t>
            </a:r>
            <a:endParaRPr lang="en-US" sz="1600" dirty="0">
              <a:latin typeface="Calibri" panose="020F0502020204030204" pitchFamily="34" charset="0"/>
              <a:cs typeface="Calibri" panose="020F0502020204030204" pitchFamily="34" charset="0"/>
            </a:endParaRPr>
          </a:p>
        </p:txBody>
      </p:sp>
      <p:sp>
        <p:nvSpPr>
          <p:cNvPr id="44" name="Rectangle 43"/>
          <p:cNvSpPr/>
          <p:nvPr/>
        </p:nvSpPr>
        <p:spPr>
          <a:xfrm>
            <a:off x="1581681" y="2537636"/>
            <a:ext cx="2927404" cy="338554"/>
          </a:xfrm>
          <a:prstGeom prst="rect">
            <a:avLst/>
          </a:prstGeom>
        </p:spPr>
        <p:txBody>
          <a:bodyPr wrap="none">
            <a:spAutoFit/>
          </a:bodyPr>
          <a:lstStyle/>
          <a:p>
            <a:r>
              <a:rPr lang="he-IL" sz="1600" dirty="0">
                <a:latin typeface="Calibri" panose="020F0502020204030204" pitchFamily="34" charset="0"/>
                <a:cs typeface="Calibri" panose="020F0502020204030204" pitchFamily="34" charset="0"/>
              </a:rPr>
              <a:t>המלצות על שירותים בתחום המבוקש</a:t>
            </a:r>
            <a:endParaRPr lang="en-US" sz="1600" dirty="0">
              <a:latin typeface="Calibri" panose="020F0502020204030204" pitchFamily="34" charset="0"/>
              <a:cs typeface="Calibri" panose="020F0502020204030204" pitchFamily="34" charset="0"/>
            </a:endParaRPr>
          </a:p>
        </p:txBody>
      </p:sp>
      <p:sp>
        <p:nvSpPr>
          <p:cNvPr id="45" name="Rectangle 44"/>
          <p:cNvSpPr/>
          <p:nvPr/>
        </p:nvSpPr>
        <p:spPr>
          <a:xfrm>
            <a:off x="1581681" y="3236353"/>
            <a:ext cx="2424062" cy="338554"/>
          </a:xfrm>
          <a:prstGeom prst="rect">
            <a:avLst/>
          </a:prstGeom>
        </p:spPr>
        <p:txBody>
          <a:bodyPr wrap="none">
            <a:spAutoFit/>
          </a:bodyPr>
          <a:lstStyle/>
          <a:p>
            <a:r>
              <a:rPr lang="he-IL" sz="1600" dirty="0">
                <a:latin typeface="Calibri" panose="020F0502020204030204" pitchFamily="34" charset="0"/>
                <a:cs typeface="Calibri" panose="020F0502020204030204" pitchFamily="34" charset="0"/>
              </a:rPr>
              <a:t>רכישה, סבסוד ושירותים נלווים</a:t>
            </a:r>
            <a:endParaRPr lang="en-US" sz="1600" dirty="0">
              <a:latin typeface="Calibri" panose="020F0502020204030204" pitchFamily="34" charset="0"/>
              <a:cs typeface="Calibri" panose="020F0502020204030204" pitchFamily="34" charset="0"/>
            </a:endParaRPr>
          </a:p>
        </p:txBody>
      </p:sp>
      <p:sp>
        <p:nvSpPr>
          <p:cNvPr id="29" name="Oval 28"/>
          <p:cNvSpPr/>
          <p:nvPr/>
        </p:nvSpPr>
        <p:spPr>
          <a:xfrm>
            <a:off x="477703" y="3358471"/>
            <a:ext cx="94319" cy="94318"/>
          </a:xfrm>
          <a:prstGeom prst="ellipse">
            <a:avLst/>
          </a:prstGeom>
          <a:solidFill>
            <a:srgbClr val="5EC5C5"/>
          </a:solidFill>
          <a:ln w="28575">
            <a:solidFill>
              <a:srgbClr val="5EC5C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30" name="Straight Connector 29"/>
          <p:cNvCxnSpPr/>
          <p:nvPr/>
        </p:nvCxnSpPr>
        <p:spPr>
          <a:xfrm>
            <a:off x="572022" y="3405630"/>
            <a:ext cx="457200" cy="0"/>
          </a:xfrm>
          <a:prstGeom prst="line">
            <a:avLst/>
          </a:prstGeom>
          <a:solidFill>
            <a:schemeClr val="bg1">
              <a:lumMod val="50000"/>
            </a:schemeClr>
          </a:solidFill>
          <a:ln w="38100">
            <a:solidFill>
              <a:srgbClr val="5EC5C5"/>
            </a:solidFill>
            <a:prstDash val="sysDot"/>
          </a:ln>
        </p:spPr>
        <p:style>
          <a:lnRef idx="1">
            <a:schemeClr val="accent1"/>
          </a:lnRef>
          <a:fillRef idx="0">
            <a:schemeClr val="accent1"/>
          </a:fillRef>
          <a:effectRef idx="0">
            <a:schemeClr val="accent1"/>
          </a:effectRef>
          <a:fontRef idx="minor">
            <a:schemeClr val="tx1"/>
          </a:fontRef>
        </p:style>
      </p:cxnSp>
      <p:sp>
        <p:nvSpPr>
          <p:cNvPr id="31" name="Oval 30"/>
          <p:cNvSpPr/>
          <p:nvPr/>
        </p:nvSpPr>
        <p:spPr>
          <a:xfrm>
            <a:off x="1045325" y="3209048"/>
            <a:ext cx="393164" cy="393164"/>
          </a:xfrm>
          <a:prstGeom prst="ellipse">
            <a:avLst/>
          </a:prstGeom>
          <a:solidFill>
            <a:schemeClr val="bg1"/>
          </a:solidFill>
          <a:ln w="38100">
            <a:solidFill>
              <a:srgbClr val="5EC5C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100" b="1" dirty="0">
              <a:solidFill>
                <a:srgbClr val="0070C0"/>
              </a:solidFill>
              <a:cs typeface="Gotham Book" pitchFamily="2" charset="0"/>
            </a:endParaRPr>
          </a:p>
        </p:txBody>
      </p:sp>
      <p:pic>
        <p:nvPicPr>
          <p:cNvPr id="47" name="Picture 46"/>
          <p:cNvPicPr>
            <a:picLocks noChangeAspect="1"/>
          </p:cNvPicPr>
          <p:nvPr/>
        </p:nvPicPr>
        <p:blipFill>
          <a:blip r:embed="rId4" cstate="hqprint">
            <a:extLst>
              <a:ext uri="{28A0092B-C50C-407E-A947-70E740481C1C}">
                <a14:useLocalDpi xmlns:a14="http://schemas.microsoft.com/office/drawing/2010/main" val="0"/>
              </a:ext>
            </a:extLst>
          </a:blip>
          <a:stretch>
            <a:fillRect/>
          </a:stretch>
        </p:blipFill>
        <p:spPr>
          <a:xfrm>
            <a:off x="1141323" y="3305046"/>
            <a:ext cx="201168" cy="201168"/>
          </a:xfrm>
          <a:prstGeom prst="rect">
            <a:avLst/>
          </a:prstGeom>
        </p:spPr>
      </p:pic>
      <p:sp>
        <p:nvSpPr>
          <p:cNvPr id="25" name="Oval 24"/>
          <p:cNvSpPr/>
          <p:nvPr/>
        </p:nvSpPr>
        <p:spPr>
          <a:xfrm>
            <a:off x="470965" y="2659753"/>
            <a:ext cx="94319" cy="94320"/>
          </a:xfrm>
          <a:prstGeom prst="ellipse">
            <a:avLst/>
          </a:prstGeom>
          <a:solidFill>
            <a:srgbClr val="E75258"/>
          </a:solidFill>
          <a:ln w="28575">
            <a:solidFill>
              <a:srgbClr val="E7525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26" name="Straight Connector 25"/>
          <p:cNvCxnSpPr/>
          <p:nvPr/>
        </p:nvCxnSpPr>
        <p:spPr>
          <a:xfrm>
            <a:off x="572022" y="2706913"/>
            <a:ext cx="457200" cy="0"/>
          </a:xfrm>
          <a:prstGeom prst="line">
            <a:avLst/>
          </a:prstGeom>
          <a:solidFill>
            <a:srgbClr val="2C2C80"/>
          </a:solidFill>
          <a:ln w="38100">
            <a:solidFill>
              <a:srgbClr val="E75258"/>
            </a:solidFill>
            <a:prstDash val="sysDot"/>
          </a:ln>
        </p:spPr>
        <p:style>
          <a:lnRef idx="1">
            <a:schemeClr val="accent1"/>
          </a:lnRef>
          <a:fillRef idx="0">
            <a:schemeClr val="accent1"/>
          </a:fillRef>
          <a:effectRef idx="0">
            <a:schemeClr val="accent1"/>
          </a:effectRef>
          <a:fontRef idx="minor">
            <a:schemeClr val="tx1"/>
          </a:fontRef>
        </p:style>
      </p:cxnSp>
      <p:sp>
        <p:nvSpPr>
          <p:cNvPr id="27" name="Oval 26"/>
          <p:cNvSpPr/>
          <p:nvPr/>
        </p:nvSpPr>
        <p:spPr>
          <a:xfrm>
            <a:off x="1045325" y="2510330"/>
            <a:ext cx="393164" cy="393166"/>
          </a:xfrm>
          <a:prstGeom prst="ellipse">
            <a:avLst/>
          </a:prstGeom>
          <a:blipFill>
            <a:blip r:embed="rId5"/>
            <a:stretch>
              <a:fillRect/>
            </a:stretch>
          </a:blipFill>
          <a:ln w="38100">
            <a:solidFill>
              <a:srgbClr val="E7525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100" b="1" dirty="0">
              <a:solidFill>
                <a:srgbClr val="FF0000"/>
              </a:solidFill>
              <a:cs typeface="Gotham Book" pitchFamily="2" charset="0"/>
            </a:endParaRPr>
          </a:p>
        </p:txBody>
      </p:sp>
      <p:sp>
        <p:nvSpPr>
          <p:cNvPr id="38" name="Oval 37"/>
          <p:cNvSpPr/>
          <p:nvPr/>
        </p:nvSpPr>
        <p:spPr>
          <a:xfrm>
            <a:off x="470965" y="1961035"/>
            <a:ext cx="94319" cy="94320"/>
          </a:xfrm>
          <a:prstGeom prst="ellipse">
            <a:avLst/>
          </a:prstGeom>
          <a:solidFill>
            <a:srgbClr val="1F1C30"/>
          </a:solidFill>
          <a:ln w="28575">
            <a:solidFill>
              <a:srgbClr val="1F1C3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39" name="Straight Connector 38"/>
          <p:cNvCxnSpPr/>
          <p:nvPr/>
        </p:nvCxnSpPr>
        <p:spPr>
          <a:xfrm>
            <a:off x="572022" y="2008195"/>
            <a:ext cx="457200" cy="0"/>
          </a:xfrm>
          <a:prstGeom prst="line">
            <a:avLst/>
          </a:prstGeom>
          <a:solidFill>
            <a:srgbClr val="2C2C80"/>
          </a:solidFill>
          <a:ln w="38100">
            <a:solidFill>
              <a:srgbClr val="1F1C30"/>
            </a:solidFill>
            <a:prstDash val="sysDot"/>
          </a:ln>
        </p:spPr>
        <p:style>
          <a:lnRef idx="1">
            <a:schemeClr val="accent1"/>
          </a:lnRef>
          <a:fillRef idx="0">
            <a:schemeClr val="accent1"/>
          </a:fillRef>
          <a:effectRef idx="0">
            <a:schemeClr val="accent1"/>
          </a:effectRef>
          <a:fontRef idx="minor">
            <a:schemeClr val="tx1"/>
          </a:fontRef>
        </p:style>
      </p:cxnSp>
      <p:sp>
        <p:nvSpPr>
          <p:cNvPr id="40" name="Oval 39"/>
          <p:cNvSpPr/>
          <p:nvPr/>
        </p:nvSpPr>
        <p:spPr>
          <a:xfrm>
            <a:off x="1045325" y="1811612"/>
            <a:ext cx="393164" cy="393166"/>
          </a:xfrm>
          <a:prstGeom prst="ellipse">
            <a:avLst/>
          </a:prstGeom>
          <a:blipFill>
            <a:blip r:embed="rId6"/>
            <a:stretch>
              <a:fillRect/>
            </a:stretch>
          </a:blipFill>
          <a:ln w="38100">
            <a:solidFill>
              <a:srgbClr val="1F1C3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100" b="1" dirty="0">
              <a:solidFill>
                <a:srgbClr val="FF0000"/>
              </a:solidFill>
              <a:cs typeface="Gotham Book" pitchFamily="2" charset="0"/>
            </a:endParaRPr>
          </a:p>
        </p:txBody>
      </p:sp>
      <p:sp>
        <p:nvSpPr>
          <p:cNvPr id="19" name="Oval 18"/>
          <p:cNvSpPr/>
          <p:nvPr/>
        </p:nvSpPr>
        <p:spPr>
          <a:xfrm>
            <a:off x="470965" y="1262319"/>
            <a:ext cx="94319" cy="94319"/>
          </a:xfrm>
          <a:prstGeom prst="ellipse">
            <a:avLst/>
          </a:prstGeom>
          <a:solidFill>
            <a:srgbClr val="5EC5C5"/>
          </a:solidFill>
          <a:ln w="28575">
            <a:solidFill>
              <a:srgbClr val="5EC5C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20" name="Straight Connector 19"/>
          <p:cNvCxnSpPr/>
          <p:nvPr/>
        </p:nvCxnSpPr>
        <p:spPr>
          <a:xfrm>
            <a:off x="565284" y="1307320"/>
            <a:ext cx="457200" cy="4316"/>
          </a:xfrm>
          <a:prstGeom prst="line">
            <a:avLst/>
          </a:prstGeom>
          <a:solidFill>
            <a:srgbClr val="008ED5"/>
          </a:solidFill>
          <a:ln w="38100">
            <a:solidFill>
              <a:srgbClr val="5EC5C5"/>
            </a:solidFill>
            <a:prstDash val="sysDot"/>
          </a:ln>
        </p:spPr>
        <p:style>
          <a:lnRef idx="1">
            <a:schemeClr val="accent1"/>
          </a:lnRef>
          <a:fillRef idx="0">
            <a:schemeClr val="accent1"/>
          </a:fillRef>
          <a:effectRef idx="0">
            <a:schemeClr val="accent1"/>
          </a:effectRef>
          <a:fontRef idx="minor">
            <a:schemeClr val="tx1"/>
          </a:fontRef>
        </p:style>
      </p:cxnSp>
      <p:sp>
        <p:nvSpPr>
          <p:cNvPr id="23" name="Oval 22"/>
          <p:cNvSpPr/>
          <p:nvPr/>
        </p:nvSpPr>
        <p:spPr>
          <a:xfrm>
            <a:off x="1045325" y="1112896"/>
            <a:ext cx="393164" cy="393164"/>
          </a:xfrm>
          <a:prstGeom prst="ellipse">
            <a:avLst/>
          </a:prstGeom>
          <a:solidFill>
            <a:schemeClr val="bg1"/>
          </a:solidFill>
          <a:ln w="38100">
            <a:solidFill>
              <a:srgbClr val="5EC5C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100" b="1" dirty="0">
              <a:solidFill>
                <a:srgbClr val="FFC000"/>
              </a:solidFill>
              <a:cs typeface="Gotham Book" pitchFamily="2" charset="0"/>
            </a:endParaRPr>
          </a:p>
        </p:txBody>
      </p:sp>
      <p:pic>
        <p:nvPicPr>
          <p:cNvPr id="50" name="Picture 49"/>
          <p:cNvPicPr>
            <a:picLocks noChangeAspect="1"/>
          </p:cNvPicPr>
          <p:nvPr/>
        </p:nvPicPr>
        <p:blipFill>
          <a:blip r:embed="rId7" cstate="hqprint">
            <a:extLst>
              <a:ext uri="{28A0092B-C50C-407E-A947-70E740481C1C}">
                <a14:useLocalDpi xmlns:a14="http://schemas.microsoft.com/office/drawing/2010/main" val="0"/>
              </a:ext>
            </a:extLst>
          </a:blip>
          <a:stretch>
            <a:fillRect/>
          </a:stretch>
        </p:blipFill>
        <p:spPr>
          <a:xfrm>
            <a:off x="1141323" y="1208894"/>
            <a:ext cx="201168" cy="201168"/>
          </a:xfrm>
          <a:prstGeom prst="rect">
            <a:avLst/>
          </a:prstGeom>
        </p:spPr>
      </p:pic>
      <p:sp>
        <p:nvSpPr>
          <p:cNvPr id="58" name="Rectangle 57">
            <a:extLst>
              <a:ext uri="{FF2B5EF4-FFF2-40B4-BE49-F238E27FC236}">
                <a16:creationId xmlns:a16="http://schemas.microsoft.com/office/drawing/2014/main" id="{3F80B959-BC60-4854-A69A-50BBA8DB8D52}"/>
              </a:ext>
            </a:extLst>
          </p:cNvPr>
          <p:cNvSpPr/>
          <p:nvPr/>
        </p:nvSpPr>
        <p:spPr>
          <a:xfrm>
            <a:off x="0" y="6793992"/>
            <a:ext cx="12192000" cy="64008"/>
          </a:xfrm>
          <a:prstGeom prst="rect">
            <a:avLst/>
          </a:prstGeom>
          <a:gradFill flip="none" rotWithShape="1">
            <a:gsLst>
              <a:gs pos="0">
                <a:srgbClr val="1F1C30"/>
              </a:gs>
              <a:gs pos="100000">
                <a:srgbClr val="E75258"/>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2" name="Picture 31">
            <a:extLst>
              <a:ext uri="{FF2B5EF4-FFF2-40B4-BE49-F238E27FC236}">
                <a16:creationId xmlns:a16="http://schemas.microsoft.com/office/drawing/2014/main" id="{CAB30FDA-1EA5-3254-9F03-156A1B7658E3}"/>
              </a:ext>
            </a:extLst>
          </p:cNvPr>
          <p:cNvPicPr>
            <a:picLocks noChangeAspect="1"/>
          </p:cNvPicPr>
          <p:nvPr/>
        </p:nvPicPr>
        <p:blipFill>
          <a:blip r:embed="rId8"/>
          <a:stretch>
            <a:fillRect/>
          </a:stretch>
        </p:blipFill>
        <p:spPr>
          <a:xfrm>
            <a:off x="2000105" y="3721622"/>
            <a:ext cx="5129707" cy="3152478"/>
          </a:xfrm>
          <a:prstGeom prst="rect">
            <a:avLst/>
          </a:prstGeom>
        </p:spPr>
      </p:pic>
      <p:pic>
        <p:nvPicPr>
          <p:cNvPr id="35" name="Picture 34">
            <a:extLst>
              <a:ext uri="{FF2B5EF4-FFF2-40B4-BE49-F238E27FC236}">
                <a16:creationId xmlns:a16="http://schemas.microsoft.com/office/drawing/2014/main" id="{0B54BFE4-F092-F157-080A-29477B76B214}"/>
              </a:ext>
            </a:extLst>
          </p:cNvPr>
          <p:cNvPicPr>
            <a:picLocks noChangeAspect="1"/>
          </p:cNvPicPr>
          <p:nvPr/>
        </p:nvPicPr>
        <p:blipFill>
          <a:blip r:embed="rId9"/>
          <a:stretch>
            <a:fillRect/>
          </a:stretch>
        </p:blipFill>
        <p:spPr>
          <a:xfrm>
            <a:off x="6895054" y="3667126"/>
            <a:ext cx="5115310" cy="3073722"/>
          </a:xfrm>
          <a:prstGeom prst="rect">
            <a:avLst/>
          </a:prstGeom>
        </p:spPr>
      </p:pic>
      <p:pic>
        <p:nvPicPr>
          <p:cNvPr id="57" name="Picture 56">
            <a:extLst>
              <a:ext uri="{FF2B5EF4-FFF2-40B4-BE49-F238E27FC236}">
                <a16:creationId xmlns:a16="http://schemas.microsoft.com/office/drawing/2014/main" id="{C76F1400-03D3-9EA9-92DF-17A27EEB4A48}"/>
              </a:ext>
            </a:extLst>
          </p:cNvPr>
          <p:cNvPicPr>
            <a:picLocks noChangeAspect="1"/>
          </p:cNvPicPr>
          <p:nvPr/>
        </p:nvPicPr>
        <p:blipFill>
          <a:blip r:embed="rId10"/>
          <a:stretch>
            <a:fillRect/>
          </a:stretch>
        </p:blipFill>
        <p:spPr>
          <a:xfrm>
            <a:off x="5133109" y="800260"/>
            <a:ext cx="4957082" cy="3101335"/>
          </a:xfrm>
          <a:prstGeom prst="rect">
            <a:avLst/>
          </a:prstGeom>
        </p:spPr>
      </p:pic>
    </p:spTree>
    <p:extLst>
      <p:ext uri="{BB962C8B-B14F-4D97-AF65-F5344CB8AC3E}">
        <p14:creationId xmlns:p14="http://schemas.microsoft.com/office/powerpoint/2010/main" val="412718268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DC656E02-33BB-4D0D-BBF8-30DECEE31148}"/>
              </a:ext>
            </a:extLst>
          </p:cNvPr>
          <p:cNvSpPr>
            <a:spLocks noGrp="1"/>
          </p:cNvSpPr>
          <p:nvPr>
            <p:ph type="body" sz="quarter" idx="10"/>
          </p:nvPr>
        </p:nvSpPr>
        <p:spPr/>
        <p:txBody>
          <a:bodyPr>
            <a:noAutofit/>
          </a:bodyPr>
          <a:lstStyle/>
          <a:p>
            <a:pPr algn="ctr"/>
            <a:r>
              <a:rPr lang="he-IL" dirty="0">
                <a:solidFill>
                  <a:schemeClr val="tx1"/>
                </a:solidFill>
                <a:latin typeface="Calibri" panose="020F0502020204030204" pitchFamily="34" charset="0"/>
                <a:cs typeface="Calibri" panose="020F0502020204030204" pitchFamily="34" charset="0"/>
              </a:rPr>
              <a:t>רכיבי השירות</a:t>
            </a:r>
            <a:endParaRPr lang="en-US" dirty="0">
              <a:solidFill>
                <a:schemeClr val="tx1"/>
              </a:solidFill>
              <a:latin typeface="Calibri" panose="020F0502020204030204" pitchFamily="34" charset="0"/>
              <a:cs typeface="Calibri" panose="020F0502020204030204" pitchFamily="34" charset="0"/>
            </a:endParaRPr>
          </a:p>
        </p:txBody>
      </p:sp>
      <p:sp>
        <p:nvSpPr>
          <p:cNvPr id="131" name="Text Placeholder 7">
            <a:extLst>
              <a:ext uri="{FF2B5EF4-FFF2-40B4-BE49-F238E27FC236}">
                <a16:creationId xmlns:a16="http://schemas.microsoft.com/office/drawing/2014/main" id="{58DB8EF6-4540-4CFF-B873-FF0C784CE024}"/>
              </a:ext>
            </a:extLst>
          </p:cNvPr>
          <p:cNvSpPr txBox="1">
            <a:spLocks/>
          </p:cNvSpPr>
          <p:nvPr/>
        </p:nvSpPr>
        <p:spPr>
          <a:xfrm>
            <a:off x="340336" y="846803"/>
            <a:ext cx="9384235" cy="592268"/>
          </a:xfrm>
          <a:prstGeom prst="rect">
            <a:avLst/>
          </a:prstGeom>
        </p:spPr>
        <p:txBody>
          <a:bodyPr vert="horz" lIns="91440" tIns="45720" rIns="91440" bIns="45720" rtlCol="0" anchor="ctr" anchorCtr="0">
            <a:normAutofit/>
          </a:bodyPr>
          <a:lstStyle>
            <a:lvl1pPr marL="0" indent="0" algn="l" defTabSz="914400" rtl="0" eaLnBrk="1" latinLnBrk="0" hangingPunct="1">
              <a:lnSpc>
                <a:spcPct val="90000"/>
              </a:lnSpc>
              <a:spcBef>
                <a:spcPts val="1000"/>
              </a:spcBef>
              <a:buFontTx/>
              <a:buNone/>
              <a:defRPr sz="3200" b="1" kern="1200">
                <a:solidFill>
                  <a:srgbClr val="000000"/>
                </a:solidFill>
                <a:latin typeface="+mj-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he-IL" sz="2800" dirty="0">
                <a:solidFill>
                  <a:srgbClr val="5EC5C5"/>
                </a:solidFill>
                <a:latin typeface="Calibri" panose="020F0502020204030204" pitchFamily="34" charset="0"/>
                <a:cs typeface="Calibri" panose="020F0502020204030204" pitchFamily="34" charset="0"/>
              </a:rPr>
              <a:t>מבוסס תעודות זהות קליניות עבור שירותים</a:t>
            </a:r>
            <a:endParaRPr lang="en-US" sz="2800" dirty="0">
              <a:solidFill>
                <a:srgbClr val="5EC5C5"/>
              </a:solidFill>
              <a:latin typeface="Calibri" panose="020F0502020204030204" pitchFamily="34" charset="0"/>
              <a:cs typeface="Calibri" panose="020F0502020204030204" pitchFamily="34" charset="0"/>
            </a:endParaRPr>
          </a:p>
        </p:txBody>
      </p:sp>
      <p:sp>
        <p:nvSpPr>
          <p:cNvPr id="18" name="Rectangle 17"/>
          <p:cNvSpPr/>
          <p:nvPr/>
        </p:nvSpPr>
        <p:spPr>
          <a:xfrm>
            <a:off x="4507264" y="6279694"/>
            <a:ext cx="3177472" cy="492443"/>
          </a:xfrm>
          <a:prstGeom prst="rect">
            <a:avLst/>
          </a:prstGeom>
        </p:spPr>
        <p:txBody>
          <a:bodyPr wrap="none" anchor="ctr">
            <a:spAutoFit/>
          </a:bodyPr>
          <a:lstStyle/>
          <a:p>
            <a:pPr algn="ctr"/>
            <a:r>
              <a:rPr lang="en-US" sz="2600" b="1" dirty="0">
                <a:solidFill>
                  <a:srgbClr val="E75258"/>
                </a:solidFill>
              </a:rPr>
              <a:t>AI &amp; Full Automation</a:t>
            </a:r>
          </a:p>
        </p:txBody>
      </p:sp>
      <p:cxnSp>
        <p:nvCxnSpPr>
          <p:cNvPr id="24" name="Straight Connector 23"/>
          <p:cNvCxnSpPr/>
          <p:nvPr/>
        </p:nvCxnSpPr>
        <p:spPr>
          <a:xfrm flipV="1">
            <a:off x="1284065" y="6525915"/>
            <a:ext cx="2811289" cy="0"/>
          </a:xfrm>
          <a:prstGeom prst="line">
            <a:avLst/>
          </a:prstGeom>
          <a:ln>
            <a:solidFill>
              <a:srgbClr val="E75258"/>
            </a:solidFill>
          </a:ln>
        </p:spPr>
        <p:style>
          <a:lnRef idx="1">
            <a:schemeClr val="accent1"/>
          </a:lnRef>
          <a:fillRef idx="0">
            <a:schemeClr val="accent1"/>
          </a:fillRef>
          <a:effectRef idx="0">
            <a:schemeClr val="accent1"/>
          </a:effectRef>
          <a:fontRef idx="minor">
            <a:schemeClr val="tx1"/>
          </a:fontRef>
        </p:style>
      </p:cxnSp>
      <p:cxnSp>
        <p:nvCxnSpPr>
          <p:cNvPr id="82" name="Straight Connector 81"/>
          <p:cNvCxnSpPr/>
          <p:nvPr/>
        </p:nvCxnSpPr>
        <p:spPr>
          <a:xfrm flipV="1">
            <a:off x="8096646" y="6525915"/>
            <a:ext cx="2811289" cy="0"/>
          </a:xfrm>
          <a:prstGeom prst="line">
            <a:avLst/>
          </a:prstGeom>
          <a:ln>
            <a:solidFill>
              <a:srgbClr val="E75258"/>
            </a:solidFill>
          </a:ln>
        </p:spPr>
        <p:style>
          <a:lnRef idx="1">
            <a:schemeClr val="accent1"/>
          </a:lnRef>
          <a:fillRef idx="0">
            <a:schemeClr val="accent1"/>
          </a:fillRef>
          <a:effectRef idx="0">
            <a:schemeClr val="accent1"/>
          </a:effectRef>
          <a:fontRef idx="minor">
            <a:schemeClr val="tx1"/>
          </a:fontRef>
        </p:style>
      </p:cxnSp>
      <p:sp>
        <p:nvSpPr>
          <p:cNvPr id="87" name="Rounded Rectangle 9">
            <a:extLst>
              <a:ext uri="{FF2B5EF4-FFF2-40B4-BE49-F238E27FC236}">
                <a16:creationId xmlns:a16="http://schemas.microsoft.com/office/drawing/2014/main" id="{C0200EDE-BFB7-4872-9956-3A7E1C596FAD}"/>
              </a:ext>
            </a:extLst>
          </p:cNvPr>
          <p:cNvSpPr/>
          <p:nvPr/>
        </p:nvSpPr>
        <p:spPr>
          <a:xfrm>
            <a:off x="449897" y="0"/>
            <a:ext cx="1097280" cy="73152"/>
          </a:xfrm>
          <a:prstGeom prst="roundRect">
            <a:avLst>
              <a:gd name="adj" fmla="val 50000"/>
            </a:avLst>
          </a:prstGeom>
          <a:solidFill>
            <a:srgbClr val="5EC5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4" name="Straight Connector 43"/>
          <p:cNvCxnSpPr/>
          <p:nvPr/>
        </p:nvCxnSpPr>
        <p:spPr>
          <a:xfrm>
            <a:off x="0" y="1921117"/>
            <a:ext cx="12192000" cy="0"/>
          </a:xfrm>
          <a:prstGeom prst="line">
            <a:avLst/>
          </a:prstGeom>
          <a:ln>
            <a:solidFill>
              <a:schemeClr val="bg1">
                <a:lumMod val="85000"/>
              </a:schemeClr>
            </a:solidFill>
            <a:prstDash val="dashDot"/>
          </a:ln>
        </p:spPr>
        <p:style>
          <a:lnRef idx="1">
            <a:schemeClr val="accent1"/>
          </a:lnRef>
          <a:fillRef idx="0">
            <a:schemeClr val="accent1"/>
          </a:fillRef>
          <a:effectRef idx="0">
            <a:schemeClr val="accent1"/>
          </a:effectRef>
          <a:fontRef idx="minor">
            <a:schemeClr val="tx1"/>
          </a:fontRef>
        </p:style>
      </p:cxnSp>
      <p:sp>
        <p:nvSpPr>
          <p:cNvPr id="45" name="Rectangle 44">
            <a:extLst>
              <a:ext uri="{FF2B5EF4-FFF2-40B4-BE49-F238E27FC236}">
                <a16:creationId xmlns:a16="http://schemas.microsoft.com/office/drawing/2014/main" id="{63CD43FB-6E98-42A8-A8D6-8FEB55A7F4A6}"/>
              </a:ext>
            </a:extLst>
          </p:cNvPr>
          <p:cNvSpPr/>
          <p:nvPr/>
        </p:nvSpPr>
        <p:spPr>
          <a:xfrm>
            <a:off x="1311585" y="2336805"/>
            <a:ext cx="1449436" cy="400110"/>
          </a:xfrm>
          <a:prstGeom prst="rect">
            <a:avLst/>
          </a:prstGeom>
        </p:spPr>
        <p:txBody>
          <a:bodyPr wrap="none">
            <a:spAutoFit/>
          </a:bodyPr>
          <a:lstStyle/>
          <a:p>
            <a:pPr algn="ctr"/>
            <a:r>
              <a:rPr lang="en-US" sz="2000" b="1" dirty="0">
                <a:solidFill>
                  <a:srgbClr val="5EC5C5"/>
                </a:solidFill>
                <a:latin typeface="+mj-lt"/>
              </a:rPr>
              <a:t>Back Office</a:t>
            </a:r>
          </a:p>
        </p:txBody>
      </p:sp>
      <p:sp>
        <p:nvSpPr>
          <p:cNvPr id="47" name="Rounded Rectangle 111">
            <a:extLst>
              <a:ext uri="{FF2B5EF4-FFF2-40B4-BE49-F238E27FC236}">
                <a16:creationId xmlns:a16="http://schemas.microsoft.com/office/drawing/2014/main" id="{A93A1425-0139-4DAD-BB0C-4D46FFD5C650}"/>
              </a:ext>
            </a:extLst>
          </p:cNvPr>
          <p:cNvSpPr/>
          <p:nvPr/>
        </p:nvSpPr>
        <p:spPr>
          <a:xfrm>
            <a:off x="516442" y="3116639"/>
            <a:ext cx="3052638" cy="2920335"/>
          </a:xfrm>
          <a:prstGeom prst="roundRect">
            <a:avLst>
              <a:gd name="adj" fmla="val 5098"/>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8" name="Rounded Rectangle 103">
            <a:extLst>
              <a:ext uri="{FF2B5EF4-FFF2-40B4-BE49-F238E27FC236}">
                <a16:creationId xmlns:a16="http://schemas.microsoft.com/office/drawing/2014/main" id="{D010989A-7791-4558-ACCF-FAC60EE85AEA}"/>
              </a:ext>
            </a:extLst>
          </p:cNvPr>
          <p:cNvSpPr/>
          <p:nvPr/>
        </p:nvSpPr>
        <p:spPr>
          <a:xfrm>
            <a:off x="504404" y="3124235"/>
            <a:ext cx="3064675" cy="866449"/>
          </a:xfrm>
          <a:prstGeom prst="roundRect">
            <a:avLst/>
          </a:prstGeom>
          <a:noFill/>
          <a:ln w="28575">
            <a:solidFill>
              <a:srgbClr val="5EC5C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Rectangle 48">
            <a:extLst>
              <a:ext uri="{FF2B5EF4-FFF2-40B4-BE49-F238E27FC236}">
                <a16:creationId xmlns:a16="http://schemas.microsoft.com/office/drawing/2014/main" id="{CC925102-7400-4572-AFB9-A52A8240F5D8}"/>
              </a:ext>
            </a:extLst>
          </p:cNvPr>
          <p:cNvSpPr/>
          <p:nvPr/>
        </p:nvSpPr>
        <p:spPr>
          <a:xfrm>
            <a:off x="436860" y="3723748"/>
            <a:ext cx="3168886" cy="33350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Oval 49">
            <a:extLst>
              <a:ext uri="{FF2B5EF4-FFF2-40B4-BE49-F238E27FC236}">
                <a16:creationId xmlns:a16="http://schemas.microsoft.com/office/drawing/2014/main" id="{A22D3CC7-9B13-401A-A565-05A0A2885DAD}"/>
              </a:ext>
            </a:extLst>
          </p:cNvPr>
          <p:cNvSpPr>
            <a:spLocks noChangeAspect="1"/>
          </p:cNvSpPr>
          <p:nvPr/>
        </p:nvSpPr>
        <p:spPr>
          <a:xfrm>
            <a:off x="3484519" y="3571540"/>
            <a:ext cx="163507" cy="156853"/>
          </a:xfrm>
          <a:prstGeom prst="ellipse">
            <a:avLst/>
          </a:prstGeom>
          <a:solidFill>
            <a:srgbClr val="5EC5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Oval 50">
            <a:extLst>
              <a:ext uri="{FF2B5EF4-FFF2-40B4-BE49-F238E27FC236}">
                <a16:creationId xmlns:a16="http://schemas.microsoft.com/office/drawing/2014/main" id="{AA757426-1280-4263-B29E-737A1C16A478}"/>
              </a:ext>
            </a:extLst>
          </p:cNvPr>
          <p:cNvSpPr>
            <a:spLocks noChangeAspect="1"/>
          </p:cNvSpPr>
          <p:nvPr/>
        </p:nvSpPr>
        <p:spPr>
          <a:xfrm>
            <a:off x="424578" y="3571540"/>
            <a:ext cx="163507" cy="156853"/>
          </a:xfrm>
          <a:prstGeom prst="ellipse">
            <a:avLst/>
          </a:prstGeom>
          <a:solidFill>
            <a:srgbClr val="5EC5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2" name="Isosceles Triangle 51">
            <a:extLst>
              <a:ext uri="{FF2B5EF4-FFF2-40B4-BE49-F238E27FC236}">
                <a16:creationId xmlns:a16="http://schemas.microsoft.com/office/drawing/2014/main" id="{034B4D0F-F1B2-46E7-B1AB-390D65C862AD}"/>
              </a:ext>
            </a:extLst>
          </p:cNvPr>
          <p:cNvSpPr/>
          <p:nvPr/>
        </p:nvSpPr>
        <p:spPr>
          <a:xfrm>
            <a:off x="1810469" y="2855261"/>
            <a:ext cx="452544" cy="256287"/>
          </a:xfrm>
          <a:prstGeom prst="triangle">
            <a:avLst/>
          </a:prstGeom>
          <a:solidFill>
            <a:schemeClr val="bg1"/>
          </a:solidFill>
          <a:ln w="38100">
            <a:solidFill>
              <a:srgbClr val="5EC5C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Isosceles Triangle 57">
            <a:extLst>
              <a:ext uri="{FF2B5EF4-FFF2-40B4-BE49-F238E27FC236}">
                <a16:creationId xmlns:a16="http://schemas.microsoft.com/office/drawing/2014/main" id="{A8839BA5-6776-45B5-8D5E-E2811E7FD69F}"/>
              </a:ext>
            </a:extLst>
          </p:cNvPr>
          <p:cNvSpPr/>
          <p:nvPr/>
        </p:nvSpPr>
        <p:spPr>
          <a:xfrm>
            <a:off x="1810469" y="2891493"/>
            <a:ext cx="452544" cy="256287"/>
          </a:xfrm>
          <a:prstGeom prst="triangle">
            <a:avLst/>
          </a:prstGeom>
          <a:solidFill>
            <a:schemeClr val="bg1"/>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2" name="Oval 61">
            <a:extLst>
              <a:ext uri="{FF2B5EF4-FFF2-40B4-BE49-F238E27FC236}">
                <a16:creationId xmlns:a16="http://schemas.microsoft.com/office/drawing/2014/main" id="{B12BE222-B3D9-4A4A-B22E-1BAAD6C8A36C}"/>
              </a:ext>
            </a:extLst>
          </p:cNvPr>
          <p:cNvSpPr>
            <a:spLocks noChangeAspect="1"/>
          </p:cNvSpPr>
          <p:nvPr/>
        </p:nvSpPr>
        <p:spPr>
          <a:xfrm>
            <a:off x="3484519" y="3907491"/>
            <a:ext cx="163507" cy="156853"/>
          </a:xfrm>
          <a:prstGeom prst="ellipse">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Oval 65">
            <a:extLst>
              <a:ext uri="{FF2B5EF4-FFF2-40B4-BE49-F238E27FC236}">
                <a16:creationId xmlns:a16="http://schemas.microsoft.com/office/drawing/2014/main" id="{8013D62E-D14F-4301-87F9-F75DAC78D9F4}"/>
              </a:ext>
            </a:extLst>
          </p:cNvPr>
          <p:cNvSpPr>
            <a:spLocks noChangeAspect="1"/>
          </p:cNvSpPr>
          <p:nvPr/>
        </p:nvSpPr>
        <p:spPr>
          <a:xfrm>
            <a:off x="432350" y="3907650"/>
            <a:ext cx="163507" cy="156853"/>
          </a:xfrm>
          <a:prstGeom prst="ellipse">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TextBox 66">
            <a:extLst>
              <a:ext uri="{FF2B5EF4-FFF2-40B4-BE49-F238E27FC236}">
                <a16:creationId xmlns:a16="http://schemas.microsoft.com/office/drawing/2014/main" id="{78CD0004-F2A9-497B-AA8D-3E74762E9D40}"/>
              </a:ext>
            </a:extLst>
          </p:cNvPr>
          <p:cNvSpPr txBox="1"/>
          <p:nvPr/>
        </p:nvSpPr>
        <p:spPr>
          <a:xfrm>
            <a:off x="625064" y="3303345"/>
            <a:ext cx="2822476" cy="1569660"/>
          </a:xfrm>
          <a:prstGeom prst="rect">
            <a:avLst/>
          </a:prstGeom>
          <a:noFill/>
        </p:spPr>
        <p:txBody>
          <a:bodyPr wrap="square">
            <a:spAutoFit/>
          </a:bodyPr>
          <a:lstStyle/>
          <a:p>
            <a:pPr marL="342891" indent="-342891" algn="r" rtl="1">
              <a:buAutoNum type="arabicPeriod"/>
            </a:pPr>
            <a:r>
              <a:rPr lang="he-IL" sz="1600" dirty="0"/>
              <a:t>מיפוי שירותים</a:t>
            </a:r>
          </a:p>
          <a:p>
            <a:pPr marL="342891" indent="-342891" algn="r" rtl="1">
              <a:buAutoNum type="arabicPeriod"/>
            </a:pPr>
            <a:r>
              <a:rPr lang="he-IL" sz="1600" dirty="0">
                <a:hlinkClick r:id="rId3"/>
              </a:rPr>
              <a:t>אישור ספקים והחתמת ספקים</a:t>
            </a:r>
            <a:endParaRPr lang="he-IL" sz="1600" dirty="0"/>
          </a:p>
          <a:p>
            <a:pPr marL="342891" indent="-342891" algn="r" rtl="1">
              <a:buAutoNum type="arabicPeriod"/>
            </a:pPr>
            <a:r>
              <a:rPr lang="he-IL" sz="1600" dirty="0"/>
              <a:t>עדכון ותחזוקת נתונים בשוטף, כולל אישור מחודש של הספק</a:t>
            </a:r>
          </a:p>
        </p:txBody>
      </p:sp>
      <p:sp>
        <p:nvSpPr>
          <p:cNvPr id="68" name="Rectangle 67">
            <a:extLst>
              <a:ext uri="{FF2B5EF4-FFF2-40B4-BE49-F238E27FC236}">
                <a16:creationId xmlns:a16="http://schemas.microsoft.com/office/drawing/2014/main" id="{E3677612-824D-4C10-8F02-4710C94A9A37}"/>
              </a:ext>
            </a:extLst>
          </p:cNvPr>
          <p:cNvSpPr/>
          <p:nvPr/>
        </p:nvSpPr>
        <p:spPr>
          <a:xfrm>
            <a:off x="5569187" y="2336805"/>
            <a:ext cx="1217000" cy="400110"/>
          </a:xfrm>
          <a:prstGeom prst="rect">
            <a:avLst/>
          </a:prstGeom>
        </p:spPr>
        <p:txBody>
          <a:bodyPr wrap="none">
            <a:spAutoFit/>
          </a:bodyPr>
          <a:lstStyle/>
          <a:p>
            <a:pPr algn="ctr"/>
            <a:r>
              <a:rPr lang="he-IL" sz="2000" b="1" dirty="0">
                <a:solidFill>
                  <a:srgbClr val="1F1C30"/>
                </a:solidFill>
                <a:latin typeface="+mj-lt"/>
              </a:rPr>
              <a:t>מסע לקוח</a:t>
            </a:r>
            <a:endParaRPr lang="en-US" sz="2000" b="1" dirty="0">
              <a:solidFill>
                <a:srgbClr val="1F1C30"/>
              </a:solidFill>
              <a:latin typeface="+mj-lt"/>
            </a:endParaRPr>
          </a:p>
        </p:txBody>
      </p:sp>
      <p:sp>
        <p:nvSpPr>
          <p:cNvPr id="69" name="Rounded Rectangle 111">
            <a:extLst>
              <a:ext uri="{FF2B5EF4-FFF2-40B4-BE49-F238E27FC236}">
                <a16:creationId xmlns:a16="http://schemas.microsoft.com/office/drawing/2014/main" id="{8480A4E7-1A10-41B4-8531-73AD6A6404F8}"/>
              </a:ext>
            </a:extLst>
          </p:cNvPr>
          <p:cNvSpPr/>
          <p:nvPr/>
        </p:nvSpPr>
        <p:spPr>
          <a:xfrm>
            <a:off x="4657826" y="3116639"/>
            <a:ext cx="3052638" cy="2920335"/>
          </a:xfrm>
          <a:prstGeom prst="roundRect">
            <a:avLst>
              <a:gd name="adj" fmla="val 5098"/>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0" name="Rounded Rectangle 103">
            <a:extLst>
              <a:ext uri="{FF2B5EF4-FFF2-40B4-BE49-F238E27FC236}">
                <a16:creationId xmlns:a16="http://schemas.microsoft.com/office/drawing/2014/main" id="{522958C8-1B92-4830-BF49-5B49047D6DBA}"/>
              </a:ext>
            </a:extLst>
          </p:cNvPr>
          <p:cNvSpPr/>
          <p:nvPr/>
        </p:nvSpPr>
        <p:spPr>
          <a:xfrm>
            <a:off x="4645788" y="3124235"/>
            <a:ext cx="3064675" cy="866449"/>
          </a:xfrm>
          <a:prstGeom prst="roundRect">
            <a:avLst/>
          </a:prstGeom>
          <a:noFill/>
          <a:ln w="28575">
            <a:solidFill>
              <a:srgbClr val="34304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Rectangle 70">
            <a:extLst>
              <a:ext uri="{FF2B5EF4-FFF2-40B4-BE49-F238E27FC236}">
                <a16:creationId xmlns:a16="http://schemas.microsoft.com/office/drawing/2014/main" id="{0218AD6F-C23A-4D59-AD2E-58CDAD660927}"/>
              </a:ext>
            </a:extLst>
          </p:cNvPr>
          <p:cNvSpPr/>
          <p:nvPr/>
        </p:nvSpPr>
        <p:spPr>
          <a:xfrm>
            <a:off x="4578244" y="3723748"/>
            <a:ext cx="3168886" cy="33350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Oval 71">
            <a:extLst>
              <a:ext uri="{FF2B5EF4-FFF2-40B4-BE49-F238E27FC236}">
                <a16:creationId xmlns:a16="http://schemas.microsoft.com/office/drawing/2014/main" id="{AFD021F4-DAD5-409F-98FE-9FFDDBAD7337}"/>
              </a:ext>
            </a:extLst>
          </p:cNvPr>
          <p:cNvSpPr>
            <a:spLocks noChangeAspect="1"/>
          </p:cNvSpPr>
          <p:nvPr/>
        </p:nvSpPr>
        <p:spPr>
          <a:xfrm>
            <a:off x="7625903" y="3571540"/>
            <a:ext cx="163507" cy="156853"/>
          </a:xfrm>
          <a:prstGeom prst="ellipse">
            <a:avLst/>
          </a:prstGeom>
          <a:solidFill>
            <a:srgbClr val="343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Oval 72">
            <a:extLst>
              <a:ext uri="{FF2B5EF4-FFF2-40B4-BE49-F238E27FC236}">
                <a16:creationId xmlns:a16="http://schemas.microsoft.com/office/drawing/2014/main" id="{4A0BB1BA-21CF-4F2C-94E8-FA52805E90E2}"/>
              </a:ext>
            </a:extLst>
          </p:cNvPr>
          <p:cNvSpPr>
            <a:spLocks noChangeAspect="1"/>
          </p:cNvSpPr>
          <p:nvPr/>
        </p:nvSpPr>
        <p:spPr>
          <a:xfrm>
            <a:off x="4565962" y="3571540"/>
            <a:ext cx="163507" cy="156853"/>
          </a:xfrm>
          <a:prstGeom prst="ellipse">
            <a:avLst/>
          </a:prstGeom>
          <a:solidFill>
            <a:srgbClr val="343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4" name="Isosceles Triangle 73">
            <a:extLst>
              <a:ext uri="{FF2B5EF4-FFF2-40B4-BE49-F238E27FC236}">
                <a16:creationId xmlns:a16="http://schemas.microsoft.com/office/drawing/2014/main" id="{67F3161B-FA8A-4E4E-BDB2-809483AD990C}"/>
              </a:ext>
            </a:extLst>
          </p:cNvPr>
          <p:cNvSpPr/>
          <p:nvPr/>
        </p:nvSpPr>
        <p:spPr>
          <a:xfrm>
            <a:off x="5951853" y="2855261"/>
            <a:ext cx="452544" cy="256287"/>
          </a:xfrm>
          <a:prstGeom prst="triangle">
            <a:avLst/>
          </a:prstGeom>
          <a:solidFill>
            <a:schemeClr val="bg1"/>
          </a:solidFill>
          <a:ln w="38100">
            <a:solidFill>
              <a:srgbClr val="34304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Isosceles Triangle 74">
            <a:extLst>
              <a:ext uri="{FF2B5EF4-FFF2-40B4-BE49-F238E27FC236}">
                <a16:creationId xmlns:a16="http://schemas.microsoft.com/office/drawing/2014/main" id="{C7812075-9105-406D-ADA8-1087900BD2B7}"/>
              </a:ext>
            </a:extLst>
          </p:cNvPr>
          <p:cNvSpPr/>
          <p:nvPr/>
        </p:nvSpPr>
        <p:spPr>
          <a:xfrm>
            <a:off x="5951413" y="2891493"/>
            <a:ext cx="452544" cy="256287"/>
          </a:xfrm>
          <a:prstGeom prst="triangle">
            <a:avLst/>
          </a:prstGeom>
          <a:solidFill>
            <a:schemeClr val="bg1"/>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6" name="Oval 75">
            <a:extLst>
              <a:ext uri="{FF2B5EF4-FFF2-40B4-BE49-F238E27FC236}">
                <a16:creationId xmlns:a16="http://schemas.microsoft.com/office/drawing/2014/main" id="{6EBC5193-D5D0-4554-BC44-0028601C20A2}"/>
              </a:ext>
            </a:extLst>
          </p:cNvPr>
          <p:cNvSpPr>
            <a:spLocks noChangeAspect="1"/>
          </p:cNvSpPr>
          <p:nvPr/>
        </p:nvSpPr>
        <p:spPr>
          <a:xfrm>
            <a:off x="7625903" y="3907491"/>
            <a:ext cx="163507" cy="156853"/>
          </a:xfrm>
          <a:prstGeom prst="ellipse">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Oval 76">
            <a:extLst>
              <a:ext uri="{FF2B5EF4-FFF2-40B4-BE49-F238E27FC236}">
                <a16:creationId xmlns:a16="http://schemas.microsoft.com/office/drawing/2014/main" id="{473560A6-A1EC-498D-A94D-4A69FB8257AD}"/>
              </a:ext>
            </a:extLst>
          </p:cNvPr>
          <p:cNvSpPr>
            <a:spLocks noChangeAspect="1"/>
          </p:cNvSpPr>
          <p:nvPr/>
        </p:nvSpPr>
        <p:spPr>
          <a:xfrm>
            <a:off x="4573734" y="3907650"/>
            <a:ext cx="163507" cy="156853"/>
          </a:xfrm>
          <a:prstGeom prst="ellipse">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TextBox 77">
            <a:extLst>
              <a:ext uri="{FF2B5EF4-FFF2-40B4-BE49-F238E27FC236}">
                <a16:creationId xmlns:a16="http://schemas.microsoft.com/office/drawing/2014/main" id="{5CBBEE15-FB13-433A-8405-B449FA01C940}"/>
              </a:ext>
            </a:extLst>
          </p:cNvPr>
          <p:cNvSpPr txBox="1"/>
          <p:nvPr/>
        </p:nvSpPr>
        <p:spPr>
          <a:xfrm>
            <a:off x="4900652" y="3276661"/>
            <a:ext cx="2537242" cy="2800767"/>
          </a:xfrm>
          <a:prstGeom prst="rect">
            <a:avLst/>
          </a:prstGeom>
          <a:noFill/>
        </p:spPr>
        <p:txBody>
          <a:bodyPr wrap="square">
            <a:spAutoFit/>
          </a:bodyPr>
          <a:lstStyle/>
          <a:p>
            <a:pPr marL="342891" indent="-342891" algn="r" rtl="1">
              <a:buAutoNum type="arabicPeriod"/>
            </a:pPr>
            <a:r>
              <a:rPr lang="he-IL" sz="1600" dirty="0">
                <a:latin typeface="Calibri" panose="020F0502020204030204" pitchFamily="34" charset="0"/>
                <a:cs typeface="Calibri" panose="020F0502020204030204" pitchFamily="34" charset="0"/>
              </a:rPr>
              <a:t>בחירת פעילויות</a:t>
            </a:r>
            <a:endParaRPr lang="en-US" sz="1600" dirty="0">
              <a:latin typeface="Calibri" panose="020F0502020204030204" pitchFamily="34" charset="0"/>
              <a:cs typeface="Calibri" panose="020F0502020204030204" pitchFamily="34" charset="0"/>
            </a:endParaRPr>
          </a:p>
          <a:p>
            <a:pPr marL="342891" indent="-342891" algn="r" rtl="1">
              <a:buAutoNum type="arabicPeriod"/>
            </a:pPr>
            <a:r>
              <a:rPr lang="he-IL" sz="1600" dirty="0">
                <a:latin typeface="Calibri" panose="020F0502020204030204" pitchFamily="34" charset="0"/>
                <a:cs typeface="Calibri" panose="020F0502020204030204" pitchFamily="34" charset="0"/>
              </a:rPr>
              <a:t>דיוק צרכים והעדפת</a:t>
            </a:r>
          </a:p>
          <a:p>
            <a:pPr marL="342891" indent="-342891" algn="r" rtl="1">
              <a:buAutoNum type="arabicPeriod"/>
            </a:pPr>
            <a:r>
              <a:rPr lang="he-IL" sz="1600" dirty="0">
                <a:latin typeface="Calibri" panose="020F0502020204030204" pitchFamily="34" charset="0"/>
                <a:cs typeface="Calibri" panose="020F0502020204030204" pitchFamily="34" charset="0"/>
              </a:rPr>
              <a:t>קבלת המלצות, כולל פילטרים של נגישות</a:t>
            </a:r>
          </a:p>
          <a:p>
            <a:pPr marL="342891" indent="-342891" algn="r" rtl="1">
              <a:buAutoNum type="arabicPeriod"/>
            </a:pPr>
            <a:r>
              <a:rPr lang="he-IL" sz="1600" dirty="0">
                <a:latin typeface="Calibri" panose="020F0502020204030204" pitchFamily="34" charset="0"/>
                <a:cs typeface="Calibri" panose="020F0502020204030204" pitchFamily="34" charset="0"/>
              </a:rPr>
              <a:t>התייעצות עם מתאם תוכנית אישית</a:t>
            </a:r>
          </a:p>
          <a:p>
            <a:pPr marL="342891" indent="-342891" algn="r" rtl="1">
              <a:buAutoNum type="arabicPeriod"/>
            </a:pPr>
            <a:r>
              <a:rPr lang="he-IL" sz="1600" dirty="0">
                <a:latin typeface="Calibri" panose="020F0502020204030204" pitchFamily="34" charset="0"/>
                <a:cs typeface="Calibri" panose="020F0502020204030204" pitchFamily="34" charset="0"/>
              </a:rPr>
              <a:t>רכישת שירותים כולל קבלת סבסוד</a:t>
            </a:r>
          </a:p>
          <a:p>
            <a:pPr marL="342891" indent="-342891" algn="r" rtl="1">
              <a:buAutoNum type="arabicPeriod"/>
            </a:pPr>
            <a:r>
              <a:rPr lang="he-IL" sz="1600" dirty="0">
                <a:latin typeface="Calibri" panose="020F0502020204030204" pitchFamily="34" charset="0"/>
                <a:cs typeface="Calibri" panose="020F0502020204030204" pitchFamily="34" charset="0"/>
              </a:rPr>
              <a:t>שימוש בשירות</a:t>
            </a:r>
          </a:p>
          <a:p>
            <a:pPr marL="342891" indent="-342891" algn="r" rtl="1">
              <a:buAutoNum type="arabicPeriod"/>
            </a:pPr>
            <a:r>
              <a:rPr lang="he-IL" sz="1600" dirty="0">
                <a:latin typeface="Calibri" panose="020F0502020204030204" pitchFamily="34" charset="0"/>
                <a:cs typeface="Calibri" panose="020F0502020204030204" pitchFamily="34" charset="0"/>
              </a:rPr>
              <a:t>מתן פידבקים</a:t>
            </a:r>
          </a:p>
          <a:p>
            <a:pPr marL="342891" indent="-342891" algn="r" rtl="1">
              <a:buAutoNum type="arabicPeriod"/>
            </a:pPr>
            <a:r>
              <a:rPr lang="he-IL" sz="1600" dirty="0">
                <a:latin typeface="Calibri" panose="020F0502020204030204" pitchFamily="34" charset="0"/>
                <a:cs typeface="Calibri" panose="020F0502020204030204" pitchFamily="34" charset="0"/>
              </a:rPr>
              <a:t>קבלת תמיכה והמשך מעקב</a:t>
            </a:r>
          </a:p>
        </p:txBody>
      </p:sp>
      <p:sp>
        <p:nvSpPr>
          <p:cNvPr id="79" name="Rectangle 78">
            <a:extLst>
              <a:ext uri="{FF2B5EF4-FFF2-40B4-BE49-F238E27FC236}">
                <a16:creationId xmlns:a16="http://schemas.microsoft.com/office/drawing/2014/main" id="{4F3833E3-F8FA-4510-AF54-E1B4BF6863DC}"/>
              </a:ext>
            </a:extLst>
          </p:cNvPr>
          <p:cNvSpPr/>
          <p:nvPr/>
        </p:nvSpPr>
        <p:spPr>
          <a:xfrm>
            <a:off x="10112121" y="2336805"/>
            <a:ext cx="413896" cy="400110"/>
          </a:xfrm>
          <a:prstGeom prst="rect">
            <a:avLst/>
          </a:prstGeom>
        </p:spPr>
        <p:txBody>
          <a:bodyPr wrap="none">
            <a:spAutoFit/>
          </a:bodyPr>
          <a:lstStyle/>
          <a:p>
            <a:pPr algn="ctr" rtl="1"/>
            <a:r>
              <a:rPr lang="en-US" sz="2000" b="1" dirty="0">
                <a:solidFill>
                  <a:srgbClr val="E75258"/>
                </a:solidFill>
              </a:rPr>
              <a:t>BI</a:t>
            </a:r>
            <a:endParaRPr lang="he-IL" sz="2000" b="1" dirty="0">
              <a:solidFill>
                <a:srgbClr val="E75258"/>
              </a:solidFill>
            </a:endParaRPr>
          </a:p>
        </p:txBody>
      </p:sp>
      <p:sp>
        <p:nvSpPr>
          <p:cNvPr id="80" name="Rounded Rectangle 111">
            <a:extLst>
              <a:ext uri="{FF2B5EF4-FFF2-40B4-BE49-F238E27FC236}">
                <a16:creationId xmlns:a16="http://schemas.microsoft.com/office/drawing/2014/main" id="{72D124BC-149F-4A9A-8683-40AA9FC3F812}"/>
              </a:ext>
            </a:extLst>
          </p:cNvPr>
          <p:cNvSpPr/>
          <p:nvPr/>
        </p:nvSpPr>
        <p:spPr>
          <a:xfrm>
            <a:off x="8799209" y="3116639"/>
            <a:ext cx="3052638" cy="2918401"/>
          </a:xfrm>
          <a:prstGeom prst="roundRect">
            <a:avLst>
              <a:gd name="adj" fmla="val 5098"/>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800" b="1">
                <a:latin typeface="Montserrat" panose="02000505000000020004" pitchFamily="2" charset="0"/>
              </a:rPr>
              <a:t>Statistics and insights</a:t>
            </a:r>
            <a:endParaRPr lang="en-US" sz="1800" b="1" dirty="0">
              <a:latin typeface="Montserrat" panose="02000505000000020004" pitchFamily="2" charset="0"/>
            </a:endParaRPr>
          </a:p>
        </p:txBody>
      </p:sp>
      <p:sp>
        <p:nvSpPr>
          <p:cNvPr id="81" name="Rounded Rectangle 103">
            <a:extLst>
              <a:ext uri="{FF2B5EF4-FFF2-40B4-BE49-F238E27FC236}">
                <a16:creationId xmlns:a16="http://schemas.microsoft.com/office/drawing/2014/main" id="{1FF5D8AA-39C6-4BB3-AADB-358B7E2C5C51}"/>
              </a:ext>
            </a:extLst>
          </p:cNvPr>
          <p:cNvSpPr/>
          <p:nvPr/>
        </p:nvSpPr>
        <p:spPr>
          <a:xfrm>
            <a:off x="8787171" y="3124235"/>
            <a:ext cx="3064675" cy="866449"/>
          </a:xfrm>
          <a:prstGeom prst="roundRect">
            <a:avLst/>
          </a:prstGeom>
          <a:noFill/>
          <a:ln w="28575">
            <a:solidFill>
              <a:srgbClr val="E7525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 name="Rectangle 82">
            <a:extLst>
              <a:ext uri="{FF2B5EF4-FFF2-40B4-BE49-F238E27FC236}">
                <a16:creationId xmlns:a16="http://schemas.microsoft.com/office/drawing/2014/main" id="{1E7FC450-C5B4-4C1B-A6B4-30A323BCA393}"/>
              </a:ext>
            </a:extLst>
          </p:cNvPr>
          <p:cNvSpPr/>
          <p:nvPr/>
        </p:nvSpPr>
        <p:spPr>
          <a:xfrm>
            <a:off x="8719627" y="3723748"/>
            <a:ext cx="3168886" cy="33350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 name="Oval 83">
            <a:extLst>
              <a:ext uri="{FF2B5EF4-FFF2-40B4-BE49-F238E27FC236}">
                <a16:creationId xmlns:a16="http://schemas.microsoft.com/office/drawing/2014/main" id="{1587DD6A-A4F0-4E5B-9E05-55E894A56222}"/>
              </a:ext>
            </a:extLst>
          </p:cNvPr>
          <p:cNvSpPr>
            <a:spLocks noChangeAspect="1"/>
          </p:cNvSpPr>
          <p:nvPr/>
        </p:nvSpPr>
        <p:spPr>
          <a:xfrm>
            <a:off x="11767286" y="3571540"/>
            <a:ext cx="163507" cy="156853"/>
          </a:xfrm>
          <a:prstGeom prst="ellipse">
            <a:avLst/>
          </a:prstGeom>
          <a:solidFill>
            <a:srgbClr val="E752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Oval 84">
            <a:extLst>
              <a:ext uri="{FF2B5EF4-FFF2-40B4-BE49-F238E27FC236}">
                <a16:creationId xmlns:a16="http://schemas.microsoft.com/office/drawing/2014/main" id="{59B39739-072E-4F9B-9B2B-CA40348686F5}"/>
              </a:ext>
            </a:extLst>
          </p:cNvPr>
          <p:cNvSpPr>
            <a:spLocks noChangeAspect="1"/>
          </p:cNvSpPr>
          <p:nvPr/>
        </p:nvSpPr>
        <p:spPr>
          <a:xfrm>
            <a:off x="8707345" y="3571540"/>
            <a:ext cx="163507" cy="156853"/>
          </a:xfrm>
          <a:prstGeom prst="ellipse">
            <a:avLst/>
          </a:prstGeom>
          <a:solidFill>
            <a:srgbClr val="E752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0" name="Isosceles Triangle 89">
            <a:extLst>
              <a:ext uri="{FF2B5EF4-FFF2-40B4-BE49-F238E27FC236}">
                <a16:creationId xmlns:a16="http://schemas.microsoft.com/office/drawing/2014/main" id="{89BAA0F4-97C1-4925-9C07-55643C4DDF84}"/>
              </a:ext>
            </a:extLst>
          </p:cNvPr>
          <p:cNvSpPr/>
          <p:nvPr/>
        </p:nvSpPr>
        <p:spPr>
          <a:xfrm>
            <a:off x="10093236" y="2855261"/>
            <a:ext cx="452544" cy="256287"/>
          </a:xfrm>
          <a:prstGeom prst="triangle">
            <a:avLst/>
          </a:prstGeom>
          <a:solidFill>
            <a:schemeClr val="bg1"/>
          </a:solidFill>
          <a:ln w="38100">
            <a:solidFill>
              <a:srgbClr val="E7525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 name="Isosceles Triangle 90">
            <a:extLst>
              <a:ext uri="{FF2B5EF4-FFF2-40B4-BE49-F238E27FC236}">
                <a16:creationId xmlns:a16="http://schemas.microsoft.com/office/drawing/2014/main" id="{5F670EAC-AEEB-4EB1-9CD4-24F7BF488550}"/>
              </a:ext>
            </a:extLst>
          </p:cNvPr>
          <p:cNvSpPr/>
          <p:nvPr/>
        </p:nvSpPr>
        <p:spPr>
          <a:xfrm>
            <a:off x="10093236" y="2907751"/>
            <a:ext cx="452544" cy="256287"/>
          </a:xfrm>
          <a:prstGeom prst="triangle">
            <a:avLst/>
          </a:prstGeom>
          <a:solidFill>
            <a:schemeClr val="bg1"/>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2" name="Oval 91">
            <a:extLst>
              <a:ext uri="{FF2B5EF4-FFF2-40B4-BE49-F238E27FC236}">
                <a16:creationId xmlns:a16="http://schemas.microsoft.com/office/drawing/2014/main" id="{0F9EC0F9-2623-4033-BC57-83D9039F1ABF}"/>
              </a:ext>
            </a:extLst>
          </p:cNvPr>
          <p:cNvSpPr>
            <a:spLocks noChangeAspect="1"/>
          </p:cNvSpPr>
          <p:nvPr/>
        </p:nvSpPr>
        <p:spPr>
          <a:xfrm>
            <a:off x="11767286" y="3907491"/>
            <a:ext cx="163507" cy="156853"/>
          </a:xfrm>
          <a:prstGeom prst="ellipse">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3" name="Oval 92">
            <a:extLst>
              <a:ext uri="{FF2B5EF4-FFF2-40B4-BE49-F238E27FC236}">
                <a16:creationId xmlns:a16="http://schemas.microsoft.com/office/drawing/2014/main" id="{F8874432-6671-4C02-B7FB-25664CBE0AB6}"/>
              </a:ext>
            </a:extLst>
          </p:cNvPr>
          <p:cNvSpPr>
            <a:spLocks noChangeAspect="1"/>
          </p:cNvSpPr>
          <p:nvPr/>
        </p:nvSpPr>
        <p:spPr>
          <a:xfrm>
            <a:off x="8715117" y="3907650"/>
            <a:ext cx="163507" cy="156853"/>
          </a:xfrm>
          <a:prstGeom prst="ellipse">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 name="Isosceles Triangle 94"/>
          <p:cNvSpPr/>
          <p:nvPr/>
        </p:nvSpPr>
        <p:spPr>
          <a:xfrm rot="5400000">
            <a:off x="3700430" y="4407491"/>
            <a:ext cx="813128" cy="468967"/>
          </a:xfrm>
          <a:prstGeom prst="triangle">
            <a:avLst/>
          </a:prstGeom>
          <a:solidFill>
            <a:srgbClr val="5EC5C5">
              <a:alpha val="3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Isosceles Triangle 95"/>
          <p:cNvSpPr/>
          <p:nvPr/>
        </p:nvSpPr>
        <p:spPr>
          <a:xfrm rot="5400000">
            <a:off x="7841813" y="4429849"/>
            <a:ext cx="813128" cy="468967"/>
          </a:xfrm>
          <a:prstGeom prst="triangle">
            <a:avLst/>
          </a:prstGeom>
          <a:solidFill>
            <a:srgbClr val="1F1C30">
              <a:alpha val="3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7" name="Group 96"/>
          <p:cNvGrpSpPr/>
          <p:nvPr/>
        </p:nvGrpSpPr>
        <p:grpSpPr>
          <a:xfrm>
            <a:off x="1719558" y="1604372"/>
            <a:ext cx="633488" cy="633490"/>
            <a:chOff x="1726017" y="1843426"/>
            <a:chExt cx="633488" cy="633490"/>
          </a:xfrm>
        </p:grpSpPr>
        <p:sp>
          <p:nvSpPr>
            <p:cNvPr id="98" name="Oval 97"/>
            <p:cNvSpPr/>
            <p:nvPr/>
          </p:nvSpPr>
          <p:spPr>
            <a:xfrm>
              <a:off x="1726017" y="1843426"/>
              <a:ext cx="633488" cy="633490"/>
            </a:xfrm>
            <a:prstGeom prst="ellipse">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rgbClr val="0098DA"/>
                </a:solidFill>
              </a:endParaRPr>
            </a:p>
          </p:txBody>
        </p:sp>
        <p:sp>
          <p:nvSpPr>
            <p:cNvPr id="99" name="Oval 98"/>
            <p:cNvSpPr/>
            <p:nvPr/>
          </p:nvSpPr>
          <p:spPr>
            <a:xfrm>
              <a:off x="1849195" y="1968166"/>
              <a:ext cx="387132" cy="387133"/>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b="1" dirty="0">
                <a:solidFill>
                  <a:srgbClr val="0098DA"/>
                </a:solidFill>
                <a:latin typeface="+mj-lt"/>
              </a:endParaRPr>
            </a:p>
          </p:txBody>
        </p:sp>
        <p:sp>
          <p:nvSpPr>
            <p:cNvPr id="100" name="Block Arc 99"/>
            <p:cNvSpPr/>
            <p:nvPr/>
          </p:nvSpPr>
          <p:spPr>
            <a:xfrm rot="5918100">
              <a:off x="1754971" y="1872382"/>
              <a:ext cx="575580" cy="575579"/>
            </a:xfrm>
            <a:prstGeom prst="blockArc">
              <a:avLst>
                <a:gd name="adj1" fmla="val 10800000"/>
                <a:gd name="adj2" fmla="val 16085249"/>
                <a:gd name="adj3" fmla="val 10115"/>
              </a:avLst>
            </a:prstGeom>
            <a:solidFill>
              <a:srgbClr val="5EC5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rgbClr val="0098DA"/>
                </a:solidFill>
              </a:endParaRPr>
            </a:p>
          </p:txBody>
        </p:sp>
      </p:grpSp>
      <p:grpSp>
        <p:nvGrpSpPr>
          <p:cNvPr id="101" name="Group 100"/>
          <p:cNvGrpSpPr/>
          <p:nvPr/>
        </p:nvGrpSpPr>
        <p:grpSpPr>
          <a:xfrm>
            <a:off x="5860942" y="1604372"/>
            <a:ext cx="633488" cy="633490"/>
            <a:chOff x="5860942" y="1843426"/>
            <a:chExt cx="633488" cy="633490"/>
          </a:xfrm>
        </p:grpSpPr>
        <p:sp>
          <p:nvSpPr>
            <p:cNvPr id="102" name="Oval 101"/>
            <p:cNvSpPr/>
            <p:nvPr/>
          </p:nvSpPr>
          <p:spPr>
            <a:xfrm>
              <a:off x="5860942" y="1843426"/>
              <a:ext cx="633488" cy="633490"/>
            </a:xfrm>
            <a:prstGeom prst="ellipse">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rgbClr val="0098DA"/>
                </a:solidFill>
              </a:endParaRPr>
            </a:p>
          </p:txBody>
        </p:sp>
        <p:sp>
          <p:nvSpPr>
            <p:cNvPr id="103" name="Oval 102"/>
            <p:cNvSpPr/>
            <p:nvPr/>
          </p:nvSpPr>
          <p:spPr>
            <a:xfrm>
              <a:off x="5984120" y="1968166"/>
              <a:ext cx="387132" cy="387133"/>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b="1" dirty="0">
                <a:solidFill>
                  <a:srgbClr val="0098DA"/>
                </a:solidFill>
                <a:latin typeface="+mj-lt"/>
              </a:endParaRPr>
            </a:p>
          </p:txBody>
        </p:sp>
        <p:sp>
          <p:nvSpPr>
            <p:cNvPr id="104" name="Block Arc 103"/>
            <p:cNvSpPr/>
            <p:nvPr/>
          </p:nvSpPr>
          <p:spPr>
            <a:xfrm rot="5918100">
              <a:off x="5889896" y="1872382"/>
              <a:ext cx="575580" cy="575579"/>
            </a:xfrm>
            <a:prstGeom prst="blockArc">
              <a:avLst>
                <a:gd name="adj1" fmla="val 10800000"/>
                <a:gd name="adj2" fmla="val 16085249"/>
                <a:gd name="adj3" fmla="val 10115"/>
              </a:avLst>
            </a:prstGeom>
            <a:solidFill>
              <a:srgbClr val="1F1C3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rgbClr val="0098DA"/>
                </a:solidFill>
              </a:endParaRPr>
            </a:p>
          </p:txBody>
        </p:sp>
      </p:grpSp>
      <p:grpSp>
        <p:nvGrpSpPr>
          <p:cNvPr id="105" name="Group 104"/>
          <p:cNvGrpSpPr/>
          <p:nvPr/>
        </p:nvGrpSpPr>
        <p:grpSpPr>
          <a:xfrm>
            <a:off x="10008784" y="1604372"/>
            <a:ext cx="633488" cy="633490"/>
            <a:chOff x="10008784" y="1843426"/>
            <a:chExt cx="633488" cy="633490"/>
          </a:xfrm>
        </p:grpSpPr>
        <p:sp>
          <p:nvSpPr>
            <p:cNvPr id="106" name="Oval 105"/>
            <p:cNvSpPr/>
            <p:nvPr/>
          </p:nvSpPr>
          <p:spPr>
            <a:xfrm>
              <a:off x="10008784" y="1843426"/>
              <a:ext cx="633488" cy="633490"/>
            </a:xfrm>
            <a:prstGeom prst="ellipse">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rgbClr val="0098DA"/>
                </a:solidFill>
              </a:endParaRPr>
            </a:p>
          </p:txBody>
        </p:sp>
        <p:sp>
          <p:nvSpPr>
            <p:cNvPr id="107" name="Oval 106"/>
            <p:cNvSpPr/>
            <p:nvPr/>
          </p:nvSpPr>
          <p:spPr>
            <a:xfrm>
              <a:off x="10131962" y="1968166"/>
              <a:ext cx="387132" cy="387133"/>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b="1" dirty="0">
                <a:solidFill>
                  <a:srgbClr val="0098DA"/>
                </a:solidFill>
                <a:latin typeface="+mj-lt"/>
              </a:endParaRPr>
            </a:p>
          </p:txBody>
        </p:sp>
        <p:sp>
          <p:nvSpPr>
            <p:cNvPr id="108" name="Block Arc 107"/>
            <p:cNvSpPr/>
            <p:nvPr/>
          </p:nvSpPr>
          <p:spPr>
            <a:xfrm rot="5918100">
              <a:off x="10037738" y="1872382"/>
              <a:ext cx="575580" cy="575579"/>
            </a:xfrm>
            <a:prstGeom prst="blockArc">
              <a:avLst>
                <a:gd name="adj1" fmla="val 10800000"/>
                <a:gd name="adj2" fmla="val 16085249"/>
                <a:gd name="adj3" fmla="val 10115"/>
              </a:avLst>
            </a:prstGeom>
            <a:solidFill>
              <a:srgbClr val="E752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rgbClr val="0098DA"/>
                </a:solidFill>
              </a:endParaRPr>
            </a:p>
          </p:txBody>
        </p:sp>
      </p:grpSp>
      <p:pic>
        <p:nvPicPr>
          <p:cNvPr id="109" name="Picture 108"/>
          <p:cNvPicPr>
            <a:picLocks noChangeAspect="1"/>
          </p:cNvPicPr>
          <p:nvPr/>
        </p:nvPicPr>
        <p:blipFill>
          <a:blip r:embed="rId4" cstate="hqprint">
            <a:extLst>
              <a:ext uri="{28A0092B-C50C-407E-A947-70E740481C1C}">
                <a14:useLocalDpi xmlns:a14="http://schemas.microsoft.com/office/drawing/2010/main" val="0"/>
              </a:ext>
            </a:extLst>
          </a:blip>
          <a:stretch>
            <a:fillRect/>
          </a:stretch>
        </p:blipFill>
        <p:spPr>
          <a:xfrm>
            <a:off x="10211228" y="1806817"/>
            <a:ext cx="228600" cy="228600"/>
          </a:xfrm>
          <a:prstGeom prst="rect">
            <a:avLst/>
          </a:prstGeom>
        </p:spPr>
      </p:pic>
      <p:pic>
        <p:nvPicPr>
          <p:cNvPr id="110" name="Picture 109"/>
          <p:cNvPicPr>
            <a:picLocks noChangeAspect="1"/>
          </p:cNvPicPr>
          <p:nvPr/>
        </p:nvPicPr>
        <p:blipFill>
          <a:blip r:embed="rId5" cstate="hqprint">
            <a:extLst>
              <a:ext uri="{28A0092B-C50C-407E-A947-70E740481C1C}">
                <a14:useLocalDpi xmlns:a14="http://schemas.microsoft.com/office/drawing/2010/main" val="0"/>
              </a:ext>
            </a:extLst>
          </a:blip>
          <a:stretch>
            <a:fillRect/>
          </a:stretch>
        </p:blipFill>
        <p:spPr>
          <a:xfrm>
            <a:off x="6063386" y="1806817"/>
            <a:ext cx="228600" cy="228600"/>
          </a:xfrm>
          <a:prstGeom prst="rect">
            <a:avLst/>
          </a:prstGeom>
        </p:spPr>
      </p:pic>
      <p:pic>
        <p:nvPicPr>
          <p:cNvPr id="111" name="Picture 110"/>
          <p:cNvPicPr>
            <a:picLocks noChangeAspect="1"/>
          </p:cNvPicPr>
          <p:nvPr/>
        </p:nvPicPr>
        <p:blipFill>
          <a:blip r:embed="rId6" cstate="hqprint">
            <a:extLst>
              <a:ext uri="{28A0092B-C50C-407E-A947-70E740481C1C}">
                <a14:useLocalDpi xmlns:a14="http://schemas.microsoft.com/office/drawing/2010/main" val="0"/>
              </a:ext>
            </a:extLst>
          </a:blip>
          <a:stretch>
            <a:fillRect/>
          </a:stretch>
        </p:blipFill>
        <p:spPr>
          <a:xfrm>
            <a:off x="1928461" y="1806817"/>
            <a:ext cx="228600" cy="228600"/>
          </a:xfrm>
          <a:prstGeom prst="rect">
            <a:avLst/>
          </a:prstGeom>
        </p:spPr>
      </p:pic>
      <p:pic>
        <p:nvPicPr>
          <p:cNvPr id="112" name="Picture 111"/>
          <p:cNvPicPr>
            <a:picLocks noChangeAspect="1"/>
          </p:cNvPicPr>
          <p:nvPr/>
        </p:nvPicPr>
        <p:blipFill>
          <a:blip r:embed="rId7" cstate="hqprint">
            <a:extLst>
              <a:ext uri="{28A0092B-C50C-407E-A947-70E740481C1C}">
                <a14:useLocalDpi xmlns:a14="http://schemas.microsoft.com/office/drawing/2010/main" val="0"/>
              </a:ext>
            </a:extLst>
          </a:blip>
          <a:stretch>
            <a:fillRect/>
          </a:stretch>
        </p:blipFill>
        <p:spPr>
          <a:xfrm>
            <a:off x="9758981" y="4362450"/>
            <a:ext cx="1133094" cy="1133094"/>
          </a:xfrm>
          <a:prstGeom prst="rect">
            <a:avLst/>
          </a:prstGeom>
        </p:spPr>
      </p:pic>
      <p:sp>
        <p:nvSpPr>
          <p:cNvPr id="113" name="Rectangle 112"/>
          <p:cNvSpPr/>
          <p:nvPr/>
        </p:nvSpPr>
        <p:spPr>
          <a:xfrm>
            <a:off x="9741776" y="4362450"/>
            <a:ext cx="1167504" cy="1176076"/>
          </a:xfrm>
          <a:prstGeom prst="rect">
            <a:avLst/>
          </a:prstGeom>
          <a:solidFill>
            <a:schemeClr val="bg1">
              <a:alpha val="8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TextBox 63">
            <a:extLst>
              <a:ext uri="{FF2B5EF4-FFF2-40B4-BE49-F238E27FC236}">
                <a16:creationId xmlns:a16="http://schemas.microsoft.com/office/drawing/2014/main" id="{55E14C21-6FAB-4EB3-8349-E3387D04CCB4}"/>
              </a:ext>
            </a:extLst>
          </p:cNvPr>
          <p:cNvSpPr txBox="1"/>
          <p:nvPr/>
        </p:nvSpPr>
        <p:spPr>
          <a:xfrm>
            <a:off x="9117135" y="3409141"/>
            <a:ext cx="2416787" cy="830997"/>
          </a:xfrm>
          <a:prstGeom prst="rect">
            <a:avLst/>
          </a:prstGeom>
          <a:noFill/>
        </p:spPr>
        <p:txBody>
          <a:bodyPr wrap="square">
            <a:spAutoFit/>
          </a:bodyPr>
          <a:lstStyle/>
          <a:p>
            <a:pPr marL="342891" indent="-342891" algn="r" rtl="1">
              <a:buAutoNum type="arabicPeriod"/>
            </a:pPr>
            <a:r>
              <a:rPr lang="he-IL" sz="1600" dirty="0" err="1"/>
              <a:t>אדמין</a:t>
            </a:r>
            <a:r>
              <a:rPr lang="he-IL" sz="1600" dirty="0"/>
              <a:t> ספקים</a:t>
            </a:r>
          </a:p>
          <a:p>
            <a:pPr marL="342891" indent="-342891" algn="r" rtl="1">
              <a:buAutoNum type="arabicPeriod"/>
            </a:pPr>
            <a:r>
              <a:rPr lang="he-IL" sz="1600" dirty="0" err="1"/>
              <a:t>אדמין</a:t>
            </a:r>
            <a:r>
              <a:rPr lang="he-IL" sz="1600" dirty="0"/>
              <a:t> מנהלי </a:t>
            </a:r>
            <a:r>
              <a:rPr lang="he-IL" sz="1600" dirty="0" err="1"/>
              <a:t>תיקצוב</a:t>
            </a:r>
            <a:r>
              <a:rPr lang="he-IL" sz="1600" dirty="0"/>
              <a:t> אישי</a:t>
            </a:r>
          </a:p>
        </p:txBody>
      </p:sp>
    </p:spTree>
    <p:extLst>
      <p:ext uri="{BB962C8B-B14F-4D97-AF65-F5344CB8AC3E}">
        <p14:creationId xmlns:p14="http://schemas.microsoft.com/office/powerpoint/2010/main" val="316420971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Freeform 24">
            <a:extLst>
              <a:ext uri="{FF2B5EF4-FFF2-40B4-BE49-F238E27FC236}">
                <a16:creationId xmlns:a16="http://schemas.microsoft.com/office/drawing/2014/main" id="{2C22AEE5-4A32-4D4A-833D-3547600AD1D0}"/>
              </a:ext>
            </a:extLst>
          </p:cNvPr>
          <p:cNvSpPr>
            <a:spLocks noChangeAspect="1"/>
          </p:cNvSpPr>
          <p:nvPr/>
        </p:nvSpPr>
        <p:spPr>
          <a:xfrm flipH="1">
            <a:off x="-1" y="2267211"/>
            <a:ext cx="3841257" cy="4515633"/>
          </a:xfrm>
          <a:custGeom>
            <a:avLst/>
            <a:gdLst>
              <a:gd name="connsiteX0" fmla="*/ 3369564 w 4567160"/>
              <a:gd name="connsiteY0" fmla="*/ 0 h 5810195"/>
              <a:gd name="connsiteX1" fmla="*/ 4528133 w 4567160"/>
              <a:gd name="connsiteY1" fmla="*/ 204742 h 5810195"/>
              <a:gd name="connsiteX2" fmla="*/ 4567160 w 4567160"/>
              <a:gd name="connsiteY2" fmla="*/ 220150 h 5810195"/>
              <a:gd name="connsiteX3" fmla="*/ 4567160 w 4567160"/>
              <a:gd name="connsiteY3" fmla="*/ 5810195 h 5810195"/>
              <a:gd name="connsiteX4" fmla="*/ 1042064 w 4567160"/>
              <a:gd name="connsiteY4" fmla="*/ 5810195 h 5810195"/>
              <a:gd name="connsiteX5" fmla="*/ 986922 w 4567160"/>
              <a:gd name="connsiteY5" fmla="*/ 5760011 h 5810195"/>
              <a:gd name="connsiteX6" fmla="*/ 0 w 4567160"/>
              <a:gd name="connsiteY6" fmla="*/ 3374136 h 5810195"/>
              <a:gd name="connsiteX7" fmla="*/ 3369564 w 4567160"/>
              <a:gd name="connsiteY7" fmla="*/ 0 h 58101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567160" h="5810195">
                <a:moveTo>
                  <a:pt x="3369564" y="0"/>
                </a:moveTo>
                <a:cubicBezTo>
                  <a:pt x="3776649" y="0"/>
                  <a:pt x="4166873" y="72287"/>
                  <a:pt x="4528133" y="204742"/>
                </a:cubicBezTo>
                <a:lnTo>
                  <a:pt x="4567160" y="220150"/>
                </a:lnTo>
                <a:lnTo>
                  <a:pt x="4567160" y="5810195"/>
                </a:lnTo>
                <a:lnTo>
                  <a:pt x="1042064" y="5810195"/>
                </a:lnTo>
                <a:lnTo>
                  <a:pt x="986922" y="5760011"/>
                </a:lnTo>
                <a:cubicBezTo>
                  <a:pt x="377152" y="5149412"/>
                  <a:pt x="0" y="4305878"/>
                  <a:pt x="0" y="3374136"/>
                </a:cubicBezTo>
                <a:cubicBezTo>
                  <a:pt x="0" y="1510652"/>
                  <a:pt x="1508605" y="0"/>
                  <a:pt x="3369564" y="0"/>
                </a:cubicBezTo>
                <a:close/>
              </a:path>
            </a:pathLst>
          </a:custGeom>
          <a:solidFill>
            <a:srgbClr val="5EC5C5">
              <a:alpha val="4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prstClr val="white"/>
              </a:solidFill>
            </a:endParaRPr>
          </a:p>
        </p:txBody>
      </p:sp>
      <p:sp>
        <p:nvSpPr>
          <p:cNvPr id="4" name="TextBox 3">
            <a:extLst>
              <a:ext uri="{FF2B5EF4-FFF2-40B4-BE49-F238E27FC236}">
                <a16:creationId xmlns:a16="http://schemas.microsoft.com/office/drawing/2014/main" id="{57E93C5B-474E-C16C-9E04-7B918D537219}"/>
              </a:ext>
            </a:extLst>
          </p:cNvPr>
          <p:cNvSpPr txBox="1"/>
          <p:nvPr/>
        </p:nvSpPr>
        <p:spPr>
          <a:xfrm>
            <a:off x="580505" y="1678723"/>
            <a:ext cx="11030989" cy="5027017"/>
          </a:xfrm>
          <a:prstGeom prst="rect">
            <a:avLst/>
          </a:prstGeom>
          <a:noFill/>
        </p:spPr>
        <p:txBody>
          <a:bodyPr wrap="square">
            <a:spAutoFit/>
          </a:bodyPr>
          <a:lstStyle/>
          <a:p>
            <a:pPr marL="342891" indent="-342891" algn="r" rtl="1">
              <a:lnSpc>
                <a:spcPct val="150000"/>
              </a:lnSpc>
              <a:buFont typeface="+mj-lt"/>
              <a:buAutoNum type="arabicPeriod"/>
            </a:pPr>
            <a:r>
              <a:rPr lang="he-IL" b="1" dirty="0">
                <a:latin typeface="Calibri" panose="020F0502020204030204" pitchFamily="34" charset="0"/>
                <a:ea typeface="Calibri" panose="020F0502020204030204" pitchFamily="34" charset="0"/>
                <a:cs typeface="Arial" panose="020B0604020202020204" pitchFamily="34" charset="0"/>
              </a:rPr>
              <a:t>איזה שירותים מכניסים לסל? מה לא מכניסים? </a:t>
            </a:r>
          </a:p>
          <a:p>
            <a:pPr marL="342891" indent="-342891" algn="r" rtl="1">
              <a:lnSpc>
                <a:spcPct val="150000"/>
              </a:lnSpc>
              <a:buFont typeface="+mj-lt"/>
              <a:buAutoNum type="arabicPeriod"/>
            </a:pPr>
            <a:r>
              <a:rPr lang="he-IL" b="1" dirty="0">
                <a:latin typeface="Calibri" panose="020F0502020204030204" pitchFamily="34" charset="0"/>
                <a:ea typeface="Calibri" panose="020F0502020204030204" pitchFamily="34" charset="0"/>
                <a:cs typeface="Arial" panose="020B0604020202020204" pitchFamily="34" charset="0"/>
              </a:rPr>
              <a:t>גבולות גזרה מרחיבים או צרים?</a:t>
            </a:r>
          </a:p>
          <a:p>
            <a:pPr marL="342891" indent="-342891">
              <a:lnSpc>
                <a:spcPct val="150000"/>
              </a:lnSpc>
              <a:buFont typeface="+mj-lt"/>
              <a:buAutoNum type="arabicPeriod"/>
            </a:pPr>
            <a:r>
              <a:rPr lang="he-IL" b="1" dirty="0">
                <a:latin typeface="Calibri" panose="020F0502020204030204" pitchFamily="34" charset="0"/>
                <a:ea typeface="Calibri" panose="020F0502020204030204" pitchFamily="34" charset="0"/>
                <a:cs typeface="Arial" panose="020B0604020202020204" pitchFamily="34" charset="0"/>
              </a:rPr>
              <a:t>איזה תיעדוף נותנים באלגוריתם?</a:t>
            </a:r>
            <a:r>
              <a:rPr lang="he-IL" b="1" dirty="0">
                <a:latin typeface="Calibri" panose="020F0502020204030204" pitchFamily="34" charset="0"/>
                <a:ea typeface="Calibri" panose="020F0502020204030204" pitchFamily="34" charset="0"/>
              </a:rPr>
              <a:t> </a:t>
            </a:r>
          </a:p>
          <a:p>
            <a:pPr marL="342891" indent="-342891">
              <a:lnSpc>
                <a:spcPct val="150000"/>
              </a:lnSpc>
              <a:buFont typeface="+mj-lt"/>
              <a:buAutoNum type="arabicPeriod"/>
            </a:pPr>
            <a:r>
              <a:rPr lang="he-IL" b="1" dirty="0">
                <a:latin typeface="Calibri" panose="020F0502020204030204" pitchFamily="34" charset="0"/>
                <a:ea typeface="Calibri" panose="020F0502020204030204" pitchFamily="34" charset="0"/>
              </a:rPr>
              <a:t>איך שומרים מניצול לרעה?</a:t>
            </a:r>
          </a:p>
          <a:p>
            <a:pPr marL="342891" indent="-342891" algn="r" rtl="1">
              <a:lnSpc>
                <a:spcPct val="150000"/>
              </a:lnSpc>
              <a:buFont typeface="+mj-lt"/>
              <a:buAutoNum type="arabicPeriod"/>
            </a:pPr>
            <a:r>
              <a:rPr lang="he-IL" b="1" dirty="0">
                <a:latin typeface="Calibri" panose="020F0502020204030204" pitchFamily="34" charset="0"/>
                <a:ea typeface="Calibri" panose="020F0502020204030204" pitchFamily="34" charset="0"/>
                <a:cs typeface="Arial" panose="020B0604020202020204" pitchFamily="34" charset="0"/>
              </a:rPr>
              <a:t>מה תפקיד הרשות המקומית ואחריותה- תפקיד הרווחה, ביטוח לאומי, קופ"ח ובריאות?</a:t>
            </a:r>
          </a:p>
          <a:p>
            <a:pPr marL="342891" indent="-342891" algn="r" rtl="1">
              <a:lnSpc>
                <a:spcPct val="150000"/>
              </a:lnSpc>
              <a:buFont typeface="+mj-lt"/>
              <a:buAutoNum type="arabicPeriod"/>
            </a:pPr>
            <a:r>
              <a:rPr lang="he-IL" b="1" dirty="0">
                <a:latin typeface="Calibri" panose="020F0502020204030204" pitchFamily="34" charset="0"/>
                <a:ea typeface="Calibri" panose="020F0502020204030204" pitchFamily="34" charset="0"/>
                <a:cs typeface="Arial" panose="020B0604020202020204" pitchFamily="34" charset="0"/>
              </a:rPr>
              <a:t>איך מבצעים מדידה ובוחנים דחיקת תלות? </a:t>
            </a:r>
          </a:p>
          <a:p>
            <a:pPr marL="342891" indent="-342891" algn="r" rtl="1">
              <a:lnSpc>
                <a:spcPct val="150000"/>
              </a:lnSpc>
              <a:buFont typeface="+mj-lt"/>
              <a:buAutoNum type="arabicPeriod"/>
            </a:pPr>
            <a:r>
              <a:rPr lang="he-IL" b="1" dirty="0">
                <a:latin typeface="Calibri" panose="020F0502020204030204" pitchFamily="34" charset="0"/>
                <a:ea typeface="Calibri" panose="020F0502020204030204" pitchFamily="34" charset="0"/>
                <a:cs typeface="Arial" panose="020B0604020202020204" pitchFamily="34" charset="0"/>
              </a:rPr>
              <a:t>איך מנגישים ללקוח הלא דיגיטלי? מי הגורם שנמצא מולו ומחבר אותו לשירותים?</a:t>
            </a:r>
          </a:p>
          <a:p>
            <a:pPr marL="342891" indent="-342891" algn="r" rtl="1">
              <a:lnSpc>
                <a:spcPct val="150000"/>
              </a:lnSpc>
              <a:buFont typeface="+mj-lt"/>
              <a:buAutoNum type="arabicPeriod"/>
            </a:pPr>
            <a:r>
              <a:rPr lang="he-IL" b="1" dirty="0">
                <a:latin typeface="Calibri" panose="020F0502020204030204" pitchFamily="34" charset="0"/>
                <a:ea typeface="Calibri" panose="020F0502020204030204" pitchFamily="34" charset="0"/>
                <a:cs typeface="Arial" panose="020B0604020202020204" pitchFamily="34" charset="0"/>
              </a:rPr>
              <a:t>איך מעבירים את המידע הרלוונטי בין מערכות ועדיין שומרים על פרטיות הלקוח?</a:t>
            </a:r>
          </a:p>
          <a:p>
            <a:pPr marL="342891" indent="-342891" algn="r" rtl="1">
              <a:lnSpc>
                <a:spcPct val="150000"/>
              </a:lnSpc>
              <a:buFont typeface="+mj-lt"/>
              <a:buAutoNum type="arabicPeriod"/>
            </a:pPr>
            <a:r>
              <a:rPr lang="he-IL" b="1" dirty="0">
                <a:latin typeface="Calibri" panose="020F0502020204030204" pitchFamily="34" charset="0"/>
                <a:ea typeface="Calibri" panose="020F0502020204030204" pitchFamily="34" charset="0"/>
                <a:cs typeface="Arial" panose="020B0604020202020204" pitchFamily="34" charset="0"/>
              </a:rPr>
              <a:t>מיפוי מקורות המידע לשירותים בקהילה, לצרכי הלקוח ולרצונותיו?</a:t>
            </a:r>
          </a:p>
          <a:p>
            <a:pPr marL="342891" indent="-342891" algn="r" rtl="1">
              <a:lnSpc>
                <a:spcPct val="150000"/>
              </a:lnSpc>
              <a:buFont typeface="+mj-lt"/>
              <a:buAutoNum type="arabicPeriod"/>
            </a:pPr>
            <a:r>
              <a:rPr lang="he-IL" b="1" dirty="0">
                <a:latin typeface="Calibri" panose="020F0502020204030204" pitchFamily="34" charset="0"/>
                <a:ea typeface="Calibri" panose="020F0502020204030204" pitchFamily="34" charset="0"/>
                <a:cs typeface="Arial" panose="020B0604020202020204" pitchFamily="34" charset="0"/>
              </a:rPr>
              <a:t> איך מודדים את איכות השירות?</a:t>
            </a:r>
          </a:p>
          <a:p>
            <a:pPr marL="342891" indent="-342891">
              <a:lnSpc>
                <a:spcPct val="150000"/>
              </a:lnSpc>
              <a:buFont typeface="+mj-lt"/>
              <a:buAutoNum type="arabicPeriod"/>
            </a:pPr>
            <a:endParaRPr lang="he-IL" b="1" dirty="0">
              <a:latin typeface="Calibri" panose="020F0502020204030204" pitchFamily="34" charset="0"/>
              <a:ea typeface="Calibri" panose="020F0502020204030204" pitchFamily="34" charset="0"/>
            </a:endParaRPr>
          </a:p>
          <a:p>
            <a:pPr marL="342891" indent="-342891" algn="r" rtl="1">
              <a:lnSpc>
                <a:spcPct val="150000"/>
              </a:lnSpc>
              <a:buFont typeface="+mj-lt"/>
              <a:buAutoNum type="arabicPeriod"/>
            </a:pPr>
            <a:endParaRPr lang="he-IL" b="1" dirty="0">
              <a:latin typeface="Calibri" panose="020F0502020204030204" pitchFamily="34" charset="0"/>
              <a:ea typeface="Calibri" panose="020F0502020204030204" pitchFamily="34" charset="0"/>
              <a:cs typeface="Arial" panose="020B0604020202020204" pitchFamily="34" charset="0"/>
            </a:endParaRPr>
          </a:p>
        </p:txBody>
      </p:sp>
      <p:sp>
        <p:nvSpPr>
          <p:cNvPr id="6" name="Text Placeholder 7">
            <a:extLst>
              <a:ext uri="{FF2B5EF4-FFF2-40B4-BE49-F238E27FC236}">
                <a16:creationId xmlns:a16="http://schemas.microsoft.com/office/drawing/2014/main" id="{6A3A5FF3-B912-8935-CA01-C95668234EEA}"/>
              </a:ext>
            </a:extLst>
          </p:cNvPr>
          <p:cNvSpPr txBox="1">
            <a:spLocks/>
          </p:cNvSpPr>
          <p:nvPr/>
        </p:nvSpPr>
        <p:spPr>
          <a:xfrm>
            <a:off x="869726" y="260961"/>
            <a:ext cx="9384235" cy="592268"/>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he-IL" b="1" dirty="0">
                <a:latin typeface="Calibri" panose="020F0502020204030204" pitchFamily="34" charset="0"/>
                <a:cs typeface="Calibri" panose="020F0502020204030204" pitchFamily="34" charset="0"/>
              </a:rPr>
              <a:t>אתגרים בחשיבה</a:t>
            </a:r>
          </a:p>
          <a:p>
            <a:pPr marL="0" indent="0" algn="ctr">
              <a:buNone/>
            </a:pPr>
            <a:r>
              <a:rPr lang="he-IL" b="1" dirty="0">
                <a:latin typeface="Calibri" panose="020F0502020204030204" pitchFamily="34" charset="0"/>
                <a:cs typeface="Calibri" panose="020F0502020204030204" pitchFamily="34" charset="0"/>
              </a:rPr>
              <a:t>סל אישי מותאם לאזרח הוותיק</a:t>
            </a:r>
            <a:endParaRPr lang="en-US" b="1" dirty="0">
              <a:latin typeface="Calibri" panose="020F0502020204030204" pitchFamily="34" charset="0"/>
              <a:cs typeface="Calibri" panose="020F0502020204030204" pitchFamily="34" charset="0"/>
            </a:endParaRPr>
          </a:p>
        </p:txBody>
      </p:sp>
      <p:sp>
        <p:nvSpPr>
          <p:cNvPr id="5" name="מלבן 4">
            <a:extLst>
              <a:ext uri="{FF2B5EF4-FFF2-40B4-BE49-F238E27FC236}">
                <a16:creationId xmlns:a16="http://schemas.microsoft.com/office/drawing/2014/main" id="{54057300-EDF1-A0EC-BE20-761C3CE83349}"/>
              </a:ext>
            </a:extLst>
          </p:cNvPr>
          <p:cNvSpPr/>
          <p:nvPr/>
        </p:nvSpPr>
        <p:spPr>
          <a:xfrm>
            <a:off x="9805851" y="260961"/>
            <a:ext cx="2142309" cy="810193"/>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spTree>
    <p:extLst>
      <p:ext uri="{BB962C8B-B14F-4D97-AF65-F5344CB8AC3E}">
        <p14:creationId xmlns:p14="http://schemas.microsoft.com/office/powerpoint/2010/main" val="320766757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Freeform 24">
            <a:extLst>
              <a:ext uri="{FF2B5EF4-FFF2-40B4-BE49-F238E27FC236}">
                <a16:creationId xmlns:a16="http://schemas.microsoft.com/office/drawing/2014/main" id="{2C22AEE5-4A32-4D4A-833D-3547600AD1D0}"/>
              </a:ext>
            </a:extLst>
          </p:cNvPr>
          <p:cNvSpPr>
            <a:spLocks noChangeAspect="1"/>
          </p:cNvSpPr>
          <p:nvPr/>
        </p:nvSpPr>
        <p:spPr>
          <a:xfrm flipH="1">
            <a:off x="-1" y="2267211"/>
            <a:ext cx="3841257" cy="4515633"/>
          </a:xfrm>
          <a:custGeom>
            <a:avLst/>
            <a:gdLst>
              <a:gd name="connsiteX0" fmla="*/ 3369564 w 4567160"/>
              <a:gd name="connsiteY0" fmla="*/ 0 h 5810195"/>
              <a:gd name="connsiteX1" fmla="*/ 4528133 w 4567160"/>
              <a:gd name="connsiteY1" fmla="*/ 204742 h 5810195"/>
              <a:gd name="connsiteX2" fmla="*/ 4567160 w 4567160"/>
              <a:gd name="connsiteY2" fmla="*/ 220150 h 5810195"/>
              <a:gd name="connsiteX3" fmla="*/ 4567160 w 4567160"/>
              <a:gd name="connsiteY3" fmla="*/ 5810195 h 5810195"/>
              <a:gd name="connsiteX4" fmla="*/ 1042064 w 4567160"/>
              <a:gd name="connsiteY4" fmla="*/ 5810195 h 5810195"/>
              <a:gd name="connsiteX5" fmla="*/ 986922 w 4567160"/>
              <a:gd name="connsiteY5" fmla="*/ 5760011 h 5810195"/>
              <a:gd name="connsiteX6" fmla="*/ 0 w 4567160"/>
              <a:gd name="connsiteY6" fmla="*/ 3374136 h 5810195"/>
              <a:gd name="connsiteX7" fmla="*/ 3369564 w 4567160"/>
              <a:gd name="connsiteY7" fmla="*/ 0 h 58101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567160" h="5810195">
                <a:moveTo>
                  <a:pt x="3369564" y="0"/>
                </a:moveTo>
                <a:cubicBezTo>
                  <a:pt x="3776649" y="0"/>
                  <a:pt x="4166873" y="72287"/>
                  <a:pt x="4528133" y="204742"/>
                </a:cubicBezTo>
                <a:lnTo>
                  <a:pt x="4567160" y="220150"/>
                </a:lnTo>
                <a:lnTo>
                  <a:pt x="4567160" y="5810195"/>
                </a:lnTo>
                <a:lnTo>
                  <a:pt x="1042064" y="5810195"/>
                </a:lnTo>
                <a:lnTo>
                  <a:pt x="986922" y="5760011"/>
                </a:lnTo>
                <a:cubicBezTo>
                  <a:pt x="377152" y="5149412"/>
                  <a:pt x="0" y="4305878"/>
                  <a:pt x="0" y="3374136"/>
                </a:cubicBezTo>
                <a:cubicBezTo>
                  <a:pt x="0" y="1510652"/>
                  <a:pt x="1508605" y="0"/>
                  <a:pt x="3369564" y="0"/>
                </a:cubicBezTo>
                <a:close/>
              </a:path>
            </a:pathLst>
          </a:custGeom>
          <a:solidFill>
            <a:srgbClr val="5EC5C5">
              <a:alpha val="4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prstClr val="white"/>
              </a:solidFill>
            </a:endParaRPr>
          </a:p>
        </p:txBody>
      </p:sp>
      <p:sp>
        <p:nvSpPr>
          <p:cNvPr id="4" name="TextBox 3">
            <a:extLst>
              <a:ext uri="{FF2B5EF4-FFF2-40B4-BE49-F238E27FC236}">
                <a16:creationId xmlns:a16="http://schemas.microsoft.com/office/drawing/2014/main" id="{57E93C5B-474E-C16C-9E04-7B918D537219}"/>
              </a:ext>
            </a:extLst>
          </p:cNvPr>
          <p:cNvSpPr txBox="1"/>
          <p:nvPr/>
        </p:nvSpPr>
        <p:spPr>
          <a:xfrm>
            <a:off x="580505" y="1678723"/>
            <a:ext cx="11030989" cy="5858014"/>
          </a:xfrm>
          <a:prstGeom prst="rect">
            <a:avLst/>
          </a:prstGeom>
          <a:noFill/>
        </p:spPr>
        <p:txBody>
          <a:bodyPr wrap="square">
            <a:spAutoFit/>
          </a:bodyPr>
          <a:lstStyle/>
          <a:p>
            <a:pPr marL="342891" indent="-342891" algn="r" rtl="1">
              <a:lnSpc>
                <a:spcPct val="150000"/>
              </a:lnSpc>
              <a:buFont typeface="+mj-lt"/>
              <a:buAutoNum type="arabicPeriod"/>
            </a:pPr>
            <a:r>
              <a:rPr lang="he-IL" b="1" dirty="0">
                <a:latin typeface="Calibri" panose="020F0502020204030204" pitchFamily="34" charset="0"/>
                <a:ea typeface="Calibri" panose="020F0502020204030204" pitchFamily="34" charset="0"/>
                <a:cs typeface="Arial" panose="020B0604020202020204" pitchFamily="34" charset="0"/>
              </a:rPr>
              <a:t>מחקר שטח </a:t>
            </a:r>
            <a:r>
              <a:rPr lang="he-IL" dirty="0">
                <a:latin typeface="Calibri" panose="020F0502020204030204" pitchFamily="34" charset="0"/>
                <a:ea typeface="Calibri" panose="020F0502020204030204" pitchFamily="34" charset="0"/>
                <a:cs typeface="Arial" panose="020B0604020202020204" pitchFamily="34" charset="0"/>
              </a:rPr>
              <a:t>עם מקבלי ונותני השירותים- </a:t>
            </a:r>
            <a:r>
              <a:rPr lang="en-US" dirty="0">
                <a:latin typeface="Calibri" panose="020F0502020204030204" pitchFamily="34" charset="0"/>
                <a:ea typeface="Calibri" panose="020F0502020204030204" pitchFamily="34" charset="0"/>
                <a:cs typeface="Arial" panose="020B0604020202020204" pitchFamily="34" charset="0"/>
              </a:rPr>
              <a:t>EY</a:t>
            </a:r>
            <a:r>
              <a:rPr lang="he-IL" dirty="0">
                <a:latin typeface="Calibri" panose="020F0502020204030204" pitchFamily="34" charset="0"/>
                <a:ea typeface="Calibri" panose="020F0502020204030204" pitchFamily="34" charset="0"/>
                <a:cs typeface="Arial" panose="020B0604020202020204" pitchFamily="34" charset="0"/>
              </a:rPr>
              <a:t> עם רווחה </a:t>
            </a:r>
            <a:r>
              <a:rPr lang="he-IL" dirty="0" err="1">
                <a:latin typeface="Calibri" panose="020F0502020204030204" pitchFamily="34" charset="0"/>
                <a:ea typeface="Calibri" panose="020F0502020204030204" pitchFamily="34" charset="0"/>
                <a:cs typeface="Arial" panose="020B0604020202020204" pitchFamily="34" charset="0"/>
              </a:rPr>
              <a:t>ובטלא</a:t>
            </a:r>
            <a:endParaRPr lang="he-IL" dirty="0">
              <a:latin typeface="Calibri" panose="020F0502020204030204" pitchFamily="34" charset="0"/>
              <a:ea typeface="Calibri" panose="020F0502020204030204" pitchFamily="34" charset="0"/>
              <a:cs typeface="Arial" panose="020B0604020202020204" pitchFamily="34" charset="0"/>
            </a:endParaRPr>
          </a:p>
          <a:p>
            <a:pPr marL="342891" indent="-342891">
              <a:lnSpc>
                <a:spcPct val="150000"/>
              </a:lnSpc>
              <a:buFont typeface="+mj-lt"/>
              <a:buAutoNum type="arabicPeriod"/>
            </a:pPr>
            <a:r>
              <a:rPr lang="he-IL" b="1" dirty="0">
                <a:latin typeface="Calibri" panose="020F0502020204030204" pitchFamily="34" charset="0"/>
                <a:ea typeface="Calibri" panose="020F0502020204030204" pitchFamily="34" charset="0"/>
                <a:cs typeface="Arial" panose="020B0604020202020204" pitchFamily="34" charset="0"/>
              </a:rPr>
              <a:t>הגדרת מנגנון העבודה </a:t>
            </a:r>
            <a:r>
              <a:rPr lang="he-IL" dirty="0">
                <a:latin typeface="Calibri" panose="020F0502020204030204" pitchFamily="34" charset="0"/>
                <a:ea typeface="Calibri" panose="020F0502020204030204" pitchFamily="34" charset="0"/>
                <a:cs typeface="Arial" panose="020B0604020202020204" pitchFamily="34" charset="0"/>
              </a:rPr>
              <a:t>המשותף- </a:t>
            </a:r>
            <a:r>
              <a:rPr lang="en-US" dirty="0">
                <a:latin typeface="Calibri" panose="020F0502020204030204" pitchFamily="34" charset="0"/>
                <a:ea typeface="Calibri" panose="020F0502020204030204" pitchFamily="34" charset="0"/>
                <a:cs typeface="Arial" panose="020B0604020202020204" pitchFamily="34" charset="0"/>
              </a:rPr>
              <a:t>EY</a:t>
            </a:r>
            <a:r>
              <a:rPr lang="he-IL" dirty="0">
                <a:latin typeface="Calibri" panose="020F0502020204030204" pitchFamily="34" charset="0"/>
                <a:ea typeface="Calibri" panose="020F0502020204030204" pitchFamily="34" charset="0"/>
                <a:cs typeface="Arial" panose="020B0604020202020204" pitchFamily="34" charset="0"/>
              </a:rPr>
              <a:t> עם רווחה, </a:t>
            </a:r>
            <a:r>
              <a:rPr lang="he-IL" dirty="0" err="1">
                <a:latin typeface="Calibri" panose="020F0502020204030204" pitchFamily="34" charset="0"/>
                <a:ea typeface="Calibri" panose="020F0502020204030204" pitchFamily="34" charset="0"/>
                <a:cs typeface="Arial" panose="020B0604020202020204" pitchFamily="34" charset="0"/>
              </a:rPr>
              <a:t>בטלא</a:t>
            </a:r>
            <a:r>
              <a:rPr lang="he-IL" dirty="0">
                <a:latin typeface="Calibri" panose="020F0502020204030204" pitchFamily="34" charset="0"/>
                <a:ea typeface="Calibri" panose="020F0502020204030204" pitchFamily="34" charset="0"/>
                <a:cs typeface="Arial" panose="020B0604020202020204" pitchFamily="34" charset="0"/>
              </a:rPr>
              <a:t> ובריאות</a:t>
            </a:r>
          </a:p>
          <a:p>
            <a:pPr marL="342891" indent="-342891">
              <a:lnSpc>
                <a:spcPct val="150000"/>
              </a:lnSpc>
              <a:buFont typeface="+mj-lt"/>
              <a:buAutoNum type="arabicPeriod"/>
            </a:pPr>
            <a:r>
              <a:rPr lang="he-IL" b="1" dirty="0">
                <a:latin typeface="Calibri" panose="020F0502020204030204" pitchFamily="34" charset="0"/>
                <a:ea typeface="Calibri" panose="020F0502020204030204" pitchFamily="34" charset="0"/>
              </a:rPr>
              <a:t>נייר מדיניות </a:t>
            </a:r>
            <a:r>
              <a:rPr lang="he-IL" dirty="0">
                <a:latin typeface="Calibri" panose="020F0502020204030204" pitchFamily="34" charset="0"/>
                <a:ea typeface="Calibri" panose="020F0502020204030204" pitchFamily="34" charset="0"/>
              </a:rPr>
              <a:t>משותף על סל תפקוד אישי- רווחה, </a:t>
            </a:r>
            <a:r>
              <a:rPr lang="he-IL" dirty="0" err="1">
                <a:latin typeface="Calibri" panose="020F0502020204030204" pitchFamily="34" charset="0"/>
                <a:ea typeface="Calibri" panose="020F0502020204030204" pitchFamily="34" charset="0"/>
              </a:rPr>
              <a:t>בטל"א</a:t>
            </a:r>
            <a:r>
              <a:rPr lang="he-IL" dirty="0">
                <a:latin typeface="Calibri" panose="020F0502020204030204" pitchFamily="34" charset="0"/>
                <a:ea typeface="Calibri" panose="020F0502020204030204" pitchFamily="34" charset="0"/>
              </a:rPr>
              <a:t> ובריאות</a:t>
            </a:r>
          </a:p>
          <a:p>
            <a:pPr marL="342891" indent="-342891" algn="r" rtl="1">
              <a:lnSpc>
                <a:spcPct val="150000"/>
              </a:lnSpc>
              <a:buFont typeface="+mj-lt"/>
              <a:buAutoNum type="arabicPeriod"/>
            </a:pPr>
            <a:r>
              <a:rPr lang="he-IL" dirty="0" err="1">
                <a:latin typeface="Calibri" panose="020F0502020204030204" pitchFamily="34" charset="0"/>
                <a:ea typeface="Calibri" panose="020F0502020204030204" pitchFamily="34" charset="0"/>
                <a:cs typeface="Arial" panose="020B0604020202020204" pitchFamily="34" charset="0"/>
              </a:rPr>
              <a:t>בנצ'מרק</a:t>
            </a:r>
            <a:r>
              <a:rPr lang="he-IL" dirty="0">
                <a:latin typeface="Calibri" panose="020F0502020204030204" pitchFamily="34" charset="0"/>
                <a:ea typeface="Calibri" panose="020F0502020204030204" pitchFamily="34" charset="0"/>
                <a:cs typeface="Arial" panose="020B0604020202020204" pitchFamily="34" charset="0"/>
              </a:rPr>
              <a:t> </a:t>
            </a:r>
            <a:r>
              <a:rPr lang="he-IL" b="1" dirty="0">
                <a:latin typeface="Calibri" panose="020F0502020204030204" pitchFamily="34" charset="0"/>
                <a:ea typeface="Calibri" panose="020F0502020204030204" pitchFamily="34" charset="0"/>
                <a:cs typeface="Arial" panose="020B0604020202020204" pitchFamily="34" charset="0"/>
              </a:rPr>
              <a:t>סקירת המערכות </a:t>
            </a:r>
            <a:r>
              <a:rPr lang="he-IL" b="1" dirty="0" err="1">
                <a:latin typeface="Calibri" panose="020F0502020204030204" pitchFamily="34" charset="0"/>
                <a:ea typeface="Calibri" panose="020F0502020204030204" pitchFamily="34" charset="0"/>
                <a:cs typeface="Arial" panose="020B0604020202020204" pitchFamily="34" charset="0"/>
              </a:rPr>
              <a:t>ואיפיון</a:t>
            </a:r>
            <a:r>
              <a:rPr lang="he-IL" b="1" dirty="0">
                <a:latin typeface="Calibri" panose="020F0502020204030204" pitchFamily="34" charset="0"/>
                <a:ea typeface="Calibri" panose="020F0502020204030204" pitchFamily="34" charset="0"/>
                <a:cs typeface="Arial" panose="020B0604020202020204" pitchFamily="34" charset="0"/>
              </a:rPr>
              <a:t> </a:t>
            </a:r>
            <a:r>
              <a:rPr lang="he-IL" dirty="0">
                <a:latin typeface="Calibri" panose="020F0502020204030204" pitchFamily="34" charset="0"/>
                <a:ea typeface="Calibri" panose="020F0502020204030204" pitchFamily="34" charset="0"/>
                <a:cs typeface="Arial" panose="020B0604020202020204" pitchFamily="34" charset="0"/>
              </a:rPr>
              <a:t>דרישות- ג'וינט ורווחה</a:t>
            </a:r>
          </a:p>
          <a:p>
            <a:pPr marL="342891" indent="-342891" algn="r" rtl="1">
              <a:lnSpc>
                <a:spcPct val="150000"/>
              </a:lnSpc>
              <a:buFont typeface="+mj-lt"/>
              <a:buAutoNum type="arabicPeriod"/>
            </a:pPr>
            <a:r>
              <a:rPr lang="he-IL" b="1" dirty="0">
                <a:latin typeface="Calibri" panose="020F0502020204030204" pitchFamily="34" charset="0"/>
                <a:ea typeface="Calibri" panose="020F0502020204030204" pitchFamily="34" charset="0"/>
                <a:cs typeface="Arial" panose="020B0604020202020204" pitchFamily="34" charset="0"/>
              </a:rPr>
              <a:t>עבודה על פרופילים ואופטימיזציה </a:t>
            </a:r>
            <a:r>
              <a:rPr lang="he-IL" dirty="0">
                <a:latin typeface="Calibri" panose="020F0502020204030204" pitchFamily="34" charset="0"/>
                <a:ea typeface="Calibri" panose="020F0502020204030204" pitchFamily="34" charset="0"/>
                <a:cs typeface="Arial" panose="020B0604020202020204" pitchFamily="34" charset="0"/>
              </a:rPr>
              <a:t>של צרכים ומענים- רווחה, ג'וינט</a:t>
            </a:r>
          </a:p>
          <a:p>
            <a:pPr marL="342891" indent="-342891">
              <a:lnSpc>
                <a:spcPct val="150000"/>
              </a:lnSpc>
              <a:buFont typeface="+mj-lt"/>
              <a:buAutoNum type="arabicPeriod"/>
            </a:pPr>
            <a:r>
              <a:rPr lang="he-IL" b="1" dirty="0">
                <a:latin typeface="Calibri" panose="020F0502020204030204" pitchFamily="34" charset="0"/>
                <a:ea typeface="Calibri" panose="020F0502020204030204" pitchFamily="34" charset="0"/>
              </a:rPr>
              <a:t>מודל תמריצים- </a:t>
            </a:r>
            <a:r>
              <a:rPr lang="en-US" dirty="0">
                <a:latin typeface="Calibri" panose="020F0502020204030204" pitchFamily="34" charset="0"/>
                <a:ea typeface="Calibri" panose="020F0502020204030204" pitchFamily="34" charset="0"/>
                <a:cs typeface="Arial" panose="020B0604020202020204" pitchFamily="34" charset="0"/>
              </a:rPr>
              <a:t>EY</a:t>
            </a:r>
            <a:endParaRPr lang="he-IL" dirty="0">
              <a:latin typeface="Calibri" panose="020F0502020204030204" pitchFamily="34" charset="0"/>
              <a:ea typeface="Calibri" panose="020F0502020204030204" pitchFamily="34" charset="0"/>
              <a:cs typeface="Arial" panose="020B0604020202020204" pitchFamily="34" charset="0"/>
            </a:endParaRPr>
          </a:p>
          <a:p>
            <a:pPr marL="342891" indent="-342891">
              <a:lnSpc>
                <a:spcPct val="150000"/>
              </a:lnSpc>
              <a:buFont typeface="+mj-lt"/>
              <a:buAutoNum type="arabicPeriod"/>
            </a:pPr>
            <a:r>
              <a:rPr lang="he-IL" b="1" dirty="0" err="1">
                <a:latin typeface="Calibri" panose="020F0502020204030204" pitchFamily="34" charset="0"/>
                <a:ea typeface="Calibri" panose="020F0502020204030204" pitchFamily="34" charset="0"/>
                <a:cs typeface="Arial" panose="020B0604020202020204" pitchFamily="34" charset="0"/>
              </a:rPr>
              <a:t>פיילוטים</a:t>
            </a:r>
            <a:r>
              <a:rPr lang="he-IL" dirty="0">
                <a:latin typeface="Calibri" panose="020F0502020204030204" pitchFamily="34" charset="0"/>
                <a:ea typeface="Calibri" panose="020F0502020204030204" pitchFamily="34" charset="0"/>
                <a:cs typeface="Arial" panose="020B0604020202020204" pitchFamily="34" charset="0"/>
              </a:rPr>
              <a:t> בירושלים ובאשכול מפרץ</a:t>
            </a:r>
            <a:endParaRPr lang="he-IL" dirty="0">
              <a:latin typeface="Calibri" panose="020F0502020204030204" pitchFamily="34" charset="0"/>
              <a:ea typeface="Calibri" panose="020F0502020204030204" pitchFamily="34" charset="0"/>
            </a:endParaRPr>
          </a:p>
          <a:p>
            <a:pPr marL="342891" indent="-342891">
              <a:lnSpc>
                <a:spcPct val="150000"/>
              </a:lnSpc>
              <a:buFont typeface="+mj-lt"/>
              <a:buAutoNum type="arabicPeriod"/>
            </a:pPr>
            <a:r>
              <a:rPr lang="he-IL" b="1" dirty="0">
                <a:latin typeface="Calibri" panose="020F0502020204030204" pitchFamily="34" charset="0"/>
                <a:ea typeface="Calibri" panose="020F0502020204030204" pitchFamily="34" charset="0"/>
              </a:rPr>
              <a:t>צוותים רב מערכתיים משותפים </a:t>
            </a:r>
            <a:r>
              <a:rPr lang="he-IL" dirty="0">
                <a:latin typeface="Calibri" panose="020F0502020204030204" pitchFamily="34" charset="0"/>
                <a:ea typeface="Calibri" panose="020F0502020204030204" pitchFamily="34" charset="0"/>
              </a:rPr>
              <a:t>בפורום ברק:  </a:t>
            </a:r>
          </a:p>
          <a:p>
            <a:pPr marL="285750" indent="-285750" algn="r" rtl="1">
              <a:lnSpc>
                <a:spcPct val="150000"/>
              </a:lnSpc>
              <a:buFont typeface="Arial" panose="020B0604020202020204" pitchFamily="34" charset="0"/>
              <a:buChar char="•"/>
            </a:pPr>
            <a:r>
              <a:rPr lang="he-IL" dirty="0">
                <a:latin typeface="Calibri" panose="020F0502020204030204" pitchFamily="34" charset="0"/>
                <a:ea typeface="Calibri" panose="020F0502020204030204" pitchFamily="34" charset="0"/>
                <a:cs typeface="Arial" panose="020B0604020202020204" pitchFamily="34" charset="0"/>
              </a:rPr>
              <a:t>  צוות פיתוח </a:t>
            </a:r>
            <a:r>
              <a:rPr lang="he-IL" b="1" dirty="0">
                <a:latin typeface="Calibri" panose="020F0502020204030204" pitchFamily="34" charset="0"/>
                <a:ea typeface="Calibri" panose="020F0502020204030204" pitchFamily="34" charset="0"/>
                <a:cs typeface="Arial" panose="020B0604020202020204" pitchFamily="34" charset="0"/>
              </a:rPr>
              <a:t>מקצועי</a:t>
            </a:r>
          </a:p>
          <a:p>
            <a:pPr marL="285750" indent="-285750" algn="r" rtl="1">
              <a:lnSpc>
                <a:spcPct val="150000"/>
              </a:lnSpc>
              <a:buFont typeface="Arial" panose="020B0604020202020204" pitchFamily="34" charset="0"/>
              <a:buChar char="•"/>
            </a:pPr>
            <a:r>
              <a:rPr lang="he-IL" dirty="0">
                <a:latin typeface="Calibri" panose="020F0502020204030204" pitchFamily="34" charset="0"/>
                <a:ea typeface="Calibri" panose="020F0502020204030204" pitchFamily="34" charset="0"/>
                <a:cs typeface="Arial" panose="020B0604020202020204" pitchFamily="34" charset="0"/>
              </a:rPr>
              <a:t>  צוות </a:t>
            </a:r>
            <a:r>
              <a:rPr lang="he-IL" b="1" dirty="0">
                <a:latin typeface="Calibri" panose="020F0502020204030204" pitchFamily="34" charset="0"/>
                <a:ea typeface="Calibri" panose="020F0502020204030204" pitchFamily="34" charset="0"/>
                <a:cs typeface="Arial" panose="020B0604020202020204" pitchFamily="34" charset="0"/>
              </a:rPr>
              <a:t>מדדים</a:t>
            </a:r>
          </a:p>
          <a:p>
            <a:pPr marL="285750" indent="-285750" algn="r" rtl="1">
              <a:lnSpc>
                <a:spcPct val="150000"/>
              </a:lnSpc>
              <a:buFont typeface="Arial" panose="020B0604020202020204" pitchFamily="34" charset="0"/>
              <a:buChar char="•"/>
            </a:pPr>
            <a:r>
              <a:rPr lang="he-IL" dirty="0">
                <a:latin typeface="Calibri" panose="020F0502020204030204" pitchFamily="34" charset="0"/>
                <a:ea typeface="Calibri" panose="020F0502020204030204" pitchFamily="34" charset="0"/>
                <a:cs typeface="Arial" panose="020B0604020202020204" pitchFamily="34" charset="0"/>
              </a:rPr>
              <a:t>  צוות </a:t>
            </a:r>
            <a:r>
              <a:rPr lang="he-IL" b="1" dirty="0">
                <a:latin typeface="Calibri" panose="020F0502020204030204" pitchFamily="34" charset="0"/>
                <a:ea typeface="Calibri" panose="020F0502020204030204" pitchFamily="34" charset="0"/>
                <a:cs typeface="Arial" panose="020B0604020202020204" pitchFamily="34" charset="0"/>
              </a:rPr>
              <a:t>טכנולוגי</a:t>
            </a:r>
          </a:p>
          <a:p>
            <a:pPr algn="r" rtl="1">
              <a:lnSpc>
                <a:spcPct val="150000"/>
              </a:lnSpc>
            </a:pPr>
            <a:r>
              <a:rPr lang="he-IL" dirty="0">
                <a:latin typeface="Calibri" panose="020F0502020204030204" pitchFamily="34" charset="0"/>
                <a:ea typeface="Calibri" panose="020F0502020204030204" pitchFamily="34" charset="0"/>
                <a:cs typeface="Arial" panose="020B0604020202020204" pitchFamily="34" charset="0"/>
              </a:rPr>
              <a:t> </a:t>
            </a:r>
          </a:p>
          <a:p>
            <a:pPr marL="342891" indent="-342891">
              <a:lnSpc>
                <a:spcPct val="150000"/>
              </a:lnSpc>
              <a:buFont typeface="+mj-lt"/>
              <a:buAutoNum type="arabicPeriod"/>
            </a:pPr>
            <a:endParaRPr lang="he-IL" dirty="0">
              <a:latin typeface="Calibri" panose="020F0502020204030204" pitchFamily="34" charset="0"/>
              <a:ea typeface="Calibri" panose="020F0502020204030204" pitchFamily="34" charset="0"/>
            </a:endParaRPr>
          </a:p>
          <a:p>
            <a:pPr marL="342891" indent="-342891" algn="r" rtl="1">
              <a:lnSpc>
                <a:spcPct val="150000"/>
              </a:lnSpc>
              <a:buFont typeface="+mj-lt"/>
              <a:buAutoNum type="arabicPeriod"/>
            </a:pPr>
            <a:endParaRPr lang="he-IL" dirty="0">
              <a:latin typeface="Calibri" panose="020F0502020204030204" pitchFamily="34" charset="0"/>
              <a:ea typeface="Calibri" panose="020F0502020204030204" pitchFamily="34" charset="0"/>
              <a:cs typeface="Arial" panose="020B0604020202020204" pitchFamily="34" charset="0"/>
            </a:endParaRPr>
          </a:p>
        </p:txBody>
      </p:sp>
      <p:sp>
        <p:nvSpPr>
          <p:cNvPr id="6" name="Text Placeholder 7">
            <a:extLst>
              <a:ext uri="{FF2B5EF4-FFF2-40B4-BE49-F238E27FC236}">
                <a16:creationId xmlns:a16="http://schemas.microsoft.com/office/drawing/2014/main" id="{6A3A5FF3-B912-8935-CA01-C95668234EEA}"/>
              </a:ext>
            </a:extLst>
          </p:cNvPr>
          <p:cNvSpPr txBox="1">
            <a:spLocks/>
          </p:cNvSpPr>
          <p:nvPr/>
        </p:nvSpPr>
        <p:spPr>
          <a:xfrm>
            <a:off x="1820221" y="260961"/>
            <a:ext cx="9384235" cy="592268"/>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he-IL" b="1" dirty="0">
                <a:latin typeface="Calibri" panose="020F0502020204030204" pitchFamily="34" charset="0"/>
                <a:cs typeface="Calibri" panose="020F0502020204030204" pitchFamily="34" charset="0"/>
              </a:rPr>
              <a:t>מהלכים משותפים להובלת הרפורמה</a:t>
            </a:r>
          </a:p>
          <a:p>
            <a:pPr marL="0" indent="0" algn="ctr">
              <a:buNone/>
            </a:pPr>
            <a:r>
              <a:rPr lang="he-IL" b="1" dirty="0">
                <a:latin typeface="Calibri" panose="020F0502020204030204" pitchFamily="34" charset="0"/>
                <a:cs typeface="Calibri" panose="020F0502020204030204" pitchFamily="34" charset="0"/>
              </a:rPr>
              <a:t>סל אישי מותאם לאזרח הוותיק</a:t>
            </a:r>
            <a:endParaRPr lang="en-US" b="1" dirty="0">
              <a:latin typeface="Calibri" panose="020F0502020204030204" pitchFamily="34" charset="0"/>
              <a:cs typeface="Calibri" panose="020F0502020204030204" pitchFamily="34" charset="0"/>
            </a:endParaRPr>
          </a:p>
        </p:txBody>
      </p:sp>
      <p:sp>
        <p:nvSpPr>
          <p:cNvPr id="5" name="מלבן 4">
            <a:extLst>
              <a:ext uri="{FF2B5EF4-FFF2-40B4-BE49-F238E27FC236}">
                <a16:creationId xmlns:a16="http://schemas.microsoft.com/office/drawing/2014/main" id="{54057300-EDF1-A0EC-BE20-761C3CE83349}"/>
              </a:ext>
            </a:extLst>
          </p:cNvPr>
          <p:cNvSpPr/>
          <p:nvPr/>
        </p:nvSpPr>
        <p:spPr>
          <a:xfrm>
            <a:off x="9805851" y="260961"/>
            <a:ext cx="2142309" cy="810193"/>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spTree>
    <p:extLst>
      <p:ext uri="{BB962C8B-B14F-4D97-AF65-F5344CB8AC3E}">
        <p14:creationId xmlns:p14="http://schemas.microsoft.com/office/powerpoint/2010/main" val="36888680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466897" y="207672"/>
            <a:ext cx="10515600" cy="1325563"/>
          </a:xfrm>
        </p:spPr>
        <p:txBody>
          <a:bodyPr/>
          <a:lstStyle/>
          <a:p>
            <a:r>
              <a:rPr lang="en-US" b="1" dirty="0"/>
              <a:t>ROI</a:t>
            </a:r>
            <a:r>
              <a:rPr lang="he-IL" dirty="0"/>
              <a:t> במניעה לפי רמות סיעוד</a:t>
            </a:r>
          </a:p>
        </p:txBody>
      </p:sp>
      <p:graphicFrame>
        <p:nvGraphicFramePr>
          <p:cNvPr id="4" name="תרשים 3"/>
          <p:cNvGraphicFramePr>
            <a:graphicFrameLocks/>
          </p:cNvGraphicFramePr>
          <p:nvPr>
            <p:extLst>
              <p:ext uri="{D42A27DB-BD31-4B8C-83A1-F6EECF244321}">
                <p14:modId xmlns:p14="http://schemas.microsoft.com/office/powerpoint/2010/main" val="867807002"/>
              </p:ext>
            </p:extLst>
          </p:nvPr>
        </p:nvGraphicFramePr>
        <p:xfrm>
          <a:off x="3463637" y="1847850"/>
          <a:ext cx="6354617" cy="4257385"/>
        </p:xfrm>
        <a:graphic>
          <a:graphicData uri="http://schemas.openxmlformats.org/drawingml/2006/chart">
            <c:chart xmlns:c="http://schemas.openxmlformats.org/drawingml/2006/chart" xmlns:r="http://schemas.openxmlformats.org/officeDocument/2006/relationships" r:id="rId3"/>
          </a:graphicData>
        </a:graphic>
      </p:graphicFrame>
      <p:sp>
        <p:nvSpPr>
          <p:cNvPr id="8" name="מלבן 7"/>
          <p:cNvSpPr/>
          <p:nvPr/>
        </p:nvSpPr>
        <p:spPr>
          <a:xfrm>
            <a:off x="3093" y="0"/>
            <a:ext cx="264155" cy="6857999"/>
          </a:xfrm>
          <a:prstGeom prst="rect">
            <a:avLst/>
          </a:prstGeom>
          <a:solidFill>
            <a:srgbClr val="FFC000"/>
          </a:solidFill>
          <a:ln w="12700" cap="flat" cmpd="sng" algn="ctr">
            <a:solidFill>
              <a:srgbClr val="2CC2E0"/>
            </a:solidFill>
            <a:prstDash val="solid"/>
            <a:miter lim="800000"/>
          </a:ln>
          <a:effectLst/>
        </p:spPr>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0" cap="none" spc="0" normalizeH="0" baseline="0" noProof="0">
              <a:ln>
                <a:noFill/>
              </a:ln>
              <a:solidFill>
                <a:prstClr val="white"/>
              </a:solidFill>
              <a:effectLst/>
              <a:uLnTx/>
              <a:uFillTx/>
              <a:latin typeface="Calibri"/>
              <a:ea typeface="+mn-ea"/>
              <a:cs typeface="Calibri"/>
            </a:endParaRPr>
          </a:p>
        </p:txBody>
      </p:sp>
      <p:sp>
        <p:nvSpPr>
          <p:cNvPr id="9" name="TextBox 8"/>
          <p:cNvSpPr txBox="1"/>
          <p:nvPr/>
        </p:nvSpPr>
        <p:spPr>
          <a:xfrm rot="16200000">
            <a:off x="-699331" y="566656"/>
            <a:ext cx="1417376" cy="515782"/>
          </a:xfrm>
          <a:prstGeom prst="rect">
            <a:avLst/>
          </a:prstGeom>
          <a:noFill/>
        </p:spPr>
        <p:txBody>
          <a:bodyPr wrap="none" rtlCol="1">
            <a:spAutoFit/>
          </a:bodyPr>
          <a:lstStyle/>
          <a:p>
            <a:pPr marL="0" marR="0" lvl="0" indent="0" algn="r" defTabSz="914400" rtl="1" eaLnBrk="1" fontAlgn="auto" latinLnBrk="0" hangingPunct="1">
              <a:lnSpc>
                <a:spcPct val="200000"/>
              </a:lnSpc>
              <a:spcBef>
                <a:spcPts val="0"/>
              </a:spcBef>
              <a:spcAft>
                <a:spcPts val="0"/>
              </a:spcAft>
              <a:buClrTx/>
              <a:buSzTx/>
              <a:buFontTx/>
              <a:buNone/>
              <a:tabLst/>
              <a:defRPr/>
            </a:pPr>
            <a:r>
              <a:rPr kumimoji="0" lang="he-IL" sz="1600" b="1" i="0" u="none" strike="noStrike" kern="1200" cap="none" spc="0" normalizeH="0" baseline="0" noProof="0" dirty="0">
                <a:ln>
                  <a:noFill/>
                </a:ln>
                <a:solidFill>
                  <a:prstClr val="black"/>
                </a:solidFill>
                <a:effectLst/>
                <a:uLnTx/>
                <a:uFillTx/>
                <a:latin typeface="Calibri" panose="020F0502020204030204" pitchFamily="34" charset="0"/>
                <a:ea typeface="Open Sans" panose="020B0606030504020204" pitchFamily="34" charset="0"/>
                <a:cs typeface="Calibri" panose="020F0502020204030204" pitchFamily="34" charset="0"/>
              </a:rPr>
              <a:t>מדידה ותמריצים</a:t>
            </a:r>
          </a:p>
        </p:txBody>
      </p:sp>
      <p:sp>
        <p:nvSpPr>
          <p:cNvPr id="3" name="תיבת טקסט 2">
            <a:extLst>
              <a:ext uri="{FF2B5EF4-FFF2-40B4-BE49-F238E27FC236}">
                <a16:creationId xmlns:a16="http://schemas.microsoft.com/office/drawing/2014/main" id="{3B33886D-43D7-7532-8930-664FA863EE26}"/>
              </a:ext>
            </a:extLst>
          </p:cNvPr>
          <p:cNvSpPr txBox="1"/>
          <p:nvPr/>
        </p:nvSpPr>
        <p:spPr>
          <a:xfrm>
            <a:off x="628821" y="304800"/>
            <a:ext cx="2647779" cy="1754326"/>
          </a:xfrm>
          <a:prstGeom prst="rect">
            <a:avLst/>
          </a:prstGeom>
          <a:solidFill>
            <a:schemeClr val="bg1">
              <a:lumMod val="95000"/>
            </a:schemeClr>
          </a:solidFill>
          <a:ln/>
        </p:spPr>
        <p:style>
          <a:lnRef idx="2">
            <a:schemeClr val="accent1"/>
          </a:lnRef>
          <a:fillRef idx="1">
            <a:schemeClr val="lt1"/>
          </a:fillRef>
          <a:effectRef idx="0">
            <a:schemeClr val="accent1"/>
          </a:effectRef>
          <a:fontRef idx="minor">
            <a:schemeClr val="dk1"/>
          </a:fontRef>
        </p:style>
        <p:txBody>
          <a:bodyPr wrap="square" rtlCol="1">
            <a:spAutoFit/>
          </a:bodyPr>
          <a:lstStyle/>
          <a:p>
            <a:pPr algn="ctr"/>
            <a:r>
              <a:rPr lang="he-IL" b="1" dirty="0">
                <a:solidFill>
                  <a:schemeClr val="tx1"/>
                </a:solidFill>
              </a:rPr>
              <a:t>היעד-</a:t>
            </a:r>
            <a:r>
              <a:rPr lang="he-IL" dirty="0">
                <a:solidFill>
                  <a:schemeClr val="tx1"/>
                </a:solidFill>
              </a:rPr>
              <a:t> בתוך 3 שנים עיכוב ממוצע של כ-3 חודשים בעלייה ברמות סיעוד 0-2 = </a:t>
            </a:r>
          </a:p>
          <a:p>
            <a:pPr algn="ctr"/>
            <a:r>
              <a:rPr lang="he-IL" sz="2000" b="1" dirty="0">
                <a:solidFill>
                  <a:schemeClr val="tx1"/>
                </a:solidFill>
              </a:rPr>
              <a:t>מעל מיליארד ₪ </a:t>
            </a:r>
          </a:p>
          <a:p>
            <a:pPr algn="ctr"/>
            <a:r>
              <a:rPr lang="he-IL" sz="2000" b="1" dirty="0">
                <a:solidFill>
                  <a:schemeClr val="tx1"/>
                </a:solidFill>
              </a:rPr>
              <a:t>חסכון למשק לשנה</a:t>
            </a:r>
            <a:r>
              <a:rPr lang="he-IL" b="1" dirty="0">
                <a:solidFill>
                  <a:schemeClr val="tx1"/>
                </a:solidFill>
              </a:rPr>
              <a:t>      </a:t>
            </a:r>
            <a:r>
              <a:rPr lang="he-IL" sz="1400" dirty="0">
                <a:solidFill>
                  <a:schemeClr val="tx1"/>
                </a:solidFill>
              </a:rPr>
              <a:t>(לא כולל ביטוחי סיעוד)</a:t>
            </a:r>
            <a:endParaRPr lang="he-IL" dirty="0">
              <a:solidFill>
                <a:schemeClr val="tx1"/>
              </a:solidFill>
            </a:endParaRPr>
          </a:p>
        </p:txBody>
      </p:sp>
      <p:sp>
        <p:nvSpPr>
          <p:cNvPr id="5" name="תיבת טקסט 4">
            <a:extLst>
              <a:ext uri="{FF2B5EF4-FFF2-40B4-BE49-F238E27FC236}">
                <a16:creationId xmlns:a16="http://schemas.microsoft.com/office/drawing/2014/main" id="{96CBDD3D-1070-1287-49C6-F777884BA92D}"/>
              </a:ext>
            </a:extLst>
          </p:cNvPr>
          <p:cNvSpPr txBox="1"/>
          <p:nvPr/>
        </p:nvSpPr>
        <p:spPr>
          <a:xfrm>
            <a:off x="215050" y="6151448"/>
            <a:ext cx="3061550" cy="646331"/>
          </a:xfrm>
          <a:prstGeom prst="rect">
            <a:avLst/>
          </a:prstGeom>
          <a:noFill/>
        </p:spPr>
        <p:txBody>
          <a:bodyPr wrap="square" rtlCol="1">
            <a:spAutoFit/>
          </a:bodyPr>
          <a:lstStyle/>
          <a:p>
            <a:r>
              <a:rPr lang="he-IL" dirty="0"/>
              <a:t>*מבוסס על עלויות הגמלה ועלויות בריאות בקופ"ח מאוחדת</a:t>
            </a:r>
          </a:p>
        </p:txBody>
      </p:sp>
    </p:spTree>
    <p:extLst>
      <p:ext uri="{BB962C8B-B14F-4D97-AF65-F5344CB8AC3E}">
        <p14:creationId xmlns:p14="http://schemas.microsoft.com/office/powerpoint/2010/main" val="299142759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Rounded Rectangle 1">
            <a:extLst>
              <a:ext uri="{FF2B5EF4-FFF2-40B4-BE49-F238E27FC236}">
                <a16:creationId xmlns:a16="http://schemas.microsoft.com/office/drawing/2014/main" id="{72DE7AE9-0BF3-D973-E87C-EB41E8709D13}"/>
              </a:ext>
            </a:extLst>
          </p:cNvPr>
          <p:cNvSpPr/>
          <p:nvPr/>
        </p:nvSpPr>
        <p:spPr>
          <a:xfrm>
            <a:off x="1431250" y="1737244"/>
            <a:ext cx="3588173" cy="3293937"/>
          </a:xfrm>
          <a:prstGeom prst="roundRect">
            <a:avLst/>
          </a:prstGeom>
          <a:solidFill>
            <a:schemeClr val="bg1"/>
          </a:solidFill>
          <a:ln>
            <a:solidFill>
              <a:srgbClr val="E75258"/>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grpSp>
        <p:nvGrpSpPr>
          <p:cNvPr id="6" name="Group 5">
            <a:extLst>
              <a:ext uri="{FF2B5EF4-FFF2-40B4-BE49-F238E27FC236}">
                <a16:creationId xmlns:a16="http://schemas.microsoft.com/office/drawing/2014/main" id="{2D97F194-2F02-BC07-F02B-84F0400E16BE}"/>
              </a:ext>
            </a:extLst>
          </p:cNvPr>
          <p:cNvGrpSpPr>
            <a:grpSpLocks noChangeAspect="1"/>
          </p:cNvGrpSpPr>
          <p:nvPr/>
        </p:nvGrpSpPr>
        <p:grpSpPr>
          <a:xfrm>
            <a:off x="7678489" y="1368598"/>
            <a:ext cx="4048894" cy="4429827"/>
            <a:chOff x="8042765" y="2046515"/>
            <a:chExt cx="3483067" cy="3810764"/>
          </a:xfrm>
        </p:grpSpPr>
        <p:sp>
          <p:nvSpPr>
            <p:cNvPr id="7" name="Rounded Rectangle 111">
              <a:extLst>
                <a:ext uri="{FF2B5EF4-FFF2-40B4-BE49-F238E27FC236}">
                  <a16:creationId xmlns:a16="http://schemas.microsoft.com/office/drawing/2014/main" id="{2E6CBCBE-5B82-5329-43F6-B8A4C66C514F}"/>
                </a:ext>
              </a:extLst>
            </p:cNvPr>
            <p:cNvSpPr/>
            <p:nvPr/>
          </p:nvSpPr>
          <p:spPr>
            <a:xfrm>
              <a:off x="8131154" y="2046515"/>
              <a:ext cx="3311785" cy="3810764"/>
            </a:xfrm>
            <a:prstGeom prst="roundRect">
              <a:avLst>
                <a:gd name="adj" fmla="val 5098"/>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grpSp>
          <p:nvGrpSpPr>
            <p:cNvPr id="8" name="Group 7">
              <a:extLst>
                <a:ext uri="{FF2B5EF4-FFF2-40B4-BE49-F238E27FC236}">
                  <a16:creationId xmlns:a16="http://schemas.microsoft.com/office/drawing/2014/main" id="{D921BBCE-79AE-02B8-ACF4-5F92C767733E}"/>
                </a:ext>
              </a:extLst>
            </p:cNvPr>
            <p:cNvGrpSpPr/>
            <p:nvPr/>
          </p:nvGrpSpPr>
          <p:grpSpPr>
            <a:xfrm>
              <a:off x="8042765" y="2054133"/>
              <a:ext cx="3483067" cy="935810"/>
              <a:chOff x="8196597" y="2046513"/>
              <a:chExt cx="3483067" cy="935810"/>
            </a:xfrm>
          </p:grpSpPr>
          <p:sp>
            <p:nvSpPr>
              <p:cNvPr id="11" name="Rounded Rectangle 103">
                <a:extLst>
                  <a:ext uri="{FF2B5EF4-FFF2-40B4-BE49-F238E27FC236}">
                    <a16:creationId xmlns:a16="http://schemas.microsoft.com/office/drawing/2014/main" id="{4258F36B-39C2-D56D-69BF-1E5B5B20877C}"/>
                  </a:ext>
                </a:extLst>
              </p:cNvPr>
              <p:cNvSpPr/>
              <p:nvPr/>
            </p:nvSpPr>
            <p:spPr>
              <a:xfrm>
                <a:off x="8273404" y="2046513"/>
                <a:ext cx="3325748" cy="869043"/>
              </a:xfrm>
              <a:prstGeom prst="roundRect">
                <a:avLst/>
              </a:prstGeom>
              <a:noFill/>
              <a:ln w="28575">
                <a:solidFill>
                  <a:srgbClr val="5EC5C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2" name="Rectangle 11">
                <a:extLst>
                  <a:ext uri="{FF2B5EF4-FFF2-40B4-BE49-F238E27FC236}">
                    <a16:creationId xmlns:a16="http://schemas.microsoft.com/office/drawing/2014/main" id="{8FDBA3AF-17A3-63DD-2D71-6C4B91532AAB}"/>
                  </a:ext>
                </a:extLst>
              </p:cNvPr>
              <p:cNvSpPr/>
              <p:nvPr/>
            </p:nvSpPr>
            <p:spPr>
              <a:xfrm>
                <a:off x="8208414" y="2647821"/>
                <a:ext cx="3455728" cy="33450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3" name="Oval 12">
                <a:extLst>
                  <a:ext uri="{FF2B5EF4-FFF2-40B4-BE49-F238E27FC236}">
                    <a16:creationId xmlns:a16="http://schemas.microsoft.com/office/drawing/2014/main" id="{9EDF4C60-0A63-7DCD-5ADF-93D5C4382872}"/>
                  </a:ext>
                </a:extLst>
              </p:cNvPr>
              <p:cNvSpPr>
                <a:spLocks noChangeAspect="1"/>
              </p:cNvSpPr>
              <p:nvPr/>
            </p:nvSpPr>
            <p:spPr>
              <a:xfrm>
                <a:off x="11522341" y="2495157"/>
                <a:ext cx="157323" cy="157323"/>
              </a:xfrm>
              <a:prstGeom prst="ellipse">
                <a:avLst/>
              </a:prstGeom>
              <a:solidFill>
                <a:srgbClr val="5EC5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4" name="Oval 13">
                <a:extLst>
                  <a:ext uri="{FF2B5EF4-FFF2-40B4-BE49-F238E27FC236}">
                    <a16:creationId xmlns:a16="http://schemas.microsoft.com/office/drawing/2014/main" id="{3CBBA451-A168-4B32-BD4E-95EB9A24A5D1}"/>
                  </a:ext>
                </a:extLst>
              </p:cNvPr>
              <p:cNvSpPr>
                <a:spLocks noChangeAspect="1"/>
              </p:cNvSpPr>
              <p:nvPr/>
            </p:nvSpPr>
            <p:spPr>
              <a:xfrm>
                <a:off x="8196597" y="2495157"/>
                <a:ext cx="157323" cy="157323"/>
              </a:xfrm>
              <a:prstGeom prst="ellipse">
                <a:avLst/>
              </a:prstGeom>
              <a:solidFill>
                <a:srgbClr val="5EC5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grpSp>
        <p:sp>
          <p:nvSpPr>
            <p:cNvPr id="9" name="Oval 8">
              <a:extLst>
                <a:ext uri="{FF2B5EF4-FFF2-40B4-BE49-F238E27FC236}">
                  <a16:creationId xmlns:a16="http://schemas.microsoft.com/office/drawing/2014/main" id="{E2D0C106-4B6B-050F-081F-38A453418D05}"/>
                </a:ext>
              </a:extLst>
            </p:cNvPr>
            <p:cNvSpPr>
              <a:spLocks noChangeAspect="1"/>
            </p:cNvSpPr>
            <p:nvPr/>
          </p:nvSpPr>
          <p:spPr>
            <a:xfrm>
              <a:off x="11365794" y="2839734"/>
              <a:ext cx="157323" cy="157323"/>
            </a:xfrm>
            <a:prstGeom prst="ellipse">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0" name="Oval 9">
              <a:extLst>
                <a:ext uri="{FF2B5EF4-FFF2-40B4-BE49-F238E27FC236}">
                  <a16:creationId xmlns:a16="http://schemas.microsoft.com/office/drawing/2014/main" id="{E58470C0-E016-4358-548E-D7C5B52099CF}"/>
                </a:ext>
              </a:extLst>
            </p:cNvPr>
            <p:cNvSpPr>
              <a:spLocks noChangeAspect="1"/>
            </p:cNvSpPr>
            <p:nvPr/>
          </p:nvSpPr>
          <p:spPr>
            <a:xfrm>
              <a:off x="8050243" y="2839894"/>
              <a:ext cx="157323" cy="157323"/>
            </a:xfrm>
            <a:prstGeom prst="ellipse">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grpSp>
      <p:sp>
        <p:nvSpPr>
          <p:cNvPr id="3" name="Subtitle 2">
            <a:extLst>
              <a:ext uri="{FF2B5EF4-FFF2-40B4-BE49-F238E27FC236}">
                <a16:creationId xmlns:a16="http://schemas.microsoft.com/office/drawing/2014/main" id="{8D1C01B6-BCED-0B1F-3127-824C5C406503}"/>
              </a:ext>
            </a:extLst>
          </p:cNvPr>
          <p:cNvSpPr>
            <a:spLocks noGrp="1"/>
          </p:cNvSpPr>
          <p:nvPr>
            <p:ph type="subTitle" idx="1"/>
          </p:nvPr>
        </p:nvSpPr>
        <p:spPr>
          <a:xfrm>
            <a:off x="7929053" y="2174550"/>
            <a:ext cx="3543457" cy="3446073"/>
          </a:xfrm>
        </p:spPr>
        <p:txBody>
          <a:bodyPr>
            <a:normAutofit fontScale="25000" lnSpcReduction="20000"/>
          </a:bodyPr>
          <a:lstStyle/>
          <a:p>
            <a:pPr algn="r" rtl="1"/>
            <a:r>
              <a:rPr lang="he-IL" sz="6400" b="1" dirty="0"/>
              <a:t>מנחם, בן 81, נ+1. אבחנות רפואיות:</a:t>
            </a:r>
          </a:p>
          <a:p>
            <a:pPr algn="r" rtl="1"/>
            <a:r>
              <a:rPr lang="he-IL" sz="6400" dirty="0"/>
              <a:t>* סוכרת מטופל באינסולין</a:t>
            </a:r>
          </a:p>
          <a:p>
            <a:pPr algn="r" rtl="1"/>
            <a:r>
              <a:rPr lang="he-IL" sz="6400" dirty="0"/>
              <a:t>* יתר לחץ דם</a:t>
            </a:r>
          </a:p>
          <a:p>
            <a:pPr algn="r" rtl="1"/>
            <a:r>
              <a:rPr lang="he-IL" sz="6400" dirty="0"/>
              <a:t>* </a:t>
            </a:r>
            <a:r>
              <a:rPr lang="he-IL" sz="6400" dirty="0" err="1"/>
              <a:t>אוסטאוטריטיס</a:t>
            </a:r>
            <a:r>
              <a:rPr lang="he-IL" sz="6400" dirty="0"/>
              <a:t>– דלקת מפרקים ניוונית</a:t>
            </a:r>
          </a:p>
          <a:p>
            <a:pPr algn="r" rtl="1"/>
            <a:r>
              <a:rPr lang="he-IL" sz="6400" dirty="0"/>
              <a:t>* אי שליטה על סוגרים ודחיפות במתן שתן</a:t>
            </a:r>
          </a:p>
          <a:p>
            <a:pPr algn="r" rtl="1"/>
            <a:r>
              <a:rPr lang="he-IL" sz="6400" dirty="0"/>
              <a:t>* נפילות חוזרות</a:t>
            </a:r>
          </a:p>
          <a:p>
            <a:pPr algn="r" rtl="1"/>
            <a:r>
              <a:rPr lang="he-IL" sz="6400" dirty="0"/>
              <a:t>* אי יציבות  בהליכה</a:t>
            </a:r>
          </a:p>
          <a:p>
            <a:pPr algn="r" rtl="1">
              <a:lnSpc>
                <a:spcPct val="120000"/>
              </a:lnSpc>
            </a:pPr>
            <a:r>
              <a:rPr lang="he-IL" sz="6400" dirty="0"/>
              <a:t>מנחם במקצועו מהנדס מכונות, בעל יכולות ביצועיות, חובב מוזיקה מושבע, אוסף מכוניות עתיקות, עם מערכת משפחתית תומכת. בשנים האחרונות, מאז שהחל ליפול ממעט לצאת מביתו.</a:t>
            </a:r>
          </a:p>
          <a:p>
            <a:pPr algn="r" rtl="1"/>
            <a:endParaRPr lang="he-IL" dirty="0"/>
          </a:p>
        </p:txBody>
      </p:sp>
      <p:sp>
        <p:nvSpPr>
          <p:cNvPr id="4" name="Subtitle 2">
            <a:extLst>
              <a:ext uri="{FF2B5EF4-FFF2-40B4-BE49-F238E27FC236}">
                <a16:creationId xmlns:a16="http://schemas.microsoft.com/office/drawing/2014/main" id="{11A6A51E-CB76-6764-B73A-2D7D2ED69E2F}"/>
              </a:ext>
            </a:extLst>
          </p:cNvPr>
          <p:cNvSpPr txBox="1">
            <a:spLocks/>
          </p:cNvSpPr>
          <p:nvPr/>
        </p:nvSpPr>
        <p:spPr>
          <a:xfrm>
            <a:off x="1142277" y="1953202"/>
            <a:ext cx="3788135" cy="2817920"/>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0" marR="0" lvl="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he-IL" sz="12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endParaRPr>
          </a:p>
          <a:p>
            <a:pPr marL="0" marR="0" lvl="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he-IL" sz="16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1252 ₪- גמלה בכסף</a:t>
            </a:r>
          </a:p>
          <a:p>
            <a:pPr marL="0" marR="0" lvl="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he-IL" sz="16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11 שעות מטפלת שבועיות הכוללות:</a:t>
            </a:r>
          </a:p>
          <a:p>
            <a:pPr marL="742950" marR="0" lvl="1" indent="-285750" algn="r" defTabSz="914400" rtl="1"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he-IL" sz="12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סיוע בניידות בבית ומחוץ לבית</a:t>
            </a:r>
          </a:p>
          <a:p>
            <a:pPr marL="742950" marR="0" lvl="1" indent="-285750" algn="r" defTabSz="914400" rtl="1"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he-IL" sz="12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סיוע בבישול והגשת מזון </a:t>
            </a:r>
          </a:p>
          <a:p>
            <a:pPr marL="742950" marR="0" lvl="1" indent="-285750" algn="r" defTabSz="914400" rtl="1"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he-IL" sz="12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סיוע באחזקת הבית וניקיון</a:t>
            </a:r>
          </a:p>
          <a:p>
            <a:pPr marL="742950" marR="0" lvl="1" indent="-285750" algn="r" defTabSz="914400" rtl="1"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he-IL" sz="12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שמירה על סביבה בטוחה</a:t>
            </a:r>
          </a:p>
          <a:p>
            <a:pPr marL="742950" marR="0" lvl="1" indent="-285750" algn="r" defTabSz="914400" rtl="1"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he-IL" sz="12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השגחה או עזרה חלקית ברחצה והלבשה</a:t>
            </a:r>
          </a:p>
          <a:p>
            <a:pPr marL="742950" marR="0" lvl="1" indent="-285750" algn="r" defTabSz="914400" rtl="1"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he-IL" sz="12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ליווי לשירותים</a:t>
            </a:r>
          </a:p>
        </p:txBody>
      </p:sp>
      <p:sp>
        <p:nvSpPr>
          <p:cNvPr id="5" name="Oval 4">
            <a:extLst>
              <a:ext uri="{FF2B5EF4-FFF2-40B4-BE49-F238E27FC236}">
                <a16:creationId xmlns:a16="http://schemas.microsoft.com/office/drawing/2014/main" id="{2149271A-345A-5122-3EC4-B8002397612C}"/>
              </a:ext>
            </a:extLst>
          </p:cNvPr>
          <p:cNvSpPr/>
          <p:nvPr/>
        </p:nvSpPr>
        <p:spPr>
          <a:xfrm>
            <a:off x="8966664" y="499606"/>
            <a:ext cx="1472544" cy="1519046"/>
          </a:xfrm>
          <a:prstGeom prst="ellipse">
            <a:avLst/>
          </a:prstGeom>
          <a:blipFill dpi="0" rotWithShape="1">
            <a:blip r:embed="rId3">
              <a:extLst>
                <a:ext uri="{28A0092B-C50C-407E-A947-70E740481C1C}">
                  <a14:useLocalDpi xmlns:a14="http://schemas.microsoft.com/office/drawing/2010/main" val="0"/>
                </a:ext>
              </a:extLst>
            </a:blip>
            <a:srcRect/>
            <a:stretch>
              <a:fillRect/>
            </a:stretch>
          </a:blipFill>
          <a:ln>
            <a:solidFill>
              <a:srgbClr val="5EC5C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sp>
        <p:nvSpPr>
          <p:cNvPr id="29" name="Chevron 9">
            <a:extLst>
              <a:ext uri="{FF2B5EF4-FFF2-40B4-BE49-F238E27FC236}">
                <a16:creationId xmlns:a16="http://schemas.microsoft.com/office/drawing/2014/main" id="{16ADEEB6-1E30-6D38-D568-DAADF160E382}"/>
              </a:ext>
            </a:extLst>
          </p:cNvPr>
          <p:cNvSpPr/>
          <p:nvPr/>
        </p:nvSpPr>
        <p:spPr>
          <a:xfrm rot="10800000">
            <a:off x="5436991" y="3285000"/>
            <a:ext cx="1558343" cy="288000"/>
          </a:xfrm>
          <a:prstGeom prst="chevron">
            <a:avLst/>
          </a:prstGeom>
          <a:solidFill>
            <a:srgbClr val="5EC5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30" name="Oval 29">
            <a:extLst>
              <a:ext uri="{FF2B5EF4-FFF2-40B4-BE49-F238E27FC236}">
                <a16:creationId xmlns:a16="http://schemas.microsoft.com/office/drawing/2014/main" id="{A5D1170E-6314-7E2A-7D50-BDA53F122E7D}"/>
              </a:ext>
            </a:extLst>
          </p:cNvPr>
          <p:cNvSpPr>
            <a:spLocks noChangeAspect="1"/>
          </p:cNvSpPr>
          <p:nvPr/>
        </p:nvSpPr>
        <p:spPr>
          <a:xfrm>
            <a:off x="6142176" y="3384213"/>
            <a:ext cx="101674" cy="10167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6" name="TextBox 15"/>
          <p:cNvSpPr txBox="1"/>
          <p:nvPr/>
        </p:nvSpPr>
        <p:spPr>
          <a:xfrm>
            <a:off x="5764062" y="256266"/>
            <a:ext cx="2573140" cy="461665"/>
          </a:xfrm>
          <a:prstGeom prst="rect">
            <a:avLst/>
          </a:prstGeom>
          <a:noFill/>
        </p:spPr>
        <p:txBody>
          <a:bodyPr wrap="none" rtlCol="1">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he-IL" sz="2400" b="1"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המצב והשיטה היום</a:t>
            </a:r>
          </a:p>
        </p:txBody>
      </p:sp>
      <p:sp>
        <p:nvSpPr>
          <p:cNvPr id="19" name="מלבן 18"/>
          <p:cNvSpPr/>
          <p:nvPr/>
        </p:nvSpPr>
        <p:spPr>
          <a:xfrm>
            <a:off x="3093" y="0"/>
            <a:ext cx="244547" cy="6857999"/>
          </a:xfrm>
          <a:prstGeom prst="rect">
            <a:avLst/>
          </a:prstGeom>
          <a:solidFill>
            <a:srgbClr val="5EC5C5"/>
          </a:solidFill>
          <a:ln>
            <a:solidFill>
              <a:srgbClr val="2CC2E0"/>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Calibri"/>
              <a:ea typeface="+mn-ea"/>
              <a:cs typeface="Calibri"/>
            </a:endParaRPr>
          </a:p>
        </p:txBody>
      </p:sp>
      <p:sp>
        <p:nvSpPr>
          <p:cNvPr id="20" name="TextBox 19"/>
          <p:cNvSpPr txBox="1"/>
          <p:nvPr/>
        </p:nvSpPr>
        <p:spPr>
          <a:xfrm rot="16200000">
            <a:off x="-709672" y="667069"/>
            <a:ext cx="1616148" cy="338554"/>
          </a:xfrm>
          <a:prstGeom prst="rect">
            <a:avLst/>
          </a:prstGeom>
          <a:noFill/>
        </p:spPr>
        <p:txBody>
          <a:bodyPr wrap="non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1"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סל מותאם אישית</a:t>
            </a:r>
          </a:p>
        </p:txBody>
      </p:sp>
      <p:sp>
        <p:nvSpPr>
          <p:cNvPr id="21" name="אליפסה 20"/>
          <p:cNvSpPr/>
          <p:nvPr/>
        </p:nvSpPr>
        <p:spPr>
          <a:xfrm>
            <a:off x="10678046" y="30951"/>
            <a:ext cx="1449299" cy="123938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prstClr val="white"/>
                </a:solidFill>
                <a:effectLst/>
                <a:uLnTx/>
                <a:uFillTx/>
                <a:latin typeface="Aptos" panose="02110004020202020204"/>
                <a:ea typeface="+mn-ea"/>
                <a:cs typeface="Arial" panose="020B0604020202020204" pitchFamily="34" charset="0"/>
              </a:rPr>
              <a:t>רמה 3</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1600" b="1" i="0" u="none" strike="noStrike" kern="1200" cap="none" spc="0" normalizeH="0" baseline="0" noProof="0" dirty="0">
                <a:ln>
                  <a:noFill/>
                </a:ln>
                <a:solidFill>
                  <a:prstClr val="white"/>
                </a:solidFill>
                <a:effectLst/>
                <a:uLnTx/>
                <a:uFillTx/>
                <a:latin typeface="Aptos" panose="02110004020202020204"/>
                <a:ea typeface="+mn-ea"/>
                <a:cs typeface="Arial" panose="020B0604020202020204" pitchFamily="34" charset="0"/>
              </a:rPr>
              <a:t>17 שעות</a:t>
            </a:r>
          </a:p>
        </p:txBody>
      </p:sp>
      <p:sp>
        <p:nvSpPr>
          <p:cNvPr id="15" name="TextBox 14"/>
          <p:cNvSpPr txBox="1"/>
          <p:nvPr/>
        </p:nvSpPr>
        <p:spPr>
          <a:xfrm>
            <a:off x="3635899" y="1833986"/>
            <a:ext cx="1260281" cy="369332"/>
          </a:xfrm>
          <a:prstGeom prst="rect">
            <a:avLst/>
          </a:prstGeom>
          <a:noFill/>
        </p:spPr>
        <p:txBody>
          <a:bodyPr wrap="non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הסל הקיים:</a:t>
            </a:r>
          </a:p>
        </p:txBody>
      </p:sp>
      <p:pic>
        <p:nvPicPr>
          <p:cNvPr id="2" name="Picture 3" descr="קובץ:Ministry of Labor, Social Affairs and Social Services ...">
            <a:extLst>
              <a:ext uri="{FF2B5EF4-FFF2-40B4-BE49-F238E27FC236}">
                <a16:creationId xmlns:a16="http://schemas.microsoft.com/office/drawing/2014/main" id="{56384361-9FEF-5BA5-BCE4-6C97452DE551}"/>
              </a:ext>
            </a:extLst>
          </p:cNvPr>
          <p:cNvPicPr>
            <a:picLocks noChangeAspect="1" noChangeArrowheads="1"/>
          </p:cNvPicPr>
          <p:nvPr/>
        </p:nvPicPr>
        <p:blipFill>
          <a:blip r:embed="rId4" cstate="email">
            <a:extLst>
              <a:ext uri="{28A0092B-C50C-407E-A947-70E740481C1C}">
                <a14:useLocalDpi xmlns:a14="http://schemas.microsoft.com/office/drawing/2010/main"/>
              </a:ext>
            </a:extLst>
          </a:blip>
          <a:srcRect/>
          <a:stretch>
            <a:fillRect/>
          </a:stretch>
        </p:blipFill>
        <p:spPr bwMode="auto">
          <a:xfrm>
            <a:off x="1509938" y="6316809"/>
            <a:ext cx="1742734" cy="475167"/>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26">
            <a:extLst>
              <a:ext uri="{FF2B5EF4-FFF2-40B4-BE49-F238E27FC236}">
                <a16:creationId xmlns:a16="http://schemas.microsoft.com/office/drawing/2014/main" id="{879C8D2E-8DD9-EE32-1121-DDC692A64B96}"/>
              </a:ext>
            </a:extLst>
          </p:cNvPr>
          <p:cNvPicPr>
            <a:picLocks noChangeAspect="1"/>
          </p:cNvPicPr>
          <p:nvPr/>
        </p:nvPicPr>
        <p:blipFill>
          <a:blip r:embed="rId5"/>
          <a:stretch>
            <a:fillRect/>
          </a:stretch>
        </p:blipFill>
        <p:spPr>
          <a:xfrm>
            <a:off x="267680" y="6217298"/>
            <a:ext cx="1118350" cy="612431"/>
          </a:xfrm>
          <a:prstGeom prst="rect">
            <a:avLst/>
          </a:prstGeom>
          <a:ln>
            <a:noFill/>
          </a:ln>
        </p:spPr>
      </p:pic>
    </p:spTree>
    <p:extLst>
      <p:ext uri="{BB962C8B-B14F-4D97-AF65-F5344CB8AC3E}">
        <p14:creationId xmlns:p14="http://schemas.microsoft.com/office/powerpoint/2010/main" val="428653334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ounded Rectangle 1">
            <a:extLst>
              <a:ext uri="{FF2B5EF4-FFF2-40B4-BE49-F238E27FC236}">
                <a16:creationId xmlns:a16="http://schemas.microsoft.com/office/drawing/2014/main" id="{D0B4EA7B-34D5-1A23-EEE1-3B26FC65248B}"/>
              </a:ext>
            </a:extLst>
          </p:cNvPr>
          <p:cNvSpPr/>
          <p:nvPr/>
        </p:nvSpPr>
        <p:spPr>
          <a:xfrm>
            <a:off x="356691" y="588475"/>
            <a:ext cx="5456668" cy="5894061"/>
          </a:xfrm>
          <a:prstGeom prst="roundRect">
            <a:avLst/>
          </a:prstGeom>
          <a:solidFill>
            <a:srgbClr val="5EC5C5"/>
          </a:solidFill>
          <a:ln>
            <a:solidFill>
              <a:schemeClr val="accent1"/>
            </a:solidFill>
          </a:ln>
          <a:effectLst>
            <a:softEdge rad="0"/>
          </a:effectLst>
        </p:spPr>
        <p:style>
          <a:lnRef idx="2">
            <a:schemeClr val="accent1"/>
          </a:lnRef>
          <a:fillRef idx="1">
            <a:schemeClr val="lt1"/>
          </a:fillRef>
          <a:effectRef idx="0">
            <a:schemeClr val="accent1"/>
          </a:effectRef>
          <a:fontRef idx="minor">
            <a:schemeClr val="dk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grpSp>
        <p:nvGrpSpPr>
          <p:cNvPr id="2" name="Group 1">
            <a:extLst>
              <a:ext uri="{FF2B5EF4-FFF2-40B4-BE49-F238E27FC236}">
                <a16:creationId xmlns:a16="http://schemas.microsoft.com/office/drawing/2014/main" id="{93A88E2F-5EF4-789E-4EC1-FECE0F60DDB1}"/>
              </a:ext>
            </a:extLst>
          </p:cNvPr>
          <p:cNvGrpSpPr>
            <a:grpSpLocks noChangeAspect="1"/>
          </p:cNvGrpSpPr>
          <p:nvPr/>
        </p:nvGrpSpPr>
        <p:grpSpPr>
          <a:xfrm>
            <a:off x="7678489" y="1368598"/>
            <a:ext cx="4048894" cy="4429827"/>
            <a:chOff x="8042765" y="2046515"/>
            <a:chExt cx="3483067" cy="3810764"/>
          </a:xfrm>
        </p:grpSpPr>
        <p:sp>
          <p:nvSpPr>
            <p:cNvPr id="5" name="Rounded Rectangle 111">
              <a:extLst>
                <a:ext uri="{FF2B5EF4-FFF2-40B4-BE49-F238E27FC236}">
                  <a16:creationId xmlns:a16="http://schemas.microsoft.com/office/drawing/2014/main" id="{621A4DD8-C551-84E3-8B7C-F54D08EBF65B}"/>
                </a:ext>
              </a:extLst>
            </p:cNvPr>
            <p:cNvSpPr/>
            <p:nvPr/>
          </p:nvSpPr>
          <p:spPr>
            <a:xfrm>
              <a:off x="8131154" y="2046515"/>
              <a:ext cx="3311785" cy="3810764"/>
            </a:xfrm>
            <a:prstGeom prst="roundRect">
              <a:avLst>
                <a:gd name="adj" fmla="val 5098"/>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grpSp>
          <p:nvGrpSpPr>
            <p:cNvPr id="6" name="Group 5">
              <a:extLst>
                <a:ext uri="{FF2B5EF4-FFF2-40B4-BE49-F238E27FC236}">
                  <a16:creationId xmlns:a16="http://schemas.microsoft.com/office/drawing/2014/main" id="{AA60DC4F-3B2E-7161-90A3-10058A300945}"/>
                </a:ext>
              </a:extLst>
            </p:cNvPr>
            <p:cNvGrpSpPr/>
            <p:nvPr/>
          </p:nvGrpSpPr>
          <p:grpSpPr>
            <a:xfrm>
              <a:off x="8042765" y="2054133"/>
              <a:ext cx="3483067" cy="935810"/>
              <a:chOff x="8196597" y="2046513"/>
              <a:chExt cx="3483067" cy="935810"/>
            </a:xfrm>
          </p:grpSpPr>
          <p:sp>
            <p:nvSpPr>
              <p:cNvPr id="9" name="Rounded Rectangle 103">
                <a:extLst>
                  <a:ext uri="{FF2B5EF4-FFF2-40B4-BE49-F238E27FC236}">
                    <a16:creationId xmlns:a16="http://schemas.microsoft.com/office/drawing/2014/main" id="{152D9103-54F9-A90C-CB51-ABE857EDC729}"/>
                  </a:ext>
                </a:extLst>
              </p:cNvPr>
              <p:cNvSpPr/>
              <p:nvPr/>
            </p:nvSpPr>
            <p:spPr>
              <a:xfrm>
                <a:off x="8273404" y="2046513"/>
                <a:ext cx="3325748" cy="869043"/>
              </a:xfrm>
              <a:prstGeom prst="roundRect">
                <a:avLst/>
              </a:prstGeom>
              <a:noFill/>
              <a:ln w="28575">
                <a:solidFill>
                  <a:srgbClr val="5EC5C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0" name="Rectangle 9">
                <a:extLst>
                  <a:ext uri="{FF2B5EF4-FFF2-40B4-BE49-F238E27FC236}">
                    <a16:creationId xmlns:a16="http://schemas.microsoft.com/office/drawing/2014/main" id="{34ADDB74-0E15-742D-DCB9-DF4B1ADAD329}"/>
                  </a:ext>
                </a:extLst>
              </p:cNvPr>
              <p:cNvSpPr/>
              <p:nvPr/>
            </p:nvSpPr>
            <p:spPr>
              <a:xfrm>
                <a:off x="8208414" y="2647821"/>
                <a:ext cx="3455728" cy="33450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1" name="Oval 10">
                <a:extLst>
                  <a:ext uri="{FF2B5EF4-FFF2-40B4-BE49-F238E27FC236}">
                    <a16:creationId xmlns:a16="http://schemas.microsoft.com/office/drawing/2014/main" id="{28926696-7AD8-C99A-5C5A-1619DFF24052}"/>
                  </a:ext>
                </a:extLst>
              </p:cNvPr>
              <p:cNvSpPr>
                <a:spLocks noChangeAspect="1"/>
              </p:cNvSpPr>
              <p:nvPr/>
            </p:nvSpPr>
            <p:spPr>
              <a:xfrm>
                <a:off x="11522341" y="2495157"/>
                <a:ext cx="157323" cy="157323"/>
              </a:xfrm>
              <a:prstGeom prst="ellipse">
                <a:avLst/>
              </a:prstGeom>
              <a:solidFill>
                <a:srgbClr val="5EC5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2" name="Oval 11">
                <a:extLst>
                  <a:ext uri="{FF2B5EF4-FFF2-40B4-BE49-F238E27FC236}">
                    <a16:creationId xmlns:a16="http://schemas.microsoft.com/office/drawing/2014/main" id="{90B44494-FC7C-999B-CD19-01A9DADC8691}"/>
                  </a:ext>
                </a:extLst>
              </p:cNvPr>
              <p:cNvSpPr>
                <a:spLocks noChangeAspect="1"/>
              </p:cNvSpPr>
              <p:nvPr/>
            </p:nvSpPr>
            <p:spPr>
              <a:xfrm>
                <a:off x="8196597" y="2495157"/>
                <a:ext cx="157323" cy="157323"/>
              </a:xfrm>
              <a:prstGeom prst="ellipse">
                <a:avLst/>
              </a:prstGeom>
              <a:solidFill>
                <a:srgbClr val="5EC5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grpSp>
        <p:sp>
          <p:nvSpPr>
            <p:cNvPr id="7" name="Oval 6">
              <a:extLst>
                <a:ext uri="{FF2B5EF4-FFF2-40B4-BE49-F238E27FC236}">
                  <a16:creationId xmlns:a16="http://schemas.microsoft.com/office/drawing/2014/main" id="{5A2A50CB-0FA1-F4DF-39D2-36E73B7A6FF5}"/>
                </a:ext>
              </a:extLst>
            </p:cNvPr>
            <p:cNvSpPr>
              <a:spLocks noChangeAspect="1"/>
            </p:cNvSpPr>
            <p:nvPr/>
          </p:nvSpPr>
          <p:spPr>
            <a:xfrm>
              <a:off x="11365794" y="2839734"/>
              <a:ext cx="157323" cy="157323"/>
            </a:xfrm>
            <a:prstGeom prst="ellipse">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8" name="Oval 7">
              <a:extLst>
                <a:ext uri="{FF2B5EF4-FFF2-40B4-BE49-F238E27FC236}">
                  <a16:creationId xmlns:a16="http://schemas.microsoft.com/office/drawing/2014/main" id="{4D1AAC09-5FEA-10F6-D909-5CE48748BAEA}"/>
                </a:ext>
              </a:extLst>
            </p:cNvPr>
            <p:cNvSpPr>
              <a:spLocks noChangeAspect="1"/>
            </p:cNvSpPr>
            <p:nvPr/>
          </p:nvSpPr>
          <p:spPr>
            <a:xfrm>
              <a:off x="8050243" y="2839894"/>
              <a:ext cx="157323" cy="157323"/>
            </a:xfrm>
            <a:prstGeom prst="ellipse">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grpSp>
      <p:sp>
        <p:nvSpPr>
          <p:cNvPr id="13" name="Oval 12">
            <a:extLst>
              <a:ext uri="{FF2B5EF4-FFF2-40B4-BE49-F238E27FC236}">
                <a16:creationId xmlns:a16="http://schemas.microsoft.com/office/drawing/2014/main" id="{5F48573E-28D5-B8FD-4B49-EAC00579D7D1}"/>
              </a:ext>
            </a:extLst>
          </p:cNvPr>
          <p:cNvSpPr/>
          <p:nvPr/>
        </p:nvSpPr>
        <p:spPr>
          <a:xfrm>
            <a:off x="8966664" y="499606"/>
            <a:ext cx="1472544" cy="1519046"/>
          </a:xfrm>
          <a:prstGeom prst="ellipse">
            <a:avLst/>
          </a:prstGeom>
          <a:blipFill dpi="0" rotWithShape="1">
            <a:blip r:embed="rId3">
              <a:extLst>
                <a:ext uri="{28A0092B-C50C-407E-A947-70E740481C1C}">
                  <a14:useLocalDpi xmlns:a14="http://schemas.microsoft.com/office/drawing/2010/main" val="0"/>
                </a:ext>
              </a:extLst>
            </a:blip>
            <a:srcRect/>
            <a:stretch>
              <a:fillRect/>
            </a:stretch>
          </a:blipFill>
          <a:ln>
            <a:solidFill>
              <a:srgbClr val="5EC5C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sp>
        <p:nvSpPr>
          <p:cNvPr id="3" name="Subtitle 2">
            <a:extLst>
              <a:ext uri="{FF2B5EF4-FFF2-40B4-BE49-F238E27FC236}">
                <a16:creationId xmlns:a16="http://schemas.microsoft.com/office/drawing/2014/main" id="{8D1C01B6-BCED-0B1F-3127-824C5C406503}"/>
              </a:ext>
            </a:extLst>
          </p:cNvPr>
          <p:cNvSpPr>
            <a:spLocks noGrp="1"/>
          </p:cNvSpPr>
          <p:nvPr>
            <p:ph type="subTitle" idx="1"/>
          </p:nvPr>
        </p:nvSpPr>
        <p:spPr>
          <a:xfrm>
            <a:off x="7861369" y="2178994"/>
            <a:ext cx="3586386" cy="3723931"/>
          </a:xfrm>
        </p:spPr>
        <p:txBody>
          <a:bodyPr>
            <a:normAutofit fontScale="55000" lnSpcReduction="20000"/>
          </a:bodyPr>
          <a:lstStyle/>
          <a:p>
            <a:pPr algn="r" rtl="1"/>
            <a:r>
              <a:rPr lang="he-IL" dirty="0"/>
              <a:t>מנחם, בן 81, נ+1. פרופיל תפקודי:</a:t>
            </a:r>
          </a:p>
          <a:p>
            <a:pPr algn="r" rtl="1"/>
            <a:r>
              <a:rPr lang="he-IL" dirty="0"/>
              <a:t>* עייפות, ירידה ברמות האנרגיה </a:t>
            </a:r>
          </a:p>
          <a:p>
            <a:pPr algn="r" rtl="1"/>
            <a:r>
              <a:rPr lang="he-IL" dirty="0"/>
              <a:t>* בעיות שינה </a:t>
            </a:r>
          </a:p>
          <a:p>
            <a:pPr algn="r" rtl="1"/>
            <a:r>
              <a:rPr lang="he-IL" dirty="0"/>
              <a:t>* קשיים בקשב וזיכרון </a:t>
            </a:r>
          </a:p>
          <a:p>
            <a:pPr marL="342900" indent="-342900" algn="r" rtl="1">
              <a:buFont typeface="Arial" panose="020B0604020202020204" pitchFamily="34" charset="0"/>
              <a:buChar char="•"/>
            </a:pPr>
            <a:r>
              <a:rPr lang="he-IL" dirty="0"/>
              <a:t>רגישות לכאב </a:t>
            </a:r>
          </a:p>
          <a:p>
            <a:pPr marL="342900" indent="-342900" algn="r" rtl="1">
              <a:buFont typeface="Arial" panose="020B0604020202020204" pitchFamily="34" charset="0"/>
              <a:buChar char="•"/>
            </a:pPr>
            <a:r>
              <a:rPr lang="he-IL" dirty="0"/>
              <a:t>בעיות שמיעה</a:t>
            </a:r>
          </a:p>
          <a:p>
            <a:pPr algn="r" rtl="1"/>
            <a:r>
              <a:rPr lang="he-IL" dirty="0"/>
              <a:t>* שליטה חלקית על מתן שתן </a:t>
            </a:r>
          </a:p>
          <a:p>
            <a:pPr algn="r" rtl="1"/>
            <a:r>
              <a:rPr lang="he-IL" dirty="0"/>
              <a:t>* הליכה לא יציבה ונטייה לנפילות </a:t>
            </a:r>
          </a:p>
          <a:p>
            <a:pPr algn="r" rtl="1"/>
            <a:r>
              <a:rPr lang="he-IL" dirty="0"/>
              <a:t>* נוקשות וכאב בתנועתיות ברכיים </a:t>
            </a:r>
          </a:p>
          <a:p>
            <a:pPr algn="r" rtl="1">
              <a:lnSpc>
                <a:spcPct val="170000"/>
              </a:lnSpc>
            </a:pPr>
            <a:r>
              <a:rPr lang="he-IL" dirty="0"/>
              <a:t>מנחם במקצועו מהנדס מכונות, בעל יכולות ביצועיות, חובב מוזיקה מושבע, אוסף מכוניות עתיקות, בעל מערכת משפחתית תומכת. בשנים האחרונות, מאז שהחל נופל ממעט לצאת מביתו.</a:t>
            </a:r>
          </a:p>
        </p:txBody>
      </p:sp>
      <p:sp>
        <p:nvSpPr>
          <p:cNvPr id="4" name="Subtitle 2">
            <a:extLst>
              <a:ext uri="{FF2B5EF4-FFF2-40B4-BE49-F238E27FC236}">
                <a16:creationId xmlns:a16="http://schemas.microsoft.com/office/drawing/2014/main" id="{11A6A51E-CB76-6764-B73A-2D7D2ED69E2F}"/>
              </a:ext>
            </a:extLst>
          </p:cNvPr>
          <p:cNvSpPr txBox="1">
            <a:spLocks/>
          </p:cNvSpPr>
          <p:nvPr/>
        </p:nvSpPr>
        <p:spPr>
          <a:xfrm>
            <a:off x="231053" y="944291"/>
            <a:ext cx="5476301" cy="5361479"/>
          </a:xfrm>
          <a:prstGeom prst="rect">
            <a:avLst/>
          </a:prstGeom>
        </p:spPr>
        <p:txBody>
          <a:bodyPr vert="horz" lIns="91440" tIns="45720" rIns="91440" bIns="45720" rtlCol="0">
            <a:normAutofit fontScale="62500" lnSpcReduction="2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marR="0" lvl="0" indent="-342900" algn="r" defTabSz="914400" rtl="1" eaLnBrk="1" fontAlgn="auto" latinLnBrk="0" hangingPunct="1">
              <a:lnSpc>
                <a:spcPct val="90000"/>
              </a:lnSpc>
              <a:spcBef>
                <a:spcPts val="1000"/>
              </a:spcBef>
              <a:spcAft>
                <a:spcPts val="0"/>
              </a:spcAft>
              <a:buClrTx/>
              <a:buSzTx/>
              <a:buFont typeface="Wingdings" panose="05000000000000000000" pitchFamily="2" charset="2"/>
              <a:buChar char="ü"/>
              <a:tabLst/>
              <a:defRPr/>
            </a:pPr>
            <a:r>
              <a:rPr kumimoji="0" lang="he-IL" sz="24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1000</a:t>
            </a:r>
            <a:r>
              <a:rPr kumimoji="0" lang="he-IL" sz="2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 </a:t>
            </a:r>
            <a:r>
              <a:rPr kumimoji="0" lang="he-IL" sz="24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a:t>
            </a:r>
            <a:r>
              <a:rPr kumimoji="0" lang="he-IL" sz="14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 </a:t>
            </a:r>
            <a:r>
              <a:rPr kumimoji="0" lang="he-IL" sz="2400" b="1"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גמלה בכסף ולצריכת שירותים מותאמים אישית </a:t>
            </a:r>
            <a:endParaRPr kumimoji="0" lang="he-IL" sz="19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endParaRPr>
          </a:p>
          <a:p>
            <a:pPr marL="342900" marR="0" lvl="0" indent="-342900" algn="r" defTabSz="914400" rtl="1" eaLnBrk="1" fontAlgn="auto" latinLnBrk="0" hangingPunct="1">
              <a:lnSpc>
                <a:spcPct val="90000"/>
              </a:lnSpc>
              <a:spcBef>
                <a:spcPts val="1000"/>
              </a:spcBef>
              <a:spcAft>
                <a:spcPts val="0"/>
              </a:spcAft>
              <a:buClrTx/>
              <a:buSzTx/>
              <a:buFont typeface="Wingdings" panose="05000000000000000000" pitchFamily="2" charset="2"/>
              <a:buChar char="ü"/>
              <a:tabLst/>
              <a:defRPr/>
            </a:pPr>
            <a:r>
              <a:rPr kumimoji="0" lang="he-IL" sz="2400" b="1"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8 שעות מטפלת </a:t>
            </a:r>
            <a:r>
              <a:rPr kumimoji="0" lang="he-IL" sz="24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שבועיות הכוללות:</a:t>
            </a:r>
          </a:p>
          <a:p>
            <a:pPr marL="800100" marR="0" lvl="1" indent="-342900" algn="r" defTabSz="914400" rtl="1"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he-IL" sz="20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סיוע בניידות בבית ומחוץ לבית</a:t>
            </a:r>
          </a:p>
          <a:p>
            <a:pPr marL="800100" marR="0" lvl="1" indent="-342900" algn="r" defTabSz="914400" rtl="1"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he-IL" sz="20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סיוע בבישול והגשת מזון </a:t>
            </a:r>
          </a:p>
          <a:p>
            <a:pPr marL="800100" marR="0" lvl="1" indent="-342900" algn="r" defTabSz="914400" rtl="1"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he-IL" sz="20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סיוע באחזקת הבית ושמירה על סביבה בטוחה</a:t>
            </a:r>
          </a:p>
          <a:p>
            <a:pPr marL="800100" marR="0" lvl="1" indent="-342900" algn="r" defTabSz="914400" rtl="1"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he-IL" sz="20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השגחה או עזרה חלקית ברחצה והלבשה</a:t>
            </a:r>
          </a:p>
          <a:p>
            <a:pPr marL="800100" marR="0" lvl="1" indent="-342900" algn="r" defTabSz="914400" rtl="1"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he-IL" sz="20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ליווי לשירותים</a:t>
            </a:r>
          </a:p>
          <a:p>
            <a:pPr marL="342900" marR="0" lvl="0" indent="-342900" algn="r" defTabSz="914400" rtl="1" eaLnBrk="1" fontAlgn="auto" latinLnBrk="0" hangingPunct="1">
              <a:lnSpc>
                <a:spcPct val="90000"/>
              </a:lnSpc>
              <a:spcBef>
                <a:spcPts val="1000"/>
              </a:spcBef>
              <a:spcAft>
                <a:spcPts val="0"/>
              </a:spcAft>
              <a:buClrTx/>
              <a:buSzTx/>
              <a:buFont typeface="Wingdings" panose="05000000000000000000" pitchFamily="2" charset="2"/>
              <a:buChar char="ü"/>
              <a:tabLst/>
              <a:defRPr/>
            </a:pPr>
            <a:r>
              <a:rPr kumimoji="0" lang="he-IL" sz="24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1,118 ₪ </a:t>
            </a:r>
            <a:r>
              <a:rPr kumimoji="0" lang="he-IL" sz="2400" b="1"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לקהילה ולרכישת שירותים </a:t>
            </a:r>
            <a:r>
              <a:rPr kumimoji="0" lang="he-IL" sz="24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ומוצרים מותאמים לפרופיל האישי (2 ש' צבוע + 2 ש' בבחירה) כגון:</a:t>
            </a:r>
          </a:p>
          <a:p>
            <a:pPr marL="0" marR="0" lvl="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he-IL" sz="24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1. 209 ₪ ל</a:t>
            </a:r>
            <a:r>
              <a:rPr kumimoji="0" lang="he-IL" sz="2400" b="1"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קהילה מקדמת שייכות, בריאות וחוסן </a:t>
            </a:r>
            <a:r>
              <a:rPr kumimoji="0" lang="he-IL"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(פעילות, קשר, תיקונים,   תיווך וסיוע)-</a:t>
            </a:r>
          </a:p>
          <a:p>
            <a:pPr marL="0" marR="0" lvl="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he-IL" sz="24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2. </a:t>
            </a:r>
            <a:r>
              <a:rPr kumimoji="0" lang="he-IL" sz="2400" b="1"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קורס מוזיקה מקוון בקתדרה למוזיקה </a:t>
            </a:r>
            <a:r>
              <a:rPr kumimoji="0" lang="he-IL" sz="24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 350 ₪ </a:t>
            </a:r>
          </a:p>
          <a:p>
            <a:pPr marL="0" marR="0" lvl="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he-IL" sz="18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a:t>
            </a:r>
            <a:r>
              <a:rPr kumimoji="0" lang="he-IL" sz="19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מאפשר עיסוק קוגניטיבי בתחום העניין, לצד התחשבות בקשיים המוטוריים </a:t>
            </a:r>
            <a:r>
              <a:rPr kumimoji="0" lang="he-IL" sz="1900" b="0" i="0" u="none" strike="noStrike" kern="1200" cap="none" spc="0" normalizeH="0" baseline="0" noProof="0" dirty="0" err="1">
                <a:ln>
                  <a:noFill/>
                </a:ln>
                <a:solidFill>
                  <a:prstClr val="black"/>
                </a:solidFill>
                <a:effectLst/>
                <a:uLnTx/>
                <a:uFillTx/>
                <a:latin typeface="Aptos" panose="02110004020202020204"/>
                <a:ea typeface="+mn-ea"/>
                <a:cs typeface="Arial" panose="020B0604020202020204" pitchFamily="34" charset="0"/>
              </a:rPr>
              <a:t>והקשביים</a:t>
            </a:r>
            <a:r>
              <a:rPr kumimoji="0" lang="he-IL" sz="19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a:t>
            </a:r>
          </a:p>
          <a:p>
            <a:pPr marL="0" marR="0" lvl="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he-IL" sz="24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3. </a:t>
            </a:r>
            <a:r>
              <a:rPr kumimoji="0" lang="he-IL" sz="2400" b="1"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שיעורי דמיון מודרך ומדיטציה במתנ"ס </a:t>
            </a:r>
            <a:r>
              <a:rPr kumimoji="0" lang="he-IL" sz="24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- 250 ₪ </a:t>
            </a:r>
          </a:p>
          <a:p>
            <a:pPr marL="0" marR="0" lvl="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he-IL" sz="19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(מהווה כלי מסייע בניהול כאבים, בעיות שינה, מטפלת מסיעה ומלווה, מתנ"ס מונגש)</a:t>
            </a:r>
          </a:p>
          <a:p>
            <a:pPr marL="0" marR="0" lvl="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he-IL" sz="24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4. </a:t>
            </a:r>
            <a:r>
              <a:rPr kumimoji="0" lang="he-IL" sz="2400" b="1"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בריכה והידרותרפיה </a:t>
            </a:r>
            <a:r>
              <a:rPr kumimoji="0" lang="he-IL" sz="24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 250 ₪  </a:t>
            </a:r>
          </a:p>
          <a:p>
            <a:pPr marL="0" marR="0" lvl="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he-IL" sz="19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(מענה לקשיים: נוקשות בתנועתיות- סביבת המים, ההחזקה- מענה לחשש מנפילות)</a:t>
            </a:r>
          </a:p>
          <a:p>
            <a:pPr marL="0" marR="0" lvl="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he-IL" sz="24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5. </a:t>
            </a:r>
            <a:r>
              <a:rPr kumimoji="0" lang="he-IL" sz="2400" b="1"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רכישת מכשיר שמיעה מסובסד-300 </a:t>
            </a:r>
            <a:r>
              <a:rPr kumimoji="0" lang="he-IL" sz="24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 </a:t>
            </a:r>
            <a:r>
              <a:rPr kumimoji="0" lang="he-IL" sz="18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(קריטי לתפקוד ולמניעת הדרדרות)</a:t>
            </a:r>
            <a:endParaRPr kumimoji="0" lang="he-IL" sz="32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endParaRPr>
          </a:p>
          <a:p>
            <a:pPr marL="0" marR="0" lvl="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he-IL" sz="24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6. </a:t>
            </a:r>
            <a:r>
              <a:rPr kumimoji="0" lang="he-IL" sz="2400" b="1"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התנדבות </a:t>
            </a:r>
            <a:r>
              <a:rPr kumimoji="0" lang="he-IL" sz="21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דו חודשית בבית הספר "אורט" מגמת מכונאות בסיוע לתלמידים</a:t>
            </a:r>
            <a:r>
              <a:rPr kumimoji="0" lang="he-IL" sz="10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 </a:t>
            </a:r>
          </a:p>
          <a:p>
            <a:pPr marL="0" marR="0" lvl="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he-IL" sz="19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(צורך בקשר ומשמעות ומיצוי עצמי)</a:t>
            </a:r>
            <a:endParaRPr kumimoji="0" lang="he-IL" sz="2400" b="1"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endParaRPr>
          </a:p>
          <a:p>
            <a:pPr marL="0" marR="0" lvl="0" indent="0" algn="ctr" defTabSz="914400" rtl="1"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he-IL" sz="2400" b="1"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סה"כ 1409 ₪ מתוכם 1,118 ₪ במימון מדינה </a:t>
            </a:r>
            <a:endParaRPr kumimoji="0" lang="he-IL" sz="24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endParaRPr>
          </a:p>
        </p:txBody>
      </p:sp>
      <p:sp>
        <p:nvSpPr>
          <p:cNvPr id="14" name="Chevron 9">
            <a:extLst>
              <a:ext uri="{FF2B5EF4-FFF2-40B4-BE49-F238E27FC236}">
                <a16:creationId xmlns:a16="http://schemas.microsoft.com/office/drawing/2014/main" id="{53CB9F4D-0FB1-3D16-6D13-CEF08E76D144}"/>
              </a:ext>
            </a:extLst>
          </p:cNvPr>
          <p:cNvSpPr/>
          <p:nvPr/>
        </p:nvSpPr>
        <p:spPr>
          <a:xfrm rot="10800000">
            <a:off x="6097256" y="3295511"/>
            <a:ext cx="1558343" cy="288000"/>
          </a:xfrm>
          <a:prstGeom prst="chevron">
            <a:avLst/>
          </a:prstGeom>
          <a:solidFill>
            <a:srgbClr val="5EC5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5" name="Oval 14">
            <a:extLst>
              <a:ext uri="{FF2B5EF4-FFF2-40B4-BE49-F238E27FC236}">
                <a16:creationId xmlns:a16="http://schemas.microsoft.com/office/drawing/2014/main" id="{7E549171-80AC-AFAF-C88B-947BC5215AD1}"/>
              </a:ext>
            </a:extLst>
          </p:cNvPr>
          <p:cNvSpPr>
            <a:spLocks noChangeAspect="1"/>
          </p:cNvSpPr>
          <p:nvPr/>
        </p:nvSpPr>
        <p:spPr>
          <a:xfrm>
            <a:off x="7164023" y="3388674"/>
            <a:ext cx="101674" cy="10167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8" name="TextBox 17"/>
          <p:cNvSpPr txBox="1"/>
          <p:nvPr/>
        </p:nvSpPr>
        <p:spPr>
          <a:xfrm>
            <a:off x="6040697" y="65255"/>
            <a:ext cx="2642070" cy="523220"/>
          </a:xfrm>
          <a:prstGeom prst="rect">
            <a:avLst/>
          </a:prstGeom>
          <a:noFill/>
        </p:spPr>
        <p:txBody>
          <a:bodyPr wrap="none" rtlCol="1">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he-IL" sz="2800" b="1"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ההזדמנות לשינוי</a:t>
            </a:r>
          </a:p>
        </p:txBody>
      </p:sp>
      <p:sp>
        <p:nvSpPr>
          <p:cNvPr id="21" name="אליפסה 20"/>
          <p:cNvSpPr/>
          <p:nvPr/>
        </p:nvSpPr>
        <p:spPr>
          <a:xfrm>
            <a:off x="10723105" y="40478"/>
            <a:ext cx="1449299" cy="123938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1600" b="1" i="0" u="none" strike="noStrike" kern="1200" cap="none" spc="0" normalizeH="0" baseline="0" noProof="0" dirty="0">
                <a:ln>
                  <a:noFill/>
                </a:ln>
                <a:solidFill>
                  <a:prstClr val="white"/>
                </a:solidFill>
                <a:effectLst/>
                <a:uLnTx/>
                <a:uFillTx/>
                <a:latin typeface="Aptos" panose="02110004020202020204"/>
                <a:ea typeface="+mn-ea"/>
                <a:cs typeface="Arial" panose="020B0604020202020204" pitchFamily="34" charset="0"/>
              </a:rPr>
              <a:t> </a:t>
            </a:r>
            <a:r>
              <a:rPr kumimoji="0" lang="he-IL" sz="1500" b="1" i="0" u="none" strike="noStrike" kern="1200" cap="none" spc="0" normalizeH="0" baseline="0" noProof="0" dirty="0">
                <a:ln>
                  <a:noFill/>
                </a:ln>
                <a:solidFill>
                  <a:prstClr val="white"/>
                </a:solidFill>
                <a:effectLst/>
                <a:uLnTx/>
                <a:uFillTx/>
                <a:latin typeface="Aptos" panose="02110004020202020204"/>
                <a:ea typeface="+mn-ea"/>
                <a:cs typeface="Arial" panose="020B0604020202020204" pitchFamily="34" charset="0"/>
              </a:rPr>
              <a:t>פרופיל  </a:t>
            </a:r>
            <a:r>
              <a:rPr kumimoji="0" lang="he-IL" sz="1350" b="1" i="0" u="none" strike="noStrike" kern="1200" cap="none" spc="0" normalizeH="0" baseline="0" noProof="0" dirty="0">
                <a:ln>
                  <a:noFill/>
                </a:ln>
                <a:solidFill>
                  <a:prstClr val="white"/>
                </a:solidFill>
                <a:effectLst/>
                <a:uLnTx/>
                <a:uFillTx/>
                <a:latin typeface="Aptos" panose="02110004020202020204"/>
                <a:ea typeface="+mn-ea"/>
                <a:cs typeface="Arial" panose="020B0604020202020204" pitchFamily="34" charset="0"/>
              </a:rPr>
              <a:t>וסל  תפקודי </a:t>
            </a:r>
            <a:r>
              <a:rPr kumimoji="0" lang="he-IL" sz="1500" b="1" i="0" u="none" strike="noStrike" kern="1200" cap="none" spc="0" normalizeH="0" baseline="0" noProof="0" dirty="0">
                <a:ln>
                  <a:noFill/>
                </a:ln>
                <a:solidFill>
                  <a:prstClr val="white"/>
                </a:solidFill>
                <a:effectLst/>
                <a:uLnTx/>
                <a:uFillTx/>
                <a:latin typeface="Aptos" panose="02110004020202020204"/>
                <a:ea typeface="+mn-ea"/>
                <a:cs typeface="Arial" panose="020B0604020202020204" pitchFamily="34" charset="0"/>
              </a:rPr>
              <a:t>מותאם</a:t>
            </a:r>
          </a:p>
        </p:txBody>
      </p:sp>
      <p:sp>
        <p:nvSpPr>
          <p:cNvPr id="23" name="מלבן 22"/>
          <p:cNvSpPr/>
          <p:nvPr/>
        </p:nvSpPr>
        <p:spPr>
          <a:xfrm>
            <a:off x="994130" y="187332"/>
            <a:ext cx="4030270" cy="369332"/>
          </a:xfrm>
          <a:prstGeom prst="rect">
            <a:avLst/>
          </a:prstGeom>
        </p:spPr>
        <p:txBody>
          <a:bodyPr wrap="non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הסל החדש: מותאם, מתמרץ ודוחק תלות:</a:t>
            </a:r>
          </a:p>
        </p:txBody>
      </p:sp>
      <p:sp>
        <p:nvSpPr>
          <p:cNvPr id="17" name="מלבן 16">
            <a:extLst>
              <a:ext uri="{FF2B5EF4-FFF2-40B4-BE49-F238E27FC236}">
                <a16:creationId xmlns:a16="http://schemas.microsoft.com/office/drawing/2014/main" id="{72EB0216-DF15-0ADF-1446-3B696A77CA6A}"/>
              </a:ext>
            </a:extLst>
          </p:cNvPr>
          <p:cNvSpPr/>
          <p:nvPr/>
        </p:nvSpPr>
        <p:spPr>
          <a:xfrm>
            <a:off x="3093" y="0"/>
            <a:ext cx="244547" cy="6857999"/>
          </a:xfrm>
          <a:prstGeom prst="rect">
            <a:avLst/>
          </a:prstGeom>
          <a:solidFill>
            <a:srgbClr val="5EC5C5"/>
          </a:solidFill>
          <a:ln>
            <a:solidFill>
              <a:srgbClr val="2CC2E0"/>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Calibri"/>
              <a:ea typeface="+mn-ea"/>
              <a:cs typeface="Calibri"/>
            </a:endParaRPr>
          </a:p>
        </p:txBody>
      </p:sp>
      <p:sp>
        <p:nvSpPr>
          <p:cNvPr id="19" name="TextBox 10">
            <a:extLst>
              <a:ext uri="{FF2B5EF4-FFF2-40B4-BE49-F238E27FC236}">
                <a16:creationId xmlns:a16="http://schemas.microsoft.com/office/drawing/2014/main" id="{23D44079-AB70-B511-15B2-3CF42217CADE}"/>
              </a:ext>
            </a:extLst>
          </p:cNvPr>
          <p:cNvSpPr txBox="1"/>
          <p:nvPr/>
        </p:nvSpPr>
        <p:spPr>
          <a:xfrm rot="16200000">
            <a:off x="-709672" y="667069"/>
            <a:ext cx="1616148" cy="338554"/>
          </a:xfrm>
          <a:prstGeom prst="rect">
            <a:avLst/>
          </a:prstGeom>
          <a:noFill/>
        </p:spPr>
        <p:txBody>
          <a:bodyPr wrap="non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1"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סל מותאם אישית</a:t>
            </a:r>
          </a:p>
        </p:txBody>
      </p:sp>
      <p:pic>
        <p:nvPicPr>
          <p:cNvPr id="20" name="Picture 3" descr="קובץ:Ministry of Labor, Social Affairs and Social Services ...">
            <a:extLst>
              <a:ext uri="{FF2B5EF4-FFF2-40B4-BE49-F238E27FC236}">
                <a16:creationId xmlns:a16="http://schemas.microsoft.com/office/drawing/2014/main" id="{656A95EA-F359-CE94-B91F-44C14546E346}"/>
              </a:ext>
            </a:extLst>
          </p:cNvPr>
          <p:cNvPicPr>
            <a:picLocks noChangeAspect="1" noChangeArrowheads="1"/>
          </p:cNvPicPr>
          <p:nvPr/>
        </p:nvPicPr>
        <p:blipFill>
          <a:blip r:embed="rId4" cstate="email">
            <a:extLst>
              <a:ext uri="{28A0092B-C50C-407E-A947-70E740481C1C}">
                <a14:useLocalDpi xmlns:a14="http://schemas.microsoft.com/office/drawing/2010/main"/>
              </a:ext>
            </a:extLst>
          </a:blip>
          <a:srcRect/>
          <a:stretch>
            <a:fillRect/>
          </a:stretch>
        </p:blipFill>
        <p:spPr bwMode="auto">
          <a:xfrm>
            <a:off x="10311239" y="6295970"/>
            <a:ext cx="1742734" cy="475167"/>
          </a:xfrm>
          <a:prstGeom prst="rect">
            <a:avLst/>
          </a:prstGeom>
          <a:noFill/>
          <a:extLst>
            <a:ext uri="{909E8E84-426E-40DD-AFC4-6F175D3DCCD1}">
              <a14:hiddenFill xmlns:a14="http://schemas.microsoft.com/office/drawing/2010/main">
                <a:solidFill>
                  <a:srgbClr val="FFFFFF"/>
                </a:solidFill>
              </a14:hiddenFill>
            </a:ext>
          </a:extLst>
        </p:spPr>
      </p:pic>
      <p:pic>
        <p:nvPicPr>
          <p:cNvPr id="22" name="Picture 26">
            <a:extLst>
              <a:ext uri="{FF2B5EF4-FFF2-40B4-BE49-F238E27FC236}">
                <a16:creationId xmlns:a16="http://schemas.microsoft.com/office/drawing/2014/main" id="{9B3813F8-DD0B-0590-A57E-77BDC3E091AB}"/>
              </a:ext>
            </a:extLst>
          </p:cNvPr>
          <p:cNvPicPr>
            <a:picLocks noChangeAspect="1"/>
          </p:cNvPicPr>
          <p:nvPr/>
        </p:nvPicPr>
        <p:blipFill>
          <a:blip r:embed="rId5"/>
          <a:stretch>
            <a:fillRect/>
          </a:stretch>
        </p:blipFill>
        <p:spPr>
          <a:xfrm>
            <a:off x="9068981" y="6196459"/>
            <a:ext cx="1118350" cy="612431"/>
          </a:xfrm>
          <a:prstGeom prst="rect">
            <a:avLst/>
          </a:prstGeom>
          <a:ln>
            <a:noFill/>
          </a:ln>
        </p:spPr>
      </p:pic>
    </p:spTree>
    <p:extLst>
      <p:ext uri="{BB962C8B-B14F-4D97-AF65-F5344CB8AC3E}">
        <p14:creationId xmlns:p14="http://schemas.microsoft.com/office/powerpoint/2010/main" val="320958103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6" name="מלבן 15"/>
          <p:cNvSpPr/>
          <p:nvPr/>
        </p:nvSpPr>
        <p:spPr>
          <a:xfrm>
            <a:off x="8710" y="8466"/>
            <a:ext cx="244547" cy="6857999"/>
          </a:xfrm>
          <a:prstGeom prst="rect">
            <a:avLst/>
          </a:prstGeom>
          <a:solidFill>
            <a:srgbClr val="4472C4"/>
          </a:solidFill>
          <a:ln>
            <a:solidFill>
              <a:srgbClr val="8C8DC5"/>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Calibri" panose="020F0502020204030204"/>
              <a:ea typeface="+mn-ea"/>
              <a:cs typeface="Arial" panose="020B0604020202020204" pitchFamily="34" charset="0"/>
            </a:endParaRPr>
          </a:p>
        </p:txBody>
      </p:sp>
      <p:sp>
        <p:nvSpPr>
          <p:cNvPr id="25" name="TextBox 24"/>
          <p:cNvSpPr txBox="1"/>
          <p:nvPr/>
        </p:nvSpPr>
        <p:spPr>
          <a:xfrm>
            <a:off x="1076242" y="49402"/>
            <a:ext cx="7282543" cy="646331"/>
          </a:xfrm>
          <a:prstGeom prst="rect">
            <a:avLst/>
          </a:prstGeom>
          <a:noFill/>
        </p:spPr>
        <p:txBody>
          <a:bodyPr wrap="squar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3600" b="1" i="0" u="none" strike="noStrike" kern="1200" cap="none" spc="0" normalizeH="0" baseline="0" noProof="0" dirty="0">
                <a:ln>
                  <a:noFill/>
                </a:ln>
                <a:solidFill>
                  <a:srgbClr val="002060"/>
                </a:solidFill>
                <a:effectLst/>
                <a:uLnTx/>
                <a:uFillTx/>
                <a:latin typeface="Calibri" panose="020F0502020204030204" pitchFamily="34" charset="0"/>
                <a:ea typeface="+mn-ea"/>
                <a:cs typeface="Calibri" panose="020F0502020204030204" pitchFamily="34" charset="0"/>
              </a:rPr>
              <a:t>מהלכים וכיוונים להמשך</a:t>
            </a:r>
          </a:p>
        </p:txBody>
      </p:sp>
      <p:pic>
        <p:nvPicPr>
          <p:cNvPr id="33" name="תמונה 3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233364" y="7112573"/>
            <a:ext cx="1917271" cy="519704"/>
          </a:xfrm>
          <a:prstGeom prst="rect">
            <a:avLst/>
          </a:prstGeom>
        </p:spPr>
      </p:pic>
      <p:grpSp>
        <p:nvGrpSpPr>
          <p:cNvPr id="34" name="קבוצה 33"/>
          <p:cNvGrpSpPr/>
          <p:nvPr/>
        </p:nvGrpSpPr>
        <p:grpSpPr>
          <a:xfrm>
            <a:off x="1737682" y="685172"/>
            <a:ext cx="713132" cy="672718"/>
            <a:chOff x="1670079" y="2140313"/>
            <a:chExt cx="1642835" cy="1642835"/>
          </a:xfrm>
          <a:solidFill>
            <a:srgbClr val="D8BEEC"/>
          </a:solidFill>
        </p:grpSpPr>
        <p:sp>
          <p:nvSpPr>
            <p:cNvPr id="35" name="אליפסה 34"/>
            <p:cNvSpPr/>
            <p:nvPr/>
          </p:nvSpPr>
          <p:spPr>
            <a:xfrm>
              <a:off x="1670079" y="2140313"/>
              <a:ext cx="1642835" cy="1642835"/>
            </a:xfrm>
            <a:prstGeom prst="ellipse">
              <a:avLst/>
            </a:prstGeom>
            <a:grpFill/>
          </p:spPr>
          <p:style>
            <a:lnRef idx="2">
              <a:schemeClr val="lt1">
                <a:hueOff val="0"/>
                <a:satOff val="0"/>
                <a:lumOff val="0"/>
                <a:alphaOff val="0"/>
              </a:schemeClr>
            </a:lnRef>
            <a:fillRef idx="1">
              <a:scrgbClr r="0" g="0" b="0"/>
            </a:fillRef>
            <a:effectRef idx="0">
              <a:schemeClr val="accent6">
                <a:alpha val="50000"/>
                <a:hueOff val="0"/>
                <a:satOff val="0"/>
                <a:lumOff val="0"/>
                <a:alphaOff val="0"/>
              </a:schemeClr>
            </a:effectRef>
            <a:fontRef idx="minor">
              <a:schemeClr val="tx1"/>
            </a:fontRef>
          </p:style>
        </p:sp>
        <p:sp>
          <p:nvSpPr>
            <p:cNvPr id="36" name="אליפסה 4"/>
            <p:cNvSpPr txBox="1"/>
            <p:nvPr/>
          </p:nvSpPr>
          <p:spPr>
            <a:xfrm>
              <a:off x="1910667" y="2380901"/>
              <a:ext cx="1161659" cy="1161659"/>
            </a:xfrm>
            <a:prstGeom prst="rect">
              <a:avLst/>
            </a:prstGeom>
            <a:grpFill/>
          </p:spPr>
          <p:style>
            <a:lnRef idx="0">
              <a:scrgbClr r="0" g="0" b="0"/>
            </a:lnRef>
            <a:fillRef idx="0">
              <a:scrgbClr r="0" g="0" b="0"/>
            </a:fillRef>
            <a:effectRef idx="0">
              <a:scrgbClr r="0" g="0" b="0"/>
            </a:effectRef>
            <a:fontRef idx="minor">
              <a:schemeClr val="tx1"/>
            </a:fontRef>
          </p:style>
          <p:txBody>
            <a:bodyPr spcFirstLastPara="0" vert="horz" wrap="square" lIns="35560" tIns="35560" rIns="35560" bIns="35560" numCol="1" spcCol="1270" anchor="ctr" anchorCtr="0">
              <a:noAutofit/>
            </a:bodyPr>
            <a:lstStyle/>
            <a:p>
              <a:pPr marL="0" marR="0" lvl="0" indent="0" algn="ctr" defTabSz="1244600" rtl="1" eaLnBrk="1" fontAlgn="auto" latinLnBrk="0" hangingPunct="1">
                <a:lnSpc>
                  <a:spcPct val="90000"/>
                </a:lnSpc>
                <a:spcBef>
                  <a:spcPct val="0"/>
                </a:spcBef>
                <a:spcAft>
                  <a:spcPct val="35000"/>
                </a:spcAft>
                <a:buClrTx/>
                <a:buSzTx/>
                <a:buFontTx/>
                <a:buNone/>
                <a:tabLst/>
                <a:defRPr/>
              </a:pPr>
              <a:endParaRPr kumimoji="0" lang="he-IL" sz="28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grpSp>
      <p:sp>
        <p:nvSpPr>
          <p:cNvPr id="37" name="אליפסה 36"/>
          <p:cNvSpPr/>
          <p:nvPr/>
        </p:nvSpPr>
        <p:spPr>
          <a:xfrm>
            <a:off x="2142754" y="453506"/>
            <a:ext cx="720556" cy="628513"/>
          </a:xfrm>
          <a:prstGeom prst="ellipse">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sp>
      <p:grpSp>
        <p:nvGrpSpPr>
          <p:cNvPr id="38" name="קבוצה 37"/>
          <p:cNvGrpSpPr/>
          <p:nvPr/>
        </p:nvGrpSpPr>
        <p:grpSpPr>
          <a:xfrm>
            <a:off x="1693672" y="238801"/>
            <a:ext cx="1542940" cy="1378856"/>
            <a:chOff x="4003932" y="140625"/>
            <a:chExt cx="3347849" cy="3401935"/>
          </a:xfrm>
        </p:grpSpPr>
        <p:sp>
          <p:nvSpPr>
            <p:cNvPr id="39" name="אליפסה 38"/>
            <p:cNvSpPr/>
            <p:nvPr/>
          </p:nvSpPr>
          <p:spPr>
            <a:xfrm>
              <a:off x="4003932" y="140625"/>
              <a:ext cx="1642835" cy="1642835"/>
            </a:xfrm>
            <a:prstGeom prst="ellipse">
              <a:avLst/>
            </a:prstGeom>
            <a:solidFill>
              <a:srgbClr val="D3F4A8">
                <a:alpha val="50000"/>
              </a:srgbClr>
            </a:solidFill>
          </p:spPr>
          <p:style>
            <a:lnRef idx="2">
              <a:schemeClr val="lt1">
                <a:hueOff val="0"/>
                <a:satOff val="0"/>
                <a:lumOff val="0"/>
                <a:alphaOff val="0"/>
              </a:schemeClr>
            </a:lnRef>
            <a:fillRef idx="1">
              <a:scrgbClr r="0" g="0" b="0"/>
            </a:fillRef>
            <a:effectRef idx="0">
              <a:schemeClr val="accent4">
                <a:alpha val="50000"/>
                <a:hueOff val="0"/>
                <a:satOff val="0"/>
                <a:lumOff val="0"/>
                <a:alphaOff val="0"/>
              </a:schemeClr>
            </a:effectRef>
            <a:fontRef idx="minor">
              <a:schemeClr val="tx1"/>
            </a:fontRef>
          </p:style>
        </p:sp>
        <p:sp>
          <p:nvSpPr>
            <p:cNvPr id="40" name="אליפסה 4"/>
            <p:cNvSpPr txBox="1"/>
            <p:nvPr/>
          </p:nvSpPr>
          <p:spPr>
            <a:xfrm>
              <a:off x="6190122" y="2380901"/>
              <a:ext cx="1161659" cy="1161659"/>
            </a:xfrm>
            <a:prstGeom prst="rect">
              <a:avLst/>
            </a:prstGeom>
          </p:spPr>
          <p:style>
            <a:lnRef idx="0">
              <a:scrgbClr r="0" g="0" b="0"/>
            </a:lnRef>
            <a:fillRef idx="0">
              <a:scrgbClr r="0" g="0" b="0"/>
            </a:fillRef>
            <a:effectRef idx="0">
              <a:scrgbClr r="0" g="0" b="0"/>
            </a:effectRef>
            <a:fontRef idx="minor">
              <a:schemeClr val="tx1"/>
            </a:fontRef>
          </p:style>
          <p:txBody>
            <a:bodyPr spcFirstLastPara="0" vert="horz" wrap="square" lIns="27940" tIns="27940" rIns="27940" bIns="27940" numCol="1" spcCol="1270" anchor="ctr" anchorCtr="0">
              <a:noAutofit/>
            </a:bodyPr>
            <a:lstStyle/>
            <a:p>
              <a:pPr marL="0" marR="0" lvl="0" indent="0" algn="ctr" defTabSz="977900" rtl="1" eaLnBrk="1" fontAlgn="auto" latinLnBrk="0" hangingPunct="1">
                <a:lnSpc>
                  <a:spcPct val="90000"/>
                </a:lnSpc>
                <a:spcBef>
                  <a:spcPct val="0"/>
                </a:spcBef>
                <a:spcAft>
                  <a:spcPct val="35000"/>
                </a:spcAft>
                <a:buClrTx/>
                <a:buSzTx/>
                <a:buFontTx/>
                <a:buNone/>
                <a:tabLst/>
                <a:defRPr/>
              </a:pPr>
              <a:endParaRPr kumimoji="0" lang="he-IL" sz="16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grpSp>
      <p:sp>
        <p:nvSpPr>
          <p:cNvPr id="41" name="חץ שמאלה 40"/>
          <p:cNvSpPr/>
          <p:nvPr/>
        </p:nvSpPr>
        <p:spPr>
          <a:xfrm>
            <a:off x="3468948" y="4867373"/>
            <a:ext cx="656830" cy="356781"/>
          </a:xfrm>
          <a:prstGeom prst="leftArrow">
            <a:avLst/>
          </a:prstGeom>
          <a:solidFill>
            <a:srgbClr val="002060"/>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Calibri" panose="020F0502020204030204"/>
              <a:ea typeface="+mn-ea"/>
              <a:cs typeface="Arial" panose="020B0604020202020204" pitchFamily="34" charset="0"/>
            </a:endParaRPr>
          </a:p>
        </p:txBody>
      </p:sp>
      <p:graphicFrame>
        <p:nvGraphicFramePr>
          <p:cNvPr id="4" name="דיאגרמה 3"/>
          <p:cNvGraphicFramePr/>
          <p:nvPr/>
        </p:nvGraphicFramePr>
        <p:xfrm>
          <a:off x="2094248" y="728133"/>
          <a:ext cx="8128000" cy="5418667"/>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47" name="TextBox 46"/>
          <p:cNvSpPr txBox="1"/>
          <p:nvPr/>
        </p:nvSpPr>
        <p:spPr>
          <a:xfrm rot="16200000">
            <a:off x="-934780" y="703270"/>
            <a:ext cx="1922322" cy="515782"/>
          </a:xfrm>
          <a:prstGeom prst="rect">
            <a:avLst/>
          </a:prstGeom>
          <a:noFill/>
        </p:spPr>
        <p:txBody>
          <a:bodyPr wrap="none" rtlCol="1">
            <a:spAutoFit/>
          </a:bodyPr>
          <a:lstStyle/>
          <a:p>
            <a:pPr marL="0" marR="0" lvl="0" indent="0" algn="r" defTabSz="914400" rtl="1" eaLnBrk="1" fontAlgn="auto" latinLnBrk="0" hangingPunct="1">
              <a:lnSpc>
                <a:spcPct val="200000"/>
              </a:lnSpc>
              <a:spcBef>
                <a:spcPts val="0"/>
              </a:spcBef>
              <a:spcAft>
                <a:spcPts val="0"/>
              </a:spcAft>
              <a:buClrTx/>
              <a:buSzTx/>
              <a:buFontTx/>
              <a:buNone/>
              <a:tabLst/>
              <a:defRPr/>
            </a:pPr>
            <a:r>
              <a:rPr kumimoji="0" lang="he-IL" sz="1600" b="1" i="0" u="none" strike="noStrike" kern="1200" cap="none" spc="0" normalizeH="0" baseline="0" noProof="0" dirty="0">
                <a:ln>
                  <a:noFill/>
                </a:ln>
                <a:solidFill>
                  <a:prstClr val="black"/>
                </a:solidFill>
                <a:effectLst/>
                <a:uLnTx/>
                <a:uFillTx/>
                <a:latin typeface="Calibri" panose="020F0502020204030204" pitchFamily="34" charset="0"/>
                <a:ea typeface="Open Sans" panose="020B0606030504020204" pitchFamily="34" charset="0"/>
                <a:cs typeface="Calibri" panose="020F0502020204030204" pitchFamily="34" charset="0"/>
              </a:rPr>
              <a:t>מהלכים וכיוונים קדימה</a:t>
            </a:r>
          </a:p>
        </p:txBody>
      </p:sp>
      <p:pic>
        <p:nvPicPr>
          <p:cNvPr id="2" name="Picture 3" descr="קובץ:Ministry of Labor, Social Affairs and Social Services ...">
            <a:extLst>
              <a:ext uri="{FF2B5EF4-FFF2-40B4-BE49-F238E27FC236}">
                <a16:creationId xmlns:a16="http://schemas.microsoft.com/office/drawing/2014/main" id="{BCE3E37F-4347-0AA1-4B1D-EE78582D22E1}"/>
              </a:ext>
            </a:extLst>
          </p:cNvPr>
          <p:cNvPicPr>
            <a:picLocks noChangeAspect="1" noChangeArrowheads="1"/>
          </p:cNvPicPr>
          <p:nvPr/>
        </p:nvPicPr>
        <p:blipFill>
          <a:blip r:embed="rId9" cstate="email">
            <a:extLst>
              <a:ext uri="{28A0092B-C50C-407E-A947-70E740481C1C}">
                <a14:useLocalDpi xmlns:a14="http://schemas.microsoft.com/office/drawing/2010/main"/>
              </a:ext>
            </a:extLst>
          </a:blip>
          <a:srcRect/>
          <a:stretch>
            <a:fillRect/>
          </a:stretch>
        </p:blipFill>
        <p:spPr bwMode="auto">
          <a:xfrm>
            <a:off x="10361997" y="6349603"/>
            <a:ext cx="1742734" cy="475167"/>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6">
            <a:extLst>
              <a:ext uri="{FF2B5EF4-FFF2-40B4-BE49-F238E27FC236}">
                <a16:creationId xmlns:a16="http://schemas.microsoft.com/office/drawing/2014/main" id="{B4FFC173-E8A7-FA20-B707-4655A4E8AB05}"/>
              </a:ext>
            </a:extLst>
          </p:cNvPr>
          <p:cNvPicPr>
            <a:picLocks noChangeAspect="1"/>
          </p:cNvPicPr>
          <p:nvPr/>
        </p:nvPicPr>
        <p:blipFill>
          <a:blip r:embed="rId10"/>
          <a:stretch>
            <a:fillRect/>
          </a:stretch>
        </p:blipFill>
        <p:spPr>
          <a:xfrm>
            <a:off x="9119739" y="6250092"/>
            <a:ext cx="1118350" cy="612431"/>
          </a:xfrm>
          <a:prstGeom prst="rect">
            <a:avLst/>
          </a:prstGeom>
          <a:ln>
            <a:noFill/>
          </a:ln>
        </p:spPr>
      </p:pic>
    </p:spTree>
    <p:extLst>
      <p:ext uri="{BB962C8B-B14F-4D97-AF65-F5344CB8AC3E}">
        <p14:creationId xmlns:p14="http://schemas.microsoft.com/office/powerpoint/2010/main" val="302740658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Life Journey | Earth">
            <a:extLst>
              <a:ext uri="{FF2B5EF4-FFF2-40B4-BE49-F238E27FC236}">
                <a16:creationId xmlns:a16="http://schemas.microsoft.com/office/drawing/2014/main" id="{5BCE3670-8D26-16C2-5FE8-FB030C64180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2">
            <a:extLst>
              <a:ext uri="{FF2B5EF4-FFF2-40B4-BE49-F238E27FC236}">
                <a16:creationId xmlns:a16="http://schemas.microsoft.com/office/drawing/2014/main" id="{F397B621-E894-042F-CD5F-60CA6A1A54B7}"/>
              </a:ext>
            </a:extLst>
          </p:cNvPr>
          <p:cNvSpPr txBox="1"/>
          <p:nvPr/>
        </p:nvSpPr>
        <p:spPr>
          <a:xfrm>
            <a:off x="2498484" y="167223"/>
            <a:ext cx="6904454" cy="1261884"/>
          </a:xfrm>
          <a:prstGeom prst="rect">
            <a:avLst/>
          </a:prstGeom>
          <a:solidFill>
            <a:schemeClr val="tx1">
              <a:alpha val="65000"/>
            </a:schemeClr>
          </a:solidFill>
        </p:spPr>
        <p:style>
          <a:lnRef idx="2">
            <a:schemeClr val="dk1">
              <a:shade val="50000"/>
            </a:schemeClr>
          </a:lnRef>
          <a:fillRef idx="1">
            <a:schemeClr val="dk1"/>
          </a:fillRef>
          <a:effectRef idx="0">
            <a:schemeClr val="dk1"/>
          </a:effectRef>
          <a:fontRef idx="minor">
            <a:schemeClr val="lt1"/>
          </a:fontRef>
        </p:style>
        <p:txBody>
          <a:bodyPr wrap="non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4400" b="1"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מהלך </a:t>
            </a:r>
            <a:r>
              <a:rPr kumimoji="0" lang="he-IL" sz="4400" b="1" i="0" u="none" strike="noStrike" kern="1200" cap="none" spc="0" normalizeH="0" baseline="0" noProof="0" dirty="0" err="1">
                <a:ln>
                  <a:noFill/>
                </a:ln>
                <a:solidFill>
                  <a:prstClr val="white"/>
                </a:solidFill>
                <a:effectLst/>
                <a:uLnTx/>
                <a:uFillTx/>
                <a:latin typeface="Calibri" panose="020F0502020204030204" pitchFamily="34" charset="0"/>
                <a:ea typeface="+mn-ea"/>
                <a:cs typeface="Calibri" panose="020F0502020204030204" pitchFamily="34" charset="0"/>
              </a:rPr>
              <a:t>הדיגיטל</a:t>
            </a:r>
            <a:r>
              <a:rPr kumimoji="0" lang="he-IL" sz="4400" b="1"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 להזדקנות מיטבית</a:t>
            </a:r>
          </a:p>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3200" b="0"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בונים יחד את המחר של כולנו</a:t>
            </a:r>
          </a:p>
        </p:txBody>
      </p:sp>
      <p:sp>
        <p:nvSpPr>
          <p:cNvPr id="3" name="מלבן 2">
            <a:extLst>
              <a:ext uri="{FF2B5EF4-FFF2-40B4-BE49-F238E27FC236}">
                <a16:creationId xmlns:a16="http://schemas.microsoft.com/office/drawing/2014/main" id="{DE0BED49-2911-89CB-A529-BF62D9CA140F}"/>
              </a:ext>
            </a:extLst>
          </p:cNvPr>
          <p:cNvSpPr/>
          <p:nvPr/>
        </p:nvSpPr>
        <p:spPr>
          <a:xfrm>
            <a:off x="2700953" y="5203049"/>
            <a:ext cx="6340619" cy="1054786"/>
          </a:xfrm>
          <a:prstGeom prst="rect">
            <a:avLst/>
          </a:prstGeom>
          <a:solidFill>
            <a:schemeClr val="dk1">
              <a:alpha val="35000"/>
            </a:schemeClr>
          </a:solidFill>
        </p:spPr>
        <p:style>
          <a:lnRef idx="2">
            <a:schemeClr val="dk1">
              <a:shade val="15000"/>
            </a:schemeClr>
          </a:lnRef>
          <a:fillRef idx="1">
            <a:schemeClr val="dk1"/>
          </a:fillRef>
          <a:effectRef idx="0">
            <a:schemeClr val="dk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2800" b="1" i="0" u="none" strike="noStrike" kern="1200" cap="none" spc="0" normalizeH="0" baseline="0" noProof="0" dirty="0">
              <a:ln>
                <a:noFill/>
              </a:ln>
              <a:solidFill>
                <a:srgbClr val="FFFFFF"/>
              </a:solidFill>
              <a:effectLst/>
              <a:uLnTx/>
              <a:uFillTx/>
              <a:latin typeface="Calibri" panose="020F0502020204030204" pitchFamily="34" charset="0"/>
              <a:ea typeface="+mn-ea"/>
              <a:cs typeface="Calibri" panose="020F0502020204030204" pitchFamily="34" charset="0"/>
            </a:endParaRPr>
          </a:p>
        </p:txBody>
      </p:sp>
      <p:sp>
        <p:nvSpPr>
          <p:cNvPr id="5" name="תיבת טקסט 4">
            <a:extLst>
              <a:ext uri="{FF2B5EF4-FFF2-40B4-BE49-F238E27FC236}">
                <a16:creationId xmlns:a16="http://schemas.microsoft.com/office/drawing/2014/main" id="{48A39273-8FD7-E592-C9C6-8BED67EBCC7E}"/>
              </a:ext>
            </a:extLst>
          </p:cNvPr>
          <p:cNvSpPr txBox="1"/>
          <p:nvPr/>
        </p:nvSpPr>
        <p:spPr>
          <a:xfrm>
            <a:off x="2897330" y="5149839"/>
            <a:ext cx="6144242" cy="1107996"/>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e-IL" sz="2200" dirty="0">
                <a:solidFill>
                  <a:srgbClr val="FFFFFF"/>
                </a:solidFill>
              </a:rPr>
              <a:t>"יחד, נוכל להפוך את מערכת הסיעוד בישראל למודל של חדשנות, יעילות ואיכות חיים - לא רק עבור הדור הנוכחי, אלא גם עבור הדורות הבאים."</a:t>
            </a:r>
            <a:endParaRPr kumimoji="0" lang="he-IL" sz="2200" b="0" i="0" u="none" strike="noStrike" kern="1200" cap="none" spc="0" normalizeH="0" baseline="0" noProof="0" dirty="0">
              <a:ln>
                <a:noFill/>
              </a:ln>
              <a:solidFill>
                <a:srgbClr val="FFFFFF"/>
              </a:solidFill>
              <a:effectLst/>
              <a:uLnTx/>
              <a:uFillTx/>
              <a:latin typeface="Calibri"/>
              <a:ea typeface="+mn-ea"/>
              <a:cs typeface="Calibri"/>
            </a:endParaRPr>
          </a:p>
        </p:txBody>
      </p:sp>
      <p:sp>
        <p:nvSpPr>
          <p:cNvPr id="7" name="תיבת טקסט 6">
            <a:extLst>
              <a:ext uri="{FF2B5EF4-FFF2-40B4-BE49-F238E27FC236}">
                <a16:creationId xmlns:a16="http://schemas.microsoft.com/office/drawing/2014/main" id="{2EDD7C5B-B198-4252-F86D-B7B1AB6DC872}"/>
              </a:ext>
            </a:extLst>
          </p:cNvPr>
          <p:cNvSpPr txBox="1"/>
          <p:nvPr/>
        </p:nvSpPr>
        <p:spPr>
          <a:xfrm>
            <a:off x="-1045173" y="5934670"/>
            <a:ext cx="2047258" cy="923330"/>
          </a:xfrm>
          <a:prstGeom prst="rect">
            <a:avLst/>
          </a:prstGeom>
          <a:noFill/>
        </p:spPr>
        <p:txBody>
          <a:bodyPr wrap="squar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FFFFFF"/>
                </a:solidFill>
                <a:effectLst/>
                <a:uLnTx/>
                <a:uFillTx/>
                <a:latin typeface="Calibri" panose="020F0502020204030204" pitchFamily="34" charset="0"/>
                <a:ea typeface="+mn-ea"/>
                <a:cs typeface="Calibri" panose="020F0502020204030204" pitchFamily="34" charset="0"/>
              </a:rPr>
              <a:t>תודה רבה</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FFFFFF"/>
                </a:solidFill>
                <a:effectLst/>
                <a:uLnTx/>
                <a:uFillTx/>
                <a:latin typeface="Calibri" panose="020F0502020204030204" pitchFamily="34" charset="0"/>
                <a:ea typeface="+mn-ea"/>
                <a:cs typeface="Calibri" panose="020F0502020204030204" pitchFamily="34" charset="0"/>
              </a:rPr>
              <a:t>לשותפים</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FFFFFF"/>
                </a:solidFill>
                <a:effectLst/>
                <a:uLnTx/>
                <a:uFillTx/>
                <a:latin typeface="Calibri" panose="020F0502020204030204" pitchFamily="34" charset="0"/>
                <a:ea typeface="+mn-ea"/>
                <a:cs typeface="Calibri" panose="020F0502020204030204" pitchFamily="34" charset="0"/>
              </a:rPr>
              <a:t> למסע!</a:t>
            </a:r>
          </a:p>
        </p:txBody>
      </p:sp>
    </p:spTree>
    <p:extLst>
      <p:ext uri="{BB962C8B-B14F-4D97-AF65-F5344CB8AC3E}">
        <p14:creationId xmlns:p14="http://schemas.microsoft.com/office/powerpoint/2010/main" val="153654151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מלבן 5"/>
          <p:cNvSpPr/>
          <p:nvPr/>
        </p:nvSpPr>
        <p:spPr>
          <a:xfrm>
            <a:off x="3093" y="0"/>
            <a:ext cx="244547" cy="6857999"/>
          </a:xfrm>
          <a:prstGeom prst="rect">
            <a:avLst/>
          </a:prstGeom>
          <a:solidFill>
            <a:srgbClr val="8C8DC5"/>
          </a:solidFill>
          <a:ln>
            <a:solidFill>
              <a:srgbClr val="8C8DC5"/>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Calibri" panose="020F0502020204030204"/>
              <a:ea typeface="+mn-ea"/>
              <a:cs typeface="Arial" panose="020B0604020202020204" pitchFamily="34" charset="0"/>
            </a:endParaRPr>
          </a:p>
        </p:txBody>
      </p:sp>
      <p:pic>
        <p:nvPicPr>
          <p:cNvPr id="8" name="תמונה 7"/>
          <p:cNvPicPr>
            <a:picLocks noChangeAspect="1"/>
          </p:cNvPicPr>
          <p:nvPr/>
        </p:nvPicPr>
        <p:blipFill rotWithShape="1">
          <a:blip r:embed="rId3" cstate="print">
            <a:extLst>
              <a:ext uri="{28A0092B-C50C-407E-A947-70E740481C1C}">
                <a14:useLocalDpi xmlns:a14="http://schemas.microsoft.com/office/drawing/2010/main"/>
              </a:ext>
            </a:extLst>
          </a:blip>
          <a:srcRect/>
          <a:stretch/>
        </p:blipFill>
        <p:spPr>
          <a:xfrm>
            <a:off x="11144274" y="5883813"/>
            <a:ext cx="968886" cy="974186"/>
          </a:xfrm>
          <a:prstGeom prst="rect">
            <a:avLst/>
          </a:prstGeom>
        </p:spPr>
      </p:pic>
      <p:pic>
        <p:nvPicPr>
          <p:cNvPr id="11" name="תמונה 10" descr="C:\Users\USER\Downloads\עיצוב ללא שם (1).png"/>
          <p:cNvPicPr/>
          <p:nvPr/>
        </p:nvPicPr>
        <p:blipFill rotWithShape="1">
          <a:blip r:embed="rId4" cstate="print">
            <a:extLst>
              <a:ext uri="{28A0092B-C50C-407E-A947-70E740481C1C}">
                <a14:useLocalDpi xmlns:a14="http://schemas.microsoft.com/office/drawing/2010/main"/>
              </a:ext>
            </a:extLst>
          </a:blip>
          <a:srcRect/>
          <a:stretch/>
        </p:blipFill>
        <p:spPr bwMode="auto">
          <a:xfrm>
            <a:off x="9547534" y="6065845"/>
            <a:ext cx="1573183" cy="704047"/>
          </a:xfrm>
          <a:prstGeom prst="rect">
            <a:avLst/>
          </a:prstGeom>
          <a:noFill/>
          <a:ln>
            <a:noFill/>
          </a:ln>
          <a:extLst>
            <a:ext uri="{53640926-AAD7-44D8-BBD7-CCE9431645EC}">
              <a14:shadowObscured xmlns:a14="http://schemas.microsoft.com/office/drawing/2010/main"/>
            </a:ext>
          </a:extLst>
        </p:spPr>
      </p:pic>
      <p:sp>
        <p:nvSpPr>
          <p:cNvPr id="2" name="כותרת 1"/>
          <p:cNvSpPr>
            <a:spLocks noGrp="1"/>
          </p:cNvSpPr>
          <p:nvPr>
            <p:ph type="title"/>
          </p:nvPr>
        </p:nvSpPr>
        <p:spPr>
          <a:xfrm>
            <a:off x="4197299" y="145268"/>
            <a:ext cx="6430073" cy="1325563"/>
          </a:xfrm>
        </p:spPr>
        <p:txBody>
          <a:bodyPr>
            <a:normAutofit/>
          </a:bodyPr>
          <a:lstStyle/>
          <a:p>
            <a:r>
              <a:rPr lang="he-IL" sz="3600" b="1" dirty="0">
                <a:solidFill>
                  <a:srgbClr val="002060"/>
                </a:solidFill>
                <a:latin typeface="Arial" panose="020B0604020202020204" pitchFamily="34" charset="0"/>
                <a:ea typeface="+mn-ea"/>
                <a:cs typeface="Arial" panose="020B0604020202020204" pitchFamily="34" charset="0"/>
              </a:rPr>
              <a:t>אחוז המרה לפי שירותים 2024</a:t>
            </a:r>
          </a:p>
        </p:txBody>
      </p:sp>
      <p:sp>
        <p:nvSpPr>
          <p:cNvPr id="9" name="Title 1">
            <a:extLst>
              <a:ext uri="{FF2B5EF4-FFF2-40B4-BE49-F238E27FC236}">
                <a16:creationId xmlns:a16="http://schemas.microsoft.com/office/drawing/2014/main" id="{E0DA82B0-6AAD-4FB1-8122-13E88F23FD3E}"/>
              </a:ext>
            </a:extLst>
          </p:cNvPr>
          <p:cNvSpPr txBox="1">
            <a:spLocks/>
          </p:cNvSpPr>
          <p:nvPr/>
        </p:nvSpPr>
        <p:spPr>
          <a:xfrm>
            <a:off x="271197" y="5771417"/>
            <a:ext cx="9503232" cy="376239"/>
          </a:xfrm>
          <a:prstGeom prst="rect">
            <a:avLst/>
          </a:prstGeom>
        </p:spPr>
        <p:txBody>
          <a:bodyPr vert="horz" lIns="91440" tIns="45720" rIns="91440" bIns="45720" rtlCol="1" anchor="ctr">
            <a:noAutofit/>
          </a:bodyPr>
          <a:lstStyle>
            <a:lvl1pPr algn="r" defTabSz="914400" rtl="1" eaLnBrk="1" latinLnBrk="0" hangingPunct="1">
              <a:lnSpc>
                <a:spcPct val="80000"/>
              </a:lnSpc>
              <a:spcBef>
                <a:spcPct val="0"/>
              </a:spcBef>
              <a:buNone/>
              <a:defRPr sz="4800" kern="1200">
                <a:solidFill>
                  <a:schemeClr val="accent3"/>
                </a:solidFill>
                <a:latin typeface="Calibri" panose="020F0502020204030204" pitchFamily="34" charset="0"/>
                <a:ea typeface="+mj-ea"/>
                <a:cs typeface="Calibri" panose="020F0502020204030204" pitchFamily="34" charset="0"/>
              </a:defRPr>
            </a:lvl1pPr>
          </a:lstStyle>
          <a:p>
            <a:pPr marL="0" marR="0" lvl="0" indent="0" algn="r" defTabSz="914400" rtl="1" eaLnBrk="1" fontAlgn="auto" latinLnBrk="0" hangingPunct="1">
              <a:lnSpc>
                <a:spcPct val="80000"/>
              </a:lnSpc>
              <a:spcBef>
                <a:spcPct val="0"/>
              </a:spcBef>
              <a:spcAft>
                <a:spcPts val="0"/>
              </a:spcAft>
              <a:buClrTx/>
              <a:buSzTx/>
              <a:buFontTx/>
              <a:buNone/>
              <a:tabLst/>
              <a:defRPr/>
            </a:pPr>
            <a:endParaRPr kumimoji="0" lang="he-IL" sz="2400" b="0" i="0" u="none" strike="noStrike" kern="1200" cap="none" spc="0" normalizeH="0" baseline="0" noProof="0" dirty="0">
              <a:ln>
                <a:noFill/>
              </a:ln>
              <a:solidFill>
                <a:srgbClr val="FF0000"/>
              </a:solidFill>
              <a:effectLst/>
              <a:uLnTx/>
              <a:uFillTx/>
              <a:latin typeface="Arial" panose="020B0604020202020204" pitchFamily="34" charset="0"/>
              <a:ea typeface="+mj-ea"/>
              <a:cs typeface="Arial" panose="020B0604020202020204" pitchFamily="34" charset="0"/>
            </a:endParaRPr>
          </a:p>
        </p:txBody>
      </p:sp>
      <p:graphicFrame>
        <p:nvGraphicFramePr>
          <p:cNvPr id="14" name="טבלה 13"/>
          <p:cNvGraphicFramePr>
            <a:graphicFrameLocks noGrp="1"/>
          </p:cNvGraphicFramePr>
          <p:nvPr/>
        </p:nvGraphicFramePr>
        <p:xfrm>
          <a:off x="486909" y="121125"/>
          <a:ext cx="2133600" cy="1139190"/>
        </p:xfrm>
        <a:graphic>
          <a:graphicData uri="http://schemas.openxmlformats.org/drawingml/2006/table">
            <a:tbl>
              <a:tblPr rtl="1"/>
              <a:tblGrid>
                <a:gridCol w="1244600">
                  <a:extLst>
                    <a:ext uri="{9D8B030D-6E8A-4147-A177-3AD203B41FA5}">
                      <a16:colId xmlns:a16="http://schemas.microsoft.com/office/drawing/2014/main" val="531752868"/>
                    </a:ext>
                  </a:extLst>
                </a:gridCol>
                <a:gridCol w="889000">
                  <a:extLst>
                    <a:ext uri="{9D8B030D-6E8A-4147-A177-3AD203B41FA5}">
                      <a16:colId xmlns:a16="http://schemas.microsoft.com/office/drawing/2014/main" val="2430981515"/>
                    </a:ext>
                  </a:extLst>
                </a:gridCol>
              </a:tblGrid>
              <a:tr h="0">
                <a:tc>
                  <a:txBody>
                    <a:bodyPr/>
                    <a:lstStyle/>
                    <a:p>
                      <a:pPr algn="ctr" rtl="1" fontAlgn="ctr"/>
                      <a:r>
                        <a:rPr lang="he-IL" sz="1100" b="1" i="0" u="none" strike="noStrike" dirty="0">
                          <a:solidFill>
                            <a:srgbClr val="000000"/>
                          </a:solidFill>
                          <a:effectLst/>
                          <a:latin typeface="Arial" panose="020B0604020202020204" pitchFamily="34" charset="0"/>
                        </a:rPr>
                        <a:t>שירות</a:t>
                      </a:r>
                    </a:p>
                  </a:txBody>
                  <a:tcPr marL="9525" marR="9525" marT="9525"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solidFill>
                      <a:srgbClr val="FFC000"/>
                    </a:solidFill>
                  </a:tcPr>
                </a:tc>
                <a:tc>
                  <a:txBody>
                    <a:bodyPr/>
                    <a:lstStyle/>
                    <a:p>
                      <a:pPr algn="ctr" rtl="1" fontAlgn="ctr"/>
                      <a:r>
                        <a:rPr lang="he-IL" sz="1100" b="1" i="0" u="none" strike="noStrike">
                          <a:solidFill>
                            <a:srgbClr val="000000"/>
                          </a:solidFill>
                          <a:effectLst/>
                          <a:latin typeface="Arial" panose="020B0604020202020204" pitchFamily="34" charset="0"/>
                        </a:rPr>
                        <a:t>באחוזים 2024</a:t>
                      </a:r>
                    </a:p>
                  </a:txBody>
                  <a:tcPr marL="9525" marR="9525" marT="9525"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solidFill>
                      <a:srgbClr val="FFC000"/>
                    </a:solidFill>
                  </a:tcPr>
                </a:tc>
                <a:extLst>
                  <a:ext uri="{0D108BD9-81ED-4DB2-BD59-A6C34878D82A}">
                    <a16:rowId xmlns:a16="http://schemas.microsoft.com/office/drawing/2014/main" val="667402133"/>
                  </a:ext>
                </a:extLst>
              </a:tr>
              <a:tr h="190500">
                <a:tc>
                  <a:txBody>
                    <a:bodyPr/>
                    <a:lstStyle/>
                    <a:p>
                      <a:pPr algn="r" rtl="1" fontAlgn="b"/>
                      <a:r>
                        <a:rPr lang="he-IL" sz="1100" b="1" i="0" u="none" strike="noStrike">
                          <a:solidFill>
                            <a:srgbClr val="000000"/>
                          </a:solidFill>
                          <a:effectLst/>
                          <a:latin typeface="Arial" panose="020B0604020202020204" pitchFamily="34" charset="0"/>
                        </a:rPr>
                        <a:t>מטפלת ישראלית</a:t>
                      </a:r>
                    </a:p>
                  </a:txBody>
                  <a:tcPr marL="9525" marR="9525" marT="9525" marB="0" anchor="b">
                    <a:lnL w="12700" cap="flat" cmpd="sng" algn="ctr">
                      <a:solidFill>
                        <a:srgbClr val="000000"/>
                      </a:solidFill>
                      <a:prstDash val="solid"/>
                      <a:round/>
                      <a:headEnd type="none" w="med" len="med"/>
                      <a:tailEnd type="none" w="med" len="med"/>
                    </a:lnL>
                    <a:lnR>
                      <a:noFill/>
                    </a:lnR>
                    <a:lnT>
                      <a:noFill/>
                    </a:lnT>
                    <a:lnB>
                      <a:noFill/>
                    </a:lnB>
                  </a:tcPr>
                </a:tc>
                <a:tc>
                  <a:txBody>
                    <a:bodyPr/>
                    <a:lstStyle/>
                    <a:p>
                      <a:pPr algn="r" rtl="0" fontAlgn="b"/>
                      <a:r>
                        <a:rPr lang="he-IL" sz="1100" b="0" i="0" u="none" strike="noStrike">
                          <a:solidFill>
                            <a:srgbClr val="000000"/>
                          </a:solidFill>
                          <a:effectLst/>
                          <a:latin typeface="Arial" panose="020B0604020202020204" pitchFamily="34" charset="0"/>
                        </a:rPr>
                        <a:t>21%</a:t>
                      </a:r>
                    </a:p>
                  </a:txBody>
                  <a:tcPr marL="9525" marR="9525" marT="9525" marB="0" anchor="b">
                    <a:lnL>
                      <a:noFill/>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3437806897"/>
                  </a:ext>
                </a:extLst>
              </a:tr>
              <a:tr h="190500">
                <a:tc>
                  <a:txBody>
                    <a:bodyPr/>
                    <a:lstStyle/>
                    <a:p>
                      <a:pPr algn="r" rtl="1" fontAlgn="b"/>
                      <a:r>
                        <a:rPr lang="he-IL" sz="1100" b="1" i="0" u="none" strike="noStrike">
                          <a:solidFill>
                            <a:srgbClr val="000000"/>
                          </a:solidFill>
                          <a:effectLst/>
                          <a:latin typeface="Arial" panose="020B0604020202020204" pitchFamily="34" charset="0"/>
                        </a:rPr>
                        <a:t>מטפלת זרה</a:t>
                      </a:r>
                    </a:p>
                  </a:txBody>
                  <a:tcPr marL="9525" marR="9525" marT="9525" marB="0" anchor="b">
                    <a:lnL w="12700" cap="flat" cmpd="sng" algn="ctr">
                      <a:solidFill>
                        <a:srgbClr val="000000"/>
                      </a:solidFill>
                      <a:prstDash val="solid"/>
                      <a:round/>
                      <a:headEnd type="none" w="med" len="med"/>
                      <a:tailEnd type="none" w="med" len="med"/>
                    </a:lnL>
                    <a:lnR>
                      <a:noFill/>
                    </a:lnR>
                    <a:lnT>
                      <a:noFill/>
                    </a:lnT>
                    <a:lnB>
                      <a:noFill/>
                    </a:lnB>
                  </a:tcPr>
                </a:tc>
                <a:tc>
                  <a:txBody>
                    <a:bodyPr/>
                    <a:lstStyle/>
                    <a:p>
                      <a:pPr algn="r" rtl="0" fontAlgn="b"/>
                      <a:r>
                        <a:rPr lang="he-IL" sz="1100" b="0" i="0" u="none" strike="noStrike">
                          <a:solidFill>
                            <a:srgbClr val="000000"/>
                          </a:solidFill>
                          <a:effectLst/>
                          <a:latin typeface="Arial" panose="020B0604020202020204" pitchFamily="34" charset="0"/>
                        </a:rPr>
                        <a:t>14%</a:t>
                      </a:r>
                    </a:p>
                  </a:txBody>
                  <a:tcPr marL="9525" marR="9525" marT="9525" marB="0" anchor="b">
                    <a:lnL>
                      <a:noFill/>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548922666"/>
                  </a:ext>
                </a:extLst>
              </a:tr>
              <a:tr h="190500">
                <a:tc>
                  <a:txBody>
                    <a:bodyPr/>
                    <a:lstStyle/>
                    <a:p>
                      <a:pPr algn="r" rtl="1" fontAlgn="b"/>
                      <a:r>
                        <a:rPr lang="he-IL" sz="1100" b="1" i="0" u="none" strike="noStrike">
                          <a:solidFill>
                            <a:srgbClr val="000000"/>
                          </a:solidFill>
                          <a:effectLst/>
                          <a:latin typeface="Arial" panose="020B0604020202020204" pitchFamily="34" charset="0"/>
                        </a:rPr>
                        <a:t>בני משפחה מטפלים</a:t>
                      </a:r>
                    </a:p>
                  </a:txBody>
                  <a:tcPr marL="9525" marR="9525" marT="9525" marB="0" anchor="b">
                    <a:lnL w="12700" cap="flat" cmpd="sng" algn="ctr">
                      <a:solidFill>
                        <a:srgbClr val="000000"/>
                      </a:solidFill>
                      <a:prstDash val="solid"/>
                      <a:round/>
                      <a:headEnd type="none" w="med" len="med"/>
                      <a:tailEnd type="none" w="med" len="med"/>
                    </a:lnL>
                    <a:lnR>
                      <a:noFill/>
                    </a:lnR>
                    <a:lnT>
                      <a:noFill/>
                    </a:lnT>
                    <a:lnB>
                      <a:noFill/>
                    </a:lnB>
                    <a:solidFill>
                      <a:srgbClr val="FFE699"/>
                    </a:solidFill>
                  </a:tcPr>
                </a:tc>
                <a:tc>
                  <a:txBody>
                    <a:bodyPr/>
                    <a:lstStyle/>
                    <a:p>
                      <a:pPr algn="r" rtl="0" fontAlgn="b"/>
                      <a:r>
                        <a:rPr lang="he-IL" sz="1100" b="1" i="0" u="none" strike="noStrike">
                          <a:solidFill>
                            <a:srgbClr val="000000"/>
                          </a:solidFill>
                          <a:effectLst/>
                          <a:latin typeface="Arial" panose="020B0604020202020204" pitchFamily="34" charset="0"/>
                        </a:rPr>
                        <a:t>41%</a:t>
                      </a:r>
                    </a:p>
                  </a:txBody>
                  <a:tcPr marL="9525" marR="9525" marT="9525" marB="0" anchor="b">
                    <a:lnL>
                      <a:noFill/>
                    </a:lnL>
                    <a:lnR w="12700" cap="flat" cmpd="sng" algn="ctr">
                      <a:solidFill>
                        <a:srgbClr val="000000"/>
                      </a:solidFill>
                      <a:prstDash val="solid"/>
                      <a:round/>
                      <a:headEnd type="none" w="med" len="med"/>
                      <a:tailEnd type="none" w="med" len="med"/>
                    </a:lnR>
                    <a:lnT>
                      <a:noFill/>
                    </a:lnT>
                    <a:lnB>
                      <a:noFill/>
                    </a:lnB>
                    <a:solidFill>
                      <a:srgbClr val="FFE699"/>
                    </a:solidFill>
                  </a:tcPr>
                </a:tc>
                <a:extLst>
                  <a:ext uri="{0D108BD9-81ED-4DB2-BD59-A6C34878D82A}">
                    <a16:rowId xmlns:a16="http://schemas.microsoft.com/office/drawing/2014/main" val="2738512730"/>
                  </a:ext>
                </a:extLst>
              </a:tr>
              <a:tr h="190500">
                <a:tc>
                  <a:txBody>
                    <a:bodyPr/>
                    <a:lstStyle/>
                    <a:p>
                      <a:pPr algn="r" rtl="1" fontAlgn="b"/>
                      <a:r>
                        <a:rPr lang="he-IL" sz="1100" b="1" i="0" u="none" strike="noStrike">
                          <a:solidFill>
                            <a:srgbClr val="000000"/>
                          </a:solidFill>
                          <a:effectLst/>
                          <a:latin typeface="Arial" panose="020B0604020202020204" pitchFamily="34" charset="0"/>
                        </a:rPr>
                        <a:t>גמלה בכסף</a:t>
                      </a:r>
                    </a:p>
                  </a:txBody>
                  <a:tcPr marL="9525" marR="9525" marT="9525" marB="0" anchor="b">
                    <a:lnL w="12700" cap="flat" cmpd="sng" algn="ctr">
                      <a:solidFill>
                        <a:srgbClr val="000000"/>
                      </a:solidFill>
                      <a:prstDash val="solid"/>
                      <a:round/>
                      <a:headEnd type="none" w="med" len="med"/>
                      <a:tailEnd type="none" w="med" len="med"/>
                    </a:lnL>
                    <a:lnR>
                      <a:noFill/>
                    </a:lnR>
                    <a:lnT>
                      <a:noFill/>
                    </a:lnT>
                    <a:lnB>
                      <a:noFill/>
                    </a:lnB>
                    <a:solidFill>
                      <a:srgbClr val="FFE699"/>
                    </a:solidFill>
                  </a:tcPr>
                </a:tc>
                <a:tc>
                  <a:txBody>
                    <a:bodyPr/>
                    <a:lstStyle/>
                    <a:p>
                      <a:pPr algn="r" rtl="0" fontAlgn="b"/>
                      <a:r>
                        <a:rPr lang="he-IL" sz="1100" b="1" i="0" u="none" strike="noStrike">
                          <a:solidFill>
                            <a:srgbClr val="000000"/>
                          </a:solidFill>
                          <a:effectLst/>
                          <a:latin typeface="Arial" panose="020B0604020202020204" pitchFamily="34" charset="0"/>
                        </a:rPr>
                        <a:t>22%</a:t>
                      </a:r>
                    </a:p>
                  </a:txBody>
                  <a:tcPr marL="9525" marR="9525" marT="9525" marB="0" anchor="b">
                    <a:lnL>
                      <a:noFill/>
                    </a:lnL>
                    <a:lnR w="12700" cap="flat" cmpd="sng" algn="ctr">
                      <a:solidFill>
                        <a:srgbClr val="000000"/>
                      </a:solidFill>
                      <a:prstDash val="solid"/>
                      <a:round/>
                      <a:headEnd type="none" w="med" len="med"/>
                      <a:tailEnd type="none" w="med" len="med"/>
                    </a:lnR>
                    <a:lnT>
                      <a:noFill/>
                    </a:lnT>
                    <a:lnB>
                      <a:noFill/>
                    </a:lnB>
                    <a:solidFill>
                      <a:srgbClr val="FFE699"/>
                    </a:solidFill>
                  </a:tcPr>
                </a:tc>
                <a:extLst>
                  <a:ext uri="{0D108BD9-81ED-4DB2-BD59-A6C34878D82A}">
                    <a16:rowId xmlns:a16="http://schemas.microsoft.com/office/drawing/2014/main" val="3151792669"/>
                  </a:ext>
                </a:extLst>
              </a:tr>
              <a:tr h="200025">
                <a:tc>
                  <a:txBody>
                    <a:bodyPr/>
                    <a:lstStyle/>
                    <a:p>
                      <a:pPr algn="r" rtl="1" fontAlgn="b"/>
                      <a:r>
                        <a:rPr lang="he-IL" sz="1100" b="1" i="0" u="none" strike="noStrike" dirty="0">
                          <a:solidFill>
                            <a:srgbClr val="000000"/>
                          </a:solidFill>
                          <a:effectLst/>
                          <a:latin typeface="Arial" panose="020B0604020202020204" pitchFamily="34" charset="0"/>
                        </a:rPr>
                        <a:t>מרכז יום</a:t>
                      </a:r>
                    </a:p>
                  </a:txBody>
                  <a:tcPr marL="9525" marR="9525" marT="9525" marB="0" anchor="b">
                    <a:lnL w="12700" cap="flat" cmpd="sng" algn="ctr">
                      <a:solidFill>
                        <a:srgbClr val="000000"/>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tcPr>
                </a:tc>
                <a:tc>
                  <a:txBody>
                    <a:bodyPr/>
                    <a:lstStyle/>
                    <a:p>
                      <a:pPr algn="r" rtl="0" fontAlgn="b"/>
                      <a:r>
                        <a:rPr lang="he-IL" sz="1100" b="0" i="0" u="none" strike="noStrike" dirty="0">
                          <a:solidFill>
                            <a:srgbClr val="000000"/>
                          </a:solidFill>
                          <a:effectLst/>
                          <a:latin typeface="Arial" panose="020B0604020202020204" pitchFamily="34" charset="0"/>
                        </a:rPr>
                        <a:t>2%</a:t>
                      </a:r>
                    </a:p>
                  </a:txBody>
                  <a:tcPr marL="9525" marR="9525" marT="9525" marB="0" anchor="b">
                    <a:lnL>
                      <a:noFill/>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330690847"/>
                  </a:ext>
                </a:extLst>
              </a:tr>
            </a:tbl>
          </a:graphicData>
        </a:graphic>
      </p:graphicFrame>
      <p:graphicFrame>
        <p:nvGraphicFramePr>
          <p:cNvPr id="10" name="תרשים 9"/>
          <p:cNvGraphicFramePr>
            <a:graphicFrameLocks/>
          </p:cNvGraphicFramePr>
          <p:nvPr/>
        </p:nvGraphicFramePr>
        <p:xfrm>
          <a:off x="3433164" y="1136074"/>
          <a:ext cx="7711109" cy="4929772"/>
        </p:xfrm>
        <a:graphic>
          <a:graphicData uri="http://schemas.openxmlformats.org/drawingml/2006/chart">
            <c:chart xmlns:c="http://schemas.openxmlformats.org/drawingml/2006/chart" xmlns:r="http://schemas.openxmlformats.org/officeDocument/2006/relationships" r:id="rId5"/>
          </a:graphicData>
        </a:graphic>
      </p:graphicFrame>
      <p:sp>
        <p:nvSpPr>
          <p:cNvPr id="12" name="מלבן 11"/>
          <p:cNvSpPr/>
          <p:nvPr/>
        </p:nvSpPr>
        <p:spPr>
          <a:xfrm>
            <a:off x="3093" y="0"/>
            <a:ext cx="244547" cy="6857999"/>
          </a:xfrm>
          <a:prstGeom prst="rect">
            <a:avLst/>
          </a:prstGeom>
          <a:solidFill>
            <a:srgbClr val="2980B9"/>
          </a:solidFill>
          <a:ln w="12700" cap="flat" cmpd="sng" algn="ctr">
            <a:solidFill>
              <a:srgbClr val="2CC2E0"/>
            </a:solidFill>
            <a:prstDash val="solid"/>
            <a:miter lim="800000"/>
          </a:ln>
          <a:effectLst/>
        </p:spPr>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0" cap="none" spc="0" normalizeH="0" baseline="0" noProof="0">
              <a:ln>
                <a:noFill/>
              </a:ln>
              <a:solidFill>
                <a:prstClr val="white"/>
              </a:solidFill>
              <a:effectLst/>
              <a:uLnTx/>
              <a:uFillTx/>
              <a:latin typeface="Calibri"/>
              <a:ea typeface="+mn-ea"/>
              <a:cs typeface="Calibri"/>
            </a:endParaRPr>
          </a:p>
        </p:txBody>
      </p:sp>
      <p:sp>
        <p:nvSpPr>
          <p:cNvPr id="13" name="TextBox 12"/>
          <p:cNvSpPr txBox="1"/>
          <p:nvPr/>
        </p:nvSpPr>
        <p:spPr>
          <a:xfrm rot="16200000">
            <a:off x="-641174" y="889037"/>
            <a:ext cx="1478289" cy="338554"/>
          </a:xfrm>
          <a:prstGeom prst="rect">
            <a:avLst/>
          </a:prstGeom>
          <a:noFill/>
        </p:spPr>
        <p:txBody>
          <a:bodyPr wrap="non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1" i="0" u="none" strike="noStrike" kern="1200" cap="none" spc="0" normalizeH="0" baseline="0" noProof="0" dirty="0">
                <a:ln>
                  <a:noFill/>
                </a:ln>
                <a:solidFill>
                  <a:prstClr val="white"/>
                </a:solidFill>
                <a:effectLst/>
                <a:uLnTx/>
                <a:uFillTx/>
                <a:latin typeface="Calibri" panose="020F0502020204030204"/>
                <a:ea typeface="+mn-ea"/>
                <a:cs typeface="Calibri"/>
              </a:rPr>
              <a:t>רקע </a:t>
            </a:r>
            <a:r>
              <a:rPr kumimoji="0" lang="he-IL" sz="1600" b="1" i="0" u="none" strike="noStrike" kern="1200" cap="none" spc="0" normalizeH="0" baseline="0" noProof="0" dirty="0" err="1">
                <a:ln>
                  <a:noFill/>
                </a:ln>
                <a:solidFill>
                  <a:prstClr val="white"/>
                </a:solidFill>
                <a:effectLst/>
                <a:uLnTx/>
                <a:uFillTx/>
                <a:latin typeface="Calibri" panose="020F0502020204030204"/>
                <a:ea typeface="+mn-ea"/>
                <a:cs typeface="Calibri"/>
              </a:rPr>
              <a:t>ןתמונת</a:t>
            </a:r>
            <a:r>
              <a:rPr kumimoji="0" lang="he-IL" sz="1600" b="1" i="0" u="none" strike="noStrike" kern="1200" cap="none" spc="0" normalizeH="0" baseline="0" noProof="0" dirty="0">
                <a:ln>
                  <a:noFill/>
                </a:ln>
                <a:solidFill>
                  <a:prstClr val="white"/>
                </a:solidFill>
                <a:effectLst/>
                <a:uLnTx/>
                <a:uFillTx/>
                <a:latin typeface="Calibri" panose="020F0502020204030204"/>
                <a:ea typeface="+mn-ea"/>
                <a:cs typeface="Calibri"/>
              </a:rPr>
              <a:t> מצב</a:t>
            </a:r>
          </a:p>
        </p:txBody>
      </p:sp>
    </p:spTree>
    <p:extLst>
      <p:ext uri="{BB962C8B-B14F-4D97-AF65-F5344CB8AC3E}">
        <p14:creationId xmlns:p14="http://schemas.microsoft.com/office/powerpoint/2010/main" val="135079270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3"/>
          <p:cNvSpPr>
            <a:spLocks noGrp="1"/>
          </p:cNvSpPr>
          <p:nvPr>
            <p:ph type="title"/>
          </p:nvPr>
        </p:nvSpPr>
        <p:spPr>
          <a:xfrm>
            <a:off x="913467" y="705720"/>
            <a:ext cx="9385267" cy="1325563"/>
          </a:xfrm>
        </p:spPr>
        <p:txBody>
          <a:bodyPr/>
          <a:lstStyle/>
          <a:p>
            <a:r>
              <a:rPr lang="he-IL" dirty="0"/>
              <a:t>בריאות –תפקוד </a:t>
            </a:r>
            <a:r>
              <a:rPr lang="en-US" dirty="0"/>
              <a:t>ADL</a:t>
            </a:r>
          </a:p>
        </p:txBody>
      </p:sp>
      <p:sp>
        <p:nvSpPr>
          <p:cNvPr id="2" name="Rectangle 1">
            <a:extLst>
              <a:ext uri="{FF2B5EF4-FFF2-40B4-BE49-F238E27FC236}">
                <a16:creationId xmlns:a16="http://schemas.microsoft.com/office/drawing/2014/main" id="{EC14B4DC-62C7-4788-ABA2-4368D0591622}"/>
              </a:ext>
            </a:extLst>
          </p:cNvPr>
          <p:cNvSpPr/>
          <p:nvPr/>
        </p:nvSpPr>
        <p:spPr>
          <a:xfrm>
            <a:off x="1411206" y="1839884"/>
            <a:ext cx="9141305" cy="382797"/>
          </a:xfrm>
          <a:prstGeom prst="rect">
            <a:avLst/>
          </a:prstGeom>
        </p:spPr>
        <p:txBody>
          <a:bodyPr wrap="square">
            <a:spAutoFit/>
          </a:bodyPr>
          <a:lstStyle/>
          <a:p>
            <a:pPr marL="271463" marR="0" lvl="0" indent="0" algn="r" defTabSz="914400" rtl="1" eaLnBrk="1" fontAlgn="auto" latinLnBrk="0" hangingPunct="1">
              <a:lnSpc>
                <a:spcPts val="2200"/>
              </a:lnSpc>
              <a:spcBef>
                <a:spcPts val="0"/>
              </a:spcBef>
              <a:spcAft>
                <a:spcPts val="0"/>
              </a:spcAft>
              <a:buClrTx/>
              <a:buSzTx/>
              <a:buFontTx/>
              <a:buNone/>
              <a:tabLst/>
              <a:defRPr/>
            </a:pPr>
            <a:r>
              <a:rPr kumimoji="0" lang="he-IL" sz="2400" b="0" i="0" u="none" strike="noStrike" kern="1200" cap="none" spc="0" normalizeH="0" baseline="0" noProof="0" dirty="0">
                <a:ln>
                  <a:noFill/>
                </a:ln>
                <a:solidFill>
                  <a:srgbClr val="424F58"/>
                </a:solidFill>
                <a:effectLst/>
                <a:uLnTx/>
                <a:uFillTx/>
                <a:latin typeface="Calibri"/>
                <a:ea typeface="+mn-ea"/>
                <a:cs typeface="Arial"/>
              </a:rPr>
              <a:t>שיעור בני 65+ המוגבלים בלפחות אחת מפעולות </a:t>
            </a:r>
            <a:r>
              <a:rPr kumimoji="0" lang="en-US" sz="2400" b="0" i="0" u="none" strike="noStrike" kern="1200" cap="none" spc="0" normalizeH="0" baseline="0" noProof="0" dirty="0">
                <a:ln>
                  <a:noFill/>
                </a:ln>
                <a:solidFill>
                  <a:srgbClr val="424F58"/>
                </a:solidFill>
                <a:effectLst/>
                <a:uLnTx/>
                <a:uFillTx/>
                <a:latin typeface="Calibri"/>
                <a:ea typeface="+mn-ea"/>
                <a:cs typeface="Arial"/>
              </a:rPr>
              <a:t>ADL</a:t>
            </a:r>
            <a:endParaRPr kumimoji="0" lang="he-IL" sz="2400" b="0" i="0" u="none" strike="noStrike" kern="1200" cap="none" spc="0" normalizeH="0" baseline="0" noProof="0" dirty="0">
              <a:ln>
                <a:noFill/>
              </a:ln>
              <a:solidFill>
                <a:srgbClr val="424F58"/>
              </a:solidFill>
              <a:effectLst/>
              <a:uLnTx/>
              <a:uFillTx/>
              <a:latin typeface="Calibri"/>
              <a:ea typeface="+mn-ea"/>
              <a:cs typeface="Arial"/>
            </a:endParaRPr>
          </a:p>
        </p:txBody>
      </p:sp>
      <p:graphicFrame>
        <p:nvGraphicFramePr>
          <p:cNvPr id="9" name="Chart 8"/>
          <p:cNvGraphicFramePr/>
          <p:nvPr/>
        </p:nvGraphicFramePr>
        <p:xfrm>
          <a:off x="490172" y="2531273"/>
          <a:ext cx="9720000" cy="4574377"/>
        </p:xfrm>
        <a:graphic>
          <a:graphicData uri="http://schemas.openxmlformats.org/drawingml/2006/chart">
            <c:chart xmlns:c="http://schemas.openxmlformats.org/drawingml/2006/chart" xmlns:r="http://schemas.openxmlformats.org/officeDocument/2006/relationships" r:id="rId3"/>
          </a:graphicData>
        </a:graphic>
      </p:graphicFrame>
      <p:sp>
        <p:nvSpPr>
          <p:cNvPr id="5" name="מלבן 4"/>
          <p:cNvSpPr/>
          <p:nvPr/>
        </p:nvSpPr>
        <p:spPr>
          <a:xfrm>
            <a:off x="0" y="0"/>
            <a:ext cx="244547" cy="6857999"/>
          </a:xfrm>
          <a:prstGeom prst="rect">
            <a:avLst/>
          </a:prstGeom>
          <a:solidFill>
            <a:srgbClr val="2980B9"/>
          </a:solidFill>
          <a:ln w="12700" cap="flat" cmpd="sng" algn="ctr">
            <a:solidFill>
              <a:srgbClr val="2CC2E0"/>
            </a:solidFill>
            <a:prstDash val="solid"/>
            <a:miter lim="800000"/>
          </a:ln>
          <a:effectLst/>
        </p:spPr>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0" cap="none" spc="0" normalizeH="0" baseline="0" noProof="0">
              <a:ln>
                <a:noFill/>
              </a:ln>
              <a:solidFill>
                <a:prstClr val="white"/>
              </a:solidFill>
              <a:effectLst/>
              <a:uLnTx/>
              <a:uFillTx/>
              <a:latin typeface="Calibri"/>
              <a:ea typeface="+mn-ea"/>
              <a:cs typeface="Calibri"/>
            </a:endParaRPr>
          </a:p>
        </p:txBody>
      </p:sp>
      <p:sp>
        <p:nvSpPr>
          <p:cNvPr id="6" name="TextBox 5"/>
          <p:cNvSpPr txBox="1"/>
          <p:nvPr/>
        </p:nvSpPr>
        <p:spPr>
          <a:xfrm rot="16200000">
            <a:off x="-616871" y="569868"/>
            <a:ext cx="1478289" cy="338554"/>
          </a:xfrm>
          <a:prstGeom prst="rect">
            <a:avLst/>
          </a:prstGeom>
          <a:noFill/>
        </p:spPr>
        <p:txBody>
          <a:bodyPr wrap="non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1" i="0" u="none" strike="noStrike" kern="1200" cap="none" spc="0" normalizeH="0" baseline="0" noProof="0" dirty="0">
                <a:ln>
                  <a:noFill/>
                </a:ln>
                <a:solidFill>
                  <a:prstClr val="white"/>
                </a:solidFill>
                <a:effectLst/>
                <a:uLnTx/>
                <a:uFillTx/>
                <a:latin typeface="Calibri" panose="020F0502020204030204"/>
                <a:ea typeface="+mn-ea"/>
                <a:cs typeface="Calibri"/>
              </a:rPr>
              <a:t>רקע </a:t>
            </a:r>
            <a:r>
              <a:rPr kumimoji="0" lang="he-IL" sz="1600" b="1" i="0" u="none" strike="noStrike" kern="1200" cap="none" spc="0" normalizeH="0" baseline="0" noProof="0" dirty="0" err="1">
                <a:ln>
                  <a:noFill/>
                </a:ln>
                <a:solidFill>
                  <a:prstClr val="white"/>
                </a:solidFill>
                <a:effectLst/>
                <a:uLnTx/>
                <a:uFillTx/>
                <a:latin typeface="Calibri" panose="020F0502020204030204"/>
                <a:ea typeface="+mn-ea"/>
                <a:cs typeface="Calibri"/>
              </a:rPr>
              <a:t>ןתמונת</a:t>
            </a:r>
            <a:r>
              <a:rPr kumimoji="0" lang="he-IL" sz="1600" b="1" i="0" u="none" strike="noStrike" kern="1200" cap="none" spc="0" normalizeH="0" baseline="0" noProof="0" dirty="0">
                <a:ln>
                  <a:noFill/>
                </a:ln>
                <a:solidFill>
                  <a:prstClr val="white"/>
                </a:solidFill>
                <a:effectLst/>
                <a:uLnTx/>
                <a:uFillTx/>
                <a:latin typeface="Calibri" panose="020F0502020204030204"/>
                <a:ea typeface="+mn-ea"/>
                <a:cs typeface="Calibri"/>
              </a:rPr>
              <a:t> מצב</a:t>
            </a:r>
          </a:p>
        </p:txBody>
      </p:sp>
    </p:spTree>
    <p:extLst>
      <p:ext uri="{BB962C8B-B14F-4D97-AF65-F5344CB8AC3E}">
        <p14:creationId xmlns:p14="http://schemas.microsoft.com/office/powerpoint/2010/main" val="262801773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he-IL" sz="4800" dirty="0">
                <a:solidFill>
                  <a:srgbClr val="A82172"/>
                </a:solidFill>
                <a:latin typeface="Calibri" panose="020F0502020204030204" pitchFamily="34" charset="0"/>
                <a:cs typeface="Calibri" panose="020F0502020204030204" pitchFamily="34" charset="0"/>
              </a:rPr>
              <a:t>בריאות –תפקוד </a:t>
            </a:r>
            <a:r>
              <a:rPr lang="en-US" sz="4800" dirty="0">
                <a:solidFill>
                  <a:srgbClr val="A82172"/>
                </a:solidFill>
                <a:latin typeface="Calibri" panose="020F0502020204030204" pitchFamily="34" charset="0"/>
                <a:cs typeface="Calibri" panose="020F0502020204030204" pitchFamily="34" charset="0"/>
              </a:rPr>
              <a:t>IADL</a:t>
            </a:r>
          </a:p>
        </p:txBody>
      </p:sp>
      <p:sp>
        <p:nvSpPr>
          <p:cNvPr id="5" name="Rectangle 4">
            <a:extLst>
              <a:ext uri="{FF2B5EF4-FFF2-40B4-BE49-F238E27FC236}">
                <a16:creationId xmlns:a16="http://schemas.microsoft.com/office/drawing/2014/main" id="{3407A74C-E92D-40DF-A8D4-AB6FBE1ACB26}"/>
              </a:ext>
            </a:extLst>
          </p:cNvPr>
          <p:cNvSpPr/>
          <p:nvPr/>
        </p:nvSpPr>
        <p:spPr>
          <a:xfrm>
            <a:off x="1050368" y="1519529"/>
            <a:ext cx="9537530" cy="461665"/>
          </a:xfrm>
          <a:prstGeom prst="rect">
            <a:avLst/>
          </a:prstGeom>
        </p:spPr>
        <p:txBody>
          <a:bodyPr wrap="square">
            <a:spAutoFit/>
          </a:bodyPr>
          <a:lstStyle/>
          <a:p>
            <a:pPr marL="271463" marR="0" lvl="0" indent="0" algn="r" defTabSz="914400" rtl="1" eaLnBrk="1" fontAlgn="auto" latinLnBrk="0" hangingPunct="1">
              <a:lnSpc>
                <a:spcPct val="100000"/>
              </a:lnSpc>
              <a:spcBef>
                <a:spcPts val="0"/>
              </a:spcBef>
              <a:spcAft>
                <a:spcPts val="0"/>
              </a:spcAft>
              <a:buClrTx/>
              <a:buSzTx/>
              <a:buFontTx/>
              <a:buNone/>
              <a:tabLst/>
              <a:defRPr/>
            </a:pPr>
            <a:r>
              <a:rPr kumimoji="0" lang="he-IL" sz="2400" b="0" i="0" u="none" strike="noStrike" kern="1200" cap="none" spc="0" normalizeH="0" baseline="0" noProof="0" dirty="0">
                <a:ln>
                  <a:noFill/>
                </a:ln>
                <a:solidFill>
                  <a:srgbClr val="424F58"/>
                </a:solidFill>
                <a:effectLst/>
                <a:uLnTx/>
                <a:uFillTx/>
                <a:latin typeface="Calibri"/>
                <a:ea typeface="+mn-ea"/>
                <a:cs typeface="Arial"/>
              </a:rPr>
              <a:t>שיעור בני 65+ המוגבלים בלפחות אחת מפעולות </a:t>
            </a:r>
            <a:r>
              <a:rPr kumimoji="0" lang="en-US" sz="2400" b="0" i="0" u="none" strike="noStrike" kern="1200" cap="none" spc="0" normalizeH="0" baseline="0" noProof="0" dirty="0">
                <a:ln>
                  <a:noFill/>
                </a:ln>
                <a:solidFill>
                  <a:srgbClr val="424F58"/>
                </a:solidFill>
                <a:effectLst/>
                <a:uLnTx/>
                <a:uFillTx/>
                <a:latin typeface="Calibri"/>
                <a:ea typeface="+mn-ea"/>
                <a:cs typeface="Arial"/>
              </a:rPr>
              <a:t>IADL</a:t>
            </a:r>
            <a:endParaRPr kumimoji="0" lang="he-IL" sz="2400" b="0" i="0" u="none" strike="noStrike" kern="1200" cap="none" spc="0" normalizeH="0" baseline="0" noProof="0" dirty="0">
              <a:ln>
                <a:noFill/>
              </a:ln>
              <a:solidFill>
                <a:srgbClr val="424F58"/>
              </a:solidFill>
              <a:effectLst/>
              <a:uLnTx/>
              <a:uFillTx/>
              <a:latin typeface="Calibri"/>
              <a:ea typeface="+mn-ea"/>
              <a:cs typeface="Arial"/>
            </a:endParaRPr>
          </a:p>
        </p:txBody>
      </p:sp>
      <p:graphicFrame>
        <p:nvGraphicFramePr>
          <p:cNvPr id="11" name="Chart 10"/>
          <p:cNvGraphicFramePr/>
          <p:nvPr/>
        </p:nvGraphicFramePr>
        <p:xfrm>
          <a:off x="518344" y="2178756"/>
          <a:ext cx="9720000" cy="4574377"/>
        </p:xfrm>
        <a:graphic>
          <a:graphicData uri="http://schemas.openxmlformats.org/drawingml/2006/chart">
            <c:chart xmlns:c="http://schemas.openxmlformats.org/drawingml/2006/chart" xmlns:r="http://schemas.openxmlformats.org/officeDocument/2006/relationships" r:id="rId3"/>
          </a:graphicData>
        </a:graphic>
      </p:graphicFrame>
      <p:sp>
        <p:nvSpPr>
          <p:cNvPr id="6" name="Rectangle 4">
            <a:extLst>
              <a:ext uri="{FF2B5EF4-FFF2-40B4-BE49-F238E27FC236}">
                <a16:creationId xmlns:a16="http://schemas.microsoft.com/office/drawing/2014/main" id="{4CB87CA1-C087-444D-89B6-53B9A22D55A7}"/>
              </a:ext>
            </a:extLst>
          </p:cNvPr>
          <p:cNvSpPr/>
          <p:nvPr/>
        </p:nvSpPr>
        <p:spPr>
          <a:xfrm>
            <a:off x="377073" y="565609"/>
            <a:ext cx="2507530" cy="65728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400" b="0" i="0" u="none" strike="noStrike" kern="1200" cap="none" spc="0" normalizeH="0" baseline="0" noProof="0" dirty="0">
                <a:ln>
                  <a:noFill/>
                </a:ln>
                <a:solidFill>
                  <a:prstClr val="white"/>
                </a:solidFill>
                <a:effectLst/>
                <a:uLnTx/>
                <a:uFillTx/>
                <a:latin typeface="Calibri" panose="020F0502020204030204"/>
                <a:ea typeface="+mn-ea"/>
                <a:cs typeface="Arial" panose="020B0604020202020204" pitchFamily="34" charset="0"/>
              </a:rPr>
              <a:t>ישראל מקום אחרון ב </a:t>
            </a:r>
            <a:r>
              <a:rPr kumimoji="0" lang="en-US" sz="2400" b="0" i="0" u="none" strike="noStrike" kern="1200" cap="none" spc="0" normalizeH="0" baseline="0" noProof="0" dirty="0">
                <a:ln>
                  <a:noFill/>
                </a:ln>
                <a:solidFill>
                  <a:prstClr val="white"/>
                </a:solidFill>
                <a:effectLst/>
                <a:uLnTx/>
                <a:uFillTx/>
                <a:latin typeface="Calibri" panose="020F0502020204030204"/>
                <a:ea typeface="+mn-ea"/>
                <a:cs typeface="+mn-cs"/>
              </a:rPr>
              <a:t>IADL</a:t>
            </a:r>
            <a:endParaRPr kumimoji="0" lang="he-IL" sz="2400" b="0" i="0" u="none" strike="noStrike" kern="1200" cap="none" spc="0" normalizeH="0" baseline="0" noProof="0" dirty="0">
              <a:ln>
                <a:noFill/>
              </a:ln>
              <a:solidFill>
                <a:prstClr val="white"/>
              </a:solidFill>
              <a:effectLst/>
              <a:uLnTx/>
              <a:uFillTx/>
              <a:latin typeface="Calibri" panose="020F0502020204030204"/>
              <a:ea typeface="+mn-ea"/>
              <a:cs typeface="Arial" panose="020B0604020202020204" pitchFamily="34" charset="0"/>
            </a:endParaRPr>
          </a:p>
        </p:txBody>
      </p:sp>
      <p:sp>
        <p:nvSpPr>
          <p:cNvPr id="7" name="מלבן 6"/>
          <p:cNvSpPr/>
          <p:nvPr/>
        </p:nvSpPr>
        <p:spPr>
          <a:xfrm>
            <a:off x="3093" y="0"/>
            <a:ext cx="244547" cy="6857999"/>
          </a:xfrm>
          <a:prstGeom prst="rect">
            <a:avLst/>
          </a:prstGeom>
          <a:solidFill>
            <a:srgbClr val="2980B9"/>
          </a:solidFill>
          <a:ln w="12700" cap="flat" cmpd="sng" algn="ctr">
            <a:solidFill>
              <a:srgbClr val="2CC2E0"/>
            </a:solidFill>
            <a:prstDash val="solid"/>
            <a:miter lim="800000"/>
          </a:ln>
          <a:effectLst/>
        </p:spPr>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0" cap="none" spc="0" normalizeH="0" baseline="0" noProof="0">
              <a:ln>
                <a:noFill/>
              </a:ln>
              <a:solidFill>
                <a:prstClr val="white"/>
              </a:solidFill>
              <a:effectLst/>
              <a:uLnTx/>
              <a:uFillTx/>
              <a:latin typeface="Calibri"/>
              <a:ea typeface="+mn-ea"/>
              <a:cs typeface="Calibri"/>
            </a:endParaRPr>
          </a:p>
        </p:txBody>
      </p:sp>
      <p:sp>
        <p:nvSpPr>
          <p:cNvPr id="8" name="TextBox 7"/>
          <p:cNvSpPr txBox="1"/>
          <p:nvPr/>
        </p:nvSpPr>
        <p:spPr>
          <a:xfrm rot="16200000">
            <a:off x="-628535" y="570738"/>
            <a:ext cx="1478289" cy="338554"/>
          </a:xfrm>
          <a:prstGeom prst="rect">
            <a:avLst/>
          </a:prstGeom>
          <a:noFill/>
        </p:spPr>
        <p:txBody>
          <a:bodyPr wrap="non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1" i="0" u="none" strike="noStrike" kern="1200" cap="none" spc="0" normalizeH="0" baseline="0" noProof="0" dirty="0">
                <a:ln>
                  <a:noFill/>
                </a:ln>
                <a:solidFill>
                  <a:prstClr val="white"/>
                </a:solidFill>
                <a:effectLst/>
                <a:uLnTx/>
                <a:uFillTx/>
                <a:latin typeface="Calibri" panose="020F0502020204030204"/>
                <a:ea typeface="+mn-ea"/>
                <a:cs typeface="Calibri"/>
              </a:rPr>
              <a:t>רקע </a:t>
            </a:r>
            <a:r>
              <a:rPr kumimoji="0" lang="he-IL" sz="1600" b="1" i="0" u="none" strike="noStrike" kern="1200" cap="none" spc="0" normalizeH="0" baseline="0" noProof="0" dirty="0" err="1">
                <a:ln>
                  <a:noFill/>
                </a:ln>
                <a:solidFill>
                  <a:prstClr val="white"/>
                </a:solidFill>
                <a:effectLst/>
                <a:uLnTx/>
                <a:uFillTx/>
                <a:latin typeface="Calibri" panose="020F0502020204030204"/>
                <a:ea typeface="+mn-ea"/>
                <a:cs typeface="Calibri"/>
              </a:rPr>
              <a:t>ןתמונת</a:t>
            </a:r>
            <a:r>
              <a:rPr kumimoji="0" lang="he-IL" sz="1600" b="1" i="0" u="none" strike="noStrike" kern="1200" cap="none" spc="0" normalizeH="0" baseline="0" noProof="0" dirty="0">
                <a:ln>
                  <a:noFill/>
                </a:ln>
                <a:solidFill>
                  <a:prstClr val="white"/>
                </a:solidFill>
                <a:effectLst/>
                <a:uLnTx/>
                <a:uFillTx/>
                <a:latin typeface="Calibri" panose="020F0502020204030204"/>
                <a:ea typeface="+mn-ea"/>
                <a:cs typeface="Calibri"/>
              </a:rPr>
              <a:t> מצב</a:t>
            </a:r>
          </a:p>
        </p:txBody>
      </p:sp>
    </p:spTree>
    <p:extLst>
      <p:ext uri="{BB962C8B-B14F-4D97-AF65-F5344CB8AC3E}">
        <p14:creationId xmlns:p14="http://schemas.microsoft.com/office/powerpoint/2010/main" val="374521843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1" name="מלבן 20"/>
          <p:cNvSpPr/>
          <p:nvPr/>
        </p:nvSpPr>
        <p:spPr>
          <a:xfrm>
            <a:off x="560833" y="1144901"/>
            <a:ext cx="10097588" cy="836705"/>
          </a:xfrm>
          <a:prstGeom prst="rect">
            <a:avLst/>
          </a:prstGeom>
          <a:solidFill>
            <a:srgbClr val="5EC5C5"/>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5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       התאמה אישית, מדידה ותמרוץ שירותים דוחקי תלות</a:t>
            </a:r>
          </a:p>
        </p:txBody>
      </p:sp>
      <p:sp>
        <p:nvSpPr>
          <p:cNvPr id="3" name="מלבן 2"/>
          <p:cNvSpPr/>
          <p:nvPr/>
        </p:nvSpPr>
        <p:spPr>
          <a:xfrm>
            <a:off x="656195" y="519432"/>
            <a:ext cx="6673066" cy="104382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50000"/>
              </a:lnSpc>
              <a:spcBef>
                <a:spcPts val="0"/>
              </a:spcBef>
              <a:spcAft>
                <a:spcPts val="0"/>
              </a:spcAft>
              <a:buClrTx/>
              <a:buSzTx/>
              <a:buFontTx/>
              <a:buNone/>
              <a:tabLst/>
              <a:defRPr/>
            </a:pPr>
            <a:endParaRPr kumimoji="0" lang="he-IL" sz="2000" b="0" i="0" u="none" strike="noStrike" kern="1200" cap="none" spc="0" normalizeH="0" baseline="0" noProof="0" dirty="0">
              <a:ln>
                <a:noFill/>
              </a:ln>
              <a:solidFill>
                <a:srgbClr val="44546A">
                  <a:lumMod val="10000"/>
                </a:srgbClr>
              </a:solidFill>
              <a:effectLst/>
              <a:uLnTx/>
              <a:uFillTx/>
              <a:latin typeface="Varela Round" panose="00000500000000000000" pitchFamily="2" charset="-79"/>
              <a:ea typeface="+mn-ea"/>
              <a:cs typeface="Varela Round" panose="00000500000000000000" pitchFamily="2" charset="-79"/>
            </a:endParaRPr>
          </a:p>
        </p:txBody>
      </p:sp>
      <p:sp>
        <p:nvSpPr>
          <p:cNvPr id="5" name="מלבן 4"/>
          <p:cNvSpPr/>
          <p:nvPr/>
        </p:nvSpPr>
        <p:spPr>
          <a:xfrm>
            <a:off x="0" y="0"/>
            <a:ext cx="7532370"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1" anchor="t"/>
          <a:lstStyle/>
          <a:p>
            <a:pPr marL="0" marR="0" lvl="0" indent="0" algn="ctr" defTabSz="914400" rtl="1" eaLnBrk="1" fontAlgn="auto" latinLnBrk="0" hangingPunct="1">
              <a:lnSpc>
                <a:spcPct val="150000"/>
              </a:lnSpc>
              <a:spcBef>
                <a:spcPts val="0"/>
              </a:spcBef>
              <a:spcAft>
                <a:spcPts val="0"/>
              </a:spcAft>
              <a:buClrTx/>
              <a:buSzTx/>
              <a:buFontTx/>
              <a:buNone/>
              <a:tabLst/>
              <a:defRPr/>
            </a:pPr>
            <a:endParaRPr kumimoji="0" lang="he-IL" sz="2400" b="0" i="0" u="none" strike="noStrike" kern="1200" cap="none" spc="0" normalizeH="0" baseline="0" noProof="0" dirty="0">
              <a:ln>
                <a:noFill/>
              </a:ln>
              <a:solidFill>
                <a:prstClr val="white"/>
              </a:solidFill>
              <a:effectLst/>
              <a:uLnTx/>
              <a:uFillTx/>
              <a:latin typeface="Gveret Levin AlefAlefAlef" panose="00000500000000000000" pitchFamily="50" charset="-79"/>
              <a:ea typeface="+mn-ea"/>
              <a:cs typeface="Gveret Levin AlefAlefAlef" panose="00000500000000000000" pitchFamily="50" charset="-79"/>
            </a:endParaRPr>
          </a:p>
        </p:txBody>
      </p:sp>
      <p:sp>
        <p:nvSpPr>
          <p:cNvPr id="23" name="מלבן 22"/>
          <p:cNvSpPr/>
          <p:nvPr/>
        </p:nvSpPr>
        <p:spPr>
          <a:xfrm>
            <a:off x="596367" y="5311931"/>
            <a:ext cx="11358218" cy="1220132"/>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5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שירותים חברתיים למקבלי סיעוד מחייב הסתכלות רחבה על כל 360 אלף מקבלי הגמלה, יכולת להציע שירותים מגוונים, התאמה ותמרוץ</a:t>
            </a:r>
          </a:p>
        </p:txBody>
      </p:sp>
      <p:grpSp>
        <p:nvGrpSpPr>
          <p:cNvPr id="7" name="קבוצה 6"/>
          <p:cNvGrpSpPr/>
          <p:nvPr/>
        </p:nvGrpSpPr>
        <p:grpSpPr>
          <a:xfrm>
            <a:off x="1154557" y="1144900"/>
            <a:ext cx="9653910" cy="2580023"/>
            <a:chOff x="1291535" y="3895066"/>
            <a:chExt cx="9653910" cy="2580023"/>
          </a:xfrm>
          <a:solidFill>
            <a:srgbClr val="FFC000"/>
          </a:solidFill>
        </p:grpSpPr>
        <p:sp>
          <p:nvSpPr>
            <p:cNvPr id="16" name="אליפסה 15"/>
            <p:cNvSpPr/>
            <p:nvPr/>
          </p:nvSpPr>
          <p:spPr>
            <a:xfrm>
              <a:off x="4637356" y="4770492"/>
              <a:ext cx="1705404" cy="166968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err="1">
                  <a:ln>
                    <a:noFill/>
                  </a:ln>
                  <a:solidFill>
                    <a:srgbClr val="44546A">
                      <a:lumMod val="10000"/>
                    </a:srgbClr>
                  </a:solidFill>
                  <a:effectLst/>
                  <a:uLnTx/>
                  <a:uFillTx/>
                  <a:latin typeface="Calibri" panose="020F0502020204030204" pitchFamily="34" charset="0"/>
                  <a:ea typeface="+mn-ea"/>
                  <a:cs typeface="Calibri" panose="020F0502020204030204" pitchFamily="34" charset="0"/>
                </a:rPr>
                <a:t>אסדרת</a:t>
              </a:r>
              <a:r>
                <a:rPr kumimoji="0" lang="he-IL" sz="2000" b="1" i="0" u="none" strike="noStrike" kern="1200" cap="none" spc="0" normalizeH="0" baseline="0" noProof="0" dirty="0">
                  <a:ln>
                    <a:noFill/>
                  </a:ln>
                  <a:solidFill>
                    <a:srgbClr val="44546A">
                      <a:lumMod val="10000"/>
                    </a:srgbClr>
                  </a:solidFill>
                  <a:effectLst/>
                  <a:uLnTx/>
                  <a:uFillTx/>
                  <a:latin typeface="Calibri" panose="020F0502020204030204" pitchFamily="34" charset="0"/>
                  <a:ea typeface="+mn-ea"/>
                  <a:cs typeface="Calibri" panose="020F0502020204030204" pitchFamily="34" charset="0"/>
                </a:rPr>
                <a:t> הפיקוח</a:t>
              </a:r>
            </a:p>
          </p:txBody>
        </p:sp>
        <p:sp>
          <p:nvSpPr>
            <p:cNvPr id="17" name="אליפסה 16"/>
            <p:cNvSpPr/>
            <p:nvPr/>
          </p:nvSpPr>
          <p:spPr>
            <a:xfrm>
              <a:off x="7988150" y="4805408"/>
              <a:ext cx="1705404" cy="166968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44546A">
                      <a:lumMod val="10000"/>
                    </a:srgbClr>
                  </a:solidFill>
                  <a:effectLst/>
                  <a:uLnTx/>
                  <a:uFillTx/>
                  <a:latin typeface="Calibri" panose="020F0502020204030204" pitchFamily="34" charset="0"/>
                  <a:ea typeface="+mn-ea"/>
                  <a:cs typeface="Calibri" panose="020F0502020204030204" pitchFamily="34" charset="0"/>
                </a:rPr>
                <a:t>תכנון השירותים ברשויות</a:t>
              </a:r>
            </a:p>
          </p:txBody>
        </p:sp>
        <p:sp>
          <p:nvSpPr>
            <p:cNvPr id="15" name="אליפסה 14"/>
            <p:cNvSpPr/>
            <p:nvPr/>
          </p:nvSpPr>
          <p:spPr>
            <a:xfrm>
              <a:off x="2951096" y="4762794"/>
              <a:ext cx="1705404" cy="166968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44546A">
                      <a:lumMod val="10000"/>
                    </a:srgbClr>
                  </a:solidFill>
                  <a:effectLst/>
                  <a:uLnTx/>
                  <a:uFillTx/>
                  <a:latin typeface="Calibri" panose="020F0502020204030204" pitchFamily="34" charset="0"/>
                  <a:ea typeface="+mn-ea"/>
                  <a:cs typeface="Calibri" panose="020F0502020204030204" pitchFamily="34" charset="0"/>
                </a:rPr>
                <a:t>מיקוד בנזקקים</a:t>
              </a:r>
            </a:p>
          </p:txBody>
        </p:sp>
        <p:sp>
          <p:nvSpPr>
            <p:cNvPr id="22" name="אליפסה 21"/>
            <p:cNvSpPr/>
            <p:nvPr/>
          </p:nvSpPr>
          <p:spPr>
            <a:xfrm>
              <a:off x="1291535" y="4757911"/>
              <a:ext cx="1705404" cy="166968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44546A">
                      <a:lumMod val="10000"/>
                    </a:srgbClr>
                  </a:solidFill>
                  <a:effectLst/>
                  <a:uLnTx/>
                  <a:uFillTx/>
                  <a:latin typeface="Calibri" panose="020F0502020204030204" pitchFamily="34" charset="0"/>
                  <a:ea typeface="+mn-ea"/>
                  <a:cs typeface="Calibri" panose="020F0502020204030204" pitchFamily="34" charset="0"/>
                </a:rPr>
                <a:t>מניעת כפל</a:t>
              </a:r>
            </a:p>
          </p:txBody>
        </p:sp>
        <p:sp>
          <p:nvSpPr>
            <p:cNvPr id="25" name="מלבן 24"/>
            <p:cNvSpPr/>
            <p:nvPr/>
          </p:nvSpPr>
          <p:spPr>
            <a:xfrm>
              <a:off x="8513765" y="3895066"/>
              <a:ext cx="2431680" cy="83670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5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המטרה:</a:t>
              </a:r>
            </a:p>
          </p:txBody>
        </p:sp>
      </p:grpSp>
      <p:sp>
        <p:nvSpPr>
          <p:cNvPr id="19" name="TextBox 18"/>
          <p:cNvSpPr txBox="1"/>
          <p:nvPr/>
        </p:nvSpPr>
        <p:spPr>
          <a:xfrm>
            <a:off x="2580841" y="314925"/>
            <a:ext cx="9253728" cy="523220"/>
          </a:xfrm>
          <a:prstGeom prst="rect">
            <a:avLst/>
          </a:prstGeom>
          <a:noFill/>
        </p:spPr>
        <p:txBody>
          <a:bodyPr wrap="squar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שת"פ והעברות מידע– ביטוח לאומי ומשרד הרווחה</a:t>
            </a:r>
          </a:p>
        </p:txBody>
      </p:sp>
      <p:sp>
        <p:nvSpPr>
          <p:cNvPr id="20" name="מלבן 19"/>
          <p:cNvSpPr/>
          <p:nvPr/>
        </p:nvSpPr>
        <p:spPr>
          <a:xfrm>
            <a:off x="3093" y="0"/>
            <a:ext cx="244547" cy="6857999"/>
          </a:xfrm>
          <a:prstGeom prst="rect">
            <a:avLst/>
          </a:prstGeom>
          <a:solidFill>
            <a:srgbClr val="527FC4"/>
          </a:solidFill>
          <a:ln>
            <a:solidFill>
              <a:srgbClr val="8C8DC5"/>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Calibri" panose="020F0502020204030204"/>
              <a:ea typeface="+mn-ea"/>
              <a:cs typeface="Arial" panose="020B0604020202020204" pitchFamily="34" charset="0"/>
            </a:endParaRPr>
          </a:p>
        </p:txBody>
      </p:sp>
      <p:sp>
        <p:nvSpPr>
          <p:cNvPr id="14" name="אליפסה 13"/>
          <p:cNvSpPr/>
          <p:nvPr/>
        </p:nvSpPr>
        <p:spPr>
          <a:xfrm>
            <a:off x="6185347" y="2055242"/>
            <a:ext cx="1705404" cy="1669681"/>
          </a:xfrm>
          <a:prstGeom prst="ellipse">
            <a:avLst/>
          </a:prstGeom>
          <a:solidFill>
            <a:srgbClr val="5EC5C5"/>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44546A">
                    <a:lumMod val="10000"/>
                  </a:srgbClr>
                </a:solidFill>
                <a:effectLst/>
                <a:uLnTx/>
                <a:uFillTx/>
                <a:latin typeface="Calibri" panose="020F0502020204030204" pitchFamily="34" charset="0"/>
                <a:ea typeface="+mn-ea"/>
                <a:cs typeface="Calibri" panose="020F0502020204030204" pitchFamily="34" charset="0"/>
              </a:rPr>
              <a:t>התאמת שירותים לצרכי הלקוחות</a:t>
            </a:r>
          </a:p>
        </p:txBody>
      </p:sp>
      <p:sp>
        <p:nvSpPr>
          <p:cNvPr id="18" name="מלבן 17"/>
          <p:cNvSpPr/>
          <p:nvPr/>
        </p:nvSpPr>
        <p:spPr>
          <a:xfrm>
            <a:off x="-2308" y="1"/>
            <a:ext cx="244547" cy="6857999"/>
          </a:xfrm>
          <a:prstGeom prst="rect">
            <a:avLst/>
          </a:prstGeom>
          <a:solidFill>
            <a:srgbClr val="5EC5C5"/>
          </a:solidFill>
          <a:ln>
            <a:solidFill>
              <a:srgbClr val="2CC2E0"/>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Calibri"/>
              <a:ea typeface="+mn-ea"/>
              <a:cs typeface="Calibri"/>
            </a:endParaRPr>
          </a:p>
        </p:txBody>
      </p:sp>
      <p:sp>
        <p:nvSpPr>
          <p:cNvPr id="24" name="TextBox 23"/>
          <p:cNvSpPr txBox="1"/>
          <p:nvPr/>
        </p:nvSpPr>
        <p:spPr>
          <a:xfrm rot="16200000">
            <a:off x="-709672" y="667069"/>
            <a:ext cx="1616148" cy="338554"/>
          </a:xfrm>
          <a:prstGeom prst="rect">
            <a:avLst/>
          </a:prstGeom>
          <a:noFill/>
        </p:spPr>
        <p:txBody>
          <a:bodyPr wrap="non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1"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סל מותאם אישית</a:t>
            </a:r>
          </a:p>
        </p:txBody>
      </p:sp>
      <p:sp>
        <p:nvSpPr>
          <p:cNvPr id="2" name="מלבן 1">
            <a:extLst>
              <a:ext uri="{FF2B5EF4-FFF2-40B4-BE49-F238E27FC236}">
                <a16:creationId xmlns:a16="http://schemas.microsoft.com/office/drawing/2014/main" id="{67C49B9E-65D5-781E-4D41-177CE02F5461}"/>
              </a:ext>
            </a:extLst>
          </p:cNvPr>
          <p:cNvSpPr/>
          <p:nvPr/>
        </p:nvSpPr>
        <p:spPr>
          <a:xfrm>
            <a:off x="3093" y="0"/>
            <a:ext cx="264155" cy="6857999"/>
          </a:xfrm>
          <a:prstGeom prst="rect">
            <a:avLst/>
          </a:prstGeom>
          <a:solidFill>
            <a:srgbClr val="FFC000"/>
          </a:solidFill>
          <a:ln w="12700" cap="flat" cmpd="sng" algn="ctr">
            <a:solidFill>
              <a:srgbClr val="2CC2E0"/>
            </a:solidFill>
            <a:prstDash val="solid"/>
            <a:miter lim="800000"/>
          </a:ln>
          <a:effectLst/>
        </p:spPr>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0" cap="none" spc="0" normalizeH="0" baseline="0" noProof="0" dirty="0">
              <a:ln>
                <a:noFill/>
              </a:ln>
              <a:solidFill>
                <a:prstClr val="white"/>
              </a:solidFill>
              <a:effectLst/>
              <a:uLnTx/>
              <a:uFillTx/>
              <a:latin typeface="Calibri"/>
              <a:ea typeface="+mn-ea"/>
              <a:cs typeface="Calibri"/>
            </a:endParaRPr>
          </a:p>
        </p:txBody>
      </p:sp>
      <p:sp>
        <p:nvSpPr>
          <p:cNvPr id="4" name="TextBox 5">
            <a:extLst>
              <a:ext uri="{FF2B5EF4-FFF2-40B4-BE49-F238E27FC236}">
                <a16:creationId xmlns:a16="http://schemas.microsoft.com/office/drawing/2014/main" id="{2CA3A015-7B6E-2195-8F3A-3584FA652760}"/>
              </a:ext>
            </a:extLst>
          </p:cNvPr>
          <p:cNvSpPr txBox="1"/>
          <p:nvPr/>
        </p:nvSpPr>
        <p:spPr>
          <a:xfrm rot="16200000">
            <a:off x="-1010313" y="774604"/>
            <a:ext cx="2039340" cy="515782"/>
          </a:xfrm>
          <a:prstGeom prst="rect">
            <a:avLst/>
          </a:prstGeom>
          <a:noFill/>
        </p:spPr>
        <p:txBody>
          <a:bodyPr wrap="none" rtlCol="1">
            <a:spAutoFit/>
          </a:bodyPr>
          <a:lstStyle/>
          <a:p>
            <a:pPr marL="0" marR="0" lvl="0" indent="0" algn="r" defTabSz="914400" rtl="1" eaLnBrk="1" fontAlgn="auto" latinLnBrk="0" hangingPunct="1">
              <a:lnSpc>
                <a:spcPct val="200000"/>
              </a:lnSpc>
              <a:spcBef>
                <a:spcPts val="0"/>
              </a:spcBef>
              <a:spcAft>
                <a:spcPts val="0"/>
              </a:spcAft>
              <a:buClrTx/>
              <a:buSzTx/>
              <a:buFontTx/>
              <a:buNone/>
              <a:tabLst/>
              <a:defRPr/>
            </a:pPr>
            <a:r>
              <a:rPr kumimoji="0" lang="he-IL" sz="1600" b="1" i="0" u="none" strike="noStrike" kern="1200" cap="none" spc="0" normalizeH="0" baseline="0" noProof="0" dirty="0">
                <a:ln>
                  <a:noFill/>
                </a:ln>
                <a:solidFill>
                  <a:prstClr val="black"/>
                </a:solidFill>
                <a:effectLst/>
                <a:uLnTx/>
                <a:uFillTx/>
                <a:latin typeface="Calibri" panose="020F0502020204030204" pitchFamily="34" charset="0"/>
                <a:ea typeface="Open Sans" panose="020B0606030504020204" pitchFamily="34" charset="0"/>
                <a:cs typeface="Calibri" panose="020F0502020204030204" pitchFamily="34" charset="0"/>
              </a:rPr>
              <a:t>ההזדמנות לשינוי בסיעוד</a:t>
            </a:r>
          </a:p>
        </p:txBody>
      </p:sp>
      <p:sp>
        <p:nvSpPr>
          <p:cNvPr id="8" name="אליפסה 7">
            <a:extLst>
              <a:ext uri="{FF2B5EF4-FFF2-40B4-BE49-F238E27FC236}">
                <a16:creationId xmlns:a16="http://schemas.microsoft.com/office/drawing/2014/main" id="{55525E03-FFF1-50E2-C731-4C2923713AFA}"/>
              </a:ext>
            </a:extLst>
          </p:cNvPr>
          <p:cNvSpPr/>
          <p:nvPr/>
        </p:nvSpPr>
        <p:spPr>
          <a:xfrm>
            <a:off x="9539283" y="2055242"/>
            <a:ext cx="1705404" cy="1669681"/>
          </a:xfrm>
          <a:prstGeom prst="ellipse">
            <a:avLst/>
          </a:prstGeom>
          <a:solidFill>
            <a:srgbClr val="5EC5C5"/>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44546A">
                    <a:lumMod val="10000"/>
                  </a:srgbClr>
                </a:solidFill>
                <a:effectLst/>
                <a:uLnTx/>
                <a:uFillTx/>
                <a:latin typeface="Calibri" panose="020F0502020204030204" pitchFamily="34" charset="0"/>
                <a:ea typeface="+mn-ea"/>
                <a:cs typeface="Calibri" panose="020F0502020204030204" pitchFamily="34" charset="0"/>
              </a:rPr>
              <a:t>תמונת מצב והיערכות לאומית להזדקנות</a:t>
            </a:r>
          </a:p>
        </p:txBody>
      </p:sp>
    </p:spTree>
    <p:extLst>
      <p:ext uri="{BB962C8B-B14F-4D97-AF65-F5344CB8AC3E}">
        <p14:creationId xmlns:p14="http://schemas.microsoft.com/office/powerpoint/2010/main" val="385796697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pSp>
        <p:nvGrpSpPr>
          <p:cNvPr id="9" name="קבוצה 8"/>
          <p:cNvGrpSpPr/>
          <p:nvPr/>
        </p:nvGrpSpPr>
        <p:grpSpPr>
          <a:xfrm>
            <a:off x="238217" y="6199142"/>
            <a:ext cx="11622794" cy="462459"/>
            <a:chOff x="338807" y="8858817"/>
            <a:chExt cx="16530701" cy="657740"/>
          </a:xfrm>
        </p:grpSpPr>
        <p:grpSp>
          <p:nvGrpSpPr>
            <p:cNvPr id="10" name="קבוצה 9"/>
            <p:cNvGrpSpPr/>
            <p:nvPr/>
          </p:nvGrpSpPr>
          <p:grpSpPr>
            <a:xfrm>
              <a:off x="338807" y="8858817"/>
              <a:ext cx="1864092" cy="657740"/>
              <a:chOff x="315238" y="8878629"/>
              <a:chExt cx="1864092" cy="657740"/>
            </a:xfrm>
          </p:grpSpPr>
          <p:pic>
            <p:nvPicPr>
              <p:cNvPr id="12" name="Image" descr="Image"/>
              <p:cNvPicPr>
                <a:picLocks noChangeAspect="1"/>
              </p:cNvPicPr>
              <p:nvPr/>
            </p:nvPicPr>
            <p:blipFill rotWithShape="1">
              <a:blip r:embed="rId3"/>
              <a:srcRect r="98659"/>
              <a:stretch/>
            </p:blipFill>
            <p:spPr>
              <a:xfrm>
                <a:off x="315238" y="8878629"/>
                <a:ext cx="164246" cy="657740"/>
              </a:xfrm>
              <a:prstGeom prst="rect">
                <a:avLst/>
              </a:prstGeom>
              <a:ln w="12700">
                <a:miter lim="400000"/>
              </a:ln>
            </p:spPr>
          </p:pic>
          <p:sp>
            <p:nvSpPr>
              <p:cNvPr id="13" name="מלבן 12"/>
              <p:cNvSpPr/>
              <p:nvPr/>
            </p:nvSpPr>
            <p:spPr>
              <a:xfrm>
                <a:off x="479484" y="8937333"/>
                <a:ext cx="1699846" cy="540333"/>
              </a:xfrm>
              <a:prstGeom prst="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35718" tIns="35718" rIns="35718" bIns="35718" numCol="1" spcCol="38100" rtlCol="0" anchor="ctr">
                <a:spAutoFit/>
              </a:bodyPr>
              <a:lstStyle/>
              <a:p>
                <a:pPr marL="0" marR="0" lvl="0" indent="0" algn="l" defTabSz="914400" rtl="1" eaLnBrk="1" fontAlgn="auto" latinLnBrk="0" hangingPunct="1">
                  <a:lnSpc>
                    <a:spcPts val="844"/>
                  </a:lnSpc>
                  <a:spcBef>
                    <a:spcPts val="0"/>
                  </a:spcBef>
                  <a:spcAft>
                    <a:spcPts val="0"/>
                  </a:spcAft>
                  <a:buClrTx/>
                  <a:buSzTx/>
                  <a:buFontTx/>
                  <a:buNone/>
                  <a:tabLst/>
                  <a:defRPr/>
                </a:pPr>
                <a:r>
                  <a:rPr kumimoji="0" lang="he-IL" sz="984" b="0" i="0" u="none" strike="noStrike" kern="1200" cap="none" spc="0" normalizeH="0" baseline="0" noProof="0" dirty="0">
                    <a:ln>
                      <a:noFill/>
                    </a:ln>
                    <a:solidFill>
                      <a:prstClr val="black"/>
                    </a:solidFill>
                    <a:effectLst/>
                    <a:uLnTx/>
                    <a:uFillTx/>
                    <a:latin typeface="Guttman Kav" panose="02010401010101010101" pitchFamily="2" charset="-79"/>
                    <a:ea typeface="+mn-ea"/>
                    <a:cs typeface="Guttman Kav" panose="02010401010101010101" pitchFamily="2" charset="-79"/>
                    <a:sym typeface="Helvetica Neue Medium"/>
                  </a:rPr>
                  <a:t>מנהל</a:t>
                </a:r>
              </a:p>
              <a:p>
                <a:pPr marL="0" marR="0" lvl="0" indent="0" algn="l" defTabSz="914400" rtl="1" eaLnBrk="1" fontAlgn="auto" latinLnBrk="0" hangingPunct="1">
                  <a:lnSpc>
                    <a:spcPts val="844"/>
                  </a:lnSpc>
                  <a:spcBef>
                    <a:spcPts val="0"/>
                  </a:spcBef>
                  <a:spcAft>
                    <a:spcPts val="0"/>
                  </a:spcAft>
                  <a:buClrTx/>
                  <a:buSzTx/>
                  <a:buFontTx/>
                  <a:buNone/>
                  <a:tabLst/>
                  <a:defRPr/>
                </a:pPr>
                <a:r>
                  <a:rPr kumimoji="0" lang="he-IL" sz="984" b="0" i="0" u="none" strike="noStrike" kern="1200" cap="none" spc="0" normalizeH="0" baseline="0" noProof="0" dirty="0">
                    <a:ln>
                      <a:noFill/>
                    </a:ln>
                    <a:solidFill>
                      <a:prstClr val="black"/>
                    </a:solidFill>
                    <a:effectLst/>
                    <a:uLnTx/>
                    <a:uFillTx/>
                    <a:latin typeface="Guttman Kav" panose="02010401010101010101" pitchFamily="2" charset="-79"/>
                    <a:ea typeface="+mn-ea"/>
                    <a:cs typeface="Guttman Kav" panose="02010401010101010101" pitchFamily="2" charset="-79"/>
                    <a:sym typeface="Helvetica Neue Medium"/>
                  </a:rPr>
                  <a:t>אזרחים</a:t>
                </a:r>
              </a:p>
              <a:p>
                <a:pPr marL="0" marR="0" lvl="0" indent="0" algn="l" defTabSz="914400" rtl="1" eaLnBrk="1" fontAlgn="auto" latinLnBrk="0" hangingPunct="1">
                  <a:lnSpc>
                    <a:spcPts val="844"/>
                  </a:lnSpc>
                  <a:spcBef>
                    <a:spcPts val="0"/>
                  </a:spcBef>
                  <a:spcAft>
                    <a:spcPts val="0"/>
                  </a:spcAft>
                  <a:buClrTx/>
                  <a:buSzTx/>
                  <a:buFontTx/>
                  <a:buNone/>
                  <a:tabLst/>
                  <a:defRPr/>
                </a:pPr>
                <a:r>
                  <a:rPr kumimoji="0" lang="he-IL" sz="984" b="0" i="0" u="none" strike="noStrike" kern="1200" cap="none" spc="0" normalizeH="0" baseline="0" noProof="0" dirty="0">
                    <a:ln>
                      <a:noFill/>
                    </a:ln>
                    <a:solidFill>
                      <a:prstClr val="black"/>
                    </a:solidFill>
                    <a:effectLst/>
                    <a:uLnTx/>
                    <a:uFillTx/>
                    <a:latin typeface="Guttman Kav" panose="02010401010101010101" pitchFamily="2" charset="-79"/>
                    <a:ea typeface="+mn-ea"/>
                    <a:cs typeface="Guttman Kav" panose="02010401010101010101" pitchFamily="2" charset="-79"/>
                    <a:sym typeface="Helvetica Neue Medium"/>
                  </a:rPr>
                  <a:t>ותיקים</a:t>
                </a:r>
              </a:p>
            </p:txBody>
          </p:sp>
        </p:grpSp>
        <p:pic>
          <p:nvPicPr>
            <p:cNvPr id="11" name="תמונה 10"/>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4641709" y="8858817"/>
              <a:ext cx="2227799" cy="603877"/>
            </a:xfrm>
            <a:prstGeom prst="rect">
              <a:avLst/>
            </a:prstGeom>
          </p:spPr>
        </p:pic>
      </p:grpSp>
      <p:sp>
        <p:nvSpPr>
          <p:cNvPr id="4" name="TextBox 3"/>
          <p:cNvSpPr txBox="1"/>
          <p:nvPr/>
        </p:nvSpPr>
        <p:spPr>
          <a:xfrm flipH="1">
            <a:off x="6322242" y="142856"/>
            <a:ext cx="4870113" cy="47237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35718" tIns="35718" rIns="35718" bIns="35718" numCol="1" spcCol="38100" rtlCol="1" anchor="ctr">
            <a:spAutoFit/>
          </a:bodyPr>
          <a:lstStyle/>
          <a:p>
            <a:pPr marL="0" marR="0" lvl="0" indent="0" algn="r" defTabSz="410751" rtl="0" eaLnBrk="1" fontAlgn="auto" latinLnBrk="0" hangingPunct="0">
              <a:lnSpc>
                <a:spcPct val="100000"/>
              </a:lnSpc>
              <a:spcBef>
                <a:spcPts val="0"/>
              </a:spcBef>
              <a:spcAft>
                <a:spcPts val="0"/>
              </a:spcAft>
              <a:buClrTx/>
              <a:buSzTx/>
              <a:buFontTx/>
              <a:buNone/>
              <a:tabLst/>
              <a:defRPr/>
            </a:pPr>
            <a:r>
              <a:rPr kumimoji="0" lang="he-IL" sz="2601" b="0" i="0" u="none" strike="noStrike" kern="1200" cap="none" spc="0" normalizeH="0" baseline="0" noProof="0" dirty="0">
                <a:ln>
                  <a:noFill/>
                </a:ln>
                <a:solidFill>
                  <a:prstClr val="black"/>
                </a:solidFill>
                <a:effectLst/>
                <a:uLnTx/>
                <a:uFillTx/>
                <a:latin typeface="Tahoma"/>
                <a:ea typeface="Tahoma"/>
                <a:cs typeface="Tahoma"/>
              </a:rPr>
              <a:t>הקהילה כיום </a:t>
            </a:r>
          </a:p>
        </p:txBody>
      </p:sp>
      <p:sp>
        <p:nvSpPr>
          <p:cNvPr id="19" name="Rectangle"/>
          <p:cNvSpPr/>
          <p:nvPr/>
        </p:nvSpPr>
        <p:spPr>
          <a:xfrm>
            <a:off x="9227127" y="590271"/>
            <a:ext cx="1916928" cy="45719"/>
          </a:xfrm>
          <a:prstGeom prst="rect">
            <a:avLst/>
          </a:prstGeom>
          <a:solidFill>
            <a:srgbClr val="423AFF"/>
          </a:solidFill>
          <a:ln w="12700">
            <a:miter lim="400000"/>
          </a:ln>
        </p:spPr>
        <p:txBody>
          <a:bodyPr lIns="35718" tIns="35718" rIns="35718" bIns="35718" anchor="ctr"/>
          <a:lstStyle/>
          <a:p>
            <a:pPr marL="0" marR="0" lvl="0" indent="0" algn="r" defTabSz="914400" rtl="1" eaLnBrk="1" fontAlgn="auto" latinLnBrk="0" hangingPunct="1">
              <a:lnSpc>
                <a:spcPct val="100000"/>
              </a:lnSpc>
              <a:spcBef>
                <a:spcPts val="0"/>
              </a:spcBef>
              <a:spcAft>
                <a:spcPts val="0"/>
              </a:spcAft>
              <a:buClrTx/>
              <a:buSzTx/>
              <a:buFontTx/>
              <a:buNone/>
              <a:tabLst/>
              <a:defRPr sz="2200" b="0">
                <a:solidFill>
                  <a:srgbClr val="FFFFFF"/>
                </a:solidFill>
                <a:latin typeface="+mn-lt"/>
                <a:ea typeface="+mn-ea"/>
                <a:cs typeface="+mn-cs"/>
                <a:sym typeface="Helvetica Neue Medium"/>
              </a:defRPr>
            </a:pPr>
            <a:endParaRPr kumimoji="0" sz="1547" b="0" i="0" u="none" strike="noStrike" kern="1200" cap="none" spc="0" normalizeH="0" baseline="0" noProof="0">
              <a:ln>
                <a:noFill/>
              </a:ln>
              <a:solidFill>
                <a:srgbClr val="FFFFFF"/>
              </a:solidFill>
              <a:effectLst/>
              <a:uLnTx/>
              <a:uFillTx/>
              <a:latin typeface="Calibri" panose="020F0502020204030204"/>
              <a:ea typeface="+mn-ea"/>
              <a:cs typeface="+mn-cs"/>
              <a:sym typeface="Helvetica Neue Medium"/>
            </a:endParaRPr>
          </a:p>
        </p:txBody>
      </p:sp>
      <p:pic>
        <p:nvPicPr>
          <p:cNvPr id="3" name="תמונה 2"/>
          <p:cNvPicPr>
            <a:picLocks noChangeAspect="1"/>
          </p:cNvPicPr>
          <p:nvPr/>
        </p:nvPicPr>
        <p:blipFill rotWithShape="1">
          <a:blip r:embed="rId5"/>
          <a:srcRect l="9932" t="9923" r="10041" b="12916"/>
          <a:stretch/>
        </p:blipFill>
        <p:spPr>
          <a:xfrm>
            <a:off x="694944" y="677140"/>
            <a:ext cx="10049256" cy="5450257"/>
          </a:xfrm>
          <a:prstGeom prst="rect">
            <a:avLst/>
          </a:prstGeom>
        </p:spPr>
      </p:pic>
      <p:sp>
        <p:nvSpPr>
          <p:cNvPr id="14" name="מלבן 13"/>
          <p:cNvSpPr/>
          <p:nvPr/>
        </p:nvSpPr>
        <p:spPr>
          <a:xfrm>
            <a:off x="3093" y="0"/>
            <a:ext cx="244547" cy="6857999"/>
          </a:xfrm>
          <a:prstGeom prst="rect">
            <a:avLst/>
          </a:prstGeom>
          <a:solidFill>
            <a:srgbClr val="4472C4"/>
          </a:solidFill>
          <a:ln>
            <a:solidFill>
              <a:srgbClr val="8C8DC5"/>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Calibri" panose="020F0502020204030204"/>
              <a:ea typeface="+mn-ea"/>
              <a:cs typeface="Arial" panose="020B0604020202020204" pitchFamily="34" charset="0"/>
            </a:endParaRPr>
          </a:p>
        </p:txBody>
      </p:sp>
      <p:sp>
        <p:nvSpPr>
          <p:cNvPr id="15" name="TextBox 14"/>
          <p:cNvSpPr txBox="1"/>
          <p:nvPr/>
        </p:nvSpPr>
        <p:spPr>
          <a:xfrm rot="16200000">
            <a:off x="-503973" y="563419"/>
            <a:ext cx="1258678" cy="338554"/>
          </a:xfrm>
          <a:prstGeom prst="rect">
            <a:avLst/>
          </a:prstGeom>
          <a:noFill/>
        </p:spPr>
        <p:txBody>
          <a:bodyPr wrap="non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1"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קהילה לכולם</a:t>
            </a:r>
          </a:p>
        </p:txBody>
      </p:sp>
    </p:spTree>
    <p:extLst>
      <p:ext uri="{BB962C8B-B14F-4D97-AF65-F5344CB8AC3E}">
        <p14:creationId xmlns:p14="http://schemas.microsoft.com/office/powerpoint/2010/main" val="283346671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7568496" y="289062"/>
            <a:ext cx="4086639" cy="1325563"/>
          </a:xfrm>
        </p:spPr>
        <p:txBody>
          <a:bodyPr>
            <a:normAutofit fontScale="90000"/>
          </a:bodyPr>
          <a:lstStyle/>
          <a:p>
            <a:pPr algn="r" rtl="1"/>
            <a:r>
              <a:rPr lang="he-IL" dirty="0">
                <a:latin typeface="Calibri Light" panose="020F0302020204030204" pitchFamily="34" charset="0"/>
                <a:cs typeface="Calibri Light" panose="020F0302020204030204" pitchFamily="34" charset="0"/>
              </a:rPr>
              <a:t>נתונים-</a:t>
            </a:r>
            <a:br>
              <a:rPr lang="he-IL" dirty="0">
                <a:latin typeface="Calibri Light" panose="020F0302020204030204" pitchFamily="34" charset="0"/>
                <a:cs typeface="Calibri Light" panose="020F0302020204030204" pitchFamily="34" charset="0"/>
              </a:rPr>
            </a:br>
            <a:r>
              <a:rPr lang="he-IL" dirty="0">
                <a:latin typeface="Calibri Light" panose="020F0302020204030204" pitchFamily="34" charset="0"/>
                <a:cs typeface="Calibri Light" panose="020F0302020204030204" pitchFamily="34" charset="0"/>
              </a:rPr>
              <a:t>קהילה תומכת היום:</a:t>
            </a:r>
            <a:endParaRPr lang="en-US" dirty="0">
              <a:latin typeface="Calibri Light" panose="020F0302020204030204" pitchFamily="34" charset="0"/>
              <a:cs typeface="Calibri Light" panose="020F0302020204030204" pitchFamily="34" charset="0"/>
            </a:endParaRPr>
          </a:p>
        </p:txBody>
      </p:sp>
      <p:sp>
        <p:nvSpPr>
          <p:cNvPr id="5" name="TextBox 1"/>
          <p:cNvSpPr txBox="1"/>
          <p:nvPr/>
        </p:nvSpPr>
        <p:spPr>
          <a:xfrm>
            <a:off x="7204364" y="6175375"/>
            <a:ext cx="4518445" cy="852175"/>
          </a:xfrm>
          <a:prstGeom prst="rect">
            <a:avLst/>
          </a:prstGeom>
        </p:spPr>
        <p:txBody>
          <a:bodyPr wrap="square" rtlCol="0"/>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0" i="0" u="none" strike="noStrike" kern="1200" cap="none" spc="0" normalizeH="0" baseline="0" noProof="0" dirty="0">
                <a:ln>
                  <a:noFill/>
                </a:ln>
                <a:solidFill>
                  <a:prstClr val="white"/>
                </a:solidFill>
                <a:effectLst/>
                <a:uLnTx/>
                <a:uFillTx/>
                <a:latin typeface="Calibri Light" panose="020F0302020204030204" pitchFamily="34" charset="0"/>
                <a:ea typeface="+mn-ea"/>
                <a:cs typeface="Calibri Light" panose="020F0302020204030204" pitchFamily="34" charset="0"/>
              </a:rPr>
              <a:t>* נתונים מתוך תוכנת "קהילתי"</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0" i="0" u="none" strike="noStrike" kern="1200" cap="none" spc="0" normalizeH="0" baseline="0" noProof="0" dirty="0">
                <a:ln>
                  <a:noFill/>
                </a:ln>
                <a:solidFill>
                  <a:prstClr val="white"/>
                </a:solidFill>
                <a:effectLst/>
                <a:uLnTx/>
                <a:uFillTx/>
                <a:latin typeface="Calibri Light" panose="020F0302020204030204" pitchFamily="34" charset="0"/>
                <a:ea typeface="+mn-ea"/>
                <a:cs typeface="Calibri Light" panose="020F0302020204030204" pitchFamily="34" charset="0"/>
              </a:rPr>
              <a:t>**  נתונים מתוך איסוף הנתונים של אשל 2014</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0" i="0" u="none" strike="noStrike" kern="1200" cap="none" spc="0" normalizeH="0" baseline="0" noProof="0" dirty="0">
                <a:ln>
                  <a:noFill/>
                </a:ln>
                <a:solidFill>
                  <a:prstClr val="white"/>
                </a:solidFill>
                <a:effectLst/>
                <a:uLnTx/>
                <a:uFillTx/>
                <a:latin typeface="Calibri Light" panose="020F0302020204030204" pitchFamily="34" charset="0"/>
                <a:ea typeface="+mn-ea"/>
                <a:cs typeface="Calibri Light" panose="020F0302020204030204" pitchFamily="34" charset="0"/>
              </a:rPr>
              <a:t> </a:t>
            </a:r>
            <a:endParaRPr kumimoji="0" lang="en-US" sz="1600" b="0" i="0" u="none" strike="noStrike" kern="1200" cap="none" spc="0" normalizeH="0" baseline="0" noProof="0" dirty="0">
              <a:ln>
                <a:noFill/>
              </a:ln>
              <a:solidFill>
                <a:prstClr val="white"/>
              </a:solidFill>
              <a:effectLst/>
              <a:uLnTx/>
              <a:uFillTx/>
              <a:latin typeface="Calibri Light" panose="020F0302020204030204" pitchFamily="34" charset="0"/>
              <a:ea typeface="+mn-ea"/>
              <a:cs typeface="Calibri Light" panose="020F0302020204030204" pitchFamily="34" charset="0"/>
            </a:endParaRPr>
          </a:p>
        </p:txBody>
      </p:sp>
      <p:sp>
        <p:nvSpPr>
          <p:cNvPr id="6" name="Hexagon 5"/>
          <p:cNvSpPr/>
          <p:nvPr/>
        </p:nvSpPr>
        <p:spPr>
          <a:xfrm>
            <a:off x="2604656" y="2167878"/>
            <a:ext cx="2452254" cy="2089940"/>
          </a:xfrm>
          <a:prstGeom prst="hexagon">
            <a:avLst/>
          </a:prstGeom>
          <a:solidFill>
            <a:schemeClr val="accent5">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300" b="1" i="0" u="none" strike="noStrike" kern="1200" cap="none" spc="0"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rPr>
              <a:t> כ 330 קהילות תומכות- 70,000 זקנים</a:t>
            </a:r>
            <a:endParaRPr kumimoji="0" lang="en-US" sz="2300" b="1" i="0" u="none" strike="noStrike" kern="1200" cap="none" spc="0"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endParaRPr>
          </a:p>
        </p:txBody>
      </p:sp>
      <p:grpSp>
        <p:nvGrpSpPr>
          <p:cNvPr id="11" name="Group 10"/>
          <p:cNvGrpSpPr/>
          <p:nvPr/>
        </p:nvGrpSpPr>
        <p:grpSpPr>
          <a:xfrm>
            <a:off x="536865" y="1122907"/>
            <a:ext cx="2458026" cy="1975016"/>
            <a:chOff x="2071255" y="1122907"/>
            <a:chExt cx="2458026" cy="1975016"/>
          </a:xfrm>
          <a:solidFill>
            <a:srgbClr val="A65980"/>
          </a:solidFill>
        </p:grpSpPr>
        <p:sp>
          <p:nvSpPr>
            <p:cNvPr id="18" name="Hexagon 17"/>
            <p:cNvSpPr/>
            <p:nvPr/>
          </p:nvSpPr>
          <p:spPr>
            <a:xfrm>
              <a:off x="2071255" y="1122907"/>
              <a:ext cx="2452254" cy="1975016"/>
            </a:xfrm>
            <a:prstGeom prst="hexagon">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panose="020F0302020204030204" pitchFamily="34" charset="0"/>
                <a:ea typeface="+mn-ea"/>
                <a:cs typeface="Calibri Light" panose="020F0302020204030204" pitchFamily="34" charset="0"/>
              </a:endParaRPr>
            </a:p>
          </p:txBody>
        </p:sp>
        <p:sp>
          <p:nvSpPr>
            <p:cNvPr id="22" name="TextBox 21"/>
            <p:cNvSpPr txBox="1"/>
            <p:nvPr/>
          </p:nvSpPr>
          <p:spPr>
            <a:xfrm>
              <a:off x="2141103" y="1417915"/>
              <a:ext cx="2388178" cy="1384995"/>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800" b="0" i="0" u="none" strike="noStrike" kern="1200" cap="none" spc="0" normalizeH="0" baseline="0" noProof="0" dirty="0">
                  <a:ln>
                    <a:noFill/>
                  </a:ln>
                  <a:solidFill>
                    <a:prstClr val="white"/>
                  </a:solidFill>
                  <a:effectLst/>
                  <a:uLnTx/>
                  <a:uFillTx/>
                  <a:latin typeface="Calibri Light" panose="020F0302020204030204" pitchFamily="34" charset="0"/>
                  <a:ea typeface="+mn-ea"/>
                  <a:cs typeface="Calibri Light" panose="020F0302020204030204" pitchFamily="34" charset="0"/>
                </a:rPr>
                <a:t>50% </a:t>
              </a:r>
            </a:p>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800" b="0" i="0" u="none" strike="noStrike" kern="1200" cap="none" spc="0" normalizeH="0" baseline="0" noProof="0" dirty="0" err="1">
                  <a:ln>
                    <a:noFill/>
                  </a:ln>
                  <a:solidFill>
                    <a:prstClr val="white"/>
                  </a:solidFill>
                  <a:effectLst/>
                  <a:uLnTx/>
                  <a:uFillTx/>
                  <a:latin typeface="Calibri Light" panose="020F0302020204030204" pitchFamily="34" charset="0"/>
                  <a:ea typeface="+mn-ea"/>
                  <a:cs typeface="Calibri Light" panose="020F0302020204030204" pitchFamily="34" charset="0"/>
                </a:rPr>
                <a:t>מסובסדי</a:t>
              </a:r>
              <a:r>
                <a:rPr kumimoji="0" lang="he-IL" sz="2800" b="0" i="0" u="none" strike="noStrike" kern="1200" cap="none" spc="0" normalizeH="0" baseline="0" noProof="0" dirty="0">
                  <a:ln>
                    <a:noFill/>
                  </a:ln>
                  <a:solidFill>
                    <a:prstClr val="white"/>
                  </a:solidFill>
                  <a:effectLst/>
                  <a:uLnTx/>
                  <a:uFillTx/>
                  <a:latin typeface="Calibri Light" panose="020F0302020204030204" pitchFamily="34" charset="0"/>
                  <a:ea typeface="+mn-ea"/>
                  <a:cs typeface="Calibri Light" panose="020F0302020204030204" pitchFamily="34" charset="0"/>
                </a:rPr>
                <a:t> </a:t>
              </a:r>
            </a:p>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800" b="0" i="0" u="none" strike="noStrike" kern="1200" cap="none" spc="0" normalizeH="0" baseline="0" noProof="0" dirty="0">
                  <a:ln>
                    <a:noFill/>
                  </a:ln>
                  <a:solidFill>
                    <a:prstClr val="white"/>
                  </a:solidFill>
                  <a:effectLst/>
                  <a:uLnTx/>
                  <a:uFillTx/>
                  <a:latin typeface="Calibri Light" panose="020F0302020204030204" pitchFamily="34" charset="0"/>
                  <a:ea typeface="+mn-ea"/>
                  <a:cs typeface="Calibri Light" panose="020F0302020204030204" pitchFamily="34" charset="0"/>
                </a:rPr>
                <a:t>רווחה</a:t>
              </a:r>
              <a:endParaRPr kumimoji="0" lang="en-US" sz="2800" b="0" i="0" u="none" strike="noStrike" kern="1200" cap="none" spc="0" normalizeH="0" baseline="0" noProof="0" dirty="0">
                <a:ln>
                  <a:noFill/>
                </a:ln>
                <a:solidFill>
                  <a:prstClr val="white"/>
                </a:solidFill>
                <a:effectLst/>
                <a:uLnTx/>
                <a:uFillTx/>
                <a:latin typeface="Calibri Light" panose="020F0302020204030204" pitchFamily="34" charset="0"/>
                <a:ea typeface="+mn-ea"/>
                <a:cs typeface="Calibri Light" panose="020F0302020204030204" pitchFamily="34" charset="0"/>
              </a:endParaRPr>
            </a:p>
          </p:txBody>
        </p:sp>
      </p:grpSp>
      <p:grpSp>
        <p:nvGrpSpPr>
          <p:cNvPr id="3" name="Group 2"/>
          <p:cNvGrpSpPr/>
          <p:nvPr/>
        </p:nvGrpSpPr>
        <p:grpSpPr>
          <a:xfrm>
            <a:off x="2604656" y="77936"/>
            <a:ext cx="2452254" cy="1975016"/>
            <a:chOff x="4139046" y="77936"/>
            <a:chExt cx="2452254" cy="1975016"/>
          </a:xfrm>
          <a:solidFill>
            <a:srgbClr val="A65980"/>
          </a:solidFill>
        </p:grpSpPr>
        <p:sp>
          <p:nvSpPr>
            <p:cNvPr id="19" name="Hexagon 18"/>
            <p:cNvSpPr/>
            <p:nvPr/>
          </p:nvSpPr>
          <p:spPr>
            <a:xfrm>
              <a:off x="4139046" y="77936"/>
              <a:ext cx="2452254" cy="1975016"/>
            </a:xfrm>
            <a:prstGeom prst="hexagon">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panose="020F0302020204030204" pitchFamily="34" charset="0"/>
                <a:ea typeface="+mn-ea"/>
                <a:cs typeface="Calibri Light" panose="020F0302020204030204" pitchFamily="34" charset="0"/>
              </a:endParaRPr>
            </a:p>
          </p:txBody>
        </p:sp>
        <p:sp>
          <p:nvSpPr>
            <p:cNvPr id="23" name="TextBox 22"/>
            <p:cNvSpPr txBox="1"/>
            <p:nvPr/>
          </p:nvSpPr>
          <p:spPr>
            <a:xfrm>
              <a:off x="4439085" y="660518"/>
              <a:ext cx="1778000" cy="954107"/>
            </a:xfrm>
            <a:prstGeom prst="rect">
              <a:avLst/>
            </a:prstGeom>
            <a:grp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800" b="0" i="0" u="none" strike="noStrike" kern="1200" cap="none" spc="0" normalizeH="0" baseline="0" noProof="0" dirty="0">
                  <a:ln>
                    <a:noFill/>
                  </a:ln>
                  <a:solidFill>
                    <a:prstClr val="white"/>
                  </a:solidFill>
                  <a:effectLst/>
                  <a:uLnTx/>
                  <a:uFillTx/>
                  <a:latin typeface="Calibri Light" panose="020F0302020204030204" pitchFamily="34" charset="0"/>
                  <a:ea typeface="+mn-ea"/>
                  <a:cs typeface="Calibri Light" panose="020F0302020204030204" pitchFamily="34" charset="0"/>
                </a:rPr>
                <a:t>גיל ממוצע - 80</a:t>
              </a:r>
              <a:endParaRPr kumimoji="0" lang="en-US" sz="2800" b="0" i="0" u="none" strike="noStrike" kern="1200" cap="none" spc="0" normalizeH="0" baseline="0" noProof="0" dirty="0">
                <a:ln>
                  <a:noFill/>
                </a:ln>
                <a:solidFill>
                  <a:prstClr val="white"/>
                </a:solidFill>
                <a:effectLst/>
                <a:uLnTx/>
                <a:uFillTx/>
                <a:latin typeface="Calibri Light" panose="020F0302020204030204" pitchFamily="34" charset="0"/>
                <a:ea typeface="+mn-ea"/>
                <a:cs typeface="Calibri Light" panose="020F0302020204030204" pitchFamily="34" charset="0"/>
              </a:endParaRPr>
            </a:p>
          </p:txBody>
        </p:sp>
      </p:grpSp>
      <p:grpSp>
        <p:nvGrpSpPr>
          <p:cNvPr id="10" name="Group 9"/>
          <p:cNvGrpSpPr/>
          <p:nvPr/>
        </p:nvGrpSpPr>
        <p:grpSpPr>
          <a:xfrm>
            <a:off x="545299" y="3268810"/>
            <a:ext cx="2452254" cy="1975016"/>
            <a:chOff x="2079689" y="3268810"/>
            <a:chExt cx="2452254" cy="1975016"/>
          </a:xfrm>
          <a:solidFill>
            <a:srgbClr val="A65980"/>
          </a:solidFill>
        </p:grpSpPr>
        <p:sp>
          <p:nvSpPr>
            <p:cNvPr id="17" name="Hexagon 16"/>
            <p:cNvSpPr/>
            <p:nvPr/>
          </p:nvSpPr>
          <p:spPr>
            <a:xfrm>
              <a:off x="2079689" y="3268810"/>
              <a:ext cx="2452254" cy="1975016"/>
            </a:xfrm>
            <a:prstGeom prst="hexagon">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panose="020F0302020204030204" pitchFamily="34" charset="0"/>
                <a:ea typeface="+mn-ea"/>
                <a:cs typeface="Calibri Light" panose="020F0302020204030204" pitchFamily="34" charset="0"/>
              </a:endParaRPr>
            </a:p>
          </p:txBody>
        </p:sp>
        <p:sp>
          <p:nvSpPr>
            <p:cNvPr id="24" name="TextBox 23"/>
            <p:cNvSpPr txBox="1"/>
            <p:nvPr/>
          </p:nvSpPr>
          <p:spPr>
            <a:xfrm>
              <a:off x="2446192" y="3560307"/>
              <a:ext cx="1705169" cy="1384995"/>
            </a:xfrm>
            <a:prstGeom prst="rect">
              <a:avLst/>
            </a:prstGeom>
            <a:grp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800" b="0" i="0" u="none" strike="noStrike" kern="1200" cap="none" spc="0" normalizeH="0" baseline="0" noProof="0" dirty="0">
                  <a:ln>
                    <a:noFill/>
                  </a:ln>
                  <a:solidFill>
                    <a:prstClr val="white"/>
                  </a:solidFill>
                  <a:effectLst/>
                  <a:uLnTx/>
                  <a:uFillTx/>
                  <a:latin typeface="Calibri Light" panose="020F0302020204030204" pitchFamily="34" charset="0"/>
                  <a:ea typeface="+mn-ea"/>
                  <a:cs typeface="Calibri Light" panose="020F0302020204030204" pitchFamily="34" charset="0"/>
                </a:rPr>
                <a:t>22% משלמים מחוק סיעוד</a:t>
              </a:r>
              <a:endParaRPr kumimoji="0" lang="en-US" sz="2800" b="0" i="0" u="none" strike="noStrike" kern="1200" cap="none" spc="0" normalizeH="0" baseline="0" noProof="0" dirty="0">
                <a:ln>
                  <a:noFill/>
                </a:ln>
                <a:solidFill>
                  <a:prstClr val="white"/>
                </a:solidFill>
                <a:effectLst/>
                <a:uLnTx/>
                <a:uFillTx/>
                <a:latin typeface="Calibri Light" panose="020F0302020204030204" pitchFamily="34" charset="0"/>
                <a:ea typeface="+mn-ea"/>
                <a:cs typeface="Calibri Light" panose="020F0302020204030204" pitchFamily="34" charset="0"/>
              </a:endParaRPr>
            </a:p>
          </p:txBody>
        </p:sp>
      </p:grpSp>
      <p:grpSp>
        <p:nvGrpSpPr>
          <p:cNvPr id="4" name="Group 3"/>
          <p:cNvGrpSpPr/>
          <p:nvPr/>
        </p:nvGrpSpPr>
        <p:grpSpPr>
          <a:xfrm>
            <a:off x="4672447" y="1122905"/>
            <a:ext cx="2452254" cy="1975016"/>
            <a:chOff x="6206837" y="1122905"/>
            <a:chExt cx="2452254" cy="1975016"/>
          </a:xfrm>
          <a:solidFill>
            <a:srgbClr val="A65980"/>
          </a:solidFill>
        </p:grpSpPr>
        <p:sp>
          <p:nvSpPr>
            <p:cNvPr id="16" name="Hexagon 15"/>
            <p:cNvSpPr/>
            <p:nvPr/>
          </p:nvSpPr>
          <p:spPr>
            <a:xfrm>
              <a:off x="6206837" y="1122905"/>
              <a:ext cx="2452254" cy="1975016"/>
            </a:xfrm>
            <a:prstGeom prst="hexagon">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panose="020F0302020204030204" pitchFamily="34" charset="0"/>
                <a:ea typeface="+mn-ea"/>
                <a:cs typeface="Calibri Light" panose="020F0302020204030204" pitchFamily="34" charset="0"/>
              </a:endParaRPr>
            </a:p>
          </p:txBody>
        </p:sp>
        <p:sp>
          <p:nvSpPr>
            <p:cNvPr id="25" name="TextBox 24"/>
            <p:cNvSpPr txBox="1"/>
            <p:nvPr/>
          </p:nvSpPr>
          <p:spPr>
            <a:xfrm>
              <a:off x="6291407" y="1633363"/>
              <a:ext cx="2075296" cy="954107"/>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800" b="0" i="0" u="none" strike="noStrike" kern="1200" cap="none" spc="0" normalizeH="0" baseline="0" noProof="0" dirty="0">
                  <a:ln>
                    <a:noFill/>
                  </a:ln>
                  <a:solidFill>
                    <a:prstClr val="white"/>
                  </a:solidFill>
                  <a:effectLst/>
                  <a:uLnTx/>
                  <a:uFillTx/>
                  <a:latin typeface="Calibri Light" panose="020F0302020204030204" pitchFamily="34" charset="0"/>
                  <a:ea typeface="+mn-ea"/>
                  <a:cs typeface="Calibri Light" panose="020F0302020204030204" pitchFamily="34" charset="0"/>
                </a:rPr>
                <a:t>24% זוגות</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800" b="0" i="0" u="none" strike="noStrike" kern="1200" cap="none" spc="0" normalizeH="0" baseline="0" noProof="0" dirty="0">
                  <a:ln>
                    <a:noFill/>
                  </a:ln>
                  <a:solidFill>
                    <a:prstClr val="white"/>
                  </a:solidFill>
                  <a:effectLst/>
                  <a:uLnTx/>
                  <a:uFillTx/>
                  <a:latin typeface="Calibri Light" panose="020F0302020204030204" pitchFamily="34" charset="0"/>
                  <a:ea typeface="+mn-ea"/>
                  <a:cs typeface="Calibri Light" panose="020F0302020204030204" pitchFamily="34" charset="0"/>
                </a:rPr>
                <a:t>76% בודדים</a:t>
              </a:r>
              <a:endParaRPr kumimoji="0" lang="en-US" sz="2800" b="0" i="0" u="none" strike="noStrike" kern="1200" cap="none" spc="0" normalizeH="0" baseline="0" noProof="0" dirty="0">
                <a:ln>
                  <a:noFill/>
                </a:ln>
                <a:solidFill>
                  <a:prstClr val="white"/>
                </a:solidFill>
                <a:effectLst/>
                <a:uLnTx/>
                <a:uFillTx/>
                <a:latin typeface="Calibri Light" panose="020F0302020204030204" pitchFamily="34" charset="0"/>
                <a:ea typeface="+mn-ea"/>
                <a:cs typeface="Calibri Light" panose="020F0302020204030204" pitchFamily="34" charset="0"/>
              </a:endParaRPr>
            </a:p>
          </p:txBody>
        </p:sp>
      </p:grpSp>
      <p:grpSp>
        <p:nvGrpSpPr>
          <p:cNvPr id="8" name="Group 7"/>
          <p:cNvGrpSpPr/>
          <p:nvPr/>
        </p:nvGrpSpPr>
        <p:grpSpPr>
          <a:xfrm>
            <a:off x="4752110" y="3212847"/>
            <a:ext cx="2452254" cy="1975016"/>
            <a:chOff x="6286500" y="3212847"/>
            <a:chExt cx="2452254" cy="1975016"/>
          </a:xfrm>
          <a:solidFill>
            <a:srgbClr val="A65980"/>
          </a:solidFill>
        </p:grpSpPr>
        <p:sp>
          <p:nvSpPr>
            <p:cNvPr id="15" name="Hexagon 14"/>
            <p:cNvSpPr/>
            <p:nvPr/>
          </p:nvSpPr>
          <p:spPr>
            <a:xfrm>
              <a:off x="6286500" y="3212847"/>
              <a:ext cx="2452254" cy="1975016"/>
            </a:xfrm>
            <a:prstGeom prst="hexagon">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Light" panose="020F0302020204030204" pitchFamily="34" charset="0"/>
                <a:ea typeface="+mn-ea"/>
                <a:cs typeface="Calibri Light" panose="020F0302020204030204" pitchFamily="34" charset="0"/>
              </a:endParaRPr>
            </a:p>
          </p:txBody>
        </p:sp>
        <p:sp>
          <p:nvSpPr>
            <p:cNvPr id="26" name="TextBox 25"/>
            <p:cNvSpPr txBox="1"/>
            <p:nvPr/>
          </p:nvSpPr>
          <p:spPr>
            <a:xfrm>
              <a:off x="6623627" y="3699054"/>
              <a:ext cx="1778000" cy="954107"/>
            </a:xfrm>
            <a:prstGeom prst="rect">
              <a:avLst/>
            </a:prstGeom>
            <a:grp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800" b="0" i="0" u="none" strike="noStrike" kern="1200" cap="none" spc="0" normalizeH="0" baseline="0" noProof="0" dirty="0">
                  <a:ln>
                    <a:noFill/>
                  </a:ln>
                  <a:solidFill>
                    <a:prstClr val="white"/>
                  </a:solidFill>
                  <a:effectLst/>
                  <a:uLnTx/>
                  <a:uFillTx/>
                  <a:latin typeface="Calibri Light" panose="020F0302020204030204" pitchFamily="34" charset="0"/>
                  <a:ea typeface="+mn-ea"/>
                  <a:cs typeface="Calibri Light" panose="020F0302020204030204" pitchFamily="34" charset="0"/>
                </a:rPr>
                <a:t>30%</a:t>
              </a:r>
            </a:p>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800" b="0" i="0" u="none" strike="noStrike" kern="1200" cap="none" spc="0" normalizeH="0" baseline="0" noProof="0" dirty="0">
                  <a:ln>
                    <a:noFill/>
                  </a:ln>
                  <a:solidFill>
                    <a:prstClr val="white"/>
                  </a:solidFill>
                  <a:effectLst/>
                  <a:uLnTx/>
                  <a:uFillTx/>
                  <a:latin typeface="Calibri Light" panose="020F0302020204030204" pitchFamily="34" charset="0"/>
                  <a:ea typeface="+mn-ea"/>
                  <a:cs typeface="Calibri Light" panose="020F0302020204030204" pitchFamily="34" charset="0"/>
                </a:rPr>
                <a:t>ניצולי שואה</a:t>
              </a:r>
              <a:endParaRPr kumimoji="0" lang="en-US" sz="2800" b="0" i="0" u="none" strike="noStrike" kern="1200" cap="none" spc="0" normalizeH="0" baseline="0" noProof="0" dirty="0">
                <a:ln>
                  <a:noFill/>
                </a:ln>
                <a:solidFill>
                  <a:prstClr val="white"/>
                </a:solidFill>
                <a:effectLst/>
                <a:uLnTx/>
                <a:uFillTx/>
                <a:latin typeface="Calibri Light" panose="020F0302020204030204" pitchFamily="34" charset="0"/>
                <a:ea typeface="+mn-ea"/>
                <a:cs typeface="Calibri Light" panose="020F0302020204030204" pitchFamily="34" charset="0"/>
              </a:endParaRPr>
            </a:p>
          </p:txBody>
        </p:sp>
      </p:grpSp>
      <p:grpSp>
        <p:nvGrpSpPr>
          <p:cNvPr id="9" name="Group 8"/>
          <p:cNvGrpSpPr/>
          <p:nvPr/>
        </p:nvGrpSpPr>
        <p:grpSpPr>
          <a:xfrm>
            <a:off x="2616971" y="4372744"/>
            <a:ext cx="2452254" cy="1802631"/>
            <a:chOff x="4139046" y="4257820"/>
            <a:chExt cx="2452254" cy="1975016"/>
          </a:xfrm>
          <a:solidFill>
            <a:srgbClr val="A65980"/>
          </a:solidFill>
        </p:grpSpPr>
        <p:sp>
          <p:nvSpPr>
            <p:cNvPr id="14" name="Hexagon 13"/>
            <p:cNvSpPr/>
            <p:nvPr/>
          </p:nvSpPr>
          <p:spPr>
            <a:xfrm>
              <a:off x="4139046" y="4257820"/>
              <a:ext cx="2452254" cy="1975016"/>
            </a:xfrm>
            <a:prstGeom prst="hexagon">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panose="020F0302020204030204" pitchFamily="34" charset="0"/>
                <a:ea typeface="+mn-ea"/>
                <a:cs typeface="Calibri Light" panose="020F0302020204030204" pitchFamily="34" charset="0"/>
              </a:endParaRPr>
            </a:p>
          </p:txBody>
        </p:sp>
        <p:sp>
          <p:nvSpPr>
            <p:cNvPr id="27" name="TextBox 26"/>
            <p:cNvSpPr txBox="1"/>
            <p:nvPr/>
          </p:nvSpPr>
          <p:spPr>
            <a:xfrm>
              <a:off x="4342053" y="4768274"/>
              <a:ext cx="2046240" cy="1045348"/>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white"/>
                  </a:solidFill>
                  <a:effectLst/>
                  <a:uLnTx/>
                  <a:uFillTx/>
                  <a:latin typeface="Calibri Light" panose="020F0302020204030204" pitchFamily="34" charset="0"/>
                  <a:ea typeface="+mn-ea"/>
                  <a:cs typeface="Calibri Light" panose="020F0302020204030204" pitchFamily="34" charset="0"/>
                </a:rPr>
                <a:t>21%</a:t>
              </a:r>
              <a:endParaRPr kumimoji="0" lang="he-IL" sz="2800" b="0" i="0" u="none" strike="noStrike" kern="1200" cap="none" spc="0" normalizeH="0" baseline="0" noProof="0" dirty="0">
                <a:ln>
                  <a:noFill/>
                </a:ln>
                <a:solidFill>
                  <a:prstClr val="white"/>
                </a:solidFill>
                <a:effectLst/>
                <a:uLnTx/>
                <a:uFillTx/>
                <a:latin typeface="Calibri Light" panose="020F0302020204030204" pitchFamily="34" charset="0"/>
                <a:ea typeface="+mn-ea"/>
                <a:cs typeface="Calibri Light" panose="020F0302020204030204" pitchFamily="34" charset="0"/>
              </a:endParaRPr>
            </a:p>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800" b="0" i="0" u="none" strike="noStrike" kern="1200" cap="none" spc="0" normalizeH="0" baseline="0" noProof="0" dirty="0" err="1">
                  <a:ln>
                    <a:noFill/>
                  </a:ln>
                  <a:solidFill>
                    <a:prstClr val="white"/>
                  </a:solidFill>
                  <a:effectLst/>
                  <a:uLnTx/>
                  <a:uFillTx/>
                  <a:latin typeface="Calibri Light" panose="020F0302020204030204" pitchFamily="34" charset="0"/>
                  <a:ea typeface="+mn-ea"/>
                  <a:cs typeface="Calibri Light" panose="020F0302020204030204" pitchFamily="34" charset="0"/>
                </a:rPr>
                <a:t>מרותקי</a:t>
              </a:r>
              <a:r>
                <a:rPr kumimoji="0" lang="he-IL" sz="2800" b="0" i="0" u="none" strike="noStrike" kern="1200" cap="none" spc="0" normalizeH="0" baseline="0" noProof="0" dirty="0">
                  <a:ln>
                    <a:noFill/>
                  </a:ln>
                  <a:solidFill>
                    <a:prstClr val="white"/>
                  </a:solidFill>
                  <a:effectLst/>
                  <a:uLnTx/>
                  <a:uFillTx/>
                  <a:latin typeface="Calibri Light" panose="020F0302020204030204" pitchFamily="34" charset="0"/>
                  <a:ea typeface="+mn-ea"/>
                  <a:cs typeface="Calibri Light" panose="020F0302020204030204" pitchFamily="34" charset="0"/>
                </a:rPr>
                <a:t> בית</a:t>
              </a:r>
              <a:endParaRPr kumimoji="0" lang="en-US" sz="2800" b="0" i="0" u="none" strike="noStrike" kern="1200" cap="none" spc="0" normalizeH="0" baseline="0" noProof="0" dirty="0">
                <a:ln>
                  <a:noFill/>
                </a:ln>
                <a:solidFill>
                  <a:prstClr val="white"/>
                </a:solidFill>
                <a:effectLst/>
                <a:uLnTx/>
                <a:uFillTx/>
                <a:latin typeface="Calibri Light" panose="020F0302020204030204" pitchFamily="34" charset="0"/>
                <a:ea typeface="+mn-ea"/>
                <a:cs typeface="Calibri Light" panose="020F0302020204030204" pitchFamily="34" charset="0"/>
              </a:endParaRPr>
            </a:p>
          </p:txBody>
        </p:sp>
      </p:grpSp>
      <p:pic>
        <p:nvPicPr>
          <p:cNvPr id="13" name="Picture 12" descr="A picture containing person, tree, outdoor, smiling&#10;&#10;Description automatically generated">
            <a:extLst>
              <a:ext uri="{FF2B5EF4-FFF2-40B4-BE49-F238E27FC236}">
                <a16:creationId xmlns:a16="http://schemas.microsoft.com/office/drawing/2014/main" id="{21E36EAA-821A-4C1D-9D80-EEE90E13BA8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839278" y="2709050"/>
            <a:ext cx="3078799" cy="2052952"/>
          </a:xfrm>
          <a:prstGeom prst="rect">
            <a:avLst/>
          </a:prstGeom>
        </p:spPr>
      </p:pic>
      <p:pic>
        <p:nvPicPr>
          <p:cNvPr id="28" name="תמונה 27"/>
          <p:cNvPicPr>
            <a:picLocks noChangeAspect="1"/>
          </p:cNvPicPr>
          <p:nvPr/>
        </p:nvPicPr>
        <p:blipFill>
          <a:blip r:embed="rId4"/>
          <a:stretch>
            <a:fillRect/>
          </a:stretch>
        </p:blipFill>
        <p:spPr>
          <a:xfrm>
            <a:off x="7919634" y="5432672"/>
            <a:ext cx="4272366" cy="1425328"/>
          </a:xfrm>
          <a:prstGeom prst="rect">
            <a:avLst/>
          </a:prstGeom>
        </p:spPr>
      </p:pic>
      <p:sp>
        <p:nvSpPr>
          <p:cNvPr id="29" name="TextBox 28"/>
          <p:cNvSpPr txBox="1"/>
          <p:nvPr/>
        </p:nvSpPr>
        <p:spPr>
          <a:xfrm rot="16200000">
            <a:off x="-503973" y="563419"/>
            <a:ext cx="1258678" cy="338554"/>
          </a:xfrm>
          <a:prstGeom prst="rect">
            <a:avLst/>
          </a:prstGeom>
          <a:noFill/>
        </p:spPr>
        <p:txBody>
          <a:bodyPr wrap="non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1"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קהילה לכולם</a:t>
            </a:r>
          </a:p>
        </p:txBody>
      </p:sp>
      <p:sp>
        <p:nvSpPr>
          <p:cNvPr id="30" name="מלבן 29"/>
          <p:cNvSpPr/>
          <p:nvPr/>
        </p:nvSpPr>
        <p:spPr>
          <a:xfrm>
            <a:off x="8454" y="0"/>
            <a:ext cx="244547" cy="6857999"/>
          </a:xfrm>
          <a:prstGeom prst="rect">
            <a:avLst/>
          </a:prstGeom>
          <a:solidFill>
            <a:srgbClr val="4472C4"/>
          </a:solidFill>
          <a:ln>
            <a:solidFill>
              <a:srgbClr val="8C8DC5"/>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Calibri" panose="020F0502020204030204"/>
              <a:ea typeface="+mn-ea"/>
              <a:cs typeface="Arial" panose="020B0604020202020204" pitchFamily="34" charset="0"/>
            </a:endParaRPr>
          </a:p>
        </p:txBody>
      </p:sp>
      <p:sp>
        <p:nvSpPr>
          <p:cNvPr id="31" name="TextBox 30"/>
          <p:cNvSpPr txBox="1"/>
          <p:nvPr/>
        </p:nvSpPr>
        <p:spPr>
          <a:xfrm rot="16200000">
            <a:off x="-498612" y="563419"/>
            <a:ext cx="1258678" cy="338554"/>
          </a:xfrm>
          <a:prstGeom prst="rect">
            <a:avLst/>
          </a:prstGeom>
          <a:noFill/>
        </p:spPr>
        <p:txBody>
          <a:bodyPr wrap="non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1"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קהילה לכולם</a:t>
            </a:r>
          </a:p>
        </p:txBody>
      </p:sp>
    </p:spTree>
    <p:extLst>
      <p:ext uri="{BB962C8B-B14F-4D97-AF65-F5344CB8AC3E}">
        <p14:creationId xmlns:p14="http://schemas.microsoft.com/office/powerpoint/2010/main" val="6206268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4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aphicFrame>
        <p:nvGraphicFramePr>
          <p:cNvPr id="6" name="Content Placeholder 5"/>
          <p:cNvGraphicFramePr>
            <a:graphicFrameLocks noGrp="1"/>
          </p:cNvGraphicFramePr>
          <p:nvPr>
            <p:ph idx="1"/>
          </p:nvPr>
        </p:nvGraphicFramePr>
        <p:xfrm>
          <a:off x="1017868" y="221009"/>
          <a:ext cx="10515600" cy="5583238"/>
        </p:xfrm>
        <a:graphic>
          <a:graphicData uri="http://schemas.openxmlformats.org/drawingml/2006/chart">
            <c:chart xmlns:c="http://schemas.openxmlformats.org/drawingml/2006/chart" xmlns:r="http://schemas.openxmlformats.org/officeDocument/2006/relationships" r:id="rId3"/>
          </a:graphicData>
        </a:graphic>
      </p:graphicFrame>
      <p:sp>
        <p:nvSpPr>
          <p:cNvPr id="10" name="TextBox 1"/>
          <p:cNvSpPr txBox="1"/>
          <p:nvPr/>
        </p:nvSpPr>
        <p:spPr>
          <a:xfrm>
            <a:off x="411917" y="6292979"/>
            <a:ext cx="2442117" cy="412595"/>
          </a:xfrm>
          <a:prstGeom prst="rect">
            <a:avLst/>
          </a:prstGeom>
        </p:spPr>
        <p:txBody>
          <a:bodyPr wrap="square" rtlCol="0"/>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 </a:t>
            </a:r>
            <a:r>
              <a:rPr kumimoji="0" lang="he-IL" sz="16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מתוך נתוני מחקר </a:t>
            </a:r>
            <a:r>
              <a:rPr kumimoji="0" lang="he-IL" sz="1600" b="0" i="0" u="none" strike="noStrike" kern="1200" cap="none" spc="0" normalizeH="0" baseline="0" noProof="0" dirty="0" err="1">
                <a:ln>
                  <a:noFill/>
                </a:ln>
                <a:solidFill>
                  <a:prstClr val="black"/>
                </a:solidFill>
                <a:effectLst/>
                <a:uLnTx/>
                <a:uFillTx/>
                <a:latin typeface="Calibri" panose="020F0502020204030204"/>
                <a:ea typeface="+mn-ea"/>
                <a:cs typeface="Arial" panose="020B0604020202020204" pitchFamily="34" charset="0"/>
              </a:rPr>
              <a:t>ברוקדייל</a:t>
            </a:r>
            <a:r>
              <a:rPr kumimoji="0" lang="he-IL" sz="16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 </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5" name="תמונה 4"/>
          <p:cNvPicPr>
            <a:picLocks noChangeAspect="1"/>
          </p:cNvPicPr>
          <p:nvPr/>
        </p:nvPicPr>
        <p:blipFill>
          <a:blip r:embed="rId4"/>
          <a:stretch>
            <a:fillRect/>
          </a:stretch>
        </p:blipFill>
        <p:spPr>
          <a:xfrm>
            <a:off x="9035512" y="5804946"/>
            <a:ext cx="3156488" cy="1053054"/>
          </a:xfrm>
          <a:prstGeom prst="rect">
            <a:avLst/>
          </a:prstGeom>
        </p:spPr>
      </p:pic>
      <p:sp>
        <p:nvSpPr>
          <p:cNvPr id="7" name="מלבן 6"/>
          <p:cNvSpPr/>
          <p:nvPr/>
        </p:nvSpPr>
        <p:spPr>
          <a:xfrm>
            <a:off x="3093" y="0"/>
            <a:ext cx="244547" cy="6857999"/>
          </a:xfrm>
          <a:prstGeom prst="rect">
            <a:avLst/>
          </a:prstGeom>
          <a:solidFill>
            <a:srgbClr val="9DC3E6"/>
          </a:solidFill>
          <a:ln>
            <a:solidFill>
              <a:srgbClr val="8C8DC5"/>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Calibri" panose="020F0502020204030204"/>
              <a:ea typeface="+mn-ea"/>
              <a:cs typeface="Arial" panose="020B0604020202020204" pitchFamily="34" charset="0"/>
            </a:endParaRPr>
          </a:p>
        </p:txBody>
      </p:sp>
      <p:sp>
        <p:nvSpPr>
          <p:cNvPr id="9" name="TextBox 8"/>
          <p:cNvSpPr txBox="1"/>
          <p:nvPr/>
        </p:nvSpPr>
        <p:spPr>
          <a:xfrm rot="16200000">
            <a:off x="-503973" y="563419"/>
            <a:ext cx="1258678" cy="338554"/>
          </a:xfrm>
          <a:prstGeom prst="rect">
            <a:avLst/>
          </a:prstGeom>
          <a:noFill/>
        </p:spPr>
        <p:txBody>
          <a:bodyPr wrap="non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1"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קהילה לכולם</a:t>
            </a:r>
          </a:p>
        </p:txBody>
      </p:sp>
      <p:sp>
        <p:nvSpPr>
          <p:cNvPr id="11" name="מלבן 10"/>
          <p:cNvSpPr/>
          <p:nvPr/>
        </p:nvSpPr>
        <p:spPr>
          <a:xfrm>
            <a:off x="8454" y="0"/>
            <a:ext cx="244547" cy="6857999"/>
          </a:xfrm>
          <a:prstGeom prst="rect">
            <a:avLst/>
          </a:prstGeom>
          <a:solidFill>
            <a:srgbClr val="4472C4"/>
          </a:solidFill>
          <a:ln>
            <a:solidFill>
              <a:srgbClr val="8C8DC5"/>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Calibri" panose="020F0502020204030204"/>
              <a:ea typeface="+mn-ea"/>
              <a:cs typeface="Arial" panose="020B0604020202020204" pitchFamily="34" charset="0"/>
            </a:endParaRPr>
          </a:p>
        </p:txBody>
      </p:sp>
      <p:sp>
        <p:nvSpPr>
          <p:cNvPr id="12" name="TextBox 11"/>
          <p:cNvSpPr txBox="1"/>
          <p:nvPr/>
        </p:nvSpPr>
        <p:spPr>
          <a:xfrm rot="16200000">
            <a:off x="-498612" y="563419"/>
            <a:ext cx="1258678" cy="338554"/>
          </a:xfrm>
          <a:prstGeom prst="rect">
            <a:avLst/>
          </a:prstGeom>
          <a:noFill/>
        </p:spPr>
        <p:txBody>
          <a:bodyPr wrap="non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1"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קהילה לכולם</a:t>
            </a:r>
          </a:p>
        </p:txBody>
      </p:sp>
    </p:spTree>
    <p:extLst>
      <p:ext uri="{BB962C8B-B14F-4D97-AF65-F5344CB8AC3E}">
        <p14:creationId xmlns:p14="http://schemas.microsoft.com/office/powerpoint/2010/main" val="309392914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כותרת 1"/>
          <p:cNvSpPr>
            <a:spLocks noGrp="1"/>
          </p:cNvSpPr>
          <p:nvPr>
            <p:ph type="title"/>
          </p:nvPr>
        </p:nvSpPr>
        <p:spPr>
          <a:xfrm>
            <a:off x="838200" y="0"/>
            <a:ext cx="10515600" cy="1325563"/>
          </a:xfrm>
        </p:spPr>
        <p:txBody>
          <a:bodyPr/>
          <a:lstStyle/>
          <a:p>
            <a:r>
              <a:rPr lang="he-IL" dirty="0"/>
              <a:t>קהילה תומכת כשירות בסיס לכולם </a:t>
            </a:r>
            <a:r>
              <a:rPr lang="he-IL" sz="3600" dirty="0"/>
              <a:t>(</a:t>
            </a:r>
            <a:r>
              <a:rPr lang="en-US" sz="3600" dirty="0"/>
              <a:t>MVP</a:t>
            </a:r>
            <a:r>
              <a:rPr lang="he-IL" sz="3600" dirty="0"/>
              <a:t> ברמה 1-2)</a:t>
            </a:r>
            <a:endParaRPr lang="he-IL" dirty="0"/>
          </a:p>
        </p:txBody>
      </p:sp>
      <p:sp>
        <p:nvSpPr>
          <p:cNvPr id="3" name="מציין מיקום תוכן 2"/>
          <p:cNvSpPr>
            <a:spLocks noGrp="1"/>
          </p:cNvSpPr>
          <p:nvPr>
            <p:ph idx="1"/>
          </p:nvPr>
        </p:nvSpPr>
        <p:spPr>
          <a:xfrm>
            <a:off x="6633441" y="1532370"/>
            <a:ext cx="5305425" cy="4351338"/>
          </a:xfrm>
        </p:spPr>
        <p:style>
          <a:lnRef idx="2">
            <a:schemeClr val="accent1">
              <a:shade val="50000"/>
            </a:schemeClr>
          </a:lnRef>
          <a:fillRef idx="1">
            <a:schemeClr val="accent1"/>
          </a:fillRef>
          <a:effectRef idx="0">
            <a:schemeClr val="accent1"/>
          </a:effectRef>
          <a:fontRef idx="minor">
            <a:schemeClr val="lt1"/>
          </a:fontRef>
        </p:style>
        <p:txBody>
          <a:bodyPr>
            <a:normAutofit fontScale="92500"/>
          </a:bodyPr>
          <a:lstStyle/>
          <a:p>
            <a:pPr marL="0" indent="0">
              <a:buNone/>
            </a:pPr>
            <a:r>
              <a:rPr lang="he-IL" b="1" dirty="0">
                <a:solidFill>
                  <a:schemeClr val="tx1"/>
                </a:solidFill>
              </a:rPr>
              <a:t>היתרונות:</a:t>
            </a:r>
          </a:p>
          <a:p>
            <a:r>
              <a:rPr lang="he-IL" b="1" dirty="0">
                <a:solidFill>
                  <a:schemeClr val="tx1"/>
                </a:solidFill>
              </a:rPr>
              <a:t>כולם תחת הרדאר החברתי</a:t>
            </a:r>
          </a:p>
          <a:p>
            <a:r>
              <a:rPr lang="he-IL" b="1" dirty="0">
                <a:solidFill>
                  <a:schemeClr val="tx1"/>
                </a:solidFill>
              </a:rPr>
              <a:t>רשת ביטחון חברתי- </a:t>
            </a:r>
            <a:r>
              <a:rPr lang="he-IL" sz="2600" b="1" dirty="0">
                <a:solidFill>
                  <a:schemeClr val="tx1"/>
                </a:solidFill>
              </a:rPr>
              <a:t>הפניות לשירותים </a:t>
            </a:r>
          </a:p>
          <a:p>
            <a:r>
              <a:rPr lang="he-IL" b="1" dirty="0">
                <a:solidFill>
                  <a:schemeClr val="tx1"/>
                </a:solidFill>
              </a:rPr>
              <a:t>התאמה למצב החברתי תפקודי</a:t>
            </a:r>
          </a:p>
          <a:p>
            <a:r>
              <a:rPr lang="he-IL" sz="3000" b="1" dirty="0">
                <a:solidFill>
                  <a:schemeClr val="tx1"/>
                </a:solidFill>
              </a:rPr>
              <a:t>זול ובסיסי </a:t>
            </a:r>
            <a:r>
              <a:rPr lang="he-IL" sz="2400" b="1" dirty="0">
                <a:solidFill>
                  <a:schemeClr val="tx1"/>
                </a:solidFill>
              </a:rPr>
              <a:t>(ניתן להרחיב בבחירה אישית)</a:t>
            </a:r>
          </a:p>
          <a:p>
            <a:r>
              <a:rPr lang="he-IL" sz="3000" b="1" dirty="0">
                <a:solidFill>
                  <a:schemeClr val="tx1"/>
                </a:solidFill>
              </a:rPr>
              <a:t>שירות אוניברסלי </a:t>
            </a:r>
            <a:r>
              <a:rPr lang="he-IL" sz="2400" b="1" dirty="0">
                <a:solidFill>
                  <a:schemeClr val="tx1"/>
                </a:solidFill>
              </a:rPr>
              <a:t>ממקור תקציבי נוסף</a:t>
            </a:r>
          </a:p>
          <a:p>
            <a:r>
              <a:rPr lang="he-IL" b="1" dirty="0">
                <a:solidFill>
                  <a:schemeClr val="tx1"/>
                </a:solidFill>
              </a:rPr>
              <a:t>תשלום מעטפת מהגמלה (היום אין).</a:t>
            </a:r>
          </a:p>
          <a:p>
            <a:r>
              <a:rPr lang="he-IL" b="1" dirty="0">
                <a:solidFill>
                  <a:schemeClr val="tx1"/>
                </a:solidFill>
              </a:rPr>
              <a:t>מאפשר הרחבה של השירות לנוספים (רווחה או פרטיים)</a:t>
            </a:r>
          </a:p>
          <a:p>
            <a:endParaRPr lang="he-IL" dirty="0">
              <a:solidFill>
                <a:schemeClr val="tx1"/>
              </a:solidFill>
            </a:endParaRPr>
          </a:p>
        </p:txBody>
      </p:sp>
      <p:sp>
        <p:nvSpPr>
          <p:cNvPr id="4" name="מציין מיקום תוכן 2"/>
          <p:cNvSpPr txBox="1">
            <a:spLocks/>
          </p:cNvSpPr>
          <p:nvPr/>
        </p:nvSpPr>
        <p:spPr>
          <a:xfrm>
            <a:off x="438150" y="1529195"/>
            <a:ext cx="5657850" cy="4351338"/>
          </a:xfrm>
          <a:prstGeom prst="rect">
            <a:avLst/>
          </a:prstGeom>
        </p:spPr>
        <p:style>
          <a:lnRef idx="3">
            <a:schemeClr val="lt1"/>
          </a:lnRef>
          <a:fillRef idx="1">
            <a:schemeClr val="accent2"/>
          </a:fillRef>
          <a:effectRef idx="1">
            <a:schemeClr val="accent2"/>
          </a:effectRef>
          <a:fontRef idx="minor">
            <a:schemeClr val="lt1"/>
          </a:fontRef>
        </p:style>
        <p:txBody>
          <a:bodyPr vert="horz" lIns="91440" tIns="45720" rIns="91440" bIns="45720" rtlCol="1">
            <a:normAutofit/>
          </a:bodyPr>
          <a:lst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he-IL" sz="2800" b="1"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החסרונות:</a:t>
            </a:r>
          </a:p>
          <a:p>
            <a:pPr marL="228600" marR="0" lvl="0" indent="-228600" algn="r" defTabSz="914400" rtl="1"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he-IL" sz="2400" b="1"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מאבדים שליטה על השירות </a:t>
            </a:r>
            <a:r>
              <a:rPr kumimoji="0" lang="he-IL" sz="1800" b="1"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(לא מסכים)</a:t>
            </a:r>
          </a:p>
          <a:p>
            <a:pPr marL="228600" marR="0" lvl="0" indent="-228600" algn="r" defTabSz="914400" rtl="1"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he-IL" sz="2200" b="1"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הצפה של זכאים, האם הם קהל היעד, מי כן? </a:t>
            </a:r>
          </a:p>
          <a:p>
            <a:pPr marL="228600" marR="0" lvl="0" indent="-228600" algn="r" defTabSz="914400" rtl="1"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he-IL" sz="2400" b="1"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מה תפקיד המחלקה ואיפה האחריות והחיבור של </a:t>
            </a:r>
            <a:r>
              <a:rPr kumimoji="0" lang="he-IL" sz="2400" b="1" i="0" u="none" strike="noStrike" kern="1200" cap="none" spc="0" normalizeH="0" baseline="0" noProof="0" dirty="0" err="1">
                <a:ln>
                  <a:noFill/>
                </a:ln>
                <a:solidFill>
                  <a:prstClr val="black"/>
                </a:solidFill>
                <a:effectLst/>
                <a:uLnTx/>
                <a:uFillTx/>
                <a:latin typeface="Calibri" panose="020F0502020204030204"/>
                <a:ea typeface="+mn-ea"/>
                <a:cs typeface="Arial" panose="020B0604020202020204" pitchFamily="34" charset="0"/>
              </a:rPr>
              <a:t>בטל"א</a:t>
            </a:r>
            <a:r>
              <a:rPr kumimoji="0" lang="he-IL" sz="2400" b="1"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 וקופ"ח</a:t>
            </a:r>
          </a:p>
          <a:p>
            <a:pPr marL="228600" marR="0" lvl="0" indent="-228600" algn="r" defTabSz="914400" rtl="1"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he-IL" sz="2400" b="1"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נדרש תשלום על המעטפת </a:t>
            </a:r>
            <a:r>
              <a:rPr kumimoji="0" lang="he-IL" sz="1800" b="1"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(נדרוש)</a:t>
            </a:r>
          </a:p>
          <a:p>
            <a:pPr marL="228600" marR="0" lvl="0" indent="-228600" algn="r" defTabSz="914400" rtl="1"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he-IL" sz="2400" b="1"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מה עם פריפריה?</a:t>
            </a:r>
          </a:p>
          <a:p>
            <a:pPr marL="228600" marR="0" lvl="0" indent="-228600" algn="r" defTabSz="914400" rtl="1"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he-IL" sz="2400" b="1"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יפסיקו להגיע רווחה </a:t>
            </a:r>
            <a:r>
              <a:rPr kumimoji="0" lang="he-IL" sz="1800" b="1"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(לא נכון)</a:t>
            </a:r>
          </a:p>
          <a:p>
            <a:pPr marL="228600" marR="0" lvl="0" indent="-228600" algn="r" defTabSz="914400" rtl="1" eaLnBrk="1" fontAlgn="auto" latinLnBrk="0" hangingPunct="1">
              <a:lnSpc>
                <a:spcPct val="90000"/>
              </a:lnSpc>
              <a:spcBef>
                <a:spcPts val="1000"/>
              </a:spcBef>
              <a:spcAft>
                <a:spcPts val="0"/>
              </a:spcAft>
              <a:buClrTx/>
              <a:buSzTx/>
              <a:buFont typeface="Arial" panose="020B0604020202020204" pitchFamily="34" charset="0"/>
              <a:buChar char="•"/>
              <a:tabLst/>
              <a:defRPr/>
            </a:pPr>
            <a:endParaRPr kumimoji="0" lang="he-IL" sz="28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endParaRPr>
          </a:p>
        </p:txBody>
      </p:sp>
      <p:sp>
        <p:nvSpPr>
          <p:cNvPr id="5" name="מלבן 4"/>
          <p:cNvSpPr/>
          <p:nvPr/>
        </p:nvSpPr>
        <p:spPr>
          <a:xfrm>
            <a:off x="3093" y="0"/>
            <a:ext cx="244547" cy="6857999"/>
          </a:xfrm>
          <a:prstGeom prst="rect">
            <a:avLst/>
          </a:prstGeom>
          <a:solidFill>
            <a:srgbClr val="9DC3E6"/>
          </a:solidFill>
          <a:ln>
            <a:solidFill>
              <a:srgbClr val="8C8DC5"/>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Calibri" panose="020F0502020204030204"/>
              <a:ea typeface="+mn-ea"/>
              <a:cs typeface="Arial" panose="020B0604020202020204" pitchFamily="34" charset="0"/>
            </a:endParaRPr>
          </a:p>
        </p:txBody>
      </p:sp>
      <p:sp>
        <p:nvSpPr>
          <p:cNvPr id="6" name="TextBox 5"/>
          <p:cNvSpPr txBox="1"/>
          <p:nvPr/>
        </p:nvSpPr>
        <p:spPr>
          <a:xfrm rot="16200000">
            <a:off x="-503973" y="563419"/>
            <a:ext cx="1258678" cy="338554"/>
          </a:xfrm>
          <a:prstGeom prst="rect">
            <a:avLst/>
          </a:prstGeom>
          <a:noFill/>
        </p:spPr>
        <p:txBody>
          <a:bodyPr wrap="non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1"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קהילה לכולם</a:t>
            </a:r>
          </a:p>
        </p:txBody>
      </p:sp>
      <p:sp>
        <p:nvSpPr>
          <p:cNvPr id="7" name="מלבן 6"/>
          <p:cNvSpPr/>
          <p:nvPr/>
        </p:nvSpPr>
        <p:spPr>
          <a:xfrm>
            <a:off x="8454" y="0"/>
            <a:ext cx="244547" cy="6857999"/>
          </a:xfrm>
          <a:prstGeom prst="rect">
            <a:avLst/>
          </a:prstGeom>
          <a:solidFill>
            <a:srgbClr val="4472C4"/>
          </a:solidFill>
          <a:ln>
            <a:solidFill>
              <a:srgbClr val="8C8DC5"/>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Calibri" panose="020F0502020204030204"/>
              <a:ea typeface="+mn-ea"/>
              <a:cs typeface="Arial" panose="020B0604020202020204" pitchFamily="34" charset="0"/>
            </a:endParaRPr>
          </a:p>
        </p:txBody>
      </p:sp>
      <p:sp>
        <p:nvSpPr>
          <p:cNvPr id="8" name="TextBox 7"/>
          <p:cNvSpPr txBox="1"/>
          <p:nvPr/>
        </p:nvSpPr>
        <p:spPr>
          <a:xfrm rot="16200000">
            <a:off x="-498612" y="563419"/>
            <a:ext cx="1258678" cy="338554"/>
          </a:xfrm>
          <a:prstGeom prst="rect">
            <a:avLst/>
          </a:prstGeom>
          <a:noFill/>
        </p:spPr>
        <p:txBody>
          <a:bodyPr wrap="non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1"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קהילה לכולם</a:t>
            </a:r>
          </a:p>
        </p:txBody>
      </p:sp>
    </p:spTree>
    <p:extLst>
      <p:ext uri="{BB962C8B-B14F-4D97-AF65-F5344CB8AC3E}">
        <p14:creationId xmlns:p14="http://schemas.microsoft.com/office/powerpoint/2010/main" val="297650694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24" name="Graphic 23" descr="Map with pin outline">
            <a:extLst>
              <a:ext uri="{FF2B5EF4-FFF2-40B4-BE49-F238E27FC236}">
                <a16:creationId xmlns:a16="http://schemas.microsoft.com/office/drawing/2014/main" id="{83597447-773F-B41C-096D-8303AC0E6FD0}"/>
              </a:ext>
            </a:extLst>
          </p:cNvPr>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499050" y="-10156"/>
            <a:ext cx="968235" cy="790179"/>
          </a:xfrm>
          <a:prstGeom prst="rect">
            <a:avLst/>
          </a:prstGeom>
        </p:spPr>
      </p:pic>
      <p:sp>
        <p:nvSpPr>
          <p:cNvPr id="14" name="Rectangle: Rounded Corners 13">
            <a:extLst>
              <a:ext uri="{FF2B5EF4-FFF2-40B4-BE49-F238E27FC236}">
                <a16:creationId xmlns:a16="http://schemas.microsoft.com/office/drawing/2014/main" id="{808D51AD-84E3-7842-35E5-52DBF65923EF}"/>
              </a:ext>
            </a:extLst>
          </p:cNvPr>
          <p:cNvSpPr/>
          <p:nvPr/>
        </p:nvSpPr>
        <p:spPr>
          <a:xfrm>
            <a:off x="6679525" y="2752801"/>
            <a:ext cx="1596280" cy="624114"/>
          </a:xfrm>
          <a:prstGeom prst="roundRect">
            <a:avLst/>
          </a:prstGeom>
          <a:solidFill>
            <a:srgbClr val="FCAF3E"/>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1400" b="1" i="0" u="none" strike="noStrike" kern="1200" cap="none" spc="0" normalizeH="0" baseline="0" noProof="0">
                <a:ln>
                  <a:noFill/>
                </a:ln>
                <a:solidFill>
                  <a:prstClr val="white"/>
                </a:solidFill>
                <a:effectLst/>
                <a:uLnTx/>
                <a:uFillTx/>
                <a:latin typeface="Assistant" pitchFamily="2" charset="-79"/>
                <a:ea typeface="+mn-ea"/>
                <a:cs typeface="Assistant" pitchFamily="2" charset="-79"/>
              </a:rPr>
              <a:t>בני משפחה </a:t>
            </a:r>
          </a:p>
        </p:txBody>
      </p:sp>
      <p:sp>
        <p:nvSpPr>
          <p:cNvPr id="16" name="Rectangle: Rounded Corners 15">
            <a:extLst>
              <a:ext uri="{FF2B5EF4-FFF2-40B4-BE49-F238E27FC236}">
                <a16:creationId xmlns:a16="http://schemas.microsoft.com/office/drawing/2014/main" id="{C9592261-F62A-BFAC-94DE-FD25CC4D998F}"/>
              </a:ext>
            </a:extLst>
          </p:cNvPr>
          <p:cNvSpPr/>
          <p:nvPr/>
        </p:nvSpPr>
        <p:spPr>
          <a:xfrm>
            <a:off x="6688367" y="3437343"/>
            <a:ext cx="1578595" cy="649626"/>
          </a:xfrm>
          <a:prstGeom prst="roundRect">
            <a:avLst/>
          </a:prstGeom>
          <a:solidFill>
            <a:srgbClr val="FCAF3E"/>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1400" b="1" i="0" u="none" strike="noStrike" kern="1200" cap="none" spc="0" normalizeH="0" baseline="0" noProof="0">
                <a:ln>
                  <a:noFill/>
                </a:ln>
                <a:solidFill>
                  <a:prstClr val="white"/>
                </a:solidFill>
                <a:effectLst/>
                <a:uLnTx/>
                <a:uFillTx/>
                <a:latin typeface="Assistant" pitchFamily="2" charset="-79"/>
                <a:ea typeface="+mn-ea"/>
                <a:cs typeface="Assistant" pitchFamily="2" charset="-79"/>
              </a:rPr>
              <a:t>קופות חולים </a:t>
            </a:r>
          </a:p>
        </p:txBody>
      </p:sp>
      <p:sp>
        <p:nvSpPr>
          <p:cNvPr id="17" name="Rectangle: Rounded Corners 16">
            <a:extLst>
              <a:ext uri="{FF2B5EF4-FFF2-40B4-BE49-F238E27FC236}">
                <a16:creationId xmlns:a16="http://schemas.microsoft.com/office/drawing/2014/main" id="{A91B92E1-9E97-1A83-E775-ED270668EAD5}"/>
              </a:ext>
            </a:extLst>
          </p:cNvPr>
          <p:cNvSpPr/>
          <p:nvPr/>
        </p:nvSpPr>
        <p:spPr>
          <a:xfrm>
            <a:off x="6679524" y="4200986"/>
            <a:ext cx="1596280" cy="675538"/>
          </a:xfrm>
          <a:prstGeom prst="roundRect">
            <a:avLst/>
          </a:prstGeom>
          <a:solidFill>
            <a:srgbClr val="FCAF3E"/>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1400" b="1" i="0" u="none" strike="noStrike" kern="1200" cap="none" spc="0" normalizeH="0" baseline="0" noProof="0" dirty="0">
                <a:ln>
                  <a:noFill/>
                </a:ln>
                <a:solidFill>
                  <a:prstClr val="white"/>
                </a:solidFill>
                <a:effectLst/>
                <a:uLnTx/>
                <a:uFillTx/>
                <a:latin typeface="Assistant" pitchFamily="2" charset="-79"/>
                <a:ea typeface="+mn-ea"/>
                <a:cs typeface="Assistant" pitchFamily="2" charset="-79"/>
              </a:rPr>
              <a:t>מסגרות קהילתיות </a:t>
            </a:r>
            <a:r>
              <a:rPr kumimoji="0" lang="he-IL" sz="1400" b="0" i="0" u="none" strike="noStrike" kern="1200" cap="none" spc="0" normalizeH="0" baseline="0" noProof="0" dirty="0">
                <a:ln>
                  <a:noFill/>
                </a:ln>
                <a:solidFill>
                  <a:prstClr val="white"/>
                </a:solidFill>
                <a:effectLst/>
                <a:uLnTx/>
                <a:uFillTx/>
                <a:latin typeface="Assistant" pitchFamily="2" charset="-79"/>
                <a:ea typeface="+mn-ea"/>
                <a:cs typeface="Assistant" pitchFamily="2" charset="-79"/>
              </a:rPr>
              <a:t>מתנ"ס, בתי תפילה..</a:t>
            </a:r>
          </a:p>
        </p:txBody>
      </p:sp>
      <p:sp>
        <p:nvSpPr>
          <p:cNvPr id="19" name="Rectangle: Rounded Corners 18">
            <a:extLst>
              <a:ext uri="{FF2B5EF4-FFF2-40B4-BE49-F238E27FC236}">
                <a16:creationId xmlns:a16="http://schemas.microsoft.com/office/drawing/2014/main" id="{007794A2-CE28-0FBB-F1C9-E9E0410327B9}"/>
              </a:ext>
            </a:extLst>
          </p:cNvPr>
          <p:cNvSpPr/>
          <p:nvPr/>
        </p:nvSpPr>
        <p:spPr>
          <a:xfrm>
            <a:off x="9439275" y="1730737"/>
            <a:ext cx="1596280" cy="699481"/>
          </a:xfrm>
          <a:prstGeom prst="roundRect">
            <a:avLst/>
          </a:prstGeom>
          <a:solidFill>
            <a:srgbClr val="EF2929"/>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1700" b="0" i="0" u="none" strike="noStrike" kern="1200" cap="none" spc="0" normalizeH="0" baseline="0" noProof="0" dirty="0">
                <a:ln>
                  <a:noFill/>
                </a:ln>
                <a:solidFill>
                  <a:prstClr val="white"/>
                </a:solidFill>
                <a:effectLst/>
                <a:uLnTx/>
                <a:uFillTx/>
                <a:latin typeface="Assistant" pitchFamily="2" charset="-79"/>
                <a:ea typeface="+mn-ea"/>
                <a:cs typeface="Assistant" pitchFamily="2" charset="-79"/>
              </a:rPr>
              <a:t>קידום מודעות ורגולציה תומכת</a:t>
            </a:r>
          </a:p>
        </p:txBody>
      </p:sp>
      <p:sp>
        <p:nvSpPr>
          <p:cNvPr id="20" name="Rectangle: Rounded Corners 19">
            <a:extLst>
              <a:ext uri="{FF2B5EF4-FFF2-40B4-BE49-F238E27FC236}">
                <a16:creationId xmlns:a16="http://schemas.microsoft.com/office/drawing/2014/main" id="{7CD4C579-F3CA-308E-C532-67046B43C04C}"/>
              </a:ext>
            </a:extLst>
          </p:cNvPr>
          <p:cNvSpPr/>
          <p:nvPr/>
        </p:nvSpPr>
        <p:spPr>
          <a:xfrm>
            <a:off x="9439275" y="3487793"/>
            <a:ext cx="1596280" cy="699481"/>
          </a:xfrm>
          <a:prstGeom prst="roundRect">
            <a:avLst/>
          </a:prstGeom>
          <a:solidFill>
            <a:srgbClr val="EF2929"/>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1600" b="0" i="0" u="none" strike="noStrike" kern="1200" cap="none" spc="0" normalizeH="0" baseline="0" noProof="0" dirty="0">
                <a:ln>
                  <a:noFill/>
                </a:ln>
                <a:solidFill>
                  <a:prstClr val="white"/>
                </a:solidFill>
                <a:effectLst/>
                <a:uLnTx/>
                <a:uFillTx/>
                <a:latin typeface="Assistant" pitchFamily="2" charset="-79"/>
                <a:ea typeface="+mn-ea"/>
                <a:cs typeface="Assistant" pitchFamily="2" charset="-79"/>
              </a:rPr>
              <a:t>שיתוף מידע בין המערכות</a:t>
            </a:r>
          </a:p>
        </p:txBody>
      </p:sp>
      <p:sp>
        <p:nvSpPr>
          <p:cNvPr id="25" name="Rectangle: Rounded Corners 24">
            <a:extLst>
              <a:ext uri="{FF2B5EF4-FFF2-40B4-BE49-F238E27FC236}">
                <a16:creationId xmlns:a16="http://schemas.microsoft.com/office/drawing/2014/main" id="{DDAC9D29-75E8-5A9B-1FE5-56F6433F1398}"/>
              </a:ext>
            </a:extLst>
          </p:cNvPr>
          <p:cNvSpPr/>
          <p:nvPr/>
        </p:nvSpPr>
        <p:spPr>
          <a:xfrm>
            <a:off x="9439275" y="5244849"/>
            <a:ext cx="1596280" cy="699481"/>
          </a:xfrm>
          <a:prstGeom prst="roundRect">
            <a:avLst/>
          </a:prstGeom>
          <a:solidFill>
            <a:srgbClr val="EF2929"/>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white"/>
                </a:solidFill>
                <a:effectLst/>
                <a:uLnTx/>
                <a:uFillTx/>
                <a:latin typeface="Assistant" pitchFamily="2" charset="-79"/>
                <a:ea typeface="+mn-ea"/>
                <a:cs typeface="Assistant" pitchFamily="2" charset="-79"/>
              </a:rPr>
              <a:t>הנגשת הפעילויות </a:t>
            </a:r>
          </a:p>
        </p:txBody>
      </p:sp>
      <p:grpSp>
        <p:nvGrpSpPr>
          <p:cNvPr id="29" name="Group 28">
            <a:extLst>
              <a:ext uri="{FF2B5EF4-FFF2-40B4-BE49-F238E27FC236}">
                <a16:creationId xmlns:a16="http://schemas.microsoft.com/office/drawing/2014/main" id="{27BD3DB3-4996-9BE0-047C-E9381BD20474}"/>
              </a:ext>
            </a:extLst>
          </p:cNvPr>
          <p:cNvGrpSpPr/>
          <p:nvPr/>
        </p:nvGrpSpPr>
        <p:grpSpPr>
          <a:xfrm>
            <a:off x="261467" y="2699314"/>
            <a:ext cx="2448344" cy="2592266"/>
            <a:chOff x="-658330" y="2484953"/>
            <a:chExt cx="2524769" cy="3128499"/>
          </a:xfrm>
        </p:grpSpPr>
        <p:sp>
          <p:nvSpPr>
            <p:cNvPr id="49" name="Oval 48">
              <a:extLst>
                <a:ext uri="{FF2B5EF4-FFF2-40B4-BE49-F238E27FC236}">
                  <a16:creationId xmlns:a16="http://schemas.microsoft.com/office/drawing/2014/main" id="{27B8E613-1127-E760-C7B5-5380CACEACAB}"/>
                </a:ext>
              </a:extLst>
            </p:cNvPr>
            <p:cNvSpPr/>
            <p:nvPr/>
          </p:nvSpPr>
          <p:spPr>
            <a:xfrm>
              <a:off x="-658330" y="2484953"/>
              <a:ext cx="2524769" cy="3128499"/>
            </a:xfrm>
            <a:prstGeom prst="ellipse">
              <a:avLst/>
            </a:prstGeom>
            <a:solidFill>
              <a:srgbClr val="308C8B">
                <a:alpha val="7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100" b="0" i="0" u="none" strike="noStrike" kern="1200" cap="none" spc="0" normalizeH="0" baseline="0" noProof="0">
                <a:ln>
                  <a:noFill/>
                </a:ln>
                <a:solidFill>
                  <a:prstClr val="white"/>
                </a:solidFill>
                <a:effectLst/>
                <a:uLnTx/>
                <a:uFillTx/>
                <a:latin typeface="Segoe UI Semilight"/>
                <a:ea typeface="+mn-ea"/>
                <a:cs typeface="Segoe UI Semilight"/>
              </a:endParaRPr>
            </a:p>
          </p:txBody>
        </p:sp>
        <p:sp>
          <p:nvSpPr>
            <p:cNvPr id="50" name="TextBox 49">
              <a:extLst>
                <a:ext uri="{FF2B5EF4-FFF2-40B4-BE49-F238E27FC236}">
                  <a16:creationId xmlns:a16="http://schemas.microsoft.com/office/drawing/2014/main" id="{3AD33308-EE36-FFFF-C867-1B1978B68C49}"/>
                </a:ext>
              </a:extLst>
            </p:cNvPr>
            <p:cNvSpPr txBox="1"/>
            <p:nvPr/>
          </p:nvSpPr>
          <p:spPr>
            <a:xfrm>
              <a:off x="-520009" y="2816009"/>
              <a:ext cx="2206667" cy="2556379"/>
            </a:xfrm>
            <a:prstGeom prst="rect">
              <a:avLst/>
            </a:prstGeom>
            <a:noFill/>
          </p:spPr>
          <p:txBody>
            <a:bodyPr wrap="square" rtlCol="1">
              <a:spAutoFit/>
            </a:bodyPr>
            <a:lstStyle/>
            <a:p>
              <a:pPr marL="0" marR="0" lvl="0" indent="0" algn="ctr" defTabSz="914400" rtl="1" eaLnBrk="1" fontAlgn="auto" latinLnBrk="0" hangingPunct="1">
                <a:lnSpc>
                  <a:spcPct val="150000"/>
                </a:lnSpc>
                <a:spcBef>
                  <a:spcPts val="0"/>
                </a:spcBef>
                <a:spcAft>
                  <a:spcPts val="0"/>
                </a:spcAft>
                <a:buClrTx/>
                <a:buSzTx/>
                <a:buFontTx/>
                <a:buNone/>
                <a:tabLst/>
                <a:defRPr/>
              </a:pPr>
              <a:r>
                <a:rPr kumimoji="0" lang="he-IL" sz="1800" b="1" i="0" u="none" strike="noStrike" kern="1200" cap="none" spc="0" normalizeH="0" baseline="0" noProof="0" dirty="0">
                  <a:ln>
                    <a:noFill/>
                  </a:ln>
                  <a:solidFill>
                    <a:prstClr val="black"/>
                  </a:solidFill>
                  <a:effectLst/>
                  <a:uLnTx/>
                  <a:uFillTx/>
                  <a:latin typeface="Assistant" pitchFamily="2" charset="-79"/>
                  <a:ea typeface="+mn-ea"/>
                  <a:cs typeface="Assistant" pitchFamily="2" charset="-79"/>
                </a:rPr>
                <a:t>האטת קצב ההידרדרות ושמירת תפקוד לאורך זמן בקרב אוכלוסיית סיעוד 0-2</a:t>
              </a:r>
            </a:p>
          </p:txBody>
        </p:sp>
      </p:grpSp>
      <p:sp>
        <p:nvSpPr>
          <p:cNvPr id="33" name="Rectangle: Rounded Corners 32">
            <a:extLst>
              <a:ext uri="{FF2B5EF4-FFF2-40B4-BE49-F238E27FC236}">
                <a16:creationId xmlns:a16="http://schemas.microsoft.com/office/drawing/2014/main" id="{A2D22BDC-0219-67D3-6513-AFCA0C87F664}"/>
              </a:ext>
            </a:extLst>
          </p:cNvPr>
          <p:cNvSpPr/>
          <p:nvPr/>
        </p:nvSpPr>
        <p:spPr>
          <a:xfrm>
            <a:off x="9439275" y="4366321"/>
            <a:ext cx="1596280" cy="699481"/>
          </a:xfrm>
          <a:prstGeom prst="roundRect">
            <a:avLst/>
          </a:prstGeom>
          <a:solidFill>
            <a:srgbClr val="EF2929"/>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err="1">
                <a:ln>
                  <a:noFill/>
                </a:ln>
                <a:solidFill>
                  <a:prstClr val="white"/>
                </a:solidFill>
                <a:effectLst/>
                <a:uLnTx/>
                <a:uFillTx/>
                <a:latin typeface="Assistant" pitchFamily="2" charset="-79"/>
                <a:ea typeface="+mn-ea"/>
                <a:cs typeface="Assistant" pitchFamily="2" charset="-79"/>
              </a:rPr>
              <a:t>פרקטיקות</a:t>
            </a:r>
            <a:r>
              <a:rPr kumimoji="0" lang="he-IL" sz="1800" b="0" i="0" u="none" strike="noStrike" kern="1200" cap="none" spc="0" normalizeH="0" baseline="0" noProof="0" dirty="0">
                <a:ln>
                  <a:noFill/>
                </a:ln>
                <a:solidFill>
                  <a:prstClr val="white"/>
                </a:solidFill>
                <a:effectLst/>
                <a:uLnTx/>
                <a:uFillTx/>
                <a:latin typeface="Assistant" pitchFamily="2" charset="-79"/>
                <a:ea typeface="+mn-ea"/>
                <a:cs typeface="Assistant" pitchFamily="2" charset="-79"/>
              </a:rPr>
              <a:t> מיטביות </a:t>
            </a:r>
          </a:p>
        </p:txBody>
      </p:sp>
      <p:sp>
        <p:nvSpPr>
          <p:cNvPr id="2" name="Rectangle: Rounded Corners 1">
            <a:extLst>
              <a:ext uri="{FF2B5EF4-FFF2-40B4-BE49-F238E27FC236}">
                <a16:creationId xmlns:a16="http://schemas.microsoft.com/office/drawing/2014/main" id="{82713D9C-A08D-D06D-FBFE-90B0767A9701}"/>
              </a:ext>
            </a:extLst>
          </p:cNvPr>
          <p:cNvSpPr/>
          <p:nvPr/>
        </p:nvSpPr>
        <p:spPr>
          <a:xfrm>
            <a:off x="6679525" y="2010739"/>
            <a:ext cx="1578594" cy="649626"/>
          </a:xfrm>
          <a:prstGeom prst="roundRect">
            <a:avLst/>
          </a:prstGeom>
          <a:solidFill>
            <a:srgbClr val="FCAF3E"/>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1400" b="1" i="0" u="none" strike="noStrike" kern="1200" cap="none" spc="0" normalizeH="0" baseline="0" noProof="0" dirty="0">
                <a:ln>
                  <a:noFill/>
                </a:ln>
                <a:solidFill>
                  <a:prstClr val="white"/>
                </a:solidFill>
                <a:effectLst/>
                <a:uLnTx/>
                <a:uFillTx/>
                <a:latin typeface="Assistant" pitchFamily="2" charset="-79"/>
                <a:ea typeface="+mn-ea"/>
                <a:cs typeface="Assistant" pitchFamily="2" charset="-79"/>
              </a:rPr>
              <a:t>טיפול בבית, הביטוח הלאומי, חברות סיעוד </a:t>
            </a:r>
          </a:p>
        </p:txBody>
      </p:sp>
      <p:sp>
        <p:nvSpPr>
          <p:cNvPr id="9" name="Rectangle: Rounded Corners 8">
            <a:extLst>
              <a:ext uri="{FF2B5EF4-FFF2-40B4-BE49-F238E27FC236}">
                <a16:creationId xmlns:a16="http://schemas.microsoft.com/office/drawing/2014/main" id="{C219D164-C3C9-7ED5-AFF8-FAD1E7552E3E}"/>
              </a:ext>
            </a:extLst>
          </p:cNvPr>
          <p:cNvSpPr/>
          <p:nvPr/>
        </p:nvSpPr>
        <p:spPr>
          <a:xfrm>
            <a:off x="9413871" y="6073304"/>
            <a:ext cx="1596280" cy="699481"/>
          </a:xfrm>
          <a:prstGeom prst="roundRect">
            <a:avLst/>
          </a:prstGeom>
          <a:solidFill>
            <a:srgbClr val="EF2929"/>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700" b="0" i="0" u="none" strike="noStrike" kern="1200" cap="none" spc="0" normalizeH="0" baseline="0" noProof="0" dirty="0">
                <a:ln>
                  <a:noFill/>
                </a:ln>
                <a:solidFill>
                  <a:prstClr val="white"/>
                </a:solidFill>
                <a:effectLst/>
                <a:uLnTx/>
                <a:uFillTx/>
                <a:latin typeface="Assistant" pitchFamily="2" charset="-79"/>
                <a:ea typeface="+mn-ea"/>
                <a:cs typeface="Assistant" pitchFamily="2" charset="-79"/>
              </a:rPr>
              <a:t>קידום מודעות והנעה לפעולה</a:t>
            </a:r>
          </a:p>
        </p:txBody>
      </p:sp>
      <p:sp>
        <p:nvSpPr>
          <p:cNvPr id="10" name="Rectangle: Rounded Corners 9">
            <a:extLst>
              <a:ext uri="{FF2B5EF4-FFF2-40B4-BE49-F238E27FC236}">
                <a16:creationId xmlns:a16="http://schemas.microsoft.com/office/drawing/2014/main" id="{14105825-CE9D-F919-E7D6-7D704AC323F4}"/>
              </a:ext>
            </a:extLst>
          </p:cNvPr>
          <p:cNvSpPr/>
          <p:nvPr/>
        </p:nvSpPr>
        <p:spPr>
          <a:xfrm>
            <a:off x="9439275" y="2609265"/>
            <a:ext cx="1596280" cy="699481"/>
          </a:xfrm>
          <a:prstGeom prst="roundRect">
            <a:avLst/>
          </a:prstGeom>
          <a:solidFill>
            <a:srgbClr val="EF2929"/>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1600" b="0" i="0" u="none" strike="noStrike" kern="1200" cap="none" spc="0" normalizeH="0" baseline="0" noProof="0" dirty="0">
                <a:ln>
                  <a:noFill/>
                </a:ln>
                <a:solidFill>
                  <a:prstClr val="white"/>
                </a:solidFill>
                <a:effectLst/>
                <a:uLnTx/>
                <a:uFillTx/>
                <a:latin typeface="Assistant" pitchFamily="2" charset="-79"/>
                <a:ea typeface="+mn-ea"/>
                <a:cs typeface="Assistant" pitchFamily="2" charset="-79"/>
              </a:rPr>
              <a:t>הכשרות אנשי מקצוע ומטפלים</a:t>
            </a:r>
          </a:p>
        </p:txBody>
      </p:sp>
      <p:sp>
        <p:nvSpPr>
          <p:cNvPr id="18" name="Arrow: Down 17">
            <a:extLst>
              <a:ext uri="{FF2B5EF4-FFF2-40B4-BE49-F238E27FC236}">
                <a16:creationId xmlns:a16="http://schemas.microsoft.com/office/drawing/2014/main" id="{A26EAF91-0FB0-8438-1A41-6491EAA8434E}"/>
              </a:ext>
            </a:extLst>
          </p:cNvPr>
          <p:cNvSpPr/>
          <p:nvPr/>
        </p:nvSpPr>
        <p:spPr>
          <a:xfrm rot="5400000">
            <a:off x="5904470" y="2481926"/>
            <a:ext cx="452783" cy="655531"/>
          </a:xfrm>
          <a:prstGeom prst="downArrow">
            <a:avLst/>
          </a:prstGeom>
          <a:solidFill>
            <a:srgbClr val="CFF3AB"/>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050" b="0" i="0" u="none" strike="noStrike" kern="1200" cap="none" spc="0" normalizeH="0" baseline="0" noProof="0">
              <a:ln>
                <a:noFill/>
              </a:ln>
              <a:solidFill>
                <a:srgbClr val="171717">
                  <a:lumMod val="75000"/>
                  <a:lumOff val="25000"/>
                </a:srgbClr>
              </a:solidFill>
              <a:effectLst/>
              <a:uLnTx/>
              <a:uFillTx/>
              <a:latin typeface="Segoe UI Semilight"/>
              <a:ea typeface="+mn-ea"/>
              <a:cs typeface="Segoe UI Semilight"/>
            </a:endParaRPr>
          </a:p>
        </p:txBody>
      </p:sp>
      <p:sp>
        <p:nvSpPr>
          <p:cNvPr id="21" name="Arrow: Down 20">
            <a:extLst>
              <a:ext uri="{FF2B5EF4-FFF2-40B4-BE49-F238E27FC236}">
                <a16:creationId xmlns:a16="http://schemas.microsoft.com/office/drawing/2014/main" id="{6C05633B-14B8-BF75-0B55-DC9047125232}"/>
              </a:ext>
            </a:extLst>
          </p:cNvPr>
          <p:cNvSpPr/>
          <p:nvPr/>
        </p:nvSpPr>
        <p:spPr>
          <a:xfrm rot="5400000">
            <a:off x="5904470" y="3526806"/>
            <a:ext cx="452783" cy="655531"/>
          </a:xfrm>
          <a:prstGeom prst="downArrow">
            <a:avLst/>
          </a:prstGeom>
          <a:solidFill>
            <a:srgbClr val="CFF3AB"/>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050" b="0" i="0" u="none" strike="noStrike" kern="1200" cap="none" spc="0" normalizeH="0" baseline="0" noProof="0">
              <a:ln>
                <a:noFill/>
              </a:ln>
              <a:solidFill>
                <a:srgbClr val="171717">
                  <a:lumMod val="75000"/>
                  <a:lumOff val="25000"/>
                </a:srgbClr>
              </a:solidFill>
              <a:effectLst/>
              <a:uLnTx/>
              <a:uFillTx/>
              <a:latin typeface="Segoe UI Semilight"/>
              <a:ea typeface="+mn-ea"/>
              <a:cs typeface="Segoe UI Semilight"/>
            </a:endParaRPr>
          </a:p>
        </p:txBody>
      </p:sp>
      <p:sp>
        <p:nvSpPr>
          <p:cNvPr id="22" name="Arrow: Down 21">
            <a:extLst>
              <a:ext uri="{FF2B5EF4-FFF2-40B4-BE49-F238E27FC236}">
                <a16:creationId xmlns:a16="http://schemas.microsoft.com/office/drawing/2014/main" id="{7D76F23B-E84C-5197-EBE7-790ADA34DA16}"/>
              </a:ext>
            </a:extLst>
          </p:cNvPr>
          <p:cNvSpPr/>
          <p:nvPr/>
        </p:nvSpPr>
        <p:spPr>
          <a:xfrm rot="5400000">
            <a:off x="5904470" y="4571686"/>
            <a:ext cx="452783" cy="655531"/>
          </a:xfrm>
          <a:prstGeom prst="downArrow">
            <a:avLst/>
          </a:prstGeom>
          <a:solidFill>
            <a:srgbClr val="CFF3AB"/>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050" b="0" i="0" u="none" strike="noStrike" kern="1200" cap="none" spc="0" normalizeH="0" baseline="0" noProof="0">
              <a:ln>
                <a:noFill/>
              </a:ln>
              <a:solidFill>
                <a:srgbClr val="171717">
                  <a:lumMod val="75000"/>
                  <a:lumOff val="25000"/>
                </a:srgbClr>
              </a:solidFill>
              <a:effectLst/>
              <a:uLnTx/>
              <a:uFillTx/>
              <a:latin typeface="Segoe UI Semilight"/>
              <a:ea typeface="+mn-ea"/>
              <a:cs typeface="Segoe UI Semilight"/>
            </a:endParaRPr>
          </a:p>
        </p:txBody>
      </p:sp>
      <p:sp>
        <p:nvSpPr>
          <p:cNvPr id="30" name="Arrow: Down 29">
            <a:extLst>
              <a:ext uri="{FF2B5EF4-FFF2-40B4-BE49-F238E27FC236}">
                <a16:creationId xmlns:a16="http://schemas.microsoft.com/office/drawing/2014/main" id="{CFEDB01B-7A7E-E94B-1562-07F2594F9E05}"/>
              </a:ext>
            </a:extLst>
          </p:cNvPr>
          <p:cNvSpPr/>
          <p:nvPr/>
        </p:nvSpPr>
        <p:spPr>
          <a:xfrm rot="4140000">
            <a:off x="2633477" y="3090237"/>
            <a:ext cx="452783" cy="655531"/>
          </a:xfrm>
          <a:prstGeom prst="downArrow">
            <a:avLst/>
          </a:prstGeom>
          <a:solidFill>
            <a:srgbClr val="CFF3AB"/>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050" b="0" i="0" u="none" strike="noStrike" kern="1200" cap="none" spc="0" normalizeH="0" baseline="0" noProof="0">
              <a:ln>
                <a:noFill/>
              </a:ln>
              <a:solidFill>
                <a:srgbClr val="171717">
                  <a:lumMod val="75000"/>
                  <a:lumOff val="25000"/>
                </a:srgbClr>
              </a:solidFill>
              <a:effectLst/>
              <a:uLnTx/>
              <a:uFillTx/>
              <a:latin typeface="Segoe UI Semilight"/>
              <a:ea typeface="+mn-ea"/>
              <a:cs typeface="Segoe UI Semilight"/>
            </a:endParaRPr>
          </a:p>
        </p:txBody>
      </p:sp>
      <p:sp>
        <p:nvSpPr>
          <p:cNvPr id="31" name="Arrow: Down 30">
            <a:extLst>
              <a:ext uri="{FF2B5EF4-FFF2-40B4-BE49-F238E27FC236}">
                <a16:creationId xmlns:a16="http://schemas.microsoft.com/office/drawing/2014/main" id="{6253C5EF-9257-28A4-C420-7ADF29270905}"/>
              </a:ext>
            </a:extLst>
          </p:cNvPr>
          <p:cNvSpPr/>
          <p:nvPr/>
        </p:nvSpPr>
        <p:spPr>
          <a:xfrm rot="5400000">
            <a:off x="2692839" y="4135117"/>
            <a:ext cx="452783" cy="655531"/>
          </a:xfrm>
          <a:prstGeom prst="downArrow">
            <a:avLst/>
          </a:prstGeom>
          <a:solidFill>
            <a:srgbClr val="CFF3AB"/>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050" b="0" i="0" u="none" strike="noStrike" kern="1200" cap="none" spc="0" normalizeH="0" baseline="0" noProof="0">
              <a:ln>
                <a:noFill/>
              </a:ln>
              <a:solidFill>
                <a:srgbClr val="171717">
                  <a:lumMod val="75000"/>
                  <a:lumOff val="25000"/>
                </a:srgbClr>
              </a:solidFill>
              <a:effectLst/>
              <a:uLnTx/>
              <a:uFillTx/>
              <a:latin typeface="Segoe UI Semilight"/>
              <a:ea typeface="+mn-ea"/>
              <a:cs typeface="Segoe UI Semilight"/>
            </a:endParaRPr>
          </a:p>
        </p:txBody>
      </p:sp>
      <p:sp>
        <p:nvSpPr>
          <p:cNvPr id="37" name="Rectangle: Rounded Corners 36">
            <a:extLst>
              <a:ext uri="{FF2B5EF4-FFF2-40B4-BE49-F238E27FC236}">
                <a16:creationId xmlns:a16="http://schemas.microsoft.com/office/drawing/2014/main" id="{122809A2-627D-2FC1-BEB7-C43720EF5977}"/>
              </a:ext>
            </a:extLst>
          </p:cNvPr>
          <p:cNvSpPr/>
          <p:nvPr/>
        </p:nvSpPr>
        <p:spPr>
          <a:xfrm>
            <a:off x="3496695" y="3544372"/>
            <a:ext cx="2126758" cy="1606158"/>
          </a:xfrm>
          <a:prstGeom prst="roundRect">
            <a:avLst/>
          </a:prstGeom>
          <a:solidFill>
            <a:srgbClr val="40595A"/>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50000"/>
              </a:lnSpc>
              <a:spcBef>
                <a:spcPts val="0"/>
              </a:spcBef>
              <a:spcAft>
                <a:spcPts val="0"/>
              </a:spcAft>
              <a:buClrTx/>
              <a:buSzTx/>
              <a:buFontTx/>
              <a:buNone/>
              <a:tabLst/>
              <a:defRPr/>
            </a:pPr>
            <a:r>
              <a:rPr kumimoji="0" lang="he-IL" sz="1400" b="1" i="0" u="none" strike="noStrike" kern="1200" cap="none" spc="0" normalizeH="0" baseline="0" noProof="0" dirty="0">
                <a:ln>
                  <a:noFill/>
                </a:ln>
                <a:solidFill>
                  <a:prstClr val="white"/>
                </a:solidFill>
                <a:effectLst/>
                <a:uLnTx/>
                <a:uFillTx/>
                <a:latin typeface="Assistant" pitchFamily="2" charset="-79"/>
                <a:ea typeface="+mn-ea"/>
                <a:cs typeface="Assistant" pitchFamily="2" charset="-79"/>
              </a:rPr>
              <a:t>מדדי  תפקוד קוגניטיבי</a:t>
            </a:r>
            <a:r>
              <a:rPr kumimoji="0" lang="he-IL" sz="1200" b="1" i="0" u="none" strike="noStrike" kern="1200" cap="none" spc="0" normalizeH="0" baseline="0" noProof="0" dirty="0">
                <a:ln>
                  <a:noFill/>
                </a:ln>
                <a:solidFill>
                  <a:prstClr val="white"/>
                </a:solidFill>
                <a:effectLst/>
                <a:uLnTx/>
                <a:uFillTx/>
                <a:latin typeface="Segoe UI Semilight"/>
                <a:ea typeface="+mn-ea"/>
                <a:cs typeface="Segoe UI Semilight"/>
              </a:rPr>
              <a:t> </a:t>
            </a:r>
          </a:p>
          <a:p>
            <a:pPr marL="0" marR="0" lvl="0" indent="0" algn="ctr" defTabSz="914400" rtl="1" eaLnBrk="1" fontAlgn="auto" latinLnBrk="0" hangingPunct="1">
              <a:lnSpc>
                <a:spcPct val="150000"/>
              </a:lnSpc>
              <a:spcBef>
                <a:spcPts val="0"/>
              </a:spcBef>
              <a:spcAft>
                <a:spcPts val="0"/>
              </a:spcAft>
              <a:buClrTx/>
              <a:buSzTx/>
              <a:buFontTx/>
              <a:buNone/>
              <a:tabLst/>
              <a:defRPr/>
            </a:pPr>
            <a:r>
              <a:rPr kumimoji="0" lang="he-IL" sz="1200" b="0" i="0" u="none" strike="noStrike" kern="1200" cap="none" spc="0" normalizeH="0" baseline="0" noProof="0" dirty="0">
                <a:ln>
                  <a:noFill/>
                </a:ln>
                <a:solidFill>
                  <a:prstClr val="white"/>
                </a:solidFill>
                <a:effectLst/>
                <a:uLnTx/>
                <a:uFillTx/>
                <a:latin typeface="Segoe UI Semilight"/>
                <a:ea typeface="+mn-ea"/>
                <a:cs typeface="Segoe UI Semilight"/>
              </a:rPr>
              <a:t>למידה לאורך החיים</a:t>
            </a:r>
          </a:p>
          <a:p>
            <a:pPr marL="0" marR="0" lvl="0" indent="0" algn="ctr" defTabSz="914400" rtl="1" eaLnBrk="1" fontAlgn="auto" latinLnBrk="0" hangingPunct="1">
              <a:lnSpc>
                <a:spcPct val="150000"/>
              </a:lnSpc>
              <a:spcBef>
                <a:spcPts val="0"/>
              </a:spcBef>
              <a:spcAft>
                <a:spcPts val="0"/>
              </a:spcAft>
              <a:buClrTx/>
              <a:buSzTx/>
              <a:buFontTx/>
              <a:buNone/>
              <a:tabLst/>
              <a:defRPr/>
            </a:pPr>
            <a:r>
              <a:rPr kumimoji="0" lang="he-IL" sz="1200" b="0" i="0" u="none" strike="noStrike" kern="1200" cap="none" spc="0" normalizeH="0" baseline="0" noProof="0" dirty="0">
                <a:ln>
                  <a:noFill/>
                </a:ln>
                <a:solidFill>
                  <a:prstClr val="white"/>
                </a:solidFill>
                <a:effectLst/>
                <a:uLnTx/>
                <a:uFillTx/>
                <a:latin typeface="Segoe UI Semilight"/>
                <a:ea typeface="+mn-ea"/>
                <a:cs typeface="Segoe UI Semilight"/>
              </a:rPr>
              <a:t> עיסוק יצרני משמעותי</a:t>
            </a:r>
          </a:p>
          <a:p>
            <a:pPr marL="0" marR="0" lvl="0" indent="0" algn="ctr" defTabSz="914400" rtl="1" eaLnBrk="1" fontAlgn="auto" latinLnBrk="0" hangingPunct="1">
              <a:lnSpc>
                <a:spcPct val="150000"/>
              </a:lnSpc>
              <a:spcBef>
                <a:spcPts val="0"/>
              </a:spcBef>
              <a:spcAft>
                <a:spcPts val="0"/>
              </a:spcAft>
              <a:buClrTx/>
              <a:buSzTx/>
              <a:buFontTx/>
              <a:buNone/>
              <a:tabLst/>
              <a:defRPr/>
            </a:pPr>
            <a:r>
              <a:rPr kumimoji="0" lang="he-IL" sz="1200" b="0" i="0" u="none" strike="noStrike" kern="1200" cap="none" spc="0" normalizeH="0" baseline="0" noProof="0" dirty="0">
                <a:ln>
                  <a:noFill/>
                </a:ln>
                <a:solidFill>
                  <a:prstClr val="white"/>
                </a:solidFill>
                <a:effectLst/>
                <a:uLnTx/>
                <a:uFillTx/>
                <a:latin typeface="Segoe UI Semilight"/>
                <a:ea typeface="+mn-ea"/>
                <a:cs typeface="Segoe UI Semilight"/>
              </a:rPr>
              <a:t> אוריינות דיגיטלית ושימוש </a:t>
            </a:r>
            <a:r>
              <a:rPr kumimoji="0" lang="he-IL" sz="1200" b="0" i="0" u="none" strike="noStrike" kern="1200" cap="none" spc="0" normalizeH="0" baseline="0" noProof="0" dirty="0" err="1">
                <a:ln>
                  <a:noFill/>
                </a:ln>
                <a:solidFill>
                  <a:prstClr val="white"/>
                </a:solidFill>
                <a:effectLst/>
                <a:uLnTx/>
                <a:uFillTx/>
                <a:latin typeface="Segoe UI Semilight"/>
                <a:ea typeface="+mn-ea"/>
                <a:cs typeface="Segoe UI Semilight"/>
              </a:rPr>
              <a:t>בדיגיטל</a:t>
            </a:r>
            <a:r>
              <a:rPr kumimoji="0" lang="he-IL" sz="1200" b="0" i="0" u="none" strike="noStrike" kern="1200" cap="none" spc="0" normalizeH="0" baseline="0" noProof="0" dirty="0">
                <a:ln>
                  <a:noFill/>
                </a:ln>
                <a:solidFill>
                  <a:prstClr val="white"/>
                </a:solidFill>
                <a:effectLst/>
                <a:uLnTx/>
                <a:uFillTx/>
                <a:latin typeface="Segoe UI Semilight"/>
                <a:ea typeface="+mn-ea"/>
                <a:cs typeface="Segoe UI Semilight"/>
              </a:rPr>
              <a:t>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white"/>
                </a:solidFill>
                <a:effectLst/>
                <a:uLnTx/>
                <a:uFillTx/>
                <a:latin typeface="Assistant" pitchFamily="2" charset="-79"/>
                <a:ea typeface="+mn-ea"/>
                <a:cs typeface="Assistant" pitchFamily="2" charset="-79"/>
              </a:rPr>
              <a:t> </a:t>
            </a:r>
            <a:endParaRPr kumimoji="0" lang="he-IL" sz="800" b="0" i="0" u="none" strike="noStrike" kern="1200" cap="none" spc="0" normalizeH="0" baseline="0" noProof="0" dirty="0">
              <a:ln>
                <a:noFill/>
              </a:ln>
              <a:solidFill>
                <a:prstClr val="white"/>
              </a:solidFill>
              <a:effectLst/>
              <a:uLnTx/>
              <a:uFillTx/>
              <a:latin typeface="Assistant" pitchFamily="2" charset="-79"/>
              <a:ea typeface="+mn-ea"/>
              <a:cs typeface="Assistant" pitchFamily="2" charset="-79"/>
            </a:endParaRPr>
          </a:p>
        </p:txBody>
      </p:sp>
      <p:sp>
        <p:nvSpPr>
          <p:cNvPr id="38" name="Rectangle: Rounded Corners 37">
            <a:extLst>
              <a:ext uri="{FF2B5EF4-FFF2-40B4-BE49-F238E27FC236}">
                <a16:creationId xmlns:a16="http://schemas.microsoft.com/office/drawing/2014/main" id="{692117C2-670D-FE6C-6FE2-A67CB3310003}"/>
              </a:ext>
            </a:extLst>
          </p:cNvPr>
          <p:cNvSpPr/>
          <p:nvPr/>
        </p:nvSpPr>
        <p:spPr>
          <a:xfrm>
            <a:off x="3463372" y="1881636"/>
            <a:ext cx="2126758" cy="1606158"/>
          </a:xfrm>
          <a:prstGeom prst="roundRect">
            <a:avLst/>
          </a:prstGeom>
          <a:solidFill>
            <a:srgbClr val="40595A"/>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50000"/>
              </a:lnSpc>
              <a:spcBef>
                <a:spcPts val="0"/>
              </a:spcBef>
              <a:spcAft>
                <a:spcPts val="0"/>
              </a:spcAft>
              <a:buClrTx/>
              <a:buSzTx/>
              <a:buFontTx/>
              <a:buNone/>
              <a:tabLst/>
              <a:defRPr/>
            </a:pPr>
            <a:r>
              <a:rPr kumimoji="0" lang="he-IL" sz="1400" b="1" i="0" u="none" strike="noStrike" kern="1200" cap="none" spc="0" normalizeH="0" baseline="0" noProof="0" dirty="0">
                <a:ln>
                  <a:noFill/>
                </a:ln>
                <a:solidFill>
                  <a:prstClr val="white"/>
                </a:solidFill>
                <a:effectLst/>
                <a:uLnTx/>
                <a:uFillTx/>
                <a:latin typeface="Assistant" pitchFamily="2" charset="-79"/>
                <a:ea typeface="+mn-ea"/>
                <a:cs typeface="Assistant" pitchFamily="2" charset="-79"/>
              </a:rPr>
              <a:t>מדדי תפקוד פיזי</a:t>
            </a:r>
            <a:br>
              <a:rPr kumimoji="0" lang="en-US" sz="1400" b="1" i="0" u="none" strike="noStrike" kern="1200" cap="none" spc="0" normalizeH="0" baseline="0" noProof="0" dirty="0">
                <a:ln>
                  <a:noFill/>
                </a:ln>
                <a:solidFill>
                  <a:prstClr val="white"/>
                </a:solidFill>
                <a:effectLst/>
                <a:uLnTx/>
                <a:uFillTx/>
                <a:latin typeface="Assistant" pitchFamily="2" charset="-79"/>
                <a:ea typeface="+mn-ea"/>
                <a:cs typeface="Assistant" pitchFamily="2" charset="-79"/>
              </a:rPr>
            </a:br>
            <a:r>
              <a:rPr kumimoji="0" lang="he-IL" sz="1200" b="0" i="0" u="none" strike="noStrike" kern="1200" cap="none" spc="0" normalizeH="0" baseline="0" noProof="0" dirty="0">
                <a:ln>
                  <a:noFill/>
                </a:ln>
                <a:solidFill>
                  <a:prstClr val="white"/>
                </a:solidFill>
                <a:effectLst/>
                <a:uLnTx/>
                <a:uFillTx/>
                <a:latin typeface="Segoe UI Semilight"/>
                <a:ea typeface="+mn-ea"/>
                <a:cs typeface="Segoe UI Semilight"/>
              </a:rPr>
              <a:t>יציאה למרחב הציבורי פעילות גופנית סדירה היעזרות באמצעים תומכים סביבה ביתית מותאמת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white"/>
                </a:solidFill>
                <a:effectLst/>
                <a:uLnTx/>
                <a:uFillTx/>
                <a:latin typeface="Assistant" pitchFamily="2" charset="-79"/>
                <a:ea typeface="+mn-ea"/>
                <a:cs typeface="Assistant" pitchFamily="2" charset="-79"/>
              </a:rPr>
              <a:t> </a:t>
            </a:r>
            <a:endParaRPr kumimoji="0" lang="he-IL" sz="800" b="0" i="0" u="none" strike="noStrike" kern="1200" cap="none" spc="0" normalizeH="0" baseline="0" noProof="0" dirty="0">
              <a:ln>
                <a:noFill/>
              </a:ln>
              <a:solidFill>
                <a:prstClr val="white"/>
              </a:solidFill>
              <a:effectLst/>
              <a:uLnTx/>
              <a:uFillTx/>
              <a:latin typeface="Assistant" pitchFamily="2" charset="-79"/>
              <a:ea typeface="+mn-ea"/>
              <a:cs typeface="Assistant" pitchFamily="2" charset="-79"/>
            </a:endParaRPr>
          </a:p>
        </p:txBody>
      </p:sp>
      <p:sp>
        <p:nvSpPr>
          <p:cNvPr id="39" name="Arrow: Down 38">
            <a:extLst>
              <a:ext uri="{FF2B5EF4-FFF2-40B4-BE49-F238E27FC236}">
                <a16:creationId xmlns:a16="http://schemas.microsoft.com/office/drawing/2014/main" id="{2424D714-A7C4-F8AF-F482-73D972236206}"/>
              </a:ext>
            </a:extLst>
          </p:cNvPr>
          <p:cNvSpPr/>
          <p:nvPr/>
        </p:nvSpPr>
        <p:spPr>
          <a:xfrm rot="5400000">
            <a:off x="8672144" y="1889665"/>
            <a:ext cx="452783" cy="655531"/>
          </a:xfrm>
          <a:prstGeom prst="downArrow">
            <a:avLst/>
          </a:prstGeom>
          <a:solidFill>
            <a:srgbClr val="CFF3AB"/>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050" b="0" i="0" u="none" strike="noStrike" kern="1200" cap="none" spc="0" normalizeH="0" baseline="0" noProof="0">
              <a:ln>
                <a:noFill/>
              </a:ln>
              <a:solidFill>
                <a:srgbClr val="171717">
                  <a:lumMod val="75000"/>
                  <a:lumOff val="25000"/>
                </a:srgbClr>
              </a:solidFill>
              <a:effectLst/>
              <a:uLnTx/>
              <a:uFillTx/>
              <a:latin typeface="Segoe UI Semilight"/>
              <a:ea typeface="+mn-ea"/>
              <a:cs typeface="Segoe UI Semilight"/>
            </a:endParaRPr>
          </a:p>
        </p:txBody>
      </p:sp>
      <p:sp>
        <p:nvSpPr>
          <p:cNvPr id="43" name="Arrow: Down 42">
            <a:extLst>
              <a:ext uri="{FF2B5EF4-FFF2-40B4-BE49-F238E27FC236}">
                <a16:creationId xmlns:a16="http://schemas.microsoft.com/office/drawing/2014/main" id="{773BE917-A46F-8F5C-2166-DBA2052CE8E5}"/>
              </a:ext>
            </a:extLst>
          </p:cNvPr>
          <p:cNvSpPr/>
          <p:nvPr/>
        </p:nvSpPr>
        <p:spPr>
          <a:xfrm rot="5400000">
            <a:off x="8672144" y="3275541"/>
            <a:ext cx="452783" cy="655531"/>
          </a:xfrm>
          <a:prstGeom prst="downArrow">
            <a:avLst/>
          </a:prstGeom>
          <a:solidFill>
            <a:srgbClr val="CFF3AB"/>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050" b="0" i="0" u="none" strike="noStrike" kern="1200" cap="none" spc="0" normalizeH="0" baseline="0" noProof="0">
              <a:ln>
                <a:noFill/>
              </a:ln>
              <a:solidFill>
                <a:srgbClr val="171717">
                  <a:lumMod val="75000"/>
                  <a:lumOff val="25000"/>
                </a:srgbClr>
              </a:solidFill>
              <a:effectLst/>
              <a:uLnTx/>
              <a:uFillTx/>
              <a:latin typeface="Segoe UI Semilight"/>
              <a:ea typeface="+mn-ea"/>
              <a:cs typeface="Segoe UI Semilight"/>
            </a:endParaRPr>
          </a:p>
        </p:txBody>
      </p:sp>
      <p:sp>
        <p:nvSpPr>
          <p:cNvPr id="44" name="Arrow: Down 43">
            <a:extLst>
              <a:ext uri="{FF2B5EF4-FFF2-40B4-BE49-F238E27FC236}">
                <a16:creationId xmlns:a16="http://schemas.microsoft.com/office/drawing/2014/main" id="{618F3245-4AC5-B4F3-63B0-769106F49E7C}"/>
              </a:ext>
            </a:extLst>
          </p:cNvPr>
          <p:cNvSpPr/>
          <p:nvPr/>
        </p:nvSpPr>
        <p:spPr>
          <a:xfrm rot="5400000">
            <a:off x="8672144" y="4661417"/>
            <a:ext cx="452783" cy="655531"/>
          </a:xfrm>
          <a:prstGeom prst="downArrow">
            <a:avLst/>
          </a:prstGeom>
          <a:solidFill>
            <a:srgbClr val="CFF3AB"/>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050" b="0" i="0" u="none" strike="noStrike" kern="1200" cap="none" spc="0" normalizeH="0" baseline="0" noProof="0">
              <a:ln>
                <a:noFill/>
              </a:ln>
              <a:solidFill>
                <a:srgbClr val="171717">
                  <a:lumMod val="75000"/>
                  <a:lumOff val="25000"/>
                </a:srgbClr>
              </a:solidFill>
              <a:effectLst/>
              <a:uLnTx/>
              <a:uFillTx/>
              <a:latin typeface="Segoe UI Semilight"/>
              <a:ea typeface="+mn-ea"/>
              <a:cs typeface="Segoe UI Semilight"/>
            </a:endParaRPr>
          </a:p>
        </p:txBody>
      </p:sp>
      <p:sp>
        <p:nvSpPr>
          <p:cNvPr id="51" name="Arrow: Down 50">
            <a:extLst>
              <a:ext uri="{FF2B5EF4-FFF2-40B4-BE49-F238E27FC236}">
                <a16:creationId xmlns:a16="http://schemas.microsoft.com/office/drawing/2014/main" id="{B19F3B8F-B9B7-4B30-77D1-E4AB3D677969}"/>
              </a:ext>
            </a:extLst>
          </p:cNvPr>
          <p:cNvSpPr/>
          <p:nvPr/>
        </p:nvSpPr>
        <p:spPr>
          <a:xfrm rot="5400000">
            <a:off x="8621474" y="6047292"/>
            <a:ext cx="452782" cy="655531"/>
          </a:xfrm>
          <a:prstGeom prst="downArrow">
            <a:avLst/>
          </a:prstGeom>
          <a:solidFill>
            <a:srgbClr val="CFF3AB"/>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050" b="0" i="0" u="none" strike="noStrike" kern="1200" cap="none" spc="0" normalizeH="0" baseline="0" noProof="0">
              <a:ln>
                <a:noFill/>
              </a:ln>
              <a:solidFill>
                <a:srgbClr val="171717">
                  <a:lumMod val="75000"/>
                  <a:lumOff val="25000"/>
                </a:srgbClr>
              </a:solidFill>
              <a:effectLst/>
              <a:uLnTx/>
              <a:uFillTx/>
              <a:latin typeface="Segoe UI Semilight"/>
              <a:ea typeface="+mn-ea"/>
              <a:cs typeface="Segoe UI Semilight"/>
            </a:endParaRPr>
          </a:p>
        </p:txBody>
      </p:sp>
      <p:sp>
        <p:nvSpPr>
          <p:cNvPr id="3" name="TextBox 2">
            <a:extLst>
              <a:ext uri="{FF2B5EF4-FFF2-40B4-BE49-F238E27FC236}">
                <a16:creationId xmlns:a16="http://schemas.microsoft.com/office/drawing/2014/main" id="{9E9B4CEC-9890-254E-4AE1-59D8C678D6E9}"/>
              </a:ext>
            </a:extLst>
          </p:cNvPr>
          <p:cNvSpPr txBox="1"/>
          <p:nvPr/>
        </p:nvSpPr>
        <p:spPr>
          <a:xfrm>
            <a:off x="11245846" y="5138595"/>
            <a:ext cx="967931" cy="646331"/>
          </a:xfrm>
          <a:prstGeom prst="rect">
            <a:avLst/>
          </a:prstGeom>
          <a:noFill/>
        </p:spPr>
        <p:txBody>
          <a:bodyPr wrap="square" rtlCol="1">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black"/>
                </a:solidFill>
                <a:effectLst/>
                <a:uLnTx/>
                <a:uFillTx/>
                <a:latin typeface="Assistant Light" pitchFamily="2" charset="-79"/>
                <a:ea typeface="+mn-ea"/>
                <a:cs typeface="Assistant Light" pitchFamily="2" charset="-79"/>
              </a:rPr>
              <a:t>אל מול פרט</a:t>
            </a:r>
          </a:p>
        </p:txBody>
      </p:sp>
      <p:sp>
        <p:nvSpPr>
          <p:cNvPr id="4" name="TextBox 3">
            <a:extLst>
              <a:ext uri="{FF2B5EF4-FFF2-40B4-BE49-F238E27FC236}">
                <a16:creationId xmlns:a16="http://schemas.microsoft.com/office/drawing/2014/main" id="{178EF427-0A0A-22DB-9673-22CC8DCEED78}"/>
              </a:ext>
            </a:extLst>
          </p:cNvPr>
          <p:cNvSpPr txBox="1"/>
          <p:nvPr/>
        </p:nvSpPr>
        <p:spPr>
          <a:xfrm>
            <a:off x="11342017" y="2635839"/>
            <a:ext cx="967931" cy="584775"/>
          </a:xfrm>
          <a:prstGeom prst="rect">
            <a:avLst/>
          </a:prstGeom>
          <a:noFill/>
        </p:spPr>
        <p:txBody>
          <a:bodyPr wrap="square" rtlCol="1">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1600" b="0" i="0" u="none" strike="noStrike" kern="1200" cap="none" spc="0" normalizeH="0" baseline="0" noProof="0" dirty="0">
                <a:ln>
                  <a:noFill/>
                </a:ln>
                <a:solidFill>
                  <a:prstClr val="black"/>
                </a:solidFill>
                <a:effectLst/>
                <a:uLnTx/>
                <a:uFillTx/>
                <a:latin typeface="Assistant Light" pitchFamily="2" charset="-79"/>
                <a:ea typeface="+mn-ea"/>
                <a:cs typeface="Assistant Light" pitchFamily="2" charset="-79"/>
              </a:rPr>
              <a:t>אל מול המערכת</a:t>
            </a:r>
          </a:p>
        </p:txBody>
      </p:sp>
      <p:sp>
        <p:nvSpPr>
          <p:cNvPr id="5" name="Right Brace 4">
            <a:extLst>
              <a:ext uri="{FF2B5EF4-FFF2-40B4-BE49-F238E27FC236}">
                <a16:creationId xmlns:a16="http://schemas.microsoft.com/office/drawing/2014/main" id="{9012D1E0-0375-0D7A-2015-EDF5F6FCC659}"/>
              </a:ext>
            </a:extLst>
          </p:cNvPr>
          <p:cNvSpPr/>
          <p:nvPr/>
        </p:nvSpPr>
        <p:spPr>
          <a:xfrm>
            <a:off x="11144074" y="1730737"/>
            <a:ext cx="349587" cy="2350226"/>
          </a:xfrm>
          <a:prstGeom prst="rightBrace">
            <a:avLst/>
          </a:prstGeom>
        </p:spPr>
        <p:style>
          <a:lnRef idx="1">
            <a:schemeClr val="accent1"/>
          </a:lnRef>
          <a:fillRef idx="0">
            <a:schemeClr val="accent1"/>
          </a:fillRef>
          <a:effectRef idx="0">
            <a:schemeClr val="accent1"/>
          </a:effectRef>
          <a:fontRef idx="minor">
            <a:schemeClr val="tx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black"/>
              </a:solidFill>
              <a:effectLst/>
              <a:uLnTx/>
              <a:uFillTx/>
              <a:latin typeface="Segoe UI Semilight"/>
              <a:ea typeface="+mn-ea"/>
              <a:cs typeface="Segoe UI Semilight"/>
            </a:endParaRPr>
          </a:p>
        </p:txBody>
      </p:sp>
      <p:sp>
        <p:nvSpPr>
          <p:cNvPr id="8" name="Right Brace 7">
            <a:extLst>
              <a:ext uri="{FF2B5EF4-FFF2-40B4-BE49-F238E27FC236}">
                <a16:creationId xmlns:a16="http://schemas.microsoft.com/office/drawing/2014/main" id="{5E4287DA-CAEC-2AA4-8833-9A3BFA7864A9}"/>
              </a:ext>
            </a:extLst>
          </p:cNvPr>
          <p:cNvSpPr/>
          <p:nvPr/>
        </p:nvSpPr>
        <p:spPr>
          <a:xfrm>
            <a:off x="11167224" y="4390904"/>
            <a:ext cx="349587" cy="2350226"/>
          </a:xfrm>
          <a:prstGeom prst="rightBrace">
            <a:avLst/>
          </a:prstGeom>
        </p:spPr>
        <p:style>
          <a:lnRef idx="1">
            <a:schemeClr val="accent1"/>
          </a:lnRef>
          <a:fillRef idx="0">
            <a:schemeClr val="accent1"/>
          </a:fillRef>
          <a:effectRef idx="0">
            <a:schemeClr val="accent1"/>
          </a:effectRef>
          <a:fontRef idx="minor">
            <a:schemeClr val="tx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black"/>
              </a:solidFill>
              <a:effectLst/>
              <a:uLnTx/>
              <a:uFillTx/>
              <a:latin typeface="Segoe UI Semilight"/>
              <a:ea typeface="+mn-ea"/>
              <a:cs typeface="Segoe UI Semilight"/>
            </a:endParaRPr>
          </a:p>
        </p:txBody>
      </p:sp>
      <p:sp>
        <p:nvSpPr>
          <p:cNvPr id="13" name="TextBox 12">
            <a:extLst>
              <a:ext uri="{FF2B5EF4-FFF2-40B4-BE49-F238E27FC236}">
                <a16:creationId xmlns:a16="http://schemas.microsoft.com/office/drawing/2014/main" id="{2D57A5C8-E2D8-3FDA-504E-E7FE56049152}"/>
              </a:ext>
            </a:extLst>
          </p:cNvPr>
          <p:cNvSpPr txBox="1"/>
          <p:nvPr/>
        </p:nvSpPr>
        <p:spPr>
          <a:xfrm>
            <a:off x="178026" y="993726"/>
            <a:ext cx="2832223" cy="646331"/>
          </a:xfrm>
          <a:prstGeom prst="rect">
            <a:avLst/>
          </a:prstGeom>
          <a:solidFill>
            <a:schemeClr val="bg1"/>
          </a:solid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308C8B"/>
                </a:solidFill>
                <a:effectLst/>
                <a:uLnTx/>
                <a:uFillTx/>
                <a:latin typeface="Assistant" pitchFamily="2" charset="-79"/>
                <a:ea typeface="+mn-ea"/>
                <a:cs typeface="Assistant" pitchFamily="2" charset="-79"/>
              </a:rPr>
              <a:t>השינוי הרצוי וקהל היעד</a:t>
            </a:r>
            <a:br>
              <a:rPr kumimoji="0" lang="en-US" sz="2000" b="0" i="0" u="none" strike="noStrike" kern="1200" cap="none" spc="0" normalizeH="0" baseline="0" noProof="0" dirty="0">
                <a:ln>
                  <a:noFill/>
                </a:ln>
                <a:solidFill>
                  <a:srgbClr val="308C8B"/>
                </a:solidFill>
                <a:effectLst/>
                <a:uLnTx/>
                <a:uFillTx/>
                <a:latin typeface="Assistant" pitchFamily="2" charset="-79"/>
                <a:ea typeface="+mn-ea"/>
                <a:cs typeface="Assistant" pitchFamily="2" charset="-79"/>
              </a:rPr>
            </a:br>
            <a:r>
              <a:rPr kumimoji="0" lang="he-IL" sz="1600" b="0" i="0" u="none" strike="noStrike" kern="1200" cap="none" spc="0" normalizeH="0" baseline="0" noProof="0" dirty="0">
                <a:ln>
                  <a:noFill/>
                </a:ln>
                <a:solidFill>
                  <a:srgbClr val="308C8B"/>
                </a:solidFill>
                <a:effectLst/>
                <a:uLnTx/>
                <a:uFillTx/>
                <a:latin typeface="Assistant" pitchFamily="2" charset="-79"/>
                <a:ea typeface="+mn-ea"/>
                <a:cs typeface="Assistant" pitchFamily="2" charset="-79"/>
              </a:rPr>
              <a:t>הבעיה שנרצה לפתור</a:t>
            </a:r>
          </a:p>
        </p:txBody>
      </p:sp>
      <p:sp>
        <p:nvSpPr>
          <p:cNvPr id="32" name="TextBox 31">
            <a:extLst>
              <a:ext uri="{FF2B5EF4-FFF2-40B4-BE49-F238E27FC236}">
                <a16:creationId xmlns:a16="http://schemas.microsoft.com/office/drawing/2014/main" id="{1E120F89-67F8-A02B-357C-5C251D1B1178}"/>
              </a:ext>
            </a:extLst>
          </p:cNvPr>
          <p:cNvSpPr txBox="1"/>
          <p:nvPr/>
        </p:nvSpPr>
        <p:spPr>
          <a:xfrm>
            <a:off x="6440910" y="1043473"/>
            <a:ext cx="3732444" cy="646331"/>
          </a:xfrm>
          <a:prstGeom prst="rect">
            <a:avLst/>
          </a:prstGeom>
          <a:solidFill>
            <a:schemeClr val="bg1"/>
          </a:solid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308C8B"/>
                </a:solidFill>
                <a:effectLst/>
                <a:uLnTx/>
                <a:uFillTx/>
                <a:latin typeface="Assistant" pitchFamily="2" charset="-79"/>
                <a:ea typeface="+mn-ea"/>
                <a:cs typeface="Assistant" pitchFamily="2" charset="-79"/>
              </a:rPr>
              <a:t>יצירת השינוי </a:t>
            </a:r>
          </a:p>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600" b="0" i="0" u="none" strike="noStrike" kern="1200" cap="none" spc="0" normalizeH="0" baseline="0" noProof="0" dirty="0">
                <a:ln>
                  <a:noFill/>
                </a:ln>
                <a:solidFill>
                  <a:srgbClr val="308C8B"/>
                </a:solidFill>
                <a:effectLst/>
                <a:uLnTx/>
                <a:uFillTx/>
                <a:latin typeface="Assistant" pitchFamily="2" charset="-79"/>
                <a:ea typeface="+mn-ea"/>
                <a:cs typeface="Assistant" pitchFamily="2" charset="-79"/>
              </a:rPr>
              <a:t>מנופי שינוי,  סוכני הובלת שינוי</a:t>
            </a:r>
          </a:p>
        </p:txBody>
      </p:sp>
      <p:sp>
        <p:nvSpPr>
          <p:cNvPr id="34" name="TextBox 33">
            <a:extLst>
              <a:ext uri="{FF2B5EF4-FFF2-40B4-BE49-F238E27FC236}">
                <a16:creationId xmlns:a16="http://schemas.microsoft.com/office/drawing/2014/main" id="{01F45792-6BC7-A9DD-E8DC-49BA551D05AA}"/>
              </a:ext>
            </a:extLst>
          </p:cNvPr>
          <p:cNvSpPr txBox="1"/>
          <p:nvPr/>
        </p:nvSpPr>
        <p:spPr>
          <a:xfrm>
            <a:off x="3064766" y="968547"/>
            <a:ext cx="2923969" cy="646331"/>
          </a:xfrm>
          <a:prstGeom prst="rect">
            <a:avLst/>
          </a:prstGeom>
          <a:solidFill>
            <a:schemeClr val="bg1"/>
          </a:solid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308C8B"/>
                </a:solidFill>
                <a:effectLst/>
                <a:uLnTx/>
                <a:uFillTx/>
                <a:latin typeface="Assistant" pitchFamily="2" charset="-79"/>
                <a:ea typeface="+mn-ea"/>
                <a:cs typeface="Assistant" pitchFamily="2" charset="-79"/>
              </a:rPr>
              <a:t>מדדי תוצאה  ברמת הפרט</a:t>
            </a:r>
          </a:p>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600" b="0" i="0" u="none" strike="noStrike" kern="1200" cap="none" spc="0" normalizeH="0" baseline="0" noProof="0" dirty="0">
                <a:ln>
                  <a:noFill/>
                </a:ln>
                <a:solidFill>
                  <a:srgbClr val="308C8B"/>
                </a:solidFill>
                <a:effectLst/>
                <a:uLnTx/>
                <a:uFillTx/>
                <a:latin typeface="Assistant" pitchFamily="2" charset="-79"/>
                <a:ea typeface="+mn-ea"/>
                <a:cs typeface="Assistant" pitchFamily="2" charset="-79"/>
              </a:rPr>
              <a:t>איך נראית הצלחה ברמת האדם</a:t>
            </a:r>
          </a:p>
        </p:txBody>
      </p:sp>
      <p:sp>
        <p:nvSpPr>
          <p:cNvPr id="36" name="Right Bracket 35">
            <a:extLst>
              <a:ext uri="{FF2B5EF4-FFF2-40B4-BE49-F238E27FC236}">
                <a16:creationId xmlns:a16="http://schemas.microsoft.com/office/drawing/2014/main" id="{54C8AF9F-A7C2-04F0-0A4F-949650C305AF}"/>
              </a:ext>
            </a:extLst>
          </p:cNvPr>
          <p:cNvSpPr/>
          <p:nvPr/>
        </p:nvSpPr>
        <p:spPr>
          <a:xfrm rot="5400000" flipH="1" flipV="1">
            <a:off x="1479450" y="25931"/>
            <a:ext cx="45719" cy="1984245"/>
          </a:xfrm>
          <a:prstGeom prst="rightBracket">
            <a:avLst/>
          </a:prstGeom>
          <a:ln>
            <a:solidFill>
              <a:srgbClr val="84D6D4"/>
            </a:solidFill>
          </a:ln>
        </p:spPr>
        <p:style>
          <a:lnRef idx="1">
            <a:schemeClr val="accent1"/>
          </a:lnRef>
          <a:fillRef idx="0">
            <a:schemeClr val="accent1"/>
          </a:fillRef>
          <a:effectRef idx="0">
            <a:schemeClr val="accent1"/>
          </a:effectRef>
          <a:fontRef idx="minor">
            <a:schemeClr val="tx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black"/>
              </a:solidFill>
              <a:effectLst/>
              <a:uLnTx/>
              <a:uFillTx/>
              <a:latin typeface="Segoe UI Semilight"/>
              <a:ea typeface="+mn-ea"/>
              <a:cs typeface="Segoe UI Semilight"/>
            </a:endParaRPr>
          </a:p>
        </p:txBody>
      </p:sp>
      <p:sp>
        <p:nvSpPr>
          <p:cNvPr id="40" name="Right Bracket 39">
            <a:extLst>
              <a:ext uri="{FF2B5EF4-FFF2-40B4-BE49-F238E27FC236}">
                <a16:creationId xmlns:a16="http://schemas.microsoft.com/office/drawing/2014/main" id="{17C0170A-C6F4-170D-9E1A-339A7455FE18}"/>
              </a:ext>
            </a:extLst>
          </p:cNvPr>
          <p:cNvSpPr/>
          <p:nvPr/>
        </p:nvSpPr>
        <p:spPr>
          <a:xfrm rot="5400000" flipH="1" flipV="1">
            <a:off x="4542790" y="-347955"/>
            <a:ext cx="45721" cy="2737135"/>
          </a:xfrm>
          <a:prstGeom prst="rightBracket">
            <a:avLst/>
          </a:prstGeom>
          <a:ln>
            <a:solidFill>
              <a:srgbClr val="84D6D4"/>
            </a:solidFill>
          </a:ln>
        </p:spPr>
        <p:style>
          <a:lnRef idx="1">
            <a:schemeClr val="accent1"/>
          </a:lnRef>
          <a:fillRef idx="0">
            <a:schemeClr val="accent1"/>
          </a:fillRef>
          <a:effectRef idx="0">
            <a:schemeClr val="accent1"/>
          </a:effectRef>
          <a:fontRef idx="minor">
            <a:schemeClr val="tx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black"/>
              </a:solidFill>
              <a:effectLst/>
              <a:uLnTx/>
              <a:uFillTx/>
              <a:latin typeface="Segoe UI Semilight"/>
              <a:ea typeface="+mn-ea"/>
              <a:cs typeface="Segoe UI Semilight"/>
            </a:endParaRPr>
          </a:p>
        </p:txBody>
      </p:sp>
      <p:sp>
        <p:nvSpPr>
          <p:cNvPr id="41" name="Right Bracket 40">
            <a:extLst>
              <a:ext uri="{FF2B5EF4-FFF2-40B4-BE49-F238E27FC236}">
                <a16:creationId xmlns:a16="http://schemas.microsoft.com/office/drawing/2014/main" id="{588A9D92-7E7F-A8A0-95C0-FF421CE91D12}"/>
              </a:ext>
            </a:extLst>
          </p:cNvPr>
          <p:cNvSpPr/>
          <p:nvPr/>
        </p:nvSpPr>
        <p:spPr>
          <a:xfrm rot="5400000" flipH="1" flipV="1">
            <a:off x="8284273" y="66159"/>
            <a:ext cx="45719" cy="1984245"/>
          </a:xfrm>
          <a:prstGeom prst="rightBracket">
            <a:avLst/>
          </a:prstGeom>
          <a:ln>
            <a:solidFill>
              <a:srgbClr val="84D6D4"/>
            </a:solidFill>
          </a:ln>
        </p:spPr>
        <p:style>
          <a:lnRef idx="1">
            <a:schemeClr val="accent1"/>
          </a:lnRef>
          <a:fillRef idx="0">
            <a:schemeClr val="accent1"/>
          </a:fillRef>
          <a:effectRef idx="0">
            <a:schemeClr val="accent1"/>
          </a:effectRef>
          <a:fontRef idx="minor">
            <a:schemeClr val="tx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black"/>
              </a:solidFill>
              <a:effectLst/>
              <a:uLnTx/>
              <a:uFillTx/>
              <a:latin typeface="Segoe UI Semilight"/>
              <a:ea typeface="+mn-ea"/>
              <a:cs typeface="Segoe UI Semilight"/>
            </a:endParaRPr>
          </a:p>
        </p:txBody>
      </p:sp>
      <p:sp>
        <p:nvSpPr>
          <p:cNvPr id="42" name="Arrow: Right 41">
            <a:extLst>
              <a:ext uri="{FF2B5EF4-FFF2-40B4-BE49-F238E27FC236}">
                <a16:creationId xmlns:a16="http://schemas.microsoft.com/office/drawing/2014/main" id="{B116D322-6432-FBD1-BE2B-FC5695C8A49A}"/>
              </a:ext>
            </a:extLst>
          </p:cNvPr>
          <p:cNvSpPr/>
          <p:nvPr/>
        </p:nvSpPr>
        <p:spPr>
          <a:xfrm rot="3551160">
            <a:off x="8806797" y="1724741"/>
            <a:ext cx="196746" cy="95975"/>
          </a:xfrm>
          <a:prstGeom prst="rightArrow">
            <a:avLst/>
          </a:prstGeom>
          <a:solidFill>
            <a:srgbClr val="84D6D4"/>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Segoe UI Semilight"/>
              <a:ea typeface="+mn-ea"/>
              <a:cs typeface="Segoe UI Semilight"/>
            </a:endParaRPr>
          </a:p>
        </p:txBody>
      </p:sp>
      <p:sp>
        <p:nvSpPr>
          <p:cNvPr id="45" name="Arrow: Right 44">
            <a:extLst>
              <a:ext uri="{FF2B5EF4-FFF2-40B4-BE49-F238E27FC236}">
                <a16:creationId xmlns:a16="http://schemas.microsoft.com/office/drawing/2014/main" id="{D592624B-FC8F-5174-35C1-A12923A32CF4}"/>
              </a:ext>
            </a:extLst>
          </p:cNvPr>
          <p:cNvSpPr/>
          <p:nvPr/>
        </p:nvSpPr>
        <p:spPr>
          <a:xfrm rot="7354731">
            <a:off x="8021945" y="1724406"/>
            <a:ext cx="196746" cy="95975"/>
          </a:xfrm>
          <a:prstGeom prst="rightArrow">
            <a:avLst/>
          </a:prstGeom>
          <a:solidFill>
            <a:srgbClr val="84D6D4"/>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Segoe UI Semilight"/>
              <a:ea typeface="+mn-ea"/>
              <a:cs typeface="Segoe UI Semilight"/>
            </a:endParaRPr>
          </a:p>
        </p:txBody>
      </p:sp>
      <p:sp>
        <p:nvSpPr>
          <p:cNvPr id="46" name="Arrow: Right 45">
            <a:extLst>
              <a:ext uri="{FF2B5EF4-FFF2-40B4-BE49-F238E27FC236}">
                <a16:creationId xmlns:a16="http://schemas.microsoft.com/office/drawing/2014/main" id="{E08E3148-BC92-2A7F-21F3-9FB7C6EA54D6}"/>
              </a:ext>
            </a:extLst>
          </p:cNvPr>
          <p:cNvSpPr/>
          <p:nvPr/>
        </p:nvSpPr>
        <p:spPr>
          <a:xfrm rot="5400000">
            <a:off x="4243226" y="1656844"/>
            <a:ext cx="196746" cy="95975"/>
          </a:xfrm>
          <a:prstGeom prst="rightArrow">
            <a:avLst/>
          </a:prstGeom>
          <a:solidFill>
            <a:srgbClr val="84D6D4"/>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Segoe UI Semilight"/>
              <a:ea typeface="+mn-ea"/>
              <a:cs typeface="Segoe UI Semilight"/>
            </a:endParaRPr>
          </a:p>
        </p:txBody>
      </p:sp>
      <p:sp>
        <p:nvSpPr>
          <p:cNvPr id="47" name="Arrow: Right 46">
            <a:extLst>
              <a:ext uri="{FF2B5EF4-FFF2-40B4-BE49-F238E27FC236}">
                <a16:creationId xmlns:a16="http://schemas.microsoft.com/office/drawing/2014/main" id="{EF42F62B-2D93-2F3E-9576-F629BE88B957}"/>
              </a:ext>
            </a:extLst>
          </p:cNvPr>
          <p:cNvSpPr/>
          <p:nvPr/>
        </p:nvSpPr>
        <p:spPr>
          <a:xfrm rot="5400000">
            <a:off x="1443530" y="1673818"/>
            <a:ext cx="196746" cy="95975"/>
          </a:xfrm>
          <a:prstGeom prst="rightArrow">
            <a:avLst/>
          </a:prstGeom>
          <a:solidFill>
            <a:srgbClr val="84D6D4"/>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Segoe UI Semilight"/>
              <a:ea typeface="+mn-ea"/>
              <a:cs typeface="Segoe UI Semilight"/>
            </a:endParaRPr>
          </a:p>
        </p:txBody>
      </p:sp>
      <p:sp>
        <p:nvSpPr>
          <p:cNvPr id="11" name="TextBox 10">
            <a:extLst>
              <a:ext uri="{FF2B5EF4-FFF2-40B4-BE49-F238E27FC236}">
                <a16:creationId xmlns:a16="http://schemas.microsoft.com/office/drawing/2014/main" id="{5232FA89-8984-E81F-433F-72F56A7CFBC3}"/>
              </a:ext>
            </a:extLst>
          </p:cNvPr>
          <p:cNvSpPr txBox="1"/>
          <p:nvPr/>
        </p:nvSpPr>
        <p:spPr>
          <a:xfrm rot="19789154">
            <a:off x="293119" y="132289"/>
            <a:ext cx="1248074" cy="711733"/>
          </a:xfrm>
          <a:prstGeom prst="rect">
            <a:avLst/>
          </a:prstGeom>
          <a:noFill/>
        </p:spPr>
        <p:txBody>
          <a:bodyPr wrap="square">
            <a:spAutoFit/>
          </a:bodyPr>
          <a:lstStyle/>
          <a:p>
            <a:pPr marL="0" marR="0" lvl="0" indent="0" algn="ctr" defTabSz="914400" rtl="1" eaLnBrk="1" fontAlgn="auto" latinLnBrk="0" hangingPunct="1">
              <a:lnSpc>
                <a:spcPct val="150000"/>
              </a:lnSpc>
              <a:spcBef>
                <a:spcPts val="0"/>
              </a:spcBef>
              <a:spcAft>
                <a:spcPts val="0"/>
              </a:spcAft>
              <a:buClrTx/>
              <a:buSzTx/>
              <a:buFontTx/>
              <a:buNone/>
              <a:tabLst/>
              <a:defRPr/>
            </a:pPr>
            <a:r>
              <a:rPr kumimoji="0" lang="he-IL" sz="1400" b="0" i="0" u="none" strike="noStrike" kern="0" cap="none" spc="0" normalizeH="0" baseline="0" noProof="0" dirty="0">
                <a:ln>
                  <a:noFill/>
                </a:ln>
                <a:solidFill>
                  <a:srgbClr val="0070C0"/>
                </a:solidFill>
                <a:effectLst/>
                <a:uLnTx/>
                <a:uFillTx/>
                <a:latin typeface="Abadi Extra Light" panose="020B0204020104020204" pitchFamily="34" charset="0"/>
                <a:ea typeface="+mn-ea"/>
                <a:cs typeface="Assistant" pitchFamily="2" charset="-79"/>
              </a:rPr>
              <a:t>עבר בצוות דיוק ותיקוף </a:t>
            </a:r>
          </a:p>
        </p:txBody>
      </p:sp>
      <p:sp>
        <p:nvSpPr>
          <p:cNvPr id="12" name="Rectangle: Rounded Corners 11">
            <a:extLst>
              <a:ext uri="{FF2B5EF4-FFF2-40B4-BE49-F238E27FC236}">
                <a16:creationId xmlns:a16="http://schemas.microsoft.com/office/drawing/2014/main" id="{EB0F9CAE-1958-E90F-9A09-D44B290F4F49}"/>
              </a:ext>
            </a:extLst>
          </p:cNvPr>
          <p:cNvSpPr/>
          <p:nvPr/>
        </p:nvSpPr>
        <p:spPr>
          <a:xfrm>
            <a:off x="3463372" y="5244850"/>
            <a:ext cx="2126758" cy="1356600"/>
          </a:xfrm>
          <a:prstGeom prst="roundRect">
            <a:avLst/>
          </a:prstGeom>
          <a:solidFill>
            <a:srgbClr val="40595A"/>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50000"/>
              </a:lnSpc>
              <a:spcBef>
                <a:spcPts val="0"/>
              </a:spcBef>
              <a:spcAft>
                <a:spcPts val="0"/>
              </a:spcAft>
              <a:buClrTx/>
              <a:buSzTx/>
              <a:buFontTx/>
              <a:buNone/>
              <a:tabLst/>
              <a:defRPr/>
            </a:pPr>
            <a:r>
              <a:rPr kumimoji="0" lang="he-IL" sz="1400" b="1" i="0" u="none" strike="noStrike" kern="1200" cap="none" spc="0" normalizeH="0" baseline="0" noProof="0" dirty="0">
                <a:ln>
                  <a:noFill/>
                </a:ln>
                <a:solidFill>
                  <a:prstClr val="white"/>
                </a:solidFill>
                <a:effectLst/>
                <a:uLnTx/>
                <a:uFillTx/>
                <a:latin typeface="Assistant" pitchFamily="2" charset="-79"/>
                <a:ea typeface="+mn-ea"/>
                <a:cs typeface="Assistant" pitchFamily="2" charset="-79"/>
              </a:rPr>
              <a:t>מדדי  תפקוד חברתי</a:t>
            </a:r>
            <a:endParaRPr kumimoji="0" lang="he-IL" sz="1200" b="1" i="0" u="none" strike="noStrike" kern="1200" cap="none" spc="0" normalizeH="0" baseline="0" noProof="0" dirty="0">
              <a:ln>
                <a:noFill/>
              </a:ln>
              <a:solidFill>
                <a:prstClr val="white"/>
              </a:solidFill>
              <a:effectLst/>
              <a:uLnTx/>
              <a:uFillTx/>
              <a:latin typeface="Segoe UI Semilight"/>
              <a:ea typeface="+mn-ea"/>
              <a:cs typeface="Segoe UI Semilight"/>
            </a:endParaRPr>
          </a:p>
          <a:p>
            <a:pPr marL="0" marR="0" lvl="0" indent="0" algn="ctr" defTabSz="914400" rtl="1" eaLnBrk="1" fontAlgn="auto" latinLnBrk="0" hangingPunct="1">
              <a:lnSpc>
                <a:spcPct val="150000"/>
              </a:lnSpc>
              <a:spcBef>
                <a:spcPts val="0"/>
              </a:spcBef>
              <a:spcAft>
                <a:spcPts val="0"/>
              </a:spcAft>
              <a:buClrTx/>
              <a:buSzTx/>
              <a:buFontTx/>
              <a:buNone/>
              <a:tabLst/>
              <a:defRPr/>
            </a:pPr>
            <a:r>
              <a:rPr kumimoji="0" lang="he-IL" sz="1200" b="0" i="0" u="none" strike="noStrike" kern="1200" cap="none" spc="0" normalizeH="0" baseline="0" noProof="0" dirty="0">
                <a:ln>
                  <a:noFill/>
                </a:ln>
                <a:solidFill>
                  <a:prstClr val="white"/>
                </a:solidFill>
                <a:effectLst/>
                <a:uLnTx/>
                <a:uFillTx/>
                <a:latin typeface="Segoe UI Semilight"/>
                <a:ea typeface="+mn-ea"/>
                <a:cs typeface="Segoe UI Semilight"/>
              </a:rPr>
              <a:t>השתתפות חברתית</a:t>
            </a:r>
          </a:p>
          <a:p>
            <a:pPr marL="0" marR="0" lvl="0" indent="0" algn="ctr" defTabSz="914400" rtl="1" eaLnBrk="1" fontAlgn="auto" latinLnBrk="0" hangingPunct="1">
              <a:lnSpc>
                <a:spcPct val="150000"/>
              </a:lnSpc>
              <a:spcBef>
                <a:spcPts val="0"/>
              </a:spcBef>
              <a:spcAft>
                <a:spcPts val="0"/>
              </a:spcAft>
              <a:buClrTx/>
              <a:buSzTx/>
              <a:buFontTx/>
              <a:buNone/>
              <a:tabLst/>
              <a:defRPr/>
            </a:pPr>
            <a:r>
              <a:rPr kumimoji="0" lang="he-IL" sz="1200" b="0" i="0" u="none" strike="noStrike" kern="1200" cap="none" spc="0" normalizeH="0" baseline="0" noProof="0" dirty="0">
                <a:ln>
                  <a:noFill/>
                </a:ln>
                <a:solidFill>
                  <a:prstClr val="white"/>
                </a:solidFill>
                <a:effectLst/>
                <a:uLnTx/>
                <a:uFillTx/>
                <a:latin typeface="Segoe UI Semilight"/>
                <a:ea typeface="+mn-ea"/>
                <a:cs typeface="Segoe UI Semilight"/>
              </a:rPr>
              <a:t>קיום רשת תמיכה פונקציונאלית</a:t>
            </a:r>
          </a:p>
          <a:p>
            <a:pPr marL="0" marR="0" lvl="0" indent="0" algn="ctr" defTabSz="914400" rtl="1" eaLnBrk="1" fontAlgn="auto" latinLnBrk="0" hangingPunct="1">
              <a:lnSpc>
                <a:spcPct val="150000"/>
              </a:lnSpc>
              <a:spcBef>
                <a:spcPts val="0"/>
              </a:spcBef>
              <a:spcAft>
                <a:spcPts val="0"/>
              </a:spcAft>
              <a:buClrTx/>
              <a:buSzTx/>
              <a:buFontTx/>
              <a:buNone/>
              <a:tabLst/>
              <a:defRPr/>
            </a:pPr>
            <a:r>
              <a:rPr kumimoji="0" lang="he-IL" sz="1200" b="0" i="0" u="none" strike="noStrike" kern="1200" cap="none" spc="0" normalizeH="0" baseline="0" noProof="0" dirty="0">
                <a:ln>
                  <a:noFill/>
                </a:ln>
                <a:solidFill>
                  <a:prstClr val="white"/>
                </a:solidFill>
                <a:effectLst/>
                <a:uLnTx/>
                <a:uFillTx/>
                <a:latin typeface="Segoe UI Semilight"/>
                <a:ea typeface="+mn-ea"/>
                <a:cs typeface="Segoe UI Semilight"/>
              </a:rPr>
              <a:t>שייכות למקום הגאוגרפי</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white"/>
                </a:solidFill>
                <a:effectLst/>
                <a:uLnTx/>
                <a:uFillTx/>
                <a:latin typeface="Assistant" pitchFamily="2" charset="-79"/>
                <a:ea typeface="+mn-ea"/>
                <a:cs typeface="Assistant" pitchFamily="2" charset="-79"/>
              </a:rPr>
              <a:t> </a:t>
            </a:r>
            <a:endParaRPr kumimoji="0" lang="he-IL" sz="800" b="0" i="0" u="none" strike="noStrike" kern="1200" cap="none" spc="0" normalizeH="0" baseline="0" noProof="0" dirty="0">
              <a:ln>
                <a:noFill/>
              </a:ln>
              <a:solidFill>
                <a:prstClr val="white"/>
              </a:solidFill>
              <a:effectLst/>
              <a:uLnTx/>
              <a:uFillTx/>
              <a:latin typeface="Assistant" pitchFamily="2" charset="-79"/>
              <a:ea typeface="+mn-ea"/>
              <a:cs typeface="Assistant" pitchFamily="2" charset="-79"/>
            </a:endParaRPr>
          </a:p>
        </p:txBody>
      </p:sp>
      <p:sp>
        <p:nvSpPr>
          <p:cNvPr id="6" name="TextBox 5">
            <a:extLst>
              <a:ext uri="{FF2B5EF4-FFF2-40B4-BE49-F238E27FC236}">
                <a16:creationId xmlns:a16="http://schemas.microsoft.com/office/drawing/2014/main" id="{777A5C82-BB67-6A69-E96B-E772805361CB}"/>
              </a:ext>
            </a:extLst>
          </p:cNvPr>
          <p:cNvSpPr txBox="1"/>
          <p:nvPr/>
        </p:nvSpPr>
        <p:spPr>
          <a:xfrm>
            <a:off x="6299189" y="157392"/>
            <a:ext cx="5421351" cy="741645"/>
          </a:xfrm>
          <a:prstGeom prst="rect">
            <a:avLst/>
          </a:prstGeom>
          <a:solidFill>
            <a:srgbClr val="92B0B1"/>
          </a:solidFill>
          <a:ln>
            <a:solidFill>
              <a:sysClr val="window" lastClr="FFFFFF"/>
            </a:solidFill>
          </a:ln>
        </p:spPr>
        <p:txBody>
          <a:bodyPr vert="horz" lIns="91440" tIns="45720" rIns="91440" bIns="45720" rtlCol="1" anchor="ctr">
            <a:normAutofit/>
          </a:bodyPr>
          <a:lstStyle/>
          <a:p>
            <a:pPr marL="0" marR="0" lvl="1" indent="0" algn="r" defTabSz="914400" rtl="1" eaLnBrk="1" fontAlgn="auto" latinLnBrk="0" hangingPunct="1">
              <a:lnSpc>
                <a:spcPct val="90000"/>
              </a:lnSpc>
              <a:spcBef>
                <a:spcPct val="0"/>
              </a:spcBef>
              <a:spcAft>
                <a:spcPts val="601"/>
              </a:spcAft>
              <a:buClrTx/>
              <a:buSzTx/>
              <a:buFontTx/>
              <a:buNone/>
              <a:tabLst/>
              <a:defRPr/>
            </a:pPr>
            <a:r>
              <a:rPr kumimoji="0" lang="he-IL" sz="3000" b="1" i="0" u="none" strike="noStrike" kern="0" cap="none" spc="0" normalizeH="0" baseline="0" noProof="0" dirty="0">
                <a:ln>
                  <a:noFill/>
                </a:ln>
                <a:solidFill>
                  <a:prstClr val="black"/>
                </a:solidFill>
                <a:effectLst/>
                <a:uLnTx/>
                <a:uFillTx/>
                <a:latin typeface="Assistant" pitchFamily="2" charset="-79"/>
                <a:ea typeface="+mn-ea"/>
                <a:cs typeface="Assistant" pitchFamily="2" charset="-79"/>
              </a:rPr>
              <a:t>תפיסת מניעה רב מערכתית</a:t>
            </a:r>
          </a:p>
        </p:txBody>
      </p:sp>
      <p:sp>
        <p:nvSpPr>
          <p:cNvPr id="26" name="Oval 25">
            <a:extLst>
              <a:ext uri="{FF2B5EF4-FFF2-40B4-BE49-F238E27FC236}">
                <a16:creationId xmlns:a16="http://schemas.microsoft.com/office/drawing/2014/main" id="{240B0163-0C51-75EE-8BBC-4073CE35CD1B}"/>
              </a:ext>
            </a:extLst>
          </p:cNvPr>
          <p:cNvSpPr/>
          <p:nvPr/>
        </p:nvSpPr>
        <p:spPr>
          <a:xfrm>
            <a:off x="5410645" y="-42287"/>
            <a:ext cx="1156179" cy="1036013"/>
          </a:xfrm>
          <a:prstGeom prst="ellipse">
            <a:avLst/>
          </a:prstGeom>
          <a:solidFill>
            <a:srgbClr val="92B0B1"/>
          </a:solidFill>
          <a:ln w="12700" cap="flat" cmpd="sng" algn="ctr">
            <a:solidFill>
              <a:sysClr val="window" lastClr="FFFFFF"/>
            </a:solidFill>
            <a:prstDash val="solid"/>
            <a:miter lim="800000"/>
          </a:ln>
          <a:effectLst/>
        </p:spPr>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0" cap="none" spc="0" normalizeH="0" baseline="0" noProof="0">
              <a:ln>
                <a:noFill/>
              </a:ln>
              <a:solidFill>
                <a:prstClr val="white"/>
              </a:solidFill>
              <a:effectLst/>
              <a:uLnTx/>
              <a:uFillTx/>
              <a:latin typeface="Segoe UI Semilight"/>
              <a:ea typeface="+mn-ea"/>
              <a:cs typeface="Segoe UI Semilight"/>
            </a:endParaRPr>
          </a:p>
        </p:txBody>
      </p:sp>
      <p:pic>
        <p:nvPicPr>
          <p:cNvPr id="27" name="Graphic 26" descr="Map with pin outline">
            <a:extLst>
              <a:ext uri="{FF2B5EF4-FFF2-40B4-BE49-F238E27FC236}">
                <a16:creationId xmlns:a16="http://schemas.microsoft.com/office/drawing/2014/main" id="{F14BFCA8-C35D-D35C-000B-AA1E19095FF8}"/>
              </a:ext>
            </a:extLst>
          </p:cNvPr>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559305" y="66112"/>
            <a:ext cx="873494" cy="790179"/>
          </a:xfrm>
          <a:prstGeom prst="rect">
            <a:avLst/>
          </a:prstGeom>
        </p:spPr>
      </p:pic>
      <p:sp>
        <p:nvSpPr>
          <p:cNvPr id="7" name="Rectangle: Rounded Corners 6">
            <a:extLst>
              <a:ext uri="{FF2B5EF4-FFF2-40B4-BE49-F238E27FC236}">
                <a16:creationId xmlns:a16="http://schemas.microsoft.com/office/drawing/2014/main" id="{4BB345F4-B676-0126-2A98-9D9D5C9603D2}"/>
              </a:ext>
            </a:extLst>
          </p:cNvPr>
          <p:cNvSpPr/>
          <p:nvPr/>
        </p:nvSpPr>
        <p:spPr>
          <a:xfrm>
            <a:off x="6671601" y="5011403"/>
            <a:ext cx="1596280" cy="675538"/>
          </a:xfrm>
          <a:prstGeom prst="roundRect">
            <a:avLst/>
          </a:prstGeom>
          <a:solidFill>
            <a:srgbClr val="FCAF3E"/>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1400" b="1" i="0" u="none" strike="noStrike" kern="1200" cap="none" spc="0" normalizeH="0" baseline="0" noProof="0" dirty="0">
                <a:ln>
                  <a:noFill/>
                </a:ln>
                <a:solidFill>
                  <a:prstClr val="white"/>
                </a:solidFill>
                <a:effectLst/>
                <a:uLnTx/>
                <a:uFillTx/>
                <a:latin typeface="Assistant" pitchFamily="2" charset="-79"/>
                <a:ea typeface="+mn-ea"/>
                <a:cs typeface="Assistant" pitchFamily="2" charset="-79"/>
              </a:rPr>
              <a:t>שירותים חברתיים</a:t>
            </a:r>
            <a:endParaRPr kumimoji="0" lang="he-IL" sz="1400" b="0" i="0" u="none" strike="noStrike" kern="1200" cap="none" spc="0" normalizeH="0" baseline="0" noProof="0" dirty="0">
              <a:ln>
                <a:noFill/>
              </a:ln>
              <a:solidFill>
                <a:prstClr val="white"/>
              </a:solidFill>
              <a:effectLst/>
              <a:uLnTx/>
              <a:uFillTx/>
              <a:latin typeface="Assistant" pitchFamily="2" charset="-79"/>
              <a:ea typeface="+mn-ea"/>
              <a:cs typeface="Assistant" pitchFamily="2" charset="-79"/>
            </a:endParaRPr>
          </a:p>
        </p:txBody>
      </p:sp>
      <p:sp>
        <p:nvSpPr>
          <p:cNvPr id="23" name="Rectangle: Rounded Corners 22">
            <a:extLst>
              <a:ext uri="{FF2B5EF4-FFF2-40B4-BE49-F238E27FC236}">
                <a16:creationId xmlns:a16="http://schemas.microsoft.com/office/drawing/2014/main" id="{566FA85F-8BCF-AABF-5D29-6CC03B545BC5}"/>
              </a:ext>
            </a:extLst>
          </p:cNvPr>
          <p:cNvSpPr/>
          <p:nvPr/>
        </p:nvSpPr>
        <p:spPr>
          <a:xfrm>
            <a:off x="6667498" y="5867463"/>
            <a:ext cx="1596280" cy="675538"/>
          </a:xfrm>
          <a:prstGeom prst="roundRect">
            <a:avLst/>
          </a:prstGeom>
          <a:solidFill>
            <a:srgbClr val="FCAF3E"/>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1400" b="1" i="0" u="none" strike="noStrike" kern="1200" cap="none" spc="0" normalizeH="0" baseline="0" noProof="0" dirty="0">
                <a:ln>
                  <a:noFill/>
                </a:ln>
                <a:solidFill>
                  <a:prstClr val="white"/>
                </a:solidFill>
                <a:effectLst/>
                <a:uLnTx/>
                <a:uFillTx/>
                <a:latin typeface="Assistant" pitchFamily="2" charset="-79"/>
                <a:ea typeface="+mn-ea"/>
                <a:cs typeface="Assistant" pitchFamily="2" charset="-79"/>
              </a:rPr>
              <a:t>משרדי הממשלה הרלוונטיים</a:t>
            </a:r>
          </a:p>
        </p:txBody>
      </p:sp>
      <p:sp>
        <p:nvSpPr>
          <p:cNvPr id="48" name="מלבן 47"/>
          <p:cNvSpPr/>
          <p:nvPr/>
        </p:nvSpPr>
        <p:spPr>
          <a:xfrm>
            <a:off x="3093" y="0"/>
            <a:ext cx="264155" cy="6857999"/>
          </a:xfrm>
          <a:prstGeom prst="rect">
            <a:avLst/>
          </a:prstGeom>
          <a:solidFill>
            <a:srgbClr val="FFC000"/>
          </a:solidFill>
          <a:ln w="12700" cap="flat" cmpd="sng" algn="ctr">
            <a:solidFill>
              <a:srgbClr val="2CC2E0"/>
            </a:solidFill>
            <a:prstDash val="solid"/>
            <a:miter lim="800000"/>
          </a:ln>
          <a:effectLst/>
        </p:spPr>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0" cap="none" spc="0" normalizeH="0" baseline="0" noProof="0">
              <a:ln>
                <a:noFill/>
              </a:ln>
              <a:solidFill>
                <a:prstClr val="white"/>
              </a:solidFill>
              <a:effectLst/>
              <a:uLnTx/>
              <a:uFillTx/>
              <a:latin typeface="Calibri"/>
              <a:ea typeface="+mn-ea"/>
              <a:cs typeface="Calibri"/>
            </a:endParaRPr>
          </a:p>
        </p:txBody>
      </p:sp>
      <p:sp>
        <p:nvSpPr>
          <p:cNvPr id="52" name="TextBox 51"/>
          <p:cNvSpPr txBox="1"/>
          <p:nvPr/>
        </p:nvSpPr>
        <p:spPr>
          <a:xfrm rot="16200000">
            <a:off x="-1010313" y="774604"/>
            <a:ext cx="2039340" cy="515782"/>
          </a:xfrm>
          <a:prstGeom prst="rect">
            <a:avLst/>
          </a:prstGeom>
          <a:noFill/>
        </p:spPr>
        <p:txBody>
          <a:bodyPr wrap="none" rtlCol="1">
            <a:spAutoFit/>
          </a:bodyPr>
          <a:lstStyle/>
          <a:p>
            <a:pPr marL="0" marR="0" lvl="0" indent="0" algn="r" defTabSz="914400" rtl="1" eaLnBrk="1" fontAlgn="auto" latinLnBrk="0" hangingPunct="1">
              <a:lnSpc>
                <a:spcPct val="200000"/>
              </a:lnSpc>
              <a:spcBef>
                <a:spcPts val="0"/>
              </a:spcBef>
              <a:spcAft>
                <a:spcPts val="0"/>
              </a:spcAft>
              <a:buClrTx/>
              <a:buSzTx/>
              <a:buFontTx/>
              <a:buNone/>
              <a:tabLst/>
              <a:defRPr/>
            </a:pPr>
            <a:r>
              <a:rPr kumimoji="0" lang="he-IL" sz="1600" b="1" i="0" u="none" strike="noStrike" kern="1200" cap="none" spc="0" normalizeH="0" baseline="0" noProof="0" dirty="0">
                <a:ln>
                  <a:noFill/>
                </a:ln>
                <a:solidFill>
                  <a:prstClr val="black"/>
                </a:solidFill>
                <a:effectLst/>
                <a:uLnTx/>
                <a:uFillTx/>
                <a:latin typeface="Calibri" panose="020F0502020204030204" pitchFamily="34" charset="0"/>
                <a:ea typeface="Open Sans" panose="020B0606030504020204" pitchFamily="34" charset="0"/>
                <a:cs typeface="Calibri" panose="020F0502020204030204" pitchFamily="34" charset="0"/>
              </a:rPr>
              <a:t>ההזדמנות לשינוי בסיעוד</a:t>
            </a:r>
          </a:p>
        </p:txBody>
      </p:sp>
      <p:sp>
        <p:nvSpPr>
          <p:cNvPr id="53" name="מלבן 52"/>
          <p:cNvSpPr/>
          <p:nvPr/>
        </p:nvSpPr>
        <p:spPr>
          <a:xfrm>
            <a:off x="-13034" y="0"/>
            <a:ext cx="182534" cy="6857999"/>
          </a:xfrm>
          <a:prstGeom prst="rect">
            <a:avLst/>
          </a:prstGeom>
          <a:solidFill>
            <a:srgbClr val="FFC000"/>
          </a:solidFill>
          <a:ln w="12700" cap="flat" cmpd="sng" algn="ctr">
            <a:solidFill>
              <a:srgbClr val="2CC2E0"/>
            </a:solidFill>
            <a:prstDash val="solid"/>
            <a:miter lim="800000"/>
          </a:ln>
          <a:effectLst/>
        </p:spPr>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0" cap="none" spc="0" normalizeH="0" baseline="0" noProof="0">
              <a:ln>
                <a:noFill/>
              </a:ln>
              <a:solidFill>
                <a:prstClr val="white"/>
              </a:solidFill>
              <a:effectLst/>
              <a:uLnTx/>
              <a:uFillTx/>
              <a:latin typeface="Calibri"/>
              <a:ea typeface="+mn-ea"/>
              <a:cs typeface="Calibri"/>
            </a:endParaRPr>
          </a:p>
        </p:txBody>
      </p:sp>
      <p:sp>
        <p:nvSpPr>
          <p:cNvPr id="54" name="TextBox 53"/>
          <p:cNvSpPr txBox="1"/>
          <p:nvPr/>
        </p:nvSpPr>
        <p:spPr>
          <a:xfrm rot="16200000">
            <a:off x="-715459" y="566656"/>
            <a:ext cx="1417376" cy="515782"/>
          </a:xfrm>
          <a:prstGeom prst="rect">
            <a:avLst/>
          </a:prstGeom>
          <a:noFill/>
        </p:spPr>
        <p:txBody>
          <a:bodyPr wrap="none" rtlCol="1">
            <a:spAutoFit/>
          </a:bodyPr>
          <a:lstStyle/>
          <a:p>
            <a:pPr marL="0" marR="0" lvl="0" indent="0" algn="r" defTabSz="914400" rtl="1" eaLnBrk="1" fontAlgn="auto" latinLnBrk="0" hangingPunct="1">
              <a:lnSpc>
                <a:spcPct val="200000"/>
              </a:lnSpc>
              <a:spcBef>
                <a:spcPts val="0"/>
              </a:spcBef>
              <a:spcAft>
                <a:spcPts val="0"/>
              </a:spcAft>
              <a:buClrTx/>
              <a:buSzTx/>
              <a:buFontTx/>
              <a:buNone/>
              <a:tabLst/>
              <a:defRPr/>
            </a:pPr>
            <a:r>
              <a:rPr kumimoji="0" lang="he-IL" sz="1600" b="1" i="0" u="none" strike="noStrike" kern="1200" cap="none" spc="0" normalizeH="0" baseline="0" noProof="0" dirty="0">
                <a:ln>
                  <a:noFill/>
                </a:ln>
                <a:solidFill>
                  <a:prstClr val="black"/>
                </a:solidFill>
                <a:effectLst/>
                <a:uLnTx/>
                <a:uFillTx/>
                <a:latin typeface="Calibri" panose="020F0502020204030204" pitchFamily="34" charset="0"/>
                <a:ea typeface="Open Sans" panose="020B0606030504020204" pitchFamily="34" charset="0"/>
                <a:cs typeface="Calibri" panose="020F0502020204030204" pitchFamily="34" charset="0"/>
              </a:rPr>
              <a:t>מדידה ותמריצים</a:t>
            </a:r>
          </a:p>
        </p:txBody>
      </p:sp>
    </p:spTree>
    <p:extLst>
      <p:ext uri="{BB962C8B-B14F-4D97-AF65-F5344CB8AC3E}">
        <p14:creationId xmlns:p14="http://schemas.microsoft.com/office/powerpoint/2010/main" val="13369455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4"/>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6"/>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7"/>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44"/>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43"/>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9"/>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51"/>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19"/>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10"/>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0"/>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33"/>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25"/>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9"/>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8"/>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3"/>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4"/>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5"/>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12"/>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7"/>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6" grpId="0" animBg="1"/>
      <p:bldP spid="17" grpId="0" animBg="1"/>
      <p:bldP spid="19" grpId="0" animBg="1"/>
      <p:bldP spid="20" grpId="0" animBg="1"/>
      <p:bldP spid="25" grpId="0" animBg="1"/>
      <p:bldP spid="33" grpId="0" animBg="1"/>
      <p:bldP spid="2" grpId="0" animBg="1"/>
      <p:bldP spid="9" grpId="0" animBg="1"/>
      <p:bldP spid="10" grpId="0" animBg="1"/>
      <p:bldP spid="18" grpId="0" animBg="1"/>
      <p:bldP spid="21" grpId="0" animBg="1"/>
      <p:bldP spid="22" grpId="0" animBg="1"/>
      <p:bldP spid="30" grpId="0" animBg="1"/>
      <p:bldP spid="31" grpId="0" animBg="1"/>
      <p:bldP spid="37" grpId="0" animBg="1"/>
      <p:bldP spid="38" grpId="0" animBg="1"/>
      <p:bldP spid="39" grpId="0" animBg="1"/>
      <p:bldP spid="43" grpId="0" animBg="1"/>
      <p:bldP spid="44" grpId="0" animBg="1"/>
      <p:bldP spid="51" grpId="0" animBg="1"/>
      <p:bldP spid="3" grpId="0"/>
      <p:bldP spid="4" grpId="0"/>
      <p:bldP spid="5" grpId="0" animBg="1"/>
      <p:bldP spid="8" grpId="0" animBg="1"/>
      <p:bldP spid="12" grpId="0" animBg="1"/>
      <p:bldP spid="7" grpId="0" animBg="1"/>
      <p:bldP spid="23" grpId="0" animBg="1"/>
    </p:bldLst>
  </p:timing>
</p:sld>
</file>

<file path=ppt/slides/slide5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endParaRPr lang="he-IL"/>
          </a:p>
        </p:txBody>
      </p:sp>
      <p:sp>
        <p:nvSpPr>
          <p:cNvPr id="3" name="מציין מיקום תוכן 2"/>
          <p:cNvSpPr>
            <a:spLocks noGrp="1"/>
          </p:cNvSpPr>
          <p:nvPr>
            <p:ph idx="1"/>
          </p:nvPr>
        </p:nvSpPr>
        <p:spPr/>
        <p:txBody>
          <a:bodyPr/>
          <a:lstStyle/>
          <a:p>
            <a:endParaRPr lang="he-IL"/>
          </a:p>
        </p:txBody>
      </p:sp>
      <p:pic>
        <p:nvPicPr>
          <p:cNvPr id="4" name="תמונה 3"/>
          <p:cNvPicPr>
            <a:picLocks noChangeAspect="1"/>
          </p:cNvPicPr>
          <p:nvPr/>
        </p:nvPicPr>
        <p:blipFill rotWithShape="1">
          <a:blip r:embed="rId3"/>
          <a:srcRect b="5484"/>
          <a:stretch/>
        </p:blipFill>
        <p:spPr>
          <a:xfrm>
            <a:off x="-13035" y="0"/>
            <a:ext cx="12205036" cy="6858000"/>
          </a:xfrm>
          <a:prstGeom prst="rect">
            <a:avLst/>
          </a:prstGeom>
        </p:spPr>
      </p:pic>
      <p:sp>
        <p:nvSpPr>
          <p:cNvPr id="5" name="TextBox 4"/>
          <p:cNvSpPr txBox="1"/>
          <p:nvPr/>
        </p:nvSpPr>
        <p:spPr>
          <a:xfrm rot="16200000">
            <a:off x="-699331" y="566656"/>
            <a:ext cx="1417376" cy="515782"/>
          </a:xfrm>
          <a:prstGeom prst="rect">
            <a:avLst/>
          </a:prstGeom>
          <a:noFill/>
        </p:spPr>
        <p:txBody>
          <a:bodyPr wrap="none" rtlCol="1">
            <a:spAutoFit/>
          </a:bodyPr>
          <a:lstStyle/>
          <a:p>
            <a:pPr marL="0" marR="0" lvl="0" indent="0" algn="r" defTabSz="914400" rtl="1" eaLnBrk="1" fontAlgn="auto" latinLnBrk="0" hangingPunct="1">
              <a:lnSpc>
                <a:spcPct val="200000"/>
              </a:lnSpc>
              <a:spcBef>
                <a:spcPts val="0"/>
              </a:spcBef>
              <a:spcAft>
                <a:spcPts val="0"/>
              </a:spcAft>
              <a:buClrTx/>
              <a:buSzTx/>
              <a:buFontTx/>
              <a:buNone/>
              <a:tabLst/>
              <a:defRPr/>
            </a:pPr>
            <a:r>
              <a:rPr kumimoji="0" lang="he-IL" sz="1600" b="1" i="0" u="none" strike="noStrike" kern="1200" cap="none" spc="0" normalizeH="0" baseline="0" noProof="0" dirty="0">
                <a:ln>
                  <a:noFill/>
                </a:ln>
                <a:solidFill>
                  <a:prstClr val="black"/>
                </a:solidFill>
                <a:effectLst/>
                <a:uLnTx/>
                <a:uFillTx/>
                <a:latin typeface="Calibri" panose="020F0502020204030204" pitchFamily="34" charset="0"/>
                <a:ea typeface="Open Sans" panose="020B0606030504020204" pitchFamily="34" charset="0"/>
                <a:cs typeface="Calibri" panose="020F0502020204030204" pitchFamily="34" charset="0"/>
              </a:rPr>
              <a:t>מדידה ותמריצים</a:t>
            </a:r>
          </a:p>
        </p:txBody>
      </p:sp>
      <p:sp>
        <p:nvSpPr>
          <p:cNvPr id="6" name="מלבן 5"/>
          <p:cNvSpPr/>
          <p:nvPr/>
        </p:nvSpPr>
        <p:spPr>
          <a:xfrm>
            <a:off x="-13035" y="0"/>
            <a:ext cx="264155" cy="6857999"/>
          </a:xfrm>
          <a:prstGeom prst="rect">
            <a:avLst/>
          </a:prstGeom>
          <a:solidFill>
            <a:srgbClr val="FFC000"/>
          </a:solidFill>
          <a:ln w="12700" cap="flat" cmpd="sng" algn="ctr">
            <a:solidFill>
              <a:srgbClr val="2CC2E0"/>
            </a:solidFill>
            <a:prstDash val="solid"/>
            <a:miter lim="800000"/>
          </a:ln>
          <a:effectLst/>
        </p:spPr>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0" cap="none" spc="0" normalizeH="0" baseline="0" noProof="0">
              <a:ln>
                <a:noFill/>
              </a:ln>
              <a:solidFill>
                <a:prstClr val="white"/>
              </a:solidFill>
              <a:effectLst/>
              <a:uLnTx/>
              <a:uFillTx/>
              <a:latin typeface="Calibri"/>
              <a:ea typeface="+mn-ea"/>
              <a:cs typeface="Calibri"/>
            </a:endParaRPr>
          </a:p>
        </p:txBody>
      </p:sp>
      <p:sp>
        <p:nvSpPr>
          <p:cNvPr id="7" name="TextBox 6"/>
          <p:cNvSpPr txBox="1"/>
          <p:nvPr/>
        </p:nvSpPr>
        <p:spPr>
          <a:xfrm rot="16200000">
            <a:off x="-715459" y="566656"/>
            <a:ext cx="1417376" cy="515782"/>
          </a:xfrm>
          <a:prstGeom prst="rect">
            <a:avLst/>
          </a:prstGeom>
          <a:noFill/>
        </p:spPr>
        <p:txBody>
          <a:bodyPr wrap="none" rtlCol="1">
            <a:spAutoFit/>
          </a:bodyPr>
          <a:lstStyle/>
          <a:p>
            <a:pPr marL="0" marR="0" lvl="0" indent="0" algn="r" defTabSz="914400" rtl="1" eaLnBrk="1" fontAlgn="auto" latinLnBrk="0" hangingPunct="1">
              <a:lnSpc>
                <a:spcPct val="200000"/>
              </a:lnSpc>
              <a:spcBef>
                <a:spcPts val="0"/>
              </a:spcBef>
              <a:spcAft>
                <a:spcPts val="0"/>
              </a:spcAft>
              <a:buClrTx/>
              <a:buSzTx/>
              <a:buFontTx/>
              <a:buNone/>
              <a:tabLst/>
              <a:defRPr/>
            </a:pPr>
            <a:r>
              <a:rPr kumimoji="0" lang="he-IL" sz="1600" b="1" i="0" u="none" strike="noStrike" kern="1200" cap="none" spc="0" normalizeH="0" baseline="0" noProof="0" dirty="0">
                <a:ln>
                  <a:noFill/>
                </a:ln>
                <a:solidFill>
                  <a:prstClr val="black"/>
                </a:solidFill>
                <a:effectLst/>
                <a:uLnTx/>
                <a:uFillTx/>
                <a:latin typeface="Calibri" panose="020F0502020204030204" pitchFamily="34" charset="0"/>
                <a:ea typeface="Open Sans" panose="020B0606030504020204" pitchFamily="34" charset="0"/>
                <a:cs typeface="Calibri" panose="020F0502020204030204" pitchFamily="34" charset="0"/>
              </a:rPr>
              <a:t>מדידה ותמריצים</a:t>
            </a:r>
          </a:p>
        </p:txBody>
      </p:sp>
    </p:spTree>
    <p:extLst>
      <p:ext uri="{BB962C8B-B14F-4D97-AF65-F5344CB8AC3E}">
        <p14:creationId xmlns:p14="http://schemas.microsoft.com/office/powerpoint/2010/main" val="2006852447"/>
      </p:ext>
    </p:extLst>
  </p:cSld>
  <p:clrMapOvr>
    <a:masterClrMapping/>
  </p:clrMapOvr>
</p:sld>
</file>

<file path=ppt/theme/theme1.xml><?xml version="1.0" encoding="utf-8"?>
<a:theme xmlns:a="http://schemas.openxmlformats.org/drawingml/2006/main" name="1_ערכת נושא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Showeet theme">
  <a:themeElements>
    <a:clrScheme name="Showeet">
      <a:dk1>
        <a:srgbClr val="95A5A6"/>
      </a:dk1>
      <a:lt1>
        <a:sysClr val="window" lastClr="FFFFFF"/>
      </a:lt1>
      <a:dk2>
        <a:srgbClr val="2C3E50"/>
      </a:dk2>
      <a:lt2>
        <a:srgbClr val="F2F2F2"/>
      </a:lt2>
      <a:accent1>
        <a:srgbClr val="2980B9"/>
      </a:accent1>
      <a:accent2>
        <a:srgbClr val="16A085"/>
      </a:accent2>
      <a:accent3>
        <a:srgbClr val="9BBB59"/>
      </a:accent3>
      <a:accent4>
        <a:srgbClr val="F39C12"/>
      </a:accent4>
      <a:accent5>
        <a:srgbClr val="C0392B"/>
      </a:accent5>
      <a:accent6>
        <a:srgbClr val="4B2C50"/>
      </a:accent6>
      <a:hlink>
        <a:srgbClr val="16A085"/>
      </a:hlink>
      <a:folHlink>
        <a:srgbClr val="107863"/>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2_ערכת נושא Office">
  <a:themeElements>
    <a:clrScheme name="כחול">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none" rtlCol="0">
        <a:spAutoFit/>
      </a:bodyPr>
      <a:lstStyle>
        <a:defPPr algn="r" rtl="1">
          <a:defRPr dirty="0">
            <a:latin typeface="Calibri" panose="020F0502020204030204" pitchFamily="34" charset="0"/>
            <a:cs typeface="Calibri" panose="020F0502020204030204" pitchFamily="34" charset="0"/>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Blue">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Custom 4">
      <a:majorFont>
        <a:latin typeface="Calibri"/>
        <a:ea typeface=""/>
        <a:cs typeface="Calibri"/>
      </a:majorFont>
      <a:minorFont>
        <a:latin typeface="Calibri"/>
        <a:ea typeface=""/>
        <a:cs typeface="Calibri"/>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none" rtlCol="0">
        <a:spAutoFit/>
      </a:bodyPr>
      <a:lstStyle>
        <a:defPPr algn="r" rtl="1">
          <a:defRPr dirty="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ערכת נושא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ערכת נושא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6383</TotalTime>
  <Words>3801</Words>
  <Application>Microsoft Office PowerPoint</Application>
  <PresentationFormat>מסך רחב</PresentationFormat>
  <Paragraphs>689</Paragraphs>
  <Slides>52</Slides>
  <Notes>40</Notes>
  <HiddenSlides>25</HiddenSlides>
  <MMClips>0</MMClips>
  <ScaleCrop>false</ScaleCrop>
  <HeadingPairs>
    <vt:vector size="6" baseType="variant">
      <vt:variant>
        <vt:lpstr>גופנים בשימוש</vt:lpstr>
      </vt:variant>
      <vt:variant>
        <vt:i4>23</vt:i4>
      </vt:variant>
      <vt:variant>
        <vt:lpstr>ערכת נושא</vt:lpstr>
      </vt:variant>
      <vt:variant>
        <vt:i4>5</vt:i4>
      </vt:variant>
      <vt:variant>
        <vt:lpstr>כותרות שקופיות</vt:lpstr>
      </vt:variant>
      <vt:variant>
        <vt:i4>52</vt:i4>
      </vt:variant>
    </vt:vector>
  </HeadingPairs>
  <TitlesOfParts>
    <vt:vector size="80" baseType="lpstr">
      <vt:lpstr>Abadi Extra Light</vt:lpstr>
      <vt:lpstr>Aptos</vt:lpstr>
      <vt:lpstr>Arial</vt:lpstr>
      <vt:lpstr>ArialMT</vt:lpstr>
      <vt:lpstr>Assistant</vt:lpstr>
      <vt:lpstr>Assistant ExtraBold</vt:lpstr>
      <vt:lpstr>Assistant Light</vt:lpstr>
      <vt:lpstr>Assistant SemiBold</vt:lpstr>
      <vt:lpstr>Calibri</vt:lpstr>
      <vt:lpstr>Calibri Light</vt:lpstr>
      <vt:lpstr>Calibri-Bold</vt:lpstr>
      <vt:lpstr>Gotham Book</vt:lpstr>
      <vt:lpstr>Guttman Kav</vt:lpstr>
      <vt:lpstr>Gveret Levin AlefAlefAlef</vt:lpstr>
      <vt:lpstr>Helvetica Neue</vt:lpstr>
      <vt:lpstr>Montserrat</vt:lpstr>
      <vt:lpstr>Open Sans</vt:lpstr>
      <vt:lpstr>Open Sans Hebrew</vt:lpstr>
      <vt:lpstr>Segoe UI Semilight</vt:lpstr>
      <vt:lpstr>Symbol</vt:lpstr>
      <vt:lpstr>Tahoma</vt:lpstr>
      <vt:lpstr>Varela Round</vt:lpstr>
      <vt:lpstr>Wingdings</vt:lpstr>
      <vt:lpstr>1_ערכת נושא Office</vt:lpstr>
      <vt:lpstr>Showeet theme</vt:lpstr>
      <vt:lpstr>2_ערכת נושא Office</vt:lpstr>
      <vt:lpstr>Office Theme</vt:lpstr>
      <vt:lpstr>ערכת נושא Office</vt:lpstr>
      <vt:lpstr>מצגת של PowerPoint‏</vt:lpstr>
      <vt:lpstr>מצגת של PowerPoint‏</vt:lpstr>
      <vt:lpstr>מצגת של PowerPoint‏</vt:lpstr>
      <vt:lpstr>מצגת של PowerPoint‏</vt:lpstr>
      <vt:lpstr>מצגת של PowerPoint‏</vt:lpstr>
      <vt:lpstr>הפיצול בסיעוד</vt:lpstr>
      <vt:lpstr>מספר ושיעור זכאי גמלת סיעוד לפי שנים </vt:lpstr>
      <vt:lpstr>מצגת של PowerPoint‏</vt:lpstr>
      <vt:lpstr>מצגת של PowerPoint‏</vt:lpstr>
      <vt:lpstr>השפעות רפורמת 2018</vt:lpstr>
      <vt:lpstr>מצגת של PowerPoint‏</vt:lpstr>
      <vt:lpstr>מצגת של PowerPoint‏</vt:lpstr>
      <vt:lpstr>מצגת של PowerPoint‏</vt:lpstr>
      <vt:lpstr>מצגת של PowerPoint‏</vt:lpstr>
      <vt:lpstr>אחוז זקנים המקבלים סיעוד בעולם 2018</vt:lpstr>
      <vt:lpstr>בריאות – שנות חיים בריאים בגיל 65  - נשים המדד המוצע: אחוז השנים הבריאות בגיל 65</vt:lpstr>
      <vt:lpstr>בריאות –תפקוד IADL</vt:lpstr>
      <vt:lpstr>בעיות עיקריות בחוק סיעוד 2024: </vt:lpstr>
      <vt:lpstr>בעיות עיקריות בחוק סיעוד 2024: </vt:lpstr>
      <vt:lpstr>המלצות ועדה בין משרדית  למניעת הדרדרות תפקודית (דו"ח קידר) 9.2022</vt:lpstr>
      <vt:lpstr>ועדה בין משרדית וחוק ההסדרים</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ROI במניעה לפי רמות סיעוד</vt:lpstr>
      <vt:lpstr>מצגת של PowerPoint‏</vt:lpstr>
      <vt:lpstr>מצגת של PowerPoint‏</vt:lpstr>
      <vt:lpstr>מצגת של PowerPoint‏</vt:lpstr>
      <vt:lpstr>מצגת של PowerPoint‏</vt:lpstr>
      <vt:lpstr>אחוז המרה לפי שירותים 2024</vt:lpstr>
      <vt:lpstr>בריאות –תפקוד ADL</vt:lpstr>
      <vt:lpstr>בריאות –תפקוד IADL</vt:lpstr>
      <vt:lpstr>מצגת של PowerPoint‏</vt:lpstr>
      <vt:lpstr>מצגת של PowerPoint‏</vt:lpstr>
      <vt:lpstr>נתונים- קהילה תומכת היום:</vt:lpstr>
      <vt:lpstr>מצגת של PowerPoint‏</vt:lpstr>
      <vt:lpstr>קהילה תומכת כשירות בסיס לכולם (MVP ברמה 1-2)</vt:lpstr>
      <vt:lpstr>מצגת של PowerPoint‏</vt:lpstr>
      <vt:lpstr>מצגת של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אביעד יצחק</dc:creator>
  <cp:lastModifiedBy>אביעד יצחק</cp:lastModifiedBy>
  <cp:revision>8</cp:revision>
  <dcterms:created xsi:type="dcterms:W3CDTF">2024-09-19T16:15:12Z</dcterms:created>
  <dcterms:modified xsi:type="dcterms:W3CDTF">2024-09-24T21:56:31Z</dcterms:modified>
</cp:coreProperties>
</file>