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Lst>
  <p:notesMasterIdLst>
    <p:notesMasterId r:id="rId34"/>
  </p:notesMasterIdLst>
  <p:handoutMasterIdLst>
    <p:handoutMasterId r:id="rId35"/>
  </p:handoutMasterIdLst>
  <p:sldIdLst>
    <p:sldId id="284" r:id="rId5"/>
    <p:sldId id="331" r:id="rId6"/>
    <p:sldId id="345" r:id="rId7"/>
    <p:sldId id="336" r:id="rId8"/>
    <p:sldId id="338" r:id="rId9"/>
    <p:sldId id="337" r:id="rId10"/>
    <p:sldId id="339" r:id="rId11"/>
    <p:sldId id="341" r:id="rId12"/>
    <p:sldId id="317" r:id="rId13"/>
    <p:sldId id="309" r:id="rId14"/>
    <p:sldId id="310" r:id="rId15"/>
    <p:sldId id="346" r:id="rId16"/>
    <p:sldId id="299" r:id="rId17"/>
    <p:sldId id="301" r:id="rId18"/>
    <p:sldId id="288" r:id="rId19"/>
    <p:sldId id="289" r:id="rId20"/>
    <p:sldId id="298" r:id="rId21"/>
    <p:sldId id="318" r:id="rId22"/>
    <p:sldId id="342" r:id="rId23"/>
    <p:sldId id="335" r:id="rId24"/>
    <p:sldId id="322" r:id="rId25"/>
    <p:sldId id="323" r:id="rId26"/>
    <p:sldId id="324" r:id="rId27"/>
    <p:sldId id="325" r:id="rId28"/>
    <p:sldId id="326" r:id="rId29"/>
    <p:sldId id="327" r:id="rId30"/>
    <p:sldId id="328" r:id="rId31"/>
    <p:sldId id="329" r:id="rId32"/>
    <p:sldId id="330" r:id="rId3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AD4"/>
    <a:srgbClr val="5B9BD5"/>
    <a:srgbClr val="E6E6E6"/>
    <a:srgbClr val="527FC4"/>
    <a:srgbClr val="D8B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732" autoAdjust="0"/>
    <p:restoredTop sz="94660"/>
  </p:normalViewPr>
  <p:slideViewPr>
    <p:cSldViewPr snapToGrid="0">
      <p:cViewPr varScale="1">
        <p:scale>
          <a:sx n="102" d="100"/>
          <a:sy n="102" d="100"/>
        </p:scale>
        <p:origin x="114" y="402"/>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spPr>
            <a:solidFill>
              <a:schemeClr val="bg1">
                <a:lumMod val="65000"/>
              </a:schemeClr>
            </a:solidFill>
            <a:ln w="3175">
              <a:solidFill>
                <a:schemeClr val="bg1">
                  <a:lumMod val="95000"/>
                </a:schemeClr>
              </a:solidFill>
            </a:ln>
          </c:spPr>
          <c:dPt>
            <c:idx val="0"/>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1-07A5-48C1-B1A3-3872345185E7}"/>
              </c:ext>
            </c:extLst>
          </c:dPt>
          <c:dPt>
            <c:idx val="1"/>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3-07A5-48C1-B1A3-3872345185E7}"/>
              </c:ext>
            </c:extLst>
          </c:dPt>
          <c:dPt>
            <c:idx val="2"/>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5-07A5-48C1-B1A3-3872345185E7}"/>
              </c:ext>
            </c:extLst>
          </c:dPt>
          <c:dPt>
            <c:idx val="3"/>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7-07A5-48C1-B1A3-3872345185E7}"/>
              </c:ext>
            </c:extLst>
          </c:dPt>
          <c:dPt>
            <c:idx val="4"/>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9-07A5-48C1-B1A3-3872345185E7}"/>
              </c:ext>
            </c:extLst>
          </c:dPt>
          <c:dPt>
            <c:idx val="5"/>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B-07A5-48C1-B1A3-3872345185E7}"/>
              </c:ext>
            </c:extLst>
          </c:dPt>
          <c:dPt>
            <c:idx val="6"/>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D-07A5-48C1-B1A3-3872345185E7}"/>
              </c:ext>
            </c:extLst>
          </c:dPt>
          <c:dPt>
            <c:idx val="7"/>
            <c:bubble3D val="0"/>
            <c:spPr>
              <a:solidFill>
                <a:srgbClr val="FF0000"/>
              </a:solidFill>
              <a:ln w="3175">
                <a:solidFill>
                  <a:srgbClr val="FF0000"/>
                </a:solidFill>
              </a:ln>
              <a:effectLst/>
            </c:spPr>
            <c:extLst>
              <c:ext xmlns:c16="http://schemas.microsoft.com/office/drawing/2014/chart" uri="{C3380CC4-5D6E-409C-BE32-E72D297353CC}">
                <c16:uniqueId val="{0000000F-07A5-48C1-B1A3-3872345185E7}"/>
              </c:ext>
            </c:extLst>
          </c:dPt>
          <c:dPt>
            <c:idx val="8"/>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1-07A5-48C1-B1A3-3872345185E7}"/>
              </c:ext>
            </c:extLst>
          </c:dPt>
          <c:dPt>
            <c:idx val="9"/>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3-07A5-48C1-B1A3-3872345185E7}"/>
              </c:ext>
            </c:extLst>
          </c:dPt>
          <c:dPt>
            <c:idx val="10"/>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5-07A5-48C1-B1A3-3872345185E7}"/>
              </c:ext>
            </c:extLst>
          </c:dPt>
          <c:dPt>
            <c:idx val="11"/>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7-07A5-48C1-B1A3-3872345185E7}"/>
              </c:ext>
            </c:extLst>
          </c:dPt>
          <c:dPt>
            <c:idx val="12"/>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9-07A5-48C1-B1A3-3872345185E7}"/>
              </c:ext>
            </c:extLst>
          </c:dPt>
          <c:dPt>
            <c:idx val="13"/>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B-07A5-48C1-B1A3-3872345185E7}"/>
              </c:ext>
            </c:extLst>
          </c:dPt>
          <c:dPt>
            <c:idx val="14"/>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D-07A5-48C1-B1A3-3872345185E7}"/>
              </c:ext>
            </c:extLst>
          </c:dPt>
          <c:dPt>
            <c:idx val="15"/>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F-07A5-48C1-B1A3-3872345185E7}"/>
              </c:ext>
            </c:extLst>
          </c:dPt>
          <c:dLbls>
            <c:dLbl>
              <c:idx val="1"/>
              <c:layout/>
              <c:tx>
                <c:rich>
                  <a:bodyPr/>
                  <a:lstStyle/>
                  <a:p>
                    <a:fld id="{32E26173-42DE-4F16-BC6F-D1EA84ED6762}" type="CATEGORYNAME">
                      <a:rPr lang="he-IL"/>
                      <a:pPr/>
                      <a:t>[שם קטגוריה]</a:t>
                    </a:fld>
                    <a:r>
                      <a:rPr lang="he-IL"/>
                      <a:t>, </a:t>
                    </a:r>
                    <a:fld id="{5323395A-D5B4-471D-B3DD-E8DD1A3506ED}" type="VALUE">
                      <a:rPr lang="he-IL"/>
                      <a:pPr/>
                      <a:t>[ערך]</a:t>
                    </a:fld>
                    <a:r>
                      <a:rPr lang="he-IL"/>
                      <a:t>/9.5</a:t>
                    </a:r>
                  </a:p>
                </c:rich>
              </c:tx>
              <c:showLegendKey val="0"/>
              <c:showVal val="1"/>
              <c:showCatName val="1"/>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07A5-48C1-B1A3-3872345185E7}"/>
                </c:ext>
              </c:extLst>
            </c:dLbl>
            <c:dLbl>
              <c:idx val="3"/>
              <c:layout/>
              <c:tx>
                <c:rich>
                  <a:bodyPr/>
                  <a:lstStyle/>
                  <a:p>
                    <a:fld id="{185CD460-8D22-4B38-83E1-CCA1803CBE79}" type="CATEGORYNAME">
                      <a:rPr lang="he-IL"/>
                      <a:pPr/>
                      <a:t>[שם קטגוריה]</a:t>
                    </a:fld>
                    <a:r>
                      <a:rPr lang="he-IL"/>
                      <a:t> </a:t>
                    </a:r>
                    <a:fld id="{095DCECD-DB69-4EB5-9444-F1F6AD412F4D}" type="VALUE">
                      <a:rPr lang="he-IL"/>
                      <a:pPr/>
                      <a:t>[ערך]</a:t>
                    </a:fld>
                    <a:endParaRPr lang="he-IL"/>
                  </a:p>
                </c:rich>
              </c:tx>
              <c:showLegendKey val="0"/>
              <c:showVal val="1"/>
              <c:showCatName val="1"/>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7-07A5-48C1-B1A3-3872345185E7}"/>
                </c:ext>
              </c:extLst>
            </c:dLbl>
            <c:dLbl>
              <c:idx val="6"/>
              <c:layout>
                <c:manualLayout>
                  <c:x val="6.1820553320125531E-2"/>
                  <c:y val="3.2456355641642759E-2"/>
                </c:manualLayout>
              </c:layout>
              <c:showLegendKey val="0"/>
              <c:showVal val="1"/>
              <c:showCatName val="1"/>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D-07A5-48C1-B1A3-3872345185E7}"/>
                </c:ext>
              </c:extLst>
            </c:dLbl>
            <c:dLbl>
              <c:idx val="7"/>
              <c:layout>
                <c:manualLayout>
                  <c:x val="-0.12190600579908416"/>
                  <c:y val="-1.9195028918971694E-4"/>
                </c:manualLayout>
              </c:layout>
              <c:tx>
                <c:rich>
                  <a:bodyPr/>
                  <a:lstStyle/>
                  <a:p>
                    <a:r>
                      <a:rPr lang="he-IL" sz="1400" b="1" dirty="0" err="1"/>
                      <a:t>מינהל</a:t>
                    </a:r>
                    <a:r>
                      <a:rPr lang="he-IL" sz="1400" b="1" dirty="0"/>
                      <a:t> אזרחים ותיקים ברווחה </a:t>
                    </a:r>
                    <a:fld id="{70634F7F-49C0-43A3-B9DD-21273F20D5E0}" type="VALUE">
                      <a:rPr lang="he-IL" sz="1400" b="1"/>
                      <a:pPr/>
                      <a:t>[ערך]</a:t>
                    </a:fld>
                    <a:endParaRPr lang="he-IL" sz="1400" b="1" dirty="0"/>
                  </a:p>
                </c:rich>
              </c:tx>
              <c:showLegendKey val="0"/>
              <c:showVal val="1"/>
              <c:showCatName val="1"/>
              <c:showSerName val="0"/>
              <c:showPercent val="0"/>
              <c:showBubbleSize val="0"/>
              <c:extLst>
                <c:ext xmlns:c15="http://schemas.microsoft.com/office/drawing/2012/chart" uri="{CE6537A1-D6FC-4f65-9D91-7224C49458BB}">
                  <c15:layout>
                    <c:manualLayout>
                      <c:w val="0.36948236461099354"/>
                      <c:h val="8.626884110649348E-2"/>
                    </c:manualLayout>
                  </c15:layout>
                  <c15:dlblFieldTable/>
                  <c15:showDataLabelsRange val="0"/>
                </c:ext>
                <c:ext xmlns:c16="http://schemas.microsoft.com/office/drawing/2014/chart" uri="{C3380CC4-5D6E-409C-BE32-E72D297353CC}">
                  <c16:uniqueId val="{0000000F-07A5-48C1-B1A3-3872345185E7}"/>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B-07A5-48C1-B1A3-3872345185E7}"/>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D-07A5-48C1-B1A3-3872345185E7}"/>
                </c:ext>
              </c:extLst>
            </c:dLbl>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07A5-48C1-B1A3-3872345185E7}"/>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00">
          <a:solidFill>
            <a:schemeClr val="tx1"/>
          </a:solidFill>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a:t>
            </a:r>
            <a:r>
              <a:rPr lang="he-IL" baseline="0" dirty="0" smtClean="0"/>
              <a:t>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9-FE80-4CD3-977E-2EBB2AD43250}"/>
                </c:ext>
              </c:extLst>
            </c:dLbl>
            <c:dLbl>
              <c:idx val="30"/>
              <c:layout>
                <c:manualLayout>
                  <c:x val="-3.0330976607117626E-2"/>
                  <c:y val="-8.8064398440704614E-2"/>
                </c:manualLayout>
              </c:layout>
              <c:tx>
                <c:rich>
                  <a:bodyPr/>
                  <a:lstStyle/>
                  <a:p>
                    <a:r>
                      <a:rPr lang="en-US" sz="1400" b="1" dirty="0" smtClean="0">
                        <a:solidFill>
                          <a:schemeClr val="tx1"/>
                        </a:solidFill>
                      </a:rPr>
                      <a:t>30.5%</a:t>
                    </a:r>
                    <a:endParaRPr lang="en-US" sz="1400" b="1" dirty="0">
                      <a:solidFill>
                        <a:schemeClr val="tx1"/>
                      </a:solidFill>
                    </a:endParaRPr>
                  </a:p>
                </c:rich>
              </c:tx>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1"/>
                </a:solidFill>
              </a:rPr>
              <a:t>מספר זכאי גמלת סיעוד</a:t>
            </a:r>
            <a:r>
              <a:rPr lang="he-IL" baseline="0" dirty="0"/>
              <a:t> גדל פי 10</a:t>
            </a:r>
            <a:endParaRPr lang="en-US" dirty="0"/>
          </a:p>
        </c:rich>
      </c:tx>
      <c:layout>
        <c:manualLayout>
          <c:xMode val="edge"/>
          <c:yMode val="edge"/>
          <c:x val="0.29631153846153846"/>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8CDA-4CBE-BDCD-1F0E1D452D11}"/>
                </c:ext>
              </c:extLst>
            </c:dLbl>
            <c:dLbl>
              <c:idx val="32"/>
              <c:layout>
                <c:manualLayout>
                  <c:x val="0"/>
                  <c:y val="-0.14252758974609289"/>
                </c:manualLayout>
              </c:layout>
              <c:tx>
                <c:rich>
                  <a:bodyPr/>
                  <a:lstStyle/>
                  <a:p>
                    <a:r>
                      <a:rPr lang="en-US" sz="1400" b="1" dirty="0" smtClean="0"/>
                      <a:t>350,000</a:t>
                    </a:r>
                    <a:endParaRPr lang="en-US" sz="1400" b="1" dirty="0"/>
                  </a:p>
                </c:rich>
              </c:tx>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208814386355678E-2"/>
          <c:y val="0.1791523482245132"/>
          <c:w val="0.95714633881110689"/>
          <c:h val="0.57902246755238074"/>
        </c:manualLayout>
      </c:layout>
      <c:barChart>
        <c:barDir val="col"/>
        <c:grouping val="clustered"/>
        <c:varyColors val="0"/>
        <c:ser>
          <c:idx val="0"/>
          <c:order val="0"/>
          <c:tx>
            <c:strRef>
              <c:f>'[(43146) השוואת נתוני תקציב גמלאות ומרכזי יום.xlsx]שינוים בתקציב'!$D$25</c:f>
              <c:strCache>
                <c:ptCount val="1"/>
                <c:pt idx="0">
                  <c:v>2018</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בתקציב'!$D$26:$D$30</c:f>
              <c:numCache>
                <c:formatCode>0.00</c:formatCode>
                <c:ptCount val="5"/>
                <c:pt idx="0">
                  <c:v>6.6909999999999989</c:v>
                </c:pt>
                <c:pt idx="1">
                  <c:v>0.16900000000000001</c:v>
                </c:pt>
                <c:pt idx="2">
                  <c:v>4.4829999999999997</c:v>
                </c:pt>
                <c:pt idx="3">
                  <c:v>1.6919999999999999</c:v>
                </c:pt>
                <c:pt idx="4">
                  <c:v>0.24399999999999999</c:v>
                </c:pt>
              </c:numCache>
            </c:numRef>
          </c:val>
          <c:extLst>
            <c:ext xmlns:c16="http://schemas.microsoft.com/office/drawing/2014/chart" uri="{C3380CC4-5D6E-409C-BE32-E72D297353CC}">
              <c16:uniqueId val="{00000000-5E06-4D41-B6B0-3A85270AEC3B}"/>
            </c:ext>
          </c:extLst>
        </c:ser>
        <c:ser>
          <c:idx val="1"/>
          <c:order val="1"/>
          <c:tx>
            <c:strRef>
              <c:f>'[(43146) השוואת נתוני תקציב גמלאות ומרכזי יום.xlsx]שינוים בתקציב'!$E$25</c:f>
              <c:strCache>
                <c:ptCount val="1"/>
                <c:pt idx="0">
                  <c:v>2022</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בתקציב'!$E$26:$E$30</c:f>
              <c:numCache>
                <c:formatCode>0.00</c:formatCode>
                <c:ptCount val="5"/>
                <c:pt idx="0">
                  <c:v>13.403</c:v>
                </c:pt>
                <c:pt idx="1">
                  <c:v>3.173</c:v>
                </c:pt>
                <c:pt idx="2">
                  <c:v>7.8159999999999998</c:v>
                </c:pt>
                <c:pt idx="3">
                  <c:v>2.0539999999999998</c:v>
                </c:pt>
                <c:pt idx="4">
                  <c:v>0.23100000000000001</c:v>
                </c:pt>
              </c:numCache>
            </c:numRef>
          </c:val>
          <c:extLst>
            <c:ext xmlns:c16="http://schemas.microsoft.com/office/drawing/2014/chart" uri="{C3380CC4-5D6E-409C-BE32-E72D297353CC}">
              <c16:uniqueId val="{00000001-5E06-4D41-B6B0-3A85270AEC3B}"/>
            </c:ext>
          </c:extLst>
        </c:ser>
        <c:dLbls>
          <c:dLblPos val="outEnd"/>
          <c:showLegendKey val="0"/>
          <c:showVal val="1"/>
          <c:showCatName val="0"/>
          <c:showSerName val="0"/>
          <c:showPercent val="0"/>
          <c:showBubbleSize val="0"/>
        </c:dLbls>
        <c:gapWidth val="219"/>
        <c:overlap val="-27"/>
        <c:axId val="843705488"/>
        <c:axId val="843708112"/>
      </c:barChart>
      <c:catAx>
        <c:axId val="843705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843708112"/>
        <c:crosses val="autoZero"/>
        <c:auto val="1"/>
        <c:lblAlgn val="ctr"/>
        <c:lblOffset val="100"/>
        <c:noMultiLvlLbl val="0"/>
      </c:catAx>
      <c:valAx>
        <c:axId val="843708112"/>
        <c:scaling>
          <c:orientation val="minMax"/>
        </c:scaling>
        <c:delete val="1"/>
        <c:axPos val="l"/>
        <c:numFmt formatCode="0.00" sourceLinked="1"/>
        <c:majorTickMark val="none"/>
        <c:minorTickMark val="none"/>
        <c:tickLblPos val="nextTo"/>
        <c:crossAx val="8437054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legend>
    <c:plotVisOnly val="1"/>
    <c:dispBlanksAs val="gap"/>
    <c:showDLblsOverMax val="0"/>
  </c:chart>
  <c:spPr>
    <a:solidFill>
      <a:schemeClr val="bg1"/>
    </a:solidFill>
    <a:ln w="9525" cap="flat" cmpd="sng" algn="ctr">
      <a:noFill/>
      <a:round/>
    </a:ln>
    <a:effectLst/>
  </c:spPr>
  <c:txPr>
    <a:bodyPr/>
    <a:lstStyle/>
    <a:p>
      <a:pPr>
        <a:defRPr sz="1100">
          <a:latin typeface="Calibri" panose="020F0502020204030204" pitchFamily="34" charset="0"/>
          <a:cs typeface="Calibri" panose="020F0502020204030204" pitchFamily="34" charset="0"/>
        </a:defRPr>
      </a:pPr>
      <a:endParaRPr lang="he-IL"/>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160" dirty="0"/>
              <a:t>חלוקת תקציב 2018</a:t>
            </a:r>
          </a:p>
        </c:rich>
      </c:tx>
      <c:layout>
        <c:manualLayout>
          <c:xMode val="edge"/>
          <c:yMode val="edge"/>
          <c:x val="0.33799794219781171"/>
          <c:y val="9.6516457402284178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ser>
          <c:idx val="0"/>
          <c:order val="0"/>
          <c:tx>
            <c:strRef>
              <c:f>'שינוים בתקציב'!$C$72</c:f>
              <c:strCache>
                <c:ptCount val="1"/>
                <c:pt idx="0">
                  <c:v>סה"כ</c:v>
                </c:pt>
              </c:strCache>
            </c:strRef>
          </c:tx>
          <c:dPt>
            <c:idx val="0"/>
            <c:bubble3D val="0"/>
            <c:spPr>
              <a:solidFill>
                <a:schemeClr val="accent5">
                  <a:tint val="58000"/>
                </a:schemeClr>
              </a:solidFill>
              <a:ln w="19050">
                <a:solidFill>
                  <a:schemeClr val="lt1"/>
                </a:solidFill>
              </a:ln>
              <a:effectLst/>
            </c:spPr>
            <c:extLst>
              <c:ext xmlns:c16="http://schemas.microsoft.com/office/drawing/2014/chart" uri="{C3380CC4-5D6E-409C-BE32-E72D297353CC}">
                <c16:uniqueId val="{00000001-1771-4D95-ADCD-08FC320FD681}"/>
              </c:ext>
            </c:extLst>
          </c:dPt>
          <c:dPt>
            <c:idx val="1"/>
            <c:bubble3D val="0"/>
            <c:spPr>
              <a:solidFill>
                <a:schemeClr val="accent5">
                  <a:tint val="86000"/>
                </a:schemeClr>
              </a:solidFill>
              <a:ln w="19050">
                <a:solidFill>
                  <a:schemeClr val="lt1"/>
                </a:solidFill>
              </a:ln>
              <a:effectLst/>
            </c:spPr>
            <c:extLst>
              <c:ext xmlns:c16="http://schemas.microsoft.com/office/drawing/2014/chart" uri="{C3380CC4-5D6E-409C-BE32-E72D297353CC}">
                <c16:uniqueId val="{00000003-1771-4D95-ADCD-08FC320FD681}"/>
              </c:ext>
            </c:extLst>
          </c:dPt>
          <c:dPt>
            <c:idx val="2"/>
            <c:bubble3D val="0"/>
            <c:spPr>
              <a:solidFill>
                <a:schemeClr val="accent5">
                  <a:shade val="86000"/>
                </a:schemeClr>
              </a:solidFill>
              <a:ln w="19050">
                <a:solidFill>
                  <a:schemeClr val="lt1"/>
                </a:solidFill>
              </a:ln>
              <a:effectLst/>
            </c:spPr>
            <c:extLst>
              <c:ext xmlns:c16="http://schemas.microsoft.com/office/drawing/2014/chart" uri="{C3380CC4-5D6E-409C-BE32-E72D297353CC}">
                <c16:uniqueId val="{00000005-1771-4D95-ADCD-08FC320FD681}"/>
              </c:ext>
            </c:extLst>
          </c:dPt>
          <c:dPt>
            <c:idx val="3"/>
            <c:bubble3D val="0"/>
            <c:spPr>
              <a:solidFill>
                <a:schemeClr val="accent5">
                  <a:shade val="58000"/>
                </a:schemeClr>
              </a:solidFill>
              <a:ln w="19050">
                <a:solidFill>
                  <a:schemeClr val="lt1"/>
                </a:solidFill>
              </a:ln>
              <a:effectLst/>
            </c:spPr>
            <c:extLst>
              <c:ext xmlns:c16="http://schemas.microsoft.com/office/drawing/2014/chart" uri="{C3380CC4-5D6E-409C-BE32-E72D297353CC}">
                <c16:uniqueId val="{00000007-1771-4D95-ADCD-08FC320FD681}"/>
              </c:ext>
            </c:extLst>
          </c:dPt>
          <c:dLbls>
            <c:dLbl>
              <c:idx val="0"/>
              <c:layout>
                <c:manualLayout>
                  <c:x val="0.1636758530183727"/>
                  <c:y val="-1.488578778087807E-2"/>
                </c:manualLayout>
              </c:layout>
              <c:dLblPos val="bestFi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1771-4D95-ADCD-08FC320FD681}"/>
                </c:ext>
              </c:extLst>
            </c:dLbl>
            <c:dLbl>
              <c:idx val="1"/>
              <c:layout>
                <c:manualLayout>
                  <c:x val="1.5891127334561446E-2"/>
                  <c:y val="-0.18324519401291056"/>
                </c:manualLayout>
              </c:layout>
              <c:tx>
                <c:rich>
                  <a:bodyPr/>
                  <a:lstStyle/>
                  <a:p>
                    <a:fld id="{83A24EE1-F114-4F3C-98A0-6EF2DC18E43C}" type="CATEGORYNAME">
                      <a:rPr lang="he-IL">
                        <a:solidFill>
                          <a:schemeClr val="bg1"/>
                        </a:solidFill>
                      </a:rPr>
                      <a:pPr/>
                      <a:t>[שם קטגוריה]</a:t>
                    </a:fld>
                    <a:r>
                      <a:rPr lang="he-IL" baseline="0" dirty="0">
                        <a:solidFill>
                          <a:schemeClr val="bg1"/>
                        </a:solidFill>
                      </a:rPr>
                      <a:t>
</a:t>
                    </a:r>
                    <a:fld id="{882E3BF4-9801-4370-85D4-D1EC6724A602}" type="PERCENTAGE">
                      <a:rPr lang="he-IL" baseline="0">
                        <a:solidFill>
                          <a:schemeClr val="bg1"/>
                        </a:solidFill>
                      </a:rPr>
                      <a:pPr/>
                      <a:t>[אחוז]</a:t>
                    </a:fld>
                    <a:endParaRPr lang="he-IL" baseline="0" dirty="0">
                      <a:solidFill>
                        <a:schemeClr val="bg1"/>
                      </a:solidFill>
                    </a:endParaRPr>
                  </a:p>
                </c:rich>
              </c:tx>
              <c:dLblPos val="bestFit"/>
              <c:showLegendKey val="0"/>
              <c:showVal val="0"/>
              <c:showCatName val="1"/>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1771-4D95-ADCD-08FC320FD681}"/>
                </c:ext>
              </c:extLst>
            </c:dLbl>
            <c:dLbl>
              <c:idx val="2"/>
              <c:layout>
                <c:manualLayout>
                  <c:x val="-0.15997692475940509"/>
                  <c:y val="-8.1485707709278883E-3"/>
                </c:manualLayout>
              </c:layout>
              <c:dLblPos val="bestFi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5-1771-4D95-ADCD-08FC320FD681}"/>
                </c:ext>
              </c:extLst>
            </c:dLbl>
            <c:dLbl>
              <c:idx val="3"/>
              <c:layout>
                <c:manualLayout>
                  <c:x val="1.1760936132983377E-2"/>
                  <c:y val="-3.2639277445642524E-2"/>
                </c:manualLayout>
              </c:layout>
              <c:dLblPos val="bestFi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7-1771-4D95-ADCD-08FC320FD681}"/>
                </c:ext>
              </c:extLst>
            </c:dLbl>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'שינוים בתקציב'!$B$73:$B$76</c:f>
              <c:strCache>
                <c:ptCount val="4"/>
                <c:pt idx="0">
                  <c:v>גמלאות בכסף</c:v>
                </c:pt>
                <c:pt idx="1">
                  <c:v>טיפול אישי בבית</c:v>
                </c:pt>
                <c:pt idx="2">
                  <c:v>מרכזי יום</c:v>
                </c:pt>
                <c:pt idx="3">
                  <c:v>שירותים אחרים</c:v>
                </c:pt>
              </c:strCache>
            </c:strRef>
          </c:cat>
          <c:val>
            <c:numRef>
              <c:f>'שינוים בתקציב'!$C$73:$C$76</c:f>
              <c:numCache>
                <c:formatCode>0.00</c:formatCode>
                <c:ptCount val="4"/>
                <c:pt idx="0">
                  <c:v>0.16900000000000001</c:v>
                </c:pt>
                <c:pt idx="1">
                  <c:v>6.1749999999999998</c:v>
                </c:pt>
                <c:pt idx="2">
                  <c:v>0.24399999999999999</c:v>
                </c:pt>
                <c:pt idx="3">
                  <c:v>0.10299999999999999</c:v>
                </c:pt>
              </c:numCache>
            </c:numRef>
          </c:val>
          <c:extLst>
            <c:ext xmlns:c16="http://schemas.microsoft.com/office/drawing/2014/chart" uri="{C3380CC4-5D6E-409C-BE32-E72D297353CC}">
              <c16:uniqueId val="{00000008-1771-4D95-ADCD-08FC320FD681}"/>
            </c:ext>
          </c:extLst>
        </c:ser>
        <c:dLbls>
          <c:dLblPos val="bestFit"/>
          <c:showLegendKey val="0"/>
          <c:showVal val="1"/>
          <c:showCatName val="0"/>
          <c:showSerName val="0"/>
          <c:showPercent val="0"/>
          <c:showBubbleSize val="0"/>
          <c:showLeaderLines val="1"/>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he-IL"/>
              <a:t>חלוקת תקציב 2023</a:t>
            </a:r>
          </a:p>
        </c:rich>
      </c:tx>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pieChart>
        <c:varyColors val="1"/>
        <c:ser>
          <c:idx val="0"/>
          <c:order val="0"/>
          <c:tx>
            <c:strRef>
              <c:f>גיליון1!$J$8</c:f>
              <c:strCache>
                <c:ptCount val="1"/>
                <c:pt idx="0">
                  <c:v>תקציב סיעוד 2023</c:v>
                </c:pt>
              </c:strCache>
            </c:strRef>
          </c:tx>
          <c:explosion val="2"/>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1AA0-4242-BC95-54DEFE78882A}"/>
              </c:ext>
            </c:extLst>
          </c:dPt>
          <c:dLbls>
            <c:dLbl>
              <c:idx val="1"/>
              <c:layout/>
              <c:tx>
                <c:rich>
                  <a:bodyPr/>
                  <a:lstStyle/>
                  <a:p>
                    <a:r>
                      <a:rPr lang="he-IL" dirty="0" smtClean="0"/>
                      <a:t>בן משפחה</a:t>
                    </a:r>
                    <a:r>
                      <a:rPr lang="he-IL" baseline="0" dirty="0" smtClean="0"/>
                      <a:t> מטפל בשכר</a:t>
                    </a:r>
                    <a:r>
                      <a:rPr lang="he-IL" baseline="0" dirty="0"/>
                      <a:t>
</a:t>
                    </a:r>
                    <a:fld id="{0A2454EA-A7A5-4F43-BCB6-1EA1D704DF38}" type="PERCENTAGE">
                      <a:rPr lang="he-IL" baseline="0"/>
                      <a:pPr/>
                      <a:t>[אחוז]</a:t>
                    </a:fld>
                    <a:endParaRPr lang="he-IL" baseline="0" dirty="0"/>
                  </a:p>
                </c:rich>
              </c:tx>
              <c:dLblPos val="bestFit"/>
              <c:showLegendKey val="0"/>
              <c:showVal val="0"/>
              <c:showCatName val="1"/>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1AA0-4242-BC95-54DEFE78882A}"/>
                </c:ext>
              </c:extLst>
            </c:dLbl>
            <c:dLbl>
              <c:idx val="3"/>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6="http://schemas.microsoft.com/office/drawing/2014/chart" uri="{C3380CC4-5D6E-409C-BE32-E72D297353CC}">
                  <c16:uniqueId val="{00000007-1AA0-4242-BC95-54DEFE78882A}"/>
                </c:ext>
              </c:extLst>
            </c:dLbl>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גיליון1!$J$9:$J$13</c:f>
              <c:numCache>
                <c:formatCode>#,##0</c:formatCode>
                <c:ptCount val="5"/>
                <c:pt idx="0">
                  <c:v>3700000</c:v>
                </c:pt>
                <c:pt idx="1">
                  <c:v>5000000</c:v>
                </c:pt>
                <c:pt idx="2">
                  <c:v>5000000</c:v>
                </c:pt>
                <c:pt idx="3">
                  <c:v>300000</c:v>
                </c:pt>
                <c:pt idx="4">
                  <c:v>140000</c:v>
                </c:pt>
              </c:numCache>
            </c:numRef>
          </c:val>
          <c:extLst>
            <c:ext xmlns:c16="http://schemas.microsoft.com/office/drawing/2014/chart" uri="{C3380CC4-5D6E-409C-BE32-E72D297353CC}">
              <c16:uniqueId val="{0000000A-1AA0-4242-BC95-54DEFE78882A}"/>
            </c:ext>
          </c:extLst>
        </c:ser>
        <c:ser>
          <c:idx val="1"/>
          <c:order val="1"/>
          <c:tx>
            <c:strRef>
              <c:f>גיליון1!$K$8</c:f>
              <c:strCache>
                <c:ptCount val="1"/>
                <c:pt idx="0">
                  <c:v>האחוז</c:v>
                </c:pt>
              </c:strCache>
            </c:strRef>
          </c:tx>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C-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E-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0-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2-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4-1AA0-4242-BC95-54DEFE78882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גיליון1!$K$9:$K$13</c:f>
              <c:numCache>
                <c:formatCode>0%</c:formatCode>
                <c:ptCount val="5"/>
                <c:pt idx="0">
                  <c:v>0.26166902404526166</c:v>
                </c:pt>
                <c:pt idx="1">
                  <c:v>0.3536067892503536</c:v>
                </c:pt>
                <c:pt idx="2">
                  <c:v>0.3536067892503536</c:v>
                </c:pt>
                <c:pt idx="3">
                  <c:v>2.1216407355021217E-2</c:v>
                </c:pt>
                <c:pt idx="4">
                  <c:v>9.9009900990099011E-3</c:v>
                </c:pt>
              </c:numCache>
            </c:numRef>
          </c:val>
          <c:extLst>
            <c:ext xmlns:c16="http://schemas.microsoft.com/office/drawing/2014/chart" uri="{C3380CC4-5D6E-409C-BE32-E72D297353CC}">
              <c16:uniqueId val="{00000015-1AA0-4242-BC95-54DEFE78882A}"/>
            </c:ext>
          </c:extLst>
        </c:ser>
        <c:dLbls>
          <c:dLblPos val="bestFit"/>
          <c:showLegendKey val="0"/>
          <c:showVal val="1"/>
          <c:showCatName val="0"/>
          <c:showSerName val="0"/>
          <c:showPercent val="0"/>
          <c:showBubbleSize val="0"/>
          <c:showLeaderLines val="1"/>
        </c:dLbls>
        <c:firstSliceAng val="36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5">
  <a:schemeClr val="accent5"/>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14.png"/></Relationships>
</file>

<file path=ppt/drawings/drawing1.xml><?xml version="1.0" encoding="utf-8"?>
<c:userShapes xmlns:c="http://schemas.openxmlformats.org/drawingml/2006/chart">
  <cdr:relSizeAnchor xmlns:cdr="http://schemas.openxmlformats.org/drawingml/2006/chartDrawing">
    <cdr:from>
      <cdr:x>0.68076</cdr:x>
      <cdr:y>0.11258</cdr:y>
    </cdr:from>
    <cdr:to>
      <cdr:x>1</cdr:x>
      <cdr:y>0.2397</cdr:y>
    </cdr:to>
    <cdr:pic>
      <cdr:nvPicPr>
        <cdr:cNvPr id="2" name="chart">
          <a:extLst xmlns:a="http://schemas.openxmlformats.org/drawingml/2006/main">
            <a:ext uri="{FF2B5EF4-FFF2-40B4-BE49-F238E27FC236}">
              <a16:creationId xmlns:a16="http://schemas.microsoft.com/office/drawing/2014/main" id="{1D700022-49A6-4D1D-9B6E-7B1087D27BD9}"/>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5019872" y="561001"/>
          <a:ext cx="2354051" cy="633447"/>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0.41299</cdr:x>
      <cdr:y>0.3879</cdr:y>
    </cdr:from>
    <cdr:to>
      <cdr:x>0.5</cdr:x>
      <cdr:y>0.49259</cdr:y>
    </cdr:to>
    <cdr:sp macro="" textlink="">
      <cdr:nvSpPr>
        <cdr:cNvPr id="2" name="TextBox 10"/>
        <cdr:cNvSpPr txBox="1"/>
      </cdr:nvSpPr>
      <cdr:spPr>
        <a:xfrm xmlns:a="http://schemas.openxmlformats.org/drawingml/2006/main">
          <a:off x="4539524" y="2144787"/>
          <a:ext cx="956401" cy="578858"/>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b="1" dirty="0">
              <a:solidFill>
                <a:srgbClr val="FF0000"/>
              </a:solidFill>
              <a:latin typeface="Calibri" panose="020F0502020204030204" pitchFamily="34" charset="0"/>
              <a:cs typeface="Calibri" panose="020F0502020204030204" pitchFamily="34" charset="0"/>
            </a:rPr>
            <a:t>עליה של  74%</a:t>
          </a:r>
        </a:p>
      </cdr:txBody>
    </cdr:sp>
  </cdr:relSizeAnchor>
  <cdr:relSizeAnchor xmlns:cdr="http://schemas.openxmlformats.org/drawingml/2006/chartDrawing">
    <cdr:from>
      <cdr:x>0.6415</cdr:x>
      <cdr:y>0.49524</cdr:y>
    </cdr:from>
    <cdr:to>
      <cdr:x>0.73977</cdr:x>
      <cdr:y>0.59993</cdr:y>
    </cdr:to>
    <cdr:sp macro="" textlink="">
      <cdr:nvSpPr>
        <cdr:cNvPr id="3" name="TextBox 10"/>
        <cdr:cNvSpPr txBox="1"/>
      </cdr:nvSpPr>
      <cdr:spPr>
        <a:xfrm xmlns:a="http://schemas.openxmlformats.org/drawingml/2006/main">
          <a:off x="7051272" y="2738311"/>
          <a:ext cx="1080169" cy="578882"/>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chemeClr val="tx1">
                  <a:lumMod val="65000"/>
                  <a:lumOff val="35000"/>
                </a:schemeClr>
              </a:solidFill>
              <a:latin typeface="Calibri" panose="020F0502020204030204" pitchFamily="34" charset="0"/>
              <a:cs typeface="Calibri" panose="020F0502020204030204" pitchFamily="34" charset="0"/>
            </a:rPr>
            <a:t>עליה של  21%</a:t>
          </a:r>
        </a:p>
      </cdr:txBody>
    </cdr:sp>
  </cdr:relSizeAnchor>
  <cdr:relSizeAnchor xmlns:cdr="http://schemas.openxmlformats.org/drawingml/2006/chartDrawing">
    <cdr:from>
      <cdr:x>0.83783</cdr:x>
      <cdr:y>0.52381</cdr:y>
    </cdr:from>
    <cdr:to>
      <cdr:x>0.94432</cdr:x>
      <cdr:y>0.58539</cdr:y>
    </cdr:to>
    <cdr:sp macro="" textlink="">
      <cdr:nvSpPr>
        <cdr:cNvPr id="4" name="TextBox 10"/>
        <cdr:cNvSpPr txBox="1"/>
      </cdr:nvSpPr>
      <cdr:spPr>
        <a:xfrm xmlns:a="http://schemas.openxmlformats.org/drawingml/2006/main">
          <a:off x="9209302" y="2896282"/>
          <a:ext cx="1170522" cy="340519"/>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rgbClr val="FF0000"/>
              </a:solidFill>
              <a:latin typeface="Calibri" panose="020F0502020204030204" pitchFamily="34" charset="0"/>
              <a:cs typeface="Calibri" panose="020F0502020204030204" pitchFamily="34" charset="0"/>
            </a:rPr>
            <a:t>ירידה של  5%</a:t>
          </a:r>
        </a:p>
      </cdr:txBody>
    </cdr:sp>
  </cdr:relSizeAnchor>
  <cdr:relSizeAnchor xmlns:cdr="http://schemas.openxmlformats.org/drawingml/2006/chartDrawing">
    <cdr:from>
      <cdr:x>0.26367</cdr:x>
      <cdr:y>0.5</cdr:y>
    </cdr:from>
    <cdr:to>
      <cdr:x>0.34247</cdr:x>
      <cdr:y>0.60469</cdr:y>
    </cdr:to>
    <cdr:sp macro="" textlink="">
      <cdr:nvSpPr>
        <cdr:cNvPr id="5" name="TextBox 5"/>
        <cdr:cNvSpPr txBox="1"/>
      </cdr:nvSpPr>
      <cdr:spPr>
        <a:xfrm xmlns:a="http://schemas.openxmlformats.org/drawingml/2006/main">
          <a:off x="2898221" y="2764631"/>
          <a:ext cx="866158" cy="578882"/>
        </a:xfrm>
        <a:prstGeom xmlns:a="http://schemas.openxmlformats.org/drawingml/2006/main" prst="wedgeRoundRectCallout">
          <a:avLst>
            <a:gd name="adj1" fmla="val -12310"/>
            <a:gd name="adj2" fmla="val 66783"/>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marL="0" indent="0" algn="ctr" rtl="1"/>
          <a:r>
            <a:rPr lang="he-IL" sz="1400" b="1" dirty="0">
              <a:solidFill>
                <a:srgbClr val="FF0000"/>
              </a:solidFill>
              <a:latin typeface="Calibri" panose="020F0502020204030204" pitchFamily="34" charset="0"/>
              <a:cs typeface="Calibri" panose="020F0502020204030204" pitchFamily="34" charset="0"/>
            </a:rPr>
            <a:t>עליה של 1778%</a:t>
          </a:r>
        </a:p>
      </cdr:txBody>
    </cdr:sp>
  </cdr:relSizeAnchor>
  <cdr:relSizeAnchor xmlns:cdr="http://schemas.openxmlformats.org/drawingml/2006/chartDrawing">
    <cdr:from>
      <cdr:x>0.22107</cdr:x>
      <cdr:y>0</cdr:y>
    </cdr:from>
    <cdr:to>
      <cdr:x>0.22279</cdr:x>
      <cdr:y>0.78966</cdr:y>
    </cdr:to>
    <cdr:cxnSp macro="">
      <cdr:nvCxnSpPr>
        <cdr:cNvPr id="7" name="מחבר ישר 6"/>
        <cdr:cNvCxnSpPr/>
      </cdr:nvCxnSpPr>
      <cdr:spPr>
        <a:xfrm xmlns:a="http://schemas.openxmlformats.org/drawingml/2006/main">
          <a:off x="2476304" y="0"/>
          <a:ext cx="19246" cy="4362450"/>
        </a:xfrm>
        <a:prstGeom xmlns:a="http://schemas.openxmlformats.org/drawingml/2006/main" prst="lin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dr:relSizeAnchor xmlns:cdr="http://schemas.openxmlformats.org/drawingml/2006/chartDrawing">
    <cdr:from>
      <cdr:x>0.06803</cdr:x>
      <cdr:y>0.15718</cdr:y>
    </cdr:from>
    <cdr:to>
      <cdr:x>0.14966</cdr:x>
      <cdr:y>0.3227</cdr:y>
    </cdr:to>
    <cdr:sp macro="" textlink="">
      <cdr:nvSpPr>
        <cdr:cNvPr id="9" name="TextBox 8"/>
        <cdr:cNvSpPr txBox="1"/>
      </cdr:nvSpPr>
      <cdr:spPr>
        <a:xfrm xmlns:a="http://schemas.openxmlformats.org/drawingml/2006/main">
          <a:off x="762000" y="868363"/>
          <a:ext cx="914400"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r>
            <a:rPr lang="he-IL" sz="1400" b="1" dirty="0" smtClean="0">
              <a:latin typeface="Calibri" panose="020F0502020204030204" pitchFamily="34" charset="0"/>
              <a:cs typeface="Calibri" panose="020F0502020204030204" pitchFamily="34" charset="0"/>
            </a:rPr>
            <a:t>סך שינוי בגמלאות</a:t>
          </a:r>
          <a:endParaRPr lang="he-IL" sz="1400" b="1" dirty="0">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0.02551</cdr:x>
      <cdr:y>0.31693</cdr:y>
    </cdr:from>
    <cdr:to>
      <cdr:x>0.11603</cdr:x>
      <cdr:y>0.42162</cdr:y>
    </cdr:to>
    <cdr:sp macro="" textlink="">
      <cdr:nvSpPr>
        <cdr:cNvPr id="10" name="TextBox 10"/>
        <cdr:cNvSpPr txBox="1"/>
      </cdr:nvSpPr>
      <cdr:spPr>
        <a:xfrm xmlns:a="http://schemas.openxmlformats.org/drawingml/2006/main">
          <a:off x="280402" y="1752389"/>
          <a:ext cx="994982" cy="578882"/>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b="1" dirty="0">
              <a:solidFill>
                <a:srgbClr val="FF0000"/>
              </a:solidFill>
              <a:latin typeface="Calibri" panose="020F0502020204030204" pitchFamily="34" charset="0"/>
              <a:cs typeface="Calibri" panose="020F0502020204030204" pitchFamily="34" charset="0"/>
            </a:rPr>
            <a:t>עליה של  </a:t>
          </a:r>
          <a:r>
            <a:rPr lang="he-IL" sz="1400" b="1" dirty="0" smtClean="0">
              <a:solidFill>
                <a:srgbClr val="FF0000"/>
              </a:solidFill>
              <a:latin typeface="Calibri" panose="020F0502020204030204" pitchFamily="34" charset="0"/>
              <a:cs typeface="Calibri" panose="020F0502020204030204" pitchFamily="34" charset="0"/>
            </a:rPr>
            <a:t>100%</a:t>
          </a:r>
          <a:endParaRPr lang="he-IL" sz="1400" b="1" dirty="0">
            <a:solidFill>
              <a:srgbClr val="FF0000"/>
            </a:solidFill>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0.51186</cdr:x>
      <cdr:y>0.34129</cdr:y>
    </cdr:from>
    <cdr:to>
      <cdr:x>0.60791</cdr:x>
      <cdr:y>0.50667</cdr:y>
    </cdr:to>
    <cdr:sp macro="" textlink="">
      <cdr:nvSpPr>
        <cdr:cNvPr id="6" name="TextBox 5"/>
        <cdr:cNvSpPr txBox="1"/>
      </cdr:nvSpPr>
      <cdr:spPr>
        <a:xfrm xmlns:a="http://schemas.openxmlformats.org/drawingml/2006/main">
          <a:off x="5626306" y="1887105"/>
          <a:ext cx="1055783"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pPr algn="r"/>
          <a:r>
            <a:rPr lang="he-IL" sz="1200" b="1" dirty="0" smtClean="0"/>
            <a:t>50% בני משפחה </a:t>
          </a:r>
        </a:p>
        <a:p xmlns:a="http://schemas.openxmlformats.org/drawingml/2006/main">
          <a:pPr algn="r"/>
          <a:r>
            <a:rPr lang="he-IL" sz="1200" b="1" dirty="0" smtClean="0"/>
            <a:t>מטפלים בשכר</a:t>
          </a:r>
          <a:endParaRPr lang="he-IL" sz="1200" b="1"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י"א/אדר ב/תשפ"ד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י"א/אדר ב/תשפ"ד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6</a:t>
            </a:fld>
            <a:endParaRPr lang="he-IL" dirty="0"/>
          </a:p>
        </p:txBody>
      </p:sp>
    </p:spTree>
    <p:extLst>
      <p:ext uri="{BB962C8B-B14F-4D97-AF65-F5344CB8AC3E}">
        <p14:creationId xmlns:p14="http://schemas.microsoft.com/office/powerpoint/2010/main" val="3226269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1723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r>
              <a:rPr lang="he-IL" b="1" dirty="0"/>
              <a:t>הבנו מה כואב למשרד האוצר ולביטוח לאומי ותרגמנו </a:t>
            </a:r>
            <a:r>
              <a:rPr lang="he-IL" b="1" dirty="0" err="1"/>
              <a:t>לתכנית</a:t>
            </a:r>
            <a:r>
              <a:rPr lang="he-IL" b="1" dirty="0"/>
              <a:t> אופרטיבית תוך חיבור ליזמים-</a:t>
            </a:r>
          </a:p>
          <a:p>
            <a:r>
              <a:rPr lang="he-IL" b="1" dirty="0" err="1"/>
              <a:t>ירונה</a:t>
            </a:r>
            <a:r>
              <a:rPr lang="he-IL" b="1" dirty="0"/>
              <a:t> הציגה לינון ויוסי היימן הציג </a:t>
            </a:r>
            <a:r>
              <a:rPr lang="he-IL" b="1" dirty="0" err="1"/>
              <a:t>לירונה</a:t>
            </a:r>
            <a:r>
              <a:rPr lang="he-IL" b="1" dirty="0"/>
              <a:t>.</a:t>
            </a:r>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fld id="{94496DA2-19AA-4126-B875-46CF6FBC0E07}" type="slidenum">
              <a:rPr lang="he-IL" smtClean="0"/>
              <a:t>12</a:t>
            </a:fld>
            <a:endParaRPr lang="he-IL"/>
          </a:p>
        </p:txBody>
      </p:sp>
    </p:spTree>
    <p:extLst>
      <p:ext uri="{BB962C8B-B14F-4D97-AF65-F5344CB8AC3E}">
        <p14:creationId xmlns:p14="http://schemas.microsoft.com/office/powerpoint/2010/main" val="569331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rtl="1"/>
            <a:r>
              <a:rPr lang="he-IL" dirty="0" smtClean="0"/>
              <a:t>סה"כ</a:t>
            </a:r>
            <a:r>
              <a:rPr lang="he-IL" baseline="0" dirty="0" smtClean="0"/>
              <a:t> </a:t>
            </a:r>
            <a:r>
              <a:rPr lang="he-IL" dirty="0" smtClean="0"/>
              <a:t>מספר מקבלי </a:t>
            </a:r>
            <a:r>
              <a:rPr lang="he-IL" dirty="0" err="1" smtClean="0"/>
              <a:t>קיצבה</a:t>
            </a:r>
            <a:r>
              <a:rPr lang="he-IL" dirty="0" smtClean="0"/>
              <a:t> 1,2 103,000</a:t>
            </a:r>
          </a:p>
          <a:p>
            <a:pPr rtl="1"/>
            <a:endParaRPr lang="he-IL" dirty="0" smtClean="0"/>
          </a:p>
          <a:p>
            <a:pPr rtl="1"/>
            <a:endParaRPr lang="he-IL" dirty="0" smtClean="0"/>
          </a:p>
          <a:p>
            <a:pPr rtl="1"/>
            <a:r>
              <a:rPr lang="he-IL" dirty="0" smtClean="0"/>
              <a:t>48,000 משתתפים בקהילה תומכת (36,313+1,600+10,000) שהם 42,200 בתי אב.  &gt;(ע"פ סקר של </a:t>
            </a:r>
            <a:r>
              <a:rPr lang="he-IL" dirty="0" err="1" smtClean="0"/>
              <a:t>ברוקדייל</a:t>
            </a:r>
            <a:r>
              <a:rPr lang="he-IL" dirty="0" smtClean="0"/>
              <a:t> 22% מהם</a:t>
            </a:r>
            <a:r>
              <a:rPr lang="he-IL" baseline="0" dirty="0" smtClean="0"/>
              <a:t> </a:t>
            </a:r>
            <a:r>
              <a:rPr lang="he-IL" dirty="0" smtClean="0"/>
              <a:t>מקבלי קצבת סיעוד כלומר 9,300</a:t>
            </a:r>
            <a:r>
              <a:rPr lang="he-IL" baseline="0" dirty="0" smtClean="0"/>
              <a:t> מקבלי סיעוד) </a:t>
            </a:r>
          </a:p>
          <a:p>
            <a:pPr rtl="1"/>
            <a:endParaRPr lang="he-IL" baseline="0" dirty="0" smtClean="0"/>
          </a:p>
          <a:p>
            <a:pPr rtl="1"/>
            <a:r>
              <a:rPr lang="he-IL" baseline="0" dirty="0" smtClean="0"/>
              <a:t>(27,000) ונקבל את הפרטיים שנמצאים בסיעוד מתוכם נחסיר את רמה 1,2 ונקבל את מספר הפרטיים ברמת סיעוד 1,2 הכי קרוב.</a:t>
            </a:r>
            <a:endParaRPr lang="he-IL" dirty="0" smtClean="0"/>
          </a:p>
        </p:txBody>
      </p:sp>
    </p:spTree>
    <p:extLst>
      <p:ext uri="{BB962C8B-B14F-4D97-AF65-F5344CB8AC3E}">
        <p14:creationId xmlns:p14="http://schemas.microsoft.com/office/powerpoint/2010/main" val="3821657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21</a:t>
            </a:fld>
            <a:endParaRPr lang="en-IL"/>
          </a:p>
        </p:txBody>
      </p:sp>
    </p:spTree>
    <p:extLst>
      <p:ext uri="{BB962C8B-B14F-4D97-AF65-F5344CB8AC3E}">
        <p14:creationId xmlns:p14="http://schemas.microsoft.com/office/powerpoint/2010/main" val="245033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highlight>
                <a:srgbClr val="FFFF00"/>
              </a:highlight>
            </a:endParaRPr>
          </a:p>
        </p:txBody>
      </p:sp>
      <p:sp>
        <p:nvSpPr>
          <p:cNvPr id="4" name="Slide Number Placeholder 3"/>
          <p:cNvSpPr>
            <a:spLocks noGrp="1"/>
          </p:cNvSpPr>
          <p:nvPr>
            <p:ph type="sldNum" sz="quarter" idx="5"/>
          </p:nvPr>
        </p:nvSpPr>
        <p:spPr/>
        <p:txBody>
          <a:bodyPr/>
          <a:lstStyle/>
          <a:p>
            <a:fld id="{E9331071-0531-4F61-A5A0-E22B891BF691}" type="slidenum">
              <a:rPr lang="en-IL" smtClean="0"/>
              <a:t>24</a:t>
            </a:fld>
            <a:endParaRPr lang="en-IL"/>
          </a:p>
        </p:txBody>
      </p:sp>
    </p:spTree>
    <p:extLst>
      <p:ext uri="{BB962C8B-B14F-4D97-AF65-F5344CB8AC3E}">
        <p14:creationId xmlns:p14="http://schemas.microsoft.com/office/powerpoint/2010/main" val="152846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25</a:t>
            </a:fld>
            <a:endParaRPr lang="en-IL"/>
          </a:p>
        </p:txBody>
      </p:sp>
    </p:spTree>
    <p:extLst>
      <p:ext uri="{BB962C8B-B14F-4D97-AF65-F5344CB8AC3E}">
        <p14:creationId xmlns:p14="http://schemas.microsoft.com/office/powerpoint/2010/main" val="368838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26</a:t>
            </a:fld>
            <a:endParaRPr lang="en-IL"/>
          </a:p>
        </p:txBody>
      </p:sp>
    </p:spTree>
    <p:extLst>
      <p:ext uri="{BB962C8B-B14F-4D97-AF65-F5344CB8AC3E}">
        <p14:creationId xmlns:p14="http://schemas.microsoft.com/office/powerpoint/2010/main" val="2196607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27</a:t>
            </a:fld>
            <a:endParaRPr lang="en-IL"/>
          </a:p>
        </p:txBody>
      </p:sp>
    </p:spTree>
    <p:extLst>
      <p:ext uri="{BB962C8B-B14F-4D97-AF65-F5344CB8AC3E}">
        <p14:creationId xmlns:p14="http://schemas.microsoft.com/office/powerpoint/2010/main" val="513026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pic>
        <p:nvPicPr>
          <p:cNvPr id="1026" name="Picture 2" descr="שירות לקוחות ביטוח לאומי טלפון 2023 » שירות בקליק"/>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549" t="24616" r="-2549" b="24936"/>
          <a:stretch/>
        </p:blipFill>
        <p:spPr bwMode="auto">
          <a:xfrm>
            <a:off x="381000" y="6079227"/>
            <a:ext cx="1876168" cy="767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727725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59464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6" Type="http://schemas.openxmlformats.org/officeDocument/2006/relationships/theme" Target="../theme/theme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88" r:id="rId15"/>
    <p:sldLayoutId id="2147483689" r:id="rId16"/>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iming>
    <p:tnLst>
      <p:par>
        <p:cTn id="1" dur="indefinite" restart="never" nodeType="tmRoot"/>
      </p:par>
    </p:tnLst>
  </p:timing>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9.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18.png"/><Relationship Id="rId10" Type="http://schemas.openxmlformats.org/officeDocument/2006/relationships/image" Target="../media/image20.png"/><Relationship Id="rId4" Type="http://schemas.openxmlformats.org/officeDocument/2006/relationships/image" Target="../media/image17.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12" Type="http://schemas.openxmlformats.org/officeDocument/2006/relationships/image" Target="../media/image29.jpe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microsoft.com/office/2007/relationships/hdphoto" Target="../media/hdphoto1.wdp"/><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image" Target="../media/image31.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1.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7.xml"/><Relationship Id="rId16" Type="http://schemas.openxmlformats.org/officeDocument/2006/relationships/image" Target="../media/image47.png"/><Relationship Id="rId20"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22.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31.png"/><Relationship Id="rId1" Type="http://schemas.openxmlformats.org/officeDocument/2006/relationships/slideLayout" Target="../slideLayouts/slideLayout23.xml"/><Relationship Id="rId6" Type="http://schemas.openxmlformats.org/officeDocument/2006/relationships/image" Target="../media/image32.png"/><Relationship Id="rId5" Type="http://schemas.openxmlformats.org/officeDocument/2006/relationships/image" Target="../media/image100.svg"/><Relationship Id="rId4" Type="http://schemas.openxmlformats.org/officeDocument/2006/relationships/image" Target="../media/image64.png"/></Relationships>
</file>

<file path=ppt/slides/_rels/slide2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8.jpeg"/><Relationship Id="rId5" Type="http://schemas.openxmlformats.org/officeDocument/2006/relationships/image" Target="../media/image67.png"/><Relationship Id="rId4" Type="http://schemas.openxmlformats.org/officeDocument/2006/relationships/image" Target="../media/image66.jpe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3.xml"/><Relationship Id="rId6" Type="http://schemas.openxmlformats.org/officeDocument/2006/relationships/image" Target="../media/image71.png"/><Relationship Id="rId5" Type="http://schemas.openxmlformats.org/officeDocument/2006/relationships/image" Target="../media/image3.png"/><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80.jpeg"/><Relationship Id="rId3" Type="http://schemas.openxmlformats.org/officeDocument/2006/relationships/image" Target="../media/image76.jpeg"/><Relationship Id="rId7" Type="http://schemas.openxmlformats.org/officeDocument/2006/relationships/image" Target="../media/image79.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3.png"/><Relationship Id="rId9" Type="http://schemas.openxmlformats.org/officeDocument/2006/relationships/image" Target="../media/image81.jpeg"/></Relationships>
</file>

<file path=ppt/slides/_rels/slide26.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85.jpg"/><Relationship Id="rId5" Type="http://schemas.openxmlformats.org/officeDocument/2006/relationships/image" Target="../media/image84.jp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s>
</file>

<file path=ppt/slides/_rels/slide27.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93.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406453" y="1346861"/>
            <a:ext cx="11450901" cy="1569660"/>
          </a:xfrm>
          <a:prstGeom prst="rect">
            <a:avLst/>
          </a:prstGeom>
          <a:noFill/>
        </p:spPr>
        <p:txBody>
          <a:bodyPr wrap="square" lIns="91440" tIns="45720" rIns="91440" bIns="45720">
            <a:spAutoFit/>
          </a:bodyPr>
          <a:lstStyle/>
          <a:p>
            <a:r>
              <a:rPr lang="he-IL" sz="4800" b="1" dirty="0" smtClean="0">
                <a:latin typeface="Calibri" panose="020F0502020204030204" pitchFamily="34" charset="0"/>
                <a:cs typeface="Calibri" panose="020F0502020204030204" pitchFamily="34" charset="0"/>
              </a:rPr>
              <a:t>סל שירותים מותאם אישית </a:t>
            </a:r>
            <a:r>
              <a:rPr lang="en-US" sz="4800" b="1" dirty="0" smtClean="0">
                <a:latin typeface="Calibri" panose="020F0502020204030204" pitchFamily="34" charset="0"/>
                <a:cs typeface="Calibri" panose="020F0502020204030204" pitchFamily="34" charset="0"/>
              </a:rPr>
              <a:t>AI</a:t>
            </a:r>
            <a:endParaRPr lang="he-IL" sz="4800" b="1" dirty="0" smtClean="0">
              <a:latin typeface="Calibri" panose="020F0502020204030204" pitchFamily="34" charset="0"/>
              <a:cs typeface="Calibri" panose="020F0502020204030204" pitchFamily="34" charset="0"/>
            </a:endParaRPr>
          </a:p>
          <a:p>
            <a:r>
              <a:rPr lang="he-IL" sz="4800" b="1" dirty="0" smtClean="0">
                <a:latin typeface="Calibri" panose="020F0502020204030204" pitchFamily="34" charset="0"/>
                <a:cs typeface="Calibri" panose="020F0502020204030204" pitchFamily="34" charset="0"/>
              </a:rPr>
              <a:t>לזכאי חוק סיעוד</a:t>
            </a:r>
            <a:endParaRPr lang="he-IL" sz="4800" b="1" dirty="0">
              <a:latin typeface="Calibri" panose="020F0502020204030204" pitchFamily="34" charset="0"/>
              <a:cs typeface="Calibri" panose="020F0502020204030204" pitchFamily="34" charset="0"/>
            </a:endParaRPr>
          </a:p>
        </p:txBody>
      </p:sp>
      <p:pic>
        <p:nvPicPr>
          <p:cNvPr id="8" name="תמונה 7"/>
          <p:cNvPicPr>
            <a:picLocks noChangeAspect="1"/>
          </p:cNvPicPr>
          <p:nvPr/>
        </p:nvPicPr>
        <p:blipFill>
          <a:blip r:embed="rId2"/>
          <a:stretch>
            <a:fillRect/>
          </a:stretch>
        </p:blipFill>
        <p:spPr>
          <a:xfrm>
            <a:off x="9283700" y="5554236"/>
            <a:ext cx="2908300" cy="1303763"/>
          </a:xfrm>
          <a:prstGeom prst="rect">
            <a:avLst/>
          </a:prstGeom>
        </p:spPr>
      </p:pic>
      <p:sp>
        <p:nvSpPr>
          <p:cNvPr id="2" name="TextBox 1"/>
          <p:cNvSpPr txBox="1"/>
          <p:nvPr/>
        </p:nvSpPr>
        <p:spPr>
          <a:xfrm>
            <a:off x="6042543" y="3269517"/>
            <a:ext cx="5814811" cy="1077218"/>
          </a:xfrm>
          <a:prstGeom prst="rect">
            <a:avLst/>
          </a:prstGeom>
          <a:noFill/>
        </p:spPr>
        <p:txBody>
          <a:bodyPr wrap="square" rtlCol="1">
            <a:spAutoFit/>
          </a:bodyPr>
          <a:lstStyle/>
          <a:p>
            <a:r>
              <a:rPr lang="he-IL" sz="3200" b="1" dirty="0" smtClean="0">
                <a:latin typeface="Calibri" panose="020F0502020204030204" pitchFamily="34" charset="0"/>
                <a:cs typeface="Calibri" panose="020F0502020204030204" pitchFamily="34" charset="0"/>
              </a:rPr>
              <a:t>מינהל אזרחים </a:t>
            </a:r>
            <a:r>
              <a:rPr lang="he-IL" sz="3200" b="1" dirty="0" smtClean="0">
                <a:latin typeface="Calibri" panose="020F0502020204030204" pitchFamily="34" charset="0"/>
                <a:cs typeface="Calibri" panose="020F0502020204030204" pitchFamily="34" charset="0"/>
              </a:rPr>
              <a:t>ותיקים</a:t>
            </a:r>
          </a:p>
          <a:p>
            <a:r>
              <a:rPr lang="he-IL" sz="3200" b="1" dirty="0" smtClean="0">
                <a:latin typeface="Calibri" panose="020F0502020204030204" pitchFamily="34" charset="0"/>
                <a:cs typeface="Calibri" panose="020F0502020204030204" pitchFamily="34" charset="0"/>
              </a:rPr>
              <a:t> </a:t>
            </a:r>
            <a:r>
              <a:rPr lang="he-IL" sz="3200" b="1" dirty="0" smtClean="0">
                <a:latin typeface="Calibri" panose="020F0502020204030204" pitchFamily="34" charset="0"/>
                <a:cs typeface="Calibri" panose="020F0502020204030204" pitchFamily="34" charset="0"/>
              </a:rPr>
              <a:t>ואגף סיעוד בביטוח לאומי</a:t>
            </a:r>
            <a:endParaRPr lang="he-IL" sz="2000" b="1" dirty="0">
              <a:latin typeface="Calibri" panose="020F0502020204030204" pitchFamily="34" charset="0"/>
              <a:cs typeface="Calibri" panose="020F0502020204030204" pitchFamily="34" charset="0"/>
            </a:endParaRPr>
          </a:p>
        </p:txBody>
      </p:sp>
      <p:sp>
        <p:nvSpPr>
          <p:cNvPr id="9" name="מלבן 8"/>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20" name="קבוצה 19"/>
          <p:cNvGrpSpPr/>
          <p:nvPr/>
        </p:nvGrpSpPr>
        <p:grpSpPr>
          <a:xfrm>
            <a:off x="1632550" y="4155203"/>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2351337" y="3941052"/>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16" name="קבוצה 15"/>
          <p:cNvGrpSpPr/>
          <p:nvPr/>
        </p:nvGrpSpPr>
        <p:grpSpPr>
          <a:xfrm>
            <a:off x="1632550" y="3284716"/>
            <a:ext cx="3383279" cy="2680688"/>
            <a:chOff x="4003932" y="140625"/>
            <a:chExt cx="3347849" cy="3401935"/>
          </a:xfrm>
        </p:grpSpPr>
        <p:sp>
          <p:nvSpPr>
            <p:cNvPr id="24" name="אליפסה 23"/>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5"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711284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מטרות על </a:t>
            </a:r>
            <a:endParaRPr kumimoji="0" lang="en-CA" sz="40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2872509" y="1782618"/>
            <a:ext cx="3025703" cy="2733963"/>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קידום בריאות ושימור תפקוד</a:t>
            </a:r>
            <a:endPar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1" name="Circle">
            <a:extLst>
              <a:ext uri="{FF2B5EF4-FFF2-40B4-BE49-F238E27FC236}">
                <a16:creationId xmlns:a16="http://schemas.microsoft.com/office/drawing/2014/main" id="{BFA8BC08-2983-6C41-BCDA-7939F0275991}"/>
              </a:ext>
            </a:extLst>
          </p:cNvPr>
          <p:cNvSpPr/>
          <p:nvPr/>
        </p:nvSpPr>
        <p:spPr>
          <a:xfrm>
            <a:off x="5492320" y="1782618"/>
            <a:ext cx="2927259" cy="280785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שייכות ומשמעות</a:t>
            </a:r>
            <a:endParaRPr kumimoji="0" lang="he-IL" sz="36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2" name="Circle">
            <a:extLst>
              <a:ext uri="{FF2B5EF4-FFF2-40B4-BE49-F238E27FC236}">
                <a16:creationId xmlns:a16="http://schemas.microsoft.com/office/drawing/2014/main" id="{34F19EA4-628E-134F-AE5C-15E847C2E5B4}"/>
              </a:ext>
            </a:extLst>
          </p:cNvPr>
          <p:cNvSpPr/>
          <p:nvPr/>
        </p:nvSpPr>
        <p:spPr>
          <a:xfrm>
            <a:off x="4322618" y="3659509"/>
            <a:ext cx="2840815" cy="2621218"/>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40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מניעת</a:t>
            </a:r>
            <a:endPar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28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התדרדרות</a:t>
            </a:r>
            <a:endParaRPr kumimoji="0" lang="he-IL" sz="28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16" name="Circle">
            <a:extLst>
              <a:ext uri="{FF2B5EF4-FFF2-40B4-BE49-F238E27FC236}">
                <a16:creationId xmlns:a16="http://schemas.microsoft.com/office/drawing/2014/main" id="{772827F8-AB18-CF49-B1DC-901232D42CD9}"/>
              </a:ext>
            </a:extLst>
          </p:cNvPr>
          <p:cNvSpPr/>
          <p:nvPr/>
        </p:nvSpPr>
        <p:spPr>
          <a:xfrm>
            <a:off x="149354" y="0"/>
            <a:ext cx="1565304" cy="1505527"/>
          </a:xfrm>
          <a:prstGeom prst="ellipse">
            <a:avLst/>
          </a:prstGeom>
          <a:solidFill>
            <a:schemeClr val="accent1">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5" name="מלבן 4"/>
          <p:cNvSpPr/>
          <p:nvPr/>
        </p:nvSpPr>
        <p:spPr>
          <a:xfrm>
            <a:off x="96901" y="244931"/>
            <a:ext cx="1670209" cy="1015663"/>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היערכות להזדקנות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שכבר כאן</a:t>
            </a:r>
          </a:p>
        </p:txBody>
      </p:sp>
    </p:spTree>
    <p:extLst>
      <p:ext uri="{BB962C8B-B14F-4D97-AF65-F5344CB8AC3E}">
        <p14:creationId xmlns:p14="http://schemas.microsoft.com/office/powerpoint/2010/main" val="36100447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331440" y="1577540"/>
            <a:ext cx="217399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השיטה היא </a:t>
            </a:r>
            <a:r>
              <a:rPr kumimoji="0" lang="he-IL" sz="1800" b="0" i="0" u="sng" strike="noStrike" kern="1200" cap="none" spc="0" normalizeH="0" baseline="0" noProof="0" dirty="0" err="1" smtClean="0">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smtClean="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40" name="Picture 39">
              <a:extLst>
                <a:ext uri="{FF2B5EF4-FFF2-40B4-BE49-F238E27FC236}">
                  <a16:creationId xmlns:a16="http://schemas.microsoft.com/office/drawing/2014/main" id="{20DFF503-07D6-4068-9D3D-EE92D39D77B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504470" y="3507473"/>
              <a:ext cx="1067306" cy="916445"/>
            </a:xfrm>
            <a:prstGeom prst="rect">
              <a:avLst/>
            </a:prstGeom>
          </p:spPr>
        </p:pic>
        <p:sp>
          <p:nvSpPr>
            <p:cNvPr id="41" name="TextBox 40">
              <a:extLst>
                <a:ext uri="{FF2B5EF4-FFF2-40B4-BE49-F238E27FC236}">
                  <a16:creationId xmlns:a16="http://schemas.microsoft.com/office/drawing/2014/main" id="{AA53CD91-4E6C-4325-BF69-33C6BE63F0E1}"/>
                </a:ext>
              </a:extLst>
            </p:cNvPr>
            <p:cNvSpPr txBox="1"/>
            <p:nvPr/>
          </p:nvSpPr>
          <p:spPr>
            <a:xfrm>
              <a:off x="2399096" y="2828411"/>
              <a:ext cx="1369285"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והתיק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ומשפחתו</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49" name="Picture 2" descr="סמל מדינת ישראל – ויקיפדיה">
            <a:extLst>
              <a:ext uri="{FF2B5EF4-FFF2-40B4-BE49-F238E27FC236}">
                <a16:creationId xmlns:a16="http://schemas.microsoft.com/office/drawing/2014/main" id="{FFA3BBF5-1F6D-4A72-BA4B-B84C5C4102B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553535" y="314518"/>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123792" y="314518"/>
            <a:ext cx="1326800" cy="36176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אליפסה 1">
            <a:extLst>
              <a:ext uri="{FF2B5EF4-FFF2-40B4-BE49-F238E27FC236}">
                <a16:creationId xmlns:a16="http://schemas.microsoft.com/office/drawing/2014/main" id="{1C4BD581-3E48-6263-53C3-5754768972AF}"/>
              </a:ext>
            </a:extLst>
          </p:cNvPr>
          <p:cNvSpPr/>
          <p:nvPr/>
        </p:nvSpPr>
        <p:spPr>
          <a:xfrm>
            <a:off x="8003406" y="2444990"/>
            <a:ext cx="2232000" cy="2231995"/>
          </a:xfrm>
          <a:prstGeom prst="ellipse">
            <a:avLst/>
          </a:prstGeom>
          <a:gradFill>
            <a:gsLst>
              <a:gs pos="100000">
                <a:schemeClr val="accent3">
                  <a:lumMod val="75000"/>
                  <a:alpha val="0"/>
                </a:schemeClr>
              </a:gs>
              <a:gs pos="100000">
                <a:schemeClr val="accent2">
                  <a:lumMod val="105000"/>
                  <a:satMod val="103000"/>
                  <a:tint val="73000"/>
                </a:schemeClr>
              </a:gs>
              <a:gs pos="100000">
                <a:schemeClr val="accent2">
                  <a:lumMod val="105000"/>
                  <a:satMod val="109000"/>
                  <a:tint val="81000"/>
                </a:schemeClr>
              </a:gs>
            </a:gsLst>
          </a:gradFill>
          <a:ln>
            <a:noFill/>
          </a:ln>
        </p:spPr>
        <p:style>
          <a:lnRef idx="1">
            <a:schemeClr val="accent2"/>
          </a:lnRef>
          <a:fillRef idx="2">
            <a:schemeClr val="accent2"/>
          </a:fillRef>
          <a:effectRef idx="1">
            <a:schemeClr val="accent2"/>
          </a:effectRef>
          <a:fontRef idx="minor">
            <a:schemeClr val="dk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0095588"/>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B861C7-13FD-4127-8650-17F91C56200F}"/>
              </a:ext>
            </a:extLst>
          </p:cNvPr>
          <p:cNvSpPr txBox="1"/>
          <p:nvPr/>
        </p:nvSpPr>
        <p:spPr>
          <a:xfrm>
            <a:off x="1603587" y="172309"/>
            <a:ext cx="10283886"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למרות התקציב הגדול, </a:t>
            </a:r>
          </a:p>
          <a:p>
            <a:pPr algn="r" rtl="1"/>
            <a:r>
              <a:rPr lang="he-IL" sz="3200" b="1" dirty="0">
                <a:latin typeface="Calibri" panose="020F0502020204030204" pitchFamily="34" charset="0"/>
                <a:cs typeface="Calibri" panose="020F0502020204030204" pitchFamily="34" charset="0"/>
              </a:rPr>
              <a:t>מעט מאוד מושקע במניעת התדרדרות</a:t>
            </a:r>
            <a:endParaRPr lang="en-IL" sz="3200" b="1" dirty="0">
              <a:latin typeface="Calibri" panose="020F0502020204030204" pitchFamily="34" charset="0"/>
              <a:cs typeface="Calibri" panose="020F0502020204030204" pitchFamily="34" charset="0"/>
            </a:endParaRPr>
          </a:p>
        </p:txBody>
      </p:sp>
      <p:graphicFrame>
        <p:nvGraphicFramePr>
          <p:cNvPr id="22" name="תרשים 10">
            <a:extLst>
              <a:ext uri="{FF2B5EF4-FFF2-40B4-BE49-F238E27FC236}">
                <a16:creationId xmlns:a16="http://schemas.microsoft.com/office/drawing/2014/main" id="{CD80804B-8899-499A-A6A0-BC3FEE0F78EF}"/>
              </a:ext>
            </a:extLst>
          </p:cNvPr>
          <p:cNvGraphicFramePr>
            <a:graphicFrameLocks/>
          </p:cNvGraphicFramePr>
          <p:nvPr>
            <p:extLst/>
          </p:nvPr>
        </p:nvGraphicFramePr>
        <p:xfrm>
          <a:off x="2499919" y="1501629"/>
          <a:ext cx="7373923" cy="4983061"/>
        </p:xfrm>
        <a:graphic>
          <a:graphicData uri="http://schemas.openxmlformats.org/drawingml/2006/chart">
            <c:chart xmlns:c="http://schemas.openxmlformats.org/drawingml/2006/chart" xmlns:r="http://schemas.openxmlformats.org/officeDocument/2006/relationships" r:id="rId2"/>
          </a:graphicData>
        </a:graphic>
      </p:graphicFrame>
      <p:sp>
        <p:nvSpPr>
          <p:cNvPr id="39" name="Rectangle 38">
            <a:extLst>
              <a:ext uri="{FF2B5EF4-FFF2-40B4-BE49-F238E27FC236}">
                <a16:creationId xmlns:a16="http://schemas.microsoft.com/office/drawing/2014/main" id="{A0F98476-D30C-4586-8E87-7E9DFF61E69C}"/>
              </a:ext>
            </a:extLst>
          </p:cNvPr>
          <p:cNvSpPr/>
          <p:nvPr/>
        </p:nvSpPr>
        <p:spPr>
          <a:xfrm>
            <a:off x="213360" y="172309"/>
            <a:ext cx="2357120" cy="681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 name="TextBox 1">
            <a:extLst>
              <a:ext uri="{FF2B5EF4-FFF2-40B4-BE49-F238E27FC236}">
                <a16:creationId xmlns:a16="http://schemas.microsoft.com/office/drawing/2014/main" id="{2C18A6EC-272A-47AA-AEE2-395E8F8F2635}"/>
              </a:ext>
            </a:extLst>
          </p:cNvPr>
          <p:cNvSpPr txBox="1"/>
          <p:nvPr/>
        </p:nvSpPr>
        <p:spPr>
          <a:xfrm>
            <a:off x="4521120" y="1249527"/>
            <a:ext cx="3159840" cy="369332"/>
          </a:xfrm>
          <a:prstGeom prst="rect">
            <a:avLst/>
          </a:prstGeom>
          <a:noFill/>
        </p:spPr>
        <p:txBody>
          <a:bodyPr wrap="none" rtlCol="0">
            <a:spAutoFit/>
          </a:bodyPr>
          <a:lstStyle/>
          <a:p>
            <a:pPr algn="r" rtl="1"/>
            <a:r>
              <a:rPr lang="he-IL" b="1" u="sng" dirty="0">
                <a:latin typeface="Calibri" panose="020F0502020204030204" pitchFamily="34" charset="0"/>
                <a:cs typeface="Calibri" panose="020F0502020204030204" pitchFamily="34" charset="0"/>
              </a:rPr>
              <a:t>התפלגות </a:t>
            </a:r>
            <a:r>
              <a:rPr lang="he-IL" b="1" u="sng" dirty="0" smtClean="0">
                <a:latin typeface="Calibri" panose="020F0502020204030204" pitchFamily="34" charset="0"/>
                <a:cs typeface="Calibri" panose="020F0502020204030204" pitchFamily="34" charset="0"/>
              </a:rPr>
              <a:t>התקציב ב2019 </a:t>
            </a:r>
            <a:r>
              <a:rPr lang="he-IL" b="1" u="sng" dirty="0">
                <a:latin typeface="Calibri" panose="020F0502020204030204" pitchFamily="34" charset="0"/>
                <a:cs typeface="Calibri" panose="020F0502020204030204" pitchFamily="34" charset="0"/>
              </a:rPr>
              <a:t>באחוזים:</a:t>
            </a:r>
            <a:endParaRPr lang="en-IL" b="1"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3057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188846" y="643673"/>
            <a:ext cx="7580922"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a:t>
            </a:r>
            <a:r>
              <a:rPr lang="he-IL" sz="3200" b="1" dirty="0" smtClean="0">
                <a:solidFill>
                  <a:schemeClr val="bg1"/>
                </a:solidFill>
                <a:latin typeface="Calibri" panose="020F0502020204030204" pitchFamily="34" charset="0"/>
                <a:cs typeface="Calibri" panose="020F0502020204030204" pitchFamily="34" charset="0"/>
              </a:rPr>
              <a:t>מותאם לאזרח </a:t>
            </a:r>
            <a:r>
              <a:rPr lang="he-IL" sz="3200" b="1" dirty="0">
                <a:solidFill>
                  <a:schemeClr val="bg1"/>
                </a:solidFill>
                <a:latin typeface="Calibri" panose="020F0502020204030204" pitchFamily="34" charset="0"/>
                <a:cs typeface="Calibri" panose="020F0502020204030204" pitchFamily="34" charset="0"/>
              </a:rPr>
              <a:t>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90193" y="1303426"/>
            <a:ext cx="11319761" cy="5019864"/>
          </a:xfrm>
          <a:prstGeom prst="rect">
            <a:avLst/>
          </a:prstGeom>
          <a:solidFill>
            <a:srgbClr val="EBF6F5"/>
          </a:solidFill>
        </p:spPr>
      </p:pic>
      <p:sp>
        <p:nvSpPr>
          <p:cNvPr id="21" name="Rectangle 20">
            <a:extLst>
              <a:ext uri="{FF2B5EF4-FFF2-40B4-BE49-F238E27FC236}">
                <a16:creationId xmlns:a16="http://schemas.microsoft.com/office/drawing/2014/main" id="{FAD6A3D6-92A2-4AE0-B7DD-20CCF29B17F5}"/>
              </a:ext>
            </a:extLst>
          </p:cNvPr>
          <p:cNvSpPr/>
          <p:nvPr/>
        </p:nvSpPr>
        <p:spPr>
          <a:xfrm>
            <a:off x="0" y="0"/>
            <a:ext cx="3384223" cy="6858000"/>
          </a:xfrm>
          <a:prstGeom prst="rect">
            <a:avLst/>
          </a:prstGeom>
          <a:solidFill>
            <a:srgbClr val="C8E3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 name="תיבת טקסט 3">
            <a:extLst>
              <a:ext uri="{FF2B5EF4-FFF2-40B4-BE49-F238E27FC236}">
                <a16:creationId xmlns:a16="http://schemas.microsoft.com/office/drawing/2014/main" id="{EA7D4CCF-DEA6-42B7-83CB-29A45B04B5F5}"/>
              </a:ext>
            </a:extLst>
          </p:cNvPr>
          <p:cNvSpPr txBox="1"/>
          <p:nvPr/>
        </p:nvSpPr>
        <p:spPr>
          <a:xfrm>
            <a:off x="1155733" y="262909"/>
            <a:ext cx="10888688" cy="646331"/>
          </a:xfrm>
          <a:prstGeom prst="rect">
            <a:avLst/>
          </a:prstGeom>
          <a:noFill/>
        </p:spPr>
        <p:txBody>
          <a:bodyPr wrap="square" rtlCol="1">
            <a:spAutoFit/>
          </a:bodyPr>
          <a:lstStyle/>
          <a:p>
            <a:pPr algn="r"/>
            <a:r>
              <a:rPr lang="he-IL" sz="3600" b="1" dirty="0">
                <a:latin typeface="Calibri" panose="020F0502020204030204" pitchFamily="34" charset="0"/>
                <a:cs typeface="Calibri" panose="020F0502020204030204" pitchFamily="34" charset="0"/>
              </a:rPr>
              <a:t>פיצול השירותים לאזרח הוותיק בין גורמים רבים</a:t>
            </a:r>
            <a:endParaRPr lang="he-IL" sz="3200" b="1" dirty="0">
              <a:solidFill>
                <a:schemeClr val="accent2"/>
              </a:solidFill>
              <a:latin typeface="Calibri" panose="020F0502020204030204" pitchFamily="34" charset="0"/>
              <a:cs typeface="Calibri" panose="020F0502020204030204" pitchFamily="34" charset="0"/>
            </a:endParaRPr>
          </a:p>
        </p:txBody>
      </p:sp>
      <p:pic>
        <p:nvPicPr>
          <p:cNvPr id="8" name="תמונה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45559" y="5721530"/>
            <a:ext cx="1083531" cy="1319111"/>
          </a:xfrm>
          <a:prstGeom prst="rect">
            <a:avLst/>
          </a:prstGeom>
        </p:spPr>
      </p:pic>
      <p:sp>
        <p:nvSpPr>
          <p:cNvPr id="9" name="Oval 8">
            <a:extLst>
              <a:ext uri="{FF2B5EF4-FFF2-40B4-BE49-F238E27FC236}">
                <a16:creationId xmlns:a16="http://schemas.microsoft.com/office/drawing/2014/main" id="{E551AB39-D7D5-41D2-BAFF-FCEBB5177A8E}"/>
              </a:ext>
            </a:extLst>
          </p:cNvPr>
          <p:cNvSpPr/>
          <p:nvPr/>
        </p:nvSpPr>
        <p:spPr>
          <a:xfrm>
            <a:off x="7443478" y="3432286"/>
            <a:ext cx="1008000" cy="10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1DF83B4E-809F-44ED-8049-563F64490F26}"/>
              </a:ext>
            </a:extLst>
          </p:cNvPr>
          <p:cNvSpPr/>
          <p:nvPr/>
        </p:nvSpPr>
        <p:spPr>
          <a:xfrm>
            <a:off x="301398" y="4756258"/>
            <a:ext cx="2605199" cy="948933"/>
          </a:xfrm>
          <a:prstGeom prst="rect">
            <a:avLst/>
          </a:prstGeom>
          <a:solidFill>
            <a:srgbClr val="EBF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 name="אליפסה 1">
            <a:extLst>
              <a:ext uri="{FF2B5EF4-FFF2-40B4-BE49-F238E27FC236}">
                <a16:creationId xmlns:a16="http://schemas.microsoft.com/office/drawing/2014/main" id="{5108EBDD-AA0D-420A-B4E9-F094B0F9E866}"/>
              </a:ext>
            </a:extLst>
          </p:cNvPr>
          <p:cNvSpPr/>
          <p:nvPr/>
        </p:nvSpPr>
        <p:spPr>
          <a:xfrm>
            <a:off x="1337935" y="5029571"/>
            <a:ext cx="439633" cy="402307"/>
          </a:xfrm>
          <a:prstGeom prst="ellipse">
            <a:avLst/>
          </a:prstGeom>
          <a:solidFill>
            <a:srgbClr val="EBF6F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330076" y="4861392"/>
            <a:ext cx="1705218" cy="738664"/>
          </a:xfrm>
          <a:prstGeom prst="rect">
            <a:avLst/>
          </a:prstGeom>
          <a:solidFill>
            <a:srgbClr val="EBF6F5"/>
          </a:solidFill>
        </p:spPr>
        <p:txBody>
          <a:bodyPr wrap="square" rtlCol="1">
            <a:spAutoFit/>
          </a:bodyPr>
          <a:lstStyle/>
          <a:p>
            <a:pPr algn="ctr"/>
            <a:r>
              <a:rPr lang="he-IL" sz="1400" b="1" dirty="0">
                <a:solidFill>
                  <a:srgbClr val="C00000"/>
                </a:solidFill>
              </a:rPr>
              <a:t>הרשויות המקומיות </a:t>
            </a:r>
            <a:r>
              <a:rPr lang="he-IL" sz="1400" dirty="0">
                <a:solidFill>
                  <a:srgbClr val="C00000"/>
                </a:solidFill>
              </a:rPr>
              <a:t>כגוף תפעולי נותן שירותים</a:t>
            </a:r>
          </a:p>
        </p:txBody>
      </p:sp>
      <p:pic>
        <p:nvPicPr>
          <p:cNvPr id="19" name="Graphic 18">
            <a:extLst>
              <a:ext uri="{FF2B5EF4-FFF2-40B4-BE49-F238E27FC236}">
                <a16:creationId xmlns:a16="http://schemas.microsoft.com/office/drawing/2014/main" id="{4A39C2F2-8D2C-4077-8D6B-AFF55134D5A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2159691" y="4906874"/>
            <a:ext cx="518160" cy="647700"/>
          </a:xfrm>
          <a:prstGeom prst="rect">
            <a:avLst/>
          </a:prstGeom>
        </p:spPr>
      </p:pic>
      <p:pic>
        <p:nvPicPr>
          <p:cNvPr id="20" name="Picture 19">
            <a:extLst>
              <a:ext uri="{FF2B5EF4-FFF2-40B4-BE49-F238E27FC236}">
                <a16:creationId xmlns:a16="http://schemas.microsoft.com/office/drawing/2014/main" id="{FFE25ED3-B525-4326-8CF3-2DBBEF8A77FD}"/>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7430" y="1911555"/>
            <a:ext cx="2628900" cy="2676525"/>
          </a:xfrm>
          <a:prstGeom prst="rect">
            <a:avLst/>
          </a:prstGeom>
        </p:spPr>
      </p:pic>
      <p:pic>
        <p:nvPicPr>
          <p:cNvPr id="22" name="Picture 2" descr="סמל מדינת ישראל – ויקיפדיה">
            <a:extLst>
              <a:ext uri="{FF2B5EF4-FFF2-40B4-BE49-F238E27FC236}">
                <a16:creationId xmlns:a16="http://schemas.microsoft.com/office/drawing/2014/main" id="{E186DB7E-E110-4860-ACB1-6C24FE03B038}"/>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895317" y="321056"/>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 descr="קובץ:Ministry of Labor, Social Affairs and Social Services ...">
            <a:extLst>
              <a:ext uri="{FF2B5EF4-FFF2-40B4-BE49-F238E27FC236}">
                <a16:creationId xmlns:a16="http://schemas.microsoft.com/office/drawing/2014/main" id="{15FC5F32-DB3B-4EC0-8032-13C317518C61}"/>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465574" y="321056"/>
            <a:ext cx="1326800" cy="3617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C103B0D-E22C-415B-B0BB-602F7B3ABAE8}"/>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22963"/>
          <a:stretch/>
        </p:blipFill>
        <p:spPr>
          <a:xfrm>
            <a:off x="7502978" y="3593856"/>
            <a:ext cx="889000" cy="684859"/>
          </a:xfrm>
          <a:prstGeom prst="rect">
            <a:avLst/>
          </a:prstGeom>
        </p:spPr>
      </p:pic>
    </p:spTree>
    <p:extLst>
      <p:ext uri="{BB962C8B-B14F-4D97-AF65-F5344CB8AC3E}">
        <p14:creationId xmlns:p14="http://schemas.microsoft.com/office/powerpoint/2010/main" val="382964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70825" y="845544"/>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עקרונות מנחים במודל העבודה המשותף: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569729984"/>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F30606D-4C69-49C9-B4EE-D35182697DA4}"/>
              </a:ext>
            </a:extLst>
          </p:cNvPr>
          <p:cNvSpPr/>
          <p:nvPr/>
        </p:nvSpPr>
        <p:spPr>
          <a:xfrm>
            <a:off x="0" y="0"/>
            <a:ext cx="785994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grpSp>
        <p:nvGrpSpPr>
          <p:cNvPr id="4" name="Group 3">
            <a:extLst>
              <a:ext uri="{FF2B5EF4-FFF2-40B4-BE49-F238E27FC236}">
                <a16:creationId xmlns:a16="http://schemas.microsoft.com/office/drawing/2014/main" id="{F3EB93A2-64A8-4208-9229-22D52D3FE645}"/>
              </a:ext>
            </a:extLst>
          </p:cNvPr>
          <p:cNvGrpSpPr>
            <a:grpSpLocks noChangeAspect="1"/>
          </p:cNvGrpSpPr>
          <p:nvPr/>
        </p:nvGrpSpPr>
        <p:grpSpPr>
          <a:xfrm>
            <a:off x="2337507" y="1521000"/>
            <a:ext cx="4286214" cy="3816000"/>
            <a:chOff x="1496309" y="2306745"/>
            <a:chExt cx="3547280" cy="3158130"/>
          </a:xfrm>
        </p:grpSpPr>
        <p:sp>
          <p:nvSpPr>
            <p:cNvPr id="24" name="Freeform 7">
              <a:extLst>
                <a:ext uri="{FF2B5EF4-FFF2-40B4-BE49-F238E27FC236}">
                  <a16:creationId xmlns:a16="http://schemas.microsoft.com/office/drawing/2014/main" id="{22EF891F-198B-497F-9E83-36383EDA3B0D}"/>
                </a:ext>
              </a:extLst>
            </p:cNvPr>
            <p:cNvSpPr>
              <a:spLocks/>
            </p:cNvSpPr>
            <p:nvPr/>
          </p:nvSpPr>
          <p:spPr bwMode="gray">
            <a:xfrm rot="107936" flipH="1">
              <a:off x="2541303" y="2485756"/>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2"/>
            </a:solidFill>
            <a:ln>
              <a:noFill/>
              <a:headEnd/>
              <a:tailEnd/>
            </a:ln>
            <a:effectLst/>
          </p:spPr>
          <p:style>
            <a:lnRef idx="3">
              <a:schemeClr val="lt1"/>
            </a:lnRef>
            <a:fillRef idx="1">
              <a:schemeClr val="accent5"/>
            </a:fillRef>
            <a:effectRef idx="1">
              <a:schemeClr val="accent5"/>
            </a:effectRef>
            <a:fontRef idx="minor">
              <a:schemeClr val="lt1"/>
            </a:fontRef>
          </p:style>
          <p:txBody>
            <a:bodyPr vert="horz" wrap="square" lIns="44450" tIns="274320" rIns="44450" bIns="44450" numCol="1" anchor="ctr" anchorCtr="0" compatLnSpc="1">
              <a:prstTxWarp prst="textNoShape">
                <a:avLst/>
              </a:prstTxWarp>
            </a:bodyPr>
            <a:lstStyle/>
            <a:p>
              <a:pPr algn="ctr" defTabSz="913686"/>
              <a:r>
                <a:rPr lang="he-IL" sz="2000" b="1" dirty="0">
                  <a:solidFill>
                    <a:srgbClr val="FFFFFF"/>
                  </a:solidFill>
                  <a:latin typeface="Calibri" panose="020F0502020204030204" pitchFamily="34" charset="0"/>
                  <a:cs typeface="Calibri" panose="020F0502020204030204" pitchFamily="34" charset="0"/>
                </a:rPr>
                <a:t>תשתית נתונים</a:t>
              </a:r>
              <a:endParaRPr lang="en-US" sz="2000" b="1" dirty="0">
                <a:solidFill>
                  <a:srgbClr val="FFFFFF"/>
                </a:solidFill>
                <a:latin typeface="Calibri" panose="020F0502020204030204" pitchFamily="34" charset="0"/>
                <a:cs typeface="Calibri" panose="020F0502020204030204" pitchFamily="34" charset="0"/>
              </a:endParaRPr>
            </a:p>
          </p:txBody>
        </p:sp>
        <p:sp>
          <p:nvSpPr>
            <p:cNvPr id="25" name="Freeform 118">
              <a:extLst>
                <a:ext uri="{FF2B5EF4-FFF2-40B4-BE49-F238E27FC236}">
                  <a16:creationId xmlns:a16="http://schemas.microsoft.com/office/drawing/2014/main" id="{3E1193BD-58A8-4CB0-8C85-52A0633968F6}"/>
                </a:ext>
              </a:extLst>
            </p:cNvPr>
            <p:cNvSpPr>
              <a:spLocks/>
            </p:cNvSpPr>
            <p:nvPr/>
          </p:nvSpPr>
          <p:spPr bwMode="gray">
            <a:xfrm rot="107936" flipH="1">
              <a:off x="3380876" y="3782327"/>
              <a:ext cx="1503328"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3"/>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274320" rIns="44450" bIns="44450" numCol="1" anchor="ctr" anchorCtr="0" compatLnSpc="1">
              <a:prstTxWarp prst="textNoShape">
                <a:avLst/>
              </a:prstTxWarp>
            </a:bodyPr>
            <a:lstStyle/>
            <a:p>
              <a:pPr algn="ctr" defTabSz="913686"/>
              <a:r>
                <a:rPr lang="he-IL" sz="2000" b="1" dirty="0" err="1">
                  <a:solidFill>
                    <a:srgbClr val="FFFFFF"/>
                  </a:solidFill>
                  <a:latin typeface="Calibri" panose="020F0502020204030204" pitchFamily="34" charset="0"/>
                  <a:cs typeface="Calibri" panose="020F0502020204030204" pitchFamily="34" charset="0"/>
                </a:rPr>
                <a:t>הנגשת</a:t>
              </a:r>
              <a:r>
                <a:rPr lang="he-IL" sz="2000" b="1" dirty="0">
                  <a:solidFill>
                    <a:srgbClr val="FFFFFF"/>
                  </a:solidFill>
                  <a:latin typeface="Calibri" panose="020F0502020204030204" pitchFamily="34" charset="0"/>
                  <a:cs typeface="Calibri" panose="020F0502020204030204" pitchFamily="34" charset="0"/>
                </a:rPr>
                <a:t> תוצרי נתונים </a:t>
              </a:r>
              <a:endParaRPr lang="en-US" sz="2000" b="1" dirty="0">
                <a:solidFill>
                  <a:srgbClr val="FFFFFF"/>
                </a:solidFill>
                <a:latin typeface="Calibri" panose="020F0502020204030204" pitchFamily="34" charset="0"/>
                <a:cs typeface="Calibri" panose="020F0502020204030204" pitchFamily="34" charset="0"/>
              </a:endParaRPr>
            </a:p>
          </p:txBody>
        </p:sp>
        <p:sp>
          <p:nvSpPr>
            <p:cNvPr id="28" name="Freeform 7">
              <a:extLst>
                <a:ext uri="{FF2B5EF4-FFF2-40B4-BE49-F238E27FC236}">
                  <a16:creationId xmlns:a16="http://schemas.microsoft.com/office/drawing/2014/main" id="{1046D0AB-6A9C-4FC4-99BB-D86F43C15C04}"/>
                </a:ext>
              </a:extLst>
            </p:cNvPr>
            <p:cNvSpPr>
              <a:spLocks/>
            </p:cNvSpPr>
            <p:nvPr/>
          </p:nvSpPr>
          <p:spPr bwMode="gray">
            <a:xfrm rot="107936" flipH="1">
              <a:off x="1663504" y="3736349"/>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1"/>
            </a:solidFill>
            <a:ln>
              <a:noFill/>
              <a:headEnd/>
              <a:tailEnd/>
            </a:ln>
            <a:effectLst/>
          </p:spPr>
          <p:style>
            <a:lnRef idx="3">
              <a:schemeClr val="lt1"/>
            </a:lnRef>
            <a:fillRef idx="1">
              <a:schemeClr val="accent2"/>
            </a:fillRef>
            <a:effectRef idx="1">
              <a:schemeClr val="accent2"/>
            </a:effectRef>
            <a:fontRef idx="minor">
              <a:schemeClr val="lt1"/>
            </a:fontRef>
          </p:style>
          <p:txBody>
            <a:bodyPr vert="horz" wrap="square" lIns="44450" tIns="274320" rIns="44450" bIns="44450" numCol="1" anchor="ctr" anchorCtr="0" compatLnSpc="1">
              <a:prstTxWarp prst="textNoShape">
                <a:avLst/>
              </a:prstTxWarp>
            </a:bodyPr>
            <a:lstStyle/>
            <a:p>
              <a:pPr algn="ctr" defTabSz="913686" rtl="1"/>
              <a:r>
                <a:rPr lang="he-IL" sz="2000" b="1" dirty="0">
                  <a:solidFill>
                    <a:srgbClr val="FFFFFF"/>
                  </a:solidFill>
                  <a:latin typeface="Calibri" panose="020F0502020204030204" pitchFamily="34" charset="0"/>
                  <a:cs typeface="Calibri" panose="020F0502020204030204" pitchFamily="34" charset="0"/>
                </a:rPr>
                <a:t>פיתוח יכולות</a:t>
              </a:r>
              <a:r>
                <a:rPr lang="en-US" sz="2000" b="1" dirty="0">
                  <a:solidFill>
                    <a:srgbClr val="FFFFFF"/>
                  </a:solidFill>
                  <a:latin typeface="Calibri" panose="020F0502020204030204" pitchFamily="34" charset="0"/>
                  <a:cs typeface="Calibri" panose="020F0502020204030204" pitchFamily="34" charset="0"/>
                </a:rPr>
                <a:t/>
              </a:r>
              <a:br>
                <a:rPr lang="en-US" sz="2000" b="1" dirty="0">
                  <a:solidFill>
                    <a:srgbClr val="FFFFFF"/>
                  </a:solidFill>
                  <a:latin typeface="Calibri" panose="020F0502020204030204" pitchFamily="34" charset="0"/>
                  <a:cs typeface="Calibri" panose="020F0502020204030204" pitchFamily="34" charset="0"/>
                </a:rPr>
              </a:br>
              <a:r>
                <a:rPr lang="he-IL" sz="2000" b="1" dirty="0">
                  <a:solidFill>
                    <a:srgbClr val="FFFFFF"/>
                  </a:solidFill>
                  <a:latin typeface="Calibri" panose="020F0502020204030204" pitchFamily="34" charset="0"/>
                  <a:cs typeface="Calibri" panose="020F0502020204030204" pitchFamily="34" charset="0"/>
                </a:rPr>
                <a:t> </a:t>
              </a:r>
              <a:r>
                <a:rPr lang="en-US" sz="2000" b="1" dirty="0">
                  <a:solidFill>
                    <a:srgbClr val="FFFFFF"/>
                  </a:solidFill>
                  <a:latin typeface="Calibri" panose="020F0502020204030204" pitchFamily="34" charset="0"/>
                  <a:cs typeface="Calibri" panose="020F0502020204030204" pitchFamily="34" charset="0"/>
                </a:rPr>
                <a:t>AI</a:t>
              </a:r>
            </a:p>
          </p:txBody>
        </p:sp>
        <p:sp>
          <p:nvSpPr>
            <p:cNvPr id="29" name="Arc 28">
              <a:extLst>
                <a:ext uri="{FF2B5EF4-FFF2-40B4-BE49-F238E27FC236}">
                  <a16:creationId xmlns:a16="http://schemas.microsoft.com/office/drawing/2014/main" id="{D9CCFA4A-3616-48CE-876F-07F1365A64CE}"/>
                </a:ext>
              </a:extLst>
            </p:cNvPr>
            <p:cNvSpPr/>
            <p:nvPr/>
          </p:nvSpPr>
          <p:spPr bwMode="gray">
            <a:xfrm rot="617810">
              <a:off x="3159925" y="3597701"/>
              <a:ext cx="1883664" cy="1867174"/>
            </a:xfrm>
            <a:prstGeom prst="arc">
              <a:avLst>
                <a:gd name="adj1" fmla="val 16686941"/>
                <a:gd name="adj2" fmla="val 8034923"/>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sp>
          <p:nvSpPr>
            <p:cNvPr id="30" name="Arc 29">
              <a:extLst>
                <a:ext uri="{FF2B5EF4-FFF2-40B4-BE49-F238E27FC236}">
                  <a16:creationId xmlns:a16="http://schemas.microsoft.com/office/drawing/2014/main" id="{08FA9DA3-15A3-4F2E-87C3-948BF5D3994F}"/>
                </a:ext>
              </a:extLst>
            </p:cNvPr>
            <p:cNvSpPr/>
            <p:nvPr/>
          </p:nvSpPr>
          <p:spPr bwMode="gray">
            <a:xfrm rot="617810">
              <a:off x="2390715" y="2306745"/>
              <a:ext cx="1792224" cy="1773816"/>
            </a:xfrm>
            <a:prstGeom prst="arc">
              <a:avLst>
                <a:gd name="adj1" fmla="val 10210110"/>
                <a:gd name="adj2" fmla="val 175146"/>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sp>
          <p:nvSpPr>
            <p:cNvPr id="31" name="Arc 30">
              <a:extLst>
                <a:ext uri="{FF2B5EF4-FFF2-40B4-BE49-F238E27FC236}">
                  <a16:creationId xmlns:a16="http://schemas.microsoft.com/office/drawing/2014/main" id="{09F281AB-D5A6-44C6-A902-2ABC33B66EE6}"/>
                </a:ext>
              </a:extLst>
            </p:cNvPr>
            <p:cNvSpPr/>
            <p:nvPr/>
          </p:nvSpPr>
          <p:spPr bwMode="gray">
            <a:xfrm rot="5756245" flipH="1">
              <a:off x="1475770" y="3579735"/>
              <a:ext cx="1829831" cy="1788753"/>
            </a:xfrm>
            <a:prstGeom prst="arc">
              <a:avLst>
                <a:gd name="adj1" fmla="val 1078623"/>
                <a:gd name="adj2" fmla="val 13769744"/>
              </a:avLst>
            </a:prstGeom>
            <a:ln w="285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grpSp>
          <p:nvGrpSpPr>
            <p:cNvPr id="32" name="Group 449">
              <a:extLst>
                <a:ext uri="{FF2B5EF4-FFF2-40B4-BE49-F238E27FC236}">
                  <a16:creationId xmlns:a16="http://schemas.microsoft.com/office/drawing/2014/main" id="{02D64051-01E2-4749-B62D-BB4DE7E5D45F}"/>
                </a:ext>
              </a:extLst>
            </p:cNvPr>
            <p:cNvGrpSpPr>
              <a:grpSpLocks noChangeAspect="1"/>
            </p:cNvGrpSpPr>
            <p:nvPr/>
          </p:nvGrpSpPr>
          <p:grpSpPr bwMode="auto">
            <a:xfrm>
              <a:off x="3130085" y="2757956"/>
              <a:ext cx="316218" cy="316218"/>
              <a:chOff x="2276" y="1587"/>
              <a:chExt cx="340" cy="340"/>
            </a:xfrm>
            <a:solidFill>
              <a:schemeClr val="bg1"/>
            </a:solidFill>
          </p:grpSpPr>
          <p:sp>
            <p:nvSpPr>
              <p:cNvPr id="33" name="Freeform 450">
                <a:extLst>
                  <a:ext uri="{FF2B5EF4-FFF2-40B4-BE49-F238E27FC236}">
                    <a16:creationId xmlns:a16="http://schemas.microsoft.com/office/drawing/2014/main" id="{283CA427-C2FB-45CE-8FFE-D53E3B6E40D4}"/>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sp>
            <p:nvSpPr>
              <p:cNvPr id="34" name="Freeform 451">
                <a:extLst>
                  <a:ext uri="{FF2B5EF4-FFF2-40B4-BE49-F238E27FC236}">
                    <a16:creationId xmlns:a16="http://schemas.microsoft.com/office/drawing/2014/main" id="{F33F217B-C391-45FE-A081-3FD26A91C94A}"/>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grpSp>
        <p:sp>
          <p:nvSpPr>
            <p:cNvPr id="35" name="Freeform 884">
              <a:extLst>
                <a:ext uri="{FF2B5EF4-FFF2-40B4-BE49-F238E27FC236}">
                  <a16:creationId xmlns:a16="http://schemas.microsoft.com/office/drawing/2014/main" id="{94B830AB-5E6E-4A1E-9567-03F2E3B1DC53}"/>
                </a:ext>
              </a:extLst>
            </p:cNvPr>
            <p:cNvSpPr>
              <a:spLocks noChangeAspect="1" noEditPoints="1"/>
            </p:cNvSpPr>
            <p:nvPr/>
          </p:nvSpPr>
          <p:spPr bwMode="auto">
            <a:xfrm>
              <a:off x="2238436" y="3993502"/>
              <a:ext cx="314521" cy="3145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106 w 512"/>
                <a:gd name="T13" fmla="*/ 266 h 512"/>
                <a:gd name="T14" fmla="*/ 96 w 512"/>
                <a:gd name="T15" fmla="*/ 256 h 512"/>
                <a:gd name="T16" fmla="*/ 106 w 512"/>
                <a:gd name="T17" fmla="*/ 245 h 512"/>
                <a:gd name="T18" fmla="*/ 405 w 512"/>
                <a:gd name="T19" fmla="*/ 245 h 512"/>
                <a:gd name="T20" fmla="*/ 416 w 512"/>
                <a:gd name="T21" fmla="*/ 256 h 512"/>
                <a:gd name="T22" fmla="*/ 405 w 512"/>
                <a:gd name="T2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106" y="266"/>
                    <a:pt x="106" y="266"/>
                    <a:pt x="106" y="266"/>
                  </a:cubicBezTo>
                  <a:cubicBezTo>
                    <a:pt x="100" y="266"/>
                    <a:pt x="96" y="262"/>
                    <a:pt x="96" y="256"/>
                  </a:cubicBezTo>
                  <a:cubicBezTo>
                    <a:pt x="96" y="250"/>
                    <a:pt x="100" y="245"/>
                    <a:pt x="106" y="245"/>
                  </a:cubicBezTo>
                  <a:cubicBezTo>
                    <a:pt x="405" y="245"/>
                    <a:pt x="405" y="245"/>
                    <a:pt x="405" y="245"/>
                  </a:cubicBezTo>
                  <a:cubicBezTo>
                    <a:pt x="411" y="245"/>
                    <a:pt x="416" y="250"/>
                    <a:pt x="416" y="256"/>
                  </a:cubicBezTo>
                  <a:cubicBezTo>
                    <a:pt x="416" y="262"/>
                    <a:pt x="411" y="266"/>
                    <a:pt x="405" y="266"/>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sp>
          <p:nvSpPr>
            <p:cNvPr id="36" name="Freeform 598">
              <a:extLst>
                <a:ext uri="{FF2B5EF4-FFF2-40B4-BE49-F238E27FC236}">
                  <a16:creationId xmlns:a16="http://schemas.microsoft.com/office/drawing/2014/main" id="{AA8A77A4-5095-478D-A60E-5D43AC7E5A9D}"/>
                </a:ext>
              </a:extLst>
            </p:cNvPr>
            <p:cNvSpPr>
              <a:spLocks noChangeAspect="1" noEditPoints="1"/>
            </p:cNvSpPr>
            <p:nvPr/>
          </p:nvSpPr>
          <p:spPr bwMode="auto">
            <a:xfrm>
              <a:off x="3963308" y="4083789"/>
              <a:ext cx="316779" cy="31677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2 w 512"/>
                <a:gd name="T11" fmla="*/ 167 h 512"/>
                <a:gd name="T12" fmla="*/ 189 w 512"/>
                <a:gd name="T13" fmla="*/ 381 h 512"/>
                <a:gd name="T14" fmla="*/ 181 w 512"/>
                <a:gd name="T15" fmla="*/ 384 h 512"/>
                <a:gd name="T16" fmla="*/ 173 w 512"/>
                <a:gd name="T17" fmla="*/ 381 h 512"/>
                <a:gd name="T18" fmla="*/ 99 w 512"/>
                <a:gd name="T19" fmla="*/ 306 h 512"/>
                <a:gd name="T20" fmla="*/ 99 w 512"/>
                <a:gd name="T21" fmla="*/ 291 h 512"/>
                <a:gd name="T22" fmla="*/ 114 w 512"/>
                <a:gd name="T23" fmla="*/ 291 h 512"/>
                <a:gd name="T24" fmla="*/ 181 w 512"/>
                <a:gd name="T25" fmla="*/ 358 h 512"/>
                <a:gd name="T26" fmla="*/ 387 w 512"/>
                <a:gd name="T27" fmla="*/ 152 h 512"/>
                <a:gd name="T28" fmla="*/ 402 w 512"/>
                <a:gd name="T29" fmla="*/ 152 h 512"/>
                <a:gd name="T30" fmla="*/ 402 w 512"/>
                <a:gd name="T31" fmla="*/ 16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2" y="167"/>
                  </a:moveTo>
                  <a:cubicBezTo>
                    <a:pt x="189" y="381"/>
                    <a:pt x="189" y="381"/>
                    <a:pt x="189" y="381"/>
                  </a:cubicBezTo>
                  <a:cubicBezTo>
                    <a:pt x="186" y="383"/>
                    <a:pt x="184" y="384"/>
                    <a:pt x="181" y="384"/>
                  </a:cubicBezTo>
                  <a:cubicBezTo>
                    <a:pt x="178" y="384"/>
                    <a:pt x="176" y="383"/>
                    <a:pt x="173" y="381"/>
                  </a:cubicBezTo>
                  <a:cubicBezTo>
                    <a:pt x="99" y="306"/>
                    <a:pt x="99" y="306"/>
                    <a:pt x="99" y="306"/>
                  </a:cubicBezTo>
                  <a:cubicBezTo>
                    <a:pt x="95" y="302"/>
                    <a:pt x="95" y="295"/>
                    <a:pt x="99" y="291"/>
                  </a:cubicBezTo>
                  <a:cubicBezTo>
                    <a:pt x="103" y="287"/>
                    <a:pt x="110" y="287"/>
                    <a:pt x="114" y="291"/>
                  </a:cubicBezTo>
                  <a:cubicBezTo>
                    <a:pt x="181" y="358"/>
                    <a:pt x="181" y="358"/>
                    <a:pt x="181" y="358"/>
                  </a:cubicBezTo>
                  <a:cubicBezTo>
                    <a:pt x="387" y="152"/>
                    <a:pt x="387" y="152"/>
                    <a:pt x="387" y="152"/>
                  </a:cubicBezTo>
                  <a:cubicBezTo>
                    <a:pt x="391" y="148"/>
                    <a:pt x="398" y="148"/>
                    <a:pt x="402" y="152"/>
                  </a:cubicBezTo>
                  <a:cubicBezTo>
                    <a:pt x="406" y="156"/>
                    <a:pt x="406" y="163"/>
                    <a:pt x="402" y="167"/>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grpSp>
      <p:sp>
        <p:nvSpPr>
          <p:cNvPr id="5" name="Rectangle 4">
            <a:extLst>
              <a:ext uri="{FF2B5EF4-FFF2-40B4-BE49-F238E27FC236}">
                <a16:creationId xmlns:a16="http://schemas.microsoft.com/office/drawing/2014/main" id="{F919C655-10E5-46CB-8EDA-5DC9AF1A8A9B}"/>
              </a:ext>
            </a:extLst>
          </p:cNvPr>
          <p:cNvSpPr/>
          <p:nvPr/>
        </p:nvSpPr>
        <p:spPr>
          <a:xfrm>
            <a:off x="1375341" y="907211"/>
            <a:ext cx="2862604" cy="646331"/>
          </a:xfrm>
          <a:prstGeom prst="rect">
            <a:avLst/>
          </a:prstGeom>
        </p:spPr>
        <p:txBody>
          <a:bodyPr wrap="square">
            <a:spAutoFit/>
          </a:bodyPr>
          <a:lstStyle/>
          <a:p>
            <a:pPr algn="r"/>
            <a:r>
              <a:rPr lang="he-IL" dirty="0">
                <a:solidFill>
                  <a:prstClr val="black"/>
                </a:solidFill>
                <a:latin typeface="Calibri" panose="020F0502020204030204" pitchFamily="34" charset="0"/>
                <a:cs typeface="Calibri" panose="020F0502020204030204" pitchFamily="34" charset="0"/>
              </a:rPr>
              <a:t>1. איסוף, אחסון ועיבוד </a:t>
            </a:r>
          </a:p>
          <a:p>
            <a:pPr algn="r"/>
            <a:r>
              <a:rPr lang="he-IL" dirty="0">
                <a:solidFill>
                  <a:prstClr val="black"/>
                </a:solidFill>
                <a:latin typeface="Calibri" panose="020F0502020204030204" pitchFamily="34" charset="0"/>
                <a:cs typeface="Calibri" panose="020F0502020204030204" pitchFamily="34" charset="0"/>
              </a:rPr>
              <a:t>של נתונים </a:t>
            </a:r>
            <a:r>
              <a:rPr lang="he-IL" b="1" dirty="0">
                <a:solidFill>
                  <a:prstClr val="black"/>
                </a:solidFill>
                <a:latin typeface="Calibri" panose="020F0502020204030204" pitchFamily="34" charset="0"/>
                <a:cs typeface="Calibri" panose="020F0502020204030204" pitchFamily="34" charset="0"/>
              </a:rPr>
              <a:t>ממגוון מקורות</a:t>
            </a:r>
            <a:endParaRPr lang="en-IL" b="1" dirty="0"/>
          </a:p>
        </p:txBody>
      </p:sp>
      <p:sp>
        <p:nvSpPr>
          <p:cNvPr id="37" name="Rectangle 36">
            <a:extLst>
              <a:ext uri="{FF2B5EF4-FFF2-40B4-BE49-F238E27FC236}">
                <a16:creationId xmlns:a16="http://schemas.microsoft.com/office/drawing/2014/main" id="{733275F5-392B-4374-84DC-73F844BCD03A}"/>
              </a:ext>
            </a:extLst>
          </p:cNvPr>
          <p:cNvSpPr/>
          <p:nvPr/>
        </p:nvSpPr>
        <p:spPr>
          <a:xfrm>
            <a:off x="4693704" y="5397801"/>
            <a:ext cx="2989267" cy="646331"/>
          </a:xfrm>
          <a:prstGeom prst="rect">
            <a:avLst/>
          </a:prstGeom>
        </p:spPr>
        <p:txBody>
          <a:bodyPr wrap="square">
            <a:spAutoFit/>
          </a:bodyPr>
          <a:lstStyle/>
          <a:p>
            <a:pPr algn="r" rtl="1"/>
            <a:r>
              <a:rPr lang="he-IL" dirty="0">
                <a:solidFill>
                  <a:prstClr val="black"/>
                </a:solidFill>
                <a:latin typeface="Calibri" panose="020F0502020204030204" pitchFamily="34" charset="0"/>
                <a:cs typeface="Calibri" panose="020F0502020204030204" pitchFamily="34" charset="0"/>
              </a:rPr>
              <a:t>2. הנגשת מוצרי נתונים </a:t>
            </a:r>
            <a:r>
              <a:rPr lang="en-US" dirty="0">
                <a:solidFill>
                  <a:prstClr val="black"/>
                </a:solidFill>
                <a:latin typeface="Calibri" panose="020F0502020204030204" pitchFamily="34" charset="0"/>
                <a:cs typeface="Calibri" panose="020F0502020204030204" pitchFamily="34" charset="0"/>
              </a:rPr>
              <a:t/>
            </a:r>
            <a:br>
              <a:rPr lang="en-US" dirty="0">
                <a:solidFill>
                  <a:prstClr val="black"/>
                </a:solidFill>
                <a:latin typeface="Calibri" panose="020F0502020204030204" pitchFamily="34" charset="0"/>
                <a:cs typeface="Calibri" panose="020F0502020204030204" pitchFamily="34" charset="0"/>
              </a:rPr>
            </a:br>
            <a:r>
              <a:rPr lang="he-IL" dirty="0">
                <a:solidFill>
                  <a:prstClr val="black"/>
                </a:solidFill>
                <a:latin typeface="Calibri" panose="020F0502020204030204" pitchFamily="34" charset="0"/>
                <a:cs typeface="Calibri" panose="020F0502020204030204" pitchFamily="34" charset="0"/>
              </a:rPr>
              <a:t>תומכי החלטה </a:t>
            </a:r>
            <a:r>
              <a:rPr lang="he-IL" b="1" dirty="0">
                <a:solidFill>
                  <a:prstClr val="black"/>
                </a:solidFill>
                <a:latin typeface="Calibri" panose="020F0502020204030204" pitchFamily="34" charset="0"/>
                <a:cs typeface="Calibri" panose="020F0502020204030204" pitchFamily="34" charset="0"/>
              </a:rPr>
              <a:t>לכלל השחקנים</a:t>
            </a:r>
            <a:endParaRPr lang="en-IL" b="1" dirty="0"/>
          </a:p>
        </p:txBody>
      </p:sp>
      <p:sp>
        <p:nvSpPr>
          <p:cNvPr id="38" name="Rectangle 37">
            <a:extLst>
              <a:ext uri="{FF2B5EF4-FFF2-40B4-BE49-F238E27FC236}">
                <a16:creationId xmlns:a16="http://schemas.microsoft.com/office/drawing/2014/main" id="{6B6E0391-254E-43BC-93B2-F9A05A60B799}"/>
              </a:ext>
            </a:extLst>
          </p:cNvPr>
          <p:cNvSpPr/>
          <p:nvPr/>
        </p:nvSpPr>
        <p:spPr>
          <a:xfrm>
            <a:off x="60674" y="3560515"/>
            <a:ext cx="2260738" cy="646331"/>
          </a:xfrm>
          <a:prstGeom prst="rect">
            <a:avLst/>
          </a:prstGeom>
        </p:spPr>
        <p:txBody>
          <a:bodyPr wrap="square">
            <a:spAutoFit/>
          </a:bodyPr>
          <a:lstStyle/>
          <a:p>
            <a:pPr algn="r" rtl="1"/>
            <a:r>
              <a:rPr lang="he-IL" dirty="0">
                <a:solidFill>
                  <a:prstClr val="black"/>
                </a:solidFill>
                <a:latin typeface="Calibri" panose="020F0502020204030204" pitchFamily="34" charset="0"/>
                <a:cs typeface="Calibri" panose="020F0502020204030204" pitchFamily="34" charset="0"/>
              </a:rPr>
              <a:t>3. פיתוח ושימוש </a:t>
            </a:r>
            <a:r>
              <a:rPr lang="en-US" b="1" dirty="0">
                <a:solidFill>
                  <a:prstClr val="black"/>
                </a:solidFill>
                <a:latin typeface="Calibri" panose="020F0502020204030204" pitchFamily="34" charset="0"/>
                <a:cs typeface="Calibri" panose="020F0502020204030204" pitchFamily="34" charset="0"/>
              </a:rPr>
              <a:t/>
            </a:r>
            <a:br>
              <a:rPr lang="en-US" b="1" dirty="0">
                <a:solidFill>
                  <a:prstClr val="black"/>
                </a:solidFill>
                <a:latin typeface="Calibri" panose="020F0502020204030204" pitchFamily="34" charset="0"/>
                <a:cs typeface="Calibri" panose="020F0502020204030204" pitchFamily="34" charset="0"/>
              </a:rPr>
            </a:br>
            <a:r>
              <a:rPr lang="he-IL" b="1" dirty="0">
                <a:solidFill>
                  <a:prstClr val="black"/>
                </a:solidFill>
                <a:latin typeface="Calibri" panose="020F0502020204030204" pitchFamily="34" charset="0"/>
                <a:cs typeface="Calibri" panose="020F0502020204030204" pitchFamily="34" charset="0"/>
              </a:rPr>
              <a:t>בפתרונות </a:t>
            </a:r>
            <a:r>
              <a:rPr lang="en-US" b="1" dirty="0">
                <a:solidFill>
                  <a:prstClr val="black"/>
                </a:solidFill>
                <a:latin typeface="Calibri" panose="020F0502020204030204" pitchFamily="34" charset="0"/>
                <a:cs typeface="Calibri" panose="020F0502020204030204" pitchFamily="34" charset="0"/>
              </a:rPr>
              <a:t>AI</a:t>
            </a:r>
            <a:r>
              <a:rPr lang="he-IL" b="1" dirty="0">
                <a:solidFill>
                  <a:prstClr val="black"/>
                </a:solidFill>
                <a:latin typeface="Calibri" panose="020F0502020204030204" pitchFamily="34" charset="0"/>
                <a:cs typeface="Calibri" panose="020F0502020204030204" pitchFamily="34" charset="0"/>
              </a:rPr>
              <a:t> </a:t>
            </a:r>
            <a:r>
              <a:rPr lang="he-IL" dirty="0">
                <a:solidFill>
                  <a:prstClr val="black"/>
                </a:solidFill>
                <a:latin typeface="Calibri" panose="020F0502020204030204" pitchFamily="34" charset="0"/>
                <a:cs typeface="Calibri" panose="020F0502020204030204" pitchFamily="34" charset="0"/>
              </a:rPr>
              <a:t>חדשניים</a:t>
            </a:r>
            <a:endParaRPr lang="en-IL" dirty="0"/>
          </a:p>
        </p:txBody>
      </p:sp>
      <p:sp>
        <p:nvSpPr>
          <p:cNvPr id="2" name="Rectangle 1">
            <a:extLst>
              <a:ext uri="{FF2B5EF4-FFF2-40B4-BE49-F238E27FC236}">
                <a16:creationId xmlns:a16="http://schemas.microsoft.com/office/drawing/2014/main" id="{9850D813-0660-48D7-A702-7BF9E0E3143A}"/>
              </a:ext>
            </a:extLst>
          </p:cNvPr>
          <p:cNvSpPr/>
          <p:nvPr/>
        </p:nvSpPr>
        <p:spPr>
          <a:xfrm>
            <a:off x="139241" y="4150855"/>
            <a:ext cx="218235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EA39893E-899D-4024-B8C0-F8FC8BDCAF03}"/>
              </a:ext>
            </a:extLst>
          </p:cNvPr>
          <p:cNvSpPr/>
          <p:nvPr/>
        </p:nvSpPr>
        <p:spPr>
          <a:xfrm>
            <a:off x="2111067" y="1526415"/>
            <a:ext cx="2053294" cy="45719"/>
          </a:xfrm>
          <a:prstGeom prst="rect">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4256B75F-415B-426C-B6EC-F0588F2E5FCD}"/>
              </a:ext>
            </a:extLst>
          </p:cNvPr>
          <p:cNvSpPr/>
          <p:nvPr/>
        </p:nvSpPr>
        <p:spPr>
          <a:xfrm>
            <a:off x="5486392" y="5323056"/>
            <a:ext cx="2182355" cy="45719"/>
          </a:xfrm>
          <a:prstGeom prst="rect">
            <a:avLst/>
          </a:prstGeom>
          <a:solidFill>
            <a:srgbClr val="0BD0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Box 38">
            <a:extLst>
              <a:ext uri="{FF2B5EF4-FFF2-40B4-BE49-F238E27FC236}">
                <a16:creationId xmlns:a16="http://schemas.microsoft.com/office/drawing/2014/main" id="{7DA120A2-EA0D-4385-8632-798C6F4B2401}"/>
              </a:ext>
            </a:extLst>
          </p:cNvPr>
          <p:cNvSpPr txBox="1"/>
          <p:nvPr/>
        </p:nvSpPr>
        <p:spPr>
          <a:xfrm>
            <a:off x="8307235" y="682177"/>
            <a:ext cx="3868677" cy="2610843"/>
          </a:xfrm>
          <a:prstGeom prst="rect">
            <a:avLst/>
          </a:prstGeom>
          <a:noFill/>
        </p:spPr>
        <p:txBody>
          <a:bodyPr wrap="square" rtlCol="0">
            <a:spAutoFit/>
          </a:bodyPr>
          <a:lstStyle/>
          <a:p>
            <a:pPr lvl="0" algn="ctr" rtl="1">
              <a:lnSpc>
                <a:spcPct val="150000"/>
              </a:lnSpc>
            </a:pPr>
            <a:r>
              <a:rPr lang="he-IL" sz="2800" b="1" dirty="0">
                <a:solidFill>
                  <a:srgbClr val="002060"/>
                </a:solidFill>
                <a:latin typeface="Calibri" panose="020F0502020204030204" pitchFamily="34" charset="0"/>
                <a:cs typeface="Calibri" panose="020F0502020204030204" pitchFamily="34" charset="0"/>
              </a:rPr>
              <a:t>בציר הטכנולוגי </a:t>
            </a:r>
            <a:r>
              <a:rPr lang="he-IL" sz="2800" b="1" dirty="0">
                <a:solidFill>
                  <a:prstClr val="black"/>
                </a:solidFill>
                <a:latin typeface="Calibri" panose="020F0502020204030204" pitchFamily="34" charset="0"/>
                <a:cs typeface="Calibri" panose="020F0502020204030204" pitchFamily="34" charset="0"/>
              </a:rPr>
              <a:t>אנו פועלים לפיתוח והטמעה של טכנולוגיות וכלים לאורך שרשרת הערך</a:t>
            </a:r>
          </a:p>
        </p:txBody>
      </p:sp>
      <p:grpSp>
        <p:nvGrpSpPr>
          <p:cNvPr id="8" name="קבוצה 7">
            <a:extLst>
              <a:ext uri="{FF2B5EF4-FFF2-40B4-BE49-F238E27FC236}">
                <a16:creationId xmlns:a16="http://schemas.microsoft.com/office/drawing/2014/main" id="{C1AD44A1-3BF1-48E0-0673-8C6B3AD101D4}"/>
              </a:ext>
            </a:extLst>
          </p:cNvPr>
          <p:cNvGrpSpPr/>
          <p:nvPr/>
        </p:nvGrpSpPr>
        <p:grpSpPr>
          <a:xfrm>
            <a:off x="8920237" y="3592521"/>
            <a:ext cx="2642672" cy="2645554"/>
            <a:chOff x="8858064" y="3461661"/>
            <a:chExt cx="2642672" cy="2645554"/>
          </a:xfrm>
        </p:grpSpPr>
        <p:pic>
          <p:nvPicPr>
            <p:cNvPr id="23" name="Picture 22">
              <a:extLst>
                <a:ext uri="{FF2B5EF4-FFF2-40B4-BE49-F238E27FC236}">
                  <a16:creationId xmlns:a16="http://schemas.microsoft.com/office/drawing/2014/main" id="{60C3B16B-3EB3-4B99-8FB0-7CAF4CDA7B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8064" y="3461661"/>
              <a:ext cx="2642672" cy="2645554"/>
            </a:xfrm>
            <a:prstGeom prst="rect">
              <a:avLst/>
            </a:prstGeom>
          </p:spPr>
        </p:pic>
        <p:pic>
          <p:nvPicPr>
            <p:cNvPr id="6" name="Picture 22">
              <a:extLst>
                <a:ext uri="{FF2B5EF4-FFF2-40B4-BE49-F238E27FC236}">
                  <a16:creationId xmlns:a16="http://schemas.microsoft.com/office/drawing/2014/main" id="{A84F6694-C593-A728-C1E6-19E3851ED1B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31138" t="32345" r="30853" b="27652"/>
            <a:stretch/>
          </p:blipFill>
          <p:spPr>
            <a:xfrm>
              <a:off x="9680360" y="4310474"/>
              <a:ext cx="1078262" cy="1087327"/>
            </a:xfrm>
            <a:prstGeom prst="ellipse">
              <a:avLst/>
            </a:prstGeom>
          </p:spPr>
        </p:pic>
      </p:grpSp>
    </p:spTree>
    <p:extLst>
      <p:ext uri="{BB962C8B-B14F-4D97-AF65-F5344CB8AC3E}">
        <p14:creationId xmlns:p14="http://schemas.microsoft.com/office/powerpoint/2010/main" val="11566773"/>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000" b="1" dirty="0">
                <a:solidFill>
                  <a:srgbClr val="0070C0"/>
                </a:solidFill>
                <a:latin typeface="Calibri" panose="020F0502020204030204" pitchFamily="34" charset="0"/>
                <a:cs typeface="Calibri" panose="020F0502020204030204" pitchFamily="34" charset="0"/>
              </a:rPr>
              <a:t>מספר ושיעור זכאי גמלת </a:t>
            </a:r>
            <a:r>
              <a:rPr lang="he-IL" sz="2400" b="1" dirty="0">
                <a:solidFill>
                  <a:srgbClr val="0070C0"/>
                </a:solidFill>
                <a:latin typeface="Calibri" panose="020F0502020204030204" pitchFamily="34" charset="0"/>
                <a:cs typeface="Calibri" panose="020F0502020204030204" pitchFamily="34" charset="0"/>
              </a:rPr>
              <a:t>סיעוד</a:t>
            </a:r>
            <a:r>
              <a:rPr lang="he-IL" sz="20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2238957828"/>
              </p:ext>
            </p:extLst>
          </p:nvPr>
        </p:nvGraphicFramePr>
        <p:xfrm>
          <a:off x="1111106" y="1352560"/>
          <a:ext cx="4232142" cy="3793508"/>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326590339"/>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16" name="Title 1">
            <a:extLst>
              <a:ext uri="{FF2B5EF4-FFF2-40B4-BE49-F238E27FC236}">
                <a16:creationId xmlns:a16="http://schemas.microsoft.com/office/drawing/2014/main" id="{E0DA82B0-6AAD-4FB1-8122-13E88F23FD3E}"/>
              </a:ext>
            </a:extLst>
          </p:cNvPr>
          <p:cNvSpPr txBox="1">
            <a:spLocks/>
          </p:cNvSpPr>
          <p:nvPr/>
        </p:nvSpPr>
        <p:spPr>
          <a:xfrm>
            <a:off x="195943" y="5922593"/>
            <a:ext cx="9503232" cy="376239"/>
          </a:xfrm>
          <a:prstGeom prst="rect">
            <a:avLst/>
          </a:prstGeom>
        </p:spPr>
        <p:txBody>
          <a:bodyPr vert="horz" lIns="91440" tIns="45720" rIns="91440" bIns="45720" rtlCol="1" anchor="ctr">
            <a:normAutofit fontScale="82500" lnSpcReduction="20000"/>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r>
              <a:rPr lang="he-IL" sz="3600" b="1" dirty="0" smtClean="0">
                <a:solidFill>
                  <a:srgbClr val="7030A0"/>
                </a:solidFill>
              </a:rPr>
              <a:t>האם תוספת התקציב דוחקת את התלות של האזרחים </a:t>
            </a:r>
            <a:r>
              <a:rPr lang="he-IL" sz="3600" b="1" dirty="0" err="1" smtClean="0">
                <a:solidFill>
                  <a:srgbClr val="7030A0"/>
                </a:solidFill>
              </a:rPr>
              <a:t>הותיקים</a:t>
            </a:r>
            <a:r>
              <a:rPr lang="he-IL" sz="3600" b="1" dirty="0" smtClean="0">
                <a:solidFill>
                  <a:srgbClr val="7030A0"/>
                </a:solidFill>
              </a:rPr>
              <a:t>?</a:t>
            </a:r>
            <a:endParaRPr lang="he-IL" dirty="0">
              <a:solidFill>
                <a:srgbClr val="7030A0"/>
              </a:solidFill>
            </a:endParaRPr>
          </a:p>
        </p:txBody>
      </p:sp>
      <p:sp>
        <p:nvSpPr>
          <p:cNvPr id="2" name="מלבן 1"/>
          <p:cNvSpPr/>
          <p:nvPr/>
        </p:nvSpPr>
        <p:spPr>
          <a:xfrm>
            <a:off x="2289055" y="234527"/>
            <a:ext cx="6096000" cy="584775"/>
          </a:xfrm>
          <a:prstGeom prst="rect">
            <a:avLst/>
          </a:prstGeom>
        </p:spPr>
        <p:txBody>
          <a:bodyPr>
            <a:spAutoFit/>
          </a:bodyPr>
          <a:lstStyle/>
          <a:p>
            <a:r>
              <a:rPr lang="he-IL" sz="3200" b="1" dirty="0" smtClean="0">
                <a:solidFill>
                  <a:srgbClr val="0070C0"/>
                </a:solidFill>
                <a:latin typeface="Calibri" panose="020F0502020204030204" pitchFamily="34" charset="0"/>
                <a:cs typeface="Calibri" panose="020F0502020204030204" pitchFamily="34" charset="0"/>
              </a:rPr>
              <a:t>האתגר בסיעוד </a:t>
            </a:r>
            <a:r>
              <a:rPr lang="he-IL" sz="3200" b="1" dirty="0" smtClean="0">
                <a:solidFill>
                  <a:srgbClr val="0070C0"/>
                </a:solidFill>
                <a:latin typeface="Calibri" panose="020F0502020204030204" pitchFamily="34" charset="0"/>
                <a:cs typeface="Calibri" panose="020F0502020204030204" pitchFamily="34" charset="0"/>
              </a:rPr>
              <a:t>2024</a:t>
            </a:r>
            <a:endParaRPr lang="he-IL" sz="3200" dirty="0"/>
          </a:p>
        </p:txBody>
      </p:sp>
    </p:spTree>
    <p:extLst>
      <p:ext uri="{BB962C8B-B14F-4D97-AF65-F5344CB8AC3E}">
        <p14:creationId xmlns:p14="http://schemas.microsoft.com/office/powerpoint/2010/main" val="3999235296"/>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lstStyle/>
          <a:p>
            <a:r>
              <a:rPr lang="he-IL" dirty="0" smtClean="0"/>
              <a:t>מאקרו גמלה</a:t>
            </a:r>
            <a:endParaRPr lang="he-IL" dirty="0"/>
          </a:p>
        </p:txBody>
      </p:sp>
      <p:graphicFrame>
        <p:nvGraphicFramePr>
          <p:cNvPr id="4" name="תרשים 3"/>
          <p:cNvGraphicFramePr>
            <a:graphicFrameLocks/>
          </p:cNvGraphicFramePr>
          <p:nvPr>
            <p:extLst>
              <p:ext uri="{D42A27DB-BD31-4B8C-83A1-F6EECF244321}">
                <p14:modId xmlns:p14="http://schemas.microsoft.com/office/powerpoint/2010/main" val="2249141291"/>
              </p:ext>
            </p:extLst>
          </p:nvPr>
        </p:nvGraphicFramePr>
        <p:xfrm>
          <a:off x="838200" y="1042988"/>
          <a:ext cx="10991850" cy="5529261"/>
        </p:xfrm>
        <a:graphic>
          <a:graphicData uri="http://schemas.openxmlformats.org/drawingml/2006/chart">
            <c:chart xmlns:c="http://schemas.openxmlformats.org/drawingml/2006/chart" xmlns:r="http://schemas.openxmlformats.org/officeDocument/2006/relationships" r:id="rId2"/>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8203" y="214312"/>
            <a:ext cx="10515600" cy="1325563"/>
          </a:xfrm>
        </p:spPr>
        <p:txBody>
          <a:bodyPr>
            <a:normAutofit/>
          </a:bodyPr>
          <a:lstStyle/>
          <a:p>
            <a:r>
              <a:rPr lang="he-IL" sz="4000" dirty="0">
                <a:solidFill>
                  <a:srgbClr val="0070C0"/>
                </a:solidFill>
                <a:latin typeface="Calibri" panose="020F0502020204030204" pitchFamily="34" charset="0"/>
                <a:ea typeface="+mn-ea"/>
                <a:cs typeface="Calibri" panose="020F0502020204030204" pitchFamily="34" charset="0"/>
              </a:rPr>
              <a:t>השפעות רפורמת 2018</a:t>
            </a:r>
          </a:p>
        </p:txBody>
      </p:sp>
    </p:spTree>
    <p:extLst>
      <p:ext uri="{BB962C8B-B14F-4D97-AF65-F5344CB8AC3E}">
        <p14:creationId xmlns:p14="http://schemas.microsoft.com/office/powerpoint/2010/main" val="17859043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308769"/>
            <a:ext cx="10515600" cy="1325563"/>
          </a:xfrm>
        </p:spPr>
        <p:txBody>
          <a:bodyPr>
            <a:normAutofit/>
          </a:bodyPr>
          <a:lstStyle/>
          <a:p>
            <a:pPr algn="ctr"/>
            <a:r>
              <a:rPr lang="he-IL" sz="4800" dirty="0">
                <a:solidFill>
                  <a:srgbClr val="527FC4"/>
                </a:solidFill>
                <a:latin typeface="Calibri" panose="020F0502020204030204" pitchFamily="34" charset="0"/>
                <a:ea typeface="+mn-ea"/>
                <a:cs typeface="Calibri" panose="020F0502020204030204" pitchFamily="34" charset="0"/>
              </a:rPr>
              <a:t>גמלת סיעוד </a:t>
            </a:r>
            <a:r>
              <a:rPr lang="he-IL" sz="4800" dirty="0" smtClean="0">
                <a:solidFill>
                  <a:srgbClr val="527FC4"/>
                </a:solidFill>
                <a:latin typeface="Calibri" panose="020F0502020204030204" pitchFamily="34" charset="0"/>
                <a:ea typeface="+mn-ea"/>
                <a:cs typeface="Calibri" panose="020F0502020204030204" pitchFamily="34" charset="0"/>
              </a:rPr>
              <a:t>2018-2024</a:t>
            </a:r>
            <a:endParaRPr lang="he-IL" sz="4800" dirty="0">
              <a:solidFill>
                <a:srgbClr val="527FC4"/>
              </a:solidFill>
              <a:latin typeface="Calibri" panose="020F0502020204030204" pitchFamily="34" charset="0"/>
              <a:ea typeface="+mn-ea"/>
              <a:cs typeface="Calibri" panose="020F0502020204030204" pitchFamily="34" charset="0"/>
            </a:endParaRPr>
          </a:p>
        </p:txBody>
      </p:sp>
      <p:graphicFrame>
        <p:nvGraphicFramePr>
          <p:cNvPr id="4" name="תרשים 3"/>
          <p:cNvGraphicFramePr>
            <a:graphicFrameLocks/>
          </p:cNvGraphicFramePr>
          <p:nvPr>
            <p:extLst>
              <p:ext uri="{D42A27DB-BD31-4B8C-83A1-F6EECF244321}">
                <p14:modId xmlns:p14="http://schemas.microsoft.com/office/powerpoint/2010/main" val="4070891287"/>
              </p:ext>
            </p:extLst>
          </p:nvPr>
        </p:nvGraphicFramePr>
        <p:xfrm>
          <a:off x="5731497" y="1179575"/>
          <a:ext cx="6292863" cy="54699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תרשים 4"/>
          <p:cNvGraphicFramePr>
            <a:graphicFrameLocks/>
          </p:cNvGraphicFramePr>
          <p:nvPr>
            <p:extLst/>
          </p:nvPr>
        </p:nvGraphicFramePr>
        <p:xfrm>
          <a:off x="0" y="1943100"/>
          <a:ext cx="6351814" cy="4591050"/>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graphicFrame>
        <p:nvGraphicFramePr>
          <p:cNvPr id="10" name="תרשים 9"/>
          <p:cNvGraphicFramePr>
            <a:graphicFrameLocks/>
          </p:cNvGraphicFramePr>
          <p:nvPr>
            <p:extLst>
              <p:ext uri="{D42A27DB-BD31-4B8C-83A1-F6EECF244321}">
                <p14:modId xmlns:p14="http://schemas.microsoft.com/office/powerpoint/2010/main" val="3925318240"/>
              </p:ext>
            </p:extLst>
          </p:nvPr>
        </p:nvGraphicFramePr>
        <p:xfrm>
          <a:off x="803848" y="2086495"/>
          <a:ext cx="5213163" cy="431222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1732661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a:t>2023</a:t>
                      </a:r>
                    </a:p>
                  </a:txBody>
                  <a:tcPr/>
                </a:tc>
                <a:tc>
                  <a:txBody>
                    <a:bodyPr/>
                    <a:lstStyle/>
                    <a:p>
                      <a:pPr algn="ctr" rtl="1"/>
                      <a:r>
                        <a:rPr lang="he-IL" b="1" dirty="0"/>
                        <a:t>14.8 מיליארד ₪ </a:t>
                      </a:r>
                    </a:p>
                  </a:txBody>
                  <a:tcPr/>
                </a:tc>
                <a:tc>
                  <a:txBody>
                    <a:bodyPr/>
                    <a:lstStyle/>
                    <a:p>
                      <a:pPr algn="ctr" rtl="1"/>
                      <a:r>
                        <a:rPr lang="he-IL" b="1" dirty="0"/>
                        <a:t>345,000</a:t>
                      </a:r>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3600" b="1" dirty="0">
                <a:ln w="0"/>
                <a:solidFill>
                  <a:schemeClr val="accent1">
                    <a:lumMod val="75000"/>
                  </a:schemeClr>
                </a:solidFill>
                <a:effectLst>
                  <a:outerShdw blurRad="38100" dist="25400" dir="5400000" algn="ctr" rotWithShape="0">
                    <a:srgbClr val="6E747A">
                      <a:alpha val="43000"/>
                    </a:srgbClr>
                  </a:outerShdw>
                </a:effectLst>
              </a:rPr>
              <a:t>ישראל משקיעה הכי הרבה, ומדורגת אחרונה</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algn="ctr" rtl="1"/>
            <a:r>
              <a:rPr lang="he-IL" sz="2800" b="1" dirty="0">
                <a:solidFill>
                  <a:schemeClr val="tx2">
                    <a:lumMod val="75000"/>
                  </a:schemeClr>
                </a:solidFill>
                <a:latin typeface="Calibri" panose="020F0502020204030204" pitchFamily="34" charset="0"/>
                <a:cs typeface="Calibri" panose="020F0502020204030204" pitchFamily="34" charset="0"/>
              </a:rPr>
              <a:t>רפורמת סיעוד 2018</a:t>
            </a:r>
          </a:p>
          <a:p>
            <a:pPr algn="ctr" rtl="1"/>
            <a:r>
              <a:rPr lang="he-IL" sz="2800" b="1" dirty="0">
                <a:solidFill>
                  <a:schemeClr val="tx2">
                    <a:lumMod val="75000"/>
                  </a:schemeClr>
                </a:solidFill>
                <a:latin typeface="Calibri" panose="020F0502020204030204" pitchFamily="34" charset="0"/>
                <a:cs typeface="Calibri" panose="020F0502020204030204" pitchFamily="34" charset="0"/>
              </a:rPr>
              <a:t>השקעה גבוהה, בחירה נמוכה, תוצאות גרועות</a:t>
            </a:r>
          </a:p>
        </p:txBody>
      </p:sp>
      <p:sp>
        <p:nvSpPr>
          <p:cNvPr id="23" name="תיבת טקסט 22">
            <a:extLst>
              <a:ext uri="{FF2B5EF4-FFF2-40B4-BE49-F238E27FC236}">
                <a16:creationId xmlns:a16="http://schemas.microsoft.com/office/drawing/2014/main" id="{C0301445-4EFA-97B5-8235-2838CC9D181B}"/>
              </a:ext>
            </a:extLst>
          </p:cNvPr>
          <p:cNvSpPr txBox="1"/>
          <p:nvPr/>
        </p:nvSpPr>
        <p:spPr>
          <a:xfrm>
            <a:off x="602694" y="438482"/>
            <a:ext cx="2265364" cy="707886"/>
          </a:xfrm>
          <a:prstGeom prst="rect">
            <a:avLst/>
          </a:prstGeom>
          <a:noFill/>
        </p:spPr>
        <p:txBody>
          <a:bodyPr wrap="none" rtlCol="1">
            <a:spAutoFit/>
          </a:bodyPr>
          <a:lstStyle/>
          <a:p>
            <a:pPr algn="r" rtl="1"/>
            <a:r>
              <a:rPr lang="he-IL" sz="2000" b="1" dirty="0">
                <a:latin typeface="Calibri" panose="020F0502020204030204" pitchFamily="34" charset="0"/>
                <a:cs typeface="Calibri" panose="020F0502020204030204" pitchFamily="34" charset="0"/>
              </a:rPr>
              <a:t>אתגרי המשק והחברה</a:t>
            </a:r>
          </a:p>
          <a:p>
            <a:pPr algn="r" rtl="1"/>
            <a:r>
              <a:rPr lang="he-IL" sz="2000" b="1" dirty="0">
                <a:latin typeface="Calibri" panose="020F0502020204030204" pitchFamily="34" charset="0"/>
                <a:cs typeface="Calibri" panose="020F0502020204030204" pitchFamily="34" charset="0"/>
              </a:rPr>
              <a:t>ושינוי טכנולוגי וחברתי</a:t>
            </a:r>
          </a:p>
        </p:txBody>
      </p:sp>
    </p:spTree>
    <p:extLst>
      <p:ext uri="{BB962C8B-B14F-4D97-AF65-F5344CB8AC3E}">
        <p14:creationId xmlns:p14="http://schemas.microsoft.com/office/powerpoint/2010/main" val="177188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חלק ניכר מזכאי סיעוד לא מקבל מענה ראוי 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smtClean="0">
                <a:latin typeface="Calibri" panose="020F0502020204030204" pitchFamily="34" charset="0"/>
                <a:cs typeface="Calibri" panose="020F0502020204030204" pitchFamily="34" charset="0"/>
              </a:rPr>
              <a:t>האתגר:</a:t>
            </a:r>
            <a:endParaRPr lang="he-IL" sz="2800" b="1" dirty="0">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smtClean="0">
                <a:solidFill>
                  <a:schemeClr val="bg1"/>
                </a:solidFill>
                <a:latin typeface="Calibri" panose="020F0502020204030204" pitchFamily="34" charset="0"/>
                <a:cs typeface="Calibri" panose="020F0502020204030204" pitchFamily="34" charset="0"/>
              </a:rPr>
              <a:t>תעדוף נמוך של שירותים חברתיים שהוכחו </a:t>
            </a:r>
            <a:r>
              <a:rPr lang="he-IL" sz="2800" dirty="0">
                <a:solidFill>
                  <a:schemeClr val="bg1"/>
                </a:solidFill>
                <a:latin typeface="Calibri" panose="020F0502020204030204" pitchFamily="34" charset="0"/>
                <a:cs typeface="Calibri" panose="020F0502020204030204" pitchFamily="34" charset="0"/>
              </a:rPr>
              <a:t>כמונעי התדרדרות, </a:t>
            </a:r>
            <a:r>
              <a:rPr lang="en-US" sz="2800" dirty="0" smtClean="0">
                <a:solidFill>
                  <a:schemeClr val="bg1"/>
                </a:solidFill>
                <a:latin typeface="Calibri" panose="020F0502020204030204" pitchFamily="34" charset="0"/>
                <a:cs typeface="Calibri" panose="020F0502020204030204" pitchFamily="34" charset="0"/>
              </a:rPr>
              <a:t/>
            </a:r>
            <a:br>
              <a:rPr lang="en-US" sz="2800" dirty="0" smtClean="0">
                <a:solidFill>
                  <a:schemeClr val="bg1"/>
                </a:solidFill>
                <a:latin typeface="Calibri" panose="020F0502020204030204" pitchFamily="34" charset="0"/>
                <a:cs typeface="Calibri" panose="020F0502020204030204" pitchFamily="34" charset="0"/>
              </a:rPr>
            </a:br>
            <a:r>
              <a:rPr lang="he-IL" sz="2800" dirty="0" smtClean="0">
                <a:solidFill>
                  <a:schemeClr val="bg1"/>
                </a:solidFill>
                <a:latin typeface="Calibri" panose="020F0502020204030204" pitchFamily="34" charset="0"/>
                <a:cs typeface="Calibri" panose="020F0502020204030204" pitchFamily="34" charset="0"/>
              </a:rPr>
              <a:t>מעבר </a:t>
            </a:r>
            <a:r>
              <a:rPr lang="he-IL" sz="2800" dirty="0">
                <a:solidFill>
                  <a:schemeClr val="bg1"/>
                </a:solidFill>
                <a:latin typeface="Calibri" panose="020F0502020204030204" pitchFamily="34" charset="0"/>
                <a:cs typeface="Calibri" panose="020F0502020204030204" pitchFamily="34" charset="0"/>
              </a:rPr>
              <a:t>לגמלה </a:t>
            </a:r>
            <a:r>
              <a:rPr lang="he-IL" sz="2800" dirty="0" smtClean="0">
                <a:solidFill>
                  <a:schemeClr val="bg1"/>
                </a:solidFill>
                <a:latin typeface="Calibri" panose="020F0502020204030204" pitchFamily="34" charset="0"/>
                <a:cs typeface="Calibri" panose="020F0502020204030204" pitchFamily="34" charset="0"/>
              </a:rPr>
              <a:t>בכסף בעין והמחסור במטפלות</a:t>
            </a:r>
            <a:endParaRPr lang="he-IL" sz="2800" dirty="0">
              <a:solidFill>
                <a:schemeClr val="bg1"/>
              </a:solidFill>
              <a:latin typeface="Calibri" panose="020F0502020204030204" pitchFamily="34" charset="0"/>
              <a:cs typeface="Calibri" panose="020F0502020204030204" pitchFamily="34" charset="0"/>
            </a:endParaRPr>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40529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כסף</a:t>
            </a:r>
            <a:endParaRPr lang="he-IL" sz="2200" b="1" dirty="0">
              <a:latin typeface="Calibri" panose="020F0502020204030204" pitchFamily="34" charset="0"/>
              <a:cs typeface="Calibri" panose="020F0502020204030204" pitchFamily="34" charset="0"/>
            </a:endParaRP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לאור האפשרות לקבל כסף בעין- כיצד </a:t>
            </a:r>
            <a:r>
              <a:rPr lang="he-IL" sz="2200" dirty="0">
                <a:solidFill>
                  <a:schemeClr val="tx1"/>
                </a:solidFill>
                <a:latin typeface="Calibri" panose="020F0502020204030204" pitchFamily="34" charset="0"/>
                <a:cs typeface="Calibri" panose="020F0502020204030204" pitchFamily="34" charset="0"/>
              </a:rPr>
              <a:t>לתמרץ </a:t>
            </a:r>
            <a:r>
              <a:rPr lang="he-IL" sz="2200" dirty="0" smtClean="0">
                <a:solidFill>
                  <a:schemeClr val="tx1"/>
                </a:solidFill>
                <a:latin typeface="Calibri" panose="020F0502020204030204" pitchFamily="34" charset="0"/>
                <a:cs typeface="Calibri" panose="020F0502020204030204" pitchFamily="34" charset="0"/>
              </a:rPr>
              <a:t>את הוותיקים לצרוך שירותים דוחקי תלות?</a:t>
            </a:r>
            <a:endParaRPr lang="he-IL" sz="2200" dirty="0">
              <a:solidFill>
                <a:schemeClr val="tx1"/>
              </a:solidFill>
              <a:latin typeface="Calibri" panose="020F0502020204030204" pitchFamily="34" charset="0"/>
              <a:cs typeface="Calibri" panose="020F0502020204030204" pitchFamily="34" charset="0"/>
            </a:endParaRP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a:t>
            </a:r>
            <a:r>
              <a:rPr lang="he-IL" sz="2200" dirty="0" smtClean="0">
                <a:solidFill>
                  <a:schemeClr val="tx1"/>
                </a:solidFill>
                <a:cs typeface="Calibri" panose="020F0502020204030204" pitchFamily="34" charset="0"/>
              </a:rPr>
              <a:t>לשפר את המענים הניתנים לזכאי סיעוד לצורך שימור תפקוד ודחיקת תלות?</a:t>
            </a:r>
            <a:endParaRPr lang="he-IL" sz="2200" dirty="0">
              <a:solidFill>
                <a:schemeClr val="tx1"/>
              </a:solidFill>
              <a:cs typeface="Calibri" panose="020F0502020204030204" pitchFamily="34" charset="0"/>
            </a:endParaRP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טיפול בית – </a:t>
            </a:r>
            <a:r>
              <a:rPr lang="he-IL" sz="2200" dirty="0">
                <a:solidFill>
                  <a:schemeClr val="tx1"/>
                </a:solidFill>
                <a:latin typeface="Calibri" panose="020F0502020204030204" pitchFamily="34" charset="0"/>
                <a:cs typeface="Calibri" panose="020F0502020204030204" pitchFamily="34" charset="0"/>
              </a:rPr>
              <a:t>משאב </a:t>
            </a:r>
            <a:r>
              <a:rPr lang="he-IL" sz="2200" dirty="0" smtClean="0">
                <a:solidFill>
                  <a:schemeClr val="tx1"/>
                </a:solidFill>
                <a:latin typeface="Calibri" panose="020F0502020204030204" pitchFamily="34" charset="0"/>
                <a:cs typeface="Calibri" panose="020F0502020204030204" pitchFamily="34" charset="0"/>
              </a:rPr>
              <a:t>במחסור, למי נועד הסיוע ומה </a:t>
            </a:r>
            <a:r>
              <a:rPr lang="he-IL" sz="2200" dirty="0">
                <a:solidFill>
                  <a:schemeClr val="tx1"/>
                </a:solidFill>
                <a:latin typeface="Calibri" panose="020F0502020204030204" pitchFamily="34" charset="0"/>
                <a:cs typeface="Calibri" panose="020F0502020204030204" pitchFamily="34" charset="0"/>
              </a:rPr>
              <a:t>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מטפלות</a:t>
            </a:r>
            <a:endParaRPr lang="he-IL" sz="2200" b="1" dirty="0">
              <a:latin typeface="Calibri" panose="020F0502020204030204" pitchFamily="34" charset="0"/>
              <a:cs typeface="Calibri" panose="020F0502020204030204" pitchFamily="34" charset="0"/>
            </a:endParaRP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שירותים</a:t>
            </a:r>
            <a:endParaRPr lang="he-IL" sz="2200" b="1" dirty="0">
              <a:latin typeface="Calibri" panose="020F0502020204030204" pitchFamily="34" charset="0"/>
              <a:cs typeface="Calibri" panose="020F0502020204030204" pitchFamily="34" charset="0"/>
            </a:endParaRP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194379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בתים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קהילה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מרכזי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smtClean="0">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תכניות לבני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675153" y="1255205"/>
            <a:ext cx="3106024" cy="3939540"/>
          </a:xfrm>
          <a:prstGeom prst="rect">
            <a:avLst/>
          </a:prstGeom>
          <a:noFill/>
        </p:spPr>
        <p:txBody>
          <a:bodyPr wrap="square" lIns="91440" tIns="45720" rIns="91440" bIns="45720">
            <a:spAutoFit/>
          </a:bodyPr>
          <a:lstStyle/>
          <a:p>
            <a:pPr algn="ctr"/>
            <a:r>
              <a:rPr lang="he-IL" sz="5400" dirty="0" smtClean="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smtClean="0">
                <a:solidFill>
                  <a:srgbClr val="7030A0"/>
                </a:solidFill>
                <a:latin typeface="Calibri" panose="020F0502020204030204" pitchFamily="34" charset="0"/>
                <a:cs typeface="Calibri" panose="020F0502020204030204" pitchFamily="34" charset="0"/>
              </a:rPr>
              <a:t>שיתוף פעולה רווחה </a:t>
            </a:r>
            <a:r>
              <a:rPr lang="he-IL" sz="4400" b="1" dirty="0" err="1" smtClean="0">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תמונה 4"/>
          <p:cNvPicPr>
            <a:picLocks noChangeAspect="1"/>
          </p:cNvPicPr>
          <p:nvPr/>
        </p:nvPicPr>
        <p:blipFill rotWithShape="1">
          <a:blip r:embed="rId2"/>
          <a:srcRect l="19841"/>
          <a:stretch/>
        </p:blipFill>
        <p:spPr>
          <a:xfrm>
            <a:off x="414855" y="5347365"/>
            <a:ext cx="3629681" cy="1510635"/>
          </a:xfrm>
          <a:prstGeom prst="rect">
            <a:avLst/>
          </a:prstGeom>
        </p:spPr>
      </p:pic>
      <p:pic>
        <p:nvPicPr>
          <p:cNvPr id="9" name="תמונה 8"/>
          <p:cNvPicPr>
            <a:picLocks noChangeAspect="1"/>
          </p:cNvPicPr>
          <p:nvPr/>
        </p:nvPicPr>
        <p:blipFill>
          <a:blip r:embed="rId3"/>
          <a:stretch>
            <a:fillRect/>
          </a:stretch>
        </p:blipFill>
        <p:spPr>
          <a:xfrm>
            <a:off x="5560857" y="1559007"/>
            <a:ext cx="1260000" cy="1260000"/>
          </a:xfrm>
          <a:prstGeom prst="rect">
            <a:avLst/>
          </a:prstGeom>
        </p:spPr>
      </p:pic>
      <p:pic>
        <p:nvPicPr>
          <p:cNvPr id="10" name="תמונה 9"/>
          <p:cNvPicPr>
            <a:picLocks noChangeAspect="1"/>
          </p:cNvPicPr>
          <p:nvPr/>
        </p:nvPicPr>
        <p:blipFill>
          <a:blip r:embed="rId4"/>
          <a:stretch>
            <a:fillRect/>
          </a:stretch>
        </p:blipFill>
        <p:spPr>
          <a:xfrm flipH="1">
            <a:off x="7891905" y="1573764"/>
            <a:ext cx="1260762" cy="1260000"/>
          </a:xfrm>
          <a:prstGeom prst="rect">
            <a:avLst/>
          </a:prstGeom>
        </p:spPr>
      </p:pic>
      <p:pic>
        <p:nvPicPr>
          <p:cNvPr id="11" name="תמונה 10"/>
          <p:cNvPicPr>
            <a:picLocks noChangeAspect="1"/>
          </p:cNvPicPr>
          <p:nvPr/>
        </p:nvPicPr>
        <p:blipFill>
          <a:blip r:embed="rId5"/>
          <a:stretch>
            <a:fillRect/>
          </a:stretch>
        </p:blipFill>
        <p:spPr>
          <a:xfrm flipH="1">
            <a:off x="9995859" y="1499821"/>
            <a:ext cx="1260000" cy="1260000"/>
          </a:xfrm>
          <a:prstGeom prst="rect">
            <a:avLst/>
          </a:prstGeom>
        </p:spPr>
      </p:pic>
      <p:pic>
        <p:nvPicPr>
          <p:cNvPr id="12" name="תמונה 11"/>
          <p:cNvPicPr>
            <a:picLocks noChangeAspect="1"/>
          </p:cNvPicPr>
          <p:nvPr/>
        </p:nvPicPr>
        <p:blipFill>
          <a:blip r:embed="rId6"/>
          <a:stretch>
            <a:fillRect/>
          </a:stretch>
        </p:blipFill>
        <p:spPr>
          <a:xfrm>
            <a:off x="9923901" y="3886652"/>
            <a:ext cx="1260000" cy="1260000"/>
          </a:xfrm>
          <a:prstGeom prst="rect">
            <a:avLst/>
          </a:prstGeom>
        </p:spPr>
      </p:pic>
      <p:sp>
        <p:nvSpPr>
          <p:cNvPr id="13" name="TextBox 12"/>
          <p:cNvSpPr txBox="1"/>
          <p:nvPr/>
        </p:nvSpPr>
        <p:spPr>
          <a:xfrm>
            <a:off x="9516483" y="2771199"/>
            <a:ext cx="2170486" cy="707886"/>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180 מרכזי יום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5" name="TextBox 14"/>
          <p:cNvSpPr txBox="1"/>
          <p:nvPr/>
        </p:nvSpPr>
        <p:spPr>
          <a:xfrm>
            <a:off x="7437220" y="2759821"/>
            <a:ext cx="193708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350 מועדוני </a:t>
            </a:r>
            <a:r>
              <a:rPr kumimoji="0" lang="he-IL" sz="2000" b="1"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מופ"ת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6" name="TextBox 15"/>
          <p:cNvSpPr txBox="1"/>
          <p:nvPr/>
        </p:nvSpPr>
        <p:spPr>
          <a:xfrm>
            <a:off x="4908049" y="2771199"/>
            <a:ext cx="2386992"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מועדונים חברתיים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7" name="TextBox 16"/>
          <p:cNvSpPr txBox="1"/>
          <p:nvPr/>
        </p:nvSpPr>
        <p:spPr>
          <a:xfrm>
            <a:off x="9606412" y="5063462"/>
            <a:ext cx="207075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330 קהילות תומכות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70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3" name="מלבן 2"/>
          <p:cNvSpPr/>
          <p:nvPr/>
        </p:nvSpPr>
        <p:spPr>
          <a:xfrm>
            <a:off x="5655883" y="5116995"/>
            <a:ext cx="5683795" cy="101566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334</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תכניות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להפגת בדידות</a:t>
            </a:r>
            <a:endParaRPr kumimoji="0" lang="he-IL"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7" name="מלבן 6"/>
          <p:cNvSpPr/>
          <p:nvPr/>
        </p:nvSpPr>
        <p:spPr>
          <a:xfrm>
            <a:off x="234867" y="2324923"/>
            <a:ext cx="3738489" cy="230832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כ-200 אלף מקבלי שירותים בישראל</a:t>
            </a:r>
            <a:endParaRPr kumimoji="0" lang="he-IL" sz="4400" b="1" i="0" u="none" strike="noStrike" kern="1200" cap="none" spc="0" normalizeH="0" baseline="0" noProof="0" dirty="0">
              <a:ln>
                <a:noFill/>
              </a:ln>
              <a:solidFill>
                <a:srgbClr val="0070C0"/>
              </a:solidFill>
              <a:effectLst/>
              <a:uLnTx/>
              <a:uFillTx/>
              <a:latin typeface="Calibri Light" panose="020F0302020204030204" pitchFamily="34" charset="0"/>
              <a:ea typeface="+mn-ea"/>
              <a:cs typeface="Calibri Light" panose="020F0302020204030204" pitchFamily="34" charset="0"/>
            </a:endParaRPr>
          </a:p>
        </p:txBody>
      </p:sp>
      <p:sp>
        <p:nvSpPr>
          <p:cNvPr id="22" name="מלבן 21"/>
          <p:cNvSpPr/>
          <p:nvPr/>
        </p:nvSpPr>
        <p:spPr>
          <a:xfrm>
            <a:off x="8805332" y="442663"/>
            <a:ext cx="2944375" cy="92333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54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במספרים:</a:t>
            </a:r>
            <a:endParaRPr kumimoji="0" lang="he-IL" sz="5400" b="1" i="0" u="none" strike="noStrike" kern="1200" cap="none" spc="0" normalizeH="0" baseline="0" noProof="0" dirty="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endParaRPr>
          </a:p>
        </p:txBody>
      </p:sp>
      <p:pic>
        <p:nvPicPr>
          <p:cNvPr id="18" name="תמונה 17"/>
          <p:cNvPicPr>
            <a:picLocks noChangeAspect="1"/>
          </p:cNvPicPr>
          <p:nvPr/>
        </p:nvPicPr>
        <p:blipFill>
          <a:blip r:embed="rId7"/>
          <a:stretch>
            <a:fillRect/>
          </a:stretch>
        </p:blipFill>
        <p:spPr>
          <a:xfrm>
            <a:off x="7868162" y="3886652"/>
            <a:ext cx="1259238" cy="1260000"/>
          </a:xfrm>
          <a:prstGeom prst="rect">
            <a:avLst/>
          </a:prstGeom>
        </p:spPr>
      </p:pic>
      <p:sp>
        <p:nvSpPr>
          <p:cNvPr id="19" name="TextBox 18"/>
          <p:cNvSpPr txBox="1"/>
          <p:nvPr/>
        </p:nvSpPr>
        <p:spPr>
          <a:xfrm>
            <a:off x="4933817" y="5161953"/>
            <a:ext cx="2441080" cy="1323439"/>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תקני</a:t>
            </a:r>
            <a:r>
              <a:rPr kumimoji="0" lang="he-IL" sz="2000" b="1" i="0" u="none" strike="noStrike" kern="1200" cap="none" spc="0" normalizeH="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כ"א</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ברשויות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800 עו"ס </a:t>
            </a:r>
            <a:r>
              <a:rPr kumimoji="0" lang="he-IL" sz="2000" b="0"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זיקנה</a:t>
            </a:r>
            <a: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150 רכזי מענים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pic>
        <p:nvPicPr>
          <p:cNvPr id="2" name="תמונה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659717" y="3848420"/>
            <a:ext cx="1260000" cy="1260000"/>
          </a:xfrm>
          <a:prstGeom prst="rect">
            <a:avLst/>
          </a:prstGeom>
        </p:spPr>
      </p:pic>
      <p:sp>
        <p:nvSpPr>
          <p:cNvPr id="20" name="מלבן 1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5899457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smtClean="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smtClean="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תכלול מענים בעין למקבלי גמלת סיעוד מחייב הסתכלות רחבה על כל </a:t>
            </a:r>
            <a:r>
              <a:rPr lang="he-IL" sz="2500" dirty="0" smtClean="0">
                <a:latin typeface="Calibri" panose="020F0502020204030204" pitchFamily="34" charset="0"/>
                <a:cs typeface="Calibri" panose="020F0502020204030204" pitchFamily="34" charset="0"/>
              </a:rPr>
              <a:t>320 </a:t>
            </a:r>
            <a:r>
              <a:rPr lang="he-IL" sz="2500" dirty="0">
                <a:latin typeface="Calibri" panose="020F0502020204030204" pitchFamily="34" charset="0"/>
                <a:cs typeface="Calibri" panose="020F0502020204030204" pitchFamily="34" charset="0"/>
              </a:rPr>
              <a:t>אלף מקבלי הגמלה, הכרת הכלים ויכולת להציע שירותים מגוונים</a:t>
            </a:r>
          </a:p>
        </p:txBody>
      </p:sp>
      <p:grpSp>
        <p:nvGrpSpPr>
          <p:cNvPr id="7" name="קבוצה 6"/>
          <p:cNvGrpSpPr/>
          <p:nvPr/>
        </p:nvGrpSpPr>
        <p:grpSpPr>
          <a:xfrm>
            <a:off x="838921" y="1338994"/>
            <a:ext cx="10913817" cy="1757373"/>
            <a:chOff x="1229035" y="4682800"/>
            <a:chExt cx="10913817" cy="175737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49753" y="477049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29035" y="470622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9711172" y="5197147"/>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מטרות:</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solidFill>
                  <a:srgbClr val="0070C0"/>
                </a:solidFill>
                <a:latin typeface="Calibri" panose="020F0502020204030204" pitchFamily="34" charset="0"/>
                <a:cs typeface="Calibri" panose="020F0502020204030204" pitchFamily="34" charset="0"/>
              </a:rPr>
              <a:t>הדרך: העברות מידע משותפות – ביטוח לאומי ומשרד הרווחה</a:t>
            </a:r>
            <a:endParaRPr lang="he-IL" sz="2800" b="1" dirty="0">
              <a:solidFill>
                <a:srgbClr val="0070C0"/>
              </a:solidFill>
              <a:latin typeface="Calibri" panose="020F0502020204030204" pitchFamily="34" charset="0"/>
              <a:cs typeface="Calibri" panose="020F0502020204030204" pitchFamily="34" charset="0"/>
            </a:endParaRP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מלבן 20"/>
          <p:cNvSpPr/>
          <p:nvPr/>
        </p:nvSpPr>
        <p:spPr>
          <a:xfrm>
            <a:off x="1350700" y="3685550"/>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סטטוס: אושר בוועדה להעברת מידע ונמצא בטיפול אנשי המחשוב </a:t>
            </a:r>
          </a:p>
          <a:p>
            <a:pPr algn="ctr"/>
            <a:r>
              <a:rPr lang="he-IL" sz="2500" b="1" dirty="0" smtClean="0">
                <a:solidFill>
                  <a:schemeClr val="tx1"/>
                </a:solidFill>
                <a:latin typeface="Calibri" panose="020F0502020204030204" pitchFamily="34" charset="0"/>
                <a:cs typeface="Calibri" panose="020F0502020204030204" pitchFamily="34" charset="0"/>
              </a:rPr>
              <a:t>בביטוח לאומי וברווחה</a:t>
            </a:r>
            <a:endParaRPr lang="he-IL" sz="2500" b="1" dirty="0">
              <a:solidFill>
                <a:schemeClr val="tx1"/>
              </a:solidFill>
              <a:latin typeface="Calibri" panose="020F0502020204030204" pitchFamily="34" charset="0"/>
              <a:cs typeface="Calibri" panose="020F0502020204030204" pitchFamily="34" charset="0"/>
            </a:endParaRPr>
          </a:p>
        </p:txBody>
      </p:sp>
      <p:sp>
        <p:nvSpPr>
          <p:cNvPr id="14" name="אליפסה 13"/>
          <p:cNvSpPr/>
          <p:nvPr/>
        </p:nvSpPr>
        <p:spPr>
          <a:xfrm>
            <a:off x="5938125" y="139547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התאמת שירותים לצרכי הלקוחות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7966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7" name="TextBox 46"/>
          <p:cNvSpPr txBox="1"/>
          <p:nvPr/>
        </p:nvSpPr>
        <p:spPr>
          <a:xfrm>
            <a:off x="156608" y="3424407"/>
            <a:ext cx="3240748" cy="981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969" b="1" dirty="0">
                <a:latin typeface="Helvetica Neue"/>
                <a:ea typeface="Helvetica Neue"/>
                <a:cs typeface="Helvetica Neue"/>
                <a:sym typeface="Helvetica Neue"/>
              </a:rPr>
              <a:t>ניתן להעריך </a:t>
            </a:r>
            <a:r>
              <a:rPr lang="he-IL" sz="1969" b="1" u="sng" dirty="0">
                <a:solidFill>
                  <a:schemeClr val="accent5">
                    <a:lumMod val="75000"/>
                  </a:schemeClr>
                </a:solidFill>
                <a:latin typeface="Helvetica Neue"/>
                <a:ea typeface="Helvetica Neue"/>
                <a:cs typeface="Helvetica Neue"/>
                <a:sym typeface="Helvetica Neue"/>
              </a:rPr>
              <a:t>שלפחות</a:t>
            </a:r>
            <a:r>
              <a:rPr lang="he-IL" sz="1969" b="1" dirty="0">
                <a:solidFill>
                  <a:schemeClr val="accent5">
                    <a:lumMod val="75000"/>
                  </a:schemeClr>
                </a:solidFill>
                <a:latin typeface="Helvetica Neue"/>
                <a:ea typeface="Helvetica Neue"/>
                <a:cs typeface="Helvetica Neue"/>
                <a:sym typeface="Helvetica Neue"/>
              </a:rPr>
              <a:t> </a:t>
            </a:r>
            <a:r>
              <a:rPr lang="he-IL" sz="1969" b="1" dirty="0">
                <a:latin typeface="Helvetica Neue"/>
                <a:ea typeface="Helvetica Neue"/>
                <a:cs typeface="Helvetica Neue"/>
                <a:sym typeface="Helvetica Neue"/>
              </a:rPr>
              <a:t>כ 64,000 (80%) בתי אב פוטנציאלים לקהילה תומכת</a:t>
            </a:r>
          </a:p>
        </p:txBody>
      </p:sp>
      <p:sp>
        <p:nvSpPr>
          <p:cNvPr id="8" name="TextBox 7"/>
          <p:cNvSpPr txBox="1"/>
          <p:nvPr/>
        </p:nvSpPr>
        <p:spPr>
          <a:xfrm>
            <a:off x="3977924" y="6239353"/>
            <a:ext cx="5934316" cy="5048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defTabSz="410751" rtl="0" hangingPunct="0"/>
            <a:r>
              <a:rPr lang="he-IL" sz="1406" b="1" dirty="0">
                <a:solidFill>
                  <a:srgbClr val="000000"/>
                </a:solidFill>
                <a:latin typeface="Helvetica Neue"/>
                <a:ea typeface="Helvetica Neue"/>
                <a:cs typeface="Helvetica Neue"/>
                <a:sym typeface="Helvetica Neue"/>
              </a:rPr>
              <a:t>*מקרה בו גר הורה עם בנו/ביתו ושניהם זכאים לקצבת סיעוד, נספר כשני בתי אב</a:t>
            </a:r>
          </a:p>
          <a:p>
            <a:pPr algn="l" defTabSz="410751" hangingPunct="0"/>
            <a:endParaRPr lang="he-IL" sz="1406" b="1" dirty="0">
              <a:solidFill>
                <a:srgbClr val="000000"/>
              </a:solidFill>
              <a:latin typeface="Helvetica Neue"/>
              <a:ea typeface="Helvetica Neue"/>
              <a:cs typeface="Helvetica Neue"/>
              <a:sym typeface="Helvetica Neue"/>
            </a:endParaRPr>
          </a:p>
        </p:txBody>
      </p:sp>
      <p:sp>
        <p:nvSpPr>
          <p:cNvPr id="62" name="TextBox 61"/>
          <p:cNvSpPr txBox="1"/>
          <p:nvPr/>
        </p:nvSpPr>
        <p:spPr>
          <a:xfrm>
            <a:off x="9283206" y="3075058"/>
            <a:ext cx="1877431"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100,240  </a:t>
            </a:r>
          </a:p>
        </p:txBody>
      </p:sp>
      <p:sp>
        <p:nvSpPr>
          <p:cNvPr id="63" name="TextBox 62"/>
          <p:cNvSpPr txBox="1"/>
          <p:nvPr/>
        </p:nvSpPr>
        <p:spPr>
          <a:xfrm>
            <a:off x="6891757" y="3097045"/>
            <a:ext cx="2118923"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80,600*</a:t>
            </a:r>
          </a:p>
        </p:txBody>
      </p:sp>
      <p:sp>
        <p:nvSpPr>
          <p:cNvPr id="73" name="כותרת"/>
          <p:cNvSpPr txBox="1">
            <a:spLocks noGrp="1"/>
          </p:cNvSpPr>
          <p:nvPr>
            <p:ph type="title" idx="4294967295"/>
          </p:nvPr>
        </p:nvSpPr>
        <p:spPr>
          <a:xfrm>
            <a:off x="3007151" y="577764"/>
            <a:ext cx="8531063" cy="461145"/>
          </a:xfrm>
          <a:prstGeom prst="rect">
            <a:avLst/>
          </a:prstGeom>
        </p:spPr>
        <p:txBody>
          <a:bodyPr>
            <a:normAutofit fontScale="90000"/>
          </a:bodyPr>
          <a:lstStyle>
            <a:lvl1pPr algn="r" rtl="1">
              <a:defRPr sz="3700">
                <a:latin typeface="Tahoma"/>
                <a:ea typeface="Tahoma"/>
                <a:cs typeface="Tahoma"/>
                <a:sym typeface="Tahoma"/>
              </a:defRPr>
            </a:lvl1pPr>
          </a:lstStyle>
          <a:p>
            <a:r>
              <a:rPr lang="he-IL" kern="1200" dirty="0" smtClean="0">
                <a:solidFill>
                  <a:schemeClr val="tx1"/>
                </a:solidFill>
              </a:rPr>
              <a:t>קהילות תומכות </a:t>
            </a:r>
            <a:r>
              <a:rPr lang="he-IL" kern="1200" dirty="0" smtClean="0">
                <a:solidFill>
                  <a:schemeClr val="tx1"/>
                </a:solidFill>
              </a:rPr>
              <a:t>שייכות ומניעת התדרדרות</a:t>
            </a:r>
            <a:r>
              <a:rPr lang="he-IL" kern="1200" dirty="0">
                <a:solidFill>
                  <a:schemeClr val="tx1"/>
                </a:solidFill>
              </a:rPr>
              <a:t/>
            </a:r>
            <a:br>
              <a:rPr lang="he-IL" kern="1200" dirty="0">
                <a:solidFill>
                  <a:schemeClr val="tx1"/>
                </a:solidFill>
              </a:rPr>
            </a:br>
            <a:endParaRPr dirty="0">
              <a:solidFill>
                <a:schemeClr val="tx1"/>
              </a:solidFill>
            </a:endParaRPr>
          </a:p>
        </p:txBody>
      </p:sp>
      <p:sp>
        <p:nvSpPr>
          <p:cNvPr id="2" name="מלבן 1"/>
          <p:cNvSpPr/>
          <p:nvPr/>
        </p:nvSpPr>
        <p:spPr>
          <a:xfrm>
            <a:off x="9915429" y="2725148"/>
            <a:ext cx="1114408" cy="287130"/>
          </a:xfrm>
          <a:prstGeom prst="rect">
            <a:avLst/>
          </a:prstGeom>
        </p:spPr>
        <p:txBody>
          <a:bodyPr wrap="none">
            <a:spAutoFit/>
          </a:bodyPr>
          <a:lstStyle/>
          <a:p>
            <a:pPr lvl="0"/>
            <a:r>
              <a:rPr lang="he-IL" sz="1266" dirty="0"/>
              <a:t>אזרחים ותיקים</a:t>
            </a:r>
          </a:p>
        </p:txBody>
      </p:sp>
      <p:sp>
        <p:nvSpPr>
          <p:cNvPr id="3" name="מלבן 2"/>
          <p:cNvSpPr/>
          <p:nvPr/>
        </p:nvSpPr>
        <p:spPr>
          <a:xfrm>
            <a:off x="7594979" y="2612942"/>
            <a:ext cx="646332" cy="308674"/>
          </a:xfrm>
          <a:prstGeom prst="rect">
            <a:avLst/>
          </a:prstGeom>
        </p:spPr>
        <p:txBody>
          <a:bodyPr wrap="none">
            <a:spAutoFit/>
          </a:bodyPr>
          <a:lstStyle/>
          <a:p>
            <a:pPr lvl="0" rtl="1"/>
            <a:r>
              <a:rPr lang="he-IL" sz="1266" dirty="0">
                <a:latin typeface="Consolas" panose="020B0609020204030204" pitchFamily="49" charset="0"/>
              </a:rPr>
              <a:t>בתי</a:t>
            </a:r>
            <a:r>
              <a:rPr lang="he-IL" sz="1406" dirty="0">
                <a:latin typeface="Consolas" panose="020B0609020204030204" pitchFamily="49" charset="0"/>
              </a:rPr>
              <a:t> </a:t>
            </a:r>
            <a:r>
              <a:rPr lang="he-IL" sz="1266" dirty="0">
                <a:latin typeface="Consolas" panose="020B0609020204030204" pitchFamily="49" charset="0"/>
              </a:rPr>
              <a:t>אב</a:t>
            </a:r>
            <a:endParaRPr lang="he-IL" sz="1406" dirty="0"/>
          </a:p>
        </p:txBody>
      </p:sp>
      <p:grpSp>
        <p:nvGrpSpPr>
          <p:cNvPr id="7" name="קבוצה 6"/>
          <p:cNvGrpSpPr/>
          <p:nvPr/>
        </p:nvGrpSpPr>
        <p:grpSpPr>
          <a:xfrm>
            <a:off x="4438655" y="2564869"/>
            <a:ext cx="1819074" cy="2417770"/>
            <a:chOff x="6136429" y="3383437"/>
            <a:chExt cx="2587206" cy="3438711"/>
          </a:xfrm>
        </p:grpSpPr>
        <p:pic>
          <p:nvPicPr>
            <p:cNvPr id="46" name="תמונה 45"/>
            <p:cNvPicPr>
              <a:picLocks noChangeAspect="1"/>
            </p:cNvPicPr>
            <p:nvPr/>
          </p:nvPicPr>
          <p:blipFill rotWithShape="1">
            <a:blip r:embed="rId4" cstate="print">
              <a:extLst>
                <a:ext uri="{28A0092B-C50C-407E-A947-70E740481C1C}">
                  <a14:useLocalDpi xmlns:a14="http://schemas.microsoft.com/office/drawing/2010/main" val="0"/>
                </a:ext>
              </a:extLst>
            </a:blip>
            <a:srcRect l="72148" b="1305"/>
            <a:stretch/>
          </p:blipFill>
          <p:spPr>
            <a:xfrm>
              <a:off x="6435824" y="4150631"/>
              <a:ext cx="574853" cy="600280"/>
            </a:xfrm>
            <a:prstGeom prst="rect">
              <a:avLst/>
            </a:prstGeom>
          </p:spPr>
        </p:pic>
        <p:sp>
          <p:nvSpPr>
            <p:cNvPr id="15" name="TextBox 14"/>
            <p:cNvSpPr txBox="1"/>
            <p:nvPr/>
          </p:nvSpPr>
          <p:spPr>
            <a:xfrm>
              <a:off x="7249787" y="4062384"/>
              <a:ext cx="1260781"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6,000</a:t>
              </a:r>
            </a:p>
          </p:txBody>
        </p:sp>
        <p:pic>
          <p:nvPicPr>
            <p:cNvPr id="6" name="תמונה 5"/>
            <p:cNvPicPr>
              <a:picLocks noChangeAspect="1"/>
            </p:cNvPicPr>
            <p:nvPr/>
          </p:nvPicPr>
          <p:blipFill>
            <a:blip r:embed="rId5"/>
            <a:stretch>
              <a:fillRect/>
            </a:stretch>
          </p:blipFill>
          <p:spPr>
            <a:xfrm>
              <a:off x="6393217" y="4983118"/>
              <a:ext cx="695587" cy="735456"/>
            </a:xfrm>
            <a:prstGeom prst="rect">
              <a:avLst/>
            </a:prstGeom>
          </p:spPr>
        </p:pic>
        <p:sp>
          <p:nvSpPr>
            <p:cNvPr id="50" name="TextBox 49"/>
            <p:cNvSpPr txBox="1"/>
            <p:nvPr/>
          </p:nvSpPr>
          <p:spPr>
            <a:xfrm>
              <a:off x="7307490" y="5023248"/>
              <a:ext cx="908956"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220</a:t>
              </a:r>
            </a:p>
          </p:txBody>
        </p:sp>
        <p:sp>
          <p:nvSpPr>
            <p:cNvPr id="74" name="TextBox 73"/>
            <p:cNvSpPr txBox="1"/>
            <p:nvPr/>
          </p:nvSpPr>
          <p:spPr>
            <a:xfrm>
              <a:off x="6805642" y="5854843"/>
              <a:ext cx="1917993"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כ-1670</a:t>
              </a:r>
            </a:p>
          </p:txBody>
        </p:sp>
        <p:pic>
          <p:nvPicPr>
            <p:cNvPr id="2064" name="Picture 12" descr="Cash, coin, deposit, money, payment"/>
            <p:cNvPicPr>
              <a:picLocks noChangeAspect="1" noChangeArrowheads="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6344102" y="5854805"/>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2065" name="TextBox 2064"/>
            <p:cNvSpPr txBox="1"/>
            <p:nvPr/>
          </p:nvSpPr>
          <p:spPr>
            <a:xfrm>
              <a:off x="6136429" y="6350303"/>
              <a:ext cx="1048712" cy="4718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687" b="1" dirty="0">
                  <a:solidFill>
                    <a:schemeClr val="accent1">
                      <a:lumMod val="75000"/>
                    </a:schemeClr>
                  </a:solidFill>
                  <a:latin typeface="Helvetica Neue"/>
                  <a:ea typeface="Helvetica Neue"/>
                  <a:cs typeface="Helvetica Neue"/>
                  <a:sym typeface="Helvetica Neue"/>
                </a:rPr>
                <a:t>פרטיים</a:t>
              </a:r>
            </a:p>
          </p:txBody>
        </p:sp>
        <p:sp>
          <p:nvSpPr>
            <p:cNvPr id="4" name="מלבן 3"/>
            <p:cNvSpPr/>
            <p:nvPr/>
          </p:nvSpPr>
          <p:spPr>
            <a:xfrm>
              <a:off x="6983139" y="3383437"/>
              <a:ext cx="1281758" cy="408375"/>
            </a:xfrm>
            <a:prstGeom prst="rect">
              <a:avLst/>
            </a:prstGeom>
          </p:spPr>
          <p:txBody>
            <a:bodyPr wrap="none">
              <a:spAutoFit/>
            </a:bodyPr>
            <a:lstStyle/>
            <a:p>
              <a:pPr lvl="0" rtl="1"/>
              <a:r>
                <a:rPr lang="he-IL" sz="1266" dirty="0"/>
                <a:t>גורם מפנה </a:t>
              </a:r>
            </a:p>
          </p:txBody>
        </p:sp>
      </p:grpSp>
      <p:sp>
        <p:nvSpPr>
          <p:cNvPr id="5" name="חץ ימינה 4"/>
          <p:cNvSpPr/>
          <p:nvPr/>
        </p:nvSpPr>
        <p:spPr>
          <a:xfrm flipH="1">
            <a:off x="8902396" y="3412616"/>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1" name="חץ ימינה 50"/>
          <p:cNvSpPr/>
          <p:nvPr/>
        </p:nvSpPr>
        <p:spPr>
          <a:xfrm flipH="1">
            <a:off x="6498396" y="3438771"/>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2" name="חץ ימינה 51"/>
          <p:cNvSpPr/>
          <p:nvPr/>
        </p:nvSpPr>
        <p:spPr>
          <a:xfrm flipH="1">
            <a:off x="3666009" y="3440137"/>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5" name="מלבן 54"/>
          <p:cNvSpPr/>
          <p:nvPr/>
        </p:nvSpPr>
        <p:spPr>
          <a:xfrm>
            <a:off x="7008564" y="1303035"/>
            <a:ext cx="4374917" cy="287130"/>
          </a:xfrm>
          <a:prstGeom prst="rect">
            <a:avLst/>
          </a:prstGeom>
        </p:spPr>
        <p:txBody>
          <a:bodyPr wrap="none">
            <a:spAutoFit/>
          </a:bodyPr>
          <a:lstStyle/>
          <a:p>
            <a:pPr lvl="0"/>
            <a:r>
              <a:rPr lang="he-IL" sz="1266" dirty="0" smtClean="0">
                <a:latin typeface="Tahoma"/>
                <a:ea typeface="Tahoma"/>
                <a:cs typeface="Tahoma"/>
                <a:sym typeface="Tahoma"/>
              </a:rPr>
              <a:t>קהל יעד: </a:t>
            </a:r>
            <a:r>
              <a:rPr lang="he-IL" sz="1266" dirty="0">
                <a:latin typeface="Tahoma"/>
                <a:ea typeface="Tahoma"/>
                <a:cs typeface="Tahoma"/>
                <a:sym typeface="Tahoma"/>
              </a:rPr>
              <a:t>אזרחים ותיקים מקבלי קצבת סיעוד ברמה 1 או 2</a:t>
            </a:r>
          </a:p>
        </p:txBody>
      </p:sp>
      <p:sp>
        <p:nvSpPr>
          <p:cNvPr id="48" name="Rectangle"/>
          <p:cNvSpPr/>
          <p:nvPr/>
        </p:nvSpPr>
        <p:spPr>
          <a:xfrm flipV="1">
            <a:off x="3742441" y="1004625"/>
            <a:ext cx="7728715" cy="45719"/>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36988772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66623" y="2172689"/>
            <a:ext cx="4430945"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6992044"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2172689"/>
            <a:ext cx="2853339"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ניתוחים גאוגרפים – ניתוח ביקושים לקהילות תומכות למקבלי חוק סיעוד ברמה </a:t>
            </a:r>
            <a:r>
              <a:rPr lang="he-IL" sz="3200" b="1" dirty="0" smtClean="0">
                <a:latin typeface="Calibri" panose="020F0502020204030204" pitchFamily="34" charset="0"/>
                <a:cs typeface="Calibri" panose="020F0502020204030204" pitchFamily="34" charset="0"/>
              </a:rPr>
              <a:t>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3049401"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dirty="0"/>
              <a:t>קהילות לרמות 1-2 תל אביב</a:t>
            </a:r>
            <a:endParaRPr lang="he-IL" sz="2400" b="1" dirty="0">
              <a:solidFill>
                <a:srgbClr val="000000"/>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9817494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2"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502230" y="740346"/>
            <a:ext cx="10515600" cy="1325563"/>
          </a:xfrm>
        </p:spPr>
        <p:txBody>
          <a:bodyPr>
            <a:normAutofit fontScale="90000"/>
          </a:bodyPr>
          <a:lstStyle/>
          <a:p>
            <a:r>
              <a:rPr lang="he-IL" dirty="0" smtClean="0"/>
              <a:t>ביזור דור 2.0 </a:t>
            </a:r>
            <a:br>
              <a:rPr lang="he-IL" dirty="0" smtClean="0"/>
            </a:br>
            <a:r>
              <a:rPr lang="he-IL" dirty="0" smtClean="0"/>
              <a:t>סל מותאם אישית </a:t>
            </a:r>
            <a:r>
              <a:rPr lang="en-US" dirty="0" smtClean="0"/>
              <a:t>AI</a:t>
            </a:r>
            <a:r>
              <a:rPr lang="he-IL" dirty="0" smtClean="0"/>
              <a:t> </a:t>
            </a:r>
            <a:br>
              <a:rPr lang="he-IL" dirty="0" smtClean="0"/>
            </a:br>
            <a:r>
              <a:rPr lang="he-IL" dirty="0" smtClean="0"/>
              <a:t> לבחירת הזקן</a:t>
            </a:r>
            <a:endParaRPr lang="he-IL" dirty="0"/>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smtClean="0">
                <a:ln>
                  <a:noFill/>
                </a:ln>
                <a:solidFill>
                  <a:prstClr val="white"/>
                </a:solidFill>
                <a:effectLst/>
                <a:uLnTx/>
                <a:uFillTx/>
                <a:latin typeface="Calibri"/>
                <a:ea typeface="+mj-ea"/>
                <a:cs typeface="Calibri"/>
              </a:rPr>
              <a:t/>
            </a:r>
            <a:br>
              <a:rPr kumimoji="0" lang="he-IL" sz="2800" b="0" i="0" u="none" strike="noStrike" kern="1200" cap="none" spc="0" normalizeH="0" baseline="0" noProof="0" smtClean="0">
                <a:ln>
                  <a:noFill/>
                </a:ln>
                <a:solidFill>
                  <a:prstClr val="white"/>
                </a:solidFill>
                <a:effectLst/>
                <a:uLnTx/>
                <a:uFillTx/>
                <a:latin typeface="Calibri"/>
                <a:ea typeface="+mj-ea"/>
                <a:cs typeface="Calibri"/>
              </a:rPr>
            </a:br>
            <a:r>
              <a:rPr kumimoji="0" lang="he-IL" sz="2800" b="0" i="0" u="none" strike="noStrike" kern="1200" cap="none" spc="0" normalizeH="0" baseline="0" noProof="0" smtClean="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4">
            <a:extLst>
              <a:ext uri="{96DAC541-7B7A-43D3-8B79-37D633B846F1}">
                <asvg:svgBlip xmlns:asvg="http://schemas.microsoft.com/office/drawing/2016/SVG/main" xmlns="" r:embed="rId5"/>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רשת מקומית –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smtClean="0">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smtClean="0"/>
              <a:t>צורך וקושי</a:t>
            </a:r>
            <a:endParaRPr lang="he-IL" sz="1400" dirty="0"/>
          </a:p>
        </p:txBody>
      </p:sp>
      <p:sp>
        <p:nvSpPr>
          <p:cNvPr id="60" name="מלבן 59"/>
          <p:cNvSpPr/>
          <p:nvPr/>
        </p:nvSpPr>
        <p:spPr>
          <a:xfrm>
            <a:off x="2213314" y="1137706"/>
            <a:ext cx="713544" cy="523220"/>
          </a:xfrm>
          <a:prstGeom prst="rect">
            <a:avLst/>
          </a:prstGeom>
        </p:spPr>
        <p:txBody>
          <a:bodyPr wrap="square">
            <a:spAutoFit/>
          </a:bodyPr>
          <a:lstStyle/>
          <a:p>
            <a:r>
              <a:rPr lang="he-IL" sz="1400" dirty="0" smtClean="0"/>
              <a:t>רצון ובחירה</a:t>
            </a:r>
            <a:endParaRPr lang="he-IL" sz="1400" dirty="0"/>
          </a:p>
        </p:txBody>
      </p:sp>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sp>
        <p:nvSpPr>
          <p:cNvPr id="66" name="אליפסה 65"/>
          <p:cNvSpPr/>
          <p:nvPr/>
        </p:nvSpPr>
        <p:spPr>
          <a:xfrm>
            <a:off x="676004" y="247315"/>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pic>
        <p:nvPicPr>
          <p:cNvPr id="69" name="תמונה 6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Tree>
    <p:extLst>
      <p:ext uri="{BB962C8B-B14F-4D97-AF65-F5344CB8AC3E}">
        <p14:creationId xmlns:p14="http://schemas.microsoft.com/office/powerpoint/2010/main" val="35649306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7" y="5891945"/>
            <a:ext cx="4071435" cy="931341"/>
          </a:xfrm>
          <a:prstGeom prst="rect">
            <a:avLst/>
          </a:prstGeom>
        </p:spPr>
      </p:pic>
      <p:pic>
        <p:nvPicPr>
          <p:cNvPr id="1028" name="Picture 4" descr="מחקרים שפורסמו על ידי משרד הרווחה והביטחון החברתי | גראטוס">
            <a:extLst>
              <a:ext uri="{FF2B5EF4-FFF2-40B4-BE49-F238E27FC236}">
                <a16:creationId xmlns:a16="http://schemas.microsoft.com/office/drawing/2014/main" id="{A3038A59-2DEF-9A8D-50E0-FAC7032F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549" y="5851305"/>
            <a:ext cx="4210054" cy="1000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tvisor">
            <a:extLst>
              <a:ext uri="{FF2B5EF4-FFF2-40B4-BE49-F238E27FC236}">
                <a16:creationId xmlns:a16="http://schemas.microsoft.com/office/drawing/2014/main" id="{8C89414B-2483-4C74-D208-22F1457E17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1194" y="5824467"/>
            <a:ext cx="1188215" cy="1188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810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34462" y="3013931"/>
            <a:ext cx="12406511" cy="3235437"/>
          </a:xfrm>
          <a:prstGeom prst="rect">
            <a:avLst/>
          </a:prstGeom>
        </p:spPr>
        <p:txBody>
          <a:bodyPr wrap="square">
            <a:spAutoFit/>
          </a:bodyPr>
          <a:lstStyle/>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בניית תכנית אישית מבוססת נתונים, זקנה פעילה ומניעת התדרדרות </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5136827" y="51519"/>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250831" y="408430"/>
            <a:ext cx="5556331"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המשימה- ביזור 2.0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Tree>
    <p:extLst>
      <p:ext uri="{BB962C8B-B14F-4D97-AF65-F5344CB8AC3E}">
        <p14:creationId xmlns:p14="http://schemas.microsoft.com/office/powerpoint/2010/main" val="1445686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Tree>
    <p:extLst>
      <p:ext uri="{BB962C8B-B14F-4D97-AF65-F5344CB8AC3E}">
        <p14:creationId xmlns:p14="http://schemas.microsoft.com/office/powerpoint/2010/main" val="211850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B65CF1-7579-A7B5-CE04-CEDD31660D04}"/>
              </a:ext>
            </a:extLst>
          </p:cNvPr>
          <p:cNvPicPr>
            <a:picLocks noChangeAspect="1"/>
          </p:cNvPicPr>
          <p:nvPr/>
        </p:nvPicPr>
        <p:blipFill>
          <a:blip r:embed="rId3"/>
          <a:stretch>
            <a:fillRect/>
          </a:stretch>
        </p:blipFill>
        <p:spPr>
          <a:xfrm>
            <a:off x="0" y="368139"/>
            <a:ext cx="12192000" cy="6121722"/>
          </a:xfrm>
          <a:prstGeom prst="rect">
            <a:avLst/>
          </a:prstGeom>
        </p:spPr>
      </p:pic>
    </p:spTree>
    <p:extLst>
      <p:ext uri="{BB962C8B-B14F-4D97-AF65-F5344CB8AC3E}">
        <p14:creationId xmlns:p14="http://schemas.microsoft.com/office/powerpoint/2010/main" val="2989547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260495" y="1214468"/>
            <a:ext cx="4566496"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פעילות גופנית, זוגיות והיכרויות, מפגשים חברתיים,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שישה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386095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Tree>
    <p:extLst>
      <p:ext uri="{BB962C8B-B14F-4D97-AF65-F5344CB8AC3E}">
        <p14:creationId xmlns:p14="http://schemas.microsoft.com/office/powerpoint/2010/main" val="1393280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Tree>
    <p:extLst>
      <p:ext uri="{BB962C8B-B14F-4D97-AF65-F5344CB8AC3E}">
        <p14:creationId xmlns:p14="http://schemas.microsoft.com/office/powerpoint/2010/main" val="1126823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4" name="TextBox 3">
            <a:extLst>
              <a:ext uri="{FF2B5EF4-FFF2-40B4-BE49-F238E27FC236}">
                <a16:creationId xmlns:a16="http://schemas.microsoft.com/office/drawing/2014/main" id="{57E93C5B-474E-C16C-9E04-7B918D537219}"/>
              </a:ext>
            </a:extLst>
          </p:cNvPr>
          <p:cNvSpPr txBox="1"/>
          <p:nvPr/>
        </p:nvSpPr>
        <p:spPr>
          <a:xfrm>
            <a:off x="580505" y="1678723"/>
            <a:ext cx="11030989" cy="4196020"/>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מי קהל היעד בזקנה?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ההתאמות הנדרשות?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שירותים מכניסים לסל? מה לא מכניסים?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גבולות גזרה מרחיבים או צרים?</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תיעדוף נותנים?</a:t>
            </a:r>
            <a:r>
              <a:rPr lang="he-IL" b="1"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תפקיד ואחריות הספקים? </a:t>
            </a:r>
          </a:p>
          <a:p>
            <a:pPr marL="342891" indent="-342891">
              <a:lnSpc>
                <a:spcPct val="150000"/>
              </a:lnSpc>
              <a:buFont typeface="+mj-lt"/>
              <a:buAutoNum type="arabicPeriod"/>
            </a:pPr>
            <a:endParaRPr lang="he-IL" b="1"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b="1" dirty="0">
              <a:latin typeface="Calibri" panose="020F0502020204030204" pitchFamily="34" charset="0"/>
              <a:ea typeface="Calibri" panose="020F0502020204030204" pitchFamily="34" charset="0"/>
              <a:cs typeface="Arial" panose="020B0604020202020204" pitchFamily="34" charset="0"/>
            </a:endParaRPr>
          </a:p>
        </p:txBody>
      </p:sp>
      <p:sp>
        <p:nvSpPr>
          <p:cNvPr id="6" name="Text Placeholder 7">
            <a:extLst>
              <a:ext uri="{FF2B5EF4-FFF2-40B4-BE49-F238E27FC236}">
                <a16:creationId xmlns:a16="http://schemas.microsoft.com/office/drawing/2014/main" id="{6A3A5FF3-B912-8935-CA01-C95668234EEA}"/>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p>
          <a:p>
            <a:pPr marL="0" indent="0" algn="ctr">
              <a:buNone/>
            </a:pPr>
            <a:r>
              <a:rPr lang="he-IL" b="1" dirty="0">
                <a:latin typeface="Calibri" panose="020F0502020204030204" pitchFamily="34" charset="0"/>
                <a:cs typeface="Calibri" panose="020F0502020204030204" pitchFamily="34" charset="0"/>
              </a:rPr>
              <a:t>סל אישי מותאם לאזרח הוותיק</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5803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2" name="TextBox 1">
            <a:extLst>
              <a:ext uri="{FF2B5EF4-FFF2-40B4-BE49-F238E27FC236}">
                <a16:creationId xmlns:a16="http://schemas.microsoft.com/office/drawing/2014/main" id="{A14D9FB6-512F-B121-C56A-914684827662}"/>
              </a:ext>
            </a:extLst>
          </p:cNvPr>
          <p:cNvSpPr txBox="1"/>
          <p:nvPr/>
        </p:nvSpPr>
        <p:spPr>
          <a:xfrm>
            <a:off x="580505" y="1605070"/>
            <a:ext cx="11030989" cy="4096634"/>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מהי הפלטפורמה הקהילתית התומכת?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מנגישים ללקוח? מי הגורם שנמצא מול הלקוח ומחבר אותו לשירותים?</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מקורות המידע לשירותים בקהילה, לצרכי הלקוח ולרצונותיו?</a:t>
            </a:r>
          </a:p>
          <a:p>
            <a:pPr algn="r" rtl="1">
              <a:lnSpc>
                <a:spcPct val="150000"/>
              </a:lnSpc>
              <a:spcAft>
                <a:spcPts val="800"/>
              </a:spcAft>
            </a:pPr>
            <a:r>
              <a:rPr lang="he-IL" b="1" dirty="0">
                <a:latin typeface="Calibri" panose="020F0502020204030204" pitchFamily="34" charset="0"/>
                <a:ea typeface="Calibri" panose="020F0502020204030204" pitchFamily="34" charset="0"/>
                <a:cs typeface="Arial" panose="020B0604020202020204" pitchFamily="34" charset="0"/>
              </a:rPr>
              <a:t>7.  איך מודדים את איכות השירות? </a:t>
            </a:r>
            <a:r>
              <a:rPr lang="he-IL" dirty="0">
                <a:latin typeface="Calibri" panose="020F0502020204030204" pitchFamily="34" charset="0"/>
                <a:ea typeface="Calibri" panose="020F0502020204030204" pitchFamily="34" charset="0"/>
                <a:cs typeface="Arial" panose="020B0604020202020204" pitchFamily="34" charset="0"/>
              </a:rPr>
              <a:t>– עלתה שאלה לגבי איכות השירות והיחס לזקן. שתי הצעות בעניין זה:</a:t>
            </a:r>
          </a:p>
          <a:p>
            <a:pPr marL="285744" indent="-285744" algn="r" rtl="1">
              <a:lnSpc>
                <a:spcPct val="150000"/>
              </a:lnSpc>
              <a:spcAft>
                <a:spcPts val="800"/>
              </a:spcAft>
              <a:buFontTx/>
              <a:buChar char="-"/>
            </a:pPr>
            <a:r>
              <a:rPr lang="he-IL" dirty="0">
                <a:latin typeface="Calibri" panose="020F0502020204030204" pitchFamily="34" charset="0"/>
                <a:ea typeface="Calibri" panose="020F0502020204030204" pitchFamily="34" charset="0"/>
                <a:cs typeface="Arial" panose="020B0604020202020204" pitchFamily="34" charset="0"/>
              </a:rPr>
              <a:t>חתימה על </a:t>
            </a:r>
            <a:r>
              <a:rPr lang="he-IL" b="1" dirty="0">
                <a:latin typeface="Calibri" panose="020F0502020204030204" pitchFamily="34" charset="0"/>
                <a:ea typeface="Calibri" panose="020F0502020204030204" pitchFamily="34" charset="0"/>
                <a:cs typeface="Arial" panose="020B0604020202020204" pitchFamily="34" charset="0"/>
              </a:rPr>
              <a:t>אמנת שירות </a:t>
            </a:r>
            <a:r>
              <a:rPr lang="he-IL" dirty="0">
                <a:latin typeface="Calibri" panose="020F0502020204030204" pitchFamily="34" charset="0"/>
                <a:ea typeface="Calibri" panose="020F0502020204030204" pitchFamily="34" charset="0"/>
                <a:cs typeface="Arial" panose="020B0604020202020204" pitchFamily="34" charset="0"/>
              </a:rPr>
              <a:t>כחלק מההתקשרות עם נותן השירותים. </a:t>
            </a:r>
          </a:p>
          <a:p>
            <a:pPr marL="285744" indent="-285744" algn="r" rtl="1">
              <a:lnSpc>
                <a:spcPct val="150000"/>
              </a:lnSpc>
              <a:spcAft>
                <a:spcPts val="800"/>
              </a:spcAft>
              <a:buFontTx/>
              <a:buChar char="-"/>
            </a:pPr>
            <a:r>
              <a:rPr lang="he-IL" b="1" dirty="0">
                <a:latin typeface="Calibri" panose="020F0502020204030204" pitchFamily="34" charset="0"/>
                <a:ea typeface="Calibri" panose="020F0502020204030204" pitchFamily="34" charset="0"/>
                <a:cs typeface="Arial" panose="020B0604020202020204" pitchFamily="34" charset="0"/>
              </a:rPr>
              <a:t>משובים וביקורות </a:t>
            </a:r>
            <a:r>
              <a:rPr lang="he-IL" dirty="0">
                <a:latin typeface="Calibri" panose="020F0502020204030204" pitchFamily="34" charset="0"/>
                <a:ea typeface="Calibri" panose="020F0502020204030204" pitchFamily="34" charset="0"/>
                <a:cs typeface="Arial" panose="020B0604020202020204" pitchFamily="34" charset="0"/>
              </a:rPr>
              <a:t>– לאחר קבלת השירות יוכל האדם למלא משוב על התאמת השירות לצרכיו</a:t>
            </a:r>
          </a:p>
          <a:p>
            <a:pPr algn="r" rtl="1">
              <a:lnSpc>
                <a:spcPct val="150000"/>
              </a:lnSpc>
              <a:spcAft>
                <a:spcPts val="800"/>
              </a:spcAft>
            </a:pPr>
            <a:endParaRPr lang="en-IL" dirty="0">
              <a:latin typeface="Calibri" panose="020F0502020204030204" pitchFamily="34" charset="0"/>
              <a:ea typeface="Calibri" panose="020F0502020204030204" pitchFamily="34" charset="0"/>
              <a:cs typeface="Arial" panose="020B0604020202020204" pitchFamily="34" charset="0"/>
            </a:endParaRPr>
          </a:p>
        </p:txBody>
      </p:sp>
      <p:sp>
        <p:nvSpPr>
          <p:cNvPr id="3" name="Text Placeholder 7">
            <a:extLst>
              <a:ext uri="{FF2B5EF4-FFF2-40B4-BE49-F238E27FC236}">
                <a16:creationId xmlns:a16="http://schemas.microsoft.com/office/drawing/2014/main" id="{F1FADFFC-DBB8-5330-5261-A673CB1BE6E4}"/>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3690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2002</TotalTime>
  <Words>1592</Words>
  <Application>Microsoft Office PowerPoint</Application>
  <PresentationFormat>מסך רחב</PresentationFormat>
  <Paragraphs>295</Paragraphs>
  <Slides>29</Slides>
  <Notes>13</Notes>
  <HiddenSlides>7</HiddenSlides>
  <MMClips>0</MMClips>
  <ScaleCrop>false</ScaleCrop>
  <HeadingPairs>
    <vt:vector size="6" baseType="variant">
      <vt:variant>
        <vt:lpstr>גופנים בשימוש</vt:lpstr>
      </vt:variant>
      <vt:variant>
        <vt:i4>21</vt:i4>
      </vt:variant>
      <vt:variant>
        <vt:lpstr>ערכת נושא</vt:lpstr>
      </vt:variant>
      <vt:variant>
        <vt:i4>4</vt:i4>
      </vt:variant>
      <vt:variant>
        <vt:lpstr>כותרות שקופיות</vt:lpstr>
      </vt:variant>
      <vt:variant>
        <vt:i4>29</vt:i4>
      </vt:variant>
    </vt:vector>
  </HeadingPairs>
  <TitlesOfParts>
    <vt:vector size="54" baseType="lpstr">
      <vt:lpstr>맑은 고딕</vt:lpstr>
      <vt:lpstr>Arial</vt:lpstr>
      <vt:lpstr>Calibri</vt:lpstr>
      <vt:lpstr>Calibri Light</vt:lpstr>
      <vt:lpstr>Century Gothic</vt:lpstr>
      <vt:lpstr>Consolas</vt:lpstr>
      <vt:lpstr>David</vt:lpstr>
      <vt:lpstr>Droid Serif</vt:lpstr>
      <vt:lpstr>Gisha</vt:lpstr>
      <vt:lpstr>Gotham Book</vt:lpstr>
      <vt:lpstr>Guttman Kav</vt:lpstr>
      <vt:lpstr>Gveret Levin AlefAlefAlef</vt:lpstr>
      <vt:lpstr>Helvetica Neue</vt:lpstr>
      <vt:lpstr>Helvetica Neue Medium</vt:lpstr>
      <vt:lpstr>Montserrat</vt:lpstr>
      <vt:lpstr>Open Sans</vt:lpstr>
      <vt:lpstr>Pontano Sans</vt:lpstr>
      <vt:lpstr>Segoe UI</vt:lpstr>
      <vt:lpstr>Tahoma</vt:lpstr>
      <vt:lpstr>Times New Roman</vt:lpstr>
      <vt:lpstr>Varela Round</vt:lpstr>
      <vt:lpstr>ערכת נושא Office</vt:lpstr>
      <vt:lpstr>Showeet theme</vt:lpstr>
      <vt:lpstr>1_ערכת נושא Office</vt:lpstr>
      <vt:lpstr>2_ערכת נושא Office</vt:lpstr>
      <vt:lpstr>מצגת של PowerPoint‏</vt:lpstr>
      <vt:lpstr>מצגת של PowerPoint‏</vt:lpstr>
      <vt:lpstr>מצגת של PowerPoint‏</vt:lpstr>
      <vt:lpstr>מצגת של PowerPoint‏</vt:lpstr>
      <vt:lpstr>מצגת של PowerPoint‏</vt:lpstr>
      <vt:lpstr>מצגת של PowerPoint‏</vt:lpstr>
      <vt:lpstr>עקרונות מנחים במודל העבודה המשותף: </vt:lpstr>
      <vt:lpstr>מצגת של PowerPoint‏</vt:lpstr>
      <vt:lpstr>מספר ושיעור זכאי גמלת סיעוד לפי שנים </vt:lpstr>
      <vt:lpstr>השפעות רפורמת 2018</vt:lpstr>
      <vt:lpstr>גמלת סיעוד 2018-2024</vt:lpstr>
      <vt:lpstr>מצגת של PowerPoint‏</vt:lpstr>
      <vt:lpstr>מצגת של PowerPoint‏</vt:lpstr>
      <vt:lpstr>מצגת של PowerPoint‏</vt:lpstr>
      <vt:lpstr>מצגת של PowerPoint‏</vt:lpstr>
      <vt:lpstr>מצגת של PowerPoint‏</vt:lpstr>
      <vt:lpstr>מצגת של PowerPoint‏</vt:lpstr>
      <vt:lpstr>קהילות תומכות שייכות ומניעת התדרדרות </vt:lpstr>
      <vt:lpstr>מצגת של PowerPoint‏</vt:lpstr>
      <vt:lpstr>ביזור דור 2.0  סל מותאם אישית AI   לבחירת הזקן</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110</cp:revision>
  <dcterms:created xsi:type="dcterms:W3CDTF">2022-08-02T10:23:38Z</dcterms:created>
  <dcterms:modified xsi:type="dcterms:W3CDTF">2024-03-21T15:25:22Z</dcterms:modified>
</cp:coreProperties>
</file>