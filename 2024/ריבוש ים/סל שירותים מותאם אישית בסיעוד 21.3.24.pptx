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rawings/drawing2.xml" ContentType="application/vnd.openxmlformats-officedocument.drawingml.chartshape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Lst>
  <p:notesMasterIdLst>
    <p:notesMasterId r:id="rId52"/>
  </p:notesMasterIdLst>
  <p:handoutMasterIdLst>
    <p:handoutMasterId r:id="rId53"/>
  </p:handoutMasterIdLst>
  <p:sldIdLst>
    <p:sldId id="284" r:id="rId5"/>
    <p:sldId id="331" r:id="rId6"/>
    <p:sldId id="336" r:id="rId7"/>
    <p:sldId id="338" r:id="rId8"/>
    <p:sldId id="337" r:id="rId9"/>
    <p:sldId id="339" r:id="rId10"/>
    <p:sldId id="345" r:id="rId11"/>
    <p:sldId id="341" r:id="rId12"/>
    <p:sldId id="317" r:id="rId13"/>
    <p:sldId id="309" r:id="rId14"/>
    <p:sldId id="310" r:id="rId15"/>
    <p:sldId id="346" r:id="rId16"/>
    <p:sldId id="303" r:id="rId17"/>
    <p:sldId id="299" r:id="rId18"/>
    <p:sldId id="301" r:id="rId19"/>
    <p:sldId id="288" r:id="rId20"/>
    <p:sldId id="289" r:id="rId21"/>
    <p:sldId id="298" r:id="rId22"/>
    <p:sldId id="275" r:id="rId23"/>
    <p:sldId id="292" r:id="rId24"/>
    <p:sldId id="291" r:id="rId25"/>
    <p:sldId id="256" r:id="rId26"/>
    <p:sldId id="300" r:id="rId27"/>
    <p:sldId id="268" r:id="rId28"/>
    <p:sldId id="273" r:id="rId29"/>
    <p:sldId id="302" r:id="rId30"/>
    <p:sldId id="305" r:id="rId31"/>
    <p:sldId id="278" r:id="rId32"/>
    <p:sldId id="296" r:id="rId33"/>
    <p:sldId id="266" r:id="rId34"/>
    <p:sldId id="318" r:id="rId35"/>
    <p:sldId id="319" r:id="rId36"/>
    <p:sldId id="342" r:id="rId37"/>
    <p:sldId id="313" r:id="rId38"/>
    <p:sldId id="314" r:id="rId39"/>
    <p:sldId id="335" r:id="rId40"/>
    <p:sldId id="322" r:id="rId41"/>
    <p:sldId id="323" r:id="rId42"/>
    <p:sldId id="324" r:id="rId43"/>
    <p:sldId id="325" r:id="rId44"/>
    <p:sldId id="326" r:id="rId45"/>
    <p:sldId id="327" r:id="rId46"/>
    <p:sldId id="328" r:id="rId47"/>
    <p:sldId id="329" r:id="rId48"/>
    <p:sldId id="330" r:id="rId49"/>
    <p:sldId id="315" r:id="rId50"/>
    <p:sldId id="281" r:id="rId51"/>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3AD4"/>
    <a:srgbClr val="5B9BD5"/>
    <a:srgbClr val="E6E6E6"/>
    <a:srgbClr val="527FC4"/>
    <a:srgbClr val="D8BE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732" autoAdjust="0"/>
    <p:restoredTop sz="94660"/>
  </p:normalViewPr>
  <p:slideViewPr>
    <p:cSldViewPr snapToGrid="0">
      <p:cViewPr varScale="1">
        <p:scale>
          <a:sx n="102" d="100"/>
          <a:sy n="102" d="100"/>
        </p:scale>
        <p:origin x="72" y="348"/>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chartUserShapes" Target="../drawings/drawing2.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spPr>
            <a:solidFill>
              <a:schemeClr val="bg1">
                <a:lumMod val="65000"/>
              </a:schemeClr>
            </a:solidFill>
            <a:ln w="3175">
              <a:solidFill>
                <a:schemeClr val="bg1">
                  <a:lumMod val="95000"/>
                </a:schemeClr>
              </a:solidFill>
            </a:ln>
          </c:spPr>
          <c:dPt>
            <c:idx val="0"/>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1-07A5-48C1-B1A3-3872345185E7}"/>
              </c:ext>
            </c:extLst>
          </c:dPt>
          <c:dPt>
            <c:idx val="1"/>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3-07A5-48C1-B1A3-3872345185E7}"/>
              </c:ext>
            </c:extLst>
          </c:dPt>
          <c:dPt>
            <c:idx val="2"/>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5-07A5-48C1-B1A3-3872345185E7}"/>
              </c:ext>
            </c:extLst>
          </c:dPt>
          <c:dPt>
            <c:idx val="3"/>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7-07A5-48C1-B1A3-3872345185E7}"/>
              </c:ext>
            </c:extLst>
          </c:dPt>
          <c:dPt>
            <c:idx val="4"/>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9-07A5-48C1-B1A3-3872345185E7}"/>
              </c:ext>
            </c:extLst>
          </c:dPt>
          <c:dPt>
            <c:idx val="5"/>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B-07A5-48C1-B1A3-3872345185E7}"/>
              </c:ext>
            </c:extLst>
          </c:dPt>
          <c:dPt>
            <c:idx val="6"/>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0D-07A5-48C1-B1A3-3872345185E7}"/>
              </c:ext>
            </c:extLst>
          </c:dPt>
          <c:dPt>
            <c:idx val="7"/>
            <c:bubble3D val="0"/>
            <c:spPr>
              <a:solidFill>
                <a:srgbClr val="FF0000"/>
              </a:solidFill>
              <a:ln w="3175">
                <a:solidFill>
                  <a:srgbClr val="FF0000"/>
                </a:solidFill>
              </a:ln>
              <a:effectLst/>
            </c:spPr>
            <c:extLst>
              <c:ext xmlns:c16="http://schemas.microsoft.com/office/drawing/2014/chart" uri="{C3380CC4-5D6E-409C-BE32-E72D297353CC}">
                <c16:uniqueId val="{0000000F-07A5-48C1-B1A3-3872345185E7}"/>
              </c:ext>
            </c:extLst>
          </c:dPt>
          <c:dPt>
            <c:idx val="8"/>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1-07A5-48C1-B1A3-3872345185E7}"/>
              </c:ext>
            </c:extLst>
          </c:dPt>
          <c:dPt>
            <c:idx val="9"/>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3-07A5-48C1-B1A3-3872345185E7}"/>
              </c:ext>
            </c:extLst>
          </c:dPt>
          <c:dPt>
            <c:idx val="10"/>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5-07A5-48C1-B1A3-3872345185E7}"/>
              </c:ext>
            </c:extLst>
          </c:dPt>
          <c:dPt>
            <c:idx val="11"/>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7-07A5-48C1-B1A3-3872345185E7}"/>
              </c:ext>
            </c:extLst>
          </c:dPt>
          <c:dPt>
            <c:idx val="12"/>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9-07A5-48C1-B1A3-3872345185E7}"/>
              </c:ext>
            </c:extLst>
          </c:dPt>
          <c:dPt>
            <c:idx val="13"/>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B-07A5-48C1-B1A3-3872345185E7}"/>
              </c:ext>
            </c:extLst>
          </c:dPt>
          <c:dPt>
            <c:idx val="14"/>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D-07A5-48C1-B1A3-3872345185E7}"/>
              </c:ext>
            </c:extLst>
          </c:dPt>
          <c:dPt>
            <c:idx val="15"/>
            <c:bubble3D val="0"/>
            <c:spPr>
              <a:solidFill>
                <a:schemeClr val="bg1">
                  <a:lumMod val="65000"/>
                </a:schemeClr>
              </a:solidFill>
              <a:ln w="3175">
                <a:solidFill>
                  <a:schemeClr val="bg1">
                    <a:lumMod val="95000"/>
                  </a:schemeClr>
                </a:solidFill>
              </a:ln>
              <a:effectLst/>
            </c:spPr>
            <c:extLst>
              <c:ext xmlns:c16="http://schemas.microsoft.com/office/drawing/2014/chart" uri="{C3380CC4-5D6E-409C-BE32-E72D297353CC}">
                <c16:uniqueId val="{0000001F-07A5-48C1-B1A3-3872345185E7}"/>
              </c:ext>
            </c:extLst>
          </c:dPt>
          <c:dLbls>
            <c:dLbl>
              <c:idx val="1"/>
              <c:tx>
                <c:rich>
                  <a:bodyPr/>
                  <a:lstStyle/>
                  <a:p>
                    <a:fld id="{32E26173-42DE-4F16-BC6F-D1EA84ED6762}" type="CATEGORYNAME">
                      <a:rPr lang="he-IL"/>
                      <a:pPr/>
                      <a:t>[שם קטגוריה]</a:t>
                    </a:fld>
                    <a:r>
                      <a:rPr lang="he-IL"/>
                      <a:t>, </a:t>
                    </a:r>
                    <a:fld id="{5323395A-D5B4-471D-B3DD-E8DD1A3506ED}" type="VALUE">
                      <a:rPr lang="he-IL"/>
                      <a:pPr/>
                      <a:t>[ערך]</a:t>
                    </a:fld>
                    <a:r>
                      <a:rPr lang="he-IL"/>
                      <a:t>/9.5</a:t>
                    </a:r>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7A5-48C1-B1A3-3872345185E7}"/>
                </c:ext>
              </c:extLst>
            </c:dLbl>
            <c:dLbl>
              <c:idx val="3"/>
              <c:tx>
                <c:rich>
                  <a:bodyPr/>
                  <a:lstStyle/>
                  <a:p>
                    <a:fld id="{185CD460-8D22-4B38-83E1-CCA1803CBE79}" type="CATEGORYNAME">
                      <a:rPr lang="he-IL"/>
                      <a:pPr/>
                      <a:t>[שם קטגוריה]</a:t>
                    </a:fld>
                    <a:r>
                      <a:rPr lang="he-IL"/>
                      <a:t> </a:t>
                    </a:r>
                    <a:fld id="{095DCECD-DB69-4EB5-9444-F1F6AD412F4D}" type="VALUE">
                      <a:rPr lang="he-IL"/>
                      <a:pPr/>
                      <a:t>[ערך]</a:t>
                    </a:fld>
                    <a:endParaRPr lang="he-IL"/>
                  </a:p>
                </c:rich>
              </c:tx>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07A5-48C1-B1A3-3872345185E7}"/>
                </c:ext>
              </c:extLst>
            </c:dLbl>
            <c:dLbl>
              <c:idx val="6"/>
              <c:layout>
                <c:manualLayout>
                  <c:x val="6.1820553320125531E-2"/>
                  <c:y val="3.2456355641642759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07A5-48C1-B1A3-3872345185E7}"/>
                </c:ext>
              </c:extLst>
            </c:dLbl>
            <c:dLbl>
              <c:idx val="7"/>
              <c:layout>
                <c:manualLayout>
                  <c:x val="-0.12190600579908416"/>
                  <c:y val="-1.9195028918971694E-4"/>
                </c:manualLayout>
              </c:layout>
              <c:tx>
                <c:rich>
                  <a:bodyPr/>
                  <a:lstStyle/>
                  <a:p>
                    <a:r>
                      <a:rPr lang="he-IL" sz="1400" b="1" dirty="0" err="1"/>
                      <a:t>מינהל</a:t>
                    </a:r>
                    <a:r>
                      <a:rPr lang="he-IL" sz="1400" b="1" dirty="0"/>
                      <a:t> אזרחים ותיקים ברווחה </a:t>
                    </a:r>
                    <a:fld id="{70634F7F-49C0-43A3-B9DD-21273F20D5E0}" type="VALUE">
                      <a:rPr lang="he-IL" sz="1400" b="1"/>
                      <a:pPr/>
                      <a:t>[ערך]</a:t>
                    </a:fld>
                    <a:endParaRPr lang="he-IL" sz="1400" b="1" dirty="0"/>
                  </a:p>
                </c:rich>
              </c:tx>
              <c:showLegendKey val="0"/>
              <c:showVal val="1"/>
              <c:showCatName val="1"/>
              <c:showSerName val="0"/>
              <c:showPercent val="0"/>
              <c:showBubbleSize val="0"/>
              <c:extLst>
                <c:ext xmlns:c15="http://schemas.microsoft.com/office/drawing/2012/chart" uri="{CE6537A1-D6FC-4f65-9D91-7224C49458BB}">
                  <c15:layout>
                    <c:manualLayout>
                      <c:w val="0.36948236461099354"/>
                      <c:h val="8.626884110649348E-2"/>
                    </c:manualLayout>
                  </c15:layout>
                  <c15:dlblFieldTable/>
                  <c15:showDataLabelsRange val="0"/>
                </c:ext>
                <c:ext xmlns:c16="http://schemas.microsoft.com/office/drawing/2014/chart" uri="{C3380CC4-5D6E-409C-BE32-E72D297353CC}">
                  <c16:uniqueId val="{0000000F-07A5-48C1-B1A3-3872345185E7}"/>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07A5-48C1-B1A3-3872345185E7}"/>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07A5-48C1-B1A3-3872345185E7}"/>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07A5-48C1-B1A3-3872345185E7}"/>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00">
          <a:solidFill>
            <a:schemeClr val="tx1"/>
          </a:solidFill>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a:t>
            </a:r>
            <a:r>
              <a:rPr lang="he-IL" baseline="0" dirty="0" smtClean="0"/>
              <a:t>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9-FE80-4CD3-977E-2EBB2AD43250}"/>
                </c:ext>
              </c:extLst>
            </c:dLbl>
            <c:dLbl>
              <c:idx val="30"/>
              <c:layout>
                <c:manualLayout>
                  <c:x val="-3.0330976607117626E-2"/>
                  <c:y val="-8.8064398440704614E-2"/>
                </c:manualLayout>
              </c:layout>
              <c:tx>
                <c:rich>
                  <a:bodyPr/>
                  <a:lstStyle/>
                  <a:p>
                    <a:r>
                      <a:rPr lang="en-US" sz="1400" b="1" dirty="0" smtClean="0">
                        <a:solidFill>
                          <a:schemeClr val="tx1"/>
                        </a:solidFill>
                      </a:rPr>
                      <a:t>30.5%</a:t>
                    </a:r>
                    <a:endParaRPr lang="en-US" sz="1400" b="1" dirty="0">
                      <a:solidFill>
                        <a:schemeClr val="tx1"/>
                      </a:solidFill>
                    </a:endParaRPr>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1"/>
                </a:solidFill>
              </a:rPr>
              <a:t>מספר זכאי גמלת סיעוד</a:t>
            </a:r>
            <a:r>
              <a:rPr lang="he-IL" baseline="0" dirty="0"/>
              <a:t> גדל פי 10</a:t>
            </a:r>
            <a:endParaRPr lang="en-US" dirty="0"/>
          </a:p>
        </c:rich>
      </c:tx>
      <c:layout>
        <c:manualLayout>
          <c:xMode val="edge"/>
          <c:yMode val="edge"/>
          <c:x val="0.29631153846153846"/>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2-8CDA-4CBE-BDCD-1F0E1D452D11}"/>
                </c:ext>
              </c:extLst>
            </c:dLbl>
            <c:dLbl>
              <c:idx val="32"/>
              <c:layout>
                <c:manualLayout>
                  <c:x val="0"/>
                  <c:y val="-0.14252758974609289"/>
                </c:manualLayout>
              </c:layout>
              <c:tx>
                <c:rich>
                  <a:bodyPr/>
                  <a:lstStyle/>
                  <a:p>
                    <a:r>
                      <a:rPr lang="en-US" sz="1400" b="1" dirty="0" smtClean="0"/>
                      <a:t>350,000</a:t>
                    </a:r>
                    <a:endParaRPr lang="en-US" sz="1400" b="1" dirty="0"/>
                  </a:p>
                </c:rich>
              </c:tx>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9208814386355678E-2"/>
          <c:y val="0.1791523482245132"/>
          <c:w val="0.95714633881110689"/>
          <c:h val="0.57902246755238074"/>
        </c:manualLayout>
      </c:layout>
      <c:barChart>
        <c:barDir val="col"/>
        <c:grouping val="clustered"/>
        <c:varyColors val="0"/>
        <c:ser>
          <c:idx val="0"/>
          <c:order val="0"/>
          <c:tx>
            <c:strRef>
              <c:f>'[(43146) השוואת נתוני תקציב גמלאות ומרכזי יום.xlsx]שינוים בתקציב'!$D$25</c:f>
              <c:strCache>
                <c:ptCount val="1"/>
                <c:pt idx="0">
                  <c:v>2018</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בתקציב'!$D$26:$D$30</c:f>
              <c:numCache>
                <c:formatCode>0.00</c:formatCode>
                <c:ptCount val="5"/>
                <c:pt idx="0">
                  <c:v>6.6909999999999989</c:v>
                </c:pt>
                <c:pt idx="1">
                  <c:v>0.16900000000000001</c:v>
                </c:pt>
                <c:pt idx="2">
                  <c:v>4.4829999999999997</c:v>
                </c:pt>
                <c:pt idx="3">
                  <c:v>1.6919999999999999</c:v>
                </c:pt>
                <c:pt idx="4">
                  <c:v>0.24399999999999999</c:v>
                </c:pt>
              </c:numCache>
            </c:numRef>
          </c:val>
          <c:extLst>
            <c:ext xmlns:c16="http://schemas.microsoft.com/office/drawing/2014/chart" uri="{C3380CC4-5D6E-409C-BE32-E72D297353CC}">
              <c16:uniqueId val="{00000000-5E06-4D41-B6B0-3A85270AEC3B}"/>
            </c:ext>
          </c:extLst>
        </c:ser>
        <c:ser>
          <c:idx val="1"/>
          <c:order val="1"/>
          <c:tx>
            <c:strRef>
              <c:f>'[(43146) השוואת נתוני תקציב גמלאות ומרכזי יום.xlsx]שינוים בתקציב'!$E$25</c:f>
              <c:strCache>
                <c:ptCount val="1"/>
                <c:pt idx="0">
                  <c:v>2022</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'[(43146) השוואת נתוני תקציב גמלאות ומרכזי יום.xlsx]שינוים בתקציב'!$C$26:$C$30</c:f>
              <c:strCache>
                <c:ptCount val="5"/>
                <c:pt idx="0">
                  <c:v>סך גמלת סיעוד</c:v>
                </c:pt>
                <c:pt idx="1">
                  <c:v>גימלה בכסף</c:v>
                </c:pt>
                <c:pt idx="2">
                  <c:v>טיפול אישי בבית ע"י מטפלות ישראליות</c:v>
                </c:pt>
                <c:pt idx="3">
                  <c:v>טיפול אישי בבית ע"י מטפלות זרות</c:v>
                </c:pt>
                <c:pt idx="4">
                  <c:v>מרכזי יום</c:v>
                </c:pt>
              </c:strCache>
            </c:strRef>
          </c:cat>
          <c:val>
            <c:numRef>
              <c:f>'[(43146) השוואת נתוני תקציב גמלאות ומרכזי יום.xlsx]שינוים בתקציב'!$E$26:$E$30</c:f>
              <c:numCache>
                <c:formatCode>0.00</c:formatCode>
                <c:ptCount val="5"/>
                <c:pt idx="0">
                  <c:v>13.403</c:v>
                </c:pt>
                <c:pt idx="1">
                  <c:v>3.173</c:v>
                </c:pt>
                <c:pt idx="2">
                  <c:v>7.8159999999999998</c:v>
                </c:pt>
                <c:pt idx="3">
                  <c:v>2.0539999999999998</c:v>
                </c:pt>
                <c:pt idx="4">
                  <c:v>0.23100000000000001</c:v>
                </c:pt>
              </c:numCache>
            </c:numRef>
          </c:val>
          <c:extLst>
            <c:ext xmlns:c16="http://schemas.microsoft.com/office/drawing/2014/chart" uri="{C3380CC4-5D6E-409C-BE32-E72D297353CC}">
              <c16:uniqueId val="{00000001-5E06-4D41-B6B0-3A85270AEC3B}"/>
            </c:ext>
          </c:extLst>
        </c:ser>
        <c:dLbls>
          <c:dLblPos val="outEnd"/>
          <c:showLegendKey val="0"/>
          <c:showVal val="1"/>
          <c:showCatName val="0"/>
          <c:showSerName val="0"/>
          <c:showPercent val="0"/>
          <c:showBubbleSize val="0"/>
        </c:dLbls>
        <c:gapWidth val="219"/>
        <c:overlap val="-27"/>
        <c:axId val="843705488"/>
        <c:axId val="843708112"/>
      </c:barChart>
      <c:catAx>
        <c:axId val="843705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843708112"/>
        <c:crosses val="autoZero"/>
        <c:auto val="1"/>
        <c:lblAlgn val="ctr"/>
        <c:lblOffset val="100"/>
        <c:noMultiLvlLbl val="0"/>
      </c:catAx>
      <c:valAx>
        <c:axId val="843708112"/>
        <c:scaling>
          <c:orientation val="minMax"/>
        </c:scaling>
        <c:delete val="1"/>
        <c:axPos val="l"/>
        <c:numFmt formatCode="0.00" sourceLinked="1"/>
        <c:majorTickMark val="none"/>
        <c:minorTickMark val="none"/>
        <c:tickLblPos val="nextTo"/>
        <c:crossAx val="8437054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legend>
    <c:plotVisOnly val="1"/>
    <c:dispBlanksAs val="gap"/>
    <c:showDLblsOverMax val="0"/>
  </c:chart>
  <c:spPr>
    <a:solidFill>
      <a:schemeClr val="bg1"/>
    </a:solidFill>
    <a:ln w="9525" cap="flat" cmpd="sng" algn="ctr">
      <a:noFill/>
      <a:round/>
    </a:ln>
    <a:effectLst/>
  </c:spPr>
  <c:txPr>
    <a:bodyPr/>
    <a:lstStyle/>
    <a:p>
      <a:pPr>
        <a:defRPr sz="1100">
          <a:latin typeface="Calibri" panose="020F0502020204030204" pitchFamily="34" charset="0"/>
          <a:cs typeface="Calibri" panose="020F0502020204030204" pitchFamily="34" charset="0"/>
        </a:defRPr>
      </a:pPr>
      <a:endParaRPr lang="he-IL"/>
    </a:p>
  </c:txPr>
  <c:externalData r:id="rId3">
    <c:autoUpdate val="0"/>
  </c:externalData>
  <c:userShapes r:id="rId4"/>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160" dirty="0"/>
              <a:t>חלוקת תקציב 2018</a:t>
            </a:r>
          </a:p>
        </c:rich>
      </c:tx>
      <c:layout>
        <c:manualLayout>
          <c:xMode val="edge"/>
          <c:yMode val="edge"/>
          <c:x val="0.33799794219781171"/>
          <c:y val="9.6516457402284178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ser>
          <c:idx val="0"/>
          <c:order val="0"/>
          <c:tx>
            <c:strRef>
              <c:f>'שינוים בתקציב'!$C$72</c:f>
              <c:strCache>
                <c:ptCount val="1"/>
                <c:pt idx="0">
                  <c:v>סה"כ</c:v>
                </c:pt>
              </c:strCache>
            </c:strRef>
          </c:tx>
          <c:dPt>
            <c:idx val="0"/>
            <c:bubble3D val="0"/>
            <c:spPr>
              <a:solidFill>
                <a:schemeClr val="accent5">
                  <a:tint val="58000"/>
                </a:schemeClr>
              </a:solidFill>
              <a:ln w="19050">
                <a:solidFill>
                  <a:schemeClr val="lt1"/>
                </a:solidFill>
              </a:ln>
              <a:effectLst/>
            </c:spPr>
            <c:extLst>
              <c:ext xmlns:c16="http://schemas.microsoft.com/office/drawing/2014/chart" uri="{C3380CC4-5D6E-409C-BE32-E72D297353CC}">
                <c16:uniqueId val="{00000001-1771-4D95-ADCD-08FC320FD681}"/>
              </c:ext>
            </c:extLst>
          </c:dPt>
          <c:dPt>
            <c:idx val="1"/>
            <c:bubble3D val="0"/>
            <c:spPr>
              <a:solidFill>
                <a:schemeClr val="accent5">
                  <a:tint val="86000"/>
                </a:schemeClr>
              </a:solidFill>
              <a:ln w="19050">
                <a:solidFill>
                  <a:schemeClr val="lt1"/>
                </a:solidFill>
              </a:ln>
              <a:effectLst/>
            </c:spPr>
            <c:extLst>
              <c:ext xmlns:c16="http://schemas.microsoft.com/office/drawing/2014/chart" uri="{C3380CC4-5D6E-409C-BE32-E72D297353CC}">
                <c16:uniqueId val="{00000003-1771-4D95-ADCD-08FC320FD681}"/>
              </c:ext>
            </c:extLst>
          </c:dPt>
          <c:dPt>
            <c:idx val="2"/>
            <c:bubble3D val="0"/>
            <c:spPr>
              <a:solidFill>
                <a:schemeClr val="accent5">
                  <a:shade val="86000"/>
                </a:schemeClr>
              </a:solidFill>
              <a:ln w="19050">
                <a:solidFill>
                  <a:schemeClr val="lt1"/>
                </a:solidFill>
              </a:ln>
              <a:effectLst/>
            </c:spPr>
            <c:extLst>
              <c:ext xmlns:c16="http://schemas.microsoft.com/office/drawing/2014/chart" uri="{C3380CC4-5D6E-409C-BE32-E72D297353CC}">
                <c16:uniqueId val="{00000005-1771-4D95-ADCD-08FC320FD681}"/>
              </c:ext>
            </c:extLst>
          </c:dPt>
          <c:dPt>
            <c:idx val="3"/>
            <c:bubble3D val="0"/>
            <c:spPr>
              <a:solidFill>
                <a:schemeClr val="accent5">
                  <a:shade val="58000"/>
                </a:schemeClr>
              </a:solidFill>
              <a:ln w="19050">
                <a:solidFill>
                  <a:schemeClr val="lt1"/>
                </a:solidFill>
              </a:ln>
              <a:effectLst/>
            </c:spPr>
            <c:extLst>
              <c:ext xmlns:c16="http://schemas.microsoft.com/office/drawing/2014/chart" uri="{C3380CC4-5D6E-409C-BE32-E72D297353CC}">
                <c16:uniqueId val="{00000007-1771-4D95-ADCD-08FC320FD681}"/>
              </c:ext>
            </c:extLst>
          </c:dPt>
          <c:dLbls>
            <c:dLbl>
              <c:idx val="0"/>
              <c:layout>
                <c:manualLayout>
                  <c:x val="0.1636758530183727"/>
                  <c:y val="-1.488578778087807E-2"/>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1771-4D95-ADCD-08FC320FD681}"/>
                </c:ext>
              </c:extLst>
            </c:dLbl>
            <c:dLbl>
              <c:idx val="1"/>
              <c:layout>
                <c:manualLayout>
                  <c:x val="1.5891127334561446E-2"/>
                  <c:y val="-0.18324519401291056"/>
                </c:manualLayout>
              </c:layout>
              <c:tx>
                <c:rich>
                  <a:bodyPr/>
                  <a:lstStyle/>
                  <a:p>
                    <a:fld id="{83A24EE1-F114-4F3C-98A0-6EF2DC18E43C}" type="CATEGORYNAME">
                      <a:rPr lang="he-IL">
                        <a:solidFill>
                          <a:schemeClr val="bg1"/>
                        </a:solidFill>
                      </a:rPr>
                      <a:pPr/>
                      <a:t>[שם קטגוריה]</a:t>
                    </a:fld>
                    <a:r>
                      <a:rPr lang="he-IL" baseline="0" dirty="0">
                        <a:solidFill>
                          <a:schemeClr val="bg1"/>
                        </a:solidFill>
                      </a:rPr>
                      <a:t>
</a:t>
                    </a:r>
                    <a:fld id="{882E3BF4-9801-4370-85D4-D1EC6724A602}" type="PERCENTAGE">
                      <a:rPr lang="he-IL" baseline="0">
                        <a:solidFill>
                          <a:schemeClr val="bg1"/>
                        </a:solidFill>
                      </a:rPr>
                      <a:pPr/>
                      <a:t>[אחוז]</a:t>
                    </a:fld>
                    <a:endParaRPr lang="he-IL" baseline="0" dirty="0">
                      <a:solidFill>
                        <a:schemeClr val="bg1"/>
                      </a:solidFill>
                    </a:endParaRPr>
                  </a:p>
                </c:rich>
              </c:tx>
              <c:dLblPos val="bestFit"/>
              <c:showLegendKey val="0"/>
              <c:showVal val="0"/>
              <c:showCatName val="1"/>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1771-4D95-ADCD-08FC320FD681}"/>
                </c:ext>
              </c:extLst>
            </c:dLbl>
            <c:dLbl>
              <c:idx val="2"/>
              <c:layout>
                <c:manualLayout>
                  <c:x val="-0.15997692475940509"/>
                  <c:y val="-8.1485707709278883E-3"/>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5-1771-4D95-ADCD-08FC320FD681}"/>
                </c:ext>
              </c:extLst>
            </c:dLbl>
            <c:dLbl>
              <c:idx val="3"/>
              <c:layout>
                <c:manualLayout>
                  <c:x val="1.1760936132983377E-2"/>
                  <c:y val="-3.2639277445642524E-2"/>
                </c:manualLayout>
              </c:layout>
              <c:dLblPos val="bestFit"/>
              <c:showLegendKey val="0"/>
              <c:showVal val="0"/>
              <c:showCatName val="1"/>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7-1771-4D95-ADCD-08FC320FD681}"/>
                </c:ext>
              </c:extLst>
            </c:dLbl>
            <c:spPr>
              <a:noFill/>
              <a:ln>
                <a:noFill/>
              </a:ln>
              <a:effectLst/>
            </c:spPr>
            <c:txPr>
              <a:bodyPr rot="0" spcFirstLastPara="1" vertOverflow="ellipsis" vert="horz" wrap="square" anchor="ctr" anchorCtr="1"/>
              <a:lstStyle/>
              <a:p>
                <a:pPr>
                  <a:defRPr sz="1800" b="0"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'שינוים בתקציב'!$B$73:$B$76</c:f>
              <c:strCache>
                <c:ptCount val="4"/>
                <c:pt idx="0">
                  <c:v>גמלאות בכסף</c:v>
                </c:pt>
                <c:pt idx="1">
                  <c:v>טיפול אישי בבית</c:v>
                </c:pt>
                <c:pt idx="2">
                  <c:v>מרכזי יום</c:v>
                </c:pt>
                <c:pt idx="3">
                  <c:v>שירותים אחרים</c:v>
                </c:pt>
              </c:strCache>
            </c:strRef>
          </c:cat>
          <c:val>
            <c:numRef>
              <c:f>'שינוים בתקציב'!$C$73:$C$76</c:f>
              <c:numCache>
                <c:formatCode>0.00</c:formatCode>
                <c:ptCount val="4"/>
                <c:pt idx="0">
                  <c:v>0.16900000000000001</c:v>
                </c:pt>
                <c:pt idx="1">
                  <c:v>6.1749999999999998</c:v>
                </c:pt>
                <c:pt idx="2">
                  <c:v>0.24399999999999999</c:v>
                </c:pt>
                <c:pt idx="3">
                  <c:v>0.10299999999999999</c:v>
                </c:pt>
              </c:numCache>
            </c:numRef>
          </c:val>
          <c:extLst>
            <c:ext xmlns:c16="http://schemas.microsoft.com/office/drawing/2014/chart" uri="{C3380CC4-5D6E-409C-BE32-E72D297353CC}">
              <c16:uniqueId val="{00000008-1771-4D95-ADCD-08FC320FD681}"/>
            </c:ext>
          </c:extLst>
        </c:ser>
        <c:dLbls>
          <c:dLblPos val="bestFit"/>
          <c:showLegendKey val="0"/>
          <c:showVal val="1"/>
          <c:showCatName val="0"/>
          <c:showSerName val="0"/>
          <c:showPercent val="0"/>
          <c:showBubbleSize val="0"/>
          <c:showLeaderLines val="1"/>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he-IL"/>
              <a:t>חלוקת תקציב 2023</a:t>
            </a:r>
          </a:p>
        </c:rich>
      </c:tx>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pieChart>
        <c:varyColors val="1"/>
        <c:ser>
          <c:idx val="0"/>
          <c:order val="0"/>
          <c:tx>
            <c:strRef>
              <c:f>גיליון1!$J$8</c:f>
              <c:strCache>
                <c:ptCount val="1"/>
                <c:pt idx="0">
                  <c:v>תקציב סיעוד 2023</c:v>
                </c:pt>
              </c:strCache>
            </c:strRef>
          </c:tx>
          <c:explosion val="2"/>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3-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7-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9-1AA0-4242-BC95-54DEFE78882A}"/>
              </c:ext>
            </c:extLst>
          </c:dPt>
          <c:dLbls>
            <c:dLbl>
              <c:idx val="1"/>
              <c:layout/>
              <c:tx>
                <c:rich>
                  <a:bodyPr/>
                  <a:lstStyle/>
                  <a:p>
                    <a:r>
                      <a:rPr lang="he-IL" dirty="0" smtClean="0"/>
                      <a:t>בן משפחה</a:t>
                    </a:r>
                    <a:r>
                      <a:rPr lang="he-IL" baseline="0" dirty="0" smtClean="0"/>
                      <a:t> מטפל בשכר</a:t>
                    </a:r>
                    <a:r>
                      <a:rPr lang="he-IL" baseline="0" dirty="0"/>
                      <a:t>
</a:t>
                    </a:r>
                    <a:fld id="{0A2454EA-A7A5-4F43-BCB6-1EA1D704DF38}" type="PERCENTAGE">
                      <a:rPr lang="he-IL" baseline="0"/>
                      <a:pPr/>
                      <a:t>[אחוז]</a:t>
                    </a:fld>
                    <a:endParaRPr lang="he-IL" baseline="0" dirty="0"/>
                  </a:p>
                </c:rich>
              </c:tx>
              <c:dLblPos val="bestFit"/>
              <c:showLegendKey val="0"/>
              <c:showVal val="0"/>
              <c:showCatName val="1"/>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3-1AA0-4242-BC95-54DEFE78882A}"/>
                </c:ext>
              </c:extLst>
            </c:dLbl>
            <c:dLbl>
              <c:idx val="3"/>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6="http://schemas.microsoft.com/office/drawing/2014/chart" uri="{C3380CC4-5D6E-409C-BE32-E72D297353CC}">
                  <c16:uniqueId val="{00000007-1AA0-4242-BC95-54DEFE78882A}"/>
                </c:ext>
              </c:extLst>
            </c:dLbl>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גיליון1!$J$9:$J$13</c:f>
              <c:numCache>
                <c:formatCode>#,##0</c:formatCode>
                <c:ptCount val="5"/>
                <c:pt idx="0">
                  <c:v>3700000</c:v>
                </c:pt>
                <c:pt idx="1">
                  <c:v>5000000</c:v>
                </c:pt>
                <c:pt idx="2">
                  <c:v>5000000</c:v>
                </c:pt>
                <c:pt idx="3">
                  <c:v>300000</c:v>
                </c:pt>
                <c:pt idx="4">
                  <c:v>140000</c:v>
                </c:pt>
              </c:numCache>
            </c:numRef>
          </c:val>
          <c:extLst>
            <c:ext xmlns:c16="http://schemas.microsoft.com/office/drawing/2014/chart" uri="{C3380CC4-5D6E-409C-BE32-E72D297353CC}">
              <c16:uniqueId val="{0000000A-1AA0-4242-BC95-54DEFE78882A}"/>
            </c:ext>
          </c:extLst>
        </c:ser>
        <c:ser>
          <c:idx val="1"/>
          <c:order val="1"/>
          <c:tx>
            <c:strRef>
              <c:f>גיליון1!$K$8</c:f>
              <c:strCache>
                <c:ptCount val="1"/>
                <c:pt idx="0">
                  <c:v>האחוז</c:v>
                </c:pt>
              </c:strCache>
            </c:strRef>
          </c:tx>
          <c:dPt>
            <c:idx val="0"/>
            <c:bubble3D val="0"/>
            <c:spPr>
              <a:gradFill rotWithShape="1">
                <a:gsLst>
                  <a:gs pos="0">
                    <a:schemeClr val="accent5">
                      <a:tint val="54000"/>
                      <a:satMod val="103000"/>
                      <a:lumMod val="102000"/>
                      <a:tint val="94000"/>
                    </a:schemeClr>
                  </a:gs>
                  <a:gs pos="50000">
                    <a:schemeClr val="accent5">
                      <a:tint val="54000"/>
                      <a:satMod val="110000"/>
                      <a:lumMod val="100000"/>
                      <a:shade val="100000"/>
                    </a:schemeClr>
                  </a:gs>
                  <a:gs pos="100000">
                    <a:schemeClr val="accent5">
                      <a:tint val="54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C-1AA0-4242-BC95-54DEFE78882A}"/>
              </c:ext>
            </c:extLst>
          </c:dPt>
          <c:dPt>
            <c:idx val="1"/>
            <c:bubble3D val="0"/>
            <c:spPr>
              <a:gradFill rotWithShape="1">
                <a:gsLst>
                  <a:gs pos="0">
                    <a:schemeClr val="accent5">
                      <a:tint val="77000"/>
                      <a:satMod val="103000"/>
                      <a:lumMod val="102000"/>
                      <a:tint val="94000"/>
                    </a:schemeClr>
                  </a:gs>
                  <a:gs pos="50000">
                    <a:schemeClr val="accent5">
                      <a:tint val="77000"/>
                      <a:satMod val="110000"/>
                      <a:lumMod val="100000"/>
                      <a:shade val="100000"/>
                    </a:schemeClr>
                  </a:gs>
                  <a:gs pos="100000">
                    <a:schemeClr val="accent5">
                      <a:tint val="77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E-1AA0-4242-BC95-54DEFE78882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0-1AA0-4242-BC95-54DEFE78882A}"/>
              </c:ext>
            </c:extLst>
          </c:dPt>
          <c:dPt>
            <c:idx val="3"/>
            <c:bubble3D val="0"/>
            <c:spPr>
              <a:gradFill rotWithShape="1">
                <a:gsLst>
                  <a:gs pos="0">
                    <a:schemeClr val="accent5">
                      <a:shade val="76000"/>
                      <a:satMod val="103000"/>
                      <a:lumMod val="102000"/>
                      <a:tint val="94000"/>
                    </a:schemeClr>
                  </a:gs>
                  <a:gs pos="50000">
                    <a:schemeClr val="accent5">
                      <a:shade val="76000"/>
                      <a:satMod val="110000"/>
                      <a:lumMod val="100000"/>
                      <a:shade val="100000"/>
                    </a:schemeClr>
                  </a:gs>
                  <a:gs pos="100000">
                    <a:schemeClr val="accent5">
                      <a:shade val="76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2-1AA0-4242-BC95-54DEFE78882A}"/>
              </c:ext>
            </c:extLst>
          </c:dPt>
          <c:dPt>
            <c:idx val="4"/>
            <c:bubble3D val="0"/>
            <c:spPr>
              <a:gradFill rotWithShape="1">
                <a:gsLst>
                  <a:gs pos="0">
                    <a:schemeClr val="accent5">
                      <a:shade val="53000"/>
                      <a:satMod val="103000"/>
                      <a:lumMod val="102000"/>
                      <a:tint val="94000"/>
                    </a:schemeClr>
                  </a:gs>
                  <a:gs pos="50000">
                    <a:schemeClr val="accent5">
                      <a:shade val="53000"/>
                      <a:satMod val="110000"/>
                      <a:lumMod val="100000"/>
                      <a:shade val="100000"/>
                    </a:schemeClr>
                  </a:gs>
                  <a:gs pos="100000">
                    <a:schemeClr val="accent5">
                      <a:shade val="53000"/>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14-1AA0-4242-BC95-54DEFE78882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גיליון1!$I$9:$I$13</c:f>
              <c:strCache>
                <c:ptCount val="5"/>
                <c:pt idx="0">
                  <c:v>גמלה בכסף</c:v>
                </c:pt>
                <c:pt idx="1">
                  <c:v>בני משפחה מטפלים בכסף</c:v>
                </c:pt>
                <c:pt idx="2">
                  <c:v>מטפל אישי</c:v>
                </c:pt>
                <c:pt idx="3">
                  <c:v>מרכז יום</c:v>
                </c:pt>
                <c:pt idx="4">
                  <c:v>נוספים</c:v>
                </c:pt>
              </c:strCache>
            </c:strRef>
          </c:cat>
          <c:val>
            <c:numRef>
              <c:f>גיליון1!$K$9:$K$13</c:f>
              <c:numCache>
                <c:formatCode>0%</c:formatCode>
                <c:ptCount val="5"/>
                <c:pt idx="0">
                  <c:v>0.26166902404526166</c:v>
                </c:pt>
                <c:pt idx="1">
                  <c:v>0.3536067892503536</c:v>
                </c:pt>
                <c:pt idx="2">
                  <c:v>0.3536067892503536</c:v>
                </c:pt>
                <c:pt idx="3">
                  <c:v>2.1216407355021217E-2</c:v>
                </c:pt>
                <c:pt idx="4">
                  <c:v>9.9009900990099011E-3</c:v>
                </c:pt>
              </c:numCache>
            </c:numRef>
          </c:val>
          <c:extLst>
            <c:ext xmlns:c16="http://schemas.microsoft.com/office/drawing/2014/chart" uri="{C3380CC4-5D6E-409C-BE32-E72D297353CC}">
              <c16:uniqueId val="{00000015-1AA0-4242-BC95-54DEFE78882A}"/>
            </c:ext>
          </c:extLst>
        </c:ser>
        <c:dLbls>
          <c:dLblPos val="bestFit"/>
          <c:showLegendKey val="0"/>
          <c:showVal val="1"/>
          <c:showCatName val="0"/>
          <c:showSerName val="0"/>
          <c:showPercent val="0"/>
          <c:showBubbleSize val="0"/>
          <c:showLeaderLines val="1"/>
        </c:dLbls>
        <c:firstSliceAng val="360"/>
      </c:pieChart>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400" dirty="0">
                <a:latin typeface="Calibri" panose="020F0502020204030204" pitchFamily="34" charset="0"/>
                <a:cs typeface="Calibri" panose="020F0502020204030204" pitchFamily="34" charset="0"/>
              </a:rPr>
              <a:t>השתתפות עצמית חודשית על רצף השירותים</a:t>
            </a:r>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withinLinearReversed" id="25">
  <a:schemeClr val="accent5"/>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03E818-829B-494C-AE79-53888110FC46}" type="doc">
      <dgm:prSet loTypeId="urn:microsoft.com/office/officeart/2005/8/layout/default" loCatId="list" qsTypeId="urn:microsoft.com/office/officeart/2005/8/quickstyle/simple1" qsCatId="simple" csTypeId="urn:microsoft.com/office/officeart/2005/8/colors/accent3_4" csCatId="accent3" phldr="1"/>
      <dgm:spPr/>
      <dgm:t>
        <a:bodyPr/>
        <a:lstStyle/>
        <a:p>
          <a:pPr rtl="1"/>
          <a:endParaRPr lang="he-IL"/>
        </a:p>
      </dgm:t>
    </dgm:pt>
    <dgm:pt modelId="{241310CE-3B88-4AC8-A588-7879AADDA27E}">
      <dgm:prSet phldrT="[טקסט]" custT="1"/>
      <dgm:spPr>
        <a:solidFill>
          <a:srgbClr val="C39BE1"/>
        </a:solidFill>
      </dgm:spPr>
      <dgm:t>
        <a:bodyPr/>
        <a:lstStyle/>
        <a:p>
          <a:pPr rtl="1"/>
          <a:r>
            <a:rPr lang="he-IL" sz="2000" dirty="0" smtClean="0">
              <a:latin typeface="Calibri Light" panose="020F0302020204030204" pitchFamily="34" charset="0"/>
              <a:cs typeface="Calibri Light" panose="020F0302020204030204" pitchFamily="34" charset="0"/>
            </a:rPr>
            <a:t>יציאה מהבית למרחב הציבורי היא אחד המנבאים לאיכות חיים. בבריטניה, בשכונות בהן­ נעים ונוח יותר לצאת אל מחוץ לבית הקשרים החברתיים של הזקנים חזקים ורחבים יותר (אשל-ג'וינט, 2020). </a:t>
          </a:r>
          <a:endParaRPr lang="he-IL" sz="2000" dirty="0">
            <a:latin typeface="Calibri Light" panose="020F0302020204030204" pitchFamily="34" charset="0"/>
            <a:cs typeface="Calibri Light" panose="020F0302020204030204" pitchFamily="34" charset="0"/>
          </a:endParaRPr>
        </a:p>
      </dgm:t>
    </dgm:pt>
    <dgm:pt modelId="{7F9C43C3-97C8-43CA-9F9F-CF826AD22CAF}" type="parTrans" cxnId="{95ABD639-A284-4654-8180-2893BC5601DF}">
      <dgm:prSet/>
      <dgm:spPr/>
      <dgm:t>
        <a:bodyPr/>
        <a:lstStyle/>
        <a:p>
          <a:pPr rtl="1"/>
          <a:endParaRPr lang="he-IL"/>
        </a:p>
      </dgm:t>
    </dgm:pt>
    <dgm:pt modelId="{C1F0B952-F9A1-4DAE-95ED-B4C4139A3D5F}" type="sibTrans" cxnId="{95ABD639-A284-4654-8180-2893BC5601DF}">
      <dgm:prSet/>
      <dgm:spPr/>
      <dgm:t>
        <a:bodyPr/>
        <a:lstStyle/>
        <a:p>
          <a:pPr rtl="1"/>
          <a:endParaRPr lang="he-IL"/>
        </a:p>
      </dgm:t>
    </dgm:pt>
    <dgm:pt modelId="{617219C2-968C-4712-912D-77F8163D7BF1}">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התפיסה העצמית של מבקרים במרכזי יום באופן חלקי או מלא, טובה יותר מזו של א/נשים זקנים המקבלים שירותי טיפול ביתי בלבד (גל </a:t>
          </a:r>
          <a:r>
            <a:rPr lang="he-IL" sz="2000" dirty="0" err="1" smtClean="0">
              <a:latin typeface="Calibri Light" panose="020F0302020204030204" pitchFamily="34" charset="0"/>
              <a:cs typeface="Calibri Light" panose="020F0302020204030204" pitchFamily="34" charset="0"/>
            </a:rPr>
            <a:t>ופריזנט</a:t>
          </a:r>
          <a:r>
            <a:rPr lang="he-IL" sz="2000" dirty="0" smtClean="0">
              <a:latin typeface="Calibri Light" panose="020F0302020204030204" pitchFamily="34" charset="0"/>
              <a:cs typeface="Calibri Light" panose="020F0302020204030204" pitchFamily="34" charset="0"/>
            </a:rPr>
            <a:t>, 2003) </a:t>
          </a:r>
          <a:endParaRPr lang="he-IL" sz="2000" dirty="0">
            <a:latin typeface="Calibri Light" panose="020F0302020204030204" pitchFamily="34" charset="0"/>
            <a:cs typeface="Calibri Light" panose="020F0302020204030204" pitchFamily="34" charset="0"/>
          </a:endParaRPr>
        </a:p>
      </dgm:t>
    </dgm:pt>
    <dgm:pt modelId="{E69C685E-01D6-4D7C-9FF1-0B526D9120BE}" type="parTrans" cxnId="{63BAC125-745F-4E61-AFCA-5EBD2B24063A}">
      <dgm:prSet/>
      <dgm:spPr/>
      <dgm:t>
        <a:bodyPr/>
        <a:lstStyle/>
        <a:p>
          <a:pPr rtl="1"/>
          <a:endParaRPr lang="he-IL"/>
        </a:p>
      </dgm:t>
    </dgm:pt>
    <dgm:pt modelId="{6175E458-FDC0-4AC0-B19C-DF1C82727A6C}" type="sibTrans" cxnId="{63BAC125-745F-4E61-AFCA-5EBD2B24063A}">
      <dgm:prSet/>
      <dgm:spPr/>
      <dgm:t>
        <a:bodyPr/>
        <a:lstStyle/>
        <a:p>
          <a:pPr rtl="1"/>
          <a:endParaRPr lang="he-IL"/>
        </a:p>
      </dgm:t>
    </dgm:pt>
    <dgm:pt modelId="{E8B49B21-C142-4DB5-AF37-633D4B80EED6}">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השתתפות בתוכניות הפחיתה במובהק את רמת האינדיקציה לדיכאון של המשתתפים לעומת מי שלא השתתפו בהן (מחקר מלווה למיזם להפחתת תחושת הבדידות, מכון </a:t>
          </a:r>
          <a:r>
            <a:rPr lang="he-IL" sz="2000" dirty="0" err="1" smtClean="0">
              <a:latin typeface="Calibri Light" panose="020F0302020204030204" pitchFamily="34" charset="0"/>
              <a:cs typeface="Calibri Light" panose="020F0302020204030204" pitchFamily="34" charset="0"/>
            </a:rPr>
            <a:t>ברוקדייל</a:t>
          </a:r>
          <a:r>
            <a:rPr lang="he-IL" sz="2000" dirty="0" smtClean="0">
              <a:latin typeface="Calibri Light" panose="020F0302020204030204" pitchFamily="34" charset="0"/>
              <a:cs typeface="Calibri Light" panose="020F0302020204030204" pitchFamily="34" charset="0"/>
            </a:rPr>
            <a:t>, 2020).</a:t>
          </a:r>
          <a:endParaRPr lang="he-IL" sz="2000" dirty="0">
            <a:latin typeface="Calibri Light" panose="020F0302020204030204" pitchFamily="34" charset="0"/>
            <a:cs typeface="Calibri Light" panose="020F0302020204030204" pitchFamily="34" charset="0"/>
          </a:endParaRPr>
        </a:p>
      </dgm:t>
    </dgm:pt>
    <dgm:pt modelId="{88A5691F-8864-4767-8C6E-637A791EE857}" type="parTrans" cxnId="{40B65EDF-B405-4126-A262-3C74997E3B01}">
      <dgm:prSet/>
      <dgm:spPr/>
      <dgm:t>
        <a:bodyPr/>
        <a:lstStyle/>
        <a:p>
          <a:pPr rtl="1"/>
          <a:endParaRPr lang="he-IL"/>
        </a:p>
      </dgm:t>
    </dgm:pt>
    <dgm:pt modelId="{C3B47F52-970B-49EC-B4BF-686C5BBFB2E9}" type="sibTrans" cxnId="{40B65EDF-B405-4126-A262-3C74997E3B01}">
      <dgm:prSet/>
      <dgm:spPr/>
      <dgm:t>
        <a:bodyPr/>
        <a:lstStyle/>
        <a:p>
          <a:pPr rtl="1"/>
          <a:endParaRPr lang="he-IL"/>
        </a:p>
      </dgm:t>
    </dgm:pt>
    <dgm:pt modelId="{5A92FA88-AAA1-4BB3-85C4-D5E7C59CD7A2}">
      <dgm:prSet phldrT="[טקסט]" custT="1"/>
      <dgm:spPr>
        <a:solidFill>
          <a:srgbClr val="5A2781"/>
        </a:solidFill>
      </dgm:spPr>
      <dgm:t>
        <a:bodyPr/>
        <a:lstStyle/>
        <a:p>
          <a:pPr rtl="1"/>
          <a:r>
            <a:rPr lang="he-IL" sz="2000" dirty="0" smtClean="0">
              <a:latin typeface="Calibri Light" panose="020F0302020204030204" pitchFamily="34" charset="0"/>
              <a:cs typeface="Calibri Light" panose="020F0302020204030204" pitchFamily="34" charset="0"/>
            </a:rPr>
            <a:t>מרכזי היום תורמים באופן ישיר למערכת הבריאות בכך שהם דוחים/מונעים מיסוד  (</a:t>
          </a:r>
          <a:r>
            <a:rPr lang="en-US" sz="2000" dirty="0" smtClean="0">
              <a:latin typeface="Calibri Light" panose="020F0302020204030204" pitchFamily="34" charset="0"/>
              <a:cs typeface="Calibri Light" panose="020F0302020204030204" pitchFamily="34" charset="0"/>
            </a:rPr>
            <a:t>Fields et al., 2014</a:t>
          </a:r>
          <a:r>
            <a:rPr lang="he-IL" sz="2000" dirty="0" smtClean="0">
              <a:latin typeface="Calibri Light" panose="020F0302020204030204" pitchFamily="34" charset="0"/>
              <a:cs typeface="Calibri Light" panose="020F0302020204030204" pitchFamily="34" charset="0"/>
            </a:rPr>
            <a:t>) ואשפוזים (</a:t>
          </a:r>
          <a:r>
            <a:rPr lang="en-US" sz="2000" dirty="0" err="1" smtClean="0">
              <a:latin typeface="Calibri Light" panose="020F0302020204030204" pitchFamily="34" charset="0"/>
              <a:cs typeface="Calibri Light" panose="020F0302020204030204" pitchFamily="34" charset="0"/>
            </a:rPr>
            <a:t>Zarit</a:t>
          </a:r>
          <a:r>
            <a:rPr lang="en-US" sz="2000" dirty="0" smtClean="0">
              <a:latin typeface="Calibri Light" panose="020F0302020204030204" pitchFamily="34" charset="0"/>
              <a:cs typeface="Calibri Light" panose="020F0302020204030204" pitchFamily="34" charset="0"/>
            </a:rPr>
            <a:t> et al., 2011</a:t>
          </a:r>
          <a:r>
            <a:rPr lang="he-IL" sz="2000" dirty="0" smtClean="0">
              <a:latin typeface="Calibri Light" panose="020F0302020204030204" pitchFamily="34" charset="0"/>
              <a:cs typeface="Calibri Light" panose="020F0302020204030204" pitchFamily="34" charset="0"/>
            </a:rPr>
            <a:t>). </a:t>
          </a:r>
          <a:endParaRPr lang="he-IL" sz="2000" dirty="0">
            <a:latin typeface="Calibri Light" panose="020F0302020204030204" pitchFamily="34" charset="0"/>
            <a:cs typeface="Calibri Light" panose="020F0302020204030204" pitchFamily="34" charset="0"/>
          </a:endParaRPr>
        </a:p>
      </dgm:t>
    </dgm:pt>
    <dgm:pt modelId="{49543E0E-7E7E-4BE2-B666-4EE4BD96EA60}" type="parTrans" cxnId="{AAFDC21D-E563-431A-B216-9F66A02FED82}">
      <dgm:prSet/>
      <dgm:spPr/>
      <dgm:t>
        <a:bodyPr/>
        <a:lstStyle/>
        <a:p>
          <a:pPr rtl="1"/>
          <a:endParaRPr lang="he-IL"/>
        </a:p>
      </dgm:t>
    </dgm:pt>
    <dgm:pt modelId="{9283CAF6-A279-437E-9A5E-36735DFF51A9}" type="sibTrans" cxnId="{AAFDC21D-E563-431A-B216-9F66A02FED82}">
      <dgm:prSet/>
      <dgm:spPr/>
      <dgm:t>
        <a:bodyPr/>
        <a:lstStyle/>
        <a:p>
          <a:pPr rtl="1"/>
          <a:endParaRPr lang="he-IL"/>
        </a:p>
      </dgm:t>
    </dgm:pt>
    <dgm:pt modelId="{3D104136-4A9E-4323-B2EC-A70B67DF21C7}">
      <dgm:prSet custT="1"/>
      <dgm:spPr>
        <a:solidFill>
          <a:srgbClr val="00B0F0"/>
        </a:solidFill>
      </dgm:spPr>
      <dgm:t>
        <a:bodyPr/>
        <a:lstStyle/>
        <a:p>
          <a:pPr rtl="1"/>
          <a:r>
            <a:rPr lang="he-IL" sz="1600" dirty="0" smtClean="0">
              <a:latin typeface="Calibri Light" panose="020F0302020204030204" pitchFamily="34" charset="0"/>
              <a:cs typeface="Calibri Light" panose="020F0302020204030204" pitchFamily="34" charset="0"/>
            </a:rPr>
            <a:t>57% מן המשיבים ציינו שהתוכנית תרמה להפחתת תחושת הבדידות שלהם במידה רבה או רבה מאוד. 71% דיווחו על שיפור מצב הרוח הכללי במידה רבה או רבה מאוד, ו-48% מן המשיבים דיווחו כך על שיפור בתחושת הבריאות הכללית. (קהילה תומכת משודרגת, מכון </a:t>
          </a:r>
          <a:r>
            <a:rPr lang="he-IL" sz="1600" dirty="0" err="1" smtClean="0">
              <a:latin typeface="Calibri Light" panose="020F0302020204030204" pitchFamily="34" charset="0"/>
              <a:cs typeface="Calibri Light" panose="020F0302020204030204" pitchFamily="34" charset="0"/>
            </a:rPr>
            <a:t>ברוקדייל</a:t>
          </a:r>
          <a:r>
            <a:rPr lang="he-IL" sz="1600" dirty="0" smtClean="0">
              <a:latin typeface="Calibri Light" panose="020F0302020204030204" pitchFamily="34" charset="0"/>
              <a:cs typeface="Calibri Light" panose="020F0302020204030204" pitchFamily="34" charset="0"/>
            </a:rPr>
            <a:t> 2020)</a:t>
          </a:r>
          <a:endParaRPr lang="he-IL" sz="1600" dirty="0">
            <a:latin typeface="Calibri Light" panose="020F0302020204030204" pitchFamily="34" charset="0"/>
            <a:cs typeface="Calibri Light" panose="020F0302020204030204" pitchFamily="34" charset="0"/>
          </a:endParaRPr>
        </a:p>
      </dgm:t>
    </dgm:pt>
    <dgm:pt modelId="{B223243C-DA79-4DEE-B14C-BF3B6259D22D}" type="parTrans" cxnId="{73D738C1-4FB4-4EA2-B204-B74DA41559D6}">
      <dgm:prSet/>
      <dgm:spPr/>
      <dgm:t>
        <a:bodyPr/>
        <a:lstStyle/>
        <a:p>
          <a:pPr rtl="1"/>
          <a:endParaRPr lang="he-IL"/>
        </a:p>
      </dgm:t>
    </dgm:pt>
    <dgm:pt modelId="{2796C379-2338-4D4C-B506-227B4BFC9B03}" type="sibTrans" cxnId="{73D738C1-4FB4-4EA2-B204-B74DA41559D6}">
      <dgm:prSet/>
      <dgm:spPr/>
      <dgm:t>
        <a:bodyPr/>
        <a:lstStyle/>
        <a:p>
          <a:pPr rtl="1"/>
          <a:endParaRPr lang="he-IL"/>
        </a:p>
      </dgm:t>
    </dgm:pt>
    <dgm:pt modelId="{D6E33710-09E3-4F8E-B3D7-E30B297A75A5}">
      <dgm:prSet phldrT="[טקסט]" custT="1"/>
      <dgm:spPr>
        <a:solidFill>
          <a:srgbClr val="002060"/>
        </a:solidFill>
      </dgm:spPr>
      <dgm:t>
        <a:bodyPr/>
        <a:lstStyle/>
        <a:p>
          <a:pPr rtl="1"/>
          <a:r>
            <a:rPr lang="he-IL" sz="2000" dirty="0" smtClean="0">
              <a:latin typeface="Calibri Light" panose="020F0302020204030204" pitchFamily="34" charset="0"/>
              <a:cs typeface="Calibri Light" panose="020F0302020204030204" pitchFamily="34" charset="0"/>
            </a:rPr>
            <a:t>רבים מבני המשפחה התומכים רואים במרכז היום כמקום השומר על בריאות האדם הזקן (</a:t>
          </a:r>
          <a:r>
            <a:rPr lang="he-IL" sz="2000" dirty="0" err="1" smtClean="0">
              <a:latin typeface="Calibri Light" panose="020F0302020204030204" pitchFamily="34" charset="0"/>
              <a:cs typeface="Calibri Light" panose="020F0302020204030204" pitchFamily="34" charset="0"/>
            </a:rPr>
            <a:t>רזניצקי</a:t>
          </a:r>
          <a:r>
            <a:rPr lang="he-IL" sz="2000" dirty="0" smtClean="0">
              <a:latin typeface="Calibri Light" panose="020F0302020204030204" pitchFamily="34" charset="0"/>
              <a:cs typeface="Calibri Light" panose="020F0302020204030204" pitchFamily="34" charset="0"/>
            </a:rPr>
            <a:t> ואחרים, 2012).</a:t>
          </a:r>
          <a:endParaRPr lang="he-IL" sz="2000" dirty="0">
            <a:latin typeface="Calibri Light" panose="020F0302020204030204" pitchFamily="34" charset="0"/>
            <a:cs typeface="Calibri Light" panose="020F0302020204030204" pitchFamily="34" charset="0"/>
          </a:endParaRPr>
        </a:p>
      </dgm:t>
    </dgm:pt>
    <dgm:pt modelId="{B1C1FAEC-90E7-4EF4-B5E6-5D5CEE85DFB3}" type="sibTrans" cxnId="{91D46F80-226D-4225-8FEF-E4335BAE6F58}">
      <dgm:prSet/>
      <dgm:spPr/>
      <dgm:t>
        <a:bodyPr/>
        <a:lstStyle/>
        <a:p>
          <a:pPr rtl="1"/>
          <a:endParaRPr lang="he-IL"/>
        </a:p>
      </dgm:t>
    </dgm:pt>
    <dgm:pt modelId="{DACB91AF-9A7C-40F3-8219-544EFE62AB69}" type="parTrans" cxnId="{91D46F80-226D-4225-8FEF-E4335BAE6F58}">
      <dgm:prSet/>
      <dgm:spPr/>
      <dgm:t>
        <a:bodyPr/>
        <a:lstStyle/>
        <a:p>
          <a:pPr rtl="1"/>
          <a:endParaRPr lang="he-IL"/>
        </a:p>
      </dgm:t>
    </dgm:pt>
    <dgm:pt modelId="{45EF3B54-DE95-44D8-BBE4-9EDB6FEB97D5}">
      <dgm:prSet phldrT="[טקסט]" custT="1"/>
      <dgm:spPr>
        <a:solidFill>
          <a:srgbClr val="C39BE1"/>
        </a:solidFill>
      </dgm:spPr>
      <dgm:t>
        <a:bodyPr/>
        <a:lstStyle/>
        <a:p>
          <a:pPr rtl="1"/>
          <a:r>
            <a:rPr lang="he-IL" sz="2200" dirty="0" smtClean="0">
              <a:latin typeface="Calibri Light" panose="020F0302020204030204" pitchFamily="34" charset="0"/>
              <a:cs typeface="Calibri Light" panose="020F0302020204030204" pitchFamily="34" charset="0"/>
            </a:rPr>
            <a:t>טיפול על ידי עובד זר מפחית איכות חיים בכך שמקטין מגעים עם המשפחה ושביעות רצון מהתמיכה וממערכות היחסים (</a:t>
          </a:r>
          <a:r>
            <a:rPr lang="he-IL" sz="2200" dirty="0" err="1" smtClean="0">
              <a:latin typeface="Calibri Light" panose="020F0302020204030204" pitchFamily="34" charset="0"/>
              <a:cs typeface="Calibri Light" panose="020F0302020204030204" pitchFamily="34" charset="0"/>
            </a:rPr>
            <a:t>חלאילה</a:t>
          </a:r>
          <a:r>
            <a:rPr lang="he-IL" sz="2200" dirty="0" smtClean="0">
              <a:latin typeface="Calibri Light" panose="020F0302020204030204" pitchFamily="34" charset="0"/>
              <a:cs typeface="Calibri Light" panose="020F0302020204030204" pitchFamily="34" charset="0"/>
            </a:rPr>
            <a:t> 2021)</a:t>
          </a:r>
          <a:endParaRPr lang="he-IL" sz="2200" dirty="0">
            <a:latin typeface="Calibri Light" panose="020F0302020204030204" pitchFamily="34" charset="0"/>
            <a:cs typeface="Calibri Light" panose="020F0302020204030204" pitchFamily="34" charset="0"/>
          </a:endParaRPr>
        </a:p>
      </dgm:t>
    </dgm:pt>
    <dgm:pt modelId="{660044E0-F4A1-4901-98B6-07404CA2BFAA}" type="parTrans" cxnId="{621DD7FC-4367-4622-95EC-79570ED47E43}">
      <dgm:prSet/>
      <dgm:spPr/>
      <dgm:t>
        <a:bodyPr/>
        <a:lstStyle/>
        <a:p>
          <a:pPr rtl="1"/>
          <a:endParaRPr lang="he-IL"/>
        </a:p>
      </dgm:t>
    </dgm:pt>
    <dgm:pt modelId="{DB9F7805-AA66-4E68-9460-B1DE2A358710}" type="sibTrans" cxnId="{621DD7FC-4367-4622-95EC-79570ED47E43}">
      <dgm:prSet/>
      <dgm:spPr/>
      <dgm:t>
        <a:bodyPr/>
        <a:lstStyle/>
        <a:p>
          <a:pPr rtl="1"/>
          <a:endParaRPr lang="he-IL"/>
        </a:p>
      </dgm:t>
    </dgm:pt>
    <dgm:pt modelId="{030E1C9A-05A8-46AB-8136-78E3339D389A}">
      <dgm:prSet phldrT="[טקסט]" custT="1"/>
      <dgm:spPr>
        <a:solidFill>
          <a:srgbClr val="0070C0"/>
        </a:solidFill>
      </dgm:spPr>
      <dgm:t>
        <a:bodyPr/>
        <a:lstStyle/>
        <a:p>
          <a:pPr rtl="1"/>
          <a:r>
            <a:rPr lang="he-IL" sz="2000" dirty="0" smtClean="0">
              <a:latin typeface="Calibri Light" panose="020F0302020204030204" pitchFamily="34" charset="0"/>
              <a:cs typeface="Calibri Light" panose="020F0302020204030204" pitchFamily="34" charset="0"/>
            </a:rPr>
            <a:t>תחושת הבדידות בקרב מבקרי מרכז היום ומעורבות בפעילות נמצאו משפיעים באופן מובהק על תחושת השייכות בקרב המבקרים. אך פחות בקרב מי שנמצא בקשר תכוף עם בני משפחתו (</a:t>
          </a:r>
          <a:r>
            <a:rPr lang="he-IL" sz="2000" dirty="0" err="1" smtClean="0">
              <a:latin typeface="Calibri Light" panose="020F0302020204030204" pitchFamily="34" charset="0"/>
              <a:cs typeface="Calibri Light" panose="020F0302020204030204" pitchFamily="34" charset="0"/>
            </a:rPr>
            <a:t>חלאילה</a:t>
          </a:r>
          <a:r>
            <a:rPr lang="he-IL" sz="2000" dirty="0" smtClean="0">
              <a:latin typeface="Calibri Light" panose="020F0302020204030204" pitchFamily="34" charset="0"/>
              <a:cs typeface="Calibri Light" panose="020F0302020204030204" pitchFamily="34" charset="0"/>
            </a:rPr>
            <a:t> 2021)</a:t>
          </a:r>
          <a:endParaRPr lang="he-IL" sz="2000" dirty="0">
            <a:latin typeface="Calibri Light" panose="020F0302020204030204" pitchFamily="34" charset="0"/>
            <a:cs typeface="Calibri Light" panose="020F0302020204030204" pitchFamily="34" charset="0"/>
          </a:endParaRPr>
        </a:p>
      </dgm:t>
    </dgm:pt>
    <dgm:pt modelId="{4FCC6EF2-244B-4F17-874C-855DBA859490}" type="parTrans" cxnId="{1A284C78-7306-4021-A6A4-ACCFBE70AED0}">
      <dgm:prSet/>
      <dgm:spPr/>
      <dgm:t>
        <a:bodyPr/>
        <a:lstStyle/>
        <a:p>
          <a:pPr rtl="1"/>
          <a:endParaRPr lang="he-IL"/>
        </a:p>
      </dgm:t>
    </dgm:pt>
    <dgm:pt modelId="{D06323B8-195A-4EB4-BA61-7B1020AB3F3E}" type="sibTrans" cxnId="{1A284C78-7306-4021-A6A4-ACCFBE70AED0}">
      <dgm:prSet/>
      <dgm:spPr/>
      <dgm:t>
        <a:bodyPr/>
        <a:lstStyle/>
        <a:p>
          <a:pPr rtl="1"/>
          <a:endParaRPr lang="he-IL"/>
        </a:p>
      </dgm:t>
    </dgm:pt>
    <dgm:pt modelId="{8FAE194E-2FFB-4523-9C1D-4D681EF121F9}">
      <dgm:prSet phldrT="[טקסט]" custT="1"/>
      <dgm:spPr>
        <a:solidFill>
          <a:srgbClr val="5A2781"/>
        </a:solidFill>
      </dgm:spPr>
      <dgm:t>
        <a:bodyPr/>
        <a:lstStyle/>
        <a:p>
          <a:pPr rtl="1"/>
          <a:r>
            <a:rPr lang="he-IL" sz="2000" dirty="0" smtClean="0">
              <a:latin typeface="Calibri Light" panose="020F0302020204030204" pitchFamily="34" charset="0"/>
              <a:cs typeface="Calibri Light" panose="020F0302020204030204" pitchFamily="34" charset="0"/>
            </a:rPr>
            <a:t>תדירות גבוהה של ביקורים במרכז יום ושביעות רצון מהפעילות היו קשורים לאיכות חיים גבוהה במיוחד במרכז ובמגזר היהודי (</a:t>
          </a:r>
          <a:r>
            <a:rPr lang="he-IL" sz="2000" dirty="0" err="1" smtClean="0">
              <a:latin typeface="Calibri Light" panose="020F0302020204030204" pitchFamily="34" charset="0"/>
              <a:cs typeface="Calibri Light" panose="020F0302020204030204" pitchFamily="34" charset="0"/>
            </a:rPr>
            <a:t>חלאילה</a:t>
          </a:r>
          <a:r>
            <a:rPr lang="he-IL" sz="2000" dirty="0" smtClean="0">
              <a:latin typeface="Calibri Light" panose="020F0302020204030204" pitchFamily="34" charset="0"/>
              <a:cs typeface="Calibri Light" panose="020F0302020204030204" pitchFamily="34" charset="0"/>
            </a:rPr>
            <a:t>, 2021)</a:t>
          </a:r>
          <a:endParaRPr lang="he-IL" sz="2000" dirty="0">
            <a:latin typeface="Calibri Light" panose="020F0302020204030204" pitchFamily="34" charset="0"/>
            <a:cs typeface="Calibri Light" panose="020F0302020204030204" pitchFamily="34" charset="0"/>
          </a:endParaRPr>
        </a:p>
      </dgm:t>
    </dgm:pt>
    <dgm:pt modelId="{4BA2692B-7413-474F-9E9D-4A02BDFAA2C6}" type="parTrans" cxnId="{A76D8B60-BE3A-4BB8-8EDF-1DBF28E6B789}">
      <dgm:prSet/>
      <dgm:spPr/>
      <dgm:t>
        <a:bodyPr/>
        <a:lstStyle/>
        <a:p>
          <a:pPr rtl="1"/>
          <a:endParaRPr lang="he-IL"/>
        </a:p>
      </dgm:t>
    </dgm:pt>
    <dgm:pt modelId="{477F5CF9-4443-45D6-A79F-969B2C782A98}" type="sibTrans" cxnId="{A76D8B60-BE3A-4BB8-8EDF-1DBF28E6B789}">
      <dgm:prSet/>
      <dgm:spPr/>
      <dgm:t>
        <a:bodyPr/>
        <a:lstStyle/>
        <a:p>
          <a:pPr rtl="1"/>
          <a:endParaRPr lang="he-IL"/>
        </a:p>
      </dgm:t>
    </dgm:pt>
    <dgm:pt modelId="{205C001C-384C-48E5-93BF-B874D0832CD6}" type="pres">
      <dgm:prSet presAssocID="{3B03E818-829B-494C-AE79-53888110FC46}" presName="diagram" presStyleCnt="0">
        <dgm:presLayoutVars>
          <dgm:dir/>
          <dgm:resizeHandles val="exact"/>
        </dgm:presLayoutVars>
      </dgm:prSet>
      <dgm:spPr/>
      <dgm:t>
        <a:bodyPr/>
        <a:lstStyle/>
        <a:p>
          <a:pPr rtl="1"/>
          <a:endParaRPr lang="he-IL"/>
        </a:p>
      </dgm:t>
    </dgm:pt>
    <dgm:pt modelId="{31DCFEEE-B207-406D-A2B4-F881C6E4B847}" type="pres">
      <dgm:prSet presAssocID="{241310CE-3B88-4AC8-A588-7879AADDA27E}" presName="node" presStyleLbl="node1" presStyleIdx="0" presStyleCnt="9">
        <dgm:presLayoutVars>
          <dgm:bulletEnabled val="1"/>
        </dgm:presLayoutVars>
      </dgm:prSet>
      <dgm:spPr/>
      <dgm:t>
        <a:bodyPr/>
        <a:lstStyle/>
        <a:p>
          <a:pPr rtl="1"/>
          <a:endParaRPr lang="he-IL"/>
        </a:p>
      </dgm:t>
    </dgm:pt>
    <dgm:pt modelId="{E14BE6A3-9A12-45E4-845A-746709C59121}" type="pres">
      <dgm:prSet presAssocID="{C1F0B952-F9A1-4DAE-95ED-B4C4139A3D5F}" presName="sibTrans" presStyleCnt="0"/>
      <dgm:spPr/>
    </dgm:pt>
    <dgm:pt modelId="{19778607-D433-4EB4-A4F5-4492E91E092E}" type="pres">
      <dgm:prSet presAssocID="{45EF3B54-DE95-44D8-BBE4-9EDB6FEB97D5}" presName="node" presStyleLbl="node1" presStyleIdx="1" presStyleCnt="9">
        <dgm:presLayoutVars>
          <dgm:bulletEnabled val="1"/>
        </dgm:presLayoutVars>
      </dgm:prSet>
      <dgm:spPr/>
      <dgm:t>
        <a:bodyPr/>
        <a:lstStyle/>
        <a:p>
          <a:pPr rtl="1"/>
          <a:endParaRPr lang="he-IL"/>
        </a:p>
      </dgm:t>
    </dgm:pt>
    <dgm:pt modelId="{6FA27573-9C9B-46F5-8625-D83EABD3323F}" type="pres">
      <dgm:prSet presAssocID="{DB9F7805-AA66-4E68-9460-B1DE2A358710}" presName="sibTrans" presStyleCnt="0"/>
      <dgm:spPr/>
    </dgm:pt>
    <dgm:pt modelId="{178565FE-9CB2-4EE3-9A54-9D4DFEB98829}" type="pres">
      <dgm:prSet presAssocID="{030E1C9A-05A8-46AB-8136-78E3339D389A}" presName="node" presStyleLbl="node1" presStyleIdx="2" presStyleCnt="9" custLinFactNeighborX="-3636" custLinFactNeighborY="-3008">
        <dgm:presLayoutVars>
          <dgm:bulletEnabled val="1"/>
        </dgm:presLayoutVars>
      </dgm:prSet>
      <dgm:spPr/>
      <dgm:t>
        <a:bodyPr/>
        <a:lstStyle/>
        <a:p>
          <a:pPr rtl="1"/>
          <a:endParaRPr lang="he-IL"/>
        </a:p>
      </dgm:t>
    </dgm:pt>
    <dgm:pt modelId="{2299528D-99E7-4B42-9EDC-8F11C2D5EF4F}" type="pres">
      <dgm:prSet presAssocID="{D06323B8-195A-4EB4-BA61-7B1020AB3F3E}" presName="sibTrans" presStyleCnt="0"/>
      <dgm:spPr/>
    </dgm:pt>
    <dgm:pt modelId="{86FD142C-A11A-4D10-BF8C-86C483CA09EC}" type="pres">
      <dgm:prSet presAssocID="{8FAE194E-2FFB-4523-9C1D-4D681EF121F9}" presName="node" presStyleLbl="node1" presStyleIdx="3" presStyleCnt="9" custLinFactNeighborX="-2128" custLinFactNeighborY="0">
        <dgm:presLayoutVars>
          <dgm:bulletEnabled val="1"/>
        </dgm:presLayoutVars>
      </dgm:prSet>
      <dgm:spPr/>
      <dgm:t>
        <a:bodyPr/>
        <a:lstStyle/>
        <a:p>
          <a:pPr rtl="1"/>
          <a:endParaRPr lang="he-IL"/>
        </a:p>
      </dgm:t>
    </dgm:pt>
    <dgm:pt modelId="{8D05BEC2-1225-4F0D-9668-263979D75B99}" type="pres">
      <dgm:prSet presAssocID="{477F5CF9-4443-45D6-A79F-969B2C782A98}" presName="sibTrans" presStyleCnt="0"/>
      <dgm:spPr/>
    </dgm:pt>
    <dgm:pt modelId="{C5854056-1476-4C3F-BAEA-333F19190871}" type="pres">
      <dgm:prSet presAssocID="{617219C2-968C-4712-912D-77F8163D7BF1}" presName="node" presStyleLbl="node1" presStyleIdx="4" presStyleCnt="9">
        <dgm:presLayoutVars>
          <dgm:bulletEnabled val="1"/>
        </dgm:presLayoutVars>
      </dgm:prSet>
      <dgm:spPr/>
      <dgm:t>
        <a:bodyPr/>
        <a:lstStyle/>
        <a:p>
          <a:pPr rtl="1"/>
          <a:endParaRPr lang="he-IL"/>
        </a:p>
      </dgm:t>
    </dgm:pt>
    <dgm:pt modelId="{D7054AC7-5CDD-410B-AC4F-CA8B205853A7}" type="pres">
      <dgm:prSet presAssocID="{6175E458-FDC0-4AC0-B19C-DF1C82727A6C}" presName="sibTrans" presStyleCnt="0"/>
      <dgm:spPr/>
    </dgm:pt>
    <dgm:pt modelId="{BAEE85A7-372D-481E-ABA7-19331677CE61}" type="pres">
      <dgm:prSet presAssocID="{D6E33710-09E3-4F8E-B3D7-E30B297A75A5}" presName="node" presStyleLbl="node1" presStyleIdx="5" presStyleCnt="9" custLinFactX="-10000" custLinFactY="20680" custLinFactNeighborX="-100000" custLinFactNeighborY="100000">
        <dgm:presLayoutVars>
          <dgm:bulletEnabled val="1"/>
        </dgm:presLayoutVars>
      </dgm:prSet>
      <dgm:spPr/>
      <dgm:t>
        <a:bodyPr/>
        <a:lstStyle/>
        <a:p>
          <a:pPr rtl="1"/>
          <a:endParaRPr lang="he-IL"/>
        </a:p>
      </dgm:t>
    </dgm:pt>
    <dgm:pt modelId="{16279415-30DB-439B-B9FF-27165E9C4B66}" type="pres">
      <dgm:prSet presAssocID="{B1C1FAEC-90E7-4EF4-B5E6-5D5CEE85DFB3}" presName="sibTrans" presStyleCnt="0"/>
      <dgm:spPr/>
    </dgm:pt>
    <dgm:pt modelId="{3F21B529-949F-42A1-B014-90C5D1104D08}" type="pres">
      <dgm:prSet presAssocID="{E8B49B21-C142-4DB5-AF37-633D4B80EED6}" presName="node" presStyleLbl="node1" presStyleIdx="6" presStyleCnt="9">
        <dgm:presLayoutVars>
          <dgm:bulletEnabled val="1"/>
        </dgm:presLayoutVars>
      </dgm:prSet>
      <dgm:spPr/>
      <dgm:t>
        <a:bodyPr/>
        <a:lstStyle/>
        <a:p>
          <a:pPr rtl="1"/>
          <a:endParaRPr lang="he-IL"/>
        </a:p>
      </dgm:t>
    </dgm:pt>
    <dgm:pt modelId="{1B10F13D-774B-4685-A956-70B3308D57DC}" type="pres">
      <dgm:prSet presAssocID="{C3B47F52-970B-49EC-B4BF-686C5BBFB2E9}" presName="sibTrans" presStyleCnt="0"/>
      <dgm:spPr/>
    </dgm:pt>
    <dgm:pt modelId="{AA788821-C1B4-46E9-854A-8210E3705665}" type="pres">
      <dgm:prSet presAssocID="{5A92FA88-AAA1-4BB3-85C4-D5E7C59CD7A2}" presName="node" presStyleLbl="node1" presStyleIdx="7" presStyleCnt="9" custLinFactX="5558" custLinFactY="-16875" custLinFactNeighborX="100000" custLinFactNeighborY="-100000">
        <dgm:presLayoutVars>
          <dgm:bulletEnabled val="1"/>
        </dgm:presLayoutVars>
      </dgm:prSet>
      <dgm:spPr/>
      <dgm:t>
        <a:bodyPr/>
        <a:lstStyle/>
        <a:p>
          <a:pPr rtl="1"/>
          <a:endParaRPr lang="he-IL"/>
        </a:p>
      </dgm:t>
    </dgm:pt>
    <dgm:pt modelId="{0A8A4548-4CAA-4CA0-80B9-BC67774FB9B0}" type="pres">
      <dgm:prSet presAssocID="{9283CAF6-A279-437E-9A5E-36735DFF51A9}" presName="sibTrans" presStyleCnt="0"/>
      <dgm:spPr/>
    </dgm:pt>
    <dgm:pt modelId="{67B3C098-48D9-463D-A339-4FBE5DB27423}" type="pres">
      <dgm:prSet presAssocID="{3D104136-4A9E-4323-B2EC-A70B67DF21C7}" presName="node" presStyleLbl="node1" presStyleIdx="8" presStyleCnt="9" custLinFactNeighborX="-3053" custLinFactNeighborY="5089">
        <dgm:presLayoutVars>
          <dgm:bulletEnabled val="1"/>
        </dgm:presLayoutVars>
      </dgm:prSet>
      <dgm:spPr/>
      <dgm:t>
        <a:bodyPr/>
        <a:lstStyle/>
        <a:p>
          <a:pPr rtl="1"/>
          <a:endParaRPr lang="he-IL"/>
        </a:p>
      </dgm:t>
    </dgm:pt>
  </dgm:ptLst>
  <dgm:cxnLst>
    <dgm:cxn modelId="{D51D4689-EE45-4093-AFDA-28905D7BE937}" type="presOf" srcId="{617219C2-968C-4712-912D-77F8163D7BF1}" destId="{C5854056-1476-4C3F-BAEA-333F19190871}" srcOrd="0" destOrd="0" presId="urn:microsoft.com/office/officeart/2005/8/layout/default"/>
    <dgm:cxn modelId="{7731DA20-794D-447F-B072-B8469CF6DC1A}" type="presOf" srcId="{45EF3B54-DE95-44D8-BBE4-9EDB6FEB97D5}" destId="{19778607-D433-4EB4-A4F5-4492E91E092E}" srcOrd="0" destOrd="0" presId="urn:microsoft.com/office/officeart/2005/8/layout/default"/>
    <dgm:cxn modelId="{1A284C78-7306-4021-A6A4-ACCFBE70AED0}" srcId="{3B03E818-829B-494C-AE79-53888110FC46}" destId="{030E1C9A-05A8-46AB-8136-78E3339D389A}" srcOrd="2" destOrd="0" parTransId="{4FCC6EF2-244B-4F17-874C-855DBA859490}" sibTransId="{D06323B8-195A-4EB4-BA61-7B1020AB3F3E}"/>
    <dgm:cxn modelId="{0EB80A86-79FF-4D8A-B503-6BD1D78D2A2C}" type="presOf" srcId="{D6E33710-09E3-4F8E-B3D7-E30B297A75A5}" destId="{BAEE85A7-372D-481E-ABA7-19331677CE61}" srcOrd="0" destOrd="0" presId="urn:microsoft.com/office/officeart/2005/8/layout/default"/>
    <dgm:cxn modelId="{0A8DCF43-99F7-4BDC-8168-0E538EFF0D54}" type="presOf" srcId="{3B03E818-829B-494C-AE79-53888110FC46}" destId="{205C001C-384C-48E5-93BF-B874D0832CD6}" srcOrd="0" destOrd="0" presId="urn:microsoft.com/office/officeart/2005/8/layout/default"/>
    <dgm:cxn modelId="{95B840D1-1CB9-43C4-B700-9C6908037D68}" type="presOf" srcId="{030E1C9A-05A8-46AB-8136-78E3339D389A}" destId="{178565FE-9CB2-4EE3-9A54-9D4DFEB98829}" srcOrd="0" destOrd="0" presId="urn:microsoft.com/office/officeart/2005/8/layout/default"/>
    <dgm:cxn modelId="{621DD7FC-4367-4622-95EC-79570ED47E43}" srcId="{3B03E818-829B-494C-AE79-53888110FC46}" destId="{45EF3B54-DE95-44D8-BBE4-9EDB6FEB97D5}" srcOrd="1" destOrd="0" parTransId="{660044E0-F4A1-4901-98B6-07404CA2BFAA}" sibTransId="{DB9F7805-AA66-4E68-9460-B1DE2A358710}"/>
    <dgm:cxn modelId="{73D738C1-4FB4-4EA2-B204-B74DA41559D6}" srcId="{3B03E818-829B-494C-AE79-53888110FC46}" destId="{3D104136-4A9E-4323-B2EC-A70B67DF21C7}" srcOrd="8" destOrd="0" parTransId="{B223243C-DA79-4DEE-B14C-BF3B6259D22D}" sibTransId="{2796C379-2338-4D4C-B506-227B4BFC9B03}"/>
    <dgm:cxn modelId="{3889769F-1FE9-4D69-8C00-CBB6016C7F1E}" type="presOf" srcId="{3D104136-4A9E-4323-B2EC-A70B67DF21C7}" destId="{67B3C098-48D9-463D-A339-4FBE5DB27423}" srcOrd="0" destOrd="0" presId="urn:microsoft.com/office/officeart/2005/8/layout/default"/>
    <dgm:cxn modelId="{91D46F80-226D-4225-8FEF-E4335BAE6F58}" srcId="{3B03E818-829B-494C-AE79-53888110FC46}" destId="{D6E33710-09E3-4F8E-B3D7-E30B297A75A5}" srcOrd="5" destOrd="0" parTransId="{DACB91AF-9A7C-40F3-8219-544EFE62AB69}" sibTransId="{B1C1FAEC-90E7-4EF4-B5E6-5D5CEE85DFB3}"/>
    <dgm:cxn modelId="{AAFDC21D-E563-431A-B216-9F66A02FED82}" srcId="{3B03E818-829B-494C-AE79-53888110FC46}" destId="{5A92FA88-AAA1-4BB3-85C4-D5E7C59CD7A2}" srcOrd="7" destOrd="0" parTransId="{49543E0E-7E7E-4BE2-B666-4EE4BD96EA60}" sibTransId="{9283CAF6-A279-437E-9A5E-36735DFF51A9}"/>
    <dgm:cxn modelId="{95ABD639-A284-4654-8180-2893BC5601DF}" srcId="{3B03E818-829B-494C-AE79-53888110FC46}" destId="{241310CE-3B88-4AC8-A588-7879AADDA27E}" srcOrd="0" destOrd="0" parTransId="{7F9C43C3-97C8-43CA-9F9F-CF826AD22CAF}" sibTransId="{C1F0B952-F9A1-4DAE-95ED-B4C4139A3D5F}"/>
    <dgm:cxn modelId="{C020CEDB-3FBA-48EA-9A01-700126769886}" type="presOf" srcId="{5A92FA88-AAA1-4BB3-85C4-D5E7C59CD7A2}" destId="{AA788821-C1B4-46E9-854A-8210E3705665}" srcOrd="0" destOrd="0" presId="urn:microsoft.com/office/officeart/2005/8/layout/default"/>
    <dgm:cxn modelId="{63BAC125-745F-4E61-AFCA-5EBD2B24063A}" srcId="{3B03E818-829B-494C-AE79-53888110FC46}" destId="{617219C2-968C-4712-912D-77F8163D7BF1}" srcOrd="4" destOrd="0" parTransId="{E69C685E-01D6-4D7C-9FF1-0B526D9120BE}" sibTransId="{6175E458-FDC0-4AC0-B19C-DF1C82727A6C}"/>
    <dgm:cxn modelId="{3C8D61E8-BDFF-477F-B7BA-2DCFC9FFE314}" type="presOf" srcId="{8FAE194E-2FFB-4523-9C1D-4D681EF121F9}" destId="{86FD142C-A11A-4D10-BF8C-86C483CA09EC}" srcOrd="0" destOrd="0" presId="urn:microsoft.com/office/officeart/2005/8/layout/default"/>
    <dgm:cxn modelId="{40B65EDF-B405-4126-A262-3C74997E3B01}" srcId="{3B03E818-829B-494C-AE79-53888110FC46}" destId="{E8B49B21-C142-4DB5-AF37-633D4B80EED6}" srcOrd="6" destOrd="0" parTransId="{88A5691F-8864-4767-8C6E-637A791EE857}" sibTransId="{C3B47F52-970B-49EC-B4BF-686C5BBFB2E9}"/>
    <dgm:cxn modelId="{A76D8B60-BE3A-4BB8-8EDF-1DBF28E6B789}" srcId="{3B03E818-829B-494C-AE79-53888110FC46}" destId="{8FAE194E-2FFB-4523-9C1D-4D681EF121F9}" srcOrd="3" destOrd="0" parTransId="{4BA2692B-7413-474F-9E9D-4A02BDFAA2C6}" sibTransId="{477F5CF9-4443-45D6-A79F-969B2C782A98}"/>
    <dgm:cxn modelId="{225F1108-734B-45A5-B639-3C22AC16A9BE}" type="presOf" srcId="{241310CE-3B88-4AC8-A588-7879AADDA27E}" destId="{31DCFEEE-B207-406D-A2B4-F881C6E4B847}" srcOrd="0" destOrd="0" presId="urn:microsoft.com/office/officeart/2005/8/layout/default"/>
    <dgm:cxn modelId="{7C308042-5B1D-49B8-9AEB-0F4607FE8498}" type="presOf" srcId="{E8B49B21-C142-4DB5-AF37-633D4B80EED6}" destId="{3F21B529-949F-42A1-B014-90C5D1104D08}" srcOrd="0" destOrd="0" presId="urn:microsoft.com/office/officeart/2005/8/layout/default"/>
    <dgm:cxn modelId="{6CC6E9F2-3CD6-4E4A-B34F-14819009E269}" type="presParOf" srcId="{205C001C-384C-48E5-93BF-B874D0832CD6}" destId="{31DCFEEE-B207-406D-A2B4-F881C6E4B847}" srcOrd="0" destOrd="0" presId="urn:microsoft.com/office/officeart/2005/8/layout/default"/>
    <dgm:cxn modelId="{0BB4B8CE-7171-4556-9BF3-0457070EBA58}" type="presParOf" srcId="{205C001C-384C-48E5-93BF-B874D0832CD6}" destId="{E14BE6A3-9A12-45E4-845A-746709C59121}" srcOrd="1" destOrd="0" presId="urn:microsoft.com/office/officeart/2005/8/layout/default"/>
    <dgm:cxn modelId="{A0563B06-55B0-47A9-92B4-E67EB07F3549}" type="presParOf" srcId="{205C001C-384C-48E5-93BF-B874D0832CD6}" destId="{19778607-D433-4EB4-A4F5-4492E91E092E}" srcOrd="2" destOrd="0" presId="urn:microsoft.com/office/officeart/2005/8/layout/default"/>
    <dgm:cxn modelId="{10A0A577-83AC-463B-A93C-6DFF8C90C7BF}" type="presParOf" srcId="{205C001C-384C-48E5-93BF-B874D0832CD6}" destId="{6FA27573-9C9B-46F5-8625-D83EABD3323F}" srcOrd="3" destOrd="0" presId="urn:microsoft.com/office/officeart/2005/8/layout/default"/>
    <dgm:cxn modelId="{A85CE632-D0C1-4CCD-88AF-1D201806374B}" type="presParOf" srcId="{205C001C-384C-48E5-93BF-B874D0832CD6}" destId="{178565FE-9CB2-4EE3-9A54-9D4DFEB98829}" srcOrd="4" destOrd="0" presId="urn:microsoft.com/office/officeart/2005/8/layout/default"/>
    <dgm:cxn modelId="{87E9558D-2E0B-4771-BC72-6FEF8591E88C}" type="presParOf" srcId="{205C001C-384C-48E5-93BF-B874D0832CD6}" destId="{2299528D-99E7-4B42-9EDC-8F11C2D5EF4F}" srcOrd="5" destOrd="0" presId="urn:microsoft.com/office/officeart/2005/8/layout/default"/>
    <dgm:cxn modelId="{76C029DC-215F-43B5-B071-139BE6301345}" type="presParOf" srcId="{205C001C-384C-48E5-93BF-B874D0832CD6}" destId="{86FD142C-A11A-4D10-BF8C-86C483CA09EC}" srcOrd="6" destOrd="0" presId="urn:microsoft.com/office/officeart/2005/8/layout/default"/>
    <dgm:cxn modelId="{0137EC8F-6AE0-4792-9CF9-97CD7DB43440}" type="presParOf" srcId="{205C001C-384C-48E5-93BF-B874D0832CD6}" destId="{8D05BEC2-1225-4F0D-9668-263979D75B99}" srcOrd="7" destOrd="0" presId="urn:microsoft.com/office/officeart/2005/8/layout/default"/>
    <dgm:cxn modelId="{B4F0EAAD-33E9-4D61-9377-B8F7F339D408}" type="presParOf" srcId="{205C001C-384C-48E5-93BF-B874D0832CD6}" destId="{C5854056-1476-4C3F-BAEA-333F19190871}" srcOrd="8" destOrd="0" presId="urn:microsoft.com/office/officeart/2005/8/layout/default"/>
    <dgm:cxn modelId="{F10F1BAA-070E-4E56-930B-423767A8DB29}" type="presParOf" srcId="{205C001C-384C-48E5-93BF-B874D0832CD6}" destId="{D7054AC7-5CDD-410B-AC4F-CA8B205853A7}" srcOrd="9" destOrd="0" presId="urn:microsoft.com/office/officeart/2005/8/layout/default"/>
    <dgm:cxn modelId="{D4A83F9A-7F17-46A0-A05D-544FEF14F579}" type="presParOf" srcId="{205C001C-384C-48E5-93BF-B874D0832CD6}" destId="{BAEE85A7-372D-481E-ABA7-19331677CE61}" srcOrd="10" destOrd="0" presId="urn:microsoft.com/office/officeart/2005/8/layout/default"/>
    <dgm:cxn modelId="{1539D517-EE30-4954-A27E-796DE0C872B5}" type="presParOf" srcId="{205C001C-384C-48E5-93BF-B874D0832CD6}" destId="{16279415-30DB-439B-B9FF-27165E9C4B66}" srcOrd="11" destOrd="0" presId="urn:microsoft.com/office/officeart/2005/8/layout/default"/>
    <dgm:cxn modelId="{69794348-5B93-48E0-9484-DAA5F06D57AD}" type="presParOf" srcId="{205C001C-384C-48E5-93BF-B874D0832CD6}" destId="{3F21B529-949F-42A1-B014-90C5D1104D08}" srcOrd="12" destOrd="0" presId="urn:microsoft.com/office/officeart/2005/8/layout/default"/>
    <dgm:cxn modelId="{C846DF40-405A-4573-BD16-B3D8B4FD9D28}" type="presParOf" srcId="{205C001C-384C-48E5-93BF-B874D0832CD6}" destId="{1B10F13D-774B-4685-A956-70B3308D57DC}" srcOrd="13" destOrd="0" presId="urn:microsoft.com/office/officeart/2005/8/layout/default"/>
    <dgm:cxn modelId="{9F31F14B-5694-4DCC-9227-505913793A44}" type="presParOf" srcId="{205C001C-384C-48E5-93BF-B874D0832CD6}" destId="{AA788821-C1B4-46E9-854A-8210E3705665}" srcOrd="14" destOrd="0" presId="urn:microsoft.com/office/officeart/2005/8/layout/default"/>
    <dgm:cxn modelId="{4EB22E65-9484-4462-A1C4-3855F8C70AC5}" type="presParOf" srcId="{205C001C-384C-48E5-93BF-B874D0832CD6}" destId="{0A8A4548-4CAA-4CA0-80B9-BC67774FB9B0}" srcOrd="15" destOrd="0" presId="urn:microsoft.com/office/officeart/2005/8/layout/default"/>
    <dgm:cxn modelId="{405C1D08-9A93-4581-9228-8F309C9D229F}" type="presParOf" srcId="{205C001C-384C-48E5-93BF-B874D0832CD6}" destId="{67B3C098-48D9-463D-A339-4FBE5DB27423}"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DCFEEE-B207-406D-A2B4-F881C6E4B847}">
      <dsp:nvSpPr>
        <dsp:cNvPr id="0" name=""/>
        <dsp:cNvSpPr/>
      </dsp:nvSpPr>
      <dsp:spPr>
        <a:xfrm>
          <a:off x="739207" y="4668"/>
          <a:ext cx="3188403" cy="1913042"/>
        </a:xfrm>
        <a:prstGeom prst="rect">
          <a:avLst/>
        </a:prstGeom>
        <a:solidFill>
          <a:srgbClr val="C39B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יציאה מהבית למרחב הציבורי היא אחד המנבאים לאיכות חיים. בבריטניה, בשכונות בהן­ נעים ונוח יותר לצאת אל מחוץ לבית הקשרים החברתיים של הזקנים חזקים ורחבים יותר (אשל-ג'וינט, 2020). </a:t>
          </a:r>
          <a:endParaRPr lang="he-IL" sz="2000" kern="1200" dirty="0">
            <a:latin typeface="Calibri Light" panose="020F0302020204030204" pitchFamily="34" charset="0"/>
            <a:cs typeface="Calibri Light" panose="020F0302020204030204" pitchFamily="34" charset="0"/>
          </a:endParaRPr>
        </a:p>
      </dsp:txBody>
      <dsp:txXfrm>
        <a:off x="739207" y="4668"/>
        <a:ext cx="3188403" cy="1913042"/>
      </dsp:txXfrm>
    </dsp:sp>
    <dsp:sp modelId="{19778607-D433-4EB4-A4F5-4492E91E092E}">
      <dsp:nvSpPr>
        <dsp:cNvPr id="0" name=""/>
        <dsp:cNvSpPr/>
      </dsp:nvSpPr>
      <dsp:spPr>
        <a:xfrm>
          <a:off x="4246451" y="4668"/>
          <a:ext cx="3188403" cy="1913042"/>
        </a:xfrm>
        <a:prstGeom prst="rect">
          <a:avLst/>
        </a:prstGeom>
        <a:solidFill>
          <a:srgbClr val="C39BE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1">
            <a:lnSpc>
              <a:spcPct val="90000"/>
            </a:lnSpc>
            <a:spcBef>
              <a:spcPct val="0"/>
            </a:spcBef>
            <a:spcAft>
              <a:spcPct val="35000"/>
            </a:spcAft>
          </a:pPr>
          <a:r>
            <a:rPr lang="he-IL" sz="2200" kern="1200" dirty="0" smtClean="0">
              <a:latin typeface="Calibri Light" panose="020F0302020204030204" pitchFamily="34" charset="0"/>
              <a:cs typeface="Calibri Light" panose="020F0302020204030204" pitchFamily="34" charset="0"/>
            </a:rPr>
            <a:t>טיפול על ידי עובד זר מפחית איכות חיים בכך שמקטין מגעים עם המשפחה ושביעות רצון מהתמיכה וממערכות היחסים (</a:t>
          </a:r>
          <a:r>
            <a:rPr lang="he-IL" sz="2200" kern="1200" dirty="0" err="1" smtClean="0">
              <a:latin typeface="Calibri Light" panose="020F0302020204030204" pitchFamily="34" charset="0"/>
              <a:cs typeface="Calibri Light" panose="020F0302020204030204" pitchFamily="34" charset="0"/>
            </a:rPr>
            <a:t>חלאילה</a:t>
          </a:r>
          <a:r>
            <a:rPr lang="he-IL" sz="2200" kern="1200" dirty="0" smtClean="0">
              <a:latin typeface="Calibri Light" panose="020F0302020204030204" pitchFamily="34" charset="0"/>
              <a:cs typeface="Calibri Light" panose="020F0302020204030204" pitchFamily="34" charset="0"/>
            </a:rPr>
            <a:t> 2021)</a:t>
          </a:r>
          <a:endParaRPr lang="he-IL" sz="2200" kern="1200" dirty="0">
            <a:latin typeface="Calibri Light" panose="020F0302020204030204" pitchFamily="34" charset="0"/>
            <a:cs typeface="Calibri Light" panose="020F0302020204030204" pitchFamily="34" charset="0"/>
          </a:endParaRPr>
        </a:p>
      </dsp:txBody>
      <dsp:txXfrm>
        <a:off x="4246451" y="4668"/>
        <a:ext cx="3188403" cy="1913042"/>
      </dsp:txXfrm>
    </dsp:sp>
    <dsp:sp modelId="{178565FE-9CB2-4EE3-9A54-9D4DFEB98829}">
      <dsp:nvSpPr>
        <dsp:cNvPr id="0" name=""/>
        <dsp:cNvSpPr/>
      </dsp:nvSpPr>
      <dsp:spPr>
        <a:xfrm>
          <a:off x="7637765" y="0"/>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תחושת הבדידות בקרב מבקרי מרכז היום ומעורבות בפעילות נמצאו משפיעים באופן מובהק על תחושת השייכות בקרב המבקרים. אך פחות בקרב מי שנמצא בקשר תכוף עם בני משפחתו (</a:t>
          </a:r>
          <a:r>
            <a:rPr lang="he-IL" sz="2000" kern="1200" dirty="0" err="1" smtClean="0">
              <a:latin typeface="Calibri Light" panose="020F0302020204030204" pitchFamily="34" charset="0"/>
              <a:cs typeface="Calibri Light" panose="020F0302020204030204" pitchFamily="34" charset="0"/>
            </a:rPr>
            <a:t>חלאילה</a:t>
          </a:r>
          <a:r>
            <a:rPr lang="he-IL" sz="2000" kern="1200" dirty="0" smtClean="0">
              <a:latin typeface="Calibri Light" panose="020F0302020204030204" pitchFamily="34" charset="0"/>
              <a:cs typeface="Calibri Light" panose="020F0302020204030204" pitchFamily="34" charset="0"/>
            </a:rPr>
            <a:t> 2021)</a:t>
          </a:r>
          <a:endParaRPr lang="he-IL" sz="2000" kern="1200" dirty="0">
            <a:latin typeface="Calibri Light" panose="020F0302020204030204" pitchFamily="34" charset="0"/>
            <a:cs typeface="Calibri Light" panose="020F0302020204030204" pitchFamily="34" charset="0"/>
          </a:endParaRPr>
        </a:p>
      </dsp:txBody>
      <dsp:txXfrm>
        <a:off x="7637765" y="0"/>
        <a:ext cx="3188403" cy="1913042"/>
      </dsp:txXfrm>
    </dsp:sp>
    <dsp:sp modelId="{86FD142C-A11A-4D10-BF8C-86C483CA09EC}">
      <dsp:nvSpPr>
        <dsp:cNvPr id="0" name=""/>
        <dsp:cNvSpPr/>
      </dsp:nvSpPr>
      <dsp:spPr>
        <a:xfrm>
          <a:off x="671358" y="2236550"/>
          <a:ext cx="3188403" cy="1913042"/>
        </a:xfrm>
        <a:prstGeom prst="rect">
          <a:avLst/>
        </a:prstGeom>
        <a:solidFill>
          <a:srgbClr val="5A278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תדירות גבוהה של ביקורים במרכז יום ושביעות רצון מהפעילות היו קשורים לאיכות חיים גבוהה במיוחד במרכז ובמגזר היהודי (</a:t>
          </a:r>
          <a:r>
            <a:rPr lang="he-IL" sz="2000" kern="1200" dirty="0" err="1" smtClean="0">
              <a:latin typeface="Calibri Light" panose="020F0302020204030204" pitchFamily="34" charset="0"/>
              <a:cs typeface="Calibri Light" panose="020F0302020204030204" pitchFamily="34" charset="0"/>
            </a:rPr>
            <a:t>חלאילה</a:t>
          </a:r>
          <a:r>
            <a:rPr lang="he-IL" sz="2000" kern="1200" dirty="0" smtClean="0">
              <a:latin typeface="Calibri Light" panose="020F0302020204030204" pitchFamily="34" charset="0"/>
              <a:cs typeface="Calibri Light" panose="020F0302020204030204" pitchFamily="34" charset="0"/>
            </a:rPr>
            <a:t>, 2021)</a:t>
          </a:r>
          <a:endParaRPr lang="he-IL" sz="2000" kern="1200" dirty="0">
            <a:latin typeface="Calibri Light" panose="020F0302020204030204" pitchFamily="34" charset="0"/>
            <a:cs typeface="Calibri Light" panose="020F0302020204030204" pitchFamily="34" charset="0"/>
          </a:endParaRPr>
        </a:p>
      </dsp:txBody>
      <dsp:txXfrm>
        <a:off x="671358" y="2236550"/>
        <a:ext cx="3188403" cy="1913042"/>
      </dsp:txXfrm>
    </dsp:sp>
    <dsp:sp modelId="{C5854056-1476-4C3F-BAEA-333F19190871}">
      <dsp:nvSpPr>
        <dsp:cNvPr id="0" name=""/>
        <dsp:cNvSpPr/>
      </dsp:nvSpPr>
      <dsp:spPr>
        <a:xfrm>
          <a:off x="4246451" y="2236550"/>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התפיסה העצמית של מבקרים במרכזי יום באופן חלקי או מלא, טובה יותר מזו של א/נשים זקנים המקבלים שירותי טיפול ביתי בלבד (גל </a:t>
          </a:r>
          <a:r>
            <a:rPr lang="he-IL" sz="2000" kern="1200" dirty="0" err="1" smtClean="0">
              <a:latin typeface="Calibri Light" panose="020F0302020204030204" pitchFamily="34" charset="0"/>
              <a:cs typeface="Calibri Light" panose="020F0302020204030204" pitchFamily="34" charset="0"/>
            </a:rPr>
            <a:t>ופריזנט</a:t>
          </a:r>
          <a:r>
            <a:rPr lang="he-IL" sz="2000" kern="1200" dirty="0" smtClean="0">
              <a:latin typeface="Calibri Light" panose="020F0302020204030204" pitchFamily="34" charset="0"/>
              <a:cs typeface="Calibri Light" panose="020F0302020204030204" pitchFamily="34" charset="0"/>
            </a:rPr>
            <a:t>, 2003) </a:t>
          </a:r>
          <a:endParaRPr lang="he-IL" sz="2000" kern="1200" dirty="0">
            <a:latin typeface="Calibri Light" panose="020F0302020204030204" pitchFamily="34" charset="0"/>
            <a:cs typeface="Calibri Light" panose="020F0302020204030204" pitchFamily="34" charset="0"/>
          </a:endParaRPr>
        </a:p>
      </dsp:txBody>
      <dsp:txXfrm>
        <a:off x="4246451" y="2236550"/>
        <a:ext cx="3188403" cy="1913042"/>
      </dsp:txXfrm>
    </dsp:sp>
    <dsp:sp modelId="{BAEE85A7-372D-481E-ABA7-19331677CE61}">
      <dsp:nvSpPr>
        <dsp:cNvPr id="0" name=""/>
        <dsp:cNvSpPr/>
      </dsp:nvSpPr>
      <dsp:spPr>
        <a:xfrm>
          <a:off x="4246451" y="4473101"/>
          <a:ext cx="3188403" cy="1913042"/>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רבים מבני המשפחה התומכים רואים במרכז היום כמקום השומר על בריאות האדם הזקן (</a:t>
          </a:r>
          <a:r>
            <a:rPr lang="he-IL" sz="2000" kern="1200" dirty="0" err="1" smtClean="0">
              <a:latin typeface="Calibri Light" panose="020F0302020204030204" pitchFamily="34" charset="0"/>
              <a:cs typeface="Calibri Light" panose="020F0302020204030204" pitchFamily="34" charset="0"/>
            </a:rPr>
            <a:t>רזניצקי</a:t>
          </a:r>
          <a:r>
            <a:rPr lang="he-IL" sz="2000" kern="1200" dirty="0" smtClean="0">
              <a:latin typeface="Calibri Light" panose="020F0302020204030204" pitchFamily="34" charset="0"/>
              <a:cs typeface="Calibri Light" panose="020F0302020204030204" pitchFamily="34" charset="0"/>
            </a:rPr>
            <a:t> ואחרים, 2012).</a:t>
          </a:r>
          <a:endParaRPr lang="he-IL" sz="2000" kern="1200" dirty="0">
            <a:latin typeface="Calibri Light" panose="020F0302020204030204" pitchFamily="34" charset="0"/>
            <a:cs typeface="Calibri Light" panose="020F0302020204030204" pitchFamily="34" charset="0"/>
          </a:endParaRPr>
        </a:p>
      </dsp:txBody>
      <dsp:txXfrm>
        <a:off x="4246451" y="4473101"/>
        <a:ext cx="3188403" cy="1913042"/>
      </dsp:txXfrm>
    </dsp:sp>
    <dsp:sp modelId="{3F21B529-949F-42A1-B014-90C5D1104D08}">
      <dsp:nvSpPr>
        <dsp:cNvPr id="0" name=""/>
        <dsp:cNvSpPr/>
      </dsp:nvSpPr>
      <dsp:spPr>
        <a:xfrm>
          <a:off x="739207" y="4468433"/>
          <a:ext cx="3188403" cy="1913042"/>
        </a:xfrm>
        <a:prstGeom prst="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השתתפות בתוכניות הפחיתה במובהק את רמת האינדיקציה לדיכאון של המשתתפים לעומת מי שלא השתתפו בהן (מחקר מלווה למיזם להפחתת תחושת הבדידות, מכון </a:t>
          </a:r>
          <a:r>
            <a:rPr lang="he-IL" sz="2000" kern="1200" dirty="0" err="1" smtClean="0">
              <a:latin typeface="Calibri Light" panose="020F0302020204030204" pitchFamily="34" charset="0"/>
              <a:cs typeface="Calibri Light" panose="020F0302020204030204" pitchFamily="34" charset="0"/>
            </a:rPr>
            <a:t>ברוקדייל</a:t>
          </a:r>
          <a:r>
            <a:rPr lang="he-IL" sz="2000" kern="1200" dirty="0" smtClean="0">
              <a:latin typeface="Calibri Light" panose="020F0302020204030204" pitchFamily="34" charset="0"/>
              <a:cs typeface="Calibri Light" panose="020F0302020204030204" pitchFamily="34" charset="0"/>
            </a:rPr>
            <a:t>, 2020).</a:t>
          </a:r>
          <a:endParaRPr lang="he-IL" sz="2000" kern="1200" dirty="0">
            <a:latin typeface="Calibri Light" panose="020F0302020204030204" pitchFamily="34" charset="0"/>
            <a:cs typeface="Calibri Light" panose="020F0302020204030204" pitchFamily="34" charset="0"/>
          </a:endParaRPr>
        </a:p>
      </dsp:txBody>
      <dsp:txXfrm>
        <a:off x="739207" y="4468433"/>
        <a:ext cx="3188403" cy="1913042"/>
      </dsp:txXfrm>
    </dsp:sp>
    <dsp:sp modelId="{AA788821-C1B4-46E9-854A-8210E3705665}">
      <dsp:nvSpPr>
        <dsp:cNvPr id="0" name=""/>
        <dsp:cNvSpPr/>
      </dsp:nvSpPr>
      <dsp:spPr>
        <a:xfrm>
          <a:off x="7612066" y="2232565"/>
          <a:ext cx="3188403" cy="1913042"/>
        </a:xfrm>
        <a:prstGeom prst="rect">
          <a:avLst/>
        </a:prstGeom>
        <a:solidFill>
          <a:srgbClr val="5A278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1">
            <a:lnSpc>
              <a:spcPct val="90000"/>
            </a:lnSpc>
            <a:spcBef>
              <a:spcPct val="0"/>
            </a:spcBef>
            <a:spcAft>
              <a:spcPct val="35000"/>
            </a:spcAft>
          </a:pPr>
          <a:r>
            <a:rPr lang="he-IL" sz="2000" kern="1200" dirty="0" smtClean="0">
              <a:latin typeface="Calibri Light" panose="020F0302020204030204" pitchFamily="34" charset="0"/>
              <a:cs typeface="Calibri Light" panose="020F0302020204030204" pitchFamily="34" charset="0"/>
            </a:rPr>
            <a:t>מרכזי היום תורמים באופן ישיר למערכת הבריאות בכך שהם דוחים/מונעים מיסוד  (</a:t>
          </a:r>
          <a:r>
            <a:rPr lang="en-US" sz="2000" kern="1200" dirty="0" smtClean="0">
              <a:latin typeface="Calibri Light" panose="020F0302020204030204" pitchFamily="34" charset="0"/>
              <a:cs typeface="Calibri Light" panose="020F0302020204030204" pitchFamily="34" charset="0"/>
            </a:rPr>
            <a:t>Fields et al., 2014</a:t>
          </a:r>
          <a:r>
            <a:rPr lang="he-IL" sz="2000" kern="1200" dirty="0" smtClean="0">
              <a:latin typeface="Calibri Light" panose="020F0302020204030204" pitchFamily="34" charset="0"/>
              <a:cs typeface="Calibri Light" panose="020F0302020204030204" pitchFamily="34" charset="0"/>
            </a:rPr>
            <a:t>) ואשפוזים (</a:t>
          </a:r>
          <a:r>
            <a:rPr lang="en-US" sz="2000" kern="1200" dirty="0" err="1" smtClean="0">
              <a:latin typeface="Calibri Light" panose="020F0302020204030204" pitchFamily="34" charset="0"/>
              <a:cs typeface="Calibri Light" panose="020F0302020204030204" pitchFamily="34" charset="0"/>
            </a:rPr>
            <a:t>Zarit</a:t>
          </a:r>
          <a:r>
            <a:rPr lang="en-US" sz="2000" kern="1200" dirty="0" smtClean="0">
              <a:latin typeface="Calibri Light" panose="020F0302020204030204" pitchFamily="34" charset="0"/>
              <a:cs typeface="Calibri Light" panose="020F0302020204030204" pitchFamily="34" charset="0"/>
            </a:rPr>
            <a:t> et al., 2011</a:t>
          </a:r>
          <a:r>
            <a:rPr lang="he-IL" sz="2000" kern="1200" dirty="0" smtClean="0">
              <a:latin typeface="Calibri Light" panose="020F0302020204030204" pitchFamily="34" charset="0"/>
              <a:cs typeface="Calibri Light" panose="020F0302020204030204" pitchFamily="34" charset="0"/>
            </a:rPr>
            <a:t>). </a:t>
          </a:r>
          <a:endParaRPr lang="he-IL" sz="2000" kern="1200" dirty="0">
            <a:latin typeface="Calibri Light" panose="020F0302020204030204" pitchFamily="34" charset="0"/>
            <a:cs typeface="Calibri Light" panose="020F0302020204030204" pitchFamily="34" charset="0"/>
          </a:endParaRPr>
        </a:p>
      </dsp:txBody>
      <dsp:txXfrm>
        <a:off x="7612066" y="2232565"/>
        <a:ext cx="3188403" cy="1913042"/>
      </dsp:txXfrm>
    </dsp:sp>
    <dsp:sp modelId="{67B3C098-48D9-463D-A339-4FBE5DB27423}">
      <dsp:nvSpPr>
        <dsp:cNvPr id="0" name=""/>
        <dsp:cNvSpPr/>
      </dsp:nvSpPr>
      <dsp:spPr>
        <a:xfrm>
          <a:off x="7656353" y="4473101"/>
          <a:ext cx="3188403" cy="1913042"/>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rtl="1">
            <a:lnSpc>
              <a:spcPct val="90000"/>
            </a:lnSpc>
            <a:spcBef>
              <a:spcPct val="0"/>
            </a:spcBef>
            <a:spcAft>
              <a:spcPct val="35000"/>
            </a:spcAft>
          </a:pPr>
          <a:r>
            <a:rPr lang="he-IL" sz="1600" kern="1200" dirty="0" smtClean="0">
              <a:latin typeface="Calibri Light" panose="020F0302020204030204" pitchFamily="34" charset="0"/>
              <a:cs typeface="Calibri Light" panose="020F0302020204030204" pitchFamily="34" charset="0"/>
            </a:rPr>
            <a:t>57% מן המשיבים ציינו שהתוכנית תרמה להפחתת תחושת הבדידות שלהם במידה רבה או רבה מאוד. 71% דיווחו על שיפור מצב הרוח הכללי במידה רבה או רבה מאוד, ו-48% מן המשיבים דיווחו כך על שיפור בתחושת הבריאות הכללית. (קהילה תומכת משודרגת, מכון </a:t>
          </a:r>
          <a:r>
            <a:rPr lang="he-IL" sz="1600" kern="1200" dirty="0" err="1" smtClean="0">
              <a:latin typeface="Calibri Light" panose="020F0302020204030204" pitchFamily="34" charset="0"/>
              <a:cs typeface="Calibri Light" panose="020F0302020204030204" pitchFamily="34" charset="0"/>
            </a:rPr>
            <a:t>ברוקדייל</a:t>
          </a:r>
          <a:r>
            <a:rPr lang="he-IL" sz="1600" kern="1200" dirty="0" smtClean="0">
              <a:latin typeface="Calibri Light" panose="020F0302020204030204" pitchFamily="34" charset="0"/>
              <a:cs typeface="Calibri Light" panose="020F0302020204030204" pitchFamily="34" charset="0"/>
            </a:rPr>
            <a:t> 2020)</a:t>
          </a:r>
          <a:endParaRPr lang="he-IL" sz="1600" kern="1200" dirty="0">
            <a:latin typeface="Calibri Light" panose="020F0302020204030204" pitchFamily="34" charset="0"/>
            <a:cs typeface="Calibri Light" panose="020F0302020204030204" pitchFamily="34" charset="0"/>
          </a:endParaRPr>
        </a:p>
      </dsp:txBody>
      <dsp:txXfrm>
        <a:off x="7656353" y="4473101"/>
        <a:ext cx="3188403" cy="191304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1.png"/></Relationships>
</file>

<file path=ppt/drawings/drawing1.xml><?xml version="1.0" encoding="utf-8"?>
<c:userShapes xmlns:c="http://schemas.openxmlformats.org/drawingml/2006/chart">
  <cdr:relSizeAnchor xmlns:cdr="http://schemas.openxmlformats.org/drawingml/2006/chartDrawing">
    <cdr:from>
      <cdr:x>0.68076</cdr:x>
      <cdr:y>0.11258</cdr:y>
    </cdr:from>
    <cdr:to>
      <cdr:x>1</cdr:x>
      <cdr:y>0.2397</cdr:y>
    </cdr:to>
    <cdr:pic>
      <cdr:nvPicPr>
        <cdr:cNvPr id="2" name="chart">
          <a:extLst xmlns:a="http://schemas.openxmlformats.org/drawingml/2006/main">
            <a:ext uri="{FF2B5EF4-FFF2-40B4-BE49-F238E27FC236}">
              <a16:creationId xmlns:a16="http://schemas.microsoft.com/office/drawing/2014/main" id="{1D700022-49A6-4D1D-9B6E-7B1087D27BD9}"/>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5019872" y="561001"/>
          <a:ext cx="2354051" cy="633447"/>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0.41299</cdr:x>
      <cdr:y>0.3879</cdr:y>
    </cdr:from>
    <cdr:to>
      <cdr:x>0.5</cdr:x>
      <cdr:y>0.49259</cdr:y>
    </cdr:to>
    <cdr:sp macro="" textlink="">
      <cdr:nvSpPr>
        <cdr:cNvPr id="2" name="TextBox 10"/>
        <cdr:cNvSpPr txBox="1"/>
      </cdr:nvSpPr>
      <cdr:spPr>
        <a:xfrm xmlns:a="http://schemas.openxmlformats.org/drawingml/2006/main">
          <a:off x="4539524" y="2144787"/>
          <a:ext cx="956401" cy="578858"/>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b="1" dirty="0">
              <a:solidFill>
                <a:srgbClr val="FF0000"/>
              </a:solidFill>
              <a:latin typeface="Calibri" panose="020F0502020204030204" pitchFamily="34" charset="0"/>
              <a:cs typeface="Calibri" panose="020F0502020204030204" pitchFamily="34" charset="0"/>
            </a:rPr>
            <a:t>עליה של  74%</a:t>
          </a:r>
        </a:p>
      </cdr:txBody>
    </cdr:sp>
  </cdr:relSizeAnchor>
  <cdr:relSizeAnchor xmlns:cdr="http://schemas.openxmlformats.org/drawingml/2006/chartDrawing">
    <cdr:from>
      <cdr:x>0.6415</cdr:x>
      <cdr:y>0.49524</cdr:y>
    </cdr:from>
    <cdr:to>
      <cdr:x>0.73977</cdr:x>
      <cdr:y>0.59993</cdr:y>
    </cdr:to>
    <cdr:sp macro="" textlink="">
      <cdr:nvSpPr>
        <cdr:cNvPr id="3" name="TextBox 10"/>
        <cdr:cNvSpPr txBox="1"/>
      </cdr:nvSpPr>
      <cdr:spPr>
        <a:xfrm xmlns:a="http://schemas.openxmlformats.org/drawingml/2006/main">
          <a:off x="7051272" y="2738311"/>
          <a:ext cx="1080169" cy="578882"/>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chemeClr val="tx1">
                  <a:lumMod val="65000"/>
                  <a:lumOff val="35000"/>
                </a:schemeClr>
              </a:solidFill>
              <a:latin typeface="Calibri" panose="020F0502020204030204" pitchFamily="34" charset="0"/>
              <a:cs typeface="Calibri" panose="020F0502020204030204" pitchFamily="34" charset="0"/>
            </a:rPr>
            <a:t>עליה של  21%</a:t>
          </a:r>
        </a:p>
      </cdr:txBody>
    </cdr:sp>
  </cdr:relSizeAnchor>
  <cdr:relSizeAnchor xmlns:cdr="http://schemas.openxmlformats.org/drawingml/2006/chartDrawing">
    <cdr:from>
      <cdr:x>0.83783</cdr:x>
      <cdr:y>0.52381</cdr:y>
    </cdr:from>
    <cdr:to>
      <cdr:x>0.94432</cdr:x>
      <cdr:y>0.58539</cdr:y>
    </cdr:to>
    <cdr:sp macro="" textlink="">
      <cdr:nvSpPr>
        <cdr:cNvPr id="4" name="TextBox 10"/>
        <cdr:cNvSpPr txBox="1"/>
      </cdr:nvSpPr>
      <cdr:spPr>
        <a:xfrm xmlns:a="http://schemas.openxmlformats.org/drawingml/2006/main">
          <a:off x="9209302" y="2896282"/>
          <a:ext cx="1170522" cy="340519"/>
        </a:xfrm>
        <a:prstGeom xmlns:a="http://schemas.openxmlformats.org/drawingml/2006/main" prst="wedgeRoundRectCallout">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dirty="0">
              <a:solidFill>
                <a:srgbClr val="FF0000"/>
              </a:solidFill>
              <a:latin typeface="Calibri" panose="020F0502020204030204" pitchFamily="34" charset="0"/>
              <a:cs typeface="Calibri" panose="020F0502020204030204" pitchFamily="34" charset="0"/>
            </a:rPr>
            <a:t>ירידה של  5%</a:t>
          </a:r>
        </a:p>
      </cdr:txBody>
    </cdr:sp>
  </cdr:relSizeAnchor>
  <cdr:relSizeAnchor xmlns:cdr="http://schemas.openxmlformats.org/drawingml/2006/chartDrawing">
    <cdr:from>
      <cdr:x>0.26367</cdr:x>
      <cdr:y>0.5</cdr:y>
    </cdr:from>
    <cdr:to>
      <cdr:x>0.34247</cdr:x>
      <cdr:y>0.60469</cdr:y>
    </cdr:to>
    <cdr:sp macro="" textlink="">
      <cdr:nvSpPr>
        <cdr:cNvPr id="5" name="TextBox 5"/>
        <cdr:cNvSpPr txBox="1"/>
      </cdr:nvSpPr>
      <cdr:spPr>
        <a:xfrm xmlns:a="http://schemas.openxmlformats.org/drawingml/2006/main">
          <a:off x="2898221" y="2764631"/>
          <a:ext cx="866158" cy="578882"/>
        </a:xfrm>
        <a:prstGeom xmlns:a="http://schemas.openxmlformats.org/drawingml/2006/main" prst="wedgeRoundRectCallout">
          <a:avLst>
            <a:gd name="adj1" fmla="val -12310"/>
            <a:gd name="adj2" fmla="val 66783"/>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marL="0" indent="0" algn="ctr" rtl="1"/>
          <a:r>
            <a:rPr lang="he-IL" sz="1400" b="1" dirty="0">
              <a:solidFill>
                <a:srgbClr val="FF0000"/>
              </a:solidFill>
              <a:latin typeface="Calibri" panose="020F0502020204030204" pitchFamily="34" charset="0"/>
              <a:cs typeface="Calibri" panose="020F0502020204030204" pitchFamily="34" charset="0"/>
            </a:rPr>
            <a:t>עליה של 1778%</a:t>
          </a:r>
        </a:p>
      </cdr:txBody>
    </cdr:sp>
  </cdr:relSizeAnchor>
  <cdr:relSizeAnchor xmlns:cdr="http://schemas.openxmlformats.org/drawingml/2006/chartDrawing">
    <cdr:from>
      <cdr:x>0.22107</cdr:x>
      <cdr:y>0</cdr:y>
    </cdr:from>
    <cdr:to>
      <cdr:x>0.22279</cdr:x>
      <cdr:y>0.78966</cdr:y>
    </cdr:to>
    <cdr:cxnSp macro="">
      <cdr:nvCxnSpPr>
        <cdr:cNvPr id="7" name="מחבר ישר 6"/>
        <cdr:cNvCxnSpPr/>
      </cdr:nvCxnSpPr>
      <cdr:spPr>
        <a:xfrm xmlns:a="http://schemas.openxmlformats.org/drawingml/2006/main">
          <a:off x="2476304" y="0"/>
          <a:ext cx="19246" cy="4362450"/>
        </a:xfrm>
        <a:prstGeom xmlns:a="http://schemas.openxmlformats.org/drawingml/2006/main" prst="line">
          <a:avLst/>
        </a:prstGeom>
      </cdr:spPr>
      <cdr:style>
        <a:lnRef xmlns:a="http://schemas.openxmlformats.org/drawingml/2006/main" idx="2">
          <a:schemeClr val="dk1"/>
        </a:lnRef>
        <a:fillRef xmlns:a="http://schemas.openxmlformats.org/drawingml/2006/main" idx="0">
          <a:schemeClr val="dk1"/>
        </a:fillRef>
        <a:effectRef xmlns:a="http://schemas.openxmlformats.org/drawingml/2006/main" idx="1">
          <a:schemeClr val="dk1"/>
        </a:effectRef>
        <a:fontRef xmlns:a="http://schemas.openxmlformats.org/drawingml/2006/main" idx="minor">
          <a:schemeClr val="tx1"/>
        </a:fontRef>
      </cdr:style>
    </cdr:cxnSp>
  </cdr:relSizeAnchor>
  <cdr:relSizeAnchor xmlns:cdr="http://schemas.openxmlformats.org/drawingml/2006/chartDrawing">
    <cdr:from>
      <cdr:x>0.06803</cdr:x>
      <cdr:y>0.15718</cdr:y>
    </cdr:from>
    <cdr:to>
      <cdr:x>0.14966</cdr:x>
      <cdr:y>0.3227</cdr:y>
    </cdr:to>
    <cdr:sp macro="" textlink="">
      <cdr:nvSpPr>
        <cdr:cNvPr id="9" name="TextBox 8"/>
        <cdr:cNvSpPr txBox="1"/>
      </cdr:nvSpPr>
      <cdr:spPr>
        <a:xfrm xmlns:a="http://schemas.openxmlformats.org/drawingml/2006/main">
          <a:off x="762000" y="868363"/>
          <a:ext cx="914400"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r>
            <a:rPr lang="he-IL" sz="1400" b="1" dirty="0" smtClean="0">
              <a:latin typeface="Calibri" panose="020F0502020204030204" pitchFamily="34" charset="0"/>
              <a:cs typeface="Calibri" panose="020F0502020204030204" pitchFamily="34" charset="0"/>
            </a:rPr>
            <a:t>סך שינוי בגמלאות</a:t>
          </a:r>
          <a:endParaRPr lang="he-IL" sz="1400" b="1" dirty="0">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0.02551</cdr:x>
      <cdr:y>0.31693</cdr:y>
    </cdr:from>
    <cdr:to>
      <cdr:x>0.11603</cdr:x>
      <cdr:y>0.42162</cdr:y>
    </cdr:to>
    <cdr:sp macro="" textlink="">
      <cdr:nvSpPr>
        <cdr:cNvPr id="10" name="TextBox 10"/>
        <cdr:cNvSpPr txBox="1"/>
      </cdr:nvSpPr>
      <cdr:spPr>
        <a:xfrm xmlns:a="http://schemas.openxmlformats.org/drawingml/2006/main">
          <a:off x="280402" y="1752389"/>
          <a:ext cx="994982" cy="578882"/>
        </a:xfrm>
        <a:prstGeom xmlns:a="http://schemas.openxmlformats.org/drawingml/2006/main" prst="wedgeRoundRectCallout">
          <a:avLst>
            <a:gd name="adj1" fmla="val -13562"/>
            <a:gd name="adj2" fmla="val 62500"/>
            <a:gd name="adj3" fmla="val 16667"/>
          </a:avLst>
        </a:prstGeom>
        <a:noFill xmlns:a="http://schemas.openxmlformats.org/drawingml/2006/main"/>
        <a:ln xmlns:a="http://schemas.openxmlformats.org/drawingml/2006/main">
          <a:solidFill>
            <a:schemeClr val="bg2">
              <a:lumMod val="75000"/>
            </a:schemeClr>
          </a:solidFill>
        </a:l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square" rtlCol="1"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pPr algn="ctr" rtl="1"/>
          <a:r>
            <a:rPr lang="he-IL" sz="1400" b="1" dirty="0">
              <a:solidFill>
                <a:srgbClr val="FF0000"/>
              </a:solidFill>
              <a:latin typeface="Calibri" panose="020F0502020204030204" pitchFamily="34" charset="0"/>
              <a:cs typeface="Calibri" panose="020F0502020204030204" pitchFamily="34" charset="0"/>
            </a:rPr>
            <a:t>עליה של  </a:t>
          </a:r>
          <a:r>
            <a:rPr lang="he-IL" sz="1400" b="1" dirty="0" smtClean="0">
              <a:solidFill>
                <a:srgbClr val="FF0000"/>
              </a:solidFill>
              <a:latin typeface="Calibri" panose="020F0502020204030204" pitchFamily="34" charset="0"/>
              <a:cs typeface="Calibri" panose="020F0502020204030204" pitchFamily="34" charset="0"/>
            </a:rPr>
            <a:t>100%</a:t>
          </a:r>
          <a:endParaRPr lang="he-IL" sz="1400" b="1" dirty="0">
            <a:solidFill>
              <a:srgbClr val="FF0000"/>
            </a:solidFill>
            <a:latin typeface="Calibri" panose="020F0502020204030204" pitchFamily="34" charset="0"/>
            <a:cs typeface="Calibri" panose="020F0502020204030204" pitchFamily="34" charset="0"/>
          </a:endParaRPr>
        </a:p>
      </cdr:txBody>
    </cdr:sp>
  </cdr:relSizeAnchor>
  <cdr:relSizeAnchor xmlns:cdr="http://schemas.openxmlformats.org/drawingml/2006/chartDrawing">
    <cdr:from>
      <cdr:x>0.51186</cdr:x>
      <cdr:y>0.34129</cdr:y>
    </cdr:from>
    <cdr:to>
      <cdr:x>0.60791</cdr:x>
      <cdr:y>0.50667</cdr:y>
    </cdr:to>
    <cdr:sp macro="" textlink="">
      <cdr:nvSpPr>
        <cdr:cNvPr id="6" name="TextBox 5"/>
        <cdr:cNvSpPr txBox="1"/>
      </cdr:nvSpPr>
      <cdr:spPr>
        <a:xfrm xmlns:a="http://schemas.openxmlformats.org/drawingml/2006/main">
          <a:off x="5626306" y="1887105"/>
          <a:ext cx="1055783" cy="914400"/>
        </a:xfrm>
        <a:prstGeom xmlns:a="http://schemas.openxmlformats.org/drawingml/2006/main" prst="rect">
          <a:avLst/>
        </a:prstGeom>
      </cdr:spPr>
      <cdr:txBody>
        <a:bodyPr xmlns:a="http://schemas.openxmlformats.org/drawingml/2006/main" vertOverflow="clip" wrap="none" rtlCol="1"/>
        <a:lstStyle xmlns:a="http://schemas.openxmlformats.org/drawingml/2006/main"/>
        <a:p xmlns:a="http://schemas.openxmlformats.org/drawingml/2006/main">
          <a:pPr algn="r"/>
          <a:r>
            <a:rPr lang="he-IL" sz="1200" b="1" dirty="0" smtClean="0"/>
            <a:t>50% בני משפחה </a:t>
          </a:r>
        </a:p>
        <a:p xmlns:a="http://schemas.openxmlformats.org/drawingml/2006/main">
          <a:pPr algn="r"/>
          <a:r>
            <a:rPr lang="he-IL" sz="1200" b="1" dirty="0" smtClean="0"/>
            <a:t>מטפלים בשכר</a:t>
          </a:r>
          <a:endParaRPr lang="he-IL" sz="1200" b="1"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י"א/אדר ב/תשפ"ד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י"א/אדר ב/תשפ"ד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5</a:t>
            </a:fld>
            <a:endParaRPr lang="he-IL" dirty="0"/>
          </a:p>
        </p:txBody>
      </p:sp>
    </p:spTree>
    <p:extLst>
      <p:ext uri="{BB962C8B-B14F-4D97-AF65-F5344CB8AC3E}">
        <p14:creationId xmlns:p14="http://schemas.microsoft.com/office/powerpoint/2010/main" val="3226269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L"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1723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r>
              <a:rPr lang="he-IL" b="1" dirty="0"/>
              <a:t>הבנו מה כואב למשרד האוצר ולביטוח לאומי ותרגמנו </a:t>
            </a:r>
            <a:r>
              <a:rPr lang="he-IL" b="1" dirty="0" err="1"/>
              <a:t>לתכנית</a:t>
            </a:r>
            <a:r>
              <a:rPr lang="he-IL" b="1" dirty="0"/>
              <a:t> אופרטיבית תוך חיבור ליזמים-</a:t>
            </a:r>
          </a:p>
          <a:p>
            <a:r>
              <a:rPr lang="he-IL" b="1" dirty="0" err="1"/>
              <a:t>ירונה</a:t>
            </a:r>
            <a:r>
              <a:rPr lang="he-IL" b="1" dirty="0"/>
              <a:t> הציגה לינון ויוסי היימן הציג </a:t>
            </a:r>
            <a:r>
              <a:rPr lang="he-IL" b="1" dirty="0" err="1"/>
              <a:t>לירונה</a:t>
            </a:r>
            <a:r>
              <a:rPr lang="he-IL" b="1" dirty="0"/>
              <a:t>.</a:t>
            </a:r>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12</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smtClean="0"/>
              <a:t>מי שהפסיק להגיע למרכז היום במהלך הקורונה התדרדר תפקודית,</a:t>
            </a:r>
            <a:r>
              <a:rPr lang="he-IL" baseline="0" dirty="0" smtClean="0"/>
              <a:t> רגשית וקוגניטיבית</a:t>
            </a:r>
          </a:p>
        </p:txBody>
      </p:sp>
      <p:sp>
        <p:nvSpPr>
          <p:cNvPr id="4" name="מציין מיקום של מספר שקופית 3"/>
          <p:cNvSpPr>
            <a:spLocks noGrp="1"/>
          </p:cNvSpPr>
          <p:nvPr>
            <p:ph type="sldNum" sz="quarter" idx="10"/>
          </p:nvPr>
        </p:nvSpPr>
        <p:spPr/>
        <p:txBody>
          <a:bodyPr/>
          <a:lstStyle/>
          <a:p>
            <a:fld id="{BD95B28A-238B-45FE-B003-AAAC4E3D8E8D}" type="slidenum">
              <a:rPr lang="he-IL" smtClean="0"/>
              <a:t>21</a:t>
            </a:fld>
            <a:endParaRPr lang="he-IL"/>
          </a:p>
        </p:txBody>
      </p:sp>
    </p:spTree>
    <p:extLst>
      <p:ext uri="{BB962C8B-B14F-4D97-AF65-F5344CB8AC3E}">
        <p14:creationId xmlns:p14="http://schemas.microsoft.com/office/powerpoint/2010/main" val="2209634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rtl="1"/>
            <a:r>
              <a:rPr lang="he-IL" dirty="0" smtClean="0"/>
              <a:t>סה"כ</a:t>
            </a:r>
            <a:r>
              <a:rPr lang="he-IL" baseline="0" dirty="0" smtClean="0"/>
              <a:t> </a:t>
            </a:r>
            <a:r>
              <a:rPr lang="he-IL" dirty="0" smtClean="0"/>
              <a:t>מספר מקבלי </a:t>
            </a:r>
            <a:r>
              <a:rPr lang="he-IL" dirty="0" err="1" smtClean="0"/>
              <a:t>קיצבה</a:t>
            </a:r>
            <a:r>
              <a:rPr lang="he-IL" dirty="0" smtClean="0"/>
              <a:t> 1,2 103,000</a:t>
            </a:r>
          </a:p>
          <a:p>
            <a:pPr rtl="1"/>
            <a:endParaRPr lang="he-IL" dirty="0" smtClean="0"/>
          </a:p>
          <a:p>
            <a:pPr rtl="1"/>
            <a:endParaRPr lang="he-IL" dirty="0" smtClean="0"/>
          </a:p>
          <a:p>
            <a:pPr rtl="1"/>
            <a:r>
              <a:rPr lang="he-IL" dirty="0" smtClean="0"/>
              <a:t>48,000 משתתפים בקהילה תומכת (36,313+1,600+10,000) שהם 42,200 בתי אב.  &gt;(ע"פ סקר של </a:t>
            </a:r>
            <a:r>
              <a:rPr lang="he-IL" dirty="0" err="1" smtClean="0"/>
              <a:t>ברוקדייל</a:t>
            </a:r>
            <a:r>
              <a:rPr lang="he-IL" dirty="0" smtClean="0"/>
              <a:t> 22% מהם</a:t>
            </a:r>
            <a:r>
              <a:rPr lang="he-IL" baseline="0" dirty="0" smtClean="0"/>
              <a:t> </a:t>
            </a:r>
            <a:r>
              <a:rPr lang="he-IL" dirty="0" smtClean="0"/>
              <a:t>מקבלי קצבת סיעוד כלומר 9,300</a:t>
            </a:r>
            <a:r>
              <a:rPr lang="he-IL" baseline="0" dirty="0" smtClean="0"/>
              <a:t> מקבלי סיעוד) </a:t>
            </a:r>
          </a:p>
          <a:p>
            <a:pPr rtl="1"/>
            <a:endParaRPr lang="he-IL" baseline="0" dirty="0" smtClean="0"/>
          </a:p>
          <a:p>
            <a:pPr rtl="1"/>
            <a:r>
              <a:rPr lang="he-IL" baseline="0" dirty="0" smtClean="0"/>
              <a:t>(27,000) ונקבל את הפרטיים שנמצאים בסיעוד מתוכם נחסיר את רמה 1,2 ונקבל את מספר הפרטיים ברמת סיעוד 1,2 הכי קרוב.</a:t>
            </a:r>
            <a:endParaRPr lang="he-IL" dirty="0" smtClean="0"/>
          </a:p>
        </p:txBody>
      </p:sp>
    </p:spTree>
    <p:extLst>
      <p:ext uri="{BB962C8B-B14F-4D97-AF65-F5344CB8AC3E}">
        <p14:creationId xmlns:p14="http://schemas.microsoft.com/office/powerpoint/2010/main" val="3821657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101186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34</a:t>
            </a:fld>
            <a:endParaRPr lang="he-IL" dirty="0"/>
          </a:p>
        </p:txBody>
      </p:sp>
    </p:spTree>
    <p:extLst>
      <p:ext uri="{BB962C8B-B14F-4D97-AF65-F5344CB8AC3E}">
        <p14:creationId xmlns:p14="http://schemas.microsoft.com/office/powerpoint/2010/main" val="30941993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37</a:t>
            </a:fld>
            <a:endParaRPr lang="en-IL"/>
          </a:p>
        </p:txBody>
      </p:sp>
    </p:spTree>
    <p:extLst>
      <p:ext uri="{BB962C8B-B14F-4D97-AF65-F5344CB8AC3E}">
        <p14:creationId xmlns:p14="http://schemas.microsoft.com/office/powerpoint/2010/main" val="245033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highlight>
                <a:srgbClr val="FFFF00"/>
              </a:highlight>
            </a:endParaRPr>
          </a:p>
        </p:txBody>
      </p:sp>
      <p:sp>
        <p:nvSpPr>
          <p:cNvPr id="4" name="Slide Number Placeholder 3"/>
          <p:cNvSpPr>
            <a:spLocks noGrp="1"/>
          </p:cNvSpPr>
          <p:nvPr>
            <p:ph type="sldNum" sz="quarter" idx="5"/>
          </p:nvPr>
        </p:nvSpPr>
        <p:spPr/>
        <p:txBody>
          <a:bodyPr/>
          <a:lstStyle/>
          <a:p>
            <a:fld id="{E9331071-0531-4F61-A5A0-E22B891BF691}" type="slidenum">
              <a:rPr lang="en-IL" smtClean="0"/>
              <a:t>40</a:t>
            </a:fld>
            <a:endParaRPr lang="en-IL"/>
          </a:p>
        </p:txBody>
      </p:sp>
    </p:spTree>
    <p:extLst>
      <p:ext uri="{BB962C8B-B14F-4D97-AF65-F5344CB8AC3E}">
        <p14:creationId xmlns:p14="http://schemas.microsoft.com/office/powerpoint/2010/main" val="152846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41</a:t>
            </a:fld>
            <a:endParaRPr lang="en-IL"/>
          </a:p>
        </p:txBody>
      </p:sp>
    </p:spTree>
    <p:extLst>
      <p:ext uri="{BB962C8B-B14F-4D97-AF65-F5344CB8AC3E}">
        <p14:creationId xmlns:p14="http://schemas.microsoft.com/office/powerpoint/2010/main" val="3688380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42</a:t>
            </a:fld>
            <a:endParaRPr lang="en-IL"/>
          </a:p>
        </p:txBody>
      </p:sp>
    </p:spTree>
    <p:extLst>
      <p:ext uri="{BB962C8B-B14F-4D97-AF65-F5344CB8AC3E}">
        <p14:creationId xmlns:p14="http://schemas.microsoft.com/office/powerpoint/2010/main" val="2196607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E9331071-0531-4F61-A5A0-E22B891BF691}" type="slidenum">
              <a:rPr lang="en-IL" smtClean="0"/>
              <a:t>43</a:t>
            </a:fld>
            <a:endParaRPr lang="en-IL"/>
          </a:p>
        </p:txBody>
      </p:sp>
    </p:spTree>
    <p:extLst>
      <p:ext uri="{BB962C8B-B14F-4D97-AF65-F5344CB8AC3E}">
        <p14:creationId xmlns:p14="http://schemas.microsoft.com/office/powerpoint/2010/main" val="513026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pic>
        <p:nvPicPr>
          <p:cNvPr id="1026" name="Picture 2" descr="שירות לקוחות ביטוח לאומי טלפון 2023 » שירות בקליק"/>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549" t="24616" r="-2549" b="24936"/>
          <a:stretch/>
        </p:blipFill>
        <p:spPr bwMode="auto">
          <a:xfrm>
            <a:off x="381000" y="6079227"/>
            <a:ext cx="1876168" cy="767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727725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F80B959-BC60-4854-A69A-50BBA8DB8D52}"/>
              </a:ext>
            </a:extLst>
          </p:cNvPr>
          <p:cNvSpPr/>
          <p:nvPr userDrawn="1"/>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E7DFC797-BCA0-4F6A-92BD-42AF0FAA3EB4}"/>
              </a:ext>
            </a:extLst>
          </p:cNvPr>
          <p:cNvSpPr>
            <a:spLocks noGrp="1"/>
          </p:cNvSpPr>
          <p:nvPr>
            <p:ph type="body" sz="quarter" idx="10" hasCustomPrompt="1"/>
          </p:nvPr>
        </p:nvSpPr>
        <p:spPr>
          <a:xfrm>
            <a:off x="340336" y="260961"/>
            <a:ext cx="9384235" cy="592268"/>
          </a:xfrm>
        </p:spPr>
        <p:txBody>
          <a:bodyPr anchor="ctr" anchorCtr="0">
            <a:normAutofit/>
          </a:bodyPr>
          <a:lstStyle>
            <a:lvl1pPr marL="0" indent="0">
              <a:buFontTx/>
              <a:buNone/>
              <a:defRPr sz="3200" b="1">
                <a:solidFill>
                  <a:srgbClr val="000000"/>
                </a:solidFill>
                <a:latin typeface="+mj-lt"/>
              </a:defRPr>
            </a:lvl1pPr>
          </a:lstStyle>
          <a:p>
            <a:pPr lvl="0"/>
            <a:r>
              <a:rPr lang="en-US" dirty="0"/>
              <a:t>Click To Edit Master Text Styles</a:t>
            </a:r>
          </a:p>
        </p:txBody>
      </p:sp>
      <p:sp>
        <p:nvSpPr>
          <p:cNvPr id="9" name="Rounded Rectangle 9">
            <a:extLst>
              <a:ext uri="{FF2B5EF4-FFF2-40B4-BE49-F238E27FC236}">
                <a16:creationId xmlns:a16="http://schemas.microsoft.com/office/drawing/2014/main" id="{C0200EDE-BFB7-4872-9956-3A7E1C596FAD}"/>
              </a:ext>
            </a:extLst>
          </p:cNvPr>
          <p:cNvSpPr/>
          <p:nvPr userDrawn="1"/>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Text&#10;&#10;Description automatically generated with medium confidence">
            <a:extLst>
              <a:ext uri="{FF2B5EF4-FFF2-40B4-BE49-F238E27FC236}">
                <a16:creationId xmlns:a16="http://schemas.microsoft.com/office/drawing/2014/main" id="{0953BFF1-8892-4520-AFB4-B491E394F495}"/>
              </a:ext>
            </a:extLst>
          </p:cNvPr>
          <p:cNvPicPr>
            <a:picLocks noChangeAspect="1"/>
          </p:cNvPicPr>
          <p:nvPr userDrawn="1"/>
        </p:nvPicPr>
        <p:blipFill rotWithShape="1">
          <a:blip r:embed="rId2" cstate="print">
            <a:alphaModFix amt="8000"/>
            <a:extLst>
              <a:ext uri="{28A0092B-C50C-407E-A947-70E740481C1C}">
                <a14:useLocalDpi xmlns:a14="http://schemas.microsoft.com/office/drawing/2010/main" val="0"/>
              </a:ext>
            </a:extLst>
          </a:blip>
          <a:srcRect l="3689" t="15975" r="73705" b="11445"/>
          <a:stretch/>
        </p:blipFill>
        <p:spPr>
          <a:xfrm>
            <a:off x="340336" y="5391250"/>
            <a:ext cx="1096578" cy="1088762"/>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spTree>
    <p:extLst>
      <p:ext uri="{BB962C8B-B14F-4D97-AF65-F5344CB8AC3E}">
        <p14:creationId xmlns:p14="http://schemas.microsoft.com/office/powerpoint/2010/main" val="3594646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smtClean="0"/>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838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6172200" y="1825625"/>
            <a:ext cx="5181600" cy="435133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smtClean="0"/>
              <a:t>לחץ כדי לערוך סגנון כותרת של תבנית בסיס</a:t>
            </a:r>
            <a:endParaRPr lang="he-IL" dirty="0"/>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smtClean="0"/>
              <a:t>לחץ כדי לערוך סגנון כותרת של תבנית בסיס</a:t>
            </a:r>
            <a:endParaRPr lang="he-IL"/>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smtClean="0"/>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י"א/אדר ב/תשפ"ד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י"א/אדר ב/תשפ"ד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6" Type="http://schemas.openxmlformats.org/officeDocument/2006/relationships/theme" Target="../theme/theme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י"א/אדר ב/תשפ"ד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4" r:id="rId14"/>
    <p:sldLayoutId id="2147483688" r:id="rId15"/>
    <p:sldLayoutId id="2147483689" r:id="rId16"/>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smtClean="0"/>
              <a:t>ערוך סגנונות טקסט של תבנית בסיס</a:t>
            </a:r>
          </a:p>
          <a:p>
            <a:pPr lvl="1"/>
            <a:r>
              <a:rPr lang="he-IL" smtClean="0"/>
              <a:t>רמה שניה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י"א/אדר ב/תשפ"ד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iming>
    <p:tnLst>
      <p:par>
        <p:cTn id="1" dur="indefinite" restart="never" nodeType="tmRoot"/>
      </p:par>
    </p:tnLst>
  </p:timing>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12" Type="http://schemas.openxmlformats.org/officeDocument/2006/relationships/image" Target="../media/image28.jpe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microsoft.com/office/2007/relationships/hdphoto" Target="../media/hdphoto1.wdp"/><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39.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hart" Target="../charts/chart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image" Target="../media/image31.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18" Type="http://schemas.openxmlformats.org/officeDocument/2006/relationships/image" Target="../media/image49.png"/><Relationship Id="rId3" Type="http://schemas.openxmlformats.org/officeDocument/2006/relationships/image" Target="../media/image34.png"/><Relationship Id="rId21" Type="http://schemas.openxmlformats.org/officeDocument/2006/relationships/image" Target="../media/image51.png"/><Relationship Id="rId7" Type="http://schemas.openxmlformats.org/officeDocument/2006/relationships/image" Target="../media/image38.png"/><Relationship Id="rId12" Type="http://schemas.openxmlformats.org/officeDocument/2006/relationships/image" Target="../media/image43.png"/><Relationship Id="rId17" Type="http://schemas.openxmlformats.org/officeDocument/2006/relationships/image" Target="../media/image48.png"/><Relationship Id="rId2" Type="http://schemas.openxmlformats.org/officeDocument/2006/relationships/notesSlide" Target="../notesSlides/notesSlide7.xml"/><Relationship Id="rId16" Type="http://schemas.openxmlformats.org/officeDocument/2006/relationships/image" Target="../media/image47.png"/><Relationship Id="rId20" Type="http://schemas.openxmlformats.org/officeDocument/2006/relationships/image" Target="../media/image50.png"/><Relationship Id="rId1" Type="http://schemas.openxmlformats.org/officeDocument/2006/relationships/slideLayout" Target="../slideLayouts/slideLayout1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19" Type="http://schemas.openxmlformats.org/officeDocument/2006/relationships/image" Target="../media/image2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 Id="rId22" Type="http://schemas.openxmlformats.org/officeDocument/2006/relationships/image" Target="../media/image27.png"/></Relationships>
</file>

<file path=ppt/slides/_rels/slide1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57.png"/><Relationship Id="rId4"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3.png"/><Relationship Id="rId7" Type="http://schemas.microsoft.com/office/2007/relationships/hdphoto" Target="../media/hdphoto2.wdp"/><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e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01.svg"/><Relationship Id="rId5" Type="http://schemas.openxmlformats.org/officeDocument/2006/relationships/image" Target="../media/image70.png"/><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101.svg"/></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31.png"/><Relationship Id="rId1" Type="http://schemas.openxmlformats.org/officeDocument/2006/relationships/slideLayout" Target="../slideLayouts/slideLayout23.xml"/><Relationship Id="rId6" Type="http://schemas.openxmlformats.org/officeDocument/2006/relationships/image" Target="../media/image32.png"/><Relationship Id="rId5" Type="http://schemas.openxmlformats.org/officeDocument/2006/relationships/image" Target="../media/image100.sv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5.jpeg"/><Relationship Id="rId5" Type="http://schemas.openxmlformats.org/officeDocument/2006/relationships/image" Target="../media/image74.png"/><Relationship Id="rId4" Type="http://schemas.openxmlformats.org/officeDocument/2006/relationships/image" Target="../media/image73.jpeg"/></Relationships>
</file>

<file path=ppt/slides/_rels/slide3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3.xml"/><Relationship Id="rId6" Type="http://schemas.openxmlformats.org/officeDocument/2006/relationships/image" Target="../media/image78.png"/><Relationship Id="rId5" Type="http://schemas.openxmlformats.org/officeDocument/2006/relationships/image" Target="../media/image3.png"/><Relationship Id="rId4" Type="http://schemas.microsoft.com/office/2007/relationships/hdphoto" Target="../media/hdphoto3.wdp"/></Relationships>
</file>

<file path=ppt/slides/_rels/slide3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image" Target="../media/image81.png"/></Relationships>
</file>

<file path=ppt/slides/_rels/slide4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87.jpeg"/><Relationship Id="rId3" Type="http://schemas.openxmlformats.org/officeDocument/2006/relationships/image" Target="../media/image83.jpeg"/><Relationship Id="rId7" Type="http://schemas.openxmlformats.org/officeDocument/2006/relationships/image" Target="../media/image86.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3.png"/><Relationship Id="rId9" Type="http://schemas.openxmlformats.org/officeDocument/2006/relationships/image" Target="../media/image88.jpeg"/></Relationships>
</file>

<file path=ppt/slides/_rels/slide42.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notesSlide" Target="../notesSlides/notesSlide15.xml"/><Relationship Id="rId1" Type="http://schemas.openxmlformats.org/officeDocument/2006/relationships/slideLayout" Target="../slideLayouts/slideLayout14.xml"/><Relationship Id="rId6" Type="http://schemas.openxmlformats.org/officeDocument/2006/relationships/image" Target="../media/image92.jpg"/><Relationship Id="rId5" Type="http://schemas.openxmlformats.org/officeDocument/2006/relationships/image" Target="../media/image91.jp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s>
</file>

<file path=ppt/slides/_rels/slide43.xml.rels><?xml version="1.0" encoding="UTF-8" standalone="yes"?>
<Relationships xmlns="http://schemas.openxmlformats.org/package/2006/relationships"><Relationship Id="rId3" Type="http://schemas.openxmlformats.org/officeDocument/2006/relationships/hyperlink" Target="https://docs.google.com/forms/d/e/1FAIpQLSeo4dfbT6VuxqA6KX_Nu0E1YNekSSZFeY-RRL9la6abVmkd2Q/viewform" TargetMode="External"/><Relationship Id="rId7" Type="http://schemas.openxmlformats.org/officeDocument/2006/relationships/image" Target="../media/image100.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מלבן 5"/>
          <p:cNvSpPr/>
          <p:nvPr/>
        </p:nvSpPr>
        <p:spPr>
          <a:xfrm>
            <a:off x="406453" y="1346861"/>
            <a:ext cx="11450901" cy="830997"/>
          </a:xfrm>
          <a:prstGeom prst="rect">
            <a:avLst/>
          </a:prstGeom>
          <a:noFill/>
        </p:spPr>
        <p:txBody>
          <a:bodyPr wrap="square" lIns="91440" tIns="45720" rIns="91440" bIns="45720">
            <a:spAutoFit/>
          </a:bodyPr>
          <a:lstStyle/>
          <a:p>
            <a:r>
              <a:rPr lang="he-IL" sz="4800" b="1" dirty="0" smtClean="0">
                <a:latin typeface="Calibri" panose="020F0502020204030204" pitchFamily="34" charset="0"/>
                <a:cs typeface="Calibri" panose="020F0502020204030204" pitchFamily="34" charset="0"/>
              </a:rPr>
              <a:t>שירותים חברתיים לזכאי חוק סיעוד</a:t>
            </a:r>
            <a:endParaRPr lang="he-IL" sz="4800" b="1" dirty="0">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a:blip r:embed="rId2"/>
          <a:stretch>
            <a:fillRect/>
          </a:stretch>
        </p:blipFill>
        <p:spPr>
          <a:xfrm>
            <a:off x="9283700" y="5554236"/>
            <a:ext cx="2908300" cy="1303763"/>
          </a:xfrm>
          <a:prstGeom prst="rect">
            <a:avLst/>
          </a:prstGeom>
        </p:spPr>
      </p:pic>
      <p:sp>
        <p:nvSpPr>
          <p:cNvPr id="2" name="TextBox 1"/>
          <p:cNvSpPr txBox="1"/>
          <p:nvPr/>
        </p:nvSpPr>
        <p:spPr>
          <a:xfrm>
            <a:off x="6042543" y="2860460"/>
            <a:ext cx="5814811" cy="1077218"/>
          </a:xfrm>
          <a:prstGeom prst="rect">
            <a:avLst/>
          </a:prstGeom>
          <a:noFill/>
        </p:spPr>
        <p:txBody>
          <a:bodyPr wrap="square" rtlCol="1">
            <a:spAutoFit/>
          </a:bodyPr>
          <a:lstStyle/>
          <a:p>
            <a:r>
              <a:rPr lang="he-IL" sz="3200" b="1" dirty="0" smtClean="0">
                <a:latin typeface="Calibri" panose="020F0502020204030204" pitchFamily="34" charset="0"/>
                <a:cs typeface="Calibri" panose="020F0502020204030204" pitchFamily="34" charset="0"/>
              </a:rPr>
              <a:t>מינהל אזרחים ותיקים ואגף סיעוד בביטוח לאומי</a:t>
            </a:r>
            <a:endParaRPr lang="he-IL" sz="2000" b="1" dirty="0">
              <a:latin typeface="Calibri" panose="020F0502020204030204" pitchFamily="34" charset="0"/>
              <a:cs typeface="Calibri" panose="020F0502020204030204" pitchFamily="34" charset="0"/>
            </a:endParaRPr>
          </a:p>
        </p:txBody>
      </p:sp>
      <p:sp>
        <p:nvSpPr>
          <p:cNvPr id="9" name="מלבן 8"/>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0" name="קבוצה 19"/>
          <p:cNvGrpSpPr/>
          <p:nvPr/>
        </p:nvGrpSpPr>
        <p:grpSpPr>
          <a:xfrm>
            <a:off x="1632550" y="4155203"/>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351337" y="3941052"/>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16" name="קבוצה 15"/>
          <p:cNvGrpSpPr/>
          <p:nvPr/>
        </p:nvGrpSpPr>
        <p:grpSpPr>
          <a:xfrm>
            <a:off x="1632550" y="3284716"/>
            <a:ext cx="3383279" cy="2680688"/>
            <a:chOff x="4003932" y="140625"/>
            <a:chExt cx="3347849" cy="3401935"/>
          </a:xfrm>
        </p:grpSpPr>
        <p:sp>
          <p:nvSpPr>
            <p:cNvPr id="24" name="אליפסה 2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711284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smtClean="0">
                <a:ln>
                  <a:noFill/>
                </a:ln>
                <a:solidFill>
                  <a:prstClr val="black"/>
                </a:solidFill>
                <a:effectLst/>
                <a:uLnTx/>
                <a:uFillTx/>
                <a:latin typeface="Calibri"/>
                <a:ea typeface="+mj-ea"/>
                <a:cs typeface="Calibri"/>
              </a:rPr>
              <a:t>מטרות על ל-2023</a:t>
            </a:r>
            <a:endParaRPr kumimoji="0" lang="en-CA" sz="40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2872509" y="1782618"/>
            <a:ext cx="3025703" cy="2733963"/>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שימור ושיפור תפקוד</a:t>
            </a:r>
          </a:p>
        </p:txBody>
      </p:sp>
      <p:sp>
        <p:nvSpPr>
          <p:cNvPr id="11" name="Circle">
            <a:extLst>
              <a:ext uri="{FF2B5EF4-FFF2-40B4-BE49-F238E27FC236}">
                <a16:creationId xmlns:a16="http://schemas.microsoft.com/office/drawing/2014/main" id="{BFA8BC08-2983-6C41-BCDA-7939F0275991}"/>
              </a:ext>
            </a:extLst>
          </p:cNvPr>
          <p:cNvSpPr/>
          <p:nvPr/>
        </p:nvSpPr>
        <p:spPr>
          <a:xfrm>
            <a:off x="5492320" y="1782618"/>
            <a:ext cx="2927259" cy="280785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שייכות ומשמעות</a:t>
            </a:r>
            <a:endParaRPr kumimoji="0" lang="he-IL" sz="36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endParaRPr>
          </a:p>
        </p:txBody>
      </p:sp>
      <p:sp>
        <p:nvSpPr>
          <p:cNvPr id="12" name="Circle">
            <a:extLst>
              <a:ext uri="{FF2B5EF4-FFF2-40B4-BE49-F238E27FC236}">
                <a16:creationId xmlns:a16="http://schemas.microsoft.com/office/drawing/2014/main" id="{34F19EA4-628E-134F-AE5C-15E847C2E5B4}"/>
              </a:ext>
            </a:extLst>
          </p:cNvPr>
          <p:cNvSpPr/>
          <p:nvPr/>
        </p:nvSpPr>
        <p:spPr>
          <a:xfrm>
            <a:off x="4322618" y="3659509"/>
            <a:ext cx="2840815" cy="2621218"/>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40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מניעת</a:t>
            </a:r>
            <a:endParaRPr kumimoji="0" lang="he-IL" sz="36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2800" b="1" i="0" u="none" strike="noStrike" kern="1200" cap="none" spc="0" normalizeH="0" baseline="0" noProof="0" dirty="0" smtClean="0">
                <a:ln>
                  <a:noFill/>
                </a:ln>
                <a:solidFill>
                  <a:srgbClr val="4B2C50"/>
                </a:solidFill>
                <a:effectLst/>
                <a:uLnTx/>
                <a:uFillTx/>
                <a:latin typeface="Calibri" panose="020F0502020204030204" pitchFamily="34" charset="0"/>
                <a:ea typeface="+mn-ea"/>
                <a:cs typeface="Calibri" panose="020F0502020204030204" pitchFamily="34" charset="0"/>
              </a:rPr>
              <a:t>מצבי סיכון</a:t>
            </a: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16" name="Circle">
            <a:extLst>
              <a:ext uri="{FF2B5EF4-FFF2-40B4-BE49-F238E27FC236}">
                <a16:creationId xmlns:a16="http://schemas.microsoft.com/office/drawing/2014/main" id="{772827F8-AB18-CF49-B1DC-901232D42CD9}"/>
              </a:ext>
            </a:extLst>
          </p:cNvPr>
          <p:cNvSpPr/>
          <p:nvPr/>
        </p:nvSpPr>
        <p:spPr>
          <a:xfrm>
            <a:off x="149354" y="0"/>
            <a:ext cx="1565304" cy="1505527"/>
          </a:xfrm>
          <a:prstGeom prst="ellipse">
            <a:avLst/>
          </a:prstGeom>
          <a:solidFill>
            <a:schemeClr val="accent1">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5" name="מלבן 4"/>
          <p:cNvSpPr/>
          <p:nvPr/>
        </p:nvSpPr>
        <p:spPr>
          <a:xfrm>
            <a:off x="96901" y="244931"/>
            <a:ext cx="1670209" cy="1015663"/>
          </a:xfrm>
          <a:prstGeom prst="rect">
            <a:avLst/>
          </a:prstGeom>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היערכות להזדקנות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2A3B43"/>
                </a:solidFill>
                <a:effectLst/>
                <a:uLnTx/>
                <a:uFillTx/>
                <a:latin typeface="Calibri" panose="020F0502020204030204" pitchFamily="34" charset="0"/>
                <a:ea typeface="+mn-ea"/>
                <a:cs typeface="Calibri" panose="020F0502020204030204" pitchFamily="34" charset="0"/>
              </a:rPr>
              <a:t>שכבר כאן</a:t>
            </a:r>
          </a:p>
        </p:txBody>
      </p:sp>
    </p:spTree>
    <p:extLst>
      <p:ext uri="{BB962C8B-B14F-4D97-AF65-F5344CB8AC3E}">
        <p14:creationId xmlns:p14="http://schemas.microsoft.com/office/powerpoint/2010/main" val="36100447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AB861C7-13FD-4127-8650-17F91C56200F}"/>
              </a:ext>
            </a:extLst>
          </p:cNvPr>
          <p:cNvSpPr txBox="1"/>
          <p:nvPr/>
        </p:nvSpPr>
        <p:spPr>
          <a:xfrm>
            <a:off x="1603587" y="172309"/>
            <a:ext cx="10283886"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למרות התקציב הגדול, </a:t>
            </a:r>
          </a:p>
          <a:p>
            <a:pPr algn="r" rtl="1"/>
            <a:r>
              <a:rPr lang="he-IL" sz="3200" b="1" dirty="0">
                <a:latin typeface="Calibri" panose="020F0502020204030204" pitchFamily="34" charset="0"/>
                <a:cs typeface="Calibri" panose="020F0502020204030204" pitchFamily="34" charset="0"/>
              </a:rPr>
              <a:t>מעט מאוד מושקע במניעת התדרדרות</a:t>
            </a:r>
            <a:endParaRPr lang="en-IL" sz="3200" b="1" dirty="0">
              <a:latin typeface="Calibri" panose="020F0502020204030204" pitchFamily="34" charset="0"/>
              <a:cs typeface="Calibri" panose="020F0502020204030204" pitchFamily="34" charset="0"/>
            </a:endParaRPr>
          </a:p>
        </p:txBody>
      </p:sp>
      <p:graphicFrame>
        <p:nvGraphicFramePr>
          <p:cNvPr id="22" name="תרשים 10">
            <a:extLst>
              <a:ext uri="{FF2B5EF4-FFF2-40B4-BE49-F238E27FC236}">
                <a16:creationId xmlns:a16="http://schemas.microsoft.com/office/drawing/2014/main" id="{CD80804B-8899-499A-A6A0-BC3FEE0F78EF}"/>
              </a:ext>
            </a:extLst>
          </p:cNvPr>
          <p:cNvGraphicFramePr>
            <a:graphicFrameLocks/>
          </p:cNvGraphicFramePr>
          <p:nvPr>
            <p:extLst/>
          </p:nvPr>
        </p:nvGraphicFramePr>
        <p:xfrm>
          <a:off x="2499919" y="1501629"/>
          <a:ext cx="7373923" cy="4983061"/>
        </p:xfrm>
        <a:graphic>
          <a:graphicData uri="http://schemas.openxmlformats.org/drawingml/2006/chart">
            <c:chart xmlns:c="http://schemas.openxmlformats.org/drawingml/2006/chart" xmlns:r="http://schemas.openxmlformats.org/officeDocument/2006/relationships" r:id="rId2"/>
          </a:graphicData>
        </a:graphic>
      </p:graphicFrame>
      <p:sp>
        <p:nvSpPr>
          <p:cNvPr id="39" name="Rectangle 38">
            <a:extLst>
              <a:ext uri="{FF2B5EF4-FFF2-40B4-BE49-F238E27FC236}">
                <a16:creationId xmlns:a16="http://schemas.microsoft.com/office/drawing/2014/main" id="{A0F98476-D30C-4586-8E87-7E9DFF61E69C}"/>
              </a:ext>
            </a:extLst>
          </p:cNvPr>
          <p:cNvSpPr/>
          <p:nvPr/>
        </p:nvSpPr>
        <p:spPr>
          <a:xfrm>
            <a:off x="213360" y="172309"/>
            <a:ext cx="2357120" cy="6811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TextBox 1">
            <a:extLst>
              <a:ext uri="{FF2B5EF4-FFF2-40B4-BE49-F238E27FC236}">
                <a16:creationId xmlns:a16="http://schemas.microsoft.com/office/drawing/2014/main" id="{2C18A6EC-272A-47AA-AEE2-395E8F8F2635}"/>
              </a:ext>
            </a:extLst>
          </p:cNvPr>
          <p:cNvSpPr txBox="1"/>
          <p:nvPr/>
        </p:nvSpPr>
        <p:spPr>
          <a:xfrm>
            <a:off x="5157512" y="1249527"/>
            <a:ext cx="2523448" cy="369332"/>
          </a:xfrm>
          <a:prstGeom prst="rect">
            <a:avLst/>
          </a:prstGeom>
          <a:noFill/>
        </p:spPr>
        <p:txBody>
          <a:bodyPr wrap="none" rtlCol="0">
            <a:spAutoFit/>
          </a:bodyPr>
          <a:lstStyle/>
          <a:p>
            <a:pPr algn="r" rtl="1"/>
            <a:r>
              <a:rPr lang="he-IL" b="1" u="sng" dirty="0">
                <a:latin typeface="Calibri" panose="020F0502020204030204" pitchFamily="34" charset="0"/>
                <a:cs typeface="Calibri" panose="020F0502020204030204" pitchFamily="34" charset="0"/>
              </a:rPr>
              <a:t>התפלגות התקציב באחוזים:</a:t>
            </a:r>
            <a:endParaRPr lang="en-IL" b="1"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73057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90193" y="1303426"/>
            <a:ext cx="11319761" cy="5019864"/>
          </a:xfrm>
          <a:prstGeom prst="rect">
            <a:avLst/>
          </a:prstGeom>
          <a:solidFill>
            <a:srgbClr val="EBF6F5"/>
          </a:solidFill>
        </p:spPr>
      </p:pic>
      <p:sp>
        <p:nvSpPr>
          <p:cNvPr id="21" name="Rectangle 20">
            <a:extLst>
              <a:ext uri="{FF2B5EF4-FFF2-40B4-BE49-F238E27FC236}">
                <a16:creationId xmlns:a16="http://schemas.microsoft.com/office/drawing/2014/main" id="{FAD6A3D6-92A2-4AE0-B7DD-20CCF29B17F5}"/>
              </a:ext>
            </a:extLst>
          </p:cNvPr>
          <p:cNvSpPr/>
          <p:nvPr/>
        </p:nvSpPr>
        <p:spPr>
          <a:xfrm>
            <a:off x="0" y="0"/>
            <a:ext cx="3384223" cy="6858000"/>
          </a:xfrm>
          <a:prstGeom prst="rect">
            <a:avLst/>
          </a:prstGeom>
          <a:solidFill>
            <a:srgbClr val="C8E3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4" name="תיבת טקסט 3">
            <a:extLst>
              <a:ext uri="{FF2B5EF4-FFF2-40B4-BE49-F238E27FC236}">
                <a16:creationId xmlns:a16="http://schemas.microsoft.com/office/drawing/2014/main" id="{EA7D4CCF-DEA6-42B7-83CB-29A45B04B5F5}"/>
              </a:ext>
            </a:extLst>
          </p:cNvPr>
          <p:cNvSpPr txBox="1"/>
          <p:nvPr/>
        </p:nvSpPr>
        <p:spPr>
          <a:xfrm>
            <a:off x="1155733" y="262909"/>
            <a:ext cx="10888688" cy="646331"/>
          </a:xfrm>
          <a:prstGeom prst="rect">
            <a:avLst/>
          </a:prstGeom>
          <a:noFill/>
        </p:spPr>
        <p:txBody>
          <a:bodyPr wrap="square" rtlCol="1">
            <a:spAutoFit/>
          </a:bodyPr>
          <a:lstStyle/>
          <a:p>
            <a:pPr algn="r"/>
            <a:r>
              <a:rPr lang="he-IL" sz="3600" b="1" dirty="0">
                <a:latin typeface="Calibri" panose="020F0502020204030204" pitchFamily="34" charset="0"/>
                <a:cs typeface="Calibri" panose="020F0502020204030204" pitchFamily="34" charset="0"/>
              </a:rPr>
              <a:t>פיצול השירותים לאזרח הוותיק בין גורמים רבים</a:t>
            </a:r>
            <a:endParaRPr lang="he-IL" sz="3200" b="1" dirty="0">
              <a:solidFill>
                <a:schemeClr val="accent2"/>
              </a:solidFill>
              <a:latin typeface="Calibri" panose="020F0502020204030204" pitchFamily="34" charset="0"/>
              <a:cs typeface="Calibri" panose="020F0502020204030204" pitchFamily="34" charset="0"/>
            </a:endParaRPr>
          </a:p>
        </p:txBody>
      </p:sp>
      <p:pic>
        <p:nvPicPr>
          <p:cNvPr id="8" name="תמונה 7"/>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1145559" y="5721530"/>
            <a:ext cx="1083531" cy="1319111"/>
          </a:xfrm>
          <a:prstGeom prst="rect">
            <a:avLst/>
          </a:prstGeom>
        </p:spPr>
      </p:pic>
      <p:sp>
        <p:nvSpPr>
          <p:cNvPr id="9" name="Oval 8">
            <a:extLst>
              <a:ext uri="{FF2B5EF4-FFF2-40B4-BE49-F238E27FC236}">
                <a16:creationId xmlns:a16="http://schemas.microsoft.com/office/drawing/2014/main" id="{E551AB39-D7D5-41D2-BAFF-FCEBB5177A8E}"/>
              </a:ext>
            </a:extLst>
          </p:cNvPr>
          <p:cNvSpPr/>
          <p:nvPr/>
        </p:nvSpPr>
        <p:spPr>
          <a:xfrm>
            <a:off x="7443478" y="3432286"/>
            <a:ext cx="1008000" cy="100800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10" name="Rectangle 9">
            <a:extLst>
              <a:ext uri="{FF2B5EF4-FFF2-40B4-BE49-F238E27FC236}">
                <a16:creationId xmlns:a16="http://schemas.microsoft.com/office/drawing/2014/main" id="{1DF83B4E-809F-44ED-8049-563F64490F26}"/>
              </a:ext>
            </a:extLst>
          </p:cNvPr>
          <p:cNvSpPr/>
          <p:nvPr/>
        </p:nvSpPr>
        <p:spPr>
          <a:xfrm>
            <a:off x="301398" y="4756258"/>
            <a:ext cx="2605199" cy="948933"/>
          </a:xfrm>
          <a:prstGeom prst="rect">
            <a:avLst/>
          </a:prstGeom>
          <a:solidFill>
            <a:srgbClr val="EBF6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 name="אליפסה 1">
            <a:extLst>
              <a:ext uri="{FF2B5EF4-FFF2-40B4-BE49-F238E27FC236}">
                <a16:creationId xmlns:a16="http://schemas.microsoft.com/office/drawing/2014/main" id="{5108EBDD-AA0D-420A-B4E9-F094B0F9E866}"/>
              </a:ext>
            </a:extLst>
          </p:cNvPr>
          <p:cNvSpPr/>
          <p:nvPr/>
        </p:nvSpPr>
        <p:spPr>
          <a:xfrm>
            <a:off x="1337935" y="5029571"/>
            <a:ext cx="439633" cy="402307"/>
          </a:xfrm>
          <a:prstGeom prst="ellipse">
            <a:avLst/>
          </a:prstGeom>
          <a:solidFill>
            <a:srgbClr val="EBF6F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330076" y="4861392"/>
            <a:ext cx="1705218" cy="738664"/>
          </a:xfrm>
          <a:prstGeom prst="rect">
            <a:avLst/>
          </a:prstGeom>
          <a:solidFill>
            <a:srgbClr val="EBF6F5"/>
          </a:solidFill>
        </p:spPr>
        <p:txBody>
          <a:bodyPr wrap="square" rtlCol="1">
            <a:spAutoFit/>
          </a:bodyPr>
          <a:lstStyle/>
          <a:p>
            <a:pPr algn="ctr"/>
            <a:r>
              <a:rPr lang="he-IL" sz="1400" b="1" dirty="0">
                <a:solidFill>
                  <a:srgbClr val="C00000"/>
                </a:solidFill>
              </a:rPr>
              <a:t>הרשויות המקומיות </a:t>
            </a:r>
            <a:r>
              <a:rPr lang="he-IL" sz="1400" dirty="0">
                <a:solidFill>
                  <a:srgbClr val="C00000"/>
                </a:solidFill>
              </a:rPr>
              <a:t>כגוף תפעולי נותן שירותים</a:t>
            </a:r>
          </a:p>
        </p:txBody>
      </p:sp>
      <p:pic>
        <p:nvPicPr>
          <p:cNvPr id="19" name="Graphic 18">
            <a:extLst>
              <a:ext uri="{FF2B5EF4-FFF2-40B4-BE49-F238E27FC236}">
                <a16:creationId xmlns:a16="http://schemas.microsoft.com/office/drawing/2014/main" id="{4A39C2F2-8D2C-4077-8D6B-AFF55134D5A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 xmlns:asvg="http://schemas.microsoft.com/office/drawing/2016/SVG/main" r:embed="rId6"/>
              </a:ext>
            </a:extLst>
          </a:blip>
          <a:stretch>
            <a:fillRect/>
          </a:stretch>
        </p:blipFill>
        <p:spPr>
          <a:xfrm>
            <a:off x="2159691" y="4906874"/>
            <a:ext cx="518160" cy="647700"/>
          </a:xfrm>
          <a:prstGeom prst="rect">
            <a:avLst/>
          </a:prstGeom>
        </p:spPr>
      </p:pic>
      <p:pic>
        <p:nvPicPr>
          <p:cNvPr id="20" name="Picture 19">
            <a:extLst>
              <a:ext uri="{FF2B5EF4-FFF2-40B4-BE49-F238E27FC236}">
                <a16:creationId xmlns:a16="http://schemas.microsoft.com/office/drawing/2014/main" id="{FFE25ED3-B525-4326-8CF3-2DBBEF8A77FD}"/>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87430" y="1911555"/>
            <a:ext cx="2628900" cy="2676525"/>
          </a:xfrm>
          <a:prstGeom prst="rect">
            <a:avLst/>
          </a:prstGeom>
        </p:spPr>
      </p:pic>
      <p:pic>
        <p:nvPicPr>
          <p:cNvPr id="22" name="Picture 2" descr="סמל מדינת ישראל – ויקיפדיה">
            <a:extLst>
              <a:ext uri="{FF2B5EF4-FFF2-40B4-BE49-F238E27FC236}">
                <a16:creationId xmlns:a16="http://schemas.microsoft.com/office/drawing/2014/main" id="{E186DB7E-E110-4860-ACB1-6C24FE03B038}"/>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895317" y="321056"/>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קובץ:Ministry of Labor, Social Affairs and Social Services ...">
            <a:extLst>
              <a:ext uri="{FF2B5EF4-FFF2-40B4-BE49-F238E27FC236}">
                <a16:creationId xmlns:a16="http://schemas.microsoft.com/office/drawing/2014/main" id="{15FC5F32-DB3B-4EC0-8032-13C317518C6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465574" y="321056"/>
            <a:ext cx="1326800" cy="36176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C103B0D-E22C-415B-B0BB-602F7B3ABAE8}"/>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b="22963"/>
          <a:stretch/>
        </p:blipFill>
        <p:spPr>
          <a:xfrm>
            <a:off x="7502978" y="3593856"/>
            <a:ext cx="889000" cy="684859"/>
          </a:xfrm>
          <a:prstGeom prst="rect">
            <a:avLst/>
          </a:prstGeom>
        </p:spPr>
      </p:pic>
    </p:spTree>
    <p:extLst>
      <p:ext uri="{BB962C8B-B14F-4D97-AF65-F5344CB8AC3E}">
        <p14:creationId xmlns:p14="http://schemas.microsoft.com/office/powerpoint/2010/main" val="382964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70825" y="845544"/>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עקרונות מנחים במודל העבודה המשותף: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569729984"/>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40" name="Picture 39">
              <a:extLst>
                <a:ext uri="{FF2B5EF4-FFF2-40B4-BE49-F238E27FC236}">
                  <a16:creationId xmlns:a16="http://schemas.microsoft.com/office/drawing/2014/main" id="{20DFF503-07D6-4068-9D3D-EE92D39D77B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504470" y="3507473"/>
              <a:ext cx="1067306" cy="916445"/>
            </a:xfrm>
            <a:prstGeom prst="rect">
              <a:avLst/>
            </a:prstGeom>
          </p:spPr>
        </p:pic>
        <p:sp>
          <p:nvSpPr>
            <p:cNvPr id="41" name="TextBox 40">
              <a:extLst>
                <a:ext uri="{FF2B5EF4-FFF2-40B4-BE49-F238E27FC236}">
                  <a16:creationId xmlns:a16="http://schemas.microsoft.com/office/drawing/2014/main" id="{AA53CD91-4E6C-4325-BF69-33C6BE63F0E1}"/>
                </a:ext>
              </a:extLst>
            </p:cNvPr>
            <p:cNvSpPr txBox="1"/>
            <p:nvPr/>
          </p:nvSpPr>
          <p:spPr>
            <a:xfrm>
              <a:off x="2399096" y="2828411"/>
              <a:ext cx="1369285"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והתיק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ומשפחתו</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49" name="Picture 2" descr="סמל מדינת ישראל – ויקיפדיה">
            <a:extLst>
              <a:ext uri="{FF2B5EF4-FFF2-40B4-BE49-F238E27FC236}">
                <a16:creationId xmlns:a16="http://schemas.microsoft.com/office/drawing/2014/main" id="{FFA3BBF5-1F6D-4A72-BA4B-B84C5C4102BA}"/>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1553535" y="314518"/>
            <a:ext cx="333667" cy="414207"/>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123792" y="314518"/>
            <a:ext cx="1326800" cy="36176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 name="אליפסה 1">
            <a:extLst>
              <a:ext uri="{FF2B5EF4-FFF2-40B4-BE49-F238E27FC236}">
                <a16:creationId xmlns:a16="http://schemas.microsoft.com/office/drawing/2014/main" id="{1C4BD581-3E48-6263-53C3-5754768972AF}"/>
              </a:ext>
            </a:extLst>
          </p:cNvPr>
          <p:cNvSpPr/>
          <p:nvPr/>
        </p:nvSpPr>
        <p:spPr>
          <a:xfrm>
            <a:off x="8003406" y="2444990"/>
            <a:ext cx="2232000" cy="2231995"/>
          </a:xfrm>
          <a:prstGeom prst="ellipse">
            <a:avLst/>
          </a:prstGeom>
          <a:gradFill>
            <a:gsLst>
              <a:gs pos="100000">
                <a:schemeClr val="accent3">
                  <a:lumMod val="75000"/>
                  <a:alpha val="0"/>
                </a:schemeClr>
              </a:gs>
              <a:gs pos="100000">
                <a:schemeClr val="accent2">
                  <a:lumMod val="105000"/>
                  <a:satMod val="103000"/>
                  <a:tint val="73000"/>
                </a:schemeClr>
              </a:gs>
              <a:gs pos="100000">
                <a:schemeClr val="accent2">
                  <a:lumMod val="105000"/>
                  <a:satMod val="109000"/>
                  <a:tint val="81000"/>
                </a:schemeClr>
              </a:gs>
            </a:gsLst>
          </a:gradFill>
          <a:ln>
            <a:noFill/>
          </a:ln>
        </p:spPr>
        <p:style>
          <a:lnRef idx="1">
            <a:schemeClr val="accent2"/>
          </a:lnRef>
          <a:fillRef idx="2">
            <a:schemeClr val="accent2"/>
          </a:fillRef>
          <a:effectRef idx="1">
            <a:schemeClr val="accent2"/>
          </a:effectRef>
          <a:fontRef idx="minor">
            <a:schemeClr val="dk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0095588"/>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F30606D-4C69-49C9-B4EE-D35182697DA4}"/>
              </a:ext>
            </a:extLst>
          </p:cNvPr>
          <p:cNvSpPr/>
          <p:nvPr/>
        </p:nvSpPr>
        <p:spPr>
          <a:xfrm>
            <a:off x="0" y="0"/>
            <a:ext cx="7859949"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grpSp>
        <p:nvGrpSpPr>
          <p:cNvPr id="4" name="Group 3">
            <a:extLst>
              <a:ext uri="{FF2B5EF4-FFF2-40B4-BE49-F238E27FC236}">
                <a16:creationId xmlns:a16="http://schemas.microsoft.com/office/drawing/2014/main" id="{F3EB93A2-64A8-4208-9229-22D52D3FE645}"/>
              </a:ext>
            </a:extLst>
          </p:cNvPr>
          <p:cNvGrpSpPr>
            <a:grpSpLocks noChangeAspect="1"/>
          </p:cNvGrpSpPr>
          <p:nvPr/>
        </p:nvGrpSpPr>
        <p:grpSpPr>
          <a:xfrm>
            <a:off x="2337507" y="1521000"/>
            <a:ext cx="4286214" cy="3816000"/>
            <a:chOff x="1496309" y="2306745"/>
            <a:chExt cx="3547280" cy="3158130"/>
          </a:xfrm>
        </p:grpSpPr>
        <p:sp>
          <p:nvSpPr>
            <p:cNvPr id="24" name="Freeform 7">
              <a:extLst>
                <a:ext uri="{FF2B5EF4-FFF2-40B4-BE49-F238E27FC236}">
                  <a16:creationId xmlns:a16="http://schemas.microsoft.com/office/drawing/2014/main" id="{22EF891F-198B-497F-9E83-36383EDA3B0D}"/>
                </a:ext>
              </a:extLst>
            </p:cNvPr>
            <p:cNvSpPr>
              <a:spLocks/>
            </p:cNvSpPr>
            <p:nvPr/>
          </p:nvSpPr>
          <p:spPr bwMode="gray">
            <a:xfrm rot="107936" flipH="1">
              <a:off x="2541303" y="2485756"/>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2"/>
            </a:solidFill>
            <a:ln>
              <a:noFill/>
              <a:headEnd/>
              <a:tailEnd/>
            </a:ln>
            <a:effectLst/>
          </p:spPr>
          <p:style>
            <a:lnRef idx="3">
              <a:schemeClr val="lt1"/>
            </a:lnRef>
            <a:fillRef idx="1">
              <a:schemeClr val="accent5"/>
            </a:fillRef>
            <a:effectRef idx="1">
              <a:schemeClr val="accent5"/>
            </a:effectRef>
            <a:fontRef idx="minor">
              <a:schemeClr val="lt1"/>
            </a:fontRef>
          </p:style>
          <p:txBody>
            <a:bodyPr vert="horz" wrap="square" lIns="44450" tIns="274320" rIns="44450" bIns="44450" numCol="1" anchor="ctr" anchorCtr="0" compatLnSpc="1">
              <a:prstTxWarp prst="textNoShape">
                <a:avLst/>
              </a:prstTxWarp>
            </a:bodyPr>
            <a:lstStyle/>
            <a:p>
              <a:pPr algn="ctr" defTabSz="913686"/>
              <a:r>
                <a:rPr lang="he-IL" sz="2000" b="1" dirty="0">
                  <a:solidFill>
                    <a:srgbClr val="FFFFFF"/>
                  </a:solidFill>
                  <a:latin typeface="Calibri" panose="020F0502020204030204" pitchFamily="34" charset="0"/>
                  <a:cs typeface="Calibri" panose="020F0502020204030204" pitchFamily="34" charset="0"/>
                </a:rPr>
                <a:t>תשתית נתונים</a:t>
              </a:r>
              <a:endParaRPr lang="en-US" sz="2000" b="1" dirty="0">
                <a:solidFill>
                  <a:srgbClr val="FFFFFF"/>
                </a:solidFill>
                <a:latin typeface="Calibri" panose="020F0502020204030204" pitchFamily="34" charset="0"/>
                <a:cs typeface="Calibri" panose="020F0502020204030204" pitchFamily="34" charset="0"/>
              </a:endParaRPr>
            </a:p>
          </p:txBody>
        </p:sp>
        <p:sp>
          <p:nvSpPr>
            <p:cNvPr id="25" name="Freeform 118">
              <a:extLst>
                <a:ext uri="{FF2B5EF4-FFF2-40B4-BE49-F238E27FC236}">
                  <a16:creationId xmlns:a16="http://schemas.microsoft.com/office/drawing/2014/main" id="{3E1193BD-58A8-4CB0-8C85-52A0633968F6}"/>
                </a:ext>
              </a:extLst>
            </p:cNvPr>
            <p:cNvSpPr>
              <a:spLocks/>
            </p:cNvSpPr>
            <p:nvPr/>
          </p:nvSpPr>
          <p:spPr bwMode="gray">
            <a:xfrm rot="107936" flipH="1">
              <a:off x="3380876" y="3782327"/>
              <a:ext cx="1503328"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3"/>
            </a:solidFill>
            <a:ln>
              <a:noFill/>
              <a:headEnd/>
              <a:tailEnd/>
            </a:ln>
            <a:effectLst/>
          </p:spPr>
          <p:style>
            <a:lnRef idx="3">
              <a:schemeClr val="lt1"/>
            </a:lnRef>
            <a:fillRef idx="1">
              <a:schemeClr val="accent6"/>
            </a:fillRef>
            <a:effectRef idx="1">
              <a:schemeClr val="accent6"/>
            </a:effectRef>
            <a:fontRef idx="minor">
              <a:schemeClr val="lt1"/>
            </a:fontRef>
          </p:style>
          <p:txBody>
            <a:bodyPr vert="horz" wrap="square" lIns="44450" tIns="274320" rIns="44450" bIns="44450" numCol="1" anchor="ctr" anchorCtr="0" compatLnSpc="1">
              <a:prstTxWarp prst="textNoShape">
                <a:avLst/>
              </a:prstTxWarp>
            </a:bodyPr>
            <a:lstStyle/>
            <a:p>
              <a:pPr algn="ctr" defTabSz="913686"/>
              <a:r>
                <a:rPr lang="he-IL" sz="2000" b="1" dirty="0" err="1">
                  <a:solidFill>
                    <a:srgbClr val="FFFFFF"/>
                  </a:solidFill>
                  <a:latin typeface="Calibri" panose="020F0502020204030204" pitchFamily="34" charset="0"/>
                  <a:cs typeface="Calibri" panose="020F0502020204030204" pitchFamily="34" charset="0"/>
                </a:rPr>
                <a:t>הנגשת</a:t>
              </a:r>
              <a:r>
                <a:rPr lang="he-IL" sz="2000" b="1" dirty="0">
                  <a:solidFill>
                    <a:srgbClr val="FFFFFF"/>
                  </a:solidFill>
                  <a:latin typeface="Calibri" panose="020F0502020204030204" pitchFamily="34" charset="0"/>
                  <a:cs typeface="Calibri" panose="020F0502020204030204" pitchFamily="34" charset="0"/>
                </a:rPr>
                <a:t> תוצרי נתונים </a:t>
              </a:r>
              <a:endParaRPr lang="en-US" sz="2000" b="1" dirty="0">
                <a:solidFill>
                  <a:srgbClr val="FFFFFF"/>
                </a:solidFill>
                <a:latin typeface="Calibri" panose="020F0502020204030204" pitchFamily="34" charset="0"/>
                <a:cs typeface="Calibri" panose="020F0502020204030204" pitchFamily="34" charset="0"/>
              </a:endParaRPr>
            </a:p>
          </p:txBody>
        </p:sp>
        <p:sp>
          <p:nvSpPr>
            <p:cNvPr id="28" name="Freeform 7">
              <a:extLst>
                <a:ext uri="{FF2B5EF4-FFF2-40B4-BE49-F238E27FC236}">
                  <a16:creationId xmlns:a16="http://schemas.microsoft.com/office/drawing/2014/main" id="{1046D0AB-6A9C-4FC4-99BB-D86F43C15C04}"/>
                </a:ext>
              </a:extLst>
            </p:cNvPr>
            <p:cNvSpPr>
              <a:spLocks/>
            </p:cNvSpPr>
            <p:nvPr/>
          </p:nvSpPr>
          <p:spPr bwMode="gray">
            <a:xfrm rot="107936" flipH="1">
              <a:off x="1663504" y="3736349"/>
              <a:ext cx="1478981" cy="1493739"/>
            </a:xfrm>
            <a:custGeom>
              <a:avLst/>
              <a:gdLst/>
              <a:ahLst/>
              <a:cxnLst>
                <a:cxn ang="0">
                  <a:pos x="232" y="1261"/>
                </a:cxn>
                <a:cxn ang="0">
                  <a:pos x="213" y="1318"/>
                </a:cxn>
                <a:cxn ang="0">
                  <a:pos x="242" y="1353"/>
                </a:cxn>
                <a:cxn ang="0">
                  <a:pos x="309" y="1389"/>
                </a:cxn>
                <a:cxn ang="0">
                  <a:pos x="520" y="1407"/>
                </a:cxn>
                <a:cxn ang="0">
                  <a:pos x="514" y="1485"/>
                </a:cxn>
                <a:cxn ang="0">
                  <a:pos x="539" y="1527"/>
                </a:cxn>
                <a:cxn ang="0">
                  <a:pos x="591" y="1541"/>
                </a:cxn>
                <a:cxn ang="0">
                  <a:pos x="654" y="1526"/>
                </a:cxn>
                <a:cxn ang="0">
                  <a:pos x="850" y="1476"/>
                </a:cxn>
                <a:cxn ang="0">
                  <a:pos x="883" y="1543"/>
                </a:cxn>
                <a:cxn ang="0">
                  <a:pos x="925" y="1552"/>
                </a:cxn>
                <a:cxn ang="0">
                  <a:pos x="998" y="1529"/>
                </a:cxn>
                <a:cxn ang="0">
                  <a:pos x="1136" y="1341"/>
                </a:cxn>
                <a:cxn ang="0">
                  <a:pos x="1186" y="1384"/>
                </a:cxn>
                <a:cxn ang="0">
                  <a:pos x="1242" y="1410"/>
                </a:cxn>
                <a:cxn ang="0">
                  <a:pos x="1278" y="1387"/>
                </a:cxn>
                <a:cxn ang="0">
                  <a:pos x="1324" y="1324"/>
                </a:cxn>
                <a:cxn ang="0">
                  <a:pos x="1368" y="1115"/>
                </a:cxn>
                <a:cxn ang="0">
                  <a:pos x="1443" y="1132"/>
                </a:cxn>
                <a:cxn ang="0">
                  <a:pos x="1489" y="1113"/>
                </a:cxn>
                <a:cxn ang="0">
                  <a:pos x="1507" y="1073"/>
                </a:cxn>
                <a:cxn ang="0">
                  <a:pos x="1507" y="1002"/>
                </a:cxn>
                <a:cxn ang="0">
                  <a:pos x="1457" y="802"/>
                </a:cxn>
                <a:cxn ang="0">
                  <a:pos x="1534" y="781"/>
                </a:cxn>
                <a:cxn ang="0">
                  <a:pos x="1560" y="742"/>
                </a:cxn>
                <a:cxn ang="0">
                  <a:pos x="1557" y="689"/>
                </a:cxn>
                <a:cxn ang="0">
                  <a:pos x="1520" y="637"/>
                </a:cxn>
                <a:cxn ang="0">
                  <a:pos x="1403" y="472"/>
                </a:cxn>
                <a:cxn ang="0">
                  <a:pos x="1455" y="418"/>
                </a:cxn>
                <a:cxn ang="0">
                  <a:pos x="1449" y="374"/>
                </a:cxn>
                <a:cxn ang="0">
                  <a:pos x="1403" y="316"/>
                </a:cxn>
                <a:cxn ang="0">
                  <a:pos x="1282" y="351"/>
                </a:cxn>
                <a:cxn ang="0">
                  <a:pos x="1194" y="197"/>
                </a:cxn>
                <a:cxn ang="0">
                  <a:pos x="1201" y="132"/>
                </a:cxn>
                <a:cxn ang="0">
                  <a:pos x="1176" y="107"/>
                </a:cxn>
                <a:cxn ang="0">
                  <a:pos x="1105" y="80"/>
                </a:cxn>
                <a:cxn ang="0">
                  <a:pos x="881" y="124"/>
                </a:cxn>
                <a:cxn ang="0">
                  <a:pos x="871" y="53"/>
                </a:cxn>
                <a:cxn ang="0">
                  <a:pos x="841" y="5"/>
                </a:cxn>
                <a:cxn ang="0">
                  <a:pos x="798" y="0"/>
                </a:cxn>
                <a:cxn ang="0">
                  <a:pos x="727" y="21"/>
                </a:cxn>
                <a:cxn ang="0">
                  <a:pos x="554" y="140"/>
                </a:cxn>
                <a:cxn ang="0">
                  <a:pos x="508" y="78"/>
                </a:cxn>
                <a:cxn ang="0">
                  <a:pos x="462" y="67"/>
                </a:cxn>
                <a:cxn ang="0">
                  <a:pos x="403" y="98"/>
                </a:cxn>
                <a:cxn ang="0">
                  <a:pos x="380" y="149"/>
                </a:cxn>
                <a:cxn ang="0">
                  <a:pos x="263" y="309"/>
                </a:cxn>
                <a:cxn ang="0">
                  <a:pos x="194" y="284"/>
                </a:cxn>
                <a:cxn ang="0">
                  <a:pos x="157" y="307"/>
                </a:cxn>
                <a:cxn ang="0">
                  <a:pos x="119" y="372"/>
                </a:cxn>
                <a:cxn ang="0">
                  <a:pos x="142" y="602"/>
                </a:cxn>
                <a:cxn ang="0">
                  <a:pos x="75" y="604"/>
                </a:cxn>
                <a:cxn ang="0">
                  <a:pos x="17" y="622"/>
                </a:cxn>
                <a:cxn ang="0">
                  <a:pos x="4" y="664"/>
                </a:cxn>
                <a:cxn ang="0">
                  <a:pos x="13" y="741"/>
                </a:cxn>
                <a:cxn ang="0">
                  <a:pos x="119" y="927"/>
                </a:cxn>
                <a:cxn ang="0">
                  <a:pos x="50" y="963"/>
                </a:cxn>
                <a:cxn ang="0">
                  <a:pos x="28" y="1007"/>
                </a:cxn>
                <a:cxn ang="0">
                  <a:pos x="46" y="1057"/>
                </a:cxn>
                <a:cxn ang="0">
                  <a:pos x="92" y="1103"/>
                </a:cxn>
              </a:cxnLst>
              <a:rect l="0" t="0" r="r" b="b"/>
              <a:pathLst>
                <a:path w="1562" h="1554">
                  <a:moveTo>
                    <a:pt x="268" y="1205"/>
                  </a:moveTo>
                  <a:lnTo>
                    <a:pt x="267" y="1207"/>
                  </a:lnTo>
                  <a:lnTo>
                    <a:pt x="265" y="1209"/>
                  </a:lnTo>
                  <a:lnTo>
                    <a:pt x="265" y="1211"/>
                  </a:lnTo>
                  <a:lnTo>
                    <a:pt x="263" y="1213"/>
                  </a:lnTo>
                  <a:lnTo>
                    <a:pt x="263" y="1215"/>
                  </a:lnTo>
                  <a:lnTo>
                    <a:pt x="261" y="1217"/>
                  </a:lnTo>
                  <a:lnTo>
                    <a:pt x="259" y="1218"/>
                  </a:lnTo>
                  <a:lnTo>
                    <a:pt x="257" y="1220"/>
                  </a:lnTo>
                  <a:lnTo>
                    <a:pt x="255" y="1224"/>
                  </a:lnTo>
                  <a:lnTo>
                    <a:pt x="253" y="1226"/>
                  </a:lnTo>
                  <a:lnTo>
                    <a:pt x="251" y="1228"/>
                  </a:lnTo>
                  <a:lnTo>
                    <a:pt x="249" y="1232"/>
                  </a:lnTo>
                  <a:lnTo>
                    <a:pt x="247" y="1236"/>
                  </a:lnTo>
                  <a:lnTo>
                    <a:pt x="245" y="1238"/>
                  </a:lnTo>
                  <a:lnTo>
                    <a:pt x="243" y="1241"/>
                  </a:lnTo>
                  <a:lnTo>
                    <a:pt x="242" y="1243"/>
                  </a:lnTo>
                  <a:lnTo>
                    <a:pt x="240" y="1247"/>
                  </a:lnTo>
                  <a:lnTo>
                    <a:pt x="238" y="1251"/>
                  </a:lnTo>
                  <a:lnTo>
                    <a:pt x="236" y="1253"/>
                  </a:lnTo>
                  <a:lnTo>
                    <a:pt x="234" y="1257"/>
                  </a:lnTo>
                  <a:lnTo>
                    <a:pt x="232" y="1261"/>
                  </a:lnTo>
                  <a:lnTo>
                    <a:pt x="230" y="1265"/>
                  </a:lnTo>
                  <a:lnTo>
                    <a:pt x="226" y="1266"/>
                  </a:lnTo>
                  <a:lnTo>
                    <a:pt x="224" y="1270"/>
                  </a:lnTo>
                  <a:lnTo>
                    <a:pt x="222" y="1274"/>
                  </a:lnTo>
                  <a:lnTo>
                    <a:pt x="220" y="1276"/>
                  </a:lnTo>
                  <a:lnTo>
                    <a:pt x="220" y="1280"/>
                  </a:lnTo>
                  <a:lnTo>
                    <a:pt x="219" y="1282"/>
                  </a:lnTo>
                  <a:lnTo>
                    <a:pt x="217" y="1286"/>
                  </a:lnTo>
                  <a:lnTo>
                    <a:pt x="215" y="1288"/>
                  </a:lnTo>
                  <a:lnTo>
                    <a:pt x="213" y="1289"/>
                  </a:lnTo>
                  <a:lnTo>
                    <a:pt x="213" y="1293"/>
                  </a:lnTo>
                  <a:lnTo>
                    <a:pt x="213" y="1295"/>
                  </a:lnTo>
                  <a:lnTo>
                    <a:pt x="211" y="1299"/>
                  </a:lnTo>
                  <a:lnTo>
                    <a:pt x="211" y="1301"/>
                  </a:lnTo>
                  <a:lnTo>
                    <a:pt x="211" y="1303"/>
                  </a:lnTo>
                  <a:lnTo>
                    <a:pt x="211" y="1305"/>
                  </a:lnTo>
                  <a:lnTo>
                    <a:pt x="211" y="1309"/>
                  </a:lnTo>
                  <a:lnTo>
                    <a:pt x="211" y="1311"/>
                  </a:lnTo>
                  <a:lnTo>
                    <a:pt x="211" y="1312"/>
                  </a:lnTo>
                  <a:lnTo>
                    <a:pt x="213" y="1314"/>
                  </a:lnTo>
                  <a:lnTo>
                    <a:pt x="213" y="1316"/>
                  </a:lnTo>
                  <a:lnTo>
                    <a:pt x="213" y="1318"/>
                  </a:lnTo>
                  <a:lnTo>
                    <a:pt x="215" y="1320"/>
                  </a:lnTo>
                  <a:lnTo>
                    <a:pt x="215" y="1322"/>
                  </a:lnTo>
                  <a:lnTo>
                    <a:pt x="215" y="1324"/>
                  </a:lnTo>
                  <a:lnTo>
                    <a:pt x="217" y="1326"/>
                  </a:lnTo>
                  <a:lnTo>
                    <a:pt x="217" y="1328"/>
                  </a:lnTo>
                  <a:lnTo>
                    <a:pt x="219" y="1330"/>
                  </a:lnTo>
                  <a:lnTo>
                    <a:pt x="219" y="1332"/>
                  </a:lnTo>
                  <a:lnTo>
                    <a:pt x="220" y="1334"/>
                  </a:lnTo>
                  <a:lnTo>
                    <a:pt x="222" y="1336"/>
                  </a:lnTo>
                  <a:lnTo>
                    <a:pt x="222" y="1337"/>
                  </a:lnTo>
                  <a:lnTo>
                    <a:pt x="224" y="1337"/>
                  </a:lnTo>
                  <a:lnTo>
                    <a:pt x="224" y="1339"/>
                  </a:lnTo>
                  <a:lnTo>
                    <a:pt x="226" y="1339"/>
                  </a:lnTo>
                  <a:lnTo>
                    <a:pt x="226" y="1341"/>
                  </a:lnTo>
                  <a:lnTo>
                    <a:pt x="228" y="1341"/>
                  </a:lnTo>
                  <a:lnTo>
                    <a:pt x="230" y="1343"/>
                  </a:lnTo>
                  <a:lnTo>
                    <a:pt x="232" y="1345"/>
                  </a:lnTo>
                  <a:lnTo>
                    <a:pt x="234" y="1345"/>
                  </a:lnTo>
                  <a:lnTo>
                    <a:pt x="236" y="1347"/>
                  </a:lnTo>
                  <a:lnTo>
                    <a:pt x="236" y="1349"/>
                  </a:lnTo>
                  <a:lnTo>
                    <a:pt x="238" y="1351"/>
                  </a:lnTo>
                  <a:lnTo>
                    <a:pt x="242" y="1353"/>
                  </a:lnTo>
                  <a:lnTo>
                    <a:pt x="243" y="1355"/>
                  </a:lnTo>
                  <a:lnTo>
                    <a:pt x="245" y="1357"/>
                  </a:lnTo>
                  <a:lnTo>
                    <a:pt x="247" y="1359"/>
                  </a:lnTo>
                  <a:lnTo>
                    <a:pt x="251" y="1360"/>
                  </a:lnTo>
                  <a:lnTo>
                    <a:pt x="253" y="1362"/>
                  </a:lnTo>
                  <a:lnTo>
                    <a:pt x="257" y="1366"/>
                  </a:lnTo>
                  <a:lnTo>
                    <a:pt x="261" y="1368"/>
                  </a:lnTo>
                  <a:lnTo>
                    <a:pt x="265" y="1372"/>
                  </a:lnTo>
                  <a:lnTo>
                    <a:pt x="268" y="1376"/>
                  </a:lnTo>
                  <a:lnTo>
                    <a:pt x="272" y="1378"/>
                  </a:lnTo>
                  <a:lnTo>
                    <a:pt x="274" y="1380"/>
                  </a:lnTo>
                  <a:lnTo>
                    <a:pt x="278" y="1384"/>
                  </a:lnTo>
                  <a:lnTo>
                    <a:pt x="282" y="1384"/>
                  </a:lnTo>
                  <a:lnTo>
                    <a:pt x="286" y="1385"/>
                  </a:lnTo>
                  <a:lnTo>
                    <a:pt x="288" y="1387"/>
                  </a:lnTo>
                  <a:lnTo>
                    <a:pt x="291" y="1387"/>
                  </a:lnTo>
                  <a:lnTo>
                    <a:pt x="295" y="1389"/>
                  </a:lnTo>
                  <a:lnTo>
                    <a:pt x="297" y="1389"/>
                  </a:lnTo>
                  <a:lnTo>
                    <a:pt x="301" y="1389"/>
                  </a:lnTo>
                  <a:lnTo>
                    <a:pt x="303" y="1389"/>
                  </a:lnTo>
                  <a:lnTo>
                    <a:pt x="305" y="1389"/>
                  </a:lnTo>
                  <a:lnTo>
                    <a:pt x="309" y="1389"/>
                  </a:lnTo>
                  <a:lnTo>
                    <a:pt x="311" y="1389"/>
                  </a:lnTo>
                  <a:lnTo>
                    <a:pt x="313" y="1387"/>
                  </a:lnTo>
                  <a:lnTo>
                    <a:pt x="315" y="1387"/>
                  </a:lnTo>
                  <a:lnTo>
                    <a:pt x="316" y="1387"/>
                  </a:lnTo>
                  <a:lnTo>
                    <a:pt x="318" y="1385"/>
                  </a:lnTo>
                  <a:lnTo>
                    <a:pt x="320" y="1385"/>
                  </a:lnTo>
                  <a:lnTo>
                    <a:pt x="322" y="1384"/>
                  </a:lnTo>
                  <a:lnTo>
                    <a:pt x="324" y="1384"/>
                  </a:lnTo>
                  <a:lnTo>
                    <a:pt x="326" y="1382"/>
                  </a:lnTo>
                  <a:lnTo>
                    <a:pt x="328" y="1380"/>
                  </a:lnTo>
                  <a:lnTo>
                    <a:pt x="330" y="1378"/>
                  </a:lnTo>
                  <a:lnTo>
                    <a:pt x="332" y="1378"/>
                  </a:lnTo>
                  <a:lnTo>
                    <a:pt x="332" y="1376"/>
                  </a:lnTo>
                  <a:lnTo>
                    <a:pt x="393" y="1324"/>
                  </a:lnTo>
                  <a:lnTo>
                    <a:pt x="522" y="1393"/>
                  </a:lnTo>
                  <a:lnTo>
                    <a:pt x="522" y="1395"/>
                  </a:lnTo>
                  <a:lnTo>
                    <a:pt x="522" y="1397"/>
                  </a:lnTo>
                  <a:lnTo>
                    <a:pt x="522" y="1399"/>
                  </a:lnTo>
                  <a:lnTo>
                    <a:pt x="522" y="1401"/>
                  </a:lnTo>
                  <a:lnTo>
                    <a:pt x="522" y="1403"/>
                  </a:lnTo>
                  <a:lnTo>
                    <a:pt x="522" y="1405"/>
                  </a:lnTo>
                  <a:lnTo>
                    <a:pt x="520" y="1407"/>
                  </a:lnTo>
                  <a:lnTo>
                    <a:pt x="520" y="1410"/>
                  </a:lnTo>
                  <a:lnTo>
                    <a:pt x="520" y="1412"/>
                  </a:lnTo>
                  <a:lnTo>
                    <a:pt x="520" y="1416"/>
                  </a:lnTo>
                  <a:lnTo>
                    <a:pt x="520" y="1418"/>
                  </a:lnTo>
                  <a:lnTo>
                    <a:pt x="520" y="1422"/>
                  </a:lnTo>
                  <a:lnTo>
                    <a:pt x="518" y="1426"/>
                  </a:lnTo>
                  <a:lnTo>
                    <a:pt x="518" y="1430"/>
                  </a:lnTo>
                  <a:lnTo>
                    <a:pt x="518" y="1433"/>
                  </a:lnTo>
                  <a:lnTo>
                    <a:pt x="518" y="1437"/>
                  </a:lnTo>
                  <a:lnTo>
                    <a:pt x="518" y="1441"/>
                  </a:lnTo>
                  <a:lnTo>
                    <a:pt x="516" y="1445"/>
                  </a:lnTo>
                  <a:lnTo>
                    <a:pt x="516" y="1449"/>
                  </a:lnTo>
                  <a:lnTo>
                    <a:pt x="516" y="1453"/>
                  </a:lnTo>
                  <a:lnTo>
                    <a:pt x="516" y="1456"/>
                  </a:lnTo>
                  <a:lnTo>
                    <a:pt x="516" y="1460"/>
                  </a:lnTo>
                  <a:lnTo>
                    <a:pt x="514" y="1464"/>
                  </a:lnTo>
                  <a:lnTo>
                    <a:pt x="514" y="1466"/>
                  </a:lnTo>
                  <a:lnTo>
                    <a:pt x="514" y="1470"/>
                  </a:lnTo>
                  <a:lnTo>
                    <a:pt x="514" y="1474"/>
                  </a:lnTo>
                  <a:lnTo>
                    <a:pt x="514" y="1478"/>
                  </a:lnTo>
                  <a:lnTo>
                    <a:pt x="514" y="1481"/>
                  </a:lnTo>
                  <a:lnTo>
                    <a:pt x="514" y="1485"/>
                  </a:lnTo>
                  <a:lnTo>
                    <a:pt x="514" y="1487"/>
                  </a:lnTo>
                  <a:lnTo>
                    <a:pt x="514" y="1491"/>
                  </a:lnTo>
                  <a:lnTo>
                    <a:pt x="514" y="1493"/>
                  </a:lnTo>
                  <a:lnTo>
                    <a:pt x="514" y="1497"/>
                  </a:lnTo>
                  <a:lnTo>
                    <a:pt x="514" y="1499"/>
                  </a:lnTo>
                  <a:lnTo>
                    <a:pt x="516" y="1501"/>
                  </a:lnTo>
                  <a:lnTo>
                    <a:pt x="516" y="1504"/>
                  </a:lnTo>
                  <a:lnTo>
                    <a:pt x="518" y="1506"/>
                  </a:lnTo>
                  <a:lnTo>
                    <a:pt x="520" y="1508"/>
                  </a:lnTo>
                  <a:lnTo>
                    <a:pt x="520" y="1510"/>
                  </a:lnTo>
                  <a:lnTo>
                    <a:pt x="522" y="1512"/>
                  </a:lnTo>
                  <a:lnTo>
                    <a:pt x="524" y="1514"/>
                  </a:lnTo>
                  <a:lnTo>
                    <a:pt x="524" y="1516"/>
                  </a:lnTo>
                  <a:lnTo>
                    <a:pt x="526" y="1518"/>
                  </a:lnTo>
                  <a:lnTo>
                    <a:pt x="528" y="1520"/>
                  </a:lnTo>
                  <a:lnTo>
                    <a:pt x="530" y="1520"/>
                  </a:lnTo>
                  <a:lnTo>
                    <a:pt x="530" y="1522"/>
                  </a:lnTo>
                  <a:lnTo>
                    <a:pt x="531" y="1524"/>
                  </a:lnTo>
                  <a:lnTo>
                    <a:pt x="533" y="1524"/>
                  </a:lnTo>
                  <a:lnTo>
                    <a:pt x="535" y="1526"/>
                  </a:lnTo>
                  <a:lnTo>
                    <a:pt x="537" y="1527"/>
                  </a:lnTo>
                  <a:lnTo>
                    <a:pt x="539" y="1527"/>
                  </a:lnTo>
                  <a:lnTo>
                    <a:pt x="541" y="1529"/>
                  </a:lnTo>
                  <a:lnTo>
                    <a:pt x="543" y="1529"/>
                  </a:lnTo>
                  <a:lnTo>
                    <a:pt x="545" y="1529"/>
                  </a:lnTo>
                  <a:lnTo>
                    <a:pt x="545" y="1531"/>
                  </a:lnTo>
                  <a:lnTo>
                    <a:pt x="547" y="1531"/>
                  </a:lnTo>
                  <a:lnTo>
                    <a:pt x="549" y="1531"/>
                  </a:lnTo>
                  <a:lnTo>
                    <a:pt x="551" y="1531"/>
                  </a:lnTo>
                  <a:lnTo>
                    <a:pt x="553" y="1533"/>
                  </a:lnTo>
                  <a:lnTo>
                    <a:pt x="554" y="1533"/>
                  </a:lnTo>
                  <a:lnTo>
                    <a:pt x="556" y="1533"/>
                  </a:lnTo>
                  <a:lnTo>
                    <a:pt x="558" y="1533"/>
                  </a:lnTo>
                  <a:lnTo>
                    <a:pt x="560" y="1533"/>
                  </a:lnTo>
                  <a:lnTo>
                    <a:pt x="562" y="1535"/>
                  </a:lnTo>
                  <a:lnTo>
                    <a:pt x="564" y="1535"/>
                  </a:lnTo>
                  <a:lnTo>
                    <a:pt x="566" y="1535"/>
                  </a:lnTo>
                  <a:lnTo>
                    <a:pt x="570" y="1537"/>
                  </a:lnTo>
                  <a:lnTo>
                    <a:pt x="572" y="1537"/>
                  </a:lnTo>
                  <a:lnTo>
                    <a:pt x="576" y="1537"/>
                  </a:lnTo>
                  <a:lnTo>
                    <a:pt x="579" y="1539"/>
                  </a:lnTo>
                  <a:lnTo>
                    <a:pt x="583" y="1539"/>
                  </a:lnTo>
                  <a:lnTo>
                    <a:pt x="587" y="1541"/>
                  </a:lnTo>
                  <a:lnTo>
                    <a:pt x="591" y="1541"/>
                  </a:lnTo>
                  <a:lnTo>
                    <a:pt x="597" y="1543"/>
                  </a:lnTo>
                  <a:lnTo>
                    <a:pt x="601" y="1543"/>
                  </a:lnTo>
                  <a:lnTo>
                    <a:pt x="604" y="1545"/>
                  </a:lnTo>
                  <a:lnTo>
                    <a:pt x="610" y="1545"/>
                  </a:lnTo>
                  <a:lnTo>
                    <a:pt x="614" y="1545"/>
                  </a:lnTo>
                  <a:lnTo>
                    <a:pt x="618" y="1545"/>
                  </a:lnTo>
                  <a:lnTo>
                    <a:pt x="622" y="1545"/>
                  </a:lnTo>
                  <a:lnTo>
                    <a:pt x="624" y="1545"/>
                  </a:lnTo>
                  <a:lnTo>
                    <a:pt x="627" y="1545"/>
                  </a:lnTo>
                  <a:lnTo>
                    <a:pt x="631" y="1543"/>
                  </a:lnTo>
                  <a:lnTo>
                    <a:pt x="633" y="1543"/>
                  </a:lnTo>
                  <a:lnTo>
                    <a:pt x="637" y="1541"/>
                  </a:lnTo>
                  <a:lnTo>
                    <a:pt x="639" y="1539"/>
                  </a:lnTo>
                  <a:lnTo>
                    <a:pt x="641" y="1539"/>
                  </a:lnTo>
                  <a:lnTo>
                    <a:pt x="643" y="1537"/>
                  </a:lnTo>
                  <a:lnTo>
                    <a:pt x="645" y="1535"/>
                  </a:lnTo>
                  <a:lnTo>
                    <a:pt x="647" y="1533"/>
                  </a:lnTo>
                  <a:lnTo>
                    <a:pt x="649" y="1533"/>
                  </a:lnTo>
                  <a:lnTo>
                    <a:pt x="650" y="1531"/>
                  </a:lnTo>
                  <a:lnTo>
                    <a:pt x="650" y="1529"/>
                  </a:lnTo>
                  <a:lnTo>
                    <a:pt x="652" y="1527"/>
                  </a:lnTo>
                  <a:lnTo>
                    <a:pt x="654" y="1526"/>
                  </a:lnTo>
                  <a:lnTo>
                    <a:pt x="654" y="1524"/>
                  </a:lnTo>
                  <a:lnTo>
                    <a:pt x="656" y="1524"/>
                  </a:lnTo>
                  <a:lnTo>
                    <a:pt x="656" y="1522"/>
                  </a:lnTo>
                  <a:lnTo>
                    <a:pt x="656" y="1520"/>
                  </a:lnTo>
                  <a:lnTo>
                    <a:pt x="658" y="1520"/>
                  </a:lnTo>
                  <a:lnTo>
                    <a:pt x="658" y="1518"/>
                  </a:lnTo>
                  <a:lnTo>
                    <a:pt x="658" y="1516"/>
                  </a:lnTo>
                  <a:lnTo>
                    <a:pt x="691" y="1441"/>
                  </a:lnTo>
                  <a:lnTo>
                    <a:pt x="837" y="1443"/>
                  </a:lnTo>
                  <a:lnTo>
                    <a:pt x="837" y="1445"/>
                  </a:lnTo>
                  <a:lnTo>
                    <a:pt x="839" y="1447"/>
                  </a:lnTo>
                  <a:lnTo>
                    <a:pt x="839" y="1449"/>
                  </a:lnTo>
                  <a:lnTo>
                    <a:pt x="841" y="1451"/>
                  </a:lnTo>
                  <a:lnTo>
                    <a:pt x="841" y="1453"/>
                  </a:lnTo>
                  <a:lnTo>
                    <a:pt x="842" y="1456"/>
                  </a:lnTo>
                  <a:lnTo>
                    <a:pt x="842" y="1458"/>
                  </a:lnTo>
                  <a:lnTo>
                    <a:pt x="844" y="1460"/>
                  </a:lnTo>
                  <a:lnTo>
                    <a:pt x="844" y="1464"/>
                  </a:lnTo>
                  <a:lnTo>
                    <a:pt x="846" y="1466"/>
                  </a:lnTo>
                  <a:lnTo>
                    <a:pt x="846" y="1470"/>
                  </a:lnTo>
                  <a:lnTo>
                    <a:pt x="848" y="1472"/>
                  </a:lnTo>
                  <a:lnTo>
                    <a:pt x="850" y="1476"/>
                  </a:lnTo>
                  <a:lnTo>
                    <a:pt x="850" y="1479"/>
                  </a:lnTo>
                  <a:lnTo>
                    <a:pt x="852" y="1483"/>
                  </a:lnTo>
                  <a:lnTo>
                    <a:pt x="854" y="1485"/>
                  </a:lnTo>
                  <a:lnTo>
                    <a:pt x="856" y="1489"/>
                  </a:lnTo>
                  <a:lnTo>
                    <a:pt x="856" y="1493"/>
                  </a:lnTo>
                  <a:lnTo>
                    <a:pt x="858" y="1497"/>
                  </a:lnTo>
                  <a:lnTo>
                    <a:pt x="860" y="1501"/>
                  </a:lnTo>
                  <a:lnTo>
                    <a:pt x="862" y="1503"/>
                  </a:lnTo>
                  <a:lnTo>
                    <a:pt x="862" y="1506"/>
                  </a:lnTo>
                  <a:lnTo>
                    <a:pt x="864" y="1510"/>
                  </a:lnTo>
                  <a:lnTo>
                    <a:pt x="865" y="1514"/>
                  </a:lnTo>
                  <a:lnTo>
                    <a:pt x="867" y="1516"/>
                  </a:lnTo>
                  <a:lnTo>
                    <a:pt x="867" y="1520"/>
                  </a:lnTo>
                  <a:lnTo>
                    <a:pt x="869" y="1524"/>
                  </a:lnTo>
                  <a:lnTo>
                    <a:pt x="871" y="1526"/>
                  </a:lnTo>
                  <a:lnTo>
                    <a:pt x="873" y="1529"/>
                  </a:lnTo>
                  <a:lnTo>
                    <a:pt x="873" y="1531"/>
                  </a:lnTo>
                  <a:lnTo>
                    <a:pt x="875" y="1533"/>
                  </a:lnTo>
                  <a:lnTo>
                    <a:pt x="877" y="1537"/>
                  </a:lnTo>
                  <a:lnTo>
                    <a:pt x="879" y="1539"/>
                  </a:lnTo>
                  <a:lnTo>
                    <a:pt x="881" y="1541"/>
                  </a:lnTo>
                  <a:lnTo>
                    <a:pt x="883" y="1543"/>
                  </a:lnTo>
                  <a:lnTo>
                    <a:pt x="885" y="1545"/>
                  </a:lnTo>
                  <a:lnTo>
                    <a:pt x="887" y="1545"/>
                  </a:lnTo>
                  <a:lnTo>
                    <a:pt x="889" y="1547"/>
                  </a:lnTo>
                  <a:lnTo>
                    <a:pt x="890" y="1549"/>
                  </a:lnTo>
                  <a:lnTo>
                    <a:pt x="892" y="1549"/>
                  </a:lnTo>
                  <a:lnTo>
                    <a:pt x="894" y="1550"/>
                  </a:lnTo>
                  <a:lnTo>
                    <a:pt x="896" y="1550"/>
                  </a:lnTo>
                  <a:lnTo>
                    <a:pt x="898" y="1550"/>
                  </a:lnTo>
                  <a:lnTo>
                    <a:pt x="900" y="1552"/>
                  </a:lnTo>
                  <a:lnTo>
                    <a:pt x="902" y="1552"/>
                  </a:lnTo>
                  <a:lnTo>
                    <a:pt x="904" y="1552"/>
                  </a:lnTo>
                  <a:lnTo>
                    <a:pt x="906" y="1552"/>
                  </a:lnTo>
                  <a:lnTo>
                    <a:pt x="908" y="1552"/>
                  </a:lnTo>
                  <a:lnTo>
                    <a:pt x="910" y="1552"/>
                  </a:lnTo>
                  <a:lnTo>
                    <a:pt x="912" y="1552"/>
                  </a:lnTo>
                  <a:lnTo>
                    <a:pt x="913" y="1554"/>
                  </a:lnTo>
                  <a:lnTo>
                    <a:pt x="915" y="1552"/>
                  </a:lnTo>
                  <a:lnTo>
                    <a:pt x="917" y="1552"/>
                  </a:lnTo>
                  <a:lnTo>
                    <a:pt x="919" y="1552"/>
                  </a:lnTo>
                  <a:lnTo>
                    <a:pt x="921" y="1552"/>
                  </a:lnTo>
                  <a:lnTo>
                    <a:pt x="923" y="1552"/>
                  </a:lnTo>
                  <a:lnTo>
                    <a:pt x="925" y="1552"/>
                  </a:lnTo>
                  <a:lnTo>
                    <a:pt x="927" y="1550"/>
                  </a:lnTo>
                  <a:lnTo>
                    <a:pt x="929" y="1550"/>
                  </a:lnTo>
                  <a:lnTo>
                    <a:pt x="931" y="1550"/>
                  </a:lnTo>
                  <a:lnTo>
                    <a:pt x="935" y="1550"/>
                  </a:lnTo>
                  <a:lnTo>
                    <a:pt x="936" y="1549"/>
                  </a:lnTo>
                  <a:lnTo>
                    <a:pt x="938" y="1549"/>
                  </a:lnTo>
                  <a:lnTo>
                    <a:pt x="940" y="1549"/>
                  </a:lnTo>
                  <a:lnTo>
                    <a:pt x="944" y="1547"/>
                  </a:lnTo>
                  <a:lnTo>
                    <a:pt x="946" y="1547"/>
                  </a:lnTo>
                  <a:lnTo>
                    <a:pt x="950" y="1547"/>
                  </a:lnTo>
                  <a:lnTo>
                    <a:pt x="954" y="1545"/>
                  </a:lnTo>
                  <a:lnTo>
                    <a:pt x="958" y="1545"/>
                  </a:lnTo>
                  <a:lnTo>
                    <a:pt x="961" y="1543"/>
                  </a:lnTo>
                  <a:lnTo>
                    <a:pt x="965" y="1543"/>
                  </a:lnTo>
                  <a:lnTo>
                    <a:pt x="971" y="1541"/>
                  </a:lnTo>
                  <a:lnTo>
                    <a:pt x="975" y="1539"/>
                  </a:lnTo>
                  <a:lnTo>
                    <a:pt x="981" y="1539"/>
                  </a:lnTo>
                  <a:lnTo>
                    <a:pt x="984" y="1537"/>
                  </a:lnTo>
                  <a:lnTo>
                    <a:pt x="988" y="1535"/>
                  </a:lnTo>
                  <a:lnTo>
                    <a:pt x="990" y="1533"/>
                  </a:lnTo>
                  <a:lnTo>
                    <a:pt x="994" y="1531"/>
                  </a:lnTo>
                  <a:lnTo>
                    <a:pt x="998" y="1529"/>
                  </a:lnTo>
                  <a:lnTo>
                    <a:pt x="1000" y="1527"/>
                  </a:lnTo>
                  <a:lnTo>
                    <a:pt x="1002" y="1526"/>
                  </a:lnTo>
                  <a:lnTo>
                    <a:pt x="1004" y="1522"/>
                  </a:lnTo>
                  <a:lnTo>
                    <a:pt x="1006" y="1520"/>
                  </a:lnTo>
                  <a:lnTo>
                    <a:pt x="1008" y="1518"/>
                  </a:lnTo>
                  <a:lnTo>
                    <a:pt x="1009" y="1516"/>
                  </a:lnTo>
                  <a:lnTo>
                    <a:pt x="1009" y="1514"/>
                  </a:lnTo>
                  <a:lnTo>
                    <a:pt x="1011" y="1512"/>
                  </a:lnTo>
                  <a:lnTo>
                    <a:pt x="1011" y="1508"/>
                  </a:lnTo>
                  <a:lnTo>
                    <a:pt x="1011" y="1506"/>
                  </a:lnTo>
                  <a:lnTo>
                    <a:pt x="1013" y="1504"/>
                  </a:lnTo>
                  <a:lnTo>
                    <a:pt x="1013" y="1503"/>
                  </a:lnTo>
                  <a:lnTo>
                    <a:pt x="1013" y="1501"/>
                  </a:lnTo>
                  <a:lnTo>
                    <a:pt x="1013" y="1499"/>
                  </a:lnTo>
                  <a:lnTo>
                    <a:pt x="1013" y="1497"/>
                  </a:lnTo>
                  <a:lnTo>
                    <a:pt x="1013" y="1495"/>
                  </a:lnTo>
                  <a:lnTo>
                    <a:pt x="1013" y="1493"/>
                  </a:lnTo>
                  <a:lnTo>
                    <a:pt x="1013" y="1491"/>
                  </a:lnTo>
                  <a:lnTo>
                    <a:pt x="1013" y="1489"/>
                  </a:lnTo>
                  <a:lnTo>
                    <a:pt x="1013" y="1487"/>
                  </a:lnTo>
                  <a:lnTo>
                    <a:pt x="1006" y="1407"/>
                  </a:lnTo>
                  <a:lnTo>
                    <a:pt x="1136" y="1341"/>
                  </a:lnTo>
                  <a:lnTo>
                    <a:pt x="1138" y="1341"/>
                  </a:lnTo>
                  <a:lnTo>
                    <a:pt x="1138" y="1343"/>
                  </a:lnTo>
                  <a:lnTo>
                    <a:pt x="1140" y="1343"/>
                  </a:lnTo>
                  <a:lnTo>
                    <a:pt x="1142" y="1345"/>
                  </a:lnTo>
                  <a:lnTo>
                    <a:pt x="1142" y="1347"/>
                  </a:lnTo>
                  <a:lnTo>
                    <a:pt x="1144" y="1349"/>
                  </a:lnTo>
                  <a:lnTo>
                    <a:pt x="1146" y="1349"/>
                  </a:lnTo>
                  <a:lnTo>
                    <a:pt x="1148" y="1351"/>
                  </a:lnTo>
                  <a:lnTo>
                    <a:pt x="1152" y="1353"/>
                  </a:lnTo>
                  <a:lnTo>
                    <a:pt x="1153" y="1355"/>
                  </a:lnTo>
                  <a:lnTo>
                    <a:pt x="1155" y="1359"/>
                  </a:lnTo>
                  <a:lnTo>
                    <a:pt x="1157" y="1360"/>
                  </a:lnTo>
                  <a:lnTo>
                    <a:pt x="1161" y="1362"/>
                  </a:lnTo>
                  <a:lnTo>
                    <a:pt x="1163" y="1364"/>
                  </a:lnTo>
                  <a:lnTo>
                    <a:pt x="1167" y="1366"/>
                  </a:lnTo>
                  <a:lnTo>
                    <a:pt x="1169" y="1370"/>
                  </a:lnTo>
                  <a:lnTo>
                    <a:pt x="1173" y="1372"/>
                  </a:lnTo>
                  <a:lnTo>
                    <a:pt x="1175" y="1374"/>
                  </a:lnTo>
                  <a:lnTo>
                    <a:pt x="1178" y="1376"/>
                  </a:lnTo>
                  <a:lnTo>
                    <a:pt x="1180" y="1380"/>
                  </a:lnTo>
                  <a:lnTo>
                    <a:pt x="1184" y="1382"/>
                  </a:lnTo>
                  <a:lnTo>
                    <a:pt x="1186" y="1384"/>
                  </a:lnTo>
                  <a:lnTo>
                    <a:pt x="1190" y="1387"/>
                  </a:lnTo>
                  <a:lnTo>
                    <a:pt x="1192" y="1389"/>
                  </a:lnTo>
                  <a:lnTo>
                    <a:pt x="1196" y="1391"/>
                  </a:lnTo>
                  <a:lnTo>
                    <a:pt x="1198" y="1393"/>
                  </a:lnTo>
                  <a:lnTo>
                    <a:pt x="1201" y="1397"/>
                  </a:lnTo>
                  <a:lnTo>
                    <a:pt x="1203" y="1399"/>
                  </a:lnTo>
                  <a:lnTo>
                    <a:pt x="1205" y="1401"/>
                  </a:lnTo>
                  <a:lnTo>
                    <a:pt x="1209" y="1403"/>
                  </a:lnTo>
                  <a:lnTo>
                    <a:pt x="1211" y="1405"/>
                  </a:lnTo>
                  <a:lnTo>
                    <a:pt x="1213" y="1405"/>
                  </a:lnTo>
                  <a:lnTo>
                    <a:pt x="1217" y="1407"/>
                  </a:lnTo>
                  <a:lnTo>
                    <a:pt x="1219" y="1408"/>
                  </a:lnTo>
                  <a:lnTo>
                    <a:pt x="1221" y="1408"/>
                  </a:lnTo>
                  <a:lnTo>
                    <a:pt x="1224" y="1408"/>
                  </a:lnTo>
                  <a:lnTo>
                    <a:pt x="1226" y="1410"/>
                  </a:lnTo>
                  <a:lnTo>
                    <a:pt x="1228" y="1410"/>
                  </a:lnTo>
                  <a:lnTo>
                    <a:pt x="1230" y="1410"/>
                  </a:lnTo>
                  <a:lnTo>
                    <a:pt x="1232" y="1410"/>
                  </a:lnTo>
                  <a:lnTo>
                    <a:pt x="1236" y="1410"/>
                  </a:lnTo>
                  <a:lnTo>
                    <a:pt x="1238" y="1410"/>
                  </a:lnTo>
                  <a:lnTo>
                    <a:pt x="1240" y="1410"/>
                  </a:lnTo>
                  <a:lnTo>
                    <a:pt x="1242" y="1410"/>
                  </a:lnTo>
                  <a:lnTo>
                    <a:pt x="1244" y="1408"/>
                  </a:lnTo>
                  <a:lnTo>
                    <a:pt x="1246" y="1408"/>
                  </a:lnTo>
                  <a:lnTo>
                    <a:pt x="1247" y="1408"/>
                  </a:lnTo>
                  <a:lnTo>
                    <a:pt x="1249" y="1408"/>
                  </a:lnTo>
                  <a:lnTo>
                    <a:pt x="1251" y="1407"/>
                  </a:lnTo>
                  <a:lnTo>
                    <a:pt x="1253" y="1407"/>
                  </a:lnTo>
                  <a:lnTo>
                    <a:pt x="1255" y="1405"/>
                  </a:lnTo>
                  <a:lnTo>
                    <a:pt x="1257" y="1405"/>
                  </a:lnTo>
                  <a:lnTo>
                    <a:pt x="1259" y="1405"/>
                  </a:lnTo>
                  <a:lnTo>
                    <a:pt x="1259" y="1403"/>
                  </a:lnTo>
                  <a:lnTo>
                    <a:pt x="1261" y="1403"/>
                  </a:lnTo>
                  <a:lnTo>
                    <a:pt x="1261" y="1401"/>
                  </a:lnTo>
                  <a:lnTo>
                    <a:pt x="1263" y="1401"/>
                  </a:lnTo>
                  <a:lnTo>
                    <a:pt x="1265" y="1399"/>
                  </a:lnTo>
                  <a:lnTo>
                    <a:pt x="1267" y="1397"/>
                  </a:lnTo>
                  <a:lnTo>
                    <a:pt x="1269" y="1395"/>
                  </a:lnTo>
                  <a:lnTo>
                    <a:pt x="1271" y="1395"/>
                  </a:lnTo>
                  <a:lnTo>
                    <a:pt x="1271" y="1393"/>
                  </a:lnTo>
                  <a:lnTo>
                    <a:pt x="1272" y="1391"/>
                  </a:lnTo>
                  <a:lnTo>
                    <a:pt x="1274" y="1391"/>
                  </a:lnTo>
                  <a:lnTo>
                    <a:pt x="1276" y="1389"/>
                  </a:lnTo>
                  <a:lnTo>
                    <a:pt x="1278" y="1387"/>
                  </a:lnTo>
                  <a:lnTo>
                    <a:pt x="1280" y="1385"/>
                  </a:lnTo>
                  <a:lnTo>
                    <a:pt x="1282" y="1384"/>
                  </a:lnTo>
                  <a:lnTo>
                    <a:pt x="1286" y="1382"/>
                  </a:lnTo>
                  <a:lnTo>
                    <a:pt x="1288" y="1378"/>
                  </a:lnTo>
                  <a:lnTo>
                    <a:pt x="1292" y="1376"/>
                  </a:lnTo>
                  <a:lnTo>
                    <a:pt x="1294" y="1372"/>
                  </a:lnTo>
                  <a:lnTo>
                    <a:pt x="1297" y="1370"/>
                  </a:lnTo>
                  <a:lnTo>
                    <a:pt x="1301" y="1366"/>
                  </a:lnTo>
                  <a:lnTo>
                    <a:pt x="1305" y="1362"/>
                  </a:lnTo>
                  <a:lnTo>
                    <a:pt x="1309" y="1360"/>
                  </a:lnTo>
                  <a:lnTo>
                    <a:pt x="1311" y="1357"/>
                  </a:lnTo>
                  <a:lnTo>
                    <a:pt x="1313" y="1353"/>
                  </a:lnTo>
                  <a:lnTo>
                    <a:pt x="1317" y="1351"/>
                  </a:lnTo>
                  <a:lnTo>
                    <a:pt x="1319" y="1347"/>
                  </a:lnTo>
                  <a:lnTo>
                    <a:pt x="1319" y="1343"/>
                  </a:lnTo>
                  <a:lnTo>
                    <a:pt x="1320" y="1341"/>
                  </a:lnTo>
                  <a:lnTo>
                    <a:pt x="1322" y="1337"/>
                  </a:lnTo>
                  <a:lnTo>
                    <a:pt x="1322" y="1336"/>
                  </a:lnTo>
                  <a:lnTo>
                    <a:pt x="1322" y="1332"/>
                  </a:lnTo>
                  <a:lnTo>
                    <a:pt x="1324" y="1330"/>
                  </a:lnTo>
                  <a:lnTo>
                    <a:pt x="1324" y="1328"/>
                  </a:lnTo>
                  <a:lnTo>
                    <a:pt x="1324" y="1324"/>
                  </a:lnTo>
                  <a:lnTo>
                    <a:pt x="1324" y="1322"/>
                  </a:lnTo>
                  <a:lnTo>
                    <a:pt x="1322" y="1320"/>
                  </a:lnTo>
                  <a:lnTo>
                    <a:pt x="1322" y="1318"/>
                  </a:lnTo>
                  <a:lnTo>
                    <a:pt x="1322" y="1316"/>
                  </a:lnTo>
                  <a:lnTo>
                    <a:pt x="1322" y="1312"/>
                  </a:lnTo>
                  <a:lnTo>
                    <a:pt x="1320" y="1312"/>
                  </a:lnTo>
                  <a:lnTo>
                    <a:pt x="1320" y="1311"/>
                  </a:lnTo>
                  <a:lnTo>
                    <a:pt x="1320" y="1309"/>
                  </a:lnTo>
                  <a:lnTo>
                    <a:pt x="1319" y="1307"/>
                  </a:lnTo>
                  <a:lnTo>
                    <a:pt x="1319" y="1305"/>
                  </a:lnTo>
                  <a:lnTo>
                    <a:pt x="1317" y="1303"/>
                  </a:lnTo>
                  <a:lnTo>
                    <a:pt x="1317" y="1301"/>
                  </a:lnTo>
                  <a:lnTo>
                    <a:pt x="1315" y="1301"/>
                  </a:lnTo>
                  <a:lnTo>
                    <a:pt x="1271" y="1230"/>
                  </a:lnTo>
                  <a:lnTo>
                    <a:pt x="1353" y="1111"/>
                  </a:lnTo>
                  <a:lnTo>
                    <a:pt x="1355" y="1111"/>
                  </a:lnTo>
                  <a:lnTo>
                    <a:pt x="1357" y="1111"/>
                  </a:lnTo>
                  <a:lnTo>
                    <a:pt x="1359" y="1113"/>
                  </a:lnTo>
                  <a:lnTo>
                    <a:pt x="1361" y="1113"/>
                  </a:lnTo>
                  <a:lnTo>
                    <a:pt x="1363" y="1113"/>
                  </a:lnTo>
                  <a:lnTo>
                    <a:pt x="1365" y="1113"/>
                  </a:lnTo>
                  <a:lnTo>
                    <a:pt x="1368" y="1115"/>
                  </a:lnTo>
                  <a:lnTo>
                    <a:pt x="1370" y="1115"/>
                  </a:lnTo>
                  <a:lnTo>
                    <a:pt x="1374" y="1117"/>
                  </a:lnTo>
                  <a:lnTo>
                    <a:pt x="1376" y="1117"/>
                  </a:lnTo>
                  <a:lnTo>
                    <a:pt x="1380" y="1117"/>
                  </a:lnTo>
                  <a:lnTo>
                    <a:pt x="1382" y="1119"/>
                  </a:lnTo>
                  <a:lnTo>
                    <a:pt x="1386" y="1119"/>
                  </a:lnTo>
                  <a:lnTo>
                    <a:pt x="1390" y="1121"/>
                  </a:lnTo>
                  <a:lnTo>
                    <a:pt x="1393" y="1121"/>
                  </a:lnTo>
                  <a:lnTo>
                    <a:pt x="1397" y="1122"/>
                  </a:lnTo>
                  <a:lnTo>
                    <a:pt x="1399" y="1122"/>
                  </a:lnTo>
                  <a:lnTo>
                    <a:pt x="1403" y="1122"/>
                  </a:lnTo>
                  <a:lnTo>
                    <a:pt x="1407" y="1124"/>
                  </a:lnTo>
                  <a:lnTo>
                    <a:pt x="1411" y="1124"/>
                  </a:lnTo>
                  <a:lnTo>
                    <a:pt x="1415" y="1126"/>
                  </a:lnTo>
                  <a:lnTo>
                    <a:pt x="1418" y="1126"/>
                  </a:lnTo>
                  <a:lnTo>
                    <a:pt x="1422" y="1128"/>
                  </a:lnTo>
                  <a:lnTo>
                    <a:pt x="1426" y="1128"/>
                  </a:lnTo>
                  <a:lnTo>
                    <a:pt x="1430" y="1128"/>
                  </a:lnTo>
                  <a:lnTo>
                    <a:pt x="1434" y="1130"/>
                  </a:lnTo>
                  <a:lnTo>
                    <a:pt x="1438" y="1130"/>
                  </a:lnTo>
                  <a:lnTo>
                    <a:pt x="1439" y="1130"/>
                  </a:lnTo>
                  <a:lnTo>
                    <a:pt x="1443" y="1132"/>
                  </a:lnTo>
                  <a:lnTo>
                    <a:pt x="1447" y="1132"/>
                  </a:lnTo>
                  <a:lnTo>
                    <a:pt x="1449" y="1132"/>
                  </a:lnTo>
                  <a:lnTo>
                    <a:pt x="1453" y="1132"/>
                  </a:lnTo>
                  <a:lnTo>
                    <a:pt x="1455" y="1132"/>
                  </a:lnTo>
                  <a:lnTo>
                    <a:pt x="1459" y="1132"/>
                  </a:lnTo>
                  <a:lnTo>
                    <a:pt x="1461" y="1132"/>
                  </a:lnTo>
                  <a:lnTo>
                    <a:pt x="1462" y="1130"/>
                  </a:lnTo>
                  <a:lnTo>
                    <a:pt x="1466" y="1130"/>
                  </a:lnTo>
                  <a:lnTo>
                    <a:pt x="1468" y="1130"/>
                  </a:lnTo>
                  <a:lnTo>
                    <a:pt x="1470" y="1128"/>
                  </a:lnTo>
                  <a:lnTo>
                    <a:pt x="1472" y="1128"/>
                  </a:lnTo>
                  <a:lnTo>
                    <a:pt x="1474" y="1126"/>
                  </a:lnTo>
                  <a:lnTo>
                    <a:pt x="1476" y="1124"/>
                  </a:lnTo>
                  <a:lnTo>
                    <a:pt x="1478" y="1124"/>
                  </a:lnTo>
                  <a:lnTo>
                    <a:pt x="1480" y="1122"/>
                  </a:lnTo>
                  <a:lnTo>
                    <a:pt x="1482" y="1121"/>
                  </a:lnTo>
                  <a:lnTo>
                    <a:pt x="1484" y="1121"/>
                  </a:lnTo>
                  <a:lnTo>
                    <a:pt x="1486" y="1119"/>
                  </a:lnTo>
                  <a:lnTo>
                    <a:pt x="1486" y="1117"/>
                  </a:lnTo>
                  <a:lnTo>
                    <a:pt x="1487" y="1117"/>
                  </a:lnTo>
                  <a:lnTo>
                    <a:pt x="1489" y="1115"/>
                  </a:lnTo>
                  <a:lnTo>
                    <a:pt x="1489" y="1113"/>
                  </a:lnTo>
                  <a:lnTo>
                    <a:pt x="1491" y="1113"/>
                  </a:lnTo>
                  <a:lnTo>
                    <a:pt x="1491" y="1111"/>
                  </a:lnTo>
                  <a:lnTo>
                    <a:pt x="1491" y="1109"/>
                  </a:lnTo>
                  <a:lnTo>
                    <a:pt x="1493" y="1109"/>
                  </a:lnTo>
                  <a:lnTo>
                    <a:pt x="1493" y="1107"/>
                  </a:lnTo>
                  <a:lnTo>
                    <a:pt x="1495" y="1107"/>
                  </a:lnTo>
                  <a:lnTo>
                    <a:pt x="1495" y="1105"/>
                  </a:lnTo>
                  <a:lnTo>
                    <a:pt x="1495" y="1103"/>
                  </a:lnTo>
                  <a:lnTo>
                    <a:pt x="1495" y="1101"/>
                  </a:lnTo>
                  <a:lnTo>
                    <a:pt x="1497" y="1101"/>
                  </a:lnTo>
                  <a:lnTo>
                    <a:pt x="1497" y="1099"/>
                  </a:lnTo>
                  <a:lnTo>
                    <a:pt x="1497" y="1098"/>
                  </a:lnTo>
                  <a:lnTo>
                    <a:pt x="1499" y="1096"/>
                  </a:lnTo>
                  <a:lnTo>
                    <a:pt x="1499" y="1094"/>
                  </a:lnTo>
                  <a:lnTo>
                    <a:pt x="1499" y="1092"/>
                  </a:lnTo>
                  <a:lnTo>
                    <a:pt x="1501" y="1090"/>
                  </a:lnTo>
                  <a:lnTo>
                    <a:pt x="1501" y="1088"/>
                  </a:lnTo>
                  <a:lnTo>
                    <a:pt x="1503" y="1086"/>
                  </a:lnTo>
                  <a:lnTo>
                    <a:pt x="1503" y="1082"/>
                  </a:lnTo>
                  <a:lnTo>
                    <a:pt x="1505" y="1080"/>
                  </a:lnTo>
                  <a:lnTo>
                    <a:pt x="1505" y="1076"/>
                  </a:lnTo>
                  <a:lnTo>
                    <a:pt x="1507" y="1073"/>
                  </a:lnTo>
                  <a:lnTo>
                    <a:pt x="1509" y="1069"/>
                  </a:lnTo>
                  <a:lnTo>
                    <a:pt x="1509" y="1065"/>
                  </a:lnTo>
                  <a:lnTo>
                    <a:pt x="1510" y="1061"/>
                  </a:lnTo>
                  <a:lnTo>
                    <a:pt x="1512" y="1057"/>
                  </a:lnTo>
                  <a:lnTo>
                    <a:pt x="1514" y="1051"/>
                  </a:lnTo>
                  <a:lnTo>
                    <a:pt x="1516" y="1048"/>
                  </a:lnTo>
                  <a:lnTo>
                    <a:pt x="1516" y="1044"/>
                  </a:lnTo>
                  <a:lnTo>
                    <a:pt x="1516" y="1040"/>
                  </a:lnTo>
                  <a:lnTo>
                    <a:pt x="1518" y="1036"/>
                  </a:lnTo>
                  <a:lnTo>
                    <a:pt x="1518" y="1032"/>
                  </a:lnTo>
                  <a:lnTo>
                    <a:pt x="1518" y="1028"/>
                  </a:lnTo>
                  <a:lnTo>
                    <a:pt x="1518" y="1025"/>
                  </a:lnTo>
                  <a:lnTo>
                    <a:pt x="1516" y="1023"/>
                  </a:lnTo>
                  <a:lnTo>
                    <a:pt x="1516" y="1019"/>
                  </a:lnTo>
                  <a:lnTo>
                    <a:pt x="1516" y="1017"/>
                  </a:lnTo>
                  <a:lnTo>
                    <a:pt x="1514" y="1013"/>
                  </a:lnTo>
                  <a:lnTo>
                    <a:pt x="1514" y="1011"/>
                  </a:lnTo>
                  <a:lnTo>
                    <a:pt x="1512" y="1009"/>
                  </a:lnTo>
                  <a:lnTo>
                    <a:pt x="1510" y="1007"/>
                  </a:lnTo>
                  <a:lnTo>
                    <a:pt x="1510" y="1005"/>
                  </a:lnTo>
                  <a:lnTo>
                    <a:pt x="1509" y="1003"/>
                  </a:lnTo>
                  <a:lnTo>
                    <a:pt x="1507" y="1002"/>
                  </a:lnTo>
                  <a:lnTo>
                    <a:pt x="1505" y="1000"/>
                  </a:lnTo>
                  <a:lnTo>
                    <a:pt x="1505" y="998"/>
                  </a:lnTo>
                  <a:lnTo>
                    <a:pt x="1503" y="998"/>
                  </a:lnTo>
                  <a:lnTo>
                    <a:pt x="1501" y="996"/>
                  </a:lnTo>
                  <a:lnTo>
                    <a:pt x="1499" y="996"/>
                  </a:lnTo>
                  <a:lnTo>
                    <a:pt x="1499" y="994"/>
                  </a:lnTo>
                  <a:lnTo>
                    <a:pt x="1497" y="994"/>
                  </a:lnTo>
                  <a:lnTo>
                    <a:pt x="1497" y="992"/>
                  </a:lnTo>
                  <a:lnTo>
                    <a:pt x="1495" y="992"/>
                  </a:lnTo>
                  <a:lnTo>
                    <a:pt x="1493" y="992"/>
                  </a:lnTo>
                  <a:lnTo>
                    <a:pt x="1493" y="990"/>
                  </a:lnTo>
                  <a:lnTo>
                    <a:pt x="1422" y="950"/>
                  </a:lnTo>
                  <a:lnTo>
                    <a:pt x="1439" y="806"/>
                  </a:lnTo>
                  <a:lnTo>
                    <a:pt x="1441" y="806"/>
                  </a:lnTo>
                  <a:lnTo>
                    <a:pt x="1443" y="806"/>
                  </a:lnTo>
                  <a:lnTo>
                    <a:pt x="1443" y="804"/>
                  </a:lnTo>
                  <a:lnTo>
                    <a:pt x="1445" y="804"/>
                  </a:lnTo>
                  <a:lnTo>
                    <a:pt x="1447" y="804"/>
                  </a:lnTo>
                  <a:lnTo>
                    <a:pt x="1449" y="804"/>
                  </a:lnTo>
                  <a:lnTo>
                    <a:pt x="1451" y="804"/>
                  </a:lnTo>
                  <a:lnTo>
                    <a:pt x="1455" y="802"/>
                  </a:lnTo>
                  <a:lnTo>
                    <a:pt x="1457" y="802"/>
                  </a:lnTo>
                  <a:lnTo>
                    <a:pt x="1461" y="802"/>
                  </a:lnTo>
                  <a:lnTo>
                    <a:pt x="1462" y="800"/>
                  </a:lnTo>
                  <a:lnTo>
                    <a:pt x="1466" y="800"/>
                  </a:lnTo>
                  <a:lnTo>
                    <a:pt x="1468" y="800"/>
                  </a:lnTo>
                  <a:lnTo>
                    <a:pt x="1472" y="798"/>
                  </a:lnTo>
                  <a:lnTo>
                    <a:pt x="1476" y="798"/>
                  </a:lnTo>
                  <a:lnTo>
                    <a:pt x="1480" y="796"/>
                  </a:lnTo>
                  <a:lnTo>
                    <a:pt x="1484" y="796"/>
                  </a:lnTo>
                  <a:lnTo>
                    <a:pt x="1487" y="794"/>
                  </a:lnTo>
                  <a:lnTo>
                    <a:pt x="1491" y="794"/>
                  </a:lnTo>
                  <a:lnTo>
                    <a:pt x="1493" y="792"/>
                  </a:lnTo>
                  <a:lnTo>
                    <a:pt x="1497" y="792"/>
                  </a:lnTo>
                  <a:lnTo>
                    <a:pt x="1501" y="790"/>
                  </a:lnTo>
                  <a:lnTo>
                    <a:pt x="1505" y="790"/>
                  </a:lnTo>
                  <a:lnTo>
                    <a:pt x="1509" y="789"/>
                  </a:lnTo>
                  <a:lnTo>
                    <a:pt x="1512" y="789"/>
                  </a:lnTo>
                  <a:lnTo>
                    <a:pt x="1516" y="787"/>
                  </a:lnTo>
                  <a:lnTo>
                    <a:pt x="1520" y="785"/>
                  </a:lnTo>
                  <a:lnTo>
                    <a:pt x="1524" y="785"/>
                  </a:lnTo>
                  <a:lnTo>
                    <a:pt x="1528" y="783"/>
                  </a:lnTo>
                  <a:lnTo>
                    <a:pt x="1530" y="783"/>
                  </a:lnTo>
                  <a:lnTo>
                    <a:pt x="1534" y="781"/>
                  </a:lnTo>
                  <a:lnTo>
                    <a:pt x="1535" y="781"/>
                  </a:lnTo>
                  <a:lnTo>
                    <a:pt x="1539" y="779"/>
                  </a:lnTo>
                  <a:lnTo>
                    <a:pt x="1541" y="777"/>
                  </a:lnTo>
                  <a:lnTo>
                    <a:pt x="1543" y="775"/>
                  </a:lnTo>
                  <a:lnTo>
                    <a:pt x="1545" y="775"/>
                  </a:lnTo>
                  <a:lnTo>
                    <a:pt x="1547" y="773"/>
                  </a:lnTo>
                  <a:lnTo>
                    <a:pt x="1549" y="771"/>
                  </a:lnTo>
                  <a:lnTo>
                    <a:pt x="1551" y="769"/>
                  </a:lnTo>
                  <a:lnTo>
                    <a:pt x="1553" y="767"/>
                  </a:lnTo>
                  <a:lnTo>
                    <a:pt x="1553" y="765"/>
                  </a:lnTo>
                  <a:lnTo>
                    <a:pt x="1555" y="764"/>
                  </a:lnTo>
                  <a:lnTo>
                    <a:pt x="1555" y="762"/>
                  </a:lnTo>
                  <a:lnTo>
                    <a:pt x="1557" y="760"/>
                  </a:lnTo>
                  <a:lnTo>
                    <a:pt x="1557" y="758"/>
                  </a:lnTo>
                  <a:lnTo>
                    <a:pt x="1558" y="756"/>
                  </a:lnTo>
                  <a:lnTo>
                    <a:pt x="1558" y="754"/>
                  </a:lnTo>
                  <a:lnTo>
                    <a:pt x="1558" y="752"/>
                  </a:lnTo>
                  <a:lnTo>
                    <a:pt x="1560" y="750"/>
                  </a:lnTo>
                  <a:lnTo>
                    <a:pt x="1560" y="748"/>
                  </a:lnTo>
                  <a:lnTo>
                    <a:pt x="1560" y="746"/>
                  </a:lnTo>
                  <a:lnTo>
                    <a:pt x="1560" y="744"/>
                  </a:lnTo>
                  <a:lnTo>
                    <a:pt x="1560" y="742"/>
                  </a:lnTo>
                  <a:lnTo>
                    <a:pt x="1560" y="741"/>
                  </a:lnTo>
                  <a:lnTo>
                    <a:pt x="1560" y="739"/>
                  </a:lnTo>
                  <a:lnTo>
                    <a:pt x="1562" y="739"/>
                  </a:lnTo>
                  <a:lnTo>
                    <a:pt x="1562" y="737"/>
                  </a:lnTo>
                  <a:lnTo>
                    <a:pt x="1560" y="737"/>
                  </a:lnTo>
                  <a:lnTo>
                    <a:pt x="1560" y="735"/>
                  </a:lnTo>
                  <a:lnTo>
                    <a:pt x="1560" y="733"/>
                  </a:lnTo>
                  <a:lnTo>
                    <a:pt x="1560" y="731"/>
                  </a:lnTo>
                  <a:lnTo>
                    <a:pt x="1560" y="729"/>
                  </a:lnTo>
                  <a:lnTo>
                    <a:pt x="1560" y="727"/>
                  </a:lnTo>
                  <a:lnTo>
                    <a:pt x="1560" y="725"/>
                  </a:lnTo>
                  <a:lnTo>
                    <a:pt x="1560" y="721"/>
                  </a:lnTo>
                  <a:lnTo>
                    <a:pt x="1560" y="719"/>
                  </a:lnTo>
                  <a:lnTo>
                    <a:pt x="1558" y="718"/>
                  </a:lnTo>
                  <a:lnTo>
                    <a:pt x="1558" y="716"/>
                  </a:lnTo>
                  <a:lnTo>
                    <a:pt x="1558" y="712"/>
                  </a:lnTo>
                  <a:lnTo>
                    <a:pt x="1558" y="710"/>
                  </a:lnTo>
                  <a:lnTo>
                    <a:pt x="1558" y="706"/>
                  </a:lnTo>
                  <a:lnTo>
                    <a:pt x="1557" y="702"/>
                  </a:lnTo>
                  <a:lnTo>
                    <a:pt x="1557" y="698"/>
                  </a:lnTo>
                  <a:lnTo>
                    <a:pt x="1557" y="694"/>
                  </a:lnTo>
                  <a:lnTo>
                    <a:pt x="1557" y="689"/>
                  </a:lnTo>
                  <a:lnTo>
                    <a:pt x="1555" y="685"/>
                  </a:lnTo>
                  <a:lnTo>
                    <a:pt x="1555" y="679"/>
                  </a:lnTo>
                  <a:lnTo>
                    <a:pt x="1555" y="675"/>
                  </a:lnTo>
                  <a:lnTo>
                    <a:pt x="1553" y="671"/>
                  </a:lnTo>
                  <a:lnTo>
                    <a:pt x="1553" y="668"/>
                  </a:lnTo>
                  <a:lnTo>
                    <a:pt x="1551" y="664"/>
                  </a:lnTo>
                  <a:lnTo>
                    <a:pt x="1549" y="660"/>
                  </a:lnTo>
                  <a:lnTo>
                    <a:pt x="1547" y="658"/>
                  </a:lnTo>
                  <a:lnTo>
                    <a:pt x="1545" y="654"/>
                  </a:lnTo>
                  <a:lnTo>
                    <a:pt x="1543" y="652"/>
                  </a:lnTo>
                  <a:lnTo>
                    <a:pt x="1541" y="650"/>
                  </a:lnTo>
                  <a:lnTo>
                    <a:pt x="1539" y="648"/>
                  </a:lnTo>
                  <a:lnTo>
                    <a:pt x="1537" y="646"/>
                  </a:lnTo>
                  <a:lnTo>
                    <a:pt x="1535" y="645"/>
                  </a:lnTo>
                  <a:lnTo>
                    <a:pt x="1534" y="643"/>
                  </a:lnTo>
                  <a:lnTo>
                    <a:pt x="1532" y="641"/>
                  </a:lnTo>
                  <a:lnTo>
                    <a:pt x="1530" y="641"/>
                  </a:lnTo>
                  <a:lnTo>
                    <a:pt x="1528" y="639"/>
                  </a:lnTo>
                  <a:lnTo>
                    <a:pt x="1526" y="639"/>
                  </a:lnTo>
                  <a:lnTo>
                    <a:pt x="1524" y="637"/>
                  </a:lnTo>
                  <a:lnTo>
                    <a:pt x="1522" y="637"/>
                  </a:lnTo>
                  <a:lnTo>
                    <a:pt x="1520" y="637"/>
                  </a:lnTo>
                  <a:lnTo>
                    <a:pt x="1518" y="637"/>
                  </a:lnTo>
                  <a:lnTo>
                    <a:pt x="1516" y="637"/>
                  </a:lnTo>
                  <a:lnTo>
                    <a:pt x="1514" y="635"/>
                  </a:lnTo>
                  <a:lnTo>
                    <a:pt x="1512" y="635"/>
                  </a:lnTo>
                  <a:lnTo>
                    <a:pt x="1510" y="635"/>
                  </a:lnTo>
                  <a:lnTo>
                    <a:pt x="1509" y="635"/>
                  </a:lnTo>
                  <a:lnTo>
                    <a:pt x="1426" y="633"/>
                  </a:lnTo>
                  <a:lnTo>
                    <a:pt x="1374" y="497"/>
                  </a:lnTo>
                  <a:lnTo>
                    <a:pt x="1376" y="497"/>
                  </a:lnTo>
                  <a:lnTo>
                    <a:pt x="1376" y="495"/>
                  </a:lnTo>
                  <a:lnTo>
                    <a:pt x="1378" y="493"/>
                  </a:lnTo>
                  <a:lnTo>
                    <a:pt x="1380" y="491"/>
                  </a:lnTo>
                  <a:lnTo>
                    <a:pt x="1382" y="491"/>
                  </a:lnTo>
                  <a:lnTo>
                    <a:pt x="1384" y="489"/>
                  </a:lnTo>
                  <a:lnTo>
                    <a:pt x="1386" y="487"/>
                  </a:lnTo>
                  <a:lnTo>
                    <a:pt x="1388" y="485"/>
                  </a:lnTo>
                  <a:lnTo>
                    <a:pt x="1390" y="483"/>
                  </a:lnTo>
                  <a:lnTo>
                    <a:pt x="1391" y="481"/>
                  </a:lnTo>
                  <a:lnTo>
                    <a:pt x="1395" y="480"/>
                  </a:lnTo>
                  <a:lnTo>
                    <a:pt x="1397" y="478"/>
                  </a:lnTo>
                  <a:lnTo>
                    <a:pt x="1399" y="474"/>
                  </a:lnTo>
                  <a:lnTo>
                    <a:pt x="1403" y="472"/>
                  </a:lnTo>
                  <a:lnTo>
                    <a:pt x="1405" y="470"/>
                  </a:lnTo>
                  <a:lnTo>
                    <a:pt x="1407" y="468"/>
                  </a:lnTo>
                  <a:lnTo>
                    <a:pt x="1411" y="464"/>
                  </a:lnTo>
                  <a:lnTo>
                    <a:pt x="1413" y="462"/>
                  </a:lnTo>
                  <a:lnTo>
                    <a:pt x="1416" y="460"/>
                  </a:lnTo>
                  <a:lnTo>
                    <a:pt x="1418" y="456"/>
                  </a:lnTo>
                  <a:lnTo>
                    <a:pt x="1422" y="455"/>
                  </a:lnTo>
                  <a:lnTo>
                    <a:pt x="1424" y="451"/>
                  </a:lnTo>
                  <a:lnTo>
                    <a:pt x="1428" y="449"/>
                  </a:lnTo>
                  <a:lnTo>
                    <a:pt x="1430" y="447"/>
                  </a:lnTo>
                  <a:lnTo>
                    <a:pt x="1434" y="443"/>
                  </a:lnTo>
                  <a:lnTo>
                    <a:pt x="1436" y="441"/>
                  </a:lnTo>
                  <a:lnTo>
                    <a:pt x="1438" y="439"/>
                  </a:lnTo>
                  <a:lnTo>
                    <a:pt x="1441" y="435"/>
                  </a:lnTo>
                  <a:lnTo>
                    <a:pt x="1443" y="433"/>
                  </a:lnTo>
                  <a:lnTo>
                    <a:pt x="1445" y="432"/>
                  </a:lnTo>
                  <a:lnTo>
                    <a:pt x="1447" y="430"/>
                  </a:lnTo>
                  <a:lnTo>
                    <a:pt x="1449" y="428"/>
                  </a:lnTo>
                  <a:lnTo>
                    <a:pt x="1451" y="424"/>
                  </a:lnTo>
                  <a:lnTo>
                    <a:pt x="1451" y="422"/>
                  </a:lnTo>
                  <a:lnTo>
                    <a:pt x="1453" y="420"/>
                  </a:lnTo>
                  <a:lnTo>
                    <a:pt x="1455" y="418"/>
                  </a:lnTo>
                  <a:lnTo>
                    <a:pt x="1455" y="414"/>
                  </a:lnTo>
                  <a:lnTo>
                    <a:pt x="1455" y="412"/>
                  </a:lnTo>
                  <a:lnTo>
                    <a:pt x="1455" y="410"/>
                  </a:lnTo>
                  <a:lnTo>
                    <a:pt x="1457" y="408"/>
                  </a:lnTo>
                  <a:lnTo>
                    <a:pt x="1457" y="407"/>
                  </a:lnTo>
                  <a:lnTo>
                    <a:pt x="1457" y="403"/>
                  </a:lnTo>
                  <a:lnTo>
                    <a:pt x="1457" y="401"/>
                  </a:lnTo>
                  <a:lnTo>
                    <a:pt x="1457" y="399"/>
                  </a:lnTo>
                  <a:lnTo>
                    <a:pt x="1457" y="397"/>
                  </a:lnTo>
                  <a:lnTo>
                    <a:pt x="1457" y="395"/>
                  </a:lnTo>
                  <a:lnTo>
                    <a:pt x="1455" y="393"/>
                  </a:lnTo>
                  <a:lnTo>
                    <a:pt x="1455" y="391"/>
                  </a:lnTo>
                  <a:lnTo>
                    <a:pt x="1455" y="389"/>
                  </a:lnTo>
                  <a:lnTo>
                    <a:pt x="1455" y="387"/>
                  </a:lnTo>
                  <a:lnTo>
                    <a:pt x="1453" y="385"/>
                  </a:lnTo>
                  <a:lnTo>
                    <a:pt x="1453" y="384"/>
                  </a:lnTo>
                  <a:lnTo>
                    <a:pt x="1453" y="382"/>
                  </a:lnTo>
                  <a:lnTo>
                    <a:pt x="1451" y="380"/>
                  </a:lnTo>
                  <a:lnTo>
                    <a:pt x="1451" y="378"/>
                  </a:lnTo>
                  <a:lnTo>
                    <a:pt x="1449" y="378"/>
                  </a:lnTo>
                  <a:lnTo>
                    <a:pt x="1449" y="376"/>
                  </a:lnTo>
                  <a:lnTo>
                    <a:pt x="1449" y="374"/>
                  </a:lnTo>
                  <a:lnTo>
                    <a:pt x="1447" y="374"/>
                  </a:lnTo>
                  <a:lnTo>
                    <a:pt x="1447" y="372"/>
                  </a:lnTo>
                  <a:lnTo>
                    <a:pt x="1445" y="370"/>
                  </a:lnTo>
                  <a:lnTo>
                    <a:pt x="1443" y="368"/>
                  </a:lnTo>
                  <a:lnTo>
                    <a:pt x="1443" y="366"/>
                  </a:lnTo>
                  <a:lnTo>
                    <a:pt x="1441" y="364"/>
                  </a:lnTo>
                  <a:lnTo>
                    <a:pt x="1439" y="362"/>
                  </a:lnTo>
                  <a:lnTo>
                    <a:pt x="1438" y="361"/>
                  </a:lnTo>
                  <a:lnTo>
                    <a:pt x="1438" y="359"/>
                  </a:lnTo>
                  <a:lnTo>
                    <a:pt x="1436" y="355"/>
                  </a:lnTo>
                  <a:lnTo>
                    <a:pt x="1434" y="353"/>
                  </a:lnTo>
                  <a:lnTo>
                    <a:pt x="1432" y="349"/>
                  </a:lnTo>
                  <a:lnTo>
                    <a:pt x="1428" y="347"/>
                  </a:lnTo>
                  <a:lnTo>
                    <a:pt x="1426" y="343"/>
                  </a:lnTo>
                  <a:lnTo>
                    <a:pt x="1424" y="339"/>
                  </a:lnTo>
                  <a:lnTo>
                    <a:pt x="1422" y="336"/>
                  </a:lnTo>
                  <a:lnTo>
                    <a:pt x="1418" y="332"/>
                  </a:lnTo>
                  <a:lnTo>
                    <a:pt x="1415" y="328"/>
                  </a:lnTo>
                  <a:lnTo>
                    <a:pt x="1413" y="324"/>
                  </a:lnTo>
                  <a:lnTo>
                    <a:pt x="1409" y="322"/>
                  </a:lnTo>
                  <a:lnTo>
                    <a:pt x="1407" y="318"/>
                  </a:lnTo>
                  <a:lnTo>
                    <a:pt x="1403" y="316"/>
                  </a:lnTo>
                  <a:lnTo>
                    <a:pt x="1401" y="314"/>
                  </a:lnTo>
                  <a:lnTo>
                    <a:pt x="1397" y="313"/>
                  </a:lnTo>
                  <a:lnTo>
                    <a:pt x="1395" y="313"/>
                  </a:lnTo>
                  <a:lnTo>
                    <a:pt x="1391" y="311"/>
                  </a:lnTo>
                  <a:lnTo>
                    <a:pt x="1390" y="309"/>
                  </a:lnTo>
                  <a:lnTo>
                    <a:pt x="1388" y="309"/>
                  </a:lnTo>
                  <a:lnTo>
                    <a:pt x="1384" y="309"/>
                  </a:lnTo>
                  <a:lnTo>
                    <a:pt x="1382" y="309"/>
                  </a:lnTo>
                  <a:lnTo>
                    <a:pt x="1380" y="309"/>
                  </a:lnTo>
                  <a:lnTo>
                    <a:pt x="1378" y="309"/>
                  </a:lnTo>
                  <a:lnTo>
                    <a:pt x="1374" y="309"/>
                  </a:lnTo>
                  <a:lnTo>
                    <a:pt x="1372" y="309"/>
                  </a:lnTo>
                  <a:lnTo>
                    <a:pt x="1370" y="309"/>
                  </a:lnTo>
                  <a:lnTo>
                    <a:pt x="1368" y="309"/>
                  </a:lnTo>
                  <a:lnTo>
                    <a:pt x="1367" y="311"/>
                  </a:lnTo>
                  <a:lnTo>
                    <a:pt x="1365" y="311"/>
                  </a:lnTo>
                  <a:lnTo>
                    <a:pt x="1363" y="311"/>
                  </a:lnTo>
                  <a:lnTo>
                    <a:pt x="1361" y="313"/>
                  </a:lnTo>
                  <a:lnTo>
                    <a:pt x="1359" y="313"/>
                  </a:lnTo>
                  <a:lnTo>
                    <a:pt x="1359" y="314"/>
                  </a:lnTo>
                  <a:lnTo>
                    <a:pt x="1357" y="314"/>
                  </a:lnTo>
                  <a:lnTo>
                    <a:pt x="1282" y="351"/>
                  </a:lnTo>
                  <a:lnTo>
                    <a:pt x="1173" y="253"/>
                  </a:lnTo>
                  <a:lnTo>
                    <a:pt x="1173" y="251"/>
                  </a:lnTo>
                  <a:lnTo>
                    <a:pt x="1175" y="251"/>
                  </a:lnTo>
                  <a:lnTo>
                    <a:pt x="1175" y="249"/>
                  </a:lnTo>
                  <a:lnTo>
                    <a:pt x="1175" y="247"/>
                  </a:lnTo>
                  <a:lnTo>
                    <a:pt x="1176" y="245"/>
                  </a:lnTo>
                  <a:lnTo>
                    <a:pt x="1176" y="243"/>
                  </a:lnTo>
                  <a:lnTo>
                    <a:pt x="1176" y="242"/>
                  </a:lnTo>
                  <a:lnTo>
                    <a:pt x="1178" y="240"/>
                  </a:lnTo>
                  <a:lnTo>
                    <a:pt x="1178" y="238"/>
                  </a:lnTo>
                  <a:lnTo>
                    <a:pt x="1180" y="234"/>
                  </a:lnTo>
                  <a:lnTo>
                    <a:pt x="1180" y="232"/>
                  </a:lnTo>
                  <a:lnTo>
                    <a:pt x="1182" y="228"/>
                  </a:lnTo>
                  <a:lnTo>
                    <a:pt x="1184" y="224"/>
                  </a:lnTo>
                  <a:lnTo>
                    <a:pt x="1184" y="222"/>
                  </a:lnTo>
                  <a:lnTo>
                    <a:pt x="1186" y="218"/>
                  </a:lnTo>
                  <a:lnTo>
                    <a:pt x="1188" y="215"/>
                  </a:lnTo>
                  <a:lnTo>
                    <a:pt x="1188" y="211"/>
                  </a:lnTo>
                  <a:lnTo>
                    <a:pt x="1190" y="207"/>
                  </a:lnTo>
                  <a:lnTo>
                    <a:pt x="1192" y="205"/>
                  </a:lnTo>
                  <a:lnTo>
                    <a:pt x="1192" y="201"/>
                  </a:lnTo>
                  <a:lnTo>
                    <a:pt x="1194" y="197"/>
                  </a:lnTo>
                  <a:lnTo>
                    <a:pt x="1196" y="194"/>
                  </a:lnTo>
                  <a:lnTo>
                    <a:pt x="1196" y="190"/>
                  </a:lnTo>
                  <a:lnTo>
                    <a:pt x="1198" y="186"/>
                  </a:lnTo>
                  <a:lnTo>
                    <a:pt x="1199" y="182"/>
                  </a:lnTo>
                  <a:lnTo>
                    <a:pt x="1199" y="178"/>
                  </a:lnTo>
                  <a:lnTo>
                    <a:pt x="1201" y="174"/>
                  </a:lnTo>
                  <a:lnTo>
                    <a:pt x="1201" y="170"/>
                  </a:lnTo>
                  <a:lnTo>
                    <a:pt x="1203" y="169"/>
                  </a:lnTo>
                  <a:lnTo>
                    <a:pt x="1203" y="165"/>
                  </a:lnTo>
                  <a:lnTo>
                    <a:pt x="1205" y="161"/>
                  </a:lnTo>
                  <a:lnTo>
                    <a:pt x="1205" y="159"/>
                  </a:lnTo>
                  <a:lnTo>
                    <a:pt x="1205" y="155"/>
                  </a:lnTo>
                  <a:lnTo>
                    <a:pt x="1207" y="153"/>
                  </a:lnTo>
                  <a:lnTo>
                    <a:pt x="1207" y="151"/>
                  </a:lnTo>
                  <a:lnTo>
                    <a:pt x="1207" y="147"/>
                  </a:lnTo>
                  <a:lnTo>
                    <a:pt x="1205" y="146"/>
                  </a:lnTo>
                  <a:lnTo>
                    <a:pt x="1205" y="144"/>
                  </a:lnTo>
                  <a:lnTo>
                    <a:pt x="1205" y="140"/>
                  </a:lnTo>
                  <a:lnTo>
                    <a:pt x="1205" y="138"/>
                  </a:lnTo>
                  <a:lnTo>
                    <a:pt x="1203" y="136"/>
                  </a:lnTo>
                  <a:lnTo>
                    <a:pt x="1203" y="134"/>
                  </a:lnTo>
                  <a:lnTo>
                    <a:pt x="1201" y="132"/>
                  </a:lnTo>
                  <a:lnTo>
                    <a:pt x="1201" y="130"/>
                  </a:lnTo>
                  <a:lnTo>
                    <a:pt x="1199" y="128"/>
                  </a:lnTo>
                  <a:lnTo>
                    <a:pt x="1199" y="126"/>
                  </a:lnTo>
                  <a:lnTo>
                    <a:pt x="1198" y="124"/>
                  </a:lnTo>
                  <a:lnTo>
                    <a:pt x="1198" y="123"/>
                  </a:lnTo>
                  <a:lnTo>
                    <a:pt x="1196" y="123"/>
                  </a:lnTo>
                  <a:lnTo>
                    <a:pt x="1194" y="121"/>
                  </a:lnTo>
                  <a:lnTo>
                    <a:pt x="1194" y="119"/>
                  </a:lnTo>
                  <a:lnTo>
                    <a:pt x="1192" y="119"/>
                  </a:lnTo>
                  <a:lnTo>
                    <a:pt x="1192" y="117"/>
                  </a:lnTo>
                  <a:lnTo>
                    <a:pt x="1190" y="117"/>
                  </a:lnTo>
                  <a:lnTo>
                    <a:pt x="1190" y="115"/>
                  </a:lnTo>
                  <a:lnTo>
                    <a:pt x="1188" y="115"/>
                  </a:lnTo>
                  <a:lnTo>
                    <a:pt x="1188" y="113"/>
                  </a:lnTo>
                  <a:lnTo>
                    <a:pt x="1186" y="113"/>
                  </a:lnTo>
                  <a:lnTo>
                    <a:pt x="1186" y="111"/>
                  </a:lnTo>
                  <a:lnTo>
                    <a:pt x="1184" y="111"/>
                  </a:lnTo>
                  <a:lnTo>
                    <a:pt x="1182" y="111"/>
                  </a:lnTo>
                  <a:lnTo>
                    <a:pt x="1182" y="109"/>
                  </a:lnTo>
                  <a:lnTo>
                    <a:pt x="1180" y="109"/>
                  </a:lnTo>
                  <a:lnTo>
                    <a:pt x="1178" y="109"/>
                  </a:lnTo>
                  <a:lnTo>
                    <a:pt x="1176" y="107"/>
                  </a:lnTo>
                  <a:lnTo>
                    <a:pt x="1175" y="107"/>
                  </a:lnTo>
                  <a:lnTo>
                    <a:pt x="1173" y="105"/>
                  </a:lnTo>
                  <a:lnTo>
                    <a:pt x="1171" y="105"/>
                  </a:lnTo>
                  <a:lnTo>
                    <a:pt x="1169" y="103"/>
                  </a:lnTo>
                  <a:lnTo>
                    <a:pt x="1167" y="103"/>
                  </a:lnTo>
                  <a:lnTo>
                    <a:pt x="1163" y="101"/>
                  </a:lnTo>
                  <a:lnTo>
                    <a:pt x="1161" y="99"/>
                  </a:lnTo>
                  <a:lnTo>
                    <a:pt x="1157" y="98"/>
                  </a:lnTo>
                  <a:lnTo>
                    <a:pt x="1153" y="96"/>
                  </a:lnTo>
                  <a:lnTo>
                    <a:pt x="1152" y="96"/>
                  </a:lnTo>
                  <a:lnTo>
                    <a:pt x="1148" y="94"/>
                  </a:lnTo>
                  <a:lnTo>
                    <a:pt x="1142" y="92"/>
                  </a:lnTo>
                  <a:lnTo>
                    <a:pt x="1138" y="88"/>
                  </a:lnTo>
                  <a:lnTo>
                    <a:pt x="1134" y="86"/>
                  </a:lnTo>
                  <a:lnTo>
                    <a:pt x="1130" y="84"/>
                  </a:lnTo>
                  <a:lnTo>
                    <a:pt x="1127" y="84"/>
                  </a:lnTo>
                  <a:lnTo>
                    <a:pt x="1123" y="82"/>
                  </a:lnTo>
                  <a:lnTo>
                    <a:pt x="1119" y="80"/>
                  </a:lnTo>
                  <a:lnTo>
                    <a:pt x="1115" y="80"/>
                  </a:lnTo>
                  <a:lnTo>
                    <a:pt x="1111" y="80"/>
                  </a:lnTo>
                  <a:lnTo>
                    <a:pt x="1107" y="80"/>
                  </a:lnTo>
                  <a:lnTo>
                    <a:pt x="1105" y="80"/>
                  </a:lnTo>
                  <a:lnTo>
                    <a:pt x="1102" y="80"/>
                  </a:lnTo>
                  <a:lnTo>
                    <a:pt x="1100" y="80"/>
                  </a:lnTo>
                  <a:lnTo>
                    <a:pt x="1096" y="82"/>
                  </a:lnTo>
                  <a:lnTo>
                    <a:pt x="1094" y="82"/>
                  </a:lnTo>
                  <a:lnTo>
                    <a:pt x="1092" y="82"/>
                  </a:lnTo>
                  <a:lnTo>
                    <a:pt x="1088" y="84"/>
                  </a:lnTo>
                  <a:lnTo>
                    <a:pt x="1086" y="86"/>
                  </a:lnTo>
                  <a:lnTo>
                    <a:pt x="1084" y="86"/>
                  </a:lnTo>
                  <a:lnTo>
                    <a:pt x="1082" y="88"/>
                  </a:lnTo>
                  <a:lnTo>
                    <a:pt x="1080" y="90"/>
                  </a:lnTo>
                  <a:lnTo>
                    <a:pt x="1079" y="92"/>
                  </a:lnTo>
                  <a:lnTo>
                    <a:pt x="1077" y="94"/>
                  </a:lnTo>
                  <a:lnTo>
                    <a:pt x="1075" y="96"/>
                  </a:lnTo>
                  <a:lnTo>
                    <a:pt x="1073" y="98"/>
                  </a:lnTo>
                  <a:lnTo>
                    <a:pt x="1073" y="99"/>
                  </a:lnTo>
                  <a:lnTo>
                    <a:pt x="1071" y="99"/>
                  </a:lnTo>
                  <a:lnTo>
                    <a:pt x="1071" y="101"/>
                  </a:lnTo>
                  <a:lnTo>
                    <a:pt x="1023" y="167"/>
                  </a:lnTo>
                  <a:lnTo>
                    <a:pt x="881" y="130"/>
                  </a:lnTo>
                  <a:lnTo>
                    <a:pt x="881" y="128"/>
                  </a:lnTo>
                  <a:lnTo>
                    <a:pt x="881" y="126"/>
                  </a:lnTo>
                  <a:lnTo>
                    <a:pt x="881" y="124"/>
                  </a:lnTo>
                  <a:lnTo>
                    <a:pt x="881" y="123"/>
                  </a:lnTo>
                  <a:lnTo>
                    <a:pt x="881" y="121"/>
                  </a:lnTo>
                  <a:lnTo>
                    <a:pt x="881" y="119"/>
                  </a:lnTo>
                  <a:lnTo>
                    <a:pt x="879" y="117"/>
                  </a:lnTo>
                  <a:lnTo>
                    <a:pt x="879" y="113"/>
                  </a:lnTo>
                  <a:lnTo>
                    <a:pt x="879" y="111"/>
                  </a:lnTo>
                  <a:lnTo>
                    <a:pt x="879" y="107"/>
                  </a:lnTo>
                  <a:lnTo>
                    <a:pt x="879" y="105"/>
                  </a:lnTo>
                  <a:lnTo>
                    <a:pt x="877" y="101"/>
                  </a:lnTo>
                  <a:lnTo>
                    <a:pt x="877" y="98"/>
                  </a:lnTo>
                  <a:lnTo>
                    <a:pt x="877" y="94"/>
                  </a:lnTo>
                  <a:lnTo>
                    <a:pt x="877" y="90"/>
                  </a:lnTo>
                  <a:lnTo>
                    <a:pt x="875" y="86"/>
                  </a:lnTo>
                  <a:lnTo>
                    <a:pt x="875" y="84"/>
                  </a:lnTo>
                  <a:lnTo>
                    <a:pt x="875" y="80"/>
                  </a:lnTo>
                  <a:lnTo>
                    <a:pt x="875" y="76"/>
                  </a:lnTo>
                  <a:lnTo>
                    <a:pt x="873" y="73"/>
                  </a:lnTo>
                  <a:lnTo>
                    <a:pt x="873" y="69"/>
                  </a:lnTo>
                  <a:lnTo>
                    <a:pt x="873" y="65"/>
                  </a:lnTo>
                  <a:lnTo>
                    <a:pt x="871" y="61"/>
                  </a:lnTo>
                  <a:lnTo>
                    <a:pt x="871" y="57"/>
                  </a:lnTo>
                  <a:lnTo>
                    <a:pt x="871" y="53"/>
                  </a:lnTo>
                  <a:lnTo>
                    <a:pt x="869" y="50"/>
                  </a:lnTo>
                  <a:lnTo>
                    <a:pt x="869" y="46"/>
                  </a:lnTo>
                  <a:lnTo>
                    <a:pt x="869" y="42"/>
                  </a:lnTo>
                  <a:lnTo>
                    <a:pt x="867" y="40"/>
                  </a:lnTo>
                  <a:lnTo>
                    <a:pt x="867" y="36"/>
                  </a:lnTo>
                  <a:lnTo>
                    <a:pt x="865" y="32"/>
                  </a:lnTo>
                  <a:lnTo>
                    <a:pt x="865" y="30"/>
                  </a:lnTo>
                  <a:lnTo>
                    <a:pt x="864" y="28"/>
                  </a:lnTo>
                  <a:lnTo>
                    <a:pt x="864" y="25"/>
                  </a:lnTo>
                  <a:lnTo>
                    <a:pt x="862" y="23"/>
                  </a:lnTo>
                  <a:lnTo>
                    <a:pt x="860" y="21"/>
                  </a:lnTo>
                  <a:lnTo>
                    <a:pt x="860" y="19"/>
                  </a:lnTo>
                  <a:lnTo>
                    <a:pt x="858" y="17"/>
                  </a:lnTo>
                  <a:lnTo>
                    <a:pt x="856" y="15"/>
                  </a:lnTo>
                  <a:lnTo>
                    <a:pt x="854" y="13"/>
                  </a:lnTo>
                  <a:lnTo>
                    <a:pt x="852" y="11"/>
                  </a:lnTo>
                  <a:lnTo>
                    <a:pt x="850" y="11"/>
                  </a:lnTo>
                  <a:lnTo>
                    <a:pt x="848" y="9"/>
                  </a:lnTo>
                  <a:lnTo>
                    <a:pt x="846" y="7"/>
                  </a:lnTo>
                  <a:lnTo>
                    <a:pt x="844" y="5"/>
                  </a:lnTo>
                  <a:lnTo>
                    <a:pt x="842" y="5"/>
                  </a:lnTo>
                  <a:lnTo>
                    <a:pt x="841" y="5"/>
                  </a:lnTo>
                  <a:lnTo>
                    <a:pt x="839" y="4"/>
                  </a:lnTo>
                  <a:lnTo>
                    <a:pt x="837" y="4"/>
                  </a:lnTo>
                  <a:lnTo>
                    <a:pt x="835" y="4"/>
                  </a:lnTo>
                  <a:lnTo>
                    <a:pt x="835" y="2"/>
                  </a:lnTo>
                  <a:lnTo>
                    <a:pt x="833" y="2"/>
                  </a:lnTo>
                  <a:lnTo>
                    <a:pt x="831" y="2"/>
                  </a:lnTo>
                  <a:lnTo>
                    <a:pt x="829" y="2"/>
                  </a:lnTo>
                  <a:lnTo>
                    <a:pt x="827" y="2"/>
                  </a:lnTo>
                  <a:lnTo>
                    <a:pt x="827" y="0"/>
                  </a:lnTo>
                  <a:lnTo>
                    <a:pt x="825" y="0"/>
                  </a:lnTo>
                  <a:lnTo>
                    <a:pt x="823" y="0"/>
                  </a:lnTo>
                  <a:lnTo>
                    <a:pt x="821" y="0"/>
                  </a:lnTo>
                  <a:lnTo>
                    <a:pt x="819" y="0"/>
                  </a:lnTo>
                  <a:lnTo>
                    <a:pt x="817" y="0"/>
                  </a:lnTo>
                  <a:lnTo>
                    <a:pt x="816" y="0"/>
                  </a:lnTo>
                  <a:lnTo>
                    <a:pt x="814" y="0"/>
                  </a:lnTo>
                  <a:lnTo>
                    <a:pt x="812" y="0"/>
                  </a:lnTo>
                  <a:lnTo>
                    <a:pt x="810" y="0"/>
                  </a:lnTo>
                  <a:lnTo>
                    <a:pt x="808" y="0"/>
                  </a:lnTo>
                  <a:lnTo>
                    <a:pt x="804" y="0"/>
                  </a:lnTo>
                  <a:lnTo>
                    <a:pt x="802" y="0"/>
                  </a:lnTo>
                  <a:lnTo>
                    <a:pt x="798" y="0"/>
                  </a:lnTo>
                  <a:lnTo>
                    <a:pt x="794" y="0"/>
                  </a:lnTo>
                  <a:lnTo>
                    <a:pt x="791" y="0"/>
                  </a:lnTo>
                  <a:lnTo>
                    <a:pt x="787" y="0"/>
                  </a:lnTo>
                  <a:lnTo>
                    <a:pt x="783" y="0"/>
                  </a:lnTo>
                  <a:lnTo>
                    <a:pt x="779" y="0"/>
                  </a:lnTo>
                  <a:lnTo>
                    <a:pt x="773" y="0"/>
                  </a:lnTo>
                  <a:lnTo>
                    <a:pt x="769" y="2"/>
                  </a:lnTo>
                  <a:lnTo>
                    <a:pt x="764" y="2"/>
                  </a:lnTo>
                  <a:lnTo>
                    <a:pt x="760" y="2"/>
                  </a:lnTo>
                  <a:lnTo>
                    <a:pt x="756" y="2"/>
                  </a:lnTo>
                  <a:lnTo>
                    <a:pt x="752" y="4"/>
                  </a:lnTo>
                  <a:lnTo>
                    <a:pt x="748" y="4"/>
                  </a:lnTo>
                  <a:lnTo>
                    <a:pt x="745" y="5"/>
                  </a:lnTo>
                  <a:lnTo>
                    <a:pt x="743" y="7"/>
                  </a:lnTo>
                  <a:lnTo>
                    <a:pt x="741" y="9"/>
                  </a:lnTo>
                  <a:lnTo>
                    <a:pt x="737" y="11"/>
                  </a:lnTo>
                  <a:lnTo>
                    <a:pt x="735" y="11"/>
                  </a:lnTo>
                  <a:lnTo>
                    <a:pt x="733" y="13"/>
                  </a:lnTo>
                  <a:lnTo>
                    <a:pt x="731" y="15"/>
                  </a:lnTo>
                  <a:lnTo>
                    <a:pt x="729" y="17"/>
                  </a:lnTo>
                  <a:lnTo>
                    <a:pt x="727" y="19"/>
                  </a:lnTo>
                  <a:lnTo>
                    <a:pt x="727" y="21"/>
                  </a:lnTo>
                  <a:lnTo>
                    <a:pt x="725" y="23"/>
                  </a:lnTo>
                  <a:lnTo>
                    <a:pt x="723" y="25"/>
                  </a:lnTo>
                  <a:lnTo>
                    <a:pt x="723" y="27"/>
                  </a:lnTo>
                  <a:lnTo>
                    <a:pt x="723" y="28"/>
                  </a:lnTo>
                  <a:lnTo>
                    <a:pt x="721" y="30"/>
                  </a:lnTo>
                  <a:lnTo>
                    <a:pt x="721" y="32"/>
                  </a:lnTo>
                  <a:lnTo>
                    <a:pt x="721" y="34"/>
                  </a:lnTo>
                  <a:lnTo>
                    <a:pt x="720" y="36"/>
                  </a:lnTo>
                  <a:lnTo>
                    <a:pt x="720" y="38"/>
                  </a:lnTo>
                  <a:lnTo>
                    <a:pt x="720" y="40"/>
                  </a:lnTo>
                  <a:lnTo>
                    <a:pt x="720" y="42"/>
                  </a:lnTo>
                  <a:lnTo>
                    <a:pt x="708" y="124"/>
                  </a:lnTo>
                  <a:lnTo>
                    <a:pt x="566" y="157"/>
                  </a:lnTo>
                  <a:lnTo>
                    <a:pt x="564" y="155"/>
                  </a:lnTo>
                  <a:lnTo>
                    <a:pt x="564" y="153"/>
                  </a:lnTo>
                  <a:lnTo>
                    <a:pt x="562" y="153"/>
                  </a:lnTo>
                  <a:lnTo>
                    <a:pt x="562" y="151"/>
                  </a:lnTo>
                  <a:lnTo>
                    <a:pt x="560" y="149"/>
                  </a:lnTo>
                  <a:lnTo>
                    <a:pt x="558" y="147"/>
                  </a:lnTo>
                  <a:lnTo>
                    <a:pt x="558" y="146"/>
                  </a:lnTo>
                  <a:lnTo>
                    <a:pt x="556" y="144"/>
                  </a:lnTo>
                  <a:lnTo>
                    <a:pt x="554" y="140"/>
                  </a:lnTo>
                  <a:lnTo>
                    <a:pt x="553" y="138"/>
                  </a:lnTo>
                  <a:lnTo>
                    <a:pt x="551" y="136"/>
                  </a:lnTo>
                  <a:lnTo>
                    <a:pt x="549" y="132"/>
                  </a:lnTo>
                  <a:lnTo>
                    <a:pt x="547" y="130"/>
                  </a:lnTo>
                  <a:lnTo>
                    <a:pt x="545" y="126"/>
                  </a:lnTo>
                  <a:lnTo>
                    <a:pt x="543" y="124"/>
                  </a:lnTo>
                  <a:lnTo>
                    <a:pt x="541" y="121"/>
                  </a:lnTo>
                  <a:lnTo>
                    <a:pt x="539" y="119"/>
                  </a:lnTo>
                  <a:lnTo>
                    <a:pt x="535" y="115"/>
                  </a:lnTo>
                  <a:lnTo>
                    <a:pt x="533" y="111"/>
                  </a:lnTo>
                  <a:lnTo>
                    <a:pt x="531" y="109"/>
                  </a:lnTo>
                  <a:lnTo>
                    <a:pt x="530" y="105"/>
                  </a:lnTo>
                  <a:lnTo>
                    <a:pt x="528" y="103"/>
                  </a:lnTo>
                  <a:lnTo>
                    <a:pt x="526" y="99"/>
                  </a:lnTo>
                  <a:lnTo>
                    <a:pt x="522" y="96"/>
                  </a:lnTo>
                  <a:lnTo>
                    <a:pt x="520" y="94"/>
                  </a:lnTo>
                  <a:lnTo>
                    <a:pt x="518" y="90"/>
                  </a:lnTo>
                  <a:lnTo>
                    <a:pt x="516" y="88"/>
                  </a:lnTo>
                  <a:lnTo>
                    <a:pt x="514" y="84"/>
                  </a:lnTo>
                  <a:lnTo>
                    <a:pt x="512" y="82"/>
                  </a:lnTo>
                  <a:lnTo>
                    <a:pt x="510" y="80"/>
                  </a:lnTo>
                  <a:lnTo>
                    <a:pt x="508" y="78"/>
                  </a:lnTo>
                  <a:lnTo>
                    <a:pt x="506" y="76"/>
                  </a:lnTo>
                  <a:lnTo>
                    <a:pt x="503" y="75"/>
                  </a:lnTo>
                  <a:lnTo>
                    <a:pt x="501" y="73"/>
                  </a:lnTo>
                  <a:lnTo>
                    <a:pt x="499" y="71"/>
                  </a:lnTo>
                  <a:lnTo>
                    <a:pt x="497" y="71"/>
                  </a:lnTo>
                  <a:lnTo>
                    <a:pt x="495" y="69"/>
                  </a:lnTo>
                  <a:lnTo>
                    <a:pt x="491" y="69"/>
                  </a:lnTo>
                  <a:lnTo>
                    <a:pt x="489" y="67"/>
                  </a:lnTo>
                  <a:lnTo>
                    <a:pt x="487" y="67"/>
                  </a:lnTo>
                  <a:lnTo>
                    <a:pt x="485" y="67"/>
                  </a:lnTo>
                  <a:lnTo>
                    <a:pt x="483" y="65"/>
                  </a:lnTo>
                  <a:lnTo>
                    <a:pt x="482" y="65"/>
                  </a:lnTo>
                  <a:lnTo>
                    <a:pt x="480" y="65"/>
                  </a:lnTo>
                  <a:lnTo>
                    <a:pt x="478" y="65"/>
                  </a:lnTo>
                  <a:lnTo>
                    <a:pt x="474" y="65"/>
                  </a:lnTo>
                  <a:lnTo>
                    <a:pt x="472" y="65"/>
                  </a:lnTo>
                  <a:lnTo>
                    <a:pt x="470" y="65"/>
                  </a:lnTo>
                  <a:lnTo>
                    <a:pt x="468" y="65"/>
                  </a:lnTo>
                  <a:lnTo>
                    <a:pt x="466" y="65"/>
                  </a:lnTo>
                  <a:lnTo>
                    <a:pt x="464" y="65"/>
                  </a:lnTo>
                  <a:lnTo>
                    <a:pt x="464" y="67"/>
                  </a:lnTo>
                  <a:lnTo>
                    <a:pt x="462" y="67"/>
                  </a:lnTo>
                  <a:lnTo>
                    <a:pt x="460" y="67"/>
                  </a:lnTo>
                  <a:lnTo>
                    <a:pt x="458" y="67"/>
                  </a:lnTo>
                  <a:lnTo>
                    <a:pt x="457" y="69"/>
                  </a:lnTo>
                  <a:lnTo>
                    <a:pt x="455" y="69"/>
                  </a:lnTo>
                  <a:lnTo>
                    <a:pt x="453" y="71"/>
                  </a:lnTo>
                  <a:lnTo>
                    <a:pt x="451" y="71"/>
                  </a:lnTo>
                  <a:lnTo>
                    <a:pt x="449" y="73"/>
                  </a:lnTo>
                  <a:lnTo>
                    <a:pt x="447" y="75"/>
                  </a:lnTo>
                  <a:lnTo>
                    <a:pt x="445" y="75"/>
                  </a:lnTo>
                  <a:lnTo>
                    <a:pt x="443" y="76"/>
                  </a:lnTo>
                  <a:lnTo>
                    <a:pt x="441" y="76"/>
                  </a:lnTo>
                  <a:lnTo>
                    <a:pt x="437" y="78"/>
                  </a:lnTo>
                  <a:lnTo>
                    <a:pt x="435" y="80"/>
                  </a:lnTo>
                  <a:lnTo>
                    <a:pt x="432" y="82"/>
                  </a:lnTo>
                  <a:lnTo>
                    <a:pt x="430" y="82"/>
                  </a:lnTo>
                  <a:lnTo>
                    <a:pt x="426" y="84"/>
                  </a:lnTo>
                  <a:lnTo>
                    <a:pt x="422" y="86"/>
                  </a:lnTo>
                  <a:lnTo>
                    <a:pt x="418" y="88"/>
                  </a:lnTo>
                  <a:lnTo>
                    <a:pt x="414" y="92"/>
                  </a:lnTo>
                  <a:lnTo>
                    <a:pt x="410" y="94"/>
                  </a:lnTo>
                  <a:lnTo>
                    <a:pt x="407" y="96"/>
                  </a:lnTo>
                  <a:lnTo>
                    <a:pt x="403" y="98"/>
                  </a:lnTo>
                  <a:lnTo>
                    <a:pt x="399" y="101"/>
                  </a:lnTo>
                  <a:lnTo>
                    <a:pt x="395" y="103"/>
                  </a:lnTo>
                  <a:lnTo>
                    <a:pt x="393" y="105"/>
                  </a:lnTo>
                  <a:lnTo>
                    <a:pt x="389" y="109"/>
                  </a:lnTo>
                  <a:lnTo>
                    <a:pt x="387" y="111"/>
                  </a:lnTo>
                  <a:lnTo>
                    <a:pt x="386" y="113"/>
                  </a:lnTo>
                  <a:lnTo>
                    <a:pt x="384" y="117"/>
                  </a:lnTo>
                  <a:lnTo>
                    <a:pt x="382" y="119"/>
                  </a:lnTo>
                  <a:lnTo>
                    <a:pt x="382" y="121"/>
                  </a:lnTo>
                  <a:lnTo>
                    <a:pt x="380" y="124"/>
                  </a:lnTo>
                  <a:lnTo>
                    <a:pt x="380" y="126"/>
                  </a:lnTo>
                  <a:lnTo>
                    <a:pt x="380" y="128"/>
                  </a:lnTo>
                  <a:lnTo>
                    <a:pt x="378" y="130"/>
                  </a:lnTo>
                  <a:lnTo>
                    <a:pt x="378" y="134"/>
                  </a:lnTo>
                  <a:lnTo>
                    <a:pt x="378" y="136"/>
                  </a:lnTo>
                  <a:lnTo>
                    <a:pt x="378" y="138"/>
                  </a:lnTo>
                  <a:lnTo>
                    <a:pt x="378" y="140"/>
                  </a:lnTo>
                  <a:lnTo>
                    <a:pt x="378" y="142"/>
                  </a:lnTo>
                  <a:lnTo>
                    <a:pt x="378" y="144"/>
                  </a:lnTo>
                  <a:lnTo>
                    <a:pt x="380" y="146"/>
                  </a:lnTo>
                  <a:lnTo>
                    <a:pt x="380" y="147"/>
                  </a:lnTo>
                  <a:lnTo>
                    <a:pt x="380" y="149"/>
                  </a:lnTo>
                  <a:lnTo>
                    <a:pt x="380" y="151"/>
                  </a:lnTo>
                  <a:lnTo>
                    <a:pt x="382" y="151"/>
                  </a:lnTo>
                  <a:lnTo>
                    <a:pt x="382" y="153"/>
                  </a:lnTo>
                  <a:lnTo>
                    <a:pt x="382" y="155"/>
                  </a:lnTo>
                  <a:lnTo>
                    <a:pt x="409" y="232"/>
                  </a:lnTo>
                  <a:lnTo>
                    <a:pt x="299" y="328"/>
                  </a:lnTo>
                  <a:lnTo>
                    <a:pt x="297" y="328"/>
                  </a:lnTo>
                  <a:lnTo>
                    <a:pt x="297" y="326"/>
                  </a:lnTo>
                  <a:lnTo>
                    <a:pt x="295" y="326"/>
                  </a:lnTo>
                  <a:lnTo>
                    <a:pt x="293" y="326"/>
                  </a:lnTo>
                  <a:lnTo>
                    <a:pt x="291" y="324"/>
                  </a:lnTo>
                  <a:lnTo>
                    <a:pt x="290" y="324"/>
                  </a:lnTo>
                  <a:lnTo>
                    <a:pt x="288" y="322"/>
                  </a:lnTo>
                  <a:lnTo>
                    <a:pt x="286" y="320"/>
                  </a:lnTo>
                  <a:lnTo>
                    <a:pt x="284" y="320"/>
                  </a:lnTo>
                  <a:lnTo>
                    <a:pt x="282" y="318"/>
                  </a:lnTo>
                  <a:lnTo>
                    <a:pt x="278" y="316"/>
                  </a:lnTo>
                  <a:lnTo>
                    <a:pt x="276" y="316"/>
                  </a:lnTo>
                  <a:lnTo>
                    <a:pt x="272" y="314"/>
                  </a:lnTo>
                  <a:lnTo>
                    <a:pt x="270" y="313"/>
                  </a:lnTo>
                  <a:lnTo>
                    <a:pt x="267" y="311"/>
                  </a:lnTo>
                  <a:lnTo>
                    <a:pt x="263" y="309"/>
                  </a:lnTo>
                  <a:lnTo>
                    <a:pt x="261" y="307"/>
                  </a:lnTo>
                  <a:lnTo>
                    <a:pt x="257" y="307"/>
                  </a:lnTo>
                  <a:lnTo>
                    <a:pt x="253" y="305"/>
                  </a:lnTo>
                  <a:lnTo>
                    <a:pt x="249" y="303"/>
                  </a:lnTo>
                  <a:lnTo>
                    <a:pt x="245" y="301"/>
                  </a:lnTo>
                  <a:lnTo>
                    <a:pt x="243" y="299"/>
                  </a:lnTo>
                  <a:lnTo>
                    <a:pt x="240" y="297"/>
                  </a:lnTo>
                  <a:lnTo>
                    <a:pt x="236" y="295"/>
                  </a:lnTo>
                  <a:lnTo>
                    <a:pt x="232" y="295"/>
                  </a:lnTo>
                  <a:lnTo>
                    <a:pt x="228" y="293"/>
                  </a:lnTo>
                  <a:lnTo>
                    <a:pt x="226" y="291"/>
                  </a:lnTo>
                  <a:lnTo>
                    <a:pt x="222" y="289"/>
                  </a:lnTo>
                  <a:lnTo>
                    <a:pt x="219" y="289"/>
                  </a:lnTo>
                  <a:lnTo>
                    <a:pt x="217" y="288"/>
                  </a:lnTo>
                  <a:lnTo>
                    <a:pt x="213" y="286"/>
                  </a:lnTo>
                  <a:lnTo>
                    <a:pt x="211" y="286"/>
                  </a:lnTo>
                  <a:lnTo>
                    <a:pt x="207" y="284"/>
                  </a:lnTo>
                  <a:lnTo>
                    <a:pt x="205" y="284"/>
                  </a:lnTo>
                  <a:lnTo>
                    <a:pt x="201" y="284"/>
                  </a:lnTo>
                  <a:lnTo>
                    <a:pt x="199" y="284"/>
                  </a:lnTo>
                  <a:lnTo>
                    <a:pt x="197" y="284"/>
                  </a:lnTo>
                  <a:lnTo>
                    <a:pt x="194" y="284"/>
                  </a:lnTo>
                  <a:lnTo>
                    <a:pt x="192" y="284"/>
                  </a:lnTo>
                  <a:lnTo>
                    <a:pt x="190" y="284"/>
                  </a:lnTo>
                  <a:lnTo>
                    <a:pt x="188" y="284"/>
                  </a:lnTo>
                  <a:lnTo>
                    <a:pt x="186" y="284"/>
                  </a:lnTo>
                  <a:lnTo>
                    <a:pt x="184" y="286"/>
                  </a:lnTo>
                  <a:lnTo>
                    <a:pt x="182" y="286"/>
                  </a:lnTo>
                  <a:lnTo>
                    <a:pt x="180" y="288"/>
                  </a:lnTo>
                  <a:lnTo>
                    <a:pt x="178" y="288"/>
                  </a:lnTo>
                  <a:lnTo>
                    <a:pt x="176" y="289"/>
                  </a:lnTo>
                  <a:lnTo>
                    <a:pt x="174" y="289"/>
                  </a:lnTo>
                  <a:lnTo>
                    <a:pt x="172" y="291"/>
                  </a:lnTo>
                  <a:lnTo>
                    <a:pt x="171" y="291"/>
                  </a:lnTo>
                  <a:lnTo>
                    <a:pt x="171" y="293"/>
                  </a:lnTo>
                  <a:lnTo>
                    <a:pt x="169" y="293"/>
                  </a:lnTo>
                  <a:lnTo>
                    <a:pt x="167" y="295"/>
                  </a:lnTo>
                  <a:lnTo>
                    <a:pt x="165" y="297"/>
                  </a:lnTo>
                  <a:lnTo>
                    <a:pt x="163" y="299"/>
                  </a:lnTo>
                  <a:lnTo>
                    <a:pt x="163" y="301"/>
                  </a:lnTo>
                  <a:lnTo>
                    <a:pt x="161" y="301"/>
                  </a:lnTo>
                  <a:lnTo>
                    <a:pt x="161" y="303"/>
                  </a:lnTo>
                  <a:lnTo>
                    <a:pt x="159" y="305"/>
                  </a:lnTo>
                  <a:lnTo>
                    <a:pt x="157" y="307"/>
                  </a:lnTo>
                  <a:lnTo>
                    <a:pt x="157" y="309"/>
                  </a:lnTo>
                  <a:lnTo>
                    <a:pt x="155" y="311"/>
                  </a:lnTo>
                  <a:lnTo>
                    <a:pt x="153" y="313"/>
                  </a:lnTo>
                  <a:lnTo>
                    <a:pt x="153" y="314"/>
                  </a:lnTo>
                  <a:lnTo>
                    <a:pt x="151" y="316"/>
                  </a:lnTo>
                  <a:lnTo>
                    <a:pt x="149" y="318"/>
                  </a:lnTo>
                  <a:lnTo>
                    <a:pt x="147" y="320"/>
                  </a:lnTo>
                  <a:lnTo>
                    <a:pt x="146" y="322"/>
                  </a:lnTo>
                  <a:lnTo>
                    <a:pt x="144" y="326"/>
                  </a:lnTo>
                  <a:lnTo>
                    <a:pt x="142" y="328"/>
                  </a:lnTo>
                  <a:lnTo>
                    <a:pt x="140" y="332"/>
                  </a:lnTo>
                  <a:lnTo>
                    <a:pt x="138" y="336"/>
                  </a:lnTo>
                  <a:lnTo>
                    <a:pt x="136" y="339"/>
                  </a:lnTo>
                  <a:lnTo>
                    <a:pt x="132" y="343"/>
                  </a:lnTo>
                  <a:lnTo>
                    <a:pt x="130" y="347"/>
                  </a:lnTo>
                  <a:lnTo>
                    <a:pt x="128" y="351"/>
                  </a:lnTo>
                  <a:lnTo>
                    <a:pt x="124" y="355"/>
                  </a:lnTo>
                  <a:lnTo>
                    <a:pt x="124" y="359"/>
                  </a:lnTo>
                  <a:lnTo>
                    <a:pt x="123" y="362"/>
                  </a:lnTo>
                  <a:lnTo>
                    <a:pt x="121" y="366"/>
                  </a:lnTo>
                  <a:lnTo>
                    <a:pt x="121" y="368"/>
                  </a:lnTo>
                  <a:lnTo>
                    <a:pt x="119" y="372"/>
                  </a:lnTo>
                  <a:lnTo>
                    <a:pt x="119" y="376"/>
                  </a:lnTo>
                  <a:lnTo>
                    <a:pt x="119" y="378"/>
                  </a:lnTo>
                  <a:lnTo>
                    <a:pt x="119" y="382"/>
                  </a:lnTo>
                  <a:lnTo>
                    <a:pt x="119" y="384"/>
                  </a:lnTo>
                  <a:lnTo>
                    <a:pt x="121" y="385"/>
                  </a:lnTo>
                  <a:lnTo>
                    <a:pt x="121" y="389"/>
                  </a:lnTo>
                  <a:lnTo>
                    <a:pt x="121" y="391"/>
                  </a:lnTo>
                  <a:lnTo>
                    <a:pt x="123" y="393"/>
                  </a:lnTo>
                  <a:lnTo>
                    <a:pt x="123" y="395"/>
                  </a:lnTo>
                  <a:lnTo>
                    <a:pt x="124" y="397"/>
                  </a:lnTo>
                  <a:lnTo>
                    <a:pt x="124" y="399"/>
                  </a:lnTo>
                  <a:lnTo>
                    <a:pt x="126" y="401"/>
                  </a:lnTo>
                  <a:lnTo>
                    <a:pt x="126" y="403"/>
                  </a:lnTo>
                  <a:lnTo>
                    <a:pt x="128" y="403"/>
                  </a:lnTo>
                  <a:lnTo>
                    <a:pt x="130" y="405"/>
                  </a:lnTo>
                  <a:lnTo>
                    <a:pt x="130" y="407"/>
                  </a:lnTo>
                  <a:lnTo>
                    <a:pt x="132" y="407"/>
                  </a:lnTo>
                  <a:lnTo>
                    <a:pt x="132" y="408"/>
                  </a:lnTo>
                  <a:lnTo>
                    <a:pt x="134" y="408"/>
                  </a:lnTo>
                  <a:lnTo>
                    <a:pt x="136" y="410"/>
                  </a:lnTo>
                  <a:lnTo>
                    <a:pt x="195" y="466"/>
                  </a:lnTo>
                  <a:lnTo>
                    <a:pt x="142" y="602"/>
                  </a:lnTo>
                  <a:lnTo>
                    <a:pt x="140" y="602"/>
                  </a:lnTo>
                  <a:lnTo>
                    <a:pt x="138" y="602"/>
                  </a:lnTo>
                  <a:lnTo>
                    <a:pt x="136" y="602"/>
                  </a:lnTo>
                  <a:lnTo>
                    <a:pt x="134" y="602"/>
                  </a:lnTo>
                  <a:lnTo>
                    <a:pt x="132" y="602"/>
                  </a:lnTo>
                  <a:lnTo>
                    <a:pt x="130" y="602"/>
                  </a:lnTo>
                  <a:lnTo>
                    <a:pt x="126" y="602"/>
                  </a:lnTo>
                  <a:lnTo>
                    <a:pt x="124" y="602"/>
                  </a:lnTo>
                  <a:lnTo>
                    <a:pt x="121" y="602"/>
                  </a:lnTo>
                  <a:lnTo>
                    <a:pt x="119" y="602"/>
                  </a:lnTo>
                  <a:lnTo>
                    <a:pt x="115" y="602"/>
                  </a:lnTo>
                  <a:lnTo>
                    <a:pt x="113" y="602"/>
                  </a:lnTo>
                  <a:lnTo>
                    <a:pt x="109" y="602"/>
                  </a:lnTo>
                  <a:lnTo>
                    <a:pt x="105" y="604"/>
                  </a:lnTo>
                  <a:lnTo>
                    <a:pt x="101" y="604"/>
                  </a:lnTo>
                  <a:lnTo>
                    <a:pt x="98" y="604"/>
                  </a:lnTo>
                  <a:lnTo>
                    <a:pt x="94" y="604"/>
                  </a:lnTo>
                  <a:lnTo>
                    <a:pt x="90" y="604"/>
                  </a:lnTo>
                  <a:lnTo>
                    <a:pt x="86" y="604"/>
                  </a:lnTo>
                  <a:lnTo>
                    <a:pt x="82" y="604"/>
                  </a:lnTo>
                  <a:lnTo>
                    <a:pt x="78" y="604"/>
                  </a:lnTo>
                  <a:lnTo>
                    <a:pt x="75" y="604"/>
                  </a:lnTo>
                  <a:lnTo>
                    <a:pt x="71" y="604"/>
                  </a:lnTo>
                  <a:lnTo>
                    <a:pt x="67" y="604"/>
                  </a:lnTo>
                  <a:lnTo>
                    <a:pt x="65" y="604"/>
                  </a:lnTo>
                  <a:lnTo>
                    <a:pt x="61" y="604"/>
                  </a:lnTo>
                  <a:lnTo>
                    <a:pt x="57" y="606"/>
                  </a:lnTo>
                  <a:lnTo>
                    <a:pt x="53" y="606"/>
                  </a:lnTo>
                  <a:lnTo>
                    <a:pt x="50" y="606"/>
                  </a:lnTo>
                  <a:lnTo>
                    <a:pt x="48" y="606"/>
                  </a:lnTo>
                  <a:lnTo>
                    <a:pt x="44" y="606"/>
                  </a:lnTo>
                  <a:lnTo>
                    <a:pt x="42" y="606"/>
                  </a:lnTo>
                  <a:lnTo>
                    <a:pt x="38" y="608"/>
                  </a:lnTo>
                  <a:lnTo>
                    <a:pt x="36" y="608"/>
                  </a:lnTo>
                  <a:lnTo>
                    <a:pt x="34" y="610"/>
                  </a:lnTo>
                  <a:lnTo>
                    <a:pt x="30" y="610"/>
                  </a:lnTo>
                  <a:lnTo>
                    <a:pt x="28" y="612"/>
                  </a:lnTo>
                  <a:lnTo>
                    <a:pt x="27" y="614"/>
                  </a:lnTo>
                  <a:lnTo>
                    <a:pt x="25" y="614"/>
                  </a:lnTo>
                  <a:lnTo>
                    <a:pt x="23" y="616"/>
                  </a:lnTo>
                  <a:lnTo>
                    <a:pt x="21" y="618"/>
                  </a:lnTo>
                  <a:lnTo>
                    <a:pt x="19" y="620"/>
                  </a:lnTo>
                  <a:lnTo>
                    <a:pt x="19" y="622"/>
                  </a:lnTo>
                  <a:lnTo>
                    <a:pt x="17" y="622"/>
                  </a:lnTo>
                  <a:lnTo>
                    <a:pt x="15" y="623"/>
                  </a:lnTo>
                  <a:lnTo>
                    <a:pt x="15" y="625"/>
                  </a:lnTo>
                  <a:lnTo>
                    <a:pt x="13" y="627"/>
                  </a:lnTo>
                  <a:lnTo>
                    <a:pt x="13" y="629"/>
                  </a:lnTo>
                  <a:lnTo>
                    <a:pt x="11" y="631"/>
                  </a:lnTo>
                  <a:lnTo>
                    <a:pt x="9" y="633"/>
                  </a:lnTo>
                  <a:lnTo>
                    <a:pt x="9" y="635"/>
                  </a:lnTo>
                  <a:lnTo>
                    <a:pt x="9" y="637"/>
                  </a:lnTo>
                  <a:lnTo>
                    <a:pt x="7" y="639"/>
                  </a:lnTo>
                  <a:lnTo>
                    <a:pt x="7" y="641"/>
                  </a:lnTo>
                  <a:lnTo>
                    <a:pt x="7" y="643"/>
                  </a:lnTo>
                  <a:lnTo>
                    <a:pt x="7" y="645"/>
                  </a:lnTo>
                  <a:lnTo>
                    <a:pt x="7" y="646"/>
                  </a:lnTo>
                  <a:lnTo>
                    <a:pt x="5" y="646"/>
                  </a:lnTo>
                  <a:lnTo>
                    <a:pt x="5" y="648"/>
                  </a:lnTo>
                  <a:lnTo>
                    <a:pt x="5" y="650"/>
                  </a:lnTo>
                  <a:lnTo>
                    <a:pt x="5" y="652"/>
                  </a:lnTo>
                  <a:lnTo>
                    <a:pt x="5" y="654"/>
                  </a:lnTo>
                  <a:lnTo>
                    <a:pt x="5" y="656"/>
                  </a:lnTo>
                  <a:lnTo>
                    <a:pt x="5" y="658"/>
                  </a:lnTo>
                  <a:lnTo>
                    <a:pt x="5" y="662"/>
                  </a:lnTo>
                  <a:lnTo>
                    <a:pt x="4" y="664"/>
                  </a:lnTo>
                  <a:lnTo>
                    <a:pt x="4" y="666"/>
                  </a:lnTo>
                  <a:lnTo>
                    <a:pt x="4" y="670"/>
                  </a:lnTo>
                  <a:lnTo>
                    <a:pt x="4" y="673"/>
                  </a:lnTo>
                  <a:lnTo>
                    <a:pt x="4" y="677"/>
                  </a:lnTo>
                  <a:lnTo>
                    <a:pt x="2" y="681"/>
                  </a:lnTo>
                  <a:lnTo>
                    <a:pt x="2" y="685"/>
                  </a:lnTo>
                  <a:lnTo>
                    <a:pt x="2" y="689"/>
                  </a:lnTo>
                  <a:lnTo>
                    <a:pt x="2" y="694"/>
                  </a:lnTo>
                  <a:lnTo>
                    <a:pt x="0" y="698"/>
                  </a:lnTo>
                  <a:lnTo>
                    <a:pt x="0" y="704"/>
                  </a:lnTo>
                  <a:lnTo>
                    <a:pt x="0" y="708"/>
                  </a:lnTo>
                  <a:lnTo>
                    <a:pt x="0" y="712"/>
                  </a:lnTo>
                  <a:lnTo>
                    <a:pt x="2" y="716"/>
                  </a:lnTo>
                  <a:lnTo>
                    <a:pt x="2" y="719"/>
                  </a:lnTo>
                  <a:lnTo>
                    <a:pt x="4" y="723"/>
                  </a:lnTo>
                  <a:lnTo>
                    <a:pt x="4" y="725"/>
                  </a:lnTo>
                  <a:lnTo>
                    <a:pt x="5" y="729"/>
                  </a:lnTo>
                  <a:lnTo>
                    <a:pt x="5" y="731"/>
                  </a:lnTo>
                  <a:lnTo>
                    <a:pt x="7" y="733"/>
                  </a:lnTo>
                  <a:lnTo>
                    <a:pt x="9" y="737"/>
                  </a:lnTo>
                  <a:lnTo>
                    <a:pt x="11" y="739"/>
                  </a:lnTo>
                  <a:lnTo>
                    <a:pt x="13" y="741"/>
                  </a:lnTo>
                  <a:lnTo>
                    <a:pt x="13" y="742"/>
                  </a:lnTo>
                  <a:lnTo>
                    <a:pt x="15" y="742"/>
                  </a:lnTo>
                  <a:lnTo>
                    <a:pt x="17" y="744"/>
                  </a:lnTo>
                  <a:lnTo>
                    <a:pt x="19" y="746"/>
                  </a:lnTo>
                  <a:lnTo>
                    <a:pt x="21" y="746"/>
                  </a:lnTo>
                  <a:lnTo>
                    <a:pt x="23" y="748"/>
                  </a:lnTo>
                  <a:lnTo>
                    <a:pt x="25" y="748"/>
                  </a:lnTo>
                  <a:lnTo>
                    <a:pt x="27" y="750"/>
                  </a:lnTo>
                  <a:lnTo>
                    <a:pt x="28" y="750"/>
                  </a:lnTo>
                  <a:lnTo>
                    <a:pt x="30" y="750"/>
                  </a:lnTo>
                  <a:lnTo>
                    <a:pt x="32" y="752"/>
                  </a:lnTo>
                  <a:lnTo>
                    <a:pt x="34" y="752"/>
                  </a:lnTo>
                  <a:lnTo>
                    <a:pt x="36" y="752"/>
                  </a:lnTo>
                  <a:lnTo>
                    <a:pt x="117" y="775"/>
                  </a:lnTo>
                  <a:lnTo>
                    <a:pt x="130" y="919"/>
                  </a:lnTo>
                  <a:lnTo>
                    <a:pt x="130" y="921"/>
                  </a:lnTo>
                  <a:lnTo>
                    <a:pt x="128" y="921"/>
                  </a:lnTo>
                  <a:lnTo>
                    <a:pt x="126" y="923"/>
                  </a:lnTo>
                  <a:lnTo>
                    <a:pt x="124" y="923"/>
                  </a:lnTo>
                  <a:lnTo>
                    <a:pt x="123" y="925"/>
                  </a:lnTo>
                  <a:lnTo>
                    <a:pt x="121" y="925"/>
                  </a:lnTo>
                  <a:lnTo>
                    <a:pt x="119" y="927"/>
                  </a:lnTo>
                  <a:lnTo>
                    <a:pt x="115" y="927"/>
                  </a:lnTo>
                  <a:lnTo>
                    <a:pt x="113" y="929"/>
                  </a:lnTo>
                  <a:lnTo>
                    <a:pt x="111" y="931"/>
                  </a:lnTo>
                  <a:lnTo>
                    <a:pt x="107" y="932"/>
                  </a:lnTo>
                  <a:lnTo>
                    <a:pt x="105" y="934"/>
                  </a:lnTo>
                  <a:lnTo>
                    <a:pt x="101" y="934"/>
                  </a:lnTo>
                  <a:lnTo>
                    <a:pt x="100" y="936"/>
                  </a:lnTo>
                  <a:lnTo>
                    <a:pt x="96" y="938"/>
                  </a:lnTo>
                  <a:lnTo>
                    <a:pt x="92" y="940"/>
                  </a:lnTo>
                  <a:lnTo>
                    <a:pt x="88" y="942"/>
                  </a:lnTo>
                  <a:lnTo>
                    <a:pt x="86" y="944"/>
                  </a:lnTo>
                  <a:lnTo>
                    <a:pt x="82" y="946"/>
                  </a:lnTo>
                  <a:lnTo>
                    <a:pt x="78" y="948"/>
                  </a:lnTo>
                  <a:lnTo>
                    <a:pt x="75" y="950"/>
                  </a:lnTo>
                  <a:lnTo>
                    <a:pt x="73" y="952"/>
                  </a:lnTo>
                  <a:lnTo>
                    <a:pt x="69" y="954"/>
                  </a:lnTo>
                  <a:lnTo>
                    <a:pt x="65" y="955"/>
                  </a:lnTo>
                  <a:lnTo>
                    <a:pt x="63" y="957"/>
                  </a:lnTo>
                  <a:lnTo>
                    <a:pt x="59" y="959"/>
                  </a:lnTo>
                  <a:lnTo>
                    <a:pt x="55" y="961"/>
                  </a:lnTo>
                  <a:lnTo>
                    <a:pt x="53" y="963"/>
                  </a:lnTo>
                  <a:lnTo>
                    <a:pt x="50" y="963"/>
                  </a:lnTo>
                  <a:lnTo>
                    <a:pt x="48" y="965"/>
                  </a:lnTo>
                  <a:lnTo>
                    <a:pt x="46" y="967"/>
                  </a:lnTo>
                  <a:lnTo>
                    <a:pt x="42" y="969"/>
                  </a:lnTo>
                  <a:lnTo>
                    <a:pt x="40" y="971"/>
                  </a:lnTo>
                  <a:lnTo>
                    <a:pt x="38" y="973"/>
                  </a:lnTo>
                  <a:lnTo>
                    <a:pt x="38" y="975"/>
                  </a:lnTo>
                  <a:lnTo>
                    <a:pt x="36" y="979"/>
                  </a:lnTo>
                  <a:lnTo>
                    <a:pt x="34" y="980"/>
                  </a:lnTo>
                  <a:lnTo>
                    <a:pt x="32" y="982"/>
                  </a:lnTo>
                  <a:lnTo>
                    <a:pt x="32" y="984"/>
                  </a:lnTo>
                  <a:lnTo>
                    <a:pt x="30" y="986"/>
                  </a:lnTo>
                  <a:lnTo>
                    <a:pt x="30" y="988"/>
                  </a:lnTo>
                  <a:lnTo>
                    <a:pt x="30" y="990"/>
                  </a:lnTo>
                  <a:lnTo>
                    <a:pt x="28" y="992"/>
                  </a:lnTo>
                  <a:lnTo>
                    <a:pt x="28" y="994"/>
                  </a:lnTo>
                  <a:lnTo>
                    <a:pt x="28" y="996"/>
                  </a:lnTo>
                  <a:lnTo>
                    <a:pt x="28" y="998"/>
                  </a:lnTo>
                  <a:lnTo>
                    <a:pt x="28" y="1000"/>
                  </a:lnTo>
                  <a:lnTo>
                    <a:pt x="28" y="1002"/>
                  </a:lnTo>
                  <a:lnTo>
                    <a:pt x="28" y="1003"/>
                  </a:lnTo>
                  <a:lnTo>
                    <a:pt x="28" y="1005"/>
                  </a:lnTo>
                  <a:lnTo>
                    <a:pt x="28" y="1007"/>
                  </a:lnTo>
                  <a:lnTo>
                    <a:pt x="28" y="1009"/>
                  </a:lnTo>
                  <a:lnTo>
                    <a:pt x="28" y="1011"/>
                  </a:lnTo>
                  <a:lnTo>
                    <a:pt x="28" y="1013"/>
                  </a:lnTo>
                  <a:lnTo>
                    <a:pt x="28" y="1015"/>
                  </a:lnTo>
                  <a:lnTo>
                    <a:pt x="30" y="1015"/>
                  </a:lnTo>
                  <a:lnTo>
                    <a:pt x="30" y="1017"/>
                  </a:lnTo>
                  <a:lnTo>
                    <a:pt x="30" y="1019"/>
                  </a:lnTo>
                  <a:lnTo>
                    <a:pt x="32" y="1021"/>
                  </a:lnTo>
                  <a:lnTo>
                    <a:pt x="32" y="1023"/>
                  </a:lnTo>
                  <a:lnTo>
                    <a:pt x="32" y="1025"/>
                  </a:lnTo>
                  <a:lnTo>
                    <a:pt x="34" y="1027"/>
                  </a:lnTo>
                  <a:lnTo>
                    <a:pt x="34" y="1028"/>
                  </a:lnTo>
                  <a:lnTo>
                    <a:pt x="34" y="1030"/>
                  </a:lnTo>
                  <a:lnTo>
                    <a:pt x="36" y="1032"/>
                  </a:lnTo>
                  <a:lnTo>
                    <a:pt x="36" y="1034"/>
                  </a:lnTo>
                  <a:lnTo>
                    <a:pt x="38" y="1036"/>
                  </a:lnTo>
                  <a:lnTo>
                    <a:pt x="38" y="1040"/>
                  </a:lnTo>
                  <a:lnTo>
                    <a:pt x="40" y="1042"/>
                  </a:lnTo>
                  <a:lnTo>
                    <a:pt x="40" y="1046"/>
                  </a:lnTo>
                  <a:lnTo>
                    <a:pt x="42" y="1050"/>
                  </a:lnTo>
                  <a:lnTo>
                    <a:pt x="44" y="1053"/>
                  </a:lnTo>
                  <a:lnTo>
                    <a:pt x="46" y="1057"/>
                  </a:lnTo>
                  <a:lnTo>
                    <a:pt x="48" y="1061"/>
                  </a:lnTo>
                  <a:lnTo>
                    <a:pt x="48" y="1065"/>
                  </a:lnTo>
                  <a:lnTo>
                    <a:pt x="50" y="1071"/>
                  </a:lnTo>
                  <a:lnTo>
                    <a:pt x="52" y="1074"/>
                  </a:lnTo>
                  <a:lnTo>
                    <a:pt x="55" y="1078"/>
                  </a:lnTo>
                  <a:lnTo>
                    <a:pt x="57" y="1082"/>
                  </a:lnTo>
                  <a:lnTo>
                    <a:pt x="59" y="1084"/>
                  </a:lnTo>
                  <a:lnTo>
                    <a:pt x="61" y="1088"/>
                  </a:lnTo>
                  <a:lnTo>
                    <a:pt x="63" y="1090"/>
                  </a:lnTo>
                  <a:lnTo>
                    <a:pt x="65" y="1092"/>
                  </a:lnTo>
                  <a:lnTo>
                    <a:pt x="69" y="1094"/>
                  </a:lnTo>
                  <a:lnTo>
                    <a:pt x="71" y="1096"/>
                  </a:lnTo>
                  <a:lnTo>
                    <a:pt x="73" y="1098"/>
                  </a:lnTo>
                  <a:lnTo>
                    <a:pt x="75" y="1099"/>
                  </a:lnTo>
                  <a:lnTo>
                    <a:pt x="78" y="1099"/>
                  </a:lnTo>
                  <a:lnTo>
                    <a:pt x="80" y="1101"/>
                  </a:lnTo>
                  <a:lnTo>
                    <a:pt x="82" y="1101"/>
                  </a:lnTo>
                  <a:lnTo>
                    <a:pt x="84" y="1101"/>
                  </a:lnTo>
                  <a:lnTo>
                    <a:pt x="86" y="1103"/>
                  </a:lnTo>
                  <a:lnTo>
                    <a:pt x="88" y="1103"/>
                  </a:lnTo>
                  <a:lnTo>
                    <a:pt x="90" y="1103"/>
                  </a:lnTo>
                  <a:lnTo>
                    <a:pt x="92" y="1103"/>
                  </a:lnTo>
                  <a:lnTo>
                    <a:pt x="94" y="1103"/>
                  </a:lnTo>
                  <a:lnTo>
                    <a:pt x="96" y="1103"/>
                  </a:lnTo>
                  <a:lnTo>
                    <a:pt x="98" y="1103"/>
                  </a:lnTo>
                  <a:lnTo>
                    <a:pt x="100" y="1103"/>
                  </a:lnTo>
                  <a:lnTo>
                    <a:pt x="101" y="1103"/>
                  </a:lnTo>
                  <a:lnTo>
                    <a:pt x="103" y="1101"/>
                  </a:lnTo>
                  <a:lnTo>
                    <a:pt x="105" y="1101"/>
                  </a:lnTo>
                  <a:lnTo>
                    <a:pt x="188" y="1084"/>
                  </a:lnTo>
                  <a:lnTo>
                    <a:pt x="268" y="1205"/>
                  </a:lnTo>
                  <a:close/>
                </a:path>
              </a:pathLst>
            </a:custGeom>
            <a:solidFill>
              <a:schemeClr val="accent1"/>
            </a:solidFill>
            <a:ln>
              <a:noFill/>
              <a:headEnd/>
              <a:tailEnd/>
            </a:ln>
            <a:effectLst/>
          </p:spPr>
          <p:style>
            <a:lnRef idx="3">
              <a:schemeClr val="lt1"/>
            </a:lnRef>
            <a:fillRef idx="1">
              <a:schemeClr val="accent2"/>
            </a:fillRef>
            <a:effectRef idx="1">
              <a:schemeClr val="accent2"/>
            </a:effectRef>
            <a:fontRef idx="minor">
              <a:schemeClr val="lt1"/>
            </a:fontRef>
          </p:style>
          <p:txBody>
            <a:bodyPr vert="horz" wrap="square" lIns="44450" tIns="274320" rIns="44450" bIns="44450" numCol="1" anchor="ctr" anchorCtr="0" compatLnSpc="1">
              <a:prstTxWarp prst="textNoShape">
                <a:avLst/>
              </a:prstTxWarp>
            </a:bodyPr>
            <a:lstStyle/>
            <a:p>
              <a:pPr algn="ctr" defTabSz="913686" rtl="1"/>
              <a:r>
                <a:rPr lang="he-IL" sz="2000" b="1" dirty="0">
                  <a:solidFill>
                    <a:srgbClr val="FFFFFF"/>
                  </a:solidFill>
                  <a:latin typeface="Calibri" panose="020F0502020204030204" pitchFamily="34" charset="0"/>
                  <a:cs typeface="Calibri" panose="020F0502020204030204" pitchFamily="34" charset="0"/>
                </a:rPr>
                <a:t>פיתוח יכולות</a:t>
              </a:r>
              <a:r>
                <a:rPr lang="en-US" sz="2000" b="1" dirty="0">
                  <a:solidFill>
                    <a:srgbClr val="FFFFFF"/>
                  </a:solidFill>
                  <a:latin typeface="Calibri" panose="020F0502020204030204" pitchFamily="34" charset="0"/>
                  <a:cs typeface="Calibri" panose="020F0502020204030204" pitchFamily="34" charset="0"/>
                </a:rPr>
                <a:t/>
              </a:r>
              <a:br>
                <a:rPr lang="en-US" sz="2000" b="1" dirty="0">
                  <a:solidFill>
                    <a:srgbClr val="FFFFFF"/>
                  </a:solidFill>
                  <a:latin typeface="Calibri" panose="020F0502020204030204" pitchFamily="34" charset="0"/>
                  <a:cs typeface="Calibri" panose="020F0502020204030204" pitchFamily="34" charset="0"/>
                </a:rPr>
              </a:br>
              <a:r>
                <a:rPr lang="he-IL" sz="2000" b="1" dirty="0">
                  <a:solidFill>
                    <a:srgbClr val="FFFFFF"/>
                  </a:solidFill>
                  <a:latin typeface="Calibri" panose="020F0502020204030204" pitchFamily="34" charset="0"/>
                  <a:cs typeface="Calibri" panose="020F0502020204030204" pitchFamily="34" charset="0"/>
                </a:rPr>
                <a:t> </a:t>
              </a:r>
              <a:r>
                <a:rPr lang="en-US" sz="2000" b="1" dirty="0">
                  <a:solidFill>
                    <a:srgbClr val="FFFFFF"/>
                  </a:solidFill>
                  <a:latin typeface="Calibri" panose="020F0502020204030204" pitchFamily="34" charset="0"/>
                  <a:cs typeface="Calibri" panose="020F0502020204030204" pitchFamily="34" charset="0"/>
                </a:rPr>
                <a:t>AI</a:t>
              </a:r>
            </a:p>
          </p:txBody>
        </p:sp>
        <p:sp>
          <p:nvSpPr>
            <p:cNvPr id="29" name="Arc 28">
              <a:extLst>
                <a:ext uri="{FF2B5EF4-FFF2-40B4-BE49-F238E27FC236}">
                  <a16:creationId xmlns:a16="http://schemas.microsoft.com/office/drawing/2014/main" id="{D9CCFA4A-3616-48CE-876F-07F1365A64CE}"/>
                </a:ext>
              </a:extLst>
            </p:cNvPr>
            <p:cNvSpPr/>
            <p:nvPr/>
          </p:nvSpPr>
          <p:spPr bwMode="gray">
            <a:xfrm rot="617810">
              <a:off x="3159925" y="3597701"/>
              <a:ext cx="1883664" cy="1867174"/>
            </a:xfrm>
            <a:prstGeom prst="arc">
              <a:avLst>
                <a:gd name="adj1" fmla="val 16686941"/>
                <a:gd name="adj2" fmla="val 8034923"/>
              </a:avLst>
            </a:prstGeom>
            <a:ln w="28575">
              <a:solidFill>
                <a:schemeClr val="accent3"/>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sp>
          <p:nvSpPr>
            <p:cNvPr id="30" name="Arc 29">
              <a:extLst>
                <a:ext uri="{FF2B5EF4-FFF2-40B4-BE49-F238E27FC236}">
                  <a16:creationId xmlns:a16="http://schemas.microsoft.com/office/drawing/2014/main" id="{08FA9DA3-15A3-4F2E-87C3-948BF5D3994F}"/>
                </a:ext>
              </a:extLst>
            </p:cNvPr>
            <p:cNvSpPr/>
            <p:nvPr/>
          </p:nvSpPr>
          <p:spPr bwMode="gray">
            <a:xfrm rot="617810">
              <a:off x="2390715" y="2306745"/>
              <a:ext cx="1792224" cy="1773816"/>
            </a:xfrm>
            <a:prstGeom prst="arc">
              <a:avLst>
                <a:gd name="adj1" fmla="val 10210110"/>
                <a:gd name="adj2" fmla="val 175146"/>
              </a:avLst>
            </a:prstGeom>
            <a:ln w="28575">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sp>
          <p:nvSpPr>
            <p:cNvPr id="31" name="Arc 30">
              <a:extLst>
                <a:ext uri="{FF2B5EF4-FFF2-40B4-BE49-F238E27FC236}">
                  <a16:creationId xmlns:a16="http://schemas.microsoft.com/office/drawing/2014/main" id="{09F281AB-D5A6-44C6-A902-2ABC33B66EE6}"/>
                </a:ext>
              </a:extLst>
            </p:cNvPr>
            <p:cNvSpPr/>
            <p:nvPr/>
          </p:nvSpPr>
          <p:spPr bwMode="gray">
            <a:xfrm rot="5756245" flipH="1">
              <a:off x="1475770" y="3579735"/>
              <a:ext cx="1829831" cy="1788753"/>
            </a:xfrm>
            <a:prstGeom prst="arc">
              <a:avLst>
                <a:gd name="adj1" fmla="val 1078623"/>
                <a:gd name="adj2" fmla="val 13769744"/>
              </a:avLst>
            </a:prstGeom>
            <a:ln w="28575">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defTabSz="913686"/>
              <a:endParaRPr lang="en-US" sz="1200" dirty="0">
                <a:solidFill>
                  <a:srgbClr val="000000"/>
                </a:solidFill>
                <a:latin typeface="Calibri" panose="020F0502020204030204" pitchFamily="34" charset="0"/>
                <a:cs typeface="Calibri" panose="020F0502020204030204" pitchFamily="34" charset="0"/>
              </a:endParaRPr>
            </a:p>
          </p:txBody>
        </p:sp>
        <p:grpSp>
          <p:nvGrpSpPr>
            <p:cNvPr id="32" name="Group 449">
              <a:extLst>
                <a:ext uri="{FF2B5EF4-FFF2-40B4-BE49-F238E27FC236}">
                  <a16:creationId xmlns:a16="http://schemas.microsoft.com/office/drawing/2014/main" id="{02D64051-01E2-4749-B62D-BB4DE7E5D45F}"/>
                </a:ext>
              </a:extLst>
            </p:cNvPr>
            <p:cNvGrpSpPr>
              <a:grpSpLocks noChangeAspect="1"/>
            </p:cNvGrpSpPr>
            <p:nvPr/>
          </p:nvGrpSpPr>
          <p:grpSpPr bwMode="auto">
            <a:xfrm>
              <a:off x="3130085" y="2757956"/>
              <a:ext cx="316218" cy="316218"/>
              <a:chOff x="2276" y="1587"/>
              <a:chExt cx="340" cy="340"/>
            </a:xfrm>
            <a:solidFill>
              <a:schemeClr val="bg1"/>
            </a:solidFill>
          </p:grpSpPr>
          <p:sp>
            <p:nvSpPr>
              <p:cNvPr id="33" name="Freeform 450">
                <a:extLst>
                  <a:ext uri="{FF2B5EF4-FFF2-40B4-BE49-F238E27FC236}">
                    <a16:creationId xmlns:a16="http://schemas.microsoft.com/office/drawing/2014/main" id="{283CA427-C2FB-45CE-8FFE-D53E3B6E40D4}"/>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sp>
            <p:nvSpPr>
              <p:cNvPr id="34" name="Freeform 451">
                <a:extLst>
                  <a:ext uri="{FF2B5EF4-FFF2-40B4-BE49-F238E27FC236}">
                    <a16:creationId xmlns:a16="http://schemas.microsoft.com/office/drawing/2014/main" id="{F33F217B-C391-45FE-A081-3FD26A91C94A}"/>
                  </a:ext>
                </a:extLst>
              </p:cNvPr>
              <p:cNvSpPr>
                <a:spLocks noEditPoints="1"/>
              </p:cNvSpPr>
              <p:nvPr/>
            </p:nvSpPr>
            <p:spPr bwMode="auto">
              <a:xfrm>
                <a:off x="2276" y="1587"/>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266 w 512"/>
                  <a:gd name="T13" fmla="*/ 266 h 512"/>
                  <a:gd name="T14" fmla="*/ 266 w 512"/>
                  <a:gd name="T15" fmla="*/ 405 h 512"/>
                  <a:gd name="T16" fmla="*/ 256 w 512"/>
                  <a:gd name="T17" fmla="*/ 416 h 512"/>
                  <a:gd name="T18" fmla="*/ 245 w 512"/>
                  <a:gd name="T19" fmla="*/ 405 h 512"/>
                  <a:gd name="T20" fmla="*/ 245 w 512"/>
                  <a:gd name="T21" fmla="*/ 266 h 512"/>
                  <a:gd name="T22" fmla="*/ 106 w 512"/>
                  <a:gd name="T23" fmla="*/ 266 h 512"/>
                  <a:gd name="T24" fmla="*/ 96 w 512"/>
                  <a:gd name="T25" fmla="*/ 256 h 512"/>
                  <a:gd name="T26" fmla="*/ 106 w 512"/>
                  <a:gd name="T27" fmla="*/ 245 h 512"/>
                  <a:gd name="T28" fmla="*/ 245 w 512"/>
                  <a:gd name="T29" fmla="*/ 245 h 512"/>
                  <a:gd name="T30" fmla="*/ 245 w 512"/>
                  <a:gd name="T31" fmla="*/ 106 h 512"/>
                  <a:gd name="T32" fmla="*/ 256 w 512"/>
                  <a:gd name="T33" fmla="*/ 96 h 512"/>
                  <a:gd name="T34" fmla="*/ 266 w 512"/>
                  <a:gd name="T35" fmla="*/ 106 h 512"/>
                  <a:gd name="T36" fmla="*/ 266 w 512"/>
                  <a:gd name="T37" fmla="*/ 245 h 512"/>
                  <a:gd name="T38" fmla="*/ 405 w 512"/>
                  <a:gd name="T39" fmla="*/ 245 h 512"/>
                  <a:gd name="T40" fmla="*/ 416 w 512"/>
                  <a:gd name="T41" fmla="*/ 256 h 512"/>
                  <a:gd name="T42" fmla="*/ 405 w 512"/>
                  <a:gd name="T4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266" y="266"/>
                      <a:pt x="266" y="266"/>
                      <a:pt x="266" y="266"/>
                    </a:cubicBezTo>
                    <a:cubicBezTo>
                      <a:pt x="266" y="405"/>
                      <a:pt x="266" y="405"/>
                      <a:pt x="266" y="405"/>
                    </a:cubicBezTo>
                    <a:cubicBezTo>
                      <a:pt x="266" y="411"/>
                      <a:pt x="262" y="416"/>
                      <a:pt x="256" y="416"/>
                    </a:cubicBezTo>
                    <a:cubicBezTo>
                      <a:pt x="250" y="416"/>
                      <a:pt x="245" y="411"/>
                      <a:pt x="245" y="405"/>
                    </a:cubicBezTo>
                    <a:cubicBezTo>
                      <a:pt x="245" y="266"/>
                      <a:pt x="245" y="266"/>
                      <a:pt x="245" y="266"/>
                    </a:cubicBezTo>
                    <a:cubicBezTo>
                      <a:pt x="106" y="266"/>
                      <a:pt x="106" y="266"/>
                      <a:pt x="106" y="266"/>
                    </a:cubicBezTo>
                    <a:cubicBezTo>
                      <a:pt x="100" y="266"/>
                      <a:pt x="96" y="262"/>
                      <a:pt x="96" y="256"/>
                    </a:cubicBezTo>
                    <a:cubicBezTo>
                      <a:pt x="96" y="250"/>
                      <a:pt x="100" y="245"/>
                      <a:pt x="106" y="245"/>
                    </a:cubicBezTo>
                    <a:cubicBezTo>
                      <a:pt x="245" y="245"/>
                      <a:pt x="245" y="245"/>
                      <a:pt x="245" y="245"/>
                    </a:cubicBezTo>
                    <a:cubicBezTo>
                      <a:pt x="245" y="106"/>
                      <a:pt x="245" y="106"/>
                      <a:pt x="245" y="106"/>
                    </a:cubicBezTo>
                    <a:cubicBezTo>
                      <a:pt x="245" y="100"/>
                      <a:pt x="250" y="96"/>
                      <a:pt x="256" y="96"/>
                    </a:cubicBezTo>
                    <a:cubicBezTo>
                      <a:pt x="262" y="96"/>
                      <a:pt x="266" y="100"/>
                      <a:pt x="266" y="106"/>
                    </a:cubicBezTo>
                    <a:cubicBezTo>
                      <a:pt x="266" y="245"/>
                      <a:pt x="266" y="245"/>
                      <a:pt x="266" y="245"/>
                    </a:cubicBezTo>
                    <a:cubicBezTo>
                      <a:pt x="405" y="245"/>
                      <a:pt x="405" y="245"/>
                      <a:pt x="405" y="245"/>
                    </a:cubicBezTo>
                    <a:cubicBezTo>
                      <a:pt x="411" y="245"/>
                      <a:pt x="416" y="250"/>
                      <a:pt x="416" y="256"/>
                    </a:cubicBezTo>
                    <a:cubicBezTo>
                      <a:pt x="416" y="262"/>
                      <a:pt x="411" y="266"/>
                      <a:pt x="405" y="26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grpSp>
        <p:sp>
          <p:nvSpPr>
            <p:cNvPr id="35" name="Freeform 884">
              <a:extLst>
                <a:ext uri="{FF2B5EF4-FFF2-40B4-BE49-F238E27FC236}">
                  <a16:creationId xmlns:a16="http://schemas.microsoft.com/office/drawing/2014/main" id="{94B830AB-5E6E-4A1E-9567-03F2E3B1DC53}"/>
                </a:ext>
              </a:extLst>
            </p:cNvPr>
            <p:cNvSpPr>
              <a:spLocks noChangeAspect="1" noEditPoints="1"/>
            </p:cNvSpPr>
            <p:nvPr/>
          </p:nvSpPr>
          <p:spPr bwMode="auto">
            <a:xfrm>
              <a:off x="2238436" y="3993502"/>
              <a:ext cx="314521" cy="314521"/>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5 w 512"/>
                <a:gd name="T11" fmla="*/ 266 h 512"/>
                <a:gd name="T12" fmla="*/ 106 w 512"/>
                <a:gd name="T13" fmla="*/ 266 h 512"/>
                <a:gd name="T14" fmla="*/ 96 w 512"/>
                <a:gd name="T15" fmla="*/ 256 h 512"/>
                <a:gd name="T16" fmla="*/ 106 w 512"/>
                <a:gd name="T17" fmla="*/ 245 h 512"/>
                <a:gd name="T18" fmla="*/ 405 w 512"/>
                <a:gd name="T19" fmla="*/ 245 h 512"/>
                <a:gd name="T20" fmla="*/ 416 w 512"/>
                <a:gd name="T21" fmla="*/ 256 h 512"/>
                <a:gd name="T22" fmla="*/ 405 w 512"/>
                <a:gd name="T23" fmla="*/ 266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5" y="266"/>
                  </a:moveTo>
                  <a:cubicBezTo>
                    <a:pt x="106" y="266"/>
                    <a:pt x="106" y="266"/>
                    <a:pt x="106" y="266"/>
                  </a:cubicBezTo>
                  <a:cubicBezTo>
                    <a:pt x="100" y="266"/>
                    <a:pt x="96" y="262"/>
                    <a:pt x="96" y="256"/>
                  </a:cubicBezTo>
                  <a:cubicBezTo>
                    <a:pt x="96" y="250"/>
                    <a:pt x="100" y="245"/>
                    <a:pt x="106" y="245"/>
                  </a:cubicBezTo>
                  <a:cubicBezTo>
                    <a:pt x="405" y="245"/>
                    <a:pt x="405" y="245"/>
                    <a:pt x="405" y="245"/>
                  </a:cubicBezTo>
                  <a:cubicBezTo>
                    <a:pt x="411" y="245"/>
                    <a:pt x="416" y="250"/>
                    <a:pt x="416" y="256"/>
                  </a:cubicBezTo>
                  <a:cubicBezTo>
                    <a:pt x="416" y="262"/>
                    <a:pt x="411" y="266"/>
                    <a:pt x="405" y="266"/>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sp>
          <p:nvSpPr>
            <p:cNvPr id="36" name="Freeform 598">
              <a:extLst>
                <a:ext uri="{FF2B5EF4-FFF2-40B4-BE49-F238E27FC236}">
                  <a16:creationId xmlns:a16="http://schemas.microsoft.com/office/drawing/2014/main" id="{AA8A77A4-5095-478D-A60E-5D43AC7E5A9D}"/>
                </a:ext>
              </a:extLst>
            </p:cNvPr>
            <p:cNvSpPr>
              <a:spLocks noChangeAspect="1" noEditPoints="1"/>
            </p:cNvSpPr>
            <p:nvPr/>
          </p:nvSpPr>
          <p:spPr bwMode="auto">
            <a:xfrm>
              <a:off x="3963308" y="4083789"/>
              <a:ext cx="316779" cy="31677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2 w 512"/>
                <a:gd name="T11" fmla="*/ 167 h 512"/>
                <a:gd name="T12" fmla="*/ 189 w 512"/>
                <a:gd name="T13" fmla="*/ 381 h 512"/>
                <a:gd name="T14" fmla="*/ 181 w 512"/>
                <a:gd name="T15" fmla="*/ 384 h 512"/>
                <a:gd name="T16" fmla="*/ 173 w 512"/>
                <a:gd name="T17" fmla="*/ 381 h 512"/>
                <a:gd name="T18" fmla="*/ 99 w 512"/>
                <a:gd name="T19" fmla="*/ 306 h 512"/>
                <a:gd name="T20" fmla="*/ 99 w 512"/>
                <a:gd name="T21" fmla="*/ 291 h 512"/>
                <a:gd name="T22" fmla="*/ 114 w 512"/>
                <a:gd name="T23" fmla="*/ 291 h 512"/>
                <a:gd name="T24" fmla="*/ 181 w 512"/>
                <a:gd name="T25" fmla="*/ 358 h 512"/>
                <a:gd name="T26" fmla="*/ 387 w 512"/>
                <a:gd name="T27" fmla="*/ 152 h 512"/>
                <a:gd name="T28" fmla="*/ 402 w 512"/>
                <a:gd name="T29" fmla="*/ 152 h 512"/>
                <a:gd name="T30" fmla="*/ 402 w 512"/>
                <a:gd name="T31" fmla="*/ 167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2" y="167"/>
                  </a:moveTo>
                  <a:cubicBezTo>
                    <a:pt x="189" y="381"/>
                    <a:pt x="189" y="381"/>
                    <a:pt x="189" y="381"/>
                  </a:cubicBezTo>
                  <a:cubicBezTo>
                    <a:pt x="186" y="383"/>
                    <a:pt x="184" y="384"/>
                    <a:pt x="181" y="384"/>
                  </a:cubicBezTo>
                  <a:cubicBezTo>
                    <a:pt x="178" y="384"/>
                    <a:pt x="176" y="383"/>
                    <a:pt x="173" y="381"/>
                  </a:cubicBezTo>
                  <a:cubicBezTo>
                    <a:pt x="99" y="306"/>
                    <a:pt x="99" y="306"/>
                    <a:pt x="99" y="306"/>
                  </a:cubicBezTo>
                  <a:cubicBezTo>
                    <a:pt x="95" y="302"/>
                    <a:pt x="95" y="295"/>
                    <a:pt x="99" y="291"/>
                  </a:cubicBezTo>
                  <a:cubicBezTo>
                    <a:pt x="103" y="287"/>
                    <a:pt x="110" y="287"/>
                    <a:pt x="114" y="291"/>
                  </a:cubicBezTo>
                  <a:cubicBezTo>
                    <a:pt x="181" y="358"/>
                    <a:pt x="181" y="358"/>
                    <a:pt x="181" y="358"/>
                  </a:cubicBezTo>
                  <a:cubicBezTo>
                    <a:pt x="387" y="152"/>
                    <a:pt x="387" y="152"/>
                    <a:pt x="387" y="152"/>
                  </a:cubicBezTo>
                  <a:cubicBezTo>
                    <a:pt x="391" y="148"/>
                    <a:pt x="398" y="148"/>
                    <a:pt x="402" y="152"/>
                  </a:cubicBezTo>
                  <a:cubicBezTo>
                    <a:pt x="406" y="156"/>
                    <a:pt x="406" y="163"/>
                    <a:pt x="402" y="167"/>
                  </a:cubicBezTo>
                  <a:close/>
                </a:path>
              </a:pathLst>
            </a:custGeom>
            <a:solidFill>
              <a:schemeClr val="bg1"/>
            </a:solidFill>
            <a:ln>
              <a:noFill/>
            </a:ln>
          </p:spPr>
          <p:txBody>
            <a:bodyPr vert="horz" wrap="square" lIns="72477" tIns="36238" rIns="72477" bIns="36238" numCol="1" anchor="t" anchorCtr="0" compatLnSpc="1">
              <a:prstTxWarp prst="textNoShape">
                <a:avLst/>
              </a:prstTxWarp>
            </a:bodyPr>
            <a:lstStyle/>
            <a:p>
              <a:endParaRPr lang="en-GB" sz="1427" dirty="0">
                <a:latin typeface="Calibri" panose="020F0502020204030204" pitchFamily="34" charset="0"/>
                <a:cs typeface="Calibri" panose="020F0502020204030204" pitchFamily="34" charset="0"/>
              </a:endParaRPr>
            </a:p>
          </p:txBody>
        </p:sp>
      </p:grpSp>
      <p:sp>
        <p:nvSpPr>
          <p:cNvPr id="5" name="Rectangle 4">
            <a:extLst>
              <a:ext uri="{FF2B5EF4-FFF2-40B4-BE49-F238E27FC236}">
                <a16:creationId xmlns:a16="http://schemas.microsoft.com/office/drawing/2014/main" id="{F919C655-10E5-46CB-8EDA-5DC9AF1A8A9B}"/>
              </a:ext>
            </a:extLst>
          </p:cNvPr>
          <p:cNvSpPr/>
          <p:nvPr/>
        </p:nvSpPr>
        <p:spPr>
          <a:xfrm>
            <a:off x="1375341" y="907211"/>
            <a:ext cx="2862604" cy="646331"/>
          </a:xfrm>
          <a:prstGeom prst="rect">
            <a:avLst/>
          </a:prstGeom>
        </p:spPr>
        <p:txBody>
          <a:bodyPr wrap="square">
            <a:spAutoFit/>
          </a:bodyPr>
          <a:lstStyle/>
          <a:p>
            <a:pPr algn="r"/>
            <a:r>
              <a:rPr lang="he-IL" dirty="0">
                <a:solidFill>
                  <a:prstClr val="black"/>
                </a:solidFill>
                <a:latin typeface="Calibri" panose="020F0502020204030204" pitchFamily="34" charset="0"/>
                <a:cs typeface="Calibri" panose="020F0502020204030204" pitchFamily="34" charset="0"/>
              </a:rPr>
              <a:t>1. איסוף, אחסון ועיבוד </a:t>
            </a:r>
          </a:p>
          <a:p>
            <a:pPr algn="r"/>
            <a:r>
              <a:rPr lang="he-IL" dirty="0">
                <a:solidFill>
                  <a:prstClr val="black"/>
                </a:solidFill>
                <a:latin typeface="Calibri" panose="020F0502020204030204" pitchFamily="34" charset="0"/>
                <a:cs typeface="Calibri" panose="020F0502020204030204" pitchFamily="34" charset="0"/>
              </a:rPr>
              <a:t>של נתונים </a:t>
            </a:r>
            <a:r>
              <a:rPr lang="he-IL" b="1" dirty="0">
                <a:solidFill>
                  <a:prstClr val="black"/>
                </a:solidFill>
                <a:latin typeface="Calibri" panose="020F0502020204030204" pitchFamily="34" charset="0"/>
                <a:cs typeface="Calibri" panose="020F0502020204030204" pitchFamily="34" charset="0"/>
              </a:rPr>
              <a:t>ממגוון מקורות</a:t>
            </a:r>
            <a:endParaRPr lang="en-IL" b="1" dirty="0"/>
          </a:p>
        </p:txBody>
      </p:sp>
      <p:sp>
        <p:nvSpPr>
          <p:cNvPr id="37" name="Rectangle 36">
            <a:extLst>
              <a:ext uri="{FF2B5EF4-FFF2-40B4-BE49-F238E27FC236}">
                <a16:creationId xmlns:a16="http://schemas.microsoft.com/office/drawing/2014/main" id="{733275F5-392B-4374-84DC-73F844BCD03A}"/>
              </a:ext>
            </a:extLst>
          </p:cNvPr>
          <p:cNvSpPr/>
          <p:nvPr/>
        </p:nvSpPr>
        <p:spPr>
          <a:xfrm>
            <a:off x="4693704" y="5397801"/>
            <a:ext cx="2989267" cy="646331"/>
          </a:xfrm>
          <a:prstGeom prst="rect">
            <a:avLst/>
          </a:prstGeom>
        </p:spPr>
        <p:txBody>
          <a:bodyPr wrap="square">
            <a:spAutoFit/>
          </a:bodyPr>
          <a:lstStyle/>
          <a:p>
            <a:pPr algn="r" rtl="1"/>
            <a:r>
              <a:rPr lang="he-IL" dirty="0">
                <a:solidFill>
                  <a:prstClr val="black"/>
                </a:solidFill>
                <a:latin typeface="Calibri" panose="020F0502020204030204" pitchFamily="34" charset="0"/>
                <a:cs typeface="Calibri" panose="020F0502020204030204" pitchFamily="34" charset="0"/>
              </a:rPr>
              <a:t>2. הנגשת מוצרי נתונים </a:t>
            </a:r>
            <a:r>
              <a:rPr lang="en-US" dirty="0">
                <a:solidFill>
                  <a:prstClr val="black"/>
                </a:solidFill>
                <a:latin typeface="Calibri" panose="020F0502020204030204" pitchFamily="34" charset="0"/>
                <a:cs typeface="Calibri" panose="020F0502020204030204" pitchFamily="34" charset="0"/>
              </a:rPr>
              <a:t/>
            </a:r>
            <a:br>
              <a:rPr lang="en-US" dirty="0">
                <a:solidFill>
                  <a:prstClr val="black"/>
                </a:solidFill>
                <a:latin typeface="Calibri" panose="020F0502020204030204" pitchFamily="34" charset="0"/>
                <a:cs typeface="Calibri" panose="020F0502020204030204" pitchFamily="34" charset="0"/>
              </a:rPr>
            </a:br>
            <a:r>
              <a:rPr lang="he-IL" dirty="0">
                <a:solidFill>
                  <a:prstClr val="black"/>
                </a:solidFill>
                <a:latin typeface="Calibri" panose="020F0502020204030204" pitchFamily="34" charset="0"/>
                <a:cs typeface="Calibri" panose="020F0502020204030204" pitchFamily="34" charset="0"/>
              </a:rPr>
              <a:t>תומכי החלטה </a:t>
            </a:r>
            <a:r>
              <a:rPr lang="he-IL" b="1" dirty="0">
                <a:solidFill>
                  <a:prstClr val="black"/>
                </a:solidFill>
                <a:latin typeface="Calibri" panose="020F0502020204030204" pitchFamily="34" charset="0"/>
                <a:cs typeface="Calibri" panose="020F0502020204030204" pitchFamily="34" charset="0"/>
              </a:rPr>
              <a:t>לכלל השחקנים</a:t>
            </a:r>
            <a:endParaRPr lang="en-IL" b="1" dirty="0"/>
          </a:p>
        </p:txBody>
      </p:sp>
      <p:sp>
        <p:nvSpPr>
          <p:cNvPr id="38" name="Rectangle 37">
            <a:extLst>
              <a:ext uri="{FF2B5EF4-FFF2-40B4-BE49-F238E27FC236}">
                <a16:creationId xmlns:a16="http://schemas.microsoft.com/office/drawing/2014/main" id="{6B6E0391-254E-43BC-93B2-F9A05A60B799}"/>
              </a:ext>
            </a:extLst>
          </p:cNvPr>
          <p:cNvSpPr/>
          <p:nvPr/>
        </p:nvSpPr>
        <p:spPr>
          <a:xfrm>
            <a:off x="60674" y="3560515"/>
            <a:ext cx="2260738" cy="646331"/>
          </a:xfrm>
          <a:prstGeom prst="rect">
            <a:avLst/>
          </a:prstGeom>
        </p:spPr>
        <p:txBody>
          <a:bodyPr wrap="square">
            <a:spAutoFit/>
          </a:bodyPr>
          <a:lstStyle/>
          <a:p>
            <a:pPr algn="r" rtl="1"/>
            <a:r>
              <a:rPr lang="he-IL" dirty="0">
                <a:solidFill>
                  <a:prstClr val="black"/>
                </a:solidFill>
                <a:latin typeface="Calibri" panose="020F0502020204030204" pitchFamily="34" charset="0"/>
                <a:cs typeface="Calibri" panose="020F0502020204030204" pitchFamily="34" charset="0"/>
              </a:rPr>
              <a:t>3. פיתוח ושימוש </a:t>
            </a:r>
            <a:r>
              <a:rPr lang="en-US" b="1" dirty="0">
                <a:solidFill>
                  <a:prstClr val="black"/>
                </a:solidFill>
                <a:latin typeface="Calibri" panose="020F0502020204030204" pitchFamily="34" charset="0"/>
                <a:cs typeface="Calibri" panose="020F0502020204030204" pitchFamily="34" charset="0"/>
              </a:rPr>
              <a:t/>
            </a:r>
            <a:br>
              <a:rPr lang="en-US" b="1" dirty="0">
                <a:solidFill>
                  <a:prstClr val="black"/>
                </a:solidFill>
                <a:latin typeface="Calibri" panose="020F0502020204030204" pitchFamily="34" charset="0"/>
                <a:cs typeface="Calibri" panose="020F0502020204030204" pitchFamily="34" charset="0"/>
              </a:rPr>
            </a:br>
            <a:r>
              <a:rPr lang="he-IL" b="1" dirty="0">
                <a:solidFill>
                  <a:prstClr val="black"/>
                </a:solidFill>
                <a:latin typeface="Calibri" panose="020F0502020204030204" pitchFamily="34" charset="0"/>
                <a:cs typeface="Calibri" panose="020F0502020204030204" pitchFamily="34" charset="0"/>
              </a:rPr>
              <a:t>בפתרונות </a:t>
            </a:r>
            <a:r>
              <a:rPr lang="en-US" b="1" dirty="0">
                <a:solidFill>
                  <a:prstClr val="black"/>
                </a:solidFill>
                <a:latin typeface="Calibri" panose="020F0502020204030204" pitchFamily="34" charset="0"/>
                <a:cs typeface="Calibri" panose="020F0502020204030204" pitchFamily="34" charset="0"/>
              </a:rPr>
              <a:t>AI</a:t>
            </a:r>
            <a:r>
              <a:rPr lang="he-IL" b="1" dirty="0">
                <a:solidFill>
                  <a:prstClr val="black"/>
                </a:solidFill>
                <a:latin typeface="Calibri" panose="020F0502020204030204" pitchFamily="34" charset="0"/>
                <a:cs typeface="Calibri" panose="020F0502020204030204" pitchFamily="34" charset="0"/>
              </a:rPr>
              <a:t> </a:t>
            </a:r>
            <a:r>
              <a:rPr lang="he-IL" dirty="0">
                <a:solidFill>
                  <a:prstClr val="black"/>
                </a:solidFill>
                <a:latin typeface="Calibri" panose="020F0502020204030204" pitchFamily="34" charset="0"/>
                <a:cs typeface="Calibri" panose="020F0502020204030204" pitchFamily="34" charset="0"/>
              </a:rPr>
              <a:t>חדשניים</a:t>
            </a:r>
            <a:endParaRPr lang="en-IL" dirty="0"/>
          </a:p>
        </p:txBody>
      </p:sp>
      <p:sp>
        <p:nvSpPr>
          <p:cNvPr id="2" name="Rectangle 1">
            <a:extLst>
              <a:ext uri="{FF2B5EF4-FFF2-40B4-BE49-F238E27FC236}">
                <a16:creationId xmlns:a16="http://schemas.microsoft.com/office/drawing/2014/main" id="{9850D813-0660-48D7-A702-7BF9E0E3143A}"/>
              </a:ext>
            </a:extLst>
          </p:cNvPr>
          <p:cNvSpPr/>
          <p:nvPr/>
        </p:nvSpPr>
        <p:spPr>
          <a:xfrm>
            <a:off x="139241" y="4150855"/>
            <a:ext cx="218235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1" name="Rectangle 20">
            <a:extLst>
              <a:ext uri="{FF2B5EF4-FFF2-40B4-BE49-F238E27FC236}">
                <a16:creationId xmlns:a16="http://schemas.microsoft.com/office/drawing/2014/main" id="{EA39893E-899D-4024-B8C0-F8FC8BDCAF03}"/>
              </a:ext>
            </a:extLst>
          </p:cNvPr>
          <p:cNvSpPr/>
          <p:nvPr/>
        </p:nvSpPr>
        <p:spPr>
          <a:xfrm>
            <a:off x="2111066" y="1526415"/>
            <a:ext cx="2182355" cy="45719"/>
          </a:xfrm>
          <a:prstGeom prst="rect">
            <a:avLst/>
          </a:prstGeom>
          <a:solidFill>
            <a:srgbClr val="009D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22" name="Rectangle 21">
            <a:extLst>
              <a:ext uri="{FF2B5EF4-FFF2-40B4-BE49-F238E27FC236}">
                <a16:creationId xmlns:a16="http://schemas.microsoft.com/office/drawing/2014/main" id="{4256B75F-415B-426C-B6EC-F0588F2E5FCD}"/>
              </a:ext>
            </a:extLst>
          </p:cNvPr>
          <p:cNvSpPr/>
          <p:nvPr/>
        </p:nvSpPr>
        <p:spPr>
          <a:xfrm>
            <a:off x="5486392" y="5323056"/>
            <a:ext cx="2182355" cy="45719"/>
          </a:xfrm>
          <a:prstGeom prst="rect">
            <a:avLst/>
          </a:prstGeom>
          <a:solidFill>
            <a:srgbClr val="0BD0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p>
        </p:txBody>
      </p:sp>
      <p:sp>
        <p:nvSpPr>
          <p:cNvPr id="39" name="TextBox 38">
            <a:extLst>
              <a:ext uri="{FF2B5EF4-FFF2-40B4-BE49-F238E27FC236}">
                <a16:creationId xmlns:a16="http://schemas.microsoft.com/office/drawing/2014/main" id="{7DA120A2-EA0D-4385-8632-798C6F4B2401}"/>
              </a:ext>
            </a:extLst>
          </p:cNvPr>
          <p:cNvSpPr txBox="1"/>
          <p:nvPr/>
        </p:nvSpPr>
        <p:spPr>
          <a:xfrm>
            <a:off x="8307235" y="682177"/>
            <a:ext cx="3868677" cy="2610843"/>
          </a:xfrm>
          <a:prstGeom prst="rect">
            <a:avLst/>
          </a:prstGeom>
          <a:noFill/>
        </p:spPr>
        <p:txBody>
          <a:bodyPr wrap="square" rtlCol="0">
            <a:spAutoFit/>
          </a:bodyPr>
          <a:lstStyle/>
          <a:p>
            <a:pPr lvl="0" algn="ctr" rtl="1">
              <a:lnSpc>
                <a:spcPct val="150000"/>
              </a:lnSpc>
            </a:pPr>
            <a:r>
              <a:rPr lang="he-IL" sz="2800" b="1" dirty="0">
                <a:solidFill>
                  <a:srgbClr val="002060"/>
                </a:solidFill>
                <a:latin typeface="Calibri" panose="020F0502020204030204" pitchFamily="34" charset="0"/>
                <a:cs typeface="Calibri" panose="020F0502020204030204" pitchFamily="34" charset="0"/>
              </a:rPr>
              <a:t>בציר הטכנולוגי </a:t>
            </a:r>
            <a:r>
              <a:rPr lang="he-IL" sz="2800" b="1" dirty="0">
                <a:solidFill>
                  <a:prstClr val="black"/>
                </a:solidFill>
                <a:latin typeface="Calibri" panose="020F0502020204030204" pitchFamily="34" charset="0"/>
                <a:cs typeface="Calibri" panose="020F0502020204030204" pitchFamily="34" charset="0"/>
              </a:rPr>
              <a:t>אנו פועלים לפיתוח והטמעה של טכנולוגיות וכלים לאורך שרשרת הערך</a:t>
            </a:r>
          </a:p>
        </p:txBody>
      </p:sp>
      <p:grpSp>
        <p:nvGrpSpPr>
          <p:cNvPr id="8" name="קבוצה 7">
            <a:extLst>
              <a:ext uri="{FF2B5EF4-FFF2-40B4-BE49-F238E27FC236}">
                <a16:creationId xmlns:a16="http://schemas.microsoft.com/office/drawing/2014/main" id="{C1AD44A1-3BF1-48E0-0673-8C6B3AD101D4}"/>
              </a:ext>
            </a:extLst>
          </p:cNvPr>
          <p:cNvGrpSpPr/>
          <p:nvPr/>
        </p:nvGrpSpPr>
        <p:grpSpPr>
          <a:xfrm>
            <a:off x="8920237" y="3592521"/>
            <a:ext cx="2642672" cy="2645554"/>
            <a:chOff x="8858064" y="3461661"/>
            <a:chExt cx="2642672" cy="2645554"/>
          </a:xfrm>
        </p:grpSpPr>
        <p:pic>
          <p:nvPicPr>
            <p:cNvPr id="23" name="Picture 22">
              <a:extLst>
                <a:ext uri="{FF2B5EF4-FFF2-40B4-BE49-F238E27FC236}">
                  <a16:creationId xmlns:a16="http://schemas.microsoft.com/office/drawing/2014/main" id="{60C3B16B-3EB3-4B99-8FB0-7CAF4CDA7B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8064" y="3461661"/>
              <a:ext cx="2642672" cy="2645554"/>
            </a:xfrm>
            <a:prstGeom prst="rect">
              <a:avLst/>
            </a:prstGeom>
          </p:spPr>
        </p:pic>
        <p:pic>
          <p:nvPicPr>
            <p:cNvPr id="6" name="Picture 22">
              <a:extLst>
                <a:ext uri="{FF2B5EF4-FFF2-40B4-BE49-F238E27FC236}">
                  <a16:creationId xmlns:a16="http://schemas.microsoft.com/office/drawing/2014/main" id="{A84F6694-C593-A728-C1E6-19E3851ED1B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31138" t="32345" r="30853" b="27652"/>
            <a:stretch/>
          </p:blipFill>
          <p:spPr>
            <a:xfrm>
              <a:off x="9680360" y="4310474"/>
              <a:ext cx="1078262" cy="1087327"/>
            </a:xfrm>
            <a:prstGeom prst="ellipse">
              <a:avLst/>
            </a:prstGeom>
          </p:spPr>
        </p:pic>
      </p:grpSp>
    </p:spTree>
    <p:extLst>
      <p:ext uri="{BB962C8B-B14F-4D97-AF65-F5344CB8AC3E}">
        <p14:creationId xmlns:p14="http://schemas.microsoft.com/office/powerpoint/2010/main" val="11566773"/>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000" b="1" dirty="0">
                <a:solidFill>
                  <a:srgbClr val="0070C0"/>
                </a:solidFill>
                <a:latin typeface="Calibri" panose="020F0502020204030204" pitchFamily="34" charset="0"/>
                <a:cs typeface="Calibri" panose="020F0502020204030204" pitchFamily="34" charset="0"/>
              </a:rPr>
              <a:t>מספר ושיעור זכאי גמלת </a:t>
            </a:r>
            <a:r>
              <a:rPr lang="he-IL" sz="2400" b="1" dirty="0">
                <a:solidFill>
                  <a:srgbClr val="0070C0"/>
                </a:solidFill>
                <a:latin typeface="Calibri" panose="020F0502020204030204" pitchFamily="34" charset="0"/>
                <a:cs typeface="Calibri" panose="020F0502020204030204" pitchFamily="34" charset="0"/>
              </a:rPr>
              <a:t>סיעוד</a:t>
            </a:r>
            <a:r>
              <a:rPr lang="he-IL" sz="20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2238957828"/>
              </p:ext>
            </p:extLst>
          </p:nvPr>
        </p:nvGraphicFramePr>
        <p:xfrm>
          <a:off x="1111106" y="1352560"/>
          <a:ext cx="4232142" cy="3793508"/>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326590339"/>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16" name="Title 1">
            <a:extLst>
              <a:ext uri="{FF2B5EF4-FFF2-40B4-BE49-F238E27FC236}">
                <a16:creationId xmlns:a16="http://schemas.microsoft.com/office/drawing/2014/main" id="{E0DA82B0-6AAD-4FB1-8122-13E88F23FD3E}"/>
              </a:ext>
            </a:extLst>
          </p:cNvPr>
          <p:cNvSpPr txBox="1">
            <a:spLocks/>
          </p:cNvSpPr>
          <p:nvPr/>
        </p:nvSpPr>
        <p:spPr>
          <a:xfrm>
            <a:off x="195943" y="5922593"/>
            <a:ext cx="9503232" cy="376239"/>
          </a:xfrm>
          <a:prstGeom prst="rect">
            <a:avLst/>
          </a:prstGeom>
        </p:spPr>
        <p:txBody>
          <a:bodyPr vert="horz" lIns="91440" tIns="45720" rIns="91440" bIns="45720" rtlCol="1" anchor="ctr">
            <a:normAutofit fontScale="82500" lnSpcReduction="20000"/>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r>
              <a:rPr lang="he-IL" sz="3600" b="1" dirty="0" smtClean="0">
                <a:solidFill>
                  <a:srgbClr val="7030A0"/>
                </a:solidFill>
              </a:rPr>
              <a:t>האם תוספת התקציב דוחקת את התלות של האזרחים </a:t>
            </a:r>
            <a:r>
              <a:rPr lang="he-IL" sz="3600" b="1" dirty="0" err="1" smtClean="0">
                <a:solidFill>
                  <a:srgbClr val="7030A0"/>
                </a:solidFill>
              </a:rPr>
              <a:t>הותיקים</a:t>
            </a:r>
            <a:r>
              <a:rPr lang="he-IL" sz="3600" b="1" dirty="0" smtClean="0">
                <a:solidFill>
                  <a:srgbClr val="7030A0"/>
                </a:solidFill>
              </a:rPr>
              <a:t>?</a:t>
            </a:r>
            <a:endParaRPr lang="he-IL" dirty="0">
              <a:solidFill>
                <a:srgbClr val="7030A0"/>
              </a:solidFill>
            </a:endParaRPr>
          </a:p>
        </p:txBody>
      </p:sp>
      <p:sp>
        <p:nvSpPr>
          <p:cNvPr id="2" name="מלבן 1"/>
          <p:cNvSpPr/>
          <p:nvPr/>
        </p:nvSpPr>
        <p:spPr>
          <a:xfrm>
            <a:off x="2289055" y="234527"/>
            <a:ext cx="6096000" cy="584775"/>
          </a:xfrm>
          <a:prstGeom prst="rect">
            <a:avLst/>
          </a:prstGeom>
        </p:spPr>
        <p:txBody>
          <a:bodyPr>
            <a:spAutoFit/>
          </a:bodyPr>
          <a:lstStyle/>
          <a:p>
            <a:r>
              <a:rPr lang="he-IL" sz="3200" b="1" dirty="0" smtClean="0">
                <a:solidFill>
                  <a:srgbClr val="0070C0"/>
                </a:solidFill>
                <a:latin typeface="Calibri" panose="020F0502020204030204" pitchFamily="34" charset="0"/>
                <a:cs typeface="Calibri" panose="020F0502020204030204" pitchFamily="34" charset="0"/>
              </a:rPr>
              <a:t>האתגר בסיעוד 2023</a:t>
            </a:r>
            <a:endParaRPr lang="he-IL" sz="3200" dirty="0"/>
          </a:p>
        </p:txBody>
      </p:sp>
    </p:spTree>
    <p:extLst>
      <p:ext uri="{BB962C8B-B14F-4D97-AF65-F5344CB8AC3E}">
        <p14:creationId xmlns:p14="http://schemas.microsoft.com/office/powerpoint/2010/main" val="3999235296"/>
      </p:ext>
    </p:extLst>
  </p:cSld>
  <p:clrMapOvr>
    <a:masterClrMapping/>
  </p:clrMapOvr>
  <p:transition spd="slow">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lstStyle/>
          <a:p>
            <a:r>
              <a:rPr lang="he-IL" dirty="0" smtClean="0"/>
              <a:t>מאקרו גמלה</a:t>
            </a:r>
            <a:endParaRPr lang="he-IL" dirty="0"/>
          </a:p>
        </p:txBody>
      </p:sp>
      <p:graphicFrame>
        <p:nvGraphicFramePr>
          <p:cNvPr id="4" name="תרשים 3"/>
          <p:cNvGraphicFramePr>
            <a:graphicFrameLocks/>
          </p:cNvGraphicFramePr>
          <p:nvPr>
            <p:extLst>
              <p:ext uri="{D42A27DB-BD31-4B8C-83A1-F6EECF244321}">
                <p14:modId xmlns:p14="http://schemas.microsoft.com/office/powerpoint/2010/main" val="2249141291"/>
              </p:ext>
            </p:extLst>
          </p:nvPr>
        </p:nvGraphicFramePr>
        <p:xfrm>
          <a:off x="838200" y="1042988"/>
          <a:ext cx="10991850" cy="5529261"/>
        </p:xfrm>
        <a:graphic>
          <a:graphicData uri="http://schemas.openxmlformats.org/drawingml/2006/chart">
            <c:chart xmlns:c="http://schemas.openxmlformats.org/drawingml/2006/chart" xmlns:r="http://schemas.openxmlformats.org/officeDocument/2006/relationships" r:id="rId2"/>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8203" y="214312"/>
            <a:ext cx="10515600" cy="1325563"/>
          </a:xfrm>
        </p:spPr>
        <p:txBody>
          <a:bodyPr>
            <a:normAutofit/>
          </a:bodyPr>
          <a:lstStyle/>
          <a:p>
            <a:r>
              <a:rPr lang="he-IL" sz="4000" dirty="0">
                <a:solidFill>
                  <a:srgbClr val="0070C0"/>
                </a:solidFill>
                <a:latin typeface="Calibri" panose="020F0502020204030204" pitchFamily="34" charset="0"/>
                <a:ea typeface="+mn-ea"/>
                <a:cs typeface="Calibri" panose="020F0502020204030204" pitchFamily="34" charset="0"/>
              </a:rPr>
              <a:t>השפעות רפורמת 2018</a:t>
            </a:r>
          </a:p>
        </p:txBody>
      </p:sp>
    </p:spTree>
    <p:extLst>
      <p:ext uri="{BB962C8B-B14F-4D97-AF65-F5344CB8AC3E}">
        <p14:creationId xmlns:p14="http://schemas.microsoft.com/office/powerpoint/2010/main" val="17859043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308769"/>
            <a:ext cx="10515600" cy="1325563"/>
          </a:xfrm>
        </p:spPr>
        <p:txBody>
          <a:bodyPr>
            <a:normAutofit/>
          </a:bodyPr>
          <a:lstStyle/>
          <a:p>
            <a:pPr algn="ctr"/>
            <a:r>
              <a:rPr lang="he-IL" sz="4800" dirty="0">
                <a:solidFill>
                  <a:srgbClr val="527FC4"/>
                </a:solidFill>
                <a:latin typeface="Calibri" panose="020F0502020204030204" pitchFamily="34" charset="0"/>
                <a:ea typeface="+mn-ea"/>
                <a:cs typeface="Calibri" panose="020F0502020204030204" pitchFamily="34" charset="0"/>
              </a:rPr>
              <a:t>גמלת סיעוד </a:t>
            </a:r>
            <a:r>
              <a:rPr lang="he-IL" sz="4800" dirty="0" smtClean="0">
                <a:solidFill>
                  <a:srgbClr val="527FC4"/>
                </a:solidFill>
                <a:latin typeface="Calibri" panose="020F0502020204030204" pitchFamily="34" charset="0"/>
                <a:ea typeface="+mn-ea"/>
                <a:cs typeface="Calibri" panose="020F0502020204030204" pitchFamily="34" charset="0"/>
              </a:rPr>
              <a:t>2018-2024</a:t>
            </a:r>
            <a:endParaRPr lang="he-IL" sz="4800" dirty="0">
              <a:solidFill>
                <a:srgbClr val="527FC4"/>
              </a:solidFill>
              <a:latin typeface="Calibri" panose="020F0502020204030204" pitchFamily="34" charset="0"/>
              <a:ea typeface="+mn-ea"/>
              <a:cs typeface="Calibri" panose="020F0502020204030204" pitchFamily="34" charset="0"/>
            </a:endParaRPr>
          </a:p>
        </p:txBody>
      </p:sp>
      <p:graphicFrame>
        <p:nvGraphicFramePr>
          <p:cNvPr id="4" name="תרשים 3"/>
          <p:cNvGraphicFramePr>
            <a:graphicFrameLocks/>
          </p:cNvGraphicFramePr>
          <p:nvPr>
            <p:extLst>
              <p:ext uri="{D42A27DB-BD31-4B8C-83A1-F6EECF244321}">
                <p14:modId xmlns:p14="http://schemas.microsoft.com/office/powerpoint/2010/main" val="4070891287"/>
              </p:ext>
            </p:extLst>
          </p:nvPr>
        </p:nvGraphicFramePr>
        <p:xfrm>
          <a:off x="5731497" y="1179575"/>
          <a:ext cx="6292863" cy="54699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תרשים 4"/>
          <p:cNvGraphicFramePr>
            <a:graphicFrameLocks/>
          </p:cNvGraphicFramePr>
          <p:nvPr>
            <p:extLst/>
          </p:nvPr>
        </p:nvGraphicFramePr>
        <p:xfrm>
          <a:off x="0" y="1943100"/>
          <a:ext cx="6351814" cy="4591050"/>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graphicFrame>
        <p:nvGraphicFramePr>
          <p:cNvPr id="10" name="תרשים 9"/>
          <p:cNvGraphicFramePr>
            <a:graphicFrameLocks/>
          </p:cNvGraphicFramePr>
          <p:nvPr>
            <p:extLst>
              <p:ext uri="{D42A27DB-BD31-4B8C-83A1-F6EECF244321}">
                <p14:modId xmlns:p14="http://schemas.microsoft.com/office/powerpoint/2010/main" val="3925318240"/>
              </p:ext>
            </p:extLst>
          </p:nvPr>
        </p:nvGraphicFramePr>
        <p:xfrm>
          <a:off x="803848" y="2086495"/>
          <a:ext cx="5213163" cy="4312227"/>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1732661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2023</a:t>
                      </a:r>
                    </a:p>
                  </a:txBody>
                  <a:tcPr/>
                </a:tc>
                <a:tc>
                  <a:txBody>
                    <a:bodyPr/>
                    <a:lstStyle/>
                    <a:p>
                      <a:pPr algn="ctr" rtl="1"/>
                      <a:r>
                        <a:rPr lang="he-IL" b="1" dirty="0"/>
                        <a:t>14.8 מיליארד ₪ </a:t>
                      </a:r>
                    </a:p>
                  </a:txBody>
                  <a:tcPr/>
                </a:tc>
                <a:tc>
                  <a:txBody>
                    <a:bodyPr/>
                    <a:lstStyle/>
                    <a:p>
                      <a:pPr algn="ctr" rtl="1"/>
                      <a:r>
                        <a:rPr lang="he-IL" b="1" dirty="0"/>
                        <a:t>345,000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ומדורגת אחרונה</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תוצאות גרועות</a:t>
            </a:r>
          </a:p>
        </p:txBody>
      </p:sp>
      <p:sp>
        <p:nvSpPr>
          <p:cNvPr id="23" name="תיבת טקסט 22">
            <a:extLst>
              <a:ext uri="{FF2B5EF4-FFF2-40B4-BE49-F238E27FC236}">
                <a16:creationId xmlns:a16="http://schemas.microsoft.com/office/drawing/2014/main" id="{C0301445-4EFA-97B5-8235-2838CC9D181B}"/>
              </a:ext>
            </a:extLst>
          </p:cNvPr>
          <p:cNvSpPr txBox="1"/>
          <p:nvPr/>
        </p:nvSpPr>
        <p:spPr>
          <a:xfrm>
            <a:off x="602694" y="438482"/>
            <a:ext cx="2265364" cy="707886"/>
          </a:xfrm>
          <a:prstGeom prst="rect">
            <a:avLst/>
          </a:prstGeom>
          <a:noFill/>
        </p:spPr>
        <p:txBody>
          <a:bodyPr wrap="none" rtlCol="1">
            <a:spAutoFit/>
          </a:bodyPr>
          <a:lstStyle/>
          <a:p>
            <a:pPr algn="r" rtl="1"/>
            <a:r>
              <a:rPr lang="he-IL" sz="2000" b="1" dirty="0">
                <a:latin typeface="Calibri" panose="020F0502020204030204" pitchFamily="34" charset="0"/>
                <a:cs typeface="Calibri" panose="020F0502020204030204" pitchFamily="34" charset="0"/>
              </a:rPr>
              <a:t>אתגרי המשק והחברה</a:t>
            </a:r>
          </a:p>
          <a:p>
            <a:pPr algn="r" rtl="1"/>
            <a:r>
              <a:rPr lang="he-IL" sz="2000" b="1" dirty="0">
                <a:latin typeface="Calibri" panose="020F0502020204030204" pitchFamily="34" charset="0"/>
                <a:cs typeface="Calibri" panose="020F0502020204030204" pitchFamily="34" charset="0"/>
              </a:rPr>
              <a:t>ושינוי טכנולוגי וחברתי</a:t>
            </a:r>
          </a:p>
        </p:txBody>
      </p:sp>
    </p:spTree>
    <p:extLst>
      <p:ext uri="{BB962C8B-B14F-4D97-AF65-F5344CB8AC3E}">
        <p14:creationId xmlns:p14="http://schemas.microsoft.com/office/powerpoint/2010/main" val="177188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nvPr>
        </p:nvGraphicFramePr>
        <p:xfrm>
          <a:off x="2032000" y="719666"/>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smtClean="0"/>
                        <a:t>המרכיב</a:t>
                      </a:r>
                      <a:endParaRPr lang="he-IL" dirty="0"/>
                    </a:p>
                  </a:txBody>
                  <a:tcPr/>
                </a:tc>
                <a:tc>
                  <a:txBody>
                    <a:bodyPr/>
                    <a:lstStyle/>
                    <a:p>
                      <a:pPr rtl="1"/>
                      <a:r>
                        <a:rPr lang="he-IL" dirty="0" smtClean="0"/>
                        <a:t>מטפלת</a:t>
                      </a:r>
                      <a:endParaRPr lang="he-IL" dirty="0"/>
                    </a:p>
                  </a:txBody>
                  <a:tcPr/>
                </a:tc>
                <a:tc>
                  <a:txBody>
                    <a:bodyPr/>
                    <a:lstStyle/>
                    <a:p>
                      <a:pPr rtl="1"/>
                      <a:r>
                        <a:rPr lang="he-IL" dirty="0" smtClean="0"/>
                        <a:t>כסף</a:t>
                      </a:r>
                      <a:endParaRPr lang="he-IL" dirty="0"/>
                    </a:p>
                  </a:txBody>
                  <a:tcPr/>
                </a:tc>
                <a:tc>
                  <a:txBody>
                    <a:bodyPr/>
                    <a:lstStyle/>
                    <a:p>
                      <a:pPr rtl="1"/>
                      <a:r>
                        <a:rPr lang="he-IL" dirty="0" smtClean="0"/>
                        <a:t>מרכז</a:t>
                      </a:r>
                      <a:r>
                        <a:rPr lang="he-IL" baseline="0" dirty="0" smtClean="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smtClean="0"/>
                        <a:t>2</a:t>
                      </a:r>
                      <a:r>
                        <a:rPr lang="he-IL" baseline="0" dirty="0" smtClean="0"/>
                        <a:t> שעות סיעוד</a:t>
                      </a:r>
                      <a:endParaRPr lang="he-IL" dirty="0"/>
                    </a:p>
                  </a:txBody>
                  <a:tcPr/>
                </a:tc>
                <a:tc>
                  <a:txBody>
                    <a:bodyPr/>
                    <a:lstStyle/>
                    <a:p>
                      <a:pPr rtl="1"/>
                      <a:r>
                        <a:rPr lang="he-IL" dirty="0" smtClean="0"/>
                        <a:t>כ-40 דק' </a:t>
                      </a:r>
                      <a:r>
                        <a:rPr lang="he-IL" sz="1400" dirty="0" smtClean="0"/>
                        <a:t>(נלקחות</a:t>
                      </a:r>
                      <a:r>
                        <a:rPr lang="he-IL" sz="1400" baseline="0" dirty="0" smtClean="0"/>
                        <a:t> שעות)</a:t>
                      </a:r>
                      <a:endParaRPr lang="he-IL" sz="1400" dirty="0"/>
                    </a:p>
                  </a:txBody>
                  <a:tcPr/>
                </a:tc>
                <a:tc>
                  <a:txBody>
                    <a:bodyPr/>
                    <a:lstStyle/>
                    <a:p>
                      <a:pPr rtl="1"/>
                      <a:r>
                        <a:rPr lang="he-IL" dirty="0" smtClean="0"/>
                        <a:t>96 ש"ח</a:t>
                      </a:r>
                      <a:endParaRPr lang="he-IL" dirty="0"/>
                    </a:p>
                  </a:txBody>
                  <a:tcPr/>
                </a:tc>
                <a:tc>
                  <a:txBody>
                    <a:bodyPr/>
                    <a:lstStyle/>
                    <a:p>
                      <a:pPr rtl="1"/>
                      <a:r>
                        <a:rPr lang="he-IL" dirty="0" smtClean="0"/>
                        <a:t>6 שעות</a:t>
                      </a:r>
                      <a:endParaRPr lang="he-IL" dirty="0"/>
                    </a:p>
                  </a:txBody>
                  <a:tcPr/>
                </a:tc>
                <a:extLst>
                  <a:ext uri="{0D108BD9-81ED-4DB2-BD59-A6C34878D82A}">
                    <a16:rowId xmlns:a16="http://schemas.microsoft.com/office/drawing/2014/main" val="599427766"/>
                  </a:ext>
                </a:extLst>
              </a:tr>
              <a:tr h="370840">
                <a:tc>
                  <a:txBody>
                    <a:bodyPr/>
                    <a:lstStyle/>
                    <a:p>
                      <a:pPr rtl="1"/>
                      <a:r>
                        <a:rPr lang="he-IL" dirty="0" smtClean="0"/>
                        <a:t>הסיוע</a:t>
                      </a:r>
                      <a:endParaRPr lang="he-IL" dirty="0"/>
                    </a:p>
                  </a:txBody>
                  <a:tcPr/>
                </a:tc>
                <a:tc>
                  <a:txBody>
                    <a:bodyPr/>
                    <a:lstStyle/>
                    <a:p>
                      <a:pPr rtl="1"/>
                      <a:r>
                        <a:rPr lang="he-IL" dirty="0" smtClean="0"/>
                        <a:t>עזרה בבית/ ניקיון</a:t>
                      </a:r>
                      <a:endParaRPr lang="he-IL" dirty="0"/>
                    </a:p>
                  </a:txBody>
                  <a:tcPr/>
                </a:tc>
                <a:tc>
                  <a:txBody>
                    <a:bodyPr/>
                    <a:lstStyle/>
                    <a:p>
                      <a:pPr rtl="1"/>
                      <a:r>
                        <a:rPr lang="he-IL" dirty="0" smtClean="0"/>
                        <a:t>כספי</a:t>
                      </a:r>
                      <a:endParaRPr lang="he-IL" dirty="0"/>
                    </a:p>
                  </a:txBody>
                  <a:tcPr/>
                </a:tc>
                <a:tc>
                  <a:txBody>
                    <a:bodyPr/>
                    <a:lstStyle/>
                    <a:p>
                      <a:pPr rtl="1"/>
                      <a:r>
                        <a:rPr lang="he-IL" sz="1600" dirty="0" smtClean="0"/>
                        <a:t>מפגש חברתי, חוגים, הסעה, גורמי מקצוע וטיפול: עו"ס, פיזיותרפיה,</a:t>
                      </a:r>
                      <a:r>
                        <a:rPr lang="he-IL" sz="1600" baseline="0" dirty="0" smtClean="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smtClean="0"/>
                        <a:t>מחקר על דחיקת תלות</a:t>
                      </a:r>
                      <a:endParaRPr lang="he-IL" dirty="0"/>
                    </a:p>
                  </a:txBody>
                  <a:tcPr/>
                </a:tc>
                <a:tc>
                  <a:txBody>
                    <a:bodyPr/>
                    <a:lstStyle/>
                    <a:p>
                      <a:pPr rtl="1"/>
                      <a:r>
                        <a:rPr lang="he-IL" dirty="0" smtClean="0"/>
                        <a:t>משתנה בין מקרים, לא נמצא כמועיל, טענות כמגביר</a:t>
                      </a:r>
                      <a:r>
                        <a:rPr lang="he-IL" baseline="0" dirty="0" smtClean="0"/>
                        <a:t> תלות</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מוכח במחקר </a:t>
                      </a:r>
                      <a:r>
                        <a:rPr lang="he-IL" baseline="0" dirty="0" smtClean="0"/>
                        <a:t>בארץ ובעולם </a:t>
                      </a:r>
                      <a:r>
                        <a:rPr lang="he-IL" dirty="0" smtClean="0"/>
                        <a:t>כמועיל ודוחק תלות</a:t>
                      </a:r>
                      <a:endParaRPr lang="he-IL" dirty="0"/>
                    </a:p>
                  </a:txBody>
                  <a:tcPr/>
                </a:tc>
                <a:extLst>
                  <a:ext uri="{0D108BD9-81ED-4DB2-BD59-A6C34878D82A}">
                    <a16:rowId xmlns:a16="http://schemas.microsoft.com/office/drawing/2014/main" val="837185877"/>
                  </a:ext>
                </a:extLst>
              </a:tr>
              <a:tr h="370840">
                <a:tc>
                  <a:txBody>
                    <a:bodyPr/>
                    <a:lstStyle/>
                    <a:p>
                      <a:pPr rtl="1"/>
                      <a:r>
                        <a:rPr lang="he-IL" dirty="0" smtClean="0"/>
                        <a:t>הכשרות והדרכות</a:t>
                      </a:r>
                      <a:endParaRPr lang="he-IL" dirty="0"/>
                    </a:p>
                  </a:txBody>
                  <a:tcPr/>
                </a:tc>
                <a:tc>
                  <a:txBody>
                    <a:bodyPr/>
                    <a:lstStyle/>
                    <a:p>
                      <a:pPr rtl="1"/>
                      <a:r>
                        <a:rPr lang="he-IL" dirty="0" smtClean="0"/>
                        <a:t>בשוליים</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קיימת הכשרה מקצועית ושוטפת</a:t>
                      </a:r>
                      <a:endParaRPr lang="he-IL" dirty="0"/>
                    </a:p>
                  </a:txBody>
                  <a:tcPr/>
                </a:tc>
                <a:extLst>
                  <a:ext uri="{0D108BD9-81ED-4DB2-BD59-A6C34878D82A}">
                    <a16:rowId xmlns:a16="http://schemas.microsoft.com/office/drawing/2014/main" val="837517891"/>
                  </a:ext>
                </a:extLst>
              </a:tr>
              <a:tr h="370840">
                <a:tc>
                  <a:txBody>
                    <a:bodyPr/>
                    <a:lstStyle/>
                    <a:p>
                      <a:pPr rtl="1"/>
                      <a:r>
                        <a:rPr lang="he-IL" dirty="0" smtClean="0"/>
                        <a:t>פיקוח</a:t>
                      </a:r>
                      <a:endParaRPr lang="he-IL" dirty="0"/>
                    </a:p>
                  </a:txBody>
                  <a:tcPr/>
                </a:tc>
                <a:tc>
                  <a:txBody>
                    <a:bodyPr/>
                    <a:lstStyle/>
                    <a:p>
                      <a:pPr rtl="1"/>
                      <a:r>
                        <a:rPr lang="he-IL" dirty="0" smtClean="0"/>
                        <a:t>פיקוח מורכב</a:t>
                      </a:r>
                      <a:r>
                        <a:rPr lang="he-IL" baseline="0" dirty="0" smtClean="0"/>
                        <a:t> על כ140 א' מטפלות בבתים</a:t>
                      </a:r>
                      <a:endParaRPr lang="he-IL" dirty="0"/>
                    </a:p>
                  </a:txBody>
                  <a:tcPr/>
                </a:tc>
                <a:tc>
                  <a:txBody>
                    <a:bodyPr/>
                    <a:lstStyle/>
                    <a:p>
                      <a:pPr rtl="1"/>
                      <a:r>
                        <a:rPr lang="he-IL" dirty="0" smtClean="0"/>
                        <a:t>לא רלוונטי</a:t>
                      </a:r>
                      <a:endParaRPr lang="he-IL" dirty="0"/>
                    </a:p>
                  </a:txBody>
                  <a:tcPr/>
                </a:tc>
                <a:tc>
                  <a:txBody>
                    <a:bodyPr/>
                    <a:lstStyle/>
                    <a:p>
                      <a:pPr rtl="1"/>
                      <a:r>
                        <a:rPr lang="he-IL" dirty="0" smtClean="0"/>
                        <a:t>קיים פיקוח מקצועי שוטף</a:t>
                      </a:r>
                      <a:endParaRPr lang="he-IL" dirty="0"/>
                    </a:p>
                  </a:txBody>
                  <a:tcPr/>
                </a:tc>
                <a:extLst>
                  <a:ext uri="{0D108BD9-81ED-4DB2-BD59-A6C34878D82A}">
                    <a16:rowId xmlns:a16="http://schemas.microsoft.com/office/drawing/2014/main" val="2841228541"/>
                  </a:ext>
                </a:extLst>
              </a:tr>
              <a:tr h="370840">
                <a:tc>
                  <a:txBody>
                    <a:bodyPr/>
                    <a:lstStyle/>
                    <a:p>
                      <a:pPr rtl="1"/>
                      <a:r>
                        <a:rPr lang="he-IL" dirty="0" smtClean="0"/>
                        <a:t>הנגישות</a:t>
                      </a:r>
                      <a:endParaRPr lang="he-IL" dirty="0"/>
                    </a:p>
                  </a:txBody>
                  <a:tcPr/>
                </a:tc>
                <a:tc>
                  <a:txBody>
                    <a:bodyPr/>
                    <a:lstStyle/>
                    <a:p>
                      <a:pPr rtl="1"/>
                      <a:r>
                        <a:rPr lang="he-IL" dirty="0" smtClean="0"/>
                        <a:t>משאב במחסור גורר תלות במטפלת</a:t>
                      </a:r>
                      <a:endParaRPr lang="he-IL" dirty="0"/>
                    </a:p>
                  </a:txBody>
                  <a:tcPr/>
                </a:tc>
                <a:tc>
                  <a:txBody>
                    <a:bodyPr/>
                    <a:lstStyle/>
                    <a:p>
                      <a:pPr rtl="1"/>
                      <a:r>
                        <a:rPr lang="he-IL" dirty="0" smtClean="0"/>
                        <a:t>קל</a:t>
                      </a:r>
                      <a:r>
                        <a:rPr lang="he-IL" baseline="0" dirty="0" smtClean="0"/>
                        <a:t> להעברה</a:t>
                      </a:r>
                      <a:endParaRPr lang="he-IL" dirty="0"/>
                    </a:p>
                  </a:txBody>
                  <a:tcPr/>
                </a:tc>
                <a:tc>
                  <a:txBody>
                    <a:bodyPr/>
                    <a:lstStyle/>
                    <a:p>
                      <a:pPr rtl="1"/>
                      <a:r>
                        <a:rPr lang="he-IL" smtClean="0"/>
                        <a:t>יתרון משמעותי לגודל (180 מרכזים, לא בכל הארץ)</a:t>
                      </a:r>
                      <a:endParaRPr lang="he-IL" dirty="0"/>
                    </a:p>
                  </a:txBody>
                  <a:tcPr/>
                </a:tc>
                <a:extLst>
                  <a:ext uri="{0D108BD9-81ED-4DB2-BD59-A6C34878D82A}">
                    <a16:rowId xmlns:a16="http://schemas.microsoft.com/office/drawing/2014/main" val="3866147572"/>
                  </a:ext>
                </a:extLst>
              </a:tr>
              <a:tr h="370840">
                <a:tc>
                  <a:txBody>
                    <a:bodyPr/>
                    <a:lstStyle/>
                    <a:p>
                      <a:pPr rtl="1"/>
                      <a:r>
                        <a:rPr lang="he-IL" dirty="0" smtClean="0"/>
                        <a:t>המצב בפועל</a:t>
                      </a:r>
                      <a:endParaRPr lang="he-IL" dirty="0"/>
                    </a:p>
                  </a:txBody>
                  <a:tcPr/>
                </a:tc>
                <a:tc>
                  <a:txBody>
                    <a:bodyPr/>
                    <a:lstStyle/>
                    <a:p>
                      <a:pPr rtl="1"/>
                      <a:r>
                        <a:rPr lang="he-IL" dirty="0" smtClean="0"/>
                        <a:t>73% מהגמלאות</a:t>
                      </a:r>
                      <a:endParaRPr lang="he-IL" dirty="0"/>
                    </a:p>
                  </a:txBody>
                  <a:tcPr/>
                </a:tc>
                <a:tc>
                  <a:txBody>
                    <a:bodyPr/>
                    <a:lstStyle/>
                    <a:p>
                      <a:pPr rtl="1"/>
                      <a:r>
                        <a:rPr lang="he-IL" dirty="0" smtClean="0"/>
                        <a:t>24% מהגמלאות</a:t>
                      </a:r>
                      <a:endParaRPr lang="he-IL" dirty="0"/>
                    </a:p>
                  </a:txBody>
                  <a:tcPr/>
                </a:tc>
                <a:tc>
                  <a:txBody>
                    <a:bodyPr/>
                    <a:lstStyle/>
                    <a:p>
                      <a:pPr rtl="1"/>
                      <a:r>
                        <a:rPr lang="he-IL" dirty="0" smtClean="0"/>
                        <a:t>2% מהגמלאות</a:t>
                      </a:r>
                      <a:endParaRPr lang="he-IL" dirty="0"/>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2032000" y="350334"/>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dirty="0" smtClean="0"/>
              <a:t>ניתוח חלופות כיום</a:t>
            </a:r>
            <a:endParaRPr lang="he-IL" dirty="0"/>
          </a:p>
        </p:txBody>
      </p:sp>
      <p:sp>
        <p:nvSpPr>
          <p:cNvPr id="8" name="מלבן 7"/>
          <p:cNvSpPr/>
          <p:nvPr/>
        </p:nvSpPr>
        <p:spPr>
          <a:xfrm>
            <a:off x="2032000" y="5758275"/>
            <a:ext cx="8128000" cy="707886"/>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4000" dirty="0" smtClean="0">
                <a:ln w="0"/>
                <a:solidFill>
                  <a:schemeClr val="accent1">
                    <a:lumMod val="75000"/>
                  </a:schemeClr>
                </a:solidFill>
                <a:effectLst>
                  <a:outerShdw blurRad="38100" dist="25400" dir="5400000" algn="ctr" rotWithShape="0">
                    <a:srgbClr val="6E747A">
                      <a:alpha val="43000"/>
                    </a:srgbClr>
                  </a:outerShdw>
                </a:effectLst>
              </a:rPr>
              <a:t>אז מה באמת </a:t>
            </a:r>
            <a:r>
              <a:rPr lang="he-IL" sz="4000" dirty="0" err="1" smtClean="0">
                <a:ln w="0"/>
                <a:solidFill>
                  <a:schemeClr val="accent1">
                    <a:lumMod val="75000"/>
                  </a:schemeClr>
                </a:solidFill>
                <a:effectLst>
                  <a:outerShdw blurRad="38100" dist="25400" dir="5400000" algn="ctr" rotWithShape="0">
                    <a:srgbClr val="6E747A">
                      <a:alpha val="43000"/>
                    </a:srgbClr>
                  </a:outerShdw>
                </a:effectLst>
              </a:rPr>
              <a:t>ידחוק</a:t>
            </a:r>
            <a:r>
              <a:rPr lang="he-IL" sz="4000" dirty="0" smtClean="0">
                <a:ln w="0"/>
                <a:solidFill>
                  <a:schemeClr val="accent1">
                    <a:lumMod val="75000"/>
                  </a:schemeClr>
                </a:solidFill>
                <a:effectLst>
                  <a:outerShdw blurRad="38100" dist="25400" dir="5400000" algn="ctr" rotWithShape="0">
                    <a:srgbClr val="6E747A">
                      <a:alpha val="43000"/>
                    </a:srgbClr>
                  </a:outerShdw>
                </a:effectLst>
              </a:rPr>
              <a:t> את התלות?</a:t>
            </a:r>
            <a:endParaRPr lang="he-IL" sz="4000" dirty="0">
              <a:ln w="0"/>
              <a:solidFill>
                <a:schemeClr val="accent1">
                  <a:lumMod val="75000"/>
                </a:schemeClr>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2621571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חלק ניכר מזכאי סיעוד לא מקבל מענה ראוי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smtClean="0">
                <a:latin typeface="Calibri" panose="020F0502020204030204" pitchFamily="34" charset="0"/>
                <a:cs typeface="Calibri" panose="020F0502020204030204" pitchFamily="34" charset="0"/>
              </a:rPr>
              <a:t>האתגר:</a:t>
            </a:r>
            <a:endParaRPr lang="he-IL" sz="2800" b="1" dirty="0">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smtClean="0">
                <a:solidFill>
                  <a:schemeClr val="bg1"/>
                </a:solidFill>
                <a:latin typeface="Calibri" panose="020F0502020204030204" pitchFamily="34" charset="0"/>
                <a:cs typeface="Calibri" panose="020F0502020204030204" pitchFamily="34" charset="0"/>
              </a:rPr>
              <a:t>תעדוף נמוך של שירותים חברתיים שהוכחו </a:t>
            </a:r>
            <a:r>
              <a:rPr lang="he-IL" sz="2800" dirty="0">
                <a:solidFill>
                  <a:schemeClr val="bg1"/>
                </a:solidFill>
                <a:latin typeface="Calibri" panose="020F0502020204030204" pitchFamily="34" charset="0"/>
                <a:cs typeface="Calibri" panose="020F0502020204030204" pitchFamily="34" charset="0"/>
              </a:rPr>
              <a:t>כמונעי התדרדרות, </a:t>
            </a:r>
            <a:r>
              <a:rPr lang="en-US" sz="2800" dirty="0" smtClean="0">
                <a:solidFill>
                  <a:schemeClr val="bg1"/>
                </a:solidFill>
                <a:latin typeface="Calibri" panose="020F0502020204030204" pitchFamily="34" charset="0"/>
                <a:cs typeface="Calibri" panose="020F0502020204030204" pitchFamily="34" charset="0"/>
              </a:rPr>
              <a:t/>
            </a:r>
            <a:br>
              <a:rPr lang="en-US" sz="2800" dirty="0" smtClean="0">
                <a:solidFill>
                  <a:schemeClr val="bg1"/>
                </a:solidFill>
                <a:latin typeface="Calibri" panose="020F0502020204030204" pitchFamily="34" charset="0"/>
                <a:cs typeface="Calibri" panose="020F0502020204030204" pitchFamily="34" charset="0"/>
              </a:rPr>
            </a:br>
            <a:r>
              <a:rPr lang="he-IL" sz="2800" dirty="0" smtClean="0">
                <a:solidFill>
                  <a:schemeClr val="bg1"/>
                </a:solidFill>
                <a:latin typeface="Calibri" panose="020F0502020204030204" pitchFamily="34" charset="0"/>
                <a:cs typeface="Calibri" panose="020F0502020204030204" pitchFamily="34" charset="0"/>
              </a:rPr>
              <a:t>מעבר </a:t>
            </a:r>
            <a:r>
              <a:rPr lang="he-IL" sz="2800" dirty="0">
                <a:solidFill>
                  <a:schemeClr val="bg1"/>
                </a:solidFill>
                <a:latin typeface="Calibri" panose="020F0502020204030204" pitchFamily="34" charset="0"/>
                <a:cs typeface="Calibri" panose="020F0502020204030204" pitchFamily="34" charset="0"/>
              </a:rPr>
              <a:t>לגמלה </a:t>
            </a:r>
            <a:r>
              <a:rPr lang="he-IL" sz="2800" dirty="0" smtClean="0">
                <a:solidFill>
                  <a:schemeClr val="bg1"/>
                </a:solidFill>
                <a:latin typeface="Calibri" panose="020F0502020204030204" pitchFamily="34" charset="0"/>
                <a:cs typeface="Calibri" panose="020F0502020204030204" pitchFamily="34" charset="0"/>
              </a:rPr>
              <a:t>בכסף בעין והמחסור במטפלות</a:t>
            </a:r>
            <a:endParaRPr lang="he-IL" sz="2800" dirty="0">
              <a:solidFill>
                <a:schemeClr val="bg1"/>
              </a:solidFill>
              <a:latin typeface="Calibri" panose="020F0502020204030204" pitchFamily="34" charset="0"/>
              <a:cs typeface="Calibri" panose="020F0502020204030204" pitchFamily="34" charset="0"/>
            </a:endParaRPr>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405295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כסף</a:t>
            </a:r>
            <a:endParaRPr lang="he-IL" sz="2200" b="1" dirty="0">
              <a:latin typeface="Calibri" panose="020F0502020204030204" pitchFamily="34" charset="0"/>
              <a:cs typeface="Calibri" panose="020F0502020204030204" pitchFamily="34" charset="0"/>
            </a:endParaRP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לאור האפשרות לקבל כסף בעין- כיצד </a:t>
            </a:r>
            <a:r>
              <a:rPr lang="he-IL" sz="2200" dirty="0">
                <a:solidFill>
                  <a:schemeClr val="tx1"/>
                </a:solidFill>
                <a:latin typeface="Calibri" panose="020F0502020204030204" pitchFamily="34" charset="0"/>
                <a:cs typeface="Calibri" panose="020F0502020204030204" pitchFamily="34" charset="0"/>
              </a:rPr>
              <a:t>לתמרץ </a:t>
            </a:r>
            <a:r>
              <a:rPr lang="he-IL" sz="2200" dirty="0" smtClean="0">
                <a:solidFill>
                  <a:schemeClr val="tx1"/>
                </a:solidFill>
                <a:latin typeface="Calibri" panose="020F0502020204030204" pitchFamily="34" charset="0"/>
                <a:cs typeface="Calibri" panose="020F0502020204030204" pitchFamily="34" charset="0"/>
              </a:rPr>
              <a:t>את הוותיקים לצרוך שירותים דוחקי תלות?</a:t>
            </a:r>
            <a:endParaRPr lang="he-IL" sz="2200" dirty="0">
              <a:solidFill>
                <a:schemeClr val="tx1"/>
              </a:solidFill>
              <a:latin typeface="Calibri" panose="020F0502020204030204" pitchFamily="34" charset="0"/>
              <a:cs typeface="Calibri" panose="020F0502020204030204" pitchFamily="34" charset="0"/>
            </a:endParaRP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a:t>
            </a:r>
            <a:r>
              <a:rPr lang="he-IL" sz="2200" dirty="0" smtClean="0">
                <a:solidFill>
                  <a:schemeClr val="tx1"/>
                </a:solidFill>
                <a:cs typeface="Calibri" panose="020F0502020204030204" pitchFamily="34" charset="0"/>
              </a:rPr>
              <a:t>לשפר את המענים הניתנים לזכאי סיעוד לצורך שימור תפקוד ודחיקת תלות?</a:t>
            </a:r>
            <a:endParaRPr lang="he-IL" sz="2200" dirty="0">
              <a:solidFill>
                <a:schemeClr val="tx1"/>
              </a:solidFill>
              <a:cs typeface="Calibri" panose="020F0502020204030204" pitchFamily="34" charset="0"/>
            </a:endParaRP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smtClean="0">
                <a:solidFill>
                  <a:schemeClr val="tx1"/>
                </a:solidFill>
                <a:latin typeface="Calibri" panose="020F0502020204030204" pitchFamily="34" charset="0"/>
                <a:cs typeface="Calibri" panose="020F0502020204030204" pitchFamily="34" charset="0"/>
              </a:rPr>
              <a:t>טיפול בית – </a:t>
            </a:r>
            <a:r>
              <a:rPr lang="he-IL" sz="2200" dirty="0">
                <a:solidFill>
                  <a:schemeClr val="tx1"/>
                </a:solidFill>
                <a:latin typeface="Calibri" panose="020F0502020204030204" pitchFamily="34" charset="0"/>
                <a:cs typeface="Calibri" panose="020F0502020204030204" pitchFamily="34" charset="0"/>
              </a:rPr>
              <a:t>משאב </a:t>
            </a:r>
            <a:r>
              <a:rPr lang="he-IL" sz="2200" dirty="0" smtClean="0">
                <a:solidFill>
                  <a:schemeClr val="tx1"/>
                </a:solidFill>
                <a:latin typeface="Calibri" panose="020F0502020204030204" pitchFamily="34" charset="0"/>
                <a:cs typeface="Calibri" panose="020F0502020204030204" pitchFamily="34" charset="0"/>
              </a:rPr>
              <a:t>במחסור, למי נועד הסיוע ומה </a:t>
            </a:r>
            <a:r>
              <a:rPr lang="he-IL" sz="2200" dirty="0">
                <a:solidFill>
                  <a:schemeClr val="tx1"/>
                </a:solidFill>
                <a:latin typeface="Calibri" panose="020F0502020204030204" pitchFamily="34" charset="0"/>
                <a:cs typeface="Calibri" panose="020F0502020204030204" pitchFamily="34" charset="0"/>
              </a:rPr>
              <a:t>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מטפלות</a:t>
            </a:r>
            <a:endParaRPr lang="he-IL" sz="2200" b="1" dirty="0">
              <a:latin typeface="Calibri" panose="020F0502020204030204" pitchFamily="34" charset="0"/>
              <a:cs typeface="Calibri" panose="020F0502020204030204" pitchFamily="34" charset="0"/>
            </a:endParaRP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smtClean="0">
                <a:latin typeface="Calibri" panose="020F0502020204030204" pitchFamily="34" charset="0"/>
                <a:cs typeface="Calibri" panose="020F0502020204030204" pitchFamily="34" charset="0"/>
              </a:rPr>
              <a:t>שירותים</a:t>
            </a:r>
            <a:endParaRPr lang="he-IL" sz="2200" b="1" dirty="0">
              <a:latin typeface="Calibri" panose="020F0502020204030204" pitchFamily="34" charset="0"/>
              <a:cs typeface="Calibri" panose="020F0502020204030204" pitchFamily="34" charset="0"/>
            </a:endParaRP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smtClean="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94379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בתים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קהילה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מרכזי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smtClean="0">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תכניות לבני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מועדונים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שירותים </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smtClean="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smtClean="0">
                <a:solidFill>
                  <a:srgbClr val="7030A0"/>
                </a:solidFill>
                <a:latin typeface="Calibri" panose="020F0502020204030204" pitchFamily="34" charset="0"/>
                <a:cs typeface="Calibri" panose="020F0502020204030204" pitchFamily="34" charset="0"/>
              </a:rPr>
              <a:t>שיתוף פעולה רווחה </a:t>
            </a:r>
            <a:r>
              <a:rPr lang="he-IL" sz="4400" b="1" dirty="0" err="1" smtClean="0">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305111" y="183114"/>
            <a:ext cx="2287807" cy="769441"/>
          </a:xfrm>
          <a:prstGeom prst="rect">
            <a:avLst/>
          </a:prstGeom>
        </p:spPr>
        <p:txBody>
          <a:bodyPr wrap="none">
            <a:spAutoFit/>
          </a:bodyPr>
          <a:lstStyle/>
          <a:p>
            <a:r>
              <a:rPr lang="he-IL" sz="4400" b="1" dirty="0" smtClean="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תמונה 4"/>
          <p:cNvPicPr>
            <a:picLocks noChangeAspect="1"/>
          </p:cNvPicPr>
          <p:nvPr/>
        </p:nvPicPr>
        <p:blipFill rotWithShape="1">
          <a:blip r:embed="rId2"/>
          <a:srcRect l="19841"/>
          <a:stretch/>
        </p:blipFill>
        <p:spPr>
          <a:xfrm>
            <a:off x="414855" y="5347365"/>
            <a:ext cx="3629681" cy="1510635"/>
          </a:xfrm>
          <a:prstGeom prst="rect">
            <a:avLst/>
          </a:prstGeom>
        </p:spPr>
      </p:pic>
      <p:pic>
        <p:nvPicPr>
          <p:cNvPr id="9" name="תמונה 8"/>
          <p:cNvPicPr>
            <a:picLocks noChangeAspect="1"/>
          </p:cNvPicPr>
          <p:nvPr/>
        </p:nvPicPr>
        <p:blipFill>
          <a:blip r:embed="rId3"/>
          <a:stretch>
            <a:fillRect/>
          </a:stretch>
        </p:blipFill>
        <p:spPr>
          <a:xfrm>
            <a:off x="5560857" y="1559007"/>
            <a:ext cx="1260000" cy="1260000"/>
          </a:xfrm>
          <a:prstGeom prst="rect">
            <a:avLst/>
          </a:prstGeom>
        </p:spPr>
      </p:pic>
      <p:pic>
        <p:nvPicPr>
          <p:cNvPr id="10" name="תמונה 9"/>
          <p:cNvPicPr>
            <a:picLocks noChangeAspect="1"/>
          </p:cNvPicPr>
          <p:nvPr/>
        </p:nvPicPr>
        <p:blipFill>
          <a:blip r:embed="rId4"/>
          <a:stretch>
            <a:fillRect/>
          </a:stretch>
        </p:blipFill>
        <p:spPr>
          <a:xfrm flipH="1">
            <a:off x="7891905" y="1573764"/>
            <a:ext cx="1260762" cy="1260000"/>
          </a:xfrm>
          <a:prstGeom prst="rect">
            <a:avLst/>
          </a:prstGeom>
        </p:spPr>
      </p:pic>
      <p:pic>
        <p:nvPicPr>
          <p:cNvPr id="11" name="תמונה 10"/>
          <p:cNvPicPr>
            <a:picLocks noChangeAspect="1"/>
          </p:cNvPicPr>
          <p:nvPr/>
        </p:nvPicPr>
        <p:blipFill>
          <a:blip r:embed="rId5"/>
          <a:stretch>
            <a:fillRect/>
          </a:stretch>
        </p:blipFill>
        <p:spPr>
          <a:xfrm flipH="1">
            <a:off x="9995859" y="1499821"/>
            <a:ext cx="1260000" cy="1260000"/>
          </a:xfrm>
          <a:prstGeom prst="rect">
            <a:avLst/>
          </a:prstGeom>
        </p:spPr>
      </p:pic>
      <p:pic>
        <p:nvPicPr>
          <p:cNvPr id="12" name="תמונה 11"/>
          <p:cNvPicPr>
            <a:picLocks noChangeAspect="1"/>
          </p:cNvPicPr>
          <p:nvPr/>
        </p:nvPicPr>
        <p:blipFill>
          <a:blip r:embed="rId6"/>
          <a:stretch>
            <a:fillRect/>
          </a:stretch>
        </p:blipFill>
        <p:spPr>
          <a:xfrm>
            <a:off x="9923901" y="3886652"/>
            <a:ext cx="1260000" cy="1260000"/>
          </a:xfrm>
          <a:prstGeom prst="rect">
            <a:avLst/>
          </a:prstGeom>
        </p:spPr>
      </p:pic>
      <p:sp>
        <p:nvSpPr>
          <p:cNvPr id="13" name="TextBox 12"/>
          <p:cNvSpPr txBox="1"/>
          <p:nvPr/>
        </p:nvSpPr>
        <p:spPr>
          <a:xfrm>
            <a:off x="9516483" y="2771199"/>
            <a:ext cx="2170486" cy="707886"/>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180 מרכזי יום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5" name="TextBox 14"/>
          <p:cNvSpPr txBox="1"/>
          <p:nvPr/>
        </p:nvSpPr>
        <p:spPr>
          <a:xfrm>
            <a:off x="7437220" y="2759821"/>
            <a:ext cx="193708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350 מועדוני </a:t>
            </a:r>
            <a:r>
              <a:rPr kumimoji="0" lang="he-IL" sz="2000" b="1"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מופ"ת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12,000 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6" name="TextBox 15"/>
          <p:cNvSpPr txBox="1"/>
          <p:nvPr/>
        </p:nvSpPr>
        <p:spPr>
          <a:xfrm>
            <a:off x="4908049" y="2771199"/>
            <a:ext cx="2386992"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מועדונים חברתיים</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35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17" name="TextBox 16"/>
          <p:cNvSpPr txBox="1"/>
          <p:nvPr/>
        </p:nvSpPr>
        <p:spPr>
          <a:xfrm>
            <a:off x="9606412" y="5063462"/>
            <a:ext cx="2070754" cy="1015663"/>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330 קהילות תומכות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70 אלף</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משתתפים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3" name="מלבן 2"/>
          <p:cNvSpPr/>
          <p:nvPr/>
        </p:nvSpPr>
        <p:spPr>
          <a:xfrm>
            <a:off x="5655883" y="5116995"/>
            <a:ext cx="5683795" cy="1015663"/>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334</a:t>
            </a: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תכניות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להפגת בדידות</a:t>
            </a:r>
            <a:endParaRPr kumimoji="0" lang="he-IL" sz="20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sp>
        <p:nvSpPr>
          <p:cNvPr id="7" name="מלבן 6"/>
          <p:cNvSpPr/>
          <p:nvPr/>
        </p:nvSpPr>
        <p:spPr>
          <a:xfrm>
            <a:off x="234867" y="2324923"/>
            <a:ext cx="3738489" cy="2308324"/>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כ-200 אלף מקבלי שירותים בישראל</a:t>
            </a:r>
            <a:endParaRPr kumimoji="0" lang="he-IL" sz="4400" b="1" i="0" u="none" strike="noStrike" kern="1200" cap="none" spc="0" normalizeH="0" baseline="0" noProof="0" dirty="0">
              <a:ln>
                <a:noFill/>
              </a:ln>
              <a:solidFill>
                <a:srgbClr val="0070C0"/>
              </a:solidFill>
              <a:effectLst/>
              <a:uLnTx/>
              <a:uFillTx/>
              <a:latin typeface="Calibri Light" panose="020F0302020204030204" pitchFamily="34" charset="0"/>
              <a:ea typeface="+mn-ea"/>
              <a:cs typeface="Calibri Light" panose="020F0302020204030204" pitchFamily="34" charset="0"/>
            </a:endParaRPr>
          </a:p>
        </p:txBody>
      </p:sp>
      <p:sp>
        <p:nvSpPr>
          <p:cNvPr id="22" name="מלבן 21"/>
          <p:cNvSpPr/>
          <p:nvPr/>
        </p:nvSpPr>
        <p:spPr>
          <a:xfrm>
            <a:off x="8805332" y="442663"/>
            <a:ext cx="2944375" cy="923330"/>
          </a:xfrm>
          <a:prstGeom prst="rect">
            <a:avLst/>
          </a:prstGeom>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5400" b="1" i="0" u="none" strike="noStrike" kern="1200" cap="none" spc="0" normalizeH="0" baseline="0" noProof="0" dirty="0" smtClean="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rPr>
              <a:t>במספרים:</a:t>
            </a:r>
            <a:endParaRPr kumimoji="0" lang="he-IL" sz="5400" b="1" i="0" u="none" strike="noStrike" kern="1200" cap="none" spc="0" normalizeH="0" baseline="0" noProof="0" dirty="0">
              <a:ln w="10160">
                <a:solidFill>
                  <a:srgbClr val="5B9BD5"/>
                </a:solidFill>
                <a:prstDash val="solid"/>
              </a:ln>
              <a:solidFill>
                <a:srgbClr val="5B9BD5"/>
              </a:solidFill>
              <a:effectLst>
                <a:outerShdw blurRad="38100" dist="22860" dir="5400000" algn="tl" rotWithShape="0">
                  <a:srgbClr val="000000">
                    <a:alpha val="30000"/>
                  </a:srgbClr>
                </a:outerShdw>
              </a:effectLst>
              <a:uLnTx/>
              <a:uFillTx/>
              <a:latin typeface="Calibri Light" panose="020F0302020204030204" pitchFamily="34" charset="0"/>
              <a:ea typeface="+mn-ea"/>
              <a:cs typeface="Calibri Light" panose="020F0302020204030204" pitchFamily="34" charset="0"/>
            </a:endParaRPr>
          </a:p>
        </p:txBody>
      </p:sp>
      <p:pic>
        <p:nvPicPr>
          <p:cNvPr id="18" name="תמונה 17"/>
          <p:cNvPicPr>
            <a:picLocks noChangeAspect="1"/>
          </p:cNvPicPr>
          <p:nvPr/>
        </p:nvPicPr>
        <p:blipFill>
          <a:blip r:embed="rId7"/>
          <a:stretch>
            <a:fillRect/>
          </a:stretch>
        </p:blipFill>
        <p:spPr>
          <a:xfrm>
            <a:off x="7868162" y="3886652"/>
            <a:ext cx="1259238" cy="1260000"/>
          </a:xfrm>
          <a:prstGeom prst="rect">
            <a:avLst/>
          </a:prstGeom>
        </p:spPr>
      </p:pic>
      <p:sp>
        <p:nvSpPr>
          <p:cNvPr id="19" name="TextBox 18"/>
          <p:cNvSpPr txBox="1"/>
          <p:nvPr/>
        </p:nvSpPr>
        <p:spPr>
          <a:xfrm>
            <a:off x="4933817" y="5161953"/>
            <a:ext cx="2441080" cy="1323439"/>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1000 תקני</a:t>
            </a:r>
            <a:r>
              <a:rPr kumimoji="0" lang="he-IL" sz="2000" b="1" i="0" u="none" strike="noStrike" kern="1200" cap="none" spc="0" normalizeH="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כ"א</a:t>
            </a:r>
            <a:r>
              <a:rPr kumimoji="0" lang="he-IL"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ברשויות</a:t>
            </a:r>
            <a: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800 עו"ס </a:t>
            </a:r>
            <a:r>
              <a:rPr kumimoji="0" lang="he-IL" sz="2000" b="0" i="0" u="none" strike="noStrike" kern="1200" cap="none" spc="0" normalizeH="0" baseline="0" noProof="0" dirty="0" err="1" smtClean="0">
                <a:ln>
                  <a:noFill/>
                </a:ln>
                <a:solidFill>
                  <a:prstClr val="black"/>
                </a:solidFill>
                <a:effectLst/>
                <a:uLnTx/>
                <a:uFillTx/>
                <a:latin typeface="Calibri Light" panose="020F0302020204030204" pitchFamily="34" charset="0"/>
                <a:ea typeface="+mn-ea"/>
                <a:cs typeface="Calibri Light" panose="020F0302020204030204" pitchFamily="34" charset="0"/>
              </a:rPr>
              <a:t>זיקנה</a:t>
            </a:r>
            <a: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
            </a:r>
            <a:br>
              <a:rPr kumimoji="0" lang="en-US"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br>
            <a:r>
              <a:rPr kumimoji="0" lang="he-IL" sz="2000" b="0"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150 רכזי מענים</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entury Gothic" panose="020B0502020202020204"/>
              <a:ea typeface="+mn-ea"/>
              <a:cs typeface="Gisha" panose="020B0502040204020203"/>
            </a:endParaRPr>
          </a:p>
        </p:txBody>
      </p:sp>
      <p:pic>
        <p:nvPicPr>
          <p:cNvPr id="2" name="תמונה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659717" y="3848420"/>
            <a:ext cx="1260000" cy="1260000"/>
          </a:xfrm>
          <a:prstGeom prst="rect">
            <a:avLst/>
          </a:prstGeom>
        </p:spPr>
      </p:pic>
      <p:sp>
        <p:nvSpPr>
          <p:cNvPr id="20" name="מלבן 1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5899457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smtClean="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smtClean="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60833" y="5023104"/>
            <a:ext cx="11358218" cy="1220132"/>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latin typeface="Calibri" panose="020F0502020204030204" pitchFamily="34" charset="0"/>
                <a:cs typeface="Calibri" panose="020F0502020204030204" pitchFamily="34" charset="0"/>
              </a:rPr>
              <a:t>תכלול מענים בעין למקבלי גמלת סיעוד מחייב הסתכלות רחבה על כל </a:t>
            </a:r>
            <a:r>
              <a:rPr lang="he-IL" sz="2500" dirty="0" smtClean="0">
                <a:latin typeface="Calibri" panose="020F0502020204030204" pitchFamily="34" charset="0"/>
                <a:cs typeface="Calibri" panose="020F0502020204030204" pitchFamily="34" charset="0"/>
              </a:rPr>
              <a:t>320 </a:t>
            </a:r>
            <a:r>
              <a:rPr lang="he-IL" sz="2500" dirty="0">
                <a:latin typeface="Calibri" panose="020F0502020204030204" pitchFamily="34" charset="0"/>
                <a:cs typeface="Calibri" panose="020F0502020204030204" pitchFamily="34" charset="0"/>
              </a:rPr>
              <a:t>אלף מקבלי הגמלה, הכרת הכלים ויכולת להציע שירותים מגוונים</a:t>
            </a:r>
          </a:p>
        </p:txBody>
      </p:sp>
      <p:grpSp>
        <p:nvGrpSpPr>
          <p:cNvPr id="7" name="קבוצה 6"/>
          <p:cNvGrpSpPr/>
          <p:nvPr/>
        </p:nvGrpSpPr>
        <p:grpSpPr>
          <a:xfrm>
            <a:off x="838921" y="1338994"/>
            <a:ext cx="10913817" cy="1757373"/>
            <a:chOff x="1229035" y="4682800"/>
            <a:chExt cx="10913817" cy="1757373"/>
          </a:xfrm>
        </p:grpSpPr>
        <p:sp>
          <p:nvSpPr>
            <p:cNvPr id="16" name="אליפסה 15"/>
            <p:cNvSpPr/>
            <p:nvPr/>
          </p:nvSpPr>
          <p:spPr>
            <a:xfrm>
              <a:off x="4637356" y="4770492"/>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49753" y="477049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תכנון השירותים והיערכות להזדקנות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
          <p:nvSpPr>
            <p:cNvPr id="15" name="אליפסה 14"/>
            <p:cNvSpPr/>
            <p:nvPr/>
          </p:nvSpPr>
          <p:spPr>
            <a:xfrm>
              <a:off x="2936925" y="468280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29035" y="4706221"/>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9711172" y="5197147"/>
              <a:ext cx="2431680" cy="836705"/>
            </a:xfrm>
            <a:prstGeom prst="rect">
              <a:avLst/>
            </a:prstGeom>
            <a:solidFill>
              <a:srgbClr val="527FC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smtClean="0">
                  <a:latin typeface="Calibri" panose="020F0502020204030204" pitchFamily="34" charset="0"/>
                  <a:cs typeface="Calibri" panose="020F0502020204030204" pitchFamily="34" charset="0"/>
                </a:rPr>
                <a:t>מטרות:</a:t>
              </a:r>
              <a:endParaRPr lang="he-IL" sz="2500" dirty="0">
                <a:latin typeface="Calibri" panose="020F0502020204030204" pitchFamily="34" charset="0"/>
                <a:cs typeface="Calibri" panose="020F0502020204030204" pitchFamily="34" charset="0"/>
              </a:endParaRP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smtClean="0">
                <a:solidFill>
                  <a:srgbClr val="0070C0"/>
                </a:solidFill>
                <a:latin typeface="Calibri" panose="020F0502020204030204" pitchFamily="34" charset="0"/>
                <a:cs typeface="Calibri" panose="020F0502020204030204" pitchFamily="34" charset="0"/>
              </a:rPr>
              <a:t>הדרך: העברות מידע משותפות – ביטוח לאומי ומשרד הרווחה</a:t>
            </a:r>
            <a:endParaRPr lang="he-IL" sz="2800" b="1" dirty="0">
              <a:solidFill>
                <a:srgbClr val="0070C0"/>
              </a:solidFill>
              <a:latin typeface="Calibri" panose="020F0502020204030204" pitchFamily="34" charset="0"/>
              <a:cs typeface="Calibri" panose="020F0502020204030204" pitchFamily="34" charset="0"/>
            </a:endParaRP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1" name="מלבן 20"/>
          <p:cNvSpPr/>
          <p:nvPr/>
        </p:nvSpPr>
        <p:spPr>
          <a:xfrm>
            <a:off x="1350700" y="3685550"/>
            <a:ext cx="10097588" cy="8367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סטטוס: אושר בוועדה להעברת מידע ונמצא בטיפול אנשי המחשוב </a:t>
            </a:r>
          </a:p>
          <a:p>
            <a:pPr algn="ctr"/>
            <a:r>
              <a:rPr lang="he-IL" sz="2500" b="1" dirty="0" smtClean="0">
                <a:solidFill>
                  <a:schemeClr val="tx1"/>
                </a:solidFill>
                <a:latin typeface="Calibri" panose="020F0502020204030204" pitchFamily="34" charset="0"/>
                <a:cs typeface="Calibri" panose="020F0502020204030204" pitchFamily="34" charset="0"/>
              </a:rPr>
              <a:t>בביטוח לאומי וברווחה</a:t>
            </a:r>
            <a:endParaRPr lang="he-IL" sz="2500" b="1" dirty="0">
              <a:solidFill>
                <a:schemeClr val="tx1"/>
              </a:solidFill>
              <a:latin typeface="Calibri" panose="020F0502020204030204" pitchFamily="34" charset="0"/>
              <a:cs typeface="Calibri" panose="020F0502020204030204" pitchFamily="34" charset="0"/>
            </a:endParaRPr>
          </a:p>
        </p:txBody>
      </p:sp>
      <p:sp>
        <p:nvSpPr>
          <p:cNvPr id="14" name="אליפסה 13"/>
          <p:cNvSpPr/>
          <p:nvPr/>
        </p:nvSpPr>
        <p:spPr>
          <a:xfrm>
            <a:off x="5938125" y="1395470"/>
            <a:ext cx="1705404" cy="1669681"/>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smtClean="0">
                <a:solidFill>
                  <a:srgbClr val="44546A">
                    <a:lumMod val="10000"/>
                  </a:srgbClr>
                </a:solidFill>
                <a:latin typeface="Calibri" panose="020F0502020204030204" pitchFamily="34" charset="0"/>
                <a:cs typeface="Calibri" panose="020F0502020204030204" pitchFamily="34" charset="0"/>
              </a:rPr>
              <a:t>התאמת שירותים לצרכי הלקוחות</a:t>
            </a:r>
            <a:endParaRPr lang="he-IL" sz="2000" b="1" dirty="0">
              <a:solidFill>
                <a:srgbClr val="44546A">
                  <a:lumMod val="10000"/>
                </a:srgb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79669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תמונה 8"/>
          <p:cNvPicPr>
            <a:picLocks noChangeAspect="1"/>
          </p:cNvPicPr>
          <p:nvPr/>
        </p:nvPicPr>
        <p:blipFill>
          <a:blip r:embed="rId2"/>
          <a:stretch>
            <a:fillRect/>
          </a:stretch>
        </p:blipFill>
        <p:spPr>
          <a:xfrm>
            <a:off x="4673288" y="3881143"/>
            <a:ext cx="1260000" cy="1260000"/>
          </a:xfrm>
          <a:prstGeom prst="rect">
            <a:avLst/>
          </a:prstGeom>
        </p:spPr>
      </p:pic>
      <p:pic>
        <p:nvPicPr>
          <p:cNvPr id="10" name="תמונה 9"/>
          <p:cNvPicPr>
            <a:picLocks noChangeAspect="1"/>
          </p:cNvPicPr>
          <p:nvPr/>
        </p:nvPicPr>
        <p:blipFill>
          <a:blip r:embed="rId3"/>
          <a:stretch>
            <a:fillRect/>
          </a:stretch>
        </p:blipFill>
        <p:spPr>
          <a:xfrm flipH="1">
            <a:off x="7203795" y="3935138"/>
            <a:ext cx="1260762" cy="1260000"/>
          </a:xfrm>
          <a:prstGeom prst="rect">
            <a:avLst/>
          </a:prstGeom>
        </p:spPr>
      </p:pic>
      <p:pic>
        <p:nvPicPr>
          <p:cNvPr id="12" name="תמונה 11"/>
          <p:cNvPicPr>
            <a:picLocks noChangeAspect="1"/>
          </p:cNvPicPr>
          <p:nvPr/>
        </p:nvPicPr>
        <p:blipFill>
          <a:blip r:embed="rId4"/>
          <a:stretch>
            <a:fillRect/>
          </a:stretch>
        </p:blipFill>
        <p:spPr>
          <a:xfrm>
            <a:off x="9616215" y="3910970"/>
            <a:ext cx="1260000" cy="1260000"/>
          </a:xfrm>
          <a:prstGeom prst="rect">
            <a:avLst/>
          </a:prstGeom>
        </p:spPr>
      </p:pic>
      <p:sp>
        <p:nvSpPr>
          <p:cNvPr id="13" name="TextBox 12"/>
          <p:cNvSpPr txBox="1"/>
          <p:nvPr/>
        </p:nvSpPr>
        <p:spPr>
          <a:xfrm>
            <a:off x="4271409" y="1820480"/>
            <a:ext cx="4831871"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180 מרכזים</a:t>
            </a:r>
            <a:r>
              <a:rPr kumimoji="0" lang="en-US"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r>
            <a:br>
              <a:rPr kumimoji="0" lang="en-US"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br>
            <a:r>
              <a:rPr kumimoji="0" lang="he-IL" sz="32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10,000 זכאי גמלת סיעוד</a:t>
            </a:r>
          </a:p>
          <a:p>
            <a:pPr marL="0" marR="0" lvl="0" indent="0" algn="ctr" defTabSz="457200" rtl="0" eaLnBrk="1" fontAlgn="auto" latinLnBrk="0" hangingPunct="1">
              <a:lnSpc>
                <a:spcPct val="100000"/>
              </a:lnSpc>
              <a:spcBef>
                <a:spcPts val="0"/>
              </a:spcBef>
              <a:spcAft>
                <a:spcPts val="0"/>
              </a:spcAft>
              <a:buClrTx/>
              <a:buSzTx/>
              <a:buFontTx/>
              <a:buNone/>
              <a:tabLst/>
              <a:defRPr/>
            </a:pPr>
            <a:r>
              <a:rPr lang="he-IL" sz="3200" dirty="0" smtClean="0">
                <a:solidFill>
                  <a:prstClr val="black"/>
                </a:solidFill>
                <a:latin typeface="Calibri" panose="020F0502020204030204" pitchFamily="34" charset="0"/>
                <a:cs typeface="Calibri" panose="020F0502020204030204" pitchFamily="34" charset="0"/>
              </a:rPr>
              <a:t>1,500 מושמי רווחה</a:t>
            </a:r>
            <a:endParaRPr kumimoji="0" lang="he-IL" sz="32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5" name="TextBox 14"/>
          <p:cNvSpPr txBox="1"/>
          <p:nvPr/>
        </p:nvSpPr>
        <p:spPr>
          <a:xfrm>
            <a:off x="6929301" y="5025135"/>
            <a:ext cx="1809750"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טיפול</a:t>
            </a:r>
            <a:r>
              <a:rPr kumimoji="0" lang="he-IL" sz="2400"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משמר תפקוד ארוך טווח, תשומות בריאותיות</a:t>
            </a:r>
            <a:endParaRPr kumimoji="0" lang="he-IL" sz="24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6" name="TextBox 15"/>
          <p:cNvSpPr txBox="1"/>
          <p:nvPr/>
        </p:nvSpPr>
        <p:spPr>
          <a:xfrm>
            <a:off x="4420399" y="5003182"/>
            <a:ext cx="1776875" cy="830997"/>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effectLst/>
                <a:uLnTx/>
                <a:uFillTx/>
                <a:latin typeface="Calibri" panose="020F0502020204030204" pitchFamily="34" charset="0"/>
                <a:cs typeface="Calibri" panose="020F0502020204030204" pitchFamily="34" charset="0"/>
              </a:rPr>
              <a:t>זיהוי ואיתור מצבי סיכון</a:t>
            </a: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7" name="TextBox 16"/>
          <p:cNvSpPr txBox="1"/>
          <p:nvPr/>
        </p:nvSpPr>
        <p:spPr>
          <a:xfrm>
            <a:off x="9241621" y="5003182"/>
            <a:ext cx="2070754" cy="1569660"/>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מסגרת חברתית</a:t>
            </a:r>
            <a:r>
              <a:rPr kumimoji="0" lang="he-IL" sz="2400"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המעניקה שייכות ומשמעות</a:t>
            </a:r>
            <a:endPar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40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19" name="TextBox 18"/>
          <p:cNvSpPr txBox="1"/>
          <p:nvPr/>
        </p:nvSpPr>
        <p:spPr>
          <a:xfrm>
            <a:off x="1496188" y="4871248"/>
            <a:ext cx="2279780" cy="1877437"/>
          </a:xfrm>
          <a:prstGeom prst="rect">
            <a:avLst/>
          </a:prstGeom>
          <a:noFill/>
        </p:spPr>
        <p:txBody>
          <a:bodyPr wrap="square" rtlCol="1">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240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מניעת אפשרות של אשפוז סיעודי וחסכון בעלויות טיפול</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pic>
        <p:nvPicPr>
          <p:cNvPr id="2" name="תמונה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46544" y="3783888"/>
            <a:ext cx="1286728" cy="1286728"/>
          </a:xfrm>
          <a:prstGeom prst="rect">
            <a:avLst/>
          </a:prstGeom>
        </p:spPr>
      </p:pic>
      <p:sp>
        <p:nvSpPr>
          <p:cNvPr id="20" name="מלבן 19"/>
          <p:cNvSpPr/>
          <p:nvPr/>
        </p:nvSpPr>
        <p:spPr>
          <a:xfrm>
            <a:off x="8326336" y="394235"/>
            <a:ext cx="3106024" cy="923330"/>
          </a:xfrm>
          <a:prstGeom prst="rect">
            <a:avLst/>
          </a:prstGeom>
          <a:noFill/>
        </p:spPr>
        <p:txBody>
          <a:bodyPr wrap="square" lIns="91440" tIns="45720" rIns="91440" bIns="45720">
            <a:spAutoFit/>
          </a:bodyPr>
          <a:lstStyle/>
          <a:p>
            <a:pPr algn="ctr"/>
            <a:r>
              <a:rPr lang="he-IL" sz="5400" dirty="0" smtClean="0">
                <a:solidFill>
                  <a:srgbClr val="527FC4"/>
                </a:solidFill>
                <a:latin typeface="Calibri" panose="020F0502020204030204" pitchFamily="34" charset="0"/>
                <a:cs typeface="Calibri" panose="020F0502020204030204" pitchFamily="34" charset="0"/>
              </a:rPr>
              <a:t>מרכזי היום</a:t>
            </a:r>
            <a:endParaRPr lang="he-IL" sz="5400" dirty="0">
              <a:solidFill>
                <a:srgbClr val="527FC4"/>
              </a:solidFill>
              <a:latin typeface="Calibri" panose="020F0502020204030204" pitchFamily="34" charset="0"/>
              <a:cs typeface="Calibri" panose="020F0502020204030204" pitchFamily="34" charset="0"/>
            </a:endParaRPr>
          </a:p>
        </p:txBody>
      </p:sp>
      <p:sp>
        <p:nvSpPr>
          <p:cNvPr id="21" name="מלבן 20"/>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22" name="קבוצה 21"/>
          <p:cNvGrpSpPr/>
          <p:nvPr/>
        </p:nvGrpSpPr>
        <p:grpSpPr>
          <a:xfrm>
            <a:off x="1429414" y="1256994"/>
            <a:ext cx="1563719" cy="1307858"/>
            <a:chOff x="1670079" y="2140313"/>
            <a:chExt cx="1642835" cy="1642835"/>
          </a:xfrm>
          <a:solidFill>
            <a:srgbClr val="D8BEEC"/>
          </a:solidFill>
        </p:grpSpPr>
        <p:sp>
          <p:nvSpPr>
            <p:cNvPr id="30" name="אליפסה 29"/>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1"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2" name="אליפסה 31"/>
          <p:cNvSpPr/>
          <p:nvPr/>
        </p:nvSpPr>
        <p:spPr>
          <a:xfrm>
            <a:off x="2195970" y="1070204"/>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3" name="קבוצה 32"/>
          <p:cNvGrpSpPr/>
          <p:nvPr/>
        </p:nvGrpSpPr>
        <p:grpSpPr>
          <a:xfrm>
            <a:off x="1429414" y="553589"/>
            <a:ext cx="3383279" cy="2680688"/>
            <a:chOff x="4003932" y="140625"/>
            <a:chExt cx="3347849" cy="3401935"/>
          </a:xfrm>
        </p:grpSpPr>
        <p:sp>
          <p:nvSpPr>
            <p:cNvPr id="34" name="אליפסה 33"/>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35"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pic>
        <p:nvPicPr>
          <p:cNvPr id="23" name="תמונה 22"/>
          <p:cNvPicPr>
            <a:picLocks noChangeAspect="1"/>
          </p:cNvPicPr>
          <p:nvPr/>
        </p:nvPicPr>
        <p:blipFill>
          <a:blip r:embed="rId6"/>
          <a:stretch>
            <a:fillRect/>
          </a:stretch>
        </p:blipFill>
        <p:spPr>
          <a:xfrm>
            <a:off x="10582103" y="6136297"/>
            <a:ext cx="1609898" cy="721702"/>
          </a:xfrm>
          <a:prstGeom prst="rect">
            <a:avLst/>
          </a:prstGeom>
        </p:spPr>
      </p:pic>
    </p:spTree>
    <p:extLst>
      <p:ext uri="{BB962C8B-B14F-4D97-AF65-F5344CB8AC3E}">
        <p14:creationId xmlns:p14="http://schemas.microsoft.com/office/powerpoint/2010/main" val="39176532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extBox 17"/>
          <p:cNvSpPr txBox="1"/>
          <p:nvPr/>
        </p:nvSpPr>
        <p:spPr>
          <a:xfrm>
            <a:off x="125366" y="878189"/>
            <a:ext cx="11669757" cy="5324535"/>
          </a:xfrm>
          <a:prstGeom prst="rect">
            <a:avLst/>
          </a:prstGeom>
          <a:noFill/>
        </p:spPr>
        <p:txBody>
          <a:bodyPr wrap="square" rtlCol="1">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
            </a:r>
            <a:br>
              <a:rPr kumimoji="0" lang="en-US" sz="28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br>
            <a:r>
              <a:rPr kumimoji="0" lang="he-IL" sz="40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rPr>
              <a:t>	</a:t>
            </a:r>
            <a:endParaRPr kumimoji="0" lang="he-IL" sz="40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endParaRP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הרחבת מעגלי </a:t>
            </a:r>
            <a:r>
              <a:rPr kumimoji="0" lang="he-IL" sz="24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rPr>
              <a:t>השייכות </a:t>
            </a: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והמשמעות ומניעת בדידות</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מעקב על האזרחים הותיקים ומצבם</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שימור ושיפור תפקוד</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הדרכה, פיקוח ובקרה במסגרות-  יתרון לגודל</a:t>
            </a:r>
          </a:p>
          <a:p>
            <a:pPr marL="457200" marR="0" lvl="0" indent="-457200" algn="r" defTabSz="4572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בירור, סיוע והתרעה במקרה של אי-הגעה</a:t>
            </a:r>
          </a:p>
          <a:p>
            <a:pPr marL="0" marR="0" lvl="0" indent="0" algn="ctr" defTabSz="457200" rtl="1" eaLnBrk="1" fontAlgn="auto" latinLnBrk="0" hangingPunct="1">
              <a:lnSpc>
                <a:spcPct val="100000"/>
              </a:lnSpc>
              <a:spcBef>
                <a:spcPts val="0"/>
              </a:spcBef>
              <a:spcAft>
                <a:spcPts val="0"/>
              </a:spcAft>
              <a:buClrTx/>
              <a:buSzTx/>
              <a:buFontTx/>
              <a:buNone/>
              <a:tabLst/>
              <a:defRPr/>
            </a:pPr>
            <a:endParaRPr kumimoji="0" lang="he-IL" sz="20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ctr" defTabSz="457200" rtl="1" eaLnBrk="1" fontAlgn="auto" latinLnBrk="0" hangingPunct="1">
              <a:lnSpc>
                <a:spcPct val="100000"/>
              </a:lnSpc>
              <a:spcBef>
                <a:spcPts val="0"/>
              </a:spcBef>
              <a:spcAft>
                <a:spcPts val="0"/>
              </a:spcAft>
              <a:buClrTx/>
              <a:buSzTx/>
              <a:buFontTx/>
              <a:buNone/>
              <a:tabLst/>
              <a:defRPr/>
            </a:pPr>
            <a:endParaRPr lang="he-IL" sz="2400" dirty="0">
              <a:solidFill>
                <a:prstClr val="black"/>
              </a:solidFill>
              <a:latin typeface="Calibri" panose="020F0502020204030204" pitchFamily="34" charset="0"/>
              <a:cs typeface="Calibri" panose="020F0502020204030204" pitchFamily="34" charset="0"/>
            </a:endParaRPr>
          </a:p>
          <a:p>
            <a:pPr marL="0" marR="0" lvl="0" indent="0" algn="ctr" defTabSz="4572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השייכות והמשמעות ייתנו לקשיש כוח וסיבה לעבור את תקופת החיים המאתגרת בצורה מיטבית.</a:t>
            </a:r>
            <a:r>
              <a:rPr kumimoji="0" lang="en-US"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r>
            <a:br>
              <a:rPr kumimoji="0" lang="en-US"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br>
            <a:r>
              <a:rPr kumimoji="0" lang="he-IL" sz="2400" b="1"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כשיש משמעות – "למה" – האזרח</a:t>
            </a:r>
            <a:r>
              <a:rPr kumimoji="0" lang="he-IL" sz="2400" b="1" i="0" u="none" strike="noStrike" kern="1200" cap="none" spc="0" normalizeH="0" noProof="0" dirty="0" smtClean="0">
                <a:ln>
                  <a:noFill/>
                </a:ln>
                <a:solidFill>
                  <a:prstClr val="black"/>
                </a:solidFill>
                <a:effectLst/>
                <a:uLnTx/>
                <a:uFillTx/>
                <a:latin typeface="Calibri" panose="020F0502020204030204" pitchFamily="34" charset="0"/>
                <a:cs typeface="Calibri" panose="020F0502020204030204" pitchFamily="34" charset="0"/>
              </a:rPr>
              <a:t> הוותיק</a:t>
            </a:r>
            <a:r>
              <a:rPr kumimoji="0" lang="he-IL" sz="2400" b="1"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ימצא גם את ה"איך"</a:t>
            </a:r>
          </a:p>
          <a:p>
            <a:pPr marL="0" marR="0" lvl="0" indent="0" algn="r" defTabSz="4572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rPr>
              <a:t>	</a:t>
            </a:r>
            <a:endParaRPr kumimoji="0" lang="he-IL" sz="3200" b="0" i="0" u="none" strike="noStrike" kern="1200" cap="none" spc="0" normalizeH="0" baseline="0" noProof="0" dirty="0" smtClean="0">
              <a:ln>
                <a:noFill/>
              </a:ln>
              <a:solidFill>
                <a:prstClr val="black"/>
              </a:solidFill>
              <a:effectLst/>
              <a:uLnTx/>
              <a:uFillTx/>
              <a:latin typeface="Calibri" panose="020F0502020204030204" pitchFamily="34" charset="0"/>
              <a:cs typeface="Calibri" panose="020F0502020204030204" pitchFamily="34" charset="0"/>
            </a:endParaRPr>
          </a:p>
          <a:p>
            <a:pPr marL="0" marR="0" lvl="0" indent="0" algn="r" defTabSz="457200" rtl="1" eaLnBrk="1" fontAlgn="auto" latinLnBrk="0" hangingPunct="1">
              <a:lnSpc>
                <a:spcPct val="100000"/>
              </a:lnSpc>
              <a:spcBef>
                <a:spcPts val="0"/>
              </a:spcBef>
              <a:spcAft>
                <a:spcPts val="0"/>
              </a:spcAft>
              <a:buClrTx/>
              <a:buSzTx/>
              <a:buFontTx/>
              <a:buNone/>
              <a:tabLst/>
              <a:defRPr/>
            </a:pPr>
            <a:endParaRPr kumimoji="0" lang="he-IL" sz="3600" b="0" i="0" u="none" strike="noStrike" kern="1200" cap="none" spc="0" normalizeH="0" baseline="0" noProof="0" dirty="0">
              <a:ln>
                <a:noFill/>
              </a:ln>
              <a:solidFill>
                <a:prstClr val="black"/>
              </a:solidFill>
              <a:effectLst/>
              <a:uLnTx/>
              <a:uFillTx/>
              <a:latin typeface="Calibri" panose="020F0502020204030204" pitchFamily="34" charset="0"/>
              <a:cs typeface="Calibri" panose="020F0502020204030204" pitchFamily="34" charset="0"/>
            </a:endParaRPr>
          </a:p>
        </p:txBody>
      </p:sp>
      <p:sp>
        <p:nvSpPr>
          <p:cNvPr id="8" name="מלבן 7"/>
          <p:cNvSpPr/>
          <p:nvPr/>
        </p:nvSpPr>
        <p:spPr>
          <a:xfrm>
            <a:off x="0" y="555024"/>
            <a:ext cx="11450901" cy="646331"/>
          </a:xfrm>
          <a:prstGeom prst="rect">
            <a:avLst/>
          </a:prstGeom>
          <a:noFill/>
        </p:spPr>
        <p:txBody>
          <a:bodyPr wrap="square" lIns="91440" tIns="45720" rIns="91440" bIns="45720">
            <a:spAutoFit/>
          </a:bodyPr>
          <a:lstStyle/>
          <a:p>
            <a:r>
              <a:rPr lang="he-IL" sz="3600" b="1" dirty="0" smtClean="0">
                <a:solidFill>
                  <a:srgbClr val="0070C0"/>
                </a:solidFill>
                <a:latin typeface="Calibri" panose="020F0502020204030204" pitchFamily="34" charset="0"/>
                <a:cs typeface="Calibri" panose="020F0502020204030204" pitchFamily="34" charset="0"/>
              </a:rPr>
              <a:t>מרכז היום – יתרונות:</a:t>
            </a:r>
            <a:endParaRPr lang="he-IL" sz="3600" b="1" dirty="0">
              <a:solidFill>
                <a:srgbClr val="0070C0"/>
              </a:solidFill>
              <a:latin typeface="Calibri" panose="020F0502020204030204" pitchFamily="34" charset="0"/>
              <a:cs typeface="Calibri" panose="020F0502020204030204" pitchFamily="34" charset="0"/>
            </a:endParaRPr>
          </a:p>
        </p:txBody>
      </p:sp>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6" name="קבוצה 15"/>
          <p:cNvGrpSpPr/>
          <p:nvPr/>
        </p:nvGrpSpPr>
        <p:grpSpPr>
          <a:xfrm>
            <a:off x="1429414" y="553589"/>
            <a:ext cx="3383279" cy="2680688"/>
            <a:chOff x="4003932" y="140625"/>
            <a:chExt cx="3347849" cy="3401935"/>
          </a:xfrm>
        </p:grpSpPr>
        <p:sp>
          <p:nvSpPr>
            <p:cNvPr id="17" name="אליפסה 1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19"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grpSp>
        <p:nvGrpSpPr>
          <p:cNvPr id="20" name="קבוצה 19"/>
          <p:cNvGrpSpPr/>
          <p:nvPr/>
        </p:nvGrpSpPr>
        <p:grpSpPr>
          <a:xfrm>
            <a:off x="1429414" y="1256994"/>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2195970" y="1070204"/>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spTree>
    <p:extLst>
      <p:ext uri="{BB962C8B-B14F-4D97-AF65-F5344CB8AC3E}">
        <p14:creationId xmlns:p14="http://schemas.microsoft.com/office/powerpoint/2010/main" val="3982463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TextBox 17"/>
          <p:cNvSpPr txBox="1"/>
          <p:nvPr/>
        </p:nvSpPr>
        <p:spPr>
          <a:xfrm>
            <a:off x="250498" y="-112919"/>
            <a:ext cx="11086524" cy="584775"/>
          </a:xfrm>
          <a:prstGeom prst="rect">
            <a:avLst/>
          </a:prstGeom>
          <a:noFill/>
        </p:spPr>
        <p:txBody>
          <a:bodyPr wrap="square" rtlCol="1">
            <a:spAutoFit/>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prstClr val="black"/>
                </a:solidFill>
                <a:effectLst/>
                <a:uLnTx/>
                <a:uFillTx/>
                <a:latin typeface="Calibri Light" panose="020F0302020204030204" pitchFamily="34" charset="0"/>
                <a:ea typeface="+mn-ea"/>
                <a:cs typeface="Calibri Light" panose="020F0302020204030204" pitchFamily="34" charset="0"/>
              </a:rPr>
              <a:t>מחקרים מוכיחים כי:</a:t>
            </a:r>
            <a:endParaRPr kumimoji="0" lang="he-IL" sz="3200" b="0" i="0" u="none" strike="noStrike" kern="1200" cap="none" spc="0" normalizeH="0" baseline="0" noProof="0" dirty="0">
              <a:ln>
                <a:noFill/>
              </a:ln>
              <a:solidFill>
                <a:prstClr val="black"/>
              </a:solidFill>
              <a:effectLst/>
              <a:uLnTx/>
              <a:uFillTx/>
              <a:latin typeface="Calibri Light" panose="020F0302020204030204" pitchFamily="34" charset="0"/>
              <a:ea typeface="+mn-ea"/>
              <a:cs typeface="Calibri Light" panose="020F0302020204030204" pitchFamily="34" charset="0"/>
            </a:endParaRPr>
          </a:p>
        </p:txBody>
      </p:sp>
      <p:graphicFrame>
        <p:nvGraphicFramePr>
          <p:cNvPr id="5" name="דיאגרמה 4"/>
          <p:cNvGraphicFramePr/>
          <p:nvPr>
            <p:extLst>
              <p:ext uri="{D42A27DB-BD31-4B8C-83A1-F6EECF244321}">
                <p14:modId xmlns:p14="http://schemas.microsoft.com/office/powerpoint/2010/main" val="1906600994"/>
              </p:ext>
            </p:extLst>
          </p:nvPr>
        </p:nvGraphicFramePr>
        <p:xfrm>
          <a:off x="124122" y="471856"/>
          <a:ext cx="11681307" cy="63861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Tree>
    <p:extLst>
      <p:ext uri="{BB962C8B-B14F-4D97-AF65-F5344CB8AC3E}">
        <p14:creationId xmlns:p14="http://schemas.microsoft.com/office/powerpoint/2010/main" val="14183139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smtClean="0">
                <a:solidFill>
                  <a:srgbClr val="0070C0"/>
                </a:solidFill>
                <a:latin typeface="Calibri" panose="020F0502020204030204" pitchFamily="34" charset="0"/>
                <a:cs typeface="Calibri" panose="020F0502020204030204" pitchFamily="34" charset="0"/>
              </a:rPr>
              <a:t>* דרך גמלת הסיעוד</a:t>
            </a:r>
            <a:r>
              <a:rPr lang="en-US" sz="1600" b="1" dirty="0" smtClean="0">
                <a:solidFill>
                  <a:srgbClr val="0070C0"/>
                </a:solidFill>
                <a:latin typeface="Calibri" panose="020F0502020204030204" pitchFamily="34" charset="0"/>
                <a:cs typeface="Calibri" panose="020F0502020204030204" pitchFamily="34" charset="0"/>
              </a:rPr>
              <a:t/>
            </a:r>
            <a:br>
              <a:rPr lang="en-US" sz="1600" b="1" dirty="0" smtClean="0">
                <a:solidFill>
                  <a:srgbClr val="0070C0"/>
                </a:solidFill>
                <a:latin typeface="Calibri" panose="020F0502020204030204" pitchFamily="34" charset="0"/>
                <a:cs typeface="Calibri" panose="020F0502020204030204" pitchFamily="34" charset="0"/>
              </a:rPr>
            </a:br>
            <a:r>
              <a:rPr lang="he-IL" sz="1600" b="1" dirty="0" smtClean="0">
                <a:solidFill>
                  <a:srgbClr val="0070C0"/>
                </a:solidFill>
                <a:latin typeface="Calibri" panose="020F0502020204030204" pitchFamily="34" charset="0"/>
                <a:cs typeface="Calibri" panose="020F0502020204030204" pitchFamily="34" charset="0"/>
              </a:rPr>
              <a:t>* 3 ימים בשבוע</a:t>
            </a:r>
            <a:endParaRPr lang="he-IL" sz="1600" b="1" dirty="0">
              <a:solidFill>
                <a:srgbClr val="0070C0"/>
              </a:solidFill>
              <a:latin typeface="Calibri" panose="020F0502020204030204" pitchFamily="34" charset="0"/>
              <a:cs typeface="Calibri" panose="020F0502020204030204" pitchFamily="34" charset="0"/>
            </a:endParaRP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1372313192"/>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2"/>
          </a:graphicData>
        </a:graphic>
      </p:graphicFrame>
      <p:sp>
        <p:nvSpPr>
          <p:cNvPr id="2" name="מלבן 1"/>
          <p:cNvSpPr/>
          <p:nvPr/>
        </p:nvSpPr>
        <p:spPr>
          <a:xfrm>
            <a:off x="8007558" y="2072480"/>
            <a:ext cx="1267968" cy="499872"/>
          </a:xfrm>
          <a:prstGeom prst="rect">
            <a:avLst/>
          </a:prstGeom>
          <a:ln w="38100"/>
        </p:spPr>
        <p:style>
          <a:lnRef idx="2">
            <a:schemeClr val="accent1"/>
          </a:lnRef>
          <a:fillRef idx="1">
            <a:schemeClr val="lt1"/>
          </a:fillRef>
          <a:effectRef idx="0">
            <a:schemeClr val="accent1"/>
          </a:effectRef>
          <a:fontRef idx="minor">
            <a:schemeClr val="dk1"/>
          </a:fontRef>
        </p:style>
        <p:txBody>
          <a:bodyPr rtlCol="1" anchor="ctr"/>
          <a:lstStyle/>
          <a:p>
            <a:pPr algn="ctr"/>
            <a:r>
              <a:rPr lang="he-IL" dirty="0" smtClean="0">
                <a:latin typeface="Calibri" panose="020F0502020204030204" pitchFamily="34" charset="0"/>
                <a:cs typeface="Calibri" panose="020F0502020204030204" pitchFamily="34" charset="0"/>
              </a:rPr>
              <a:t>פי 17</a:t>
            </a:r>
            <a:endParaRPr lang="he-IL"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26506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2" name="מלבן 1"/>
          <p:cNvSpPr/>
          <p:nvPr/>
        </p:nvSpPr>
        <p:spPr>
          <a:xfrm>
            <a:off x="842211" y="863730"/>
            <a:ext cx="10972799" cy="738664"/>
          </a:xfrm>
          <a:prstGeom prst="rect">
            <a:avLst/>
          </a:prstGeom>
        </p:spPr>
        <p:txBody>
          <a:bodyPr wrap="square">
            <a:spAutoFit/>
          </a:bodyPr>
          <a:lstStyle/>
          <a:p>
            <a:pPr defTabSz="457200">
              <a:lnSpc>
                <a:spcPct val="150000"/>
              </a:lnSpc>
              <a:defRPr/>
            </a:pPr>
            <a:r>
              <a:rPr lang="he-IL" sz="2800" b="1" dirty="0" smtClean="0">
                <a:solidFill>
                  <a:prstClr val="black"/>
                </a:solidFill>
                <a:latin typeface="Calibri" panose="020F0502020204030204" pitchFamily="34" charset="0"/>
                <a:cs typeface="Calibri" panose="020F0502020204030204" pitchFamily="34" charset="0"/>
              </a:rPr>
              <a:t>1800₪? מנוי ממוצע לחדר כושר עולה כ-400 ₪ לחודש... </a:t>
            </a:r>
            <a:endParaRPr lang="he-IL" sz="2800" b="1" dirty="0" smtClean="0">
              <a:solidFill>
                <a:srgbClr val="FF0000"/>
              </a:solidFill>
              <a:latin typeface="Calibri" panose="020F0502020204030204" pitchFamily="34" charset="0"/>
              <a:cs typeface="Calibri" panose="020F0502020204030204" pitchFamily="34" charset="0"/>
            </a:endParaRPr>
          </a:p>
        </p:txBody>
      </p:sp>
      <p:pic>
        <p:nvPicPr>
          <p:cNvPr id="7" name="תמונה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pic>
        <p:nvPicPr>
          <p:cNvPr id="3" name="תמונה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230" y="2314923"/>
            <a:ext cx="5478380" cy="3652253"/>
          </a:xfrm>
          <a:prstGeom prst="rect">
            <a:avLst/>
          </a:prstGeom>
        </p:spPr>
      </p:pic>
    </p:spTree>
    <p:extLst>
      <p:ext uri="{BB962C8B-B14F-4D97-AF65-F5344CB8AC3E}">
        <p14:creationId xmlns:p14="http://schemas.microsoft.com/office/powerpoint/2010/main" val="383737347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315525" y="466139"/>
            <a:ext cx="11313347" cy="707886"/>
          </a:xfrm>
          <a:prstGeom prst="rect">
            <a:avLst/>
          </a:prstGeom>
          <a:noFill/>
        </p:spPr>
        <p:txBody>
          <a:bodyPr wrap="square" rtlCol="1">
            <a:spAutoFit/>
          </a:bodyPr>
          <a:lstStyle/>
          <a:p>
            <a:pPr lvl="0" defTabSz="457200">
              <a:defRPr/>
            </a:pPr>
            <a:r>
              <a:rPr lang="he-IL" sz="4000" b="1" dirty="0" smtClean="0">
                <a:latin typeface="Calibri" panose="020F0502020204030204" pitchFamily="34" charset="0"/>
                <a:cs typeface="Calibri" panose="020F0502020204030204" pitchFamily="34" charset="0"/>
              </a:rPr>
              <a:t>משבר מתמשך בהפעלת מרכזי היום</a:t>
            </a:r>
            <a:endParaRPr lang="he-IL" sz="4000" b="1" dirty="0">
              <a:solidFill>
                <a:srgbClr val="FF0000"/>
              </a:solidFill>
              <a:latin typeface="Calibri" panose="020F0502020204030204" pitchFamily="34"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 name="תמונה 1"/>
          <p:cNvPicPr>
            <a:picLocks noChangeAspect="1"/>
          </p:cNvPicPr>
          <p:nvPr/>
        </p:nvPicPr>
        <p:blipFill rotWithShape="1">
          <a:blip r:embed="rId2"/>
          <a:srcRect l="5939" t="35831" r="24300" b="7169"/>
          <a:stretch/>
        </p:blipFill>
        <p:spPr>
          <a:xfrm>
            <a:off x="460375" y="1600199"/>
            <a:ext cx="10864860" cy="4991037"/>
          </a:xfrm>
          <a:prstGeom prst="rect">
            <a:avLst/>
          </a:prstGeom>
        </p:spPr>
      </p:pic>
    </p:spTree>
    <p:extLst>
      <p:ext uri="{BB962C8B-B14F-4D97-AF65-F5344CB8AC3E}">
        <p14:creationId xmlns:p14="http://schemas.microsoft.com/office/powerpoint/2010/main" val="2901035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1763325" y="915216"/>
            <a:ext cx="11313347" cy="707886"/>
          </a:xfrm>
          <a:prstGeom prst="rect">
            <a:avLst/>
          </a:prstGeom>
          <a:noFill/>
        </p:spPr>
        <p:txBody>
          <a:bodyPr wrap="square" rtlCol="1">
            <a:spAutoFit/>
          </a:bodyPr>
          <a:lstStyle/>
          <a:p>
            <a:pPr lvl="0" defTabSz="457200">
              <a:defRPr/>
            </a:pPr>
            <a:r>
              <a:rPr lang="he-IL" sz="4000" b="1" dirty="0">
                <a:solidFill>
                  <a:srgbClr val="0070C0"/>
                </a:solidFill>
                <a:latin typeface="Calibri" panose="020F0502020204030204" pitchFamily="34" charset="0"/>
                <a:cs typeface="Calibri" panose="020F0502020204030204" pitchFamily="34" charset="0"/>
              </a:rPr>
              <a:t>רפורמת מרכזי </a:t>
            </a:r>
            <a:r>
              <a:rPr lang="he-IL" sz="4000" b="1" dirty="0" smtClean="0">
                <a:solidFill>
                  <a:srgbClr val="0070C0"/>
                </a:solidFill>
                <a:latin typeface="Calibri" panose="020F0502020204030204" pitchFamily="34" charset="0"/>
                <a:cs typeface="Calibri" panose="020F0502020204030204" pitchFamily="34" charset="0"/>
              </a:rPr>
              <a:t>היום</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621441" y="1422822"/>
            <a:ext cx="10875532" cy="8956298"/>
          </a:xfrm>
          <a:prstGeom prst="rect">
            <a:avLst/>
          </a:prstGeom>
          <a:noFill/>
        </p:spPr>
        <p:txBody>
          <a:bodyPr wrap="square" rtlCol="1">
            <a:spAutoFit/>
          </a:bodyPr>
          <a:lstStyle/>
          <a:p>
            <a:pPr marL="571500" lvl="0" indent="-571500" defTabSz="457200">
              <a:lnSpc>
                <a:spcPct val="150000"/>
              </a:lnSpc>
              <a:buFont typeface="Wingdings" panose="05000000000000000000" pitchFamily="2" charset="2"/>
              <a:buChar char="v"/>
              <a:defRPr/>
            </a:pPr>
            <a:endParaRPr lang="he-IL" sz="2800" dirty="0">
              <a:solidFill>
                <a:prstClr val="black"/>
              </a:solidFill>
              <a:latin typeface="Calibri" panose="020F0502020204030204" pitchFamily="34" charset="0"/>
              <a:cs typeface="Calibri" panose="020F0502020204030204" pitchFamily="34" charset="0"/>
            </a:endParaRP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מרכז </a:t>
            </a:r>
            <a:r>
              <a:rPr lang="he-IL" sz="2400" dirty="0">
                <a:solidFill>
                  <a:prstClr val="black"/>
                </a:solidFill>
                <a:latin typeface="Calibri" panose="020F0502020204030204" pitchFamily="34" charset="0"/>
                <a:cs typeface="Calibri" panose="020F0502020204030204" pitchFamily="34" charset="0"/>
              </a:rPr>
              <a:t>לקידום הזדקנות </a:t>
            </a:r>
            <a:r>
              <a:rPr lang="he-IL" sz="2400" dirty="0" smtClean="0">
                <a:solidFill>
                  <a:prstClr val="black"/>
                </a:solidFill>
                <a:latin typeface="Calibri" panose="020F0502020204030204" pitchFamily="34" charset="0"/>
                <a:cs typeface="Calibri" panose="020F0502020204030204" pitchFamily="34" charset="0"/>
              </a:rPr>
              <a:t>מיטבית ושיפור תפקוד </a:t>
            </a:r>
            <a:r>
              <a:rPr lang="he-IL" sz="2400" dirty="0">
                <a:solidFill>
                  <a:prstClr val="black"/>
                </a:solidFill>
                <a:latin typeface="Calibri" panose="020F0502020204030204" pitchFamily="34" charset="0"/>
                <a:cs typeface="Calibri" panose="020F0502020204030204" pitchFamily="34" charset="0"/>
              </a:rPr>
              <a:t>לכלל האזרחים הותיקים בקהילה</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הרחבת </a:t>
            </a:r>
            <a:r>
              <a:rPr lang="he-IL" sz="2400" dirty="0">
                <a:solidFill>
                  <a:prstClr val="black"/>
                </a:solidFill>
                <a:latin typeface="Calibri" panose="020F0502020204030204" pitchFamily="34" charset="0"/>
                <a:cs typeface="Calibri" panose="020F0502020204030204" pitchFamily="34" charset="0"/>
              </a:rPr>
              <a:t>כ"א מקצועי </a:t>
            </a:r>
            <a:r>
              <a:rPr lang="he-IL" sz="2400" dirty="0" smtClean="0">
                <a:solidFill>
                  <a:prstClr val="black"/>
                </a:solidFill>
                <a:latin typeface="Calibri" panose="020F0502020204030204" pitchFamily="34" charset="0"/>
                <a:cs typeface="Calibri" panose="020F0502020204030204" pitchFamily="34" charset="0"/>
              </a:rPr>
              <a:t>למניעת התדרדרות- עו"ס</a:t>
            </a:r>
            <a:r>
              <a:rPr lang="he-IL" sz="2400" dirty="0">
                <a:solidFill>
                  <a:prstClr val="black"/>
                </a:solidFill>
                <a:latin typeface="Calibri" panose="020F0502020204030204" pitchFamily="34" charset="0"/>
                <a:cs typeface="Calibri" panose="020F0502020204030204" pitchFamily="34" charset="0"/>
              </a:rPr>
              <a:t>, מקצועות </a:t>
            </a:r>
            <a:r>
              <a:rPr lang="he-IL" sz="2400" dirty="0" smtClean="0">
                <a:solidFill>
                  <a:prstClr val="black"/>
                </a:solidFill>
                <a:latin typeface="Calibri" panose="020F0502020204030204" pitchFamily="34" charset="0"/>
                <a:cs typeface="Calibri" panose="020F0502020204030204" pitchFamily="34" charset="0"/>
              </a:rPr>
              <a:t>הבריאות</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פתיחת מועדוני אופק משופרים בתוך המרכזים לבחירת הזכאים ברמות 1-2 </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מודל חודשי ותמרוץ לזכאים</a:t>
            </a:r>
          </a:p>
          <a:p>
            <a:pPr marL="45720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קידום </a:t>
            </a:r>
            <a:r>
              <a:rPr lang="he-IL" sz="2400" dirty="0">
                <a:solidFill>
                  <a:prstClr val="black"/>
                </a:solidFill>
                <a:latin typeface="Calibri" panose="020F0502020204030204" pitchFamily="34" charset="0"/>
                <a:cs typeface="Calibri" panose="020F0502020204030204" pitchFamily="34" charset="0"/>
              </a:rPr>
              <a:t>מערכות מידע תומכות </a:t>
            </a:r>
            <a:r>
              <a:rPr lang="he-IL" sz="2400" dirty="0" smtClean="0">
                <a:solidFill>
                  <a:prstClr val="black"/>
                </a:solidFill>
                <a:latin typeface="Calibri" panose="020F0502020204030204" pitchFamily="34" charset="0"/>
                <a:cs typeface="Calibri" panose="020F0502020204030204" pitchFamily="34" charset="0"/>
              </a:rPr>
              <a:t>שימור ושיפור תפקוד, טיפול ומניעה</a:t>
            </a:r>
            <a:endParaRPr lang="he-IL" sz="2400" dirty="0">
              <a:solidFill>
                <a:prstClr val="black"/>
              </a:solidFill>
              <a:latin typeface="Calibri" panose="020F0502020204030204" pitchFamily="34" charset="0"/>
              <a:cs typeface="Calibri" panose="020F0502020204030204" pitchFamily="34" charset="0"/>
            </a:endParaRPr>
          </a:p>
          <a:p>
            <a:pPr marL="457200" lvl="0" indent="-457200" defTabSz="457200">
              <a:lnSpc>
                <a:spcPct val="150000"/>
              </a:lnSpc>
              <a:buFont typeface="Arial" panose="020B0604020202020204" pitchFamily="34" charset="0"/>
              <a:buChar char="•"/>
              <a:defRPr/>
            </a:pPr>
            <a:r>
              <a:rPr lang="he-IL" sz="2400" dirty="0" smtClean="0">
                <a:solidFill>
                  <a:prstClr val="black"/>
                </a:solidFill>
                <a:latin typeface="Calibri" panose="020F0502020204030204" pitchFamily="34" charset="0"/>
                <a:cs typeface="Calibri" panose="020F0502020204030204" pitchFamily="34" charset="0"/>
              </a:rPr>
              <a:t>גידול תקציבי של כ-50 מיליון ₪ </a:t>
            </a:r>
          </a:p>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pic>
        <p:nvPicPr>
          <p:cNvPr id="10" name="תמונה 9"/>
          <p:cNvPicPr>
            <a:picLocks noChangeAspect="1"/>
          </p:cNvPicPr>
          <p:nvPr/>
        </p:nvPicPr>
        <p:blipFill>
          <a:blip r:embed="rId2"/>
          <a:stretch>
            <a:fillRect/>
          </a:stretch>
        </p:blipFill>
        <p:spPr>
          <a:xfrm>
            <a:off x="10467092" y="90484"/>
            <a:ext cx="1493260" cy="669414"/>
          </a:xfrm>
          <a:prstGeom prst="rect">
            <a:avLst/>
          </a:prstGeom>
        </p:spPr>
      </p:pic>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8" name="תמונה 17"/>
          <p:cNvPicPr>
            <a:picLocks noChangeAspect="1"/>
          </p:cNvPicPr>
          <p:nvPr/>
        </p:nvPicPr>
        <p:blipFill>
          <a:blip r:embed="rId2"/>
          <a:stretch>
            <a:fillRect/>
          </a:stretch>
        </p:blipFill>
        <p:spPr>
          <a:xfrm>
            <a:off x="9880600" y="5821821"/>
            <a:ext cx="2311400" cy="1036178"/>
          </a:xfrm>
          <a:prstGeom prst="rect">
            <a:avLst/>
          </a:prstGeom>
        </p:spPr>
      </p:pic>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pSp>
        <p:nvGrpSpPr>
          <p:cNvPr id="20" name="קבוצה 19"/>
          <p:cNvGrpSpPr/>
          <p:nvPr/>
        </p:nvGrpSpPr>
        <p:grpSpPr>
          <a:xfrm>
            <a:off x="734470" y="1110690"/>
            <a:ext cx="1563719" cy="1307858"/>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1501026" y="92390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4" name="קבוצה 23"/>
          <p:cNvGrpSpPr/>
          <p:nvPr/>
        </p:nvGrpSpPr>
        <p:grpSpPr>
          <a:xfrm>
            <a:off x="734470" y="407285"/>
            <a:ext cx="3383279" cy="2680688"/>
            <a:chOff x="4003932" y="140625"/>
            <a:chExt cx="3347849" cy="3401935"/>
          </a:xfrm>
        </p:grpSpPr>
        <p:sp>
          <p:nvSpPr>
            <p:cNvPr id="25" name="אליפסה 24"/>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6"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42151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2" name="קבוצה 11"/>
          <p:cNvGrpSpPr/>
          <p:nvPr/>
        </p:nvGrpSpPr>
        <p:grpSpPr>
          <a:xfrm>
            <a:off x="478050" y="1626172"/>
            <a:ext cx="11713950" cy="1081156"/>
            <a:chOff x="168965" y="1623391"/>
            <a:chExt cx="11809210" cy="993914"/>
          </a:xfrm>
        </p:grpSpPr>
        <p:grpSp>
          <p:nvGrpSpPr>
            <p:cNvPr id="13" name="קבוצה 12"/>
            <p:cNvGrpSpPr/>
            <p:nvPr/>
          </p:nvGrpSpPr>
          <p:grpSpPr>
            <a:xfrm>
              <a:off x="168965" y="1623391"/>
              <a:ext cx="11809210" cy="993914"/>
              <a:chOff x="318052" y="1490870"/>
              <a:chExt cx="12192000" cy="993914"/>
            </a:xfrm>
          </p:grpSpPr>
          <p:sp>
            <p:nvSpPr>
              <p:cNvPr id="17" name="מלבן 16"/>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מרכז יום משמר תפקוד</a:t>
                </a:r>
                <a:endParaRPr lang="he-IL" sz="3600" b="1" dirty="0">
                  <a:solidFill>
                    <a:schemeClr val="tx1"/>
                  </a:solidFill>
                  <a:latin typeface="Calibri" panose="020F0502020204030204" pitchFamily="34" charset="0"/>
                  <a:cs typeface="Calibri" panose="020F0502020204030204" pitchFamily="34" charset="0"/>
                </a:endParaRPr>
              </a:p>
            </p:txBody>
          </p:sp>
          <p:sp>
            <p:nvSpPr>
              <p:cNvPr id="18" name="מלבן 17"/>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err="1" smtClean="0">
                    <a:solidFill>
                      <a:schemeClr val="tx1"/>
                    </a:solidFill>
                    <a:latin typeface="Calibri" panose="020F0502020204030204" pitchFamily="34" charset="0"/>
                    <a:cs typeface="Calibri" panose="020F0502020204030204" pitchFamily="34" charset="0"/>
                  </a:rPr>
                  <a:t>בתמרוץ</a:t>
                </a:r>
                <a:r>
                  <a:rPr lang="he-IL" sz="2500" b="1" dirty="0" smtClean="0">
                    <a:solidFill>
                      <a:schemeClr val="tx1"/>
                    </a:solidFill>
                    <a:latin typeface="Calibri" panose="020F0502020204030204" pitchFamily="34" charset="0"/>
                    <a:cs typeface="Calibri" panose="020F0502020204030204" pitchFamily="34" charset="0"/>
                  </a:rPr>
                  <a:t> לכל זכאי סיעוד</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15" name="חץ שמאלה 14"/>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19" name="קבוצה 18"/>
          <p:cNvGrpSpPr/>
          <p:nvPr/>
        </p:nvGrpSpPr>
        <p:grpSpPr>
          <a:xfrm>
            <a:off x="500299" y="3069512"/>
            <a:ext cx="11713950" cy="1081156"/>
            <a:chOff x="168965" y="1623391"/>
            <a:chExt cx="11809210" cy="993914"/>
          </a:xfrm>
        </p:grpSpPr>
        <p:grpSp>
          <p:nvGrpSpPr>
            <p:cNvPr id="20" name="קבוצה 19"/>
            <p:cNvGrpSpPr/>
            <p:nvPr/>
          </p:nvGrpSpPr>
          <p:grpSpPr>
            <a:xfrm>
              <a:off x="168965" y="1623391"/>
              <a:ext cx="11809210" cy="993914"/>
              <a:chOff x="318052" y="1490870"/>
              <a:chExt cx="12192000" cy="993914"/>
            </a:xfrm>
          </p:grpSpPr>
          <p:sp>
            <p:nvSpPr>
              <p:cNvPr id="22" name="מלבן 21"/>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קהילות תומכות</a:t>
                </a:r>
                <a:endParaRPr lang="he-IL" sz="3600" b="1" dirty="0">
                  <a:solidFill>
                    <a:schemeClr val="tx1"/>
                  </a:solidFill>
                  <a:latin typeface="Calibri" panose="020F0502020204030204" pitchFamily="34" charset="0"/>
                  <a:cs typeface="Calibri" panose="020F0502020204030204" pitchFamily="34" charset="0"/>
                </a:endParaRPr>
              </a:p>
            </p:txBody>
          </p:sp>
          <p:sp>
            <p:nvSpPr>
              <p:cNvPr id="23" name="מלבן 22"/>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ל-340 אלף מקבלי גמלת סיעוד</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21" name="חץ שמאלה 20"/>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5" name="TextBox 24"/>
          <p:cNvSpPr txBox="1"/>
          <p:nvPr/>
        </p:nvSpPr>
        <p:spPr>
          <a:xfrm>
            <a:off x="4108051" y="395584"/>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B0F0"/>
                </a:solidFill>
                <a:effectLst/>
                <a:uLnTx/>
                <a:uFillTx/>
                <a:latin typeface="Calibri" panose="020F0502020204030204" pitchFamily="34" charset="0"/>
                <a:cs typeface="Calibri" panose="020F0502020204030204" pitchFamily="34" charset="0"/>
              </a:rPr>
              <a:t>צעדים קדימה</a:t>
            </a:r>
            <a:endPar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endParaRPr>
          </a:p>
        </p:txBody>
      </p:sp>
      <p:grpSp>
        <p:nvGrpSpPr>
          <p:cNvPr id="28" name="קבוצה 27"/>
          <p:cNvGrpSpPr/>
          <p:nvPr/>
        </p:nvGrpSpPr>
        <p:grpSpPr>
          <a:xfrm>
            <a:off x="522548" y="4512851"/>
            <a:ext cx="11713950" cy="1081156"/>
            <a:chOff x="168965" y="1623391"/>
            <a:chExt cx="11809210" cy="993914"/>
          </a:xfrm>
        </p:grpSpPr>
        <p:grpSp>
          <p:nvGrpSpPr>
            <p:cNvPr id="29" name="קבוצה 28"/>
            <p:cNvGrpSpPr/>
            <p:nvPr/>
          </p:nvGrpSpPr>
          <p:grpSpPr>
            <a:xfrm>
              <a:off x="168965" y="1623391"/>
              <a:ext cx="11809210" cy="993914"/>
              <a:chOff x="318052" y="1490870"/>
              <a:chExt cx="12192000" cy="993914"/>
            </a:xfrm>
          </p:grpSpPr>
          <p:sp>
            <p:nvSpPr>
              <p:cNvPr id="31" name="מלבן 30"/>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מועדון משודרג</a:t>
                </a:r>
                <a:endParaRPr lang="he-IL" sz="3600" b="1" dirty="0">
                  <a:solidFill>
                    <a:schemeClr val="tx1"/>
                  </a:solidFill>
                  <a:latin typeface="Calibri" panose="020F0502020204030204" pitchFamily="34" charset="0"/>
                  <a:cs typeface="Calibri" panose="020F0502020204030204" pitchFamily="34" charset="0"/>
                </a:endParaRPr>
              </a:p>
            </p:txBody>
          </p:sp>
          <p:sp>
            <p:nvSpPr>
              <p:cNvPr id="32" name="מלבן 31"/>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בתוך מרכזי היום</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30" name="חץ שמאלה 29"/>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34" name="קבוצה 33"/>
          <p:cNvGrpSpPr/>
          <p:nvPr/>
        </p:nvGrpSpPr>
        <p:grpSpPr>
          <a:xfrm>
            <a:off x="737253" y="670594"/>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1142325" y="438928"/>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693243" y="224223"/>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37239563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nvGrpSpPr>
          <p:cNvPr id="12" name="קבוצה 11"/>
          <p:cNvGrpSpPr/>
          <p:nvPr/>
        </p:nvGrpSpPr>
        <p:grpSpPr>
          <a:xfrm>
            <a:off x="478050" y="1626172"/>
            <a:ext cx="11713950" cy="1081156"/>
            <a:chOff x="168965" y="1623391"/>
            <a:chExt cx="11809210" cy="993914"/>
          </a:xfrm>
        </p:grpSpPr>
        <p:grpSp>
          <p:nvGrpSpPr>
            <p:cNvPr id="13" name="קבוצה 12"/>
            <p:cNvGrpSpPr/>
            <p:nvPr/>
          </p:nvGrpSpPr>
          <p:grpSpPr>
            <a:xfrm>
              <a:off x="168965" y="1623391"/>
              <a:ext cx="11809210" cy="993914"/>
              <a:chOff x="318052" y="1490870"/>
              <a:chExt cx="12192000" cy="993914"/>
            </a:xfrm>
          </p:grpSpPr>
          <p:sp>
            <p:nvSpPr>
              <p:cNvPr id="17" name="מלבן 16"/>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מרשם חברתי</a:t>
                </a:r>
                <a:endParaRPr lang="he-IL" sz="3600" b="1" dirty="0">
                  <a:solidFill>
                    <a:schemeClr val="tx1"/>
                  </a:solidFill>
                  <a:latin typeface="Calibri" panose="020F0502020204030204" pitchFamily="34" charset="0"/>
                  <a:cs typeface="Calibri" panose="020F0502020204030204" pitchFamily="34" charset="0"/>
                </a:endParaRPr>
              </a:p>
            </p:txBody>
          </p:sp>
          <p:sp>
            <p:nvSpPr>
              <p:cNvPr id="18" name="מלבן 17"/>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התאמת השירותים לאזרח</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15" name="חץ שמאלה 14"/>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19" name="קבוצה 18"/>
          <p:cNvGrpSpPr/>
          <p:nvPr/>
        </p:nvGrpSpPr>
        <p:grpSpPr>
          <a:xfrm>
            <a:off x="500299" y="3069512"/>
            <a:ext cx="11713950" cy="1081156"/>
            <a:chOff x="168965" y="1623391"/>
            <a:chExt cx="11809210" cy="993914"/>
          </a:xfrm>
        </p:grpSpPr>
        <p:grpSp>
          <p:nvGrpSpPr>
            <p:cNvPr id="20" name="קבוצה 19"/>
            <p:cNvGrpSpPr/>
            <p:nvPr/>
          </p:nvGrpSpPr>
          <p:grpSpPr>
            <a:xfrm>
              <a:off x="168965" y="1623391"/>
              <a:ext cx="11809210" cy="993914"/>
              <a:chOff x="318052" y="1490870"/>
              <a:chExt cx="12192000" cy="993914"/>
            </a:xfrm>
          </p:grpSpPr>
          <p:sp>
            <p:nvSpPr>
              <p:cNvPr id="22" name="מלבן 21"/>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קהילות תומכות</a:t>
                </a:r>
                <a:endParaRPr lang="he-IL" sz="3600" b="1" dirty="0">
                  <a:solidFill>
                    <a:schemeClr val="tx1"/>
                  </a:solidFill>
                  <a:latin typeface="Calibri" panose="020F0502020204030204" pitchFamily="34" charset="0"/>
                  <a:cs typeface="Calibri" panose="020F0502020204030204" pitchFamily="34" charset="0"/>
                </a:endParaRPr>
              </a:p>
            </p:txBody>
          </p:sp>
          <p:sp>
            <p:nvSpPr>
              <p:cNvPr id="23" name="מלבן 22"/>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800" b="1" dirty="0" smtClean="0">
                    <a:solidFill>
                      <a:schemeClr val="tx1"/>
                    </a:solidFill>
                    <a:latin typeface="Calibri" panose="020F0502020204030204" pitchFamily="34" charset="0"/>
                    <a:cs typeface="Calibri" panose="020F0502020204030204" pitchFamily="34" charset="0"/>
                  </a:rPr>
                  <a:t>סל אישי מותאם- </a:t>
                </a:r>
              </a:p>
              <a:p>
                <a:pPr algn="ctr"/>
                <a:r>
                  <a:rPr lang="he-IL" sz="2800" b="1" dirty="0" smtClean="0">
                    <a:solidFill>
                      <a:schemeClr val="tx1"/>
                    </a:solidFill>
                    <a:latin typeface="Calibri" panose="020F0502020204030204" pitchFamily="34" charset="0"/>
                    <a:cs typeface="Calibri" panose="020F0502020204030204" pitchFamily="34" charset="0"/>
                  </a:rPr>
                  <a:t>חליפה אישית לבחירה</a:t>
                </a:r>
                <a:endParaRPr lang="he-IL" sz="2800" b="1" dirty="0">
                  <a:solidFill>
                    <a:schemeClr val="tx1"/>
                  </a:solidFill>
                  <a:latin typeface="Calibri" panose="020F0502020204030204" pitchFamily="34" charset="0"/>
                  <a:cs typeface="Calibri" panose="020F0502020204030204" pitchFamily="34" charset="0"/>
                </a:endParaRPr>
              </a:p>
            </p:txBody>
          </p:sp>
        </p:grpSp>
        <p:sp>
          <p:nvSpPr>
            <p:cNvPr id="21" name="חץ שמאלה 20"/>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
        <p:nvSpPr>
          <p:cNvPr id="25" name="TextBox 24"/>
          <p:cNvSpPr txBox="1"/>
          <p:nvPr/>
        </p:nvSpPr>
        <p:spPr>
          <a:xfrm>
            <a:off x="4108051" y="395584"/>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200" b="1" dirty="0" smtClean="0">
                <a:solidFill>
                  <a:srgbClr val="00B0F0"/>
                </a:solidFill>
                <a:latin typeface="Calibri" panose="020F0502020204030204" pitchFamily="34" charset="0"/>
                <a:cs typeface="Calibri" panose="020F0502020204030204" pitchFamily="34" charset="0"/>
              </a:rPr>
              <a:t>לאן אתה הולך?</a:t>
            </a:r>
            <a:endPar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endParaRPr>
          </a:p>
        </p:txBody>
      </p:sp>
      <p:grpSp>
        <p:nvGrpSpPr>
          <p:cNvPr id="28" name="קבוצה 27"/>
          <p:cNvGrpSpPr/>
          <p:nvPr/>
        </p:nvGrpSpPr>
        <p:grpSpPr>
          <a:xfrm>
            <a:off x="522548" y="4512851"/>
            <a:ext cx="11713950" cy="1081156"/>
            <a:chOff x="168965" y="1623391"/>
            <a:chExt cx="11809210" cy="993914"/>
          </a:xfrm>
        </p:grpSpPr>
        <p:grpSp>
          <p:nvGrpSpPr>
            <p:cNvPr id="29" name="קבוצה 28"/>
            <p:cNvGrpSpPr/>
            <p:nvPr/>
          </p:nvGrpSpPr>
          <p:grpSpPr>
            <a:xfrm>
              <a:off x="168965" y="1623391"/>
              <a:ext cx="11809210" cy="993914"/>
              <a:chOff x="318052" y="1490870"/>
              <a:chExt cx="12192000" cy="993914"/>
            </a:xfrm>
          </p:grpSpPr>
          <p:sp>
            <p:nvSpPr>
              <p:cNvPr id="31" name="מלבן 30"/>
              <p:cNvSpPr/>
              <p:nvPr/>
            </p:nvSpPr>
            <p:spPr>
              <a:xfrm>
                <a:off x="6414052" y="1490871"/>
                <a:ext cx="6096000" cy="993913"/>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3600" b="1" dirty="0" smtClean="0">
                    <a:solidFill>
                      <a:schemeClr val="tx1"/>
                    </a:solidFill>
                    <a:latin typeface="Calibri" panose="020F0502020204030204" pitchFamily="34" charset="0"/>
                    <a:cs typeface="Calibri" panose="020F0502020204030204" pitchFamily="34" charset="0"/>
                  </a:rPr>
                  <a:t>בני משפחה מטפלים</a:t>
                </a:r>
                <a:endParaRPr lang="he-IL" sz="3600" b="1" dirty="0">
                  <a:solidFill>
                    <a:schemeClr val="tx1"/>
                  </a:solidFill>
                  <a:latin typeface="Calibri" panose="020F0502020204030204" pitchFamily="34" charset="0"/>
                  <a:cs typeface="Calibri" panose="020F0502020204030204" pitchFamily="34" charset="0"/>
                </a:endParaRPr>
              </a:p>
            </p:txBody>
          </p:sp>
          <p:sp>
            <p:nvSpPr>
              <p:cNvPr id="32" name="מלבן 31"/>
              <p:cNvSpPr/>
              <p:nvPr/>
            </p:nvSpPr>
            <p:spPr>
              <a:xfrm>
                <a:off x="318052" y="1490870"/>
                <a:ext cx="6096000" cy="99391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smtClean="0">
                    <a:solidFill>
                      <a:schemeClr val="tx1"/>
                    </a:solidFill>
                    <a:latin typeface="Calibri" panose="020F0502020204030204" pitchFamily="34" charset="0"/>
                    <a:cs typeface="Calibri" panose="020F0502020204030204" pitchFamily="34" charset="0"/>
                  </a:rPr>
                  <a:t>מעטפת תומכת</a:t>
                </a:r>
                <a:endParaRPr lang="he-IL" sz="2500" b="1" dirty="0">
                  <a:solidFill>
                    <a:schemeClr val="tx1"/>
                  </a:solidFill>
                  <a:latin typeface="Calibri" panose="020F0502020204030204" pitchFamily="34" charset="0"/>
                  <a:cs typeface="Calibri" panose="020F0502020204030204" pitchFamily="34" charset="0"/>
                </a:endParaRPr>
              </a:p>
            </p:txBody>
          </p:sp>
        </p:grpSp>
        <p:sp>
          <p:nvSpPr>
            <p:cNvPr id="30" name="חץ שמאלה 29"/>
            <p:cNvSpPr/>
            <p:nvPr/>
          </p:nvSpPr>
          <p:spPr>
            <a:xfrm>
              <a:off x="5764914" y="1956351"/>
              <a:ext cx="662171" cy="327991"/>
            </a:xfrm>
            <a:prstGeom prst="lef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pic>
        <p:nvPicPr>
          <p:cNvPr id="33" name="תמונה 3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34" name="קבוצה 33"/>
          <p:cNvGrpSpPr/>
          <p:nvPr/>
        </p:nvGrpSpPr>
        <p:grpSpPr>
          <a:xfrm>
            <a:off x="737253" y="670594"/>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1142325" y="438928"/>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693243" y="224223"/>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82081370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625381" y="388798"/>
            <a:ext cx="11313347" cy="1323439"/>
          </a:xfrm>
          <a:prstGeom prst="rect">
            <a:avLst/>
          </a:prstGeom>
          <a:noFill/>
        </p:spPr>
        <p:txBody>
          <a:bodyPr wrap="square" rtlCol="1">
            <a:spAutoFit/>
          </a:bodyPr>
          <a:lstStyle/>
          <a:p>
            <a:pPr lvl="0" defTabSz="457200">
              <a:defRPr/>
            </a:pPr>
            <a:r>
              <a:rPr lang="he-IL" sz="4000" b="1" dirty="0" smtClean="0">
                <a:solidFill>
                  <a:srgbClr val="0070C0"/>
                </a:solidFill>
                <a:latin typeface="Calibri" panose="020F0502020204030204" pitchFamily="34" charset="0"/>
                <a:cs typeface="Calibri" panose="020F0502020204030204" pitchFamily="34" charset="0"/>
              </a:rPr>
              <a:t>הצעת ועדת השרים- מימון מלא למרכזי היום</a:t>
            </a:r>
            <a:r>
              <a:rPr lang="en-US" sz="4000" b="1" dirty="0" smtClean="0">
                <a:solidFill>
                  <a:srgbClr val="0070C0"/>
                </a:solidFill>
                <a:latin typeface="Calibri" panose="020F0502020204030204" pitchFamily="34" charset="0"/>
                <a:cs typeface="Calibri" panose="020F0502020204030204" pitchFamily="34" charset="0"/>
              </a:rPr>
              <a:t/>
            </a:r>
            <a:br>
              <a:rPr lang="en-US" sz="4000" b="1" dirty="0" smtClean="0">
                <a:solidFill>
                  <a:srgbClr val="0070C0"/>
                </a:solidFill>
                <a:latin typeface="Calibri" panose="020F0502020204030204" pitchFamily="34" charset="0"/>
                <a:cs typeface="Calibri" panose="020F0502020204030204" pitchFamily="34" charset="0"/>
              </a:rPr>
            </a:b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9056" y="17837"/>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pic>
        <p:nvPicPr>
          <p:cNvPr id="2" name="תמונה 1"/>
          <p:cNvPicPr>
            <a:picLocks noChangeAspect="1"/>
          </p:cNvPicPr>
          <p:nvPr/>
        </p:nvPicPr>
        <p:blipFill rotWithShape="1">
          <a:blip r:embed="rId2"/>
          <a:srcRect l="11838" t="18980" r="46862" b="68163"/>
          <a:stretch/>
        </p:blipFill>
        <p:spPr>
          <a:xfrm>
            <a:off x="1061212" y="1737436"/>
            <a:ext cx="5541894" cy="1380196"/>
          </a:xfrm>
          <a:prstGeom prst="rect">
            <a:avLst/>
          </a:prstGeom>
        </p:spPr>
      </p:pic>
      <p:pic>
        <p:nvPicPr>
          <p:cNvPr id="4" name="תמונה 3"/>
          <p:cNvPicPr>
            <a:picLocks noChangeAspect="1"/>
          </p:cNvPicPr>
          <p:nvPr/>
        </p:nvPicPr>
        <p:blipFill rotWithShape="1">
          <a:blip r:embed="rId3"/>
          <a:srcRect l="12708" t="59375" r="46355" b="21224"/>
          <a:stretch/>
        </p:blipFill>
        <p:spPr>
          <a:xfrm>
            <a:off x="1616965" y="3066637"/>
            <a:ext cx="5102279" cy="1934451"/>
          </a:xfrm>
          <a:prstGeom prst="rect">
            <a:avLst/>
          </a:prstGeom>
        </p:spPr>
      </p:pic>
      <p:sp>
        <p:nvSpPr>
          <p:cNvPr id="5" name="TextBox 4"/>
          <p:cNvSpPr txBox="1"/>
          <p:nvPr/>
        </p:nvSpPr>
        <p:spPr>
          <a:xfrm>
            <a:off x="391094" y="5915415"/>
            <a:ext cx="4557958" cy="584775"/>
          </a:xfrm>
          <a:prstGeom prst="rect">
            <a:avLst/>
          </a:prstGeom>
          <a:noFill/>
        </p:spPr>
        <p:txBody>
          <a:bodyPr wrap="square" rtlCol="1">
            <a:spAutoFit/>
          </a:bodyPr>
          <a:lstStyle/>
          <a:p>
            <a:r>
              <a:rPr lang="he-IL" sz="1600" dirty="0" smtClean="0">
                <a:latin typeface="Calibri" panose="020F0502020204030204" pitchFamily="34" charset="0"/>
                <a:cs typeface="Calibri" panose="020F0502020204030204" pitchFamily="34" charset="0"/>
              </a:rPr>
              <a:t>מתוך:</a:t>
            </a:r>
            <a:r>
              <a:rPr lang="en-US" sz="1600" dirty="0" smtClean="0">
                <a:latin typeface="Calibri" panose="020F0502020204030204" pitchFamily="34" charset="0"/>
                <a:cs typeface="Calibri" panose="020F0502020204030204" pitchFamily="34" charset="0"/>
              </a:rPr>
              <a:t> </a:t>
            </a:r>
            <a:r>
              <a:rPr lang="he-IL" sz="1600" dirty="0" smtClean="0">
                <a:latin typeface="Calibri" panose="020F0502020204030204" pitchFamily="34" charset="0"/>
                <a:cs typeface="Calibri" panose="020F0502020204030204" pitchFamily="34" charset="0"/>
              </a:rPr>
              <a:t>פרוטוקול ישיבת שרים לענייני הזדקנות האוכלוסייה מיום 24.07.2022</a:t>
            </a:r>
            <a:endParaRPr lang="he-IL" sz="1600" dirty="0">
              <a:latin typeface="Calibri" panose="020F0502020204030204" pitchFamily="34" charset="0"/>
              <a:cs typeface="Calibri" panose="020F0502020204030204" pitchFamily="34" charset="0"/>
            </a:endParaRPr>
          </a:p>
        </p:txBody>
      </p:sp>
      <p:sp>
        <p:nvSpPr>
          <p:cNvPr id="27" name="מלבן 25">
            <a:extLst>
              <a:ext uri="{FF2B5EF4-FFF2-40B4-BE49-F238E27FC236}">
                <a16:creationId xmlns:a16="http://schemas.microsoft.com/office/drawing/2014/main" id="{5B9EB10C-850E-4048-AC2F-E192593584B5}"/>
              </a:ext>
            </a:extLst>
          </p:cNvPr>
          <p:cNvSpPr/>
          <p:nvPr/>
        </p:nvSpPr>
        <p:spPr>
          <a:xfrm>
            <a:off x="7522067" y="1597152"/>
            <a:ext cx="3546328" cy="5278684"/>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8"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849569328"/>
              </p:ext>
            </p:extLst>
          </p:nvPr>
        </p:nvGraphicFramePr>
        <p:xfrm>
          <a:off x="7680327" y="2740653"/>
          <a:ext cx="3223864" cy="1754576"/>
        </p:xfrm>
        <a:graphic>
          <a:graphicData uri="http://schemas.openxmlformats.org/drawingml/2006/table">
            <a:tbl>
              <a:tblPr firstRow="1" bandRow="1">
                <a:tableStyleId>{5C22544A-7EE6-4342-B048-85BDC9FD1C3A}</a:tableStyleId>
              </a:tblPr>
              <a:tblGrid>
                <a:gridCol w="3223864">
                  <a:extLst>
                    <a:ext uri="{9D8B030D-6E8A-4147-A177-3AD203B41FA5}">
                      <a16:colId xmlns:a16="http://schemas.microsoft.com/office/drawing/2014/main" val="20000"/>
                    </a:ext>
                  </a:extLst>
                </a:gridCol>
              </a:tblGrid>
              <a:tr h="551852">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400" b="0" kern="1200" dirty="0" smtClean="0">
                          <a:solidFill>
                            <a:schemeClr val="bg1"/>
                          </a:solidFill>
                          <a:latin typeface="Calibri" panose="020F0502020204030204" pitchFamily="34" charset="0"/>
                          <a:ea typeface="+mn-ea"/>
                          <a:cs typeface="Calibri" panose="020F0502020204030204" pitchFamily="34" charset="0"/>
                        </a:rPr>
                        <a:t>עלות: 2.3 מיליארד</a:t>
                      </a:r>
                      <a:r>
                        <a:rPr lang="he-IL" sz="2400" b="0" kern="1200" baseline="0" dirty="0" smtClean="0">
                          <a:solidFill>
                            <a:schemeClr val="bg1"/>
                          </a:solidFill>
                          <a:latin typeface="Calibri" panose="020F0502020204030204" pitchFamily="34" charset="0"/>
                          <a:ea typeface="+mn-ea"/>
                          <a:cs typeface="Calibri" panose="020F0502020204030204" pitchFamily="34" charset="0"/>
                        </a:rPr>
                        <a:t> ₪</a:t>
                      </a:r>
                      <a:endParaRPr lang="he-IL" sz="24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501684">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62 אלף מבקרים משוערים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501684">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80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bl>
          </a:graphicData>
        </a:graphic>
      </p:graphicFrame>
      <p:pic>
        <p:nvPicPr>
          <p:cNvPr id="28" name="תמונה 27"/>
          <p:cNvPicPr>
            <a:picLocks noChangeAspect="1"/>
          </p:cNvPicPr>
          <p:nvPr/>
        </p:nvPicPr>
        <p:blipFill>
          <a:blip r:embed="rId4"/>
          <a:stretch>
            <a:fillRect/>
          </a:stretch>
        </p:blipFill>
        <p:spPr>
          <a:xfrm>
            <a:off x="247640" y="35659"/>
            <a:ext cx="1756561" cy="787449"/>
          </a:xfrm>
          <a:prstGeom prst="rect">
            <a:avLst/>
          </a:prstGeom>
        </p:spPr>
      </p:pic>
      <p:sp>
        <p:nvSpPr>
          <p:cNvPr id="29" name="כותרת 1">
            <a:extLst>
              <a:ext uri="{FF2B5EF4-FFF2-40B4-BE49-F238E27FC236}">
                <a16:creationId xmlns:a16="http://schemas.microsoft.com/office/drawing/2014/main" id="{471B32AE-BC14-4706-8EE0-08C58100FDCE}"/>
              </a:ext>
            </a:extLst>
          </p:cNvPr>
          <p:cNvSpPr txBox="1">
            <a:spLocks/>
          </p:cNvSpPr>
          <p:nvPr/>
        </p:nvSpPr>
        <p:spPr>
          <a:xfrm>
            <a:off x="7754656" y="1792177"/>
            <a:ext cx="3149535" cy="514166"/>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2000" noProof="0" dirty="0" smtClean="0">
                <a:latin typeface="Calibri Light" panose="020F0302020204030204"/>
                <a:cs typeface="Segoe UI"/>
              </a:rPr>
              <a:t>100% מימון למרכזי היום </a:t>
            </a:r>
            <a:endParaRPr kumimoji="0" lang="en-GB" sz="2000" i="0" strike="noStrike" kern="1200" cap="none" spc="0" normalizeH="0" baseline="0" noProof="0" dirty="0">
              <a:ln>
                <a:noFill/>
              </a:ln>
              <a:effectLst/>
              <a:uLnTx/>
              <a:uFillTx/>
              <a:latin typeface="Calibri" panose="020F0502020204030204" pitchFamily="34" charset="0"/>
              <a:cs typeface="Segoe UI"/>
            </a:endParaRPr>
          </a:p>
        </p:txBody>
      </p:sp>
    </p:spTree>
    <p:extLst>
      <p:ext uri="{BB962C8B-B14F-4D97-AF65-F5344CB8AC3E}">
        <p14:creationId xmlns:p14="http://schemas.microsoft.com/office/powerpoint/2010/main" val="3445532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733309" y="407712"/>
            <a:ext cx="11834632" cy="707886"/>
          </a:xfrm>
          <a:prstGeom prst="rect">
            <a:avLst/>
          </a:prstGeom>
          <a:noFill/>
        </p:spPr>
        <p:txBody>
          <a:bodyPr wrap="square" rtlCol="1">
            <a:spAutoFit/>
          </a:bodyPr>
          <a:lstStyle/>
          <a:p>
            <a:pPr lvl="0" algn="ctr" defTabSz="457200">
              <a:defRPr/>
            </a:pPr>
            <a:r>
              <a:rPr lang="he-IL" sz="4000" b="1" dirty="0" smtClean="0">
                <a:solidFill>
                  <a:srgbClr val="0070C0"/>
                </a:solidFill>
                <a:latin typeface="Calibri" panose="020F0502020204030204" pitchFamily="34" charset="0"/>
                <a:cs typeface="Calibri" panose="020F0502020204030204" pitchFamily="34" charset="0"/>
              </a:rPr>
              <a:t>הצעת משרד הרווחה- ביטוח לאומי</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מלבן 25">
            <a:extLst>
              <a:ext uri="{FF2B5EF4-FFF2-40B4-BE49-F238E27FC236}">
                <a16:creationId xmlns:a16="http://schemas.microsoft.com/office/drawing/2014/main" id="{5B9EB10C-850E-4048-AC2F-E192593584B5}"/>
              </a:ext>
            </a:extLst>
          </p:cNvPr>
          <p:cNvSpPr/>
          <p:nvPr/>
        </p:nvSpPr>
        <p:spPr>
          <a:xfrm>
            <a:off x="1634641" y="1265392"/>
            <a:ext cx="3546328" cy="5668672"/>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27" name="מלבן 25">
            <a:extLst>
              <a:ext uri="{FF2B5EF4-FFF2-40B4-BE49-F238E27FC236}">
                <a16:creationId xmlns:a16="http://schemas.microsoft.com/office/drawing/2014/main" id="{5B9EB10C-850E-4048-AC2F-E192593584B5}"/>
              </a:ext>
            </a:extLst>
          </p:cNvPr>
          <p:cNvSpPr/>
          <p:nvPr/>
        </p:nvSpPr>
        <p:spPr>
          <a:xfrm>
            <a:off x="8193811" y="1265392"/>
            <a:ext cx="3546328" cy="5668672"/>
          </a:xfrm>
          <a:prstGeom prst="rect">
            <a:avLst/>
          </a:prstGeom>
          <a:solidFill>
            <a:srgbClr val="C5D8EB"/>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8" name="כותרת 1">
            <a:extLst>
              <a:ext uri="{FF2B5EF4-FFF2-40B4-BE49-F238E27FC236}">
                <a16:creationId xmlns:a16="http://schemas.microsoft.com/office/drawing/2014/main" id="{471B32AE-BC14-4706-8EE0-08C58100FDCE}"/>
              </a:ext>
            </a:extLst>
          </p:cNvPr>
          <p:cNvSpPr txBox="1">
            <a:spLocks/>
          </p:cNvSpPr>
          <p:nvPr/>
        </p:nvSpPr>
        <p:spPr>
          <a:xfrm>
            <a:off x="8392207" y="1494572"/>
            <a:ext cx="3149535" cy="514166"/>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1800" noProof="0" dirty="0" smtClean="0">
                <a:latin typeface="Calibri Light" panose="020F0302020204030204"/>
                <a:cs typeface="Segoe UI"/>
              </a:rPr>
              <a:t>50% מימון למרכז היום</a:t>
            </a:r>
          </a:p>
          <a:p>
            <a:pPr marL="0" marR="0" lvl="0" indent="0" algn="ctr" defTabSz="914400" rtl="1" eaLnBrk="1" fontAlgn="auto" latinLnBrk="0" hangingPunct="1">
              <a:lnSpc>
                <a:spcPct val="90000"/>
              </a:lnSpc>
              <a:spcBef>
                <a:spcPct val="0"/>
              </a:spcBef>
              <a:spcAft>
                <a:spcPts val="0"/>
              </a:spcAft>
              <a:buClrTx/>
              <a:buSzTx/>
              <a:buFontTx/>
              <a:buNone/>
              <a:tabLst/>
              <a:defRPr/>
            </a:pPr>
            <a:r>
              <a:rPr lang="he-IL" sz="1200" dirty="0" smtClean="0">
                <a:latin typeface="Calibri Light" panose="020F0302020204030204"/>
                <a:cs typeface="Segoe UI"/>
              </a:rPr>
              <a:t>(לאחר שנה או חלופת יום בחינם)</a:t>
            </a:r>
            <a:r>
              <a:rPr lang="he-IL" sz="1200" noProof="0" dirty="0" smtClean="0">
                <a:latin typeface="Calibri Light" panose="020F0302020204030204"/>
                <a:cs typeface="Segoe UI"/>
              </a:rPr>
              <a:t> </a:t>
            </a:r>
            <a:endParaRPr kumimoji="0" lang="en-GB" sz="1200" i="0" strike="noStrike" kern="1200" cap="none" spc="0" normalizeH="0" baseline="0" noProof="0" dirty="0">
              <a:ln>
                <a:noFill/>
              </a:ln>
              <a:effectLst/>
              <a:uLnTx/>
              <a:uFillTx/>
              <a:latin typeface="Calibri" panose="020F0502020204030204" pitchFamily="34" charset="0"/>
              <a:cs typeface="Segoe UI"/>
            </a:endParaRPr>
          </a:p>
        </p:txBody>
      </p:sp>
      <p:graphicFrame>
        <p:nvGraphicFramePr>
          <p:cNvPr id="17"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3722525635"/>
              </p:ext>
            </p:extLst>
          </p:nvPr>
        </p:nvGraphicFramePr>
        <p:xfrm>
          <a:off x="8449502" y="3332075"/>
          <a:ext cx="3149535" cy="2194560"/>
        </p:xfrm>
        <a:graphic>
          <a:graphicData uri="http://schemas.openxmlformats.org/drawingml/2006/table">
            <a:tbl>
              <a:tblPr firstRow="1" bandRow="1">
                <a:tableStyleId>{5C22544A-7EE6-4342-B048-85BDC9FD1C3A}</a:tableStyleId>
              </a:tblPr>
              <a:tblGrid>
                <a:gridCol w="3149535">
                  <a:extLst>
                    <a:ext uri="{9D8B030D-6E8A-4147-A177-3AD203B41FA5}">
                      <a16:colId xmlns:a16="http://schemas.microsoft.com/office/drawing/2014/main" val="20000"/>
                    </a:ext>
                  </a:extLst>
                </a:gridCol>
              </a:tblGrid>
              <a:tr h="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0" kern="1200" dirty="0" smtClean="0">
                          <a:solidFill>
                            <a:schemeClr val="bg1"/>
                          </a:solidFill>
                          <a:latin typeface="Calibri" panose="020F0502020204030204" pitchFamily="34" charset="0"/>
                          <a:ea typeface="+mn-ea"/>
                          <a:cs typeface="Calibri" panose="020F0502020204030204" pitchFamily="34" charset="0"/>
                        </a:rPr>
                        <a:t>עלות: 650 מיליון </a:t>
                      </a:r>
                      <a:r>
                        <a:rPr lang="he-IL" sz="2000" b="0" kern="1200" baseline="0" dirty="0" smtClean="0">
                          <a:solidFill>
                            <a:schemeClr val="bg1"/>
                          </a:solidFill>
                          <a:latin typeface="Calibri" panose="020F0502020204030204" pitchFamily="34" charset="0"/>
                          <a:ea typeface="+mn-ea"/>
                          <a:cs typeface="Calibri" panose="020F0502020204030204" pitchFamily="34" charset="0"/>
                        </a:rPr>
                        <a:t>₪</a:t>
                      </a:r>
                      <a:endParaRPr lang="he-IL" sz="20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290707">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43 אלף מבקרים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40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המרכז יפעל 12 שעות, הלקוח ישתתף ב-6 שעות לבחירתו</a:t>
                      </a: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2461801"/>
                  </a:ext>
                </a:extLst>
              </a:tr>
            </a:tbl>
          </a:graphicData>
        </a:graphic>
      </p:graphicFrame>
      <p:sp>
        <p:nvSpPr>
          <p:cNvPr id="29" name="כותרת 1">
            <a:extLst>
              <a:ext uri="{FF2B5EF4-FFF2-40B4-BE49-F238E27FC236}">
                <a16:creationId xmlns:a16="http://schemas.microsoft.com/office/drawing/2014/main" id="{471B32AE-BC14-4706-8EE0-08C58100FDCE}"/>
              </a:ext>
            </a:extLst>
          </p:cNvPr>
          <p:cNvSpPr txBox="1">
            <a:spLocks/>
          </p:cNvSpPr>
          <p:nvPr/>
        </p:nvSpPr>
        <p:spPr>
          <a:xfrm>
            <a:off x="1814080" y="1490282"/>
            <a:ext cx="3187449" cy="611895"/>
          </a:xfrm>
          <a:prstGeom prst="rect">
            <a:avLst/>
          </a:prstGeom>
          <a:solidFill>
            <a:schemeClr val="accent6">
              <a:lumMod val="60000"/>
              <a:lumOff val="40000"/>
            </a:schemeClr>
          </a:solidFill>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lang="he-IL" sz="1800" noProof="0" dirty="0" smtClean="0">
                <a:latin typeface="Calibri Light" panose="020F0302020204030204"/>
                <a:cs typeface="Segoe UI"/>
              </a:rPr>
              <a:t>100% מימון ליום ביקור בשבוע ללקוח </a:t>
            </a:r>
            <a:r>
              <a:rPr lang="he-IL" sz="1200" noProof="0" dirty="0" smtClean="0">
                <a:latin typeface="Calibri Light" panose="020F0302020204030204"/>
                <a:cs typeface="Segoe UI"/>
              </a:rPr>
              <a:t>(בשנה ראשונה)</a:t>
            </a:r>
            <a:endParaRPr kumimoji="0" lang="en-GB" sz="1200" i="0" strike="noStrike" kern="1200" cap="none" spc="0" normalizeH="0" baseline="0" noProof="0" dirty="0">
              <a:ln>
                <a:noFill/>
              </a:ln>
              <a:effectLst/>
              <a:uLnTx/>
              <a:uFillTx/>
              <a:latin typeface="Calibri" panose="020F0502020204030204" pitchFamily="34" charset="0"/>
              <a:cs typeface="Segoe UI"/>
            </a:endParaRPr>
          </a:p>
        </p:txBody>
      </p:sp>
      <p:graphicFrame>
        <p:nvGraphicFramePr>
          <p:cNvPr id="30" name="טבלה 36">
            <a:extLst>
              <a:ext uri="{FF2B5EF4-FFF2-40B4-BE49-F238E27FC236}">
                <a16:creationId xmlns:a16="http://schemas.microsoft.com/office/drawing/2014/main" id="{805B52E2-E01B-4588-9B6B-4EAE2B190D34}"/>
              </a:ext>
            </a:extLst>
          </p:cNvPr>
          <p:cNvGraphicFramePr>
            <a:graphicFrameLocks noGrp="1"/>
          </p:cNvGraphicFramePr>
          <p:nvPr>
            <p:extLst>
              <p:ext uri="{D42A27DB-BD31-4B8C-83A1-F6EECF244321}">
                <p14:modId xmlns:p14="http://schemas.microsoft.com/office/powerpoint/2010/main" val="2764511565"/>
              </p:ext>
            </p:extLst>
          </p:nvPr>
        </p:nvGraphicFramePr>
        <p:xfrm>
          <a:off x="1919401" y="3332075"/>
          <a:ext cx="3149535" cy="2194560"/>
        </p:xfrm>
        <a:graphic>
          <a:graphicData uri="http://schemas.openxmlformats.org/drawingml/2006/table">
            <a:tbl>
              <a:tblPr firstRow="1" bandRow="1">
                <a:tableStyleId>{5C22544A-7EE6-4342-B048-85BDC9FD1C3A}</a:tableStyleId>
              </a:tblPr>
              <a:tblGrid>
                <a:gridCol w="3149535">
                  <a:extLst>
                    <a:ext uri="{9D8B030D-6E8A-4147-A177-3AD203B41FA5}">
                      <a16:colId xmlns:a16="http://schemas.microsoft.com/office/drawing/2014/main" val="20000"/>
                    </a:ext>
                  </a:extLst>
                </a:gridCol>
              </a:tblGrid>
              <a:tr h="0">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2000" b="0" kern="1200" dirty="0" smtClean="0">
                          <a:solidFill>
                            <a:schemeClr val="bg1"/>
                          </a:solidFill>
                          <a:latin typeface="Calibri" panose="020F0502020204030204" pitchFamily="34" charset="0"/>
                          <a:ea typeface="+mn-ea"/>
                          <a:cs typeface="Calibri" panose="020F0502020204030204" pitchFamily="34" charset="0"/>
                        </a:rPr>
                        <a:t>עלות: 600 מיליון </a:t>
                      </a:r>
                      <a:r>
                        <a:rPr lang="he-IL" sz="2000" b="0" kern="1200" baseline="0" dirty="0" smtClean="0">
                          <a:solidFill>
                            <a:schemeClr val="bg1"/>
                          </a:solidFill>
                          <a:latin typeface="Calibri" panose="020F0502020204030204" pitchFamily="34" charset="0"/>
                          <a:ea typeface="+mn-ea"/>
                          <a:cs typeface="Calibri" panose="020F0502020204030204" pitchFamily="34" charset="0"/>
                        </a:rPr>
                        <a:t>₪</a:t>
                      </a:r>
                      <a:endParaRPr lang="he-IL" sz="2000" b="0" kern="1200" dirty="0">
                        <a:solidFill>
                          <a:schemeClr val="bg1"/>
                        </a:solidFill>
                        <a:latin typeface="Calibri" panose="020F0502020204030204" pitchFamily="34" charset="0"/>
                        <a:ea typeface="+mn-ea"/>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2700" cap="flat" cmpd="sng" algn="ctr">
                      <a:solidFill>
                        <a:srgbClr val="C5D8EB"/>
                      </a:solidFill>
                      <a:prstDash val="solid"/>
                      <a:round/>
                      <a:headEnd type="none" w="med" len="med"/>
                      <a:tailEnd type="none" w="med" len="med"/>
                    </a:lnT>
                    <a:lnB w="12700" cap="flat" cmpd="sng" algn="ctr">
                      <a:noFill/>
                      <a:prstDash val="solid"/>
                      <a:round/>
                      <a:headEnd type="none" w="med" len="med"/>
                      <a:tailEnd type="none" w="med" len="med"/>
                    </a:lnB>
                    <a:solidFill>
                      <a:srgbClr val="00206D"/>
                    </a:solidFill>
                  </a:tcPr>
                </a:tc>
                <a:extLst>
                  <a:ext uri="{0D108BD9-81ED-4DB2-BD59-A6C34878D82A}">
                    <a16:rowId xmlns:a16="http://schemas.microsoft.com/office/drawing/2014/main" val="10000"/>
                  </a:ext>
                </a:extLst>
              </a:tr>
              <a:tr h="290707">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64 אלף מבקרים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226781"/>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20 מיליון ₪ להקמת</a:t>
                      </a:r>
                      <a:r>
                        <a:rPr lang="he-IL" sz="2000" b="1" baseline="0" dirty="0" smtClean="0">
                          <a:latin typeface="Calibri" panose="020F0502020204030204" pitchFamily="34" charset="0"/>
                          <a:cs typeface="Calibri" panose="020F0502020204030204" pitchFamily="34" charset="0"/>
                        </a:rPr>
                        <a:t> מרכזים חדשים</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6496684"/>
                  </a:ext>
                </a:extLst>
              </a:tr>
              <a:tr h="269880">
                <a:tc>
                  <a:txBody>
                    <a:bodyPr/>
                    <a:lstStyle/>
                    <a:p>
                      <a:pPr marL="0" marR="0" lvl="0" indent="0" algn="r" defTabSz="914400" rtl="1" eaLnBrk="1" fontAlgn="auto" latinLnBrk="0" hangingPunct="1">
                        <a:lnSpc>
                          <a:spcPct val="100000"/>
                        </a:lnSpc>
                        <a:spcBef>
                          <a:spcPts val="1000"/>
                        </a:spcBef>
                        <a:spcAft>
                          <a:spcPts val="0"/>
                        </a:spcAft>
                        <a:buClrTx/>
                        <a:buSzTx/>
                        <a:buFontTx/>
                        <a:buNone/>
                        <a:tabLst/>
                        <a:defRPr/>
                      </a:pPr>
                      <a:r>
                        <a:rPr lang="he-IL" sz="2000" b="1" dirty="0" smtClean="0">
                          <a:latin typeface="Calibri" panose="020F0502020204030204" pitchFamily="34" charset="0"/>
                          <a:cs typeface="Calibri" panose="020F0502020204030204" pitchFamily="34" charset="0"/>
                        </a:rPr>
                        <a:t>המרכז יפעל 12 שעות, הלקוח ישתתף ב-6 שעות לבחירתו</a:t>
                      </a:r>
                      <a:endParaRPr lang="he-IL" sz="2000" b="1" dirty="0">
                        <a:latin typeface="Calibri" panose="020F0502020204030204" pitchFamily="34" charset="0"/>
                        <a:cs typeface="Calibri" panose="020F0502020204030204" pitchFamily="34" charset="0"/>
                      </a:endParaRPr>
                    </a:p>
                  </a:txBody>
                  <a:tcPr>
                    <a:lnL w="12700" cap="flat" cmpd="sng" algn="ctr">
                      <a:solidFill>
                        <a:srgbClr val="C5D8EB"/>
                      </a:solidFill>
                      <a:prstDash val="solid"/>
                      <a:round/>
                      <a:headEnd type="none" w="med" len="med"/>
                      <a:tailEnd type="none" w="med" len="med"/>
                    </a:lnL>
                    <a:lnR w="12700" cap="flat" cmpd="sng" algn="ctr">
                      <a:solidFill>
                        <a:srgbClr val="C5D8EB"/>
                      </a:solidFill>
                      <a:prstDash val="solid"/>
                      <a:round/>
                      <a:headEnd type="none" w="med" len="med"/>
                      <a:tailEnd type="none" w="med" len="med"/>
                    </a:lnR>
                    <a:lnT w="19050" cap="flat" cmpd="sng" algn="ctr">
                      <a:solidFill>
                        <a:srgbClr val="002060"/>
                      </a:solidFill>
                      <a:prstDash val="solid"/>
                      <a:round/>
                      <a:headEnd type="none" w="med" len="med"/>
                      <a:tailEnd type="none" w="med" len="med"/>
                    </a:lnT>
                    <a:lnB w="1905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7425100"/>
                  </a:ext>
                </a:extLst>
              </a:tr>
            </a:tbl>
          </a:graphicData>
        </a:graphic>
      </p:graphicFrame>
      <p:sp>
        <p:nvSpPr>
          <p:cNvPr id="6" name="מלבן 5"/>
          <p:cNvSpPr/>
          <p:nvPr/>
        </p:nvSpPr>
        <p:spPr>
          <a:xfrm>
            <a:off x="1715677" y="5986272"/>
            <a:ext cx="9883359" cy="646176"/>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400" b="1" dirty="0" smtClean="0">
                <a:solidFill>
                  <a:schemeClr val="bg1"/>
                </a:solidFill>
                <a:latin typeface="Calibri" panose="020F0502020204030204" pitchFamily="34" charset="0"/>
                <a:cs typeface="Calibri" panose="020F0502020204030204" pitchFamily="34" charset="0"/>
              </a:rPr>
              <a:t>הצעה לפיילוט – הפעלת 6 מרכזים– בעלות של 30 מיליון ש"ח</a:t>
            </a:r>
            <a:endParaRPr lang="he-IL" sz="2400" b="1" dirty="0">
              <a:solidFill>
                <a:schemeClr val="bg1"/>
              </a:solidFill>
              <a:latin typeface="Calibri" panose="020F0502020204030204" pitchFamily="34" charset="0"/>
              <a:cs typeface="Calibri" panose="020F0502020204030204" pitchFamily="34" charset="0"/>
            </a:endParaRPr>
          </a:p>
        </p:txBody>
      </p:sp>
      <p:pic>
        <p:nvPicPr>
          <p:cNvPr id="34" name="תמונה 33"/>
          <p:cNvPicPr>
            <a:picLocks noChangeAspect="1"/>
          </p:cNvPicPr>
          <p:nvPr/>
        </p:nvPicPr>
        <p:blipFill>
          <a:blip r:embed="rId2"/>
          <a:stretch>
            <a:fillRect/>
          </a:stretch>
        </p:blipFill>
        <p:spPr>
          <a:xfrm>
            <a:off x="400122" y="30601"/>
            <a:ext cx="1519279" cy="681078"/>
          </a:xfrm>
          <a:prstGeom prst="rect">
            <a:avLst/>
          </a:prstGeom>
        </p:spPr>
      </p:pic>
      <p:sp>
        <p:nvSpPr>
          <p:cNvPr id="2" name="חץ שמאלה-ימינה 1"/>
          <p:cNvSpPr/>
          <p:nvPr/>
        </p:nvSpPr>
        <p:spPr>
          <a:xfrm>
            <a:off x="5379365" y="1490282"/>
            <a:ext cx="2493160" cy="506130"/>
          </a:xfrm>
          <a:prstGeom prst="leftRightArrow">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1" anchor="ctr"/>
          <a:lstStyle/>
          <a:p>
            <a:pPr algn="ctr"/>
            <a:r>
              <a:rPr lang="he-IL" dirty="0" smtClean="0"/>
              <a:t>לבחירת הזכאי</a:t>
            </a:r>
            <a:endParaRPr lang="he-IL" dirty="0"/>
          </a:p>
        </p:txBody>
      </p:sp>
    </p:spTree>
    <p:extLst>
      <p:ext uri="{BB962C8B-B14F-4D97-AF65-F5344CB8AC3E}">
        <p14:creationId xmlns:p14="http://schemas.microsoft.com/office/powerpoint/2010/main" val="2456234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 name="קבוצה 10"/>
          <p:cNvGrpSpPr/>
          <p:nvPr/>
        </p:nvGrpSpPr>
        <p:grpSpPr>
          <a:xfrm>
            <a:off x="991838" y="741349"/>
            <a:ext cx="2320383" cy="2185949"/>
            <a:chOff x="4003932" y="140625"/>
            <a:chExt cx="3347849" cy="3401935"/>
          </a:xfrm>
        </p:grpSpPr>
        <p:sp>
          <p:nvSpPr>
            <p:cNvPr id="12" name="אליפסה 11"/>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13"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grpSp>
        <p:nvGrpSpPr>
          <p:cNvPr id="14" name="קבוצה 13"/>
          <p:cNvGrpSpPr/>
          <p:nvPr/>
        </p:nvGrpSpPr>
        <p:grpSpPr>
          <a:xfrm>
            <a:off x="814142" y="1234969"/>
            <a:ext cx="1072459" cy="1066484"/>
            <a:chOff x="1670079" y="2140313"/>
            <a:chExt cx="1642835" cy="1642835"/>
          </a:xfrm>
        </p:grpSpPr>
        <p:sp>
          <p:nvSpPr>
            <p:cNvPr id="15" name="אליפסה 14"/>
            <p:cNvSpPr/>
            <p:nvPr/>
          </p:nvSpPr>
          <p:spPr>
            <a:xfrm>
              <a:off x="1670079" y="2140313"/>
              <a:ext cx="1642835" cy="1642835"/>
            </a:xfrm>
            <a:prstGeom prst="ellipse">
              <a:avLst/>
            </a:prstGeom>
            <a:solidFill>
              <a:srgbClr val="F8A091">
                <a:alpha val="50000"/>
              </a:srgbClr>
            </a:solid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6" name="אליפסה 4"/>
            <p:cNvSpPr txBox="1"/>
            <p:nvPr/>
          </p:nvSpPr>
          <p:spPr>
            <a:xfrm>
              <a:off x="1910667"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7" name="אליפסה 16"/>
          <p:cNvSpPr/>
          <p:nvPr/>
        </p:nvSpPr>
        <p:spPr>
          <a:xfrm>
            <a:off x="1380664" y="1234969"/>
            <a:ext cx="1083624" cy="996404"/>
          </a:xfrm>
          <a:prstGeom prst="ellipse">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תמונה 1"/>
          <p:cNvPicPr>
            <a:picLocks noChangeAspect="1"/>
          </p:cNvPicPr>
          <p:nvPr/>
        </p:nvPicPr>
        <p:blipFill rotWithShape="1">
          <a:blip r:embed="rId2"/>
          <a:srcRect l="4374" t="23828" r="23021" b="21614"/>
          <a:stretch/>
        </p:blipFill>
        <p:spPr>
          <a:xfrm>
            <a:off x="814142" y="19890"/>
            <a:ext cx="10706100" cy="6435948"/>
          </a:xfrm>
          <a:prstGeom prst="rect">
            <a:avLst/>
          </a:prstGeom>
        </p:spPr>
      </p:pic>
      <p:pic>
        <p:nvPicPr>
          <p:cNvPr id="18" name="תמונה 17"/>
          <p:cNvPicPr>
            <a:picLocks noChangeAspect="1"/>
          </p:cNvPicPr>
          <p:nvPr/>
        </p:nvPicPr>
        <p:blipFill>
          <a:blip r:embed="rId3"/>
          <a:stretch>
            <a:fillRect/>
          </a:stretch>
        </p:blipFill>
        <p:spPr>
          <a:xfrm>
            <a:off x="290249" y="19890"/>
            <a:ext cx="1805002" cy="809165"/>
          </a:xfrm>
          <a:prstGeom prst="rect">
            <a:avLst/>
          </a:prstGeom>
        </p:spPr>
      </p:pic>
    </p:spTree>
    <p:extLst>
      <p:ext uri="{BB962C8B-B14F-4D97-AF65-F5344CB8AC3E}">
        <p14:creationId xmlns:p14="http://schemas.microsoft.com/office/powerpoint/2010/main" val="294873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7" name="TextBox 46"/>
          <p:cNvSpPr txBox="1"/>
          <p:nvPr/>
        </p:nvSpPr>
        <p:spPr>
          <a:xfrm>
            <a:off x="156608" y="3424407"/>
            <a:ext cx="3240748" cy="9812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969" b="1" dirty="0">
                <a:latin typeface="Helvetica Neue"/>
                <a:ea typeface="Helvetica Neue"/>
                <a:cs typeface="Helvetica Neue"/>
                <a:sym typeface="Helvetica Neue"/>
              </a:rPr>
              <a:t>ניתן להעריך </a:t>
            </a:r>
            <a:r>
              <a:rPr lang="he-IL" sz="1969" b="1" u="sng" dirty="0">
                <a:solidFill>
                  <a:schemeClr val="accent5">
                    <a:lumMod val="75000"/>
                  </a:schemeClr>
                </a:solidFill>
                <a:latin typeface="Helvetica Neue"/>
                <a:ea typeface="Helvetica Neue"/>
                <a:cs typeface="Helvetica Neue"/>
                <a:sym typeface="Helvetica Neue"/>
              </a:rPr>
              <a:t>שלפחות</a:t>
            </a:r>
            <a:r>
              <a:rPr lang="he-IL" sz="1969" b="1" dirty="0">
                <a:solidFill>
                  <a:schemeClr val="accent5">
                    <a:lumMod val="75000"/>
                  </a:schemeClr>
                </a:solidFill>
                <a:latin typeface="Helvetica Neue"/>
                <a:ea typeface="Helvetica Neue"/>
                <a:cs typeface="Helvetica Neue"/>
                <a:sym typeface="Helvetica Neue"/>
              </a:rPr>
              <a:t> </a:t>
            </a:r>
            <a:r>
              <a:rPr lang="he-IL" sz="1969" b="1" dirty="0">
                <a:latin typeface="Helvetica Neue"/>
                <a:ea typeface="Helvetica Neue"/>
                <a:cs typeface="Helvetica Neue"/>
                <a:sym typeface="Helvetica Neue"/>
              </a:rPr>
              <a:t>כ 64,000 (80%) בתי אב פוטנציאלים לקהילה תומכת</a:t>
            </a:r>
          </a:p>
        </p:txBody>
      </p:sp>
      <p:sp>
        <p:nvSpPr>
          <p:cNvPr id="8" name="TextBox 7"/>
          <p:cNvSpPr txBox="1"/>
          <p:nvPr/>
        </p:nvSpPr>
        <p:spPr>
          <a:xfrm>
            <a:off x="3977924" y="6239353"/>
            <a:ext cx="5934316" cy="5048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defTabSz="410751" rtl="0" hangingPunct="0"/>
            <a:r>
              <a:rPr lang="he-IL" sz="1406" b="1" dirty="0">
                <a:solidFill>
                  <a:srgbClr val="000000"/>
                </a:solidFill>
                <a:latin typeface="Helvetica Neue"/>
                <a:ea typeface="Helvetica Neue"/>
                <a:cs typeface="Helvetica Neue"/>
                <a:sym typeface="Helvetica Neue"/>
              </a:rPr>
              <a:t>*מקרה בו גר הורה עם בנו/ביתו ושניהם זכאים לקצבת סיעוד, נספר כשני בתי אב</a:t>
            </a:r>
          </a:p>
          <a:p>
            <a:pPr algn="l" defTabSz="410751" hangingPunct="0"/>
            <a:endParaRPr lang="he-IL" sz="1406" b="1" dirty="0">
              <a:solidFill>
                <a:srgbClr val="000000"/>
              </a:solidFill>
              <a:latin typeface="Helvetica Neue"/>
              <a:ea typeface="Helvetica Neue"/>
              <a:cs typeface="Helvetica Neue"/>
              <a:sym typeface="Helvetica Neue"/>
            </a:endParaRPr>
          </a:p>
        </p:txBody>
      </p:sp>
      <p:sp>
        <p:nvSpPr>
          <p:cNvPr id="62" name="TextBox 61"/>
          <p:cNvSpPr txBox="1"/>
          <p:nvPr/>
        </p:nvSpPr>
        <p:spPr>
          <a:xfrm>
            <a:off x="9283206" y="3075058"/>
            <a:ext cx="1877431"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100,240  </a:t>
            </a:r>
          </a:p>
        </p:txBody>
      </p:sp>
      <p:sp>
        <p:nvSpPr>
          <p:cNvPr id="63" name="TextBox 62"/>
          <p:cNvSpPr txBox="1"/>
          <p:nvPr/>
        </p:nvSpPr>
        <p:spPr>
          <a:xfrm>
            <a:off x="6891757" y="3097045"/>
            <a:ext cx="2118923" cy="8510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dirty="0"/>
              <a:t> </a:t>
            </a:r>
          </a:p>
          <a:p>
            <a:pPr algn="ctr" defTabSz="410751" rtl="0" hangingPunct="0"/>
            <a:r>
              <a:rPr lang="he-IL" sz="2531" b="1" dirty="0">
                <a:solidFill>
                  <a:srgbClr val="000000"/>
                </a:solidFill>
                <a:sym typeface="Helvetica Neue"/>
              </a:rPr>
              <a:t>80,600*</a:t>
            </a:r>
          </a:p>
        </p:txBody>
      </p:sp>
      <p:sp>
        <p:nvSpPr>
          <p:cNvPr id="73" name="כותרת"/>
          <p:cNvSpPr txBox="1">
            <a:spLocks noGrp="1"/>
          </p:cNvSpPr>
          <p:nvPr>
            <p:ph type="title" idx="4294967295"/>
          </p:nvPr>
        </p:nvSpPr>
        <p:spPr>
          <a:xfrm>
            <a:off x="3007151" y="577764"/>
            <a:ext cx="8531063" cy="461145"/>
          </a:xfrm>
          <a:prstGeom prst="rect">
            <a:avLst/>
          </a:prstGeom>
        </p:spPr>
        <p:txBody>
          <a:bodyPr>
            <a:normAutofit fontScale="90000"/>
          </a:bodyPr>
          <a:lstStyle>
            <a:lvl1pPr algn="r" rtl="1">
              <a:defRPr sz="3700">
                <a:latin typeface="Tahoma"/>
                <a:ea typeface="Tahoma"/>
                <a:cs typeface="Tahoma"/>
                <a:sym typeface="Tahoma"/>
              </a:defRPr>
            </a:lvl1pPr>
          </a:lstStyle>
          <a:p>
            <a:r>
              <a:rPr lang="he-IL" kern="1200" dirty="0" smtClean="0">
                <a:solidFill>
                  <a:schemeClr val="tx1"/>
                </a:solidFill>
              </a:rPr>
              <a:t>קהילות תומכות </a:t>
            </a:r>
            <a:r>
              <a:rPr lang="he-IL" kern="1200" dirty="0" smtClean="0">
                <a:solidFill>
                  <a:schemeClr val="tx1"/>
                </a:solidFill>
              </a:rPr>
              <a:t>שייכות ומניעת התדרדרות</a:t>
            </a:r>
            <a:r>
              <a:rPr lang="he-IL" kern="1200" dirty="0">
                <a:solidFill>
                  <a:schemeClr val="tx1"/>
                </a:solidFill>
              </a:rPr>
              <a:t/>
            </a:r>
            <a:br>
              <a:rPr lang="he-IL" kern="1200" dirty="0">
                <a:solidFill>
                  <a:schemeClr val="tx1"/>
                </a:solidFill>
              </a:rPr>
            </a:br>
            <a:endParaRPr dirty="0">
              <a:solidFill>
                <a:schemeClr val="tx1"/>
              </a:solidFill>
            </a:endParaRPr>
          </a:p>
        </p:txBody>
      </p:sp>
      <p:sp>
        <p:nvSpPr>
          <p:cNvPr id="2" name="מלבן 1"/>
          <p:cNvSpPr/>
          <p:nvPr/>
        </p:nvSpPr>
        <p:spPr>
          <a:xfrm>
            <a:off x="9915429" y="2725148"/>
            <a:ext cx="1114408" cy="287130"/>
          </a:xfrm>
          <a:prstGeom prst="rect">
            <a:avLst/>
          </a:prstGeom>
        </p:spPr>
        <p:txBody>
          <a:bodyPr wrap="none">
            <a:spAutoFit/>
          </a:bodyPr>
          <a:lstStyle/>
          <a:p>
            <a:pPr lvl="0"/>
            <a:r>
              <a:rPr lang="he-IL" sz="1266" dirty="0"/>
              <a:t>אזרחים ותיקים</a:t>
            </a:r>
          </a:p>
        </p:txBody>
      </p:sp>
      <p:sp>
        <p:nvSpPr>
          <p:cNvPr id="3" name="מלבן 2"/>
          <p:cNvSpPr/>
          <p:nvPr/>
        </p:nvSpPr>
        <p:spPr>
          <a:xfrm>
            <a:off x="7594979" y="2612942"/>
            <a:ext cx="646332" cy="308674"/>
          </a:xfrm>
          <a:prstGeom prst="rect">
            <a:avLst/>
          </a:prstGeom>
        </p:spPr>
        <p:txBody>
          <a:bodyPr wrap="none">
            <a:spAutoFit/>
          </a:bodyPr>
          <a:lstStyle/>
          <a:p>
            <a:pPr lvl="0" rtl="1"/>
            <a:r>
              <a:rPr lang="he-IL" sz="1266" dirty="0">
                <a:latin typeface="Consolas" panose="020B0609020204030204" pitchFamily="49" charset="0"/>
              </a:rPr>
              <a:t>בתי</a:t>
            </a:r>
            <a:r>
              <a:rPr lang="he-IL" sz="1406" dirty="0">
                <a:latin typeface="Consolas" panose="020B0609020204030204" pitchFamily="49" charset="0"/>
              </a:rPr>
              <a:t> </a:t>
            </a:r>
            <a:r>
              <a:rPr lang="he-IL" sz="1266" dirty="0">
                <a:latin typeface="Consolas" panose="020B0609020204030204" pitchFamily="49" charset="0"/>
              </a:rPr>
              <a:t>אב</a:t>
            </a:r>
            <a:endParaRPr lang="he-IL" sz="1406" dirty="0"/>
          </a:p>
        </p:txBody>
      </p:sp>
      <p:grpSp>
        <p:nvGrpSpPr>
          <p:cNvPr id="7" name="קבוצה 6"/>
          <p:cNvGrpSpPr/>
          <p:nvPr/>
        </p:nvGrpSpPr>
        <p:grpSpPr>
          <a:xfrm>
            <a:off x="4438655" y="2564869"/>
            <a:ext cx="1819074" cy="2417770"/>
            <a:chOff x="6136429" y="3383437"/>
            <a:chExt cx="2587206" cy="3438711"/>
          </a:xfrm>
        </p:grpSpPr>
        <p:pic>
          <p:nvPicPr>
            <p:cNvPr id="46" name="תמונה 45"/>
            <p:cNvPicPr>
              <a:picLocks noChangeAspect="1"/>
            </p:cNvPicPr>
            <p:nvPr/>
          </p:nvPicPr>
          <p:blipFill rotWithShape="1">
            <a:blip r:embed="rId4" cstate="print">
              <a:extLst>
                <a:ext uri="{28A0092B-C50C-407E-A947-70E740481C1C}">
                  <a14:useLocalDpi xmlns:a14="http://schemas.microsoft.com/office/drawing/2010/main" val="0"/>
                </a:ext>
              </a:extLst>
            </a:blip>
            <a:srcRect l="72148" b="1305"/>
            <a:stretch/>
          </p:blipFill>
          <p:spPr>
            <a:xfrm>
              <a:off x="6435824" y="4150631"/>
              <a:ext cx="574853" cy="600280"/>
            </a:xfrm>
            <a:prstGeom prst="rect">
              <a:avLst/>
            </a:prstGeom>
          </p:spPr>
        </p:pic>
        <p:sp>
          <p:nvSpPr>
            <p:cNvPr id="15" name="TextBox 14"/>
            <p:cNvSpPr txBox="1"/>
            <p:nvPr/>
          </p:nvSpPr>
          <p:spPr>
            <a:xfrm>
              <a:off x="7249787" y="4062384"/>
              <a:ext cx="1260781"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6,000</a:t>
              </a:r>
            </a:p>
          </p:txBody>
        </p:sp>
        <p:pic>
          <p:nvPicPr>
            <p:cNvPr id="6" name="תמונה 5"/>
            <p:cNvPicPr>
              <a:picLocks noChangeAspect="1"/>
            </p:cNvPicPr>
            <p:nvPr/>
          </p:nvPicPr>
          <p:blipFill>
            <a:blip r:embed="rId5"/>
            <a:stretch>
              <a:fillRect/>
            </a:stretch>
          </p:blipFill>
          <p:spPr>
            <a:xfrm>
              <a:off x="6393217" y="4983118"/>
              <a:ext cx="695587" cy="735456"/>
            </a:xfrm>
            <a:prstGeom prst="rect">
              <a:avLst/>
            </a:prstGeom>
          </p:spPr>
        </p:pic>
        <p:sp>
          <p:nvSpPr>
            <p:cNvPr id="50" name="TextBox 49"/>
            <p:cNvSpPr txBox="1"/>
            <p:nvPr/>
          </p:nvSpPr>
          <p:spPr>
            <a:xfrm>
              <a:off x="7307490" y="5023248"/>
              <a:ext cx="908956"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220</a:t>
              </a:r>
            </a:p>
          </p:txBody>
        </p:sp>
        <p:sp>
          <p:nvSpPr>
            <p:cNvPr id="74" name="TextBox 73"/>
            <p:cNvSpPr txBox="1"/>
            <p:nvPr/>
          </p:nvSpPr>
          <p:spPr>
            <a:xfrm>
              <a:off x="6805642" y="5854843"/>
              <a:ext cx="1917993" cy="6565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531" b="1" dirty="0">
                  <a:solidFill>
                    <a:srgbClr val="000000"/>
                  </a:solidFill>
                  <a:latin typeface="Helvetica Neue"/>
                  <a:ea typeface="Helvetica Neue"/>
                  <a:cs typeface="Helvetica Neue"/>
                  <a:sym typeface="Helvetica Neue"/>
                </a:rPr>
                <a:t>כ-1670</a:t>
              </a:r>
            </a:p>
          </p:txBody>
        </p:sp>
        <p:pic>
          <p:nvPicPr>
            <p:cNvPr id="2064" name="Picture 12" descr="Cash, coin, deposit, money, payment"/>
            <p:cNvPicPr>
              <a:picLocks noChangeAspect="1" noChangeArrowheads="1"/>
            </p:cNvPicPr>
            <p:nvPr/>
          </p:nvPicPr>
          <p:blipFill>
            <a:blip r:embed="rId6">
              <a:duotone>
                <a:schemeClr val="accent1">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6344102" y="5854805"/>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2065" name="TextBox 2064"/>
            <p:cNvSpPr txBox="1"/>
            <p:nvPr/>
          </p:nvSpPr>
          <p:spPr>
            <a:xfrm>
              <a:off x="6136429" y="6350303"/>
              <a:ext cx="1048712" cy="4718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1687" b="1" dirty="0">
                  <a:solidFill>
                    <a:schemeClr val="accent1">
                      <a:lumMod val="75000"/>
                    </a:schemeClr>
                  </a:solidFill>
                  <a:latin typeface="Helvetica Neue"/>
                  <a:ea typeface="Helvetica Neue"/>
                  <a:cs typeface="Helvetica Neue"/>
                  <a:sym typeface="Helvetica Neue"/>
                </a:rPr>
                <a:t>פרטיים</a:t>
              </a:r>
            </a:p>
          </p:txBody>
        </p:sp>
        <p:sp>
          <p:nvSpPr>
            <p:cNvPr id="4" name="מלבן 3"/>
            <p:cNvSpPr/>
            <p:nvPr/>
          </p:nvSpPr>
          <p:spPr>
            <a:xfrm>
              <a:off x="6983139" y="3383437"/>
              <a:ext cx="1281758" cy="408375"/>
            </a:xfrm>
            <a:prstGeom prst="rect">
              <a:avLst/>
            </a:prstGeom>
          </p:spPr>
          <p:txBody>
            <a:bodyPr wrap="none">
              <a:spAutoFit/>
            </a:bodyPr>
            <a:lstStyle/>
            <a:p>
              <a:pPr lvl="0" rtl="1"/>
              <a:r>
                <a:rPr lang="he-IL" sz="1266" dirty="0"/>
                <a:t>גורם מפנה </a:t>
              </a:r>
            </a:p>
          </p:txBody>
        </p:sp>
      </p:grpSp>
      <p:sp>
        <p:nvSpPr>
          <p:cNvPr id="5" name="חץ ימינה 4"/>
          <p:cNvSpPr/>
          <p:nvPr/>
        </p:nvSpPr>
        <p:spPr>
          <a:xfrm flipH="1">
            <a:off x="8902396" y="3412616"/>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1" name="חץ ימינה 50"/>
          <p:cNvSpPr/>
          <p:nvPr/>
        </p:nvSpPr>
        <p:spPr>
          <a:xfrm flipH="1">
            <a:off x="6498396" y="3438771"/>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2" name="חץ ימינה 51"/>
          <p:cNvSpPr/>
          <p:nvPr/>
        </p:nvSpPr>
        <p:spPr>
          <a:xfrm flipH="1">
            <a:off x="3666009" y="3440137"/>
            <a:ext cx="385879" cy="616224"/>
          </a:xfrm>
          <a:prstGeom prst="rightArrow">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ctr" defTabSz="410751" rtl="0" hangingPunct="0"/>
            <a:endParaRPr lang="he-IL" sz="1547">
              <a:solidFill>
                <a:srgbClr val="FFFFFF"/>
              </a:solidFill>
              <a:sym typeface="Helvetica Neue Medium"/>
            </a:endParaRPr>
          </a:p>
        </p:txBody>
      </p:sp>
      <p:sp>
        <p:nvSpPr>
          <p:cNvPr id="55" name="מלבן 54"/>
          <p:cNvSpPr/>
          <p:nvPr/>
        </p:nvSpPr>
        <p:spPr>
          <a:xfrm>
            <a:off x="7008564" y="1303035"/>
            <a:ext cx="4374917" cy="287130"/>
          </a:xfrm>
          <a:prstGeom prst="rect">
            <a:avLst/>
          </a:prstGeom>
        </p:spPr>
        <p:txBody>
          <a:bodyPr wrap="none">
            <a:spAutoFit/>
          </a:bodyPr>
          <a:lstStyle/>
          <a:p>
            <a:pPr lvl="0"/>
            <a:r>
              <a:rPr lang="he-IL" sz="1266" dirty="0" smtClean="0">
                <a:latin typeface="Tahoma"/>
                <a:ea typeface="Tahoma"/>
                <a:cs typeface="Tahoma"/>
                <a:sym typeface="Tahoma"/>
              </a:rPr>
              <a:t>קהל יעד: </a:t>
            </a:r>
            <a:r>
              <a:rPr lang="he-IL" sz="1266" dirty="0">
                <a:latin typeface="Tahoma"/>
                <a:ea typeface="Tahoma"/>
                <a:cs typeface="Tahoma"/>
                <a:sym typeface="Tahoma"/>
              </a:rPr>
              <a:t>אזרחים ותיקים מקבלי קצבת סיעוד ברמה 1 או 2</a:t>
            </a:r>
          </a:p>
        </p:txBody>
      </p:sp>
      <p:sp>
        <p:nvSpPr>
          <p:cNvPr id="48" name="Rectangle"/>
          <p:cNvSpPr/>
          <p:nvPr/>
        </p:nvSpPr>
        <p:spPr>
          <a:xfrm>
            <a:off x="8013637" y="1050344"/>
            <a:ext cx="3457519" cy="63864"/>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Tree>
    <p:extLst>
      <p:ext uri="{BB962C8B-B14F-4D97-AF65-F5344CB8AC3E}">
        <p14:creationId xmlns:p14="http://schemas.microsoft.com/office/powerpoint/2010/main" val="369887721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extLst/>
              </a:blip>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2" name="TextBox 1"/>
          <p:cNvSpPr txBox="1"/>
          <p:nvPr/>
        </p:nvSpPr>
        <p:spPr>
          <a:xfrm>
            <a:off x="7281088" y="3697344"/>
            <a:ext cx="4469471"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250" b="1" dirty="0"/>
              <a:t>80% השתתפות – 262 מסגרות</a:t>
            </a:r>
            <a:endParaRPr lang="he-IL" sz="2250" b="1" dirty="0">
              <a:solidFill>
                <a:srgbClr val="000000"/>
              </a:solidFill>
              <a:sym typeface="Helvetica Neue"/>
            </a:endParaRPr>
          </a:p>
        </p:txBody>
      </p:sp>
      <p:sp>
        <p:nvSpPr>
          <p:cNvPr id="4" name="TextBox 3"/>
          <p:cNvSpPr txBox="1"/>
          <p:nvPr/>
        </p:nvSpPr>
        <p:spPr>
          <a:xfrm flipH="1">
            <a:off x="6450258" y="725531"/>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כמה מסגרות נדרש?</a:t>
            </a:r>
          </a:p>
        </p:txBody>
      </p:sp>
      <p:sp>
        <p:nvSpPr>
          <p:cNvPr id="14" name="TextBox 13"/>
          <p:cNvSpPr txBox="1"/>
          <p:nvPr/>
        </p:nvSpPr>
        <p:spPr>
          <a:xfrm>
            <a:off x="7571676" y="4417781"/>
            <a:ext cx="3888294"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sz="2250" dirty="0"/>
              <a:t>60% השתתפות – 195 מסגרות</a:t>
            </a:r>
            <a:endParaRPr lang="he-IL" sz="2250" b="1" dirty="0">
              <a:solidFill>
                <a:srgbClr val="000000"/>
              </a:solidFill>
              <a:sym typeface="Helvetica Neue"/>
            </a:endParaRPr>
          </a:p>
        </p:txBody>
      </p:sp>
      <p:sp>
        <p:nvSpPr>
          <p:cNvPr id="18" name="TextBox 17"/>
          <p:cNvSpPr txBox="1"/>
          <p:nvPr/>
        </p:nvSpPr>
        <p:spPr>
          <a:xfrm flipH="1">
            <a:off x="1675803" y="2142559"/>
            <a:ext cx="9644568"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250" b="1" dirty="0">
                <a:solidFill>
                  <a:srgbClr val="000000"/>
                </a:solidFill>
                <a:latin typeface="Helvetica Neue"/>
                <a:ea typeface="Helvetica Neue"/>
                <a:cs typeface="Helvetica Neue"/>
                <a:sym typeface="Helvetica Neue"/>
              </a:rPr>
              <a:t>לפי מפתח פתיחת מסגרת במינימום 70 ומקסימום 220 בתי אב + רשות:</a:t>
            </a:r>
          </a:p>
        </p:txBody>
      </p:sp>
      <p:sp>
        <p:nvSpPr>
          <p:cNvPr id="19" name="Rectangle"/>
          <p:cNvSpPr/>
          <p:nvPr/>
        </p:nvSpPr>
        <p:spPr>
          <a:xfrm>
            <a:off x="7398826" y="1257968"/>
            <a:ext cx="3921546" cy="46932"/>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sp>
        <p:nvSpPr>
          <p:cNvPr id="24" name="TextBox 23"/>
          <p:cNvSpPr txBox="1"/>
          <p:nvPr/>
        </p:nvSpPr>
        <p:spPr>
          <a:xfrm>
            <a:off x="8976872" y="2976908"/>
            <a:ext cx="2343500" cy="4183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250" dirty="0"/>
              <a:t>בהינתן :</a:t>
            </a:r>
            <a:endParaRPr lang="he-IL" sz="2250" b="1" dirty="0">
              <a:solidFill>
                <a:srgbClr val="000000"/>
              </a:solidFill>
              <a:sym typeface="Helvetica Neue"/>
            </a:endParaRPr>
          </a:p>
        </p:txBody>
      </p:sp>
    </p:spTree>
    <p:extLst>
      <p:ext uri="{BB962C8B-B14F-4D97-AF65-F5344CB8AC3E}">
        <p14:creationId xmlns:p14="http://schemas.microsoft.com/office/powerpoint/2010/main" val="370076499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2166623" y="2172689"/>
            <a:ext cx="4430945"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6992044"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180459" y="2172689"/>
            <a:ext cx="2853339" cy="35902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ניתוחים גאוגרפים – ניתוח ביקושים לקהילות תומכות למקבלי חוק סיעוד ברמה </a:t>
            </a:r>
            <a:r>
              <a:rPr lang="he-IL" sz="3200" b="1" dirty="0" smtClean="0">
                <a:latin typeface="Calibri" panose="020F0502020204030204" pitchFamily="34" charset="0"/>
                <a:cs typeface="Calibri" panose="020F0502020204030204" pitchFamily="34" charset="0"/>
              </a:rPr>
              <a:t>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3049401"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dirty="0"/>
              <a:t>קהילות לרמות 1-2 תל אביב</a:t>
            </a:r>
            <a:endParaRPr lang="he-IL" sz="2400" b="1" dirty="0">
              <a:solidFill>
                <a:srgbClr val="000000"/>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981749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545904" y="255865"/>
            <a:ext cx="10888688" cy="892552"/>
          </a:xfrm>
          <a:prstGeom prst="rect">
            <a:avLst/>
          </a:prstGeom>
          <a:noFill/>
        </p:spPr>
        <p:txBody>
          <a:bodyPr wrap="square" rtlCol="1">
            <a:spAutoFit/>
          </a:bodyPr>
          <a:lstStyle/>
          <a:p>
            <a:r>
              <a:rPr lang="he-IL" sz="2800" b="1" dirty="0" smtClean="0">
                <a:latin typeface="Calibri" panose="020F0502020204030204" pitchFamily="34" charset="0"/>
                <a:cs typeface="Calibri" panose="020F0502020204030204" pitchFamily="34" charset="0"/>
              </a:rPr>
              <a:t>הבעיה – פיצול השירותים לאזרח הוותיק בין גורמים רבים</a:t>
            </a:r>
            <a:r>
              <a:rPr lang="en-US" sz="2800" b="1" dirty="0" smtClean="0">
                <a:latin typeface="Calibri" panose="020F0502020204030204" pitchFamily="34" charset="0"/>
                <a:cs typeface="Calibri" panose="020F0502020204030204" pitchFamily="34" charset="0"/>
              </a:rPr>
              <a:t/>
            </a:r>
            <a:br>
              <a:rPr lang="en-US" sz="2800" b="1" dirty="0" smtClean="0">
                <a:latin typeface="Calibri" panose="020F0502020204030204" pitchFamily="34" charset="0"/>
                <a:cs typeface="Calibri" panose="020F0502020204030204" pitchFamily="34" charset="0"/>
              </a:rPr>
            </a:br>
            <a:r>
              <a:rPr lang="he-IL" sz="2400" b="1" dirty="0" smtClean="0">
                <a:solidFill>
                  <a:srgbClr val="0070C0"/>
                </a:solidFill>
                <a:latin typeface="Calibri" panose="020F0502020204030204" pitchFamily="34" charset="0"/>
                <a:cs typeface="Calibri" panose="020F0502020204030204" pitchFamily="34" charset="0"/>
              </a:rPr>
              <a:t>הרעיון – התאמת השירות לאדם. הלקוח במרכז</a:t>
            </a:r>
            <a:endParaRPr lang="he-IL" sz="2400" b="1" dirty="0">
              <a:solidFill>
                <a:srgbClr val="0070C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smtClean="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smtClean="0"/>
              <a:t>הלקוח במרכז</a:t>
            </a:r>
          </a:p>
        </p:txBody>
      </p:sp>
      <p:sp>
        <p:nvSpPr>
          <p:cNvPr id="7" name="מלבן 6"/>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flipH="1">
            <a:off x="7097218" y="3321027"/>
            <a:ext cx="1016252" cy="1139282"/>
          </a:xfrm>
          <a:prstGeom prst="rect">
            <a:avLst/>
          </a:prstGeom>
        </p:spPr>
      </p:pic>
    </p:spTree>
    <p:extLst>
      <p:ext uri="{BB962C8B-B14F-4D97-AF65-F5344CB8AC3E}">
        <p14:creationId xmlns:p14="http://schemas.microsoft.com/office/powerpoint/2010/main" val="3449400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קהילה תומכת סל</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אישי </a:t>
            </a: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2974" y="26430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אליפסה 22">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dirty="0">
              <a:solidFill>
                <a:srgbClr val="13235F"/>
              </a:solidFill>
              <a:latin typeface="Calibri" panose="020F0502020204030204" pitchFamily="34" charset="0"/>
              <a:cs typeface="Calibri" panose="020F0502020204030204" pitchFamily="34" charset="0"/>
            </a:endParaRPr>
          </a:p>
        </p:txBody>
      </p:sp>
      <p:pic>
        <p:nvPicPr>
          <p:cNvPr id="24"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3">
            <a:extLst>
              <a:ext uri="{96DAC541-7B7A-43D3-8B79-37D633B846F1}">
                <asvg:svgBlip xmlns="" xmlns:asvg="http://schemas.microsoft.com/office/drawing/2016/SVG/main" r:embed="rId4"/>
              </a:ext>
            </a:extLst>
          </a:blip>
          <a:stretch>
            <a:fillRect/>
          </a:stretch>
        </p:blipFill>
        <p:spPr>
          <a:xfrm flipH="1">
            <a:off x="5301119" y="3069871"/>
            <a:ext cx="1044682" cy="1171153"/>
          </a:xfrm>
        </p:spPr>
      </p:pic>
      <p:sp>
        <p:nvSpPr>
          <p:cNvPr id="25"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algn="r"/>
            <a:r>
              <a:rPr lang="he-IL" sz="2000" b="1">
                <a:solidFill>
                  <a:schemeClr val="accent1">
                    <a:lumMod val="75000"/>
                  </a:schemeClr>
                </a:solidFill>
              </a:rPr>
              <a:t>               </a:t>
            </a:r>
            <a:endParaRPr lang="he-IL" sz="2000" b="1">
              <a:solidFill>
                <a:srgbClr val="FF0000"/>
              </a:solidFill>
            </a:endParaRPr>
          </a:p>
        </p:txBody>
      </p:sp>
      <p:sp>
        <p:nvSpPr>
          <p:cNvPr id="26"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r>
              <a:rPr lang="he-IL" sz="2400" b="1" dirty="0">
                <a:solidFill>
                  <a:srgbClr val="13235F"/>
                </a:solidFill>
                <a:latin typeface="Calibri" panose="020F0502020204030204" pitchFamily="34" charset="0"/>
                <a:cs typeface="Calibri" panose="020F0502020204030204" pitchFamily="34" charset="0"/>
              </a:rPr>
              <a:t>רשת מקומית – </a:t>
            </a:r>
            <a:r>
              <a:rPr lang="he-IL" dirty="0">
                <a:solidFill>
                  <a:srgbClr val="13235F"/>
                </a:solidFill>
                <a:latin typeface="Calibri" panose="020F0502020204030204" pitchFamily="34" charset="0"/>
                <a:cs typeface="Calibri" panose="020F0502020204030204" pitchFamily="34" charset="0"/>
              </a:rPr>
              <a:t>מעטפת שירותים לבחירת האזרח הוותיק</a:t>
            </a:r>
          </a:p>
        </p:txBody>
      </p:sp>
      <p:cxnSp>
        <p:nvCxnSpPr>
          <p:cNvPr id="27"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8"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9"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69700" y="3196668"/>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0"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1"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2" name="Straight Arrow Connector 11">
            <a:extLst>
              <a:ext uri="{FF2B5EF4-FFF2-40B4-BE49-F238E27FC236}">
                <a16:creationId xmlns:a16="http://schemas.microsoft.com/office/drawing/2014/main" id="{6269D0A6-D2C6-352A-5436-DC164A5C6168}"/>
              </a:ext>
            </a:extLst>
          </p:cNvPr>
          <p:cNvCxnSpPr>
            <a:cxnSpLocks/>
            <a:endCxn id="41"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3"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4"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5"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36"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37" name="TextBox 36">
            <a:extLst>
              <a:ext uri="{FF2B5EF4-FFF2-40B4-BE49-F238E27FC236}">
                <a16:creationId xmlns:a16="http://schemas.microsoft.com/office/drawing/2014/main" id="{A938A207-7763-6598-3065-862C66E1DA57}"/>
              </a:ext>
            </a:extLst>
          </p:cNvPr>
          <p:cNvSpPr txBox="1"/>
          <p:nvPr/>
        </p:nvSpPr>
        <p:spPr>
          <a:xfrm>
            <a:off x="3669486" y="2827335"/>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מועדון חברתי</a:t>
            </a:r>
            <a:endParaRPr lang="he-IL" sz="2400" b="1" dirty="0">
              <a:solidFill>
                <a:srgbClr val="1176BC"/>
              </a:solidFill>
            </a:endParaRPr>
          </a:p>
        </p:txBody>
      </p:sp>
      <p:sp>
        <p:nvSpPr>
          <p:cNvPr id="38" name="TextBox 37">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רווחה מרחוק</a:t>
            </a:r>
            <a:endParaRPr lang="he-IL" sz="2400" b="1" dirty="0">
              <a:solidFill>
                <a:srgbClr val="1176BC"/>
              </a:solidFill>
            </a:endParaRPr>
          </a:p>
        </p:txBody>
      </p:sp>
      <p:sp>
        <p:nvSpPr>
          <p:cNvPr id="39" name="TextBox 38">
            <a:extLst>
              <a:ext uri="{FF2B5EF4-FFF2-40B4-BE49-F238E27FC236}">
                <a16:creationId xmlns:a16="http://schemas.microsoft.com/office/drawing/2014/main" id="{789307C2-1CA4-2D53-764C-C8EF8ADC59C6}"/>
              </a:ext>
            </a:extLst>
          </p:cNvPr>
          <p:cNvSpPr txBox="1"/>
          <p:nvPr/>
        </p:nvSpPr>
        <p:spPr>
          <a:xfrm>
            <a:off x="4109927" y="4634744"/>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מרכז יום</a:t>
            </a:r>
            <a:endParaRPr lang="he-IL" sz="2400" b="1" dirty="0">
              <a:solidFill>
                <a:srgbClr val="1176BC"/>
              </a:solidFill>
            </a:endParaRPr>
          </a:p>
        </p:txBody>
      </p:sp>
      <p:sp>
        <p:nvSpPr>
          <p:cNvPr id="40" name="TextBox 39">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יעוץ משפחתי</a:t>
            </a:r>
            <a:endParaRPr lang="he-IL" sz="2400" b="1" dirty="0">
              <a:solidFill>
                <a:srgbClr val="1176BC"/>
              </a:solidFill>
            </a:endParaRPr>
          </a:p>
        </p:txBody>
      </p:sp>
      <p:sp>
        <p:nvSpPr>
          <p:cNvPr id="41" name="TextBox 40">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התעמלות בפארק</a:t>
            </a:r>
            <a:endParaRPr lang="he-IL" sz="2400" b="1" dirty="0">
              <a:solidFill>
                <a:srgbClr val="1176BC"/>
              </a:solidFill>
            </a:endParaRPr>
          </a:p>
        </p:txBody>
      </p:sp>
      <p:sp>
        <p:nvSpPr>
          <p:cNvPr id="42" name="TextBox 41">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יעוץ תזונה ובריאות</a:t>
            </a:r>
            <a:endParaRPr lang="he-IL" sz="2400" b="1" dirty="0">
              <a:solidFill>
                <a:srgbClr val="1176BC"/>
              </a:solidFill>
            </a:endParaRPr>
          </a:p>
        </p:txBody>
      </p:sp>
      <p:sp>
        <p:nvSpPr>
          <p:cNvPr id="43" name="TextBox 42">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תעסוקה</a:t>
            </a:r>
            <a:endParaRPr lang="he-IL" sz="2400" b="1" dirty="0">
              <a:solidFill>
                <a:srgbClr val="1176BC"/>
              </a:solidFill>
            </a:endParaRPr>
          </a:p>
        </p:txBody>
      </p:sp>
      <p:sp>
        <p:nvSpPr>
          <p:cNvPr id="44" name="TextBox 43">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התנדבות</a:t>
            </a:r>
            <a:endParaRPr lang="he-IL" sz="2400" b="1" dirty="0">
              <a:solidFill>
                <a:srgbClr val="1176BC"/>
              </a:solidFill>
            </a:endParaRPr>
          </a:p>
        </p:txBody>
      </p:sp>
      <p:sp>
        <p:nvSpPr>
          <p:cNvPr id="45" name="TextBox 44">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יעוץ פיננסי</a:t>
            </a:r>
            <a:endParaRPr lang="he-IL" sz="2400" b="1" dirty="0">
              <a:solidFill>
                <a:srgbClr val="1176BC"/>
              </a:solidFill>
            </a:endParaRPr>
          </a:p>
        </p:txBody>
      </p:sp>
      <p:sp>
        <p:nvSpPr>
          <p:cNvPr id="46" name="TextBox 45">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algn="ctr" rtl="1"/>
            <a:r>
              <a:rPr lang="he-IL" sz="2000" b="1" dirty="0">
                <a:solidFill>
                  <a:srgbClr val="1176BC"/>
                </a:solidFill>
                <a:latin typeface="Calibri" panose="020F0502020204030204" pitchFamily="34" charset="0"/>
                <a:cs typeface="Calibri" panose="020F0502020204030204" pitchFamily="34" charset="0"/>
              </a:rPr>
              <a:t>ניקיון</a:t>
            </a:r>
            <a:endParaRPr lang="he-IL" sz="2400" b="1" dirty="0">
              <a:solidFill>
                <a:srgbClr val="1176BC"/>
              </a:solidFill>
            </a:endParaRPr>
          </a:p>
        </p:txBody>
      </p:sp>
      <p:sp>
        <p:nvSpPr>
          <p:cNvPr id="4" name="TextBox 3"/>
          <p:cNvSpPr txBox="1"/>
          <p:nvPr/>
        </p:nvSpPr>
        <p:spPr>
          <a:xfrm>
            <a:off x="996903" y="1568215"/>
            <a:ext cx="546097" cy="523220"/>
          </a:xfrm>
          <a:prstGeom prst="rect">
            <a:avLst/>
          </a:prstGeom>
          <a:noFill/>
        </p:spPr>
        <p:txBody>
          <a:bodyPr wrap="square" rtlCol="1">
            <a:spAutoFit/>
          </a:bodyPr>
          <a:lstStyle/>
          <a:p>
            <a:r>
              <a:rPr lang="he-IL" sz="1400" dirty="0" smtClean="0"/>
              <a:t>צורך וקושי</a:t>
            </a:r>
            <a:endParaRPr lang="he-IL" sz="1400" dirty="0"/>
          </a:p>
        </p:txBody>
      </p:sp>
      <p:sp>
        <p:nvSpPr>
          <p:cNvPr id="5" name="מלבן 4"/>
          <p:cNvSpPr/>
          <p:nvPr/>
        </p:nvSpPr>
        <p:spPr>
          <a:xfrm>
            <a:off x="2213314" y="1137706"/>
            <a:ext cx="713544" cy="523220"/>
          </a:xfrm>
          <a:prstGeom prst="rect">
            <a:avLst/>
          </a:prstGeom>
        </p:spPr>
        <p:txBody>
          <a:bodyPr wrap="square">
            <a:spAutoFit/>
          </a:bodyPr>
          <a:lstStyle/>
          <a:p>
            <a:r>
              <a:rPr lang="he-IL" sz="1400" dirty="0" smtClean="0"/>
              <a:t>רצון ובחירה</a:t>
            </a:r>
            <a:endParaRPr lang="he-IL" sz="1400" dirty="0"/>
          </a:p>
        </p:txBody>
      </p:sp>
      <p:sp>
        <p:nvSpPr>
          <p:cNvPr id="47" name="מלבן 46"/>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8" name="מלבן 7"/>
          <p:cNvSpPr/>
          <p:nvPr/>
        </p:nvSpPr>
        <p:spPr>
          <a:xfrm>
            <a:off x="1299617" y="963795"/>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spTree>
    <p:extLst>
      <p:ext uri="{BB962C8B-B14F-4D97-AF65-F5344CB8AC3E}">
        <p14:creationId xmlns:p14="http://schemas.microsoft.com/office/powerpoint/2010/main" val="3472297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2"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2CC2E0"/>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740670"/>
            <a:ext cx="10515600" cy="1325563"/>
          </a:xfrm>
        </p:spPr>
        <p:txBody>
          <a:bodyPr>
            <a:normAutofit fontScale="90000"/>
          </a:bodyPr>
          <a:lstStyle/>
          <a:p>
            <a:r>
              <a:rPr lang="he-IL" dirty="0" smtClean="0"/>
              <a:t>ביזור דור 2.0 </a:t>
            </a:r>
            <a:br>
              <a:rPr lang="he-IL" dirty="0" smtClean="0"/>
            </a:br>
            <a:r>
              <a:rPr lang="he-IL" dirty="0" smtClean="0"/>
              <a:t>קהילה תומכת סל אישי</a:t>
            </a:r>
            <a:br>
              <a:rPr lang="he-IL" dirty="0" smtClean="0"/>
            </a:br>
            <a:r>
              <a:rPr lang="he-IL" dirty="0" smtClean="0"/>
              <a:t> מבוסס נתונים</a:t>
            </a:r>
            <a:endParaRPr lang="he-IL" dirty="0"/>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smtClean="0">
                <a:ln>
                  <a:noFill/>
                </a:ln>
                <a:solidFill>
                  <a:prstClr val="white"/>
                </a:solidFill>
                <a:effectLst/>
                <a:uLnTx/>
                <a:uFillTx/>
                <a:latin typeface="Calibri"/>
                <a:ea typeface="+mj-ea"/>
                <a:cs typeface="Calibri"/>
              </a:rPr>
              <a:t/>
            </a:r>
            <a:br>
              <a:rPr kumimoji="0" lang="he-IL" sz="2800" b="0" i="0" u="none" strike="noStrike" kern="1200" cap="none" spc="0" normalizeH="0" baseline="0" noProof="0" smtClean="0">
                <a:ln>
                  <a:noFill/>
                </a:ln>
                <a:solidFill>
                  <a:prstClr val="white"/>
                </a:solidFill>
                <a:effectLst/>
                <a:uLnTx/>
                <a:uFillTx/>
                <a:latin typeface="Calibri"/>
                <a:ea typeface="+mj-ea"/>
                <a:cs typeface="Calibri"/>
              </a:rPr>
            </a:br>
            <a:r>
              <a:rPr kumimoji="0" lang="he-IL" sz="2800" b="0" i="0" u="none" strike="noStrike" kern="1200" cap="none" spc="0" normalizeH="0" baseline="0" noProof="0" smtClean="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4">
            <a:extLst>
              <a:ext uri="{96DAC541-7B7A-43D3-8B79-37D633B846F1}">
                <asvg:svgBlip xmlns:asvg="http://schemas.microsoft.com/office/drawing/2016/SVG/main" xmlns="" r:embed="rId5"/>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רשת מקומית –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smtClean="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smtClean="0">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smtClean="0"/>
              <a:t>צורך וקושי</a:t>
            </a:r>
            <a:endParaRPr lang="he-IL" sz="1400" dirty="0"/>
          </a:p>
        </p:txBody>
      </p:sp>
      <p:sp>
        <p:nvSpPr>
          <p:cNvPr id="60" name="מלבן 59"/>
          <p:cNvSpPr/>
          <p:nvPr/>
        </p:nvSpPr>
        <p:spPr>
          <a:xfrm>
            <a:off x="2213314" y="1137706"/>
            <a:ext cx="713544" cy="523220"/>
          </a:xfrm>
          <a:prstGeom prst="rect">
            <a:avLst/>
          </a:prstGeom>
        </p:spPr>
        <p:txBody>
          <a:bodyPr wrap="square">
            <a:spAutoFit/>
          </a:bodyPr>
          <a:lstStyle/>
          <a:p>
            <a:r>
              <a:rPr lang="he-IL" sz="1400" dirty="0" smtClean="0"/>
              <a:t>רצון ובחירה</a:t>
            </a:r>
            <a:endParaRPr lang="he-IL" sz="1400" dirty="0"/>
          </a:p>
        </p:txBody>
      </p:sp>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sp>
        <p:nvSpPr>
          <p:cNvPr id="66" name="אליפסה 65"/>
          <p:cNvSpPr/>
          <p:nvPr/>
        </p:nvSpPr>
        <p:spPr>
          <a:xfrm>
            <a:off x="676004" y="247315"/>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smtClean="0"/>
              <a:t>שירות מותאם </a:t>
            </a:r>
            <a:r>
              <a:rPr lang="en-US" sz="1400" b="1" dirty="0" smtClean="0"/>
              <a:t>Ai</a:t>
            </a:r>
            <a:endParaRPr lang="he-IL" sz="1400" b="1" dirty="0"/>
          </a:p>
        </p:txBody>
      </p:sp>
      <p:pic>
        <p:nvPicPr>
          <p:cNvPr id="69" name="תמונה 6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Tree>
    <p:extLst>
      <p:ext uri="{BB962C8B-B14F-4D97-AF65-F5344CB8AC3E}">
        <p14:creationId xmlns:p14="http://schemas.microsoft.com/office/powerpoint/2010/main" val="35649306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7" y="5891945"/>
            <a:ext cx="4071435" cy="931341"/>
          </a:xfrm>
          <a:prstGeom prst="rect">
            <a:avLst/>
          </a:prstGeom>
        </p:spPr>
      </p:pic>
      <p:pic>
        <p:nvPicPr>
          <p:cNvPr id="1028" name="Picture 4" descr="מחקרים שפורסמו על ידי משרד הרווחה והביטחון החברתי | גראטוס">
            <a:extLst>
              <a:ext uri="{FF2B5EF4-FFF2-40B4-BE49-F238E27FC236}">
                <a16:creationId xmlns:a16="http://schemas.microsoft.com/office/drawing/2014/main" id="{A3038A59-2DEF-9A8D-50E0-FAC7032FB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28549" y="5851305"/>
            <a:ext cx="4210054" cy="1000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tvisor">
            <a:extLst>
              <a:ext uri="{FF2B5EF4-FFF2-40B4-BE49-F238E27FC236}">
                <a16:creationId xmlns:a16="http://schemas.microsoft.com/office/drawing/2014/main" id="{8C89414B-2483-4C74-D208-22F1457E17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71194" y="5824467"/>
            <a:ext cx="1188215" cy="1188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8109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rcRect t="2609" b="27099"/>
          <a:stretch>
            <a:fillRect/>
          </a:stretch>
        </p:blipFill>
        <p:spPr>
          <a:xfrm>
            <a:off x="0" y="0"/>
            <a:ext cx="12192000" cy="3592708"/>
          </a:xfrm>
          <a:custGeom>
            <a:avLst/>
            <a:gdLst>
              <a:gd name="connsiteX0" fmla="*/ 0 w 12192000"/>
              <a:gd name="connsiteY0" fmla="*/ 0 h 3592708"/>
              <a:gd name="connsiteX1" fmla="*/ 12192000 w 12192000"/>
              <a:gd name="connsiteY1" fmla="*/ 0 h 3592708"/>
              <a:gd name="connsiteX2" fmla="*/ 12192000 w 12192000"/>
              <a:gd name="connsiteY2" fmla="*/ 3592708 h 3592708"/>
              <a:gd name="connsiteX3" fmla="*/ 12031162 w 12192000"/>
              <a:gd name="connsiteY3" fmla="*/ 3565503 h 3592708"/>
              <a:gd name="connsiteX4" fmla="*/ 6096001 w 12192000"/>
              <a:gd name="connsiteY4" fmla="*/ 3321959 h 3592708"/>
              <a:gd name="connsiteX5" fmla="*/ 160840 w 12192000"/>
              <a:gd name="connsiteY5" fmla="*/ 3565503 h 3592708"/>
              <a:gd name="connsiteX6" fmla="*/ 0 w 12192000"/>
              <a:gd name="connsiteY6" fmla="*/ 3592708 h 359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592708">
                <a:moveTo>
                  <a:pt x="0" y="0"/>
                </a:moveTo>
                <a:lnTo>
                  <a:pt x="12192000" y="0"/>
                </a:lnTo>
                <a:lnTo>
                  <a:pt x="12192000" y="3592708"/>
                </a:lnTo>
                <a:lnTo>
                  <a:pt x="12031162" y="3565503"/>
                </a:lnTo>
                <a:cubicBezTo>
                  <a:pt x="11053311" y="3422383"/>
                  <a:pt x="8764098" y="3321959"/>
                  <a:pt x="6096001" y="3321959"/>
                </a:cubicBezTo>
                <a:cubicBezTo>
                  <a:pt x="3427905" y="3321959"/>
                  <a:pt x="1138691" y="3422383"/>
                  <a:pt x="160840" y="3565503"/>
                </a:cubicBezTo>
                <a:lnTo>
                  <a:pt x="0" y="3592708"/>
                </a:lnTo>
                <a:close/>
              </a:path>
            </a:pathLst>
          </a:custGeom>
        </p:spPr>
      </p:pic>
      <p:sp>
        <p:nvSpPr>
          <p:cNvPr id="20" name="Freeform 7">
            <a:extLst>
              <a:ext uri="{FF2B5EF4-FFF2-40B4-BE49-F238E27FC236}">
                <a16:creationId xmlns:a16="http://schemas.microsoft.com/office/drawing/2014/main" id="{11633DE3-36F3-4670-AEDC-D5D1429B7979}"/>
              </a:ext>
            </a:extLst>
          </p:cNvPr>
          <p:cNvSpPr/>
          <p:nvPr/>
        </p:nvSpPr>
        <p:spPr>
          <a:xfrm>
            <a:off x="0" y="0"/>
            <a:ext cx="12192000" cy="3592708"/>
          </a:xfrm>
          <a:custGeom>
            <a:avLst/>
            <a:gdLst>
              <a:gd name="connsiteX0" fmla="*/ 0 w 12192000"/>
              <a:gd name="connsiteY0" fmla="*/ 0 h 3309594"/>
              <a:gd name="connsiteX1" fmla="*/ 12192000 w 12192000"/>
              <a:gd name="connsiteY1" fmla="*/ 0 h 3309594"/>
              <a:gd name="connsiteX2" fmla="*/ 12192000 w 12192000"/>
              <a:gd name="connsiteY2" fmla="*/ 3309594 h 3309594"/>
              <a:gd name="connsiteX3" fmla="*/ 12031162 w 12192000"/>
              <a:gd name="connsiteY3" fmla="*/ 3284533 h 3309594"/>
              <a:gd name="connsiteX4" fmla="*/ 6096001 w 12192000"/>
              <a:gd name="connsiteY4" fmla="*/ 3060181 h 3309594"/>
              <a:gd name="connsiteX5" fmla="*/ 160840 w 12192000"/>
              <a:gd name="connsiteY5" fmla="*/ 3284533 h 3309594"/>
              <a:gd name="connsiteX6" fmla="*/ 0 w 12192000"/>
              <a:gd name="connsiteY6" fmla="*/ 3309594 h 330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309594">
                <a:moveTo>
                  <a:pt x="0" y="0"/>
                </a:moveTo>
                <a:lnTo>
                  <a:pt x="12192000" y="0"/>
                </a:lnTo>
                <a:lnTo>
                  <a:pt x="12192000" y="3309594"/>
                </a:lnTo>
                <a:lnTo>
                  <a:pt x="12031162" y="3284533"/>
                </a:lnTo>
                <a:cubicBezTo>
                  <a:pt x="11053311" y="3152691"/>
                  <a:pt x="8764098" y="3060181"/>
                  <a:pt x="6096001" y="3060181"/>
                </a:cubicBezTo>
                <a:cubicBezTo>
                  <a:pt x="3427905" y="3060181"/>
                  <a:pt x="1138691" y="3152691"/>
                  <a:pt x="160840" y="3284533"/>
                </a:cubicBezTo>
                <a:lnTo>
                  <a:pt x="0" y="3309594"/>
                </a:lnTo>
                <a:close/>
              </a:path>
            </a:pathLst>
          </a:custGeom>
          <a:solidFill>
            <a:srgbClr val="1F1C3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C773E972-0CD9-471D-B81F-042C0654673E}"/>
              </a:ext>
            </a:extLst>
          </p:cNvPr>
          <p:cNvSpPr/>
          <p:nvPr/>
        </p:nvSpPr>
        <p:spPr>
          <a:xfrm rot="16200000">
            <a:off x="5458443" y="-2851618"/>
            <a:ext cx="1275114" cy="12192000"/>
          </a:xfrm>
          <a:custGeom>
            <a:avLst/>
            <a:gdLst>
              <a:gd name="connsiteX0" fmla="*/ 734672 w 734672"/>
              <a:gd name="connsiteY0" fmla="*/ 6096001 h 12192000"/>
              <a:gd name="connsiteX1" fmla="*/ 510320 w 734672"/>
              <a:gd name="connsiteY1" fmla="*/ 12031162 h 12192000"/>
              <a:gd name="connsiteX2" fmla="*/ 485259 w 734672"/>
              <a:gd name="connsiteY2" fmla="*/ 12192000 h 12192000"/>
              <a:gd name="connsiteX3" fmla="*/ 0 w 734672"/>
              <a:gd name="connsiteY3" fmla="*/ 12192000 h 12192000"/>
              <a:gd name="connsiteX4" fmla="*/ 0 w 734672"/>
              <a:gd name="connsiteY4" fmla="*/ 0 h 12192000"/>
              <a:gd name="connsiteX5" fmla="*/ 485259 w 734672"/>
              <a:gd name="connsiteY5" fmla="*/ 0 h 12192000"/>
              <a:gd name="connsiteX6" fmla="*/ 510320 w 734672"/>
              <a:gd name="connsiteY6" fmla="*/ 160840 h 12192000"/>
              <a:gd name="connsiteX7" fmla="*/ 734672 w 734672"/>
              <a:gd name="connsiteY7" fmla="*/ 6096001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4672" h="12192000">
                <a:moveTo>
                  <a:pt x="734672" y="6096001"/>
                </a:moveTo>
                <a:cubicBezTo>
                  <a:pt x="734672" y="8764097"/>
                  <a:pt x="642162" y="11053311"/>
                  <a:pt x="510320" y="12031162"/>
                </a:cubicBezTo>
                <a:lnTo>
                  <a:pt x="485259" y="12192000"/>
                </a:lnTo>
                <a:lnTo>
                  <a:pt x="0" y="12192000"/>
                </a:lnTo>
                <a:lnTo>
                  <a:pt x="0" y="0"/>
                </a:lnTo>
                <a:lnTo>
                  <a:pt x="485259" y="0"/>
                </a:lnTo>
                <a:lnTo>
                  <a:pt x="510320" y="160840"/>
                </a:lnTo>
                <a:cubicBezTo>
                  <a:pt x="642162" y="1138691"/>
                  <a:pt x="734672" y="3427905"/>
                  <a:pt x="734672" y="609600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240064B6-3696-438E-87B0-A13914A9AD16}"/>
              </a:ext>
            </a:extLst>
          </p:cNvPr>
          <p:cNvSpPr/>
          <p:nvPr/>
        </p:nvSpPr>
        <p:spPr>
          <a:xfrm>
            <a:off x="-234462" y="3013931"/>
            <a:ext cx="12406511" cy="3235437"/>
          </a:xfrm>
          <a:prstGeom prst="rect">
            <a:avLst/>
          </a:prstGeom>
        </p:spPr>
        <p:txBody>
          <a:bodyPr wrap="square">
            <a:spAutoFit/>
          </a:bodyPr>
          <a:lstStyle/>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של שירותים להזדקנות מיטבית דרך: בניית תכנית אישית מבוססת נתונים, זקנה פעילה ומניעת התדרדרות </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התאמה אישית </a:t>
            </a:r>
            <a:r>
              <a:rPr lang="he-IL" sz="2100" spc="-5" dirty="0">
                <a:latin typeface="Calibri" panose="020F0502020204030204" pitchFamily="34" charset="0"/>
                <a:cs typeface="Calibri" panose="020F0502020204030204" pitchFamily="34" charset="0"/>
              </a:rPr>
              <a:t>– קבלת החלטה על בחירת שירות בהתבסס על נתונים- חוויות אישיות של משתמשים (</a:t>
            </a:r>
            <a:r>
              <a:rPr lang="en-US" sz="2100" spc="-5" dirty="0">
                <a:latin typeface="Calibri" panose="020F0502020204030204" pitchFamily="34" charset="0"/>
                <a:cs typeface="Calibri" panose="020F0502020204030204" pitchFamily="34" charset="0"/>
              </a:rPr>
              <a:t>Lived experiences</a:t>
            </a:r>
            <a:r>
              <a:rPr lang="he-IL" sz="2100" spc="-5" dirty="0">
                <a:latin typeface="Calibri" panose="020F0502020204030204" pitchFamily="34" charset="0"/>
                <a:cs typeface="Calibri" panose="020F0502020204030204" pitchFamily="34" charset="0"/>
              </a:rPr>
              <a:t>) בשילוב עם שירות התאמה וייעוץ מקצועי.</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פתיחת השוק </a:t>
            </a:r>
            <a:r>
              <a:rPr lang="he-IL" sz="2100" spc="-5" dirty="0">
                <a:latin typeface="Calibri" panose="020F0502020204030204" pitchFamily="34" charset="0"/>
                <a:cs typeface="Calibri" panose="020F0502020204030204" pitchFamily="34" charset="0"/>
              </a:rPr>
              <a:t>– היצע רחב היקף של שירותים אשר עוצבו ייחודית עבור אזרחים ותיקים לצד שירותים מהשוק הפתוח</a:t>
            </a:r>
          </a:p>
          <a:p>
            <a:pPr marL="342900" indent="-342900" algn="r" rtl="1">
              <a:lnSpc>
                <a:spcPct val="150000"/>
              </a:lnSpc>
              <a:spcAft>
                <a:spcPts val="2000"/>
              </a:spcAft>
              <a:buFont typeface="Arial" panose="020B0604020202020204" pitchFamily="34" charset="0"/>
              <a:buChar char="•"/>
            </a:pPr>
            <a:r>
              <a:rPr lang="he-IL" sz="2100" b="1" spc="-5" dirty="0">
                <a:latin typeface="Calibri" panose="020F0502020204030204" pitchFamily="34" charset="0"/>
                <a:cs typeface="Calibri" panose="020F0502020204030204" pitchFamily="34" charset="0"/>
              </a:rPr>
              <a:t>דיגיטציה</a:t>
            </a:r>
            <a:r>
              <a:rPr lang="he-IL" sz="2100" spc="-5" dirty="0">
                <a:latin typeface="Calibri" panose="020F0502020204030204" pitchFamily="34" charset="0"/>
                <a:cs typeface="Calibri" panose="020F0502020204030204" pitchFamily="34" charset="0"/>
              </a:rPr>
              <a:t> – שירות דיגיטלי ואנושי משולב לייעול תהליך ההתאמה והרכש. מאפשר שילוב של מנגנוני סבסוד ותקצוב אישי.  </a:t>
            </a:r>
            <a:endParaRPr lang="en-US" sz="2100" spc="-5" dirty="0">
              <a:latin typeface="Calibri" panose="020F0502020204030204" pitchFamily="34" charset="0"/>
              <a:cs typeface="Calibri" panose="020F0502020204030204" pitchFamily="34" charset="0"/>
            </a:endParaRPr>
          </a:p>
        </p:txBody>
      </p:sp>
      <p:grpSp>
        <p:nvGrpSpPr>
          <p:cNvPr id="28" name="Group 27">
            <a:extLst>
              <a:ext uri="{FF2B5EF4-FFF2-40B4-BE49-F238E27FC236}">
                <a16:creationId xmlns:a16="http://schemas.microsoft.com/office/drawing/2014/main" id="{6C2890C3-212A-4CD1-BAC7-14F9D19EEFC9}"/>
              </a:ext>
            </a:extLst>
          </p:cNvPr>
          <p:cNvGrpSpPr/>
          <p:nvPr/>
        </p:nvGrpSpPr>
        <p:grpSpPr>
          <a:xfrm>
            <a:off x="5136827" y="51519"/>
            <a:ext cx="1915297" cy="592268"/>
            <a:chOff x="5138351" y="260961"/>
            <a:chExt cx="1915297" cy="592268"/>
          </a:xfrm>
        </p:grpSpPr>
        <p:pic>
          <p:nvPicPr>
            <p:cNvPr id="26" name="Picture 25" descr="Text&#10;&#10;Description automatically generated with medium confidence">
              <a:extLst>
                <a:ext uri="{FF2B5EF4-FFF2-40B4-BE49-F238E27FC236}">
                  <a16:creationId xmlns:a16="http://schemas.microsoft.com/office/drawing/2014/main" id="{992C9F51-9197-4865-8ABE-60E04157FE5D}"/>
                </a:ext>
              </a:extLst>
            </p:cNvPr>
            <p:cNvPicPr>
              <a:picLocks noChangeAspect="1"/>
            </p:cNvPicPr>
            <p:nvPr/>
          </p:nvPicPr>
          <p:blipFill rotWithShape="1">
            <a:blip r:embed="rId3" cstate="print">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val="0"/>
                </a:ext>
              </a:extLst>
            </a:blip>
            <a:srcRect l="28312"/>
            <a:stretch/>
          </p:blipFill>
          <p:spPr>
            <a:xfrm>
              <a:off x="5680616" y="260961"/>
              <a:ext cx="1373032" cy="592268"/>
            </a:xfrm>
            <a:prstGeom prst="rect">
              <a:avLst/>
            </a:prstGeom>
          </p:spPr>
        </p:pic>
        <p:pic>
          <p:nvPicPr>
            <p:cNvPr id="27" name="Picture 26" descr="Text&#10;&#10;Description automatically generated with medium confidence">
              <a:extLst>
                <a:ext uri="{FF2B5EF4-FFF2-40B4-BE49-F238E27FC236}">
                  <a16:creationId xmlns:a16="http://schemas.microsoft.com/office/drawing/2014/main" id="{81FC9187-2B22-454D-AD17-642689307186}"/>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71688"/>
            <a:stretch/>
          </p:blipFill>
          <p:spPr>
            <a:xfrm>
              <a:off x="5138351" y="260961"/>
              <a:ext cx="542265" cy="592268"/>
            </a:xfrm>
            <a:prstGeom prst="rect">
              <a:avLst/>
            </a:prstGeom>
          </p:spPr>
        </p:pic>
      </p:grpSp>
      <p:sp>
        <p:nvSpPr>
          <p:cNvPr id="29" name="Rectangle 28">
            <a:extLst>
              <a:ext uri="{FF2B5EF4-FFF2-40B4-BE49-F238E27FC236}">
                <a16:creationId xmlns:a16="http://schemas.microsoft.com/office/drawing/2014/main" id="{5DCA733B-9C47-4447-A6DC-AFEC49B53836}"/>
              </a:ext>
            </a:extLst>
          </p:cNvPr>
          <p:cNvSpPr/>
          <p:nvPr/>
        </p:nvSpPr>
        <p:spPr>
          <a:xfrm>
            <a:off x="2250831" y="408430"/>
            <a:ext cx="5556331" cy="1754326"/>
          </a:xfrm>
          <a:prstGeom prst="rect">
            <a:avLst/>
          </a:prstGeom>
        </p:spPr>
        <p:txBody>
          <a:bodyPr wrap="square" anchor="ctr">
            <a:spAutoFit/>
          </a:bodyPr>
          <a:lstStyle/>
          <a:p>
            <a:pPr algn="ctr"/>
            <a:r>
              <a:rPr lang="he-IL" sz="5400" b="1" dirty="0">
                <a:solidFill>
                  <a:schemeClr val="bg1"/>
                </a:solidFill>
                <a:latin typeface="Calibri" panose="020F0502020204030204" pitchFamily="34" charset="0"/>
                <a:cs typeface="Calibri" panose="020F0502020204030204" pitchFamily="34" charset="0"/>
              </a:rPr>
              <a:t>המשימה- ביזור 2.0 לאזרח הוותיק</a:t>
            </a:r>
            <a:endParaRPr lang="en-US" sz="5400" b="1" dirty="0">
              <a:solidFill>
                <a:schemeClr val="bg1"/>
              </a:solidFill>
              <a:latin typeface="Calibri" panose="020F0502020204030204" pitchFamily="34" charset="0"/>
              <a:cs typeface="Calibri" panose="020F0502020204030204" pitchFamily="34" charset="0"/>
            </a:endParaRPr>
          </a:p>
        </p:txBody>
      </p:sp>
      <p:grpSp>
        <p:nvGrpSpPr>
          <p:cNvPr id="4" name="Group 3">
            <a:extLst>
              <a:ext uri="{FF2B5EF4-FFF2-40B4-BE49-F238E27FC236}">
                <a16:creationId xmlns:a16="http://schemas.microsoft.com/office/drawing/2014/main" id="{A9B0296B-43FE-42D8-BD17-1C6AF3D7396C}"/>
              </a:ext>
            </a:extLst>
          </p:cNvPr>
          <p:cNvGrpSpPr/>
          <p:nvPr/>
        </p:nvGrpSpPr>
        <p:grpSpPr>
          <a:xfrm>
            <a:off x="5662188" y="2183163"/>
            <a:ext cx="830768" cy="830768"/>
            <a:chOff x="5680615" y="3375472"/>
            <a:chExt cx="830768" cy="830768"/>
          </a:xfrm>
        </p:grpSpPr>
        <p:sp>
          <p:nvSpPr>
            <p:cNvPr id="24" name="Oval 23">
              <a:extLst>
                <a:ext uri="{FF2B5EF4-FFF2-40B4-BE49-F238E27FC236}">
                  <a16:creationId xmlns:a16="http://schemas.microsoft.com/office/drawing/2014/main" id="{110C3C57-F28A-446E-BBC5-EEAAA1A3CE78}"/>
                </a:ext>
              </a:extLst>
            </p:cNvPr>
            <p:cNvSpPr/>
            <p:nvPr/>
          </p:nvSpPr>
          <p:spPr>
            <a:xfrm>
              <a:off x="5680615" y="3375472"/>
              <a:ext cx="830768" cy="830768"/>
            </a:xfrm>
            <a:prstGeom prst="ellipse">
              <a:avLst/>
            </a:prstGeom>
            <a:solidFill>
              <a:srgbClr val="5EC5C5"/>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5865876" y="3530172"/>
              <a:ext cx="457200" cy="457200"/>
            </a:xfrm>
            <a:prstGeom prst="rect">
              <a:avLst/>
            </a:prstGeom>
          </p:spPr>
        </p:pic>
      </p:grpSp>
    </p:spTree>
    <p:extLst>
      <p:ext uri="{BB962C8B-B14F-4D97-AF65-F5344CB8AC3E}">
        <p14:creationId xmlns:p14="http://schemas.microsoft.com/office/powerpoint/2010/main" val="14456863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Oval 48">
            <a:extLst>
              <a:ext uri="{FF2B5EF4-FFF2-40B4-BE49-F238E27FC236}">
                <a16:creationId xmlns:a16="http://schemas.microsoft.com/office/drawing/2014/main" id="{4DF9634B-67A4-49F0-9969-8E79441EAEEF}"/>
              </a:ext>
            </a:extLst>
          </p:cNvPr>
          <p:cNvSpPr/>
          <p:nvPr/>
        </p:nvSpPr>
        <p:spPr>
          <a:xfrm>
            <a:off x="749334" y="1585046"/>
            <a:ext cx="4922776" cy="4860395"/>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rcRect l="17108" r="17108"/>
          <a:stretch>
            <a:fillRect/>
          </a:stretch>
        </p:blipFill>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p:spPr>
      </p:pic>
      <p:sp>
        <p:nvSpPr>
          <p:cNvPr id="43" name="Freeform 42"/>
          <p:cNvSpPr/>
          <p:nvPr/>
        </p:nvSpPr>
        <p:spPr>
          <a:xfrm>
            <a:off x="779266" y="1336973"/>
            <a:ext cx="5001768" cy="5001768"/>
          </a:xfrm>
          <a:custGeom>
            <a:avLst/>
            <a:gdLst>
              <a:gd name="connsiteX0" fmla="*/ 2500884 w 5001768"/>
              <a:gd name="connsiteY0" fmla="*/ 0 h 5001768"/>
              <a:gd name="connsiteX1" fmla="*/ 5001768 w 5001768"/>
              <a:gd name="connsiteY1" fmla="*/ 2500884 h 5001768"/>
              <a:gd name="connsiteX2" fmla="*/ 2500884 w 5001768"/>
              <a:gd name="connsiteY2" fmla="*/ 5001768 h 5001768"/>
              <a:gd name="connsiteX3" fmla="*/ 0 w 5001768"/>
              <a:gd name="connsiteY3" fmla="*/ 2500884 h 5001768"/>
              <a:gd name="connsiteX4" fmla="*/ 2500884 w 5001768"/>
              <a:gd name="connsiteY4" fmla="*/ 0 h 5001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1768" h="5001768">
                <a:moveTo>
                  <a:pt x="2500884" y="0"/>
                </a:moveTo>
                <a:cubicBezTo>
                  <a:pt x="3882084" y="0"/>
                  <a:pt x="5001768" y="1119684"/>
                  <a:pt x="5001768" y="2500884"/>
                </a:cubicBezTo>
                <a:cubicBezTo>
                  <a:pt x="5001768" y="3882084"/>
                  <a:pt x="3882084" y="5001768"/>
                  <a:pt x="2500884" y="5001768"/>
                </a:cubicBezTo>
                <a:cubicBezTo>
                  <a:pt x="1119684" y="5001768"/>
                  <a:pt x="0" y="3882084"/>
                  <a:pt x="0" y="2500884"/>
                </a:cubicBezTo>
                <a:cubicBezTo>
                  <a:pt x="0" y="1119684"/>
                  <a:pt x="1119684" y="0"/>
                  <a:pt x="2500884" y="0"/>
                </a:cubicBezTo>
                <a:close/>
              </a:path>
            </a:pathLst>
          </a:cu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pPr algn="ctr"/>
            <a:r>
              <a:rPr lang="he-IL" dirty="0">
                <a:latin typeface="Calibri" panose="020F0502020204030204" pitchFamily="34" charset="0"/>
                <a:cs typeface="Calibri" panose="020F0502020204030204" pitchFamily="34" charset="0"/>
              </a:rPr>
              <a:t>אטוייזור על קצה המזלג</a:t>
            </a:r>
            <a:endParaRPr lang="en-US" dirty="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5D715D4-8FF3-45BB-AB14-A03823BBCEF0}"/>
              </a:ext>
            </a:extLst>
          </p:cNvPr>
          <p:cNvSpPr/>
          <p:nvPr/>
        </p:nvSpPr>
        <p:spPr>
          <a:xfrm>
            <a:off x="6900322" y="777569"/>
            <a:ext cx="4951342" cy="5302862"/>
          </a:xfrm>
          <a:prstGeom prst="rect">
            <a:avLst/>
          </a:prstGeom>
        </p:spPr>
        <p:txBody>
          <a:bodyPr wrap="square">
            <a:spAutoFit/>
          </a:bodyPr>
          <a:lstStyle/>
          <a:p>
            <a:pPr algn="r" rtl="1">
              <a:lnSpc>
                <a:spcPct val="150000"/>
              </a:lnSpc>
              <a:spcAft>
                <a:spcPts val="1800"/>
              </a:spcAft>
              <a:buClr>
                <a:srgbClr val="012470"/>
              </a:buClr>
            </a:pPr>
            <a:endParaRPr lang="he-IL" sz="2200" dirty="0">
              <a:latin typeface="Calibri" panose="020F0502020204030204" pitchFamily="34" charset="0"/>
              <a:cs typeface="Calibri" panose="020F0502020204030204" pitchFamily="34" charset="0"/>
            </a:endParaRP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הטכנולוגיה של אטוייזור מאפשרת חיבור בין האדם – צרכיו, העדפותיו ויעדיו האישיים לבין טכנולוגיות ושירותים המתאימים לו.</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הפלטפורמה מבוססת </a:t>
            </a:r>
            <a:r>
              <a:rPr lang="en-US" sz="2200" dirty="0">
                <a:latin typeface="Calibri" panose="020F0502020204030204" pitchFamily="34" charset="0"/>
                <a:cs typeface="Calibri" panose="020F0502020204030204" pitchFamily="34" charset="0"/>
              </a:rPr>
              <a:t>ICF</a:t>
            </a:r>
            <a:r>
              <a:rPr lang="he-IL" sz="2200" dirty="0">
                <a:latin typeface="Calibri" panose="020F0502020204030204" pitchFamily="34" charset="0"/>
                <a:cs typeface="Calibri" panose="020F0502020204030204" pitchFamily="34" charset="0"/>
              </a:rPr>
              <a:t> ובנויה לפי עקרונות של שירות מוכוון אדם. </a:t>
            </a:r>
          </a:p>
          <a:p>
            <a:pPr marL="342900" indent="-342900" algn="r" rtl="1">
              <a:lnSpc>
                <a:spcPct val="150000"/>
              </a:lnSpc>
              <a:spcAft>
                <a:spcPts val="1800"/>
              </a:spcAft>
              <a:buClr>
                <a:srgbClr val="012470"/>
              </a:buClr>
              <a:buFont typeface="Arial" panose="020B0604020202020204" pitchFamily="34" charset="0"/>
              <a:buChar char="•"/>
            </a:pPr>
            <a:r>
              <a:rPr lang="he-IL" sz="2200" dirty="0">
                <a:latin typeface="Calibri" panose="020F0502020204030204" pitchFamily="34" charset="0"/>
                <a:cs typeface="Calibri" panose="020F0502020204030204" pitchFamily="34" charset="0"/>
              </a:rPr>
              <a:t>כוללת אפשרויות ייעוץ והתאמה, רכישה וסבסוד וכן תמיכה ושירות לקוחות אנושי, כדי לאפשר שירות מיטבי ומותאם ללקוח.</a:t>
            </a:r>
            <a:endParaRPr lang="en-US" sz="2200" dirty="0">
              <a:latin typeface="Calibri" panose="020F0502020204030204" pitchFamily="34" charset="0"/>
              <a:cs typeface="Calibri" panose="020F0502020204030204" pitchFamily="34" charset="0"/>
            </a:endParaRPr>
          </a:p>
        </p:txBody>
      </p:sp>
      <p:sp>
        <p:nvSpPr>
          <p:cNvPr id="46" name="Oval 45">
            <a:extLst>
              <a:ext uri="{FF2B5EF4-FFF2-40B4-BE49-F238E27FC236}">
                <a16:creationId xmlns:a16="http://schemas.microsoft.com/office/drawing/2014/main" id="{CC43C2CF-3BBA-4BD2-B778-7B766FE6B284}"/>
              </a:ext>
            </a:extLst>
          </p:cNvPr>
          <p:cNvSpPr/>
          <p:nvPr/>
        </p:nvSpPr>
        <p:spPr>
          <a:xfrm>
            <a:off x="1506033" y="1498111"/>
            <a:ext cx="188894" cy="188894"/>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CB7FF5F2-EDA0-44FE-8B13-29FBF5CA90DA}"/>
              </a:ext>
            </a:extLst>
          </p:cNvPr>
          <p:cNvGrpSpPr>
            <a:grpSpLocks noChangeAspect="1"/>
          </p:cNvGrpSpPr>
          <p:nvPr/>
        </p:nvGrpSpPr>
        <p:grpSpPr>
          <a:xfrm>
            <a:off x="1286177" y="3837857"/>
            <a:ext cx="742062" cy="728464"/>
            <a:chOff x="364098" y="2811949"/>
            <a:chExt cx="731520" cy="718114"/>
          </a:xfrm>
        </p:grpSpPr>
        <p:sp>
          <p:nvSpPr>
            <p:cNvPr id="40" name="Flowchart: Connector 39">
              <a:extLst>
                <a:ext uri="{FF2B5EF4-FFF2-40B4-BE49-F238E27FC236}">
                  <a16:creationId xmlns:a16="http://schemas.microsoft.com/office/drawing/2014/main" id="{AC1556C1-DD66-4199-8A14-65941D7DB5BD}"/>
                </a:ext>
              </a:extLst>
            </p:cNvPr>
            <p:cNvSpPr/>
            <p:nvPr/>
          </p:nvSpPr>
          <p:spPr>
            <a:xfrm>
              <a:off x="364098" y="2829877"/>
              <a:ext cx="700186" cy="700186"/>
            </a:xfrm>
            <a:prstGeom prst="flowChartConnector">
              <a:avLst/>
            </a:prstGeom>
            <a:noFill/>
            <a:ln w="12700">
              <a:solidFill>
                <a:srgbClr val="1F1C3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lowchart: Connector 40">
              <a:extLst>
                <a:ext uri="{FF2B5EF4-FFF2-40B4-BE49-F238E27FC236}">
                  <a16:creationId xmlns:a16="http://schemas.microsoft.com/office/drawing/2014/main" id="{AC05A67A-B3A8-4FC7-B044-C0B8DEADEA24}"/>
                </a:ext>
              </a:extLst>
            </p:cNvPr>
            <p:cNvSpPr/>
            <p:nvPr/>
          </p:nvSpPr>
          <p:spPr>
            <a:xfrm>
              <a:off x="451083" y="2916862"/>
              <a:ext cx="526216" cy="526216"/>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Block Arc 41">
              <a:extLst>
                <a:ext uri="{FF2B5EF4-FFF2-40B4-BE49-F238E27FC236}">
                  <a16:creationId xmlns:a16="http://schemas.microsoft.com/office/drawing/2014/main" id="{D321044E-D368-4830-87E6-7740B9DF04D0}"/>
                </a:ext>
              </a:extLst>
            </p:cNvPr>
            <p:cNvSpPr/>
            <p:nvPr/>
          </p:nvSpPr>
          <p:spPr>
            <a:xfrm>
              <a:off x="393997" y="2811949"/>
              <a:ext cx="701621" cy="701621"/>
            </a:xfrm>
            <a:prstGeom prst="blockArc">
              <a:avLst>
                <a:gd name="adj1" fmla="val 17211657"/>
                <a:gd name="adj2" fmla="val 98077"/>
                <a:gd name="adj3" fmla="val 8163"/>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90439" y="4061208"/>
            <a:ext cx="301752" cy="301752"/>
          </a:xfrm>
          <a:prstGeom prst="rect">
            <a:avLst/>
          </a:prstGeom>
        </p:spPr>
      </p:pic>
      <p:sp>
        <p:nvSpPr>
          <p:cNvPr id="34" name="Flowchart: Connector 33">
            <a:extLst>
              <a:ext uri="{FF2B5EF4-FFF2-40B4-BE49-F238E27FC236}">
                <a16:creationId xmlns:a16="http://schemas.microsoft.com/office/drawing/2014/main" id="{278518FE-8D6A-4994-8D77-3FF2713F62D2}"/>
              </a:ext>
            </a:extLst>
          </p:cNvPr>
          <p:cNvSpPr/>
          <p:nvPr/>
        </p:nvSpPr>
        <p:spPr>
          <a:xfrm>
            <a:off x="1286177" y="1292364"/>
            <a:ext cx="710276" cy="710278"/>
          </a:xfrm>
          <a:prstGeom prst="flowChartConnector">
            <a:avLst/>
          </a:prstGeom>
          <a:noFill/>
          <a:ln w="12700">
            <a:solidFill>
              <a:srgbClr val="5EC5C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lowchart: Connector 34">
            <a:extLst>
              <a:ext uri="{FF2B5EF4-FFF2-40B4-BE49-F238E27FC236}">
                <a16:creationId xmlns:a16="http://schemas.microsoft.com/office/drawing/2014/main" id="{E1EA04D8-86A4-4297-9CC8-10ECCD30AC71}"/>
              </a:ext>
            </a:extLst>
          </p:cNvPr>
          <p:cNvSpPr/>
          <p:nvPr/>
        </p:nvSpPr>
        <p:spPr>
          <a:xfrm>
            <a:off x="1374416" y="1380603"/>
            <a:ext cx="533799" cy="533800"/>
          </a:xfrm>
          <a:prstGeom prst="flowChartConnector">
            <a:avLst/>
          </a:prstGeom>
          <a:solidFill>
            <a:schemeClr val="bg1"/>
          </a:solidFill>
          <a:ln>
            <a:noFill/>
          </a:ln>
          <a:effectLst>
            <a:outerShdw blurRad="63500" sx="99000" sy="99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DA7F856F-2912-4C20-B0BE-7CC7B1C01EEC}"/>
              </a:ext>
            </a:extLst>
          </p:cNvPr>
          <p:cNvSpPr/>
          <p:nvPr/>
        </p:nvSpPr>
        <p:spPr>
          <a:xfrm>
            <a:off x="1316507" y="1274178"/>
            <a:ext cx="711732" cy="711733"/>
          </a:xfrm>
          <a:prstGeom prst="blockArc">
            <a:avLst>
              <a:gd name="adj1" fmla="val 17211657"/>
              <a:gd name="adj2" fmla="val 98077"/>
              <a:gd name="adj3" fmla="val 8163"/>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5083" y="1481585"/>
            <a:ext cx="301752" cy="301752"/>
          </a:xfrm>
          <a:prstGeom prst="rect">
            <a:avLst/>
          </a:prstGeom>
        </p:spPr>
      </p:pic>
      <p:sp>
        <p:nvSpPr>
          <p:cNvPr id="47" name="Oval 46">
            <a:extLst>
              <a:ext uri="{FF2B5EF4-FFF2-40B4-BE49-F238E27FC236}">
                <a16:creationId xmlns:a16="http://schemas.microsoft.com/office/drawing/2014/main" id="{89BA0B02-98B4-446C-BBDD-78896E3018BA}"/>
              </a:ext>
            </a:extLst>
          </p:cNvPr>
          <p:cNvSpPr/>
          <p:nvPr/>
        </p:nvSpPr>
        <p:spPr>
          <a:xfrm>
            <a:off x="656009" y="1822725"/>
            <a:ext cx="944471" cy="94447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Text&#10;&#10;Description automatically generated with medium confidence">
            <a:extLst>
              <a:ext uri="{FF2B5EF4-FFF2-40B4-BE49-F238E27FC236}">
                <a16:creationId xmlns:a16="http://schemas.microsoft.com/office/drawing/2014/main" id="{786521AC-AF58-4D0C-AC2D-55292CB6040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443" t="18263" r="74820" b="13638"/>
          <a:stretch/>
        </p:blipFill>
        <p:spPr>
          <a:xfrm>
            <a:off x="903133" y="2070424"/>
            <a:ext cx="450221" cy="457200"/>
          </a:xfrm>
          <a:prstGeom prst="ellipse">
            <a:avLst/>
          </a:prstGeom>
          <a:noFill/>
          <a:ln>
            <a:noFill/>
          </a:ln>
        </p:spPr>
      </p:pic>
    </p:spTree>
    <p:extLst>
      <p:ext uri="{BB962C8B-B14F-4D97-AF65-F5344CB8AC3E}">
        <p14:creationId xmlns:p14="http://schemas.microsoft.com/office/powerpoint/2010/main" val="211850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B65CF1-7579-A7B5-CE04-CEDD31660D04}"/>
              </a:ext>
            </a:extLst>
          </p:cNvPr>
          <p:cNvPicPr>
            <a:picLocks noChangeAspect="1"/>
          </p:cNvPicPr>
          <p:nvPr/>
        </p:nvPicPr>
        <p:blipFill>
          <a:blip r:embed="rId3"/>
          <a:stretch>
            <a:fillRect/>
          </a:stretch>
        </p:blipFill>
        <p:spPr>
          <a:xfrm>
            <a:off x="0" y="368139"/>
            <a:ext cx="12192000" cy="6121722"/>
          </a:xfrm>
          <a:prstGeom prst="rect">
            <a:avLst/>
          </a:prstGeom>
        </p:spPr>
      </p:pic>
    </p:spTree>
    <p:extLst>
      <p:ext uri="{BB962C8B-B14F-4D97-AF65-F5344CB8AC3E}">
        <p14:creationId xmlns:p14="http://schemas.microsoft.com/office/powerpoint/2010/main" val="29895475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p:cNvPicPr>
            <a:picLocks noChangeAspect="1"/>
          </p:cNvPicPr>
          <p:nvPr/>
        </p:nvPicPr>
        <p:blipFill>
          <a:blip r:embed="rId3">
            <a:extLst>
              <a:ext uri="{28A0092B-C50C-407E-A947-70E740481C1C}">
                <a14:useLocalDpi xmlns:a14="http://schemas.microsoft.com/office/drawing/2010/main" val="0"/>
              </a:ext>
            </a:extLst>
          </a:blip>
          <a:srcRect l="56930" r="6916"/>
          <a:stretch>
            <a:fillRect/>
          </a:stretch>
        </p:blipFill>
        <p:spPr>
          <a:xfrm>
            <a:off x="8473987" y="0"/>
            <a:ext cx="3718013" cy="6858000"/>
          </a:xfrm>
          <a:custGeom>
            <a:avLst/>
            <a:gdLst>
              <a:gd name="connsiteX0" fmla="*/ 0 w 3718013"/>
              <a:gd name="connsiteY0" fmla="*/ 0 h 6858000"/>
              <a:gd name="connsiteX1" fmla="*/ 3718013 w 3718013"/>
              <a:gd name="connsiteY1" fmla="*/ 0 h 6858000"/>
              <a:gd name="connsiteX2" fmla="*/ 3718013 w 3718013"/>
              <a:gd name="connsiteY2" fmla="*/ 6858000 h 6858000"/>
              <a:gd name="connsiteX3" fmla="*/ 0 w 371801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718013" h="6858000">
                <a:moveTo>
                  <a:pt x="0" y="0"/>
                </a:moveTo>
                <a:lnTo>
                  <a:pt x="3718013" y="0"/>
                </a:lnTo>
                <a:lnTo>
                  <a:pt x="3718013" y="6858000"/>
                </a:lnTo>
                <a:lnTo>
                  <a:pt x="0" y="6858000"/>
                </a:lnTo>
                <a:close/>
              </a:path>
            </a:pathLst>
          </a:custGeom>
        </p:spPr>
      </p:pic>
      <p:sp>
        <p:nvSpPr>
          <p:cNvPr id="43" name="Rectangle 42">
            <a:extLst>
              <a:ext uri="{FF2B5EF4-FFF2-40B4-BE49-F238E27FC236}">
                <a16:creationId xmlns:a16="http://schemas.microsoft.com/office/drawing/2014/main" id="{3F82CA97-14FF-4E58-B0EF-503972342F6F}"/>
              </a:ext>
            </a:extLst>
          </p:cNvPr>
          <p:cNvSpPr/>
          <p:nvPr/>
        </p:nvSpPr>
        <p:spPr>
          <a:xfrm>
            <a:off x="8473987" y="0"/>
            <a:ext cx="3718013" cy="6858000"/>
          </a:xfrm>
          <a:prstGeom prst="rect">
            <a:avLst/>
          </a:prstGeom>
          <a:gradFill flip="none" rotWithShape="1">
            <a:gsLst>
              <a:gs pos="5000">
                <a:schemeClr val="bg1"/>
              </a:gs>
              <a:gs pos="100000">
                <a:schemeClr val="bg1">
                  <a:alpha val="88000"/>
                </a:schemeClr>
              </a:gs>
              <a:gs pos="50000">
                <a:schemeClr val="bg1">
                  <a:alpha val="94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lstStyle/>
          <a:p>
            <a:pPr algn="ctr"/>
            <a:r>
              <a:rPr lang="he-IL" dirty="0">
                <a:latin typeface="Calibri" panose="020F0502020204030204" pitchFamily="34" charset="0"/>
                <a:cs typeface="Calibri" panose="020F0502020204030204" pitchFamily="34" charset="0"/>
              </a:rPr>
              <a:t>הדגמת התאמת שירותים באמצעות הפלטפורמה</a:t>
            </a:r>
            <a:endParaRPr lang="en-US" dirty="0">
              <a:latin typeface="Calibri" panose="020F0502020204030204" pitchFamily="34" charset="0"/>
              <a:cs typeface="Calibri" panose="020F0502020204030204" pitchFamily="34" charset="0"/>
            </a:endParaRPr>
          </a:p>
        </p:txBody>
      </p:sp>
      <p:sp>
        <p:nvSpPr>
          <p:cNvPr id="44" name="Rectangle 43">
            <a:extLst>
              <a:ext uri="{FF2B5EF4-FFF2-40B4-BE49-F238E27FC236}">
                <a16:creationId xmlns:a16="http://schemas.microsoft.com/office/drawing/2014/main" id="{803E1583-2BC4-4140-8DEC-BEBBEEFAB526}"/>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descr="Text&#10;&#10;Description automatically generated with medium confidence">
            <a:extLst>
              <a:ext uri="{FF2B5EF4-FFF2-40B4-BE49-F238E27FC236}">
                <a16:creationId xmlns:a16="http://schemas.microsoft.com/office/drawing/2014/main" id="{926FDA40-8BB1-45A3-B834-FBE844FE595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84705" y="260961"/>
            <a:ext cx="1915295" cy="592268"/>
          </a:xfrm>
          <a:prstGeom prst="rect">
            <a:avLst/>
          </a:prstGeom>
        </p:spPr>
      </p:pic>
      <p:grpSp>
        <p:nvGrpSpPr>
          <p:cNvPr id="3" name="Group 2">
            <a:extLst>
              <a:ext uri="{FF2B5EF4-FFF2-40B4-BE49-F238E27FC236}">
                <a16:creationId xmlns:a16="http://schemas.microsoft.com/office/drawing/2014/main" id="{5B07773C-4B31-4231-A7C1-9910F7A17EA3}"/>
              </a:ext>
            </a:extLst>
          </p:cNvPr>
          <p:cNvGrpSpPr/>
          <p:nvPr/>
        </p:nvGrpSpPr>
        <p:grpSpPr>
          <a:xfrm>
            <a:off x="192355" y="1927365"/>
            <a:ext cx="3498891" cy="3498891"/>
            <a:chOff x="420957" y="1944465"/>
            <a:chExt cx="3498891" cy="3498891"/>
          </a:xfrm>
        </p:grpSpPr>
        <p:grpSp>
          <p:nvGrpSpPr>
            <p:cNvPr id="4" name="Group 3">
              <a:extLst>
                <a:ext uri="{FF2B5EF4-FFF2-40B4-BE49-F238E27FC236}">
                  <a16:creationId xmlns:a16="http://schemas.microsoft.com/office/drawing/2014/main" id="{730DAACB-BAD1-4321-AF25-E0DBD8D678C8}"/>
                </a:ext>
              </a:extLst>
            </p:cNvPr>
            <p:cNvGrpSpPr/>
            <p:nvPr/>
          </p:nvGrpSpPr>
          <p:grpSpPr>
            <a:xfrm>
              <a:off x="420957" y="1944465"/>
              <a:ext cx="3498891" cy="3498891"/>
              <a:chOff x="420957" y="1944465"/>
              <a:chExt cx="3498891" cy="3498891"/>
            </a:xfrm>
          </p:grpSpPr>
          <p:sp>
            <p:nvSpPr>
              <p:cNvPr id="7" name="Rounded Rectangle 2">
                <a:extLst>
                  <a:ext uri="{FF2B5EF4-FFF2-40B4-BE49-F238E27FC236}">
                    <a16:creationId xmlns:a16="http://schemas.microsoft.com/office/drawing/2014/main" id="{F4674285-406B-4E3F-84D3-1CB6AFB2D74D}"/>
                  </a:ext>
                </a:extLst>
              </p:cNvPr>
              <p:cNvSpPr/>
              <p:nvPr/>
            </p:nvSpPr>
            <p:spPr>
              <a:xfrm>
                <a:off x="2176594" y="1944465"/>
                <a:ext cx="113211" cy="3498891"/>
              </a:xfrm>
              <a:prstGeom prst="roundRect">
                <a:avLst>
                  <a:gd name="adj" fmla="val 50000"/>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9" name="Arc 8">
                <a:extLst>
                  <a:ext uri="{FF2B5EF4-FFF2-40B4-BE49-F238E27FC236}">
                    <a16:creationId xmlns:a16="http://schemas.microsoft.com/office/drawing/2014/main" id="{4787E382-3CCF-486E-852A-3F5144DC7083}"/>
                  </a:ext>
                </a:extLst>
              </p:cNvPr>
              <p:cNvSpPr/>
              <p:nvPr/>
            </p:nvSpPr>
            <p:spPr>
              <a:xfrm>
                <a:off x="420957" y="1944465"/>
                <a:ext cx="3498891" cy="3498891"/>
              </a:xfrm>
              <a:prstGeom prst="arc">
                <a:avLst>
                  <a:gd name="adj1" fmla="val 16327491"/>
                  <a:gd name="adj2" fmla="val 5239750"/>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solidFill>
                    <a:schemeClr val="lt1"/>
                  </a:solidFill>
                </a:endParaRPr>
              </a:p>
            </p:txBody>
          </p:sp>
        </p:grpSp>
        <p:sp>
          <p:nvSpPr>
            <p:cNvPr id="5" name="Rounded Rectangle 3">
              <a:extLst>
                <a:ext uri="{FF2B5EF4-FFF2-40B4-BE49-F238E27FC236}">
                  <a16:creationId xmlns:a16="http://schemas.microsoft.com/office/drawing/2014/main" id="{FEA8F177-C5BF-4895-AC25-28555BF5FA09}"/>
                </a:ext>
              </a:extLst>
            </p:cNvPr>
            <p:cNvSpPr/>
            <p:nvPr/>
          </p:nvSpPr>
          <p:spPr>
            <a:xfrm>
              <a:off x="2237531" y="5035044"/>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Rounded Rectangle 4">
              <a:extLst>
                <a:ext uri="{FF2B5EF4-FFF2-40B4-BE49-F238E27FC236}">
                  <a16:creationId xmlns:a16="http://schemas.microsoft.com/office/drawing/2014/main" id="{D2C54C6A-9F66-440A-9268-50BB7E0C86EA}"/>
                </a:ext>
              </a:extLst>
            </p:cNvPr>
            <p:cNvSpPr/>
            <p:nvPr/>
          </p:nvSpPr>
          <p:spPr>
            <a:xfrm>
              <a:off x="2259312" y="1963515"/>
              <a:ext cx="108904" cy="391045"/>
            </a:xfrm>
            <a:prstGeom prst="round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10" name="Group 9">
            <a:extLst>
              <a:ext uri="{FF2B5EF4-FFF2-40B4-BE49-F238E27FC236}">
                <a16:creationId xmlns:a16="http://schemas.microsoft.com/office/drawing/2014/main" id="{398F5A3C-96BA-499A-9FD3-31EC76AF3C6B}"/>
              </a:ext>
            </a:extLst>
          </p:cNvPr>
          <p:cNvGrpSpPr/>
          <p:nvPr/>
        </p:nvGrpSpPr>
        <p:grpSpPr>
          <a:xfrm>
            <a:off x="465706" y="2200716"/>
            <a:ext cx="2952189" cy="2952189"/>
            <a:chOff x="694308" y="2217816"/>
            <a:chExt cx="2952189" cy="2952189"/>
          </a:xfrm>
        </p:grpSpPr>
        <p:sp>
          <p:nvSpPr>
            <p:cNvPr id="11" name="Oval 10">
              <a:extLst>
                <a:ext uri="{FF2B5EF4-FFF2-40B4-BE49-F238E27FC236}">
                  <a16:creationId xmlns:a16="http://schemas.microsoft.com/office/drawing/2014/main" id="{E7468125-158C-440E-9FAB-E0BC765FC31F}"/>
                </a:ext>
              </a:extLst>
            </p:cNvPr>
            <p:cNvSpPr/>
            <p:nvPr/>
          </p:nvSpPr>
          <p:spPr>
            <a:xfrm>
              <a:off x="694308" y="2217816"/>
              <a:ext cx="2952189" cy="2952189"/>
            </a:xfrm>
            <a:prstGeom prst="ellipse">
              <a:avLst/>
            </a:prstGeom>
            <a:gradFill flip="none" rotWithShape="1">
              <a:gsLst>
                <a:gs pos="50000">
                  <a:srgbClr val="1F1C30"/>
                </a:gs>
                <a:gs pos="0">
                  <a:srgbClr val="5EC5C5"/>
                </a:gs>
                <a:gs pos="96000">
                  <a:srgbClr val="E75258"/>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B05C4E53-F76E-416E-A8A0-412A14B5754F}"/>
                </a:ext>
              </a:extLst>
            </p:cNvPr>
            <p:cNvSpPr/>
            <p:nvPr/>
          </p:nvSpPr>
          <p:spPr>
            <a:xfrm>
              <a:off x="912988" y="2436496"/>
              <a:ext cx="2514828" cy="25148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7219EC81-48A9-4DA4-A0EA-F0EB4C928EEA}"/>
                </a:ext>
              </a:extLst>
            </p:cNvPr>
            <p:cNvSpPr/>
            <p:nvPr/>
          </p:nvSpPr>
          <p:spPr>
            <a:xfrm>
              <a:off x="989527" y="2513035"/>
              <a:ext cx="2361751" cy="2361751"/>
            </a:xfrm>
            <a:prstGeom prst="ellipse">
              <a:avLst/>
            </a:prstGeom>
            <a:solidFill>
              <a:schemeClr val="bg1"/>
            </a:solidFill>
            <a:ln w="2857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15" name="Rectangle 14">
            <a:extLst>
              <a:ext uri="{FF2B5EF4-FFF2-40B4-BE49-F238E27FC236}">
                <a16:creationId xmlns:a16="http://schemas.microsoft.com/office/drawing/2014/main" id="{52B2A234-9036-49F0-979C-0D87B9E6852A}"/>
              </a:ext>
            </a:extLst>
          </p:cNvPr>
          <p:cNvSpPr/>
          <p:nvPr/>
        </p:nvSpPr>
        <p:spPr>
          <a:xfrm>
            <a:off x="5720419" y="2882686"/>
            <a:ext cx="5637545" cy="1716111"/>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30 שירותים מופו עבור אוכלוסיות עם מוגבלויות בתחום הקוגניטיבי, פיזי, חושי, רגשי – </a:t>
            </a:r>
            <a:r>
              <a:rPr lang="he-IL" sz="1600" b="1" dirty="0">
                <a:latin typeface="Calibri" panose="020F0502020204030204" pitchFamily="34" charset="0"/>
                <a:cs typeface="Calibri" panose="020F0502020204030204" pitchFamily="34" charset="0"/>
              </a:rPr>
              <a:t>דגש על תפקוד ולא על אבחנה, על יעד אישי ולא על רשימה סגורה, על תהליך של בחירה ולא על מודל של "מרשם" וכן על שילוב בין שוק חופשי לשוק ייעודי של שירותים</a:t>
            </a:r>
            <a:endParaRPr lang="en-US" sz="2000" b="1" dirty="0">
              <a:latin typeface="Calibri" panose="020F0502020204030204" pitchFamily="34" charset="0"/>
              <a:cs typeface="Calibri" panose="020F0502020204030204" pitchFamily="34" charset="0"/>
            </a:endParaRPr>
          </a:p>
        </p:txBody>
      </p:sp>
      <p:sp>
        <p:nvSpPr>
          <p:cNvPr id="16" name="Rectangle 15">
            <a:extLst>
              <a:ext uri="{FF2B5EF4-FFF2-40B4-BE49-F238E27FC236}">
                <a16:creationId xmlns:a16="http://schemas.microsoft.com/office/drawing/2014/main" id="{B21A9CF6-EEFD-467C-A48C-BD4A8A890DD1}"/>
              </a:ext>
            </a:extLst>
          </p:cNvPr>
          <p:cNvSpPr/>
          <p:nvPr/>
        </p:nvSpPr>
        <p:spPr>
          <a:xfrm>
            <a:off x="5260495" y="1214468"/>
            <a:ext cx="4566496" cy="1623778"/>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תחום הפנאי כולל שישה תתי תחומים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פעילות גופנית, זוגיות והיכרויות, מפגשים חברתיים, חוגים וקורסים, פעילות בארגונים חברתיים, תרבות ואומנות – מתאים ל- </a:t>
            </a:r>
            <a:r>
              <a:rPr lang="en-US" sz="1600" dirty="0">
                <a:latin typeface="Calibri" panose="020F0502020204030204" pitchFamily="34" charset="0"/>
                <a:cs typeface="Calibri" panose="020F0502020204030204" pitchFamily="34" charset="0"/>
              </a:rPr>
              <a:t>ICF</a:t>
            </a:r>
            <a:endParaRPr lang="he-IL" sz="1600" dirty="0">
              <a:latin typeface="Calibri" panose="020F0502020204030204" pitchFamily="34" charset="0"/>
              <a:cs typeface="Calibri" panose="020F0502020204030204" pitchFamily="34" charset="0"/>
            </a:endParaRPr>
          </a:p>
          <a:p>
            <a:pPr algn="r" rtl="1">
              <a:lnSpc>
                <a:spcPct val="150000"/>
              </a:lnSpc>
            </a:pPr>
            <a:r>
              <a:rPr lang="he-IL" sz="1600" dirty="0">
                <a:latin typeface="Calibri" panose="020F0502020204030204" pitchFamily="34" charset="0"/>
                <a:cs typeface="Calibri" panose="020F0502020204030204" pitchFamily="34" charset="0"/>
              </a:rPr>
              <a:t> </a:t>
            </a:r>
            <a:endParaRPr lang="en-US" sz="1600" dirty="0">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40D9F155-9CBD-4516-A996-3B9C415DF2CF}"/>
              </a:ext>
            </a:extLst>
          </p:cNvPr>
          <p:cNvSpPr/>
          <p:nvPr/>
        </p:nvSpPr>
        <p:spPr>
          <a:xfrm>
            <a:off x="5260495" y="5252422"/>
            <a:ext cx="5077823" cy="967957"/>
          </a:xfrm>
          <a:prstGeom prst="rect">
            <a:avLst/>
          </a:prstGeom>
        </p:spPr>
        <p:txBody>
          <a:bodyPr wrap="square">
            <a:spAutoFit/>
          </a:bodyPr>
          <a:lstStyle/>
          <a:p>
            <a:pPr algn="r" rtl="1">
              <a:lnSpc>
                <a:spcPct val="150000"/>
              </a:lnSpc>
            </a:pPr>
            <a:r>
              <a:rPr lang="he-IL" sz="2000" b="1" dirty="0">
                <a:latin typeface="Calibri" panose="020F0502020204030204" pitchFamily="34" charset="0"/>
                <a:cs typeface="Calibri" panose="020F0502020204030204" pitchFamily="34" charset="0"/>
              </a:rPr>
              <a:t>הדגמה של שישה תיאורי מקרה – מאפייני האדם, יעדיו והשירותים שהומלצו </a:t>
            </a:r>
            <a:r>
              <a:rPr lang="he-IL" sz="2000" dirty="0">
                <a:latin typeface="Calibri" panose="020F0502020204030204" pitchFamily="34" charset="0"/>
                <a:cs typeface="Calibri" panose="020F0502020204030204" pitchFamily="34" charset="0"/>
              </a:rPr>
              <a:t>– </a:t>
            </a:r>
            <a:r>
              <a:rPr lang="he-IL" sz="1600" dirty="0">
                <a:latin typeface="Calibri" panose="020F0502020204030204" pitchFamily="34" charset="0"/>
                <a:cs typeface="Calibri" panose="020F0502020204030204" pitchFamily="34" charset="0"/>
              </a:rPr>
              <a:t>כבסיס להמשך פיתוח</a:t>
            </a:r>
            <a:endParaRPr lang="en-US" sz="1600" dirty="0">
              <a:latin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47A953EC-A73A-4837-8B7D-E81CF94EB5E6}"/>
              </a:ext>
            </a:extLst>
          </p:cNvPr>
          <p:cNvGrpSpPr/>
          <p:nvPr/>
        </p:nvGrpSpPr>
        <p:grpSpPr>
          <a:xfrm>
            <a:off x="2841338" y="1265802"/>
            <a:ext cx="2273669" cy="1032790"/>
            <a:chOff x="3069940" y="1282902"/>
            <a:chExt cx="2273669" cy="1032790"/>
          </a:xfrm>
        </p:grpSpPr>
        <p:sp>
          <p:nvSpPr>
            <p:cNvPr id="19" name="Oval 18">
              <a:extLst>
                <a:ext uri="{FF2B5EF4-FFF2-40B4-BE49-F238E27FC236}">
                  <a16:creationId xmlns:a16="http://schemas.microsoft.com/office/drawing/2014/main" id="{2B6B2DBA-5400-4265-B8EB-B62053DB8091}"/>
                </a:ext>
              </a:extLst>
            </p:cNvPr>
            <p:cNvSpPr/>
            <p:nvPr/>
          </p:nvSpPr>
          <p:spPr>
            <a:xfrm>
              <a:off x="3069940" y="2151681"/>
              <a:ext cx="164010" cy="164011"/>
            </a:xfrm>
            <a:prstGeom prst="ellipse">
              <a:avLst/>
            </a:prstGeom>
            <a:solidFill>
              <a:schemeClr val="bg1"/>
            </a:solidFill>
            <a:ln w="19050">
              <a:solidFill>
                <a:srgbClr val="5EC5C5"/>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Oval 19">
              <a:extLst>
                <a:ext uri="{FF2B5EF4-FFF2-40B4-BE49-F238E27FC236}">
                  <a16:creationId xmlns:a16="http://schemas.microsoft.com/office/drawing/2014/main" id="{EAB04A4C-869D-4228-845D-3A27FE867D14}"/>
                </a:ext>
              </a:extLst>
            </p:cNvPr>
            <p:cNvSpPr/>
            <p:nvPr/>
          </p:nvSpPr>
          <p:spPr>
            <a:xfrm>
              <a:off x="3107771" y="2189223"/>
              <a:ext cx="87472" cy="87472"/>
            </a:xfrm>
            <a:prstGeom prst="ellipse">
              <a:avLst/>
            </a:prstGeom>
            <a:solidFill>
              <a:srgbClr val="5EC5C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cxnSp>
          <p:nvCxnSpPr>
            <p:cNvPr id="21" name="Straight Connector 20">
              <a:extLst>
                <a:ext uri="{FF2B5EF4-FFF2-40B4-BE49-F238E27FC236}">
                  <a16:creationId xmlns:a16="http://schemas.microsoft.com/office/drawing/2014/main" id="{51F5A4F5-1E2E-428F-8322-03857EF48F7F}"/>
                </a:ext>
              </a:extLst>
            </p:cNvPr>
            <p:cNvCxnSpPr>
              <a:stCxn id="19" idx="7"/>
            </p:cNvCxnSpPr>
            <p:nvPr/>
          </p:nvCxnSpPr>
          <p:spPr>
            <a:xfrm flipV="1">
              <a:off x="3209932" y="1694821"/>
              <a:ext cx="448349" cy="480879"/>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4E98190C-5D6B-46D1-93A6-18A118B82C7E}"/>
                </a:ext>
              </a:extLst>
            </p:cNvPr>
            <p:cNvCxnSpPr/>
            <p:nvPr/>
          </p:nvCxnSpPr>
          <p:spPr>
            <a:xfrm flipV="1">
              <a:off x="3650767" y="1693196"/>
              <a:ext cx="923932"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3" name="Oval 22">
              <a:extLst>
                <a:ext uri="{FF2B5EF4-FFF2-40B4-BE49-F238E27FC236}">
                  <a16:creationId xmlns:a16="http://schemas.microsoft.com/office/drawing/2014/main" id="{DCF88A06-0490-4483-9F28-6DFB9663FD37}"/>
                </a:ext>
              </a:extLst>
            </p:cNvPr>
            <p:cNvSpPr/>
            <p:nvPr/>
          </p:nvSpPr>
          <p:spPr>
            <a:xfrm>
              <a:off x="4578227" y="1282902"/>
              <a:ext cx="765382" cy="765382"/>
            </a:xfrm>
            <a:prstGeom prst="ellipse">
              <a:avLst/>
            </a:prstGeom>
            <a:solidFill>
              <a:srgbClr val="5E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4" name="Oval 23">
              <a:extLst>
                <a:ext uri="{FF2B5EF4-FFF2-40B4-BE49-F238E27FC236}">
                  <a16:creationId xmlns:a16="http://schemas.microsoft.com/office/drawing/2014/main" id="{00F4524A-AF09-4B67-A9BF-778386C23D32}"/>
                </a:ext>
              </a:extLst>
            </p:cNvPr>
            <p:cNvSpPr/>
            <p:nvPr/>
          </p:nvSpPr>
          <p:spPr>
            <a:xfrm>
              <a:off x="4655274" y="1360566"/>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0680636D-5D70-43C6-8E73-F8FCE864939D}"/>
              </a:ext>
            </a:extLst>
          </p:cNvPr>
          <p:cNvGrpSpPr/>
          <p:nvPr/>
        </p:nvGrpSpPr>
        <p:grpSpPr>
          <a:xfrm>
            <a:off x="2841338" y="5048007"/>
            <a:ext cx="2266155" cy="1005493"/>
            <a:chOff x="3069940" y="5065107"/>
            <a:chExt cx="2266155" cy="1005493"/>
          </a:xfrm>
        </p:grpSpPr>
        <p:sp>
          <p:nvSpPr>
            <p:cNvPr id="27" name="Oval 26">
              <a:extLst>
                <a:ext uri="{FF2B5EF4-FFF2-40B4-BE49-F238E27FC236}">
                  <a16:creationId xmlns:a16="http://schemas.microsoft.com/office/drawing/2014/main" id="{362E0763-7423-49E1-871F-443DC25B065A}"/>
                </a:ext>
              </a:extLst>
            </p:cNvPr>
            <p:cNvSpPr/>
            <p:nvPr/>
          </p:nvSpPr>
          <p:spPr>
            <a:xfrm>
              <a:off x="3069940" y="5065107"/>
              <a:ext cx="164010" cy="164011"/>
            </a:xfrm>
            <a:prstGeom prst="ellipse">
              <a:avLst/>
            </a:prstGeom>
            <a:solidFill>
              <a:schemeClr val="bg1"/>
            </a:solidFill>
            <a:ln w="19050">
              <a:solidFill>
                <a:srgbClr val="E75258"/>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28" name="Oval 27">
              <a:extLst>
                <a:ext uri="{FF2B5EF4-FFF2-40B4-BE49-F238E27FC236}">
                  <a16:creationId xmlns:a16="http://schemas.microsoft.com/office/drawing/2014/main" id="{E9245149-B1F2-4463-A52E-D9AA2EDB7D50}"/>
                </a:ext>
              </a:extLst>
            </p:cNvPr>
            <p:cNvSpPr/>
            <p:nvPr/>
          </p:nvSpPr>
          <p:spPr>
            <a:xfrm>
              <a:off x="3107771" y="5102649"/>
              <a:ext cx="87472" cy="87472"/>
            </a:xfrm>
            <a:prstGeom prst="ellipse">
              <a:avLst/>
            </a:prstGeom>
            <a:solidFill>
              <a:srgbClr val="E7525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A2BBD3F3-022D-4156-89E3-923D898EBCB9}"/>
                </a:ext>
              </a:extLst>
            </p:cNvPr>
            <p:cNvSpPr/>
            <p:nvPr/>
          </p:nvSpPr>
          <p:spPr>
            <a:xfrm>
              <a:off x="4570713" y="5305218"/>
              <a:ext cx="765382" cy="765382"/>
            </a:xfrm>
            <a:prstGeom prst="ellipse">
              <a:avLst/>
            </a:prstGeom>
            <a:solidFill>
              <a:srgbClr val="E75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30" name="Group 29">
              <a:extLst>
                <a:ext uri="{FF2B5EF4-FFF2-40B4-BE49-F238E27FC236}">
                  <a16:creationId xmlns:a16="http://schemas.microsoft.com/office/drawing/2014/main" id="{DC146DE7-7973-425A-901D-CFD121E5B94D}"/>
                </a:ext>
              </a:extLst>
            </p:cNvPr>
            <p:cNvGrpSpPr/>
            <p:nvPr/>
          </p:nvGrpSpPr>
          <p:grpSpPr>
            <a:xfrm flipV="1">
              <a:off x="3195242" y="5209163"/>
              <a:ext cx="1368510" cy="480881"/>
              <a:chOff x="2443843" y="1927662"/>
              <a:chExt cx="1144472" cy="402153"/>
            </a:xfrm>
          </p:grpSpPr>
          <p:cxnSp>
            <p:nvCxnSpPr>
              <p:cNvPr id="33" name="Straight Connector 32">
                <a:extLst>
                  <a:ext uri="{FF2B5EF4-FFF2-40B4-BE49-F238E27FC236}">
                    <a16:creationId xmlns:a16="http://schemas.microsoft.com/office/drawing/2014/main" id="{2E9996D6-3244-418B-AB60-4AC61D562F6E}"/>
                  </a:ext>
                </a:extLst>
              </p:cNvPr>
              <p:cNvCxnSpPr/>
              <p:nvPr/>
            </p:nvCxnSpPr>
            <p:spPr>
              <a:xfrm flipV="1">
                <a:off x="2443843" y="1927662"/>
                <a:ext cx="374949" cy="402153"/>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58B1AA3-60BE-4CEF-B10D-FA4CA5036B5E}"/>
                  </a:ext>
                </a:extLst>
              </p:cNvPr>
              <p:cNvCxnSpPr/>
              <p:nvPr/>
            </p:nvCxnSpPr>
            <p:spPr>
              <a:xfrm flipV="1">
                <a:off x="2815642" y="1927676"/>
                <a:ext cx="772673"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sp>
          <p:nvSpPr>
            <p:cNvPr id="31" name="Oval 30">
              <a:extLst>
                <a:ext uri="{FF2B5EF4-FFF2-40B4-BE49-F238E27FC236}">
                  <a16:creationId xmlns:a16="http://schemas.microsoft.com/office/drawing/2014/main" id="{B70BE0A4-653D-456B-B7D2-A41478FEAD1E}"/>
                </a:ext>
              </a:extLst>
            </p:cNvPr>
            <p:cNvSpPr/>
            <p:nvPr/>
          </p:nvSpPr>
          <p:spPr>
            <a:xfrm>
              <a:off x="4642966" y="5377290"/>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35" name="Group 34">
            <a:extLst>
              <a:ext uri="{FF2B5EF4-FFF2-40B4-BE49-F238E27FC236}">
                <a16:creationId xmlns:a16="http://schemas.microsoft.com/office/drawing/2014/main" id="{135BB2A7-06D6-489E-95CD-C6F59CCBC95B}"/>
              </a:ext>
            </a:extLst>
          </p:cNvPr>
          <p:cNvGrpSpPr/>
          <p:nvPr/>
        </p:nvGrpSpPr>
        <p:grpSpPr>
          <a:xfrm>
            <a:off x="3608562" y="3276045"/>
            <a:ext cx="2037955" cy="765382"/>
            <a:chOff x="3837164" y="3293145"/>
            <a:chExt cx="2037955" cy="765382"/>
          </a:xfrm>
        </p:grpSpPr>
        <p:sp>
          <p:nvSpPr>
            <p:cNvPr id="36" name="Oval 35">
              <a:extLst>
                <a:ext uri="{FF2B5EF4-FFF2-40B4-BE49-F238E27FC236}">
                  <a16:creationId xmlns:a16="http://schemas.microsoft.com/office/drawing/2014/main" id="{6E0BF039-4D39-4956-9656-2B4EF1C7BEC7}"/>
                </a:ext>
              </a:extLst>
            </p:cNvPr>
            <p:cNvSpPr/>
            <p:nvPr/>
          </p:nvSpPr>
          <p:spPr>
            <a:xfrm>
              <a:off x="5109737" y="3293145"/>
              <a:ext cx="765382" cy="765382"/>
            </a:xfrm>
            <a:prstGeom prst="ellipse">
              <a:avLst/>
            </a:prstGeom>
            <a:solidFill>
              <a:srgbClr val="1F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7" name="Straight Connector 36">
              <a:extLst>
                <a:ext uri="{FF2B5EF4-FFF2-40B4-BE49-F238E27FC236}">
                  <a16:creationId xmlns:a16="http://schemas.microsoft.com/office/drawing/2014/main" id="{8BFB5F3A-8CF7-444F-90A3-5A007508F59E}"/>
                </a:ext>
              </a:extLst>
            </p:cNvPr>
            <p:cNvCxnSpPr>
              <a:endCxn id="36" idx="2"/>
            </p:cNvCxnSpPr>
            <p:nvPr/>
          </p:nvCxnSpPr>
          <p:spPr>
            <a:xfrm>
              <a:off x="3929966" y="3675836"/>
              <a:ext cx="1179771"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24EC3FA5-18BE-45AB-AA4C-8A8DD78972B3}"/>
                </a:ext>
              </a:extLst>
            </p:cNvPr>
            <p:cNvSpPr/>
            <p:nvPr/>
          </p:nvSpPr>
          <p:spPr>
            <a:xfrm>
              <a:off x="3837164" y="3593831"/>
              <a:ext cx="164010" cy="164011"/>
            </a:xfrm>
            <a:prstGeom prst="ellipse">
              <a:avLst/>
            </a:prstGeom>
            <a:solidFill>
              <a:schemeClr val="bg1"/>
            </a:solidFill>
            <a:ln w="19050">
              <a:solidFill>
                <a:srgbClr val="1F1C30"/>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C08D880C-1D1A-4ECF-B4A8-63918A7D658C}"/>
                </a:ext>
              </a:extLst>
            </p:cNvPr>
            <p:cNvSpPr/>
            <p:nvPr/>
          </p:nvSpPr>
          <p:spPr>
            <a:xfrm>
              <a:off x="3875433" y="3632100"/>
              <a:ext cx="87472" cy="87472"/>
            </a:xfrm>
            <a:prstGeom prst="ellipse">
              <a:avLst/>
            </a:prstGeom>
            <a:solidFill>
              <a:srgbClr val="1F1C30"/>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758CF64-7F61-4E44-8A28-D8FE49E61826}"/>
                </a:ext>
              </a:extLst>
            </p:cNvPr>
            <p:cNvSpPr/>
            <p:nvPr/>
          </p:nvSpPr>
          <p:spPr>
            <a:xfrm>
              <a:off x="5183639" y="3367047"/>
              <a:ext cx="617578" cy="617578"/>
            </a:xfrm>
            <a:prstGeom prst="ellipse">
              <a:avLst/>
            </a:prstGeom>
            <a:solidFill>
              <a:schemeClr val="bg1"/>
            </a:solidFill>
            <a:ln>
              <a:noFill/>
            </a:ln>
            <a:effectLst>
              <a:outerShdw blurRad="63500" algn="ctr"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58765" y="1469375"/>
            <a:ext cx="365760" cy="365760"/>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06946" y="3507160"/>
            <a:ext cx="301752" cy="301752"/>
          </a:xfrm>
          <a:prstGeom prst="rect">
            <a:avLst/>
          </a:prstGeom>
        </p:spPr>
      </p:pic>
      <p:pic>
        <p:nvPicPr>
          <p:cNvPr id="51" name="Picture 5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0273" y="5486781"/>
            <a:ext cx="365760" cy="365760"/>
          </a:xfrm>
          <a:prstGeom prst="rect">
            <a:avLst/>
          </a:prstGeom>
        </p:spPr>
      </p:pic>
      <p:pic>
        <p:nvPicPr>
          <p:cNvPr id="56" name="Picture 55"/>
          <p:cNvPicPr>
            <a:picLocks noChangeAspect="1"/>
          </p:cNvPicPr>
          <p:nvPr/>
        </p:nvPicPr>
        <p:blipFill rotWithShape="1">
          <a:blip r:embed="rId8" cstate="print">
            <a:extLst>
              <a:ext uri="{28A0092B-C50C-407E-A947-70E740481C1C}">
                <a14:useLocalDpi xmlns:a14="http://schemas.microsoft.com/office/drawing/2010/main" val="0"/>
              </a:ext>
            </a:extLst>
          </a:blip>
          <a:srcRect l="5833" r="27293"/>
          <a:stretch/>
        </p:blipFill>
        <p:spPr>
          <a:xfrm>
            <a:off x="732780" y="2469802"/>
            <a:ext cx="2416726" cy="2414016"/>
          </a:xfrm>
          <a:prstGeom prst="ellipse">
            <a:avLst/>
          </a:prstGeom>
        </p:spPr>
      </p:pic>
      <p:sp>
        <p:nvSpPr>
          <p:cNvPr id="54" name="Freeform: Shape 47">
            <a:extLst>
              <a:ext uri="{FF2B5EF4-FFF2-40B4-BE49-F238E27FC236}">
                <a16:creationId xmlns:a16="http://schemas.microsoft.com/office/drawing/2014/main" id="{7D966CA3-E8AA-46B7-BF29-8BAE4372B264}"/>
              </a:ext>
            </a:extLst>
          </p:cNvPr>
          <p:cNvSpPr/>
          <p:nvPr/>
        </p:nvSpPr>
        <p:spPr>
          <a:xfrm>
            <a:off x="732780" y="2469802"/>
            <a:ext cx="2418040" cy="2414016"/>
          </a:xfrm>
          <a:custGeom>
            <a:avLst/>
            <a:gdLst>
              <a:gd name="connsiteX0" fmla="*/ 1209020 w 2418040"/>
              <a:gd name="connsiteY0" fmla="*/ 0 h 2414016"/>
              <a:gd name="connsiteX1" fmla="*/ 2418040 w 2418040"/>
              <a:gd name="connsiteY1" fmla="*/ 1207008 h 2414016"/>
              <a:gd name="connsiteX2" fmla="*/ 1209020 w 2418040"/>
              <a:gd name="connsiteY2" fmla="*/ 2414016 h 2414016"/>
              <a:gd name="connsiteX3" fmla="*/ 0 w 2418040"/>
              <a:gd name="connsiteY3" fmla="*/ 1207008 h 2414016"/>
              <a:gd name="connsiteX4" fmla="*/ 1209020 w 2418040"/>
              <a:gd name="connsiteY4" fmla="*/ 0 h 2414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040" h="2414016">
                <a:moveTo>
                  <a:pt x="1209020" y="0"/>
                </a:moveTo>
                <a:cubicBezTo>
                  <a:pt x="1876743" y="0"/>
                  <a:pt x="2418040" y="540396"/>
                  <a:pt x="2418040" y="1207008"/>
                </a:cubicBezTo>
                <a:cubicBezTo>
                  <a:pt x="2418040" y="1873620"/>
                  <a:pt x="1876743" y="2414016"/>
                  <a:pt x="1209020" y="2414016"/>
                </a:cubicBezTo>
                <a:cubicBezTo>
                  <a:pt x="541297" y="2414016"/>
                  <a:pt x="0" y="1873620"/>
                  <a:pt x="0" y="1207008"/>
                </a:cubicBezTo>
                <a:cubicBezTo>
                  <a:pt x="0" y="540396"/>
                  <a:pt x="541297" y="0"/>
                  <a:pt x="1209020" y="0"/>
                </a:cubicBezTo>
                <a:close/>
              </a:path>
            </a:pathLst>
          </a:custGeom>
          <a:blipFill dpi="0" rotWithShape="1">
            <a:blip r:embed="rId9"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386095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Shape 20">
            <a:extLst>
              <a:ext uri="{FF2B5EF4-FFF2-40B4-BE49-F238E27FC236}">
                <a16:creationId xmlns:a16="http://schemas.microsoft.com/office/drawing/2014/main" id="{3FFCCD8C-DB21-459B-8185-53A55639E1A8}"/>
              </a:ext>
            </a:extLst>
          </p:cNvPr>
          <p:cNvSpPr/>
          <p:nvPr/>
        </p:nvSpPr>
        <p:spPr>
          <a:xfrm rot="5400000">
            <a:off x="7440367" y="2042363"/>
            <a:ext cx="6793992" cy="2709273"/>
          </a:xfrm>
          <a:custGeom>
            <a:avLst/>
            <a:gdLst>
              <a:gd name="connsiteX0" fmla="*/ 0 w 6858001"/>
              <a:gd name="connsiteY0" fmla="*/ 0 h 4612947"/>
              <a:gd name="connsiteX1" fmla="*/ 0 w 6858001"/>
              <a:gd name="connsiteY1" fmla="*/ 2811439 h 4612947"/>
              <a:gd name="connsiteX2" fmla="*/ 1 w 6858001"/>
              <a:gd name="connsiteY2" fmla="*/ 2811439 h 4612947"/>
              <a:gd name="connsiteX3" fmla="*/ 1 w 6858001"/>
              <a:gd name="connsiteY3" fmla="*/ 4612947 h 4612947"/>
              <a:gd name="connsiteX4" fmla="*/ 159081 w 6858001"/>
              <a:gd name="connsiteY4" fmla="*/ 4608941 h 4612947"/>
              <a:gd name="connsiteX5" fmla="*/ 3429001 w 6858001"/>
              <a:gd name="connsiteY5" fmla="*/ 3340428 h 4612947"/>
              <a:gd name="connsiteX6" fmla="*/ 6698921 w 6858001"/>
              <a:gd name="connsiteY6" fmla="*/ 4608941 h 4612947"/>
              <a:gd name="connsiteX7" fmla="*/ 6858001 w 6858001"/>
              <a:gd name="connsiteY7" fmla="*/ 4612947 h 4612947"/>
              <a:gd name="connsiteX8" fmla="*/ 6858001 w 6858001"/>
              <a:gd name="connsiteY8" fmla="*/ 2361068 h 4612947"/>
              <a:gd name="connsiteX9" fmla="*/ 6858001 w 6858001"/>
              <a:gd name="connsiteY9" fmla="*/ 2361068 h 4612947"/>
              <a:gd name="connsiteX10" fmla="*/ 6858001 w 6858001"/>
              <a:gd name="connsiteY10" fmla="*/ 0 h 461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1" h="4612947">
                <a:moveTo>
                  <a:pt x="0" y="0"/>
                </a:moveTo>
                <a:lnTo>
                  <a:pt x="0" y="2811439"/>
                </a:lnTo>
                <a:lnTo>
                  <a:pt x="1" y="2811439"/>
                </a:lnTo>
                <a:lnTo>
                  <a:pt x="1" y="4612947"/>
                </a:lnTo>
                <a:lnTo>
                  <a:pt x="159081" y="4608941"/>
                </a:lnTo>
                <a:cubicBezTo>
                  <a:pt x="1316500" y="4561231"/>
                  <a:pt x="2310774" y="3340428"/>
                  <a:pt x="3429001" y="3340428"/>
                </a:cubicBezTo>
                <a:cubicBezTo>
                  <a:pt x="4547229" y="3340428"/>
                  <a:pt x="5541503" y="4561231"/>
                  <a:pt x="6698921" y="4608941"/>
                </a:cubicBezTo>
                <a:lnTo>
                  <a:pt x="6858001" y="4612947"/>
                </a:lnTo>
                <a:lnTo>
                  <a:pt x="6858001" y="2361068"/>
                </a:lnTo>
                <a:lnTo>
                  <a:pt x="6858001" y="2361068"/>
                </a:lnTo>
                <a:lnTo>
                  <a:pt x="6858001" y="0"/>
                </a:lnTo>
                <a:close/>
              </a:path>
            </a:pathLst>
          </a:custGeom>
          <a:gradFill flip="none" rotWithShape="1">
            <a:gsLst>
              <a:gs pos="0">
                <a:srgbClr val="E75258"/>
              </a:gs>
              <a:gs pos="99000">
                <a:srgbClr val="34304F"/>
              </a:gs>
            </a:gsLst>
            <a:lin ang="10800000" scaled="1"/>
            <a:tileRect/>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ea typeface="Calibri"/>
              <a:cs typeface="Calibri"/>
              <a:sym typeface="Calibri"/>
            </a:endParaRPr>
          </a:p>
        </p:txBody>
      </p:sp>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a:xfrm>
            <a:off x="340336" y="260961"/>
            <a:ext cx="9384235" cy="592268"/>
          </a:xfrm>
        </p:spPr>
        <p:txBody>
          <a:bodyPr/>
          <a:lstStyle/>
          <a:p>
            <a:r>
              <a:rPr lang="en-US" dirty="0"/>
              <a:t>System Flow</a:t>
            </a:r>
          </a:p>
        </p:txBody>
      </p:sp>
      <p:sp>
        <p:nvSpPr>
          <p:cNvPr id="13" name="Rectangle 12">
            <a:extLst>
              <a:ext uri="{FF2B5EF4-FFF2-40B4-BE49-F238E27FC236}">
                <a16:creationId xmlns:a16="http://schemas.microsoft.com/office/drawing/2014/main" id="{9F784FB9-7F0C-485E-A8A2-45E019135F8C}"/>
              </a:ext>
            </a:extLst>
          </p:cNvPr>
          <p:cNvSpPr/>
          <p:nvPr/>
        </p:nvSpPr>
        <p:spPr>
          <a:xfrm>
            <a:off x="8587586" y="3480115"/>
            <a:ext cx="271116" cy="537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L"/>
          </a:p>
        </p:txBody>
      </p:sp>
      <p:pic>
        <p:nvPicPr>
          <p:cNvPr id="22" name="Picture 21">
            <a:extLst>
              <a:ext uri="{FF2B5EF4-FFF2-40B4-BE49-F238E27FC236}">
                <a16:creationId xmlns:a16="http://schemas.microsoft.com/office/drawing/2014/main" id="{F89B723F-2B42-40E5-A020-C36ED239A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7469" y="260961"/>
            <a:ext cx="1910648" cy="590232"/>
          </a:xfrm>
          <a:prstGeom prst="rect">
            <a:avLst/>
          </a:prstGeom>
        </p:spPr>
      </p:pic>
      <p:cxnSp>
        <p:nvCxnSpPr>
          <p:cNvPr id="18" name="Straight Connector 17"/>
          <p:cNvCxnSpPr>
            <a:stCxn id="19" idx="0"/>
            <a:endCxn id="29" idx="0"/>
          </p:cNvCxnSpPr>
          <p:nvPr/>
        </p:nvCxnSpPr>
        <p:spPr>
          <a:xfrm>
            <a:off x="518125" y="1262319"/>
            <a:ext cx="6738" cy="2096152"/>
          </a:xfrm>
          <a:prstGeom prst="line">
            <a:avLst/>
          </a:prstGeom>
          <a:ln w="381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581681" y="1140201"/>
            <a:ext cx="3357009"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הזנת פרטים אישיים ובחירת תחום הפעילות</a:t>
            </a:r>
            <a:endParaRPr lang="en-US" sz="1600" dirty="0">
              <a:latin typeface="Calibri" panose="020F0502020204030204" pitchFamily="34" charset="0"/>
              <a:cs typeface="Calibri" panose="020F0502020204030204" pitchFamily="34" charset="0"/>
            </a:endParaRPr>
          </a:p>
        </p:txBody>
      </p:sp>
      <p:sp>
        <p:nvSpPr>
          <p:cNvPr id="43" name="Rectangle 42"/>
          <p:cNvSpPr/>
          <p:nvPr/>
        </p:nvSpPr>
        <p:spPr>
          <a:xfrm>
            <a:off x="1581681" y="1838918"/>
            <a:ext cx="232948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מענה על שאלות לדיוק הצורך</a:t>
            </a:r>
            <a:endParaRPr lang="en-US" sz="1600" dirty="0">
              <a:latin typeface="Calibri" panose="020F0502020204030204" pitchFamily="34" charset="0"/>
              <a:cs typeface="Calibri" panose="020F0502020204030204" pitchFamily="34" charset="0"/>
            </a:endParaRPr>
          </a:p>
        </p:txBody>
      </p:sp>
      <p:sp>
        <p:nvSpPr>
          <p:cNvPr id="44" name="Rectangle 43"/>
          <p:cNvSpPr/>
          <p:nvPr/>
        </p:nvSpPr>
        <p:spPr>
          <a:xfrm>
            <a:off x="1581681" y="2537636"/>
            <a:ext cx="2927404"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המלצות על שירותים בתחום המבוקש</a:t>
            </a:r>
            <a:endParaRPr lang="en-US" sz="1600" dirty="0">
              <a:latin typeface="Calibri" panose="020F0502020204030204" pitchFamily="34" charset="0"/>
              <a:cs typeface="Calibri" panose="020F0502020204030204" pitchFamily="34" charset="0"/>
            </a:endParaRPr>
          </a:p>
        </p:txBody>
      </p:sp>
      <p:sp>
        <p:nvSpPr>
          <p:cNvPr id="45" name="Rectangle 44"/>
          <p:cNvSpPr/>
          <p:nvPr/>
        </p:nvSpPr>
        <p:spPr>
          <a:xfrm>
            <a:off x="1581681" y="3236353"/>
            <a:ext cx="2424062" cy="338554"/>
          </a:xfrm>
          <a:prstGeom prst="rect">
            <a:avLst/>
          </a:prstGeom>
        </p:spPr>
        <p:txBody>
          <a:bodyPr wrap="none">
            <a:spAutoFit/>
          </a:bodyPr>
          <a:lstStyle/>
          <a:p>
            <a:r>
              <a:rPr lang="he-IL" sz="1600" dirty="0">
                <a:latin typeface="Calibri" panose="020F0502020204030204" pitchFamily="34" charset="0"/>
                <a:cs typeface="Calibri" panose="020F0502020204030204" pitchFamily="34" charset="0"/>
              </a:rPr>
              <a:t>רכישה, סבסוד ושירותים נלווים</a:t>
            </a:r>
            <a:endParaRPr lang="en-US" sz="1600" dirty="0">
              <a:latin typeface="Calibri" panose="020F0502020204030204" pitchFamily="34" charset="0"/>
              <a:cs typeface="Calibri" panose="020F0502020204030204" pitchFamily="34" charset="0"/>
            </a:endParaRPr>
          </a:p>
        </p:txBody>
      </p:sp>
      <p:sp>
        <p:nvSpPr>
          <p:cNvPr id="29" name="Oval 28"/>
          <p:cNvSpPr/>
          <p:nvPr/>
        </p:nvSpPr>
        <p:spPr>
          <a:xfrm>
            <a:off x="477703" y="3358471"/>
            <a:ext cx="94319" cy="94318"/>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0" name="Straight Connector 29"/>
          <p:cNvCxnSpPr/>
          <p:nvPr/>
        </p:nvCxnSpPr>
        <p:spPr>
          <a:xfrm>
            <a:off x="572022" y="3405630"/>
            <a:ext cx="457200" cy="0"/>
          </a:xfrm>
          <a:prstGeom prst="line">
            <a:avLst/>
          </a:prstGeom>
          <a:solidFill>
            <a:schemeClr val="bg1">
              <a:lumMod val="50000"/>
            </a:schemeClr>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31" name="Oval 30"/>
          <p:cNvSpPr/>
          <p:nvPr/>
        </p:nvSpPr>
        <p:spPr>
          <a:xfrm>
            <a:off x="1045325" y="3209048"/>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0070C0"/>
              </a:solidFill>
              <a:cs typeface="Gotham Book" pitchFamily="2" charset="0"/>
            </a:endParaRPr>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1323" y="3305046"/>
            <a:ext cx="201168" cy="201168"/>
          </a:xfrm>
          <a:prstGeom prst="rect">
            <a:avLst/>
          </a:prstGeom>
        </p:spPr>
      </p:pic>
      <p:sp>
        <p:nvSpPr>
          <p:cNvPr id="25" name="Oval 24"/>
          <p:cNvSpPr/>
          <p:nvPr/>
        </p:nvSpPr>
        <p:spPr>
          <a:xfrm>
            <a:off x="470965" y="2659753"/>
            <a:ext cx="94319" cy="94320"/>
          </a:xfrm>
          <a:prstGeom prst="ellipse">
            <a:avLst/>
          </a:prstGeom>
          <a:solidFill>
            <a:srgbClr val="E75258"/>
          </a:solid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6" name="Straight Connector 25"/>
          <p:cNvCxnSpPr/>
          <p:nvPr/>
        </p:nvCxnSpPr>
        <p:spPr>
          <a:xfrm>
            <a:off x="572022" y="2706913"/>
            <a:ext cx="457200" cy="0"/>
          </a:xfrm>
          <a:prstGeom prst="line">
            <a:avLst/>
          </a:prstGeom>
          <a:solidFill>
            <a:srgbClr val="2C2C80"/>
          </a:solidFill>
          <a:ln w="38100">
            <a:solidFill>
              <a:srgbClr val="E75258"/>
            </a:solidFill>
            <a:prstDash val="sysDot"/>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045325" y="2510330"/>
            <a:ext cx="393164" cy="393166"/>
          </a:xfrm>
          <a:prstGeom prst="ellipse">
            <a:avLst/>
          </a:prstGeom>
          <a:blipFill>
            <a:blip r:embed="rId5"/>
            <a:stretch>
              <a:fillRect/>
            </a:stretch>
          </a:blip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38" name="Oval 37"/>
          <p:cNvSpPr/>
          <p:nvPr/>
        </p:nvSpPr>
        <p:spPr>
          <a:xfrm>
            <a:off x="470965" y="1961035"/>
            <a:ext cx="94319" cy="94320"/>
          </a:xfrm>
          <a:prstGeom prst="ellipse">
            <a:avLst/>
          </a:prstGeom>
          <a:solidFill>
            <a:srgbClr val="1F1C30"/>
          </a:solidFill>
          <a:ln w="28575">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9" name="Straight Connector 38"/>
          <p:cNvCxnSpPr/>
          <p:nvPr/>
        </p:nvCxnSpPr>
        <p:spPr>
          <a:xfrm>
            <a:off x="572022" y="2008195"/>
            <a:ext cx="457200" cy="0"/>
          </a:xfrm>
          <a:prstGeom prst="line">
            <a:avLst/>
          </a:prstGeom>
          <a:solidFill>
            <a:srgbClr val="2C2C80"/>
          </a:solidFill>
          <a:ln w="38100">
            <a:solidFill>
              <a:srgbClr val="1F1C30"/>
            </a:solidFill>
            <a:prstDash val="sysDot"/>
          </a:ln>
        </p:spPr>
        <p:style>
          <a:lnRef idx="1">
            <a:schemeClr val="accent1"/>
          </a:lnRef>
          <a:fillRef idx="0">
            <a:schemeClr val="accent1"/>
          </a:fillRef>
          <a:effectRef idx="0">
            <a:schemeClr val="accent1"/>
          </a:effectRef>
          <a:fontRef idx="minor">
            <a:schemeClr val="tx1"/>
          </a:fontRef>
        </p:style>
      </p:cxnSp>
      <p:sp>
        <p:nvSpPr>
          <p:cNvPr id="40" name="Oval 39"/>
          <p:cNvSpPr/>
          <p:nvPr/>
        </p:nvSpPr>
        <p:spPr>
          <a:xfrm>
            <a:off x="1045325" y="1811612"/>
            <a:ext cx="393164" cy="393166"/>
          </a:xfrm>
          <a:prstGeom prst="ellipse">
            <a:avLst/>
          </a:prstGeom>
          <a:blipFill>
            <a:blip r:embed="rId6"/>
            <a:stretch>
              <a:fillRect/>
            </a:stretch>
          </a:blipFill>
          <a:ln w="38100">
            <a:solidFill>
              <a:srgbClr val="1F1C3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0000"/>
              </a:solidFill>
              <a:cs typeface="Gotham Book" pitchFamily="2" charset="0"/>
            </a:endParaRPr>
          </a:p>
        </p:txBody>
      </p:sp>
      <p:sp>
        <p:nvSpPr>
          <p:cNvPr id="19" name="Oval 18"/>
          <p:cNvSpPr/>
          <p:nvPr/>
        </p:nvSpPr>
        <p:spPr>
          <a:xfrm>
            <a:off x="470965" y="1262319"/>
            <a:ext cx="94319" cy="94319"/>
          </a:xfrm>
          <a:prstGeom prst="ellipse">
            <a:avLst/>
          </a:prstGeom>
          <a:solidFill>
            <a:srgbClr val="5EC5C5"/>
          </a:solid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0" name="Straight Connector 19"/>
          <p:cNvCxnSpPr/>
          <p:nvPr/>
        </p:nvCxnSpPr>
        <p:spPr>
          <a:xfrm>
            <a:off x="565284" y="1307320"/>
            <a:ext cx="457200" cy="4316"/>
          </a:xfrm>
          <a:prstGeom prst="line">
            <a:avLst/>
          </a:prstGeom>
          <a:solidFill>
            <a:srgbClr val="008ED5"/>
          </a:solidFill>
          <a:ln w="38100">
            <a:solidFill>
              <a:srgbClr val="5EC5C5"/>
            </a:solidFill>
            <a:prstDash val="sysDot"/>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1045325" y="1112896"/>
            <a:ext cx="393164" cy="393164"/>
          </a:xfrm>
          <a:prstGeom prst="ellips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b="1" dirty="0">
              <a:solidFill>
                <a:srgbClr val="FFC000"/>
              </a:solidFill>
              <a:cs typeface="Gotham Book" pitchFamily="2" charset="0"/>
            </a:endParaRPr>
          </a:p>
        </p:txBody>
      </p:sp>
      <p:pic>
        <p:nvPicPr>
          <p:cNvPr id="50" name="Picture 4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1323" y="1208894"/>
            <a:ext cx="201168" cy="201168"/>
          </a:xfrm>
          <a:prstGeom prst="rect">
            <a:avLst/>
          </a:prstGeom>
        </p:spPr>
      </p:pic>
      <p:sp>
        <p:nvSpPr>
          <p:cNvPr id="58" name="Rectangle 57">
            <a:extLst>
              <a:ext uri="{FF2B5EF4-FFF2-40B4-BE49-F238E27FC236}">
                <a16:creationId xmlns:a16="http://schemas.microsoft.com/office/drawing/2014/main" id="{3F80B959-BC60-4854-A69A-50BBA8DB8D52}"/>
              </a:ext>
            </a:extLst>
          </p:cNvPr>
          <p:cNvSpPr/>
          <p:nvPr/>
        </p:nvSpPr>
        <p:spPr>
          <a:xfrm>
            <a:off x="0" y="6793992"/>
            <a:ext cx="12192000" cy="64008"/>
          </a:xfrm>
          <a:prstGeom prst="rect">
            <a:avLst/>
          </a:prstGeom>
          <a:gradFill flip="none" rotWithShape="1">
            <a:gsLst>
              <a:gs pos="0">
                <a:srgbClr val="1F1C30"/>
              </a:gs>
              <a:gs pos="100000">
                <a:srgbClr val="E7525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AB30FDA-1EA5-3254-9F03-156A1B7658E3}"/>
              </a:ext>
            </a:extLst>
          </p:cNvPr>
          <p:cNvPicPr>
            <a:picLocks noChangeAspect="1"/>
          </p:cNvPicPr>
          <p:nvPr/>
        </p:nvPicPr>
        <p:blipFill>
          <a:blip r:embed="rId8"/>
          <a:stretch>
            <a:fillRect/>
          </a:stretch>
        </p:blipFill>
        <p:spPr>
          <a:xfrm>
            <a:off x="2000105" y="3721622"/>
            <a:ext cx="5129707" cy="3152478"/>
          </a:xfrm>
          <a:prstGeom prst="rect">
            <a:avLst/>
          </a:prstGeom>
        </p:spPr>
      </p:pic>
      <p:pic>
        <p:nvPicPr>
          <p:cNvPr id="35" name="Picture 34">
            <a:extLst>
              <a:ext uri="{FF2B5EF4-FFF2-40B4-BE49-F238E27FC236}">
                <a16:creationId xmlns:a16="http://schemas.microsoft.com/office/drawing/2014/main" id="{0B54BFE4-F092-F157-080A-29477B76B214}"/>
              </a:ext>
            </a:extLst>
          </p:cNvPr>
          <p:cNvPicPr>
            <a:picLocks noChangeAspect="1"/>
          </p:cNvPicPr>
          <p:nvPr/>
        </p:nvPicPr>
        <p:blipFill>
          <a:blip r:embed="rId9"/>
          <a:stretch>
            <a:fillRect/>
          </a:stretch>
        </p:blipFill>
        <p:spPr>
          <a:xfrm>
            <a:off x="6895054" y="3667126"/>
            <a:ext cx="5115310" cy="3073722"/>
          </a:xfrm>
          <a:prstGeom prst="rect">
            <a:avLst/>
          </a:prstGeom>
        </p:spPr>
      </p:pic>
      <p:pic>
        <p:nvPicPr>
          <p:cNvPr id="57" name="Picture 56">
            <a:extLst>
              <a:ext uri="{FF2B5EF4-FFF2-40B4-BE49-F238E27FC236}">
                <a16:creationId xmlns:a16="http://schemas.microsoft.com/office/drawing/2014/main" id="{C76F1400-03D3-9EA9-92DF-17A27EEB4A48}"/>
              </a:ext>
            </a:extLst>
          </p:cNvPr>
          <p:cNvPicPr>
            <a:picLocks noChangeAspect="1"/>
          </p:cNvPicPr>
          <p:nvPr/>
        </p:nvPicPr>
        <p:blipFill>
          <a:blip r:embed="rId10"/>
          <a:stretch>
            <a:fillRect/>
          </a:stretch>
        </p:blipFill>
        <p:spPr>
          <a:xfrm>
            <a:off x="5133109" y="800260"/>
            <a:ext cx="4957082" cy="3101335"/>
          </a:xfrm>
          <a:prstGeom prst="rect">
            <a:avLst/>
          </a:prstGeom>
        </p:spPr>
      </p:pic>
    </p:spTree>
    <p:extLst>
      <p:ext uri="{BB962C8B-B14F-4D97-AF65-F5344CB8AC3E}">
        <p14:creationId xmlns:p14="http://schemas.microsoft.com/office/powerpoint/2010/main" val="1393280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C656E02-33BB-4D0D-BBF8-30DECEE31148}"/>
              </a:ext>
            </a:extLst>
          </p:cNvPr>
          <p:cNvSpPr>
            <a:spLocks noGrp="1"/>
          </p:cNvSpPr>
          <p:nvPr>
            <p:ph type="body" sz="quarter" idx="10"/>
          </p:nvPr>
        </p:nvSpPr>
        <p:spPr/>
        <p:txBody>
          <a:bodyPr>
            <a:noAutofit/>
          </a:bodyPr>
          <a:lstStyle/>
          <a:p>
            <a:pPr algn="ctr"/>
            <a:r>
              <a:rPr lang="he-IL" dirty="0">
                <a:solidFill>
                  <a:schemeClr val="tx1"/>
                </a:solidFill>
                <a:latin typeface="Calibri" panose="020F0502020204030204" pitchFamily="34" charset="0"/>
                <a:cs typeface="Calibri" panose="020F0502020204030204" pitchFamily="34" charset="0"/>
              </a:rPr>
              <a:t>רכיבי השירות</a:t>
            </a:r>
            <a:endParaRPr lang="en-US" dirty="0">
              <a:solidFill>
                <a:schemeClr val="tx1"/>
              </a:solidFill>
              <a:latin typeface="Calibri" panose="020F0502020204030204" pitchFamily="34" charset="0"/>
              <a:cs typeface="Calibri" panose="020F0502020204030204" pitchFamily="34" charset="0"/>
            </a:endParaRPr>
          </a:p>
        </p:txBody>
      </p:sp>
      <p:sp>
        <p:nvSpPr>
          <p:cNvPr id="131" name="Text Placeholder 7">
            <a:extLst>
              <a:ext uri="{FF2B5EF4-FFF2-40B4-BE49-F238E27FC236}">
                <a16:creationId xmlns:a16="http://schemas.microsoft.com/office/drawing/2014/main" id="{58DB8EF6-4540-4CFF-B873-FF0C784CE024}"/>
              </a:ext>
            </a:extLst>
          </p:cNvPr>
          <p:cNvSpPr txBox="1">
            <a:spLocks/>
          </p:cNvSpPr>
          <p:nvPr/>
        </p:nvSpPr>
        <p:spPr>
          <a:xfrm>
            <a:off x="340336" y="846803"/>
            <a:ext cx="9384235" cy="592268"/>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Tx/>
              <a:buNone/>
              <a:defRPr sz="3200" b="1" kern="1200">
                <a:solidFill>
                  <a:srgbClr val="000000"/>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he-IL" sz="2800" dirty="0">
                <a:solidFill>
                  <a:srgbClr val="5EC5C5"/>
                </a:solidFill>
                <a:latin typeface="Calibri" panose="020F0502020204030204" pitchFamily="34" charset="0"/>
                <a:cs typeface="Calibri" panose="020F0502020204030204" pitchFamily="34" charset="0"/>
              </a:rPr>
              <a:t>מבוסס תעודות זהות קליניות עבור שירותים</a:t>
            </a:r>
            <a:endParaRPr lang="en-US" sz="2800" dirty="0">
              <a:solidFill>
                <a:srgbClr val="5EC5C5"/>
              </a:solidFill>
              <a:latin typeface="Calibri" panose="020F0502020204030204" pitchFamily="34" charset="0"/>
              <a:cs typeface="Calibri" panose="020F0502020204030204" pitchFamily="34" charset="0"/>
            </a:endParaRPr>
          </a:p>
        </p:txBody>
      </p:sp>
      <p:sp>
        <p:nvSpPr>
          <p:cNvPr id="18" name="Rectangle 17"/>
          <p:cNvSpPr/>
          <p:nvPr/>
        </p:nvSpPr>
        <p:spPr>
          <a:xfrm>
            <a:off x="4507264" y="6279694"/>
            <a:ext cx="3177472" cy="492443"/>
          </a:xfrm>
          <a:prstGeom prst="rect">
            <a:avLst/>
          </a:prstGeom>
        </p:spPr>
        <p:txBody>
          <a:bodyPr wrap="none" anchor="ctr">
            <a:spAutoFit/>
          </a:bodyPr>
          <a:lstStyle/>
          <a:p>
            <a:pPr algn="ctr"/>
            <a:r>
              <a:rPr lang="en-US" sz="2600" b="1" dirty="0">
                <a:solidFill>
                  <a:srgbClr val="E75258"/>
                </a:solidFill>
              </a:rPr>
              <a:t>AI &amp; Full Automation</a:t>
            </a:r>
          </a:p>
        </p:txBody>
      </p:sp>
      <p:cxnSp>
        <p:nvCxnSpPr>
          <p:cNvPr id="24" name="Straight Connector 23"/>
          <p:cNvCxnSpPr/>
          <p:nvPr/>
        </p:nvCxnSpPr>
        <p:spPr>
          <a:xfrm flipV="1">
            <a:off x="1284065"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8096646" y="6525915"/>
            <a:ext cx="2811289" cy="0"/>
          </a:xfrm>
          <a:prstGeom prst="line">
            <a:avLst/>
          </a:prstGeom>
          <a:ln>
            <a:solidFill>
              <a:srgbClr val="E75258"/>
            </a:solidFill>
          </a:ln>
        </p:spPr>
        <p:style>
          <a:lnRef idx="1">
            <a:schemeClr val="accent1"/>
          </a:lnRef>
          <a:fillRef idx="0">
            <a:schemeClr val="accent1"/>
          </a:fillRef>
          <a:effectRef idx="0">
            <a:schemeClr val="accent1"/>
          </a:effectRef>
          <a:fontRef idx="minor">
            <a:schemeClr val="tx1"/>
          </a:fontRef>
        </p:style>
      </p:cxnSp>
      <p:sp>
        <p:nvSpPr>
          <p:cNvPr id="87" name="Rounded Rectangle 9">
            <a:extLst>
              <a:ext uri="{FF2B5EF4-FFF2-40B4-BE49-F238E27FC236}">
                <a16:creationId xmlns:a16="http://schemas.microsoft.com/office/drawing/2014/main" id="{C0200EDE-BFB7-4872-9956-3A7E1C596FAD}"/>
              </a:ext>
            </a:extLst>
          </p:cNvPr>
          <p:cNvSpPr/>
          <p:nvPr/>
        </p:nvSpPr>
        <p:spPr>
          <a:xfrm>
            <a:off x="449897" y="0"/>
            <a:ext cx="1097280" cy="73152"/>
          </a:xfrm>
          <a:prstGeom prst="roundRect">
            <a:avLst>
              <a:gd name="adj" fmla="val 50000"/>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a:off x="0" y="1921117"/>
            <a:ext cx="12192000" cy="0"/>
          </a:xfrm>
          <a:prstGeom prst="line">
            <a:avLst/>
          </a:prstGeom>
          <a:ln>
            <a:solidFill>
              <a:schemeClr val="bg1">
                <a:lumMod val="8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63CD43FB-6E98-42A8-A8D6-8FEB55A7F4A6}"/>
              </a:ext>
            </a:extLst>
          </p:cNvPr>
          <p:cNvSpPr/>
          <p:nvPr/>
        </p:nvSpPr>
        <p:spPr>
          <a:xfrm>
            <a:off x="1311585" y="2336805"/>
            <a:ext cx="1449436" cy="400110"/>
          </a:xfrm>
          <a:prstGeom prst="rect">
            <a:avLst/>
          </a:prstGeom>
        </p:spPr>
        <p:txBody>
          <a:bodyPr wrap="none">
            <a:spAutoFit/>
          </a:bodyPr>
          <a:lstStyle/>
          <a:p>
            <a:pPr algn="ctr"/>
            <a:r>
              <a:rPr lang="en-US" sz="2000" b="1" dirty="0">
                <a:solidFill>
                  <a:srgbClr val="5EC5C5"/>
                </a:solidFill>
                <a:latin typeface="+mj-lt"/>
              </a:rPr>
              <a:t>Back Office</a:t>
            </a:r>
          </a:p>
        </p:txBody>
      </p:sp>
      <p:sp>
        <p:nvSpPr>
          <p:cNvPr id="47" name="Rounded Rectangle 111">
            <a:extLst>
              <a:ext uri="{FF2B5EF4-FFF2-40B4-BE49-F238E27FC236}">
                <a16:creationId xmlns:a16="http://schemas.microsoft.com/office/drawing/2014/main" id="{A93A1425-0139-4DAD-BB0C-4D46FFD5C650}"/>
              </a:ext>
            </a:extLst>
          </p:cNvPr>
          <p:cNvSpPr/>
          <p:nvPr/>
        </p:nvSpPr>
        <p:spPr>
          <a:xfrm>
            <a:off x="516442"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ounded Rectangle 103">
            <a:extLst>
              <a:ext uri="{FF2B5EF4-FFF2-40B4-BE49-F238E27FC236}">
                <a16:creationId xmlns:a16="http://schemas.microsoft.com/office/drawing/2014/main" id="{D010989A-7791-4558-ACCF-FAC60EE85AEA}"/>
              </a:ext>
            </a:extLst>
          </p:cNvPr>
          <p:cNvSpPr/>
          <p:nvPr/>
        </p:nvSpPr>
        <p:spPr>
          <a:xfrm>
            <a:off x="504404" y="3124235"/>
            <a:ext cx="3064675" cy="866449"/>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C925102-7400-4572-AFB9-A52A8240F5D8}"/>
              </a:ext>
            </a:extLst>
          </p:cNvPr>
          <p:cNvSpPr/>
          <p:nvPr/>
        </p:nvSpPr>
        <p:spPr>
          <a:xfrm>
            <a:off x="436860"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22D3CC7-9B13-401A-A565-05A0A2885DAD}"/>
              </a:ext>
            </a:extLst>
          </p:cNvPr>
          <p:cNvSpPr>
            <a:spLocks noChangeAspect="1"/>
          </p:cNvSpPr>
          <p:nvPr/>
        </p:nvSpPr>
        <p:spPr>
          <a:xfrm>
            <a:off x="3484519"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A757426-1280-4263-B29E-737A1C16A478}"/>
              </a:ext>
            </a:extLst>
          </p:cNvPr>
          <p:cNvSpPr>
            <a:spLocks noChangeAspect="1"/>
          </p:cNvSpPr>
          <p:nvPr/>
        </p:nvSpPr>
        <p:spPr>
          <a:xfrm>
            <a:off x="424578" y="3571540"/>
            <a:ext cx="163507" cy="15685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Isosceles Triangle 51">
            <a:extLst>
              <a:ext uri="{FF2B5EF4-FFF2-40B4-BE49-F238E27FC236}">
                <a16:creationId xmlns:a16="http://schemas.microsoft.com/office/drawing/2014/main" id="{034B4D0F-F1B2-46E7-B1AB-390D65C862AD}"/>
              </a:ext>
            </a:extLst>
          </p:cNvPr>
          <p:cNvSpPr/>
          <p:nvPr/>
        </p:nvSpPr>
        <p:spPr>
          <a:xfrm>
            <a:off x="1810469" y="2855261"/>
            <a:ext cx="452544" cy="256287"/>
          </a:xfrm>
          <a:prstGeom prst="triangle">
            <a:avLst/>
          </a:prstGeom>
          <a:solidFill>
            <a:schemeClr val="bg1"/>
          </a:solidFill>
          <a:ln w="38100">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Isosceles Triangle 57">
            <a:extLst>
              <a:ext uri="{FF2B5EF4-FFF2-40B4-BE49-F238E27FC236}">
                <a16:creationId xmlns:a16="http://schemas.microsoft.com/office/drawing/2014/main" id="{A8839BA5-6776-45B5-8D5E-E2811E7FD69F}"/>
              </a:ext>
            </a:extLst>
          </p:cNvPr>
          <p:cNvSpPr/>
          <p:nvPr/>
        </p:nvSpPr>
        <p:spPr>
          <a:xfrm>
            <a:off x="1810469"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Oval 61">
            <a:extLst>
              <a:ext uri="{FF2B5EF4-FFF2-40B4-BE49-F238E27FC236}">
                <a16:creationId xmlns:a16="http://schemas.microsoft.com/office/drawing/2014/main" id="{B12BE222-B3D9-4A4A-B22E-1BAAD6C8A36C}"/>
              </a:ext>
            </a:extLst>
          </p:cNvPr>
          <p:cNvSpPr>
            <a:spLocks noChangeAspect="1"/>
          </p:cNvSpPr>
          <p:nvPr/>
        </p:nvSpPr>
        <p:spPr>
          <a:xfrm>
            <a:off x="3484519"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013D62E-D14F-4301-87F9-F75DAC78D9F4}"/>
              </a:ext>
            </a:extLst>
          </p:cNvPr>
          <p:cNvSpPr>
            <a:spLocks noChangeAspect="1"/>
          </p:cNvSpPr>
          <p:nvPr/>
        </p:nvSpPr>
        <p:spPr>
          <a:xfrm>
            <a:off x="432350"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78CD0004-F2A9-497B-AA8D-3E74762E9D40}"/>
              </a:ext>
            </a:extLst>
          </p:cNvPr>
          <p:cNvSpPr txBox="1"/>
          <p:nvPr/>
        </p:nvSpPr>
        <p:spPr>
          <a:xfrm>
            <a:off x="625064" y="3303345"/>
            <a:ext cx="2822476" cy="1569660"/>
          </a:xfrm>
          <a:prstGeom prst="rect">
            <a:avLst/>
          </a:prstGeom>
          <a:noFill/>
        </p:spPr>
        <p:txBody>
          <a:bodyPr wrap="square">
            <a:spAutoFit/>
          </a:bodyPr>
          <a:lstStyle/>
          <a:p>
            <a:pPr marL="342891" indent="-342891" algn="r" rtl="1">
              <a:buAutoNum type="arabicPeriod"/>
            </a:pPr>
            <a:r>
              <a:rPr lang="he-IL" sz="1600" dirty="0"/>
              <a:t>מיפוי שירותים</a:t>
            </a:r>
          </a:p>
          <a:p>
            <a:pPr marL="342891" indent="-342891" algn="r" rtl="1">
              <a:buAutoNum type="arabicPeriod"/>
            </a:pPr>
            <a:r>
              <a:rPr lang="he-IL" sz="1600" dirty="0">
                <a:hlinkClick r:id="rId3"/>
              </a:rPr>
              <a:t>אישור ספקים והחתמת ספקים</a:t>
            </a:r>
            <a:endParaRPr lang="he-IL" sz="1600" dirty="0"/>
          </a:p>
          <a:p>
            <a:pPr marL="342891" indent="-342891" algn="r" rtl="1">
              <a:buAutoNum type="arabicPeriod"/>
            </a:pPr>
            <a:r>
              <a:rPr lang="he-IL" sz="1600" dirty="0"/>
              <a:t>עדכון ותחזוקת נתונים בשוטף, כולל אישור מחודש של הספק</a:t>
            </a:r>
          </a:p>
        </p:txBody>
      </p:sp>
      <p:sp>
        <p:nvSpPr>
          <p:cNvPr id="68" name="Rectangle 67">
            <a:extLst>
              <a:ext uri="{FF2B5EF4-FFF2-40B4-BE49-F238E27FC236}">
                <a16:creationId xmlns:a16="http://schemas.microsoft.com/office/drawing/2014/main" id="{E3677612-824D-4C10-8F02-4710C94A9A37}"/>
              </a:ext>
            </a:extLst>
          </p:cNvPr>
          <p:cNvSpPr/>
          <p:nvPr/>
        </p:nvSpPr>
        <p:spPr>
          <a:xfrm>
            <a:off x="5569187" y="2336805"/>
            <a:ext cx="1217000" cy="400110"/>
          </a:xfrm>
          <a:prstGeom prst="rect">
            <a:avLst/>
          </a:prstGeom>
        </p:spPr>
        <p:txBody>
          <a:bodyPr wrap="none">
            <a:spAutoFit/>
          </a:bodyPr>
          <a:lstStyle/>
          <a:p>
            <a:pPr algn="ctr"/>
            <a:r>
              <a:rPr lang="he-IL" sz="2000" b="1" dirty="0">
                <a:solidFill>
                  <a:srgbClr val="1F1C30"/>
                </a:solidFill>
                <a:latin typeface="+mj-lt"/>
              </a:rPr>
              <a:t>מסע לקוח</a:t>
            </a:r>
            <a:endParaRPr lang="en-US" sz="2000" b="1" dirty="0">
              <a:solidFill>
                <a:srgbClr val="1F1C30"/>
              </a:solidFill>
              <a:latin typeface="+mj-lt"/>
            </a:endParaRPr>
          </a:p>
        </p:txBody>
      </p:sp>
      <p:sp>
        <p:nvSpPr>
          <p:cNvPr id="69" name="Rounded Rectangle 111">
            <a:extLst>
              <a:ext uri="{FF2B5EF4-FFF2-40B4-BE49-F238E27FC236}">
                <a16:creationId xmlns:a16="http://schemas.microsoft.com/office/drawing/2014/main" id="{8480A4E7-1A10-41B4-8531-73AD6A6404F8}"/>
              </a:ext>
            </a:extLst>
          </p:cNvPr>
          <p:cNvSpPr/>
          <p:nvPr/>
        </p:nvSpPr>
        <p:spPr>
          <a:xfrm>
            <a:off x="4657826" y="3116639"/>
            <a:ext cx="3052638" cy="2920335"/>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ounded Rectangle 103">
            <a:extLst>
              <a:ext uri="{FF2B5EF4-FFF2-40B4-BE49-F238E27FC236}">
                <a16:creationId xmlns:a16="http://schemas.microsoft.com/office/drawing/2014/main" id="{522958C8-1B92-4830-BF49-5B49047D6DBA}"/>
              </a:ext>
            </a:extLst>
          </p:cNvPr>
          <p:cNvSpPr/>
          <p:nvPr/>
        </p:nvSpPr>
        <p:spPr>
          <a:xfrm>
            <a:off x="4645788" y="3124235"/>
            <a:ext cx="3064675" cy="866449"/>
          </a:xfrm>
          <a:prstGeom prst="roundRect">
            <a:avLst/>
          </a:prstGeom>
          <a:noFill/>
          <a:ln w="28575">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0218AD6F-C23A-4D59-AD2E-58CDAD660927}"/>
              </a:ext>
            </a:extLst>
          </p:cNvPr>
          <p:cNvSpPr/>
          <p:nvPr/>
        </p:nvSpPr>
        <p:spPr>
          <a:xfrm>
            <a:off x="4578244"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D021F4-DAD5-409F-98FE-9FFDDBAD7337}"/>
              </a:ext>
            </a:extLst>
          </p:cNvPr>
          <p:cNvSpPr>
            <a:spLocks noChangeAspect="1"/>
          </p:cNvSpPr>
          <p:nvPr/>
        </p:nvSpPr>
        <p:spPr>
          <a:xfrm>
            <a:off x="7625903"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4A0BB1BA-21CF-4F2C-94E8-FA52805E90E2}"/>
              </a:ext>
            </a:extLst>
          </p:cNvPr>
          <p:cNvSpPr>
            <a:spLocks noChangeAspect="1"/>
          </p:cNvSpPr>
          <p:nvPr/>
        </p:nvSpPr>
        <p:spPr>
          <a:xfrm>
            <a:off x="4565962" y="3571540"/>
            <a:ext cx="163507" cy="156853"/>
          </a:xfrm>
          <a:prstGeom prst="ellipse">
            <a:avLst/>
          </a:prstGeom>
          <a:solidFill>
            <a:srgbClr val="343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Isosceles Triangle 73">
            <a:extLst>
              <a:ext uri="{FF2B5EF4-FFF2-40B4-BE49-F238E27FC236}">
                <a16:creationId xmlns:a16="http://schemas.microsoft.com/office/drawing/2014/main" id="{67F3161B-FA8A-4E4E-BDB2-809483AD990C}"/>
              </a:ext>
            </a:extLst>
          </p:cNvPr>
          <p:cNvSpPr/>
          <p:nvPr/>
        </p:nvSpPr>
        <p:spPr>
          <a:xfrm>
            <a:off x="5951853" y="2855261"/>
            <a:ext cx="452544" cy="256287"/>
          </a:xfrm>
          <a:prstGeom prst="triangle">
            <a:avLst/>
          </a:prstGeom>
          <a:solidFill>
            <a:schemeClr val="bg1"/>
          </a:solidFill>
          <a:ln w="38100">
            <a:solidFill>
              <a:srgbClr val="3430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Isosceles Triangle 74">
            <a:extLst>
              <a:ext uri="{FF2B5EF4-FFF2-40B4-BE49-F238E27FC236}">
                <a16:creationId xmlns:a16="http://schemas.microsoft.com/office/drawing/2014/main" id="{C7812075-9105-406D-ADA8-1087900BD2B7}"/>
              </a:ext>
            </a:extLst>
          </p:cNvPr>
          <p:cNvSpPr/>
          <p:nvPr/>
        </p:nvSpPr>
        <p:spPr>
          <a:xfrm>
            <a:off x="5951413" y="2891493"/>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Oval 75">
            <a:extLst>
              <a:ext uri="{FF2B5EF4-FFF2-40B4-BE49-F238E27FC236}">
                <a16:creationId xmlns:a16="http://schemas.microsoft.com/office/drawing/2014/main" id="{6EBC5193-D5D0-4554-BC44-0028601C20A2}"/>
              </a:ext>
            </a:extLst>
          </p:cNvPr>
          <p:cNvSpPr>
            <a:spLocks noChangeAspect="1"/>
          </p:cNvSpPr>
          <p:nvPr/>
        </p:nvSpPr>
        <p:spPr>
          <a:xfrm>
            <a:off x="7625903"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473560A6-A1EC-498D-A94D-4A69FB8257AD}"/>
              </a:ext>
            </a:extLst>
          </p:cNvPr>
          <p:cNvSpPr>
            <a:spLocks noChangeAspect="1"/>
          </p:cNvSpPr>
          <p:nvPr/>
        </p:nvSpPr>
        <p:spPr>
          <a:xfrm>
            <a:off x="4573734"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5CBBEE15-FB13-433A-8405-B449FA01C940}"/>
              </a:ext>
            </a:extLst>
          </p:cNvPr>
          <p:cNvSpPr txBox="1"/>
          <p:nvPr/>
        </p:nvSpPr>
        <p:spPr>
          <a:xfrm>
            <a:off x="4900652" y="3276661"/>
            <a:ext cx="2537242" cy="2800767"/>
          </a:xfrm>
          <a:prstGeom prst="rect">
            <a:avLst/>
          </a:prstGeom>
          <a:noFill/>
        </p:spPr>
        <p:txBody>
          <a:bodyPr wrap="square">
            <a:spAutoFit/>
          </a:bodyPr>
          <a:lstStyle/>
          <a:p>
            <a:pPr marL="342891" indent="-342891" algn="r" rtl="1">
              <a:buAutoNum type="arabicPeriod"/>
            </a:pPr>
            <a:r>
              <a:rPr lang="he-IL" sz="1600" dirty="0">
                <a:latin typeface="Calibri" panose="020F0502020204030204" pitchFamily="34" charset="0"/>
                <a:cs typeface="Calibri" panose="020F0502020204030204" pitchFamily="34" charset="0"/>
              </a:rPr>
              <a:t>בחירת פעילויות</a:t>
            </a:r>
            <a:endParaRPr lang="en-US" sz="1600" dirty="0">
              <a:latin typeface="Calibri" panose="020F0502020204030204" pitchFamily="34" charset="0"/>
              <a:cs typeface="Calibri" panose="020F0502020204030204" pitchFamily="34" charset="0"/>
            </a:endParaRPr>
          </a:p>
          <a:p>
            <a:pPr marL="342891" indent="-342891" algn="r" rtl="1">
              <a:buAutoNum type="arabicPeriod"/>
            </a:pPr>
            <a:r>
              <a:rPr lang="he-IL" sz="1600" dirty="0">
                <a:latin typeface="Calibri" panose="020F0502020204030204" pitchFamily="34" charset="0"/>
                <a:cs typeface="Calibri" panose="020F0502020204030204" pitchFamily="34" charset="0"/>
              </a:rPr>
              <a:t>דיוק צרכים והעדפת</a:t>
            </a:r>
          </a:p>
          <a:p>
            <a:pPr marL="342891" indent="-342891" algn="r" rtl="1">
              <a:buAutoNum type="arabicPeriod"/>
            </a:pPr>
            <a:r>
              <a:rPr lang="he-IL" sz="1600" dirty="0">
                <a:latin typeface="Calibri" panose="020F0502020204030204" pitchFamily="34" charset="0"/>
                <a:cs typeface="Calibri" panose="020F0502020204030204" pitchFamily="34" charset="0"/>
              </a:rPr>
              <a:t>קבלת המלצות, כולל פילטרים של נגישות</a:t>
            </a:r>
          </a:p>
          <a:p>
            <a:pPr marL="342891" indent="-342891" algn="r" rtl="1">
              <a:buAutoNum type="arabicPeriod"/>
            </a:pPr>
            <a:r>
              <a:rPr lang="he-IL" sz="1600" dirty="0">
                <a:latin typeface="Calibri" panose="020F0502020204030204" pitchFamily="34" charset="0"/>
                <a:cs typeface="Calibri" panose="020F0502020204030204" pitchFamily="34" charset="0"/>
              </a:rPr>
              <a:t>התייעצות עם מתאם תוכנית אישית</a:t>
            </a:r>
          </a:p>
          <a:p>
            <a:pPr marL="342891" indent="-342891" algn="r" rtl="1">
              <a:buAutoNum type="arabicPeriod"/>
            </a:pPr>
            <a:r>
              <a:rPr lang="he-IL" sz="1600" dirty="0">
                <a:latin typeface="Calibri" panose="020F0502020204030204" pitchFamily="34" charset="0"/>
                <a:cs typeface="Calibri" panose="020F0502020204030204" pitchFamily="34" charset="0"/>
              </a:rPr>
              <a:t>רכישת שירותים כולל קבלת סבסוד</a:t>
            </a:r>
          </a:p>
          <a:p>
            <a:pPr marL="342891" indent="-342891" algn="r" rtl="1">
              <a:buAutoNum type="arabicPeriod"/>
            </a:pPr>
            <a:r>
              <a:rPr lang="he-IL" sz="1600" dirty="0">
                <a:latin typeface="Calibri" panose="020F0502020204030204" pitchFamily="34" charset="0"/>
                <a:cs typeface="Calibri" panose="020F0502020204030204" pitchFamily="34" charset="0"/>
              </a:rPr>
              <a:t>שימוש בשירות</a:t>
            </a:r>
          </a:p>
          <a:p>
            <a:pPr marL="342891" indent="-342891" algn="r" rtl="1">
              <a:buAutoNum type="arabicPeriod"/>
            </a:pPr>
            <a:r>
              <a:rPr lang="he-IL" sz="1600" dirty="0">
                <a:latin typeface="Calibri" panose="020F0502020204030204" pitchFamily="34" charset="0"/>
                <a:cs typeface="Calibri" panose="020F0502020204030204" pitchFamily="34" charset="0"/>
              </a:rPr>
              <a:t>מתן פידבקים</a:t>
            </a:r>
          </a:p>
          <a:p>
            <a:pPr marL="342891" indent="-342891" algn="r" rtl="1">
              <a:buAutoNum type="arabicPeriod"/>
            </a:pPr>
            <a:r>
              <a:rPr lang="he-IL" sz="1600" dirty="0">
                <a:latin typeface="Calibri" panose="020F0502020204030204" pitchFamily="34" charset="0"/>
                <a:cs typeface="Calibri" panose="020F0502020204030204" pitchFamily="34" charset="0"/>
              </a:rPr>
              <a:t>קבלת תמיכה והמשך מעקב</a:t>
            </a:r>
          </a:p>
        </p:txBody>
      </p:sp>
      <p:sp>
        <p:nvSpPr>
          <p:cNvPr id="79" name="Rectangle 78">
            <a:extLst>
              <a:ext uri="{FF2B5EF4-FFF2-40B4-BE49-F238E27FC236}">
                <a16:creationId xmlns:a16="http://schemas.microsoft.com/office/drawing/2014/main" id="{4F3833E3-F8FA-4510-AF54-E1B4BF6863DC}"/>
              </a:ext>
            </a:extLst>
          </p:cNvPr>
          <p:cNvSpPr/>
          <p:nvPr/>
        </p:nvSpPr>
        <p:spPr>
          <a:xfrm>
            <a:off x="10112121" y="2336805"/>
            <a:ext cx="413896" cy="400110"/>
          </a:xfrm>
          <a:prstGeom prst="rect">
            <a:avLst/>
          </a:prstGeom>
        </p:spPr>
        <p:txBody>
          <a:bodyPr wrap="none">
            <a:spAutoFit/>
          </a:bodyPr>
          <a:lstStyle/>
          <a:p>
            <a:pPr algn="ctr" rtl="1"/>
            <a:r>
              <a:rPr lang="en-US" sz="2000" b="1" dirty="0">
                <a:solidFill>
                  <a:srgbClr val="E75258"/>
                </a:solidFill>
              </a:rPr>
              <a:t>BI</a:t>
            </a:r>
            <a:endParaRPr lang="he-IL" sz="2000" b="1" dirty="0">
              <a:solidFill>
                <a:srgbClr val="E75258"/>
              </a:solidFill>
            </a:endParaRPr>
          </a:p>
        </p:txBody>
      </p:sp>
      <p:sp>
        <p:nvSpPr>
          <p:cNvPr id="80" name="Rounded Rectangle 111">
            <a:extLst>
              <a:ext uri="{FF2B5EF4-FFF2-40B4-BE49-F238E27FC236}">
                <a16:creationId xmlns:a16="http://schemas.microsoft.com/office/drawing/2014/main" id="{72D124BC-149F-4A9A-8683-40AA9FC3F812}"/>
              </a:ext>
            </a:extLst>
          </p:cNvPr>
          <p:cNvSpPr/>
          <p:nvPr/>
        </p:nvSpPr>
        <p:spPr>
          <a:xfrm>
            <a:off x="8799209" y="3116639"/>
            <a:ext cx="3052638" cy="2918401"/>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a:latin typeface="Montserrat" panose="02000505000000020004" pitchFamily="2" charset="0"/>
              </a:rPr>
              <a:t>Statistics and insights</a:t>
            </a:r>
            <a:endParaRPr lang="en-US" sz="1800" b="1" dirty="0">
              <a:latin typeface="Montserrat" panose="02000505000000020004" pitchFamily="2" charset="0"/>
            </a:endParaRPr>
          </a:p>
        </p:txBody>
      </p:sp>
      <p:sp>
        <p:nvSpPr>
          <p:cNvPr id="81" name="Rounded Rectangle 103">
            <a:extLst>
              <a:ext uri="{FF2B5EF4-FFF2-40B4-BE49-F238E27FC236}">
                <a16:creationId xmlns:a16="http://schemas.microsoft.com/office/drawing/2014/main" id="{1FF5D8AA-39C6-4BB3-AADB-358B7E2C5C51}"/>
              </a:ext>
            </a:extLst>
          </p:cNvPr>
          <p:cNvSpPr/>
          <p:nvPr/>
        </p:nvSpPr>
        <p:spPr>
          <a:xfrm>
            <a:off x="8787171" y="3124235"/>
            <a:ext cx="3064675" cy="866449"/>
          </a:xfrm>
          <a:prstGeom prst="roundRect">
            <a:avLst/>
          </a:prstGeom>
          <a:noFill/>
          <a:ln w="28575">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E7FC450-C5B4-4C1B-A6B4-30A323BCA393}"/>
              </a:ext>
            </a:extLst>
          </p:cNvPr>
          <p:cNvSpPr/>
          <p:nvPr/>
        </p:nvSpPr>
        <p:spPr>
          <a:xfrm>
            <a:off x="8719627" y="3723748"/>
            <a:ext cx="3168886" cy="3335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1587DD6A-A4F0-4E5B-9E05-55E894A56222}"/>
              </a:ext>
            </a:extLst>
          </p:cNvPr>
          <p:cNvSpPr>
            <a:spLocks noChangeAspect="1"/>
          </p:cNvSpPr>
          <p:nvPr/>
        </p:nvSpPr>
        <p:spPr>
          <a:xfrm>
            <a:off x="11767286"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59B39739-072E-4F9B-9B2B-CA40348686F5}"/>
              </a:ext>
            </a:extLst>
          </p:cNvPr>
          <p:cNvSpPr>
            <a:spLocks noChangeAspect="1"/>
          </p:cNvSpPr>
          <p:nvPr/>
        </p:nvSpPr>
        <p:spPr>
          <a:xfrm>
            <a:off x="8707345" y="3571540"/>
            <a:ext cx="163507" cy="156853"/>
          </a:xfrm>
          <a:prstGeom prst="ellipse">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Isosceles Triangle 89">
            <a:extLst>
              <a:ext uri="{FF2B5EF4-FFF2-40B4-BE49-F238E27FC236}">
                <a16:creationId xmlns:a16="http://schemas.microsoft.com/office/drawing/2014/main" id="{89BAA0F4-97C1-4925-9C07-55643C4DDF84}"/>
              </a:ext>
            </a:extLst>
          </p:cNvPr>
          <p:cNvSpPr/>
          <p:nvPr/>
        </p:nvSpPr>
        <p:spPr>
          <a:xfrm>
            <a:off x="10093236" y="2855261"/>
            <a:ext cx="452544" cy="256287"/>
          </a:xfrm>
          <a:prstGeom prst="triangle">
            <a:avLst/>
          </a:prstGeom>
          <a:solidFill>
            <a:schemeClr val="bg1"/>
          </a:solidFill>
          <a:ln w="38100">
            <a:solidFill>
              <a:srgbClr val="E752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Isosceles Triangle 90">
            <a:extLst>
              <a:ext uri="{FF2B5EF4-FFF2-40B4-BE49-F238E27FC236}">
                <a16:creationId xmlns:a16="http://schemas.microsoft.com/office/drawing/2014/main" id="{5F670EAC-AEEB-4EB1-9CD4-24F7BF488550}"/>
              </a:ext>
            </a:extLst>
          </p:cNvPr>
          <p:cNvSpPr/>
          <p:nvPr/>
        </p:nvSpPr>
        <p:spPr>
          <a:xfrm>
            <a:off x="10093236" y="2907751"/>
            <a:ext cx="452544" cy="256287"/>
          </a:xfrm>
          <a:prstGeom prst="triangle">
            <a:avLst/>
          </a:prstGeom>
          <a:solidFill>
            <a:schemeClr val="bg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Oval 91">
            <a:extLst>
              <a:ext uri="{FF2B5EF4-FFF2-40B4-BE49-F238E27FC236}">
                <a16:creationId xmlns:a16="http://schemas.microsoft.com/office/drawing/2014/main" id="{0F9EC0F9-2623-4033-BC57-83D9039F1ABF}"/>
              </a:ext>
            </a:extLst>
          </p:cNvPr>
          <p:cNvSpPr>
            <a:spLocks noChangeAspect="1"/>
          </p:cNvSpPr>
          <p:nvPr/>
        </p:nvSpPr>
        <p:spPr>
          <a:xfrm>
            <a:off x="11767286" y="3907491"/>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F8874432-6671-4C02-B7FB-25664CBE0AB6}"/>
              </a:ext>
            </a:extLst>
          </p:cNvPr>
          <p:cNvSpPr>
            <a:spLocks noChangeAspect="1"/>
          </p:cNvSpPr>
          <p:nvPr/>
        </p:nvSpPr>
        <p:spPr>
          <a:xfrm>
            <a:off x="8715117" y="3907650"/>
            <a:ext cx="163507" cy="15685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Isosceles Triangle 94"/>
          <p:cNvSpPr/>
          <p:nvPr/>
        </p:nvSpPr>
        <p:spPr>
          <a:xfrm rot="5400000">
            <a:off x="3700430" y="4407491"/>
            <a:ext cx="813128" cy="468967"/>
          </a:xfrm>
          <a:prstGeom prst="triangle">
            <a:avLst/>
          </a:prstGeom>
          <a:solidFill>
            <a:srgbClr val="5EC5C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Isosceles Triangle 95"/>
          <p:cNvSpPr/>
          <p:nvPr/>
        </p:nvSpPr>
        <p:spPr>
          <a:xfrm rot="5400000">
            <a:off x="7841813" y="4429849"/>
            <a:ext cx="813128" cy="468967"/>
          </a:xfrm>
          <a:prstGeom prst="triangle">
            <a:avLst/>
          </a:prstGeom>
          <a:solidFill>
            <a:srgbClr val="1F1C30">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7" name="Group 96"/>
          <p:cNvGrpSpPr/>
          <p:nvPr/>
        </p:nvGrpSpPr>
        <p:grpSpPr>
          <a:xfrm>
            <a:off x="1719558" y="1604372"/>
            <a:ext cx="633488" cy="633490"/>
            <a:chOff x="1726017" y="1843426"/>
            <a:chExt cx="633488" cy="633490"/>
          </a:xfrm>
        </p:grpSpPr>
        <p:sp>
          <p:nvSpPr>
            <p:cNvPr id="98" name="Oval 97"/>
            <p:cNvSpPr/>
            <p:nvPr/>
          </p:nvSpPr>
          <p:spPr>
            <a:xfrm>
              <a:off x="1726017"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99" name="Oval 98"/>
            <p:cNvSpPr/>
            <p:nvPr/>
          </p:nvSpPr>
          <p:spPr>
            <a:xfrm>
              <a:off x="1849195"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0" name="Block Arc 99"/>
            <p:cNvSpPr/>
            <p:nvPr/>
          </p:nvSpPr>
          <p:spPr>
            <a:xfrm rot="5918100">
              <a:off x="1754971" y="1872382"/>
              <a:ext cx="575580" cy="575579"/>
            </a:xfrm>
            <a:prstGeom prst="blockArc">
              <a:avLst>
                <a:gd name="adj1" fmla="val 10800000"/>
                <a:gd name="adj2" fmla="val 16085249"/>
                <a:gd name="adj3" fmla="val 10115"/>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1" name="Group 100"/>
          <p:cNvGrpSpPr/>
          <p:nvPr/>
        </p:nvGrpSpPr>
        <p:grpSpPr>
          <a:xfrm>
            <a:off x="5860942" y="1604372"/>
            <a:ext cx="633488" cy="633490"/>
            <a:chOff x="5860942" y="1843426"/>
            <a:chExt cx="633488" cy="633490"/>
          </a:xfrm>
        </p:grpSpPr>
        <p:sp>
          <p:nvSpPr>
            <p:cNvPr id="102" name="Oval 101"/>
            <p:cNvSpPr/>
            <p:nvPr/>
          </p:nvSpPr>
          <p:spPr>
            <a:xfrm>
              <a:off x="5860942"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3" name="Oval 102"/>
            <p:cNvSpPr/>
            <p:nvPr/>
          </p:nvSpPr>
          <p:spPr>
            <a:xfrm>
              <a:off x="5984120"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4" name="Block Arc 103"/>
            <p:cNvSpPr/>
            <p:nvPr/>
          </p:nvSpPr>
          <p:spPr>
            <a:xfrm rot="5918100">
              <a:off x="5889896" y="1872382"/>
              <a:ext cx="575580" cy="575579"/>
            </a:xfrm>
            <a:prstGeom prst="blockArc">
              <a:avLst>
                <a:gd name="adj1" fmla="val 10800000"/>
                <a:gd name="adj2" fmla="val 16085249"/>
                <a:gd name="adj3" fmla="val 10115"/>
              </a:avLst>
            </a:prstGeom>
            <a:solidFill>
              <a:srgbClr val="1F1C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grpSp>
        <p:nvGrpSpPr>
          <p:cNvPr id="105" name="Group 104"/>
          <p:cNvGrpSpPr/>
          <p:nvPr/>
        </p:nvGrpSpPr>
        <p:grpSpPr>
          <a:xfrm>
            <a:off x="10008784" y="1604372"/>
            <a:ext cx="633488" cy="633490"/>
            <a:chOff x="10008784" y="1843426"/>
            <a:chExt cx="633488" cy="633490"/>
          </a:xfrm>
        </p:grpSpPr>
        <p:sp>
          <p:nvSpPr>
            <p:cNvPr id="106" name="Oval 105"/>
            <p:cNvSpPr/>
            <p:nvPr/>
          </p:nvSpPr>
          <p:spPr>
            <a:xfrm>
              <a:off x="10008784" y="1843426"/>
              <a:ext cx="633488" cy="633490"/>
            </a:xfrm>
            <a:prstGeom prst="ellipse">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sp>
          <p:nvSpPr>
            <p:cNvPr id="107" name="Oval 106"/>
            <p:cNvSpPr/>
            <p:nvPr/>
          </p:nvSpPr>
          <p:spPr>
            <a:xfrm>
              <a:off x="10131962" y="1968166"/>
              <a:ext cx="387132" cy="3871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a:solidFill>
                  <a:srgbClr val="0098DA"/>
                </a:solidFill>
                <a:latin typeface="+mj-lt"/>
              </a:endParaRPr>
            </a:p>
          </p:txBody>
        </p:sp>
        <p:sp>
          <p:nvSpPr>
            <p:cNvPr id="108" name="Block Arc 107"/>
            <p:cNvSpPr/>
            <p:nvPr/>
          </p:nvSpPr>
          <p:spPr>
            <a:xfrm rot="5918100">
              <a:off x="10037738" y="1872382"/>
              <a:ext cx="575580" cy="575579"/>
            </a:xfrm>
            <a:prstGeom prst="blockArc">
              <a:avLst>
                <a:gd name="adj1" fmla="val 10800000"/>
                <a:gd name="adj2" fmla="val 16085249"/>
                <a:gd name="adj3" fmla="val 10115"/>
              </a:avLst>
            </a:prstGeom>
            <a:solidFill>
              <a:srgbClr val="E752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0098DA"/>
                </a:solidFill>
              </a:endParaRPr>
            </a:p>
          </p:txBody>
        </p:sp>
      </p:grpSp>
      <p:pic>
        <p:nvPicPr>
          <p:cNvPr id="109" name="Picture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11228" y="1806817"/>
            <a:ext cx="228600" cy="228600"/>
          </a:xfrm>
          <a:prstGeom prst="rect">
            <a:avLst/>
          </a:prstGeom>
        </p:spPr>
      </p:pic>
      <p:pic>
        <p:nvPicPr>
          <p:cNvPr id="110" name="Picture 10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63386" y="1806817"/>
            <a:ext cx="228600" cy="228600"/>
          </a:xfrm>
          <a:prstGeom prst="rect">
            <a:avLst/>
          </a:prstGeom>
        </p:spPr>
      </p:pic>
      <p:pic>
        <p:nvPicPr>
          <p:cNvPr id="111" name="Picture 1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928461" y="1806817"/>
            <a:ext cx="228600" cy="228600"/>
          </a:xfrm>
          <a:prstGeom prst="rect">
            <a:avLst/>
          </a:prstGeom>
        </p:spPr>
      </p:pic>
      <p:pic>
        <p:nvPicPr>
          <p:cNvPr id="112" name="Picture 11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758981" y="4362450"/>
            <a:ext cx="1133094" cy="1133094"/>
          </a:xfrm>
          <a:prstGeom prst="rect">
            <a:avLst/>
          </a:prstGeom>
        </p:spPr>
      </p:pic>
      <p:sp>
        <p:nvSpPr>
          <p:cNvPr id="113" name="Rectangle 112"/>
          <p:cNvSpPr/>
          <p:nvPr/>
        </p:nvSpPr>
        <p:spPr>
          <a:xfrm>
            <a:off x="9741776" y="4362450"/>
            <a:ext cx="1167504" cy="1176076"/>
          </a:xfrm>
          <a:prstGeom prst="rect">
            <a:avLst/>
          </a:prstGeom>
          <a:solidFill>
            <a:schemeClr val="bg1">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55E14C21-6FAB-4EB3-8349-E3387D04CCB4}"/>
              </a:ext>
            </a:extLst>
          </p:cNvPr>
          <p:cNvSpPr txBox="1"/>
          <p:nvPr/>
        </p:nvSpPr>
        <p:spPr>
          <a:xfrm>
            <a:off x="9117135" y="3409141"/>
            <a:ext cx="2416787" cy="830997"/>
          </a:xfrm>
          <a:prstGeom prst="rect">
            <a:avLst/>
          </a:prstGeom>
          <a:noFill/>
        </p:spPr>
        <p:txBody>
          <a:bodyPr wrap="square">
            <a:spAutoFit/>
          </a:bodyPr>
          <a:lstStyle/>
          <a:p>
            <a:pPr marL="342891" indent="-342891" algn="r" rtl="1">
              <a:buAutoNum type="arabicPeriod"/>
            </a:pPr>
            <a:r>
              <a:rPr lang="he-IL" sz="1600" dirty="0" err="1"/>
              <a:t>אדמין</a:t>
            </a:r>
            <a:r>
              <a:rPr lang="he-IL" sz="1600" dirty="0"/>
              <a:t> ספקים</a:t>
            </a:r>
          </a:p>
          <a:p>
            <a:pPr marL="342891" indent="-342891" algn="r" rtl="1">
              <a:buAutoNum type="arabicPeriod"/>
            </a:pPr>
            <a:r>
              <a:rPr lang="he-IL" sz="1600" dirty="0" err="1"/>
              <a:t>אדמין</a:t>
            </a:r>
            <a:r>
              <a:rPr lang="he-IL" sz="1600" dirty="0"/>
              <a:t> מנהלי </a:t>
            </a:r>
            <a:r>
              <a:rPr lang="he-IL" sz="1600" dirty="0" err="1"/>
              <a:t>תיקצוב</a:t>
            </a:r>
            <a:r>
              <a:rPr lang="he-IL" sz="1600" dirty="0"/>
              <a:t> אישי</a:t>
            </a:r>
          </a:p>
        </p:txBody>
      </p:sp>
    </p:spTree>
    <p:extLst>
      <p:ext uri="{BB962C8B-B14F-4D97-AF65-F5344CB8AC3E}">
        <p14:creationId xmlns:p14="http://schemas.microsoft.com/office/powerpoint/2010/main" val="11268235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4" name="TextBox 3">
            <a:extLst>
              <a:ext uri="{FF2B5EF4-FFF2-40B4-BE49-F238E27FC236}">
                <a16:creationId xmlns:a16="http://schemas.microsoft.com/office/drawing/2014/main" id="{57E93C5B-474E-C16C-9E04-7B918D537219}"/>
              </a:ext>
            </a:extLst>
          </p:cNvPr>
          <p:cNvSpPr txBox="1"/>
          <p:nvPr/>
        </p:nvSpPr>
        <p:spPr>
          <a:xfrm>
            <a:off x="580505" y="1678723"/>
            <a:ext cx="11030989" cy="4196020"/>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מי קהל היעד בזקנה?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ההתאמות הנדרשות?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שירותים מכניסים לסל? מה לא מכניסים?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גבולות גזרה מרחיבים או צרים?</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איזה תיעדוף נותנים?</a:t>
            </a:r>
            <a:r>
              <a:rPr lang="he-IL" b="1" dirty="0">
                <a:latin typeface="Calibri" panose="020F0502020204030204" pitchFamily="34" charset="0"/>
                <a:ea typeface="Calibri" panose="020F0502020204030204" pitchFamily="34" charset="0"/>
              </a:rPr>
              <a:t> </a:t>
            </a:r>
          </a:p>
          <a:p>
            <a:pPr marL="342891" indent="-342891">
              <a:lnSpc>
                <a:spcPct val="150000"/>
              </a:lnSpc>
              <a:buFont typeface="+mj-lt"/>
              <a:buAutoNum type="arabicPeriod"/>
            </a:pPr>
            <a:r>
              <a:rPr lang="he-IL" b="1" dirty="0">
                <a:latin typeface="Calibri" panose="020F0502020204030204" pitchFamily="34" charset="0"/>
                <a:ea typeface="Calibri" panose="020F0502020204030204" pitchFamily="34" charset="0"/>
              </a:rPr>
              <a:t>איך שומרים מניצול לרעה?</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 תפקיד הרשות המקומית ואחריותה- תפקיד הרווחה, ביטוח לאומי, קופ"ח ובריאות?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תפקיד ואחריות הספקים? </a:t>
            </a:r>
          </a:p>
          <a:p>
            <a:pPr marL="342891" indent="-342891">
              <a:lnSpc>
                <a:spcPct val="150000"/>
              </a:lnSpc>
              <a:buFont typeface="+mj-lt"/>
              <a:buAutoNum type="arabicPeriod"/>
            </a:pPr>
            <a:endParaRPr lang="he-IL" b="1" dirty="0">
              <a:latin typeface="Calibri" panose="020F0502020204030204" pitchFamily="34" charset="0"/>
              <a:ea typeface="Calibri" panose="020F0502020204030204" pitchFamily="34" charset="0"/>
            </a:endParaRPr>
          </a:p>
          <a:p>
            <a:pPr marL="342891" indent="-342891" algn="r" rtl="1">
              <a:lnSpc>
                <a:spcPct val="150000"/>
              </a:lnSpc>
              <a:buFont typeface="+mj-lt"/>
              <a:buAutoNum type="arabicPeriod"/>
            </a:pPr>
            <a:endParaRPr lang="he-IL" b="1" dirty="0">
              <a:latin typeface="Calibri" panose="020F0502020204030204" pitchFamily="34" charset="0"/>
              <a:ea typeface="Calibri" panose="020F0502020204030204" pitchFamily="34" charset="0"/>
              <a:cs typeface="Arial" panose="020B0604020202020204" pitchFamily="34" charset="0"/>
            </a:endParaRPr>
          </a:p>
        </p:txBody>
      </p:sp>
      <p:sp>
        <p:nvSpPr>
          <p:cNvPr id="6" name="Text Placeholder 7">
            <a:extLst>
              <a:ext uri="{FF2B5EF4-FFF2-40B4-BE49-F238E27FC236}">
                <a16:creationId xmlns:a16="http://schemas.microsoft.com/office/drawing/2014/main" id="{6A3A5FF3-B912-8935-CA01-C95668234EEA}"/>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p>
          <a:p>
            <a:pPr marL="0" indent="0" algn="ctr">
              <a:buNone/>
            </a:pPr>
            <a:r>
              <a:rPr lang="he-IL" b="1" dirty="0">
                <a:latin typeface="Calibri" panose="020F0502020204030204" pitchFamily="34" charset="0"/>
                <a:cs typeface="Calibri" panose="020F0502020204030204" pitchFamily="34" charset="0"/>
              </a:rPr>
              <a:t>סל אישי מותאם לאזרח הוותיק</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5803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24">
            <a:extLst>
              <a:ext uri="{FF2B5EF4-FFF2-40B4-BE49-F238E27FC236}">
                <a16:creationId xmlns:a16="http://schemas.microsoft.com/office/drawing/2014/main" id="{2C22AEE5-4A32-4D4A-833D-3547600AD1D0}"/>
              </a:ext>
            </a:extLst>
          </p:cNvPr>
          <p:cNvSpPr>
            <a:spLocks noChangeAspect="1"/>
          </p:cNvSpPr>
          <p:nvPr/>
        </p:nvSpPr>
        <p:spPr>
          <a:xfrm flipH="1">
            <a:off x="-1" y="2267211"/>
            <a:ext cx="3841257" cy="4515633"/>
          </a:xfrm>
          <a:custGeom>
            <a:avLst/>
            <a:gdLst>
              <a:gd name="connsiteX0" fmla="*/ 3369564 w 4567160"/>
              <a:gd name="connsiteY0" fmla="*/ 0 h 5810195"/>
              <a:gd name="connsiteX1" fmla="*/ 4528133 w 4567160"/>
              <a:gd name="connsiteY1" fmla="*/ 204742 h 5810195"/>
              <a:gd name="connsiteX2" fmla="*/ 4567160 w 4567160"/>
              <a:gd name="connsiteY2" fmla="*/ 220150 h 5810195"/>
              <a:gd name="connsiteX3" fmla="*/ 4567160 w 4567160"/>
              <a:gd name="connsiteY3" fmla="*/ 5810195 h 5810195"/>
              <a:gd name="connsiteX4" fmla="*/ 1042064 w 4567160"/>
              <a:gd name="connsiteY4" fmla="*/ 5810195 h 5810195"/>
              <a:gd name="connsiteX5" fmla="*/ 986922 w 4567160"/>
              <a:gd name="connsiteY5" fmla="*/ 5760011 h 5810195"/>
              <a:gd name="connsiteX6" fmla="*/ 0 w 4567160"/>
              <a:gd name="connsiteY6" fmla="*/ 3374136 h 5810195"/>
              <a:gd name="connsiteX7" fmla="*/ 3369564 w 4567160"/>
              <a:gd name="connsiteY7" fmla="*/ 0 h 5810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67160" h="5810195">
                <a:moveTo>
                  <a:pt x="3369564" y="0"/>
                </a:moveTo>
                <a:cubicBezTo>
                  <a:pt x="3776649" y="0"/>
                  <a:pt x="4166873" y="72287"/>
                  <a:pt x="4528133" y="204742"/>
                </a:cubicBezTo>
                <a:lnTo>
                  <a:pt x="4567160" y="220150"/>
                </a:lnTo>
                <a:lnTo>
                  <a:pt x="4567160" y="5810195"/>
                </a:lnTo>
                <a:lnTo>
                  <a:pt x="1042064" y="5810195"/>
                </a:lnTo>
                <a:lnTo>
                  <a:pt x="986922" y="5760011"/>
                </a:lnTo>
                <a:cubicBezTo>
                  <a:pt x="377152" y="5149412"/>
                  <a:pt x="0" y="4305878"/>
                  <a:pt x="0" y="3374136"/>
                </a:cubicBezTo>
                <a:cubicBezTo>
                  <a:pt x="0" y="1510652"/>
                  <a:pt x="1508605" y="0"/>
                  <a:pt x="3369564" y="0"/>
                </a:cubicBezTo>
                <a:close/>
              </a:path>
            </a:pathLst>
          </a:custGeom>
          <a:solidFill>
            <a:srgbClr val="5EC5C5">
              <a:alpha val="4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 name="TextBox 1">
            <a:extLst>
              <a:ext uri="{FF2B5EF4-FFF2-40B4-BE49-F238E27FC236}">
                <a16:creationId xmlns:a16="http://schemas.microsoft.com/office/drawing/2014/main" id="{A14D9FB6-512F-B121-C56A-914684827662}"/>
              </a:ext>
            </a:extLst>
          </p:cNvPr>
          <p:cNvSpPr txBox="1"/>
          <p:nvPr/>
        </p:nvSpPr>
        <p:spPr>
          <a:xfrm>
            <a:off x="580505" y="1605070"/>
            <a:ext cx="11030989" cy="4096634"/>
          </a:xfrm>
          <a:prstGeom prst="rect">
            <a:avLst/>
          </a:prstGeom>
          <a:noFill/>
        </p:spPr>
        <p:txBody>
          <a:bodyPr wrap="square">
            <a:spAutoFit/>
          </a:bodyPr>
          <a:lstStyle/>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מהי הפלטפורמה הקהילתית התומכת?</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מבצעים מדידה ובוחנים דחיקת תלות? </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מנגישים ללקוח? מי הגורם שנמצא מול הלקוח ומחבר אותו לשירותים?</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איך מעבירים את המידע הרלוונטי בין מערכות ועדיין שומרים על פרטיות הלקוח?</a:t>
            </a:r>
          </a:p>
          <a:p>
            <a:pPr marL="342891" indent="-342891" algn="r" rtl="1">
              <a:lnSpc>
                <a:spcPct val="150000"/>
              </a:lnSpc>
              <a:buFont typeface="+mj-lt"/>
              <a:buAutoNum type="arabicPeriod"/>
            </a:pPr>
            <a:r>
              <a:rPr lang="he-IL" b="1" dirty="0">
                <a:latin typeface="Calibri" panose="020F0502020204030204" pitchFamily="34" charset="0"/>
                <a:ea typeface="Calibri" panose="020F0502020204030204" pitchFamily="34" charset="0"/>
                <a:cs typeface="Arial" panose="020B0604020202020204" pitchFamily="34" charset="0"/>
              </a:rPr>
              <a:t>מקורות המידע לשירותים בקהילה, לצרכי הלקוח ולרצונותיו?</a:t>
            </a:r>
          </a:p>
          <a:p>
            <a:pPr algn="r" rtl="1">
              <a:lnSpc>
                <a:spcPct val="150000"/>
              </a:lnSpc>
              <a:spcAft>
                <a:spcPts val="800"/>
              </a:spcAft>
            </a:pPr>
            <a:r>
              <a:rPr lang="he-IL" b="1" dirty="0">
                <a:latin typeface="Calibri" panose="020F0502020204030204" pitchFamily="34" charset="0"/>
                <a:ea typeface="Calibri" panose="020F0502020204030204" pitchFamily="34" charset="0"/>
                <a:cs typeface="Arial" panose="020B0604020202020204" pitchFamily="34" charset="0"/>
              </a:rPr>
              <a:t>7.  איך מודדים את איכות השירות? </a:t>
            </a:r>
            <a:r>
              <a:rPr lang="he-IL" dirty="0">
                <a:latin typeface="Calibri" panose="020F0502020204030204" pitchFamily="34" charset="0"/>
                <a:ea typeface="Calibri" panose="020F0502020204030204" pitchFamily="34" charset="0"/>
                <a:cs typeface="Arial" panose="020B0604020202020204" pitchFamily="34" charset="0"/>
              </a:rPr>
              <a:t>– עלתה שאלה לגבי איכות השירות והיחס לזקן. שתי הצעות בעניין זה:</a:t>
            </a:r>
          </a:p>
          <a:p>
            <a:pPr marL="285744" indent="-285744" algn="r" rtl="1">
              <a:lnSpc>
                <a:spcPct val="150000"/>
              </a:lnSpc>
              <a:spcAft>
                <a:spcPts val="800"/>
              </a:spcAft>
              <a:buFontTx/>
              <a:buChar char="-"/>
            </a:pPr>
            <a:r>
              <a:rPr lang="he-IL" dirty="0">
                <a:latin typeface="Calibri" panose="020F0502020204030204" pitchFamily="34" charset="0"/>
                <a:ea typeface="Calibri" panose="020F0502020204030204" pitchFamily="34" charset="0"/>
                <a:cs typeface="Arial" panose="020B0604020202020204" pitchFamily="34" charset="0"/>
              </a:rPr>
              <a:t>חתימה על </a:t>
            </a:r>
            <a:r>
              <a:rPr lang="he-IL" b="1" dirty="0">
                <a:latin typeface="Calibri" panose="020F0502020204030204" pitchFamily="34" charset="0"/>
                <a:ea typeface="Calibri" panose="020F0502020204030204" pitchFamily="34" charset="0"/>
                <a:cs typeface="Arial" panose="020B0604020202020204" pitchFamily="34" charset="0"/>
              </a:rPr>
              <a:t>אמנת שירות </a:t>
            </a:r>
            <a:r>
              <a:rPr lang="he-IL" dirty="0">
                <a:latin typeface="Calibri" panose="020F0502020204030204" pitchFamily="34" charset="0"/>
                <a:ea typeface="Calibri" panose="020F0502020204030204" pitchFamily="34" charset="0"/>
                <a:cs typeface="Arial" panose="020B0604020202020204" pitchFamily="34" charset="0"/>
              </a:rPr>
              <a:t>כחלק מההתקשרות עם נותן השירותים. </a:t>
            </a:r>
          </a:p>
          <a:p>
            <a:pPr marL="285744" indent="-285744" algn="r" rtl="1">
              <a:lnSpc>
                <a:spcPct val="150000"/>
              </a:lnSpc>
              <a:spcAft>
                <a:spcPts val="800"/>
              </a:spcAft>
              <a:buFontTx/>
              <a:buChar char="-"/>
            </a:pPr>
            <a:r>
              <a:rPr lang="he-IL" b="1" dirty="0">
                <a:latin typeface="Calibri" panose="020F0502020204030204" pitchFamily="34" charset="0"/>
                <a:ea typeface="Calibri" panose="020F0502020204030204" pitchFamily="34" charset="0"/>
                <a:cs typeface="Arial" panose="020B0604020202020204" pitchFamily="34" charset="0"/>
              </a:rPr>
              <a:t>משובים וביקורות </a:t>
            </a:r>
            <a:r>
              <a:rPr lang="he-IL" dirty="0">
                <a:latin typeface="Calibri" panose="020F0502020204030204" pitchFamily="34" charset="0"/>
                <a:ea typeface="Calibri" panose="020F0502020204030204" pitchFamily="34" charset="0"/>
                <a:cs typeface="Arial" panose="020B0604020202020204" pitchFamily="34" charset="0"/>
              </a:rPr>
              <a:t>– לאחר קבלת השירות יוכל האדם למלא משוב על התאמת השירות לצרכיו</a:t>
            </a:r>
          </a:p>
          <a:p>
            <a:pPr algn="r" rtl="1">
              <a:lnSpc>
                <a:spcPct val="150000"/>
              </a:lnSpc>
              <a:spcAft>
                <a:spcPts val="800"/>
              </a:spcAft>
            </a:pPr>
            <a:endParaRPr lang="en-IL" dirty="0">
              <a:latin typeface="Calibri" panose="020F0502020204030204" pitchFamily="34" charset="0"/>
              <a:ea typeface="Calibri" panose="020F0502020204030204" pitchFamily="34" charset="0"/>
              <a:cs typeface="Arial" panose="020B0604020202020204" pitchFamily="34" charset="0"/>
            </a:endParaRPr>
          </a:p>
        </p:txBody>
      </p:sp>
      <p:sp>
        <p:nvSpPr>
          <p:cNvPr id="3" name="Text Placeholder 7">
            <a:extLst>
              <a:ext uri="{FF2B5EF4-FFF2-40B4-BE49-F238E27FC236}">
                <a16:creationId xmlns:a16="http://schemas.microsoft.com/office/drawing/2014/main" id="{F1FADFFC-DBB8-5330-5261-A673CB1BE6E4}"/>
              </a:ext>
            </a:extLst>
          </p:cNvPr>
          <p:cNvSpPr txBox="1">
            <a:spLocks/>
          </p:cNvSpPr>
          <p:nvPr/>
        </p:nvSpPr>
        <p:spPr>
          <a:xfrm>
            <a:off x="340336" y="260961"/>
            <a:ext cx="9384235" cy="592268"/>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he-IL" b="1" dirty="0">
                <a:latin typeface="Calibri" panose="020F0502020204030204" pitchFamily="34" charset="0"/>
                <a:cs typeface="Calibri" panose="020F0502020204030204" pitchFamily="34" charset="0"/>
              </a:rPr>
              <a:t>תובנות ושאלות לדיון</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51369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smtClean="0">
                <a:ln>
                  <a:noFill/>
                </a:ln>
                <a:solidFill>
                  <a:srgbClr val="0070C0"/>
                </a:solidFill>
                <a:effectLst/>
                <a:uLnTx/>
                <a:uFillTx/>
                <a:latin typeface="Calibri" panose="020F0502020204030204" pitchFamily="34" charset="0"/>
                <a:cs typeface="Calibri" panose="020F0502020204030204" pitchFamily="34" charset="0"/>
              </a:rPr>
              <a:t>פלטפורמת</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a:t>
            </a:r>
            <a:r>
              <a:rPr kumimoji="0" lang="en-US"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AI</a:t>
            </a:r>
            <a:r>
              <a:rPr kumimoji="0" lang="he-IL" sz="3200" b="1" i="0" u="none" strike="noStrike" kern="1200" cap="none" spc="0" normalizeH="0" noProof="0" dirty="0" smtClean="0">
                <a:ln>
                  <a:noFill/>
                </a:ln>
                <a:solidFill>
                  <a:srgbClr val="0070C0"/>
                </a:solidFill>
                <a:effectLst/>
                <a:uLnTx/>
                <a:uFillTx/>
                <a:latin typeface="Calibri" panose="020F0502020204030204" pitchFamily="34" charset="0"/>
                <a:cs typeface="Calibri" panose="020F0502020204030204" pitchFamily="34" charset="0"/>
              </a:rPr>
              <a:t> לסיוע לבן משפחה מטפל</a:t>
            </a:r>
            <a:endParaRPr kumimoji="0" lang="he-IL" sz="3200" b="1" i="0" u="none"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endParaRP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תמונה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6"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algn="ctr" defTabSz="622300">
              <a:lnSpc>
                <a:spcPct val="90000"/>
              </a:lnSpc>
              <a:spcBef>
                <a:spcPct val="0"/>
              </a:spcBef>
              <a:spcAft>
                <a:spcPct val="35000"/>
              </a:spcAft>
            </a:pPr>
            <a:endParaRPr lang="he-IL" dirty="0">
              <a:solidFill>
                <a:srgbClr val="13235F"/>
              </a:solidFill>
              <a:latin typeface="Calibri" panose="020F0502020204030204" pitchFamily="34" charset="0"/>
              <a:cs typeface="Calibri" panose="020F0502020204030204" pitchFamily="34" charset="0"/>
            </a:endParaRPr>
          </a:p>
        </p:txBody>
      </p:sp>
      <p:sp>
        <p:nvSpPr>
          <p:cNvPr id="3" name="מלבן 2"/>
          <p:cNvSpPr/>
          <p:nvPr/>
        </p:nvSpPr>
        <p:spPr>
          <a:xfrm>
            <a:off x="2010723" y="1288972"/>
            <a:ext cx="9025662" cy="3847207"/>
          </a:xfrm>
          <a:prstGeom prst="rect">
            <a:avLst/>
          </a:prstGeom>
        </p:spPr>
        <p:txBody>
          <a:bodyPr wrap="square">
            <a:spAutoFit/>
          </a:bodyPr>
          <a:lstStyle/>
          <a:p>
            <a:r>
              <a:rPr lang="he-IL" sz="2800" dirty="0" smtClean="0">
                <a:solidFill>
                  <a:srgbClr val="000000"/>
                </a:solidFill>
                <a:latin typeface="Calibri-Light"/>
              </a:rPr>
              <a:t>  </a:t>
            </a:r>
            <a:r>
              <a:rPr lang="he-IL" sz="2800" b="1" dirty="0" smtClean="0">
                <a:solidFill>
                  <a:srgbClr val="000000"/>
                </a:solidFill>
                <a:latin typeface="Calibri-Light"/>
              </a:rPr>
              <a:t>פלטפורמת </a:t>
            </a:r>
            <a:r>
              <a:rPr lang="he-IL" sz="2800" b="1" dirty="0">
                <a:solidFill>
                  <a:srgbClr val="000000"/>
                </a:solidFill>
                <a:latin typeface="Calibri-Light"/>
              </a:rPr>
              <a:t>ניווט </a:t>
            </a:r>
            <a:r>
              <a:rPr lang="en-US" sz="2800" b="1" dirty="0" smtClean="0">
                <a:solidFill>
                  <a:srgbClr val="000000"/>
                </a:solidFill>
                <a:latin typeface="Calibri-Light"/>
              </a:rPr>
              <a:t>Knowledge Navigation</a:t>
            </a:r>
            <a:endParaRPr lang="en-US" sz="2800" b="1" dirty="0">
              <a:solidFill>
                <a:srgbClr val="000000"/>
              </a:solidFill>
              <a:latin typeface="Calibri-Light"/>
            </a:endParaRPr>
          </a:p>
          <a:p>
            <a:pPr marL="285750" indent="-285750">
              <a:lnSpc>
                <a:spcPct val="150000"/>
              </a:lnSpc>
              <a:buFont typeface="Arial" panose="020B0604020202020204" pitchFamily="34" charset="0"/>
              <a:buChar char="•"/>
            </a:pPr>
            <a:r>
              <a:rPr lang="he-IL" b="1" dirty="0" smtClean="0">
                <a:solidFill>
                  <a:srgbClr val="000000"/>
                </a:solidFill>
                <a:latin typeface="Calibri-Bold"/>
              </a:rPr>
              <a:t>מנגנון </a:t>
            </a:r>
            <a:r>
              <a:rPr lang="he-IL" b="1" dirty="0">
                <a:solidFill>
                  <a:srgbClr val="000000"/>
                </a:solidFill>
                <a:latin typeface="Calibri-Bold"/>
              </a:rPr>
              <a:t>זיהוי צרכים </a:t>
            </a:r>
            <a:r>
              <a:rPr lang="he-IL" dirty="0" smtClean="0">
                <a:solidFill>
                  <a:srgbClr val="7F7F7F"/>
                </a:solidFill>
                <a:latin typeface="Calibri" panose="020F0502020204030204" pitchFamily="34" charset="0"/>
                <a:cs typeface="Calibri" panose="020F0502020204030204" pitchFamily="34" charset="0"/>
              </a:rPr>
              <a:t>(שאלונים</a:t>
            </a:r>
            <a:r>
              <a:rPr lang="he-IL" dirty="0">
                <a:solidFill>
                  <a:srgbClr val="7F7F7F"/>
                </a:solidFill>
                <a:latin typeface="Calibri" panose="020F0502020204030204" pitchFamily="34" charset="0"/>
                <a:cs typeface="Calibri" panose="020F0502020204030204" pitchFamily="34" charset="0"/>
              </a:rPr>
              <a:t>, </a:t>
            </a:r>
            <a:r>
              <a:rPr lang="he-IL" dirty="0" err="1">
                <a:solidFill>
                  <a:srgbClr val="7F7F7F"/>
                </a:solidFill>
                <a:latin typeface="Calibri" panose="020F0502020204030204" pitchFamily="34" charset="0"/>
                <a:cs typeface="Calibri" panose="020F0502020204030204" pitchFamily="34" charset="0"/>
              </a:rPr>
              <a:t>בוט</a:t>
            </a:r>
            <a:r>
              <a:rPr lang="he-IL" dirty="0">
                <a:solidFill>
                  <a:srgbClr val="7F7F7F"/>
                </a:solidFill>
                <a:latin typeface="Calibri" panose="020F0502020204030204" pitchFamily="34" charset="0"/>
                <a:cs typeface="Calibri" panose="020F0502020204030204" pitchFamily="34" charset="0"/>
              </a:rPr>
              <a:t>, ייעוץ אונליין, ייעוץ במפגש</a:t>
            </a:r>
            <a:r>
              <a:rPr lang="he-IL" dirty="0" smtClean="0">
                <a:solidFill>
                  <a:srgbClr val="7F7F7F"/>
                </a:solidFill>
                <a:latin typeface="Calibri" panose="020F0502020204030204" pitchFamily="34" charset="0"/>
                <a:cs typeface="Calibri" panose="020F0502020204030204" pitchFamily="34" charset="0"/>
              </a:rPr>
              <a:t>...)</a:t>
            </a:r>
            <a:endParaRPr lang="he-IL" sz="2800" dirty="0" smtClean="0">
              <a:solidFill>
                <a:srgbClr val="000000"/>
              </a:solidFill>
              <a:latin typeface="Calibri-Light"/>
            </a:endParaRPr>
          </a:p>
          <a:p>
            <a:pPr marL="285750" indent="-285750">
              <a:lnSpc>
                <a:spcPct val="150000"/>
              </a:lnSpc>
              <a:buFont typeface="Arial" panose="020B0604020202020204" pitchFamily="34" charset="0"/>
              <a:buChar char="•"/>
            </a:pPr>
            <a:r>
              <a:rPr lang="he-IL" dirty="0" smtClean="0">
                <a:solidFill>
                  <a:srgbClr val="000000"/>
                </a:solidFill>
                <a:latin typeface="Calibri" panose="020F0502020204030204" pitchFamily="34" charset="0"/>
                <a:cs typeface="Calibri" panose="020F0502020204030204" pitchFamily="34" charset="0"/>
              </a:rPr>
              <a:t>בניית </a:t>
            </a:r>
            <a:r>
              <a:rPr lang="he-IL" b="1" dirty="0">
                <a:solidFill>
                  <a:srgbClr val="000000"/>
                </a:solidFill>
                <a:latin typeface="Calibri-Bold"/>
                <a:cs typeface="Calibri" panose="020F0502020204030204" pitchFamily="34" charset="0"/>
              </a:rPr>
              <a:t>מסלולי טיפול מותאמים אישית </a:t>
            </a:r>
            <a:r>
              <a:rPr lang="he-IL" dirty="0">
                <a:solidFill>
                  <a:srgbClr val="000000"/>
                </a:solidFill>
                <a:latin typeface="Calibri" panose="020F0502020204030204" pitchFamily="34" charset="0"/>
                <a:cs typeface="Calibri" panose="020F0502020204030204" pitchFamily="34" charset="0"/>
              </a:rPr>
              <a:t>המספקים תמונה כוללת, </a:t>
            </a:r>
            <a:r>
              <a:rPr lang="he-IL" dirty="0" smtClean="0">
                <a:solidFill>
                  <a:srgbClr val="000000"/>
                </a:solidFill>
                <a:latin typeface="Calibri" panose="020F0502020204030204" pitchFamily="34" charset="0"/>
                <a:cs typeface="Calibri" panose="020F0502020204030204" pitchFamily="34" charset="0"/>
              </a:rPr>
              <a:t>מקיפה ומתמשכת</a:t>
            </a:r>
            <a:r>
              <a:rPr lang="he-IL" dirty="0">
                <a:solidFill>
                  <a:srgbClr val="000000"/>
                </a:solidFill>
                <a:latin typeface="Calibri" panose="020F0502020204030204" pitchFamily="34" charset="0"/>
                <a:cs typeface="Calibri" panose="020F0502020204030204" pitchFamily="34" charset="0"/>
              </a:rPr>
              <a:t>, לאו דווקא </a:t>
            </a:r>
            <a:r>
              <a:rPr lang="he-IL" dirty="0" smtClean="0">
                <a:solidFill>
                  <a:srgbClr val="000000"/>
                </a:solidFill>
                <a:latin typeface="Calibri" panose="020F0502020204030204" pitchFamily="34" charset="0"/>
                <a:cs typeface="Calibri" panose="020F0502020204030204" pitchFamily="34" charset="0"/>
              </a:rPr>
              <a:t>רפואית</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רישום אישי ושיתוף </a:t>
            </a:r>
            <a:r>
              <a:rPr lang="he-IL" dirty="0">
                <a:solidFill>
                  <a:srgbClr val="000000"/>
                </a:solidFill>
                <a:latin typeface="Calibri" panose="020F0502020204030204" pitchFamily="34" charset="0"/>
                <a:cs typeface="Calibri" panose="020F0502020204030204" pitchFamily="34" charset="0"/>
              </a:rPr>
              <a:t>עם מטפלים נוספים ועם </a:t>
            </a:r>
            <a:r>
              <a:rPr lang="he-IL" dirty="0" smtClean="0">
                <a:solidFill>
                  <a:srgbClr val="000000"/>
                </a:solidFill>
                <a:latin typeface="Calibri" panose="020F0502020204030204" pitchFamily="34" charset="0"/>
                <a:cs typeface="Calibri" panose="020F0502020204030204" pitchFamily="34" charset="0"/>
              </a:rPr>
              <a:t>המטופל</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מאגר מידע מותאם אישית</a:t>
            </a:r>
            <a:r>
              <a:rPr lang="he-IL" dirty="0">
                <a:solidFill>
                  <a:srgbClr val="000000"/>
                </a:solidFill>
                <a:latin typeface="Calibri" panose="020F0502020204030204" pitchFamily="34" charset="0"/>
                <a:cs typeface="Calibri" panose="020F0502020204030204" pitchFamily="34" charset="0"/>
              </a:rPr>
              <a:t>, הפנייה למידע באתרים נוספים </a:t>
            </a:r>
            <a:r>
              <a:rPr lang="he-IL" dirty="0" smtClean="0">
                <a:solidFill>
                  <a:srgbClr val="000000"/>
                </a:solidFill>
                <a:latin typeface="Calibri" panose="020F0502020204030204" pitchFamily="34" charset="0"/>
                <a:cs typeface="Calibri" panose="020F0502020204030204" pitchFamily="34" charset="0"/>
              </a:rPr>
              <a:t>רלוונטיים</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מעקב, תיעוד התקדמות ועדכון </a:t>
            </a:r>
            <a:r>
              <a:rPr lang="he-IL" dirty="0">
                <a:solidFill>
                  <a:srgbClr val="000000"/>
                </a:solidFill>
                <a:latin typeface="Calibri" panose="020F0502020204030204" pitchFamily="34" charset="0"/>
                <a:cs typeface="Calibri" panose="020F0502020204030204" pitchFamily="34" charset="0"/>
              </a:rPr>
              <a:t>שאלון צרכים לפי </a:t>
            </a:r>
            <a:r>
              <a:rPr lang="he-IL" dirty="0" smtClean="0">
                <a:solidFill>
                  <a:srgbClr val="000000"/>
                </a:solidFill>
                <a:latin typeface="Calibri" panose="020F0502020204030204" pitchFamily="34" charset="0"/>
                <a:cs typeface="Calibri" panose="020F0502020204030204" pitchFamily="34" charset="0"/>
              </a:rPr>
              <a:t>הצורך</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b="1" dirty="0">
                <a:solidFill>
                  <a:srgbClr val="000000"/>
                </a:solidFill>
                <a:latin typeface="Calibri-Bold"/>
              </a:rPr>
              <a:t>הצפת מידע פרסונלית </a:t>
            </a:r>
            <a:r>
              <a:rPr lang="he-IL" dirty="0">
                <a:solidFill>
                  <a:srgbClr val="000000"/>
                </a:solidFill>
                <a:latin typeface="Calibri" panose="020F0502020204030204" pitchFamily="34" charset="0"/>
                <a:cs typeface="Calibri" panose="020F0502020204030204" pitchFamily="34" charset="0"/>
              </a:rPr>
              <a:t>מותאמת למטפל, כולל הפניה לקבוצות תמיכה</a:t>
            </a:r>
          </a:p>
          <a:p>
            <a:pPr marL="285750" indent="-285750">
              <a:lnSpc>
                <a:spcPct val="150000"/>
              </a:lnSpc>
              <a:buFont typeface="Arial" panose="020B0604020202020204" pitchFamily="34" charset="0"/>
              <a:buChar char="•"/>
            </a:pPr>
            <a:r>
              <a:rPr lang="he-IL" dirty="0" smtClean="0">
                <a:solidFill>
                  <a:srgbClr val="000000"/>
                </a:solidFill>
                <a:latin typeface="Calibri" panose="020F0502020204030204" pitchFamily="34" charset="0"/>
                <a:cs typeface="Calibri" panose="020F0502020204030204" pitchFamily="34" charset="0"/>
              </a:rPr>
              <a:t>אפשרות </a:t>
            </a:r>
            <a:r>
              <a:rPr lang="he-IL" dirty="0">
                <a:solidFill>
                  <a:srgbClr val="000000"/>
                </a:solidFill>
                <a:latin typeface="Calibri" panose="020F0502020204030204" pitchFamily="34" charset="0"/>
                <a:cs typeface="Calibri" panose="020F0502020204030204" pitchFamily="34" charset="0"/>
              </a:rPr>
              <a:t>ל</a:t>
            </a:r>
            <a:r>
              <a:rPr lang="he-IL" b="1" dirty="0">
                <a:solidFill>
                  <a:srgbClr val="000000"/>
                </a:solidFill>
                <a:latin typeface="Calibri-Bold"/>
                <a:cs typeface="Calibri" panose="020F0502020204030204" pitchFamily="34" charset="0"/>
              </a:rPr>
              <a:t>קבלת מידע ועדכונים </a:t>
            </a:r>
            <a:r>
              <a:rPr lang="he-IL" b="1" dirty="0" smtClean="0">
                <a:solidFill>
                  <a:srgbClr val="000000"/>
                </a:solidFill>
                <a:latin typeface="Calibri-Bold"/>
                <a:cs typeface="Calibri" panose="020F0502020204030204" pitchFamily="34" charset="0"/>
              </a:rPr>
              <a:t>בדחיפה</a:t>
            </a:r>
            <a:endParaRPr lang="he-IL" sz="2800" dirty="0">
              <a:solidFill>
                <a:srgbClr val="000000"/>
              </a:solidFill>
              <a:latin typeface="Calibri-Light"/>
            </a:endParaRPr>
          </a:p>
          <a:p>
            <a:pPr marL="285750" indent="-285750">
              <a:lnSpc>
                <a:spcPct val="150000"/>
              </a:lnSpc>
              <a:buFont typeface="Arial" panose="020B0604020202020204" pitchFamily="34" charset="0"/>
              <a:buChar char="•"/>
            </a:pPr>
            <a:r>
              <a:rPr lang="he-IL" dirty="0">
                <a:solidFill>
                  <a:srgbClr val="000000"/>
                </a:solidFill>
                <a:latin typeface="Calibri" panose="020F0502020204030204" pitchFamily="34" charset="0"/>
                <a:cs typeface="Calibri" panose="020F0502020204030204" pitchFamily="34" charset="0"/>
              </a:rPr>
              <a:t>שירות המותאם </a:t>
            </a:r>
            <a:r>
              <a:rPr lang="he-IL" b="1" dirty="0">
                <a:solidFill>
                  <a:srgbClr val="000000"/>
                </a:solidFill>
                <a:latin typeface="Calibri-Bold"/>
                <a:cs typeface="Calibri" panose="020F0502020204030204" pitchFamily="34" charset="0"/>
              </a:rPr>
              <a:t>גם לצרכי גורמי מקצוע </a:t>
            </a:r>
            <a:r>
              <a:rPr lang="he-IL" dirty="0" smtClean="0">
                <a:solidFill>
                  <a:srgbClr val="7F7F7F"/>
                </a:solidFill>
                <a:latin typeface="Calibri" panose="020F0502020204030204" pitchFamily="34" charset="0"/>
                <a:cs typeface="Calibri" panose="020F0502020204030204" pitchFamily="34" charset="0"/>
              </a:rPr>
              <a:t>(</a:t>
            </a:r>
            <a:r>
              <a:rPr lang="he-IL" dirty="0" err="1" smtClean="0">
                <a:solidFill>
                  <a:srgbClr val="7F7F7F"/>
                </a:solidFill>
                <a:latin typeface="Calibri" panose="020F0502020204030204" pitchFamily="34" charset="0"/>
                <a:cs typeface="Calibri" panose="020F0502020204030204" pitchFamily="34" charset="0"/>
              </a:rPr>
              <a:t>עו"סים</a:t>
            </a:r>
            <a:r>
              <a:rPr lang="he-IL" dirty="0">
                <a:solidFill>
                  <a:srgbClr val="7F7F7F"/>
                </a:solidFill>
                <a:latin typeface="Calibri" panose="020F0502020204030204" pitchFamily="34" charset="0"/>
                <a:cs typeface="Calibri" panose="020F0502020204030204" pitchFamily="34" charset="0"/>
              </a:rPr>
              <a:t>, צוותי </a:t>
            </a:r>
            <a:r>
              <a:rPr lang="he-IL" dirty="0" smtClean="0">
                <a:solidFill>
                  <a:srgbClr val="7F7F7F"/>
                </a:solidFill>
                <a:latin typeface="Calibri" panose="020F0502020204030204" pitchFamily="34" charset="0"/>
                <a:cs typeface="Calibri" panose="020F0502020204030204" pitchFamily="34" charset="0"/>
              </a:rPr>
              <a:t>רפואה) </a:t>
            </a:r>
            <a:r>
              <a:rPr lang="he-IL" dirty="0" smtClean="0">
                <a:solidFill>
                  <a:srgbClr val="000000"/>
                </a:solidFill>
                <a:latin typeface="Calibri" panose="020F0502020204030204" pitchFamily="34" charset="0"/>
                <a:cs typeface="Calibri" panose="020F0502020204030204" pitchFamily="34" charset="0"/>
              </a:rPr>
              <a:t>– </a:t>
            </a:r>
            <a:r>
              <a:rPr lang="he-IL" dirty="0">
                <a:solidFill>
                  <a:srgbClr val="000000"/>
                </a:solidFill>
                <a:latin typeface="Calibri" panose="020F0502020204030204" pitchFamily="34" charset="0"/>
                <a:cs typeface="Calibri" panose="020F0502020204030204" pitchFamily="34" charset="0"/>
              </a:rPr>
              <a:t>כצרכני </a:t>
            </a:r>
            <a:r>
              <a:rPr lang="he-IL" dirty="0" smtClean="0">
                <a:solidFill>
                  <a:srgbClr val="000000"/>
                </a:solidFill>
                <a:latin typeface="Calibri" panose="020F0502020204030204" pitchFamily="34" charset="0"/>
                <a:cs typeface="Calibri" panose="020F0502020204030204" pitchFamily="34" charset="0"/>
              </a:rPr>
              <a:t>מידע וכגורמים </a:t>
            </a:r>
            <a:r>
              <a:rPr lang="he-IL" dirty="0">
                <a:solidFill>
                  <a:srgbClr val="000000"/>
                </a:solidFill>
                <a:latin typeface="Calibri" panose="020F0502020204030204" pitchFamily="34" charset="0"/>
                <a:cs typeface="Calibri" panose="020F0502020204030204" pitchFamily="34" charset="0"/>
              </a:rPr>
              <a:t>מסייעים</a:t>
            </a:r>
            <a:endParaRPr lang="he-IL" dirty="0"/>
          </a:p>
        </p:txBody>
      </p:sp>
    </p:spTree>
    <p:extLst>
      <p:ext uri="{BB962C8B-B14F-4D97-AF65-F5344CB8AC3E}">
        <p14:creationId xmlns:p14="http://schemas.microsoft.com/office/powerpoint/2010/main" val="34687945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6"/>
          <p:cNvSpPr txBox="1"/>
          <p:nvPr/>
        </p:nvSpPr>
        <p:spPr>
          <a:xfrm>
            <a:off x="1473106" y="651056"/>
            <a:ext cx="11313347" cy="707886"/>
          </a:xfrm>
          <a:prstGeom prst="rect">
            <a:avLst/>
          </a:prstGeom>
          <a:noFill/>
        </p:spPr>
        <p:txBody>
          <a:bodyPr wrap="square" rtlCol="1">
            <a:spAutoFit/>
          </a:bodyPr>
          <a:lstStyle/>
          <a:p>
            <a:pPr lvl="0" algn="ctr" defTabSz="457200">
              <a:defRPr/>
            </a:pPr>
            <a:r>
              <a:rPr lang="he-IL" sz="4000" b="1" dirty="0" smtClean="0">
                <a:solidFill>
                  <a:srgbClr val="0070C0"/>
                </a:solidFill>
                <a:latin typeface="Calibri" panose="020F0502020204030204" pitchFamily="34" charset="0"/>
                <a:cs typeface="Calibri" panose="020F0502020204030204" pitchFamily="34" charset="0"/>
              </a:rPr>
              <a:t>מקורות תקציביים אפשריים</a:t>
            </a:r>
            <a:endParaRPr lang="he-IL" sz="4000" b="1" dirty="0">
              <a:solidFill>
                <a:srgbClr val="0070C0"/>
              </a:solidFill>
              <a:latin typeface="Calibri" panose="020F0502020204030204" pitchFamily="34" charset="0"/>
              <a:cs typeface="Calibri" panose="020F0502020204030204" pitchFamily="34" charset="0"/>
            </a:endParaRPr>
          </a:p>
        </p:txBody>
      </p:sp>
      <p:sp>
        <p:nvSpPr>
          <p:cNvPr id="9" name="TextBox 8"/>
          <p:cNvSpPr txBox="1"/>
          <p:nvPr/>
        </p:nvSpPr>
        <p:spPr>
          <a:xfrm>
            <a:off x="814142" y="1417214"/>
            <a:ext cx="10875532" cy="4938275"/>
          </a:xfrm>
          <a:prstGeom prst="rect">
            <a:avLst/>
          </a:prstGeom>
          <a:noFill/>
        </p:spPr>
        <p:txBody>
          <a:bodyPr wrap="square" rtlCol="1">
            <a:spAutoFit/>
          </a:bodyPr>
          <a:lstStyle/>
          <a:p>
            <a:pPr marL="457200" lvl="0" indent="-457200" defTabSz="457200">
              <a:lnSpc>
                <a:spcPct val="150000"/>
              </a:lnSpc>
              <a:buFont typeface="Arial" panose="020B0604020202020204" pitchFamily="34" charset="0"/>
              <a:buChar char="•"/>
              <a:defRPr/>
            </a:pPr>
            <a:endParaRPr lang="he-IL" sz="2400" dirty="0">
              <a:solidFill>
                <a:prstClr val="black"/>
              </a:solidFill>
              <a:latin typeface="Calibri" panose="020F0502020204030204" pitchFamily="34" charset="0"/>
              <a:cs typeface="Calibri" panose="020F0502020204030204" pitchFamily="34" charset="0"/>
            </a:endParaRPr>
          </a:p>
          <a:p>
            <a:pPr marL="571500" lvl="0" indent="-571500" defTabSz="457200">
              <a:lnSpc>
                <a:spcPct val="150000"/>
              </a:lnSpc>
              <a:buFontTx/>
              <a:buChar char="-"/>
              <a:defRPr/>
            </a:pPr>
            <a:endParaRPr lang="he-IL" sz="3200"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b="1" dirty="0">
              <a:solidFill>
                <a:prstClr val="black"/>
              </a:solidFill>
              <a:latin typeface="Calibri" panose="020F0502020204030204" pitchFamily="34" charset="0"/>
              <a:cs typeface="Calibri" panose="020F0502020204030204" pitchFamily="34" charset="0"/>
            </a:endParaRPr>
          </a:p>
          <a:p>
            <a:pPr lvl="0" defTabSz="457200" rtl="0">
              <a:lnSpc>
                <a:spcPct val="150000"/>
              </a:lnSpc>
              <a:defRPr/>
            </a:pPr>
            <a:endParaRPr lang="he-IL" sz="3200" dirty="0">
              <a:solidFill>
                <a:prstClr val="black"/>
              </a:solidFill>
              <a:latin typeface="Calibri" panose="020F0502020204030204" pitchFamily="34" charset="0"/>
              <a:cs typeface="Calibri" panose="020F0502020204030204" pitchFamily="34" charset="0"/>
            </a:endParaRPr>
          </a:p>
          <a:p>
            <a:pPr>
              <a:lnSpc>
                <a:spcPct val="150000"/>
              </a:lnSpc>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he-IL" sz="2400" dirty="0" smtClean="0">
              <a:solidFill>
                <a:srgbClr val="000000"/>
              </a:solidFill>
              <a:latin typeface="Calibri" panose="020F0502020204030204" pitchFamily="34" charset="0"/>
              <a:cs typeface="Calibri" panose="020F0502020204030204" pitchFamily="34" charset="0"/>
            </a:endParaRPr>
          </a:p>
          <a:p>
            <a:pPr marL="457200" indent="-457200">
              <a:lnSpc>
                <a:spcPct val="150000"/>
              </a:lnSpc>
              <a:buAutoNum type="arabicPeriod"/>
            </a:pPr>
            <a:endParaRPr lang="en-US" sz="2400" dirty="0">
              <a:latin typeface="Calibri" panose="020F0502020204030204" pitchFamily="34" charset="0"/>
              <a:ea typeface="Times New Roman" panose="02020603050405020304" pitchFamily="18" charset="0"/>
              <a:cs typeface="Calibri" panose="020F0502020204030204" pitchFamily="34" charset="0"/>
            </a:endParaRPr>
          </a:p>
          <a:p>
            <a:pPr>
              <a:lnSpc>
                <a:spcPct val="150000"/>
              </a:lnSpc>
            </a:pPr>
            <a:endParaRPr lang="en-US" sz="2000" dirty="0">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9" name="מלבן 18"/>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 name="AutoShape 4" descr="ביטוח לאומי"/>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pSp>
        <p:nvGrpSpPr>
          <p:cNvPr id="20" name="קבוצה 19"/>
          <p:cNvGrpSpPr/>
          <p:nvPr/>
        </p:nvGrpSpPr>
        <p:grpSpPr>
          <a:xfrm>
            <a:off x="869924" y="1207463"/>
            <a:ext cx="1206364" cy="1207204"/>
            <a:chOff x="1670079" y="2140313"/>
            <a:chExt cx="1642835" cy="1642835"/>
          </a:xfrm>
          <a:solidFill>
            <a:srgbClr val="D8BEEC"/>
          </a:solidFill>
        </p:grpSpPr>
        <p:sp>
          <p:nvSpPr>
            <p:cNvPr id="21" name="אליפסה 20"/>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2"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3" name="אליפסה 22"/>
          <p:cNvSpPr/>
          <p:nvPr/>
        </p:nvSpPr>
        <p:spPr>
          <a:xfrm>
            <a:off x="1636479" y="1014059"/>
            <a:ext cx="1218922" cy="112787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4" name="קבוצה 23"/>
          <p:cNvGrpSpPr/>
          <p:nvPr/>
        </p:nvGrpSpPr>
        <p:grpSpPr>
          <a:xfrm>
            <a:off x="869923" y="609712"/>
            <a:ext cx="2610101" cy="2474379"/>
            <a:chOff x="4003932" y="140625"/>
            <a:chExt cx="3347849" cy="3401935"/>
          </a:xfrm>
        </p:grpSpPr>
        <p:sp>
          <p:nvSpPr>
            <p:cNvPr id="25" name="אליפסה 24"/>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6"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7" name="TextBox 26"/>
          <p:cNvSpPr txBox="1"/>
          <p:nvPr/>
        </p:nvSpPr>
        <p:spPr>
          <a:xfrm>
            <a:off x="155575" y="1417214"/>
            <a:ext cx="11791960" cy="3785652"/>
          </a:xfrm>
          <a:prstGeom prst="rect">
            <a:avLst/>
          </a:prstGeom>
          <a:noFill/>
        </p:spPr>
        <p:txBody>
          <a:bodyPr wrap="square" rtlCol="1">
            <a:spAutoFit/>
          </a:bodyPr>
          <a:lstStyle/>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הורדת התיווך בחברות הסיעוד לבני משפחה </a:t>
            </a:r>
            <a:r>
              <a:rPr lang="he-IL" sz="2000" dirty="0" smtClean="0">
                <a:latin typeface="Calibri" panose="020F0502020204030204" pitchFamily="34" charset="0"/>
                <a:cs typeface="Calibri" panose="020F0502020204030204" pitchFamily="34" charset="0"/>
              </a:rPr>
              <a:t>מטפלים בשכר</a:t>
            </a:r>
            <a:endParaRPr lang="he-IL" sz="2000" dirty="0">
              <a:latin typeface="Calibri" panose="020F0502020204030204" pitchFamily="34" charset="0"/>
              <a:cs typeface="Calibri" panose="020F0502020204030204" pitchFamily="34" charset="0"/>
            </a:endParaRPr>
          </a:p>
          <a:p>
            <a:pPr marL="571500" lvl="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ירידה באחוז הגמלה שניתן למשוך בכסף (מ-80% ל-60%) ושימוש ביתרות לזכאים</a:t>
            </a:r>
          </a:p>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עודפים שלא נמשכים כיום מביטוח לאומי בגמלת הסיעוד – 6% מתוך 14 מיליארד ₪</a:t>
            </a:r>
          </a:p>
          <a:p>
            <a:pPr marL="57150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2 </a:t>
            </a:r>
            <a:r>
              <a:rPr lang="he-IL" sz="2000" dirty="0">
                <a:latin typeface="Calibri" panose="020F0502020204030204" pitchFamily="34" charset="0"/>
                <a:cs typeface="Calibri" panose="020F0502020204030204" pitchFamily="34" charset="0"/>
              </a:rPr>
              <a:t>שעות סיעוד מכל זכאי באופן רוחבי</a:t>
            </a:r>
          </a:p>
          <a:p>
            <a:pPr marL="571500" lvl="0" indent="-571500" defTabSz="457200">
              <a:lnSpc>
                <a:spcPct val="200000"/>
              </a:lnSpc>
              <a:buFont typeface="Arial" panose="020B0604020202020204" pitchFamily="34" charset="0"/>
              <a:buChar char="•"/>
              <a:defRPr/>
            </a:pPr>
            <a:r>
              <a:rPr lang="he-IL" sz="2000" dirty="0" smtClean="0">
                <a:latin typeface="Calibri" panose="020F0502020204030204" pitchFamily="34" charset="0"/>
                <a:cs typeface="Calibri" panose="020F0502020204030204" pitchFamily="34" charset="0"/>
              </a:rPr>
              <a:t>הפחתת האפשרות לבני משפחה מטפלים בתשלום</a:t>
            </a:r>
          </a:p>
          <a:p>
            <a:pPr marL="571500" indent="-571500" defTabSz="457200">
              <a:lnSpc>
                <a:spcPct val="200000"/>
              </a:lnSpc>
              <a:buFont typeface="Arial" panose="020B0604020202020204" pitchFamily="34" charset="0"/>
              <a:buChar char="•"/>
              <a:defRPr/>
            </a:pPr>
            <a:r>
              <a:rPr lang="he-IL" sz="2000" dirty="0">
                <a:latin typeface="Calibri" panose="020F0502020204030204" pitchFamily="34" charset="0"/>
                <a:cs typeface="Calibri" panose="020F0502020204030204" pitchFamily="34" charset="0"/>
              </a:rPr>
              <a:t>תקצוב </a:t>
            </a:r>
            <a:r>
              <a:rPr lang="he-IL" sz="2000" dirty="0" smtClean="0">
                <a:latin typeface="Calibri" panose="020F0502020204030204" pitchFamily="34" charset="0"/>
                <a:cs typeface="Calibri" panose="020F0502020204030204" pitchFamily="34" charset="0"/>
              </a:rPr>
              <a:t>ייעודי</a:t>
            </a:r>
            <a:endParaRPr lang="he-IL" sz="2000" dirty="0">
              <a:latin typeface="Calibri" panose="020F0502020204030204" pitchFamily="34" charset="0"/>
              <a:cs typeface="Calibri" panose="020F0502020204030204" pitchFamily="34" charset="0"/>
            </a:endParaRPr>
          </a:p>
        </p:txBody>
      </p:sp>
      <p:pic>
        <p:nvPicPr>
          <p:cNvPr id="14" name="תמונה 13"/>
          <p:cNvPicPr>
            <a:picLocks noChangeAspect="1"/>
          </p:cNvPicPr>
          <p:nvPr/>
        </p:nvPicPr>
        <p:blipFill>
          <a:blip r:embed="rId2"/>
          <a:stretch>
            <a:fillRect/>
          </a:stretch>
        </p:blipFill>
        <p:spPr>
          <a:xfrm>
            <a:off x="10064496" y="5906733"/>
            <a:ext cx="1975104" cy="885420"/>
          </a:xfrm>
          <a:prstGeom prst="rect">
            <a:avLst/>
          </a:prstGeom>
        </p:spPr>
      </p:pic>
    </p:spTree>
    <p:extLst>
      <p:ext uri="{BB962C8B-B14F-4D97-AF65-F5344CB8AC3E}">
        <p14:creationId xmlns:p14="http://schemas.microsoft.com/office/powerpoint/2010/main" val="8706826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1992</TotalTime>
  <Words>2768</Words>
  <Application>Microsoft Office PowerPoint</Application>
  <PresentationFormat>מסך רחב</PresentationFormat>
  <Paragraphs>474</Paragraphs>
  <Slides>47</Slides>
  <Notes>16</Notes>
  <HiddenSlides>25</HiddenSlides>
  <MMClips>0</MMClips>
  <ScaleCrop>false</ScaleCrop>
  <HeadingPairs>
    <vt:vector size="6" baseType="variant">
      <vt:variant>
        <vt:lpstr>גופנים בשימוש</vt:lpstr>
      </vt:variant>
      <vt:variant>
        <vt:i4>24</vt:i4>
      </vt:variant>
      <vt:variant>
        <vt:lpstr>ערכת נושא</vt:lpstr>
      </vt:variant>
      <vt:variant>
        <vt:i4>4</vt:i4>
      </vt:variant>
      <vt:variant>
        <vt:lpstr>כותרות שקופיות</vt:lpstr>
      </vt:variant>
      <vt:variant>
        <vt:i4>47</vt:i4>
      </vt:variant>
    </vt:vector>
  </HeadingPairs>
  <TitlesOfParts>
    <vt:vector size="75" baseType="lpstr">
      <vt:lpstr>맑은 고딕</vt:lpstr>
      <vt:lpstr>Arial</vt:lpstr>
      <vt:lpstr>Calibri</vt:lpstr>
      <vt:lpstr>Calibri Light</vt:lpstr>
      <vt:lpstr>Calibri-Bold</vt:lpstr>
      <vt:lpstr>Calibri-Light</vt:lpstr>
      <vt:lpstr>Century Gothic</vt:lpstr>
      <vt:lpstr>Consolas</vt:lpstr>
      <vt:lpstr>David</vt:lpstr>
      <vt:lpstr>Droid Serif</vt:lpstr>
      <vt:lpstr>Gisha</vt:lpstr>
      <vt:lpstr>Gotham Book</vt:lpstr>
      <vt:lpstr>Guttman Kav</vt:lpstr>
      <vt:lpstr>Gveret Levin AlefAlefAlef</vt:lpstr>
      <vt:lpstr>Helvetica Neue</vt:lpstr>
      <vt:lpstr>Helvetica Neue Medium</vt:lpstr>
      <vt:lpstr>Montserrat</vt:lpstr>
      <vt:lpstr>Open Sans</vt:lpstr>
      <vt:lpstr>Pontano Sans</vt:lpstr>
      <vt:lpstr>Segoe UI</vt:lpstr>
      <vt:lpstr>Tahoma</vt:lpstr>
      <vt:lpstr>Times New Roman</vt:lpstr>
      <vt:lpstr>Varela Round</vt:lpstr>
      <vt:lpstr>Wingdings</vt:lpstr>
      <vt:lpstr>ערכת נושא Office</vt:lpstr>
      <vt:lpstr>Showeet theme</vt:lpstr>
      <vt:lpstr>1_ערכת נושא Office</vt:lpstr>
      <vt:lpstr>2_ערכת נושא Office</vt:lpstr>
      <vt:lpstr>מצגת של PowerPoint‏</vt:lpstr>
      <vt:lpstr>מצגת של PowerPoint‏</vt:lpstr>
      <vt:lpstr>מצגת של PowerPoint‏</vt:lpstr>
      <vt:lpstr>מצגת של PowerPoint‏</vt:lpstr>
      <vt:lpstr>מצגת של PowerPoint‏</vt:lpstr>
      <vt:lpstr>עקרונות מנחים במודל העבודה המשותף: </vt:lpstr>
      <vt:lpstr>מצגת של PowerPoint‏</vt:lpstr>
      <vt:lpstr>מצגת של PowerPoint‏</vt:lpstr>
      <vt:lpstr>מספר ושיעור זכאי גמלת סיעוד לפי שנים </vt:lpstr>
      <vt:lpstr>השפעות רפורמת 2018</vt:lpstr>
      <vt:lpstr>גמלת סיעוד 2018-2024</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קהילות תומכות שייכות ומניעת התדרדרות </vt:lpstr>
      <vt:lpstr>מצגת של PowerPoint‏</vt:lpstr>
      <vt:lpstr>מצגת של PowerPoint‏</vt:lpstr>
      <vt:lpstr>מצגת של PowerPoint‏</vt:lpstr>
      <vt:lpstr>מצגת של PowerPoint‏</vt:lpstr>
      <vt:lpstr>ביזור דור 2.0  קהילה תומכת סל אישי  מבוסס נתונים</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108</cp:revision>
  <dcterms:created xsi:type="dcterms:W3CDTF">2022-08-02T10:23:38Z</dcterms:created>
  <dcterms:modified xsi:type="dcterms:W3CDTF">2024-03-21T15:14:31Z</dcterms:modified>
</cp:coreProperties>
</file>