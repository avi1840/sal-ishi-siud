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Lst>
  <p:notesMasterIdLst>
    <p:notesMasterId r:id="rId47"/>
  </p:notesMasterIdLst>
  <p:handoutMasterIdLst>
    <p:handoutMasterId r:id="rId48"/>
  </p:handoutMasterIdLst>
  <p:sldIdLst>
    <p:sldId id="284" r:id="rId4"/>
    <p:sldId id="331" r:id="rId5"/>
    <p:sldId id="332" r:id="rId6"/>
    <p:sldId id="334" r:id="rId7"/>
    <p:sldId id="333" r:id="rId8"/>
    <p:sldId id="317" r:id="rId9"/>
    <p:sldId id="309" r:id="rId10"/>
    <p:sldId id="310" r:id="rId11"/>
    <p:sldId id="303" r:id="rId12"/>
    <p:sldId id="299" r:id="rId13"/>
    <p:sldId id="301" r:id="rId14"/>
    <p:sldId id="288" r:id="rId15"/>
    <p:sldId id="289" r:id="rId16"/>
    <p:sldId id="298" r:id="rId17"/>
    <p:sldId id="275" r:id="rId18"/>
    <p:sldId id="292" r:id="rId19"/>
    <p:sldId id="291" r:id="rId20"/>
    <p:sldId id="256" r:id="rId21"/>
    <p:sldId id="300" r:id="rId22"/>
    <p:sldId id="268" r:id="rId23"/>
    <p:sldId id="273" r:id="rId24"/>
    <p:sldId id="302" r:id="rId25"/>
    <p:sldId id="305" r:id="rId26"/>
    <p:sldId id="278" r:id="rId27"/>
    <p:sldId id="296" r:id="rId28"/>
    <p:sldId id="266" r:id="rId29"/>
    <p:sldId id="318" r:id="rId30"/>
    <p:sldId id="319" r:id="rId31"/>
    <p:sldId id="320" r:id="rId32"/>
    <p:sldId id="321" r:id="rId33"/>
    <p:sldId id="313" r:id="rId34"/>
    <p:sldId id="335" r:id="rId35"/>
    <p:sldId id="322" r:id="rId36"/>
    <p:sldId id="323" r:id="rId37"/>
    <p:sldId id="324" r:id="rId38"/>
    <p:sldId id="325" r:id="rId39"/>
    <p:sldId id="326" r:id="rId40"/>
    <p:sldId id="327" r:id="rId41"/>
    <p:sldId id="328" r:id="rId42"/>
    <p:sldId id="329" r:id="rId43"/>
    <p:sldId id="330" r:id="rId44"/>
    <p:sldId id="315" r:id="rId45"/>
    <p:sldId id="281" r:id="rId4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AD4"/>
    <a:srgbClr val="5B9BD5"/>
    <a:srgbClr val="E6E6E6"/>
    <a:srgbClr val="527FC4"/>
    <a:srgbClr val="D8B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732" autoAdjust="0"/>
    <p:restoredTop sz="94660"/>
  </p:normalViewPr>
  <p:slideViewPr>
    <p:cSldViewPr snapToGrid="0">
      <p:cViewPr varScale="1">
        <p:scale>
          <a:sx n="104" d="100"/>
          <a:sy n="104" d="100"/>
        </p:scale>
        <p:origin x="132" y="354"/>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38000"/>
                </a:schemeClr>
              </a:solidFill>
              <a:ln w="19050">
                <a:solidFill>
                  <a:schemeClr val="lt1"/>
                </a:solidFill>
              </a:ln>
              <a:effectLst/>
            </c:spPr>
            <c:extLst>
              <c:ext xmlns:c16="http://schemas.microsoft.com/office/drawing/2014/chart" uri="{C3380CC4-5D6E-409C-BE32-E72D297353CC}">
                <c16:uniqueId val="{00000001-804D-4F03-A1DE-3865F7456A06}"/>
              </c:ext>
            </c:extLst>
          </c:dPt>
          <c:dPt>
            <c:idx val="1"/>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3-804D-4F03-A1DE-3865F7456A06}"/>
              </c:ext>
            </c:extLst>
          </c:dPt>
          <c:dPt>
            <c:idx val="2"/>
            <c:bubble3D val="0"/>
            <c:spPr>
              <a:solidFill>
                <a:schemeClr val="accent1">
                  <a:shade val="56000"/>
                </a:schemeClr>
              </a:solidFill>
              <a:ln w="19050">
                <a:solidFill>
                  <a:schemeClr val="lt1"/>
                </a:solidFill>
              </a:ln>
              <a:effectLst/>
            </c:spPr>
            <c:extLst>
              <c:ext xmlns:c16="http://schemas.microsoft.com/office/drawing/2014/chart" uri="{C3380CC4-5D6E-409C-BE32-E72D297353CC}">
                <c16:uniqueId val="{00000005-804D-4F03-A1DE-3865F7456A06}"/>
              </c:ext>
            </c:extLst>
          </c:dPt>
          <c:dPt>
            <c:idx val="3"/>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7-804D-4F03-A1DE-3865F7456A06}"/>
              </c:ext>
            </c:extLst>
          </c:dPt>
          <c:dPt>
            <c:idx val="4"/>
            <c:bubble3D val="0"/>
            <c:spPr>
              <a:solidFill>
                <a:schemeClr val="accent1">
                  <a:shade val="73000"/>
                </a:schemeClr>
              </a:solidFill>
              <a:ln w="19050">
                <a:solidFill>
                  <a:schemeClr val="lt1"/>
                </a:solidFill>
              </a:ln>
              <a:effectLst/>
            </c:spPr>
            <c:extLst>
              <c:ext xmlns:c16="http://schemas.microsoft.com/office/drawing/2014/chart" uri="{C3380CC4-5D6E-409C-BE32-E72D297353CC}">
                <c16:uniqueId val="{00000009-804D-4F03-A1DE-3865F7456A06}"/>
              </c:ext>
            </c:extLst>
          </c:dPt>
          <c:dPt>
            <c:idx val="5"/>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B-804D-4F03-A1DE-3865F7456A06}"/>
              </c:ext>
            </c:extLst>
          </c:dPt>
          <c:dPt>
            <c:idx val="6"/>
            <c:bubble3D val="0"/>
            <c:spPr>
              <a:solidFill>
                <a:schemeClr val="accent1">
                  <a:shade val="91000"/>
                </a:schemeClr>
              </a:solidFill>
              <a:ln w="19050">
                <a:solidFill>
                  <a:schemeClr val="lt1"/>
                </a:solidFill>
              </a:ln>
              <a:effectLst/>
            </c:spPr>
            <c:extLst>
              <c:ext xmlns:c16="http://schemas.microsoft.com/office/drawing/2014/chart" uri="{C3380CC4-5D6E-409C-BE32-E72D297353CC}">
                <c16:uniqueId val="{0000000D-804D-4F03-A1DE-3865F7456A06}"/>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804D-4F03-A1DE-3865F7456A06}"/>
              </c:ext>
            </c:extLst>
          </c:dPt>
          <c:dPt>
            <c:idx val="8"/>
            <c:bubble3D val="0"/>
            <c:spPr>
              <a:solidFill>
                <a:schemeClr val="accent1">
                  <a:tint val="92000"/>
                </a:schemeClr>
              </a:solidFill>
              <a:ln w="19050">
                <a:solidFill>
                  <a:schemeClr val="lt1"/>
                </a:solidFill>
              </a:ln>
              <a:effectLst/>
            </c:spPr>
            <c:extLst>
              <c:ext xmlns:c16="http://schemas.microsoft.com/office/drawing/2014/chart" uri="{C3380CC4-5D6E-409C-BE32-E72D297353CC}">
                <c16:uniqueId val="{00000011-804D-4F03-A1DE-3865F7456A06}"/>
              </c:ext>
            </c:extLst>
          </c:dPt>
          <c:dPt>
            <c:idx val="9"/>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13-804D-4F03-A1DE-3865F7456A06}"/>
              </c:ext>
            </c:extLst>
          </c:dPt>
          <c:dPt>
            <c:idx val="10"/>
            <c:bubble3D val="0"/>
            <c:spPr>
              <a:solidFill>
                <a:schemeClr val="accent1">
                  <a:tint val="74000"/>
                </a:schemeClr>
              </a:solidFill>
              <a:ln w="19050">
                <a:solidFill>
                  <a:schemeClr val="lt1"/>
                </a:solidFill>
              </a:ln>
              <a:effectLst/>
            </c:spPr>
            <c:extLst>
              <c:ext xmlns:c16="http://schemas.microsoft.com/office/drawing/2014/chart" uri="{C3380CC4-5D6E-409C-BE32-E72D297353CC}">
                <c16:uniqueId val="{00000015-804D-4F03-A1DE-3865F7456A06}"/>
              </c:ext>
            </c:extLst>
          </c:dPt>
          <c:dPt>
            <c:idx val="11"/>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17-804D-4F03-A1DE-3865F7456A06}"/>
              </c:ext>
            </c:extLst>
          </c:dPt>
          <c:dPt>
            <c:idx val="12"/>
            <c:bubble3D val="0"/>
            <c:spPr>
              <a:solidFill>
                <a:schemeClr val="accent1">
                  <a:tint val="57000"/>
                </a:schemeClr>
              </a:solidFill>
              <a:ln w="19050">
                <a:solidFill>
                  <a:schemeClr val="lt1"/>
                </a:solidFill>
              </a:ln>
              <a:effectLst/>
            </c:spPr>
            <c:extLst>
              <c:ext xmlns:c16="http://schemas.microsoft.com/office/drawing/2014/chart" uri="{C3380CC4-5D6E-409C-BE32-E72D297353CC}">
                <c16:uniqueId val="{00000019-804D-4F03-A1DE-3865F7456A06}"/>
              </c:ext>
            </c:extLst>
          </c:dPt>
          <c:dPt>
            <c:idx val="13"/>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1B-804D-4F03-A1DE-3865F7456A06}"/>
              </c:ext>
            </c:extLst>
          </c:dPt>
          <c:dPt>
            <c:idx val="14"/>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D-804D-4F03-A1DE-3865F7456A06}"/>
              </c:ext>
            </c:extLst>
          </c:dPt>
          <c:dPt>
            <c:idx val="15"/>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F-804D-4F03-A1DE-3865F7456A06}"/>
              </c:ext>
            </c:extLst>
          </c:dPt>
          <c:dLbls>
            <c:dLbl>
              <c:idx val="0"/>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01-804D-4F03-A1DE-3865F7456A06}"/>
                </c:ext>
              </c:extLst>
            </c:dLbl>
            <c:dLbl>
              <c:idx val="1"/>
              <c:layout/>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32E26173-42DE-4F16-BC6F-D1EA84ED6762}" type="CATEGORYNAME">
                      <a:rPr lang="he-IL" sz="1100"/>
                      <a:pPr>
                        <a:defRPr sz="1100">
                          <a:solidFill>
                            <a:schemeClr val="bg1">
                              <a:lumMod val="75000"/>
                            </a:schemeClr>
                          </a:solidFill>
                        </a:defRPr>
                      </a:pPr>
                      <a:t>[שם קטגוריה]</a:t>
                    </a:fld>
                    <a:r>
                      <a:rPr lang="he-IL" sz="1100" baseline="0"/>
                      <a:t>, </a:t>
                    </a:r>
                    <a:fld id="{5323395A-D5B4-471D-B3DD-E8DD1A3506ED}" type="VALUE">
                      <a:rPr lang="he-IL" sz="1100" baseline="0" smtClean="0"/>
                      <a:pPr>
                        <a:defRPr sz="1100">
                          <a:solidFill>
                            <a:schemeClr val="bg1">
                              <a:lumMod val="75000"/>
                            </a:schemeClr>
                          </a:solidFill>
                        </a:defRPr>
                      </a:pPr>
                      <a:t>[ערך]</a:t>
                    </a:fld>
                    <a:r>
                      <a:rPr lang="he-IL" sz="1100" baseline="0"/>
                      <a:t>/9.5</a:t>
                    </a:r>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804D-4F03-A1DE-3865F7456A06}"/>
                </c:ext>
              </c:extLst>
            </c:dLbl>
            <c:dLbl>
              <c:idx val="3"/>
              <c:layout/>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185CD460-8D22-4B38-83E1-CCA1803CBE79}" type="CATEGORYNAME">
                      <a:rPr lang="he-IL" sz="1100" smtClean="0"/>
                      <a:pPr>
                        <a:defRPr sz="1100">
                          <a:solidFill>
                            <a:schemeClr val="bg1">
                              <a:lumMod val="75000"/>
                            </a:schemeClr>
                          </a:solidFill>
                        </a:defRPr>
                      </a:pPr>
                      <a:t>[שם קטגוריה]</a:t>
                    </a:fld>
                    <a:r>
                      <a:rPr lang="he-IL" sz="1100" baseline="0" dirty="0"/>
                      <a:t> </a:t>
                    </a:r>
                    <a:fld id="{095DCECD-DB69-4EB5-9444-F1F6AD412F4D}" type="VALUE">
                      <a:rPr lang="he-IL" sz="1100" baseline="0" dirty="0"/>
                      <a:pPr>
                        <a:defRPr sz="1100">
                          <a:solidFill>
                            <a:schemeClr val="bg1">
                              <a:lumMod val="75000"/>
                            </a:schemeClr>
                          </a:solidFill>
                        </a:defRPr>
                      </a:pPr>
                      <a:t>[ערך]</a:t>
                    </a:fld>
                    <a:endParaRPr lang="he-IL" sz="1100" baseline="0" dirty="0"/>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7-804D-4F03-A1DE-3865F7456A06}"/>
                </c:ext>
              </c:extLst>
            </c:dLbl>
            <c:dLbl>
              <c:idx val="7"/>
              <c:layout>
                <c:manualLayout>
                  <c:x val="-6.2571259838280269E-2"/>
                  <c:y val="-9.6888657643725163E-4"/>
                </c:manualLayout>
              </c:layout>
              <c:tx>
                <c:rich>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r>
                      <a:rPr lang="he-IL" sz="1100" b="1" dirty="0" err="1" smtClean="0"/>
                      <a:t>מינהל</a:t>
                    </a:r>
                    <a:r>
                      <a:rPr lang="he-IL" sz="1100" b="1" dirty="0" smtClean="0"/>
                      <a:t> אזרחים ותיקים ברווחה</a:t>
                    </a:r>
                    <a:r>
                      <a:rPr lang="he-IL" sz="1100" baseline="0" dirty="0" smtClean="0"/>
                      <a:t> </a:t>
                    </a:r>
                    <a:fld id="{70634F7F-49C0-43A3-B9DD-21273F20D5E0}" type="VALUE">
                      <a:rPr lang="he-IL" sz="1100" b="1" baseline="0"/>
                      <a:pPr>
                        <a:defRPr sz="1100"/>
                      </a:pPr>
                      <a:t>[ערך]</a:t>
                    </a:fld>
                    <a:endParaRPr lang="he-IL" sz="1100" baseline="0" dirty="0" smtClean="0"/>
                  </a:p>
                </c:rich>
              </c:tx>
              <c:spPr>
                <a:solidFill>
                  <a:schemeClr val="accent1">
                    <a:lumMod val="40000"/>
                    <a:lumOff val="60000"/>
                  </a:schemeClr>
                </a:solid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manualLayout>
                      <c:w val="0.17474391208663351"/>
                      <c:h val="8.6268898708049047E-2"/>
                    </c:manualLayout>
                  </c15:layout>
                  <c15:dlblFieldTable/>
                  <c15:showDataLabelsRange val="0"/>
                </c:ext>
                <c:ext xmlns:c16="http://schemas.microsoft.com/office/drawing/2014/chart" uri="{C3380CC4-5D6E-409C-BE32-E72D297353CC}">
                  <c16:uniqueId val="{0000000F-804D-4F03-A1DE-3865F7456A06}"/>
                </c:ext>
              </c:extLst>
            </c:dLbl>
            <c:dLbl>
              <c:idx val="8"/>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1-804D-4F03-A1DE-3865F7456A06}"/>
                </c:ext>
              </c:extLst>
            </c:dLbl>
            <c:dLbl>
              <c:idx val="12"/>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9-804D-4F03-A1DE-3865F7456A06}"/>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B-804D-4F03-A1DE-3865F7456A06}"/>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D-804D-4F03-A1DE-3865F7456A06}"/>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804D-4F03-A1DE-3865F7456A06}"/>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50">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a:t>בשלושים השנים</a:t>
            </a:r>
            <a:r>
              <a:rPr lang="he-IL" baseline="0"/>
              <a:t> האחרונות </a:t>
            </a:r>
          </a:p>
          <a:p>
            <a:pPr>
              <a:defRPr/>
            </a:pPr>
            <a:r>
              <a:rPr lang="he-IL" baseline="0">
                <a:solidFill>
                  <a:schemeClr val="accent3"/>
                </a:solidFill>
              </a:rPr>
              <a:t>שיעור זכאי גמלת סיעוד</a:t>
            </a:r>
            <a:r>
              <a:rPr lang="he-IL" baseline="0"/>
              <a:t> גדל פי 4</a:t>
            </a:r>
            <a:endParaRPr lang="en-US"/>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28575" cap="rnd">
              <a:solidFill>
                <a:schemeClr val="accent3"/>
              </a:solidFill>
              <a:prstDash val="solid"/>
              <a:round/>
            </a:ln>
            <a:effectLst/>
          </c:spPr>
          <c:marker>
            <c:symbol val="none"/>
          </c:marker>
          <c:dPt>
            <c:idx val="0"/>
            <c:marker>
              <c:symbol val="circle"/>
              <c:size val="7"/>
              <c:spPr>
                <a:solidFill>
                  <a:schemeClr val="accent3"/>
                </a:solidFill>
                <a:ln w="9525">
                  <a:solidFill>
                    <a:schemeClr val="accent3">
                      <a:alpha val="93000"/>
                    </a:schemeClr>
                  </a:solidFill>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2-FE80-4CD3-977E-2EBB2AD43250}"/>
              </c:ext>
            </c:extLst>
          </c:dPt>
          <c:dPt>
            <c:idx val="7"/>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4-FE80-4CD3-977E-2EBB2AD43250}"/>
              </c:ext>
            </c:extLst>
          </c:dPt>
          <c:dPt>
            <c:idx val="8"/>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6-FE80-4CD3-977E-2EBB2AD43250}"/>
              </c:ext>
            </c:extLst>
          </c:dPt>
          <c:dPt>
            <c:idx val="9"/>
            <c:marker>
              <c:symbol val="none"/>
            </c:marker>
            <c:bubble3D val="0"/>
            <c:spPr>
              <a:ln w="28575" cap="rnd">
                <a:solidFill>
                  <a:schemeClr val="accent3"/>
                </a:solidFill>
                <a:prstDash val="solid"/>
                <a:round/>
              </a:ln>
              <a:effectLst/>
            </c:spPr>
            <c:extLst>
              <c:ext xmlns:c16="http://schemas.microsoft.com/office/drawing/2014/chart" uri="{C3380CC4-5D6E-409C-BE32-E72D297353CC}">
                <c16:uniqueId val="{00000008-FE80-4CD3-977E-2EBB2AD43250}"/>
              </c:ext>
            </c:extLst>
          </c:dPt>
          <c:dPt>
            <c:idx val="28"/>
            <c:marker>
              <c:symbol val="circle"/>
              <c:size val="7"/>
              <c:spPr>
                <a:solidFill>
                  <a:schemeClr val="accent3"/>
                </a:solidFill>
                <a:ln w="9525">
                  <a:solidFill>
                    <a:schemeClr val="accent3">
                      <a:alpha val="93000"/>
                    </a:schemeClr>
                  </a:solidFill>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accent3"/>
                </a:solidFill>
                <a:ln w="9525">
                  <a:solidFill>
                    <a:schemeClr val="accent3">
                      <a:alpha val="93000"/>
                    </a:schemeClr>
                  </a:solidFill>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9-FE80-4CD3-977E-2EBB2AD43250}"/>
                </c:ext>
              </c:extLst>
            </c:dLbl>
            <c:dLbl>
              <c:idx val="30"/>
              <c:layout/>
              <c:tx>
                <c:rich>
                  <a:bodyPr/>
                  <a:lstStyle/>
                  <a:p>
                    <a:fld id="{EC75A7A4-19CF-4A90-9D6B-390CB37323D1}" type="VALUE">
                      <a:rPr lang="en-US">
                        <a:solidFill>
                          <a:schemeClr val="accent3"/>
                        </a:solidFill>
                      </a:rPr>
                      <a:pPr/>
                      <a:t>[ערך]</a:t>
                    </a:fld>
                    <a:endParaRPr lang="he-IL"/>
                  </a:p>
                </c:rich>
              </c:tx>
              <c:dLblPos val="t"/>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Sheet1!$A$2:$A$32</c:f>
              <c:numCache>
                <c:formatCode>General</c:formatCode>
                <c:ptCount val="31"/>
                <c:pt idx="0">
                  <c:v>1990</c:v>
                </c:pt>
                <c:pt idx="10">
                  <c:v>2000</c:v>
                </c:pt>
                <c:pt idx="20">
                  <c:v>2010</c:v>
                </c:pt>
                <c:pt idx="30">
                  <c:v>2020</c:v>
                </c:pt>
              </c:numCache>
            </c:numRef>
          </c:cat>
          <c:val>
            <c:numRef>
              <c:f>Sheet1!$C$2:$C$32</c:f>
              <c:numCache>
                <c:formatCode>0.0</c:formatCode>
                <c:ptCount val="31"/>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1"/>
                </a:solidFill>
              </a:rPr>
              <a:t>מספר זכאי גמלת סיעוד</a:t>
            </a:r>
            <a:r>
              <a:rPr lang="he-IL" baseline="0" dirty="0"/>
              <a:t> גדל פי 10</a:t>
            </a:r>
            <a:endParaRPr lang="en-US" dirty="0"/>
          </a:p>
        </c:rich>
      </c:tx>
      <c:layout>
        <c:manualLayout>
          <c:xMode val="edge"/>
          <c:yMode val="edge"/>
          <c:x val="0.29631153846153846"/>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8CDA-4CBE-BDCD-1F0E1D452D11}"/>
                </c:ext>
              </c:extLst>
            </c:dLbl>
            <c:dLbl>
              <c:idx val="32"/>
              <c:layout/>
              <c:tx>
                <c:rich>
                  <a:bodyPr/>
                  <a:lstStyle/>
                  <a:p>
                    <a:r>
                      <a:rPr lang="en-US" dirty="0" smtClean="0"/>
                      <a:t>310,000</a:t>
                    </a:r>
                    <a:endParaRPr lang="en-US" dirty="0"/>
                  </a:p>
                </c:rich>
              </c:tx>
              <c:dLblPos val="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2">
                  <c:v>2022</c:v>
                </c:pt>
              </c:numCache>
            </c:numRef>
          </c:cat>
          <c:val>
            <c:numRef>
              <c:f>Sheet1!$B$2:$B$34</c:f>
              <c:numCache>
                <c:formatCode>#,##0</c:formatCode>
                <c:ptCount val="33"/>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208814386355678E-2"/>
          <c:y val="0.1791523482245132"/>
          <c:w val="0.95714633881110689"/>
          <c:h val="0.57902246755238074"/>
        </c:manualLayout>
      </c:layout>
      <c:barChart>
        <c:barDir val="col"/>
        <c:grouping val="clustered"/>
        <c:varyColors val="0"/>
        <c:ser>
          <c:idx val="0"/>
          <c:order val="0"/>
          <c:tx>
            <c:strRef>
              <c:f>'[(43146) השוואת נתוני תקציב גמלאות ומרכזי יום.xlsx]שינוים בתקציב'!$D$25</c:f>
              <c:strCache>
                <c:ptCount val="1"/>
                <c:pt idx="0">
                  <c:v>2018</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בתקציב'!$D$26:$D$30</c:f>
              <c:numCache>
                <c:formatCode>0.00</c:formatCode>
                <c:ptCount val="5"/>
                <c:pt idx="0">
                  <c:v>6.6909999999999989</c:v>
                </c:pt>
                <c:pt idx="1">
                  <c:v>0.16900000000000001</c:v>
                </c:pt>
                <c:pt idx="2">
                  <c:v>4.4829999999999997</c:v>
                </c:pt>
                <c:pt idx="3">
                  <c:v>1.6919999999999999</c:v>
                </c:pt>
                <c:pt idx="4">
                  <c:v>0.24399999999999999</c:v>
                </c:pt>
              </c:numCache>
            </c:numRef>
          </c:val>
          <c:extLst>
            <c:ext xmlns:c16="http://schemas.microsoft.com/office/drawing/2014/chart" uri="{C3380CC4-5D6E-409C-BE32-E72D297353CC}">
              <c16:uniqueId val="{00000000-5E06-4D41-B6B0-3A85270AEC3B}"/>
            </c:ext>
          </c:extLst>
        </c:ser>
        <c:ser>
          <c:idx val="1"/>
          <c:order val="1"/>
          <c:tx>
            <c:strRef>
              <c:f>'[(43146) השוואת נתוני תקציב גמלאות ומרכזי יום.xlsx]שינוים בתקציב'!$E$25</c:f>
              <c:strCache>
                <c:ptCount val="1"/>
                <c:pt idx="0">
                  <c:v>2022</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בתקציב'!$E$26:$E$30</c:f>
              <c:numCache>
                <c:formatCode>0.00</c:formatCode>
                <c:ptCount val="5"/>
                <c:pt idx="0">
                  <c:v>13.403</c:v>
                </c:pt>
                <c:pt idx="1">
                  <c:v>3.173</c:v>
                </c:pt>
                <c:pt idx="2">
                  <c:v>7.8159999999999998</c:v>
                </c:pt>
                <c:pt idx="3">
                  <c:v>2.0539999999999998</c:v>
                </c:pt>
                <c:pt idx="4">
                  <c:v>0.23100000000000001</c:v>
                </c:pt>
              </c:numCache>
            </c:numRef>
          </c:val>
          <c:extLst>
            <c:ext xmlns:c16="http://schemas.microsoft.com/office/drawing/2014/chart" uri="{C3380CC4-5D6E-409C-BE32-E72D297353CC}">
              <c16:uniqueId val="{00000001-5E06-4D41-B6B0-3A85270AEC3B}"/>
            </c:ext>
          </c:extLst>
        </c:ser>
        <c:dLbls>
          <c:dLblPos val="outEnd"/>
          <c:showLegendKey val="0"/>
          <c:showVal val="1"/>
          <c:showCatName val="0"/>
          <c:showSerName val="0"/>
          <c:showPercent val="0"/>
          <c:showBubbleSize val="0"/>
        </c:dLbls>
        <c:gapWidth val="219"/>
        <c:overlap val="-27"/>
        <c:axId val="843705488"/>
        <c:axId val="843708112"/>
      </c:barChart>
      <c:catAx>
        <c:axId val="843705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843708112"/>
        <c:crosses val="autoZero"/>
        <c:auto val="1"/>
        <c:lblAlgn val="ctr"/>
        <c:lblOffset val="100"/>
        <c:noMultiLvlLbl val="0"/>
      </c:catAx>
      <c:valAx>
        <c:axId val="843708112"/>
        <c:scaling>
          <c:orientation val="minMax"/>
        </c:scaling>
        <c:delete val="1"/>
        <c:axPos val="l"/>
        <c:numFmt formatCode="0.00" sourceLinked="1"/>
        <c:majorTickMark val="none"/>
        <c:minorTickMark val="none"/>
        <c:tickLblPos val="nextTo"/>
        <c:crossAx val="8437054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legend>
    <c:plotVisOnly val="1"/>
    <c:dispBlanksAs val="gap"/>
    <c:showDLblsOverMax val="0"/>
  </c:chart>
  <c:spPr>
    <a:solidFill>
      <a:schemeClr val="bg1"/>
    </a:solidFill>
    <a:ln w="9525" cap="flat" cmpd="sng" algn="ctr">
      <a:noFill/>
      <a:round/>
    </a:ln>
    <a:effectLst/>
  </c:spPr>
  <c:txPr>
    <a:bodyPr/>
    <a:lstStyle/>
    <a:p>
      <a:pPr>
        <a:defRPr sz="1100">
          <a:latin typeface="Calibri" panose="020F0502020204030204" pitchFamily="34" charset="0"/>
          <a:cs typeface="Calibri" panose="020F0502020204030204" pitchFamily="34" charset="0"/>
        </a:defRPr>
      </a:pPr>
      <a:endParaRPr lang="he-IL"/>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160" dirty="0"/>
              <a:t>חלוקת תקציב 2018</a:t>
            </a:r>
          </a:p>
        </c:rich>
      </c:tx>
      <c:layout>
        <c:manualLayout>
          <c:xMode val="edge"/>
          <c:yMode val="edge"/>
          <c:x val="0.33799794219781171"/>
          <c:y val="9.6516457402284178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ser>
          <c:idx val="0"/>
          <c:order val="0"/>
          <c:tx>
            <c:strRef>
              <c:f>'שינוים בתקציב'!$C$72</c:f>
              <c:strCache>
                <c:ptCount val="1"/>
                <c:pt idx="0">
                  <c:v>סה"כ</c:v>
                </c:pt>
              </c:strCache>
            </c:strRef>
          </c:tx>
          <c:dPt>
            <c:idx val="0"/>
            <c:bubble3D val="0"/>
            <c:spPr>
              <a:solidFill>
                <a:schemeClr val="accent5">
                  <a:tint val="58000"/>
                </a:schemeClr>
              </a:solidFill>
              <a:ln w="19050">
                <a:solidFill>
                  <a:schemeClr val="lt1"/>
                </a:solidFill>
              </a:ln>
              <a:effectLst/>
            </c:spPr>
            <c:extLst>
              <c:ext xmlns:c16="http://schemas.microsoft.com/office/drawing/2014/chart" uri="{C3380CC4-5D6E-409C-BE32-E72D297353CC}">
                <c16:uniqueId val="{00000001-1771-4D95-ADCD-08FC320FD681}"/>
              </c:ext>
            </c:extLst>
          </c:dPt>
          <c:dPt>
            <c:idx val="1"/>
            <c:bubble3D val="0"/>
            <c:spPr>
              <a:solidFill>
                <a:schemeClr val="accent5">
                  <a:tint val="86000"/>
                </a:schemeClr>
              </a:solidFill>
              <a:ln w="19050">
                <a:solidFill>
                  <a:schemeClr val="lt1"/>
                </a:solidFill>
              </a:ln>
              <a:effectLst/>
            </c:spPr>
            <c:extLst>
              <c:ext xmlns:c16="http://schemas.microsoft.com/office/drawing/2014/chart" uri="{C3380CC4-5D6E-409C-BE32-E72D297353CC}">
                <c16:uniqueId val="{00000003-1771-4D95-ADCD-08FC320FD681}"/>
              </c:ext>
            </c:extLst>
          </c:dPt>
          <c:dPt>
            <c:idx val="2"/>
            <c:bubble3D val="0"/>
            <c:spPr>
              <a:solidFill>
                <a:schemeClr val="accent5">
                  <a:shade val="86000"/>
                </a:schemeClr>
              </a:solidFill>
              <a:ln w="19050">
                <a:solidFill>
                  <a:schemeClr val="lt1"/>
                </a:solidFill>
              </a:ln>
              <a:effectLst/>
            </c:spPr>
            <c:extLst>
              <c:ext xmlns:c16="http://schemas.microsoft.com/office/drawing/2014/chart" uri="{C3380CC4-5D6E-409C-BE32-E72D297353CC}">
                <c16:uniqueId val="{00000005-1771-4D95-ADCD-08FC320FD681}"/>
              </c:ext>
            </c:extLst>
          </c:dPt>
          <c:dPt>
            <c:idx val="3"/>
            <c:bubble3D val="0"/>
            <c:spPr>
              <a:solidFill>
                <a:schemeClr val="accent5">
                  <a:shade val="58000"/>
                </a:schemeClr>
              </a:solidFill>
              <a:ln w="19050">
                <a:solidFill>
                  <a:schemeClr val="lt1"/>
                </a:solidFill>
              </a:ln>
              <a:effectLst/>
            </c:spPr>
            <c:extLst>
              <c:ext xmlns:c16="http://schemas.microsoft.com/office/drawing/2014/chart" uri="{C3380CC4-5D6E-409C-BE32-E72D297353CC}">
                <c16:uniqueId val="{00000007-1771-4D95-ADCD-08FC320FD681}"/>
              </c:ext>
            </c:extLst>
          </c:dPt>
          <c:dLbls>
            <c:dLbl>
              <c:idx val="0"/>
              <c:layout>
                <c:manualLayout>
                  <c:x val="0.1636758530183727"/>
                  <c:y val="-1.488578778087807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771-4D95-ADCD-08FC320FD681}"/>
                </c:ext>
              </c:extLst>
            </c:dLbl>
            <c:dLbl>
              <c:idx val="1"/>
              <c:layout>
                <c:manualLayout>
                  <c:x val="1.5891127334561446E-2"/>
                  <c:y val="-0.18324519401291056"/>
                </c:manualLayout>
              </c:layout>
              <c:tx>
                <c:rich>
                  <a:bodyPr/>
                  <a:lstStyle/>
                  <a:p>
                    <a:fld id="{83A24EE1-F114-4F3C-98A0-6EF2DC18E43C}" type="CATEGORYNAME">
                      <a:rPr lang="he-IL">
                        <a:solidFill>
                          <a:schemeClr val="bg1"/>
                        </a:solidFill>
                      </a:rPr>
                      <a:pPr/>
                      <a:t>[שם קטגוריה]</a:t>
                    </a:fld>
                    <a:r>
                      <a:rPr lang="he-IL" baseline="0" dirty="0">
                        <a:solidFill>
                          <a:schemeClr val="bg1"/>
                        </a:solidFill>
                      </a:rPr>
                      <a:t>
</a:t>
                    </a:r>
                    <a:fld id="{882E3BF4-9801-4370-85D4-D1EC6724A602}" type="PERCENTAGE">
                      <a:rPr lang="he-IL" baseline="0">
                        <a:solidFill>
                          <a:schemeClr val="bg1"/>
                        </a:solidFill>
                      </a:rPr>
                      <a:pPr/>
                      <a:t>[אחוז]</a:t>
                    </a:fld>
                    <a:endParaRPr lang="he-IL" baseline="0" dirty="0">
                      <a:solidFill>
                        <a:schemeClr val="bg1"/>
                      </a:solidFill>
                    </a:endParaRP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771-4D95-ADCD-08FC320FD681}"/>
                </c:ext>
              </c:extLst>
            </c:dLbl>
            <c:dLbl>
              <c:idx val="2"/>
              <c:layout>
                <c:manualLayout>
                  <c:x val="-0.15997692475940509"/>
                  <c:y val="-8.1485707709278883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771-4D95-ADCD-08FC320FD681}"/>
                </c:ext>
              </c:extLst>
            </c:dLbl>
            <c:dLbl>
              <c:idx val="3"/>
              <c:layout>
                <c:manualLayout>
                  <c:x val="1.1760936132983377E-2"/>
                  <c:y val="-3.2639277445642524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771-4D95-ADCD-08FC320FD681}"/>
                </c:ext>
              </c:extLst>
            </c:dLbl>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'שינוים בתקציב'!$B$73:$B$76</c:f>
              <c:strCache>
                <c:ptCount val="4"/>
                <c:pt idx="0">
                  <c:v>גמלאות בכסף</c:v>
                </c:pt>
                <c:pt idx="1">
                  <c:v>טיפול אישי בבית</c:v>
                </c:pt>
                <c:pt idx="2">
                  <c:v>מרכזי יום</c:v>
                </c:pt>
                <c:pt idx="3">
                  <c:v>שירותים אחרים</c:v>
                </c:pt>
              </c:strCache>
            </c:strRef>
          </c:cat>
          <c:val>
            <c:numRef>
              <c:f>'שינוים בתקציב'!$C$73:$C$76</c:f>
              <c:numCache>
                <c:formatCode>0.00</c:formatCode>
                <c:ptCount val="4"/>
                <c:pt idx="0">
                  <c:v>0.16900000000000001</c:v>
                </c:pt>
                <c:pt idx="1">
                  <c:v>6.1749999999999998</c:v>
                </c:pt>
                <c:pt idx="2">
                  <c:v>0.24399999999999999</c:v>
                </c:pt>
                <c:pt idx="3">
                  <c:v>0.10299999999999999</c:v>
                </c:pt>
              </c:numCache>
            </c:numRef>
          </c:val>
          <c:extLst>
            <c:ext xmlns:c16="http://schemas.microsoft.com/office/drawing/2014/chart" uri="{C3380CC4-5D6E-409C-BE32-E72D297353CC}">
              <c16:uniqueId val="{00000008-1771-4D95-ADCD-08FC320FD681}"/>
            </c:ext>
          </c:extLst>
        </c:ser>
        <c:dLbls>
          <c:dLblPos val="bestFit"/>
          <c:showLegendKey val="0"/>
          <c:showVal val="1"/>
          <c:showCatName val="0"/>
          <c:showSerName val="0"/>
          <c:showPercent val="0"/>
          <c:showBubbleSize val="0"/>
          <c:showLeaderLines val="1"/>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he-IL"/>
              <a:t>חלוקת תקציב 2023</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pieChart>
        <c:varyColors val="1"/>
        <c:ser>
          <c:idx val="0"/>
          <c:order val="0"/>
          <c:tx>
            <c:strRef>
              <c:f>גיליון1!$J$8</c:f>
              <c:strCache>
                <c:ptCount val="1"/>
                <c:pt idx="0">
                  <c:v>תקציב סיעוד 2023</c:v>
                </c:pt>
              </c:strCache>
            </c:strRef>
          </c:tx>
          <c:explosion val="2"/>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1AA0-4242-BC95-54DEFE78882A}"/>
              </c:ext>
            </c:extLst>
          </c:dPt>
          <c:dLbls>
            <c:dLbl>
              <c:idx val="1"/>
              <c:tx>
                <c:rich>
                  <a:bodyPr/>
                  <a:lstStyle/>
                  <a:p>
                    <a:r>
                      <a:rPr lang="he-IL" dirty="0" smtClean="0"/>
                      <a:t>בן משפחה</a:t>
                    </a:r>
                    <a:r>
                      <a:rPr lang="he-IL" baseline="0" dirty="0" smtClean="0"/>
                      <a:t> מטפל בשכר</a:t>
                    </a:r>
                    <a:r>
                      <a:rPr lang="he-IL" baseline="0" dirty="0"/>
                      <a:t>
</a:t>
                    </a:r>
                    <a:fld id="{0A2454EA-A7A5-4F43-BCB6-1EA1D704DF38}" type="PERCENTAGE">
                      <a:rPr lang="he-IL" baseline="0"/>
                      <a:pPr/>
                      <a:t>[אחוז]</a:t>
                    </a:fld>
                    <a:endParaRPr lang="he-IL"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AA0-4242-BC95-54DEFE78882A}"/>
                </c:ext>
              </c:extLst>
            </c:dLbl>
            <c:dLbl>
              <c:idx val="3"/>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6="http://schemas.microsoft.com/office/drawing/2014/chart" uri="{C3380CC4-5D6E-409C-BE32-E72D297353CC}">
                  <c16:uniqueId val="{00000007-1AA0-4242-BC95-54DEFE78882A}"/>
                </c:ext>
              </c:extLst>
            </c:dLbl>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גיליון1!$J$9:$J$13</c:f>
              <c:numCache>
                <c:formatCode>#,##0</c:formatCode>
                <c:ptCount val="5"/>
                <c:pt idx="0">
                  <c:v>3700000</c:v>
                </c:pt>
                <c:pt idx="1">
                  <c:v>5000000</c:v>
                </c:pt>
                <c:pt idx="2">
                  <c:v>5000000</c:v>
                </c:pt>
                <c:pt idx="3">
                  <c:v>300000</c:v>
                </c:pt>
                <c:pt idx="4">
                  <c:v>140000</c:v>
                </c:pt>
              </c:numCache>
            </c:numRef>
          </c:val>
          <c:extLst>
            <c:ext xmlns:c16="http://schemas.microsoft.com/office/drawing/2014/chart" uri="{C3380CC4-5D6E-409C-BE32-E72D297353CC}">
              <c16:uniqueId val="{0000000A-1AA0-4242-BC95-54DEFE78882A}"/>
            </c:ext>
          </c:extLst>
        </c:ser>
        <c:ser>
          <c:idx val="1"/>
          <c:order val="1"/>
          <c:tx>
            <c:strRef>
              <c:f>גיליון1!$K$8</c:f>
              <c:strCache>
                <c:ptCount val="1"/>
                <c:pt idx="0">
                  <c:v>האחוז</c:v>
                </c:pt>
              </c:strCache>
            </c:strRef>
          </c:tx>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C-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E-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0-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2-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4-1AA0-4242-BC95-54DEFE78882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גיליון1!$K$9:$K$13</c:f>
              <c:numCache>
                <c:formatCode>0%</c:formatCode>
                <c:ptCount val="5"/>
                <c:pt idx="0">
                  <c:v>0.26166902404526166</c:v>
                </c:pt>
                <c:pt idx="1">
                  <c:v>0.3536067892503536</c:v>
                </c:pt>
                <c:pt idx="2">
                  <c:v>0.3536067892503536</c:v>
                </c:pt>
                <c:pt idx="3">
                  <c:v>2.1216407355021217E-2</c:v>
                </c:pt>
                <c:pt idx="4">
                  <c:v>9.9009900990099011E-3</c:v>
                </c:pt>
              </c:numCache>
            </c:numRef>
          </c:val>
          <c:extLst>
            <c:ext xmlns:c16="http://schemas.microsoft.com/office/drawing/2014/chart" uri="{C3380CC4-5D6E-409C-BE32-E72D297353CC}">
              <c16:uniqueId val="{00000015-1AA0-4242-BC95-54DEFE78882A}"/>
            </c:ext>
          </c:extLst>
        </c:ser>
        <c:dLbls>
          <c:dLblPos val="bestFit"/>
          <c:showLegendKey val="0"/>
          <c:showVal val="1"/>
          <c:showCatName val="0"/>
          <c:showSerName val="0"/>
          <c:showPercent val="0"/>
          <c:showBubbleSize val="0"/>
          <c:showLeaderLines val="1"/>
        </c:dLbls>
        <c:firstSliceAng val="36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400" dirty="0">
                <a:latin typeface="Calibri" panose="020F0502020204030204" pitchFamily="34" charset="0"/>
                <a:cs typeface="Calibri" panose="020F0502020204030204" pitchFamily="34" charset="0"/>
              </a:rPr>
              <a:t>השתתפות עצמית חודשית על רצף השירותים</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5">
  <a:schemeClr val="accent5"/>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03E818-829B-494C-AE79-53888110FC46}" type="doc">
      <dgm:prSet loTypeId="urn:microsoft.com/office/officeart/2005/8/layout/default" loCatId="list" qsTypeId="urn:microsoft.com/office/officeart/2005/8/quickstyle/simple1" qsCatId="simple" csTypeId="urn:microsoft.com/office/officeart/2005/8/colors/accent3_4" csCatId="accent3" phldr="1"/>
      <dgm:spPr/>
      <dgm:t>
        <a:bodyPr/>
        <a:lstStyle/>
        <a:p>
          <a:pPr rtl="1"/>
          <a:endParaRPr lang="he-IL"/>
        </a:p>
      </dgm:t>
    </dgm:pt>
    <dgm:pt modelId="{241310CE-3B88-4AC8-A588-7879AADDA27E}">
      <dgm:prSet phldrT="[טקסט]" custT="1"/>
      <dgm:spPr>
        <a:solidFill>
          <a:srgbClr val="C39BE1"/>
        </a:solidFill>
      </dgm:spPr>
      <dgm:t>
        <a:bodyPr/>
        <a:lstStyle/>
        <a:p>
          <a:pPr rtl="1"/>
          <a:r>
            <a:rPr lang="he-IL" sz="2000" dirty="0" smtClean="0">
              <a:latin typeface="Calibri Light" panose="020F0302020204030204" pitchFamily="34" charset="0"/>
              <a:cs typeface="Calibri Light" panose="020F0302020204030204" pitchFamily="34" charset="0"/>
            </a:rPr>
            <a:t>יציאה מהבית למרחב הציבורי היא אחד המנבאים לאיכות חיים. בבריטניה, בשכונות בהן­ נעים ונוח יותר לצאת אל מחוץ לבית הקשרים החברתיים של הזקנים חזקים ורחבים יותר (אשל-ג'וינט, 2020). </a:t>
          </a:r>
          <a:endParaRPr lang="he-IL" sz="2000" dirty="0">
            <a:latin typeface="Calibri Light" panose="020F0302020204030204" pitchFamily="34" charset="0"/>
            <a:cs typeface="Calibri Light" panose="020F0302020204030204" pitchFamily="34" charset="0"/>
          </a:endParaRPr>
        </a:p>
      </dgm:t>
    </dgm:pt>
    <dgm:pt modelId="{7F9C43C3-97C8-43CA-9F9F-CF826AD22CAF}" type="parTrans" cxnId="{95ABD639-A284-4654-8180-2893BC5601DF}">
      <dgm:prSet/>
      <dgm:spPr/>
      <dgm:t>
        <a:bodyPr/>
        <a:lstStyle/>
        <a:p>
          <a:pPr rtl="1"/>
          <a:endParaRPr lang="he-IL"/>
        </a:p>
      </dgm:t>
    </dgm:pt>
    <dgm:pt modelId="{C1F0B952-F9A1-4DAE-95ED-B4C4139A3D5F}" type="sibTrans" cxnId="{95ABD639-A284-4654-8180-2893BC5601DF}">
      <dgm:prSet/>
      <dgm:spPr/>
      <dgm:t>
        <a:bodyPr/>
        <a:lstStyle/>
        <a:p>
          <a:pPr rtl="1"/>
          <a:endParaRPr lang="he-IL"/>
        </a:p>
      </dgm:t>
    </dgm:pt>
    <dgm:pt modelId="{617219C2-968C-4712-912D-77F8163D7BF1}">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התפיסה העצמית של מבקרים במרכזי יום באופן חלקי או מלא, טובה יותר מזו של א/נשים זקנים המקבלים שירותי טיפול ביתי בלבד (גל </a:t>
          </a:r>
          <a:r>
            <a:rPr lang="he-IL" sz="2000" dirty="0" err="1" smtClean="0">
              <a:latin typeface="Calibri Light" panose="020F0302020204030204" pitchFamily="34" charset="0"/>
              <a:cs typeface="Calibri Light" panose="020F0302020204030204" pitchFamily="34" charset="0"/>
            </a:rPr>
            <a:t>ופריזנט</a:t>
          </a:r>
          <a:r>
            <a:rPr lang="he-IL" sz="2000" dirty="0" smtClean="0">
              <a:latin typeface="Calibri Light" panose="020F0302020204030204" pitchFamily="34" charset="0"/>
              <a:cs typeface="Calibri Light" panose="020F0302020204030204" pitchFamily="34" charset="0"/>
            </a:rPr>
            <a:t>, 2003) </a:t>
          </a:r>
          <a:endParaRPr lang="he-IL" sz="2000" dirty="0">
            <a:latin typeface="Calibri Light" panose="020F0302020204030204" pitchFamily="34" charset="0"/>
            <a:cs typeface="Calibri Light" panose="020F0302020204030204" pitchFamily="34" charset="0"/>
          </a:endParaRPr>
        </a:p>
      </dgm:t>
    </dgm:pt>
    <dgm:pt modelId="{E69C685E-01D6-4D7C-9FF1-0B526D9120BE}" type="parTrans" cxnId="{63BAC125-745F-4E61-AFCA-5EBD2B24063A}">
      <dgm:prSet/>
      <dgm:spPr/>
      <dgm:t>
        <a:bodyPr/>
        <a:lstStyle/>
        <a:p>
          <a:pPr rtl="1"/>
          <a:endParaRPr lang="he-IL"/>
        </a:p>
      </dgm:t>
    </dgm:pt>
    <dgm:pt modelId="{6175E458-FDC0-4AC0-B19C-DF1C82727A6C}" type="sibTrans" cxnId="{63BAC125-745F-4E61-AFCA-5EBD2B24063A}">
      <dgm:prSet/>
      <dgm:spPr/>
      <dgm:t>
        <a:bodyPr/>
        <a:lstStyle/>
        <a:p>
          <a:pPr rtl="1"/>
          <a:endParaRPr lang="he-IL"/>
        </a:p>
      </dgm:t>
    </dgm:pt>
    <dgm:pt modelId="{E8B49B21-C142-4DB5-AF37-633D4B80EED6}">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השתתפות בתוכניות הפחיתה במובהק את רמת האינדיקציה לדיכאון של המשתתפים לעומת מי שלא השתתפו בהן (מחקר מלווה למיזם להפחתת תחושת הבדידות, מכון </a:t>
          </a:r>
          <a:r>
            <a:rPr lang="he-IL" sz="2000" dirty="0" err="1" smtClean="0">
              <a:latin typeface="Calibri Light" panose="020F0302020204030204" pitchFamily="34" charset="0"/>
              <a:cs typeface="Calibri Light" panose="020F0302020204030204" pitchFamily="34" charset="0"/>
            </a:rPr>
            <a:t>ברוקדייל</a:t>
          </a:r>
          <a:r>
            <a:rPr lang="he-IL" sz="2000" dirty="0" smtClean="0">
              <a:latin typeface="Calibri Light" panose="020F0302020204030204" pitchFamily="34" charset="0"/>
              <a:cs typeface="Calibri Light" panose="020F0302020204030204" pitchFamily="34" charset="0"/>
            </a:rPr>
            <a:t>, 2020).</a:t>
          </a:r>
          <a:endParaRPr lang="he-IL" sz="2000" dirty="0">
            <a:latin typeface="Calibri Light" panose="020F0302020204030204" pitchFamily="34" charset="0"/>
            <a:cs typeface="Calibri Light" panose="020F0302020204030204" pitchFamily="34" charset="0"/>
          </a:endParaRPr>
        </a:p>
      </dgm:t>
    </dgm:pt>
    <dgm:pt modelId="{88A5691F-8864-4767-8C6E-637A791EE857}" type="parTrans" cxnId="{40B65EDF-B405-4126-A262-3C74997E3B01}">
      <dgm:prSet/>
      <dgm:spPr/>
      <dgm:t>
        <a:bodyPr/>
        <a:lstStyle/>
        <a:p>
          <a:pPr rtl="1"/>
          <a:endParaRPr lang="he-IL"/>
        </a:p>
      </dgm:t>
    </dgm:pt>
    <dgm:pt modelId="{C3B47F52-970B-49EC-B4BF-686C5BBFB2E9}" type="sibTrans" cxnId="{40B65EDF-B405-4126-A262-3C74997E3B01}">
      <dgm:prSet/>
      <dgm:spPr/>
      <dgm:t>
        <a:bodyPr/>
        <a:lstStyle/>
        <a:p>
          <a:pPr rtl="1"/>
          <a:endParaRPr lang="he-IL"/>
        </a:p>
      </dgm:t>
    </dgm:pt>
    <dgm:pt modelId="{5A92FA88-AAA1-4BB3-85C4-D5E7C59CD7A2}">
      <dgm:prSet phldrT="[טקסט]" custT="1"/>
      <dgm:spPr>
        <a:solidFill>
          <a:srgbClr val="5A2781"/>
        </a:solidFill>
      </dgm:spPr>
      <dgm:t>
        <a:bodyPr/>
        <a:lstStyle/>
        <a:p>
          <a:pPr rtl="1"/>
          <a:r>
            <a:rPr lang="he-IL" sz="2000" dirty="0" smtClean="0">
              <a:latin typeface="Calibri Light" panose="020F0302020204030204" pitchFamily="34" charset="0"/>
              <a:cs typeface="Calibri Light" panose="020F0302020204030204" pitchFamily="34" charset="0"/>
            </a:rPr>
            <a:t>מרכזי היום תורמים באופן ישיר למערכת הבריאות בכך שהם דוחים/מונעים מיסוד  (</a:t>
          </a:r>
          <a:r>
            <a:rPr lang="en-US" sz="2000" dirty="0" smtClean="0">
              <a:latin typeface="Calibri Light" panose="020F0302020204030204" pitchFamily="34" charset="0"/>
              <a:cs typeface="Calibri Light" panose="020F0302020204030204" pitchFamily="34" charset="0"/>
            </a:rPr>
            <a:t>Fields et al., 2014</a:t>
          </a:r>
          <a:r>
            <a:rPr lang="he-IL" sz="2000" dirty="0" smtClean="0">
              <a:latin typeface="Calibri Light" panose="020F0302020204030204" pitchFamily="34" charset="0"/>
              <a:cs typeface="Calibri Light" panose="020F0302020204030204" pitchFamily="34" charset="0"/>
            </a:rPr>
            <a:t>) ואשפוזים (</a:t>
          </a:r>
          <a:r>
            <a:rPr lang="en-US" sz="2000" dirty="0" err="1" smtClean="0">
              <a:latin typeface="Calibri Light" panose="020F0302020204030204" pitchFamily="34" charset="0"/>
              <a:cs typeface="Calibri Light" panose="020F0302020204030204" pitchFamily="34" charset="0"/>
            </a:rPr>
            <a:t>Zarit</a:t>
          </a:r>
          <a:r>
            <a:rPr lang="en-US" sz="2000" dirty="0" smtClean="0">
              <a:latin typeface="Calibri Light" panose="020F0302020204030204" pitchFamily="34" charset="0"/>
              <a:cs typeface="Calibri Light" panose="020F0302020204030204" pitchFamily="34" charset="0"/>
            </a:rPr>
            <a:t> et al., 2011</a:t>
          </a:r>
          <a:r>
            <a:rPr lang="he-IL" sz="2000" dirty="0" smtClean="0">
              <a:latin typeface="Calibri Light" panose="020F0302020204030204" pitchFamily="34" charset="0"/>
              <a:cs typeface="Calibri Light" panose="020F0302020204030204" pitchFamily="34" charset="0"/>
            </a:rPr>
            <a:t>). </a:t>
          </a:r>
          <a:endParaRPr lang="he-IL" sz="2000" dirty="0">
            <a:latin typeface="Calibri Light" panose="020F0302020204030204" pitchFamily="34" charset="0"/>
            <a:cs typeface="Calibri Light" panose="020F0302020204030204" pitchFamily="34" charset="0"/>
          </a:endParaRPr>
        </a:p>
      </dgm:t>
    </dgm:pt>
    <dgm:pt modelId="{49543E0E-7E7E-4BE2-B666-4EE4BD96EA60}" type="parTrans" cxnId="{AAFDC21D-E563-431A-B216-9F66A02FED82}">
      <dgm:prSet/>
      <dgm:spPr/>
      <dgm:t>
        <a:bodyPr/>
        <a:lstStyle/>
        <a:p>
          <a:pPr rtl="1"/>
          <a:endParaRPr lang="he-IL"/>
        </a:p>
      </dgm:t>
    </dgm:pt>
    <dgm:pt modelId="{9283CAF6-A279-437E-9A5E-36735DFF51A9}" type="sibTrans" cxnId="{AAFDC21D-E563-431A-B216-9F66A02FED82}">
      <dgm:prSet/>
      <dgm:spPr/>
      <dgm:t>
        <a:bodyPr/>
        <a:lstStyle/>
        <a:p>
          <a:pPr rtl="1"/>
          <a:endParaRPr lang="he-IL"/>
        </a:p>
      </dgm:t>
    </dgm:pt>
    <dgm:pt modelId="{3D104136-4A9E-4323-B2EC-A70B67DF21C7}">
      <dgm:prSet custT="1"/>
      <dgm:spPr>
        <a:solidFill>
          <a:srgbClr val="00B0F0"/>
        </a:solidFill>
      </dgm:spPr>
      <dgm:t>
        <a:bodyPr/>
        <a:lstStyle/>
        <a:p>
          <a:pPr rtl="1"/>
          <a:r>
            <a:rPr lang="he-IL" sz="1600" dirty="0" smtClean="0">
              <a:latin typeface="Calibri Light" panose="020F0302020204030204" pitchFamily="34" charset="0"/>
              <a:cs typeface="Calibri Light" panose="020F0302020204030204" pitchFamily="34" charset="0"/>
            </a:rPr>
            <a:t>57% מן המשיבים ציינו שהתוכנית תרמה להפחתת תחושת הבדידות שלהם במידה רבה או רבה מאוד. 71% דיווחו על שיפור מצב הרוח הכללי במידה רבה או רבה מאוד, ו-48% מן המשיבים דיווחו כך על שיפור בתחושת הבריאות הכללית. (קהילה תומכת משודרגת, מכון </a:t>
          </a:r>
          <a:r>
            <a:rPr lang="he-IL" sz="1600" dirty="0" err="1" smtClean="0">
              <a:latin typeface="Calibri Light" panose="020F0302020204030204" pitchFamily="34" charset="0"/>
              <a:cs typeface="Calibri Light" panose="020F0302020204030204" pitchFamily="34" charset="0"/>
            </a:rPr>
            <a:t>ברוקדייל</a:t>
          </a:r>
          <a:r>
            <a:rPr lang="he-IL" sz="1600" dirty="0" smtClean="0">
              <a:latin typeface="Calibri Light" panose="020F0302020204030204" pitchFamily="34" charset="0"/>
              <a:cs typeface="Calibri Light" panose="020F0302020204030204" pitchFamily="34" charset="0"/>
            </a:rPr>
            <a:t> 2020)</a:t>
          </a:r>
          <a:endParaRPr lang="he-IL" sz="1600" dirty="0">
            <a:latin typeface="Calibri Light" panose="020F0302020204030204" pitchFamily="34" charset="0"/>
            <a:cs typeface="Calibri Light" panose="020F0302020204030204" pitchFamily="34" charset="0"/>
          </a:endParaRPr>
        </a:p>
      </dgm:t>
    </dgm:pt>
    <dgm:pt modelId="{B223243C-DA79-4DEE-B14C-BF3B6259D22D}" type="parTrans" cxnId="{73D738C1-4FB4-4EA2-B204-B74DA41559D6}">
      <dgm:prSet/>
      <dgm:spPr/>
      <dgm:t>
        <a:bodyPr/>
        <a:lstStyle/>
        <a:p>
          <a:pPr rtl="1"/>
          <a:endParaRPr lang="he-IL"/>
        </a:p>
      </dgm:t>
    </dgm:pt>
    <dgm:pt modelId="{2796C379-2338-4D4C-B506-227B4BFC9B03}" type="sibTrans" cxnId="{73D738C1-4FB4-4EA2-B204-B74DA41559D6}">
      <dgm:prSet/>
      <dgm:spPr/>
      <dgm:t>
        <a:bodyPr/>
        <a:lstStyle/>
        <a:p>
          <a:pPr rtl="1"/>
          <a:endParaRPr lang="he-IL"/>
        </a:p>
      </dgm:t>
    </dgm:pt>
    <dgm:pt modelId="{D6E33710-09E3-4F8E-B3D7-E30B297A75A5}">
      <dgm:prSet phldrT="[טקסט]" custT="1"/>
      <dgm:spPr>
        <a:solidFill>
          <a:srgbClr val="002060"/>
        </a:solidFill>
      </dgm:spPr>
      <dgm:t>
        <a:bodyPr/>
        <a:lstStyle/>
        <a:p>
          <a:pPr rtl="1"/>
          <a:r>
            <a:rPr lang="he-IL" sz="2000" dirty="0" smtClean="0">
              <a:latin typeface="Calibri Light" panose="020F0302020204030204" pitchFamily="34" charset="0"/>
              <a:cs typeface="Calibri Light" panose="020F0302020204030204" pitchFamily="34" charset="0"/>
            </a:rPr>
            <a:t>רבים מבני המשפחה התומכים רואים במרכז היום כמקום השומר על בריאות האדם הזקן (</a:t>
          </a:r>
          <a:r>
            <a:rPr lang="he-IL" sz="2000" dirty="0" err="1" smtClean="0">
              <a:latin typeface="Calibri Light" panose="020F0302020204030204" pitchFamily="34" charset="0"/>
              <a:cs typeface="Calibri Light" panose="020F0302020204030204" pitchFamily="34" charset="0"/>
            </a:rPr>
            <a:t>רזניצקי</a:t>
          </a:r>
          <a:r>
            <a:rPr lang="he-IL" sz="2000" dirty="0" smtClean="0">
              <a:latin typeface="Calibri Light" panose="020F0302020204030204" pitchFamily="34" charset="0"/>
              <a:cs typeface="Calibri Light" panose="020F0302020204030204" pitchFamily="34" charset="0"/>
            </a:rPr>
            <a:t> ואחרים, 2012).</a:t>
          </a:r>
          <a:endParaRPr lang="he-IL" sz="2000" dirty="0">
            <a:latin typeface="Calibri Light" panose="020F0302020204030204" pitchFamily="34" charset="0"/>
            <a:cs typeface="Calibri Light" panose="020F0302020204030204" pitchFamily="34" charset="0"/>
          </a:endParaRPr>
        </a:p>
      </dgm:t>
    </dgm:pt>
    <dgm:pt modelId="{B1C1FAEC-90E7-4EF4-B5E6-5D5CEE85DFB3}" type="sibTrans" cxnId="{91D46F80-226D-4225-8FEF-E4335BAE6F58}">
      <dgm:prSet/>
      <dgm:spPr/>
      <dgm:t>
        <a:bodyPr/>
        <a:lstStyle/>
        <a:p>
          <a:pPr rtl="1"/>
          <a:endParaRPr lang="he-IL"/>
        </a:p>
      </dgm:t>
    </dgm:pt>
    <dgm:pt modelId="{DACB91AF-9A7C-40F3-8219-544EFE62AB69}" type="parTrans" cxnId="{91D46F80-226D-4225-8FEF-E4335BAE6F58}">
      <dgm:prSet/>
      <dgm:spPr/>
      <dgm:t>
        <a:bodyPr/>
        <a:lstStyle/>
        <a:p>
          <a:pPr rtl="1"/>
          <a:endParaRPr lang="he-IL"/>
        </a:p>
      </dgm:t>
    </dgm:pt>
    <dgm:pt modelId="{45EF3B54-DE95-44D8-BBE4-9EDB6FEB97D5}">
      <dgm:prSet phldrT="[טקסט]" custT="1"/>
      <dgm:spPr>
        <a:solidFill>
          <a:srgbClr val="C39BE1"/>
        </a:solidFill>
      </dgm:spPr>
      <dgm:t>
        <a:bodyPr/>
        <a:lstStyle/>
        <a:p>
          <a:pPr rtl="1"/>
          <a:r>
            <a:rPr lang="he-IL" sz="2200" dirty="0" smtClean="0">
              <a:latin typeface="Calibri Light" panose="020F0302020204030204" pitchFamily="34" charset="0"/>
              <a:cs typeface="Calibri Light" panose="020F0302020204030204" pitchFamily="34" charset="0"/>
            </a:rPr>
            <a:t>טיפול על ידי עובד זר מפחית איכות חיים בכך שמקטין מגעים עם המשפחה ושביעות רצון מהתמיכה וממערכות היחסים (</a:t>
          </a:r>
          <a:r>
            <a:rPr lang="he-IL" sz="2200" dirty="0" err="1" smtClean="0">
              <a:latin typeface="Calibri Light" panose="020F0302020204030204" pitchFamily="34" charset="0"/>
              <a:cs typeface="Calibri Light" panose="020F0302020204030204" pitchFamily="34" charset="0"/>
            </a:rPr>
            <a:t>חלאילה</a:t>
          </a:r>
          <a:r>
            <a:rPr lang="he-IL" sz="2200" dirty="0" smtClean="0">
              <a:latin typeface="Calibri Light" panose="020F0302020204030204" pitchFamily="34" charset="0"/>
              <a:cs typeface="Calibri Light" panose="020F0302020204030204" pitchFamily="34" charset="0"/>
            </a:rPr>
            <a:t> 2021)</a:t>
          </a:r>
          <a:endParaRPr lang="he-IL" sz="2200" dirty="0">
            <a:latin typeface="Calibri Light" panose="020F0302020204030204" pitchFamily="34" charset="0"/>
            <a:cs typeface="Calibri Light" panose="020F0302020204030204" pitchFamily="34" charset="0"/>
          </a:endParaRPr>
        </a:p>
      </dgm:t>
    </dgm:pt>
    <dgm:pt modelId="{660044E0-F4A1-4901-98B6-07404CA2BFAA}" type="parTrans" cxnId="{621DD7FC-4367-4622-95EC-79570ED47E43}">
      <dgm:prSet/>
      <dgm:spPr/>
      <dgm:t>
        <a:bodyPr/>
        <a:lstStyle/>
        <a:p>
          <a:pPr rtl="1"/>
          <a:endParaRPr lang="he-IL"/>
        </a:p>
      </dgm:t>
    </dgm:pt>
    <dgm:pt modelId="{DB9F7805-AA66-4E68-9460-B1DE2A358710}" type="sibTrans" cxnId="{621DD7FC-4367-4622-95EC-79570ED47E43}">
      <dgm:prSet/>
      <dgm:spPr/>
      <dgm:t>
        <a:bodyPr/>
        <a:lstStyle/>
        <a:p>
          <a:pPr rtl="1"/>
          <a:endParaRPr lang="he-IL"/>
        </a:p>
      </dgm:t>
    </dgm:pt>
    <dgm:pt modelId="{030E1C9A-05A8-46AB-8136-78E3339D389A}">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תחושת הבדידות בקרב מבקרי מרכז היום ומעורבות בפעילות נמצאו משפיעים באופן מובהק על תחושת השייכות בקרב המבקרים. אך פחות בקרב מי שנמצא בקשר תכוף עם בני משפחתו (</a:t>
          </a:r>
          <a:r>
            <a:rPr lang="he-IL" sz="2000" dirty="0" err="1" smtClean="0">
              <a:latin typeface="Calibri Light" panose="020F0302020204030204" pitchFamily="34" charset="0"/>
              <a:cs typeface="Calibri Light" panose="020F0302020204030204" pitchFamily="34" charset="0"/>
            </a:rPr>
            <a:t>חלאילה</a:t>
          </a:r>
          <a:r>
            <a:rPr lang="he-IL" sz="2000" dirty="0" smtClean="0">
              <a:latin typeface="Calibri Light" panose="020F0302020204030204" pitchFamily="34" charset="0"/>
              <a:cs typeface="Calibri Light" panose="020F0302020204030204" pitchFamily="34" charset="0"/>
            </a:rPr>
            <a:t> 2021)</a:t>
          </a:r>
          <a:endParaRPr lang="he-IL" sz="2000" dirty="0">
            <a:latin typeface="Calibri Light" panose="020F0302020204030204" pitchFamily="34" charset="0"/>
            <a:cs typeface="Calibri Light" panose="020F0302020204030204" pitchFamily="34" charset="0"/>
          </a:endParaRPr>
        </a:p>
      </dgm:t>
    </dgm:pt>
    <dgm:pt modelId="{4FCC6EF2-244B-4F17-874C-855DBA859490}" type="parTrans" cxnId="{1A284C78-7306-4021-A6A4-ACCFBE70AED0}">
      <dgm:prSet/>
      <dgm:spPr/>
      <dgm:t>
        <a:bodyPr/>
        <a:lstStyle/>
        <a:p>
          <a:pPr rtl="1"/>
          <a:endParaRPr lang="he-IL"/>
        </a:p>
      </dgm:t>
    </dgm:pt>
    <dgm:pt modelId="{D06323B8-195A-4EB4-BA61-7B1020AB3F3E}" type="sibTrans" cxnId="{1A284C78-7306-4021-A6A4-ACCFBE70AED0}">
      <dgm:prSet/>
      <dgm:spPr/>
      <dgm:t>
        <a:bodyPr/>
        <a:lstStyle/>
        <a:p>
          <a:pPr rtl="1"/>
          <a:endParaRPr lang="he-IL"/>
        </a:p>
      </dgm:t>
    </dgm:pt>
    <dgm:pt modelId="{8FAE194E-2FFB-4523-9C1D-4D681EF121F9}">
      <dgm:prSet phldrT="[טקסט]" custT="1"/>
      <dgm:spPr>
        <a:solidFill>
          <a:srgbClr val="5A2781"/>
        </a:solidFill>
      </dgm:spPr>
      <dgm:t>
        <a:bodyPr/>
        <a:lstStyle/>
        <a:p>
          <a:pPr rtl="1"/>
          <a:r>
            <a:rPr lang="he-IL" sz="2000" dirty="0" smtClean="0">
              <a:latin typeface="Calibri Light" panose="020F0302020204030204" pitchFamily="34" charset="0"/>
              <a:cs typeface="Calibri Light" panose="020F0302020204030204" pitchFamily="34" charset="0"/>
            </a:rPr>
            <a:t>תדירות גבוהה של ביקורים במרכז יום ושביעות רצון מהפעילות היו קשורים לאיכות חיים גבוהה במיוחד במרכז ובמגזר היהודי (</a:t>
          </a:r>
          <a:r>
            <a:rPr lang="he-IL" sz="2000" dirty="0" err="1" smtClean="0">
              <a:latin typeface="Calibri Light" panose="020F0302020204030204" pitchFamily="34" charset="0"/>
              <a:cs typeface="Calibri Light" panose="020F0302020204030204" pitchFamily="34" charset="0"/>
            </a:rPr>
            <a:t>חלאילה</a:t>
          </a:r>
          <a:r>
            <a:rPr lang="he-IL" sz="2000" dirty="0" smtClean="0">
              <a:latin typeface="Calibri Light" panose="020F0302020204030204" pitchFamily="34" charset="0"/>
              <a:cs typeface="Calibri Light" panose="020F0302020204030204" pitchFamily="34" charset="0"/>
            </a:rPr>
            <a:t>, 2021)</a:t>
          </a:r>
          <a:endParaRPr lang="he-IL" sz="2000" dirty="0">
            <a:latin typeface="Calibri Light" panose="020F0302020204030204" pitchFamily="34" charset="0"/>
            <a:cs typeface="Calibri Light" panose="020F0302020204030204" pitchFamily="34" charset="0"/>
          </a:endParaRPr>
        </a:p>
      </dgm:t>
    </dgm:pt>
    <dgm:pt modelId="{4BA2692B-7413-474F-9E9D-4A02BDFAA2C6}" type="parTrans" cxnId="{A76D8B60-BE3A-4BB8-8EDF-1DBF28E6B789}">
      <dgm:prSet/>
      <dgm:spPr/>
      <dgm:t>
        <a:bodyPr/>
        <a:lstStyle/>
        <a:p>
          <a:pPr rtl="1"/>
          <a:endParaRPr lang="he-IL"/>
        </a:p>
      </dgm:t>
    </dgm:pt>
    <dgm:pt modelId="{477F5CF9-4443-45D6-A79F-969B2C782A98}" type="sibTrans" cxnId="{A76D8B60-BE3A-4BB8-8EDF-1DBF28E6B789}">
      <dgm:prSet/>
      <dgm:spPr/>
      <dgm:t>
        <a:bodyPr/>
        <a:lstStyle/>
        <a:p>
          <a:pPr rtl="1"/>
          <a:endParaRPr lang="he-IL"/>
        </a:p>
      </dgm:t>
    </dgm:pt>
    <dgm:pt modelId="{205C001C-384C-48E5-93BF-B874D0832CD6}" type="pres">
      <dgm:prSet presAssocID="{3B03E818-829B-494C-AE79-53888110FC46}" presName="diagram" presStyleCnt="0">
        <dgm:presLayoutVars>
          <dgm:dir/>
          <dgm:resizeHandles val="exact"/>
        </dgm:presLayoutVars>
      </dgm:prSet>
      <dgm:spPr/>
      <dgm:t>
        <a:bodyPr/>
        <a:lstStyle/>
        <a:p>
          <a:pPr rtl="1"/>
          <a:endParaRPr lang="he-IL"/>
        </a:p>
      </dgm:t>
    </dgm:pt>
    <dgm:pt modelId="{31DCFEEE-B207-406D-A2B4-F881C6E4B847}" type="pres">
      <dgm:prSet presAssocID="{241310CE-3B88-4AC8-A588-7879AADDA27E}" presName="node" presStyleLbl="node1" presStyleIdx="0" presStyleCnt="9">
        <dgm:presLayoutVars>
          <dgm:bulletEnabled val="1"/>
        </dgm:presLayoutVars>
      </dgm:prSet>
      <dgm:spPr/>
      <dgm:t>
        <a:bodyPr/>
        <a:lstStyle/>
        <a:p>
          <a:pPr rtl="1"/>
          <a:endParaRPr lang="he-IL"/>
        </a:p>
      </dgm:t>
    </dgm:pt>
    <dgm:pt modelId="{E14BE6A3-9A12-45E4-845A-746709C59121}" type="pres">
      <dgm:prSet presAssocID="{C1F0B952-F9A1-4DAE-95ED-B4C4139A3D5F}" presName="sibTrans" presStyleCnt="0"/>
      <dgm:spPr/>
    </dgm:pt>
    <dgm:pt modelId="{19778607-D433-4EB4-A4F5-4492E91E092E}" type="pres">
      <dgm:prSet presAssocID="{45EF3B54-DE95-44D8-BBE4-9EDB6FEB97D5}" presName="node" presStyleLbl="node1" presStyleIdx="1" presStyleCnt="9">
        <dgm:presLayoutVars>
          <dgm:bulletEnabled val="1"/>
        </dgm:presLayoutVars>
      </dgm:prSet>
      <dgm:spPr/>
      <dgm:t>
        <a:bodyPr/>
        <a:lstStyle/>
        <a:p>
          <a:pPr rtl="1"/>
          <a:endParaRPr lang="he-IL"/>
        </a:p>
      </dgm:t>
    </dgm:pt>
    <dgm:pt modelId="{6FA27573-9C9B-46F5-8625-D83EABD3323F}" type="pres">
      <dgm:prSet presAssocID="{DB9F7805-AA66-4E68-9460-B1DE2A358710}" presName="sibTrans" presStyleCnt="0"/>
      <dgm:spPr/>
    </dgm:pt>
    <dgm:pt modelId="{178565FE-9CB2-4EE3-9A54-9D4DFEB98829}" type="pres">
      <dgm:prSet presAssocID="{030E1C9A-05A8-46AB-8136-78E3339D389A}" presName="node" presStyleLbl="node1" presStyleIdx="2" presStyleCnt="9" custLinFactNeighborX="-3636" custLinFactNeighborY="-3008">
        <dgm:presLayoutVars>
          <dgm:bulletEnabled val="1"/>
        </dgm:presLayoutVars>
      </dgm:prSet>
      <dgm:spPr/>
      <dgm:t>
        <a:bodyPr/>
        <a:lstStyle/>
        <a:p>
          <a:pPr rtl="1"/>
          <a:endParaRPr lang="he-IL"/>
        </a:p>
      </dgm:t>
    </dgm:pt>
    <dgm:pt modelId="{2299528D-99E7-4B42-9EDC-8F11C2D5EF4F}" type="pres">
      <dgm:prSet presAssocID="{D06323B8-195A-4EB4-BA61-7B1020AB3F3E}" presName="sibTrans" presStyleCnt="0"/>
      <dgm:spPr/>
    </dgm:pt>
    <dgm:pt modelId="{86FD142C-A11A-4D10-BF8C-86C483CA09EC}" type="pres">
      <dgm:prSet presAssocID="{8FAE194E-2FFB-4523-9C1D-4D681EF121F9}" presName="node" presStyleLbl="node1" presStyleIdx="3" presStyleCnt="9" custLinFactNeighborX="-2128" custLinFactNeighborY="0">
        <dgm:presLayoutVars>
          <dgm:bulletEnabled val="1"/>
        </dgm:presLayoutVars>
      </dgm:prSet>
      <dgm:spPr/>
      <dgm:t>
        <a:bodyPr/>
        <a:lstStyle/>
        <a:p>
          <a:pPr rtl="1"/>
          <a:endParaRPr lang="he-IL"/>
        </a:p>
      </dgm:t>
    </dgm:pt>
    <dgm:pt modelId="{8D05BEC2-1225-4F0D-9668-263979D75B99}" type="pres">
      <dgm:prSet presAssocID="{477F5CF9-4443-45D6-A79F-969B2C782A98}" presName="sibTrans" presStyleCnt="0"/>
      <dgm:spPr/>
    </dgm:pt>
    <dgm:pt modelId="{C5854056-1476-4C3F-BAEA-333F19190871}" type="pres">
      <dgm:prSet presAssocID="{617219C2-968C-4712-912D-77F8163D7BF1}" presName="node" presStyleLbl="node1" presStyleIdx="4" presStyleCnt="9">
        <dgm:presLayoutVars>
          <dgm:bulletEnabled val="1"/>
        </dgm:presLayoutVars>
      </dgm:prSet>
      <dgm:spPr/>
      <dgm:t>
        <a:bodyPr/>
        <a:lstStyle/>
        <a:p>
          <a:pPr rtl="1"/>
          <a:endParaRPr lang="he-IL"/>
        </a:p>
      </dgm:t>
    </dgm:pt>
    <dgm:pt modelId="{D7054AC7-5CDD-410B-AC4F-CA8B205853A7}" type="pres">
      <dgm:prSet presAssocID="{6175E458-FDC0-4AC0-B19C-DF1C82727A6C}" presName="sibTrans" presStyleCnt="0"/>
      <dgm:spPr/>
    </dgm:pt>
    <dgm:pt modelId="{BAEE85A7-372D-481E-ABA7-19331677CE61}" type="pres">
      <dgm:prSet presAssocID="{D6E33710-09E3-4F8E-B3D7-E30B297A75A5}" presName="node" presStyleLbl="node1" presStyleIdx="5" presStyleCnt="9" custLinFactX="-10000" custLinFactY="20680" custLinFactNeighborX="-100000" custLinFactNeighborY="100000">
        <dgm:presLayoutVars>
          <dgm:bulletEnabled val="1"/>
        </dgm:presLayoutVars>
      </dgm:prSet>
      <dgm:spPr/>
      <dgm:t>
        <a:bodyPr/>
        <a:lstStyle/>
        <a:p>
          <a:pPr rtl="1"/>
          <a:endParaRPr lang="he-IL"/>
        </a:p>
      </dgm:t>
    </dgm:pt>
    <dgm:pt modelId="{16279415-30DB-439B-B9FF-27165E9C4B66}" type="pres">
      <dgm:prSet presAssocID="{B1C1FAEC-90E7-4EF4-B5E6-5D5CEE85DFB3}" presName="sibTrans" presStyleCnt="0"/>
      <dgm:spPr/>
    </dgm:pt>
    <dgm:pt modelId="{3F21B529-949F-42A1-B014-90C5D1104D08}" type="pres">
      <dgm:prSet presAssocID="{E8B49B21-C142-4DB5-AF37-633D4B80EED6}" presName="node" presStyleLbl="node1" presStyleIdx="6" presStyleCnt="9">
        <dgm:presLayoutVars>
          <dgm:bulletEnabled val="1"/>
        </dgm:presLayoutVars>
      </dgm:prSet>
      <dgm:spPr/>
      <dgm:t>
        <a:bodyPr/>
        <a:lstStyle/>
        <a:p>
          <a:pPr rtl="1"/>
          <a:endParaRPr lang="he-IL"/>
        </a:p>
      </dgm:t>
    </dgm:pt>
    <dgm:pt modelId="{1B10F13D-774B-4685-A956-70B3308D57DC}" type="pres">
      <dgm:prSet presAssocID="{C3B47F52-970B-49EC-B4BF-686C5BBFB2E9}" presName="sibTrans" presStyleCnt="0"/>
      <dgm:spPr/>
    </dgm:pt>
    <dgm:pt modelId="{AA788821-C1B4-46E9-854A-8210E3705665}" type="pres">
      <dgm:prSet presAssocID="{5A92FA88-AAA1-4BB3-85C4-D5E7C59CD7A2}" presName="node" presStyleLbl="node1" presStyleIdx="7" presStyleCnt="9" custLinFactX="5558" custLinFactY="-16875" custLinFactNeighborX="100000" custLinFactNeighborY="-100000">
        <dgm:presLayoutVars>
          <dgm:bulletEnabled val="1"/>
        </dgm:presLayoutVars>
      </dgm:prSet>
      <dgm:spPr/>
      <dgm:t>
        <a:bodyPr/>
        <a:lstStyle/>
        <a:p>
          <a:pPr rtl="1"/>
          <a:endParaRPr lang="he-IL"/>
        </a:p>
      </dgm:t>
    </dgm:pt>
    <dgm:pt modelId="{0A8A4548-4CAA-4CA0-80B9-BC67774FB9B0}" type="pres">
      <dgm:prSet presAssocID="{9283CAF6-A279-437E-9A5E-36735DFF51A9}" presName="sibTrans" presStyleCnt="0"/>
      <dgm:spPr/>
    </dgm:pt>
    <dgm:pt modelId="{67B3C098-48D9-463D-A339-4FBE5DB27423}" type="pres">
      <dgm:prSet presAssocID="{3D104136-4A9E-4323-B2EC-A70B67DF21C7}" presName="node" presStyleLbl="node1" presStyleIdx="8" presStyleCnt="9" custLinFactNeighborX="-3053" custLinFactNeighborY="5089">
        <dgm:presLayoutVars>
          <dgm:bulletEnabled val="1"/>
        </dgm:presLayoutVars>
      </dgm:prSet>
      <dgm:spPr/>
      <dgm:t>
        <a:bodyPr/>
        <a:lstStyle/>
        <a:p>
          <a:pPr rtl="1"/>
          <a:endParaRPr lang="he-IL"/>
        </a:p>
      </dgm:t>
    </dgm:pt>
  </dgm:ptLst>
  <dgm:cxnLst>
    <dgm:cxn modelId="{D51D4689-EE45-4093-AFDA-28905D7BE937}" type="presOf" srcId="{617219C2-968C-4712-912D-77F8163D7BF1}" destId="{C5854056-1476-4C3F-BAEA-333F19190871}" srcOrd="0" destOrd="0" presId="urn:microsoft.com/office/officeart/2005/8/layout/default"/>
    <dgm:cxn modelId="{7731DA20-794D-447F-B072-B8469CF6DC1A}" type="presOf" srcId="{45EF3B54-DE95-44D8-BBE4-9EDB6FEB97D5}" destId="{19778607-D433-4EB4-A4F5-4492E91E092E}" srcOrd="0" destOrd="0" presId="urn:microsoft.com/office/officeart/2005/8/layout/default"/>
    <dgm:cxn modelId="{1A284C78-7306-4021-A6A4-ACCFBE70AED0}" srcId="{3B03E818-829B-494C-AE79-53888110FC46}" destId="{030E1C9A-05A8-46AB-8136-78E3339D389A}" srcOrd="2" destOrd="0" parTransId="{4FCC6EF2-244B-4F17-874C-855DBA859490}" sibTransId="{D06323B8-195A-4EB4-BA61-7B1020AB3F3E}"/>
    <dgm:cxn modelId="{0EB80A86-79FF-4D8A-B503-6BD1D78D2A2C}" type="presOf" srcId="{D6E33710-09E3-4F8E-B3D7-E30B297A75A5}" destId="{BAEE85A7-372D-481E-ABA7-19331677CE61}" srcOrd="0" destOrd="0" presId="urn:microsoft.com/office/officeart/2005/8/layout/default"/>
    <dgm:cxn modelId="{0A8DCF43-99F7-4BDC-8168-0E538EFF0D54}" type="presOf" srcId="{3B03E818-829B-494C-AE79-53888110FC46}" destId="{205C001C-384C-48E5-93BF-B874D0832CD6}" srcOrd="0" destOrd="0" presId="urn:microsoft.com/office/officeart/2005/8/layout/default"/>
    <dgm:cxn modelId="{95B840D1-1CB9-43C4-B700-9C6908037D68}" type="presOf" srcId="{030E1C9A-05A8-46AB-8136-78E3339D389A}" destId="{178565FE-9CB2-4EE3-9A54-9D4DFEB98829}" srcOrd="0" destOrd="0" presId="urn:microsoft.com/office/officeart/2005/8/layout/default"/>
    <dgm:cxn modelId="{621DD7FC-4367-4622-95EC-79570ED47E43}" srcId="{3B03E818-829B-494C-AE79-53888110FC46}" destId="{45EF3B54-DE95-44D8-BBE4-9EDB6FEB97D5}" srcOrd="1" destOrd="0" parTransId="{660044E0-F4A1-4901-98B6-07404CA2BFAA}" sibTransId="{DB9F7805-AA66-4E68-9460-B1DE2A358710}"/>
    <dgm:cxn modelId="{73D738C1-4FB4-4EA2-B204-B74DA41559D6}" srcId="{3B03E818-829B-494C-AE79-53888110FC46}" destId="{3D104136-4A9E-4323-B2EC-A70B67DF21C7}" srcOrd="8" destOrd="0" parTransId="{B223243C-DA79-4DEE-B14C-BF3B6259D22D}" sibTransId="{2796C379-2338-4D4C-B506-227B4BFC9B03}"/>
    <dgm:cxn modelId="{3889769F-1FE9-4D69-8C00-CBB6016C7F1E}" type="presOf" srcId="{3D104136-4A9E-4323-B2EC-A70B67DF21C7}" destId="{67B3C098-48D9-463D-A339-4FBE5DB27423}" srcOrd="0" destOrd="0" presId="urn:microsoft.com/office/officeart/2005/8/layout/default"/>
    <dgm:cxn modelId="{91D46F80-226D-4225-8FEF-E4335BAE6F58}" srcId="{3B03E818-829B-494C-AE79-53888110FC46}" destId="{D6E33710-09E3-4F8E-B3D7-E30B297A75A5}" srcOrd="5" destOrd="0" parTransId="{DACB91AF-9A7C-40F3-8219-544EFE62AB69}" sibTransId="{B1C1FAEC-90E7-4EF4-B5E6-5D5CEE85DFB3}"/>
    <dgm:cxn modelId="{AAFDC21D-E563-431A-B216-9F66A02FED82}" srcId="{3B03E818-829B-494C-AE79-53888110FC46}" destId="{5A92FA88-AAA1-4BB3-85C4-D5E7C59CD7A2}" srcOrd="7" destOrd="0" parTransId="{49543E0E-7E7E-4BE2-B666-4EE4BD96EA60}" sibTransId="{9283CAF6-A279-437E-9A5E-36735DFF51A9}"/>
    <dgm:cxn modelId="{95ABD639-A284-4654-8180-2893BC5601DF}" srcId="{3B03E818-829B-494C-AE79-53888110FC46}" destId="{241310CE-3B88-4AC8-A588-7879AADDA27E}" srcOrd="0" destOrd="0" parTransId="{7F9C43C3-97C8-43CA-9F9F-CF826AD22CAF}" sibTransId="{C1F0B952-F9A1-4DAE-95ED-B4C4139A3D5F}"/>
    <dgm:cxn modelId="{C020CEDB-3FBA-48EA-9A01-700126769886}" type="presOf" srcId="{5A92FA88-AAA1-4BB3-85C4-D5E7C59CD7A2}" destId="{AA788821-C1B4-46E9-854A-8210E3705665}" srcOrd="0" destOrd="0" presId="urn:microsoft.com/office/officeart/2005/8/layout/default"/>
    <dgm:cxn modelId="{63BAC125-745F-4E61-AFCA-5EBD2B24063A}" srcId="{3B03E818-829B-494C-AE79-53888110FC46}" destId="{617219C2-968C-4712-912D-77F8163D7BF1}" srcOrd="4" destOrd="0" parTransId="{E69C685E-01D6-4D7C-9FF1-0B526D9120BE}" sibTransId="{6175E458-FDC0-4AC0-B19C-DF1C82727A6C}"/>
    <dgm:cxn modelId="{3C8D61E8-BDFF-477F-B7BA-2DCFC9FFE314}" type="presOf" srcId="{8FAE194E-2FFB-4523-9C1D-4D681EF121F9}" destId="{86FD142C-A11A-4D10-BF8C-86C483CA09EC}" srcOrd="0" destOrd="0" presId="urn:microsoft.com/office/officeart/2005/8/layout/default"/>
    <dgm:cxn modelId="{40B65EDF-B405-4126-A262-3C74997E3B01}" srcId="{3B03E818-829B-494C-AE79-53888110FC46}" destId="{E8B49B21-C142-4DB5-AF37-633D4B80EED6}" srcOrd="6" destOrd="0" parTransId="{88A5691F-8864-4767-8C6E-637A791EE857}" sibTransId="{C3B47F52-970B-49EC-B4BF-686C5BBFB2E9}"/>
    <dgm:cxn modelId="{A76D8B60-BE3A-4BB8-8EDF-1DBF28E6B789}" srcId="{3B03E818-829B-494C-AE79-53888110FC46}" destId="{8FAE194E-2FFB-4523-9C1D-4D681EF121F9}" srcOrd="3" destOrd="0" parTransId="{4BA2692B-7413-474F-9E9D-4A02BDFAA2C6}" sibTransId="{477F5CF9-4443-45D6-A79F-969B2C782A98}"/>
    <dgm:cxn modelId="{225F1108-734B-45A5-B639-3C22AC16A9BE}" type="presOf" srcId="{241310CE-3B88-4AC8-A588-7879AADDA27E}" destId="{31DCFEEE-B207-406D-A2B4-F881C6E4B847}" srcOrd="0" destOrd="0" presId="urn:microsoft.com/office/officeart/2005/8/layout/default"/>
    <dgm:cxn modelId="{7C308042-5B1D-49B8-9AEB-0F4607FE8498}" type="presOf" srcId="{E8B49B21-C142-4DB5-AF37-633D4B80EED6}" destId="{3F21B529-949F-42A1-B014-90C5D1104D08}" srcOrd="0" destOrd="0" presId="urn:microsoft.com/office/officeart/2005/8/layout/default"/>
    <dgm:cxn modelId="{6CC6E9F2-3CD6-4E4A-B34F-14819009E269}" type="presParOf" srcId="{205C001C-384C-48E5-93BF-B874D0832CD6}" destId="{31DCFEEE-B207-406D-A2B4-F881C6E4B847}" srcOrd="0" destOrd="0" presId="urn:microsoft.com/office/officeart/2005/8/layout/default"/>
    <dgm:cxn modelId="{0BB4B8CE-7171-4556-9BF3-0457070EBA58}" type="presParOf" srcId="{205C001C-384C-48E5-93BF-B874D0832CD6}" destId="{E14BE6A3-9A12-45E4-845A-746709C59121}" srcOrd="1" destOrd="0" presId="urn:microsoft.com/office/officeart/2005/8/layout/default"/>
    <dgm:cxn modelId="{A0563B06-55B0-47A9-92B4-E67EB07F3549}" type="presParOf" srcId="{205C001C-384C-48E5-93BF-B874D0832CD6}" destId="{19778607-D433-4EB4-A4F5-4492E91E092E}" srcOrd="2" destOrd="0" presId="urn:microsoft.com/office/officeart/2005/8/layout/default"/>
    <dgm:cxn modelId="{10A0A577-83AC-463B-A93C-6DFF8C90C7BF}" type="presParOf" srcId="{205C001C-384C-48E5-93BF-B874D0832CD6}" destId="{6FA27573-9C9B-46F5-8625-D83EABD3323F}" srcOrd="3" destOrd="0" presId="urn:microsoft.com/office/officeart/2005/8/layout/default"/>
    <dgm:cxn modelId="{A85CE632-D0C1-4CCD-88AF-1D201806374B}" type="presParOf" srcId="{205C001C-384C-48E5-93BF-B874D0832CD6}" destId="{178565FE-9CB2-4EE3-9A54-9D4DFEB98829}" srcOrd="4" destOrd="0" presId="urn:microsoft.com/office/officeart/2005/8/layout/default"/>
    <dgm:cxn modelId="{87E9558D-2E0B-4771-BC72-6FEF8591E88C}" type="presParOf" srcId="{205C001C-384C-48E5-93BF-B874D0832CD6}" destId="{2299528D-99E7-4B42-9EDC-8F11C2D5EF4F}" srcOrd="5" destOrd="0" presId="urn:microsoft.com/office/officeart/2005/8/layout/default"/>
    <dgm:cxn modelId="{76C029DC-215F-43B5-B071-139BE6301345}" type="presParOf" srcId="{205C001C-384C-48E5-93BF-B874D0832CD6}" destId="{86FD142C-A11A-4D10-BF8C-86C483CA09EC}" srcOrd="6" destOrd="0" presId="urn:microsoft.com/office/officeart/2005/8/layout/default"/>
    <dgm:cxn modelId="{0137EC8F-6AE0-4792-9CF9-97CD7DB43440}" type="presParOf" srcId="{205C001C-384C-48E5-93BF-B874D0832CD6}" destId="{8D05BEC2-1225-4F0D-9668-263979D75B99}" srcOrd="7" destOrd="0" presId="urn:microsoft.com/office/officeart/2005/8/layout/default"/>
    <dgm:cxn modelId="{B4F0EAAD-33E9-4D61-9377-B8F7F339D408}" type="presParOf" srcId="{205C001C-384C-48E5-93BF-B874D0832CD6}" destId="{C5854056-1476-4C3F-BAEA-333F19190871}" srcOrd="8" destOrd="0" presId="urn:microsoft.com/office/officeart/2005/8/layout/default"/>
    <dgm:cxn modelId="{F10F1BAA-070E-4E56-930B-423767A8DB29}" type="presParOf" srcId="{205C001C-384C-48E5-93BF-B874D0832CD6}" destId="{D7054AC7-5CDD-410B-AC4F-CA8B205853A7}" srcOrd="9" destOrd="0" presId="urn:microsoft.com/office/officeart/2005/8/layout/default"/>
    <dgm:cxn modelId="{D4A83F9A-7F17-46A0-A05D-544FEF14F579}" type="presParOf" srcId="{205C001C-384C-48E5-93BF-B874D0832CD6}" destId="{BAEE85A7-372D-481E-ABA7-19331677CE61}" srcOrd="10" destOrd="0" presId="urn:microsoft.com/office/officeart/2005/8/layout/default"/>
    <dgm:cxn modelId="{1539D517-EE30-4954-A27E-796DE0C872B5}" type="presParOf" srcId="{205C001C-384C-48E5-93BF-B874D0832CD6}" destId="{16279415-30DB-439B-B9FF-27165E9C4B66}" srcOrd="11" destOrd="0" presId="urn:microsoft.com/office/officeart/2005/8/layout/default"/>
    <dgm:cxn modelId="{69794348-5B93-48E0-9484-DAA5F06D57AD}" type="presParOf" srcId="{205C001C-384C-48E5-93BF-B874D0832CD6}" destId="{3F21B529-949F-42A1-B014-90C5D1104D08}" srcOrd="12" destOrd="0" presId="urn:microsoft.com/office/officeart/2005/8/layout/default"/>
    <dgm:cxn modelId="{C846DF40-405A-4573-BD16-B3D8B4FD9D28}" type="presParOf" srcId="{205C001C-384C-48E5-93BF-B874D0832CD6}" destId="{1B10F13D-774B-4685-A956-70B3308D57DC}" srcOrd="13" destOrd="0" presId="urn:microsoft.com/office/officeart/2005/8/layout/default"/>
    <dgm:cxn modelId="{9F31F14B-5694-4DCC-9227-505913793A44}" type="presParOf" srcId="{205C001C-384C-48E5-93BF-B874D0832CD6}" destId="{AA788821-C1B4-46E9-854A-8210E3705665}" srcOrd="14" destOrd="0" presId="urn:microsoft.com/office/officeart/2005/8/layout/default"/>
    <dgm:cxn modelId="{4EB22E65-9484-4462-A1C4-3855F8C70AC5}" type="presParOf" srcId="{205C001C-384C-48E5-93BF-B874D0832CD6}" destId="{0A8A4548-4CAA-4CA0-80B9-BC67774FB9B0}" srcOrd="15" destOrd="0" presId="urn:microsoft.com/office/officeart/2005/8/layout/default"/>
    <dgm:cxn modelId="{405C1D08-9A93-4581-9228-8F309C9D229F}" type="presParOf" srcId="{205C001C-384C-48E5-93BF-B874D0832CD6}" destId="{67B3C098-48D9-463D-A339-4FBE5DB27423}"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CFEEE-B207-406D-A2B4-F881C6E4B847}">
      <dsp:nvSpPr>
        <dsp:cNvPr id="0" name=""/>
        <dsp:cNvSpPr/>
      </dsp:nvSpPr>
      <dsp:spPr>
        <a:xfrm>
          <a:off x="739207" y="4668"/>
          <a:ext cx="3188403" cy="1913042"/>
        </a:xfrm>
        <a:prstGeom prst="rect">
          <a:avLst/>
        </a:prstGeom>
        <a:solidFill>
          <a:srgbClr val="C39BE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יציאה מהבית למרחב הציבורי היא אחד המנבאים לאיכות חיים. בבריטניה, בשכונות בהן­ נעים ונוח יותר לצאת אל מחוץ לבית הקשרים החברתיים של הזקנים חזקים ורחבים יותר (אשל-ג'וינט, 2020). </a:t>
          </a:r>
          <a:endParaRPr lang="he-IL" sz="2000" kern="1200" dirty="0">
            <a:latin typeface="Calibri Light" panose="020F0302020204030204" pitchFamily="34" charset="0"/>
            <a:cs typeface="Calibri Light" panose="020F0302020204030204" pitchFamily="34" charset="0"/>
          </a:endParaRPr>
        </a:p>
      </dsp:txBody>
      <dsp:txXfrm>
        <a:off x="739207" y="4668"/>
        <a:ext cx="3188403" cy="1913042"/>
      </dsp:txXfrm>
    </dsp:sp>
    <dsp:sp modelId="{19778607-D433-4EB4-A4F5-4492E91E092E}">
      <dsp:nvSpPr>
        <dsp:cNvPr id="0" name=""/>
        <dsp:cNvSpPr/>
      </dsp:nvSpPr>
      <dsp:spPr>
        <a:xfrm>
          <a:off x="4246451" y="4668"/>
          <a:ext cx="3188403" cy="1913042"/>
        </a:xfrm>
        <a:prstGeom prst="rect">
          <a:avLst/>
        </a:prstGeom>
        <a:solidFill>
          <a:srgbClr val="C39BE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1">
            <a:lnSpc>
              <a:spcPct val="90000"/>
            </a:lnSpc>
            <a:spcBef>
              <a:spcPct val="0"/>
            </a:spcBef>
            <a:spcAft>
              <a:spcPct val="35000"/>
            </a:spcAft>
          </a:pPr>
          <a:r>
            <a:rPr lang="he-IL" sz="2200" kern="1200" dirty="0" smtClean="0">
              <a:latin typeface="Calibri Light" panose="020F0302020204030204" pitchFamily="34" charset="0"/>
              <a:cs typeface="Calibri Light" panose="020F0302020204030204" pitchFamily="34" charset="0"/>
            </a:rPr>
            <a:t>טיפול על ידי עובד זר מפחית איכות חיים בכך שמקטין מגעים עם המשפחה ושביעות רצון מהתמיכה וממערכות היחסים (</a:t>
          </a:r>
          <a:r>
            <a:rPr lang="he-IL" sz="2200" kern="1200" dirty="0" err="1" smtClean="0">
              <a:latin typeface="Calibri Light" panose="020F0302020204030204" pitchFamily="34" charset="0"/>
              <a:cs typeface="Calibri Light" panose="020F0302020204030204" pitchFamily="34" charset="0"/>
            </a:rPr>
            <a:t>חלאילה</a:t>
          </a:r>
          <a:r>
            <a:rPr lang="he-IL" sz="2200" kern="1200" dirty="0" smtClean="0">
              <a:latin typeface="Calibri Light" panose="020F0302020204030204" pitchFamily="34" charset="0"/>
              <a:cs typeface="Calibri Light" panose="020F0302020204030204" pitchFamily="34" charset="0"/>
            </a:rPr>
            <a:t> 2021)</a:t>
          </a:r>
          <a:endParaRPr lang="he-IL" sz="2200" kern="1200" dirty="0">
            <a:latin typeface="Calibri Light" panose="020F0302020204030204" pitchFamily="34" charset="0"/>
            <a:cs typeface="Calibri Light" panose="020F0302020204030204" pitchFamily="34" charset="0"/>
          </a:endParaRPr>
        </a:p>
      </dsp:txBody>
      <dsp:txXfrm>
        <a:off x="4246451" y="4668"/>
        <a:ext cx="3188403" cy="1913042"/>
      </dsp:txXfrm>
    </dsp:sp>
    <dsp:sp modelId="{178565FE-9CB2-4EE3-9A54-9D4DFEB98829}">
      <dsp:nvSpPr>
        <dsp:cNvPr id="0" name=""/>
        <dsp:cNvSpPr/>
      </dsp:nvSpPr>
      <dsp:spPr>
        <a:xfrm>
          <a:off x="7637765" y="0"/>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תחושת הבדידות בקרב מבקרי מרכז היום ומעורבות בפעילות נמצאו משפיעים באופן מובהק על תחושת השייכות בקרב המבקרים. אך פחות בקרב מי שנמצא בקשר תכוף עם בני משפחתו (</a:t>
          </a:r>
          <a:r>
            <a:rPr lang="he-IL" sz="2000" kern="1200" dirty="0" err="1" smtClean="0">
              <a:latin typeface="Calibri Light" panose="020F0302020204030204" pitchFamily="34" charset="0"/>
              <a:cs typeface="Calibri Light" panose="020F0302020204030204" pitchFamily="34" charset="0"/>
            </a:rPr>
            <a:t>חלאילה</a:t>
          </a:r>
          <a:r>
            <a:rPr lang="he-IL" sz="2000" kern="1200" dirty="0" smtClean="0">
              <a:latin typeface="Calibri Light" panose="020F0302020204030204" pitchFamily="34" charset="0"/>
              <a:cs typeface="Calibri Light" panose="020F0302020204030204" pitchFamily="34" charset="0"/>
            </a:rPr>
            <a:t> 2021)</a:t>
          </a:r>
          <a:endParaRPr lang="he-IL" sz="2000" kern="1200" dirty="0">
            <a:latin typeface="Calibri Light" panose="020F0302020204030204" pitchFamily="34" charset="0"/>
            <a:cs typeface="Calibri Light" panose="020F0302020204030204" pitchFamily="34" charset="0"/>
          </a:endParaRPr>
        </a:p>
      </dsp:txBody>
      <dsp:txXfrm>
        <a:off x="7637765" y="0"/>
        <a:ext cx="3188403" cy="1913042"/>
      </dsp:txXfrm>
    </dsp:sp>
    <dsp:sp modelId="{86FD142C-A11A-4D10-BF8C-86C483CA09EC}">
      <dsp:nvSpPr>
        <dsp:cNvPr id="0" name=""/>
        <dsp:cNvSpPr/>
      </dsp:nvSpPr>
      <dsp:spPr>
        <a:xfrm>
          <a:off x="671358" y="2236550"/>
          <a:ext cx="3188403" cy="1913042"/>
        </a:xfrm>
        <a:prstGeom prst="rect">
          <a:avLst/>
        </a:prstGeom>
        <a:solidFill>
          <a:srgbClr val="5A278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תדירות גבוהה של ביקורים במרכז יום ושביעות רצון מהפעילות היו קשורים לאיכות חיים גבוהה במיוחד במרכז ובמגזר היהודי (</a:t>
          </a:r>
          <a:r>
            <a:rPr lang="he-IL" sz="2000" kern="1200" dirty="0" err="1" smtClean="0">
              <a:latin typeface="Calibri Light" panose="020F0302020204030204" pitchFamily="34" charset="0"/>
              <a:cs typeface="Calibri Light" panose="020F0302020204030204" pitchFamily="34" charset="0"/>
            </a:rPr>
            <a:t>חלאילה</a:t>
          </a:r>
          <a:r>
            <a:rPr lang="he-IL" sz="2000" kern="1200" dirty="0" smtClean="0">
              <a:latin typeface="Calibri Light" panose="020F0302020204030204" pitchFamily="34" charset="0"/>
              <a:cs typeface="Calibri Light" panose="020F0302020204030204" pitchFamily="34" charset="0"/>
            </a:rPr>
            <a:t>, 2021)</a:t>
          </a:r>
          <a:endParaRPr lang="he-IL" sz="2000" kern="1200" dirty="0">
            <a:latin typeface="Calibri Light" panose="020F0302020204030204" pitchFamily="34" charset="0"/>
            <a:cs typeface="Calibri Light" panose="020F0302020204030204" pitchFamily="34" charset="0"/>
          </a:endParaRPr>
        </a:p>
      </dsp:txBody>
      <dsp:txXfrm>
        <a:off x="671358" y="2236550"/>
        <a:ext cx="3188403" cy="1913042"/>
      </dsp:txXfrm>
    </dsp:sp>
    <dsp:sp modelId="{C5854056-1476-4C3F-BAEA-333F19190871}">
      <dsp:nvSpPr>
        <dsp:cNvPr id="0" name=""/>
        <dsp:cNvSpPr/>
      </dsp:nvSpPr>
      <dsp:spPr>
        <a:xfrm>
          <a:off x="4246451" y="2236550"/>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התפיסה העצמית של מבקרים במרכזי יום באופן חלקי או מלא, טובה יותר מזו של א/נשים זקנים המקבלים שירותי טיפול ביתי בלבד (גל </a:t>
          </a:r>
          <a:r>
            <a:rPr lang="he-IL" sz="2000" kern="1200" dirty="0" err="1" smtClean="0">
              <a:latin typeface="Calibri Light" panose="020F0302020204030204" pitchFamily="34" charset="0"/>
              <a:cs typeface="Calibri Light" panose="020F0302020204030204" pitchFamily="34" charset="0"/>
            </a:rPr>
            <a:t>ופריזנט</a:t>
          </a:r>
          <a:r>
            <a:rPr lang="he-IL" sz="2000" kern="1200" dirty="0" smtClean="0">
              <a:latin typeface="Calibri Light" panose="020F0302020204030204" pitchFamily="34" charset="0"/>
              <a:cs typeface="Calibri Light" panose="020F0302020204030204" pitchFamily="34" charset="0"/>
            </a:rPr>
            <a:t>, 2003) </a:t>
          </a:r>
          <a:endParaRPr lang="he-IL" sz="2000" kern="1200" dirty="0">
            <a:latin typeface="Calibri Light" panose="020F0302020204030204" pitchFamily="34" charset="0"/>
            <a:cs typeface="Calibri Light" panose="020F0302020204030204" pitchFamily="34" charset="0"/>
          </a:endParaRPr>
        </a:p>
      </dsp:txBody>
      <dsp:txXfrm>
        <a:off x="4246451" y="2236550"/>
        <a:ext cx="3188403" cy="1913042"/>
      </dsp:txXfrm>
    </dsp:sp>
    <dsp:sp modelId="{BAEE85A7-372D-481E-ABA7-19331677CE61}">
      <dsp:nvSpPr>
        <dsp:cNvPr id="0" name=""/>
        <dsp:cNvSpPr/>
      </dsp:nvSpPr>
      <dsp:spPr>
        <a:xfrm>
          <a:off x="4246451" y="4473101"/>
          <a:ext cx="3188403" cy="19130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רבים מבני המשפחה התומכים רואים במרכז היום כמקום השומר על בריאות האדם הזקן (</a:t>
          </a:r>
          <a:r>
            <a:rPr lang="he-IL" sz="2000" kern="1200" dirty="0" err="1" smtClean="0">
              <a:latin typeface="Calibri Light" panose="020F0302020204030204" pitchFamily="34" charset="0"/>
              <a:cs typeface="Calibri Light" panose="020F0302020204030204" pitchFamily="34" charset="0"/>
            </a:rPr>
            <a:t>רזניצקי</a:t>
          </a:r>
          <a:r>
            <a:rPr lang="he-IL" sz="2000" kern="1200" dirty="0" smtClean="0">
              <a:latin typeface="Calibri Light" panose="020F0302020204030204" pitchFamily="34" charset="0"/>
              <a:cs typeface="Calibri Light" panose="020F0302020204030204" pitchFamily="34" charset="0"/>
            </a:rPr>
            <a:t> ואחרים, 2012).</a:t>
          </a:r>
          <a:endParaRPr lang="he-IL" sz="2000" kern="1200" dirty="0">
            <a:latin typeface="Calibri Light" panose="020F0302020204030204" pitchFamily="34" charset="0"/>
            <a:cs typeface="Calibri Light" panose="020F0302020204030204" pitchFamily="34" charset="0"/>
          </a:endParaRPr>
        </a:p>
      </dsp:txBody>
      <dsp:txXfrm>
        <a:off x="4246451" y="4473101"/>
        <a:ext cx="3188403" cy="1913042"/>
      </dsp:txXfrm>
    </dsp:sp>
    <dsp:sp modelId="{3F21B529-949F-42A1-B014-90C5D1104D08}">
      <dsp:nvSpPr>
        <dsp:cNvPr id="0" name=""/>
        <dsp:cNvSpPr/>
      </dsp:nvSpPr>
      <dsp:spPr>
        <a:xfrm>
          <a:off x="739207" y="4468433"/>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השתתפות בתוכניות הפחיתה במובהק את רמת האינדיקציה לדיכאון של המשתתפים לעומת מי שלא השתתפו בהן (מחקר מלווה למיזם להפחתת תחושת הבדידות, מכון </a:t>
          </a:r>
          <a:r>
            <a:rPr lang="he-IL" sz="2000" kern="1200" dirty="0" err="1" smtClean="0">
              <a:latin typeface="Calibri Light" panose="020F0302020204030204" pitchFamily="34" charset="0"/>
              <a:cs typeface="Calibri Light" panose="020F0302020204030204" pitchFamily="34" charset="0"/>
            </a:rPr>
            <a:t>ברוקדייל</a:t>
          </a:r>
          <a:r>
            <a:rPr lang="he-IL" sz="2000" kern="1200" dirty="0" smtClean="0">
              <a:latin typeface="Calibri Light" panose="020F0302020204030204" pitchFamily="34" charset="0"/>
              <a:cs typeface="Calibri Light" panose="020F0302020204030204" pitchFamily="34" charset="0"/>
            </a:rPr>
            <a:t>, 2020).</a:t>
          </a:r>
          <a:endParaRPr lang="he-IL" sz="2000" kern="1200" dirty="0">
            <a:latin typeface="Calibri Light" panose="020F0302020204030204" pitchFamily="34" charset="0"/>
            <a:cs typeface="Calibri Light" panose="020F0302020204030204" pitchFamily="34" charset="0"/>
          </a:endParaRPr>
        </a:p>
      </dsp:txBody>
      <dsp:txXfrm>
        <a:off x="739207" y="4468433"/>
        <a:ext cx="3188403" cy="1913042"/>
      </dsp:txXfrm>
    </dsp:sp>
    <dsp:sp modelId="{AA788821-C1B4-46E9-854A-8210E3705665}">
      <dsp:nvSpPr>
        <dsp:cNvPr id="0" name=""/>
        <dsp:cNvSpPr/>
      </dsp:nvSpPr>
      <dsp:spPr>
        <a:xfrm>
          <a:off x="7612066" y="2232565"/>
          <a:ext cx="3188403" cy="1913042"/>
        </a:xfrm>
        <a:prstGeom prst="rect">
          <a:avLst/>
        </a:prstGeom>
        <a:solidFill>
          <a:srgbClr val="5A278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מרכזי היום תורמים באופן ישיר למערכת הבריאות בכך שהם דוחים/מונעים מיסוד  (</a:t>
          </a:r>
          <a:r>
            <a:rPr lang="en-US" sz="2000" kern="1200" dirty="0" smtClean="0">
              <a:latin typeface="Calibri Light" panose="020F0302020204030204" pitchFamily="34" charset="0"/>
              <a:cs typeface="Calibri Light" panose="020F0302020204030204" pitchFamily="34" charset="0"/>
            </a:rPr>
            <a:t>Fields et al., 2014</a:t>
          </a:r>
          <a:r>
            <a:rPr lang="he-IL" sz="2000" kern="1200" dirty="0" smtClean="0">
              <a:latin typeface="Calibri Light" panose="020F0302020204030204" pitchFamily="34" charset="0"/>
              <a:cs typeface="Calibri Light" panose="020F0302020204030204" pitchFamily="34" charset="0"/>
            </a:rPr>
            <a:t>) ואשפוזים (</a:t>
          </a:r>
          <a:r>
            <a:rPr lang="en-US" sz="2000" kern="1200" dirty="0" err="1" smtClean="0">
              <a:latin typeface="Calibri Light" panose="020F0302020204030204" pitchFamily="34" charset="0"/>
              <a:cs typeface="Calibri Light" panose="020F0302020204030204" pitchFamily="34" charset="0"/>
            </a:rPr>
            <a:t>Zarit</a:t>
          </a:r>
          <a:r>
            <a:rPr lang="en-US" sz="2000" kern="1200" dirty="0" smtClean="0">
              <a:latin typeface="Calibri Light" panose="020F0302020204030204" pitchFamily="34" charset="0"/>
              <a:cs typeface="Calibri Light" panose="020F0302020204030204" pitchFamily="34" charset="0"/>
            </a:rPr>
            <a:t> et al., 2011</a:t>
          </a:r>
          <a:r>
            <a:rPr lang="he-IL" sz="2000" kern="1200" dirty="0" smtClean="0">
              <a:latin typeface="Calibri Light" panose="020F0302020204030204" pitchFamily="34" charset="0"/>
              <a:cs typeface="Calibri Light" panose="020F0302020204030204" pitchFamily="34" charset="0"/>
            </a:rPr>
            <a:t>). </a:t>
          </a:r>
          <a:endParaRPr lang="he-IL" sz="2000" kern="1200" dirty="0">
            <a:latin typeface="Calibri Light" panose="020F0302020204030204" pitchFamily="34" charset="0"/>
            <a:cs typeface="Calibri Light" panose="020F0302020204030204" pitchFamily="34" charset="0"/>
          </a:endParaRPr>
        </a:p>
      </dsp:txBody>
      <dsp:txXfrm>
        <a:off x="7612066" y="2232565"/>
        <a:ext cx="3188403" cy="1913042"/>
      </dsp:txXfrm>
    </dsp:sp>
    <dsp:sp modelId="{67B3C098-48D9-463D-A339-4FBE5DB27423}">
      <dsp:nvSpPr>
        <dsp:cNvPr id="0" name=""/>
        <dsp:cNvSpPr/>
      </dsp:nvSpPr>
      <dsp:spPr>
        <a:xfrm>
          <a:off x="7656353" y="4473101"/>
          <a:ext cx="3188403" cy="1913042"/>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1">
            <a:lnSpc>
              <a:spcPct val="90000"/>
            </a:lnSpc>
            <a:spcBef>
              <a:spcPct val="0"/>
            </a:spcBef>
            <a:spcAft>
              <a:spcPct val="35000"/>
            </a:spcAft>
          </a:pPr>
          <a:r>
            <a:rPr lang="he-IL" sz="1600" kern="1200" dirty="0" smtClean="0">
              <a:latin typeface="Calibri Light" panose="020F0302020204030204" pitchFamily="34" charset="0"/>
              <a:cs typeface="Calibri Light" panose="020F0302020204030204" pitchFamily="34" charset="0"/>
            </a:rPr>
            <a:t>57% מן המשיבים ציינו שהתוכנית תרמה להפחתת תחושת הבדידות שלהם במידה רבה או רבה מאוד. 71% דיווחו על שיפור מצב הרוח הכללי במידה רבה או רבה מאוד, ו-48% מן המשיבים דיווחו כך על שיפור בתחושת הבריאות הכללית. (קהילה תומכת משודרגת, מכון </a:t>
          </a:r>
          <a:r>
            <a:rPr lang="he-IL" sz="1600" kern="1200" dirty="0" err="1" smtClean="0">
              <a:latin typeface="Calibri Light" panose="020F0302020204030204" pitchFamily="34" charset="0"/>
              <a:cs typeface="Calibri Light" panose="020F0302020204030204" pitchFamily="34" charset="0"/>
            </a:rPr>
            <a:t>ברוקדייל</a:t>
          </a:r>
          <a:r>
            <a:rPr lang="he-IL" sz="1600" kern="1200" dirty="0" smtClean="0">
              <a:latin typeface="Calibri Light" panose="020F0302020204030204" pitchFamily="34" charset="0"/>
              <a:cs typeface="Calibri Light" panose="020F0302020204030204" pitchFamily="34" charset="0"/>
            </a:rPr>
            <a:t> 2020)</a:t>
          </a:r>
          <a:endParaRPr lang="he-IL" sz="1600" kern="1200" dirty="0">
            <a:latin typeface="Calibri Light" panose="020F0302020204030204" pitchFamily="34" charset="0"/>
            <a:cs typeface="Calibri Light" panose="020F0302020204030204" pitchFamily="34" charset="0"/>
          </a:endParaRPr>
        </a:p>
      </dsp:txBody>
      <dsp:txXfrm>
        <a:off x="7656353" y="4473101"/>
        <a:ext cx="3188403" cy="191304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11.png"/></Relationships>
</file>

<file path=ppt/drawings/drawing1.xml><?xml version="1.0" encoding="utf-8"?>
<c:userShapes xmlns:c="http://schemas.openxmlformats.org/drawingml/2006/chart">
  <cdr:relSizeAnchor xmlns:cdr="http://schemas.openxmlformats.org/drawingml/2006/chartDrawing">
    <cdr:from>
      <cdr:x>0.62169</cdr:x>
      <cdr:y>0.04687</cdr:y>
    </cdr:from>
    <cdr:to>
      <cdr:x>0.94093</cdr:x>
      <cdr:y>0.17399</cdr:y>
    </cdr:to>
    <cdr:pic>
      <cdr:nvPicPr>
        <cdr:cNvPr id="2"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4903298" y="251736"/>
          <a:ext cx="2517870" cy="682771"/>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0.41299</cdr:x>
      <cdr:y>0.34828</cdr:y>
    </cdr:from>
    <cdr:to>
      <cdr:x>0.5</cdr:x>
      <cdr:y>0.45297</cdr:y>
    </cdr:to>
    <cdr:sp macro="" textlink="">
      <cdr:nvSpPr>
        <cdr:cNvPr id="2" name="TextBox 10"/>
        <cdr:cNvSpPr txBox="1"/>
      </cdr:nvSpPr>
      <cdr:spPr>
        <a:xfrm xmlns:a="http://schemas.openxmlformats.org/drawingml/2006/main">
          <a:off x="4539524" y="1925731"/>
          <a:ext cx="956401" cy="578882"/>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chemeClr val="tx1">
                  <a:lumMod val="65000"/>
                  <a:lumOff val="35000"/>
                </a:schemeClr>
              </a:solidFill>
              <a:latin typeface="Calibri" panose="020F0502020204030204" pitchFamily="34" charset="0"/>
              <a:cs typeface="Calibri" panose="020F0502020204030204" pitchFamily="34" charset="0"/>
            </a:rPr>
            <a:t>עליה של  74%</a:t>
          </a:r>
        </a:p>
      </cdr:txBody>
    </cdr:sp>
  </cdr:relSizeAnchor>
  <cdr:relSizeAnchor xmlns:cdr="http://schemas.openxmlformats.org/drawingml/2006/chartDrawing">
    <cdr:from>
      <cdr:x>0.6415</cdr:x>
      <cdr:y>0.49524</cdr:y>
    </cdr:from>
    <cdr:to>
      <cdr:x>0.73977</cdr:x>
      <cdr:y>0.59993</cdr:y>
    </cdr:to>
    <cdr:sp macro="" textlink="">
      <cdr:nvSpPr>
        <cdr:cNvPr id="3" name="TextBox 10"/>
        <cdr:cNvSpPr txBox="1"/>
      </cdr:nvSpPr>
      <cdr:spPr>
        <a:xfrm xmlns:a="http://schemas.openxmlformats.org/drawingml/2006/main">
          <a:off x="7051272" y="2738311"/>
          <a:ext cx="1080169" cy="578882"/>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chemeClr val="tx1">
                  <a:lumMod val="65000"/>
                  <a:lumOff val="35000"/>
                </a:schemeClr>
              </a:solidFill>
              <a:latin typeface="Calibri" panose="020F0502020204030204" pitchFamily="34" charset="0"/>
              <a:cs typeface="Calibri" panose="020F0502020204030204" pitchFamily="34" charset="0"/>
            </a:rPr>
            <a:t>עליה של  21%</a:t>
          </a:r>
        </a:p>
      </cdr:txBody>
    </cdr:sp>
  </cdr:relSizeAnchor>
  <cdr:relSizeAnchor xmlns:cdr="http://schemas.openxmlformats.org/drawingml/2006/chartDrawing">
    <cdr:from>
      <cdr:x>0.83783</cdr:x>
      <cdr:y>0.52381</cdr:y>
    </cdr:from>
    <cdr:to>
      <cdr:x>0.94432</cdr:x>
      <cdr:y>0.58539</cdr:y>
    </cdr:to>
    <cdr:sp macro="" textlink="">
      <cdr:nvSpPr>
        <cdr:cNvPr id="4" name="TextBox 10"/>
        <cdr:cNvSpPr txBox="1"/>
      </cdr:nvSpPr>
      <cdr:spPr>
        <a:xfrm xmlns:a="http://schemas.openxmlformats.org/drawingml/2006/main">
          <a:off x="9209302" y="2896282"/>
          <a:ext cx="1170522" cy="340519"/>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rgbClr val="FF0000"/>
              </a:solidFill>
              <a:latin typeface="Calibri" panose="020F0502020204030204" pitchFamily="34" charset="0"/>
              <a:cs typeface="Calibri" panose="020F0502020204030204" pitchFamily="34" charset="0"/>
            </a:rPr>
            <a:t>ירידה של  5%</a:t>
          </a:r>
        </a:p>
      </cdr:txBody>
    </cdr:sp>
  </cdr:relSizeAnchor>
  <cdr:relSizeAnchor xmlns:cdr="http://schemas.openxmlformats.org/drawingml/2006/chartDrawing">
    <cdr:from>
      <cdr:x>0.26367</cdr:x>
      <cdr:y>0.5</cdr:y>
    </cdr:from>
    <cdr:to>
      <cdr:x>0.34247</cdr:x>
      <cdr:y>0.60469</cdr:y>
    </cdr:to>
    <cdr:sp macro="" textlink="">
      <cdr:nvSpPr>
        <cdr:cNvPr id="5" name="TextBox 5"/>
        <cdr:cNvSpPr txBox="1"/>
      </cdr:nvSpPr>
      <cdr:spPr>
        <a:xfrm xmlns:a="http://schemas.openxmlformats.org/drawingml/2006/main">
          <a:off x="2898221" y="2764631"/>
          <a:ext cx="866158" cy="578882"/>
        </a:xfrm>
        <a:prstGeom xmlns:a="http://schemas.openxmlformats.org/drawingml/2006/main" prst="wedgeRoundRectCallout">
          <a:avLst>
            <a:gd name="adj1" fmla="val -12310"/>
            <a:gd name="adj2" fmla="val 66783"/>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marL="0" indent="0" algn="ctr" rtl="1"/>
          <a:r>
            <a:rPr lang="he-IL" sz="1400" b="1" dirty="0">
              <a:solidFill>
                <a:srgbClr val="FF0000"/>
              </a:solidFill>
              <a:latin typeface="Calibri" panose="020F0502020204030204" pitchFamily="34" charset="0"/>
              <a:cs typeface="Calibri" panose="020F0502020204030204" pitchFamily="34" charset="0"/>
            </a:rPr>
            <a:t>עליה של 1778%</a:t>
          </a:r>
        </a:p>
      </cdr:txBody>
    </cdr:sp>
  </cdr:relSizeAnchor>
  <cdr:relSizeAnchor xmlns:cdr="http://schemas.openxmlformats.org/drawingml/2006/chartDrawing">
    <cdr:from>
      <cdr:x>0.22107</cdr:x>
      <cdr:y>0</cdr:y>
    </cdr:from>
    <cdr:to>
      <cdr:x>0.22279</cdr:x>
      <cdr:y>0.78966</cdr:y>
    </cdr:to>
    <cdr:cxnSp macro="">
      <cdr:nvCxnSpPr>
        <cdr:cNvPr id="7" name="מחבר ישר 6"/>
        <cdr:cNvCxnSpPr/>
      </cdr:nvCxnSpPr>
      <cdr:spPr>
        <a:xfrm xmlns:a="http://schemas.openxmlformats.org/drawingml/2006/main">
          <a:off x="2476304" y="0"/>
          <a:ext cx="19246" cy="4362450"/>
        </a:xfrm>
        <a:prstGeom xmlns:a="http://schemas.openxmlformats.org/drawingml/2006/main" prst="lin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dr:relSizeAnchor xmlns:cdr="http://schemas.openxmlformats.org/drawingml/2006/chartDrawing">
    <cdr:from>
      <cdr:x>0.06803</cdr:x>
      <cdr:y>0.15718</cdr:y>
    </cdr:from>
    <cdr:to>
      <cdr:x>0.14966</cdr:x>
      <cdr:y>0.3227</cdr:y>
    </cdr:to>
    <cdr:sp macro="" textlink="">
      <cdr:nvSpPr>
        <cdr:cNvPr id="9" name="TextBox 8"/>
        <cdr:cNvSpPr txBox="1"/>
      </cdr:nvSpPr>
      <cdr:spPr>
        <a:xfrm xmlns:a="http://schemas.openxmlformats.org/drawingml/2006/main">
          <a:off x="762000" y="868363"/>
          <a:ext cx="914400"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r>
            <a:rPr lang="he-IL" sz="1400" b="1" dirty="0" smtClean="0">
              <a:latin typeface="Calibri" panose="020F0502020204030204" pitchFamily="34" charset="0"/>
              <a:cs typeface="Calibri" panose="020F0502020204030204" pitchFamily="34" charset="0"/>
            </a:rPr>
            <a:t>סך שינוי בגמלאות</a:t>
          </a:r>
          <a:endParaRPr lang="he-IL" sz="1400" b="1" dirty="0">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0.02551</cdr:x>
      <cdr:y>0.31693</cdr:y>
    </cdr:from>
    <cdr:to>
      <cdr:x>0.11603</cdr:x>
      <cdr:y>0.42162</cdr:y>
    </cdr:to>
    <cdr:sp macro="" textlink="">
      <cdr:nvSpPr>
        <cdr:cNvPr id="10" name="TextBox 10"/>
        <cdr:cNvSpPr txBox="1"/>
      </cdr:nvSpPr>
      <cdr:spPr>
        <a:xfrm xmlns:a="http://schemas.openxmlformats.org/drawingml/2006/main">
          <a:off x="280402" y="1752389"/>
          <a:ext cx="994982" cy="578882"/>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b="1" dirty="0">
              <a:solidFill>
                <a:srgbClr val="FF0000"/>
              </a:solidFill>
              <a:latin typeface="Calibri" panose="020F0502020204030204" pitchFamily="34" charset="0"/>
              <a:cs typeface="Calibri" panose="020F0502020204030204" pitchFamily="34" charset="0"/>
            </a:rPr>
            <a:t>עליה של  </a:t>
          </a:r>
          <a:r>
            <a:rPr lang="he-IL" sz="1400" b="1" dirty="0" smtClean="0">
              <a:solidFill>
                <a:srgbClr val="FF0000"/>
              </a:solidFill>
              <a:latin typeface="Calibri" panose="020F0502020204030204" pitchFamily="34" charset="0"/>
              <a:cs typeface="Calibri" panose="020F0502020204030204" pitchFamily="34" charset="0"/>
            </a:rPr>
            <a:t>100%</a:t>
          </a:r>
          <a:endParaRPr lang="he-IL" sz="1400" b="1" dirty="0">
            <a:solidFill>
              <a:srgbClr val="FF0000"/>
            </a:solidFill>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0.51186</cdr:x>
      <cdr:y>0.34129</cdr:y>
    </cdr:from>
    <cdr:to>
      <cdr:x>0.60791</cdr:x>
      <cdr:y>0.50667</cdr:y>
    </cdr:to>
    <cdr:sp macro="" textlink="">
      <cdr:nvSpPr>
        <cdr:cNvPr id="6" name="TextBox 5"/>
        <cdr:cNvSpPr txBox="1"/>
      </cdr:nvSpPr>
      <cdr:spPr>
        <a:xfrm xmlns:a="http://schemas.openxmlformats.org/drawingml/2006/main">
          <a:off x="5626306" y="1887105"/>
          <a:ext cx="1055783"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pPr algn="r"/>
          <a:r>
            <a:rPr lang="he-IL" sz="1200" b="1" dirty="0" smtClean="0"/>
            <a:t>50% בני משפחה </a:t>
          </a:r>
        </a:p>
        <a:p xmlns:a="http://schemas.openxmlformats.org/drawingml/2006/main">
          <a:pPr algn="r"/>
          <a:r>
            <a:rPr lang="he-IL" sz="1200" b="1" dirty="0" smtClean="0"/>
            <a:t>מטפלים בשכר</a:t>
          </a:r>
          <a:endParaRPr lang="he-IL" sz="1200" b="1"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י"ז/אייר/תשפ"ג</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י"ז/אייר/תשפ"ג</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3093667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BD3F25B-2F20-4A27-8530-8712146B00E4}" type="slidenum">
              <a:rPr kumimoji="0" lang="he-IL" sz="1200" b="0" i="0" u="none" strike="noStrike" kern="1200" cap="none" spc="0" normalizeH="0" baseline="0" noProof="0" smtClean="0">
                <a:ln>
                  <a:noFill/>
                </a:ln>
                <a:solidFill>
                  <a:prstClr val="black"/>
                </a:solidFill>
                <a:effectLst/>
                <a:uLnTx/>
                <a:uFillTx/>
                <a:latin typeface="Calibri"/>
                <a:ea typeface="+mn-ea"/>
                <a:cs typeface="Calibri"/>
              </a:rPr>
              <a:pPr marL="0" marR="0" lvl="0" indent="0" algn="l" defTabSz="914400" rtl="1"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56926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מי שהפסיק להגיע למרכז היום במהלך הקורונה התדרדר תפקודית,</a:t>
            </a:r>
            <a:r>
              <a:rPr lang="he-IL" baseline="0" dirty="0" smtClean="0"/>
              <a:t> רגשית וקוגניטיבית</a:t>
            </a:r>
          </a:p>
        </p:txBody>
      </p:sp>
      <p:sp>
        <p:nvSpPr>
          <p:cNvPr id="4" name="מציין מיקום של מספר שקופית 3"/>
          <p:cNvSpPr>
            <a:spLocks noGrp="1"/>
          </p:cNvSpPr>
          <p:nvPr>
            <p:ph type="sldNum" sz="quarter" idx="10"/>
          </p:nvPr>
        </p:nvSpPr>
        <p:spPr/>
        <p:txBody>
          <a:bodyPr/>
          <a:lstStyle/>
          <a:p>
            <a:fld id="{BD95B28A-238B-45FE-B003-AAAC4E3D8E8D}" type="slidenum">
              <a:rPr lang="he-IL" smtClean="0"/>
              <a:t>17</a:t>
            </a:fld>
            <a:endParaRPr lang="he-IL"/>
          </a:p>
        </p:txBody>
      </p:sp>
    </p:spTree>
    <p:extLst>
      <p:ext uri="{BB962C8B-B14F-4D97-AF65-F5344CB8AC3E}">
        <p14:creationId xmlns:p14="http://schemas.microsoft.com/office/powerpoint/2010/main" val="2209634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rtl="1"/>
            <a:r>
              <a:rPr lang="he-IL" dirty="0" smtClean="0"/>
              <a:t>סה"כ</a:t>
            </a:r>
            <a:r>
              <a:rPr lang="he-IL" baseline="0" dirty="0" smtClean="0"/>
              <a:t> </a:t>
            </a:r>
            <a:r>
              <a:rPr lang="he-IL" dirty="0" smtClean="0"/>
              <a:t>מספר מקבלי </a:t>
            </a:r>
            <a:r>
              <a:rPr lang="he-IL" dirty="0" err="1" smtClean="0"/>
              <a:t>קיצבה</a:t>
            </a:r>
            <a:r>
              <a:rPr lang="he-IL" dirty="0" smtClean="0"/>
              <a:t> 1,2 103,000</a:t>
            </a:r>
          </a:p>
          <a:p>
            <a:pPr rtl="1"/>
            <a:endParaRPr lang="he-IL" dirty="0" smtClean="0"/>
          </a:p>
          <a:p>
            <a:pPr rtl="1"/>
            <a:endParaRPr lang="he-IL" dirty="0" smtClean="0"/>
          </a:p>
          <a:p>
            <a:pPr rtl="1"/>
            <a:r>
              <a:rPr lang="he-IL" dirty="0" smtClean="0"/>
              <a:t>48,000 משתתפים בקהילה תומכת (36,313+1,600+10,000) שהם 42,200 בתי אב.  &gt;(ע"פ סקר של </a:t>
            </a:r>
            <a:r>
              <a:rPr lang="he-IL" dirty="0" err="1" smtClean="0"/>
              <a:t>ברוקדייל</a:t>
            </a:r>
            <a:r>
              <a:rPr lang="he-IL" dirty="0" smtClean="0"/>
              <a:t> 22% מהם</a:t>
            </a:r>
            <a:r>
              <a:rPr lang="he-IL" baseline="0" dirty="0" smtClean="0"/>
              <a:t> </a:t>
            </a:r>
            <a:r>
              <a:rPr lang="he-IL" dirty="0" smtClean="0"/>
              <a:t>מקבלי קצבת סיעוד כלומר 9,300</a:t>
            </a:r>
            <a:r>
              <a:rPr lang="he-IL" baseline="0" dirty="0" smtClean="0"/>
              <a:t> מקבלי סיעוד) </a:t>
            </a:r>
          </a:p>
          <a:p>
            <a:pPr rtl="1"/>
            <a:endParaRPr lang="he-IL" baseline="0" dirty="0" smtClean="0"/>
          </a:p>
          <a:p>
            <a:pPr rtl="1"/>
            <a:r>
              <a:rPr lang="he-IL" baseline="0" dirty="0" smtClean="0"/>
              <a:t>(27,000) ונקבל את הפרטיים שנמצאים בסיעוד מתוכם נחסיר את רמה 1,2 ונקבל את מספר הפרטיים ברמת סיעוד 1,2 הכי קרוב.</a:t>
            </a:r>
            <a:endParaRPr lang="he-IL" dirty="0" smtClean="0"/>
          </a:p>
        </p:txBody>
      </p:sp>
    </p:spTree>
    <p:extLst>
      <p:ext uri="{BB962C8B-B14F-4D97-AF65-F5344CB8AC3E}">
        <p14:creationId xmlns:p14="http://schemas.microsoft.com/office/powerpoint/2010/main" val="3821657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101186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1996011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2487555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31</a:t>
            </a:fld>
            <a:endParaRPr lang="he-IL" dirty="0"/>
          </a:p>
        </p:txBody>
      </p:sp>
    </p:spTree>
    <p:extLst>
      <p:ext uri="{BB962C8B-B14F-4D97-AF65-F5344CB8AC3E}">
        <p14:creationId xmlns:p14="http://schemas.microsoft.com/office/powerpoint/2010/main" val="3094199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33</a:t>
            </a:fld>
            <a:endParaRPr lang="en-IL"/>
          </a:p>
        </p:txBody>
      </p:sp>
    </p:spTree>
    <p:extLst>
      <p:ext uri="{BB962C8B-B14F-4D97-AF65-F5344CB8AC3E}">
        <p14:creationId xmlns:p14="http://schemas.microsoft.com/office/powerpoint/2010/main" val="245033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highlight>
                <a:srgbClr val="FFFF00"/>
              </a:highlight>
            </a:endParaRPr>
          </a:p>
        </p:txBody>
      </p:sp>
      <p:sp>
        <p:nvSpPr>
          <p:cNvPr id="4" name="Slide Number Placeholder 3"/>
          <p:cNvSpPr>
            <a:spLocks noGrp="1"/>
          </p:cNvSpPr>
          <p:nvPr>
            <p:ph type="sldNum" sz="quarter" idx="5"/>
          </p:nvPr>
        </p:nvSpPr>
        <p:spPr/>
        <p:txBody>
          <a:bodyPr/>
          <a:lstStyle/>
          <a:p>
            <a:fld id="{E9331071-0531-4F61-A5A0-E22B891BF691}" type="slidenum">
              <a:rPr lang="en-IL" smtClean="0"/>
              <a:t>36</a:t>
            </a:fld>
            <a:endParaRPr lang="en-IL"/>
          </a:p>
        </p:txBody>
      </p:sp>
    </p:spTree>
    <p:extLst>
      <p:ext uri="{BB962C8B-B14F-4D97-AF65-F5344CB8AC3E}">
        <p14:creationId xmlns:p14="http://schemas.microsoft.com/office/powerpoint/2010/main" val="152846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37</a:t>
            </a:fld>
            <a:endParaRPr lang="en-IL"/>
          </a:p>
        </p:txBody>
      </p:sp>
    </p:spTree>
    <p:extLst>
      <p:ext uri="{BB962C8B-B14F-4D97-AF65-F5344CB8AC3E}">
        <p14:creationId xmlns:p14="http://schemas.microsoft.com/office/powerpoint/2010/main" val="368838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38</a:t>
            </a:fld>
            <a:endParaRPr lang="en-IL"/>
          </a:p>
        </p:txBody>
      </p:sp>
    </p:spTree>
    <p:extLst>
      <p:ext uri="{BB962C8B-B14F-4D97-AF65-F5344CB8AC3E}">
        <p14:creationId xmlns:p14="http://schemas.microsoft.com/office/powerpoint/2010/main" val="2196607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39</a:t>
            </a:fld>
            <a:endParaRPr lang="en-IL"/>
          </a:p>
        </p:txBody>
      </p:sp>
    </p:spTree>
    <p:extLst>
      <p:ext uri="{BB962C8B-B14F-4D97-AF65-F5344CB8AC3E}">
        <p14:creationId xmlns:p14="http://schemas.microsoft.com/office/powerpoint/2010/main" val="513026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pic>
        <p:nvPicPr>
          <p:cNvPr id="1026" name="Picture 2" descr="שירות לקוחות ביטוח לאומי טלפון 2023 » שירות בקליק"/>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549" t="24616" r="-2549" b="24936"/>
          <a:stretch/>
        </p:blipFill>
        <p:spPr bwMode="auto">
          <a:xfrm>
            <a:off x="381000" y="6079227"/>
            <a:ext cx="1876168" cy="767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727725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59464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י"ז/אייר/תשפ"ג</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י"ז/אייר/תשפ"ג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16766459"/>
      </p:ext>
    </p:extLst>
  </p:cSld>
  <p:clrMapOvr>
    <a:masterClrMapping/>
  </p:clrMapOvr>
  <p:transition spd="slow">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2.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theme" Target="../theme/theme3.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י"ז/אייר/תשפ"ג</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י"ז/אייר/תשפ"ג</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Lst>
  <p:timing>
    <p:tnLst>
      <p:par>
        <p:cTn id="1" dur="indefinite" restart="never" nodeType="tmRoot"/>
      </p:par>
    </p:tnLst>
  </p:timing>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4.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image" Target="../media/image10.svg"/><Relationship Id="rId5" Type="http://schemas.openxmlformats.org/officeDocument/2006/relationships/image" Target="../media/image15.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image" Target="../media/image13.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4.xml"/><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3.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7" Type="http://schemas.microsoft.com/office/2007/relationships/hdphoto" Target="../media/hdphoto1.wdp"/><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3.jpe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1.svg"/><Relationship Id="rId5" Type="http://schemas.openxmlformats.org/officeDocument/2006/relationships/image" Target="../media/image15.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3.png"/><Relationship Id="rId1" Type="http://schemas.openxmlformats.org/officeDocument/2006/relationships/slideLayout" Target="../slideLayouts/slideLayout21.xml"/><Relationship Id="rId6" Type="http://schemas.openxmlformats.org/officeDocument/2006/relationships/image" Target="../media/image16.png"/><Relationship Id="rId5" Type="http://schemas.openxmlformats.org/officeDocument/2006/relationships/image" Target="../media/image100.sv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8.jpeg"/><Relationship Id="rId5" Type="http://schemas.openxmlformats.org/officeDocument/2006/relationships/image" Target="../media/image57.png"/><Relationship Id="rId4" Type="http://schemas.openxmlformats.org/officeDocument/2006/relationships/image" Target="../media/image56.jpeg"/></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 Id="rId6" Type="http://schemas.openxmlformats.org/officeDocument/2006/relationships/image" Target="../media/image61.png"/><Relationship Id="rId5" Type="http://schemas.openxmlformats.org/officeDocument/2006/relationships/image" Target="../media/image3.png"/><Relationship Id="rId4" Type="http://schemas.microsoft.com/office/2007/relationships/hdphoto" Target="../media/hdphoto2.wdp"/></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64.pn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6.jpeg"/><Relationship Id="rId7" Type="http://schemas.openxmlformats.org/officeDocument/2006/relationships/image" Target="../media/image69.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3.png"/><Relationship Id="rId9" Type="http://schemas.openxmlformats.org/officeDocument/2006/relationships/image" Target="../media/image71.jpeg"/></Relationships>
</file>

<file path=ppt/slides/_rels/slide3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75.jpg"/><Relationship Id="rId5" Type="http://schemas.openxmlformats.org/officeDocument/2006/relationships/image" Target="../media/image74.jp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39.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83.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406453" y="1346861"/>
            <a:ext cx="11450901" cy="830997"/>
          </a:xfrm>
          <a:prstGeom prst="rect">
            <a:avLst/>
          </a:prstGeom>
          <a:noFill/>
        </p:spPr>
        <p:txBody>
          <a:bodyPr wrap="square" lIns="91440" tIns="45720" rIns="91440" bIns="45720">
            <a:spAutoFit/>
          </a:bodyPr>
          <a:lstStyle/>
          <a:p>
            <a:r>
              <a:rPr lang="he-IL" sz="4800" b="1" dirty="0" smtClean="0">
                <a:latin typeface="Calibri" panose="020F0502020204030204" pitchFamily="34" charset="0"/>
                <a:cs typeface="Calibri" panose="020F0502020204030204" pitchFamily="34" charset="0"/>
              </a:rPr>
              <a:t>שירותים חברתיים לזכאי חוק סיעוד</a:t>
            </a:r>
            <a:endParaRPr lang="he-IL" sz="4800" b="1" dirty="0">
              <a:latin typeface="Calibri" panose="020F0502020204030204" pitchFamily="34" charset="0"/>
              <a:cs typeface="Calibri" panose="020F0502020204030204" pitchFamily="34" charset="0"/>
            </a:endParaRPr>
          </a:p>
        </p:txBody>
      </p:sp>
      <p:pic>
        <p:nvPicPr>
          <p:cNvPr id="8" name="תמונה 7"/>
          <p:cNvPicPr>
            <a:picLocks noChangeAspect="1"/>
          </p:cNvPicPr>
          <p:nvPr/>
        </p:nvPicPr>
        <p:blipFill>
          <a:blip r:embed="rId2"/>
          <a:stretch>
            <a:fillRect/>
          </a:stretch>
        </p:blipFill>
        <p:spPr>
          <a:xfrm>
            <a:off x="9283700" y="5554236"/>
            <a:ext cx="2908300" cy="1303763"/>
          </a:xfrm>
          <a:prstGeom prst="rect">
            <a:avLst/>
          </a:prstGeom>
        </p:spPr>
      </p:pic>
      <p:sp>
        <p:nvSpPr>
          <p:cNvPr id="2" name="TextBox 1"/>
          <p:cNvSpPr txBox="1"/>
          <p:nvPr/>
        </p:nvSpPr>
        <p:spPr>
          <a:xfrm>
            <a:off x="6042543" y="2860460"/>
            <a:ext cx="5814811" cy="1077218"/>
          </a:xfrm>
          <a:prstGeom prst="rect">
            <a:avLst/>
          </a:prstGeom>
          <a:noFill/>
        </p:spPr>
        <p:txBody>
          <a:bodyPr wrap="square" rtlCol="1">
            <a:spAutoFit/>
          </a:bodyPr>
          <a:lstStyle/>
          <a:p>
            <a:r>
              <a:rPr lang="he-IL" sz="3200" b="1" dirty="0" smtClean="0">
                <a:latin typeface="Calibri" panose="020F0502020204030204" pitchFamily="34" charset="0"/>
                <a:cs typeface="Calibri" panose="020F0502020204030204" pitchFamily="34" charset="0"/>
              </a:rPr>
              <a:t>מינהל אזרחים ותיקים ואגף סיעוד בביטוח לאומי</a:t>
            </a:r>
            <a:endParaRPr lang="he-IL" sz="2000" b="1" dirty="0">
              <a:latin typeface="Calibri" panose="020F0502020204030204" pitchFamily="34" charset="0"/>
              <a:cs typeface="Calibri" panose="020F0502020204030204" pitchFamily="34" charset="0"/>
            </a:endParaRPr>
          </a:p>
        </p:txBody>
      </p:sp>
      <p:sp>
        <p:nvSpPr>
          <p:cNvPr id="9" name="מלבן 8"/>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20" name="קבוצה 19"/>
          <p:cNvGrpSpPr/>
          <p:nvPr/>
        </p:nvGrpSpPr>
        <p:grpSpPr>
          <a:xfrm>
            <a:off x="1632550" y="4155203"/>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2351337" y="3941052"/>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16" name="קבוצה 15"/>
          <p:cNvGrpSpPr/>
          <p:nvPr/>
        </p:nvGrpSpPr>
        <p:grpSpPr>
          <a:xfrm>
            <a:off x="1632550" y="3284716"/>
            <a:ext cx="3383279" cy="2680688"/>
            <a:chOff x="4003932" y="140625"/>
            <a:chExt cx="3347849" cy="3401935"/>
          </a:xfrm>
        </p:grpSpPr>
        <p:sp>
          <p:nvSpPr>
            <p:cNvPr id="24" name="אליפסה 23"/>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5"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711284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מטרות על ל-2023</a:t>
            </a:r>
            <a:endParaRPr kumimoji="0" lang="en-CA" sz="40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2872509" y="1782618"/>
            <a:ext cx="3025703" cy="2733963"/>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שימור ושיפור תפקוד</a:t>
            </a:r>
          </a:p>
        </p:txBody>
      </p:sp>
      <p:sp>
        <p:nvSpPr>
          <p:cNvPr id="11" name="Circle">
            <a:extLst>
              <a:ext uri="{FF2B5EF4-FFF2-40B4-BE49-F238E27FC236}">
                <a16:creationId xmlns:a16="http://schemas.microsoft.com/office/drawing/2014/main" id="{BFA8BC08-2983-6C41-BCDA-7939F0275991}"/>
              </a:ext>
            </a:extLst>
          </p:cNvPr>
          <p:cNvSpPr/>
          <p:nvPr/>
        </p:nvSpPr>
        <p:spPr>
          <a:xfrm>
            <a:off x="5492320" y="1782618"/>
            <a:ext cx="2927259" cy="280785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שייכות ומשמעות</a:t>
            </a:r>
            <a:endParaRPr kumimoji="0" lang="he-IL" sz="36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2" name="Circle">
            <a:extLst>
              <a:ext uri="{FF2B5EF4-FFF2-40B4-BE49-F238E27FC236}">
                <a16:creationId xmlns:a16="http://schemas.microsoft.com/office/drawing/2014/main" id="{34F19EA4-628E-134F-AE5C-15E847C2E5B4}"/>
              </a:ext>
            </a:extLst>
          </p:cNvPr>
          <p:cNvSpPr/>
          <p:nvPr/>
        </p:nvSpPr>
        <p:spPr>
          <a:xfrm>
            <a:off x="4322618" y="3659509"/>
            <a:ext cx="2840815" cy="2621218"/>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40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מניעת</a:t>
            </a:r>
            <a:endPar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28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מצבי סיכון</a:t>
            </a: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16" name="Circle">
            <a:extLst>
              <a:ext uri="{FF2B5EF4-FFF2-40B4-BE49-F238E27FC236}">
                <a16:creationId xmlns:a16="http://schemas.microsoft.com/office/drawing/2014/main" id="{772827F8-AB18-CF49-B1DC-901232D42CD9}"/>
              </a:ext>
            </a:extLst>
          </p:cNvPr>
          <p:cNvSpPr/>
          <p:nvPr/>
        </p:nvSpPr>
        <p:spPr>
          <a:xfrm>
            <a:off x="149354" y="0"/>
            <a:ext cx="1565304" cy="1505527"/>
          </a:xfrm>
          <a:prstGeom prst="ellipse">
            <a:avLst/>
          </a:prstGeom>
          <a:solidFill>
            <a:schemeClr val="accent1">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5" name="מלבן 4"/>
          <p:cNvSpPr/>
          <p:nvPr/>
        </p:nvSpPr>
        <p:spPr>
          <a:xfrm>
            <a:off x="96901" y="244931"/>
            <a:ext cx="1670209" cy="1015663"/>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היערכות להזדקנות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שכבר כאן</a:t>
            </a:r>
          </a:p>
        </p:txBody>
      </p:sp>
    </p:spTree>
    <p:extLst>
      <p:ext uri="{BB962C8B-B14F-4D97-AF65-F5344CB8AC3E}">
        <p14:creationId xmlns:p14="http://schemas.microsoft.com/office/powerpoint/2010/main" val="36100447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מלבן מעוגל 7"/>
          <p:cNvSpPr/>
          <p:nvPr/>
        </p:nvSpPr>
        <p:spPr>
          <a:xfrm>
            <a:off x="7579669" y="1479185"/>
            <a:ext cx="3826791" cy="684458"/>
          </a:xfrm>
          <a:prstGeom prst="roundRect">
            <a:avLst>
              <a:gd name="adj" fmla="val 50000"/>
            </a:avLst>
          </a:prstGeom>
          <a:ln/>
        </p:spPr>
        <p:style>
          <a:lnRef idx="1">
            <a:schemeClr val="accent4"/>
          </a:lnRef>
          <a:fillRef idx="2">
            <a:schemeClr val="accent4"/>
          </a:fillRef>
          <a:effectRef idx="1">
            <a:schemeClr val="accent4"/>
          </a:effectRef>
          <a:fontRef idx="minor">
            <a:schemeClr val="dk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25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השיטה</a:t>
            </a:r>
          </a:p>
        </p:txBody>
      </p:sp>
      <p:grpSp>
        <p:nvGrpSpPr>
          <p:cNvPr id="23" name="קבוצה 22"/>
          <p:cNvGrpSpPr/>
          <p:nvPr/>
        </p:nvGrpSpPr>
        <p:grpSpPr>
          <a:xfrm>
            <a:off x="616944" y="2577634"/>
            <a:ext cx="11125315" cy="3418075"/>
            <a:chOff x="681369" y="2361566"/>
            <a:chExt cx="10469636" cy="3293529"/>
          </a:xfrm>
        </p:grpSpPr>
        <p:sp>
          <p:nvSpPr>
            <p:cNvPr id="3" name="אליפסה 2"/>
            <p:cNvSpPr/>
            <p:nvPr/>
          </p:nvSpPr>
          <p:spPr>
            <a:xfrm>
              <a:off x="6761279" y="2361566"/>
              <a:ext cx="1515394" cy="15153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העמקה</a:t>
              </a:r>
              <a:endParaRPr kumimoji="0" lang="he-IL" sz="1800" b="0" i="0" u="none" strike="noStrike" kern="1200" cap="none" spc="0" normalizeH="0" baseline="0" noProof="0" dirty="0">
                <a:ln>
                  <a:noFill/>
                </a:ln>
                <a:solidFill>
                  <a:srgbClr val="2C3E50"/>
                </a:solidFill>
                <a:effectLst/>
                <a:uLnTx/>
                <a:uFillTx/>
                <a:latin typeface="Assistant ExtraBold" pitchFamily="2" charset="-79"/>
                <a:ea typeface="+mn-ea"/>
                <a:cs typeface="Assistant ExtraBold" pitchFamily="2" charset="-79"/>
              </a:endParaRPr>
            </a:p>
          </p:txBody>
        </p:sp>
        <p:sp>
          <p:nvSpPr>
            <p:cNvPr id="19" name="אליפסה 18"/>
            <p:cNvSpPr/>
            <p:nvPr/>
          </p:nvSpPr>
          <p:spPr>
            <a:xfrm>
              <a:off x="9635611" y="2361566"/>
              <a:ext cx="1515394" cy="1515394"/>
            </a:xfrm>
            <a:prstGeom prst="ellipse">
              <a:avLst/>
            </a:prstGeom>
            <a:solidFill>
              <a:srgbClr val="B1D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הרחבה</a:t>
              </a:r>
              <a:endParaRPr kumimoji="0" lang="he-IL" sz="1800" b="0" i="0" u="none" strike="noStrike" kern="1200" cap="none" spc="0" normalizeH="0" baseline="0" noProof="0" dirty="0">
                <a:ln>
                  <a:noFill/>
                </a:ln>
                <a:solidFill>
                  <a:srgbClr val="2C3E50"/>
                </a:solidFill>
                <a:effectLst/>
                <a:uLnTx/>
                <a:uFillTx/>
                <a:latin typeface="Assistant ExtraBold" pitchFamily="2" charset="-79"/>
                <a:ea typeface="+mn-ea"/>
                <a:cs typeface="Assistant ExtraBold" pitchFamily="2" charset="-79"/>
              </a:endParaRPr>
            </a:p>
          </p:txBody>
        </p:sp>
        <p:sp>
          <p:nvSpPr>
            <p:cNvPr id="20" name="אליפסה 19"/>
            <p:cNvSpPr/>
            <p:nvPr/>
          </p:nvSpPr>
          <p:spPr>
            <a:xfrm>
              <a:off x="8276671" y="4139701"/>
              <a:ext cx="1515394" cy="1515394"/>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דיוק, התאמה </a:t>
              </a:r>
              <a:r>
                <a:rPr kumimoji="0" lang="he-IL" sz="1800" b="0" i="0" u="none" strike="noStrike" kern="1200" cap="none" spc="0" normalizeH="0" baseline="0" noProof="0" dirty="0" err="1" smtClean="0">
                  <a:ln>
                    <a:noFill/>
                  </a:ln>
                  <a:solidFill>
                    <a:srgbClr val="2C3E50"/>
                  </a:solidFill>
                  <a:effectLst/>
                  <a:uLnTx/>
                  <a:uFillTx/>
                  <a:latin typeface="Assistant ExtraBold" pitchFamily="2" charset="-79"/>
                  <a:ea typeface="+mn-ea"/>
                  <a:cs typeface="Assistant ExtraBold" pitchFamily="2" charset="-79"/>
                </a:rPr>
                <a:t>ואיפיון</a:t>
              </a:r>
              <a:endParaRPr kumimoji="0" lang="he-IL" sz="1800" b="0" i="0" u="none" strike="noStrike" kern="1200" cap="none" spc="0" normalizeH="0" baseline="0" noProof="0" dirty="0">
                <a:ln>
                  <a:noFill/>
                </a:ln>
                <a:solidFill>
                  <a:srgbClr val="2C3E50"/>
                </a:solidFill>
                <a:effectLst/>
                <a:uLnTx/>
                <a:uFillTx/>
                <a:latin typeface="Assistant ExtraBold" pitchFamily="2" charset="-79"/>
                <a:ea typeface="+mn-ea"/>
                <a:cs typeface="Assistant ExtraBold" pitchFamily="2" charset="-79"/>
              </a:endParaRPr>
            </a:p>
          </p:txBody>
        </p:sp>
        <p:sp>
          <p:nvSpPr>
            <p:cNvPr id="21" name="אליפסה 20"/>
            <p:cNvSpPr/>
            <p:nvPr/>
          </p:nvSpPr>
          <p:spPr>
            <a:xfrm>
              <a:off x="3791729" y="2443609"/>
              <a:ext cx="1515394" cy="1515394"/>
            </a:xfrm>
            <a:prstGeom prst="ellipse">
              <a:avLst/>
            </a:prstGeom>
            <a:solidFill>
              <a:srgbClr val="EB9577"/>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ביזור סמכויות</a:t>
              </a:r>
              <a:endParaRPr kumimoji="0" lang="he-IL" sz="1800" b="0" i="0" u="none" strike="noStrike" kern="1200" cap="none" spc="0" normalizeH="0" baseline="0" noProof="0" dirty="0">
                <a:ln>
                  <a:noFill/>
                </a:ln>
                <a:solidFill>
                  <a:srgbClr val="2C3E50"/>
                </a:solidFill>
                <a:effectLst/>
                <a:uLnTx/>
                <a:uFillTx/>
                <a:latin typeface="Assistant ExtraBold" pitchFamily="2" charset="-79"/>
                <a:ea typeface="+mn-ea"/>
                <a:cs typeface="Assistant ExtraBold" pitchFamily="2" charset="-79"/>
              </a:endParaRPr>
            </a:p>
          </p:txBody>
        </p:sp>
        <p:sp>
          <p:nvSpPr>
            <p:cNvPr id="22" name="אליפסה 21"/>
            <p:cNvSpPr/>
            <p:nvPr/>
          </p:nvSpPr>
          <p:spPr>
            <a:xfrm>
              <a:off x="681369" y="2443608"/>
              <a:ext cx="1515394" cy="1515394"/>
            </a:xfrm>
            <a:prstGeom prst="ellipse">
              <a:avLst/>
            </a:prstGeom>
            <a:solidFill>
              <a:srgbClr val="C56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מערכות מידע</a:t>
              </a:r>
              <a:endParaRPr kumimoji="0" lang="he-IL" sz="1800" b="0" i="0" u="none" strike="noStrike" kern="1200" cap="none" spc="0" normalizeH="0" baseline="0" noProof="0" dirty="0">
                <a:ln>
                  <a:noFill/>
                </a:ln>
                <a:solidFill>
                  <a:srgbClr val="2C3E50"/>
                </a:solidFill>
                <a:effectLst/>
                <a:uLnTx/>
                <a:uFillTx/>
                <a:latin typeface="Assistant ExtraBold" pitchFamily="2" charset="-79"/>
                <a:ea typeface="+mn-ea"/>
                <a:cs typeface="Assistant ExtraBold" pitchFamily="2" charset="-79"/>
              </a:endParaRPr>
            </a:p>
          </p:txBody>
        </p:sp>
      </p:grpSp>
      <p:sp>
        <p:nvSpPr>
          <p:cNvPr id="12" name="מלבן מעוגל 11"/>
          <p:cNvSpPr/>
          <p:nvPr/>
        </p:nvSpPr>
        <p:spPr>
          <a:xfrm>
            <a:off x="1160183" y="1479649"/>
            <a:ext cx="3826791" cy="684458"/>
          </a:xfrm>
          <a:prstGeom prst="roundRect">
            <a:avLst>
              <a:gd name="adj" fmla="val 50000"/>
            </a:avLst>
          </a:prstGeom>
          <a:ln/>
        </p:spPr>
        <p:style>
          <a:lnRef idx="1">
            <a:schemeClr val="accent4"/>
          </a:lnRef>
          <a:fillRef idx="2">
            <a:schemeClr val="accent4"/>
          </a:fillRef>
          <a:effectRef idx="1">
            <a:schemeClr val="accent4"/>
          </a:effectRef>
          <a:fontRef idx="minor">
            <a:schemeClr val="dk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25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הכלים</a:t>
            </a:r>
          </a:p>
        </p:txBody>
      </p:sp>
      <p:sp>
        <p:nvSpPr>
          <p:cNvPr id="14" name="אליפסה 13"/>
          <p:cNvSpPr/>
          <p:nvPr/>
        </p:nvSpPr>
        <p:spPr>
          <a:xfrm>
            <a:off x="2225062" y="4564327"/>
            <a:ext cx="1697034" cy="1515394"/>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srgbClr val="2C3E50"/>
                </a:solidFill>
                <a:effectLst/>
                <a:uLnTx/>
                <a:uFillTx/>
                <a:latin typeface="Assistant ExtraBold" pitchFamily="2" charset="-79"/>
                <a:ea typeface="+mn-ea"/>
                <a:cs typeface="Assistant ExtraBold" pitchFamily="2" charset="-79"/>
              </a:rPr>
              <a:t>הכשרות</a:t>
            </a:r>
            <a:endParaRPr kumimoji="0" lang="he-IL" sz="1800" b="0" i="0" u="none" strike="noStrike" kern="1200" cap="none" spc="0" normalizeH="0" baseline="0" noProof="0" dirty="0">
              <a:ln>
                <a:noFill/>
              </a:ln>
              <a:solidFill>
                <a:srgbClr val="2C3E50"/>
              </a:solidFill>
              <a:effectLst/>
              <a:uLnTx/>
              <a:uFillTx/>
              <a:latin typeface="Assistant ExtraBold" pitchFamily="2" charset="-79"/>
              <a:ea typeface="+mn-ea"/>
              <a:cs typeface="Assistant ExtraBold" pitchFamily="2" charset="-79"/>
            </a:endParaRPr>
          </a:p>
        </p:txBody>
      </p:sp>
      <p:sp>
        <p:nvSpPr>
          <p:cNvPr id="15" name="Title 1">
            <a:extLst>
              <a:ext uri="{FF2B5EF4-FFF2-40B4-BE49-F238E27FC236}">
                <a16:creationId xmlns:a16="http://schemas.microsoft.com/office/drawing/2014/main" id="{048F64CC-CE0C-8843-B759-4B60C810D846}"/>
              </a:ext>
            </a:extLst>
          </p:cNvPr>
          <p:cNvSpPr txBox="1">
            <a:spLocks/>
          </p:cNvSpPr>
          <p:nvPr/>
        </p:nvSpPr>
        <p:spPr>
          <a:xfrm>
            <a:off x="0" y="97248"/>
            <a:ext cx="12192000" cy="769441"/>
          </a:xfrm>
          <a:prstGeom prst="rect">
            <a:avLst/>
          </a:prstGeom>
        </p:spPr>
        <p:style>
          <a:lnRef idx="1">
            <a:schemeClr val="accent4"/>
          </a:lnRef>
          <a:fillRef idx="2">
            <a:schemeClr val="accent4"/>
          </a:fillRef>
          <a:effectRef idx="1">
            <a:schemeClr val="accent4"/>
          </a:effectRef>
          <a:fontRef idx="minor">
            <a:schemeClr val="dk1"/>
          </a:fontRef>
        </p:style>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smtClean="0">
                <a:ln>
                  <a:noFill/>
                </a:ln>
                <a:solidFill>
                  <a:prstClr val="black"/>
                </a:solidFill>
                <a:effectLst/>
                <a:uLnTx/>
                <a:uFillTx/>
                <a:latin typeface="Calibri"/>
                <a:ea typeface="+mj-ea"/>
                <a:cs typeface="Calibri"/>
              </a:rPr>
              <a:t>יעדי  מערכת ל-2023</a:t>
            </a:r>
            <a:endParaRPr kumimoji="0" lang="en-CA" sz="4000" b="1" i="0" u="none" strike="noStrike" kern="1200" cap="all" spc="0" normalizeH="0" baseline="0" noProof="0">
              <a:ln>
                <a:noFill/>
              </a:ln>
              <a:solidFill>
                <a:srgbClr val="2F3A46"/>
              </a:solidFill>
              <a:effectLst/>
              <a:uLnTx/>
              <a:uFillTx/>
              <a:latin typeface="Open Sans" panose="020B0606030504020204" pitchFamily="34" charset="0"/>
            </a:endParaRPr>
          </a:p>
        </p:txBody>
      </p:sp>
    </p:spTree>
    <p:extLst>
      <p:ext uri="{BB962C8B-B14F-4D97-AF65-F5344CB8AC3E}">
        <p14:creationId xmlns:p14="http://schemas.microsoft.com/office/powerpoint/2010/main" val="35178867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11" name="תרשים 10">
            <a:extLst>
              <a:ext uri="{FF2B5EF4-FFF2-40B4-BE49-F238E27FC236}">
                <a16:creationId xmlns:a16="http://schemas.microsoft.com/office/drawing/2014/main" id="{302946A4-0737-4970-A78C-64C0DD6F3545}"/>
              </a:ext>
            </a:extLst>
          </p:cNvPr>
          <p:cNvGraphicFramePr>
            <a:graphicFrameLocks/>
          </p:cNvGraphicFramePr>
          <p:nvPr>
            <p:extLst/>
          </p:nvPr>
        </p:nvGraphicFramePr>
        <p:xfrm>
          <a:off x="557411" y="1077912"/>
          <a:ext cx="7887076" cy="5371078"/>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8039101" y="275788"/>
            <a:ext cx="3896316" cy="129266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32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srgbClr val="002060"/>
                </a:solidFill>
                <a:effectLst/>
                <a:uLnTx/>
                <a:uFillTx/>
                <a:latin typeface="Calibri" panose="020F0502020204030204" pitchFamily="34" charset="0"/>
                <a:ea typeface="+mn-ea"/>
                <a:cs typeface="Calibri" panose="020F0502020204030204" pitchFamily="34" charset="0"/>
              </a:rPr>
              <a:t>השקעה </a:t>
            </a:r>
            <a:r>
              <a:rPr kumimoji="0" lang="he-IL" sz="2800" b="1" i="0" u="none" strike="noStrike" kern="1200" cap="none" spc="0" normalizeH="0" baseline="0" noProof="0" dirty="0" err="1" smtClean="0">
                <a:ln>
                  <a:noFill/>
                </a:ln>
                <a:solidFill>
                  <a:srgbClr val="002060"/>
                </a:solidFill>
                <a:effectLst/>
                <a:uLnTx/>
                <a:uFillTx/>
                <a:latin typeface="Calibri" panose="020F0502020204030204" pitchFamily="34" charset="0"/>
                <a:ea typeface="+mn-ea"/>
                <a:cs typeface="Calibri" panose="020F0502020204030204" pitchFamily="34" charset="0"/>
              </a:rPr>
              <a:t>מועטת</a:t>
            </a:r>
            <a:r>
              <a:rPr kumimoji="0" lang="he-IL" sz="2800" b="1" i="0" u="none" strike="noStrike" kern="1200" cap="none" spc="0" normalizeH="0" baseline="0" noProof="0" dirty="0" smtClean="0">
                <a:ln>
                  <a:noFill/>
                </a:ln>
                <a:solidFill>
                  <a:srgbClr val="002060"/>
                </a:solidFill>
                <a:effectLst/>
                <a:uLnTx/>
                <a:uFillTx/>
                <a:latin typeface="Calibri" panose="020F0502020204030204" pitchFamily="34" charset="0"/>
                <a:ea typeface="+mn-ea"/>
                <a:cs typeface="Calibri" panose="020F0502020204030204" pitchFamily="34" charset="0"/>
              </a:rPr>
              <a:t> </a:t>
            </a:r>
            <a:r>
              <a:rPr kumimoji="0" lang="he-IL" sz="2800" b="1" i="0" u="sng" strike="noStrike" kern="1200" cap="none" spc="0" normalizeH="0" baseline="0" noProof="0" dirty="0" smtClean="0">
                <a:ln>
                  <a:noFill/>
                </a:ln>
                <a:solidFill>
                  <a:srgbClr val="002060"/>
                </a:solidFill>
                <a:effectLst/>
                <a:uLnTx/>
                <a:uFillTx/>
                <a:latin typeface="Calibri" panose="020F0502020204030204" pitchFamily="34" charset="0"/>
                <a:ea typeface="+mn-ea"/>
                <a:cs typeface="Calibri" panose="020F0502020204030204" pitchFamily="34" charset="0"/>
              </a:rPr>
              <a:t>במניעה</a:t>
            </a:r>
            <a:r>
              <a:rPr kumimoji="0" lang="he-IL" sz="2800" b="1" i="0" u="none" strike="noStrike" kern="1200" cap="none" spc="0" normalizeH="0" baseline="0" noProof="0" dirty="0" smtClean="0">
                <a:ln>
                  <a:noFill/>
                </a:ln>
                <a:solidFill>
                  <a:srgbClr val="002060"/>
                </a:solidFill>
                <a:effectLst/>
                <a:uLnTx/>
                <a:uFillTx/>
                <a:latin typeface="Calibri" panose="020F0502020204030204" pitchFamily="34" charset="0"/>
                <a:ea typeface="+mn-ea"/>
                <a:cs typeface="Calibri" panose="020F0502020204030204" pitchFamily="34" charset="0"/>
              </a:rPr>
              <a:t> </a:t>
            </a:r>
            <a:endParaRPr kumimoji="0" lang="he-IL" sz="2800" b="1"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pitchFamily="34" charset="0"/>
                <a:ea typeface="+mn-ea"/>
                <a:cs typeface="Calibri"/>
              </a:rPr>
              <a:t>                                   </a:t>
            </a: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042168" y="5458173"/>
            <a:ext cx="1149832" cy="1399827"/>
          </a:xfrm>
          <a:prstGeom prst="rect">
            <a:avLst/>
          </a:prstGeom>
        </p:spPr>
      </p:pic>
      <p:pic>
        <p:nvPicPr>
          <p:cNvPr id="9" name="תמונה 8"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1933" y="5850467"/>
            <a:ext cx="1387633" cy="721652"/>
          </a:xfrm>
          <a:prstGeom prst="rect">
            <a:avLst/>
          </a:prstGeom>
          <a:noFill/>
          <a:ln>
            <a:noFill/>
          </a:ln>
          <a:extLst>
            <a:ext uri="{53640926-AAD7-44D8-BBD7-CCE9431645EC}">
              <a14:shadowObscured xmlns:a14="http://schemas.microsoft.com/office/drawing/2010/main"/>
            </a:ext>
          </a:extLst>
        </p:spPr>
      </p:pic>
      <p:sp>
        <p:nvSpPr>
          <p:cNvPr id="10" name="מלבן 9"/>
          <p:cNvSpPr/>
          <p:nvPr/>
        </p:nvSpPr>
        <p:spPr>
          <a:xfrm>
            <a:off x="0" y="1"/>
            <a:ext cx="16086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 name="מלבן 1"/>
          <p:cNvSpPr/>
          <p:nvPr/>
        </p:nvSpPr>
        <p:spPr>
          <a:xfrm>
            <a:off x="8755091" y="2589981"/>
            <a:ext cx="2287077"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כלל ההוצאה התקציבית הממשלתית על אזרחים ותיקים ופרישה (2019)</a:t>
            </a:r>
          </a:p>
        </p:txBody>
      </p:sp>
    </p:spTree>
    <p:extLst>
      <p:ext uri="{BB962C8B-B14F-4D97-AF65-F5344CB8AC3E}">
        <p14:creationId xmlns:p14="http://schemas.microsoft.com/office/powerpoint/2010/main" val="2900587363"/>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545904" y="255865"/>
            <a:ext cx="10888688" cy="89255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האתגר – פיצול השירותים לאזרח הוותיק בין גורמים רבים</a:t>
            </a:r>
            <a:r>
              <a:rPr kumimoji="0" lang="en-US" sz="28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28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br>
            <a:endParaRPr kumimoji="0" lang="he-IL" sz="24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TextBox 4"/>
          <p:cNvSpPr txBox="1"/>
          <p:nvPr/>
        </p:nvSpPr>
        <p:spPr>
          <a:xfrm>
            <a:off x="6714266" y="3218190"/>
            <a:ext cx="1763486" cy="307777"/>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smtClean="0">
                <a:ln>
                  <a:noFill/>
                </a:ln>
                <a:solidFill>
                  <a:srgbClr val="0070C0"/>
                </a:solidFill>
                <a:effectLst/>
                <a:uLnTx/>
                <a:uFillTx/>
                <a:latin typeface="Calibri"/>
                <a:ea typeface="+mn-ea"/>
                <a:cs typeface="Calibri"/>
              </a:rPr>
              <a:t>הלקוח במרכז?</a:t>
            </a:r>
          </a:p>
        </p:txBody>
      </p:sp>
      <p:sp>
        <p:nvSpPr>
          <p:cNvPr id="6" name="TextBox 5"/>
          <p:cNvSpPr txBox="1"/>
          <p:nvPr/>
        </p:nvSpPr>
        <p:spPr>
          <a:xfrm>
            <a:off x="6688183" y="4131242"/>
            <a:ext cx="1763486" cy="369332"/>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prstClr val="black"/>
                </a:solidFill>
                <a:effectLst/>
                <a:uLnTx/>
                <a:uFillTx/>
                <a:latin typeface="Calibri"/>
                <a:ea typeface="+mn-ea"/>
                <a:cs typeface="Calibri"/>
              </a:rPr>
              <a:t>הלקוח במרכז</a:t>
            </a:r>
          </a:p>
        </p:txBody>
      </p:sp>
      <p:sp>
        <p:nvSpPr>
          <p:cNvPr id="7" name="מלבן 6"/>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10" name="אליפסה 9"/>
          <p:cNvSpPr/>
          <p:nvPr/>
        </p:nvSpPr>
        <p:spPr>
          <a:xfrm>
            <a:off x="6957753" y="3491345"/>
            <a:ext cx="1230283" cy="1246910"/>
          </a:xfrm>
          <a:prstGeom prst="ellipse">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a:ea typeface="+mn-ea"/>
              <a:cs typeface="Calibri"/>
            </a:endParaRPr>
          </a:p>
        </p:txBody>
      </p:sp>
      <p:pic>
        <p:nvPicPr>
          <p:cNvPr id="11"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232073" y="3625133"/>
            <a:ext cx="732665" cy="821363"/>
          </a:xfrm>
          <a:prstGeom prst="rect">
            <a:avLst/>
          </a:prstGeom>
        </p:spPr>
      </p:pic>
      <p:sp>
        <p:nvSpPr>
          <p:cNvPr id="12" name="מלבן 11"/>
          <p:cNvSpPr/>
          <p:nvPr/>
        </p:nvSpPr>
        <p:spPr>
          <a:xfrm>
            <a:off x="1912065" y="1283726"/>
            <a:ext cx="1568058" cy="338554"/>
          </a:xfrm>
          <a:prstGeom prst="rect">
            <a:avLst/>
          </a:prstGeom>
        </p:spPr>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70C0"/>
                </a:solidFill>
                <a:effectLst/>
                <a:uLnTx/>
                <a:uFillTx/>
                <a:latin typeface="Calibri"/>
                <a:ea typeface="+mn-ea"/>
                <a:cs typeface="Calibri"/>
              </a:rPr>
              <a:t>הרשות </a:t>
            </a:r>
            <a:r>
              <a:rPr kumimoji="0" lang="he-IL" sz="1600" b="1" i="0" u="none" strike="noStrike" kern="1200" cap="none" spc="0" normalizeH="0" baseline="0" noProof="0" dirty="0" smtClean="0">
                <a:ln>
                  <a:noFill/>
                </a:ln>
                <a:solidFill>
                  <a:srgbClr val="0070C0"/>
                </a:solidFill>
                <a:effectLst/>
                <a:uLnTx/>
                <a:uFillTx/>
                <a:latin typeface="Calibri"/>
                <a:ea typeface="+mn-ea"/>
                <a:cs typeface="Calibri"/>
              </a:rPr>
              <a:t>המקומית?</a:t>
            </a:r>
            <a:endParaRPr kumimoji="0" lang="he-IL" sz="1600" b="1" i="0" u="none" strike="noStrike" kern="1200" cap="none" spc="0" normalizeH="0" baseline="0" noProof="0" dirty="0">
              <a:ln>
                <a:noFill/>
              </a:ln>
              <a:solidFill>
                <a:srgbClr val="0070C0"/>
              </a:solidFill>
              <a:effectLst/>
              <a:uLnTx/>
              <a:uFillTx/>
              <a:latin typeface="Calibri"/>
              <a:ea typeface="+mn-ea"/>
              <a:cs typeface="Calibri"/>
            </a:endParaRPr>
          </a:p>
        </p:txBody>
      </p:sp>
    </p:spTree>
    <p:extLst>
      <p:ext uri="{BB962C8B-B14F-4D97-AF65-F5344CB8AC3E}">
        <p14:creationId xmlns:p14="http://schemas.microsoft.com/office/powerpoint/2010/main" val="32140564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105064" y="1177259"/>
            <a:ext cx="9503232" cy="376239"/>
          </a:xfrm>
        </p:spPr>
        <p:txBody>
          <a:bodyPr>
            <a:normAutofit fontScale="90000"/>
          </a:bodyPr>
          <a:lstStyle/>
          <a:p>
            <a:pPr algn="ctr"/>
            <a:r>
              <a:rPr lang="he-IL" sz="2000" b="1" dirty="0">
                <a:solidFill>
                  <a:srgbClr val="0070C0"/>
                </a:solidFill>
                <a:latin typeface="Calibri" panose="020F0502020204030204" pitchFamily="34" charset="0"/>
                <a:cs typeface="Calibri" panose="020F0502020204030204" pitchFamily="34" charset="0"/>
              </a:rPr>
              <a:t>מספר ושיעור זכאי גמלת </a:t>
            </a:r>
            <a:r>
              <a:rPr lang="he-IL" sz="2200" b="1" dirty="0">
                <a:solidFill>
                  <a:srgbClr val="0070C0"/>
                </a:solidFill>
                <a:latin typeface="Calibri" panose="020F0502020204030204" pitchFamily="34" charset="0"/>
                <a:cs typeface="Calibri" panose="020F0502020204030204" pitchFamily="34" charset="0"/>
              </a:rPr>
              <a:t>סיעוד</a:t>
            </a:r>
            <a:r>
              <a:rPr lang="he-IL" sz="2000" b="1" dirty="0">
                <a:solidFill>
                  <a:srgbClr val="0070C0"/>
                </a:solidFill>
                <a:latin typeface="Calibri" panose="020F0502020204030204" pitchFamily="34" charset="0"/>
                <a:cs typeface="Calibri" panose="020F0502020204030204" pitchFamily="34" charset="0"/>
              </a:rPr>
              <a:t> לפי שנים</a:t>
            </a:r>
            <a:r>
              <a:rPr lang="en-US" sz="4800" b="1" dirty="0">
                <a:solidFill>
                  <a:srgbClr val="E3403B"/>
                </a:solidFill>
              </a:rPr>
              <a:t/>
            </a:r>
            <a:br>
              <a:rPr lang="en-US" sz="4800"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1057676762"/>
              </p:ext>
            </p:extLst>
          </p:nvPr>
        </p:nvGraphicFramePr>
        <p:xfrm>
          <a:off x="1111106" y="1352560"/>
          <a:ext cx="4232142" cy="3793508"/>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2541130080"/>
              </p:ext>
            </p:extLst>
          </p:nvPr>
        </p:nvGraphicFramePr>
        <p:xfrm>
          <a:off x="6258411" y="1443416"/>
          <a:ext cx="4253288" cy="379350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16" name="Title 1">
            <a:extLst>
              <a:ext uri="{FF2B5EF4-FFF2-40B4-BE49-F238E27FC236}">
                <a16:creationId xmlns:a16="http://schemas.microsoft.com/office/drawing/2014/main" id="{E0DA82B0-6AAD-4FB1-8122-13E88F23FD3E}"/>
              </a:ext>
            </a:extLst>
          </p:cNvPr>
          <p:cNvSpPr txBox="1">
            <a:spLocks/>
          </p:cNvSpPr>
          <p:nvPr/>
        </p:nvSpPr>
        <p:spPr>
          <a:xfrm>
            <a:off x="195943" y="5922593"/>
            <a:ext cx="9503232" cy="376239"/>
          </a:xfrm>
          <a:prstGeom prst="rect">
            <a:avLst/>
          </a:prstGeom>
        </p:spPr>
        <p:txBody>
          <a:bodyPr vert="horz" lIns="91440" tIns="45720" rIns="91440" bIns="45720" rtlCol="1" anchor="ctr">
            <a:normAutofit fontScale="82500" lnSpcReduction="20000"/>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r>
              <a:rPr lang="he-IL" sz="3600" b="1" dirty="0" smtClean="0">
                <a:solidFill>
                  <a:srgbClr val="7030A0"/>
                </a:solidFill>
              </a:rPr>
              <a:t>האם תוספת התקציב דוחקת את התלות של האזרחים </a:t>
            </a:r>
            <a:r>
              <a:rPr lang="he-IL" sz="3600" b="1" dirty="0" err="1" smtClean="0">
                <a:solidFill>
                  <a:srgbClr val="7030A0"/>
                </a:solidFill>
              </a:rPr>
              <a:t>הותיקים</a:t>
            </a:r>
            <a:r>
              <a:rPr lang="he-IL" sz="3600" b="1" dirty="0" smtClean="0">
                <a:solidFill>
                  <a:srgbClr val="7030A0"/>
                </a:solidFill>
              </a:rPr>
              <a:t>?</a:t>
            </a:r>
            <a:endParaRPr lang="he-IL" dirty="0">
              <a:solidFill>
                <a:srgbClr val="7030A0"/>
              </a:solidFill>
            </a:endParaRPr>
          </a:p>
        </p:txBody>
      </p:sp>
      <p:sp>
        <p:nvSpPr>
          <p:cNvPr id="2" name="מלבן 1"/>
          <p:cNvSpPr/>
          <p:nvPr/>
        </p:nvSpPr>
        <p:spPr>
          <a:xfrm>
            <a:off x="2289055" y="234527"/>
            <a:ext cx="6096000" cy="523220"/>
          </a:xfrm>
          <a:prstGeom prst="rect">
            <a:avLst/>
          </a:prstGeom>
        </p:spPr>
        <p:txBody>
          <a:bodyPr>
            <a:spAutoFit/>
          </a:bodyPr>
          <a:lstStyle/>
          <a:p>
            <a:r>
              <a:rPr lang="he-IL" sz="2800" b="1" dirty="0" smtClean="0">
                <a:solidFill>
                  <a:srgbClr val="0070C0"/>
                </a:solidFill>
                <a:latin typeface="Calibri" panose="020F0502020204030204" pitchFamily="34" charset="0"/>
                <a:cs typeface="Calibri" panose="020F0502020204030204" pitchFamily="34" charset="0"/>
              </a:rPr>
              <a:t>האתגר בסיעוד 2023</a:t>
            </a:r>
            <a:endParaRPr lang="he-IL" sz="2800" dirty="0"/>
          </a:p>
        </p:txBody>
      </p:sp>
    </p:spTree>
    <p:extLst>
      <p:ext uri="{BB962C8B-B14F-4D97-AF65-F5344CB8AC3E}">
        <p14:creationId xmlns:p14="http://schemas.microsoft.com/office/powerpoint/2010/main" val="3999235296"/>
      </p:ext>
    </p:extLst>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lstStyle/>
          <a:p>
            <a:r>
              <a:rPr lang="he-IL" dirty="0" smtClean="0"/>
              <a:t>מאקרו גמלה</a:t>
            </a:r>
            <a:endParaRPr lang="he-IL" dirty="0"/>
          </a:p>
        </p:txBody>
      </p:sp>
      <p:graphicFrame>
        <p:nvGraphicFramePr>
          <p:cNvPr id="4" name="תרשים 3"/>
          <p:cNvGraphicFramePr>
            <a:graphicFrameLocks/>
          </p:cNvGraphicFramePr>
          <p:nvPr>
            <p:extLst/>
          </p:nvPr>
        </p:nvGraphicFramePr>
        <p:xfrm>
          <a:off x="838200" y="1042988"/>
          <a:ext cx="10991850" cy="5529261"/>
        </p:xfrm>
        <a:graphic>
          <a:graphicData uri="http://schemas.openxmlformats.org/drawingml/2006/chart">
            <c:chart xmlns:c="http://schemas.openxmlformats.org/drawingml/2006/chart" xmlns:r="http://schemas.openxmlformats.org/officeDocument/2006/relationships" r:id="rId2"/>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8203" y="214312"/>
            <a:ext cx="10515600" cy="1325563"/>
          </a:xfrm>
        </p:spPr>
        <p:txBody>
          <a:bodyPr>
            <a:normAutofit/>
          </a:bodyPr>
          <a:lstStyle/>
          <a:p>
            <a:r>
              <a:rPr lang="he-IL" sz="4000" dirty="0">
                <a:solidFill>
                  <a:srgbClr val="0070C0"/>
                </a:solidFill>
                <a:latin typeface="Calibri" panose="020F0502020204030204" pitchFamily="34" charset="0"/>
                <a:ea typeface="+mn-ea"/>
                <a:cs typeface="Calibri" panose="020F0502020204030204" pitchFamily="34" charset="0"/>
              </a:rPr>
              <a:t>השפעות רפורמת 2018</a:t>
            </a:r>
          </a:p>
        </p:txBody>
      </p:sp>
    </p:spTree>
    <p:extLst>
      <p:ext uri="{BB962C8B-B14F-4D97-AF65-F5344CB8AC3E}">
        <p14:creationId xmlns:p14="http://schemas.microsoft.com/office/powerpoint/2010/main" val="17859043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308769"/>
            <a:ext cx="10515600" cy="1325563"/>
          </a:xfrm>
        </p:spPr>
        <p:txBody>
          <a:bodyPr>
            <a:normAutofit/>
          </a:bodyPr>
          <a:lstStyle/>
          <a:p>
            <a:pPr algn="ctr"/>
            <a:r>
              <a:rPr lang="he-IL" sz="4800" dirty="0">
                <a:solidFill>
                  <a:srgbClr val="527FC4"/>
                </a:solidFill>
                <a:latin typeface="Calibri" panose="020F0502020204030204" pitchFamily="34" charset="0"/>
                <a:ea typeface="+mn-ea"/>
                <a:cs typeface="Calibri" panose="020F0502020204030204" pitchFamily="34" charset="0"/>
              </a:rPr>
              <a:t>גמלת סיעוד 2018-2022</a:t>
            </a:r>
          </a:p>
        </p:txBody>
      </p:sp>
      <p:graphicFrame>
        <p:nvGraphicFramePr>
          <p:cNvPr id="4" name="תרשים 3"/>
          <p:cNvGraphicFramePr>
            <a:graphicFrameLocks/>
          </p:cNvGraphicFramePr>
          <p:nvPr>
            <p:extLst>
              <p:ext uri="{D42A27DB-BD31-4B8C-83A1-F6EECF244321}">
                <p14:modId xmlns:p14="http://schemas.microsoft.com/office/powerpoint/2010/main" val="4070891287"/>
              </p:ext>
            </p:extLst>
          </p:nvPr>
        </p:nvGraphicFramePr>
        <p:xfrm>
          <a:off x="5731497" y="1179575"/>
          <a:ext cx="6292863" cy="54699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תרשים 4"/>
          <p:cNvGraphicFramePr>
            <a:graphicFrameLocks/>
          </p:cNvGraphicFramePr>
          <p:nvPr>
            <p:extLst/>
          </p:nvPr>
        </p:nvGraphicFramePr>
        <p:xfrm>
          <a:off x="0" y="1943100"/>
          <a:ext cx="6351814" cy="4591050"/>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graphicFrame>
        <p:nvGraphicFramePr>
          <p:cNvPr id="10" name="תרשים 9"/>
          <p:cNvGraphicFramePr>
            <a:graphicFrameLocks/>
          </p:cNvGraphicFramePr>
          <p:nvPr>
            <p:extLst>
              <p:ext uri="{D42A27DB-BD31-4B8C-83A1-F6EECF244321}">
                <p14:modId xmlns:p14="http://schemas.microsoft.com/office/powerpoint/2010/main" val="3925318240"/>
              </p:ext>
            </p:extLst>
          </p:nvPr>
        </p:nvGraphicFramePr>
        <p:xfrm>
          <a:off x="803848" y="2086495"/>
          <a:ext cx="5213163" cy="431222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1732661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nvPr>
        </p:nvGraphicFramePr>
        <p:xfrm>
          <a:off x="2032000" y="719666"/>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smtClean="0"/>
                        <a:t>המרכיב</a:t>
                      </a:r>
                      <a:endParaRPr lang="he-IL" dirty="0"/>
                    </a:p>
                  </a:txBody>
                  <a:tcPr/>
                </a:tc>
                <a:tc>
                  <a:txBody>
                    <a:bodyPr/>
                    <a:lstStyle/>
                    <a:p>
                      <a:pPr rtl="1"/>
                      <a:r>
                        <a:rPr lang="he-IL" dirty="0" smtClean="0"/>
                        <a:t>מטפלת</a:t>
                      </a:r>
                      <a:endParaRPr lang="he-IL" dirty="0"/>
                    </a:p>
                  </a:txBody>
                  <a:tcPr/>
                </a:tc>
                <a:tc>
                  <a:txBody>
                    <a:bodyPr/>
                    <a:lstStyle/>
                    <a:p>
                      <a:pPr rtl="1"/>
                      <a:r>
                        <a:rPr lang="he-IL" dirty="0" smtClean="0"/>
                        <a:t>כסף</a:t>
                      </a:r>
                      <a:endParaRPr lang="he-IL" dirty="0"/>
                    </a:p>
                  </a:txBody>
                  <a:tcPr/>
                </a:tc>
                <a:tc>
                  <a:txBody>
                    <a:bodyPr/>
                    <a:lstStyle/>
                    <a:p>
                      <a:pPr rtl="1"/>
                      <a:r>
                        <a:rPr lang="he-IL" dirty="0" smtClean="0"/>
                        <a:t>מרכז</a:t>
                      </a:r>
                      <a:r>
                        <a:rPr lang="he-IL" baseline="0" dirty="0" smtClean="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smtClean="0"/>
                        <a:t>2</a:t>
                      </a:r>
                      <a:r>
                        <a:rPr lang="he-IL" baseline="0" dirty="0" smtClean="0"/>
                        <a:t> שעות סיעוד</a:t>
                      </a:r>
                      <a:endParaRPr lang="he-IL" dirty="0"/>
                    </a:p>
                  </a:txBody>
                  <a:tcPr/>
                </a:tc>
                <a:tc>
                  <a:txBody>
                    <a:bodyPr/>
                    <a:lstStyle/>
                    <a:p>
                      <a:pPr rtl="1"/>
                      <a:r>
                        <a:rPr lang="he-IL" dirty="0" smtClean="0"/>
                        <a:t>כ-40 דק' </a:t>
                      </a:r>
                      <a:r>
                        <a:rPr lang="he-IL" sz="1400" dirty="0" smtClean="0"/>
                        <a:t>(נלקחות</a:t>
                      </a:r>
                      <a:r>
                        <a:rPr lang="he-IL" sz="1400" baseline="0" dirty="0" smtClean="0"/>
                        <a:t> שעות)</a:t>
                      </a:r>
                      <a:endParaRPr lang="he-IL" sz="1400" dirty="0"/>
                    </a:p>
                  </a:txBody>
                  <a:tcPr/>
                </a:tc>
                <a:tc>
                  <a:txBody>
                    <a:bodyPr/>
                    <a:lstStyle/>
                    <a:p>
                      <a:pPr rtl="1"/>
                      <a:r>
                        <a:rPr lang="he-IL" dirty="0" smtClean="0"/>
                        <a:t>96 ש"ח</a:t>
                      </a:r>
                      <a:endParaRPr lang="he-IL" dirty="0"/>
                    </a:p>
                  </a:txBody>
                  <a:tcPr/>
                </a:tc>
                <a:tc>
                  <a:txBody>
                    <a:bodyPr/>
                    <a:lstStyle/>
                    <a:p>
                      <a:pPr rtl="1"/>
                      <a:r>
                        <a:rPr lang="he-IL" dirty="0" smtClean="0"/>
                        <a:t>6 שעות</a:t>
                      </a:r>
                      <a:endParaRPr lang="he-IL" dirty="0"/>
                    </a:p>
                  </a:txBody>
                  <a:tcPr/>
                </a:tc>
                <a:extLst>
                  <a:ext uri="{0D108BD9-81ED-4DB2-BD59-A6C34878D82A}">
                    <a16:rowId xmlns:a16="http://schemas.microsoft.com/office/drawing/2014/main" val="599427766"/>
                  </a:ext>
                </a:extLst>
              </a:tr>
              <a:tr h="370840">
                <a:tc>
                  <a:txBody>
                    <a:bodyPr/>
                    <a:lstStyle/>
                    <a:p>
                      <a:pPr rtl="1"/>
                      <a:r>
                        <a:rPr lang="he-IL" dirty="0" smtClean="0"/>
                        <a:t>הסיוע</a:t>
                      </a:r>
                      <a:endParaRPr lang="he-IL" dirty="0"/>
                    </a:p>
                  </a:txBody>
                  <a:tcPr/>
                </a:tc>
                <a:tc>
                  <a:txBody>
                    <a:bodyPr/>
                    <a:lstStyle/>
                    <a:p>
                      <a:pPr rtl="1"/>
                      <a:r>
                        <a:rPr lang="he-IL" dirty="0" smtClean="0"/>
                        <a:t>עזרה בבית/ ניקיון</a:t>
                      </a:r>
                      <a:endParaRPr lang="he-IL" dirty="0"/>
                    </a:p>
                  </a:txBody>
                  <a:tcPr/>
                </a:tc>
                <a:tc>
                  <a:txBody>
                    <a:bodyPr/>
                    <a:lstStyle/>
                    <a:p>
                      <a:pPr rtl="1"/>
                      <a:r>
                        <a:rPr lang="he-IL" dirty="0" smtClean="0"/>
                        <a:t>כספי</a:t>
                      </a:r>
                      <a:endParaRPr lang="he-IL" dirty="0"/>
                    </a:p>
                  </a:txBody>
                  <a:tcPr/>
                </a:tc>
                <a:tc>
                  <a:txBody>
                    <a:bodyPr/>
                    <a:lstStyle/>
                    <a:p>
                      <a:pPr rtl="1"/>
                      <a:r>
                        <a:rPr lang="he-IL" sz="1600" dirty="0" smtClean="0"/>
                        <a:t>מפגש חברתי, חוגים, הסעה, גורמי מקצוע וטיפול: עו"ס, פיזיותרפיה,</a:t>
                      </a:r>
                      <a:r>
                        <a:rPr lang="he-IL" sz="1600" baseline="0" dirty="0" smtClean="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smtClean="0"/>
                        <a:t>מחקר על דחיקת תלות</a:t>
                      </a:r>
                      <a:endParaRPr lang="he-IL" dirty="0"/>
                    </a:p>
                  </a:txBody>
                  <a:tcPr/>
                </a:tc>
                <a:tc>
                  <a:txBody>
                    <a:bodyPr/>
                    <a:lstStyle/>
                    <a:p>
                      <a:pPr rtl="1"/>
                      <a:r>
                        <a:rPr lang="he-IL" dirty="0" smtClean="0"/>
                        <a:t>משתנה בין מקרים, לא נמצא כמועיל, טענות כמגביר</a:t>
                      </a:r>
                      <a:r>
                        <a:rPr lang="he-IL" baseline="0" dirty="0" smtClean="0"/>
                        <a:t> תלות</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מוכח במחקר </a:t>
                      </a:r>
                      <a:r>
                        <a:rPr lang="he-IL" baseline="0" dirty="0" smtClean="0"/>
                        <a:t>בארץ ובעולם </a:t>
                      </a:r>
                      <a:r>
                        <a:rPr lang="he-IL" dirty="0" smtClean="0"/>
                        <a:t>כמועיל ודוחק תלות</a:t>
                      </a:r>
                      <a:endParaRPr lang="he-IL" dirty="0"/>
                    </a:p>
                  </a:txBody>
                  <a:tcPr/>
                </a:tc>
                <a:extLst>
                  <a:ext uri="{0D108BD9-81ED-4DB2-BD59-A6C34878D82A}">
                    <a16:rowId xmlns:a16="http://schemas.microsoft.com/office/drawing/2014/main" val="837185877"/>
                  </a:ext>
                </a:extLst>
              </a:tr>
              <a:tr h="370840">
                <a:tc>
                  <a:txBody>
                    <a:bodyPr/>
                    <a:lstStyle/>
                    <a:p>
                      <a:pPr rtl="1"/>
                      <a:r>
                        <a:rPr lang="he-IL" dirty="0" smtClean="0"/>
                        <a:t>הכשרות והדרכות</a:t>
                      </a:r>
                      <a:endParaRPr lang="he-IL" dirty="0"/>
                    </a:p>
                  </a:txBody>
                  <a:tcPr/>
                </a:tc>
                <a:tc>
                  <a:txBody>
                    <a:bodyPr/>
                    <a:lstStyle/>
                    <a:p>
                      <a:pPr rtl="1"/>
                      <a:r>
                        <a:rPr lang="he-IL" dirty="0" smtClean="0"/>
                        <a:t>בשוליים</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קיימת הכשרה מקצועית ושוטפת</a:t>
                      </a:r>
                      <a:endParaRPr lang="he-IL" dirty="0"/>
                    </a:p>
                  </a:txBody>
                  <a:tcPr/>
                </a:tc>
                <a:extLst>
                  <a:ext uri="{0D108BD9-81ED-4DB2-BD59-A6C34878D82A}">
                    <a16:rowId xmlns:a16="http://schemas.microsoft.com/office/drawing/2014/main" val="837517891"/>
                  </a:ext>
                </a:extLst>
              </a:tr>
              <a:tr h="370840">
                <a:tc>
                  <a:txBody>
                    <a:bodyPr/>
                    <a:lstStyle/>
                    <a:p>
                      <a:pPr rtl="1"/>
                      <a:r>
                        <a:rPr lang="he-IL" dirty="0" smtClean="0"/>
                        <a:t>פיקוח</a:t>
                      </a:r>
                      <a:endParaRPr lang="he-IL" dirty="0"/>
                    </a:p>
                  </a:txBody>
                  <a:tcPr/>
                </a:tc>
                <a:tc>
                  <a:txBody>
                    <a:bodyPr/>
                    <a:lstStyle/>
                    <a:p>
                      <a:pPr rtl="1"/>
                      <a:r>
                        <a:rPr lang="he-IL" dirty="0" smtClean="0"/>
                        <a:t>פיקוח מורכב</a:t>
                      </a:r>
                      <a:r>
                        <a:rPr lang="he-IL" baseline="0" dirty="0" smtClean="0"/>
                        <a:t> על כ140 א' מטפלות בבתים</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קיים פיקוח מקצועי שוטף</a:t>
                      </a:r>
                      <a:endParaRPr lang="he-IL" dirty="0"/>
                    </a:p>
                  </a:txBody>
                  <a:tcPr/>
                </a:tc>
                <a:extLst>
                  <a:ext uri="{0D108BD9-81ED-4DB2-BD59-A6C34878D82A}">
                    <a16:rowId xmlns:a16="http://schemas.microsoft.com/office/drawing/2014/main" val="2841228541"/>
                  </a:ext>
                </a:extLst>
              </a:tr>
              <a:tr h="370840">
                <a:tc>
                  <a:txBody>
                    <a:bodyPr/>
                    <a:lstStyle/>
                    <a:p>
                      <a:pPr rtl="1"/>
                      <a:r>
                        <a:rPr lang="he-IL" dirty="0" smtClean="0"/>
                        <a:t>הנגישות</a:t>
                      </a:r>
                      <a:endParaRPr lang="he-IL" dirty="0"/>
                    </a:p>
                  </a:txBody>
                  <a:tcPr/>
                </a:tc>
                <a:tc>
                  <a:txBody>
                    <a:bodyPr/>
                    <a:lstStyle/>
                    <a:p>
                      <a:pPr rtl="1"/>
                      <a:r>
                        <a:rPr lang="he-IL" dirty="0" smtClean="0"/>
                        <a:t>משאב במחסור גורר תלות במטפלת</a:t>
                      </a:r>
                      <a:endParaRPr lang="he-IL" dirty="0"/>
                    </a:p>
                  </a:txBody>
                  <a:tcPr/>
                </a:tc>
                <a:tc>
                  <a:txBody>
                    <a:bodyPr/>
                    <a:lstStyle/>
                    <a:p>
                      <a:pPr rtl="1"/>
                      <a:r>
                        <a:rPr lang="he-IL" dirty="0" smtClean="0"/>
                        <a:t>קל</a:t>
                      </a:r>
                      <a:r>
                        <a:rPr lang="he-IL" baseline="0" dirty="0" smtClean="0"/>
                        <a:t> להעברה</a:t>
                      </a:r>
                      <a:endParaRPr lang="he-IL" dirty="0"/>
                    </a:p>
                  </a:txBody>
                  <a:tcPr/>
                </a:tc>
                <a:tc>
                  <a:txBody>
                    <a:bodyPr/>
                    <a:lstStyle/>
                    <a:p>
                      <a:pPr rtl="1"/>
                      <a:r>
                        <a:rPr lang="he-IL" smtClean="0"/>
                        <a:t>יתרון משמעותי לגודל (180 מרכזים, לא בכל הארץ)</a:t>
                      </a:r>
                      <a:endParaRPr lang="he-IL" dirty="0"/>
                    </a:p>
                  </a:txBody>
                  <a:tcPr/>
                </a:tc>
                <a:extLst>
                  <a:ext uri="{0D108BD9-81ED-4DB2-BD59-A6C34878D82A}">
                    <a16:rowId xmlns:a16="http://schemas.microsoft.com/office/drawing/2014/main" val="3866147572"/>
                  </a:ext>
                </a:extLst>
              </a:tr>
              <a:tr h="370840">
                <a:tc>
                  <a:txBody>
                    <a:bodyPr/>
                    <a:lstStyle/>
                    <a:p>
                      <a:pPr rtl="1"/>
                      <a:r>
                        <a:rPr lang="he-IL" dirty="0" smtClean="0"/>
                        <a:t>המצב בפועל</a:t>
                      </a:r>
                      <a:endParaRPr lang="he-IL" dirty="0"/>
                    </a:p>
                  </a:txBody>
                  <a:tcPr/>
                </a:tc>
                <a:tc>
                  <a:txBody>
                    <a:bodyPr/>
                    <a:lstStyle/>
                    <a:p>
                      <a:pPr rtl="1"/>
                      <a:r>
                        <a:rPr lang="he-IL" dirty="0" smtClean="0"/>
                        <a:t>73% מהגמלאות</a:t>
                      </a:r>
                      <a:endParaRPr lang="he-IL" dirty="0"/>
                    </a:p>
                  </a:txBody>
                  <a:tcPr/>
                </a:tc>
                <a:tc>
                  <a:txBody>
                    <a:bodyPr/>
                    <a:lstStyle/>
                    <a:p>
                      <a:pPr rtl="1"/>
                      <a:r>
                        <a:rPr lang="he-IL" dirty="0" smtClean="0"/>
                        <a:t>24% מהגמלאות</a:t>
                      </a:r>
                      <a:endParaRPr lang="he-IL" dirty="0"/>
                    </a:p>
                  </a:txBody>
                  <a:tcPr/>
                </a:tc>
                <a:tc>
                  <a:txBody>
                    <a:bodyPr/>
                    <a:lstStyle/>
                    <a:p>
                      <a:pPr rtl="1"/>
                      <a:r>
                        <a:rPr lang="he-IL" dirty="0" smtClean="0"/>
                        <a:t>2% מהגמלאות</a:t>
                      </a:r>
                      <a:endParaRPr lang="he-IL" dirty="0"/>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2032000" y="350334"/>
            <a:ext cx="8128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dirty="0" smtClean="0"/>
              <a:t>ניתוח חלופות כיום</a:t>
            </a:r>
            <a:endParaRPr lang="he-IL" dirty="0"/>
          </a:p>
        </p:txBody>
      </p:sp>
      <p:sp>
        <p:nvSpPr>
          <p:cNvPr id="8" name="מלבן 7"/>
          <p:cNvSpPr/>
          <p:nvPr/>
        </p:nvSpPr>
        <p:spPr>
          <a:xfrm>
            <a:off x="2032000" y="5758275"/>
            <a:ext cx="8128000" cy="707886"/>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4000" dirty="0" smtClean="0">
                <a:ln w="0"/>
                <a:solidFill>
                  <a:schemeClr val="accent1">
                    <a:lumMod val="75000"/>
                  </a:schemeClr>
                </a:solidFill>
                <a:effectLst>
                  <a:outerShdw blurRad="38100" dist="25400" dir="5400000" algn="ctr" rotWithShape="0">
                    <a:srgbClr val="6E747A">
                      <a:alpha val="43000"/>
                    </a:srgbClr>
                  </a:outerShdw>
                </a:effectLst>
              </a:rPr>
              <a:t>אז מה באמת </a:t>
            </a:r>
            <a:r>
              <a:rPr lang="he-IL" sz="4000" dirty="0" err="1" smtClean="0">
                <a:ln w="0"/>
                <a:solidFill>
                  <a:schemeClr val="accent1">
                    <a:lumMod val="75000"/>
                  </a:schemeClr>
                </a:solidFill>
                <a:effectLst>
                  <a:outerShdw blurRad="38100" dist="25400" dir="5400000" algn="ctr" rotWithShape="0">
                    <a:srgbClr val="6E747A">
                      <a:alpha val="43000"/>
                    </a:srgbClr>
                  </a:outerShdw>
                </a:effectLst>
              </a:rPr>
              <a:t>ידחוק</a:t>
            </a:r>
            <a:r>
              <a:rPr lang="he-IL" sz="4000" dirty="0" smtClean="0">
                <a:ln w="0"/>
                <a:solidFill>
                  <a:schemeClr val="accent1">
                    <a:lumMod val="75000"/>
                  </a:schemeClr>
                </a:solidFill>
                <a:effectLst>
                  <a:outerShdw blurRad="38100" dist="25400" dir="5400000" algn="ctr" rotWithShape="0">
                    <a:srgbClr val="6E747A">
                      <a:alpha val="43000"/>
                    </a:srgbClr>
                  </a:outerShdw>
                </a:effectLst>
              </a:rPr>
              <a:t> את התלות?</a:t>
            </a:r>
            <a:endParaRPr lang="he-IL" sz="4000" dirty="0">
              <a:ln w="0"/>
              <a:solidFill>
                <a:schemeClr val="accent1">
                  <a:lumMod val="75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262157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חלק ניכר מזכאי סיעוד לא מקבל מענה ראוי 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smtClean="0">
                <a:latin typeface="Calibri" panose="020F0502020204030204" pitchFamily="34" charset="0"/>
                <a:cs typeface="Calibri" panose="020F0502020204030204" pitchFamily="34" charset="0"/>
              </a:rPr>
              <a:t>האתגר:</a:t>
            </a:r>
            <a:endParaRPr lang="he-IL" sz="2800" b="1" dirty="0">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smtClean="0">
                <a:solidFill>
                  <a:schemeClr val="bg1"/>
                </a:solidFill>
                <a:latin typeface="Calibri" panose="020F0502020204030204" pitchFamily="34" charset="0"/>
                <a:cs typeface="Calibri" panose="020F0502020204030204" pitchFamily="34" charset="0"/>
              </a:rPr>
              <a:t>תעדוף נמוך של שירותים חברתיים שהוכחו </a:t>
            </a:r>
            <a:r>
              <a:rPr lang="he-IL" sz="2800" dirty="0">
                <a:solidFill>
                  <a:schemeClr val="bg1"/>
                </a:solidFill>
                <a:latin typeface="Calibri" panose="020F0502020204030204" pitchFamily="34" charset="0"/>
                <a:cs typeface="Calibri" panose="020F0502020204030204" pitchFamily="34" charset="0"/>
              </a:rPr>
              <a:t>כמונעי התדרדרות, </a:t>
            </a:r>
            <a:r>
              <a:rPr lang="en-US" sz="2800" dirty="0" smtClean="0">
                <a:solidFill>
                  <a:schemeClr val="bg1"/>
                </a:solidFill>
                <a:latin typeface="Calibri" panose="020F0502020204030204" pitchFamily="34" charset="0"/>
                <a:cs typeface="Calibri" panose="020F0502020204030204" pitchFamily="34" charset="0"/>
              </a:rPr>
              <a:t/>
            </a:r>
            <a:br>
              <a:rPr lang="en-US" sz="2800" dirty="0" smtClean="0">
                <a:solidFill>
                  <a:schemeClr val="bg1"/>
                </a:solidFill>
                <a:latin typeface="Calibri" panose="020F0502020204030204" pitchFamily="34" charset="0"/>
                <a:cs typeface="Calibri" panose="020F0502020204030204" pitchFamily="34" charset="0"/>
              </a:rPr>
            </a:br>
            <a:r>
              <a:rPr lang="he-IL" sz="2800" dirty="0" smtClean="0">
                <a:solidFill>
                  <a:schemeClr val="bg1"/>
                </a:solidFill>
                <a:latin typeface="Calibri" panose="020F0502020204030204" pitchFamily="34" charset="0"/>
                <a:cs typeface="Calibri" panose="020F0502020204030204" pitchFamily="34" charset="0"/>
              </a:rPr>
              <a:t>מעבר </a:t>
            </a:r>
            <a:r>
              <a:rPr lang="he-IL" sz="2800" dirty="0">
                <a:solidFill>
                  <a:schemeClr val="bg1"/>
                </a:solidFill>
                <a:latin typeface="Calibri" panose="020F0502020204030204" pitchFamily="34" charset="0"/>
                <a:cs typeface="Calibri" panose="020F0502020204030204" pitchFamily="34" charset="0"/>
              </a:rPr>
              <a:t>לגמלה </a:t>
            </a:r>
            <a:r>
              <a:rPr lang="he-IL" sz="2800" dirty="0" smtClean="0">
                <a:solidFill>
                  <a:schemeClr val="bg1"/>
                </a:solidFill>
                <a:latin typeface="Calibri" panose="020F0502020204030204" pitchFamily="34" charset="0"/>
                <a:cs typeface="Calibri" panose="020F0502020204030204" pitchFamily="34" charset="0"/>
              </a:rPr>
              <a:t>בכסף בעין והמחסור במטפלות</a:t>
            </a:r>
            <a:endParaRPr lang="he-IL" sz="2800" dirty="0">
              <a:solidFill>
                <a:schemeClr val="bg1"/>
              </a:solidFill>
              <a:latin typeface="Calibri" panose="020F0502020204030204" pitchFamily="34" charset="0"/>
              <a:cs typeface="Calibri" panose="020F0502020204030204" pitchFamily="34" charset="0"/>
            </a:endParaRPr>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40529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כסף</a:t>
            </a:r>
            <a:endParaRPr lang="he-IL" sz="2200" b="1" dirty="0">
              <a:latin typeface="Calibri" panose="020F0502020204030204" pitchFamily="34" charset="0"/>
              <a:cs typeface="Calibri" panose="020F0502020204030204" pitchFamily="34" charset="0"/>
            </a:endParaRP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לאור האפשרות לקבל כסף בעין- כיצד </a:t>
            </a:r>
            <a:r>
              <a:rPr lang="he-IL" sz="2200" dirty="0">
                <a:solidFill>
                  <a:schemeClr val="tx1"/>
                </a:solidFill>
                <a:latin typeface="Calibri" panose="020F0502020204030204" pitchFamily="34" charset="0"/>
                <a:cs typeface="Calibri" panose="020F0502020204030204" pitchFamily="34" charset="0"/>
              </a:rPr>
              <a:t>לתמרץ </a:t>
            </a:r>
            <a:r>
              <a:rPr lang="he-IL" sz="2200" dirty="0" smtClean="0">
                <a:solidFill>
                  <a:schemeClr val="tx1"/>
                </a:solidFill>
                <a:latin typeface="Calibri" panose="020F0502020204030204" pitchFamily="34" charset="0"/>
                <a:cs typeface="Calibri" panose="020F0502020204030204" pitchFamily="34" charset="0"/>
              </a:rPr>
              <a:t>את הוותיקים לצרוך שירותים דוחקי תלות?</a:t>
            </a:r>
            <a:endParaRPr lang="he-IL" sz="2200" dirty="0">
              <a:solidFill>
                <a:schemeClr val="tx1"/>
              </a:solidFill>
              <a:latin typeface="Calibri" panose="020F0502020204030204" pitchFamily="34" charset="0"/>
              <a:cs typeface="Calibri" panose="020F0502020204030204" pitchFamily="34" charset="0"/>
            </a:endParaRP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a:t>
            </a:r>
            <a:r>
              <a:rPr lang="he-IL" sz="2200" dirty="0" smtClean="0">
                <a:solidFill>
                  <a:schemeClr val="tx1"/>
                </a:solidFill>
                <a:cs typeface="Calibri" panose="020F0502020204030204" pitchFamily="34" charset="0"/>
              </a:rPr>
              <a:t>לשפר את המענים הניתנים לזכאי סיעוד לצורך שימור תפקוד ודחיקת תלות?</a:t>
            </a:r>
            <a:endParaRPr lang="he-IL" sz="2200" dirty="0">
              <a:solidFill>
                <a:schemeClr val="tx1"/>
              </a:solidFill>
              <a:cs typeface="Calibri" panose="020F0502020204030204" pitchFamily="34" charset="0"/>
            </a:endParaRP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טיפול בית – </a:t>
            </a:r>
            <a:r>
              <a:rPr lang="he-IL" sz="2200" dirty="0">
                <a:solidFill>
                  <a:schemeClr val="tx1"/>
                </a:solidFill>
                <a:latin typeface="Calibri" panose="020F0502020204030204" pitchFamily="34" charset="0"/>
                <a:cs typeface="Calibri" panose="020F0502020204030204" pitchFamily="34" charset="0"/>
              </a:rPr>
              <a:t>משאב </a:t>
            </a:r>
            <a:r>
              <a:rPr lang="he-IL" sz="2200" dirty="0" smtClean="0">
                <a:solidFill>
                  <a:schemeClr val="tx1"/>
                </a:solidFill>
                <a:latin typeface="Calibri" panose="020F0502020204030204" pitchFamily="34" charset="0"/>
                <a:cs typeface="Calibri" panose="020F0502020204030204" pitchFamily="34" charset="0"/>
              </a:rPr>
              <a:t>במחסור, למי נועד הסיוע ומה </a:t>
            </a:r>
            <a:r>
              <a:rPr lang="he-IL" sz="2200" dirty="0">
                <a:solidFill>
                  <a:schemeClr val="tx1"/>
                </a:solidFill>
                <a:latin typeface="Calibri" panose="020F0502020204030204" pitchFamily="34" charset="0"/>
                <a:cs typeface="Calibri" panose="020F0502020204030204" pitchFamily="34" charset="0"/>
              </a:rPr>
              <a:t>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מטפלות</a:t>
            </a:r>
            <a:endParaRPr lang="he-IL" sz="2200" b="1" dirty="0">
              <a:latin typeface="Calibri" panose="020F0502020204030204" pitchFamily="34" charset="0"/>
              <a:cs typeface="Calibri" panose="020F0502020204030204" pitchFamily="34" charset="0"/>
            </a:endParaRP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שירותים</a:t>
            </a:r>
            <a:endParaRPr lang="he-IL" sz="2200" b="1" dirty="0">
              <a:latin typeface="Calibri" panose="020F0502020204030204" pitchFamily="34" charset="0"/>
              <a:cs typeface="Calibri" panose="020F0502020204030204" pitchFamily="34" charset="0"/>
            </a:endParaRP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19437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בתים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קהילה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מרכזי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smtClean="0">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תכניות לבני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smtClean="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smtClean="0">
                <a:solidFill>
                  <a:srgbClr val="7030A0"/>
                </a:solidFill>
                <a:latin typeface="Calibri" panose="020F0502020204030204" pitchFamily="34" charset="0"/>
                <a:cs typeface="Calibri" panose="020F0502020204030204" pitchFamily="34" charset="0"/>
              </a:rPr>
              <a:t>שיתוף פעולה רווחה </a:t>
            </a:r>
            <a:r>
              <a:rPr lang="he-IL" sz="4400" b="1" dirty="0" err="1" smtClean="0">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154282" y="1119384"/>
            <a:ext cx="2287807" cy="769441"/>
          </a:xfrm>
          <a:prstGeom prst="rect">
            <a:avLst/>
          </a:prstGeom>
        </p:spPr>
        <p:txBody>
          <a:bodyPr wrap="none">
            <a:spAutoFit/>
          </a:bodyPr>
          <a:lstStyle/>
          <a:p>
            <a:r>
              <a:rPr lang="he-IL" sz="4400" b="1" dirty="0" smtClean="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p:cNvPicPr>
            <a:picLocks noChangeAspect="1"/>
          </p:cNvPicPr>
          <p:nvPr/>
        </p:nvPicPr>
        <p:blipFill rotWithShape="1">
          <a:blip r:embed="rId2"/>
          <a:srcRect l="19841"/>
          <a:stretch/>
        </p:blipFill>
        <p:spPr>
          <a:xfrm>
            <a:off x="414855" y="5347365"/>
            <a:ext cx="3629681" cy="1510635"/>
          </a:xfrm>
          <a:prstGeom prst="rect">
            <a:avLst/>
          </a:prstGeom>
        </p:spPr>
      </p:pic>
      <p:pic>
        <p:nvPicPr>
          <p:cNvPr id="9" name="תמונה 8"/>
          <p:cNvPicPr>
            <a:picLocks noChangeAspect="1"/>
          </p:cNvPicPr>
          <p:nvPr/>
        </p:nvPicPr>
        <p:blipFill>
          <a:blip r:embed="rId3"/>
          <a:stretch>
            <a:fillRect/>
          </a:stretch>
        </p:blipFill>
        <p:spPr>
          <a:xfrm>
            <a:off x="5560857" y="1559007"/>
            <a:ext cx="1260000" cy="1260000"/>
          </a:xfrm>
          <a:prstGeom prst="rect">
            <a:avLst/>
          </a:prstGeom>
        </p:spPr>
      </p:pic>
      <p:pic>
        <p:nvPicPr>
          <p:cNvPr id="10" name="תמונה 9"/>
          <p:cNvPicPr>
            <a:picLocks noChangeAspect="1"/>
          </p:cNvPicPr>
          <p:nvPr/>
        </p:nvPicPr>
        <p:blipFill>
          <a:blip r:embed="rId4"/>
          <a:stretch>
            <a:fillRect/>
          </a:stretch>
        </p:blipFill>
        <p:spPr>
          <a:xfrm flipH="1">
            <a:off x="7891905" y="1573764"/>
            <a:ext cx="1260762" cy="1260000"/>
          </a:xfrm>
          <a:prstGeom prst="rect">
            <a:avLst/>
          </a:prstGeom>
        </p:spPr>
      </p:pic>
      <p:pic>
        <p:nvPicPr>
          <p:cNvPr id="11" name="תמונה 10"/>
          <p:cNvPicPr>
            <a:picLocks noChangeAspect="1"/>
          </p:cNvPicPr>
          <p:nvPr/>
        </p:nvPicPr>
        <p:blipFill>
          <a:blip r:embed="rId5"/>
          <a:stretch>
            <a:fillRect/>
          </a:stretch>
        </p:blipFill>
        <p:spPr>
          <a:xfrm flipH="1">
            <a:off x="9995859" y="1499821"/>
            <a:ext cx="1260000" cy="1260000"/>
          </a:xfrm>
          <a:prstGeom prst="rect">
            <a:avLst/>
          </a:prstGeom>
        </p:spPr>
      </p:pic>
      <p:pic>
        <p:nvPicPr>
          <p:cNvPr id="12" name="תמונה 11"/>
          <p:cNvPicPr>
            <a:picLocks noChangeAspect="1"/>
          </p:cNvPicPr>
          <p:nvPr/>
        </p:nvPicPr>
        <p:blipFill>
          <a:blip r:embed="rId6"/>
          <a:stretch>
            <a:fillRect/>
          </a:stretch>
        </p:blipFill>
        <p:spPr>
          <a:xfrm>
            <a:off x="9923901" y="3886652"/>
            <a:ext cx="1260000" cy="1260000"/>
          </a:xfrm>
          <a:prstGeom prst="rect">
            <a:avLst/>
          </a:prstGeom>
        </p:spPr>
      </p:pic>
      <p:sp>
        <p:nvSpPr>
          <p:cNvPr id="13" name="TextBox 12"/>
          <p:cNvSpPr txBox="1"/>
          <p:nvPr/>
        </p:nvSpPr>
        <p:spPr>
          <a:xfrm>
            <a:off x="9516483" y="2771199"/>
            <a:ext cx="2170486" cy="707886"/>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180 מרכזי יום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5" name="TextBox 14"/>
          <p:cNvSpPr txBox="1"/>
          <p:nvPr/>
        </p:nvSpPr>
        <p:spPr>
          <a:xfrm>
            <a:off x="7437220" y="2759821"/>
            <a:ext cx="193708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350 מועדוני </a:t>
            </a:r>
            <a:r>
              <a:rPr kumimoji="0" lang="he-IL" sz="2000" b="1"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מופ"ת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6" name="TextBox 15"/>
          <p:cNvSpPr txBox="1"/>
          <p:nvPr/>
        </p:nvSpPr>
        <p:spPr>
          <a:xfrm>
            <a:off x="4908049" y="2771199"/>
            <a:ext cx="2386992"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מועדונים חברתיים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7" name="TextBox 16"/>
          <p:cNvSpPr txBox="1"/>
          <p:nvPr/>
        </p:nvSpPr>
        <p:spPr>
          <a:xfrm>
            <a:off x="9606412" y="5063462"/>
            <a:ext cx="207075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330 קהילות תומכות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70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3" name="מלבן 2"/>
          <p:cNvSpPr/>
          <p:nvPr/>
        </p:nvSpPr>
        <p:spPr>
          <a:xfrm>
            <a:off x="5655883" y="5116995"/>
            <a:ext cx="5683795" cy="101566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334</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תכניות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להפגת בדידות</a:t>
            </a:r>
            <a:endParaRPr kumimoji="0" lang="he-IL"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7" name="מלבן 6"/>
          <p:cNvSpPr/>
          <p:nvPr/>
        </p:nvSpPr>
        <p:spPr>
          <a:xfrm>
            <a:off x="234867" y="2324923"/>
            <a:ext cx="3738489" cy="230832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כ-200 אלף מקבלי שירותים בישראל</a:t>
            </a:r>
            <a:endParaRPr kumimoji="0" lang="he-IL" sz="4400" b="1" i="0" u="none" strike="noStrike" kern="1200" cap="none" spc="0" normalizeH="0" baseline="0" noProof="0" dirty="0">
              <a:ln>
                <a:noFill/>
              </a:ln>
              <a:solidFill>
                <a:srgbClr val="0070C0"/>
              </a:solidFill>
              <a:effectLst/>
              <a:uLnTx/>
              <a:uFillTx/>
              <a:latin typeface="Calibri Light" panose="020F0302020204030204" pitchFamily="34" charset="0"/>
              <a:ea typeface="+mn-ea"/>
              <a:cs typeface="Calibri Light" panose="020F0302020204030204" pitchFamily="34" charset="0"/>
            </a:endParaRPr>
          </a:p>
        </p:txBody>
      </p:sp>
      <p:sp>
        <p:nvSpPr>
          <p:cNvPr id="22" name="מלבן 21"/>
          <p:cNvSpPr/>
          <p:nvPr/>
        </p:nvSpPr>
        <p:spPr>
          <a:xfrm>
            <a:off x="8805332" y="442663"/>
            <a:ext cx="2944375" cy="92333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54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במספרים:</a:t>
            </a:r>
            <a:endParaRPr kumimoji="0" lang="he-IL" sz="5400" b="1" i="0" u="none" strike="noStrike" kern="1200" cap="none" spc="0" normalizeH="0" baseline="0" noProof="0" dirty="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endParaRPr>
          </a:p>
        </p:txBody>
      </p:sp>
      <p:pic>
        <p:nvPicPr>
          <p:cNvPr id="18" name="תמונה 17"/>
          <p:cNvPicPr>
            <a:picLocks noChangeAspect="1"/>
          </p:cNvPicPr>
          <p:nvPr/>
        </p:nvPicPr>
        <p:blipFill>
          <a:blip r:embed="rId7"/>
          <a:stretch>
            <a:fillRect/>
          </a:stretch>
        </p:blipFill>
        <p:spPr>
          <a:xfrm>
            <a:off x="7868162" y="3886652"/>
            <a:ext cx="1259238" cy="1260000"/>
          </a:xfrm>
          <a:prstGeom prst="rect">
            <a:avLst/>
          </a:prstGeom>
        </p:spPr>
      </p:pic>
      <p:sp>
        <p:nvSpPr>
          <p:cNvPr id="19" name="TextBox 18"/>
          <p:cNvSpPr txBox="1"/>
          <p:nvPr/>
        </p:nvSpPr>
        <p:spPr>
          <a:xfrm>
            <a:off x="4933817" y="5161953"/>
            <a:ext cx="2441080" cy="1323439"/>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תקני</a:t>
            </a:r>
            <a:r>
              <a:rPr kumimoji="0" lang="he-IL" sz="2000" b="1" i="0" u="none" strike="noStrike" kern="1200" cap="none" spc="0" normalizeH="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כ"א</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ברשויות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800 עו"ס </a:t>
            </a:r>
            <a:r>
              <a:rPr kumimoji="0" lang="he-IL" sz="2000" b="0"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זיקנה</a:t>
            </a:r>
            <a: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150 רכזי מענים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pic>
        <p:nvPicPr>
          <p:cNvPr id="2" name="תמונה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659717" y="3848420"/>
            <a:ext cx="1260000" cy="1260000"/>
          </a:xfrm>
          <a:prstGeom prst="rect">
            <a:avLst/>
          </a:prstGeom>
        </p:spPr>
      </p:pic>
      <p:sp>
        <p:nvSpPr>
          <p:cNvPr id="20" name="מלבן 1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5899457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smtClean="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smtClean="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תכלול מענים בעין למקבלי גמלת סיעוד מחייב הסתכלות רחבה על כל </a:t>
            </a:r>
            <a:r>
              <a:rPr lang="he-IL" sz="2500" dirty="0" smtClean="0">
                <a:latin typeface="Calibri" panose="020F0502020204030204" pitchFamily="34" charset="0"/>
                <a:cs typeface="Calibri" panose="020F0502020204030204" pitchFamily="34" charset="0"/>
              </a:rPr>
              <a:t>320 </a:t>
            </a:r>
            <a:r>
              <a:rPr lang="he-IL" sz="2500" dirty="0">
                <a:latin typeface="Calibri" panose="020F0502020204030204" pitchFamily="34" charset="0"/>
                <a:cs typeface="Calibri" panose="020F0502020204030204" pitchFamily="34" charset="0"/>
              </a:rPr>
              <a:t>אלף מקבלי הגמלה, הכרת הכלים ויכולת להציע שירותים מגוונים</a:t>
            </a:r>
          </a:p>
        </p:txBody>
      </p:sp>
      <p:grpSp>
        <p:nvGrpSpPr>
          <p:cNvPr id="7" name="קבוצה 6"/>
          <p:cNvGrpSpPr/>
          <p:nvPr/>
        </p:nvGrpSpPr>
        <p:grpSpPr>
          <a:xfrm>
            <a:off x="838921" y="1338994"/>
            <a:ext cx="10913817" cy="1757373"/>
            <a:chOff x="1229035" y="4682800"/>
            <a:chExt cx="10913817" cy="175737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49753" y="477049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29035" y="470622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9711172" y="5197147"/>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מטרות:</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solidFill>
                  <a:srgbClr val="0070C0"/>
                </a:solidFill>
                <a:latin typeface="Calibri" panose="020F0502020204030204" pitchFamily="34" charset="0"/>
                <a:cs typeface="Calibri" panose="020F0502020204030204" pitchFamily="34" charset="0"/>
              </a:rPr>
              <a:t>הדרך: העברות מידע משותפות – ביטוח לאומי ומשרד הרווחה</a:t>
            </a:r>
            <a:endParaRPr lang="he-IL" sz="2800" b="1" dirty="0">
              <a:solidFill>
                <a:srgbClr val="0070C0"/>
              </a:solidFill>
              <a:latin typeface="Calibri" panose="020F0502020204030204" pitchFamily="34" charset="0"/>
              <a:cs typeface="Calibri" panose="020F0502020204030204" pitchFamily="34" charset="0"/>
            </a:endParaRP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מלבן 20"/>
          <p:cNvSpPr/>
          <p:nvPr/>
        </p:nvSpPr>
        <p:spPr>
          <a:xfrm>
            <a:off x="1350700" y="3685550"/>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סטטוס: אושר בוועדה להעברת מידע ונמצא בטיפול אנשי המחשוב </a:t>
            </a:r>
          </a:p>
          <a:p>
            <a:pPr algn="ctr"/>
            <a:r>
              <a:rPr lang="he-IL" sz="2500" b="1" dirty="0" smtClean="0">
                <a:solidFill>
                  <a:schemeClr val="tx1"/>
                </a:solidFill>
                <a:latin typeface="Calibri" panose="020F0502020204030204" pitchFamily="34" charset="0"/>
                <a:cs typeface="Calibri" panose="020F0502020204030204" pitchFamily="34" charset="0"/>
              </a:rPr>
              <a:t>בביטוח לאומי וברווחה</a:t>
            </a:r>
            <a:endParaRPr lang="he-IL" sz="2500" b="1" dirty="0">
              <a:solidFill>
                <a:schemeClr val="tx1"/>
              </a:solidFill>
              <a:latin typeface="Calibri" panose="020F0502020204030204" pitchFamily="34" charset="0"/>
              <a:cs typeface="Calibri" panose="020F0502020204030204" pitchFamily="34" charset="0"/>
            </a:endParaRPr>
          </a:p>
        </p:txBody>
      </p:sp>
      <p:sp>
        <p:nvSpPr>
          <p:cNvPr id="14" name="אליפסה 13"/>
          <p:cNvSpPr/>
          <p:nvPr/>
        </p:nvSpPr>
        <p:spPr>
          <a:xfrm>
            <a:off x="5938125" y="139547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התאמת שירותים לצרכי הלקוחות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79669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תמונה 8"/>
          <p:cNvPicPr>
            <a:picLocks noChangeAspect="1"/>
          </p:cNvPicPr>
          <p:nvPr/>
        </p:nvPicPr>
        <p:blipFill>
          <a:blip r:embed="rId2"/>
          <a:stretch>
            <a:fillRect/>
          </a:stretch>
        </p:blipFill>
        <p:spPr>
          <a:xfrm>
            <a:off x="4673288" y="3881143"/>
            <a:ext cx="1260000" cy="1260000"/>
          </a:xfrm>
          <a:prstGeom prst="rect">
            <a:avLst/>
          </a:prstGeom>
        </p:spPr>
      </p:pic>
      <p:pic>
        <p:nvPicPr>
          <p:cNvPr id="10" name="תמונה 9"/>
          <p:cNvPicPr>
            <a:picLocks noChangeAspect="1"/>
          </p:cNvPicPr>
          <p:nvPr/>
        </p:nvPicPr>
        <p:blipFill>
          <a:blip r:embed="rId3"/>
          <a:stretch>
            <a:fillRect/>
          </a:stretch>
        </p:blipFill>
        <p:spPr>
          <a:xfrm flipH="1">
            <a:off x="7203795" y="3935138"/>
            <a:ext cx="1260762" cy="1260000"/>
          </a:xfrm>
          <a:prstGeom prst="rect">
            <a:avLst/>
          </a:prstGeom>
        </p:spPr>
      </p:pic>
      <p:pic>
        <p:nvPicPr>
          <p:cNvPr id="12" name="תמונה 11"/>
          <p:cNvPicPr>
            <a:picLocks noChangeAspect="1"/>
          </p:cNvPicPr>
          <p:nvPr/>
        </p:nvPicPr>
        <p:blipFill>
          <a:blip r:embed="rId4"/>
          <a:stretch>
            <a:fillRect/>
          </a:stretch>
        </p:blipFill>
        <p:spPr>
          <a:xfrm>
            <a:off x="9616215" y="3910970"/>
            <a:ext cx="1260000" cy="1260000"/>
          </a:xfrm>
          <a:prstGeom prst="rect">
            <a:avLst/>
          </a:prstGeom>
        </p:spPr>
      </p:pic>
      <p:sp>
        <p:nvSpPr>
          <p:cNvPr id="13" name="TextBox 12"/>
          <p:cNvSpPr txBox="1"/>
          <p:nvPr/>
        </p:nvSpPr>
        <p:spPr>
          <a:xfrm>
            <a:off x="4271409" y="1820480"/>
            <a:ext cx="4831871"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180 מרכזים</a:t>
            </a:r>
            <a:r>
              <a:rPr kumimoji="0" lang="en-US"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r>
            <a:br>
              <a:rPr kumimoji="0" lang="en-US"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br>
            <a:r>
              <a:rPr kumimoji="0" lang="he-IL"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10,000 זכאי גמלת סיעוד</a:t>
            </a:r>
          </a:p>
          <a:p>
            <a:pPr marL="0" marR="0" lvl="0" indent="0" algn="ctr" defTabSz="457200" rtl="0" eaLnBrk="1" fontAlgn="auto" latinLnBrk="0" hangingPunct="1">
              <a:lnSpc>
                <a:spcPct val="100000"/>
              </a:lnSpc>
              <a:spcBef>
                <a:spcPts val="0"/>
              </a:spcBef>
              <a:spcAft>
                <a:spcPts val="0"/>
              </a:spcAft>
              <a:buClrTx/>
              <a:buSzTx/>
              <a:buFontTx/>
              <a:buNone/>
              <a:tabLst/>
              <a:defRPr/>
            </a:pPr>
            <a:r>
              <a:rPr lang="he-IL" sz="3200" dirty="0" smtClean="0">
                <a:solidFill>
                  <a:prstClr val="black"/>
                </a:solidFill>
                <a:latin typeface="Calibri" panose="020F0502020204030204" pitchFamily="34" charset="0"/>
                <a:cs typeface="Calibri" panose="020F0502020204030204" pitchFamily="34" charset="0"/>
              </a:rPr>
              <a:t>1,500 מושמי רווחה</a:t>
            </a:r>
            <a:endParaRPr kumimoji="0" lang="he-IL" sz="32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5" name="TextBox 14"/>
          <p:cNvSpPr txBox="1"/>
          <p:nvPr/>
        </p:nvSpPr>
        <p:spPr>
          <a:xfrm>
            <a:off x="6929301" y="5025135"/>
            <a:ext cx="1809750"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טיפול</a:t>
            </a:r>
            <a:r>
              <a:rPr kumimoji="0" lang="he-IL" sz="2400"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משמר תפקוד ארוך טווח, תשומות בריאותיות</a:t>
            </a:r>
            <a:endParaRPr kumimoji="0" lang="he-IL" sz="24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TextBox 15"/>
          <p:cNvSpPr txBox="1"/>
          <p:nvPr/>
        </p:nvSpPr>
        <p:spPr>
          <a:xfrm>
            <a:off x="4420399" y="5003182"/>
            <a:ext cx="1776875" cy="830997"/>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effectLst/>
                <a:uLnTx/>
                <a:uFillTx/>
                <a:latin typeface="Calibri" panose="020F0502020204030204" pitchFamily="34" charset="0"/>
                <a:cs typeface="Calibri" panose="020F0502020204030204" pitchFamily="34" charset="0"/>
              </a:rPr>
              <a:t>זיהוי ואיתור מצבי סיכון</a:t>
            </a: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7" name="TextBox 16"/>
          <p:cNvSpPr txBox="1"/>
          <p:nvPr/>
        </p:nvSpPr>
        <p:spPr>
          <a:xfrm>
            <a:off x="9241621" y="5003182"/>
            <a:ext cx="2070754"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מסגרת חברתית</a:t>
            </a:r>
            <a:r>
              <a:rPr kumimoji="0" lang="he-IL" sz="2400"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המעניקה שייכות ומשמעות</a:t>
            </a:r>
            <a:endPar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9" name="TextBox 18"/>
          <p:cNvSpPr txBox="1"/>
          <p:nvPr/>
        </p:nvSpPr>
        <p:spPr>
          <a:xfrm>
            <a:off x="1496188" y="4871248"/>
            <a:ext cx="2279780" cy="1877437"/>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מניעת אפשרות של אשפוז סיעודי וחסכון בעלויות טיפול</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2" name="תמונה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46544" y="3783888"/>
            <a:ext cx="1286728" cy="1286728"/>
          </a:xfrm>
          <a:prstGeom prst="rect">
            <a:avLst/>
          </a:prstGeom>
        </p:spPr>
      </p:pic>
      <p:sp>
        <p:nvSpPr>
          <p:cNvPr id="20" name="מלבן 19"/>
          <p:cNvSpPr/>
          <p:nvPr/>
        </p:nvSpPr>
        <p:spPr>
          <a:xfrm>
            <a:off x="8326336" y="394235"/>
            <a:ext cx="3106024" cy="923330"/>
          </a:xfrm>
          <a:prstGeom prst="rect">
            <a:avLst/>
          </a:prstGeom>
          <a:noFill/>
        </p:spPr>
        <p:txBody>
          <a:bodyPr wrap="square" lIns="91440" tIns="45720" rIns="91440" bIns="45720">
            <a:spAutoFit/>
          </a:bodyPr>
          <a:lstStyle/>
          <a:p>
            <a:pPr algn="ctr"/>
            <a:r>
              <a:rPr lang="he-IL" sz="5400" dirty="0" smtClean="0">
                <a:solidFill>
                  <a:srgbClr val="527FC4"/>
                </a:solidFill>
                <a:latin typeface="Calibri" panose="020F0502020204030204" pitchFamily="34" charset="0"/>
                <a:cs typeface="Calibri" panose="020F0502020204030204" pitchFamily="34" charset="0"/>
              </a:rPr>
              <a:t>מרכזי היום</a:t>
            </a:r>
            <a:endParaRPr lang="he-IL" sz="5400" dirty="0">
              <a:solidFill>
                <a:srgbClr val="527FC4"/>
              </a:solidFill>
              <a:latin typeface="Calibri" panose="020F0502020204030204" pitchFamily="34" charset="0"/>
              <a:cs typeface="Calibri" panose="020F0502020204030204" pitchFamily="34" charset="0"/>
            </a:endParaRPr>
          </a:p>
        </p:txBody>
      </p:sp>
      <p:sp>
        <p:nvSpPr>
          <p:cNvPr id="21" name="מלבן 20"/>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22" name="קבוצה 21"/>
          <p:cNvGrpSpPr/>
          <p:nvPr/>
        </p:nvGrpSpPr>
        <p:grpSpPr>
          <a:xfrm>
            <a:off x="1429414" y="1256994"/>
            <a:ext cx="1563719" cy="1307858"/>
            <a:chOff x="1670079" y="2140313"/>
            <a:chExt cx="1642835" cy="1642835"/>
          </a:xfrm>
          <a:solidFill>
            <a:srgbClr val="D8BEEC"/>
          </a:solidFill>
        </p:grpSpPr>
        <p:sp>
          <p:nvSpPr>
            <p:cNvPr id="30" name="אליפסה 29"/>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1"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2" name="אליפסה 31"/>
          <p:cNvSpPr/>
          <p:nvPr/>
        </p:nvSpPr>
        <p:spPr>
          <a:xfrm>
            <a:off x="2195970" y="1070204"/>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3" name="קבוצה 32"/>
          <p:cNvGrpSpPr/>
          <p:nvPr/>
        </p:nvGrpSpPr>
        <p:grpSpPr>
          <a:xfrm>
            <a:off x="1429414" y="553589"/>
            <a:ext cx="3383279" cy="2680688"/>
            <a:chOff x="4003932" y="140625"/>
            <a:chExt cx="3347849" cy="3401935"/>
          </a:xfrm>
        </p:grpSpPr>
        <p:sp>
          <p:nvSpPr>
            <p:cNvPr id="34" name="אליפסה 33"/>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35"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pic>
        <p:nvPicPr>
          <p:cNvPr id="23" name="תמונה 22"/>
          <p:cNvPicPr>
            <a:picLocks noChangeAspect="1"/>
          </p:cNvPicPr>
          <p:nvPr/>
        </p:nvPicPr>
        <p:blipFill>
          <a:blip r:embed="rId6"/>
          <a:stretch>
            <a:fillRect/>
          </a:stretch>
        </p:blipFill>
        <p:spPr>
          <a:xfrm>
            <a:off x="10582103" y="6136297"/>
            <a:ext cx="1609898" cy="721702"/>
          </a:xfrm>
          <a:prstGeom prst="rect">
            <a:avLst/>
          </a:prstGeom>
        </p:spPr>
      </p:pic>
    </p:spTree>
    <p:extLst>
      <p:ext uri="{BB962C8B-B14F-4D97-AF65-F5344CB8AC3E}">
        <p14:creationId xmlns:p14="http://schemas.microsoft.com/office/powerpoint/2010/main" val="3917653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TextBox 17"/>
          <p:cNvSpPr txBox="1"/>
          <p:nvPr/>
        </p:nvSpPr>
        <p:spPr>
          <a:xfrm>
            <a:off x="125366" y="878189"/>
            <a:ext cx="11669757" cy="5324535"/>
          </a:xfrm>
          <a:prstGeom prst="rect">
            <a:avLst/>
          </a:prstGeom>
          <a:noFill/>
        </p:spPr>
        <p:txBody>
          <a:bodyPr wrap="square" rtlCol="1">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
            </a:r>
            <a:br>
              <a:rPr kumimoji="0" lang="en-US" sz="28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br>
            <a:r>
              <a:rPr kumimoji="0" lang="he-IL" sz="40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	</a:t>
            </a:r>
            <a:endParaRPr kumimoji="0" lang="he-IL" sz="40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endParaRP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הרחבת מעגלי </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השייכות </a:t>
            </a: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והמשמעות ומניעת בדידות</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מעקב על האזרחים הותיקים ומצבם</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שימור ושיפור תפקוד</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הדרכה, פיקוח ובקרה במסגרות-  יתרון לגודל</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בירור, סיוע והתרעה במקרה של אי-הגעה</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lang="he-IL" sz="2400" dirty="0">
              <a:solidFill>
                <a:prstClr val="black"/>
              </a:solidFill>
              <a:latin typeface="Calibri" panose="020F0502020204030204" pitchFamily="34" charset="0"/>
              <a:cs typeface="Calibri" panose="020F0502020204030204" pitchFamily="34" charset="0"/>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השייכות והמשמעות ייתנו לקשיש כוח וסיבה לעבור את תקופת החיים המאתגרת בצורה מיטבית.</a:t>
            </a:r>
            <a:r>
              <a:rPr kumimoji="0" lang="en-US"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r>
            <a:br>
              <a:rPr kumimoji="0" lang="en-US"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br>
            <a:r>
              <a:rPr kumimoji="0" lang="he-IL" sz="2400" b="1"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כשיש משמעות – "למה" – האזרח</a:t>
            </a:r>
            <a:r>
              <a:rPr kumimoji="0" lang="he-IL" sz="2400" b="1"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הוותיק</a:t>
            </a:r>
            <a:r>
              <a:rPr kumimoji="0" lang="he-IL" sz="2400" b="1"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ימצא גם את ה"איך"</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t>
            </a:r>
            <a:endParaRPr kumimoji="0" lang="he-IL" sz="32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he-IL" sz="3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8" name="מלבן 7"/>
          <p:cNvSpPr/>
          <p:nvPr/>
        </p:nvSpPr>
        <p:spPr>
          <a:xfrm>
            <a:off x="0" y="555024"/>
            <a:ext cx="11450901" cy="646331"/>
          </a:xfrm>
          <a:prstGeom prst="rect">
            <a:avLst/>
          </a:prstGeom>
          <a:noFill/>
        </p:spPr>
        <p:txBody>
          <a:bodyPr wrap="square" lIns="91440" tIns="45720" rIns="91440" bIns="45720">
            <a:spAutoFit/>
          </a:bodyPr>
          <a:lstStyle/>
          <a:p>
            <a:r>
              <a:rPr lang="he-IL" sz="3600" b="1" dirty="0" smtClean="0">
                <a:solidFill>
                  <a:srgbClr val="0070C0"/>
                </a:solidFill>
                <a:latin typeface="Calibri" panose="020F0502020204030204" pitchFamily="34" charset="0"/>
                <a:cs typeface="Calibri" panose="020F0502020204030204" pitchFamily="34" charset="0"/>
              </a:rPr>
              <a:t>מרכז היום – יתרונות:</a:t>
            </a:r>
            <a:endParaRPr lang="he-IL" sz="3600" b="1" dirty="0">
              <a:solidFill>
                <a:srgbClr val="0070C0"/>
              </a:solidFill>
              <a:latin typeface="Calibri" panose="020F0502020204030204" pitchFamily="34" charset="0"/>
              <a:cs typeface="Calibri" panose="020F0502020204030204" pitchFamily="34" charset="0"/>
            </a:endParaRPr>
          </a:p>
        </p:txBody>
      </p:sp>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6" name="קבוצה 15"/>
          <p:cNvGrpSpPr/>
          <p:nvPr/>
        </p:nvGrpSpPr>
        <p:grpSpPr>
          <a:xfrm>
            <a:off x="1429414" y="553589"/>
            <a:ext cx="3383279" cy="2680688"/>
            <a:chOff x="4003932" y="140625"/>
            <a:chExt cx="3347849" cy="3401935"/>
          </a:xfrm>
        </p:grpSpPr>
        <p:sp>
          <p:nvSpPr>
            <p:cNvPr id="17" name="אליפסה 1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19"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grpSp>
        <p:nvGrpSpPr>
          <p:cNvPr id="20" name="קבוצה 19"/>
          <p:cNvGrpSpPr/>
          <p:nvPr/>
        </p:nvGrpSpPr>
        <p:grpSpPr>
          <a:xfrm>
            <a:off x="1429414" y="1256994"/>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2195970" y="1070204"/>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spTree>
    <p:extLst>
      <p:ext uri="{BB962C8B-B14F-4D97-AF65-F5344CB8AC3E}">
        <p14:creationId xmlns:p14="http://schemas.microsoft.com/office/powerpoint/2010/main" val="3982463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250498" y="-112919"/>
            <a:ext cx="11086524" cy="584775"/>
          </a:xfrm>
          <a:prstGeom prst="rect">
            <a:avLst/>
          </a:prstGeom>
          <a:noFill/>
        </p:spPr>
        <p:txBody>
          <a:bodyPr wrap="square" rtlCol="1">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מחקרים מוכיחים כי:</a:t>
            </a:r>
            <a:endParaRPr kumimoji="0" lang="he-IL" sz="3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aphicFrame>
        <p:nvGraphicFramePr>
          <p:cNvPr id="5" name="דיאגרמה 4"/>
          <p:cNvGraphicFramePr/>
          <p:nvPr>
            <p:extLst>
              <p:ext uri="{D42A27DB-BD31-4B8C-83A1-F6EECF244321}">
                <p14:modId xmlns:p14="http://schemas.microsoft.com/office/powerpoint/2010/main" val="1906600994"/>
              </p:ext>
            </p:extLst>
          </p:nvPr>
        </p:nvGraphicFramePr>
        <p:xfrm>
          <a:off x="124122" y="471856"/>
          <a:ext cx="11681307" cy="6386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Tree>
    <p:extLst>
      <p:ext uri="{BB962C8B-B14F-4D97-AF65-F5344CB8AC3E}">
        <p14:creationId xmlns:p14="http://schemas.microsoft.com/office/powerpoint/2010/main" val="1418313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smtClean="0">
                <a:solidFill>
                  <a:srgbClr val="0070C0"/>
                </a:solidFill>
                <a:latin typeface="Calibri" panose="020F0502020204030204" pitchFamily="34" charset="0"/>
                <a:cs typeface="Calibri" panose="020F0502020204030204" pitchFamily="34" charset="0"/>
              </a:rPr>
              <a:t>* דרך גמלת הסיעוד</a:t>
            </a:r>
            <a:r>
              <a:rPr lang="en-US" sz="1600" b="1" dirty="0" smtClean="0">
                <a:solidFill>
                  <a:srgbClr val="0070C0"/>
                </a:solidFill>
                <a:latin typeface="Calibri" panose="020F0502020204030204" pitchFamily="34" charset="0"/>
                <a:cs typeface="Calibri" panose="020F0502020204030204" pitchFamily="34" charset="0"/>
              </a:rPr>
              <a:t/>
            </a:r>
            <a:br>
              <a:rPr lang="en-US" sz="1600" b="1" dirty="0" smtClean="0">
                <a:solidFill>
                  <a:srgbClr val="0070C0"/>
                </a:solidFill>
                <a:latin typeface="Calibri" panose="020F0502020204030204" pitchFamily="34" charset="0"/>
                <a:cs typeface="Calibri" panose="020F0502020204030204" pitchFamily="34" charset="0"/>
              </a:rPr>
            </a:br>
            <a:r>
              <a:rPr lang="he-IL" sz="1600" b="1" dirty="0" smtClean="0">
                <a:solidFill>
                  <a:srgbClr val="0070C0"/>
                </a:solidFill>
                <a:latin typeface="Calibri" panose="020F0502020204030204" pitchFamily="34" charset="0"/>
                <a:cs typeface="Calibri" panose="020F0502020204030204" pitchFamily="34" charset="0"/>
              </a:rPr>
              <a:t>* 3 ימים בשבוע</a:t>
            </a:r>
            <a:endParaRPr lang="he-IL" sz="1600" b="1" dirty="0">
              <a:solidFill>
                <a:srgbClr val="0070C0"/>
              </a:solidFill>
              <a:latin typeface="Calibri" panose="020F0502020204030204" pitchFamily="34" charset="0"/>
              <a:cs typeface="Calibri" panose="020F0502020204030204" pitchFamily="34" charset="0"/>
            </a:endParaRP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1372313192"/>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2"/>
          </a:graphicData>
        </a:graphic>
      </p:graphicFrame>
      <p:sp>
        <p:nvSpPr>
          <p:cNvPr id="2" name="מלבן 1"/>
          <p:cNvSpPr/>
          <p:nvPr/>
        </p:nvSpPr>
        <p:spPr>
          <a:xfrm>
            <a:off x="8007558" y="2072480"/>
            <a:ext cx="1267968" cy="499872"/>
          </a:xfrm>
          <a:prstGeom prst="rect">
            <a:avLst/>
          </a:prstGeom>
          <a:ln w="38100"/>
        </p:spPr>
        <p:style>
          <a:lnRef idx="2">
            <a:schemeClr val="accent1"/>
          </a:lnRef>
          <a:fillRef idx="1">
            <a:schemeClr val="lt1"/>
          </a:fillRef>
          <a:effectRef idx="0">
            <a:schemeClr val="accent1"/>
          </a:effectRef>
          <a:fontRef idx="minor">
            <a:schemeClr val="dk1"/>
          </a:fontRef>
        </p:style>
        <p:txBody>
          <a:bodyPr rtlCol="1" anchor="ctr"/>
          <a:lstStyle/>
          <a:p>
            <a:pPr algn="ctr"/>
            <a:r>
              <a:rPr lang="he-IL" dirty="0" smtClean="0">
                <a:latin typeface="Calibri" panose="020F0502020204030204" pitchFamily="34" charset="0"/>
                <a:cs typeface="Calibri" panose="020F0502020204030204" pitchFamily="34" charset="0"/>
              </a:rPr>
              <a:t>פי 17</a:t>
            </a:r>
            <a:endParaRPr lang="he-IL"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2650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2" name="מלבן 1"/>
          <p:cNvSpPr/>
          <p:nvPr/>
        </p:nvSpPr>
        <p:spPr>
          <a:xfrm>
            <a:off x="842211" y="863730"/>
            <a:ext cx="10972799" cy="738664"/>
          </a:xfrm>
          <a:prstGeom prst="rect">
            <a:avLst/>
          </a:prstGeom>
        </p:spPr>
        <p:txBody>
          <a:bodyPr wrap="square">
            <a:spAutoFit/>
          </a:bodyPr>
          <a:lstStyle/>
          <a:p>
            <a:pPr defTabSz="457200">
              <a:lnSpc>
                <a:spcPct val="150000"/>
              </a:lnSpc>
              <a:defRPr/>
            </a:pPr>
            <a:r>
              <a:rPr lang="he-IL" sz="2800" b="1" dirty="0" smtClean="0">
                <a:solidFill>
                  <a:prstClr val="black"/>
                </a:solidFill>
                <a:latin typeface="Calibri" panose="020F0502020204030204" pitchFamily="34" charset="0"/>
                <a:cs typeface="Calibri" panose="020F0502020204030204" pitchFamily="34" charset="0"/>
              </a:rPr>
              <a:t>1800₪? מנוי ממוצע לחדר כושר עולה כ-400 ₪ לחודש... </a:t>
            </a:r>
            <a:endParaRPr lang="he-IL" sz="2800" b="1" dirty="0" smtClean="0">
              <a:solidFill>
                <a:srgbClr val="FF0000"/>
              </a:solidFill>
              <a:latin typeface="Calibri" panose="020F0502020204030204" pitchFamily="34" charset="0"/>
              <a:cs typeface="Calibri" panose="020F0502020204030204" pitchFamily="34" charset="0"/>
            </a:endParaRPr>
          </a:p>
        </p:txBody>
      </p:sp>
      <p:pic>
        <p:nvPicPr>
          <p:cNvPr id="7" name="תמונה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pic>
        <p:nvPicPr>
          <p:cNvPr id="3" name="תמונה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230" y="2314923"/>
            <a:ext cx="5478380" cy="3652253"/>
          </a:xfrm>
          <a:prstGeom prst="rect">
            <a:avLst/>
          </a:prstGeom>
        </p:spPr>
      </p:pic>
    </p:spTree>
    <p:extLst>
      <p:ext uri="{BB962C8B-B14F-4D97-AF65-F5344CB8AC3E}">
        <p14:creationId xmlns:p14="http://schemas.microsoft.com/office/powerpoint/2010/main" val="3837373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315525" y="466139"/>
            <a:ext cx="11313347" cy="707886"/>
          </a:xfrm>
          <a:prstGeom prst="rect">
            <a:avLst/>
          </a:prstGeom>
          <a:noFill/>
        </p:spPr>
        <p:txBody>
          <a:bodyPr wrap="square" rtlCol="1">
            <a:spAutoFit/>
          </a:bodyPr>
          <a:lstStyle/>
          <a:p>
            <a:pPr lvl="0" defTabSz="457200">
              <a:defRPr/>
            </a:pPr>
            <a:r>
              <a:rPr lang="he-IL" sz="4000" b="1" dirty="0" smtClean="0">
                <a:latin typeface="Calibri" panose="020F0502020204030204" pitchFamily="34" charset="0"/>
                <a:cs typeface="Calibri" panose="020F0502020204030204" pitchFamily="34" charset="0"/>
              </a:rPr>
              <a:t>משבר מתמשך בהפעלת מרכזי היום</a:t>
            </a:r>
            <a:endParaRPr lang="he-IL" sz="4000" b="1" dirty="0">
              <a:solidFill>
                <a:srgbClr val="FF0000"/>
              </a:solidFill>
              <a:latin typeface="Calibri" panose="020F0502020204030204" pitchFamily="34"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2" name="תמונה 1"/>
          <p:cNvPicPr>
            <a:picLocks noChangeAspect="1"/>
          </p:cNvPicPr>
          <p:nvPr/>
        </p:nvPicPr>
        <p:blipFill rotWithShape="1">
          <a:blip r:embed="rId2"/>
          <a:srcRect l="5939" t="35831" r="24300" b="7169"/>
          <a:stretch/>
        </p:blipFill>
        <p:spPr>
          <a:xfrm>
            <a:off x="460375" y="1600199"/>
            <a:ext cx="10864860" cy="4991037"/>
          </a:xfrm>
          <a:prstGeom prst="rect">
            <a:avLst/>
          </a:prstGeom>
        </p:spPr>
      </p:pic>
    </p:spTree>
    <p:extLst>
      <p:ext uri="{BB962C8B-B14F-4D97-AF65-F5344CB8AC3E}">
        <p14:creationId xmlns:p14="http://schemas.microsoft.com/office/powerpoint/2010/main" val="29010350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1763325" y="915216"/>
            <a:ext cx="11313347" cy="707886"/>
          </a:xfrm>
          <a:prstGeom prst="rect">
            <a:avLst/>
          </a:prstGeom>
          <a:noFill/>
        </p:spPr>
        <p:txBody>
          <a:bodyPr wrap="square" rtlCol="1">
            <a:spAutoFit/>
          </a:bodyPr>
          <a:lstStyle/>
          <a:p>
            <a:pPr lvl="0" defTabSz="457200">
              <a:defRPr/>
            </a:pPr>
            <a:r>
              <a:rPr lang="he-IL" sz="4000" b="1" dirty="0">
                <a:solidFill>
                  <a:srgbClr val="0070C0"/>
                </a:solidFill>
                <a:latin typeface="Calibri" panose="020F0502020204030204" pitchFamily="34" charset="0"/>
                <a:cs typeface="Calibri" panose="020F0502020204030204" pitchFamily="34" charset="0"/>
              </a:rPr>
              <a:t>רפורמת מרכזי </a:t>
            </a:r>
            <a:r>
              <a:rPr lang="he-IL" sz="4000" b="1" dirty="0" smtClean="0">
                <a:solidFill>
                  <a:srgbClr val="0070C0"/>
                </a:solidFill>
                <a:latin typeface="Calibri" panose="020F0502020204030204" pitchFamily="34" charset="0"/>
                <a:cs typeface="Calibri" panose="020F0502020204030204" pitchFamily="34" charset="0"/>
              </a:rPr>
              <a:t>היום</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621441" y="1422822"/>
            <a:ext cx="10875532" cy="8956298"/>
          </a:xfrm>
          <a:prstGeom prst="rect">
            <a:avLst/>
          </a:prstGeom>
          <a:noFill/>
        </p:spPr>
        <p:txBody>
          <a:bodyPr wrap="square" rtlCol="1">
            <a:spAutoFit/>
          </a:bodyPr>
          <a:lstStyle/>
          <a:p>
            <a:pPr marL="571500" lvl="0" indent="-571500" defTabSz="457200">
              <a:lnSpc>
                <a:spcPct val="150000"/>
              </a:lnSpc>
              <a:buFont typeface="Wingdings" panose="05000000000000000000" pitchFamily="2" charset="2"/>
              <a:buChar char="v"/>
              <a:defRPr/>
            </a:pPr>
            <a:endParaRPr lang="he-IL" sz="2800" dirty="0">
              <a:solidFill>
                <a:prstClr val="black"/>
              </a:solidFill>
              <a:latin typeface="Calibri" panose="020F0502020204030204" pitchFamily="34" charset="0"/>
              <a:cs typeface="Calibri" panose="020F0502020204030204" pitchFamily="34" charset="0"/>
            </a:endParaRP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מרכז </a:t>
            </a:r>
            <a:r>
              <a:rPr lang="he-IL" sz="2400" dirty="0">
                <a:solidFill>
                  <a:prstClr val="black"/>
                </a:solidFill>
                <a:latin typeface="Calibri" panose="020F0502020204030204" pitchFamily="34" charset="0"/>
                <a:cs typeface="Calibri" panose="020F0502020204030204" pitchFamily="34" charset="0"/>
              </a:rPr>
              <a:t>לקידום הזדקנות </a:t>
            </a:r>
            <a:r>
              <a:rPr lang="he-IL" sz="2400" dirty="0" smtClean="0">
                <a:solidFill>
                  <a:prstClr val="black"/>
                </a:solidFill>
                <a:latin typeface="Calibri" panose="020F0502020204030204" pitchFamily="34" charset="0"/>
                <a:cs typeface="Calibri" panose="020F0502020204030204" pitchFamily="34" charset="0"/>
              </a:rPr>
              <a:t>מיטבית ושיפור תפקוד </a:t>
            </a:r>
            <a:r>
              <a:rPr lang="he-IL" sz="2400" dirty="0">
                <a:solidFill>
                  <a:prstClr val="black"/>
                </a:solidFill>
                <a:latin typeface="Calibri" panose="020F0502020204030204" pitchFamily="34" charset="0"/>
                <a:cs typeface="Calibri" panose="020F0502020204030204" pitchFamily="34" charset="0"/>
              </a:rPr>
              <a:t>לכלל האזרחים הותיקים בקהילה</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הרחבת </a:t>
            </a:r>
            <a:r>
              <a:rPr lang="he-IL" sz="2400" dirty="0">
                <a:solidFill>
                  <a:prstClr val="black"/>
                </a:solidFill>
                <a:latin typeface="Calibri" panose="020F0502020204030204" pitchFamily="34" charset="0"/>
                <a:cs typeface="Calibri" panose="020F0502020204030204" pitchFamily="34" charset="0"/>
              </a:rPr>
              <a:t>כ"א מקצועי </a:t>
            </a:r>
            <a:r>
              <a:rPr lang="he-IL" sz="2400" dirty="0" smtClean="0">
                <a:solidFill>
                  <a:prstClr val="black"/>
                </a:solidFill>
                <a:latin typeface="Calibri" panose="020F0502020204030204" pitchFamily="34" charset="0"/>
                <a:cs typeface="Calibri" panose="020F0502020204030204" pitchFamily="34" charset="0"/>
              </a:rPr>
              <a:t>למניעת התדרדרות- עו"ס</a:t>
            </a:r>
            <a:r>
              <a:rPr lang="he-IL" sz="2400" dirty="0">
                <a:solidFill>
                  <a:prstClr val="black"/>
                </a:solidFill>
                <a:latin typeface="Calibri" panose="020F0502020204030204" pitchFamily="34" charset="0"/>
                <a:cs typeface="Calibri" panose="020F0502020204030204" pitchFamily="34" charset="0"/>
              </a:rPr>
              <a:t>, מקצועות </a:t>
            </a:r>
            <a:r>
              <a:rPr lang="he-IL" sz="2400" dirty="0" smtClean="0">
                <a:solidFill>
                  <a:prstClr val="black"/>
                </a:solidFill>
                <a:latin typeface="Calibri" panose="020F0502020204030204" pitchFamily="34" charset="0"/>
                <a:cs typeface="Calibri" panose="020F0502020204030204" pitchFamily="34" charset="0"/>
              </a:rPr>
              <a:t>הבריאות</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פתיחת מועדוני אופק משופרים בתוך המרכזים לבחירת הזכאים ברמות 1-2 </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מודל חודשי ותמרוץ לזכאים</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קידום </a:t>
            </a:r>
            <a:r>
              <a:rPr lang="he-IL" sz="2400" dirty="0">
                <a:solidFill>
                  <a:prstClr val="black"/>
                </a:solidFill>
                <a:latin typeface="Calibri" panose="020F0502020204030204" pitchFamily="34" charset="0"/>
                <a:cs typeface="Calibri" panose="020F0502020204030204" pitchFamily="34" charset="0"/>
              </a:rPr>
              <a:t>מערכות מידע תומכות </a:t>
            </a:r>
            <a:r>
              <a:rPr lang="he-IL" sz="2400" dirty="0" smtClean="0">
                <a:solidFill>
                  <a:prstClr val="black"/>
                </a:solidFill>
                <a:latin typeface="Calibri" panose="020F0502020204030204" pitchFamily="34" charset="0"/>
                <a:cs typeface="Calibri" panose="020F0502020204030204" pitchFamily="34" charset="0"/>
              </a:rPr>
              <a:t>שימור ושיפור תפקוד, טיפול ומניעה</a:t>
            </a:r>
            <a:endParaRPr lang="he-IL" sz="2400" dirty="0">
              <a:solidFill>
                <a:prstClr val="black"/>
              </a:solidFill>
              <a:latin typeface="Calibri" panose="020F0502020204030204" pitchFamily="34" charset="0"/>
              <a:cs typeface="Calibri" panose="020F0502020204030204" pitchFamily="34" charset="0"/>
            </a:endParaRPr>
          </a:p>
          <a:p>
            <a:pPr marL="457200" lvl="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גידול תקציבי של כ-50 מיליון ₪ </a:t>
            </a:r>
          </a:p>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10" name="תמונה 9"/>
          <p:cNvPicPr>
            <a:picLocks noChangeAspect="1"/>
          </p:cNvPicPr>
          <p:nvPr/>
        </p:nvPicPr>
        <p:blipFill>
          <a:blip r:embed="rId2"/>
          <a:stretch>
            <a:fillRect/>
          </a:stretch>
        </p:blipFill>
        <p:spPr>
          <a:xfrm>
            <a:off x="10467092" y="90484"/>
            <a:ext cx="1493260" cy="669414"/>
          </a:xfrm>
          <a:prstGeom prst="rect">
            <a:avLst/>
          </a:prstGeom>
        </p:spPr>
      </p:pic>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8" name="תמונה 17"/>
          <p:cNvPicPr>
            <a:picLocks noChangeAspect="1"/>
          </p:cNvPicPr>
          <p:nvPr/>
        </p:nvPicPr>
        <p:blipFill>
          <a:blip r:embed="rId2"/>
          <a:stretch>
            <a:fillRect/>
          </a:stretch>
        </p:blipFill>
        <p:spPr>
          <a:xfrm>
            <a:off x="9880600" y="5821821"/>
            <a:ext cx="2311400" cy="1036178"/>
          </a:xfrm>
          <a:prstGeom prst="rect">
            <a:avLst/>
          </a:prstGeom>
        </p:spPr>
      </p:pic>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grpSp>
        <p:nvGrpSpPr>
          <p:cNvPr id="20" name="קבוצה 19"/>
          <p:cNvGrpSpPr/>
          <p:nvPr/>
        </p:nvGrpSpPr>
        <p:grpSpPr>
          <a:xfrm>
            <a:off x="734470" y="1110690"/>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1501026" y="92390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4" name="קבוצה 23"/>
          <p:cNvGrpSpPr/>
          <p:nvPr/>
        </p:nvGrpSpPr>
        <p:grpSpPr>
          <a:xfrm>
            <a:off x="734470" y="407285"/>
            <a:ext cx="3383279" cy="2680688"/>
            <a:chOff x="4003932" y="140625"/>
            <a:chExt cx="3347849" cy="3401935"/>
          </a:xfrm>
        </p:grpSpPr>
        <p:sp>
          <p:nvSpPr>
            <p:cNvPr id="25" name="אליפסה 24"/>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6"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421512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2" name="קבוצה 11"/>
          <p:cNvGrpSpPr/>
          <p:nvPr/>
        </p:nvGrpSpPr>
        <p:grpSpPr>
          <a:xfrm>
            <a:off x="478050" y="1626172"/>
            <a:ext cx="11713950" cy="1081156"/>
            <a:chOff x="168965" y="1623391"/>
            <a:chExt cx="11809210" cy="993914"/>
          </a:xfrm>
        </p:grpSpPr>
        <p:grpSp>
          <p:nvGrpSpPr>
            <p:cNvPr id="13" name="קבוצה 12"/>
            <p:cNvGrpSpPr/>
            <p:nvPr/>
          </p:nvGrpSpPr>
          <p:grpSpPr>
            <a:xfrm>
              <a:off x="168965" y="1623391"/>
              <a:ext cx="11809210" cy="993914"/>
              <a:chOff x="318052" y="1490870"/>
              <a:chExt cx="12192000" cy="993914"/>
            </a:xfrm>
          </p:grpSpPr>
          <p:sp>
            <p:nvSpPr>
              <p:cNvPr id="17" name="מלבן 16"/>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מרכז יום משמר תפקוד</a:t>
                </a:r>
                <a:endParaRPr lang="he-IL" sz="3600" b="1" dirty="0">
                  <a:solidFill>
                    <a:schemeClr val="tx1"/>
                  </a:solidFill>
                  <a:latin typeface="Calibri" panose="020F0502020204030204" pitchFamily="34" charset="0"/>
                  <a:cs typeface="Calibri" panose="020F0502020204030204" pitchFamily="34" charset="0"/>
                </a:endParaRPr>
              </a:p>
            </p:txBody>
          </p:sp>
          <p:sp>
            <p:nvSpPr>
              <p:cNvPr id="18" name="מלבן 17"/>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בתמרוץ משמעותי לכל זכאי סיעוד</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15" name="חץ שמאלה 14"/>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19" name="קבוצה 18"/>
          <p:cNvGrpSpPr/>
          <p:nvPr/>
        </p:nvGrpSpPr>
        <p:grpSpPr>
          <a:xfrm>
            <a:off x="500299" y="3069512"/>
            <a:ext cx="11713950" cy="1081156"/>
            <a:chOff x="168965" y="1623391"/>
            <a:chExt cx="11809210" cy="993914"/>
          </a:xfrm>
        </p:grpSpPr>
        <p:grpSp>
          <p:nvGrpSpPr>
            <p:cNvPr id="20" name="קבוצה 19"/>
            <p:cNvGrpSpPr/>
            <p:nvPr/>
          </p:nvGrpSpPr>
          <p:grpSpPr>
            <a:xfrm>
              <a:off x="168965" y="1623391"/>
              <a:ext cx="11809210" cy="993914"/>
              <a:chOff x="318052" y="1490870"/>
              <a:chExt cx="12192000" cy="993914"/>
            </a:xfrm>
          </p:grpSpPr>
          <p:sp>
            <p:nvSpPr>
              <p:cNvPr id="22" name="מלבן 21"/>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קהילות תומכות</a:t>
                </a:r>
                <a:endParaRPr lang="he-IL" sz="3600" b="1" dirty="0">
                  <a:solidFill>
                    <a:schemeClr val="tx1"/>
                  </a:solidFill>
                  <a:latin typeface="Calibri" panose="020F0502020204030204" pitchFamily="34" charset="0"/>
                  <a:cs typeface="Calibri" panose="020F0502020204030204" pitchFamily="34" charset="0"/>
                </a:endParaRPr>
              </a:p>
            </p:txBody>
          </p:sp>
          <p:sp>
            <p:nvSpPr>
              <p:cNvPr id="23" name="מלבן 22"/>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ל-320 אלף מקבלי גמלת סיעוד</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21" name="חץ שמאלה 20"/>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25" name="TextBox 24"/>
          <p:cNvSpPr txBox="1"/>
          <p:nvPr/>
        </p:nvSpPr>
        <p:spPr>
          <a:xfrm>
            <a:off x="4108051" y="395584"/>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צעדים </a:t>
            </a:r>
            <a:r>
              <a:rPr kumimoji="0" lang="he-IL" sz="32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משותפים קדימה</a:t>
            </a:r>
            <a:endParaRPr kumimoji="0" lang="he-IL"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p:txBody>
      </p:sp>
      <p:grpSp>
        <p:nvGrpSpPr>
          <p:cNvPr id="28" name="קבוצה 27"/>
          <p:cNvGrpSpPr/>
          <p:nvPr/>
        </p:nvGrpSpPr>
        <p:grpSpPr>
          <a:xfrm>
            <a:off x="522548" y="4512851"/>
            <a:ext cx="11713950" cy="1081156"/>
            <a:chOff x="168965" y="1623391"/>
            <a:chExt cx="11809210" cy="993914"/>
          </a:xfrm>
        </p:grpSpPr>
        <p:grpSp>
          <p:nvGrpSpPr>
            <p:cNvPr id="29" name="קבוצה 28"/>
            <p:cNvGrpSpPr/>
            <p:nvPr/>
          </p:nvGrpSpPr>
          <p:grpSpPr>
            <a:xfrm>
              <a:off x="168965" y="1623391"/>
              <a:ext cx="11809210" cy="993914"/>
              <a:chOff x="318052" y="1490870"/>
              <a:chExt cx="12192000" cy="993914"/>
            </a:xfrm>
          </p:grpSpPr>
          <p:sp>
            <p:nvSpPr>
              <p:cNvPr id="31" name="מלבן 30"/>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מועדון משודרג</a:t>
                </a:r>
                <a:endParaRPr lang="he-IL" sz="3600" b="1" dirty="0">
                  <a:solidFill>
                    <a:schemeClr val="tx1"/>
                  </a:solidFill>
                  <a:latin typeface="Calibri" panose="020F0502020204030204" pitchFamily="34" charset="0"/>
                  <a:cs typeface="Calibri" panose="020F0502020204030204" pitchFamily="34" charset="0"/>
                </a:endParaRPr>
              </a:p>
            </p:txBody>
          </p:sp>
          <p:sp>
            <p:nvSpPr>
              <p:cNvPr id="32" name="מלבן 31"/>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בתוך מרכזי היום</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30" name="חץ שמאלה 29"/>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33" name="תמונה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34" name="קבוצה 33"/>
          <p:cNvGrpSpPr/>
          <p:nvPr/>
        </p:nvGrpSpPr>
        <p:grpSpPr>
          <a:xfrm>
            <a:off x="737253" y="670594"/>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1142325" y="438928"/>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693243" y="224223"/>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723956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2" name="קבוצה 11"/>
          <p:cNvGrpSpPr/>
          <p:nvPr/>
        </p:nvGrpSpPr>
        <p:grpSpPr>
          <a:xfrm>
            <a:off x="478050" y="1626172"/>
            <a:ext cx="11713950" cy="1081156"/>
            <a:chOff x="168965" y="1623391"/>
            <a:chExt cx="11809210" cy="993914"/>
          </a:xfrm>
        </p:grpSpPr>
        <p:grpSp>
          <p:nvGrpSpPr>
            <p:cNvPr id="13" name="קבוצה 12"/>
            <p:cNvGrpSpPr/>
            <p:nvPr/>
          </p:nvGrpSpPr>
          <p:grpSpPr>
            <a:xfrm>
              <a:off x="168965" y="1623391"/>
              <a:ext cx="11809210" cy="993914"/>
              <a:chOff x="318052" y="1490870"/>
              <a:chExt cx="12192000" cy="993914"/>
            </a:xfrm>
          </p:grpSpPr>
          <p:sp>
            <p:nvSpPr>
              <p:cNvPr id="17" name="מלבן 16"/>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מרשם חברתי</a:t>
                </a:r>
                <a:endParaRPr lang="he-IL" sz="3600" b="1" dirty="0">
                  <a:solidFill>
                    <a:schemeClr val="tx1"/>
                  </a:solidFill>
                  <a:latin typeface="Calibri" panose="020F0502020204030204" pitchFamily="34" charset="0"/>
                  <a:cs typeface="Calibri" panose="020F0502020204030204" pitchFamily="34" charset="0"/>
                </a:endParaRPr>
              </a:p>
            </p:txBody>
          </p:sp>
          <p:sp>
            <p:nvSpPr>
              <p:cNvPr id="18" name="מלבן 17"/>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התאמת השירותים לאזרח</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15" name="חץ שמאלה 14"/>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19" name="קבוצה 18"/>
          <p:cNvGrpSpPr/>
          <p:nvPr/>
        </p:nvGrpSpPr>
        <p:grpSpPr>
          <a:xfrm>
            <a:off x="500299" y="3069512"/>
            <a:ext cx="11713950" cy="1081156"/>
            <a:chOff x="168965" y="1623391"/>
            <a:chExt cx="11809210" cy="993914"/>
          </a:xfrm>
        </p:grpSpPr>
        <p:grpSp>
          <p:nvGrpSpPr>
            <p:cNvPr id="20" name="קבוצה 19"/>
            <p:cNvGrpSpPr/>
            <p:nvPr/>
          </p:nvGrpSpPr>
          <p:grpSpPr>
            <a:xfrm>
              <a:off x="168965" y="1623391"/>
              <a:ext cx="11809210" cy="993914"/>
              <a:chOff x="318052" y="1490870"/>
              <a:chExt cx="12192000" cy="993914"/>
            </a:xfrm>
          </p:grpSpPr>
          <p:sp>
            <p:nvSpPr>
              <p:cNvPr id="22" name="מלבן 21"/>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קהילות תומכות</a:t>
                </a:r>
                <a:endParaRPr lang="he-IL" sz="3600" b="1" dirty="0">
                  <a:solidFill>
                    <a:schemeClr val="tx1"/>
                  </a:solidFill>
                  <a:latin typeface="Calibri" panose="020F0502020204030204" pitchFamily="34" charset="0"/>
                  <a:cs typeface="Calibri" panose="020F0502020204030204" pitchFamily="34" charset="0"/>
                </a:endParaRPr>
              </a:p>
            </p:txBody>
          </p:sp>
          <p:sp>
            <p:nvSpPr>
              <p:cNvPr id="23" name="מלבן 22"/>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800" b="1" dirty="0" smtClean="0">
                    <a:solidFill>
                      <a:schemeClr val="tx1"/>
                    </a:solidFill>
                    <a:latin typeface="Calibri" panose="020F0502020204030204" pitchFamily="34" charset="0"/>
                    <a:cs typeface="Calibri" panose="020F0502020204030204" pitchFamily="34" charset="0"/>
                  </a:rPr>
                  <a:t>סל אישי מותאם- </a:t>
                </a:r>
              </a:p>
              <a:p>
                <a:pPr algn="ctr"/>
                <a:r>
                  <a:rPr lang="he-IL" sz="2800" b="1" dirty="0" smtClean="0">
                    <a:solidFill>
                      <a:schemeClr val="tx1"/>
                    </a:solidFill>
                    <a:latin typeface="Calibri" panose="020F0502020204030204" pitchFamily="34" charset="0"/>
                    <a:cs typeface="Calibri" panose="020F0502020204030204" pitchFamily="34" charset="0"/>
                  </a:rPr>
                  <a:t>חליפה אישית לבחירה</a:t>
                </a:r>
                <a:endParaRPr lang="he-IL" sz="2800" b="1" dirty="0">
                  <a:solidFill>
                    <a:schemeClr val="tx1"/>
                  </a:solidFill>
                  <a:latin typeface="Calibri" panose="020F0502020204030204" pitchFamily="34" charset="0"/>
                  <a:cs typeface="Calibri" panose="020F0502020204030204" pitchFamily="34" charset="0"/>
                </a:endParaRPr>
              </a:p>
            </p:txBody>
          </p:sp>
        </p:grpSp>
        <p:sp>
          <p:nvSpPr>
            <p:cNvPr id="21" name="חץ שמאלה 20"/>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25" name="TextBox 24"/>
          <p:cNvSpPr txBox="1"/>
          <p:nvPr/>
        </p:nvSpPr>
        <p:spPr>
          <a:xfrm>
            <a:off x="4108051" y="395584"/>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B0F0"/>
                </a:solidFill>
                <a:effectLst/>
                <a:uLnTx/>
                <a:uFillTx/>
                <a:latin typeface="Calibri" panose="020F0502020204030204" pitchFamily="34" charset="0"/>
                <a:cs typeface="Calibri" panose="020F0502020204030204" pitchFamily="34" charset="0"/>
              </a:rPr>
              <a:t>ועוד יותר קדימה</a:t>
            </a:r>
            <a:endPar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endParaRPr>
          </a:p>
        </p:txBody>
      </p:sp>
      <p:grpSp>
        <p:nvGrpSpPr>
          <p:cNvPr id="28" name="קבוצה 27"/>
          <p:cNvGrpSpPr/>
          <p:nvPr/>
        </p:nvGrpSpPr>
        <p:grpSpPr>
          <a:xfrm>
            <a:off x="522548" y="4512851"/>
            <a:ext cx="11713950" cy="1081156"/>
            <a:chOff x="168965" y="1623391"/>
            <a:chExt cx="11809210" cy="993914"/>
          </a:xfrm>
        </p:grpSpPr>
        <p:grpSp>
          <p:nvGrpSpPr>
            <p:cNvPr id="29" name="קבוצה 28"/>
            <p:cNvGrpSpPr/>
            <p:nvPr/>
          </p:nvGrpSpPr>
          <p:grpSpPr>
            <a:xfrm>
              <a:off x="168965" y="1623391"/>
              <a:ext cx="11809210" cy="993914"/>
              <a:chOff x="318052" y="1490870"/>
              <a:chExt cx="12192000" cy="993914"/>
            </a:xfrm>
          </p:grpSpPr>
          <p:sp>
            <p:nvSpPr>
              <p:cNvPr id="31" name="מלבן 30"/>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בני משפחה מטפלים</a:t>
                </a:r>
                <a:endParaRPr lang="he-IL" sz="3600" b="1" dirty="0">
                  <a:solidFill>
                    <a:schemeClr val="tx1"/>
                  </a:solidFill>
                  <a:latin typeface="Calibri" panose="020F0502020204030204" pitchFamily="34" charset="0"/>
                  <a:cs typeface="Calibri" panose="020F0502020204030204" pitchFamily="34" charset="0"/>
                </a:endParaRPr>
              </a:p>
            </p:txBody>
          </p:sp>
          <p:sp>
            <p:nvSpPr>
              <p:cNvPr id="32" name="מלבן 31"/>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מעטפת תומכת</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30" name="חץ שמאלה 29"/>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33" name="תמונה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34" name="קבוצה 33"/>
          <p:cNvGrpSpPr/>
          <p:nvPr/>
        </p:nvGrpSpPr>
        <p:grpSpPr>
          <a:xfrm>
            <a:off x="737253" y="670594"/>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1142325" y="438928"/>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693243" y="224223"/>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820813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625381" y="388798"/>
            <a:ext cx="11313347" cy="1323439"/>
          </a:xfrm>
          <a:prstGeom prst="rect">
            <a:avLst/>
          </a:prstGeom>
          <a:noFill/>
        </p:spPr>
        <p:txBody>
          <a:bodyPr wrap="square" rtlCol="1">
            <a:spAutoFit/>
          </a:bodyPr>
          <a:lstStyle/>
          <a:p>
            <a:pPr lvl="0" defTabSz="457200">
              <a:defRPr/>
            </a:pPr>
            <a:r>
              <a:rPr lang="he-IL" sz="4000" b="1" dirty="0" smtClean="0">
                <a:solidFill>
                  <a:srgbClr val="0070C0"/>
                </a:solidFill>
                <a:latin typeface="Calibri" panose="020F0502020204030204" pitchFamily="34" charset="0"/>
                <a:cs typeface="Calibri" panose="020F0502020204030204" pitchFamily="34" charset="0"/>
              </a:rPr>
              <a:t>הצעת ועדת השרים- מימון מלא למרכזי היום</a:t>
            </a:r>
            <a:r>
              <a:rPr lang="en-US" sz="4000" b="1" dirty="0" smtClean="0">
                <a:solidFill>
                  <a:srgbClr val="0070C0"/>
                </a:solidFill>
                <a:latin typeface="Calibri" panose="020F0502020204030204" pitchFamily="34" charset="0"/>
                <a:cs typeface="Calibri" panose="020F0502020204030204" pitchFamily="34" charset="0"/>
              </a:rPr>
              <a:t/>
            </a:r>
            <a:br>
              <a:rPr lang="en-US" sz="4000" b="1" dirty="0" smtClean="0">
                <a:solidFill>
                  <a:srgbClr val="0070C0"/>
                </a:solidFill>
                <a:latin typeface="Calibri" panose="020F0502020204030204" pitchFamily="34" charset="0"/>
                <a:cs typeface="Calibri" panose="020F0502020204030204" pitchFamily="34" charset="0"/>
              </a:rPr>
            </a:b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9056" y="17837"/>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2" name="תמונה 1"/>
          <p:cNvPicPr>
            <a:picLocks noChangeAspect="1"/>
          </p:cNvPicPr>
          <p:nvPr/>
        </p:nvPicPr>
        <p:blipFill rotWithShape="1">
          <a:blip r:embed="rId2"/>
          <a:srcRect l="11838" t="18980" r="46862" b="68163"/>
          <a:stretch/>
        </p:blipFill>
        <p:spPr>
          <a:xfrm>
            <a:off x="1061212" y="1737436"/>
            <a:ext cx="5541894" cy="1380196"/>
          </a:xfrm>
          <a:prstGeom prst="rect">
            <a:avLst/>
          </a:prstGeom>
        </p:spPr>
      </p:pic>
      <p:pic>
        <p:nvPicPr>
          <p:cNvPr id="4" name="תמונה 3"/>
          <p:cNvPicPr>
            <a:picLocks noChangeAspect="1"/>
          </p:cNvPicPr>
          <p:nvPr/>
        </p:nvPicPr>
        <p:blipFill rotWithShape="1">
          <a:blip r:embed="rId3"/>
          <a:srcRect l="12708" t="59375" r="46355" b="21224"/>
          <a:stretch/>
        </p:blipFill>
        <p:spPr>
          <a:xfrm>
            <a:off x="1616965" y="3066637"/>
            <a:ext cx="5102279" cy="1934451"/>
          </a:xfrm>
          <a:prstGeom prst="rect">
            <a:avLst/>
          </a:prstGeom>
        </p:spPr>
      </p:pic>
      <p:sp>
        <p:nvSpPr>
          <p:cNvPr id="5" name="TextBox 4"/>
          <p:cNvSpPr txBox="1"/>
          <p:nvPr/>
        </p:nvSpPr>
        <p:spPr>
          <a:xfrm>
            <a:off x="391094" y="5915415"/>
            <a:ext cx="4557958" cy="584775"/>
          </a:xfrm>
          <a:prstGeom prst="rect">
            <a:avLst/>
          </a:prstGeom>
          <a:noFill/>
        </p:spPr>
        <p:txBody>
          <a:bodyPr wrap="square" rtlCol="1">
            <a:spAutoFit/>
          </a:bodyPr>
          <a:lstStyle/>
          <a:p>
            <a:r>
              <a:rPr lang="he-IL" sz="1600" dirty="0" smtClean="0">
                <a:latin typeface="Calibri" panose="020F0502020204030204" pitchFamily="34" charset="0"/>
                <a:cs typeface="Calibri" panose="020F0502020204030204" pitchFamily="34" charset="0"/>
              </a:rPr>
              <a:t>מתוך:</a:t>
            </a:r>
            <a:r>
              <a:rPr lang="en-US" sz="1600" dirty="0" smtClean="0">
                <a:latin typeface="Calibri" panose="020F0502020204030204" pitchFamily="34" charset="0"/>
                <a:cs typeface="Calibri" panose="020F0502020204030204" pitchFamily="34" charset="0"/>
              </a:rPr>
              <a:t> </a:t>
            </a:r>
            <a:r>
              <a:rPr lang="he-IL" sz="1600" dirty="0" smtClean="0">
                <a:latin typeface="Calibri" panose="020F0502020204030204" pitchFamily="34" charset="0"/>
                <a:cs typeface="Calibri" panose="020F0502020204030204" pitchFamily="34" charset="0"/>
              </a:rPr>
              <a:t>פרוטוקול ישיבת שרים לענייני הזדקנות האוכלוסייה מיום 24.07.2022</a:t>
            </a:r>
            <a:endParaRPr lang="he-IL" sz="1600" dirty="0">
              <a:latin typeface="Calibri" panose="020F0502020204030204" pitchFamily="34" charset="0"/>
              <a:cs typeface="Calibri" panose="020F0502020204030204" pitchFamily="34" charset="0"/>
            </a:endParaRPr>
          </a:p>
        </p:txBody>
      </p:sp>
      <p:sp>
        <p:nvSpPr>
          <p:cNvPr id="27" name="מלבן 25">
            <a:extLst>
              <a:ext uri="{FF2B5EF4-FFF2-40B4-BE49-F238E27FC236}">
                <a16:creationId xmlns:a16="http://schemas.microsoft.com/office/drawing/2014/main" id="{5B9EB10C-850E-4048-AC2F-E192593584B5}"/>
              </a:ext>
            </a:extLst>
          </p:cNvPr>
          <p:cNvSpPr/>
          <p:nvPr/>
        </p:nvSpPr>
        <p:spPr>
          <a:xfrm>
            <a:off x="7522067" y="1597152"/>
            <a:ext cx="3546328" cy="5278684"/>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18"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849569328"/>
              </p:ext>
            </p:extLst>
          </p:nvPr>
        </p:nvGraphicFramePr>
        <p:xfrm>
          <a:off x="7680327" y="2740653"/>
          <a:ext cx="3223864" cy="1754576"/>
        </p:xfrm>
        <a:graphic>
          <a:graphicData uri="http://schemas.openxmlformats.org/drawingml/2006/table">
            <a:tbl>
              <a:tblPr firstRow="1" bandRow="1">
                <a:tableStyleId>{5C22544A-7EE6-4342-B048-85BDC9FD1C3A}</a:tableStyleId>
              </a:tblPr>
              <a:tblGrid>
                <a:gridCol w="3223864">
                  <a:extLst>
                    <a:ext uri="{9D8B030D-6E8A-4147-A177-3AD203B41FA5}">
                      <a16:colId xmlns:a16="http://schemas.microsoft.com/office/drawing/2014/main" val="20000"/>
                    </a:ext>
                  </a:extLst>
                </a:gridCol>
              </a:tblGrid>
              <a:tr h="55185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400" b="0" kern="1200" dirty="0" smtClean="0">
                          <a:solidFill>
                            <a:schemeClr val="bg1"/>
                          </a:solidFill>
                          <a:latin typeface="Calibri" panose="020F0502020204030204" pitchFamily="34" charset="0"/>
                          <a:ea typeface="+mn-ea"/>
                          <a:cs typeface="Calibri" panose="020F0502020204030204" pitchFamily="34" charset="0"/>
                        </a:rPr>
                        <a:t>עלות: 2.3 מיליארד</a:t>
                      </a:r>
                      <a:r>
                        <a:rPr lang="he-IL" sz="2400" b="0" kern="1200" baseline="0" dirty="0" smtClean="0">
                          <a:solidFill>
                            <a:schemeClr val="bg1"/>
                          </a:solidFill>
                          <a:latin typeface="Calibri" panose="020F0502020204030204" pitchFamily="34" charset="0"/>
                          <a:ea typeface="+mn-ea"/>
                          <a:cs typeface="Calibri" panose="020F0502020204030204" pitchFamily="34" charset="0"/>
                        </a:rPr>
                        <a:t> ₪</a:t>
                      </a:r>
                      <a:endParaRPr lang="he-IL" sz="24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501684">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62 אלף מבקרים משוערים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501684">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80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bl>
          </a:graphicData>
        </a:graphic>
      </p:graphicFrame>
      <p:pic>
        <p:nvPicPr>
          <p:cNvPr id="28" name="תמונה 27"/>
          <p:cNvPicPr>
            <a:picLocks noChangeAspect="1"/>
          </p:cNvPicPr>
          <p:nvPr/>
        </p:nvPicPr>
        <p:blipFill>
          <a:blip r:embed="rId4"/>
          <a:stretch>
            <a:fillRect/>
          </a:stretch>
        </p:blipFill>
        <p:spPr>
          <a:xfrm>
            <a:off x="247640" y="35659"/>
            <a:ext cx="1756561" cy="787449"/>
          </a:xfrm>
          <a:prstGeom prst="rect">
            <a:avLst/>
          </a:prstGeom>
        </p:spPr>
      </p:pic>
      <p:sp>
        <p:nvSpPr>
          <p:cNvPr id="29" name="כותרת 1">
            <a:extLst>
              <a:ext uri="{FF2B5EF4-FFF2-40B4-BE49-F238E27FC236}">
                <a16:creationId xmlns:a16="http://schemas.microsoft.com/office/drawing/2014/main" id="{471B32AE-BC14-4706-8EE0-08C58100FDCE}"/>
              </a:ext>
            </a:extLst>
          </p:cNvPr>
          <p:cNvSpPr txBox="1">
            <a:spLocks/>
          </p:cNvSpPr>
          <p:nvPr/>
        </p:nvSpPr>
        <p:spPr>
          <a:xfrm>
            <a:off x="7754656" y="1792177"/>
            <a:ext cx="3149535" cy="514166"/>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2000" noProof="0" dirty="0" smtClean="0">
                <a:latin typeface="Calibri Light" panose="020F0302020204030204"/>
                <a:cs typeface="Segoe UI"/>
              </a:rPr>
              <a:t>100% מימון למרכזי היום </a:t>
            </a:r>
            <a:endParaRPr kumimoji="0" lang="en-GB" sz="2000" i="0" strike="noStrike" kern="1200" cap="none" spc="0" normalizeH="0" baseline="0" noProof="0" dirty="0">
              <a:ln>
                <a:noFill/>
              </a:ln>
              <a:effectLst/>
              <a:uLnTx/>
              <a:uFillTx/>
              <a:latin typeface="Calibri" panose="020F0502020204030204" pitchFamily="34" charset="0"/>
              <a:cs typeface="Segoe UI"/>
            </a:endParaRPr>
          </a:p>
        </p:txBody>
      </p:sp>
    </p:spTree>
    <p:extLst>
      <p:ext uri="{BB962C8B-B14F-4D97-AF65-F5344CB8AC3E}">
        <p14:creationId xmlns:p14="http://schemas.microsoft.com/office/powerpoint/2010/main" val="344553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33309" y="407712"/>
            <a:ext cx="11834632" cy="707886"/>
          </a:xfrm>
          <a:prstGeom prst="rect">
            <a:avLst/>
          </a:prstGeom>
          <a:noFill/>
        </p:spPr>
        <p:txBody>
          <a:bodyPr wrap="square" rtlCol="1">
            <a:spAutoFit/>
          </a:bodyPr>
          <a:lstStyle/>
          <a:p>
            <a:pPr lvl="0" algn="ctr" defTabSz="457200">
              <a:defRPr/>
            </a:pPr>
            <a:r>
              <a:rPr lang="he-IL" sz="4000" b="1" dirty="0" smtClean="0">
                <a:solidFill>
                  <a:srgbClr val="0070C0"/>
                </a:solidFill>
                <a:latin typeface="Calibri" panose="020F0502020204030204" pitchFamily="34" charset="0"/>
                <a:cs typeface="Calibri" panose="020F0502020204030204" pitchFamily="34" charset="0"/>
              </a:rPr>
              <a:t>הצעת משרד הרווחה- ביטוח לאומי</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מלבן 25">
            <a:extLst>
              <a:ext uri="{FF2B5EF4-FFF2-40B4-BE49-F238E27FC236}">
                <a16:creationId xmlns:a16="http://schemas.microsoft.com/office/drawing/2014/main" id="{5B9EB10C-850E-4048-AC2F-E192593584B5}"/>
              </a:ext>
            </a:extLst>
          </p:cNvPr>
          <p:cNvSpPr/>
          <p:nvPr/>
        </p:nvSpPr>
        <p:spPr>
          <a:xfrm>
            <a:off x="1634641" y="1265392"/>
            <a:ext cx="3546328" cy="5668672"/>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7" name="מלבן 25">
            <a:extLst>
              <a:ext uri="{FF2B5EF4-FFF2-40B4-BE49-F238E27FC236}">
                <a16:creationId xmlns:a16="http://schemas.microsoft.com/office/drawing/2014/main" id="{5B9EB10C-850E-4048-AC2F-E192593584B5}"/>
              </a:ext>
            </a:extLst>
          </p:cNvPr>
          <p:cNvSpPr/>
          <p:nvPr/>
        </p:nvSpPr>
        <p:spPr>
          <a:xfrm>
            <a:off x="8193811" y="1265392"/>
            <a:ext cx="3546328" cy="5668672"/>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8" name="כותרת 1">
            <a:extLst>
              <a:ext uri="{FF2B5EF4-FFF2-40B4-BE49-F238E27FC236}">
                <a16:creationId xmlns:a16="http://schemas.microsoft.com/office/drawing/2014/main" id="{471B32AE-BC14-4706-8EE0-08C58100FDCE}"/>
              </a:ext>
            </a:extLst>
          </p:cNvPr>
          <p:cNvSpPr txBox="1">
            <a:spLocks/>
          </p:cNvSpPr>
          <p:nvPr/>
        </p:nvSpPr>
        <p:spPr>
          <a:xfrm>
            <a:off x="8392207" y="1494572"/>
            <a:ext cx="3149535" cy="514166"/>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1800" noProof="0" dirty="0" smtClean="0">
                <a:latin typeface="Calibri Light" panose="020F0302020204030204"/>
                <a:cs typeface="Segoe UI"/>
              </a:rPr>
              <a:t>50% מימון למרכז היום</a:t>
            </a:r>
          </a:p>
          <a:p>
            <a:pPr marL="0" marR="0" lvl="0" indent="0" algn="ctr" defTabSz="914400" rtl="1" eaLnBrk="1" fontAlgn="auto" latinLnBrk="0" hangingPunct="1">
              <a:lnSpc>
                <a:spcPct val="90000"/>
              </a:lnSpc>
              <a:spcBef>
                <a:spcPct val="0"/>
              </a:spcBef>
              <a:spcAft>
                <a:spcPts val="0"/>
              </a:spcAft>
              <a:buClrTx/>
              <a:buSzTx/>
              <a:buFontTx/>
              <a:buNone/>
              <a:tabLst/>
              <a:defRPr/>
            </a:pPr>
            <a:r>
              <a:rPr lang="he-IL" sz="1200" dirty="0" smtClean="0">
                <a:latin typeface="Calibri Light" panose="020F0302020204030204"/>
                <a:cs typeface="Segoe UI"/>
              </a:rPr>
              <a:t>(לאחר שנה או חלופת יום בחינם)</a:t>
            </a:r>
            <a:r>
              <a:rPr lang="he-IL" sz="1200" noProof="0" dirty="0" smtClean="0">
                <a:latin typeface="Calibri Light" panose="020F0302020204030204"/>
                <a:cs typeface="Segoe UI"/>
              </a:rPr>
              <a:t> </a:t>
            </a:r>
            <a:endParaRPr kumimoji="0" lang="en-GB" sz="1200" i="0" strike="noStrike" kern="1200" cap="none" spc="0" normalizeH="0" baseline="0" noProof="0" dirty="0">
              <a:ln>
                <a:noFill/>
              </a:ln>
              <a:effectLst/>
              <a:uLnTx/>
              <a:uFillTx/>
              <a:latin typeface="Calibri" panose="020F0502020204030204" pitchFamily="34" charset="0"/>
              <a:cs typeface="Segoe UI"/>
            </a:endParaRPr>
          </a:p>
        </p:txBody>
      </p:sp>
      <p:graphicFrame>
        <p:nvGraphicFramePr>
          <p:cNvPr id="17"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3722525635"/>
              </p:ext>
            </p:extLst>
          </p:nvPr>
        </p:nvGraphicFramePr>
        <p:xfrm>
          <a:off x="8449502" y="3332075"/>
          <a:ext cx="3149535" cy="2194560"/>
        </p:xfrm>
        <a:graphic>
          <a:graphicData uri="http://schemas.openxmlformats.org/drawingml/2006/table">
            <a:tbl>
              <a:tblPr firstRow="1" bandRow="1">
                <a:tableStyleId>{5C22544A-7EE6-4342-B048-85BDC9FD1C3A}</a:tableStyleId>
              </a:tblPr>
              <a:tblGrid>
                <a:gridCol w="3149535">
                  <a:extLst>
                    <a:ext uri="{9D8B030D-6E8A-4147-A177-3AD203B41FA5}">
                      <a16:colId xmlns:a16="http://schemas.microsoft.com/office/drawing/2014/main" val="20000"/>
                    </a:ext>
                  </a:extLst>
                </a:gridCol>
              </a:tblGrid>
              <a:tr h="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0" kern="1200" dirty="0" smtClean="0">
                          <a:solidFill>
                            <a:schemeClr val="bg1"/>
                          </a:solidFill>
                          <a:latin typeface="Calibri" panose="020F0502020204030204" pitchFamily="34" charset="0"/>
                          <a:ea typeface="+mn-ea"/>
                          <a:cs typeface="Calibri" panose="020F0502020204030204" pitchFamily="34" charset="0"/>
                        </a:rPr>
                        <a:t>עלות: 650 מיליון </a:t>
                      </a:r>
                      <a:r>
                        <a:rPr lang="he-IL" sz="2000" b="0" kern="1200" baseline="0" dirty="0" smtClean="0">
                          <a:solidFill>
                            <a:schemeClr val="bg1"/>
                          </a:solidFill>
                          <a:latin typeface="Calibri" panose="020F0502020204030204" pitchFamily="34" charset="0"/>
                          <a:ea typeface="+mn-ea"/>
                          <a:cs typeface="Calibri" panose="020F0502020204030204" pitchFamily="34" charset="0"/>
                        </a:rPr>
                        <a:t>₪</a:t>
                      </a:r>
                      <a:endParaRPr lang="he-IL" sz="20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290707">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43 אלף מבקרים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40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המרכז יפעל 12 שעות, הלקוח ישתתף ב-6 שעות לבחירתו</a:t>
                      </a: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2461801"/>
                  </a:ext>
                </a:extLst>
              </a:tr>
            </a:tbl>
          </a:graphicData>
        </a:graphic>
      </p:graphicFrame>
      <p:sp>
        <p:nvSpPr>
          <p:cNvPr id="29" name="כותרת 1">
            <a:extLst>
              <a:ext uri="{FF2B5EF4-FFF2-40B4-BE49-F238E27FC236}">
                <a16:creationId xmlns:a16="http://schemas.microsoft.com/office/drawing/2014/main" id="{471B32AE-BC14-4706-8EE0-08C58100FDCE}"/>
              </a:ext>
            </a:extLst>
          </p:cNvPr>
          <p:cNvSpPr txBox="1">
            <a:spLocks/>
          </p:cNvSpPr>
          <p:nvPr/>
        </p:nvSpPr>
        <p:spPr>
          <a:xfrm>
            <a:off x="1814080" y="1490282"/>
            <a:ext cx="3187449" cy="611895"/>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1800" noProof="0" dirty="0" smtClean="0">
                <a:latin typeface="Calibri Light" panose="020F0302020204030204"/>
                <a:cs typeface="Segoe UI"/>
              </a:rPr>
              <a:t>100% מימון ליום ביקור בשבוע ללקוח </a:t>
            </a:r>
            <a:r>
              <a:rPr lang="he-IL" sz="1200" noProof="0" dirty="0" smtClean="0">
                <a:latin typeface="Calibri Light" panose="020F0302020204030204"/>
                <a:cs typeface="Segoe UI"/>
              </a:rPr>
              <a:t>(בשנה ראשונה)</a:t>
            </a:r>
            <a:endParaRPr kumimoji="0" lang="en-GB" sz="1200" i="0" strike="noStrike" kern="1200" cap="none" spc="0" normalizeH="0" baseline="0" noProof="0" dirty="0">
              <a:ln>
                <a:noFill/>
              </a:ln>
              <a:effectLst/>
              <a:uLnTx/>
              <a:uFillTx/>
              <a:latin typeface="Calibri" panose="020F0502020204030204" pitchFamily="34" charset="0"/>
              <a:cs typeface="Segoe UI"/>
            </a:endParaRPr>
          </a:p>
        </p:txBody>
      </p:sp>
      <p:graphicFrame>
        <p:nvGraphicFramePr>
          <p:cNvPr id="30"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2764511565"/>
              </p:ext>
            </p:extLst>
          </p:nvPr>
        </p:nvGraphicFramePr>
        <p:xfrm>
          <a:off x="1919401" y="3332075"/>
          <a:ext cx="3149535" cy="2194560"/>
        </p:xfrm>
        <a:graphic>
          <a:graphicData uri="http://schemas.openxmlformats.org/drawingml/2006/table">
            <a:tbl>
              <a:tblPr firstRow="1" bandRow="1">
                <a:tableStyleId>{5C22544A-7EE6-4342-B048-85BDC9FD1C3A}</a:tableStyleId>
              </a:tblPr>
              <a:tblGrid>
                <a:gridCol w="3149535">
                  <a:extLst>
                    <a:ext uri="{9D8B030D-6E8A-4147-A177-3AD203B41FA5}">
                      <a16:colId xmlns:a16="http://schemas.microsoft.com/office/drawing/2014/main" val="20000"/>
                    </a:ext>
                  </a:extLst>
                </a:gridCol>
              </a:tblGrid>
              <a:tr h="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0" kern="1200" dirty="0" smtClean="0">
                          <a:solidFill>
                            <a:schemeClr val="bg1"/>
                          </a:solidFill>
                          <a:latin typeface="Calibri" panose="020F0502020204030204" pitchFamily="34" charset="0"/>
                          <a:ea typeface="+mn-ea"/>
                          <a:cs typeface="Calibri" panose="020F0502020204030204" pitchFamily="34" charset="0"/>
                        </a:rPr>
                        <a:t>עלות: 600 מיליון </a:t>
                      </a:r>
                      <a:r>
                        <a:rPr lang="he-IL" sz="2000" b="0" kern="1200" baseline="0" dirty="0" smtClean="0">
                          <a:solidFill>
                            <a:schemeClr val="bg1"/>
                          </a:solidFill>
                          <a:latin typeface="Calibri" panose="020F0502020204030204" pitchFamily="34" charset="0"/>
                          <a:ea typeface="+mn-ea"/>
                          <a:cs typeface="Calibri" panose="020F0502020204030204" pitchFamily="34" charset="0"/>
                        </a:rPr>
                        <a:t>₪</a:t>
                      </a:r>
                      <a:endParaRPr lang="he-IL" sz="20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290707">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64 אלף מבקרים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20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המרכז יפעל 12 שעות, הלקוח ישתתף ב-6 שעות לבחירתו</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7425100"/>
                  </a:ext>
                </a:extLst>
              </a:tr>
            </a:tbl>
          </a:graphicData>
        </a:graphic>
      </p:graphicFrame>
      <p:sp>
        <p:nvSpPr>
          <p:cNvPr id="6" name="מלבן 5"/>
          <p:cNvSpPr/>
          <p:nvPr/>
        </p:nvSpPr>
        <p:spPr>
          <a:xfrm>
            <a:off x="1715677" y="5986272"/>
            <a:ext cx="9883359" cy="64617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smtClean="0">
                <a:solidFill>
                  <a:schemeClr val="bg1"/>
                </a:solidFill>
                <a:latin typeface="Calibri" panose="020F0502020204030204" pitchFamily="34" charset="0"/>
                <a:cs typeface="Calibri" panose="020F0502020204030204" pitchFamily="34" charset="0"/>
              </a:rPr>
              <a:t>הצעה לפיילוט – הפעלת 6 מרכזים– בעלות של 30 מיליון ש"ח</a:t>
            </a:r>
            <a:endParaRPr lang="he-IL" sz="2400" b="1" dirty="0">
              <a:solidFill>
                <a:schemeClr val="bg1"/>
              </a:solidFill>
              <a:latin typeface="Calibri" panose="020F0502020204030204" pitchFamily="34" charset="0"/>
              <a:cs typeface="Calibri" panose="020F0502020204030204" pitchFamily="34" charset="0"/>
            </a:endParaRPr>
          </a:p>
        </p:txBody>
      </p:sp>
      <p:pic>
        <p:nvPicPr>
          <p:cNvPr id="34" name="תמונה 33"/>
          <p:cNvPicPr>
            <a:picLocks noChangeAspect="1"/>
          </p:cNvPicPr>
          <p:nvPr/>
        </p:nvPicPr>
        <p:blipFill>
          <a:blip r:embed="rId2"/>
          <a:stretch>
            <a:fillRect/>
          </a:stretch>
        </p:blipFill>
        <p:spPr>
          <a:xfrm>
            <a:off x="400122" y="30601"/>
            <a:ext cx="1519279" cy="681078"/>
          </a:xfrm>
          <a:prstGeom prst="rect">
            <a:avLst/>
          </a:prstGeom>
        </p:spPr>
      </p:pic>
      <p:sp>
        <p:nvSpPr>
          <p:cNvPr id="2" name="חץ שמאלה-ימינה 1"/>
          <p:cNvSpPr/>
          <p:nvPr/>
        </p:nvSpPr>
        <p:spPr>
          <a:xfrm>
            <a:off x="5379365" y="1490282"/>
            <a:ext cx="2493160" cy="506130"/>
          </a:xfrm>
          <a:prstGeom prst="lef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r>
              <a:rPr lang="he-IL" dirty="0" smtClean="0"/>
              <a:t>לבחירת הזכאי</a:t>
            </a:r>
            <a:endParaRPr lang="he-IL" dirty="0"/>
          </a:p>
        </p:txBody>
      </p:sp>
    </p:spTree>
    <p:extLst>
      <p:ext uri="{BB962C8B-B14F-4D97-AF65-F5344CB8AC3E}">
        <p14:creationId xmlns:p14="http://schemas.microsoft.com/office/powerpoint/2010/main" val="2456234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קבוצה 10"/>
          <p:cNvGrpSpPr/>
          <p:nvPr/>
        </p:nvGrpSpPr>
        <p:grpSpPr>
          <a:xfrm>
            <a:off x="991838" y="741349"/>
            <a:ext cx="2320383" cy="2185949"/>
            <a:chOff x="4003932" y="140625"/>
            <a:chExt cx="3347849" cy="3401935"/>
          </a:xfrm>
        </p:grpSpPr>
        <p:sp>
          <p:nvSpPr>
            <p:cNvPr id="12" name="אליפסה 11"/>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13"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grpSp>
        <p:nvGrpSpPr>
          <p:cNvPr id="14" name="קבוצה 13"/>
          <p:cNvGrpSpPr/>
          <p:nvPr/>
        </p:nvGrpSpPr>
        <p:grpSpPr>
          <a:xfrm>
            <a:off x="814142" y="1234969"/>
            <a:ext cx="1072459" cy="1066484"/>
            <a:chOff x="1670079" y="2140313"/>
            <a:chExt cx="1642835" cy="1642835"/>
          </a:xfrm>
        </p:grpSpPr>
        <p:sp>
          <p:nvSpPr>
            <p:cNvPr id="15" name="אליפסה 14"/>
            <p:cNvSpPr/>
            <p:nvPr/>
          </p:nvSpPr>
          <p:spPr>
            <a:xfrm>
              <a:off x="1670079" y="2140313"/>
              <a:ext cx="1642835" cy="1642835"/>
            </a:xfrm>
            <a:prstGeom prst="ellipse">
              <a:avLst/>
            </a:prstGeom>
            <a:solidFill>
              <a:srgbClr val="F8A091">
                <a:alpha val="50000"/>
              </a:srgbClr>
            </a:solid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6" name="אליפסה 4"/>
            <p:cNvSpPr txBox="1"/>
            <p:nvPr/>
          </p:nvSpPr>
          <p:spPr>
            <a:xfrm>
              <a:off x="1910667"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7" name="אליפסה 16"/>
          <p:cNvSpPr/>
          <p:nvPr/>
        </p:nvSpPr>
        <p:spPr>
          <a:xfrm>
            <a:off x="1380664" y="1234969"/>
            <a:ext cx="1083624" cy="996404"/>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תמונה 1"/>
          <p:cNvPicPr>
            <a:picLocks noChangeAspect="1"/>
          </p:cNvPicPr>
          <p:nvPr/>
        </p:nvPicPr>
        <p:blipFill rotWithShape="1">
          <a:blip r:embed="rId2"/>
          <a:srcRect l="4374" t="23828" r="23021" b="21614"/>
          <a:stretch/>
        </p:blipFill>
        <p:spPr>
          <a:xfrm>
            <a:off x="814142" y="19890"/>
            <a:ext cx="10706100" cy="6435948"/>
          </a:xfrm>
          <a:prstGeom prst="rect">
            <a:avLst/>
          </a:prstGeom>
        </p:spPr>
      </p:pic>
      <p:pic>
        <p:nvPicPr>
          <p:cNvPr id="18" name="תמונה 17"/>
          <p:cNvPicPr>
            <a:picLocks noChangeAspect="1"/>
          </p:cNvPicPr>
          <p:nvPr/>
        </p:nvPicPr>
        <p:blipFill>
          <a:blip r:embed="rId3"/>
          <a:stretch>
            <a:fillRect/>
          </a:stretch>
        </p:blipFill>
        <p:spPr>
          <a:xfrm>
            <a:off x="290249" y="19890"/>
            <a:ext cx="1805002" cy="809165"/>
          </a:xfrm>
          <a:prstGeom prst="rect">
            <a:avLst/>
          </a:prstGeom>
        </p:spPr>
      </p:pic>
    </p:spTree>
    <p:extLst>
      <p:ext uri="{BB962C8B-B14F-4D97-AF65-F5344CB8AC3E}">
        <p14:creationId xmlns:p14="http://schemas.microsoft.com/office/powerpoint/2010/main" val="294873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7" name="TextBox 46"/>
          <p:cNvSpPr txBox="1"/>
          <p:nvPr/>
        </p:nvSpPr>
        <p:spPr>
          <a:xfrm>
            <a:off x="156608" y="3424407"/>
            <a:ext cx="3240748" cy="981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969" b="1" dirty="0">
                <a:latin typeface="Helvetica Neue"/>
                <a:ea typeface="Helvetica Neue"/>
                <a:cs typeface="Helvetica Neue"/>
                <a:sym typeface="Helvetica Neue"/>
              </a:rPr>
              <a:t>ניתן להעריך </a:t>
            </a:r>
            <a:r>
              <a:rPr lang="he-IL" sz="1969" b="1" u="sng" dirty="0">
                <a:solidFill>
                  <a:schemeClr val="accent5">
                    <a:lumMod val="75000"/>
                  </a:schemeClr>
                </a:solidFill>
                <a:latin typeface="Helvetica Neue"/>
                <a:ea typeface="Helvetica Neue"/>
                <a:cs typeface="Helvetica Neue"/>
                <a:sym typeface="Helvetica Neue"/>
              </a:rPr>
              <a:t>שלפחות</a:t>
            </a:r>
            <a:r>
              <a:rPr lang="he-IL" sz="1969" b="1" dirty="0">
                <a:solidFill>
                  <a:schemeClr val="accent5">
                    <a:lumMod val="75000"/>
                  </a:schemeClr>
                </a:solidFill>
                <a:latin typeface="Helvetica Neue"/>
                <a:ea typeface="Helvetica Neue"/>
                <a:cs typeface="Helvetica Neue"/>
                <a:sym typeface="Helvetica Neue"/>
              </a:rPr>
              <a:t> </a:t>
            </a:r>
            <a:r>
              <a:rPr lang="he-IL" sz="1969" b="1" dirty="0">
                <a:latin typeface="Helvetica Neue"/>
                <a:ea typeface="Helvetica Neue"/>
                <a:cs typeface="Helvetica Neue"/>
                <a:sym typeface="Helvetica Neue"/>
              </a:rPr>
              <a:t>כ 64,000 (80%) בתי אב פוטנציאלים לקהילה תומכת</a:t>
            </a:r>
          </a:p>
        </p:txBody>
      </p:sp>
      <p:sp>
        <p:nvSpPr>
          <p:cNvPr id="8" name="TextBox 7"/>
          <p:cNvSpPr txBox="1"/>
          <p:nvPr/>
        </p:nvSpPr>
        <p:spPr>
          <a:xfrm>
            <a:off x="3977924" y="6239353"/>
            <a:ext cx="5934316" cy="5048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defTabSz="410751" rtl="0" hangingPunct="0"/>
            <a:r>
              <a:rPr lang="he-IL" sz="1406" b="1" dirty="0">
                <a:solidFill>
                  <a:srgbClr val="000000"/>
                </a:solidFill>
                <a:latin typeface="Helvetica Neue"/>
                <a:ea typeface="Helvetica Neue"/>
                <a:cs typeface="Helvetica Neue"/>
                <a:sym typeface="Helvetica Neue"/>
              </a:rPr>
              <a:t>*מקרה בו גר הורה עם בנו/ביתו ושניהם זכאים לקצבת סיעוד, נספר כשני בתי אב</a:t>
            </a:r>
          </a:p>
          <a:p>
            <a:pPr algn="l" defTabSz="410751" hangingPunct="0"/>
            <a:endParaRPr lang="he-IL" sz="1406" b="1" dirty="0">
              <a:solidFill>
                <a:srgbClr val="000000"/>
              </a:solidFill>
              <a:latin typeface="Helvetica Neue"/>
              <a:ea typeface="Helvetica Neue"/>
              <a:cs typeface="Helvetica Neue"/>
              <a:sym typeface="Helvetica Neue"/>
            </a:endParaRPr>
          </a:p>
        </p:txBody>
      </p:sp>
      <p:sp>
        <p:nvSpPr>
          <p:cNvPr id="62" name="TextBox 61"/>
          <p:cNvSpPr txBox="1"/>
          <p:nvPr/>
        </p:nvSpPr>
        <p:spPr>
          <a:xfrm>
            <a:off x="9283206" y="3075058"/>
            <a:ext cx="1877431"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100,240  </a:t>
            </a:r>
          </a:p>
        </p:txBody>
      </p:sp>
      <p:sp>
        <p:nvSpPr>
          <p:cNvPr id="63" name="TextBox 62"/>
          <p:cNvSpPr txBox="1"/>
          <p:nvPr/>
        </p:nvSpPr>
        <p:spPr>
          <a:xfrm>
            <a:off x="6891757" y="3097045"/>
            <a:ext cx="2118923"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80,600*</a:t>
            </a:r>
          </a:p>
        </p:txBody>
      </p:sp>
      <p:sp>
        <p:nvSpPr>
          <p:cNvPr id="73" name="כותרת"/>
          <p:cNvSpPr txBox="1">
            <a:spLocks noGrp="1"/>
          </p:cNvSpPr>
          <p:nvPr>
            <p:ph type="title" idx="4294967295"/>
          </p:nvPr>
        </p:nvSpPr>
        <p:spPr>
          <a:xfrm>
            <a:off x="3733905" y="577764"/>
            <a:ext cx="7804309" cy="461145"/>
          </a:xfrm>
          <a:prstGeom prst="rect">
            <a:avLst/>
          </a:prstGeom>
        </p:spPr>
        <p:txBody>
          <a:bodyPr>
            <a:normAutofit fontScale="90000"/>
          </a:bodyPr>
          <a:lstStyle>
            <a:lvl1pPr algn="r" rtl="1">
              <a:defRPr sz="3700">
                <a:latin typeface="Tahoma"/>
                <a:ea typeface="Tahoma"/>
                <a:cs typeface="Tahoma"/>
                <a:sym typeface="Tahoma"/>
              </a:defRPr>
            </a:lvl1pPr>
          </a:lstStyle>
          <a:p>
            <a:r>
              <a:rPr lang="he-IL" kern="1200" dirty="0" smtClean="0">
                <a:solidFill>
                  <a:schemeClr val="tx1"/>
                </a:solidFill>
              </a:rPr>
              <a:t>קהילות תומכות שייכות</a:t>
            </a:r>
            <a:r>
              <a:rPr lang="he-IL" kern="1200" dirty="0">
                <a:solidFill>
                  <a:schemeClr val="tx1"/>
                </a:solidFill>
              </a:rPr>
              <a:t/>
            </a:r>
            <a:br>
              <a:rPr lang="he-IL" kern="1200" dirty="0">
                <a:solidFill>
                  <a:schemeClr val="tx1"/>
                </a:solidFill>
              </a:rPr>
            </a:br>
            <a:endParaRPr dirty="0">
              <a:solidFill>
                <a:schemeClr val="tx1"/>
              </a:solidFill>
            </a:endParaRPr>
          </a:p>
        </p:txBody>
      </p:sp>
      <p:sp>
        <p:nvSpPr>
          <p:cNvPr id="2" name="מלבן 1"/>
          <p:cNvSpPr/>
          <p:nvPr/>
        </p:nvSpPr>
        <p:spPr>
          <a:xfrm>
            <a:off x="9915429" y="2725148"/>
            <a:ext cx="1114408" cy="287130"/>
          </a:xfrm>
          <a:prstGeom prst="rect">
            <a:avLst/>
          </a:prstGeom>
        </p:spPr>
        <p:txBody>
          <a:bodyPr wrap="none">
            <a:spAutoFit/>
          </a:bodyPr>
          <a:lstStyle/>
          <a:p>
            <a:pPr lvl="0"/>
            <a:r>
              <a:rPr lang="he-IL" sz="1266" dirty="0"/>
              <a:t>אזרחים ותיקים</a:t>
            </a:r>
          </a:p>
        </p:txBody>
      </p:sp>
      <p:sp>
        <p:nvSpPr>
          <p:cNvPr id="3" name="מלבן 2"/>
          <p:cNvSpPr/>
          <p:nvPr/>
        </p:nvSpPr>
        <p:spPr>
          <a:xfrm>
            <a:off x="7594979" y="2612942"/>
            <a:ext cx="646332" cy="308674"/>
          </a:xfrm>
          <a:prstGeom prst="rect">
            <a:avLst/>
          </a:prstGeom>
        </p:spPr>
        <p:txBody>
          <a:bodyPr wrap="none">
            <a:spAutoFit/>
          </a:bodyPr>
          <a:lstStyle/>
          <a:p>
            <a:pPr lvl="0" rtl="1"/>
            <a:r>
              <a:rPr lang="he-IL" sz="1266" dirty="0">
                <a:latin typeface="Consolas" panose="020B0609020204030204" pitchFamily="49" charset="0"/>
              </a:rPr>
              <a:t>בתי</a:t>
            </a:r>
            <a:r>
              <a:rPr lang="he-IL" sz="1406" dirty="0">
                <a:latin typeface="Consolas" panose="020B0609020204030204" pitchFamily="49" charset="0"/>
              </a:rPr>
              <a:t> </a:t>
            </a:r>
            <a:r>
              <a:rPr lang="he-IL" sz="1266" dirty="0">
                <a:latin typeface="Consolas" panose="020B0609020204030204" pitchFamily="49" charset="0"/>
              </a:rPr>
              <a:t>אב</a:t>
            </a:r>
            <a:endParaRPr lang="he-IL" sz="1406" dirty="0"/>
          </a:p>
        </p:txBody>
      </p:sp>
      <p:grpSp>
        <p:nvGrpSpPr>
          <p:cNvPr id="7" name="קבוצה 6"/>
          <p:cNvGrpSpPr/>
          <p:nvPr/>
        </p:nvGrpSpPr>
        <p:grpSpPr>
          <a:xfrm>
            <a:off x="4438655" y="2564869"/>
            <a:ext cx="1819074" cy="2417770"/>
            <a:chOff x="6136429" y="3383437"/>
            <a:chExt cx="2587206" cy="3438711"/>
          </a:xfrm>
        </p:grpSpPr>
        <p:pic>
          <p:nvPicPr>
            <p:cNvPr id="46" name="תמונה 45"/>
            <p:cNvPicPr>
              <a:picLocks noChangeAspect="1"/>
            </p:cNvPicPr>
            <p:nvPr/>
          </p:nvPicPr>
          <p:blipFill rotWithShape="1">
            <a:blip r:embed="rId4" cstate="print">
              <a:extLst>
                <a:ext uri="{28A0092B-C50C-407E-A947-70E740481C1C}">
                  <a14:useLocalDpi xmlns:a14="http://schemas.microsoft.com/office/drawing/2010/main" val="0"/>
                </a:ext>
              </a:extLst>
            </a:blip>
            <a:srcRect l="72148" b="1305"/>
            <a:stretch/>
          </p:blipFill>
          <p:spPr>
            <a:xfrm>
              <a:off x="6435824" y="4150631"/>
              <a:ext cx="574853" cy="600280"/>
            </a:xfrm>
            <a:prstGeom prst="rect">
              <a:avLst/>
            </a:prstGeom>
          </p:spPr>
        </p:pic>
        <p:sp>
          <p:nvSpPr>
            <p:cNvPr id="15" name="TextBox 14"/>
            <p:cNvSpPr txBox="1"/>
            <p:nvPr/>
          </p:nvSpPr>
          <p:spPr>
            <a:xfrm>
              <a:off x="7249787" y="4062384"/>
              <a:ext cx="1260781"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6,000</a:t>
              </a:r>
            </a:p>
          </p:txBody>
        </p:sp>
        <p:pic>
          <p:nvPicPr>
            <p:cNvPr id="6" name="תמונה 5"/>
            <p:cNvPicPr>
              <a:picLocks noChangeAspect="1"/>
            </p:cNvPicPr>
            <p:nvPr/>
          </p:nvPicPr>
          <p:blipFill>
            <a:blip r:embed="rId5"/>
            <a:stretch>
              <a:fillRect/>
            </a:stretch>
          </p:blipFill>
          <p:spPr>
            <a:xfrm>
              <a:off x="6393217" y="4983118"/>
              <a:ext cx="695587" cy="735456"/>
            </a:xfrm>
            <a:prstGeom prst="rect">
              <a:avLst/>
            </a:prstGeom>
          </p:spPr>
        </p:pic>
        <p:sp>
          <p:nvSpPr>
            <p:cNvPr id="50" name="TextBox 49"/>
            <p:cNvSpPr txBox="1"/>
            <p:nvPr/>
          </p:nvSpPr>
          <p:spPr>
            <a:xfrm>
              <a:off x="7307490" y="5023248"/>
              <a:ext cx="908956"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220</a:t>
              </a:r>
            </a:p>
          </p:txBody>
        </p:sp>
        <p:sp>
          <p:nvSpPr>
            <p:cNvPr id="74" name="TextBox 73"/>
            <p:cNvSpPr txBox="1"/>
            <p:nvPr/>
          </p:nvSpPr>
          <p:spPr>
            <a:xfrm>
              <a:off x="6805642" y="5854843"/>
              <a:ext cx="1917993"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כ-1670</a:t>
              </a:r>
            </a:p>
          </p:txBody>
        </p:sp>
        <p:pic>
          <p:nvPicPr>
            <p:cNvPr id="2064" name="Picture 12" descr="Cash, coin, deposit, money, payment"/>
            <p:cNvPicPr>
              <a:picLocks noChangeAspect="1" noChangeArrowheads="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6344102" y="5854805"/>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2065" name="TextBox 2064"/>
            <p:cNvSpPr txBox="1"/>
            <p:nvPr/>
          </p:nvSpPr>
          <p:spPr>
            <a:xfrm>
              <a:off x="6136429" y="6350303"/>
              <a:ext cx="1048712" cy="4718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687" b="1" dirty="0">
                  <a:solidFill>
                    <a:schemeClr val="accent1">
                      <a:lumMod val="75000"/>
                    </a:schemeClr>
                  </a:solidFill>
                  <a:latin typeface="Helvetica Neue"/>
                  <a:ea typeface="Helvetica Neue"/>
                  <a:cs typeface="Helvetica Neue"/>
                  <a:sym typeface="Helvetica Neue"/>
                </a:rPr>
                <a:t>פרטיים</a:t>
              </a:r>
            </a:p>
          </p:txBody>
        </p:sp>
        <p:sp>
          <p:nvSpPr>
            <p:cNvPr id="4" name="מלבן 3"/>
            <p:cNvSpPr/>
            <p:nvPr/>
          </p:nvSpPr>
          <p:spPr>
            <a:xfrm>
              <a:off x="6983139" y="3383437"/>
              <a:ext cx="1281758" cy="408375"/>
            </a:xfrm>
            <a:prstGeom prst="rect">
              <a:avLst/>
            </a:prstGeom>
          </p:spPr>
          <p:txBody>
            <a:bodyPr wrap="none">
              <a:spAutoFit/>
            </a:bodyPr>
            <a:lstStyle/>
            <a:p>
              <a:pPr lvl="0" rtl="1"/>
              <a:r>
                <a:rPr lang="he-IL" sz="1266" dirty="0"/>
                <a:t>גורם מפנה </a:t>
              </a:r>
            </a:p>
          </p:txBody>
        </p:sp>
      </p:grpSp>
      <p:sp>
        <p:nvSpPr>
          <p:cNvPr id="5" name="חץ ימינה 4"/>
          <p:cNvSpPr/>
          <p:nvPr/>
        </p:nvSpPr>
        <p:spPr>
          <a:xfrm flipH="1">
            <a:off x="8902396" y="3412616"/>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1" name="חץ ימינה 50"/>
          <p:cNvSpPr/>
          <p:nvPr/>
        </p:nvSpPr>
        <p:spPr>
          <a:xfrm flipH="1">
            <a:off x="6498396" y="3438771"/>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2" name="חץ ימינה 51"/>
          <p:cNvSpPr/>
          <p:nvPr/>
        </p:nvSpPr>
        <p:spPr>
          <a:xfrm flipH="1">
            <a:off x="3666009" y="3440137"/>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5" name="מלבן 54"/>
          <p:cNvSpPr/>
          <p:nvPr/>
        </p:nvSpPr>
        <p:spPr>
          <a:xfrm>
            <a:off x="7008564" y="1303035"/>
            <a:ext cx="4374917" cy="287130"/>
          </a:xfrm>
          <a:prstGeom prst="rect">
            <a:avLst/>
          </a:prstGeom>
        </p:spPr>
        <p:txBody>
          <a:bodyPr wrap="none">
            <a:spAutoFit/>
          </a:bodyPr>
          <a:lstStyle/>
          <a:p>
            <a:pPr lvl="0"/>
            <a:r>
              <a:rPr lang="he-IL" sz="1266" dirty="0" smtClean="0">
                <a:latin typeface="Tahoma"/>
                <a:ea typeface="Tahoma"/>
                <a:cs typeface="Tahoma"/>
                <a:sym typeface="Tahoma"/>
              </a:rPr>
              <a:t>קהל יעד: </a:t>
            </a:r>
            <a:r>
              <a:rPr lang="he-IL" sz="1266" dirty="0">
                <a:latin typeface="Tahoma"/>
                <a:ea typeface="Tahoma"/>
                <a:cs typeface="Tahoma"/>
                <a:sym typeface="Tahoma"/>
              </a:rPr>
              <a:t>אזרחים ותיקים מקבלי קצבת סיעוד ברמה 1 או 2</a:t>
            </a:r>
          </a:p>
        </p:txBody>
      </p:sp>
      <p:sp>
        <p:nvSpPr>
          <p:cNvPr id="48" name="Rectangle"/>
          <p:cNvSpPr/>
          <p:nvPr/>
        </p:nvSpPr>
        <p:spPr>
          <a:xfrm>
            <a:off x="8013637" y="1050344"/>
            <a:ext cx="3457519" cy="63864"/>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36988772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2" name="TextBox 1"/>
          <p:cNvSpPr txBox="1"/>
          <p:nvPr/>
        </p:nvSpPr>
        <p:spPr>
          <a:xfrm>
            <a:off x="7281088" y="3697344"/>
            <a:ext cx="4469471"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250" b="1" dirty="0"/>
              <a:t>80% השתתפות – 262 מסגרות</a:t>
            </a:r>
            <a:endParaRPr lang="he-IL" sz="2250" b="1" dirty="0">
              <a:solidFill>
                <a:srgbClr val="000000"/>
              </a:solidFill>
              <a:sym typeface="Helvetica Neue"/>
            </a:endParaRPr>
          </a:p>
        </p:txBody>
      </p:sp>
      <p:sp>
        <p:nvSpPr>
          <p:cNvPr id="4" name="TextBox 3"/>
          <p:cNvSpPr txBox="1"/>
          <p:nvPr/>
        </p:nvSpPr>
        <p:spPr>
          <a:xfrm flipH="1">
            <a:off x="6450258" y="725531"/>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כמה מסגרות נדרש?</a:t>
            </a:r>
          </a:p>
        </p:txBody>
      </p:sp>
      <p:sp>
        <p:nvSpPr>
          <p:cNvPr id="14" name="TextBox 13"/>
          <p:cNvSpPr txBox="1"/>
          <p:nvPr/>
        </p:nvSpPr>
        <p:spPr>
          <a:xfrm>
            <a:off x="7571676" y="4417781"/>
            <a:ext cx="3888294"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250" dirty="0"/>
              <a:t>60% השתתפות – 195 מסגרות</a:t>
            </a:r>
            <a:endParaRPr lang="he-IL" sz="2250" b="1" dirty="0">
              <a:solidFill>
                <a:srgbClr val="000000"/>
              </a:solidFill>
              <a:sym typeface="Helvetica Neue"/>
            </a:endParaRPr>
          </a:p>
        </p:txBody>
      </p:sp>
      <p:sp>
        <p:nvSpPr>
          <p:cNvPr id="18" name="TextBox 17"/>
          <p:cNvSpPr txBox="1"/>
          <p:nvPr/>
        </p:nvSpPr>
        <p:spPr>
          <a:xfrm flipH="1">
            <a:off x="1675803" y="2142559"/>
            <a:ext cx="9644568"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250" b="1" dirty="0">
                <a:solidFill>
                  <a:srgbClr val="000000"/>
                </a:solidFill>
                <a:latin typeface="Helvetica Neue"/>
                <a:ea typeface="Helvetica Neue"/>
                <a:cs typeface="Helvetica Neue"/>
                <a:sym typeface="Helvetica Neue"/>
              </a:rPr>
              <a:t>לפי מפתח פתיחת מסגרת במינימום 70 ומקסימום 220 בתי אב + רשות:</a:t>
            </a:r>
          </a:p>
        </p:txBody>
      </p:sp>
      <p:sp>
        <p:nvSpPr>
          <p:cNvPr id="19" name="Rectangle"/>
          <p:cNvSpPr/>
          <p:nvPr/>
        </p:nvSpPr>
        <p:spPr>
          <a:xfrm>
            <a:off x="7398826" y="1257968"/>
            <a:ext cx="3921546" cy="46932"/>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
        <p:nvSpPr>
          <p:cNvPr id="24" name="TextBox 23"/>
          <p:cNvSpPr txBox="1"/>
          <p:nvPr/>
        </p:nvSpPr>
        <p:spPr>
          <a:xfrm>
            <a:off x="8976872" y="2976908"/>
            <a:ext cx="2343500"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250" dirty="0"/>
              <a:t>בהינתן :</a:t>
            </a:r>
            <a:endParaRPr lang="he-IL" sz="2250" b="1" dirty="0">
              <a:solidFill>
                <a:srgbClr val="000000"/>
              </a:solidFill>
              <a:sym typeface="Helvetica Neue"/>
            </a:endParaRPr>
          </a:p>
        </p:txBody>
      </p:sp>
    </p:spTree>
    <p:extLst>
      <p:ext uri="{BB962C8B-B14F-4D97-AF65-F5344CB8AC3E}">
        <p14:creationId xmlns:p14="http://schemas.microsoft.com/office/powerpoint/2010/main" val="3700764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450258" y="725531"/>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איפה נדרש?</a:t>
            </a:r>
          </a:p>
        </p:txBody>
      </p:sp>
      <p:sp>
        <p:nvSpPr>
          <p:cNvPr id="19" name="Rectangle"/>
          <p:cNvSpPr/>
          <p:nvPr/>
        </p:nvSpPr>
        <p:spPr>
          <a:xfrm>
            <a:off x="7398826" y="1257968"/>
            <a:ext cx="3921546" cy="46932"/>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pic>
        <p:nvPicPr>
          <p:cNvPr id="1026" name="תמונה 6" descr="image0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3470" y="725481"/>
            <a:ext cx="4460243" cy="561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233471" y="122716"/>
            <a:ext cx="3791824" cy="3317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en-US" sz="1687" b="1" dirty="0">
                <a:solidFill>
                  <a:srgbClr val="000000"/>
                </a:solidFill>
                <a:latin typeface="Helvetica Neue"/>
                <a:ea typeface="Helvetica Neue"/>
                <a:cs typeface="Helvetica Neue"/>
                <a:sym typeface="Helvetica Neue"/>
              </a:rPr>
              <a:t>GIS</a:t>
            </a:r>
            <a:r>
              <a:rPr lang="he-IL" sz="1687" b="1" dirty="0">
                <a:solidFill>
                  <a:srgbClr val="000000"/>
                </a:solidFill>
                <a:latin typeface="Helvetica Neue"/>
                <a:ea typeface="Helvetica Neue"/>
                <a:cs typeface="Helvetica Neue"/>
                <a:sym typeface="Helvetica Neue"/>
              </a:rPr>
              <a:t> </a:t>
            </a:r>
            <a:r>
              <a:rPr lang="he-IL" sz="1266" dirty="0"/>
              <a:t>קהילות לרמות 1-2 בישראל מפת </a:t>
            </a:r>
            <a:endParaRPr lang="he-IL" sz="1687" b="1" dirty="0">
              <a:solidFill>
                <a:srgbClr val="000000"/>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7567481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450258" y="725531"/>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איפה נדרש?</a:t>
            </a:r>
          </a:p>
        </p:txBody>
      </p:sp>
      <p:sp>
        <p:nvSpPr>
          <p:cNvPr id="19" name="Rectangle"/>
          <p:cNvSpPr/>
          <p:nvPr/>
        </p:nvSpPr>
        <p:spPr>
          <a:xfrm>
            <a:off x="7398826" y="1257968"/>
            <a:ext cx="3921546" cy="46932"/>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
        <p:nvSpPr>
          <p:cNvPr id="3" name="TextBox 2"/>
          <p:cNvSpPr txBox="1"/>
          <p:nvPr/>
        </p:nvSpPr>
        <p:spPr>
          <a:xfrm>
            <a:off x="2270417" y="395630"/>
            <a:ext cx="379182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en-US" b="1" dirty="0">
                <a:solidFill>
                  <a:srgbClr val="000000"/>
                </a:solidFill>
                <a:latin typeface="Helvetica Neue"/>
                <a:ea typeface="Helvetica Neue"/>
                <a:cs typeface="Helvetica Neue"/>
                <a:sym typeface="Helvetica Neue"/>
              </a:rPr>
              <a:t>GIS</a:t>
            </a:r>
            <a:r>
              <a:rPr lang="he-IL" b="1" dirty="0">
                <a:solidFill>
                  <a:srgbClr val="000000"/>
                </a:solidFill>
                <a:latin typeface="Helvetica Neue"/>
                <a:ea typeface="Helvetica Neue"/>
                <a:cs typeface="Helvetica Neue"/>
                <a:sym typeface="Helvetica Neue"/>
              </a:rPr>
              <a:t> </a:t>
            </a:r>
            <a:r>
              <a:rPr lang="he-IL" sz="1400" dirty="0"/>
              <a:t>קהילות לרמות 1-2 </a:t>
            </a:r>
            <a:r>
              <a:rPr lang="he-IL" sz="1400" dirty="0" smtClean="0"/>
              <a:t>בת"א </a:t>
            </a:r>
            <a:r>
              <a:rPr lang="he-IL" sz="1400" dirty="0"/>
              <a:t>מפת </a:t>
            </a:r>
            <a:endParaRPr lang="he-IL" b="1" dirty="0">
              <a:solidFill>
                <a:srgbClr val="000000"/>
              </a:solidFill>
              <a:latin typeface="Helvetica Neue"/>
              <a:ea typeface="Helvetica Neue"/>
              <a:cs typeface="Helvetica Neue"/>
              <a:sym typeface="Helvetica Neue"/>
            </a:endParaRPr>
          </a:p>
        </p:txBody>
      </p:sp>
      <p:pic>
        <p:nvPicPr>
          <p:cNvPr id="1027" name="תמונה 5" descr="image00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283" y="1113127"/>
            <a:ext cx="6124575"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8146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545904" y="255865"/>
            <a:ext cx="10888688" cy="892552"/>
          </a:xfrm>
          <a:prstGeom prst="rect">
            <a:avLst/>
          </a:prstGeom>
          <a:noFill/>
        </p:spPr>
        <p:txBody>
          <a:bodyPr wrap="square" rtlCol="1">
            <a:spAutoFit/>
          </a:bodyPr>
          <a:lstStyle/>
          <a:p>
            <a:r>
              <a:rPr lang="he-IL" sz="2800" b="1" dirty="0" smtClean="0">
                <a:latin typeface="Calibri" panose="020F0502020204030204" pitchFamily="34" charset="0"/>
                <a:cs typeface="Calibri" panose="020F0502020204030204" pitchFamily="34" charset="0"/>
              </a:rPr>
              <a:t>הבעיה – פיצול השירותים לאזרח הוותיק בין גורמים רבים</a:t>
            </a:r>
            <a:r>
              <a:rPr lang="en-US" sz="2800" b="1" dirty="0" smtClean="0">
                <a:latin typeface="Calibri" panose="020F0502020204030204" pitchFamily="34" charset="0"/>
                <a:cs typeface="Calibri" panose="020F0502020204030204" pitchFamily="34" charset="0"/>
              </a:rPr>
              <a:t/>
            </a:r>
            <a:br>
              <a:rPr lang="en-US" sz="2800" b="1" dirty="0" smtClean="0">
                <a:latin typeface="Calibri" panose="020F0502020204030204" pitchFamily="34" charset="0"/>
                <a:cs typeface="Calibri" panose="020F0502020204030204" pitchFamily="34" charset="0"/>
              </a:rPr>
            </a:br>
            <a:r>
              <a:rPr lang="he-IL" sz="2400" b="1" dirty="0" smtClean="0">
                <a:solidFill>
                  <a:srgbClr val="0070C0"/>
                </a:solidFill>
                <a:latin typeface="Calibri" panose="020F0502020204030204" pitchFamily="34" charset="0"/>
                <a:cs typeface="Calibri" panose="020F0502020204030204" pitchFamily="34" charset="0"/>
              </a:rPr>
              <a:t>הרעיון – התאמת השירות לאדם. הלקוח במרכז</a:t>
            </a:r>
            <a:endParaRPr lang="he-IL" sz="2400" b="1" dirty="0">
              <a:solidFill>
                <a:srgbClr val="0070C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smtClean="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smtClean="0"/>
              <a:t>הלקוח במרכז</a:t>
            </a:r>
          </a:p>
        </p:txBody>
      </p:sp>
      <p:sp>
        <p:nvSpPr>
          <p:cNvPr id="7" name="מלבן 6"/>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097218" y="3321027"/>
            <a:ext cx="1016252" cy="1139282"/>
          </a:xfrm>
          <a:prstGeom prst="rect">
            <a:avLst/>
          </a:prstGeom>
        </p:spPr>
      </p:pic>
    </p:spTree>
    <p:extLst>
      <p:ext uri="{BB962C8B-B14F-4D97-AF65-F5344CB8AC3E}">
        <p14:creationId xmlns:p14="http://schemas.microsoft.com/office/powerpoint/2010/main" val="34494009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2"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740670"/>
            <a:ext cx="10515600" cy="1325563"/>
          </a:xfrm>
        </p:spPr>
        <p:txBody>
          <a:bodyPr>
            <a:normAutofit fontScale="90000"/>
          </a:bodyPr>
          <a:lstStyle/>
          <a:p>
            <a:r>
              <a:rPr lang="he-IL" dirty="0" smtClean="0"/>
              <a:t>ביזור דור 2.0 </a:t>
            </a:r>
            <a:br>
              <a:rPr lang="he-IL" dirty="0" smtClean="0"/>
            </a:br>
            <a:r>
              <a:rPr lang="he-IL" dirty="0" smtClean="0"/>
              <a:t>קהילה תומכת סל אישי</a:t>
            </a:r>
            <a:br>
              <a:rPr lang="he-IL" dirty="0" smtClean="0"/>
            </a:br>
            <a:r>
              <a:rPr lang="he-IL" dirty="0" smtClean="0"/>
              <a:t> </a:t>
            </a:r>
            <a:r>
              <a:rPr lang="he-IL" dirty="0" smtClean="0"/>
              <a:t>מבוסס נתונים</a:t>
            </a:r>
            <a:endParaRPr lang="he-IL" dirty="0"/>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smtClean="0">
                <a:ln>
                  <a:noFill/>
                </a:ln>
                <a:solidFill>
                  <a:prstClr val="white"/>
                </a:solidFill>
                <a:effectLst/>
                <a:uLnTx/>
                <a:uFillTx/>
                <a:latin typeface="Calibri"/>
                <a:ea typeface="+mj-ea"/>
                <a:cs typeface="Calibri"/>
              </a:rPr>
              <a:t/>
            </a:r>
            <a:br>
              <a:rPr kumimoji="0" lang="he-IL" sz="2800" b="0" i="0" u="none" strike="noStrike" kern="1200" cap="none" spc="0" normalizeH="0" baseline="0" noProof="0" smtClean="0">
                <a:ln>
                  <a:noFill/>
                </a:ln>
                <a:solidFill>
                  <a:prstClr val="white"/>
                </a:solidFill>
                <a:effectLst/>
                <a:uLnTx/>
                <a:uFillTx/>
                <a:latin typeface="Calibri"/>
                <a:ea typeface="+mj-ea"/>
                <a:cs typeface="Calibri"/>
              </a:rPr>
            </a:br>
            <a:r>
              <a:rPr kumimoji="0" lang="he-IL" sz="2800" b="0" i="0" u="none" strike="noStrike" kern="1200" cap="none" spc="0" normalizeH="0" baseline="0" noProof="0" smtClean="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4">
            <a:extLst>
              <a:ext uri="{96DAC541-7B7A-43D3-8B79-37D633B846F1}">
                <asvg:svgBlip xmlns="" xmlns:asvg="http://schemas.microsoft.com/office/drawing/2016/SVG/main" r:embed="rId5"/>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רשת מקומית –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smtClean="0">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smtClean="0"/>
              <a:t>צורך וקושי</a:t>
            </a:r>
            <a:endParaRPr lang="he-IL" sz="1400" dirty="0"/>
          </a:p>
        </p:txBody>
      </p:sp>
      <p:sp>
        <p:nvSpPr>
          <p:cNvPr id="60" name="מלבן 59"/>
          <p:cNvSpPr/>
          <p:nvPr/>
        </p:nvSpPr>
        <p:spPr>
          <a:xfrm>
            <a:off x="2213314" y="1137706"/>
            <a:ext cx="713544" cy="523220"/>
          </a:xfrm>
          <a:prstGeom prst="rect">
            <a:avLst/>
          </a:prstGeom>
        </p:spPr>
        <p:txBody>
          <a:bodyPr wrap="square">
            <a:spAutoFit/>
          </a:bodyPr>
          <a:lstStyle/>
          <a:p>
            <a:r>
              <a:rPr lang="he-IL" sz="1400" dirty="0" smtClean="0"/>
              <a:t>רצון ובחירה</a:t>
            </a:r>
            <a:endParaRPr lang="he-IL" sz="1400" dirty="0"/>
          </a:p>
        </p:txBody>
      </p:sp>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sp>
        <p:nvSpPr>
          <p:cNvPr id="66" name="אליפסה 65"/>
          <p:cNvSpPr/>
          <p:nvPr/>
        </p:nvSpPr>
        <p:spPr>
          <a:xfrm>
            <a:off x="676004" y="247315"/>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pic>
        <p:nvPicPr>
          <p:cNvPr id="69" name="תמונה 6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Tree>
    <p:extLst>
      <p:ext uri="{BB962C8B-B14F-4D97-AF65-F5344CB8AC3E}">
        <p14:creationId xmlns:p14="http://schemas.microsoft.com/office/powerpoint/2010/main" val="35649306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7" y="5891945"/>
            <a:ext cx="4071435" cy="931341"/>
          </a:xfrm>
          <a:prstGeom prst="rect">
            <a:avLst/>
          </a:prstGeom>
        </p:spPr>
      </p:pic>
      <p:pic>
        <p:nvPicPr>
          <p:cNvPr id="1028" name="Picture 4" descr="מחקרים שפורסמו על ידי משרד הרווחה והביטחון החברתי | גראטוס">
            <a:extLst>
              <a:ext uri="{FF2B5EF4-FFF2-40B4-BE49-F238E27FC236}">
                <a16:creationId xmlns:a16="http://schemas.microsoft.com/office/drawing/2014/main" id="{A3038A59-2DEF-9A8D-50E0-FAC7032F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549" y="5851305"/>
            <a:ext cx="4210054" cy="1000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tvisor">
            <a:extLst>
              <a:ext uri="{FF2B5EF4-FFF2-40B4-BE49-F238E27FC236}">
                <a16:creationId xmlns:a16="http://schemas.microsoft.com/office/drawing/2014/main" id="{8C89414B-2483-4C74-D208-22F1457E17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1194" y="5824467"/>
            <a:ext cx="1188215" cy="1188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8109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34462" y="3013931"/>
            <a:ext cx="12406511" cy="3235437"/>
          </a:xfrm>
          <a:prstGeom prst="rect">
            <a:avLst/>
          </a:prstGeom>
        </p:spPr>
        <p:txBody>
          <a:bodyPr wrap="square">
            <a:spAutoFit/>
          </a:bodyPr>
          <a:lstStyle/>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בניית תכנית אישית מבוססת נתונים, זקנה פעילה ומניעת התדרדרות </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5136827" y="51519"/>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250831" y="408430"/>
            <a:ext cx="5556331"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המשימה- ביזור 2.0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Tree>
    <p:extLst>
      <p:ext uri="{BB962C8B-B14F-4D97-AF65-F5344CB8AC3E}">
        <p14:creationId xmlns:p14="http://schemas.microsoft.com/office/powerpoint/2010/main" val="1445686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Tree>
    <p:extLst>
      <p:ext uri="{BB962C8B-B14F-4D97-AF65-F5344CB8AC3E}">
        <p14:creationId xmlns:p14="http://schemas.microsoft.com/office/powerpoint/2010/main" val="211850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B65CF1-7579-A7B5-CE04-CEDD31660D04}"/>
              </a:ext>
            </a:extLst>
          </p:cNvPr>
          <p:cNvPicPr>
            <a:picLocks noChangeAspect="1"/>
          </p:cNvPicPr>
          <p:nvPr/>
        </p:nvPicPr>
        <p:blipFill>
          <a:blip r:embed="rId3"/>
          <a:stretch>
            <a:fillRect/>
          </a:stretch>
        </p:blipFill>
        <p:spPr>
          <a:xfrm>
            <a:off x="0" y="368139"/>
            <a:ext cx="12192000" cy="6121722"/>
          </a:xfrm>
          <a:prstGeom prst="rect">
            <a:avLst/>
          </a:prstGeom>
        </p:spPr>
      </p:pic>
    </p:spTree>
    <p:extLst>
      <p:ext uri="{BB962C8B-B14F-4D97-AF65-F5344CB8AC3E}">
        <p14:creationId xmlns:p14="http://schemas.microsoft.com/office/powerpoint/2010/main" val="2989547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260495" y="1214468"/>
            <a:ext cx="4566496"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פעילות גופנית, זוגיות והיכרויות, מפגשים חברתיים,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שישה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38609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Tree>
    <p:extLst>
      <p:ext uri="{BB962C8B-B14F-4D97-AF65-F5344CB8AC3E}">
        <p14:creationId xmlns:p14="http://schemas.microsoft.com/office/powerpoint/2010/main" val="1393280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Tree>
    <p:extLst>
      <p:ext uri="{BB962C8B-B14F-4D97-AF65-F5344CB8AC3E}">
        <p14:creationId xmlns:p14="http://schemas.microsoft.com/office/powerpoint/2010/main" val="1126823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4" name="TextBox 3">
            <a:extLst>
              <a:ext uri="{FF2B5EF4-FFF2-40B4-BE49-F238E27FC236}">
                <a16:creationId xmlns:a16="http://schemas.microsoft.com/office/drawing/2014/main" id="{57E93C5B-474E-C16C-9E04-7B918D537219}"/>
              </a:ext>
            </a:extLst>
          </p:cNvPr>
          <p:cNvSpPr txBox="1"/>
          <p:nvPr/>
        </p:nvSpPr>
        <p:spPr>
          <a:xfrm>
            <a:off x="580505" y="1678723"/>
            <a:ext cx="11030989" cy="4196020"/>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מי קהל היעד בזקנה?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ההתאמות הנדרשות?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שירותים מכניסים לסל? מה לא מכניסים?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גבולות גזרה מרחיבים או צרים?</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תיעדוף נותנים?</a:t>
            </a:r>
            <a:r>
              <a:rPr lang="he-IL" b="1"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תפקיד ואחריות הספקים? </a:t>
            </a:r>
          </a:p>
          <a:p>
            <a:pPr marL="342891" indent="-342891">
              <a:lnSpc>
                <a:spcPct val="150000"/>
              </a:lnSpc>
              <a:buFont typeface="+mj-lt"/>
              <a:buAutoNum type="arabicPeriod"/>
            </a:pPr>
            <a:endParaRPr lang="he-IL" b="1"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b="1" dirty="0">
              <a:latin typeface="Calibri" panose="020F0502020204030204" pitchFamily="34" charset="0"/>
              <a:ea typeface="Calibri" panose="020F0502020204030204" pitchFamily="34" charset="0"/>
              <a:cs typeface="Arial" panose="020B0604020202020204" pitchFamily="34" charset="0"/>
            </a:endParaRPr>
          </a:p>
        </p:txBody>
      </p:sp>
      <p:sp>
        <p:nvSpPr>
          <p:cNvPr id="6" name="Text Placeholder 7">
            <a:extLst>
              <a:ext uri="{FF2B5EF4-FFF2-40B4-BE49-F238E27FC236}">
                <a16:creationId xmlns:a16="http://schemas.microsoft.com/office/drawing/2014/main" id="{6A3A5FF3-B912-8935-CA01-C95668234EEA}"/>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p>
          <a:p>
            <a:pPr marL="0" indent="0" algn="ctr">
              <a:buNone/>
            </a:pPr>
            <a:r>
              <a:rPr lang="he-IL" b="1" dirty="0">
                <a:latin typeface="Calibri" panose="020F0502020204030204" pitchFamily="34" charset="0"/>
                <a:cs typeface="Calibri" panose="020F0502020204030204" pitchFamily="34" charset="0"/>
              </a:rPr>
              <a:t>סל אישי מותאם לאזרח הוותיק</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58034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2" name="TextBox 1">
            <a:extLst>
              <a:ext uri="{FF2B5EF4-FFF2-40B4-BE49-F238E27FC236}">
                <a16:creationId xmlns:a16="http://schemas.microsoft.com/office/drawing/2014/main" id="{A14D9FB6-512F-B121-C56A-914684827662}"/>
              </a:ext>
            </a:extLst>
          </p:cNvPr>
          <p:cNvSpPr txBox="1"/>
          <p:nvPr/>
        </p:nvSpPr>
        <p:spPr>
          <a:xfrm>
            <a:off x="580505" y="1605070"/>
            <a:ext cx="11030989" cy="4096634"/>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מהי הפלטפורמה הקהילתית התומכת?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מנגישים ללקוח? מי הגורם שנמצא מול הלקוח ומחבר אותו לשירותים?</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מקורות המידע לשירותים בקהילה, לצרכי הלקוח ולרצונותיו?</a:t>
            </a:r>
          </a:p>
          <a:p>
            <a:pPr algn="r" rtl="1">
              <a:lnSpc>
                <a:spcPct val="150000"/>
              </a:lnSpc>
              <a:spcAft>
                <a:spcPts val="800"/>
              </a:spcAft>
            </a:pPr>
            <a:r>
              <a:rPr lang="he-IL" b="1" dirty="0">
                <a:latin typeface="Calibri" panose="020F0502020204030204" pitchFamily="34" charset="0"/>
                <a:ea typeface="Calibri" panose="020F0502020204030204" pitchFamily="34" charset="0"/>
                <a:cs typeface="Arial" panose="020B0604020202020204" pitchFamily="34" charset="0"/>
              </a:rPr>
              <a:t>7.  איך מודדים את איכות השירות? </a:t>
            </a:r>
            <a:r>
              <a:rPr lang="he-IL" dirty="0">
                <a:latin typeface="Calibri" panose="020F0502020204030204" pitchFamily="34" charset="0"/>
                <a:ea typeface="Calibri" panose="020F0502020204030204" pitchFamily="34" charset="0"/>
                <a:cs typeface="Arial" panose="020B0604020202020204" pitchFamily="34" charset="0"/>
              </a:rPr>
              <a:t>– עלתה שאלה לגבי איכות השירות והיחס לזקן. שתי הצעות בעניין זה:</a:t>
            </a:r>
          </a:p>
          <a:p>
            <a:pPr marL="285744" indent="-285744" algn="r" rtl="1">
              <a:lnSpc>
                <a:spcPct val="150000"/>
              </a:lnSpc>
              <a:spcAft>
                <a:spcPts val="800"/>
              </a:spcAft>
              <a:buFontTx/>
              <a:buChar char="-"/>
            </a:pPr>
            <a:r>
              <a:rPr lang="he-IL" dirty="0">
                <a:latin typeface="Calibri" panose="020F0502020204030204" pitchFamily="34" charset="0"/>
                <a:ea typeface="Calibri" panose="020F0502020204030204" pitchFamily="34" charset="0"/>
                <a:cs typeface="Arial" panose="020B0604020202020204" pitchFamily="34" charset="0"/>
              </a:rPr>
              <a:t>חתימה על </a:t>
            </a:r>
            <a:r>
              <a:rPr lang="he-IL" b="1" dirty="0">
                <a:latin typeface="Calibri" panose="020F0502020204030204" pitchFamily="34" charset="0"/>
                <a:ea typeface="Calibri" panose="020F0502020204030204" pitchFamily="34" charset="0"/>
                <a:cs typeface="Arial" panose="020B0604020202020204" pitchFamily="34" charset="0"/>
              </a:rPr>
              <a:t>אמנת שירות </a:t>
            </a:r>
            <a:r>
              <a:rPr lang="he-IL" dirty="0">
                <a:latin typeface="Calibri" panose="020F0502020204030204" pitchFamily="34" charset="0"/>
                <a:ea typeface="Calibri" panose="020F0502020204030204" pitchFamily="34" charset="0"/>
                <a:cs typeface="Arial" panose="020B0604020202020204" pitchFamily="34" charset="0"/>
              </a:rPr>
              <a:t>כחלק מההתקשרות עם נותן השירותים. </a:t>
            </a:r>
          </a:p>
          <a:p>
            <a:pPr marL="285744" indent="-285744" algn="r" rtl="1">
              <a:lnSpc>
                <a:spcPct val="150000"/>
              </a:lnSpc>
              <a:spcAft>
                <a:spcPts val="800"/>
              </a:spcAft>
              <a:buFontTx/>
              <a:buChar char="-"/>
            </a:pPr>
            <a:r>
              <a:rPr lang="he-IL" b="1" dirty="0">
                <a:latin typeface="Calibri" panose="020F0502020204030204" pitchFamily="34" charset="0"/>
                <a:ea typeface="Calibri" panose="020F0502020204030204" pitchFamily="34" charset="0"/>
                <a:cs typeface="Arial" panose="020B0604020202020204" pitchFamily="34" charset="0"/>
              </a:rPr>
              <a:t>משובים וביקורות </a:t>
            </a:r>
            <a:r>
              <a:rPr lang="he-IL" dirty="0">
                <a:latin typeface="Calibri" panose="020F0502020204030204" pitchFamily="34" charset="0"/>
                <a:ea typeface="Calibri" panose="020F0502020204030204" pitchFamily="34" charset="0"/>
                <a:cs typeface="Arial" panose="020B0604020202020204" pitchFamily="34" charset="0"/>
              </a:rPr>
              <a:t>– לאחר קבלת השירות יוכל האדם למלא משוב על התאמת השירות לצרכיו</a:t>
            </a:r>
          </a:p>
          <a:p>
            <a:pPr algn="r" rtl="1">
              <a:lnSpc>
                <a:spcPct val="150000"/>
              </a:lnSpc>
              <a:spcAft>
                <a:spcPts val="800"/>
              </a:spcAft>
            </a:pPr>
            <a:endParaRPr lang="en-IL" dirty="0">
              <a:latin typeface="Calibri" panose="020F0502020204030204" pitchFamily="34" charset="0"/>
              <a:ea typeface="Calibri" panose="020F0502020204030204" pitchFamily="34" charset="0"/>
              <a:cs typeface="Arial" panose="020B0604020202020204" pitchFamily="34" charset="0"/>
            </a:endParaRPr>
          </a:p>
        </p:txBody>
      </p:sp>
      <p:sp>
        <p:nvSpPr>
          <p:cNvPr id="3" name="Text Placeholder 7">
            <a:extLst>
              <a:ext uri="{FF2B5EF4-FFF2-40B4-BE49-F238E27FC236}">
                <a16:creationId xmlns:a16="http://schemas.microsoft.com/office/drawing/2014/main" id="{F1FADFFC-DBB8-5330-5261-A673CB1BE6E4}"/>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369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פלטפורמת</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a:t>
            </a:r>
            <a:r>
              <a:rPr kumimoji="0" lang="en-US"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AI</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לסיוע לבן משפחה מטפל</a:t>
            </a:r>
            <a:endParaRPr kumimoji="0" lang="he-IL"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6"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endParaRPr lang="he-IL" dirty="0">
              <a:solidFill>
                <a:srgbClr val="13235F"/>
              </a:solidFill>
              <a:latin typeface="Calibri" panose="020F0502020204030204" pitchFamily="34" charset="0"/>
              <a:cs typeface="Calibri" panose="020F0502020204030204" pitchFamily="34" charset="0"/>
            </a:endParaRPr>
          </a:p>
        </p:txBody>
      </p:sp>
      <p:sp>
        <p:nvSpPr>
          <p:cNvPr id="3" name="מלבן 2"/>
          <p:cNvSpPr/>
          <p:nvPr/>
        </p:nvSpPr>
        <p:spPr>
          <a:xfrm>
            <a:off x="2010723" y="1288972"/>
            <a:ext cx="9025662" cy="3847207"/>
          </a:xfrm>
          <a:prstGeom prst="rect">
            <a:avLst/>
          </a:prstGeom>
        </p:spPr>
        <p:txBody>
          <a:bodyPr wrap="square">
            <a:spAutoFit/>
          </a:bodyPr>
          <a:lstStyle/>
          <a:p>
            <a:r>
              <a:rPr lang="he-IL" sz="2800" dirty="0" smtClean="0">
                <a:solidFill>
                  <a:srgbClr val="000000"/>
                </a:solidFill>
                <a:latin typeface="Calibri-Light"/>
              </a:rPr>
              <a:t>  </a:t>
            </a:r>
            <a:r>
              <a:rPr lang="he-IL" sz="2800" b="1" dirty="0" smtClean="0">
                <a:solidFill>
                  <a:srgbClr val="000000"/>
                </a:solidFill>
                <a:latin typeface="Calibri-Light"/>
              </a:rPr>
              <a:t>פלטפורמת </a:t>
            </a:r>
            <a:r>
              <a:rPr lang="he-IL" sz="2800" b="1" dirty="0">
                <a:solidFill>
                  <a:srgbClr val="000000"/>
                </a:solidFill>
                <a:latin typeface="Calibri-Light"/>
              </a:rPr>
              <a:t>ניווט </a:t>
            </a:r>
            <a:r>
              <a:rPr lang="en-US" sz="2800" b="1" dirty="0" smtClean="0">
                <a:solidFill>
                  <a:srgbClr val="000000"/>
                </a:solidFill>
                <a:latin typeface="Calibri-Light"/>
              </a:rPr>
              <a:t>Knowledge Navigation</a:t>
            </a:r>
            <a:endParaRPr lang="en-US" sz="2800" b="1" dirty="0">
              <a:solidFill>
                <a:srgbClr val="000000"/>
              </a:solidFill>
              <a:latin typeface="Calibri-Light"/>
            </a:endParaRPr>
          </a:p>
          <a:p>
            <a:pPr marL="285750" indent="-285750">
              <a:lnSpc>
                <a:spcPct val="150000"/>
              </a:lnSpc>
              <a:buFont typeface="Arial" panose="020B0604020202020204" pitchFamily="34" charset="0"/>
              <a:buChar char="•"/>
            </a:pPr>
            <a:r>
              <a:rPr lang="he-IL" b="1" dirty="0" smtClean="0">
                <a:solidFill>
                  <a:srgbClr val="000000"/>
                </a:solidFill>
                <a:latin typeface="Calibri-Bold"/>
              </a:rPr>
              <a:t>מנגנון </a:t>
            </a:r>
            <a:r>
              <a:rPr lang="he-IL" b="1" dirty="0">
                <a:solidFill>
                  <a:srgbClr val="000000"/>
                </a:solidFill>
                <a:latin typeface="Calibri-Bold"/>
              </a:rPr>
              <a:t>זיהוי צרכים </a:t>
            </a:r>
            <a:r>
              <a:rPr lang="he-IL" dirty="0" smtClean="0">
                <a:solidFill>
                  <a:srgbClr val="7F7F7F"/>
                </a:solidFill>
                <a:latin typeface="Calibri" panose="020F0502020204030204" pitchFamily="34" charset="0"/>
                <a:cs typeface="Calibri" panose="020F0502020204030204" pitchFamily="34" charset="0"/>
              </a:rPr>
              <a:t>(שאלונים</a:t>
            </a:r>
            <a:r>
              <a:rPr lang="he-IL" dirty="0">
                <a:solidFill>
                  <a:srgbClr val="7F7F7F"/>
                </a:solidFill>
                <a:latin typeface="Calibri" panose="020F0502020204030204" pitchFamily="34" charset="0"/>
                <a:cs typeface="Calibri" panose="020F0502020204030204" pitchFamily="34" charset="0"/>
              </a:rPr>
              <a:t>, </a:t>
            </a:r>
            <a:r>
              <a:rPr lang="he-IL" dirty="0" err="1">
                <a:solidFill>
                  <a:srgbClr val="7F7F7F"/>
                </a:solidFill>
                <a:latin typeface="Calibri" panose="020F0502020204030204" pitchFamily="34" charset="0"/>
                <a:cs typeface="Calibri" panose="020F0502020204030204" pitchFamily="34" charset="0"/>
              </a:rPr>
              <a:t>בוט</a:t>
            </a:r>
            <a:r>
              <a:rPr lang="he-IL" dirty="0">
                <a:solidFill>
                  <a:srgbClr val="7F7F7F"/>
                </a:solidFill>
                <a:latin typeface="Calibri" panose="020F0502020204030204" pitchFamily="34" charset="0"/>
                <a:cs typeface="Calibri" panose="020F0502020204030204" pitchFamily="34" charset="0"/>
              </a:rPr>
              <a:t>, ייעוץ אונליין, ייעוץ במפגש</a:t>
            </a:r>
            <a:r>
              <a:rPr lang="he-IL" dirty="0" smtClean="0">
                <a:solidFill>
                  <a:srgbClr val="7F7F7F"/>
                </a:solidFill>
                <a:latin typeface="Calibri" panose="020F0502020204030204" pitchFamily="34" charset="0"/>
                <a:cs typeface="Calibri" panose="020F0502020204030204" pitchFamily="34" charset="0"/>
              </a:rPr>
              <a:t>...)</a:t>
            </a:r>
            <a:endParaRPr lang="he-IL" sz="2800" dirty="0" smtClean="0">
              <a:solidFill>
                <a:srgbClr val="000000"/>
              </a:solidFill>
              <a:latin typeface="Calibri-Light"/>
            </a:endParaRPr>
          </a:p>
          <a:p>
            <a:pPr marL="285750" indent="-285750">
              <a:lnSpc>
                <a:spcPct val="150000"/>
              </a:lnSpc>
              <a:buFont typeface="Arial" panose="020B0604020202020204" pitchFamily="34" charset="0"/>
              <a:buChar char="•"/>
            </a:pPr>
            <a:r>
              <a:rPr lang="he-IL" dirty="0" smtClean="0">
                <a:solidFill>
                  <a:srgbClr val="000000"/>
                </a:solidFill>
                <a:latin typeface="Calibri" panose="020F0502020204030204" pitchFamily="34" charset="0"/>
                <a:cs typeface="Calibri" panose="020F0502020204030204" pitchFamily="34" charset="0"/>
              </a:rPr>
              <a:t>בניית </a:t>
            </a:r>
            <a:r>
              <a:rPr lang="he-IL" b="1" dirty="0">
                <a:solidFill>
                  <a:srgbClr val="000000"/>
                </a:solidFill>
                <a:latin typeface="Calibri-Bold"/>
                <a:cs typeface="Calibri" panose="020F0502020204030204" pitchFamily="34" charset="0"/>
              </a:rPr>
              <a:t>מסלולי טיפול מותאמים אישית </a:t>
            </a:r>
            <a:r>
              <a:rPr lang="he-IL" dirty="0">
                <a:solidFill>
                  <a:srgbClr val="000000"/>
                </a:solidFill>
                <a:latin typeface="Calibri" panose="020F0502020204030204" pitchFamily="34" charset="0"/>
                <a:cs typeface="Calibri" panose="020F0502020204030204" pitchFamily="34" charset="0"/>
              </a:rPr>
              <a:t>המספקים תמונה כוללת, </a:t>
            </a:r>
            <a:r>
              <a:rPr lang="he-IL" dirty="0" smtClean="0">
                <a:solidFill>
                  <a:srgbClr val="000000"/>
                </a:solidFill>
                <a:latin typeface="Calibri" panose="020F0502020204030204" pitchFamily="34" charset="0"/>
                <a:cs typeface="Calibri" panose="020F0502020204030204" pitchFamily="34" charset="0"/>
              </a:rPr>
              <a:t>מקיפה ומתמשכת</a:t>
            </a:r>
            <a:r>
              <a:rPr lang="he-IL" dirty="0">
                <a:solidFill>
                  <a:srgbClr val="000000"/>
                </a:solidFill>
                <a:latin typeface="Calibri" panose="020F0502020204030204" pitchFamily="34" charset="0"/>
                <a:cs typeface="Calibri" panose="020F0502020204030204" pitchFamily="34" charset="0"/>
              </a:rPr>
              <a:t>, לאו דווקא </a:t>
            </a:r>
            <a:r>
              <a:rPr lang="he-IL" dirty="0" smtClean="0">
                <a:solidFill>
                  <a:srgbClr val="000000"/>
                </a:solidFill>
                <a:latin typeface="Calibri" panose="020F0502020204030204" pitchFamily="34" charset="0"/>
                <a:cs typeface="Calibri" panose="020F0502020204030204" pitchFamily="34" charset="0"/>
              </a:rPr>
              <a:t>רפואית</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רישום אישי ושיתוף </a:t>
            </a:r>
            <a:r>
              <a:rPr lang="he-IL" dirty="0">
                <a:solidFill>
                  <a:srgbClr val="000000"/>
                </a:solidFill>
                <a:latin typeface="Calibri" panose="020F0502020204030204" pitchFamily="34" charset="0"/>
                <a:cs typeface="Calibri" panose="020F0502020204030204" pitchFamily="34" charset="0"/>
              </a:rPr>
              <a:t>עם מטפלים נוספים ועם </a:t>
            </a:r>
            <a:r>
              <a:rPr lang="he-IL" dirty="0" smtClean="0">
                <a:solidFill>
                  <a:srgbClr val="000000"/>
                </a:solidFill>
                <a:latin typeface="Calibri" panose="020F0502020204030204" pitchFamily="34" charset="0"/>
                <a:cs typeface="Calibri" panose="020F0502020204030204" pitchFamily="34" charset="0"/>
              </a:rPr>
              <a:t>המטופל</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מאגר מידע מותאם אישית</a:t>
            </a:r>
            <a:r>
              <a:rPr lang="he-IL" dirty="0">
                <a:solidFill>
                  <a:srgbClr val="000000"/>
                </a:solidFill>
                <a:latin typeface="Calibri" panose="020F0502020204030204" pitchFamily="34" charset="0"/>
                <a:cs typeface="Calibri" panose="020F0502020204030204" pitchFamily="34" charset="0"/>
              </a:rPr>
              <a:t>, הפנייה למידע באתרים נוספים </a:t>
            </a:r>
            <a:r>
              <a:rPr lang="he-IL" dirty="0" smtClean="0">
                <a:solidFill>
                  <a:srgbClr val="000000"/>
                </a:solidFill>
                <a:latin typeface="Calibri" panose="020F0502020204030204" pitchFamily="34" charset="0"/>
                <a:cs typeface="Calibri" panose="020F0502020204030204" pitchFamily="34" charset="0"/>
              </a:rPr>
              <a:t>רלוונטיים</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מעקב, תיעוד התקדמות ועדכון </a:t>
            </a:r>
            <a:r>
              <a:rPr lang="he-IL" dirty="0">
                <a:solidFill>
                  <a:srgbClr val="000000"/>
                </a:solidFill>
                <a:latin typeface="Calibri" panose="020F0502020204030204" pitchFamily="34" charset="0"/>
                <a:cs typeface="Calibri" panose="020F0502020204030204" pitchFamily="34" charset="0"/>
              </a:rPr>
              <a:t>שאלון צרכים לפי </a:t>
            </a:r>
            <a:r>
              <a:rPr lang="he-IL" dirty="0" smtClean="0">
                <a:solidFill>
                  <a:srgbClr val="000000"/>
                </a:solidFill>
                <a:latin typeface="Calibri" panose="020F0502020204030204" pitchFamily="34" charset="0"/>
                <a:cs typeface="Calibri" panose="020F0502020204030204" pitchFamily="34" charset="0"/>
              </a:rPr>
              <a:t>הצורך</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הצפת מידע פרסונלית </a:t>
            </a:r>
            <a:r>
              <a:rPr lang="he-IL" dirty="0">
                <a:solidFill>
                  <a:srgbClr val="000000"/>
                </a:solidFill>
                <a:latin typeface="Calibri" panose="020F0502020204030204" pitchFamily="34" charset="0"/>
                <a:cs typeface="Calibri" panose="020F0502020204030204" pitchFamily="34" charset="0"/>
              </a:rPr>
              <a:t>מותאמת למטפל, כולל הפניה לקבוצות תמיכה</a:t>
            </a:r>
          </a:p>
          <a:p>
            <a:pPr marL="285750" indent="-285750">
              <a:lnSpc>
                <a:spcPct val="150000"/>
              </a:lnSpc>
              <a:buFont typeface="Arial" panose="020B0604020202020204" pitchFamily="34" charset="0"/>
              <a:buChar char="•"/>
            </a:pPr>
            <a:r>
              <a:rPr lang="he-IL" dirty="0" smtClean="0">
                <a:solidFill>
                  <a:srgbClr val="000000"/>
                </a:solidFill>
                <a:latin typeface="Calibri" panose="020F0502020204030204" pitchFamily="34" charset="0"/>
                <a:cs typeface="Calibri" panose="020F0502020204030204" pitchFamily="34" charset="0"/>
              </a:rPr>
              <a:t>אפשרות </a:t>
            </a:r>
            <a:r>
              <a:rPr lang="he-IL" dirty="0">
                <a:solidFill>
                  <a:srgbClr val="000000"/>
                </a:solidFill>
                <a:latin typeface="Calibri" panose="020F0502020204030204" pitchFamily="34" charset="0"/>
                <a:cs typeface="Calibri" panose="020F0502020204030204" pitchFamily="34" charset="0"/>
              </a:rPr>
              <a:t>ל</a:t>
            </a:r>
            <a:r>
              <a:rPr lang="he-IL" b="1" dirty="0">
                <a:solidFill>
                  <a:srgbClr val="000000"/>
                </a:solidFill>
                <a:latin typeface="Calibri-Bold"/>
                <a:cs typeface="Calibri" panose="020F0502020204030204" pitchFamily="34" charset="0"/>
              </a:rPr>
              <a:t>קבלת מידע ועדכונים </a:t>
            </a:r>
            <a:r>
              <a:rPr lang="he-IL" b="1" dirty="0" smtClean="0">
                <a:solidFill>
                  <a:srgbClr val="000000"/>
                </a:solidFill>
                <a:latin typeface="Calibri-Bold"/>
                <a:cs typeface="Calibri" panose="020F0502020204030204" pitchFamily="34" charset="0"/>
              </a:rPr>
              <a:t>בדחיפה</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dirty="0">
                <a:solidFill>
                  <a:srgbClr val="000000"/>
                </a:solidFill>
                <a:latin typeface="Calibri" panose="020F0502020204030204" pitchFamily="34" charset="0"/>
                <a:cs typeface="Calibri" panose="020F0502020204030204" pitchFamily="34" charset="0"/>
              </a:rPr>
              <a:t>שירות המותאם </a:t>
            </a:r>
            <a:r>
              <a:rPr lang="he-IL" b="1" dirty="0">
                <a:solidFill>
                  <a:srgbClr val="000000"/>
                </a:solidFill>
                <a:latin typeface="Calibri-Bold"/>
                <a:cs typeface="Calibri" panose="020F0502020204030204" pitchFamily="34" charset="0"/>
              </a:rPr>
              <a:t>גם לצרכי גורמי מקצוע </a:t>
            </a:r>
            <a:r>
              <a:rPr lang="he-IL" dirty="0" smtClean="0">
                <a:solidFill>
                  <a:srgbClr val="7F7F7F"/>
                </a:solidFill>
                <a:latin typeface="Calibri" panose="020F0502020204030204" pitchFamily="34" charset="0"/>
                <a:cs typeface="Calibri" panose="020F0502020204030204" pitchFamily="34" charset="0"/>
              </a:rPr>
              <a:t>(</a:t>
            </a:r>
            <a:r>
              <a:rPr lang="he-IL" dirty="0" err="1" smtClean="0">
                <a:solidFill>
                  <a:srgbClr val="7F7F7F"/>
                </a:solidFill>
                <a:latin typeface="Calibri" panose="020F0502020204030204" pitchFamily="34" charset="0"/>
                <a:cs typeface="Calibri" panose="020F0502020204030204" pitchFamily="34" charset="0"/>
              </a:rPr>
              <a:t>עו"סים</a:t>
            </a:r>
            <a:r>
              <a:rPr lang="he-IL" dirty="0">
                <a:solidFill>
                  <a:srgbClr val="7F7F7F"/>
                </a:solidFill>
                <a:latin typeface="Calibri" panose="020F0502020204030204" pitchFamily="34" charset="0"/>
                <a:cs typeface="Calibri" panose="020F0502020204030204" pitchFamily="34" charset="0"/>
              </a:rPr>
              <a:t>, צוותי </a:t>
            </a:r>
            <a:r>
              <a:rPr lang="he-IL" dirty="0" smtClean="0">
                <a:solidFill>
                  <a:srgbClr val="7F7F7F"/>
                </a:solidFill>
                <a:latin typeface="Calibri" panose="020F0502020204030204" pitchFamily="34" charset="0"/>
                <a:cs typeface="Calibri" panose="020F0502020204030204" pitchFamily="34" charset="0"/>
              </a:rPr>
              <a:t>רפואה) </a:t>
            </a:r>
            <a:r>
              <a:rPr lang="he-IL" dirty="0" smtClean="0">
                <a:solidFill>
                  <a:srgbClr val="000000"/>
                </a:solidFill>
                <a:latin typeface="Calibri" panose="020F0502020204030204" pitchFamily="34" charset="0"/>
                <a:cs typeface="Calibri" panose="020F0502020204030204" pitchFamily="34" charset="0"/>
              </a:rPr>
              <a:t>– </a:t>
            </a:r>
            <a:r>
              <a:rPr lang="he-IL" dirty="0">
                <a:solidFill>
                  <a:srgbClr val="000000"/>
                </a:solidFill>
                <a:latin typeface="Calibri" panose="020F0502020204030204" pitchFamily="34" charset="0"/>
                <a:cs typeface="Calibri" panose="020F0502020204030204" pitchFamily="34" charset="0"/>
              </a:rPr>
              <a:t>כצרכני </a:t>
            </a:r>
            <a:r>
              <a:rPr lang="he-IL" dirty="0" smtClean="0">
                <a:solidFill>
                  <a:srgbClr val="000000"/>
                </a:solidFill>
                <a:latin typeface="Calibri" panose="020F0502020204030204" pitchFamily="34" charset="0"/>
                <a:cs typeface="Calibri" panose="020F0502020204030204" pitchFamily="34" charset="0"/>
              </a:rPr>
              <a:t>מידע וכגורמים </a:t>
            </a:r>
            <a:r>
              <a:rPr lang="he-IL" dirty="0">
                <a:solidFill>
                  <a:srgbClr val="000000"/>
                </a:solidFill>
                <a:latin typeface="Calibri" panose="020F0502020204030204" pitchFamily="34" charset="0"/>
                <a:cs typeface="Calibri" panose="020F0502020204030204" pitchFamily="34" charset="0"/>
              </a:rPr>
              <a:t>מסייעים</a:t>
            </a:r>
            <a:endParaRPr lang="he-IL" dirty="0"/>
          </a:p>
        </p:txBody>
      </p:sp>
    </p:spTree>
    <p:extLst>
      <p:ext uri="{BB962C8B-B14F-4D97-AF65-F5344CB8AC3E}">
        <p14:creationId xmlns:p14="http://schemas.microsoft.com/office/powerpoint/2010/main" val="34687945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73106" y="651056"/>
            <a:ext cx="11313347" cy="707886"/>
          </a:xfrm>
          <a:prstGeom prst="rect">
            <a:avLst/>
          </a:prstGeom>
          <a:noFill/>
        </p:spPr>
        <p:txBody>
          <a:bodyPr wrap="square" rtlCol="1">
            <a:spAutoFit/>
          </a:bodyPr>
          <a:lstStyle/>
          <a:p>
            <a:pPr lvl="0" algn="ctr" defTabSz="457200">
              <a:defRPr/>
            </a:pPr>
            <a:r>
              <a:rPr lang="he-IL" sz="4000" b="1" dirty="0" smtClean="0">
                <a:solidFill>
                  <a:srgbClr val="0070C0"/>
                </a:solidFill>
                <a:latin typeface="Calibri" panose="020F0502020204030204" pitchFamily="34" charset="0"/>
                <a:cs typeface="Calibri" panose="020F0502020204030204" pitchFamily="34" charset="0"/>
              </a:rPr>
              <a:t>מקורות תקציביים אפשריים</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grpSp>
        <p:nvGrpSpPr>
          <p:cNvPr id="20" name="קבוצה 19"/>
          <p:cNvGrpSpPr/>
          <p:nvPr/>
        </p:nvGrpSpPr>
        <p:grpSpPr>
          <a:xfrm>
            <a:off x="869924" y="1207463"/>
            <a:ext cx="1206364" cy="1207204"/>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1636479" y="1014059"/>
            <a:ext cx="1218922" cy="112787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4" name="קבוצה 23"/>
          <p:cNvGrpSpPr/>
          <p:nvPr/>
        </p:nvGrpSpPr>
        <p:grpSpPr>
          <a:xfrm>
            <a:off x="869923" y="609712"/>
            <a:ext cx="2610101" cy="2474379"/>
            <a:chOff x="4003932" y="140625"/>
            <a:chExt cx="3347849" cy="3401935"/>
          </a:xfrm>
        </p:grpSpPr>
        <p:sp>
          <p:nvSpPr>
            <p:cNvPr id="25" name="אליפסה 24"/>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6"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7" name="TextBox 26"/>
          <p:cNvSpPr txBox="1"/>
          <p:nvPr/>
        </p:nvSpPr>
        <p:spPr>
          <a:xfrm>
            <a:off x="155575" y="1417214"/>
            <a:ext cx="11791960" cy="3785652"/>
          </a:xfrm>
          <a:prstGeom prst="rect">
            <a:avLst/>
          </a:prstGeom>
          <a:noFill/>
        </p:spPr>
        <p:txBody>
          <a:bodyPr wrap="square" rtlCol="1">
            <a:spAutoFit/>
          </a:bodyPr>
          <a:lstStyle/>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הורדת התיווך בחברות הסיעוד לבני משפחה </a:t>
            </a:r>
            <a:r>
              <a:rPr lang="he-IL" sz="2000" dirty="0" smtClean="0">
                <a:latin typeface="Calibri" panose="020F0502020204030204" pitchFamily="34" charset="0"/>
                <a:cs typeface="Calibri" panose="020F0502020204030204" pitchFamily="34" charset="0"/>
              </a:rPr>
              <a:t>מטפלים בשכר</a:t>
            </a:r>
            <a:endParaRPr lang="he-IL" sz="2000" dirty="0">
              <a:latin typeface="Calibri" panose="020F0502020204030204" pitchFamily="34" charset="0"/>
              <a:cs typeface="Calibri" panose="020F0502020204030204" pitchFamily="34" charset="0"/>
            </a:endParaRPr>
          </a:p>
          <a:p>
            <a:pPr marL="571500" lvl="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ירידה באחוז הגמלה שניתן למשוך בכסף (מ-80% ל-60%) ושימוש ביתרות לזכאים</a:t>
            </a:r>
          </a:p>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עודפים שלא נמשכים כיום מביטוח לאומי בגמלת הסיעוד – 6% מתוך 14 מיליארד ₪</a:t>
            </a:r>
          </a:p>
          <a:p>
            <a:pPr marL="57150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2 </a:t>
            </a:r>
            <a:r>
              <a:rPr lang="he-IL" sz="2000" dirty="0">
                <a:latin typeface="Calibri" panose="020F0502020204030204" pitchFamily="34" charset="0"/>
                <a:cs typeface="Calibri" panose="020F0502020204030204" pitchFamily="34" charset="0"/>
              </a:rPr>
              <a:t>שעות סיעוד מכל זכאי באופן רוחבי</a:t>
            </a:r>
          </a:p>
          <a:p>
            <a:pPr marL="571500" lvl="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הפחתת האפשרות לבני משפחה מטפלים בתשלום</a:t>
            </a:r>
          </a:p>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תקצוב </a:t>
            </a:r>
            <a:r>
              <a:rPr lang="he-IL" sz="2000" dirty="0" smtClean="0">
                <a:latin typeface="Calibri" panose="020F0502020204030204" pitchFamily="34" charset="0"/>
                <a:cs typeface="Calibri" panose="020F0502020204030204" pitchFamily="34" charset="0"/>
              </a:rPr>
              <a:t>ייעודי</a:t>
            </a:r>
            <a:endParaRPr lang="he-IL" sz="2000" dirty="0">
              <a:latin typeface="Calibri" panose="020F0502020204030204" pitchFamily="34" charset="0"/>
              <a:cs typeface="Calibri" panose="020F0502020204030204" pitchFamily="34" charset="0"/>
            </a:endParaRPr>
          </a:p>
        </p:txBody>
      </p:sp>
      <p:pic>
        <p:nvPicPr>
          <p:cNvPr id="14" name="תמונה 13"/>
          <p:cNvPicPr>
            <a:picLocks noChangeAspect="1"/>
          </p:cNvPicPr>
          <p:nvPr/>
        </p:nvPicPr>
        <p:blipFill>
          <a:blip r:embed="rId2"/>
          <a:stretch>
            <a:fillRect/>
          </a:stretch>
        </p:blipFill>
        <p:spPr>
          <a:xfrm>
            <a:off x="10064496" y="5906733"/>
            <a:ext cx="1975104" cy="885420"/>
          </a:xfrm>
          <a:prstGeom prst="rect">
            <a:avLst/>
          </a:prstGeom>
        </p:spPr>
      </p:pic>
    </p:spTree>
    <p:extLst>
      <p:ext uri="{BB962C8B-B14F-4D97-AF65-F5344CB8AC3E}">
        <p14:creationId xmlns:p14="http://schemas.microsoft.com/office/powerpoint/2010/main" val="87068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1943</TotalTime>
  <Words>2505</Words>
  <Application>Microsoft Office PowerPoint</Application>
  <PresentationFormat>מסך רחב</PresentationFormat>
  <Paragraphs>408</Paragraphs>
  <Slides>43</Slides>
  <Notes>15</Notes>
  <HiddenSlides>7</HiddenSlides>
  <MMClips>0</MMClips>
  <ScaleCrop>false</ScaleCrop>
  <HeadingPairs>
    <vt:vector size="6" baseType="variant">
      <vt:variant>
        <vt:lpstr>גופנים בשימוש</vt:lpstr>
      </vt:variant>
      <vt:variant>
        <vt:i4>22</vt:i4>
      </vt:variant>
      <vt:variant>
        <vt:lpstr>ערכת נושא</vt:lpstr>
      </vt:variant>
      <vt:variant>
        <vt:i4>3</vt:i4>
      </vt:variant>
      <vt:variant>
        <vt:lpstr>כותרות שקופיות</vt:lpstr>
      </vt:variant>
      <vt:variant>
        <vt:i4>43</vt:i4>
      </vt:variant>
    </vt:vector>
  </HeadingPairs>
  <TitlesOfParts>
    <vt:vector size="68" baseType="lpstr">
      <vt:lpstr>Arial</vt:lpstr>
      <vt:lpstr>Assistant ExtraBold</vt:lpstr>
      <vt:lpstr>Calibri</vt:lpstr>
      <vt:lpstr>Calibri Light</vt:lpstr>
      <vt:lpstr>Calibri-Bold</vt:lpstr>
      <vt:lpstr>Calibri-Light</vt:lpstr>
      <vt:lpstr>Century Gothic</vt:lpstr>
      <vt:lpstr>Consolas</vt:lpstr>
      <vt:lpstr>David</vt:lpstr>
      <vt:lpstr>Gisha</vt:lpstr>
      <vt:lpstr>Gotham Book</vt:lpstr>
      <vt:lpstr>Guttman Kav</vt:lpstr>
      <vt:lpstr>Gveret Levin AlefAlefAlef</vt:lpstr>
      <vt:lpstr>Helvetica Neue</vt:lpstr>
      <vt:lpstr>Helvetica Neue Medium</vt:lpstr>
      <vt:lpstr>Montserrat</vt:lpstr>
      <vt:lpstr>Open Sans</vt:lpstr>
      <vt:lpstr>Segoe UI</vt:lpstr>
      <vt:lpstr>Tahoma</vt:lpstr>
      <vt:lpstr>Times New Roman</vt:lpstr>
      <vt:lpstr>Varela Round</vt:lpstr>
      <vt:lpstr>Wingdings</vt:lpstr>
      <vt:lpstr>ערכת נושא Office</vt:lpstr>
      <vt:lpstr>Showeet theme</vt:lpstr>
      <vt:lpstr>1_ערכת נושא Office</vt:lpstr>
      <vt:lpstr>מצגת של PowerPoint‏</vt:lpstr>
      <vt:lpstr>מצגת של PowerPoint‏</vt:lpstr>
      <vt:lpstr>מצגת של PowerPoint‏</vt:lpstr>
      <vt:lpstr>מצגת של PowerPoint‏</vt:lpstr>
      <vt:lpstr>מצגת של PowerPoint‏</vt:lpstr>
      <vt:lpstr>מספר ושיעור זכאי גמלת סיעוד לפי שנים </vt:lpstr>
      <vt:lpstr>השפעות רפורמת 2018</vt:lpstr>
      <vt:lpstr>גמלת סיעוד 2018-2022</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קהילות תומכות שייכות </vt:lpstr>
      <vt:lpstr>מצגת של PowerPoint‏</vt:lpstr>
      <vt:lpstr>מצגת של PowerPoint‏</vt:lpstr>
      <vt:lpstr>מצגת של PowerPoint‏</vt:lpstr>
      <vt:lpstr>מצגת של PowerPoint‏</vt:lpstr>
      <vt:lpstr>ביזור דור 2.0  קהילה תומכת סל אישי  מבוסס נתונים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104</cp:revision>
  <dcterms:created xsi:type="dcterms:W3CDTF">2022-08-02T10:23:38Z</dcterms:created>
  <dcterms:modified xsi:type="dcterms:W3CDTF">2023-05-08T14:10:39Z</dcterms:modified>
</cp:coreProperties>
</file>