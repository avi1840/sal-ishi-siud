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5"/>
    <p:sldMasterId id="2147483648" r:id="rId6"/>
    <p:sldMasterId id="2147483660" r:id="rId7"/>
    <p:sldMasterId id="2147483672" r:id="rId8"/>
  </p:sldMasterIdLst>
  <p:notesMasterIdLst>
    <p:notesMasterId r:id="rId16"/>
  </p:notesMasterIdLst>
  <p:sldIdLst>
    <p:sldId id="256" r:id="rId9"/>
    <p:sldId id="260" r:id="rId10"/>
    <p:sldId id="262" r:id="rId11"/>
    <p:sldId id="267" r:id="rId12"/>
    <p:sldId id="273" r:id="rId13"/>
    <p:sldId id="278" r:id="rId14"/>
    <p:sldId id="274" r:id="rId1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F5CB44-2D80-E9FF-863C-D641970F0BEF}" name="Yael Oryan" initials="YO" userId="S::YaelOr@jdc.org::95199637-42fa-4dd1-8c6d-186e4644226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580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6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D22F599-8E46-4723-B550-11EACDCC7D57}" type="datetimeFigureOut">
              <a:rPr lang="he-IL" smtClean="0"/>
              <a:t>כ"ה/אייר/תשפ"ג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88F03C1-A421-449E-8AD7-A0AAA0A3CF5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9531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8B37C1-9ACC-42CA-A7A8-EF5E27721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F3A0B00-96F4-4867-B1AB-088216667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31D873EE-F173-40B8-A3AD-C8FA67DBDF79}"/>
              </a:ext>
            </a:extLst>
          </p:cNvPr>
          <p:cNvSpPr/>
          <p:nvPr userDrawn="1"/>
        </p:nvSpPr>
        <p:spPr>
          <a:xfrm>
            <a:off x="0" y="5453743"/>
            <a:ext cx="12192000" cy="140425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3" name="קבוצה 22">
            <a:extLst>
              <a:ext uri="{FF2B5EF4-FFF2-40B4-BE49-F238E27FC236}">
                <a16:creationId xmlns:a16="http://schemas.microsoft.com/office/drawing/2014/main" id="{7FB69330-D538-4DB6-A064-71A7A766506D}"/>
              </a:ext>
            </a:extLst>
          </p:cNvPr>
          <p:cNvGrpSpPr/>
          <p:nvPr userDrawn="1"/>
        </p:nvGrpSpPr>
        <p:grpSpPr>
          <a:xfrm>
            <a:off x="4976050" y="5904196"/>
            <a:ext cx="2239900" cy="458506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24" name="תמונה 23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65182933-5541-4707-B3BD-20356385D7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25" name="קבוצה 24">
              <a:extLst>
                <a:ext uri="{FF2B5EF4-FFF2-40B4-BE49-F238E27FC236}">
                  <a16:creationId xmlns:a16="http://schemas.microsoft.com/office/drawing/2014/main" id="{B7AE51F7-BE8E-472C-B349-B25333735FF2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26" name="קבוצה 25">
                <a:extLst>
                  <a:ext uri="{FF2B5EF4-FFF2-40B4-BE49-F238E27FC236}">
                    <a16:creationId xmlns:a16="http://schemas.microsoft.com/office/drawing/2014/main" id="{E7818357-A69E-45B6-81B8-37CCBF65E545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28" name="צורה חופשית: צורה 27">
                  <a:extLst>
                    <a:ext uri="{FF2B5EF4-FFF2-40B4-BE49-F238E27FC236}">
                      <a16:creationId xmlns:a16="http://schemas.microsoft.com/office/drawing/2014/main" id="{E5D835BA-4623-4254-8BD0-223A5C327EDB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צורה חופשית: צורה 28">
                  <a:extLst>
                    <a:ext uri="{FF2B5EF4-FFF2-40B4-BE49-F238E27FC236}">
                      <a16:creationId xmlns:a16="http://schemas.microsoft.com/office/drawing/2014/main" id="{4057E86F-C95D-4C3A-878C-1B02F30C8626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צורה חופשית: צורה 29">
                  <a:extLst>
                    <a:ext uri="{FF2B5EF4-FFF2-40B4-BE49-F238E27FC236}">
                      <a16:creationId xmlns:a16="http://schemas.microsoft.com/office/drawing/2014/main" id="{B216F7DD-BECC-41B5-BF1E-00B3AFB02301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צורה חופשית: צורה 30">
                  <a:extLst>
                    <a:ext uri="{FF2B5EF4-FFF2-40B4-BE49-F238E27FC236}">
                      <a16:creationId xmlns:a16="http://schemas.microsoft.com/office/drawing/2014/main" id="{2E674378-B311-4C3C-82B6-561A32CEF349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צורה חופשית: צורה 31">
                  <a:extLst>
                    <a:ext uri="{FF2B5EF4-FFF2-40B4-BE49-F238E27FC236}">
                      <a16:creationId xmlns:a16="http://schemas.microsoft.com/office/drawing/2014/main" id="{1E395187-2255-493C-A0CC-3BD746347BAA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צורה חופשית: צורה 32">
                  <a:extLst>
                    <a:ext uri="{FF2B5EF4-FFF2-40B4-BE49-F238E27FC236}">
                      <a16:creationId xmlns:a16="http://schemas.microsoft.com/office/drawing/2014/main" id="{FB24B014-468A-46C0-910E-4AEE0C15A868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צורה חופשית: צורה 33">
                  <a:extLst>
                    <a:ext uri="{FF2B5EF4-FFF2-40B4-BE49-F238E27FC236}">
                      <a16:creationId xmlns:a16="http://schemas.microsoft.com/office/drawing/2014/main" id="{68CE9499-B503-42F9-AA6B-BBCB0B2A6A39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7" name="צורה חופשית: צורה 26">
                <a:extLst>
                  <a:ext uri="{FF2B5EF4-FFF2-40B4-BE49-F238E27FC236}">
                    <a16:creationId xmlns:a16="http://schemas.microsoft.com/office/drawing/2014/main" id="{89546134-1943-4576-83FC-AC16C2BFC776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7" name="מציין מיקום של מספר שקופית 5">
            <a:extLst>
              <a:ext uri="{FF2B5EF4-FFF2-40B4-BE49-F238E27FC236}">
                <a16:creationId xmlns:a16="http://schemas.microsoft.com/office/drawing/2014/main" id="{285347FD-6D66-4E3B-B67F-24510B01CE5B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11E5400D-C83D-4B7F-B1AE-7B470B041358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מלבן 35">
            <a:extLst>
              <a:ext uri="{FF2B5EF4-FFF2-40B4-BE49-F238E27FC236}">
                <a16:creationId xmlns:a16="http://schemas.microsoft.com/office/drawing/2014/main" id="{52CA14BF-4912-4AE1-A86C-6C8103EDB994}"/>
              </a:ext>
            </a:extLst>
          </p:cNvPr>
          <p:cNvSpPr/>
          <p:nvPr userDrawn="1"/>
        </p:nvSpPr>
        <p:spPr>
          <a:xfrm>
            <a:off x="0" y="-19940"/>
            <a:ext cx="12192000" cy="687794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2FD8D03-D8E7-4A5F-9DEC-103714718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1BC93BF-7B09-4D5C-81FE-F57F91BB3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938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58408FF-D70B-4976-8F0C-0B1CED95447F}"/>
              </a:ext>
            </a:extLst>
          </p:cNvPr>
          <p:cNvSpPr/>
          <p:nvPr userDrawn="1"/>
        </p:nvSpPr>
        <p:spPr>
          <a:xfrm>
            <a:off x="0" y="6215944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2" name="קבוצה 21">
            <a:extLst>
              <a:ext uri="{FF2B5EF4-FFF2-40B4-BE49-F238E27FC236}">
                <a16:creationId xmlns:a16="http://schemas.microsoft.com/office/drawing/2014/main" id="{8DF8BABA-3493-4089-9ED4-6A13A9F9779F}"/>
              </a:ext>
            </a:extLst>
          </p:cNvPr>
          <p:cNvGrpSpPr/>
          <p:nvPr userDrawn="1"/>
        </p:nvGrpSpPr>
        <p:grpSpPr>
          <a:xfrm>
            <a:off x="10300261" y="6352204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23" name="תמונה 22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D9A3A3F1-EEDF-4517-A7E9-A800ED6E9F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24" name="קבוצה 23">
              <a:extLst>
                <a:ext uri="{FF2B5EF4-FFF2-40B4-BE49-F238E27FC236}">
                  <a16:creationId xmlns:a16="http://schemas.microsoft.com/office/drawing/2014/main" id="{D6703B3A-7CAE-467E-A8AE-99B1CB2D7A49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25" name="קבוצה 24">
                <a:extLst>
                  <a:ext uri="{FF2B5EF4-FFF2-40B4-BE49-F238E27FC236}">
                    <a16:creationId xmlns:a16="http://schemas.microsoft.com/office/drawing/2014/main" id="{CF4870C9-1821-49D7-8B86-E35B5F881C23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27" name="צורה חופשית: צורה 26">
                  <a:extLst>
                    <a:ext uri="{FF2B5EF4-FFF2-40B4-BE49-F238E27FC236}">
                      <a16:creationId xmlns:a16="http://schemas.microsoft.com/office/drawing/2014/main" id="{DD7898DB-1799-40AE-9C14-7BD52BF2025B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צורה חופשית: צורה 27">
                  <a:extLst>
                    <a:ext uri="{FF2B5EF4-FFF2-40B4-BE49-F238E27FC236}">
                      <a16:creationId xmlns:a16="http://schemas.microsoft.com/office/drawing/2014/main" id="{2D6818D9-A141-4DB8-82F6-674C17AE53E1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צורה חופשית: צורה 28">
                  <a:extLst>
                    <a:ext uri="{FF2B5EF4-FFF2-40B4-BE49-F238E27FC236}">
                      <a16:creationId xmlns:a16="http://schemas.microsoft.com/office/drawing/2014/main" id="{2D2D5CEC-EF29-498F-B277-70761E6343D6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צורה חופשית: צורה 29">
                  <a:extLst>
                    <a:ext uri="{FF2B5EF4-FFF2-40B4-BE49-F238E27FC236}">
                      <a16:creationId xmlns:a16="http://schemas.microsoft.com/office/drawing/2014/main" id="{E4437725-1104-4366-A865-458860D598E1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צורה חופשית: צורה 30">
                  <a:extLst>
                    <a:ext uri="{FF2B5EF4-FFF2-40B4-BE49-F238E27FC236}">
                      <a16:creationId xmlns:a16="http://schemas.microsoft.com/office/drawing/2014/main" id="{99ADDD93-C14A-4C3A-BF6B-A2A026703A01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צורה חופשית: צורה 31">
                  <a:extLst>
                    <a:ext uri="{FF2B5EF4-FFF2-40B4-BE49-F238E27FC236}">
                      <a16:creationId xmlns:a16="http://schemas.microsoft.com/office/drawing/2014/main" id="{42E2C760-9B69-41C7-A209-BC4680CB125D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צורה חופשית: צורה 32">
                  <a:extLst>
                    <a:ext uri="{FF2B5EF4-FFF2-40B4-BE49-F238E27FC236}">
                      <a16:creationId xmlns:a16="http://schemas.microsoft.com/office/drawing/2014/main" id="{963078D6-4BAA-45C9-B011-40CB8AD26768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6" name="צורה חופשית: צורה 25">
                <a:extLst>
                  <a:ext uri="{FF2B5EF4-FFF2-40B4-BE49-F238E27FC236}">
                    <a16:creationId xmlns:a16="http://schemas.microsoft.com/office/drawing/2014/main" id="{25B8730C-312A-4CDE-B006-E6B6AF3162B8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7" name="מציין מיקום של מספר שקופית 5">
            <a:extLst>
              <a:ext uri="{FF2B5EF4-FFF2-40B4-BE49-F238E27FC236}">
                <a16:creationId xmlns:a16="http://schemas.microsoft.com/office/drawing/2014/main" id="{ADBA7799-F6F9-4ECB-BBDC-18A6E2557706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50A7FFF2-81D2-43FB-A544-5CFC0CE0C630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1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626153-F544-4BA3-8CCE-F8C84ED2F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8C22C27-D6B8-451B-A2CD-9435E3B19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2BCE5384-CF2C-407C-81DF-991B6300A0A1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6" name="קבוצה 35">
            <a:extLst>
              <a:ext uri="{FF2B5EF4-FFF2-40B4-BE49-F238E27FC236}">
                <a16:creationId xmlns:a16="http://schemas.microsoft.com/office/drawing/2014/main" id="{C8410F7A-5932-487E-B0B7-A7D4DF380294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37" name="תמונה 36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A790255A-36C2-4AD6-9C5D-4DC168663C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38" name="קבוצה 37">
              <a:extLst>
                <a:ext uri="{FF2B5EF4-FFF2-40B4-BE49-F238E27FC236}">
                  <a16:creationId xmlns:a16="http://schemas.microsoft.com/office/drawing/2014/main" id="{E7B07655-C372-470C-94FC-7D16F0335BF6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39" name="קבוצה 38">
                <a:extLst>
                  <a:ext uri="{FF2B5EF4-FFF2-40B4-BE49-F238E27FC236}">
                    <a16:creationId xmlns:a16="http://schemas.microsoft.com/office/drawing/2014/main" id="{3010EFB8-0FC8-4B3D-BC2A-D4BB410507D2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41" name="צורה חופשית: צורה 40">
                  <a:extLst>
                    <a:ext uri="{FF2B5EF4-FFF2-40B4-BE49-F238E27FC236}">
                      <a16:creationId xmlns:a16="http://schemas.microsoft.com/office/drawing/2014/main" id="{61E352A9-970C-42B6-A6C7-2BE0686FEAFB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צורה חופשית: צורה 41">
                  <a:extLst>
                    <a:ext uri="{FF2B5EF4-FFF2-40B4-BE49-F238E27FC236}">
                      <a16:creationId xmlns:a16="http://schemas.microsoft.com/office/drawing/2014/main" id="{A4F143AF-5821-4F7D-B136-444352EA2583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צורה חופשית: צורה 42">
                  <a:extLst>
                    <a:ext uri="{FF2B5EF4-FFF2-40B4-BE49-F238E27FC236}">
                      <a16:creationId xmlns:a16="http://schemas.microsoft.com/office/drawing/2014/main" id="{576295AC-F715-4A9E-885B-9D4C2B2DE130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צורה חופשית: צורה 43">
                  <a:extLst>
                    <a:ext uri="{FF2B5EF4-FFF2-40B4-BE49-F238E27FC236}">
                      <a16:creationId xmlns:a16="http://schemas.microsoft.com/office/drawing/2014/main" id="{F19D7C82-7358-43BD-A966-E5AF64966F8C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צורה חופשית: צורה 44">
                  <a:extLst>
                    <a:ext uri="{FF2B5EF4-FFF2-40B4-BE49-F238E27FC236}">
                      <a16:creationId xmlns:a16="http://schemas.microsoft.com/office/drawing/2014/main" id="{DE9DB481-D1DD-4225-A1D6-CE4C8A909EDB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צורה חופשית: צורה 45">
                  <a:extLst>
                    <a:ext uri="{FF2B5EF4-FFF2-40B4-BE49-F238E27FC236}">
                      <a16:creationId xmlns:a16="http://schemas.microsoft.com/office/drawing/2014/main" id="{3556801F-51AA-4ECE-ADF8-93EB248223FB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צורה חופשית: צורה 46">
                  <a:extLst>
                    <a:ext uri="{FF2B5EF4-FFF2-40B4-BE49-F238E27FC236}">
                      <a16:creationId xmlns:a16="http://schemas.microsoft.com/office/drawing/2014/main" id="{095E4340-15A9-40D6-9487-C7C26A5829DE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0" name="צורה חופשית: צורה 39">
                <a:extLst>
                  <a:ext uri="{FF2B5EF4-FFF2-40B4-BE49-F238E27FC236}">
                    <a16:creationId xmlns:a16="http://schemas.microsoft.com/office/drawing/2014/main" id="{71C57028-AD09-4A05-917C-16D65ADCAC10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9" name="מציין מיקום של מספר שקופית 5">
            <a:extLst>
              <a:ext uri="{FF2B5EF4-FFF2-40B4-BE49-F238E27FC236}">
                <a16:creationId xmlns:a16="http://schemas.microsoft.com/office/drawing/2014/main" id="{A6EFD37E-F82D-4303-9E73-550EA69D0726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DCB0FFCD-55B6-4F8D-87ED-ED694B8BCF07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899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96A529-F544-46E5-A09E-C022F7B3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63A9200-1FD4-49FD-944F-170BEEE8E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C5BB6B4-39C6-4239-BE1E-277F38673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22" name="מציין מיקום של מספר שקופית 5">
            <a:extLst>
              <a:ext uri="{FF2B5EF4-FFF2-40B4-BE49-F238E27FC236}">
                <a16:creationId xmlns:a16="http://schemas.microsoft.com/office/drawing/2014/main" id="{8665981F-24D6-44DA-B590-4FC4DB01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268" y="6373480"/>
            <a:ext cx="552237" cy="365125"/>
          </a:xfrm>
          <a:prstGeom prst="rect">
            <a:avLst/>
          </a:prstGeom>
        </p:spPr>
        <p:txBody>
          <a:bodyPr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9347A8-8166-4DEF-BF3A-0851CC1E90B6}" type="slidenum">
              <a:rPr kumimoji="0" lang="he-IL" sz="14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sp>
        <p:nvSpPr>
          <p:cNvPr id="53" name="מלבן 52">
            <a:extLst>
              <a:ext uri="{FF2B5EF4-FFF2-40B4-BE49-F238E27FC236}">
                <a16:creationId xmlns:a16="http://schemas.microsoft.com/office/drawing/2014/main" id="{FC584A14-826F-458B-A936-CDB59B6A95CD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5" name="קבוצה 54">
            <a:extLst>
              <a:ext uri="{FF2B5EF4-FFF2-40B4-BE49-F238E27FC236}">
                <a16:creationId xmlns:a16="http://schemas.microsoft.com/office/drawing/2014/main" id="{5E4B256C-96F6-4BDA-9191-34656F2E73C2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56" name="תמונה 55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08DC3D8A-BE40-47BE-9C9C-CC8049EB53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57" name="קבוצה 56">
              <a:extLst>
                <a:ext uri="{FF2B5EF4-FFF2-40B4-BE49-F238E27FC236}">
                  <a16:creationId xmlns:a16="http://schemas.microsoft.com/office/drawing/2014/main" id="{C1645D18-CF88-4996-9AB9-70A3381F02D7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58" name="קבוצה 57">
                <a:extLst>
                  <a:ext uri="{FF2B5EF4-FFF2-40B4-BE49-F238E27FC236}">
                    <a16:creationId xmlns:a16="http://schemas.microsoft.com/office/drawing/2014/main" id="{D45B6999-D6E6-496B-8406-DF65C0FDFCF3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60" name="צורה חופשית: צורה 59">
                  <a:extLst>
                    <a:ext uri="{FF2B5EF4-FFF2-40B4-BE49-F238E27FC236}">
                      <a16:creationId xmlns:a16="http://schemas.microsoft.com/office/drawing/2014/main" id="{CEEE365B-AAB4-466A-926C-7B2666A773BD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צורה חופשית: צורה 60">
                  <a:extLst>
                    <a:ext uri="{FF2B5EF4-FFF2-40B4-BE49-F238E27FC236}">
                      <a16:creationId xmlns:a16="http://schemas.microsoft.com/office/drawing/2014/main" id="{EE51D930-B966-4DD5-A696-45DD9074C4F0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צורה חופשית: צורה 61">
                  <a:extLst>
                    <a:ext uri="{FF2B5EF4-FFF2-40B4-BE49-F238E27FC236}">
                      <a16:creationId xmlns:a16="http://schemas.microsoft.com/office/drawing/2014/main" id="{05C2BEB8-AC0A-49A1-939C-7C2D4B068451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צורה חופשית: צורה 62">
                  <a:extLst>
                    <a:ext uri="{FF2B5EF4-FFF2-40B4-BE49-F238E27FC236}">
                      <a16:creationId xmlns:a16="http://schemas.microsoft.com/office/drawing/2014/main" id="{4A615A84-CA07-4AA2-B55D-0F9F3A7DDD02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4" name="צורה חופשית: צורה 63">
                  <a:extLst>
                    <a:ext uri="{FF2B5EF4-FFF2-40B4-BE49-F238E27FC236}">
                      <a16:creationId xmlns:a16="http://schemas.microsoft.com/office/drawing/2014/main" id="{F684CFA4-F53D-410C-9188-7CB73E61AAA1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צורה חופשית: צורה 64">
                  <a:extLst>
                    <a:ext uri="{FF2B5EF4-FFF2-40B4-BE49-F238E27FC236}">
                      <a16:creationId xmlns:a16="http://schemas.microsoft.com/office/drawing/2014/main" id="{0AD63E39-3397-482A-9E8D-55E685C29A68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צורה חופשית: צורה 65">
                  <a:extLst>
                    <a:ext uri="{FF2B5EF4-FFF2-40B4-BE49-F238E27FC236}">
                      <a16:creationId xmlns:a16="http://schemas.microsoft.com/office/drawing/2014/main" id="{CBA5042F-C4F8-4484-A61C-77571EA30DCA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9" name="צורה חופשית: צורה 58">
                <a:extLst>
                  <a:ext uri="{FF2B5EF4-FFF2-40B4-BE49-F238E27FC236}">
                    <a16:creationId xmlns:a16="http://schemas.microsoft.com/office/drawing/2014/main" id="{B20E886B-4A8A-4887-9539-720707785BFF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8" name="מציין מיקום של מספר שקופית 5">
            <a:extLst>
              <a:ext uri="{FF2B5EF4-FFF2-40B4-BE49-F238E27FC236}">
                <a16:creationId xmlns:a16="http://schemas.microsoft.com/office/drawing/2014/main" id="{054A4881-E532-4573-BA7C-F7DBE2CD96B2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pic>
        <p:nvPicPr>
          <p:cNvPr id="20" name="תמונה 19">
            <a:extLst>
              <a:ext uri="{FF2B5EF4-FFF2-40B4-BE49-F238E27FC236}">
                <a16:creationId xmlns:a16="http://schemas.microsoft.com/office/drawing/2014/main" id="{B0AC5931-6B9E-4F48-A3FE-AC8048C4F8F8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8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AEE5685-6A16-4E56-B2AB-3E62D26FE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83771"/>
            <a:ext cx="10515600" cy="9069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3CE19DA-5F2E-4AB4-B791-F4E505AA1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4A3E43E-BE49-4C40-B9CD-5A65AB456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2C08B33-8536-4DA3-A886-8DE0033713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5B49FD3-06D6-4DD0-946E-AF9FF8909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10" name="מציין מיקום של מספר שקופית 5">
            <a:extLst>
              <a:ext uri="{FF2B5EF4-FFF2-40B4-BE49-F238E27FC236}">
                <a16:creationId xmlns:a16="http://schemas.microsoft.com/office/drawing/2014/main" id="{58D15BD4-8573-4186-AC37-2FFC078B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268" y="6373480"/>
            <a:ext cx="552237" cy="365125"/>
          </a:xfrm>
          <a:prstGeom prst="rect">
            <a:avLst/>
          </a:prstGeom>
        </p:spPr>
        <p:txBody>
          <a:bodyPr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9347A8-8166-4DEF-BF3A-0851CC1E90B6}" type="slidenum">
              <a:rPr kumimoji="0" lang="he-IL" sz="14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D570F133-E0E7-45B5-9B75-8903BF573F7B}"/>
              </a:ext>
            </a:extLst>
          </p:cNvPr>
          <p:cNvSpPr/>
          <p:nvPr userDrawn="1"/>
        </p:nvSpPr>
        <p:spPr>
          <a:xfrm>
            <a:off x="0" y="61896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C0900708-C1B0-48B0-9966-C61771A7CF1B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4" name="תמונה 13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87B661B6-765C-4814-9B2F-411C2A7C57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5" name="קבוצה 14">
              <a:extLst>
                <a:ext uri="{FF2B5EF4-FFF2-40B4-BE49-F238E27FC236}">
                  <a16:creationId xmlns:a16="http://schemas.microsoft.com/office/drawing/2014/main" id="{7740851A-4FF6-495A-A5DD-FF05C12266C4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6" name="קבוצה 15">
                <a:extLst>
                  <a:ext uri="{FF2B5EF4-FFF2-40B4-BE49-F238E27FC236}">
                    <a16:creationId xmlns:a16="http://schemas.microsoft.com/office/drawing/2014/main" id="{1ECA3AAC-C647-43AC-96BA-29AA58B6B644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928C4443-1DAC-4AB8-9448-9B9B957C2173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BEB61F0E-CD48-43A9-9F66-E1772B813CC1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E50BC282-827D-49F3-A487-3D42C2A9B428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צורה חופשית: צורה 20">
                  <a:extLst>
                    <a:ext uri="{FF2B5EF4-FFF2-40B4-BE49-F238E27FC236}">
                      <a16:creationId xmlns:a16="http://schemas.microsoft.com/office/drawing/2014/main" id="{98CE866B-4ECE-4464-A3A9-81193A23C5A9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צורה חופשית: צורה 21">
                  <a:extLst>
                    <a:ext uri="{FF2B5EF4-FFF2-40B4-BE49-F238E27FC236}">
                      <a16:creationId xmlns:a16="http://schemas.microsoft.com/office/drawing/2014/main" id="{ED8A0922-BBEF-42E5-A6FA-00FB958E6758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צורה חופשית: צורה 22">
                  <a:extLst>
                    <a:ext uri="{FF2B5EF4-FFF2-40B4-BE49-F238E27FC236}">
                      <a16:creationId xmlns:a16="http://schemas.microsoft.com/office/drawing/2014/main" id="{81301C4C-1703-4D94-8207-49D7FE417F94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צורה חופשית: צורה 23">
                  <a:extLst>
                    <a:ext uri="{FF2B5EF4-FFF2-40B4-BE49-F238E27FC236}">
                      <a16:creationId xmlns:a16="http://schemas.microsoft.com/office/drawing/2014/main" id="{EF031579-1582-4315-ADB1-48309E61E575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" name="צורה חופשית: צורה 16">
                <a:extLst>
                  <a:ext uri="{FF2B5EF4-FFF2-40B4-BE49-F238E27FC236}">
                    <a16:creationId xmlns:a16="http://schemas.microsoft.com/office/drawing/2014/main" id="{197A2DCC-59C7-44AF-92E8-CB61E153A6C6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6" name="מציין מיקום של מספר שקופית 5">
            <a:extLst>
              <a:ext uri="{FF2B5EF4-FFF2-40B4-BE49-F238E27FC236}">
                <a16:creationId xmlns:a16="http://schemas.microsoft.com/office/drawing/2014/main" id="{BF9C472C-DC50-4C6E-A2FD-E2B53876FF80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pic>
        <p:nvPicPr>
          <p:cNvPr id="25" name="תמונה 24">
            <a:extLst>
              <a:ext uri="{FF2B5EF4-FFF2-40B4-BE49-F238E27FC236}">
                <a16:creationId xmlns:a16="http://schemas.microsoft.com/office/drawing/2014/main" id="{31C89768-3246-42DD-9860-D72580B83638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1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87DFEA-F291-42BA-BE85-785FA875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5562866-108C-45B2-A858-33BD6FCD5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268" y="6373480"/>
            <a:ext cx="552237" cy="365125"/>
          </a:xfrm>
          <a:prstGeom prst="rect">
            <a:avLst/>
          </a:prstGeom>
        </p:spPr>
        <p:txBody>
          <a:bodyPr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9347A8-8166-4DEF-BF3A-0851CC1E90B6}" type="slidenum">
              <a:rPr kumimoji="0" lang="he-IL" sz="14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9B1DE0C-D061-4247-ADC7-6CE76D088D9C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3DA01A7D-9028-4C47-849C-88B28743CA72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0" name="תמונה 9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5D975A15-DE8D-42D7-9B9B-35115AAE35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1" name="קבוצה 10">
              <a:extLst>
                <a:ext uri="{FF2B5EF4-FFF2-40B4-BE49-F238E27FC236}">
                  <a16:creationId xmlns:a16="http://schemas.microsoft.com/office/drawing/2014/main" id="{292F8E00-CB78-46D3-8C95-69882C60156E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2" name="קבוצה 11">
                <a:extLst>
                  <a:ext uri="{FF2B5EF4-FFF2-40B4-BE49-F238E27FC236}">
                    <a16:creationId xmlns:a16="http://schemas.microsoft.com/office/drawing/2014/main" id="{B267D621-AB17-4316-95AB-1A8DCBC84B24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A151E8EE-7AD0-4255-AC18-E12B8AB646A1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4A4BD7DD-6CF3-4564-8A20-E08C0DBBBB85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A9C5829E-AE90-46F7-A368-C468B9943FEF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242127DA-BDE4-4014-A16A-59BEBA8242DA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E63D501C-A0C8-4522-BC04-AF40A998D44B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424E21BA-9E73-4923-BF02-ED6EE3D73458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A6705AB2-BC1F-47FE-8088-512A3C0BE0E3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" name="צורה חופשית: צורה 12">
                <a:extLst>
                  <a:ext uri="{FF2B5EF4-FFF2-40B4-BE49-F238E27FC236}">
                    <a16:creationId xmlns:a16="http://schemas.microsoft.com/office/drawing/2014/main" id="{DC615487-9D22-4D21-8AB8-E2C6EEAEF414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2" name="מציין מיקום של מספר שקופית 5">
            <a:extLst>
              <a:ext uri="{FF2B5EF4-FFF2-40B4-BE49-F238E27FC236}">
                <a16:creationId xmlns:a16="http://schemas.microsoft.com/office/drawing/2014/main" id="{59BBFBD5-F641-4E35-B40D-EAB15A40A152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8D10E73E-EEB7-4061-ADB9-D796162DDB6E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3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A864AE61-DE0D-4880-A1BF-0814E233E79E}"/>
              </a:ext>
            </a:extLst>
          </p:cNvPr>
          <p:cNvSpPr/>
          <p:nvPr userDrawn="1"/>
        </p:nvSpPr>
        <p:spPr>
          <a:xfrm>
            <a:off x="0" y="6209620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A6DADFE1-0B47-4D64-8538-73B485E64BAD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8" name="תמונה 7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F9BBDD8F-AE7D-4B3F-89BC-E0B2FC9EC0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9" name="קבוצה 8">
              <a:extLst>
                <a:ext uri="{FF2B5EF4-FFF2-40B4-BE49-F238E27FC236}">
                  <a16:creationId xmlns:a16="http://schemas.microsoft.com/office/drawing/2014/main" id="{BFBBF8E6-653E-4E8A-BDA3-45DD5E561179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0" name="קבוצה 9">
                <a:extLst>
                  <a:ext uri="{FF2B5EF4-FFF2-40B4-BE49-F238E27FC236}">
                    <a16:creationId xmlns:a16="http://schemas.microsoft.com/office/drawing/2014/main" id="{2615D7FF-65B1-47BC-BC35-7DD391E2080F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2" name="צורה חופשית: צורה 11">
                  <a:extLst>
                    <a:ext uri="{FF2B5EF4-FFF2-40B4-BE49-F238E27FC236}">
                      <a16:creationId xmlns:a16="http://schemas.microsoft.com/office/drawing/2014/main" id="{ED4ACA47-D4A0-4996-B9F1-5F7C90CE5094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" name="צורה חופשית: צורה 12">
                  <a:extLst>
                    <a:ext uri="{FF2B5EF4-FFF2-40B4-BE49-F238E27FC236}">
                      <a16:creationId xmlns:a16="http://schemas.microsoft.com/office/drawing/2014/main" id="{27277A02-32C6-470C-8608-901E69766CD7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89450771-5102-401C-AFD1-56DFF322A9A6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73D3ED77-3CD6-4660-8F7F-4B83B2F65299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35309228-8DAA-4785-9C14-E4905913690C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EC5C0010-4161-4811-AFA2-9B9F39ACD0FE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DC157E78-F6A2-41FD-9369-73DE4F673746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" name="צורה חופשית: צורה 10">
                <a:extLst>
                  <a:ext uri="{FF2B5EF4-FFF2-40B4-BE49-F238E27FC236}">
                    <a16:creationId xmlns:a16="http://schemas.microsoft.com/office/drawing/2014/main" id="{1ABD69F7-03BB-4732-95D0-E3A631E1F9CB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0" name="מציין מיקום של מספר שקופית 5">
            <a:extLst>
              <a:ext uri="{FF2B5EF4-FFF2-40B4-BE49-F238E27FC236}">
                <a16:creationId xmlns:a16="http://schemas.microsoft.com/office/drawing/2014/main" id="{34CA6212-8097-4A9B-AFE6-F7081B47F22E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441D2BD4-FA03-465A-9D32-256B7E1F8BC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9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958A50-E275-4804-B818-F6997956C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8A54C7A-2CCF-48BD-AE46-34470068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6669C15-F7C1-4A88-B34B-1C013CB4D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DCA1D8F0-E926-421C-921D-0F6D4712DF8D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243C2582-C7B0-46E8-86CA-33A6B4236A5D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1" name="תמונה 10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0266DC89-9A67-48FD-A88D-34C3EA9BBC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2" name="קבוצה 11">
              <a:extLst>
                <a:ext uri="{FF2B5EF4-FFF2-40B4-BE49-F238E27FC236}">
                  <a16:creationId xmlns:a16="http://schemas.microsoft.com/office/drawing/2014/main" id="{97C56BC7-F729-4F7A-AD4D-848BE63B2BE4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3" name="קבוצה 12">
                <a:extLst>
                  <a:ext uri="{FF2B5EF4-FFF2-40B4-BE49-F238E27FC236}">
                    <a16:creationId xmlns:a16="http://schemas.microsoft.com/office/drawing/2014/main" id="{E848436C-1D70-4CD3-B3FA-CC0938D2D615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971E294A-F3F6-4DD2-B2CB-D6C56C41F107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4175FB19-03ED-4B50-BB7C-B9466C93736C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9C4EE346-0BD2-40D5-9684-6E654B3B5C4A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A201D3C3-B297-4E0B-9F22-F4ADAFD4947F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5803B45F-B946-4172-A189-3AF9B2CC9A6A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96F21DCB-52F7-4A98-A052-664A1A104497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צורה חופשית: צורה 20">
                  <a:extLst>
                    <a:ext uri="{FF2B5EF4-FFF2-40B4-BE49-F238E27FC236}">
                      <a16:creationId xmlns:a16="http://schemas.microsoft.com/office/drawing/2014/main" id="{5E4B7FB2-BB65-4151-9ABC-FFDED6C5BC11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" name="צורה חופשית: צורה 13">
                <a:extLst>
                  <a:ext uri="{FF2B5EF4-FFF2-40B4-BE49-F238E27FC236}">
                    <a16:creationId xmlns:a16="http://schemas.microsoft.com/office/drawing/2014/main" id="{5B514649-E16F-4638-BA06-7FB63CFC2292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3" name="מציין מיקום של מספר שקופית 5">
            <a:extLst>
              <a:ext uri="{FF2B5EF4-FFF2-40B4-BE49-F238E27FC236}">
                <a16:creationId xmlns:a16="http://schemas.microsoft.com/office/drawing/2014/main" id="{D4BD7B7F-D03D-4389-8A9B-E884D1F3D289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pic>
        <p:nvPicPr>
          <p:cNvPr id="22" name="תמונה 21">
            <a:extLst>
              <a:ext uri="{FF2B5EF4-FFF2-40B4-BE49-F238E27FC236}">
                <a16:creationId xmlns:a16="http://schemas.microsoft.com/office/drawing/2014/main" id="{AF935F6E-AFA9-47F5-BF95-16347DB1D306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168280-23D0-4F97-B48E-EE60D58E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5AD8FB43-01AA-4B02-B402-C4370BFA5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7F80D43-C3CB-4B9D-B606-E4430C19A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A54A7CED-C88E-41B2-AC99-523DF755F356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9953B832-222B-43D5-9EF6-40319AF6F571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1" name="תמונה 10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C9D00F1E-695D-48E3-8B32-BBCE64A384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2" name="קבוצה 11">
              <a:extLst>
                <a:ext uri="{FF2B5EF4-FFF2-40B4-BE49-F238E27FC236}">
                  <a16:creationId xmlns:a16="http://schemas.microsoft.com/office/drawing/2014/main" id="{63783BEF-6698-4BBE-A2A3-4733B6C729B3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3" name="קבוצה 12">
                <a:extLst>
                  <a:ext uri="{FF2B5EF4-FFF2-40B4-BE49-F238E27FC236}">
                    <a16:creationId xmlns:a16="http://schemas.microsoft.com/office/drawing/2014/main" id="{5DD97701-4C07-4AF8-95D5-1ABD153DE4E6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050F90C9-C3A6-423C-B102-5BF89C61C75E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C08AB56E-43DA-4939-9246-42FA09F2A95D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836FED53-E490-4203-A74B-FFE6C758FAD8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1AF07413-01E1-497D-93C6-C887EE2F6ADB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9D1E3A11-145C-4C2E-8CE0-059C9A7574D1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59F94348-6319-40A1-A550-5C3C976A43ED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צורה חופשית: צורה 20">
                  <a:extLst>
                    <a:ext uri="{FF2B5EF4-FFF2-40B4-BE49-F238E27FC236}">
                      <a16:creationId xmlns:a16="http://schemas.microsoft.com/office/drawing/2014/main" id="{74D53AF6-1164-451A-8F30-3E9053531A32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" name="צורה חופשית: צורה 13">
                <a:extLst>
                  <a:ext uri="{FF2B5EF4-FFF2-40B4-BE49-F238E27FC236}">
                    <a16:creationId xmlns:a16="http://schemas.microsoft.com/office/drawing/2014/main" id="{263915BB-3105-4206-A549-73CD5AF5DAA3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3" name="מציין מיקום של מספר שקופית 5">
            <a:extLst>
              <a:ext uri="{FF2B5EF4-FFF2-40B4-BE49-F238E27FC236}">
                <a16:creationId xmlns:a16="http://schemas.microsoft.com/office/drawing/2014/main" id="{BCF7847E-1B26-49BF-AE2C-6572BE2C6937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pic>
        <p:nvPicPr>
          <p:cNvPr id="22" name="תמונה 21">
            <a:extLst>
              <a:ext uri="{FF2B5EF4-FFF2-40B4-BE49-F238E27FC236}">
                <a16:creationId xmlns:a16="http://schemas.microsoft.com/office/drawing/2014/main" id="{AF9D762E-1A52-4902-98E3-1CD33E3DB6BB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9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D15CA3-81AB-47E6-91CC-39458D262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3683344-7EC3-44BC-8DA6-68FE91369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42DE4CC-C2C8-4131-A480-4FF9A36982D4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26285DEE-AF2F-415D-A964-C628E461FFFB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0" name="תמונה 9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EFE02FAD-6062-4AFE-A459-9DFD667B8B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1" name="קבוצה 10">
              <a:extLst>
                <a:ext uri="{FF2B5EF4-FFF2-40B4-BE49-F238E27FC236}">
                  <a16:creationId xmlns:a16="http://schemas.microsoft.com/office/drawing/2014/main" id="{B2F8B01E-6D2C-4E50-AFCB-6470BE0C9652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2" name="קבוצה 11">
                <a:extLst>
                  <a:ext uri="{FF2B5EF4-FFF2-40B4-BE49-F238E27FC236}">
                    <a16:creationId xmlns:a16="http://schemas.microsoft.com/office/drawing/2014/main" id="{D4B0A8D5-239F-4B59-9527-35B9732F8A74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847BBAAA-1E10-4FEB-AC75-AE735F524358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A3B5FAEB-6521-41BC-B819-9E8F14FABDCE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50435986-7690-4AB5-B582-5F913AF147C9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8C3412E0-7BF3-443F-8626-4A893EB14786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12368001-8A4B-4594-B063-B0EFD0B7B6A3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C438C881-295C-4E12-9475-714929F42422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2007CED6-8169-4563-8AD2-623E0DF951D4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" name="צורה חופשית: צורה 12">
                <a:extLst>
                  <a:ext uri="{FF2B5EF4-FFF2-40B4-BE49-F238E27FC236}">
                    <a16:creationId xmlns:a16="http://schemas.microsoft.com/office/drawing/2014/main" id="{FFDB4020-1858-4DCB-8A85-BC8A9A3B8C0E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2" name="מציין מיקום של מספר שקופית 5">
            <a:extLst>
              <a:ext uri="{FF2B5EF4-FFF2-40B4-BE49-F238E27FC236}">
                <a16:creationId xmlns:a16="http://schemas.microsoft.com/office/drawing/2014/main" id="{2C72960E-26B3-41FF-BEF3-09BC6FDA1A82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AFF44854-0EE6-4CD1-9B32-4956E5498046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2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7B216F6-8D7B-48B4-9C61-DB81A1383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83771"/>
            <a:ext cx="2628900" cy="539319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8526D90-9DF5-4162-BBB8-09C9A981F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83771"/>
            <a:ext cx="7734300" cy="539319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B858161-CF52-49E8-B3B7-62B8E3E91ADF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875D99AF-27CD-4443-AE4E-9439B4C2C32F}"/>
              </a:ext>
            </a:extLst>
          </p:cNvPr>
          <p:cNvGrpSpPr/>
          <p:nvPr userDrawn="1"/>
        </p:nvGrpSpPr>
        <p:grpSpPr>
          <a:xfrm>
            <a:off x="10267605" y="6363090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10" name="תמונה 9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836DD9D7-BB86-41EB-B161-95C4603171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11" name="קבוצה 10">
              <a:extLst>
                <a:ext uri="{FF2B5EF4-FFF2-40B4-BE49-F238E27FC236}">
                  <a16:creationId xmlns:a16="http://schemas.microsoft.com/office/drawing/2014/main" id="{764C0FA0-0CDA-46FD-9F0C-1D243B8C2694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2" name="קבוצה 11">
                <a:extLst>
                  <a:ext uri="{FF2B5EF4-FFF2-40B4-BE49-F238E27FC236}">
                    <a16:creationId xmlns:a16="http://schemas.microsoft.com/office/drawing/2014/main" id="{C833D77B-3410-4B98-90F7-0467FF911CFC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41E21D96-25CC-4D89-9F41-ABB7DBE93862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D2522CD4-53DF-416C-BFB5-9D1B1098C47E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9E1FD081-907C-46D8-9BED-0AE96052A28C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9F0FB341-DA79-4ECD-ABB4-45EBEFD93322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E1051BF6-AC51-43CD-B39D-C6D939F021F4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FE3A10CB-9036-4F67-8068-9CDE5F613ECE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צורה חופשית: צורה 19">
                  <a:extLst>
                    <a:ext uri="{FF2B5EF4-FFF2-40B4-BE49-F238E27FC236}">
                      <a16:creationId xmlns:a16="http://schemas.microsoft.com/office/drawing/2014/main" id="{52E55AA4-C0D9-4346-9B65-CABBC0F9E4D7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" name="צורה חופשית: צורה 12">
                <a:extLst>
                  <a:ext uri="{FF2B5EF4-FFF2-40B4-BE49-F238E27FC236}">
                    <a16:creationId xmlns:a16="http://schemas.microsoft.com/office/drawing/2014/main" id="{F3623493-69EC-4071-88F9-0AC8423275D2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2" name="מציין מיקום של מספר שקופית 5">
            <a:extLst>
              <a:ext uri="{FF2B5EF4-FFF2-40B4-BE49-F238E27FC236}">
                <a16:creationId xmlns:a16="http://schemas.microsoft.com/office/drawing/2014/main" id="{36DCBF29-9023-4347-B660-547485DD0113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tint val="75000"/>
                  </a:srgbClr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tint val="75000"/>
                </a:srgbClr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024CE823-74DF-4D24-BD2C-89AD0FF3BACD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8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8B37C1-9ACC-42CA-A7A8-EF5E27721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F3A0B00-96F4-4867-B1AB-088216667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BB88EA8-2F2B-482D-9C8E-F3D721E0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2D6E3-E482-4DA3-9F0F-5149045D735E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DC70D8C-27F5-434E-920B-974C701A9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C2E6FCA-46FF-4855-A8C0-FDB0926A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628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FD8D03-D8E7-4A5F-9DEC-10371471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1BC93BF-7B09-4D5C-81FE-F57F91BB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3A8D1A4-899D-43ED-856C-06374FBE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390AF-36F8-476C-ADAF-81C2825D26B3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0A55F92-386E-4B4C-B4C6-C54138E1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8C7A80F-0F49-4D24-A543-FE1B6034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3879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626153-F544-4BA3-8CCE-F8C84ED2F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8C22C27-D6B8-451B-A2CD-9435E3B19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78FD682-E925-4567-B1BD-38545A6E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443D-8FE2-4E72-BD4B-BA8806B29925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C8C906C-1E31-4F41-9F73-9524F6455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321C95-6232-4F9C-9091-6BDDBAE5A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6894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96A529-F544-46E5-A09E-C022F7B3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63A9200-1FD4-49FD-944F-170BEEE8E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C5BB6B4-39C6-4239-BE1E-277F38673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2BF44C5-1950-4EC5-94D3-6B9ED3605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89BB-17B1-4FF8-A171-9AA6226C6A0F}" type="datetime8">
              <a:rPr lang="he-IL" smtClean="0"/>
              <a:t>16 מאי 23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E0180AE-1B1F-44D6-AAF0-8FDEB2D1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D179C0D-BC14-432D-B0C7-E100365C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105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AEE5685-6A16-4E56-B2AB-3E62D26FE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72886"/>
            <a:ext cx="10515600" cy="917802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3CE19DA-5F2E-4AB4-B791-F4E505AA1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4A3E43E-BE49-4C40-B9CD-5A65AB456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2C08B33-8536-4DA3-A886-8DE0033713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5B49FD3-06D6-4DD0-946E-AF9FF8909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B2EB75B-F856-4B8A-8013-9927323F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AAFF2-CF1F-4D92-B805-CF7862B38B9E}" type="datetime8">
              <a:rPr lang="he-IL" smtClean="0"/>
              <a:t>16 מאי 23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9C58747-5FF5-4A14-8067-2587B86B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1FE9ED2-FA7F-4A51-94A1-C7912F64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11817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87DFEA-F291-42BA-BE85-785FA875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3A58BB7-53E8-4D09-9109-125ADFF3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00C-9D83-4EB1-8D7B-3F0AE3FEFD07}" type="datetime8">
              <a:rPr lang="he-IL" smtClean="0"/>
              <a:t>16 מאי 23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A1F35F1-2E1C-4BB0-AF73-22A95ABD1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046D2C1-DC71-49A0-B0C9-41823CFB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3658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D98654B-F4F5-424A-BD41-08D4DC394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4E72-D0BA-46F5-A57E-7ACE4F188000}" type="datetime8">
              <a:rPr lang="he-IL" smtClean="0"/>
              <a:t>16 מאי 23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55ADA06-EB87-4057-8174-700DCE00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CE52BF3-2984-46A3-BDB7-4A9B648BA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0956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958A50-E275-4804-B818-F6997956C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8A54C7A-2CCF-48BD-AE46-34470068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6669C15-F7C1-4A88-B34B-1C013CB4D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AC4BDA4-AE4E-416A-B052-1BEB9B08D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C527-318D-4D64-A987-107F2E3C0F42}" type="datetime8">
              <a:rPr lang="he-IL" smtClean="0"/>
              <a:t>16 מאי 23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7AE2AE9-B05D-4A7B-B842-C82EBDB4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E9FB328-37F0-40C4-8408-AACDB2DF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7719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168280-23D0-4F97-B48E-EE60D58E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5AD8FB43-01AA-4B02-B402-C4370BFA5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7F80D43-C3CB-4B9D-B606-E4430C19A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1AE3F13-BDE5-4549-B1B3-FE873F6CF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6E5C9-1286-44CA-AADA-12653784D666}" type="datetime8">
              <a:rPr lang="he-IL" smtClean="0"/>
              <a:t>16 מאי 23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E8DEE5F-8366-4FD8-B62C-82328933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30AF801-BE2A-43D6-B174-8B5BD32A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9708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D15CA3-81AB-47E6-91CC-39458D26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3683344-7EC3-44BC-8DA6-68FE91369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98F073D-61E7-4F9B-AE14-8FB98B4F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C9B5-A975-4132-8C62-7296D03A3E4F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802EDF1-451E-48C1-BCDE-3C1892DC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16F4D0B-448C-4C49-81A9-C480CA4E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37199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7B216F6-8D7B-48B4-9C61-DB81A1383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9971"/>
            <a:ext cx="2628900" cy="5316992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8526D90-9DF5-4162-BBB8-09C9A981F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9971"/>
            <a:ext cx="7734300" cy="5316992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EAD9D33-7116-4129-96EB-4D19EFE7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0FF40-4F93-4C6F-9838-5FF725F3FD45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289168F-C8D4-4DB2-8858-CAE44688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1B60E98-A858-417B-8734-D6766765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23449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DDF193-DA2C-4A9C-B561-3B2968BDB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BB6FC63-DD54-43D4-996A-104605F81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2D74F89-9BA4-4CEF-8469-955E6C52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042EE-B66C-4CCD-9BDD-2003FA82E9E8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37C89F5-D2AE-4ED9-B7FD-481E22B0B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CFD78FB-A11A-4081-AA4A-C4CAB95F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70642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68AE99-C6C2-4AE8-8DDC-09962EB6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BD499D3-0DDC-4D5A-A448-59B539E9A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9FD602-ECA9-4B4D-A021-1DE41430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1214-E456-4D19-A823-E910F816C612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3A827F0-E32C-4C3C-9B10-75EE6CA4D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08A446D-C2C0-472F-9E94-369B5ABA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75821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001E67-858D-4462-8498-BF8FE1C10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FFA70F8-8F92-4837-8BF4-641DCC545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13AED21-BAB2-43E5-937C-2E9D5080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89BA-9429-4EB3-ACFB-1FB0030439A2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0EDD0E-6519-4E31-BBB0-89A084BB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549B853-5E2E-4EDA-ABEC-59BAA583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90945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5708A4-B7AD-4EC2-AC0C-668801933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BB3FA54-30A6-440C-85D7-0688C50F6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4879237-D883-49E9-A4BA-D22B0E4C7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27E72C9-2D7C-4453-92B6-5C54B6B60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F802-F4D5-41D0-AA7C-65D8F2C086C2}" type="datetime8">
              <a:rPr lang="he-IL" smtClean="0"/>
              <a:t>16 מאי 23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8F30BA1-40DA-44BC-A167-CE3B4900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0D1FA51-1E7D-4AF8-9D01-CB4C77A4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09929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CB3CE6-E06F-4E8A-BF39-83AC219E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90574"/>
            <a:ext cx="10515600" cy="823912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DC028FB-657A-4E24-AD00-88A49DFB0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280947B-A3EC-42D9-B1CE-DE7910433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9F474EC-1E81-4666-89CD-BCC88DB0C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66B520F-42B6-41CA-9DB8-AD2DE7A52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BB6BD05-AD29-4C18-AB61-8C95B72E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DEA7-80FD-4F86-8A67-7BE19505BC66}" type="datetime8">
              <a:rPr lang="he-IL" smtClean="0"/>
              <a:t>16 מאי 23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5E54DAC-AFA7-4FDA-AAF6-1E345F4B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D3C41C3-1CBD-4DC2-806F-2B85019F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14471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72290D-AE7A-4792-84DC-BF461675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E9C15D7-7A7E-4126-BED7-866F21C95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4D0D8-6941-47FD-987A-DEF3C73E18CC}" type="datetime8">
              <a:rPr lang="he-IL" smtClean="0"/>
              <a:t>16 מאי 23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A6063DB-4845-4F98-8A4D-0ED1C5D6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04E63EF-3253-468F-9AF5-3D672A05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59481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37F8224-EEAE-495C-A56A-58339BC2C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0012-677B-469A-BEAC-28227EA5E6DD}" type="datetime8">
              <a:rPr lang="he-IL" smtClean="0"/>
              <a:t>16 מאי 23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DDD2533-1748-4176-BE59-1F1EFCEC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139FB95-CC5F-487B-94B3-9DC2F2B4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61841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0850812-2F1E-42D9-94F2-1B3CEFE13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54766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1B93507-069F-4F0D-8BF6-F2EB58A29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3357033-4D4F-4AF3-BD63-CD7C1346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AA5476E-8D00-42E2-BA14-472A730B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13DE-5556-45FF-A3B7-7E88E29D9C36}" type="datetime8">
              <a:rPr lang="he-IL" smtClean="0"/>
              <a:t>16 מאי 23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AE56CF9-3BE2-430F-9511-04B7F432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ED8B4FB-6F95-4457-9C9D-E48899F5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27596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46A76A-4178-4B8B-A53D-6045FB608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54766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94692034-F0CF-4149-857B-AFDCB9D3D6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D52C8FC-599E-465D-B43D-4F2E5F514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DF6A886-B1DB-4A62-BA98-F68BA391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BA3A6-3105-4486-B748-E4A82CAC0A3A}" type="datetime8">
              <a:rPr lang="he-IL" smtClean="0"/>
              <a:t>16 מאי 23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9CC8DE2-1F1F-4E87-9A63-95BF23D8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7418CA4-F957-4CDE-83D3-146C18910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25309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0DF2A4-E2D7-4E27-A2EC-0B2FEB1C5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BB72B77-0F0D-4FF4-B9AF-67CC0B652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1A39604-47F3-4C11-BADB-D30D9395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31D64-4346-4F69-BDCC-D9CE7B201F21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73F2E48-5687-4B9E-8458-63F3547E4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DA11F0A-3F7E-405E-927C-FBE1E7FC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23600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1B199B9-EF25-4AB3-8B32-9BBA40D57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9971"/>
            <a:ext cx="2628900" cy="5316992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B3C3301-2975-4C62-BDB3-AEFCF886D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9971"/>
            <a:ext cx="7734300" cy="5316992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F4FCE93-586F-4F63-910E-D5AFB853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3BFA-EC88-4504-9EC9-73C03670DFC1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1E293E8-5140-40A2-82F3-1FD07C76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5854097-A5B0-40F0-81B6-C15EF9094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37384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F5FFE4-BEFA-4643-9BDA-3AFADCE40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48EE826-58EC-48F4-9259-0D5AD675F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9920082-26D5-4810-94B7-6870E83A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E15FC-09F7-4EFD-9DB4-00DFC46F53B5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1941F8C-1A75-41B5-AB72-EBC3593B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3167B4-582A-4932-8BB7-65E38223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0735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DF5BBC-31E6-4F8F-B8B0-6BB00717B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B6C8EE3-1CEF-420C-B9AA-60EF4D73B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F83B0C2-3A93-456D-A1C7-0E7C075A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B5935-52B2-48BF-A8F0-594F3C8FEADF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81FF5E9-3E9A-4363-81E3-6A6975662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924A9EC-7D70-4038-B509-88EAECB7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2809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E91723-4082-4FE4-AEC6-575BC740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C7ADD37-9A77-4815-B91D-2C76F98E6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2A3B06F-A462-4660-8BEE-574CB0AC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C9FBA-A71F-491C-898C-A6B34568D157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EE003E8-58A2-444F-9BB1-9FB5997E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79CA385-3C72-494E-B4F4-4AD4DACFB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19900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709EB0-6344-4C63-8139-0DC345BC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776EFF7-5C60-4A2E-A0DF-DB30C5016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8DC8E67-4068-4499-A93A-BD1AA57FA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24C177-D927-435D-AAA5-94C93EEE5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991A-1113-4145-86DA-90838C629DEA}" type="datetime8">
              <a:rPr lang="he-IL" smtClean="0"/>
              <a:t>16 מאי 23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DB5C4D9-10F7-4706-9BE2-18BA3DCA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9A387D1-00C4-41F4-A38C-EDB64ED5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936269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0DCFE5A-518C-4E0C-9F84-81983CDA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24793"/>
            <a:ext cx="10515600" cy="102235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7AD87ED-6127-4595-8CA9-9DFCE51CF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EFB815F-A312-42B0-8778-40E0C78D8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D44CDA2-B127-46C0-8F8B-F4E4E5B76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ED2F5C2-CCE1-4674-AB6C-6475E2DB7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0255848-0175-44D1-A460-004A59CE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31ED-0C71-466A-BB6D-4A6817E6DCAE}" type="datetime8">
              <a:rPr lang="he-IL" smtClean="0"/>
              <a:t>16 מאי 23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2335784F-80B2-4F99-B555-9D8021F9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D8F4C34-571A-4E8B-9E11-D2326B41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88697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8A759D-C938-4B7B-93AA-230542D7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6949882-391B-4AEB-A23C-3FFB4119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01EFB-7F61-4369-91E6-C424B4BA3C9C}" type="datetime8">
              <a:rPr lang="he-IL" smtClean="0"/>
              <a:t>16 מאי 23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F6DDC2B-2983-4A85-9232-4EC9128E6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33CDBB1-8BB1-4934-9E0D-8ED86752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09245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760F164E-06E0-44F6-A029-2E0C4E56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DF81B-842D-4C10-9042-24CF88FF9AF5}" type="datetime8">
              <a:rPr lang="he-IL" smtClean="0"/>
              <a:t>16 מאי 23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DFEFDDA-7419-4F0E-8421-94439A12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3828DD3-F4A4-42C0-AADC-7741F8741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13913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E89120-A0BF-4268-A01C-9AB76A9CE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3880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C36FF2C-54E8-4980-9A2B-4B81B8575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33340AB-A000-4DAD-A481-ADCCBFB41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345C55F-CC6C-4753-AC85-71FA7CABC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4A16-BB60-4399-83A8-B428D0824A60}" type="datetime8">
              <a:rPr lang="he-IL" smtClean="0"/>
              <a:t>16 מאי 23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32E2C9A-B1EE-45E3-8512-4CB88963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B4F7726-FA36-4370-A953-40F276AE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77842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CE849D-8DE3-4FF0-9C32-4B5C7181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3880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E1034BF-1099-4EA6-865C-A95B53D3E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6DBEB10-B62F-4062-B851-9E680AD9C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F6126FC-0C2E-479C-ACD3-BA03B18D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FAC0-5A9A-4998-B7B9-535D7313DB69}" type="datetime8">
              <a:rPr lang="he-IL" smtClean="0"/>
              <a:t>16 מאי 23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1101AD3-F1D9-4057-8E66-A0DA828C0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6BD2273-BF14-44F5-A4D2-8764D366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7493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E81AC1-67FA-469B-80D5-4D51B0EEE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1BE41A4-5877-4380-97D0-A63A4BB1C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2C9E86D-5445-48EB-9CB8-B094FA5C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E49E-DF06-4112-B6F9-CD704B965575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7430682-B036-4A07-9C82-F48245458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F2B8DB0-09BD-40FC-8CCF-C82B1A9F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36987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DDCCDA1C-AD63-482F-8014-D8879892E7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620485"/>
            <a:ext cx="2628900" cy="5556477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651177D-5A3E-4490-8AD3-D45548896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620485"/>
            <a:ext cx="7734300" cy="555647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651C042-2C21-4AA8-A8FD-A48AC345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1E30B-DF52-4019-990D-64EB9AF34455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8CB9DF3-68AB-4863-84E2-5299DB27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448A4ED-A941-48D7-82FC-85D459A5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223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מלבן 54">
            <a:extLst>
              <a:ext uri="{FF2B5EF4-FFF2-40B4-BE49-F238E27FC236}">
                <a16:creationId xmlns:a16="http://schemas.microsoft.com/office/drawing/2014/main" id="{450B1103-66BD-47BD-BCAD-DAB274E3745B}"/>
              </a:ext>
            </a:extLst>
          </p:cNvPr>
          <p:cNvSpPr/>
          <p:nvPr userDrawn="1"/>
        </p:nvSpPr>
        <p:spPr>
          <a:xfrm>
            <a:off x="0" y="-19940"/>
            <a:ext cx="12192000" cy="687794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BDF654D-545E-4F5B-897B-0AC9549CD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24A5DF1-0C4F-439B-99B9-9E7D1F5DA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54" name="מציין מיקום של מספר שקופית 5">
            <a:extLst>
              <a:ext uri="{FF2B5EF4-FFF2-40B4-BE49-F238E27FC236}">
                <a16:creationId xmlns:a16="http://schemas.microsoft.com/office/drawing/2014/main" id="{B6E8A30C-790C-462C-AC30-2F7487639B1A}"/>
              </a:ext>
            </a:extLst>
          </p:cNvPr>
          <p:cNvSpPr txBox="1">
            <a:spLocks/>
          </p:cNvSpPr>
          <p:nvPr userDrawn="1"/>
        </p:nvSpPr>
        <p:spPr>
          <a:xfrm>
            <a:off x="19593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ADF7E5-5849-41FD-ABA7-FD00CF524850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lmoni Neue DL 4.0 AAA Medium"/>
                <a:ea typeface="+mn-ea"/>
                <a:cs typeface="Almoni Neue DL 4.0 AAA Medium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lmoni Neue DL 4.0 AAA Medium"/>
              <a:ea typeface="+mn-ea"/>
              <a:cs typeface="Almoni Neue DL 4.0 AAA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912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BDF654D-545E-4F5B-897B-0AC9549CD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527"/>
            <a:ext cx="10515600" cy="852161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24A5DF1-0C4F-439B-99B9-9E7D1F5DA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5732397-3F93-43D7-AEE7-7EAB836B2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60E14-CD2F-4F93-B84A-4053CA3C53A8}" type="datetime8">
              <a:rPr lang="he-IL" smtClean="0"/>
              <a:t>16 מאי 23</a:t>
            </a:fld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E1F573-90C6-4278-B0B2-4904869B8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7B0E382-5AF6-4CE6-A0D5-9DE1B60EB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DF7E5-5849-41FD-ABA7-FD00CF524850}" type="slidenum">
              <a:rPr lang="he-IL" smtClean="0"/>
              <a:t>‹#›</a:t>
            </a:fld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51D3D4CF-20D8-47FA-866D-033612F16ECF}"/>
              </a:ext>
            </a:extLst>
          </p:cNvPr>
          <p:cNvSpPr/>
          <p:nvPr userDrawn="1"/>
        </p:nvSpPr>
        <p:spPr>
          <a:xfrm>
            <a:off x="0" y="0"/>
            <a:ext cx="12192000" cy="707571"/>
          </a:xfrm>
          <a:prstGeom prst="rect">
            <a:avLst/>
          </a:prstGeom>
          <a:solidFill>
            <a:sysClr val="windowText" lastClr="000000">
              <a:lumMod val="85000"/>
              <a:lumOff val="1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" name="קבוצה 7">
            <a:extLst>
              <a:ext uri="{FF2B5EF4-FFF2-40B4-BE49-F238E27FC236}">
                <a16:creationId xmlns:a16="http://schemas.microsoft.com/office/drawing/2014/main" id="{B4E1CE52-1BAF-459F-BC05-229F66D02DDD}"/>
              </a:ext>
            </a:extLst>
          </p:cNvPr>
          <p:cNvGrpSpPr/>
          <p:nvPr userDrawn="1"/>
        </p:nvGrpSpPr>
        <p:grpSpPr>
          <a:xfrm>
            <a:off x="10289376" y="169119"/>
            <a:ext cx="1677865" cy="343457"/>
            <a:chOff x="1540713" y="766209"/>
            <a:chExt cx="9750423" cy="1995896"/>
          </a:xfrm>
        </p:grpSpPr>
        <p:pic>
          <p:nvPicPr>
            <p:cNvPr id="9" name="תמונה 8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836A9B01-A1B1-4200-8AE9-A43298F1EF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</p:spPr>
        </p:pic>
        <p:grpSp>
          <p:nvGrpSpPr>
            <p:cNvPr id="10" name="קבוצה 9">
              <a:extLst>
                <a:ext uri="{FF2B5EF4-FFF2-40B4-BE49-F238E27FC236}">
                  <a16:creationId xmlns:a16="http://schemas.microsoft.com/office/drawing/2014/main" id="{52B5D09E-6B86-4133-A710-C70D227CFAF3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</p:grpSpPr>
          <p:grpSp>
            <p:nvGrpSpPr>
              <p:cNvPr id="11" name="קבוצה 10">
                <a:extLst>
                  <a:ext uri="{FF2B5EF4-FFF2-40B4-BE49-F238E27FC236}">
                    <a16:creationId xmlns:a16="http://schemas.microsoft.com/office/drawing/2014/main" id="{75651A9B-863E-4A23-B035-93358101E855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solidFill>
                <a:sysClr val="window" lastClr="FFFFFF"/>
              </a:solidFill>
            </p:grpSpPr>
            <p:sp>
              <p:nvSpPr>
                <p:cNvPr id="13" name="צורה חופשית: צורה 12">
                  <a:extLst>
                    <a:ext uri="{FF2B5EF4-FFF2-40B4-BE49-F238E27FC236}">
                      <a16:creationId xmlns:a16="http://schemas.microsoft.com/office/drawing/2014/main" id="{2368CE89-5039-40B8-B10B-E7EFA09BCEBC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7D612FB0-45D4-4C56-8897-FC9D40534BD0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723DC653-956D-49C6-B863-7CF280EED831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C229C243-8344-45FB-B8A1-AF4BFE3877AD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C60A1A52-45AD-4414-8C87-D1B9B60247C3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E88277A7-258F-4064-A791-0116E8B821EC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צורה חופשית: צורה 18">
                  <a:extLst>
                    <a:ext uri="{FF2B5EF4-FFF2-40B4-BE49-F238E27FC236}">
                      <a16:creationId xmlns:a16="http://schemas.microsoft.com/office/drawing/2014/main" id="{F7AF3C0B-1E0F-44CB-AC6E-DDFBBE6C5955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1" anchor="ctr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" name="צורה חופשית: צורה 11">
                <a:extLst>
                  <a:ext uri="{FF2B5EF4-FFF2-40B4-BE49-F238E27FC236}">
                    <a16:creationId xmlns:a16="http://schemas.microsoft.com/office/drawing/2014/main" id="{CC5E8830-FB0A-418E-8F98-B7026038E538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1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0" name="תמונה 19">
            <a:extLst>
              <a:ext uri="{FF2B5EF4-FFF2-40B4-BE49-F238E27FC236}">
                <a16:creationId xmlns:a16="http://schemas.microsoft.com/office/drawing/2014/main" id="{FA1C4D57-BC1A-472D-B83D-7E6EFBCD45F5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12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1D57BAB-2273-4C90-A9DB-5174568F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418"/>
            <a:ext cx="10515600" cy="87427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F536ABD-3F50-4962-8C22-59F836A9E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B82273E-97FE-49BC-B4FA-F509A0DC8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F10A6-B3F4-4453-B379-B96752C0A430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EFC389-9084-4DCB-94DC-C7CE9DFA5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3CC2123-C7EC-4929-A247-69D27A9AA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EF4F9-3777-413B-825A-75FC5CFE6525}" type="slidenum">
              <a:rPr lang="he-IL" smtClean="0"/>
              <a:t>‹#›</a:t>
            </a:fld>
            <a:endParaRPr lang="he-IL"/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581EAD6F-04C0-4FF5-B8FB-C69590A5C457}"/>
              </a:ext>
            </a:extLst>
          </p:cNvPr>
          <p:cNvGrpSpPr/>
          <p:nvPr userDrawn="1"/>
        </p:nvGrpSpPr>
        <p:grpSpPr>
          <a:xfrm>
            <a:off x="10289376" y="169119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8" name="תמונה 7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3495EECE-CBFB-46A8-9A7B-B6529047C5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9" name="קבוצה 8">
              <a:extLst>
                <a:ext uri="{FF2B5EF4-FFF2-40B4-BE49-F238E27FC236}">
                  <a16:creationId xmlns:a16="http://schemas.microsoft.com/office/drawing/2014/main" id="{660EF643-96E2-4383-AF60-22E549B78903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0" name="קבוצה 9">
                <a:extLst>
                  <a:ext uri="{FF2B5EF4-FFF2-40B4-BE49-F238E27FC236}">
                    <a16:creationId xmlns:a16="http://schemas.microsoft.com/office/drawing/2014/main" id="{04D4E740-BFD1-4F5D-8EB0-6DD39C41E5A1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2" name="צורה חופשית: צורה 11">
                  <a:extLst>
                    <a:ext uri="{FF2B5EF4-FFF2-40B4-BE49-F238E27FC236}">
                      <a16:creationId xmlns:a16="http://schemas.microsoft.com/office/drawing/2014/main" id="{44275552-5316-4450-897B-358510D8AA7B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" name="צורה חופשית: צורה 12">
                  <a:extLst>
                    <a:ext uri="{FF2B5EF4-FFF2-40B4-BE49-F238E27FC236}">
                      <a16:creationId xmlns:a16="http://schemas.microsoft.com/office/drawing/2014/main" id="{8D86CDFB-8A45-4DDC-AB10-66335CA3C698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6B8C8BFD-C32E-471C-ACC5-6791C9832DD6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974AD044-804E-4E1D-860F-CD24AEE3AC5C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302CC542-B9BA-4F81-9921-846BCE58B47C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3346EDB4-44C0-4199-9941-856C5FAE6E4B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E62A5AE6-95C1-4CEA-A067-4AFCD078C324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" name="צורה חופשית: צורה 10">
                <a:extLst>
                  <a:ext uri="{FF2B5EF4-FFF2-40B4-BE49-F238E27FC236}">
                    <a16:creationId xmlns:a16="http://schemas.microsoft.com/office/drawing/2014/main" id="{D3CC5208-9634-4CBC-BFD4-5F68BFB6E20E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9" name="מחבר ישר 18">
            <a:extLst>
              <a:ext uri="{FF2B5EF4-FFF2-40B4-BE49-F238E27FC236}">
                <a16:creationId xmlns:a16="http://schemas.microsoft.com/office/drawing/2014/main" id="{8D7E1A8A-AA9B-44FE-B120-E196B80C0F9A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92150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תמונה 19">
            <a:extLst>
              <a:ext uri="{FF2B5EF4-FFF2-40B4-BE49-F238E27FC236}">
                <a16:creationId xmlns:a16="http://schemas.microsoft.com/office/drawing/2014/main" id="{A9EDBFF2-9743-4270-BAEC-F84EEE1B3FFD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9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D91D72D-5E61-442D-B996-963037EE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2886"/>
            <a:ext cx="10515600" cy="917802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18AC38F-D938-41EE-BB8A-F4B335347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97B113D-72E4-4A11-BD9E-055CC5BFE3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B924B-83DC-4F11-BD5E-53113AF69222}" type="datetime8">
              <a:rPr lang="he-IL" smtClean="0"/>
              <a:t>16 מאי 23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2211CF5-8B66-46FF-A8C3-A4EA2E894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9E7C95D-2C6F-4568-B9CE-99CF4B276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29ED4-5A9A-4083-806C-97BCDE61B507}" type="slidenum">
              <a:rPr lang="he-IL" smtClean="0"/>
              <a:t>‹#›</a:t>
            </a:fld>
            <a:endParaRPr lang="he-IL"/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1FE93D66-D02D-4A1D-84E7-CEE34D3BFE32}"/>
              </a:ext>
            </a:extLst>
          </p:cNvPr>
          <p:cNvGrpSpPr/>
          <p:nvPr userDrawn="1"/>
        </p:nvGrpSpPr>
        <p:grpSpPr>
          <a:xfrm>
            <a:off x="274519" y="189602"/>
            <a:ext cx="1677865" cy="343457"/>
            <a:chOff x="1540713" y="766209"/>
            <a:chExt cx="9750423" cy="1995896"/>
          </a:xfrm>
          <a:solidFill>
            <a:srgbClr val="1AC0DD"/>
          </a:solidFill>
        </p:grpSpPr>
        <p:pic>
          <p:nvPicPr>
            <p:cNvPr id="8" name="תמונה 7" descr="תמונה שמכילה שעון, צג, מסך&#10;&#10;התיאור נוצר באופן אוטומטי">
              <a:extLst>
                <a:ext uri="{FF2B5EF4-FFF2-40B4-BE49-F238E27FC236}">
                  <a16:creationId xmlns:a16="http://schemas.microsoft.com/office/drawing/2014/main" id="{2093AC06-2EC0-4B13-9121-8D39F3EB39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78" t="15479"/>
            <a:stretch/>
          </p:blipFill>
          <p:spPr>
            <a:xfrm>
              <a:off x="9421287" y="794658"/>
              <a:ext cx="1869849" cy="1967447"/>
            </a:xfrm>
            <a:prstGeom prst="rect">
              <a:avLst/>
            </a:prstGeom>
            <a:grpFill/>
          </p:spPr>
        </p:pic>
        <p:grpSp>
          <p:nvGrpSpPr>
            <p:cNvPr id="9" name="קבוצה 8">
              <a:extLst>
                <a:ext uri="{FF2B5EF4-FFF2-40B4-BE49-F238E27FC236}">
                  <a16:creationId xmlns:a16="http://schemas.microsoft.com/office/drawing/2014/main" id="{83E676FC-6C72-4E6B-9C09-98E28C0AB171}"/>
                </a:ext>
              </a:extLst>
            </p:cNvPr>
            <p:cNvGrpSpPr/>
            <p:nvPr/>
          </p:nvGrpSpPr>
          <p:grpSpPr>
            <a:xfrm>
              <a:off x="1540713" y="766209"/>
              <a:ext cx="7499487" cy="1909341"/>
              <a:chOff x="1640385" y="777609"/>
              <a:chExt cx="7499487" cy="1909341"/>
            </a:xfrm>
            <a:grpFill/>
          </p:grpSpPr>
          <p:grpSp>
            <p:nvGrpSpPr>
              <p:cNvPr id="10" name="קבוצה 9">
                <a:extLst>
                  <a:ext uri="{FF2B5EF4-FFF2-40B4-BE49-F238E27FC236}">
                    <a16:creationId xmlns:a16="http://schemas.microsoft.com/office/drawing/2014/main" id="{E1E413C1-D65F-4584-98FD-F7E8B8E8D905}"/>
                  </a:ext>
                </a:extLst>
              </p:cNvPr>
              <p:cNvGrpSpPr/>
              <p:nvPr/>
            </p:nvGrpSpPr>
            <p:grpSpPr>
              <a:xfrm>
                <a:off x="1640385" y="777609"/>
                <a:ext cx="7499487" cy="1909341"/>
                <a:chOff x="1640385" y="777609"/>
                <a:chExt cx="7499487" cy="1909341"/>
              </a:xfrm>
              <a:grpFill/>
            </p:grpSpPr>
            <p:sp>
              <p:nvSpPr>
                <p:cNvPr id="12" name="צורה חופשית: צורה 11">
                  <a:extLst>
                    <a:ext uri="{FF2B5EF4-FFF2-40B4-BE49-F238E27FC236}">
                      <a16:creationId xmlns:a16="http://schemas.microsoft.com/office/drawing/2014/main" id="{6839BE25-47DE-411C-8514-4F60EB7979AF}"/>
                    </a:ext>
                  </a:extLst>
                </p:cNvPr>
                <p:cNvSpPr/>
                <p:nvPr/>
              </p:nvSpPr>
              <p:spPr>
                <a:xfrm>
                  <a:off x="5874560" y="777609"/>
                  <a:ext cx="497101" cy="843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101" h="843555">
                      <a:moveTo>
                        <a:pt x="100603" y="0"/>
                      </a:moveTo>
                      <a:lnTo>
                        <a:pt x="497101" y="0"/>
                      </a:lnTo>
                      <a:lnTo>
                        <a:pt x="497101" y="307826"/>
                      </a:lnTo>
                      <a:lnTo>
                        <a:pt x="310687" y="843555"/>
                      </a:lnTo>
                      <a:lnTo>
                        <a:pt x="0" y="843555"/>
                      </a:lnTo>
                      <a:lnTo>
                        <a:pt x="10060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" name="צורה חופשית: צורה 12">
                  <a:extLst>
                    <a:ext uri="{FF2B5EF4-FFF2-40B4-BE49-F238E27FC236}">
                      <a16:creationId xmlns:a16="http://schemas.microsoft.com/office/drawing/2014/main" id="{13A92F85-2950-471C-B982-C48685DC080E}"/>
                    </a:ext>
                  </a:extLst>
                </p:cNvPr>
                <p:cNvSpPr/>
                <p:nvPr/>
              </p:nvSpPr>
              <p:spPr>
                <a:xfrm>
                  <a:off x="1640385" y="910437"/>
                  <a:ext cx="1663790" cy="1776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790" h="1776387">
                      <a:moveTo>
                        <a:pt x="0" y="0"/>
                      </a:moveTo>
                      <a:lnTo>
                        <a:pt x="482666" y="0"/>
                      </a:lnTo>
                      <a:lnTo>
                        <a:pt x="639606" y="1403580"/>
                      </a:lnTo>
                      <a:lnTo>
                        <a:pt x="719557" y="1403580"/>
                      </a:lnTo>
                      <a:cubicBezTo>
                        <a:pt x="886491" y="1407283"/>
                        <a:pt x="1005677" y="1368034"/>
                        <a:pt x="1077115" y="1285832"/>
                      </a:cubicBezTo>
                      <a:cubicBezTo>
                        <a:pt x="1148552" y="1203630"/>
                        <a:pt x="1183346" y="1056260"/>
                        <a:pt x="1181495" y="843720"/>
                      </a:cubicBezTo>
                      <a:lnTo>
                        <a:pt x="1181495" y="372734"/>
                      </a:lnTo>
                      <a:lnTo>
                        <a:pt x="796547" y="372734"/>
                      </a:lnTo>
                      <a:lnTo>
                        <a:pt x="796547" y="0"/>
                      </a:lnTo>
                      <a:lnTo>
                        <a:pt x="1663790" y="0"/>
                      </a:lnTo>
                      <a:lnTo>
                        <a:pt x="1663790" y="843720"/>
                      </a:lnTo>
                      <a:cubicBezTo>
                        <a:pt x="1663318" y="1079913"/>
                        <a:pt x="1626456" y="1266239"/>
                        <a:pt x="1553203" y="1402698"/>
                      </a:cubicBezTo>
                      <a:cubicBezTo>
                        <a:pt x="1479951" y="1539157"/>
                        <a:pt x="1373146" y="1635967"/>
                        <a:pt x="1232787" y="1693128"/>
                      </a:cubicBezTo>
                      <a:cubicBezTo>
                        <a:pt x="1092428" y="1750288"/>
                        <a:pt x="921351" y="1778017"/>
                        <a:pt x="719557" y="1776314"/>
                      </a:cubicBezTo>
                      <a:lnTo>
                        <a:pt x="204319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צורה חופשית: צורה 13">
                  <a:extLst>
                    <a:ext uri="{FF2B5EF4-FFF2-40B4-BE49-F238E27FC236}">
                      <a16:creationId xmlns:a16="http://schemas.microsoft.com/office/drawing/2014/main" id="{772A0207-0127-4166-9DB7-B3F2B233BDF6}"/>
                    </a:ext>
                  </a:extLst>
                </p:cNvPr>
                <p:cNvSpPr/>
                <p:nvPr/>
              </p:nvSpPr>
              <p:spPr>
                <a:xfrm>
                  <a:off x="3360640" y="910437"/>
                  <a:ext cx="858565" cy="1776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565" h="1776513">
                      <a:moveTo>
                        <a:pt x="124368" y="0"/>
                      </a:moveTo>
                      <a:lnTo>
                        <a:pt x="858361" y="0"/>
                      </a:lnTo>
                      <a:lnTo>
                        <a:pt x="858361" y="1234734"/>
                      </a:lnTo>
                      <a:cubicBezTo>
                        <a:pt x="861567" y="1438590"/>
                        <a:pt x="827047" y="1580650"/>
                        <a:pt x="754800" y="1660915"/>
                      </a:cubicBezTo>
                      <a:cubicBezTo>
                        <a:pt x="682554" y="1741181"/>
                        <a:pt x="553348" y="1779647"/>
                        <a:pt x="367182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180630" y="1403580"/>
                      </a:lnTo>
                      <a:cubicBezTo>
                        <a:pt x="256139" y="1404445"/>
                        <a:pt x="307959" y="1387165"/>
                        <a:pt x="336090" y="1351742"/>
                      </a:cubicBezTo>
                      <a:cubicBezTo>
                        <a:pt x="364221" y="1316318"/>
                        <a:pt x="377546" y="1257568"/>
                        <a:pt x="376065" y="1175489"/>
                      </a:cubicBezTo>
                      <a:lnTo>
                        <a:pt x="376065" y="372734"/>
                      </a:lnTo>
                      <a:lnTo>
                        <a:pt x="124368" y="372734"/>
                      </a:lnTo>
                      <a:lnTo>
                        <a:pt x="12436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צורה חופשית: צורה 14">
                  <a:extLst>
                    <a:ext uri="{FF2B5EF4-FFF2-40B4-BE49-F238E27FC236}">
                      <a16:creationId xmlns:a16="http://schemas.microsoft.com/office/drawing/2014/main" id="{A70C24AC-25AC-4B0E-AA8E-5559D20494B5}"/>
                    </a:ext>
                  </a:extLst>
                </p:cNvPr>
                <p:cNvSpPr/>
                <p:nvPr/>
              </p:nvSpPr>
              <p:spPr>
                <a:xfrm>
                  <a:off x="4490848" y="910436"/>
                  <a:ext cx="485257" cy="105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054166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054166"/>
                      </a:lnTo>
                      <a:lnTo>
                        <a:pt x="0" y="10541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צורה חופשית: צורה 15">
                  <a:extLst>
                    <a:ext uri="{FF2B5EF4-FFF2-40B4-BE49-F238E27FC236}">
                      <a16:creationId xmlns:a16="http://schemas.microsoft.com/office/drawing/2014/main" id="{B1EC876C-F4E8-49DD-B259-74688C0EBA2C}"/>
                    </a:ext>
                  </a:extLst>
                </p:cNvPr>
                <p:cNvSpPr/>
                <p:nvPr/>
              </p:nvSpPr>
              <p:spPr>
                <a:xfrm>
                  <a:off x="5184456" y="910436"/>
                  <a:ext cx="485257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57" h="1776314">
                      <a:moveTo>
                        <a:pt x="0" y="0"/>
                      </a:moveTo>
                      <a:lnTo>
                        <a:pt x="485257" y="0"/>
                      </a:lnTo>
                      <a:lnTo>
                        <a:pt x="485257" y="1776314"/>
                      </a:lnTo>
                      <a:lnTo>
                        <a:pt x="0" y="17763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צורה חופשית: צורה 16">
                  <a:extLst>
                    <a:ext uri="{FF2B5EF4-FFF2-40B4-BE49-F238E27FC236}">
                      <a16:creationId xmlns:a16="http://schemas.microsoft.com/office/drawing/2014/main" id="{29491160-4DB9-4425-A019-A5E15CAFEFD1}"/>
                    </a:ext>
                  </a:extLst>
                </p:cNvPr>
                <p:cNvSpPr/>
                <p:nvPr/>
              </p:nvSpPr>
              <p:spPr>
                <a:xfrm>
                  <a:off x="6330171" y="910436"/>
                  <a:ext cx="115699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6991" h="1776314">
                      <a:moveTo>
                        <a:pt x="130289" y="0"/>
                      </a:moveTo>
                      <a:lnTo>
                        <a:pt x="860877" y="0"/>
                      </a:lnTo>
                      <a:lnTo>
                        <a:pt x="1156991" y="1776314"/>
                      </a:lnTo>
                      <a:lnTo>
                        <a:pt x="695053" y="1776314"/>
                      </a:lnTo>
                      <a:lnTo>
                        <a:pt x="632869" y="1382845"/>
                      </a:lnTo>
                      <a:lnTo>
                        <a:pt x="618063" y="1382845"/>
                      </a:lnTo>
                      <a:cubicBezTo>
                        <a:pt x="589092" y="1504083"/>
                        <a:pt x="533915" y="1599616"/>
                        <a:pt x="452531" y="1669445"/>
                      </a:cubicBezTo>
                      <a:cubicBezTo>
                        <a:pt x="371148" y="1739274"/>
                        <a:pt x="252877" y="1774897"/>
                        <a:pt x="97717" y="1776314"/>
                      </a:cubicBezTo>
                      <a:lnTo>
                        <a:pt x="0" y="1776314"/>
                      </a:lnTo>
                      <a:lnTo>
                        <a:pt x="0" y="1403580"/>
                      </a:lnTo>
                      <a:lnTo>
                        <a:pt x="97717" y="1403580"/>
                      </a:lnTo>
                      <a:cubicBezTo>
                        <a:pt x="286093" y="1402099"/>
                        <a:pt x="412628" y="1352482"/>
                        <a:pt x="477323" y="1254729"/>
                      </a:cubicBezTo>
                      <a:cubicBezTo>
                        <a:pt x="542018" y="1156975"/>
                        <a:pt x="560579" y="1019973"/>
                        <a:pt x="533004" y="843720"/>
                      </a:cubicBezTo>
                      <a:lnTo>
                        <a:pt x="467859" y="372734"/>
                      </a:lnTo>
                      <a:lnTo>
                        <a:pt x="130289" y="372734"/>
                      </a:lnTo>
                      <a:lnTo>
                        <a:pt x="13028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ct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צורה חופשית: צורה 17">
                  <a:extLst>
                    <a:ext uri="{FF2B5EF4-FFF2-40B4-BE49-F238E27FC236}">
                      <a16:creationId xmlns:a16="http://schemas.microsoft.com/office/drawing/2014/main" id="{6BDAC5ED-6E82-4E56-BE91-C9AEFC55DE78}"/>
                    </a:ext>
                  </a:extLst>
                </p:cNvPr>
                <p:cNvSpPr/>
                <p:nvPr/>
              </p:nvSpPr>
              <p:spPr>
                <a:xfrm>
                  <a:off x="7603411" y="910436"/>
                  <a:ext cx="1536461" cy="1776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6461" h="1776314">
                      <a:moveTo>
                        <a:pt x="0" y="0"/>
                      </a:moveTo>
                      <a:lnTo>
                        <a:pt x="1536461" y="0"/>
                      </a:lnTo>
                      <a:lnTo>
                        <a:pt x="1536461" y="1776314"/>
                      </a:lnTo>
                      <a:lnTo>
                        <a:pt x="1054166" y="1776314"/>
                      </a:lnTo>
                      <a:lnTo>
                        <a:pt x="1054166" y="372734"/>
                      </a:lnTo>
                      <a:lnTo>
                        <a:pt x="0" y="3727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1" anchor="ctr">
                  <a:noAutofit/>
                </a:bodyPr>
                <a:lstStyle/>
                <a:p>
                  <a:pPr marL="0" marR="0" lvl="0" indent="0" algn="r" defTabSz="914400" rtl="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" name="צורה חופשית: צורה 10">
                <a:extLst>
                  <a:ext uri="{FF2B5EF4-FFF2-40B4-BE49-F238E27FC236}">
                    <a16:creationId xmlns:a16="http://schemas.microsoft.com/office/drawing/2014/main" id="{8A34F2E0-014D-4FE1-A4F6-865EF2C4EDF0}"/>
                  </a:ext>
                </a:extLst>
              </p:cNvPr>
              <p:cNvSpPr/>
              <p:nvPr/>
            </p:nvSpPr>
            <p:spPr>
              <a:xfrm>
                <a:off x="7609333" y="1671450"/>
                <a:ext cx="485257" cy="1015301"/>
              </a:xfrm>
              <a:custGeom>
                <a:avLst/>
                <a:gdLst/>
                <a:ahLst/>
                <a:cxnLst/>
                <a:rect l="l" t="t" r="r" b="b"/>
                <a:pathLst>
                  <a:path w="485257" h="1015301">
                    <a:moveTo>
                      <a:pt x="0" y="0"/>
                    </a:moveTo>
                    <a:lnTo>
                      <a:pt x="485257" y="0"/>
                    </a:lnTo>
                    <a:lnTo>
                      <a:pt x="485257" y="1015301"/>
                    </a:lnTo>
                    <a:lnTo>
                      <a:pt x="0" y="101530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he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ED6D7E13-CF17-4F5C-A104-4CBC36F42F60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609"/>
          <a:stretch/>
        </p:blipFill>
        <p:spPr>
          <a:xfrm rot="16200000">
            <a:off x="6060000" y="725999"/>
            <a:ext cx="72000" cy="1219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7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>
            <a:extLst>
              <a:ext uri="{FF2B5EF4-FFF2-40B4-BE49-F238E27FC236}">
                <a16:creationId xmlns:a16="http://schemas.microsoft.com/office/drawing/2014/main" id="{0B01184F-10AF-41E6-BAC9-E6C576E9A0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תהליך תקצוב אישי</a:t>
            </a:r>
          </a:p>
        </p:txBody>
      </p:sp>
      <p:sp>
        <p:nvSpPr>
          <p:cNvPr id="5" name="כותרת משנה 4">
            <a:extLst>
              <a:ext uri="{FF2B5EF4-FFF2-40B4-BE49-F238E27FC236}">
                <a16:creationId xmlns:a16="http://schemas.microsoft.com/office/drawing/2014/main" id="{78DCD1D4-EC63-4B14-99F3-E42883110A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6.2.23</a:t>
            </a:r>
          </a:p>
        </p:txBody>
      </p:sp>
    </p:spTree>
    <p:extLst>
      <p:ext uri="{BB962C8B-B14F-4D97-AF65-F5344CB8AC3E}">
        <p14:creationId xmlns:p14="http://schemas.microsoft.com/office/powerpoint/2010/main" val="300194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F604C1-1686-9D04-5D7F-9A649E589DD8}"/>
              </a:ext>
            </a:extLst>
          </p:cNvPr>
          <p:cNvSpPr/>
          <p:nvPr/>
        </p:nvSpPr>
        <p:spPr>
          <a:xfrm>
            <a:off x="5923110" y="3487387"/>
            <a:ext cx="865234" cy="536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מתאם </a:t>
            </a:r>
            <a:r>
              <a:rPr lang="he-IL" sz="1050" dirty="0" err="1"/>
              <a:t>תכניות</a:t>
            </a:r>
            <a:r>
              <a:rPr lang="he-IL" sz="1050" dirty="0"/>
              <a:t> אישיות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89F289-4739-EF0D-1213-5E13A38A25A1}"/>
              </a:ext>
            </a:extLst>
          </p:cNvPr>
          <p:cNvSpPr/>
          <p:nvPr/>
        </p:nvSpPr>
        <p:spPr>
          <a:xfrm>
            <a:off x="9363637" y="3513146"/>
            <a:ext cx="782035" cy="724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ביטוח לאומי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B1A55-5138-DF62-6C5F-A09324526263}"/>
              </a:ext>
            </a:extLst>
          </p:cNvPr>
          <p:cNvSpPr/>
          <p:nvPr/>
        </p:nvSpPr>
        <p:spPr>
          <a:xfrm>
            <a:off x="10724164" y="3543296"/>
            <a:ext cx="782035" cy="724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ספק בריאות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872FCF-A945-6B13-13CE-A4BB62E4B2F9}"/>
              </a:ext>
            </a:extLst>
          </p:cNvPr>
          <p:cNvSpPr/>
          <p:nvPr/>
        </p:nvSpPr>
        <p:spPr>
          <a:xfrm>
            <a:off x="7803983" y="2587615"/>
            <a:ext cx="782035" cy="724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משרד הרווחה – מנהל המוגבלויות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4F5E9-BEBD-EE85-0054-5B839ABC9C24}"/>
              </a:ext>
            </a:extLst>
          </p:cNvPr>
          <p:cNvSpPr/>
          <p:nvPr/>
        </p:nvSpPr>
        <p:spPr>
          <a:xfrm>
            <a:off x="7803983" y="4743965"/>
            <a:ext cx="782035" cy="724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משרד הבריאות – וועדת סל שיקום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6DDDED-36ED-6AD0-309A-3AC971186B38}"/>
              </a:ext>
            </a:extLst>
          </p:cNvPr>
          <p:cNvSpPr txBox="1"/>
          <p:nvPr/>
        </p:nvSpPr>
        <p:spPr>
          <a:xfrm>
            <a:off x="9728923" y="1391920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הבשורה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810E68-FC24-0A6A-E7AE-8A818D3A48DA}"/>
              </a:ext>
            </a:extLst>
          </p:cNvPr>
          <p:cNvSpPr txBox="1"/>
          <p:nvPr/>
        </p:nvSpPr>
        <p:spPr>
          <a:xfrm>
            <a:off x="8332867" y="1391920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קביעת נכות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F888F0-1184-DCFE-5F01-7B4880FFACB0}"/>
              </a:ext>
            </a:extLst>
          </p:cNvPr>
          <p:cNvSpPr txBox="1"/>
          <p:nvPr/>
        </p:nvSpPr>
        <p:spPr>
          <a:xfrm>
            <a:off x="7014830" y="1414950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זכאות לשירותים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967BE6-1C97-3110-CD78-A2C696B43690}"/>
              </a:ext>
            </a:extLst>
          </p:cNvPr>
          <p:cNvSpPr txBox="1"/>
          <p:nvPr/>
        </p:nvSpPr>
        <p:spPr>
          <a:xfrm>
            <a:off x="5110480" y="1391920"/>
            <a:ext cx="197104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יצירת תכנית </a:t>
            </a:r>
          </a:p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  אישית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3444E5-F4F8-A646-B576-B116CE0A8651}"/>
              </a:ext>
            </a:extLst>
          </p:cNvPr>
          <p:cNvSpPr txBox="1"/>
          <p:nvPr/>
        </p:nvSpPr>
        <p:spPr>
          <a:xfrm>
            <a:off x="2329301" y="1427839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בחירת שירותים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FAA3CA-E472-61B1-97CC-9EA9573E59E5}"/>
              </a:ext>
            </a:extLst>
          </p:cNvPr>
          <p:cNvSpPr txBox="1"/>
          <p:nvPr/>
        </p:nvSpPr>
        <p:spPr>
          <a:xfrm>
            <a:off x="10885805" y="849371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7CC098-6529-4621-4C0F-0A855978AFAF}"/>
              </a:ext>
            </a:extLst>
          </p:cNvPr>
          <p:cNvSpPr txBox="1"/>
          <p:nvPr/>
        </p:nvSpPr>
        <p:spPr>
          <a:xfrm>
            <a:off x="9376038" y="849445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C28D4D-4418-1146-76F4-82F85AAFD1A4}"/>
              </a:ext>
            </a:extLst>
          </p:cNvPr>
          <p:cNvSpPr txBox="1"/>
          <p:nvPr/>
        </p:nvSpPr>
        <p:spPr>
          <a:xfrm>
            <a:off x="7912426" y="872400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16DB93-6550-7650-FB8F-0447F5A82F53}"/>
              </a:ext>
            </a:extLst>
          </p:cNvPr>
          <p:cNvSpPr txBox="1"/>
          <p:nvPr/>
        </p:nvSpPr>
        <p:spPr>
          <a:xfrm>
            <a:off x="6058379" y="84306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E3AE61-8F05-1870-89F2-ED1CC9C03A40}"/>
              </a:ext>
            </a:extLst>
          </p:cNvPr>
          <p:cNvSpPr txBox="1"/>
          <p:nvPr/>
        </p:nvSpPr>
        <p:spPr>
          <a:xfrm>
            <a:off x="3010355" y="84306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16456D-6A64-02F0-7F8E-B5A5C79B6257}"/>
              </a:ext>
            </a:extLst>
          </p:cNvPr>
          <p:cNvSpPr txBox="1"/>
          <p:nvPr/>
        </p:nvSpPr>
        <p:spPr>
          <a:xfrm>
            <a:off x="311759" y="849371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7DC203-1A8D-1079-A2BA-55C0B610B7FC}"/>
              </a:ext>
            </a:extLst>
          </p:cNvPr>
          <p:cNvSpPr txBox="1"/>
          <p:nvPr/>
        </p:nvSpPr>
        <p:spPr>
          <a:xfrm>
            <a:off x="-1003216" y="1434146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בקרה</a:t>
            </a:r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09B8C6D3-EAA4-492A-7EE2-4A4B914F46C0}"/>
              </a:ext>
            </a:extLst>
          </p:cNvPr>
          <p:cNvSpPr/>
          <p:nvPr/>
        </p:nvSpPr>
        <p:spPr>
          <a:xfrm rot="2949594">
            <a:off x="8954406" y="3110176"/>
            <a:ext cx="279798" cy="953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4BDC6E14-C7EB-FA63-6545-ED2874A8CF86}"/>
              </a:ext>
            </a:extLst>
          </p:cNvPr>
          <p:cNvSpPr/>
          <p:nvPr/>
        </p:nvSpPr>
        <p:spPr>
          <a:xfrm rot="19359016">
            <a:off x="9007180" y="5049096"/>
            <a:ext cx="279798" cy="9530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Arrow: Left 25">
            <a:extLst>
              <a:ext uri="{FF2B5EF4-FFF2-40B4-BE49-F238E27FC236}">
                <a16:creationId xmlns:a16="http://schemas.microsoft.com/office/drawing/2014/main" id="{493BFB10-7754-032A-C5FD-DBB53BE9346B}"/>
              </a:ext>
            </a:extLst>
          </p:cNvPr>
          <p:cNvSpPr/>
          <p:nvPr/>
        </p:nvSpPr>
        <p:spPr>
          <a:xfrm rot="19011651">
            <a:off x="7310664" y="3072846"/>
            <a:ext cx="254211" cy="9585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C10EDEA6-E462-42CF-8098-CA21F30A017A}"/>
              </a:ext>
            </a:extLst>
          </p:cNvPr>
          <p:cNvSpPr/>
          <p:nvPr/>
        </p:nvSpPr>
        <p:spPr>
          <a:xfrm rot="2949594">
            <a:off x="7172351" y="4925387"/>
            <a:ext cx="279798" cy="953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2C5F69B3-FB96-62CE-0D5E-2ABF5E658C01}"/>
              </a:ext>
            </a:extLst>
          </p:cNvPr>
          <p:cNvSpPr/>
          <p:nvPr/>
        </p:nvSpPr>
        <p:spPr>
          <a:xfrm>
            <a:off x="10249765" y="3905573"/>
            <a:ext cx="135427" cy="9771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22F28034-9A74-8113-AA82-A4D42D8DEA5E}"/>
              </a:ext>
            </a:extLst>
          </p:cNvPr>
          <p:cNvSpPr/>
          <p:nvPr/>
        </p:nvSpPr>
        <p:spPr>
          <a:xfrm>
            <a:off x="5578357" y="3992505"/>
            <a:ext cx="149835" cy="14482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Arrow: Left 29">
            <a:extLst>
              <a:ext uri="{FF2B5EF4-FFF2-40B4-BE49-F238E27FC236}">
                <a16:creationId xmlns:a16="http://schemas.microsoft.com/office/drawing/2014/main" id="{40C93D31-0F75-7CAF-2060-242C1134301E}"/>
              </a:ext>
            </a:extLst>
          </p:cNvPr>
          <p:cNvSpPr/>
          <p:nvPr/>
        </p:nvSpPr>
        <p:spPr>
          <a:xfrm>
            <a:off x="4195658" y="4041078"/>
            <a:ext cx="149835" cy="14482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CBFAE4-6EFB-C0C3-FAA8-BDDD195F5B03}"/>
              </a:ext>
            </a:extLst>
          </p:cNvPr>
          <p:cNvSpPr/>
          <p:nvPr/>
        </p:nvSpPr>
        <p:spPr>
          <a:xfrm>
            <a:off x="5923110" y="4179167"/>
            <a:ext cx="865234" cy="487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מתאם </a:t>
            </a:r>
            <a:r>
              <a:rPr lang="he-IL" sz="1050" dirty="0" err="1"/>
              <a:t>תכניות</a:t>
            </a:r>
            <a:r>
              <a:rPr lang="he-IL" sz="1050" dirty="0"/>
              <a:t> אישיות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B75550-77FF-9BF6-ABB3-A2A9B1B70057}"/>
              </a:ext>
            </a:extLst>
          </p:cNvPr>
          <p:cNvSpPr/>
          <p:nvPr/>
        </p:nvSpPr>
        <p:spPr>
          <a:xfrm>
            <a:off x="4555579" y="3487387"/>
            <a:ext cx="865234" cy="536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משרד הרווחה פיקוח מחוזי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D36B3C-71CA-1F90-001A-4D4CDC8359A7}"/>
              </a:ext>
            </a:extLst>
          </p:cNvPr>
          <p:cNvSpPr/>
          <p:nvPr/>
        </p:nvSpPr>
        <p:spPr>
          <a:xfrm>
            <a:off x="4555579" y="4179167"/>
            <a:ext cx="865234" cy="487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 משרד הבריאות פיקוח מחוזי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DC7689-6B83-756E-9901-81730D6EA6B7}"/>
              </a:ext>
            </a:extLst>
          </p:cNvPr>
          <p:cNvSpPr/>
          <p:nvPr/>
        </p:nvSpPr>
        <p:spPr>
          <a:xfrm>
            <a:off x="3058765" y="3487387"/>
            <a:ext cx="865234" cy="536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מתאם תוכניות אישיות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5A6130-9666-3A43-4ED2-7D5490855F16}"/>
              </a:ext>
            </a:extLst>
          </p:cNvPr>
          <p:cNvSpPr/>
          <p:nvPr/>
        </p:nvSpPr>
        <p:spPr>
          <a:xfrm>
            <a:off x="3058765" y="4179167"/>
            <a:ext cx="865234" cy="487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מתאם תוכניות אישיות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E50A95-A80E-5009-E925-37133E33C74A}"/>
              </a:ext>
            </a:extLst>
          </p:cNvPr>
          <p:cNvSpPr txBox="1"/>
          <p:nvPr/>
        </p:nvSpPr>
        <p:spPr>
          <a:xfrm rot="5400000" flipH="1">
            <a:off x="11188055" y="757307"/>
            <a:ext cx="154622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השלב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113A83-167D-2852-FB7D-EA104826DCF5}"/>
              </a:ext>
            </a:extLst>
          </p:cNvPr>
          <p:cNvSpPr txBox="1"/>
          <p:nvPr/>
        </p:nvSpPr>
        <p:spPr>
          <a:xfrm rot="5400000" flipH="1">
            <a:off x="10706599" y="3611349"/>
            <a:ext cx="250913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בעלות על התהליך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58CC5-BE8E-BFE6-1B31-61965E6FD160}"/>
              </a:ext>
            </a:extLst>
          </p:cNvPr>
          <p:cNvSpPr txBox="1"/>
          <p:nvPr/>
        </p:nvSpPr>
        <p:spPr>
          <a:xfrm>
            <a:off x="3796390" y="1427230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אישור התוכנית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814F73-E38E-F801-6DC1-DD17F06B41D3}"/>
              </a:ext>
            </a:extLst>
          </p:cNvPr>
          <p:cNvSpPr txBox="1"/>
          <p:nvPr/>
        </p:nvSpPr>
        <p:spPr>
          <a:xfrm>
            <a:off x="4510386" y="817305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004B1-ABCA-2FF5-3751-E1762A650E5A}"/>
              </a:ext>
            </a:extLst>
          </p:cNvPr>
          <p:cNvSpPr txBox="1"/>
          <p:nvPr/>
        </p:nvSpPr>
        <p:spPr>
          <a:xfrm>
            <a:off x="725357" y="1422142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מימוש התוכנית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8ED520-B35C-1A58-780D-6E1725C95ECB}"/>
              </a:ext>
            </a:extLst>
          </p:cNvPr>
          <p:cNvSpPr txBox="1"/>
          <p:nvPr/>
        </p:nvSpPr>
        <p:spPr>
          <a:xfrm>
            <a:off x="1595398" y="849445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CA3A9E8F-364E-E909-368A-2C2ECC9359CA}"/>
              </a:ext>
            </a:extLst>
          </p:cNvPr>
          <p:cNvSpPr/>
          <p:nvPr/>
        </p:nvSpPr>
        <p:spPr>
          <a:xfrm>
            <a:off x="2715393" y="4041078"/>
            <a:ext cx="149835" cy="14482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858E587-8F09-C82F-F100-1A2C3E5477AA}"/>
              </a:ext>
            </a:extLst>
          </p:cNvPr>
          <p:cNvSpPr/>
          <p:nvPr/>
        </p:nvSpPr>
        <p:spPr>
          <a:xfrm>
            <a:off x="1578500" y="3487387"/>
            <a:ext cx="865234" cy="536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משרד הרווחה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18EC9-8B0B-86A3-A085-3510E438B877}"/>
              </a:ext>
            </a:extLst>
          </p:cNvPr>
          <p:cNvSpPr/>
          <p:nvPr/>
        </p:nvSpPr>
        <p:spPr>
          <a:xfrm>
            <a:off x="1578500" y="4179167"/>
            <a:ext cx="865234" cy="487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 משרד הבריאות</a:t>
            </a:r>
          </a:p>
        </p:txBody>
      </p:sp>
      <p:sp>
        <p:nvSpPr>
          <p:cNvPr id="40" name="Arrow: Left 39">
            <a:extLst>
              <a:ext uri="{FF2B5EF4-FFF2-40B4-BE49-F238E27FC236}">
                <a16:creationId xmlns:a16="http://schemas.microsoft.com/office/drawing/2014/main" id="{557B6A89-E601-4538-B65C-0B363310C597}"/>
              </a:ext>
            </a:extLst>
          </p:cNvPr>
          <p:cNvSpPr/>
          <p:nvPr/>
        </p:nvSpPr>
        <p:spPr>
          <a:xfrm>
            <a:off x="1273528" y="4041078"/>
            <a:ext cx="149835" cy="14482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796B44-136C-BA82-4C15-75990DAD6879}"/>
              </a:ext>
            </a:extLst>
          </p:cNvPr>
          <p:cNvSpPr/>
          <p:nvPr/>
        </p:nvSpPr>
        <p:spPr>
          <a:xfrm>
            <a:off x="136635" y="3487387"/>
            <a:ext cx="865234" cy="536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משרד הרווחה – פיקוח מחוזי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8DC5D6-C707-38E5-A155-0604A9C6D02A}"/>
              </a:ext>
            </a:extLst>
          </p:cNvPr>
          <p:cNvSpPr/>
          <p:nvPr/>
        </p:nvSpPr>
        <p:spPr>
          <a:xfrm>
            <a:off x="136635" y="4179167"/>
            <a:ext cx="865234" cy="487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050" dirty="0"/>
              <a:t> משרד הבריאות – פיקוח מחוזי</a:t>
            </a:r>
          </a:p>
        </p:txBody>
      </p:sp>
      <p:sp>
        <p:nvSpPr>
          <p:cNvPr id="43" name="Arrow: Curved Up 42">
            <a:extLst>
              <a:ext uri="{FF2B5EF4-FFF2-40B4-BE49-F238E27FC236}">
                <a16:creationId xmlns:a16="http://schemas.microsoft.com/office/drawing/2014/main" id="{C9782E03-1BAE-8158-4308-7C1670E396D4}"/>
              </a:ext>
            </a:extLst>
          </p:cNvPr>
          <p:cNvSpPr/>
          <p:nvPr/>
        </p:nvSpPr>
        <p:spPr>
          <a:xfrm>
            <a:off x="1797269" y="4836038"/>
            <a:ext cx="4826260" cy="87846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37A2DD-43B1-6EC2-3E3A-E41C08F78C00}"/>
              </a:ext>
            </a:extLst>
          </p:cNvPr>
          <p:cNvSpPr txBox="1"/>
          <p:nvPr/>
        </p:nvSpPr>
        <p:spPr>
          <a:xfrm>
            <a:off x="2160549" y="5791200"/>
            <a:ext cx="39354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פעם בחצי שנה בודקים מחדש את התוכנית</a:t>
            </a:r>
          </a:p>
        </p:txBody>
      </p:sp>
    </p:spTree>
    <p:extLst>
      <p:ext uri="{BB962C8B-B14F-4D97-AF65-F5344CB8AC3E}">
        <p14:creationId xmlns:p14="http://schemas.microsoft.com/office/powerpoint/2010/main" val="390065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A40A10FF-F83E-5698-3F11-5D2D833B6F2F}"/>
              </a:ext>
            </a:extLst>
          </p:cNvPr>
          <p:cNvSpPr/>
          <p:nvPr/>
        </p:nvSpPr>
        <p:spPr>
          <a:xfrm>
            <a:off x="0" y="6146357"/>
            <a:ext cx="11665227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3361ECD-7092-8C43-400A-0D8C00CB1247}"/>
              </a:ext>
            </a:extLst>
          </p:cNvPr>
          <p:cNvSpPr/>
          <p:nvPr/>
        </p:nvSpPr>
        <p:spPr>
          <a:xfrm>
            <a:off x="14294" y="3508608"/>
            <a:ext cx="11709557" cy="16328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4B17BC3-91A8-3D1E-33D6-97B08AF0E51B}"/>
              </a:ext>
            </a:extLst>
          </p:cNvPr>
          <p:cNvSpPr/>
          <p:nvPr/>
        </p:nvSpPr>
        <p:spPr>
          <a:xfrm>
            <a:off x="0" y="1847042"/>
            <a:ext cx="11665227" cy="8467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C5076F-91FE-2C59-B0E6-1E126D3152A9}"/>
              </a:ext>
            </a:extLst>
          </p:cNvPr>
          <p:cNvSpPr txBox="1"/>
          <p:nvPr/>
        </p:nvSpPr>
        <p:spPr>
          <a:xfrm rot="5400000" flipH="1">
            <a:off x="11152577" y="672784"/>
            <a:ext cx="154622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השלב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229B9E-ED29-F9A3-2A19-93D2AC15AF0A}"/>
              </a:ext>
            </a:extLst>
          </p:cNvPr>
          <p:cNvSpPr txBox="1"/>
          <p:nvPr/>
        </p:nvSpPr>
        <p:spPr>
          <a:xfrm rot="5400000" flipH="1">
            <a:off x="11152575" y="1809282"/>
            <a:ext cx="154622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גוף ממשלתי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1A7FA2-8170-0598-19FC-9A9DDA4059A2}"/>
              </a:ext>
            </a:extLst>
          </p:cNvPr>
          <p:cNvSpPr txBox="1"/>
          <p:nvPr/>
        </p:nvSpPr>
        <p:spPr>
          <a:xfrm rot="5400000" flipH="1">
            <a:off x="11152576" y="3961780"/>
            <a:ext cx="154622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פעולות אדם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2EBD25-85EE-ABA7-7878-B4C49E5DB2CA}"/>
              </a:ext>
            </a:extLst>
          </p:cNvPr>
          <p:cNvSpPr txBox="1"/>
          <p:nvPr/>
        </p:nvSpPr>
        <p:spPr>
          <a:xfrm>
            <a:off x="9769983" y="2076885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ספק בריאות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525B96-7E97-18BC-9FBC-DC08E5BA8137}"/>
              </a:ext>
            </a:extLst>
          </p:cNvPr>
          <p:cNvSpPr txBox="1"/>
          <p:nvPr/>
        </p:nvSpPr>
        <p:spPr>
          <a:xfrm>
            <a:off x="8375079" y="2055854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ביטוח לאומי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1E837D-1B20-A8EC-5466-C792470AF925}"/>
              </a:ext>
            </a:extLst>
          </p:cNvPr>
          <p:cNvSpPr txBox="1"/>
          <p:nvPr/>
        </p:nvSpPr>
        <p:spPr>
          <a:xfrm>
            <a:off x="7021584" y="2063906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rgbClr val="C00000"/>
                </a:solidFill>
              </a:rPr>
              <a:t>משרד הרווחה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4F0C8F-61C7-8295-B4F2-0AFEB9462CEB}"/>
              </a:ext>
            </a:extLst>
          </p:cNvPr>
          <p:cNvSpPr txBox="1"/>
          <p:nvPr/>
        </p:nvSpPr>
        <p:spPr>
          <a:xfrm>
            <a:off x="5390460" y="1962362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E6F51D-420A-3E8A-8FCD-89DDB81BCF99}"/>
              </a:ext>
            </a:extLst>
          </p:cNvPr>
          <p:cNvSpPr txBox="1"/>
          <p:nvPr/>
        </p:nvSpPr>
        <p:spPr>
          <a:xfrm>
            <a:off x="2322404" y="1995697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42631C-35F0-4B27-1855-D26BE1410840}"/>
              </a:ext>
            </a:extLst>
          </p:cNvPr>
          <p:cNvSpPr txBox="1"/>
          <p:nvPr/>
        </p:nvSpPr>
        <p:spPr>
          <a:xfrm>
            <a:off x="-730252" y="1976438"/>
            <a:ext cx="197104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  <a:p>
            <a:endParaRPr lang="he-IL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31FF61-000F-4C8B-C632-CF4A81FE6D36}"/>
              </a:ext>
            </a:extLst>
          </p:cNvPr>
          <p:cNvSpPr txBox="1"/>
          <p:nvPr/>
        </p:nvSpPr>
        <p:spPr>
          <a:xfrm rot="5400000" flipH="1">
            <a:off x="11152577" y="2509154"/>
            <a:ext cx="154622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מקצוע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A668B5-0A2B-8517-ADC5-B86D8C938A1E}"/>
              </a:ext>
            </a:extLst>
          </p:cNvPr>
          <p:cNvSpPr txBox="1"/>
          <p:nvPr/>
        </p:nvSpPr>
        <p:spPr>
          <a:xfrm rot="5400000" flipH="1">
            <a:off x="11163296" y="5758516"/>
            <a:ext cx="154622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תוצר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C0E14D-F885-4A81-DF87-7ECE0A22E052}"/>
              </a:ext>
            </a:extLst>
          </p:cNvPr>
          <p:cNvSpPr txBox="1"/>
          <p:nvPr/>
        </p:nvSpPr>
        <p:spPr>
          <a:xfrm>
            <a:off x="9752811" y="2794294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tx2">
                    <a:lumMod val="75000"/>
                  </a:schemeClr>
                </a:solidFill>
              </a:rPr>
              <a:t>מקצועות </a:t>
            </a:r>
          </a:p>
          <a:p>
            <a:r>
              <a:rPr lang="he-IL" sz="1600" dirty="0">
                <a:solidFill>
                  <a:schemeClr val="tx2">
                    <a:lumMod val="75000"/>
                  </a:schemeClr>
                </a:solidFill>
              </a:rPr>
              <a:t>הבריאות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0CB3B1-9408-3C43-EDF8-B377B8E783FE}"/>
              </a:ext>
            </a:extLst>
          </p:cNvPr>
          <p:cNvSpPr txBox="1"/>
          <p:nvPr/>
        </p:nvSpPr>
        <p:spPr>
          <a:xfrm>
            <a:off x="8484915" y="2831860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tx2">
                    <a:lumMod val="75000"/>
                  </a:schemeClr>
                </a:solidFill>
              </a:rPr>
              <a:t>וועדה רפואית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53D85D-CC61-2FD0-E019-0D860D7D2C1E}"/>
              </a:ext>
            </a:extLst>
          </p:cNvPr>
          <p:cNvSpPr txBox="1"/>
          <p:nvPr/>
        </p:nvSpPr>
        <p:spPr>
          <a:xfrm>
            <a:off x="7088274" y="2836787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rgbClr val="C00000"/>
                </a:solidFill>
              </a:rPr>
              <a:t>מנהל מוגבלויות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9BA464-E0B7-DD96-C78A-6FD7B822E85E}"/>
              </a:ext>
            </a:extLst>
          </p:cNvPr>
          <p:cNvSpPr txBox="1"/>
          <p:nvPr/>
        </p:nvSpPr>
        <p:spPr>
          <a:xfrm>
            <a:off x="5336572" y="2823360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tx2">
                    <a:lumMod val="75000"/>
                  </a:schemeClr>
                </a:solidFill>
              </a:rPr>
              <a:t>מתאם תכנית </a:t>
            </a:r>
          </a:p>
          <a:p>
            <a:r>
              <a:rPr lang="he-IL" sz="1600" dirty="0">
                <a:solidFill>
                  <a:schemeClr val="tx2">
                    <a:lumMod val="75000"/>
                  </a:schemeClr>
                </a:solidFill>
              </a:rPr>
              <a:t>   אישית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4F2732-7F4E-2918-C696-4F973FDDC691}"/>
              </a:ext>
            </a:extLst>
          </p:cNvPr>
          <p:cNvSpPr txBox="1"/>
          <p:nvPr/>
        </p:nvSpPr>
        <p:spPr>
          <a:xfrm>
            <a:off x="2235624" y="2795992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tx2">
                    <a:lumMod val="75000"/>
                  </a:schemeClr>
                </a:solidFill>
              </a:rPr>
              <a:t>מתאם תכנית </a:t>
            </a:r>
          </a:p>
          <a:p>
            <a:r>
              <a:rPr lang="he-IL" sz="1600" dirty="0">
                <a:solidFill>
                  <a:schemeClr val="tx2">
                    <a:lumMod val="75000"/>
                  </a:schemeClr>
                </a:solidFill>
              </a:rPr>
              <a:t>  אישית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EFE450-0FFE-FA54-C576-D81D165E4BDA}"/>
              </a:ext>
            </a:extLst>
          </p:cNvPr>
          <p:cNvSpPr txBox="1"/>
          <p:nvPr/>
        </p:nvSpPr>
        <p:spPr>
          <a:xfrm>
            <a:off x="759934" y="2812803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tx2">
                    <a:lumMod val="75000"/>
                  </a:schemeClr>
                </a:solidFill>
              </a:rPr>
              <a:t>מתאם תכנית </a:t>
            </a:r>
          </a:p>
          <a:p>
            <a:r>
              <a:rPr lang="he-IL" sz="1600" dirty="0">
                <a:solidFill>
                  <a:schemeClr val="tx2">
                    <a:lumMod val="75000"/>
                  </a:schemeClr>
                </a:solidFill>
              </a:rPr>
              <a:t>   אישית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E31D4-95D3-B91A-64CE-5DBD09E5F420}"/>
              </a:ext>
            </a:extLst>
          </p:cNvPr>
          <p:cNvSpPr txBox="1"/>
          <p:nvPr/>
        </p:nvSpPr>
        <p:spPr>
          <a:xfrm>
            <a:off x="9717860" y="3549871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בירור </a:t>
            </a:r>
          </a:p>
          <a:p>
            <a:r>
              <a:rPr lang="he-IL" sz="1600" dirty="0"/>
              <a:t>     רפואי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C78878-CD0C-770E-F8FB-BD15C3DFE924}"/>
              </a:ext>
            </a:extLst>
          </p:cNvPr>
          <p:cNvSpPr txBox="1"/>
          <p:nvPr/>
        </p:nvSpPr>
        <p:spPr>
          <a:xfrm>
            <a:off x="8630888" y="3517108"/>
            <a:ext cx="197104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פניה </a:t>
            </a:r>
            <a:r>
              <a:rPr lang="he-IL" sz="1600" dirty="0" err="1"/>
              <a:t>לבטל"א</a:t>
            </a:r>
            <a:endParaRPr lang="he-IL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הופעה בפני </a:t>
            </a:r>
          </a:p>
          <a:p>
            <a:r>
              <a:rPr lang="he-IL" sz="1600" dirty="0"/>
              <a:t>      וועדה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קבלת החלטת הוועדה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848A10-854B-79E9-D1D5-1D48B7886ACA}"/>
              </a:ext>
            </a:extLst>
          </p:cNvPr>
          <p:cNvSpPr txBox="1"/>
          <p:nvPr/>
        </p:nvSpPr>
        <p:spPr>
          <a:xfrm>
            <a:off x="5635609" y="3474970"/>
            <a:ext cx="197104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מענה על שאלון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שיח לגיבוש מטרות ויעדים ומסגרת זמנים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בחירת מעגל התמיכה האישי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1987C7-D200-7500-33E7-650B0EDF3D17}"/>
              </a:ext>
            </a:extLst>
          </p:cNvPr>
          <p:cNvSpPr txBox="1"/>
          <p:nvPr/>
        </p:nvSpPr>
        <p:spPr>
          <a:xfrm>
            <a:off x="2632788" y="3520167"/>
            <a:ext cx="197104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בחירת שירותים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בקשה להוספת שירותים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בניית לוז פעילות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ניהול תכנון תקציב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AEECC1-254E-9B58-B22F-C8F45C00551C}"/>
              </a:ext>
            </a:extLst>
          </p:cNvPr>
          <p:cNvSpPr txBox="1"/>
          <p:nvPr/>
        </p:nvSpPr>
        <p:spPr>
          <a:xfrm>
            <a:off x="0" y="3523909"/>
            <a:ext cx="1709879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בקרה על עמידה במטרות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046148-6CC4-3259-D531-6661D8323E02}"/>
              </a:ext>
            </a:extLst>
          </p:cNvPr>
          <p:cNvSpPr txBox="1"/>
          <p:nvPr/>
        </p:nvSpPr>
        <p:spPr>
          <a:xfrm>
            <a:off x="9687281" y="6174040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bg2">
                    <a:lumMod val="10000"/>
                  </a:schemeClr>
                </a:solidFill>
              </a:rPr>
              <a:t>אבחנה רפואית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5C0537-3E61-E6E9-CE53-C76755268B9E}"/>
              </a:ext>
            </a:extLst>
          </p:cNvPr>
          <p:cNvSpPr txBox="1"/>
          <p:nvPr/>
        </p:nvSpPr>
        <p:spPr>
          <a:xfrm>
            <a:off x="8341769" y="6190943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bg2">
                    <a:lumMod val="10000"/>
                  </a:schemeClr>
                </a:solidFill>
              </a:rPr>
              <a:t>אחוזי נכות, </a:t>
            </a:r>
          </a:p>
          <a:p>
            <a:r>
              <a:rPr lang="he-IL" sz="1600" dirty="0">
                <a:solidFill>
                  <a:schemeClr val="bg2">
                    <a:lumMod val="10000"/>
                  </a:schemeClr>
                </a:solidFill>
              </a:rPr>
              <a:t>סעיף נפשי / פיזי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FFA409-659F-9E4B-1DDD-473A884BBF2D}"/>
              </a:ext>
            </a:extLst>
          </p:cNvPr>
          <p:cNvSpPr txBox="1"/>
          <p:nvPr/>
        </p:nvSpPr>
        <p:spPr>
          <a:xfrm>
            <a:off x="7392596" y="6189403"/>
            <a:ext cx="155098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rgbClr val="C00000"/>
                </a:solidFill>
              </a:rPr>
              <a:t>בחירה במסלול תקציב אישי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96CA49-B980-EE31-C715-821CB14293E9}"/>
              </a:ext>
            </a:extLst>
          </p:cNvPr>
          <p:cNvSpPr txBox="1"/>
          <p:nvPr/>
        </p:nvSpPr>
        <p:spPr>
          <a:xfrm>
            <a:off x="5385479" y="6190385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bg2">
                    <a:lumMod val="10000"/>
                  </a:schemeClr>
                </a:solidFill>
              </a:rPr>
              <a:t>מטרות ויעדים </a:t>
            </a:r>
          </a:p>
          <a:p>
            <a:r>
              <a:rPr lang="he-IL" sz="1600" dirty="0">
                <a:solidFill>
                  <a:schemeClr val="bg2">
                    <a:lumMod val="10000"/>
                  </a:schemeClr>
                </a:solidFill>
              </a:rPr>
              <a:t>    אישיים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DF7137-6EB9-C86A-6AF6-438C11A8C60A}"/>
              </a:ext>
            </a:extLst>
          </p:cNvPr>
          <p:cNvSpPr txBox="1"/>
          <p:nvPr/>
        </p:nvSpPr>
        <p:spPr>
          <a:xfrm>
            <a:off x="2546100" y="6245594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bg2">
                    <a:lumMod val="10000"/>
                  </a:schemeClr>
                </a:solidFill>
              </a:rPr>
              <a:t>שירותים נבחרים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819224-C6B1-C443-2B07-F2CAB9724B2D}"/>
              </a:ext>
            </a:extLst>
          </p:cNvPr>
          <p:cNvSpPr txBox="1"/>
          <p:nvPr/>
        </p:nvSpPr>
        <p:spPr>
          <a:xfrm>
            <a:off x="-579559" y="6220206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bg2">
                    <a:lumMod val="10000"/>
                  </a:schemeClr>
                </a:solidFill>
              </a:rPr>
              <a:t>הערכת תכנית</a:t>
            </a:r>
          </a:p>
          <a:p>
            <a:r>
              <a:rPr lang="he-IL" sz="1600" dirty="0">
                <a:solidFill>
                  <a:schemeClr val="bg2">
                    <a:lumMod val="10000"/>
                  </a:schemeClr>
                </a:solidFill>
              </a:rPr>
              <a:t>   אישית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595A02-DAEE-1027-5FED-283A36955AAF}"/>
              </a:ext>
            </a:extLst>
          </p:cNvPr>
          <p:cNvSpPr txBox="1"/>
          <p:nvPr/>
        </p:nvSpPr>
        <p:spPr>
          <a:xfrm rot="5400000" flipH="1">
            <a:off x="11152574" y="5110965"/>
            <a:ext cx="154622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פעולות</a:t>
            </a:r>
          </a:p>
          <a:p>
            <a:r>
              <a:rPr lang="he-IL" dirty="0"/>
              <a:t>גוף ממשלתי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7FD7E5-EF87-F716-C520-FF0AAEE3CD48}"/>
              </a:ext>
            </a:extLst>
          </p:cNvPr>
          <p:cNvSpPr txBox="1"/>
          <p:nvPr/>
        </p:nvSpPr>
        <p:spPr>
          <a:xfrm>
            <a:off x="9769982" y="5092195"/>
            <a:ext cx="1971040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תיעוד </a:t>
            </a:r>
          </a:p>
          <a:p>
            <a:r>
              <a:rPr lang="he-IL" sz="1600" dirty="0"/>
              <a:t>   הסימפטומים</a:t>
            </a:r>
          </a:p>
          <a:p>
            <a:r>
              <a:rPr lang="he-IL" sz="1600" dirty="0"/>
              <a:t> ותוצאות בדיקות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קביעת אבחנה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F94BAC-4AF1-7F8D-D73A-A454C712B64A}"/>
              </a:ext>
            </a:extLst>
          </p:cNvPr>
          <p:cNvSpPr txBox="1"/>
          <p:nvPr/>
        </p:nvSpPr>
        <p:spPr>
          <a:xfrm>
            <a:off x="8515450" y="5112185"/>
            <a:ext cx="1971040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זימון לוועדה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ניהול הוועדה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תיעוד </a:t>
            </a:r>
          </a:p>
          <a:p>
            <a:r>
              <a:rPr lang="he-IL" sz="1600" dirty="0"/>
              <a:t>     ההחלטה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502250-F5D0-1256-38A1-6CA428961120}"/>
              </a:ext>
            </a:extLst>
          </p:cNvPr>
          <p:cNvSpPr txBox="1"/>
          <p:nvPr/>
        </p:nvSpPr>
        <p:spPr>
          <a:xfrm>
            <a:off x="5644763" y="5156213"/>
            <a:ext cx="197104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שיח לגיבוש מטרות ויעדים ומסגרת זמנים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B7822B-9150-1ABB-6768-267108B4EF8B}"/>
              </a:ext>
            </a:extLst>
          </p:cNvPr>
          <p:cNvSpPr txBox="1"/>
          <p:nvPr/>
        </p:nvSpPr>
        <p:spPr>
          <a:xfrm>
            <a:off x="2644946" y="5232577"/>
            <a:ext cx="197104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הוספת ספקים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בקרה על </a:t>
            </a:r>
          </a:p>
          <a:p>
            <a:r>
              <a:rPr lang="he-IL" sz="1600" dirty="0"/>
              <a:t>בחירת שירותים</a:t>
            </a:r>
          </a:p>
          <a:p>
            <a:endParaRPr lang="he-IL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he-IL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A8C2D6-8E12-1737-6011-D4B9D71D2B06}"/>
              </a:ext>
            </a:extLst>
          </p:cNvPr>
          <p:cNvSpPr txBox="1"/>
          <p:nvPr/>
        </p:nvSpPr>
        <p:spPr>
          <a:xfrm>
            <a:off x="6120" y="5164871"/>
            <a:ext cx="1692559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400" dirty="0"/>
              <a:t>ניהול משתמשים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400" dirty="0"/>
              <a:t>בקרה תכנית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400" dirty="0"/>
              <a:t>בקרת תקציב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400" dirty="0"/>
              <a:t>בקרת מיצוי זכויות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3C00E-12F7-EEEE-0BB9-5FD596F8E84A}"/>
              </a:ext>
            </a:extLst>
          </p:cNvPr>
          <p:cNvSpPr txBox="1"/>
          <p:nvPr/>
        </p:nvSpPr>
        <p:spPr>
          <a:xfrm>
            <a:off x="7203334" y="3522260"/>
            <a:ext cx="197104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>
                <a:solidFill>
                  <a:srgbClr val="C00000"/>
                </a:solidFill>
              </a:rPr>
              <a:t>פניה למנהל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>
                <a:solidFill>
                  <a:srgbClr val="C00000"/>
                </a:solidFill>
              </a:rPr>
              <a:t>דיווח אישי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>
                <a:solidFill>
                  <a:srgbClr val="C00000"/>
                </a:solidFill>
              </a:rPr>
              <a:t>קבלת רמת תמיכה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348B4-ED19-ECD0-EF4E-4251B3780922}"/>
              </a:ext>
            </a:extLst>
          </p:cNvPr>
          <p:cNvSpPr txBox="1"/>
          <p:nvPr/>
        </p:nvSpPr>
        <p:spPr>
          <a:xfrm>
            <a:off x="7188299" y="5112185"/>
            <a:ext cx="197104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>
                <a:solidFill>
                  <a:srgbClr val="C00000"/>
                </a:solidFill>
              </a:rPr>
              <a:t>זימון אל המנהל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>
                <a:solidFill>
                  <a:srgbClr val="C00000"/>
                </a:solidFill>
              </a:rPr>
              <a:t>הערכה חיצונית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>
                <a:solidFill>
                  <a:srgbClr val="C00000"/>
                </a:solidFill>
              </a:rPr>
              <a:t>קביעת רמת תמיכה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AB9414-150C-EFFD-1044-1A42C7E8084F}"/>
              </a:ext>
            </a:extLst>
          </p:cNvPr>
          <p:cNvSpPr txBox="1"/>
          <p:nvPr/>
        </p:nvSpPr>
        <p:spPr>
          <a:xfrm>
            <a:off x="9717860" y="1233853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הבשורה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0A6AD1-CC84-B48F-7319-23C46B08DE4A}"/>
              </a:ext>
            </a:extLst>
          </p:cNvPr>
          <p:cNvSpPr txBox="1"/>
          <p:nvPr/>
        </p:nvSpPr>
        <p:spPr>
          <a:xfrm>
            <a:off x="8339621" y="1226509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קביעת נכות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737EA2-7541-B32E-257B-18FF3903DE06}"/>
              </a:ext>
            </a:extLst>
          </p:cNvPr>
          <p:cNvSpPr txBox="1"/>
          <p:nvPr/>
        </p:nvSpPr>
        <p:spPr>
          <a:xfrm>
            <a:off x="7021584" y="1249539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זכאות לשירותים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A13AB2-1CFE-9EE0-3BA0-1FDA12880236}"/>
              </a:ext>
            </a:extLst>
          </p:cNvPr>
          <p:cNvSpPr txBox="1"/>
          <p:nvPr/>
        </p:nvSpPr>
        <p:spPr>
          <a:xfrm>
            <a:off x="5117234" y="1226509"/>
            <a:ext cx="197104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יצירת תכנית </a:t>
            </a:r>
          </a:p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  אישית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5D4EA3-45F9-3959-3097-02E88EF33560}"/>
              </a:ext>
            </a:extLst>
          </p:cNvPr>
          <p:cNvSpPr txBox="1"/>
          <p:nvPr/>
        </p:nvSpPr>
        <p:spPr>
          <a:xfrm>
            <a:off x="2336055" y="1262428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בחירת שירותים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FA1FCA0-5656-C6F4-A835-403B517011D0}"/>
              </a:ext>
            </a:extLst>
          </p:cNvPr>
          <p:cNvSpPr txBox="1"/>
          <p:nvPr/>
        </p:nvSpPr>
        <p:spPr>
          <a:xfrm>
            <a:off x="10892559" y="683960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032456-B162-2C2E-E9E3-B257A42804C1}"/>
              </a:ext>
            </a:extLst>
          </p:cNvPr>
          <p:cNvSpPr txBox="1"/>
          <p:nvPr/>
        </p:nvSpPr>
        <p:spPr>
          <a:xfrm>
            <a:off x="9360599" y="641815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5C5762-D8DC-01A7-1C8E-DD97A59A5DD4}"/>
              </a:ext>
            </a:extLst>
          </p:cNvPr>
          <p:cNvSpPr txBox="1"/>
          <p:nvPr/>
        </p:nvSpPr>
        <p:spPr>
          <a:xfrm>
            <a:off x="7919765" y="66632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5FB560-3B69-8959-7AD1-4AE31A13E9E6}"/>
              </a:ext>
            </a:extLst>
          </p:cNvPr>
          <p:cNvSpPr txBox="1"/>
          <p:nvPr/>
        </p:nvSpPr>
        <p:spPr>
          <a:xfrm>
            <a:off x="6065133" y="67765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EBBF77-9DFF-44B1-38A8-106CE2838CCB}"/>
              </a:ext>
            </a:extLst>
          </p:cNvPr>
          <p:cNvSpPr txBox="1"/>
          <p:nvPr/>
        </p:nvSpPr>
        <p:spPr>
          <a:xfrm>
            <a:off x="3017109" y="67765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CCA4D5-0A34-FAA1-F39A-8C9B1CF71AE4}"/>
              </a:ext>
            </a:extLst>
          </p:cNvPr>
          <p:cNvSpPr txBox="1"/>
          <p:nvPr/>
        </p:nvSpPr>
        <p:spPr>
          <a:xfrm>
            <a:off x="443472" y="683961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D8DCFB-A541-011D-C923-052B13538E9F}"/>
              </a:ext>
            </a:extLst>
          </p:cNvPr>
          <p:cNvSpPr txBox="1"/>
          <p:nvPr/>
        </p:nvSpPr>
        <p:spPr>
          <a:xfrm>
            <a:off x="3814713" y="1230363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אישור התוכנית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D43FC6-5AB6-2E31-F53A-9576E8EB2BAD}"/>
              </a:ext>
            </a:extLst>
          </p:cNvPr>
          <p:cNvSpPr txBox="1"/>
          <p:nvPr/>
        </p:nvSpPr>
        <p:spPr>
          <a:xfrm>
            <a:off x="4517140" y="65189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DB291E-8D66-97F1-A364-40E09D4A3B75}"/>
              </a:ext>
            </a:extLst>
          </p:cNvPr>
          <p:cNvSpPr txBox="1"/>
          <p:nvPr/>
        </p:nvSpPr>
        <p:spPr>
          <a:xfrm>
            <a:off x="732111" y="1256731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מימוש התוכנית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99E5BFE-1912-A17F-C029-CF51A13803EC}"/>
              </a:ext>
            </a:extLst>
          </p:cNvPr>
          <p:cNvSpPr txBox="1"/>
          <p:nvPr/>
        </p:nvSpPr>
        <p:spPr>
          <a:xfrm>
            <a:off x="1602152" y="68403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41C5DA-2C4F-EE22-DE00-455CE62E30B2}"/>
              </a:ext>
            </a:extLst>
          </p:cNvPr>
          <p:cNvSpPr txBox="1"/>
          <p:nvPr/>
        </p:nvSpPr>
        <p:spPr>
          <a:xfrm>
            <a:off x="-889054" y="1261231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בקרה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320542-4468-B4BF-27EE-19638D92A398}"/>
              </a:ext>
            </a:extLst>
          </p:cNvPr>
          <p:cNvSpPr txBox="1"/>
          <p:nvPr/>
        </p:nvSpPr>
        <p:spPr>
          <a:xfrm>
            <a:off x="3814713" y="1977095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BDB8234-6357-3ACB-3447-F188198B4AC7}"/>
              </a:ext>
            </a:extLst>
          </p:cNvPr>
          <p:cNvSpPr txBox="1"/>
          <p:nvPr/>
        </p:nvSpPr>
        <p:spPr>
          <a:xfrm>
            <a:off x="738905" y="1988331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AF07F37-B6B5-274A-5017-FD176C1F8F05}"/>
              </a:ext>
            </a:extLst>
          </p:cNvPr>
          <p:cNvSpPr txBox="1"/>
          <p:nvPr/>
        </p:nvSpPr>
        <p:spPr>
          <a:xfrm>
            <a:off x="3638970" y="2838470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tx2">
                    <a:lumMod val="75000"/>
                  </a:schemeClr>
                </a:solidFill>
              </a:rPr>
              <a:t>פיקוח מחזי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AF80F7F-6D74-ADCB-CD0E-E85BB63B60BE}"/>
              </a:ext>
            </a:extLst>
          </p:cNvPr>
          <p:cNvSpPr txBox="1"/>
          <p:nvPr/>
        </p:nvSpPr>
        <p:spPr>
          <a:xfrm>
            <a:off x="-665338" y="2823135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tx2">
                    <a:lumMod val="75000"/>
                  </a:schemeClr>
                </a:solidFill>
              </a:rPr>
              <a:t>פיקוח מחזי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B8BE296-2E79-A20D-9B70-E494C838AB19}"/>
              </a:ext>
            </a:extLst>
          </p:cNvPr>
          <p:cNvSpPr txBox="1"/>
          <p:nvPr/>
        </p:nvSpPr>
        <p:spPr>
          <a:xfrm>
            <a:off x="1234362" y="3539914"/>
            <a:ext cx="1709879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פידבק על הספקים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ניהול ביצוע תקציב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מימוש שירותים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he-IL" sz="16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F60F242-65C6-2679-6468-010FA9FD2E67}"/>
              </a:ext>
            </a:extLst>
          </p:cNvPr>
          <p:cNvSpPr txBox="1"/>
          <p:nvPr/>
        </p:nvSpPr>
        <p:spPr>
          <a:xfrm>
            <a:off x="1717097" y="5146266"/>
            <a:ext cx="1181283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ניהול ספקים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תשלום לספקים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8801E0F-56FF-3388-95F6-51AA742DA3D8}"/>
              </a:ext>
            </a:extLst>
          </p:cNvPr>
          <p:cNvSpPr txBox="1"/>
          <p:nvPr/>
        </p:nvSpPr>
        <p:spPr>
          <a:xfrm>
            <a:off x="4517139" y="5193194"/>
            <a:ext cx="1338281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בחינת התוכנית ואישורה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B58E941-37DC-95FE-FFBE-596BD92F1F64}"/>
              </a:ext>
            </a:extLst>
          </p:cNvPr>
          <p:cNvSpPr txBox="1"/>
          <p:nvPr/>
        </p:nvSpPr>
        <p:spPr>
          <a:xfrm>
            <a:off x="4517139" y="6206797"/>
            <a:ext cx="126778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chemeClr val="bg2">
                    <a:lumMod val="10000"/>
                  </a:schemeClr>
                </a:solidFill>
              </a:rPr>
              <a:t>אישור / הערות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199FDEA-2433-8164-CEFE-08377C567ECB}"/>
              </a:ext>
            </a:extLst>
          </p:cNvPr>
          <p:cNvSpPr txBox="1"/>
          <p:nvPr/>
        </p:nvSpPr>
        <p:spPr>
          <a:xfrm>
            <a:off x="4530791" y="3518088"/>
            <a:ext cx="1338281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שיח מול הפיקוח?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קבלת הערות או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e-IL" sz="1600" dirty="0"/>
              <a:t>קבלת אישור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D8AE221-3B45-543E-DFCA-004B216B3092}"/>
              </a:ext>
            </a:extLst>
          </p:cNvPr>
          <p:cNvSpPr txBox="1"/>
          <p:nvPr/>
        </p:nvSpPr>
        <p:spPr>
          <a:xfrm>
            <a:off x="1773643" y="6148944"/>
            <a:ext cx="1101687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>
                <a:solidFill>
                  <a:schemeClr val="bg2">
                    <a:lumMod val="10000"/>
                  </a:schemeClr>
                </a:solidFill>
              </a:rPr>
              <a:t>ניצול משאבים מול עמידה ביעדים</a:t>
            </a:r>
          </a:p>
        </p:txBody>
      </p:sp>
    </p:spTree>
    <p:extLst>
      <p:ext uri="{BB962C8B-B14F-4D97-AF65-F5344CB8AC3E}">
        <p14:creationId xmlns:p14="http://schemas.microsoft.com/office/powerpoint/2010/main" val="304261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F5A6130-9666-3A43-4ED2-7D5490855F16}"/>
              </a:ext>
            </a:extLst>
          </p:cNvPr>
          <p:cNvSpPr/>
          <p:nvPr/>
        </p:nvSpPr>
        <p:spPr>
          <a:xfrm>
            <a:off x="9156243" y="2751033"/>
            <a:ext cx="1139244" cy="337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 </a:t>
            </a:r>
            <a:r>
              <a:rPr lang="he-IL" sz="1100" dirty="0"/>
              <a:t>זימון וניהול תורים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E50A95-A80E-5009-E925-37133E33C74A}"/>
              </a:ext>
            </a:extLst>
          </p:cNvPr>
          <p:cNvSpPr txBox="1"/>
          <p:nvPr/>
        </p:nvSpPr>
        <p:spPr>
          <a:xfrm rot="5400000" flipH="1">
            <a:off x="11188055" y="680094"/>
            <a:ext cx="154622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השלב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113A83-167D-2852-FB7D-EA104826DCF5}"/>
              </a:ext>
            </a:extLst>
          </p:cNvPr>
          <p:cNvSpPr txBox="1"/>
          <p:nvPr/>
        </p:nvSpPr>
        <p:spPr>
          <a:xfrm rot="5400000" flipH="1">
            <a:off x="10373173" y="3658486"/>
            <a:ext cx="322385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יכולות טכנולוגיות נדרשות לאדם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148614-ACCD-9109-8A3F-EFB786081DA6}"/>
              </a:ext>
            </a:extLst>
          </p:cNvPr>
          <p:cNvSpPr/>
          <p:nvPr/>
        </p:nvSpPr>
        <p:spPr>
          <a:xfrm>
            <a:off x="7816194" y="2741012"/>
            <a:ext cx="972350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זימון וניהול תורים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C4D148-79C7-E413-16F5-D819C0D09A6E}"/>
              </a:ext>
            </a:extLst>
          </p:cNvPr>
          <p:cNvSpPr/>
          <p:nvPr/>
        </p:nvSpPr>
        <p:spPr>
          <a:xfrm>
            <a:off x="6001215" y="2733754"/>
            <a:ext cx="1121710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פלטפורמת תכנית אישית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4D68A6-1C9D-3AA3-E52F-DD37807BE9EE}"/>
              </a:ext>
            </a:extLst>
          </p:cNvPr>
          <p:cNvSpPr/>
          <p:nvPr/>
        </p:nvSpPr>
        <p:spPr>
          <a:xfrm>
            <a:off x="3059190" y="2751033"/>
            <a:ext cx="1150023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מרקט פלייס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BA34DB-8BE0-FB17-DF92-3D73A9DDAF47}"/>
              </a:ext>
            </a:extLst>
          </p:cNvPr>
          <p:cNvSpPr/>
          <p:nvPr/>
        </p:nvSpPr>
        <p:spPr>
          <a:xfrm>
            <a:off x="1399023" y="3236023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ארנק דיגיטלי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316FDD-A542-69EB-9860-B6F7ECE570D8}"/>
              </a:ext>
            </a:extLst>
          </p:cNvPr>
          <p:cNvSpPr/>
          <p:nvPr/>
        </p:nvSpPr>
        <p:spPr>
          <a:xfrm>
            <a:off x="10573328" y="2744522"/>
            <a:ext cx="1144201" cy="335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החצנת תיק קליני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E914E0-9129-1CE2-A4C0-4970B010A967}"/>
              </a:ext>
            </a:extLst>
          </p:cNvPr>
          <p:cNvSpPr/>
          <p:nvPr/>
        </p:nvSpPr>
        <p:spPr>
          <a:xfrm>
            <a:off x="9149737" y="3302904"/>
            <a:ext cx="1139244" cy="337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ניהול פניה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200D67-1A7B-E696-C913-4FE309B34F92}"/>
              </a:ext>
            </a:extLst>
          </p:cNvPr>
          <p:cNvSpPr/>
          <p:nvPr/>
        </p:nvSpPr>
        <p:spPr>
          <a:xfrm>
            <a:off x="9171417" y="3854775"/>
            <a:ext cx="1139244" cy="370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קיום וועדה מרחוק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3C1256-B99F-2C69-D990-27988217026C}"/>
              </a:ext>
            </a:extLst>
          </p:cNvPr>
          <p:cNvSpPr/>
          <p:nvPr/>
        </p:nvSpPr>
        <p:spPr>
          <a:xfrm>
            <a:off x="0" y="1860944"/>
            <a:ext cx="11688900" cy="6334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36D211-B925-1260-446B-1D4D401E0B96}"/>
              </a:ext>
            </a:extLst>
          </p:cNvPr>
          <p:cNvSpPr txBox="1"/>
          <p:nvPr/>
        </p:nvSpPr>
        <p:spPr>
          <a:xfrm>
            <a:off x="9763668" y="1856560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ספק בריאות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5D8A38-23F7-BB71-E5E0-9F1311E9EB37}"/>
              </a:ext>
            </a:extLst>
          </p:cNvPr>
          <p:cNvSpPr txBox="1"/>
          <p:nvPr/>
        </p:nvSpPr>
        <p:spPr>
          <a:xfrm>
            <a:off x="8258582" y="1891722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ביטוח לאומי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8432AF-AE2B-FCDE-7DA9-D0CB4CCDDC24}"/>
              </a:ext>
            </a:extLst>
          </p:cNvPr>
          <p:cNvSpPr txBox="1"/>
          <p:nvPr/>
        </p:nvSpPr>
        <p:spPr>
          <a:xfrm>
            <a:off x="6962700" y="1896697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rgbClr val="C00000"/>
                </a:solidFill>
              </a:rPr>
              <a:t>משרד הרווחה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ED6551-6765-9A45-9019-8C981E2F3BF4}"/>
              </a:ext>
            </a:extLst>
          </p:cNvPr>
          <p:cNvSpPr txBox="1"/>
          <p:nvPr/>
        </p:nvSpPr>
        <p:spPr>
          <a:xfrm>
            <a:off x="3814713" y="1915387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789735-A328-4B05-3A3E-B7D6676E79E9}"/>
              </a:ext>
            </a:extLst>
          </p:cNvPr>
          <p:cNvSpPr txBox="1"/>
          <p:nvPr/>
        </p:nvSpPr>
        <p:spPr>
          <a:xfrm>
            <a:off x="708601" y="1861863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3CB34B-3FC3-524B-5E9F-6E6AAF9DB711}"/>
              </a:ext>
            </a:extLst>
          </p:cNvPr>
          <p:cNvSpPr txBox="1"/>
          <p:nvPr/>
        </p:nvSpPr>
        <p:spPr>
          <a:xfrm>
            <a:off x="-587281" y="1855137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ACB4B0-3C54-E2D4-8208-D07FB0D8A6AC}"/>
              </a:ext>
            </a:extLst>
          </p:cNvPr>
          <p:cNvSpPr txBox="1"/>
          <p:nvPr/>
        </p:nvSpPr>
        <p:spPr>
          <a:xfrm rot="5400000" flipH="1">
            <a:off x="11187338" y="1853234"/>
            <a:ext cx="154622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גוף ממשלתי</a:t>
            </a:r>
          </a:p>
        </p:txBody>
      </p:sp>
      <p:sp>
        <p:nvSpPr>
          <p:cNvPr id="51" name="Arrow: Left 50">
            <a:extLst>
              <a:ext uri="{FF2B5EF4-FFF2-40B4-BE49-F238E27FC236}">
                <a16:creationId xmlns:a16="http://schemas.microsoft.com/office/drawing/2014/main" id="{CEFDD408-3F06-3369-C577-2718BB3A52CA}"/>
              </a:ext>
            </a:extLst>
          </p:cNvPr>
          <p:cNvSpPr/>
          <p:nvPr/>
        </p:nvSpPr>
        <p:spPr>
          <a:xfrm>
            <a:off x="9112337" y="6312104"/>
            <a:ext cx="1191967" cy="43590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זכאות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DB1322A-EFA1-9CE9-3EC0-DD9AF4C905F7}"/>
              </a:ext>
            </a:extLst>
          </p:cNvPr>
          <p:cNvSpPr/>
          <p:nvPr/>
        </p:nvSpPr>
        <p:spPr>
          <a:xfrm>
            <a:off x="7819319" y="3235836"/>
            <a:ext cx="972350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ממשק דיווח אישי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586D11D-CD71-C957-6610-3243EE056C24}"/>
              </a:ext>
            </a:extLst>
          </p:cNvPr>
          <p:cNvSpPr/>
          <p:nvPr/>
        </p:nvSpPr>
        <p:spPr>
          <a:xfrm>
            <a:off x="7819460" y="3846262"/>
            <a:ext cx="974736" cy="357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קיום וועדה מרחוק</a:t>
            </a:r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C6E44B22-72B5-72BC-1ED9-E21A447B588F}"/>
              </a:ext>
            </a:extLst>
          </p:cNvPr>
          <p:cNvSpPr/>
          <p:nvPr/>
        </p:nvSpPr>
        <p:spPr>
          <a:xfrm>
            <a:off x="7652180" y="6262137"/>
            <a:ext cx="1136364" cy="5358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בחירה בתקצוב אישי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A011B32-FB07-B7A1-6237-1BF1620765FB}"/>
              </a:ext>
            </a:extLst>
          </p:cNvPr>
          <p:cNvSpPr/>
          <p:nvPr/>
        </p:nvSpPr>
        <p:spPr>
          <a:xfrm>
            <a:off x="6019203" y="3237338"/>
            <a:ext cx="1121710" cy="335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תיאום תוכנית מרחוק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E0C4C85-77C9-1065-F0F0-74A8FB340920}"/>
              </a:ext>
            </a:extLst>
          </p:cNvPr>
          <p:cNvSpPr/>
          <p:nvPr/>
        </p:nvSpPr>
        <p:spPr>
          <a:xfrm>
            <a:off x="5990029" y="3723531"/>
            <a:ext cx="1157545" cy="357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ניהול מעגל תמיכה</a:t>
            </a:r>
          </a:p>
        </p:txBody>
      </p:sp>
      <p:sp>
        <p:nvSpPr>
          <p:cNvPr id="61" name="Arrow: Left 60">
            <a:extLst>
              <a:ext uri="{FF2B5EF4-FFF2-40B4-BE49-F238E27FC236}">
                <a16:creationId xmlns:a16="http://schemas.microsoft.com/office/drawing/2014/main" id="{F40AEC5A-A525-A22C-A2FB-0FBDB35A2036}"/>
              </a:ext>
            </a:extLst>
          </p:cNvPr>
          <p:cNvSpPr/>
          <p:nvPr/>
        </p:nvSpPr>
        <p:spPr>
          <a:xfrm>
            <a:off x="5956139" y="6250459"/>
            <a:ext cx="1166786" cy="5358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מטרות, יעדים, מסגרת זמן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0EF6842-7060-60C3-4A98-091C2461B638}"/>
              </a:ext>
            </a:extLst>
          </p:cNvPr>
          <p:cNvSpPr/>
          <p:nvPr/>
        </p:nvSpPr>
        <p:spPr>
          <a:xfrm>
            <a:off x="3060365" y="3245856"/>
            <a:ext cx="1149182" cy="335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פלטפורמת תכנית אישי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001DD23-8F29-2395-85E9-197B0B71D786}"/>
              </a:ext>
            </a:extLst>
          </p:cNvPr>
          <p:cNvSpPr/>
          <p:nvPr/>
        </p:nvSpPr>
        <p:spPr>
          <a:xfrm>
            <a:off x="1398506" y="2734035"/>
            <a:ext cx="1124081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פלטפורמת תכנית אישית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81BF24F-5E70-C2AB-9F35-DC51351F9479}"/>
              </a:ext>
            </a:extLst>
          </p:cNvPr>
          <p:cNvSpPr/>
          <p:nvPr/>
        </p:nvSpPr>
        <p:spPr>
          <a:xfrm>
            <a:off x="1389840" y="3733732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דירוג והמלצה - שירותים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41A9FC1-AEED-63E6-8897-0ACE5B5E1CB8}"/>
              </a:ext>
            </a:extLst>
          </p:cNvPr>
          <p:cNvCxnSpPr>
            <a:cxnSpLocks/>
          </p:cNvCxnSpPr>
          <p:nvPr/>
        </p:nvCxnSpPr>
        <p:spPr>
          <a:xfrm>
            <a:off x="2762949" y="5799078"/>
            <a:ext cx="869562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B0AD23-1D9B-DACD-2646-6A6C9317ED59}"/>
              </a:ext>
            </a:extLst>
          </p:cNvPr>
          <p:cNvSpPr txBox="1"/>
          <p:nvPr/>
        </p:nvSpPr>
        <p:spPr>
          <a:xfrm flipH="1">
            <a:off x="2192263" y="5779256"/>
            <a:ext cx="58791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מידע עובר בתהליך אוטומטי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38555-9C46-CDD7-A05D-62CEEC767C8B}"/>
              </a:ext>
            </a:extLst>
          </p:cNvPr>
          <p:cNvSpPr txBox="1"/>
          <p:nvPr/>
        </p:nvSpPr>
        <p:spPr>
          <a:xfrm>
            <a:off x="9717860" y="1233853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הבשורה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0D52C-D904-1AB9-8974-7C60E094F701}"/>
              </a:ext>
            </a:extLst>
          </p:cNvPr>
          <p:cNvSpPr txBox="1"/>
          <p:nvPr/>
        </p:nvSpPr>
        <p:spPr>
          <a:xfrm>
            <a:off x="8339621" y="1226509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קביעת נכות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4C68B-A8F5-80CB-077B-D4D7D010605A}"/>
              </a:ext>
            </a:extLst>
          </p:cNvPr>
          <p:cNvSpPr txBox="1"/>
          <p:nvPr/>
        </p:nvSpPr>
        <p:spPr>
          <a:xfrm>
            <a:off x="7021584" y="1249539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זכאות לשירותים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08135-5321-B1F9-51E0-93BCE4900AC0}"/>
              </a:ext>
            </a:extLst>
          </p:cNvPr>
          <p:cNvSpPr txBox="1"/>
          <p:nvPr/>
        </p:nvSpPr>
        <p:spPr>
          <a:xfrm>
            <a:off x="5117234" y="1226509"/>
            <a:ext cx="197104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יצירת תכנית </a:t>
            </a:r>
          </a:p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  אישית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F979D-1496-8438-00E1-49BB04F0E66C}"/>
              </a:ext>
            </a:extLst>
          </p:cNvPr>
          <p:cNvSpPr txBox="1"/>
          <p:nvPr/>
        </p:nvSpPr>
        <p:spPr>
          <a:xfrm>
            <a:off x="2336055" y="1262428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בחירת שירותים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127AC-4EAE-D3CD-EE0F-5D77AC9B6385}"/>
              </a:ext>
            </a:extLst>
          </p:cNvPr>
          <p:cNvSpPr txBox="1"/>
          <p:nvPr/>
        </p:nvSpPr>
        <p:spPr>
          <a:xfrm>
            <a:off x="10892559" y="683960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2D11A-052E-02F6-687A-E7856EC393EE}"/>
              </a:ext>
            </a:extLst>
          </p:cNvPr>
          <p:cNvSpPr txBox="1"/>
          <p:nvPr/>
        </p:nvSpPr>
        <p:spPr>
          <a:xfrm>
            <a:off x="9360599" y="641815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2177CA-7BF0-D0C8-D38E-3C5A964A42A8}"/>
              </a:ext>
            </a:extLst>
          </p:cNvPr>
          <p:cNvSpPr txBox="1"/>
          <p:nvPr/>
        </p:nvSpPr>
        <p:spPr>
          <a:xfrm>
            <a:off x="7919765" y="66632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FB690D-F1B7-C140-2588-45CD95AE4937}"/>
              </a:ext>
            </a:extLst>
          </p:cNvPr>
          <p:cNvSpPr txBox="1"/>
          <p:nvPr/>
        </p:nvSpPr>
        <p:spPr>
          <a:xfrm>
            <a:off x="6065133" y="67765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E6BD3A-080B-D046-D82C-4F57331EDAC1}"/>
              </a:ext>
            </a:extLst>
          </p:cNvPr>
          <p:cNvSpPr txBox="1"/>
          <p:nvPr/>
        </p:nvSpPr>
        <p:spPr>
          <a:xfrm>
            <a:off x="3017109" y="67765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945CCF-B7ED-34A1-DABE-7BDF397CCAB6}"/>
              </a:ext>
            </a:extLst>
          </p:cNvPr>
          <p:cNvSpPr txBox="1"/>
          <p:nvPr/>
        </p:nvSpPr>
        <p:spPr>
          <a:xfrm>
            <a:off x="443472" y="683961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BA4BE6-32C2-9144-B9E2-6955EC7CE756}"/>
              </a:ext>
            </a:extLst>
          </p:cNvPr>
          <p:cNvSpPr txBox="1"/>
          <p:nvPr/>
        </p:nvSpPr>
        <p:spPr>
          <a:xfrm>
            <a:off x="3814713" y="1230363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אישור התוכנית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202579-C672-FC48-76BE-AF02D0D00843}"/>
              </a:ext>
            </a:extLst>
          </p:cNvPr>
          <p:cNvSpPr txBox="1"/>
          <p:nvPr/>
        </p:nvSpPr>
        <p:spPr>
          <a:xfrm>
            <a:off x="4517140" y="65189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F98372-25B8-CA95-E52D-F6BA9E1C437B}"/>
              </a:ext>
            </a:extLst>
          </p:cNvPr>
          <p:cNvSpPr txBox="1"/>
          <p:nvPr/>
        </p:nvSpPr>
        <p:spPr>
          <a:xfrm>
            <a:off x="732111" y="1256731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מימוש התוכנית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7305E2-BFF2-6A9D-2967-1F476A2005E9}"/>
              </a:ext>
            </a:extLst>
          </p:cNvPr>
          <p:cNvSpPr txBox="1"/>
          <p:nvPr/>
        </p:nvSpPr>
        <p:spPr>
          <a:xfrm>
            <a:off x="1602152" y="68403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D7537D-9ADD-0301-05E2-6CA09DB4C3A8}"/>
              </a:ext>
            </a:extLst>
          </p:cNvPr>
          <p:cNvSpPr txBox="1"/>
          <p:nvPr/>
        </p:nvSpPr>
        <p:spPr>
          <a:xfrm>
            <a:off x="-852293" y="1229937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בקרה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4F4343-CF3B-E3BA-815A-737587F983CA}"/>
              </a:ext>
            </a:extLst>
          </p:cNvPr>
          <p:cNvSpPr txBox="1"/>
          <p:nvPr/>
        </p:nvSpPr>
        <p:spPr>
          <a:xfrm>
            <a:off x="5117234" y="1917295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מתאם תוכניות</a:t>
            </a:r>
          </a:p>
          <a:p>
            <a:r>
              <a:rPr lang="he-IL" sz="1600" dirty="0"/>
              <a:t>אישיות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A4F2C6-BE5A-DE73-06B2-DEBD362F0EAF}"/>
              </a:ext>
            </a:extLst>
          </p:cNvPr>
          <p:cNvSpPr txBox="1"/>
          <p:nvPr/>
        </p:nvSpPr>
        <p:spPr>
          <a:xfrm>
            <a:off x="2264440" y="1881002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מתאם תוכניות</a:t>
            </a:r>
          </a:p>
          <a:p>
            <a:r>
              <a:rPr lang="he-IL" sz="1600" dirty="0"/>
              <a:t>אישיות 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F9B8724-EA3C-CB21-893F-109F9CF7D57F}"/>
              </a:ext>
            </a:extLst>
          </p:cNvPr>
          <p:cNvSpPr/>
          <p:nvPr/>
        </p:nvSpPr>
        <p:spPr>
          <a:xfrm>
            <a:off x="4555905" y="2737789"/>
            <a:ext cx="1124081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פלטפורמת תכנית אישית</a:t>
            </a:r>
          </a:p>
        </p:txBody>
      </p:sp>
    </p:spTree>
    <p:extLst>
      <p:ext uri="{BB962C8B-B14F-4D97-AF65-F5344CB8AC3E}">
        <p14:creationId xmlns:p14="http://schemas.microsoft.com/office/powerpoint/2010/main" val="869473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CDC7689-6B83-756E-9901-81730D6EA6B7}"/>
              </a:ext>
            </a:extLst>
          </p:cNvPr>
          <p:cNvSpPr/>
          <p:nvPr/>
        </p:nvSpPr>
        <p:spPr>
          <a:xfrm>
            <a:off x="10569667" y="2752772"/>
            <a:ext cx="1121710" cy="335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תיק קליני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5A6130-9666-3A43-4ED2-7D5490855F16}"/>
              </a:ext>
            </a:extLst>
          </p:cNvPr>
          <p:cNvSpPr/>
          <p:nvPr/>
        </p:nvSpPr>
        <p:spPr>
          <a:xfrm>
            <a:off x="9156243" y="2751033"/>
            <a:ext cx="1139244" cy="337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 </a:t>
            </a:r>
            <a:r>
              <a:rPr lang="he-IL" sz="1100" dirty="0"/>
              <a:t>זימון וניהול תורים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E50A95-A80E-5009-E925-37133E33C74A}"/>
              </a:ext>
            </a:extLst>
          </p:cNvPr>
          <p:cNvSpPr txBox="1"/>
          <p:nvPr/>
        </p:nvSpPr>
        <p:spPr>
          <a:xfrm rot="5400000" flipH="1">
            <a:off x="11188055" y="680094"/>
            <a:ext cx="154622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השלב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113A83-167D-2852-FB7D-EA104826DCF5}"/>
              </a:ext>
            </a:extLst>
          </p:cNvPr>
          <p:cNvSpPr txBox="1"/>
          <p:nvPr/>
        </p:nvSpPr>
        <p:spPr>
          <a:xfrm rot="5400000" flipH="1">
            <a:off x="10353587" y="4348861"/>
            <a:ext cx="322385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יכולות טכנולוגיות נדרשות לגוף הממשלתי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148614-ACCD-9109-8A3F-EFB786081DA6}"/>
              </a:ext>
            </a:extLst>
          </p:cNvPr>
          <p:cNvSpPr/>
          <p:nvPr/>
        </p:nvSpPr>
        <p:spPr>
          <a:xfrm>
            <a:off x="7816194" y="2741012"/>
            <a:ext cx="972350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זימון וניהול תורים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C4D148-79C7-E413-16F5-D819C0D09A6E}"/>
              </a:ext>
            </a:extLst>
          </p:cNvPr>
          <p:cNvSpPr/>
          <p:nvPr/>
        </p:nvSpPr>
        <p:spPr>
          <a:xfrm>
            <a:off x="6001215" y="2733754"/>
            <a:ext cx="1121710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פלטפורמת תכנית אישית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4D68A6-1C9D-3AA3-E52F-DD37807BE9EE}"/>
              </a:ext>
            </a:extLst>
          </p:cNvPr>
          <p:cNvSpPr/>
          <p:nvPr/>
        </p:nvSpPr>
        <p:spPr>
          <a:xfrm>
            <a:off x="3059190" y="2751033"/>
            <a:ext cx="1150023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מרקט פלייס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BA34DB-8BE0-FB17-DF92-3D73A9DDAF47}"/>
              </a:ext>
            </a:extLst>
          </p:cNvPr>
          <p:cNvSpPr/>
          <p:nvPr/>
        </p:nvSpPr>
        <p:spPr>
          <a:xfrm>
            <a:off x="1399023" y="3236023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ארנק דיגיטלי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316FDD-A542-69EB-9860-B6F7ECE570D8}"/>
              </a:ext>
            </a:extLst>
          </p:cNvPr>
          <p:cNvSpPr/>
          <p:nvPr/>
        </p:nvSpPr>
        <p:spPr>
          <a:xfrm>
            <a:off x="10576629" y="3303012"/>
            <a:ext cx="1144201" cy="335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החצנת תיק קליני למטופל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E914E0-9129-1CE2-A4C0-4970B010A967}"/>
              </a:ext>
            </a:extLst>
          </p:cNvPr>
          <p:cNvSpPr/>
          <p:nvPr/>
        </p:nvSpPr>
        <p:spPr>
          <a:xfrm>
            <a:off x="9149737" y="3302904"/>
            <a:ext cx="1139244" cy="337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ניהול פניה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D1F3078-E829-2399-0666-41723E7C6D9F}"/>
              </a:ext>
            </a:extLst>
          </p:cNvPr>
          <p:cNvSpPr/>
          <p:nvPr/>
        </p:nvSpPr>
        <p:spPr>
          <a:xfrm>
            <a:off x="9143421" y="3781968"/>
            <a:ext cx="1160883" cy="313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ניהול וועדה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200D67-1A7B-E696-C913-4FE309B34F92}"/>
              </a:ext>
            </a:extLst>
          </p:cNvPr>
          <p:cNvSpPr/>
          <p:nvPr/>
        </p:nvSpPr>
        <p:spPr>
          <a:xfrm>
            <a:off x="9149737" y="4241879"/>
            <a:ext cx="1139244" cy="370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קיום וועדה מרחוק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3C1256-B99F-2C69-D990-27988217026C}"/>
              </a:ext>
            </a:extLst>
          </p:cNvPr>
          <p:cNvSpPr/>
          <p:nvPr/>
        </p:nvSpPr>
        <p:spPr>
          <a:xfrm>
            <a:off x="0" y="1860944"/>
            <a:ext cx="11688900" cy="6334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36D211-B925-1260-446B-1D4D401E0B96}"/>
              </a:ext>
            </a:extLst>
          </p:cNvPr>
          <p:cNvSpPr txBox="1"/>
          <p:nvPr/>
        </p:nvSpPr>
        <p:spPr>
          <a:xfrm>
            <a:off x="9763668" y="1856560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ספק בריאות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5D8A38-23F7-BB71-E5E0-9F1311E9EB37}"/>
              </a:ext>
            </a:extLst>
          </p:cNvPr>
          <p:cNvSpPr txBox="1"/>
          <p:nvPr/>
        </p:nvSpPr>
        <p:spPr>
          <a:xfrm>
            <a:off x="8258582" y="1891722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ביטוח לאומי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8432AF-AE2B-FCDE-7DA9-D0CB4CCDDC24}"/>
              </a:ext>
            </a:extLst>
          </p:cNvPr>
          <p:cNvSpPr txBox="1"/>
          <p:nvPr/>
        </p:nvSpPr>
        <p:spPr>
          <a:xfrm>
            <a:off x="6962700" y="1896697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rgbClr val="C00000"/>
                </a:solidFill>
              </a:rPr>
              <a:t>משרד הרווחה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ED6551-6765-9A45-9019-8C981E2F3BF4}"/>
              </a:ext>
            </a:extLst>
          </p:cNvPr>
          <p:cNvSpPr txBox="1"/>
          <p:nvPr/>
        </p:nvSpPr>
        <p:spPr>
          <a:xfrm>
            <a:off x="3814713" y="1915387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789735-A328-4B05-3A3E-B7D6676E79E9}"/>
              </a:ext>
            </a:extLst>
          </p:cNvPr>
          <p:cNvSpPr txBox="1"/>
          <p:nvPr/>
        </p:nvSpPr>
        <p:spPr>
          <a:xfrm>
            <a:off x="708601" y="1861863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3CB34B-3FC3-524B-5E9F-6E6AAF9DB711}"/>
              </a:ext>
            </a:extLst>
          </p:cNvPr>
          <p:cNvSpPr txBox="1"/>
          <p:nvPr/>
        </p:nvSpPr>
        <p:spPr>
          <a:xfrm>
            <a:off x="-587281" y="1855137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ACB4B0-3C54-E2D4-8208-D07FB0D8A6AC}"/>
              </a:ext>
            </a:extLst>
          </p:cNvPr>
          <p:cNvSpPr txBox="1"/>
          <p:nvPr/>
        </p:nvSpPr>
        <p:spPr>
          <a:xfrm rot="5400000" flipH="1">
            <a:off x="11194477" y="1746109"/>
            <a:ext cx="154622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גוף ממשלתי</a:t>
            </a:r>
          </a:p>
        </p:txBody>
      </p:sp>
      <p:sp>
        <p:nvSpPr>
          <p:cNvPr id="51" name="Arrow: Left 50">
            <a:extLst>
              <a:ext uri="{FF2B5EF4-FFF2-40B4-BE49-F238E27FC236}">
                <a16:creationId xmlns:a16="http://schemas.microsoft.com/office/drawing/2014/main" id="{CEFDD408-3F06-3369-C577-2718BB3A52CA}"/>
              </a:ext>
            </a:extLst>
          </p:cNvPr>
          <p:cNvSpPr/>
          <p:nvPr/>
        </p:nvSpPr>
        <p:spPr>
          <a:xfrm>
            <a:off x="9112337" y="6312104"/>
            <a:ext cx="1191967" cy="43590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זכאות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DB1322A-EFA1-9CE9-3EC0-DD9AF4C905F7}"/>
              </a:ext>
            </a:extLst>
          </p:cNvPr>
          <p:cNvSpPr/>
          <p:nvPr/>
        </p:nvSpPr>
        <p:spPr>
          <a:xfrm>
            <a:off x="7819319" y="3235836"/>
            <a:ext cx="972350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ממשק דיווח אישי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CCF9426-EB15-67D7-7E28-4AA53A4011C3}"/>
              </a:ext>
            </a:extLst>
          </p:cNvPr>
          <p:cNvSpPr/>
          <p:nvPr/>
        </p:nvSpPr>
        <p:spPr>
          <a:xfrm>
            <a:off x="7820431" y="3730660"/>
            <a:ext cx="960076" cy="357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ממשק</a:t>
            </a:r>
            <a:r>
              <a:rPr lang="he-IL" dirty="0"/>
              <a:t> </a:t>
            </a:r>
            <a:r>
              <a:rPr lang="he-IL" sz="1100" dirty="0"/>
              <a:t>הערכה חיצונית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2FD0618-8B6B-8DE8-82AB-A2F22A4A3933}"/>
              </a:ext>
            </a:extLst>
          </p:cNvPr>
          <p:cNvSpPr/>
          <p:nvPr/>
        </p:nvSpPr>
        <p:spPr>
          <a:xfrm>
            <a:off x="7812394" y="4244197"/>
            <a:ext cx="960076" cy="357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ניהול וועדה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586D11D-CD71-C957-6610-3243EE056C24}"/>
              </a:ext>
            </a:extLst>
          </p:cNvPr>
          <p:cNvSpPr/>
          <p:nvPr/>
        </p:nvSpPr>
        <p:spPr>
          <a:xfrm>
            <a:off x="7797734" y="4752180"/>
            <a:ext cx="974736" cy="357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קיום וועדה מרחוק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4374077-F45C-90D9-F592-551EBBC6B119}"/>
              </a:ext>
            </a:extLst>
          </p:cNvPr>
          <p:cNvSpPr/>
          <p:nvPr/>
        </p:nvSpPr>
        <p:spPr>
          <a:xfrm>
            <a:off x="7801803" y="5271275"/>
            <a:ext cx="987884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דוחות ודש </a:t>
            </a:r>
            <a:r>
              <a:rPr lang="he-IL" sz="1100" dirty="0" err="1"/>
              <a:t>בורד</a:t>
            </a:r>
            <a:r>
              <a:rPr lang="he-IL" sz="1100" dirty="0"/>
              <a:t> </a:t>
            </a:r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C6E44B22-72B5-72BC-1ED9-E21A447B588F}"/>
              </a:ext>
            </a:extLst>
          </p:cNvPr>
          <p:cNvSpPr/>
          <p:nvPr/>
        </p:nvSpPr>
        <p:spPr>
          <a:xfrm>
            <a:off x="7652180" y="6262137"/>
            <a:ext cx="1136364" cy="5358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בחירה בתקצוב אישי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A011B32-FB07-B7A1-6237-1BF1620765FB}"/>
              </a:ext>
            </a:extLst>
          </p:cNvPr>
          <p:cNvSpPr/>
          <p:nvPr/>
        </p:nvSpPr>
        <p:spPr>
          <a:xfrm>
            <a:off x="6019203" y="3237338"/>
            <a:ext cx="1121710" cy="335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תיאום תוכנית מרחוק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E0C4C85-77C9-1065-F0F0-74A8FB340920}"/>
              </a:ext>
            </a:extLst>
          </p:cNvPr>
          <p:cNvSpPr/>
          <p:nvPr/>
        </p:nvSpPr>
        <p:spPr>
          <a:xfrm>
            <a:off x="5990029" y="3723531"/>
            <a:ext cx="1157545" cy="357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ניהול מעגל תמיכה</a:t>
            </a:r>
          </a:p>
        </p:txBody>
      </p:sp>
      <p:sp>
        <p:nvSpPr>
          <p:cNvPr id="61" name="Arrow: Left 60">
            <a:extLst>
              <a:ext uri="{FF2B5EF4-FFF2-40B4-BE49-F238E27FC236}">
                <a16:creationId xmlns:a16="http://schemas.microsoft.com/office/drawing/2014/main" id="{F40AEC5A-A525-A22C-A2FB-0FBDB35A2036}"/>
              </a:ext>
            </a:extLst>
          </p:cNvPr>
          <p:cNvSpPr/>
          <p:nvPr/>
        </p:nvSpPr>
        <p:spPr>
          <a:xfrm>
            <a:off x="5956139" y="6250459"/>
            <a:ext cx="1166786" cy="5358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מטרות, יעדים, מסגרת זמן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0EF6842-7060-60C3-4A98-091C2461B638}"/>
              </a:ext>
            </a:extLst>
          </p:cNvPr>
          <p:cNvSpPr/>
          <p:nvPr/>
        </p:nvSpPr>
        <p:spPr>
          <a:xfrm>
            <a:off x="3060365" y="3245856"/>
            <a:ext cx="1149182" cy="335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פלטפורמת תכנית אישי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001DD23-8F29-2395-85E9-197B0B71D786}"/>
              </a:ext>
            </a:extLst>
          </p:cNvPr>
          <p:cNvSpPr/>
          <p:nvPr/>
        </p:nvSpPr>
        <p:spPr>
          <a:xfrm>
            <a:off x="1398506" y="2734035"/>
            <a:ext cx="1124081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פלטפורמת תכנית אישית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81BF24F-5E70-C2AB-9F35-DC51351F9479}"/>
              </a:ext>
            </a:extLst>
          </p:cNvPr>
          <p:cNvSpPr/>
          <p:nvPr/>
        </p:nvSpPr>
        <p:spPr>
          <a:xfrm>
            <a:off x="1389840" y="3733732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דירוג והמלצה - שירותים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4B98227-2A73-C1F1-886E-C3D1C5987B9A}"/>
              </a:ext>
            </a:extLst>
          </p:cNvPr>
          <p:cNvSpPr/>
          <p:nvPr/>
        </p:nvSpPr>
        <p:spPr>
          <a:xfrm>
            <a:off x="1389840" y="4231442"/>
            <a:ext cx="1149182" cy="370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התחשבנות ותשלומים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005A279-EDDD-59EE-11FE-4A5AB6073AD4}"/>
              </a:ext>
            </a:extLst>
          </p:cNvPr>
          <p:cNvSpPr/>
          <p:nvPr/>
        </p:nvSpPr>
        <p:spPr>
          <a:xfrm>
            <a:off x="92331" y="2743301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דש </a:t>
            </a:r>
            <a:r>
              <a:rPr lang="he-IL" sz="1400" dirty="0" err="1"/>
              <a:t>בורד</a:t>
            </a:r>
            <a:r>
              <a:rPr lang="he-IL" sz="1400" dirty="0"/>
              <a:t> ודוחות 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41A9FC1-AEED-63E6-8897-0ACE5B5E1CB8}"/>
              </a:ext>
            </a:extLst>
          </p:cNvPr>
          <p:cNvCxnSpPr>
            <a:cxnSpLocks/>
          </p:cNvCxnSpPr>
          <p:nvPr/>
        </p:nvCxnSpPr>
        <p:spPr>
          <a:xfrm>
            <a:off x="2762949" y="5799078"/>
            <a:ext cx="869562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B0AD23-1D9B-DACD-2646-6A6C9317ED59}"/>
              </a:ext>
            </a:extLst>
          </p:cNvPr>
          <p:cNvSpPr txBox="1"/>
          <p:nvPr/>
        </p:nvSpPr>
        <p:spPr>
          <a:xfrm flipH="1">
            <a:off x="2192263" y="5779256"/>
            <a:ext cx="58791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מידע עובר בתהליך אוטומטי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38555-9C46-CDD7-A05D-62CEEC767C8B}"/>
              </a:ext>
            </a:extLst>
          </p:cNvPr>
          <p:cNvSpPr txBox="1"/>
          <p:nvPr/>
        </p:nvSpPr>
        <p:spPr>
          <a:xfrm>
            <a:off x="9717860" y="1233853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הבשורה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0D52C-D904-1AB9-8974-7C60E094F701}"/>
              </a:ext>
            </a:extLst>
          </p:cNvPr>
          <p:cNvSpPr txBox="1"/>
          <p:nvPr/>
        </p:nvSpPr>
        <p:spPr>
          <a:xfrm>
            <a:off x="8339621" y="1226509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קביעת נכות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4C68B-A8F5-80CB-077B-D4D7D010605A}"/>
              </a:ext>
            </a:extLst>
          </p:cNvPr>
          <p:cNvSpPr txBox="1"/>
          <p:nvPr/>
        </p:nvSpPr>
        <p:spPr>
          <a:xfrm>
            <a:off x="7021584" y="1249539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זכאות לשירותים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08135-5321-B1F9-51E0-93BCE4900AC0}"/>
              </a:ext>
            </a:extLst>
          </p:cNvPr>
          <p:cNvSpPr txBox="1"/>
          <p:nvPr/>
        </p:nvSpPr>
        <p:spPr>
          <a:xfrm>
            <a:off x="5117234" y="1226509"/>
            <a:ext cx="197104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יצירת תכנית </a:t>
            </a:r>
          </a:p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  אישית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F979D-1496-8438-00E1-49BB04F0E66C}"/>
              </a:ext>
            </a:extLst>
          </p:cNvPr>
          <p:cNvSpPr txBox="1"/>
          <p:nvPr/>
        </p:nvSpPr>
        <p:spPr>
          <a:xfrm>
            <a:off x="2336055" y="1262428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בחירת שירותים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127AC-4EAE-D3CD-EE0F-5D77AC9B6385}"/>
              </a:ext>
            </a:extLst>
          </p:cNvPr>
          <p:cNvSpPr txBox="1"/>
          <p:nvPr/>
        </p:nvSpPr>
        <p:spPr>
          <a:xfrm>
            <a:off x="10892559" y="683960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2D11A-052E-02F6-687A-E7856EC393EE}"/>
              </a:ext>
            </a:extLst>
          </p:cNvPr>
          <p:cNvSpPr txBox="1"/>
          <p:nvPr/>
        </p:nvSpPr>
        <p:spPr>
          <a:xfrm>
            <a:off x="9360599" y="641815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2177CA-7BF0-D0C8-D38E-3C5A964A42A8}"/>
              </a:ext>
            </a:extLst>
          </p:cNvPr>
          <p:cNvSpPr txBox="1"/>
          <p:nvPr/>
        </p:nvSpPr>
        <p:spPr>
          <a:xfrm>
            <a:off x="7919765" y="66632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FB690D-F1B7-C140-2588-45CD95AE4937}"/>
              </a:ext>
            </a:extLst>
          </p:cNvPr>
          <p:cNvSpPr txBox="1"/>
          <p:nvPr/>
        </p:nvSpPr>
        <p:spPr>
          <a:xfrm>
            <a:off x="6065133" y="67765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E6BD3A-080B-D046-D82C-4F57331EDAC1}"/>
              </a:ext>
            </a:extLst>
          </p:cNvPr>
          <p:cNvSpPr txBox="1"/>
          <p:nvPr/>
        </p:nvSpPr>
        <p:spPr>
          <a:xfrm>
            <a:off x="3017109" y="67765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945CCF-B7ED-34A1-DABE-7BDF397CCAB6}"/>
              </a:ext>
            </a:extLst>
          </p:cNvPr>
          <p:cNvSpPr txBox="1"/>
          <p:nvPr/>
        </p:nvSpPr>
        <p:spPr>
          <a:xfrm>
            <a:off x="443472" y="683961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BA4BE6-32C2-9144-B9E2-6955EC7CE756}"/>
              </a:ext>
            </a:extLst>
          </p:cNvPr>
          <p:cNvSpPr txBox="1"/>
          <p:nvPr/>
        </p:nvSpPr>
        <p:spPr>
          <a:xfrm>
            <a:off x="3814713" y="1230363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אישור התוכנית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202579-C672-FC48-76BE-AF02D0D00843}"/>
              </a:ext>
            </a:extLst>
          </p:cNvPr>
          <p:cNvSpPr txBox="1"/>
          <p:nvPr/>
        </p:nvSpPr>
        <p:spPr>
          <a:xfrm>
            <a:off x="4517140" y="65189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F98372-25B8-CA95-E52D-F6BA9E1C437B}"/>
              </a:ext>
            </a:extLst>
          </p:cNvPr>
          <p:cNvSpPr txBox="1"/>
          <p:nvPr/>
        </p:nvSpPr>
        <p:spPr>
          <a:xfrm>
            <a:off x="732111" y="1256731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מימוש התוכנית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7305E2-BFF2-6A9D-2967-1F476A2005E9}"/>
              </a:ext>
            </a:extLst>
          </p:cNvPr>
          <p:cNvSpPr txBox="1"/>
          <p:nvPr/>
        </p:nvSpPr>
        <p:spPr>
          <a:xfrm>
            <a:off x="1602152" y="68403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D7537D-9ADD-0301-05E2-6CA09DB4C3A8}"/>
              </a:ext>
            </a:extLst>
          </p:cNvPr>
          <p:cNvSpPr txBox="1"/>
          <p:nvPr/>
        </p:nvSpPr>
        <p:spPr>
          <a:xfrm>
            <a:off x="-852293" y="1229937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בקרה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4F4343-CF3B-E3BA-815A-737587F983CA}"/>
              </a:ext>
            </a:extLst>
          </p:cNvPr>
          <p:cNvSpPr txBox="1"/>
          <p:nvPr/>
        </p:nvSpPr>
        <p:spPr>
          <a:xfrm>
            <a:off x="5117234" y="1917295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מתאם תוכניות</a:t>
            </a:r>
          </a:p>
          <a:p>
            <a:r>
              <a:rPr lang="he-IL" sz="1600" dirty="0"/>
              <a:t>אישיות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A4F2C6-BE5A-DE73-06B2-DEBD362F0EAF}"/>
              </a:ext>
            </a:extLst>
          </p:cNvPr>
          <p:cNvSpPr txBox="1"/>
          <p:nvPr/>
        </p:nvSpPr>
        <p:spPr>
          <a:xfrm>
            <a:off x="2264440" y="1881002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מתאם תוכניות</a:t>
            </a:r>
          </a:p>
          <a:p>
            <a:r>
              <a:rPr lang="he-IL" sz="1600" dirty="0"/>
              <a:t>אישיות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534F4BA-BC7A-66B4-4894-603497843D24}"/>
              </a:ext>
            </a:extLst>
          </p:cNvPr>
          <p:cNvSpPr/>
          <p:nvPr/>
        </p:nvSpPr>
        <p:spPr>
          <a:xfrm>
            <a:off x="101527" y="3747844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ארנק דיגיטלי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B2A1A6E-40E2-2B63-2FF0-EB24F9254749}"/>
              </a:ext>
            </a:extLst>
          </p:cNvPr>
          <p:cNvSpPr/>
          <p:nvPr/>
        </p:nvSpPr>
        <p:spPr>
          <a:xfrm>
            <a:off x="101010" y="3245856"/>
            <a:ext cx="1124081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פלטפורמת תכנית אישית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F9B8724-EA3C-CB21-893F-109F9CF7D57F}"/>
              </a:ext>
            </a:extLst>
          </p:cNvPr>
          <p:cNvSpPr/>
          <p:nvPr/>
        </p:nvSpPr>
        <p:spPr>
          <a:xfrm>
            <a:off x="4555905" y="2737789"/>
            <a:ext cx="1124081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פלטפורמת תכנית אישית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354C1D9-3938-24AF-E16D-5FDD69BFA0D5}"/>
              </a:ext>
            </a:extLst>
          </p:cNvPr>
          <p:cNvSpPr/>
          <p:nvPr/>
        </p:nvSpPr>
        <p:spPr>
          <a:xfrm>
            <a:off x="81121" y="4231052"/>
            <a:ext cx="1149182" cy="370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התחשבנות ותשלומים </a:t>
            </a:r>
          </a:p>
        </p:txBody>
      </p:sp>
    </p:spTree>
    <p:extLst>
      <p:ext uri="{BB962C8B-B14F-4D97-AF65-F5344CB8AC3E}">
        <p14:creationId xmlns:p14="http://schemas.microsoft.com/office/powerpoint/2010/main" val="366257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CDC7689-6B83-756E-9901-81730D6EA6B7}"/>
              </a:ext>
            </a:extLst>
          </p:cNvPr>
          <p:cNvSpPr/>
          <p:nvPr/>
        </p:nvSpPr>
        <p:spPr>
          <a:xfrm>
            <a:off x="10569667" y="2752772"/>
            <a:ext cx="1121710" cy="335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תיק קליני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5A6130-9666-3A43-4ED2-7D5490855F16}"/>
              </a:ext>
            </a:extLst>
          </p:cNvPr>
          <p:cNvSpPr/>
          <p:nvPr/>
        </p:nvSpPr>
        <p:spPr>
          <a:xfrm>
            <a:off x="9156243" y="2751033"/>
            <a:ext cx="1139244" cy="337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 </a:t>
            </a:r>
            <a:r>
              <a:rPr lang="he-IL" sz="1100" dirty="0"/>
              <a:t>זימון וניהול תורים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E50A95-A80E-5009-E925-37133E33C74A}"/>
              </a:ext>
            </a:extLst>
          </p:cNvPr>
          <p:cNvSpPr txBox="1"/>
          <p:nvPr/>
        </p:nvSpPr>
        <p:spPr>
          <a:xfrm rot="5400000" flipH="1">
            <a:off x="11188055" y="680094"/>
            <a:ext cx="154622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השלב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113A83-167D-2852-FB7D-EA104826DCF5}"/>
              </a:ext>
            </a:extLst>
          </p:cNvPr>
          <p:cNvSpPr txBox="1"/>
          <p:nvPr/>
        </p:nvSpPr>
        <p:spPr>
          <a:xfrm rot="5400000" flipH="1">
            <a:off x="10353587" y="4348861"/>
            <a:ext cx="322385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יכולות טכנולוגיות נדרשות לגוף הממשלתי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148614-ACCD-9109-8A3F-EFB786081DA6}"/>
              </a:ext>
            </a:extLst>
          </p:cNvPr>
          <p:cNvSpPr/>
          <p:nvPr/>
        </p:nvSpPr>
        <p:spPr>
          <a:xfrm>
            <a:off x="7816194" y="2741012"/>
            <a:ext cx="972350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זימון וניהול תורים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C4D148-79C7-E413-16F5-D819C0D09A6E}"/>
              </a:ext>
            </a:extLst>
          </p:cNvPr>
          <p:cNvSpPr/>
          <p:nvPr/>
        </p:nvSpPr>
        <p:spPr>
          <a:xfrm>
            <a:off x="6001215" y="2733754"/>
            <a:ext cx="1121710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פלטפורמת תכנית אישית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4D68A6-1C9D-3AA3-E52F-DD37807BE9EE}"/>
              </a:ext>
            </a:extLst>
          </p:cNvPr>
          <p:cNvSpPr/>
          <p:nvPr/>
        </p:nvSpPr>
        <p:spPr>
          <a:xfrm>
            <a:off x="3059190" y="2751033"/>
            <a:ext cx="1150023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מרקט פלייס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BA34DB-8BE0-FB17-DF92-3D73A9DDAF47}"/>
              </a:ext>
            </a:extLst>
          </p:cNvPr>
          <p:cNvSpPr/>
          <p:nvPr/>
        </p:nvSpPr>
        <p:spPr>
          <a:xfrm>
            <a:off x="1399023" y="3236023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ארנק דיגיטלי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316FDD-A542-69EB-9860-B6F7ECE570D8}"/>
              </a:ext>
            </a:extLst>
          </p:cNvPr>
          <p:cNvSpPr/>
          <p:nvPr/>
        </p:nvSpPr>
        <p:spPr>
          <a:xfrm>
            <a:off x="10576629" y="3303012"/>
            <a:ext cx="1144201" cy="335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החצנת תיק קליני למטופל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E914E0-9129-1CE2-A4C0-4970B010A967}"/>
              </a:ext>
            </a:extLst>
          </p:cNvPr>
          <p:cNvSpPr/>
          <p:nvPr/>
        </p:nvSpPr>
        <p:spPr>
          <a:xfrm>
            <a:off x="9149737" y="3302904"/>
            <a:ext cx="1139244" cy="337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ניהול פניה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D1F3078-E829-2399-0666-41723E7C6D9F}"/>
              </a:ext>
            </a:extLst>
          </p:cNvPr>
          <p:cNvSpPr/>
          <p:nvPr/>
        </p:nvSpPr>
        <p:spPr>
          <a:xfrm>
            <a:off x="9143421" y="3781968"/>
            <a:ext cx="1160883" cy="313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ניהול וועדה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200D67-1A7B-E696-C913-4FE309B34F92}"/>
              </a:ext>
            </a:extLst>
          </p:cNvPr>
          <p:cNvSpPr/>
          <p:nvPr/>
        </p:nvSpPr>
        <p:spPr>
          <a:xfrm>
            <a:off x="9149737" y="4241879"/>
            <a:ext cx="1139244" cy="370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קיום וועדה מרחוק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3C1256-B99F-2C69-D990-27988217026C}"/>
              </a:ext>
            </a:extLst>
          </p:cNvPr>
          <p:cNvSpPr/>
          <p:nvPr/>
        </p:nvSpPr>
        <p:spPr>
          <a:xfrm>
            <a:off x="0" y="1860944"/>
            <a:ext cx="11688900" cy="6334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36D211-B925-1260-446B-1D4D401E0B96}"/>
              </a:ext>
            </a:extLst>
          </p:cNvPr>
          <p:cNvSpPr txBox="1"/>
          <p:nvPr/>
        </p:nvSpPr>
        <p:spPr>
          <a:xfrm>
            <a:off x="9763668" y="1856560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ספק בריאות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5D8A38-23F7-BB71-E5E0-9F1311E9EB37}"/>
              </a:ext>
            </a:extLst>
          </p:cNvPr>
          <p:cNvSpPr txBox="1"/>
          <p:nvPr/>
        </p:nvSpPr>
        <p:spPr>
          <a:xfrm>
            <a:off x="8258582" y="1891722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ביטוח לאומי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8432AF-AE2B-FCDE-7DA9-D0CB4CCDDC24}"/>
              </a:ext>
            </a:extLst>
          </p:cNvPr>
          <p:cNvSpPr txBox="1"/>
          <p:nvPr/>
        </p:nvSpPr>
        <p:spPr>
          <a:xfrm>
            <a:off x="6962700" y="1896697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rgbClr val="C00000"/>
                </a:solidFill>
              </a:rPr>
              <a:t>משרד הרווחה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ED6551-6765-9A45-9019-8C981E2F3BF4}"/>
              </a:ext>
            </a:extLst>
          </p:cNvPr>
          <p:cNvSpPr txBox="1"/>
          <p:nvPr/>
        </p:nvSpPr>
        <p:spPr>
          <a:xfrm>
            <a:off x="3814713" y="1915387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789735-A328-4B05-3A3E-B7D6676E79E9}"/>
              </a:ext>
            </a:extLst>
          </p:cNvPr>
          <p:cNvSpPr txBox="1"/>
          <p:nvPr/>
        </p:nvSpPr>
        <p:spPr>
          <a:xfrm>
            <a:off x="708601" y="1861863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3CB34B-3FC3-524B-5E9F-6E6AAF9DB711}"/>
              </a:ext>
            </a:extLst>
          </p:cNvPr>
          <p:cNvSpPr txBox="1"/>
          <p:nvPr/>
        </p:nvSpPr>
        <p:spPr>
          <a:xfrm>
            <a:off x="-587281" y="1855137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ACB4B0-3C54-E2D4-8208-D07FB0D8A6AC}"/>
              </a:ext>
            </a:extLst>
          </p:cNvPr>
          <p:cNvSpPr txBox="1"/>
          <p:nvPr/>
        </p:nvSpPr>
        <p:spPr>
          <a:xfrm rot="5400000" flipH="1">
            <a:off x="11194477" y="1746109"/>
            <a:ext cx="154622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גוף ממשלתי</a:t>
            </a:r>
          </a:p>
        </p:txBody>
      </p:sp>
      <p:sp>
        <p:nvSpPr>
          <p:cNvPr id="51" name="Arrow: Left 50">
            <a:extLst>
              <a:ext uri="{FF2B5EF4-FFF2-40B4-BE49-F238E27FC236}">
                <a16:creationId xmlns:a16="http://schemas.microsoft.com/office/drawing/2014/main" id="{CEFDD408-3F06-3369-C577-2718BB3A52CA}"/>
              </a:ext>
            </a:extLst>
          </p:cNvPr>
          <p:cNvSpPr/>
          <p:nvPr/>
        </p:nvSpPr>
        <p:spPr>
          <a:xfrm>
            <a:off x="9112337" y="6312104"/>
            <a:ext cx="1191967" cy="43590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זכאות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DB1322A-EFA1-9CE9-3EC0-DD9AF4C905F7}"/>
              </a:ext>
            </a:extLst>
          </p:cNvPr>
          <p:cNvSpPr/>
          <p:nvPr/>
        </p:nvSpPr>
        <p:spPr>
          <a:xfrm>
            <a:off x="7819319" y="3235836"/>
            <a:ext cx="972350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ממשק דיווח אישי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CCF9426-EB15-67D7-7E28-4AA53A4011C3}"/>
              </a:ext>
            </a:extLst>
          </p:cNvPr>
          <p:cNvSpPr/>
          <p:nvPr/>
        </p:nvSpPr>
        <p:spPr>
          <a:xfrm>
            <a:off x="7820431" y="3730660"/>
            <a:ext cx="960076" cy="357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ממשק</a:t>
            </a:r>
            <a:r>
              <a:rPr lang="he-IL" dirty="0"/>
              <a:t> </a:t>
            </a:r>
            <a:r>
              <a:rPr lang="he-IL" sz="1100" dirty="0"/>
              <a:t>הערכה חיצונית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2FD0618-8B6B-8DE8-82AB-A2F22A4A3933}"/>
              </a:ext>
            </a:extLst>
          </p:cNvPr>
          <p:cNvSpPr/>
          <p:nvPr/>
        </p:nvSpPr>
        <p:spPr>
          <a:xfrm>
            <a:off x="7812394" y="4244197"/>
            <a:ext cx="960076" cy="357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ניהול וועדה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586D11D-CD71-C957-6610-3243EE056C24}"/>
              </a:ext>
            </a:extLst>
          </p:cNvPr>
          <p:cNvSpPr/>
          <p:nvPr/>
        </p:nvSpPr>
        <p:spPr>
          <a:xfrm>
            <a:off x="7797734" y="4752180"/>
            <a:ext cx="974736" cy="357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קיום וועדה מרחוק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4374077-F45C-90D9-F592-551EBBC6B119}"/>
              </a:ext>
            </a:extLst>
          </p:cNvPr>
          <p:cNvSpPr/>
          <p:nvPr/>
        </p:nvSpPr>
        <p:spPr>
          <a:xfrm>
            <a:off x="7801803" y="5271275"/>
            <a:ext cx="987884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דוחות ודש </a:t>
            </a:r>
            <a:r>
              <a:rPr lang="he-IL" sz="1100" dirty="0" err="1"/>
              <a:t>בורד</a:t>
            </a:r>
            <a:r>
              <a:rPr lang="he-IL" sz="1100" dirty="0"/>
              <a:t> </a:t>
            </a:r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C6E44B22-72B5-72BC-1ED9-E21A447B588F}"/>
              </a:ext>
            </a:extLst>
          </p:cNvPr>
          <p:cNvSpPr/>
          <p:nvPr/>
        </p:nvSpPr>
        <p:spPr>
          <a:xfrm>
            <a:off x="7652180" y="6262137"/>
            <a:ext cx="1136364" cy="5358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בחירה בתקצוב אישי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A011B32-FB07-B7A1-6237-1BF1620765FB}"/>
              </a:ext>
            </a:extLst>
          </p:cNvPr>
          <p:cNvSpPr/>
          <p:nvPr/>
        </p:nvSpPr>
        <p:spPr>
          <a:xfrm>
            <a:off x="6019203" y="3237338"/>
            <a:ext cx="1121710" cy="335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תיאום תוכנית מרחוק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E0C4C85-77C9-1065-F0F0-74A8FB340920}"/>
              </a:ext>
            </a:extLst>
          </p:cNvPr>
          <p:cNvSpPr/>
          <p:nvPr/>
        </p:nvSpPr>
        <p:spPr>
          <a:xfrm>
            <a:off x="5990029" y="3723531"/>
            <a:ext cx="1157545" cy="357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ניהול מעגל תמיכה</a:t>
            </a:r>
          </a:p>
        </p:txBody>
      </p:sp>
      <p:sp>
        <p:nvSpPr>
          <p:cNvPr id="61" name="Arrow: Left 60">
            <a:extLst>
              <a:ext uri="{FF2B5EF4-FFF2-40B4-BE49-F238E27FC236}">
                <a16:creationId xmlns:a16="http://schemas.microsoft.com/office/drawing/2014/main" id="{F40AEC5A-A525-A22C-A2FB-0FBDB35A2036}"/>
              </a:ext>
            </a:extLst>
          </p:cNvPr>
          <p:cNvSpPr/>
          <p:nvPr/>
        </p:nvSpPr>
        <p:spPr>
          <a:xfrm>
            <a:off x="5956139" y="6250459"/>
            <a:ext cx="1166786" cy="5358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מטרות, יעדים, מסגרת זמן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0EF6842-7060-60C3-4A98-091C2461B638}"/>
              </a:ext>
            </a:extLst>
          </p:cNvPr>
          <p:cNvSpPr/>
          <p:nvPr/>
        </p:nvSpPr>
        <p:spPr>
          <a:xfrm>
            <a:off x="3060365" y="3245856"/>
            <a:ext cx="1149182" cy="335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פלטפורמת תכנית אישי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001DD23-8F29-2395-85E9-197B0B71D786}"/>
              </a:ext>
            </a:extLst>
          </p:cNvPr>
          <p:cNvSpPr/>
          <p:nvPr/>
        </p:nvSpPr>
        <p:spPr>
          <a:xfrm>
            <a:off x="1398506" y="2734035"/>
            <a:ext cx="1124081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פלטפורמת תכנית אישית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81BF24F-5E70-C2AB-9F35-DC51351F9479}"/>
              </a:ext>
            </a:extLst>
          </p:cNvPr>
          <p:cNvSpPr/>
          <p:nvPr/>
        </p:nvSpPr>
        <p:spPr>
          <a:xfrm>
            <a:off x="1389840" y="3733732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דירוג והמלצה - שירותים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4B98227-2A73-C1F1-886E-C3D1C5987B9A}"/>
              </a:ext>
            </a:extLst>
          </p:cNvPr>
          <p:cNvSpPr/>
          <p:nvPr/>
        </p:nvSpPr>
        <p:spPr>
          <a:xfrm>
            <a:off x="1389840" y="4231442"/>
            <a:ext cx="1149182" cy="370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התחשבנות ותשלומים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005A279-EDDD-59EE-11FE-4A5AB6073AD4}"/>
              </a:ext>
            </a:extLst>
          </p:cNvPr>
          <p:cNvSpPr/>
          <p:nvPr/>
        </p:nvSpPr>
        <p:spPr>
          <a:xfrm>
            <a:off x="92331" y="2743301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דש </a:t>
            </a:r>
            <a:r>
              <a:rPr lang="he-IL" sz="1400" dirty="0" err="1"/>
              <a:t>בורד</a:t>
            </a:r>
            <a:r>
              <a:rPr lang="he-IL" sz="1400" dirty="0"/>
              <a:t> ודוחות 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41A9FC1-AEED-63E6-8897-0ACE5B5E1CB8}"/>
              </a:ext>
            </a:extLst>
          </p:cNvPr>
          <p:cNvCxnSpPr>
            <a:cxnSpLocks/>
          </p:cNvCxnSpPr>
          <p:nvPr/>
        </p:nvCxnSpPr>
        <p:spPr>
          <a:xfrm>
            <a:off x="2762949" y="5799078"/>
            <a:ext cx="869562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B0AD23-1D9B-DACD-2646-6A6C9317ED59}"/>
              </a:ext>
            </a:extLst>
          </p:cNvPr>
          <p:cNvSpPr txBox="1"/>
          <p:nvPr/>
        </p:nvSpPr>
        <p:spPr>
          <a:xfrm flipH="1">
            <a:off x="2192263" y="5779256"/>
            <a:ext cx="58791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מידע עובר בתהליך אוטומטי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38555-9C46-CDD7-A05D-62CEEC767C8B}"/>
              </a:ext>
            </a:extLst>
          </p:cNvPr>
          <p:cNvSpPr txBox="1"/>
          <p:nvPr/>
        </p:nvSpPr>
        <p:spPr>
          <a:xfrm>
            <a:off x="9717860" y="1233853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הבשורה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0D52C-D904-1AB9-8974-7C60E094F701}"/>
              </a:ext>
            </a:extLst>
          </p:cNvPr>
          <p:cNvSpPr txBox="1"/>
          <p:nvPr/>
        </p:nvSpPr>
        <p:spPr>
          <a:xfrm>
            <a:off x="8339621" y="1226509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קביעת נכות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4C68B-A8F5-80CB-077B-D4D7D010605A}"/>
              </a:ext>
            </a:extLst>
          </p:cNvPr>
          <p:cNvSpPr txBox="1"/>
          <p:nvPr/>
        </p:nvSpPr>
        <p:spPr>
          <a:xfrm>
            <a:off x="7021584" y="1249539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זכאות לשירותים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08135-5321-B1F9-51E0-93BCE4900AC0}"/>
              </a:ext>
            </a:extLst>
          </p:cNvPr>
          <p:cNvSpPr txBox="1"/>
          <p:nvPr/>
        </p:nvSpPr>
        <p:spPr>
          <a:xfrm>
            <a:off x="5117234" y="1226509"/>
            <a:ext cx="197104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יצירת תכנית </a:t>
            </a:r>
          </a:p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  אישית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F979D-1496-8438-00E1-49BB04F0E66C}"/>
              </a:ext>
            </a:extLst>
          </p:cNvPr>
          <p:cNvSpPr txBox="1"/>
          <p:nvPr/>
        </p:nvSpPr>
        <p:spPr>
          <a:xfrm>
            <a:off x="2336055" y="1262428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בחירת שירותים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127AC-4EAE-D3CD-EE0F-5D77AC9B6385}"/>
              </a:ext>
            </a:extLst>
          </p:cNvPr>
          <p:cNvSpPr txBox="1"/>
          <p:nvPr/>
        </p:nvSpPr>
        <p:spPr>
          <a:xfrm>
            <a:off x="10892559" y="683960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2D11A-052E-02F6-687A-E7856EC393EE}"/>
              </a:ext>
            </a:extLst>
          </p:cNvPr>
          <p:cNvSpPr txBox="1"/>
          <p:nvPr/>
        </p:nvSpPr>
        <p:spPr>
          <a:xfrm>
            <a:off x="9360599" y="641815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2177CA-7BF0-D0C8-D38E-3C5A964A42A8}"/>
              </a:ext>
            </a:extLst>
          </p:cNvPr>
          <p:cNvSpPr txBox="1"/>
          <p:nvPr/>
        </p:nvSpPr>
        <p:spPr>
          <a:xfrm>
            <a:off x="7919765" y="66632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FB690D-F1B7-C140-2588-45CD95AE4937}"/>
              </a:ext>
            </a:extLst>
          </p:cNvPr>
          <p:cNvSpPr txBox="1"/>
          <p:nvPr/>
        </p:nvSpPr>
        <p:spPr>
          <a:xfrm>
            <a:off x="6065133" y="67765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E6BD3A-080B-D046-D82C-4F57331EDAC1}"/>
              </a:ext>
            </a:extLst>
          </p:cNvPr>
          <p:cNvSpPr txBox="1"/>
          <p:nvPr/>
        </p:nvSpPr>
        <p:spPr>
          <a:xfrm>
            <a:off x="3017109" y="67765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945CCF-B7ED-34A1-DABE-7BDF397CCAB6}"/>
              </a:ext>
            </a:extLst>
          </p:cNvPr>
          <p:cNvSpPr txBox="1"/>
          <p:nvPr/>
        </p:nvSpPr>
        <p:spPr>
          <a:xfrm>
            <a:off x="443472" y="683961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BA4BE6-32C2-9144-B9E2-6955EC7CE756}"/>
              </a:ext>
            </a:extLst>
          </p:cNvPr>
          <p:cNvSpPr txBox="1"/>
          <p:nvPr/>
        </p:nvSpPr>
        <p:spPr>
          <a:xfrm>
            <a:off x="3814713" y="1230363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אישור התוכנית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202579-C672-FC48-76BE-AF02D0D00843}"/>
              </a:ext>
            </a:extLst>
          </p:cNvPr>
          <p:cNvSpPr txBox="1"/>
          <p:nvPr/>
        </p:nvSpPr>
        <p:spPr>
          <a:xfrm>
            <a:off x="4517140" y="65189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F98372-25B8-CA95-E52D-F6BA9E1C437B}"/>
              </a:ext>
            </a:extLst>
          </p:cNvPr>
          <p:cNvSpPr txBox="1"/>
          <p:nvPr/>
        </p:nvSpPr>
        <p:spPr>
          <a:xfrm>
            <a:off x="732111" y="1256731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מימוש התוכנית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7305E2-BFF2-6A9D-2967-1F476A2005E9}"/>
              </a:ext>
            </a:extLst>
          </p:cNvPr>
          <p:cNvSpPr txBox="1"/>
          <p:nvPr/>
        </p:nvSpPr>
        <p:spPr>
          <a:xfrm>
            <a:off x="1602152" y="68403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D7537D-9ADD-0301-05E2-6CA09DB4C3A8}"/>
              </a:ext>
            </a:extLst>
          </p:cNvPr>
          <p:cNvSpPr txBox="1"/>
          <p:nvPr/>
        </p:nvSpPr>
        <p:spPr>
          <a:xfrm>
            <a:off x="-852293" y="1229937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בקרה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4F4343-CF3B-E3BA-815A-737587F983CA}"/>
              </a:ext>
            </a:extLst>
          </p:cNvPr>
          <p:cNvSpPr txBox="1"/>
          <p:nvPr/>
        </p:nvSpPr>
        <p:spPr>
          <a:xfrm>
            <a:off x="5117234" y="1917295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מתאם תוכניות</a:t>
            </a:r>
          </a:p>
          <a:p>
            <a:r>
              <a:rPr lang="he-IL" sz="1600" dirty="0"/>
              <a:t>אישיות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A4F2C6-BE5A-DE73-06B2-DEBD362F0EAF}"/>
              </a:ext>
            </a:extLst>
          </p:cNvPr>
          <p:cNvSpPr txBox="1"/>
          <p:nvPr/>
        </p:nvSpPr>
        <p:spPr>
          <a:xfrm>
            <a:off x="2264440" y="1881002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מתאם תוכניות</a:t>
            </a:r>
          </a:p>
          <a:p>
            <a:r>
              <a:rPr lang="he-IL" sz="1600" dirty="0"/>
              <a:t>אישיות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534F4BA-BC7A-66B4-4894-603497843D24}"/>
              </a:ext>
            </a:extLst>
          </p:cNvPr>
          <p:cNvSpPr/>
          <p:nvPr/>
        </p:nvSpPr>
        <p:spPr>
          <a:xfrm>
            <a:off x="101527" y="3747844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ארנק דיגיטלי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B2A1A6E-40E2-2B63-2FF0-EB24F9254749}"/>
              </a:ext>
            </a:extLst>
          </p:cNvPr>
          <p:cNvSpPr/>
          <p:nvPr/>
        </p:nvSpPr>
        <p:spPr>
          <a:xfrm>
            <a:off x="101010" y="3245856"/>
            <a:ext cx="1124081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פלטפורמת תכנית אישית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F9B8724-EA3C-CB21-893F-109F9CF7D57F}"/>
              </a:ext>
            </a:extLst>
          </p:cNvPr>
          <p:cNvSpPr/>
          <p:nvPr/>
        </p:nvSpPr>
        <p:spPr>
          <a:xfrm>
            <a:off x="4555905" y="2737789"/>
            <a:ext cx="1124081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פלטפורמת תכנית אישית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354C1D9-3938-24AF-E16D-5FDD69BFA0D5}"/>
              </a:ext>
            </a:extLst>
          </p:cNvPr>
          <p:cNvSpPr/>
          <p:nvPr/>
        </p:nvSpPr>
        <p:spPr>
          <a:xfrm>
            <a:off x="81121" y="4231052"/>
            <a:ext cx="1149182" cy="370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התחשבנות ותשלומים </a:t>
            </a:r>
          </a:p>
        </p:txBody>
      </p:sp>
    </p:spTree>
    <p:extLst>
      <p:ext uri="{BB962C8B-B14F-4D97-AF65-F5344CB8AC3E}">
        <p14:creationId xmlns:p14="http://schemas.microsoft.com/office/powerpoint/2010/main" val="3764086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36E50A95-A80E-5009-E925-37133E33C74A}"/>
              </a:ext>
            </a:extLst>
          </p:cNvPr>
          <p:cNvSpPr txBox="1"/>
          <p:nvPr/>
        </p:nvSpPr>
        <p:spPr>
          <a:xfrm rot="5400000" flipH="1">
            <a:off x="11191796" y="630017"/>
            <a:ext cx="1546225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השלב</a:t>
            </a:r>
            <a:r>
              <a:rPr lang="he-IL" sz="2000" dirty="0"/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113A83-167D-2852-FB7D-EA104826DCF5}"/>
              </a:ext>
            </a:extLst>
          </p:cNvPr>
          <p:cNvSpPr txBox="1"/>
          <p:nvPr/>
        </p:nvSpPr>
        <p:spPr>
          <a:xfrm rot="5400000" flipH="1">
            <a:off x="10373796" y="4172550"/>
            <a:ext cx="322385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יכולות טכנולוגיות נדרשות לספקים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4D68A6-1C9D-3AA3-E52F-DD37807BE9EE}"/>
              </a:ext>
            </a:extLst>
          </p:cNvPr>
          <p:cNvSpPr/>
          <p:nvPr/>
        </p:nvSpPr>
        <p:spPr>
          <a:xfrm>
            <a:off x="3059190" y="2751033"/>
            <a:ext cx="1150023" cy="337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מרקט פלייס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BA34DB-8BE0-FB17-DF92-3D73A9DDAF47}"/>
              </a:ext>
            </a:extLst>
          </p:cNvPr>
          <p:cNvSpPr/>
          <p:nvPr/>
        </p:nvSpPr>
        <p:spPr>
          <a:xfrm>
            <a:off x="1399023" y="3236023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ארנק דיגיטלי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3C1256-B99F-2C69-D990-27988217026C}"/>
              </a:ext>
            </a:extLst>
          </p:cNvPr>
          <p:cNvSpPr/>
          <p:nvPr/>
        </p:nvSpPr>
        <p:spPr>
          <a:xfrm>
            <a:off x="0" y="1860944"/>
            <a:ext cx="11688900" cy="6334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36D211-B925-1260-446B-1D4D401E0B96}"/>
              </a:ext>
            </a:extLst>
          </p:cNvPr>
          <p:cNvSpPr txBox="1"/>
          <p:nvPr/>
        </p:nvSpPr>
        <p:spPr>
          <a:xfrm>
            <a:off x="9763668" y="1856560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ספק בריאות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5D8A38-23F7-BB71-E5E0-9F1311E9EB37}"/>
              </a:ext>
            </a:extLst>
          </p:cNvPr>
          <p:cNvSpPr txBox="1"/>
          <p:nvPr/>
        </p:nvSpPr>
        <p:spPr>
          <a:xfrm>
            <a:off x="8258582" y="1891722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ביטוח לאומי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8432AF-AE2B-FCDE-7DA9-D0CB4CCDDC24}"/>
              </a:ext>
            </a:extLst>
          </p:cNvPr>
          <p:cNvSpPr txBox="1"/>
          <p:nvPr/>
        </p:nvSpPr>
        <p:spPr>
          <a:xfrm>
            <a:off x="6962700" y="1896697"/>
            <a:ext cx="19710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>
                <a:solidFill>
                  <a:srgbClr val="C00000"/>
                </a:solidFill>
              </a:rPr>
              <a:t>משרד הרווחה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ED6551-6765-9A45-9019-8C981E2F3BF4}"/>
              </a:ext>
            </a:extLst>
          </p:cNvPr>
          <p:cNvSpPr txBox="1"/>
          <p:nvPr/>
        </p:nvSpPr>
        <p:spPr>
          <a:xfrm>
            <a:off x="3814713" y="1915387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789735-A328-4B05-3A3E-B7D6676E79E9}"/>
              </a:ext>
            </a:extLst>
          </p:cNvPr>
          <p:cNvSpPr txBox="1"/>
          <p:nvPr/>
        </p:nvSpPr>
        <p:spPr>
          <a:xfrm>
            <a:off x="708601" y="1861863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3CB34B-3FC3-524B-5E9F-6E6AAF9DB711}"/>
              </a:ext>
            </a:extLst>
          </p:cNvPr>
          <p:cNvSpPr txBox="1"/>
          <p:nvPr/>
        </p:nvSpPr>
        <p:spPr>
          <a:xfrm>
            <a:off x="-587281" y="1855137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משרד הרווחה</a:t>
            </a:r>
          </a:p>
          <a:p>
            <a:r>
              <a:rPr lang="he-IL" sz="1600" dirty="0"/>
              <a:t>משרד הבריאות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ACB4B0-3C54-E2D4-8208-D07FB0D8A6AC}"/>
              </a:ext>
            </a:extLst>
          </p:cNvPr>
          <p:cNvSpPr txBox="1"/>
          <p:nvPr/>
        </p:nvSpPr>
        <p:spPr>
          <a:xfrm rot="5400000" flipH="1">
            <a:off x="11184088" y="1860943"/>
            <a:ext cx="1546225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גוף</a:t>
            </a:r>
            <a:r>
              <a:rPr lang="he-IL" sz="2000" dirty="0"/>
              <a:t> </a:t>
            </a:r>
            <a:r>
              <a:rPr lang="he-IL" sz="1600" dirty="0"/>
              <a:t>ממשלתי</a:t>
            </a:r>
          </a:p>
        </p:txBody>
      </p:sp>
      <p:sp>
        <p:nvSpPr>
          <p:cNvPr id="51" name="Arrow: Left 50">
            <a:extLst>
              <a:ext uri="{FF2B5EF4-FFF2-40B4-BE49-F238E27FC236}">
                <a16:creationId xmlns:a16="http://schemas.microsoft.com/office/drawing/2014/main" id="{CEFDD408-3F06-3369-C577-2718BB3A52CA}"/>
              </a:ext>
            </a:extLst>
          </p:cNvPr>
          <p:cNvSpPr/>
          <p:nvPr/>
        </p:nvSpPr>
        <p:spPr>
          <a:xfrm>
            <a:off x="9112337" y="6312104"/>
            <a:ext cx="1191967" cy="43590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זכאות</a:t>
            </a:r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C6E44B22-72B5-72BC-1ED9-E21A447B588F}"/>
              </a:ext>
            </a:extLst>
          </p:cNvPr>
          <p:cNvSpPr/>
          <p:nvPr/>
        </p:nvSpPr>
        <p:spPr>
          <a:xfrm>
            <a:off x="7652180" y="6262137"/>
            <a:ext cx="1136364" cy="5358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בחירה בתקצוב אישי</a:t>
            </a:r>
          </a:p>
        </p:txBody>
      </p:sp>
      <p:sp>
        <p:nvSpPr>
          <p:cNvPr id="61" name="Arrow: Left 60">
            <a:extLst>
              <a:ext uri="{FF2B5EF4-FFF2-40B4-BE49-F238E27FC236}">
                <a16:creationId xmlns:a16="http://schemas.microsoft.com/office/drawing/2014/main" id="{F40AEC5A-A525-A22C-A2FB-0FBDB35A2036}"/>
              </a:ext>
            </a:extLst>
          </p:cNvPr>
          <p:cNvSpPr/>
          <p:nvPr/>
        </p:nvSpPr>
        <p:spPr>
          <a:xfrm>
            <a:off x="5956139" y="6250459"/>
            <a:ext cx="1166786" cy="5358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100" dirty="0"/>
              <a:t>מטרות, יעדים, מסגרת זמן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81BF24F-5E70-C2AB-9F35-DC51351F9479}"/>
              </a:ext>
            </a:extLst>
          </p:cNvPr>
          <p:cNvSpPr/>
          <p:nvPr/>
        </p:nvSpPr>
        <p:spPr>
          <a:xfrm>
            <a:off x="1389840" y="3733732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200" dirty="0"/>
              <a:t>דירוג והמלצה - שירותים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4B98227-2A73-C1F1-886E-C3D1C5987B9A}"/>
              </a:ext>
            </a:extLst>
          </p:cNvPr>
          <p:cNvSpPr/>
          <p:nvPr/>
        </p:nvSpPr>
        <p:spPr>
          <a:xfrm>
            <a:off x="1389840" y="4231442"/>
            <a:ext cx="1149182" cy="370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התחשבנות ותשלומים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005A279-EDDD-59EE-11FE-4A5AB6073AD4}"/>
              </a:ext>
            </a:extLst>
          </p:cNvPr>
          <p:cNvSpPr/>
          <p:nvPr/>
        </p:nvSpPr>
        <p:spPr>
          <a:xfrm>
            <a:off x="92331" y="2743301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דש </a:t>
            </a:r>
            <a:r>
              <a:rPr lang="he-IL" sz="1400" dirty="0" err="1"/>
              <a:t>בורד</a:t>
            </a:r>
            <a:r>
              <a:rPr lang="he-IL" sz="1400" dirty="0"/>
              <a:t> ודוחות 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41A9FC1-AEED-63E6-8897-0ACE5B5E1CB8}"/>
              </a:ext>
            </a:extLst>
          </p:cNvPr>
          <p:cNvCxnSpPr>
            <a:cxnSpLocks/>
          </p:cNvCxnSpPr>
          <p:nvPr/>
        </p:nvCxnSpPr>
        <p:spPr>
          <a:xfrm>
            <a:off x="2762949" y="5799078"/>
            <a:ext cx="869562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BB0AD23-1D9B-DACD-2646-6A6C9317ED59}"/>
              </a:ext>
            </a:extLst>
          </p:cNvPr>
          <p:cNvSpPr txBox="1"/>
          <p:nvPr/>
        </p:nvSpPr>
        <p:spPr>
          <a:xfrm flipH="1">
            <a:off x="2192263" y="5779256"/>
            <a:ext cx="58791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מידע עובר בתהליך אוטומטי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38555-9C46-CDD7-A05D-62CEEC767C8B}"/>
              </a:ext>
            </a:extLst>
          </p:cNvPr>
          <p:cNvSpPr txBox="1"/>
          <p:nvPr/>
        </p:nvSpPr>
        <p:spPr>
          <a:xfrm>
            <a:off x="9717860" y="1233853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הבשורה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0D52C-D904-1AB9-8974-7C60E094F701}"/>
              </a:ext>
            </a:extLst>
          </p:cNvPr>
          <p:cNvSpPr txBox="1"/>
          <p:nvPr/>
        </p:nvSpPr>
        <p:spPr>
          <a:xfrm>
            <a:off x="8339621" y="1226509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קביעת נכות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4C68B-A8F5-80CB-077B-D4D7D010605A}"/>
              </a:ext>
            </a:extLst>
          </p:cNvPr>
          <p:cNvSpPr txBox="1"/>
          <p:nvPr/>
        </p:nvSpPr>
        <p:spPr>
          <a:xfrm>
            <a:off x="7021584" y="1249539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זכאות לשירותים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08135-5321-B1F9-51E0-93BCE4900AC0}"/>
              </a:ext>
            </a:extLst>
          </p:cNvPr>
          <p:cNvSpPr txBox="1"/>
          <p:nvPr/>
        </p:nvSpPr>
        <p:spPr>
          <a:xfrm>
            <a:off x="5117234" y="1226509"/>
            <a:ext cx="197104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יצירת תכנית </a:t>
            </a:r>
          </a:p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   אישית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F979D-1496-8438-00E1-49BB04F0E66C}"/>
              </a:ext>
            </a:extLst>
          </p:cNvPr>
          <p:cNvSpPr txBox="1"/>
          <p:nvPr/>
        </p:nvSpPr>
        <p:spPr>
          <a:xfrm>
            <a:off x="2336055" y="1262428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בחירת שירותים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127AC-4EAE-D3CD-EE0F-5D77AC9B6385}"/>
              </a:ext>
            </a:extLst>
          </p:cNvPr>
          <p:cNvSpPr txBox="1"/>
          <p:nvPr/>
        </p:nvSpPr>
        <p:spPr>
          <a:xfrm>
            <a:off x="10892559" y="683960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2D11A-052E-02F6-687A-E7856EC393EE}"/>
              </a:ext>
            </a:extLst>
          </p:cNvPr>
          <p:cNvSpPr txBox="1"/>
          <p:nvPr/>
        </p:nvSpPr>
        <p:spPr>
          <a:xfrm>
            <a:off x="9360599" y="641815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2177CA-7BF0-D0C8-D38E-3C5A964A42A8}"/>
              </a:ext>
            </a:extLst>
          </p:cNvPr>
          <p:cNvSpPr txBox="1"/>
          <p:nvPr/>
        </p:nvSpPr>
        <p:spPr>
          <a:xfrm>
            <a:off x="7919765" y="66632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FB690D-F1B7-C140-2588-45CD95AE4937}"/>
              </a:ext>
            </a:extLst>
          </p:cNvPr>
          <p:cNvSpPr txBox="1"/>
          <p:nvPr/>
        </p:nvSpPr>
        <p:spPr>
          <a:xfrm>
            <a:off x="6065133" y="67765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E6BD3A-080B-D046-D82C-4F57331EDAC1}"/>
              </a:ext>
            </a:extLst>
          </p:cNvPr>
          <p:cNvSpPr txBox="1"/>
          <p:nvPr/>
        </p:nvSpPr>
        <p:spPr>
          <a:xfrm>
            <a:off x="3017109" y="677653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945CCF-B7ED-34A1-DABE-7BDF397CCAB6}"/>
              </a:ext>
            </a:extLst>
          </p:cNvPr>
          <p:cNvSpPr txBox="1"/>
          <p:nvPr/>
        </p:nvSpPr>
        <p:spPr>
          <a:xfrm>
            <a:off x="443472" y="683961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BA4BE6-32C2-9144-B9E2-6955EC7CE756}"/>
              </a:ext>
            </a:extLst>
          </p:cNvPr>
          <p:cNvSpPr txBox="1"/>
          <p:nvPr/>
        </p:nvSpPr>
        <p:spPr>
          <a:xfrm>
            <a:off x="3814713" y="1230363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אישור התוכנית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202579-C672-FC48-76BE-AF02D0D00843}"/>
              </a:ext>
            </a:extLst>
          </p:cNvPr>
          <p:cNvSpPr txBox="1"/>
          <p:nvPr/>
        </p:nvSpPr>
        <p:spPr>
          <a:xfrm>
            <a:off x="4517140" y="65189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F98372-25B8-CA95-E52D-F6BA9E1C437B}"/>
              </a:ext>
            </a:extLst>
          </p:cNvPr>
          <p:cNvSpPr txBox="1"/>
          <p:nvPr/>
        </p:nvSpPr>
        <p:spPr>
          <a:xfrm>
            <a:off x="732111" y="1256731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מימוש התוכנית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7305E2-BFF2-6A9D-2967-1F476A2005E9}"/>
              </a:ext>
            </a:extLst>
          </p:cNvPr>
          <p:cNvSpPr txBox="1"/>
          <p:nvPr/>
        </p:nvSpPr>
        <p:spPr>
          <a:xfrm>
            <a:off x="1602152" y="684034"/>
            <a:ext cx="5651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tx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D7537D-9ADD-0301-05E2-6CA09DB4C3A8}"/>
              </a:ext>
            </a:extLst>
          </p:cNvPr>
          <p:cNvSpPr txBox="1"/>
          <p:nvPr/>
        </p:nvSpPr>
        <p:spPr>
          <a:xfrm>
            <a:off x="-852293" y="1229937"/>
            <a:ext cx="19710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tx2">
                    <a:lumMod val="75000"/>
                  </a:schemeClr>
                </a:solidFill>
              </a:rPr>
              <a:t>בקרה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4F4343-CF3B-E3BA-815A-737587F983CA}"/>
              </a:ext>
            </a:extLst>
          </p:cNvPr>
          <p:cNvSpPr txBox="1"/>
          <p:nvPr/>
        </p:nvSpPr>
        <p:spPr>
          <a:xfrm>
            <a:off x="5117234" y="1917295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מתאם תוכניות</a:t>
            </a:r>
          </a:p>
          <a:p>
            <a:r>
              <a:rPr lang="he-IL" sz="1600" dirty="0"/>
              <a:t>אישיות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A4F2C6-BE5A-DE73-06B2-DEBD362F0EAF}"/>
              </a:ext>
            </a:extLst>
          </p:cNvPr>
          <p:cNvSpPr txBox="1"/>
          <p:nvPr/>
        </p:nvSpPr>
        <p:spPr>
          <a:xfrm>
            <a:off x="2264440" y="1881002"/>
            <a:ext cx="197104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מתאם תוכניות</a:t>
            </a:r>
          </a:p>
          <a:p>
            <a:r>
              <a:rPr lang="he-IL" sz="1600" dirty="0"/>
              <a:t>אישיות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534F4BA-BC7A-66B4-4894-603497843D24}"/>
              </a:ext>
            </a:extLst>
          </p:cNvPr>
          <p:cNvSpPr/>
          <p:nvPr/>
        </p:nvSpPr>
        <p:spPr>
          <a:xfrm>
            <a:off x="101527" y="3747844"/>
            <a:ext cx="1149182" cy="34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ארנק דיגיטלי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354C1D9-3938-24AF-E16D-5FDD69BFA0D5}"/>
              </a:ext>
            </a:extLst>
          </p:cNvPr>
          <p:cNvSpPr/>
          <p:nvPr/>
        </p:nvSpPr>
        <p:spPr>
          <a:xfrm>
            <a:off x="81121" y="4231052"/>
            <a:ext cx="1149182" cy="3702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/>
              <a:t>התחשבנות ותשלומים </a:t>
            </a:r>
          </a:p>
        </p:txBody>
      </p:sp>
    </p:spTree>
    <p:extLst>
      <p:ext uri="{BB962C8B-B14F-4D97-AF65-F5344CB8AC3E}">
        <p14:creationId xmlns:p14="http://schemas.microsoft.com/office/powerpoint/2010/main" val="1915651127"/>
      </p:ext>
    </p:extLst>
  </p:cSld>
  <p:clrMapOvr>
    <a:masterClrMapping/>
  </p:clrMapOvr>
</p:sld>
</file>

<file path=ppt/theme/theme1.xml><?xml version="1.0" encoding="utf-8"?>
<a:theme xmlns:a="http://schemas.openxmlformats.org/drawingml/2006/main" name="JDCI-Ashalim">
  <a:themeElements>
    <a:clrScheme name="התאמה אישית 2">
      <a:dk1>
        <a:srgbClr val="262626"/>
      </a:dk1>
      <a:lt1>
        <a:sysClr val="window" lastClr="FFFFFF"/>
      </a:lt1>
      <a:dk2>
        <a:srgbClr val="00C1DE"/>
      </a:dk2>
      <a:lt2>
        <a:srgbClr val="F2F2F2"/>
      </a:lt2>
      <a:accent1>
        <a:srgbClr val="5C5C5C"/>
      </a:accent1>
      <a:accent2>
        <a:srgbClr val="FAAA57"/>
      </a:accent2>
      <a:accent3>
        <a:srgbClr val="BC6092"/>
      </a:accent3>
      <a:accent4>
        <a:srgbClr val="B9D989"/>
      </a:accent4>
      <a:accent5>
        <a:srgbClr val="00B4A8"/>
      </a:accent5>
      <a:accent6>
        <a:srgbClr val="F05364"/>
      </a:accent6>
      <a:hlink>
        <a:srgbClr val="0070C0"/>
      </a:hlink>
      <a:folHlink>
        <a:srgbClr val="81C9FF"/>
      </a:folHlink>
    </a:clrScheme>
    <a:fontScheme name="התאמה אישית 1">
      <a:majorFont>
        <a:latin typeface="Almoni Neue DL 4.0 AAA"/>
        <a:ea typeface=""/>
        <a:cs typeface="Almoni Neue DL 4.0 AAA Medium"/>
      </a:majorFont>
      <a:minorFont>
        <a:latin typeface="Almoni Neue DL 4.0 AAA Medium"/>
        <a:ea typeface=""/>
        <a:cs typeface="Almoni Neue DL 4.0 AAA Medium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1" id="{73FB3BD0-E048-4939-AF4D-FE509B3DD3CF}" vid="{F6E3A736-FEAD-4C05-BB5F-EF2F9BBB7B6E}"/>
    </a:ext>
  </a:extLst>
</a:theme>
</file>

<file path=ppt/theme/theme2.xml><?xml version="1.0" encoding="utf-8"?>
<a:theme xmlns:a="http://schemas.openxmlformats.org/drawingml/2006/main" name="ג'ויט ישראל">
  <a:themeElements>
    <a:clrScheme name="JDCI">
      <a:dk1>
        <a:srgbClr val="262626"/>
      </a:dk1>
      <a:lt1>
        <a:sysClr val="window" lastClr="FFFFFF"/>
      </a:lt1>
      <a:dk2>
        <a:srgbClr val="00C1DE"/>
      </a:dk2>
      <a:lt2>
        <a:srgbClr val="F2F2F2"/>
      </a:lt2>
      <a:accent1>
        <a:srgbClr val="5C5C5C"/>
      </a:accent1>
      <a:accent2>
        <a:srgbClr val="FAAA57"/>
      </a:accent2>
      <a:accent3>
        <a:srgbClr val="BC6092"/>
      </a:accent3>
      <a:accent4>
        <a:srgbClr val="B9D989"/>
      </a:accent4>
      <a:accent5>
        <a:srgbClr val="00B4A8"/>
      </a:accent5>
      <a:accent6>
        <a:srgbClr val="F05364"/>
      </a:accent6>
      <a:hlink>
        <a:srgbClr val="0070C0"/>
      </a:hlink>
      <a:folHlink>
        <a:srgbClr val="81C9FF"/>
      </a:folHlink>
    </a:clrScheme>
    <a:fontScheme name="JDCI">
      <a:majorFont>
        <a:latin typeface="Almoni Neue DL 4.0 AAA"/>
        <a:ea typeface=""/>
        <a:cs typeface="Almoni Neue DL 4.0 AAA Medium"/>
      </a:majorFont>
      <a:minorFont>
        <a:latin typeface="Almoni Neue DL 4.0 AAA Medium"/>
        <a:ea typeface=""/>
        <a:cs typeface="Almoni Neue DL 4.0 AAA Medium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1" id="{73FB3BD0-E048-4939-AF4D-FE509B3DD3CF}" vid="{659655B4-B50E-44D5-8A02-058E6E7A81D8}"/>
    </a:ext>
  </a:extLst>
</a:theme>
</file>

<file path=ppt/theme/theme3.xml><?xml version="1.0" encoding="utf-8"?>
<a:theme xmlns:a="http://schemas.openxmlformats.org/drawingml/2006/main" name="ג'וינט ישראל - לבן">
  <a:themeElements>
    <a:clrScheme name="התאמה אישית 2">
      <a:dk1>
        <a:srgbClr val="262626"/>
      </a:dk1>
      <a:lt1>
        <a:sysClr val="window" lastClr="FFFFFF"/>
      </a:lt1>
      <a:dk2>
        <a:srgbClr val="00C1DE"/>
      </a:dk2>
      <a:lt2>
        <a:srgbClr val="F2F2F2"/>
      </a:lt2>
      <a:accent1>
        <a:srgbClr val="5C5C5C"/>
      </a:accent1>
      <a:accent2>
        <a:srgbClr val="FAAA57"/>
      </a:accent2>
      <a:accent3>
        <a:srgbClr val="BC6092"/>
      </a:accent3>
      <a:accent4>
        <a:srgbClr val="B9D989"/>
      </a:accent4>
      <a:accent5>
        <a:srgbClr val="00B4A8"/>
      </a:accent5>
      <a:accent6>
        <a:srgbClr val="F05364"/>
      </a:accent6>
      <a:hlink>
        <a:srgbClr val="0070C0"/>
      </a:hlink>
      <a:folHlink>
        <a:srgbClr val="81C9FF"/>
      </a:folHlink>
    </a:clrScheme>
    <a:fontScheme name="התאמה אישית 3">
      <a:majorFont>
        <a:latin typeface="Almoni Neue DL 4.0 AAA"/>
        <a:ea typeface=""/>
        <a:cs typeface="Almoni Neue DL 4.0 AAA Medium"/>
      </a:majorFont>
      <a:minorFont>
        <a:latin typeface="Almoni Neue DL 4.0 AAA Medium"/>
        <a:ea typeface=""/>
        <a:cs typeface="Almoni Neue DL 4.0 AAA Medium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1" id="{73FB3BD0-E048-4939-AF4D-FE509B3DD3CF}" vid="{BAC66389-F6FB-4076-83AD-F14566CEA013}"/>
    </a:ext>
  </a:extLst>
</a:theme>
</file>

<file path=ppt/theme/theme4.xml><?xml version="1.0" encoding="utf-8"?>
<a:theme xmlns:a="http://schemas.openxmlformats.org/drawingml/2006/main" name="ג'וינט ישראל - לוגו שמאל">
  <a:themeElements>
    <a:clrScheme name="התאמה אישית 2">
      <a:dk1>
        <a:srgbClr val="262626"/>
      </a:dk1>
      <a:lt1>
        <a:sysClr val="window" lastClr="FFFFFF"/>
      </a:lt1>
      <a:dk2>
        <a:srgbClr val="00C1DE"/>
      </a:dk2>
      <a:lt2>
        <a:srgbClr val="F2F2F2"/>
      </a:lt2>
      <a:accent1>
        <a:srgbClr val="5C5C5C"/>
      </a:accent1>
      <a:accent2>
        <a:srgbClr val="FAAA57"/>
      </a:accent2>
      <a:accent3>
        <a:srgbClr val="BC6092"/>
      </a:accent3>
      <a:accent4>
        <a:srgbClr val="B9D989"/>
      </a:accent4>
      <a:accent5>
        <a:srgbClr val="00B4A8"/>
      </a:accent5>
      <a:accent6>
        <a:srgbClr val="F05364"/>
      </a:accent6>
      <a:hlink>
        <a:srgbClr val="0070C0"/>
      </a:hlink>
      <a:folHlink>
        <a:srgbClr val="81C9FF"/>
      </a:folHlink>
    </a:clrScheme>
    <a:fontScheme name="התאמה אישית 3">
      <a:majorFont>
        <a:latin typeface="Almoni Neue DL 4.0 AAA"/>
        <a:ea typeface=""/>
        <a:cs typeface="Almoni Neue DL 4.0 AAA Medium"/>
      </a:majorFont>
      <a:minorFont>
        <a:latin typeface="Almoni Neue DL 4.0 AAA Medium"/>
        <a:ea typeface=""/>
        <a:cs typeface="Almoni Neue DL 4.0 AAA Medium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1" id="{73FB3BD0-E048-4939-AF4D-FE509B3DD3CF}" vid="{5DEFD03B-A59E-49B8-9445-D6979D68B94E}"/>
    </a:ext>
  </a:extLst>
</a:theme>
</file>

<file path=ppt/theme/theme5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865a11-04aa-4758-90f9-30fb78dc0abd" xsi:nil="true"/>
    <lcf76f155ced4ddcb4097134ff3c332f xmlns="6bda79b0-ce30-4c41-86dc-aa08c2138325">
      <Terms xmlns="http://schemas.microsoft.com/office/infopath/2007/PartnerControls"/>
    </lcf76f155ced4ddcb4097134ff3c332f>
    <_dlc_DocId xmlns="40865a11-04aa-4758-90f9-30fb78dc0abd">E7RFMTJKPR4V-852826494-676</_dlc_DocId>
    <_dlc_DocIdUrl xmlns="40865a11-04aa-4758-90f9-30fb78dc0abd">
      <Url>https://jdcil.sharepoint.com/sites/jdci/DataAndDigital/_layouts/15/DocIdRedir.aspx?ID=E7RFMTJKPR4V-852826494-676</Url>
      <Description>E7RFMTJKPR4V-852826494-676</Description>
    </_dlc_DocIdUrl>
    <SharedWithUsers xmlns="0f4d7817-0891-44c6-bafd-4945e9a8ba9a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DDE237FB9FEF4DBEB0B90F71C14FF4" ma:contentTypeVersion="12" ma:contentTypeDescription="Create a new document." ma:contentTypeScope="" ma:versionID="a824c10c9ec8378f94af8336efe8815e">
  <xsd:schema xmlns:xsd="http://www.w3.org/2001/XMLSchema" xmlns:xs="http://www.w3.org/2001/XMLSchema" xmlns:p="http://schemas.microsoft.com/office/2006/metadata/properties" xmlns:ns2="40865a11-04aa-4758-90f9-30fb78dc0abd" xmlns:ns3="6bda79b0-ce30-4c41-86dc-aa08c2138325" xmlns:ns4="0f4d7817-0891-44c6-bafd-4945e9a8ba9a" targetNamespace="http://schemas.microsoft.com/office/2006/metadata/properties" ma:root="true" ma:fieldsID="9fc48cdddd25183e18b7caf5729d469a" ns2:_="" ns3:_="" ns4:_="">
    <xsd:import namespace="40865a11-04aa-4758-90f9-30fb78dc0abd"/>
    <xsd:import namespace="6bda79b0-ce30-4c41-86dc-aa08c2138325"/>
    <xsd:import namespace="0f4d7817-0891-44c6-bafd-4945e9a8ba9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865a11-04aa-4758-90f9-30fb78dc0ab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9" nillable="true" ma:displayName="Taxonomy Catch All Column" ma:hidden="true" ma:list="{fd017d89-e13c-46b2-b39a-a5261efa44c4}" ma:internalName="TaxCatchAll" ma:showField="CatchAllData" ma:web="40865a11-04aa-4758-90f9-30fb78dc0a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a79b0-ce30-4c41-86dc-aa08c21383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3b052595-e0a3-4aa6-8855-c090d5a7a2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4d7817-0891-44c6-bafd-4945e9a8ba9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542D67-DCE4-467F-83A3-00CD06250BB1}">
  <ds:schemaRefs>
    <ds:schemaRef ds:uri="0f4d7817-0891-44c6-bafd-4945e9a8ba9a"/>
    <ds:schemaRef ds:uri="40865a11-04aa-4758-90f9-30fb78dc0abd"/>
    <ds:schemaRef ds:uri="6bda79b0-ce30-4c41-86dc-aa08c2138325"/>
    <ds:schemaRef ds:uri="94d5bf44-19d0-40f3-bc69-1b3e54691f39"/>
    <ds:schemaRef ds:uri="de5d10a7-8da3-477a-8829-9a64e72f8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03CA5A0-5720-413E-A4DF-D3B4BDC3660F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265C6AE2-5279-4753-B12E-DF129FBD7926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6DE6C1B-1513-4067-A933-C50E0C9BC543}">
  <ds:schemaRefs>
    <ds:schemaRef ds:uri="0f4d7817-0891-44c6-bafd-4945e9a8ba9a"/>
    <ds:schemaRef ds:uri="40865a11-04aa-4758-90f9-30fb78dc0abd"/>
    <ds:schemaRef ds:uri="6bda79b0-ce30-4c41-86dc-aa08c21383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!JDC-Israel Hebrew</Template>
  <TotalTime>21746</TotalTime>
  <Words>811</Words>
  <Application>Microsoft Office PowerPoint</Application>
  <PresentationFormat>Widescreen</PresentationFormat>
  <Paragraphs>364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Almoni Neue DL 4.0 AAA</vt:lpstr>
      <vt:lpstr>Almoni Neue DL 4.0 AAA Medium</vt:lpstr>
      <vt:lpstr>Arial</vt:lpstr>
      <vt:lpstr>Calibri</vt:lpstr>
      <vt:lpstr>Wingdings</vt:lpstr>
      <vt:lpstr>JDCI-Ashalim</vt:lpstr>
      <vt:lpstr>ג'ויט ישראל</vt:lpstr>
      <vt:lpstr>ג'וינט ישראל - לבן</vt:lpstr>
      <vt:lpstr>ג'וינט ישראל - לוגו שמאל</vt:lpstr>
      <vt:lpstr>תהליך תקצוב אישי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JDC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Yael Oryan</dc:creator>
  <cp:lastModifiedBy>Dafna Levin</cp:lastModifiedBy>
  <cp:revision>4</cp:revision>
  <dcterms:created xsi:type="dcterms:W3CDTF">2023-01-29T20:03:55Z</dcterms:created>
  <dcterms:modified xsi:type="dcterms:W3CDTF">2023-05-16T10:55:51Z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0x010100DBDDE237FB9FEF4DBEB0B90F71C14FF4</vt:lpwstr>
  </property>
  <property fmtid="{D5CDD505-2E9C-101B-9397-08002B2CF9AE}" pid="4" name="_dlc_DocIdItemGuid">
    <vt:lpwstr>1b71ffca-ef8f-4f1a-8cd5-416c7c1e30f1</vt:lpwstr>
  </property>
  <property fmtid="{D5CDD505-2E9C-101B-9397-08002B2CF9AE}" pid="5" name="MediaServiceImageTags">
    <vt:lpwstr/>
  </property>
</Properties>
</file>