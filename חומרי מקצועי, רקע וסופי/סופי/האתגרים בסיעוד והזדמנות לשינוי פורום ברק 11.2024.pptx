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80" r:id="rId2"/>
    <p:sldMasterId id="2147483686" r:id="rId3"/>
    <p:sldMasterId id="2147483715" r:id="rId4"/>
    <p:sldMasterId id="2147483748" r:id="rId5"/>
  </p:sldMasterIdLst>
  <p:notesMasterIdLst>
    <p:notesMasterId r:id="rId40"/>
  </p:notesMasterIdLst>
  <p:sldIdLst>
    <p:sldId id="2145706343" r:id="rId6"/>
    <p:sldId id="257" r:id="rId7"/>
    <p:sldId id="2145707243" r:id="rId8"/>
    <p:sldId id="2145707246" r:id="rId9"/>
    <p:sldId id="2145707258" r:id="rId10"/>
    <p:sldId id="2145707259" r:id="rId11"/>
    <p:sldId id="2145707252" r:id="rId12"/>
    <p:sldId id="2145707124" r:id="rId13"/>
    <p:sldId id="2145707254" r:id="rId14"/>
    <p:sldId id="2145707221" r:id="rId15"/>
    <p:sldId id="2145707244" r:id="rId16"/>
    <p:sldId id="2145707267" r:id="rId17"/>
    <p:sldId id="2145707201" r:id="rId18"/>
    <p:sldId id="2145706334" r:id="rId19"/>
    <p:sldId id="2145707255" r:id="rId20"/>
    <p:sldId id="2145706441" r:id="rId21"/>
    <p:sldId id="2145707238" r:id="rId22"/>
    <p:sldId id="2145707269" r:id="rId23"/>
    <p:sldId id="2145707191" r:id="rId24"/>
    <p:sldId id="2145707245" r:id="rId25"/>
    <p:sldId id="2145707149" r:id="rId26"/>
    <p:sldId id="281" r:id="rId27"/>
    <p:sldId id="301" r:id="rId28"/>
    <p:sldId id="294" r:id="rId29"/>
    <p:sldId id="296" r:id="rId30"/>
    <p:sldId id="2145706440" r:id="rId31"/>
    <p:sldId id="2145707194" r:id="rId32"/>
    <p:sldId id="2145707140" r:id="rId33"/>
    <p:sldId id="2145707187" r:id="rId34"/>
    <p:sldId id="2145707270" r:id="rId35"/>
    <p:sldId id="2145707242" r:id="rId36"/>
    <p:sldId id="2145707257" r:id="rId37"/>
    <p:sldId id="2145707137" r:id="rId38"/>
    <p:sldId id="2145706336" r:id="rId3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C5C5"/>
    <a:srgbClr val="C55A11"/>
    <a:srgbClr val="FFFFFF"/>
    <a:srgbClr val="002252"/>
    <a:srgbClr val="7D3FAE"/>
    <a:srgbClr val="143AA6"/>
    <a:srgbClr val="37798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סגנון בהיר 3 - הדגשה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סגנון בהיר 2 - הדגשה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26" autoAdjust="0"/>
    <p:restoredTop sz="94660"/>
  </p:normalViewPr>
  <p:slideViewPr>
    <p:cSldViewPr snapToGrid="0">
      <p:cViewPr>
        <p:scale>
          <a:sx n="90" d="100"/>
          <a:sy n="90" d="100"/>
        </p:scale>
        <p:origin x="1272"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marL="0" marR="0" lvl="0" indent="0" algn="ctr" defTabSz="914400" rtl="1" eaLnBrk="1" fontAlgn="auto" latinLnBrk="0" hangingPunct="1">
              <a:lnSpc>
                <a:spcPct val="100000"/>
              </a:lnSpc>
              <a:spcBef>
                <a:spcPts val="0"/>
              </a:spcBef>
              <a:spcAft>
                <a:spcPts val="0"/>
              </a:spcAft>
              <a:buClrTx/>
              <a:buSzTx/>
              <a:buFontTx/>
              <a:buNone/>
              <a:tabLst/>
              <a:defRPr sz="2000" b="0" i="0" u="none" strike="noStrike" kern="1200" cap="none" spc="50" normalizeH="0" baseline="0">
                <a:solidFill>
                  <a:schemeClr val="tx1"/>
                </a:solidFill>
                <a:latin typeface="+mj-lt"/>
                <a:ea typeface="+mj-ea"/>
                <a:cs typeface="+mj-cs"/>
              </a:defRPr>
            </a:pPr>
            <a:r>
              <a:rPr lang="he-IL" sz="2000" b="1" dirty="0">
                <a:solidFill>
                  <a:schemeClr val="tx1"/>
                </a:solidFill>
                <a:latin typeface="Assistant" pitchFamily="2" charset="-79"/>
                <a:cs typeface="Assistant" pitchFamily="2" charset="-79"/>
              </a:rPr>
              <a:t>תחזית של אחוז בני ה-65+ מהאוכלוסייה בישראל</a:t>
            </a:r>
            <a:br>
              <a:rPr lang="en-US" sz="2000" dirty="0">
                <a:solidFill>
                  <a:schemeClr val="tx1"/>
                </a:solidFill>
                <a:latin typeface="Assistant" pitchFamily="2" charset="-79"/>
                <a:cs typeface="Assistant" pitchFamily="2" charset="-79"/>
              </a:rPr>
            </a:br>
            <a:r>
              <a:rPr lang="he-IL" sz="2000" b="1" dirty="0">
                <a:solidFill>
                  <a:schemeClr val="tx1"/>
                </a:solidFill>
                <a:latin typeface="Assistant" pitchFamily="2" charset="-79"/>
                <a:cs typeface="Assistant" pitchFamily="2" charset="-79"/>
              </a:rPr>
              <a:t>2025-2045  </a:t>
            </a:r>
            <a:r>
              <a:rPr lang="he-IL" sz="1400" b="1" dirty="0">
                <a:solidFill>
                  <a:schemeClr val="tx1"/>
                </a:solidFill>
                <a:latin typeface="Assistant" pitchFamily="2" charset="-79"/>
                <a:cs typeface="Assistant" pitchFamily="2" charset="-79"/>
              </a:rPr>
              <a:t>(שנתון 2023 </a:t>
            </a:r>
            <a:r>
              <a:rPr lang="he-IL" sz="1400" b="1" dirty="0" err="1">
                <a:solidFill>
                  <a:schemeClr val="tx1"/>
                </a:solidFill>
                <a:latin typeface="Assistant" pitchFamily="2" charset="-79"/>
                <a:cs typeface="Assistant" pitchFamily="2" charset="-79"/>
              </a:rPr>
              <a:t>ברוקדייל</a:t>
            </a:r>
            <a:r>
              <a:rPr lang="he-IL" sz="1400" b="1" dirty="0">
                <a:solidFill>
                  <a:schemeClr val="tx1"/>
                </a:solidFill>
                <a:latin typeface="Assistant" pitchFamily="2" charset="-79"/>
                <a:cs typeface="Assistant" pitchFamily="2" charset="-79"/>
              </a:rPr>
              <a:t>)</a:t>
            </a:r>
            <a:endParaRPr lang="he-IL" sz="2000" b="1" dirty="0">
              <a:solidFill>
                <a:schemeClr val="tx1"/>
              </a:solidFill>
              <a:latin typeface="Assistant" pitchFamily="2" charset="-79"/>
              <a:cs typeface="Assistant" pitchFamily="2" charset="-79"/>
            </a:endParaRPr>
          </a:p>
        </c:rich>
      </c:tx>
      <c:overlay val="0"/>
      <c:spPr>
        <a:noFill/>
        <a:ln>
          <a:noFill/>
        </a:ln>
        <a:effectLst/>
      </c:spPr>
      <c:txPr>
        <a:bodyPr rot="0" spcFirstLastPara="1" vertOverflow="ellipsis" vert="horz" wrap="square" anchor="ctr" anchorCtr="1"/>
        <a:lstStyle/>
        <a:p>
          <a:pPr marL="0" marR="0" lvl="0" indent="0" algn="ctr" defTabSz="914400" rtl="1" eaLnBrk="1" fontAlgn="auto" latinLnBrk="0" hangingPunct="1">
            <a:lnSpc>
              <a:spcPct val="100000"/>
            </a:lnSpc>
            <a:spcBef>
              <a:spcPts val="0"/>
            </a:spcBef>
            <a:spcAft>
              <a:spcPts val="0"/>
            </a:spcAft>
            <a:buClrTx/>
            <a:buSzTx/>
            <a:buFontTx/>
            <a:buNone/>
            <a:tabLst/>
            <a:defRPr sz="2000" b="0" i="0" u="none" strike="noStrike" kern="1200" cap="none" spc="50" normalizeH="0" baseline="0">
              <a:solidFill>
                <a:schemeClr val="tx1"/>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0F6FC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1-FADE-4127-87FE-3836A406ABFE}"/>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05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9.6311576535027615E-2"/>
          <c:y val="0.22825530531457483"/>
          <c:w val="0.86731553369038539"/>
          <c:h val="0.64362569468409281"/>
        </c:manualLayout>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2024</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8EEB4B-E0C4-418F-9BD0-25DE806D6811}" type="doc">
      <dgm:prSet loTypeId="urn:microsoft.com/office/officeart/2005/8/layout/cycle1" loCatId="cycle" qsTypeId="urn:microsoft.com/office/officeart/2005/8/quickstyle/simple1" qsCatId="simple" csTypeId="urn:microsoft.com/office/officeart/2005/8/colors/colorful1" csCatId="colorful" phldr="1"/>
      <dgm:spPr/>
      <dgm:t>
        <a:bodyPr/>
        <a:lstStyle/>
        <a:p>
          <a:pPr rtl="1"/>
          <a:endParaRPr lang="he-IL"/>
        </a:p>
      </dgm:t>
    </dgm:pt>
    <dgm:pt modelId="{E0208170-BA3F-455D-BAF5-ABAC22D88DFC}">
      <dgm:prSet phldrT="[טקסט]" custT="1"/>
      <dgm:spPr/>
      <dgm:t>
        <a:bodyPr/>
        <a:lstStyle/>
        <a:p>
          <a:pPr rtl="1">
            <a:buSzPts val="1000"/>
            <a:buFont typeface="Symbol" panose="05050102010706020507" pitchFamily="18" charset="2"/>
            <a:buChar char=""/>
          </a:pPr>
          <a:r>
            <a:rPr lang="he-IL" sz="2000" dirty="0">
              <a:effectLst/>
              <a:latin typeface="Calibri" panose="020F0502020204030204" pitchFamily="34" charset="0"/>
              <a:ea typeface="Calibri" panose="020F0502020204030204" pitchFamily="34" charset="0"/>
              <a:cs typeface="Arial" panose="020B0604020202020204" pitchFamily="34" charset="0"/>
            </a:rPr>
            <a:t>שימוש ב</a:t>
          </a:r>
          <a:r>
            <a:rPr lang="en-US" sz="2000" dirty="0">
              <a:effectLst/>
              <a:latin typeface="Calibri" panose="020F0502020204030204" pitchFamily="34" charset="0"/>
              <a:ea typeface="Calibri" panose="020F0502020204030204" pitchFamily="34" charset="0"/>
              <a:cs typeface="Arial" panose="020B0604020202020204" pitchFamily="34" charset="0"/>
            </a:rPr>
            <a:t>-AI </a:t>
          </a:r>
          <a:r>
            <a:rPr lang="he-IL" sz="2000" dirty="0">
              <a:effectLst/>
              <a:latin typeface="Calibri" panose="020F0502020204030204" pitchFamily="34" charset="0"/>
              <a:ea typeface="Calibri" panose="020F0502020204030204" pitchFamily="34" charset="0"/>
              <a:cs typeface="Arial" panose="020B0604020202020204" pitchFamily="34" charset="0"/>
            </a:rPr>
            <a:t>להתאמה אישית של שירותים</a:t>
          </a:r>
          <a:endParaRPr lang="he-IL" sz="2000" dirty="0"/>
        </a:p>
      </dgm:t>
    </dgm:pt>
    <dgm:pt modelId="{5E74FC53-E298-4FD6-96C9-2FE72F6FC25D}" type="parTrans" cxnId="{CCA7B024-E129-4D73-BB61-76AC265A1B4B}">
      <dgm:prSet/>
      <dgm:spPr/>
      <dgm:t>
        <a:bodyPr/>
        <a:lstStyle/>
        <a:p>
          <a:pPr rtl="1"/>
          <a:endParaRPr lang="he-IL"/>
        </a:p>
      </dgm:t>
    </dgm:pt>
    <dgm:pt modelId="{5AD7D0E9-4B5A-4C3E-8256-3070D3B7C000}" type="sibTrans" cxnId="{CCA7B024-E129-4D73-BB61-76AC265A1B4B}">
      <dgm:prSet/>
      <dgm:spPr/>
      <dgm:t>
        <a:bodyPr/>
        <a:lstStyle/>
        <a:p>
          <a:pPr rtl="1"/>
          <a:endParaRPr lang="he-IL"/>
        </a:p>
      </dgm:t>
    </dgm:pt>
    <dgm:pt modelId="{9E0550B1-03E9-4001-9CB2-9D7B3B850C9A}">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ניתוח מתקדם של נתוני משתמש בזמן אמת</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3D0DA03C-580E-41F3-8BF9-39BED338E03E}" type="parTrans" cxnId="{09C0093F-9071-49CE-917F-8B85EFF9EDA4}">
      <dgm:prSet/>
      <dgm:spPr/>
      <dgm:t>
        <a:bodyPr/>
        <a:lstStyle/>
        <a:p>
          <a:pPr rtl="1"/>
          <a:endParaRPr lang="he-IL"/>
        </a:p>
      </dgm:t>
    </dgm:pt>
    <dgm:pt modelId="{9B2C21BC-873E-48DC-8D6E-8DE1EA1FD2A5}" type="sibTrans" cxnId="{09C0093F-9071-49CE-917F-8B85EFF9EDA4}">
      <dgm:prSet/>
      <dgm:spPr/>
      <dgm:t>
        <a:bodyPr/>
        <a:lstStyle/>
        <a:p>
          <a:pPr rtl="1"/>
          <a:endParaRPr lang="he-IL"/>
        </a:p>
      </dgm:t>
    </dgm:pt>
    <dgm:pt modelId="{5733F75E-86C6-4436-ABC1-13D62347A5EB}">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למידת מכונה לשיפור מתמיד של המלצות</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181FF4D2-035A-4547-A8D3-37A54AA686D0}" type="parTrans" cxnId="{C00519AD-618D-4BBE-AF2E-A84390EB7174}">
      <dgm:prSet/>
      <dgm:spPr/>
      <dgm:t>
        <a:bodyPr/>
        <a:lstStyle/>
        <a:p>
          <a:pPr rtl="1"/>
          <a:endParaRPr lang="he-IL"/>
        </a:p>
      </dgm:t>
    </dgm:pt>
    <dgm:pt modelId="{05805C4B-3524-436B-8350-016289C02332}" type="sibTrans" cxnId="{C00519AD-618D-4BBE-AF2E-A84390EB7174}">
      <dgm:prSet/>
      <dgm:spPr/>
      <dgm:t>
        <a:bodyPr/>
        <a:lstStyle/>
        <a:p>
          <a:pPr rtl="1"/>
          <a:endParaRPr lang="he-IL"/>
        </a:p>
      </dgm:t>
    </dgm:pt>
    <dgm:pt modelId="{A52FB853-1F02-4E0E-87B9-2711821EEDC6}">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יכולות חיזוי לזיהוי מוקדם של סיכונים</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28AC2662-D2F1-4C2D-9C6D-4D9742963727}" type="parTrans" cxnId="{B26755D6-E7F4-4065-9CA1-09F4B822CE41}">
      <dgm:prSet/>
      <dgm:spPr/>
      <dgm:t>
        <a:bodyPr/>
        <a:lstStyle/>
        <a:p>
          <a:pPr rtl="1"/>
          <a:endParaRPr lang="he-IL"/>
        </a:p>
      </dgm:t>
    </dgm:pt>
    <dgm:pt modelId="{F6855182-DD19-4ABC-ABB6-992A5696DC2E}" type="sibTrans" cxnId="{B26755D6-E7F4-4065-9CA1-09F4B822CE41}">
      <dgm:prSet/>
      <dgm:spPr/>
      <dgm:t>
        <a:bodyPr/>
        <a:lstStyle/>
        <a:p>
          <a:pPr rtl="1"/>
          <a:endParaRPr lang="he-IL"/>
        </a:p>
      </dgm:t>
    </dgm:pt>
    <dgm:pt modelId="{08DC71E0-2C91-4E02-BEC1-836D39D480E3}" type="pres">
      <dgm:prSet presAssocID="{D58EEB4B-E0C4-418F-9BD0-25DE806D6811}" presName="cycle" presStyleCnt="0">
        <dgm:presLayoutVars>
          <dgm:dir/>
          <dgm:resizeHandles val="exact"/>
        </dgm:presLayoutVars>
      </dgm:prSet>
      <dgm:spPr/>
    </dgm:pt>
    <dgm:pt modelId="{8B574FAD-07C1-4425-85F8-D4257017E474}" type="pres">
      <dgm:prSet presAssocID="{E0208170-BA3F-455D-BAF5-ABAC22D88DFC}" presName="dummy" presStyleCnt="0"/>
      <dgm:spPr/>
    </dgm:pt>
    <dgm:pt modelId="{1F96D366-0EC0-436D-9D57-849E41B2D715}" type="pres">
      <dgm:prSet presAssocID="{E0208170-BA3F-455D-BAF5-ABAC22D88DFC}" presName="node" presStyleLbl="revTx" presStyleIdx="0" presStyleCnt="4">
        <dgm:presLayoutVars>
          <dgm:bulletEnabled val="1"/>
        </dgm:presLayoutVars>
      </dgm:prSet>
      <dgm:spPr/>
    </dgm:pt>
    <dgm:pt modelId="{6DFFAECD-9523-4B56-BCB4-09A92B29E46E}" type="pres">
      <dgm:prSet presAssocID="{5AD7D0E9-4B5A-4C3E-8256-3070D3B7C000}" presName="sibTrans" presStyleLbl="node1" presStyleIdx="0" presStyleCnt="4"/>
      <dgm:spPr/>
    </dgm:pt>
    <dgm:pt modelId="{0500E23D-09E5-4567-B7BB-28AD06EF5F1B}" type="pres">
      <dgm:prSet presAssocID="{9E0550B1-03E9-4001-9CB2-9D7B3B850C9A}" presName="dummy" presStyleCnt="0"/>
      <dgm:spPr/>
    </dgm:pt>
    <dgm:pt modelId="{82736CAD-DE8C-4C19-BD20-31AF954BC33E}" type="pres">
      <dgm:prSet presAssocID="{9E0550B1-03E9-4001-9CB2-9D7B3B850C9A}" presName="node" presStyleLbl="revTx" presStyleIdx="1" presStyleCnt="4">
        <dgm:presLayoutVars>
          <dgm:bulletEnabled val="1"/>
        </dgm:presLayoutVars>
      </dgm:prSet>
      <dgm:spPr/>
    </dgm:pt>
    <dgm:pt modelId="{69EEECB8-D979-4E4A-AEF4-99988352B88C}" type="pres">
      <dgm:prSet presAssocID="{9B2C21BC-873E-48DC-8D6E-8DE1EA1FD2A5}" presName="sibTrans" presStyleLbl="node1" presStyleIdx="1" presStyleCnt="4"/>
      <dgm:spPr/>
    </dgm:pt>
    <dgm:pt modelId="{4C78ED96-10DB-44E9-A6A9-4E738470CC3A}" type="pres">
      <dgm:prSet presAssocID="{5733F75E-86C6-4436-ABC1-13D62347A5EB}" presName="dummy" presStyleCnt="0"/>
      <dgm:spPr/>
    </dgm:pt>
    <dgm:pt modelId="{F4BD634B-C425-4433-BD89-CD82332FBD17}" type="pres">
      <dgm:prSet presAssocID="{5733F75E-86C6-4436-ABC1-13D62347A5EB}" presName="node" presStyleLbl="revTx" presStyleIdx="2" presStyleCnt="4">
        <dgm:presLayoutVars>
          <dgm:bulletEnabled val="1"/>
        </dgm:presLayoutVars>
      </dgm:prSet>
      <dgm:spPr/>
    </dgm:pt>
    <dgm:pt modelId="{B2877389-AB48-4103-8CEB-C2911FDA4155}" type="pres">
      <dgm:prSet presAssocID="{05805C4B-3524-436B-8350-016289C02332}" presName="sibTrans" presStyleLbl="node1" presStyleIdx="2" presStyleCnt="4"/>
      <dgm:spPr/>
    </dgm:pt>
    <dgm:pt modelId="{33940C59-8801-43D6-BDBE-AA53902BD557}" type="pres">
      <dgm:prSet presAssocID="{A52FB853-1F02-4E0E-87B9-2711821EEDC6}" presName="dummy" presStyleCnt="0"/>
      <dgm:spPr/>
    </dgm:pt>
    <dgm:pt modelId="{27736104-542B-4BC3-B6FF-503BFE4AFB30}" type="pres">
      <dgm:prSet presAssocID="{A52FB853-1F02-4E0E-87B9-2711821EEDC6}" presName="node" presStyleLbl="revTx" presStyleIdx="3" presStyleCnt="4">
        <dgm:presLayoutVars>
          <dgm:bulletEnabled val="1"/>
        </dgm:presLayoutVars>
      </dgm:prSet>
      <dgm:spPr/>
    </dgm:pt>
    <dgm:pt modelId="{0F34D06B-6FCE-4492-B262-8C84D6FADAA5}" type="pres">
      <dgm:prSet presAssocID="{F6855182-DD19-4ABC-ABB6-992A5696DC2E}" presName="sibTrans" presStyleLbl="node1" presStyleIdx="3" presStyleCnt="4"/>
      <dgm:spPr/>
    </dgm:pt>
  </dgm:ptLst>
  <dgm:cxnLst>
    <dgm:cxn modelId="{E2703517-4909-4CBF-B890-2644132DF21D}" type="presOf" srcId="{9B2C21BC-873E-48DC-8D6E-8DE1EA1FD2A5}" destId="{69EEECB8-D979-4E4A-AEF4-99988352B88C}" srcOrd="0" destOrd="0" presId="urn:microsoft.com/office/officeart/2005/8/layout/cycle1"/>
    <dgm:cxn modelId="{CCA7B024-E129-4D73-BB61-76AC265A1B4B}" srcId="{D58EEB4B-E0C4-418F-9BD0-25DE806D6811}" destId="{E0208170-BA3F-455D-BAF5-ABAC22D88DFC}" srcOrd="0" destOrd="0" parTransId="{5E74FC53-E298-4FD6-96C9-2FE72F6FC25D}" sibTransId="{5AD7D0E9-4B5A-4C3E-8256-3070D3B7C000}"/>
    <dgm:cxn modelId="{14453C2C-AD18-4D14-97FF-244E315A2E4C}" type="presOf" srcId="{9E0550B1-03E9-4001-9CB2-9D7B3B850C9A}" destId="{82736CAD-DE8C-4C19-BD20-31AF954BC33E}" srcOrd="0" destOrd="0" presId="urn:microsoft.com/office/officeart/2005/8/layout/cycle1"/>
    <dgm:cxn modelId="{09C0093F-9071-49CE-917F-8B85EFF9EDA4}" srcId="{D58EEB4B-E0C4-418F-9BD0-25DE806D6811}" destId="{9E0550B1-03E9-4001-9CB2-9D7B3B850C9A}" srcOrd="1" destOrd="0" parTransId="{3D0DA03C-580E-41F3-8BF9-39BED338E03E}" sibTransId="{9B2C21BC-873E-48DC-8D6E-8DE1EA1FD2A5}"/>
    <dgm:cxn modelId="{1CEC1352-4D5A-4713-8D75-E8F52738137C}" type="presOf" srcId="{5733F75E-86C6-4436-ABC1-13D62347A5EB}" destId="{F4BD634B-C425-4433-BD89-CD82332FBD17}" srcOrd="0" destOrd="0" presId="urn:microsoft.com/office/officeart/2005/8/layout/cycle1"/>
    <dgm:cxn modelId="{C36A2554-F912-4F7A-AB22-05B10E532F35}" type="presOf" srcId="{E0208170-BA3F-455D-BAF5-ABAC22D88DFC}" destId="{1F96D366-0EC0-436D-9D57-849E41B2D715}" srcOrd="0" destOrd="0" presId="urn:microsoft.com/office/officeart/2005/8/layout/cycle1"/>
    <dgm:cxn modelId="{A0EAEF7C-5E3D-44BD-B181-C39E2507199B}" type="presOf" srcId="{5AD7D0E9-4B5A-4C3E-8256-3070D3B7C000}" destId="{6DFFAECD-9523-4B56-BCB4-09A92B29E46E}" srcOrd="0" destOrd="0" presId="urn:microsoft.com/office/officeart/2005/8/layout/cycle1"/>
    <dgm:cxn modelId="{A7596484-D037-40A7-90DF-9039C1033CDD}" type="presOf" srcId="{A52FB853-1F02-4E0E-87B9-2711821EEDC6}" destId="{27736104-542B-4BC3-B6FF-503BFE4AFB30}" srcOrd="0" destOrd="0" presId="urn:microsoft.com/office/officeart/2005/8/layout/cycle1"/>
    <dgm:cxn modelId="{144CDEA6-0214-4128-AC62-729605E982C8}" type="presOf" srcId="{05805C4B-3524-436B-8350-016289C02332}" destId="{B2877389-AB48-4103-8CEB-C2911FDA4155}" srcOrd="0" destOrd="0" presId="urn:microsoft.com/office/officeart/2005/8/layout/cycle1"/>
    <dgm:cxn modelId="{C00519AD-618D-4BBE-AF2E-A84390EB7174}" srcId="{D58EEB4B-E0C4-418F-9BD0-25DE806D6811}" destId="{5733F75E-86C6-4436-ABC1-13D62347A5EB}" srcOrd="2" destOrd="0" parTransId="{181FF4D2-035A-4547-A8D3-37A54AA686D0}" sibTransId="{05805C4B-3524-436B-8350-016289C02332}"/>
    <dgm:cxn modelId="{F7900CB8-FA4A-492A-962F-04F442F0D82B}" type="presOf" srcId="{D58EEB4B-E0C4-418F-9BD0-25DE806D6811}" destId="{08DC71E0-2C91-4E02-BEC1-836D39D480E3}" srcOrd="0" destOrd="0" presId="urn:microsoft.com/office/officeart/2005/8/layout/cycle1"/>
    <dgm:cxn modelId="{B26755D6-E7F4-4065-9CA1-09F4B822CE41}" srcId="{D58EEB4B-E0C4-418F-9BD0-25DE806D6811}" destId="{A52FB853-1F02-4E0E-87B9-2711821EEDC6}" srcOrd="3" destOrd="0" parTransId="{28AC2662-D2F1-4C2D-9C6D-4D9742963727}" sibTransId="{F6855182-DD19-4ABC-ABB6-992A5696DC2E}"/>
    <dgm:cxn modelId="{5D0DD1E4-2324-4536-8AE0-F731CECAB522}" type="presOf" srcId="{F6855182-DD19-4ABC-ABB6-992A5696DC2E}" destId="{0F34D06B-6FCE-4492-B262-8C84D6FADAA5}" srcOrd="0" destOrd="0" presId="urn:microsoft.com/office/officeart/2005/8/layout/cycle1"/>
    <dgm:cxn modelId="{907A15B6-9CE5-4A78-93A1-21EDEE0FEE43}" type="presParOf" srcId="{08DC71E0-2C91-4E02-BEC1-836D39D480E3}" destId="{8B574FAD-07C1-4425-85F8-D4257017E474}" srcOrd="0" destOrd="0" presId="urn:microsoft.com/office/officeart/2005/8/layout/cycle1"/>
    <dgm:cxn modelId="{11128419-31F7-4AFB-9955-EC9EA071B5F8}" type="presParOf" srcId="{08DC71E0-2C91-4E02-BEC1-836D39D480E3}" destId="{1F96D366-0EC0-436D-9D57-849E41B2D715}" srcOrd="1" destOrd="0" presId="urn:microsoft.com/office/officeart/2005/8/layout/cycle1"/>
    <dgm:cxn modelId="{81A50E73-C0F1-4BD0-8726-0163BADEDB84}" type="presParOf" srcId="{08DC71E0-2C91-4E02-BEC1-836D39D480E3}" destId="{6DFFAECD-9523-4B56-BCB4-09A92B29E46E}" srcOrd="2" destOrd="0" presId="urn:microsoft.com/office/officeart/2005/8/layout/cycle1"/>
    <dgm:cxn modelId="{6E7B2A62-A59F-4207-9861-BECB5F5CFA5A}" type="presParOf" srcId="{08DC71E0-2C91-4E02-BEC1-836D39D480E3}" destId="{0500E23D-09E5-4567-B7BB-28AD06EF5F1B}" srcOrd="3" destOrd="0" presId="urn:microsoft.com/office/officeart/2005/8/layout/cycle1"/>
    <dgm:cxn modelId="{9373FF20-37CF-4D83-80B6-A44DF62A6E8E}" type="presParOf" srcId="{08DC71E0-2C91-4E02-BEC1-836D39D480E3}" destId="{82736CAD-DE8C-4C19-BD20-31AF954BC33E}" srcOrd="4" destOrd="0" presId="urn:microsoft.com/office/officeart/2005/8/layout/cycle1"/>
    <dgm:cxn modelId="{293378B6-E2ED-4D41-82DC-429CEAC45051}" type="presParOf" srcId="{08DC71E0-2C91-4E02-BEC1-836D39D480E3}" destId="{69EEECB8-D979-4E4A-AEF4-99988352B88C}" srcOrd="5" destOrd="0" presId="urn:microsoft.com/office/officeart/2005/8/layout/cycle1"/>
    <dgm:cxn modelId="{1A1ABCC0-3D03-4C52-8270-4C5AF0B4C991}" type="presParOf" srcId="{08DC71E0-2C91-4E02-BEC1-836D39D480E3}" destId="{4C78ED96-10DB-44E9-A6A9-4E738470CC3A}" srcOrd="6" destOrd="0" presId="urn:microsoft.com/office/officeart/2005/8/layout/cycle1"/>
    <dgm:cxn modelId="{761A98CC-5756-48B9-89F7-82F410DCBDC9}" type="presParOf" srcId="{08DC71E0-2C91-4E02-BEC1-836D39D480E3}" destId="{F4BD634B-C425-4433-BD89-CD82332FBD17}" srcOrd="7" destOrd="0" presId="urn:microsoft.com/office/officeart/2005/8/layout/cycle1"/>
    <dgm:cxn modelId="{7AC20370-2299-4B2F-B550-8048DDBD05AE}" type="presParOf" srcId="{08DC71E0-2C91-4E02-BEC1-836D39D480E3}" destId="{B2877389-AB48-4103-8CEB-C2911FDA4155}" srcOrd="8" destOrd="0" presId="urn:microsoft.com/office/officeart/2005/8/layout/cycle1"/>
    <dgm:cxn modelId="{AFFA5F78-75EE-4D35-8A28-068DC8C1B3CD}" type="presParOf" srcId="{08DC71E0-2C91-4E02-BEC1-836D39D480E3}" destId="{33940C59-8801-43D6-BDBE-AA53902BD557}" srcOrd="9" destOrd="0" presId="urn:microsoft.com/office/officeart/2005/8/layout/cycle1"/>
    <dgm:cxn modelId="{9C6A3148-711E-47FF-814D-2DCD99A7269D}" type="presParOf" srcId="{08DC71E0-2C91-4E02-BEC1-836D39D480E3}" destId="{27736104-542B-4BC3-B6FF-503BFE4AFB30}" srcOrd="10" destOrd="0" presId="urn:microsoft.com/office/officeart/2005/8/layout/cycle1"/>
    <dgm:cxn modelId="{E7A08867-7A6A-47AE-92E1-4EC31F0F382C}" type="presParOf" srcId="{08DC71E0-2C91-4E02-BEC1-836D39D480E3}" destId="{0F34D06B-6FCE-4492-B262-8C84D6FADAA5}" srcOrd="11" destOrd="0" presId="urn:microsoft.com/office/officeart/2005/8/layout/cycle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6D366-0EC0-436D-9D57-849E41B2D715}">
      <dsp:nvSpPr>
        <dsp:cNvPr id="0" name=""/>
        <dsp:cNvSpPr/>
      </dsp:nvSpPr>
      <dsp:spPr>
        <a:xfrm>
          <a:off x="4410613" y="114467"/>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SzPts val="1000"/>
            <a:buFont typeface="Symbol" panose="05050102010706020507" pitchFamily="18" charset="2"/>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שימוש ב</a:t>
          </a:r>
          <a:r>
            <a:rPr lang="en-US" sz="2000" kern="1200" dirty="0">
              <a:effectLst/>
              <a:latin typeface="Calibri" panose="020F0502020204030204" pitchFamily="34" charset="0"/>
              <a:ea typeface="Calibri" panose="020F0502020204030204" pitchFamily="34" charset="0"/>
              <a:cs typeface="Arial" panose="020B0604020202020204" pitchFamily="34" charset="0"/>
            </a:rPr>
            <a:t>-AI </a:t>
          </a:r>
          <a:r>
            <a:rPr lang="he-IL" sz="2000" kern="1200" dirty="0">
              <a:effectLst/>
              <a:latin typeface="Calibri" panose="020F0502020204030204" pitchFamily="34" charset="0"/>
              <a:ea typeface="Calibri" panose="020F0502020204030204" pitchFamily="34" charset="0"/>
              <a:cs typeface="Arial" panose="020B0604020202020204" pitchFamily="34" charset="0"/>
            </a:rPr>
            <a:t>להתאמה אישית של שירותים</a:t>
          </a:r>
          <a:endParaRPr lang="he-IL" sz="2000" kern="1200" dirty="0"/>
        </a:p>
      </dsp:txBody>
      <dsp:txXfrm>
        <a:off x="4410613" y="114467"/>
        <a:ext cx="1826974" cy="1826974"/>
      </dsp:txXfrm>
    </dsp:sp>
    <dsp:sp modelId="{6DFFAECD-9523-4B56-BCB4-09A92B29E46E}">
      <dsp:nvSpPr>
        <dsp:cNvPr id="0" name=""/>
        <dsp:cNvSpPr/>
      </dsp:nvSpPr>
      <dsp:spPr>
        <a:xfrm>
          <a:off x="1190612" y="-969"/>
          <a:ext cx="5162412" cy="5162412"/>
        </a:xfrm>
        <a:prstGeom prst="circularArrow">
          <a:avLst>
            <a:gd name="adj1" fmla="val 6901"/>
            <a:gd name="adj2" fmla="val 465271"/>
            <a:gd name="adj3" fmla="val 549757"/>
            <a:gd name="adj4" fmla="val 20584972"/>
            <a:gd name="adj5" fmla="val 8051"/>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736CAD-DE8C-4C19-BD20-31AF954BC33E}">
      <dsp:nvSpPr>
        <dsp:cNvPr id="0" name=""/>
        <dsp:cNvSpPr/>
      </dsp:nvSpPr>
      <dsp:spPr>
        <a:xfrm>
          <a:off x="4410613" y="3219031"/>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ניתוח מתקדם של נתוני משתמש בזמן אמת</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4410613" y="3219031"/>
        <a:ext cx="1826974" cy="1826974"/>
      </dsp:txXfrm>
    </dsp:sp>
    <dsp:sp modelId="{69EEECB8-D979-4E4A-AEF4-99988352B88C}">
      <dsp:nvSpPr>
        <dsp:cNvPr id="0" name=""/>
        <dsp:cNvSpPr/>
      </dsp:nvSpPr>
      <dsp:spPr>
        <a:xfrm>
          <a:off x="1190612" y="-969"/>
          <a:ext cx="5162412" cy="5162412"/>
        </a:xfrm>
        <a:prstGeom prst="circularArrow">
          <a:avLst>
            <a:gd name="adj1" fmla="val 6901"/>
            <a:gd name="adj2" fmla="val 465271"/>
            <a:gd name="adj3" fmla="val 5949757"/>
            <a:gd name="adj4" fmla="val 4384972"/>
            <a:gd name="adj5" fmla="val 8051"/>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BD634B-C425-4433-BD89-CD82332FBD17}">
      <dsp:nvSpPr>
        <dsp:cNvPr id="0" name=""/>
        <dsp:cNvSpPr/>
      </dsp:nvSpPr>
      <dsp:spPr>
        <a:xfrm>
          <a:off x="1306049" y="3219031"/>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למידת מכונה לשיפור מתמיד של המלצות</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1306049" y="3219031"/>
        <a:ext cx="1826974" cy="1826974"/>
      </dsp:txXfrm>
    </dsp:sp>
    <dsp:sp modelId="{B2877389-AB48-4103-8CEB-C2911FDA4155}">
      <dsp:nvSpPr>
        <dsp:cNvPr id="0" name=""/>
        <dsp:cNvSpPr/>
      </dsp:nvSpPr>
      <dsp:spPr>
        <a:xfrm>
          <a:off x="1190612" y="-969"/>
          <a:ext cx="5162412" cy="5162412"/>
        </a:xfrm>
        <a:prstGeom prst="circularArrow">
          <a:avLst>
            <a:gd name="adj1" fmla="val 6901"/>
            <a:gd name="adj2" fmla="val 465271"/>
            <a:gd name="adj3" fmla="val 11349757"/>
            <a:gd name="adj4" fmla="val 9784972"/>
            <a:gd name="adj5" fmla="val 8051"/>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736104-542B-4BC3-B6FF-503BFE4AFB30}">
      <dsp:nvSpPr>
        <dsp:cNvPr id="0" name=""/>
        <dsp:cNvSpPr/>
      </dsp:nvSpPr>
      <dsp:spPr>
        <a:xfrm>
          <a:off x="1306049" y="114467"/>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יכולות חיזוי לזיהוי מוקדם של סיכונים</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1306049" y="114467"/>
        <a:ext cx="1826974" cy="1826974"/>
      </dsp:txXfrm>
    </dsp:sp>
    <dsp:sp modelId="{0F34D06B-6FCE-4492-B262-8C84D6FADAA5}">
      <dsp:nvSpPr>
        <dsp:cNvPr id="0" name=""/>
        <dsp:cNvSpPr/>
      </dsp:nvSpPr>
      <dsp:spPr>
        <a:xfrm>
          <a:off x="1190612" y="-969"/>
          <a:ext cx="5162412" cy="5162412"/>
        </a:xfrm>
        <a:prstGeom prst="circularArrow">
          <a:avLst>
            <a:gd name="adj1" fmla="val 6901"/>
            <a:gd name="adj2" fmla="val 465271"/>
            <a:gd name="adj3" fmla="val 16749757"/>
            <a:gd name="adj4" fmla="val 15184972"/>
            <a:gd name="adj5" fmla="val 8051"/>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811A27F-38C4-45A7-8262-87CD92B58974}" type="datetimeFigureOut">
              <a:rPr lang="he-IL" smtClean="0"/>
              <a:t>כ"א/אלול/תשפ"ד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BC49B76-D489-45FB-9933-B15C2574D09E}" type="slidenum">
              <a:rPr lang="he-IL" smtClean="0"/>
              <a:t>‹#›</a:t>
            </a:fld>
            <a:endParaRPr lang="he-IL"/>
          </a:p>
        </p:txBody>
      </p:sp>
    </p:spTree>
    <p:extLst>
      <p:ext uri="{BB962C8B-B14F-4D97-AF65-F5344CB8AC3E}">
        <p14:creationId xmlns:p14="http://schemas.microsoft.com/office/powerpoint/2010/main" val="208698743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604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עד עשרים שנה מגיעים ל15%, הגיל הרביעי מכפיל את עצמו </a:t>
            </a:r>
            <a:r>
              <a:rPr lang="he-IL" dirty="0" err="1"/>
              <a:t>במויות</a:t>
            </a:r>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50426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3027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82032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44594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31044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88862D9-E127-438C-862D-D0EBBF3999FF}"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21</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146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23</a:t>
            </a:fld>
            <a:endParaRPr lang="en-IL"/>
          </a:p>
        </p:txBody>
      </p:sp>
    </p:spTree>
    <p:extLst>
      <p:ext uri="{BB962C8B-B14F-4D97-AF65-F5344CB8AC3E}">
        <p14:creationId xmlns:p14="http://schemas.microsoft.com/office/powerpoint/2010/main" val="1730913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24</a:t>
            </a:fld>
            <a:endParaRPr lang="en-IL"/>
          </a:p>
        </p:txBody>
      </p:sp>
    </p:spTree>
    <p:extLst>
      <p:ext uri="{BB962C8B-B14F-4D97-AF65-F5344CB8AC3E}">
        <p14:creationId xmlns:p14="http://schemas.microsoft.com/office/powerpoint/2010/main" val="3999181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25</a:t>
            </a:fld>
            <a:endParaRPr lang="en-IL"/>
          </a:p>
        </p:txBody>
      </p:sp>
    </p:spTree>
    <p:extLst>
      <p:ext uri="{BB962C8B-B14F-4D97-AF65-F5344CB8AC3E}">
        <p14:creationId xmlns:p14="http://schemas.microsoft.com/office/powerpoint/2010/main" val="1220896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97328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 כבר פלטפורמה דיגיטלית שעובדת שעושה התאמה אישית על בסיס תפקוד באמצעות </a:t>
            </a:r>
            <a:r>
              <a:rPr lang="en-US" dirty="0"/>
              <a:t>AI</a:t>
            </a:r>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217346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07470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78972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989952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825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25797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085140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30519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83011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51917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329595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728675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739818694"/>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937949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29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257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9921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11959019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4968141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3855732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163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2592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1530240"/>
      </p:ext>
    </p:extLst>
  </p:cSld>
  <p:clrMapOvr>
    <a:masterClrMapping/>
  </p:clrMapOvr>
  <p:transition spd="slow">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1920315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177153439"/>
      </p:ext>
    </p:extLst>
  </p:cSld>
  <p:clrMapOvr>
    <a:masterClrMapping/>
  </p:clrMapOvr>
  <p:transition spd="slow">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140164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493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210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6229623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7017054"/>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1323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2139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091898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1222111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039403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70968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821362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043819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668806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912197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2278813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7654739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099942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4709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0354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779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80000827"/>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5342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16024663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4178989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8960FE-8B66-A323-86BA-D981384C307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3772DE52-31AF-57C5-0625-43B5F30E2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EA05AFBE-BAC2-E897-0393-FDB4C4567E0A}"/>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F7544D20-C448-B144-73E3-80D56CEA9DC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42FF19A4-94F3-DDCB-8734-1CDE1E4E219B}"/>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0872546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BD2D93-FA70-3566-83D5-80058A7F0E5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C15BB50-7716-C625-696D-0A0E05D3B8A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B807845-7CC5-CF28-C854-7A44662C3933}"/>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3EF1200F-F882-A7F4-2582-ADE4795CF128}"/>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5273F27C-F45D-C6E6-EC37-39817CB92230}"/>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43686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0B8787-D472-692C-3EBC-0516EFAC47C3}"/>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FF75FBF-B934-1C9F-8D9E-9DE9974343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0E05488F-815E-9617-EFAE-5B956AF9A441}"/>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8EDA05CC-0778-BBC5-D16F-CEE59491432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6524B40-461D-3389-7E9E-8915DC8FF28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5183906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F6C2CB-C1FF-8D32-7EFE-C1DF64C9E0B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C275960-9675-343F-AE41-467C2D8158BA}"/>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D4272D8C-4D7B-4EEF-A37E-7B616835756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CA127221-BDDA-D017-FD7C-7233FBA2DFAD}"/>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B24B3478-B0CA-3C51-A5A6-968E1291E8B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127AE656-7E29-3933-2198-8CADB6FCF819}"/>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956820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D9EA19F-47B1-ECEB-A0FA-0962F2180D09}"/>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6B4A99C-BF39-E06B-E844-A87C932F59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F17206F-3060-019A-8C27-C085F499BACB}"/>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D51BC75B-F1D0-483F-7B3E-E5E24D644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38B8F275-99B0-2595-D312-493444A98E5A}"/>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F191E6F-7D8A-6A44-4809-DF4894E88377}"/>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8" name="מציין מיקום של כותרת תחתונה 7">
            <a:extLst>
              <a:ext uri="{FF2B5EF4-FFF2-40B4-BE49-F238E27FC236}">
                <a16:creationId xmlns:a16="http://schemas.microsoft.com/office/drawing/2014/main" id="{18FB494C-1AF0-50E3-7B72-48BA9A2D5B49}"/>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B8F6B9C-4B25-5975-B72C-D2CBAD35CDF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5529115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E8F25C-26B6-6499-FD6E-6AE3815A66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258EC462-0278-E8C3-BDC3-06ED76FA1EEF}"/>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4" name="מציין מיקום של כותרת תחתונה 3">
            <a:extLst>
              <a:ext uri="{FF2B5EF4-FFF2-40B4-BE49-F238E27FC236}">
                <a16:creationId xmlns:a16="http://schemas.microsoft.com/office/drawing/2014/main" id="{ED4A54DA-EB69-799A-12E8-706FFA058FE2}"/>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B25B7449-ECFA-7247-5256-F45FCECD3862}"/>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492537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8A76AB4-8A5D-EFE7-B8A1-64D945AEA52C}"/>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3" name="מציין מיקום של כותרת תחתונה 2">
            <a:extLst>
              <a:ext uri="{FF2B5EF4-FFF2-40B4-BE49-F238E27FC236}">
                <a16:creationId xmlns:a16="http://schemas.microsoft.com/office/drawing/2014/main" id="{BE4984A6-6B2E-6642-79C3-FA7F7E13FB2D}"/>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DAC65D4C-689D-1370-05FC-76039711B36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6550606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81928F-A95C-508C-5635-AF5A42F19FD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5419BEB-C4FA-5950-D0C6-05512381B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B9DC858B-1D66-D3D1-7713-9FF2DF4F1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37D2017-7C9B-74E3-23C6-4EFB003B6AA3}"/>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0EE931BC-D86F-9C87-CAB9-40B7E1FF390F}"/>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BFC2D12-6240-A3E6-3A17-E0B20CC2FA61}"/>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8548821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4AA89D-5B70-9F77-7A8E-8B4955CDF60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986C3B7B-E69B-D23E-6434-D84EE4C720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56D79DB-4E4D-2D0E-D333-306A8B4B51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CC3BF03-00A1-66E6-9C72-E07D30A9CB4D}"/>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42F1BC36-C2F2-65BD-EEA9-3282AF13D6BB}"/>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18924A03-B157-6F87-3DA0-C296DF453D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108876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54C2159-C3AD-4243-A2D6-1F0008D578E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1D8EAF5A-5F03-5794-B568-132494BDC0FC}"/>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EB07ACE-5DA8-6107-17EC-FB669C23986E}"/>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750642F7-AA35-BD0A-8478-786D968377D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4B0D803-246A-88EA-4301-A09B50021D6B}"/>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95916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870536A-BC02-8C94-4CF6-34D04A8E5E83}"/>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722998E-4213-D003-78CB-D5FC50CAAD84}"/>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E8EAE0-4222-5819-6181-2857D0B55BEE}"/>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14715372-4808-2810-B607-3D89592345F3}"/>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8EFD6B4-B1A7-8EC3-B577-5AB80FDD2A22}"/>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3205491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1797104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2182896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2.xml"/><Relationship Id="rId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19" Type="http://schemas.openxmlformats.org/officeDocument/2006/relationships/theme" Target="../theme/theme4.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5845138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5" r:id="rId13"/>
    <p:sldLayoutId id="2147483678" r:id="rId14"/>
    <p:sldLayoutId id="2147483679"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255901303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25652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24/09/2024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09975547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82C2669-6FE2-E087-7125-5E2310C35C4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BB54EC6-6C06-C572-9CB9-849438C8610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5950CE4-9A09-0A0F-D73C-7F01DF8EFB4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כ"א/אלול/תשפ"ד</a:t>
            </a:fld>
            <a:endParaRPr lang="he-IL"/>
          </a:p>
        </p:txBody>
      </p:sp>
      <p:sp>
        <p:nvSpPr>
          <p:cNvPr id="5" name="מציין מיקום של כותרת תחתונה 4">
            <a:extLst>
              <a:ext uri="{FF2B5EF4-FFF2-40B4-BE49-F238E27FC236}">
                <a16:creationId xmlns:a16="http://schemas.microsoft.com/office/drawing/2014/main" id="{08574296-06B8-C9A9-ADEC-1558A4AFA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8D82B4F2-D06E-EA08-B19F-CCAF8890E98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2951304864"/>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3.xml"/><Relationship Id="rId5" Type="http://schemas.openxmlformats.org/officeDocument/2006/relationships/image" Target="../media/image19.png"/><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32.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1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33.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43.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33.xml"/><Relationship Id="rId5" Type="http://schemas.microsoft.com/office/2007/relationships/hdphoto" Target="../media/hdphoto2.wdp"/><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2.png"/><Relationship Id="rId7" Type="http://schemas.openxmlformats.org/officeDocument/2006/relationships/image" Target="../media/image13.png"/><Relationship Id="rId2" Type="http://schemas.openxmlformats.org/officeDocument/2006/relationships/image" Target="../media/image41.jpeg"/><Relationship Id="rId1" Type="http://schemas.openxmlformats.org/officeDocument/2006/relationships/slideLayout" Target="../slideLayouts/slideLayout4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2.xml"/><Relationship Id="rId5" Type="http://schemas.openxmlformats.org/officeDocument/2006/relationships/image" Target="../media/image13.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45.xml"/><Relationship Id="rId6" Type="http://schemas.openxmlformats.org/officeDocument/2006/relationships/image" Target="../media/image13.png"/><Relationship Id="rId5" Type="http://schemas.openxmlformats.org/officeDocument/2006/relationships/image" Target="../media/image44.png"/><Relationship Id="rId4" Type="http://schemas.openxmlformats.org/officeDocument/2006/relationships/image" Target="../media/image34.sv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3.xml"/><Relationship Id="rId6" Type="http://schemas.openxmlformats.org/officeDocument/2006/relationships/image" Target="../media/image44.png"/><Relationship Id="rId5" Type="http://schemas.openxmlformats.org/officeDocument/2006/relationships/image" Target="../media/image34.sv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34.svg"/><Relationship Id="rId7" Type="http://schemas.openxmlformats.org/officeDocument/2006/relationships/diagramLayout" Target="../diagrams/layout1.xml"/><Relationship Id="rId12"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33.xml"/><Relationship Id="rId6" Type="http://schemas.openxmlformats.org/officeDocument/2006/relationships/diagramData" Target="../diagrams/data1.xml"/><Relationship Id="rId11" Type="http://schemas.openxmlformats.org/officeDocument/2006/relationships/image" Target="../media/image39.png"/><Relationship Id="rId5" Type="http://schemas.openxmlformats.org/officeDocument/2006/relationships/image" Target="../media/image13.png"/><Relationship Id="rId10" Type="http://schemas.microsoft.com/office/2007/relationships/diagramDrawing" Target="../diagrams/drawing1.xml"/><Relationship Id="rId4" Type="http://schemas.openxmlformats.org/officeDocument/2006/relationships/image" Target="../media/image44.png"/><Relationship Id="rId9" Type="http://schemas.openxmlformats.org/officeDocument/2006/relationships/diagramColors" Target="../diagrams/colors1.xml"/></Relationships>
</file>

<file path=ppt/slides/_rels/slide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33.xml"/><Relationship Id="rId5" Type="http://schemas.openxmlformats.org/officeDocument/2006/relationships/image" Target="../media/image13.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33.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0.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6.xml"/><Relationship Id="rId6" Type="http://schemas.openxmlformats.org/officeDocument/2006/relationships/image" Target="../media/image13.png"/><Relationship Id="rId5" Type="http://schemas.openxmlformats.org/officeDocument/2006/relationships/image" Target="../media/image21.png"/><Relationship Id="rId4" Type="http://schemas.openxmlformats.org/officeDocument/2006/relationships/image" Target="../media/image51.jpe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1.xml"/><Relationship Id="rId6" Type="http://schemas.openxmlformats.org/officeDocument/2006/relationships/image" Target="../media/image54.png"/><Relationship Id="rId5" Type="http://schemas.openxmlformats.org/officeDocument/2006/relationships/image" Target="../media/image9.png"/><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8" Type="http://schemas.openxmlformats.org/officeDocument/2006/relationships/image" Target="../media/image59.jpeg"/><Relationship Id="rId3" Type="http://schemas.openxmlformats.org/officeDocument/2006/relationships/image" Target="../media/image55.jpeg"/><Relationship Id="rId7"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6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9.png"/><Relationship Id="rId9" Type="http://schemas.openxmlformats.org/officeDocument/2006/relationships/image" Target="../media/image60.jpeg"/></Relationships>
</file>

<file path=ppt/slides/_rels/slide2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62.xml"/><Relationship Id="rId6" Type="http://schemas.openxmlformats.org/officeDocument/2006/relationships/image" Target="../media/image64.jpg"/><Relationship Id="rId5" Type="http://schemas.openxmlformats.org/officeDocument/2006/relationships/image" Target="../media/image63.jp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72.png"/><Relationship Id="rId2" Type="http://schemas.openxmlformats.org/officeDocument/2006/relationships/notesSlide" Target="../notesSlides/notesSlide16.xml"/><Relationship Id="rId1" Type="http://schemas.openxmlformats.org/officeDocument/2006/relationships/slideLayout" Target="../slideLayouts/slideLayout6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3.png"/><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82.png"/><Relationship Id="rId18" Type="http://schemas.openxmlformats.org/officeDocument/2006/relationships/image" Target="../media/image87.png"/><Relationship Id="rId3" Type="http://schemas.openxmlformats.org/officeDocument/2006/relationships/image" Target="../media/image74.png"/><Relationship Id="rId21" Type="http://schemas.openxmlformats.org/officeDocument/2006/relationships/image" Target="../media/image89.png"/><Relationship Id="rId7" Type="http://schemas.openxmlformats.org/officeDocument/2006/relationships/image" Target="../media/image78.png"/><Relationship Id="rId12" Type="http://schemas.openxmlformats.org/officeDocument/2006/relationships/image" Target="../media/image81.png"/><Relationship Id="rId17" Type="http://schemas.openxmlformats.org/officeDocument/2006/relationships/image" Target="../media/image86.png"/><Relationship Id="rId2" Type="http://schemas.openxmlformats.org/officeDocument/2006/relationships/notesSlide" Target="../notesSlides/notesSlide17.xml"/><Relationship Id="rId16" Type="http://schemas.openxmlformats.org/officeDocument/2006/relationships/image" Target="../media/image85.png"/><Relationship Id="rId20" Type="http://schemas.openxmlformats.org/officeDocument/2006/relationships/image" Target="../media/image88.pn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80.png"/><Relationship Id="rId5" Type="http://schemas.openxmlformats.org/officeDocument/2006/relationships/image" Target="../media/image76.png"/><Relationship Id="rId15" Type="http://schemas.openxmlformats.org/officeDocument/2006/relationships/image" Target="../media/image84.png"/><Relationship Id="rId10" Type="http://schemas.openxmlformats.org/officeDocument/2006/relationships/image" Target="../media/image12.png"/><Relationship Id="rId19" Type="http://schemas.openxmlformats.org/officeDocument/2006/relationships/image" Target="../media/image13.png"/><Relationship Id="rId4" Type="http://schemas.openxmlformats.org/officeDocument/2006/relationships/image" Target="../media/image75.png"/><Relationship Id="rId9" Type="http://schemas.openxmlformats.org/officeDocument/2006/relationships/image" Target="../media/image79.png"/><Relationship Id="rId14" Type="http://schemas.openxmlformats.org/officeDocument/2006/relationships/image" Target="../media/image83.png"/><Relationship Id="rId22" Type="http://schemas.openxmlformats.org/officeDocument/2006/relationships/image" Target="../media/image90.png"/></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0.xml"/><Relationship Id="rId1" Type="http://schemas.openxmlformats.org/officeDocument/2006/relationships/slideLayout" Target="../slideLayouts/slideLayout50.xml"/><Relationship Id="rId5" Type="http://schemas.openxmlformats.org/officeDocument/2006/relationships/image" Target="../media/image13.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1.xml"/><Relationship Id="rId1" Type="http://schemas.openxmlformats.org/officeDocument/2006/relationships/slideLayout" Target="../slideLayouts/slideLayout50.xml"/><Relationship Id="rId5" Type="http://schemas.openxmlformats.org/officeDocument/2006/relationships/image" Target="../media/image13.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sp>
        <p:nvSpPr>
          <p:cNvPr id="3" name="Rectangle 11">
            <a:extLst>
              <a:ext uri="{FF2B5EF4-FFF2-40B4-BE49-F238E27FC236}">
                <a16:creationId xmlns:a16="http://schemas.microsoft.com/office/drawing/2014/main" id="{0CFF6A6F-DA81-2985-5E52-420671A00C0E}"/>
              </a:ext>
            </a:extLst>
          </p:cNvPr>
          <p:cNvSpPr/>
          <p:nvPr/>
        </p:nvSpPr>
        <p:spPr>
          <a:xfrm>
            <a:off x="8140110" y="-28813"/>
            <a:ext cx="4045927" cy="6874031"/>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3083921"/>
          </a:xfrm>
          <a:prstGeom prst="rect">
            <a:avLst/>
          </a:prstGeom>
        </p:spPr>
        <p:txBody>
          <a:bodyPr>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בסיעוד</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הרפורמה המוצעת</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מהלכים וכיוונים להמשך</a:t>
            </a:r>
          </a:p>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p:cNvCxnSpPr>
          <p:nvPr/>
        </p:nvCxnSpPr>
        <p:spPr>
          <a:xfrm>
            <a:off x="11667048" y="2441539"/>
            <a:ext cx="0" cy="1589684"/>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2177149"/>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2644519" y="7033183"/>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400" b="1" i="0" u="none" strike="noStrike" kern="1200" cap="none" spc="0" normalizeH="0" baseline="0" noProof="0" dirty="0">
              <a:ln>
                <a:noFill/>
              </a:ln>
              <a:solidFill>
                <a:srgbClr val="FFF8E5"/>
              </a:solidFill>
              <a:effectLst/>
              <a:uLnTx/>
              <a:uFillTx/>
              <a:latin typeface="Calibri" panose="020F0502020204030204"/>
              <a:ea typeface="+mn-ea"/>
              <a:cs typeface="Arial" panose="020B0604020202020204" pitchFamily="34" charset="0"/>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0" cap="none" spc="0" normalizeH="0" baseline="0" noProof="0" dirty="0">
                <a:ln>
                  <a:noFill/>
                </a:ln>
                <a:solidFill>
                  <a:prstClr val="white"/>
                </a:solidFill>
                <a:effectLst/>
                <a:uLnTx/>
                <a:uFillTx/>
                <a:latin typeface="Calibri Light" panose="020F0302020204030204"/>
                <a:ea typeface="+mn-ea"/>
                <a:cs typeface="Arial" panose="020B0604020202020204" pitchFamily="34" charset="0"/>
              </a:rPr>
              <a:t>חוק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0" cap="none" spc="0" normalizeH="0" baseline="0" noProof="0" dirty="0">
                <a:ln>
                  <a:noFill/>
                </a:ln>
                <a:solidFill>
                  <a:prstClr val="white"/>
                </a:solidFill>
                <a:effectLst/>
                <a:uLnTx/>
                <a:uFillTx/>
                <a:latin typeface="Calibri Light" panose="020F0302020204030204"/>
                <a:ea typeface="+mn-ea"/>
                <a:cs typeface="Arial" panose="020B0604020202020204" pitchFamily="34" charset="0"/>
              </a:rPr>
              <a:t>המשבר וההזדמנות לשינוי</a:t>
            </a: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 </a:t>
            </a: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p:txBody>
      </p:sp>
      <p:pic>
        <p:nvPicPr>
          <p:cNvPr id="6" name="Picture 24">
            <a:extLst>
              <a:ext uri="{FF2B5EF4-FFF2-40B4-BE49-F238E27FC236}">
                <a16:creationId xmlns:a16="http://schemas.microsoft.com/office/drawing/2014/main" id="{B5124E5F-C9EF-4D24-CB61-5FEDE512DAE2}"/>
              </a:ext>
            </a:extLst>
          </p:cNvPr>
          <p:cNvPicPr>
            <a:picLocks noChangeAspect="1"/>
          </p:cNvPicPr>
          <p:nvPr/>
        </p:nvPicPr>
        <p:blipFill>
          <a:blip r:embed="rId4"/>
          <a:stretch>
            <a:fillRect/>
          </a:stretch>
        </p:blipFill>
        <p:spPr>
          <a:xfrm>
            <a:off x="1838825" y="128192"/>
            <a:ext cx="1280212" cy="467379"/>
          </a:xfrm>
          <a:prstGeom prst="rect">
            <a:avLst/>
          </a:prstGeom>
        </p:spPr>
      </p:pic>
      <p:pic>
        <p:nvPicPr>
          <p:cNvPr id="7" name="Picture 32">
            <a:extLst>
              <a:ext uri="{FF2B5EF4-FFF2-40B4-BE49-F238E27FC236}">
                <a16:creationId xmlns:a16="http://schemas.microsoft.com/office/drawing/2014/main" id="{EB1CD5ED-6BB2-0C7E-42D1-7571ED6F2136}"/>
              </a:ext>
            </a:extLst>
          </p:cNvPr>
          <p:cNvPicPr>
            <a:picLocks noChangeAspect="1"/>
          </p:cNvPicPr>
          <p:nvPr/>
        </p:nvPicPr>
        <p:blipFill>
          <a:blip r:embed="rId5"/>
          <a:stretch>
            <a:fillRect/>
          </a:stretch>
        </p:blipFill>
        <p:spPr>
          <a:xfrm>
            <a:off x="60847" y="2116"/>
            <a:ext cx="1726877" cy="719532"/>
          </a:xfrm>
          <a:prstGeom prst="rect">
            <a:avLst/>
          </a:prstGeom>
        </p:spPr>
      </p:pic>
      <p:pic>
        <p:nvPicPr>
          <p:cNvPr id="8" name="Picture 26">
            <a:extLst>
              <a:ext uri="{FF2B5EF4-FFF2-40B4-BE49-F238E27FC236}">
                <a16:creationId xmlns:a16="http://schemas.microsoft.com/office/drawing/2014/main" id="{7E120179-1E00-FB85-4F37-3D303CA2EEE2}"/>
              </a:ext>
            </a:extLst>
          </p:cNvPr>
          <p:cNvPicPr>
            <a:picLocks noChangeAspect="1"/>
          </p:cNvPicPr>
          <p:nvPr/>
        </p:nvPicPr>
        <p:blipFill>
          <a:blip r:embed="rId6"/>
          <a:stretch>
            <a:fillRect/>
          </a:stretch>
        </p:blipFill>
        <p:spPr>
          <a:xfrm>
            <a:off x="9360457" y="6165620"/>
            <a:ext cx="1179780" cy="646071"/>
          </a:xfrm>
          <a:prstGeom prst="rect">
            <a:avLst/>
          </a:prstGeom>
          <a:ln>
            <a:noFill/>
          </a:ln>
        </p:spPr>
      </p:pic>
      <p:pic>
        <p:nvPicPr>
          <p:cNvPr id="9" name="Picture 5" descr="Logo&#10;&#10;Description automatically generated">
            <a:extLst>
              <a:ext uri="{FF2B5EF4-FFF2-40B4-BE49-F238E27FC236}">
                <a16:creationId xmlns:a16="http://schemas.microsoft.com/office/drawing/2014/main" id="{DD0E2C3C-282D-7772-2A8B-53C09CDCBF95}"/>
              </a:ext>
            </a:extLst>
          </p:cNvPr>
          <p:cNvPicPr preferRelativeResize="0">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93170" y="6237622"/>
            <a:ext cx="914227" cy="607596"/>
          </a:xfrm>
          <a:prstGeom prst="rect">
            <a:avLst/>
          </a:prstGeom>
        </p:spPr>
      </p:pic>
      <p:sp>
        <p:nvSpPr>
          <p:cNvPr id="10" name="Oval 5">
            <a:extLst>
              <a:ext uri="{FF2B5EF4-FFF2-40B4-BE49-F238E27FC236}">
                <a16:creationId xmlns:a16="http://schemas.microsoft.com/office/drawing/2014/main" id="{639C0FAF-D009-0124-DBED-DBED18BBC910}"/>
              </a:ext>
            </a:extLst>
          </p:cNvPr>
          <p:cNvSpPr/>
          <p:nvPr/>
        </p:nvSpPr>
        <p:spPr>
          <a:xfrm>
            <a:off x="11541048" y="3992275"/>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71753" y="6375742"/>
            <a:ext cx="1553881" cy="42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55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graphicFrame>
        <p:nvGraphicFramePr>
          <p:cNvPr id="16" name="תרשים 15">
            <a:extLst>
              <a:ext uri="{FF2B5EF4-FFF2-40B4-BE49-F238E27FC236}">
                <a16:creationId xmlns:a16="http://schemas.microsoft.com/office/drawing/2014/main" id="{6AC7C0A4-33F3-97AA-9276-50331151EC37}"/>
              </a:ext>
            </a:extLst>
          </p:cNvPr>
          <p:cNvGraphicFramePr>
            <a:graphicFrameLocks/>
          </p:cNvGraphicFramePr>
          <p:nvPr/>
        </p:nvGraphicFramePr>
        <p:xfrm>
          <a:off x="774801" y="1041722"/>
          <a:ext cx="7375668" cy="4505852"/>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B9CDEC3F-C2B6-7FEA-5B75-F080C7C4C7BA}"/>
              </a:ext>
            </a:extLst>
          </p:cNvPr>
          <p:cNvSpPr txBox="1"/>
          <p:nvPr/>
        </p:nvSpPr>
        <p:spPr>
          <a:xfrm>
            <a:off x="8943975" y="1439240"/>
            <a:ext cx="3138751" cy="310854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תוחלת חיים מתארכת</a:t>
            </a:r>
            <a:br>
              <a:rPr kumimoji="0" lang="en-US"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b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הזקנים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נזקקים יותר </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לשירותים והתערבות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ישנו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מיקוד בטיפול ובריאות</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 ו</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פחות</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 מידי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במניעה ותפקוד</a:t>
            </a:r>
            <a:br>
              <a:rPr kumimoji="0" lang="en-US"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br>
            <a:endParaRPr kumimoji="0" lang="en-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endParaRP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 name="TextBox 14">
            <a:extLst>
              <a:ext uri="{FF2B5EF4-FFF2-40B4-BE49-F238E27FC236}">
                <a16:creationId xmlns:a16="http://schemas.microsoft.com/office/drawing/2014/main" id="{0793EDA7-E504-2BE3-6358-C7A419F6621F}"/>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3241832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אליפסה 34">
            <a:extLst>
              <a:ext uri="{FF2B5EF4-FFF2-40B4-BE49-F238E27FC236}">
                <a16:creationId xmlns:a16="http://schemas.microsoft.com/office/drawing/2014/main" id="{4CFB5F21-4B11-C010-8741-F3C20D2B982C}"/>
              </a:ext>
            </a:extLst>
          </p:cNvPr>
          <p:cNvSpPr/>
          <p:nvPr/>
        </p:nvSpPr>
        <p:spPr>
          <a:xfrm>
            <a:off x="7077075" y="3804325"/>
            <a:ext cx="752475" cy="71052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nvGrpSpPr>
          <p:cNvPr id="25" name="קבוצה 24">
            <a:extLst>
              <a:ext uri="{FF2B5EF4-FFF2-40B4-BE49-F238E27FC236}">
                <a16:creationId xmlns:a16="http://schemas.microsoft.com/office/drawing/2014/main" id="{5CACDF0B-74B8-9019-7B6A-91F6450BA9A1}"/>
              </a:ext>
            </a:extLst>
          </p:cNvPr>
          <p:cNvGrpSpPr/>
          <p:nvPr/>
        </p:nvGrpSpPr>
        <p:grpSpPr>
          <a:xfrm>
            <a:off x="1412369" y="718820"/>
            <a:ext cx="10163153" cy="5846207"/>
            <a:chOff x="-1645970" y="-44828"/>
            <a:chExt cx="12281546" cy="6577485"/>
          </a:xfrm>
        </p:grpSpPr>
        <p:grpSp>
          <p:nvGrpSpPr>
            <p:cNvPr id="26" name="קבוצה 25">
              <a:extLst>
                <a:ext uri="{FF2B5EF4-FFF2-40B4-BE49-F238E27FC236}">
                  <a16:creationId xmlns:a16="http://schemas.microsoft.com/office/drawing/2014/main" id="{9FEA955E-3734-6059-1EAC-EA51FD1ABFD7}"/>
                </a:ext>
              </a:extLst>
            </p:cNvPr>
            <p:cNvGrpSpPr/>
            <p:nvPr/>
          </p:nvGrpSpPr>
          <p:grpSpPr>
            <a:xfrm>
              <a:off x="-1645970" y="790196"/>
              <a:ext cx="11319761" cy="5742461"/>
              <a:chOff x="-1645970" y="790196"/>
              <a:chExt cx="11319761" cy="5742461"/>
            </a:xfrm>
          </p:grpSpPr>
          <p:pic>
            <p:nvPicPr>
              <p:cNvPr id="28" name="תמונה 27">
                <a:extLst>
                  <a:ext uri="{FF2B5EF4-FFF2-40B4-BE49-F238E27FC236}">
                    <a16:creationId xmlns:a16="http://schemas.microsoft.com/office/drawing/2014/main" id="{6C4715B3-43C6-4F9C-8943-DB58E36BBF03}"/>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30" name="TextBox 6">
                <a:extLst>
                  <a:ext uri="{FF2B5EF4-FFF2-40B4-BE49-F238E27FC236}">
                    <a16:creationId xmlns:a16="http://schemas.microsoft.com/office/drawing/2014/main" id="{1C9E4218-7665-DE7C-52CC-A1970C07F053}"/>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32" name="אליפסה 31">
                <a:extLst>
                  <a:ext uri="{FF2B5EF4-FFF2-40B4-BE49-F238E27FC236}">
                    <a16:creationId xmlns:a16="http://schemas.microsoft.com/office/drawing/2014/main" id="{7937E03E-0D2E-947A-7B15-0230A411A23A}"/>
                  </a:ext>
                </a:extLst>
              </p:cNvPr>
              <p:cNvSpPr/>
              <p:nvPr/>
            </p:nvSpPr>
            <p:spPr>
              <a:xfrm>
                <a:off x="4628080" y="2641603"/>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33" name="מלבן 32">
                <a:extLst>
                  <a:ext uri="{FF2B5EF4-FFF2-40B4-BE49-F238E27FC236}">
                    <a16:creationId xmlns:a16="http://schemas.microsoft.com/office/drawing/2014/main" id="{457FCF3B-D3CB-923F-8A51-F270291195FA}"/>
                  </a:ext>
                </a:extLst>
              </p:cNvPr>
              <p:cNvSpPr/>
              <p:nvPr/>
            </p:nvSpPr>
            <p:spPr>
              <a:xfrm>
                <a:off x="4720245" y="3879756"/>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34"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279100" y="3047249"/>
                <a:ext cx="731042" cy="819545"/>
              </a:xfrm>
              <a:prstGeom prst="rect">
                <a:avLst/>
              </a:prstGeom>
            </p:spPr>
          </p:pic>
        </p:grpSp>
        <p:sp>
          <p:nvSpPr>
            <p:cNvPr id="27" name="Text 3">
              <a:extLst>
                <a:ext uri="{FF2B5EF4-FFF2-40B4-BE49-F238E27FC236}">
                  <a16:creationId xmlns:a16="http://schemas.microsoft.com/office/drawing/2014/main" id="{0C720048-32DA-BFB7-8291-616DED21B6AC}"/>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36" name="Picture 10">
            <a:extLst>
              <a:ext uri="{FF2B5EF4-FFF2-40B4-BE49-F238E27FC236}">
                <a16:creationId xmlns:a16="http://schemas.microsoft.com/office/drawing/2014/main" id="{2EBB5F99-3B68-779D-0EF8-D3D6B755897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8804" t="42795" r="32292" b="38973"/>
          <a:stretch/>
        </p:blipFill>
        <p:spPr>
          <a:xfrm>
            <a:off x="6885967" y="3359727"/>
            <a:ext cx="943583" cy="889195"/>
          </a:xfrm>
          <a:prstGeom prst="flowChartConnector">
            <a:avLst/>
          </a:prstGeom>
        </p:spPr>
      </p:pic>
      <p:sp>
        <p:nvSpPr>
          <p:cNvPr id="37" name="Text 2">
            <a:extLst>
              <a:ext uri="{FF2B5EF4-FFF2-40B4-BE49-F238E27FC236}">
                <a16:creationId xmlns:a16="http://schemas.microsoft.com/office/drawing/2014/main" id="{8E7E166E-9895-C782-CF53-A99BB7621EF4}"/>
              </a:ext>
            </a:extLst>
          </p:cNvPr>
          <p:cNvSpPr/>
          <p:nvPr/>
        </p:nvSpPr>
        <p:spPr>
          <a:xfrm>
            <a:off x="6199973" y="521489"/>
            <a:ext cx="3722063" cy="605036"/>
          </a:xfrm>
          <a:prstGeom prst="rect">
            <a:avLst/>
          </a:prstGeom>
          <a:noFill/>
          <a:ln/>
        </p:spPr>
        <p:txBody>
          <a:bodyPr wrap="none" rtlCol="0" anchor="t"/>
          <a:lstStyle/>
          <a:p>
            <a:pPr marL="0" marR="0" lvl="0" indent="0" algn="ctr" defTabSz="914400" rtl="1" eaLnBrk="1" fontAlgn="auto" latinLnBrk="0" hangingPunct="1">
              <a:lnSpc>
                <a:spcPts val="4765"/>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פרגמנטציה בין גופים שונים</a:t>
            </a:r>
            <a:endParaRPr kumimoji="0" lang="en-US"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38" name="Picture 10">
            <a:extLst>
              <a:ext uri="{FF2B5EF4-FFF2-40B4-BE49-F238E27FC236}">
                <a16:creationId xmlns:a16="http://schemas.microsoft.com/office/drawing/2014/main" id="{6343AA4B-068B-996B-90FE-062D7E365B6A}"/>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412369" y="5129524"/>
            <a:ext cx="2231823" cy="793243"/>
          </a:xfrm>
          <a:prstGeom prst="rect">
            <a:avLst/>
          </a:prstGeom>
        </p:spPr>
      </p:pic>
      <p:sp>
        <p:nvSpPr>
          <p:cNvPr id="2" name="מלבן 1">
            <a:extLst>
              <a:ext uri="{FF2B5EF4-FFF2-40B4-BE49-F238E27FC236}">
                <a16:creationId xmlns:a16="http://schemas.microsoft.com/office/drawing/2014/main" id="{052C874B-44B7-4139-6E34-8724DF3A986C}"/>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14">
            <a:extLst>
              <a:ext uri="{FF2B5EF4-FFF2-40B4-BE49-F238E27FC236}">
                <a16:creationId xmlns:a16="http://schemas.microsoft.com/office/drawing/2014/main" id="{BCFC979D-8496-EFBF-9B1A-45EE2A74136D}"/>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514966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920352" y="3844680"/>
            <a:ext cx="1274325" cy="1263785"/>
          </a:xfrm>
          <a:prstGeom prst="ellipse">
            <a:avLst/>
          </a:prstGeom>
          <a:ln w="19050">
            <a:solidFill>
              <a:srgbClr val="0000FF"/>
            </a:solidFill>
            <a:prstDash val="sysDash"/>
          </a:ln>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 name="אליפסה 2"/>
          <p:cNvSpPr/>
          <p:nvPr/>
        </p:nvSpPr>
        <p:spPr>
          <a:xfrm>
            <a:off x="10574448" y="1819373"/>
            <a:ext cx="1548422" cy="2254687"/>
          </a:xfrm>
          <a:prstGeom prst="ellipse">
            <a:avLst/>
          </a:prstGeom>
          <a:ln>
            <a:solidFill>
              <a:srgbClr val="0000FF"/>
            </a:solidFill>
            <a:prstDash val="sysDash"/>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2881301338"/>
              </p:ext>
            </p:extLst>
          </p:nvPr>
        </p:nvGraphicFramePr>
        <p:xfrm>
          <a:off x="1116019" y="1859210"/>
          <a:ext cx="4984894" cy="37526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7426065" y="5414584"/>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ירחון סטטיסטי, ביטוח לאומי, אוקטובר</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26021029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572792" y="5457926"/>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האתגר בסיעוד 2024</a:t>
            </a:r>
            <a:endParaRPr kumimoji="0" lang="he-IL"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cxnSp>
        <p:nvCxnSpPr>
          <p:cNvPr id="5" name="מחבר חץ ישר 4">
            <a:extLst>
              <a:ext uri="{FF2B5EF4-FFF2-40B4-BE49-F238E27FC236}">
                <a16:creationId xmlns:a16="http://schemas.microsoft.com/office/drawing/2014/main" id="{EE893103-C970-3E47-DB9E-429F03BFFA41}"/>
              </a:ext>
            </a:extLst>
          </p:cNvPr>
          <p:cNvCxnSpPr/>
          <p:nvPr/>
        </p:nvCxnSpPr>
        <p:spPr>
          <a:xfrm flipV="1">
            <a:off x="11515379" y="1428889"/>
            <a:ext cx="318976" cy="8606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מחבר חץ ישר 5">
            <a:extLst>
              <a:ext uri="{FF2B5EF4-FFF2-40B4-BE49-F238E27FC236}">
                <a16:creationId xmlns:a16="http://schemas.microsoft.com/office/drawing/2014/main" id="{8F7A5E9C-AA30-328A-CAB6-4B54BB937DB0}"/>
              </a:ext>
            </a:extLst>
          </p:cNvPr>
          <p:cNvCxnSpPr>
            <a:cxnSpLocks/>
          </p:cNvCxnSpPr>
          <p:nvPr/>
        </p:nvCxnSpPr>
        <p:spPr>
          <a:xfrm flipV="1">
            <a:off x="5832068" y="4074060"/>
            <a:ext cx="403773" cy="344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14">
            <a:extLst>
              <a:ext uri="{FF2B5EF4-FFF2-40B4-BE49-F238E27FC236}">
                <a16:creationId xmlns:a16="http://schemas.microsoft.com/office/drawing/2014/main" id="{82219C1B-3739-A080-BD87-9CCE3BF9B0A5}"/>
              </a:ext>
            </a:extLst>
          </p:cNvPr>
          <p:cNvSpPr txBox="1"/>
          <p:nvPr/>
        </p:nvSpPr>
        <p:spPr>
          <a:xfrm rot="16200000">
            <a:off x="-544190" y="724559"/>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1898499227"/>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algn="r" rtl="1"/>
            <a:r>
              <a:rPr lang="he-IL" sz="1750" b="1" dirty="0"/>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algn="r" rtl="1"/>
            <a:r>
              <a:rPr lang="he-IL" sz="1600" b="1" dirty="0"/>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3271685" y="362535"/>
            <a:ext cx="5674950" cy="461665"/>
          </a:xfrm>
          <a:prstGeom prst="rect">
            <a:avLst/>
          </a:prstGeom>
          <a:noFill/>
        </p:spPr>
        <p:txBody>
          <a:bodyPr wrap="none" rtlCol="1">
            <a:spAutoFit/>
          </a:bodyPr>
          <a:lstStyle/>
          <a:p>
            <a:r>
              <a:rPr lang="he-IL" sz="2400" b="1" dirty="0"/>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205983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5964583" y="371374"/>
            <a:ext cx="5303482" cy="523220"/>
          </a:xfrm>
          <a:prstGeom prst="rect">
            <a:avLst/>
          </a:prstGeom>
          <a:noFill/>
        </p:spPr>
        <p:txBody>
          <a:bodyPr wrap="square" rtlCol="1">
            <a:spAutoFit/>
          </a:bodyPr>
          <a:lstStyle/>
          <a:p>
            <a:pPr algn="r" rtl="1"/>
            <a:r>
              <a:rPr lang="he-IL" sz="2800" b="1" dirty="0"/>
              <a:t>ההשלכות והמשבר בסיעוד:</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8761904" y="362535"/>
            <a:ext cx="184731" cy="461665"/>
          </a:xfrm>
          <a:prstGeom prst="rect">
            <a:avLst/>
          </a:prstGeom>
          <a:noFill/>
        </p:spPr>
        <p:txBody>
          <a:bodyPr wrap="none" rtlCol="1">
            <a:spAutoFit/>
          </a:bodyPr>
          <a:lstStyle/>
          <a:p>
            <a:pPr algn="r" rtl="1"/>
            <a:endParaRPr lang="he-IL" sz="2400" b="1" dirty="0"/>
          </a:p>
        </p:txBody>
      </p:sp>
      <p:pic>
        <p:nvPicPr>
          <p:cNvPr id="9" name="תמונה 8">
            <a:extLst>
              <a:ext uri="{FF2B5EF4-FFF2-40B4-BE49-F238E27FC236}">
                <a16:creationId xmlns:a16="http://schemas.microsoft.com/office/drawing/2014/main" id="{6A75C04C-C1E3-C38D-8EF1-452AE6E225C8}"/>
              </a:ext>
            </a:extLst>
          </p:cNvPr>
          <p:cNvPicPr>
            <a:picLocks noChangeAspect="1"/>
          </p:cNvPicPr>
          <p:nvPr/>
        </p:nvPicPr>
        <p:blipFill>
          <a:blip r:embed="rId3"/>
          <a:stretch>
            <a:fillRect/>
          </a:stretch>
        </p:blipFill>
        <p:spPr>
          <a:xfrm>
            <a:off x="7557080" y="2779725"/>
            <a:ext cx="3710985" cy="1640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6" name="קבוצה 15">
            <a:extLst>
              <a:ext uri="{FF2B5EF4-FFF2-40B4-BE49-F238E27FC236}">
                <a16:creationId xmlns:a16="http://schemas.microsoft.com/office/drawing/2014/main" id="{831C9107-37E4-0695-1F69-CDB251DBA90B}"/>
              </a:ext>
            </a:extLst>
          </p:cNvPr>
          <p:cNvGrpSpPr/>
          <p:nvPr/>
        </p:nvGrpSpPr>
        <p:grpSpPr>
          <a:xfrm>
            <a:off x="6439616" y="4952415"/>
            <a:ext cx="4828449" cy="1543050"/>
            <a:chOff x="678390" y="4414047"/>
            <a:chExt cx="6102798" cy="2081418"/>
          </a:xfrm>
        </p:grpSpPr>
        <p:pic>
          <p:nvPicPr>
            <p:cNvPr id="14" name="תמונה 13">
              <a:extLst>
                <a:ext uri="{FF2B5EF4-FFF2-40B4-BE49-F238E27FC236}">
                  <a16:creationId xmlns:a16="http://schemas.microsoft.com/office/drawing/2014/main" id="{9E757220-BCCD-633C-39F8-1B1F28DD4F08}"/>
                </a:ext>
              </a:extLst>
            </p:cNvPr>
            <p:cNvPicPr>
              <a:picLocks noChangeAspect="1"/>
            </p:cNvPicPr>
            <p:nvPr/>
          </p:nvPicPr>
          <p:blipFill>
            <a:blip r:embed="rId4"/>
            <a:stretch>
              <a:fillRect/>
            </a:stretch>
          </p:blipFill>
          <p:spPr>
            <a:xfrm>
              <a:off x="678390" y="4414047"/>
              <a:ext cx="6102798" cy="20814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מלבן 14">
              <a:extLst>
                <a:ext uri="{FF2B5EF4-FFF2-40B4-BE49-F238E27FC236}">
                  <a16:creationId xmlns:a16="http://schemas.microsoft.com/office/drawing/2014/main" id="{F574DF96-36F7-8451-852E-178E8F364E73}"/>
                </a:ext>
              </a:extLst>
            </p:cNvPr>
            <p:cNvSpPr/>
            <p:nvPr/>
          </p:nvSpPr>
          <p:spPr>
            <a:xfrm>
              <a:off x="678390" y="5657850"/>
              <a:ext cx="2162175" cy="82867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pic>
        <p:nvPicPr>
          <p:cNvPr id="24" name="תמונה 23">
            <a:extLst>
              <a:ext uri="{FF2B5EF4-FFF2-40B4-BE49-F238E27FC236}">
                <a16:creationId xmlns:a16="http://schemas.microsoft.com/office/drawing/2014/main" id="{70E773B1-3679-1E8C-F6A8-EF8C6A74C0E8}"/>
              </a:ext>
            </a:extLst>
          </p:cNvPr>
          <p:cNvPicPr>
            <a:picLocks noChangeAspect="1"/>
          </p:cNvPicPr>
          <p:nvPr/>
        </p:nvPicPr>
        <p:blipFill>
          <a:blip r:embed="rId5"/>
          <a:srcRect l="1835" t="1250" r="1939" b="1666"/>
          <a:stretch/>
        </p:blipFill>
        <p:spPr>
          <a:xfrm>
            <a:off x="1112565" y="880495"/>
            <a:ext cx="4501341" cy="56149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3" name="קבוצה 12">
            <a:extLst>
              <a:ext uri="{FF2B5EF4-FFF2-40B4-BE49-F238E27FC236}">
                <a16:creationId xmlns:a16="http://schemas.microsoft.com/office/drawing/2014/main" id="{D6FD1EE2-072A-471B-0E4C-31B92BDAEC45}"/>
              </a:ext>
            </a:extLst>
          </p:cNvPr>
          <p:cNvGrpSpPr/>
          <p:nvPr/>
        </p:nvGrpSpPr>
        <p:grpSpPr>
          <a:xfrm>
            <a:off x="7182063" y="1209343"/>
            <a:ext cx="4086003" cy="1038275"/>
            <a:chOff x="1509929" y="3990093"/>
            <a:chExt cx="4133816" cy="1338243"/>
          </a:xfrm>
        </p:grpSpPr>
        <p:pic>
          <p:nvPicPr>
            <p:cNvPr id="18" name="תמונה 17">
              <a:extLst>
                <a:ext uri="{FF2B5EF4-FFF2-40B4-BE49-F238E27FC236}">
                  <a16:creationId xmlns:a16="http://schemas.microsoft.com/office/drawing/2014/main" id="{A919B19F-485B-5C13-E766-E4088CF7C5B4}"/>
                </a:ext>
              </a:extLst>
            </p:cNvPr>
            <p:cNvPicPr>
              <a:picLocks noChangeAspect="1"/>
            </p:cNvPicPr>
            <p:nvPr/>
          </p:nvPicPr>
          <p:blipFill>
            <a:blip r:embed="rId6"/>
            <a:srcRect l="16248" t="92269"/>
            <a:stretch/>
          </p:blipFill>
          <p:spPr>
            <a:xfrm>
              <a:off x="1509929" y="5128296"/>
              <a:ext cx="4133816" cy="200040"/>
            </a:xfrm>
            <a:prstGeom prst="rect">
              <a:avLst/>
            </a:prstGeom>
            <a:ln w="38100" cap="sq">
              <a:noFill/>
              <a:prstDash val="solid"/>
              <a:miter lim="800000"/>
            </a:ln>
            <a:effectLst/>
          </p:spPr>
        </p:pic>
        <p:pic>
          <p:nvPicPr>
            <p:cNvPr id="6" name="תמונה 5">
              <a:extLst>
                <a:ext uri="{FF2B5EF4-FFF2-40B4-BE49-F238E27FC236}">
                  <a16:creationId xmlns:a16="http://schemas.microsoft.com/office/drawing/2014/main" id="{E9F39D5A-98C7-E8C3-F4A4-56B7FDD30500}"/>
                </a:ext>
              </a:extLst>
            </p:cNvPr>
            <p:cNvPicPr>
              <a:picLocks noChangeAspect="1"/>
            </p:cNvPicPr>
            <p:nvPr/>
          </p:nvPicPr>
          <p:blipFill>
            <a:blip r:embed="rId6"/>
            <a:srcRect l="16248" b="56011"/>
            <a:stretch/>
          </p:blipFill>
          <p:spPr>
            <a:xfrm>
              <a:off x="1509929" y="3990093"/>
              <a:ext cx="4133815" cy="1138203"/>
            </a:xfrm>
            <a:prstGeom prst="rect">
              <a:avLst/>
            </a:prstGeom>
            <a:ln w="38100" cap="sq">
              <a:noFill/>
              <a:prstDash val="solid"/>
              <a:miter lim="800000"/>
            </a:ln>
            <a:effectLst/>
          </p:spPr>
        </p:pic>
      </p:grpSp>
      <p:sp>
        <p:nvSpPr>
          <p:cNvPr id="17" name="TextBox 14">
            <a:extLst>
              <a:ext uri="{FF2B5EF4-FFF2-40B4-BE49-F238E27FC236}">
                <a16:creationId xmlns:a16="http://schemas.microsoft.com/office/drawing/2014/main" id="{FB306515-BD4C-959F-39D7-E0B4D36A9116}"/>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71252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029348" y="607100"/>
            <a:ext cx="10515600" cy="850789"/>
          </a:xfrm>
        </p:spPr>
        <p:txBody>
          <a:bodyPr>
            <a:normAutofit fontScale="90000"/>
          </a:bodyPr>
          <a:lstStyle/>
          <a:p>
            <a:r>
              <a:rPr lang="he-IL" b="1" dirty="0">
                <a:latin typeface="Calibri" panose="020F0502020204030204" pitchFamily="34" charset="0"/>
                <a:ea typeface="Calibri" panose="020F0502020204030204" pitchFamily="34" charset="0"/>
                <a:cs typeface="+mn-cs"/>
              </a:rPr>
              <a:t>בעיות עיקריות בחוק סיעוד 2024:</a:t>
            </a:r>
            <a:br>
              <a:rPr lang="en-US" dirty="0">
                <a:latin typeface="Calibri" panose="020F0502020204030204" pitchFamily="34" charset="0"/>
                <a:ea typeface="Calibri" panose="020F0502020204030204" pitchFamily="34" charset="0"/>
                <a:cs typeface="+mn-cs"/>
              </a:rPr>
            </a:br>
            <a:endParaRPr lang="he-IL" dirty="0">
              <a:cs typeface="+mn-cs"/>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4" name="תיבת טקסט 3">
            <a:extLst>
              <a:ext uri="{FF2B5EF4-FFF2-40B4-BE49-F238E27FC236}">
                <a16:creationId xmlns:a16="http://schemas.microsoft.com/office/drawing/2014/main" id="{C52ED819-3C99-FAA5-EA2A-8E919ED9AB66}"/>
              </a:ext>
            </a:extLst>
          </p:cNvPr>
          <p:cNvSpPr txBox="1"/>
          <p:nvPr/>
        </p:nvSpPr>
        <p:spPr>
          <a:xfrm>
            <a:off x="2490537" y="1141003"/>
            <a:ext cx="9054411" cy="4340419"/>
          </a:xfrm>
          <a:prstGeom prst="rect">
            <a:avLst/>
          </a:prstGeom>
          <a:noFill/>
        </p:spPr>
        <p:txBody>
          <a:bodyPr wrap="square">
            <a:spAutoFit/>
          </a:bodyPr>
          <a:lstStyle/>
          <a:p>
            <a:pPr>
              <a:buFont typeface="+mj-lt"/>
              <a:buAutoNum type="arabicPeriod"/>
            </a:pPr>
            <a:r>
              <a:rPr lang="he-IL" sz="2400" dirty="0"/>
              <a:t>השקעה בטיפול ולא במניעה</a:t>
            </a:r>
          </a:p>
          <a:p>
            <a:pPr>
              <a:buFont typeface="+mj-lt"/>
              <a:buAutoNum type="arabicPeriod"/>
            </a:pPr>
            <a:r>
              <a:rPr lang="he-IL" sz="2400" dirty="0"/>
              <a:t>סל שירותים מצומצם שאינו מותאם לצרכים ואינו מונגש כיאות</a:t>
            </a:r>
          </a:p>
          <a:p>
            <a:pPr>
              <a:buFont typeface="+mj-lt"/>
              <a:buAutoNum type="arabicPeriod"/>
            </a:pPr>
            <a:r>
              <a:rPr lang="he-IL" sz="2400" dirty="0">
                <a:solidFill>
                  <a:prstClr val="black"/>
                </a:solidFill>
                <a:latin typeface="Calibri" panose="020F0502020204030204" pitchFamily="34" charset="0"/>
                <a:ea typeface="Calibri" panose="020F0502020204030204" pitchFamily="34" charset="0"/>
              </a:rPr>
              <a:t>תקציב גבוה אך תוצאות לא מוכחות</a:t>
            </a:r>
          </a:p>
          <a:p>
            <a:pPr>
              <a:buFont typeface="+mj-lt"/>
              <a:buAutoNum type="arabicPeriod"/>
            </a:pPr>
            <a:r>
              <a:rPr lang="he-IL" sz="2400" dirty="0">
                <a:solidFill>
                  <a:prstClr val="black"/>
                </a:solidFill>
                <a:latin typeface="Calibri" panose="020F0502020204030204" pitchFamily="34" charset="0"/>
                <a:ea typeface="Calibri" panose="020F0502020204030204" pitchFamily="34" charset="0"/>
              </a:rPr>
              <a:t>הערכות תלות שאינן בהכרח משקפות מצב תפקודי</a:t>
            </a:r>
          </a:p>
          <a:p>
            <a:pPr>
              <a:buFont typeface="+mj-lt"/>
              <a:buAutoNum type="arabicPeriod"/>
            </a:pPr>
            <a:r>
              <a:rPr lang="he-IL" sz="2400" dirty="0"/>
              <a:t>מבנה תמריצים שאינו מונע הידרדרות</a:t>
            </a:r>
          </a:p>
          <a:p>
            <a:endParaRPr lang="he-IL" sz="2400" dirty="0"/>
          </a:p>
          <a:p>
            <a:r>
              <a:rPr lang="he-IL" sz="2400" b="1" dirty="0"/>
              <a:t>6. מחסור במטפלות שגורם ל:</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גידול בגמלה בכסף ובני משפחה מטפלים בשכר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(כ-9 מיליארד ₪)</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כ-50% מהשעות נלקחות ע"י המטפלות ובחירה סלקטיבית של לקוחות</a:t>
            </a:r>
          </a:p>
          <a:p>
            <a:pPr marL="742950" indent="-285750">
              <a:lnSpc>
                <a:spcPct val="115000"/>
              </a:lnSpc>
              <a:buFont typeface="Arial" panose="020B0604020202020204" pitchFamily="34" charset="0"/>
              <a:buChar char="•"/>
              <a:defRPr/>
            </a:pPr>
            <a:r>
              <a:rPr lang="he-IL" sz="2400" dirty="0">
                <a:solidFill>
                  <a:prstClr val="black"/>
                </a:solidFill>
                <a:latin typeface="Calibri" panose="020F0502020204030204" pitchFamily="34" charset="0"/>
                <a:ea typeface="Calibri" panose="020F0502020204030204" pitchFamily="34" charset="0"/>
              </a:rPr>
              <a:t>פגיעה באיכות השירות ומקרי הזנחה, ניצול והתעללות</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פערי הכשרה והדרכה</a:t>
            </a:r>
          </a:p>
        </p:txBody>
      </p:sp>
      <p:sp>
        <p:nvSpPr>
          <p:cNvPr id="5" name="מלבן 4">
            <a:extLst>
              <a:ext uri="{FF2B5EF4-FFF2-40B4-BE49-F238E27FC236}">
                <a16:creationId xmlns:a16="http://schemas.microsoft.com/office/drawing/2014/main" id="{3656BDFE-98D9-FEE1-0874-F2FE1993F561}"/>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2" name="TextBox 14">
            <a:extLst>
              <a:ext uri="{FF2B5EF4-FFF2-40B4-BE49-F238E27FC236}">
                <a16:creationId xmlns:a16="http://schemas.microsoft.com/office/drawing/2014/main" id="{FBF454FB-7F5B-59BA-2B6F-4F3077FA327C}"/>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
        <p:nvSpPr>
          <p:cNvPr id="13" name="מלבן 12">
            <a:extLst>
              <a:ext uri="{FF2B5EF4-FFF2-40B4-BE49-F238E27FC236}">
                <a16:creationId xmlns:a16="http://schemas.microsoft.com/office/drawing/2014/main" id="{A242CCCF-7742-E61D-ECBF-9F3DBCB60F02}"/>
              </a:ext>
            </a:extLst>
          </p:cNvPr>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0">
            <a:extLst>
              <a:ext uri="{FF2B5EF4-FFF2-40B4-BE49-F238E27FC236}">
                <a16:creationId xmlns:a16="http://schemas.microsoft.com/office/drawing/2014/main" id="{D9FC1A89-49AE-BFDE-96D9-973D679484C3}"/>
              </a:ext>
            </a:extLst>
          </p:cNvPr>
          <p:cNvSpPr txBox="1"/>
          <p:nvPr/>
        </p:nvSpPr>
        <p:spPr>
          <a:xfrm rot="16200000">
            <a:off x="-719909" y="462018"/>
            <a:ext cx="1439818"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p:txBody>
      </p:sp>
    </p:spTree>
    <p:extLst>
      <p:ext uri="{BB962C8B-B14F-4D97-AF65-F5344CB8AC3E}">
        <p14:creationId xmlns:p14="http://schemas.microsoft.com/office/powerpoint/2010/main" val="157257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211691" y="154568"/>
            <a:ext cx="11353800" cy="1325563"/>
          </a:xfrm>
        </p:spPr>
        <p:txBody>
          <a:bodyPr>
            <a:normAutofit/>
          </a:bodyPr>
          <a:lstStyle/>
          <a:p>
            <a:r>
              <a:rPr lang="he-IL" dirty="0">
                <a:latin typeface="+mn-lt"/>
                <a:cs typeface="+mn-cs"/>
              </a:rPr>
              <a:t>המלצות ועדה בין משרדית </a:t>
            </a:r>
            <a:br>
              <a:rPr lang="he-IL" dirty="0">
                <a:latin typeface="+mn-lt"/>
                <a:cs typeface="+mn-cs"/>
              </a:rPr>
            </a:br>
            <a:r>
              <a:rPr lang="he-IL" dirty="0">
                <a:latin typeface="+mn-lt"/>
                <a:cs typeface="+mn-cs"/>
              </a:rPr>
              <a:t>למניעת הדרדרות תפקודית</a:t>
            </a:r>
            <a:r>
              <a:rPr lang="he-IL" sz="2400" dirty="0">
                <a:latin typeface="+mn-lt"/>
                <a:cs typeface="+mn-cs"/>
              </a:rPr>
              <a:t> (</a:t>
            </a:r>
            <a:r>
              <a:rPr lang="he-IL" sz="2000" dirty="0">
                <a:latin typeface="+mn-lt"/>
                <a:cs typeface="+mn-cs"/>
              </a:rPr>
              <a:t>דו"ח קידר) </a:t>
            </a:r>
            <a:r>
              <a:rPr lang="he-IL" sz="2000" dirty="0">
                <a:cs typeface="+mn-cs"/>
              </a:rPr>
              <a:t>9.2022</a:t>
            </a:r>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2" name="תיבת טקסט 11">
            <a:extLst>
              <a:ext uri="{FF2B5EF4-FFF2-40B4-BE49-F238E27FC236}">
                <a16:creationId xmlns:a16="http://schemas.microsoft.com/office/drawing/2014/main" id="{BADAE2D8-F10A-441C-3C3D-FEB0FBAE3B75}"/>
              </a:ext>
            </a:extLst>
          </p:cNvPr>
          <p:cNvSpPr txBox="1"/>
          <p:nvPr/>
        </p:nvSpPr>
        <p:spPr>
          <a:xfrm>
            <a:off x="1090549" y="2064990"/>
            <a:ext cx="10474942" cy="3539430"/>
          </a:xfrm>
          <a:prstGeom prst="rect">
            <a:avLst/>
          </a:prstGeom>
          <a:noFill/>
        </p:spPr>
        <p:txBody>
          <a:bodyPr wrap="square">
            <a:spAutoFit/>
          </a:bodyPr>
          <a:lstStyle/>
          <a:p>
            <a:pPr>
              <a:buFont typeface="+mj-lt"/>
              <a:buAutoNum type="arabicPeriod"/>
            </a:pPr>
            <a:r>
              <a:rPr lang="he-IL" sz="2800" dirty="0"/>
              <a:t>שינוי מיקוד </a:t>
            </a:r>
            <a:r>
              <a:rPr lang="he-IL" sz="2800" b="1" dirty="0"/>
              <a:t>מטיפול למניעה</a:t>
            </a:r>
          </a:p>
          <a:p>
            <a:pPr>
              <a:buFont typeface="+mj-lt"/>
              <a:buAutoNum type="arabicPeriod"/>
            </a:pPr>
            <a:r>
              <a:rPr lang="he-IL" sz="2800" dirty="0"/>
              <a:t>השקעה בשירותי מניעת הידרדרות, ב</a:t>
            </a:r>
            <a:r>
              <a:rPr lang="he-IL" sz="2800" b="1" dirty="0"/>
              <a:t>דגש על רמות סיעוד נמוכות </a:t>
            </a:r>
            <a:r>
              <a:rPr lang="he-IL" sz="2800" dirty="0"/>
              <a:t>(1-2)</a:t>
            </a:r>
          </a:p>
          <a:p>
            <a:pPr>
              <a:buFont typeface="+mj-lt"/>
              <a:buAutoNum type="arabicPeriod"/>
            </a:pPr>
            <a:r>
              <a:rPr lang="he-IL" sz="2800" dirty="0"/>
              <a:t>שילוב </a:t>
            </a:r>
            <a:r>
              <a:rPr lang="he-IL" sz="2800" b="1" dirty="0"/>
              <a:t>שירותי דחיקת תלות </a:t>
            </a:r>
            <a:r>
              <a:rPr lang="he-IL" sz="2800" dirty="0"/>
              <a:t>בגמלת הסיעוד</a:t>
            </a:r>
          </a:p>
          <a:p>
            <a:pPr>
              <a:buFont typeface="+mj-lt"/>
              <a:buAutoNum type="arabicPeriod"/>
            </a:pPr>
            <a:r>
              <a:rPr lang="he-IL" sz="2800" dirty="0"/>
              <a:t> שיתוף </a:t>
            </a:r>
            <a:r>
              <a:rPr lang="he-IL" sz="2800" b="1" dirty="0"/>
              <a:t>קופות החולים </a:t>
            </a:r>
            <a:r>
              <a:rPr lang="he-IL" sz="2800" dirty="0"/>
              <a:t>במניעת הידרדרות</a:t>
            </a:r>
          </a:p>
          <a:p>
            <a:pPr>
              <a:buFont typeface="+mj-lt"/>
              <a:buAutoNum type="arabicPeriod"/>
            </a:pPr>
            <a:r>
              <a:rPr lang="he-IL" sz="2800" dirty="0"/>
              <a:t>הרחבת </a:t>
            </a:r>
            <a:r>
              <a:rPr lang="he-IL" sz="2800" b="1" dirty="0"/>
              <a:t>שירותים חברתיים </a:t>
            </a:r>
            <a:r>
              <a:rPr lang="he-IL" sz="2800" dirty="0"/>
              <a:t>בגמלת הסיעוד</a:t>
            </a:r>
          </a:p>
          <a:p>
            <a:pPr>
              <a:buFont typeface="+mj-lt"/>
              <a:buAutoNum type="arabicPeriod"/>
            </a:pPr>
            <a:r>
              <a:rPr lang="he-IL" sz="2800" b="1" dirty="0"/>
              <a:t>שינוי</a:t>
            </a:r>
            <a:r>
              <a:rPr lang="he-IL" sz="2800" dirty="0"/>
              <a:t> </a:t>
            </a:r>
            <a:r>
              <a:rPr lang="he-IL" sz="2800" b="1" dirty="0"/>
              <a:t>מבנה התמריצים </a:t>
            </a:r>
            <a:r>
              <a:rPr lang="he-IL" sz="2800" dirty="0"/>
              <a:t>במערכת</a:t>
            </a:r>
          </a:p>
          <a:p>
            <a:pPr>
              <a:buFont typeface="+mj-lt"/>
              <a:buAutoNum type="arabicPeriod"/>
            </a:pPr>
            <a:r>
              <a:rPr lang="he-IL" sz="2800" b="1" dirty="0"/>
              <a:t>הגברת שיתופי פעולה</a:t>
            </a:r>
            <a:r>
              <a:rPr lang="he-IL" sz="2800" dirty="0"/>
              <a:t>, שיתוף מידע וסנכרון בין גורמים</a:t>
            </a:r>
          </a:p>
          <a:p>
            <a:pPr>
              <a:buFont typeface="+mj-lt"/>
              <a:buAutoNum type="arabicPeriod"/>
            </a:pPr>
            <a:r>
              <a:rPr lang="he-IL" sz="2800" dirty="0"/>
              <a:t>פיתוח </a:t>
            </a:r>
            <a:r>
              <a:rPr lang="he-IL" sz="2800" b="1" dirty="0"/>
              <a:t>מערכת מדידה והערכה </a:t>
            </a:r>
            <a:r>
              <a:rPr lang="he-IL" sz="2800" dirty="0"/>
              <a:t>מבוססת תוצאות</a:t>
            </a:r>
          </a:p>
        </p:txBody>
      </p:sp>
      <p:sp>
        <p:nvSpPr>
          <p:cNvPr id="18" name="מלבן 17">
            <a:extLst>
              <a:ext uri="{FF2B5EF4-FFF2-40B4-BE49-F238E27FC236}">
                <a16:creationId xmlns:a16="http://schemas.microsoft.com/office/drawing/2014/main" id="{0FB77E88-F751-EB7D-3BD2-6D73BFB9ADBB}"/>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4">
            <a:extLst>
              <a:ext uri="{FF2B5EF4-FFF2-40B4-BE49-F238E27FC236}">
                <a16:creationId xmlns:a16="http://schemas.microsoft.com/office/drawing/2014/main" id="{B0B36EED-3571-C6BE-552B-45D4E45B5A7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
        <p:nvSpPr>
          <p:cNvPr id="20" name="מלבן 19">
            <a:extLst>
              <a:ext uri="{FF2B5EF4-FFF2-40B4-BE49-F238E27FC236}">
                <a16:creationId xmlns:a16="http://schemas.microsoft.com/office/drawing/2014/main" id="{016EFF5E-697C-A4A5-77D7-2AF66A7F2B29}"/>
              </a:ext>
            </a:extLst>
          </p:cNvPr>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21" name="TextBox 10">
            <a:extLst>
              <a:ext uri="{FF2B5EF4-FFF2-40B4-BE49-F238E27FC236}">
                <a16:creationId xmlns:a16="http://schemas.microsoft.com/office/drawing/2014/main" id="{8B462234-9F53-2661-0185-4A0779DE7495}"/>
              </a:ext>
            </a:extLst>
          </p:cNvPr>
          <p:cNvSpPr txBox="1"/>
          <p:nvPr/>
        </p:nvSpPr>
        <p:spPr>
          <a:xfrm rot="16200000">
            <a:off x="-719909" y="462018"/>
            <a:ext cx="1439818"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p:txBody>
      </p:sp>
    </p:spTree>
    <p:extLst>
      <p:ext uri="{BB962C8B-B14F-4D97-AF65-F5344CB8AC3E}">
        <p14:creationId xmlns:p14="http://schemas.microsoft.com/office/powerpoint/2010/main" val="1404561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567872" y="5495635"/>
            <a:ext cx="9515764"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b="1" dirty="0"/>
              <a:t>ועדה בין משרדית: </a:t>
            </a:r>
            <a:r>
              <a:rPr lang="he-IL" sz="2400" dirty="0"/>
              <a:t>"הרחבת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TextBox 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8" name="מלבן 7">
            <a:extLst>
              <a:ext uri="{FF2B5EF4-FFF2-40B4-BE49-F238E27FC236}">
                <a16:creationId xmlns:a16="http://schemas.microsoft.com/office/drawing/2014/main" id="{7CC48B59-5592-02FC-30A6-4F5812141FE3}"/>
              </a:ext>
            </a:extLst>
          </p:cNvPr>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6">
            <a:extLst>
              <a:ext uri="{FF2B5EF4-FFF2-40B4-BE49-F238E27FC236}">
                <a16:creationId xmlns:a16="http://schemas.microsoft.com/office/drawing/2014/main" id="{60492076-6A8C-3E05-4F11-7DB2E5C83BF6}"/>
              </a:ext>
            </a:extLst>
          </p:cNvPr>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2" name="מלבן 11">
            <a:extLst>
              <a:ext uri="{FF2B5EF4-FFF2-40B4-BE49-F238E27FC236}">
                <a16:creationId xmlns:a16="http://schemas.microsoft.com/office/drawing/2014/main" id="{570C0960-BE37-5CF4-1A3F-84197A2D5B6A}"/>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4">
            <a:extLst>
              <a:ext uri="{FF2B5EF4-FFF2-40B4-BE49-F238E27FC236}">
                <a16:creationId xmlns:a16="http://schemas.microsoft.com/office/drawing/2014/main" id="{145151D2-3E01-87E1-D591-6ECE55AF8E82}"/>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
        <p:nvSpPr>
          <p:cNvPr id="14" name="מלבן 13">
            <a:extLst>
              <a:ext uri="{FF2B5EF4-FFF2-40B4-BE49-F238E27FC236}">
                <a16:creationId xmlns:a16="http://schemas.microsoft.com/office/drawing/2014/main" id="{E5AEA537-42B2-0EA1-CC12-83C2647E8C06}"/>
              </a:ext>
            </a:extLst>
          </p:cNvPr>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0">
            <a:extLst>
              <a:ext uri="{FF2B5EF4-FFF2-40B4-BE49-F238E27FC236}">
                <a16:creationId xmlns:a16="http://schemas.microsoft.com/office/drawing/2014/main" id="{19F513FA-89DC-89EE-3353-DDFC976E47FB}"/>
              </a:ext>
            </a:extLst>
          </p:cNvPr>
          <p:cNvSpPr txBox="1"/>
          <p:nvPr/>
        </p:nvSpPr>
        <p:spPr>
          <a:xfrm rot="16200000">
            <a:off x="-719909" y="462018"/>
            <a:ext cx="1439818"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p:txBody>
      </p:sp>
    </p:spTree>
    <p:extLst>
      <p:ext uri="{BB962C8B-B14F-4D97-AF65-F5344CB8AC3E}">
        <p14:creationId xmlns:p14="http://schemas.microsoft.com/office/powerpoint/2010/main" val="310993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6089251" y="5221561"/>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689847" y="5647606"/>
            <a:ext cx="4812305"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a:ea typeface="+mn-ea"/>
              <a:cs typeface="Calibri"/>
            </a:endParaRPr>
          </a:p>
        </p:txBody>
      </p:sp>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968240"/>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8544901" y="5082213"/>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5011288"/>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2815"/>
          <a:stretch/>
        </p:blipFill>
        <p:spPr>
          <a:xfrm>
            <a:off x="11021436" y="2533506"/>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71310" y="2981594"/>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8214081" y="2984766"/>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597025" y="2981594"/>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12" name="TextBox 10">
            <a:extLst>
              <a:ext uri="{FF2B5EF4-FFF2-40B4-BE49-F238E27FC236}">
                <a16:creationId xmlns:a16="http://schemas.microsoft.com/office/drawing/2014/main" id="{B8504F43-84EB-ED74-57B6-FF2DF863FAA2}"/>
              </a:ext>
            </a:extLst>
          </p:cNvPr>
          <p:cNvSpPr txBox="1"/>
          <p:nvPr/>
        </p:nvSpPr>
        <p:spPr>
          <a:xfrm rot="16200000">
            <a:off x="-719909" y="462018"/>
            <a:ext cx="1439818"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p:txBody>
      </p:sp>
      <p:sp>
        <p:nvSpPr>
          <p:cNvPr id="19" name="מלבן 18">
            <a:extLst>
              <a:ext uri="{FF2B5EF4-FFF2-40B4-BE49-F238E27FC236}">
                <a16:creationId xmlns:a16="http://schemas.microsoft.com/office/drawing/2014/main" id="{68B84EBC-CEF7-A00A-A453-547348B15AE1}"/>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2" name="TextBox 26">
            <a:extLst>
              <a:ext uri="{FF2B5EF4-FFF2-40B4-BE49-F238E27FC236}">
                <a16:creationId xmlns:a16="http://schemas.microsoft.com/office/drawing/2014/main" id="{8ADA822D-1AA4-668E-963F-BB389DFEA8D4}"/>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2366899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5C9E383-1D00-411F-BD3B-B067D716193C}"/>
              </a:ext>
            </a:extLst>
          </p:cNvPr>
          <p:cNvSpPr/>
          <p:nvPr/>
        </p:nvSpPr>
        <p:spPr>
          <a:xfrm>
            <a:off x="10955443"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C3F1E569-6A48-4E32-9380-64C2E34EA53B}"/>
              </a:ext>
            </a:extLst>
          </p:cNvPr>
          <p:cNvSpPr txBox="1"/>
          <p:nvPr/>
        </p:nvSpPr>
        <p:spPr>
          <a:xfrm>
            <a:off x="4418616" y="224061"/>
            <a:ext cx="5446721" cy="129266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27291A11-BE90-4BE3-A04D-E8DC9C14A245}"/>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0749F052-554F-4F10-8C2A-4DAF457FDE1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28396BA2-6E09-4B7A-BD20-D26C6C3D608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0B489560-F7D7-4336-8787-BB476E6F04E6}"/>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3F24F495-547A-4155-9CFB-AC93F104C14C}"/>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444C3F03-C278-4DB9-BD46-81228A265B5F}"/>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CAA22FC-42A8-4CBD-907E-4F889265FBD6}"/>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40C15470-1A3A-4772-A122-7AE6DCFE87BB}"/>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5A80DECE-8E00-4E3F-8C57-49C736C83A4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D3FFBADB-CA58-49C7-80E5-086E551EE241}"/>
              </a:ext>
            </a:extLst>
          </p:cNvPr>
          <p:cNvGrpSpPr>
            <a:grpSpLocks noChangeAspect="1"/>
          </p:cNvGrpSpPr>
          <p:nvPr/>
        </p:nvGrpSpPr>
        <p:grpSpPr>
          <a:xfrm>
            <a:off x="10838299" y="5630715"/>
            <a:ext cx="522288" cy="523875"/>
            <a:chOff x="11115676" y="4182110"/>
            <a:chExt cx="522288" cy="523875"/>
          </a:xfrm>
        </p:grpSpPr>
        <p:sp>
          <p:nvSpPr>
            <p:cNvPr id="20" name="Freeform 45">
              <a:extLst>
                <a:ext uri="{FF2B5EF4-FFF2-40B4-BE49-F238E27FC236}">
                  <a16:creationId xmlns:a16="http://schemas.microsoft.com/office/drawing/2014/main" id="{76DAA703-1792-4CF3-A118-69DD7F1B212F}"/>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FD995344-6A98-4276-86D6-B8D342C39203}"/>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A1ED770A-724F-497F-9FB1-8EE584298A7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B77ED6D1-62A5-E57E-9593-D46D96DF720B}"/>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
        <p:nvSpPr>
          <p:cNvPr id="4" name="TextBox 8">
            <a:extLst>
              <a:ext uri="{FF2B5EF4-FFF2-40B4-BE49-F238E27FC236}">
                <a16:creationId xmlns:a16="http://schemas.microsoft.com/office/drawing/2014/main" id="{65D1DD37-F18E-1CAE-CAB3-3CC8BC6982D5}"/>
              </a:ext>
            </a:extLst>
          </p:cNvPr>
          <p:cNvSpPr txBox="1"/>
          <p:nvPr/>
        </p:nvSpPr>
        <p:spPr>
          <a:xfrm rot="16200000">
            <a:off x="-699331"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6" name="מלבן 5">
            <a:extLst>
              <a:ext uri="{FF2B5EF4-FFF2-40B4-BE49-F238E27FC236}">
                <a16:creationId xmlns:a16="http://schemas.microsoft.com/office/drawing/2014/main" id="{415BD11D-D4C3-905C-848D-B19350DD2911}"/>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TextBox 26">
            <a:extLst>
              <a:ext uri="{FF2B5EF4-FFF2-40B4-BE49-F238E27FC236}">
                <a16:creationId xmlns:a16="http://schemas.microsoft.com/office/drawing/2014/main" id="{F69DCA3D-8F6A-B9D7-9A3C-8ECE9AFB571A}"/>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1259880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42386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
        <p:nvSpPr>
          <p:cNvPr id="5" name="מלבן 4">
            <a:extLst>
              <a:ext uri="{FF2B5EF4-FFF2-40B4-BE49-F238E27FC236}">
                <a16:creationId xmlns:a16="http://schemas.microsoft.com/office/drawing/2014/main" id="{C7CF9FB4-9486-CE39-AF18-26B99530009C}"/>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TextBox 26">
            <a:extLst>
              <a:ext uri="{FF2B5EF4-FFF2-40B4-BE49-F238E27FC236}">
                <a16:creationId xmlns:a16="http://schemas.microsoft.com/office/drawing/2014/main" id="{3EC79CFB-EDD7-043D-E296-AA92211B8ED1}"/>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3564675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2">
            <a:extLst>
              <a:ext uri="{FF2B5EF4-FFF2-40B4-BE49-F238E27FC236}">
                <a16:creationId xmlns:a16="http://schemas.microsoft.com/office/drawing/2014/main" id="{80D5ADAA-3FBC-4D74-9A48-A00B4388B9B9}"/>
              </a:ext>
            </a:extLst>
          </p:cNvPr>
          <p:cNvSpPr txBox="1"/>
          <p:nvPr/>
        </p:nvSpPr>
        <p:spPr>
          <a:xfrm>
            <a:off x="942136" y="1777529"/>
            <a:ext cx="7870105" cy="24991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איך מתמודדים עם האתגרים </a:t>
            </a:r>
            <a:br>
              <a:rPr kumimoji="0" lang="en-US"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על מנת שפנינה ומשפחתה </a:t>
            </a:r>
            <a:br>
              <a:rPr kumimoji="0" lang="en-US"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 יקבלו מענה על הצרכים היומיומיים שלהם?</a:t>
            </a:r>
          </a:p>
        </p:txBody>
      </p:sp>
      <p:grpSp>
        <p:nvGrpSpPr>
          <p:cNvPr id="3" name="Group 2">
            <a:extLst>
              <a:ext uri="{FF2B5EF4-FFF2-40B4-BE49-F238E27FC236}">
                <a16:creationId xmlns:a16="http://schemas.microsoft.com/office/drawing/2014/main" id="{D5CA5DA8-6857-4668-9C0E-F00E1C6AAE64}"/>
              </a:ext>
            </a:extLst>
          </p:cNvPr>
          <p:cNvGrpSpPr>
            <a:grpSpLocks noChangeAspect="1"/>
          </p:cNvGrpSpPr>
          <p:nvPr/>
        </p:nvGrpSpPr>
        <p:grpSpPr>
          <a:xfrm>
            <a:off x="9130273" y="2094211"/>
            <a:ext cx="1992997" cy="1992997"/>
            <a:chOff x="3192463" y="4175125"/>
            <a:chExt cx="522288" cy="522288"/>
          </a:xfrm>
          <a:solidFill>
            <a:schemeClr val="accent1"/>
          </a:solidFill>
        </p:grpSpPr>
        <p:sp>
          <p:nvSpPr>
            <p:cNvPr id="4" name="Freeform 56">
              <a:extLst>
                <a:ext uri="{FF2B5EF4-FFF2-40B4-BE49-F238E27FC236}">
                  <a16:creationId xmlns:a16="http://schemas.microsoft.com/office/drawing/2014/main" id="{C97CFE28-13B2-4490-B69C-66EE852704FF}"/>
                </a:ext>
              </a:extLst>
            </p:cNvPr>
            <p:cNvSpPr>
              <a:spLocks noEditPoints="1"/>
            </p:cNvSpPr>
            <p:nvPr/>
          </p:nvSpPr>
          <p:spPr bwMode="auto">
            <a:xfrm>
              <a:off x="3192463" y="4175125"/>
              <a:ext cx="522288" cy="522288"/>
            </a:xfrm>
            <a:custGeom>
              <a:avLst/>
              <a:gdLst>
                <a:gd name="T0" fmla="*/ 312 w 659"/>
                <a:gd name="T1" fmla="*/ 657 h 657"/>
                <a:gd name="T2" fmla="*/ 264 w 659"/>
                <a:gd name="T3" fmla="*/ 650 h 657"/>
                <a:gd name="T4" fmla="*/ 202 w 659"/>
                <a:gd name="T5" fmla="*/ 632 h 657"/>
                <a:gd name="T6" fmla="*/ 120 w 659"/>
                <a:gd name="T7" fmla="*/ 582 h 657"/>
                <a:gd name="T8" fmla="*/ 57 w 659"/>
                <a:gd name="T9" fmla="*/ 512 h 657"/>
                <a:gd name="T10" fmla="*/ 15 w 659"/>
                <a:gd name="T11" fmla="*/ 426 h 657"/>
                <a:gd name="T12" fmla="*/ 4 w 659"/>
                <a:gd name="T13" fmla="*/ 379 h 657"/>
                <a:gd name="T14" fmla="*/ 0 w 659"/>
                <a:gd name="T15" fmla="*/ 328 h 657"/>
                <a:gd name="T16" fmla="*/ 2 w 659"/>
                <a:gd name="T17" fmla="*/ 294 h 657"/>
                <a:gd name="T18" fmla="*/ 11 w 659"/>
                <a:gd name="T19" fmla="*/ 246 h 657"/>
                <a:gd name="T20" fmla="*/ 41 w 659"/>
                <a:gd name="T21" fmla="*/ 172 h 657"/>
                <a:gd name="T22" fmla="*/ 97 w 659"/>
                <a:gd name="T23" fmla="*/ 96 h 657"/>
                <a:gd name="T24" fmla="*/ 172 w 659"/>
                <a:gd name="T25" fmla="*/ 39 h 657"/>
                <a:gd name="T26" fmla="*/ 248 w 659"/>
                <a:gd name="T27" fmla="*/ 10 h 657"/>
                <a:gd name="T28" fmla="*/ 296 w 659"/>
                <a:gd name="T29" fmla="*/ 2 h 657"/>
                <a:gd name="T30" fmla="*/ 330 w 659"/>
                <a:gd name="T31" fmla="*/ 0 h 657"/>
                <a:gd name="T32" fmla="*/ 379 w 659"/>
                <a:gd name="T33" fmla="*/ 3 h 657"/>
                <a:gd name="T34" fmla="*/ 428 w 659"/>
                <a:gd name="T35" fmla="*/ 15 h 657"/>
                <a:gd name="T36" fmla="*/ 514 w 659"/>
                <a:gd name="T37" fmla="*/ 57 h 657"/>
                <a:gd name="T38" fmla="*/ 583 w 659"/>
                <a:gd name="T39" fmla="*/ 120 h 657"/>
                <a:gd name="T40" fmla="*/ 632 w 659"/>
                <a:gd name="T41" fmla="*/ 200 h 657"/>
                <a:gd name="T42" fmla="*/ 652 w 659"/>
                <a:gd name="T43" fmla="*/ 262 h 657"/>
                <a:gd name="T44" fmla="*/ 657 w 659"/>
                <a:gd name="T45" fmla="*/ 312 h 657"/>
                <a:gd name="T46" fmla="*/ 657 w 659"/>
                <a:gd name="T47" fmla="*/ 346 h 657"/>
                <a:gd name="T48" fmla="*/ 652 w 659"/>
                <a:gd name="T49" fmla="*/ 395 h 657"/>
                <a:gd name="T50" fmla="*/ 632 w 659"/>
                <a:gd name="T51" fmla="*/ 457 h 657"/>
                <a:gd name="T52" fmla="*/ 583 w 659"/>
                <a:gd name="T53" fmla="*/ 538 h 657"/>
                <a:gd name="T54" fmla="*/ 514 w 659"/>
                <a:gd name="T55" fmla="*/ 601 h 657"/>
                <a:gd name="T56" fmla="*/ 428 w 659"/>
                <a:gd name="T57" fmla="*/ 642 h 657"/>
                <a:gd name="T58" fmla="*/ 379 w 659"/>
                <a:gd name="T59" fmla="*/ 653 h 657"/>
                <a:gd name="T60" fmla="*/ 330 w 659"/>
                <a:gd name="T61" fmla="*/ 657 h 657"/>
                <a:gd name="T62" fmla="*/ 330 w 659"/>
                <a:gd name="T63" fmla="*/ 38 h 657"/>
                <a:gd name="T64" fmla="*/ 244 w 659"/>
                <a:gd name="T65" fmla="*/ 50 h 657"/>
                <a:gd name="T66" fmla="*/ 167 w 659"/>
                <a:gd name="T67" fmla="*/ 88 h 657"/>
                <a:gd name="T68" fmla="*/ 105 w 659"/>
                <a:gd name="T69" fmla="*/ 144 h 657"/>
                <a:gd name="T70" fmla="*/ 61 w 659"/>
                <a:gd name="T71" fmla="*/ 215 h 657"/>
                <a:gd name="T72" fmla="*/ 39 w 659"/>
                <a:gd name="T73" fmla="*/ 298 h 657"/>
                <a:gd name="T74" fmla="*/ 39 w 659"/>
                <a:gd name="T75" fmla="*/ 359 h 657"/>
                <a:gd name="T76" fmla="*/ 61 w 659"/>
                <a:gd name="T77" fmla="*/ 442 h 657"/>
                <a:gd name="T78" fmla="*/ 105 w 659"/>
                <a:gd name="T79" fmla="*/ 513 h 657"/>
                <a:gd name="T80" fmla="*/ 167 w 659"/>
                <a:gd name="T81" fmla="*/ 570 h 657"/>
                <a:gd name="T82" fmla="*/ 244 w 659"/>
                <a:gd name="T83" fmla="*/ 606 h 657"/>
                <a:gd name="T84" fmla="*/ 330 w 659"/>
                <a:gd name="T85" fmla="*/ 620 h 657"/>
                <a:gd name="T86" fmla="*/ 389 w 659"/>
                <a:gd name="T87" fmla="*/ 614 h 657"/>
                <a:gd name="T88" fmla="*/ 468 w 659"/>
                <a:gd name="T89" fmla="*/ 585 h 657"/>
                <a:gd name="T90" fmla="*/ 535 w 659"/>
                <a:gd name="T91" fmla="*/ 535 h 657"/>
                <a:gd name="T92" fmla="*/ 585 w 659"/>
                <a:gd name="T93" fmla="*/ 468 h 657"/>
                <a:gd name="T94" fmla="*/ 614 w 659"/>
                <a:gd name="T95" fmla="*/ 387 h 657"/>
                <a:gd name="T96" fmla="*/ 621 w 659"/>
                <a:gd name="T97" fmla="*/ 328 h 657"/>
                <a:gd name="T98" fmla="*/ 608 w 659"/>
                <a:gd name="T99" fmla="*/ 242 h 657"/>
                <a:gd name="T100" fmla="*/ 571 w 659"/>
                <a:gd name="T101" fmla="*/ 166 h 657"/>
                <a:gd name="T102" fmla="*/ 515 w 659"/>
                <a:gd name="T103" fmla="*/ 104 h 657"/>
                <a:gd name="T104" fmla="*/ 442 w 659"/>
                <a:gd name="T105" fmla="*/ 61 h 657"/>
                <a:gd name="T106" fmla="*/ 359 w 659"/>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7">
                  <a:moveTo>
                    <a:pt x="330" y="657"/>
                  </a:moveTo>
                  <a:lnTo>
                    <a:pt x="330" y="657"/>
                  </a:lnTo>
                  <a:lnTo>
                    <a:pt x="312" y="657"/>
                  </a:lnTo>
                  <a:lnTo>
                    <a:pt x="296" y="656"/>
                  </a:lnTo>
                  <a:lnTo>
                    <a:pt x="280" y="653"/>
                  </a:lnTo>
                  <a:lnTo>
                    <a:pt x="264" y="650"/>
                  </a:lnTo>
                  <a:lnTo>
                    <a:pt x="248" y="646"/>
                  </a:lnTo>
                  <a:lnTo>
                    <a:pt x="231" y="642"/>
                  </a:lnTo>
                  <a:lnTo>
                    <a:pt x="202" y="632"/>
                  </a:lnTo>
                  <a:lnTo>
                    <a:pt x="172" y="618"/>
                  </a:lnTo>
                  <a:lnTo>
                    <a:pt x="146" y="601"/>
                  </a:lnTo>
                  <a:lnTo>
                    <a:pt x="120" y="582"/>
                  </a:lnTo>
                  <a:lnTo>
                    <a:pt x="97" y="560"/>
                  </a:lnTo>
                  <a:lnTo>
                    <a:pt x="76" y="538"/>
                  </a:lnTo>
                  <a:lnTo>
                    <a:pt x="57" y="512"/>
                  </a:lnTo>
                  <a:lnTo>
                    <a:pt x="41" y="485"/>
                  </a:lnTo>
                  <a:lnTo>
                    <a:pt x="26" y="457"/>
                  </a:lnTo>
                  <a:lnTo>
                    <a:pt x="15" y="426"/>
                  </a:lnTo>
                  <a:lnTo>
                    <a:pt x="11" y="411"/>
                  </a:lnTo>
                  <a:lnTo>
                    <a:pt x="7" y="395"/>
                  </a:lnTo>
                  <a:lnTo>
                    <a:pt x="4" y="379"/>
                  </a:lnTo>
                  <a:lnTo>
                    <a:pt x="2" y="362"/>
                  </a:lnTo>
                  <a:lnTo>
                    <a:pt x="0" y="346"/>
                  </a:lnTo>
                  <a:lnTo>
                    <a:pt x="0" y="328"/>
                  </a:lnTo>
                  <a:lnTo>
                    <a:pt x="0" y="328"/>
                  </a:lnTo>
                  <a:lnTo>
                    <a:pt x="0" y="312"/>
                  </a:lnTo>
                  <a:lnTo>
                    <a:pt x="2" y="294"/>
                  </a:lnTo>
                  <a:lnTo>
                    <a:pt x="4" y="278"/>
                  </a:lnTo>
                  <a:lnTo>
                    <a:pt x="7" y="262"/>
                  </a:lnTo>
                  <a:lnTo>
                    <a:pt x="11" y="246"/>
                  </a:lnTo>
                  <a:lnTo>
                    <a:pt x="15" y="231"/>
                  </a:lnTo>
                  <a:lnTo>
                    <a:pt x="26" y="200"/>
                  </a:lnTo>
                  <a:lnTo>
                    <a:pt x="41" y="172"/>
                  </a:lnTo>
                  <a:lnTo>
                    <a:pt x="57" y="145"/>
                  </a:lnTo>
                  <a:lnTo>
                    <a:pt x="76" y="120"/>
                  </a:lnTo>
                  <a:lnTo>
                    <a:pt x="97" y="96"/>
                  </a:lnTo>
                  <a:lnTo>
                    <a:pt x="120" y="76"/>
                  </a:lnTo>
                  <a:lnTo>
                    <a:pt x="146" y="57"/>
                  </a:lnTo>
                  <a:lnTo>
                    <a:pt x="172" y="39"/>
                  </a:lnTo>
                  <a:lnTo>
                    <a:pt x="202" y="26"/>
                  </a:lnTo>
                  <a:lnTo>
                    <a:pt x="231" y="15"/>
                  </a:lnTo>
                  <a:lnTo>
                    <a:pt x="248" y="10"/>
                  </a:lnTo>
                  <a:lnTo>
                    <a:pt x="264" y="7"/>
                  </a:lnTo>
                  <a:lnTo>
                    <a:pt x="280" y="3"/>
                  </a:lnTo>
                  <a:lnTo>
                    <a:pt x="296" y="2"/>
                  </a:lnTo>
                  <a:lnTo>
                    <a:pt x="312" y="0"/>
                  </a:lnTo>
                  <a:lnTo>
                    <a:pt x="330" y="0"/>
                  </a:lnTo>
                  <a:lnTo>
                    <a:pt x="330" y="0"/>
                  </a:lnTo>
                  <a:lnTo>
                    <a:pt x="346" y="0"/>
                  </a:lnTo>
                  <a:lnTo>
                    <a:pt x="363" y="2"/>
                  </a:lnTo>
                  <a:lnTo>
                    <a:pt x="379" y="3"/>
                  </a:lnTo>
                  <a:lnTo>
                    <a:pt x="395" y="7"/>
                  </a:lnTo>
                  <a:lnTo>
                    <a:pt x="411" y="10"/>
                  </a:lnTo>
                  <a:lnTo>
                    <a:pt x="428" y="15"/>
                  </a:lnTo>
                  <a:lnTo>
                    <a:pt x="457" y="26"/>
                  </a:lnTo>
                  <a:lnTo>
                    <a:pt x="485" y="39"/>
                  </a:lnTo>
                  <a:lnTo>
                    <a:pt x="514" y="57"/>
                  </a:lnTo>
                  <a:lnTo>
                    <a:pt x="539" y="76"/>
                  </a:lnTo>
                  <a:lnTo>
                    <a:pt x="562" y="96"/>
                  </a:lnTo>
                  <a:lnTo>
                    <a:pt x="583" y="120"/>
                  </a:lnTo>
                  <a:lnTo>
                    <a:pt x="602" y="145"/>
                  </a:lnTo>
                  <a:lnTo>
                    <a:pt x="618" y="172"/>
                  </a:lnTo>
                  <a:lnTo>
                    <a:pt x="632" y="200"/>
                  </a:lnTo>
                  <a:lnTo>
                    <a:pt x="644" y="231"/>
                  </a:lnTo>
                  <a:lnTo>
                    <a:pt x="648" y="246"/>
                  </a:lnTo>
                  <a:lnTo>
                    <a:pt x="652" y="262"/>
                  </a:lnTo>
                  <a:lnTo>
                    <a:pt x="655" y="278"/>
                  </a:lnTo>
                  <a:lnTo>
                    <a:pt x="656" y="294"/>
                  </a:lnTo>
                  <a:lnTo>
                    <a:pt x="657" y="312"/>
                  </a:lnTo>
                  <a:lnTo>
                    <a:pt x="659" y="328"/>
                  </a:lnTo>
                  <a:lnTo>
                    <a:pt x="659" y="328"/>
                  </a:lnTo>
                  <a:lnTo>
                    <a:pt x="657" y="346"/>
                  </a:lnTo>
                  <a:lnTo>
                    <a:pt x="656" y="362"/>
                  </a:lnTo>
                  <a:lnTo>
                    <a:pt x="655" y="379"/>
                  </a:lnTo>
                  <a:lnTo>
                    <a:pt x="652" y="395"/>
                  </a:lnTo>
                  <a:lnTo>
                    <a:pt x="648" y="411"/>
                  </a:lnTo>
                  <a:lnTo>
                    <a:pt x="644" y="426"/>
                  </a:lnTo>
                  <a:lnTo>
                    <a:pt x="632" y="457"/>
                  </a:lnTo>
                  <a:lnTo>
                    <a:pt x="618" y="485"/>
                  </a:lnTo>
                  <a:lnTo>
                    <a:pt x="602" y="512"/>
                  </a:lnTo>
                  <a:lnTo>
                    <a:pt x="583" y="538"/>
                  </a:lnTo>
                  <a:lnTo>
                    <a:pt x="562" y="560"/>
                  </a:lnTo>
                  <a:lnTo>
                    <a:pt x="539" y="582"/>
                  </a:lnTo>
                  <a:lnTo>
                    <a:pt x="514" y="601"/>
                  </a:lnTo>
                  <a:lnTo>
                    <a:pt x="485" y="618"/>
                  </a:lnTo>
                  <a:lnTo>
                    <a:pt x="457" y="632"/>
                  </a:lnTo>
                  <a:lnTo>
                    <a:pt x="428" y="642"/>
                  </a:lnTo>
                  <a:lnTo>
                    <a:pt x="411" y="646"/>
                  </a:lnTo>
                  <a:lnTo>
                    <a:pt x="395" y="650"/>
                  </a:lnTo>
                  <a:lnTo>
                    <a:pt x="379" y="653"/>
                  </a:lnTo>
                  <a:lnTo>
                    <a:pt x="363" y="656"/>
                  </a:lnTo>
                  <a:lnTo>
                    <a:pt x="346" y="657"/>
                  </a:lnTo>
                  <a:lnTo>
                    <a:pt x="330" y="657"/>
                  </a:lnTo>
                  <a:lnTo>
                    <a:pt x="330" y="657"/>
                  </a:lnTo>
                  <a:close/>
                  <a:moveTo>
                    <a:pt x="330" y="38"/>
                  </a:moveTo>
                  <a:lnTo>
                    <a:pt x="330" y="38"/>
                  </a:lnTo>
                  <a:lnTo>
                    <a:pt x="300" y="39"/>
                  </a:lnTo>
                  <a:lnTo>
                    <a:pt x="270" y="43"/>
                  </a:lnTo>
                  <a:lnTo>
                    <a:pt x="244" y="50"/>
                  </a:lnTo>
                  <a:lnTo>
                    <a:pt x="217" y="61"/>
                  </a:lnTo>
                  <a:lnTo>
                    <a:pt x="191" y="73"/>
                  </a:lnTo>
                  <a:lnTo>
                    <a:pt x="167" y="88"/>
                  </a:lnTo>
                  <a:lnTo>
                    <a:pt x="144" y="104"/>
                  </a:lnTo>
                  <a:lnTo>
                    <a:pt x="124" y="123"/>
                  </a:lnTo>
                  <a:lnTo>
                    <a:pt x="105" y="144"/>
                  </a:lnTo>
                  <a:lnTo>
                    <a:pt x="88" y="166"/>
                  </a:lnTo>
                  <a:lnTo>
                    <a:pt x="73" y="190"/>
                  </a:lnTo>
                  <a:lnTo>
                    <a:pt x="61" y="215"/>
                  </a:lnTo>
                  <a:lnTo>
                    <a:pt x="51" y="242"/>
                  </a:lnTo>
                  <a:lnTo>
                    <a:pt x="45" y="270"/>
                  </a:lnTo>
                  <a:lnTo>
                    <a:pt x="39" y="298"/>
                  </a:lnTo>
                  <a:lnTo>
                    <a:pt x="38" y="328"/>
                  </a:lnTo>
                  <a:lnTo>
                    <a:pt x="38" y="328"/>
                  </a:lnTo>
                  <a:lnTo>
                    <a:pt x="39" y="359"/>
                  </a:lnTo>
                  <a:lnTo>
                    <a:pt x="45" y="387"/>
                  </a:lnTo>
                  <a:lnTo>
                    <a:pt x="51" y="415"/>
                  </a:lnTo>
                  <a:lnTo>
                    <a:pt x="61" y="442"/>
                  </a:lnTo>
                  <a:lnTo>
                    <a:pt x="73" y="468"/>
                  </a:lnTo>
                  <a:lnTo>
                    <a:pt x="88" y="492"/>
                  </a:lnTo>
                  <a:lnTo>
                    <a:pt x="105" y="513"/>
                  </a:lnTo>
                  <a:lnTo>
                    <a:pt x="124" y="535"/>
                  </a:lnTo>
                  <a:lnTo>
                    <a:pt x="144" y="554"/>
                  </a:lnTo>
                  <a:lnTo>
                    <a:pt x="167" y="570"/>
                  </a:lnTo>
                  <a:lnTo>
                    <a:pt x="191" y="585"/>
                  </a:lnTo>
                  <a:lnTo>
                    <a:pt x="217" y="597"/>
                  </a:lnTo>
                  <a:lnTo>
                    <a:pt x="244" y="606"/>
                  </a:lnTo>
                  <a:lnTo>
                    <a:pt x="270" y="614"/>
                  </a:lnTo>
                  <a:lnTo>
                    <a:pt x="300" y="618"/>
                  </a:lnTo>
                  <a:lnTo>
                    <a:pt x="330" y="620"/>
                  </a:lnTo>
                  <a:lnTo>
                    <a:pt x="330" y="620"/>
                  </a:lnTo>
                  <a:lnTo>
                    <a:pt x="359" y="618"/>
                  </a:lnTo>
                  <a:lnTo>
                    <a:pt x="389" y="614"/>
                  </a:lnTo>
                  <a:lnTo>
                    <a:pt x="415" y="606"/>
                  </a:lnTo>
                  <a:lnTo>
                    <a:pt x="442" y="597"/>
                  </a:lnTo>
                  <a:lnTo>
                    <a:pt x="468" y="585"/>
                  </a:lnTo>
                  <a:lnTo>
                    <a:pt x="492" y="570"/>
                  </a:lnTo>
                  <a:lnTo>
                    <a:pt x="515" y="554"/>
                  </a:lnTo>
                  <a:lnTo>
                    <a:pt x="535" y="535"/>
                  </a:lnTo>
                  <a:lnTo>
                    <a:pt x="554" y="513"/>
                  </a:lnTo>
                  <a:lnTo>
                    <a:pt x="571" y="492"/>
                  </a:lnTo>
                  <a:lnTo>
                    <a:pt x="585" y="468"/>
                  </a:lnTo>
                  <a:lnTo>
                    <a:pt x="598" y="442"/>
                  </a:lnTo>
                  <a:lnTo>
                    <a:pt x="608" y="415"/>
                  </a:lnTo>
                  <a:lnTo>
                    <a:pt x="614" y="387"/>
                  </a:lnTo>
                  <a:lnTo>
                    <a:pt x="620" y="359"/>
                  </a:lnTo>
                  <a:lnTo>
                    <a:pt x="621" y="328"/>
                  </a:lnTo>
                  <a:lnTo>
                    <a:pt x="621" y="328"/>
                  </a:lnTo>
                  <a:lnTo>
                    <a:pt x="620" y="298"/>
                  </a:lnTo>
                  <a:lnTo>
                    <a:pt x="614" y="270"/>
                  </a:lnTo>
                  <a:lnTo>
                    <a:pt x="608" y="242"/>
                  </a:lnTo>
                  <a:lnTo>
                    <a:pt x="598" y="215"/>
                  </a:lnTo>
                  <a:lnTo>
                    <a:pt x="585" y="190"/>
                  </a:lnTo>
                  <a:lnTo>
                    <a:pt x="571" y="166"/>
                  </a:lnTo>
                  <a:lnTo>
                    <a:pt x="554" y="144"/>
                  </a:lnTo>
                  <a:lnTo>
                    <a:pt x="535" y="123"/>
                  </a:lnTo>
                  <a:lnTo>
                    <a:pt x="515" y="104"/>
                  </a:lnTo>
                  <a:lnTo>
                    <a:pt x="492" y="88"/>
                  </a:lnTo>
                  <a:lnTo>
                    <a:pt x="468" y="73"/>
                  </a:lnTo>
                  <a:lnTo>
                    <a:pt x="442" y="61"/>
                  </a:lnTo>
                  <a:lnTo>
                    <a:pt x="415" y="50"/>
                  </a:lnTo>
                  <a:lnTo>
                    <a:pt x="389" y="43"/>
                  </a:lnTo>
                  <a:lnTo>
                    <a:pt x="359" y="39"/>
                  </a:lnTo>
                  <a:lnTo>
                    <a:pt x="330" y="38"/>
                  </a:lnTo>
                  <a:lnTo>
                    <a:pt x="33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sp>
          <p:nvSpPr>
            <p:cNvPr id="5" name="Freeform 269">
              <a:extLst>
                <a:ext uri="{FF2B5EF4-FFF2-40B4-BE49-F238E27FC236}">
                  <a16:creationId xmlns:a16="http://schemas.microsoft.com/office/drawing/2014/main" id="{F7CFBDE5-1577-4ABB-A748-279829A39FF2}"/>
                </a:ext>
              </a:extLst>
            </p:cNvPr>
            <p:cNvSpPr>
              <a:spLocks/>
            </p:cNvSpPr>
            <p:nvPr/>
          </p:nvSpPr>
          <p:spPr bwMode="auto">
            <a:xfrm>
              <a:off x="3411538" y="4537075"/>
              <a:ext cx="85725" cy="39688"/>
            </a:xfrm>
            <a:custGeom>
              <a:avLst/>
              <a:gdLst>
                <a:gd name="T0" fmla="*/ 54 w 107"/>
                <a:gd name="T1" fmla="*/ 50 h 50"/>
                <a:gd name="T2" fmla="*/ 54 w 107"/>
                <a:gd name="T3" fmla="*/ 50 h 50"/>
                <a:gd name="T4" fmla="*/ 64 w 107"/>
                <a:gd name="T5" fmla="*/ 48 h 50"/>
                <a:gd name="T6" fmla="*/ 74 w 107"/>
                <a:gd name="T7" fmla="*/ 46 h 50"/>
                <a:gd name="T8" fmla="*/ 82 w 107"/>
                <a:gd name="T9" fmla="*/ 40 h 50"/>
                <a:gd name="T10" fmla="*/ 90 w 107"/>
                <a:gd name="T11" fmla="*/ 35 h 50"/>
                <a:gd name="T12" fmla="*/ 97 w 107"/>
                <a:gd name="T13" fmla="*/ 28 h 50"/>
                <a:gd name="T14" fmla="*/ 102 w 107"/>
                <a:gd name="T15" fmla="*/ 20 h 50"/>
                <a:gd name="T16" fmla="*/ 106 w 107"/>
                <a:gd name="T17" fmla="*/ 11 h 50"/>
                <a:gd name="T18" fmla="*/ 107 w 107"/>
                <a:gd name="T19" fmla="*/ 0 h 50"/>
                <a:gd name="T20" fmla="*/ 0 w 107"/>
                <a:gd name="T21" fmla="*/ 0 h 50"/>
                <a:gd name="T22" fmla="*/ 0 w 107"/>
                <a:gd name="T23" fmla="*/ 0 h 50"/>
                <a:gd name="T24" fmla="*/ 1 w 107"/>
                <a:gd name="T25" fmla="*/ 11 h 50"/>
                <a:gd name="T26" fmla="*/ 5 w 107"/>
                <a:gd name="T27" fmla="*/ 20 h 50"/>
                <a:gd name="T28" fmla="*/ 11 w 107"/>
                <a:gd name="T29" fmla="*/ 28 h 50"/>
                <a:gd name="T30" fmla="*/ 17 w 107"/>
                <a:gd name="T31" fmla="*/ 35 h 50"/>
                <a:gd name="T32" fmla="*/ 25 w 107"/>
                <a:gd name="T33" fmla="*/ 40 h 50"/>
                <a:gd name="T34" fmla="*/ 33 w 107"/>
                <a:gd name="T35" fmla="*/ 46 h 50"/>
                <a:gd name="T36" fmla="*/ 43 w 107"/>
                <a:gd name="T37" fmla="*/ 48 h 50"/>
                <a:gd name="T38" fmla="*/ 54 w 107"/>
                <a:gd name="T39" fmla="*/ 50 h 50"/>
                <a:gd name="T40" fmla="*/ 54 w 107"/>
                <a:gd name="T41"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50">
                  <a:moveTo>
                    <a:pt x="54" y="50"/>
                  </a:moveTo>
                  <a:lnTo>
                    <a:pt x="54" y="50"/>
                  </a:lnTo>
                  <a:lnTo>
                    <a:pt x="64" y="48"/>
                  </a:lnTo>
                  <a:lnTo>
                    <a:pt x="74" y="46"/>
                  </a:lnTo>
                  <a:lnTo>
                    <a:pt x="82" y="40"/>
                  </a:lnTo>
                  <a:lnTo>
                    <a:pt x="90" y="35"/>
                  </a:lnTo>
                  <a:lnTo>
                    <a:pt x="97" y="28"/>
                  </a:lnTo>
                  <a:lnTo>
                    <a:pt x="102" y="20"/>
                  </a:lnTo>
                  <a:lnTo>
                    <a:pt x="106" y="11"/>
                  </a:lnTo>
                  <a:lnTo>
                    <a:pt x="107" y="0"/>
                  </a:lnTo>
                  <a:lnTo>
                    <a:pt x="0" y="0"/>
                  </a:lnTo>
                  <a:lnTo>
                    <a:pt x="0" y="0"/>
                  </a:lnTo>
                  <a:lnTo>
                    <a:pt x="1" y="11"/>
                  </a:lnTo>
                  <a:lnTo>
                    <a:pt x="5" y="20"/>
                  </a:lnTo>
                  <a:lnTo>
                    <a:pt x="11" y="28"/>
                  </a:lnTo>
                  <a:lnTo>
                    <a:pt x="17" y="35"/>
                  </a:lnTo>
                  <a:lnTo>
                    <a:pt x="25" y="40"/>
                  </a:lnTo>
                  <a:lnTo>
                    <a:pt x="33" y="46"/>
                  </a:lnTo>
                  <a:lnTo>
                    <a:pt x="43" y="48"/>
                  </a:lnTo>
                  <a:lnTo>
                    <a:pt x="54" y="50"/>
                  </a:lnTo>
                  <a:lnTo>
                    <a:pt x="54"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sp>
          <p:nvSpPr>
            <p:cNvPr id="6" name="Freeform 270">
              <a:extLst>
                <a:ext uri="{FF2B5EF4-FFF2-40B4-BE49-F238E27FC236}">
                  <a16:creationId xmlns:a16="http://schemas.microsoft.com/office/drawing/2014/main" id="{475816FB-FDAD-4E44-86C9-FAFA9341D8D3}"/>
                </a:ext>
              </a:extLst>
            </p:cNvPr>
            <p:cNvSpPr>
              <a:spLocks/>
            </p:cNvSpPr>
            <p:nvPr/>
          </p:nvSpPr>
          <p:spPr bwMode="auto">
            <a:xfrm>
              <a:off x="3359151" y="4314825"/>
              <a:ext cx="190500" cy="209550"/>
            </a:xfrm>
            <a:custGeom>
              <a:avLst/>
              <a:gdLst>
                <a:gd name="T0" fmla="*/ 106 w 239"/>
                <a:gd name="T1" fmla="*/ 0 h 265"/>
                <a:gd name="T2" fmla="*/ 86 w 239"/>
                <a:gd name="T3" fmla="*/ 4 h 265"/>
                <a:gd name="T4" fmla="*/ 52 w 239"/>
                <a:gd name="T5" fmla="*/ 20 h 265"/>
                <a:gd name="T6" fmla="*/ 24 w 239"/>
                <a:gd name="T7" fmla="*/ 47 h 265"/>
                <a:gd name="T8" fmla="*/ 7 w 239"/>
                <a:gd name="T9" fmla="*/ 81 h 265"/>
                <a:gd name="T10" fmla="*/ 1 w 239"/>
                <a:gd name="T11" fmla="*/ 100 h 265"/>
                <a:gd name="T12" fmla="*/ 0 w 239"/>
                <a:gd name="T13" fmla="*/ 110 h 265"/>
                <a:gd name="T14" fmla="*/ 1 w 239"/>
                <a:gd name="T15" fmla="*/ 139 h 265"/>
                <a:gd name="T16" fmla="*/ 13 w 239"/>
                <a:gd name="T17" fmla="*/ 175 h 265"/>
                <a:gd name="T18" fmla="*/ 36 w 239"/>
                <a:gd name="T19" fmla="*/ 203 h 265"/>
                <a:gd name="T20" fmla="*/ 66 w 239"/>
                <a:gd name="T21" fmla="*/ 225 h 265"/>
                <a:gd name="T22" fmla="*/ 114 w 239"/>
                <a:gd name="T23" fmla="*/ 265 h 265"/>
                <a:gd name="T24" fmla="*/ 114 w 239"/>
                <a:gd name="T25" fmla="*/ 151 h 265"/>
                <a:gd name="T26" fmla="*/ 90 w 239"/>
                <a:gd name="T27" fmla="*/ 145 h 265"/>
                <a:gd name="T28" fmla="*/ 71 w 239"/>
                <a:gd name="T29" fmla="*/ 131 h 265"/>
                <a:gd name="T30" fmla="*/ 59 w 239"/>
                <a:gd name="T31" fmla="*/ 110 h 265"/>
                <a:gd name="T32" fmla="*/ 55 w 239"/>
                <a:gd name="T33" fmla="*/ 86 h 265"/>
                <a:gd name="T34" fmla="*/ 55 w 239"/>
                <a:gd name="T35" fmla="*/ 75 h 265"/>
                <a:gd name="T36" fmla="*/ 74 w 239"/>
                <a:gd name="T37" fmla="*/ 78 h 265"/>
                <a:gd name="T38" fmla="*/ 90 w 239"/>
                <a:gd name="T39" fmla="*/ 86 h 265"/>
                <a:gd name="T40" fmla="*/ 105 w 239"/>
                <a:gd name="T41" fmla="*/ 98 h 265"/>
                <a:gd name="T42" fmla="*/ 114 w 239"/>
                <a:gd name="T43" fmla="*/ 114 h 265"/>
                <a:gd name="T44" fmla="*/ 114 w 239"/>
                <a:gd name="T45" fmla="*/ 54 h 265"/>
                <a:gd name="T46" fmla="*/ 115 w 239"/>
                <a:gd name="T47" fmla="*/ 50 h 265"/>
                <a:gd name="T48" fmla="*/ 120 w 239"/>
                <a:gd name="T49" fmla="*/ 49 h 265"/>
                <a:gd name="T50" fmla="*/ 121 w 239"/>
                <a:gd name="T51" fmla="*/ 49 h 265"/>
                <a:gd name="T52" fmla="*/ 125 w 239"/>
                <a:gd name="T53" fmla="*/ 51 h 265"/>
                <a:gd name="T54" fmla="*/ 125 w 239"/>
                <a:gd name="T55" fmla="*/ 157 h 265"/>
                <a:gd name="T56" fmla="*/ 129 w 239"/>
                <a:gd name="T57" fmla="*/ 149 h 265"/>
                <a:gd name="T58" fmla="*/ 141 w 239"/>
                <a:gd name="T59" fmla="*/ 136 h 265"/>
                <a:gd name="T60" fmla="*/ 157 w 239"/>
                <a:gd name="T61" fmla="*/ 125 h 265"/>
                <a:gd name="T62" fmla="*/ 175 w 239"/>
                <a:gd name="T63" fmla="*/ 120 h 265"/>
                <a:gd name="T64" fmla="*/ 184 w 239"/>
                <a:gd name="T65" fmla="*/ 129 h 265"/>
                <a:gd name="T66" fmla="*/ 183 w 239"/>
                <a:gd name="T67" fmla="*/ 143 h 265"/>
                <a:gd name="T68" fmla="*/ 175 w 239"/>
                <a:gd name="T69" fmla="*/ 164 h 265"/>
                <a:gd name="T70" fmla="*/ 158 w 239"/>
                <a:gd name="T71" fmla="*/ 182 h 265"/>
                <a:gd name="T72" fmla="*/ 137 w 239"/>
                <a:gd name="T73" fmla="*/ 192 h 265"/>
                <a:gd name="T74" fmla="*/ 125 w 239"/>
                <a:gd name="T75" fmla="*/ 265 h 265"/>
                <a:gd name="T76" fmla="*/ 173 w 239"/>
                <a:gd name="T77" fmla="*/ 225 h 265"/>
                <a:gd name="T78" fmla="*/ 188 w 239"/>
                <a:gd name="T79" fmla="*/ 217 h 265"/>
                <a:gd name="T80" fmla="*/ 211 w 239"/>
                <a:gd name="T81" fmla="*/ 195 h 265"/>
                <a:gd name="T82" fmla="*/ 228 w 239"/>
                <a:gd name="T83" fmla="*/ 168 h 265"/>
                <a:gd name="T84" fmla="*/ 238 w 239"/>
                <a:gd name="T85" fmla="*/ 136 h 265"/>
                <a:gd name="T86" fmla="*/ 239 w 239"/>
                <a:gd name="T87" fmla="*/ 118 h 265"/>
                <a:gd name="T88" fmla="*/ 236 w 239"/>
                <a:gd name="T89" fmla="*/ 93 h 265"/>
                <a:gd name="T90" fmla="*/ 228 w 239"/>
                <a:gd name="T91" fmla="*/ 70 h 265"/>
                <a:gd name="T92" fmla="*/ 215 w 239"/>
                <a:gd name="T93" fmla="*/ 49 h 265"/>
                <a:gd name="T94" fmla="*/ 199 w 239"/>
                <a:gd name="T95" fmla="*/ 30 h 265"/>
                <a:gd name="T96" fmla="*/ 180 w 239"/>
                <a:gd name="T97" fmla="*/ 16 h 265"/>
                <a:gd name="T98" fmla="*/ 157 w 239"/>
                <a:gd name="T99" fmla="*/ 6 h 265"/>
                <a:gd name="T100" fmla="*/ 132 w 239"/>
                <a:gd name="T101" fmla="*/ 0 h 265"/>
                <a:gd name="T102" fmla="*/ 106 w 239"/>
                <a:gd name="T103"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9" h="265">
                  <a:moveTo>
                    <a:pt x="106" y="0"/>
                  </a:moveTo>
                  <a:lnTo>
                    <a:pt x="106" y="0"/>
                  </a:lnTo>
                  <a:lnTo>
                    <a:pt x="95" y="2"/>
                  </a:lnTo>
                  <a:lnTo>
                    <a:pt x="86" y="4"/>
                  </a:lnTo>
                  <a:lnTo>
                    <a:pt x="68" y="11"/>
                  </a:lnTo>
                  <a:lnTo>
                    <a:pt x="52" y="20"/>
                  </a:lnTo>
                  <a:lnTo>
                    <a:pt x="38" y="32"/>
                  </a:lnTo>
                  <a:lnTo>
                    <a:pt x="24" y="47"/>
                  </a:lnTo>
                  <a:lnTo>
                    <a:pt x="13" y="63"/>
                  </a:lnTo>
                  <a:lnTo>
                    <a:pt x="7" y="81"/>
                  </a:lnTo>
                  <a:lnTo>
                    <a:pt x="4" y="90"/>
                  </a:lnTo>
                  <a:lnTo>
                    <a:pt x="1" y="100"/>
                  </a:lnTo>
                  <a:lnTo>
                    <a:pt x="1" y="100"/>
                  </a:lnTo>
                  <a:lnTo>
                    <a:pt x="0" y="110"/>
                  </a:lnTo>
                  <a:lnTo>
                    <a:pt x="0" y="120"/>
                  </a:lnTo>
                  <a:lnTo>
                    <a:pt x="1" y="139"/>
                  </a:lnTo>
                  <a:lnTo>
                    <a:pt x="7" y="157"/>
                  </a:lnTo>
                  <a:lnTo>
                    <a:pt x="13" y="175"/>
                  </a:lnTo>
                  <a:lnTo>
                    <a:pt x="24" y="190"/>
                  </a:lnTo>
                  <a:lnTo>
                    <a:pt x="36" y="203"/>
                  </a:lnTo>
                  <a:lnTo>
                    <a:pt x="50" y="215"/>
                  </a:lnTo>
                  <a:lnTo>
                    <a:pt x="66" y="225"/>
                  </a:lnTo>
                  <a:lnTo>
                    <a:pt x="66" y="265"/>
                  </a:lnTo>
                  <a:lnTo>
                    <a:pt x="114" y="265"/>
                  </a:lnTo>
                  <a:lnTo>
                    <a:pt x="114" y="151"/>
                  </a:lnTo>
                  <a:lnTo>
                    <a:pt x="114" y="151"/>
                  </a:lnTo>
                  <a:lnTo>
                    <a:pt x="102" y="149"/>
                  </a:lnTo>
                  <a:lnTo>
                    <a:pt x="90" y="145"/>
                  </a:lnTo>
                  <a:lnTo>
                    <a:pt x="81" y="139"/>
                  </a:lnTo>
                  <a:lnTo>
                    <a:pt x="71" y="131"/>
                  </a:lnTo>
                  <a:lnTo>
                    <a:pt x="64" y="121"/>
                  </a:lnTo>
                  <a:lnTo>
                    <a:pt x="59" y="110"/>
                  </a:lnTo>
                  <a:lnTo>
                    <a:pt x="55" y="98"/>
                  </a:lnTo>
                  <a:lnTo>
                    <a:pt x="55" y="86"/>
                  </a:lnTo>
                  <a:lnTo>
                    <a:pt x="55" y="75"/>
                  </a:lnTo>
                  <a:lnTo>
                    <a:pt x="55" y="75"/>
                  </a:lnTo>
                  <a:lnTo>
                    <a:pt x="64" y="77"/>
                  </a:lnTo>
                  <a:lnTo>
                    <a:pt x="74" y="78"/>
                  </a:lnTo>
                  <a:lnTo>
                    <a:pt x="82" y="82"/>
                  </a:lnTo>
                  <a:lnTo>
                    <a:pt x="90" y="86"/>
                  </a:lnTo>
                  <a:lnTo>
                    <a:pt x="98" y="92"/>
                  </a:lnTo>
                  <a:lnTo>
                    <a:pt x="105" y="98"/>
                  </a:lnTo>
                  <a:lnTo>
                    <a:pt x="110" y="106"/>
                  </a:lnTo>
                  <a:lnTo>
                    <a:pt x="114" y="114"/>
                  </a:lnTo>
                  <a:lnTo>
                    <a:pt x="114" y="54"/>
                  </a:lnTo>
                  <a:lnTo>
                    <a:pt x="114" y="54"/>
                  </a:lnTo>
                  <a:lnTo>
                    <a:pt x="114" y="51"/>
                  </a:lnTo>
                  <a:lnTo>
                    <a:pt x="115" y="50"/>
                  </a:lnTo>
                  <a:lnTo>
                    <a:pt x="117" y="49"/>
                  </a:lnTo>
                  <a:lnTo>
                    <a:pt x="120" y="49"/>
                  </a:lnTo>
                  <a:lnTo>
                    <a:pt x="120" y="49"/>
                  </a:lnTo>
                  <a:lnTo>
                    <a:pt x="121" y="49"/>
                  </a:lnTo>
                  <a:lnTo>
                    <a:pt x="124" y="50"/>
                  </a:lnTo>
                  <a:lnTo>
                    <a:pt x="125" y="51"/>
                  </a:lnTo>
                  <a:lnTo>
                    <a:pt x="125" y="54"/>
                  </a:lnTo>
                  <a:lnTo>
                    <a:pt x="125" y="157"/>
                  </a:lnTo>
                  <a:lnTo>
                    <a:pt x="125" y="157"/>
                  </a:lnTo>
                  <a:lnTo>
                    <a:pt x="129" y="149"/>
                  </a:lnTo>
                  <a:lnTo>
                    <a:pt x="134" y="143"/>
                  </a:lnTo>
                  <a:lnTo>
                    <a:pt x="141" y="136"/>
                  </a:lnTo>
                  <a:lnTo>
                    <a:pt x="148" y="129"/>
                  </a:lnTo>
                  <a:lnTo>
                    <a:pt x="157" y="125"/>
                  </a:lnTo>
                  <a:lnTo>
                    <a:pt x="165" y="121"/>
                  </a:lnTo>
                  <a:lnTo>
                    <a:pt x="175" y="120"/>
                  </a:lnTo>
                  <a:lnTo>
                    <a:pt x="184" y="118"/>
                  </a:lnTo>
                  <a:lnTo>
                    <a:pt x="184" y="129"/>
                  </a:lnTo>
                  <a:lnTo>
                    <a:pt x="184" y="129"/>
                  </a:lnTo>
                  <a:lnTo>
                    <a:pt x="183" y="143"/>
                  </a:lnTo>
                  <a:lnTo>
                    <a:pt x="180" y="153"/>
                  </a:lnTo>
                  <a:lnTo>
                    <a:pt x="175" y="164"/>
                  </a:lnTo>
                  <a:lnTo>
                    <a:pt x="167" y="174"/>
                  </a:lnTo>
                  <a:lnTo>
                    <a:pt x="158" y="182"/>
                  </a:lnTo>
                  <a:lnTo>
                    <a:pt x="148" y="188"/>
                  </a:lnTo>
                  <a:lnTo>
                    <a:pt x="137" y="192"/>
                  </a:lnTo>
                  <a:lnTo>
                    <a:pt x="125" y="195"/>
                  </a:lnTo>
                  <a:lnTo>
                    <a:pt x="125" y="265"/>
                  </a:lnTo>
                  <a:lnTo>
                    <a:pt x="173" y="265"/>
                  </a:lnTo>
                  <a:lnTo>
                    <a:pt x="173" y="225"/>
                  </a:lnTo>
                  <a:lnTo>
                    <a:pt x="173" y="225"/>
                  </a:lnTo>
                  <a:lnTo>
                    <a:pt x="188" y="217"/>
                  </a:lnTo>
                  <a:lnTo>
                    <a:pt x="200" y="207"/>
                  </a:lnTo>
                  <a:lnTo>
                    <a:pt x="211" y="195"/>
                  </a:lnTo>
                  <a:lnTo>
                    <a:pt x="220" y="182"/>
                  </a:lnTo>
                  <a:lnTo>
                    <a:pt x="228" y="168"/>
                  </a:lnTo>
                  <a:lnTo>
                    <a:pt x="234" y="152"/>
                  </a:lnTo>
                  <a:lnTo>
                    <a:pt x="238" y="136"/>
                  </a:lnTo>
                  <a:lnTo>
                    <a:pt x="239" y="118"/>
                  </a:lnTo>
                  <a:lnTo>
                    <a:pt x="239" y="118"/>
                  </a:lnTo>
                  <a:lnTo>
                    <a:pt x="238" y="106"/>
                  </a:lnTo>
                  <a:lnTo>
                    <a:pt x="236" y="93"/>
                  </a:lnTo>
                  <a:lnTo>
                    <a:pt x="232" y="81"/>
                  </a:lnTo>
                  <a:lnTo>
                    <a:pt x="228" y="70"/>
                  </a:lnTo>
                  <a:lnTo>
                    <a:pt x="222" y="59"/>
                  </a:lnTo>
                  <a:lnTo>
                    <a:pt x="215" y="49"/>
                  </a:lnTo>
                  <a:lnTo>
                    <a:pt x="208" y="39"/>
                  </a:lnTo>
                  <a:lnTo>
                    <a:pt x="199" y="30"/>
                  </a:lnTo>
                  <a:lnTo>
                    <a:pt x="189" y="23"/>
                  </a:lnTo>
                  <a:lnTo>
                    <a:pt x="180" y="16"/>
                  </a:lnTo>
                  <a:lnTo>
                    <a:pt x="168" y="10"/>
                  </a:lnTo>
                  <a:lnTo>
                    <a:pt x="157" y="6"/>
                  </a:lnTo>
                  <a:lnTo>
                    <a:pt x="145" y="3"/>
                  </a:lnTo>
                  <a:lnTo>
                    <a:pt x="132" y="0"/>
                  </a:lnTo>
                  <a:lnTo>
                    <a:pt x="120" y="0"/>
                  </a:lnTo>
                  <a:lnTo>
                    <a:pt x="106" y="0"/>
                  </a:lnTo>
                  <a:lnTo>
                    <a:pt x="10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spTree>
    <p:extLst>
      <p:ext uri="{BB962C8B-B14F-4D97-AF65-F5344CB8AC3E}">
        <p14:creationId xmlns:p14="http://schemas.microsoft.com/office/powerpoint/2010/main" val="2620348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eaLnBrk="1" fontAlgn="auto" latinLnBrk="0" hangingPunct="1">
              <a:lnSpc>
                <a:spcPct val="100000"/>
              </a:lnSpc>
              <a:spcBef>
                <a:spcPts val="0"/>
              </a:spcBef>
              <a:spcAft>
                <a:spcPts val="0"/>
              </a:spcAft>
              <a:buClrTx/>
              <a:buSzTx/>
              <a:buFontTx/>
              <a:buNone/>
              <a:tabLst/>
              <a:defRPr/>
            </a:pPr>
            <a:br>
              <a:rPr kumimoji="0" lang="he-IL" sz="5400" b="1" i="0" u="sng"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b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1A295D"/>
                </a:solidFill>
                <a:effectLst/>
                <a:uLnTx/>
                <a:uFillTx/>
                <a:latin typeface="Open Sans" panose="020B0606030504020204" pitchFamily="34" charset="0"/>
                <a:ea typeface="+mn-ea"/>
                <a:cs typeface="Calibri"/>
              </a:rPr>
              <a:t>                                                                                       </a:t>
            </a: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32575" y="6325891"/>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66473" y="6320543"/>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502443"/>
            <a:ext cx="12052699" cy="1723549"/>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a:spcAft>
                <a:spcPts val="1200"/>
              </a:spcAft>
              <a:defRPr/>
            </a:pPr>
            <a:r>
              <a:rPr kumimoji="0" lang="he-IL" sz="48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רפורמת סל תפקוד אישי</a:t>
            </a:r>
            <a:r>
              <a:rPr lang="he-IL" sz="480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 </a:t>
            </a:r>
            <a:r>
              <a:rPr lang="en-US" sz="480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AI</a:t>
            </a:r>
            <a:endPar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endParaRPr>
          </a:p>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מהלך </a:t>
            </a:r>
            <a:r>
              <a:rPr kumimoji="0" lang="he-IL" sz="4800" b="0" i="0" u="none" strike="noStrike" kern="1200" cap="none" spc="0" normalizeH="0" baseline="0" noProof="0" dirty="0" err="1">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הדיגיטל</a:t>
            </a: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endPar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853026" y="6227261"/>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3810968" y="6125988"/>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8759719" y="6137367"/>
            <a:ext cx="1190944" cy="652185"/>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69647" y="6360796"/>
            <a:ext cx="1441485"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ספטמבר 2024</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8" name="Picture 5" descr="Logo&#10;&#10;Description automatically generated">
            <a:extLst>
              <a:ext uri="{FF2B5EF4-FFF2-40B4-BE49-F238E27FC236}">
                <a16:creationId xmlns:a16="http://schemas.microsoft.com/office/drawing/2014/main" id="{B3A6107C-FA07-C282-A299-502C6E7D5C22}"/>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543471" y="6181956"/>
            <a:ext cx="914227" cy="607596"/>
          </a:xfrm>
          <a:prstGeom prst="rect">
            <a:avLst/>
          </a:prstGeom>
        </p:spPr>
      </p:pic>
    </p:spTree>
    <p:extLst>
      <p:ext uri="{BB962C8B-B14F-4D97-AF65-F5344CB8AC3E}">
        <p14:creationId xmlns:p14="http://schemas.microsoft.com/office/powerpoint/2010/main" val="198068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3806"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69720" y="2966542"/>
            <a:ext cx="899371" cy="945221"/>
          </a:xfrm>
          <a:prstGeom prst="rect">
            <a:avLst/>
          </a:prstGeom>
        </p:spPr>
      </p:pic>
      <p:pic>
        <p:nvPicPr>
          <p:cNvPr id="2" name="Picture 26">
            <a:extLst>
              <a:ext uri="{FF2B5EF4-FFF2-40B4-BE49-F238E27FC236}">
                <a16:creationId xmlns:a16="http://schemas.microsoft.com/office/drawing/2014/main" id="{2A234E56-D452-572C-2656-F1C61F287E0D}"/>
              </a:ext>
            </a:extLst>
          </p:cNvPr>
          <p:cNvPicPr>
            <a:picLocks noChangeAspect="1"/>
          </p:cNvPicPr>
          <p:nvPr/>
        </p:nvPicPr>
        <p:blipFill>
          <a:blip r:embed="rId5"/>
          <a:stretch>
            <a:fillRect/>
          </a:stretch>
        </p:blipFill>
        <p:spPr>
          <a:xfrm>
            <a:off x="371548" y="6181722"/>
            <a:ext cx="1118350" cy="612431"/>
          </a:xfrm>
          <a:prstGeom prst="rect">
            <a:avLst/>
          </a:prstGeom>
          <a:ln>
            <a:noFill/>
          </a:ln>
        </p:spPr>
      </p:pic>
    </p:spTree>
    <p:extLst>
      <p:ext uri="{BB962C8B-B14F-4D97-AF65-F5344CB8AC3E}">
        <p14:creationId xmlns:p14="http://schemas.microsoft.com/office/powerpoint/2010/main" val="2243344793"/>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6349013" y="288622"/>
            <a:ext cx="4863832" cy="83099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10" name="TextBox 10">
            <a:extLst>
              <a:ext uri="{FF2B5EF4-FFF2-40B4-BE49-F238E27FC236}">
                <a16:creationId xmlns:a16="http://schemas.microsoft.com/office/drawing/2014/main" id="{B03FC295-30D6-10D0-072F-E2AA6379B3D3}"/>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
        <p:nvSpPr>
          <p:cNvPr id="11" name="מלבן 10">
            <a:extLst>
              <a:ext uri="{FF2B5EF4-FFF2-40B4-BE49-F238E27FC236}">
                <a16:creationId xmlns:a16="http://schemas.microsoft.com/office/drawing/2014/main" id="{F3D0B010-7900-E563-F747-BA8A5A39061C}"/>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 name="TextBox 26">
            <a:extLst>
              <a:ext uri="{FF2B5EF4-FFF2-40B4-BE49-F238E27FC236}">
                <a16:creationId xmlns:a16="http://schemas.microsoft.com/office/drawing/2014/main" id="{CCE38114-601E-DA4B-CD93-C3C287D2D742}"/>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2276989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AI</a:t>
            </a:r>
            <a:endPar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252834" y="343246"/>
            <a:ext cx="2358692"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
        <p:nvSpPr>
          <p:cNvPr id="12" name="מלבן 11">
            <a:extLst>
              <a:ext uri="{FF2B5EF4-FFF2-40B4-BE49-F238E27FC236}">
                <a16:creationId xmlns:a16="http://schemas.microsoft.com/office/drawing/2014/main" id="{62F4F87C-DAC1-8F13-CBF9-48B2189DC8D9}"/>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3" name="TextBox 26">
            <a:extLst>
              <a:ext uri="{FF2B5EF4-FFF2-40B4-BE49-F238E27FC236}">
                <a16:creationId xmlns:a16="http://schemas.microsoft.com/office/drawing/2014/main" id="{D58E5FAA-8319-DA2C-6AD0-E5D6CD104AE9}"/>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1632922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10360EE5-8DC6-4301-B9E8-37FCF90E9F20}"/>
              </a:ext>
            </a:extLst>
          </p:cNvPr>
          <p:cNvSpPr txBox="1"/>
          <p:nvPr/>
        </p:nvSpPr>
        <p:spPr>
          <a:xfrm>
            <a:off x="425618" y="228432"/>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 (</a:t>
            </a:r>
            <a: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a:t>
            </a: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3168472" y="267714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3168472" y="3036888"/>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3168472" y="3439804"/>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955161" y="296974"/>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6" name="TextBox 10">
            <a:extLst>
              <a:ext uri="{FF2B5EF4-FFF2-40B4-BE49-F238E27FC236}">
                <a16:creationId xmlns:a16="http://schemas.microsoft.com/office/drawing/2014/main" id="{9CBB1340-D6E1-C867-8024-E50C5F69FC9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graphicFrame>
        <p:nvGraphicFramePr>
          <p:cNvPr id="9" name="טבלה 8">
            <a:extLst>
              <a:ext uri="{FF2B5EF4-FFF2-40B4-BE49-F238E27FC236}">
                <a16:creationId xmlns:a16="http://schemas.microsoft.com/office/drawing/2014/main" id="{1287A630-2018-D8E2-FE62-87F854CEBED7}"/>
              </a:ext>
            </a:extLst>
          </p:cNvPr>
          <p:cNvGraphicFramePr>
            <a:graphicFrameLocks noGrp="1"/>
          </p:cNvGraphicFramePr>
          <p:nvPr>
            <p:extLst>
              <p:ext uri="{D42A27DB-BD31-4B8C-83A1-F6EECF244321}">
                <p14:modId xmlns:p14="http://schemas.microsoft.com/office/powerpoint/2010/main" val="197118801"/>
              </p:ext>
            </p:extLst>
          </p:nvPr>
        </p:nvGraphicFramePr>
        <p:xfrm>
          <a:off x="-4415968" y="7212052"/>
          <a:ext cx="4315327" cy="1870075"/>
        </p:xfrm>
        <a:graphic>
          <a:graphicData uri="http://schemas.openxmlformats.org/drawingml/2006/table">
            <a:tbl>
              <a:tblPr firstRow="1" firstCol="1" bandRow="1">
                <a:tableStyleId>{72833802-FEF1-4C79-8D5D-14CF1EAF98D9}</a:tableStyleId>
              </a:tblPr>
              <a:tblGrid>
                <a:gridCol w="2081463">
                  <a:extLst>
                    <a:ext uri="{9D8B030D-6E8A-4147-A177-3AD203B41FA5}">
                      <a16:colId xmlns:a16="http://schemas.microsoft.com/office/drawing/2014/main" val="2671734242"/>
                    </a:ext>
                  </a:extLst>
                </a:gridCol>
                <a:gridCol w="2233864">
                  <a:extLst>
                    <a:ext uri="{9D8B030D-6E8A-4147-A177-3AD203B41FA5}">
                      <a16:colId xmlns:a16="http://schemas.microsoft.com/office/drawing/2014/main" val="837711101"/>
                    </a:ext>
                  </a:extLst>
                </a:gridCol>
              </a:tblGrid>
              <a:tr h="164802">
                <a:tc>
                  <a:txBody>
                    <a:bodyPr/>
                    <a:lstStyle/>
                    <a:p>
                      <a:pPr algn="r" rtl="1">
                        <a:lnSpc>
                          <a:spcPct val="107000"/>
                        </a:lnSpc>
                        <a:spcAft>
                          <a:spcPts val="800"/>
                        </a:spcAft>
                      </a:pPr>
                      <a:r>
                        <a:rPr lang="he-IL" sz="2400" dirty="0">
                          <a:effectLst/>
                        </a:rPr>
                        <a:t>גישה נוכחית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dirty="0">
                          <a:effectLst/>
                        </a:rPr>
                        <a:t>גישה חדשה</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73791818"/>
                  </a:ext>
                </a:extLst>
              </a:tr>
              <a:tr h="164802">
                <a:tc>
                  <a:txBody>
                    <a:bodyPr/>
                    <a:lstStyle/>
                    <a:p>
                      <a:pPr algn="r" rtl="1">
                        <a:lnSpc>
                          <a:spcPct val="107000"/>
                        </a:lnSpc>
                        <a:spcAft>
                          <a:spcPts val="800"/>
                        </a:spcAft>
                      </a:pPr>
                      <a:r>
                        <a:rPr lang="he-IL" sz="2400" b="0">
                          <a:effectLst/>
                        </a:rPr>
                        <a:t>מיקוד בטיפול</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a:effectLst/>
                        </a:rPr>
                        <a:t>דגש על מניעה</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24532159"/>
                  </a:ext>
                </a:extLst>
              </a:tr>
              <a:tr h="164802">
                <a:tc>
                  <a:txBody>
                    <a:bodyPr/>
                    <a:lstStyle/>
                    <a:p>
                      <a:pPr algn="r" rtl="1">
                        <a:lnSpc>
                          <a:spcPct val="107000"/>
                        </a:lnSpc>
                        <a:spcAft>
                          <a:spcPts val="800"/>
                        </a:spcAft>
                      </a:pPr>
                      <a:r>
                        <a:rPr lang="he-IL" sz="2400" b="0">
                          <a:effectLst/>
                        </a:rPr>
                        <a:t>סל קבוע</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a:effectLst/>
                        </a:rPr>
                        <a:t>סל דינמי ומותאם</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3171363"/>
                  </a:ext>
                </a:extLst>
              </a:tr>
              <a:tr h="164802">
                <a:tc>
                  <a:txBody>
                    <a:bodyPr/>
                    <a:lstStyle/>
                    <a:p>
                      <a:pPr algn="r" rtl="1">
                        <a:lnSpc>
                          <a:spcPct val="107000"/>
                        </a:lnSpc>
                        <a:spcAft>
                          <a:spcPts val="800"/>
                        </a:spcAft>
                      </a:pPr>
                      <a:r>
                        <a:rPr lang="he-IL" sz="2400" b="0" dirty="0">
                          <a:effectLst/>
                        </a:rPr>
                        <a:t>מענה להידרדרות</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dirty="0">
                          <a:effectLst/>
                        </a:rPr>
                        <a:t>שימור תפקוד</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06274231"/>
                  </a:ext>
                </a:extLst>
              </a:tr>
              <a:tr h="164802">
                <a:tc>
                  <a:txBody>
                    <a:bodyPr/>
                    <a:lstStyle/>
                    <a:p>
                      <a:pPr algn="r" rtl="1">
                        <a:lnSpc>
                          <a:spcPct val="107000"/>
                        </a:lnSpc>
                        <a:spcAft>
                          <a:spcPts val="800"/>
                        </a:spcAft>
                      </a:pPr>
                      <a:r>
                        <a:rPr lang="he-IL" sz="2400" b="0" dirty="0">
                          <a:effectLst/>
                        </a:rPr>
                        <a:t>ניהול מרכזי</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dirty="0">
                          <a:effectLst/>
                        </a:rPr>
                        <a:t>העצמת המשתמש</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89882114"/>
                  </a:ext>
                </a:extLst>
              </a:tr>
            </a:tbl>
          </a:graphicData>
        </a:graphic>
      </p:graphicFrame>
      <p:sp>
        <p:nvSpPr>
          <p:cNvPr id="10" name="Arrow: Right 63">
            <a:extLst>
              <a:ext uri="{FF2B5EF4-FFF2-40B4-BE49-F238E27FC236}">
                <a16:creationId xmlns:a16="http://schemas.microsoft.com/office/drawing/2014/main" id="{1B114301-8D15-3DE8-E5C7-2E9297F964FA}"/>
              </a:ext>
            </a:extLst>
          </p:cNvPr>
          <p:cNvSpPr/>
          <p:nvPr/>
        </p:nvSpPr>
        <p:spPr>
          <a:xfrm flipH="1">
            <a:off x="13168472" y="3764448"/>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graphicFrame>
        <p:nvGraphicFramePr>
          <p:cNvPr id="13" name="דיאגרמה 12">
            <a:extLst>
              <a:ext uri="{FF2B5EF4-FFF2-40B4-BE49-F238E27FC236}">
                <a16:creationId xmlns:a16="http://schemas.microsoft.com/office/drawing/2014/main" id="{0AC04ADD-3E9D-A388-4DB0-833D4DE2EFC4}"/>
              </a:ext>
            </a:extLst>
          </p:cNvPr>
          <p:cNvGraphicFramePr/>
          <p:nvPr>
            <p:extLst>
              <p:ext uri="{D42A27DB-BD31-4B8C-83A1-F6EECF244321}">
                <p14:modId xmlns:p14="http://schemas.microsoft.com/office/powerpoint/2010/main" val="1602161942"/>
              </p:ext>
            </p:extLst>
          </p:nvPr>
        </p:nvGraphicFramePr>
        <p:xfrm>
          <a:off x="2435234" y="1376699"/>
          <a:ext cx="7543638" cy="516047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 name="תיבת טקסט 15">
            <a:extLst>
              <a:ext uri="{FF2B5EF4-FFF2-40B4-BE49-F238E27FC236}">
                <a16:creationId xmlns:a16="http://schemas.microsoft.com/office/drawing/2014/main" id="{AE5168FF-85E3-9A19-9F4D-CC7B29BEA903}"/>
              </a:ext>
            </a:extLst>
          </p:cNvPr>
          <p:cNvSpPr txBox="1"/>
          <p:nvPr/>
        </p:nvSpPr>
        <p:spPr>
          <a:xfrm>
            <a:off x="5216703" y="4359666"/>
            <a:ext cx="1980698" cy="772712"/>
          </a:xfrm>
          <a:prstGeom prst="rect">
            <a:avLst/>
          </a:prstGeom>
          <a:noFill/>
        </p:spPr>
        <p:txBody>
          <a:bodyPr wrap="square">
            <a:spAutoFit/>
          </a:bodyPr>
          <a:lstStyle/>
          <a:p>
            <a:pPr algn="ctr" rtl="1">
              <a:spcAft>
                <a:spcPts val="800"/>
              </a:spcAft>
            </a:pPr>
            <a:r>
              <a:rPr lang="he-IL" sz="1800" b="1" dirty="0">
                <a:effectLst/>
                <a:latin typeface="Calibri" panose="020F0502020204030204" pitchFamily="34" charset="0"/>
                <a:ea typeface="Calibri" panose="020F0502020204030204" pitchFamily="34" charset="0"/>
                <a:cs typeface="Arial" panose="020B0604020202020204" pitchFamily="34" charset="0"/>
              </a:rPr>
              <a:t>מהפכת </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en-US" b="1" dirty="0">
                <a:latin typeface="Calibri" panose="020F0502020204030204" pitchFamily="34" charset="0"/>
                <a:ea typeface="Calibri" panose="020F0502020204030204" pitchFamily="34" charset="0"/>
                <a:cs typeface="Arial" panose="020B0604020202020204" pitchFamily="34" charset="0"/>
              </a:rPr>
              <a:t>AI</a:t>
            </a:r>
            <a:endParaRPr lang="he-IL" b="1" dirty="0">
              <a:latin typeface="Calibri" panose="020F0502020204030204" pitchFamily="34" charset="0"/>
              <a:ea typeface="Calibri" panose="020F0502020204030204" pitchFamily="34" charset="0"/>
              <a:cs typeface="Arial" panose="020B0604020202020204" pitchFamily="34" charset="0"/>
            </a:endParaRPr>
          </a:p>
          <a:p>
            <a:pPr algn="ctr" rtl="1">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 בשירותים לאזרח</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8">
            <a:extLst>
              <a:ext uri="{FF2B5EF4-FFF2-40B4-BE49-F238E27FC236}">
                <a16:creationId xmlns:a16="http://schemas.microsoft.com/office/drawing/2014/main" id="{EE46BBEC-E1A6-F7F0-3A5B-AC8740E12B80}"/>
              </a:ext>
            </a:extLst>
          </p:cNvPr>
          <p:cNvPicPr>
            <a:picLocks noChangeAspect="1"/>
          </p:cNvPicPr>
          <p:nvPr/>
        </p:nvPicPr>
        <p:blipFill rotWithShape="1">
          <a:blip r:embed="rId11" cstate="email">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a:ext>
            </a:extLst>
          </a:blip>
          <a:srcRect/>
          <a:stretch/>
        </p:blipFill>
        <p:spPr>
          <a:xfrm>
            <a:off x="5594026" y="2677140"/>
            <a:ext cx="1226052" cy="1682526"/>
          </a:xfrm>
          <a:prstGeom prst="rect">
            <a:avLst/>
          </a:prstGeom>
        </p:spPr>
      </p:pic>
      <p:sp>
        <p:nvSpPr>
          <p:cNvPr id="18" name="מלבן 17">
            <a:extLst>
              <a:ext uri="{FF2B5EF4-FFF2-40B4-BE49-F238E27FC236}">
                <a16:creationId xmlns:a16="http://schemas.microsoft.com/office/drawing/2014/main" id="{A5CF759D-0533-24C5-92FA-083EE51A1004}"/>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26">
            <a:extLst>
              <a:ext uri="{FF2B5EF4-FFF2-40B4-BE49-F238E27FC236}">
                <a16:creationId xmlns:a16="http://schemas.microsoft.com/office/drawing/2014/main" id="{9CC0EF4D-53A3-EFEF-30A1-712FA2CF546A}"/>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4290143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685678F4-47CE-4125-83E4-D46D4C34AF93}"/>
              </a:ext>
            </a:extLst>
          </p:cNvPr>
          <p:cNvSpPr txBox="1"/>
          <p:nvPr/>
        </p:nvSpPr>
        <p:spPr>
          <a:xfrm>
            <a:off x="2136846" y="3608660"/>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פיתוח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מנגנון גמיש לאישור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המוצרים והשירותים </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9" name="TextBox 48">
            <a:extLst>
              <a:ext uri="{FF2B5EF4-FFF2-40B4-BE49-F238E27FC236}">
                <a16:creationId xmlns:a16="http://schemas.microsoft.com/office/drawing/2014/main" id="{8E5F55E6-362B-4276-A430-7B96942F9019}"/>
              </a:ext>
            </a:extLst>
          </p:cNvPr>
          <p:cNvSpPr txBox="1"/>
          <p:nvPr/>
        </p:nvSpPr>
        <p:spPr>
          <a:xfrm>
            <a:off x="2136846" y="3024509"/>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מערכת להצגה והנגשה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של השירותים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ותשלום בארנק דיגיטלי</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0" name="TextBox 49">
            <a:extLst>
              <a:ext uri="{FF2B5EF4-FFF2-40B4-BE49-F238E27FC236}">
                <a16:creationId xmlns:a16="http://schemas.microsoft.com/office/drawing/2014/main" id="{AEBB95BA-D351-4272-919E-669B78D9E53B}"/>
              </a:ext>
            </a:extLst>
          </p:cNvPr>
          <p:cNvSpPr txBox="1"/>
          <p:nvPr/>
        </p:nvSpPr>
        <p:spPr>
          <a:xfrm>
            <a:off x="2136846" y="2440358"/>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גיבוש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רגולציה תומכת</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7" name="TextBox 56">
            <a:extLst>
              <a:ext uri="{FF2B5EF4-FFF2-40B4-BE49-F238E27FC236}">
                <a16:creationId xmlns:a16="http://schemas.microsoft.com/office/drawing/2014/main" id="{46AEBD07-2F09-4148-B492-77871EB5C3C9}"/>
              </a:ext>
            </a:extLst>
          </p:cNvPr>
          <p:cNvSpPr txBox="1"/>
          <p:nvPr/>
        </p:nvSpPr>
        <p:spPr>
          <a:xfrm>
            <a:off x="9044892" y="1902458"/>
            <a:ext cx="187747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מה נדרש:</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8" name="TextBox 57">
            <a:extLst>
              <a:ext uri="{FF2B5EF4-FFF2-40B4-BE49-F238E27FC236}">
                <a16:creationId xmlns:a16="http://schemas.microsoft.com/office/drawing/2014/main" id="{10360EE5-8DC6-4301-B9E8-37FCF90E9F20}"/>
              </a:ext>
            </a:extLst>
          </p:cNvPr>
          <p:cNvSpPr txBox="1"/>
          <p:nvPr/>
        </p:nvSpPr>
        <p:spPr>
          <a:xfrm>
            <a:off x="114742" y="657921"/>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 (</a:t>
            </a:r>
            <a: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a:t>
            </a: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פיתוח 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0389177" y="259291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0389177" y="317707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0377938" y="3761221"/>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8" name="TextBox 67">
            <a:extLst>
              <a:ext uri="{FF2B5EF4-FFF2-40B4-BE49-F238E27FC236}">
                <a16:creationId xmlns:a16="http://schemas.microsoft.com/office/drawing/2014/main" id="{C8F318CF-806B-4B04-AFAA-1E7E248729C7}"/>
              </a:ext>
            </a:extLst>
          </p:cNvPr>
          <p:cNvSpPr txBox="1"/>
          <p:nvPr/>
        </p:nvSpPr>
        <p:spPr>
          <a:xfrm flipH="1">
            <a:off x="8564898" y="5165422"/>
            <a:ext cx="1418732"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69" name="TextBox 68">
            <a:extLst>
              <a:ext uri="{FF2B5EF4-FFF2-40B4-BE49-F238E27FC236}">
                <a16:creationId xmlns:a16="http://schemas.microsoft.com/office/drawing/2014/main" id="{CE8D518F-92C4-4D7C-BBA0-1A592D02CA0E}"/>
              </a:ext>
            </a:extLst>
          </p:cNvPr>
          <p:cNvSpPr txBox="1"/>
          <p:nvPr/>
        </p:nvSpPr>
        <p:spPr>
          <a:xfrm flipH="1">
            <a:off x="6445138" y="5165422"/>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70" name="TextBox 69">
            <a:extLst>
              <a:ext uri="{FF2B5EF4-FFF2-40B4-BE49-F238E27FC236}">
                <a16:creationId xmlns:a16="http://schemas.microsoft.com/office/drawing/2014/main" id="{4F8519BF-DBE8-4079-866F-257E09B43ADA}"/>
              </a:ext>
            </a:extLst>
          </p:cNvPr>
          <p:cNvSpPr txBox="1"/>
          <p:nvPr/>
        </p:nvSpPr>
        <p:spPr>
          <a:xfrm flipH="1">
            <a:off x="4315918" y="5165424"/>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71" name="TextBox 70">
            <a:extLst>
              <a:ext uri="{FF2B5EF4-FFF2-40B4-BE49-F238E27FC236}">
                <a16:creationId xmlns:a16="http://schemas.microsoft.com/office/drawing/2014/main" id="{90219D2D-A485-4573-9D7A-CE795D1C51CF}"/>
              </a:ext>
            </a:extLst>
          </p:cNvPr>
          <p:cNvSpPr txBox="1"/>
          <p:nvPr/>
        </p:nvSpPr>
        <p:spPr>
          <a:xfrm flipH="1">
            <a:off x="2196158" y="5165423"/>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594755" y="657921"/>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9" name="מלבן 8">
            <a:extLst>
              <a:ext uri="{FF2B5EF4-FFF2-40B4-BE49-F238E27FC236}">
                <a16:creationId xmlns:a16="http://schemas.microsoft.com/office/drawing/2014/main" id="{C3A773F7-CA1A-CBE5-7FA3-8E3EB00C47B9}"/>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 name="TextBox 26">
            <a:extLst>
              <a:ext uri="{FF2B5EF4-FFF2-40B4-BE49-F238E27FC236}">
                <a16:creationId xmlns:a16="http://schemas.microsoft.com/office/drawing/2014/main" id="{79F67452-0517-4507-CA9F-C3FBD0EFE11B}"/>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2160939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297851" y="2695729"/>
            <a:ext cx="2415365" cy="3314633"/>
          </a:xfrm>
          <a:prstGeom prst="rect">
            <a:avLst/>
          </a:prstGeom>
        </p:spPr>
      </p:pic>
      <p:pic>
        <p:nvPicPr>
          <p:cNvPr id="7" name="תמונה 6">
            <a:extLst>
              <a:ext uri="{FF2B5EF4-FFF2-40B4-BE49-F238E27FC236}">
                <a16:creationId xmlns:a16="http://schemas.microsoft.com/office/drawing/2014/main" id="{EC3E2A61-AA9E-1343-5B2C-12C2BFFDABAA}"/>
              </a:ext>
            </a:extLst>
          </p:cNvPr>
          <p:cNvPicPr>
            <a:picLocks noChangeAspect="1"/>
          </p:cNvPicPr>
          <p:nvPr/>
        </p:nvPicPr>
        <p:blipFill>
          <a:blip r:embed="rId4">
            <a:extLst>
              <a:ext uri="{28A0092B-C50C-407E-A947-70E740481C1C}">
                <a14:useLocalDpi xmlns:a14="http://schemas.microsoft.com/office/drawing/2010/main" val="0"/>
              </a:ext>
            </a:extLst>
          </a:blip>
          <a:srcRect t="28199"/>
          <a:stretch/>
        </p:blipFill>
        <p:spPr>
          <a:xfrm>
            <a:off x="9303873" y="3653985"/>
            <a:ext cx="2590276" cy="2851965"/>
          </a:xfrm>
          <a:prstGeom prst="rect">
            <a:avLst/>
          </a:prstGeom>
        </p:spPr>
      </p:pic>
      <p:pic>
        <p:nvPicPr>
          <p:cNvPr id="9" name="תמונה 8">
            <a:extLst>
              <a:ext uri="{FF2B5EF4-FFF2-40B4-BE49-F238E27FC236}">
                <a16:creationId xmlns:a16="http://schemas.microsoft.com/office/drawing/2014/main" id="{7905EA4F-6971-34E1-1578-BD9BE9091A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8127" y="1212361"/>
            <a:ext cx="3026133" cy="5293589"/>
          </a:xfrm>
          <a:prstGeom prst="rect">
            <a:avLst/>
          </a:prstGeom>
        </p:spPr>
      </p:pic>
      <p:pic>
        <p:nvPicPr>
          <p:cNvPr id="11" name="תמונה 10">
            <a:extLst>
              <a:ext uri="{FF2B5EF4-FFF2-40B4-BE49-F238E27FC236}">
                <a16:creationId xmlns:a16="http://schemas.microsoft.com/office/drawing/2014/main" id="{584D1AD9-E626-89CA-EB20-DE493D833AB3}"/>
              </a:ext>
            </a:extLst>
          </p:cNvPr>
          <p:cNvPicPr>
            <a:picLocks noChangeAspect="1"/>
          </p:cNvPicPr>
          <p:nvPr/>
        </p:nvPicPr>
        <p:blipFill>
          <a:blip r:embed="rId6">
            <a:extLst>
              <a:ext uri="{28A0092B-C50C-407E-A947-70E740481C1C}">
                <a14:useLocalDpi xmlns:a14="http://schemas.microsoft.com/office/drawing/2010/main" val="0"/>
              </a:ext>
            </a:extLst>
          </a:blip>
          <a:srcRect t="35105"/>
          <a:stretch/>
        </p:blipFill>
        <p:spPr>
          <a:xfrm>
            <a:off x="5914260" y="2695729"/>
            <a:ext cx="3383599" cy="3810221"/>
          </a:xfrm>
          <a:prstGeom prst="rect">
            <a:avLst/>
          </a:prstGeom>
        </p:spPr>
      </p:pic>
      <p:sp>
        <p:nvSpPr>
          <p:cNvPr id="13" name="תיבת טקסט 12">
            <a:extLst>
              <a:ext uri="{FF2B5EF4-FFF2-40B4-BE49-F238E27FC236}">
                <a16:creationId xmlns:a16="http://schemas.microsoft.com/office/drawing/2014/main" id="{DD7EFE8D-D0ED-B25F-F23C-174ADF3C1321}"/>
              </a:ext>
            </a:extLst>
          </p:cNvPr>
          <p:cNvSpPr txBox="1"/>
          <p:nvPr/>
        </p:nvSpPr>
        <p:spPr>
          <a:xfrm>
            <a:off x="6580776" y="627586"/>
            <a:ext cx="5089856" cy="584775"/>
          </a:xfrm>
          <a:prstGeom prst="rect">
            <a:avLst/>
          </a:prstGeom>
          <a:noFill/>
        </p:spPr>
        <p:txBody>
          <a:bodyPr wrap="none" rtlCol="1">
            <a:spAutoFit/>
          </a:bodyPr>
          <a:lstStyle/>
          <a:p>
            <a:pPr algn="r" rtl="1"/>
            <a:r>
              <a:rPr lang="he-IL" sz="3200" b="1" dirty="0"/>
              <a:t>חווית המשתמש של פנינה 2024</a:t>
            </a:r>
          </a:p>
        </p:txBody>
      </p:sp>
      <p:sp>
        <p:nvSpPr>
          <p:cNvPr id="14" name="מלבן 13">
            <a:extLst>
              <a:ext uri="{FF2B5EF4-FFF2-40B4-BE49-F238E27FC236}">
                <a16:creationId xmlns:a16="http://schemas.microsoft.com/office/drawing/2014/main" id="{EB3B24D3-9B0F-DB32-6500-72DFA19A4B6C}"/>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TextBox 26">
            <a:extLst>
              <a:ext uri="{FF2B5EF4-FFF2-40B4-BE49-F238E27FC236}">
                <a16:creationId xmlns:a16="http://schemas.microsoft.com/office/drawing/2014/main" id="{9514FFD6-8567-4AE9-DCC7-51E3D91B1A96}"/>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3477481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3093" y="6546308"/>
            <a:ext cx="12192000" cy="10819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074E81CE-5BB6-4B39-998F-DA850CF7B7B7}"/>
              </a:ext>
            </a:extLst>
          </p:cNvPr>
          <p:cNvSpPr/>
          <p:nvPr/>
        </p:nvSpPr>
        <p:spPr>
          <a:xfrm>
            <a:off x="11470" y="6459250"/>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500" b="1" i="0" u="none" strike="noStrike" kern="1200" cap="none" spc="0" normalizeH="0" baseline="0" noProof="0" dirty="0">
                <a:ln>
                  <a:noFill/>
                </a:ln>
                <a:solidFill>
                  <a:srgbClr val="34304F"/>
                </a:solidFill>
                <a:effectLst/>
                <a:uLnTx/>
                <a:uFillTx/>
                <a:latin typeface="Calibri" panose="020F0502020204030204" pitchFamily="34" charset="0"/>
                <a:ea typeface="+mn-ea"/>
                <a:cs typeface="Calibri" panose="020F0502020204030204" pitchFamily="34" charset="0"/>
              </a:rPr>
              <a:t>פלטפורמה דיגיטלית להתאמה אישית של שירותים</a:t>
            </a:r>
            <a:endParaRPr kumimoji="0" lang="en-US" sz="4500" b="1" i="0" u="none" strike="noStrike" kern="1200" cap="none" spc="0" normalizeH="0" baseline="0" noProof="0" dirty="0">
              <a:ln>
                <a:noFill/>
              </a:ln>
              <a:solidFill>
                <a:srgbClr val="34304F"/>
              </a:solidFill>
              <a:effectLst/>
              <a:uLnTx/>
              <a:uFillTx/>
              <a:latin typeface="Calibri" panose="020F0502020204030204" pitchFamily="34" charset="0"/>
              <a:ea typeface="+mn-ea"/>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8056" y="6673256"/>
            <a:ext cx="2757567" cy="630794"/>
          </a:xfrm>
          <a:prstGeom prst="rect">
            <a:avLst/>
          </a:prstGeom>
        </p:spPr>
      </p:pic>
      <p:pic>
        <p:nvPicPr>
          <p:cNvPr id="12" name="תמונה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38944" y="6767765"/>
            <a:ext cx="1629782" cy="441776"/>
          </a:xfrm>
          <a:prstGeom prst="rect">
            <a:avLst/>
          </a:prstGeom>
        </p:spPr>
      </p:pic>
      <p:pic>
        <p:nvPicPr>
          <p:cNvPr id="2" name="Picture 26">
            <a:extLst>
              <a:ext uri="{FF2B5EF4-FFF2-40B4-BE49-F238E27FC236}">
                <a16:creationId xmlns:a16="http://schemas.microsoft.com/office/drawing/2014/main" id="{A4A0F05C-4589-8598-6409-17ABB1658546}"/>
              </a:ext>
            </a:extLst>
          </p:cNvPr>
          <p:cNvPicPr>
            <a:picLocks noChangeAspect="1"/>
          </p:cNvPicPr>
          <p:nvPr/>
        </p:nvPicPr>
        <p:blipFill>
          <a:blip r:embed="rId6"/>
          <a:stretch>
            <a:fillRect/>
          </a:stretch>
        </p:blipFill>
        <p:spPr>
          <a:xfrm>
            <a:off x="6258762" y="6546308"/>
            <a:ext cx="1395775" cy="764355"/>
          </a:xfrm>
          <a:prstGeom prst="rect">
            <a:avLst/>
          </a:prstGeom>
          <a:ln>
            <a:noFill/>
          </a:ln>
        </p:spPr>
      </p:pic>
      <p:pic>
        <p:nvPicPr>
          <p:cNvPr id="5" name="Picture 32">
            <a:extLst>
              <a:ext uri="{FF2B5EF4-FFF2-40B4-BE49-F238E27FC236}">
                <a16:creationId xmlns:a16="http://schemas.microsoft.com/office/drawing/2014/main" id="{D0D70BBE-0181-BACF-233D-97C8F5B2CC66}"/>
              </a:ext>
            </a:extLst>
          </p:cNvPr>
          <p:cNvPicPr>
            <a:picLocks noChangeAspect="1"/>
          </p:cNvPicPr>
          <p:nvPr/>
        </p:nvPicPr>
        <p:blipFill>
          <a:blip r:embed="rId7"/>
          <a:stretch>
            <a:fillRect/>
          </a:stretch>
        </p:blipFill>
        <p:spPr>
          <a:xfrm>
            <a:off x="4424444" y="6591131"/>
            <a:ext cx="1726877" cy="719532"/>
          </a:xfrm>
          <a:prstGeom prst="rect">
            <a:avLst/>
          </a:prstGeom>
        </p:spPr>
      </p:pic>
      <p:pic>
        <p:nvPicPr>
          <p:cNvPr id="13" name="Picture 5" descr="Logo&#10;&#10;Description automatically generated">
            <a:extLst>
              <a:ext uri="{FF2B5EF4-FFF2-40B4-BE49-F238E27FC236}">
                <a16:creationId xmlns:a16="http://schemas.microsoft.com/office/drawing/2014/main" id="{F71C9523-D69A-ECBC-2636-B5D38E0BB87D}"/>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053133" y="6647968"/>
            <a:ext cx="997132" cy="662695"/>
          </a:xfrm>
          <a:prstGeom prst="rect">
            <a:avLst/>
          </a:prstGeom>
        </p:spPr>
      </p:pic>
      <p:sp>
        <p:nvSpPr>
          <p:cNvPr id="3" name="Oval 9">
            <a:extLst>
              <a:ext uri="{FF2B5EF4-FFF2-40B4-BE49-F238E27FC236}">
                <a16:creationId xmlns:a16="http://schemas.microsoft.com/office/drawing/2014/main" id="{6615151C-5841-6FE4-E193-6EC0D20C9677}"/>
              </a:ext>
            </a:extLst>
          </p:cNvPr>
          <p:cNvSpPr/>
          <p:nvPr/>
        </p:nvSpPr>
        <p:spPr>
          <a:xfrm>
            <a:off x="12529876" y="3688770"/>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Tree>
    <p:extLst>
      <p:ext uri="{BB962C8B-B14F-4D97-AF65-F5344CB8AC3E}">
        <p14:creationId xmlns:p14="http://schemas.microsoft.com/office/powerpoint/2010/main" val="2883102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14511" y="3437592"/>
            <a:ext cx="12406511" cy="3057247"/>
          </a:xfrm>
          <a:prstGeom prst="rect">
            <a:avLst/>
          </a:prstGeom>
        </p:spPr>
        <p:txBody>
          <a:bodyPr wrap="square">
            <a:spAutoFit/>
          </a:bodyPr>
          <a:lstStyle/>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בניית תכנית אישית מבוססת נתונים </a:t>
            </a:r>
            <a:r>
              <a:rPr lang="he-IL" sz="2100" spc="-5" dirty="0">
                <a:latin typeface="Calibri" panose="020F0502020204030204" pitchFamily="34" charset="0"/>
                <a:cs typeface="Calibri" panose="020F0502020204030204" pitchFamily="34" charset="0"/>
              </a:rPr>
              <a:t>ומקדמת זקנה פעילה ומניעת התדרדרות </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276070" y="16364"/>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113538" y="-174538"/>
            <a:ext cx="7097299"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סל תפקוד אישי</a:t>
            </a:r>
          </a:p>
          <a:p>
            <a:pPr algn="ctr"/>
            <a:r>
              <a:rPr lang="he-IL" sz="5400" b="1" dirty="0">
                <a:solidFill>
                  <a:schemeClr val="bg1"/>
                </a:solidFill>
                <a:latin typeface="Calibri" panose="020F0502020204030204" pitchFamily="34" charset="0"/>
                <a:cs typeface="Calibri" panose="020F0502020204030204" pitchFamily="34" charset="0"/>
              </a:rPr>
              <a:t>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hq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
        <p:nvSpPr>
          <p:cNvPr id="2" name="מלבן 1">
            <a:extLst>
              <a:ext uri="{FF2B5EF4-FFF2-40B4-BE49-F238E27FC236}">
                <a16:creationId xmlns:a16="http://schemas.microsoft.com/office/drawing/2014/main" id="{5A4177A0-E94A-A5AA-96D8-AD82717C47AE}"/>
              </a:ext>
            </a:extLst>
          </p:cNvPr>
          <p:cNvSpPr/>
          <p:nvPr/>
        </p:nvSpPr>
        <p:spPr>
          <a:xfrm>
            <a:off x="3093" y="0"/>
            <a:ext cx="244547" cy="685799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Oval 9">
            <a:extLst>
              <a:ext uri="{FF2B5EF4-FFF2-40B4-BE49-F238E27FC236}">
                <a16:creationId xmlns:a16="http://schemas.microsoft.com/office/drawing/2014/main" id="{2A01EB7C-D13D-4960-79EB-AEDD8318568B}"/>
              </a:ext>
            </a:extLst>
          </p:cNvPr>
          <p:cNvSpPr/>
          <p:nvPr/>
        </p:nvSpPr>
        <p:spPr>
          <a:xfrm>
            <a:off x="12529876" y="3688770"/>
            <a:ext cx="252000" cy="252000"/>
          </a:xfrm>
          <a:prstGeom prst="ellipse">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8" name="TextBox 26">
            <a:extLst>
              <a:ext uri="{FF2B5EF4-FFF2-40B4-BE49-F238E27FC236}">
                <a16:creationId xmlns:a16="http://schemas.microsoft.com/office/drawing/2014/main" id="{1A982115-55B6-9D3F-B43B-B48D145272FB}"/>
              </a:ext>
            </a:extLst>
          </p:cNvPr>
          <p:cNvSpPr txBox="1"/>
          <p:nvPr/>
        </p:nvSpPr>
        <p:spPr>
          <a:xfrm rot="16200000">
            <a:off x="-963373" y="917254"/>
            <a:ext cx="2140331"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9" name="מלבן 8">
            <a:extLst>
              <a:ext uri="{FF2B5EF4-FFF2-40B4-BE49-F238E27FC236}">
                <a16:creationId xmlns:a16="http://schemas.microsoft.com/office/drawing/2014/main" id="{C57100D1-6A9A-56AD-B0D0-86EAC7A18A69}"/>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 name="TextBox 26">
            <a:extLst>
              <a:ext uri="{FF2B5EF4-FFF2-40B4-BE49-F238E27FC236}">
                <a16:creationId xmlns:a16="http://schemas.microsoft.com/office/drawing/2014/main" id="{45FA11FF-F451-6761-63B5-7A023D030834}"/>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2630102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044250" y="1142890"/>
            <a:ext cx="4976813"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p>
          <a:p>
            <a:pPr algn="r" rtl="1">
              <a:lnSpc>
                <a:spcPct val="150000"/>
              </a:lnSpc>
            </a:pPr>
            <a:r>
              <a:rPr lang="he-IL" sz="1600" dirty="0">
                <a:latin typeface="Calibri" panose="020F0502020204030204" pitchFamily="34" charset="0"/>
                <a:cs typeface="Calibri" panose="020F0502020204030204" pitchFamily="34" charset="0"/>
              </a:rPr>
              <a:t>מפגשים חברתיים, פעילות גופנית, זוגיות והיכרויות,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מלבן 1">
            <a:extLst>
              <a:ext uri="{FF2B5EF4-FFF2-40B4-BE49-F238E27FC236}">
                <a16:creationId xmlns:a16="http://schemas.microsoft.com/office/drawing/2014/main" id="{C85ADE09-DC06-B6BC-B087-7189D922B5B0}"/>
              </a:ext>
            </a:extLst>
          </p:cNvPr>
          <p:cNvSpPr/>
          <p:nvPr/>
        </p:nvSpPr>
        <p:spPr>
          <a:xfrm>
            <a:off x="3093" y="0"/>
            <a:ext cx="244547" cy="685799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5" name="TextBox 26">
            <a:extLst>
              <a:ext uri="{FF2B5EF4-FFF2-40B4-BE49-F238E27FC236}">
                <a16:creationId xmlns:a16="http://schemas.microsoft.com/office/drawing/2014/main" id="{126AD056-D7DD-A1B4-28A2-7019088C2511}"/>
              </a:ext>
            </a:extLst>
          </p:cNvPr>
          <p:cNvSpPr txBox="1"/>
          <p:nvPr/>
        </p:nvSpPr>
        <p:spPr>
          <a:xfrm rot="16200000">
            <a:off x="-963373" y="917254"/>
            <a:ext cx="2140331"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32" name="מלבן 31">
            <a:extLst>
              <a:ext uri="{FF2B5EF4-FFF2-40B4-BE49-F238E27FC236}">
                <a16:creationId xmlns:a16="http://schemas.microsoft.com/office/drawing/2014/main" id="{7C7FB6E8-CF37-BF82-270C-830085C00309}"/>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TextBox 26">
            <a:extLst>
              <a:ext uri="{FF2B5EF4-FFF2-40B4-BE49-F238E27FC236}">
                <a16:creationId xmlns:a16="http://schemas.microsoft.com/office/drawing/2014/main" id="{E06F88E5-34FE-A56A-0148-6141D74B47E2}"/>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2287858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
        <p:nvSpPr>
          <p:cNvPr id="2" name="מלבן 1">
            <a:extLst>
              <a:ext uri="{FF2B5EF4-FFF2-40B4-BE49-F238E27FC236}">
                <a16:creationId xmlns:a16="http://schemas.microsoft.com/office/drawing/2014/main" id="{8CEBB6E9-FD69-9D44-B619-7FF7D24D8B9C}"/>
              </a:ext>
            </a:extLst>
          </p:cNvPr>
          <p:cNvSpPr/>
          <p:nvPr/>
        </p:nvSpPr>
        <p:spPr>
          <a:xfrm>
            <a:off x="3093" y="0"/>
            <a:ext cx="244547" cy="685799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TextBox 26">
            <a:extLst>
              <a:ext uri="{FF2B5EF4-FFF2-40B4-BE49-F238E27FC236}">
                <a16:creationId xmlns:a16="http://schemas.microsoft.com/office/drawing/2014/main" id="{F97EDC96-6F69-0B2C-929E-51C5F3B2E204}"/>
              </a:ext>
            </a:extLst>
          </p:cNvPr>
          <p:cNvSpPr txBox="1"/>
          <p:nvPr/>
        </p:nvSpPr>
        <p:spPr>
          <a:xfrm rot="16200000">
            <a:off x="-963373" y="917254"/>
            <a:ext cx="2140331"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4" name="מלבן 3">
            <a:extLst>
              <a:ext uri="{FF2B5EF4-FFF2-40B4-BE49-F238E27FC236}">
                <a16:creationId xmlns:a16="http://schemas.microsoft.com/office/drawing/2014/main" id="{DF92FEFD-9225-8BAA-A560-0C83595B91F3}"/>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TextBox 26">
            <a:extLst>
              <a:ext uri="{FF2B5EF4-FFF2-40B4-BE49-F238E27FC236}">
                <a16:creationId xmlns:a16="http://schemas.microsoft.com/office/drawing/2014/main" id="{63954638-D40A-D240-F5BD-875B9A8C2DEF}"/>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4127182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
        <p:nvSpPr>
          <p:cNvPr id="2" name="מלבן 1">
            <a:extLst>
              <a:ext uri="{FF2B5EF4-FFF2-40B4-BE49-F238E27FC236}">
                <a16:creationId xmlns:a16="http://schemas.microsoft.com/office/drawing/2014/main" id="{C5A8EF18-CC52-B398-8AA3-BCDA3D70D911}"/>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TextBox 26">
            <a:extLst>
              <a:ext uri="{FF2B5EF4-FFF2-40B4-BE49-F238E27FC236}">
                <a16:creationId xmlns:a16="http://schemas.microsoft.com/office/drawing/2014/main" id="{0D9833F2-65CA-3ED8-D87A-F37C2B3C26D9}"/>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3164209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sz="1600" b="1" dirty="0">
                <a:solidFill>
                  <a:prstClr val="black"/>
                </a:solidFill>
                <a:latin typeface="Assistant" pitchFamily="2" charset="-79"/>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596168" y="469748"/>
            <a:ext cx="3940539"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4" name="Google Shape;492;p8">
            <a:extLst>
              <a:ext uri="{FF2B5EF4-FFF2-40B4-BE49-F238E27FC236}">
                <a16:creationId xmlns:a16="http://schemas.microsoft.com/office/drawing/2014/main" id="{B4DA0CE6-D12B-4D84-ABD5-75FA703C08CE}"/>
              </a:ext>
            </a:extLst>
          </p:cNvPr>
          <p:cNvSpPr txBox="1"/>
          <p:nvPr/>
        </p:nvSpPr>
        <p:spPr>
          <a:xfrm>
            <a:off x="8563429" y="3608883"/>
            <a:ext cx="3169051"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מיצוי הפוטנציאל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של האזרח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4925002"/>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128443"/>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pic>
        <p:nvPicPr>
          <p:cNvPr id="10" name="תמונה 9">
            <a:extLst>
              <a:ext uri="{FF2B5EF4-FFF2-40B4-BE49-F238E27FC236}">
                <a16:creationId xmlns:a16="http://schemas.microsoft.com/office/drawing/2014/main" id="{F49A402C-34A1-5C7D-CC4F-8974B1E4DE0B}"/>
              </a:ext>
            </a:extLst>
          </p:cNvPr>
          <p:cNvPicPr>
            <a:picLocks noChangeAspect="1"/>
          </p:cNvPicPr>
          <p:nvPr/>
        </p:nvPicPr>
        <p:blipFill>
          <a:blip r:embed="rId4"/>
          <a:srcRect b="12310"/>
          <a:stretch/>
        </p:blipFill>
        <p:spPr>
          <a:xfrm>
            <a:off x="3404891" y="4126147"/>
            <a:ext cx="4906986" cy="1639604"/>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861082" y="3429000"/>
            <a:ext cx="6035316"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srgbClr val="FFFFFF"/>
                </a:solidFill>
                <a:effectLst/>
                <a:uLnTx/>
                <a:uFillTx/>
                <a:latin typeface="Assistant" pitchFamily="2" charset="-79"/>
                <a:cs typeface="Assistant" pitchFamily="2" charset="-79"/>
              </a:rPr>
              <a:t>נייר מדיניות להובלת שינוי משותף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srgbClr val="FFFFFF"/>
                </a:solidFill>
                <a:effectLst/>
                <a:uLnTx/>
                <a:uFillTx/>
                <a:latin typeface="Assistant" pitchFamily="2" charset="-79"/>
                <a:cs typeface="Assistant" pitchFamily="2" charset="-79"/>
              </a:rPr>
              <a:t>ביטוח לאומי, רווחה, בריאות, רשויות, קופות החולים</a:t>
            </a:r>
            <a:endParaRPr kumimoji="0" lang="en-US" sz="2100" b="0" i="0" u="none" strike="noStrike" kern="1200" cap="none" spc="0" normalizeH="0" baseline="0" noProof="0" dirty="0">
              <a:ln>
                <a:noFill/>
              </a:ln>
              <a:solidFill>
                <a:srgbClr val="FFFFFF"/>
              </a:solidFill>
              <a:effectLst/>
              <a:uLnTx/>
              <a:uFillTx/>
              <a:latin typeface="Assistant" pitchFamily="2" charset="-79"/>
              <a:cs typeface="Assistant" pitchFamily="2" charset="-79"/>
            </a:endParaRPr>
          </a:p>
        </p:txBody>
      </p:sp>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5"/>
          <a:stretch>
            <a:fillRect/>
          </a:stretch>
        </p:blipFill>
        <p:spPr>
          <a:xfrm>
            <a:off x="355600" y="1160339"/>
            <a:ext cx="11480800" cy="1841500"/>
          </a:xfrm>
          <a:prstGeom prst="rect">
            <a:avLst/>
          </a:prstGeom>
        </p:spPr>
      </p:pic>
      <p:sp>
        <p:nvSpPr>
          <p:cNvPr id="53" name="TextBox 52">
            <a:extLst>
              <a:ext uri="{FF2B5EF4-FFF2-40B4-BE49-F238E27FC236}">
                <a16:creationId xmlns:a16="http://schemas.microsoft.com/office/drawing/2014/main" id="{E56DC035-DE58-4748-857D-79F08BC8EC4C}"/>
              </a:ext>
            </a:extLst>
          </p:cNvPr>
          <p:cNvSpPr txBox="1"/>
          <p:nvPr/>
        </p:nvSpPr>
        <p:spPr>
          <a:xfrm>
            <a:off x="1126434" y="1440686"/>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6"/>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7"/>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8"/>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9"/>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10"/>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1"/>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2"/>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3"/>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4"/>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5"/>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6"/>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7"/>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8"/>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9"/>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9589168" y="346984"/>
            <a:ext cx="2387913" cy="414598"/>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20"/>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1"/>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2"/>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extLst>
              <p:ext uri="{D42A27DB-BD31-4B8C-83A1-F6EECF244321}">
                <p14:modId xmlns:p14="http://schemas.microsoft.com/office/powerpoint/2010/main" val="1446147904"/>
              </p:ext>
            </p:extLst>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7"/>
          <p:cNvSpPr/>
          <p:nvPr/>
        </p:nvSpPr>
        <p:spPr>
          <a:xfrm>
            <a:off x="3093" y="0"/>
            <a:ext cx="264156"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1908215"/>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algn="ctr"/>
            <a:r>
              <a:rPr lang="he-IL" b="1" dirty="0">
                <a:solidFill>
                  <a:schemeClr val="tx1"/>
                </a:solidFill>
              </a:rPr>
              <a:t>היעד-</a:t>
            </a:r>
            <a:r>
              <a:rPr lang="he-IL" dirty="0">
                <a:solidFill>
                  <a:schemeClr val="tx1"/>
                </a:solidFill>
              </a:rPr>
              <a:t> בתוך 3 שנים עיכוב ממוצע של כ-3 חודשים בעלייה ברמות סיעוד 0-2 = </a:t>
            </a:r>
          </a:p>
          <a:p>
            <a:pPr algn="ctr"/>
            <a:r>
              <a:rPr lang="he-IL" sz="3200" b="1" dirty="0">
                <a:solidFill>
                  <a:schemeClr val="tx1"/>
                </a:solidFill>
              </a:rPr>
              <a:t>מעל מיליארד ₪ </a:t>
            </a:r>
          </a:p>
          <a:p>
            <a:pPr algn="ctr"/>
            <a:r>
              <a:rPr lang="he-IL" sz="3200" b="1" dirty="0">
                <a:solidFill>
                  <a:schemeClr val="tx1"/>
                </a:solidFill>
              </a:rPr>
              <a:t>חסכון למשק לשנה</a:t>
            </a:r>
            <a:r>
              <a:rPr lang="he-IL" sz="2800" b="1" dirty="0">
                <a:solidFill>
                  <a:schemeClr val="tx1"/>
                </a:solidFill>
              </a:rPr>
              <a:t>    </a:t>
            </a:r>
          </a:p>
          <a:p>
            <a:pPr algn="ctr"/>
            <a:r>
              <a:rPr lang="he-IL" b="1" dirty="0">
                <a:solidFill>
                  <a:schemeClr val="tx1"/>
                </a:solidFill>
              </a:rPr>
              <a:t>  </a:t>
            </a:r>
            <a:r>
              <a:rPr lang="he-IL" sz="1400" dirty="0">
                <a:solidFill>
                  <a:schemeClr val="tx1"/>
                </a:solidFill>
              </a:rPr>
              <a:t>(לא כולל ביטוחי סיעוד)</a:t>
            </a:r>
            <a:endParaRPr lang="he-IL" dirty="0">
              <a:solidFill>
                <a:schemeClr val="tx1"/>
              </a:solidFill>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r>
              <a:rPr lang="he-IL" dirty="0"/>
              <a:t>*מבוסס על עלויות הגמלה ועלויות בריאות בקופ"ח מאוחדת</a:t>
            </a:r>
          </a:p>
        </p:txBody>
      </p:sp>
      <p:sp>
        <p:nvSpPr>
          <p:cNvPr id="7" name="מלבן 6">
            <a:extLst>
              <a:ext uri="{FF2B5EF4-FFF2-40B4-BE49-F238E27FC236}">
                <a16:creationId xmlns:a16="http://schemas.microsoft.com/office/drawing/2014/main" id="{112796DE-5F8C-308A-B137-9C4C9164F5E8}"/>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 name="TextBox 26">
            <a:extLst>
              <a:ext uri="{FF2B5EF4-FFF2-40B4-BE49-F238E27FC236}">
                <a16:creationId xmlns:a16="http://schemas.microsoft.com/office/drawing/2014/main" id="{71B76A38-1757-0F5B-74D1-47A5C5E73754}"/>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2991427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116420" y="51231"/>
            <a:ext cx="9696771" cy="2123658"/>
          </a:xfrm>
          <a:prstGeom prst="rect">
            <a:avLst/>
          </a:prstGeom>
          <a:noFill/>
        </p:spPr>
        <p:txBody>
          <a:bodyPr wrap="square" rtlCol="0">
            <a:spAutoFit/>
          </a:bodyPr>
          <a:lstStyle/>
          <a:p>
            <a:pPr algn="ctr" rtl="1"/>
            <a:r>
              <a:rPr lang="he-IL" sz="4400" b="1" dirty="0">
                <a:solidFill>
                  <a:srgbClr val="3E6BB4"/>
                </a:solidFill>
                <a:latin typeface="Assistant" pitchFamily="2" charset="-79"/>
                <a:cs typeface="Assistant" pitchFamily="2" charset="-79"/>
              </a:rPr>
              <a:t>סוגיות בחשיבה</a:t>
            </a:r>
          </a:p>
          <a:p>
            <a:pPr algn="ctr" rtl="1"/>
            <a:r>
              <a:rPr lang="he-IL" sz="4400" b="1" dirty="0">
                <a:solidFill>
                  <a:srgbClr val="3E6BB4"/>
                </a:solidFill>
                <a:latin typeface="Assistant" pitchFamily="2" charset="-79"/>
                <a:cs typeface="Assistant" pitchFamily="2" charset="-79"/>
              </a:rPr>
              <a:t>סל אישי מותאם לאזרח הוותיק</a:t>
            </a:r>
          </a:p>
          <a:p>
            <a:pPr algn="ctr" rtl="1"/>
            <a:endParaRPr lang="he-IL" sz="4400" b="1" dirty="0">
              <a:solidFill>
                <a:srgbClr val="3E6BB4"/>
              </a:solidFill>
              <a:latin typeface="Assistant" pitchFamily="2" charset="-79"/>
              <a:cs typeface="Assistant" pitchFamily="2" charset="-79"/>
            </a:endParaRP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7758222" y="160768"/>
            <a:ext cx="814228" cy="596132"/>
          </a:xfrm>
          <a:prstGeom prst="rect">
            <a:avLst/>
          </a:prstGeom>
        </p:spPr>
      </p:pic>
      <p:sp>
        <p:nvSpPr>
          <p:cNvPr id="2" name="TextBox 3">
            <a:extLst>
              <a:ext uri="{FF2B5EF4-FFF2-40B4-BE49-F238E27FC236}">
                <a16:creationId xmlns:a16="http://schemas.microsoft.com/office/drawing/2014/main" id="{1B2D77AF-4E09-7D47-B435-A21266B4499F}"/>
              </a:ext>
            </a:extLst>
          </p:cNvPr>
          <p:cNvSpPr txBox="1"/>
          <p:nvPr/>
        </p:nvSpPr>
        <p:spPr>
          <a:xfrm>
            <a:off x="580505" y="1547633"/>
            <a:ext cx="11030989" cy="4611519"/>
          </a:xfrm>
          <a:prstGeom prst="rect">
            <a:avLst/>
          </a:prstGeom>
          <a:noFill/>
        </p:spPr>
        <p:txBody>
          <a:bodyPr wrap="square">
            <a:spAutoFit/>
          </a:bodyPr>
          <a:lstStyle/>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איזה שירותים מכניסים לסל ומה לא מכניסים? גבולות גזרה מרחיבים או צרים?</a:t>
            </a:r>
          </a:p>
          <a:p>
            <a:pPr marL="342891" indent="-34289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איזה תיעדוף נותנים באלגוריתם?</a:t>
            </a:r>
            <a:r>
              <a:rPr lang="he-IL"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איך מנגישים ללקוח הלא דיגיטלי? מי הגורם שנמצא מולו ומחבר אותו לשירותים?</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מיפוי מקורות המידע לשירותים בקהילה, לצרכי הלקוח ולרצונותיו?</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 איך מודדים את איכות השירות?</a:t>
            </a:r>
          </a:p>
          <a:p>
            <a:pPr marL="342891" indent="-342891">
              <a:lnSpc>
                <a:spcPct val="150000"/>
              </a:lnSpc>
              <a:buFont typeface="+mj-lt"/>
              <a:buAutoNum type="arabicPeriod"/>
            </a:pPr>
            <a:endParaRPr lang="he-IL"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dirty="0">
              <a:latin typeface="Calibri" panose="020F0502020204030204" pitchFamily="34" charset="0"/>
              <a:ea typeface="Calibri" panose="020F0502020204030204" pitchFamily="34" charset="0"/>
              <a:cs typeface="Arial" panose="020B0604020202020204" pitchFamily="34" charset="0"/>
            </a:endParaRPr>
          </a:p>
        </p:txBody>
      </p:sp>
      <p:sp>
        <p:nvSpPr>
          <p:cNvPr id="6" name="מלבן 5">
            <a:extLst>
              <a:ext uri="{FF2B5EF4-FFF2-40B4-BE49-F238E27FC236}">
                <a16:creationId xmlns:a16="http://schemas.microsoft.com/office/drawing/2014/main" id="{F1B0F612-C44B-5A0B-BA78-6C2096B20817}"/>
              </a:ext>
            </a:extLst>
          </p:cNvPr>
          <p:cNvSpPr/>
          <p:nvPr/>
        </p:nvSpPr>
        <p:spPr>
          <a:xfrm>
            <a:off x="3093" y="1"/>
            <a:ext cx="230823" cy="594362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TextBox 26">
            <a:extLst>
              <a:ext uri="{FF2B5EF4-FFF2-40B4-BE49-F238E27FC236}">
                <a16:creationId xmlns:a16="http://schemas.microsoft.com/office/drawing/2014/main" id="{F005FC8F-1610-F585-376D-18AAE31F4BF7}"/>
              </a:ext>
            </a:extLst>
          </p:cNvPr>
          <p:cNvSpPr txBox="1"/>
          <p:nvPr/>
        </p:nvSpPr>
        <p:spPr>
          <a:xfrm rot="16200000">
            <a:off x="-1191695" y="1136079"/>
            <a:ext cx="2577980" cy="33855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11" name="מלבן 10">
            <a:extLst>
              <a:ext uri="{FF2B5EF4-FFF2-40B4-BE49-F238E27FC236}">
                <a16:creationId xmlns:a16="http://schemas.microsoft.com/office/drawing/2014/main" id="{D8C29C72-BAE9-CF2A-D3C5-4FADE5AA4311}"/>
              </a:ext>
            </a:extLst>
          </p:cNvPr>
          <p:cNvSpPr/>
          <p:nvPr/>
        </p:nvSpPr>
        <p:spPr>
          <a:xfrm>
            <a:off x="16817" y="1"/>
            <a:ext cx="230823" cy="5943630"/>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 name="TextBox 26">
            <a:extLst>
              <a:ext uri="{FF2B5EF4-FFF2-40B4-BE49-F238E27FC236}">
                <a16:creationId xmlns:a16="http://schemas.microsoft.com/office/drawing/2014/main" id="{6000A3EA-B8B8-8395-6159-5B2757B569D5}"/>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1726105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116420" y="51231"/>
            <a:ext cx="9696771" cy="2000548"/>
          </a:xfrm>
          <a:prstGeom prst="rect">
            <a:avLst/>
          </a:prstGeom>
          <a:noFill/>
        </p:spPr>
        <p:txBody>
          <a:bodyPr wrap="square" rtlCol="0">
            <a:spAutoFit/>
          </a:bodyPr>
          <a:lstStyle/>
          <a:p>
            <a:pPr algn="ctr" rtl="1"/>
            <a:r>
              <a:rPr lang="he-IL" sz="4000" b="1" dirty="0">
                <a:solidFill>
                  <a:srgbClr val="3E6BB4"/>
                </a:solidFill>
                <a:latin typeface="Assistant" pitchFamily="2" charset="-79"/>
                <a:cs typeface="Assistant" pitchFamily="2" charset="-79"/>
              </a:rPr>
              <a:t>מהלכים משותפים להובלת הרפורמה</a:t>
            </a:r>
          </a:p>
          <a:p>
            <a:pPr algn="ctr" rtl="1"/>
            <a:r>
              <a:rPr lang="he-IL" sz="4000" b="1" dirty="0">
                <a:solidFill>
                  <a:srgbClr val="3E6BB4"/>
                </a:solidFill>
                <a:latin typeface="Assistant" pitchFamily="2" charset="-79"/>
                <a:cs typeface="Assistant" pitchFamily="2" charset="-79"/>
              </a:rPr>
              <a:t>סל אישי מותאם לאזרח הוותיק</a:t>
            </a:r>
          </a:p>
          <a:p>
            <a:pPr algn="ctr" rtl="1"/>
            <a:endParaRPr lang="he-IL" sz="4400" b="1" dirty="0">
              <a:solidFill>
                <a:srgbClr val="3E6BB4"/>
              </a:solidFill>
              <a:latin typeface="Assistant" pitchFamily="2" charset="-79"/>
              <a:cs typeface="Assistant" pitchFamily="2" charset="-79"/>
            </a:endParaRP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9998963" y="139505"/>
            <a:ext cx="814228" cy="596132"/>
          </a:xfrm>
          <a:prstGeom prst="rect">
            <a:avLst/>
          </a:prstGeom>
        </p:spPr>
      </p:pic>
      <p:sp>
        <p:nvSpPr>
          <p:cNvPr id="2" name="TextBox 3">
            <a:extLst>
              <a:ext uri="{FF2B5EF4-FFF2-40B4-BE49-F238E27FC236}">
                <a16:creationId xmlns:a16="http://schemas.microsoft.com/office/drawing/2014/main" id="{1B2D77AF-4E09-7D47-B435-A21266B4499F}"/>
              </a:ext>
            </a:extLst>
          </p:cNvPr>
          <p:cNvSpPr txBox="1"/>
          <p:nvPr/>
        </p:nvSpPr>
        <p:spPr>
          <a:xfrm>
            <a:off x="580505" y="1420043"/>
            <a:ext cx="11030989" cy="4611519"/>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מחקר שטח </a:t>
            </a:r>
            <a:r>
              <a:rPr lang="he-IL" dirty="0">
                <a:latin typeface="Calibri" panose="020F0502020204030204" pitchFamily="34" charset="0"/>
                <a:ea typeface="Calibri" panose="020F0502020204030204" pitchFamily="34" charset="0"/>
                <a:cs typeface="Arial" panose="020B0604020202020204" pitchFamily="34" charset="0"/>
              </a:rPr>
              <a:t>עם מקבלי ונותני השירותים- </a:t>
            </a:r>
            <a:r>
              <a:rPr lang="en-US" dirty="0">
                <a:latin typeface="Calibri" panose="020F0502020204030204" pitchFamily="34" charset="0"/>
                <a:ea typeface="Calibri" panose="020F0502020204030204" pitchFamily="34" charset="0"/>
                <a:cs typeface="Arial" panose="020B0604020202020204" pitchFamily="34" charset="0"/>
              </a:rPr>
              <a:t>EY</a:t>
            </a:r>
            <a:r>
              <a:rPr lang="he-IL" dirty="0">
                <a:latin typeface="Calibri" panose="020F0502020204030204" pitchFamily="34" charset="0"/>
                <a:ea typeface="Calibri" panose="020F0502020204030204" pitchFamily="34" charset="0"/>
                <a:cs typeface="Arial" panose="020B0604020202020204" pitchFamily="34" charset="0"/>
              </a:rPr>
              <a:t> עם רווחה </a:t>
            </a:r>
            <a:r>
              <a:rPr lang="he-IL" dirty="0" err="1">
                <a:latin typeface="Calibri" panose="020F0502020204030204" pitchFamily="34" charset="0"/>
                <a:ea typeface="Calibri" panose="020F0502020204030204" pitchFamily="34" charset="0"/>
                <a:cs typeface="Arial" panose="020B0604020202020204" pitchFamily="34" charset="0"/>
              </a:rPr>
              <a:t>ובטלא</a:t>
            </a:r>
            <a:endParaRPr lang="he-IL" dirty="0">
              <a:latin typeface="Calibri" panose="020F0502020204030204" pitchFamily="34" charset="0"/>
              <a:ea typeface="Calibri" panose="020F0502020204030204" pitchFamily="34" charset="0"/>
              <a:cs typeface="Arial" panose="020B0604020202020204" pitchFamily="34" charset="0"/>
            </a:endParaRP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הגדרת מנגנון העבודה </a:t>
            </a:r>
            <a:r>
              <a:rPr lang="he-IL" dirty="0">
                <a:latin typeface="Calibri" panose="020F0502020204030204" pitchFamily="34" charset="0"/>
                <a:ea typeface="Calibri" panose="020F0502020204030204" pitchFamily="34" charset="0"/>
                <a:cs typeface="Arial" panose="020B0604020202020204" pitchFamily="34" charset="0"/>
              </a:rPr>
              <a:t>המשותף- </a:t>
            </a:r>
            <a:r>
              <a:rPr lang="en-US" dirty="0">
                <a:latin typeface="Calibri" panose="020F0502020204030204" pitchFamily="34" charset="0"/>
                <a:ea typeface="Calibri" panose="020F0502020204030204" pitchFamily="34" charset="0"/>
                <a:cs typeface="Arial" panose="020B0604020202020204" pitchFamily="34" charset="0"/>
              </a:rPr>
              <a:t>EY</a:t>
            </a:r>
            <a:r>
              <a:rPr lang="he-IL" dirty="0">
                <a:latin typeface="Calibri" panose="020F0502020204030204" pitchFamily="34" charset="0"/>
                <a:ea typeface="Calibri" panose="020F0502020204030204" pitchFamily="34" charset="0"/>
                <a:cs typeface="Arial" panose="020B0604020202020204" pitchFamily="34" charset="0"/>
              </a:rPr>
              <a:t> עם רווחה, </a:t>
            </a:r>
            <a:r>
              <a:rPr lang="he-IL" dirty="0" err="1">
                <a:latin typeface="Calibri" panose="020F0502020204030204" pitchFamily="34" charset="0"/>
                <a:ea typeface="Calibri" panose="020F0502020204030204" pitchFamily="34" charset="0"/>
                <a:cs typeface="Arial" panose="020B0604020202020204" pitchFamily="34" charset="0"/>
              </a:rPr>
              <a:t>בטלא</a:t>
            </a:r>
            <a:r>
              <a:rPr lang="he-IL" dirty="0">
                <a:latin typeface="Calibri" panose="020F0502020204030204" pitchFamily="34" charset="0"/>
                <a:ea typeface="Calibri" panose="020F0502020204030204" pitchFamily="34" charset="0"/>
                <a:cs typeface="Arial" panose="020B0604020202020204" pitchFamily="34" charset="0"/>
              </a:rPr>
              <a:t> ובריאות</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נייר מדיניות </a:t>
            </a:r>
            <a:r>
              <a:rPr lang="he-IL" dirty="0">
                <a:latin typeface="Calibri" panose="020F0502020204030204" pitchFamily="34" charset="0"/>
                <a:ea typeface="Calibri" panose="020F0502020204030204" pitchFamily="34" charset="0"/>
              </a:rPr>
              <a:t>משותף על סל תפקוד אישי- רווחה, </a:t>
            </a:r>
            <a:r>
              <a:rPr lang="he-IL" dirty="0" err="1">
                <a:latin typeface="Calibri" panose="020F0502020204030204" pitchFamily="34" charset="0"/>
                <a:ea typeface="Calibri" panose="020F0502020204030204" pitchFamily="34" charset="0"/>
              </a:rPr>
              <a:t>בטל"א</a:t>
            </a:r>
            <a:r>
              <a:rPr lang="he-IL" dirty="0">
                <a:latin typeface="Calibri" panose="020F0502020204030204" pitchFamily="34" charset="0"/>
                <a:ea typeface="Calibri" panose="020F0502020204030204" pitchFamily="34" charset="0"/>
              </a:rPr>
              <a:t> ובריאות</a:t>
            </a:r>
          </a:p>
          <a:p>
            <a:pPr marL="342891" indent="-342891" algn="r" rtl="1">
              <a:lnSpc>
                <a:spcPct val="150000"/>
              </a:lnSpc>
              <a:buFont typeface="+mj-lt"/>
              <a:buAutoNum type="arabicPeriod"/>
            </a:pPr>
            <a:r>
              <a:rPr lang="he-IL" dirty="0" err="1">
                <a:latin typeface="Calibri" panose="020F0502020204030204" pitchFamily="34" charset="0"/>
                <a:ea typeface="Calibri" panose="020F0502020204030204" pitchFamily="34" charset="0"/>
                <a:cs typeface="Arial" panose="020B0604020202020204" pitchFamily="34" charset="0"/>
              </a:rPr>
              <a:t>בנצ'מרק</a:t>
            </a:r>
            <a:r>
              <a:rPr lang="he-IL" dirty="0">
                <a:latin typeface="Calibri" panose="020F0502020204030204" pitchFamily="34" charset="0"/>
                <a:ea typeface="Calibri" panose="020F0502020204030204" pitchFamily="34" charset="0"/>
                <a:cs typeface="Arial" panose="020B0604020202020204" pitchFamily="34" charset="0"/>
              </a:rPr>
              <a:t> </a:t>
            </a:r>
            <a:r>
              <a:rPr lang="he-IL" b="1" dirty="0">
                <a:latin typeface="Calibri" panose="020F0502020204030204" pitchFamily="34" charset="0"/>
                <a:ea typeface="Calibri" panose="020F0502020204030204" pitchFamily="34" charset="0"/>
                <a:cs typeface="Arial" panose="020B0604020202020204" pitchFamily="34" charset="0"/>
              </a:rPr>
              <a:t>סקירת המערכות </a:t>
            </a:r>
            <a:r>
              <a:rPr lang="he-IL" b="1" dirty="0" err="1">
                <a:latin typeface="Calibri" panose="020F0502020204030204" pitchFamily="34" charset="0"/>
                <a:ea typeface="Calibri" panose="020F0502020204030204" pitchFamily="34" charset="0"/>
                <a:cs typeface="Arial" panose="020B0604020202020204" pitchFamily="34" charset="0"/>
              </a:rPr>
              <a:t>ואיפיון</a:t>
            </a:r>
            <a:r>
              <a:rPr lang="he-IL" b="1" dirty="0">
                <a:latin typeface="Calibri" panose="020F0502020204030204" pitchFamily="34" charset="0"/>
                <a:ea typeface="Calibri" panose="020F0502020204030204" pitchFamily="34" charset="0"/>
                <a:cs typeface="Arial" panose="020B0604020202020204" pitchFamily="34" charset="0"/>
              </a:rPr>
              <a:t> דרישות</a:t>
            </a:r>
            <a:r>
              <a:rPr lang="he-IL" dirty="0">
                <a:latin typeface="Calibri" panose="020F0502020204030204" pitchFamily="34" charset="0"/>
                <a:ea typeface="Calibri" panose="020F0502020204030204" pitchFamily="34" charset="0"/>
                <a:cs typeface="Arial" panose="020B0604020202020204" pitchFamily="34" charset="0"/>
              </a:rPr>
              <a:t>- ג'וינט ורווחה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עבודה על פרופילים ואופטימיזציה </a:t>
            </a:r>
            <a:r>
              <a:rPr lang="he-IL" dirty="0">
                <a:latin typeface="Calibri" panose="020F0502020204030204" pitchFamily="34" charset="0"/>
                <a:ea typeface="Calibri" panose="020F0502020204030204" pitchFamily="34" charset="0"/>
                <a:cs typeface="Arial" panose="020B0604020202020204" pitchFamily="34" charset="0"/>
              </a:rPr>
              <a:t>של צרכים ומענים- רווחה, ג'וינט</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מודל תמריצים- </a:t>
            </a:r>
            <a:r>
              <a:rPr lang="en-US" dirty="0">
                <a:latin typeface="Calibri" panose="020F0502020204030204" pitchFamily="34" charset="0"/>
                <a:ea typeface="Calibri" panose="020F0502020204030204" pitchFamily="34" charset="0"/>
                <a:cs typeface="Arial" panose="020B0604020202020204" pitchFamily="34" charset="0"/>
              </a:rPr>
              <a:t>EY</a:t>
            </a:r>
            <a:endParaRPr lang="he-IL" dirty="0">
              <a:latin typeface="Calibri" panose="020F0502020204030204" pitchFamily="34" charset="0"/>
              <a:ea typeface="Calibri" panose="020F0502020204030204" pitchFamily="34" charset="0"/>
              <a:cs typeface="Arial" panose="020B0604020202020204" pitchFamily="34" charset="0"/>
            </a:endParaRPr>
          </a:p>
          <a:p>
            <a:pPr marL="342891" indent="-342891">
              <a:lnSpc>
                <a:spcPct val="150000"/>
              </a:lnSpc>
              <a:buFont typeface="+mj-lt"/>
              <a:buAutoNum type="arabicPeriod"/>
            </a:pPr>
            <a:r>
              <a:rPr lang="he-IL" b="1" dirty="0" err="1">
                <a:latin typeface="Calibri" panose="020F0502020204030204" pitchFamily="34" charset="0"/>
                <a:ea typeface="Calibri" panose="020F0502020204030204" pitchFamily="34" charset="0"/>
                <a:cs typeface="Arial" panose="020B0604020202020204" pitchFamily="34" charset="0"/>
              </a:rPr>
              <a:t>פיילוטים</a:t>
            </a:r>
            <a:r>
              <a:rPr lang="he-IL" dirty="0">
                <a:latin typeface="Calibri" panose="020F0502020204030204" pitchFamily="34" charset="0"/>
                <a:ea typeface="Calibri" panose="020F0502020204030204" pitchFamily="34" charset="0"/>
                <a:cs typeface="Arial" panose="020B0604020202020204" pitchFamily="34" charset="0"/>
              </a:rPr>
              <a:t> בירושלים ובאשכול מפרץ</a:t>
            </a:r>
            <a:endParaRPr lang="he-IL" dirty="0">
              <a:latin typeface="Calibri" panose="020F0502020204030204" pitchFamily="34" charset="0"/>
              <a:ea typeface="Calibri" panose="020F0502020204030204" pitchFamily="34" charset="0"/>
            </a:endParaRP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צוותים רב מערכתיים משותפים </a:t>
            </a:r>
            <a:r>
              <a:rPr lang="he-IL" dirty="0">
                <a:latin typeface="Calibri" panose="020F0502020204030204" pitchFamily="34" charset="0"/>
                <a:ea typeface="Calibri" panose="020F0502020204030204" pitchFamily="34" charset="0"/>
              </a:rPr>
              <a:t>בפורום ברק:  </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פיתוח </a:t>
            </a:r>
            <a:r>
              <a:rPr lang="he-IL" b="1" dirty="0">
                <a:latin typeface="Calibri" panose="020F0502020204030204" pitchFamily="34" charset="0"/>
                <a:ea typeface="Calibri" panose="020F0502020204030204" pitchFamily="34" charset="0"/>
                <a:cs typeface="Arial" panose="020B0604020202020204" pitchFamily="34" charset="0"/>
              </a:rPr>
              <a:t>מקצועי</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a:t>
            </a:r>
            <a:r>
              <a:rPr lang="he-IL" b="1" dirty="0">
                <a:latin typeface="Calibri" panose="020F0502020204030204" pitchFamily="34" charset="0"/>
                <a:ea typeface="Calibri" panose="020F0502020204030204" pitchFamily="34" charset="0"/>
                <a:cs typeface="Arial" panose="020B0604020202020204" pitchFamily="34" charset="0"/>
              </a:rPr>
              <a:t>מדדים</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a:t>
            </a:r>
            <a:r>
              <a:rPr lang="he-IL" b="1" dirty="0">
                <a:latin typeface="Calibri" panose="020F0502020204030204" pitchFamily="34" charset="0"/>
                <a:ea typeface="Calibri" panose="020F0502020204030204" pitchFamily="34" charset="0"/>
                <a:cs typeface="Arial" panose="020B0604020202020204" pitchFamily="34" charset="0"/>
              </a:rPr>
              <a:t>טכנולוגי</a:t>
            </a:r>
          </a:p>
        </p:txBody>
      </p:sp>
      <p:sp>
        <p:nvSpPr>
          <p:cNvPr id="4" name="מלבן 3">
            <a:extLst>
              <a:ext uri="{FF2B5EF4-FFF2-40B4-BE49-F238E27FC236}">
                <a16:creationId xmlns:a16="http://schemas.microsoft.com/office/drawing/2014/main" id="{2AC95A04-8D78-6690-0B22-D8EC531DADC8}"/>
              </a:ext>
            </a:extLst>
          </p:cNvPr>
          <p:cNvSpPr/>
          <p:nvPr/>
        </p:nvSpPr>
        <p:spPr>
          <a:xfrm>
            <a:off x="3093" y="1"/>
            <a:ext cx="230823" cy="594362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TextBox 26">
            <a:extLst>
              <a:ext uri="{FF2B5EF4-FFF2-40B4-BE49-F238E27FC236}">
                <a16:creationId xmlns:a16="http://schemas.microsoft.com/office/drawing/2014/main" id="{55FAE730-1841-F993-5511-B04B97FFC48C}"/>
              </a:ext>
            </a:extLst>
          </p:cNvPr>
          <p:cNvSpPr txBox="1"/>
          <p:nvPr/>
        </p:nvSpPr>
        <p:spPr>
          <a:xfrm rot="16200000">
            <a:off x="-1191695" y="1136079"/>
            <a:ext cx="2577980" cy="33855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7" name="מלבן 6">
            <a:extLst>
              <a:ext uri="{FF2B5EF4-FFF2-40B4-BE49-F238E27FC236}">
                <a16:creationId xmlns:a16="http://schemas.microsoft.com/office/drawing/2014/main" id="{FBC3A7E8-45E2-0B36-5440-14917EACC9CE}"/>
              </a:ext>
            </a:extLst>
          </p:cNvPr>
          <p:cNvSpPr/>
          <p:nvPr/>
        </p:nvSpPr>
        <p:spPr>
          <a:xfrm>
            <a:off x="16817" y="1"/>
            <a:ext cx="230823" cy="5943630"/>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1503778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2522671" y="153528"/>
            <a:ext cx="9094156"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a:t>
            </a:r>
            <a:r>
              <a:rPr kumimoji="0" lang="he-IL" sz="3200" b="1" i="0" u="none" strike="noStrike" kern="1200" cap="none" spc="0" normalizeH="0" baseline="0" noProof="0" dirty="0" err="1">
                <a:ln>
                  <a:noFill/>
                </a:ln>
                <a:solidFill>
                  <a:srgbClr val="0F6FC6"/>
                </a:solidFill>
                <a:effectLst/>
                <a:uLnTx/>
                <a:uFillTx/>
                <a:latin typeface="Assistant" pitchFamily="2" charset="-79"/>
                <a:ea typeface="+mn-ea"/>
                <a:cs typeface="Assistant" pitchFamily="2" charset="-79"/>
              </a:rPr>
              <a:t>הדיגיטל</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יאפשר לפנינה ולנו הזדקנות מטיבה: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438050" y="1805463"/>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בריאות ורווחה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אפשרויות לפעילויות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תמיכה נפשית וחברתית </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497235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מטופל באינסולין</a:t>
            </a:r>
          </a:p>
          <a:p>
            <a:pPr algn="r" rtl="1"/>
            <a:r>
              <a:rPr lang="he-IL" sz="6400" dirty="0"/>
              <a:t>* יתר לחץ דם</a:t>
            </a:r>
          </a:p>
          <a:p>
            <a:pPr algn="r" rtl="1"/>
            <a:r>
              <a:rPr lang="he-IL" sz="6400" dirty="0"/>
              <a:t>* </a:t>
            </a:r>
            <a:r>
              <a:rPr lang="he-IL" sz="6400" dirty="0" err="1"/>
              <a:t>אוסטאוטריטיס</a:t>
            </a:r>
            <a:r>
              <a:rPr lang="he-IL" sz="6400" dirty="0"/>
              <a:t>– 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ליפול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 שעות מטפלת 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וניקיון</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המצב והשיטה היום</a:t>
            </a: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רמה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17 שעות</a:t>
            </a:r>
          </a:p>
        </p:txBody>
      </p:sp>
      <p:sp>
        <p:nvSpPr>
          <p:cNvPr id="15" name="TextBox 14"/>
          <p:cNvSpPr txBox="1"/>
          <p:nvPr/>
        </p:nvSpPr>
        <p:spPr>
          <a:xfrm>
            <a:off x="3635899" y="1833986"/>
            <a:ext cx="12602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הסל הקיים:</a:t>
            </a:r>
          </a:p>
        </p:txBody>
      </p:sp>
      <p:pic>
        <p:nvPicPr>
          <p:cNvPr id="2" name="Picture 3" descr="קובץ:Ministry of Labor, Social Affairs and Social Services ...">
            <a:extLst>
              <a:ext uri="{FF2B5EF4-FFF2-40B4-BE49-F238E27FC236}">
                <a16:creationId xmlns:a16="http://schemas.microsoft.com/office/drawing/2014/main" id="{56384361-9FEF-5BA5-BCE4-6C97452DE551}"/>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09938"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6">
            <a:extLst>
              <a:ext uri="{FF2B5EF4-FFF2-40B4-BE49-F238E27FC236}">
                <a16:creationId xmlns:a16="http://schemas.microsoft.com/office/drawing/2014/main" id="{879C8D2E-8DD9-EE32-1121-DDC692A64B96}"/>
              </a:ext>
            </a:extLst>
          </p:cNvPr>
          <p:cNvPicPr>
            <a:picLocks noChangeAspect="1"/>
          </p:cNvPicPr>
          <p:nvPr/>
        </p:nvPicPr>
        <p:blipFill>
          <a:blip r:embed="rId5"/>
          <a:stretch>
            <a:fillRect/>
          </a:stretch>
        </p:blipFill>
        <p:spPr>
          <a:xfrm>
            <a:off x="267680" y="6217298"/>
            <a:ext cx="1118350" cy="612431"/>
          </a:xfrm>
          <a:prstGeom prst="rect">
            <a:avLst/>
          </a:prstGeom>
          <a:ln>
            <a:noFill/>
          </a:ln>
        </p:spPr>
      </p:pic>
      <p:sp>
        <p:nvSpPr>
          <p:cNvPr id="18" name="מלבן 17">
            <a:extLst>
              <a:ext uri="{FF2B5EF4-FFF2-40B4-BE49-F238E27FC236}">
                <a16:creationId xmlns:a16="http://schemas.microsoft.com/office/drawing/2014/main" id="{E3642A52-AA74-4D08-F3E2-FF4AB1459A1A}"/>
              </a:ext>
            </a:extLst>
          </p:cNvPr>
          <p:cNvSpPr/>
          <p:nvPr/>
        </p:nvSpPr>
        <p:spPr>
          <a:xfrm>
            <a:off x="16817" y="1"/>
            <a:ext cx="230823" cy="5943630"/>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2" name="TextBox 26">
            <a:extLst>
              <a:ext uri="{FF2B5EF4-FFF2-40B4-BE49-F238E27FC236}">
                <a16:creationId xmlns:a16="http://schemas.microsoft.com/office/drawing/2014/main" id="{D96138B2-DAA0-21DB-6BFF-873502B31271}"/>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4286533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356691" y="588475"/>
            <a:ext cx="5456668" cy="5894061"/>
          </a:xfrm>
          <a:prstGeom prst="roundRect">
            <a:avLst/>
          </a:prstGeom>
          <a:solidFill>
            <a:srgbClr val="5EC5C5"/>
          </a:solidFill>
          <a:ln>
            <a:solidFill>
              <a:schemeClr val="accent1"/>
            </a:solidFill>
          </a:ln>
          <a:effectLst>
            <a:softEdge rad="0"/>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a:t>רגישות לכאב </a:t>
            </a:r>
          </a:p>
          <a:p>
            <a:pPr marL="342900" indent="-342900" algn="r" rtl="1">
              <a:buFont typeface="Arial" panose="020B0604020202020204" pitchFamily="34" charset="0"/>
              <a:buChar char="•"/>
            </a:pPr>
            <a:r>
              <a:rPr lang="he-IL" dirty="0"/>
              <a:t>בעיות שמיעה</a:t>
            </a:r>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231053" y="944291"/>
            <a:ext cx="547630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endPar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8 שעות 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1,118 ₪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(2 ש' צבוע + 2 ש' בבחירה) כגון:</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 209 ₪ ל</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קהילה מקדמת שייכות, בריאות וחוסן </a:t>
            </a:r>
            <a:r>
              <a:rPr kumimoji="0" lang="he-IL"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תיווך וסיוע)-</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קורס 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350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9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שיעורי 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בריכה והידרותרפיה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(מענה לקשיים: נוקשות בתנועתיות- סביבת המים, ההחזקה- מענה לחשש מנפילות)</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(קריטי לתפקוד ולמניעת הדרדרות)</a:t>
            </a:r>
            <a:endParaRPr kumimoji="0" lang="he-IL"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דו חודשית 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(צורך בקשר ומשמעות ומיצוי עצמי)</a:t>
            </a: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1409 ₪ מתוכם 1,118 ₪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6097256" y="3295511"/>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7164023" y="3388674"/>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ההזדמנות לשינוי</a:t>
            </a: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 </a:t>
            </a:r>
            <a:r>
              <a:rPr kumimoji="0" lang="he-IL" sz="15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פרופיל  </a:t>
            </a:r>
            <a:r>
              <a:rPr kumimoji="0" lang="he-IL" sz="135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וסל  תפקודי </a:t>
            </a:r>
            <a:r>
              <a:rPr kumimoji="0" lang="he-IL" sz="15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מותאם</a:t>
            </a:r>
          </a:p>
        </p:txBody>
      </p:sp>
      <p:sp>
        <p:nvSpPr>
          <p:cNvPr id="23" name="מלבן 22"/>
          <p:cNvSpPr/>
          <p:nvPr/>
        </p:nvSpPr>
        <p:spPr>
          <a:xfrm>
            <a:off x="994130" y="187332"/>
            <a:ext cx="4030270"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הסל החדש: מותאם, מתמרץ ודוחק תלות:</a:t>
            </a:r>
          </a:p>
        </p:txBody>
      </p:sp>
      <p:sp>
        <p:nvSpPr>
          <p:cNvPr id="17" name="מלבן 16">
            <a:extLst>
              <a:ext uri="{FF2B5EF4-FFF2-40B4-BE49-F238E27FC236}">
                <a16:creationId xmlns:a16="http://schemas.microsoft.com/office/drawing/2014/main" id="{72EB0216-DF15-0ADF-1446-3B696A77CA6A}"/>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0">
            <a:extLst>
              <a:ext uri="{FF2B5EF4-FFF2-40B4-BE49-F238E27FC236}">
                <a16:creationId xmlns:a16="http://schemas.microsoft.com/office/drawing/2014/main" id="{23D44079-AB70-B511-15B2-3CF42217CAD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pic>
        <p:nvPicPr>
          <p:cNvPr id="20" name="Picture 3" descr="קובץ:Ministry of Labor, Social Affairs and Social Services ...">
            <a:extLst>
              <a:ext uri="{FF2B5EF4-FFF2-40B4-BE49-F238E27FC236}">
                <a16:creationId xmlns:a16="http://schemas.microsoft.com/office/drawing/2014/main" id="{656A95EA-F359-CE94-B91F-44C14546E34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311239" y="629597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6">
            <a:extLst>
              <a:ext uri="{FF2B5EF4-FFF2-40B4-BE49-F238E27FC236}">
                <a16:creationId xmlns:a16="http://schemas.microsoft.com/office/drawing/2014/main" id="{9B3813F8-DD0B-0590-A57E-77BDC3E091AB}"/>
              </a:ext>
            </a:extLst>
          </p:cNvPr>
          <p:cNvPicPr>
            <a:picLocks noChangeAspect="1"/>
          </p:cNvPicPr>
          <p:nvPr/>
        </p:nvPicPr>
        <p:blipFill>
          <a:blip r:embed="rId5"/>
          <a:stretch>
            <a:fillRect/>
          </a:stretch>
        </p:blipFill>
        <p:spPr>
          <a:xfrm>
            <a:off x="9068981" y="6196459"/>
            <a:ext cx="1118350" cy="612431"/>
          </a:xfrm>
          <a:prstGeom prst="rect">
            <a:avLst/>
          </a:prstGeom>
          <a:ln>
            <a:noFill/>
          </a:ln>
        </p:spPr>
      </p:pic>
      <p:sp>
        <p:nvSpPr>
          <p:cNvPr id="24" name="מלבן 23">
            <a:extLst>
              <a:ext uri="{FF2B5EF4-FFF2-40B4-BE49-F238E27FC236}">
                <a16:creationId xmlns:a16="http://schemas.microsoft.com/office/drawing/2014/main" id="{F4B2AF41-236D-FB12-507B-AF01E96E92ED}"/>
              </a:ext>
            </a:extLst>
          </p:cNvPr>
          <p:cNvSpPr/>
          <p:nvPr/>
        </p:nvSpPr>
        <p:spPr>
          <a:xfrm>
            <a:off x="16817" y="1"/>
            <a:ext cx="230823" cy="5943630"/>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5" name="TextBox 26">
            <a:extLst>
              <a:ext uri="{FF2B5EF4-FFF2-40B4-BE49-F238E27FC236}">
                <a16:creationId xmlns:a16="http://schemas.microsoft.com/office/drawing/2014/main" id="{3C3FABB2-809D-34EE-520C-83C0B072E435}"/>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3209581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2498484" y="167223"/>
            <a:ext cx="6904454"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מהלך </a:t>
            </a:r>
            <a:r>
              <a:rPr kumimoji="0" lang="he-IL" sz="4400" b="1"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הדיגיטל</a:t>
            </a: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להזדקנות מיטבית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e-IL" sz="2200" dirty="0">
                <a:solidFill>
                  <a:srgbClr val="FFFFFF"/>
                </a:solidFill>
              </a:rPr>
              <a:t>"יחד, נוכל להפוך את מערכת הסיעוד בישראל למודל של חדשנות, יעילות ואיכות חיים - לא רק עבור הדור הנוכחי, אלא גם עבור הדורות הבאים."</a:t>
            </a:r>
            <a:endParaRPr kumimoji="0" lang="he-IL" sz="2200" b="0" i="0" u="none" strike="noStrike" kern="1200" cap="none" spc="0" normalizeH="0" baseline="0" noProof="0" dirty="0">
              <a:ln>
                <a:noFill/>
              </a:ln>
              <a:solidFill>
                <a:srgbClr val="FFFFFF"/>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8536</TotalTime>
  <Words>2699</Words>
  <Application>Microsoft Office PowerPoint</Application>
  <PresentationFormat>מסך רחב</PresentationFormat>
  <Paragraphs>455</Paragraphs>
  <Slides>34</Slides>
  <Notes>21</Notes>
  <HiddenSlides>1</HiddenSlides>
  <MMClips>0</MMClips>
  <ScaleCrop>false</ScaleCrop>
  <HeadingPairs>
    <vt:vector size="6" baseType="variant">
      <vt:variant>
        <vt:lpstr>גופנים בשימוש</vt:lpstr>
      </vt:variant>
      <vt:variant>
        <vt:i4>16</vt:i4>
      </vt:variant>
      <vt:variant>
        <vt:lpstr>ערכת נושא</vt:lpstr>
      </vt:variant>
      <vt:variant>
        <vt:i4>5</vt:i4>
      </vt:variant>
      <vt:variant>
        <vt:lpstr>כותרות שקופיות</vt:lpstr>
      </vt:variant>
      <vt:variant>
        <vt:i4>34</vt:i4>
      </vt:variant>
    </vt:vector>
  </HeadingPairs>
  <TitlesOfParts>
    <vt:vector size="55" baseType="lpstr">
      <vt:lpstr>Aptos</vt:lpstr>
      <vt:lpstr>Arial</vt:lpstr>
      <vt:lpstr>ArialMT</vt:lpstr>
      <vt:lpstr>Assistant</vt:lpstr>
      <vt:lpstr>Assistant ExtraBold</vt:lpstr>
      <vt:lpstr>Assistant SemiBold</vt:lpstr>
      <vt:lpstr>Calibri</vt:lpstr>
      <vt:lpstr>Calibri Light</vt:lpstr>
      <vt:lpstr>Calibri-Bold</vt:lpstr>
      <vt:lpstr>Gotham Book</vt:lpstr>
      <vt:lpstr>Heebo Black</vt:lpstr>
      <vt:lpstr>Montserrat</vt:lpstr>
      <vt:lpstr>Open Sans</vt:lpstr>
      <vt:lpstr>Open Sans Hebrew</vt:lpstr>
      <vt:lpstr>Symbol</vt:lpstr>
      <vt:lpstr>Wingdings</vt:lpstr>
      <vt:lpstr>1_ערכת נושא Office</vt:lpstr>
      <vt:lpstr>Showeet theme</vt:lpstr>
      <vt:lpstr>2_ערכת נושא Office</vt:lpstr>
      <vt:lpstr>Office Theme</vt:lpstr>
      <vt:lpstr>ערכת נושא Office</vt:lpstr>
      <vt:lpstr>מצגת של PowerPoint‏</vt:lpstr>
      <vt:lpstr>מצגת של PowerPoint‏</vt:lpstr>
      <vt:lpstr>מצגת של PowerPoint‏</vt:lpstr>
      <vt:lpstr>מספר ושיעור זכאי גמלת סיעוד לפי שנים </vt:lpstr>
      <vt:lpstr>מצגת של PowerPoint‏</vt:lpstr>
      <vt:lpstr>מצגת של PowerPoint‏</vt:lpstr>
      <vt:lpstr>בעיות עיקריות בחוק סיעוד 2024: </vt:lpstr>
      <vt:lpstr>המלצות ועדה בין משרדית  למניעת הדרדרות תפקודית (דו"ח קידר) 9.2022</vt:lpstr>
      <vt:lpstr>ועדה בין משרדית וחוק ההסדרים: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18</cp:revision>
  <dcterms:created xsi:type="dcterms:W3CDTF">2024-09-19T16:15:12Z</dcterms:created>
  <dcterms:modified xsi:type="dcterms:W3CDTF">2024-09-26T09:49:52Z</dcterms:modified>
</cp:coreProperties>
</file>