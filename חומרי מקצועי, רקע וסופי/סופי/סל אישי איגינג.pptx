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708" r:id="rId3"/>
    <p:sldMasterId id="2147483737" r:id="rId4"/>
  </p:sldMasterIdLst>
  <p:notesMasterIdLst>
    <p:notesMasterId r:id="rId51"/>
  </p:notesMasterIdLst>
  <p:sldIdLst>
    <p:sldId id="2145706334" r:id="rId5"/>
    <p:sldId id="2145707219" r:id="rId6"/>
    <p:sldId id="257" r:id="rId7"/>
    <p:sldId id="2145707243" r:id="rId8"/>
    <p:sldId id="2145707226" r:id="rId9"/>
    <p:sldId id="2145707184" r:id="rId10"/>
    <p:sldId id="2145707244" r:id="rId11"/>
    <p:sldId id="2145707245" r:id="rId12"/>
    <p:sldId id="2145707201" r:id="rId13"/>
    <p:sldId id="2145707221" r:id="rId14"/>
    <p:sldId id="2145704726" r:id="rId15"/>
    <p:sldId id="275" r:id="rId16"/>
    <p:sldId id="2145707197" r:id="rId17"/>
    <p:sldId id="2145707247" r:id="rId18"/>
    <p:sldId id="2145707248" r:id="rId19"/>
    <p:sldId id="1940" r:id="rId20"/>
    <p:sldId id="1937" r:id="rId21"/>
    <p:sldId id="2145707215" r:id="rId22"/>
    <p:sldId id="2145707216" r:id="rId23"/>
    <p:sldId id="2145706441" r:id="rId24"/>
    <p:sldId id="2145707238" r:id="rId25"/>
    <p:sldId id="2145707191" r:id="rId26"/>
    <p:sldId id="2145707188" r:id="rId27"/>
    <p:sldId id="2145707190" r:id="rId28"/>
    <p:sldId id="2145707192" r:id="rId29"/>
    <p:sldId id="2145707200" r:id="rId30"/>
    <p:sldId id="2145707204" r:id="rId31"/>
    <p:sldId id="2145704730" r:id="rId32"/>
    <p:sldId id="2145707207" r:id="rId33"/>
    <p:sldId id="2145707217" r:id="rId34"/>
    <p:sldId id="2145706440" r:id="rId35"/>
    <p:sldId id="2145707211" r:id="rId36"/>
    <p:sldId id="2145707218" r:id="rId37"/>
    <p:sldId id="2145707209" r:id="rId38"/>
    <p:sldId id="2145707240" r:id="rId39"/>
    <p:sldId id="2145707241" r:id="rId40"/>
    <p:sldId id="321" r:id="rId41"/>
    <p:sldId id="322" r:id="rId42"/>
    <p:sldId id="2145707208" r:id="rId43"/>
    <p:sldId id="2145707222" r:id="rId44"/>
    <p:sldId id="2145707242" r:id="rId45"/>
    <p:sldId id="2145707231" r:id="rId46"/>
    <p:sldId id="2145707235" r:id="rId47"/>
    <p:sldId id="2145707236" r:id="rId48"/>
    <p:sldId id="2145706336" r:id="rId49"/>
    <p:sldId id="2145704698" r:id="rId5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iad itzhaky" initials="ai" lastIdx="2" clrIdx="0">
    <p:extLst>
      <p:ext uri="{19B8F6BF-5375-455C-9EA6-DF929625EA0E}">
        <p15:presenceInfo xmlns:p15="http://schemas.microsoft.com/office/powerpoint/2012/main" userId="85f879c6d6d2bb18" providerId="Windows Live"/>
      </p:ext>
    </p:extLst>
  </p:cmAuthor>
  <p:cmAuthor id="2" name="Dafna Levin" initials="DL" lastIdx="51" clrIdx="1">
    <p:extLst>
      <p:ext uri="{19B8F6BF-5375-455C-9EA6-DF929625EA0E}">
        <p15:presenceInfo xmlns:p15="http://schemas.microsoft.com/office/powerpoint/2012/main" userId="S::DafnaLe@jdc.org::63e6aa29-833a-4ee6-81bc-ceb9fcaf9e01" providerId="AD"/>
      </p:ext>
    </p:extLst>
  </p:cmAuthor>
  <p:cmAuthor id="3" name="אביעד יצחק" initials="אי" lastIdx="66" clrIdx="2">
    <p:extLst>
      <p:ext uri="{19B8F6BF-5375-455C-9EA6-DF929625EA0E}">
        <p15:presenceInfo xmlns:p15="http://schemas.microsoft.com/office/powerpoint/2012/main" userId="dfdfd6e216b3e1d1" providerId="Windows Live"/>
      </p:ext>
    </p:extLst>
  </p:cmAuthor>
  <p:cmAuthor id="4" name="Ofer Tabach" initials="OT" lastIdx="3" clrIdx="3">
    <p:extLst>
      <p:ext uri="{19B8F6BF-5375-455C-9EA6-DF929625EA0E}">
        <p15:presenceInfo xmlns:p15="http://schemas.microsoft.com/office/powerpoint/2012/main" userId="S::oferta@matrixdna.ai::7547138f-517c-4962-a851-f9fb104965cc" providerId="AD"/>
      </p:ext>
    </p:extLst>
  </p:cmAuthor>
  <p:cmAuthor id="5" name="Sivan Shrem" initials="SS" lastIdx="2" clrIdx="4">
    <p:extLst>
      <p:ext uri="{19B8F6BF-5375-455C-9EA6-DF929625EA0E}">
        <p15:presenceInfo xmlns:p15="http://schemas.microsoft.com/office/powerpoint/2012/main" userId="S::sivansh@matrixdna.ai::6250b58e-a03b-47b1-a0fa-75507e2807c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0F9"/>
    <a:srgbClr val="F3F8FD"/>
    <a:srgbClr val="E7F4FB"/>
    <a:srgbClr val="E5F1FA"/>
    <a:srgbClr val="F8FBFE"/>
    <a:srgbClr val="3EB9D6"/>
    <a:srgbClr val="05B7D9"/>
    <a:srgbClr val="0F6FC6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91509" autoAdjust="0"/>
  </p:normalViewPr>
  <p:slideViewPr>
    <p:cSldViewPr snapToGrid="0">
      <p:cViewPr varScale="1">
        <p:scale>
          <a:sx n="100" d="100"/>
          <a:sy n="100" d="100"/>
        </p:scale>
        <p:origin x="52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viadi\AppData\Local\Microsoft\Windows\INetCache\Content.Outlook\DE53CT70\&#1506;&#1493;&#1514;&#1511;%20&#1513;&#1500;%20&#1502;&#1493;&#1513;&#1502;&#1497;%20&#1512;&#1493;&#1493;&#1495;&#1492;%20&#1489;&#1502;&#1512;&#1499;&#1494;&#1497;%20&#1492;&#1497;&#1493;&#1501;%202019-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netapp\workgrps\Hizdaknut\&#1506;&#1493;&#1490;&#1514;%20&#1492;&#1492;&#1493;&#1510;&#1488;&#1492;%20&#1492;&#1514;&#1511;&#1510;&#1497;&#1489;&#1497;&#1514;%20&#1506;&#1500;%20&#1494;&#1511;&#1504;&#1497;&#150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kern="1200" cap="none" spc="5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he-IL" sz="20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תחזית של אחוז בני ה-65+ מהאוכלוסייה בישראל</a:t>
            </a:r>
            <a:br>
              <a:rPr lang="en-US" sz="20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0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2025-2045  </a:t>
            </a:r>
            <a:r>
              <a:rPr lang="he-IL" sz="14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(שנתון 2023 </a:t>
            </a:r>
            <a:r>
              <a:rPr lang="he-IL" sz="1400" b="1" dirty="0" err="1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ברוקדייל</a:t>
            </a:r>
            <a:r>
              <a:rPr lang="he-IL" sz="14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)</a:t>
            </a:r>
            <a:endParaRPr lang="he-IL" sz="2000" b="1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1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000" b="0" i="0" u="none" strike="noStrike" kern="1200" cap="none" spc="5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גיליון1!$D$12</c:f>
              <c:strCache>
                <c:ptCount val="1"/>
                <c:pt idx="0">
                  <c:v>אחוז זקנים</c:v>
                </c:pt>
              </c:strCache>
            </c:strRef>
          </c:tx>
          <c:spPr>
            <a:solidFill>
              <a:srgbClr val="0F6FC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trendline>
            <c:spPr>
              <a:ln w="15875" cap="rnd">
                <a:solidFill>
                  <a:schemeClr val="accent5"/>
                </a:solidFill>
              </a:ln>
              <a:effectLst/>
            </c:spPr>
            <c:trendlineType val="linear"/>
            <c:dispRSqr val="0"/>
            <c:dispEq val="0"/>
          </c:trendline>
          <c:cat>
            <c:numRef>
              <c:f>גיליון1!$C$13:$C$33</c:f>
              <c:numCache>
                <c:formatCode>General</c:formatCode>
                <c:ptCount val="2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  <c:pt idx="16">
                  <c:v>2041</c:v>
                </c:pt>
                <c:pt idx="17">
                  <c:v>2042</c:v>
                </c:pt>
                <c:pt idx="18">
                  <c:v>2043</c:v>
                </c:pt>
                <c:pt idx="19">
                  <c:v>2044</c:v>
                </c:pt>
                <c:pt idx="20">
                  <c:v>2045</c:v>
                </c:pt>
              </c:numCache>
            </c:numRef>
          </c:cat>
          <c:val>
            <c:numRef>
              <c:f>גיליון1!$D$13:$D$33</c:f>
              <c:numCache>
                <c:formatCode>0.0%</c:formatCode>
                <c:ptCount val="21"/>
                <c:pt idx="0">
                  <c:v>0.128</c:v>
                </c:pt>
                <c:pt idx="1">
                  <c:v>0.129</c:v>
                </c:pt>
                <c:pt idx="2">
                  <c:v>0.13</c:v>
                </c:pt>
                <c:pt idx="3">
                  <c:v>0.13100000000000001</c:v>
                </c:pt>
                <c:pt idx="4">
                  <c:v>0.13200000000000001</c:v>
                </c:pt>
                <c:pt idx="5">
                  <c:v>0.13300000000000001</c:v>
                </c:pt>
                <c:pt idx="6">
                  <c:v>0.13400000000000001</c:v>
                </c:pt>
                <c:pt idx="7">
                  <c:v>0.13500000000000001</c:v>
                </c:pt>
                <c:pt idx="8">
                  <c:v>0.13600000000000001</c:v>
                </c:pt>
                <c:pt idx="9">
                  <c:v>0.13700000000000001</c:v>
                </c:pt>
                <c:pt idx="10">
                  <c:v>0.13800000000000001</c:v>
                </c:pt>
                <c:pt idx="11">
                  <c:v>0.13900000000000001</c:v>
                </c:pt>
                <c:pt idx="12">
                  <c:v>0.14000000000000001</c:v>
                </c:pt>
                <c:pt idx="13">
                  <c:v>0.14100000000000001</c:v>
                </c:pt>
                <c:pt idx="14">
                  <c:v>0.14200000000000002</c:v>
                </c:pt>
                <c:pt idx="15">
                  <c:v>0.14300000000000002</c:v>
                </c:pt>
                <c:pt idx="16">
                  <c:v>0.14400000000000002</c:v>
                </c:pt>
                <c:pt idx="17">
                  <c:v>0.14500000000000002</c:v>
                </c:pt>
                <c:pt idx="18">
                  <c:v>0.14599999999999999</c:v>
                </c:pt>
                <c:pt idx="19">
                  <c:v>0.14699999999999999</c:v>
                </c:pt>
                <c:pt idx="20">
                  <c:v>0.14799999999999999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DE-4127-87FE-3836A406AB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517736920"/>
        <c:axId val="517731344"/>
      </c:barChart>
      <c:catAx>
        <c:axId val="517736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517731344"/>
        <c:crosses val="autoZero"/>
        <c:auto val="1"/>
        <c:lblAlgn val="ctr"/>
        <c:lblOffset val="100"/>
        <c:noMultiLvlLbl val="0"/>
      </c:catAx>
      <c:valAx>
        <c:axId val="517731344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517736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95000"/>
                </a:schemeClr>
              </a:solidFill>
            </a:ln>
          </c:spPr>
          <c:dPt>
            <c:idx val="0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DB4-49F9-82A5-FEEAFFC616F5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DB4-49F9-82A5-FEEAFFC616F5}"/>
              </c:ext>
            </c:extLst>
          </c:dPt>
          <c:dPt>
            <c:idx val="2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DB4-49F9-82A5-FEEAFFC616F5}"/>
              </c:ext>
            </c:extLst>
          </c:dPt>
          <c:dPt>
            <c:idx val="3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DB4-49F9-82A5-FEEAFFC616F5}"/>
              </c:ext>
            </c:extLst>
          </c:dPt>
          <c:dPt>
            <c:idx val="4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DB4-49F9-82A5-FEEAFFC616F5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DB4-49F9-82A5-FEEAFFC616F5}"/>
              </c:ext>
            </c:extLst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DB4-49F9-82A5-FEEAFFC616F5}"/>
              </c:ext>
            </c:extLst>
          </c:dPt>
          <c:dPt>
            <c:idx val="7"/>
            <c:bubble3D val="0"/>
            <c:spPr>
              <a:solidFill>
                <a:srgbClr val="0F6FC6"/>
              </a:solidFill>
              <a:ln w="3175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DB4-49F9-82A5-FEEAFFC616F5}"/>
              </c:ext>
            </c:extLst>
          </c:dPt>
          <c:dPt>
            <c:idx val="8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DB4-49F9-82A5-FEEAFFC616F5}"/>
              </c:ext>
            </c:extLst>
          </c:dPt>
          <c:dPt>
            <c:idx val="9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7DB4-49F9-82A5-FEEAFFC616F5}"/>
              </c:ext>
            </c:extLst>
          </c:dPt>
          <c:dPt>
            <c:idx val="10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7DB4-49F9-82A5-FEEAFFC616F5}"/>
              </c:ext>
            </c:extLst>
          </c:dPt>
          <c:dPt>
            <c:idx val="11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7DB4-49F9-82A5-FEEAFFC616F5}"/>
              </c:ext>
            </c:extLst>
          </c:dPt>
          <c:dPt>
            <c:idx val="12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7DB4-49F9-82A5-FEEAFFC616F5}"/>
              </c:ext>
            </c:extLst>
          </c:dPt>
          <c:dPt>
            <c:idx val="13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7DB4-49F9-82A5-FEEAFFC616F5}"/>
              </c:ext>
            </c:extLst>
          </c:dPt>
          <c:dPt>
            <c:idx val="14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7DB4-49F9-82A5-FEEAFFC616F5}"/>
              </c:ext>
            </c:extLst>
          </c:dPt>
          <c:dPt>
            <c:idx val="15"/>
            <c:bubble3D val="0"/>
            <c:spPr>
              <a:solidFill>
                <a:schemeClr val="bg1">
                  <a:lumMod val="6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7DB4-49F9-82A5-FEEAFFC616F5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fld id="{32E26173-42DE-4F16-BC6F-D1EA84ED6762}" type="CATEGORYNAME">
                      <a:rPr lang="he-IL"/>
                      <a:pPr/>
                      <a:t>[שם קטגוריה]</a:t>
                    </a:fld>
                    <a:r>
                      <a:rPr lang="he-IL"/>
                      <a:t>, </a:t>
                    </a:r>
                    <a:fld id="{5323395A-D5B4-471D-B3DD-E8DD1A3506ED}" type="VALUE">
                      <a:rPr lang="he-IL"/>
                      <a:pPr/>
                      <a:t>[ערך]</a:t>
                    </a:fld>
                    <a:r>
                      <a:rPr lang="he-IL"/>
                      <a:t>/9.5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DB4-49F9-82A5-FEEAFFC616F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85CD460-8D22-4B38-83E1-CCA1803CBE79}" type="CATEGORYNAME">
                      <a:rPr lang="he-IL"/>
                      <a:pPr/>
                      <a:t>[שם קטגוריה]</a:t>
                    </a:fld>
                    <a:r>
                      <a:rPr lang="he-IL"/>
                      <a:t> </a:t>
                    </a:r>
                    <a:fld id="{095DCECD-DB69-4EB5-9444-F1F6AD412F4D}" type="VALUE">
                      <a:rPr lang="he-IL"/>
                      <a:pPr/>
                      <a:t>[ערך]</a:t>
                    </a:fld>
                    <a:endParaRPr lang="he-IL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DB4-49F9-82A5-FEEAFFC616F5}"/>
                </c:ext>
              </c:extLst>
            </c:dLbl>
            <c:dLbl>
              <c:idx val="6"/>
              <c:layout>
                <c:manualLayout>
                  <c:x val="6.1820553320125531E-2"/>
                  <c:y val="3.245635564164275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DB4-49F9-82A5-FEEAFFC616F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36948239771284802"/>
                      <c:h val="8.64607870905237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7DB4-49F9-82A5-FEEAFFC616F5}"/>
                </c:ext>
              </c:extLst>
            </c:dLbl>
            <c:dLbl>
              <c:idx val="13"/>
              <c:layout>
                <c:manualLayout>
                  <c:x val="-0.23098061049189708"/>
                  <c:y val="-1.446763049882050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DB4-49F9-82A5-FEEAFFC616F5}"/>
                </c:ext>
              </c:extLst>
            </c:dLbl>
            <c:dLbl>
              <c:idx val="14"/>
              <c:layout>
                <c:manualLayout>
                  <c:x val="2.3896449845200764E-2"/>
                  <c:y val="3.667810029549687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DB4-49F9-82A5-FEEAFFC616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he-IL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גיליון1!$A$2:$A$17</c:f>
              <c:strCache>
                <c:ptCount val="16"/>
                <c:pt idx="0">
                  <c:v>קצבת זקנה ושאירים </c:v>
                </c:pt>
                <c:pt idx="1">
                  <c:v>גמלת סיעוד</c:v>
                </c:pt>
                <c:pt idx="2">
                  <c:v>אשפוז בבתי החולים - גריאטריה פעילה (קופות החולים)</c:v>
                </c:pt>
                <c:pt idx="3">
                  <c:v>הטבות מס</c:v>
                </c:pt>
                <c:pt idx="4">
                  <c:v>אשפוז במוסד (משרד הבריאות)</c:v>
                </c:pt>
                <c:pt idx="5">
                  <c:v>תקציב ניצולי שואה</c:v>
                </c:pt>
                <c:pt idx="6">
                  <c:v>השלמת הכנסה</c:v>
                </c:pt>
                <c:pt idx="7">
                  <c:v>השירות לזקן במשרד הרווחה</c:v>
                </c:pt>
                <c:pt idx="8">
                  <c:v>פנסיה תקציבית</c:v>
                </c:pt>
                <c:pt idx="9">
                  <c:v>סיוע בשכר דירה לקשישים</c:v>
                </c:pt>
                <c:pt idx="10">
                  <c:v>דיור ציבורי לקשישים</c:v>
                </c:pt>
                <c:pt idx="11">
                  <c:v>מקבצי דיור לקשישים עולים</c:v>
                </c:pt>
                <c:pt idx="12">
                  <c:v>פנסיה צוברת לעובדי מדינה</c:v>
                </c:pt>
                <c:pt idx="13">
                  <c:v>סבסוד מיועדות</c:v>
                </c:pt>
                <c:pt idx="14">
                  <c:v>סיוע לקרנות הותיקות</c:v>
                </c:pt>
                <c:pt idx="15">
                  <c:v>סל בריאות לקשישים</c:v>
                </c:pt>
              </c:strCache>
            </c:strRef>
          </c:cat>
          <c:val>
            <c:numRef>
              <c:f>גיליון1!$B$2:$B$17</c:f>
              <c:numCache>
                <c:formatCode>General</c:formatCode>
                <c:ptCount val="16"/>
                <c:pt idx="0">
                  <c:v>27.9</c:v>
                </c:pt>
                <c:pt idx="1">
                  <c:v>6.3</c:v>
                </c:pt>
                <c:pt idx="2">
                  <c:v>1.5</c:v>
                </c:pt>
                <c:pt idx="3">
                  <c:v>27</c:v>
                </c:pt>
                <c:pt idx="4">
                  <c:v>1.5</c:v>
                </c:pt>
                <c:pt idx="5">
                  <c:v>5.0999999999999996</c:v>
                </c:pt>
                <c:pt idx="6">
                  <c:v>3.3</c:v>
                </c:pt>
                <c:pt idx="7">
                  <c:v>0.5</c:v>
                </c:pt>
                <c:pt idx="8">
                  <c:v>23</c:v>
                </c:pt>
                <c:pt idx="9">
                  <c:v>0.8</c:v>
                </c:pt>
                <c:pt idx="10">
                  <c:v>0.03</c:v>
                </c:pt>
                <c:pt idx="11">
                  <c:v>0.4</c:v>
                </c:pt>
                <c:pt idx="12">
                  <c:v>14</c:v>
                </c:pt>
                <c:pt idx="13">
                  <c:v>6</c:v>
                </c:pt>
                <c:pt idx="14">
                  <c:v>4</c:v>
                </c:pt>
                <c:pt idx="15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7DB4-49F9-82A5-FEEAFFC61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Segoe UI" panose="020B0502040204020203" pitchFamily="34" charset="0"/>
          <a:cs typeface="Segoe UI" panose="020B0502040204020203" pitchFamily="34" charset="0"/>
        </a:defRPr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ssistant" pitchFamily="2" charset="-79"/>
              </a:defRPr>
            </a:lvl1pPr>
          </a:lstStyle>
          <a:p>
            <a:endParaRPr lang="en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ssistant" pitchFamily="2" charset="-79"/>
              </a:defRPr>
            </a:lvl1pPr>
          </a:lstStyle>
          <a:p>
            <a:fld id="{3CE4A2B3-8130-4727-A528-BDC3D0EB4432}" type="datetimeFigureOut">
              <a:rPr lang="en-IL" smtClean="0"/>
              <a:pPr/>
              <a:t>09/12/2024</a:t>
            </a:fld>
            <a:endParaRPr lang="en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ssistant" pitchFamily="2" charset="-79"/>
              </a:defRPr>
            </a:lvl1pPr>
          </a:lstStyle>
          <a:p>
            <a:endParaRPr lang="en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ssistant" pitchFamily="2" charset="-79"/>
              </a:defRPr>
            </a:lvl1pPr>
          </a:lstStyle>
          <a:p>
            <a:fld id="{EF290769-FC4B-4518-8E82-10D24D0B70E5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2960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ssistant" pitchFamily="2" charset="-79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ssistant" pitchFamily="2" charset="-79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ssistant" pitchFamily="2" charset="-79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ssistant" pitchFamily="2" charset="-79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ssistant" pitchFamily="2" charset="-79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עד עשרים שנה מגיעים ל15%, הגיל הרביעי מכפיל את עצמו </a:t>
            </a:r>
            <a:r>
              <a:rPr lang="he-IL" dirty="0" err="1"/>
              <a:t>במויות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3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0426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6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1588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r" rt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מושקע תקציב עתק- תוצאות לא טובות ולא במקרה: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פנינה מקבלת כביסה, טיטולים/מטפלת/מרכז יום-</a:t>
            </a:r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כל מה שהיא לא צריכה..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7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84539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שת"פ יחד עם טכנולוגיה אנו מבינים שזה </a:t>
            </a:r>
            <a:r>
              <a:rPr lang="he-IL" dirty="0" err="1"/>
              <a:t>גיים</a:t>
            </a:r>
            <a:r>
              <a:rPr lang="he-IL" dirty="0"/>
              <a:t> </a:t>
            </a:r>
            <a:r>
              <a:rPr lang="he-IL" dirty="0" err="1"/>
              <a:t>צינג'ר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12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12825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F8C23-862A-4E90-8E18-A70B6FCB1DF9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6286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19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30617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20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04071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</a:t>
            </a:r>
            <a:r>
              <a:rPr lang="en-US" baseline="0" dirty="0"/>
              <a:t> </a:t>
            </a:r>
            <a:r>
              <a:rPr lang="he-IL" baseline="0" dirty="0"/>
              <a:t>מהבריאות בקהילה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3FB198-B410-4AA9-86F5-D09177D6400A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46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פייזר כמקרה שאפשר ללמוד ממנו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24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0648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he-IL" dirty="0"/>
              <a:t>ממשלה מכוונת, מאפשרת ומגוננת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25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61898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אגם מידע של עולמות הדאטה בזקנה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דאטה דמוגרפי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דאטה רפואי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דאטה בריאות (התנהגויות בריאות...)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חברתי ורווחתי והשפעה על בריאות– כולל מעגלי שייכות (למשל משפחתי) מול בדידות כגורם שלילי.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44" name="Google Shape;4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7337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Neko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976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6e4ddf290b_1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16e4ddf290b_1_3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16e4ddf290b_1_3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0423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6e4ddf290b_1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16e4ddf290b_1_6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24" name="Google Shape;724;g16e4ddf290b_1_6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1055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6e4ddf290b_1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16e4ddf290b_1_6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24" name="Google Shape;724;g16e4ddf290b_1_6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0495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6e4ddf290b_1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16e4ddf290b_1_6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24" name="Google Shape;724;g16e4ddf290b_1_6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6825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עקרון להסתכל על אתגרים הזקנה מול מגמות הטכנולוגיה ולחבר כמענה מותאם לצרכים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40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053814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אנו בונים יחד מערכת הפעלה חדשה לזקנה-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לספר את פנינה מול הפתרונות)- פנינה מקבלת סל אישי, המלצות להתנהלות בריאה, </a:t>
            </a:r>
            <a:r>
              <a:rPr lang="he-IL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וואץאפ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מחברה שרוצה לצאת איתה לסיבוב בעיר, מיצוי זכויות פרואקטיבי על אוטומט, נכנסת לפורטל כדי להבין יותר את המחלה ואיך מומלץ להתמודד, העוזר האישי </a:t>
            </a:r>
            <a:r>
              <a:rPr lang="he-IL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הוירטואלי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ממליץ על תזונה ועושה הזמנה לצרכיה- ממש מודל פנינה להזדקנות מיטבית.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2800" dirty="0"/>
              <a:t>המלצות אישיות להתנהלות בריאה וחכמה: • תוכנית תזונה מותאמת אישית • תוכנית פעילות גופנית מותאמת ליכולות • תזכורות לבדיקות רפואיות תקופתיות סל אישי מותאם: • שירותי בריאות ורווחה מותאמים אישית • אפשרויות לפעילויות פנאי והעשרה • שירותי תמיכה נפשית וחברתית </a:t>
            </a:r>
            <a:r>
              <a:rPr lang="he-IL" sz="2800" dirty="0" err="1"/>
              <a:t>וואטסאפ</a:t>
            </a:r>
            <a:r>
              <a:rPr lang="he-IL" sz="2800" dirty="0"/>
              <a:t> חכמה מחוברת לסיבוב בעיר: • עדכונים על פעילויות קהילתיות מתאימות • הצעות לטיולים ומסלולים נגישים בסביבה • קישור לקבוצות תמיכה וחברה מקומיות עוזר אישי וירטואלי </a:t>
            </a:r>
            <a:r>
              <a:rPr lang="en-US" sz="2800" dirty="0"/>
              <a:t>AGI: • </a:t>
            </a:r>
            <a:r>
              <a:rPr lang="he-IL" sz="2800" dirty="0"/>
              <a:t>מעקב אחר לוח זמנים ותזכורות חשובות • סיוע בניהול תקציב והוצאות • מתן מידע מותאם אישית על זכויות ושירותים נכנסת לפורטל הזקנה הלאומי: • גישה למידע מקיף על שירותים ותוכניות • אפשרות להגשת בקשות ומילוי טפסים באופן מקוון • פורומים ומרחבי שיתוף עם אזרחים ותיקים אחרים איתור ומיצוי זכויות פרו-אקטיבי: • סריקה אוטומטית של זכאויות חדשות • הודעות יזומות על שינויים בזכאויות • סיוע בהגשת בקשות למימוש זכויות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90769-FC4B-4518-8E82-10D24D0B70E5}" type="slidenum">
              <a:rPr lang="en-IL" smtClean="0"/>
              <a:pPr/>
              <a:t>41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17420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he-IL" dirty="0"/>
              <a:t>דרך שלושה צירי מפתח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6B088-BEEC-4145-AEDC-27EC65BEFD4A}" type="slidenum">
              <a:rPr kumimoji="0" lang="en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956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3FB198-B410-4AA9-86F5-D09177D6400A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288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יש כבר פלטפורמה דיגיטלית שעובדת שעושה התאמה אישית על בסיס תפקוד באמצעות </a:t>
            </a:r>
            <a:r>
              <a:rPr lang="en-US" dirty="0"/>
              <a:t>AI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3FB198-B410-4AA9-86F5-D09177D6400A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34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9CF2-FEF6-4884-93C8-66F225F8C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7E841-C4FD-4FF1-B5CE-C23BBF8BA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F626F-0FD8-471F-B1A2-4AD1814B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202FC-3E7A-4509-8DDA-296BDCEB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8DB32-4651-4FF1-8118-B67BA5E0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645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157B-F0B1-469E-A1A6-A566A2C7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1B4C-1061-4980-BF45-9B235DFB0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48F3-B46F-4709-BD02-549F38A6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A0E69-7D9A-4CEB-A98E-7E4CB392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2E01A-DFE0-41AC-A8D1-D1BD1C79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394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B632-E142-4AD2-8801-0F2B830B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C64EC-1599-48AD-84BE-1CD0F455F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A8002-3169-476D-880A-CAFD35DD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7634-C145-41AB-BCB8-676B9F11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5CA2-F133-45DA-86A8-931CD91F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91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7B1F-C30F-4EE1-80DE-DBBC3167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08DE-B05D-43F4-98DA-A6969522F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E28E0-6D63-48F2-834B-1E312B20D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2A9FA-2298-45FF-B737-DEBD5DE1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41A74-D5D7-4632-8552-E5F753F8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FADF-CFE9-4FF7-9703-F8818639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136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3A2F-D0D5-4522-85DD-B1717918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4B264-177E-4048-BE87-AE7838290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28566-E393-41F7-A1F4-106B2AA84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7F394-1D76-462F-A7D6-F1EBE7991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57361-AF4C-476A-BCB6-791948ADC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7CBAC-968E-42A6-94EF-EEF800C6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8A626-55D2-463E-AAEC-569D4B9C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E6598-8A49-4196-A24B-AD093A74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188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7402-AE6F-40E6-A490-C6B53342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9E7B1-10C3-47E5-991E-0A30BE89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E2AF4-05BF-462F-82B3-8156C516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7C240-D7C7-4798-A9A8-873C8A32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012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467C9-466D-4974-A7C1-9E6F9852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91AED-FF97-467A-9C59-E08C094D8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29AE-E94E-4CB8-9292-0E54DF3B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49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5CBB-2B55-4380-A219-C8823E2E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3ECE-61EA-455C-8AF7-73DA8CB1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FE761-5D1B-4F2F-8D7D-F65D579B9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FE3B6-D29F-44E5-ACAC-3902BB946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2D2EF-9EDB-4502-9E3A-0FF439D8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CBD61-3498-4452-8B9E-BF128667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643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41B7-695C-44EB-87C2-E8BF68A3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FABCF-7DCA-46FD-B86E-85C20942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CE2D2-9976-4EF9-81D3-3FEF21A0D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1DECC-0B21-4C72-B8BC-0BAF59E8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5287-1D16-4D95-B9C8-AE870CEB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48362-DB3C-46E9-9C06-7849BA31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338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B271-1F80-4357-B2D5-8DDA4869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A0E6-144E-4B65-8DEF-96839D4D9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7867C-9033-4B15-A0CF-A50B3B16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80DC4-82B1-4E37-BA18-D3AC5673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5E84C-8517-44AE-9B6A-25C44665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274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4C7B9-949D-49B1-9E84-5E134665E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F19A2-2188-418F-805F-804309C6E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8A66D-F6EC-4A88-9983-D809BF71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C6FCE-5E02-4FD1-9DDA-525E0E4A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D6E4-8D20-4A65-8E01-D8857D56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6558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36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A33C2765-E215-468E-A877-F2295A9F57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795" y="147514"/>
            <a:ext cx="1450862" cy="39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398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497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0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2"/>
          </p:nvPr>
        </p:nvSpPr>
        <p:spPr>
          <a:xfrm>
            <a:off x="300464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3"/>
          </p:nvPr>
        </p:nvSpPr>
        <p:spPr>
          <a:xfrm>
            <a:off x="539969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660640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434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147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969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248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155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09600" y="1875925"/>
            <a:ext cx="7068400" cy="421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>
                <a:latin typeface="Assistant" pitchFamily="2" charset="-79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defRPr>
                <a:latin typeface="Assistant" pitchFamily="2" charset="-79"/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240775846"/>
      </p:ext>
    </p:extLst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  <a:lvl2pPr>
              <a:defRPr>
                <a:latin typeface="Assistant" pitchFamily="2" charset="-79"/>
              </a:defRPr>
            </a:lvl2pPr>
            <a:lvl3pPr>
              <a:defRPr>
                <a:latin typeface="Assistant" pitchFamily="2" charset="-79"/>
              </a:defRPr>
            </a:lvl3pPr>
            <a:lvl4pPr>
              <a:defRPr>
                <a:latin typeface="Assistant" pitchFamily="2" charset="-79"/>
              </a:defRPr>
            </a:lvl4pPr>
            <a:lvl5pPr>
              <a:defRPr>
                <a:latin typeface="Assistant" pitchFamily="2" charset="-79"/>
              </a:defRPr>
            </a:lvl5pPr>
          </a:lstStyle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50A7289E-A01B-4831-8F11-C8CCC0732A3D}" type="datetimeFigureOut">
              <a:rPr lang="he-IL" smtClean="0"/>
              <a:pPr/>
              <a:t>ח'/כסלו/תשפ"ה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0BF2A8D9-E848-4F9E-A3AB-56F701107823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0143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50A7289E-A01B-4831-8F11-C8CCC0732A3D}" type="datetimeFigureOut">
              <a:rPr lang="he-IL" smtClean="0"/>
              <a:pPr/>
              <a:t>ח'/כסלו/תשפ"ה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0BF2A8D9-E848-4F9E-A3AB-56F701107823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6280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137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878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50A7289E-A01B-4831-8F11-C8CCC0732A3D}" type="datetimeFigureOut">
              <a:rPr lang="he-IL" smtClean="0"/>
              <a:pPr/>
              <a:t>ח'/כסלו/תשפ"ה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0BF2A8D9-E848-4F9E-A3AB-56F701107823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62898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198381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ssistant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dirty="0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A2B3D744-8BFC-49C4-921C-A4357DD28206}" type="datetimeFigureOut">
              <a:rPr lang="he-IL" smtClean="0"/>
              <a:pPr/>
              <a:t>ח'/כסלו/תשפ"ה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C4BCB286-1E5E-4B02-A0C5-06BDEC1E2FA1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2567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Content Bol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58A5-D8CF-7C4B-91E5-22A99FEA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30" y="263952"/>
            <a:ext cx="11281809" cy="880636"/>
          </a:xfrm>
          <a:prstGeom prst="rect">
            <a:avLst/>
          </a:prstGeom>
        </p:spPr>
        <p:txBody>
          <a:bodyPr lIns="0" tIns="0" rIns="0" bIns="45720" anchor="t"/>
          <a:lstStyle>
            <a:lvl1pPr>
              <a:lnSpc>
                <a:spcPct val="85000"/>
              </a:lnSpc>
              <a:defRPr sz="3799" b="0" i="0">
                <a:latin typeface="Arial Rounded MT Bold" panose="020F0704030504030204" pitchFamily="34" charset="77"/>
                <a:cs typeface="Arial" panose="020B0604020202020204" pitchFamily="34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CCC40F-A883-FE45-B522-4ADB03A19C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030" y="1289146"/>
            <a:ext cx="11282125" cy="4378229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Aft>
                <a:spcPts val="300"/>
              </a:spcAft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594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657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720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6783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2E5537-E5C0-C745-AF97-2E51588BDB29}"/>
              </a:ext>
            </a:extLst>
          </p:cNvPr>
          <p:cNvSpPr/>
          <p:nvPr userDrawn="1"/>
        </p:nvSpPr>
        <p:spPr>
          <a:xfrm>
            <a:off x="2" y="6319330"/>
            <a:ext cx="12192000" cy="53867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>
              <a:latin typeface="Assistant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4D112-EBB5-494B-945B-BF708C79A04A}"/>
              </a:ext>
            </a:extLst>
          </p:cNvPr>
          <p:cNvSpPr txBox="1"/>
          <p:nvPr userDrawn="1"/>
        </p:nvSpPr>
        <p:spPr>
          <a:xfrm>
            <a:off x="8110042" y="6481681"/>
            <a:ext cx="362931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tabLst>
                <a:tab pos="790338" algn="l"/>
                <a:tab pos="3593022" algn="r"/>
              </a:tabLst>
            </a:pPr>
            <a:r>
              <a:rPr lang="en-US" sz="800" b="0" i="0" spc="5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PROPRIETARY AND CONFIDENTIAL</a:t>
            </a:r>
            <a:r>
              <a:rPr lang="en-US" sz="900" b="0" i="0" spc="5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fld id="{D23125F3-EC14-7D43-B92B-F4D0E871587A}" type="slidenum">
              <a:rPr lang="en-US" sz="1200" b="0" i="0" spc="50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indent="0" algn="l">
                <a:tabLst>
                  <a:tab pos="790338" algn="l"/>
                  <a:tab pos="3593022" algn="r"/>
                </a:tabLst>
              </a:pPr>
              <a:t>‹#›</a:t>
            </a:fld>
            <a:endParaRPr lang="en-US" sz="1200" b="0" i="0" spc="50" baseline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109F4C6-65C8-174C-A967-B3AB4E41E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842" y="6446287"/>
            <a:ext cx="916215" cy="2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728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ssistant" pitchFamily="2" charset="-79"/>
              </a:defRPr>
            </a:lvl1pPr>
          </a:lstStyle>
          <a:p>
            <a:fld id="{18F36642-002E-4C98-915B-826072CB88D7}" type="slidenum">
              <a:rPr lang="he-IL" smtClean="0"/>
              <a:pPr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2128248" y="478699"/>
            <a:ext cx="0" cy="708751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683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466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202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09600" y="1875925"/>
            <a:ext cx="7068400" cy="421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8769411"/>
      </p:ext>
    </p:extLst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ח'/כסלו/תשפ"ה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44484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0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2"/>
          </p:nvPr>
        </p:nvSpPr>
        <p:spPr>
          <a:xfrm>
            <a:off x="300464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3"/>
          </p:nvPr>
        </p:nvSpPr>
        <p:spPr>
          <a:xfrm>
            <a:off x="539969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1742116"/>
      </p:ext>
    </p:extLst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ח'/כסלו/תשפ"ה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83188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2049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3913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ח'/כסלו/תשפ"ה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59932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806221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744-8BFC-49C4-921C-A4357DD28206}" type="datetimeFigureOut">
              <a:rPr lang="he-IL" smtClean="0"/>
              <a:t>ח'/כסלו/תשפ"ה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B286-1E5E-4B02-A0C5-06BDEC1E2F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12381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642-002E-4C98-915B-826072CB88D7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2128248" y="478699"/>
            <a:ext cx="0" cy="708751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8432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2380-D8BE-4758-764C-5D0A1A1B4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82F0A-2E1B-2B43-768B-DB6E92992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4B73-4D1C-033D-A719-B725D247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C915E-5C47-EA05-93A0-CDEA9465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AF196-4E86-812B-450D-D8C35254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19971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8CB7-9C03-F780-9004-9ECA4EC1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92B-68EE-2EF8-FEB9-234D501C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14990-102C-F3C5-CC26-BA7B5DA0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CF595-83A1-566D-FD03-C659023E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C1E4F-6AA1-D913-6628-FA0ACD1A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44751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7C46-594A-699B-4EB3-85D7D7E8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13427-384C-FF0F-5BF1-FDAD09C96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67B3E-3BDD-8103-D6F7-DCF6C25A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2D92B-A5C8-22CF-F5A3-1D6B0D6E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0BB8-16EE-8B76-5349-1202739B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20262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45BF-0216-6999-242D-BB838E93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A3E6E-4891-1431-119F-83819F1C0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66EA1-5CF6-F526-71BD-72C59557B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52C2C-78C0-D802-6D80-E357059B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46EF9-51B8-483C-E6F6-38160565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F78E8-8D1B-9ACF-0284-A2575B34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63591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F39A-0273-2B37-F77E-00AB01E5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D032F-4875-B96F-F677-E8282BBA6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514E3-8DCB-A207-6675-4C6B3547A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CEFF0-D6A3-E6A5-D7FD-4CC951224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9572D-79AB-0574-B96D-2D3486668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22292-9EEA-B19F-7216-7CE10100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2B6DB-1D99-CDFD-BE22-36DB42A8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BF876-1224-7050-4651-9EEC0168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66316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A752-D695-92E1-E21B-2CCEEB25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C5AA6-5CD2-AC13-8B3D-C7BD6809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3278C-458C-04CE-AA3C-0F2E0643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8E55A-591B-C6C9-0F3C-844E96FE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465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BF37E-E950-88E7-8BF6-DF33E041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D9C50-7C9F-50B7-3346-804BE9B2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0E530-AFB8-05E6-AF3E-05AFB150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57699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E435-A2A3-CB60-2F2F-475432D4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B693-1005-FED4-C374-3FDE234D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F54FD-75AD-A285-9BB5-A81BCA2E4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70BE8-3035-0511-049C-0D436D4D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C5A6B-4487-3629-B5BC-E8E5A6AA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6875E-7DE4-8DA7-AD11-5654361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76406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E74B-F1BA-769A-E021-69A94BA8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69B46-2948-182F-EF18-82B9D5845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4DF9B-2B87-023F-CE0F-618CBCF1E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001DD-664A-6D65-5DCA-6081BDFB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FDD64-3DCD-F967-889F-44B9CE13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71CC6-AD9F-8E8C-E4CA-69E4358B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48053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B868-3B0B-ECEA-A3B0-E686AB57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75FC5-A698-F2B7-B468-F321A0767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B450F-D512-7AC0-F0D6-8B31A939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FA3F9-B923-AE0A-77DC-59F36231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AF959-AA03-D781-C843-72EA16AF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9845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2131F-9781-20D0-B241-BAFA74336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49967-92FB-5282-8884-E0EBCA98C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6458-A849-E91B-B788-83BC43DF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423BF-B998-5791-980F-F908D041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EED8-E7D4-5ECB-7D00-E6F9023F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133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tx2">
                <a:lumMod val="10000"/>
                <a:lumOff val="90000"/>
              </a:schemeClr>
            </a:gs>
            <a:gs pos="100000">
              <a:schemeClr val="bg2">
                <a:lumMod val="63000"/>
                <a:lumOff val="37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5CCE8-6F74-484F-9997-F624AF11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2716A-3F96-417D-BD90-4BF827F0B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900DF-B938-4C8C-984E-73C86064A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fld id="{04C3C828-D965-4B22-85AA-AF24CD109DC9}" type="datetimeFigureOut">
              <a:rPr lang="en-IL" smtClean="0"/>
              <a:pPr/>
              <a:t>09/12/2024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C7C5F-C920-4783-A0E6-CACCA99F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0F9F-CC41-4816-BBC6-018656A71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fld id="{B77FEFEE-B59A-439F-87BA-08D2A83B568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6764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84" r:id="rId15"/>
    <p:sldLayoutId id="2147483749" r:id="rId16"/>
    <p:sldLayoutId id="2147483750" r:id="rId17"/>
    <p:sldLayoutId id="214748375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sistant" pitchFamily="2" charset="-79"/>
          <a:ea typeface="+mj-ea"/>
          <a:cs typeface="Assistant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50000">
              <a:schemeClr val="tx2">
                <a:lumMod val="10000"/>
                <a:lumOff val="90000"/>
              </a:schemeClr>
            </a:gs>
            <a:gs pos="100000">
              <a:schemeClr val="bg2">
                <a:lumMod val="63000"/>
                <a:lumOff val="37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55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17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E0E55-5966-44E5-CB4B-EF51F5AF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309B5-F86F-1634-7850-E7471782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717E3-9107-91BA-CC70-5879A5173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EEBBC-ABA3-4986-BADD-25CEF1780B3F}" type="datetimeFigureOut">
              <a:rPr lang="en-IL" smtClean="0"/>
              <a:t>09/12/2024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327C3-2342-AD97-A9CE-61D007A53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2C5D-EED8-B4A6-F9F8-462FF01C3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495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25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24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://www.pfizer.co.il/" TargetMode="External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23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11" Type="http://schemas.openxmlformats.org/officeDocument/2006/relationships/image" Target="../media/image22.png"/><Relationship Id="rId5" Type="http://schemas.openxmlformats.org/officeDocument/2006/relationships/image" Target="../media/image64.png"/><Relationship Id="rId10" Type="http://schemas.openxmlformats.org/officeDocument/2006/relationships/image" Target="../media/image69.svg"/><Relationship Id="rId4" Type="http://schemas.openxmlformats.org/officeDocument/2006/relationships/image" Target="../media/image63.svg"/><Relationship Id="rId9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3.png"/><Relationship Id="rId3" Type="http://schemas.openxmlformats.org/officeDocument/2006/relationships/image" Target="../media/image70.png"/><Relationship Id="rId21" Type="http://schemas.openxmlformats.org/officeDocument/2006/relationships/image" Target="../media/image22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2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7.png"/><Relationship Id="rId10" Type="http://schemas.openxmlformats.org/officeDocument/2006/relationships/image" Target="../media/image77.png"/><Relationship Id="rId19" Type="http://schemas.openxmlformats.org/officeDocument/2006/relationships/image" Target="../media/image9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2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5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86.png"/><Relationship Id="rId9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7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86.png"/><Relationship Id="rId9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8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86.png"/><Relationship Id="rId9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5.png"/><Relationship Id="rId11" Type="http://schemas.openxmlformats.org/officeDocument/2006/relationships/image" Target="../media/image100.svg"/><Relationship Id="rId5" Type="http://schemas.openxmlformats.org/officeDocument/2006/relationships/image" Target="../media/image50.png"/><Relationship Id="rId10" Type="http://schemas.openxmlformats.org/officeDocument/2006/relationships/image" Target="../media/image99.png"/><Relationship Id="rId4" Type="http://schemas.openxmlformats.org/officeDocument/2006/relationships/image" Target="../media/image94.svg"/><Relationship Id="rId9" Type="http://schemas.openxmlformats.org/officeDocument/2006/relationships/image" Target="../media/image98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0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A5461-BA89-4815-B878-B0B361FD35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81023"/>
            <a:ext cx="12192001" cy="6939023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197EF3-6EA1-4DEA-850B-B06D98EDF6EE}"/>
              </a:ext>
            </a:extLst>
          </p:cNvPr>
          <p:cNvSpPr/>
          <p:nvPr/>
        </p:nvSpPr>
        <p:spPr>
          <a:xfrm>
            <a:off x="-3" y="-81022"/>
            <a:ext cx="12192001" cy="694749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1000"/>
                  <a:lumMod val="70000"/>
                  <a:lumOff val="30000"/>
                </a:schemeClr>
              </a:gs>
              <a:gs pos="50000">
                <a:srgbClr val="F8FCFF">
                  <a:alpha val="46000"/>
                </a:srgb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b="1" i="0" strike="noStrike">
                <a:solidFill>
                  <a:srgbClr val="1A295D"/>
                </a:solidFill>
                <a:effectLst/>
                <a:latin typeface="Open Sans" panose="020B0606030504020204" pitchFamily="34" charset="0"/>
              </a:rPr>
              <a:t>                                                                                       </a:t>
            </a: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2" name="Picture 2" descr="סמל מדינת ישראל – ויקיפדיה">
            <a:extLst>
              <a:ext uri="{FF2B5EF4-FFF2-40B4-BE49-F238E27FC236}">
                <a16:creationId xmlns:a16="http://schemas.microsoft.com/office/drawing/2014/main" id="{DE329001-0C6C-46CD-9878-72412AE8E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709086" y="6288499"/>
            <a:ext cx="343613" cy="42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28CB81A5-97EE-488A-BEE8-86E17EC2F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5309" y="6288499"/>
            <a:ext cx="1446914" cy="39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7B8A50-8755-45B7-A2E0-8358F1AD4FC0}"/>
              </a:ext>
            </a:extLst>
          </p:cNvPr>
          <p:cNvSpPr txBox="1"/>
          <p:nvPr/>
        </p:nvSpPr>
        <p:spPr>
          <a:xfrm>
            <a:off x="0" y="2279990"/>
            <a:ext cx="12052699" cy="2062103"/>
          </a:xfrm>
          <a:prstGeom prst="rect">
            <a:avLst/>
          </a:prstGeom>
          <a:noFill/>
          <a:effectLst>
            <a:outerShdw blurRad="127000" dist="50800" dir="5400000" algn="ctr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8000" b="1" i="0" strike="noStrike" kern="1200" cap="none" spc="0" normalizeH="0" baseline="0" noProof="0" dirty="0">
                <a:ln w="6350">
                  <a:solidFill>
                    <a:schemeClr val="bg2">
                      <a:lumMod val="25000"/>
                      <a:alpha val="79000"/>
                    </a:schemeClr>
                  </a:solidFill>
                </a:ln>
                <a:gradFill>
                  <a:gsLst>
                    <a:gs pos="100000">
                      <a:srgbClr val="5C7A96"/>
                    </a:gs>
                    <a:gs pos="54000">
                      <a:schemeClr val="tx2">
                        <a:alpha val="82000"/>
                      </a:schemeClr>
                    </a:gs>
                    <a:gs pos="0">
                      <a:schemeClr val="tx2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Assistant ExtraBold" pitchFamily="2" charset="-79"/>
                <a:cs typeface="Assistant ExtraBold" pitchFamily="2" charset="-79"/>
              </a:rPr>
              <a:t>דיגיטל עד 120</a:t>
            </a:r>
            <a:br>
              <a:rPr kumimoji="0" lang="he-IL" sz="8000" b="1" i="0" u="sng" strike="noStrike" kern="1200" cap="none" spc="0" normalizeH="0" baseline="0" noProof="0" dirty="0">
                <a:ln w="6350">
                  <a:solidFill>
                    <a:schemeClr val="bg2">
                      <a:lumMod val="25000"/>
                      <a:alpha val="79000"/>
                    </a:schemeClr>
                  </a:solidFill>
                </a:ln>
                <a:gradFill>
                  <a:gsLst>
                    <a:gs pos="100000">
                      <a:srgbClr val="5C7A96"/>
                    </a:gs>
                    <a:gs pos="54000">
                      <a:schemeClr val="tx2">
                        <a:alpha val="82000"/>
                      </a:schemeClr>
                    </a:gs>
                    <a:gs pos="0">
                      <a:schemeClr val="tx2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Assistant ExtraBold" pitchFamily="2" charset="-79"/>
                <a:cs typeface="Assistant ExtraBold" pitchFamily="2" charset="-79"/>
              </a:rPr>
            </a:br>
            <a:r>
              <a:rPr lang="he-IL" sz="4800" dirty="0">
                <a:ln w="6350">
                  <a:solidFill>
                    <a:schemeClr val="bg2">
                      <a:lumMod val="25000"/>
                      <a:alpha val="79000"/>
                    </a:schemeClr>
                  </a:solidFill>
                </a:ln>
                <a:gradFill>
                  <a:gsLst>
                    <a:gs pos="100000">
                      <a:srgbClr val="5C7A96"/>
                    </a:gs>
                    <a:gs pos="54000">
                      <a:schemeClr val="tx2">
                        <a:alpha val="82000"/>
                      </a:schemeClr>
                    </a:gs>
                    <a:gs pos="0">
                      <a:schemeClr val="tx2">
                        <a:lumMod val="50000"/>
                      </a:schemeClr>
                    </a:gs>
                  </a:gsLst>
                  <a:lin ang="0" scaled="1"/>
                </a:gradFill>
                <a:latin typeface="Assistant ExtraBold" pitchFamily="2" charset="-79"/>
                <a:cs typeface="Assistant ExtraBold" pitchFamily="2" charset="-79"/>
              </a:rPr>
              <a:t>מהלך </a:t>
            </a:r>
            <a:r>
              <a:rPr lang="he-IL" sz="4800" dirty="0" err="1">
                <a:ln w="6350">
                  <a:solidFill>
                    <a:schemeClr val="bg2">
                      <a:lumMod val="25000"/>
                      <a:alpha val="79000"/>
                    </a:schemeClr>
                  </a:solidFill>
                </a:ln>
                <a:gradFill>
                  <a:gsLst>
                    <a:gs pos="100000">
                      <a:srgbClr val="5C7A96"/>
                    </a:gs>
                    <a:gs pos="54000">
                      <a:schemeClr val="tx2">
                        <a:alpha val="82000"/>
                      </a:schemeClr>
                    </a:gs>
                    <a:gs pos="0">
                      <a:schemeClr val="tx2">
                        <a:lumMod val="50000"/>
                      </a:schemeClr>
                    </a:gs>
                  </a:gsLst>
                  <a:lin ang="0" scaled="1"/>
                </a:gradFill>
                <a:latin typeface="Assistant ExtraBold" pitchFamily="2" charset="-79"/>
                <a:cs typeface="Assistant ExtraBold" pitchFamily="2" charset="-79"/>
              </a:rPr>
              <a:t>הדיגיטל</a:t>
            </a:r>
            <a:r>
              <a:rPr lang="he-IL" sz="4800" dirty="0">
                <a:ln w="6350">
                  <a:solidFill>
                    <a:schemeClr val="bg2">
                      <a:lumMod val="25000"/>
                      <a:alpha val="79000"/>
                    </a:schemeClr>
                  </a:solidFill>
                </a:ln>
                <a:gradFill>
                  <a:gsLst>
                    <a:gs pos="100000">
                      <a:srgbClr val="5C7A96"/>
                    </a:gs>
                    <a:gs pos="54000">
                      <a:schemeClr val="tx2">
                        <a:alpha val="82000"/>
                      </a:schemeClr>
                    </a:gs>
                    <a:gs pos="0">
                      <a:schemeClr val="tx2">
                        <a:lumMod val="50000"/>
                      </a:schemeClr>
                    </a:gs>
                  </a:gsLst>
                  <a:lin ang="0" scaled="1"/>
                </a:gradFill>
                <a:latin typeface="Assistant ExtraBold" pitchFamily="2" charset="-79"/>
                <a:cs typeface="Assistant ExtraBold" pitchFamily="2" charset="-79"/>
              </a:rPr>
              <a:t> להזדקנות מיטבית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2857A66-CDA4-AEF6-22B4-471C6A32831E}"/>
              </a:ext>
            </a:extLst>
          </p:cNvPr>
          <p:cNvSpPr txBox="1"/>
          <p:nvPr/>
        </p:nvSpPr>
        <p:spPr>
          <a:xfrm>
            <a:off x="7691306" y="4364218"/>
            <a:ext cx="4213076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i="0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מגישים: </a:t>
            </a:r>
            <a:r>
              <a:rPr lang="he-IL" b="1" i="0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אביעד יצחקי </a:t>
            </a:r>
            <a:r>
              <a:rPr lang="he-IL" b="0" i="0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,</a:t>
            </a:r>
            <a:r>
              <a:rPr lang="he-IL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 רותם </a:t>
            </a:r>
            <a:r>
              <a:rPr lang="he-IL" b="0" i="0" u="none" strike="noStrike" dirty="0" err="1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ארנרייך</a:t>
            </a:r>
            <a:r>
              <a:rPr lang="he-IL" b="0" i="0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he-IL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נטלי גבאי</a:t>
            </a:r>
            <a:r>
              <a:rPr lang="he-IL" b="0" i="0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,</a:t>
            </a:r>
          </a:p>
          <a:p>
            <a:pPr algn="r" rtl="1"/>
            <a:r>
              <a:rPr lang="he-IL" dirty="0">
                <a:solidFill>
                  <a:srgbClr val="002060"/>
                </a:solidFill>
                <a:latin typeface="Open Sans" panose="020B0606030504020204" pitchFamily="34" charset="0"/>
              </a:rPr>
              <a:t>              </a:t>
            </a:r>
            <a:r>
              <a:rPr lang="he-IL" b="0" i="0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he-IL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דפנה לווין </a:t>
            </a:r>
            <a:r>
              <a:rPr lang="he-IL" b="0" i="0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, </a:t>
            </a:r>
            <a:r>
              <a:rPr lang="he-IL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נופית </a:t>
            </a:r>
            <a:r>
              <a:rPr lang="he-IL" b="0" i="0" u="none" strike="noStrike" dirty="0" err="1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פרייצייט</a:t>
            </a:r>
            <a:r>
              <a:rPr lang="he-IL" dirty="0">
                <a:solidFill>
                  <a:srgbClr val="002060"/>
                </a:solidFill>
                <a:latin typeface="Open Sans" panose="020B0606030504020204" pitchFamily="34" charset="0"/>
              </a:rPr>
              <a:t>.</a:t>
            </a:r>
            <a:r>
              <a:rPr lang="he-IL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 </a:t>
            </a:r>
            <a:endParaRPr lang="he-IL" dirty="0">
              <a:solidFill>
                <a:srgbClr val="002060"/>
              </a:solidFill>
              <a:latin typeface="Open Sans" panose="020B0606030504020204" pitchFamily="34" charset="0"/>
            </a:endParaRPr>
          </a:p>
          <a:p>
            <a:pPr algn="r" rtl="1"/>
            <a:r>
              <a:rPr lang="he-IL" sz="1600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                    </a:t>
            </a:r>
            <a:r>
              <a:rPr lang="he-IL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          </a:t>
            </a:r>
            <a:endParaRPr lang="he-IL" dirty="0">
              <a:solidFill>
                <a:srgbClr val="002060"/>
              </a:solidFill>
              <a:latin typeface="Assistant" pitchFamily="2" charset="-79"/>
              <a:cs typeface="Assistant" pitchFamily="2" charset="-79"/>
            </a:endParaRPr>
          </a:p>
          <a:p>
            <a:pPr algn="r" rtl="1"/>
            <a:endParaRPr lang="he-IL" dirty="0">
              <a:solidFill>
                <a:srgbClr val="002060"/>
              </a:solidFill>
            </a:endParaRPr>
          </a:p>
        </p:txBody>
      </p:sp>
      <p:pic>
        <p:nvPicPr>
          <p:cNvPr id="5" name="Picture 24">
            <a:extLst>
              <a:ext uri="{FF2B5EF4-FFF2-40B4-BE49-F238E27FC236}">
                <a16:creationId xmlns:a16="http://schemas.microsoft.com/office/drawing/2014/main" id="{C8A51ACD-3FD6-4467-354C-9D7E89E84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144" y="6268086"/>
            <a:ext cx="1280212" cy="467379"/>
          </a:xfrm>
          <a:prstGeom prst="rect">
            <a:avLst/>
          </a:prstGeom>
        </p:spPr>
      </p:pic>
      <p:pic>
        <p:nvPicPr>
          <p:cNvPr id="6" name="Picture 32">
            <a:extLst>
              <a:ext uri="{FF2B5EF4-FFF2-40B4-BE49-F238E27FC236}">
                <a16:creationId xmlns:a16="http://schemas.microsoft.com/office/drawing/2014/main" id="{6072C801-4CCF-798E-6936-C2B596412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431" y="6157999"/>
            <a:ext cx="1726877" cy="719532"/>
          </a:xfrm>
          <a:prstGeom prst="rect">
            <a:avLst/>
          </a:prstGeom>
        </p:spPr>
      </p:pic>
      <p:pic>
        <p:nvPicPr>
          <p:cNvPr id="7" name="Picture 26">
            <a:extLst>
              <a:ext uri="{FF2B5EF4-FFF2-40B4-BE49-F238E27FC236}">
                <a16:creationId xmlns:a16="http://schemas.microsoft.com/office/drawing/2014/main" id="{AAA4F558-21C9-DA28-98F2-035233B145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293" y="6152875"/>
            <a:ext cx="1179780" cy="646071"/>
          </a:xfrm>
          <a:prstGeom prst="rect">
            <a:avLst/>
          </a:prstGeom>
          <a:ln>
            <a:noFill/>
          </a:ln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C94119B-D148-B85C-139F-E5B27FCE8925}"/>
              </a:ext>
            </a:extLst>
          </p:cNvPr>
          <p:cNvSpPr txBox="1"/>
          <p:nvPr/>
        </p:nvSpPr>
        <p:spPr>
          <a:xfrm>
            <a:off x="69647" y="6360796"/>
            <a:ext cx="144148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1800" b="0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ספטמבר 2024</a:t>
            </a:r>
            <a:endParaRPr lang="he-IL" b="0" i="0" u="none" strike="noStrike" dirty="0">
              <a:solidFill>
                <a:srgbClr val="002060"/>
              </a:solidFill>
              <a:effectLst/>
              <a:latin typeface="Open Sans" panose="020B0606030504020204" pitchFamily="34" charset="0"/>
            </a:endParaRPr>
          </a:p>
          <a:p>
            <a:pPr algn="r" rtl="1"/>
            <a:endParaRPr lang="he-I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8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6" dur="8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568015-D844-4FAB-BBBE-F49BAD2DD6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5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solidFill>
            <a:srgbClr val="053549"/>
          </a:solidFill>
          <a:ln>
            <a:solidFill>
              <a:srgbClr val="1B6B8E"/>
            </a:solidFill>
          </a:ln>
          <a:effectLst>
            <a:outerShdw blurRad="50800" dist="50800" dir="5400000" algn="ctr" rotWithShape="0">
              <a:srgbClr val="0B4F6A"/>
            </a:outerShdw>
          </a:effectLst>
        </p:spPr>
      </p:pic>
      <p:sp>
        <p:nvSpPr>
          <p:cNvPr id="6" name="כותרת 1">
            <a:extLst>
              <a:ext uri="{FF2B5EF4-FFF2-40B4-BE49-F238E27FC236}">
                <a16:creationId xmlns:a16="http://schemas.microsoft.com/office/drawing/2014/main" id="{E258380C-F998-47B4-8B8E-E1DB0A3629EA}"/>
              </a:ext>
            </a:extLst>
          </p:cNvPr>
          <p:cNvSpPr txBox="1">
            <a:spLocks/>
          </p:cNvSpPr>
          <p:nvPr/>
        </p:nvSpPr>
        <p:spPr>
          <a:xfrm>
            <a:off x="372319" y="-145778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endParaRPr lang="en-US" sz="5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C33BD-B6DE-498C-9AC9-085CEA4D2227}"/>
              </a:ext>
            </a:extLst>
          </p:cNvPr>
          <p:cNvSpPr txBox="1"/>
          <p:nvPr/>
        </p:nvSpPr>
        <p:spPr>
          <a:xfrm>
            <a:off x="5384800" y="4825512"/>
            <a:ext cx="6463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4000" b="1" dirty="0">
                <a:solidFill>
                  <a:srgbClr val="FFFFFF"/>
                </a:solidFill>
                <a:latin typeface="Assistant" pitchFamily="2" charset="-79"/>
                <a:cs typeface="Assistant" pitchFamily="2" charset="-79"/>
              </a:rPr>
              <a:t>אתגר הזדקנות האוכלוסייה </a:t>
            </a:r>
            <a:br>
              <a:rPr lang="en-US" sz="4000" b="1" dirty="0">
                <a:solidFill>
                  <a:srgbClr val="FFFFFF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4000" b="1" dirty="0">
                <a:solidFill>
                  <a:srgbClr val="FFFFFF"/>
                </a:solidFill>
                <a:latin typeface="Assistant" pitchFamily="2" charset="-79"/>
                <a:cs typeface="Assistant" pitchFamily="2" charset="-79"/>
              </a:rPr>
              <a:t>הולך ומעמיק בישראל ובעולם</a:t>
            </a:r>
          </a:p>
        </p:txBody>
      </p:sp>
    </p:spTree>
    <p:extLst>
      <p:ext uri="{BB962C8B-B14F-4D97-AF65-F5344CB8AC3E}">
        <p14:creationId xmlns:p14="http://schemas.microsoft.com/office/powerpoint/2010/main" val="205989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DDF87A0-2D02-4AA4-948C-3565CF155EEF}"/>
              </a:ext>
            </a:extLst>
          </p:cNvPr>
          <p:cNvSpPr txBox="1">
            <a:spLocks/>
          </p:cNvSpPr>
          <p:nvPr/>
        </p:nvSpPr>
        <p:spPr>
          <a:xfrm>
            <a:off x="1400582" y="7050540"/>
            <a:ext cx="3622830" cy="1792519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he-IL" sz="3200" b="1" dirty="0">
                <a:solidFill>
                  <a:srgbClr val="0F6FC6"/>
                </a:solidFill>
                <a:latin typeface="Assistant SemiBold" pitchFamily="2" charset="-79"/>
                <a:cs typeface="Assistant SemiBold" pitchFamily="2" charset="-79"/>
              </a:rPr>
              <a:t>שיעור בני 65+ מהאוכלוסייה צפוי להמשיך ולגדול בקביעות בעשרות השנים הקרובות</a:t>
            </a:r>
          </a:p>
        </p:txBody>
      </p:sp>
      <p:graphicFrame>
        <p:nvGraphicFramePr>
          <p:cNvPr id="16" name="תרשים 15">
            <a:extLst>
              <a:ext uri="{FF2B5EF4-FFF2-40B4-BE49-F238E27FC236}">
                <a16:creationId xmlns:a16="http://schemas.microsoft.com/office/drawing/2014/main" id="{6AC7C0A4-33F3-97AA-9276-50331151EC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9583543"/>
              </p:ext>
            </p:extLst>
          </p:nvPr>
        </p:nvGraphicFramePr>
        <p:xfrm>
          <a:off x="774801" y="1041722"/>
          <a:ext cx="7375668" cy="4505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CDEC3F-C2B6-7FEA-5B75-F080C7C4C7BA}"/>
              </a:ext>
            </a:extLst>
          </p:cNvPr>
          <p:cNvSpPr txBox="1"/>
          <p:nvPr/>
        </p:nvSpPr>
        <p:spPr>
          <a:xfrm>
            <a:off x="8943975" y="1439240"/>
            <a:ext cx="313875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8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תוחלת חיים מתארכת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הזקנים </a:t>
            </a:r>
            <a:r>
              <a:rPr lang="he-IL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נזקקים יותר </a:t>
            </a:r>
            <a:r>
              <a:rPr lang="he-IL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לשירותים והתערבות</a:t>
            </a:r>
          </a:p>
          <a:p>
            <a:pPr algn="r" rtl="1"/>
            <a:r>
              <a:rPr lang="he-IL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ישנו </a:t>
            </a:r>
            <a:r>
              <a:rPr lang="he-IL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מיקוד בטיפול ובריאות</a:t>
            </a:r>
            <a:r>
              <a:rPr lang="he-IL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, ו</a:t>
            </a:r>
            <a:r>
              <a:rPr lang="he-IL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פחות</a:t>
            </a:r>
            <a:r>
              <a:rPr lang="he-IL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 מידי </a:t>
            </a:r>
            <a:r>
              <a:rPr lang="he-IL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  <a:t>במניעה ותפקוד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endParaRPr lang="en-IL" sz="2800" dirty="0">
              <a:solidFill>
                <a:schemeClr val="tx1">
                  <a:lumMod val="85000"/>
                  <a:lumOff val="1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4183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אליפסה 34">
            <a:extLst>
              <a:ext uri="{FF2B5EF4-FFF2-40B4-BE49-F238E27FC236}">
                <a16:creationId xmlns:a16="http://schemas.microsoft.com/office/drawing/2014/main" id="{4CFB5F21-4B11-C010-8741-F3C20D2B982C}"/>
              </a:ext>
            </a:extLst>
          </p:cNvPr>
          <p:cNvSpPr/>
          <p:nvPr/>
        </p:nvSpPr>
        <p:spPr>
          <a:xfrm>
            <a:off x="7077075" y="3804325"/>
            <a:ext cx="752475" cy="71052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grpSp>
        <p:nvGrpSpPr>
          <p:cNvPr id="25" name="קבוצה 24">
            <a:extLst>
              <a:ext uri="{FF2B5EF4-FFF2-40B4-BE49-F238E27FC236}">
                <a16:creationId xmlns:a16="http://schemas.microsoft.com/office/drawing/2014/main" id="{5CACDF0B-74B8-9019-7B6A-91F6450BA9A1}"/>
              </a:ext>
            </a:extLst>
          </p:cNvPr>
          <p:cNvGrpSpPr/>
          <p:nvPr/>
        </p:nvGrpSpPr>
        <p:grpSpPr>
          <a:xfrm>
            <a:off x="1412369" y="718820"/>
            <a:ext cx="10163153" cy="5846207"/>
            <a:chOff x="-1645970" y="-44828"/>
            <a:chExt cx="12281546" cy="6577485"/>
          </a:xfrm>
        </p:grpSpPr>
        <p:grpSp>
          <p:nvGrpSpPr>
            <p:cNvPr id="26" name="קבוצה 25">
              <a:extLst>
                <a:ext uri="{FF2B5EF4-FFF2-40B4-BE49-F238E27FC236}">
                  <a16:creationId xmlns:a16="http://schemas.microsoft.com/office/drawing/2014/main" id="{9FEA955E-3734-6059-1EAC-EA51FD1ABFD7}"/>
                </a:ext>
              </a:extLst>
            </p:cNvPr>
            <p:cNvGrpSpPr/>
            <p:nvPr/>
          </p:nvGrpSpPr>
          <p:grpSpPr>
            <a:xfrm>
              <a:off x="-1645970" y="790196"/>
              <a:ext cx="11319761" cy="5742461"/>
              <a:chOff x="-1645970" y="790196"/>
              <a:chExt cx="11319761" cy="5742461"/>
            </a:xfrm>
          </p:grpSpPr>
          <p:pic>
            <p:nvPicPr>
              <p:cNvPr id="28" name="תמונה 27">
                <a:extLst>
                  <a:ext uri="{FF2B5EF4-FFF2-40B4-BE49-F238E27FC236}">
                    <a16:creationId xmlns:a16="http://schemas.microsoft.com/office/drawing/2014/main" id="{6C4715B3-43C6-4F9C-8943-DB58E36BBF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6304" t="34812" r="18044" b="13430"/>
              <a:stretch/>
            </p:blipFill>
            <p:spPr>
              <a:xfrm>
                <a:off x="-1645970" y="790196"/>
                <a:ext cx="11319761" cy="5019864"/>
              </a:xfrm>
              <a:prstGeom prst="rect">
                <a:avLst/>
              </a:prstGeom>
            </p:spPr>
          </p:pic>
          <p:sp>
            <p:nvSpPr>
              <p:cNvPr id="30" name="TextBox 6">
                <a:extLst>
                  <a:ext uri="{FF2B5EF4-FFF2-40B4-BE49-F238E27FC236}">
                    <a16:creationId xmlns:a16="http://schemas.microsoft.com/office/drawing/2014/main" id="{1C9E4218-7665-DE7C-52CC-A1970C07F053}"/>
                  </a:ext>
                </a:extLst>
              </p:cNvPr>
              <p:cNvSpPr txBox="1"/>
              <p:nvPr/>
            </p:nvSpPr>
            <p:spPr>
              <a:xfrm>
                <a:off x="1276116" y="6186381"/>
                <a:ext cx="1763487" cy="34627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>
                <a:defPPr>
                  <a:defRPr lang="he-IL"/>
                </a:defPPr>
                <a:lvl1pPr marL="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980B9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אליפסה 31">
                <a:extLst>
                  <a:ext uri="{FF2B5EF4-FFF2-40B4-BE49-F238E27FC236}">
                    <a16:creationId xmlns:a16="http://schemas.microsoft.com/office/drawing/2014/main" id="{7937E03E-0D2E-947A-7B15-0230A411A23A}"/>
                  </a:ext>
                </a:extLst>
              </p:cNvPr>
              <p:cNvSpPr/>
              <p:nvPr/>
            </p:nvSpPr>
            <p:spPr>
              <a:xfrm>
                <a:off x="4628080" y="2641603"/>
                <a:ext cx="1763487" cy="16308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>
                <a:defPPr>
                  <a:defRPr lang="he-IL"/>
                </a:defPPr>
                <a:lvl1pPr marL="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r" defTabSz="914400" rtl="1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120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3" name="מלבן 32">
                <a:extLst>
                  <a:ext uri="{FF2B5EF4-FFF2-40B4-BE49-F238E27FC236}">
                    <a16:creationId xmlns:a16="http://schemas.microsoft.com/office/drawing/2014/main" id="{457FCF3B-D3CB-923F-8A51-F270291195FA}"/>
                  </a:ext>
                </a:extLst>
              </p:cNvPr>
              <p:cNvSpPr/>
              <p:nvPr/>
            </p:nvSpPr>
            <p:spPr>
              <a:xfrm>
                <a:off x="4720248" y="3826330"/>
                <a:ext cx="1579150" cy="346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he-IL"/>
                </a:defPPr>
                <a:lvl1pPr marL="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r" defTabSz="914400" rtl="1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sz="1400" b="1" dirty="0">
                    <a:solidFill>
                      <a:srgbClr val="2980B9"/>
                    </a:solidFill>
                    <a:latin typeface="Calibri"/>
                    <a:cs typeface="Arial" panose="020B0604020202020204" pitchFamily="34" charset="0"/>
                  </a:rPr>
                  <a:t>האזרח במרכז?</a:t>
                </a:r>
                <a:endParaRPr kumimoji="0" lang="he-IL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980B9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34" name="Graphic 4" descr="Man with cane outline">
                <a:extLst>
                  <a:ext uri="{FF2B5EF4-FFF2-40B4-BE49-F238E27FC236}">
                    <a16:creationId xmlns:a16="http://schemas.microsoft.com/office/drawing/2014/main" id="{2C0E0B5D-6388-8B6D-E615-F403EEF75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5279100" y="3047249"/>
                <a:ext cx="731042" cy="819545"/>
              </a:xfrm>
              <a:prstGeom prst="rect">
                <a:avLst/>
              </a:prstGeom>
            </p:spPr>
          </p:pic>
        </p:grp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0C720048-32DA-BFB7-8291-616DED21B6AC}"/>
                </a:ext>
              </a:extLst>
            </p:cNvPr>
            <p:cNvSpPr/>
            <p:nvPr/>
          </p:nvSpPr>
          <p:spPr>
            <a:xfrm>
              <a:off x="134146" y="-44828"/>
              <a:ext cx="10501430" cy="167005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defPPr>
                <a:defRPr lang="he-IL"/>
              </a:defPPr>
              <a:lvl1pPr marL="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r" defTabSz="914400" rtl="1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4000" b="1" dirty="0">
                <a:solidFill>
                  <a:srgbClr val="002060"/>
                </a:solidFill>
              </a:endParaRPr>
            </a:p>
          </p:txBody>
        </p:sp>
      </p:grpSp>
      <p:pic>
        <p:nvPicPr>
          <p:cNvPr id="36" name="Picture 10">
            <a:extLst>
              <a:ext uri="{FF2B5EF4-FFF2-40B4-BE49-F238E27FC236}">
                <a16:creationId xmlns:a16="http://schemas.microsoft.com/office/drawing/2014/main" id="{2EBB5F99-3B68-779D-0EF8-D3D6B755897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804" t="42795" r="32292" b="38973"/>
          <a:stretch/>
        </p:blipFill>
        <p:spPr>
          <a:xfrm>
            <a:off x="6862096" y="3343274"/>
            <a:ext cx="943583" cy="889195"/>
          </a:xfrm>
          <a:prstGeom prst="flowChartConnector">
            <a:avLst/>
          </a:prstGeom>
        </p:spPr>
      </p:pic>
      <p:sp>
        <p:nvSpPr>
          <p:cNvPr id="37" name="Text 2">
            <a:extLst>
              <a:ext uri="{FF2B5EF4-FFF2-40B4-BE49-F238E27FC236}">
                <a16:creationId xmlns:a16="http://schemas.microsoft.com/office/drawing/2014/main" id="{8E7E166E-9895-C782-CF53-A99BB7621EF4}"/>
              </a:ext>
            </a:extLst>
          </p:cNvPr>
          <p:cNvSpPr/>
          <p:nvPr/>
        </p:nvSpPr>
        <p:spPr>
          <a:xfrm>
            <a:off x="6199973" y="521489"/>
            <a:ext cx="3722063" cy="6050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1" eaLnBrk="1" fontAlgn="auto" latinLnBrk="0" hangingPunct="1">
              <a:lnSpc>
                <a:spcPts val="47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28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פרגמנטציה בין גופים שונים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6343AA4B-068B-996B-90FE-062D7E365B6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clrChange>
              <a:clrFrom>
                <a:srgbClr val="EBF6F5"/>
              </a:clrFrom>
              <a:clrTo>
                <a:srgbClr val="EBF6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1298" r="76680"/>
          <a:stretch/>
        </p:blipFill>
        <p:spPr>
          <a:xfrm>
            <a:off x="1412369" y="5129524"/>
            <a:ext cx="2231823" cy="79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6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C6FEA43-5B23-4C5D-B120-CBA94E192BC8}"/>
              </a:ext>
            </a:extLst>
          </p:cNvPr>
          <p:cNvSpPr/>
          <p:nvPr/>
        </p:nvSpPr>
        <p:spPr>
          <a:xfrm>
            <a:off x="-12282" y="0"/>
            <a:ext cx="800188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3AE1108-5E6F-4913-89A8-E8A0A5EE5B37}"/>
              </a:ext>
            </a:extLst>
          </p:cNvPr>
          <p:cNvSpPr/>
          <p:nvPr/>
        </p:nvSpPr>
        <p:spPr>
          <a:xfrm>
            <a:off x="9000447" y="3414279"/>
            <a:ext cx="2420442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חוסר השקעה במניעה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83807C33-022C-4B55-A60F-E6D11B1F8355}"/>
              </a:ext>
            </a:extLst>
          </p:cNvPr>
          <p:cNvSpPr/>
          <p:nvPr/>
        </p:nvSpPr>
        <p:spPr>
          <a:xfrm>
            <a:off x="8667527" y="748596"/>
            <a:ext cx="3156156" cy="6050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47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812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האתגרים</a:t>
            </a:r>
            <a:r>
              <a:rPr kumimoji="0" lang="he-IL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המרכזיים</a:t>
            </a:r>
            <a:r>
              <a:rPr kumimoji="0" lang="en-US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endParaRPr kumimoji="0" lang="en-US" sz="3812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graphicFrame>
        <p:nvGraphicFramePr>
          <p:cNvPr id="28" name="תרשים 10">
            <a:extLst>
              <a:ext uri="{FF2B5EF4-FFF2-40B4-BE49-F238E27FC236}">
                <a16:creationId xmlns:a16="http://schemas.microsoft.com/office/drawing/2014/main" id="{220A596C-BBF7-41B9-9CC3-99748F9CEBFE}"/>
              </a:ext>
            </a:extLst>
          </p:cNvPr>
          <p:cNvGraphicFramePr>
            <a:graphicFrameLocks/>
          </p:cNvGraphicFramePr>
          <p:nvPr/>
        </p:nvGraphicFramePr>
        <p:xfrm>
          <a:off x="998559" y="1353632"/>
          <a:ext cx="6321224" cy="4423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08AC810A-1198-4132-8189-55740BA99D31}"/>
              </a:ext>
            </a:extLst>
          </p:cNvPr>
          <p:cNvSpPr txBox="1"/>
          <p:nvPr/>
        </p:nvSpPr>
        <p:spPr>
          <a:xfrm>
            <a:off x="2029008" y="984300"/>
            <a:ext cx="4066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התפלגות התקציב ב2019- 137 מיליארד ₪</a:t>
            </a:r>
          </a:p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כמה תקציב מושקע במניעה?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F7298A-FA30-4CFE-AF79-FB000AF6302D}"/>
              </a:ext>
            </a:extLst>
          </p:cNvPr>
          <p:cNvSpPr txBox="1"/>
          <p:nvPr/>
        </p:nvSpPr>
        <p:spPr>
          <a:xfrm>
            <a:off x="2052321" y="5346658"/>
            <a:ext cx="14820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000" b="0" i="0" u="none" strike="noStrike" kern="1200" baseline="0">
                <a:solidFill>
                  <a:prstClr val="black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he-IL" sz="11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מינהל</a:t>
            </a:r>
            <a:r>
              <a:rPr lang="he-IL" sz="11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אזרחים ותיקים ברווחה </a:t>
            </a:r>
            <a:fld id="{70634F7F-49C0-43A3-B9DD-21273F20D5E0}" type="VALUE">
              <a:rPr lang="he-IL" sz="1100" b="1" smtClean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pPr algn="r" rtl="1">
                <a:defRPr sz="1000" b="0" i="0" u="none" strike="noStrike" kern="1200" baseline="0">
                  <a:solidFill>
                    <a:prstClr val="black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t>0.5</a:t>
            </a:fld>
            <a:endParaRPr lang="he-IL" sz="11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9240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D00C8976-AA22-42C7-A878-54F0CC3F4CF0}"/>
              </a:ext>
            </a:extLst>
          </p:cNvPr>
          <p:cNvSpPr/>
          <p:nvPr/>
        </p:nvSpPr>
        <p:spPr>
          <a:xfrm>
            <a:off x="6590576" y="622299"/>
            <a:ext cx="4840883" cy="6050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47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812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האתגרים</a:t>
            </a:r>
            <a:r>
              <a:rPr kumimoji="0" lang="he-IL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המרכזיים</a:t>
            </a:r>
            <a:r>
              <a:rPr kumimoji="0" lang="en-US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endParaRPr kumimoji="0" lang="en-US" sz="3812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F7B686-A571-4A57-92E8-2C2AEA204639}"/>
              </a:ext>
            </a:extLst>
          </p:cNvPr>
          <p:cNvSpPr/>
          <p:nvPr/>
        </p:nvSpPr>
        <p:spPr>
          <a:xfrm>
            <a:off x="4725823" y="1889538"/>
            <a:ext cx="2420442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חוסר תיאום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138C92-E126-41EB-AB69-4279F241A82A}"/>
              </a:ext>
            </a:extLst>
          </p:cNvPr>
          <p:cNvSpPr/>
          <p:nvPr/>
        </p:nvSpPr>
        <p:spPr>
          <a:xfrm>
            <a:off x="1002746" y="1889538"/>
            <a:ext cx="2420442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צורך במיקוד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משאבים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במניעה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E1699D-489A-4144-95D4-5DB8E8A3C160}"/>
              </a:ext>
            </a:extLst>
          </p:cNvPr>
          <p:cNvSpPr/>
          <p:nvPr/>
        </p:nvSpPr>
        <p:spPr>
          <a:xfrm>
            <a:off x="9915735" y="586407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1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1273C18-9420-489D-98E5-FA60AA839ED5}"/>
              </a:ext>
            </a:extLst>
          </p:cNvPr>
          <p:cNvSpPr/>
          <p:nvPr/>
        </p:nvSpPr>
        <p:spPr>
          <a:xfrm>
            <a:off x="8263282" y="579199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ct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4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דאטה</a:t>
            </a:r>
            <a:endParaRPr lang="en-US" sz="1400" b="1" dirty="0">
              <a:solidFill>
                <a:schemeClr val="accent1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6874DB-3B97-4A1F-A0A9-B8AAFF469F80}"/>
              </a:ext>
            </a:extLst>
          </p:cNvPr>
          <p:cNvSpPr/>
          <p:nvPr/>
        </p:nvSpPr>
        <p:spPr>
          <a:xfrm>
            <a:off x="8289482" y="586407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1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C7C18B9-24CE-4572-A9D3-E5C053AD9B99}"/>
              </a:ext>
            </a:extLst>
          </p:cNvPr>
          <p:cNvSpPr/>
          <p:nvPr/>
        </p:nvSpPr>
        <p:spPr>
          <a:xfrm>
            <a:off x="6637031" y="579199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ct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400" b="1" dirty="0" err="1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דיגיטל</a:t>
            </a:r>
            <a:endParaRPr lang="en-US" sz="1400" b="1" dirty="0">
              <a:solidFill>
                <a:schemeClr val="accent1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3A74BD-2615-4CFA-85EB-4539CCC35398}"/>
              </a:ext>
            </a:extLst>
          </p:cNvPr>
          <p:cNvSpPr/>
          <p:nvPr/>
        </p:nvSpPr>
        <p:spPr>
          <a:xfrm>
            <a:off x="6663231" y="586407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1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0402D130-D3D8-4767-8F81-C284ADCD409E}"/>
              </a:ext>
            </a:extLst>
          </p:cNvPr>
          <p:cNvSpPr/>
          <p:nvPr/>
        </p:nvSpPr>
        <p:spPr>
          <a:xfrm>
            <a:off x="5010780" y="579199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ct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4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זכויות</a:t>
            </a:r>
            <a:endParaRPr lang="en-US" sz="1400" b="1" dirty="0">
              <a:solidFill>
                <a:schemeClr val="accent1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D1F2FB-3DCF-4DDC-B60C-A416FD7CB3EB}"/>
              </a:ext>
            </a:extLst>
          </p:cNvPr>
          <p:cNvSpPr/>
          <p:nvPr/>
        </p:nvSpPr>
        <p:spPr>
          <a:xfrm>
            <a:off x="5036980" y="586407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1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D2E8A89-2F48-412A-B111-F68C3D529DDB}"/>
              </a:ext>
            </a:extLst>
          </p:cNvPr>
          <p:cNvSpPr/>
          <p:nvPr/>
        </p:nvSpPr>
        <p:spPr>
          <a:xfrm>
            <a:off x="3384529" y="579199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ct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4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שירותים</a:t>
            </a:r>
            <a:endParaRPr lang="en-US" sz="1400" b="1" dirty="0">
              <a:solidFill>
                <a:schemeClr val="accent1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F1634D-2B56-4460-B229-E94CB74D4BC3}"/>
              </a:ext>
            </a:extLst>
          </p:cNvPr>
          <p:cNvSpPr/>
          <p:nvPr/>
        </p:nvSpPr>
        <p:spPr>
          <a:xfrm>
            <a:off x="3410729" y="586407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1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0C0DB61-DD33-49EA-AF60-7518A17EFBB6}"/>
              </a:ext>
            </a:extLst>
          </p:cNvPr>
          <p:cNvSpPr/>
          <p:nvPr/>
        </p:nvSpPr>
        <p:spPr>
          <a:xfrm>
            <a:off x="1758278" y="579199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ct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4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משאבים</a:t>
            </a:r>
            <a:endParaRPr lang="en-US" sz="1400" b="1" dirty="0">
              <a:solidFill>
                <a:schemeClr val="accent1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02D434-FE57-41D5-ACAD-6805D7DC5D2E}"/>
              </a:ext>
            </a:extLst>
          </p:cNvPr>
          <p:cNvSpPr/>
          <p:nvPr/>
        </p:nvSpPr>
        <p:spPr>
          <a:xfrm>
            <a:off x="1784478" y="586407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1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F28E96EE-E4A2-40BF-91A1-9E119D3B4D09}"/>
              </a:ext>
            </a:extLst>
          </p:cNvPr>
          <p:cNvSpPr/>
          <p:nvPr/>
        </p:nvSpPr>
        <p:spPr>
          <a:xfrm>
            <a:off x="8661895" y="1889538"/>
            <a:ext cx="2420442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פיצול סמכויות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C09826-8B2E-4E0A-A81F-5F343F289AE2}"/>
              </a:ext>
            </a:extLst>
          </p:cNvPr>
          <p:cNvSpPr/>
          <p:nvPr/>
        </p:nvSpPr>
        <p:spPr>
          <a:xfrm>
            <a:off x="11082337" y="1930178"/>
            <a:ext cx="302003" cy="302618"/>
          </a:xfrm>
          <a:prstGeom prst="ellipse">
            <a:avLst/>
          </a:prstGeom>
          <a:solidFill>
            <a:schemeClr val="bg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rgbClr val="0F6FC6"/>
                </a:solidFill>
              </a:rPr>
              <a:t>1</a:t>
            </a:r>
            <a:endParaRPr lang="en-IL" dirty="0">
              <a:solidFill>
                <a:srgbClr val="0F6FC6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5F4EB7-CD6F-4029-BABD-E136313D4AE0}"/>
              </a:ext>
            </a:extLst>
          </p:cNvPr>
          <p:cNvSpPr/>
          <p:nvPr/>
        </p:nvSpPr>
        <p:spPr>
          <a:xfrm>
            <a:off x="7133416" y="1930178"/>
            <a:ext cx="302003" cy="302618"/>
          </a:xfrm>
          <a:prstGeom prst="ellipse">
            <a:avLst/>
          </a:prstGeom>
          <a:solidFill>
            <a:schemeClr val="bg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rgbClr val="0F6FC6"/>
                </a:solidFill>
              </a:rPr>
              <a:t>2</a:t>
            </a:r>
            <a:endParaRPr lang="en-IL" dirty="0">
              <a:solidFill>
                <a:srgbClr val="0F6FC6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49388C-99AE-4397-9EB8-373EC8A5229C}"/>
              </a:ext>
            </a:extLst>
          </p:cNvPr>
          <p:cNvSpPr/>
          <p:nvPr/>
        </p:nvSpPr>
        <p:spPr>
          <a:xfrm>
            <a:off x="3384716" y="1930178"/>
            <a:ext cx="302003" cy="302618"/>
          </a:xfrm>
          <a:prstGeom prst="ellipse">
            <a:avLst/>
          </a:prstGeom>
          <a:solidFill>
            <a:schemeClr val="bg1"/>
          </a:solidFill>
          <a:ln>
            <a:solidFill>
              <a:srgbClr val="0F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rgbClr val="0F6FC6"/>
                </a:solidFill>
              </a:rPr>
              <a:t>3</a:t>
            </a:r>
            <a:endParaRPr lang="en-IL" dirty="0">
              <a:solidFill>
                <a:srgbClr val="0F6FC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DE69FA-F1EC-4570-8756-9F83E473FF9E}"/>
              </a:ext>
            </a:extLst>
          </p:cNvPr>
          <p:cNvSpPr txBox="1"/>
          <p:nvPr/>
        </p:nvSpPr>
        <p:spPr>
          <a:xfrm>
            <a:off x="8130177" y="2438477"/>
            <a:ext cx="2953619" cy="10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משרדי ממשלה וגופים שונים מעורבים בטיפול בשלבי ואירועי חיים שונים באוכלוסייה המבוגרת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58B96C-E663-4592-9C7B-2B63A69C201C}"/>
              </a:ext>
            </a:extLst>
          </p:cNvPr>
          <p:cNvSpPr txBox="1"/>
          <p:nvPr/>
        </p:nvSpPr>
        <p:spPr>
          <a:xfrm>
            <a:off x="8130177" y="3905565"/>
            <a:ext cx="2976603" cy="139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מוביל ל</a:t>
            </a: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חוסר במדיניות אחידה</a:t>
            </a: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, </a:t>
            </a: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פגיעה באפקטיביות ויעילות, היעדר רציפות בשירותים</a:t>
            </a: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, ובלבול של האזרח מול כל הגופים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2D5AFA-BA41-48EA-9329-103DE361AFD3}"/>
              </a:ext>
            </a:extLst>
          </p:cNvPr>
          <p:cNvSpPr txBox="1"/>
          <p:nvPr/>
        </p:nvSpPr>
        <p:spPr>
          <a:xfrm>
            <a:off x="4537166" y="3905565"/>
            <a:ext cx="2542172" cy="73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מוביל </a:t>
            </a: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לחוסר ולפערים בשירותים, ולכפילויות </a:t>
            </a: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מיותרות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A7BB37-04CF-4DC3-9134-299C1C7F5A82}"/>
              </a:ext>
            </a:extLst>
          </p:cNvPr>
          <p:cNvSpPr txBox="1"/>
          <p:nvPr/>
        </p:nvSpPr>
        <p:spPr>
          <a:xfrm>
            <a:off x="3962400" y="2438477"/>
            <a:ext cx="3171016" cy="10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הגופים הממשלתיים פועלים בצורה עצמאית, </a:t>
            </a: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בחוסר סנכרון </a:t>
            </a: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מספק וללא תכלול </a:t>
            </a:r>
            <a:r>
              <a:rPr lang="he-IL" sz="1620" b="1" dirty="0" err="1"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בהנגשת</a:t>
            </a: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 מידע, שירותים וזכויות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5E6894-5EEE-4A28-B307-C8DF4FD77B01}"/>
              </a:ext>
            </a:extLst>
          </p:cNvPr>
          <p:cNvSpPr txBox="1"/>
          <p:nvPr/>
        </p:nvSpPr>
        <p:spPr>
          <a:xfrm>
            <a:off x="446585" y="2438477"/>
            <a:ext cx="2976603" cy="73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צורך ב</a:t>
            </a: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מיקוד מאמץ משותף למניעה </a:t>
            </a: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ומשאבים ומידע מפוזרים בין גופים </a:t>
            </a:r>
            <a:endParaRPr lang="he-IL" sz="1620" b="1" dirty="0"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B70B43-96A2-4CD7-90CF-1C4E011C7E24}"/>
              </a:ext>
            </a:extLst>
          </p:cNvPr>
          <p:cNvSpPr txBox="1"/>
          <p:nvPr/>
        </p:nvSpPr>
        <p:spPr>
          <a:xfrm>
            <a:off x="446586" y="3905565"/>
            <a:ext cx="2976603" cy="10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592"/>
              </a:lnSpc>
              <a:defRPr/>
            </a:pPr>
            <a:r>
              <a:rPr lang="he-IL" sz="162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מקשה על יצירת מדיניות </a:t>
            </a:r>
            <a:r>
              <a:rPr lang="he-IL" sz="162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אפקטיבית מבוססת נתונים לטיפול באוכלוסייה המבוגרת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19F7AEA-1B7A-4279-A655-FEA959504532}"/>
              </a:ext>
            </a:extLst>
          </p:cNvPr>
          <p:cNvCxnSpPr>
            <a:cxnSpLocks/>
          </p:cNvCxnSpPr>
          <p:nvPr/>
        </p:nvCxnSpPr>
        <p:spPr>
          <a:xfrm>
            <a:off x="2854228" y="3793139"/>
            <a:ext cx="43827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2A6A4DF-D412-4B7F-8B41-2E4729D5AC98}"/>
              </a:ext>
            </a:extLst>
          </p:cNvPr>
          <p:cNvCxnSpPr>
            <a:cxnSpLocks/>
          </p:cNvCxnSpPr>
          <p:nvPr/>
        </p:nvCxnSpPr>
        <p:spPr>
          <a:xfrm>
            <a:off x="6505624" y="3793139"/>
            <a:ext cx="43827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92F3DA7-83A9-4945-B947-2BF0EFA54A1C}"/>
              </a:ext>
            </a:extLst>
          </p:cNvPr>
          <p:cNvCxnSpPr>
            <a:cxnSpLocks/>
          </p:cNvCxnSpPr>
          <p:nvPr/>
        </p:nvCxnSpPr>
        <p:spPr>
          <a:xfrm>
            <a:off x="10518824" y="3793139"/>
            <a:ext cx="43827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71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5C9E383-1D00-411F-BD3B-B067D716193C}"/>
              </a:ext>
            </a:extLst>
          </p:cNvPr>
          <p:cNvSpPr/>
          <p:nvPr/>
        </p:nvSpPr>
        <p:spPr>
          <a:xfrm>
            <a:off x="11043964" y="5707972"/>
            <a:ext cx="144000" cy="144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תיבת טקסט 5">
            <a:extLst>
              <a:ext uri="{FF2B5EF4-FFF2-40B4-BE49-F238E27FC236}">
                <a16:creationId xmlns:a16="http://schemas.microsoft.com/office/drawing/2014/main" id="{C3F1E569-6A48-4E32-9380-64C2E34EA53B}"/>
              </a:ext>
            </a:extLst>
          </p:cNvPr>
          <p:cNvSpPr txBox="1"/>
          <p:nvPr/>
        </p:nvSpPr>
        <p:spPr>
          <a:xfrm>
            <a:off x="4397282" y="195831"/>
            <a:ext cx="544672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4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פנינה לוי, </a:t>
            </a:r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רמת סיעוד 2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(מייצגת </a:t>
            </a: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15% מהזקנים בישראל ברמות סיעוד הנמוכות)</a:t>
            </a:r>
          </a:p>
          <a:p>
            <a:pPr algn="r" rtl="1"/>
            <a:br>
              <a:rPr lang="en-US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בת 71, אלמנה, גרה עם בנה הגרוש</a:t>
            </a:r>
          </a:p>
        </p:txBody>
      </p:sp>
      <p:sp>
        <p:nvSpPr>
          <p:cNvPr id="17" name="תיבת טקסט 9">
            <a:extLst>
              <a:ext uri="{FF2B5EF4-FFF2-40B4-BE49-F238E27FC236}">
                <a16:creationId xmlns:a16="http://schemas.microsoft.com/office/drawing/2014/main" id="{27291A11-BE90-4BE3-A04D-E8DC9C14A245}"/>
              </a:ext>
            </a:extLst>
          </p:cNvPr>
          <p:cNvSpPr txBox="1"/>
          <p:nvPr/>
        </p:nvSpPr>
        <p:spPr>
          <a:xfrm>
            <a:off x="3512689" y="2514996"/>
            <a:ext cx="4826001" cy="212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1800"/>
              </a:spcAft>
            </a:pPr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היום יום של פנינה מתאפיין ב:</a:t>
            </a:r>
            <a:br>
              <a:rPr lang="en-US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קשיי תפקוד: 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פנינה יוצאת מעט מביתה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בדידות: 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פנינה מרגישה בודדה ומבודדת 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תלות בבן: 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רגשות אשמה ועומס על הבן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חשש מנפילות: 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מונע ממנה לצאת מהבית </a:t>
            </a:r>
          </a:p>
        </p:txBody>
      </p:sp>
      <p:sp>
        <p:nvSpPr>
          <p:cNvPr id="18" name="תיבת טקסט 12">
            <a:extLst>
              <a:ext uri="{FF2B5EF4-FFF2-40B4-BE49-F238E27FC236}">
                <a16:creationId xmlns:a16="http://schemas.microsoft.com/office/drawing/2014/main" id="{0749F052-554F-4F10-8C2A-4DAF457FDE1E}"/>
              </a:ext>
            </a:extLst>
          </p:cNvPr>
          <p:cNvSpPr txBox="1"/>
          <p:nvPr/>
        </p:nvSpPr>
        <p:spPr>
          <a:xfrm>
            <a:off x="1546925" y="5263105"/>
            <a:ext cx="9246550" cy="5888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4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האם הסל שפנינה צריכה לקבל זהה לכ160,000 זכאים ברמות הנמוכות?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396BA2-6E09-4B7A-BD20-D26C6C3D6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5222" y="1304042"/>
            <a:ext cx="2415365" cy="3314633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0B489560-F7D7-4336-8787-BB476E6F04E6}"/>
              </a:ext>
            </a:extLst>
          </p:cNvPr>
          <p:cNvSpPr/>
          <p:nvPr/>
        </p:nvSpPr>
        <p:spPr>
          <a:xfrm>
            <a:off x="8954012" y="585197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מטפלת?</a:t>
            </a:r>
            <a:endParaRPr lang="en-US" dirty="0"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3F24F495-547A-4155-9CFB-AC93F104C14C}"/>
              </a:ext>
            </a:extLst>
          </p:cNvPr>
          <p:cNvSpPr/>
          <p:nvPr/>
        </p:nvSpPr>
        <p:spPr>
          <a:xfrm>
            <a:off x="7131327" y="585197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טיטולים?</a:t>
            </a:r>
            <a:endParaRPr lang="en-US" dirty="0"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444C3F03-C278-4DB9-BD46-81228A265B5F}"/>
              </a:ext>
            </a:extLst>
          </p:cNvPr>
          <p:cNvSpPr/>
          <p:nvPr/>
        </p:nvSpPr>
        <p:spPr>
          <a:xfrm>
            <a:off x="5026130" y="585197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כסף?</a:t>
            </a:r>
            <a:endParaRPr lang="en-US" dirty="0"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CAA22FC-42A8-4CBD-907E-4F889265FBD6}"/>
              </a:ext>
            </a:extLst>
          </p:cNvPr>
          <p:cNvSpPr/>
          <p:nvPr/>
        </p:nvSpPr>
        <p:spPr>
          <a:xfrm>
            <a:off x="3485957" y="585197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שירותי כביסה?</a:t>
            </a:r>
            <a:endParaRPr lang="en-US" dirty="0"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40C15470-1A3A-4772-A122-7AE6DCFE87BB}"/>
              </a:ext>
            </a:extLst>
          </p:cNvPr>
          <p:cNvSpPr/>
          <p:nvPr/>
        </p:nvSpPr>
        <p:spPr>
          <a:xfrm>
            <a:off x="1663272" y="5851972"/>
            <a:ext cx="1822651" cy="302618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מרכז יום?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80DECE-8E00-4E3F-8C57-49C736C83A45}"/>
              </a:ext>
            </a:extLst>
          </p:cNvPr>
          <p:cNvSpPr txBox="1"/>
          <p:nvPr/>
        </p:nvSpPr>
        <p:spPr>
          <a:xfrm>
            <a:off x="5264587" y="195831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400" b="1" dirty="0">
                <a:solidFill>
                  <a:schemeClr val="accent1"/>
                </a:solidFill>
              </a:rPr>
              <a:t>מקרה בוחן -</a:t>
            </a:r>
            <a:br>
              <a:rPr lang="en-US" dirty="0"/>
            </a:br>
            <a:endParaRPr lang="en-I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FFBADB-CA58-49C7-80E5-086E551EE241}"/>
              </a:ext>
            </a:extLst>
          </p:cNvPr>
          <p:cNvGrpSpPr>
            <a:grpSpLocks noChangeAspect="1"/>
          </p:cNvGrpSpPr>
          <p:nvPr/>
        </p:nvGrpSpPr>
        <p:grpSpPr>
          <a:xfrm>
            <a:off x="10926820" y="5630715"/>
            <a:ext cx="522288" cy="523875"/>
            <a:chOff x="11115676" y="4182110"/>
            <a:chExt cx="522288" cy="523875"/>
          </a:xfrm>
        </p:grpSpPr>
        <p:sp>
          <p:nvSpPr>
            <p:cNvPr id="20" name="Freeform 45">
              <a:extLst>
                <a:ext uri="{FF2B5EF4-FFF2-40B4-BE49-F238E27FC236}">
                  <a16:creationId xmlns:a16="http://schemas.microsoft.com/office/drawing/2014/main" id="{76DAA703-1792-4CF3-A118-69DD7F1B21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5676" y="4182110"/>
              <a:ext cx="522288" cy="523875"/>
            </a:xfrm>
            <a:custGeom>
              <a:avLst/>
              <a:gdLst>
                <a:gd name="T0" fmla="*/ 312 w 659"/>
                <a:gd name="T1" fmla="*/ 657 h 658"/>
                <a:gd name="T2" fmla="*/ 263 w 659"/>
                <a:gd name="T3" fmla="*/ 651 h 658"/>
                <a:gd name="T4" fmla="*/ 202 w 659"/>
                <a:gd name="T5" fmla="*/ 631 h 658"/>
                <a:gd name="T6" fmla="*/ 120 w 659"/>
                <a:gd name="T7" fmla="*/ 583 h 658"/>
                <a:gd name="T8" fmla="*/ 57 w 659"/>
                <a:gd name="T9" fmla="*/ 513 h 658"/>
                <a:gd name="T10" fmla="*/ 15 w 659"/>
                <a:gd name="T11" fmla="*/ 427 h 658"/>
                <a:gd name="T12" fmla="*/ 4 w 659"/>
                <a:gd name="T13" fmla="*/ 379 h 658"/>
                <a:gd name="T14" fmla="*/ 0 w 659"/>
                <a:gd name="T15" fmla="*/ 329 h 658"/>
                <a:gd name="T16" fmla="*/ 2 w 659"/>
                <a:gd name="T17" fmla="*/ 295 h 658"/>
                <a:gd name="T18" fmla="*/ 11 w 659"/>
                <a:gd name="T19" fmla="*/ 247 h 658"/>
                <a:gd name="T20" fmla="*/ 41 w 659"/>
                <a:gd name="T21" fmla="*/ 172 h 658"/>
                <a:gd name="T22" fmla="*/ 97 w 659"/>
                <a:gd name="T23" fmla="*/ 96 h 658"/>
                <a:gd name="T24" fmla="*/ 172 w 659"/>
                <a:gd name="T25" fmla="*/ 40 h 658"/>
                <a:gd name="T26" fmla="*/ 248 w 659"/>
                <a:gd name="T27" fmla="*/ 10 h 658"/>
                <a:gd name="T28" fmla="*/ 296 w 659"/>
                <a:gd name="T29" fmla="*/ 1 h 658"/>
                <a:gd name="T30" fmla="*/ 330 w 659"/>
                <a:gd name="T31" fmla="*/ 0 h 658"/>
                <a:gd name="T32" fmla="*/ 379 w 659"/>
                <a:gd name="T33" fmla="*/ 4 h 658"/>
                <a:gd name="T34" fmla="*/ 426 w 659"/>
                <a:gd name="T35" fmla="*/ 14 h 658"/>
                <a:gd name="T36" fmla="*/ 514 w 659"/>
                <a:gd name="T37" fmla="*/ 56 h 658"/>
                <a:gd name="T38" fmla="*/ 584 w 659"/>
                <a:gd name="T39" fmla="*/ 119 h 658"/>
                <a:gd name="T40" fmla="*/ 632 w 659"/>
                <a:gd name="T41" fmla="*/ 201 h 658"/>
                <a:gd name="T42" fmla="*/ 652 w 659"/>
                <a:gd name="T43" fmla="*/ 263 h 658"/>
                <a:gd name="T44" fmla="*/ 658 w 659"/>
                <a:gd name="T45" fmla="*/ 311 h 658"/>
                <a:gd name="T46" fmla="*/ 658 w 659"/>
                <a:gd name="T47" fmla="*/ 346 h 658"/>
                <a:gd name="T48" fmla="*/ 652 w 659"/>
                <a:gd name="T49" fmla="*/ 395 h 658"/>
                <a:gd name="T50" fmla="*/ 632 w 659"/>
                <a:gd name="T51" fmla="*/ 456 h 658"/>
                <a:gd name="T52" fmla="*/ 584 w 659"/>
                <a:gd name="T53" fmla="*/ 538 h 658"/>
                <a:gd name="T54" fmla="*/ 514 w 659"/>
                <a:gd name="T55" fmla="*/ 602 h 658"/>
                <a:gd name="T56" fmla="*/ 426 w 659"/>
                <a:gd name="T57" fmla="*/ 643 h 658"/>
                <a:gd name="T58" fmla="*/ 379 w 659"/>
                <a:gd name="T59" fmla="*/ 654 h 658"/>
                <a:gd name="T60" fmla="*/ 330 w 659"/>
                <a:gd name="T61" fmla="*/ 658 h 658"/>
                <a:gd name="T62" fmla="*/ 330 w 659"/>
                <a:gd name="T63" fmla="*/ 37 h 658"/>
                <a:gd name="T64" fmla="*/ 242 w 659"/>
                <a:gd name="T65" fmla="*/ 51 h 658"/>
                <a:gd name="T66" fmla="*/ 167 w 659"/>
                <a:gd name="T67" fmla="*/ 87 h 658"/>
                <a:gd name="T68" fmla="*/ 105 w 659"/>
                <a:gd name="T69" fmla="*/ 143 h 658"/>
                <a:gd name="T70" fmla="*/ 61 w 659"/>
                <a:gd name="T71" fmla="*/ 216 h 658"/>
                <a:gd name="T72" fmla="*/ 39 w 659"/>
                <a:gd name="T73" fmla="*/ 299 h 658"/>
                <a:gd name="T74" fmla="*/ 39 w 659"/>
                <a:gd name="T75" fmla="*/ 358 h 658"/>
                <a:gd name="T76" fmla="*/ 61 w 659"/>
                <a:gd name="T77" fmla="*/ 442 h 658"/>
                <a:gd name="T78" fmla="*/ 105 w 659"/>
                <a:gd name="T79" fmla="*/ 514 h 658"/>
                <a:gd name="T80" fmla="*/ 167 w 659"/>
                <a:gd name="T81" fmla="*/ 571 h 658"/>
                <a:gd name="T82" fmla="*/ 242 w 659"/>
                <a:gd name="T83" fmla="*/ 607 h 658"/>
                <a:gd name="T84" fmla="*/ 330 w 659"/>
                <a:gd name="T85" fmla="*/ 620 h 658"/>
                <a:gd name="T86" fmla="*/ 388 w 659"/>
                <a:gd name="T87" fmla="*/ 614 h 658"/>
                <a:gd name="T88" fmla="*/ 468 w 659"/>
                <a:gd name="T89" fmla="*/ 586 h 658"/>
                <a:gd name="T90" fmla="*/ 535 w 659"/>
                <a:gd name="T91" fmla="*/ 534 h 658"/>
                <a:gd name="T92" fmla="*/ 585 w 659"/>
                <a:gd name="T93" fmla="*/ 467 h 658"/>
                <a:gd name="T94" fmla="*/ 615 w 659"/>
                <a:gd name="T95" fmla="*/ 388 h 658"/>
                <a:gd name="T96" fmla="*/ 621 w 659"/>
                <a:gd name="T97" fmla="*/ 329 h 658"/>
                <a:gd name="T98" fmla="*/ 608 w 659"/>
                <a:gd name="T99" fmla="*/ 243 h 658"/>
                <a:gd name="T100" fmla="*/ 570 w 659"/>
                <a:gd name="T101" fmla="*/ 166 h 658"/>
                <a:gd name="T102" fmla="*/ 515 w 659"/>
                <a:gd name="T103" fmla="*/ 104 h 658"/>
                <a:gd name="T104" fmla="*/ 443 w 659"/>
                <a:gd name="T105" fmla="*/ 60 h 658"/>
                <a:gd name="T106" fmla="*/ 359 w 659"/>
                <a:gd name="T107" fmla="*/ 3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30" y="658"/>
                  </a:moveTo>
                  <a:lnTo>
                    <a:pt x="330" y="658"/>
                  </a:lnTo>
                  <a:lnTo>
                    <a:pt x="312" y="657"/>
                  </a:lnTo>
                  <a:lnTo>
                    <a:pt x="296" y="655"/>
                  </a:lnTo>
                  <a:lnTo>
                    <a:pt x="280" y="654"/>
                  </a:lnTo>
                  <a:lnTo>
                    <a:pt x="263" y="651"/>
                  </a:lnTo>
                  <a:lnTo>
                    <a:pt x="248" y="647"/>
                  </a:lnTo>
                  <a:lnTo>
                    <a:pt x="232" y="643"/>
                  </a:lnTo>
                  <a:lnTo>
                    <a:pt x="202" y="631"/>
                  </a:lnTo>
                  <a:lnTo>
                    <a:pt x="172" y="618"/>
                  </a:lnTo>
                  <a:lnTo>
                    <a:pt x="146" y="602"/>
                  </a:lnTo>
                  <a:lnTo>
                    <a:pt x="120" y="583"/>
                  </a:lnTo>
                  <a:lnTo>
                    <a:pt x="97" y="561"/>
                  </a:lnTo>
                  <a:lnTo>
                    <a:pt x="76" y="538"/>
                  </a:lnTo>
                  <a:lnTo>
                    <a:pt x="57" y="513"/>
                  </a:lnTo>
                  <a:lnTo>
                    <a:pt x="41" y="486"/>
                  </a:lnTo>
                  <a:lnTo>
                    <a:pt x="26" y="456"/>
                  </a:lnTo>
                  <a:lnTo>
                    <a:pt x="15" y="427"/>
                  </a:lnTo>
                  <a:lnTo>
                    <a:pt x="11" y="411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2" y="362"/>
                  </a:lnTo>
                  <a:lnTo>
                    <a:pt x="0" y="346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1"/>
                  </a:lnTo>
                  <a:lnTo>
                    <a:pt x="2" y="295"/>
                  </a:lnTo>
                  <a:lnTo>
                    <a:pt x="4" y="279"/>
                  </a:lnTo>
                  <a:lnTo>
                    <a:pt x="7" y="263"/>
                  </a:lnTo>
                  <a:lnTo>
                    <a:pt x="11" y="247"/>
                  </a:lnTo>
                  <a:lnTo>
                    <a:pt x="15" y="231"/>
                  </a:lnTo>
                  <a:lnTo>
                    <a:pt x="26" y="201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19"/>
                  </a:lnTo>
                  <a:lnTo>
                    <a:pt x="97" y="96"/>
                  </a:lnTo>
                  <a:lnTo>
                    <a:pt x="120" y="75"/>
                  </a:lnTo>
                  <a:lnTo>
                    <a:pt x="146" y="56"/>
                  </a:lnTo>
                  <a:lnTo>
                    <a:pt x="172" y="40"/>
                  </a:lnTo>
                  <a:lnTo>
                    <a:pt x="202" y="25"/>
                  </a:lnTo>
                  <a:lnTo>
                    <a:pt x="232" y="14"/>
                  </a:lnTo>
                  <a:lnTo>
                    <a:pt x="248" y="10"/>
                  </a:lnTo>
                  <a:lnTo>
                    <a:pt x="263" y="6"/>
                  </a:lnTo>
                  <a:lnTo>
                    <a:pt x="280" y="4"/>
                  </a:lnTo>
                  <a:lnTo>
                    <a:pt x="296" y="1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6" y="0"/>
                  </a:lnTo>
                  <a:lnTo>
                    <a:pt x="363" y="1"/>
                  </a:lnTo>
                  <a:lnTo>
                    <a:pt x="379" y="4"/>
                  </a:lnTo>
                  <a:lnTo>
                    <a:pt x="396" y="6"/>
                  </a:lnTo>
                  <a:lnTo>
                    <a:pt x="412" y="10"/>
                  </a:lnTo>
                  <a:lnTo>
                    <a:pt x="426" y="14"/>
                  </a:lnTo>
                  <a:lnTo>
                    <a:pt x="457" y="25"/>
                  </a:lnTo>
                  <a:lnTo>
                    <a:pt x="486" y="40"/>
                  </a:lnTo>
                  <a:lnTo>
                    <a:pt x="514" y="56"/>
                  </a:lnTo>
                  <a:lnTo>
                    <a:pt x="538" y="75"/>
                  </a:lnTo>
                  <a:lnTo>
                    <a:pt x="562" y="96"/>
                  </a:lnTo>
                  <a:lnTo>
                    <a:pt x="584" y="119"/>
                  </a:lnTo>
                  <a:lnTo>
                    <a:pt x="603" y="145"/>
                  </a:lnTo>
                  <a:lnTo>
                    <a:pt x="619" y="172"/>
                  </a:lnTo>
                  <a:lnTo>
                    <a:pt x="632" y="201"/>
                  </a:lnTo>
                  <a:lnTo>
                    <a:pt x="644" y="231"/>
                  </a:lnTo>
                  <a:lnTo>
                    <a:pt x="648" y="247"/>
                  </a:lnTo>
                  <a:lnTo>
                    <a:pt x="652" y="263"/>
                  </a:lnTo>
                  <a:lnTo>
                    <a:pt x="655" y="279"/>
                  </a:lnTo>
                  <a:lnTo>
                    <a:pt x="656" y="295"/>
                  </a:lnTo>
                  <a:lnTo>
                    <a:pt x="658" y="311"/>
                  </a:lnTo>
                  <a:lnTo>
                    <a:pt x="659" y="329"/>
                  </a:lnTo>
                  <a:lnTo>
                    <a:pt x="659" y="329"/>
                  </a:lnTo>
                  <a:lnTo>
                    <a:pt x="658" y="346"/>
                  </a:lnTo>
                  <a:lnTo>
                    <a:pt x="656" y="362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1"/>
                  </a:lnTo>
                  <a:lnTo>
                    <a:pt x="644" y="427"/>
                  </a:lnTo>
                  <a:lnTo>
                    <a:pt x="632" y="456"/>
                  </a:lnTo>
                  <a:lnTo>
                    <a:pt x="619" y="486"/>
                  </a:lnTo>
                  <a:lnTo>
                    <a:pt x="603" y="513"/>
                  </a:lnTo>
                  <a:lnTo>
                    <a:pt x="584" y="538"/>
                  </a:lnTo>
                  <a:lnTo>
                    <a:pt x="562" y="561"/>
                  </a:lnTo>
                  <a:lnTo>
                    <a:pt x="538" y="583"/>
                  </a:lnTo>
                  <a:lnTo>
                    <a:pt x="514" y="602"/>
                  </a:lnTo>
                  <a:lnTo>
                    <a:pt x="486" y="618"/>
                  </a:lnTo>
                  <a:lnTo>
                    <a:pt x="457" y="631"/>
                  </a:lnTo>
                  <a:lnTo>
                    <a:pt x="426" y="643"/>
                  </a:lnTo>
                  <a:lnTo>
                    <a:pt x="412" y="647"/>
                  </a:lnTo>
                  <a:lnTo>
                    <a:pt x="396" y="651"/>
                  </a:lnTo>
                  <a:lnTo>
                    <a:pt x="379" y="654"/>
                  </a:lnTo>
                  <a:lnTo>
                    <a:pt x="363" y="655"/>
                  </a:lnTo>
                  <a:lnTo>
                    <a:pt x="346" y="657"/>
                  </a:lnTo>
                  <a:lnTo>
                    <a:pt x="330" y="658"/>
                  </a:lnTo>
                  <a:lnTo>
                    <a:pt x="330" y="658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38"/>
                  </a:lnTo>
                  <a:lnTo>
                    <a:pt x="271" y="44"/>
                  </a:lnTo>
                  <a:lnTo>
                    <a:pt x="242" y="51"/>
                  </a:lnTo>
                  <a:lnTo>
                    <a:pt x="215" y="60"/>
                  </a:lnTo>
                  <a:lnTo>
                    <a:pt x="191" y="72"/>
                  </a:lnTo>
                  <a:lnTo>
                    <a:pt x="167" y="87"/>
                  </a:lnTo>
                  <a:lnTo>
                    <a:pt x="144" y="104"/>
                  </a:lnTo>
                  <a:lnTo>
                    <a:pt x="124" y="123"/>
                  </a:lnTo>
                  <a:lnTo>
                    <a:pt x="105" y="143"/>
                  </a:lnTo>
                  <a:lnTo>
                    <a:pt x="88" y="166"/>
                  </a:lnTo>
                  <a:lnTo>
                    <a:pt x="73" y="190"/>
                  </a:lnTo>
                  <a:lnTo>
                    <a:pt x="61" y="216"/>
                  </a:lnTo>
                  <a:lnTo>
                    <a:pt x="52" y="243"/>
                  </a:lnTo>
                  <a:lnTo>
                    <a:pt x="43" y="270"/>
                  </a:lnTo>
                  <a:lnTo>
                    <a:pt x="39" y="299"/>
                  </a:lnTo>
                  <a:lnTo>
                    <a:pt x="38" y="329"/>
                  </a:lnTo>
                  <a:lnTo>
                    <a:pt x="38" y="329"/>
                  </a:lnTo>
                  <a:lnTo>
                    <a:pt x="39" y="358"/>
                  </a:lnTo>
                  <a:lnTo>
                    <a:pt x="43" y="388"/>
                  </a:lnTo>
                  <a:lnTo>
                    <a:pt x="52" y="415"/>
                  </a:lnTo>
                  <a:lnTo>
                    <a:pt x="61" y="442"/>
                  </a:lnTo>
                  <a:lnTo>
                    <a:pt x="73" y="467"/>
                  </a:lnTo>
                  <a:lnTo>
                    <a:pt x="88" y="491"/>
                  </a:lnTo>
                  <a:lnTo>
                    <a:pt x="105" y="514"/>
                  </a:lnTo>
                  <a:lnTo>
                    <a:pt x="124" y="534"/>
                  </a:lnTo>
                  <a:lnTo>
                    <a:pt x="144" y="553"/>
                  </a:lnTo>
                  <a:lnTo>
                    <a:pt x="167" y="571"/>
                  </a:lnTo>
                  <a:lnTo>
                    <a:pt x="191" y="586"/>
                  </a:lnTo>
                  <a:lnTo>
                    <a:pt x="215" y="598"/>
                  </a:lnTo>
                  <a:lnTo>
                    <a:pt x="242" y="607"/>
                  </a:lnTo>
                  <a:lnTo>
                    <a:pt x="271" y="614"/>
                  </a:lnTo>
                  <a:lnTo>
                    <a:pt x="300" y="619"/>
                  </a:lnTo>
                  <a:lnTo>
                    <a:pt x="330" y="620"/>
                  </a:lnTo>
                  <a:lnTo>
                    <a:pt x="330" y="620"/>
                  </a:lnTo>
                  <a:lnTo>
                    <a:pt x="359" y="619"/>
                  </a:lnTo>
                  <a:lnTo>
                    <a:pt x="388" y="614"/>
                  </a:lnTo>
                  <a:lnTo>
                    <a:pt x="416" y="607"/>
                  </a:lnTo>
                  <a:lnTo>
                    <a:pt x="443" y="598"/>
                  </a:lnTo>
                  <a:lnTo>
                    <a:pt x="468" y="586"/>
                  </a:lnTo>
                  <a:lnTo>
                    <a:pt x="492" y="571"/>
                  </a:lnTo>
                  <a:lnTo>
                    <a:pt x="515" y="553"/>
                  </a:lnTo>
                  <a:lnTo>
                    <a:pt x="535" y="534"/>
                  </a:lnTo>
                  <a:lnTo>
                    <a:pt x="554" y="514"/>
                  </a:lnTo>
                  <a:lnTo>
                    <a:pt x="570" y="491"/>
                  </a:lnTo>
                  <a:lnTo>
                    <a:pt x="585" y="467"/>
                  </a:lnTo>
                  <a:lnTo>
                    <a:pt x="597" y="442"/>
                  </a:lnTo>
                  <a:lnTo>
                    <a:pt x="608" y="415"/>
                  </a:lnTo>
                  <a:lnTo>
                    <a:pt x="615" y="388"/>
                  </a:lnTo>
                  <a:lnTo>
                    <a:pt x="619" y="358"/>
                  </a:lnTo>
                  <a:lnTo>
                    <a:pt x="621" y="329"/>
                  </a:lnTo>
                  <a:lnTo>
                    <a:pt x="621" y="329"/>
                  </a:lnTo>
                  <a:lnTo>
                    <a:pt x="619" y="299"/>
                  </a:lnTo>
                  <a:lnTo>
                    <a:pt x="615" y="270"/>
                  </a:lnTo>
                  <a:lnTo>
                    <a:pt x="608" y="243"/>
                  </a:lnTo>
                  <a:lnTo>
                    <a:pt x="597" y="216"/>
                  </a:lnTo>
                  <a:lnTo>
                    <a:pt x="585" y="190"/>
                  </a:lnTo>
                  <a:lnTo>
                    <a:pt x="570" y="166"/>
                  </a:lnTo>
                  <a:lnTo>
                    <a:pt x="554" y="143"/>
                  </a:lnTo>
                  <a:lnTo>
                    <a:pt x="535" y="123"/>
                  </a:lnTo>
                  <a:lnTo>
                    <a:pt x="515" y="104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3" y="60"/>
                  </a:lnTo>
                  <a:lnTo>
                    <a:pt x="416" y="51"/>
                  </a:lnTo>
                  <a:lnTo>
                    <a:pt x="388" y="44"/>
                  </a:lnTo>
                  <a:lnTo>
                    <a:pt x="359" y="38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327">
              <a:extLst>
                <a:ext uri="{FF2B5EF4-FFF2-40B4-BE49-F238E27FC236}">
                  <a16:creationId xmlns:a16="http://schemas.microsoft.com/office/drawing/2014/main" id="{FD995344-6A98-4276-86D6-B8D342C39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38" y="4337685"/>
              <a:ext cx="66675" cy="66675"/>
            </a:xfrm>
            <a:custGeom>
              <a:avLst/>
              <a:gdLst>
                <a:gd name="T0" fmla="*/ 2 w 85"/>
                <a:gd name="T1" fmla="*/ 81 h 85"/>
                <a:gd name="T2" fmla="*/ 2 w 85"/>
                <a:gd name="T3" fmla="*/ 81 h 85"/>
                <a:gd name="T4" fmla="*/ 4 w 85"/>
                <a:gd name="T5" fmla="*/ 84 h 85"/>
                <a:gd name="T6" fmla="*/ 7 w 85"/>
                <a:gd name="T7" fmla="*/ 84 h 85"/>
                <a:gd name="T8" fmla="*/ 7 w 85"/>
                <a:gd name="T9" fmla="*/ 84 h 85"/>
                <a:gd name="T10" fmla="*/ 8 w 85"/>
                <a:gd name="T11" fmla="*/ 85 h 85"/>
                <a:gd name="T12" fmla="*/ 8 w 85"/>
                <a:gd name="T13" fmla="*/ 85 h 85"/>
                <a:gd name="T14" fmla="*/ 11 w 85"/>
                <a:gd name="T15" fmla="*/ 84 h 85"/>
                <a:gd name="T16" fmla="*/ 14 w 85"/>
                <a:gd name="T17" fmla="*/ 82 h 85"/>
                <a:gd name="T18" fmla="*/ 16 w 85"/>
                <a:gd name="T19" fmla="*/ 80 h 85"/>
                <a:gd name="T20" fmla="*/ 16 w 85"/>
                <a:gd name="T21" fmla="*/ 77 h 85"/>
                <a:gd name="T22" fmla="*/ 16 w 85"/>
                <a:gd name="T23" fmla="*/ 77 h 85"/>
                <a:gd name="T24" fmla="*/ 19 w 85"/>
                <a:gd name="T25" fmla="*/ 66 h 85"/>
                <a:gd name="T26" fmla="*/ 24 w 85"/>
                <a:gd name="T27" fmla="*/ 56 h 85"/>
                <a:gd name="T28" fmla="*/ 30 w 85"/>
                <a:gd name="T29" fmla="*/ 46 h 85"/>
                <a:gd name="T30" fmla="*/ 37 w 85"/>
                <a:gd name="T31" fmla="*/ 37 h 85"/>
                <a:gd name="T32" fmla="*/ 46 w 85"/>
                <a:gd name="T33" fmla="*/ 30 h 85"/>
                <a:gd name="T34" fmla="*/ 55 w 85"/>
                <a:gd name="T35" fmla="*/ 23 h 85"/>
                <a:gd name="T36" fmla="*/ 66 w 85"/>
                <a:gd name="T37" fmla="*/ 19 h 85"/>
                <a:gd name="T38" fmla="*/ 77 w 85"/>
                <a:gd name="T39" fmla="*/ 17 h 85"/>
                <a:gd name="T40" fmla="*/ 77 w 85"/>
                <a:gd name="T41" fmla="*/ 17 h 85"/>
                <a:gd name="T42" fmla="*/ 81 w 85"/>
                <a:gd name="T43" fmla="*/ 15 h 85"/>
                <a:gd name="T44" fmla="*/ 82 w 85"/>
                <a:gd name="T45" fmla="*/ 14 h 85"/>
                <a:gd name="T46" fmla="*/ 82 w 85"/>
                <a:gd name="T47" fmla="*/ 14 h 85"/>
                <a:gd name="T48" fmla="*/ 84 w 85"/>
                <a:gd name="T49" fmla="*/ 10 h 85"/>
                <a:gd name="T50" fmla="*/ 85 w 85"/>
                <a:gd name="T51" fmla="*/ 7 h 85"/>
                <a:gd name="T52" fmla="*/ 85 w 85"/>
                <a:gd name="T53" fmla="*/ 7 h 85"/>
                <a:gd name="T54" fmla="*/ 84 w 85"/>
                <a:gd name="T55" fmla="*/ 4 h 85"/>
                <a:gd name="T56" fmla="*/ 81 w 85"/>
                <a:gd name="T57" fmla="*/ 2 h 85"/>
                <a:gd name="T58" fmla="*/ 78 w 85"/>
                <a:gd name="T59" fmla="*/ 0 h 85"/>
                <a:gd name="T60" fmla="*/ 74 w 85"/>
                <a:gd name="T61" fmla="*/ 0 h 85"/>
                <a:gd name="T62" fmla="*/ 74 w 85"/>
                <a:gd name="T63" fmla="*/ 0 h 85"/>
                <a:gd name="T64" fmla="*/ 61 w 85"/>
                <a:gd name="T65" fmla="*/ 3 h 85"/>
                <a:gd name="T66" fmla="*/ 47 w 85"/>
                <a:gd name="T67" fmla="*/ 8 h 85"/>
                <a:gd name="T68" fmla="*/ 35 w 85"/>
                <a:gd name="T69" fmla="*/ 15 h 85"/>
                <a:gd name="T70" fmla="*/ 24 w 85"/>
                <a:gd name="T71" fmla="*/ 25 h 85"/>
                <a:gd name="T72" fmla="*/ 16 w 85"/>
                <a:gd name="T73" fmla="*/ 35 h 85"/>
                <a:gd name="T74" fmla="*/ 8 w 85"/>
                <a:gd name="T75" fmla="*/ 47 h 85"/>
                <a:gd name="T76" fmla="*/ 3 w 85"/>
                <a:gd name="T77" fmla="*/ 61 h 85"/>
                <a:gd name="T78" fmla="*/ 0 w 85"/>
                <a:gd name="T79" fmla="*/ 74 h 85"/>
                <a:gd name="T80" fmla="*/ 0 w 85"/>
                <a:gd name="T81" fmla="*/ 74 h 85"/>
                <a:gd name="T82" fmla="*/ 0 w 85"/>
                <a:gd name="T83" fmla="*/ 78 h 85"/>
                <a:gd name="T84" fmla="*/ 2 w 85"/>
                <a:gd name="T85" fmla="*/ 81 h 85"/>
                <a:gd name="T86" fmla="*/ 2 w 85"/>
                <a:gd name="T87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5" h="85">
                  <a:moveTo>
                    <a:pt x="2" y="81"/>
                  </a:moveTo>
                  <a:lnTo>
                    <a:pt x="2" y="81"/>
                  </a:lnTo>
                  <a:lnTo>
                    <a:pt x="4" y="84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8" y="85"/>
                  </a:lnTo>
                  <a:lnTo>
                    <a:pt x="8" y="85"/>
                  </a:lnTo>
                  <a:lnTo>
                    <a:pt x="11" y="84"/>
                  </a:lnTo>
                  <a:lnTo>
                    <a:pt x="14" y="82"/>
                  </a:lnTo>
                  <a:lnTo>
                    <a:pt x="16" y="80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9" y="66"/>
                  </a:lnTo>
                  <a:lnTo>
                    <a:pt x="24" y="56"/>
                  </a:lnTo>
                  <a:lnTo>
                    <a:pt x="30" y="46"/>
                  </a:lnTo>
                  <a:lnTo>
                    <a:pt x="37" y="37"/>
                  </a:lnTo>
                  <a:lnTo>
                    <a:pt x="46" y="30"/>
                  </a:lnTo>
                  <a:lnTo>
                    <a:pt x="55" y="23"/>
                  </a:lnTo>
                  <a:lnTo>
                    <a:pt x="66" y="19"/>
                  </a:lnTo>
                  <a:lnTo>
                    <a:pt x="77" y="17"/>
                  </a:lnTo>
                  <a:lnTo>
                    <a:pt x="77" y="17"/>
                  </a:lnTo>
                  <a:lnTo>
                    <a:pt x="81" y="15"/>
                  </a:lnTo>
                  <a:lnTo>
                    <a:pt x="82" y="14"/>
                  </a:lnTo>
                  <a:lnTo>
                    <a:pt x="82" y="14"/>
                  </a:lnTo>
                  <a:lnTo>
                    <a:pt x="84" y="10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4" y="4"/>
                  </a:lnTo>
                  <a:lnTo>
                    <a:pt x="81" y="2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1" y="3"/>
                  </a:lnTo>
                  <a:lnTo>
                    <a:pt x="47" y="8"/>
                  </a:lnTo>
                  <a:lnTo>
                    <a:pt x="35" y="15"/>
                  </a:lnTo>
                  <a:lnTo>
                    <a:pt x="24" y="25"/>
                  </a:lnTo>
                  <a:lnTo>
                    <a:pt x="16" y="35"/>
                  </a:lnTo>
                  <a:lnTo>
                    <a:pt x="8" y="47"/>
                  </a:lnTo>
                  <a:lnTo>
                    <a:pt x="3" y="61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2" y="81"/>
                  </a:lnTo>
                  <a:lnTo>
                    <a:pt x="2" y="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328">
              <a:extLst>
                <a:ext uri="{FF2B5EF4-FFF2-40B4-BE49-F238E27FC236}">
                  <a16:creationId xmlns:a16="http://schemas.microsoft.com/office/drawing/2014/main" id="{A1ED770A-724F-497F-9FB1-8EE584298A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23626" y="4299585"/>
              <a:ext cx="284163" cy="285750"/>
            </a:xfrm>
            <a:custGeom>
              <a:avLst/>
              <a:gdLst>
                <a:gd name="T0" fmla="*/ 270 w 359"/>
                <a:gd name="T1" fmla="*/ 234 h 359"/>
                <a:gd name="T2" fmla="*/ 265 w 359"/>
                <a:gd name="T3" fmla="*/ 232 h 359"/>
                <a:gd name="T4" fmla="*/ 261 w 359"/>
                <a:gd name="T5" fmla="*/ 233 h 359"/>
                <a:gd name="T6" fmla="*/ 237 w 359"/>
                <a:gd name="T7" fmla="*/ 221 h 359"/>
                <a:gd name="T8" fmla="*/ 250 w 359"/>
                <a:gd name="T9" fmla="*/ 201 h 359"/>
                <a:gd name="T10" fmla="*/ 264 w 359"/>
                <a:gd name="T11" fmla="*/ 168 h 359"/>
                <a:gd name="T12" fmla="*/ 268 w 359"/>
                <a:gd name="T13" fmla="*/ 135 h 359"/>
                <a:gd name="T14" fmla="*/ 265 w 359"/>
                <a:gd name="T15" fmla="*/ 108 h 359"/>
                <a:gd name="T16" fmla="*/ 252 w 359"/>
                <a:gd name="T17" fmla="*/ 70 h 359"/>
                <a:gd name="T18" fmla="*/ 229 w 359"/>
                <a:gd name="T19" fmla="*/ 39 h 359"/>
                <a:gd name="T20" fmla="*/ 198 w 359"/>
                <a:gd name="T21" fmla="*/ 16 h 359"/>
                <a:gd name="T22" fmla="*/ 161 w 359"/>
                <a:gd name="T23" fmla="*/ 3 h 359"/>
                <a:gd name="T24" fmla="*/ 135 w 359"/>
                <a:gd name="T25" fmla="*/ 0 h 359"/>
                <a:gd name="T26" fmla="*/ 94 w 359"/>
                <a:gd name="T27" fmla="*/ 6 h 359"/>
                <a:gd name="T28" fmla="*/ 59 w 359"/>
                <a:gd name="T29" fmla="*/ 23 h 359"/>
                <a:gd name="T30" fmla="*/ 31 w 359"/>
                <a:gd name="T31" fmla="*/ 49 h 359"/>
                <a:gd name="T32" fmla="*/ 11 w 359"/>
                <a:gd name="T33" fmla="*/ 82 h 359"/>
                <a:gd name="T34" fmla="*/ 2 w 359"/>
                <a:gd name="T35" fmla="*/ 120 h 359"/>
                <a:gd name="T36" fmla="*/ 2 w 359"/>
                <a:gd name="T37" fmla="*/ 148 h 359"/>
                <a:gd name="T38" fmla="*/ 11 w 359"/>
                <a:gd name="T39" fmla="*/ 186 h 359"/>
                <a:gd name="T40" fmla="*/ 31 w 359"/>
                <a:gd name="T41" fmla="*/ 219 h 359"/>
                <a:gd name="T42" fmla="*/ 59 w 359"/>
                <a:gd name="T43" fmla="*/ 245 h 359"/>
                <a:gd name="T44" fmla="*/ 94 w 359"/>
                <a:gd name="T45" fmla="*/ 262 h 359"/>
                <a:gd name="T46" fmla="*/ 135 w 359"/>
                <a:gd name="T47" fmla="*/ 268 h 359"/>
                <a:gd name="T48" fmla="*/ 157 w 359"/>
                <a:gd name="T49" fmla="*/ 266 h 359"/>
                <a:gd name="T50" fmla="*/ 191 w 359"/>
                <a:gd name="T51" fmla="*/ 256 h 359"/>
                <a:gd name="T52" fmla="*/ 221 w 359"/>
                <a:gd name="T53" fmla="*/ 237 h 359"/>
                <a:gd name="T54" fmla="*/ 234 w 359"/>
                <a:gd name="T55" fmla="*/ 258 h 359"/>
                <a:gd name="T56" fmla="*/ 231 w 359"/>
                <a:gd name="T57" fmla="*/ 265 h 359"/>
                <a:gd name="T58" fmla="*/ 320 w 359"/>
                <a:gd name="T59" fmla="*/ 357 h 359"/>
                <a:gd name="T60" fmla="*/ 327 w 359"/>
                <a:gd name="T61" fmla="*/ 359 h 359"/>
                <a:gd name="T62" fmla="*/ 327 w 359"/>
                <a:gd name="T63" fmla="*/ 359 h 359"/>
                <a:gd name="T64" fmla="*/ 356 w 359"/>
                <a:gd name="T65" fmla="*/ 332 h 359"/>
                <a:gd name="T66" fmla="*/ 359 w 359"/>
                <a:gd name="T67" fmla="*/ 327 h 359"/>
                <a:gd name="T68" fmla="*/ 356 w 359"/>
                <a:gd name="T69" fmla="*/ 320 h 359"/>
                <a:gd name="T70" fmla="*/ 135 w 359"/>
                <a:gd name="T71" fmla="*/ 18 h 359"/>
                <a:gd name="T72" fmla="*/ 168 w 359"/>
                <a:gd name="T73" fmla="*/ 23 h 359"/>
                <a:gd name="T74" fmla="*/ 199 w 359"/>
                <a:gd name="T75" fmla="*/ 38 h 359"/>
                <a:gd name="T76" fmla="*/ 225 w 359"/>
                <a:gd name="T77" fmla="*/ 59 h 359"/>
                <a:gd name="T78" fmla="*/ 242 w 359"/>
                <a:gd name="T79" fmla="*/ 89 h 359"/>
                <a:gd name="T80" fmla="*/ 250 w 359"/>
                <a:gd name="T81" fmla="*/ 123 h 359"/>
                <a:gd name="T82" fmla="*/ 250 w 359"/>
                <a:gd name="T83" fmla="*/ 146 h 359"/>
                <a:gd name="T84" fmla="*/ 242 w 359"/>
                <a:gd name="T85" fmla="*/ 179 h 359"/>
                <a:gd name="T86" fmla="*/ 225 w 359"/>
                <a:gd name="T87" fmla="*/ 209 h 359"/>
                <a:gd name="T88" fmla="*/ 199 w 359"/>
                <a:gd name="T89" fmla="*/ 230 h 359"/>
                <a:gd name="T90" fmla="*/ 168 w 359"/>
                <a:gd name="T91" fmla="*/ 245 h 359"/>
                <a:gd name="T92" fmla="*/ 135 w 359"/>
                <a:gd name="T93" fmla="*/ 250 h 359"/>
                <a:gd name="T94" fmla="*/ 110 w 359"/>
                <a:gd name="T95" fmla="*/ 249 h 359"/>
                <a:gd name="T96" fmla="*/ 78 w 359"/>
                <a:gd name="T97" fmla="*/ 237 h 359"/>
                <a:gd name="T98" fmla="*/ 51 w 359"/>
                <a:gd name="T99" fmla="*/ 217 h 359"/>
                <a:gd name="T100" fmla="*/ 31 w 359"/>
                <a:gd name="T101" fmla="*/ 190 h 359"/>
                <a:gd name="T102" fmla="*/ 20 w 359"/>
                <a:gd name="T103" fmla="*/ 158 h 359"/>
                <a:gd name="T104" fmla="*/ 18 w 359"/>
                <a:gd name="T105" fmla="*/ 135 h 359"/>
                <a:gd name="T106" fmla="*/ 23 w 359"/>
                <a:gd name="T107" fmla="*/ 100 h 359"/>
                <a:gd name="T108" fmla="*/ 38 w 359"/>
                <a:gd name="T109" fmla="*/ 69 h 359"/>
                <a:gd name="T110" fmla="*/ 61 w 359"/>
                <a:gd name="T111" fmla="*/ 45 h 359"/>
                <a:gd name="T112" fmla="*/ 89 w 359"/>
                <a:gd name="T113" fmla="*/ 27 h 359"/>
                <a:gd name="T114" fmla="*/ 122 w 359"/>
                <a:gd name="T115" fmla="*/ 1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59" h="359">
                  <a:moveTo>
                    <a:pt x="356" y="320"/>
                  </a:moveTo>
                  <a:lnTo>
                    <a:pt x="270" y="234"/>
                  </a:lnTo>
                  <a:lnTo>
                    <a:pt x="270" y="234"/>
                  </a:lnTo>
                  <a:lnTo>
                    <a:pt x="268" y="233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1" y="233"/>
                  </a:lnTo>
                  <a:lnTo>
                    <a:pt x="258" y="234"/>
                  </a:lnTo>
                  <a:lnTo>
                    <a:pt x="254" y="238"/>
                  </a:lnTo>
                  <a:lnTo>
                    <a:pt x="237" y="221"/>
                  </a:lnTo>
                  <a:lnTo>
                    <a:pt x="237" y="221"/>
                  </a:lnTo>
                  <a:lnTo>
                    <a:pt x="243" y="211"/>
                  </a:lnTo>
                  <a:lnTo>
                    <a:pt x="250" y="201"/>
                  </a:lnTo>
                  <a:lnTo>
                    <a:pt x="256" y="191"/>
                  </a:lnTo>
                  <a:lnTo>
                    <a:pt x="260" y="180"/>
                  </a:lnTo>
                  <a:lnTo>
                    <a:pt x="264" y="168"/>
                  </a:lnTo>
                  <a:lnTo>
                    <a:pt x="266" y="158"/>
                  </a:lnTo>
                  <a:lnTo>
                    <a:pt x="268" y="146"/>
                  </a:lnTo>
                  <a:lnTo>
                    <a:pt x="268" y="135"/>
                  </a:lnTo>
                  <a:lnTo>
                    <a:pt x="268" y="135"/>
                  </a:lnTo>
                  <a:lnTo>
                    <a:pt x="268" y="120"/>
                  </a:lnTo>
                  <a:lnTo>
                    <a:pt x="265" y="108"/>
                  </a:lnTo>
                  <a:lnTo>
                    <a:pt x="262" y="94"/>
                  </a:lnTo>
                  <a:lnTo>
                    <a:pt x="257" y="82"/>
                  </a:lnTo>
                  <a:lnTo>
                    <a:pt x="252" y="70"/>
                  </a:lnTo>
                  <a:lnTo>
                    <a:pt x="245" y="59"/>
                  </a:lnTo>
                  <a:lnTo>
                    <a:pt x="238" y="49"/>
                  </a:lnTo>
                  <a:lnTo>
                    <a:pt x="229" y="39"/>
                  </a:lnTo>
                  <a:lnTo>
                    <a:pt x="219" y="31"/>
                  </a:lnTo>
                  <a:lnTo>
                    <a:pt x="209" y="23"/>
                  </a:lnTo>
                  <a:lnTo>
                    <a:pt x="198" y="16"/>
                  </a:lnTo>
                  <a:lnTo>
                    <a:pt x="186" y="11"/>
                  </a:lnTo>
                  <a:lnTo>
                    <a:pt x="174" y="6"/>
                  </a:lnTo>
                  <a:lnTo>
                    <a:pt x="161" y="3"/>
                  </a:lnTo>
                  <a:lnTo>
                    <a:pt x="148" y="2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21" y="2"/>
                  </a:lnTo>
                  <a:lnTo>
                    <a:pt x="108" y="3"/>
                  </a:lnTo>
                  <a:lnTo>
                    <a:pt x="94" y="6"/>
                  </a:lnTo>
                  <a:lnTo>
                    <a:pt x="82" y="11"/>
                  </a:lnTo>
                  <a:lnTo>
                    <a:pt x="70" y="16"/>
                  </a:lnTo>
                  <a:lnTo>
                    <a:pt x="59" y="23"/>
                  </a:lnTo>
                  <a:lnTo>
                    <a:pt x="49" y="31"/>
                  </a:lnTo>
                  <a:lnTo>
                    <a:pt x="39" y="39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0"/>
                  </a:lnTo>
                  <a:lnTo>
                    <a:pt x="11" y="82"/>
                  </a:lnTo>
                  <a:lnTo>
                    <a:pt x="7" y="94"/>
                  </a:lnTo>
                  <a:lnTo>
                    <a:pt x="3" y="108"/>
                  </a:lnTo>
                  <a:lnTo>
                    <a:pt x="2" y="120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2" y="148"/>
                  </a:lnTo>
                  <a:lnTo>
                    <a:pt x="3" y="162"/>
                  </a:lnTo>
                  <a:lnTo>
                    <a:pt x="7" y="174"/>
                  </a:lnTo>
                  <a:lnTo>
                    <a:pt x="11" y="186"/>
                  </a:lnTo>
                  <a:lnTo>
                    <a:pt x="16" y="198"/>
                  </a:lnTo>
                  <a:lnTo>
                    <a:pt x="23" y="209"/>
                  </a:lnTo>
                  <a:lnTo>
                    <a:pt x="31" y="219"/>
                  </a:lnTo>
                  <a:lnTo>
                    <a:pt x="39" y="229"/>
                  </a:lnTo>
                  <a:lnTo>
                    <a:pt x="49" y="237"/>
                  </a:lnTo>
                  <a:lnTo>
                    <a:pt x="59" y="245"/>
                  </a:lnTo>
                  <a:lnTo>
                    <a:pt x="70" y="252"/>
                  </a:lnTo>
                  <a:lnTo>
                    <a:pt x="82" y="257"/>
                  </a:lnTo>
                  <a:lnTo>
                    <a:pt x="94" y="262"/>
                  </a:lnTo>
                  <a:lnTo>
                    <a:pt x="108" y="265"/>
                  </a:lnTo>
                  <a:lnTo>
                    <a:pt x="121" y="268"/>
                  </a:lnTo>
                  <a:lnTo>
                    <a:pt x="135" y="268"/>
                  </a:lnTo>
                  <a:lnTo>
                    <a:pt x="135" y="268"/>
                  </a:lnTo>
                  <a:lnTo>
                    <a:pt x="145" y="268"/>
                  </a:lnTo>
                  <a:lnTo>
                    <a:pt x="157" y="266"/>
                  </a:lnTo>
                  <a:lnTo>
                    <a:pt x="170" y="264"/>
                  </a:lnTo>
                  <a:lnTo>
                    <a:pt x="180" y="260"/>
                  </a:lnTo>
                  <a:lnTo>
                    <a:pt x="191" y="256"/>
                  </a:lnTo>
                  <a:lnTo>
                    <a:pt x="200" y="250"/>
                  </a:lnTo>
                  <a:lnTo>
                    <a:pt x="211" y="244"/>
                  </a:lnTo>
                  <a:lnTo>
                    <a:pt x="221" y="237"/>
                  </a:lnTo>
                  <a:lnTo>
                    <a:pt x="238" y="254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3" y="261"/>
                  </a:lnTo>
                  <a:lnTo>
                    <a:pt x="231" y="265"/>
                  </a:lnTo>
                  <a:lnTo>
                    <a:pt x="231" y="265"/>
                  </a:lnTo>
                  <a:lnTo>
                    <a:pt x="233" y="268"/>
                  </a:lnTo>
                  <a:lnTo>
                    <a:pt x="234" y="271"/>
                  </a:lnTo>
                  <a:lnTo>
                    <a:pt x="320" y="357"/>
                  </a:lnTo>
                  <a:lnTo>
                    <a:pt x="320" y="357"/>
                  </a:lnTo>
                  <a:lnTo>
                    <a:pt x="323" y="358"/>
                  </a:lnTo>
                  <a:lnTo>
                    <a:pt x="327" y="359"/>
                  </a:lnTo>
                  <a:lnTo>
                    <a:pt x="327" y="359"/>
                  </a:lnTo>
                  <a:lnTo>
                    <a:pt x="327" y="359"/>
                  </a:lnTo>
                  <a:lnTo>
                    <a:pt x="327" y="359"/>
                  </a:lnTo>
                  <a:lnTo>
                    <a:pt x="329" y="358"/>
                  </a:lnTo>
                  <a:lnTo>
                    <a:pt x="332" y="357"/>
                  </a:lnTo>
                  <a:lnTo>
                    <a:pt x="356" y="332"/>
                  </a:lnTo>
                  <a:lnTo>
                    <a:pt x="356" y="332"/>
                  </a:lnTo>
                  <a:lnTo>
                    <a:pt x="359" y="330"/>
                  </a:lnTo>
                  <a:lnTo>
                    <a:pt x="359" y="327"/>
                  </a:lnTo>
                  <a:lnTo>
                    <a:pt x="359" y="327"/>
                  </a:lnTo>
                  <a:lnTo>
                    <a:pt x="359" y="323"/>
                  </a:lnTo>
                  <a:lnTo>
                    <a:pt x="356" y="320"/>
                  </a:lnTo>
                  <a:lnTo>
                    <a:pt x="356" y="320"/>
                  </a:lnTo>
                  <a:close/>
                  <a:moveTo>
                    <a:pt x="135" y="18"/>
                  </a:moveTo>
                  <a:lnTo>
                    <a:pt x="135" y="18"/>
                  </a:lnTo>
                  <a:lnTo>
                    <a:pt x="147" y="18"/>
                  </a:lnTo>
                  <a:lnTo>
                    <a:pt x="157" y="21"/>
                  </a:lnTo>
                  <a:lnTo>
                    <a:pt x="168" y="23"/>
                  </a:lnTo>
                  <a:lnTo>
                    <a:pt x="179" y="27"/>
                  </a:lnTo>
                  <a:lnTo>
                    <a:pt x="190" y="31"/>
                  </a:lnTo>
                  <a:lnTo>
                    <a:pt x="199" y="38"/>
                  </a:lnTo>
                  <a:lnTo>
                    <a:pt x="209" y="45"/>
                  </a:lnTo>
                  <a:lnTo>
                    <a:pt x="217" y="51"/>
                  </a:lnTo>
                  <a:lnTo>
                    <a:pt x="225" y="59"/>
                  </a:lnTo>
                  <a:lnTo>
                    <a:pt x="231" y="69"/>
                  </a:lnTo>
                  <a:lnTo>
                    <a:pt x="237" y="78"/>
                  </a:lnTo>
                  <a:lnTo>
                    <a:pt x="242" y="89"/>
                  </a:lnTo>
                  <a:lnTo>
                    <a:pt x="246" y="100"/>
                  </a:lnTo>
                  <a:lnTo>
                    <a:pt x="249" y="111"/>
                  </a:lnTo>
                  <a:lnTo>
                    <a:pt x="250" y="123"/>
                  </a:lnTo>
                  <a:lnTo>
                    <a:pt x="250" y="135"/>
                  </a:lnTo>
                  <a:lnTo>
                    <a:pt x="250" y="135"/>
                  </a:lnTo>
                  <a:lnTo>
                    <a:pt x="250" y="146"/>
                  </a:lnTo>
                  <a:lnTo>
                    <a:pt x="249" y="158"/>
                  </a:lnTo>
                  <a:lnTo>
                    <a:pt x="246" y="168"/>
                  </a:lnTo>
                  <a:lnTo>
                    <a:pt x="242" y="179"/>
                  </a:lnTo>
                  <a:lnTo>
                    <a:pt x="237" y="190"/>
                  </a:lnTo>
                  <a:lnTo>
                    <a:pt x="231" y="199"/>
                  </a:lnTo>
                  <a:lnTo>
                    <a:pt x="225" y="209"/>
                  </a:lnTo>
                  <a:lnTo>
                    <a:pt x="217" y="217"/>
                  </a:lnTo>
                  <a:lnTo>
                    <a:pt x="209" y="223"/>
                  </a:lnTo>
                  <a:lnTo>
                    <a:pt x="199" y="230"/>
                  </a:lnTo>
                  <a:lnTo>
                    <a:pt x="190" y="237"/>
                  </a:lnTo>
                  <a:lnTo>
                    <a:pt x="179" y="242"/>
                  </a:lnTo>
                  <a:lnTo>
                    <a:pt x="168" y="245"/>
                  </a:lnTo>
                  <a:lnTo>
                    <a:pt x="157" y="249"/>
                  </a:lnTo>
                  <a:lnTo>
                    <a:pt x="147" y="250"/>
                  </a:lnTo>
                  <a:lnTo>
                    <a:pt x="135" y="250"/>
                  </a:lnTo>
                  <a:lnTo>
                    <a:pt x="135" y="250"/>
                  </a:lnTo>
                  <a:lnTo>
                    <a:pt x="122" y="250"/>
                  </a:lnTo>
                  <a:lnTo>
                    <a:pt x="110" y="249"/>
                  </a:lnTo>
                  <a:lnTo>
                    <a:pt x="100" y="245"/>
                  </a:lnTo>
                  <a:lnTo>
                    <a:pt x="89" y="242"/>
                  </a:lnTo>
                  <a:lnTo>
                    <a:pt x="78" y="237"/>
                  </a:lnTo>
                  <a:lnTo>
                    <a:pt x="69" y="230"/>
                  </a:lnTo>
                  <a:lnTo>
                    <a:pt x="61" y="223"/>
                  </a:lnTo>
                  <a:lnTo>
                    <a:pt x="51" y="217"/>
                  </a:lnTo>
                  <a:lnTo>
                    <a:pt x="45" y="209"/>
                  </a:lnTo>
                  <a:lnTo>
                    <a:pt x="38" y="199"/>
                  </a:lnTo>
                  <a:lnTo>
                    <a:pt x="31" y="190"/>
                  </a:lnTo>
                  <a:lnTo>
                    <a:pt x="27" y="179"/>
                  </a:lnTo>
                  <a:lnTo>
                    <a:pt x="23" y="168"/>
                  </a:lnTo>
                  <a:lnTo>
                    <a:pt x="20" y="158"/>
                  </a:lnTo>
                  <a:lnTo>
                    <a:pt x="18" y="146"/>
                  </a:lnTo>
                  <a:lnTo>
                    <a:pt x="18" y="135"/>
                  </a:lnTo>
                  <a:lnTo>
                    <a:pt x="18" y="135"/>
                  </a:lnTo>
                  <a:lnTo>
                    <a:pt x="18" y="123"/>
                  </a:lnTo>
                  <a:lnTo>
                    <a:pt x="20" y="111"/>
                  </a:lnTo>
                  <a:lnTo>
                    <a:pt x="23" y="100"/>
                  </a:lnTo>
                  <a:lnTo>
                    <a:pt x="27" y="89"/>
                  </a:lnTo>
                  <a:lnTo>
                    <a:pt x="31" y="78"/>
                  </a:lnTo>
                  <a:lnTo>
                    <a:pt x="38" y="69"/>
                  </a:lnTo>
                  <a:lnTo>
                    <a:pt x="45" y="59"/>
                  </a:lnTo>
                  <a:lnTo>
                    <a:pt x="51" y="51"/>
                  </a:lnTo>
                  <a:lnTo>
                    <a:pt x="61" y="45"/>
                  </a:lnTo>
                  <a:lnTo>
                    <a:pt x="69" y="38"/>
                  </a:lnTo>
                  <a:lnTo>
                    <a:pt x="78" y="31"/>
                  </a:lnTo>
                  <a:lnTo>
                    <a:pt x="89" y="27"/>
                  </a:lnTo>
                  <a:lnTo>
                    <a:pt x="100" y="23"/>
                  </a:lnTo>
                  <a:lnTo>
                    <a:pt x="110" y="21"/>
                  </a:lnTo>
                  <a:lnTo>
                    <a:pt x="122" y="18"/>
                  </a:lnTo>
                  <a:lnTo>
                    <a:pt x="135" y="18"/>
                  </a:lnTo>
                  <a:lnTo>
                    <a:pt x="135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77ED6D1-62A5-E57E-9593-D46D96DF720B}"/>
              </a:ext>
            </a:extLst>
          </p:cNvPr>
          <p:cNvSpPr/>
          <p:nvPr/>
        </p:nvSpPr>
        <p:spPr>
          <a:xfrm>
            <a:off x="549172" y="255507"/>
            <a:ext cx="2481583" cy="918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b="1" dirty="0">
                <a:solidFill>
                  <a:srgbClr val="002060"/>
                </a:solidFill>
              </a:rPr>
              <a:t>מבוסס על סיפור אמיתי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he-IL" sz="1400" dirty="0">
                <a:solidFill>
                  <a:srgbClr val="002060"/>
                </a:solidFill>
              </a:rPr>
              <a:t>(השמות והפרטים המזהים החולפו)</a:t>
            </a:r>
            <a:endParaRPr lang="en-IL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88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CCDC711-627C-F516-2CB4-03FD436CA5F4}"/>
              </a:ext>
            </a:extLst>
          </p:cNvPr>
          <p:cNvSpPr txBox="1"/>
          <p:nvPr/>
        </p:nvSpPr>
        <p:spPr>
          <a:xfrm>
            <a:off x="1362073" y="456416"/>
            <a:ext cx="9286870" cy="242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400" b="1" dirty="0">
                <a:solidFill>
                  <a:schemeClr val="accent1"/>
                </a:solidFill>
              </a:rPr>
              <a:t>פנינה לוי, אישה בת 71, רמת סיעוד 2 </a:t>
            </a:r>
            <a:r>
              <a:rPr lang="he-IL" sz="1600" b="1" dirty="0">
                <a:solidFill>
                  <a:prstClr val="black"/>
                </a:solidFill>
              </a:rPr>
              <a:t>(מייצגת 20% מהזקנים בישראל ברמות הנמוכות)</a:t>
            </a:r>
          </a:p>
          <a:p>
            <a:pPr algn="r" rtl="1"/>
            <a:endParaRPr lang="he-IL" b="1" dirty="0"/>
          </a:p>
          <a:p>
            <a:pPr algn="r" rtl="1"/>
            <a:r>
              <a:rPr lang="he-IL" sz="1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המלצות לסל מותאם לפנינה מצ'אט </a:t>
            </a:r>
            <a:r>
              <a:rPr lang="en-US" sz="1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GPT</a:t>
            </a:r>
            <a:r>
              <a:rPr lang="he-IL" sz="1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:</a:t>
            </a:r>
            <a:endParaRPr lang="he-IL" sz="1600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16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חיבור חברתי: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פעילויות חברתיות בקהילה, מפגשים עם חברים, קבוצות תמיכה, פעילויות פנאי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16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פיזיותרפיה: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טיפולים לחיזוק השרירים, שיפור שיווי המשקל והתנועתיות, והפחתת הסיכון לנפילות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16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טיפול רגשי: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סיוע להתמודדות עם קשיים רגשיים, בדידות, דיכאון, וחששות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he-IL" sz="16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הדרכה וייעוץ: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הדרכה לבני המשפחה בנוגע לטיפול נכון בפנינה, ייעוץ בנוגע לזכויותיה והטבות המגיעות לה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89D5D1B-948C-CF8C-4CFE-F86AA54017FB}"/>
              </a:ext>
            </a:extLst>
          </p:cNvPr>
          <p:cNvSpPr txBox="1"/>
          <p:nvPr/>
        </p:nvSpPr>
        <p:spPr>
          <a:xfrm>
            <a:off x="3056964" y="5214421"/>
            <a:ext cx="758357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דגשים חשובים:</a:t>
            </a:r>
            <a:endParaRPr lang="he-IL" dirty="0">
              <a:solidFill>
                <a:schemeClr val="accent1"/>
              </a:solidFill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he-IL" b="1" dirty="0"/>
              <a:t>סל השירותים המומלץ צריך להיות מותאם אישית </a:t>
            </a:r>
            <a:r>
              <a:rPr lang="he-IL" dirty="0"/>
              <a:t>לצרכיה הייחודיים של פנינה.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he-IL" b="1" dirty="0"/>
              <a:t>רצוי שפנינה תהיה מעורבת בתהליך קבלת ההחלטות </a:t>
            </a:r>
            <a:r>
              <a:rPr lang="he-IL" dirty="0"/>
              <a:t>בנוגע לסל השירותים שיוענק לה.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he-IL" dirty="0"/>
              <a:t>חשוב</a:t>
            </a:r>
            <a:r>
              <a:rPr lang="he-IL" b="1" dirty="0"/>
              <a:t> לתעד את התקדמותה של פנינה ולעדכן את סל השירותים </a:t>
            </a:r>
            <a:r>
              <a:rPr lang="he-IL" dirty="0"/>
              <a:t>בהתאם לצורך.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BBDCCE0-0CA5-FA69-CA6F-DE3A715936E5}"/>
              </a:ext>
            </a:extLst>
          </p:cNvPr>
          <p:cNvSpPr txBox="1"/>
          <p:nvPr/>
        </p:nvSpPr>
        <p:spPr>
          <a:xfrm>
            <a:off x="2621958" y="3047289"/>
            <a:ext cx="8018584" cy="190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1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מטרת סל השירותים:</a:t>
            </a:r>
            <a:endParaRPr lang="he-IL" sz="1600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לשפר את איכות חייה של פנינה ולעזור לה לשמור על עצמאותה.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להפחית את תחושת הבדידות והתלות בבן.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לחזק את בריאותה הנפשית והפיזית.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לאפשר לה ליהנות מחיים מלאים ומשמעותיים.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B5FB7129-FE9E-CD89-BD53-4490FEB7F7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290" y="2925967"/>
            <a:ext cx="2415365" cy="3314633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320C65D6-6AD9-8513-5DB0-F6B86BC19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0542" y="364082"/>
            <a:ext cx="2143444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8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2">
            <a:extLst>
              <a:ext uri="{FF2B5EF4-FFF2-40B4-BE49-F238E27FC236}">
                <a16:creationId xmlns:a16="http://schemas.microsoft.com/office/drawing/2014/main" id="{80D5ADAA-3FBC-4D74-9A48-A00B4388B9B9}"/>
              </a:ext>
            </a:extLst>
          </p:cNvPr>
          <p:cNvSpPr txBox="1"/>
          <p:nvPr/>
        </p:nvSpPr>
        <p:spPr>
          <a:xfrm>
            <a:off x="942136" y="1777529"/>
            <a:ext cx="7870105" cy="2499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ssistant" pitchFamily="2" charset="-79"/>
                <a:cs typeface="Assistant" pitchFamily="2" charset="-79"/>
              </a:rPr>
              <a:t>איך מתמודדים עם האתגרים </a:t>
            </a:r>
            <a:b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ssistant" pitchFamily="2" charset="-79"/>
                <a:cs typeface="Assistant" pitchFamily="2" charset="-79"/>
              </a:rPr>
              <a:t>על מנת שפנינה ומשפחתה </a:t>
            </a:r>
            <a:b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ssistant" pitchFamily="2" charset="-79"/>
                <a:cs typeface="Assistant" pitchFamily="2" charset="-79"/>
              </a:rPr>
              <a:t> יקבלו מענה על הצרכים היומיומיים שלהם?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CA5DA8-6857-4668-9C0E-F00E1C6AAE64}"/>
              </a:ext>
            </a:extLst>
          </p:cNvPr>
          <p:cNvGrpSpPr>
            <a:grpSpLocks noChangeAspect="1"/>
          </p:cNvGrpSpPr>
          <p:nvPr/>
        </p:nvGrpSpPr>
        <p:grpSpPr>
          <a:xfrm>
            <a:off x="9130273" y="2094211"/>
            <a:ext cx="1992997" cy="1992997"/>
            <a:chOff x="3192463" y="4175125"/>
            <a:chExt cx="522288" cy="522288"/>
          </a:xfrm>
          <a:solidFill>
            <a:schemeClr val="accent1"/>
          </a:solidFill>
        </p:grpSpPr>
        <p:sp>
          <p:nvSpPr>
            <p:cNvPr id="4" name="Freeform 56">
              <a:extLst>
                <a:ext uri="{FF2B5EF4-FFF2-40B4-BE49-F238E27FC236}">
                  <a16:creationId xmlns:a16="http://schemas.microsoft.com/office/drawing/2014/main" id="{C97CFE28-13B2-4490-B69C-66EE852704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2463" y="4175125"/>
              <a:ext cx="522288" cy="522288"/>
            </a:xfrm>
            <a:custGeom>
              <a:avLst/>
              <a:gdLst>
                <a:gd name="T0" fmla="*/ 312 w 659"/>
                <a:gd name="T1" fmla="*/ 657 h 657"/>
                <a:gd name="T2" fmla="*/ 264 w 659"/>
                <a:gd name="T3" fmla="*/ 650 h 657"/>
                <a:gd name="T4" fmla="*/ 202 w 659"/>
                <a:gd name="T5" fmla="*/ 632 h 657"/>
                <a:gd name="T6" fmla="*/ 120 w 659"/>
                <a:gd name="T7" fmla="*/ 582 h 657"/>
                <a:gd name="T8" fmla="*/ 57 w 659"/>
                <a:gd name="T9" fmla="*/ 512 h 657"/>
                <a:gd name="T10" fmla="*/ 15 w 659"/>
                <a:gd name="T11" fmla="*/ 426 h 657"/>
                <a:gd name="T12" fmla="*/ 4 w 659"/>
                <a:gd name="T13" fmla="*/ 379 h 657"/>
                <a:gd name="T14" fmla="*/ 0 w 659"/>
                <a:gd name="T15" fmla="*/ 328 h 657"/>
                <a:gd name="T16" fmla="*/ 2 w 659"/>
                <a:gd name="T17" fmla="*/ 294 h 657"/>
                <a:gd name="T18" fmla="*/ 11 w 659"/>
                <a:gd name="T19" fmla="*/ 246 h 657"/>
                <a:gd name="T20" fmla="*/ 41 w 659"/>
                <a:gd name="T21" fmla="*/ 172 h 657"/>
                <a:gd name="T22" fmla="*/ 97 w 659"/>
                <a:gd name="T23" fmla="*/ 96 h 657"/>
                <a:gd name="T24" fmla="*/ 172 w 659"/>
                <a:gd name="T25" fmla="*/ 39 h 657"/>
                <a:gd name="T26" fmla="*/ 248 w 659"/>
                <a:gd name="T27" fmla="*/ 10 h 657"/>
                <a:gd name="T28" fmla="*/ 296 w 659"/>
                <a:gd name="T29" fmla="*/ 2 h 657"/>
                <a:gd name="T30" fmla="*/ 330 w 659"/>
                <a:gd name="T31" fmla="*/ 0 h 657"/>
                <a:gd name="T32" fmla="*/ 379 w 659"/>
                <a:gd name="T33" fmla="*/ 3 h 657"/>
                <a:gd name="T34" fmla="*/ 428 w 659"/>
                <a:gd name="T35" fmla="*/ 15 h 657"/>
                <a:gd name="T36" fmla="*/ 514 w 659"/>
                <a:gd name="T37" fmla="*/ 57 h 657"/>
                <a:gd name="T38" fmla="*/ 583 w 659"/>
                <a:gd name="T39" fmla="*/ 120 h 657"/>
                <a:gd name="T40" fmla="*/ 632 w 659"/>
                <a:gd name="T41" fmla="*/ 200 h 657"/>
                <a:gd name="T42" fmla="*/ 652 w 659"/>
                <a:gd name="T43" fmla="*/ 262 h 657"/>
                <a:gd name="T44" fmla="*/ 657 w 659"/>
                <a:gd name="T45" fmla="*/ 312 h 657"/>
                <a:gd name="T46" fmla="*/ 657 w 659"/>
                <a:gd name="T47" fmla="*/ 346 h 657"/>
                <a:gd name="T48" fmla="*/ 652 w 659"/>
                <a:gd name="T49" fmla="*/ 395 h 657"/>
                <a:gd name="T50" fmla="*/ 632 w 659"/>
                <a:gd name="T51" fmla="*/ 457 h 657"/>
                <a:gd name="T52" fmla="*/ 583 w 659"/>
                <a:gd name="T53" fmla="*/ 538 h 657"/>
                <a:gd name="T54" fmla="*/ 514 w 659"/>
                <a:gd name="T55" fmla="*/ 601 h 657"/>
                <a:gd name="T56" fmla="*/ 428 w 659"/>
                <a:gd name="T57" fmla="*/ 642 h 657"/>
                <a:gd name="T58" fmla="*/ 379 w 659"/>
                <a:gd name="T59" fmla="*/ 653 h 657"/>
                <a:gd name="T60" fmla="*/ 330 w 659"/>
                <a:gd name="T61" fmla="*/ 657 h 657"/>
                <a:gd name="T62" fmla="*/ 330 w 659"/>
                <a:gd name="T63" fmla="*/ 38 h 657"/>
                <a:gd name="T64" fmla="*/ 244 w 659"/>
                <a:gd name="T65" fmla="*/ 50 h 657"/>
                <a:gd name="T66" fmla="*/ 167 w 659"/>
                <a:gd name="T67" fmla="*/ 88 h 657"/>
                <a:gd name="T68" fmla="*/ 105 w 659"/>
                <a:gd name="T69" fmla="*/ 144 h 657"/>
                <a:gd name="T70" fmla="*/ 61 w 659"/>
                <a:gd name="T71" fmla="*/ 215 h 657"/>
                <a:gd name="T72" fmla="*/ 39 w 659"/>
                <a:gd name="T73" fmla="*/ 298 h 657"/>
                <a:gd name="T74" fmla="*/ 39 w 659"/>
                <a:gd name="T75" fmla="*/ 359 h 657"/>
                <a:gd name="T76" fmla="*/ 61 w 659"/>
                <a:gd name="T77" fmla="*/ 442 h 657"/>
                <a:gd name="T78" fmla="*/ 105 w 659"/>
                <a:gd name="T79" fmla="*/ 513 h 657"/>
                <a:gd name="T80" fmla="*/ 167 w 659"/>
                <a:gd name="T81" fmla="*/ 570 h 657"/>
                <a:gd name="T82" fmla="*/ 244 w 659"/>
                <a:gd name="T83" fmla="*/ 606 h 657"/>
                <a:gd name="T84" fmla="*/ 330 w 659"/>
                <a:gd name="T85" fmla="*/ 620 h 657"/>
                <a:gd name="T86" fmla="*/ 389 w 659"/>
                <a:gd name="T87" fmla="*/ 614 h 657"/>
                <a:gd name="T88" fmla="*/ 468 w 659"/>
                <a:gd name="T89" fmla="*/ 585 h 657"/>
                <a:gd name="T90" fmla="*/ 535 w 659"/>
                <a:gd name="T91" fmla="*/ 535 h 657"/>
                <a:gd name="T92" fmla="*/ 585 w 659"/>
                <a:gd name="T93" fmla="*/ 468 h 657"/>
                <a:gd name="T94" fmla="*/ 614 w 659"/>
                <a:gd name="T95" fmla="*/ 387 h 657"/>
                <a:gd name="T96" fmla="*/ 621 w 659"/>
                <a:gd name="T97" fmla="*/ 328 h 657"/>
                <a:gd name="T98" fmla="*/ 608 w 659"/>
                <a:gd name="T99" fmla="*/ 242 h 657"/>
                <a:gd name="T100" fmla="*/ 571 w 659"/>
                <a:gd name="T101" fmla="*/ 166 h 657"/>
                <a:gd name="T102" fmla="*/ 515 w 659"/>
                <a:gd name="T103" fmla="*/ 104 h 657"/>
                <a:gd name="T104" fmla="*/ 442 w 659"/>
                <a:gd name="T105" fmla="*/ 61 h 657"/>
                <a:gd name="T106" fmla="*/ 359 w 659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7">
                  <a:moveTo>
                    <a:pt x="330" y="657"/>
                  </a:moveTo>
                  <a:lnTo>
                    <a:pt x="330" y="657"/>
                  </a:lnTo>
                  <a:lnTo>
                    <a:pt x="312" y="657"/>
                  </a:lnTo>
                  <a:lnTo>
                    <a:pt x="296" y="656"/>
                  </a:lnTo>
                  <a:lnTo>
                    <a:pt x="280" y="653"/>
                  </a:lnTo>
                  <a:lnTo>
                    <a:pt x="264" y="650"/>
                  </a:lnTo>
                  <a:lnTo>
                    <a:pt x="248" y="646"/>
                  </a:lnTo>
                  <a:lnTo>
                    <a:pt x="231" y="642"/>
                  </a:lnTo>
                  <a:lnTo>
                    <a:pt x="202" y="632"/>
                  </a:lnTo>
                  <a:lnTo>
                    <a:pt x="172" y="618"/>
                  </a:lnTo>
                  <a:lnTo>
                    <a:pt x="146" y="601"/>
                  </a:lnTo>
                  <a:lnTo>
                    <a:pt x="120" y="582"/>
                  </a:lnTo>
                  <a:lnTo>
                    <a:pt x="97" y="560"/>
                  </a:lnTo>
                  <a:lnTo>
                    <a:pt x="76" y="538"/>
                  </a:lnTo>
                  <a:lnTo>
                    <a:pt x="57" y="512"/>
                  </a:lnTo>
                  <a:lnTo>
                    <a:pt x="41" y="485"/>
                  </a:lnTo>
                  <a:lnTo>
                    <a:pt x="26" y="457"/>
                  </a:lnTo>
                  <a:lnTo>
                    <a:pt x="15" y="426"/>
                  </a:lnTo>
                  <a:lnTo>
                    <a:pt x="11" y="411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2" y="362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26" y="200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20"/>
                  </a:lnTo>
                  <a:lnTo>
                    <a:pt x="97" y="96"/>
                  </a:lnTo>
                  <a:lnTo>
                    <a:pt x="120" y="76"/>
                  </a:lnTo>
                  <a:lnTo>
                    <a:pt x="146" y="57"/>
                  </a:lnTo>
                  <a:lnTo>
                    <a:pt x="172" y="39"/>
                  </a:lnTo>
                  <a:lnTo>
                    <a:pt x="202" y="26"/>
                  </a:lnTo>
                  <a:lnTo>
                    <a:pt x="231" y="15"/>
                  </a:lnTo>
                  <a:lnTo>
                    <a:pt x="248" y="10"/>
                  </a:lnTo>
                  <a:lnTo>
                    <a:pt x="264" y="7"/>
                  </a:lnTo>
                  <a:lnTo>
                    <a:pt x="280" y="3"/>
                  </a:lnTo>
                  <a:lnTo>
                    <a:pt x="296" y="2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6" y="0"/>
                  </a:lnTo>
                  <a:lnTo>
                    <a:pt x="363" y="2"/>
                  </a:lnTo>
                  <a:lnTo>
                    <a:pt x="379" y="3"/>
                  </a:lnTo>
                  <a:lnTo>
                    <a:pt x="395" y="7"/>
                  </a:lnTo>
                  <a:lnTo>
                    <a:pt x="411" y="10"/>
                  </a:lnTo>
                  <a:lnTo>
                    <a:pt x="428" y="15"/>
                  </a:lnTo>
                  <a:lnTo>
                    <a:pt x="457" y="26"/>
                  </a:lnTo>
                  <a:lnTo>
                    <a:pt x="485" y="39"/>
                  </a:lnTo>
                  <a:lnTo>
                    <a:pt x="514" y="57"/>
                  </a:lnTo>
                  <a:lnTo>
                    <a:pt x="539" y="76"/>
                  </a:lnTo>
                  <a:lnTo>
                    <a:pt x="562" y="96"/>
                  </a:lnTo>
                  <a:lnTo>
                    <a:pt x="583" y="120"/>
                  </a:lnTo>
                  <a:lnTo>
                    <a:pt x="602" y="145"/>
                  </a:lnTo>
                  <a:lnTo>
                    <a:pt x="618" y="172"/>
                  </a:lnTo>
                  <a:lnTo>
                    <a:pt x="632" y="200"/>
                  </a:lnTo>
                  <a:lnTo>
                    <a:pt x="644" y="231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7" y="346"/>
                  </a:lnTo>
                  <a:lnTo>
                    <a:pt x="656" y="362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1"/>
                  </a:lnTo>
                  <a:lnTo>
                    <a:pt x="644" y="426"/>
                  </a:lnTo>
                  <a:lnTo>
                    <a:pt x="632" y="457"/>
                  </a:lnTo>
                  <a:lnTo>
                    <a:pt x="618" y="485"/>
                  </a:lnTo>
                  <a:lnTo>
                    <a:pt x="602" y="512"/>
                  </a:lnTo>
                  <a:lnTo>
                    <a:pt x="583" y="538"/>
                  </a:lnTo>
                  <a:lnTo>
                    <a:pt x="562" y="560"/>
                  </a:lnTo>
                  <a:lnTo>
                    <a:pt x="539" y="582"/>
                  </a:lnTo>
                  <a:lnTo>
                    <a:pt x="514" y="601"/>
                  </a:lnTo>
                  <a:lnTo>
                    <a:pt x="485" y="618"/>
                  </a:lnTo>
                  <a:lnTo>
                    <a:pt x="457" y="632"/>
                  </a:lnTo>
                  <a:lnTo>
                    <a:pt x="428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3" y="656"/>
                  </a:lnTo>
                  <a:lnTo>
                    <a:pt x="346" y="657"/>
                  </a:lnTo>
                  <a:lnTo>
                    <a:pt x="330" y="657"/>
                  </a:lnTo>
                  <a:lnTo>
                    <a:pt x="330" y="657"/>
                  </a:lnTo>
                  <a:close/>
                  <a:moveTo>
                    <a:pt x="330" y="38"/>
                  </a:moveTo>
                  <a:lnTo>
                    <a:pt x="330" y="38"/>
                  </a:lnTo>
                  <a:lnTo>
                    <a:pt x="300" y="39"/>
                  </a:lnTo>
                  <a:lnTo>
                    <a:pt x="270" y="43"/>
                  </a:lnTo>
                  <a:lnTo>
                    <a:pt x="244" y="50"/>
                  </a:lnTo>
                  <a:lnTo>
                    <a:pt x="217" y="61"/>
                  </a:lnTo>
                  <a:lnTo>
                    <a:pt x="191" y="73"/>
                  </a:lnTo>
                  <a:lnTo>
                    <a:pt x="167" y="88"/>
                  </a:lnTo>
                  <a:lnTo>
                    <a:pt x="144" y="104"/>
                  </a:lnTo>
                  <a:lnTo>
                    <a:pt x="124" y="123"/>
                  </a:lnTo>
                  <a:lnTo>
                    <a:pt x="105" y="144"/>
                  </a:lnTo>
                  <a:lnTo>
                    <a:pt x="88" y="166"/>
                  </a:lnTo>
                  <a:lnTo>
                    <a:pt x="73" y="190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9"/>
                  </a:lnTo>
                  <a:lnTo>
                    <a:pt x="45" y="387"/>
                  </a:lnTo>
                  <a:lnTo>
                    <a:pt x="51" y="415"/>
                  </a:lnTo>
                  <a:lnTo>
                    <a:pt x="61" y="442"/>
                  </a:lnTo>
                  <a:lnTo>
                    <a:pt x="73" y="468"/>
                  </a:lnTo>
                  <a:lnTo>
                    <a:pt x="88" y="492"/>
                  </a:lnTo>
                  <a:lnTo>
                    <a:pt x="105" y="513"/>
                  </a:lnTo>
                  <a:lnTo>
                    <a:pt x="124" y="535"/>
                  </a:lnTo>
                  <a:lnTo>
                    <a:pt x="144" y="554"/>
                  </a:lnTo>
                  <a:lnTo>
                    <a:pt x="167" y="570"/>
                  </a:lnTo>
                  <a:lnTo>
                    <a:pt x="191" y="585"/>
                  </a:lnTo>
                  <a:lnTo>
                    <a:pt x="217" y="597"/>
                  </a:lnTo>
                  <a:lnTo>
                    <a:pt x="244" y="606"/>
                  </a:lnTo>
                  <a:lnTo>
                    <a:pt x="270" y="614"/>
                  </a:lnTo>
                  <a:lnTo>
                    <a:pt x="300" y="618"/>
                  </a:lnTo>
                  <a:lnTo>
                    <a:pt x="330" y="620"/>
                  </a:lnTo>
                  <a:lnTo>
                    <a:pt x="330" y="620"/>
                  </a:lnTo>
                  <a:lnTo>
                    <a:pt x="359" y="618"/>
                  </a:lnTo>
                  <a:lnTo>
                    <a:pt x="389" y="614"/>
                  </a:lnTo>
                  <a:lnTo>
                    <a:pt x="415" y="606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5" y="554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1" y="492"/>
                  </a:lnTo>
                  <a:lnTo>
                    <a:pt x="585" y="468"/>
                  </a:lnTo>
                  <a:lnTo>
                    <a:pt x="598" y="442"/>
                  </a:lnTo>
                  <a:lnTo>
                    <a:pt x="608" y="415"/>
                  </a:lnTo>
                  <a:lnTo>
                    <a:pt x="614" y="387"/>
                  </a:lnTo>
                  <a:lnTo>
                    <a:pt x="620" y="359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8"/>
                  </a:lnTo>
                  <a:lnTo>
                    <a:pt x="614" y="270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5" y="190"/>
                  </a:lnTo>
                  <a:lnTo>
                    <a:pt x="571" y="166"/>
                  </a:lnTo>
                  <a:lnTo>
                    <a:pt x="554" y="144"/>
                  </a:lnTo>
                  <a:lnTo>
                    <a:pt x="535" y="123"/>
                  </a:lnTo>
                  <a:lnTo>
                    <a:pt x="515" y="104"/>
                  </a:lnTo>
                  <a:lnTo>
                    <a:pt x="492" y="88"/>
                  </a:lnTo>
                  <a:lnTo>
                    <a:pt x="468" y="73"/>
                  </a:lnTo>
                  <a:lnTo>
                    <a:pt x="442" y="61"/>
                  </a:lnTo>
                  <a:lnTo>
                    <a:pt x="415" y="50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30" y="38"/>
                  </a:lnTo>
                  <a:lnTo>
                    <a:pt x="33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5" name="Freeform 269">
              <a:extLst>
                <a:ext uri="{FF2B5EF4-FFF2-40B4-BE49-F238E27FC236}">
                  <a16:creationId xmlns:a16="http://schemas.microsoft.com/office/drawing/2014/main" id="{F7CFBDE5-1577-4ABB-A748-279829A39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4537075"/>
              <a:ext cx="85725" cy="39688"/>
            </a:xfrm>
            <a:custGeom>
              <a:avLst/>
              <a:gdLst>
                <a:gd name="T0" fmla="*/ 54 w 107"/>
                <a:gd name="T1" fmla="*/ 50 h 50"/>
                <a:gd name="T2" fmla="*/ 54 w 107"/>
                <a:gd name="T3" fmla="*/ 50 h 50"/>
                <a:gd name="T4" fmla="*/ 64 w 107"/>
                <a:gd name="T5" fmla="*/ 48 h 50"/>
                <a:gd name="T6" fmla="*/ 74 w 107"/>
                <a:gd name="T7" fmla="*/ 46 h 50"/>
                <a:gd name="T8" fmla="*/ 82 w 107"/>
                <a:gd name="T9" fmla="*/ 40 h 50"/>
                <a:gd name="T10" fmla="*/ 90 w 107"/>
                <a:gd name="T11" fmla="*/ 35 h 50"/>
                <a:gd name="T12" fmla="*/ 97 w 107"/>
                <a:gd name="T13" fmla="*/ 28 h 50"/>
                <a:gd name="T14" fmla="*/ 102 w 107"/>
                <a:gd name="T15" fmla="*/ 20 h 50"/>
                <a:gd name="T16" fmla="*/ 106 w 107"/>
                <a:gd name="T17" fmla="*/ 11 h 50"/>
                <a:gd name="T18" fmla="*/ 107 w 107"/>
                <a:gd name="T19" fmla="*/ 0 h 50"/>
                <a:gd name="T20" fmla="*/ 0 w 107"/>
                <a:gd name="T21" fmla="*/ 0 h 50"/>
                <a:gd name="T22" fmla="*/ 0 w 107"/>
                <a:gd name="T23" fmla="*/ 0 h 50"/>
                <a:gd name="T24" fmla="*/ 1 w 107"/>
                <a:gd name="T25" fmla="*/ 11 h 50"/>
                <a:gd name="T26" fmla="*/ 5 w 107"/>
                <a:gd name="T27" fmla="*/ 20 h 50"/>
                <a:gd name="T28" fmla="*/ 11 w 107"/>
                <a:gd name="T29" fmla="*/ 28 h 50"/>
                <a:gd name="T30" fmla="*/ 17 w 107"/>
                <a:gd name="T31" fmla="*/ 35 h 50"/>
                <a:gd name="T32" fmla="*/ 25 w 107"/>
                <a:gd name="T33" fmla="*/ 40 h 50"/>
                <a:gd name="T34" fmla="*/ 33 w 107"/>
                <a:gd name="T35" fmla="*/ 46 h 50"/>
                <a:gd name="T36" fmla="*/ 43 w 107"/>
                <a:gd name="T37" fmla="*/ 48 h 50"/>
                <a:gd name="T38" fmla="*/ 54 w 107"/>
                <a:gd name="T39" fmla="*/ 50 h 50"/>
                <a:gd name="T40" fmla="*/ 54 w 107"/>
                <a:gd name="T41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7" h="50">
                  <a:moveTo>
                    <a:pt x="54" y="50"/>
                  </a:moveTo>
                  <a:lnTo>
                    <a:pt x="54" y="50"/>
                  </a:lnTo>
                  <a:lnTo>
                    <a:pt x="64" y="48"/>
                  </a:lnTo>
                  <a:lnTo>
                    <a:pt x="74" y="46"/>
                  </a:lnTo>
                  <a:lnTo>
                    <a:pt x="82" y="40"/>
                  </a:lnTo>
                  <a:lnTo>
                    <a:pt x="90" y="35"/>
                  </a:lnTo>
                  <a:lnTo>
                    <a:pt x="97" y="28"/>
                  </a:lnTo>
                  <a:lnTo>
                    <a:pt x="102" y="20"/>
                  </a:lnTo>
                  <a:lnTo>
                    <a:pt x="106" y="11"/>
                  </a:lnTo>
                  <a:lnTo>
                    <a:pt x="10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1"/>
                  </a:lnTo>
                  <a:lnTo>
                    <a:pt x="5" y="20"/>
                  </a:lnTo>
                  <a:lnTo>
                    <a:pt x="11" y="28"/>
                  </a:lnTo>
                  <a:lnTo>
                    <a:pt x="17" y="35"/>
                  </a:lnTo>
                  <a:lnTo>
                    <a:pt x="25" y="40"/>
                  </a:lnTo>
                  <a:lnTo>
                    <a:pt x="33" y="46"/>
                  </a:lnTo>
                  <a:lnTo>
                    <a:pt x="43" y="48"/>
                  </a:lnTo>
                  <a:lnTo>
                    <a:pt x="54" y="50"/>
                  </a:lnTo>
                  <a:lnTo>
                    <a:pt x="54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6" name="Freeform 270">
              <a:extLst>
                <a:ext uri="{FF2B5EF4-FFF2-40B4-BE49-F238E27FC236}">
                  <a16:creationId xmlns:a16="http://schemas.microsoft.com/office/drawing/2014/main" id="{475816FB-FDAD-4E44-86C9-FAFA9341D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151" y="4314825"/>
              <a:ext cx="190500" cy="209550"/>
            </a:xfrm>
            <a:custGeom>
              <a:avLst/>
              <a:gdLst>
                <a:gd name="T0" fmla="*/ 106 w 239"/>
                <a:gd name="T1" fmla="*/ 0 h 265"/>
                <a:gd name="T2" fmla="*/ 86 w 239"/>
                <a:gd name="T3" fmla="*/ 4 h 265"/>
                <a:gd name="T4" fmla="*/ 52 w 239"/>
                <a:gd name="T5" fmla="*/ 20 h 265"/>
                <a:gd name="T6" fmla="*/ 24 w 239"/>
                <a:gd name="T7" fmla="*/ 47 h 265"/>
                <a:gd name="T8" fmla="*/ 7 w 239"/>
                <a:gd name="T9" fmla="*/ 81 h 265"/>
                <a:gd name="T10" fmla="*/ 1 w 239"/>
                <a:gd name="T11" fmla="*/ 100 h 265"/>
                <a:gd name="T12" fmla="*/ 0 w 239"/>
                <a:gd name="T13" fmla="*/ 110 h 265"/>
                <a:gd name="T14" fmla="*/ 1 w 239"/>
                <a:gd name="T15" fmla="*/ 139 h 265"/>
                <a:gd name="T16" fmla="*/ 13 w 239"/>
                <a:gd name="T17" fmla="*/ 175 h 265"/>
                <a:gd name="T18" fmla="*/ 36 w 239"/>
                <a:gd name="T19" fmla="*/ 203 h 265"/>
                <a:gd name="T20" fmla="*/ 66 w 239"/>
                <a:gd name="T21" fmla="*/ 225 h 265"/>
                <a:gd name="T22" fmla="*/ 114 w 239"/>
                <a:gd name="T23" fmla="*/ 265 h 265"/>
                <a:gd name="T24" fmla="*/ 114 w 239"/>
                <a:gd name="T25" fmla="*/ 151 h 265"/>
                <a:gd name="T26" fmla="*/ 90 w 239"/>
                <a:gd name="T27" fmla="*/ 145 h 265"/>
                <a:gd name="T28" fmla="*/ 71 w 239"/>
                <a:gd name="T29" fmla="*/ 131 h 265"/>
                <a:gd name="T30" fmla="*/ 59 w 239"/>
                <a:gd name="T31" fmla="*/ 110 h 265"/>
                <a:gd name="T32" fmla="*/ 55 w 239"/>
                <a:gd name="T33" fmla="*/ 86 h 265"/>
                <a:gd name="T34" fmla="*/ 55 w 239"/>
                <a:gd name="T35" fmla="*/ 75 h 265"/>
                <a:gd name="T36" fmla="*/ 74 w 239"/>
                <a:gd name="T37" fmla="*/ 78 h 265"/>
                <a:gd name="T38" fmla="*/ 90 w 239"/>
                <a:gd name="T39" fmla="*/ 86 h 265"/>
                <a:gd name="T40" fmla="*/ 105 w 239"/>
                <a:gd name="T41" fmla="*/ 98 h 265"/>
                <a:gd name="T42" fmla="*/ 114 w 239"/>
                <a:gd name="T43" fmla="*/ 114 h 265"/>
                <a:gd name="T44" fmla="*/ 114 w 239"/>
                <a:gd name="T45" fmla="*/ 54 h 265"/>
                <a:gd name="T46" fmla="*/ 115 w 239"/>
                <a:gd name="T47" fmla="*/ 50 h 265"/>
                <a:gd name="T48" fmla="*/ 120 w 239"/>
                <a:gd name="T49" fmla="*/ 49 h 265"/>
                <a:gd name="T50" fmla="*/ 121 w 239"/>
                <a:gd name="T51" fmla="*/ 49 h 265"/>
                <a:gd name="T52" fmla="*/ 125 w 239"/>
                <a:gd name="T53" fmla="*/ 51 h 265"/>
                <a:gd name="T54" fmla="*/ 125 w 239"/>
                <a:gd name="T55" fmla="*/ 157 h 265"/>
                <a:gd name="T56" fmla="*/ 129 w 239"/>
                <a:gd name="T57" fmla="*/ 149 h 265"/>
                <a:gd name="T58" fmla="*/ 141 w 239"/>
                <a:gd name="T59" fmla="*/ 136 h 265"/>
                <a:gd name="T60" fmla="*/ 157 w 239"/>
                <a:gd name="T61" fmla="*/ 125 h 265"/>
                <a:gd name="T62" fmla="*/ 175 w 239"/>
                <a:gd name="T63" fmla="*/ 120 h 265"/>
                <a:gd name="T64" fmla="*/ 184 w 239"/>
                <a:gd name="T65" fmla="*/ 129 h 265"/>
                <a:gd name="T66" fmla="*/ 183 w 239"/>
                <a:gd name="T67" fmla="*/ 143 h 265"/>
                <a:gd name="T68" fmla="*/ 175 w 239"/>
                <a:gd name="T69" fmla="*/ 164 h 265"/>
                <a:gd name="T70" fmla="*/ 158 w 239"/>
                <a:gd name="T71" fmla="*/ 182 h 265"/>
                <a:gd name="T72" fmla="*/ 137 w 239"/>
                <a:gd name="T73" fmla="*/ 192 h 265"/>
                <a:gd name="T74" fmla="*/ 125 w 239"/>
                <a:gd name="T75" fmla="*/ 265 h 265"/>
                <a:gd name="T76" fmla="*/ 173 w 239"/>
                <a:gd name="T77" fmla="*/ 225 h 265"/>
                <a:gd name="T78" fmla="*/ 188 w 239"/>
                <a:gd name="T79" fmla="*/ 217 h 265"/>
                <a:gd name="T80" fmla="*/ 211 w 239"/>
                <a:gd name="T81" fmla="*/ 195 h 265"/>
                <a:gd name="T82" fmla="*/ 228 w 239"/>
                <a:gd name="T83" fmla="*/ 168 h 265"/>
                <a:gd name="T84" fmla="*/ 238 w 239"/>
                <a:gd name="T85" fmla="*/ 136 h 265"/>
                <a:gd name="T86" fmla="*/ 239 w 239"/>
                <a:gd name="T87" fmla="*/ 118 h 265"/>
                <a:gd name="T88" fmla="*/ 236 w 239"/>
                <a:gd name="T89" fmla="*/ 93 h 265"/>
                <a:gd name="T90" fmla="*/ 228 w 239"/>
                <a:gd name="T91" fmla="*/ 70 h 265"/>
                <a:gd name="T92" fmla="*/ 215 w 239"/>
                <a:gd name="T93" fmla="*/ 49 h 265"/>
                <a:gd name="T94" fmla="*/ 199 w 239"/>
                <a:gd name="T95" fmla="*/ 30 h 265"/>
                <a:gd name="T96" fmla="*/ 180 w 239"/>
                <a:gd name="T97" fmla="*/ 16 h 265"/>
                <a:gd name="T98" fmla="*/ 157 w 239"/>
                <a:gd name="T99" fmla="*/ 6 h 265"/>
                <a:gd name="T100" fmla="*/ 132 w 239"/>
                <a:gd name="T101" fmla="*/ 0 h 265"/>
                <a:gd name="T102" fmla="*/ 106 w 239"/>
                <a:gd name="T10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9" h="265">
                  <a:moveTo>
                    <a:pt x="106" y="0"/>
                  </a:moveTo>
                  <a:lnTo>
                    <a:pt x="106" y="0"/>
                  </a:lnTo>
                  <a:lnTo>
                    <a:pt x="95" y="2"/>
                  </a:lnTo>
                  <a:lnTo>
                    <a:pt x="86" y="4"/>
                  </a:lnTo>
                  <a:lnTo>
                    <a:pt x="68" y="11"/>
                  </a:lnTo>
                  <a:lnTo>
                    <a:pt x="52" y="20"/>
                  </a:lnTo>
                  <a:lnTo>
                    <a:pt x="38" y="32"/>
                  </a:lnTo>
                  <a:lnTo>
                    <a:pt x="24" y="47"/>
                  </a:lnTo>
                  <a:lnTo>
                    <a:pt x="13" y="63"/>
                  </a:lnTo>
                  <a:lnTo>
                    <a:pt x="7" y="81"/>
                  </a:lnTo>
                  <a:lnTo>
                    <a:pt x="4" y="90"/>
                  </a:lnTo>
                  <a:lnTo>
                    <a:pt x="1" y="100"/>
                  </a:lnTo>
                  <a:lnTo>
                    <a:pt x="1" y="100"/>
                  </a:lnTo>
                  <a:lnTo>
                    <a:pt x="0" y="110"/>
                  </a:lnTo>
                  <a:lnTo>
                    <a:pt x="0" y="120"/>
                  </a:lnTo>
                  <a:lnTo>
                    <a:pt x="1" y="139"/>
                  </a:lnTo>
                  <a:lnTo>
                    <a:pt x="7" y="157"/>
                  </a:lnTo>
                  <a:lnTo>
                    <a:pt x="13" y="175"/>
                  </a:lnTo>
                  <a:lnTo>
                    <a:pt x="24" y="190"/>
                  </a:lnTo>
                  <a:lnTo>
                    <a:pt x="36" y="203"/>
                  </a:lnTo>
                  <a:lnTo>
                    <a:pt x="50" y="215"/>
                  </a:lnTo>
                  <a:lnTo>
                    <a:pt x="66" y="225"/>
                  </a:lnTo>
                  <a:lnTo>
                    <a:pt x="66" y="265"/>
                  </a:lnTo>
                  <a:lnTo>
                    <a:pt x="114" y="265"/>
                  </a:lnTo>
                  <a:lnTo>
                    <a:pt x="114" y="151"/>
                  </a:lnTo>
                  <a:lnTo>
                    <a:pt x="114" y="151"/>
                  </a:lnTo>
                  <a:lnTo>
                    <a:pt x="102" y="149"/>
                  </a:lnTo>
                  <a:lnTo>
                    <a:pt x="90" y="145"/>
                  </a:lnTo>
                  <a:lnTo>
                    <a:pt x="81" y="139"/>
                  </a:lnTo>
                  <a:lnTo>
                    <a:pt x="71" y="131"/>
                  </a:lnTo>
                  <a:lnTo>
                    <a:pt x="64" y="121"/>
                  </a:lnTo>
                  <a:lnTo>
                    <a:pt x="59" y="110"/>
                  </a:lnTo>
                  <a:lnTo>
                    <a:pt x="55" y="98"/>
                  </a:lnTo>
                  <a:lnTo>
                    <a:pt x="55" y="86"/>
                  </a:lnTo>
                  <a:lnTo>
                    <a:pt x="55" y="75"/>
                  </a:lnTo>
                  <a:lnTo>
                    <a:pt x="55" y="75"/>
                  </a:lnTo>
                  <a:lnTo>
                    <a:pt x="64" y="77"/>
                  </a:lnTo>
                  <a:lnTo>
                    <a:pt x="74" y="78"/>
                  </a:lnTo>
                  <a:lnTo>
                    <a:pt x="82" y="82"/>
                  </a:lnTo>
                  <a:lnTo>
                    <a:pt x="90" y="86"/>
                  </a:lnTo>
                  <a:lnTo>
                    <a:pt x="98" y="92"/>
                  </a:lnTo>
                  <a:lnTo>
                    <a:pt x="105" y="98"/>
                  </a:lnTo>
                  <a:lnTo>
                    <a:pt x="110" y="106"/>
                  </a:lnTo>
                  <a:lnTo>
                    <a:pt x="114" y="114"/>
                  </a:lnTo>
                  <a:lnTo>
                    <a:pt x="114" y="54"/>
                  </a:lnTo>
                  <a:lnTo>
                    <a:pt x="114" y="54"/>
                  </a:lnTo>
                  <a:lnTo>
                    <a:pt x="114" y="51"/>
                  </a:lnTo>
                  <a:lnTo>
                    <a:pt x="115" y="50"/>
                  </a:lnTo>
                  <a:lnTo>
                    <a:pt x="117" y="49"/>
                  </a:lnTo>
                  <a:lnTo>
                    <a:pt x="120" y="49"/>
                  </a:lnTo>
                  <a:lnTo>
                    <a:pt x="120" y="49"/>
                  </a:lnTo>
                  <a:lnTo>
                    <a:pt x="121" y="49"/>
                  </a:lnTo>
                  <a:lnTo>
                    <a:pt x="124" y="50"/>
                  </a:lnTo>
                  <a:lnTo>
                    <a:pt x="125" y="51"/>
                  </a:lnTo>
                  <a:lnTo>
                    <a:pt x="125" y="54"/>
                  </a:lnTo>
                  <a:lnTo>
                    <a:pt x="125" y="157"/>
                  </a:lnTo>
                  <a:lnTo>
                    <a:pt x="125" y="157"/>
                  </a:lnTo>
                  <a:lnTo>
                    <a:pt x="129" y="149"/>
                  </a:lnTo>
                  <a:lnTo>
                    <a:pt x="134" y="143"/>
                  </a:lnTo>
                  <a:lnTo>
                    <a:pt x="141" y="136"/>
                  </a:lnTo>
                  <a:lnTo>
                    <a:pt x="148" y="129"/>
                  </a:lnTo>
                  <a:lnTo>
                    <a:pt x="157" y="125"/>
                  </a:lnTo>
                  <a:lnTo>
                    <a:pt x="165" y="121"/>
                  </a:lnTo>
                  <a:lnTo>
                    <a:pt x="175" y="120"/>
                  </a:lnTo>
                  <a:lnTo>
                    <a:pt x="184" y="118"/>
                  </a:lnTo>
                  <a:lnTo>
                    <a:pt x="184" y="129"/>
                  </a:lnTo>
                  <a:lnTo>
                    <a:pt x="184" y="129"/>
                  </a:lnTo>
                  <a:lnTo>
                    <a:pt x="183" y="143"/>
                  </a:lnTo>
                  <a:lnTo>
                    <a:pt x="180" y="153"/>
                  </a:lnTo>
                  <a:lnTo>
                    <a:pt x="175" y="164"/>
                  </a:lnTo>
                  <a:lnTo>
                    <a:pt x="167" y="174"/>
                  </a:lnTo>
                  <a:lnTo>
                    <a:pt x="158" y="182"/>
                  </a:lnTo>
                  <a:lnTo>
                    <a:pt x="148" y="188"/>
                  </a:lnTo>
                  <a:lnTo>
                    <a:pt x="137" y="192"/>
                  </a:lnTo>
                  <a:lnTo>
                    <a:pt x="125" y="195"/>
                  </a:lnTo>
                  <a:lnTo>
                    <a:pt x="125" y="265"/>
                  </a:lnTo>
                  <a:lnTo>
                    <a:pt x="173" y="265"/>
                  </a:lnTo>
                  <a:lnTo>
                    <a:pt x="173" y="225"/>
                  </a:lnTo>
                  <a:lnTo>
                    <a:pt x="173" y="225"/>
                  </a:lnTo>
                  <a:lnTo>
                    <a:pt x="188" y="217"/>
                  </a:lnTo>
                  <a:lnTo>
                    <a:pt x="200" y="207"/>
                  </a:lnTo>
                  <a:lnTo>
                    <a:pt x="211" y="195"/>
                  </a:lnTo>
                  <a:lnTo>
                    <a:pt x="220" y="182"/>
                  </a:lnTo>
                  <a:lnTo>
                    <a:pt x="228" y="168"/>
                  </a:lnTo>
                  <a:lnTo>
                    <a:pt x="234" y="152"/>
                  </a:lnTo>
                  <a:lnTo>
                    <a:pt x="238" y="136"/>
                  </a:lnTo>
                  <a:lnTo>
                    <a:pt x="239" y="118"/>
                  </a:lnTo>
                  <a:lnTo>
                    <a:pt x="239" y="118"/>
                  </a:lnTo>
                  <a:lnTo>
                    <a:pt x="238" y="106"/>
                  </a:lnTo>
                  <a:lnTo>
                    <a:pt x="236" y="93"/>
                  </a:lnTo>
                  <a:lnTo>
                    <a:pt x="232" y="81"/>
                  </a:lnTo>
                  <a:lnTo>
                    <a:pt x="228" y="70"/>
                  </a:lnTo>
                  <a:lnTo>
                    <a:pt x="222" y="59"/>
                  </a:lnTo>
                  <a:lnTo>
                    <a:pt x="215" y="49"/>
                  </a:lnTo>
                  <a:lnTo>
                    <a:pt x="208" y="39"/>
                  </a:lnTo>
                  <a:lnTo>
                    <a:pt x="199" y="30"/>
                  </a:lnTo>
                  <a:lnTo>
                    <a:pt x="189" y="23"/>
                  </a:lnTo>
                  <a:lnTo>
                    <a:pt x="180" y="16"/>
                  </a:lnTo>
                  <a:lnTo>
                    <a:pt x="168" y="10"/>
                  </a:lnTo>
                  <a:lnTo>
                    <a:pt x="157" y="6"/>
                  </a:lnTo>
                  <a:lnTo>
                    <a:pt x="145" y="3"/>
                  </a:lnTo>
                  <a:lnTo>
                    <a:pt x="132" y="0"/>
                  </a:lnTo>
                  <a:lnTo>
                    <a:pt x="120" y="0"/>
                  </a:lnTo>
                  <a:lnTo>
                    <a:pt x="106" y="0"/>
                  </a:lnTo>
                  <a:lnTo>
                    <a:pt x="1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ssistant" pitchFamily="2" charset="-79"/>
                <a:cs typeface="Assistant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348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5BDC36F2-0B8D-4241-A254-A3A765B32305}"/>
              </a:ext>
            </a:extLst>
          </p:cNvPr>
          <p:cNvSpPr/>
          <p:nvPr/>
        </p:nvSpPr>
        <p:spPr>
          <a:xfrm>
            <a:off x="6089251" y="5221561"/>
            <a:ext cx="2412901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שיתוף נתונים</a:t>
            </a: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03B928-EE33-401E-AA7B-E630A0D0EAD6}"/>
              </a:ext>
            </a:extLst>
          </p:cNvPr>
          <p:cNvSpPr/>
          <p:nvPr/>
        </p:nvSpPr>
        <p:spPr>
          <a:xfrm>
            <a:off x="3689847" y="5647606"/>
            <a:ext cx="4812305" cy="87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פריצת החומות ושיתוף נתונים </a:t>
            </a:r>
            <a:r>
              <a:rPr kumimoji="0" lang="he-IL" sz="162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באקוסיסטם</a:t>
            </a: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כבסיס לגיבוש תמונת מצב </a:t>
            </a:r>
            <a:r>
              <a:rPr kumimoji="0" lang="he-IL" sz="162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מדוייקת</a:t>
            </a: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, שיפור השירותים והתאמתם לאזרח 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ED60C49-9490-40D5-AFD6-41B0164250D1}"/>
              </a:ext>
            </a:extLst>
          </p:cNvPr>
          <p:cNvSpPr/>
          <p:nvPr/>
        </p:nvSpPr>
        <p:spPr>
          <a:xfrm>
            <a:off x="8610631" y="2613575"/>
            <a:ext cx="2412901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שת"פ</a:t>
            </a: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בין-משרדי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FD7B525-E798-4FA9-AE46-582875A36993}"/>
              </a:ext>
            </a:extLst>
          </p:cNvPr>
          <p:cNvSpPr/>
          <p:nvPr/>
        </p:nvSpPr>
        <p:spPr>
          <a:xfrm>
            <a:off x="5029054" y="2593065"/>
            <a:ext cx="2412901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ביזור סמכויות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0732936-C6AD-43F2-ABB3-B76CD8C8862E}"/>
              </a:ext>
            </a:extLst>
          </p:cNvPr>
          <p:cNvSpPr/>
          <p:nvPr/>
        </p:nvSpPr>
        <p:spPr>
          <a:xfrm>
            <a:off x="1161404" y="2593065"/>
            <a:ext cx="2413000" cy="3026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6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האדם במרכז</a:t>
            </a:r>
            <a:endParaRPr kumimoji="0" lang="en-US" sz="1906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B1FB7BD-8D2A-4BF1-A8C8-B4DE96749BB3}"/>
              </a:ext>
            </a:extLst>
          </p:cNvPr>
          <p:cNvSpPr/>
          <p:nvPr/>
        </p:nvSpPr>
        <p:spPr>
          <a:xfrm>
            <a:off x="3460977" y="494245"/>
            <a:ext cx="6580735" cy="131683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47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שינוי המצב מושתת</a:t>
            </a:r>
            <a:r>
              <a:rPr kumimoji="0" lang="en-US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br>
              <a:rPr kumimoji="0" lang="en-US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</a:br>
            <a:r>
              <a:rPr kumimoji="0" lang="he-IL" sz="3812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על קידום ארבע </a:t>
            </a:r>
            <a:r>
              <a:rPr lang="he-IL" sz="3812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תפיסות מרכזיות</a:t>
            </a:r>
            <a:endParaRPr kumimoji="0" lang="en-US" sz="3812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B1A339-EE6E-437F-8041-0816F89A83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84675" y="494245"/>
            <a:ext cx="1677714" cy="1452162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40CF4436-037A-E56B-836F-2EB08F88209B}"/>
              </a:ext>
            </a:extLst>
          </p:cNvPr>
          <p:cNvSpPr/>
          <p:nvPr/>
        </p:nvSpPr>
        <p:spPr>
          <a:xfrm>
            <a:off x="7677955" y="3981469"/>
            <a:ext cx="2412901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8E24A4-26D8-445C-AF8C-FF4C2AD06359}"/>
              </a:ext>
            </a:extLst>
          </p:cNvPr>
          <p:cNvCxnSpPr/>
          <p:nvPr/>
        </p:nvCxnSpPr>
        <p:spPr>
          <a:xfrm>
            <a:off x="487680" y="4968240"/>
            <a:ext cx="11216640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2B808CA6-E0DF-401A-B2E6-D75088051C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918"/>
          <a:stretch/>
        </p:blipFill>
        <p:spPr>
          <a:xfrm>
            <a:off x="7466806" y="2568927"/>
            <a:ext cx="594671" cy="59527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188306B5-7E8F-4C19-8FD9-2945E69044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918"/>
          <a:stretch/>
        </p:blipFill>
        <p:spPr>
          <a:xfrm>
            <a:off x="3573339" y="2568927"/>
            <a:ext cx="594671" cy="595278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69A1E6F-18DB-49F4-96E0-3DF00158EDA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3884"/>
          <a:stretch/>
        </p:blipFill>
        <p:spPr>
          <a:xfrm rot="20683477">
            <a:off x="8544901" y="5082213"/>
            <a:ext cx="847178" cy="8953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906659-C38B-4A25-930E-F2728E79F09E}"/>
              </a:ext>
            </a:extLst>
          </p:cNvPr>
          <p:cNvSpPr txBox="1"/>
          <p:nvPr/>
        </p:nvSpPr>
        <p:spPr>
          <a:xfrm>
            <a:off x="9892977" y="5011288"/>
            <a:ext cx="14673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he-IL" sz="1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תשתית מאפשרת</a:t>
            </a:r>
            <a:endParaRPr lang="en-IL" sz="1400" dirty="0"/>
          </a:p>
        </p:txBody>
      </p:sp>
      <p:pic>
        <p:nvPicPr>
          <p:cNvPr id="4" name="Graphic 27">
            <a:extLst>
              <a:ext uri="{FF2B5EF4-FFF2-40B4-BE49-F238E27FC236}">
                <a16:creationId xmlns:a16="http://schemas.microsoft.com/office/drawing/2014/main" id="{D87D0DE3-BED5-FC26-BD2C-33725A04B4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22815"/>
          <a:stretch/>
        </p:blipFill>
        <p:spPr>
          <a:xfrm>
            <a:off x="11021436" y="2533506"/>
            <a:ext cx="677673" cy="653833"/>
          </a:xfrm>
          <a:prstGeom prst="rect">
            <a:avLst/>
          </a:prstGeom>
        </p:spPr>
      </p:pic>
      <p:sp>
        <p:nvSpPr>
          <p:cNvPr id="7" name="Text 8">
            <a:extLst>
              <a:ext uri="{FF2B5EF4-FFF2-40B4-BE49-F238E27FC236}">
                <a16:creationId xmlns:a16="http://schemas.microsoft.com/office/drawing/2014/main" id="{AD8791E5-3B62-6015-2B57-6BEA2A4AD8D4}"/>
              </a:ext>
            </a:extLst>
          </p:cNvPr>
          <p:cNvSpPr/>
          <p:nvPr/>
        </p:nvSpPr>
        <p:spPr>
          <a:xfrm>
            <a:off x="4371310" y="2981594"/>
            <a:ext cx="3095211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מתן </a:t>
            </a:r>
            <a:r>
              <a:rPr kumimoji="0" lang="he-IL" sz="16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סמכויות לרשויות המקומיות 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ל</a:t>
            </a:r>
            <a:r>
              <a:rPr kumimoji="0" lang="he-IL" sz="16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ניהול ותכנון השירותים לאזרח, מתוך הבנה שהרשות קרובה לאזרח 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ויכולה לתת לו מענה טוב ומותאם יותר.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06EB73B-FBB5-58AA-4045-F9DCB9EE7020}"/>
              </a:ext>
            </a:extLst>
          </p:cNvPr>
          <p:cNvSpPr/>
          <p:nvPr/>
        </p:nvSpPr>
        <p:spPr>
          <a:xfrm>
            <a:off x="8214081" y="2984766"/>
            <a:ext cx="2807355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620" b="1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פורום עבודה משותף רב משרדי ומערכתי לגיבוש </a:t>
            </a:r>
            <a:r>
              <a:rPr kumimoji="0" lang="he-IL" sz="16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מדיניות </a:t>
            </a:r>
            <a:r>
              <a:rPr kumimoji="0" lang="he-IL" sz="162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ושולחן עבודה  משותף </a:t>
            </a:r>
            <a:r>
              <a:rPr kumimoji="0" lang="he-IL" sz="162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להובל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ת שינוי </a:t>
            </a:r>
            <a:r>
              <a:rPr kumimoji="0" lang="he-IL" sz="162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ומענה לאתגרי ההזדקנות בישראל</a:t>
            </a:r>
            <a:endParaRPr kumimoji="0" lang="en-US" sz="162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700567B-609B-3C12-395E-2D1772823B59}"/>
              </a:ext>
            </a:extLst>
          </p:cNvPr>
          <p:cNvSpPr/>
          <p:nvPr/>
        </p:nvSpPr>
        <p:spPr>
          <a:xfrm>
            <a:off x="597025" y="2981594"/>
            <a:ext cx="3028944" cy="1316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lnSpc>
                <a:spcPts val="2592"/>
              </a:lnSpc>
              <a:defRPr/>
            </a:pPr>
            <a:r>
              <a:rPr lang="he-IL" sz="1620" dirty="0">
                <a:solidFill>
                  <a:prstClr val="black"/>
                </a:solidFill>
                <a:latin typeface="Assistant" pitchFamily="2" charset="-79"/>
                <a:cs typeface="Assistant" pitchFamily="2" charset="-79"/>
              </a:rPr>
              <a:t>תפיסה הוליסטית מבוססת דאטה לטובת </a:t>
            </a:r>
            <a:r>
              <a:rPr lang="he-IL" sz="1620" b="1" dirty="0">
                <a:solidFill>
                  <a:prstClr val="black"/>
                </a:solidFill>
                <a:latin typeface="Assistant" pitchFamily="2" charset="-79"/>
                <a:cs typeface="Assistant" pitchFamily="2" charset="-79"/>
              </a:rPr>
              <a:t>התאמת המערכת והשירותים לצרכי האדם </a:t>
            </a:r>
            <a:r>
              <a:rPr lang="he-IL" sz="1620" dirty="0">
                <a:solidFill>
                  <a:prstClr val="black"/>
                </a:solidFill>
                <a:latin typeface="Assistant" pitchFamily="2" charset="-79"/>
                <a:cs typeface="Assistant" pitchFamily="2" charset="-79"/>
              </a:rPr>
              <a:t>(ולא להפך)</a:t>
            </a:r>
          </a:p>
          <a:p>
            <a:pPr algn="r" rtl="1">
              <a:lnSpc>
                <a:spcPts val="2592"/>
              </a:lnSpc>
              <a:defRPr/>
            </a:pPr>
            <a:endParaRPr lang="he-IL" sz="1620" dirty="0">
              <a:solidFill>
                <a:prstClr val="black"/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592"/>
              </a:lnSpc>
              <a:defRPr/>
            </a:pPr>
            <a:endParaRPr lang="he-IL" sz="1620" dirty="0">
              <a:solidFill>
                <a:prstClr val="black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66899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B0FACA9-7294-4F1E-A723-0387F7BB10D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628" y="3240094"/>
            <a:ext cx="1374445" cy="913458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AEF775A-F413-474B-9FE6-ABE38C29734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7552" y="3108266"/>
            <a:ext cx="1914840" cy="1094194"/>
          </a:xfrm>
          <a:prstGeom prst="rect">
            <a:avLst/>
          </a:prstGeom>
        </p:spPr>
      </p:pic>
      <p:pic>
        <p:nvPicPr>
          <p:cNvPr id="11" name="תמונה 3">
            <a:extLst>
              <a:ext uri="{FF2B5EF4-FFF2-40B4-BE49-F238E27FC236}">
                <a16:creationId xmlns:a16="http://schemas.microsoft.com/office/drawing/2014/main" id="{114F2E32-5496-4E36-98C7-23C212F6BC7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21639" y="3360641"/>
            <a:ext cx="2032199" cy="5894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9EFEE9-7B0D-4A36-91D6-3DD67559A324}"/>
              </a:ext>
            </a:extLst>
          </p:cNvPr>
          <p:cNvSpPr txBox="1"/>
          <p:nvPr/>
        </p:nvSpPr>
        <p:spPr>
          <a:xfrm>
            <a:off x="3396066" y="290558"/>
            <a:ext cx="7817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3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שותפויות הן הבסיס להובלת שינוי אסטרטגי מול אתגר ההזדקנות</a:t>
            </a:r>
            <a:endParaRPr lang="en-IL" sz="36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052" name="Picture 4" descr="מערך הדיגיטל הלאומי">
            <a:extLst>
              <a:ext uri="{FF2B5EF4-FFF2-40B4-BE49-F238E27FC236}">
                <a16:creationId xmlns:a16="http://schemas.microsoft.com/office/drawing/2014/main" id="{F069467E-5128-4869-B81D-CA77048CC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14832" y="3296936"/>
            <a:ext cx="2064358" cy="71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1671A4-CB2A-4DAD-9463-F105ED4CF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36106" y="3146118"/>
            <a:ext cx="1945012" cy="101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E91C96-5C4E-4B40-8922-28DEDC56A1C8}"/>
              </a:ext>
            </a:extLst>
          </p:cNvPr>
          <p:cNvSpPr txBox="1"/>
          <p:nvPr/>
        </p:nvSpPr>
        <p:spPr>
          <a:xfrm>
            <a:off x="5691912" y="2581518"/>
            <a:ext cx="1612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u="sng" dirty="0">
                <a:latin typeface="Assistant" pitchFamily="2" charset="-79"/>
                <a:cs typeface="Assistant" pitchFamily="2" charset="-79"/>
              </a:rPr>
              <a:t>שותפים מרכזיים:</a:t>
            </a:r>
            <a:endParaRPr lang="en-IL" u="sng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FB56E4-ACAE-4B6D-93FD-C95C79AE7EAE}"/>
              </a:ext>
            </a:extLst>
          </p:cNvPr>
          <p:cNvSpPr txBox="1"/>
          <p:nvPr/>
        </p:nvSpPr>
        <p:spPr>
          <a:xfrm>
            <a:off x="5836012" y="4686174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IL"/>
            </a:defPPr>
            <a:lvl1pPr algn="r" rtl="1">
              <a:defRPr b="1">
                <a:solidFill>
                  <a:schemeClr val="bg2">
                    <a:lumMod val="25000"/>
                  </a:schemeClr>
                </a:solidFill>
                <a:latin typeface="Assistant SemiBold" pitchFamily="2" charset="-79"/>
                <a:cs typeface="Assistant SemiBold" pitchFamily="2" charset="-79"/>
              </a:defRPr>
            </a:lvl1pPr>
          </a:lstStyle>
          <a:p>
            <a:r>
              <a:rPr lang="he-IL" b="0" u="sng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שותפים נוספים:</a:t>
            </a:r>
            <a:endParaRPr lang="en-IL" b="0" u="sng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0825C-FD70-4ED2-8411-A27CADFD470E}"/>
              </a:ext>
            </a:extLst>
          </p:cNvPr>
          <p:cNvSpPr/>
          <p:nvPr/>
        </p:nvSpPr>
        <p:spPr>
          <a:xfrm>
            <a:off x="4553834" y="1704133"/>
            <a:ext cx="7143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he-IL" dirty="0">
                <a:latin typeface="Assistant" pitchFamily="2" charset="-79"/>
                <a:cs typeface="Assistant" pitchFamily="2" charset="-79"/>
              </a:rPr>
              <a:t>משרד הרווחה פועל ב-256 רשויות ומגוון רחב של גופים ממשלתיים, ציבורים ופרטיים  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5BE4F7-833B-4387-B0AB-1864D1DA8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78821" y="5524545"/>
            <a:ext cx="1770927" cy="44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8846640-F7FF-4BB6-A125-C005390A0118}"/>
              </a:ext>
            </a:extLst>
          </p:cNvPr>
          <p:cNvGrpSpPr/>
          <p:nvPr/>
        </p:nvGrpSpPr>
        <p:grpSpPr>
          <a:xfrm>
            <a:off x="2662221" y="5516115"/>
            <a:ext cx="2744372" cy="608052"/>
            <a:chOff x="1873001" y="5596585"/>
            <a:chExt cx="3718757" cy="977114"/>
          </a:xfrm>
        </p:grpSpPr>
        <p:pic>
          <p:nvPicPr>
            <p:cNvPr id="5" name="Picture 4" descr="משרד ראש הממשלה – ויקיפדיה">
              <a:extLst>
                <a:ext uri="{FF2B5EF4-FFF2-40B4-BE49-F238E27FC236}">
                  <a16:creationId xmlns:a16="http://schemas.microsoft.com/office/drawing/2014/main" id="{29EBFED1-6AE1-45A9-BFAD-601A6BD2E7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873001" y="5596585"/>
              <a:ext cx="2181225" cy="953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משרד ראש הממשלה – ויקיפדיה">
              <a:extLst>
                <a:ext uri="{FF2B5EF4-FFF2-40B4-BE49-F238E27FC236}">
                  <a16:creationId xmlns:a16="http://schemas.microsoft.com/office/drawing/2014/main" id="{24AE4AE7-E624-4007-8172-95EA5B2B42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650861" y="5619735"/>
              <a:ext cx="1940897" cy="953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6" name="Picture 8" descr="מיתוג, אינטרנט, מולטימדיה, אינטראקטיב. רשויות, מוסדות עמותות">
            <a:extLst>
              <a:ext uri="{FF2B5EF4-FFF2-40B4-BE49-F238E27FC236}">
                <a16:creationId xmlns:a16="http://schemas.microsoft.com/office/drawing/2014/main" id="{0E23D347-F700-4989-B685-E3AE1265B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900" y="4874844"/>
            <a:ext cx="2286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27">
            <a:extLst>
              <a:ext uri="{FF2B5EF4-FFF2-40B4-BE49-F238E27FC236}">
                <a16:creationId xmlns:a16="http://schemas.microsoft.com/office/drawing/2014/main" id="{09C14A81-4EBA-7BEC-A065-8CBAAAE8B4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22815"/>
          <a:stretch/>
        </p:blipFill>
        <p:spPr>
          <a:xfrm>
            <a:off x="11275424" y="437186"/>
            <a:ext cx="807531" cy="77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5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3E00941-94AB-A24F-B7ED-5C3731404897}"/>
              </a:ext>
            </a:extLst>
          </p:cNvPr>
          <p:cNvSpPr txBox="1"/>
          <p:nvPr/>
        </p:nvSpPr>
        <p:spPr>
          <a:xfrm>
            <a:off x="4619625" y="1326566"/>
            <a:ext cx="5885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הפורום כתשתית אסטרטגית לעבודה בין משרדית להיערכות המדינה להזדקנות מיטבית של האוכלוסייה</a:t>
            </a:r>
            <a:endParaRPr lang="en-US" b="1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E0A9E3-5301-5C45-9BD1-965498D82BBA}"/>
              </a:ext>
            </a:extLst>
          </p:cNvPr>
          <p:cNvSpPr txBox="1"/>
          <p:nvPr/>
        </p:nvSpPr>
        <p:spPr>
          <a:xfrm>
            <a:off x="1824046" y="3306545"/>
            <a:ext cx="5356472" cy="225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he-IL" sz="25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צוות </a:t>
            </a:r>
            <a:r>
              <a:rPr lang="he-IL" sz="2500" dirty="0" err="1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דיגיטל</a:t>
            </a:r>
            <a:r>
              <a:rPr lang="he-IL" sz="25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-דאטה</a:t>
            </a:r>
          </a:p>
          <a:p>
            <a:pPr algn="r" rtl="1">
              <a:lnSpc>
                <a:spcPts val="2400"/>
              </a:lnSpc>
            </a:pPr>
            <a:endParaRPr lang="he-IL" sz="25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400"/>
              </a:lnSpc>
            </a:pPr>
            <a:r>
              <a:rPr lang="he-IL" sz="25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צוות מניעת הדרדרות</a:t>
            </a:r>
          </a:p>
          <a:p>
            <a:pPr algn="r" rtl="1">
              <a:lnSpc>
                <a:spcPts val="2400"/>
              </a:lnSpc>
            </a:pPr>
            <a:endParaRPr lang="he-IL" sz="25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400"/>
              </a:lnSpc>
            </a:pPr>
            <a:r>
              <a:rPr lang="he-IL" sz="25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צוות רשויות מקומיות</a:t>
            </a:r>
          </a:p>
          <a:p>
            <a:pPr algn="r" rtl="1">
              <a:lnSpc>
                <a:spcPts val="2400"/>
              </a:lnSpc>
            </a:pPr>
            <a:endParaRPr lang="he-IL" sz="2500" dirty="0">
              <a:solidFill>
                <a:srgbClr val="3E6BB4"/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400"/>
              </a:lnSpc>
            </a:pPr>
            <a:r>
              <a:rPr lang="he-IL" sz="2500" dirty="0">
                <a:solidFill>
                  <a:srgbClr val="3E6BB4"/>
                </a:solidFill>
                <a:latin typeface="Assistant" pitchFamily="2" charset="-79"/>
                <a:cs typeface="Assistant" pitchFamily="2" charset="-79"/>
              </a:rPr>
              <a:t>צוות מערכי דיור</a:t>
            </a:r>
          </a:p>
        </p:txBody>
      </p:sp>
      <p:pic>
        <p:nvPicPr>
          <p:cNvPr id="55" name="תמונה 54">
            <a:extLst>
              <a:ext uri="{FF2B5EF4-FFF2-40B4-BE49-F238E27FC236}">
                <a16:creationId xmlns:a16="http://schemas.microsoft.com/office/drawing/2014/main" id="{570A6F3E-86E7-B40B-3C10-53CD70C9B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918"/>
            <a:ext cx="12186960" cy="615749"/>
          </a:xfrm>
          <a:prstGeom prst="rect">
            <a:avLst/>
          </a:prstGeom>
          <a:gradFill>
            <a:gsLst>
              <a:gs pos="0">
                <a:schemeClr val="bg1"/>
              </a:gs>
              <a:gs pos="76000">
                <a:schemeClr val="tx2">
                  <a:lumMod val="10000"/>
                  <a:lumOff val="90000"/>
                </a:schemeClr>
              </a:gs>
              <a:gs pos="100000">
                <a:schemeClr val="bg2">
                  <a:lumMod val="63000"/>
                  <a:lumOff val="37000"/>
                </a:schemeClr>
              </a:gs>
            </a:gsLst>
            <a:lin ang="0" scaled="1"/>
          </a:gradFill>
        </p:spPr>
      </p:pic>
      <p:pic>
        <p:nvPicPr>
          <p:cNvPr id="58" name="Picture 39">
            <a:extLst>
              <a:ext uri="{FF2B5EF4-FFF2-40B4-BE49-F238E27FC236}">
                <a16:creationId xmlns:a16="http://schemas.microsoft.com/office/drawing/2014/main" id="{F7B97F31-4D15-1972-5B78-F55666AD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208" y="3234381"/>
            <a:ext cx="473768" cy="473768"/>
          </a:xfrm>
          <a:prstGeom prst="rect">
            <a:avLst/>
          </a:prstGeom>
        </p:spPr>
      </p:pic>
      <p:pic>
        <p:nvPicPr>
          <p:cNvPr id="59" name="Picture 41">
            <a:extLst>
              <a:ext uri="{FF2B5EF4-FFF2-40B4-BE49-F238E27FC236}">
                <a16:creationId xmlns:a16="http://schemas.microsoft.com/office/drawing/2014/main" id="{7BA6AAF1-104D-E700-FFD1-B502F0516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737" y="3774063"/>
            <a:ext cx="557595" cy="557595"/>
          </a:xfrm>
          <a:prstGeom prst="rect">
            <a:avLst/>
          </a:prstGeom>
        </p:spPr>
      </p:pic>
      <p:pic>
        <p:nvPicPr>
          <p:cNvPr id="60" name="Picture 43">
            <a:extLst>
              <a:ext uri="{FF2B5EF4-FFF2-40B4-BE49-F238E27FC236}">
                <a16:creationId xmlns:a16="http://schemas.microsoft.com/office/drawing/2014/main" id="{D5027350-A7A5-FDA4-2632-FE67D9F9D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518" y="5041736"/>
            <a:ext cx="515682" cy="515682"/>
          </a:xfrm>
          <a:prstGeom prst="rect">
            <a:avLst/>
          </a:prstGeom>
        </p:spPr>
      </p:pic>
      <p:pic>
        <p:nvPicPr>
          <p:cNvPr id="61" name="Picture 45">
            <a:extLst>
              <a:ext uri="{FF2B5EF4-FFF2-40B4-BE49-F238E27FC236}">
                <a16:creationId xmlns:a16="http://schemas.microsoft.com/office/drawing/2014/main" id="{52B54C28-FC7F-1055-FE36-E29C99F36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9862" y="4432209"/>
            <a:ext cx="515681" cy="515681"/>
          </a:xfrm>
          <a:prstGeom prst="rect">
            <a:avLst/>
          </a:prstGeom>
        </p:spPr>
      </p:pic>
      <p:pic>
        <p:nvPicPr>
          <p:cNvPr id="3" name="Graphic 27">
            <a:extLst>
              <a:ext uri="{FF2B5EF4-FFF2-40B4-BE49-F238E27FC236}">
                <a16:creationId xmlns:a16="http://schemas.microsoft.com/office/drawing/2014/main" id="{82F5A673-3219-A74E-65C2-4B5D4AAB9F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b="22815"/>
          <a:stretch/>
        </p:blipFill>
        <p:spPr>
          <a:xfrm>
            <a:off x="11356826" y="81067"/>
            <a:ext cx="638200" cy="615749"/>
          </a:xfrm>
          <a:prstGeom prst="rect">
            <a:avLst/>
          </a:prstGeom>
        </p:spPr>
      </p:pic>
      <p:pic>
        <p:nvPicPr>
          <p:cNvPr id="3074" name="Picture 3">
            <a:extLst>
              <a:ext uri="{FF2B5EF4-FFF2-40B4-BE49-F238E27FC236}">
                <a16:creationId xmlns:a16="http://schemas.microsoft.com/office/drawing/2014/main" id="{72D9999B-30DB-EB6A-91CF-B411AB4CC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127" y="557734"/>
            <a:ext cx="2985146" cy="70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3B0F439B-3659-7675-A53D-BF81740E381E}"/>
              </a:ext>
            </a:extLst>
          </p:cNvPr>
          <p:cNvSpPr txBox="1"/>
          <p:nvPr/>
        </p:nvSpPr>
        <p:spPr>
          <a:xfrm>
            <a:off x="2257425" y="2681188"/>
            <a:ext cx="5854795" cy="382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160"/>
              </a:lnSpc>
            </a:pPr>
            <a:r>
              <a:rPr lang="he-IL" sz="2400" b="1" dirty="0">
                <a:solidFill>
                  <a:schemeClr val="accent1"/>
                </a:solidFill>
                <a:latin typeface="Rubik" pitchFamily="2" charset="-79"/>
                <a:cs typeface="Rubik" pitchFamily="2" charset="-79"/>
              </a:rPr>
              <a:t>צוות פעולה רב מערכתיים מול אתגרי הליבה:</a:t>
            </a:r>
            <a:endParaRPr 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326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5953760" y="536492"/>
            <a:ext cx="4760899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צוות דאטה-</a:t>
            </a:r>
            <a:r>
              <a:rPr lang="he-IL" sz="4400" b="1" dirty="0" err="1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דיגיטל</a:t>
            </a:r>
            <a:r>
              <a:rPr lang="he-IL" sz="4400" b="1" dirty="0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4400" dirty="0">
                <a:solidFill>
                  <a:srgbClr val="5AA6C5"/>
                </a:solidFill>
                <a:latin typeface="Assistant" pitchFamily="2" charset="-79"/>
                <a:cs typeface="Assistant" pitchFamily="2" charset="-79"/>
              </a:rPr>
              <a:t>מטרות</a:t>
            </a:r>
          </a:p>
          <a:p>
            <a:pPr marL="0" algn="r" defTabSz="914400" rtl="1" eaLnBrk="1" latinLnBrk="0" hangingPunct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06FD5C-CF2D-ED47-B9AD-42526CE84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4659" y="455211"/>
            <a:ext cx="898221" cy="898221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5AE45C3A-0708-BFB2-0FE4-8E206E7B84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1D502-30EE-421C-AF29-7339F62DDF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894" b="12439"/>
          <a:stretch/>
        </p:blipFill>
        <p:spPr>
          <a:xfrm>
            <a:off x="311689" y="1763305"/>
            <a:ext cx="5111617" cy="2650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A91093-3DC6-9336-A055-39588EE46FA0}"/>
              </a:ext>
            </a:extLst>
          </p:cNvPr>
          <p:cNvSpPr txBox="1"/>
          <p:nvPr/>
        </p:nvSpPr>
        <p:spPr>
          <a:xfrm>
            <a:off x="5423306" y="1707759"/>
            <a:ext cx="6096000" cy="344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1800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ליזום ולהוביל </a:t>
            </a:r>
            <a:r>
              <a:rPr lang="he-IL" sz="1800" b="1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פרויקטים משותפים </a:t>
            </a:r>
            <a:r>
              <a:rPr lang="he-IL" sz="1800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ופורצי דרך בעולמות הדאטה </a:t>
            </a:r>
            <a:r>
              <a:rPr lang="he-IL" sz="1800" dirty="0" err="1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והדיגיטל</a:t>
            </a:r>
            <a:r>
              <a:rPr lang="he-IL" sz="1800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 שתכליתם קידום הזדקנות מיטבית באמצעות:</a:t>
            </a:r>
          </a:p>
          <a:p>
            <a:pPr marL="285750" indent="-285750" algn="r" rtl="1">
              <a:lnSpc>
                <a:spcPts val="3780"/>
              </a:lnSpc>
              <a:buFont typeface="Courier New" panose="02070309020205020404" pitchFamily="49" charset="0"/>
              <a:buChar char="o"/>
            </a:pPr>
            <a:r>
              <a:rPr lang="he-IL" sz="1800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יצירת </a:t>
            </a:r>
            <a:r>
              <a:rPr lang="he-IL" sz="1800" b="1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כלים ותשתיות </a:t>
            </a:r>
            <a:r>
              <a:rPr lang="he-IL" sz="1800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משותפות</a:t>
            </a:r>
          </a:p>
          <a:p>
            <a:pPr marL="285750" indent="-285750" algn="r" rtl="1">
              <a:lnSpc>
                <a:spcPts val="3780"/>
              </a:lnSpc>
              <a:buFont typeface="Courier New" panose="02070309020205020404" pitchFamily="49" charset="0"/>
              <a:buChar char="o"/>
            </a:pPr>
            <a:r>
              <a:rPr lang="he-IL" sz="1800" b="1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שיפור שירותים </a:t>
            </a:r>
            <a:r>
              <a:rPr lang="he-IL" sz="1800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לאזרח הוותיק</a:t>
            </a:r>
          </a:p>
          <a:p>
            <a:pPr algn="r" rtl="1">
              <a:lnSpc>
                <a:spcPts val="3780"/>
              </a:lnSpc>
            </a:pPr>
            <a:endParaRPr lang="he-IL" dirty="0">
              <a:solidFill>
                <a:srgbClr val="4197B9"/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3780"/>
              </a:lnSpc>
            </a:pPr>
            <a:r>
              <a:rPr lang="he-IL" sz="1800" b="1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הצוות מהווה מכפיל </a:t>
            </a:r>
            <a:r>
              <a:rPr lang="he-IL" sz="1800" b="1" dirty="0" err="1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כח</a:t>
            </a:r>
            <a:r>
              <a:rPr lang="he-IL" sz="1800" b="1" dirty="0">
                <a:solidFill>
                  <a:srgbClr val="4197B9"/>
                </a:solidFill>
                <a:latin typeface="Assistant" pitchFamily="2" charset="-79"/>
                <a:cs typeface="Assistant" pitchFamily="2" charset="-79"/>
              </a:rPr>
              <a:t> למינוף יוזמות ומהלכים מכווני אימפקט, ולהוצאתם לפועל</a:t>
            </a:r>
          </a:p>
        </p:txBody>
      </p:sp>
      <p:pic>
        <p:nvPicPr>
          <p:cNvPr id="9" name="Graphic 27">
            <a:extLst>
              <a:ext uri="{FF2B5EF4-FFF2-40B4-BE49-F238E27FC236}">
                <a16:creationId xmlns:a16="http://schemas.microsoft.com/office/drawing/2014/main" id="{5A8A08E3-3FA7-4D1C-36CB-D77DD62B39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2815"/>
          <a:stretch/>
        </p:blipFill>
        <p:spPr>
          <a:xfrm>
            <a:off x="279460" y="169929"/>
            <a:ext cx="638200" cy="6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11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AFA24-6B13-9444-B601-93A36690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7394"/>
            <a:ext cx="12192000" cy="91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4338320" y="650973"/>
            <a:ext cx="6376339" cy="856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דאטה-</a:t>
            </a:r>
            <a:r>
              <a:rPr lang="he-IL" sz="44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דיגיטל</a:t>
            </a:r>
            <a:r>
              <a:rPr lang="he-IL" sz="44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44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הצוות</a:t>
            </a:r>
          </a:p>
          <a:p>
            <a:pPr marL="0" algn="r" defTabSz="914400" rtl="1" eaLnBrk="1" latinLnBrk="0" hangingPunct="1"/>
            <a:endParaRPr lang="en-US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06FD5C-CF2D-ED47-B9AD-42526CE8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659" y="455211"/>
            <a:ext cx="898221" cy="89822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EA720D-9A23-7F49-84AA-D043285CAE05}"/>
              </a:ext>
            </a:extLst>
          </p:cNvPr>
          <p:cNvCxnSpPr>
            <a:cxnSpLocks/>
          </p:cNvCxnSpPr>
          <p:nvPr/>
        </p:nvCxnSpPr>
        <p:spPr>
          <a:xfrm>
            <a:off x="8056880" y="1714471"/>
            <a:ext cx="0" cy="3274089"/>
          </a:xfrm>
          <a:prstGeom prst="line">
            <a:avLst/>
          </a:prstGeom>
          <a:ln w="28575">
            <a:solidFill>
              <a:srgbClr val="5AA6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AA4E61-B9F6-5940-A159-1B63C5FBC18C}"/>
              </a:ext>
            </a:extLst>
          </p:cNvPr>
          <p:cNvCxnSpPr>
            <a:cxnSpLocks/>
          </p:cNvCxnSpPr>
          <p:nvPr/>
        </p:nvCxnSpPr>
        <p:spPr>
          <a:xfrm>
            <a:off x="3444240" y="1714471"/>
            <a:ext cx="0" cy="3274089"/>
          </a:xfrm>
          <a:prstGeom prst="line">
            <a:avLst/>
          </a:prstGeom>
          <a:ln w="28575">
            <a:solidFill>
              <a:srgbClr val="5AA6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6FAB919-8027-3D42-A230-5A08414FB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201" y="2319328"/>
            <a:ext cx="127000" cy="127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BAF1ED-98D9-7844-8442-7DB6251F8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891" y="3329021"/>
            <a:ext cx="127000" cy="127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FE1571-44CE-6A4A-BDD2-B0A88C15F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357" y="4406828"/>
            <a:ext cx="127000" cy="127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507B3D6-5ABE-44A0-93A0-6F008BD26ECB}"/>
              </a:ext>
            </a:extLst>
          </p:cNvPr>
          <p:cNvGrpSpPr/>
          <p:nvPr/>
        </p:nvGrpSpPr>
        <p:grpSpPr>
          <a:xfrm>
            <a:off x="1595121" y="1770711"/>
            <a:ext cx="10183164" cy="1682684"/>
            <a:chOff x="1333724" y="1283112"/>
            <a:chExt cx="10183164" cy="168268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F4BC09-FE20-2648-A83F-AD56C86290EF}"/>
                </a:ext>
              </a:extLst>
            </p:cNvPr>
            <p:cNvSpPr txBox="1"/>
            <p:nvPr/>
          </p:nvSpPr>
          <p:spPr>
            <a:xfrm>
              <a:off x="1333724" y="1286717"/>
              <a:ext cx="1739392" cy="362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ts val="2230"/>
                </a:lnSpc>
              </a:pPr>
              <a:r>
                <a:rPr lang="he-IL" b="1" dirty="0">
                  <a:solidFill>
                    <a:schemeClr val="accent1"/>
                  </a:solidFill>
                  <a:latin typeface="Assistant" pitchFamily="2" charset="-79"/>
                  <a:cs typeface="Assistant" pitchFamily="2" charset="-79"/>
                </a:rPr>
                <a:t>מלוות התהליך:</a:t>
              </a:r>
              <a:endParaRPr lang="he-IL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8901E5-B1CB-A346-BBB3-9AF223C560FB}"/>
                </a:ext>
              </a:extLst>
            </p:cNvPr>
            <p:cNvSpPr txBox="1"/>
            <p:nvPr/>
          </p:nvSpPr>
          <p:spPr>
            <a:xfrm>
              <a:off x="5777708" y="1283112"/>
              <a:ext cx="1739392" cy="362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ts val="2230"/>
                </a:lnSpc>
              </a:pPr>
              <a:r>
                <a:rPr lang="he-IL" b="1" dirty="0">
                  <a:solidFill>
                    <a:schemeClr val="accent1"/>
                  </a:solidFill>
                  <a:latin typeface="Assistant" pitchFamily="2" charset="-79"/>
                  <a:cs typeface="Assistant" pitchFamily="2" charset="-79"/>
                </a:rPr>
                <a:t>מנהל\</a:t>
              </a:r>
              <a:r>
                <a:rPr lang="he-IL" b="1" dirty="0" err="1">
                  <a:solidFill>
                    <a:schemeClr val="accent1"/>
                  </a:solidFill>
                  <a:latin typeface="Assistant" pitchFamily="2" charset="-79"/>
                  <a:cs typeface="Assistant" pitchFamily="2" charset="-79"/>
                </a:rPr>
                <a:t>ות</a:t>
              </a:r>
              <a:r>
                <a:rPr lang="he-IL" b="1" dirty="0">
                  <a:solidFill>
                    <a:schemeClr val="accent1"/>
                  </a:solidFill>
                  <a:latin typeface="Assistant" pitchFamily="2" charset="-79"/>
                  <a:cs typeface="Assistant" pitchFamily="2" charset="-79"/>
                </a:rPr>
                <a:t> הצוות:</a:t>
              </a:r>
              <a:endParaRPr lang="he-IL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D68EF06-4AAE-E74C-906F-0BE5965650A6}"/>
                </a:ext>
              </a:extLst>
            </p:cNvPr>
            <p:cNvSpPr txBox="1"/>
            <p:nvPr/>
          </p:nvSpPr>
          <p:spPr>
            <a:xfrm>
              <a:off x="1333724" y="2603453"/>
              <a:ext cx="1739392" cy="362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ts val="2230"/>
                </a:lnSpc>
              </a:pPr>
              <a:r>
                <a:rPr lang="he-IL" b="1" dirty="0">
                  <a:solidFill>
                    <a:schemeClr val="accent1"/>
                  </a:solidFill>
                  <a:latin typeface="Assistant" pitchFamily="2" charset="-79"/>
                  <a:cs typeface="Assistant" pitchFamily="2" charset="-79"/>
                </a:rPr>
                <a:t>רכז הפורום:</a:t>
              </a:r>
              <a:endParaRPr lang="he-IL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CBB91C3-7782-6F48-867C-AD67DFCE0542}"/>
                </a:ext>
              </a:extLst>
            </p:cNvPr>
            <p:cNvSpPr txBox="1"/>
            <p:nvPr/>
          </p:nvSpPr>
          <p:spPr>
            <a:xfrm>
              <a:off x="9777496" y="1289495"/>
              <a:ext cx="1739392" cy="362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ts val="2230"/>
                </a:lnSpc>
              </a:pPr>
              <a:r>
                <a:rPr lang="he-IL" b="1" dirty="0">
                  <a:solidFill>
                    <a:schemeClr val="accent1"/>
                  </a:solidFill>
                  <a:latin typeface="Assistant" pitchFamily="2" charset="-79"/>
                  <a:cs typeface="Assistant" pitchFamily="2" charset="-79"/>
                </a:rPr>
                <a:t>הרכב הצוות: </a:t>
              </a:r>
              <a:endParaRPr lang="he-IL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C956EDD-DBAE-8D27-F5EB-11889A3777B8}"/>
              </a:ext>
            </a:extLst>
          </p:cNvPr>
          <p:cNvSpPr txBox="1"/>
          <p:nvPr/>
        </p:nvSpPr>
        <p:spPr>
          <a:xfrm>
            <a:off x="1089496" y="2207231"/>
            <a:ext cx="2158104" cy="36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הדס ברזילי-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הג'וינט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CC475-3CA1-A9BA-9065-C0F0D9BAA328}"/>
              </a:ext>
            </a:extLst>
          </p:cNvPr>
          <p:cNvSpPr txBox="1"/>
          <p:nvPr/>
        </p:nvSpPr>
        <p:spPr>
          <a:xfrm>
            <a:off x="382480" y="3497551"/>
            <a:ext cx="2865120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חיים פרג-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משרד הרווחה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50DCA-A5F9-79C9-38C9-9CCE704A41FF}"/>
              </a:ext>
            </a:extLst>
          </p:cNvPr>
          <p:cNvSpPr txBox="1"/>
          <p:nvPr/>
        </p:nvSpPr>
        <p:spPr>
          <a:xfrm>
            <a:off x="3186820" y="4260326"/>
            <a:ext cx="4461792" cy="1767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אביעד יצחקי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ראש אגף תכנון מדיניות הזדקנות האוכלוסייה, משרד הרווחה והביטחון החברתי </a:t>
            </a:r>
          </a:p>
          <a:p>
            <a:pPr algn="r" rtl="1">
              <a:lnSpc>
                <a:spcPts val="223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23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23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2C6B7-EEA9-A0EF-1727-2EBECF1BE72C}"/>
              </a:ext>
            </a:extLst>
          </p:cNvPr>
          <p:cNvSpPr txBox="1"/>
          <p:nvPr/>
        </p:nvSpPr>
        <p:spPr>
          <a:xfrm>
            <a:off x="3739896" y="2214699"/>
            <a:ext cx="3908716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רותם </a:t>
            </a:r>
            <a:r>
              <a:rPr lang="he-IL" b="1" dirty="0" err="1">
                <a:latin typeface="Assistant" pitchFamily="2" charset="-79"/>
                <a:cs typeface="Assistant" pitchFamily="2" charset="-79"/>
              </a:rPr>
              <a:t>ארנרייך</a:t>
            </a:r>
            <a:endParaRPr lang="he-IL" b="1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מנהלת מדיניות ואסטרטגיה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בשלטון המקומי, מערך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הדיגיטל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הלאומי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35B1D-0D0D-E19C-20FF-D4BE6FE5A94B}"/>
              </a:ext>
            </a:extLst>
          </p:cNvPr>
          <p:cNvSpPr txBox="1"/>
          <p:nvPr/>
        </p:nvSpPr>
        <p:spPr>
          <a:xfrm>
            <a:off x="8280400" y="1954373"/>
            <a:ext cx="3332475" cy="3468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כ-25 משתתפים ממגוון גופים: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משרד הרווחה והבטחון החברתי,  מערך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הדיגיטל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הלאומי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משרד הבריאות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ביטוח לאומי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קופות החולים- כללית, מכבי, מאוחדת המשרד לשוויון חברתי</a:t>
            </a:r>
          </a:p>
          <a:p>
            <a:pPr algn="r" rtl="1">
              <a:lnSpc>
                <a:spcPts val="2230"/>
              </a:lnSpc>
            </a:pPr>
            <a:r>
              <a:rPr lang="he-IL" dirty="0" err="1">
                <a:latin typeface="Assistant" pitchFamily="2" charset="-79"/>
                <a:cs typeface="Assistant" pitchFamily="2" charset="-79"/>
              </a:rPr>
              <a:t>הלמ"ס</a:t>
            </a: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עיריית תל אביב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עיריית ירושלים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הג'וינט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E9554-39B4-8843-876D-FAEEEF9FB82E}"/>
              </a:ext>
            </a:extLst>
          </p:cNvPr>
          <p:cNvSpPr txBox="1"/>
          <p:nvPr/>
        </p:nvSpPr>
        <p:spPr>
          <a:xfrm>
            <a:off x="3739896" y="3218339"/>
            <a:ext cx="3900424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דפנה לוין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מנהלת טרנספורמציה דיגיטלית, </a:t>
            </a:r>
          </a:p>
          <a:p>
            <a:pPr algn="r" rtl="1">
              <a:lnSpc>
                <a:spcPts val="223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תהליכי יזום ומעורבות לקוח, הג'וינט-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דידא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</a:t>
            </a:r>
          </a:p>
        </p:txBody>
      </p:sp>
      <p:pic>
        <p:nvPicPr>
          <p:cNvPr id="6" name="Graphic 27">
            <a:extLst>
              <a:ext uri="{FF2B5EF4-FFF2-40B4-BE49-F238E27FC236}">
                <a16:creationId xmlns:a16="http://schemas.microsoft.com/office/drawing/2014/main" id="{0DD183E2-0381-BDE7-5BE4-A1D87B80F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2815"/>
          <a:stretch/>
        </p:blipFill>
        <p:spPr>
          <a:xfrm>
            <a:off x="382480" y="147336"/>
            <a:ext cx="638200" cy="6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82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02CC494-06CA-0B47-A2EE-D071559AB564}"/>
              </a:ext>
            </a:extLst>
          </p:cNvPr>
          <p:cNvSpPr txBox="1"/>
          <p:nvPr/>
        </p:nvSpPr>
        <p:spPr>
          <a:xfrm>
            <a:off x="1359457" y="447016"/>
            <a:ext cx="9288195" cy="60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3780"/>
              </a:lnSpc>
            </a:pPr>
            <a:r>
              <a:rPr lang="he-IL" sz="44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צוות דאטה-</a:t>
            </a:r>
            <a:r>
              <a:rPr lang="he-IL" sz="44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דיגיטל</a:t>
            </a:r>
            <a:r>
              <a:rPr lang="he-IL" sz="44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44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מעיקרי הפעילות</a:t>
            </a:r>
            <a:endParaRPr lang="en-US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06FD5C-CF2D-ED47-B9AD-42526CE84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652" y="295452"/>
            <a:ext cx="898221" cy="89822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DF44866-0AF0-E04A-866D-F43D85406863}"/>
              </a:ext>
            </a:extLst>
          </p:cNvPr>
          <p:cNvSpPr txBox="1"/>
          <p:nvPr/>
        </p:nvSpPr>
        <p:spPr>
          <a:xfrm>
            <a:off x="11056123" y="2131759"/>
            <a:ext cx="270725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1</a:t>
            </a: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026104-BDE0-6D43-B3D6-5B5FF7D7580F}"/>
              </a:ext>
            </a:extLst>
          </p:cNvPr>
          <p:cNvSpPr txBox="1"/>
          <p:nvPr/>
        </p:nvSpPr>
        <p:spPr>
          <a:xfrm>
            <a:off x="11108263" y="3037538"/>
            <a:ext cx="270725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2</a:t>
            </a: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1BC7F3-3D2D-0342-A406-FBF72057D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1479" y="2046614"/>
            <a:ext cx="457200" cy="457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F5524A-956B-E64C-B498-C594FDAA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525" y="2977293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03667A-21AA-AA64-30D2-86830D1A8695}"/>
              </a:ext>
            </a:extLst>
          </p:cNvPr>
          <p:cNvSpPr txBox="1"/>
          <p:nvPr/>
        </p:nvSpPr>
        <p:spPr>
          <a:xfrm>
            <a:off x="980099" y="1473401"/>
            <a:ext cx="10051003" cy="5970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ts val="2300"/>
              </a:lnSpc>
            </a:pPr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במסגרת צוות זה מקודמים הפרויקטים הבאים:</a:t>
            </a:r>
          </a:p>
          <a:p>
            <a:pPr algn="r" rtl="1">
              <a:lnSpc>
                <a:spcPts val="230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r>
              <a:rPr lang="he-IL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סל תפקוד מותאם אישית</a:t>
            </a:r>
            <a:r>
              <a:rPr lang="en-US" b="1" dirty="0">
                <a:latin typeface="Assistant" pitchFamily="2" charset="-79"/>
                <a:cs typeface="Assistant" pitchFamily="2" charset="-79"/>
              </a:rPr>
              <a:t> -AI 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מערכת הפעלה המאפשרת לאזרח הוותיק בחירת שירות מותאם לטובת איכות חיים, עצמאות, השתתפות חברתית ומניעת הדרדרות.</a:t>
            </a:r>
          </a:p>
          <a:p>
            <a:pPr algn="r" rtl="1">
              <a:lnSpc>
                <a:spcPts val="230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אופטימיזציה של צרכים ומענים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- פיתוח תשתית דאטה המבוססת על צרכים של אזרחים ותיקים לפי פרופילים והמענים הקיימים המתאימים להם, כשתשתית תומכת לפרסונליזציה של שירותים מותאמי אדם. </a:t>
            </a:r>
          </a:p>
          <a:p>
            <a:pPr algn="r" rtl="1">
              <a:lnSpc>
                <a:spcPts val="2300"/>
              </a:lnSpc>
            </a:pPr>
            <a:endParaRPr lang="he-IL" b="1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'ברק בעיניים'- </a:t>
            </a:r>
            <a:r>
              <a:rPr lang="he-IL" b="1" dirty="0" err="1">
                <a:latin typeface="Assistant" pitchFamily="2" charset="-79"/>
                <a:cs typeface="Assistant" pitchFamily="2" charset="-79"/>
              </a:rPr>
              <a:t>דשבורד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 ממשלה ורשויות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- הנגשת תמונת מצב לאומית לאתגרי ההזדקנות לממשלה ולרשויות המקומיות דרך איגום והצלבת מידע רב מערכתי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והנגשתו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בדשבורדים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יעודיים</a:t>
            </a: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הפניות הדדיות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- הבניית שיטת עבודה בין מערכת הרווחה, הבריאות וביטוח לאומי, לטובת הפניות הדדיות בין מערכות המיועדות לשימור תפקוד ומניעת הדרדרות.</a:t>
            </a:r>
          </a:p>
          <a:p>
            <a:pPr algn="r" rtl="1">
              <a:lnSpc>
                <a:spcPts val="2300"/>
              </a:lnSpc>
            </a:pPr>
            <a:endParaRPr lang="he-IL" b="1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מהלך </a:t>
            </a:r>
            <a:r>
              <a:rPr lang="he-IL" b="1" dirty="0" err="1">
                <a:latin typeface="Assistant" pitchFamily="2" charset="-79"/>
                <a:cs typeface="Assistant" pitchFamily="2" charset="-79"/>
              </a:rPr>
              <a:t>הדיגיטל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 להזדקנות מיטבית-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תכנית אסטרטגית דאטה-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דיגיטל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להזדקנות מיטבית: מיפוי המצב כיום, מיפוי ההזדמנויות הטכנולוגיות והצעות לשינוי ומינוף.</a:t>
            </a:r>
          </a:p>
          <a:p>
            <a:pPr algn="r" rtl="1">
              <a:lnSpc>
                <a:spcPts val="2300"/>
              </a:lnSpc>
            </a:pPr>
            <a:endParaRPr lang="he-IL" b="1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ts val="2300"/>
              </a:lnSpc>
            </a:pP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42425-C60C-F44F-757B-12E36001A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026" y="3853837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1756AD-18E8-DACD-FDB6-5AA4C4081FB8}"/>
              </a:ext>
            </a:extLst>
          </p:cNvPr>
          <p:cNvSpPr txBox="1"/>
          <p:nvPr/>
        </p:nvSpPr>
        <p:spPr>
          <a:xfrm>
            <a:off x="11047643" y="3902182"/>
            <a:ext cx="340297" cy="364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3</a:t>
            </a: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77D7-E0E8-729C-8C43-9CEE4574682F}"/>
              </a:ext>
            </a:extLst>
          </p:cNvPr>
          <p:cNvSpPr txBox="1"/>
          <p:nvPr/>
        </p:nvSpPr>
        <p:spPr>
          <a:xfrm>
            <a:off x="11097623" y="4738964"/>
            <a:ext cx="270725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4</a:t>
            </a: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A2513-CC75-F27A-8582-4209CBE59525}"/>
              </a:ext>
            </a:extLst>
          </p:cNvPr>
          <p:cNvSpPr txBox="1"/>
          <p:nvPr/>
        </p:nvSpPr>
        <p:spPr>
          <a:xfrm>
            <a:off x="11096763" y="5608709"/>
            <a:ext cx="270725" cy="362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ts val="2230"/>
              </a:lnSpc>
            </a:pPr>
            <a:r>
              <a:rPr lang="he-IL" b="1" dirty="0">
                <a:latin typeface="Assistant" pitchFamily="2" charset="-79"/>
                <a:cs typeface="Assistant" pitchFamily="2" charset="-79"/>
              </a:rPr>
              <a:t>5</a:t>
            </a:r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68AD4-941E-D191-1E9B-777C7E091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488" y="4674569"/>
            <a:ext cx="457200" cy="45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E4976A-DB8C-C7AE-8E97-81426E27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026" y="5551113"/>
            <a:ext cx="457200" cy="457200"/>
          </a:xfrm>
          <a:prstGeom prst="rect">
            <a:avLst/>
          </a:prstGeom>
        </p:spPr>
      </p:pic>
      <p:pic>
        <p:nvPicPr>
          <p:cNvPr id="5" name="Graphic 27">
            <a:extLst>
              <a:ext uri="{FF2B5EF4-FFF2-40B4-BE49-F238E27FC236}">
                <a16:creationId xmlns:a16="http://schemas.microsoft.com/office/drawing/2014/main" id="{42429867-ECFA-747B-41DD-524203DAB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2815"/>
          <a:stretch/>
        </p:blipFill>
        <p:spPr>
          <a:xfrm>
            <a:off x="1040357" y="295452"/>
            <a:ext cx="638200" cy="6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59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7DD30-E18E-4CC7-B59D-B9AD3CE4C1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6EACD6-A130-4F8B-8DEE-FC1721ABCFA5}"/>
              </a:ext>
            </a:extLst>
          </p:cNvPr>
          <p:cNvSpPr/>
          <p:nvPr/>
        </p:nvSpPr>
        <p:spPr>
          <a:xfrm>
            <a:off x="849710" y="4683277"/>
            <a:ext cx="8803337" cy="1595604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33EC10-E74B-42C4-AD96-2AB365A41D21}"/>
              </a:ext>
            </a:extLst>
          </p:cNvPr>
          <p:cNvSpPr/>
          <p:nvPr/>
        </p:nvSpPr>
        <p:spPr>
          <a:xfrm>
            <a:off x="849710" y="2655702"/>
            <a:ext cx="8803337" cy="2027573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71A87-CCA3-400F-B1D5-7FF7FFD281CE}"/>
              </a:ext>
            </a:extLst>
          </p:cNvPr>
          <p:cNvSpPr txBox="1"/>
          <p:nvPr/>
        </p:nvSpPr>
        <p:spPr>
          <a:xfrm>
            <a:off x="1057402" y="2832736"/>
            <a:ext cx="70888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600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ביזור</a:t>
            </a:r>
            <a:r>
              <a:rPr lang="en-US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en-US" sz="1600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סמכויות</a:t>
            </a:r>
            <a:endParaRPr lang="en-US" sz="1600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רפורמת ביזור הסמכויות - מהלך פורץ דרך לשיפור עבודת הממשלה עם השלטון המקומי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F8F5A-8EB7-4374-810E-8FD807CCDFE1}"/>
              </a:ext>
            </a:extLst>
          </p:cNvPr>
          <p:cNvSpPr txBox="1"/>
          <p:nvPr/>
        </p:nvSpPr>
        <p:spPr>
          <a:xfrm>
            <a:off x="1446508" y="4302395"/>
            <a:ext cx="7870259" cy="162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300" dirty="0">
                <a:latin typeface="Assistant" pitchFamily="2" charset="-79"/>
                <a:cs typeface="Assistant" pitchFamily="2" charset="-79"/>
              </a:rPr>
              <a:t>הרפורמה מעבירה את </a:t>
            </a:r>
            <a:r>
              <a:rPr lang="he-IL" sz="2300" b="1" dirty="0">
                <a:latin typeface="Assistant" pitchFamily="2" charset="-79"/>
                <a:cs typeface="Assistant" pitchFamily="2" charset="-79"/>
              </a:rPr>
              <a:t>ניהול התקציב, הדאטה, התכנון והמענה לאזרח</a:t>
            </a:r>
            <a:r>
              <a:rPr lang="he-IL" sz="2300" dirty="0">
                <a:latin typeface="Assistant" pitchFamily="2" charset="-79"/>
                <a:cs typeface="Assistant" pitchFamily="2" charset="-79"/>
              </a:rPr>
              <a:t> לרשויות ומאפשרת יותר גמישות לגופים האופרטיביים המנהלים את המגע עם הזקן ובני משפחתו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CE110E-1338-4A2F-B910-6126AC2777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918"/>
          <a:stretch/>
        </p:blipFill>
        <p:spPr>
          <a:xfrm>
            <a:off x="8422709" y="3132726"/>
            <a:ext cx="894058" cy="8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58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6FF407-79D8-40A3-91DF-27F8B7D83E14}"/>
              </a:ext>
            </a:extLst>
          </p:cNvPr>
          <p:cNvSpPr txBox="1"/>
          <p:nvPr/>
        </p:nvSpPr>
        <p:spPr>
          <a:xfrm>
            <a:off x="4977476" y="457225"/>
            <a:ext cx="583057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שנה שלישית לרפורמה</a:t>
            </a:r>
            <a:b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הרפורמה מגדירה מחדש את מערכת היחסים בין המשרד לרשויות</a:t>
            </a:r>
            <a:endParaRPr lang="en-IL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7F7E7-6108-4451-8C04-597653E774A3}"/>
              </a:ext>
            </a:extLst>
          </p:cNvPr>
          <p:cNvSpPr txBox="1"/>
          <p:nvPr/>
        </p:nvSpPr>
        <p:spPr>
          <a:xfrm>
            <a:off x="6585664" y="2162449"/>
            <a:ext cx="4146548" cy="309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cs typeface="Calibri" panose="020F0502020204030204" pitchFamily="34" charset="0"/>
              </a:rPr>
              <a:t>משרד הרווחה</a:t>
            </a:r>
          </a:p>
          <a:p>
            <a:pPr algn="r" rtl="1">
              <a:lnSpc>
                <a:spcPct val="150000"/>
              </a:lnSpc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מוביל מדיניות, </a:t>
            </a:r>
            <a:r>
              <a:rPr lang="he-IL" dirty="0" err="1">
                <a:latin typeface="Calibri" panose="020F0502020204030204" pitchFamily="34" charset="0"/>
                <a:cs typeface="Calibri" panose="020F0502020204030204" pitchFamily="34" charset="0"/>
              </a:rPr>
              <a:t>מתכלל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 ומבצע רגולציה וניטור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האסטרטגיה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 בתחום </a:t>
            </a:r>
            <a:r>
              <a:rPr lang="he-IL" dirty="0" err="1">
                <a:latin typeface="Calibri" panose="020F0502020204030204" pitchFamily="34" charset="0"/>
                <a:cs typeface="Calibri" panose="020F0502020204030204" pitchFamily="34" charset="0"/>
              </a:rPr>
              <a:t>הזיקנה</a:t>
            </a: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מדיניות ותקציבים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גיבוש </a:t>
            </a: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כלים תומכים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פיתוח חדשנות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מדידה ובקרה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E26FD-955A-45CA-9EC5-E8CEDE84916A}"/>
              </a:ext>
            </a:extLst>
          </p:cNvPr>
          <p:cNvSpPr txBox="1"/>
          <p:nvPr/>
        </p:nvSpPr>
        <p:spPr>
          <a:xfrm>
            <a:off x="-323850" y="2164080"/>
            <a:ext cx="6164619" cy="268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cs typeface="Calibri" panose="020F0502020204030204" pitchFamily="34" charset="0"/>
              </a:rPr>
              <a:t>הרשויות המקומיות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מובילות את </a:t>
            </a: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התכנון </a:t>
            </a:r>
            <a:r>
              <a:rPr lang="he-IL" b="1" dirty="0" err="1">
                <a:latin typeface="Calibri" panose="020F0502020204030204" pitchFamily="34" charset="0"/>
                <a:cs typeface="Calibri" panose="020F0502020204030204" pitchFamily="34" charset="0"/>
              </a:rPr>
              <a:t>והישום</a:t>
            </a: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 האופרטיבי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מול האזרח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יכולת וניסיון אופרטיבי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היכרות וקירבה לאוכלוסייה</a:t>
            </a:r>
            <a:endParaRPr lang="en-IL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תכנון ופיתוח שירותים וניהול תקציבי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יוזמות וחדשנות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91E221-BE54-4803-8D8A-07725F554FA5}"/>
              </a:ext>
            </a:extLst>
          </p:cNvPr>
          <p:cNvSpPr/>
          <p:nvPr/>
        </p:nvSpPr>
        <p:spPr>
          <a:xfrm>
            <a:off x="2583469" y="2658319"/>
            <a:ext cx="3204000" cy="94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CB7379-B4AD-4621-914C-54C041A9E899}"/>
              </a:ext>
            </a:extLst>
          </p:cNvPr>
          <p:cNvSpPr/>
          <p:nvPr/>
        </p:nvSpPr>
        <p:spPr>
          <a:xfrm>
            <a:off x="7528212" y="2658319"/>
            <a:ext cx="3204000" cy="94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3CD5D6D-F908-4B77-B655-D6D297F207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9918"/>
          <a:stretch/>
        </p:blipFill>
        <p:spPr>
          <a:xfrm>
            <a:off x="11057428" y="767836"/>
            <a:ext cx="894058" cy="894971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D343306-4801-9C8D-084A-10BEEF268ABE}"/>
              </a:ext>
            </a:extLst>
          </p:cNvPr>
          <p:cNvSpPr txBox="1"/>
          <p:nvPr/>
        </p:nvSpPr>
        <p:spPr>
          <a:xfrm>
            <a:off x="283469" y="6235430"/>
            <a:ext cx="441499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98% מהרשויות הגישו תכנון מבוסס נתונים ב2024!</a:t>
            </a:r>
          </a:p>
        </p:txBody>
      </p:sp>
    </p:spTree>
    <p:extLst>
      <p:ext uri="{BB962C8B-B14F-4D97-AF65-F5344CB8AC3E}">
        <p14:creationId xmlns:p14="http://schemas.microsoft.com/office/powerpoint/2010/main" val="2924317544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E40177-5438-46C5-99B8-3D8E1DB4FC80}"/>
              </a:ext>
            </a:extLst>
          </p:cNvPr>
          <p:cNvSpPr txBox="1"/>
          <p:nvPr/>
        </p:nvSpPr>
        <p:spPr>
          <a:xfrm>
            <a:off x="-413253" y="351134"/>
            <a:ext cx="1143430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יישום</a:t>
            </a:r>
            <a:r>
              <a:rPr lang="he-IL" sz="2600" dirty="0"/>
              <a:t> </a:t>
            </a:r>
            <a:r>
              <a:rPr lang="he-IL" sz="2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הרפורמה כלל </a:t>
            </a:r>
            <a:r>
              <a:rPr lang="he-IL" sz="2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איגום מידע רב משרדי ופיתוח והנגשה של מוצרי נתונים </a:t>
            </a:r>
            <a:r>
              <a:rPr lang="he-IL" sz="26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ודיגיטל</a:t>
            </a:r>
            <a:endParaRPr lang="he-IL" sz="26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sz="2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המאפשרים לרשויות ולמשרד </a:t>
            </a:r>
            <a:r>
              <a:rPr lang="he-IL" sz="2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ניהול, תכנון, פיקוח וקבלת החלטות מבוססות נתונים</a:t>
            </a:r>
            <a:endParaRPr lang="en-IL" sz="26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3BFC4-3EFE-4ABB-A2F0-E4FECF9CDEC0}"/>
              </a:ext>
            </a:extLst>
          </p:cNvPr>
          <p:cNvSpPr txBox="1"/>
          <p:nvPr/>
        </p:nvSpPr>
        <p:spPr>
          <a:xfrm>
            <a:off x="8339626" y="3572170"/>
            <a:ext cx="2815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latin typeface="Assistant SemiBold" pitchFamily="2" charset="-79"/>
                <a:cs typeface="Assistant SemiBold" pitchFamily="2" charset="-79"/>
              </a:rPr>
              <a:t>מערכת המכלול - </a:t>
            </a:r>
            <a:r>
              <a:rPr lang="en-US" sz="1600" b="1" dirty="0">
                <a:latin typeface="Assistant SemiBold" pitchFamily="2" charset="-79"/>
                <a:cs typeface="Assistant SemiBold" pitchFamily="2" charset="-79"/>
              </a:rPr>
              <a:t>BI</a:t>
            </a:r>
            <a:r>
              <a:rPr lang="he-IL" sz="1600" b="1" dirty="0">
                <a:latin typeface="Assistant SemiBold" pitchFamily="2" charset="-79"/>
                <a:cs typeface="Assistant SemiBold" pitchFamily="2" charset="-79"/>
              </a:rPr>
              <a:t> ייעודי לרשויות על אוכלוסיית הרווחה בעיר</a:t>
            </a:r>
            <a:endParaRPr lang="en-IL" sz="1600" b="1" dirty="0">
              <a:latin typeface="Assistant SemiBold" pitchFamily="2" charset="-79"/>
              <a:cs typeface="Assistant SemiBold" pitchFamily="2" charset="-79"/>
            </a:endParaRPr>
          </a:p>
        </p:txBody>
      </p:sp>
      <p:pic>
        <p:nvPicPr>
          <p:cNvPr id="10" name="תמונה 1">
            <a:extLst>
              <a:ext uri="{FF2B5EF4-FFF2-40B4-BE49-F238E27FC236}">
                <a16:creationId xmlns:a16="http://schemas.microsoft.com/office/drawing/2014/main" id="{7B2A9561-A55E-47D0-8FC5-364F3F5518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07480" y="4267462"/>
            <a:ext cx="3567311" cy="1823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9734CD-F4E8-4A15-8EF5-ECDDD624767E}"/>
              </a:ext>
            </a:extLst>
          </p:cNvPr>
          <p:cNvSpPr txBox="1"/>
          <p:nvPr/>
        </p:nvSpPr>
        <p:spPr>
          <a:xfrm>
            <a:off x="5072940" y="3572170"/>
            <a:ext cx="2046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r" rtl="1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600" b="1" dirty="0">
                <a:latin typeface="Assistant SemiBold" pitchFamily="2" charset="-79"/>
                <a:cs typeface="Assistant SemiBold" pitchFamily="2" charset="-79"/>
              </a:rPr>
              <a:t>תכנון מיקום השירותים</a:t>
            </a:r>
          </a:p>
          <a:p>
            <a:pPr marR="0" lvl="0" indent="0" algn="r" rtl="1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600" b="1" dirty="0">
                <a:latin typeface="Assistant SemiBold" pitchFamily="2" charset="-79"/>
                <a:cs typeface="Assistant SemiBold" pitchFamily="2" charset="-79"/>
              </a:rPr>
              <a:t> במרחב </a:t>
            </a:r>
            <a:r>
              <a:rPr lang="he-IL" sz="1600" b="1" dirty="0" err="1">
                <a:latin typeface="Assistant SemiBold" pitchFamily="2" charset="-79"/>
                <a:cs typeface="Assistant SemiBold" pitchFamily="2" charset="-79"/>
              </a:rPr>
              <a:t>הרשותי</a:t>
            </a:r>
            <a:endParaRPr lang="he-IL" sz="1600" b="1" dirty="0">
              <a:latin typeface="Assistant SemiBold" pitchFamily="2" charset="-79"/>
              <a:cs typeface="Assistant SemiBold" pitchFamily="2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B9F4A7-9D5F-4FB0-B179-A9EF2EDC357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4001" y="4237391"/>
            <a:ext cx="2288410" cy="18231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F623A6-8748-4BA9-A47E-CF6DA4DA1B9E}"/>
              </a:ext>
            </a:extLst>
          </p:cNvPr>
          <p:cNvSpPr txBox="1"/>
          <p:nvPr/>
        </p:nvSpPr>
        <p:spPr>
          <a:xfrm>
            <a:off x="383292" y="3535863"/>
            <a:ext cx="3521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u="sng" dirty="0">
                <a:latin typeface="Assistant SemiBold" pitchFamily="2" charset="-79"/>
                <a:cs typeface="Assistant SemiBold" pitchFamily="2" charset="-79"/>
              </a:rPr>
              <a:t>דוגמאות לפרויקטים מובילים:</a:t>
            </a:r>
          </a:p>
          <a:p>
            <a:pPr algn="r" rtl="1"/>
            <a:r>
              <a:rPr lang="he-IL" sz="1600" b="1" dirty="0">
                <a:latin typeface="Assistant SemiBold" pitchFamily="2" charset="-79"/>
                <a:cs typeface="Assistant SemiBold" pitchFamily="2" charset="-79"/>
              </a:rPr>
              <a:t>סימולטור תכנון שירותים ותקציב</a:t>
            </a:r>
            <a:endParaRPr lang="en-IL" sz="1600" b="1" dirty="0">
              <a:latin typeface="Assistant SemiBold" pitchFamily="2" charset="-79"/>
              <a:cs typeface="Assistant SemiBold" pitchFamily="2" charset="-79"/>
            </a:endParaRPr>
          </a:p>
        </p:txBody>
      </p:sp>
      <p:pic>
        <p:nvPicPr>
          <p:cNvPr id="14" name="תמונה 2">
            <a:extLst>
              <a:ext uri="{FF2B5EF4-FFF2-40B4-BE49-F238E27FC236}">
                <a16:creationId xmlns:a16="http://schemas.microsoft.com/office/drawing/2014/main" id="{392A85E1-9310-4DCB-97AB-9EBCD54717B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894149" y="4267462"/>
            <a:ext cx="3441154" cy="1801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E39DF0C-025C-41EB-970A-4F1786EF4A43}"/>
              </a:ext>
            </a:extLst>
          </p:cNvPr>
          <p:cNvGrpSpPr/>
          <p:nvPr/>
        </p:nvGrpSpPr>
        <p:grpSpPr>
          <a:xfrm>
            <a:off x="7092680" y="3509038"/>
            <a:ext cx="702436" cy="707886"/>
            <a:chOff x="7211193" y="3504318"/>
            <a:chExt cx="702436" cy="707886"/>
          </a:xfrm>
        </p:grpSpPr>
        <p:sp>
          <p:nvSpPr>
            <p:cNvPr id="16" name="Freeform 83">
              <a:extLst>
                <a:ext uri="{FF2B5EF4-FFF2-40B4-BE49-F238E27FC236}">
                  <a16:creationId xmlns:a16="http://schemas.microsoft.com/office/drawing/2014/main" id="{67AA229E-1468-414C-99DB-386FBEFB5E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4451" y="3604207"/>
              <a:ext cx="522288" cy="520700"/>
            </a:xfrm>
            <a:custGeom>
              <a:avLst/>
              <a:gdLst>
                <a:gd name="T0" fmla="*/ 313 w 659"/>
                <a:gd name="T1" fmla="*/ 658 h 658"/>
                <a:gd name="T2" fmla="*/ 264 w 659"/>
                <a:gd name="T3" fmla="*/ 651 h 658"/>
                <a:gd name="T4" fmla="*/ 202 w 659"/>
                <a:gd name="T5" fmla="*/ 632 h 658"/>
                <a:gd name="T6" fmla="*/ 121 w 659"/>
                <a:gd name="T7" fmla="*/ 582 h 658"/>
                <a:gd name="T8" fmla="*/ 57 w 659"/>
                <a:gd name="T9" fmla="*/ 512 h 658"/>
                <a:gd name="T10" fmla="*/ 15 w 659"/>
                <a:gd name="T11" fmla="*/ 426 h 658"/>
                <a:gd name="T12" fmla="*/ 4 w 659"/>
                <a:gd name="T13" fmla="*/ 379 h 658"/>
                <a:gd name="T14" fmla="*/ 0 w 659"/>
                <a:gd name="T15" fmla="*/ 328 h 658"/>
                <a:gd name="T16" fmla="*/ 3 w 659"/>
                <a:gd name="T17" fmla="*/ 295 h 658"/>
                <a:gd name="T18" fmla="*/ 11 w 659"/>
                <a:gd name="T19" fmla="*/ 246 h 658"/>
                <a:gd name="T20" fmla="*/ 41 w 659"/>
                <a:gd name="T21" fmla="*/ 172 h 658"/>
                <a:gd name="T22" fmla="*/ 97 w 659"/>
                <a:gd name="T23" fmla="*/ 96 h 658"/>
                <a:gd name="T24" fmla="*/ 174 w 659"/>
                <a:gd name="T25" fmla="*/ 39 h 658"/>
                <a:gd name="T26" fmla="*/ 247 w 659"/>
                <a:gd name="T27" fmla="*/ 10 h 658"/>
                <a:gd name="T28" fmla="*/ 296 w 659"/>
                <a:gd name="T29" fmla="*/ 2 h 658"/>
                <a:gd name="T30" fmla="*/ 329 w 659"/>
                <a:gd name="T31" fmla="*/ 0 h 658"/>
                <a:gd name="T32" fmla="*/ 379 w 659"/>
                <a:gd name="T33" fmla="*/ 3 h 658"/>
                <a:gd name="T34" fmla="*/ 428 w 659"/>
                <a:gd name="T35" fmla="*/ 15 h 658"/>
                <a:gd name="T36" fmla="*/ 514 w 659"/>
                <a:gd name="T37" fmla="*/ 56 h 658"/>
                <a:gd name="T38" fmla="*/ 583 w 659"/>
                <a:gd name="T39" fmla="*/ 120 h 658"/>
                <a:gd name="T40" fmla="*/ 633 w 659"/>
                <a:gd name="T41" fmla="*/ 201 h 658"/>
                <a:gd name="T42" fmla="*/ 652 w 659"/>
                <a:gd name="T43" fmla="*/ 262 h 658"/>
                <a:gd name="T44" fmla="*/ 659 w 659"/>
                <a:gd name="T45" fmla="*/ 312 h 658"/>
                <a:gd name="T46" fmla="*/ 659 w 659"/>
                <a:gd name="T47" fmla="*/ 346 h 658"/>
                <a:gd name="T48" fmla="*/ 652 w 659"/>
                <a:gd name="T49" fmla="*/ 396 h 658"/>
                <a:gd name="T50" fmla="*/ 633 w 659"/>
                <a:gd name="T51" fmla="*/ 456 h 658"/>
                <a:gd name="T52" fmla="*/ 583 w 659"/>
                <a:gd name="T53" fmla="*/ 538 h 658"/>
                <a:gd name="T54" fmla="*/ 514 w 659"/>
                <a:gd name="T55" fmla="*/ 601 h 658"/>
                <a:gd name="T56" fmla="*/ 428 w 659"/>
                <a:gd name="T57" fmla="*/ 643 h 658"/>
                <a:gd name="T58" fmla="*/ 379 w 659"/>
                <a:gd name="T59" fmla="*/ 654 h 658"/>
                <a:gd name="T60" fmla="*/ 329 w 659"/>
                <a:gd name="T61" fmla="*/ 658 h 658"/>
                <a:gd name="T62" fmla="*/ 329 w 659"/>
                <a:gd name="T63" fmla="*/ 38 h 658"/>
                <a:gd name="T64" fmla="*/ 243 w 659"/>
                <a:gd name="T65" fmla="*/ 50 h 658"/>
                <a:gd name="T66" fmla="*/ 167 w 659"/>
                <a:gd name="T67" fmla="*/ 88 h 658"/>
                <a:gd name="T68" fmla="*/ 105 w 659"/>
                <a:gd name="T69" fmla="*/ 143 h 658"/>
                <a:gd name="T70" fmla="*/ 61 w 659"/>
                <a:gd name="T71" fmla="*/ 215 h 658"/>
                <a:gd name="T72" fmla="*/ 41 w 659"/>
                <a:gd name="T73" fmla="*/ 299 h 658"/>
                <a:gd name="T74" fmla="*/ 41 w 659"/>
                <a:gd name="T75" fmla="*/ 358 h 658"/>
                <a:gd name="T76" fmla="*/ 61 w 659"/>
                <a:gd name="T77" fmla="*/ 443 h 658"/>
                <a:gd name="T78" fmla="*/ 105 w 659"/>
                <a:gd name="T79" fmla="*/ 514 h 658"/>
                <a:gd name="T80" fmla="*/ 167 w 659"/>
                <a:gd name="T81" fmla="*/ 570 h 658"/>
                <a:gd name="T82" fmla="*/ 243 w 659"/>
                <a:gd name="T83" fmla="*/ 607 h 658"/>
                <a:gd name="T84" fmla="*/ 329 w 659"/>
                <a:gd name="T85" fmla="*/ 620 h 658"/>
                <a:gd name="T86" fmla="*/ 389 w 659"/>
                <a:gd name="T87" fmla="*/ 615 h 658"/>
                <a:gd name="T88" fmla="*/ 468 w 659"/>
                <a:gd name="T89" fmla="*/ 585 h 658"/>
                <a:gd name="T90" fmla="*/ 535 w 659"/>
                <a:gd name="T91" fmla="*/ 535 h 658"/>
                <a:gd name="T92" fmla="*/ 586 w 659"/>
                <a:gd name="T93" fmla="*/ 468 h 658"/>
                <a:gd name="T94" fmla="*/ 616 w 659"/>
                <a:gd name="T95" fmla="*/ 387 h 658"/>
                <a:gd name="T96" fmla="*/ 621 w 659"/>
                <a:gd name="T97" fmla="*/ 328 h 658"/>
                <a:gd name="T98" fmla="*/ 608 w 659"/>
                <a:gd name="T99" fmla="*/ 242 h 658"/>
                <a:gd name="T100" fmla="*/ 571 w 659"/>
                <a:gd name="T101" fmla="*/ 166 h 658"/>
                <a:gd name="T102" fmla="*/ 515 w 659"/>
                <a:gd name="T103" fmla="*/ 104 h 658"/>
                <a:gd name="T104" fmla="*/ 442 w 659"/>
                <a:gd name="T105" fmla="*/ 61 h 658"/>
                <a:gd name="T106" fmla="*/ 359 w 659"/>
                <a:gd name="T107" fmla="*/ 3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29" y="658"/>
                  </a:moveTo>
                  <a:lnTo>
                    <a:pt x="329" y="658"/>
                  </a:lnTo>
                  <a:lnTo>
                    <a:pt x="313" y="658"/>
                  </a:lnTo>
                  <a:lnTo>
                    <a:pt x="296" y="656"/>
                  </a:lnTo>
                  <a:lnTo>
                    <a:pt x="280" y="654"/>
                  </a:lnTo>
                  <a:lnTo>
                    <a:pt x="264" y="651"/>
                  </a:lnTo>
                  <a:lnTo>
                    <a:pt x="247" y="647"/>
                  </a:lnTo>
                  <a:lnTo>
                    <a:pt x="231" y="643"/>
                  </a:lnTo>
                  <a:lnTo>
                    <a:pt x="202" y="632"/>
                  </a:lnTo>
                  <a:lnTo>
                    <a:pt x="174" y="617"/>
                  </a:lnTo>
                  <a:lnTo>
                    <a:pt x="145" y="601"/>
                  </a:lnTo>
                  <a:lnTo>
                    <a:pt x="121" y="582"/>
                  </a:lnTo>
                  <a:lnTo>
                    <a:pt x="97" y="561"/>
                  </a:lnTo>
                  <a:lnTo>
                    <a:pt x="75" y="538"/>
                  </a:lnTo>
                  <a:lnTo>
                    <a:pt x="57" y="512"/>
                  </a:lnTo>
                  <a:lnTo>
                    <a:pt x="41" y="486"/>
                  </a:lnTo>
                  <a:lnTo>
                    <a:pt x="27" y="456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6"/>
                  </a:lnTo>
                  <a:lnTo>
                    <a:pt x="4" y="379"/>
                  </a:lnTo>
                  <a:lnTo>
                    <a:pt x="3" y="362"/>
                  </a:lnTo>
                  <a:lnTo>
                    <a:pt x="2" y="346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2"/>
                  </a:lnTo>
                  <a:lnTo>
                    <a:pt x="3" y="295"/>
                  </a:lnTo>
                  <a:lnTo>
                    <a:pt x="4" y="279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2"/>
                  </a:lnTo>
                  <a:lnTo>
                    <a:pt x="27" y="201"/>
                  </a:lnTo>
                  <a:lnTo>
                    <a:pt x="41" y="172"/>
                  </a:lnTo>
                  <a:lnTo>
                    <a:pt x="57" y="146"/>
                  </a:lnTo>
                  <a:lnTo>
                    <a:pt x="75" y="120"/>
                  </a:lnTo>
                  <a:lnTo>
                    <a:pt x="97" y="96"/>
                  </a:lnTo>
                  <a:lnTo>
                    <a:pt x="121" y="74"/>
                  </a:lnTo>
                  <a:lnTo>
                    <a:pt x="145" y="56"/>
                  </a:lnTo>
                  <a:lnTo>
                    <a:pt x="174" y="39"/>
                  </a:lnTo>
                  <a:lnTo>
                    <a:pt x="202" y="26"/>
                  </a:lnTo>
                  <a:lnTo>
                    <a:pt x="231" y="15"/>
                  </a:lnTo>
                  <a:lnTo>
                    <a:pt x="247" y="10"/>
                  </a:lnTo>
                  <a:lnTo>
                    <a:pt x="264" y="7"/>
                  </a:lnTo>
                  <a:lnTo>
                    <a:pt x="280" y="3"/>
                  </a:lnTo>
                  <a:lnTo>
                    <a:pt x="296" y="2"/>
                  </a:lnTo>
                  <a:lnTo>
                    <a:pt x="313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7" y="0"/>
                  </a:lnTo>
                  <a:lnTo>
                    <a:pt x="363" y="2"/>
                  </a:lnTo>
                  <a:lnTo>
                    <a:pt x="379" y="3"/>
                  </a:lnTo>
                  <a:lnTo>
                    <a:pt x="395" y="7"/>
                  </a:lnTo>
                  <a:lnTo>
                    <a:pt x="411" y="10"/>
                  </a:lnTo>
                  <a:lnTo>
                    <a:pt x="428" y="15"/>
                  </a:lnTo>
                  <a:lnTo>
                    <a:pt x="457" y="26"/>
                  </a:lnTo>
                  <a:lnTo>
                    <a:pt x="487" y="39"/>
                  </a:lnTo>
                  <a:lnTo>
                    <a:pt x="514" y="56"/>
                  </a:lnTo>
                  <a:lnTo>
                    <a:pt x="539" y="74"/>
                  </a:lnTo>
                  <a:lnTo>
                    <a:pt x="562" y="96"/>
                  </a:lnTo>
                  <a:lnTo>
                    <a:pt x="583" y="120"/>
                  </a:lnTo>
                  <a:lnTo>
                    <a:pt x="602" y="146"/>
                  </a:lnTo>
                  <a:lnTo>
                    <a:pt x="618" y="172"/>
                  </a:lnTo>
                  <a:lnTo>
                    <a:pt x="633" y="201"/>
                  </a:lnTo>
                  <a:lnTo>
                    <a:pt x="644" y="232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9"/>
                  </a:lnTo>
                  <a:lnTo>
                    <a:pt x="657" y="295"/>
                  </a:lnTo>
                  <a:lnTo>
                    <a:pt x="659" y="312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9" y="346"/>
                  </a:lnTo>
                  <a:lnTo>
                    <a:pt x="657" y="362"/>
                  </a:lnTo>
                  <a:lnTo>
                    <a:pt x="655" y="379"/>
                  </a:lnTo>
                  <a:lnTo>
                    <a:pt x="652" y="396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6"/>
                  </a:lnTo>
                  <a:lnTo>
                    <a:pt x="618" y="486"/>
                  </a:lnTo>
                  <a:lnTo>
                    <a:pt x="602" y="512"/>
                  </a:lnTo>
                  <a:lnTo>
                    <a:pt x="583" y="538"/>
                  </a:lnTo>
                  <a:lnTo>
                    <a:pt x="562" y="561"/>
                  </a:lnTo>
                  <a:lnTo>
                    <a:pt x="539" y="582"/>
                  </a:lnTo>
                  <a:lnTo>
                    <a:pt x="514" y="601"/>
                  </a:lnTo>
                  <a:lnTo>
                    <a:pt x="487" y="617"/>
                  </a:lnTo>
                  <a:lnTo>
                    <a:pt x="457" y="632"/>
                  </a:lnTo>
                  <a:lnTo>
                    <a:pt x="428" y="643"/>
                  </a:lnTo>
                  <a:lnTo>
                    <a:pt x="411" y="647"/>
                  </a:lnTo>
                  <a:lnTo>
                    <a:pt x="395" y="651"/>
                  </a:lnTo>
                  <a:lnTo>
                    <a:pt x="379" y="654"/>
                  </a:lnTo>
                  <a:lnTo>
                    <a:pt x="363" y="656"/>
                  </a:lnTo>
                  <a:lnTo>
                    <a:pt x="347" y="658"/>
                  </a:lnTo>
                  <a:lnTo>
                    <a:pt x="329" y="658"/>
                  </a:lnTo>
                  <a:lnTo>
                    <a:pt x="329" y="658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300" y="39"/>
                  </a:lnTo>
                  <a:lnTo>
                    <a:pt x="272" y="43"/>
                  </a:lnTo>
                  <a:lnTo>
                    <a:pt x="243" y="50"/>
                  </a:lnTo>
                  <a:lnTo>
                    <a:pt x="217" y="61"/>
                  </a:lnTo>
                  <a:lnTo>
                    <a:pt x="191" y="73"/>
                  </a:lnTo>
                  <a:lnTo>
                    <a:pt x="167" y="88"/>
                  </a:lnTo>
                  <a:lnTo>
                    <a:pt x="144" y="104"/>
                  </a:lnTo>
                  <a:lnTo>
                    <a:pt x="124" y="123"/>
                  </a:lnTo>
                  <a:lnTo>
                    <a:pt x="105" y="143"/>
                  </a:lnTo>
                  <a:lnTo>
                    <a:pt x="89" y="166"/>
                  </a:lnTo>
                  <a:lnTo>
                    <a:pt x="74" y="190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1"/>
                  </a:lnTo>
                  <a:lnTo>
                    <a:pt x="41" y="299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41" y="358"/>
                  </a:lnTo>
                  <a:lnTo>
                    <a:pt x="45" y="387"/>
                  </a:lnTo>
                  <a:lnTo>
                    <a:pt x="51" y="416"/>
                  </a:lnTo>
                  <a:lnTo>
                    <a:pt x="61" y="443"/>
                  </a:lnTo>
                  <a:lnTo>
                    <a:pt x="74" y="468"/>
                  </a:lnTo>
                  <a:lnTo>
                    <a:pt x="89" y="491"/>
                  </a:lnTo>
                  <a:lnTo>
                    <a:pt x="105" y="514"/>
                  </a:lnTo>
                  <a:lnTo>
                    <a:pt x="124" y="535"/>
                  </a:lnTo>
                  <a:lnTo>
                    <a:pt x="144" y="554"/>
                  </a:lnTo>
                  <a:lnTo>
                    <a:pt x="167" y="570"/>
                  </a:lnTo>
                  <a:lnTo>
                    <a:pt x="191" y="585"/>
                  </a:lnTo>
                  <a:lnTo>
                    <a:pt x="217" y="597"/>
                  </a:lnTo>
                  <a:lnTo>
                    <a:pt x="243" y="607"/>
                  </a:lnTo>
                  <a:lnTo>
                    <a:pt x="272" y="615"/>
                  </a:lnTo>
                  <a:lnTo>
                    <a:pt x="300" y="619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9" y="619"/>
                  </a:lnTo>
                  <a:lnTo>
                    <a:pt x="389" y="615"/>
                  </a:lnTo>
                  <a:lnTo>
                    <a:pt x="417" y="607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5" y="554"/>
                  </a:lnTo>
                  <a:lnTo>
                    <a:pt x="535" y="535"/>
                  </a:lnTo>
                  <a:lnTo>
                    <a:pt x="554" y="514"/>
                  </a:lnTo>
                  <a:lnTo>
                    <a:pt x="571" y="491"/>
                  </a:lnTo>
                  <a:lnTo>
                    <a:pt x="586" y="468"/>
                  </a:lnTo>
                  <a:lnTo>
                    <a:pt x="598" y="443"/>
                  </a:lnTo>
                  <a:lnTo>
                    <a:pt x="608" y="416"/>
                  </a:lnTo>
                  <a:lnTo>
                    <a:pt x="616" y="387"/>
                  </a:lnTo>
                  <a:lnTo>
                    <a:pt x="620" y="358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9"/>
                  </a:lnTo>
                  <a:lnTo>
                    <a:pt x="616" y="271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90"/>
                  </a:lnTo>
                  <a:lnTo>
                    <a:pt x="571" y="166"/>
                  </a:lnTo>
                  <a:lnTo>
                    <a:pt x="554" y="143"/>
                  </a:lnTo>
                  <a:lnTo>
                    <a:pt x="535" y="123"/>
                  </a:lnTo>
                  <a:lnTo>
                    <a:pt x="515" y="104"/>
                  </a:lnTo>
                  <a:lnTo>
                    <a:pt x="492" y="88"/>
                  </a:lnTo>
                  <a:lnTo>
                    <a:pt x="468" y="73"/>
                  </a:lnTo>
                  <a:lnTo>
                    <a:pt x="442" y="61"/>
                  </a:lnTo>
                  <a:lnTo>
                    <a:pt x="417" y="50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A2F331-F509-4740-9E8C-7DECE5CF8402}"/>
                </a:ext>
              </a:extLst>
            </p:cNvPr>
            <p:cNvSpPr txBox="1"/>
            <p:nvPr/>
          </p:nvSpPr>
          <p:spPr>
            <a:xfrm>
              <a:off x="7211193" y="3504318"/>
              <a:ext cx="7024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r" rtl="1">
                <a:buFont typeface="Wingdings" panose="05000000000000000000" pitchFamily="2" charset="2"/>
                <a:buChar char="ü"/>
              </a:pPr>
              <a:r>
                <a:rPr lang="he-IL" sz="4000" dirty="0"/>
                <a:t> </a:t>
              </a:r>
              <a:endParaRPr lang="en-IL" sz="4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5D50D3-6932-4A7A-BAC2-8FD5F557D326}"/>
              </a:ext>
            </a:extLst>
          </p:cNvPr>
          <p:cNvGrpSpPr/>
          <p:nvPr/>
        </p:nvGrpSpPr>
        <p:grpSpPr>
          <a:xfrm>
            <a:off x="3821391" y="3474307"/>
            <a:ext cx="702436" cy="707886"/>
            <a:chOff x="7211193" y="3504318"/>
            <a:chExt cx="702436" cy="707886"/>
          </a:xfrm>
        </p:grpSpPr>
        <p:sp>
          <p:nvSpPr>
            <p:cNvPr id="22" name="Freeform 83">
              <a:extLst>
                <a:ext uri="{FF2B5EF4-FFF2-40B4-BE49-F238E27FC236}">
                  <a16:creationId xmlns:a16="http://schemas.microsoft.com/office/drawing/2014/main" id="{D60674CD-3B62-469F-BC83-EDF235EF6D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4451" y="3604207"/>
              <a:ext cx="522288" cy="520700"/>
            </a:xfrm>
            <a:custGeom>
              <a:avLst/>
              <a:gdLst>
                <a:gd name="T0" fmla="*/ 313 w 659"/>
                <a:gd name="T1" fmla="*/ 658 h 658"/>
                <a:gd name="T2" fmla="*/ 264 w 659"/>
                <a:gd name="T3" fmla="*/ 651 h 658"/>
                <a:gd name="T4" fmla="*/ 202 w 659"/>
                <a:gd name="T5" fmla="*/ 632 h 658"/>
                <a:gd name="T6" fmla="*/ 121 w 659"/>
                <a:gd name="T7" fmla="*/ 582 h 658"/>
                <a:gd name="T8" fmla="*/ 57 w 659"/>
                <a:gd name="T9" fmla="*/ 512 h 658"/>
                <a:gd name="T10" fmla="*/ 15 w 659"/>
                <a:gd name="T11" fmla="*/ 426 h 658"/>
                <a:gd name="T12" fmla="*/ 4 w 659"/>
                <a:gd name="T13" fmla="*/ 379 h 658"/>
                <a:gd name="T14" fmla="*/ 0 w 659"/>
                <a:gd name="T15" fmla="*/ 328 h 658"/>
                <a:gd name="T16" fmla="*/ 3 w 659"/>
                <a:gd name="T17" fmla="*/ 295 h 658"/>
                <a:gd name="T18" fmla="*/ 11 w 659"/>
                <a:gd name="T19" fmla="*/ 246 h 658"/>
                <a:gd name="T20" fmla="*/ 41 w 659"/>
                <a:gd name="T21" fmla="*/ 172 h 658"/>
                <a:gd name="T22" fmla="*/ 97 w 659"/>
                <a:gd name="T23" fmla="*/ 96 h 658"/>
                <a:gd name="T24" fmla="*/ 174 w 659"/>
                <a:gd name="T25" fmla="*/ 39 h 658"/>
                <a:gd name="T26" fmla="*/ 247 w 659"/>
                <a:gd name="T27" fmla="*/ 10 h 658"/>
                <a:gd name="T28" fmla="*/ 296 w 659"/>
                <a:gd name="T29" fmla="*/ 2 h 658"/>
                <a:gd name="T30" fmla="*/ 329 w 659"/>
                <a:gd name="T31" fmla="*/ 0 h 658"/>
                <a:gd name="T32" fmla="*/ 379 w 659"/>
                <a:gd name="T33" fmla="*/ 3 h 658"/>
                <a:gd name="T34" fmla="*/ 428 w 659"/>
                <a:gd name="T35" fmla="*/ 15 h 658"/>
                <a:gd name="T36" fmla="*/ 514 w 659"/>
                <a:gd name="T37" fmla="*/ 56 h 658"/>
                <a:gd name="T38" fmla="*/ 583 w 659"/>
                <a:gd name="T39" fmla="*/ 120 h 658"/>
                <a:gd name="T40" fmla="*/ 633 w 659"/>
                <a:gd name="T41" fmla="*/ 201 h 658"/>
                <a:gd name="T42" fmla="*/ 652 w 659"/>
                <a:gd name="T43" fmla="*/ 262 h 658"/>
                <a:gd name="T44" fmla="*/ 659 w 659"/>
                <a:gd name="T45" fmla="*/ 312 h 658"/>
                <a:gd name="T46" fmla="*/ 659 w 659"/>
                <a:gd name="T47" fmla="*/ 346 h 658"/>
                <a:gd name="T48" fmla="*/ 652 w 659"/>
                <a:gd name="T49" fmla="*/ 396 h 658"/>
                <a:gd name="T50" fmla="*/ 633 w 659"/>
                <a:gd name="T51" fmla="*/ 456 h 658"/>
                <a:gd name="T52" fmla="*/ 583 w 659"/>
                <a:gd name="T53" fmla="*/ 538 h 658"/>
                <a:gd name="T54" fmla="*/ 514 w 659"/>
                <a:gd name="T55" fmla="*/ 601 h 658"/>
                <a:gd name="T56" fmla="*/ 428 w 659"/>
                <a:gd name="T57" fmla="*/ 643 h 658"/>
                <a:gd name="T58" fmla="*/ 379 w 659"/>
                <a:gd name="T59" fmla="*/ 654 h 658"/>
                <a:gd name="T60" fmla="*/ 329 w 659"/>
                <a:gd name="T61" fmla="*/ 658 h 658"/>
                <a:gd name="T62" fmla="*/ 329 w 659"/>
                <a:gd name="T63" fmla="*/ 38 h 658"/>
                <a:gd name="T64" fmla="*/ 243 w 659"/>
                <a:gd name="T65" fmla="*/ 50 h 658"/>
                <a:gd name="T66" fmla="*/ 167 w 659"/>
                <a:gd name="T67" fmla="*/ 88 h 658"/>
                <a:gd name="T68" fmla="*/ 105 w 659"/>
                <a:gd name="T69" fmla="*/ 143 h 658"/>
                <a:gd name="T70" fmla="*/ 61 w 659"/>
                <a:gd name="T71" fmla="*/ 215 h 658"/>
                <a:gd name="T72" fmla="*/ 41 w 659"/>
                <a:gd name="T73" fmla="*/ 299 h 658"/>
                <a:gd name="T74" fmla="*/ 41 w 659"/>
                <a:gd name="T75" fmla="*/ 358 h 658"/>
                <a:gd name="T76" fmla="*/ 61 w 659"/>
                <a:gd name="T77" fmla="*/ 443 h 658"/>
                <a:gd name="T78" fmla="*/ 105 w 659"/>
                <a:gd name="T79" fmla="*/ 514 h 658"/>
                <a:gd name="T80" fmla="*/ 167 w 659"/>
                <a:gd name="T81" fmla="*/ 570 h 658"/>
                <a:gd name="T82" fmla="*/ 243 w 659"/>
                <a:gd name="T83" fmla="*/ 607 h 658"/>
                <a:gd name="T84" fmla="*/ 329 w 659"/>
                <a:gd name="T85" fmla="*/ 620 h 658"/>
                <a:gd name="T86" fmla="*/ 389 w 659"/>
                <a:gd name="T87" fmla="*/ 615 h 658"/>
                <a:gd name="T88" fmla="*/ 468 w 659"/>
                <a:gd name="T89" fmla="*/ 585 h 658"/>
                <a:gd name="T90" fmla="*/ 535 w 659"/>
                <a:gd name="T91" fmla="*/ 535 h 658"/>
                <a:gd name="T92" fmla="*/ 586 w 659"/>
                <a:gd name="T93" fmla="*/ 468 h 658"/>
                <a:gd name="T94" fmla="*/ 616 w 659"/>
                <a:gd name="T95" fmla="*/ 387 h 658"/>
                <a:gd name="T96" fmla="*/ 621 w 659"/>
                <a:gd name="T97" fmla="*/ 328 h 658"/>
                <a:gd name="T98" fmla="*/ 608 w 659"/>
                <a:gd name="T99" fmla="*/ 242 h 658"/>
                <a:gd name="T100" fmla="*/ 571 w 659"/>
                <a:gd name="T101" fmla="*/ 166 h 658"/>
                <a:gd name="T102" fmla="*/ 515 w 659"/>
                <a:gd name="T103" fmla="*/ 104 h 658"/>
                <a:gd name="T104" fmla="*/ 442 w 659"/>
                <a:gd name="T105" fmla="*/ 61 h 658"/>
                <a:gd name="T106" fmla="*/ 359 w 659"/>
                <a:gd name="T107" fmla="*/ 3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29" y="658"/>
                  </a:moveTo>
                  <a:lnTo>
                    <a:pt x="329" y="658"/>
                  </a:lnTo>
                  <a:lnTo>
                    <a:pt x="313" y="658"/>
                  </a:lnTo>
                  <a:lnTo>
                    <a:pt x="296" y="656"/>
                  </a:lnTo>
                  <a:lnTo>
                    <a:pt x="280" y="654"/>
                  </a:lnTo>
                  <a:lnTo>
                    <a:pt x="264" y="651"/>
                  </a:lnTo>
                  <a:lnTo>
                    <a:pt x="247" y="647"/>
                  </a:lnTo>
                  <a:lnTo>
                    <a:pt x="231" y="643"/>
                  </a:lnTo>
                  <a:lnTo>
                    <a:pt x="202" y="632"/>
                  </a:lnTo>
                  <a:lnTo>
                    <a:pt x="174" y="617"/>
                  </a:lnTo>
                  <a:lnTo>
                    <a:pt x="145" y="601"/>
                  </a:lnTo>
                  <a:lnTo>
                    <a:pt x="121" y="582"/>
                  </a:lnTo>
                  <a:lnTo>
                    <a:pt x="97" y="561"/>
                  </a:lnTo>
                  <a:lnTo>
                    <a:pt x="75" y="538"/>
                  </a:lnTo>
                  <a:lnTo>
                    <a:pt x="57" y="512"/>
                  </a:lnTo>
                  <a:lnTo>
                    <a:pt x="41" y="486"/>
                  </a:lnTo>
                  <a:lnTo>
                    <a:pt x="27" y="456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6"/>
                  </a:lnTo>
                  <a:lnTo>
                    <a:pt x="4" y="379"/>
                  </a:lnTo>
                  <a:lnTo>
                    <a:pt x="3" y="362"/>
                  </a:lnTo>
                  <a:lnTo>
                    <a:pt x="2" y="346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2"/>
                  </a:lnTo>
                  <a:lnTo>
                    <a:pt x="3" y="295"/>
                  </a:lnTo>
                  <a:lnTo>
                    <a:pt x="4" y="279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2"/>
                  </a:lnTo>
                  <a:lnTo>
                    <a:pt x="27" y="201"/>
                  </a:lnTo>
                  <a:lnTo>
                    <a:pt x="41" y="172"/>
                  </a:lnTo>
                  <a:lnTo>
                    <a:pt x="57" y="146"/>
                  </a:lnTo>
                  <a:lnTo>
                    <a:pt x="75" y="120"/>
                  </a:lnTo>
                  <a:lnTo>
                    <a:pt x="97" y="96"/>
                  </a:lnTo>
                  <a:lnTo>
                    <a:pt x="121" y="74"/>
                  </a:lnTo>
                  <a:lnTo>
                    <a:pt x="145" y="56"/>
                  </a:lnTo>
                  <a:lnTo>
                    <a:pt x="174" y="39"/>
                  </a:lnTo>
                  <a:lnTo>
                    <a:pt x="202" y="26"/>
                  </a:lnTo>
                  <a:lnTo>
                    <a:pt x="231" y="15"/>
                  </a:lnTo>
                  <a:lnTo>
                    <a:pt x="247" y="10"/>
                  </a:lnTo>
                  <a:lnTo>
                    <a:pt x="264" y="7"/>
                  </a:lnTo>
                  <a:lnTo>
                    <a:pt x="280" y="3"/>
                  </a:lnTo>
                  <a:lnTo>
                    <a:pt x="296" y="2"/>
                  </a:lnTo>
                  <a:lnTo>
                    <a:pt x="313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7" y="0"/>
                  </a:lnTo>
                  <a:lnTo>
                    <a:pt x="363" y="2"/>
                  </a:lnTo>
                  <a:lnTo>
                    <a:pt x="379" y="3"/>
                  </a:lnTo>
                  <a:lnTo>
                    <a:pt x="395" y="7"/>
                  </a:lnTo>
                  <a:lnTo>
                    <a:pt x="411" y="10"/>
                  </a:lnTo>
                  <a:lnTo>
                    <a:pt x="428" y="15"/>
                  </a:lnTo>
                  <a:lnTo>
                    <a:pt x="457" y="26"/>
                  </a:lnTo>
                  <a:lnTo>
                    <a:pt x="487" y="39"/>
                  </a:lnTo>
                  <a:lnTo>
                    <a:pt x="514" y="56"/>
                  </a:lnTo>
                  <a:lnTo>
                    <a:pt x="539" y="74"/>
                  </a:lnTo>
                  <a:lnTo>
                    <a:pt x="562" y="96"/>
                  </a:lnTo>
                  <a:lnTo>
                    <a:pt x="583" y="120"/>
                  </a:lnTo>
                  <a:lnTo>
                    <a:pt x="602" y="146"/>
                  </a:lnTo>
                  <a:lnTo>
                    <a:pt x="618" y="172"/>
                  </a:lnTo>
                  <a:lnTo>
                    <a:pt x="633" y="201"/>
                  </a:lnTo>
                  <a:lnTo>
                    <a:pt x="644" y="232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9"/>
                  </a:lnTo>
                  <a:lnTo>
                    <a:pt x="657" y="295"/>
                  </a:lnTo>
                  <a:lnTo>
                    <a:pt x="659" y="312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9" y="346"/>
                  </a:lnTo>
                  <a:lnTo>
                    <a:pt x="657" y="362"/>
                  </a:lnTo>
                  <a:lnTo>
                    <a:pt x="655" y="379"/>
                  </a:lnTo>
                  <a:lnTo>
                    <a:pt x="652" y="396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6"/>
                  </a:lnTo>
                  <a:lnTo>
                    <a:pt x="618" y="486"/>
                  </a:lnTo>
                  <a:lnTo>
                    <a:pt x="602" y="512"/>
                  </a:lnTo>
                  <a:lnTo>
                    <a:pt x="583" y="538"/>
                  </a:lnTo>
                  <a:lnTo>
                    <a:pt x="562" y="561"/>
                  </a:lnTo>
                  <a:lnTo>
                    <a:pt x="539" y="582"/>
                  </a:lnTo>
                  <a:lnTo>
                    <a:pt x="514" y="601"/>
                  </a:lnTo>
                  <a:lnTo>
                    <a:pt x="487" y="617"/>
                  </a:lnTo>
                  <a:lnTo>
                    <a:pt x="457" y="632"/>
                  </a:lnTo>
                  <a:lnTo>
                    <a:pt x="428" y="643"/>
                  </a:lnTo>
                  <a:lnTo>
                    <a:pt x="411" y="647"/>
                  </a:lnTo>
                  <a:lnTo>
                    <a:pt x="395" y="651"/>
                  </a:lnTo>
                  <a:lnTo>
                    <a:pt x="379" y="654"/>
                  </a:lnTo>
                  <a:lnTo>
                    <a:pt x="363" y="656"/>
                  </a:lnTo>
                  <a:lnTo>
                    <a:pt x="347" y="658"/>
                  </a:lnTo>
                  <a:lnTo>
                    <a:pt x="329" y="658"/>
                  </a:lnTo>
                  <a:lnTo>
                    <a:pt x="329" y="658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300" y="39"/>
                  </a:lnTo>
                  <a:lnTo>
                    <a:pt x="272" y="43"/>
                  </a:lnTo>
                  <a:lnTo>
                    <a:pt x="243" y="50"/>
                  </a:lnTo>
                  <a:lnTo>
                    <a:pt x="217" y="61"/>
                  </a:lnTo>
                  <a:lnTo>
                    <a:pt x="191" y="73"/>
                  </a:lnTo>
                  <a:lnTo>
                    <a:pt x="167" y="88"/>
                  </a:lnTo>
                  <a:lnTo>
                    <a:pt x="144" y="104"/>
                  </a:lnTo>
                  <a:lnTo>
                    <a:pt x="124" y="123"/>
                  </a:lnTo>
                  <a:lnTo>
                    <a:pt x="105" y="143"/>
                  </a:lnTo>
                  <a:lnTo>
                    <a:pt x="89" y="166"/>
                  </a:lnTo>
                  <a:lnTo>
                    <a:pt x="74" y="190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1"/>
                  </a:lnTo>
                  <a:lnTo>
                    <a:pt x="41" y="299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41" y="358"/>
                  </a:lnTo>
                  <a:lnTo>
                    <a:pt x="45" y="387"/>
                  </a:lnTo>
                  <a:lnTo>
                    <a:pt x="51" y="416"/>
                  </a:lnTo>
                  <a:lnTo>
                    <a:pt x="61" y="443"/>
                  </a:lnTo>
                  <a:lnTo>
                    <a:pt x="74" y="468"/>
                  </a:lnTo>
                  <a:lnTo>
                    <a:pt x="89" y="491"/>
                  </a:lnTo>
                  <a:lnTo>
                    <a:pt x="105" y="514"/>
                  </a:lnTo>
                  <a:lnTo>
                    <a:pt x="124" y="535"/>
                  </a:lnTo>
                  <a:lnTo>
                    <a:pt x="144" y="554"/>
                  </a:lnTo>
                  <a:lnTo>
                    <a:pt x="167" y="570"/>
                  </a:lnTo>
                  <a:lnTo>
                    <a:pt x="191" y="585"/>
                  </a:lnTo>
                  <a:lnTo>
                    <a:pt x="217" y="597"/>
                  </a:lnTo>
                  <a:lnTo>
                    <a:pt x="243" y="607"/>
                  </a:lnTo>
                  <a:lnTo>
                    <a:pt x="272" y="615"/>
                  </a:lnTo>
                  <a:lnTo>
                    <a:pt x="300" y="619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9" y="619"/>
                  </a:lnTo>
                  <a:lnTo>
                    <a:pt x="389" y="615"/>
                  </a:lnTo>
                  <a:lnTo>
                    <a:pt x="417" y="607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5" y="554"/>
                  </a:lnTo>
                  <a:lnTo>
                    <a:pt x="535" y="535"/>
                  </a:lnTo>
                  <a:lnTo>
                    <a:pt x="554" y="514"/>
                  </a:lnTo>
                  <a:lnTo>
                    <a:pt x="571" y="491"/>
                  </a:lnTo>
                  <a:lnTo>
                    <a:pt x="586" y="468"/>
                  </a:lnTo>
                  <a:lnTo>
                    <a:pt x="598" y="443"/>
                  </a:lnTo>
                  <a:lnTo>
                    <a:pt x="608" y="416"/>
                  </a:lnTo>
                  <a:lnTo>
                    <a:pt x="616" y="387"/>
                  </a:lnTo>
                  <a:lnTo>
                    <a:pt x="620" y="358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9"/>
                  </a:lnTo>
                  <a:lnTo>
                    <a:pt x="616" y="271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90"/>
                  </a:lnTo>
                  <a:lnTo>
                    <a:pt x="571" y="166"/>
                  </a:lnTo>
                  <a:lnTo>
                    <a:pt x="554" y="143"/>
                  </a:lnTo>
                  <a:lnTo>
                    <a:pt x="535" y="123"/>
                  </a:lnTo>
                  <a:lnTo>
                    <a:pt x="515" y="104"/>
                  </a:lnTo>
                  <a:lnTo>
                    <a:pt x="492" y="88"/>
                  </a:lnTo>
                  <a:lnTo>
                    <a:pt x="468" y="73"/>
                  </a:lnTo>
                  <a:lnTo>
                    <a:pt x="442" y="61"/>
                  </a:lnTo>
                  <a:lnTo>
                    <a:pt x="417" y="50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B34F94-FA96-40E9-8864-92975D920639}"/>
                </a:ext>
              </a:extLst>
            </p:cNvPr>
            <p:cNvSpPr txBox="1"/>
            <p:nvPr/>
          </p:nvSpPr>
          <p:spPr>
            <a:xfrm>
              <a:off x="7211193" y="3504318"/>
              <a:ext cx="7024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r" rtl="1">
                <a:buFont typeface="Wingdings" panose="05000000000000000000" pitchFamily="2" charset="2"/>
                <a:buChar char="ü"/>
              </a:pPr>
              <a:r>
                <a:rPr lang="he-IL" sz="4000" dirty="0"/>
                <a:t> </a:t>
              </a:r>
              <a:endParaRPr lang="en-IL" sz="4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2D0051-813A-445A-B248-FB63B7B3C300}"/>
              </a:ext>
            </a:extLst>
          </p:cNvPr>
          <p:cNvGrpSpPr/>
          <p:nvPr/>
        </p:nvGrpSpPr>
        <p:grpSpPr>
          <a:xfrm>
            <a:off x="11072355" y="3494627"/>
            <a:ext cx="702436" cy="707886"/>
            <a:chOff x="7211193" y="3504318"/>
            <a:chExt cx="702436" cy="707886"/>
          </a:xfrm>
        </p:grpSpPr>
        <p:sp>
          <p:nvSpPr>
            <p:cNvPr id="25" name="Freeform 83">
              <a:extLst>
                <a:ext uri="{FF2B5EF4-FFF2-40B4-BE49-F238E27FC236}">
                  <a16:creationId xmlns:a16="http://schemas.microsoft.com/office/drawing/2014/main" id="{F346FA34-E61C-4274-97A4-1D9FE55272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4451" y="3604207"/>
              <a:ext cx="522288" cy="520700"/>
            </a:xfrm>
            <a:custGeom>
              <a:avLst/>
              <a:gdLst>
                <a:gd name="T0" fmla="*/ 313 w 659"/>
                <a:gd name="T1" fmla="*/ 658 h 658"/>
                <a:gd name="T2" fmla="*/ 264 w 659"/>
                <a:gd name="T3" fmla="*/ 651 h 658"/>
                <a:gd name="T4" fmla="*/ 202 w 659"/>
                <a:gd name="T5" fmla="*/ 632 h 658"/>
                <a:gd name="T6" fmla="*/ 121 w 659"/>
                <a:gd name="T7" fmla="*/ 582 h 658"/>
                <a:gd name="T8" fmla="*/ 57 w 659"/>
                <a:gd name="T9" fmla="*/ 512 h 658"/>
                <a:gd name="T10" fmla="*/ 15 w 659"/>
                <a:gd name="T11" fmla="*/ 426 h 658"/>
                <a:gd name="T12" fmla="*/ 4 w 659"/>
                <a:gd name="T13" fmla="*/ 379 h 658"/>
                <a:gd name="T14" fmla="*/ 0 w 659"/>
                <a:gd name="T15" fmla="*/ 328 h 658"/>
                <a:gd name="T16" fmla="*/ 3 w 659"/>
                <a:gd name="T17" fmla="*/ 295 h 658"/>
                <a:gd name="T18" fmla="*/ 11 w 659"/>
                <a:gd name="T19" fmla="*/ 246 h 658"/>
                <a:gd name="T20" fmla="*/ 41 w 659"/>
                <a:gd name="T21" fmla="*/ 172 h 658"/>
                <a:gd name="T22" fmla="*/ 97 w 659"/>
                <a:gd name="T23" fmla="*/ 96 h 658"/>
                <a:gd name="T24" fmla="*/ 174 w 659"/>
                <a:gd name="T25" fmla="*/ 39 h 658"/>
                <a:gd name="T26" fmla="*/ 247 w 659"/>
                <a:gd name="T27" fmla="*/ 10 h 658"/>
                <a:gd name="T28" fmla="*/ 296 w 659"/>
                <a:gd name="T29" fmla="*/ 2 h 658"/>
                <a:gd name="T30" fmla="*/ 329 w 659"/>
                <a:gd name="T31" fmla="*/ 0 h 658"/>
                <a:gd name="T32" fmla="*/ 379 w 659"/>
                <a:gd name="T33" fmla="*/ 3 h 658"/>
                <a:gd name="T34" fmla="*/ 428 w 659"/>
                <a:gd name="T35" fmla="*/ 15 h 658"/>
                <a:gd name="T36" fmla="*/ 514 w 659"/>
                <a:gd name="T37" fmla="*/ 56 h 658"/>
                <a:gd name="T38" fmla="*/ 583 w 659"/>
                <a:gd name="T39" fmla="*/ 120 h 658"/>
                <a:gd name="T40" fmla="*/ 633 w 659"/>
                <a:gd name="T41" fmla="*/ 201 h 658"/>
                <a:gd name="T42" fmla="*/ 652 w 659"/>
                <a:gd name="T43" fmla="*/ 262 h 658"/>
                <a:gd name="T44" fmla="*/ 659 w 659"/>
                <a:gd name="T45" fmla="*/ 312 h 658"/>
                <a:gd name="T46" fmla="*/ 659 w 659"/>
                <a:gd name="T47" fmla="*/ 346 h 658"/>
                <a:gd name="T48" fmla="*/ 652 w 659"/>
                <a:gd name="T49" fmla="*/ 396 h 658"/>
                <a:gd name="T50" fmla="*/ 633 w 659"/>
                <a:gd name="T51" fmla="*/ 456 h 658"/>
                <a:gd name="T52" fmla="*/ 583 w 659"/>
                <a:gd name="T53" fmla="*/ 538 h 658"/>
                <a:gd name="T54" fmla="*/ 514 w 659"/>
                <a:gd name="T55" fmla="*/ 601 h 658"/>
                <a:gd name="T56" fmla="*/ 428 w 659"/>
                <a:gd name="T57" fmla="*/ 643 h 658"/>
                <a:gd name="T58" fmla="*/ 379 w 659"/>
                <a:gd name="T59" fmla="*/ 654 h 658"/>
                <a:gd name="T60" fmla="*/ 329 w 659"/>
                <a:gd name="T61" fmla="*/ 658 h 658"/>
                <a:gd name="T62" fmla="*/ 329 w 659"/>
                <a:gd name="T63" fmla="*/ 38 h 658"/>
                <a:gd name="T64" fmla="*/ 243 w 659"/>
                <a:gd name="T65" fmla="*/ 50 h 658"/>
                <a:gd name="T66" fmla="*/ 167 w 659"/>
                <a:gd name="T67" fmla="*/ 88 h 658"/>
                <a:gd name="T68" fmla="*/ 105 w 659"/>
                <a:gd name="T69" fmla="*/ 143 h 658"/>
                <a:gd name="T70" fmla="*/ 61 w 659"/>
                <a:gd name="T71" fmla="*/ 215 h 658"/>
                <a:gd name="T72" fmla="*/ 41 w 659"/>
                <a:gd name="T73" fmla="*/ 299 h 658"/>
                <a:gd name="T74" fmla="*/ 41 w 659"/>
                <a:gd name="T75" fmla="*/ 358 h 658"/>
                <a:gd name="T76" fmla="*/ 61 w 659"/>
                <a:gd name="T77" fmla="*/ 443 h 658"/>
                <a:gd name="T78" fmla="*/ 105 w 659"/>
                <a:gd name="T79" fmla="*/ 514 h 658"/>
                <a:gd name="T80" fmla="*/ 167 w 659"/>
                <a:gd name="T81" fmla="*/ 570 h 658"/>
                <a:gd name="T82" fmla="*/ 243 w 659"/>
                <a:gd name="T83" fmla="*/ 607 h 658"/>
                <a:gd name="T84" fmla="*/ 329 w 659"/>
                <a:gd name="T85" fmla="*/ 620 h 658"/>
                <a:gd name="T86" fmla="*/ 389 w 659"/>
                <a:gd name="T87" fmla="*/ 615 h 658"/>
                <a:gd name="T88" fmla="*/ 468 w 659"/>
                <a:gd name="T89" fmla="*/ 585 h 658"/>
                <a:gd name="T90" fmla="*/ 535 w 659"/>
                <a:gd name="T91" fmla="*/ 535 h 658"/>
                <a:gd name="T92" fmla="*/ 586 w 659"/>
                <a:gd name="T93" fmla="*/ 468 h 658"/>
                <a:gd name="T94" fmla="*/ 616 w 659"/>
                <a:gd name="T95" fmla="*/ 387 h 658"/>
                <a:gd name="T96" fmla="*/ 621 w 659"/>
                <a:gd name="T97" fmla="*/ 328 h 658"/>
                <a:gd name="T98" fmla="*/ 608 w 659"/>
                <a:gd name="T99" fmla="*/ 242 h 658"/>
                <a:gd name="T100" fmla="*/ 571 w 659"/>
                <a:gd name="T101" fmla="*/ 166 h 658"/>
                <a:gd name="T102" fmla="*/ 515 w 659"/>
                <a:gd name="T103" fmla="*/ 104 h 658"/>
                <a:gd name="T104" fmla="*/ 442 w 659"/>
                <a:gd name="T105" fmla="*/ 61 h 658"/>
                <a:gd name="T106" fmla="*/ 359 w 659"/>
                <a:gd name="T107" fmla="*/ 3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29" y="658"/>
                  </a:moveTo>
                  <a:lnTo>
                    <a:pt x="329" y="658"/>
                  </a:lnTo>
                  <a:lnTo>
                    <a:pt x="313" y="658"/>
                  </a:lnTo>
                  <a:lnTo>
                    <a:pt x="296" y="656"/>
                  </a:lnTo>
                  <a:lnTo>
                    <a:pt x="280" y="654"/>
                  </a:lnTo>
                  <a:lnTo>
                    <a:pt x="264" y="651"/>
                  </a:lnTo>
                  <a:lnTo>
                    <a:pt x="247" y="647"/>
                  </a:lnTo>
                  <a:lnTo>
                    <a:pt x="231" y="643"/>
                  </a:lnTo>
                  <a:lnTo>
                    <a:pt x="202" y="632"/>
                  </a:lnTo>
                  <a:lnTo>
                    <a:pt x="174" y="617"/>
                  </a:lnTo>
                  <a:lnTo>
                    <a:pt x="145" y="601"/>
                  </a:lnTo>
                  <a:lnTo>
                    <a:pt x="121" y="582"/>
                  </a:lnTo>
                  <a:lnTo>
                    <a:pt x="97" y="561"/>
                  </a:lnTo>
                  <a:lnTo>
                    <a:pt x="75" y="538"/>
                  </a:lnTo>
                  <a:lnTo>
                    <a:pt x="57" y="512"/>
                  </a:lnTo>
                  <a:lnTo>
                    <a:pt x="41" y="486"/>
                  </a:lnTo>
                  <a:lnTo>
                    <a:pt x="27" y="456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6"/>
                  </a:lnTo>
                  <a:lnTo>
                    <a:pt x="4" y="379"/>
                  </a:lnTo>
                  <a:lnTo>
                    <a:pt x="3" y="362"/>
                  </a:lnTo>
                  <a:lnTo>
                    <a:pt x="2" y="346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2"/>
                  </a:lnTo>
                  <a:lnTo>
                    <a:pt x="3" y="295"/>
                  </a:lnTo>
                  <a:lnTo>
                    <a:pt x="4" y="279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2"/>
                  </a:lnTo>
                  <a:lnTo>
                    <a:pt x="27" y="201"/>
                  </a:lnTo>
                  <a:lnTo>
                    <a:pt x="41" y="172"/>
                  </a:lnTo>
                  <a:lnTo>
                    <a:pt x="57" y="146"/>
                  </a:lnTo>
                  <a:lnTo>
                    <a:pt x="75" y="120"/>
                  </a:lnTo>
                  <a:lnTo>
                    <a:pt x="97" y="96"/>
                  </a:lnTo>
                  <a:lnTo>
                    <a:pt x="121" y="74"/>
                  </a:lnTo>
                  <a:lnTo>
                    <a:pt x="145" y="56"/>
                  </a:lnTo>
                  <a:lnTo>
                    <a:pt x="174" y="39"/>
                  </a:lnTo>
                  <a:lnTo>
                    <a:pt x="202" y="26"/>
                  </a:lnTo>
                  <a:lnTo>
                    <a:pt x="231" y="15"/>
                  </a:lnTo>
                  <a:lnTo>
                    <a:pt x="247" y="10"/>
                  </a:lnTo>
                  <a:lnTo>
                    <a:pt x="264" y="7"/>
                  </a:lnTo>
                  <a:lnTo>
                    <a:pt x="280" y="3"/>
                  </a:lnTo>
                  <a:lnTo>
                    <a:pt x="296" y="2"/>
                  </a:lnTo>
                  <a:lnTo>
                    <a:pt x="313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7" y="0"/>
                  </a:lnTo>
                  <a:lnTo>
                    <a:pt x="363" y="2"/>
                  </a:lnTo>
                  <a:lnTo>
                    <a:pt x="379" y="3"/>
                  </a:lnTo>
                  <a:lnTo>
                    <a:pt x="395" y="7"/>
                  </a:lnTo>
                  <a:lnTo>
                    <a:pt x="411" y="10"/>
                  </a:lnTo>
                  <a:lnTo>
                    <a:pt x="428" y="15"/>
                  </a:lnTo>
                  <a:lnTo>
                    <a:pt x="457" y="26"/>
                  </a:lnTo>
                  <a:lnTo>
                    <a:pt x="487" y="39"/>
                  </a:lnTo>
                  <a:lnTo>
                    <a:pt x="514" y="56"/>
                  </a:lnTo>
                  <a:lnTo>
                    <a:pt x="539" y="74"/>
                  </a:lnTo>
                  <a:lnTo>
                    <a:pt x="562" y="96"/>
                  </a:lnTo>
                  <a:lnTo>
                    <a:pt x="583" y="120"/>
                  </a:lnTo>
                  <a:lnTo>
                    <a:pt x="602" y="146"/>
                  </a:lnTo>
                  <a:lnTo>
                    <a:pt x="618" y="172"/>
                  </a:lnTo>
                  <a:lnTo>
                    <a:pt x="633" y="201"/>
                  </a:lnTo>
                  <a:lnTo>
                    <a:pt x="644" y="232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9"/>
                  </a:lnTo>
                  <a:lnTo>
                    <a:pt x="657" y="295"/>
                  </a:lnTo>
                  <a:lnTo>
                    <a:pt x="659" y="312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9" y="346"/>
                  </a:lnTo>
                  <a:lnTo>
                    <a:pt x="657" y="362"/>
                  </a:lnTo>
                  <a:lnTo>
                    <a:pt x="655" y="379"/>
                  </a:lnTo>
                  <a:lnTo>
                    <a:pt x="652" y="396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6"/>
                  </a:lnTo>
                  <a:lnTo>
                    <a:pt x="618" y="486"/>
                  </a:lnTo>
                  <a:lnTo>
                    <a:pt x="602" y="512"/>
                  </a:lnTo>
                  <a:lnTo>
                    <a:pt x="583" y="538"/>
                  </a:lnTo>
                  <a:lnTo>
                    <a:pt x="562" y="561"/>
                  </a:lnTo>
                  <a:lnTo>
                    <a:pt x="539" y="582"/>
                  </a:lnTo>
                  <a:lnTo>
                    <a:pt x="514" y="601"/>
                  </a:lnTo>
                  <a:lnTo>
                    <a:pt x="487" y="617"/>
                  </a:lnTo>
                  <a:lnTo>
                    <a:pt x="457" y="632"/>
                  </a:lnTo>
                  <a:lnTo>
                    <a:pt x="428" y="643"/>
                  </a:lnTo>
                  <a:lnTo>
                    <a:pt x="411" y="647"/>
                  </a:lnTo>
                  <a:lnTo>
                    <a:pt x="395" y="651"/>
                  </a:lnTo>
                  <a:lnTo>
                    <a:pt x="379" y="654"/>
                  </a:lnTo>
                  <a:lnTo>
                    <a:pt x="363" y="656"/>
                  </a:lnTo>
                  <a:lnTo>
                    <a:pt x="347" y="658"/>
                  </a:lnTo>
                  <a:lnTo>
                    <a:pt x="329" y="658"/>
                  </a:lnTo>
                  <a:lnTo>
                    <a:pt x="329" y="658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300" y="39"/>
                  </a:lnTo>
                  <a:lnTo>
                    <a:pt x="272" y="43"/>
                  </a:lnTo>
                  <a:lnTo>
                    <a:pt x="243" y="50"/>
                  </a:lnTo>
                  <a:lnTo>
                    <a:pt x="217" y="61"/>
                  </a:lnTo>
                  <a:lnTo>
                    <a:pt x="191" y="73"/>
                  </a:lnTo>
                  <a:lnTo>
                    <a:pt x="167" y="88"/>
                  </a:lnTo>
                  <a:lnTo>
                    <a:pt x="144" y="104"/>
                  </a:lnTo>
                  <a:lnTo>
                    <a:pt x="124" y="123"/>
                  </a:lnTo>
                  <a:lnTo>
                    <a:pt x="105" y="143"/>
                  </a:lnTo>
                  <a:lnTo>
                    <a:pt x="89" y="166"/>
                  </a:lnTo>
                  <a:lnTo>
                    <a:pt x="74" y="190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1"/>
                  </a:lnTo>
                  <a:lnTo>
                    <a:pt x="41" y="299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41" y="358"/>
                  </a:lnTo>
                  <a:lnTo>
                    <a:pt x="45" y="387"/>
                  </a:lnTo>
                  <a:lnTo>
                    <a:pt x="51" y="416"/>
                  </a:lnTo>
                  <a:lnTo>
                    <a:pt x="61" y="443"/>
                  </a:lnTo>
                  <a:lnTo>
                    <a:pt x="74" y="468"/>
                  </a:lnTo>
                  <a:lnTo>
                    <a:pt x="89" y="491"/>
                  </a:lnTo>
                  <a:lnTo>
                    <a:pt x="105" y="514"/>
                  </a:lnTo>
                  <a:lnTo>
                    <a:pt x="124" y="535"/>
                  </a:lnTo>
                  <a:lnTo>
                    <a:pt x="144" y="554"/>
                  </a:lnTo>
                  <a:lnTo>
                    <a:pt x="167" y="570"/>
                  </a:lnTo>
                  <a:lnTo>
                    <a:pt x="191" y="585"/>
                  </a:lnTo>
                  <a:lnTo>
                    <a:pt x="217" y="597"/>
                  </a:lnTo>
                  <a:lnTo>
                    <a:pt x="243" y="607"/>
                  </a:lnTo>
                  <a:lnTo>
                    <a:pt x="272" y="615"/>
                  </a:lnTo>
                  <a:lnTo>
                    <a:pt x="300" y="619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9" y="619"/>
                  </a:lnTo>
                  <a:lnTo>
                    <a:pt x="389" y="615"/>
                  </a:lnTo>
                  <a:lnTo>
                    <a:pt x="417" y="607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5" y="554"/>
                  </a:lnTo>
                  <a:lnTo>
                    <a:pt x="535" y="535"/>
                  </a:lnTo>
                  <a:lnTo>
                    <a:pt x="554" y="514"/>
                  </a:lnTo>
                  <a:lnTo>
                    <a:pt x="571" y="491"/>
                  </a:lnTo>
                  <a:lnTo>
                    <a:pt x="586" y="468"/>
                  </a:lnTo>
                  <a:lnTo>
                    <a:pt x="598" y="443"/>
                  </a:lnTo>
                  <a:lnTo>
                    <a:pt x="608" y="416"/>
                  </a:lnTo>
                  <a:lnTo>
                    <a:pt x="616" y="387"/>
                  </a:lnTo>
                  <a:lnTo>
                    <a:pt x="620" y="358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9"/>
                  </a:lnTo>
                  <a:lnTo>
                    <a:pt x="616" y="271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90"/>
                  </a:lnTo>
                  <a:lnTo>
                    <a:pt x="571" y="166"/>
                  </a:lnTo>
                  <a:lnTo>
                    <a:pt x="554" y="143"/>
                  </a:lnTo>
                  <a:lnTo>
                    <a:pt x="535" y="123"/>
                  </a:lnTo>
                  <a:lnTo>
                    <a:pt x="515" y="104"/>
                  </a:lnTo>
                  <a:lnTo>
                    <a:pt x="492" y="88"/>
                  </a:lnTo>
                  <a:lnTo>
                    <a:pt x="468" y="73"/>
                  </a:lnTo>
                  <a:lnTo>
                    <a:pt x="442" y="61"/>
                  </a:lnTo>
                  <a:lnTo>
                    <a:pt x="417" y="50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628712-FBBA-4A43-98CE-EA57F19B810C}"/>
                </a:ext>
              </a:extLst>
            </p:cNvPr>
            <p:cNvSpPr txBox="1"/>
            <p:nvPr/>
          </p:nvSpPr>
          <p:spPr>
            <a:xfrm>
              <a:off x="7211193" y="3504318"/>
              <a:ext cx="70243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r" rtl="1">
                <a:buFont typeface="Wingdings" panose="05000000000000000000" pitchFamily="2" charset="2"/>
                <a:buChar char="ü"/>
              </a:pPr>
              <a:r>
                <a:rPr lang="he-IL" sz="4000" dirty="0"/>
                <a:t> </a:t>
              </a:r>
              <a:endParaRPr lang="en-IL" sz="4000" dirty="0"/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A46DFF6E-D326-4C1A-8186-C175F9D0A2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918"/>
          <a:stretch/>
        </p:blipFill>
        <p:spPr>
          <a:xfrm>
            <a:off x="11080070" y="294634"/>
            <a:ext cx="894058" cy="8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00538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9">
            <a:extLst>
              <a:ext uri="{FF2B5EF4-FFF2-40B4-BE49-F238E27FC236}">
                <a16:creationId xmlns:a16="http://schemas.microsoft.com/office/drawing/2014/main" id="{B0732936-C6AD-43F2-ABB3-B76CD8C8862E}"/>
              </a:ext>
            </a:extLst>
          </p:cNvPr>
          <p:cNvSpPr/>
          <p:nvPr/>
        </p:nvSpPr>
        <p:spPr>
          <a:xfrm>
            <a:off x="4993263" y="837342"/>
            <a:ext cx="5928737" cy="40075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האדם במרכז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13E8933-49CF-4E95-BB27-9E4B9D48FA8F}"/>
              </a:ext>
            </a:extLst>
          </p:cNvPr>
          <p:cNvSpPr/>
          <p:nvPr/>
        </p:nvSpPr>
        <p:spPr>
          <a:xfrm>
            <a:off x="-1903834" y="7423746"/>
            <a:ext cx="10668000" cy="14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28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תפיסה הוליסטית של האדם </a:t>
            </a:r>
            <a:r>
              <a:rPr lang="he-IL" sz="280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המשתמשת בדאטה </a:t>
            </a:r>
            <a:r>
              <a:rPr lang="he-IL" sz="2800" b="1" dirty="0" err="1"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ודיגיטל</a:t>
            </a:r>
            <a:r>
              <a:rPr lang="he-IL" sz="2800" b="1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r>
              <a:rPr lang="he-IL" sz="28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לשינוי והתאמת </a:t>
            </a:r>
            <a:br>
              <a:rPr lang="en-US" sz="28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</a:br>
            <a:r>
              <a:rPr lang="he-IL" sz="28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המערכת, השירותים, התהליכים והמידע לצרכי האדם הוותיק ומשפחתו (ולא להפך)</a:t>
            </a:r>
            <a:endParaRPr kumimoji="0" lang="he-IL" sz="2800" b="0" i="0" u="none" strike="noStrike" kern="1200" cap="none" spc="0" normalizeH="0" baseline="0" noProof="0" dirty="0">
              <a:ln>
                <a:noFill/>
              </a:ln>
              <a:effectLst/>
              <a:highlight>
                <a:srgbClr val="FFFF00"/>
              </a:highlight>
              <a:uLnTx/>
              <a:uFillTx/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FC0C1EF-F2F9-41AC-8416-89F7FAB4F7FF}"/>
              </a:ext>
            </a:extLst>
          </p:cNvPr>
          <p:cNvSpPr/>
          <p:nvPr/>
        </p:nvSpPr>
        <p:spPr>
          <a:xfrm>
            <a:off x="-3114419" y="3027795"/>
            <a:ext cx="11072050" cy="29928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lnSpc>
                <a:spcPct val="150000"/>
              </a:lnSpc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שלושה ערוצי פיתוח מרכזיים: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  <a:p>
            <a:pPr marL="514350" indent="-514350" algn="r" rtl="1">
              <a:lnSpc>
                <a:spcPct val="150000"/>
              </a:lnSpc>
              <a:buFont typeface="+mj-lt"/>
              <a:buAutoNum type="alphaUcPeriod"/>
              <a:defRPr/>
            </a:pPr>
            <a:r>
              <a:rPr kumimoji="0" lang="he-IL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הרחבה ו</a:t>
            </a: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מיקוד סל שירותים לטובת עצמאות ותפקוד</a:t>
            </a:r>
          </a:p>
          <a:p>
            <a:pPr marL="514350" marR="0" lvl="0" indent="-51435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הנגשת כלים ומידע </a:t>
            </a:r>
            <a:r>
              <a:rPr kumimoji="0" lang="he-IL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מסייע לאזרח</a:t>
            </a:r>
          </a:p>
          <a:p>
            <a:pPr marL="514350" marR="0" lvl="0" indent="-51435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he-IL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תמרוץ</a:t>
            </a: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 השוק לפיתוח </a:t>
            </a:r>
            <a:r>
              <a:rPr kumimoji="0" lang="he-IL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Quattrocento" pitchFamily="34" charset="-122"/>
                <a:cs typeface="Assistant" pitchFamily="2" charset="-79"/>
              </a:rPr>
              <a:t>כלים דיגיטליים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643D761-3411-476E-AA3F-7D7711336CD2}"/>
              </a:ext>
            </a:extLst>
          </p:cNvPr>
          <p:cNvSpPr/>
          <p:nvPr/>
        </p:nvSpPr>
        <p:spPr>
          <a:xfrm>
            <a:off x="1666240" y="3170203"/>
            <a:ext cx="5928737" cy="40075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r" defTabSz="914400" rtl="1" eaLnBrk="1" fontAlgn="auto" latinLnBrk="0" hangingPunct="1">
              <a:lnSpc>
                <a:spcPts val="23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CEFD9A-0481-4BF8-BF4D-9966B645D9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918"/>
          <a:stretch/>
        </p:blipFill>
        <p:spPr>
          <a:xfrm>
            <a:off x="8614547" y="3662898"/>
            <a:ext cx="2005425" cy="2007472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82D8ED1-CF6C-A0DD-715A-83C0C14CDAFE}"/>
              </a:ext>
            </a:extLst>
          </p:cNvPr>
          <p:cNvSpPr txBox="1"/>
          <p:nvPr/>
        </p:nvSpPr>
        <p:spPr>
          <a:xfrm>
            <a:off x="4844374" y="1416827"/>
            <a:ext cx="57755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2800" dirty="0"/>
              <a:t>תפיסה הוליסטית מבוססת דאטה לטובת </a:t>
            </a:r>
            <a:r>
              <a:rPr lang="he-IL" sz="2800" b="1" dirty="0"/>
              <a:t>התאמת המערכת לצרכי האדם </a:t>
            </a:r>
            <a:r>
              <a:rPr lang="he-IL" sz="2800" dirty="0"/>
              <a:t>(ולא להפך)</a:t>
            </a:r>
          </a:p>
        </p:txBody>
      </p:sp>
    </p:spTree>
    <p:extLst>
      <p:ext uri="{BB962C8B-B14F-4D97-AF65-F5344CB8AC3E}">
        <p14:creationId xmlns:p14="http://schemas.microsoft.com/office/powerpoint/2010/main" val="460902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E73997-6574-49DE-B59B-4663D0FDC09C}"/>
              </a:ext>
            </a:extLst>
          </p:cNvPr>
          <p:cNvSpPr txBox="1"/>
          <p:nvPr/>
        </p:nvSpPr>
        <p:spPr>
          <a:xfrm>
            <a:off x="1478050" y="2702162"/>
            <a:ext cx="58435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b="1" i="0" u="none" strike="noStrike" baseline="0" dirty="0">
                <a:latin typeface="Calibri-Bold"/>
                <a:cs typeface="Assistant" pitchFamily="2" charset="-79"/>
              </a:rPr>
              <a:t>התאמה אישית </a:t>
            </a:r>
            <a:r>
              <a:rPr lang="he-IL" sz="1800" b="0" i="0" u="none" strike="noStrike" baseline="0" dirty="0">
                <a:latin typeface="Assistant" pitchFamily="2" charset="-79"/>
                <a:cs typeface="Assistant" pitchFamily="2" charset="-79"/>
              </a:rPr>
              <a:t>–בחירת שירות בהתבסס על צרכים </a:t>
            </a:r>
            <a:br>
              <a:rPr lang="en-US" sz="1800" b="0" i="0" u="none" strike="noStrike" baseline="0" dirty="0">
                <a:latin typeface="Assistant" pitchFamily="2" charset="-79"/>
                <a:cs typeface="Assistant" pitchFamily="2" charset="-79"/>
              </a:rPr>
            </a:br>
            <a:r>
              <a:rPr lang="he-IL" sz="1800" b="0" i="0" u="none" strike="noStrike" baseline="0" dirty="0">
                <a:latin typeface="Assistant" pitchFamily="2" charset="-79"/>
                <a:cs typeface="Assistant" pitchFamily="2" charset="-79"/>
              </a:rPr>
              <a:t>של משתמשים, כולל התאמה וייעוץ מקצועי</a:t>
            </a:r>
          </a:p>
          <a:p>
            <a:pPr algn="r" rtl="1"/>
            <a:endParaRPr lang="he-IL" sz="1800" b="1" i="0" u="none" strike="noStrike" baseline="0" dirty="0">
              <a:latin typeface="Calibri-Bold"/>
              <a:cs typeface="Assistant" pitchFamily="2" charset="-79"/>
            </a:endParaRPr>
          </a:p>
          <a:p>
            <a:pPr algn="r" rtl="1"/>
            <a:r>
              <a:rPr lang="he-IL" b="1" dirty="0">
                <a:latin typeface="Calibri-Bold"/>
                <a:cs typeface="Assistant" pitchFamily="2" charset="-79"/>
              </a:rPr>
              <a:t>חווית ובחירת הלקוח באמצעות דיגיטציה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– שירות דיגיטלי ואנושי משולב לייעול תהליך ההתאמה והרכש (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ארנק דיגיטלי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)</a:t>
            </a:r>
          </a:p>
          <a:p>
            <a:pPr algn="r" rtl="1"/>
            <a:endParaRPr lang="he-IL" sz="1800" b="1" i="0" u="none" strike="noStrike" baseline="0" dirty="0">
              <a:latin typeface="Calibri-Bold"/>
              <a:cs typeface="Assistant" pitchFamily="2" charset="-79"/>
            </a:endParaRPr>
          </a:p>
          <a:p>
            <a:pPr algn="r" rtl="1"/>
            <a:r>
              <a:rPr lang="he-IL" sz="1800" b="1" i="0" u="none" strike="noStrike" baseline="0" dirty="0">
                <a:latin typeface="Calibri-Bold"/>
                <a:cs typeface="Assistant" pitchFamily="2" charset="-79"/>
              </a:rPr>
              <a:t>פתיחת השוק והתחרות </a:t>
            </a:r>
            <a:r>
              <a:rPr lang="he-IL" sz="1800" b="0" i="0" u="none" strike="noStrike" baseline="0" dirty="0">
                <a:latin typeface="Assistant" pitchFamily="2" charset="-79"/>
                <a:cs typeface="Assistant" pitchFamily="2" charset="-79"/>
              </a:rPr>
              <a:t>– היצע רחב היקף של שירותים ממשלתיים ו"עסקיים"</a:t>
            </a:r>
          </a:p>
          <a:p>
            <a:pPr algn="r" rtl="1"/>
            <a:endParaRPr lang="en-IL" sz="1800" b="0" i="0" u="none" strike="noStrike" baseline="0" dirty="0">
              <a:latin typeface="ArialMT"/>
              <a:cs typeface="Assistant" pitchFamily="2" charset="-79"/>
            </a:endParaRPr>
          </a:p>
          <a:p>
            <a:pPr algn="r" rtl="1"/>
            <a:r>
              <a:rPr lang="he-IL" sz="1800" b="1" i="0" u="none" strike="noStrike" baseline="0" dirty="0">
                <a:latin typeface="Calibri-Bold"/>
                <a:cs typeface="Assistant" pitchFamily="2" charset="-79"/>
              </a:rPr>
              <a:t>הצפת הערך למגוון רחב של משתמשים </a:t>
            </a:r>
            <a:r>
              <a:rPr lang="he-IL" sz="1800" b="0" i="0" u="none" strike="noStrike" baseline="0" dirty="0">
                <a:latin typeface="Assistant" pitchFamily="2" charset="-79"/>
                <a:cs typeface="Assistant" pitchFamily="2" charset="-79"/>
              </a:rPr>
              <a:t>– הרחבת הרלוונטיות של השירותים למספר גדול יותר של משתמשים 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318F1-8DBF-4E4C-81B5-5A9847B49581}"/>
              </a:ext>
            </a:extLst>
          </p:cNvPr>
          <p:cNvSpPr txBox="1"/>
          <p:nvPr/>
        </p:nvSpPr>
        <p:spPr>
          <a:xfrm>
            <a:off x="6349013" y="288622"/>
            <a:ext cx="48638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האדם במרכז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A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)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</a:br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סל שירותים מותאם אישית </a:t>
            </a:r>
            <a:r>
              <a:rPr lang="en-US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AI</a:t>
            </a:r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:</a:t>
            </a:r>
            <a:endParaRPr lang="en-IL" sz="32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EAA74-2138-409F-A65D-3533E030ED5F}"/>
              </a:ext>
            </a:extLst>
          </p:cNvPr>
          <p:cNvSpPr txBox="1"/>
          <p:nvPr/>
        </p:nvSpPr>
        <p:spPr>
          <a:xfrm>
            <a:off x="6255247" y="2291885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u="sng" dirty="0">
                <a:latin typeface="Assistant" pitchFamily="2" charset="-79"/>
                <a:cs typeface="Assistant" pitchFamily="2" charset="-79"/>
              </a:rPr>
              <a:t>באמצעות</a:t>
            </a:r>
            <a:endParaRPr lang="en-IL" b="1" u="sng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2399C-2FC9-4033-8BF8-47454D304F4E}"/>
              </a:ext>
            </a:extLst>
          </p:cNvPr>
          <p:cNvSpPr txBox="1"/>
          <p:nvPr/>
        </p:nvSpPr>
        <p:spPr>
          <a:xfrm>
            <a:off x="5977116" y="1065806"/>
            <a:ext cx="5235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>
                <a:latin typeface="Assistant" pitchFamily="2" charset="-79"/>
                <a:cs typeface="Assistant" pitchFamily="2" charset="-79"/>
              </a:rPr>
              <a:t>התאמת שירותים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ותוכן לאזרח הוותיק באמצעות גמלת סיעוד</a:t>
            </a:r>
          </a:p>
          <a:p>
            <a:pPr algn="r" rtl="1"/>
            <a:r>
              <a:rPr lang="he-IL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במטרה לקדם הזדקנות מיטבית ומניעת הדרדרות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931C870-1520-4714-93CE-556578F460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918"/>
          <a:stretch/>
        </p:blipFill>
        <p:spPr>
          <a:xfrm>
            <a:off x="11212845" y="536003"/>
            <a:ext cx="823170" cy="8240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461B5B5-4817-47F3-858D-D066FF5758E0}"/>
              </a:ext>
            </a:extLst>
          </p:cNvPr>
          <p:cNvSpPr txBox="1"/>
          <p:nvPr/>
        </p:nvSpPr>
        <p:spPr>
          <a:xfrm>
            <a:off x="8173052" y="3225787"/>
            <a:ext cx="38713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סל תפקוד אישי </a:t>
            </a:r>
          </a:p>
          <a:p>
            <a:pPr algn="ctr" rtl="1"/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למניעת התדרדרות </a:t>
            </a:r>
            <a:b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ודחיקת תלות</a:t>
            </a:r>
            <a:b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של האזרחים הוותיקים</a:t>
            </a:r>
            <a:endParaRPr lang="en-IL" sz="2400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0235D9D-852B-4BCA-A0E1-12338D972B33}"/>
              </a:ext>
            </a:extLst>
          </p:cNvPr>
          <p:cNvGrpSpPr>
            <a:grpSpLocks noChangeAspect="1"/>
          </p:cNvGrpSpPr>
          <p:nvPr/>
        </p:nvGrpSpPr>
        <p:grpSpPr>
          <a:xfrm>
            <a:off x="9778278" y="2604268"/>
            <a:ext cx="660872" cy="612000"/>
            <a:chOff x="11115676" y="4182110"/>
            <a:chExt cx="522288" cy="523875"/>
          </a:xfrm>
          <a:solidFill>
            <a:schemeClr val="tx1"/>
          </a:solidFill>
        </p:grpSpPr>
        <p:sp>
          <p:nvSpPr>
            <p:cNvPr id="22" name="Freeform 45">
              <a:extLst>
                <a:ext uri="{FF2B5EF4-FFF2-40B4-BE49-F238E27FC236}">
                  <a16:creationId xmlns:a16="http://schemas.microsoft.com/office/drawing/2014/main" id="{5DB4660E-6DCD-4373-BAA5-B2099EE905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5676" y="4182110"/>
              <a:ext cx="522288" cy="523875"/>
            </a:xfrm>
            <a:custGeom>
              <a:avLst/>
              <a:gdLst>
                <a:gd name="T0" fmla="*/ 312 w 659"/>
                <a:gd name="T1" fmla="*/ 657 h 658"/>
                <a:gd name="T2" fmla="*/ 263 w 659"/>
                <a:gd name="T3" fmla="*/ 651 h 658"/>
                <a:gd name="T4" fmla="*/ 202 w 659"/>
                <a:gd name="T5" fmla="*/ 631 h 658"/>
                <a:gd name="T6" fmla="*/ 120 w 659"/>
                <a:gd name="T7" fmla="*/ 583 h 658"/>
                <a:gd name="T8" fmla="*/ 57 w 659"/>
                <a:gd name="T9" fmla="*/ 513 h 658"/>
                <a:gd name="T10" fmla="*/ 15 w 659"/>
                <a:gd name="T11" fmla="*/ 427 h 658"/>
                <a:gd name="T12" fmla="*/ 4 w 659"/>
                <a:gd name="T13" fmla="*/ 379 h 658"/>
                <a:gd name="T14" fmla="*/ 0 w 659"/>
                <a:gd name="T15" fmla="*/ 329 h 658"/>
                <a:gd name="T16" fmla="*/ 2 w 659"/>
                <a:gd name="T17" fmla="*/ 295 h 658"/>
                <a:gd name="T18" fmla="*/ 11 w 659"/>
                <a:gd name="T19" fmla="*/ 247 h 658"/>
                <a:gd name="T20" fmla="*/ 41 w 659"/>
                <a:gd name="T21" fmla="*/ 172 h 658"/>
                <a:gd name="T22" fmla="*/ 97 w 659"/>
                <a:gd name="T23" fmla="*/ 96 h 658"/>
                <a:gd name="T24" fmla="*/ 172 w 659"/>
                <a:gd name="T25" fmla="*/ 40 h 658"/>
                <a:gd name="T26" fmla="*/ 248 w 659"/>
                <a:gd name="T27" fmla="*/ 10 h 658"/>
                <a:gd name="T28" fmla="*/ 296 w 659"/>
                <a:gd name="T29" fmla="*/ 1 h 658"/>
                <a:gd name="T30" fmla="*/ 330 w 659"/>
                <a:gd name="T31" fmla="*/ 0 h 658"/>
                <a:gd name="T32" fmla="*/ 379 w 659"/>
                <a:gd name="T33" fmla="*/ 4 h 658"/>
                <a:gd name="T34" fmla="*/ 426 w 659"/>
                <a:gd name="T35" fmla="*/ 14 h 658"/>
                <a:gd name="T36" fmla="*/ 514 w 659"/>
                <a:gd name="T37" fmla="*/ 56 h 658"/>
                <a:gd name="T38" fmla="*/ 584 w 659"/>
                <a:gd name="T39" fmla="*/ 119 h 658"/>
                <a:gd name="T40" fmla="*/ 632 w 659"/>
                <a:gd name="T41" fmla="*/ 201 h 658"/>
                <a:gd name="T42" fmla="*/ 652 w 659"/>
                <a:gd name="T43" fmla="*/ 263 h 658"/>
                <a:gd name="T44" fmla="*/ 658 w 659"/>
                <a:gd name="T45" fmla="*/ 311 h 658"/>
                <a:gd name="T46" fmla="*/ 658 w 659"/>
                <a:gd name="T47" fmla="*/ 346 h 658"/>
                <a:gd name="T48" fmla="*/ 652 w 659"/>
                <a:gd name="T49" fmla="*/ 395 h 658"/>
                <a:gd name="T50" fmla="*/ 632 w 659"/>
                <a:gd name="T51" fmla="*/ 456 h 658"/>
                <a:gd name="T52" fmla="*/ 584 w 659"/>
                <a:gd name="T53" fmla="*/ 538 h 658"/>
                <a:gd name="T54" fmla="*/ 514 w 659"/>
                <a:gd name="T55" fmla="*/ 602 h 658"/>
                <a:gd name="T56" fmla="*/ 426 w 659"/>
                <a:gd name="T57" fmla="*/ 643 h 658"/>
                <a:gd name="T58" fmla="*/ 379 w 659"/>
                <a:gd name="T59" fmla="*/ 654 h 658"/>
                <a:gd name="T60" fmla="*/ 330 w 659"/>
                <a:gd name="T61" fmla="*/ 658 h 658"/>
                <a:gd name="T62" fmla="*/ 330 w 659"/>
                <a:gd name="T63" fmla="*/ 37 h 658"/>
                <a:gd name="T64" fmla="*/ 242 w 659"/>
                <a:gd name="T65" fmla="*/ 51 h 658"/>
                <a:gd name="T66" fmla="*/ 167 w 659"/>
                <a:gd name="T67" fmla="*/ 87 h 658"/>
                <a:gd name="T68" fmla="*/ 105 w 659"/>
                <a:gd name="T69" fmla="*/ 143 h 658"/>
                <a:gd name="T70" fmla="*/ 61 w 659"/>
                <a:gd name="T71" fmla="*/ 216 h 658"/>
                <a:gd name="T72" fmla="*/ 39 w 659"/>
                <a:gd name="T73" fmla="*/ 299 h 658"/>
                <a:gd name="T74" fmla="*/ 39 w 659"/>
                <a:gd name="T75" fmla="*/ 358 h 658"/>
                <a:gd name="T76" fmla="*/ 61 w 659"/>
                <a:gd name="T77" fmla="*/ 442 h 658"/>
                <a:gd name="T78" fmla="*/ 105 w 659"/>
                <a:gd name="T79" fmla="*/ 514 h 658"/>
                <a:gd name="T80" fmla="*/ 167 w 659"/>
                <a:gd name="T81" fmla="*/ 571 h 658"/>
                <a:gd name="T82" fmla="*/ 242 w 659"/>
                <a:gd name="T83" fmla="*/ 607 h 658"/>
                <a:gd name="T84" fmla="*/ 330 w 659"/>
                <a:gd name="T85" fmla="*/ 620 h 658"/>
                <a:gd name="T86" fmla="*/ 388 w 659"/>
                <a:gd name="T87" fmla="*/ 614 h 658"/>
                <a:gd name="T88" fmla="*/ 468 w 659"/>
                <a:gd name="T89" fmla="*/ 586 h 658"/>
                <a:gd name="T90" fmla="*/ 535 w 659"/>
                <a:gd name="T91" fmla="*/ 534 h 658"/>
                <a:gd name="T92" fmla="*/ 585 w 659"/>
                <a:gd name="T93" fmla="*/ 467 h 658"/>
                <a:gd name="T94" fmla="*/ 615 w 659"/>
                <a:gd name="T95" fmla="*/ 388 h 658"/>
                <a:gd name="T96" fmla="*/ 621 w 659"/>
                <a:gd name="T97" fmla="*/ 329 h 658"/>
                <a:gd name="T98" fmla="*/ 608 w 659"/>
                <a:gd name="T99" fmla="*/ 243 h 658"/>
                <a:gd name="T100" fmla="*/ 570 w 659"/>
                <a:gd name="T101" fmla="*/ 166 h 658"/>
                <a:gd name="T102" fmla="*/ 515 w 659"/>
                <a:gd name="T103" fmla="*/ 104 h 658"/>
                <a:gd name="T104" fmla="*/ 443 w 659"/>
                <a:gd name="T105" fmla="*/ 60 h 658"/>
                <a:gd name="T106" fmla="*/ 359 w 659"/>
                <a:gd name="T107" fmla="*/ 3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30" y="658"/>
                  </a:moveTo>
                  <a:lnTo>
                    <a:pt x="330" y="658"/>
                  </a:lnTo>
                  <a:lnTo>
                    <a:pt x="312" y="657"/>
                  </a:lnTo>
                  <a:lnTo>
                    <a:pt x="296" y="655"/>
                  </a:lnTo>
                  <a:lnTo>
                    <a:pt x="280" y="654"/>
                  </a:lnTo>
                  <a:lnTo>
                    <a:pt x="263" y="651"/>
                  </a:lnTo>
                  <a:lnTo>
                    <a:pt x="248" y="647"/>
                  </a:lnTo>
                  <a:lnTo>
                    <a:pt x="232" y="643"/>
                  </a:lnTo>
                  <a:lnTo>
                    <a:pt x="202" y="631"/>
                  </a:lnTo>
                  <a:lnTo>
                    <a:pt x="172" y="618"/>
                  </a:lnTo>
                  <a:lnTo>
                    <a:pt x="146" y="602"/>
                  </a:lnTo>
                  <a:lnTo>
                    <a:pt x="120" y="583"/>
                  </a:lnTo>
                  <a:lnTo>
                    <a:pt x="97" y="561"/>
                  </a:lnTo>
                  <a:lnTo>
                    <a:pt x="76" y="538"/>
                  </a:lnTo>
                  <a:lnTo>
                    <a:pt x="57" y="513"/>
                  </a:lnTo>
                  <a:lnTo>
                    <a:pt x="41" y="486"/>
                  </a:lnTo>
                  <a:lnTo>
                    <a:pt x="26" y="456"/>
                  </a:lnTo>
                  <a:lnTo>
                    <a:pt x="15" y="427"/>
                  </a:lnTo>
                  <a:lnTo>
                    <a:pt x="11" y="411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2" y="362"/>
                  </a:lnTo>
                  <a:lnTo>
                    <a:pt x="0" y="346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1"/>
                  </a:lnTo>
                  <a:lnTo>
                    <a:pt x="2" y="295"/>
                  </a:lnTo>
                  <a:lnTo>
                    <a:pt x="4" y="279"/>
                  </a:lnTo>
                  <a:lnTo>
                    <a:pt x="7" y="263"/>
                  </a:lnTo>
                  <a:lnTo>
                    <a:pt x="11" y="247"/>
                  </a:lnTo>
                  <a:lnTo>
                    <a:pt x="15" y="231"/>
                  </a:lnTo>
                  <a:lnTo>
                    <a:pt x="26" y="201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19"/>
                  </a:lnTo>
                  <a:lnTo>
                    <a:pt x="97" y="96"/>
                  </a:lnTo>
                  <a:lnTo>
                    <a:pt x="120" y="75"/>
                  </a:lnTo>
                  <a:lnTo>
                    <a:pt x="146" y="56"/>
                  </a:lnTo>
                  <a:lnTo>
                    <a:pt x="172" y="40"/>
                  </a:lnTo>
                  <a:lnTo>
                    <a:pt x="202" y="25"/>
                  </a:lnTo>
                  <a:lnTo>
                    <a:pt x="232" y="14"/>
                  </a:lnTo>
                  <a:lnTo>
                    <a:pt x="248" y="10"/>
                  </a:lnTo>
                  <a:lnTo>
                    <a:pt x="263" y="6"/>
                  </a:lnTo>
                  <a:lnTo>
                    <a:pt x="280" y="4"/>
                  </a:lnTo>
                  <a:lnTo>
                    <a:pt x="296" y="1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6" y="0"/>
                  </a:lnTo>
                  <a:lnTo>
                    <a:pt x="363" y="1"/>
                  </a:lnTo>
                  <a:lnTo>
                    <a:pt x="379" y="4"/>
                  </a:lnTo>
                  <a:lnTo>
                    <a:pt x="396" y="6"/>
                  </a:lnTo>
                  <a:lnTo>
                    <a:pt x="412" y="10"/>
                  </a:lnTo>
                  <a:lnTo>
                    <a:pt x="426" y="14"/>
                  </a:lnTo>
                  <a:lnTo>
                    <a:pt x="457" y="25"/>
                  </a:lnTo>
                  <a:lnTo>
                    <a:pt x="486" y="40"/>
                  </a:lnTo>
                  <a:lnTo>
                    <a:pt x="514" y="56"/>
                  </a:lnTo>
                  <a:lnTo>
                    <a:pt x="538" y="75"/>
                  </a:lnTo>
                  <a:lnTo>
                    <a:pt x="562" y="96"/>
                  </a:lnTo>
                  <a:lnTo>
                    <a:pt x="584" y="119"/>
                  </a:lnTo>
                  <a:lnTo>
                    <a:pt x="603" y="145"/>
                  </a:lnTo>
                  <a:lnTo>
                    <a:pt x="619" y="172"/>
                  </a:lnTo>
                  <a:lnTo>
                    <a:pt x="632" y="201"/>
                  </a:lnTo>
                  <a:lnTo>
                    <a:pt x="644" y="231"/>
                  </a:lnTo>
                  <a:lnTo>
                    <a:pt x="648" y="247"/>
                  </a:lnTo>
                  <a:lnTo>
                    <a:pt x="652" y="263"/>
                  </a:lnTo>
                  <a:lnTo>
                    <a:pt x="655" y="279"/>
                  </a:lnTo>
                  <a:lnTo>
                    <a:pt x="656" y="295"/>
                  </a:lnTo>
                  <a:lnTo>
                    <a:pt x="658" y="311"/>
                  </a:lnTo>
                  <a:lnTo>
                    <a:pt x="659" y="329"/>
                  </a:lnTo>
                  <a:lnTo>
                    <a:pt x="659" y="329"/>
                  </a:lnTo>
                  <a:lnTo>
                    <a:pt x="658" y="346"/>
                  </a:lnTo>
                  <a:lnTo>
                    <a:pt x="656" y="362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1"/>
                  </a:lnTo>
                  <a:lnTo>
                    <a:pt x="644" y="427"/>
                  </a:lnTo>
                  <a:lnTo>
                    <a:pt x="632" y="456"/>
                  </a:lnTo>
                  <a:lnTo>
                    <a:pt x="619" y="486"/>
                  </a:lnTo>
                  <a:lnTo>
                    <a:pt x="603" y="513"/>
                  </a:lnTo>
                  <a:lnTo>
                    <a:pt x="584" y="538"/>
                  </a:lnTo>
                  <a:lnTo>
                    <a:pt x="562" y="561"/>
                  </a:lnTo>
                  <a:lnTo>
                    <a:pt x="538" y="583"/>
                  </a:lnTo>
                  <a:lnTo>
                    <a:pt x="514" y="602"/>
                  </a:lnTo>
                  <a:lnTo>
                    <a:pt x="486" y="618"/>
                  </a:lnTo>
                  <a:lnTo>
                    <a:pt x="457" y="631"/>
                  </a:lnTo>
                  <a:lnTo>
                    <a:pt x="426" y="643"/>
                  </a:lnTo>
                  <a:lnTo>
                    <a:pt x="412" y="647"/>
                  </a:lnTo>
                  <a:lnTo>
                    <a:pt x="396" y="651"/>
                  </a:lnTo>
                  <a:lnTo>
                    <a:pt x="379" y="654"/>
                  </a:lnTo>
                  <a:lnTo>
                    <a:pt x="363" y="655"/>
                  </a:lnTo>
                  <a:lnTo>
                    <a:pt x="346" y="657"/>
                  </a:lnTo>
                  <a:lnTo>
                    <a:pt x="330" y="658"/>
                  </a:lnTo>
                  <a:lnTo>
                    <a:pt x="330" y="658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38"/>
                  </a:lnTo>
                  <a:lnTo>
                    <a:pt x="271" y="44"/>
                  </a:lnTo>
                  <a:lnTo>
                    <a:pt x="242" y="51"/>
                  </a:lnTo>
                  <a:lnTo>
                    <a:pt x="215" y="60"/>
                  </a:lnTo>
                  <a:lnTo>
                    <a:pt x="191" y="72"/>
                  </a:lnTo>
                  <a:lnTo>
                    <a:pt x="167" y="87"/>
                  </a:lnTo>
                  <a:lnTo>
                    <a:pt x="144" y="104"/>
                  </a:lnTo>
                  <a:lnTo>
                    <a:pt x="124" y="123"/>
                  </a:lnTo>
                  <a:lnTo>
                    <a:pt x="105" y="143"/>
                  </a:lnTo>
                  <a:lnTo>
                    <a:pt x="88" y="166"/>
                  </a:lnTo>
                  <a:lnTo>
                    <a:pt x="73" y="190"/>
                  </a:lnTo>
                  <a:lnTo>
                    <a:pt x="61" y="216"/>
                  </a:lnTo>
                  <a:lnTo>
                    <a:pt x="52" y="243"/>
                  </a:lnTo>
                  <a:lnTo>
                    <a:pt x="43" y="270"/>
                  </a:lnTo>
                  <a:lnTo>
                    <a:pt x="39" y="299"/>
                  </a:lnTo>
                  <a:lnTo>
                    <a:pt x="38" y="329"/>
                  </a:lnTo>
                  <a:lnTo>
                    <a:pt x="38" y="329"/>
                  </a:lnTo>
                  <a:lnTo>
                    <a:pt x="39" y="358"/>
                  </a:lnTo>
                  <a:lnTo>
                    <a:pt x="43" y="388"/>
                  </a:lnTo>
                  <a:lnTo>
                    <a:pt x="52" y="415"/>
                  </a:lnTo>
                  <a:lnTo>
                    <a:pt x="61" y="442"/>
                  </a:lnTo>
                  <a:lnTo>
                    <a:pt x="73" y="467"/>
                  </a:lnTo>
                  <a:lnTo>
                    <a:pt x="88" y="491"/>
                  </a:lnTo>
                  <a:lnTo>
                    <a:pt x="105" y="514"/>
                  </a:lnTo>
                  <a:lnTo>
                    <a:pt x="124" y="534"/>
                  </a:lnTo>
                  <a:lnTo>
                    <a:pt x="144" y="553"/>
                  </a:lnTo>
                  <a:lnTo>
                    <a:pt x="167" y="571"/>
                  </a:lnTo>
                  <a:lnTo>
                    <a:pt x="191" y="586"/>
                  </a:lnTo>
                  <a:lnTo>
                    <a:pt x="215" y="598"/>
                  </a:lnTo>
                  <a:lnTo>
                    <a:pt x="242" y="607"/>
                  </a:lnTo>
                  <a:lnTo>
                    <a:pt x="271" y="614"/>
                  </a:lnTo>
                  <a:lnTo>
                    <a:pt x="300" y="619"/>
                  </a:lnTo>
                  <a:lnTo>
                    <a:pt x="330" y="620"/>
                  </a:lnTo>
                  <a:lnTo>
                    <a:pt x="330" y="620"/>
                  </a:lnTo>
                  <a:lnTo>
                    <a:pt x="359" y="619"/>
                  </a:lnTo>
                  <a:lnTo>
                    <a:pt x="388" y="614"/>
                  </a:lnTo>
                  <a:lnTo>
                    <a:pt x="416" y="607"/>
                  </a:lnTo>
                  <a:lnTo>
                    <a:pt x="443" y="598"/>
                  </a:lnTo>
                  <a:lnTo>
                    <a:pt x="468" y="586"/>
                  </a:lnTo>
                  <a:lnTo>
                    <a:pt x="492" y="571"/>
                  </a:lnTo>
                  <a:lnTo>
                    <a:pt x="515" y="553"/>
                  </a:lnTo>
                  <a:lnTo>
                    <a:pt x="535" y="534"/>
                  </a:lnTo>
                  <a:lnTo>
                    <a:pt x="554" y="514"/>
                  </a:lnTo>
                  <a:lnTo>
                    <a:pt x="570" y="491"/>
                  </a:lnTo>
                  <a:lnTo>
                    <a:pt x="585" y="467"/>
                  </a:lnTo>
                  <a:lnTo>
                    <a:pt x="597" y="442"/>
                  </a:lnTo>
                  <a:lnTo>
                    <a:pt x="608" y="415"/>
                  </a:lnTo>
                  <a:lnTo>
                    <a:pt x="615" y="388"/>
                  </a:lnTo>
                  <a:lnTo>
                    <a:pt x="619" y="358"/>
                  </a:lnTo>
                  <a:lnTo>
                    <a:pt x="621" y="329"/>
                  </a:lnTo>
                  <a:lnTo>
                    <a:pt x="621" y="329"/>
                  </a:lnTo>
                  <a:lnTo>
                    <a:pt x="619" y="299"/>
                  </a:lnTo>
                  <a:lnTo>
                    <a:pt x="615" y="270"/>
                  </a:lnTo>
                  <a:lnTo>
                    <a:pt x="608" y="243"/>
                  </a:lnTo>
                  <a:lnTo>
                    <a:pt x="597" y="216"/>
                  </a:lnTo>
                  <a:lnTo>
                    <a:pt x="585" y="190"/>
                  </a:lnTo>
                  <a:lnTo>
                    <a:pt x="570" y="166"/>
                  </a:lnTo>
                  <a:lnTo>
                    <a:pt x="554" y="143"/>
                  </a:lnTo>
                  <a:lnTo>
                    <a:pt x="535" y="123"/>
                  </a:lnTo>
                  <a:lnTo>
                    <a:pt x="515" y="104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3" y="60"/>
                  </a:lnTo>
                  <a:lnTo>
                    <a:pt x="416" y="51"/>
                  </a:lnTo>
                  <a:lnTo>
                    <a:pt x="388" y="44"/>
                  </a:lnTo>
                  <a:lnTo>
                    <a:pt x="359" y="38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sz="2400" dirty="0">
                <a:solidFill>
                  <a:schemeClr val="accent1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23" name="Freeform 327">
              <a:extLst>
                <a:ext uri="{FF2B5EF4-FFF2-40B4-BE49-F238E27FC236}">
                  <a16:creationId xmlns:a16="http://schemas.microsoft.com/office/drawing/2014/main" id="{6A8BC4C7-7D58-4703-BB9C-F0B7DFF21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38" y="4337685"/>
              <a:ext cx="66675" cy="66675"/>
            </a:xfrm>
            <a:custGeom>
              <a:avLst/>
              <a:gdLst>
                <a:gd name="T0" fmla="*/ 2 w 85"/>
                <a:gd name="T1" fmla="*/ 81 h 85"/>
                <a:gd name="T2" fmla="*/ 2 w 85"/>
                <a:gd name="T3" fmla="*/ 81 h 85"/>
                <a:gd name="T4" fmla="*/ 4 w 85"/>
                <a:gd name="T5" fmla="*/ 84 h 85"/>
                <a:gd name="T6" fmla="*/ 7 w 85"/>
                <a:gd name="T7" fmla="*/ 84 h 85"/>
                <a:gd name="T8" fmla="*/ 7 w 85"/>
                <a:gd name="T9" fmla="*/ 84 h 85"/>
                <a:gd name="T10" fmla="*/ 8 w 85"/>
                <a:gd name="T11" fmla="*/ 85 h 85"/>
                <a:gd name="T12" fmla="*/ 8 w 85"/>
                <a:gd name="T13" fmla="*/ 85 h 85"/>
                <a:gd name="T14" fmla="*/ 11 w 85"/>
                <a:gd name="T15" fmla="*/ 84 h 85"/>
                <a:gd name="T16" fmla="*/ 14 w 85"/>
                <a:gd name="T17" fmla="*/ 82 h 85"/>
                <a:gd name="T18" fmla="*/ 16 w 85"/>
                <a:gd name="T19" fmla="*/ 80 h 85"/>
                <a:gd name="T20" fmla="*/ 16 w 85"/>
                <a:gd name="T21" fmla="*/ 77 h 85"/>
                <a:gd name="T22" fmla="*/ 16 w 85"/>
                <a:gd name="T23" fmla="*/ 77 h 85"/>
                <a:gd name="T24" fmla="*/ 19 w 85"/>
                <a:gd name="T25" fmla="*/ 66 h 85"/>
                <a:gd name="T26" fmla="*/ 24 w 85"/>
                <a:gd name="T27" fmla="*/ 56 h 85"/>
                <a:gd name="T28" fmla="*/ 30 w 85"/>
                <a:gd name="T29" fmla="*/ 46 h 85"/>
                <a:gd name="T30" fmla="*/ 37 w 85"/>
                <a:gd name="T31" fmla="*/ 37 h 85"/>
                <a:gd name="T32" fmla="*/ 46 w 85"/>
                <a:gd name="T33" fmla="*/ 30 h 85"/>
                <a:gd name="T34" fmla="*/ 55 w 85"/>
                <a:gd name="T35" fmla="*/ 23 h 85"/>
                <a:gd name="T36" fmla="*/ 66 w 85"/>
                <a:gd name="T37" fmla="*/ 19 h 85"/>
                <a:gd name="T38" fmla="*/ 77 w 85"/>
                <a:gd name="T39" fmla="*/ 17 h 85"/>
                <a:gd name="T40" fmla="*/ 77 w 85"/>
                <a:gd name="T41" fmla="*/ 17 h 85"/>
                <a:gd name="T42" fmla="*/ 81 w 85"/>
                <a:gd name="T43" fmla="*/ 15 h 85"/>
                <a:gd name="T44" fmla="*/ 82 w 85"/>
                <a:gd name="T45" fmla="*/ 14 h 85"/>
                <a:gd name="T46" fmla="*/ 82 w 85"/>
                <a:gd name="T47" fmla="*/ 14 h 85"/>
                <a:gd name="T48" fmla="*/ 84 w 85"/>
                <a:gd name="T49" fmla="*/ 10 h 85"/>
                <a:gd name="T50" fmla="*/ 85 w 85"/>
                <a:gd name="T51" fmla="*/ 7 h 85"/>
                <a:gd name="T52" fmla="*/ 85 w 85"/>
                <a:gd name="T53" fmla="*/ 7 h 85"/>
                <a:gd name="T54" fmla="*/ 84 w 85"/>
                <a:gd name="T55" fmla="*/ 4 h 85"/>
                <a:gd name="T56" fmla="*/ 81 w 85"/>
                <a:gd name="T57" fmla="*/ 2 h 85"/>
                <a:gd name="T58" fmla="*/ 78 w 85"/>
                <a:gd name="T59" fmla="*/ 0 h 85"/>
                <a:gd name="T60" fmla="*/ 74 w 85"/>
                <a:gd name="T61" fmla="*/ 0 h 85"/>
                <a:gd name="T62" fmla="*/ 74 w 85"/>
                <a:gd name="T63" fmla="*/ 0 h 85"/>
                <a:gd name="T64" fmla="*/ 61 w 85"/>
                <a:gd name="T65" fmla="*/ 3 h 85"/>
                <a:gd name="T66" fmla="*/ 47 w 85"/>
                <a:gd name="T67" fmla="*/ 8 h 85"/>
                <a:gd name="T68" fmla="*/ 35 w 85"/>
                <a:gd name="T69" fmla="*/ 15 h 85"/>
                <a:gd name="T70" fmla="*/ 24 w 85"/>
                <a:gd name="T71" fmla="*/ 25 h 85"/>
                <a:gd name="T72" fmla="*/ 16 w 85"/>
                <a:gd name="T73" fmla="*/ 35 h 85"/>
                <a:gd name="T74" fmla="*/ 8 w 85"/>
                <a:gd name="T75" fmla="*/ 47 h 85"/>
                <a:gd name="T76" fmla="*/ 3 w 85"/>
                <a:gd name="T77" fmla="*/ 61 h 85"/>
                <a:gd name="T78" fmla="*/ 0 w 85"/>
                <a:gd name="T79" fmla="*/ 74 h 85"/>
                <a:gd name="T80" fmla="*/ 0 w 85"/>
                <a:gd name="T81" fmla="*/ 74 h 85"/>
                <a:gd name="T82" fmla="*/ 0 w 85"/>
                <a:gd name="T83" fmla="*/ 78 h 85"/>
                <a:gd name="T84" fmla="*/ 2 w 85"/>
                <a:gd name="T85" fmla="*/ 81 h 85"/>
                <a:gd name="T86" fmla="*/ 2 w 85"/>
                <a:gd name="T87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5" h="85">
                  <a:moveTo>
                    <a:pt x="2" y="81"/>
                  </a:moveTo>
                  <a:lnTo>
                    <a:pt x="2" y="81"/>
                  </a:lnTo>
                  <a:lnTo>
                    <a:pt x="4" y="84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8" y="85"/>
                  </a:lnTo>
                  <a:lnTo>
                    <a:pt x="8" y="85"/>
                  </a:lnTo>
                  <a:lnTo>
                    <a:pt x="11" y="84"/>
                  </a:lnTo>
                  <a:lnTo>
                    <a:pt x="14" y="82"/>
                  </a:lnTo>
                  <a:lnTo>
                    <a:pt x="16" y="80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9" y="66"/>
                  </a:lnTo>
                  <a:lnTo>
                    <a:pt x="24" y="56"/>
                  </a:lnTo>
                  <a:lnTo>
                    <a:pt x="30" y="46"/>
                  </a:lnTo>
                  <a:lnTo>
                    <a:pt x="37" y="37"/>
                  </a:lnTo>
                  <a:lnTo>
                    <a:pt x="46" y="30"/>
                  </a:lnTo>
                  <a:lnTo>
                    <a:pt x="55" y="23"/>
                  </a:lnTo>
                  <a:lnTo>
                    <a:pt x="66" y="19"/>
                  </a:lnTo>
                  <a:lnTo>
                    <a:pt x="77" y="17"/>
                  </a:lnTo>
                  <a:lnTo>
                    <a:pt x="77" y="17"/>
                  </a:lnTo>
                  <a:lnTo>
                    <a:pt x="81" y="15"/>
                  </a:lnTo>
                  <a:lnTo>
                    <a:pt x="82" y="14"/>
                  </a:lnTo>
                  <a:lnTo>
                    <a:pt x="82" y="14"/>
                  </a:lnTo>
                  <a:lnTo>
                    <a:pt x="84" y="10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4" y="4"/>
                  </a:lnTo>
                  <a:lnTo>
                    <a:pt x="81" y="2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1" y="3"/>
                  </a:lnTo>
                  <a:lnTo>
                    <a:pt x="47" y="8"/>
                  </a:lnTo>
                  <a:lnTo>
                    <a:pt x="35" y="15"/>
                  </a:lnTo>
                  <a:lnTo>
                    <a:pt x="24" y="25"/>
                  </a:lnTo>
                  <a:lnTo>
                    <a:pt x="16" y="35"/>
                  </a:lnTo>
                  <a:lnTo>
                    <a:pt x="8" y="47"/>
                  </a:lnTo>
                  <a:lnTo>
                    <a:pt x="3" y="61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2" y="81"/>
                  </a:lnTo>
                  <a:lnTo>
                    <a:pt x="2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sz="2400" dirty="0">
                <a:solidFill>
                  <a:schemeClr val="accent1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  <p:sp>
          <p:nvSpPr>
            <p:cNvPr id="24" name="Freeform 328">
              <a:extLst>
                <a:ext uri="{FF2B5EF4-FFF2-40B4-BE49-F238E27FC236}">
                  <a16:creationId xmlns:a16="http://schemas.microsoft.com/office/drawing/2014/main" id="{096A7D54-E97E-46C5-8F21-55223F5EBE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23626" y="4299585"/>
              <a:ext cx="284163" cy="285750"/>
            </a:xfrm>
            <a:custGeom>
              <a:avLst/>
              <a:gdLst>
                <a:gd name="T0" fmla="*/ 270 w 359"/>
                <a:gd name="T1" fmla="*/ 234 h 359"/>
                <a:gd name="T2" fmla="*/ 265 w 359"/>
                <a:gd name="T3" fmla="*/ 232 h 359"/>
                <a:gd name="T4" fmla="*/ 261 w 359"/>
                <a:gd name="T5" fmla="*/ 233 h 359"/>
                <a:gd name="T6" fmla="*/ 237 w 359"/>
                <a:gd name="T7" fmla="*/ 221 h 359"/>
                <a:gd name="T8" fmla="*/ 250 w 359"/>
                <a:gd name="T9" fmla="*/ 201 h 359"/>
                <a:gd name="T10" fmla="*/ 264 w 359"/>
                <a:gd name="T11" fmla="*/ 168 h 359"/>
                <a:gd name="T12" fmla="*/ 268 w 359"/>
                <a:gd name="T13" fmla="*/ 135 h 359"/>
                <a:gd name="T14" fmla="*/ 265 w 359"/>
                <a:gd name="T15" fmla="*/ 108 h 359"/>
                <a:gd name="T16" fmla="*/ 252 w 359"/>
                <a:gd name="T17" fmla="*/ 70 h 359"/>
                <a:gd name="T18" fmla="*/ 229 w 359"/>
                <a:gd name="T19" fmla="*/ 39 h 359"/>
                <a:gd name="T20" fmla="*/ 198 w 359"/>
                <a:gd name="T21" fmla="*/ 16 h 359"/>
                <a:gd name="T22" fmla="*/ 161 w 359"/>
                <a:gd name="T23" fmla="*/ 3 h 359"/>
                <a:gd name="T24" fmla="*/ 135 w 359"/>
                <a:gd name="T25" fmla="*/ 0 h 359"/>
                <a:gd name="T26" fmla="*/ 94 w 359"/>
                <a:gd name="T27" fmla="*/ 6 h 359"/>
                <a:gd name="T28" fmla="*/ 59 w 359"/>
                <a:gd name="T29" fmla="*/ 23 h 359"/>
                <a:gd name="T30" fmla="*/ 31 w 359"/>
                <a:gd name="T31" fmla="*/ 49 h 359"/>
                <a:gd name="T32" fmla="*/ 11 w 359"/>
                <a:gd name="T33" fmla="*/ 82 h 359"/>
                <a:gd name="T34" fmla="*/ 2 w 359"/>
                <a:gd name="T35" fmla="*/ 120 h 359"/>
                <a:gd name="T36" fmla="*/ 2 w 359"/>
                <a:gd name="T37" fmla="*/ 148 h 359"/>
                <a:gd name="T38" fmla="*/ 11 w 359"/>
                <a:gd name="T39" fmla="*/ 186 h 359"/>
                <a:gd name="T40" fmla="*/ 31 w 359"/>
                <a:gd name="T41" fmla="*/ 219 h 359"/>
                <a:gd name="T42" fmla="*/ 59 w 359"/>
                <a:gd name="T43" fmla="*/ 245 h 359"/>
                <a:gd name="T44" fmla="*/ 94 w 359"/>
                <a:gd name="T45" fmla="*/ 262 h 359"/>
                <a:gd name="T46" fmla="*/ 135 w 359"/>
                <a:gd name="T47" fmla="*/ 268 h 359"/>
                <a:gd name="T48" fmla="*/ 157 w 359"/>
                <a:gd name="T49" fmla="*/ 266 h 359"/>
                <a:gd name="T50" fmla="*/ 191 w 359"/>
                <a:gd name="T51" fmla="*/ 256 h 359"/>
                <a:gd name="T52" fmla="*/ 221 w 359"/>
                <a:gd name="T53" fmla="*/ 237 h 359"/>
                <a:gd name="T54" fmla="*/ 234 w 359"/>
                <a:gd name="T55" fmla="*/ 258 h 359"/>
                <a:gd name="T56" fmla="*/ 231 w 359"/>
                <a:gd name="T57" fmla="*/ 265 h 359"/>
                <a:gd name="T58" fmla="*/ 320 w 359"/>
                <a:gd name="T59" fmla="*/ 357 h 359"/>
                <a:gd name="T60" fmla="*/ 327 w 359"/>
                <a:gd name="T61" fmla="*/ 359 h 359"/>
                <a:gd name="T62" fmla="*/ 327 w 359"/>
                <a:gd name="T63" fmla="*/ 359 h 359"/>
                <a:gd name="T64" fmla="*/ 356 w 359"/>
                <a:gd name="T65" fmla="*/ 332 h 359"/>
                <a:gd name="T66" fmla="*/ 359 w 359"/>
                <a:gd name="T67" fmla="*/ 327 h 359"/>
                <a:gd name="T68" fmla="*/ 356 w 359"/>
                <a:gd name="T69" fmla="*/ 320 h 359"/>
                <a:gd name="T70" fmla="*/ 135 w 359"/>
                <a:gd name="T71" fmla="*/ 18 h 359"/>
                <a:gd name="T72" fmla="*/ 168 w 359"/>
                <a:gd name="T73" fmla="*/ 23 h 359"/>
                <a:gd name="T74" fmla="*/ 199 w 359"/>
                <a:gd name="T75" fmla="*/ 38 h 359"/>
                <a:gd name="T76" fmla="*/ 225 w 359"/>
                <a:gd name="T77" fmla="*/ 59 h 359"/>
                <a:gd name="T78" fmla="*/ 242 w 359"/>
                <a:gd name="T79" fmla="*/ 89 h 359"/>
                <a:gd name="T80" fmla="*/ 250 w 359"/>
                <a:gd name="T81" fmla="*/ 123 h 359"/>
                <a:gd name="T82" fmla="*/ 250 w 359"/>
                <a:gd name="T83" fmla="*/ 146 h 359"/>
                <a:gd name="T84" fmla="*/ 242 w 359"/>
                <a:gd name="T85" fmla="*/ 179 h 359"/>
                <a:gd name="T86" fmla="*/ 225 w 359"/>
                <a:gd name="T87" fmla="*/ 209 h 359"/>
                <a:gd name="T88" fmla="*/ 199 w 359"/>
                <a:gd name="T89" fmla="*/ 230 h 359"/>
                <a:gd name="T90" fmla="*/ 168 w 359"/>
                <a:gd name="T91" fmla="*/ 245 h 359"/>
                <a:gd name="T92" fmla="*/ 135 w 359"/>
                <a:gd name="T93" fmla="*/ 250 h 359"/>
                <a:gd name="T94" fmla="*/ 110 w 359"/>
                <a:gd name="T95" fmla="*/ 249 h 359"/>
                <a:gd name="T96" fmla="*/ 78 w 359"/>
                <a:gd name="T97" fmla="*/ 237 h 359"/>
                <a:gd name="T98" fmla="*/ 51 w 359"/>
                <a:gd name="T99" fmla="*/ 217 h 359"/>
                <a:gd name="T100" fmla="*/ 31 w 359"/>
                <a:gd name="T101" fmla="*/ 190 h 359"/>
                <a:gd name="T102" fmla="*/ 20 w 359"/>
                <a:gd name="T103" fmla="*/ 158 h 359"/>
                <a:gd name="T104" fmla="*/ 18 w 359"/>
                <a:gd name="T105" fmla="*/ 135 h 359"/>
                <a:gd name="T106" fmla="*/ 23 w 359"/>
                <a:gd name="T107" fmla="*/ 100 h 359"/>
                <a:gd name="T108" fmla="*/ 38 w 359"/>
                <a:gd name="T109" fmla="*/ 69 h 359"/>
                <a:gd name="T110" fmla="*/ 61 w 359"/>
                <a:gd name="T111" fmla="*/ 45 h 359"/>
                <a:gd name="T112" fmla="*/ 89 w 359"/>
                <a:gd name="T113" fmla="*/ 27 h 359"/>
                <a:gd name="T114" fmla="*/ 122 w 359"/>
                <a:gd name="T115" fmla="*/ 18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59" h="359">
                  <a:moveTo>
                    <a:pt x="356" y="320"/>
                  </a:moveTo>
                  <a:lnTo>
                    <a:pt x="270" y="234"/>
                  </a:lnTo>
                  <a:lnTo>
                    <a:pt x="270" y="234"/>
                  </a:lnTo>
                  <a:lnTo>
                    <a:pt x="268" y="233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1" y="233"/>
                  </a:lnTo>
                  <a:lnTo>
                    <a:pt x="258" y="234"/>
                  </a:lnTo>
                  <a:lnTo>
                    <a:pt x="254" y="238"/>
                  </a:lnTo>
                  <a:lnTo>
                    <a:pt x="237" y="221"/>
                  </a:lnTo>
                  <a:lnTo>
                    <a:pt x="237" y="221"/>
                  </a:lnTo>
                  <a:lnTo>
                    <a:pt x="243" y="211"/>
                  </a:lnTo>
                  <a:lnTo>
                    <a:pt x="250" y="201"/>
                  </a:lnTo>
                  <a:lnTo>
                    <a:pt x="256" y="191"/>
                  </a:lnTo>
                  <a:lnTo>
                    <a:pt x="260" y="180"/>
                  </a:lnTo>
                  <a:lnTo>
                    <a:pt x="264" y="168"/>
                  </a:lnTo>
                  <a:lnTo>
                    <a:pt x="266" y="158"/>
                  </a:lnTo>
                  <a:lnTo>
                    <a:pt x="268" y="146"/>
                  </a:lnTo>
                  <a:lnTo>
                    <a:pt x="268" y="135"/>
                  </a:lnTo>
                  <a:lnTo>
                    <a:pt x="268" y="135"/>
                  </a:lnTo>
                  <a:lnTo>
                    <a:pt x="268" y="120"/>
                  </a:lnTo>
                  <a:lnTo>
                    <a:pt x="265" y="108"/>
                  </a:lnTo>
                  <a:lnTo>
                    <a:pt x="262" y="94"/>
                  </a:lnTo>
                  <a:lnTo>
                    <a:pt x="257" y="82"/>
                  </a:lnTo>
                  <a:lnTo>
                    <a:pt x="252" y="70"/>
                  </a:lnTo>
                  <a:lnTo>
                    <a:pt x="245" y="59"/>
                  </a:lnTo>
                  <a:lnTo>
                    <a:pt x="238" y="49"/>
                  </a:lnTo>
                  <a:lnTo>
                    <a:pt x="229" y="39"/>
                  </a:lnTo>
                  <a:lnTo>
                    <a:pt x="219" y="31"/>
                  </a:lnTo>
                  <a:lnTo>
                    <a:pt x="209" y="23"/>
                  </a:lnTo>
                  <a:lnTo>
                    <a:pt x="198" y="16"/>
                  </a:lnTo>
                  <a:lnTo>
                    <a:pt x="186" y="11"/>
                  </a:lnTo>
                  <a:lnTo>
                    <a:pt x="174" y="6"/>
                  </a:lnTo>
                  <a:lnTo>
                    <a:pt x="161" y="3"/>
                  </a:lnTo>
                  <a:lnTo>
                    <a:pt x="148" y="2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21" y="2"/>
                  </a:lnTo>
                  <a:lnTo>
                    <a:pt x="108" y="3"/>
                  </a:lnTo>
                  <a:lnTo>
                    <a:pt x="94" y="6"/>
                  </a:lnTo>
                  <a:lnTo>
                    <a:pt x="82" y="11"/>
                  </a:lnTo>
                  <a:lnTo>
                    <a:pt x="70" y="16"/>
                  </a:lnTo>
                  <a:lnTo>
                    <a:pt x="59" y="23"/>
                  </a:lnTo>
                  <a:lnTo>
                    <a:pt x="49" y="31"/>
                  </a:lnTo>
                  <a:lnTo>
                    <a:pt x="39" y="39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0"/>
                  </a:lnTo>
                  <a:lnTo>
                    <a:pt x="11" y="82"/>
                  </a:lnTo>
                  <a:lnTo>
                    <a:pt x="7" y="94"/>
                  </a:lnTo>
                  <a:lnTo>
                    <a:pt x="3" y="108"/>
                  </a:lnTo>
                  <a:lnTo>
                    <a:pt x="2" y="120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2" y="148"/>
                  </a:lnTo>
                  <a:lnTo>
                    <a:pt x="3" y="162"/>
                  </a:lnTo>
                  <a:lnTo>
                    <a:pt x="7" y="174"/>
                  </a:lnTo>
                  <a:lnTo>
                    <a:pt x="11" y="186"/>
                  </a:lnTo>
                  <a:lnTo>
                    <a:pt x="16" y="198"/>
                  </a:lnTo>
                  <a:lnTo>
                    <a:pt x="23" y="209"/>
                  </a:lnTo>
                  <a:lnTo>
                    <a:pt x="31" y="219"/>
                  </a:lnTo>
                  <a:lnTo>
                    <a:pt x="39" y="229"/>
                  </a:lnTo>
                  <a:lnTo>
                    <a:pt x="49" y="237"/>
                  </a:lnTo>
                  <a:lnTo>
                    <a:pt x="59" y="245"/>
                  </a:lnTo>
                  <a:lnTo>
                    <a:pt x="70" y="252"/>
                  </a:lnTo>
                  <a:lnTo>
                    <a:pt x="82" y="257"/>
                  </a:lnTo>
                  <a:lnTo>
                    <a:pt x="94" y="262"/>
                  </a:lnTo>
                  <a:lnTo>
                    <a:pt x="108" y="265"/>
                  </a:lnTo>
                  <a:lnTo>
                    <a:pt x="121" y="268"/>
                  </a:lnTo>
                  <a:lnTo>
                    <a:pt x="135" y="268"/>
                  </a:lnTo>
                  <a:lnTo>
                    <a:pt x="135" y="268"/>
                  </a:lnTo>
                  <a:lnTo>
                    <a:pt x="145" y="268"/>
                  </a:lnTo>
                  <a:lnTo>
                    <a:pt x="157" y="266"/>
                  </a:lnTo>
                  <a:lnTo>
                    <a:pt x="170" y="264"/>
                  </a:lnTo>
                  <a:lnTo>
                    <a:pt x="180" y="260"/>
                  </a:lnTo>
                  <a:lnTo>
                    <a:pt x="191" y="256"/>
                  </a:lnTo>
                  <a:lnTo>
                    <a:pt x="200" y="250"/>
                  </a:lnTo>
                  <a:lnTo>
                    <a:pt x="211" y="244"/>
                  </a:lnTo>
                  <a:lnTo>
                    <a:pt x="221" y="237"/>
                  </a:lnTo>
                  <a:lnTo>
                    <a:pt x="238" y="254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3" y="261"/>
                  </a:lnTo>
                  <a:lnTo>
                    <a:pt x="231" y="265"/>
                  </a:lnTo>
                  <a:lnTo>
                    <a:pt x="231" y="265"/>
                  </a:lnTo>
                  <a:lnTo>
                    <a:pt x="233" y="268"/>
                  </a:lnTo>
                  <a:lnTo>
                    <a:pt x="234" y="271"/>
                  </a:lnTo>
                  <a:lnTo>
                    <a:pt x="320" y="357"/>
                  </a:lnTo>
                  <a:lnTo>
                    <a:pt x="320" y="357"/>
                  </a:lnTo>
                  <a:lnTo>
                    <a:pt x="323" y="358"/>
                  </a:lnTo>
                  <a:lnTo>
                    <a:pt x="327" y="359"/>
                  </a:lnTo>
                  <a:lnTo>
                    <a:pt x="327" y="359"/>
                  </a:lnTo>
                  <a:lnTo>
                    <a:pt x="327" y="359"/>
                  </a:lnTo>
                  <a:lnTo>
                    <a:pt x="327" y="359"/>
                  </a:lnTo>
                  <a:lnTo>
                    <a:pt x="329" y="358"/>
                  </a:lnTo>
                  <a:lnTo>
                    <a:pt x="332" y="357"/>
                  </a:lnTo>
                  <a:lnTo>
                    <a:pt x="356" y="332"/>
                  </a:lnTo>
                  <a:lnTo>
                    <a:pt x="356" y="332"/>
                  </a:lnTo>
                  <a:lnTo>
                    <a:pt x="359" y="330"/>
                  </a:lnTo>
                  <a:lnTo>
                    <a:pt x="359" y="327"/>
                  </a:lnTo>
                  <a:lnTo>
                    <a:pt x="359" y="327"/>
                  </a:lnTo>
                  <a:lnTo>
                    <a:pt x="359" y="323"/>
                  </a:lnTo>
                  <a:lnTo>
                    <a:pt x="356" y="320"/>
                  </a:lnTo>
                  <a:lnTo>
                    <a:pt x="356" y="320"/>
                  </a:lnTo>
                  <a:close/>
                  <a:moveTo>
                    <a:pt x="135" y="18"/>
                  </a:moveTo>
                  <a:lnTo>
                    <a:pt x="135" y="18"/>
                  </a:lnTo>
                  <a:lnTo>
                    <a:pt x="147" y="18"/>
                  </a:lnTo>
                  <a:lnTo>
                    <a:pt x="157" y="21"/>
                  </a:lnTo>
                  <a:lnTo>
                    <a:pt x="168" y="23"/>
                  </a:lnTo>
                  <a:lnTo>
                    <a:pt x="179" y="27"/>
                  </a:lnTo>
                  <a:lnTo>
                    <a:pt x="190" y="31"/>
                  </a:lnTo>
                  <a:lnTo>
                    <a:pt x="199" y="38"/>
                  </a:lnTo>
                  <a:lnTo>
                    <a:pt x="209" y="45"/>
                  </a:lnTo>
                  <a:lnTo>
                    <a:pt x="217" y="51"/>
                  </a:lnTo>
                  <a:lnTo>
                    <a:pt x="225" y="59"/>
                  </a:lnTo>
                  <a:lnTo>
                    <a:pt x="231" y="69"/>
                  </a:lnTo>
                  <a:lnTo>
                    <a:pt x="237" y="78"/>
                  </a:lnTo>
                  <a:lnTo>
                    <a:pt x="242" y="89"/>
                  </a:lnTo>
                  <a:lnTo>
                    <a:pt x="246" y="100"/>
                  </a:lnTo>
                  <a:lnTo>
                    <a:pt x="249" y="111"/>
                  </a:lnTo>
                  <a:lnTo>
                    <a:pt x="250" y="123"/>
                  </a:lnTo>
                  <a:lnTo>
                    <a:pt x="250" y="135"/>
                  </a:lnTo>
                  <a:lnTo>
                    <a:pt x="250" y="135"/>
                  </a:lnTo>
                  <a:lnTo>
                    <a:pt x="250" y="146"/>
                  </a:lnTo>
                  <a:lnTo>
                    <a:pt x="249" y="158"/>
                  </a:lnTo>
                  <a:lnTo>
                    <a:pt x="246" y="168"/>
                  </a:lnTo>
                  <a:lnTo>
                    <a:pt x="242" y="179"/>
                  </a:lnTo>
                  <a:lnTo>
                    <a:pt x="237" y="190"/>
                  </a:lnTo>
                  <a:lnTo>
                    <a:pt x="231" y="199"/>
                  </a:lnTo>
                  <a:lnTo>
                    <a:pt x="225" y="209"/>
                  </a:lnTo>
                  <a:lnTo>
                    <a:pt x="217" y="217"/>
                  </a:lnTo>
                  <a:lnTo>
                    <a:pt x="209" y="223"/>
                  </a:lnTo>
                  <a:lnTo>
                    <a:pt x="199" y="230"/>
                  </a:lnTo>
                  <a:lnTo>
                    <a:pt x="190" y="237"/>
                  </a:lnTo>
                  <a:lnTo>
                    <a:pt x="179" y="242"/>
                  </a:lnTo>
                  <a:lnTo>
                    <a:pt x="168" y="245"/>
                  </a:lnTo>
                  <a:lnTo>
                    <a:pt x="157" y="249"/>
                  </a:lnTo>
                  <a:lnTo>
                    <a:pt x="147" y="250"/>
                  </a:lnTo>
                  <a:lnTo>
                    <a:pt x="135" y="250"/>
                  </a:lnTo>
                  <a:lnTo>
                    <a:pt x="135" y="250"/>
                  </a:lnTo>
                  <a:lnTo>
                    <a:pt x="122" y="250"/>
                  </a:lnTo>
                  <a:lnTo>
                    <a:pt x="110" y="249"/>
                  </a:lnTo>
                  <a:lnTo>
                    <a:pt x="100" y="245"/>
                  </a:lnTo>
                  <a:lnTo>
                    <a:pt x="89" y="242"/>
                  </a:lnTo>
                  <a:lnTo>
                    <a:pt x="78" y="237"/>
                  </a:lnTo>
                  <a:lnTo>
                    <a:pt x="69" y="230"/>
                  </a:lnTo>
                  <a:lnTo>
                    <a:pt x="61" y="223"/>
                  </a:lnTo>
                  <a:lnTo>
                    <a:pt x="51" y="217"/>
                  </a:lnTo>
                  <a:lnTo>
                    <a:pt x="45" y="209"/>
                  </a:lnTo>
                  <a:lnTo>
                    <a:pt x="38" y="199"/>
                  </a:lnTo>
                  <a:lnTo>
                    <a:pt x="31" y="190"/>
                  </a:lnTo>
                  <a:lnTo>
                    <a:pt x="27" y="179"/>
                  </a:lnTo>
                  <a:lnTo>
                    <a:pt x="23" y="168"/>
                  </a:lnTo>
                  <a:lnTo>
                    <a:pt x="20" y="158"/>
                  </a:lnTo>
                  <a:lnTo>
                    <a:pt x="18" y="146"/>
                  </a:lnTo>
                  <a:lnTo>
                    <a:pt x="18" y="135"/>
                  </a:lnTo>
                  <a:lnTo>
                    <a:pt x="18" y="135"/>
                  </a:lnTo>
                  <a:lnTo>
                    <a:pt x="18" y="123"/>
                  </a:lnTo>
                  <a:lnTo>
                    <a:pt x="20" y="111"/>
                  </a:lnTo>
                  <a:lnTo>
                    <a:pt x="23" y="100"/>
                  </a:lnTo>
                  <a:lnTo>
                    <a:pt x="27" y="89"/>
                  </a:lnTo>
                  <a:lnTo>
                    <a:pt x="31" y="78"/>
                  </a:lnTo>
                  <a:lnTo>
                    <a:pt x="38" y="69"/>
                  </a:lnTo>
                  <a:lnTo>
                    <a:pt x="45" y="59"/>
                  </a:lnTo>
                  <a:lnTo>
                    <a:pt x="51" y="51"/>
                  </a:lnTo>
                  <a:lnTo>
                    <a:pt x="61" y="45"/>
                  </a:lnTo>
                  <a:lnTo>
                    <a:pt x="69" y="38"/>
                  </a:lnTo>
                  <a:lnTo>
                    <a:pt x="78" y="31"/>
                  </a:lnTo>
                  <a:lnTo>
                    <a:pt x="89" y="27"/>
                  </a:lnTo>
                  <a:lnTo>
                    <a:pt x="100" y="23"/>
                  </a:lnTo>
                  <a:lnTo>
                    <a:pt x="110" y="21"/>
                  </a:lnTo>
                  <a:lnTo>
                    <a:pt x="122" y="18"/>
                  </a:lnTo>
                  <a:lnTo>
                    <a:pt x="135" y="18"/>
                  </a:lnTo>
                  <a:lnTo>
                    <a:pt x="135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sz="2400" dirty="0">
                <a:solidFill>
                  <a:schemeClr val="accent1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00F6D303-BAF2-4290-914B-94A556A4EC02}"/>
              </a:ext>
            </a:extLst>
          </p:cNvPr>
          <p:cNvSpPr/>
          <p:nvPr/>
        </p:nvSpPr>
        <p:spPr>
          <a:xfrm>
            <a:off x="10060312" y="2786013"/>
            <a:ext cx="72000" cy="720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240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76989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אליפסה 8">
            <a:extLst>
              <a:ext uri="{FF2B5EF4-FFF2-40B4-BE49-F238E27FC236}">
                <a16:creationId xmlns:a16="http://schemas.microsoft.com/office/drawing/2014/main" id="{C71533EF-6755-7268-6CA5-79C13828B470}"/>
              </a:ext>
            </a:extLst>
          </p:cNvPr>
          <p:cNvSpPr/>
          <p:nvPr/>
        </p:nvSpPr>
        <p:spPr>
          <a:xfrm>
            <a:off x="3161563" y="1580950"/>
            <a:ext cx="4754458" cy="4719145"/>
          </a:xfrm>
          <a:prstGeom prst="ellipse">
            <a:avLst/>
          </a:prstGeom>
          <a:noFill/>
          <a:ln w="38100">
            <a:solidFill>
              <a:srgbClr val="1323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3235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11819716-D485-6175-BE1F-282ECA543710}"/>
              </a:ext>
            </a:extLst>
          </p:cNvPr>
          <p:cNvCxnSpPr/>
          <p:nvPr/>
        </p:nvCxnSpPr>
        <p:spPr>
          <a:xfrm flipV="1">
            <a:off x="5929289" y="2967987"/>
            <a:ext cx="683173" cy="48610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7">
            <a:extLst>
              <a:ext uri="{FF2B5EF4-FFF2-40B4-BE49-F238E27FC236}">
                <a16:creationId xmlns:a16="http://schemas.microsoft.com/office/drawing/2014/main" id="{10DCF2AA-80BE-A4AD-8908-ACA32EE6A344}"/>
              </a:ext>
            </a:extLst>
          </p:cNvPr>
          <p:cNvCxnSpPr>
            <a:cxnSpLocks/>
          </p:cNvCxnSpPr>
          <p:nvPr/>
        </p:nvCxnSpPr>
        <p:spPr>
          <a:xfrm flipV="1">
            <a:off x="5651660" y="2543631"/>
            <a:ext cx="61943" cy="66740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8">
            <a:extLst>
              <a:ext uri="{FF2B5EF4-FFF2-40B4-BE49-F238E27FC236}">
                <a16:creationId xmlns:a16="http://schemas.microsoft.com/office/drawing/2014/main" id="{C0A0B300-6184-936E-EAAB-19720972236D}"/>
              </a:ext>
            </a:extLst>
          </p:cNvPr>
          <p:cNvCxnSpPr>
            <a:cxnSpLocks/>
          </p:cNvCxnSpPr>
          <p:nvPr/>
        </p:nvCxnSpPr>
        <p:spPr>
          <a:xfrm flipH="1" flipV="1">
            <a:off x="4455133" y="3581817"/>
            <a:ext cx="662081" cy="2198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09C604B3-FD65-B184-3977-5703EFF44986}"/>
              </a:ext>
            </a:extLst>
          </p:cNvPr>
          <p:cNvCxnSpPr>
            <a:cxnSpLocks/>
          </p:cNvCxnSpPr>
          <p:nvPr/>
        </p:nvCxnSpPr>
        <p:spPr>
          <a:xfrm flipH="1">
            <a:off x="4399686" y="4086943"/>
            <a:ext cx="713843" cy="1621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>
            <a:off x="4704368" y="4462220"/>
            <a:ext cx="471790" cy="4043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6269D0A6-D2C6-352A-5436-DC164A5C6168}"/>
              </a:ext>
            </a:extLst>
          </p:cNvPr>
          <p:cNvCxnSpPr>
            <a:cxnSpLocks/>
          </p:cNvCxnSpPr>
          <p:nvPr/>
        </p:nvCxnSpPr>
        <p:spPr>
          <a:xfrm flipH="1">
            <a:off x="5408699" y="4569817"/>
            <a:ext cx="134177" cy="79043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7E1BD4C8-B3FB-7E0C-76C8-89D0C45CBDA0}"/>
              </a:ext>
            </a:extLst>
          </p:cNvPr>
          <p:cNvCxnSpPr>
            <a:cxnSpLocks/>
          </p:cNvCxnSpPr>
          <p:nvPr/>
        </p:nvCxnSpPr>
        <p:spPr>
          <a:xfrm>
            <a:off x="5943898" y="4534166"/>
            <a:ext cx="326977" cy="54377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3">
            <a:extLst>
              <a:ext uri="{FF2B5EF4-FFF2-40B4-BE49-F238E27FC236}">
                <a16:creationId xmlns:a16="http://schemas.microsoft.com/office/drawing/2014/main" id="{D6A2BA76-8BFF-FC0A-951B-D4A8953D0363}"/>
              </a:ext>
            </a:extLst>
          </p:cNvPr>
          <p:cNvCxnSpPr>
            <a:cxnSpLocks/>
          </p:cNvCxnSpPr>
          <p:nvPr/>
        </p:nvCxnSpPr>
        <p:spPr>
          <a:xfrm flipV="1">
            <a:off x="6137707" y="3751075"/>
            <a:ext cx="700083" cy="117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7">
            <a:extLst>
              <a:ext uri="{FF2B5EF4-FFF2-40B4-BE49-F238E27FC236}">
                <a16:creationId xmlns:a16="http://schemas.microsoft.com/office/drawing/2014/main" id="{6520BE6F-8761-B861-E6F0-2A2948C744FC}"/>
              </a:ext>
            </a:extLst>
          </p:cNvPr>
          <p:cNvCxnSpPr>
            <a:cxnSpLocks/>
          </p:cNvCxnSpPr>
          <p:nvPr/>
        </p:nvCxnSpPr>
        <p:spPr>
          <a:xfrm>
            <a:off x="6146984" y="4249073"/>
            <a:ext cx="699232" cy="28509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8">
            <a:extLst>
              <a:ext uri="{FF2B5EF4-FFF2-40B4-BE49-F238E27FC236}">
                <a16:creationId xmlns:a16="http://schemas.microsoft.com/office/drawing/2014/main" id="{1F7F8ED7-35AD-B819-798C-11CDEAAA62BD}"/>
              </a:ext>
            </a:extLst>
          </p:cNvPr>
          <p:cNvCxnSpPr>
            <a:cxnSpLocks/>
          </p:cNvCxnSpPr>
          <p:nvPr/>
        </p:nvCxnSpPr>
        <p:spPr>
          <a:xfrm flipH="1" flipV="1">
            <a:off x="5021855" y="2902571"/>
            <a:ext cx="377414" cy="42435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38A207-7763-6598-3065-862C66E1DA57}"/>
              </a:ext>
            </a:extLst>
          </p:cNvPr>
          <p:cNvSpPr txBox="1"/>
          <p:nvPr/>
        </p:nvSpPr>
        <p:spPr>
          <a:xfrm>
            <a:off x="3489549" y="3236406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מועדון חברתי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61F1E-4302-041C-B146-719731888394}"/>
              </a:ext>
            </a:extLst>
          </p:cNvPr>
          <p:cNvSpPr txBox="1"/>
          <p:nvPr/>
        </p:nvSpPr>
        <p:spPr>
          <a:xfrm>
            <a:off x="3465203" y="3940523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רווחה מרחוק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307C2-1CA4-2D53-764C-C8EF8ADC59C6}"/>
              </a:ext>
            </a:extLst>
          </p:cNvPr>
          <p:cNvSpPr txBox="1"/>
          <p:nvPr/>
        </p:nvSpPr>
        <p:spPr>
          <a:xfrm>
            <a:off x="3922336" y="4866564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טכנולוגית עזר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4134D-E90F-5A9F-FC91-AED5FABA20C0}"/>
              </a:ext>
            </a:extLst>
          </p:cNvPr>
          <p:cNvSpPr txBox="1"/>
          <p:nvPr/>
        </p:nvSpPr>
        <p:spPr>
          <a:xfrm>
            <a:off x="4097363" y="2140811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משפחתי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41463-83C2-6462-0E82-DE2013E89751}"/>
              </a:ext>
            </a:extLst>
          </p:cNvPr>
          <p:cNvSpPr txBox="1"/>
          <p:nvPr/>
        </p:nvSpPr>
        <p:spPr>
          <a:xfrm>
            <a:off x="4809744" y="5311319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התעמלות בפארק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59D09-04DA-46AA-05CE-B8B94373665A}"/>
              </a:ext>
            </a:extLst>
          </p:cNvPr>
          <p:cNvSpPr txBox="1"/>
          <p:nvPr/>
        </p:nvSpPr>
        <p:spPr>
          <a:xfrm>
            <a:off x="6572439" y="3365720"/>
            <a:ext cx="144385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תזונה ובריאות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6670D-4580-7702-7800-00603C1C37DA}"/>
              </a:ext>
            </a:extLst>
          </p:cNvPr>
          <p:cNvSpPr txBox="1"/>
          <p:nvPr/>
        </p:nvSpPr>
        <p:spPr>
          <a:xfrm>
            <a:off x="6554183" y="4521560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תעסוקה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7D3BC-5274-84FA-401A-348BB8E77A87}"/>
              </a:ext>
            </a:extLst>
          </p:cNvPr>
          <p:cNvSpPr txBox="1"/>
          <p:nvPr/>
        </p:nvSpPr>
        <p:spPr>
          <a:xfrm>
            <a:off x="6309210" y="2533824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התנדבות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1C5937-A365-CF42-5376-56E8CE1D7B3C}"/>
              </a:ext>
            </a:extLst>
          </p:cNvPr>
          <p:cNvSpPr txBox="1"/>
          <p:nvPr/>
        </p:nvSpPr>
        <p:spPr>
          <a:xfrm>
            <a:off x="5157749" y="1770667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פיננסי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11621-D4E0-68EA-B1F3-772C2E7F2893}"/>
              </a:ext>
            </a:extLst>
          </p:cNvPr>
          <p:cNvSpPr txBox="1"/>
          <p:nvPr/>
        </p:nvSpPr>
        <p:spPr>
          <a:xfrm>
            <a:off x="5835016" y="5125577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ניקיון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 flipV="1">
            <a:off x="4711567" y="3229314"/>
            <a:ext cx="520665" cy="37734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מלבן 1"/>
          <p:cNvSpPr/>
          <p:nvPr/>
        </p:nvSpPr>
        <p:spPr>
          <a:xfrm>
            <a:off x="3680492" y="2867074"/>
            <a:ext cx="1252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בריכה/</a:t>
            </a:r>
            <a:r>
              <a:rPr kumimoji="0" lang="he-I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חד"כ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69" name="תמונה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07" y="6376439"/>
            <a:ext cx="1329883" cy="360485"/>
          </a:xfrm>
          <a:prstGeom prst="rect">
            <a:avLst/>
          </a:prstGeom>
        </p:spPr>
      </p:pic>
      <p:pic>
        <p:nvPicPr>
          <p:cNvPr id="35" name="Picture 28">
            <a:extLst>
              <a:ext uri="{FF2B5EF4-FFF2-40B4-BE49-F238E27FC236}">
                <a16:creationId xmlns:a16="http://schemas.microsoft.com/office/drawing/2014/main" id="{EF8D4F03-17FB-2890-09B5-7BB76E8A60C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74483" y="3258674"/>
            <a:ext cx="880565" cy="1208410"/>
          </a:xfrm>
          <a:prstGeom prst="rect">
            <a:avLst/>
          </a:prstGeom>
        </p:spPr>
      </p:pic>
      <p:pic>
        <p:nvPicPr>
          <p:cNvPr id="36" name="Graphic 18">
            <a:extLst>
              <a:ext uri="{FF2B5EF4-FFF2-40B4-BE49-F238E27FC236}">
                <a16:creationId xmlns:a16="http://schemas.microsoft.com/office/drawing/2014/main" id="{7F2C6167-3062-BA39-5F1F-DE5FC2673C7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918"/>
          <a:stretch/>
        </p:blipFill>
        <p:spPr>
          <a:xfrm>
            <a:off x="249772" y="225370"/>
            <a:ext cx="823170" cy="824010"/>
          </a:xfrm>
          <a:prstGeom prst="rect">
            <a:avLst/>
          </a:prstGeom>
        </p:spPr>
      </p:pic>
      <p:pic>
        <p:nvPicPr>
          <p:cNvPr id="37" name="Picture 26">
            <a:extLst>
              <a:ext uri="{FF2B5EF4-FFF2-40B4-BE49-F238E27FC236}">
                <a16:creationId xmlns:a16="http://schemas.microsoft.com/office/drawing/2014/main" id="{A99D4F79-27A5-81E3-114C-FDB87D928C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2342" y="6245569"/>
            <a:ext cx="1118350" cy="612431"/>
          </a:xfrm>
          <a:prstGeom prst="rect">
            <a:avLst/>
          </a:prstGeom>
          <a:ln>
            <a:noFill/>
          </a:ln>
        </p:spPr>
      </p:pic>
      <p:sp>
        <p:nvSpPr>
          <p:cNvPr id="38" name="Freeform: Shape 7">
            <a:extLst>
              <a:ext uri="{FF2B5EF4-FFF2-40B4-BE49-F238E27FC236}">
                <a16:creationId xmlns:a16="http://schemas.microsoft.com/office/drawing/2014/main" id="{D9021EB3-D6DD-4977-14C2-47DCAC1703CB}"/>
              </a:ext>
            </a:extLst>
          </p:cNvPr>
          <p:cNvSpPr/>
          <p:nvPr/>
        </p:nvSpPr>
        <p:spPr>
          <a:xfrm>
            <a:off x="9669290" y="3989725"/>
            <a:ext cx="1047456" cy="1047456"/>
          </a:xfrm>
          <a:custGeom>
            <a:avLst/>
            <a:gdLst>
              <a:gd name="connsiteX0" fmla="*/ 0 w 1047456"/>
              <a:gd name="connsiteY0" fmla="*/ 523728 h 1047456"/>
              <a:gd name="connsiteX1" fmla="*/ 523728 w 1047456"/>
              <a:gd name="connsiteY1" fmla="*/ 0 h 1047456"/>
              <a:gd name="connsiteX2" fmla="*/ 1047456 w 1047456"/>
              <a:gd name="connsiteY2" fmla="*/ 523728 h 1047456"/>
              <a:gd name="connsiteX3" fmla="*/ 523728 w 1047456"/>
              <a:gd name="connsiteY3" fmla="*/ 1047456 h 1047456"/>
              <a:gd name="connsiteX4" fmla="*/ 0 w 1047456"/>
              <a:gd name="connsiteY4" fmla="*/ 523728 h 104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456" h="1047456">
                <a:moveTo>
                  <a:pt x="0" y="523728"/>
                </a:moveTo>
                <a:cubicBezTo>
                  <a:pt x="0" y="234481"/>
                  <a:pt x="234481" y="0"/>
                  <a:pt x="523728" y="0"/>
                </a:cubicBezTo>
                <a:cubicBezTo>
                  <a:pt x="812975" y="0"/>
                  <a:pt x="1047456" y="234481"/>
                  <a:pt x="1047456" y="523728"/>
                </a:cubicBezTo>
                <a:cubicBezTo>
                  <a:pt x="1047456" y="812975"/>
                  <a:pt x="812975" y="1047456"/>
                  <a:pt x="523728" y="1047456"/>
                </a:cubicBezTo>
                <a:cubicBezTo>
                  <a:pt x="234481" y="1047456"/>
                  <a:pt x="0" y="812975"/>
                  <a:pt x="0" y="523728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191" tIns="164191" rIns="164191" bIns="164191" numCol="1" spcCol="1270" anchor="ctr" anchorCtr="0">
            <a:noAutofit/>
          </a:bodyPr>
          <a:lstStyle/>
          <a:p>
            <a:pPr marL="0" lvl="0" indent="0" algn="ctr" defTabSz="7556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b="1" kern="12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שירות מותאם </a:t>
            </a:r>
            <a:r>
              <a:rPr lang="en-US" sz="1400" b="1" kern="12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AI</a:t>
            </a:r>
            <a:endParaRPr lang="he-IL" sz="1400" b="1" kern="12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9" name="Arrow: Left 9">
            <a:extLst>
              <a:ext uri="{FF2B5EF4-FFF2-40B4-BE49-F238E27FC236}">
                <a16:creationId xmlns:a16="http://schemas.microsoft.com/office/drawing/2014/main" id="{EA53B4A3-D66F-B475-AD79-0C25D88C7AB3}"/>
              </a:ext>
            </a:extLst>
          </p:cNvPr>
          <p:cNvSpPr/>
          <p:nvPr/>
        </p:nvSpPr>
        <p:spPr>
          <a:xfrm rot="12900000">
            <a:off x="8954790" y="3793135"/>
            <a:ext cx="845353" cy="298525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0" name="Freeform: Shape 10">
            <a:extLst>
              <a:ext uri="{FF2B5EF4-FFF2-40B4-BE49-F238E27FC236}">
                <a16:creationId xmlns:a16="http://schemas.microsoft.com/office/drawing/2014/main" id="{1B124F26-45B8-D498-F4AF-961AD4B6BEBA}"/>
              </a:ext>
            </a:extLst>
          </p:cNvPr>
          <p:cNvSpPr/>
          <p:nvPr/>
        </p:nvSpPr>
        <p:spPr>
          <a:xfrm>
            <a:off x="8533688" y="3301927"/>
            <a:ext cx="995083" cy="796066"/>
          </a:xfrm>
          <a:custGeom>
            <a:avLst/>
            <a:gdLst>
              <a:gd name="connsiteX0" fmla="*/ 0 w 995083"/>
              <a:gd name="connsiteY0" fmla="*/ 79607 h 796066"/>
              <a:gd name="connsiteX1" fmla="*/ 79607 w 995083"/>
              <a:gd name="connsiteY1" fmla="*/ 0 h 796066"/>
              <a:gd name="connsiteX2" fmla="*/ 915476 w 995083"/>
              <a:gd name="connsiteY2" fmla="*/ 0 h 796066"/>
              <a:gd name="connsiteX3" fmla="*/ 995083 w 995083"/>
              <a:gd name="connsiteY3" fmla="*/ 79607 h 796066"/>
              <a:gd name="connsiteX4" fmla="*/ 995083 w 995083"/>
              <a:gd name="connsiteY4" fmla="*/ 716459 h 796066"/>
              <a:gd name="connsiteX5" fmla="*/ 915476 w 995083"/>
              <a:gd name="connsiteY5" fmla="*/ 796066 h 796066"/>
              <a:gd name="connsiteX6" fmla="*/ 79607 w 995083"/>
              <a:gd name="connsiteY6" fmla="*/ 796066 h 796066"/>
              <a:gd name="connsiteX7" fmla="*/ 0 w 995083"/>
              <a:gd name="connsiteY7" fmla="*/ 716459 h 796066"/>
              <a:gd name="connsiteX8" fmla="*/ 0 w 995083"/>
              <a:gd name="connsiteY8" fmla="*/ 79607 h 79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083" h="796066">
                <a:moveTo>
                  <a:pt x="0" y="79607"/>
                </a:moveTo>
                <a:cubicBezTo>
                  <a:pt x="0" y="35641"/>
                  <a:pt x="35641" y="0"/>
                  <a:pt x="79607" y="0"/>
                </a:cubicBezTo>
                <a:lnTo>
                  <a:pt x="915476" y="0"/>
                </a:lnTo>
                <a:cubicBezTo>
                  <a:pt x="959442" y="0"/>
                  <a:pt x="995083" y="35641"/>
                  <a:pt x="995083" y="79607"/>
                </a:cubicBezTo>
                <a:lnTo>
                  <a:pt x="995083" y="716459"/>
                </a:lnTo>
                <a:cubicBezTo>
                  <a:pt x="995083" y="760425"/>
                  <a:pt x="959442" y="796066"/>
                  <a:pt x="915476" y="796066"/>
                </a:cubicBezTo>
                <a:lnTo>
                  <a:pt x="79607" y="796066"/>
                </a:lnTo>
                <a:cubicBezTo>
                  <a:pt x="35641" y="796066"/>
                  <a:pt x="0" y="760425"/>
                  <a:pt x="0" y="716459"/>
                </a:cubicBezTo>
                <a:lnTo>
                  <a:pt x="0" y="7960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321" tIns="63321" rIns="63321" bIns="63321" numCol="1" spcCol="1270" anchor="ctr" anchorCtr="0">
            <a:noAutofit/>
          </a:bodyPr>
          <a:lstStyle/>
          <a:p>
            <a:pPr marL="0" lvl="0" indent="0" algn="ctr" defTabSz="9334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רצון ובחירה</a:t>
            </a:r>
          </a:p>
        </p:txBody>
      </p:sp>
      <p:sp>
        <p:nvSpPr>
          <p:cNvPr id="41" name="Arrow: Left 35">
            <a:extLst>
              <a:ext uri="{FF2B5EF4-FFF2-40B4-BE49-F238E27FC236}">
                <a16:creationId xmlns:a16="http://schemas.microsoft.com/office/drawing/2014/main" id="{0E32CBDD-6D1A-6450-D585-29473E5900AC}"/>
              </a:ext>
            </a:extLst>
          </p:cNvPr>
          <p:cNvSpPr/>
          <p:nvPr/>
        </p:nvSpPr>
        <p:spPr>
          <a:xfrm rot="16200000">
            <a:off x="9770341" y="3368585"/>
            <a:ext cx="845353" cy="298525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419062"/>
              <a:satOff val="-4829"/>
              <a:lumOff val="1079"/>
              <a:alphaOff val="0"/>
            </a:schemeClr>
          </a:fillRef>
          <a:effectRef idx="1">
            <a:schemeClr val="accent2">
              <a:hueOff val="-419062"/>
              <a:satOff val="-4829"/>
              <a:lumOff val="1079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2" name="Freeform: Shape 36">
            <a:extLst>
              <a:ext uri="{FF2B5EF4-FFF2-40B4-BE49-F238E27FC236}">
                <a16:creationId xmlns:a16="http://schemas.microsoft.com/office/drawing/2014/main" id="{C5DDEDD0-0F04-B6E8-5FC9-E0FB5ACB2A70}"/>
              </a:ext>
            </a:extLst>
          </p:cNvPr>
          <p:cNvSpPr/>
          <p:nvPr/>
        </p:nvSpPr>
        <p:spPr>
          <a:xfrm>
            <a:off x="9695476" y="2697138"/>
            <a:ext cx="995083" cy="796066"/>
          </a:xfrm>
          <a:custGeom>
            <a:avLst/>
            <a:gdLst>
              <a:gd name="connsiteX0" fmla="*/ 0 w 995083"/>
              <a:gd name="connsiteY0" fmla="*/ 79607 h 796066"/>
              <a:gd name="connsiteX1" fmla="*/ 79607 w 995083"/>
              <a:gd name="connsiteY1" fmla="*/ 0 h 796066"/>
              <a:gd name="connsiteX2" fmla="*/ 915476 w 995083"/>
              <a:gd name="connsiteY2" fmla="*/ 0 h 796066"/>
              <a:gd name="connsiteX3" fmla="*/ 995083 w 995083"/>
              <a:gd name="connsiteY3" fmla="*/ 79607 h 796066"/>
              <a:gd name="connsiteX4" fmla="*/ 995083 w 995083"/>
              <a:gd name="connsiteY4" fmla="*/ 716459 h 796066"/>
              <a:gd name="connsiteX5" fmla="*/ 915476 w 995083"/>
              <a:gd name="connsiteY5" fmla="*/ 796066 h 796066"/>
              <a:gd name="connsiteX6" fmla="*/ 79607 w 995083"/>
              <a:gd name="connsiteY6" fmla="*/ 796066 h 796066"/>
              <a:gd name="connsiteX7" fmla="*/ 0 w 995083"/>
              <a:gd name="connsiteY7" fmla="*/ 716459 h 796066"/>
              <a:gd name="connsiteX8" fmla="*/ 0 w 995083"/>
              <a:gd name="connsiteY8" fmla="*/ 79607 h 79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083" h="796066">
                <a:moveTo>
                  <a:pt x="0" y="79607"/>
                </a:moveTo>
                <a:cubicBezTo>
                  <a:pt x="0" y="35641"/>
                  <a:pt x="35641" y="0"/>
                  <a:pt x="79607" y="0"/>
                </a:cubicBezTo>
                <a:lnTo>
                  <a:pt x="915476" y="0"/>
                </a:lnTo>
                <a:cubicBezTo>
                  <a:pt x="959442" y="0"/>
                  <a:pt x="995083" y="35641"/>
                  <a:pt x="995083" y="79607"/>
                </a:cubicBezTo>
                <a:lnTo>
                  <a:pt x="995083" y="716459"/>
                </a:lnTo>
                <a:cubicBezTo>
                  <a:pt x="995083" y="760425"/>
                  <a:pt x="959442" y="796066"/>
                  <a:pt x="915476" y="796066"/>
                </a:cubicBezTo>
                <a:lnTo>
                  <a:pt x="79607" y="796066"/>
                </a:lnTo>
                <a:cubicBezTo>
                  <a:pt x="35641" y="796066"/>
                  <a:pt x="0" y="760425"/>
                  <a:pt x="0" y="716459"/>
                </a:cubicBezTo>
                <a:lnTo>
                  <a:pt x="0" y="7960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419062"/>
              <a:satOff val="-4829"/>
              <a:lumOff val="1079"/>
              <a:alphaOff val="0"/>
            </a:schemeClr>
          </a:fillRef>
          <a:effectRef idx="1">
            <a:schemeClr val="accent2">
              <a:hueOff val="-419062"/>
              <a:satOff val="-4829"/>
              <a:lumOff val="107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321" tIns="63321" rIns="63321" bIns="63321" numCol="1" spcCol="1270" anchor="ctr" anchorCtr="0">
            <a:noAutofit/>
          </a:bodyPr>
          <a:lstStyle/>
          <a:p>
            <a:pPr marL="0" lvl="0" indent="0" algn="ctr" defTabSz="9334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מדידה והמלצות</a:t>
            </a:r>
          </a:p>
        </p:txBody>
      </p:sp>
      <p:sp>
        <p:nvSpPr>
          <p:cNvPr id="43" name="Arrow: Left 37">
            <a:extLst>
              <a:ext uri="{FF2B5EF4-FFF2-40B4-BE49-F238E27FC236}">
                <a16:creationId xmlns:a16="http://schemas.microsoft.com/office/drawing/2014/main" id="{6183D7EE-C3F6-AFEC-6464-7F9488F30154}"/>
              </a:ext>
            </a:extLst>
          </p:cNvPr>
          <p:cNvSpPr/>
          <p:nvPr/>
        </p:nvSpPr>
        <p:spPr>
          <a:xfrm rot="19500000">
            <a:off x="10585893" y="3793135"/>
            <a:ext cx="845353" cy="298525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838123"/>
              <a:satOff val="-9658"/>
              <a:lumOff val="2159"/>
              <a:alphaOff val="0"/>
            </a:schemeClr>
          </a:fillRef>
          <a:effectRef idx="1">
            <a:schemeClr val="accent2">
              <a:hueOff val="-838123"/>
              <a:satOff val="-9658"/>
              <a:lumOff val="2159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4" name="Freeform: Shape 38">
            <a:extLst>
              <a:ext uri="{FF2B5EF4-FFF2-40B4-BE49-F238E27FC236}">
                <a16:creationId xmlns:a16="http://schemas.microsoft.com/office/drawing/2014/main" id="{8A01B39F-ACC8-4B4B-EA8D-C5DDB1D4DB2F}"/>
              </a:ext>
            </a:extLst>
          </p:cNvPr>
          <p:cNvSpPr/>
          <p:nvPr/>
        </p:nvSpPr>
        <p:spPr>
          <a:xfrm>
            <a:off x="10857265" y="3301927"/>
            <a:ext cx="995083" cy="796066"/>
          </a:xfrm>
          <a:custGeom>
            <a:avLst/>
            <a:gdLst>
              <a:gd name="connsiteX0" fmla="*/ 0 w 995083"/>
              <a:gd name="connsiteY0" fmla="*/ 79607 h 796066"/>
              <a:gd name="connsiteX1" fmla="*/ 79607 w 995083"/>
              <a:gd name="connsiteY1" fmla="*/ 0 h 796066"/>
              <a:gd name="connsiteX2" fmla="*/ 915476 w 995083"/>
              <a:gd name="connsiteY2" fmla="*/ 0 h 796066"/>
              <a:gd name="connsiteX3" fmla="*/ 995083 w 995083"/>
              <a:gd name="connsiteY3" fmla="*/ 79607 h 796066"/>
              <a:gd name="connsiteX4" fmla="*/ 995083 w 995083"/>
              <a:gd name="connsiteY4" fmla="*/ 716459 h 796066"/>
              <a:gd name="connsiteX5" fmla="*/ 915476 w 995083"/>
              <a:gd name="connsiteY5" fmla="*/ 796066 h 796066"/>
              <a:gd name="connsiteX6" fmla="*/ 79607 w 995083"/>
              <a:gd name="connsiteY6" fmla="*/ 796066 h 796066"/>
              <a:gd name="connsiteX7" fmla="*/ 0 w 995083"/>
              <a:gd name="connsiteY7" fmla="*/ 716459 h 796066"/>
              <a:gd name="connsiteX8" fmla="*/ 0 w 995083"/>
              <a:gd name="connsiteY8" fmla="*/ 79607 h 79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5083" h="796066">
                <a:moveTo>
                  <a:pt x="0" y="79607"/>
                </a:moveTo>
                <a:cubicBezTo>
                  <a:pt x="0" y="35641"/>
                  <a:pt x="35641" y="0"/>
                  <a:pt x="79607" y="0"/>
                </a:cubicBezTo>
                <a:lnTo>
                  <a:pt x="915476" y="0"/>
                </a:lnTo>
                <a:cubicBezTo>
                  <a:pt x="959442" y="0"/>
                  <a:pt x="995083" y="35641"/>
                  <a:pt x="995083" y="79607"/>
                </a:cubicBezTo>
                <a:lnTo>
                  <a:pt x="995083" y="716459"/>
                </a:lnTo>
                <a:cubicBezTo>
                  <a:pt x="995083" y="760425"/>
                  <a:pt x="959442" y="796066"/>
                  <a:pt x="915476" y="796066"/>
                </a:cubicBezTo>
                <a:lnTo>
                  <a:pt x="79607" y="796066"/>
                </a:lnTo>
                <a:cubicBezTo>
                  <a:pt x="35641" y="796066"/>
                  <a:pt x="0" y="760425"/>
                  <a:pt x="0" y="716459"/>
                </a:cubicBezTo>
                <a:lnTo>
                  <a:pt x="0" y="7960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838123"/>
              <a:satOff val="-9658"/>
              <a:lumOff val="2159"/>
              <a:alphaOff val="0"/>
            </a:schemeClr>
          </a:fillRef>
          <a:effectRef idx="1">
            <a:schemeClr val="accent2">
              <a:hueOff val="-838123"/>
              <a:satOff val="-9658"/>
              <a:lumOff val="215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321" tIns="63321" rIns="63321" bIns="63321" numCol="1" spcCol="1270" anchor="ctr" anchorCtr="0">
            <a:noAutofit/>
          </a:bodyPr>
          <a:lstStyle/>
          <a:p>
            <a:pPr marL="0" lvl="0" indent="0" algn="ctr" defTabSz="93345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צורך וקושי</a:t>
            </a:r>
          </a:p>
        </p:txBody>
      </p:sp>
      <p:sp>
        <p:nvSpPr>
          <p:cNvPr id="46" name="כותרת 2">
            <a:extLst>
              <a:ext uri="{FF2B5EF4-FFF2-40B4-BE49-F238E27FC236}">
                <a16:creationId xmlns:a16="http://schemas.microsoft.com/office/drawing/2014/main" id="{E0E22840-919C-33A6-3D01-C97ED1B4BDBD}"/>
              </a:ext>
            </a:extLst>
          </p:cNvPr>
          <p:cNvSpPr txBox="1">
            <a:spLocks/>
          </p:cNvSpPr>
          <p:nvPr/>
        </p:nvSpPr>
        <p:spPr>
          <a:xfrm>
            <a:off x="8344588" y="1541312"/>
            <a:ext cx="3696858" cy="10675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ssistant" pitchFamily="2" charset="-79"/>
                <a:ea typeface="+mj-ea"/>
                <a:cs typeface="Assistant" pitchFamily="2" charset="-79"/>
              </a:defRPr>
            </a:lvl1pPr>
          </a:lstStyle>
          <a:p>
            <a:pPr algn="ctr"/>
            <a:r>
              <a:rPr lang="he-IL" sz="2400" b="1" dirty="0">
                <a:solidFill>
                  <a:schemeClr val="accent1"/>
                </a:solidFill>
                <a:ea typeface="+mn-ea"/>
              </a:rPr>
              <a:t> </a:t>
            </a:r>
            <a:r>
              <a:rPr lang="en-US" sz="2400" b="1" dirty="0">
                <a:solidFill>
                  <a:schemeClr val="accent1"/>
                </a:solidFill>
                <a:ea typeface="+mn-ea"/>
              </a:rPr>
              <a:t>AI</a:t>
            </a:r>
            <a:r>
              <a:rPr lang="he-IL" sz="2400" b="1" dirty="0">
                <a:solidFill>
                  <a:schemeClr val="accent1"/>
                </a:solidFill>
                <a:ea typeface="+mn-ea"/>
              </a:rPr>
              <a:t>סל מותאם אישית </a:t>
            </a:r>
            <a:br>
              <a:rPr lang="he-IL" sz="3200" dirty="0"/>
            </a:br>
            <a:r>
              <a:rPr lang="he-IL" sz="1800" dirty="0">
                <a:ea typeface="+mn-ea"/>
              </a:rPr>
              <a:t>מבוסס נתונים</a:t>
            </a:r>
            <a:br>
              <a:rPr lang="he-IL" sz="1800" dirty="0">
                <a:ea typeface="+mn-ea"/>
              </a:rPr>
            </a:br>
            <a:r>
              <a:rPr lang="he-IL" sz="1800" dirty="0">
                <a:ea typeface="+mn-ea"/>
              </a:rPr>
              <a:t>לבחירת האזרח</a:t>
            </a:r>
          </a:p>
        </p:txBody>
      </p:sp>
      <p:sp>
        <p:nvSpPr>
          <p:cNvPr id="47" name="צורה חופשית: צורה 26">
            <a:extLst>
              <a:ext uri="{FF2B5EF4-FFF2-40B4-BE49-F238E27FC236}">
                <a16:creationId xmlns:a16="http://schemas.microsoft.com/office/drawing/2014/main" id="{FC9996F3-9B6D-F6D5-51F8-8D581C3E4D72}"/>
              </a:ext>
            </a:extLst>
          </p:cNvPr>
          <p:cNvSpPr/>
          <p:nvPr/>
        </p:nvSpPr>
        <p:spPr>
          <a:xfrm>
            <a:off x="4252834" y="343246"/>
            <a:ext cx="2358692" cy="1134971"/>
          </a:xfrm>
          <a:custGeom>
            <a:avLst/>
            <a:gdLst>
              <a:gd name="connsiteX0" fmla="*/ 0 w 1005021"/>
              <a:gd name="connsiteY0" fmla="*/ 0 h 1005021"/>
              <a:gd name="connsiteX1" fmla="*/ 1005021 w 1005021"/>
              <a:gd name="connsiteY1" fmla="*/ 0 h 1005021"/>
              <a:gd name="connsiteX2" fmla="*/ 1005021 w 1005021"/>
              <a:gd name="connsiteY2" fmla="*/ 1005021 h 1005021"/>
              <a:gd name="connsiteX3" fmla="*/ 0 w 1005021"/>
              <a:gd name="connsiteY3" fmla="*/ 1005021 h 1005021"/>
              <a:gd name="connsiteX4" fmla="*/ 0 w 1005021"/>
              <a:gd name="connsiteY4" fmla="*/ 0 h 100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021" h="1005021">
                <a:moveTo>
                  <a:pt x="0" y="0"/>
                </a:moveTo>
                <a:lnTo>
                  <a:pt x="1005021" y="0"/>
                </a:lnTo>
                <a:lnTo>
                  <a:pt x="1005021" y="1005021"/>
                </a:lnTo>
                <a:lnTo>
                  <a:pt x="0" y="10050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17780" rIns="17780" bIns="17780" numCol="1" spcCol="1270" anchor="t" anchorCtr="0">
            <a:noAutofit/>
          </a:bodyPr>
          <a:lstStyle/>
          <a:p>
            <a:pPr marL="0" marR="0" lvl="0" indent="0" algn="ctr" defTabSz="6223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סל שירותים אישי </a:t>
            </a:r>
            <a:r>
              <a:rPr kumimoji="0" lang="he-IL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</a:rPr>
              <a:t>מעטפת שירותים לבחירת האזרח הוותיק</a:t>
            </a:r>
          </a:p>
        </p:txBody>
      </p:sp>
    </p:spTree>
    <p:extLst>
      <p:ext uri="{BB962C8B-B14F-4D97-AF65-F5344CB8AC3E}">
        <p14:creationId xmlns:p14="http://schemas.microsoft.com/office/powerpoint/2010/main" val="1632922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685678F4-47CE-4125-83E4-D46D4C34AF93}"/>
              </a:ext>
            </a:extLst>
          </p:cNvPr>
          <p:cNvSpPr txBox="1"/>
          <p:nvPr/>
        </p:nvSpPr>
        <p:spPr>
          <a:xfrm>
            <a:off x="2136846" y="3608660"/>
            <a:ext cx="8110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פיתוח </a:t>
            </a:r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מנגנון גמיש לאישור </a:t>
            </a:r>
            <a:r>
              <a:rPr lang="he-IL" sz="24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המוצרים והשירותים </a:t>
            </a:r>
            <a:endParaRPr lang="en-IL" sz="2400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5F55E6-362B-4276-A430-7B96942F9019}"/>
              </a:ext>
            </a:extLst>
          </p:cNvPr>
          <p:cNvSpPr txBox="1"/>
          <p:nvPr/>
        </p:nvSpPr>
        <p:spPr>
          <a:xfrm>
            <a:off x="2136846" y="3024509"/>
            <a:ext cx="8110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מערכת להצגה והנגשה </a:t>
            </a:r>
            <a:r>
              <a:rPr lang="he-IL" sz="24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של השירותים </a:t>
            </a:r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ותשלום בארנק דיגיטלי</a:t>
            </a:r>
            <a:endParaRPr lang="en-IL" sz="2400" b="1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BB95BA-D351-4272-919E-669B78D9E53B}"/>
              </a:ext>
            </a:extLst>
          </p:cNvPr>
          <p:cNvSpPr txBox="1"/>
          <p:nvPr/>
        </p:nvSpPr>
        <p:spPr>
          <a:xfrm>
            <a:off x="2136846" y="2440358"/>
            <a:ext cx="8110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גיבוש </a:t>
            </a:r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רגולציה תומכת</a:t>
            </a:r>
            <a:endParaRPr lang="en-IL" sz="2400" b="1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AEBD07-2F09-4148-B492-77871EB5C3C9}"/>
              </a:ext>
            </a:extLst>
          </p:cNvPr>
          <p:cNvSpPr txBox="1"/>
          <p:nvPr/>
        </p:nvSpPr>
        <p:spPr>
          <a:xfrm>
            <a:off x="9044892" y="1902458"/>
            <a:ext cx="1877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מה נדרש:</a:t>
            </a:r>
            <a:endParaRPr lang="en-IL" sz="2400" b="1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360EE5-8DC6-4301-B9E8-37FCF90E9F20}"/>
              </a:ext>
            </a:extLst>
          </p:cNvPr>
          <p:cNvSpPr txBox="1"/>
          <p:nvPr/>
        </p:nvSpPr>
        <p:spPr>
          <a:xfrm>
            <a:off x="114742" y="657921"/>
            <a:ext cx="103716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האדם במרכז (</a:t>
            </a:r>
            <a:r>
              <a:rPr lang="en-US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A</a:t>
            </a:r>
            <a:r>
              <a:rPr lang="he-IL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) </a:t>
            </a:r>
            <a:br>
              <a:rPr lang="en-US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3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פיתוח סל שירותים מותאם אישית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01E3E98-B3D9-4CF9-8C8E-64C68C0C51B2}"/>
              </a:ext>
            </a:extLst>
          </p:cNvPr>
          <p:cNvSpPr/>
          <p:nvPr/>
        </p:nvSpPr>
        <p:spPr>
          <a:xfrm flipH="1">
            <a:off x="10389177" y="2592919"/>
            <a:ext cx="216817" cy="1565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0AE3B7A5-C498-423F-A13E-89BB7E65AF87}"/>
              </a:ext>
            </a:extLst>
          </p:cNvPr>
          <p:cNvSpPr/>
          <p:nvPr/>
        </p:nvSpPr>
        <p:spPr>
          <a:xfrm flipH="1">
            <a:off x="10389177" y="3177070"/>
            <a:ext cx="216817" cy="1565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484B5CC0-F974-4F28-8FE8-6BD4D5D8E3A5}"/>
              </a:ext>
            </a:extLst>
          </p:cNvPr>
          <p:cNvSpPr/>
          <p:nvPr/>
        </p:nvSpPr>
        <p:spPr>
          <a:xfrm flipH="1">
            <a:off x="10377938" y="3761221"/>
            <a:ext cx="216817" cy="15654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F318CF-806B-4B04-AFAA-1E7E248729C7}"/>
              </a:ext>
            </a:extLst>
          </p:cNvPr>
          <p:cNvSpPr txBox="1"/>
          <p:nvPr/>
        </p:nvSpPr>
        <p:spPr>
          <a:xfrm flipH="1">
            <a:off x="8564898" y="5165422"/>
            <a:ext cx="1418732" cy="71508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ctr" rtl="1"/>
            <a:r>
              <a:rPr lang="he-IL" dirty="0">
                <a:solidFill>
                  <a:schemeClr val="bg1"/>
                </a:solidFill>
                <a:latin typeface="Assistant SemiBold" pitchFamily="2" charset="-79"/>
                <a:cs typeface="Assistant SemiBold" pitchFamily="2" charset="-79"/>
              </a:rPr>
              <a:t>חיבור של נתונים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8D518F-92C4-4D7C-BBA0-1A592D02CA0E}"/>
              </a:ext>
            </a:extLst>
          </p:cNvPr>
          <p:cNvSpPr txBox="1"/>
          <p:nvPr/>
        </p:nvSpPr>
        <p:spPr>
          <a:xfrm flipH="1">
            <a:off x="6445138" y="5165422"/>
            <a:ext cx="1630680" cy="71508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ctr" rtl="1"/>
            <a:r>
              <a:rPr lang="he-IL" dirty="0">
                <a:solidFill>
                  <a:schemeClr val="bg1"/>
                </a:solidFill>
                <a:latin typeface="Assistant SemiBold" pitchFamily="2" charset="-79"/>
                <a:cs typeface="Assistant SemiBold" pitchFamily="2" charset="-79"/>
              </a:rPr>
              <a:t>פרופילים של אזרחים ותיקים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8519BF-DBE8-4079-866F-257E09B43ADA}"/>
              </a:ext>
            </a:extLst>
          </p:cNvPr>
          <p:cNvSpPr txBox="1"/>
          <p:nvPr/>
        </p:nvSpPr>
        <p:spPr>
          <a:xfrm flipH="1">
            <a:off x="4315918" y="5165424"/>
            <a:ext cx="1630680" cy="71508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ctr" rtl="1"/>
            <a:r>
              <a:rPr lang="he-IL" dirty="0">
                <a:solidFill>
                  <a:schemeClr val="bg1"/>
                </a:solidFill>
                <a:latin typeface="Assistant SemiBold" pitchFamily="2" charset="-79"/>
                <a:cs typeface="Assistant SemiBold" pitchFamily="2" charset="-79"/>
              </a:rPr>
              <a:t>רגולציה</a:t>
            </a:r>
            <a:br>
              <a:rPr lang="en-US" dirty="0">
                <a:solidFill>
                  <a:schemeClr val="bg1"/>
                </a:solidFill>
                <a:latin typeface="Assistant SemiBold" pitchFamily="2" charset="-79"/>
                <a:cs typeface="Assistant SemiBold" pitchFamily="2" charset="-79"/>
              </a:rPr>
            </a:br>
            <a:r>
              <a:rPr lang="he-IL" dirty="0">
                <a:solidFill>
                  <a:schemeClr val="bg1"/>
                </a:solidFill>
                <a:latin typeface="Assistant SemiBold" pitchFamily="2" charset="-79"/>
                <a:cs typeface="Assistant SemiBold" pitchFamily="2" charset="-79"/>
              </a:rPr>
              <a:t> מאפשרת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219D2D-A485-4573-9D7A-CE795D1C51CF}"/>
              </a:ext>
            </a:extLst>
          </p:cNvPr>
          <p:cNvSpPr txBox="1"/>
          <p:nvPr/>
        </p:nvSpPr>
        <p:spPr>
          <a:xfrm flipH="1">
            <a:off x="2196158" y="5165423"/>
            <a:ext cx="1630680" cy="71508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algn="ctr" rtl="1"/>
            <a:r>
              <a:rPr lang="he-IL" dirty="0">
                <a:solidFill>
                  <a:schemeClr val="bg1"/>
                </a:solidFill>
                <a:latin typeface="Assistant SemiBold" pitchFamily="2" charset="-79"/>
                <a:cs typeface="Assistant SemiBold" pitchFamily="2" charset="-79"/>
              </a:rPr>
              <a:t>אקוסיסטם ומערכות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C4A4E5-16CA-4BB8-AEC8-78A3D6CE68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9918"/>
          <a:stretch/>
        </p:blipFill>
        <p:spPr>
          <a:xfrm>
            <a:off x="10594755" y="657921"/>
            <a:ext cx="823170" cy="82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39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A3539A7-D5FD-4789-882B-52A257A912A0}"/>
              </a:ext>
            </a:extLst>
          </p:cNvPr>
          <p:cNvSpPr txBox="1"/>
          <p:nvPr/>
        </p:nvSpPr>
        <p:spPr>
          <a:xfrm>
            <a:off x="2544685" y="1705909"/>
            <a:ext cx="8225463" cy="1660171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מיקוד באירועי חיים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– גיבוש מסעות לקוח ממוקדים ומתן מענה מקצועי ומקיף </a:t>
            </a:r>
          </a:p>
          <a:p>
            <a:pPr algn="r" rtl="1">
              <a:lnSpc>
                <a:spcPct val="200000"/>
              </a:lnSpc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מיקוד באזרח 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- הקמה של ממשקים דיגיטליים ידידותיים ומותאמים </a:t>
            </a:r>
            <a:r>
              <a:rPr lang="he-IL" sz="1600" u="sng" dirty="0">
                <a:latin typeface="Assistant" pitchFamily="2" charset="-79"/>
                <a:cs typeface="Assistant" pitchFamily="2" charset="-79"/>
              </a:rPr>
              <a:t>לאזרחים הוותיקים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ובני משפחותיהם </a:t>
            </a:r>
            <a:br>
              <a:rPr lang="en-US" sz="1600" dirty="0">
                <a:latin typeface="Assistant" pitchFamily="2" charset="-79"/>
                <a:cs typeface="Assistant" pitchFamily="2" charset="-79"/>
              </a:rPr>
            </a:b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מענה מגוון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– מתן סיוע במידע על זכויות, שירותים ממשלתיים, פתרונות שונים, תוכן מקצועי ועוד</a:t>
            </a:r>
            <a:endParaRPr lang="en-IL" sz="16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E63FB-25F6-4E5D-AF1F-CC6FF6A15BA4}"/>
              </a:ext>
            </a:extLst>
          </p:cNvPr>
          <p:cNvSpPr txBox="1"/>
          <p:nvPr/>
        </p:nvSpPr>
        <p:spPr>
          <a:xfrm>
            <a:off x="1375373" y="343198"/>
            <a:ext cx="93627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האדם במרכז (</a:t>
            </a:r>
            <a:r>
              <a:rPr lang="en-US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B</a:t>
            </a:r>
            <a:r>
              <a:rPr lang="he-IL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  <a:p>
            <a:pPr algn="r" rtl="1"/>
            <a:r>
              <a:rPr lang="he-IL" sz="28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פלטפורמה לאומית להזדקנות מיטבית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C46807-3EBA-4A6F-B55A-67C5A9EC60EA}"/>
              </a:ext>
            </a:extLst>
          </p:cNvPr>
          <p:cNvSpPr txBox="1"/>
          <p:nvPr/>
        </p:nvSpPr>
        <p:spPr>
          <a:xfrm>
            <a:off x="3136739" y="1237397"/>
            <a:ext cx="7584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הנגשת תכנים מקצועיים ומסייעים 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לאוכלוסיית האזרחים הוותיקים ובני משפחותיהם       </a:t>
            </a: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כמענה למגוון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אירועי חיים משמעותיים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, בשיתוף פעולה בין משרדי ומינוף כלים טכנולוגיים מתקדמים</a:t>
            </a:r>
            <a:endParaRPr lang="en-IL" sz="16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414B108B-A7E1-494B-BEC1-77707EB6B0C0}"/>
              </a:ext>
            </a:extLst>
          </p:cNvPr>
          <p:cNvSpPr/>
          <p:nvPr/>
        </p:nvSpPr>
        <p:spPr>
          <a:xfrm>
            <a:off x="10165919" y="4122431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68680-6141-4119-BD2C-3F0C07A95424}"/>
              </a:ext>
            </a:extLst>
          </p:cNvPr>
          <p:cNvSpPr txBox="1"/>
          <p:nvPr/>
        </p:nvSpPr>
        <p:spPr>
          <a:xfrm>
            <a:off x="10165919" y="4364821"/>
            <a:ext cx="10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תעסוקה והתנדבות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5D6CEBE-2043-46A7-B9E2-760DA0B62FD2}"/>
              </a:ext>
            </a:extLst>
          </p:cNvPr>
          <p:cNvSpPr/>
          <p:nvPr/>
        </p:nvSpPr>
        <p:spPr>
          <a:xfrm>
            <a:off x="9111962" y="4962794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7C98D-D1BD-4234-812C-41FAA70FB875}"/>
              </a:ext>
            </a:extLst>
          </p:cNvPr>
          <p:cNvSpPr txBox="1"/>
          <p:nvPr/>
        </p:nvSpPr>
        <p:spPr>
          <a:xfrm>
            <a:off x="9067322" y="5205184"/>
            <a:ext cx="109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פטירת </a:t>
            </a:r>
            <a:br>
              <a:rPr lang="en-US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בן\בת זוג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F50CE6AB-C541-4507-A015-B31DC795CBD4}"/>
              </a:ext>
            </a:extLst>
          </p:cNvPr>
          <p:cNvSpPr/>
          <p:nvPr/>
        </p:nvSpPr>
        <p:spPr>
          <a:xfrm>
            <a:off x="8013369" y="4122431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2EFDF0-4B36-40AA-AD26-88C7A18E40BF}"/>
              </a:ext>
            </a:extLst>
          </p:cNvPr>
          <p:cNvSpPr txBox="1"/>
          <p:nvPr/>
        </p:nvSpPr>
        <p:spPr>
          <a:xfrm>
            <a:off x="7968729" y="4472543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סיעוד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F7F06BB-A903-4FB5-B227-7BC9F50AF286}"/>
              </a:ext>
            </a:extLst>
          </p:cNvPr>
          <p:cNvSpPr/>
          <p:nvPr/>
        </p:nvSpPr>
        <p:spPr>
          <a:xfrm>
            <a:off x="6914776" y="4962794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A4E00B-7D4C-44D6-9651-3684ACFB0610}"/>
              </a:ext>
            </a:extLst>
          </p:cNvPr>
          <p:cNvSpPr txBox="1"/>
          <p:nvPr/>
        </p:nvSpPr>
        <p:spPr>
          <a:xfrm>
            <a:off x="6870136" y="5312906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אשפוז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CE122F0D-49DD-4B9D-8EC6-66CEDEA9D2D0}"/>
              </a:ext>
            </a:extLst>
          </p:cNvPr>
          <p:cNvSpPr/>
          <p:nvPr/>
        </p:nvSpPr>
        <p:spPr>
          <a:xfrm>
            <a:off x="5816183" y="4122431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346E4A-0AD6-4288-B017-3F69CCC096A4}"/>
              </a:ext>
            </a:extLst>
          </p:cNvPr>
          <p:cNvSpPr txBox="1"/>
          <p:nvPr/>
        </p:nvSpPr>
        <p:spPr>
          <a:xfrm>
            <a:off x="5771543" y="4364821"/>
            <a:ext cx="109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בני משפחה מטפלים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CCD6631C-1355-49CF-AC57-16E71C5EC144}"/>
              </a:ext>
            </a:extLst>
          </p:cNvPr>
          <p:cNvSpPr/>
          <p:nvPr/>
        </p:nvSpPr>
        <p:spPr>
          <a:xfrm>
            <a:off x="3618997" y="4122431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A180BD-7B75-40A2-823C-C75FDE760C32}"/>
              </a:ext>
            </a:extLst>
          </p:cNvPr>
          <p:cNvSpPr txBox="1"/>
          <p:nvPr/>
        </p:nvSpPr>
        <p:spPr>
          <a:xfrm>
            <a:off x="3574357" y="4364821"/>
            <a:ext cx="109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בתי אבות וגריאטריה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7AFA23BE-E502-4609-8E15-75DB11945431}"/>
              </a:ext>
            </a:extLst>
          </p:cNvPr>
          <p:cNvSpPr/>
          <p:nvPr/>
        </p:nvSpPr>
        <p:spPr>
          <a:xfrm>
            <a:off x="4717590" y="4962794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1D21BF-1F28-44EC-A3A2-96C3266AD930}"/>
              </a:ext>
            </a:extLst>
          </p:cNvPr>
          <p:cNvSpPr txBox="1"/>
          <p:nvPr/>
        </p:nvSpPr>
        <p:spPr>
          <a:xfrm>
            <a:off x="4672950" y="5312906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שיקום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1EFBC8E2-D0B0-4A9B-A996-90DC4585E0CB}"/>
              </a:ext>
            </a:extLst>
          </p:cNvPr>
          <p:cNvSpPr/>
          <p:nvPr/>
        </p:nvSpPr>
        <p:spPr>
          <a:xfrm>
            <a:off x="1421811" y="4122431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10CDE1-6B1C-4119-9A1B-BC72B4C50B17}"/>
              </a:ext>
            </a:extLst>
          </p:cNvPr>
          <p:cNvSpPr txBox="1"/>
          <p:nvPr/>
        </p:nvSpPr>
        <p:spPr>
          <a:xfrm>
            <a:off x="1377171" y="4472543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דמנציה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2ED7A23A-C867-497E-9341-3481CA0F38D3}"/>
              </a:ext>
            </a:extLst>
          </p:cNvPr>
          <p:cNvSpPr/>
          <p:nvPr/>
        </p:nvSpPr>
        <p:spPr>
          <a:xfrm>
            <a:off x="2520404" y="4962794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880DB5-1E7B-48E3-A3AD-9052BA28F0E4}"/>
              </a:ext>
            </a:extLst>
          </p:cNvPr>
          <p:cNvSpPr txBox="1"/>
          <p:nvPr/>
        </p:nvSpPr>
        <p:spPr>
          <a:xfrm>
            <a:off x="2475764" y="5312906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נכות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9B2986B0-5843-4DF2-9668-A2A9BAFE88F4}"/>
              </a:ext>
            </a:extLst>
          </p:cNvPr>
          <p:cNvSpPr/>
          <p:nvPr/>
        </p:nvSpPr>
        <p:spPr>
          <a:xfrm>
            <a:off x="323218" y="4962794"/>
            <a:ext cx="1008000" cy="1008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33400" dist="50800" dir="5400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78884A-4941-4833-A720-FAE66FA3CD91}"/>
              </a:ext>
            </a:extLst>
          </p:cNvPr>
          <p:cNvSpPr txBox="1"/>
          <p:nvPr/>
        </p:nvSpPr>
        <p:spPr>
          <a:xfrm>
            <a:off x="278578" y="5312906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14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סיום חיים</a:t>
            </a:r>
            <a:endParaRPr lang="en-IL" sz="14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B1C6A5-9F5D-474C-98FF-100DC1AB48C7}"/>
              </a:ext>
            </a:extLst>
          </p:cNvPr>
          <p:cNvSpPr txBox="1"/>
          <p:nvPr/>
        </p:nvSpPr>
        <p:spPr>
          <a:xfrm>
            <a:off x="9615962" y="3626545"/>
            <a:ext cx="1677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1600" u="sng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אירועי חיים לדוגמא:</a:t>
            </a:r>
            <a:endParaRPr lang="en-IL" sz="1600" u="sng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3A7FBC9-B112-482B-998F-CC0FC5FF3E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9918"/>
          <a:stretch/>
        </p:blipFill>
        <p:spPr>
          <a:xfrm>
            <a:off x="10972700" y="320613"/>
            <a:ext cx="823170" cy="82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50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89ED11F-AE28-42C4-B2AA-958555B20303}"/>
              </a:ext>
            </a:extLst>
          </p:cNvPr>
          <p:cNvSpPr/>
          <p:nvPr/>
        </p:nvSpPr>
        <p:spPr>
          <a:xfrm>
            <a:off x="274444" y="1035613"/>
            <a:ext cx="11643112" cy="56130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alpha val="92000"/>
              </a:schemeClr>
            </a:solidFill>
          </a:ln>
          <a:effectLst>
            <a:outerShdw blurRad="4826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21E71B-50DE-4616-82C1-4AA188EDAF4A}"/>
              </a:ext>
            </a:extLst>
          </p:cNvPr>
          <p:cNvSpPr txBox="1"/>
          <p:nvPr/>
        </p:nvSpPr>
        <p:spPr>
          <a:xfrm>
            <a:off x="3140827" y="222040"/>
            <a:ext cx="7717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8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מקרה בוחן</a:t>
            </a:r>
            <a:r>
              <a:rPr lang="en-US" sz="28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בניית עולמות תוכן סביב אירועי חיים - מחלות</a:t>
            </a:r>
            <a:endParaRPr lang="en-IL" sz="28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E7AE53-E084-41A1-A0B8-0E8705282D69}"/>
              </a:ext>
            </a:extLst>
          </p:cNvPr>
          <p:cNvSpPr txBox="1"/>
          <p:nvPr/>
        </p:nvSpPr>
        <p:spPr>
          <a:xfrm>
            <a:off x="7883868" y="1271758"/>
            <a:ext cx="3704671" cy="212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החברה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: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Pfizer</a:t>
            </a:r>
          </a:p>
          <a:p>
            <a:pPr algn="r" rtl="1">
              <a:lnSpc>
                <a:spcPct val="150000"/>
              </a:lnSpc>
            </a:pP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תעשייה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: חברת תרופות גרמנית בינלאומית 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אתר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: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www.pfizer.co.il</a:t>
            </a:r>
            <a:endParaRPr lang="he-IL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r" rtl="1">
              <a:lnSpc>
                <a:spcPct val="150000"/>
              </a:lnSpc>
            </a:pPr>
            <a:r>
              <a:rPr lang="he-IL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הקונספט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: החברה מנגישה מידע מקיף ומגוון על אירועי חיים - מחלות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75E0E0F-B58A-4F04-ACA3-4C2043C91C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42632">
            <a:off x="3799470" y="1936313"/>
            <a:ext cx="3677264" cy="109677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936CBC4-C9C1-4317-84AA-7F74EC49A1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504765">
            <a:off x="730696" y="3779123"/>
            <a:ext cx="3677264" cy="2183283"/>
          </a:xfrm>
          <a:prstGeom prst="rect">
            <a:avLst/>
          </a:prstGeom>
          <a:effectLst>
            <a:outerShdw blurRad="495300" dist="50800" dir="5400000" algn="ctr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06BA443-F312-4CF0-96B6-EEA097D3233D}"/>
              </a:ext>
            </a:extLst>
          </p:cNvPr>
          <p:cNvSpPr txBox="1"/>
          <p:nvPr/>
        </p:nvSpPr>
        <p:spPr>
          <a:xfrm>
            <a:off x="7586443" y="3701574"/>
            <a:ext cx="4033979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החברה מסייעת לגולשים להתמודד עם אירוע חיים תוך הבנה של המורכבות ושקיימות מגוון חזיתות להתמודדות. הפרספקטיבה איננה נובעת רק מה המיקוד העסקי של החברה – טיפול במחלה, אלא מסתכלת על הצורך המלא של המטופל\ת</a:t>
            </a:r>
            <a:endParaRPr lang="en-IL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624A436-5749-43B6-A2A5-0E80E7721A0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044680">
            <a:off x="2895514" y="4048100"/>
            <a:ext cx="4420152" cy="1371995"/>
          </a:xfrm>
          <a:prstGeom prst="rect">
            <a:avLst/>
          </a:prstGeom>
          <a:effectLst>
            <a:outerShdw blurRad="660400" dist="50800" dir="5400000" algn="ctr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D659EA0-C5C0-4A86-A920-376ABCAC406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398349">
            <a:off x="1292600" y="1576512"/>
            <a:ext cx="2553457" cy="2022298"/>
          </a:xfrm>
          <a:prstGeom prst="rect">
            <a:avLst/>
          </a:prstGeom>
          <a:effectLst>
            <a:outerShdw blurRad="736600" dist="50800" dir="5400000" algn="ctr" rotWithShape="0">
              <a:schemeClr val="tx2">
                <a:lumMod val="50000"/>
                <a:alpha val="43000"/>
              </a:schemeClr>
            </a:outerShdw>
          </a:effec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039CED1-879E-4B90-B565-FEE90016894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9918"/>
          <a:stretch/>
        </p:blipFill>
        <p:spPr>
          <a:xfrm>
            <a:off x="11094386" y="145794"/>
            <a:ext cx="823170" cy="82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34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ow to fix a broken ecosystem - reNature">
            <a:extLst>
              <a:ext uri="{FF2B5EF4-FFF2-40B4-BE49-F238E27FC236}">
                <a16:creationId xmlns:a16="http://schemas.microsoft.com/office/drawing/2014/main" id="{7667FAB1-45BF-4A46-908B-16B308848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84C77F-FE3A-44E7-A246-849691CD8859}"/>
              </a:ext>
            </a:extLst>
          </p:cNvPr>
          <p:cNvSpPr txBox="1"/>
          <p:nvPr/>
        </p:nvSpPr>
        <p:spPr>
          <a:xfrm>
            <a:off x="4744688" y="1581352"/>
            <a:ext cx="550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latin typeface="Assistant" pitchFamily="2" charset="-79"/>
                <a:cs typeface="Assistant" pitchFamily="2" charset="-79"/>
              </a:rPr>
              <a:t>יזום, גיבוש </a:t>
            </a:r>
            <a:r>
              <a:rPr lang="he-IL" b="1" dirty="0" err="1">
                <a:latin typeface="Assistant" pitchFamily="2" charset="-79"/>
                <a:cs typeface="Assistant" pitchFamily="2" charset="-79"/>
              </a:rPr>
              <a:t>ותמרוץ</a:t>
            </a:r>
            <a:r>
              <a:rPr lang="he-IL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שיתופי פעולה עם התעשייה ובכלל – </a:t>
            </a:r>
            <a:br>
              <a:rPr lang="en-US" dirty="0"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latin typeface="Assistant" pitchFamily="2" charset="-79"/>
                <a:cs typeface="Assistant" pitchFamily="2" charset="-79"/>
              </a:rPr>
              <a:t>המנוע המרכזי לקידום תחום הזקנה 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515EB-50CC-43F2-94DF-3673D91FA897}"/>
              </a:ext>
            </a:extLst>
          </p:cNvPr>
          <p:cNvSpPr txBox="1"/>
          <p:nvPr/>
        </p:nvSpPr>
        <p:spPr>
          <a:xfrm>
            <a:off x="7389992" y="4953482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מימון </a:t>
            </a:r>
            <a:r>
              <a:rPr lang="he-IL" sz="1600" dirty="0" err="1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מייזמים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6FA3E-EEAD-447F-A946-838E675FF30D}"/>
              </a:ext>
            </a:extLst>
          </p:cNvPr>
          <p:cNvSpPr txBox="1"/>
          <p:nvPr/>
        </p:nvSpPr>
        <p:spPr>
          <a:xfrm>
            <a:off x="8440616" y="3277158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איתור ויבוא טכנולוגיות מהעולם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413C5E-999B-4D5C-A153-290D63F3CC46}"/>
              </a:ext>
            </a:extLst>
          </p:cNvPr>
          <p:cNvSpPr txBox="1"/>
          <p:nvPr/>
        </p:nvSpPr>
        <p:spPr>
          <a:xfrm>
            <a:off x="6339371" y="3277158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עידוד השוק </a:t>
            </a:r>
            <a:r>
              <a:rPr lang="he-IL" sz="1600" dirty="0" err="1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העיסקי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69AEEE-004A-444A-9E8F-0D880680B061}"/>
              </a:ext>
            </a:extLst>
          </p:cNvPr>
          <p:cNvSpPr txBox="1"/>
          <p:nvPr/>
        </p:nvSpPr>
        <p:spPr>
          <a:xfrm>
            <a:off x="2136887" y="3277158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חממות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B13AC7-07FB-4327-99DF-A3676FEF6484}"/>
              </a:ext>
            </a:extLst>
          </p:cNvPr>
          <p:cNvSpPr txBox="1"/>
          <p:nvPr/>
        </p:nvSpPr>
        <p:spPr>
          <a:xfrm>
            <a:off x="4238129" y="3277158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חיבור בין תעשיה, אקדמיה, ממשלה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C556E5-9A75-4D1C-ABFE-D994B5A2C560}"/>
              </a:ext>
            </a:extLst>
          </p:cNvPr>
          <p:cNvSpPr txBox="1"/>
          <p:nvPr/>
        </p:nvSpPr>
        <p:spPr>
          <a:xfrm>
            <a:off x="3187508" y="4953482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מכרזי "תנופה"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0399F-9F5B-4445-85E2-252B3E6E5070}"/>
              </a:ext>
            </a:extLst>
          </p:cNvPr>
          <p:cNvSpPr txBox="1"/>
          <p:nvPr/>
        </p:nvSpPr>
        <p:spPr>
          <a:xfrm>
            <a:off x="5288750" y="4953482"/>
            <a:ext cx="1440000" cy="1440000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 rtl="1"/>
            <a:r>
              <a:rPr lang="en-US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Sandbox</a:t>
            </a:r>
            <a:endParaRPr lang="he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  <a:p>
            <a:pPr algn="ctr" rtl="1"/>
            <a:r>
              <a:rPr lang="he-IL" sz="1600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טכנולוגי</a:t>
            </a:r>
            <a:endParaRPr lang="en-IL" sz="1600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E9C662-E9EF-49D7-993E-53F83935B432}"/>
              </a:ext>
            </a:extLst>
          </p:cNvPr>
          <p:cNvSpPr txBox="1"/>
          <p:nvPr/>
        </p:nvSpPr>
        <p:spPr>
          <a:xfrm>
            <a:off x="7093241" y="2555017"/>
            <a:ext cx="2787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latin typeface="Assistant" pitchFamily="2" charset="-79"/>
                <a:cs typeface="Assistant" pitchFamily="2" charset="-79"/>
              </a:rPr>
              <a:t>כיווני פעולה מרכזיים:</a:t>
            </a:r>
            <a:endParaRPr lang="en-IL" b="1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FDE6F-90B1-435E-A893-A3DA6FF1F5AE}"/>
              </a:ext>
            </a:extLst>
          </p:cNvPr>
          <p:cNvSpPr txBox="1"/>
          <p:nvPr/>
        </p:nvSpPr>
        <p:spPr>
          <a:xfrm>
            <a:off x="4285609" y="671894"/>
            <a:ext cx="59598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האדם במרכז (</a:t>
            </a:r>
            <a:r>
              <a:rPr lang="en-US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C</a:t>
            </a:r>
            <a:r>
              <a:rPr lang="he-IL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) </a:t>
            </a:r>
            <a:br>
              <a:rPr lang="en-US" sz="1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28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הצמחת טכנולוגיות, מחקר </a:t>
            </a:r>
            <a:r>
              <a:rPr lang="he-IL" sz="28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ואקוסיסטם</a:t>
            </a:r>
            <a:endParaRPr lang="he-IL" sz="28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22B4412-A853-4FFE-876D-C0EDDFD43B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918"/>
          <a:stretch/>
        </p:blipFill>
        <p:spPr>
          <a:xfrm>
            <a:off x="10395546" y="644609"/>
            <a:ext cx="823170" cy="8240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C20548-E943-4D32-B0F6-E2D564937784}"/>
              </a:ext>
            </a:extLst>
          </p:cNvPr>
          <p:cNvSpPr txBox="1"/>
          <p:nvPr/>
        </p:nvSpPr>
        <p:spPr>
          <a:xfrm>
            <a:off x="1086266" y="4953482"/>
            <a:ext cx="1440000" cy="1439999"/>
          </a:xfrm>
          <a:prstGeom prst="ellipse">
            <a:avLst/>
          </a:prstGeom>
          <a:solidFill>
            <a:schemeClr val="bg1">
              <a:alpha val="66000"/>
            </a:schemeClr>
          </a:solidFill>
          <a:ln>
            <a:solidFill>
              <a:srgbClr val="0F6FC6"/>
            </a:solidFill>
          </a:ln>
          <a:effectLst>
            <a:outerShdw blurRad="5842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 rtl="1"/>
            <a:r>
              <a:rPr lang="he-IL" sz="1600" b="1" dirty="0" err="1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שת"פים</a:t>
            </a:r>
            <a:r>
              <a:rPr lang="he-IL" sz="1600" b="1" dirty="0">
                <a:solidFill>
                  <a:srgbClr val="043629"/>
                </a:solidFill>
                <a:latin typeface="Assistant SemiBold" pitchFamily="2" charset="-79"/>
                <a:cs typeface="Assistant SemiBold" pitchFamily="2" charset="-79"/>
              </a:rPr>
              <a:t> בין לאומיים</a:t>
            </a:r>
            <a:endParaRPr lang="en-IL" sz="1600" b="1" dirty="0">
              <a:solidFill>
                <a:srgbClr val="043629"/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08999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Chevron 7">
            <a:extLst>
              <a:ext uri="{FF2B5EF4-FFF2-40B4-BE49-F238E27FC236}">
                <a16:creationId xmlns:a16="http://schemas.microsoft.com/office/drawing/2014/main" id="{3E5F3492-A81C-407B-82E9-07BCE0063BB6}"/>
              </a:ext>
            </a:extLst>
          </p:cNvPr>
          <p:cNvSpPr/>
          <p:nvPr/>
        </p:nvSpPr>
        <p:spPr>
          <a:xfrm flipH="1">
            <a:off x="1070418" y="3993522"/>
            <a:ext cx="4944302" cy="1754326"/>
          </a:xfrm>
          <a:prstGeom prst="chevron">
            <a:avLst>
              <a:gd name="adj" fmla="val 36101"/>
            </a:avLst>
          </a:prstGeom>
          <a:solidFill>
            <a:srgbClr val="FAFCFE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A19EC78-6BB6-42A2-84E4-4D324087FA1C}"/>
              </a:ext>
            </a:extLst>
          </p:cNvPr>
          <p:cNvSpPr/>
          <p:nvPr/>
        </p:nvSpPr>
        <p:spPr>
          <a:xfrm flipH="1">
            <a:off x="6556818" y="3993522"/>
            <a:ext cx="4944302" cy="1754326"/>
          </a:xfrm>
          <a:prstGeom prst="chevron">
            <a:avLst>
              <a:gd name="adj" fmla="val 36101"/>
            </a:avLst>
          </a:prstGeom>
          <a:solidFill>
            <a:srgbClr val="FAFCFE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84CAAE7-26A5-49CC-8B87-E9EC0B101CD3}"/>
              </a:ext>
            </a:extLst>
          </p:cNvPr>
          <p:cNvSpPr/>
          <p:nvPr/>
        </p:nvSpPr>
        <p:spPr>
          <a:xfrm>
            <a:off x="934720" y="811774"/>
            <a:ext cx="10990195" cy="1754326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marR="0" lvl="0" indent="0" algn="ctr" defTabSz="914400" rtl="1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3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משרד הרווחה ומנהל אזרחים ותיקים </a:t>
            </a:r>
            <a:br>
              <a:rPr lang="en-US" sz="3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3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פועלים בשני צירים מרכזיים על מנת </a:t>
            </a:r>
            <a:br>
              <a:rPr lang="en-US" sz="3600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3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לשפר את שיתוף הנתונים באקו-</a:t>
            </a:r>
            <a:r>
              <a:rPr lang="he-IL" sz="36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סיסטם</a:t>
            </a:r>
            <a:endParaRPr lang="en-US" sz="36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D097EE1-7FB4-487D-AB50-2F2FCB2443BD}"/>
              </a:ext>
            </a:extLst>
          </p:cNvPr>
          <p:cNvSpPr/>
          <p:nvPr/>
        </p:nvSpPr>
        <p:spPr>
          <a:xfrm>
            <a:off x="7199823" y="4212269"/>
            <a:ext cx="3407217" cy="1316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R="0" lvl="0" algn="r" defTabSz="914400" rtl="1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sz="32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איגום ושיתוף מידע </a:t>
            </a:r>
            <a:br>
              <a:rPr lang="en-US" sz="32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</a:br>
            <a:r>
              <a:rPr lang="he-IL" sz="32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בין הגופים השונים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A5FE1E-B02F-4CBE-A81B-CF0CA0A8BD15}"/>
              </a:ext>
            </a:extLst>
          </p:cNvPr>
          <p:cNvSpPr/>
          <p:nvPr/>
        </p:nvSpPr>
        <p:spPr>
          <a:xfrm>
            <a:off x="1503680" y="4212269"/>
            <a:ext cx="3705475" cy="1316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32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בנייה והנגשת מוצרי נתונים, </a:t>
            </a:r>
            <a:r>
              <a:rPr lang="en-US" sz="32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AI</a:t>
            </a:r>
            <a:r>
              <a:rPr lang="he-IL" sz="3200" dirty="0">
                <a:latin typeface="Assistant" pitchFamily="2" charset="-79"/>
                <a:ea typeface="Quattrocento" pitchFamily="34" charset="-122"/>
                <a:cs typeface="Assistant" pitchFamily="2" charset="-79"/>
              </a:rPr>
              <a:t> </a:t>
            </a:r>
            <a:r>
              <a:rPr lang="he-IL" sz="3200" dirty="0" err="1">
                <a:latin typeface="Assistant" pitchFamily="2" charset="-79"/>
                <a:ea typeface="Quattrocento" pitchFamily="34" charset="-122"/>
                <a:cs typeface="Assistant" pitchFamily="2" charset="-79"/>
              </a:rPr>
              <a:t>ודשבורדים</a:t>
            </a:r>
            <a:endParaRPr lang="en-US" sz="3200" dirty="0"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E3EAEDB-0135-441B-8B2C-DF29B4016676}"/>
              </a:ext>
            </a:extLst>
          </p:cNvPr>
          <p:cNvSpPr/>
          <p:nvPr/>
        </p:nvSpPr>
        <p:spPr>
          <a:xfrm>
            <a:off x="9189721" y="4847826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E304F41E-FD9F-46E2-B761-83CCCE4684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13829" y="1951609"/>
            <a:ext cx="1434401" cy="2602422"/>
          </a:xfrm>
          <a:prstGeom prst="curvedConnector3">
            <a:avLst>
              <a:gd name="adj1" fmla="val 566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F798ECD-BD7E-42CF-8FC4-566FD75C77E3}"/>
              </a:ext>
            </a:extLst>
          </p:cNvPr>
          <p:cNvCxnSpPr>
            <a:cxnSpLocks/>
          </p:cNvCxnSpPr>
          <p:nvPr/>
        </p:nvCxnSpPr>
        <p:spPr>
          <a:xfrm rot="5400000">
            <a:off x="4121154" y="1953229"/>
            <a:ext cx="1434401" cy="2602422"/>
          </a:xfrm>
          <a:prstGeom prst="curvedConnector3">
            <a:avLst>
              <a:gd name="adj1" fmla="val 566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EDB25F4B-38DD-42D0-A7DB-0300F28E4A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884"/>
          <a:stretch/>
        </p:blipFill>
        <p:spPr>
          <a:xfrm rot="20683477">
            <a:off x="9996665" y="760019"/>
            <a:ext cx="1438024" cy="15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2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Chevron 3">
            <a:extLst>
              <a:ext uri="{FF2B5EF4-FFF2-40B4-BE49-F238E27FC236}">
                <a16:creationId xmlns:a16="http://schemas.microsoft.com/office/drawing/2014/main" id="{F40EFBDE-4031-40BB-BFC6-7B74A3E7F831}"/>
              </a:ext>
            </a:extLst>
          </p:cNvPr>
          <p:cNvSpPr/>
          <p:nvPr/>
        </p:nvSpPr>
        <p:spPr>
          <a:xfrm flipH="1">
            <a:off x="4212385" y="1553353"/>
            <a:ext cx="7245170" cy="680078"/>
          </a:xfrm>
          <a:prstGeom prst="chevron">
            <a:avLst>
              <a:gd name="adj" fmla="val 3610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FA691EB0-15DA-4368-AC44-6B37288239F4}"/>
              </a:ext>
            </a:extLst>
          </p:cNvPr>
          <p:cNvSpPr/>
          <p:nvPr/>
        </p:nvSpPr>
        <p:spPr>
          <a:xfrm flipH="1">
            <a:off x="3430972" y="2433879"/>
            <a:ext cx="7245170" cy="680078"/>
          </a:xfrm>
          <a:prstGeom prst="chevron">
            <a:avLst>
              <a:gd name="adj" fmla="val 3610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18741504-B20E-4CAC-9DDE-BDE060DAB0BD}"/>
              </a:ext>
            </a:extLst>
          </p:cNvPr>
          <p:cNvSpPr/>
          <p:nvPr/>
        </p:nvSpPr>
        <p:spPr>
          <a:xfrm flipH="1">
            <a:off x="2649559" y="3314405"/>
            <a:ext cx="7245170" cy="680078"/>
          </a:xfrm>
          <a:prstGeom prst="chevron">
            <a:avLst>
              <a:gd name="adj" fmla="val 3610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2708ECBE-6D70-4C1C-9ED5-C69B90D15D49}"/>
              </a:ext>
            </a:extLst>
          </p:cNvPr>
          <p:cNvSpPr/>
          <p:nvPr/>
        </p:nvSpPr>
        <p:spPr>
          <a:xfrm flipH="1">
            <a:off x="2246615" y="4194931"/>
            <a:ext cx="7245170" cy="680078"/>
          </a:xfrm>
          <a:prstGeom prst="chevron">
            <a:avLst>
              <a:gd name="adj" fmla="val 3610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CAE67FD2-A202-41AB-A66C-1C6C4626E05B}"/>
              </a:ext>
            </a:extLst>
          </p:cNvPr>
          <p:cNvSpPr/>
          <p:nvPr/>
        </p:nvSpPr>
        <p:spPr>
          <a:xfrm flipH="1">
            <a:off x="1086733" y="5075457"/>
            <a:ext cx="7245170" cy="680078"/>
          </a:xfrm>
          <a:prstGeom prst="chevron">
            <a:avLst>
              <a:gd name="adj" fmla="val 3610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80022C1-8508-4501-8E1D-C5B44D8DFE63}"/>
              </a:ext>
            </a:extLst>
          </p:cNvPr>
          <p:cNvSpPr/>
          <p:nvPr/>
        </p:nvSpPr>
        <p:spPr>
          <a:xfrm flipH="1">
            <a:off x="305320" y="5955981"/>
            <a:ext cx="7245170" cy="680078"/>
          </a:xfrm>
          <a:prstGeom prst="chevron">
            <a:avLst>
              <a:gd name="adj" fmla="val 36101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AE73CFC-1FAB-4813-8AFC-3C58B4A4DE62}"/>
              </a:ext>
            </a:extLst>
          </p:cNvPr>
          <p:cNvSpPr/>
          <p:nvPr/>
        </p:nvSpPr>
        <p:spPr>
          <a:xfrm>
            <a:off x="4044587" y="141127"/>
            <a:ext cx="6631555" cy="1316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משרד הרווחה מוביל </a:t>
            </a:r>
            <a:r>
              <a:rPr lang="he-IL" sz="3200" b="1" dirty="0" err="1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בהנגשת</a:t>
            </a:r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 נתונים בתחום הוותיקים באקו-</a:t>
            </a:r>
            <a:r>
              <a:rPr lang="he-IL" sz="3200" b="1" dirty="0" err="1">
                <a:solidFill>
                  <a:schemeClr val="accent1"/>
                </a:solidFill>
                <a:latin typeface="Assistant" pitchFamily="2" charset="-79"/>
                <a:ea typeface="Quattrocento" pitchFamily="34" charset="-122"/>
                <a:cs typeface="Assistant" pitchFamily="2" charset="-79"/>
              </a:rPr>
              <a:t>סיסטם</a:t>
            </a:r>
            <a:endParaRPr lang="en-US" sz="3200" b="1" dirty="0">
              <a:solidFill>
                <a:schemeClr val="accent1"/>
              </a:solidFill>
              <a:latin typeface="Assistant" pitchFamily="2" charset="-79"/>
              <a:ea typeface="Quattrocento" pitchFamily="34" charset="-122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1BA62-C4D7-4974-B65D-688C41779C52}"/>
              </a:ext>
            </a:extLst>
          </p:cNvPr>
          <p:cNvSpPr txBox="1"/>
          <p:nvPr/>
        </p:nvSpPr>
        <p:spPr>
          <a:xfrm>
            <a:off x="6096000" y="1626605"/>
            <a:ext cx="4896711" cy="54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80000"/>
              </a:lnSpc>
              <a:spcBef>
                <a:spcPct val="0"/>
              </a:spcBef>
              <a:defRPr/>
            </a:pPr>
            <a:r>
              <a:rPr lang="en-US" sz="18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Gap Analyzer</a:t>
            </a:r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- </a:t>
            </a:r>
            <a:r>
              <a:rPr lang="he-IL" sz="1800" b="1" dirty="0">
                <a:latin typeface="Assistant" pitchFamily="2" charset="-79"/>
                <a:cs typeface="Assistant" pitchFamily="2" charset="-79"/>
              </a:rPr>
              <a:t>מערכת </a:t>
            </a:r>
            <a:r>
              <a:rPr lang="en-US" sz="1800" b="1" dirty="0">
                <a:latin typeface="Assistant" pitchFamily="2" charset="-79"/>
                <a:cs typeface="Assistant" pitchFamily="2" charset="-79"/>
              </a:rPr>
              <a:t>KYD</a:t>
            </a:r>
            <a:r>
              <a:rPr lang="he-IL" sz="1800" b="1" dirty="0">
                <a:latin typeface="Assistant" pitchFamily="2" charset="-79"/>
                <a:cs typeface="Assistant" pitchFamily="2" charset="-79"/>
              </a:rPr>
              <a:t> לניהול מדדים ופערים 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לאורך שלבי תאוריית השינוי</a:t>
            </a:r>
            <a:endParaRPr lang="en-US" sz="18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08E32-6846-4AC5-8D48-F73E95B254EA}"/>
              </a:ext>
            </a:extLst>
          </p:cNvPr>
          <p:cNvSpPr txBox="1"/>
          <p:nvPr/>
        </p:nvSpPr>
        <p:spPr>
          <a:xfrm>
            <a:off x="5206251" y="2431517"/>
            <a:ext cx="4985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ניתוחים גאוגרפים –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ניתוח ביקוש לשירותים </a:t>
            </a:r>
          </a:p>
          <a:p>
            <a:pPr algn="r" rtl="1"/>
            <a:r>
              <a:rPr lang="he-IL" dirty="0">
                <a:latin typeface="Assistant" pitchFamily="2" charset="-79"/>
                <a:cs typeface="Assistant" pitchFamily="2" charset="-79"/>
              </a:rPr>
              <a:t>למקבלי חוק סיעוד ברמה הארצית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34DBF-4E4F-4E1D-A406-DA9CCCAA7545}"/>
              </a:ext>
            </a:extLst>
          </p:cNvPr>
          <p:cNvSpPr txBox="1"/>
          <p:nvPr/>
        </p:nvSpPr>
        <p:spPr>
          <a:xfrm>
            <a:off x="1003682" y="5075455"/>
            <a:ext cx="6842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צמ"מ</a:t>
            </a:r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דאטה –</a:t>
            </a:r>
            <a:r>
              <a:rPr lang="he-IL" sz="32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en-US" dirty="0">
                <a:latin typeface="Assistant" pitchFamily="2" charset="-79"/>
                <a:cs typeface="Assistant" pitchFamily="2" charset="-79"/>
              </a:rPr>
              <a:t>AI</a:t>
            </a:r>
            <a:r>
              <a:rPr lang="he-IL" sz="32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לאיתור הזנחה והתעללות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D9034-9C4E-4A0A-8320-7FE70466928F}"/>
              </a:ext>
            </a:extLst>
          </p:cNvPr>
          <p:cNvSpPr txBox="1"/>
          <p:nvPr/>
        </p:nvSpPr>
        <p:spPr>
          <a:xfrm>
            <a:off x="2552494" y="42602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מערכת המכלול - </a:t>
            </a:r>
            <a:r>
              <a:rPr lang="en-US" dirty="0">
                <a:latin typeface="Assistant" pitchFamily="2" charset="-79"/>
                <a:cs typeface="Assistant" pitchFamily="2" charset="-79"/>
              </a:rPr>
              <a:t>BI</a:t>
            </a:r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לרשויות המקומיות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המנגישה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נתונים בתחומי הרווחה לאזרחים ותיקים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FD371D-55F3-423C-B8F0-874AB332AD96}"/>
              </a:ext>
            </a:extLst>
          </p:cNvPr>
          <p:cNvSpPr txBox="1"/>
          <p:nvPr/>
        </p:nvSpPr>
        <p:spPr>
          <a:xfrm>
            <a:off x="1490595" y="5774285"/>
            <a:ext cx="5505630" cy="8617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אמון מוניציפאלי –</a:t>
            </a:r>
            <a:r>
              <a:rPr lang="he-IL" sz="32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מערכת </a:t>
            </a:r>
            <a:r>
              <a:rPr lang="en-US" dirty="0">
                <a:latin typeface="Assistant" pitchFamily="2" charset="-79"/>
                <a:cs typeface="Assistant" pitchFamily="2" charset="-79"/>
              </a:rPr>
              <a:t>BI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 ממשלתית לרשויות המקומית, אגף אזרחים ותיקים כשותף מוביל בשלב ההקמה ולאחריה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33A257-22CC-460F-99D6-B1650BBFFF9C}"/>
              </a:ext>
            </a:extLst>
          </p:cNvPr>
          <p:cNvSpPr txBox="1"/>
          <p:nvPr/>
        </p:nvSpPr>
        <p:spPr>
          <a:xfrm>
            <a:off x="4418477" y="3142369"/>
            <a:ext cx="498563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כלי תכנון שירותים ותקציב – </a:t>
            </a:r>
            <a:r>
              <a:rPr lang="he-IL" sz="32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dirty="0">
                <a:latin typeface="Assistant" pitchFamily="2" charset="-79"/>
                <a:cs typeface="Assistant" pitchFamily="2" charset="-79"/>
              </a:rPr>
              <a:t>כלי תכנון שמאפשר לרשויות המקומיות השונות לבצע תכנון מבוסס נתונים </a:t>
            </a:r>
            <a:endParaRPr lang="en-IL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074F50-BCC9-4BF1-97FB-AF8CCA1C6039}"/>
              </a:ext>
            </a:extLst>
          </p:cNvPr>
          <p:cNvSpPr txBox="1"/>
          <p:nvPr/>
        </p:nvSpPr>
        <p:spPr>
          <a:xfrm>
            <a:off x="11311508" y="1521104"/>
            <a:ext cx="7569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4400" dirty="0">
                <a:solidFill>
                  <a:schemeClr val="accent1"/>
                </a:solidFill>
              </a:rPr>
              <a:t> </a:t>
            </a:r>
            <a:endParaRPr lang="en-IL" sz="44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C173A0-2432-4740-AC8F-0AA7EE207691}"/>
              </a:ext>
            </a:extLst>
          </p:cNvPr>
          <p:cNvSpPr txBox="1"/>
          <p:nvPr/>
        </p:nvSpPr>
        <p:spPr>
          <a:xfrm>
            <a:off x="10554570" y="2431517"/>
            <a:ext cx="7569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4400" dirty="0">
                <a:solidFill>
                  <a:schemeClr val="accent1"/>
                </a:solidFill>
              </a:rPr>
              <a:t> </a:t>
            </a:r>
            <a:endParaRPr lang="en-IL" sz="44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68CE2-A32A-4938-AC04-74EA0F438771}"/>
              </a:ext>
            </a:extLst>
          </p:cNvPr>
          <p:cNvSpPr txBox="1"/>
          <p:nvPr/>
        </p:nvSpPr>
        <p:spPr>
          <a:xfrm>
            <a:off x="9761569" y="3314405"/>
            <a:ext cx="7569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4400" dirty="0">
                <a:solidFill>
                  <a:schemeClr val="accent1"/>
                </a:solidFill>
              </a:rPr>
              <a:t> </a:t>
            </a:r>
            <a:endParaRPr lang="en-IL" sz="4400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D3D49F-BF25-4794-9E37-B9069E45B0D5}"/>
              </a:ext>
            </a:extLst>
          </p:cNvPr>
          <p:cNvSpPr txBox="1"/>
          <p:nvPr/>
        </p:nvSpPr>
        <p:spPr>
          <a:xfrm>
            <a:off x="9113316" y="4198684"/>
            <a:ext cx="7569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4400" dirty="0">
                <a:solidFill>
                  <a:schemeClr val="accent1"/>
                </a:solidFill>
              </a:rPr>
              <a:t> </a:t>
            </a:r>
            <a:endParaRPr lang="en-IL" sz="4400" dirty="0">
              <a:solidFill>
                <a:schemeClr val="accent1"/>
              </a:solidFill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137D6C7B-668F-4D0A-BD02-E008EC55AF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884"/>
          <a:stretch/>
        </p:blipFill>
        <p:spPr>
          <a:xfrm rot="20683477">
            <a:off x="10619945" y="199880"/>
            <a:ext cx="1047750" cy="11073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60C412-20AC-4437-B335-E55C4E8571C0}"/>
              </a:ext>
            </a:extLst>
          </p:cNvPr>
          <p:cNvSpPr txBox="1"/>
          <p:nvPr/>
        </p:nvSpPr>
        <p:spPr>
          <a:xfrm>
            <a:off x="8291794" y="5204470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בתהליך</a:t>
            </a:r>
            <a:endParaRPr lang="en-IL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65554-E4C0-4CC5-BA60-60A79164B9A7}"/>
              </a:ext>
            </a:extLst>
          </p:cNvPr>
          <p:cNvSpPr txBox="1"/>
          <p:nvPr/>
        </p:nvSpPr>
        <p:spPr>
          <a:xfrm>
            <a:off x="7550490" y="6111354"/>
            <a:ext cx="88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בתהליך</a:t>
            </a:r>
            <a:endParaRPr lang="en-IL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62698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D05366-1929-4BEB-B2F0-69E56A17A07C}"/>
              </a:ext>
            </a:extLst>
          </p:cNvPr>
          <p:cNvSpPr txBox="1"/>
          <p:nvPr/>
        </p:nvSpPr>
        <p:spPr>
          <a:xfrm>
            <a:off x="2524299" y="409551"/>
            <a:ext cx="7230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מערכת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</a:t>
            </a:r>
            <a:r>
              <a:rPr lang="he-IL" sz="3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לרשויות- המכלול</a:t>
            </a:r>
            <a:endParaRPr lang="en-IL" sz="3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E5467B6-CB3D-4E86-89C3-D84DEDF892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884"/>
          <a:stretch/>
        </p:blipFill>
        <p:spPr>
          <a:xfrm rot="20683477">
            <a:off x="9882281" y="236826"/>
            <a:ext cx="1047750" cy="1107340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3DCD790C-DCE3-D6B9-28EF-00A7AA524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095" y="1462625"/>
            <a:ext cx="8747810" cy="47951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3074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"/>
          <p:cNvSpPr/>
          <p:nvPr/>
        </p:nvSpPr>
        <p:spPr>
          <a:xfrm>
            <a:off x="251381" y="2857135"/>
            <a:ext cx="4411744" cy="11377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3600"/>
            </a:pPr>
            <a:endParaRPr sz="4800" kern="0" dirty="0">
              <a:solidFill>
                <a:srgbClr val="1C61F0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A65BC5DC-D1D6-48DD-A722-BAABA6E53F22}"/>
              </a:ext>
            </a:extLst>
          </p:cNvPr>
          <p:cNvSpPr/>
          <p:nvPr/>
        </p:nvSpPr>
        <p:spPr>
          <a:xfrm>
            <a:off x="4747714" y="4696600"/>
            <a:ext cx="1260081" cy="1090021"/>
          </a:xfrm>
          <a:custGeom>
            <a:avLst/>
            <a:gdLst>
              <a:gd name="connsiteX0" fmla="*/ 0 w 1260081"/>
              <a:gd name="connsiteY0" fmla="*/ 545011 h 1090021"/>
              <a:gd name="connsiteX1" fmla="*/ 311419 w 1260081"/>
              <a:gd name="connsiteY1" fmla="*/ 0 h 1090021"/>
              <a:gd name="connsiteX2" fmla="*/ 948662 w 1260081"/>
              <a:gd name="connsiteY2" fmla="*/ 0 h 1090021"/>
              <a:gd name="connsiteX3" fmla="*/ 1260081 w 1260081"/>
              <a:gd name="connsiteY3" fmla="*/ 545011 h 1090021"/>
              <a:gd name="connsiteX4" fmla="*/ 948662 w 1260081"/>
              <a:gd name="connsiteY4" fmla="*/ 1090021 h 1090021"/>
              <a:gd name="connsiteX5" fmla="*/ 311419 w 1260081"/>
              <a:gd name="connsiteY5" fmla="*/ 1090021 h 1090021"/>
              <a:gd name="connsiteX6" fmla="*/ 0 w 1260081"/>
              <a:gd name="connsiteY6" fmla="*/ 545011 h 10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0081" h="1090021">
                <a:moveTo>
                  <a:pt x="0" y="545011"/>
                </a:moveTo>
                <a:lnTo>
                  <a:pt x="311419" y="0"/>
                </a:lnTo>
                <a:lnTo>
                  <a:pt x="948662" y="0"/>
                </a:lnTo>
                <a:lnTo>
                  <a:pt x="1260081" y="545011"/>
                </a:lnTo>
                <a:lnTo>
                  <a:pt x="948662" y="1090021"/>
                </a:lnTo>
                <a:lnTo>
                  <a:pt x="311419" y="1090021"/>
                </a:lnTo>
                <a:lnTo>
                  <a:pt x="0" y="545011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213" tIns="206032" rIns="234213" bIns="206032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bg2"/>
                </a:solidFill>
                <a:effectLst/>
                <a:latin typeface="Assistant" pitchFamily="2" charset="-79"/>
                <a:cs typeface="Assistant" pitchFamily="2" charset="-79"/>
              </a:rPr>
              <a:t>מידע דמוגרפי</a:t>
            </a:r>
            <a:endParaRPr lang="en-US" b="1" u="none" kern="1200" dirty="0">
              <a:solidFill>
                <a:schemeClr val="bg2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C6DAB1F1-CABE-4E41-B53F-8F4D99A63FBC}"/>
              </a:ext>
            </a:extLst>
          </p:cNvPr>
          <p:cNvSpPr/>
          <p:nvPr/>
        </p:nvSpPr>
        <p:spPr>
          <a:xfrm>
            <a:off x="4863786" y="3705225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2"/>
                </a:solidFill>
                <a:effectLst/>
                <a:latin typeface="Assistant" pitchFamily="2" charset="-79"/>
                <a:cs typeface="Assistant" pitchFamily="2" charset="-79"/>
              </a:rPr>
              <a:t>משרד הרווחה</a:t>
            </a:r>
            <a:endParaRPr lang="en-US" sz="1400" kern="1200" dirty="0">
              <a:solidFill>
                <a:schemeClr val="bg2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5" name="Freeform: Shape 454">
            <a:extLst>
              <a:ext uri="{FF2B5EF4-FFF2-40B4-BE49-F238E27FC236}">
                <a16:creationId xmlns:a16="http://schemas.microsoft.com/office/drawing/2014/main" id="{47FCD062-7DBF-4371-B2B4-FBFB98D1602B}"/>
              </a:ext>
            </a:extLst>
          </p:cNvPr>
          <p:cNvSpPr/>
          <p:nvPr/>
        </p:nvSpPr>
        <p:spPr>
          <a:xfrm>
            <a:off x="5810825" y="4254691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8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8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2"/>
                </a:solidFill>
                <a:effectLst/>
                <a:latin typeface="Assistant" pitchFamily="2" charset="-79"/>
                <a:cs typeface="Assistant" pitchFamily="2" charset="-79"/>
              </a:rPr>
              <a:t>משרד הבריאות</a:t>
            </a:r>
            <a:endParaRPr lang="en-US" sz="1400" kern="1200" dirty="0">
              <a:solidFill>
                <a:schemeClr val="bg2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7" name="Freeform: Shape 456">
            <a:extLst>
              <a:ext uri="{FF2B5EF4-FFF2-40B4-BE49-F238E27FC236}">
                <a16:creationId xmlns:a16="http://schemas.microsoft.com/office/drawing/2014/main" id="{17ABA443-3F92-47E4-AEAB-556E0C46EDA2}"/>
              </a:ext>
            </a:extLst>
          </p:cNvPr>
          <p:cNvSpPr/>
          <p:nvPr/>
        </p:nvSpPr>
        <p:spPr>
          <a:xfrm>
            <a:off x="5810825" y="5334878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6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6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2"/>
                </a:solidFill>
                <a:effectLst/>
                <a:latin typeface="Assistant" pitchFamily="2" charset="-79"/>
                <a:cs typeface="Assistant" pitchFamily="2" charset="-79"/>
              </a:rPr>
              <a:t>שלטון מקומי</a:t>
            </a:r>
            <a:endParaRPr lang="en-US" sz="1400" kern="1200" dirty="0">
              <a:solidFill>
                <a:schemeClr val="bg2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9" name="Freeform: Shape 458">
            <a:extLst>
              <a:ext uri="{FF2B5EF4-FFF2-40B4-BE49-F238E27FC236}">
                <a16:creationId xmlns:a16="http://schemas.microsoft.com/office/drawing/2014/main" id="{34A975E6-E323-4620-A1F0-567CB850BC64}"/>
              </a:ext>
            </a:extLst>
          </p:cNvPr>
          <p:cNvSpPr/>
          <p:nvPr/>
        </p:nvSpPr>
        <p:spPr>
          <a:xfrm>
            <a:off x="4863786" y="5884959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rgbClr val="2191C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4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4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ביטוח לאומי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1" name="Freeform: Shape 460">
            <a:extLst>
              <a:ext uri="{FF2B5EF4-FFF2-40B4-BE49-F238E27FC236}">
                <a16:creationId xmlns:a16="http://schemas.microsoft.com/office/drawing/2014/main" id="{228FFEAE-358D-455D-8CA7-5668E743F333}"/>
              </a:ext>
            </a:extLst>
          </p:cNvPr>
          <p:cNvSpPr/>
          <p:nvPr/>
        </p:nvSpPr>
        <p:spPr>
          <a:xfrm>
            <a:off x="3912350" y="5335493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rgbClr val="2191C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1">
                    <a:lumMod val="95000"/>
                  </a:schemeClr>
                </a:solidFill>
                <a:latin typeface="Assistant" pitchFamily="2" charset="-79"/>
                <a:cs typeface="Assistant" pitchFamily="2" charset="-79"/>
              </a:rPr>
              <a:t>למ"ס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2" name="Freeform: Shape 461">
            <a:extLst>
              <a:ext uri="{FF2B5EF4-FFF2-40B4-BE49-F238E27FC236}">
                <a16:creationId xmlns:a16="http://schemas.microsoft.com/office/drawing/2014/main" id="{079D6968-84FC-4E63-850C-83CFDA4F457A}"/>
              </a:ext>
            </a:extLst>
          </p:cNvPr>
          <p:cNvSpPr/>
          <p:nvPr/>
        </p:nvSpPr>
        <p:spPr>
          <a:xfrm>
            <a:off x="3912350" y="4253462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שוויון חברתי</a:t>
            </a:r>
            <a:endParaRPr lang="en-US" sz="1400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42E7F18-5CAC-41C5-BBD7-18407BD2B706}"/>
              </a:ext>
            </a:extLst>
          </p:cNvPr>
          <p:cNvSpPr/>
          <p:nvPr/>
        </p:nvSpPr>
        <p:spPr>
          <a:xfrm>
            <a:off x="3782318" y="2076190"/>
            <a:ext cx="1280102" cy="1107340"/>
          </a:xfrm>
          <a:custGeom>
            <a:avLst/>
            <a:gdLst>
              <a:gd name="connsiteX0" fmla="*/ 0 w 1280102"/>
              <a:gd name="connsiteY0" fmla="*/ 553670 h 1107340"/>
              <a:gd name="connsiteX1" fmla="*/ 316367 w 1280102"/>
              <a:gd name="connsiteY1" fmla="*/ 0 h 1107340"/>
              <a:gd name="connsiteX2" fmla="*/ 963735 w 1280102"/>
              <a:gd name="connsiteY2" fmla="*/ 0 h 1107340"/>
              <a:gd name="connsiteX3" fmla="*/ 1280102 w 1280102"/>
              <a:gd name="connsiteY3" fmla="*/ 553670 h 1107340"/>
              <a:gd name="connsiteX4" fmla="*/ 963735 w 1280102"/>
              <a:gd name="connsiteY4" fmla="*/ 1107340 h 1107340"/>
              <a:gd name="connsiteX5" fmla="*/ 316367 w 1280102"/>
              <a:gd name="connsiteY5" fmla="*/ 1107340 h 1107340"/>
              <a:gd name="connsiteX6" fmla="*/ 0 w 1280102"/>
              <a:gd name="connsiteY6" fmla="*/ 553670 h 1107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0102" h="1107340">
                <a:moveTo>
                  <a:pt x="0" y="553670"/>
                </a:moveTo>
                <a:lnTo>
                  <a:pt x="316367" y="0"/>
                </a:lnTo>
                <a:lnTo>
                  <a:pt x="963735" y="0"/>
                </a:lnTo>
                <a:lnTo>
                  <a:pt x="1280102" y="553670"/>
                </a:lnTo>
                <a:lnTo>
                  <a:pt x="963735" y="1107340"/>
                </a:lnTo>
                <a:lnTo>
                  <a:pt x="316367" y="1107340"/>
                </a:lnTo>
                <a:lnTo>
                  <a:pt x="0" y="55367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71" tIns="211442" rIns="240071" bIns="211442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מידע רפואי</a:t>
            </a:r>
            <a:endParaRPr lang="en-US" b="1" u="none" kern="1200" dirty="0">
              <a:solidFill>
                <a:schemeClr val="tx1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9878D9D-C2CE-4239-93DC-D4BF6A75C03E}"/>
              </a:ext>
            </a:extLst>
          </p:cNvPr>
          <p:cNvSpPr/>
          <p:nvPr/>
        </p:nvSpPr>
        <p:spPr>
          <a:xfrm>
            <a:off x="3900234" y="1069063"/>
            <a:ext cx="1049034" cy="907538"/>
          </a:xfrm>
          <a:custGeom>
            <a:avLst/>
            <a:gdLst>
              <a:gd name="connsiteX0" fmla="*/ 0 w 1049034"/>
              <a:gd name="connsiteY0" fmla="*/ 453769 h 907538"/>
              <a:gd name="connsiteX1" fmla="*/ 259284 w 1049034"/>
              <a:gd name="connsiteY1" fmla="*/ 0 h 907538"/>
              <a:gd name="connsiteX2" fmla="*/ 789750 w 1049034"/>
              <a:gd name="connsiteY2" fmla="*/ 0 h 907538"/>
              <a:gd name="connsiteX3" fmla="*/ 1049034 w 1049034"/>
              <a:gd name="connsiteY3" fmla="*/ 453769 h 907538"/>
              <a:gd name="connsiteX4" fmla="*/ 789750 w 1049034"/>
              <a:gd name="connsiteY4" fmla="*/ 907538 h 907538"/>
              <a:gd name="connsiteX5" fmla="*/ 259284 w 1049034"/>
              <a:gd name="connsiteY5" fmla="*/ 907538 h 907538"/>
              <a:gd name="connsiteX6" fmla="*/ 0 w 1049034"/>
              <a:gd name="connsiteY6" fmla="*/ 453769 h 90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034" h="907538">
                <a:moveTo>
                  <a:pt x="0" y="453769"/>
                </a:moveTo>
                <a:lnTo>
                  <a:pt x="259284" y="0"/>
                </a:lnTo>
                <a:lnTo>
                  <a:pt x="789750" y="0"/>
                </a:lnTo>
                <a:lnTo>
                  <a:pt x="1049034" y="453769"/>
                </a:lnTo>
                <a:lnTo>
                  <a:pt x="789750" y="907538"/>
                </a:lnTo>
                <a:lnTo>
                  <a:pt x="259284" y="907538"/>
                </a:lnTo>
                <a:lnTo>
                  <a:pt x="0" y="45376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087" tIns="165638" rIns="189087" bIns="165638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משרד הבריאות</a:t>
            </a:r>
            <a:endParaRPr lang="en-US" sz="14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91545C9-A325-4AD0-9491-3D63B36B7975}"/>
              </a:ext>
            </a:extLst>
          </p:cNvPr>
          <p:cNvSpPr/>
          <p:nvPr/>
        </p:nvSpPr>
        <p:spPr>
          <a:xfrm>
            <a:off x="4862321" y="1627259"/>
            <a:ext cx="1049034" cy="907538"/>
          </a:xfrm>
          <a:custGeom>
            <a:avLst/>
            <a:gdLst>
              <a:gd name="connsiteX0" fmla="*/ 0 w 1049034"/>
              <a:gd name="connsiteY0" fmla="*/ 453769 h 907538"/>
              <a:gd name="connsiteX1" fmla="*/ 259284 w 1049034"/>
              <a:gd name="connsiteY1" fmla="*/ 0 h 907538"/>
              <a:gd name="connsiteX2" fmla="*/ 789750 w 1049034"/>
              <a:gd name="connsiteY2" fmla="*/ 0 h 907538"/>
              <a:gd name="connsiteX3" fmla="*/ 1049034 w 1049034"/>
              <a:gd name="connsiteY3" fmla="*/ 453769 h 907538"/>
              <a:gd name="connsiteX4" fmla="*/ 789750 w 1049034"/>
              <a:gd name="connsiteY4" fmla="*/ 907538 h 907538"/>
              <a:gd name="connsiteX5" fmla="*/ 259284 w 1049034"/>
              <a:gd name="connsiteY5" fmla="*/ 907538 h 907538"/>
              <a:gd name="connsiteX6" fmla="*/ 0 w 1049034"/>
              <a:gd name="connsiteY6" fmla="*/ 453769 h 90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034" h="907538">
                <a:moveTo>
                  <a:pt x="0" y="453769"/>
                </a:moveTo>
                <a:lnTo>
                  <a:pt x="259284" y="0"/>
                </a:lnTo>
                <a:lnTo>
                  <a:pt x="789750" y="0"/>
                </a:lnTo>
                <a:lnTo>
                  <a:pt x="1049034" y="453769"/>
                </a:lnTo>
                <a:lnTo>
                  <a:pt x="789750" y="907538"/>
                </a:lnTo>
                <a:lnTo>
                  <a:pt x="259284" y="907538"/>
                </a:lnTo>
                <a:lnTo>
                  <a:pt x="0" y="45376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hueOff val="0"/>
              <a:satOff val="0"/>
              <a:lumOff val="0"/>
              <a:alphaOff val="-8000"/>
            </a:schemeClr>
          </a:fillRef>
          <a:effectRef idx="0">
            <a:schemeClr val="accent6">
              <a:alpha val="90000"/>
              <a:hueOff val="0"/>
              <a:satOff val="0"/>
              <a:lumOff val="0"/>
              <a:alphaOff val="-8000"/>
            </a:schemeClr>
          </a:effectRef>
          <a:fontRef idx="minor">
            <a:schemeClr val="lt1"/>
          </a:fontRef>
        </p:style>
        <p:txBody>
          <a:bodyPr spcFirstLastPara="0" vert="horz" wrap="square" lIns="189087" tIns="165638" rIns="189087" bIns="165638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קופות חולים</a:t>
            </a:r>
            <a:endParaRPr lang="en-US" sz="1400" kern="1200" dirty="0">
              <a:solidFill>
                <a:schemeClr val="tx1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92EF10B-209E-479E-A656-EC15CD15B1DE}"/>
              </a:ext>
            </a:extLst>
          </p:cNvPr>
          <p:cNvSpPr/>
          <p:nvPr/>
        </p:nvSpPr>
        <p:spPr>
          <a:xfrm>
            <a:off x="4862321" y="2724610"/>
            <a:ext cx="1049034" cy="907538"/>
          </a:xfrm>
          <a:custGeom>
            <a:avLst/>
            <a:gdLst>
              <a:gd name="connsiteX0" fmla="*/ 0 w 1049034"/>
              <a:gd name="connsiteY0" fmla="*/ 453769 h 907538"/>
              <a:gd name="connsiteX1" fmla="*/ 259284 w 1049034"/>
              <a:gd name="connsiteY1" fmla="*/ 0 h 907538"/>
              <a:gd name="connsiteX2" fmla="*/ 789750 w 1049034"/>
              <a:gd name="connsiteY2" fmla="*/ 0 h 907538"/>
              <a:gd name="connsiteX3" fmla="*/ 1049034 w 1049034"/>
              <a:gd name="connsiteY3" fmla="*/ 453769 h 907538"/>
              <a:gd name="connsiteX4" fmla="*/ 789750 w 1049034"/>
              <a:gd name="connsiteY4" fmla="*/ 907538 h 907538"/>
              <a:gd name="connsiteX5" fmla="*/ 259284 w 1049034"/>
              <a:gd name="connsiteY5" fmla="*/ 907538 h 907538"/>
              <a:gd name="connsiteX6" fmla="*/ 0 w 1049034"/>
              <a:gd name="connsiteY6" fmla="*/ 453769 h 90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034" h="907538">
                <a:moveTo>
                  <a:pt x="0" y="453769"/>
                </a:moveTo>
                <a:lnTo>
                  <a:pt x="259284" y="0"/>
                </a:lnTo>
                <a:lnTo>
                  <a:pt x="789750" y="0"/>
                </a:lnTo>
                <a:lnTo>
                  <a:pt x="1049034" y="453769"/>
                </a:lnTo>
                <a:lnTo>
                  <a:pt x="789750" y="907538"/>
                </a:lnTo>
                <a:lnTo>
                  <a:pt x="259284" y="907538"/>
                </a:lnTo>
                <a:lnTo>
                  <a:pt x="0" y="45376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087" tIns="165638" rIns="189087" bIns="165638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בתי חולים</a:t>
            </a:r>
            <a:endParaRPr lang="en-US" sz="14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0D11E9-7BBF-463E-82CD-4AFB22F4D5CA}"/>
              </a:ext>
            </a:extLst>
          </p:cNvPr>
          <p:cNvSpPr/>
          <p:nvPr/>
        </p:nvSpPr>
        <p:spPr>
          <a:xfrm>
            <a:off x="3900234" y="3283431"/>
            <a:ext cx="1049034" cy="907538"/>
          </a:xfrm>
          <a:custGeom>
            <a:avLst/>
            <a:gdLst>
              <a:gd name="connsiteX0" fmla="*/ 0 w 1049034"/>
              <a:gd name="connsiteY0" fmla="*/ 453769 h 907538"/>
              <a:gd name="connsiteX1" fmla="*/ 259284 w 1049034"/>
              <a:gd name="connsiteY1" fmla="*/ 0 h 907538"/>
              <a:gd name="connsiteX2" fmla="*/ 789750 w 1049034"/>
              <a:gd name="connsiteY2" fmla="*/ 0 h 907538"/>
              <a:gd name="connsiteX3" fmla="*/ 1049034 w 1049034"/>
              <a:gd name="connsiteY3" fmla="*/ 453769 h 907538"/>
              <a:gd name="connsiteX4" fmla="*/ 789750 w 1049034"/>
              <a:gd name="connsiteY4" fmla="*/ 907538 h 907538"/>
              <a:gd name="connsiteX5" fmla="*/ 259284 w 1049034"/>
              <a:gd name="connsiteY5" fmla="*/ 907538 h 907538"/>
              <a:gd name="connsiteX6" fmla="*/ 0 w 1049034"/>
              <a:gd name="connsiteY6" fmla="*/ 453769 h 90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034" h="907538">
                <a:moveTo>
                  <a:pt x="0" y="453769"/>
                </a:moveTo>
                <a:lnTo>
                  <a:pt x="259284" y="0"/>
                </a:lnTo>
                <a:lnTo>
                  <a:pt x="789750" y="0"/>
                </a:lnTo>
                <a:lnTo>
                  <a:pt x="1049034" y="453769"/>
                </a:lnTo>
                <a:lnTo>
                  <a:pt x="789750" y="907538"/>
                </a:lnTo>
                <a:lnTo>
                  <a:pt x="259284" y="907538"/>
                </a:lnTo>
                <a:lnTo>
                  <a:pt x="0" y="45376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087" tIns="165638" rIns="189087" bIns="165638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דיווח עצמי</a:t>
            </a:r>
            <a:endParaRPr lang="en-US" sz="14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4348CAA-1788-4EAB-99E1-0DBFDAD6491A}"/>
              </a:ext>
            </a:extLst>
          </p:cNvPr>
          <p:cNvSpPr/>
          <p:nvPr/>
        </p:nvSpPr>
        <p:spPr>
          <a:xfrm>
            <a:off x="2933681" y="2725234"/>
            <a:ext cx="1049034" cy="907538"/>
          </a:xfrm>
          <a:custGeom>
            <a:avLst/>
            <a:gdLst>
              <a:gd name="connsiteX0" fmla="*/ 0 w 1049034"/>
              <a:gd name="connsiteY0" fmla="*/ 453769 h 907538"/>
              <a:gd name="connsiteX1" fmla="*/ 259284 w 1049034"/>
              <a:gd name="connsiteY1" fmla="*/ 0 h 907538"/>
              <a:gd name="connsiteX2" fmla="*/ 789750 w 1049034"/>
              <a:gd name="connsiteY2" fmla="*/ 0 h 907538"/>
              <a:gd name="connsiteX3" fmla="*/ 1049034 w 1049034"/>
              <a:gd name="connsiteY3" fmla="*/ 453769 h 907538"/>
              <a:gd name="connsiteX4" fmla="*/ 789750 w 1049034"/>
              <a:gd name="connsiteY4" fmla="*/ 907538 h 907538"/>
              <a:gd name="connsiteX5" fmla="*/ 259284 w 1049034"/>
              <a:gd name="connsiteY5" fmla="*/ 907538 h 907538"/>
              <a:gd name="connsiteX6" fmla="*/ 0 w 1049034"/>
              <a:gd name="connsiteY6" fmla="*/ 453769 h 90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034" h="907538">
                <a:moveTo>
                  <a:pt x="0" y="453769"/>
                </a:moveTo>
                <a:lnTo>
                  <a:pt x="259284" y="0"/>
                </a:lnTo>
                <a:lnTo>
                  <a:pt x="789750" y="0"/>
                </a:lnTo>
                <a:lnTo>
                  <a:pt x="1049034" y="453769"/>
                </a:lnTo>
                <a:lnTo>
                  <a:pt x="789750" y="907538"/>
                </a:lnTo>
                <a:lnTo>
                  <a:pt x="259284" y="907538"/>
                </a:lnTo>
                <a:lnTo>
                  <a:pt x="0" y="45376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087" tIns="165638" rIns="189087" bIns="165638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2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אפליקציות בריאות</a:t>
            </a:r>
            <a:endParaRPr lang="en-US" sz="12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9" name="Freeform: Shape 448">
            <a:extLst>
              <a:ext uri="{FF2B5EF4-FFF2-40B4-BE49-F238E27FC236}">
                <a16:creationId xmlns:a16="http://schemas.microsoft.com/office/drawing/2014/main" id="{9E0B8F66-9471-4B27-B8B1-19464042F6EC}"/>
              </a:ext>
            </a:extLst>
          </p:cNvPr>
          <p:cNvSpPr/>
          <p:nvPr/>
        </p:nvSpPr>
        <p:spPr>
          <a:xfrm>
            <a:off x="2933681" y="1626011"/>
            <a:ext cx="1049034" cy="907538"/>
          </a:xfrm>
          <a:custGeom>
            <a:avLst/>
            <a:gdLst>
              <a:gd name="connsiteX0" fmla="*/ 0 w 1049034"/>
              <a:gd name="connsiteY0" fmla="*/ 453769 h 907538"/>
              <a:gd name="connsiteX1" fmla="*/ 259284 w 1049034"/>
              <a:gd name="connsiteY1" fmla="*/ 0 h 907538"/>
              <a:gd name="connsiteX2" fmla="*/ 789750 w 1049034"/>
              <a:gd name="connsiteY2" fmla="*/ 0 h 907538"/>
              <a:gd name="connsiteX3" fmla="*/ 1049034 w 1049034"/>
              <a:gd name="connsiteY3" fmla="*/ 453769 h 907538"/>
              <a:gd name="connsiteX4" fmla="*/ 789750 w 1049034"/>
              <a:gd name="connsiteY4" fmla="*/ 907538 h 907538"/>
              <a:gd name="connsiteX5" fmla="*/ 259284 w 1049034"/>
              <a:gd name="connsiteY5" fmla="*/ 907538 h 907538"/>
              <a:gd name="connsiteX6" fmla="*/ 0 w 1049034"/>
              <a:gd name="connsiteY6" fmla="*/ 453769 h 90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034" h="907538">
                <a:moveTo>
                  <a:pt x="0" y="453769"/>
                </a:moveTo>
                <a:lnTo>
                  <a:pt x="259284" y="0"/>
                </a:lnTo>
                <a:lnTo>
                  <a:pt x="789750" y="0"/>
                </a:lnTo>
                <a:lnTo>
                  <a:pt x="1049034" y="453769"/>
                </a:lnTo>
                <a:lnTo>
                  <a:pt x="789750" y="907538"/>
                </a:lnTo>
                <a:lnTo>
                  <a:pt x="259284" y="907538"/>
                </a:lnTo>
                <a:lnTo>
                  <a:pt x="0" y="45376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087" tIns="165638" rIns="189087" bIns="165638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מכשור לביש</a:t>
            </a:r>
            <a:endParaRPr lang="en-US" sz="1400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4" name="Freeform: Shape 463">
            <a:extLst>
              <a:ext uri="{FF2B5EF4-FFF2-40B4-BE49-F238E27FC236}">
                <a16:creationId xmlns:a16="http://schemas.microsoft.com/office/drawing/2014/main" id="{FA843444-7C2E-4A80-B324-A0E6151580B5}"/>
              </a:ext>
            </a:extLst>
          </p:cNvPr>
          <p:cNvSpPr/>
          <p:nvPr/>
        </p:nvSpPr>
        <p:spPr>
          <a:xfrm>
            <a:off x="1978164" y="4205586"/>
            <a:ext cx="1260081" cy="1090021"/>
          </a:xfrm>
          <a:custGeom>
            <a:avLst/>
            <a:gdLst>
              <a:gd name="connsiteX0" fmla="*/ 0 w 1260081"/>
              <a:gd name="connsiteY0" fmla="*/ 545011 h 1090021"/>
              <a:gd name="connsiteX1" fmla="*/ 311419 w 1260081"/>
              <a:gd name="connsiteY1" fmla="*/ 0 h 1090021"/>
              <a:gd name="connsiteX2" fmla="*/ 948662 w 1260081"/>
              <a:gd name="connsiteY2" fmla="*/ 0 h 1090021"/>
              <a:gd name="connsiteX3" fmla="*/ 1260081 w 1260081"/>
              <a:gd name="connsiteY3" fmla="*/ 545011 h 1090021"/>
              <a:gd name="connsiteX4" fmla="*/ 948662 w 1260081"/>
              <a:gd name="connsiteY4" fmla="*/ 1090021 h 1090021"/>
              <a:gd name="connsiteX5" fmla="*/ 311419 w 1260081"/>
              <a:gd name="connsiteY5" fmla="*/ 1090021 h 1090021"/>
              <a:gd name="connsiteX6" fmla="*/ 0 w 1260081"/>
              <a:gd name="connsiteY6" fmla="*/ 545011 h 10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0081" h="1090021">
                <a:moveTo>
                  <a:pt x="0" y="545011"/>
                </a:moveTo>
                <a:lnTo>
                  <a:pt x="311419" y="0"/>
                </a:lnTo>
                <a:lnTo>
                  <a:pt x="948662" y="0"/>
                </a:lnTo>
                <a:lnTo>
                  <a:pt x="1260081" y="545011"/>
                </a:lnTo>
                <a:lnTo>
                  <a:pt x="948662" y="1090021"/>
                </a:lnTo>
                <a:lnTo>
                  <a:pt x="311419" y="1090021"/>
                </a:lnTo>
                <a:lnTo>
                  <a:pt x="0" y="54501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1673" tIns="203492" rIns="231673" bIns="203492" numCol="1" spcCol="1270" anchor="ctr" anchorCtr="0">
            <a:noAutofit/>
          </a:bodyPr>
          <a:lstStyle/>
          <a:p>
            <a:pPr marL="0" lvl="0" indent="0" algn="ctr" defTabSz="800100">
              <a:lnSpc>
                <a:spcPts val="24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bg2"/>
                </a:solidFill>
                <a:effectLst/>
                <a:latin typeface="Assistant" pitchFamily="2" charset="-79"/>
                <a:cs typeface="Assistant" pitchFamily="2" charset="-79"/>
              </a:rPr>
              <a:t>מידע חברתי ורווחתי</a:t>
            </a:r>
            <a:endParaRPr lang="en-US" b="1" u="none" kern="1200" dirty="0">
              <a:solidFill>
                <a:schemeClr val="bg2"/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6" name="Freeform: Shape 465">
            <a:extLst>
              <a:ext uri="{FF2B5EF4-FFF2-40B4-BE49-F238E27FC236}">
                <a16:creationId xmlns:a16="http://schemas.microsoft.com/office/drawing/2014/main" id="{68100A83-A526-4B6F-BC45-D447258364D2}"/>
              </a:ext>
            </a:extLst>
          </p:cNvPr>
          <p:cNvSpPr/>
          <p:nvPr/>
        </p:nvSpPr>
        <p:spPr>
          <a:xfrm>
            <a:off x="2094236" y="3214211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6368" tIns="163286" rIns="186368" bIns="163286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תכנית חברתיות</a:t>
            </a:r>
            <a:endParaRPr lang="en-US" sz="1400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8" name="Freeform: Shape 467">
            <a:extLst>
              <a:ext uri="{FF2B5EF4-FFF2-40B4-BE49-F238E27FC236}">
                <a16:creationId xmlns:a16="http://schemas.microsoft.com/office/drawing/2014/main" id="{0951807E-04B7-4D60-A0D2-B7E80BABCADB}"/>
              </a:ext>
            </a:extLst>
          </p:cNvPr>
          <p:cNvSpPr/>
          <p:nvPr/>
        </p:nvSpPr>
        <p:spPr>
          <a:xfrm>
            <a:off x="3041275" y="3763677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6368" tIns="163286" rIns="186368" bIns="163286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דיווח עצמי</a:t>
            </a:r>
            <a:endParaRPr lang="en-US" sz="1400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70" name="Freeform: Shape 469">
            <a:extLst>
              <a:ext uri="{FF2B5EF4-FFF2-40B4-BE49-F238E27FC236}">
                <a16:creationId xmlns:a16="http://schemas.microsoft.com/office/drawing/2014/main" id="{EDC39FB2-FB91-4DF1-B690-2C5C8860BAEB}"/>
              </a:ext>
            </a:extLst>
          </p:cNvPr>
          <p:cNvSpPr/>
          <p:nvPr/>
        </p:nvSpPr>
        <p:spPr>
          <a:xfrm>
            <a:off x="3041275" y="4843864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6368" tIns="163286" rIns="186368" bIns="163286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מרכזי יום</a:t>
            </a:r>
            <a:endParaRPr lang="en-US" sz="1400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72" name="Freeform: Shape 471">
            <a:extLst>
              <a:ext uri="{FF2B5EF4-FFF2-40B4-BE49-F238E27FC236}">
                <a16:creationId xmlns:a16="http://schemas.microsoft.com/office/drawing/2014/main" id="{E7D28CB5-4B6C-4006-A231-E6080D7470E0}"/>
              </a:ext>
            </a:extLst>
          </p:cNvPr>
          <p:cNvSpPr/>
          <p:nvPr/>
        </p:nvSpPr>
        <p:spPr>
          <a:xfrm>
            <a:off x="2094236" y="5393945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rgbClr val="11486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6368" tIns="163286" rIns="186368" bIns="163286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1">
                    <a:lumMod val="95000"/>
                  </a:schemeClr>
                </a:solidFill>
                <a:latin typeface="Assistant" pitchFamily="2" charset="-79"/>
                <a:cs typeface="Assistant" pitchFamily="2" charset="-79"/>
              </a:rPr>
              <a:t>בני משפחה מטפלים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74" name="Freeform: Shape 473">
            <a:extLst>
              <a:ext uri="{FF2B5EF4-FFF2-40B4-BE49-F238E27FC236}">
                <a16:creationId xmlns:a16="http://schemas.microsoft.com/office/drawing/2014/main" id="{E753DDDA-DAD4-441D-B380-1D1AD6CA388E}"/>
              </a:ext>
            </a:extLst>
          </p:cNvPr>
          <p:cNvSpPr/>
          <p:nvPr/>
        </p:nvSpPr>
        <p:spPr>
          <a:xfrm>
            <a:off x="1142800" y="4844479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6368" tIns="163286" rIns="186368" bIns="163286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מחלקות רווחה</a:t>
            </a:r>
            <a:endParaRPr lang="en-US" sz="1400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75" name="Freeform: Shape 474">
            <a:extLst>
              <a:ext uri="{FF2B5EF4-FFF2-40B4-BE49-F238E27FC236}">
                <a16:creationId xmlns:a16="http://schemas.microsoft.com/office/drawing/2014/main" id="{C57B4167-75D0-4F42-8D1D-8BDC6DB6F9D4}"/>
              </a:ext>
            </a:extLst>
          </p:cNvPr>
          <p:cNvSpPr/>
          <p:nvPr/>
        </p:nvSpPr>
        <p:spPr>
          <a:xfrm>
            <a:off x="1142800" y="3762448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6368" tIns="163286" rIns="186368" bIns="163286" numCol="1" spcCol="1270" anchor="ctr" anchorCtr="0">
            <a:noAutofit/>
          </a:bodyPr>
          <a:lstStyle/>
          <a:p>
            <a:pPr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200" dirty="0">
                <a:solidFill>
                  <a:schemeClr val="bg2"/>
                </a:solidFill>
                <a:latin typeface="Assistant" pitchFamily="2" charset="-79"/>
                <a:cs typeface="Assistant" pitchFamily="2" charset="-79"/>
              </a:rPr>
              <a:t>אפליקציות</a:t>
            </a:r>
            <a:endParaRPr lang="en-US" sz="1200" dirty="0">
              <a:solidFill>
                <a:schemeClr val="bg2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5CCC497-8D11-4EC2-ADE3-2F38C094EFC1}"/>
              </a:ext>
            </a:extLst>
          </p:cNvPr>
          <p:cNvSpPr/>
          <p:nvPr/>
        </p:nvSpPr>
        <p:spPr>
          <a:xfrm>
            <a:off x="1013501" y="1623521"/>
            <a:ext cx="1260081" cy="1090021"/>
          </a:xfrm>
          <a:custGeom>
            <a:avLst/>
            <a:gdLst>
              <a:gd name="connsiteX0" fmla="*/ 0 w 1260081"/>
              <a:gd name="connsiteY0" fmla="*/ 545011 h 1090021"/>
              <a:gd name="connsiteX1" fmla="*/ 311419 w 1260081"/>
              <a:gd name="connsiteY1" fmla="*/ 0 h 1090021"/>
              <a:gd name="connsiteX2" fmla="*/ 948662 w 1260081"/>
              <a:gd name="connsiteY2" fmla="*/ 0 h 1090021"/>
              <a:gd name="connsiteX3" fmla="*/ 1260081 w 1260081"/>
              <a:gd name="connsiteY3" fmla="*/ 545011 h 1090021"/>
              <a:gd name="connsiteX4" fmla="*/ 948662 w 1260081"/>
              <a:gd name="connsiteY4" fmla="*/ 1090021 h 1090021"/>
              <a:gd name="connsiteX5" fmla="*/ 311419 w 1260081"/>
              <a:gd name="connsiteY5" fmla="*/ 1090021 h 1090021"/>
              <a:gd name="connsiteX6" fmla="*/ 0 w 1260081"/>
              <a:gd name="connsiteY6" fmla="*/ 545011 h 10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0081" h="1090021">
                <a:moveTo>
                  <a:pt x="0" y="545011"/>
                </a:moveTo>
                <a:lnTo>
                  <a:pt x="311419" y="0"/>
                </a:lnTo>
                <a:lnTo>
                  <a:pt x="948662" y="0"/>
                </a:lnTo>
                <a:lnTo>
                  <a:pt x="1260081" y="545011"/>
                </a:lnTo>
                <a:lnTo>
                  <a:pt x="948662" y="1090021"/>
                </a:lnTo>
                <a:lnTo>
                  <a:pt x="311419" y="1090021"/>
                </a:lnTo>
                <a:lnTo>
                  <a:pt x="0" y="545011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133" tIns="200952" rIns="229133" bIns="200952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bg2">
                    <a:lumMod val="10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התנהגות בריאות</a:t>
            </a:r>
            <a:endParaRPr lang="en-US" b="1" u="none" kern="1200" dirty="0">
              <a:solidFill>
                <a:schemeClr val="bg2">
                  <a:lumMod val="10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96F36E-2B02-4D6A-BEEA-4FECE6D6F4C2}"/>
              </a:ext>
            </a:extLst>
          </p:cNvPr>
          <p:cNvSpPr/>
          <p:nvPr/>
        </p:nvSpPr>
        <p:spPr>
          <a:xfrm>
            <a:off x="1129573" y="632146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1448" tIns="168366" rIns="191448" bIns="168366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2">
                    <a:lumMod val="10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מאגרים מהעולם</a:t>
            </a:r>
            <a:endParaRPr lang="en-US" sz="1400" kern="1200" dirty="0">
              <a:solidFill>
                <a:schemeClr val="bg2">
                  <a:lumMod val="10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9529CE0-7F03-43BA-93C2-0DAE57B11048}"/>
              </a:ext>
            </a:extLst>
          </p:cNvPr>
          <p:cNvSpPr/>
          <p:nvPr/>
        </p:nvSpPr>
        <p:spPr>
          <a:xfrm>
            <a:off x="2076612" y="1181612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1448" tIns="168366" rIns="191448" bIns="168366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דיווח עצמי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10D1A2-A284-4B93-9809-6DE1C8C53E1C}"/>
              </a:ext>
            </a:extLst>
          </p:cNvPr>
          <p:cNvSpPr/>
          <p:nvPr/>
        </p:nvSpPr>
        <p:spPr>
          <a:xfrm>
            <a:off x="2076612" y="2261799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1448" tIns="168366" rIns="191448" bIns="168366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סקרים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36A2D94-D395-444A-A070-D68FB79DA486}"/>
              </a:ext>
            </a:extLst>
          </p:cNvPr>
          <p:cNvSpPr/>
          <p:nvPr/>
        </p:nvSpPr>
        <p:spPr>
          <a:xfrm>
            <a:off x="1129573" y="2811880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1448" tIns="168366" rIns="191448" bIns="168366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תכניות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0AB552B-7C26-4625-B013-61C705650B6D}"/>
              </a:ext>
            </a:extLst>
          </p:cNvPr>
          <p:cNvSpPr/>
          <p:nvPr/>
        </p:nvSpPr>
        <p:spPr>
          <a:xfrm>
            <a:off x="178137" y="2262414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1448" tIns="168366" rIns="191448" bIns="168366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תזונה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B61D9E2-304C-4CAA-921D-0B53D8D598BC}"/>
              </a:ext>
            </a:extLst>
          </p:cNvPr>
          <p:cNvSpPr/>
          <p:nvPr/>
        </p:nvSpPr>
        <p:spPr>
          <a:xfrm>
            <a:off x="178137" y="1180383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1448" tIns="168366" rIns="191448" bIns="168366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פעילות ספורט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99823E4-E62D-41FC-898F-5987658C251A}"/>
              </a:ext>
            </a:extLst>
          </p:cNvPr>
          <p:cNvSpPr/>
          <p:nvPr/>
        </p:nvSpPr>
        <p:spPr>
          <a:xfrm>
            <a:off x="7593228" y="5247979"/>
            <a:ext cx="1260081" cy="1090021"/>
          </a:xfrm>
          <a:custGeom>
            <a:avLst/>
            <a:gdLst>
              <a:gd name="connsiteX0" fmla="*/ 0 w 1260081"/>
              <a:gd name="connsiteY0" fmla="*/ 545011 h 1090021"/>
              <a:gd name="connsiteX1" fmla="*/ 311419 w 1260081"/>
              <a:gd name="connsiteY1" fmla="*/ 0 h 1090021"/>
              <a:gd name="connsiteX2" fmla="*/ 948662 w 1260081"/>
              <a:gd name="connsiteY2" fmla="*/ 0 h 1090021"/>
              <a:gd name="connsiteX3" fmla="*/ 1260081 w 1260081"/>
              <a:gd name="connsiteY3" fmla="*/ 545011 h 1090021"/>
              <a:gd name="connsiteX4" fmla="*/ 948662 w 1260081"/>
              <a:gd name="connsiteY4" fmla="*/ 1090021 h 1090021"/>
              <a:gd name="connsiteX5" fmla="*/ 311419 w 1260081"/>
              <a:gd name="connsiteY5" fmla="*/ 1090021 h 1090021"/>
              <a:gd name="connsiteX6" fmla="*/ 0 w 1260081"/>
              <a:gd name="connsiteY6" fmla="*/ 545011 h 10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0081" h="1090021">
                <a:moveTo>
                  <a:pt x="0" y="545011"/>
                </a:moveTo>
                <a:lnTo>
                  <a:pt x="311419" y="0"/>
                </a:lnTo>
                <a:lnTo>
                  <a:pt x="948662" y="0"/>
                </a:lnTo>
                <a:lnTo>
                  <a:pt x="1260081" y="545011"/>
                </a:lnTo>
                <a:lnTo>
                  <a:pt x="948662" y="1090021"/>
                </a:lnTo>
                <a:lnTo>
                  <a:pt x="311419" y="1090021"/>
                </a:lnTo>
                <a:lnTo>
                  <a:pt x="0" y="5450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213" tIns="206032" rIns="234213" bIns="206032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מידע דמוגרפי</a:t>
            </a:r>
            <a:endParaRPr lang="en-US" b="1" u="none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E2D8C7B3-E344-4D27-AAF3-5FD5E9454FBC}"/>
              </a:ext>
            </a:extLst>
          </p:cNvPr>
          <p:cNvSpPr/>
          <p:nvPr/>
        </p:nvSpPr>
        <p:spPr>
          <a:xfrm>
            <a:off x="8656339" y="5886257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6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6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שלטון מקומי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C07C49A-46F6-4A1D-BBD3-0F502D32ABE6}"/>
              </a:ext>
            </a:extLst>
          </p:cNvPr>
          <p:cNvSpPr/>
          <p:nvPr/>
        </p:nvSpPr>
        <p:spPr>
          <a:xfrm>
            <a:off x="7709300" y="6436338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4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4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ביטוח לאומי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13D16A2-775F-48F4-943A-CBE1208B03A9}"/>
              </a:ext>
            </a:extLst>
          </p:cNvPr>
          <p:cNvSpPr/>
          <p:nvPr/>
        </p:nvSpPr>
        <p:spPr>
          <a:xfrm>
            <a:off x="6757864" y="5886872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9C65A0F-03EE-416C-A689-CF6E089EF2C1}"/>
              </a:ext>
            </a:extLst>
          </p:cNvPr>
          <p:cNvSpPr/>
          <p:nvPr/>
        </p:nvSpPr>
        <p:spPr>
          <a:xfrm>
            <a:off x="6757864" y="4804841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1">
                    <a:lumMod val="95000"/>
                  </a:schemeClr>
                </a:solidFill>
                <a:latin typeface="Assistant" pitchFamily="2" charset="-79"/>
                <a:cs typeface="Assistant" pitchFamily="2" charset="-79"/>
              </a:rPr>
              <a:t>חברתי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BB5227C-69E7-4B06-9283-8DA7E13A1AA6}"/>
              </a:ext>
            </a:extLst>
          </p:cNvPr>
          <p:cNvSpPr/>
          <p:nvPr/>
        </p:nvSpPr>
        <p:spPr>
          <a:xfrm>
            <a:off x="120973" y="6381590"/>
            <a:ext cx="1260081" cy="1090021"/>
          </a:xfrm>
          <a:custGeom>
            <a:avLst/>
            <a:gdLst>
              <a:gd name="connsiteX0" fmla="*/ 0 w 1260081"/>
              <a:gd name="connsiteY0" fmla="*/ 545011 h 1090021"/>
              <a:gd name="connsiteX1" fmla="*/ 311419 w 1260081"/>
              <a:gd name="connsiteY1" fmla="*/ 0 h 1090021"/>
              <a:gd name="connsiteX2" fmla="*/ 948662 w 1260081"/>
              <a:gd name="connsiteY2" fmla="*/ 0 h 1090021"/>
              <a:gd name="connsiteX3" fmla="*/ 1260081 w 1260081"/>
              <a:gd name="connsiteY3" fmla="*/ 545011 h 1090021"/>
              <a:gd name="connsiteX4" fmla="*/ 948662 w 1260081"/>
              <a:gd name="connsiteY4" fmla="*/ 1090021 h 1090021"/>
              <a:gd name="connsiteX5" fmla="*/ 311419 w 1260081"/>
              <a:gd name="connsiteY5" fmla="*/ 1090021 h 1090021"/>
              <a:gd name="connsiteX6" fmla="*/ 0 w 1260081"/>
              <a:gd name="connsiteY6" fmla="*/ 545011 h 10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0081" h="1090021">
                <a:moveTo>
                  <a:pt x="0" y="545011"/>
                </a:moveTo>
                <a:lnTo>
                  <a:pt x="311419" y="0"/>
                </a:lnTo>
                <a:lnTo>
                  <a:pt x="948662" y="0"/>
                </a:lnTo>
                <a:lnTo>
                  <a:pt x="1260081" y="545011"/>
                </a:lnTo>
                <a:lnTo>
                  <a:pt x="948662" y="1090021"/>
                </a:lnTo>
                <a:lnTo>
                  <a:pt x="311419" y="1090021"/>
                </a:lnTo>
                <a:lnTo>
                  <a:pt x="0" y="5450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213" tIns="206032" rIns="234213" bIns="206032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מידע דמוגרפי</a:t>
            </a:r>
            <a:endParaRPr lang="en-US" b="1" u="none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62F4330-4296-4899-AC92-A835830DA040}"/>
              </a:ext>
            </a:extLst>
          </p:cNvPr>
          <p:cNvSpPr/>
          <p:nvPr/>
        </p:nvSpPr>
        <p:spPr>
          <a:xfrm>
            <a:off x="237045" y="5390215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משרד הרווחה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ADFBDD6-67FC-4FF3-9C28-1B2752D58882}"/>
              </a:ext>
            </a:extLst>
          </p:cNvPr>
          <p:cNvSpPr/>
          <p:nvPr/>
        </p:nvSpPr>
        <p:spPr>
          <a:xfrm>
            <a:off x="1184084" y="5939681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8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8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משרד הבריאות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09591CD-6CB7-4DCC-BD94-F8E77D50CF95}"/>
              </a:ext>
            </a:extLst>
          </p:cNvPr>
          <p:cNvSpPr/>
          <p:nvPr/>
        </p:nvSpPr>
        <p:spPr>
          <a:xfrm>
            <a:off x="1184084" y="7019868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6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6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שלטון מקומי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4A9EB58-8C35-4DF1-8D3D-5D1BA875BDF7}"/>
              </a:ext>
            </a:extLst>
          </p:cNvPr>
          <p:cNvSpPr/>
          <p:nvPr/>
        </p:nvSpPr>
        <p:spPr>
          <a:xfrm>
            <a:off x="237045" y="7293724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24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24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ביטוח לאומי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E12C37A-1E76-424C-B980-226B8624DB8C}"/>
              </a:ext>
            </a:extLst>
          </p:cNvPr>
          <p:cNvSpPr/>
          <p:nvPr/>
        </p:nvSpPr>
        <p:spPr>
          <a:xfrm>
            <a:off x="-714391" y="7020483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2721560-323F-498E-9A3F-C7660692688D}"/>
              </a:ext>
            </a:extLst>
          </p:cNvPr>
          <p:cNvSpPr/>
          <p:nvPr/>
        </p:nvSpPr>
        <p:spPr>
          <a:xfrm>
            <a:off x="-714391" y="5938452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1">
                    <a:lumMod val="95000"/>
                  </a:schemeClr>
                </a:solidFill>
                <a:latin typeface="Assistant" pitchFamily="2" charset="-79"/>
                <a:cs typeface="Assistant" pitchFamily="2" charset="-79"/>
              </a:rPr>
              <a:t>חברתי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3411481-68BD-4EBD-B1FF-0A3B61F4F332}"/>
              </a:ext>
            </a:extLst>
          </p:cNvPr>
          <p:cNvSpPr/>
          <p:nvPr/>
        </p:nvSpPr>
        <p:spPr>
          <a:xfrm>
            <a:off x="2929600" y="6956881"/>
            <a:ext cx="1260081" cy="1090021"/>
          </a:xfrm>
          <a:custGeom>
            <a:avLst/>
            <a:gdLst>
              <a:gd name="connsiteX0" fmla="*/ 0 w 1260081"/>
              <a:gd name="connsiteY0" fmla="*/ 545011 h 1090021"/>
              <a:gd name="connsiteX1" fmla="*/ 311419 w 1260081"/>
              <a:gd name="connsiteY1" fmla="*/ 0 h 1090021"/>
              <a:gd name="connsiteX2" fmla="*/ 948662 w 1260081"/>
              <a:gd name="connsiteY2" fmla="*/ 0 h 1090021"/>
              <a:gd name="connsiteX3" fmla="*/ 1260081 w 1260081"/>
              <a:gd name="connsiteY3" fmla="*/ 545011 h 1090021"/>
              <a:gd name="connsiteX4" fmla="*/ 948662 w 1260081"/>
              <a:gd name="connsiteY4" fmla="*/ 1090021 h 1090021"/>
              <a:gd name="connsiteX5" fmla="*/ 311419 w 1260081"/>
              <a:gd name="connsiteY5" fmla="*/ 1090021 h 1090021"/>
              <a:gd name="connsiteX6" fmla="*/ 0 w 1260081"/>
              <a:gd name="connsiteY6" fmla="*/ 545011 h 109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0081" h="1090021">
                <a:moveTo>
                  <a:pt x="0" y="545011"/>
                </a:moveTo>
                <a:lnTo>
                  <a:pt x="311419" y="0"/>
                </a:lnTo>
                <a:lnTo>
                  <a:pt x="948662" y="0"/>
                </a:lnTo>
                <a:lnTo>
                  <a:pt x="1260081" y="545011"/>
                </a:lnTo>
                <a:lnTo>
                  <a:pt x="948662" y="1090021"/>
                </a:lnTo>
                <a:lnTo>
                  <a:pt x="311419" y="1090021"/>
                </a:lnTo>
                <a:lnTo>
                  <a:pt x="0" y="5450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8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213" tIns="206032" rIns="234213" bIns="206032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b="1" u="none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מידע דמוגרפי</a:t>
            </a:r>
            <a:endParaRPr lang="en-US" b="1" u="none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55BD76D-8B24-48C5-855F-CD3F76B00590}"/>
              </a:ext>
            </a:extLst>
          </p:cNvPr>
          <p:cNvSpPr/>
          <p:nvPr/>
        </p:nvSpPr>
        <p:spPr>
          <a:xfrm>
            <a:off x="3045672" y="5965506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משרד הרווחה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4FE8D82-76D0-4965-AFE3-78B43AFAFAA0}"/>
              </a:ext>
            </a:extLst>
          </p:cNvPr>
          <p:cNvSpPr/>
          <p:nvPr/>
        </p:nvSpPr>
        <p:spPr>
          <a:xfrm>
            <a:off x="3992711" y="6514972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8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8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משרד הבריאות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D89E3394-C5BE-4442-9E0D-FD2440619717}"/>
              </a:ext>
            </a:extLst>
          </p:cNvPr>
          <p:cNvSpPr/>
          <p:nvPr/>
        </p:nvSpPr>
        <p:spPr>
          <a:xfrm>
            <a:off x="3992711" y="7318934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-1600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-1600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שלטון מקומי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2E5EF54-6D8F-47CF-993B-54F3B9D71E0C}"/>
              </a:ext>
            </a:extLst>
          </p:cNvPr>
          <p:cNvSpPr/>
          <p:nvPr/>
        </p:nvSpPr>
        <p:spPr>
          <a:xfrm>
            <a:off x="2094236" y="7319549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8D41A9A7-284D-4C34-A0CB-7D5C3D4D43EB}"/>
              </a:ext>
            </a:extLst>
          </p:cNvPr>
          <p:cNvSpPr/>
          <p:nvPr/>
        </p:nvSpPr>
        <p:spPr>
          <a:xfrm>
            <a:off x="2094236" y="6513743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sz="1400" dirty="0">
                <a:solidFill>
                  <a:schemeClr val="bg1">
                    <a:lumMod val="95000"/>
                  </a:schemeClr>
                </a:solidFill>
                <a:latin typeface="Assistant" pitchFamily="2" charset="-79"/>
                <a:cs typeface="Assistant" pitchFamily="2" charset="-79"/>
              </a:rPr>
              <a:t>חברתי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32617A0-ED23-4874-810B-DE363BC310DD}"/>
              </a:ext>
            </a:extLst>
          </p:cNvPr>
          <p:cNvSpPr/>
          <p:nvPr/>
        </p:nvSpPr>
        <p:spPr>
          <a:xfrm>
            <a:off x="5805598" y="6381590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chemeClr val="bg1">
                  <a:lumMod val="9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55C38B4-D636-4CF5-8546-0437A3DA3C5B}"/>
              </a:ext>
            </a:extLst>
          </p:cNvPr>
          <p:cNvSpPr/>
          <p:nvPr/>
        </p:nvSpPr>
        <p:spPr>
          <a:xfrm>
            <a:off x="206687" y="4336288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משרד הרווחה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58576B-AEE9-4E93-B247-60651A81BB50}"/>
              </a:ext>
            </a:extLst>
          </p:cNvPr>
          <p:cNvSpPr/>
          <p:nvPr/>
        </p:nvSpPr>
        <p:spPr>
          <a:xfrm>
            <a:off x="170467" y="3299351"/>
            <a:ext cx="1032627" cy="893344"/>
          </a:xfrm>
          <a:custGeom>
            <a:avLst/>
            <a:gdLst>
              <a:gd name="connsiteX0" fmla="*/ 0 w 1032627"/>
              <a:gd name="connsiteY0" fmla="*/ 446672 h 893344"/>
              <a:gd name="connsiteX1" fmla="*/ 255228 w 1032627"/>
              <a:gd name="connsiteY1" fmla="*/ 0 h 893344"/>
              <a:gd name="connsiteX2" fmla="*/ 777399 w 1032627"/>
              <a:gd name="connsiteY2" fmla="*/ 0 h 893344"/>
              <a:gd name="connsiteX3" fmla="*/ 1032627 w 1032627"/>
              <a:gd name="connsiteY3" fmla="*/ 446672 h 893344"/>
              <a:gd name="connsiteX4" fmla="*/ 777399 w 1032627"/>
              <a:gd name="connsiteY4" fmla="*/ 893344 h 893344"/>
              <a:gd name="connsiteX5" fmla="*/ 255228 w 1032627"/>
              <a:gd name="connsiteY5" fmla="*/ 893344 h 893344"/>
              <a:gd name="connsiteX6" fmla="*/ 0 w 1032627"/>
              <a:gd name="connsiteY6" fmla="*/ 446672 h 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627" h="893344">
                <a:moveTo>
                  <a:pt x="0" y="446672"/>
                </a:moveTo>
                <a:lnTo>
                  <a:pt x="255228" y="0"/>
                </a:lnTo>
                <a:lnTo>
                  <a:pt x="777399" y="0"/>
                </a:lnTo>
                <a:lnTo>
                  <a:pt x="1032627" y="446672"/>
                </a:lnTo>
                <a:lnTo>
                  <a:pt x="777399" y="893344"/>
                </a:lnTo>
                <a:lnTo>
                  <a:pt x="255228" y="893344"/>
                </a:lnTo>
                <a:lnTo>
                  <a:pt x="0" y="4466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8908" tIns="165826" rIns="188908" bIns="16582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400" kern="1200" dirty="0">
                <a:solidFill>
                  <a:schemeClr val="bg1">
                    <a:lumMod val="95000"/>
                  </a:schemeClr>
                </a:solidFill>
                <a:effectLst/>
                <a:latin typeface="Assistant" pitchFamily="2" charset="-79"/>
                <a:cs typeface="Assistant" pitchFamily="2" charset="-79"/>
              </a:rPr>
              <a:t>משרד הרווחה</a:t>
            </a:r>
            <a:endParaRPr lang="en-US" sz="1400" kern="1200" dirty="0">
              <a:solidFill>
                <a:schemeClr val="bg1">
                  <a:lumMod val="95000"/>
                </a:schemeClr>
              </a:solidFill>
              <a:effectLst/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8" name="Google Shape;448;p1"/>
          <p:cNvSpPr/>
          <p:nvPr/>
        </p:nvSpPr>
        <p:spPr>
          <a:xfrm>
            <a:off x="6506393" y="1021375"/>
            <a:ext cx="5288663" cy="307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r" defTabSz="1219170" rtl="1">
              <a:lnSpc>
                <a:spcPct val="150000"/>
              </a:lnSpc>
              <a:buClr>
                <a:srgbClr val="000000"/>
              </a:buClr>
              <a:buSzPts val="9600"/>
            </a:pPr>
            <a:r>
              <a:rPr lang="he-IL" sz="3200" kern="0" dirty="0">
                <a:latin typeface="Assistant" pitchFamily="2" charset="-79"/>
                <a:ea typeface="Calibri"/>
                <a:cs typeface="Assistant" pitchFamily="2" charset="-79"/>
                <a:sym typeface="Arial"/>
              </a:rPr>
              <a:t>האקו-</a:t>
            </a:r>
            <a:r>
              <a:rPr lang="he-IL" sz="3200" kern="0" dirty="0" err="1">
                <a:latin typeface="Assistant" pitchFamily="2" charset="-79"/>
                <a:ea typeface="Calibri"/>
                <a:cs typeface="Assistant" pitchFamily="2" charset="-79"/>
                <a:sym typeface="Arial"/>
              </a:rPr>
              <a:t>סיסטם</a:t>
            </a:r>
            <a:r>
              <a:rPr lang="he-IL" sz="3200" kern="0" dirty="0">
                <a:latin typeface="Assistant" pitchFamily="2" charset="-79"/>
                <a:ea typeface="Calibri"/>
                <a:cs typeface="Assistant" pitchFamily="2" charset="-79"/>
                <a:sym typeface="Arial"/>
              </a:rPr>
              <a:t> מחזיק מידע רחב ומאוד מגוון של נתונים </a:t>
            </a:r>
            <a:br>
              <a:rPr lang="en-US" sz="3200" kern="0" dirty="0">
                <a:latin typeface="Assistant" pitchFamily="2" charset="-79"/>
                <a:ea typeface="Calibri"/>
                <a:cs typeface="Assistant" pitchFamily="2" charset="-79"/>
                <a:sym typeface="Arial"/>
              </a:rPr>
            </a:br>
            <a:r>
              <a:rPr lang="he-IL" sz="3200" kern="0" dirty="0">
                <a:latin typeface="Assistant" pitchFamily="2" charset="-79"/>
                <a:ea typeface="Calibri"/>
                <a:cs typeface="Assistant" pitchFamily="2" charset="-79"/>
                <a:sym typeface="Arial"/>
              </a:rPr>
              <a:t>עם </a:t>
            </a:r>
            <a:r>
              <a:rPr lang="he-IL" sz="3200" b="1" kern="0" dirty="0">
                <a:latin typeface="Assistant" pitchFamily="2" charset="-79"/>
                <a:ea typeface="Calibri"/>
                <a:cs typeface="Assistant" pitchFamily="2" charset="-79"/>
                <a:sym typeface="Arial"/>
              </a:rPr>
              <a:t>פוטנציאל לערך אדיר </a:t>
            </a:r>
            <a:r>
              <a:rPr lang="he-IL" sz="3200" kern="0" dirty="0">
                <a:latin typeface="Assistant" pitchFamily="2" charset="-79"/>
                <a:ea typeface="Calibri"/>
                <a:cs typeface="Assistant" pitchFamily="2" charset="-79"/>
                <a:sym typeface="Arial"/>
              </a:rPr>
              <a:t>בהינתן שיתוף נתונים בין השחקנים</a:t>
            </a:r>
            <a:endParaRPr sz="3200" kern="0" dirty="0">
              <a:latin typeface="Assistant" pitchFamily="2" charset="-79"/>
              <a:ea typeface="Calibri"/>
              <a:cs typeface="Assistant" pitchFamily="2" charset="-79"/>
              <a:sym typeface="Calibri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116AC26-E588-417B-8651-205C6B1F0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884"/>
          <a:stretch/>
        </p:blipFill>
        <p:spPr>
          <a:xfrm rot="20683477">
            <a:off x="10619945" y="199880"/>
            <a:ext cx="1047750" cy="11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4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FB3D2-3641-43F1-AE28-60846D521A18}"/>
              </a:ext>
            </a:extLst>
          </p:cNvPr>
          <p:cNvSpPr txBox="1"/>
          <p:nvPr/>
        </p:nvSpPr>
        <p:spPr>
          <a:xfrm>
            <a:off x="1228694" y="3959322"/>
            <a:ext cx="8300720" cy="2499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3600" dirty="0"/>
              <a:t>מחייבת הקמת מאגר מידע מרכזי </a:t>
            </a:r>
            <a:br>
              <a:rPr lang="en-US" sz="3600" dirty="0"/>
            </a:br>
            <a:r>
              <a:rPr lang="he-IL" sz="3600" dirty="0"/>
              <a:t>דורשת חיבור לכל מערכת ומערכת</a:t>
            </a:r>
            <a:br>
              <a:rPr lang="en-US" sz="3600" dirty="0"/>
            </a:br>
            <a:r>
              <a:rPr lang="he-IL" sz="3600" dirty="0"/>
              <a:t>ולא צריכה תקציבי ענק</a:t>
            </a:r>
            <a:endParaRPr lang="en-IL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90D76-93ED-401F-9C7F-37211507CE27}"/>
              </a:ext>
            </a:extLst>
          </p:cNvPr>
          <p:cNvSpPr txBox="1"/>
          <p:nvPr/>
        </p:nvSpPr>
        <p:spPr>
          <a:xfrm>
            <a:off x="1352212" y="739544"/>
            <a:ext cx="83007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chemeClr val="accent1"/>
                </a:solidFill>
              </a:rPr>
              <a:t>חיבוריות נתונים</a:t>
            </a:r>
            <a:r>
              <a:rPr lang="en-US" sz="4400" b="1" dirty="0">
                <a:solidFill>
                  <a:schemeClr val="accent1"/>
                </a:solidFill>
              </a:rPr>
              <a:t> </a:t>
            </a:r>
            <a:r>
              <a:rPr lang="he-IL" sz="4400" b="1" dirty="0">
                <a:solidFill>
                  <a:schemeClr val="accent1"/>
                </a:solidFill>
              </a:rPr>
              <a:t>בין מערכות וארגונים מאפשרת יתרונות ויצירת ערך רב</a:t>
            </a:r>
            <a:endParaRPr lang="en-IL" sz="4400" b="1" dirty="0">
              <a:solidFill>
                <a:schemeClr val="accent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240DB8-4478-4302-86E5-D72ECE480069}"/>
              </a:ext>
            </a:extLst>
          </p:cNvPr>
          <p:cNvGrpSpPr>
            <a:grpSpLocks noChangeAspect="1"/>
          </p:cNvGrpSpPr>
          <p:nvPr/>
        </p:nvGrpSpPr>
        <p:grpSpPr>
          <a:xfrm>
            <a:off x="9967763" y="1076415"/>
            <a:ext cx="872025" cy="785399"/>
            <a:chOff x="5094288" y="1795463"/>
            <a:chExt cx="239713" cy="215900"/>
          </a:xfrm>
          <a:solidFill>
            <a:schemeClr val="accent1"/>
          </a:solidFill>
        </p:grpSpPr>
        <p:sp>
          <p:nvSpPr>
            <p:cNvPr id="12" name="Freeform 179">
              <a:extLst>
                <a:ext uri="{FF2B5EF4-FFF2-40B4-BE49-F238E27FC236}">
                  <a16:creationId xmlns:a16="http://schemas.microsoft.com/office/drawing/2014/main" id="{15553330-7437-4FFA-9C1F-7EA7593C9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2076" y="1911350"/>
              <a:ext cx="61913" cy="100013"/>
            </a:xfrm>
            <a:custGeom>
              <a:avLst/>
              <a:gdLst>
                <a:gd name="T0" fmla="*/ 72 w 78"/>
                <a:gd name="T1" fmla="*/ 0 h 127"/>
                <a:gd name="T2" fmla="*/ 4 w 78"/>
                <a:gd name="T3" fmla="*/ 0 h 127"/>
                <a:gd name="T4" fmla="*/ 4 w 78"/>
                <a:gd name="T5" fmla="*/ 0 h 127"/>
                <a:gd name="T6" fmla="*/ 1 w 78"/>
                <a:gd name="T7" fmla="*/ 2 h 127"/>
                <a:gd name="T8" fmla="*/ 0 w 78"/>
                <a:gd name="T9" fmla="*/ 6 h 127"/>
                <a:gd name="T10" fmla="*/ 0 w 78"/>
                <a:gd name="T11" fmla="*/ 123 h 127"/>
                <a:gd name="T12" fmla="*/ 0 w 78"/>
                <a:gd name="T13" fmla="*/ 123 h 127"/>
                <a:gd name="T14" fmla="*/ 1 w 78"/>
                <a:gd name="T15" fmla="*/ 125 h 127"/>
                <a:gd name="T16" fmla="*/ 4 w 78"/>
                <a:gd name="T17" fmla="*/ 127 h 127"/>
                <a:gd name="T18" fmla="*/ 72 w 78"/>
                <a:gd name="T19" fmla="*/ 127 h 127"/>
                <a:gd name="T20" fmla="*/ 72 w 78"/>
                <a:gd name="T21" fmla="*/ 127 h 127"/>
                <a:gd name="T22" fmla="*/ 76 w 78"/>
                <a:gd name="T23" fmla="*/ 125 h 127"/>
                <a:gd name="T24" fmla="*/ 78 w 78"/>
                <a:gd name="T25" fmla="*/ 123 h 127"/>
                <a:gd name="T26" fmla="*/ 78 w 78"/>
                <a:gd name="T27" fmla="*/ 6 h 127"/>
                <a:gd name="T28" fmla="*/ 78 w 78"/>
                <a:gd name="T29" fmla="*/ 6 h 127"/>
                <a:gd name="T30" fmla="*/ 76 w 78"/>
                <a:gd name="T31" fmla="*/ 2 h 127"/>
                <a:gd name="T32" fmla="*/ 72 w 78"/>
                <a:gd name="T33" fmla="*/ 0 h 127"/>
                <a:gd name="T34" fmla="*/ 72 w 78"/>
                <a:gd name="T3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8" h="127">
                  <a:moveTo>
                    <a:pt x="72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6"/>
                  </a:lnTo>
                  <a:lnTo>
                    <a:pt x="0" y="123"/>
                  </a:lnTo>
                  <a:lnTo>
                    <a:pt x="0" y="123"/>
                  </a:lnTo>
                  <a:lnTo>
                    <a:pt x="1" y="125"/>
                  </a:lnTo>
                  <a:lnTo>
                    <a:pt x="4" y="127"/>
                  </a:lnTo>
                  <a:lnTo>
                    <a:pt x="72" y="127"/>
                  </a:lnTo>
                  <a:lnTo>
                    <a:pt x="72" y="127"/>
                  </a:lnTo>
                  <a:lnTo>
                    <a:pt x="76" y="125"/>
                  </a:lnTo>
                  <a:lnTo>
                    <a:pt x="78" y="123"/>
                  </a:lnTo>
                  <a:lnTo>
                    <a:pt x="78" y="6"/>
                  </a:lnTo>
                  <a:lnTo>
                    <a:pt x="78" y="6"/>
                  </a:lnTo>
                  <a:lnTo>
                    <a:pt x="76" y="2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80">
              <a:extLst>
                <a:ext uri="{FF2B5EF4-FFF2-40B4-BE49-F238E27FC236}">
                  <a16:creationId xmlns:a16="http://schemas.microsoft.com/office/drawing/2014/main" id="{4EF291C8-12BE-4BB9-8563-608616D5A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288" y="1957388"/>
              <a:ext cx="61913" cy="53975"/>
            </a:xfrm>
            <a:custGeom>
              <a:avLst/>
              <a:gdLst>
                <a:gd name="T0" fmla="*/ 74 w 78"/>
                <a:gd name="T1" fmla="*/ 0 h 68"/>
                <a:gd name="T2" fmla="*/ 5 w 78"/>
                <a:gd name="T3" fmla="*/ 0 h 68"/>
                <a:gd name="T4" fmla="*/ 5 w 78"/>
                <a:gd name="T5" fmla="*/ 0 h 68"/>
                <a:gd name="T6" fmla="*/ 1 w 78"/>
                <a:gd name="T7" fmla="*/ 2 h 68"/>
                <a:gd name="T8" fmla="*/ 0 w 78"/>
                <a:gd name="T9" fmla="*/ 5 h 68"/>
                <a:gd name="T10" fmla="*/ 0 w 78"/>
                <a:gd name="T11" fmla="*/ 64 h 68"/>
                <a:gd name="T12" fmla="*/ 0 w 78"/>
                <a:gd name="T13" fmla="*/ 64 h 68"/>
                <a:gd name="T14" fmla="*/ 1 w 78"/>
                <a:gd name="T15" fmla="*/ 66 h 68"/>
                <a:gd name="T16" fmla="*/ 5 w 78"/>
                <a:gd name="T17" fmla="*/ 68 h 68"/>
                <a:gd name="T18" fmla="*/ 74 w 78"/>
                <a:gd name="T19" fmla="*/ 68 h 68"/>
                <a:gd name="T20" fmla="*/ 74 w 78"/>
                <a:gd name="T21" fmla="*/ 68 h 68"/>
                <a:gd name="T22" fmla="*/ 76 w 78"/>
                <a:gd name="T23" fmla="*/ 66 h 68"/>
                <a:gd name="T24" fmla="*/ 78 w 78"/>
                <a:gd name="T25" fmla="*/ 64 h 68"/>
                <a:gd name="T26" fmla="*/ 78 w 78"/>
                <a:gd name="T27" fmla="*/ 5 h 68"/>
                <a:gd name="T28" fmla="*/ 78 w 78"/>
                <a:gd name="T29" fmla="*/ 5 h 68"/>
                <a:gd name="T30" fmla="*/ 76 w 78"/>
                <a:gd name="T31" fmla="*/ 2 h 68"/>
                <a:gd name="T32" fmla="*/ 74 w 78"/>
                <a:gd name="T33" fmla="*/ 0 h 68"/>
                <a:gd name="T34" fmla="*/ 74 w 78"/>
                <a:gd name="T3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8" h="68">
                  <a:moveTo>
                    <a:pt x="74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5" y="68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6" y="66"/>
                  </a:lnTo>
                  <a:lnTo>
                    <a:pt x="78" y="64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6" y="2"/>
                  </a:lnTo>
                  <a:lnTo>
                    <a:pt x="74" y="0"/>
                  </a:lnTo>
                  <a:lnTo>
                    <a:pt x="7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81">
              <a:extLst>
                <a:ext uri="{FF2B5EF4-FFF2-40B4-BE49-F238E27FC236}">
                  <a16:creationId xmlns:a16="http://schemas.microsoft.com/office/drawing/2014/main" id="{CDD1D30B-01D6-4665-A352-87D28D45C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7638" y="1795463"/>
              <a:ext cx="106363" cy="215900"/>
            </a:xfrm>
            <a:custGeom>
              <a:avLst/>
              <a:gdLst>
                <a:gd name="T0" fmla="*/ 135 w 136"/>
                <a:gd name="T1" fmla="*/ 89 h 272"/>
                <a:gd name="T2" fmla="*/ 71 w 136"/>
                <a:gd name="T3" fmla="*/ 2 h 272"/>
                <a:gd name="T4" fmla="*/ 71 w 136"/>
                <a:gd name="T5" fmla="*/ 2 h 272"/>
                <a:gd name="T6" fmla="*/ 70 w 136"/>
                <a:gd name="T7" fmla="*/ 0 h 272"/>
                <a:gd name="T8" fmla="*/ 67 w 136"/>
                <a:gd name="T9" fmla="*/ 0 h 272"/>
                <a:gd name="T10" fmla="*/ 66 w 136"/>
                <a:gd name="T11" fmla="*/ 0 h 272"/>
                <a:gd name="T12" fmla="*/ 63 w 136"/>
                <a:gd name="T13" fmla="*/ 2 h 272"/>
                <a:gd name="T14" fmla="*/ 0 w 136"/>
                <a:gd name="T15" fmla="*/ 89 h 272"/>
                <a:gd name="T16" fmla="*/ 0 w 136"/>
                <a:gd name="T17" fmla="*/ 89 h 272"/>
                <a:gd name="T18" fmla="*/ 0 w 136"/>
                <a:gd name="T19" fmla="*/ 92 h 272"/>
                <a:gd name="T20" fmla="*/ 0 w 136"/>
                <a:gd name="T21" fmla="*/ 94 h 272"/>
                <a:gd name="T22" fmla="*/ 0 w 136"/>
                <a:gd name="T23" fmla="*/ 94 h 272"/>
                <a:gd name="T24" fmla="*/ 2 w 136"/>
                <a:gd name="T25" fmla="*/ 96 h 272"/>
                <a:gd name="T26" fmla="*/ 4 w 136"/>
                <a:gd name="T27" fmla="*/ 97 h 272"/>
                <a:gd name="T28" fmla="*/ 28 w 136"/>
                <a:gd name="T29" fmla="*/ 97 h 272"/>
                <a:gd name="T30" fmla="*/ 28 w 136"/>
                <a:gd name="T31" fmla="*/ 268 h 272"/>
                <a:gd name="T32" fmla="*/ 28 w 136"/>
                <a:gd name="T33" fmla="*/ 268 h 272"/>
                <a:gd name="T34" fmla="*/ 30 w 136"/>
                <a:gd name="T35" fmla="*/ 270 h 272"/>
                <a:gd name="T36" fmla="*/ 34 w 136"/>
                <a:gd name="T37" fmla="*/ 272 h 272"/>
                <a:gd name="T38" fmla="*/ 102 w 136"/>
                <a:gd name="T39" fmla="*/ 272 h 272"/>
                <a:gd name="T40" fmla="*/ 102 w 136"/>
                <a:gd name="T41" fmla="*/ 272 h 272"/>
                <a:gd name="T42" fmla="*/ 105 w 136"/>
                <a:gd name="T43" fmla="*/ 270 h 272"/>
                <a:gd name="T44" fmla="*/ 106 w 136"/>
                <a:gd name="T45" fmla="*/ 268 h 272"/>
                <a:gd name="T46" fmla="*/ 106 w 136"/>
                <a:gd name="T47" fmla="*/ 97 h 272"/>
                <a:gd name="T48" fmla="*/ 131 w 136"/>
                <a:gd name="T49" fmla="*/ 97 h 272"/>
                <a:gd name="T50" fmla="*/ 131 w 136"/>
                <a:gd name="T51" fmla="*/ 97 h 272"/>
                <a:gd name="T52" fmla="*/ 133 w 136"/>
                <a:gd name="T53" fmla="*/ 96 h 272"/>
                <a:gd name="T54" fmla="*/ 136 w 136"/>
                <a:gd name="T55" fmla="*/ 94 h 272"/>
                <a:gd name="T56" fmla="*/ 136 w 136"/>
                <a:gd name="T57" fmla="*/ 94 h 272"/>
                <a:gd name="T58" fmla="*/ 136 w 136"/>
                <a:gd name="T59" fmla="*/ 92 h 272"/>
                <a:gd name="T60" fmla="*/ 135 w 136"/>
                <a:gd name="T61" fmla="*/ 89 h 272"/>
                <a:gd name="T62" fmla="*/ 135 w 136"/>
                <a:gd name="T63" fmla="*/ 89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6" h="272">
                  <a:moveTo>
                    <a:pt x="135" y="89"/>
                  </a:moveTo>
                  <a:lnTo>
                    <a:pt x="71" y="2"/>
                  </a:lnTo>
                  <a:lnTo>
                    <a:pt x="71" y="2"/>
                  </a:lnTo>
                  <a:lnTo>
                    <a:pt x="70" y="0"/>
                  </a:lnTo>
                  <a:lnTo>
                    <a:pt x="67" y="0"/>
                  </a:lnTo>
                  <a:lnTo>
                    <a:pt x="66" y="0"/>
                  </a:lnTo>
                  <a:lnTo>
                    <a:pt x="63" y="2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2" y="96"/>
                  </a:lnTo>
                  <a:lnTo>
                    <a:pt x="4" y="97"/>
                  </a:lnTo>
                  <a:lnTo>
                    <a:pt x="28" y="97"/>
                  </a:lnTo>
                  <a:lnTo>
                    <a:pt x="28" y="268"/>
                  </a:lnTo>
                  <a:lnTo>
                    <a:pt x="28" y="268"/>
                  </a:lnTo>
                  <a:lnTo>
                    <a:pt x="30" y="270"/>
                  </a:lnTo>
                  <a:lnTo>
                    <a:pt x="34" y="272"/>
                  </a:lnTo>
                  <a:lnTo>
                    <a:pt x="102" y="272"/>
                  </a:lnTo>
                  <a:lnTo>
                    <a:pt x="102" y="272"/>
                  </a:lnTo>
                  <a:lnTo>
                    <a:pt x="105" y="270"/>
                  </a:lnTo>
                  <a:lnTo>
                    <a:pt x="106" y="268"/>
                  </a:lnTo>
                  <a:lnTo>
                    <a:pt x="106" y="97"/>
                  </a:lnTo>
                  <a:lnTo>
                    <a:pt x="131" y="97"/>
                  </a:lnTo>
                  <a:lnTo>
                    <a:pt x="131" y="97"/>
                  </a:lnTo>
                  <a:lnTo>
                    <a:pt x="133" y="96"/>
                  </a:lnTo>
                  <a:lnTo>
                    <a:pt x="136" y="94"/>
                  </a:lnTo>
                  <a:lnTo>
                    <a:pt x="136" y="94"/>
                  </a:lnTo>
                  <a:lnTo>
                    <a:pt x="136" y="92"/>
                  </a:lnTo>
                  <a:lnTo>
                    <a:pt x="135" y="89"/>
                  </a:lnTo>
                  <a:lnTo>
                    <a:pt x="135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3F48F0-D92B-4101-9904-AE9E6E428103}"/>
              </a:ext>
            </a:extLst>
          </p:cNvPr>
          <p:cNvGrpSpPr>
            <a:grpSpLocks noChangeAspect="1"/>
          </p:cNvGrpSpPr>
          <p:nvPr/>
        </p:nvGrpSpPr>
        <p:grpSpPr>
          <a:xfrm>
            <a:off x="9967763" y="3291174"/>
            <a:ext cx="1062354" cy="795099"/>
            <a:chOff x="11261726" y="3510598"/>
            <a:chExt cx="252412" cy="188913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7" name="Freeform 307">
              <a:extLst>
                <a:ext uri="{FF2B5EF4-FFF2-40B4-BE49-F238E27FC236}">
                  <a16:creationId xmlns:a16="http://schemas.microsoft.com/office/drawing/2014/main" id="{DDB4ED46-3C9F-49C4-BB11-AA1A074EE8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1726" y="3510598"/>
              <a:ext cx="176213" cy="188913"/>
            </a:xfrm>
            <a:custGeom>
              <a:avLst/>
              <a:gdLst>
                <a:gd name="T0" fmla="*/ 215 w 222"/>
                <a:gd name="T1" fmla="*/ 0 h 239"/>
                <a:gd name="T2" fmla="*/ 3 w 222"/>
                <a:gd name="T3" fmla="*/ 71 h 239"/>
                <a:gd name="T4" fmla="*/ 3 w 222"/>
                <a:gd name="T5" fmla="*/ 71 h 239"/>
                <a:gd name="T6" fmla="*/ 1 w 222"/>
                <a:gd name="T7" fmla="*/ 72 h 239"/>
                <a:gd name="T8" fmla="*/ 0 w 222"/>
                <a:gd name="T9" fmla="*/ 75 h 239"/>
                <a:gd name="T10" fmla="*/ 0 w 222"/>
                <a:gd name="T11" fmla="*/ 156 h 239"/>
                <a:gd name="T12" fmla="*/ 0 w 222"/>
                <a:gd name="T13" fmla="*/ 156 h 239"/>
                <a:gd name="T14" fmla="*/ 1 w 222"/>
                <a:gd name="T15" fmla="*/ 160 h 239"/>
                <a:gd name="T16" fmla="*/ 3 w 222"/>
                <a:gd name="T17" fmla="*/ 161 h 239"/>
                <a:gd name="T18" fmla="*/ 29 w 222"/>
                <a:gd name="T19" fmla="*/ 170 h 239"/>
                <a:gd name="T20" fmla="*/ 29 w 222"/>
                <a:gd name="T21" fmla="*/ 234 h 239"/>
                <a:gd name="T22" fmla="*/ 29 w 222"/>
                <a:gd name="T23" fmla="*/ 234 h 239"/>
                <a:gd name="T24" fmla="*/ 31 w 222"/>
                <a:gd name="T25" fmla="*/ 238 h 239"/>
                <a:gd name="T26" fmla="*/ 35 w 222"/>
                <a:gd name="T27" fmla="*/ 239 h 239"/>
                <a:gd name="T28" fmla="*/ 116 w 222"/>
                <a:gd name="T29" fmla="*/ 239 h 239"/>
                <a:gd name="T30" fmla="*/ 116 w 222"/>
                <a:gd name="T31" fmla="*/ 239 h 239"/>
                <a:gd name="T32" fmla="*/ 120 w 222"/>
                <a:gd name="T33" fmla="*/ 238 h 239"/>
                <a:gd name="T34" fmla="*/ 121 w 222"/>
                <a:gd name="T35" fmla="*/ 234 h 239"/>
                <a:gd name="T36" fmla="*/ 121 w 222"/>
                <a:gd name="T37" fmla="*/ 200 h 239"/>
                <a:gd name="T38" fmla="*/ 215 w 222"/>
                <a:gd name="T39" fmla="*/ 232 h 239"/>
                <a:gd name="T40" fmla="*/ 215 w 222"/>
                <a:gd name="T41" fmla="*/ 232 h 239"/>
                <a:gd name="T42" fmla="*/ 216 w 222"/>
                <a:gd name="T43" fmla="*/ 232 h 239"/>
                <a:gd name="T44" fmla="*/ 216 w 222"/>
                <a:gd name="T45" fmla="*/ 232 h 239"/>
                <a:gd name="T46" fmla="*/ 220 w 222"/>
                <a:gd name="T47" fmla="*/ 231 h 239"/>
                <a:gd name="T48" fmla="*/ 220 w 222"/>
                <a:gd name="T49" fmla="*/ 231 h 239"/>
                <a:gd name="T50" fmla="*/ 222 w 222"/>
                <a:gd name="T51" fmla="*/ 230 h 239"/>
                <a:gd name="T52" fmla="*/ 222 w 222"/>
                <a:gd name="T53" fmla="*/ 227 h 239"/>
                <a:gd name="T54" fmla="*/ 222 w 222"/>
                <a:gd name="T55" fmla="*/ 5 h 239"/>
                <a:gd name="T56" fmla="*/ 222 w 222"/>
                <a:gd name="T57" fmla="*/ 5 h 239"/>
                <a:gd name="T58" fmla="*/ 222 w 222"/>
                <a:gd name="T59" fmla="*/ 2 h 239"/>
                <a:gd name="T60" fmla="*/ 220 w 222"/>
                <a:gd name="T61" fmla="*/ 1 h 239"/>
                <a:gd name="T62" fmla="*/ 220 w 222"/>
                <a:gd name="T63" fmla="*/ 1 h 239"/>
                <a:gd name="T64" fmla="*/ 218 w 222"/>
                <a:gd name="T65" fmla="*/ 0 h 239"/>
                <a:gd name="T66" fmla="*/ 215 w 222"/>
                <a:gd name="T67" fmla="*/ 0 h 239"/>
                <a:gd name="T68" fmla="*/ 215 w 222"/>
                <a:gd name="T69" fmla="*/ 0 h 239"/>
                <a:gd name="T70" fmla="*/ 101 w 222"/>
                <a:gd name="T71" fmla="*/ 219 h 239"/>
                <a:gd name="T72" fmla="*/ 51 w 222"/>
                <a:gd name="T73" fmla="*/ 219 h 239"/>
                <a:gd name="T74" fmla="*/ 51 w 222"/>
                <a:gd name="T75" fmla="*/ 177 h 239"/>
                <a:gd name="T76" fmla="*/ 101 w 222"/>
                <a:gd name="T77" fmla="*/ 193 h 239"/>
                <a:gd name="T78" fmla="*/ 101 w 222"/>
                <a:gd name="T79" fmla="*/ 21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2" h="239">
                  <a:moveTo>
                    <a:pt x="215" y="0"/>
                  </a:moveTo>
                  <a:lnTo>
                    <a:pt x="3" y="71"/>
                  </a:lnTo>
                  <a:lnTo>
                    <a:pt x="3" y="71"/>
                  </a:lnTo>
                  <a:lnTo>
                    <a:pt x="1" y="72"/>
                  </a:lnTo>
                  <a:lnTo>
                    <a:pt x="0" y="75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1" y="160"/>
                  </a:lnTo>
                  <a:lnTo>
                    <a:pt x="3" y="161"/>
                  </a:lnTo>
                  <a:lnTo>
                    <a:pt x="29" y="170"/>
                  </a:lnTo>
                  <a:lnTo>
                    <a:pt x="29" y="234"/>
                  </a:lnTo>
                  <a:lnTo>
                    <a:pt x="29" y="234"/>
                  </a:lnTo>
                  <a:lnTo>
                    <a:pt x="31" y="238"/>
                  </a:lnTo>
                  <a:lnTo>
                    <a:pt x="35" y="239"/>
                  </a:lnTo>
                  <a:lnTo>
                    <a:pt x="116" y="239"/>
                  </a:lnTo>
                  <a:lnTo>
                    <a:pt x="116" y="239"/>
                  </a:lnTo>
                  <a:lnTo>
                    <a:pt x="120" y="238"/>
                  </a:lnTo>
                  <a:lnTo>
                    <a:pt x="121" y="234"/>
                  </a:lnTo>
                  <a:lnTo>
                    <a:pt x="121" y="200"/>
                  </a:lnTo>
                  <a:lnTo>
                    <a:pt x="215" y="232"/>
                  </a:lnTo>
                  <a:lnTo>
                    <a:pt x="215" y="232"/>
                  </a:lnTo>
                  <a:lnTo>
                    <a:pt x="216" y="232"/>
                  </a:lnTo>
                  <a:lnTo>
                    <a:pt x="216" y="232"/>
                  </a:lnTo>
                  <a:lnTo>
                    <a:pt x="220" y="231"/>
                  </a:lnTo>
                  <a:lnTo>
                    <a:pt x="220" y="231"/>
                  </a:lnTo>
                  <a:lnTo>
                    <a:pt x="222" y="230"/>
                  </a:lnTo>
                  <a:lnTo>
                    <a:pt x="222" y="22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22" y="2"/>
                  </a:lnTo>
                  <a:lnTo>
                    <a:pt x="220" y="1"/>
                  </a:lnTo>
                  <a:lnTo>
                    <a:pt x="220" y="1"/>
                  </a:lnTo>
                  <a:lnTo>
                    <a:pt x="218" y="0"/>
                  </a:lnTo>
                  <a:lnTo>
                    <a:pt x="215" y="0"/>
                  </a:lnTo>
                  <a:lnTo>
                    <a:pt x="215" y="0"/>
                  </a:lnTo>
                  <a:close/>
                  <a:moveTo>
                    <a:pt x="101" y="219"/>
                  </a:moveTo>
                  <a:lnTo>
                    <a:pt x="51" y="219"/>
                  </a:lnTo>
                  <a:lnTo>
                    <a:pt x="51" y="177"/>
                  </a:lnTo>
                  <a:lnTo>
                    <a:pt x="101" y="193"/>
                  </a:lnTo>
                  <a:lnTo>
                    <a:pt x="101" y="2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308">
              <a:extLst>
                <a:ext uri="{FF2B5EF4-FFF2-40B4-BE49-F238E27FC236}">
                  <a16:creationId xmlns:a16="http://schemas.microsoft.com/office/drawing/2014/main" id="{6DF57682-8F0E-4106-9475-3B5FDA046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6038" y="3596323"/>
              <a:ext cx="38100" cy="12700"/>
            </a:xfrm>
            <a:custGeom>
              <a:avLst/>
              <a:gdLst>
                <a:gd name="T0" fmla="*/ 39 w 48"/>
                <a:gd name="T1" fmla="*/ 0 h 18"/>
                <a:gd name="T2" fmla="*/ 9 w 48"/>
                <a:gd name="T3" fmla="*/ 0 h 18"/>
                <a:gd name="T4" fmla="*/ 9 w 48"/>
                <a:gd name="T5" fmla="*/ 0 h 18"/>
                <a:gd name="T6" fmla="*/ 5 w 48"/>
                <a:gd name="T7" fmla="*/ 0 h 18"/>
                <a:gd name="T8" fmla="*/ 2 w 48"/>
                <a:gd name="T9" fmla="*/ 2 h 18"/>
                <a:gd name="T10" fmla="*/ 0 w 48"/>
                <a:gd name="T11" fmla="*/ 6 h 18"/>
                <a:gd name="T12" fmla="*/ 0 w 48"/>
                <a:gd name="T13" fmla="*/ 8 h 18"/>
                <a:gd name="T14" fmla="*/ 0 w 48"/>
                <a:gd name="T15" fmla="*/ 8 h 18"/>
                <a:gd name="T16" fmla="*/ 0 w 48"/>
                <a:gd name="T17" fmla="*/ 12 h 18"/>
                <a:gd name="T18" fmla="*/ 2 w 48"/>
                <a:gd name="T19" fmla="*/ 15 h 18"/>
                <a:gd name="T20" fmla="*/ 5 w 48"/>
                <a:gd name="T21" fmla="*/ 16 h 18"/>
                <a:gd name="T22" fmla="*/ 9 w 48"/>
                <a:gd name="T23" fmla="*/ 18 h 18"/>
                <a:gd name="T24" fmla="*/ 39 w 48"/>
                <a:gd name="T25" fmla="*/ 18 h 18"/>
                <a:gd name="T26" fmla="*/ 39 w 48"/>
                <a:gd name="T27" fmla="*/ 18 h 18"/>
                <a:gd name="T28" fmla="*/ 43 w 48"/>
                <a:gd name="T29" fmla="*/ 16 h 18"/>
                <a:gd name="T30" fmla="*/ 45 w 48"/>
                <a:gd name="T31" fmla="*/ 15 h 18"/>
                <a:gd name="T32" fmla="*/ 47 w 48"/>
                <a:gd name="T33" fmla="*/ 12 h 18"/>
                <a:gd name="T34" fmla="*/ 48 w 48"/>
                <a:gd name="T35" fmla="*/ 8 h 18"/>
                <a:gd name="T36" fmla="*/ 48 w 48"/>
                <a:gd name="T37" fmla="*/ 8 h 18"/>
                <a:gd name="T38" fmla="*/ 47 w 48"/>
                <a:gd name="T39" fmla="*/ 6 h 18"/>
                <a:gd name="T40" fmla="*/ 45 w 48"/>
                <a:gd name="T41" fmla="*/ 2 h 18"/>
                <a:gd name="T42" fmla="*/ 43 w 48"/>
                <a:gd name="T43" fmla="*/ 0 h 18"/>
                <a:gd name="T44" fmla="*/ 39 w 48"/>
                <a:gd name="T45" fmla="*/ 0 h 18"/>
                <a:gd name="T46" fmla="*/ 39 w 48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18">
                  <a:moveTo>
                    <a:pt x="39" y="0"/>
                  </a:move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5" y="16"/>
                  </a:lnTo>
                  <a:lnTo>
                    <a:pt x="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43" y="16"/>
                  </a:lnTo>
                  <a:lnTo>
                    <a:pt x="45" y="15"/>
                  </a:lnTo>
                  <a:lnTo>
                    <a:pt x="47" y="12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7" y="6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9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309">
              <a:extLst>
                <a:ext uri="{FF2B5EF4-FFF2-40B4-BE49-F238E27FC236}">
                  <a16:creationId xmlns:a16="http://schemas.microsoft.com/office/drawing/2014/main" id="{FCF2D28A-DB16-4649-9DA2-FAA1EE2F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4926" y="3534410"/>
              <a:ext cx="33338" cy="25400"/>
            </a:xfrm>
            <a:custGeom>
              <a:avLst/>
              <a:gdLst>
                <a:gd name="T0" fmla="*/ 8 w 42"/>
                <a:gd name="T1" fmla="*/ 32 h 32"/>
                <a:gd name="T2" fmla="*/ 8 w 42"/>
                <a:gd name="T3" fmla="*/ 32 h 32"/>
                <a:gd name="T4" fmla="*/ 14 w 42"/>
                <a:gd name="T5" fmla="*/ 31 h 32"/>
                <a:gd name="T6" fmla="*/ 37 w 42"/>
                <a:gd name="T7" fmla="*/ 17 h 32"/>
                <a:gd name="T8" fmla="*/ 37 w 42"/>
                <a:gd name="T9" fmla="*/ 17 h 32"/>
                <a:gd name="T10" fmla="*/ 39 w 42"/>
                <a:gd name="T11" fmla="*/ 14 h 32"/>
                <a:gd name="T12" fmla="*/ 42 w 42"/>
                <a:gd name="T13" fmla="*/ 12 h 32"/>
                <a:gd name="T14" fmla="*/ 42 w 42"/>
                <a:gd name="T15" fmla="*/ 8 h 32"/>
                <a:gd name="T16" fmla="*/ 41 w 42"/>
                <a:gd name="T17" fmla="*/ 4 h 32"/>
                <a:gd name="T18" fmla="*/ 41 w 42"/>
                <a:gd name="T19" fmla="*/ 4 h 32"/>
                <a:gd name="T20" fmla="*/ 38 w 42"/>
                <a:gd name="T21" fmla="*/ 2 h 32"/>
                <a:gd name="T22" fmla="*/ 35 w 42"/>
                <a:gd name="T23" fmla="*/ 0 h 32"/>
                <a:gd name="T24" fmla="*/ 35 w 42"/>
                <a:gd name="T25" fmla="*/ 0 h 32"/>
                <a:gd name="T26" fmla="*/ 31 w 42"/>
                <a:gd name="T27" fmla="*/ 0 h 32"/>
                <a:gd name="T28" fmla="*/ 28 w 42"/>
                <a:gd name="T29" fmla="*/ 1 h 32"/>
                <a:gd name="T30" fmla="*/ 4 w 42"/>
                <a:gd name="T31" fmla="*/ 14 h 32"/>
                <a:gd name="T32" fmla="*/ 4 w 42"/>
                <a:gd name="T33" fmla="*/ 14 h 32"/>
                <a:gd name="T34" fmla="*/ 2 w 42"/>
                <a:gd name="T35" fmla="*/ 17 h 32"/>
                <a:gd name="T36" fmla="*/ 0 w 42"/>
                <a:gd name="T37" fmla="*/ 20 h 32"/>
                <a:gd name="T38" fmla="*/ 0 w 42"/>
                <a:gd name="T39" fmla="*/ 24 h 32"/>
                <a:gd name="T40" fmla="*/ 0 w 42"/>
                <a:gd name="T41" fmla="*/ 28 h 32"/>
                <a:gd name="T42" fmla="*/ 0 w 42"/>
                <a:gd name="T43" fmla="*/ 28 h 32"/>
                <a:gd name="T44" fmla="*/ 4 w 42"/>
                <a:gd name="T45" fmla="*/ 31 h 32"/>
                <a:gd name="T46" fmla="*/ 8 w 42"/>
                <a:gd name="T47" fmla="*/ 32 h 32"/>
                <a:gd name="T48" fmla="*/ 8 w 42"/>
                <a:gd name="T4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32">
                  <a:moveTo>
                    <a:pt x="8" y="32"/>
                  </a:moveTo>
                  <a:lnTo>
                    <a:pt x="8" y="32"/>
                  </a:lnTo>
                  <a:lnTo>
                    <a:pt x="14" y="31"/>
                  </a:lnTo>
                  <a:lnTo>
                    <a:pt x="37" y="17"/>
                  </a:lnTo>
                  <a:lnTo>
                    <a:pt x="37" y="17"/>
                  </a:lnTo>
                  <a:lnTo>
                    <a:pt x="39" y="14"/>
                  </a:lnTo>
                  <a:lnTo>
                    <a:pt x="42" y="12"/>
                  </a:lnTo>
                  <a:lnTo>
                    <a:pt x="42" y="8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8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1" y="0"/>
                  </a:lnTo>
                  <a:lnTo>
                    <a:pt x="28" y="1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31"/>
                  </a:lnTo>
                  <a:lnTo>
                    <a:pt x="8" y="32"/>
                  </a:ln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310">
              <a:extLst>
                <a:ext uri="{FF2B5EF4-FFF2-40B4-BE49-F238E27FC236}">
                  <a16:creationId xmlns:a16="http://schemas.microsoft.com/office/drawing/2014/main" id="{3DD003B6-050E-486D-9BEA-135F263D6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4926" y="3645535"/>
              <a:ext cx="33338" cy="23813"/>
            </a:xfrm>
            <a:custGeom>
              <a:avLst/>
              <a:gdLst>
                <a:gd name="T0" fmla="*/ 37 w 42"/>
                <a:gd name="T1" fmla="*/ 15 h 31"/>
                <a:gd name="T2" fmla="*/ 14 w 42"/>
                <a:gd name="T3" fmla="*/ 1 h 31"/>
                <a:gd name="T4" fmla="*/ 14 w 42"/>
                <a:gd name="T5" fmla="*/ 1 h 31"/>
                <a:gd name="T6" fmla="*/ 10 w 42"/>
                <a:gd name="T7" fmla="*/ 0 h 31"/>
                <a:gd name="T8" fmla="*/ 7 w 42"/>
                <a:gd name="T9" fmla="*/ 0 h 31"/>
                <a:gd name="T10" fmla="*/ 3 w 42"/>
                <a:gd name="T11" fmla="*/ 1 h 31"/>
                <a:gd name="T12" fmla="*/ 0 w 42"/>
                <a:gd name="T13" fmla="*/ 4 h 31"/>
                <a:gd name="T14" fmla="*/ 0 w 42"/>
                <a:gd name="T15" fmla="*/ 4 h 31"/>
                <a:gd name="T16" fmla="*/ 0 w 42"/>
                <a:gd name="T17" fmla="*/ 8 h 31"/>
                <a:gd name="T18" fmla="*/ 0 w 42"/>
                <a:gd name="T19" fmla="*/ 11 h 31"/>
                <a:gd name="T20" fmla="*/ 2 w 42"/>
                <a:gd name="T21" fmla="*/ 14 h 31"/>
                <a:gd name="T22" fmla="*/ 4 w 42"/>
                <a:gd name="T23" fmla="*/ 16 h 31"/>
                <a:gd name="T24" fmla="*/ 28 w 42"/>
                <a:gd name="T25" fmla="*/ 31 h 31"/>
                <a:gd name="T26" fmla="*/ 28 w 42"/>
                <a:gd name="T27" fmla="*/ 31 h 31"/>
                <a:gd name="T28" fmla="*/ 33 w 42"/>
                <a:gd name="T29" fmla="*/ 31 h 31"/>
                <a:gd name="T30" fmla="*/ 33 w 42"/>
                <a:gd name="T31" fmla="*/ 31 h 31"/>
                <a:gd name="T32" fmla="*/ 37 w 42"/>
                <a:gd name="T33" fmla="*/ 30 h 31"/>
                <a:gd name="T34" fmla="*/ 41 w 42"/>
                <a:gd name="T35" fmla="*/ 27 h 31"/>
                <a:gd name="T36" fmla="*/ 41 w 42"/>
                <a:gd name="T37" fmla="*/ 27 h 31"/>
                <a:gd name="T38" fmla="*/ 42 w 42"/>
                <a:gd name="T39" fmla="*/ 23 h 31"/>
                <a:gd name="T40" fmla="*/ 42 w 42"/>
                <a:gd name="T41" fmla="*/ 20 h 31"/>
                <a:gd name="T42" fmla="*/ 39 w 42"/>
                <a:gd name="T43" fmla="*/ 18 h 31"/>
                <a:gd name="T44" fmla="*/ 37 w 42"/>
                <a:gd name="T45" fmla="*/ 15 h 31"/>
                <a:gd name="T46" fmla="*/ 37 w 42"/>
                <a:gd name="T47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2" h="31">
                  <a:moveTo>
                    <a:pt x="37" y="15"/>
                  </a:moveTo>
                  <a:lnTo>
                    <a:pt x="14" y="1"/>
                  </a:lnTo>
                  <a:lnTo>
                    <a:pt x="14" y="1"/>
                  </a:lnTo>
                  <a:lnTo>
                    <a:pt x="10" y="0"/>
                  </a:lnTo>
                  <a:lnTo>
                    <a:pt x="7" y="0"/>
                  </a:lnTo>
                  <a:lnTo>
                    <a:pt x="3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7" y="30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39" y="18"/>
                  </a:lnTo>
                  <a:lnTo>
                    <a:pt x="37" y="15"/>
                  </a:lnTo>
                  <a:lnTo>
                    <a:pt x="37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4DF8711-D577-4A6D-A1B0-7C6337422F33}"/>
              </a:ext>
            </a:extLst>
          </p:cNvPr>
          <p:cNvSpPr txBox="1"/>
          <p:nvPr/>
        </p:nvSpPr>
        <p:spPr>
          <a:xfrm>
            <a:off x="3433414" y="33129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היא </a:t>
            </a:r>
            <a:r>
              <a: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לא:</a:t>
            </a:r>
            <a:r>
              <a: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59520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4B70B1BF-7D03-4855-85DD-EBF34F010F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7656"/>
          <a:stretch/>
        </p:blipFill>
        <p:spPr>
          <a:xfrm>
            <a:off x="-79031" y="-104172"/>
            <a:ext cx="12517774" cy="73619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81EB1B-E42D-49CE-85C0-30F10386CAAC}"/>
              </a:ext>
            </a:extLst>
          </p:cNvPr>
          <p:cNvSpPr/>
          <p:nvPr/>
        </p:nvSpPr>
        <p:spPr>
          <a:xfrm>
            <a:off x="-79031" y="-104172"/>
            <a:ext cx="12541541" cy="7350073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Google Shape;499;p8">
            <a:extLst>
              <a:ext uri="{FF2B5EF4-FFF2-40B4-BE49-F238E27FC236}">
                <a16:creationId xmlns:a16="http://schemas.microsoft.com/office/drawing/2014/main" id="{979EF9FF-F2A4-4501-AD62-21F6A878910D}"/>
              </a:ext>
            </a:extLst>
          </p:cNvPr>
          <p:cNvSpPr txBox="1"/>
          <p:nvPr/>
        </p:nvSpPr>
        <p:spPr>
          <a:xfrm>
            <a:off x="7778241" y="1419464"/>
            <a:ext cx="414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תשתיות הדאטה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יאפשרו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0BDE6-DF25-4DE5-AA37-743676DDC0DE}"/>
              </a:ext>
            </a:extLst>
          </p:cNvPr>
          <p:cNvSpPr txBox="1"/>
          <p:nvPr/>
        </p:nvSpPr>
        <p:spPr>
          <a:xfrm>
            <a:off x="8089462" y="541687"/>
            <a:ext cx="3940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מה יוצא לנו מזה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?</a:t>
            </a:r>
            <a:endParaRPr kumimoji="0" lang="en-IL" sz="4000" b="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D8510-9C10-4B7F-AC42-C55FF4B1B452}"/>
              </a:ext>
            </a:extLst>
          </p:cNvPr>
          <p:cNvSpPr/>
          <p:nvPr/>
        </p:nvSpPr>
        <p:spPr>
          <a:xfrm>
            <a:off x="8401520" y="1813109"/>
            <a:ext cx="3505002" cy="4927600"/>
          </a:xfrm>
          <a:prstGeom prst="rect">
            <a:avLst/>
          </a:prstGeom>
          <a:solidFill>
            <a:schemeClr val="bg1">
              <a:alpha val="58000"/>
            </a:schemeClr>
          </a:solidFill>
          <a:ln w="12700">
            <a:solidFill>
              <a:schemeClr val="bg1"/>
            </a:solidFill>
          </a:ln>
          <a:effectLst>
            <a:outerShdw blurRad="495300" dist="50800" dir="5400000" algn="ctr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Google Shape;492;p8">
            <a:extLst>
              <a:ext uri="{FF2B5EF4-FFF2-40B4-BE49-F238E27FC236}">
                <a16:creationId xmlns:a16="http://schemas.microsoft.com/office/drawing/2014/main" id="{B4DA0CE6-D12B-4D84-ABD5-75FA703C08CE}"/>
              </a:ext>
            </a:extLst>
          </p:cNvPr>
          <p:cNvSpPr txBox="1"/>
          <p:nvPr/>
        </p:nvSpPr>
        <p:spPr>
          <a:xfrm>
            <a:off x="8563429" y="3608883"/>
            <a:ext cx="31690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מיצוי הפוטנציאל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של האזרח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הותיק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7" name="Google Shape;492;p8">
            <a:extLst>
              <a:ext uri="{FF2B5EF4-FFF2-40B4-BE49-F238E27FC236}">
                <a16:creationId xmlns:a16="http://schemas.microsoft.com/office/drawing/2014/main" id="{83160359-0C1F-4C8E-A5AF-00363150BA8E}"/>
              </a:ext>
            </a:extLst>
          </p:cNvPr>
          <p:cNvSpPr txBox="1"/>
          <p:nvPr/>
        </p:nvSpPr>
        <p:spPr>
          <a:xfrm>
            <a:off x="8767767" y="4925002"/>
            <a:ext cx="296471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מידע וכלים לניהול עצמי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לאזרח ולמשפחתו</a:t>
            </a:r>
          </a:p>
        </p:txBody>
      </p:sp>
      <p:sp>
        <p:nvSpPr>
          <p:cNvPr id="9" name="Google Shape;499;p8">
            <a:extLst>
              <a:ext uri="{FF2B5EF4-FFF2-40B4-BE49-F238E27FC236}">
                <a16:creationId xmlns:a16="http://schemas.microsoft.com/office/drawing/2014/main" id="{B327AF52-CD06-4569-885D-531C70B1DE60}"/>
              </a:ext>
            </a:extLst>
          </p:cNvPr>
          <p:cNvSpPr txBox="1"/>
          <p:nvPr/>
        </p:nvSpPr>
        <p:spPr>
          <a:xfrm>
            <a:off x="9204241" y="4128443"/>
            <a:ext cx="252823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שירותים מותאמים אישית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לאזרח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הותיק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ולאנשי המקצוע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14" name="Google Shape;496;p8">
            <a:extLst>
              <a:ext uri="{FF2B5EF4-FFF2-40B4-BE49-F238E27FC236}">
                <a16:creationId xmlns:a16="http://schemas.microsoft.com/office/drawing/2014/main" id="{DFBA87AC-8F9D-45E9-904D-E5778B438053}"/>
              </a:ext>
            </a:extLst>
          </p:cNvPr>
          <p:cNvSpPr txBox="1"/>
          <p:nvPr/>
        </p:nvSpPr>
        <p:spPr>
          <a:xfrm>
            <a:off x="8767767" y="5465069"/>
            <a:ext cx="296471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9EE6A-A4B1-4326-8D7D-74FC43A2D3A6}"/>
              </a:ext>
            </a:extLst>
          </p:cNvPr>
          <p:cNvSpPr txBox="1"/>
          <p:nvPr/>
        </p:nvSpPr>
        <p:spPr>
          <a:xfrm>
            <a:off x="8983669" y="2777221"/>
            <a:ext cx="2340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הזדקנות מיטבית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B7100C-F0AE-488A-819C-38C66A9FD088}"/>
              </a:ext>
            </a:extLst>
          </p:cNvPr>
          <p:cNvGrpSpPr>
            <a:grpSpLocks noChangeAspect="1"/>
          </p:cNvGrpSpPr>
          <p:nvPr/>
        </p:nvGrpSpPr>
        <p:grpSpPr>
          <a:xfrm>
            <a:off x="9893671" y="2156454"/>
            <a:ext cx="520700" cy="523875"/>
            <a:chOff x="8469313" y="1664335"/>
            <a:chExt cx="520700" cy="523875"/>
          </a:xfrm>
          <a:solidFill>
            <a:schemeClr val="accent1"/>
          </a:solidFill>
        </p:grpSpPr>
        <p:sp>
          <p:nvSpPr>
            <p:cNvPr id="21" name="Freeform 25">
              <a:extLst>
                <a:ext uri="{FF2B5EF4-FFF2-40B4-BE49-F238E27FC236}">
                  <a16:creationId xmlns:a16="http://schemas.microsoft.com/office/drawing/2014/main" id="{42FD6B9F-8EB9-4D35-8CDF-1E0C299968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9313" y="1664335"/>
              <a:ext cx="520700" cy="523875"/>
            </a:xfrm>
            <a:custGeom>
              <a:avLst/>
              <a:gdLst>
                <a:gd name="T0" fmla="*/ 312 w 657"/>
                <a:gd name="T1" fmla="*/ 659 h 659"/>
                <a:gd name="T2" fmla="*/ 262 w 657"/>
                <a:gd name="T3" fmla="*/ 652 h 659"/>
                <a:gd name="T4" fmla="*/ 200 w 657"/>
                <a:gd name="T5" fmla="*/ 634 h 659"/>
                <a:gd name="T6" fmla="*/ 120 w 657"/>
                <a:gd name="T7" fmla="*/ 584 h 659"/>
                <a:gd name="T8" fmla="*/ 56 w 657"/>
                <a:gd name="T9" fmla="*/ 514 h 659"/>
                <a:gd name="T10" fmla="*/ 15 w 657"/>
                <a:gd name="T11" fmla="*/ 428 h 659"/>
                <a:gd name="T12" fmla="*/ 4 w 657"/>
                <a:gd name="T13" fmla="*/ 380 h 659"/>
                <a:gd name="T14" fmla="*/ 0 w 657"/>
                <a:gd name="T15" fmla="*/ 330 h 659"/>
                <a:gd name="T16" fmla="*/ 1 w 657"/>
                <a:gd name="T17" fmla="*/ 296 h 659"/>
                <a:gd name="T18" fmla="*/ 11 w 657"/>
                <a:gd name="T19" fmla="*/ 248 h 659"/>
                <a:gd name="T20" fmla="*/ 39 w 657"/>
                <a:gd name="T21" fmla="*/ 174 h 659"/>
                <a:gd name="T22" fmla="*/ 97 w 657"/>
                <a:gd name="T23" fmla="*/ 97 h 659"/>
                <a:gd name="T24" fmla="*/ 172 w 657"/>
                <a:gd name="T25" fmla="*/ 41 h 659"/>
                <a:gd name="T26" fmla="*/ 246 w 657"/>
                <a:gd name="T27" fmla="*/ 11 h 659"/>
                <a:gd name="T28" fmla="*/ 296 w 657"/>
                <a:gd name="T29" fmla="*/ 3 h 659"/>
                <a:gd name="T30" fmla="*/ 329 w 657"/>
                <a:gd name="T31" fmla="*/ 0 h 659"/>
                <a:gd name="T32" fmla="*/ 379 w 657"/>
                <a:gd name="T33" fmla="*/ 5 h 659"/>
                <a:gd name="T34" fmla="*/ 426 w 657"/>
                <a:gd name="T35" fmla="*/ 15 h 659"/>
                <a:gd name="T36" fmla="*/ 512 w 657"/>
                <a:gd name="T37" fmla="*/ 57 h 659"/>
                <a:gd name="T38" fmla="*/ 582 w 657"/>
                <a:gd name="T39" fmla="*/ 121 h 659"/>
                <a:gd name="T40" fmla="*/ 632 w 657"/>
                <a:gd name="T41" fmla="*/ 202 h 659"/>
                <a:gd name="T42" fmla="*/ 651 w 657"/>
                <a:gd name="T43" fmla="*/ 264 h 659"/>
                <a:gd name="T44" fmla="*/ 657 w 657"/>
                <a:gd name="T45" fmla="*/ 314 h 659"/>
                <a:gd name="T46" fmla="*/ 657 w 657"/>
                <a:gd name="T47" fmla="*/ 347 h 659"/>
                <a:gd name="T48" fmla="*/ 651 w 657"/>
                <a:gd name="T49" fmla="*/ 396 h 659"/>
                <a:gd name="T50" fmla="*/ 632 w 657"/>
                <a:gd name="T51" fmla="*/ 457 h 659"/>
                <a:gd name="T52" fmla="*/ 582 w 657"/>
                <a:gd name="T53" fmla="*/ 539 h 659"/>
                <a:gd name="T54" fmla="*/ 512 w 657"/>
                <a:gd name="T55" fmla="*/ 603 h 659"/>
                <a:gd name="T56" fmla="*/ 426 w 657"/>
                <a:gd name="T57" fmla="*/ 644 h 659"/>
                <a:gd name="T58" fmla="*/ 379 w 657"/>
                <a:gd name="T59" fmla="*/ 655 h 659"/>
                <a:gd name="T60" fmla="*/ 329 w 657"/>
                <a:gd name="T61" fmla="*/ 659 h 659"/>
                <a:gd name="T62" fmla="*/ 329 w 657"/>
                <a:gd name="T63" fmla="*/ 38 h 659"/>
                <a:gd name="T64" fmla="*/ 242 w 657"/>
                <a:gd name="T65" fmla="*/ 52 h 659"/>
                <a:gd name="T66" fmla="*/ 165 w 657"/>
                <a:gd name="T67" fmla="*/ 89 h 659"/>
                <a:gd name="T68" fmla="*/ 104 w 657"/>
                <a:gd name="T69" fmla="*/ 144 h 659"/>
                <a:gd name="T70" fmla="*/ 61 w 657"/>
                <a:gd name="T71" fmla="*/ 217 h 659"/>
                <a:gd name="T72" fmla="*/ 39 w 657"/>
                <a:gd name="T73" fmla="*/ 300 h 659"/>
                <a:gd name="T74" fmla="*/ 39 w 657"/>
                <a:gd name="T75" fmla="*/ 359 h 659"/>
                <a:gd name="T76" fmla="*/ 61 w 657"/>
                <a:gd name="T77" fmla="*/ 444 h 659"/>
                <a:gd name="T78" fmla="*/ 104 w 657"/>
                <a:gd name="T79" fmla="*/ 515 h 659"/>
                <a:gd name="T80" fmla="*/ 165 w 657"/>
                <a:gd name="T81" fmla="*/ 572 h 659"/>
                <a:gd name="T82" fmla="*/ 242 w 657"/>
                <a:gd name="T83" fmla="*/ 608 h 659"/>
                <a:gd name="T84" fmla="*/ 329 w 657"/>
                <a:gd name="T85" fmla="*/ 621 h 659"/>
                <a:gd name="T86" fmla="*/ 387 w 657"/>
                <a:gd name="T87" fmla="*/ 616 h 659"/>
                <a:gd name="T88" fmla="*/ 468 w 657"/>
                <a:gd name="T89" fmla="*/ 586 h 659"/>
                <a:gd name="T90" fmla="*/ 535 w 657"/>
                <a:gd name="T91" fmla="*/ 535 h 659"/>
                <a:gd name="T92" fmla="*/ 585 w 657"/>
                <a:gd name="T93" fmla="*/ 468 h 659"/>
                <a:gd name="T94" fmla="*/ 614 w 657"/>
                <a:gd name="T95" fmla="*/ 389 h 659"/>
                <a:gd name="T96" fmla="*/ 620 w 657"/>
                <a:gd name="T97" fmla="*/ 330 h 659"/>
                <a:gd name="T98" fmla="*/ 608 w 657"/>
                <a:gd name="T99" fmla="*/ 244 h 659"/>
                <a:gd name="T100" fmla="*/ 570 w 657"/>
                <a:gd name="T101" fmla="*/ 167 h 659"/>
                <a:gd name="T102" fmla="*/ 513 w 657"/>
                <a:gd name="T103" fmla="*/ 105 h 659"/>
                <a:gd name="T104" fmla="*/ 442 w 657"/>
                <a:gd name="T105" fmla="*/ 62 h 659"/>
                <a:gd name="T106" fmla="*/ 359 w 657"/>
                <a:gd name="T107" fmla="*/ 41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9">
                  <a:moveTo>
                    <a:pt x="329" y="659"/>
                  </a:moveTo>
                  <a:lnTo>
                    <a:pt x="329" y="659"/>
                  </a:lnTo>
                  <a:lnTo>
                    <a:pt x="312" y="659"/>
                  </a:lnTo>
                  <a:lnTo>
                    <a:pt x="296" y="658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6" y="648"/>
                  </a:lnTo>
                  <a:lnTo>
                    <a:pt x="231" y="644"/>
                  </a:lnTo>
                  <a:lnTo>
                    <a:pt x="200" y="634"/>
                  </a:lnTo>
                  <a:lnTo>
                    <a:pt x="172" y="619"/>
                  </a:lnTo>
                  <a:lnTo>
                    <a:pt x="145" y="603"/>
                  </a:lnTo>
                  <a:lnTo>
                    <a:pt x="120" y="584"/>
                  </a:lnTo>
                  <a:lnTo>
                    <a:pt x="97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6" y="457"/>
                  </a:lnTo>
                  <a:lnTo>
                    <a:pt x="15" y="428"/>
                  </a:lnTo>
                  <a:lnTo>
                    <a:pt x="11" y="412"/>
                  </a:lnTo>
                  <a:lnTo>
                    <a:pt x="7" y="396"/>
                  </a:lnTo>
                  <a:lnTo>
                    <a:pt x="4" y="380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30"/>
                  </a:lnTo>
                  <a:lnTo>
                    <a:pt x="0" y="330"/>
                  </a:lnTo>
                  <a:lnTo>
                    <a:pt x="0" y="314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7" y="264"/>
                  </a:lnTo>
                  <a:lnTo>
                    <a:pt x="11" y="248"/>
                  </a:lnTo>
                  <a:lnTo>
                    <a:pt x="15" y="233"/>
                  </a:lnTo>
                  <a:lnTo>
                    <a:pt x="26" y="202"/>
                  </a:lnTo>
                  <a:lnTo>
                    <a:pt x="39" y="174"/>
                  </a:lnTo>
                  <a:lnTo>
                    <a:pt x="56" y="146"/>
                  </a:lnTo>
                  <a:lnTo>
                    <a:pt x="75" y="121"/>
                  </a:lnTo>
                  <a:lnTo>
                    <a:pt x="97" y="97"/>
                  </a:lnTo>
                  <a:lnTo>
                    <a:pt x="120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6" y="11"/>
                  </a:lnTo>
                  <a:lnTo>
                    <a:pt x="262" y="7"/>
                  </a:lnTo>
                  <a:lnTo>
                    <a:pt x="278" y="5"/>
                  </a:lnTo>
                  <a:lnTo>
                    <a:pt x="296" y="3"/>
                  </a:lnTo>
                  <a:lnTo>
                    <a:pt x="312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3" y="3"/>
                  </a:lnTo>
                  <a:lnTo>
                    <a:pt x="379" y="5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6" y="15"/>
                  </a:lnTo>
                  <a:lnTo>
                    <a:pt x="457" y="27"/>
                  </a:lnTo>
                  <a:lnTo>
                    <a:pt x="485" y="41"/>
                  </a:lnTo>
                  <a:lnTo>
                    <a:pt x="512" y="57"/>
                  </a:lnTo>
                  <a:lnTo>
                    <a:pt x="538" y="76"/>
                  </a:lnTo>
                  <a:lnTo>
                    <a:pt x="562" y="97"/>
                  </a:lnTo>
                  <a:lnTo>
                    <a:pt x="582" y="121"/>
                  </a:lnTo>
                  <a:lnTo>
                    <a:pt x="601" y="146"/>
                  </a:lnTo>
                  <a:lnTo>
                    <a:pt x="618" y="174"/>
                  </a:lnTo>
                  <a:lnTo>
                    <a:pt x="632" y="202"/>
                  </a:lnTo>
                  <a:lnTo>
                    <a:pt x="642" y="233"/>
                  </a:lnTo>
                  <a:lnTo>
                    <a:pt x="648" y="248"/>
                  </a:lnTo>
                  <a:lnTo>
                    <a:pt x="651" y="264"/>
                  </a:lnTo>
                  <a:lnTo>
                    <a:pt x="653" y="280"/>
                  </a:lnTo>
                  <a:lnTo>
                    <a:pt x="656" y="296"/>
                  </a:lnTo>
                  <a:lnTo>
                    <a:pt x="657" y="314"/>
                  </a:lnTo>
                  <a:lnTo>
                    <a:pt x="657" y="330"/>
                  </a:lnTo>
                  <a:lnTo>
                    <a:pt x="657" y="330"/>
                  </a:lnTo>
                  <a:lnTo>
                    <a:pt x="657" y="347"/>
                  </a:lnTo>
                  <a:lnTo>
                    <a:pt x="656" y="363"/>
                  </a:lnTo>
                  <a:lnTo>
                    <a:pt x="653" y="380"/>
                  </a:lnTo>
                  <a:lnTo>
                    <a:pt x="651" y="396"/>
                  </a:lnTo>
                  <a:lnTo>
                    <a:pt x="648" y="412"/>
                  </a:lnTo>
                  <a:lnTo>
                    <a:pt x="642" y="428"/>
                  </a:lnTo>
                  <a:lnTo>
                    <a:pt x="632" y="457"/>
                  </a:lnTo>
                  <a:lnTo>
                    <a:pt x="618" y="487"/>
                  </a:lnTo>
                  <a:lnTo>
                    <a:pt x="601" y="514"/>
                  </a:lnTo>
                  <a:lnTo>
                    <a:pt x="582" y="539"/>
                  </a:lnTo>
                  <a:lnTo>
                    <a:pt x="562" y="562"/>
                  </a:lnTo>
                  <a:lnTo>
                    <a:pt x="538" y="584"/>
                  </a:lnTo>
                  <a:lnTo>
                    <a:pt x="512" y="603"/>
                  </a:lnTo>
                  <a:lnTo>
                    <a:pt x="485" y="619"/>
                  </a:lnTo>
                  <a:lnTo>
                    <a:pt x="457" y="634"/>
                  </a:lnTo>
                  <a:lnTo>
                    <a:pt x="426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9" y="655"/>
                  </a:lnTo>
                  <a:lnTo>
                    <a:pt x="363" y="658"/>
                  </a:lnTo>
                  <a:lnTo>
                    <a:pt x="345" y="659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41"/>
                  </a:lnTo>
                  <a:lnTo>
                    <a:pt x="270" y="45"/>
                  </a:lnTo>
                  <a:lnTo>
                    <a:pt x="242" y="52"/>
                  </a:lnTo>
                  <a:lnTo>
                    <a:pt x="215" y="62"/>
                  </a:lnTo>
                  <a:lnTo>
                    <a:pt x="190" y="74"/>
                  </a:lnTo>
                  <a:lnTo>
                    <a:pt x="165" y="89"/>
                  </a:lnTo>
                  <a:lnTo>
                    <a:pt x="144" y="105"/>
                  </a:lnTo>
                  <a:lnTo>
                    <a:pt x="122" y="124"/>
                  </a:lnTo>
                  <a:lnTo>
                    <a:pt x="104" y="144"/>
                  </a:lnTo>
                  <a:lnTo>
                    <a:pt x="87" y="167"/>
                  </a:lnTo>
                  <a:lnTo>
                    <a:pt x="73" y="191"/>
                  </a:lnTo>
                  <a:lnTo>
                    <a:pt x="61" y="217"/>
                  </a:lnTo>
                  <a:lnTo>
                    <a:pt x="51" y="244"/>
                  </a:lnTo>
                  <a:lnTo>
                    <a:pt x="43" y="272"/>
                  </a:lnTo>
                  <a:lnTo>
                    <a:pt x="39" y="300"/>
                  </a:lnTo>
                  <a:lnTo>
                    <a:pt x="38" y="330"/>
                  </a:lnTo>
                  <a:lnTo>
                    <a:pt x="38" y="330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7"/>
                  </a:lnTo>
                  <a:lnTo>
                    <a:pt x="61" y="444"/>
                  </a:lnTo>
                  <a:lnTo>
                    <a:pt x="73" y="468"/>
                  </a:lnTo>
                  <a:lnTo>
                    <a:pt x="87" y="492"/>
                  </a:lnTo>
                  <a:lnTo>
                    <a:pt x="104" y="515"/>
                  </a:lnTo>
                  <a:lnTo>
                    <a:pt x="122" y="535"/>
                  </a:lnTo>
                  <a:lnTo>
                    <a:pt x="144" y="554"/>
                  </a:lnTo>
                  <a:lnTo>
                    <a:pt x="165" y="572"/>
                  </a:lnTo>
                  <a:lnTo>
                    <a:pt x="190" y="586"/>
                  </a:lnTo>
                  <a:lnTo>
                    <a:pt x="215" y="599"/>
                  </a:lnTo>
                  <a:lnTo>
                    <a:pt x="242" y="608"/>
                  </a:lnTo>
                  <a:lnTo>
                    <a:pt x="270" y="616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9" y="620"/>
                  </a:lnTo>
                  <a:lnTo>
                    <a:pt x="387" y="616"/>
                  </a:lnTo>
                  <a:lnTo>
                    <a:pt x="415" y="608"/>
                  </a:lnTo>
                  <a:lnTo>
                    <a:pt x="442" y="599"/>
                  </a:lnTo>
                  <a:lnTo>
                    <a:pt x="468" y="586"/>
                  </a:lnTo>
                  <a:lnTo>
                    <a:pt x="492" y="572"/>
                  </a:lnTo>
                  <a:lnTo>
                    <a:pt x="513" y="554"/>
                  </a:lnTo>
                  <a:lnTo>
                    <a:pt x="535" y="535"/>
                  </a:lnTo>
                  <a:lnTo>
                    <a:pt x="554" y="515"/>
                  </a:lnTo>
                  <a:lnTo>
                    <a:pt x="570" y="492"/>
                  </a:lnTo>
                  <a:lnTo>
                    <a:pt x="585" y="468"/>
                  </a:lnTo>
                  <a:lnTo>
                    <a:pt x="597" y="444"/>
                  </a:lnTo>
                  <a:lnTo>
                    <a:pt x="608" y="417"/>
                  </a:lnTo>
                  <a:lnTo>
                    <a:pt x="614" y="389"/>
                  </a:lnTo>
                  <a:lnTo>
                    <a:pt x="618" y="359"/>
                  </a:lnTo>
                  <a:lnTo>
                    <a:pt x="620" y="330"/>
                  </a:lnTo>
                  <a:lnTo>
                    <a:pt x="620" y="330"/>
                  </a:lnTo>
                  <a:lnTo>
                    <a:pt x="618" y="300"/>
                  </a:lnTo>
                  <a:lnTo>
                    <a:pt x="614" y="272"/>
                  </a:lnTo>
                  <a:lnTo>
                    <a:pt x="608" y="244"/>
                  </a:lnTo>
                  <a:lnTo>
                    <a:pt x="597" y="217"/>
                  </a:lnTo>
                  <a:lnTo>
                    <a:pt x="585" y="191"/>
                  </a:lnTo>
                  <a:lnTo>
                    <a:pt x="570" y="167"/>
                  </a:lnTo>
                  <a:lnTo>
                    <a:pt x="554" y="144"/>
                  </a:lnTo>
                  <a:lnTo>
                    <a:pt x="535" y="124"/>
                  </a:lnTo>
                  <a:lnTo>
                    <a:pt x="513" y="105"/>
                  </a:lnTo>
                  <a:lnTo>
                    <a:pt x="492" y="89"/>
                  </a:lnTo>
                  <a:lnTo>
                    <a:pt x="468" y="74"/>
                  </a:lnTo>
                  <a:lnTo>
                    <a:pt x="442" y="62"/>
                  </a:lnTo>
                  <a:lnTo>
                    <a:pt x="415" y="52"/>
                  </a:lnTo>
                  <a:lnTo>
                    <a:pt x="387" y="45"/>
                  </a:lnTo>
                  <a:lnTo>
                    <a:pt x="359" y="41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  <p:sp>
          <p:nvSpPr>
            <p:cNvPr id="22" name="Freeform 129">
              <a:extLst>
                <a:ext uri="{FF2B5EF4-FFF2-40B4-BE49-F238E27FC236}">
                  <a16:creationId xmlns:a16="http://schemas.microsoft.com/office/drawing/2014/main" id="{64EDC929-4D89-42F2-B03E-4CF058EF3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7276" y="1884998"/>
              <a:ext cx="115888" cy="144463"/>
            </a:xfrm>
            <a:custGeom>
              <a:avLst/>
              <a:gdLst>
                <a:gd name="T0" fmla="*/ 34 w 147"/>
                <a:gd name="T1" fmla="*/ 87 h 181"/>
                <a:gd name="T2" fmla="*/ 34 w 147"/>
                <a:gd name="T3" fmla="*/ 176 h 181"/>
                <a:gd name="T4" fmla="*/ 34 w 147"/>
                <a:gd name="T5" fmla="*/ 176 h 181"/>
                <a:gd name="T6" fmla="*/ 35 w 147"/>
                <a:gd name="T7" fmla="*/ 177 h 181"/>
                <a:gd name="T8" fmla="*/ 35 w 147"/>
                <a:gd name="T9" fmla="*/ 180 h 181"/>
                <a:gd name="T10" fmla="*/ 38 w 147"/>
                <a:gd name="T11" fmla="*/ 181 h 181"/>
                <a:gd name="T12" fmla="*/ 39 w 147"/>
                <a:gd name="T13" fmla="*/ 181 h 181"/>
                <a:gd name="T14" fmla="*/ 108 w 147"/>
                <a:gd name="T15" fmla="*/ 181 h 181"/>
                <a:gd name="T16" fmla="*/ 108 w 147"/>
                <a:gd name="T17" fmla="*/ 181 h 181"/>
                <a:gd name="T18" fmla="*/ 110 w 147"/>
                <a:gd name="T19" fmla="*/ 181 h 181"/>
                <a:gd name="T20" fmla="*/ 112 w 147"/>
                <a:gd name="T21" fmla="*/ 180 h 181"/>
                <a:gd name="T22" fmla="*/ 113 w 147"/>
                <a:gd name="T23" fmla="*/ 177 h 181"/>
                <a:gd name="T24" fmla="*/ 113 w 147"/>
                <a:gd name="T25" fmla="*/ 176 h 181"/>
                <a:gd name="T26" fmla="*/ 113 w 147"/>
                <a:gd name="T27" fmla="*/ 87 h 181"/>
                <a:gd name="T28" fmla="*/ 145 w 147"/>
                <a:gd name="T29" fmla="*/ 55 h 181"/>
                <a:gd name="T30" fmla="*/ 145 w 147"/>
                <a:gd name="T31" fmla="*/ 55 h 181"/>
                <a:gd name="T32" fmla="*/ 147 w 147"/>
                <a:gd name="T33" fmla="*/ 53 h 181"/>
                <a:gd name="T34" fmla="*/ 147 w 147"/>
                <a:gd name="T35" fmla="*/ 51 h 181"/>
                <a:gd name="T36" fmla="*/ 147 w 147"/>
                <a:gd name="T37" fmla="*/ 6 h 181"/>
                <a:gd name="T38" fmla="*/ 147 w 147"/>
                <a:gd name="T39" fmla="*/ 6 h 181"/>
                <a:gd name="T40" fmla="*/ 147 w 147"/>
                <a:gd name="T41" fmla="*/ 4 h 181"/>
                <a:gd name="T42" fmla="*/ 145 w 147"/>
                <a:gd name="T43" fmla="*/ 2 h 181"/>
                <a:gd name="T44" fmla="*/ 144 w 147"/>
                <a:gd name="T45" fmla="*/ 1 h 181"/>
                <a:gd name="T46" fmla="*/ 141 w 147"/>
                <a:gd name="T47" fmla="*/ 0 h 181"/>
                <a:gd name="T48" fmla="*/ 5 w 147"/>
                <a:gd name="T49" fmla="*/ 0 h 181"/>
                <a:gd name="T50" fmla="*/ 5 w 147"/>
                <a:gd name="T51" fmla="*/ 0 h 181"/>
                <a:gd name="T52" fmla="*/ 3 w 147"/>
                <a:gd name="T53" fmla="*/ 1 h 181"/>
                <a:gd name="T54" fmla="*/ 1 w 147"/>
                <a:gd name="T55" fmla="*/ 2 h 181"/>
                <a:gd name="T56" fmla="*/ 0 w 147"/>
                <a:gd name="T57" fmla="*/ 4 h 181"/>
                <a:gd name="T58" fmla="*/ 0 w 147"/>
                <a:gd name="T59" fmla="*/ 6 h 181"/>
                <a:gd name="T60" fmla="*/ 0 w 147"/>
                <a:gd name="T61" fmla="*/ 51 h 181"/>
                <a:gd name="T62" fmla="*/ 0 w 147"/>
                <a:gd name="T63" fmla="*/ 51 h 181"/>
                <a:gd name="T64" fmla="*/ 0 w 147"/>
                <a:gd name="T65" fmla="*/ 53 h 181"/>
                <a:gd name="T66" fmla="*/ 1 w 147"/>
                <a:gd name="T67" fmla="*/ 55 h 181"/>
                <a:gd name="T68" fmla="*/ 34 w 147"/>
                <a:gd name="T69" fmla="*/ 8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" h="181">
                  <a:moveTo>
                    <a:pt x="34" y="87"/>
                  </a:moveTo>
                  <a:lnTo>
                    <a:pt x="34" y="176"/>
                  </a:lnTo>
                  <a:lnTo>
                    <a:pt x="34" y="176"/>
                  </a:lnTo>
                  <a:lnTo>
                    <a:pt x="35" y="177"/>
                  </a:lnTo>
                  <a:lnTo>
                    <a:pt x="35" y="180"/>
                  </a:lnTo>
                  <a:lnTo>
                    <a:pt x="38" y="181"/>
                  </a:lnTo>
                  <a:lnTo>
                    <a:pt x="39" y="181"/>
                  </a:lnTo>
                  <a:lnTo>
                    <a:pt x="108" y="181"/>
                  </a:lnTo>
                  <a:lnTo>
                    <a:pt x="108" y="181"/>
                  </a:lnTo>
                  <a:lnTo>
                    <a:pt x="110" y="181"/>
                  </a:lnTo>
                  <a:lnTo>
                    <a:pt x="112" y="180"/>
                  </a:lnTo>
                  <a:lnTo>
                    <a:pt x="113" y="177"/>
                  </a:lnTo>
                  <a:lnTo>
                    <a:pt x="113" y="176"/>
                  </a:lnTo>
                  <a:lnTo>
                    <a:pt x="113" y="87"/>
                  </a:lnTo>
                  <a:lnTo>
                    <a:pt x="145" y="55"/>
                  </a:lnTo>
                  <a:lnTo>
                    <a:pt x="145" y="55"/>
                  </a:lnTo>
                  <a:lnTo>
                    <a:pt x="147" y="53"/>
                  </a:lnTo>
                  <a:lnTo>
                    <a:pt x="147" y="51"/>
                  </a:lnTo>
                  <a:lnTo>
                    <a:pt x="147" y="6"/>
                  </a:lnTo>
                  <a:lnTo>
                    <a:pt x="147" y="6"/>
                  </a:lnTo>
                  <a:lnTo>
                    <a:pt x="147" y="4"/>
                  </a:lnTo>
                  <a:lnTo>
                    <a:pt x="145" y="2"/>
                  </a:lnTo>
                  <a:lnTo>
                    <a:pt x="144" y="1"/>
                  </a:lnTo>
                  <a:lnTo>
                    <a:pt x="141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34" y="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  <p:sp>
          <p:nvSpPr>
            <p:cNvPr id="23" name="Freeform 130">
              <a:extLst>
                <a:ext uri="{FF2B5EF4-FFF2-40B4-BE49-F238E27FC236}">
                  <a16:creationId xmlns:a16="http://schemas.microsoft.com/office/drawing/2014/main" id="{E7D32695-BAEA-46D0-AED1-A94B78C16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4738" y="1788160"/>
              <a:ext cx="80963" cy="79375"/>
            </a:xfrm>
            <a:custGeom>
              <a:avLst/>
              <a:gdLst>
                <a:gd name="T0" fmla="*/ 51 w 102"/>
                <a:gd name="T1" fmla="*/ 101 h 101"/>
                <a:gd name="T2" fmla="*/ 51 w 102"/>
                <a:gd name="T3" fmla="*/ 101 h 101"/>
                <a:gd name="T4" fmla="*/ 60 w 102"/>
                <a:gd name="T5" fmla="*/ 101 h 101"/>
                <a:gd name="T6" fmla="*/ 70 w 102"/>
                <a:gd name="T7" fmla="*/ 98 h 101"/>
                <a:gd name="T8" fmla="*/ 79 w 102"/>
                <a:gd name="T9" fmla="*/ 93 h 101"/>
                <a:gd name="T10" fmla="*/ 86 w 102"/>
                <a:gd name="T11" fmla="*/ 86 h 101"/>
                <a:gd name="T12" fmla="*/ 93 w 102"/>
                <a:gd name="T13" fmla="*/ 79 h 101"/>
                <a:gd name="T14" fmla="*/ 98 w 102"/>
                <a:gd name="T15" fmla="*/ 70 h 101"/>
                <a:gd name="T16" fmla="*/ 101 w 102"/>
                <a:gd name="T17" fmla="*/ 61 h 101"/>
                <a:gd name="T18" fmla="*/ 102 w 102"/>
                <a:gd name="T19" fmla="*/ 51 h 101"/>
                <a:gd name="T20" fmla="*/ 102 w 102"/>
                <a:gd name="T21" fmla="*/ 51 h 101"/>
                <a:gd name="T22" fmla="*/ 101 w 102"/>
                <a:gd name="T23" fmla="*/ 40 h 101"/>
                <a:gd name="T24" fmla="*/ 98 w 102"/>
                <a:gd name="T25" fmla="*/ 31 h 101"/>
                <a:gd name="T26" fmla="*/ 93 w 102"/>
                <a:gd name="T27" fmla="*/ 22 h 101"/>
                <a:gd name="T28" fmla="*/ 86 w 102"/>
                <a:gd name="T29" fmla="*/ 15 h 101"/>
                <a:gd name="T30" fmla="*/ 79 w 102"/>
                <a:gd name="T31" fmla="*/ 8 h 101"/>
                <a:gd name="T32" fmla="*/ 70 w 102"/>
                <a:gd name="T33" fmla="*/ 4 h 101"/>
                <a:gd name="T34" fmla="*/ 60 w 102"/>
                <a:gd name="T35" fmla="*/ 0 h 101"/>
                <a:gd name="T36" fmla="*/ 51 w 102"/>
                <a:gd name="T37" fmla="*/ 0 h 101"/>
                <a:gd name="T38" fmla="*/ 51 w 102"/>
                <a:gd name="T39" fmla="*/ 0 h 101"/>
                <a:gd name="T40" fmla="*/ 40 w 102"/>
                <a:gd name="T41" fmla="*/ 0 h 101"/>
                <a:gd name="T42" fmla="*/ 31 w 102"/>
                <a:gd name="T43" fmla="*/ 4 h 101"/>
                <a:gd name="T44" fmla="*/ 21 w 102"/>
                <a:gd name="T45" fmla="*/ 8 h 101"/>
                <a:gd name="T46" fmla="*/ 15 w 102"/>
                <a:gd name="T47" fmla="*/ 15 h 101"/>
                <a:gd name="T48" fmla="*/ 8 w 102"/>
                <a:gd name="T49" fmla="*/ 22 h 101"/>
                <a:gd name="T50" fmla="*/ 4 w 102"/>
                <a:gd name="T51" fmla="*/ 31 h 101"/>
                <a:gd name="T52" fmla="*/ 1 w 102"/>
                <a:gd name="T53" fmla="*/ 40 h 101"/>
                <a:gd name="T54" fmla="*/ 0 w 102"/>
                <a:gd name="T55" fmla="*/ 51 h 101"/>
                <a:gd name="T56" fmla="*/ 0 w 102"/>
                <a:gd name="T57" fmla="*/ 51 h 101"/>
                <a:gd name="T58" fmla="*/ 1 w 102"/>
                <a:gd name="T59" fmla="*/ 61 h 101"/>
                <a:gd name="T60" fmla="*/ 4 w 102"/>
                <a:gd name="T61" fmla="*/ 70 h 101"/>
                <a:gd name="T62" fmla="*/ 8 w 102"/>
                <a:gd name="T63" fmla="*/ 79 h 101"/>
                <a:gd name="T64" fmla="*/ 15 w 102"/>
                <a:gd name="T65" fmla="*/ 86 h 101"/>
                <a:gd name="T66" fmla="*/ 21 w 102"/>
                <a:gd name="T67" fmla="*/ 93 h 101"/>
                <a:gd name="T68" fmla="*/ 31 w 102"/>
                <a:gd name="T69" fmla="*/ 98 h 101"/>
                <a:gd name="T70" fmla="*/ 40 w 102"/>
                <a:gd name="T71" fmla="*/ 101 h 101"/>
                <a:gd name="T72" fmla="*/ 51 w 102"/>
                <a:gd name="T73" fmla="*/ 101 h 101"/>
                <a:gd name="T74" fmla="*/ 51 w 102"/>
                <a:gd name="T75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2" h="101">
                  <a:moveTo>
                    <a:pt x="51" y="101"/>
                  </a:moveTo>
                  <a:lnTo>
                    <a:pt x="51" y="101"/>
                  </a:lnTo>
                  <a:lnTo>
                    <a:pt x="60" y="101"/>
                  </a:lnTo>
                  <a:lnTo>
                    <a:pt x="70" y="98"/>
                  </a:lnTo>
                  <a:lnTo>
                    <a:pt x="79" y="93"/>
                  </a:lnTo>
                  <a:lnTo>
                    <a:pt x="86" y="86"/>
                  </a:lnTo>
                  <a:lnTo>
                    <a:pt x="93" y="79"/>
                  </a:lnTo>
                  <a:lnTo>
                    <a:pt x="98" y="70"/>
                  </a:lnTo>
                  <a:lnTo>
                    <a:pt x="101" y="61"/>
                  </a:lnTo>
                  <a:lnTo>
                    <a:pt x="102" y="51"/>
                  </a:lnTo>
                  <a:lnTo>
                    <a:pt x="102" y="51"/>
                  </a:lnTo>
                  <a:lnTo>
                    <a:pt x="101" y="40"/>
                  </a:lnTo>
                  <a:lnTo>
                    <a:pt x="98" y="31"/>
                  </a:lnTo>
                  <a:lnTo>
                    <a:pt x="93" y="22"/>
                  </a:lnTo>
                  <a:lnTo>
                    <a:pt x="86" y="15"/>
                  </a:lnTo>
                  <a:lnTo>
                    <a:pt x="79" y="8"/>
                  </a:lnTo>
                  <a:lnTo>
                    <a:pt x="70" y="4"/>
                  </a:lnTo>
                  <a:lnTo>
                    <a:pt x="60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0" y="0"/>
                  </a:lnTo>
                  <a:lnTo>
                    <a:pt x="31" y="4"/>
                  </a:lnTo>
                  <a:lnTo>
                    <a:pt x="21" y="8"/>
                  </a:lnTo>
                  <a:lnTo>
                    <a:pt x="15" y="15"/>
                  </a:lnTo>
                  <a:lnTo>
                    <a:pt x="8" y="22"/>
                  </a:lnTo>
                  <a:lnTo>
                    <a:pt x="4" y="31"/>
                  </a:lnTo>
                  <a:lnTo>
                    <a:pt x="1" y="40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61"/>
                  </a:lnTo>
                  <a:lnTo>
                    <a:pt x="4" y="70"/>
                  </a:lnTo>
                  <a:lnTo>
                    <a:pt x="8" y="79"/>
                  </a:lnTo>
                  <a:lnTo>
                    <a:pt x="15" y="86"/>
                  </a:lnTo>
                  <a:lnTo>
                    <a:pt x="21" y="93"/>
                  </a:lnTo>
                  <a:lnTo>
                    <a:pt x="31" y="98"/>
                  </a:lnTo>
                  <a:lnTo>
                    <a:pt x="40" y="101"/>
                  </a:lnTo>
                  <a:lnTo>
                    <a:pt x="51" y="101"/>
                  </a:lnTo>
                  <a:lnTo>
                    <a:pt x="51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  <p:sp>
          <p:nvSpPr>
            <p:cNvPr id="24" name="Freeform 131">
              <a:extLst>
                <a:ext uri="{FF2B5EF4-FFF2-40B4-BE49-F238E27FC236}">
                  <a16:creationId xmlns:a16="http://schemas.microsoft.com/office/drawing/2014/main" id="{5A6394C8-F47E-4DBD-9453-C3148CEA0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2663" y="1992948"/>
              <a:ext cx="266700" cy="76200"/>
            </a:xfrm>
            <a:custGeom>
              <a:avLst/>
              <a:gdLst>
                <a:gd name="T0" fmla="*/ 228 w 336"/>
                <a:gd name="T1" fmla="*/ 19 h 97"/>
                <a:gd name="T2" fmla="*/ 254 w 336"/>
                <a:gd name="T3" fmla="*/ 22 h 97"/>
                <a:gd name="T4" fmla="*/ 289 w 336"/>
                <a:gd name="T5" fmla="*/ 30 h 97"/>
                <a:gd name="T6" fmla="*/ 308 w 336"/>
                <a:gd name="T7" fmla="*/ 38 h 97"/>
                <a:gd name="T8" fmla="*/ 316 w 336"/>
                <a:gd name="T9" fmla="*/ 44 h 97"/>
                <a:gd name="T10" fmla="*/ 316 w 336"/>
                <a:gd name="T11" fmla="*/ 47 h 97"/>
                <a:gd name="T12" fmla="*/ 315 w 336"/>
                <a:gd name="T13" fmla="*/ 51 h 97"/>
                <a:gd name="T14" fmla="*/ 296 w 336"/>
                <a:gd name="T15" fmla="*/ 61 h 97"/>
                <a:gd name="T16" fmla="*/ 258 w 336"/>
                <a:gd name="T17" fmla="*/ 70 h 97"/>
                <a:gd name="T18" fmla="*/ 202 w 336"/>
                <a:gd name="T19" fmla="*/ 77 h 97"/>
                <a:gd name="T20" fmla="*/ 168 w 336"/>
                <a:gd name="T21" fmla="*/ 77 h 97"/>
                <a:gd name="T22" fmla="*/ 104 w 336"/>
                <a:gd name="T23" fmla="*/ 74 h 97"/>
                <a:gd name="T24" fmla="*/ 56 w 336"/>
                <a:gd name="T25" fmla="*/ 66 h 97"/>
                <a:gd name="T26" fmla="*/ 28 w 336"/>
                <a:gd name="T27" fmla="*/ 55 h 97"/>
                <a:gd name="T28" fmla="*/ 19 w 336"/>
                <a:gd name="T29" fmla="*/ 48 h 97"/>
                <a:gd name="T30" fmla="*/ 19 w 336"/>
                <a:gd name="T31" fmla="*/ 47 h 97"/>
                <a:gd name="T32" fmla="*/ 22 w 336"/>
                <a:gd name="T33" fmla="*/ 42 h 97"/>
                <a:gd name="T34" fmla="*/ 35 w 336"/>
                <a:gd name="T35" fmla="*/ 34 h 97"/>
                <a:gd name="T36" fmla="*/ 60 w 336"/>
                <a:gd name="T37" fmla="*/ 26 h 97"/>
                <a:gd name="T38" fmla="*/ 106 w 336"/>
                <a:gd name="T39" fmla="*/ 19 h 97"/>
                <a:gd name="T40" fmla="*/ 105 w 336"/>
                <a:gd name="T41" fmla="*/ 0 h 97"/>
                <a:gd name="T42" fmla="*/ 56 w 336"/>
                <a:gd name="T43" fmla="*/ 7 h 97"/>
                <a:gd name="T44" fmla="*/ 24 w 336"/>
                <a:gd name="T45" fmla="*/ 18 h 97"/>
                <a:gd name="T46" fmla="*/ 11 w 336"/>
                <a:gd name="T47" fmla="*/ 26 h 97"/>
                <a:gd name="T48" fmla="*/ 3 w 336"/>
                <a:gd name="T49" fmla="*/ 35 h 97"/>
                <a:gd name="T50" fmla="*/ 0 w 336"/>
                <a:gd name="T51" fmla="*/ 47 h 97"/>
                <a:gd name="T52" fmla="*/ 0 w 336"/>
                <a:gd name="T53" fmla="*/ 54 h 97"/>
                <a:gd name="T54" fmla="*/ 8 w 336"/>
                <a:gd name="T55" fmla="*/ 65 h 97"/>
                <a:gd name="T56" fmla="*/ 22 w 336"/>
                <a:gd name="T57" fmla="*/ 74 h 97"/>
                <a:gd name="T58" fmla="*/ 54 w 336"/>
                <a:gd name="T59" fmla="*/ 85 h 97"/>
                <a:gd name="T60" fmla="*/ 108 w 336"/>
                <a:gd name="T61" fmla="*/ 94 h 97"/>
                <a:gd name="T62" fmla="*/ 168 w 336"/>
                <a:gd name="T63" fmla="*/ 97 h 97"/>
                <a:gd name="T64" fmla="*/ 198 w 336"/>
                <a:gd name="T65" fmla="*/ 96 h 97"/>
                <a:gd name="T66" fmla="*/ 257 w 336"/>
                <a:gd name="T67" fmla="*/ 90 h 97"/>
                <a:gd name="T68" fmla="*/ 304 w 336"/>
                <a:gd name="T69" fmla="*/ 78 h 97"/>
                <a:gd name="T70" fmla="*/ 321 w 336"/>
                <a:gd name="T71" fmla="*/ 69 h 97"/>
                <a:gd name="T72" fmla="*/ 332 w 336"/>
                <a:gd name="T73" fmla="*/ 59 h 97"/>
                <a:gd name="T74" fmla="*/ 336 w 336"/>
                <a:gd name="T75" fmla="*/ 47 h 97"/>
                <a:gd name="T76" fmla="*/ 335 w 336"/>
                <a:gd name="T77" fmla="*/ 42 h 97"/>
                <a:gd name="T78" fmla="*/ 329 w 336"/>
                <a:gd name="T79" fmla="*/ 31 h 97"/>
                <a:gd name="T80" fmla="*/ 319 w 336"/>
                <a:gd name="T81" fmla="*/ 22 h 97"/>
                <a:gd name="T82" fmla="*/ 296 w 336"/>
                <a:gd name="T83" fmla="*/ 12 h 97"/>
                <a:gd name="T84" fmla="*/ 261 w 336"/>
                <a:gd name="T85" fmla="*/ 4 h 97"/>
                <a:gd name="T86" fmla="*/ 230 w 336"/>
                <a:gd name="T8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6" h="97">
                  <a:moveTo>
                    <a:pt x="230" y="0"/>
                  </a:moveTo>
                  <a:lnTo>
                    <a:pt x="228" y="19"/>
                  </a:lnTo>
                  <a:lnTo>
                    <a:pt x="228" y="19"/>
                  </a:lnTo>
                  <a:lnTo>
                    <a:pt x="254" y="22"/>
                  </a:lnTo>
                  <a:lnTo>
                    <a:pt x="274" y="26"/>
                  </a:lnTo>
                  <a:lnTo>
                    <a:pt x="289" y="30"/>
                  </a:lnTo>
                  <a:lnTo>
                    <a:pt x="301" y="34"/>
                  </a:lnTo>
                  <a:lnTo>
                    <a:pt x="308" y="38"/>
                  </a:lnTo>
                  <a:lnTo>
                    <a:pt x="313" y="42"/>
                  </a:lnTo>
                  <a:lnTo>
                    <a:pt x="316" y="44"/>
                  </a:lnTo>
                  <a:lnTo>
                    <a:pt x="316" y="47"/>
                  </a:lnTo>
                  <a:lnTo>
                    <a:pt x="316" y="47"/>
                  </a:lnTo>
                  <a:lnTo>
                    <a:pt x="316" y="48"/>
                  </a:lnTo>
                  <a:lnTo>
                    <a:pt x="315" y="51"/>
                  </a:lnTo>
                  <a:lnTo>
                    <a:pt x="306" y="55"/>
                  </a:lnTo>
                  <a:lnTo>
                    <a:pt x="296" y="61"/>
                  </a:lnTo>
                  <a:lnTo>
                    <a:pt x="278" y="66"/>
                  </a:lnTo>
                  <a:lnTo>
                    <a:pt x="258" y="70"/>
                  </a:lnTo>
                  <a:lnTo>
                    <a:pt x="233" y="74"/>
                  </a:lnTo>
                  <a:lnTo>
                    <a:pt x="202" y="77"/>
                  </a:lnTo>
                  <a:lnTo>
                    <a:pt x="168" y="77"/>
                  </a:lnTo>
                  <a:lnTo>
                    <a:pt x="168" y="77"/>
                  </a:lnTo>
                  <a:lnTo>
                    <a:pt x="133" y="77"/>
                  </a:lnTo>
                  <a:lnTo>
                    <a:pt x="104" y="74"/>
                  </a:lnTo>
                  <a:lnTo>
                    <a:pt x="78" y="70"/>
                  </a:lnTo>
                  <a:lnTo>
                    <a:pt x="56" y="66"/>
                  </a:lnTo>
                  <a:lnTo>
                    <a:pt x="40" y="61"/>
                  </a:lnTo>
                  <a:lnTo>
                    <a:pt x="28" y="55"/>
                  </a:lnTo>
                  <a:lnTo>
                    <a:pt x="22" y="51"/>
                  </a:lnTo>
                  <a:lnTo>
                    <a:pt x="19" y="48"/>
                  </a:lnTo>
                  <a:lnTo>
                    <a:pt x="19" y="47"/>
                  </a:lnTo>
                  <a:lnTo>
                    <a:pt x="19" y="47"/>
                  </a:lnTo>
                  <a:lnTo>
                    <a:pt x="20" y="44"/>
                  </a:lnTo>
                  <a:lnTo>
                    <a:pt x="22" y="42"/>
                  </a:lnTo>
                  <a:lnTo>
                    <a:pt x="27" y="38"/>
                  </a:lnTo>
                  <a:lnTo>
                    <a:pt x="35" y="34"/>
                  </a:lnTo>
                  <a:lnTo>
                    <a:pt x="46" y="30"/>
                  </a:lnTo>
                  <a:lnTo>
                    <a:pt x="60" y="26"/>
                  </a:lnTo>
                  <a:lnTo>
                    <a:pt x="81" y="22"/>
                  </a:lnTo>
                  <a:lnTo>
                    <a:pt x="106" y="19"/>
                  </a:lnTo>
                  <a:lnTo>
                    <a:pt x="105" y="0"/>
                  </a:lnTo>
                  <a:lnTo>
                    <a:pt x="105" y="0"/>
                  </a:lnTo>
                  <a:lnTo>
                    <a:pt x="74" y="4"/>
                  </a:lnTo>
                  <a:lnTo>
                    <a:pt x="56" y="7"/>
                  </a:lnTo>
                  <a:lnTo>
                    <a:pt x="39" y="12"/>
                  </a:lnTo>
                  <a:lnTo>
                    <a:pt x="24" y="18"/>
                  </a:lnTo>
                  <a:lnTo>
                    <a:pt x="17" y="22"/>
                  </a:lnTo>
                  <a:lnTo>
                    <a:pt x="11" y="26"/>
                  </a:lnTo>
                  <a:lnTo>
                    <a:pt x="7" y="31"/>
                  </a:lnTo>
                  <a:lnTo>
                    <a:pt x="3" y="35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54"/>
                  </a:lnTo>
                  <a:lnTo>
                    <a:pt x="3" y="59"/>
                  </a:lnTo>
                  <a:lnTo>
                    <a:pt x="8" y="65"/>
                  </a:lnTo>
                  <a:lnTo>
                    <a:pt x="15" y="69"/>
                  </a:lnTo>
                  <a:lnTo>
                    <a:pt x="22" y="74"/>
                  </a:lnTo>
                  <a:lnTo>
                    <a:pt x="31" y="78"/>
                  </a:lnTo>
                  <a:lnTo>
                    <a:pt x="54" y="85"/>
                  </a:lnTo>
                  <a:lnTo>
                    <a:pt x="79" y="90"/>
                  </a:lnTo>
                  <a:lnTo>
                    <a:pt x="108" y="94"/>
                  </a:lnTo>
                  <a:lnTo>
                    <a:pt x="137" y="96"/>
                  </a:lnTo>
                  <a:lnTo>
                    <a:pt x="168" y="97"/>
                  </a:lnTo>
                  <a:lnTo>
                    <a:pt x="168" y="97"/>
                  </a:lnTo>
                  <a:lnTo>
                    <a:pt x="198" y="96"/>
                  </a:lnTo>
                  <a:lnTo>
                    <a:pt x="228" y="94"/>
                  </a:lnTo>
                  <a:lnTo>
                    <a:pt x="257" y="90"/>
                  </a:lnTo>
                  <a:lnTo>
                    <a:pt x="282" y="85"/>
                  </a:lnTo>
                  <a:lnTo>
                    <a:pt x="304" y="78"/>
                  </a:lnTo>
                  <a:lnTo>
                    <a:pt x="313" y="74"/>
                  </a:lnTo>
                  <a:lnTo>
                    <a:pt x="321" y="69"/>
                  </a:lnTo>
                  <a:lnTo>
                    <a:pt x="327" y="65"/>
                  </a:lnTo>
                  <a:lnTo>
                    <a:pt x="332" y="59"/>
                  </a:lnTo>
                  <a:lnTo>
                    <a:pt x="335" y="54"/>
                  </a:lnTo>
                  <a:lnTo>
                    <a:pt x="336" y="47"/>
                  </a:lnTo>
                  <a:lnTo>
                    <a:pt x="336" y="47"/>
                  </a:lnTo>
                  <a:lnTo>
                    <a:pt x="335" y="42"/>
                  </a:lnTo>
                  <a:lnTo>
                    <a:pt x="332" y="35"/>
                  </a:lnTo>
                  <a:lnTo>
                    <a:pt x="329" y="31"/>
                  </a:lnTo>
                  <a:lnTo>
                    <a:pt x="324" y="26"/>
                  </a:lnTo>
                  <a:lnTo>
                    <a:pt x="319" y="22"/>
                  </a:lnTo>
                  <a:lnTo>
                    <a:pt x="312" y="18"/>
                  </a:lnTo>
                  <a:lnTo>
                    <a:pt x="296" y="12"/>
                  </a:lnTo>
                  <a:lnTo>
                    <a:pt x="278" y="7"/>
                  </a:lnTo>
                  <a:lnTo>
                    <a:pt x="261" y="4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</p:grpSp>
      <p:sp>
        <p:nvSpPr>
          <p:cNvPr id="45" name="Google Shape;492;p8">
            <a:extLst>
              <a:ext uri="{FF2B5EF4-FFF2-40B4-BE49-F238E27FC236}">
                <a16:creationId xmlns:a16="http://schemas.microsoft.com/office/drawing/2014/main" id="{50F1F7E2-6CE5-486B-A816-68A821532111}"/>
              </a:ext>
            </a:extLst>
          </p:cNvPr>
          <p:cNvSpPr txBox="1"/>
          <p:nvPr/>
        </p:nvSpPr>
        <p:spPr>
          <a:xfrm>
            <a:off x="8767767" y="5721560"/>
            <a:ext cx="296471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מניעת התדרדרות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תפקודית  והגדלת שנות החיים הבריאות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8652B8-2FFC-4D91-898F-406B32EEB388}"/>
              </a:ext>
            </a:extLst>
          </p:cNvPr>
          <p:cNvSpPr/>
          <p:nvPr/>
        </p:nvSpPr>
        <p:spPr>
          <a:xfrm>
            <a:off x="362992" y="1813109"/>
            <a:ext cx="3501831" cy="49276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solidFill>
              <a:schemeClr val="bg1"/>
            </a:solidFill>
          </a:ln>
          <a:effectLst>
            <a:outerShdw blurRad="495300" dist="50800" dir="5400000" algn="ctr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Google Shape;492;p8">
            <a:extLst>
              <a:ext uri="{FF2B5EF4-FFF2-40B4-BE49-F238E27FC236}">
                <a16:creationId xmlns:a16="http://schemas.microsoft.com/office/drawing/2014/main" id="{4D4AE194-BC50-44F7-9EC6-B8B87519D04C}"/>
              </a:ext>
            </a:extLst>
          </p:cNvPr>
          <p:cNvSpPr txBox="1"/>
          <p:nvPr/>
        </p:nvSpPr>
        <p:spPr>
          <a:xfrm>
            <a:off x="557732" y="4899567"/>
            <a:ext cx="28428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מדידת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תוצאות ואימפקט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12" name="Google Shape;492;p8">
            <a:extLst>
              <a:ext uri="{FF2B5EF4-FFF2-40B4-BE49-F238E27FC236}">
                <a16:creationId xmlns:a16="http://schemas.microsoft.com/office/drawing/2014/main" id="{BDE070DB-83EC-4E8E-9F66-FF86B4DB3A89}"/>
              </a:ext>
            </a:extLst>
          </p:cNvPr>
          <p:cNvSpPr txBox="1"/>
          <p:nvPr/>
        </p:nvSpPr>
        <p:spPr>
          <a:xfrm>
            <a:off x="275907" y="4308973"/>
            <a:ext cx="31246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התאמת מדיניות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על בסיס נתונים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16" name="Google Shape;492;p8">
            <a:extLst>
              <a:ext uri="{FF2B5EF4-FFF2-40B4-BE49-F238E27FC236}">
                <a16:creationId xmlns:a16="http://schemas.microsoft.com/office/drawing/2014/main" id="{FA283C4A-E7EA-4B00-A132-D2F212D82741}"/>
              </a:ext>
            </a:extLst>
          </p:cNvPr>
          <p:cNvSpPr txBox="1"/>
          <p:nvPr/>
        </p:nvSpPr>
        <p:spPr>
          <a:xfrm>
            <a:off x="275907" y="5490160"/>
            <a:ext cx="31246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פתיחה ושיפור דינמיקת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השוק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E3819-AD9E-463B-BCC6-A7D1BC63D840}"/>
              </a:ext>
            </a:extLst>
          </p:cNvPr>
          <p:cNvSpPr txBox="1"/>
          <p:nvPr/>
        </p:nvSpPr>
        <p:spPr>
          <a:xfrm>
            <a:off x="1262552" y="2792914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ניהול ואסטרטגיה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05210D-42E2-4A2E-9CDD-2A61C2593C71}"/>
              </a:ext>
            </a:extLst>
          </p:cNvPr>
          <p:cNvGrpSpPr>
            <a:grpSpLocks noChangeAspect="1"/>
          </p:cNvGrpSpPr>
          <p:nvPr/>
        </p:nvGrpSpPr>
        <p:grpSpPr>
          <a:xfrm>
            <a:off x="1891235" y="2172147"/>
            <a:ext cx="522288" cy="523875"/>
            <a:chOff x="7594601" y="824548"/>
            <a:chExt cx="522288" cy="523875"/>
          </a:xfrm>
          <a:solidFill>
            <a:schemeClr val="accent1"/>
          </a:solidFill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715D1DA-577F-45FC-957A-1E26AAD4D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4601" y="824548"/>
              <a:ext cx="522288" cy="523875"/>
            </a:xfrm>
            <a:custGeom>
              <a:avLst/>
              <a:gdLst>
                <a:gd name="T0" fmla="*/ 312 w 659"/>
                <a:gd name="T1" fmla="*/ 658 h 658"/>
                <a:gd name="T2" fmla="*/ 262 w 659"/>
                <a:gd name="T3" fmla="*/ 652 h 658"/>
                <a:gd name="T4" fmla="*/ 202 w 659"/>
                <a:gd name="T5" fmla="*/ 633 h 658"/>
                <a:gd name="T6" fmla="*/ 120 w 659"/>
                <a:gd name="T7" fmla="*/ 583 h 658"/>
                <a:gd name="T8" fmla="*/ 57 w 659"/>
                <a:gd name="T9" fmla="*/ 513 h 658"/>
                <a:gd name="T10" fmla="*/ 15 w 659"/>
                <a:gd name="T11" fmla="*/ 427 h 658"/>
                <a:gd name="T12" fmla="*/ 4 w 659"/>
                <a:gd name="T13" fmla="*/ 379 h 658"/>
                <a:gd name="T14" fmla="*/ 0 w 659"/>
                <a:gd name="T15" fmla="*/ 329 h 658"/>
                <a:gd name="T16" fmla="*/ 2 w 659"/>
                <a:gd name="T17" fmla="*/ 295 h 658"/>
                <a:gd name="T18" fmla="*/ 11 w 659"/>
                <a:gd name="T19" fmla="*/ 247 h 658"/>
                <a:gd name="T20" fmla="*/ 41 w 659"/>
                <a:gd name="T21" fmla="*/ 173 h 658"/>
                <a:gd name="T22" fmla="*/ 97 w 659"/>
                <a:gd name="T23" fmla="*/ 96 h 658"/>
                <a:gd name="T24" fmla="*/ 172 w 659"/>
                <a:gd name="T25" fmla="*/ 40 h 658"/>
                <a:gd name="T26" fmla="*/ 248 w 659"/>
                <a:gd name="T27" fmla="*/ 10 h 658"/>
                <a:gd name="T28" fmla="*/ 296 w 659"/>
                <a:gd name="T29" fmla="*/ 2 h 658"/>
                <a:gd name="T30" fmla="*/ 330 w 659"/>
                <a:gd name="T31" fmla="*/ 0 h 658"/>
                <a:gd name="T32" fmla="*/ 379 w 659"/>
                <a:gd name="T33" fmla="*/ 4 h 658"/>
                <a:gd name="T34" fmla="*/ 426 w 659"/>
                <a:gd name="T35" fmla="*/ 16 h 658"/>
                <a:gd name="T36" fmla="*/ 514 w 659"/>
                <a:gd name="T37" fmla="*/ 56 h 658"/>
                <a:gd name="T38" fmla="*/ 584 w 659"/>
                <a:gd name="T39" fmla="*/ 121 h 658"/>
                <a:gd name="T40" fmla="*/ 632 w 659"/>
                <a:gd name="T41" fmla="*/ 201 h 658"/>
                <a:gd name="T42" fmla="*/ 652 w 659"/>
                <a:gd name="T43" fmla="*/ 263 h 658"/>
                <a:gd name="T44" fmla="*/ 658 w 659"/>
                <a:gd name="T45" fmla="*/ 313 h 658"/>
                <a:gd name="T46" fmla="*/ 658 w 659"/>
                <a:gd name="T47" fmla="*/ 346 h 658"/>
                <a:gd name="T48" fmla="*/ 652 w 659"/>
                <a:gd name="T49" fmla="*/ 396 h 658"/>
                <a:gd name="T50" fmla="*/ 632 w 659"/>
                <a:gd name="T51" fmla="*/ 457 h 658"/>
                <a:gd name="T52" fmla="*/ 584 w 659"/>
                <a:gd name="T53" fmla="*/ 539 h 658"/>
                <a:gd name="T54" fmla="*/ 514 w 659"/>
                <a:gd name="T55" fmla="*/ 602 h 658"/>
                <a:gd name="T56" fmla="*/ 426 w 659"/>
                <a:gd name="T57" fmla="*/ 644 h 658"/>
                <a:gd name="T58" fmla="*/ 379 w 659"/>
                <a:gd name="T59" fmla="*/ 654 h 658"/>
                <a:gd name="T60" fmla="*/ 330 w 659"/>
                <a:gd name="T61" fmla="*/ 658 h 658"/>
                <a:gd name="T62" fmla="*/ 330 w 659"/>
                <a:gd name="T63" fmla="*/ 37 h 658"/>
                <a:gd name="T64" fmla="*/ 242 w 659"/>
                <a:gd name="T65" fmla="*/ 51 h 658"/>
                <a:gd name="T66" fmla="*/ 167 w 659"/>
                <a:gd name="T67" fmla="*/ 88 h 658"/>
                <a:gd name="T68" fmla="*/ 105 w 659"/>
                <a:gd name="T69" fmla="*/ 144 h 658"/>
                <a:gd name="T70" fmla="*/ 61 w 659"/>
                <a:gd name="T71" fmla="*/ 216 h 658"/>
                <a:gd name="T72" fmla="*/ 39 w 659"/>
                <a:gd name="T73" fmla="*/ 299 h 658"/>
                <a:gd name="T74" fmla="*/ 39 w 659"/>
                <a:gd name="T75" fmla="*/ 359 h 658"/>
                <a:gd name="T76" fmla="*/ 61 w 659"/>
                <a:gd name="T77" fmla="*/ 443 h 658"/>
                <a:gd name="T78" fmla="*/ 105 w 659"/>
                <a:gd name="T79" fmla="*/ 514 h 658"/>
                <a:gd name="T80" fmla="*/ 167 w 659"/>
                <a:gd name="T81" fmla="*/ 571 h 658"/>
                <a:gd name="T82" fmla="*/ 242 w 659"/>
                <a:gd name="T83" fmla="*/ 607 h 658"/>
                <a:gd name="T84" fmla="*/ 330 w 659"/>
                <a:gd name="T85" fmla="*/ 621 h 658"/>
                <a:gd name="T86" fmla="*/ 387 w 659"/>
                <a:gd name="T87" fmla="*/ 615 h 658"/>
                <a:gd name="T88" fmla="*/ 468 w 659"/>
                <a:gd name="T89" fmla="*/ 586 h 658"/>
                <a:gd name="T90" fmla="*/ 535 w 659"/>
                <a:gd name="T91" fmla="*/ 535 h 658"/>
                <a:gd name="T92" fmla="*/ 585 w 659"/>
                <a:gd name="T93" fmla="*/ 467 h 658"/>
                <a:gd name="T94" fmla="*/ 614 w 659"/>
                <a:gd name="T95" fmla="*/ 388 h 658"/>
                <a:gd name="T96" fmla="*/ 621 w 659"/>
                <a:gd name="T97" fmla="*/ 329 h 658"/>
                <a:gd name="T98" fmla="*/ 608 w 659"/>
                <a:gd name="T99" fmla="*/ 243 h 658"/>
                <a:gd name="T100" fmla="*/ 570 w 659"/>
                <a:gd name="T101" fmla="*/ 166 h 658"/>
                <a:gd name="T102" fmla="*/ 515 w 659"/>
                <a:gd name="T103" fmla="*/ 105 h 658"/>
                <a:gd name="T104" fmla="*/ 442 w 659"/>
                <a:gd name="T105" fmla="*/ 62 h 658"/>
                <a:gd name="T106" fmla="*/ 359 w 659"/>
                <a:gd name="T107" fmla="*/ 4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30" y="658"/>
                  </a:moveTo>
                  <a:lnTo>
                    <a:pt x="330" y="658"/>
                  </a:lnTo>
                  <a:lnTo>
                    <a:pt x="312" y="658"/>
                  </a:lnTo>
                  <a:lnTo>
                    <a:pt x="296" y="657"/>
                  </a:lnTo>
                  <a:lnTo>
                    <a:pt x="280" y="654"/>
                  </a:lnTo>
                  <a:lnTo>
                    <a:pt x="262" y="652"/>
                  </a:lnTo>
                  <a:lnTo>
                    <a:pt x="248" y="648"/>
                  </a:lnTo>
                  <a:lnTo>
                    <a:pt x="231" y="644"/>
                  </a:lnTo>
                  <a:lnTo>
                    <a:pt x="202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20" y="583"/>
                  </a:lnTo>
                  <a:lnTo>
                    <a:pt x="97" y="562"/>
                  </a:lnTo>
                  <a:lnTo>
                    <a:pt x="76" y="539"/>
                  </a:lnTo>
                  <a:lnTo>
                    <a:pt x="57" y="513"/>
                  </a:lnTo>
                  <a:lnTo>
                    <a:pt x="41" y="486"/>
                  </a:lnTo>
                  <a:lnTo>
                    <a:pt x="26" y="457"/>
                  </a:lnTo>
                  <a:lnTo>
                    <a:pt x="15" y="427"/>
                  </a:lnTo>
                  <a:lnTo>
                    <a:pt x="11" y="411"/>
                  </a:lnTo>
                  <a:lnTo>
                    <a:pt x="7" y="396"/>
                  </a:lnTo>
                  <a:lnTo>
                    <a:pt x="4" y="379"/>
                  </a:lnTo>
                  <a:lnTo>
                    <a:pt x="2" y="363"/>
                  </a:lnTo>
                  <a:lnTo>
                    <a:pt x="0" y="346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3"/>
                  </a:lnTo>
                  <a:lnTo>
                    <a:pt x="2" y="295"/>
                  </a:lnTo>
                  <a:lnTo>
                    <a:pt x="4" y="279"/>
                  </a:lnTo>
                  <a:lnTo>
                    <a:pt x="7" y="263"/>
                  </a:lnTo>
                  <a:lnTo>
                    <a:pt x="11" y="247"/>
                  </a:lnTo>
                  <a:lnTo>
                    <a:pt x="15" y="232"/>
                  </a:lnTo>
                  <a:lnTo>
                    <a:pt x="26" y="201"/>
                  </a:lnTo>
                  <a:lnTo>
                    <a:pt x="41" y="173"/>
                  </a:lnTo>
                  <a:lnTo>
                    <a:pt x="57" y="145"/>
                  </a:lnTo>
                  <a:lnTo>
                    <a:pt x="76" y="121"/>
                  </a:lnTo>
                  <a:lnTo>
                    <a:pt x="97" y="96"/>
                  </a:lnTo>
                  <a:lnTo>
                    <a:pt x="120" y="75"/>
                  </a:lnTo>
                  <a:lnTo>
                    <a:pt x="145" y="56"/>
                  </a:lnTo>
                  <a:lnTo>
                    <a:pt x="172" y="40"/>
                  </a:lnTo>
                  <a:lnTo>
                    <a:pt x="202" y="27"/>
                  </a:lnTo>
                  <a:lnTo>
                    <a:pt x="231" y="16"/>
                  </a:lnTo>
                  <a:lnTo>
                    <a:pt x="248" y="10"/>
                  </a:lnTo>
                  <a:lnTo>
                    <a:pt x="262" y="6"/>
                  </a:lnTo>
                  <a:lnTo>
                    <a:pt x="280" y="4"/>
                  </a:lnTo>
                  <a:lnTo>
                    <a:pt x="296" y="2"/>
                  </a:lnTo>
                  <a:lnTo>
                    <a:pt x="312" y="1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6" y="1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5" y="6"/>
                  </a:lnTo>
                  <a:lnTo>
                    <a:pt x="412" y="10"/>
                  </a:lnTo>
                  <a:lnTo>
                    <a:pt x="426" y="16"/>
                  </a:lnTo>
                  <a:lnTo>
                    <a:pt x="457" y="27"/>
                  </a:lnTo>
                  <a:lnTo>
                    <a:pt x="485" y="40"/>
                  </a:lnTo>
                  <a:lnTo>
                    <a:pt x="514" y="56"/>
                  </a:lnTo>
                  <a:lnTo>
                    <a:pt x="538" y="75"/>
                  </a:lnTo>
                  <a:lnTo>
                    <a:pt x="562" y="96"/>
                  </a:lnTo>
                  <a:lnTo>
                    <a:pt x="584" y="121"/>
                  </a:lnTo>
                  <a:lnTo>
                    <a:pt x="602" y="145"/>
                  </a:lnTo>
                  <a:lnTo>
                    <a:pt x="619" y="173"/>
                  </a:lnTo>
                  <a:lnTo>
                    <a:pt x="632" y="201"/>
                  </a:lnTo>
                  <a:lnTo>
                    <a:pt x="644" y="232"/>
                  </a:lnTo>
                  <a:lnTo>
                    <a:pt x="648" y="247"/>
                  </a:lnTo>
                  <a:lnTo>
                    <a:pt x="652" y="263"/>
                  </a:lnTo>
                  <a:lnTo>
                    <a:pt x="655" y="279"/>
                  </a:lnTo>
                  <a:lnTo>
                    <a:pt x="656" y="295"/>
                  </a:lnTo>
                  <a:lnTo>
                    <a:pt x="658" y="313"/>
                  </a:lnTo>
                  <a:lnTo>
                    <a:pt x="659" y="329"/>
                  </a:lnTo>
                  <a:lnTo>
                    <a:pt x="659" y="329"/>
                  </a:lnTo>
                  <a:lnTo>
                    <a:pt x="658" y="346"/>
                  </a:lnTo>
                  <a:lnTo>
                    <a:pt x="656" y="363"/>
                  </a:lnTo>
                  <a:lnTo>
                    <a:pt x="655" y="379"/>
                  </a:lnTo>
                  <a:lnTo>
                    <a:pt x="652" y="396"/>
                  </a:lnTo>
                  <a:lnTo>
                    <a:pt x="648" y="411"/>
                  </a:lnTo>
                  <a:lnTo>
                    <a:pt x="644" y="427"/>
                  </a:lnTo>
                  <a:lnTo>
                    <a:pt x="632" y="457"/>
                  </a:lnTo>
                  <a:lnTo>
                    <a:pt x="619" y="486"/>
                  </a:lnTo>
                  <a:lnTo>
                    <a:pt x="602" y="513"/>
                  </a:lnTo>
                  <a:lnTo>
                    <a:pt x="584" y="539"/>
                  </a:lnTo>
                  <a:lnTo>
                    <a:pt x="562" y="562"/>
                  </a:lnTo>
                  <a:lnTo>
                    <a:pt x="538" y="583"/>
                  </a:lnTo>
                  <a:lnTo>
                    <a:pt x="514" y="602"/>
                  </a:lnTo>
                  <a:lnTo>
                    <a:pt x="485" y="618"/>
                  </a:lnTo>
                  <a:lnTo>
                    <a:pt x="457" y="633"/>
                  </a:lnTo>
                  <a:lnTo>
                    <a:pt x="426" y="644"/>
                  </a:lnTo>
                  <a:lnTo>
                    <a:pt x="412" y="648"/>
                  </a:lnTo>
                  <a:lnTo>
                    <a:pt x="395" y="652"/>
                  </a:lnTo>
                  <a:lnTo>
                    <a:pt x="379" y="654"/>
                  </a:lnTo>
                  <a:lnTo>
                    <a:pt x="363" y="657"/>
                  </a:lnTo>
                  <a:lnTo>
                    <a:pt x="346" y="658"/>
                  </a:lnTo>
                  <a:lnTo>
                    <a:pt x="330" y="658"/>
                  </a:lnTo>
                  <a:lnTo>
                    <a:pt x="330" y="658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40"/>
                  </a:lnTo>
                  <a:lnTo>
                    <a:pt x="270" y="44"/>
                  </a:lnTo>
                  <a:lnTo>
                    <a:pt x="242" y="51"/>
                  </a:lnTo>
                  <a:lnTo>
                    <a:pt x="215" y="62"/>
                  </a:lnTo>
                  <a:lnTo>
                    <a:pt x="191" y="74"/>
                  </a:lnTo>
                  <a:lnTo>
                    <a:pt x="167" y="88"/>
                  </a:lnTo>
                  <a:lnTo>
                    <a:pt x="144" y="105"/>
                  </a:lnTo>
                  <a:lnTo>
                    <a:pt x="124" y="123"/>
                  </a:lnTo>
                  <a:lnTo>
                    <a:pt x="105" y="144"/>
                  </a:lnTo>
                  <a:lnTo>
                    <a:pt x="88" y="166"/>
                  </a:lnTo>
                  <a:lnTo>
                    <a:pt x="73" y="191"/>
                  </a:lnTo>
                  <a:lnTo>
                    <a:pt x="61" y="216"/>
                  </a:lnTo>
                  <a:lnTo>
                    <a:pt x="51" y="243"/>
                  </a:lnTo>
                  <a:lnTo>
                    <a:pt x="43" y="271"/>
                  </a:lnTo>
                  <a:lnTo>
                    <a:pt x="39" y="299"/>
                  </a:lnTo>
                  <a:lnTo>
                    <a:pt x="38" y="329"/>
                  </a:lnTo>
                  <a:lnTo>
                    <a:pt x="38" y="329"/>
                  </a:lnTo>
                  <a:lnTo>
                    <a:pt x="39" y="359"/>
                  </a:lnTo>
                  <a:lnTo>
                    <a:pt x="43" y="388"/>
                  </a:lnTo>
                  <a:lnTo>
                    <a:pt x="51" y="416"/>
                  </a:lnTo>
                  <a:lnTo>
                    <a:pt x="61" y="443"/>
                  </a:lnTo>
                  <a:lnTo>
                    <a:pt x="73" y="467"/>
                  </a:lnTo>
                  <a:lnTo>
                    <a:pt x="88" y="492"/>
                  </a:lnTo>
                  <a:lnTo>
                    <a:pt x="105" y="514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71"/>
                  </a:lnTo>
                  <a:lnTo>
                    <a:pt x="191" y="586"/>
                  </a:lnTo>
                  <a:lnTo>
                    <a:pt x="215" y="598"/>
                  </a:lnTo>
                  <a:lnTo>
                    <a:pt x="242" y="607"/>
                  </a:lnTo>
                  <a:lnTo>
                    <a:pt x="270" y="615"/>
                  </a:lnTo>
                  <a:lnTo>
                    <a:pt x="300" y="619"/>
                  </a:lnTo>
                  <a:lnTo>
                    <a:pt x="330" y="621"/>
                  </a:lnTo>
                  <a:lnTo>
                    <a:pt x="330" y="621"/>
                  </a:lnTo>
                  <a:lnTo>
                    <a:pt x="359" y="619"/>
                  </a:lnTo>
                  <a:lnTo>
                    <a:pt x="387" y="615"/>
                  </a:lnTo>
                  <a:lnTo>
                    <a:pt x="416" y="607"/>
                  </a:lnTo>
                  <a:lnTo>
                    <a:pt x="442" y="598"/>
                  </a:lnTo>
                  <a:lnTo>
                    <a:pt x="468" y="586"/>
                  </a:lnTo>
                  <a:lnTo>
                    <a:pt x="492" y="571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4"/>
                  </a:lnTo>
                  <a:lnTo>
                    <a:pt x="570" y="492"/>
                  </a:lnTo>
                  <a:lnTo>
                    <a:pt x="585" y="467"/>
                  </a:lnTo>
                  <a:lnTo>
                    <a:pt x="597" y="443"/>
                  </a:lnTo>
                  <a:lnTo>
                    <a:pt x="608" y="416"/>
                  </a:lnTo>
                  <a:lnTo>
                    <a:pt x="614" y="388"/>
                  </a:lnTo>
                  <a:lnTo>
                    <a:pt x="619" y="359"/>
                  </a:lnTo>
                  <a:lnTo>
                    <a:pt x="621" y="329"/>
                  </a:lnTo>
                  <a:lnTo>
                    <a:pt x="621" y="329"/>
                  </a:lnTo>
                  <a:lnTo>
                    <a:pt x="619" y="299"/>
                  </a:lnTo>
                  <a:lnTo>
                    <a:pt x="614" y="271"/>
                  </a:lnTo>
                  <a:lnTo>
                    <a:pt x="608" y="243"/>
                  </a:lnTo>
                  <a:lnTo>
                    <a:pt x="597" y="216"/>
                  </a:lnTo>
                  <a:lnTo>
                    <a:pt x="585" y="191"/>
                  </a:lnTo>
                  <a:lnTo>
                    <a:pt x="570" y="166"/>
                  </a:lnTo>
                  <a:lnTo>
                    <a:pt x="554" y="144"/>
                  </a:lnTo>
                  <a:lnTo>
                    <a:pt x="535" y="123"/>
                  </a:lnTo>
                  <a:lnTo>
                    <a:pt x="515" y="105"/>
                  </a:lnTo>
                  <a:lnTo>
                    <a:pt x="492" y="88"/>
                  </a:lnTo>
                  <a:lnTo>
                    <a:pt x="468" y="74"/>
                  </a:lnTo>
                  <a:lnTo>
                    <a:pt x="442" y="62"/>
                  </a:lnTo>
                  <a:lnTo>
                    <a:pt x="416" y="51"/>
                  </a:lnTo>
                  <a:lnTo>
                    <a:pt x="387" y="44"/>
                  </a:lnTo>
                  <a:lnTo>
                    <a:pt x="359" y="40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  <p:sp>
          <p:nvSpPr>
            <p:cNvPr id="37" name="Freeform 122">
              <a:extLst>
                <a:ext uri="{FF2B5EF4-FFF2-40B4-BE49-F238E27FC236}">
                  <a16:creationId xmlns:a16="http://schemas.microsoft.com/office/drawing/2014/main" id="{CA49A426-FE0A-433C-9CF3-DEA99DEAC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1913" y="1081723"/>
              <a:ext cx="296863" cy="125413"/>
            </a:xfrm>
            <a:custGeom>
              <a:avLst/>
              <a:gdLst>
                <a:gd name="T0" fmla="*/ 363 w 375"/>
                <a:gd name="T1" fmla="*/ 39 h 157"/>
                <a:gd name="T2" fmla="*/ 355 w 375"/>
                <a:gd name="T3" fmla="*/ 43 h 157"/>
                <a:gd name="T4" fmla="*/ 352 w 375"/>
                <a:gd name="T5" fmla="*/ 47 h 157"/>
                <a:gd name="T6" fmla="*/ 351 w 375"/>
                <a:gd name="T7" fmla="*/ 115 h 157"/>
                <a:gd name="T8" fmla="*/ 348 w 375"/>
                <a:gd name="T9" fmla="*/ 118 h 157"/>
                <a:gd name="T10" fmla="*/ 346 w 375"/>
                <a:gd name="T11" fmla="*/ 110 h 157"/>
                <a:gd name="T12" fmla="*/ 222 w 375"/>
                <a:gd name="T13" fmla="*/ 2 h 157"/>
                <a:gd name="T14" fmla="*/ 214 w 375"/>
                <a:gd name="T15" fmla="*/ 0 h 157"/>
                <a:gd name="T16" fmla="*/ 124 w 375"/>
                <a:gd name="T17" fmla="*/ 0 h 157"/>
                <a:gd name="T18" fmla="*/ 12 w 375"/>
                <a:gd name="T19" fmla="*/ 0 h 157"/>
                <a:gd name="T20" fmla="*/ 4 w 375"/>
                <a:gd name="T21" fmla="*/ 2 h 157"/>
                <a:gd name="T22" fmla="*/ 2 w 375"/>
                <a:gd name="T23" fmla="*/ 6 h 157"/>
                <a:gd name="T24" fmla="*/ 0 w 375"/>
                <a:gd name="T25" fmla="*/ 12 h 157"/>
                <a:gd name="T26" fmla="*/ 4 w 375"/>
                <a:gd name="T27" fmla="*/ 20 h 157"/>
                <a:gd name="T28" fmla="*/ 8 w 375"/>
                <a:gd name="T29" fmla="*/ 22 h 157"/>
                <a:gd name="T30" fmla="*/ 124 w 375"/>
                <a:gd name="T31" fmla="*/ 22 h 157"/>
                <a:gd name="T32" fmla="*/ 210 w 375"/>
                <a:gd name="T33" fmla="*/ 22 h 157"/>
                <a:gd name="T34" fmla="*/ 329 w 375"/>
                <a:gd name="T35" fmla="*/ 127 h 157"/>
                <a:gd name="T36" fmla="*/ 336 w 375"/>
                <a:gd name="T37" fmla="*/ 131 h 157"/>
                <a:gd name="T38" fmla="*/ 264 w 375"/>
                <a:gd name="T39" fmla="*/ 133 h 157"/>
                <a:gd name="T40" fmla="*/ 258 w 375"/>
                <a:gd name="T41" fmla="*/ 134 h 157"/>
                <a:gd name="T42" fmla="*/ 256 w 375"/>
                <a:gd name="T43" fmla="*/ 137 h 157"/>
                <a:gd name="T44" fmla="*/ 251 w 375"/>
                <a:gd name="T45" fmla="*/ 145 h 157"/>
                <a:gd name="T46" fmla="*/ 253 w 375"/>
                <a:gd name="T47" fmla="*/ 149 h 157"/>
                <a:gd name="T48" fmla="*/ 256 w 375"/>
                <a:gd name="T49" fmla="*/ 153 h 157"/>
                <a:gd name="T50" fmla="*/ 264 w 375"/>
                <a:gd name="T51" fmla="*/ 157 h 157"/>
                <a:gd name="T52" fmla="*/ 363 w 375"/>
                <a:gd name="T53" fmla="*/ 157 h 157"/>
                <a:gd name="T54" fmla="*/ 371 w 375"/>
                <a:gd name="T55" fmla="*/ 153 h 157"/>
                <a:gd name="T56" fmla="*/ 374 w 375"/>
                <a:gd name="T57" fmla="*/ 149 h 157"/>
                <a:gd name="T58" fmla="*/ 375 w 375"/>
                <a:gd name="T59" fmla="*/ 51 h 157"/>
                <a:gd name="T60" fmla="*/ 374 w 375"/>
                <a:gd name="T61" fmla="*/ 47 h 157"/>
                <a:gd name="T62" fmla="*/ 367 w 375"/>
                <a:gd name="T63" fmla="*/ 40 h 157"/>
                <a:gd name="T64" fmla="*/ 363 w 375"/>
                <a:gd name="T65" fmla="*/ 3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5" h="157">
                  <a:moveTo>
                    <a:pt x="363" y="39"/>
                  </a:moveTo>
                  <a:lnTo>
                    <a:pt x="363" y="39"/>
                  </a:lnTo>
                  <a:lnTo>
                    <a:pt x="358" y="40"/>
                  </a:lnTo>
                  <a:lnTo>
                    <a:pt x="355" y="43"/>
                  </a:lnTo>
                  <a:lnTo>
                    <a:pt x="355" y="43"/>
                  </a:lnTo>
                  <a:lnTo>
                    <a:pt x="352" y="47"/>
                  </a:lnTo>
                  <a:lnTo>
                    <a:pt x="351" y="51"/>
                  </a:lnTo>
                  <a:lnTo>
                    <a:pt x="351" y="115"/>
                  </a:lnTo>
                  <a:lnTo>
                    <a:pt x="348" y="118"/>
                  </a:lnTo>
                  <a:lnTo>
                    <a:pt x="348" y="118"/>
                  </a:lnTo>
                  <a:lnTo>
                    <a:pt x="348" y="114"/>
                  </a:lnTo>
                  <a:lnTo>
                    <a:pt x="346" y="11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9" y="0"/>
                  </a:lnTo>
                  <a:lnTo>
                    <a:pt x="214" y="0"/>
                  </a:lnTo>
                  <a:lnTo>
                    <a:pt x="153" y="0"/>
                  </a:lnTo>
                  <a:lnTo>
                    <a:pt x="124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8" y="22"/>
                  </a:lnTo>
                  <a:lnTo>
                    <a:pt x="12" y="22"/>
                  </a:lnTo>
                  <a:lnTo>
                    <a:pt x="124" y="22"/>
                  </a:lnTo>
                  <a:lnTo>
                    <a:pt x="124" y="22"/>
                  </a:lnTo>
                  <a:lnTo>
                    <a:pt x="210" y="22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32" y="130"/>
                  </a:lnTo>
                  <a:lnTo>
                    <a:pt x="336" y="131"/>
                  </a:lnTo>
                  <a:lnTo>
                    <a:pt x="333" y="133"/>
                  </a:lnTo>
                  <a:lnTo>
                    <a:pt x="264" y="133"/>
                  </a:lnTo>
                  <a:lnTo>
                    <a:pt x="264" y="133"/>
                  </a:lnTo>
                  <a:lnTo>
                    <a:pt x="258" y="134"/>
                  </a:lnTo>
                  <a:lnTo>
                    <a:pt x="256" y="137"/>
                  </a:lnTo>
                  <a:lnTo>
                    <a:pt x="256" y="137"/>
                  </a:lnTo>
                  <a:lnTo>
                    <a:pt x="253" y="139"/>
                  </a:lnTo>
                  <a:lnTo>
                    <a:pt x="251" y="145"/>
                  </a:lnTo>
                  <a:lnTo>
                    <a:pt x="251" y="145"/>
                  </a:lnTo>
                  <a:lnTo>
                    <a:pt x="253" y="149"/>
                  </a:lnTo>
                  <a:lnTo>
                    <a:pt x="256" y="153"/>
                  </a:lnTo>
                  <a:lnTo>
                    <a:pt x="256" y="153"/>
                  </a:lnTo>
                  <a:lnTo>
                    <a:pt x="258" y="156"/>
                  </a:lnTo>
                  <a:lnTo>
                    <a:pt x="264" y="157"/>
                  </a:lnTo>
                  <a:lnTo>
                    <a:pt x="363" y="157"/>
                  </a:lnTo>
                  <a:lnTo>
                    <a:pt x="363" y="157"/>
                  </a:lnTo>
                  <a:lnTo>
                    <a:pt x="367" y="156"/>
                  </a:lnTo>
                  <a:lnTo>
                    <a:pt x="371" y="153"/>
                  </a:lnTo>
                  <a:lnTo>
                    <a:pt x="371" y="153"/>
                  </a:lnTo>
                  <a:lnTo>
                    <a:pt x="374" y="149"/>
                  </a:lnTo>
                  <a:lnTo>
                    <a:pt x="375" y="145"/>
                  </a:lnTo>
                  <a:lnTo>
                    <a:pt x="375" y="51"/>
                  </a:lnTo>
                  <a:lnTo>
                    <a:pt x="375" y="51"/>
                  </a:lnTo>
                  <a:lnTo>
                    <a:pt x="374" y="47"/>
                  </a:lnTo>
                  <a:lnTo>
                    <a:pt x="371" y="43"/>
                  </a:lnTo>
                  <a:lnTo>
                    <a:pt x="367" y="40"/>
                  </a:lnTo>
                  <a:lnTo>
                    <a:pt x="363" y="39"/>
                  </a:lnTo>
                  <a:lnTo>
                    <a:pt x="363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  <p:sp>
          <p:nvSpPr>
            <p:cNvPr id="38" name="Freeform 123">
              <a:extLst>
                <a:ext uri="{FF2B5EF4-FFF2-40B4-BE49-F238E27FC236}">
                  <a16:creationId xmlns:a16="http://schemas.microsoft.com/office/drawing/2014/main" id="{700E4FAC-A5A9-4AC0-8214-6748DF6C1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651" y="961073"/>
              <a:ext cx="114300" cy="114300"/>
            </a:xfrm>
            <a:custGeom>
              <a:avLst/>
              <a:gdLst>
                <a:gd name="T0" fmla="*/ 144 w 144"/>
                <a:gd name="T1" fmla="*/ 12 h 144"/>
                <a:gd name="T2" fmla="*/ 144 w 144"/>
                <a:gd name="T3" fmla="*/ 12 h 144"/>
                <a:gd name="T4" fmla="*/ 143 w 144"/>
                <a:gd name="T5" fmla="*/ 7 h 144"/>
                <a:gd name="T6" fmla="*/ 141 w 144"/>
                <a:gd name="T7" fmla="*/ 4 h 144"/>
                <a:gd name="T8" fmla="*/ 141 w 144"/>
                <a:gd name="T9" fmla="*/ 4 h 144"/>
                <a:gd name="T10" fmla="*/ 137 w 144"/>
                <a:gd name="T11" fmla="*/ 2 h 144"/>
                <a:gd name="T12" fmla="*/ 132 w 144"/>
                <a:gd name="T13" fmla="*/ 0 h 144"/>
                <a:gd name="T14" fmla="*/ 33 w 144"/>
                <a:gd name="T15" fmla="*/ 0 h 144"/>
                <a:gd name="T16" fmla="*/ 33 w 144"/>
                <a:gd name="T17" fmla="*/ 0 h 144"/>
                <a:gd name="T18" fmla="*/ 29 w 144"/>
                <a:gd name="T19" fmla="*/ 2 h 144"/>
                <a:gd name="T20" fmla="*/ 25 w 144"/>
                <a:gd name="T21" fmla="*/ 4 h 144"/>
                <a:gd name="T22" fmla="*/ 22 w 144"/>
                <a:gd name="T23" fmla="*/ 8 h 144"/>
                <a:gd name="T24" fmla="*/ 21 w 144"/>
                <a:gd name="T25" fmla="*/ 12 h 144"/>
                <a:gd name="T26" fmla="*/ 21 w 144"/>
                <a:gd name="T27" fmla="*/ 12 h 144"/>
                <a:gd name="T28" fmla="*/ 22 w 144"/>
                <a:gd name="T29" fmla="*/ 17 h 144"/>
                <a:gd name="T30" fmla="*/ 25 w 144"/>
                <a:gd name="T31" fmla="*/ 21 h 144"/>
                <a:gd name="T32" fmla="*/ 25 w 144"/>
                <a:gd name="T33" fmla="*/ 21 h 144"/>
                <a:gd name="T34" fmla="*/ 29 w 144"/>
                <a:gd name="T35" fmla="*/ 23 h 144"/>
                <a:gd name="T36" fmla="*/ 33 w 144"/>
                <a:gd name="T37" fmla="*/ 25 h 144"/>
                <a:gd name="T38" fmla="*/ 104 w 144"/>
                <a:gd name="T39" fmla="*/ 25 h 144"/>
                <a:gd name="T40" fmla="*/ 105 w 144"/>
                <a:gd name="T41" fmla="*/ 25 h 144"/>
                <a:gd name="T42" fmla="*/ 105 w 144"/>
                <a:gd name="T43" fmla="*/ 25 h 144"/>
                <a:gd name="T44" fmla="*/ 103 w 144"/>
                <a:gd name="T45" fmla="*/ 26 h 144"/>
                <a:gd name="T46" fmla="*/ 100 w 144"/>
                <a:gd name="T47" fmla="*/ 29 h 144"/>
                <a:gd name="T48" fmla="*/ 0 w 144"/>
                <a:gd name="T49" fmla="*/ 127 h 144"/>
                <a:gd name="T50" fmla="*/ 16 w 144"/>
                <a:gd name="T51" fmla="*/ 144 h 144"/>
                <a:gd name="T52" fmla="*/ 116 w 144"/>
                <a:gd name="T53" fmla="*/ 45 h 144"/>
                <a:gd name="T54" fmla="*/ 116 w 144"/>
                <a:gd name="T55" fmla="*/ 45 h 144"/>
                <a:gd name="T56" fmla="*/ 120 w 144"/>
                <a:gd name="T57" fmla="*/ 39 h 144"/>
                <a:gd name="T58" fmla="*/ 120 w 144"/>
                <a:gd name="T59" fmla="*/ 41 h 144"/>
                <a:gd name="T60" fmla="*/ 120 w 144"/>
                <a:gd name="T61" fmla="*/ 105 h 144"/>
                <a:gd name="T62" fmla="*/ 120 w 144"/>
                <a:gd name="T63" fmla="*/ 105 h 144"/>
                <a:gd name="T64" fmla="*/ 121 w 144"/>
                <a:gd name="T65" fmla="*/ 111 h 144"/>
                <a:gd name="T66" fmla="*/ 124 w 144"/>
                <a:gd name="T67" fmla="*/ 115 h 144"/>
                <a:gd name="T68" fmla="*/ 124 w 144"/>
                <a:gd name="T69" fmla="*/ 115 h 144"/>
                <a:gd name="T70" fmla="*/ 128 w 144"/>
                <a:gd name="T71" fmla="*/ 117 h 144"/>
                <a:gd name="T72" fmla="*/ 132 w 144"/>
                <a:gd name="T73" fmla="*/ 117 h 144"/>
                <a:gd name="T74" fmla="*/ 132 w 144"/>
                <a:gd name="T75" fmla="*/ 117 h 144"/>
                <a:gd name="T76" fmla="*/ 137 w 144"/>
                <a:gd name="T77" fmla="*/ 117 h 144"/>
                <a:gd name="T78" fmla="*/ 141 w 144"/>
                <a:gd name="T79" fmla="*/ 115 h 144"/>
                <a:gd name="T80" fmla="*/ 141 w 144"/>
                <a:gd name="T81" fmla="*/ 115 h 144"/>
                <a:gd name="T82" fmla="*/ 144 w 144"/>
                <a:gd name="T83" fmla="*/ 111 h 144"/>
                <a:gd name="T84" fmla="*/ 144 w 144"/>
                <a:gd name="T85" fmla="*/ 105 h 144"/>
                <a:gd name="T86" fmla="*/ 144 w 144"/>
                <a:gd name="T87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144">
                  <a:moveTo>
                    <a:pt x="144" y="12"/>
                  </a:moveTo>
                  <a:lnTo>
                    <a:pt x="144" y="12"/>
                  </a:lnTo>
                  <a:lnTo>
                    <a:pt x="143" y="7"/>
                  </a:lnTo>
                  <a:lnTo>
                    <a:pt x="141" y="4"/>
                  </a:lnTo>
                  <a:lnTo>
                    <a:pt x="141" y="4"/>
                  </a:lnTo>
                  <a:lnTo>
                    <a:pt x="137" y="2"/>
                  </a:lnTo>
                  <a:lnTo>
                    <a:pt x="132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8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2" y="17"/>
                  </a:lnTo>
                  <a:lnTo>
                    <a:pt x="25" y="21"/>
                  </a:lnTo>
                  <a:lnTo>
                    <a:pt x="25" y="21"/>
                  </a:lnTo>
                  <a:lnTo>
                    <a:pt x="29" y="23"/>
                  </a:lnTo>
                  <a:lnTo>
                    <a:pt x="33" y="25"/>
                  </a:lnTo>
                  <a:lnTo>
                    <a:pt x="104" y="25"/>
                  </a:lnTo>
                  <a:lnTo>
                    <a:pt x="105" y="25"/>
                  </a:lnTo>
                  <a:lnTo>
                    <a:pt x="105" y="25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0" y="127"/>
                  </a:lnTo>
                  <a:lnTo>
                    <a:pt x="16" y="144"/>
                  </a:lnTo>
                  <a:lnTo>
                    <a:pt x="116" y="45"/>
                  </a:lnTo>
                  <a:lnTo>
                    <a:pt x="116" y="45"/>
                  </a:lnTo>
                  <a:lnTo>
                    <a:pt x="120" y="39"/>
                  </a:lnTo>
                  <a:lnTo>
                    <a:pt x="120" y="41"/>
                  </a:lnTo>
                  <a:lnTo>
                    <a:pt x="120" y="105"/>
                  </a:lnTo>
                  <a:lnTo>
                    <a:pt x="120" y="105"/>
                  </a:lnTo>
                  <a:lnTo>
                    <a:pt x="121" y="111"/>
                  </a:lnTo>
                  <a:lnTo>
                    <a:pt x="124" y="115"/>
                  </a:lnTo>
                  <a:lnTo>
                    <a:pt x="124" y="115"/>
                  </a:lnTo>
                  <a:lnTo>
                    <a:pt x="128" y="117"/>
                  </a:lnTo>
                  <a:lnTo>
                    <a:pt x="132" y="117"/>
                  </a:lnTo>
                  <a:lnTo>
                    <a:pt x="132" y="117"/>
                  </a:lnTo>
                  <a:lnTo>
                    <a:pt x="137" y="11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11"/>
                  </a:lnTo>
                  <a:lnTo>
                    <a:pt x="144" y="105"/>
                  </a:lnTo>
                  <a:lnTo>
                    <a:pt x="14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</p:grpSp>
      <p:sp>
        <p:nvSpPr>
          <p:cNvPr id="40" name="Google Shape;492;p8">
            <a:extLst>
              <a:ext uri="{FF2B5EF4-FFF2-40B4-BE49-F238E27FC236}">
                <a16:creationId xmlns:a16="http://schemas.microsoft.com/office/drawing/2014/main" id="{AB537D19-AFA9-43D7-B566-B30C929A9B8F}"/>
              </a:ext>
            </a:extLst>
          </p:cNvPr>
          <p:cNvSpPr txBox="1"/>
          <p:nvPr/>
        </p:nvSpPr>
        <p:spPr>
          <a:xfrm>
            <a:off x="557732" y="3718379"/>
            <a:ext cx="28428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גיבוש תמונת מצב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מדויקת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4A75A5F-C9A4-44FD-A65F-0C0EE3EB4F97}"/>
              </a:ext>
            </a:extLst>
          </p:cNvPr>
          <p:cNvSpPr/>
          <p:nvPr/>
        </p:nvSpPr>
        <p:spPr>
          <a:xfrm>
            <a:off x="4380671" y="1813109"/>
            <a:ext cx="3505001" cy="4927600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solidFill>
              <a:schemeClr val="bg1"/>
            </a:solidFill>
          </a:ln>
          <a:effectLst>
            <a:outerShdw blurRad="495300" dist="50800" dir="5400000" algn="ctr" rotWithShape="0">
              <a:schemeClr val="tx1">
                <a:lumMod val="85000"/>
                <a:lumOff val="1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Google Shape;496;p8">
            <a:extLst>
              <a:ext uri="{FF2B5EF4-FFF2-40B4-BE49-F238E27FC236}">
                <a16:creationId xmlns:a16="http://schemas.microsoft.com/office/drawing/2014/main" id="{0492CB5A-DC3B-424D-9033-9AE321A05CAE}"/>
              </a:ext>
            </a:extLst>
          </p:cNvPr>
          <p:cNvSpPr txBox="1"/>
          <p:nvPr/>
        </p:nvSpPr>
        <p:spPr>
          <a:xfrm>
            <a:off x="4497341" y="4729494"/>
            <a:ext cx="29105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iw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ייעול</a:t>
            </a:r>
            <a:r>
              <a:rPr kumimoji="0" lang="iw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הטיפול באירועי חירום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6" name="Google Shape;499;p8">
            <a:extLst>
              <a:ext uri="{FF2B5EF4-FFF2-40B4-BE49-F238E27FC236}">
                <a16:creationId xmlns:a16="http://schemas.microsoft.com/office/drawing/2014/main" id="{B3936054-5D32-4E6B-81FB-2561E862FC17}"/>
              </a:ext>
            </a:extLst>
          </p:cNvPr>
          <p:cNvSpPr txBox="1"/>
          <p:nvPr/>
        </p:nvSpPr>
        <p:spPr>
          <a:xfrm>
            <a:off x="4715383" y="4193876"/>
            <a:ext cx="269247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זיהוי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, </a:t>
            </a:r>
            <a:r>
              <a:rPr kumimoji="0" lang="iw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תחזי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ו</a:t>
            </a:r>
            <a:r>
              <a:rPr kumimoji="0" lang="iw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ת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והערכת סיכונים</a:t>
            </a:r>
            <a:r>
              <a:rPr kumimoji="0" lang="iw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10" name="Google Shape;496;p8">
            <a:extLst>
              <a:ext uri="{FF2B5EF4-FFF2-40B4-BE49-F238E27FC236}">
                <a16:creationId xmlns:a16="http://schemas.microsoft.com/office/drawing/2014/main" id="{CABBB0B1-E68F-4B21-8F2B-75CE2539A5D5}"/>
              </a:ext>
            </a:extLst>
          </p:cNvPr>
          <p:cNvSpPr txBox="1"/>
          <p:nvPr/>
        </p:nvSpPr>
        <p:spPr>
          <a:xfrm>
            <a:off x="4749011" y="5320578"/>
            <a:ext cx="2658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ניהול יעיל וחסכון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במשאבים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CA590F-C9F0-4BC8-AB58-B8C2D063A8E5}"/>
              </a:ext>
            </a:extLst>
          </p:cNvPr>
          <p:cNvSpPr txBox="1"/>
          <p:nvPr/>
        </p:nvSpPr>
        <p:spPr>
          <a:xfrm>
            <a:off x="5563364" y="2776824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אפקטיביות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7D59023-F7CB-48D5-9B1C-7BAC446CEC52}"/>
              </a:ext>
            </a:extLst>
          </p:cNvPr>
          <p:cNvGrpSpPr>
            <a:grpSpLocks noChangeAspect="1"/>
          </p:cNvGrpSpPr>
          <p:nvPr/>
        </p:nvGrpSpPr>
        <p:grpSpPr>
          <a:xfrm>
            <a:off x="5872027" y="2156850"/>
            <a:ext cx="522288" cy="522288"/>
            <a:chOff x="6716713" y="4183698"/>
            <a:chExt cx="522288" cy="522288"/>
          </a:xfrm>
          <a:solidFill>
            <a:schemeClr val="accent1"/>
          </a:solidFill>
        </p:grpSpPr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4A4EB02C-DCF5-45C0-906A-282084E2A3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6713" y="4183698"/>
              <a:ext cx="522288" cy="522288"/>
            </a:xfrm>
            <a:custGeom>
              <a:avLst/>
              <a:gdLst>
                <a:gd name="T0" fmla="*/ 312 w 657"/>
                <a:gd name="T1" fmla="*/ 657 h 657"/>
                <a:gd name="T2" fmla="*/ 262 w 657"/>
                <a:gd name="T3" fmla="*/ 650 h 657"/>
                <a:gd name="T4" fmla="*/ 200 w 657"/>
                <a:gd name="T5" fmla="*/ 632 h 657"/>
                <a:gd name="T6" fmla="*/ 120 w 657"/>
                <a:gd name="T7" fmla="*/ 582 h 657"/>
                <a:gd name="T8" fmla="*/ 57 w 657"/>
                <a:gd name="T9" fmla="*/ 512 h 657"/>
                <a:gd name="T10" fmla="*/ 15 w 657"/>
                <a:gd name="T11" fmla="*/ 426 h 657"/>
                <a:gd name="T12" fmla="*/ 4 w 657"/>
                <a:gd name="T13" fmla="*/ 379 h 657"/>
                <a:gd name="T14" fmla="*/ 0 w 657"/>
                <a:gd name="T15" fmla="*/ 328 h 657"/>
                <a:gd name="T16" fmla="*/ 2 w 657"/>
                <a:gd name="T17" fmla="*/ 294 h 657"/>
                <a:gd name="T18" fmla="*/ 10 w 657"/>
                <a:gd name="T19" fmla="*/ 246 h 657"/>
                <a:gd name="T20" fmla="*/ 39 w 657"/>
                <a:gd name="T21" fmla="*/ 172 h 657"/>
                <a:gd name="T22" fmla="*/ 96 w 657"/>
                <a:gd name="T23" fmla="*/ 95 h 657"/>
                <a:gd name="T24" fmla="*/ 172 w 657"/>
                <a:gd name="T25" fmla="*/ 39 h 657"/>
                <a:gd name="T26" fmla="*/ 246 w 657"/>
                <a:gd name="T27" fmla="*/ 9 h 657"/>
                <a:gd name="T28" fmla="*/ 295 w 657"/>
                <a:gd name="T29" fmla="*/ 1 h 657"/>
                <a:gd name="T30" fmla="*/ 328 w 657"/>
                <a:gd name="T31" fmla="*/ 0 h 657"/>
                <a:gd name="T32" fmla="*/ 379 w 657"/>
                <a:gd name="T33" fmla="*/ 4 h 657"/>
                <a:gd name="T34" fmla="*/ 426 w 657"/>
                <a:gd name="T35" fmla="*/ 15 h 657"/>
                <a:gd name="T36" fmla="*/ 512 w 657"/>
                <a:gd name="T37" fmla="*/ 56 h 657"/>
                <a:gd name="T38" fmla="*/ 582 w 657"/>
                <a:gd name="T39" fmla="*/ 119 h 657"/>
                <a:gd name="T40" fmla="*/ 632 w 657"/>
                <a:gd name="T41" fmla="*/ 200 h 657"/>
                <a:gd name="T42" fmla="*/ 651 w 657"/>
                <a:gd name="T43" fmla="*/ 262 h 657"/>
                <a:gd name="T44" fmla="*/ 657 w 657"/>
                <a:gd name="T45" fmla="*/ 312 h 657"/>
                <a:gd name="T46" fmla="*/ 657 w 657"/>
                <a:gd name="T47" fmla="*/ 345 h 657"/>
                <a:gd name="T48" fmla="*/ 651 w 657"/>
                <a:gd name="T49" fmla="*/ 395 h 657"/>
                <a:gd name="T50" fmla="*/ 632 w 657"/>
                <a:gd name="T51" fmla="*/ 457 h 657"/>
                <a:gd name="T52" fmla="*/ 582 w 657"/>
                <a:gd name="T53" fmla="*/ 537 h 657"/>
                <a:gd name="T54" fmla="*/ 512 w 657"/>
                <a:gd name="T55" fmla="*/ 601 h 657"/>
                <a:gd name="T56" fmla="*/ 426 w 657"/>
                <a:gd name="T57" fmla="*/ 642 h 657"/>
                <a:gd name="T58" fmla="*/ 379 w 657"/>
                <a:gd name="T59" fmla="*/ 653 h 657"/>
                <a:gd name="T60" fmla="*/ 328 w 657"/>
                <a:gd name="T61" fmla="*/ 657 h 657"/>
                <a:gd name="T62" fmla="*/ 328 w 657"/>
                <a:gd name="T63" fmla="*/ 37 h 657"/>
                <a:gd name="T64" fmla="*/ 242 w 657"/>
                <a:gd name="T65" fmla="*/ 50 h 657"/>
                <a:gd name="T66" fmla="*/ 166 w 657"/>
                <a:gd name="T67" fmla="*/ 87 h 657"/>
                <a:gd name="T68" fmla="*/ 104 w 657"/>
                <a:gd name="T69" fmla="*/ 144 h 657"/>
                <a:gd name="T70" fmla="*/ 61 w 657"/>
                <a:gd name="T71" fmla="*/ 215 h 657"/>
                <a:gd name="T72" fmla="*/ 39 w 657"/>
                <a:gd name="T73" fmla="*/ 298 h 657"/>
                <a:gd name="T74" fmla="*/ 39 w 657"/>
                <a:gd name="T75" fmla="*/ 359 h 657"/>
                <a:gd name="T76" fmla="*/ 61 w 657"/>
                <a:gd name="T77" fmla="*/ 442 h 657"/>
                <a:gd name="T78" fmla="*/ 104 w 657"/>
                <a:gd name="T79" fmla="*/ 513 h 657"/>
                <a:gd name="T80" fmla="*/ 166 w 657"/>
                <a:gd name="T81" fmla="*/ 570 h 657"/>
                <a:gd name="T82" fmla="*/ 242 w 657"/>
                <a:gd name="T83" fmla="*/ 606 h 657"/>
                <a:gd name="T84" fmla="*/ 328 w 657"/>
                <a:gd name="T85" fmla="*/ 619 h 657"/>
                <a:gd name="T86" fmla="*/ 387 w 657"/>
                <a:gd name="T87" fmla="*/ 614 h 657"/>
                <a:gd name="T88" fmla="*/ 468 w 657"/>
                <a:gd name="T89" fmla="*/ 585 h 657"/>
                <a:gd name="T90" fmla="*/ 535 w 657"/>
                <a:gd name="T91" fmla="*/ 535 h 657"/>
                <a:gd name="T92" fmla="*/ 585 w 657"/>
                <a:gd name="T93" fmla="*/ 468 h 657"/>
                <a:gd name="T94" fmla="*/ 614 w 657"/>
                <a:gd name="T95" fmla="*/ 387 h 657"/>
                <a:gd name="T96" fmla="*/ 620 w 657"/>
                <a:gd name="T97" fmla="*/ 328 h 657"/>
                <a:gd name="T98" fmla="*/ 606 w 657"/>
                <a:gd name="T99" fmla="*/ 242 h 657"/>
                <a:gd name="T100" fmla="*/ 570 w 657"/>
                <a:gd name="T101" fmla="*/ 165 h 657"/>
                <a:gd name="T102" fmla="*/ 514 w 657"/>
                <a:gd name="T103" fmla="*/ 103 h 657"/>
                <a:gd name="T104" fmla="*/ 442 w 657"/>
                <a:gd name="T105" fmla="*/ 60 h 657"/>
                <a:gd name="T106" fmla="*/ 359 w 657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7">
                  <a:moveTo>
                    <a:pt x="328" y="657"/>
                  </a:moveTo>
                  <a:lnTo>
                    <a:pt x="328" y="657"/>
                  </a:lnTo>
                  <a:lnTo>
                    <a:pt x="312" y="657"/>
                  </a:lnTo>
                  <a:lnTo>
                    <a:pt x="295" y="656"/>
                  </a:lnTo>
                  <a:lnTo>
                    <a:pt x="278" y="653"/>
                  </a:lnTo>
                  <a:lnTo>
                    <a:pt x="262" y="650"/>
                  </a:lnTo>
                  <a:lnTo>
                    <a:pt x="246" y="646"/>
                  </a:lnTo>
                  <a:lnTo>
                    <a:pt x="231" y="642"/>
                  </a:lnTo>
                  <a:lnTo>
                    <a:pt x="200" y="632"/>
                  </a:lnTo>
                  <a:lnTo>
                    <a:pt x="172" y="618"/>
                  </a:lnTo>
                  <a:lnTo>
                    <a:pt x="145" y="601"/>
                  </a:lnTo>
                  <a:lnTo>
                    <a:pt x="120" y="582"/>
                  </a:lnTo>
                  <a:lnTo>
                    <a:pt x="96" y="560"/>
                  </a:lnTo>
                  <a:lnTo>
                    <a:pt x="75" y="537"/>
                  </a:lnTo>
                  <a:lnTo>
                    <a:pt x="57" y="512"/>
                  </a:lnTo>
                  <a:lnTo>
                    <a:pt x="39" y="485"/>
                  </a:lnTo>
                  <a:lnTo>
                    <a:pt x="26" y="457"/>
                  </a:lnTo>
                  <a:lnTo>
                    <a:pt x="15" y="426"/>
                  </a:lnTo>
                  <a:lnTo>
                    <a:pt x="10" y="411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2" y="361"/>
                  </a:lnTo>
                  <a:lnTo>
                    <a:pt x="0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0" y="246"/>
                  </a:lnTo>
                  <a:lnTo>
                    <a:pt x="15" y="231"/>
                  </a:lnTo>
                  <a:lnTo>
                    <a:pt x="26" y="200"/>
                  </a:lnTo>
                  <a:lnTo>
                    <a:pt x="39" y="172"/>
                  </a:lnTo>
                  <a:lnTo>
                    <a:pt x="57" y="145"/>
                  </a:lnTo>
                  <a:lnTo>
                    <a:pt x="75" y="119"/>
                  </a:lnTo>
                  <a:lnTo>
                    <a:pt x="96" y="95"/>
                  </a:lnTo>
                  <a:lnTo>
                    <a:pt x="120" y="75"/>
                  </a:lnTo>
                  <a:lnTo>
                    <a:pt x="145" y="56"/>
                  </a:lnTo>
                  <a:lnTo>
                    <a:pt x="172" y="39"/>
                  </a:lnTo>
                  <a:lnTo>
                    <a:pt x="200" y="25"/>
                  </a:lnTo>
                  <a:lnTo>
                    <a:pt x="231" y="15"/>
                  </a:lnTo>
                  <a:lnTo>
                    <a:pt x="246" y="9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1"/>
                  </a:lnTo>
                  <a:lnTo>
                    <a:pt x="312" y="0"/>
                  </a:lnTo>
                  <a:lnTo>
                    <a:pt x="328" y="0"/>
                  </a:lnTo>
                  <a:lnTo>
                    <a:pt x="328" y="0"/>
                  </a:lnTo>
                  <a:lnTo>
                    <a:pt x="346" y="0"/>
                  </a:lnTo>
                  <a:lnTo>
                    <a:pt x="362" y="1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1" y="9"/>
                  </a:lnTo>
                  <a:lnTo>
                    <a:pt x="426" y="15"/>
                  </a:lnTo>
                  <a:lnTo>
                    <a:pt x="457" y="25"/>
                  </a:lnTo>
                  <a:lnTo>
                    <a:pt x="485" y="39"/>
                  </a:lnTo>
                  <a:lnTo>
                    <a:pt x="512" y="56"/>
                  </a:lnTo>
                  <a:lnTo>
                    <a:pt x="538" y="75"/>
                  </a:lnTo>
                  <a:lnTo>
                    <a:pt x="561" y="95"/>
                  </a:lnTo>
                  <a:lnTo>
                    <a:pt x="582" y="119"/>
                  </a:lnTo>
                  <a:lnTo>
                    <a:pt x="601" y="145"/>
                  </a:lnTo>
                  <a:lnTo>
                    <a:pt x="618" y="172"/>
                  </a:lnTo>
                  <a:lnTo>
                    <a:pt x="632" y="200"/>
                  </a:lnTo>
                  <a:lnTo>
                    <a:pt x="643" y="231"/>
                  </a:lnTo>
                  <a:lnTo>
                    <a:pt x="648" y="246"/>
                  </a:lnTo>
                  <a:lnTo>
                    <a:pt x="651" y="262"/>
                  </a:lnTo>
                  <a:lnTo>
                    <a:pt x="653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328"/>
                  </a:lnTo>
                  <a:lnTo>
                    <a:pt x="657" y="345"/>
                  </a:lnTo>
                  <a:lnTo>
                    <a:pt x="656" y="361"/>
                  </a:lnTo>
                  <a:lnTo>
                    <a:pt x="653" y="379"/>
                  </a:lnTo>
                  <a:lnTo>
                    <a:pt x="651" y="395"/>
                  </a:lnTo>
                  <a:lnTo>
                    <a:pt x="648" y="411"/>
                  </a:lnTo>
                  <a:lnTo>
                    <a:pt x="643" y="426"/>
                  </a:lnTo>
                  <a:lnTo>
                    <a:pt x="632" y="457"/>
                  </a:lnTo>
                  <a:lnTo>
                    <a:pt x="618" y="485"/>
                  </a:lnTo>
                  <a:lnTo>
                    <a:pt x="601" y="512"/>
                  </a:lnTo>
                  <a:lnTo>
                    <a:pt x="582" y="537"/>
                  </a:lnTo>
                  <a:lnTo>
                    <a:pt x="561" y="560"/>
                  </a:lnTo>
                  <a:lnTo>
                    <a:pt x="538" y="582"/>
                  </a:lnTo>
                  <a:lnTo>
                    <a:pt x="512" y="601"/>
                  </a:lnTo>
                  <a:lnTo>
                    <a:pt x="485" y="618"/>
                  </a:lnTo>
                  <a:lnTo>
                    <a:pt x="457" y="632"/>
                  </a:lnTo>
                  <a:lnTo>
                    <a:pt x="426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2" y="656"/>
                  </a:lnTo>
                  <a:lnTo>
                    <a:pt x="346" y="657"/>
                  </a:lnTo>
                  <a:lnTo>
                    <a:pt x="328" y="657"/>
                  </a:lnTo>
                  <a:lnTo>
                    <a:pt x="328" y="657"/>
                  </a:lnTo>
                  <a:close/>
                  <a:moveTo>
                    <a:pt x="328" y="37"/>
                  </a:moveTo>
                  <a:lnTo>
                    <a:pt x="328" y="37"/>
                  </a:lnTo>
                  <a:lnTo>
                    <a:pt x="299" y="39"/>
                  </a:lnTo>
                  <a:lnTo>
                    <a:pt x="270" y="43"/>
                  </a:lnTo>
                  <a:lnTo>
                    <a:pt x="242" y="50"/>
                  </a:lnTo>
                  <a:lnTo>
                    <a:pt x="215" y="60"/>
                  </a:lnTo>
                  <a:lnTo>
                    <a:pt x="190" y="72"/>
                  </a:lnTo>
                  <a:lnTo>
                    <a:pt x="166" y="87"/>
                  </a:lnTo>
                  <a:lnTo>
                    <a:pt x="144" y="103"/>
                  </a:lnTo>
                  <a:lnTo>
                    <a:pt x="123" y="122"/>
                  </a:lnTo>
                  <a:lnTo>
                    <a:pt x="104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0" y="242"/>
                  </a:lnTo>
                  <a:lnTo>
                    <a:pt x="43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9"/>
                  </a:lnTo>
                  <a:lnTo>
                    <a:pt x="43" y="387"/>
                  </a:lnTo>
                  <a:lnTo>
                    <a:pt x="50" y="415"/>
                  </a:lnTo>
                  <a:lnTo>
                    <a:pt x="61" y="442"/>
                  </a:lnTo>
                  <a:lnTo>
                    <a:pt x="73" y="468"/>
                  </a:lnTo>
                  <a:lnTo>
                    <a:pt x="88" y="492"/>
                  </a:lnTo>
                  <a:lnTo>
                    <a:pt x="104" y="513"/>
                  </a:lnTo>
                  <a:lnTo>
                    <a:pt x="123" y="535"/>
                  </a:lnTo>
                  <a:lnTo>
                    <a:pt x="144" y="554"/>
                  </a:lnTo>
                  <a:lnTo>
                    <a:pt x="166" y="570"/>
                  </a:lnTo>
                  <a:lnTo>
                    <a:pt x="190" y="585"/>
                  </a:lnTo>
                  <a:lnTo>
                    <a:pt x="215" y="597"/>
                  </a:lnTo>
                  <a:lnTo>
                    <a:pt x="242" y="606"/>
                  </a:lnTo>
                  <a:lnTo>
                    <a:pt x="270" y="614"/>
                  </a:lnTo>
                  <a:lnTo>
                    <a:pt x="299" y="618"/>
                  </a:lnTo>
                  <a:lnTo>
                    <a:pt x="328" y="619"/>
                  </a:lnTo>
                  <a:lnTo>
                    <a:pt x="328" y="619"/>
                  </a:lnTo>
                  <a:lnTo>
                    <a:pt x="359" y="618"/>
                  </a:lnTo>
                  <a:lnTo>
                    <a:pt x="387" y="614"/>
                  </a:lnTo>
                  <a:lnTo>
                    <a:pt x="415" y="606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4" y="554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0" y="492"/>
                  </a:lnTo>
                  <a:lnTo>
                    <a:pt x="585" y="468"/>
                  </a:lnTo>
                  <a:lnTo>
                    <a:pt x="597" y="442"/>
                  </a:lnTo>
                  <a:lnTo>
                    <a:pt x="606" y="415"/>
                  </a:lnTo>
                  <a:lnTo>
                    <a:pt x="614" y="387"/>
                  </a:lnTo>
                  <a:lnTo>
                    <a:pt x="618" y="359"/>
                  </a:lnTo>
                  <a:lnTo>
                    <a:pt x="620" y="328"/>
                  </a:lnTo>
                  <a:lnTo>
                    <a:pt x="620" y="328"/>
                  </a:lnTo>
                  <a:lnTo>
                    <a:pt x="618" y="298"/>
                  </a:lnTo>
                  <a:lnTo>
                    <a:pt x="614" y="270"/>
                  </a:lnTo>
                  <a:lnTo>
                    <a:pt x="606" y="242"/>
                  </a:lnTo>
                  <a:lnTo>
                    <a:pt x="597" y="215"/>
                  </a:lnTo>
                  <a:lnTo>
                    <a:pt x="585" y="189"/>
                  </a:lnTo>
                  <a:lnTo>
                    <a:pt x="570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4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50"/>
                  </a:lnTo>
                  <a:lnTo>
                    <a:pt x="387" y="43"/>
                  </a:lnTo>
                  <a:lnTo>
                    <a:pt x="359" y="39"/>
                  </a:lnTo>
                  <a:lnTo>
                    <a:pt x="328" y="37"/>
                  </a:lnTo>
                  <a:lnTo>
                    <a:pt x="328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  <p:sp>
          <p:nvSpPr>
            <p:cNvPr id="27" name="Freeform 216">
              <a:extLst>
                <a:ext uri="{FF2B5EF4-FFF2-40B4-BE49-F238E27FC236}">
                  <a16:creationId xmlns:a16="http://schemas.microsoft.com/office/drawing/2014/main" id="{00A7B78C-623C-4CED-9FA4-FDF2744B22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1013" y="4294823"/>
              <a:ext cx="296863" cy="298450"/>
            </a:xfrm>
            <a:custGeom>
              <a:avLst/>
              <a:gdLst>
                <a:gd name="T0" fmla="*/ 321 w 374"/>
                <a:gd name="T1" fmla="*/ 151 h 375"/>
                <a:gd name="T2" fmla="*/ 336 w 374"/>
                <a:gd name="T3" fmla="*/ 81 h 375"/>
                <a:gd name="T4" fmla="*/ 336 w 374"/>
                <a:gd name="T5" fmla="*/ 73 h 375"/>
                <a:gd name="T6" fmla="*/ 298 w 374"/>
                <a:gd name="T7" fmla="*/ 36 h 375"/>
                <a:gd name="T8" fmla="*/ 255 w 374"/>
                <a:gd name="T9" fmla="*/ 67 h 375"/>
                <a:gd name="T10" fmla="*/ 216 w 374"/>
                <a:gd name="T11" fmla="*/ 5 h 375"/>
                <a:gd name="T12" fmla="*/ 211 w 374"/>
                <a:gd name="T13" fmla="*/ 0 h 375"/>
                <a:gd name="T14" fmla="*/ 159 w 374"/>
                <a:gd name="T15" fmla="*/ 1 h 375"/>
                <a:gd name="T16" fmla="*/ 151 w 374"/>
                <a:gd name="T17" fmla="*/ 54 h 375"/>
                <a:gd name="T18" fmla="*/ 79 w 374"/>
                <a:gd name="T19" fmla="*/ 38 h 375"/>
                <a:gd name="T20" fmla="*/ 71 w 374"/>
                <a:gd name="T21" fmla="*/ 38 h 375"/>
                <a:gd name="T22" fmla="*/ 35 w 374"/>
                <a:gd name="T23" fmla="*/ 77 h 375"/>
                <a:gd name="T24" fmla="*/ 66 w 374"/>
                <a:gd name="T25" fmla="*/ 118 h 375"/>
                <a:gd name="T26" fmla="*/ 5 w 374"/>
                <a:gd name="T27" fmla="*/ 157 h 375"/>
                <a:gd name="T28" fmla="*/ 0 w 374"/>
                <a:gd name="T29" fmla="*/ 163 h 375"/>
                <a:gd name="T30" fmla="*/ 1 w 374"/>
                <a:gd name="T31" fmla="*/ 215 h 375"/>
                <a:gd name="T32" fmla="*/ 52 w 374"/>
                <a:gd name="T33" fmla="*/ 224 h 375"/>
                <a:gd name="T34" fmla="*/ 36 w 374"/>
                <a:gd name="T35" fmla="*/ 294 h 375"/>
                <a:gd name="T36" fmla="*/ 38 w 374"/>
                <a:gd name="T37" fmla="*/ 302 h 375"/>
                <a:gd name="T38" fmla="*/ 74 w 374"/>
                <a:gd name="T39" fmla="*/ 339 h 375"/>
                <a:gd name="T40" fmla="*/ 79 w 374"/>
                <a:gd name="T41" fmla="*/ 337 h 375"/>
                <a:gd name="T42" fmla="*/ 133 w 374"/>
                <a:gd name="T43" fmla="*/ 316 h 375"/>
                <a:gd name="T44" fmla="*/ 156 w 374"/>
                <a:gd name="T45" fmla="*/ 370 h 375"/>
                <a:gd name="T46" fmla="*/ 211 w 374"/>
                <a:gd name="T47" fmla="*/ 375 h 375"/>
                <a:gd name="T48" fmla="*/ 216 w 374"/>
                <a:gd name="T49" fmla="*/ 370 h 375"/>
                <a:gd name="T50" fmla="*/ 239 w 374"/>
                <a:gd name="T51" fmla="*/ 316 h 375"/>
                <a:gd name="T52" fmla="*/ 294 w 374"/>
                <a:gd name="T53" fmla="*/ 337 h 375"/>
                <a:gd name="T54" fmla="*/ 300 w 374"/>
                <a:gd name="T55" fmla="*/ 339 h 375"/>
                <a:gd name="T56" fmla="*/ 336 w 374"/>
                <a:gd name="T57" fmla="*/ 302 h 375"/>
                <a:gd name="T58" fmla="*/ 308 w 374"/>
                <a:gd name="T59" fmla="*/ 257 h 375"/>
                <a:gd name="T60" fmla="*/ 321 w 374"/>
                <a:gd name="T61" fmla="*/ 224 h 375"/>
                <a:gd name="T62" fmla="*/ 372 w 374"/>
                <a:gd name="T63" fmla="*/ 215 h 375"/>
                <a:gd name="T64" fmla="*/ 374 w 374"/>
                <a:gd name="T65" fmla="*/ 163 h 375"/>
                <a:gd name="T66" fmla="*/ 368 w 374"/>
                <a:gd name="T67" fmla="*/ 157 h 375"/>
                <a:gd name="T68" fmla="*/ 179 w 374"/>
                <a:gd name="T69" fmla="*/ 266 h 375"/>
                <a:gd name="T70" fmla="*/ 142 w 374"/>
                <a:gd name="T71" fmla="*/ 254 h 375"/>
                <a:gd name="T72" fmla="*/ 113 w 374"/>
                <a:gd name="T73" fmla="*/ 219 h 375"/>
                <a:gd name="T74" fmla="*/ 108 w 374"/>
                <a:gd name="T75" fmla="*/ 187 h 375"/>
                <a:gd name="T76" fmla="*/ 109 w 374"/>
                <a:gd name="T77" fmla="*/ 171 h 375"/>
                <a:gd name="T78" fmla="*/ 130 w 374"/>
                <a:gd name="T79" fmla="*/ 132 h 375"/>
                <a:gd name="T80" fmla="*/ 171 w 374"/>
                <a:gd name="T81" fmla="*/ 109 h 375"/>
                <a:gd name="T82" fmla="*/ 187 w 374"/>
                <a:gd name="T83" fmla="*/ 108 h 375"/>
                <a:gd name="T84" fmla="*/ 218 w 374"/>
                <a:gd name="T85" fmla="*/ 114 h 375"/>
                <a:gd name="T86" fmla="*/ 253 w 374"/>
                <a:gd name="T87" fmla="*/ 142 h 375"/>
                <a:gd name="T88" fmla="*/ 266 w 374"/>
                <a:gd name="T89" fmla="*/ 179 h 375"/>
                <a:gd name="T90" fmla="*/ 266 w 374"/>
                <a:gd name="T91" fmla="*/ 196 h 375"/>
                <a:gd name="T92" fmla="*/ 253 w 374"/>
                <a:gd name="T93" fmla="*/ 233 h 375"/>
                <a:gd name="T94" fmla="*/ 218 w 374"/>
                <a:gd name="T95" fmla="*/ 261 h 375"/>
                <a:gd name="T96" fmla="*/ 187 w 374"/>
                <a:gd name="T97" fmla="*/ 267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4" h="375">
                  <a:moveTo>
                    <a:pt x="368" y="157"/>
                  </a:moveTo>
                  <a:lnTo>
                    <a:pt x="321" y="151"/>
                  </a:lnTo>
                  <a:lnTo>
                    <a:pt x="321" y="151"/>
                  </a:lnTo>
                  <a:lnTo>
                    <a:pt x="314" y="134"/>
                  </a:lnTo>
                  <a:lnTo>
                    <a:pt x="308" y="118"/>
                  </a:lnTo>
                  <a:lnTo>
                    <a:pt x="336" y="81"/>
                  </a:lnTo>
                  <a:lnTo>
                    <a:pt x="336" y="81"/>
                  </a:lnTo>
                  <a:lnTo>
                    <a:pt x="337" y="77"/>
                  </a:lnTo>
                  <a:lnTo>
                    <a:pt x="336" y="73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298" y="36"/>
                  </a:lnTo>
                  <a:lnTo>
                    <a:pt x="294" y="38"/>
                  </a:lnTo>
                  <a:lnTo>
                    <a:pt x="255" y="67"/>
                  </a:lnTo>
                  <a:lnTo>
                    <a:pt x="255" y="67"/>
                  </a:lnTo>
                  <a:lnTo>
                    <a:pt x="239" y="59"/>
                  </a:lnTo>
                  <a:lnTo>
                    <a:pt x="223" y="54"/>
                  </a:lnTo>
                  <a:lnTo>
                    <a:pt x="216" y="5"/>
                  </a:lnTo>
                  <a:lnTo>
                    <a:pt x="216" y="5"/>
                  </a:lnTo>
                  <a:lnTo>
                    <a:pt x="215" y="1"/>
                  </a:lnTo>
                  <a:lnTo>
                    <a:pt x="211" y="0"/>
                  </a:lnTo>
                  <a:lnTo>
                    <a:pt x="163" y="0"/>
                  </a:lnTo>
                  <a:lnTo>
                    <a:pt x="163" y="0"/>
                  </a:lnTo>
                  <a:lnTo>
                    <a:pt x="159" y="1"/>
                  </a:lnTo>
                  <a:lnTo>
                    <a:pt x="156" y="5"/>
                  </a:lnTo>
                  <a:lnTo>
                    <a:pt x="151" y="54"/>
                  </a:lnTo>
                  <a:lnTo>
                    <a:pt x="151" y="54"/>
                  </a:lnTo>
                  <a:lnTo>
                    <a:pt x="133" y="59"/>
                  </a:lnTo>
                  <a:lnTo>
                    <a:pt x="118" y="67"/>
                  </a:lnTo>
                  <a:lnTo>
                    <a:pt x="79" y="38"/>
                  </a:lnTo>
                  <a:lnTo>
                    <a:pt x="79" y="38"/>
                  </a:lnTo>
                  <a:lnTo>
                    <a:pt x="75" y="36"/>
                  </a:lnTo>
                  <a:lnTo>
                    <a:pt x="71" y="38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35" y="77"/>
                  </a:lnTo>
                  <a:lnTo>
                    <a:pt x="36" y="81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58" y="134"/>
                  </a:lnTo>
                  <a:lnTo>
                    <a:pt x="52" y="151"/>
                  </a:lnTo>
                  <a:lnTo>
                    <a:pt x="5" y="157"/>
                  </a:lnTo>
                  <a:lnTo>
                    <a:pt x="5" y="157"/>
                  </a:lnTo>
                  <a:lnTo>
                    <a:pt x="1" y="160"/>
                  </a:lnTo>
                  <a:lnTo>
                    <a:pt x="0" y="163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" y="215"/>
                  </a:lnTo>
                  <a:lnTo>
                    <a:pt x="5" y="218"/>
                  </a:lnTo>
                  <a:lnTo>
                    <a:pt x="52" y="224"/>
                  </a:lnTo>
                  <a:lnTo>
                    <a:pt x="52" y="224"/>
                  </a:lnTo>
                  <a:lnTo>
                    <a:pt x="58" y="241"/>
                  </a:lnTo>
                  <a:lnTo>
                    <a:pt x="66" y="257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5" y="298"/>
                  </a:lnTo>
                  <a:lnTo>
                    <a:pt x="38" y="302"/>
                  </a:lnTo>
                  <a:lnTo>
                    <a:pt x="71" y="337"/>
                  </a:lnTo>
                  <a:lnTo>
                    <a:pt x="71" y="337"/>
                  </a:lnTo>
                  <a:lnTo>
                    <a:pt x="74" y="339"/>
                  </a:lnTo>
                  <a:lnTo>
                    <a:pt x="75" y="339"/>
                  </a:lnTo>
                  <a:lnTo>
                    <a:pt x="75" y="339"/>
                  </a:lnTo>
                  <a:lnTo>
                    <a:pt x="79" y="337"/>
                  </a:lnTo>
                  <a:lnTo>
                    <a:pt x="118" y="308"/>
                  </a:lnTo>
                  <a:lnTo>
                    <a:pt x="118" y="308"/>
                  </a:lnTo>
                  <a:lnTo>
                    <a:pt x="133" y="316"/>
                  </a:lnTo>
                  <a:lnTo>
                    <a:pt x="151" y="321"/>
                  </a:lnTo>
                  <a:lnTo>
                    <a:pt x="156" y="370"/>
                  </a:lnTo>
                  <a:lnTo>
                    <a:pt x="156" y="370"/>
                  </a:lnTo>
                  <a:lnTo>
                    <a:pt x="159" y="374"/>
                  </a:lnTo>
                  <a:lnTo>
                    <a:pt x="163" y="375"/>
                  </a:lnTo>
                  <a:lnTo>
                    <a:pt x="211" y="375"/>
                  </a:lnTo>
                  <a:lnTo>
                    <a:pt x="211" y="375"/>
                  </a:lnTo>
                  <a:lnTo>
                    <a:pt x="215" y="374"/>
                  </a:lnTo>
                  <a:lnTo>
                    <a:pt x="216" y="370"/>
                  </a:lnTo>
                  <a:lnTo>
                    <a:pt x="223" y="321"/>
                  </a:lnTo>
                  <a:lnTo>
                    <a:pt x="223" y="321"/>
                  </a:lnTo>
                  <a:lnTo>
                    <a:pt x="239" y="316"/>
                  </a:lnTo>
                  <a:lnTo>
                    <a:pt x="255" y="308"/>
                  </a:lnTo>
                  <a:lnTo>
                    <a:pt x="294" y="337"/>
                  </a:lnTo>
                  <a:lnTo>
                    <a:pt x="294" y="337"/>
                  </a:lnTo>
                  <a:lnTo>
                    <a:pt x="297" y="339"/>
                  </a:lnTo>
                  <a:lnTo>
                    <a:pt x="297" y="339"/>
                  </a:lnTo>
                  <a:lnTo>
                    <a:pt x="300" y="339"/>
                  </a:lnTo>
                  <a:lnTo>
                    <a:pt x="302" y="337"/>
                  </a:lnTo>
                  <a:lnTo>
                    <a:pt x="336" y="302"/>
                  </a:lnTo>
                  <a:lnTo>
                    <a:pt x="336" y="302"/>
                  </a:lnTo>
                  <a:lnTo>
                    <a:pt x="337" y="298"/>
                  </a:lnTo>
                  <a:lnTo>
                    <a:pt x="336" y="294"/>
                  </a:lnTo>
                  <a:lnTo>
                    <a:pt x="308" y="257"/>
                  </a:lnTo>
                  <a:lnTo>
                    <a:pt x="308" y="257"/>
                  </a:lnTo>
                  <a:lnTo>
                    <a:pt x="314" y="241"/>
                  </a:lnTo>
                  <a:lnTo>
                    <a:pt x="321" y="224"/>
                  </a:lnTo>
                  <a:lnTo>
                    <a:pt x="368" y="218"/>
                  </a:lnTo>
                  <a:lnTo>
                    <a:pt x="368" y="218"/>
                  </a:lnTo>
                  <a:lnTo>
                    <a:pt x="372" y="215"/>
                  </a:lnTo>
                  <a:lnTo>
                    <a:pt x="374" y="211"/>
                  </a:lnTo>
                  <a:lnTo>
                    <a:pt x="374" y="163"/>
                  </a:lnTo>
                  <a:lnTo>
                    <a:pt x="374" y="163"/>
                  </a:lnTo>
                  <a:lnTo>
                    <a:pt x="372" y="160"/>
                  </a:lnTo>
                  <a:lnTo>
                    <a:pt x="368" y="157"/>
                  </a:lnTo>
                  <a:lnTo>
                    <a:pt x="368" y="157"/>
                  </a:lnTo>
                  <a:close/>
                  <a:moveTo>
                    <a:pt x="187" y="267"/>
                  </a:moveTo>
                  <a:lnTo>
                    <a:pt x="187" y="267"/>
                  </a:lnTo>
                  <a:lnTo>
                    <a:pt x="179" y="266"/>
                  </a:lnTo>
                  <a:lnTo>
                    <a:pt x="171" y="266"/>
                  </a:lnTo>
                  <a:lnTo>
                    <a:pt x="156" y="261"/>
                  </a:lnTo>
                  <a:lnTo>
                    <a:pt x="142" y="254"/>
                  </a:lnTo>
                  <a:lnTo>
                    <a:pt x="130" y="243"/>
                  </a:lnTo>
                  <a:lnTo>
                    <a:pt x="121" y="233"/>
                  </a:lnTo>
                  <a:lnTo>
                    <a:pt x="113" y="219"/>
                  </a:lnTo>
                  <a:lnTo>
                    <a:pt x="109" y="203"/>
                  </a:lnTo>
                  <a:lnTo>
                    <a:pt x="108" y="196"/>
                  </a:lnTo>
                  <a:lnTo>
                    <a:pt x="108" y="187"/>
                  </a:lnTo>
                  <a:lnTo>
                    <a:pt x="108" y="187"/>
                  </a:lnTo>
                  <a:lnTo>
                    <a:pt x="108" y="179"/>
                  </a:lnTo>
                  <a:lnTo>
                    <a:pt x="109" y="171"/>
                  </a:lnTo>
                  <a:lnTo>
                    <a:pt x="113" y="156"/>
                  </a:lnTo>
                  <a:lnTo>
                    <a:pt x="121" y="142"/>
                  </a:lnTo>
                  <a:lnTo>
                    <a:pt x="130" y="132"/>
                  </a:lnTo>
                  <a:lnTo>
                    <a:pt x="142" y="121"/>
                  </a:lnTo>
                  <a:lnTo>
                    <a:pt x="156" y="114"/>
                  </a:lnTo>
                  <a:lnTo>
                    <a:pt x="171" y="109"/>
                  </a:lnTo>
                  <a:lnTo>
                    <a:pt x="179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95" y="108"/>
                  </a:lnTo>
                  <a:lnTo>
                    <a:pt x="203" y="109"/>
                  </a:lnTo>
                  <a:lnTo>
                    <a:pt x="218" y="114"/>
                  </a:lnTo>
                  <a:lnTo>
                    <a:pt x="231" y="121"/>
                  </a:lnTo>
                  <a:lnTo>
                    <a:pt x="243" y="132"/>
                  </a:lnTo>
                  <a:lnTo>
                    <a:pt x="253" y="142"/>
                  </a:lnTo>
                  <a:lnTo>
                    <a:pt x="259" y="156"/>
                  </a:lnTo>
                  <a:lnTo>
                    <a:pt x="265" y="171"/>
                  </a:lnTo>
                  <a:lnTo>
                    <a:pt x="266" y="179"/>
                  </a:lnTo>
                  <a:lnTo>
                    <a:pt x="266" y="187"/>
                  </a:lnTo>
                  <a:lnTo>
                    <a:pt x="266" y="187"/>
                  </a:lnTo>
                  <a:lnTo>
                    <a:pt x="266" y="196"/>
                  </a:lnTo>
                  <a:lnTo>
                    <a:pt x="265" y="203"/>
                  </a:lnTo>
                  <a:lnTo>
                    <a:pt x="259" y="219"/>
                  </a:lnTo>
                  <a:lnTo>
                    <a:pt x="253" y="233"/>
                  </a:lnTo>
                  <a:lnTo>
                    <a:pt x="243" y="243"/>
                  </a:lnTo>
                  <a:lnTo>
                    <a:pt x="231" y="254"/>
                  </a:lnTo>
                  <a:lnTo>
                    <a:pt x="218" y="261"/>
                  </a:lnTo>
                  <a:lnTo>
                    <a:pt x="203" y="266"/>
                  </a:lnTo>
                  <a:lnTo>
                    <a:pt x="195" y="266"/>
                  </a:lnTo>
                  <a:lnTo>
                    <a:pt x="187" y="267"/>
                  </a:lnTo>
                  <a:lnTo>
                    <a:pt x="18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endParaRPr>
            </a:p>
          </p:txBody>
        </p:sp>
      </p:grpSp>
      <p:sp>
        <p:nvSpPr>
          <p:cNvPr id="39" name="Google Shape;496;p8">
            <a:extLst>
              <a:ext uri="{FF2B5EF4-FFF2-40B4-BE49-F238E27FC236}">
                <a16:creationId xmlns:a16="http://schemas.microsoft.com/office/drawing/2014/main" id="{91E116E7-1447-4AD0-A4B1-20C7B5C7D4E0}"/>
              </a:ext>
            </a:extLst>
          </p:cNvPr>
          <p:cNvSpPr txBox="1"/>
          <p:nvPr/>
        </p:nvSpPr>
        <p:spPr>
          <a:xfrm>
            <a:off x="4749011" y="3688979"/>
            <a:ext cx="2658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שיפור תהליכים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ממשלתיים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sp>
        <p:nvSpPr>
          <p:cNvPr id="3" name="Google Shape;496;p8">
            <a:extLst>
              <a:ext uri="{FF2B5EF4-FFF2-40B4-BE49-F238E27FC236}">
                <a16:creationId xmlns:a16="http://schemas.microsoft.com/office/drawing/2014/main" id="{59324849-B753-D400-0188-BBF28B40FC1C}"/>
              </a:ext>
            </a:extLst>
          </p:cNvPr>
          <p:cNvSpPr txBox="1"/>
          <p:nvPr/>
        </p:nvSpPr>
        <p:spPr>
          <a:xfrm>
            <a:off x="4791246" y="5870428"/>
            <a:ext cx="2658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ebo Black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תמרוץ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10000"/>
                  </a:srgbClr>
                </a:solidFill>
                <a:effectLst/>
                <a:uLnTx/>
                <a:uFillTx/>
                <a:latin typeface="Assistant" pitchFamily="2" charset="-79"/>
                <a:ea typeface="Heebo Black"/>
                <a:cs typeface="Assistant" pitchFamily="2" charset="-79"/>
                <a:sym typeface="Heebo Black"/>
              </a:rPr>
              <a:t>שירותים מועילים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10000"/>
                </a:srgbClr>
              </a:solidFill>
              <a:effectLst/>
              <a:uLnTx/>
              <a:uFillTx/>
              <a:latin typeface="Assistant" pitchFamily="2" charset="-79"/>
              <a:ea typeface="Heebo Black"/>
              <a:cs typeface="Assistant" pitchFamily="2" charset="-79"/>
              <a:sym typeface="Heebo Black"/>
            </a:endParaRPr>
          </a:p>
        </p:txBody>
      </p:sp>
      <p:pic>
        <p:nvPicPr>
          <p:cNvPr id="17" name="Graphic 5">
            <a:extLst>
              <a:ext uri="{FF2B5EF4-FFF2-40B4-BE49-F238E27FC236}">
                <a16:creationId xmlns:a16="http://schemas.microsoft.com/office/drawing/2014/main" id="{FD6D1B69-2C64-F97D-2197-BB180FC5D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3884"/>
          <a:stretch/>
        </p:blipFill>
        <p:spPr>
          <a:xfrm rot="20683477">
            <a:off x="11287399" y="-96929"/>
            <a:ext cx="1047750" cy="11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75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E"/>
            </a:gs>
            <a:gs pos="50000">
              <a:schemeClr val="tx2">
                <a:lumMod val="10000"/>
                <a:lumOff val="90000"/>
              </a:schemeClr>
            </a:gs>
            <a:gs pos="100000">
              <a:schemeClr val="bg2">
                <a:lumMod val="63000"/>
                <a:lumOff val="37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763055-C412-4557-8529-7055A06547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44"/>
          <a:stretch/>
        </p:blipFill>
        <p:spPr>
          <a:xfrm>
            <a:off x="4494693" y="3394546"/>
            <a:ext cx="2515708" cy="2102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46C7216-DBCE-4538-80E3-969E16F3FD00}"/>
              </a:ext>
            </a:extLst>
          </p:cNvPr>
          <p:cNvSpPr txBox="1"/>
          <p:nvPr/>
        </p:nvSpPr>
        <p:spPr>
          <a:xfrm>
            <a:off x="1838036" y="726930"/>
            <a:ext cx="94917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4400" b="1" dirty="0">
                <a:solidFill>
                  <a:schemeClr val="accent1"/>
                </a:solidFill>
              </a:rPr>
              <a:t>הקונספט של העברת מידע בין גורמים ומערכות מוכר </a:t>
            </a:r>
            <a:r>
              <a:rPr lang="he-IL" sz="4400" b="1" dirty="0" err="1">
                <a:solidFill>
                  <a:schemeClr val="accent1"/>
                </a:solidFill>
              </a:rPr>
              <a:t>מחיי</a:t>
            </a:r>
            <a:r>
              <a:rPr lang="he-IL" sz="4400" b="1" dirty="0">
                <a:solidFill>
                  <a:schemeClr val="accent1"/>
                </a:solidFill>
              </a:rPr>
              <a:t> היום- יום </a:t>
            </a:r>
            <a:endParaRPr lang="en-IL" sz="4400" b="1" dirty="0">
              <a:solidFill>
                <a:schemeClr val="accent1"/>
              </a:solidFill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7D1908E4-A723-424C-9EEC-3B8E0FCCB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0464" y="3460241"/>
            <a:ext cx="1958848" cy="24485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9D2A6CC-E5E3-4AE7-AE46-A7DA79B3ACC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70"/>
          <a:stretch/>
        </p:blipFill>
        <p:spPr>
          <a:xfrm>
            <a:off x="8325782" y="3157220"/>
            <a:ext cx="2865798" cy="23393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8976FA72-E147-9991-8445-4CC3EB503163}"/>
              </a:ext>
            </a:extLst>
          </p:cNvPr>
          <p:cNvSpPr/>
          <p:nvPr/>
        </p:nvSpPr>
        <p:spPr>
          <a:xfrm>
            <a:off x="873916" y="5369238"/>
            <a:ext cx="693096" cy="254644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5351FE08-346B-3754-AF46-1F283450DA5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3884"/>
          <a:stretch/>
        </p:blipFill>
        <p:spPr>
          <a:xfrm rot="20683477">
            <a:off x="11276988" y="79439"/>
            <a:ext cx="702627" cy="7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88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D564792-27CA-495E-BA25-F0AB7AEAE674}"/>
              </a:ext>
            </a:extLst>
          </p:cNvPr>
          <p:cNvGrpSpPr/>
          <p:nvPr/>
        </p:nvGrpSpPr>
        <p:grpSpPr>
          <a:xfrm rot="10800000">
            <a:off x="3309127" y="2728224"/>
            <a:ext cx="1268841" cy="1171302"/>
            <a:chOff x="7742190" y="4948053"/>
            <a:chExt cx="1268841" cy="1171302"/>
          </a:xfrm>
        </p:grpSpPr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5BB9278A-43A1-4393-A938-631DD8713C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190" y="4948053"/>
              <a:ext cx="1209832" cy="1092199"/>
            </a:xfrm>
            <a:prstGeom prst="bentConnector3">
              <a:avLst>
                <a:gd name="adj1" fmla="val 595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5A69450-C99C-4ED0-BEDD-DBD5AA694DDF}"/>
                </a:ext>
              </a:extLst>
            </p:cNvPr>
            <p:cNvSpPr/>
            <p:nvPr/>
          </p:nvSpPr>
          <p:spPr>
            <a:xfrm>
              <a:off x="8878193" y="5977115"/>
              <a:ext cx="132838" cy="142240"/>
            </a:xfrm>
            <a:prstGeom prst="rect">
              <a:avLst/>
            </a:prstGeom>
            <a:solidFill>
              <a:srgbClr val="E4F0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F03CB63-57A4-44EC-9A8B-19F2DB08A195}"/>
                </a:ext>
              </a:extLst>
            </p:cNvPr>
            <p:cNvSpPr/>
            <p:nvPr/>
          </p:nvSpPr>
          <p:spPr>
            <a:xfrm flipH="1" flipV="1">
              <a:off x="8753451" y="5969132"/>
              <a:ext cx="144000" cy="1422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B763055-C412-4557-8529-7055A06547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44"/>
          <a:stretch/>
        </p:blipFill>
        <p:spPr>
          <a:xfrm>
            <a:off x="4721968" y="3335906"/>
            <a:ext cx="2748064" cy="2296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710E99-0AE6-42CA-AF6D-0A3E510062AE}"/>
              </a:ext>
            </a:extLst>
          </p:cNvPr>
          <p:cNvSpPr txBox="1"/>
          <p:nvPr/>
        </p:nvSpPr>
        <p:spPr>
          <a:xfrm>
            <a:off x="3309126" y="412859"/>
            <a:ext cx="80137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4400" b="1" dirty="0">
                <a:solidFill>
                  <a:schemeClr val="accent1"/>
                </a:solidFill>
              </a:rPr>
              <a:t>חיבוריות דורשת מסגרת </a:t>
            </a:r>
            <a:br>
              <a:rPr lang="en-US" sz="4400" b="1" dirty="0">
                <a:solidFill>
                  <a:schemeClr val="accent1"/>
                </a:solidFill>
              </a:rPr>
            </a:br>
            <a:r>
              <a:rPr lang="he-IL" sz="4400" b="1" dirty="0">
                <a:solidFill>
                  <a:schemeClr val="accent1"/>
                </a:solidFill>
              </a:rPr>
              <a:t>של הסכמה משותפת – תקן ורגולציה</a:t>
            </a:r>
            <a:endParaRPr lang="en-IL" sz="44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C3AF6-6E29-4465-B818-3DE2A465602B}"/>
              </a:ext>
            </a:extLst>
          </p:cNvPr>
          <p:cNvSpPr txBox="1"/>
          <p:nvPr/>
        </p:nvSpPr>
        <p:spPr>
          <a:xfrm>
            <a:off x="8809038" y="2585295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צורת החיבור</a:t>
            </a:r>
            <a:endParaRPr lang="en-IL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A1F8E-EC3D-45B2-89A9-39A1326AFBD3}"/>
              </a:ext>
            </a:extLst>
          </p:cNvPr>
          <p:cNvSpPr txBox="1"/>
          <p:nvPr/>
        </p:nvSpPr>
        <p:spPr>
          <a:xfrm>
            <a:off x="8812244" y="4220664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שפה מוסכמת</a:t>
            </a:r>
            <a:endParaRPr lang="en-IL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E1F37F-CED7-4E19-AA71-CBAE917B6946}"/>
              </a:ext>
            </a:extLst>
          </p:cNvPr>
          <p:cNvSpPr txBox="1"/>
          <p:nvPr/>
        </p:nvSpPr>
        <p:spPr>
          <a:xfrm>
            <a:off x="8976362" y="5855587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טרמינולוגיה</a:t>
            </a:r>
            <a:endParaRPr lang="en-IL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B1BBB-1C98-4753-901A-A4E533F7B8B5}"/>
              </a:ext>
            </a:extLst>
          </p:cNvPr>
          <p:cNvSpPr txBox="1"/>
          <p:nvPr/>
        </p:nvSpPr>
        <p:spPr>
          <a:xfrm>
            <a:off x="1566802" y="2585295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מתי וכמה ניתן לחבר</a:t>
            </a:r>
            <a:endParaRPr lang="en-IL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5C2A7-4D27-4937-B357-089EFCD0FFA0}"/>
              </a:ext>
            </a:extLst>
          </p:cNvPr>
          <p:cNvSpPr txBox="1"/>
          <p:nvPr/>
        </p:nvSpPr>
        <p:spPr>
          <a:xfrm>
            <a:off x="1937097" y="422066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מי יכול להתחבר</a:t>
            </a:r>
            <a:endParaRPr lang="en-IL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72974-280B-4244-8D7B-5C4109AA4953}"/>
              </a:ext>
            </a:extLst>
          </p:cNvPr>
          <p:cNvSpPr txBox="1"/>
          <p:nvPr/>
        </p:nvSpPr>
        <p:spPr>
          <a:xfrm>
            <a:off x="2743407" y="585558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עלויות</a:t>
            </a:r>
            <a:endParaRPr lang="en-IL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2FF272-00D4-4E1E-AFEE-A2B1D67FD4BA}"/>
              </a:ext>
            </a:extLst>
          </p:cNvPr>
          <p:cNvGrpSpPr/>
          <p:nvPr/>
        </p:nvGrpSpPr>
        <p:grpSpPr>
          <a:xfrm>
            <a:off x="3468285" y="4341747"/>
            <a:ext cx="1180096" cy="1769626"/>
            <a:chOff x="3254744" y="3893068"/>
            <a:chExt cx="1180096" cy="176962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D8A10EB-3131-4E92-B069-B65B1901CDBA}"/>
                </a:ext>
              </a:extLst>
            </p:cNvPr>
            <p:cNvSpPr/>
            <p:nvPr/>
          </p:nvSpPr>
          <p:spPr>
            <a:xfrm>
              <a:off x="3254744" y="3893068"/>
              <a:ext cx="144000" cy="1422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4CB3E34-9E56-48AB-8CDF-55C9C52A1AA6}"/>
                </a:ext>
              </a:extLst>
            </p:cNvPr>
            <p:cNvSpPr/>
            <p:nvPr/>
          </p:nvSpPr>
          <p:spPr>
            <a:xfrm>
              <a:off x="3254744" y="5520454"/>
              <a:ext cx="144000" cy="1422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A3F5CF55-40C6-4272-98C0-6F8743034C6B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 flipV="1">
              <a:off x="3398744" y="4568190"/>
              <a:ext cx="1036096" cy="102338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1912C8F8-2635-410E-BD69-082E94BF3192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>
              <a:off x="3398744" y="3964188"/>
              <a:ext cx="1036096" cy="27431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AF239FB-E512-4A84-A211-F2C36E5ABD60}"/>
              </a:ext>
            </a:extLst>
          </p:cNvPr>
          <p:cNvSpPr/>
          <p:nvPr/>
        </p:nvSpPr>
        <p:spPr>
          <a:xfrm flipH="1" flipV="1">
            <a:off x="8753451" y="4341746"/>
            <a:ext cx="144000" cy="142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6AD478B-1E4C-4945-810B-468D2041C10B}"/>
              </a:ext>
            </a:extLst>
          </p:cNvPr>
          <p:cNvSpPr/>
          <p:nvPr/>
        </p:nvSpPr>
        <p:spPr>
          <a:xfrm flipH="1" flipV="1">
            <a:off x="8753451" y="2714360"/>
            <a:ext cx="144000" cy="142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B5B9F96-C4DE-4AC3-8DA2-1494357011F7}"/>
              </a:ext>
            </a:extLst>
          </p:cNvPr>
          <p:cNvCxnSpPr>
            <a:cxnSpLocks/>
            <a:stCxn id="32" idx="6"/>
          </p:cNvCxnSpPr>
          <p:nvPr/>
        </p:nvCxnSpPr>
        <p:spPr>
          <a:xfrm flipH="1">
            <a:off x="7717355" y="2785480"/>
            <a:ext cx="1036096" cy="1023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715FCD6-5856-4F39-9583-92E3133DE52B}"/>
              </a:ext>
            </a:extLst>
          </p:cNvPr>
          <p:cNvCxnSpPr>
            <a:cxnSpLocks/>
            <a:stCxn id="31" idx="6"/>
          </p:cNvCxnSpPr>
          <p:nvPr/>
        </p:nvCxnSpPr>
        <p:spPr>
          <a:xfrm rot="10800000">
            <a:off x="7717355" y="4138548"/>
            <a:ext cx="1036096" cy="2743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7A47C8-8F1B-49C4-B95F-AB4301CA6B35}"/>
              </a:ext>
            </a:extLst>
          </p:cNvPr>
          <p:cNvSpPr txBox="1"/>
          <p:nvPr/>
        </p:nvSpPr>
        <p:spPr>
          <a:xfrm>
            <a:off x="5761867" y="2215963"/>
            <a:ext cx="103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u="sng" dirty="0"/>
              <a:t>הכולל:</a:t>
            </a:r>
            <a:endParaRPr lang="en-IL" u="sng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426C160-70A1-4C46-BE4A-FC387AFAC731}"/>
              </a:ext>
            </a:extLst>
          </p:cNvPr>
          <p:cNvGrpSpPr/>
          <p:nvPr/>
        </p:nvGrpSpPr>
        <p:grpSpPr>
          <a:xfrm>
            <a:off x="7742190" y="4948053"/>
            <a:ext cx="1268841" cy="1171302"/>
            <a:chOff x="7742190" y="4948053"/>
            <a:chExt cx="1268841" cy="1171302"/>
          </a:xfrm>
        </p:grpSpPr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2C563506-89EE-42F4-945E-DEB95A4E7B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190" y="4948053"/>
              <a:ext cx="1209832" cy="1092199"/>
            </a:xfrm>
            <a:prstGeom prst="bentConnector3">
              <a:avLst>
                <a:gd name="adj1" fmla="val 5957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C983F46-AA96-4F65-9220-D48355C31B58}"/>
                </a:ext>
              </a:extLst>
            </p:cNvPr>
            <p:cNvSpPr/>
            <p:nvPr/>
          </p:nvSpPr>
          <p:spPr>
            <a:xfrm>
              <a:off x="8878193" y="5977115"/>
              <a:ext cx="132838" cy="142240"/>
            </a:xfrm>
            <a:prstGeom prst="rect">
              <a:avLst/>
            </a:prstGeom>
            <a:solidFill>
              <a:srgbClr val="E4F0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84CDB76-19B9-43EC-8ECE-DA0B1C2B5CB8}"/>
                </a:ext>
              </a:extLst>
            </p:cNvPr>
            <p:cNvSpPr/>
            <p:nvPr/>
          </p:nvSpPr>
          <p:spPr>
            <a:xfrm flipH="1" flipV="1">
              <a:off x="8753451" y="5969132"/>
              <a:ext cx="144000" cy="14224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pic>
        <p:nvPicPr>
          <p:cNvPr id="2" name="Graphic 5">
            <a:extLst>
              <a:ext uri="{FF2B5EF4-FFF2-40B4-BE49-F238E27FC236}">
                <a16:creationId xmlns:a16="http://schemas.microsoft.com/office/drawing/2014/main" id="{46EDDAD7-0F76-9ABF-356C-E7AC6E1E45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884"/>
          <a:stretch/>
        </p:blipFill>
        <p:spPr>
          <a:xfrm rot="20683477">
            <a:off x="11403964" y="492298"/>
            <a:ext cx="702627" cy="7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66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1">
            <a:extLst>
              <a:ext uri="{FF2B5EF4-FFF2-40B4-BE49-F238E27FC236}">
                <a16:creationId xmlns:a16="http://schemas.microsoft.com/office/drawing/2014/main" id="{B8643714-E73E-44D8-84D3-F7DF932F1F23}"/>
              </a:ext>
            </a:extLst>
          </p:cNvPr>
          <p:cNvCxnSpPr/>
          <p:nvPr/>
        </p:nvCxnSpPr>
        <p:spPr>
          <a:xfrm flipV="1">
            <a:off x="3285140" y="2994515"/>
            <a:ext cx="1924419" cy="1996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4">
            <a:extLst>
              <a:ext uri="{FF2B5EF4-FFF2-40B4-BE49-F238E27FC236}">
                <a16:creationId xmlns:a16="http://schemas.microsoft.com/office/drawing/2014/main" id="{41EEE8D9-1248-4BD5-B389-55EA809F9A42}"/>
              </a:ext>
            </a:extLst>
          </p:cNvPr>
          <p:cNvCxnSpPr/>
          <p:nvPr/>
        </p:nvCxnSpPr>
        <p:spPr>
          <a:xfrm flipV="1">
            <a:off x="3381725" y="4822861"/>
            <a:ext cx="1151736" cy="1996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10">
            <a:extLst>
              <a:ext uri="{FF2B5EF4-FFF2-40B4-BE49-F238E27FC236}">
                <a16:creationId xmlns:a16="http://schemas.microsoft.com/office/drawing/2014/main" id="{45278F41-E7B6-4200-92E3-FB8FADD85E49}"/>
              </a:ext>
            </a:extLst>
          </p:cNvPr>
          <p:cNvCxnSpPr/>
          <p:nvPr/>
        </p:nvCxnSpPr>
        <p:spPr>
          <a:xfrm>
            <a:off x="7478608" y="2630517"/>
            <a:ext cx="1448781" cy="0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1">
            <a:extLst>
              <a:ext uri="{FF2B5EF4-FFF2-40B4-BE49-F238E27FC236}">
                <a16:creationId xmlns:a16="http://schemas.microsoft.com/office/drawing/2014/main" id="{1F4855D7-4C4E-4095-A39E-3F48F7DF730D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7763428" y="4197538"/>
            <a:ext cx="1270344" cy="0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3">
            <a:extLst>
              <a:ext uri="{FF2B5EF4-FFF2-40B4-BE49-F238E27FC236}">
                <a16:creationId xmlns:a16="http://schemas.microsoft.com/office/drawing/2014/main" id="{11168C03-6C63-4862-9F6C-FE9B056C7017}"/>
              </a:ext>
            </a:extLst>
          </p:cNvPr>
          <p:cNvCxnSpPr/>
          <p:nvPr/>
        </p:nvCxnSpPr>
        <p:spPr>
          <a:xfrm>
            <a:off x="7183915" y="5928487"/>
            <a:ext cx="1835122" cy="0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2">
            <a:extLst>
              <a:ext uri="{FF2B5EF4-FFF2-40B4-BE49-F238E27FC236}">
                <a16:creationId xmlns:a16="http://schemas.microsoft.com/office/drawing/2014/main" id="{4CAC5D46-70F1-497B-86E1-401941DACD8A}"/>
              </a:ext>
            </a:extLst>
          </p:cNvPr>
          <p:cNvSpPr>
            <a:spLocks noEditPoints="1"/>
          </p:cNvSpPr>
          <p:nvPr/>
        </p:nvSpPr>
        <p:spPr bwMode="auto">
          <a:xfrm>
            <a:off x="4240348" y="3871648"/>
            <a:ext cx="1906418" cy="1906418"/>
          </a:xfrm>
          <a:custGeom>
            <a:avLst/>
            <a:gdLst>
              <a:gd name="T0" fmla="*/ 894 w 971"/>
              <a:gd name="T1" fmla="*/ 509 h 971"/>
              <a:gd name="T2" fmla="*/ 969 w 971"/>
              <a:gd name="T3" fmla="*/ 442 h 971"/>
              <a:gd name="T4" fmla="*/ 883 w 971"/>
              <a:gd name="T5" fmla="*/ 390 h 971"/>
              <a:gd name="T6" fmla="*/ 938 w 971"/>
              <a:gd name="T7" fmla="*/ 309 h 971"/>
              <a:gd name="T8" fmla="*/ 838 w 971"/>
              <a:gd name="T9" fmla="*/ 279 h 971"/>
              <a:gd name="T10" fmla="*/ 802 w 971"/>
              <a:gd name="T11" fmla="*/ 227 h 971"/>
              <a:gd name="T12" fmla="*/ 813 w 971"/>
              <a:gd name="T13" fmla="*/ 127 h 971"/>
              <a:gd name="T14" fmla="*/ 714 w 971"/>
              <a:gd name="T15" fmla="*/ 146 h 971"/>
              <a:gd name="T16" fmla="*/ 700 w 971"/>
              <a:gd name="T17" fmla="*/ 50 h 971"/>
              <a:gd name="T18" fmla="*/ 606 w 971"/>
              <a:gd name="T19" fmla="*/ 95 h 971"/>
              <a:gd name="T20" fmla="*/ 545 w 971"/>
              <a:gd name="T21" fmla="*/ 81 h 971"/>
              <a:gd name="T22" fmla="*/ 485 w 971"/>
              <a:gd name="T23" fmla="*/ 0 h 971"/>
              <a:gd name="T24" fmla="*/ 425 w 971"/>
              <a:gd name="T25" fmla="*/ 80 h 971"/>
              <a:gd name="T26" fmla="*/ 350 w 971"/>
              <a:gd name="T27" fmla="*/ 19 h 971"/>
              <a:gd name="T28" fmla="*/ 311 w 971"/>
              <a:gd name="T29" fmla="*/ 115 h 971"/>
              <a:gd name="T30" fmla="*/ 256 w 971"/>
              <a:gd name="T31" fmla="*/ 146 h 971"/>
              <a:gd name="T32" fmla="*/ 157 w 971"/>
              <a:gd name="T33" fmla="*/ 126 h 971"/>
              <a:gd name="T34" fmla="*/ 167 w 971"/>
              <a:gd name="T35" fmla="*/ 226 h 971"/>
              <a:gd name="T36" fmla="*/ 70 w 971"/>
              <a:gd name="T37" fmla="*/ 232 h 971"/>
              <a:gd name="T38" fmla="*/ 106 w 971"/>
              <a:gd name="T39" fmla="*/ 329 h 971"/>
              <a:gd name="T40" fmla="*/ 86 w 971"/>
              <a:gd name="T41" fmla="*/ 389 h 971"/>
              <a:gd name="T42" fmla="*/ 0 w 971"/>
              <a:gd name="T43" fmla="*/ 441 h 971"/>
              <a:gd name="T44" fmla="*/ 75 w 971"/>
              <a:gd name="T45" fmla="*/ 508 h 971"/>
              <a:gd name="T46" fmla="*/ 6 w 971"/>
              <a:gd name="T47" fmla="*/ 577 h 971"/>
              <a:gd name="T48" fmla="*/ 98 w 971"/>
              <a:gd name="T49" fmla="*/ 625 h 971"/>
              <a:gd name="T50" fmla="*/ 124 w 971"/>
              <a:gd name="T51" fmla="*/ 683 h 971"/>
              <a:gd name="T52" fmla="*/ 96 w 971"/>
              <a:gd name="T53" fmla="*/ 779 h 971"/>
              <a:gd name="T54" fmla="*/ 196 w 971"/>
              <a:gd name="T55" fmla="*/ 778 h 971"/>
              <a:gd name="T56" fmla="*/ 192 w 971"/>
              <a:gd name="T57" fmla="*/ 876 h 971"/>
              <a:gd name="T58" fmla="*/ 293 w 971"/>
              <a:gd name="T59" fmla="*/ 849 h 971"/>
              <a:gd name="T60" fmla="*/ 351 w 971"/>
              <a:gd name="T61" fmla="*/ 874 h 971"/>
              <a:gd name="T62" fmla="*/ 394 w 971"/>
              <a:gd name="T63" fmla="*/ 965 h 971"/>
              <a:gd name="T64" fmla="*/ 468 w 971"/>
              <a:gd name="T65" fmla="*/ 896 h 971"/>
              <a:gd name="T66" fmla="*/ 531 w 971"/>
              <a:gd name="T67" fmla="*/ 971 h 971"/>
              <a:gd name="T68" fmla="*/ 587 w 971"/>
              <a:gd name="T69" fmla="*/ 884 h 971"/>
              <a:gd name="T70" fmla="*/ 647 w 971"/>
              <a:gd name="T71" fmla="*/ 863 h 971"/>
              <a:gd name="T72" fmla="*/ 740 w 971"/>
              <a:gd name="T73" fmla="*/ 900 h 971"/>
              <a:gd name="T74" fmla="*/ 748 w 971"/>
              <a:gd name="T75" fmla="*/ 800 h 971"/>
              <a:gd name="T76" fmla="*/ 845 w 971"/>
              <a:gd name="T77" fmla="*/ 813 h 971"/>
              <a:gd name="T78" fmla="*/ 828 w 971"/>
              <a:gd name="T79" fmla="*/ 711 h 971"/>
              <a:gd name="T80" fmla="*/ 858 w 971"/>
              <a:gd name="T81" fmla="*/ 655 h 971"/>
              <a:gd name="T82" fmla="*/ 952 w 971"/>
              <a:gd name="T83" fmla="*/ 620 h 971"/>
              <a:gd name="T84" fmla="*/ 891 w 971"/>
              <a:gd name="T85" fmla="*/ 541 h 971"/>
              <a:gd name="T86" fmla="*/ 766 w 971"/>
              <a:gd name="T87" fmla="*/ 641 h 971"/>
              <a:gd name="T88" fmla="*/ 588 w 971"/>
              <a:gd name="T89" fmla="*/ 790 h 971"/>
              <a:gd name="T90" fmla="*/ 357 w 971"/>
              <a:gd name="T91" fmla="*/ 781 h 971"/>
              <a:gd name="T92" fmla="*/ 191 w 971"/>
              <a:gd name="T93" fmla="*/ 618 h 971"/>
              <a:gd name="T94" fmla="*/ 179 w 971"/>
              <a:gd name="T95" fmla="*/ 386 h 971"/>
              <a:gd name="T96" fmla="*/ 326 w 971"/>
              <a:gd name="T97" fmla="*/ 207 h 971"/>
              <a:gd name="T98" fmla="*/ 556 w 971"/>
              <a:gd name="T99" fmla="*/ 173 h 971"/>
              <a:gd name="T100" fmla="*/ 748 w 971"/>
              <a:gd name="T101" fmla="*/ 303 h 971"/>
              <a:gd name="T102" fmla="*/ 803 w 971"/>
              <a:gd name="T103" fmla="*/ 529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71" h="971">
                <a:moveTo>
                  <a:pt x="891" y="541"/>
                </a:moveTo>
                <a:cubicBezTo>
                  <a:pt x="893" y="530"/>
                  <a:pt x="893" y="520"/>
                  <a:pt x="894" y="509"/>
                </a:cubicBezTo>
                <a:cubicBezTo>
                  <a:pt x="920" y="502"/>
                  <a:pt x="946" y="494"/>
                  <a:pt x="971" y="485"/>
                </a:cubicBezTo>
                <a:cubicBezTo>
                  <a:pt x="971" y="470"/>
                  <a:pt x="970" y="456"/>
                  <a:pt x="969" y="442"/>
                </a:cubicBezTo>
                <a:cubicBezTo>
                  <a:pt x="942" y="433"/>
                  <a:pt x="916" y="426"/>
                  <a:pt x="889" y="421"/>
                </a:cubicBezTo>
                <a:cubicBezTo>
                  <a:pt x="888" y="411"/>
                  <a:pt x="885" y="400"/>
                  <a:pt x="883" y="390"/>
                </a:cubicBezTo>
                <a:cubicBezTo>
                  <a:pt x="880" y="380"/>
                  <a:pt x="878" y="370"/>
                  <a:pt x="874" y="360"/>
                </a:cubicBezTo>
                <a:cubicBezTo>
                  <a:pt x="896" y="344"/>
                  <a:pt x="917" y="327"/>
                  <a:pt x="938" y="309"/>
                </a:cubicBezTo>
                <a:cubicBezTo>
                  <a:pt x="932" y="296"/>
                  <a:pt x="927" y="283"/>
                  <a:pt x="920" y="270"/>
                </a:cubicBezTo>
                <a:cubicBezTo>
                  <a:pt x="893" y="271"/>
                  <a:pt x="865" y="274"/>
                  <a:pt x="838" y="279"/>
                </a:cubicBezTo>
                <a:cubicBezTo>
                  <a:pt x="833" y="270"/>
                  <a:pt x="828" y="261"/>
                  <a:pt x="821" y="252"/>
                </a:cubicBezTo>
                <a:cubicBezTo>
                  <a:pt x="816" y="244"/>
                  <a:pt x="809" y="235"/>
                  <a:pt x="802" y="227"/>
                </a:cubicBezTo>
                <a:cubicBezTo>
                  <a:pt x="817" y="205"/>
                  <a:pt x="831" y="181"/>
                  <a:pt x="843" y="157"/>
                </a:cubicBezTo>
                <a:cubicBezTo>
                  <a:pt x="833" y="147"/>
                  <a:pt x="823" y="137"/>
                  <a:pt x="813" y="127"/>
                </a:cubicBezTo>
                <a:cubicBezTo>
                  <a:pt x="787" y="139"/>
                  <a:pt x="763" y="151"/>
                  <a:pt x="740" y="165"/>
                </a:cubicBezTo>
                <a:cubicBezTo>
                  <a:pt x="731" y="159"/>
                  <a:pt x="723" y="153"/>
                  <a:pt x="714" y="146"/>
                </a:cubicBezTo>
                <a:cubicBezTo>
                  <a:pt x="705" y="141"/>
                  <a:pt x="696" y="135"/>
                  <a:pt x="687" y="130"/>
                </a:cubicBezTo>
                <a:cubicBezTo>
                  <a:pt x="693" y="104"/>
                  <a:pt x="697" y="77"/>
                  <a:pt x="700" y="50"/>
                </a:cubicBezTo>
                <a:cubicBezTo>
                  <a:pt x="687" y="44"/>
                  <a:pt x="674" y="38"/>
                  <a:pt x="661" y="33"/>
                </a:cubicBezTo>
                <a:cubicBezTo>
                  <a:pt x="641" y="52"/>
                  <a:pt x="623" y="73"/>
                  <a:pt x="606" y="95"/>
                </a:cubicBezTo>
                <a:cubicBezTo>
                  <a:pt x="596" y="92"/>
                  <a:pt x="586" y="89"/>
                  <a:pt x="576" y="86"/>
                </a:cubicBezTo>
                <a:cubicBezTo>
                  <a:pt x="566" y="84"/>
                  <a:pt x="555" y="82"/>
                  <a:pt x="545" y="81"/>
                </a:cubicBezTo>
                <a:cubicBezTo>
                  <a:pt x="541" y="54"/>
                  <a:pt x="535" y="28"/>
                  <a:pt x="528" y="2"/>
                </a:cubicBezTo>
                <a:cubicBezTo>
                  <a:pt x="513" y="0"/>
                  <a:pt x="499" y="0"/>
                  <a:pt x="485" y="0"/>
                </a:cubicBezTo>
                <a:cubicBezTo>
                  <a:pt x="474" y="25"/>
                  <a:pt x="464" y="51"/>
                  <a:pt x="457" y="77"/>
                </a:cubicBezTo>
                <a:cubicBezTo>
                  <a:pt x="446" y="78"/>
                  <a:pt x="436" y="79"/>
                  <a:pt x="425" y="80"/>
                </a:cubicBezTo>
                <a:cubicBezTo>
                  <a:pt x="415" y="82"/>
                  <a:pt x="404" y="84"/>
                  <a:pt x="394" y="86"/>
                </a:cubicBezTo>
                <a:cubicBezTo>
                  <a:pt x="381" y="63"/>
                  <a:pt x="366" y="41"/>
                  <a:pt x="350" y="19"/>
                </a:cubicBezTo>
                <a:cubicBezTo>
                  <a:pt x="336" y="23"/>
                  <a:pt x="322" y="27"/>
                  <a:pt x="309" y="32"/>
                </a:cubicBezTo>
                <a:cubicBezTo>
                  <a:pt x="308" y="60"/>
                  <a:pt x="309" y="88"/>
                  <a:pt x="311" y="115"/>
                </a:cubicBezTo>
                <a:cubicBezTo>
                  <a:pt x="301" y="119"/>
                  <a:pt x="292" y="124"/>
                  <a:pt x="283" y="129"/>
                </a:cubicBezTo>
                <a:cubicBezTo>
                  <a:pt x="273" y="134"/>
                  <a:pt x="264" y="140"/>
                  <a:pt x="256" y="146"/>
                </a:cubicBezTo>
                <a:cubicBezTo>
                  <a:pt x="235" y="129"/>
                  <a:pt x="213" y="113"/>
                  <a:pt x="190" y="99"/>
                </a:cubicBezTo>
                <a:cubicBezTo>
                  <a:pt x="178" y="108"/>
                  <a:pt x="167" y="117"/>
                  <a:pt x="157" y="126"/>
                </a:cubicBezTo>
                <a:cubicBezTo>
                  <a:pt x="166" y="153"/>
                  <a:pt x="176" y="178"/>
                  <a:pt x="188" y="203"/>
                </a:cubicBezTo>
                <a:cubicBezTo>
                  <a:pt x="181" y="210"/>
                  <a:pt x="174" y="218"/>
                  <a:pt x="167" y="226"/>
                </a:cubicBezTo>
                <a:cubicBezTo>
                  <a:pt x="161" y="235"/>
                  <a:pt x="154" y="243"/>
                  <a:pt x="148" y="252"/>
                </a:cubicBezTo>
                <a:cubicBezTo>
                  <a:pt x="122" y="243"/>
                  <a:pt x="97" y="237"/>
                  <a:pt x="70" y="232"/>
                </a:cubicBezTo>
                <a:cubicBezTo>
                  <a:pt x="62" y="244"/>
                  <a:pt x="55" y="256"/>
                  <a:pt x="49" y="269"/>
                </a:cubicBezTo>
                <a:cubicBezTo>
                  <a:pt x="67" y="290"/>
                  <a:pt x="86" y="310"/>
                  <a:pt x="106" y="329"/>
                </a:cubicBezTo>
                <a:cubicBezTo>
                  <a:pt x="102" y="339"/>
                  <a:pt x="98" y="348"/>
                  <a:pt x="95" y="358"/>
                </a:cubicBezTo>
                <a:cubicBezTo>
                  <a:pt x="91" y="369"/>
                  <a:pt x="88" y="379"/>
                  <a:pt x="86" y="389"/>
                </a:cubicBezTo>
                <a:cubicBezTo>
                  <a:pt x="59" y="391"/>
                  <a:pt x="32" y="394"/>
                  <a:pt x="6" y="399"/>
                </a:cubicBezTo>
                <a:cubicBezTo>
                  <a:pt x="3" y="413"/>
                  <a:pt x="1" y="427"/>
                  <a:pt x="0" y="441"/>
                </a:cubicBezTo>
                <a:cubicBezTo>
                  <a:pt x="24" y="454"/>
                  <a:pt x="49" y="466"/>
                  <a:pt x="74" y="476"/>
                </a:cubicBezTo>
                <a:cubicBezTo>
                  <a:pt x="74" y="487"/>
                  <a:pt x="74" y="497"/>
                  <a:pt x="75" y="508"/>
                </a:cubicBezTo>
                <a:cubicBezTo>
                  <a:pt x="75" y="518"/>
                  <a:pt x="76" y="529"/>
                  <a:pt x="78" y="539"/>
                </a:cubicBezTo>
                <a:cubicBezTo>
                  <a:pt x="53" y="551"/>
                  <a:pt x="30" y="563"/>
                  <a:pt x="6" y="577"/>
                </a:cubicBezTo>
                <a:cubicBezTo>
                  <a:pt x="9" y="591"/>
                  <a:pt x="12" y="605"/>
                  <a:pt x="16" y="619"/>
                </a:cubicBezTo>
                <a:cubicBezTo>
                  <a:pt x="44" y="623"/>
                  <a:pt x="71" y="625"/>
                  <a:pt x="98" y="625"/>
                </a:cubicBezTo>
                <a:cubicBezTo>
                  <a:pt x="102" y="635"/>
                  <a:pt x="106" y="645"/>
                  <a:pt x="110" y="654"/>
                </a:cubicBezTo>
                <a:cubicBezTo>
                  <a:pt x="114" y="664"/>
                  <a:pt x="119" y="674"/>
                  <a:pt x="124" y="683"/>
                </a:cubicBezTo>
                <a:cubicBezTo>
                  <a:pt x="106" y="702"/>
                  <a:pt x="88" y="723"/>
                  <a:pt x="71" y="744"/>
                </a:cubicBezTo>
                <a:cubicBezTo>
                  <a:pt x="79" y="756"/>
                  <a:pt x="87" y="768"/>
                  <a:pt x="96" y="779"/>
                </a:cubicBezTo>
                <a:cubicBezTo>
                  <a:pt x="123" y="773"/>
                  <a:pt x="149" y="765"/>
                  <a:pt x="174" y="755"/>
                </a:cubicBezTo>
                <a:cubicBezTo>
                  <a:pt x="181" y="763"/>
                  <a:pt x="189" y="771"/>
                  <a:pt x="196" y="778"/>
                </a:cubicBezTo>
                <a:cubicBezTo>
                  <a:pt x="204" y="786"/>
                  <a:pt x="211" y="793"/>
                  <a:pt x="220" y="800"/>
                </a:cubicBezTo>
                <a:cubicBezTo>
                  <a:pt x="209" y="824"/>
                  <a:pt x="200" y="850"/>
                  <a:pt x="192" y="876"/>
                </a:cubicBezTo>
                <a:cubicBezTo>
                  <a:pt x="204" y="884"/>
                  <a:pt x="216" y="892"/>
                  <a:pt x="228" y="900"/>
                </a:cubicBezTo>
                <a:cubicBezTo>
                  <a:pt x="251" y="884"/>
                  <a:pt x="272" y="867"/>
                  <a:pt x="293" y="849"/>
                </a:cubicBezTo>
                <a:cubicBezTo>
                  <a:pt x="302" y="854"/>
                  <a:pt x="311" y="858"/>
                  <a:pt x="321" y="863"/>
                </a:cubicBezTo>
                <a:cubicBezTo>
                  <a:pt x="331" y="867"/>
                  <a:pt x="341" y="871"/>
                  <a:pt x="351" y="874"/>
                </a:cubicBezTo>
                <a:cubicBezTo>
                  <a:pt x="350" y="901"/>
                  <a:pt x="351" y="928"/>
                  <a:pt x="353" y="955"/>
                </a:cubicBezTo>
                <a:cubicBezTo>
                  <a:pt x="366" y="959"/>
                  <a:pt x="380" y="962"/>
                  <a:pt x="394" y="965"/>
                </a:cubicBezTo>
                <a:cubicBezTo>
                  <a:pt x="410" y="942"/>
                  <a:pt x="424" y="918"/>
                  <a:pt x="436" y="894"/>
                </a:cubicBezTo>
                <a:cubicBezTo>
                  <a:pt x="447" y="895"/>
                  <a:pt x="457" y="896"/>
                  <a:pt x="468" y="896"/>
                </a:cubicBezTo>
                <a:cubicBezTo>
                  <a:pt x="479" y="897"/>
                  <a:pt x="489" y="897"/>
                  <a:pt x="500" y="896"/>
                </a:cubicBezTo>
                <a:cubicBezTo>
                  <a:pt x="509" y="921"/>
                  <a:pt x="519" y="947"/>
                  <a:pt x="531" y="971"/>
                </a:cubicBezTo>
                <a:cubicBezTo>
                  <a:pt x="545" y="969"/>
                  <a:pt x="559" y="967"/>
                  <a:pt x="573" y="965"/>
                </a:cubicBezTo>
                <a:cubicBezTo>
                  <a:pt x="580" y="937"/>
                  <a:pt x="584" y="911"/>
                  <a:pt x="587" y="884"/>
                </a:cubicBezTo>
                <a:cubicBezTo>
                  <a:pt x="597" y="881"/>
                  <a:pt x="607" y="878"/>
                  <a:pt x="617" y="875"/>
                </a:cubicBezTo>
                <a:cubicBezTo>
                  <a:pt x="627" y="871"/>
                  <a:pt x="637" y="867"/>
                  <a:pt x="647" y="863"/>
                </a:cubicBezTo>
                <a:cubicBezTo>
                  <a:pt x="664" y="883"/>
                  <a:pt x="683" y="903"/>
                  <a:pt x="703" y="921"/>
                </a:cubicBezTo>
                <a:cubicBezTo>
                  <a:pt x="716" y="915"/>
                  <a:pt x="728" y="908"/>
                  <a:pt x="740" y="900"/>
                </a:cubicBezTo>
                <a:cubicBezTo>
                  <a:pt x="736" y="873"/>
                  <a:pt x="731" y="846"/>
                  <a:pt x="723" y="820"/>
                </a:cubicBezTo>
                <a:cubicBezTo>
                  <a:pt x="732" y="814"/>
                  <a:pt x="740" y="807"/>
                  <a:pt x="748" y="800"/>
                </a:cubicBezTo>
                <a:cubicBezTo>
                  <a:pt x="757" y="794"/>
                  <a:pt x="764" y="786"/>
                  <a:pt x="772" y="779"/>
                </a:cubicBezTo>
                <a:cubicBezTo>
                  <a:pt x="795" y="792"/>
                  <a:pt x="820" y="803"/>
                  <a:pt x="845" y="813"/>
                </a:cubicBezTo>
                <a:cubicBezTo>
                  <a:pt x="855" y="802"/>
                  <a:pt x="864" y="791"/>
                  <a:pt x="872" y="780"/>
                </a:cubicBezTo>
                <a:cubicBezTo>
                  <a:pt x="859" y="756"/>
                  <a:pt x="844" y="733"/>
                  <a:pt x="828" y="711"/>
                </a:cubicBezTo>
                <a:cubicBezTo>
                  <a:pt x="834" y="702"/>
                  <a:pt x="839" y="693"/>
                  <a:pt x="844" y="684"/>
                </a:cubicBezTo>
                <a:cubicBezTo>
                  <a:pt x="849" y="674"/>
                  <a:pt x="854" y="665"/>
                  <a:pt x="858" y="655"/>
                </a:cubicBezTo>
                <a:cubicBezTo>
                  <a:pt x="885" y="659"/>
                  <a:pt x="911" y="660"/>
                  <a:pt x="939" y="661"/>
                </a:cubicBezTo>
                <a:cubicBezTo>
                  <a:pt x="944" y="647"/>
                  <a:pt x="948" y="634"/>
                  <a:pt x="952" y="620"/>
                </a:cubicBezTo>
                <a:cubicBezTo>
                  <a:pt x="931" y="602"/>
                  <a:pt x="908" y="586"/>
                  <a:pt x="886" y="572"/>
                </a:cubicBezTo>
                <a:cubicBezTo>
                  <a:pt x="888" y="561"/>
                  <a:pt x="890" y="551"/>
                  <a:pt x="891" y="541"/>
                </a:cubicBezTo>
                <a:close/>
                <a:moveTo>
                  <a:pt x="803" y="529"/>
                </a:moveTo>
                <a:cubicBezTo>
                  <a:pt x="798" y="568"/>
                  <a:pt x="785" y="606"/>
                  <a:pt x="766" y="641"/>
                </a:cubicBezTo>
                <a:cubicBezTo>
                  <a:pt x="747" y="676"/>
                  <a:pt x="721" y="707"/>
                  <a:pt x="691" y="732"/>
                </a:cubicBezTo>
                <a:cubicBezTo>
                  <a:pt x="661" y="758"/>
                  <a:pt x="626" y="778"/>
                  <a:pt x="588" y="790"/>
                </a:cubicBezTo>
                <a:cubicBezTo>
                  <a:pt x="551" y="803"/>
                  <a:pt x="511" y="809"/>
                  <a:pt x="472" y="807"/>
                </a:cubicBezTo>
                <a:cubicBezTo>
                  <a:pt x="432" y="806"/>
                  <a:pt x="393" y="797"/>
                  <a:pt x="357" y="781"/>
                </a:cubicBezTo>
                <a:cubicBezTo>
                  <a:pt x="320" y="765"/>
                  <a:pt x="287" y="743"/>
                  <a:pt x="259" y="715"/>
                </a:cubicBezTo>
                <a:cubicBezTo>
                  <a:pt x="230" y="687"/>
                  <a:pt x="207" y="654"/>
                  <a:pt x="191" y="618"/>
                </a:cubicBezTo>
                <a:cubicBezTo>
                  <a:pt x="175" y="582"/>
                  <a:pt x="166" y="543"/>
                  <a:pt x="164" y="503"/>
                </a:cubicBezTo>
                <a:cubicBezTo>
                  <a:pt x="161" y="464"/>
                  <a:pt x="167" y="424"/>
                  <a:pt x="179" y="386"/>
                </a:cubicBezTo>
                <a:cubicBezTo>
                  <a:pt x="191" y="349"/>
                  <a:pt x="211" y="313"/>
                  <a:pt x="236" y="283"/>
                </a:cubicBezTo>
                <a:cubicBezTo>
                  <a:pt x="261" y="252"/>
                  <a:pt x="292" y="226"/>
                  <a:pt x="326" y="207"/>
                </a:cubicBezTo>
                <a:cubicBezTo>
                  <a:pt x="361" y="187"/>
                  <a:pt x="399" y="174"/>
                  <a:pt x="438" y="168"/>
                </a:cubicBezTo>
                <a:cubicBezTo>
                  <a:pt x="477" y="163"/>
                  <a:pt x="517" y="164"/>
                  <a:pt x="556" y="173"/>
                </a:cubicBezTo>
                <a:cubicBezTo>
                  <a:pt x="594" y="182"/>
                  <a:pt x="632" y="198"/>
                  <a:pt x="664" y="220"/>
                </a:cubicBezTo>
                <a:cubicBezTo>
                  <a:pt x="697" y="242"/>
                  <a:pt x="726" y="271"/>
                  <a:pt x="748" y="303"/>
                </a:cubicBezTo>
                <a:cubicBezTo>
                  <a:pt x="771" y="336"/>
                  <a:pt x="787" y="372"/>
                  <a:pt x="797" y="411"/>
                </a:cubicBezTo>
                <a:cubicBezTo>
                  <a:pt x="806" y="450"/>
                  <a:pt x="808" y="490"/>
                  <a:pt x="803" y="5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25F60590-6742-4767-8EEF-F871CE823C60}"/>
              </a:ext>
            </a:extLst>
          </p:cNvPr>
          <p:cNvSpPr>
            <a:spLocks noEditPoints="1"/>
          </p:cNvSpPr>
          <p:nvPr/>
        </p:nvSpPr>
        <p:spPr bwMode="auto">
          <a:xfrm>
            <a:off x="6146766" y="3249386"/>
            <a:ext cx="1906418" cy="1906418"/>
          </a:xfrm>
          <a:custGeom>
            <a:avLst/>
            <a:gdLst>
              <a:gd name="T0" fmla="*/ 894 w 971"/>
              <a:gd name="T1" fmla="*/ 509 h 971"/>
              <a:gd name="T2" fmla="*/ 969 w 971"/>
              <a:gd name="T3" fmla="*/ 442 h 971"/>
              <a:gd name="T4" fmla="*/ 883 w 971"/>
              <a:gd name="T5" fmla="*/ 390 h 971"/>
              <a:gd name="T6" fmla="*/ 938 w 971"/>
              <a:gd name="T7" fmla="*/ 309 h 971"/>
              <a:gd name="T8" fmla="*/ 838 w 971"/>
              <a:gd name="T9" fmla="*/ 279 h 971"/>
              <a:gd name="T10" fmla="*/ 802 w 971"/>
              <a:gd name="T11" fmla="*/ 227 h 971"/>
              <a:gd name="T12" fmla="*/ 813 w 971"/>
              <a:gd name="T13" fmla="*/ 127 h 971"/>
              <a:gd name="T14" fmla="*/ 714 w 971"/>
              <a:gd name="T15" fmla="*/ 146 h 971"/>
              <a:gd name="T16" fmla="*/ 700 w 971"/>
              <a:gd name="T17" fmla="*/ 50 h 971"/>
              <a:gd name="T18" fmla="*/ 606 w 971"/>
              <a:gd name="T19" fmla="*/ 95 h 971"/>
              <a:gd name="T20" fmla="*/ 545 w 971"/>
              <a:gd name="T21" fmla="*/ 81 h 971"/>
              <a:gd name="T22" fmla="*/ 485 w 971"/>
              <a:gd name="T23" fmla="*/ 0 h 971"/>
              <a:gd name="T24" fmla="*/ 425 w 971"/>
              <a:gd name="T25" fmla="*/ 80 h 971"/>
              <a:gd name="T26" fmla="*/ 350 w 971"/>
              <a:gd name="T27" fmla="*/ 19 h 971"/>
              <a:gd name="T28" fmla="*/ 311 w 971"/>
              <a:gd name="T29" fmla="*/ 115 h 971"/>
              <a:gd name="T30" fmla="*/ 256 w 971"/>
              <a:gd name="T31" fmla="*/ 146 h 971"/>
              <a:gd name="T32" fmla="*/ 157 w 971"/>
              <a:gd name="T33" fmla="*/ 126 h 971"/>
              <a:gd name="T34" fmla="*/ 167 w 971"/>
              <a:gd name="T35" fmla="*/ 226 h 971"/>
              <a:gd name="T36" fmla="*/ 70 w 971"/>
              <a:gd name="T37" fmla="*/ 232 h 971"/>
              <a:gd name="T38" fmla="*/ 106 w 971"/>
              <a:gd name="T39" fmla="*/ 329 h 971"/>
              <a:gd name="T40" fmla="*/ 86 w 971"/>
              <a:gd name="T41" fmla="*/ 389 h 971"/>
              <a:gd name="T42" fmla="*/ 0 w 971"/>
              <a:gd name="T43" fmla="*/ 441 h 971"/>
              <a:gd name="T44" fmla="*/ 75 w 971"/>
              <a:gd name="T45" fmla="*/ 508 h 971"/>
              <a:gd name="T46" fmla="*/ 6 w 971"/>
              <a:gd name="T47" fmla="*/ 577 h 971"/>
              <a:gd name="T48" fmla="*/ 98 w 971"/>
              <a:gd name="T49" fmla="*/ 625 h 971"/>
              <a:gd name="T50" fmla="*/ 124 w 971"/>
              <a:gd name="T51" fmla="*/ 683 h 971"/>
              <a:gd name="T52" fmla="*/ 96 w 971"/>
              <a:gd name="T53" fmla="*/ 779 h 971"/>
              <a:gd name="T54" fmla="*/ 196 w 971"/>
              <a:gd name="T55" fmla="*/ 778 h 971"/>
              <a:gd name="T56" fmla="*/ 192 w 971"/>
              <a:gd name="T57" fmla="*/ 876 h 971"/>
              <a:gd name="T58" fmla="*/ 293 w 971"/>
              <a:gd name="T59" fmla="*/ 849 h 971"/>
              <a:gd name="T60" fmla="*/ 351 w 971"/>
              <a:gd name="T61" fmla="*/ 874 h 971"/>
              <a:gd name="T62" fmla="*/ 394 w 971"/>
              <a:gd name="T63" fmla="*/ 965 h 971"/>
              <a:gd name="T64" fmla="*/ 468 w 971"/>
              <a:gd name="T65" fmla="*/ 896 h 971"/>
              <a:gd name="T66" fmla="*/ 531 w 971"/>
              <a:gd name="T67" fmla="*/ 971 h 971"/>
              <a:gd name="T68" fmla="*/ 587 w 971"/>
              <a:gd name="T69" fmla="*/ 884 h 971"/>
              <a:gd name="T70" fmla="*/ 647 w 971"/>
              <a:gd name="T71" fmla="*/ 863 h 971"/>
              <a:gd name="T72" fmla="*/ 740 w 971"/>
              <a:gd name="T73" fmla="*/ 900 h 971"/>
              <a:gd name="T74" fmla="*/ 748 w 971"/>
              <a:gd name="T75" fmla="*/ 800 h 971"/>
              <a:gd name="T76" fmla="*/ 845 w 971"/>
              <a:gd name="T77" fmla="*/ 813 h 971"/>
              <a:gd name="T78" fmla="*/ 828 w 971"/>
              <a:gd name="T79" fmla="*/ 711 h 971"/>
              <a:gd name="T80" fmla="*/ 858 w 971"/>
              <a:gd name="T81" fmla="*/ 655 h 971"/>
              <a:gd name="T82" fmla="*/ 952 w 971"/>
              <a:gd name="T83" fmla="*/ 620 h 971"/>
              <a:gd name="T84" fmla="*/ 891 w 971"/>
              <a:gd name="T85" fmla="*/ 541 h 971"/>
              <a:gd name="T86" fmla="*/ 766 w 971"/>
              <a:gd name="T87" fmla="*/ 641 h 971"/>
              <a:gd name="T88" fmla="*/ 588 w 971"/>
              <a:gd name="T89" fmla="*/ 790 h 971"/>
              <a:gd name="T90" fmla="*/ 357 w 971"/>
              <a:gd name="T91" fmla="*/ 781 h 971"/>
              <a:gd name="T92" fmla="*/ 191 w 971"/>
              <a:gd name="T93" fmla="*/ 618 h 971"/>
              <a:gd name="T94" fmla="*/ 179 w 971"/>
              <a:gd name="T95" fmla="*/ 386 h 971"/>
              <a:gd name="T96" fmla="*/ 326 w 971"/>
              <a:gd name="T97" fmla="*/ 207 h 971"/>
              <a:gd name="T98" fmla="*/ 556 w 971"/>
              <a:gd name="T99" fmla="*/ 173 h 971"/>
              <a:gd name="T100" fmla="*/ 748 w 971"/>
              <a:gd name="T101" fmla="*/ 303 h 971"/>
              <a:gd name="T102" fmla="*/ 803 w 971"/>
              <a:gd name="T103" fmla="*/ 529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71" h="971">
                <a:moveTo>
                  <a:pt x="891" y="541"/>
                </a:moveTo>
                <a:cubicBezTo>
                  <a:pt x="893" y="530"/>
                  <a:pt x="893" y="520"/>
                  <a:pt x="894" y="509"/>
                </a:cubicBezTo>
                <a:cubicBezTo>
                  <a:pt x="920" y="502"/>
                  <a:pt x="946" y="494"/>
                  <a:pt x="971" y="485"/>
                </a:cubicBezTo>
                <a:cubicBezTo>
                  <a:pt x="971" y="470"/>
                  <a:pt x="970" y="456"/>
                  <a:pt x="969" y="442"/>
                </a:cubicBezTo>
                <a:cubicBezTo>
                  <a:pt x="942" y="433"/>
                  <a:pt x="916" y="426"/>
                  <a:pt x="889" y="421"/>
                </a:cubicBezTo>
                <a:cubicBezTo>
                  <a:pt x="888" y="411"/>
                  <a:pt x="885" y="400"/>
                  <a:pt x="883" y="390"/>
                </a:cubicBezTo>
                <a:cubicBezTo>
                  <a:pt x="880" y="380"/>
                  <a:pt x="878" y="370"/>
                  <a:pt x="874" y="360"/>
                </a:cubicBezTo>
                <a:cubicBezTo>
                  <a:pt x="896" y="344"/>
                  <a:pt x="917" y="327"/>
                  <a:pt x="938" y="309"/>
                </a:cubicBezTo>
                <a:cubicBezTo>
                  <a:pt x="932" y="296"/>
                  <a:pt x="927" y="283"/>
                  <a:pt x="920" y="270"/>
                </a:cubicBezTo>
                <a:cubicBezTo>
                  <a:pt x="893" y="271"/>
                  <a:pt x="865" y="274"/>
                  <a:pt x="838" y="279"/>
                </a:cubicBezTo>
                <a:cubicBezTo>
                  <a:pt x="833" y="270"/>
                  <a:pt x="828" y="261"/>
                  <a:pt x="821" y="252"/>
                </a:cubicBezTo>
                <a:cubicBezTo>
                  <a:pt x="816" y="244"/>
                  <a:pt x="809" y="235"/>
                  <a:pt x="802" y="227"/>
                </a:cubicBezTo>
                <a:cubicBezTo>
                  <a:pt x="817" y="205"/>
                  <a:pt x="831" y="181"/>
                  <a:pt x="843" y="157"/>
                </a:cubicBezTo>
                <a:cubicBezTo>
                  <a:pt x="833" y="147"/>
                  <a:pt x="823" y="137"/>
                  <a:pt x="813" y="127"/>
                </a:cubicBezTo>
                <a:cubicBezTo>
                  <a:pt x="787" y="139"/>
                  <a:pt x="763" y="151"/>
                  <a:pt x="740" y="165"/>
                </a:cubicBezTo>
                <a:cubicBezTo>
                  <a:pt x="731" y="159"/>
                  <a:pt x="723" y="153"/>
                  <a:pt x="714" y="146"/>
                </a:cubicBezTo>
                <a:cubicBezTo>
                  <a:pt x="705" y="141"/>
                  <a:pt x="696" y="135"/>
                  <a:pt x="687" y="130"/>
                </a:cubicBezTo>
                <a:cubicBezTo>
                  <a:pt x="693" y="104"/>
                  <a:pt x="697" y="77"/>
                  <a:pt x="700" y="50"/>
                </a:cubicBezTo>
                <a:cubicBezTo>
                  <a:pt x="687" y="44"/>
                  <a:pt x="674" y="38"/>
                  <a:pt x="661" y="33"/>
                </a:cubicBezTo>
                <a:cubicBezTo>
                  <a:pt x="641" y="52"/>
                  <a:pt x="623" y="73"/>
                  <a:pt x="606" y="95"/>
                </a:cubicBezTo>
                <a:cubicBezTo>
                  <a:pt x="596" y="92"/>
                  <a:pt x="586" y="89"/>
                  <a:pt x="576" y="86"/>
                </a:cubicBezTo>
                <a:cubicBezTo>
                  <a:pt x="566" y="84"/>
                  <a:pt x="555" y="82"/>
                  <a:pt x="545" y="81"/>
                </a:cubicBezTo>
                <a:cubicBezTo>
                  <a:pt x="541" y="54"/>
                  <a:pt x="535" y="28"/>
                  <a:pt x="528" y="2"/>
                </a:cubicBezTo>
                <a:cubicBezTo>
                  <a:pt x="513" y="0"/>
                  <a:pt x="499" y="0"/>
                  <a:pt x="485" y="0"/>
                </a:cubicBezTo>
                <a:cubicBezTo>
                  <a:pt x="474" y="25"/>
                  <a:pt x="464" y="51"/>
                  <a:pt x="457" y="77"/>
                </a:cubicBezTo>
                <a:cubicBezTo>
                  <a:pt x="446" y="78"/>
                  <a:pt x="436" y="79"/>
                  <a:pt x="425" y="80"/>
                </a:cubicBezTo>
                <a:cubicBezTo>
                  <a:pt x="415" y="82"/>
                  <a:pt x="404" y="84"/>
                  <a:pt x="394" y="86"/>
                </a:cubicBezTo>
                <a:cubicBezTo>
                  <a:pt x="381" y="63"/>
                  <a:pt x="366" y="41"/>
                  <a:pt x="350" y="19"/>
                </a:cubicBezTo>
                <a:cubicBezTo>
                  <a:pt x="336" y="23"/>
                  <a:pt x="322" y="27"/>
                  <a:pt x="309" y="32"/>
                </a:cubicBezTo>
                <a:cubicBezTo>
                  <a:pt x="308" y="60"/>
                  <a:pt x="309" y="88"/>
                  <a:pt x="311" y="115"/>
                </a:cubicBezTo>
                <a:cubicBezTo>
                  <a:pt x="301" y="119"/>
                  <a:pt x="292" y="124"/>
                  <a:pt x="283" y="129"/>
                </a:cubicBezTo>
                <a:cubicBezTo>
                  <a:pt x="273" y="134"/>
                  <a:pt x="264" y="140"/>
                  <a:pt x="256" y="146"/>
                </a:cubicBezTo>
                <a:cubicBezTo>
                  <a:pt x="235" y="129"/>
                  <a:pt x="213" y="113"/>
                  <a:pt x="190" y="99"/>
                </a:cubicBezTo>
                <a:cubicBezTo>
                  <a:pt x="178" y="108"/>
                  <a:pt x="167" y="117"/>
                  <a:pt x="157" y="126"/>
                </a:cubicBezTo>
                <a:cubicBezTo>
                  <a:pt x="166" y="153"/>
                  <a:pt x="176" y="178"/>
                  <a:pt x="188" y="203"/>
                </a:cubicBezTo>
                <a:cubicBezTo>
                  <a:pt x="181" y="210"/>
                  <a:pt x="174" y="218"/>
                  <a:pt x="167" y="226"/>
                </a:cubicBezTo>
                <a:cubicBezTo>
                  <a:pt x="161" y="235"/>
                  <a:pt x="154" y="243"/>
                  <a:pt x="148" y="252"/>
                </a:cubicBezTo>
                <a:cubicBezTo>
                  <a:pt x="122" y="243"/>
                  <a:pt x="97" y="237"/>
                  <a:pt x="70" y="232"/>
                </a:cubicBezTo>
                <a:cubicBezTo>
                  <a:pt x="62" y="244"/>
                  <a:pt x="55" y="256"/>
                  <a:pt x="49" y="269"/>
                </a:cubicBezTo>
                <a:cubicBezTo>
                  <a:pt x="67" y="290"/>
                  <a:pt x="86" y="310"/>
                  <a:pt x="106" y="329"/>
                </a:cubicBezTo>
                <a:cubicBezTo>
                  <a:pt x="102" y="339"/>
                  <a:pt x="98" y="348"/>
                  <a:pt x="95" y="358"/>
                </a:cubicBezTo>
                <a:cubicBezTo>
                  <a:pt x="91" y="369"/>
                  <a:pt x="88" y="379"/>
                  <a:pt x="86" y="389"/>
                </a:cubicBezTo>
                <a:cubicBezTo>
                  <a:pt x="59" y="391"/>
                  <a:pt x="32" y="394"/>
                  <a:pt x="6" y="399"/>
                </a:cubicBezTo>
                <a:cubicBezTo>
                  <a:pt x="3" y="413"/>
                  <a:pt x="1" y="427"/>
                  <a:pt x="0" y="441"/>
                </a:cubicBezTo>
                <a:cubicBezTo>
                  <a:pt x="24" y="454"/>
                  <a:pt x="49" y="466"/>
                  <a:pt x="74" y="476"/>
                </a:cubicBezTo>
                <a:cubicBezTo>
                  <a:pt x="74" y="487"/>
                  <a:pt x="74" y="497"/>
                  <a:pt x="75" y="508"/>
                </a:cubicBezTo>
                <a:cubicBezTo>
                  <a:pt x="75" y="518"/>
                  <a:pt x="76" y="529"/>
                  <a:pt x="78" y="539"/>
                </a:cubicBezTo>
                <a:cubicBezTo>
                  <a:pt x="53" y="551"/>
                  <a:pt x="30" y="563"/>
                  <a:pt x="6" y="577"/>
                </a:cubicBezTo>
                <a:cubicBezTo>
                  <a:pt x="9" y="591"/>
                  <a:pt x="12" y="605"/>
                  <a:pt x="16" y="619"/>
                </a:cubicBezTo>
                <a:cubicBezTo>
                  <a:pt x="44" y="623"/>
                  <a:pt x="71" y="625"/>
                  <a:pt x="98" y="625"/>
                </a:cubicBezTo>
                <a:cubicBezTo>
                  <a:pt x="102" y="635"/>
                  <a:pt x="106" y="645"/>
                  <a:pt x="110" y="654"/>
                </a:cubicBezTo>
                <a:cubicBezTo>
                  <a:pt x="114" y="664"/>
                  <a:pt x="119" y="674"/>
                  <a:pt x="124" y="683"/>
                </a:cubicBezTo>
                <a:cubicBezTo>
                  <a:pt x="106" y="702"/>
                  <a:pt x="88" y="723"/>
                  <a:pt x="71" y="744"/>
                </a:cubicBezTo>
                <a:cubicBezTo>
                  <a:pt x="79" y="756"/>
                  <a:pt x="87" y="768"/>
                  <a:pt x="96" y="779"/>
                </a:cubicBezTo>
                <a:cubicBezTo>
                  <a:pt x="123" y="773"/>
                  <a:pt x="149" y="765"/>
                  <a:pt x="174" y="755"/>
                </a:cubicBezTo>
                <a:cubicBezTo>
                  <a:pt x="181" y="763"/>
                  <a:pt x="189" y="771"/>
                  <a:pt x="196" y="778"/>
                </a:cubicBezTo>
                <a:cubicBezTo>
                  <a:pt x="204" y="786"/>
                  <a:pt x="211" y="793"/>
                  <a:pt x="220" y="800"/>
                </a:cubicBezTo>
                <a:cubicBezTo>
                  <a:pt x="209" y="824"/>
                  <a:pt x="200" y="850"/>
                  <a:pt x="192" y="876"/>
                </a:cubicBezTo>
                <a:cubicBezTo>
                  <a:pt x="204" y="884"/>
                  <a:pt x="216" y="892"/>
                  <a:pt x="228" y="900"/>
                </a:cubicBezTo>
                <a:cubicBezTo>
                  <a:pt x="251" y="884"/>
                  <a:pt x="272" y="867"/>
                  <a:pt x="293" y="849"/>
                </a:cubicBezTo>
                <a:cubicBezTo>
                  <a:pt x="302" y="854"/>
                  <a:pt x="311" y="858"/>
                  <a:pt x="321" y="863"/>
                </a:cubicBezTo>
                <a:cubicBezTo>
                  <a:pt x="331" y="867"/>
                  <a:pt x="341" y="871"/>
                  <a:pt x="351" y="874"/>
                </a:cubicBezTo>
                <a:cubicBezTo>
                  <a:pt x="350" y="901"/>
                  <a:pt x="351" y="928"/>
                  <a:pt x="353" y="955"/>
                </a:cubicBezTo>
                <a:cubicBezTo>
                  <a:pt x="366" y="959"/>
                  <a:pt x="380" y="962"/>
                  <a:pt x="394" y="965"/>
                </a:cubicBezTo>
                <a:cubicBezTo>
                  <a:pt x="410" y="942"/>
                  <a:pt x="424" y="918"/>
                  <a:pt x="436" y="894"/>
                </a:cubicBezTo>
                <a:cubicBezTo>
                  <a:pt x="447" y="895"/>
                  <a:pt x="457" y="896"/>
                  <a:pt x="468" y="896"/>
                </a:cubicBezTo>
                <a:cubicBezTo>
                  <a:pt x="479" y="897"/>
                  <a:pt x="489" y="897"/>
                  <a:pt x="500" y="896"/>
                </a:cubicBezTo>
                <a:cubicBezTo>
                  <a:pt x="509" y="921"/>
                  <a:pt x="519" y="947"/>
                  <a:pt x="531" y="971"/>
                </a:cubicBezTo>
                <a:cubicBezTo>
                  <a:pt x="545" y="969"/>
                  <a:pt x="559" y="967"/>
                  <a:pt x="573" y="965"/>
                </a:cubicBezTo>
                <a:cubicBezTo>
                  <a:pt x="580" y="937"/>
                  <a:pt x="584" y="911"/>
                  <a:pt x="587" y="884"/>
                </a:cubicBezTo>
                <a:cubicBezTo>
                  <a:pt x="597" y="881"/>
                  <a:pt x="607" y="878"/>
                  <a:pt x="617" y="875"/>
                </a:cubicBezTo>
                <a:cubicBezTo>
                  <a:pt x="627" y="871"/>
                  <a:pt x="637" y="867"/>
                  <a:pt x="647" y="863"/>
                </a:cubicBezTo>
                <a:cubicBezTo>
                  <a:pt x="664" y="883"/>
                  <a:pt x="683" y="903"/>
                  <a:pt x="703" y="921"/>
                </a:cubicBezTo>
                <a:cubicBezTo>
                  <a:pt x="716" y="915"/>
                  <a:pt x="728" y="908"/>
                  <a:pt x="740" y="900"/>
                </a:cubicBezTo>
                <a:cubicBezTo>
                  <a:pt x="736" y="873"/>
                  <a:pt x="731" y="846"/>
                  <a:pt x="723" y="820"/>
                </a:cubicBezTo>
                <a:cubicBezTo>
                  <a:pt x="732" y="814"/>
                  <a:pt x="740" y="807"/>
                  <a:pt x="748" y="800"/>
                </a:cubicBezTo>
                <a:cubicBezTo>
                  <a:pt x="757" y="794"/>
                  <a:pt x="764" y="786"/>
                  <a:pt x="772" y="779"/>
                </a:cubicBezTo>
                <a:cubicBezTo>
                  <a:pt x="795" y="792"/>
                  <a:pt x="820" y="803"/>
                  <a:pt x="845" y="813"/>
                </a:cubicBezTo>
                <a:cubicBezTo>
                  <a:pt x="855" y="802"/>
                  <a:pt x="864" y="791"/>
                  <a:pt x="872" y="780"/>
                </a:cubicBezTo>
                <a:cubicBezTo>
                  <a:pt x="859" y="756"/>
                  <a:pt x="844" y="733"/>
                  <a:pt x="828" y="711"/>
                </a:cubicBezTo>
                <a:cubicBezTo>
                  <a:pt x="834" y="702"/>
                  <a:pt x="839" y="693"/>
                  <a:pt x="844" y="684"/>
                </a:cubicBezTo>
                <a:cubicBezTo>
                  <a:pt x="849" y="674"/>
                  <a:pt x="854" y="665"/>
                  <a:pt x="858" y="655"/>
                </a:cubicBezTo>
                <a:cubicBezTo>
                  <a:pt x="885" y="659"/>
                  <a:pt x="911" y="660"/>
                  <a:pt x="939" y="661"/>
                </a:cubicBezTo>
                <a:cubicBezTo>
                  <a:pt x="944" y="647"/>
                  <a:pt x="948" y="634"/>
                  <a:pt x="952" y="620"/>
                </a:cubicBezTo>
                <a:cubicBezTo>
                  <a:pt x="931" y="602"/>
                  <a:pt x="908" y="586"/>
                  <a:pt x="886" y="572"/>
                </a:cubicBezTo>
                <a:cubicBezTo>
                  <a:pt x="888" y="561"/>
                  <a:pt x="890" y="551"/>
                  <a:pt x="891" y="541"/>
                </a:cubicBezTo>
                <a:close/>
                <a:moveTo>
                  <a:pt x="803" y="529"/>
                </a:moveTo>
                <a:cubicBezTo>
                  <a:pt x="798" y="568"/>
                  <a:pt x="785" y="606"/>
                  <a:pt x="766" y="641"/>
                </a:cubicBezTo>
                <a:cubicBezTo>
                  <a:pt x="747" y="676"/>
                  <a:pt x="721" y="707"/>
                  <a:pt x="691" y="732"/>
                </a:cubicBezTo>
                <a:cubicBezTo>
                  <a:pt x="661" y="758"/>
                  <a:pt x="626" y="778"/>
                  <a:pt x="588" y="790"/>
                </a:cubicBezTo>
                <a:cubicBezTo>
                  <a:pt x="551" y="803"/>
                  <a:pt x="511" y="809"/>
                  <a:pt x="472" y="807"/>
                </a:cubicBezTo>
                <a:cubicBezTo>
                  <a:pt x="432" y="806"/>
                  <a:pt x="393" y="797"/>
                  <a:pt x="357" y="781"/>
                </a:cubicBezTo>
                <a:cubicBezTo>
                  <a:pt x="320" y="765"/>
                  <a:pt x="287" y="743"/>
                  <a:pt x="259" y="715"/>
                </a:cubicBezTo>
                <a:cubicBezTo>
                  <a:pt x="230" y="687"/>
                  <a:pt x="207" y="654"/>
                  <a:pt x="191" y="618"/>
                </a:cubicBezTo>
                <a:cubicBezTo>
                  <a:pt x="175" y="582"/>
                  <a:pt x="166" y="543"/>
                  <a:pt x="164" y="503"/>
                </a:cubicBezTo>
                <a:cubicBezTo>
                  <a:pt x="161" y="464"/>
                  <a:pt x="167" y="424"/>
                  <a:pt x="179" y="386"/>
                </a:cubicBezTo>
                <a:cubicBezTo>
                  <a:pt x="191" y="349"/>
                  <a:pt x="211" y="313"/>
                  <a:pt x="236" y="283"/>
                </a:cubicBezTo>
                <a:cubicBezTo>
                  <a:pt x="261" y="252"/>
                  <a:pt x="292" y="226"/>
                  <a:pt x="326" y="207"/>
                </a:cubicBezTo>
                <a:cubicBezTo>
                  <a:pt x="361" y="187"/>
                  <a:pt x="399" y="174"/>
                  <a:pt x="438" y="168"/>
                </a:cubicBezTo>
                <a:cubicBezTo>
                  <a:pt x="477" y="163"/>
                  <a:pt x="517" y="164"/>
                  <a:pt x="556" y="173"/>
                </a:cubicBezTo>
                <a:cubicBezTo>
                  <a:pt x="594" y="182"/>
                  <a:pt x="632" y="198"/>
                  <a:pt x="664" y="220"/>
                </a:cubicBezTo>
                <a:cubicBezTo>
                  <a:pt x="697" y="242"/>
                  <a:pt x="726" y="271"/>
                  <a:pt x="748" y="303"/>
                </a:cubicBezTo>
                <a:cubicBezTo>
                  <a:pt x="771" y="336"/>
                  <a:pt x="787" y="372"/>
                  <a:pt x="797" y="411"/>
                </a:cubicBezTo>
                <a:cubicBezTo>
                  <a:pt x="806" y="450"/>
                  <a:pt x="808" y="490"/>
                  <a:pt x="803" y="5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B5A5108E-0194-43D4-BEEF-18E42FEF49D9}"/>
              </a:ext>
            </a:extLst>
          </p:cNvPr>
          <p:cNvSpPr>
            <a:spLocks noEditPoints="1"/>
          </p:cNvSpPr>
          <p:nvPr/>
        </p:nvSpPr>
        <p:spPr bwMode="auto">
          <a:xfrm>
            <a:off x="5805348" y="5155804"/>
            <a:ext cx="1545366" cy="1545366"/>
          </a:xfrm>
          <a:custGeom>
            <a:avLst/>
            <a:gdLst>
              <a:gd name="T0" fmla="*/ 894 w 971"/>
              <a:gd name="T1" fmla="*/ 509 h 971"/>
              <a:gd name="T2" fmla="*/ 969 w 971"/>
              <a:gd name="T3" fmla="*/ 442 h 971"/>
              <a:gd name="T4" fmla="*/ 883 w 971"/>
              <a:gd name="T5" fmla="*/ 390 h 971"/>
              <a:gd name="T6" fmla="*/ 938 w 971"/>
              <a:gd name="T7" fmla="*/ 309 h 971"/>
              <a:gd name="T8" fmla="*/ 838 w 971"/>
              <a:gd name="T9" fmla="*/ 279 h 971"/>
              <a:gd name="T10" fmla="*/ 802 w 971"/>
              <a:gd name="T11" fmla="*/ 227 h 971"/>
              <a:gd name="T12" fmla="*/ 813 w 971"/>
              <a:gd name="T13" fmla="*/ 127 h 971"/>
              <a:gd name="T14" fmla="*/ 714 w 971"/>
              <a:gd name="T15" fmla="*/ 146 h 971"/>
              <a:gd name="T16" fmla="*/ 700 w 971"/>
              <a:gd name="T17" fmla="*/ 50 h 971"/>
              <a:gd name="T18" fmla="*/ 606 w 971"/>
              <a:gd name="T19" fmla="*/ 95 h 971"/>
              <a:gd name="T20" fmla="*/ 545 w 971"/>
              <a:gd name="T21" fmla="*/ 81 h 971"/>
              <a:gd name="T22" fmla="*/ 485 w 971"/>
              <a:gd name="T23" fmla="*/ 0 h 971"/>
              <a:gd name="T24" fmla="*/ 425 w 971"/>
              <a:gd name="T25" fmla="*/ 80 h 971"/>
              <a:gd name="T26" fmla="*/ 350 w 971"/>
              <a:gd name="T27" fmla="*/ 19 h 971"/>
              <a:gd name="T28" fmla="*/ 311 w 971"/>
              <a:gd name="T29" fmla="*/ 115 h 971"/>
              <a:gd name="T30" fmla="*/ 256 w 971"/>
              <a:gd name="T31" fmla="*/ 146 h 971"/>
              <a:gd name="T32" fmla="*/ 157 w 971"/>
              <a:gd name="T33" fmla="*/ 126 h 971"/>
              <a:gd name="T34" fmla="*/ 167 w 971"/>
              <a:gd name="T35" fmla="*/ 226 h 971"/>
              <a:gd name="T36" fmla="*/ 70 w 971"/>
              <a:gd name="T37" fmla="*/ 232 h 971"/>
              <a:gd name="T38" fmla="*/ 106 w 971"/>
              <a:gd name="T39" fmla="*/ 329 h 971"/>
              <a:gd name="T40" fmla="*/ 86 w 971"/>
              <a:gd name="T41" fmla="*/ 389 h 971"/>
              <a:gd name="T42" fmla="*/ 0 w 971"/>
              <a:gd name="T43" fmla="*/ 441 h 971"/>
              <a:gd name="T44" fmla="*/ 75 w 971"/>
              <a:gd name="T45" fmla="*/ 508 h 971"/>
              <a:gd name="T46" fmla="*/ 6 w 971"/>
              <a:gd name="T47" fmla="*/ 577 h 971"/>
              <a:gd name="T48" fmla="*/ 98 w 971"/>
              <a:gd name="T49" fmla="*/ 625 h 971"/>
              <a:gd name="T50" fmla="*/ 124 w 971"/>
              <a:gd name="T51" fmla="*/ 683 h 971"/>
              <a:gd name="T52" fmla="*/ 96 w 971"/>
              <a:gd name="T53" fmla="*/ 779 h 971"/>
              <a:gd name="T54" fmla="*/ 196 w 971"/>
              <a:gd name="T55" fmla="*/ 778 h 971"/>
              <a:gd name="T56" fmla="*/ 192 w 971"/>
              <a:gd name="T57" fmla="*/ 876 h 971"/>
              <a:gd name="T58" fmla="*/ 293 w 971"/>
              <a:gd name="T59" fmla="*/ 849 h 971"/>
              <a:gd name="T60" fmla="*/ 351 w 971"/>
              <a:gd name="T61" fmla="*/ 874 h 971"/>
              <a:gd name="T62" fmla="*/ 394 w 971"/>
              <a:gd name="T63" fmla="*/ 965 h 971"/>
              <a:gd name="T64" fmla="*/ 468 w 971"/>
              <a:gd name="T65" fmla="*/ 896 h 971"/>
              <a:gd name="T66" fmla="*/ 531 w 971"/>
              <a:gd name="T67" fmla="*/ 971 h 971"/>
              <a:gd name="T68" fmla="*/ 587 w 971"/>
              <a:gd name="T69" fmla="*/ 884 h 971"/>
              <a:gd name="T70" fmla="*/ 647 w 971"/>
              <a:gd name="T71" fmla="*/ 863 h 971"/>
              <a:gd name="T72" fmla="*/ 740 w 971"/>
              <a:gd name="T73" fmla="*/ 900 h 971"/>
              <a:gd name="T74" fmla="*/ 748 w 971"/>
              <a:gd name="T75" fmla="*/ 800 h 971"/>
              <a:gd name="T76" fmla="*/ 845 w 971"/>
              <a:gd name="T77" fmla="*/ 813 h 971"/>
              <a:gd name="T78" fmla="*/ 828 w 971"/>
              <a:gd name="T79" fmla="*/ 711 h 971"/>
              <a:gd name="T80" fmla="*/ 858 w 971"/>
              <a:gd name="T81" fmla="*/ 655 h 971"/>
              <a:gd name="T82" fmla="*/ 952 w 971"/>
              <a:gd name="T83" fmla="*/ 620 h 971"/>
              <a:gd name="T84" fmla="*/ 891 w 971"/>
              <a:gd name="T85" fmla="*/ 541 h 971"/>
              <a:gd name="T86" fmla="*/ 766 w 971"/>
              <a:gd name="T87" fmla="*/ 641 h 971"/>
              <a:gd name="T88" fmla="*/ 588 w 971"/>
              <a:gd name="T89" fmla="*/ 790 h 971"/>
              <a:gd name="T90" fmla="*/ 357 w 971"/>
              <a:gd name="T91" fmla="*/ 781 h 971"/>
              <a:gd name="T92" fmla="*/ 191 w 971"/>
              <a:gd name="T93" fmla="*/ 618 h 971"/>
              <a:gd name="T94" fmla="*/ 179 w 971"/>
              <a:gd name="T95" fmla="*/ 386 h 971"/>
              <a:gd name="T96" fmla="*/ 326 w 971"/>
              <a:gd name="T97" fmla="*/ 207 h 971"/>
              <a:gd name="T98" fmla="*/ 556 w 971"/>
              <a:gd name="T99" fmla="*/ 173 h 971"/>
              <a:gd name="T100" fmla="*/ 748 w 971"/>
              <a:gd name="T101" fmla="*/ 303 h 971"/>
              <a:gd name="T102" fmla="*/ 803 w 971"/>
              <a:gd name="T103" fmla="*/ 529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71" h="971">
                <a:moveTo>
                  <a:pt x="891" y="541"/>
                </a:moveTo>
                <a:cubicBezTo>
                  <a:pt x="893" y="530"/>
                  <a:pt x="893" y="520"/>
                  <a:pt x="894" y="509"/>
                </a:cubicBezTo>
                <a:cubicBezTo>
                  <a:pt x="920" y="502"/>
                  <a:pt x="946" y="494"/>
                  <a:pt x="971" y="485"/>
                </a:cubicBezTo>
                <a:cubicBezTo>
                  <a:pt x="971" y="470"/>
                  <a:pt x="970" y="456"/>
                  <a:pt x="969" y="442"/>
                </a:cubicBezTo>
                <a:cubicBezTo>
                  <a:pt x="942" y="433"/>
                  <a:pt x="916" y="426"/>
                  <a:pt x="889" y="421"/>
                </a:cubicBezTo>
                <a:cubicBezTo>
                  <a:pt x="888" y="411"/>
                  <a:pt x="885" y="400"/>
                  <a:pt x="883" y="390"/>
                </a:cubicBezTo>
                <a:cubicBezTo>
                  <a:pt x="880" y="380"/>
                  <a:pt x="878" y="370"/>
                  <a:pt x="874" y="360"/>
                </a:cubicBezTo>
                <a:cubicBezTo>
                  <a:pt x="896" y="344"/>
                  <a:pt x="917" y="327"/>
                  <a:pt x="938" y="309"/>
                </a:cubicBezTo>
                <a:cubicBezTo>
                  <a:pt x="932" y="296"/>
                  <a:pt x="927" y="283"/>
                  <a:pt x="920" y="270"/>
                </a:cubicBezTo>
                <a:cubicBezTo>
                  <a:pt x="893" y="271"/>
                  <a:pt x="865" y="274"/>
                  <a:pt x="838" y="279"/>
                </a:cubicBezTo>
                <a:cubicBezTo>
                  <a:pt x="833" y="270"/>
                  <a:pt x="828" y="261"/>
                  <a:pt x="821" y="252"/>
                </a:cubicBezTo>
                <a:cubicBezTo>
                  <a:pt x="816" y="244"/>
                  <a:pt x="809" y="235"/>
                  <a:pt x="802" y="227"/>
                </a:cubicBezTo>
                <a:cubicBezTo>
                  <a:pt x="817" y="205"/>
                  <a:pt x="831" y="181"/>
                  <a:pt x="843" y="157"/>
                </a:cubicBezTo>
                <a:cubicBezTo>
                  <a:pt x="833" y="147"/>
                  <a:pt x="823" y="137"/>
                  <a:pt x="813" y="127"/>
                </a:cubicBezTo>
                <a:cubicBezTo>
                  <a:pt x="787" y="139"/>
                  <a:pt x="763" y="151"/>
                  <a:pt x="740" y="165"/>
                </a:cubicBezTo>
                <a:cubicBezTo>
                  <a:pt x="731" y="159"/>
                  <a:pt x="723" y="153"/>
                  <a:pt x="714" y="146"/>
                </a:cubicBezTo>
                <a:cubicBezTo>
                  <a:pt x="705" y="141"/>
                  <a:pt x="696" y="135"/>
                  <a:pt x="687" y="130"/>
                </a:cubicBezTo>
                <a:cubicBezTo>
                  <a:pt x="693" y="104"/>
                  <a:pt x="697" y="77"/>
                  <a:pt x="700" y="50"/>
                </a:cubicBezTo>
                <a:cubicBezTo>
                  <a:pt x="687" y="44"/>
                  <a:pt x="674" y="38"/>
                  <a:pt x="661" y="33"/>
                </a:cubicBezTo>
                <a:cubicBezTo>
                  <a:pt x="641" y="52"/>
                  <a:pt x="623" y="73"/>
                  <a:pt x="606" y="95"/>
                </a:cubicBezTo>
                <a:cubicBezTo>
                  <a:pt x="596" y="92"/>
                  <a:pt x="586" y="89"/>
                  <a:pt x="576" y="86"/>
                </a:cubicBezTo>
                <a:cubicBezTo>
                  <a:pt x="566" y="84"/>
                  <a:pt x="555" y="82"/>
                  <a:pt x="545" y="81"/>
                </a:cubicBezTo>
                <a:cubicBezTo>
                  <a:pt x="541" y="54"/>
                  <a:pt x="535" y="28"/>
                  <a:pt x="528" y="2"/>
                </a:cubicBezTo>
                <a:cubicBezTo>
                  <a:pt x="513" y="0"/>
                  <a:pt x="499" y="0"/>
                  <a:pt x="485" y="0"/>
                </a:cubicBezTo>
                <a:cubicBezTo>
                  <a:pt x="474" y="25"/>
                  <a:pt x="464" y="51"/>
                  <a:pt x="457" y="77"/>
                </a:cubicBezTo>
                <a:cubicBezTo>
                  <a:pt x="446" y="78"/>
                  <a:pt x="436" y="79"/>
                  <a:pt x="425" y="80"/>
                </a:cubicBezTo>
                <a:cubicBezTo>
                  <a:pt x="415" y="82"/>
                  <a:pt x="404" y="84"/>
                  <a:pt x="394" y="86"/>
                </a:cubicBezTo>
                <a:cubicBezTo>
                  <a:pt x="381" y="63"/>
                  <a:pt x="366" y="41"/>
                  <a:pt x="350" y="19"/>
                </a:cubicBezTo>
                <a:cubicBezTo>
                  <a:pt x="336" y="23"/>
                  <a:pt x="322" y="27"/>
                  <a:pt x="309" y="32"/>
                </a:cubicBezTo>
                <a:cubicBezTo>
                  <a:pt x="308" y="60"/>
                  <a:pt x="309" y="88"/>
                  <a:pt x="311" y="115"/>
                </a:cubicBezTo>
                <a:cubicBezTo>
                  <a:pt x="301" y="119"/>
                  <a:pt x="292" y="124"/>
                  <a:pt x="283" y="129"/>
                </a:cubicBezTo>
                <a:cubicBezTo>
                  <a:pt x="273" y="134"/>
                  <a:pt x="264" y="140"/>
                  <a:pt x="256" y="146"/>
                </a:cubicBezTo>
                <a:cubicBezTo>
                  <a:pt x="235" y="129"/>
                  <a:pt x="213" y="113"/>
                  <a:pt x="190" y="99"/>
                </a:cubicBezTo>
                <a:cubicBezTo>
                  <a:pt x="178" y="108"/>
                  <a:pt x="167" y="117"/>
                  <a:pt x="157" y="126"/>
                </a:cubicBezTo>
                <a:cubicBezTo>
                  <a:pt x="166" y="153"/>
                  <a:pt x="176" y="178"/>
                  <a:pt x="188" y="203"/>
                </a:cubicBezTo>
                <a:cubicBezTo>
                  <a:pt x="181" y="210"/>
                  <a:pt x="174" y="218"/>
                  <a:pt x="167" y="226"/>
                </a:cubicBezTo>
                <a:cubicBezTo>
                  <a:pt x="161" y="235"/>
                  <a:pt x="154" y="243"/>
                  <a:pt x="148" y="252"/>
                </a:cubicBezTo>
                <a:cubicBezTo>
                  <a:pt x="122" y="243"/>
                  <a:pt x="97" y="237"/>
                  <a:pt x="70" y="232"/>
                </a:cubicBezTo>
                <a:cubicBezTo>
                  <a:pt x="62" y="244"/>
                  <a:pt x="55" y="256"/>
                  <a:pt x="49" y="269"/>
                </a:cubicBezTo>
                <a:cubicBezTo>
                  <a:pt x="67" y="290"/>
                  <a:pt x="86" y="310"/>
                  <a:pt x="106" y="329"/>
                </a:cubicBezTo>
                <a:cubicBezTo>
                  <a:pt x="102" y="339"/>
                  <a:pt x="98" y="348"/>
                  <a:pt x="95" y="358"/>
                </a:cubicBezTo>
                <a:cubicBezTo>
                  <a:pt x="91" y="369"/>
                  <a:pt x="88" y="379"/>
                  <a:pt x="86" y="389"/>
                </a:cubicBezTo>
                <a:cubicBezTo>
                  <a:pt x="59" y="391"/>
                  <a:pt x="32" y="394"/>
                  <a:pt x="6" y="399"/>
                </a:cubicBezTo>
                <a:cubicBezTo>
                  <a:pt x="3" y="413"/>
                  <a:pt x="1" y="427"/>
                  <a:pt x="0" y="441"/>
                </a:cubicBezTo>
                <a:cubicBezTo>
                  <a:pt x="24" y="454"/>
                  <a:pt x="49" y="466"/>
                  <a:pt x="74" y="476"/>
                </a:cubicBezTo>
                <a:cubicBezTo>
                  <a:pt x="74" y="487"/>
                  <a:pt x="74" y="497"/>
                  <a:pt x="75" y="508"/>
                </a:cubicBezTo>
                <a:cubicBezTo>
                  <a:pt x="75" y="518"/>
                  <a:pt x="76" y="529"/>
                  <a:pt x="78" y="539"/>
                </a:cubicBezTo>
                <a:cubicBezTo>
                  <a:pt x="53" y="551"/>
                  <a:pt x="30" y="563"/>
                  <a:pt x="6" y="577"/>
                </a:cubicBezTo>
                <a:cubicBezTo>
                  <a:pt x="9" y="591"/>
                  <a:pt x="12" y="605"/>
                  <a:pt x="16" y="619"/>
                </a:cubicBezTo>
                <a:cubicBezTo>
                  <a:pt x="44" y="623"/>
                  <a:pt x="71" y="625"/>
                  <a:pt x="98" y="625"/>
                </a:cubicBezTo>
                <a:cubicBezTo>
                  <a:pt x="102" y="635"/>
                  <a:pt x="106" y="645"/>
                  <a:pt x="110" y="654"/>
                </a:cubicBezTo>
                <a:cubicBezTo>
                  <a:pt x="114" y="664"/>
                  <a:pt x="119" y="674"/>
                  <a:pt x="124" y="683"/>
                </a:cubicBezTo>
                <a:cubicBezTo>
                  <a:pt x="106" y="702"/>
                  <a:pt x="88" y="723"/>
                  <a:pt x="71" y="744"/>
                </a:cubicBezTo>
                <a:cubicBezTo>
                  <a:pt x="79" y="756"/>
                  <a:pt x="87" y="768"/>
                  <a:pt x="96" y="779"/>
                </a:cubicBezTo>
                <a:cubicBezTo>
                  <a:pt x="123" y="773"/>
                  <a:pt x="149" y="765"/>
                  <a:pt x="174" y="755"/>
                </a:cubicBezTo>
                <a:cubicBezTo>
                  <a:pt x="181" y="763"/>
                  <a:pt x="189" y="771"/>
                  <a:pt x="196" y="778"/>
                </a:cubicBezTo>
                <a:cubicBezTo>
                  <a:pt x="204" y="786"/>
                  <a:pt x="211" y="793"/>
                  <a:pt x="220" y="800"/>
                </a:cubicBezTo>
                <a:cubicBezTo>
                  <a:pt x="209" y="824"/>
                  <a:pt x="200" y="850"/>
                  <a:pt x="192" y="876"/>
                </a:cubicBezTo>
                <a:cubicBezTo>
                  <a:pt x="204" y="884"/>
                  <a:pt x="216" y="892"/>
                  <a:pt x="228" y="900"/>
                </a:cubicBezTo>
                <a:cubicBezTo>
                  <a:pt x="251" y="884"/>
                  <a:pt x="272" y="867"/>
                  <a:pt x="293" y="849"/>
                </a:cubicBezTo>
                <a:cubicBezTo>
                  <a:pt x="302" y="854"/>
                  <a:pt x="311" y="858"/>
                  <a:pt x="321" y="863"/>
                </a:cubicBezTo>
                <a:cubicBezTo>
                  <a:pt x="331" y="867"/>
                  <a:pt x="341" y="871"/>
                  <a:pt x="351" y="874"/>
                </a:cubicBezTo>
                <a:cubicBezTo>
                  <a:pt x="350" y="901"/>
                  <a:pt x="351" y="928"/>
                  <a:pt x="353" y="955"/>
                </a:cubicBezTo>
                <a:cubicBezTo>
                  <a:pt x="366" y="959"/>
                  <a:pt x="380" y="962"/>
                  <a:pt x="394" y="965"/>
                </a:cubicBezTo>
                <a:cubicBezTo>
                  <a:pt x="410" y="942"/>
                  <a:pt x="424" y="918"/>
                  <a:pt x="436" y="894"/>
                </a:cubicBezTo>
                <a:cubicBezTo>
                  <a:pt x="447" y="895"/>
                  <a:pt x="457" y="896"/>
                  <a:pt x="468" y="896"/>
                </a:cubicBezTo>
                <a:cubicBezTo>
                  <a:pt x="479" y="897"/>
                  <a:pt x="489" y="897"/>
                  <a:pt x="500" y="896"/>
                </a:cubicBezTo>
                <a:cubicBezTo>
                  <a:pt x="509" y="921"/>
                  <a:pt x="519" y="947"/>
                  <a:pt x="531" y="971"/>
                </a:cubicBezTo>
                <a:cubicBezTo>
                  <a:pt x="545" y="969"/>
                  <a:pt x="559" y="967"/>
                  <a:pt x="573" y="965"/>
                </a:cubicBezTo>
                <a:cubicBezTo>
                  <a:pt x="580" y="937"/>
                  <a:pt x="584" y="911"/>
                  <a:pt x="587" y="884"/>
                </a:cubicBezTo>
                <a:cubicBezTo>
                  <a:pt x="597" y="881"/>
                  <a:pt x="607" y="878"/>
                  <a:pt x="617" y="875"/>
                </a:cubicBezTo>
                <a:cubicBezTo>
                  <a:pt x="627" y="871"/>
                  <a:pt x="637" y="867"/>
                  <a:pt x="647" y="863"/>
                </a:cubicBezTo>
                <a:cubicBezTo>
                  <a:pt x="664" y="883"/>
                  <a:pt x="683" y="903"/>
                  <a:pt x="703" y="921"/>
                </a:cubicBezTo>
                <a:cubicBezTo>
                  <a:pt x="716" y="915"/>
                  <a:pt x="728" y="908"/>
                  <a:pt x="740" y="900"/>
                </a:cubicBezTo>
                <a:cubicBezTo>
                  <a:pt x="736" y="873"/>
                  <a:pt x="731" y="846"/>
                  <a:pt x="723" y="820"/>
                </a:cubicBezTo>
                <a:cubicBezTo>
                  <a:pt x="732" y="814"/>
                  <a:pt x="740" y="807"/>
                  <a:pt x="748" y="800"/>
                </a:cubicBezTo>
                <a:cubicBezTo>
                  <a:pt x="757" y="794"/>
                  <a:pt x="764" y="786"/>
                  <a:pt x="772" y="779"/>
                </a:cubicBezTo>
                <a:cubicBezTo>
                  <a:pt x="795" y="792"/>
                  <a:pt x="820" y="803"/>
                  <a:pt x="845" y="813"/>
                </a:cubicBezTo>
                <a:cubicBezTo>
                  <a:pt x="855" y="802"/>
                  <a:pt x="864" y="791"/>
                  <a:pt x="872" y="780"/>
                </a:cubicBezTo>
                <a:cubicBezTo>
                  <a:pt x="859" y="756"/>
                  <a:pt x="844" y="733"/>
                  <a:pt x="828" y="711"/>
                </a:cubicBezTo>
                <a:cubicBezTo>
                  <a:pt x="834" y="702"/>
                  <a:pt x="839" y="693"/>
                  <a:pt x="844" y="684"/>
                </a:cubicBezTo>
                <a:cubicBezTo>
                  <a:pt x="849" y="674"/>
                  <a:pt x="854" y="665"/>
                  <a:pt x="858" y="655"/>
                </a:cubicBezTo>
                <a:cubicBezTo>
                  <a:pt x="885" y="659"/>
                  <a:pt x="911" y="660"/>
                  <a:pt x="939" y="661"/>
                </a:cubicBezTo>
                <a:cubicBezTo>
                  <a:pt x="944" y="647"/>
                  <a:pt x="948" y="634"/>
                  <a:pt x="952" y="620"/>
                </a:cubicBezTo>
                <a:cubicBezTo>
                  <a:pt x="931" y="602"/>
                  <a:pt x="908" y="586"/>
                  <a:pt x="886" y="572"/>
                </a:cubicBezTo>
                <a:cubicBezTo>
                  <a:pt x="888" y="561"/>
                  <a:pt x="890" y="551"/>
                  <a:pt x="891" y="541"/>
                </a:cubicBezTo>
                <a:close/>
                <a:moveTo>
                  <a:pt x="803" y="529"/>
                </a:moveTo>
                <a:cubicBezTo>
                  <a:pt x="798" y="568"/>
                  <a:pt x="785" y="606"/>
                  <a:pt x="766" y="641"/>
                </a:cubicBezTo>
                <a:cubicBezTo>
                  <a:pt x="747" y="676"/>
                  <a:pt x="721" y="707"/>
                  <a:pt x="691" y="732"/>
                </a:cubicBezTo>
                <a:cubicBezTo>
                  <a:pt x="661" y="758"/>
                  <a:pt x="626" y="778"/>
                  <a:pt x="588" y="790"/>
                </a:cubicBezTo>
                <a:cubicBezTo>
                  <a:pt x="551" y="803"/>
                  <a:pt x="511" y="809"/>
                  <a:pt x="472" y="807"/>
                </a:cubicBezTo>
                <a:cubicBezTo>
                  <a:pt x="432" y="806"/>
                  <a:pt x="393" y="797"/>
                  <a:pt x="357" y="781"/>
                </a:cubicBezTo>
                <a:cubicBezTo>
                  <a:pt x="320" y="765"/>
                  <a:pt x="287" y="743"/>
                  <a:pt x="259" y="715"/>
                </a:cubicBezTo>
                <a:cubicBezTo>
                  <a:pt x="230" y="687"/>
                  <a:pt x="207" y="654"/>
                  <a:pt x="191" y="618"/>
                </a:cubicBezTo>
                <a:cubicBezTo>
                  <a:pt x="175" y="582"/>
                  <a:pt x="166" y="543"/>
                  <a:pt x="164" y="503"/>
                </a:cubicBezTo>
                <a:cubicBezTo>
                  <a:pt x="161" y="464"/>
                  <a:pt x="167" y="424"/>
                  <a:pt x="179" y="386"/>
                </a:cubicBezTo>
                <a:cubicBezTo>
                  <a:pt x="191" y="349"/>
                  <a:pt x="211" y="313"/>
                  <a:pt x="236" y="283"/>
                </a:cubicBezTo>
                <a:cubicBezTo>
                  <a:pt x="261" y="252"/>
                  <a:pt x="292" y="226"/>
                  <a:pt x="326" y="207"/>
                </a:cubicBezTo>
                <a:cubicBezTo>
                  <a:pt x="361" y="187"/>
                  <a:pt x="399" y="174"/>
                  <a:pt x="438" y="168"/>
                </a:cubicBezTo>
                <a:cubicBezTo>
                  <a:pt x="477" y="163"/>
                  <a:pt x="517" y="164"/>
                  <a:pt x="556" y="173"/>
                </a:cubicBezTo>
                <a:cubicBezTo>
                  <a:pt x="594" y="182"/>
                  <a:pt x="632" y="198"/>
                  <a:pt x="664" y="220"/>
                </a:cubicBezTo>
                <a:cubicBezTo>
                  <a:pt x="697" y="242"/>
                  <a:pt x="726" y="271"/>
                  <a:pt x="748" y="303"/>
                </a:cubicBezTo>
                <a:cubicBezTo>
                  <a:pt x="771" y="336"/>
                  <a:pt x="787" y="372"/>
                  <a:pt x="797" y="411"/>
                </a:cubicBezTo>
                <a:cubicBezTo>
                  <a:pt x="806" y="450"/>
                  <a:pt x="808" y="490"/>
                  <a:pt x="803" y="5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63E5650-B19C-487A-80D4-680CCB0F9ED0}"/>
              </a:ext>
            </a:extLst>
          </p:cNvPr>
          <p:cNvSpPr>
            <a:spLocks noEditPoints="1"/>
          </p:cNvSpPr>
          <p:nvPr/>
        </p:nvSpPr>
        <p:spPr bwMode="auto">
          <a:xfrm>
            <a:off x="4990800" y="2326282"/>
            <a:ext cx="1545366" cy="1545366"/>
          </a:xfrm>
          <a:custGeom>
            <a:avLst/>
            <a:gdLst>
              <a:gd name="T0" fmla="*/ 894 w 971"/>
              <a:gd name="T1" fmla="*/ 509 h 971"/>
              <a:gd name="T2" fmla="*/ 969 w 971"/>
              <a:gd name="T3" fmla="*/ 442 h 971"/>
              <a:gd name="T4" fmla="*/ 883 w 971"/>
              <a:gd name="T5" fmla="*/ 390 h 971"/>
              <a:gd name="T6" fmla="*/ 938 w 971"/>
              <a:gd name="T7" fmla="*/ 309 h 971"/>
              <a:gd name="T8" fmla="*/ 838 w 971"/>
              <a:gd name="T9" fmla="*/ 279 h 971"/>
              <a:gd name="T10" fmla="*/ 802 w 971"/>
              <a:gd name="T11" fmla="*/ 227 h 971"/>
              <a:gd name="T12" fmla="*/ 813 w 971"/>
              <a:gd name="T13" fmla="*/ 127 h 971"/>
              <a:gd name="T14" fmla="*/ 714 w 971"/>
              <a:gd name="T15" fmla="*/ 146 h 971"/>
              <a:gd name="T16" fmla="*/ 700 w 971"/>
              <a:gd name="T17" fmla="*/ 50 h 971"/>
              <a:gd name="T18" fmla="*/ 606 w 971"/>
              <a:gd name="T19" fmla="*/ 95 h 971"/>
              <a:gd name="T20" fmla="*/ 545 w 971"/>
              <a:gd name="T21" fmla="*/ 81 h 971"/>
              <a:gd name="T22" fmla="*/ 485 w 971"/>
              <a:gd name="T23" fmla="*/ 0 h 971"/>
              <a:gd name="T24" fmla="*/ 425 w 971"/>
              <a:gd name="T25" fmla="*/ 80 h 971"/>
              <a:gd name="T26" fmla="*/ 350 w 971"/>
              <a:gd name="T27" fmla="*/ 19 h 971"/>
              <a:gd name="T28" fmla="*/ 311 w 971"/>
              <a:gd name="T29" fmla="*/ 115 h 971"/>
              <a:gd name="T30" fmla="*/ 256 w 971"/>
              <a:gd name="T31" fmla="*/ 146 h 971"/>
              <a:gd name="T32" fmla="*/ 157 w 971"/>
              <a:gd name="T33" fmla="*/ 126 h 971"/>
              <a:gd name="T34" fmla="*/ 167 w 971"/>
              <a:gd name="T35" fmla="*/ 226 h 971"/>
              <a:gd name="T36" fmla="*/ 70 w 971"/>
              <a:gd name="T37" fmla="*/ 232 h 971"/>
              <a:gd name="T38" fmla="*/ 106 w 971"/>
              <a:gd name="T39" fmla="*/ 329 h 971"/>
              <a:gd name="T40" fmla="*/ 86 w 971"/>
              <a:gd name="T41" fmla="*/ 389 h 971"/>
              <a:gd name="T42" fmla="*/ 0 w 971"/>
              <a:gd name="T43" fmla="*/ 441 h 971"/>
              <a:gd name="T44" fmla="*/ 75 w 971"/>
              <a:gd name="T45" fmla="*/ 508 h 971"/>
              <a:gd name="T46" fmla="*/ 6 w 971"/>
              <a:gd name="T47" fmla="*/ 577 h 971"/>
              <a:gd name="T48" fmla="*/ 98 w 971"/>
              <a:gd name="T49" fmla="*/ 625 h 971"/>
              <a:gd name="T50" fmla="*/ 124 w 971"/>
              <a:gd name="T51" fmla="*/ 683 h 971"/>
              <a:gd name="T52" fmla="*/ 96 w 971"/>
              <a:gd name="T53" fmla="*/ 779 h 971"/>
              <a:gd name="T54" fmla="*/ 196 w 971"/>
              <a:gd name="T55" fmla="*/ 778 h 971"/>
              <a:gd name="T56" fmla="*/ 192 w 971"/>
              <a:gd name="T57" fmla="*/ 876 h 971"/>
              <a:gd name="T58" fmla="*/ 293 w 971"/>
              <a:gd name="T59" fmla="*/ 849 h 971"/>
              <a:gd name="T60" fmla="*/ 351 w 971"/>
              <a:gd name="T61" fmla="*/ 874 h 971"/>
              <a:gd name="T62" fmla="*/ 394 w 971"/>
              <a:gd name="T63" fmla="*/ 965 h 971"/>
              <a:gd name="T64" fmla="*/ 468 w 971"/>
              <a:gd name="T65" fmla="*/ 896 h 971"/>
              <a:gd name="T66" fmla="*/ 531 w 971"/>
              <a:gd name="T67" fmla="*/ 971 h 971"/>
              <a:gd name="T68" fmla="*/ 587 w 971"/>
              <a:gd name="T69" fmla="*/ 884 h 971"/>
              <a:gd name="T70" fmla="*/ 647 w 971"/>
              <a:gd name="T71" fmla="*/ 863 h 971"/>
              <a:gd name="T72" fmla="*/ 740 w 971"/>
              <a:gd name="T73" fmla="*/ 900 h 971"/>
              <a:gd name="T74" fmla="*/ 748 w 971"/>
              <a:gd name="T75" fmla="*/ 800 h 971"/>
              <a:gd name="T76" fmla="*/ 845 w 971"/>
              <a:gd name="T77" fmla="*/ 813 h 971"/>
              <a:gd name="T78" fmla="*/ 828 w 971"/>
              <a:gd name="T79" fmla="*/ 711 h 971"/>
              <a:gd name="T80" fmla="*/ 858 w 971"/>
              <a:gd name="T81" fmla="*/ 655 h 971"/>
              <a:gd name="T82" fmla="*/ 952 w 971"/>
              <a:gd name="T83" fmla="*/ 620 h 971"/>
              <a:gd name="T84" fmla="*/ 891 w 971"/>
              <a:gd name="T85" fmla="*/ 541 h 971"/>
              <a:gd name="T86" fmla="*/ 766 w 971"/>
              <a:gd name="T87" fmla="*/ 641 h 971"/>
              <a:gd name="T88" fmla="*/ 588 w 971"/>
              <a:gd name="T89" fmla="*/ 790 h 971"/>
              <a:gd name="T90" fmla="*/ 357 w 971"/>
              <a:gd name="T91" fmla="*/ 781 h 971"/>
              <a:gd name="T92" fmla="*/ 191 w 971"/>
              <a:gd name="T93" fmla="*/ 618 h 971"/>
              <a:gd name="T94" fmla="*/ 179 w 971"/>
              <a:gd name="T95" fmla="*/ 386 h 971"/>
              <a:gd name="T96" fmla="*/ 326 w 971"/>
              <a:gd name="T97" fmla="*/ 207 h 971"/>
              <a:gd name="T98" fmla="*/ 556 w 971"/>
              <a:gd name="T99" fmla="*/ 173 h 971"/>
              <a:gd name="T100" fmla="*/ 748 w 971"/>
              <a:gd name="T101" fmla="*/ 303 h 971"/>
              <a:gd name="T102" fmla="*/ 803 w 971"/>
              <a:gd name="T103" fmla="*/ 529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71" h="971">
                <a:moveTo>
                  <a:pt x="891" y="541"/>
                </a:moveTo>
                <a:cubicBezTo>
                  <a:pt x="893" y="530"/>
                  <a:pt x="893" y="520"/>
                  <a:pt x="894" y="509"/>
                </a:cubicBezTo>
                <a:cubicBezTo>
                  <a:pt x="920" y="502"/>
                  <a:pt x="946" y="494"/>
                  <a:pt x="971" y="485"/>
                </a:cubicBezTo>
                <a:cubicBezTo>
                  <a:pt x="971" y="470"/>
                  <a:pt x="970" y="456"/>
                  <a:pt x="969" y="442"/>
                </a:cubicBezTo>
                <a:cubicBezTo>
                  <a:pt x="942" y="433"/>
                  <a:pt x="916" y="426"/>
                  <a:pt x="889" y="421"/>
                </a:cubicBezTo>
                <a:cubicBezTo>
                  <a:pt x="888" y="411"/>
                  <a:pt x="885" y="400"/>
                  <a:pt x="883" y="390"/>
                </a:cubicBezTo>
                <a:cubicBezTo>
                  <a:pt x="880" y="380"/>
                  <a:pt x="878" y="370"/>
                  <a:pt x="874" y="360"/>
                </a:cubicBezTo>
                <a:cubicBezTo>
                  <a:pt x="896" y="344"/>
                  <a:pt x="917" y="327"/>
                  <a:pt x="938" y="309"/>
                </a:cubicBezTo>
                <a:cubicBezTo>
                  <a:pt x="932" y="296"/>
                  <a:pt x="927" y="283"/>
                  <a:pt x="920" y="270"/>
                </a:cubicBezTo>
                <a:cubicBezTo>
                  <a:pt x="893" y="271"/>
                  <a:pt x="865" y="274"/>
                  <a:pt x="838" y="279"/>
                </a:cubicBezTo>
                <a:cubicBezTo>
                  <a:pt x="833" y="270"/>
                  <a:pt x="828" y="261"/>
                  <a:pt x="821" y="252"/>
                </a:cubicBezTo>
                <a:cubicBezTo>
                  <a:pt x="816" y="244"/>
                  <a:pt x="809" y="235"/>
                  <a:pt x="802" y="227"/>
                </a:cubicBezTo>
                <a:cubicBezTo>
                  <a:pt x="817" y="205"/>
                  <a:pt x="831" y="181"/>
                  <a:pt x="843" y="157"/>
                </a:cubicBezTo>
                <a:cubicBezTo>
                  <a:pt x="833" y="147"/>
                  <a:pt x="823" y="137"/>
                  <a:pt x="813" y="127"/>
                </a:cubicBezTo>
                <a:cubicBezTo>
                  <a:pt x="787" y="139"/>
                  <a:pt x="763" y="151"/>
                  <a:pt x="740" y="165"/>
                </a:cubicBezTo>
                <a:cubicBezTo>
                  <a:pt x="731" y="159"/>
                  <a:pt x="723" y="153"/>
                  <a:pt x="714" y="146"/>
                </a:cubicBezTo>
                <a:cubicBezTo>
                  <a:pt x="705" y="141"/>
                  <a:pt x="696" y="135"/>
                  <a:pt x="687" y="130"/>
                </a:cubicBezTo>
                <a:cubicBezTo>
                  <a:pt x="693" y="104"/>
                  <a:pt x="697" y="77"/>
                  <a:pt x="700" y="50"/>
                </a:cubicBezTo>
                <a:cubicBezTo>
                  <a:pt x="687" y="44"/>
                  <a:pt x="674" y="38"/>
                  <a:pt x="661" y="33"/>
                </a:cubicBezTo>
                <a:cubicBezTo>
                  <a:pt x="641" y="52"/>
                  <a:pt x="623" y="73"/>
                  <a:pt x="606" y="95"/>
                </a:cubicBezTo>
                <a:cubicBezTo>
                  <a:pt x="596" y="92"/>
                  <a:pt x="586" y="89"/>
                  <a:pt x="576" y="86"/>
                </a:cubicBezTo>
                <a:cubicBezTo>
                  <a:pt x="566" y="84"/>
                  <a:pt x="555" y="82"/>
                  <a:pt x="545" y="81"/>
                </a:cubicBezTo>
                <a:cubicBezTo>
                  <a:pt x="541" y="54"/>
                  <a:pt x="535" y="28"/>
                  <a:pt x="528" y="2"/>
                </a:cubicBezTo>
                <a:cubicBezTo>
                  <a:pt x="513" y="0"/>
                  <a:pt x="499" y="0"/>
                  <a:pt x="485" y="0"/>
                </a:cubicBezTo>
                <a:cubicBezTo>
                  <a:pt x="474" y="25"/>
                  <a:pt x="464" y="51"/>
                  <a:pt x="457" y="77"/>
                </a:cubicBezTo>
                <a:cubicBezTo>
                  <a:pt x="446" y="78"/>
                  <a:pt x="436" y="79"/>
                  <a:pt x="425" y="80"/>
                </a:cubicBezTo>
                <a:cubicBezTo>
                  <a:pt x="415" y="82"/>
                  <a:pt x="404" y="84"/>
                  <a:pt x="394" y="86"/>
                </a:cubicBezTo>
                <a:cubicBezTo>
                  <a:pt x="381" y="63"/>
                  <a:pt x="366" y="41"/>
                  <a:pt x="350" y="19"/>
                </a:cubicBezTo>
                <a:cubicBezTo>
                  <a:pt x="336" y="23"/>
                  <a:pt x="322" y="27"/>
                  <a:pt x="309" y="32"/>
                </a:cubicBezTo>
                <a:cubicBezTo>
                  <a:pt x="308" y="60"/>
                  <a:pt x="309" y="88"/>
                  <a:pt x="311" y="115"/>
                </a:cubicBezTo>
                <a:cubicBezTo>
                  <a:pt x="301" y="119"/>
                  <a:pt x="292" y="124"/>
                  <a:pt x="283" y="129"/>
                </a:cubicBezTo>
                <a:cubicBezTo>
                  <a:pt x="273" y="134"/>
                  <a:pt x="264" y="140"/>
                  <a:pt x="256" y="146"/>
                </a:cubicBezTo>
                <a:cubicBezTo>
                  <a:pt x="235" y="129"/>
                  <a:pt x="213" y="113"/>
                  <a:pt x="190" y="99"/>
                </a:cubicBezTo>
                <a:cubicBezTo>
                  <a:pt x="178" y="108"/>
                  <a:pt x="167" y="117"/>
                  <a:pt x="157" y="126"/>
                </a:cubicBezTo>
                <a:cubicBezTo>
                  <a:pt x="166" y="153"/>
                  <a:pt x="176" y="178"/>
                  <a:pt x="188" y="203"/>
                </a:cubicBezTo>
                <a:cubicBezTo>
                  <a:pt x="181" y="210"/>
                  <a:pt x="174" y="218"/>
                  <a:pt x="167" y="226"/>
                </a:cubicBezTo>
                <a:cubicBezTo>
                  <a:pt x="161" y="235"/>
                  <a:pt x="154" y="243"/>
                  <a:pt x="148" y="252"/>
                </a:cubicBezTo>
                <a:cubicBezTo>
                  <a:pt x="122" y="243"/>
                  <a:pt x="97" y="237"/>
                  <a:pt x="70" y="232"/>
                </a:cubicBezTo>
                <a:cubicBezTo>
                  <a:pt x="62" y="244"/>
                  <a:pt x="55" y="256"/>
                  <a:pt x="49" y="269"/>
                </a:cubicBezTo>
                <a:cubicBezTo>
                  <a:pt x="67" y="290"/>
                  <a:pt x="86" y="310"/>
                  <a:pt x="106" y="329"/>
                </a:cubicBezTo>
                <a:cubicBezTo>
                  <a:pt x="102" y="339"/>
                  <a:pt x="98" y="348"/>
                  <a:pt x="95" y="358"/>
                </a:cubicBezTo>
                <a:cubicBezTo>
                  <a:pt x="91" y="369"/>
                  <a:pt x="88" y="379"/>
                  <a:pt x="86" y="389"/>
                </a:cubicBezTo>
                <a:cubicBezTo>
                  <a:pt x="59" y="391"/>
                  <a:pt x="32" y="394"/>
                  <a:pt x="6" y="399"/>
                </a:cubicBezTo>
                <a:cubicBezTo>
                  <a:pt x="3" y="413"/>
                  <a:pt x="1" y="427"/>
                  <a:pt x="0" y="441"/>
                </a:cubicBezTo>
                <a:cubicBezTo>
                  <a:pt x="24" y="454"/>
                  <a:pt x="49" y="466"/>
                  <a:pt x="74" y="476"/>
                </a:cubicBezTo>
                <a:cubicBezTo>
                  <a:pt x="74" y="487"/>
                  <a:pt x="74" y="497"/>
                  <a:pt x="75" y="508"/>
                </a:cubicBezTo>
                <a:cubicBezTo>
                  <a:pt x="75" y="518"/>
                  <a:pt x="76" y="529"/>
                  <a:pt x="78" y="539"/>
                </a:cubicBezTo>
                <a:cubicBezTo>
                  <a:pt x="53" y="551"/>
                  <a:pt x="30" y="563"/>
                  <a:pt x="6" y="577"/>
                </a:cubicBezTo>
                <a:cubicBezTo>
                  <a:pt x="9" y="591"/>
                  <a:pt x="12" y="605"/>
                  <a:pt x="16" y="619"/>
                </a:cubicBezTo>
                <a:cubicBezTo>
                  <a:pt x="44" y="623"/>
                  <a:pt x="71" y="625"/>
                  <a:pt x="98" y="625"/>
                </a:cubicBezTo>
                <a:cubicBezTo>
                  <a:pt x="102" y="635"/>
                  <a:pt x="106" y="645"/>
                  <a:pt x="110" y="654"/>
                </a:cubicBezTo>
                <a:cubicBezTo>
                  <a:pt x="114" y="664"/>
                  <a:pt x="119" y="674"/>
                  <a:pt x="124" y="683"/>
                </a:cubicBezTo>
                <a:cubicBezTo>
                  <a:pt x="106" y="702"/>
                  <a:pt x="88" y="723"/>
                  <a:pt x="71" y="744"/>
                </a:cubicBezTo>
                <a:cubicBezTo>
                  <a:pt x="79" y="756"/>
                  <a:pt x="87" y="768"/>
                  <a:pt x="96" y="779"/>
                </a:cubicBezTo>
                <a:cubicBezTo>
                  <a:pt x="123" y="773"/>
                  <a:pt x="149" y="765"/>
                  <a:pt x="174" y="755"/>
                </a:cubicBezTo>
                <a:cubicBezTo>
                  <a:pt x="181" y="763"/>
                  <a:pt x="189" y="771"/>
                  <a:pt x="196" y="778"/>
                </a:cubicBezTo>
                <a:cubicBezTo>
                  <a:pt x="204" y="786"/>
                  <a:pt x="211" y="793"/>
                  <a:pt x="220" y="800"/>
                </a:cubicBezTo>
                <a:cubicBezTo>
                  <a:pt x="209" y="824"/>
                  <a:pt x="200" y="850"/>
                  <a:pt x="192" y="876"/>
                </a:cubicBezTo>
                <a:cubicBezTo>
                  <a:pt x="204" y="884"/>
                  <a:pt x="216" y="892"/>
                  <a:pt x="228" y="900"/>
                </a:cubicBezTo>
                <a:cubicBezTo>
                  <a:pt x="251" y="884"/>
                  <a:pt x="272" y="867"/>
                  <a:pt x="293" y="849"/>
                </a:cubicBezTo>
                <a:cubicBezTo>
                  <a:pt x="302" y="854"/>
                  <a:pt x="311" y="858"/>
                  <a:pt x="321" y="863"/>
                </a:cubicBezTo>
                <a:cubicBezTo>
                  <a:pt x="331" y="867"/>
                  <a:pt x="341" y="871"/>
                  <a:pt x="351" y="874"/>
                </a:cubicBezTo>
                <a:cubicBezTo>
                  <a:pt x="350" y="901"/>
                  <a:pt x="351" y="928"/>
                  <a:pt x="353" y="955"/>
                </a:cubicBezTo>
                <a:cubicBezTo>
                  <a:pt x="366" y="959"/>
                  <a:pt x="380" y="962"/>
                  <a:pt x="394" y="965"/>
                </a:cubicBezTo>
                <a:cubicBezTo>
                  <a:pt x="410" y="942"/>
                  <a:pt x="424" y="918"/>
                  <a:pt x="436" y="894"/>
                </a:cubicBezTo>
                <a:cubicBezTo>
                  <a:pt x="447" y="895"/>
                  <a:pt x="457" y="896"/>
                  <a:pt x="468" y="896"/>
                </a:cubicBezTo>
                <a:cubicBezTo>
                  <a:pt x="479" y="897"/>
                  <a:pt x="489" y="897"/>
                  <a:pt x="500" y="896"/>
                </a:cubicBezTo>
                <a:cubicBezTo>
                  <a:pt x="509" y="921"/>
                  <a:pt x="519" y="947"/>
                  <a:pt x="531" y="971"/>
                </a:cubicBezTo>
                <a:cubicBezTo>
                  <a:pt x="545" y="969"/>
                  <a:pt x="559" y="967"/>
                  <a:pt x="573" y="965"/>
                </a:cubicBezTo>
                <a:cubicBezTo>
                  <a:pt x="580" y="937"/>
                  <a:pt x="584" y="911"/>
                  <a:pt x="587" y="884"/>
                </a:cubicBezTo>
                <a:cubicBezTo>
                  <a:pt x="597" y="881"/>
                  <a:pt x="607" y="878"/>
                  <a:pt x="617" y="875"/>
                </a:cubicBezTo>
                <a:cubicBezTo>
                  <a:pt x="627" y="871"/>
                  <a:pt x="637" y="867"/>
                  <a:pt x="647" y="863"/>
                </a:cubicBezTo>
                <a:cubicBezTo>
                  <a:pt x="664" y="883"/>
                  <a:pt x="683" y="903"/>
                  <a:pt x="703" y="921"/>
                </a:cubicBezTo>
                <a:cubicBezTo>
                  <a:pt x="716" y="915"/>
                  <a:pt x="728" y="908"/>
                  <a:pt x="740" y="900"/>
                </a:cubicBezTo>
                <a:cubicBezTo>
                  <a:pt x="736" y="873"/>
                  <a:pt x="731" y="846"/>
                  <a:pt x="723" y="820"/>
                </a:cubicBezTo>
                <a:cubicBezTo>
                  <a:pt x="732" y="814"/>
                  <a:pt x="740" y="807"/>
                  <a:pt x="748" y="800"/>
                </a:cubicBezTo>
                <a:cubicBezTo>
                  <a:pt x="757" y="794"/>
                  <a:pt x="764" y="786"/>
                  <a:pt x="772" y="779"/>
                </a:cubicBezTo>
                <a:cubicBezTo>
                  <a:pt x="795" y="792"/>
                  <a:pt x="820" y="803"/>
                  <a:pt x="845" y="813"/>
                </a:cubicBezTo>
                <a:cubicBezTo>
                  <a:pt x="855" y="802"/>
                  <a:pt x="864" y="791"/>
                  <a:pt x="872" y="780"/>
                </a:cubicBezTo>
                <a:cubicBezTo>
                  <a:pt x="859" y="756"/>
                  <a:pt x="844" y="733"/>
                  <a:pt x="828" y="711"/>
                </a:cubicBezTo>
                <a:cubicBezTo>
                  <a:pt x="834" y="702"/>
                  <a:pt x="839" y="693"/>
                  <a:pt x="844" y="684"/>
                </a:cubicBezTo>
                <a:cubicBezTo>
                  <a:pt x="849" y="674"/>
                  <a:pt x="854" y="665"/>
                  <a:pt x="858" y="655"/>
                </a:cubicBezTo>
                <a:cubicBezTo>
                  <a:pt x="885" y="659"/>
                  <a:pt x="911" y="660"/>
                  <a:pt x="939" y="661"/>
                </a:cubicBezTo>
                <a:cubicBezTo>
                  <a:pt x="944" y="647"/>
                  <a:pt x="948" y="634"/>
                  <a:pt x="952" y="620"/>
                </a:cubicBezTo>
                <a:cubicBezTo>
                  <a:pt x="931" y="602"/>
                  <a:pt x="908" y="586"/>
                  <a:pt x="886" y="572"/>
                </a:cubicBezTo>
                <a:cubicBezTo>
                  <a:pt x="888" y="561"/>
                  <a:pt x="890" y="551"/>
                  <a:pt x="891" y="541"/>
                </a:cubicBezTo>
                <a:close/>
                <a:moveTo>
                  <a:pt x="803" y="529"/>
                </a:moveTo>
                <a:cubicBezTo>
                  <a:pt x="798" y="568"/>
                  <a:pt x="785" y="606"/>
                  <a:pt x="766" y="641"/>
                </a:cubicBezTo>
                <a:cubicBezTo>
                  <a:pt x="747" y="676"/>
                  <a:pt x="721" y="707"/>
                  <a:pt x="691" y="732"/>
                </a:cubicBezTo>
                <a:cubicBezTo>
                  <a:pt x="661" y="758"/>
                  <a:pt x="626" y="778"/>
                  <a:pt x="588" y="790"/>
                </a:cubicBezTo>
                <a:cubicBezTo>
                  <a:pt x="551" y="803"/>
                  <a:pt x="511" y="809"/>
                  <a:pt x="472" y="807"/>
                </a:cubicBezTo>
                <a:cubicBezTo>
                  <a:pt x="432" y="806"/>
                  <a:pt x="393" y="797"/>
                  <a:pt x="357" y="781"/>
                </a:cubicBezTo>
                <a:cubicBezTo>
                  <a:pt x="320" y="765"/>
                  <a:pt x="287" y="743"/>
                  <a:pt x="259" y="715"/>
                </a:cubicBezTo>
                <a:cubicBezTo>
                  <a:pt x="230" y="687"/>
                  <a:pt x="207" y="654"/>
                  <a:pt x="191" y="618"/>
                </a:cubicBezTo>
                <a:cubicBezTo>
                  <a:pt x="175" y="582"/>
                  <a:pt x="166" y="543"/>
                  <a:pt x="164" y="503"/>
                </a:cubicBezTo>
                <a:cubicBezTo>
                  <a:pt x="161" y="464"/>
                  <a:pt x="167" y="424"/>
                  <a:pt x="179" y="386"/>
                </a:cubicBezTo>
                <a:cubicBezTo>
                  <a:pt x="191" y="349"/>
                  <a:pt x="211" y="313"/>
                  <a:pt x="236" y="283"/>
                </a:cubicBezTo>
                <a:cubicBezTo>
                  <a:pt x="261" y="252"/>
                  <a:pt x="292" y="226"/>
                  <a:pt x="326" y="207"/>
                </a:cubicBezTo>
                <a:cubicBezTo>
                  <a:pt x="361" y="187"/>
                  <a:pt x="399" y="174"/>
                  <a:pt x="438" y="168"/>
                </a:cubicBezTo>
                <a:cubicBezTo>
                  <a:pt x="477" y="163"/>
                  <a:pt x="517" y="164"/>
                  <a:pt x="556" y="173"/>
                </a:cubicBezTo>
                <a:cubicBezTo>
                  <a:pt x="594" y="182"/>
                  <a:pt x="632" y="198"/>
                  <a:pt x="664" y="220"/>
                </a:cubicBezTo>
                <a:cubicBezTo>
                  <a:pt x="697" y="242"/>
                  <a:pt x="726" y="271"/>
                  <a:pt x="748" y="303"/>
                </a:cubicBezTo>
                <a:cubicBezTo>
                  <a:pt x="771" y="336"/>
                  <a:pt x="787" y="372"/>
                  <a:pt x="797" y="411"/>
                </a:cubicBezTo>
                <a:cubicBezTo>
                  <a:pt x="806" y="450"/>
                  <a:pt x="808" y="490"/>
                  <a:pt x="803" y="5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48511D4B-6DD2-4849-B767-64CFF9108E0E}"/>
              </a:ext>
            </a:extLst>
          </p:cNvPr>
          <p:cNvSpPr>
            <a:spLocks noEditPoints="1"/>
          </p:cNvSpPr>
          <p:nvPr/>
        </p:nvSpPr>
        <p:spPr bwMode="auto">
          <a:xfrm>
            <a:off x="6536166" y="2124885"/>
            <a:ext cx="1062439" cy="1062439"/>
          </a:xfrm>
          <a:custGeom>
            <a:avLst/>
            <a:gdLst>
              <a:gd name="T0" fmla="*/ 894 w 971"/>
              <a:gd name="T1" fmla="*/ 509 h 971"/>
              <a:gd name="T2" fmla="*/ 969 w 971"/>
              <a:gd name="T3" fmla="*/ 442 h 971"/>
              <a:gd name="T4" fmla="*/ 883 w 971"/>
              <a:gd name="T5" fmla="*/ 390 h 971"/>
              <a:gd name="T6" fmla="*/ 938 w 971"/>
              <a:gd name="T7" fmla="*/ 309 h 971"/>
              <a:gd name="T8" fmla="*/ 838 w 971"/>
              <a:gd name="T9" fmla="*/ 279 h 971"/>
              <a:gd name="T10" fmla="*/ 802 w 971"/>
              <a:gd name="T11" fmla="*/ 227 h 971"/>
              <a:gd name="T12" fmla="*/ 813 w 971"/>
              <a:gd name="T13" fmla="*/ 127 h 971"/>
              <a:gd name="T14" fmla="*/ 714 w 971"/>
              <a:gd name="T15" fmla="*/ 146 h 971"/>
              <a:gd name="T16" fmla="*/ 700 w 971"/>
              <a:gd name="T17" fmla="*/ 50 h 971"/>
              <a:gd name="T18" fmla="*/ 606 w 971"/>
              <a:gd name="T19" fmla="*/ 95 h 971"/>
              <a:gd name="T20" fmla="*/ 545 w 971"/>
              <a:gd name="T21" fmla="*/ 81 h 971"/>
              <a:gd name="T22" fmla="*/ 485 w 971"/>
              <a:gd name="T23" fmla="*/ 0 h 971"/>
              <a:gd name="T24" fmla="*/ 425 w 971"/>
              <a:gd name="T25" fmla="*/ 80 h 971"/>
              <a:gd name="T26" fmla="*/ 350 w 971"/>
              <a:gd name="T27" fmla="*/ 19 h 971"/>
              <a:gd name="T28" fmla="*/ 311 w 971"/>
              <a:gd name="T29" fmla="*/ 115 h 971"/>
              <a:gd name="T30" fmla="*/ 256 w 971"/>
              <a:gd name="T31" fmla="*/ 146 h 971"/>
              <a:gd name="T32" fmla="*/ 157 w 971"/>
              <a:gd name="T33" fmla="*/ 126 h 971"/>
              <a:gd name="T34" fmla="*/ 167 w 971"/>
              <a:gd name="T35" fmla="*/ 226 h 971"/>
              <a:gd name="T36" fmla="*/ 70 w 971"/>
              <a:gd name="T37" fmla="*/ 232 h 971"/>
              <a:gd name="T38" fmla="*/ 106 w 971"/>
              <a:gd name="T39" fmla="*/ 329 h 971"/>
              <a:gd name="T40" fmla="*/ 86 w 971"/>
              <a:gd name="T41" fmla="*/ 389 h 971"/>
              <a:gd name="T42" fmla="*/ 0 w 971"/>
              <a:gd name="T43" fmla="*/ 441 h 971"/>
              <a:gd name="T44" fmla="*/ 75 w 971"/>
              <a:gd name="T45" fmla="*/ 508 h 971"/>
              <a:gd name="T46" fmla="*/ 6 w 971"/>
              <a:gd name="T47" fmla="*/ 577 h 971"/>
              <a:gd name="T48" fmla="*/ 98 w 971"/>
              <a:gd name="T49" fmla="*/ 625 h 971"/>
              <a:gd name="T50" fmla="*/ 124 w 971"/>
              <a:gd name="T51" fmla="*/ 683 h 971"/>
              <a:gd name="T52" fmla="*/ 96 w 971"/>
              <a:gd name="T53" fmla="*/ 779 h 971"/>
              <a:gd name="T54" fmla="*/ 196 w 971"/>
              <a:gd name="T55" fmla="*/ 778 h 971"/>
              <a:gd name="T56" fmla="*/ 192 w 971"/>
              <a:gd name="T57" fmla="*/ 876 h 971"/>
              <a:gd name="T58" fmla="*/ 293 w 971"/>
              <a:gd name="T59" fmla="*/ 849 h 971"/>
              <a:gd name="T60" fmla="*/ 351 w 971"/>
              <a:gd name="T61" fmla="*/ 874 h 971"/>
              <a:gd name="T62" fmla="*/ 394 w 971"/>
              <a:gd name="T63" fmla="*/ 965 h 971"/>
              <a:gd name="T64" fmla="*/ 468 w 971"/>
              <a:gd name="T65" fmla="*/ 896 h 971"/>
              <a:gd name="T66" fmla="*/ 531 w 971"/>
              <a:gd name="T67" fmla="*/ 971 h 971"/>
              <a:gd name="T68" fmla="*/ 587 w 971"/>
              <a:gd name="T69" fmla="*/ 884 h 971"/>
              <a:gd name="T70" fmla="*/ 647 w 971"/>
              <a:gd name="T71" fmla="*/ 863 h 971"/>
              <a:gd name="T72" fmla="*/ 740 w 971"/>
              <a:gd name="T73" fmla="*/ 900 h 971"/>
              <a:gd name="T74" fmla="*/ 748 w 971"/>
              <a:gd name="T75" fmla="*/ 800 h 971"/>
              <a:gd name="T76" fmla="*/ 845 w 971"/>
              <a:gd name="T77" fmla="*/ 813 h 971"/>
              <a:gd name="T78" fmla="*/ 828 w 971"/>
              <a:gd name="T79" fmla="*/ 711 h 971"/>
              <a:gd name="T80" fmla="*/ 858 w 971"/>
              <a:gd name="T81" fmla="*/ 655 h 971"/>
              <a:gd name="T82" fmla="*/ 952 w 971"/>
              <a:gd name="T83" fmla="*/ 620 h 971"/>
              <a:gd name="T84" fmla="*/ 891 w 971"/>
              <a:gd name="T85" fmla="*/ 541 h 971"/>
              <a:gd name="T86" fmla="*/ 766 w 971"/>
              <a:gd name="T87" fmla="*/ 641 h 971"/>
              <a:gd name="T88" fmla="*/ 588 w 971"/>
              <a:gd name="T89" fmla="*/ 790 h 971"/>
              <a:gd name="T90" fmla="*/ 357 w 971"/>
              <a:gd name="T91" fmla="*/ 781 h 971"/>
              <a:gd name="T92" fmla="*/ 191 w 971"/>
              <a:gd name="T93" fmla="*/ 618 h 971"/>
              <a:gd name="T94" fmla="*/ 179 w 971"/>
              <a:gd name="T95" fmla="*/ 386 h 971"/>
              <a:gd name="T96" fmla="*/ 326 w 971"/>
              <a:gd name="T97" fmla="*/ 207 h 971"/>
              <a:gd name="T98" fmla="*/ 556 w 971"/>
              <a:gd name="T99" fmla="*/ 173 h 971"/>
              <a:gd name="T100" fmla="*/ 748 w 971"/>
              <a:gd name="T101" fmla="*/ 303 h 971"/>
              <a:gd name="T102" fmla="*/ 803 w 971"/>
              <a:gd name="T103" fmla="*/ 529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71" h="971">
                <a:moveTo>
                  <a:pt x="891" y="541"/>
                </a:moveTo>
                <a:cubicBezTo>
                  <a:pt x="893" y="530"/>
                  <a:pt x="893" y="520"/>
                  <a:pt x="894" y="509"/>
                </a:cubicBezTo>
                <a:cubicBezTo>
                  <a:pt x="920" y="502"/>
                  <a:pt x="946" y="494"/>
                  <a:pt x="971" y="485"/>
                </a:cubicBezTo>
                <a:cubicBezTo>
                  <a:pt x="971" y="470"/>
                  <a:pt x="970" y="456"/>
                  <a:pt x="969" y="442"/>
                </a:cubicBezTo>
                <a:cubicBezTo>
                  <a:pt x="942" y="433"/>
                  <a:pt x="916" y="426"/>
                  <a:pt x="889" y="421"/>
                </a:cubicBezTo>
                <a:cubicBezTo>
                  <a:pt x="888" y="411"/>
                  <a:pt x="885" y="400"/>
                  <a:pt x="883" y="390"/>
                </a:cubicBezTo>
                <a:cubicBezTo>
                  <a:pt x="880" y="380"/>
                  <a:pt x="878" y="370"/>
                  <a:pt x="874" y="360"/>
                </a:cubicBezTo>
                <a:cubicBezTo>
                  <a:pt x="896" y="344"/>
                  <a:pt x="917" y="327"/>
                  <a:pt x="938" y="309"/>
                </a:cubicBezTo>
                <a:cubicBezTo>
                  <a:pt x="932" y="296"/>
                  <a:pt x="927" y="283"/>
                  <a:pt x="920" y="270"/>
                </a:cubicBezTo>
                <a:cubicBezTo>
                  <a:pt x="893" y="271"/>
                  <a:pt x="865" y="274"/>
                  <a:pt x="838" y="279"/>
                </a:cubicBezTo>
                <a:cubicBezTo>
                  <a:pt x="833" y="270"/>
                  <a:pt x="828" y="261"/>
                  <a:pt x="821" y="252"/>
                </a:cubicBezTo>
                <a:cubicBezTo>
                  <a:pt x="816" y="244"/>
                  <a:pt x="809" y="235"/>
                  <a:pt x="802" y="227"/>
                </a:cubicBezTo>
                <a:cubicBezTo>
                  <a:pt x="817" y="205"/>
                  <a:pt x="831" y="181"/>
                  <a:pt x="843" y="157"/>
                </a:cubicBezTo>
                <a:cubicBezTo>
                  <a:pt x="833" y="147"/>
                  <a:pt x="823" y="137"/>
                  <a:pt x="813" y="127"/>
                </a:cubicBezTo>
                <a:cubicBezTo>
                  <a:pt x="787" y="139"/>
                  <a:pt x="763" y="151"/>
                  <a:pt x="740" y="165"/>
                </a:cubicBezTo>
                <a:cubicBezTo>
                  <a:pt x="731" y="159"/>
                  <a:pt x="723" y="153"/>
                  <a:pt x="714" y="146"/>
                </a:cubicBezTo>
                <a:cubicBezTo>
                  <a:pt x="705" y="141"/>
                  <a:pt x="696" y="135"/>
                  <a:pt x="687" y="130"/>
                </a:cubicBezTo>
                <a:cubicBezTo>
                  <a:pt x="693" y="104"/>
                  <a:pt x="697" y="77"/>
                  <a:pt x="700" y="50"/>
                </a:cubicBezTo>
                <a:cubicBezTo>
                  <a:pt x="687" y="44"/>
                  <a:pt x="674" y="38"/>
                  <a:pt x="661" y="33"/>
                </a:cubicBezTo>
                <a:cubicBezTo>
                  <a:pt x="641" y="52"/>
                  <a:pt x="623" y="73"/>
                  <a:pt x="606" y="95"/>
                </a:cubicBezTo>
                <a:cubicBezTo>
                  <a:pt x="596" y="92"/>
                  <a:pt x="586" y="89"/>
                  <a:pt x="576" y="86"/>
                </a:cubicBezTo>
                <a:cubicBezTo>
                  <a:pt x="566" y="84"/>
                  <a:pt x="555" y="82"/>
                  <a:pt x="545" y="81"/>
                </a:cubicBezTo>
                <a:cubicBezTo>
                  <a:pt x="541" y="54"/>
                  <a:pt x="535" y="28"/>
                  <a:pt x="528" y="2"/>
                </a:cubicBezTo>
                <a:cubicBezTo>
                  <a:pt x="513" y="0"/>
                  <a:pt x="499" y="0"/>
                  <a:pt x="485" y="0"/>
                </a:cubicBezTo>
                <a:cubicBezTo>
                  <a:pt x="474" y="25"/>
                  <a:pt x="464" y="51"/>
                  <a:pt x="457" y="77"/>
                </a:cubicBezTo>
                <a:cubicBezTo>
                  <a:pt x="446" y="78"/>
                  <a:pt x="436" y="79"/>
                  <a:pt x="425" y="80"/>
                </a:cubicBezTo>
                <a:cubicBezTo>
                  <a:pt x="415" y="82"/>
                  <a:pt x="404" y="84"/>
                  <a:pt x="394" y="86"/>
                </a:cubicBezTo>
                <a:cubicBezTo>
                  <a:pt x="381" y="63"/>
                  <a:pt x="366" y="41"/>
                  <a:pt x="350" y="19"/>
                </a:cubicBezTo>
                <a:cubicBezTo>
                  <a:pt x="336" y="23"/>
                  <a:pt x="322" y="27"/>
                  <a:pt x="309" y="32"/>
                </a:cubicBezTo>
                <a:cubicBezTo>
                  <a:pt x="308" y="60"/>
                  <a:pt x="309" y="88"/>
                  <a:pt x="311" y="115"/>
                </a:cubicBezTo>
                <a:cubicBezTo>
                  <a:pt x="301" y="119"/>
                  <a:pt x="292" y="124"/>
                  <a:pt x="283" y="129"/>
                </a:cubicBezTo>
                <a:cubicBezTo>
                  <a:pt x="273" y="134"/>
                  <a:pt x="264" y="140"/>
                  <a:pt x="256" y="146"/>
                </a:cubicBezTo>
                <a:cubicBezTo>
                  <a:pt x="235" y="129"/>
                  <a:pt x="213" y="113"/>
                  <a:pt x="190" y="99"/>
                </a:cubicBezTo>
                <a:cubicBezTo>
                  <a:pt x="178" y="108"/>
                  <a:pt x="167" y="117"/>
                  <a:pt x="157" y="126"/>
                </a:cubicBezTo>
                <a:cubicBezTo>
                  <a:pt x="166" y="153"/>
                  <a:pt x="176" y="178"/>
                  <a:pt x="188" y="203"/>
                </a:cubicBezTo>
                <a:cubicBezTo>
                  <a:pt x="181" y="210"/>
                  <a:pt x="174" y="218"/>
                  <a:pt x="167" y="226"/>
                </a:cubicBezTo>
                <a:cubicBezTo>
                  <a:pt x="161" y="235"/>
                  <a:pt x="154" y="243"/>
                  <a:pt x="148" y="252"/>
                </a:cubicBezTo>
                <a:cubicBezTo>
                  <a:pt x="122" y="243"/>
                  <a:pt x="97" y="237"/>
                  <a:pt x="70" y="232"/>
                </a:cubicBezTo>
                <a:cubicBezTo>
                  <a:pt x="62" y="244"/>
                  <a:pt x="55" y="256"/>
                  <a:pt x="49" y="269"/>
                </a:cubicBezTo>
                <a:cubicBezTo>
                  <a:pt x="67" y="290"/>
                  <a:pt x="86" y="310"/>
                  <a:pt x="106" y="329"/>
                </a:cubicBezTo>
                <a:cubicBezTo>
                  <a:pt x="102" y="339"/>
                  <a:pt x="98" y="348"/>
                  <a:pt x="95" y="358"/>
                </a:cubicBezTo>
                <a:cubicBezTo>
                  <a:pt x="91" y="369"/>
                  <a:pt x="88" y="379"/>
                  <a:pt x="86" y="389"/>
                </a:cubicBezTo>
                <a:cubicBezTo>
                  <a:pt x="59" y="391"/>
                  <a:pt x="32" y="394"/>
                  <a:pt x="6" y="399"/>
                </a:cubicBezTo>
                <a:cubicBezTo>
                  <a:pt x="3" y="413"/>
                  <a:pt x="1" y="427"/>
                  <a:pt x="0" y="441"/>
                </a:cubicBezTo>
                <a:cubicBezTo>
                  <a:pt x="24" y="454"/>
                  <a:pt x="49" y="466"/>
                  <a:pt x="74" y="476"/>
                </a:cubicBezTo>
                <a:cubicBezTo>
                  <a:pt x="74" y="487"/>
                  <a:pt x="74" y="497"/>
                  <a:pt x="75" y="508"/>
                </a:cubicBezTo>
                <a:cubicBezTo>
                  <a:pt x="75" y="518"/>
                  <a:pt x="76" y="529"/>
                  <a:pt x="78" y="539"/>
                </a:cubicBezTo>
                <a:cubicBezTo>
                  <a:pt x="53" y="551"/>
                  <a:pt x="30" y="563"/>
                  <a:pt x="6" y="577"/>
                </a:cubicBezTo>
                <a:cubicBezTo>
                  <a:pt x="9" y="591"/>
                  <a:pt x="12" y="605"/>
                  <a:pt x="16" y="619"/>
                </a:cubicBezTo>
                <a:cubicBezTo>
                  <a:pt x="44" y="623"/>
                  <a:pt x="71" y="625"/>
                  <a:pt x="98" y="625"/>
                </a:cubicBezTo>
                <a:cubicBezTo>
                  <a:pt x="102" y="635"/>
                  <a:pt x="106" y="645"/>
                  <a:pt x="110" y="654"/>
                </a:cubicBezTo>
                <a:cubicBezTo>
                  <a:pt x="114" y="664"/>
                  <a:pt x="119" y="674"/>
                  <a:pt x="124" y="683"/>
                </a:cubicBezTo>
                <a:cubicBezTo>
                  <a:pt x="106" y="702"/>
                  <a:pt x="88" y="723"/>
                  <a:pt x="71" y="744"/>
                </a:cubicBezTo>
                <a:cubicBezTo>
                  <a:pt x="79" y="756"/>
                  <a:pt x="87" y="768"/>
                  <a:pt x="96" y="779"/>
                </a:cubicBezTo>
                <a:cubicBezTo>
                  <a:pt x="123" y="773"/>
                  <a:pt x="149" y="765"/>
                  <a:pt x="174" y="755"/>
                </a:cubicBezTo>
                <a:cubicBezTo>
                  <a:pt x="181" y="763"/>
                  <a:pt x="189" y="771"/>
                  <a:pt x="196" y="778"/>
                </a:cubicBezTo>
                <a:cubicBezTo>
                  <a:pt x="204" y="786"/>
                  <a:pt x="211" y="793"/>
                  <a:pt x="220" y="800"/>
                </a:cubicBezTo>
                <a:cubicBezTo>
                  <a:pt x="209" y="824"/>
                  <a:pt x="200" y="850"/>
                  <a:pt x="192" y="876"/>
                </a:cubicBezTo>
                <a:cubicBezTo>
                  <a:pt x="204" y="884"/>
                  <a:pt x="216" y="892"/>
                  <a:pt x="228" y="900"/>
                </a:cubicBezTo>
                <a:cubicBezTo>
                  <a:pt x="251" y="884"/>
                  <a:pt x="272" y="867"/>
                  <a:pt x="293" y="849"/>
                </a:cubicBezTo>
                <a:cubicBezTo>
                  <a:pt x="302" y="854"/>
                  <a:pt x="311" y="858"/>
                  <a:pt x="321" y="863"/>
                </a:cubicBezTo>
                <a:cubicBezTo>
                  <a:pt x="331" y="867"/>
                  <a:pt x="341" y="871"/>
                  <a:pt x="351" y="874"/>
                </a:cubicBezTo>
                <a:cubicBezTo>
                  <a:pt x="350" y="901"/>
                  <a:pt x="351" y="928"/>
                  <a:pt x="353" y="955"/>
                </a:cubicBezTo>
                <a:cubicBezTo>
                  <a:pt x="366" y="959"/>
                  <a:pt x="380" y="962"/>
                  <a:pt x="394" y="965"/>
                </a:cubicBezTo>
                <a:cubicBezTo>
                  <a:pt x="410" y="942"/>
                  <a:pt x="424" y="918"/>
                  <a:pt x="436" y="894"/>
                </a:cubicBezTo>
                <a:cubicBezTo>
                  <a:pt x="447" y="895"/>
                  <a:pt x="457" y="896"/>
                  <a:pt x="468" y="896"/>
                </a:cubicBezTo>
                <a:cubicBezTo>
                  <a:pt x="479" y="897"/>
                  <a:pt x="489" y="897"/>
                  <a:pt x="500" y="896"/>
                </a:cubicBezTo>
                <a:cubicBezTo>
                  <a:pt x="509" y="921"/>
                  <a:pt x="519" y="947"/>
                  <a:pt x="531" y="971"/>
                </a:cubicBezTo>
                <a:cubicBezTo>
                  <a:pt x="545" y="969"/>
                  <a:pt x="559" y="967"/>
                  <a:pt x="573" y="965"/>
                </a:cubicBezTo>
                <a:cubicBezTo>
                  <a:pt x="580" y="937"/>
                  <a:pt x="584" y="911"/>
                  <a:pt x="587" y="884"/>
                </a:cubicBezTo>
                <a:cubicBezTo>
                  <a:pt x="597" y="881"/>
                  <a:pt x="607" y="878"/>
                  <a:pt x="617" y="875"/>
                </a:cubicBezTo>
                <a:cubicBezTo>
                  <a:pt x="627" y="871"/>
                  <a:pt x="637" y="867"/>
                  <a:pt x="647" y="863"/>
                </a:cubicBezTo>
                <a:cubicBezTo>
                  <a:pt x="664" y="883"/>
                  <a:pt x="683" y="903"/>
                  <a:pt x="703" y="921"/>
                </a:cubicBezTo>
                <a:cubicBezTo>
                  <a:pt x="716" y="915"/>
                  <a:pt x="728" y="908"/>
                  <a:pt x="740" y="900"/>
                </a:cubicBezTo>
                <a:cubicBezTo>
                  <a:pt x="736" y="873"/>
                  <a:pt x="731" y="846"/>
                  <a:pt x="723" y="820"/>
                </a:cubicBezTo>
                <a:cubicBezTo>
                  <a:pt x="732" y="814"/>
                  <a:pt x="740" y="807"/>
                  <a:pt x="748" y="800"/>
                </a:cubicBezTo>
                <a:cubicBezTo>
                  <a:pt x="757" y="794"/>
                  <a:pt x="764" y="786"/>
                  <a:pt x="772" y="779"/>
                </a:cubicBezTo>
                <a:cubicBezTo>
                  <a:pt x="795" y="792"/>
                  <a:pt x="820" y="803"/>
                  <a:pt x="845" y="813"/>
                </a:cubicBezTo>
                <a:cubicBezTo>
                  <a:pt x="855" y="802"/>
                  <a:pt x="864" y="791"/>
                  <a:pt x="872" y="780"/>
                </a:cubicBezTo>
                <a:cubicBezTo>
                  <a:pt x="859" y="756"/>
                  <a:pt x="844" y="733"/>
                  <a:pt x="828" y="711"/>
                </a:cubicBezTo>
                <a:cubicBezTo>
                  <a:pt x="834" y="702"/>
                  <a:pt x="839" y="693"/>
                  <a:pt x="844" y="684"/>
                </a:cubicBezTo>
                <a:cubicBezTo>
                  <a:pt x="849" y="674"/>
                  <a:pt x="854" y="665"/>
                  <a:pt x="858" y="655"/>
                </a:cubicBezTo>
                <a:cubicBezTo>
                  <a:pt x="885" y="659"/>
                  <a:pt x="911" y="660"/>
                  <a:pt x="939" y="661"/>
                </a:cubicBezTo>
                <a:cubicBezTo>
                  <a:pt x="944" y="647"/>
                  <a:pt x="948" y="634"/>
                  <a:pt x="952" y="620"/>
                </a:cubicBezTo>
                <a:cubicBezTo>
                  <a:pt x="931" y="602"/>
                  <a:pt x="908" y="586"/>
                  <a:pt x="886" y="572"/>
                </a:cubicBezTo>
                <a:cubicBezTo>
                  <a:pt x="888" y="561"/>
                  <a:pt x="890" y="551"/>
                  <a:pt x="891" y="541"/>
                </a:cubicBezTo>
                <a:close/>
                <a:moveTo>
                  <a:pt x="803" y="529"/>
                </a:moveTo>
                <a:cubicBezTo>
                  <a:pt x="798" y="568"/>
                  <a:pt x="785" y="606"/>
                  <a:pt x="766" y="641"/>
                </a:cubicBezTo>
                <a:cubicBezTo>
                  <a:pt x="747" y="676"/>
                  <a:pt x="721" y="707"/>
                  <a:pt x="691" y="732"/>
                </a:cubicBezTo>
                <a:cubicBezTo>
                  <a:pt x="661" y="758"/>
                  <a:pt x="626" y="778"/>
                  <a:pt x="588" y="790"/>
                </a:cubicBezTo>
                <a:cubicBezTo>
                  <a:pt x="551" y="803"/>
                  <a:pt x="511" y="809"/>
                  <a:pt x="472" y="807"/>
                </a:cubicBezTo>
                <a:cubicBezTo>
                  <a:pt x="432" y="806"/>
                  <a:pt x="393" y="797"/>
                  <a:pt x="357" y="781"/>
                </a:cubicBezTo>
                <a:cubicBezTo>
                  <a:pt x="320" y="765"/>
                  <a:pt x="287" y="743"/>
                  <a:pt x="259" y="715"/>
                </a:cubicBezTo>
                <a:cubicBezTo>
                  <a:pt x="230" y="687"/>
                  <a:pt x="207" y="654"/>
                  <a:pt x="191" y="618"/>
                </a:cubicBezTo>
                <a:cubicBezTo>
                  <a:pt x="175" y="582"/>
                  <a:pt x="166" y="543"/>
                  <a:pt x="164" y="503"/>
                </a:cubicBezTo>
                <a:cubicBezTo>
                  <a:pt x="161" y="464"/>
                  <a:pt x="167" y="424"/>
                  <a:pt x="179" y="386"/>
                </a:cubicBezTo>
                <a:cubicBezTo>
                  <a:pt x="191" y="349"/>
                  <a:pt x="211" y="313"/>
                  <a:pt x="236" y="283"/>
                </a:cubicBezTo>
                <a:cubicBezTo>
                  <a:pt x="261" y="252"/>
                  <a:pt x="292" y="226"/>
                  <a:pt x="326" y="207"/>
                </a:cubicBezTo>
                <a:cubicBezTo>
                  <a:pt x="361" y="187"/>
                  <a:pt x="399" y="174"/>
                  <a:pt x="438" y="168"/>
                </a:cubicBezTo>
                <a:cubicBezTo>
                  <a:pt x="477" y="163"/>
                  <a:pt x="517" y="164"/>
                  <a:pt x="556" y="173"/>
                </a:cubicBezTo>
                <a:cubicBezTo>
                  <a:pt x="594" y="182"/>
                  <a:pt x="632" y="198"/>
                  <a:pt x="664" y="220"/>
                </a:cubicBezTo>
                <a:cubicBezTo>
                  <a:pt x="697" y="242"/>
                  <a:pt x="726" y="271"/>
                  <a:pt x="748" y="303"/>
                </a:cubicBezTo>
                <a:cubicBezTo>
                  <a:pt x="771" y="336"/>
                  <a:pt x="787" y="372"/>
                  <a:pt x="797" y="411"/>
                </a:cubicBezTo>
                <a:cubicBezTo>
                  <a:pt x="806" y="450"/>
                  <a:pt x="808" y="490"/>
                  <a:pt x="803" y="5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452A9E06-1AF5-414E-A2AF-A18F5D22E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389" y="2316399"/>
            <a:ext cx="311682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r" defTabSz="1088232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גיבוש טרמינולוגיה עסקית אחידה</a:t>
            </a:r>
            <a:endParaRPr lang="en-US" altLang="zh-CN" sz="1600" dirty="0">
              <a:solidFill>
                <a:srgbClr val="000000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  <a:p>
            <a:pPr algn="r" rtl="1"/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עסקית-</a:t>
            </a:r>
            <a:r>
              <a:rPr lang="he-IL" dirty="0" err="1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דאטית</a:t>
            </a: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u="sng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לכלל האקוסיסטם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B57CA454-F36D-4B5F-B7F2-F8DDD5CB1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520" y="2536881"/>
            <a:ext cx="202212" cy="2053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1088232"/>
            <a:endParaRPr lang="en-US" sz="1200" b="1" dirty="0">
              <a:solidFill>
                <a:schemeClr val="bg1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1FFDB5C-231A-4D95-9EFE-B152B9527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0806" y="3816518"/>
            <a:ext cx="31168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r" defTabSz="1088232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הקמת תשתית וממשקי איסוף והעברת נתונים (בהתאם לנדרש)</a:t>
            </a:r>
            <a:endParaRPr lang="en-US" altLang="zh-CN" sz="1600" dirty="0">
              <a:solidFill>
                <a:srgbClr val="000000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  <a:p>
            <a:pPr algn="r" rtl="1"/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בין המשרדים והשותפים</a:t>
            </a:r>
          </a:p>
        </p:txBody>
      </p:sp>
      <p:sp>
        <p:nvSpPr>
          <p:cNvPr id="19" name="Oval 23">
            <a:extLst>
              <a:ext uri="{FF2B5EF4-FFF2-40B4-BE49-F238E27FC236}">
                <a16:creationId xmlns:a16="http://schemas.microsoft.com/office/drawing/2014/main" id="{D2F7E6DB-9BC4-4FA2-B6DC-7BC9162DD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405" y="4087690"/>
            <a:ext cx="216367" cy="2196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1088232"/>
            <a:endParaRPr lang="en-US" sz="1200" b="1" dirty="0">
              <a:solidFill>
                <a:schemeClr val="bg1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360513C3-0819-4A37-9322-A7430BC36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197" y="5716511"/>
            <a:ext cx="306294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r" defTabSz="1088232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ניהול קטלוג נתונים</a:t>
            </a:r>
            <a:endParaRPr lang="en-US" altLang="zh-CN" sz="1600" dirty="0">
              <a:solidFill>
                <a:srgbClr val="000000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  <a:p>
            <a:pPr algn="r" defTabSz="1088232" rtl="1"/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מאגרים, רשומות, מדדים עסקיים</a:t>
            </a:r>
          </a:p>
        </p:txBody>
      </p:sp>
      <p:sp>
        <p:nvSpPr>
          <p:cNvPr id="22" name="Oval 26">
            <a:extLst>
              <a:ext uri="{FF2B5EF4-FFF2-40B4-BE49-F238E27FC236}">
                <a16:creationId xmlns:a16="http://schemas.microsoft.com/office/drawing/2014/main" id="{3A4D7C42-57AC-45DA-B9A3-E3D6D477F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0806" y="5780836"/>
            <a:ext cx="234684" cy="2382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1088232"/>
            <a:endParaRPr lang="en-US" sz="1200" b="1" dirty="0">
              <a:solidFill>
                <a:schemeClr val="bg1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</p:txBody>
      </p:sp>
      <p:sp>
        <p:nvSpPr>
          <p:cNvPr id="24" name="Oval 28">
            <a:extLst>
              <a:ext uri="{FF2B5EF4-FFF2-40B4-BE49-F238E27FC236}">
                <a16:creationId xmlns:a16="http://schemas.microsoft.com/office/drawing/2014/main" id="{45F42A42-113A-4560-9ED9-98869320A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143" y="2874741"/>
            <a:ext cx="251495" cy="2553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1088232"/>
            <a:endParaRPr lang="en-US" sz="1200" b="1" dirty="0">
              <a:solidFill>
                <a:schemeClr val="bg1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</p:txBody>
      </p:sp>
      <p:sp>
        <p:nvSpPr>
          <p:cNvPr id="26" name="Oval 32">
            <a:extLst>
              <a:ext uri="{FF2B5EF4-FFF2-40B4-BE49-F238E27FC236}">
                <a16:creationId xmlns:a16="http://schemas.microsoft.com/office/drawing/2014/main" id="{918F81CE-303C-4966-B7BB-3B3803A44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797" y="4693172"/>
            <a:ext cx="251495" cy="2553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1088232"/>
            <a:endParaRPr lang="en-US" sz="1200" b="1" dirty="0">
              <a:solidFill>
                <a:schemeClr val="bg1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4749E03B-4FC3-4A97-AEC2-82AF18575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4194" y="2729018"/>
            <a:ext cx="30144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r" defTabSz="1088232"/>
            <a:r>
              <a:rPr lang="he-IL" b="1" dirty="0" err="1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השמשת</a:t>
            </a:r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 פרוטוקולים</a:t>
            </a:r>
            <a:endParaRPr lang="en-US" altLang="zh-CN" sz="1600" dirty="0">
              <a:solidFill>
                <a:srgbClr val="000000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  <a:p>
            <a:pPr algn="r" defTabSz="1088232" rtl="1"/>
            <a:r>
              <a:rPr lang="he-IL" altLang="zh-CN" sz="1600" dirty="0">
                <a:solidFill>
                  <a:srgbClr val="000000"/>
                </a:solidFill>
                <a:latin typeface="Assistant" pitchFamily="2" charset="-79"/>
                <a:ea typeface="Open Sans" pitchFamily="34" charset="0"/>
                <a:cs typeface="Assistant" pitchFamily="2" charset="-79"/>
              </a:rPr>
              <a:t>להעברת מידע (כדוגמת </a:t>
            </a:r>
            <a:r>
              <a:rPr lang="en-US" altLang="zh-CN" sz="1600" dirty="0">
                <a:solidFill>
                  <a:srgbClr val="000000"/>
                </a:solidFill>
                <a:latin typeface="Assistant" pitchFamily="2" charset="-79"/>
                <a:ea typeface="Open Sans" pitchFamily="34" charset="0"/>
                <a:cs typeface="Assistant" pitchFamily="2" charset="-79"/>
              </a:rPr>
              <a:t>FHIR</a:t>
            </a:r>
            <a:r>
              <a:rPr lang="he-IL" altLang="zh-CN" sz="1600" dirty="0">
                <a:solidFill>
                  <a:srgbClr val="000000"/>
                </a:solidFill>
                <a:latin typeface="Assistant" pitchFamily="2" charset="-79"/>
                <a:ea typeface="Open Sans" pitchFamily="34" charset="0"/>
                <a:cs typeface="Assistant" pitchFamily="2" charset="-79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Assistant" pitchFamily="2" charset="-79"/>
              <a:ea typeface="Open Sans" pitchFamily="34" charset="0"/>
              <a:cs typeface="Assistant" pitchFamily="2" charset="-79"/>
            </a:endParaRP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B62D8F89-B1AF-424F-A9FA-E63FF74E2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806" y="4405354"/>
            <a:ext cx="30144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גיבוש מודלים עסקיים, </a:t>
            </a:r>
            <a:br>
              <a:rPr lang="en-US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רגולציה ותהליכים </a:t>
            </a:r>
          </a:p>
          <a:p>
            <a:pPr algn="r" rtl="1"/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לשיתוף נתונים בין השחקנים</a:t>
            </a:r>
          </a:p>
        </p:txBody>
      </p:sp>
      <p:sp>
        <p:nvSpPr>
          <p:cNvPr id="43" name="Freeform 792">
            <a:extLst>
              <a:ext uri="{FF2B5EF4-FFF2-40B4-BE49-F238E27FC236}">
                <a16:creationId xmlns:a16="http://schemas.microsoft.com/office/drawing/2014/main" id="{7CEF771F-ACEC-47E9-B4F2-8D44F629D05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390478" y="2729018"/>
            <a:ext cx="739894" cy="739894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163 w 512"/>
              <a:gd name="T11" fmla="*/ 184 h 512"/>
              <a:gd name="T12" fmla="*/ 248 w 512"/>
              <a:gd name="T13" fmla="*/ 99 h 512"/>
              <a:gd name="T14" fmla="*/ 252 w 512"/>
              <a:gd name="T15" fmla="*/ 96 h 512"/>
              <a:gd name="T16" fmla="*/ 260 w 512"/>
              <a:gd name="T17" fmla="*/ 96 h 512"/>
              <a:gd name="T18" fmla="*/ 263 w 512"/>
              <a:gd name="T19" fmla="*/ 99 h 512"/>
              <a:gd name="T20" fmla="*/ 349 w 512"/>
              <a:gd name="T21" fmla="*/ 184 h 512"/>
              <a:gd name="T22" fmla="*/ 349 w 512"/>
              <a:gd name="T23" fmla="*/ 199 h 512"/>
              <a:gd name="T24" fmla="*/ 341 w 512"/>
              <a:gd name="T25" fmla="*/ 202 h 512"/>
              <a:gd name="T26" fmla="*/ 333 w 512"/>
              <a:gd name="T27" fmla="*/ 199 h 512"/>
              <a:gd name="T28" fmla="*/ 266 w 512"/>
              <a:gd name="T29" fmla="*/ 132 h 512"/>
              <a:gd name="T30" fmla="*/ 266 w 512"/>
              <a:gd name="T31" fmla="*/ 362 h 512"/>
              <a:gd name="T32" fmla="*/ 256 w 512"/>
              <a:gd name="T33" fmla="*/ 373 h 512"/>
              <a:gd name="T34" fmla="*/ 245 w 512"/>
              <a:gd name="T35" fmla="*/ 362 h 512"/>
              <a:gd name="T36" fmla="*/ 245 w 512"/>
              <a:gd name="T37" fmla="*/ 132 h 512"/>
              <a:gd name="T38" fmla="*/ 178 w 512"/>
              <a:gd name="T39" fmla="*/ 199 h 512"/>
              <a:gd name="T40" fmla="*/ 170 w 512"/>
              <a:gd name="T41" fmla="*/ 202 h 512"/>
              <a:gd name="T42" fmla="*/ 163 w 512"/>
              <a:gd name="T43" fmla="*/ 199 h 512"/>
              <a:gd name="T44" fmla="*/ 163 w 512"/>
              <a:gd name="T45" fmla="*/ 184 h 512"/>
              <a:gd name="T46" fmla="*/ 373 w 512"/>
              <a:gd name="T47" fmla="*/ 405 h 512"/>
              <a:gd name="T48" fmla="*/ 362 w 512"/>
              <a:gd name="T49" fmla="*/ 416 h 512"/>
              <a:gd name="T50" fmla="*/ 149 w 512"/>
              <a:gd name="T51" fmla="*/ 416 h 512"/>
              <a:gd name="T52" fmla="*/ 138 w 512"/>
              <a:gd name="T53" fmla="*/ 405 h 512"/>
              <a:gd name="T54" fmla="*/ 138 w 512"/>
              <a:gd name="T55" fmla="*/ 362 h 512"/>
              <a:gd name="T56" fmla="*/ 149 w 512"/>
              <a:gd name="T57" fmla="*/ 352 h 512"/>
              <a:gd name="T58" fmla="*/ 160 w 512"/>
              <a:gd name="T59" fmla="*/ 362 h 512"/>
              <a:gd name="T60" fmla="*/ 160 w 512"/>
              <a:gd name="T61" fmla="*/ 394 h 512"/>
              <a:gd name="T62" fmla="*/ 352 w 512"/>
              <a:gd name="T63" fmla="*/ 394 h 512"/>
              <a:gd name="T64" fmla="*/ 352 w 512"/>
              <a:gd name="T65" fmla="*/ 362 h 512"/>
              <a:gd name="T66" fmla="*/ 362 w 512"/>
              <a:gd name="T67" fmla="*/ 352 h 512"/>
              <a:gd name="T68" fmla="*/ 373 w 512"/>
              <a:gd name="T69" fmla="*/ 362 h 512"/>
              <a:gd name="T70" fmla="*/ 373 w 512"/>
              <a:gd name="T71" fmla="*/ 40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163" y="184"/>
                </a:moveTo>
                <a:cubicBezTo>
                  <a:pt x="248" y="99"/>
                  <a:pt x="248" y="99"/>
                  <a:pt x="248" y="99"/>
                </a:cubicBezTo>
                <a:cubicBezTo>
                  <a:pt x="249" y="98"/>
                  <a:pt x="250" y="97"/>
                  <a:pt x="252" y="96"/>
                </a:cubicBezTo>
                <a:cubicBezTo>
                  <a:pt x="254" y="95"/>
                  <a:pt x="257" y="95"/>
                  <a:pt x="260" y="96"/>
                </a:cubicBezTo>
                <a:cubicBezTo>
                  <a:pt x="261" y="97"/>
                  <a:pt x="262" y="98"/>
                  <a:pt x="263" y="99"/>
                </a:cubicBezTo>
                <a:cubicBezTo>
                  <a:pt x="349" y="184"/>
                  <a:pt x="349" y="184"/>
                  <a:pt x="349" y="184"/>
                </a:cubicBezTo>
                <a:cubicBezTo>
                  <a:pt x="353" y="188"/>
                  <a:pt x="353" y="195"/>
                  <a:pt x="349" y="199"/>
                </a:cubicBezTo>
                <a:cubicBezTo>
                  <a:pt x="346" y="201"/>
                  <a:pt x="344" y="202"/>
                  <a:pt x="341" y="202"/>
                </a:cubicBezTo>
                <a:cubicBezTo>
                  <a:pt x="338" y="202"/>
                  <a:pt x="336" y="201"/>
                  <a:pt x="333" y="199"/>
                </a:cubicBezTo>
                <a:cubicBezTo>
                  <a:pt x="266" y="132"/>
                  <a:pt x="266" y="132"/>
                  <a:pt x="266" y="132"/>
                </a:cubicBezTo>
                <a:cubicBezTo>
                  <a:pt x="266" y="362"/>
                  <a:pt x="266" y="362"/>
                  <a:pt x="266" y="362"/>
                </a:cubicBezTo>
                <a:cubicBezTo>
                  <a:pt x="266" y="368"/>
                  <a:pt x="262" y="373"/>
                  <a:pt x="256" y="373"/>
                </a:cubicBezTo>
                <a:cubicBezTo>
                  <a:pt x="250" y="373"/>
                  <a:pt x="245" y="368"/>
                  <a:pt x="245" y="362"/>
                </a:cubicBezTo>
                <a:cubicBezTo>
                  <a:pt x="245" y="132"/>
                  <a:pt x="245" y="132"/>
                  <a:pt x="245" y="132"/>
                </a:cubicBezTo>
                <a:cubicBezTo>
                  <a:pt x="178" y="199"/>
                  <a:pt x="178" y="199"/>
                  <a:pt x="178" y="199"/>
                </a:cubicBezTo>
                <a:cubicBezTo>
                  <a:pt x="176" y="201"/>
                  <a:pt x="173" y="202"/>
                  <a:pt x="170" y="202"/>
                </a:cubicBezTo>
                <a:cubicBezTo>
                  <a:pt x="168" y="202"/>
                  <a:pt x="165" y="201"/>
                  <a:pt x="163" y="199"/>
                </a:cubicBezTo>
                <a:cubicBezTo>
                  <a:pt x="159" y="195"/>
                  <a:pt x="159" y="188"/>
                  <a:pt x="163" y="184"/>
                </a:cubicBezTo>
                <a:close/>
                <a:moveTo>
                  <a:pt x="373" y="405"/>
                </a:moveTo>
                <a:cubicBezTo>
                  <a:pt x="373" y="411"/>
                  <a:pt x="368" y="416"/>
                  <a:pt x="362" y="416"/>
                </a:cubicBezTo>
                <a:cubicBezTo>
                  <a:pt x="149" y="416"/>
                  <a:pt x="149" y="416"/>
                  <a:pt x="149" y="416"/>
                </a:cubicBezTo>
                <a:cubicBezTo>
                  <a:pt x="143" y="416"/>
                  <a:pt x="138" y="411"/>
                  <a:pt x="138" y="405"/>
                </a:cubicBezTo>
                <a:cubicBezTo>
                  <a:pt x="138" y="362"/>
                  <a:pt x="138" y="362"/>
                  <a:pt x="138" y="362"/>
                </a:cubicBezTo>
                <a:cubicBezTo>
                  <a:pt x="138" y="356"/>
                  <a:pt x="143" y="352"/>
                  <a:pt x="149" y="352"/>
                </a:cubicBezTo>
                <a:cubicBezTo>
                  <a:pt x="155" y="352"/>
                  <a:pt x="160" y="356"/>
                  <a:pt x="160" y="362"/>
                </a:cubicBezTo>
                <a:cubicBezTo>
                  <a:pt x="160" y="394"/>
                  <a:pt x="160" y="394"/>
                  <a:pt x="160" y="394"/>
                </a:cubicBezTo>
                <a:cubicBezTo>
                  <a:pt x="352" y="394"/>
                  <a:pt x="352" y="394"/>
                  <a:pt x="352" y="394"/>
                </a:cubicBezTo>
                <a:cubicBezTo>
                  <a:pt x="352" y="362"/>
                  <a:pt x="352" y="362"/>
                  <a:pt x="352" y="362"/>
                </a:cubicBezTo>
                <a:cubicBezTo>
                  <a:pt x="352" y="356"/>
                  <a:pt x="356" y="352"/>
                  <a:pt x="362" y="352"/>
                </a:cubicBezTo>
                <a:cubicBezTo>
                  <a:pt x="368" y="352"/>
                  <a:pt x="373" y="356"/>
                  <a:pt x="373" y="362"/>
                </a:cubicBezTo>
                <a:lnTo>
                  <a:pt x="373" y="405"/>
                </a:lnTo>
                <a:close/>
              </a:path>
            </a:pathLst>
          </a:custGeom>
          <a:solidFill>
            <a:srgbClr val="089CA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" name="Freeform 210">
            <a:extLst>
              <a:ext uri="{FF2B5EF4-FFF2-40B4-BE49-F238E27FC236}">
                <a16:creationId xmlns:a16="http://schemas.microsoft.com/office/drawing/2014/main" id="{1CC29008-CCE9-4511-9E94-4796425DB89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732184" y="4363484"/>
            <a:ext cx="922746" cy="922746"/>
          </a:xfrm>
          <a:custGeom>
            <a:avLst/>
            <a:gdLst>
              <a:gd name="T0" fmla="*/ 352 w 512"/>
              <a:gd name="T1" fmla="*/ 394 h 512"/>
              <a:gd name="T2" fmla="*/ 224 w 512"/>
              <a:gd name="T3" fmla="*/ 224 h 512"/>
              <a:gd name="T4" fmla="*/ 256 w 512"/>
              <a:gd name="T5" fmla="*/ 256 h 512"/>
              <a:gd name="T6" fmla="*/ 330 w 512"/>
              <a:gd name="T7" fmla="*/ 266 h 512"/>
              <a:gd name="T8" fmla="*/ 256 w 512"/>
              <a:gd name="T9" fmla="*/ 277 h 512"/>
              <a:gd name="T10" fmla="*/ 256 w 512"/>
              <a:gd name="T11" fmla="*/ 256 h 512"/>
              <a:gd name="T12" fmla="*/ 320 w 512"/>
              <a:gd name="T13" fmla="*/ 298 h 512"/>
              <a:gd name="T14" fmla="*/ 320 w 512"/>
              <a:gd name="T15" fmla="*/ 320 h 512"/>
              <a:gd name="T16" fmla="*/ 245 w 512"/>
              <a:gd name="T17" fmla="*/ 309 h 512"/>
              <a:gd name="T18" fmla="*/ 256 w 512"/>
              <a:gd name="T19" fmla="*/ 341 h 512"/>
              <a:gd name="T20" fmla="*/ 330 w 512"/>
              <a:gd name="T21" fmla="*/ 352 h 512"/>
              <a:gd name="T22" fmla="*/ 256 w 512"/>
              <a:gd name="T23" fmla="*/ 362 h 512"/>
              <a:gd name="T24" fmla="*/ 256 w 512"/>
              <a:gd name="T25" fmla="*/ 341 h 512"/>
              <a:gd name="T26" fmla="*/ 213 w 512"/>
              <a:gd name="T27" fmla="*/ 202 h 512"/>
              <a:gd name="T28" fmla="*/ 202 w 512"/>
              <a:gd name="T29" fmla="*/ 394 h 512"/>
              <a:gd name="T30" fmla="*/ 160 w 512"/>
              <a:gd name="T31" fmla="*/ 138 h 512"/>
              <a:gd name="T32" fmla="*/ 181 w 512"/>
              <a:gd name="T33" fmla="*/ 149 h 512"/>
              <a:gd name="T34" fmla="*/ 298 w 512"/>
              <a:gd name="T35" fmla="*/ 160 h 512"/>
              <a:gd name="T36" fmla="*/ 309 w 512"/>
              <a:gd name="T37" fmla="*/ 138 h 512"/>
              <a:gd name="T38" fmla="*/ 330 w 512"/>
              <a:gd name="T39" fmla="*/ 202 h 512"/>
              <a:gd name="T40" fmla="*/ 202 w 512"/>
              <a:gd name="T41" fmla="*/ 138 h 512"/>
              <a:gd name="T42" fmla="*/ 202 w 512"/>
              <a:gd name="T43" fmla="*/ 128 h 512"/>
              <a:gd name="T44" fmla="*/ 202 w 512"/>
              <a:gd name="T45" fmla="*/ 117 h 512"/>
              <a:gd name="T46" fmla="*/ 288 w 512"/>
              <a:gd name="T47" fmla="*/ 138 h 512"/>
              <a:gd name="T48" fmla="*/ 0 w 512"/>
              <a:gd name="T49" fmla="*/ 256 h 512"/>
              <a:gd name="T50" fmla="*/ 512 w 512"/>
              <a:gd name="T51" fmla="*/ 256 h 512"/>
              <a:gd name="T52" fmla="*/ 373 w 512"/>
              <a:gd name="T53" fmla="*/ 405 h 512"/>
              <a:gd name="T54" fmla="*/ 149 w 512"/>
              <a:gd name="T55" fmla="*/ 416 h 512"/>
              <a:gd name="T56" fmla="*/ 138 w 512"/>
              <a:gd name="T57" fmla="*/ 128 h 512"/>
              <a:gd name="T58" fmla="*/ 181 w 512"/>
              <a:gd name="T59" fmla="*/ 117 h 512"/>
              <a:gd name="T60" fmla="*/ 192 w 512"/>
              <a:gd name="T61" fmla="*/ 96 h 512"/>
              <a:gd name="T62" fmla="*/ 309 w 512"/>
              <a:gd name="T63" fmla="*/ 106 h 512"/>
              <a:gd name="T64" fmla="*/ 341 w 512"/>
              <a:gd name="T65" fmla="*/ 117 h 512"/>
              <a:gd name="T66" fmla="*/ 352 w 512"/>
              <a:gd name="T67" fmla="*/ 202 h 512"/>
              <a:gd name="T68" fmla="*/ 373 w 512"/>
              <a:gd name="T69" fmla="*/ 21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12" h="512">
                <a:moveTo>
                  <a:pt x="224" y="394"/>
                </a:moveTo>
                <a:cubicBezTo>
                  <a:pt x="352" y="394"/>
                  <a:pt x="352" y="394"/>
                  <a:pt x="352" y="394"/>
                </a:cubicBezTo>
                <a:cubicBezTo>
                  <a:pt x="352" y="224"/>
                  <a:pt x="352" y="224"/>
                  <a:pt x="352" y="224"/>
                </a:cubicBezTo>
                <a:cubicBezTo>
                  <a:pt x="224" y="224"/>
                  <a:pt x="224" y="224"/>
                  <a:pt x="224" y="224"/>
                </a:cubicBezTo>
                <a:lnTo>
                  <a:pt x="224" y="394"/>
                </a:lnTo>
                <a:close/>
                <a:moveTo>
                  <a:pt x="256" y="256"/>
                </a:moveTo>
                <a:cubicBezTo>
                  <a:pt x="320" y="256"/>
                  <a:pt x="320" y="256"/>
                  <a:pt x="320" y="256"/>
                </a:cubicBezTo>
                <a:cubicBezTo>
                  <a:pt x="326" y="256"/>
                  <a:pt x="330" y="260"/>
                  <a:pt x="330" y="266"/>
                </a:cubicBezTo>
                <a:cubicBezTo>
                  <a:pt x="330" y="272"/>
                  <a:pt x="326" y="277"/>
                  <a:pt x="320" y="277"/>
                </a:cubicBezTo>
                <a:cubicBezTo>
                  <a:pt x="256" y="277"/>
                  <a:pt x="256" y="277"/>
                  <a:pt x="256" y="277"/>
                </a:cubicBezTo>
                <a:cubicBezTo>
                  <a:pt x="250" y="277"/>
                  <a:pt x="245" y="272"/>
                  <a:pt x="245" y="266"/>
                </a:cubicBezTo>
                <a:cubicBezTo>
                  <a:pt x="245" y="260"/>
                  <a:pt x="250" y="256"/>
                  <a:pt x="256" y="256"/>
                </a:cubicBezTo>
                <a:close/>
                <a:moveTo>
                  <a:pt x="256" y="298"/>
                </a:moveTo>
                <a:cubicBezTo>
                  <a:pt x="320" y="298"/>
                  <a:pt x="320" y="298"/>
                  <a:pt x="320" y="298"/>
                </a:cubicBezTo>
                <a:cubicBezTo>
                  <a:pt x="326" y="298"/>
                  <a:pt x="330" y="303"/>
                  <a:pt x="330" y="309"/>
                </a:cubicBezTo>
                <a:cubicBezTo>
                  <a:pt x="330" y="315"/>
                  <a:pt x="326" y="320"/>
                  <a:pt x="320" y="320"/>
                </a:cubicBezTo>
                <a:cubicBezTo>
                  <a:pt x="256" y="320"/>
                  <a:pt x="256" y="320"/>
                  <a:pt x="256" y="320"/>
                </a:cubicBezTo>
                <a:cubicBezTo>
                  <a:pt x="250" y="320"/>
                  <a:pt x="245" y="315"/>
                  <a:pt x="245" y="309"/>
                </a:cubicBezTo>
                <a:cubicBezTo>
                  <a:pt x="245" y="303"/>
                  <a:pt x="250" y="298"/>
                  <a:pt x="256" y="298"/>
                </a:cubicBezTo>
                <a:close/>
                <a:moveTo>
                  <a:pt x="256" y="341"/>
                </a:moveTo>
                <a:cubicBezTo>
                  <a:pt x="320" y="341"/>
                  <a:pt x="320" y="341"/>
                  <a:pt x="320" y="341"/>
                </a:cubicBezTo>
                <a:cubicBezTo>
                  <a:pt x="326" y="341"/>
                  <a:pt x="330" y="346"/>
                  <a:pt x="330" y="352"/>
                </a:cubicBezTo>
                <a:cubicBezTo>
                  <a:pt x="330" y="358"/>
                  <a:pt x="326" y="362"/>
                  <a:pt x="320" y="362"/>
                </a:cubicBezTo>
                <a:cubicBezTo>
                  <a:pt x="256" y="362"/>
                  <a:pt x="256" y="362"/>
                  <a:pt x="256" y="362"/>
                </a:cubicBezTo>
                <a:cubicBezTo>
                  <a:pt x="250" y="362"/>
                  <a:pt x="245" y="358"/>
                  <a:pt x="245" y="352"/>
                </a:cubicBezTo>
                <a:cubicBezTo>
                  <a:pt x="245" y="346"/>
                  <a:pt x="250" y="341"/>
                  <a:pt x="256" y="341"/>
                </a:cubicBezTo>
                <a:close/>
                <a:moveTo>
                  <a:pt x="330" y="202"/>
                </a:moveTo>
                <a:cubicBezTo>
                  <a:pt x="213" y="202"/>
                  <a:pt x="213" y="202"/>
                  <a:pt x="213" y="202"/>
                </a:cubicBezTo>
                <a:cubicBezTo>
                  <a:pt x="207" y="202"/>
                  <a:pt x="202" y="207"/>
                  <a:pt x="202" y="213"/>
                </a:cubicBezTo>
                <a:cubicBezTo>
                  <a:pt x="202" y="394"/>
                  <a:pt x="202" y="394"/>
                  <a:pt x="202" y="394"/>
                </a:cubicBezTo>
                <a:cubicBezTo>
                  <a:pt x="160" y="394"/>
                  <a:pt x="160" y="394"/>
                  <a:pt x="160" y="394"/>
                </a:cubicBezTo>
                <a:cubicBezTo>
                  <a:pt x="160" y="138"/>
                  <a:pt x="160" y="138"/>
                  <a:pt x="160" y="138"/>
                </a:cubicBezTo>
                <a:cubicBezTo>
                  <a:pt x="181" y="138"/>
                  <a:pt x="181" y="138"/>
                  <a:pt x="181" y="138"/>
                </a:cubicBezTo>
                <a:cubicBezTo>
                  <a:pt x="181" y="149"/>
                  <a:pt x="181" y="149"/>
                  <a:pt x="181" y="149"/>
                </a:cubicBezTo>
                <a:cubicBezTo>
                  <a:pt x="181" y="155"/>
                  <a:pt x="186" y="160"/>
                  <a:pt x="192" y="160"/>
                </a:cubicBezTo>
                <a:cubicBezTo>
                  <a:pt x="298" y="160"/>
                  <a:pt x="298" y="160"/>
                  <a:pt x="298" y="160"/>
                </a:cubicBezTo>
                <a:cubicBezTo>
                  <a:pt x="304" y="160"/>
                  <a:pt x="309" y="155"/>
                  <a:pt x="309" y="149"/>
                </a:cubicBezTo>
                <a:cubicBezTo>
                  <a:pt x="309" y="138"/>
                  <a:pt x="309" y="138"/>
                  <a:pt x="309" y="138"/>
                </a:cubicBezTo>
                <a:cubicBezTo>
                  <a:pt x="330" y="138"/>
                  <a:pt x="330" y="138"/>
                  <a:pt x="330" y="138"/>
                </a:cubicBezTo>
                <a:lnTo>
                  <a:pt x="330" y="202"/>
                </a:lnTo>
                <a:close/>
                <a:moveTo>
                  <a:pt x="288" y="138"/>
                </a:moveTo>
                <a:cubicBezTo>
                  <a:pt x="202" y="138"/>
                  <a:pt x="202" y="138"/>
                  <a:pt x="202" y="138"/>
                </a:cubicBezTo>
                <a:cubicBezTo>
                  <a:pt x="202" y="128"/>
                  <a:pt x="202" y="128"/>
                  <a:pt x="202" y="128"/>
                </a:cubicBezTo>
                <a:cubicBezTo>
                  <a:pt x="202" y="128"/>
                  <a:pt x="202" y="128"/>
                  <a:pt x="202" y="128"/>
                </a:cubicBezTo>
                <a:cubicBezTo>
                  <a:pt x="202" y="128"/>
                  <a:pt x="202" y="128"/>
                  <a:pt x="202" y="128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288" y="117"/>
                  <a:pt x="288" y="117"/>
                  <a:pt x="288" y="117"/>
                </a:cubicBezTo>
                <a:lnTo>
                  <a:pt x="288" y="138"/>
                </a:lnTo>
                <a:close/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73" y="405"/>
                </a:moveTo>
                <a:cubicBezTo>
                  <a:pt x="373" y="411"/>
                  <a:pt x="368" y="416"/>
                  <a:pt x="362" y="416"/>
                </a:cubicBezTo>
                <a:cubicBezTo>
                  <a:pt x="149" y="416"/>
                  <a:pt x="149" y="416"/>
                  <a:pt x="149" y="416"/>
                </a:cubicBezTo>
                <a:cubicBezTo>
                  <a:pt x="143" y="416"/>
                  <a:pt x="138" y="411"/>
                  <a:pt x="138" y="405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38" y="122"/>
                  <a:pt x="143" y="117"/>
                  <a:pt x="149" y="117"/>
                </a:cubicBezTo>
                <a:cubicBezTo>
                  <a:pt x="181" y="117"/>
                  <a:pt x="181" y="117"/>
                  <a:pt x="181" y="117"/>
                </a:cubicBezTo>
                <a:cubicBezTo>
                  <a:pt x="181" y="106"/>
                  <a:pt x="181" y="106"/>
                  <a:pt x="181" y="106"/>
                </a:cubicBezTo>
                <a:cubicBezTo>
                  <a:pt x="181" y="100"/>
                  <a:pt x="186" y="96"/>
                  <a:pt x="192" y="96"/>
                </a:cubicBezTo>
                <a:cubicBezTo>
                  <a:pt x="298" y="96"/>
                  <a:pt x="298" y="96"/>
                  <a:pt x="298" y="96"/>
                </a:cubicBezTo>
                <a:cubicBezTo>
                  <a:pt x="304" y="96"/>
                  <a:pt x="309" y="100"/>
                  <a:pt x="309" y="106"/>
                </a:cubicBezTo>
                <a:cubicBezTo>
                  <a:pt x="309" y="117"/>
                  <a:pt x="309" y="117"/>
                  <a:pt x="309" y="117"/>
                </a:cubicBezTo>
                <a:cubicBezTo>
                  <a:pt x="341" y="117"/>
                  <a:pt x="341" y="117"/>
                  <a:pt x="341" y="117"/>
                </a:cubicBezTo>
                <a:cubicBezTo>
                  <a:pt x="347" y="117"/>
                  <a:pt x="352" y="122"/>
                  <a:pt x="352" y="128"/>
                </a:cubicBezTo>
                <a:cubicBezTo>
                  <a:pt x="352" y="202"/>
                  <a:pt x="352" y="202"/>
                  <a:pt x="352" y="202"/>
                </a:cubicBezTo>
                <a:cubicBezTo>
                  <a:pt x="362" y="202"/>
                  <a:pt x="362" y="202"/>
                  <a:pt x="362" y="202"/>
                </a:cubicBezTo>
                <a:cubicBezTo>
                  <a:pt x="368" y="202"/>
                  <a:pt x="373" y="207"/>
                  <a:pt x="373" y="213"/>
                </a:cubicBezTo>
                <a:lnTo>
                  <a:pt x="373" y="405"/>
                </a:lnTo>
                <a:close/>
              </a:path>
            </a:pathLst>
          </a:custGeom>
          <a:solidFill>
            <a:srgbClr val="004E6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5" name="Freeform 682">
            <a:extLst>
              <a:ext uri="{FF2B5EF4-FFF2-40B4-BE49-F238E27FC236}">
                <a16:creationId xmlns:a16="http://schemas.microsoft.com/office/drawing/2014/main" id="{D4D6A6C4-6B99-4623-B8C3-6568EEB3A8A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156365" y="5506820"/>
            <a:ext cx="843331" cy="843331"/>
          </a:xfrm>
          <a:custGeom>
            <a:avLst/>
            <a:gdLst>
              <a:gd name="T0" fmla="*/ 362 w 512"/>
              <a:gd name="T1" fmla="*/ 192 h 512"/>
              <a:gd name="T2" fmla="*/ 362 w 512"/>
              <a:gd name="T3" fmla="*/ 266 h 512"/>
              <a:gd name="T4" fmla="*/ 149 w 512"/>
              <a:gd name="T5" fmla="*/ 266 h 512"/>
              <a:gd name="T6" fmla="*/ 149 w 512"/>
              <a:gd name="T7" fmla="*/ 192 h 512"/>
              <a:gd name="T8" fmla="*/ 170 w 512"/>
              <a:gd name="T9" fmla="*/ 170 h 512"/>
              <a:gd name="T10" fmla="*/ 224 w 512"/>
              <a:gd name="T11" fmla="*/ 170 h 512"/>
              <a:gd name="T12" fmla="*/ 224 w 512"/>
              <a:gd name="T13" fmla="*/ 192 h 512"/>
              <a:gd name="T14" fmla="*/ 234 w 512"/>
              <a:gd name="T15" fmla="*/ 202 h 512"/>
              <a:gd name="T16" fmla="*/ 245 w 512"/>
              <a:gd name="T17" fmla="*/ 192 h 512"/>
              <a:gd name="T18" fmla="*/ 245 w 512"/>
              <a:gd name="T19" fmla="*/ 170 h 512"/>
              <a:gd name="T20" fmla="*/ 341 w 512"/>
              <a:gd name="T21" fmla="*/ 170 h 512"/>
              <a:gd name="T22" fmla="*/ 362 w 512"/>
              <a:gd name="T23" fmla="*/ 192 h 512"/>
              <a:gd name="T24" fmla="*/ 245 w 512"/>
              <a:gd name="T25" fmla="*/ 394 h 512"/>
              <a:gd name="T26" fmla="*/ 266 w 512"/>
              <a:gd name="T27" fmla="*/ 394 h 512"/>
              <a:gd name="T28" fmla="*/ 266 w 512"/>
              <a:gd name="T29" fmla="*/ 288 h 512"/>
              <a:gd name="T30" fmla="*/ 245 w 512"/>
              <a:gd name="T31" fmla="*/ 288 h 512"/>
              <a:gd name="T32" fmla="*/ 245 w 512"/>
              <a:gd name="T33" fmla="*/ 394 h 512"/>
              <a:gd name="T34" fmla="*/ 512 w 512"/>
              <a:gd name="T35" fmla="*/ 256 h 512"/>
              <a:gd name="T36" fmla="*/ 256 w 512"/>
              <a:gd name="T37" fmla="*/ 512 h 512"/>
              <a:gd name="T38" fmla="*/ 0 w 512"/>
              <a:gd name="T39" fmla="*/ 256 h 512"/>
              <a:gd name="T40" fmla="*/ 256 w 512"/>
              <a:gd name="T41" fmla="*/ 0 h 512"/>
              <a:gd name="T42" fmla="*/ 512 w 512"/>
              <a:gd name="T43" fmla="*/ 256 h 512"/>
              <a:gd name="T44" fmla="*/ 384 w 512"/>
              <a:gd name="T45" fmla="*/ 192 h 512"/>
              <a:gd name="T46" fmla="*/ 341 w 512"/>
              <a:gd name="T47" fmla="*/ 149 h 512"/>
              <a:gd name="T48" fmla="*/ 245 w 512"/>
              <a:gd name="T49" fmla="*/ 149 h 512"/>
              <a:gd name="T50" fmla="*/ 245 w 512"/>
              <a:gd name="T51" fmla="*/ 117 h 512"/>
              <a:gd name="T52" fmla="*/ 256 w 512"/>
              <a:gd name="T53" fmla="*/ 117 h 512"/>
              <a:gd name="T54" fmla="*/ 266 w 512"/>
              <a:gd name="T55" fmla="*/ 106 h 512"/>
              <a:gd name="T56" fmla="*/ 256 w 512"/>
              <a:gd name="T57" fmla="*/ 96 h 512"/>
              <a:gd name="T58" fmla="*/ 234 w 512"/>
              <a:gd name="T59" fmla="*/ 96 h 512"/>
              <a:gd name="T60" fmla="*/ 224 w 512"/>
              <a:gd name="T61" fmla="*/ 106 h 512"/>
              <a:gd name="T62" fmla="*/ 224 w 512"/>
              <a:gd name="T63" fmla="*/ 149 h 512"/>
              <a:gd name="T64" fmla="*/ 170 w 512"/>
              <a:gd name="T65" fmla="*/ 149 h 512"/>
              <a:gd name="T66" fmla="*/ 128 w 512"/>
              <a:gd name="T67" fmla="*/ 192 h 512"/>
              <a:gd name="T68" fmla="*/ 128 w 512"/>
              <a:gd name="T69" fmla="*/ 277 h 512"/>
              <a:gd name="T70" fmla="*/ 138 w 512"/>
              <a:gd name="T71" fmla="*/ 288 h 512"/>
              <a:gd name="T72" fmla="*/ 224 w 512"/>
              <a:gd name="T73" fmla="*/ 288 h 512"/>
              <a:gd name="T74" fmla="*/ 224 w 512"/>
              <a:gd name="T75" fmla="*/ 405 h 512"/>
              <a:gd name="T76" fmla="*/ 234 w 512"/>
              <a:gd name="T77" fmla="*/ 416 h 512"/>
              <a:gd name="T78" fmla="*/ 277 w 512"/>
              <a:gd name="T79" fmla="*/ 416 h 512"/>
              <a:gd name="T80" fmla="*/ 288 w 512"/>
              <a:gd name="T81" fmla="*/ 405 h 512"/>
              <a:gd name="T82" fmla="*/ 288 w 512"/>
              <a:gd name="T83" fmla="*/ 288 h 512"/>
              <a:gd name="T84" fmla="*/ 373 w 512"/>
              <a:gd name="T85" fmla="*/ 288 h 512"/>
              <a:gd name="T86" fmla="*/ 384 w 512"/>
              <a:gd name="T87" fmla="*/ 277 h 512"/>
              <a:gd name="T88" fmla="*/ 384 w 512"/>
              <a:gd name="T89" fmla="*/ 19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12" h="512">
                <a:moveTo>
                  <a:pt x="362" y="192"/>
                </a:moveTo>
                <a:cubicBezTo>
                  <a:pt x="362" y="266"/>
                  <a:pt x="362" y="266"/>
                  <a:pt x="362" y="266"/>
                </a:cubicBezTo>
                <a:cubicBezTo>
                  <a:pt x="149" y="266"/>
                  <a:pt x="149" y="266"/>
                  <a:pt x="149" y="266"/>
                </a:cubicBezTo>
                <a:cubicBezTo>
                  <a:pt x="149" y="192"/>
                  <a:pt x="149" y="192"/>
                  <a:pt x="149" y="192"/>
                </a:cubicBezTo>
                <a:cubicBezTo>
                  <a:pt x="149" y="180"/>
                  <a:pt x="159" y="170"/>
                  <a:pt x="170" y="170"/>
                </a:cubicBezTo>
                <a:cubicBezTo>
                  <a:pt x="224" y="170"/>
                  <a:pt x="224" y="170"/>
                  <a:pt x="224" y="170"/>
                </a:cubicBezTo>
                <a:cubicBezTo>
                  <a:pt x="224" y="192"/>
                  <a:pt x="224" y="192"/>
                  <a:pt x="224" y="192"/>
                </a:cubicBezTo>
                <a:cubicBezTo>
                  <a:pt x="224" y="198"/>
                  <a:pt x="228" y="202"/>
                  <a:pt x="234" y="202"/>
                </a:cubicBezTo>
                <a:cubicBezTo>
                  <a:pt x="240" y="202"/>
                  <a:pt x="245" y="198"/>
                  <a:pt x="245" y="192"/>
                </a:cubicBezTo>
                <a:cubicBezTo>
                  <a:pt x="245" y="170"/>
                  <a:pt x="245" y="170"/>
                  <a:pt x="245" y="170"/>
                </a:cubicBezTo>
                <a:cubicBezTo>
                  <a:pt x="341" y="170"/>
                  <a:pt x="341" y="170"/>
                  <a:pt x="341" y="170"/>
                </a:cubicBezTo>
                <a:cubicBezTo>
                  <a:pt x="353" y="170"/>
                  <a:pt x="362" y="180"/>
                  <a:pt x="362" y="192"/>
                </a:cubicBezTo>
                <a:close/>
                <a:moveTo>
                  <a:pt x="245" y="394"/>
                </a:moveTo>
                <a:cubicBezTo>
                  <a:pt x="266" y="394"/>
                  <a:pt x="266" y="394"/>
                  <a:pt x="266" y="394"/>
                </a:cubicBezTo>
                <a:cubicBezTo>
                  <a:pt x="266" y="288"/>
                  <a:pt x="266" y="288"/>
                  <a:pt x="266" y="288"/>
                </a:cubicBezTo>
                <a:cubicBezTo>
                  <a:pt x="245" y="288"/>
                  <a:pt x="245" y="288"/>
                  <a:pt x="245" y="288"/>
                </a:cubicBezTo>
                <a:lnTo>
                  <a:pt x="245" y="394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84" y="192"/>
                </a:moveTo>
                <a:cubicBezTo>
                  <a:pt x="384" y="168"/>
                  <a:pt x="365" y="149"/>
                  <a:pt x="341" y="149"/>
                </a:cubicBezTo>
                <a:cubicBezTo>
                  <a:pt x="245" y="149"/>
                  <a:pt x="245" y="149"/>
                  <a:pt x="245" y="149"/>
                </a:cubicBezTo>
                <a:cubicBezTo>
                  <a:pt x="245" y="117"/>
                  <a:pt x="245" y="117"/>
                  <a:pt x="245" y="117"/>
                </a:cubicBezTo>
                <a:cubicBezTo>
                  <a:pt x="256" y="117"/>
                  <a:pt x="256" y="117"/>
                  <a:pt x="256" y="117"/>
                </a:cubicBezTo>
                <a:cubicBezTo>
                  <a:pt x="262" y="117"/>
                  <a:pt x="266" y="112"/>
                  <a:pt x="266" y="106"/>
                </a:cubicBezTo>
                <a:cubicBezTo>
                  <a:pt x="266" y="100"/>
                  <a:pt x="262" y="96"/>
                  <a:pt x="256" y="96"/>
                </a:cubicBezTo>
                <a:cubicBezTo>
                  <a:pt x="234" y="96"/>
                  <a:pt x="234" y="96"/>
                  <a:pt x="234" y="96"/>
                </a:cubicBezTo>
                <a:cubicBezTo>
                  <a:pt x="228" y="96"/>
                  <a:pt x="224" y="100"/>
                  <a:pt x="224" y="106"/>
                </a:cubicBezTo>
                <a:cubicBezTo>
                  <a:pt x="224" y="149"/>
                  <a:pt x="224" y="149"/>
                  <a:pt x="224" y="149"/>
                </a:cubicBezTo>
                <a:cubicBezTo>
                  <a:pt x="170" y="149"/>
                  <a:pt x="170" y="149"/>
                  <a:pt x="170" y="149"/>
                </a:cubicBezTo>
                <a:cubicBezTo>
                  <a:pt x="147" y="149"/>
                  <a:pt x="128" y="168"/>
                  <a:pt x="128" y="192"/>
                </a:cubicBezTo>
                <a:cubicBezTo>
                  <a:pt x="128" y="277"/>
                  <a:pt x="128" y="277"/>
                  <a:pt x="128" y="277"/>
                </a:cubicBezTo>
                <a:cubicBezTo>
                  <a:pt x="128" y="283"/>
                  <a:pt x="132" y="288"/>
                  <a:pt x="138" y="288"/>
                </a:cubicBezTo>
                <a:cubicBezTo>
                  <a:pt x="224" y="288"/>
                  <a:pt x="224" y="288"/>
                  <a:pt x="224" y="288"/>
                </a:cubicBezTo>
                <a:cubicBezTo>
                  <a:pt x="224" y="405"/>
                  <a:pt x="224" y="405"/>
                  <a:pt x="224" y="405"/>
                </a:cubicBezTo>
                <a:cubicBezTo>
                  <a:pt x="224" y="411"/>
                  <a:pt x="228" y="416"/>
                  <a:pt x="234" y="416"/>
                </a:cubicBezTo>
                <a:cubicBezTo>
                  <a:pt x="277" y="416"/>
                  <a:pt x="277" y="416"/>
                  <a:pt x="277" y="416"/>
                </a:cubicBezTo>
                <a:cubicBezTo>
                  <a:pt x="283" y="416"/>
                  <a:pt x="288" y="411"/>
                  <a:pt x="288" y="405"/>
                </a:cubicBezTo>
                <a:cubicBezTo>
                  <a:pt x="288" y="288"/>
                  <a:pt x="288" y="288"/>
                  <a:pt x="288" y="288"/>
                </a:cubicBezTo>
                <a:cubicBezTo>
                  <a:pt x="373" y="288"/>
                  <a:pt x="373" y="288"/>
                  <a:pt x="373" y="288"/>
                </a:cubicBezTo>
                <a:cubicBezTo>
                  <a:pt x="379" y="288"/>
                  <a:pt x="384" y="283"/>
                  <a:pt x="384" y="277"/>
                </a:cubicBezTo>
                <a:lnTo>
                  <a:pt x="384" y="192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6" name="Freeform 198">
            <a:extLst>
              <a:ext uri="{FF2B5EF4-FFF2-40B4-BE49-F238E27FC236}">
                <a16:creationId xmlns:a16="http://schemas.microsoft.com/office/drawing/2014/main" id="{3256C7E3-BD90-4F27-B1D1-698CDBA76B0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590799" y="3691921"/>
            <a:ext cx="1018352" cy="1021348"/>
          </a:xfrm>
          <a:custGeom>
            <a:avLst/>
            <a:gdLst>
              <a:gd name="T0" fmla="*/ 213 w 512"/>
              <a:gd name="T1" fmla="*/ 206 h 512"/>
              <a:gd name="T2" fmla="*/ 312 w 512"/>
              <a:gd name="T3" fmla="*/ 206 h 512"/>
              <a:gd name="T4" fmla="*/ 299 w 512"/>
              <a:gd name="T5" fmla="*/ 305 h 512"/>
              <a:gd name="T6" fmla="*/ 199 w 512"/>
              <a:gd name="T7" fmla="*/ 305 h 512"/>
              <a:gd name="T8" fmla="*/ 213 w 512"/>
              <a:gd name="T9" fmla="*/ 206 h 512"/>
              <a:gd name="T10" fmla="*/ 512 w 512"/>
              <a:gd name="T11" fmla="*/ 256 h 512"/>
              <a:gd name="T12" fmla="*/ 256 w 512"/>
              <a:gd name="T13" fmla="*/ 512 h 512"/>
              <a:gd name="T14" fmla="*/ 0 w 512"/>
              <a:gd name="T15" fmla="*/ 256 h 512"/>
              <a:gd name="T16" fmla="*/ 256 w 512"/>
              <a:gd name="T17" fmla="*/ 0 h 512"/>
              <a:gd name="T18" fmla="*/ 512 w 512"/>
              <a:gd name="T19" fmla="*/ 256 h 512"/>
              <a:gd name="T20" fmla="*/ 410 w 512"/>
              <a:gd name="T21" fmla="*/ 195 h 512"/>
              <a:gd name="T22" fmla="*/ 400 w 512"/>
              <a:gd name="T23" fmla="*/ 185 h 512"/>
              <a:gd name="T24" fmla="*/ 336 w 512"/>
              <a:gd name="T25" fmla="*/ 185 h 512"/>
              <a:gd name="T26" fmla="*/ 345 w 512"/>
              <a:gd name="T27" fmla="*/ 121 h 512"/>
              <a:gd name="T28" fmla="*/ 335 w 512"/>
              <a:gd name="T29" fmla="*/ 109 h 512"/>
              <a:gd name="T30" fmla="*/ 323 w 512"/>
              <a:gd name="T31" fmla="*/ 118 h 512"/>
              <a:gd name="T32" fmla="*/ 315 w 512"/>
              <a:gd name="T33" fmla="*/ 185 h 512"/>
              <a:gd name="T34" fmla="*/ 215 w 512"/>
              <a:gd name="T35" fmla="*/ 185 h 512"/>
              <a:gd name="T36" fmla="*/ 224 w 512"/>
              <a:gd name="T37" fmla="*/ 121 h 512"/>
              <a:gd name="T38" fmla="*/ 215 w 512"/>
              <a:gd name="T39" fmla="*/ 109 h 512"/>
              <a:gd name="T40" fmla="*/ 203 w 512"/>
              <a:gd name="T41" fmla="*/ 118 h 512"/>
              <a:gd name="T42" fmla="*/ 194 w 512"/>
              <a:gd name="T43" fmla="*/ 185 h 512"/>
              <a:gd name="T44" fmla="*/ 128 w 512"/>
              <a:gd name="T45" fmla="*/ 185 h 512"/>
              <a:gd name="T46" fmla="*/ 117 w 512"/>
              <a:gd name="T47" fmla="*/ 195 h 512"/>
              <a:gd name="T48" fmla="*/ 128 w 512"/>
              <a:gd name="T49" fmla="*/ 206 h 512"/>
              <a:gd name="T50" fmla="*/ 191 w 512"/>
              <a:gd name="T51" fmla="*/ 206 h 512"/>
              <a:gd name="T52" fmla="*/ 178 w 512"/>
              <a:gd name="T53" fmla="*/ 305 h 512"/>
              <a:gd name="T54" fmla="*/ 112 w 512"/>
              <a:gd name="T55" fmla="*/ 305 h 512"/>
              <a:gd name="T56" fmla="*/ 101 w 512"/>
              <a:gd name="T57" fmla="*/ 316 h 512"/>
              <a:gd name="T58" fmla="*/ 112 w 512"/>
              <a:gd name="T59" fmla="*/ 327 h 512"/>
              <a:gd name="T60" fmla="*/ 175 w 512"/>
              <a:gd name="T61" fmla="*/ 327 h 512"/>
              <a:gd name="T62" fmla="*/ 167 w 512"/>
              <a:gd name="T63" fmla="*/ 390 h 512"/>
              <a:gd name="T64" fmla="*/ 176 w 512"/>
              <a:gd name="T65" fmla="*/ 402 h 512"/>
              <a:gd name="T66" fmla="*/ 177 w 512"/>
              <a:gd name="T67" fmla="*/ 402 h 512"/>
              <a:gd name="T68" fmla="*/ 188 w 512"/>
              <a:gd name="T69" fmla="*/ 393 h 512"/>
              <a:gd name="T70" fmla="*/ 197 w 512"/>
              <a:gd name="T71" fmla="*/ 327 h 512"/>
              <a:gd name="T72" fmla="*/ 296 w 512"/>
              <a:gd name="T73" fmla="*/ 327 h 512"/>
              <a:gd name="T74" fmla="*/ 288 w 512"/>
              <a:gd name="T75" fmla="*/ 390 h 512"/>
              <a:gd name="T76" fmla="*/ 297 w 512"/>
              <a:gd name="T77" fmla="*/ 402 h 512"/>
              <a:gd name="T78" fmla="*/ 298 w 512"/>
              <a:gd name="T79" fmla="*/ 402 h 512"/>
              <a:gd name="T80" fmla="*/ 309 w 512"/>
              <a:gd name="T81" fmla="*/ 393 h 512"/>
              <a:gd name="T82" fmla="*/ 318 w 512"/>
              <a:gd name="T83" fmla="*/ 327 h 512"/>
              <a:gd name="T84" fmla="*/ 384 w 512"/>
              <a:gd name="T85" fmla="*/ 327 h 512"/>
              <a:gd name="T86" fmla="*/ 394 w 512"/>
              <a:gd name="T87" fmla="*/ 316 h 512"/>
              <a:gd name="T88" fmla="*/ 384 w 512"/>
              <a:gd name="T89" fmla="*/ 305 h 512"/>
              <a:gd name="T90" fmla="*/ 320 w 512"/>
              <a:gd name="T91" fmla="*/ 305 h 512"/>
              <a:gd name="T92" fmla="*/ 333 w 512"/>
              <a:gd name="T93" fmla="*/ 206 h 512"/>
              <a:gd name="T94" fmla="*/ 400 w 512"/>
              <a:gd name="T95" fmla="*/ 206 h 512"/>
              <a:gd name="T96" fmla="*/ 410 w 512"/>
              <a:gd name="T97" fmla="*/ 19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2" h="512">
                <a:moveTo>
                  <a:pt x="213" y="206"/>
                </a:moveTo>
                <a:cubicBezTo>
                  <a:pt x="312" y="206"/>
                  <a:pt x="312" y="206"/>
                  <a:pt x="312" y="206"/>
                </a:cubicBezTo>
                <a:cubicBezTo>
                  <a:pt x="299" y="305"/>
                  <a:pt x="299" y="305"/>
                  <a:pt x="299" y="305"/>
                </a:cubicBezTo>
                <a:cubicBezTo>
                  <a:pt x="199" y="305"/>
                  <a:pt x="199" y="305"/>
                  <a:pt x="199" y="305"/>
                </a:cubicBezTo>
                <a:lnTo>
                  <a:pt x="213" y="206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0" y="195"/>
                </a:moveTo>
                <a:cubicBezTo>
                  <a:pt x="410" y="189"/>
                  <a:pt x="406" y="185"/>
                  <a:pt x="400" y="185"/>
                </a:cubicBezTo>
                <a:cubicBezTo>
                  <a:pt x="336" y="185"/>
                  <a:pt x="336" y="185"/>
                  <a:pt x="336" y="185"/>
                </a:cubicBezTo>
                <a:cubicBezTo>
                  <a:pt x="345" y="121"/>
                  <a:pt x="345" y="121"/>
                  <a:pt x="345" y="121"/>
                </a:cubicBezTo>
                <a:cubicBezTo>
                  <a:pt x="345" y="115"/>
                  <a:pt x="341" y="110"/>
                  <a:pt x="335" y="109"/>
                </a:cubicBezTo>
                <a:cubicBezTo>
                  <a:pt x="330" y="108"/>
                  <a:pt x="324" y="112"/>
                  <a:pt x="323" y="118"/>
                </a:cubicBezTo>
                <a:cubicBezTo>
                  <a:pt x="315" y="185"/>
                  <a:pt x="315" y="185"/>
                  <a:pt x="315" y="185"/>
                </a:cubicBezTo>
                <a:cubicBezTo>
                  <a:pt x="215" y="185"/>
                  <a:pt x="215" y="185"/>
                  <a:pt x="215" y="185"/>
                </a:cubicBezTo>
                <a:cubicBezTo>
                  <a:pt x="224" y="121"/>
                  <a:pt x="224" y="121"/>
                  <a:pt x="224" y="121"/>
                </a:cubicBezTo>
                <a:cubicBezTo>
                  <a:pt x="224" y="115"/>
                  <a:pt x="220" y="110"/>
                  <a:pt x="215" y="109"/>
                </a:cubicBezTo>
                <a:cubicBezTo>
                  <a:pt x="209" y="108"/>
                  <a:pt x="203" y="112"/>
                  <a:pt x="203" y="118"/>
                </a:cubicBezTo>
                <a:cubicBezTo>
                  <a:pt x="194" y="185"/>
                  <a:pt x="194" y="185"/>
                  <a:pt x="194" y="185"/>
                </a:cubicBezTo>
                <a:cubicBezTo>
                  <a:pt x="128" y="185"/>
                  <a:pt x="128" y="185"/>
                  <a:pt x="128" y="185"/>
                </a:cubicBezTo>
                <a:cubicBezTo>
                  <a:pt x="122" y="185"/>
                  <a:pt x="117" y="189"/>
                  <a:pt x="117" y="195"/>
                </a:cubicBezTo>
                <a:cubicBezTo>
                  <a:pt x="117" y="201"/>
                  <a:pt x="122" y="206"/>
                  <a:pt x="128" y="206"/>
                </a:cubicBezTo>
                <a:cubicBezTo>
                  <a:pt x="191" y="206"/>
                  <a:pt x="191" y="206"/>
                  <a:pt x="191" y="206"/>
                </a:cubicBezTo>
                <a:cubicBezTo>
                  <a:pt x="178" y="305"/>
                  <a:pt x="178" y="305"/>
                  <a:pt x="178" y="305"/>
                </a:cubicBezTo>
                <a:cubicBezTo>
                  <a:pt x="112" y="305"/>
                  <a:pt x="112" y="305"/>
                  <a:pt x="112" y="305"/>
                </a:cubicBezTo>
                <a:cubicBezTo>
                  <a:pt x="106" y="305"/>
                  <a:pt x="101" y="310"/>
                  <a:pt x="101" y="316"/>
                </a:cubicBezTo>
                <a:cubicBezTo>
                  <a:pt x="101" y="322"/>
                  <a:pt x="106" y="327"/>
                  <a:pt x="112" y="327"/>
                </a:cubicBezTo>
                <a:cubicBezTo>
                  <a:pt x="175" y="327"/>
                  <a:pt x="175" y="327"/>
                  <a:pt x="175" y="327"/>
                </a:cubicBezTo>
                <a:cubicBezTo>
                  <a:pt x="167" y="390"/>
                  <a:pt x="167" y="390"/>
                  <a:pt x="167" y="390"/>
                </a:cubicBezTo>
                <a:cubicBezTo>
                  <a:pt x="166" y="396"/>
                  <a:pt x="170" y="402"/>
                  <a:pt x="176" y="402"/>
                </a:cubicBezTo>
                <a:cubicBezTo>
                  <a:pt x="177" y="402"/>
                  <a:pt x="177" y="402"/>
                  <a:pt x="177" y="402"/>
                </a:cubicBezTo>
                <a:cubicBezTo>
                  <a:pt x="183" y="402"/>
                  <a:pt x="187" y="398"/>
                  <a:pt x="188" y="393"/>
                </a:cubicBezTo>
                <a:cubicBezTo>
                  <a:pt x="197" y="327"/>
                  <a:pt x="197" y="327"/>
                  <a:pt x="197" y="327"/>
                </a:cubicBezTo>
                <a:cubicBezTo>
                  <a:pt x="296" y="327"/>
                  <a:pt x="296" y="327"/>
                  <a:pt x="296" y="327"/>
                </a:cubicBezTo>
                <a:cubicBezTo>
                  <a:pt x="288" y="390"/>
                  <a:pt x="288" y="390"/>
                  <a:pt x="288" y="390"/>
                </a:cubicBezTo>
                <a:cubicBezTo>
                  <a:pt x="287" y="396"/>
                  <a:pt x="291" y="402"/>
                  <a:pt x="297" y="402"/>
                </a:cubicBezTo>
                <a:cubicBezTo>
                  <a:pt x="298" y="402"/>
                  <a:pt x="298" y="402"/>
                  <a:pt x="298" y="402"/>
                </a:cubicBezTo>
                <a:cubicBezTo>
                  <a:pt x="304" y="402"/>
                  <a:pt x="308" y="398"/>
                  <a:pt x="309" y="393"/>
                </a:cubicBezTo>
                <a:cubicBezTo>
                  <a:pt x="318" y="327"/>
                  <a:pt x="318" y="327"/>
                  <a:pt x="318" y="327"/>
                </a:cubicBezTo>
                <a:cubicBezTo>
                  <a:pt x="384" y="327"/>
                  <a:pt x="384" y="327"/>
                  <a:pt x="384" y="327"/>
                </a:cubicBezTo>
                <a:cubicBezTo>
                  <a:pt x="390" y="327"/>
                  <a:pt x="394" y="322"/>
                  <a:pt x="394" y="316"/>
                </a:cubicBezTo>
                <a:cubicBezTo>
                  <a:pt x="394" y="310"/>
                  <a:pt x="390" y="305"/>
                  <a:pt x="384" y="305"/>
                </a:cubicBezTo>
                <a:cubicBezTo>
                  <a:pt x="320" y="305"/>
                  <a:pt x="320" y="305"/>
                  <a:pt x="320" y="305"/>
                </a:cubicBezTo>
                <a:cubicBezTo>
                  <a:pt x="333" y="206"/>
                  <a:pt x="333" y="206"/>
                  <a:pt x="333" y="206"/>
                </a:cubicBezTo>
                <a:cubicBezTo>
                  <a:pt x="400" y="206"/>
                  <a:pt x="400" y="206"/>
                  <a:pt x="400" y="206"/>
                </a:cubicBezTo>
                <a:cubicBezTo>
                  <a:pt x="406" y="206"/>
                  <a:pt x="410" y="201"/>
                  <a:pt x="410" y="19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7" name="Freeform 340">
            <a:extLst>
              <a:ext uri="{FF2B5EF4-FFF2-40B4-BE49-F238E27FC236}">
                <a16:creationId xmlns:a16="http://schemas.microsoft.com/office/drawing/2014/main" id="{3E07104D-BB1C-401F-AFAA-81E257D1042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806849" y="2385346"/>
            <a:ext cx="526883" cy="528432"/>
          </a:xfrm>
          <a:custGeom>
            <a:avLst/>
            <a:gdLst>
              <a:gd name="T0" fmla="*/ 138 w 512"/>
              <a:gd name="T1" fmla="*/ 138 h 512"/>
              <a:gd name="T2" fmla="*/ 373 w 512"/>
              <a:gd name="T3" fmla="*/ 138 h 512"/>
              <a:gd name="T4" fmla="*/ 373 w 512"/>
              <a:gd name="T5" fmla="*/ 373 h 512"/>
              <a:gd name="T6" fmla="*/ 138 w 512"/>
              <a:gd name="T7" fmla="*/ 373 h 512"/>
              <a:gd name="T8" fmla="*/ 138 w 512"/>
              <a:gd name="T9" fmla="*/ 138 h 512"/>
              <a:gd name="T10" fmla="*/ 512 w 512"/>
              <a:gd name="T11" fmla="*/ 256 h 512"/>
              <a:gd name="T12" fmla="*/ 256 w 512"/>
              <a:gd name="T13" fmla="*/ 512 h 512"/>
              <a:gd name="T14" fmla="*/ 0 w 512"/>
              <a:gd name="T15" fmla="*/ 256 h 512"/>
              <a:gd name="T16" fmla="*/ 256 w 512"/>
              <a:gd name="T17" fmla="*/ 0 h 512"/>
              <a:gd name="T18" fmla="*/ 512 w 512"/>
              <a:gd name="T19" fmla="*/ 256 h 512"/>
              <a:gd name="T20" fmla="*/ 394 w 512"/>
              <a:gd name="T21" fmla="*/ 128 h 512"/>
              <a:gd name="T22" fmla="*/ 384 w 512"/>
              <a:gd name="T23" fmla="*/ 117 h 512"/>
              <a:gd name="T24" fmla="*/ 128 w 512"/>
              <a:gd name="T25" fmla="*/ 117 h 512"/>
              <a:gd name="T26" fmla="*/ 117 w 512"/>
              <a:gd name="T27" fmla="*/ 128 h 512"/>
              <a:gd name="T28" fmla="*/ 117 w 512"/>
              <a:gd name="T29" fmla="*/ 384 h 512"/>
              <a:gd name="T30" fmla="*/ 128 w 512"/>
              <a:gd name="T31" fmla="*/ 394 h 512"/>
              <a:gd name="T32" fmla="*/ 384 w 512"/>
              <a:gd name="T33" fmla="*/ 394 h 512"/>
              <a:gd name="T34" fmla="*/ 394 w 512"/>
              <a:gd name="T35" fmla="*/ 384 h 512"/>
              <a:gd name="T36" fmla="*/ 394 w 512"/>
              <a:gd name="T37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12" h="512">
                <a:moveTo>
                  <a:pt x="138" y="138"/>
                </a:moveTo>
                <a:cubicBezTo>
                  <a:pt x="373" y="138"/>
                  <a:pt x="373" y="138"/>
                  <a:pt x="373" y="138"/>
                </a:cubicBezTo>
                <a:cubicBezTo>
                  <a:pt x="373" y="373"/>
                  <a:pt x="373" y="373"/>
                  <a:pt x="373" y="373"/>
                </a:cubicBezTo>
                <a:cubicBezTo>
                  <a:pt x="138" y="373"/>
                  <a:pt x="138" y="373"/>
                  <a:pt x="138" y="373"/>
                </a:cubicBezTo>
                <a:lnTo>
                  <a:pt x="138" y="138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94" y="128"/>
                </a:moveTo>
                <a:cubicBezTo>
                  <a:pt x="394" y="122"/>
                  <a:pt x="390" y="117"/>
                  <a:pt x="384" y="117"/>
                </a:cubicBezTo>
                <a:cubicBezTo>
                  <a:pt x="128" y="117"/>
                  <a:pt x="128" y="117"/>
                  <a:pt x="128" y="117"/>
                </a:cubicBezTo>
                <a:cubicBezTo>
                  <a:pt x="122" y="117"/>
                  <a:pt x="117" y="122"/>
                  <a:pt x="117" y="128"/>
                </a:cubicBezTo>
                <a:cubicBezTo>
                  <a:pt x="117" y="384"/>
                  <a:pt x="117" y="384"/>
                  <a:pt x="117" y="384"/>
                </a:cubicBezTo>
                <a:cubicBezTo>
                  <a:pt x="117" y="390"/>
                  <a:pt x="122" y="394"/>
                  <a:pt x="128" y="394"/>
                </a:cubicBezTo>
                <a:cubicBezTo>
                  <a:pt x="384" y="394"/>
                  <a:pt x="384" y="394"/>
                  <a:pt x="384" y="394"/>
                </a:cubicBezTo>
                <a:cubicBezTo>
                  <a:pt x="390" y="394"/>
                  <a:pt x="394" y="390"/>
                  <a:pt x="394" y="384"/>
                </a:cubicBezTo>
                <a:lnTo>
                  <a:pt x="394" y="1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1A2930-1351-4EA8-9AA2-84166CEC8526}"/>
              </a:ext>
            </a:extLst>
          </p:cNvPr>
          <p:cNvSpPr/>
          <p:nvPr/>
        </p:nvSpPr>
        <p:spPr>
          <a:xfrm>
            <a:off x="6792563" y="2381607"/>
            <a:ext cx="548994" cy="5489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D87E39-E9A9-4AB1-85A0-3ED895700E08}"/>
              </a:ext>
            </a:extLst>
          </p:cNvPr>
          <p:cNvSpPr/>
          <p:nvPr/>
        </p:nvSpPr>
        <p:spPr>
          <a:xfrm>
            <a:off x="5397951" y="2739488"/>
            <a:ext cx="724948" cy="7249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BAE718-8675-4143-B061-FF4725317CC1}"/>
              </a:ext>
            </a:extLst>
          </p:cNvPr>
          <p:cNvSpPr/>
          <p:nvPr/>
        </p:nvSpPr>
        <p:spPr>
          <a:xfrm>
            <a:off x="6574554" y="3691920"/>
            <a:ext cx="1042217" cy="10422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93D635E-3891-4418-8D32-50EC64F178EB}"/>
              </a:ext>
            </a:extLst>
          </p:cNvPr>
          <p:cNvSpPr/>
          <p:nvPr/>
        </p:nvSpPr>
        <p:spPr>
          <a:xfrm>
            <a:off x="4734675" y="4365161"/>
            <a:ext cx="922746" cy="922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62DCC7-E349-4BD5-9600-DEC16ABE0B46}"/>
              </a:ext>
            </a:extLst>
          </p:cNvPr>
          <p:cNvSpPr/>
          <p:nvPr/>
        </p:nvSpPr>
        <p:spPr>
          <a:xfrm>
            <a:off x="6139809" y="5499200"/>
            <a:ext cx="862614" cy="8626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31" name="Graphic 30" descr="Pencil with solid fill">
            <a:extLst>
              <a:ext uri="{FF2B5EF4-FFF2-40B4-BE49-F238E27FC236}">
                <a16:creationId xmlns:a16="http://schemas.microsoft.com/office/drawing/2014/main" id="{5B9C87E4-3B24-4210-AB0F-E87F9E021E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964" y="2482479"/>
            <a:ext cx="392262" cy="392262"/>
          </a:xfrm>
          <a:prstGeom prst="rect">
            <a:avLst/>
          </a:prstGeom>
        </p:spPr>
      </p:pic>
      <p:pic>
        <p:nvPicPr>
          <p:cNvPr id="17" name="Graphic 16" descr="Books with solid fill">
            <a:extLst>
              <a:ext uri="{FF2B5EF4-FFF2-40B4-BE49-F238E27FC236}">
                <a16:creationId xmlns:a16="http://schemas.microsoft.com/office/drawing/2014/main" id="{1F3E72FA-486B-4FE1-92DA-6A6715695F4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5674" y="5709058"/>
            <a:ext cx="510275" cy="510275"/>
          </a:xfrm>
          <a:prstGeom prst="rect">
            <a:avLst/>
          </a:prstGeom>
        </p:spPr>
      </p:pic>
      <p:pic>
        <p:nvPicPr>
          <p:cNvPr id="23" name="Graphic 22" descr="Checklist with solid fill">
            <a:extLst>
              <a:ext uri="{FF2B5EF4-FFF2-40B4-BE49-F238E27FC236}">
                <a16:creationId xmlns:a16="http://schemas.microsoft.com/office/drawing/2014/main" id="{793FE326-C09B-459E-8032-97A7E127214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26065" y="2874741"/>
            <a:ext cx="474837" cy="474837"/>
          </a:xfrm>
          <a:prstGeom prst="rect">
            <a:avLst/>
          </a:prstGeom>
        </p:spPr>
      </p:pic>
      <p:pic>
        <p:nvPicPr>
          <p:cNvPr id="27" name="Graphic 26" descr="Cloud Computing with solid fill">
            <a:extLst>
              <a:ext uri="{FF2B5EF4-FFF2-40B4-BE49-F238E27FC236}">
                <a16:creationId xmlns:a16="http://schemas.microsoft.com/office/drawing/2014/main" id="{EBD5BC2B-5699-4012-B8D9-9703A0F7A66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0784" y="3969870"/>
            <a:ext cx="525813" cy="52581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5CFC89B-B730-4F88-B667-A2DE2BF20B85}"/>
              </a:ext>
            </a:extLst>
          </p:cNvPr>
          <p:cNvSpPr txBox="1"/>
          <p:nvPr/>
        </p:nvSpPr>
        <p:spPr>
          <a:xfrm>
            <a:off x="3100251" y="501536"/>
            <a:ext cx="8621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36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בניית תשתיות דאטה שיתופיות - אסטרטגיות</a:t>
            </a:r>
            <a:endParaRPr lang="en-IL" sz="3600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FE6B37-A0DB-4B7C-8902-7437F2064C3E}"/>
              </a:ext>
            </a:extLst>
          </p:cNvPr>
          <p:cNvSpPr txBox="1"/>
          <p:nvPr/>
        </p:nvSpPr>
        <p:spPr>
          <a:xfrm>
            <a:off x="6383250" y="1090743"/>
            <a:ext cx="5364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על מנת לאפשר חיבוריות איכותית ורחבה, נדרשת בניית יכולות, הנעת תהליכים ואף שינויי חקיקה ורגולציה ארוכי טווח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3D8A71-BCE7-4828-AEB0-834A716B60BE}"/>
              </a:ext>
            </a:extLst>
          </p:cNvPr>
          <p:cNvGrpSpPr>
            <a:grpSpLocks noChangeAspect="1"/>
          </p:cNvGrpSpPr>
          <p:nvPr/>
        </p:nvGrpSpPr>
        <p:grpSpPr>
          <a:xfrm>
            <a:off x="4924779" y="4559003"/>
            <a:ext cx="569559" cy="466274"/>
            <a:chOff x="9464676" y="1787525"/>
            <a:chExt cx="306387" cy="250826"/>
          </a:xfrm>
          <a:solidFill>
            <a:schemeClr val="bg1"/>
          </a:solidFill>
        </p:grpSpPr>
        <p:sp>
          <p:nvSpPr>
            <p:cNvPr id="51" name="Freeform 200">
              <a:extLst>
                <a:ext uri="{FF2B5EF4-FFF2-40B4-BE49-F238E27FC236}">
                  <a16:creationId xmlns:a16="http://schemas.microsoft.com/office/drawing/2014/main" id="{4FBCB8F8-D74C-4762-B82C-EE25764BE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5638" y="1787525"/>
              <a:ext cx="225425" cy="225425"/>
            </a:xfrm>
            <a:custGeom>
              <a:avLst/>
              <a:gdLst>
                <a:gd name="T0" fmla="*/ 284 w 285"/>
                <a:gd name="T1" fmla="*/ 255 h 283"/>
                <a:gd name="T2" fmla="*/ 135 w 285"/>
                <a:gd name="T3" fmla="*/ 106 h 283"/>
                <a:gd name="T4" fmla="*/ 157 w 285"/>
                <a:gd name="T5" fmla="*/ 83 h 283"/>
                <a:gd name="T6" fmla="*/ 164 w 285"/>
                <a:gd name="T7" fmla="*/ 90 h 283"/>
                <a:gd name="T8" fmla="*/ 164 w 285"/>
                <a:gd name="T9" fmla="*/ 90 h 283"/>
                <a:gd name="T10" fmla="*/ 168 w 285"/>
                <a:gd name="T11" fmla="*/ 91 h 283"/>
                <a:gd name="T12" fmla="*/ 168 w 285"/>
                <a:gd name="T13" fmla="*/ 91 h 283"/>
                <a:gd name="T14" fmla="*/ 172 w 285"/>
                <a:gd name="T15" fmla="*/ 90 h 283"/>
                <a:gd name="T16" fmla="*/ 182 w 285"/>
                <a:gd name="T17" fmla="*/ 79 h 283"/>
                <a:gd name="T18" fmla="*/ 182 w 285"/>
                <a:gd name="T19" fmla="*/ 79 h 283"/>
                <a:gd name="T20" fmla="*/ 183 w 285"/>
                <a:gd name="T21" fmla="*/ 75 h 283"/>
                <a:gd name="T22" fmla="*/ 182 w 285"/>
                <a:gd name="T23" fmla="*/ 72 h 283"/>
                <a:gd name="T24" fmla="*/ 110 w 285"/>
                <a:gd name="T25" fmla="*/ 1 h 283"/>
                <a:gd name="T26" fmla="*/ 110 w 285"/>
                <a:gd name="T27" fmla="*/ 1 h 283"/>
                <a:gd name="T28" fmla="*/ 108 w 285"/>
                <a:gd name="T29" fmla="*/ 0 h 283"/>
                <a:gd name="T30" fmla="*/ 104 w 285"/>
                <a:gd name="T31" fmla="*/ 1 h 283"/>
                <a:gd name="T32" fmla="*/ 93 w 285"/>
                <a:gd name="T33" fmla="*/ 11 h 283"/>
                <a:gd name="T34" fmla="*/ 93 w 285"/>
                <a:gd name="T35" fmla="*/ 11 h 283"/>
                <a:gd name="T36" fmla="*/ 92 w 285"/>
                <a:gd name="T37" fmla="*/ 15 h 283"/>
                <a:gd name="T38" fmla="*/ 93 w 285"/>
                <a:gd name="T39" fmla="*/ 19 h 283"/>
                <a:gd name="T40" fmla="*/ 100 w 285"/>
                <a:gd name="T41" fmla="*/ 24 h 283"/>
                <a:gd name="T42" fmla="*/ 26 w 285"/>
                <a:gd name="T43" fmla="*/ 99 h 283"/>
                <a:gd name="T44" fmla="*/ 19 w 285"/>
                <a:gd name="T45" fmla="*/ 93 h 283"/>
                <a:gd name="T46" fmla="*/ 19 w 285"/>
                <a:gd name="T47" fmla="*/ 93 h 283"/>
                <a:gd name="T48" fmla="*/ 15 w 285"/>
                <a:gd name="T49" fmla="*/ 91 h 283"/>
                <a:gd name="T50" fmla="*/ 12 w 285"/>
                <a:gd name="T51" fmla="*/ 93 h 283"/>
                <a:gd name="T52" fmla="*/ 2 w 285"/>
                <a:gd name="T53" fmla="*/ 102 h 283"/>
                <a:gd name="T54" fmla="*/ 2 w 285"/>
                <a:gd name="T55" fmla="*/ 102 h 283"/>
                <a:gd name="T56" fmla="*/ 0 w 285"/>
                <a:gd name="T57" fmla="*/ 105 h 283"/>
                <a:gd name="T58" fmla="*/ 0 w 285"/>
                <a:gd name="T59" fmla="*/ 106 h 283"/>
                <a:gd name="T60" fmla="*/ 0 w 285"/>
                <a:gd name="T61" fmla="*/ 107 h 283"/>
                <a:gd name="T62" fmla="*/ 2 w 285"/>
                <a:gd name="T63" fmla="*/ 110 h 283"/>
                <a:gd name="T64" fmla="*/ 73 w 285"/>
                <a:gd name="T65" fmla="*/ 181 h 283"/>
                <a:gd name="T66" fmla="*/ 73 w 285"/>
                <a:gd name="T67" fmla="*/ 181 h 283"/>
                <a:gd name="T68" fmla="*/ 77 w 285"/>
                <a:gd name="T69" fmla="*/ 183 h 283"/>
                <a:gd name="T70" fmla="*/ 77 w 285"/>
                <a:gd name="T71" fmla="*/ 183 h 283"/>
                <a:gd name="T72" fmla="*/ 80 w 285"/>
                <a:gd name="T73" fmla="*/ 181 h 283"/>
                <a:gd name="T74" fmla="*/ 90 w 285"/>
                <a:gd name="T75" fmla="*/ 171 h 283"/>
                <a:gd name="T76" fmla="*/ 90 w 285"/>
                <a:gd name="T77" fmla="*/ 171 h 283"/>
                <a:gd name="T78" fmla="*/ 92 w 285"/>
                <a:gd name="T79" fmla="*/ 169 h 283"/>
                <a:gd name="T80" fmla="*/ 92 w 285"/>
                <a:gd name="T81" fmla="*/ 166 h 283"/>
                <a:gd name="T82" fmla="*/ 92 w 285"/>
                <a:gd name="T83" fmla="*/ 165 h 283"/>
                <a:gd name="T84" fmla="*/ 90 w 285"/>
                <a:gd name="T85" fmla="*/ 164 h 283"/>
                <a:gd name="T86" fmla="*/ 84 w 285"/>
                <a:gd name="T87" fmla="*/ 157 h 283"/>
                <a:gd name="T88" fmla="*/ 108 w 285"/>
                <a:gd name="T89" fmla="*/ 133 h 283"/>
                <a:gd name="T90" fmla="*/ 255 w 285"/>
                <a:gd name="T91" fmla="*/ 282 h 283"/>
                <a:gd name="T92" fmla="*/ 255 w 285"/>
                <a:gd name="T93" fmla="*/ 282 h 283"/>
                <a:gd name="T94" fmla="*/ 260 w 285"/>
                <a:gd name="T95" fmla="*/ 283 h 283"/>
                <a:gd name="T96" fmla="*/ 260 w 285"/>
                <a:gd name="T97" fmla="*/ 283 h 283"/>
                <a:gd name="T98" fmla="*/ 262 w 285"/>
                <a:gd name="T99" fmla="*/ 282 h 283"/>
                <a:gd name="T100" fmla="*/ 284 w 285"/>
                <a:gd name="T101" fmla="*/ 262 h 283"/>
                <a:gd name="T102" fmla="*/ 284 w 285"/>
                <a:gd name="T103" fmla="*/ 262 h 283"/>
                <a:gd name="T104" fmla="*/ 285 w 285"/>
                <a:gd name="T105" fmla="*/ 258 h 283"/>
                <a:gd name="T106" fmla="*/ 284 w 285"/>
                <a:gd name="T107" fmla="*/ 255 h 283"/>
                <a:gd name="T108" fmla="*/ 284 w 285"/>
                <a:gd name="T109" fmla="*/ 255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85" h="283">
                  <a:moveTo>
                    <a:pt x="284" y="255"/>
                  </a:moveTo>
                  <a:lnTo>
                    <a:pt x="135" y="106"/>
                  </a:lnTo>
                  <a:lnTo>
                    <a:pt x="157" y="83"/>
                  </a:lnTo>
                  <a:lnTo>
                    <a:pt x="164" y="90"/>
                  </a:lnTo>
                  <a:lnTo>
                    <a:pt x="164" y="90"/>
                  </a:lnTo>
                  <a:lnTo>
                    <a:pt x="168" y="91"/>
                  </a:lnTo>
                  <a:lnTo>
                    <a:pt x="168" y="91"/>
                  </a:lnTo>
                  <a:lnTo>
                    <a:pt x="172" y="90"/>
                  </a:lnTo>
                  <a:lnTo>
                    <a:pt x="182" y="79"/>
                  </a:lnTo>
                  <a:lnTo>
                    <a:pt x="182" y="79"/>
                  </a:lnTo>
                  <a:lnTo>
                    <a:pt x="183" y="75"/>
                  </a:lnTo>
                  <a:lnTo>
                    <a:pt x="182" y="72"/>
                  </a:lnTo>
                  <a:lnTo>
                    <a:pt x="110" y="1"/>
                  </a:lnTo>
                  <a:lnTo>
                    <a:pt x="110" y="1"/>
                  </a:lnTo>
                  <a:lnTo>
                    <a:pt x="108" y="0"/>
                  </a:lnTo>
                  <a:lnTo>
                    <a:pt x="104" y="1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2" y="15"/>
                  </a:lnTo>
                  <a:lnTo>
                    <a:pt x="93" y="19"/>
                  </a:lnTo>
                  <a:lnTo>
                    <a:pt x="100" y="24"/>
                  </a:lnTo>
                  <a:lnTo>
                    <a:pt x="26" y="99"/>
                  </a:lnTo>
                  <a:lnTo>
                    <a:pt x="19" y="93"/>
                  </a:lnTo>
                  <a:lnTo>
                    <a:pt x="19" y="93"/>
                  </a:lnTo>
                  <a:lnTo>
                    <a:pt x="15" y="91"/>
                  </a:lnTo>
                  <a:lnTo>
                    <a:pt x="12" y="93"/>
                  </a:lnTo>
                  <a:lnTo>
                    <a:pt x="2" y="102"/>
                  </a:lnTo>
                  <a:lnTo>
                    <a:pt x="2" y="102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0" y="107"/>
                  </a:lnTo>
                  <a:lnTo>
                    <a:pt x="2" y="110"/>
                  </a:lnTo>
                  <a:lnTo>
                    <a:pt x="73" y="181"/>
                  </a:lnTo>
                  <a:lnTo>
                    <a:pt x="73" y="181"/>
                  </a:lnTo>
                  <a:lnTo>
                    <a:pt x="77" y="183"/>
                  </a:lnTo>
                  <a:lnTo>
                    <a:pt x="77" y="183"/>
                  </a:lnTo>
                  <a:lnTo>
                    <a:pt x="80" y="181"/>
                  </a:lnTo>
                  <a:lnTo>
                    <a:pt x="90" y="171"/>
                  </a:lnTo>
                  <a:lnTo>
                    <a:pt x="90" y="171"/>
                  </a:lnTo>
                  <a:lnTo>
                    <a:pt x="92" y="169"/>
                  </a:lnTo>
                  <a:lnTo>
                    <a:pt x="92" y="166"/>
                  </a:lnTo>
                  <a:lnTo>
                    <a:pt x="92" y="165"/>
                  </a:lnTo>
                  <a:lnTo>
                    <a:pt x="90" y="164"/>
                  </a:lnTo>
                  <a:lnTo>
                    <a:pt x="84" y="157"/>
                  </a:lnTo>
                  <a:lnTo>
                    <a:pt x="108" y="133"/>
                  </a:lnTo>
                  <a:lnTo>
                    <a:pt x="255" y="282"/>
                  </a:lnTo>
                  <a:lnTo>
                    <a:pt x="255" y="282"/>
                  </a:lnTo>
                  <a:lnTo>
                    <a:pt x="260" y="283"/>
                  </a:lnTo>
                  <a:lnTo>
                    <a:pt x="260" y="283"/>
                  </a:lnTo>
                  <a:lnTo>
                    <a:pt x="262" y="282"/>
                  </a:lnTo>
                  <a:lnTo>
                    <a:pt x="284" y="262"/>
                  </a:lnTo>
                  <a:lnTo>
                    <a:pt x="284" y="262"/>
                  </a:lnTo>
                  <a:lnTo>
                    <a:pt x="285" y="258"/>
                  </a:lnTo>
                  <a:lnTo>
                    <a:pt x="284" y="255"/>
                  </a:lnTo>
                  <a:lnTo>
                    <a:pt x="284" y="2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01">
              <a:extLst>
                <a:ext uri="{FF2B5EF4-FFF2-40B4-BE49-F238E27FC236}">
                  <a16:creationId xmlns:a16="http://schemas.microsoft.com/office/drawing/2014/main" id="{87792D94-E0EC-4CD4-BAF1-657B504EE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4676" y="2017713"/>
              <a:ext cx="152400" cy="20638"/>
            </a:xfrm>
            <a:custGeom>
              <a:avLst/>
              <a:gdLst>
                <a:gd name="T0" fmla="*/ 186 w 192"/>
                <a:gd name="T1" fmla="*/ 0 h 25"/>
                <a:gd name="T2" fmla="*/ 4 w 192"/>
                <a:gd name="T3" fmla="*/ 0 h 25"/>
                <a:gd name="T4" fmla="*/ 4 w 192"/>
                <a:gd name="T5" fmla="*/ 0 h 25"/>
                <a:gd name="T6" fmla="*/ 1 w 192"/>
                <a:gd name="T7" fmla="*/ 1 h 25"/>
                <a:gd name="T8" fmla="*/ 0 w 192"/>
                <a:gd name="T9" fmla="*/ 5 h 25"/>
                <a:gd name="T10" fmla="*/ 0 w 192"/>
                <a:gd name="T11" fmla="*/ 20 h 25"/>
                <a:gd name="T12" fmla="*/ 0 w 192"/>
                <a:gd name="T13" fmla="*/ 20 h 25"/>
                <a:gd name="T14" fmla="*/ 1 w 192"/>
                <a:gd name="T15" fmla="*/ 24 h 25"/>
                <a:gd name="T16" fmla="*/ 4 w 192"/>
                <a:gd name="T17" fmla="*/ 25 h 25"/>
                <a:gd name="T18" fmla="*/ 186 w 192"/>
                <a:gd name="T19" fmla="*/ 25 h 25"/>
                <a:gd name="T20" fmla="*/ 186 w 192"/>
                <a:gd name="T21" fmla="*/ 25 h 25"/>
                <a:gd name="T22" fmla="*/ 190 w 192"/>
                <a:gd name="T23" fmla="*/ 24 h 25"/>
                <a:gd name="T24" fmla="*/ 192 w 192"/>
                <a:gd name="T25" fmla="*/ 20 h 25"/>
                <a:gd name="T26" fmla="*/ 192 w 192"/>
                <a:gd name="T27" fmla="*/ 5 h 25"/>
                <a:gd name="T28" fmla="*/ 192 w 192"/>
                <a:gd name="T29" fmla="*/ 5 h 25"/>
                <a:gd name="T30" fmla="*/ 190 w 192"/>
                <a:gd name="T31" fmla="*/ 1 h 25"/>
                <a:gd name="T32" fmla="*/ 186 w 192"/>
                <a:gd name="T33" fmla="*/ 0 h 25"/>
                <a:gd name="T34" fmla="*/ 186 w 192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2" h="25">
                  <a:moveTo>
                    <a:pt x="186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5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" y="24"/>
                  </a:lnTo>
                  <a:lnTo>
                    <a:pt x="4" y="25"/>
                  </a:lnTo>
                  <a:lnTo>
                    <a:pt x="186" y="25"/>
                  </a:lnTo>
                  <a:lnTo>
                    <a:pt x="186" y="25"/>
                  </a:lnTo>
                  <a:lnTo>
                    <a:pt x="190" y="24"/>
                  </a:lnTo>
                  <a:lnTo>
                    <a:pt x="192" y="20"/>
                  </a:lnTo>
                  <a:lnTo>
                    <a:pt x="192" y="5"/>
                  </a:lnTo>
                  <a:lnTo>
                    <a:pt x="192" y="5"/>
                  </a:lnTo>
                  <a:lnTo>
                    <a:pt x="190" y="1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02">
              <a:extLst>
                <a:ext uri="{FF2B5EF4-FFF2-40B4-BE49-F238E27FC236}">
                  <a16:creationId xmlns:a16="http://schemas.microsoft.com/office/drawing/2014/main" id="{71B1CA73-3C10-448B-84B5-C46BC2897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551" y="1981200"/>
              <a:ext cx="120650" cy="20638"/>
            </a:xfrm>
            <a:custGeom>
              <a:avLst/>
              <a:gdLst>
                <a:gd name="T0" fmla="*/ 0 w 151"/>
                <a:gd name="T1" fmla="*/ 5 h 26"/>
                <a:gd name="T2" fmla="*/ 0 w 151"/>
                <a:gd name="T3" fmla="*/ 20 h 26"/>
                <a:gd name="T4" fmla="*/ 0 w 151"/>
                <a:gd name="T5" fmla="*/ 20 h 26"/>
                <a:gd name="T6" fmla="*/ 0 w 151"/>
                <a:gd name="T7" fmla="*/ 23 h 26"/>
                <a:gd name="T8" fmla="*/ 1 w 151"/>
                <a:gd name="T9" fmla="*/ 24 h 26"/>
                <a:gd name="T10" fmla="*/ 4 w 151"/>
                <a:gd name="T11" fmla="*/ 26 h 26"/>
                <a:gd name="T12" fmla="*/ 146 w 151"/>
                <a:gd name="T13" fmla="*/ 26 h 26"/>
                <a:gd name="T14" fmla="*/ 146 w 151"/>
                <a:gd name="T15" fmla="*/ 26 h 26"/>
                <a:gd name="T16" fmla="*/ 150 w 151"/>
                <a:gd name="T17" fmla="*/ 24 h 26"/>
                <a:gd name="T18" fmla="*/ 151 w 151"/>
                <a:gd name="T19" fmla="*/ 20 h 26"/>
                <a:gd name="T20" fmla="*/ 151 w 151"/>
                <a:gd name="T21" fmla="*/ 5 h 26"/>
                <a:gd name="T22" fmla="*/ 151 w 151"/>
                <a:gd name="T23" fmla="*/ 5 h 26"/>
                <a:gd name="T24" fmla="*/ 150 w 151"/>
                <a:gd name="T25" fmla="*/ 1 h 26"/>
                <a:gd name="T26" fmla="*/ 146 w 151"/>
                <a:gd name="T27" fmla="*/ 0 h 26"/>
                <a:gd name="T28" fmla="*/ 4 w 151"/>
                <a:gd name="T29" fmla="*/ 0 h 26"/>
                <a:gd name="T30" fmla="*/ 4 w 151"/>
                <a:gd name="T31" fmla="*/ 0 h 26"/>
                <a:gd name="T32" fmla="*/ 1 w 151"/>
                <a:gd name="T33" fmla="*/ 1 h 26"/>
                <a:gd name="T34" fmla="*/ 0 w 151"/>
                <a:gd name="T35" fmla="*/ 3 h 26"/>
                <a:gd name="T36" fmla="*/ 0 w 151"/>
                <a:gd name="T37" fmla="*/ 5 h 26"/>
                <a:gd name="T38" fmla="*/ 0 w 151"/>
                <a:gd name="T39" fmla="*/ 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1" h="26">
                  <a:moveTo>
                    <a:pt x="0" y="5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146" y="26"/>
                  </a:lnTo>
                  <a:lnTo>
                    <a:pt x="146" y="26"/>
                  </a:lnTo>
                  <a:lnTo>
                    <a:pt x="150" y="24"/>
                  </a:lnTo>
                  <a:lnTo>
                    <a:pt x="151" y="20"/>
                  </a:lnTo>
                  <a:lnTo>
                    <a:pt x="151" y="5"/>
                  </a:lnTo>
                  <a:lnTo>
                    <a:pt x="151" y="5"/>
                  </a:lnTo>
                  <a:lnTo>
                    <a:pt x="150" y="1"/>
                  </a:lnTo>
                  <a:lnTo>
                    <a:pt x="146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03">
              <a:extLst>
                <a:ext uri="{FF2B5EF4-FFF2-40B4-BE49-F238E27FC236}">
                  <a16:creationId xmlns:a16="http://schemas.microsoft.com/office/drawing/2014/main" id="{C11B3187-7863-4064-A59B-0156DB1DC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9438" y="1933575"/>
              <a:ext cx="38100" cy="14288"/>
            </a:xfrm>
            <a:custGeom>
              <a:avLst/>
              <a:gdLst>
                <a:gd name="T0" fmla="*/ 9 w 48"/>
                <a:gd name="T1" fmla="*/ 17 h 17"/>
                <a:gd name="T2" fmla="*/ 40 w 48"/>
                <a:gd name="T3" fmla="*/ 17 h 17"/>
                <a:gd name="T4" fmla="*/ 40 w 48"/>
                <a:gd name="T5" fmla="*/ 17 h 17"/>
                <a:gd name="T6" fmla="*/ 43 w 48"/>
                <a:gd name="T7" fmla="*/ 16 h 17"/>
                <a:gd name="T8" fmla="*/ 46 w 48"/>
                <a:gd name="T9" fmla="*/ 15 h 17"/>
                <a:gd name="T10" fmla="*/ 48 w 48"/>
                <a:gd name="T11" fmla="*/ 12 h 17"/>
                <a:gd name="T12" fmla="*/ 48 w 48"/>
                <a:gd name="T13" fmla="*/ 8 h 17"/>
                <a:gd name="T14" fmla="*/ 48 w 48"/>
                <a:gd name="T15" fmla="*/ 8 h 17"/>
                <a:gd name="T16" fmla="*/ 48 w 48"/>
                <a:gd name="T17" fmla="*/ 5 h 17"/>
                <a:gd name="T18" fmla="*/ 46 w 48"/>
                <a:gd name="T19" fmla="*/ 3 h 17"/>
                <a:gd name="T20" fmla="*/ 43 w 48"/>
                <a:gd name="T21" fmla="*/ 0 h 17"/>
                <a:gd name="T22" fmla="*/ 40 w 48"/>
                <a:gd name="T23" fmla="*/ 0 h 17"/>
                <a:gd name="T24" fmla="*/ 9 w 48"/>
                <a:gd name="T25" fmla="*/ 0 h 17"/>
                <a:gd name="T26" fmla="*/ 9 w 48"/>
                <a:gd name="T27" fmla="*/ 0 h 17"/>
                <a:gd name="T28" fmla="*/ 5 w 48"/>
                <a:gd name="T29" fmla="*/ 0 h 17"/>
                <a:gd name="T30" fmla="*/ 3 w 48"/>
                <a:gd name="T31" fmla="*/ 3 h 17"/>
                <a:gd name="T32" fmla="*/ 1 w 48"/>
                <a:gd name="T33" fmla="*/ 5 h 17"/>
                <a:gd name="T34" fmla="*/ 0 w 48"/>
                <a:gd name="T35" fmla="*/ 8 h 17"/>
                <a:gd name="T36" fmla="*/ 0 w 48"/>
                <a:gd name="T37" fmla="*/ 8 h 17"/>
                <a:gd name="T38" fmla="*/ 1 w 48"/>
                <a:gd name="T39" fmla="*/ 12 h 17"/>
                <a:gd name="T40" fmla="*/ 3 w 48"/>
                <a:gd name="T41" fmla="*/ 15 h 17"/>
                <a:gd name="T42" fmla="*/ 5 w 48"/>
                <a:gd name="T43" fmla="*/ 16 h 17"/>
                <a:gd name="T44" fmla="*/ 9 w 48"/>
                <a:gd name="T45" fmla="*/ 17 h 17"/>
                <a:gd name="T46" fmla="*/ 9 w 48"/>
                <a:gd name="T4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17">
                  <a:moveTo>
                    <a:pt x="9" y="17"/>
                  </a:moveTo>
                  <a:lnTo>
                    <a:pt x="40" y="17"/>
                  </a:lnTo>
                  <a:lnTo>
                    <a:pt x="40" y="17"/>
                  </a:lnTo>
                  <a:lnTo>
                    <a:pt x="43" y="16"/>
                  </a:lnTo>
                  <a:lnTo>
                    <a:pt x="46" y="15"/>
                  </a:lnTo>
                  <a:lnTo>
                    <a:pt x="48" y="12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5"/>
                  </a:lnTo>
                  <a:lnTo>
                    <a:pt x="46" y="3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12"/>
                  </a:lnTo>
                  <a:lnTo>
                    <a:pt x="3" y="15"/>
                  </a:lnTo>
                  <a:lnTo>
                    <a:pt x="5" y="16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04">
              <a:extLst>
                <a:ext uri="{FF2B5EF4-FFF2-40B4-BE49-F238E27FC236}">
                  <a16:creationId xmlns:a16="http://schemas.microsoft.com/office/drawing/2014/main" id="{B6164456-5968-4681-886C-00DEE8B16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6901" y="1893888"/>
              <a:ext cx="30163" cy="30163"/>
            </a:xfrm>
            <a:custGeom>
              <a:avLst/>
              <a:gdLst>
                <a:gd name="T0" fmla="*/ 25 w 39"/>
                <a:gd name="T1" fmla="*/ 38 h 39"/>
                <a:gd name="T2" fmla="*/ 25 w 39"/>
                <a:gd name="T3" fmla="*/ 38 h 39"/>
                <a:gd name="T4" fmla="*/ 27 w 39"/>
                <a:gd name="T5" fmla="*/ 39 h 39"/>
                <a:gd name="T6" fmla="*/ 30 w 39"/>
                <a:gd name="T7" fmla="*/ 39 h 39"/>
                <a:gd name="T8" fmla="*/ 30 w 39"/>
                <a:gd name="T9" fmla="*/ 39 h 39"/>
                <a:gd name="T10" fmla="*/ 34 w 39"/>
                <a:gd name="T11" fmla="*/ 39 h 39"/>
                <a:gd name="T12" fmla="*/ 37 w 39"/>
                <a:gd name="T13" fmla="*/ 38 h 39"/>
                <a:gd name="T14" fmla="*/ 37 w 39"/>
                <a:gd name="T15" fmla="*/ 38 h 39"/>
                <a:gd name="T16" fmla="*/ 39 w 39"/>
                <a:gd name="T17" fmla="*/ 33 h 39"/>
                <a:gd name="T18" fmla="*/ 39 w 39"/>
                <a:gd name="T19" fmla="*/ 31 h 39"/>
                <a:gd name="T20" fmla="*/ 39 w 39"/>
                <a:gd name="T21" fmla="*/ 27 h 39"/>
                <a:gd name="T22" fmla="*/ 37 w 39"/>
                <a:gd name="T23" fmla="*/ 24 h 39"/>
                <a:gd name="T24" fmla="*/ 15 w 39"/>
                <a:gd name="T25" fmla="*/ 3 h 39"/>
                <a:gd name="T26" fmla="*/ 15 w 39"/>
                <a:gd name="T27" fmla="*/ 3 h 39"/>
                <a:gd name="T28" fmla="*/ 12 w 39"/>
                <a:gd name="T29" fmla="*/ 1 h 39"/>
                <a:gd name="T30" fmla="*/ 8 w 39"/>
                <a:gd name="T31" fmla="*/ 0 h 39"/>
                <a:gd name="T32" fmla="*/ 6 w 39"/>
                <a:gd name="T33" fmla="*/ 1 h 39"/>
                <a:gd name="T34" fmla="*/ 3 w 39"/>
                <a:gd name="T35" fmla="*/ 3 h 39"/>
                <a:gd name="T36" fmla="*/ 3 w 39"/>
                <a:gd name="T37" fmla="*/ 3 h 39"/>
                <a:gd name="T38" fmla="*/ 0 w 39"/>
                <a:gd name="T39" fmla="*/ 5 h 39"/>
                <a:gd name="T40" fmla="*/ 0 w 39"/>
                <a:gd name="T41" fmla="*/ 9 h 39"/>
                <a:gd name="T42" fmla="*/ 0 w 39"/>
                <a:gd name="T43" fmla="*/ 12 h 39"/>
                <a:gd name="T44" fmla="*/ 3 w 39"/>
                <a:gd name="T45" fmla="*/ 16 h 39"/>
                <a:gd name="T46" fmla="*/ 25 w 39"/>
                <a:gd name="T47" fmla="*/ 3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39">
                  <a:moveTo>
                    <a:pt x="25" y="38"/>
                  </a:moveTo>
                  <a:lnTo>
                    <a:pt x="25" y="38"/>
                  </a:lnTo>
                  <a:lnTo>
                    <a:pt x="27" y="39"/>
                  </a:lnTo>
                  <a:lnTo>
                    <a:pt x="30" y="39"/>
                  </a:lnTo>
                  <a:lnTo>
                    <a:pt x="30" y="39"/>
                  </a:lnTo>
                  <a:lnTo>
                    <a:pt x="34" y="39"/>
                  </a:lnTo>
                  <a:lnTo>
                    <a:pt x="37" y="38"/>
                  </a:lnTo>
                  <a:lnTo>
                    <a:pt x="37" y="38"/>
                  </a:lnTo>
                  <a:lnTo>
                    <a:pt x="39" y="33"/>
                  </a:lnTo>
                  <a:lnTo>
                    <a:pt x="39" y="31"/>
                  </a:lnTo>
                  <a:lnTo>
                    <a:pt x="39" y="27"/>
                  </a:lnTo>
                  <a:lnTo>
                    <a:pt x="37" y="24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2" y="1"/>
                  </a:lnTo>
                  <a:lnTo>
                    <a:pt x="8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2"/>
                  </a:lnTo>
                  <a:lnTo>
                    <a:pt x="3" y="16"/>
                  </a:lnTo>
                  <a:lnTo>
                    <a:pt x="25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" name="Graphic 5">
            <a:extLst>
              <a:ext uri="{FF2B5EF4-FFF2-40B4-BE49-F238E27FC236}">
                <a16:creationId xmlns:a16="http://schemas.microsoft.com/office/drawing/2014/main" id="{C0E1DD51-DF38-C433-9161-45405232578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13884"/>
          <a:stretch/>
        </p:blipFill>
        <p:spPr>
          <a:xfrm rot="20683477">
            <a:off x="11256182" y="47010"/>
            <a:ext cx="702627" cy="7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31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"/>
          <p:cNvSpPr/>
          <p:nvPr/>
        </p:nvSpPr>
        <p:spPr>
          <a:xfrm>
            <a:off x="8101319" y="4777153"/>
            <a:ext cx="2542751" cy="115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 defTabSz="1219170" rtl="1">
              <a:buClr>
                <a:srgbClr val="000000"/>
              </a:buClr>
              <a:defRPr/>
            </a:pP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לחזק את הממשקים ושיתוף המידע</a:t>
            </a: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 בין השלטון המרכזי לבין שלטון המקומי</a:t>
            </a: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 defTabSz="1219170">
              <a:buClr>
                <a:srgbClr val="000000"/>
              </a:buClr>
            </a:pPr>
            <a:endParaRPr lang="he-IL"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8"/>
          <p:cNvSpPr/>
          <p:nvPr/>
        </p:nvSpPr>
        <p:spPr>
          <a:xfrm>
            <a:off x="3002250" y="3753537"/>
            <a:ext cx="2542751" cy="662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 defTabSz="1219170" rtl="1">
              <a:buClr>
                <a:srgbClr val="000000"/>
              </a:buClr>
              <a:defRPr/>
            </a:pP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לייצר שפה עסקית משותפת</a:t>
            </a: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69382"/>
            <a:ext cx="1713371" cy="3519237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8"/>
          <p:cNvSpPr/>
          <p:nvPr/>
        </p:nvSpPr>
        <p:spPr>
          <a:xfrm>
            <a:off x="8141062" y="2565789"/>
            <a:ext cx="2473281" cy="101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 defTabSz="1219170" rtl="1">
              <a:buClr>
                <a:srgbClr val="000000"/>
              </a:buClr>
              <a:defRPr/>
            </a:pP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לחזק את יכולות התכנון, המעקב והבקרה </a:t>
            </a: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של הרשויות המקומיות</a:t>
            </a:r>
            <a:endParaRPr lang="en-US"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Arial"/>
            </a:endParaRP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 defTabSz="1219170">
              <a:buClr>
                <a:srgbClr val="000000"/>
              </a:buClr>
            </a:pPr>
            <a:endParaRPr sz="1867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0819" y="4942840"/>
            <a:ext cx="662420" cy="472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45904" y="2671964"/>
            <a:ext cx="557335" cy="51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3849" y="3808687"/>
            <a:ext cx="606991" cy="61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7086" y="2729653"/>
            <a:ext cx="568532" cy="5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11003431" y="3816690"/>
            <a:ext cx="337195" cy="53619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E2BF7B-C4D5-4C8A-8998-B33FE94873FB}"/>
              </a:ext>
            </a:extLst>
          </p:cNvPr>
          <p:cNvSpPr txBox="1"/>
          <p:nvPr/>
        </p:nvSpPr>
        <p:spPr>
          <a:xfrm>
            <a:off x="8141061" y="3700946"/>
            <a:ext cx="2542752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1219170">
              <a:buClr>
                <a:srgbClr val="000000"/>
              </a:buClr>
            </a:pP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לאפשר </a:t>
            </a: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מענה על שאלות עסקיות מורכבות </a:t>
            </a: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הדורשות הצלבת נתונים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025DBC-EFF4-4A4D-9EE1-2A0308CF3999}"/>
              </a:ext>
            </a:extLst>
          </p:cNvPr>
          <p:cNvSpPr txBox="1"/>
          <p:nvPr/>
        </p:nvSpPr>
        <p:spPr>
          <a:xfrm>
            <a:off x="2500012" y="1037312"/>
            <a:ext cx="9279730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1219170" rtl="1">
              <a:buClr>
                <a:srgbClr val="000000"/>
              </a:buClr>
            </a:pP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מערכת </a:t>
            </a:r>
            <a:r>
              <a:rPr lang="he-IL" sz="1867" kern="0" dirty="0" err="1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אמו"ן</a:t>
            </a: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 מוניציפלי תאפשר לרשויות המקומיות לקבל </a:t>
            </a: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תמונת מצב על בסיס נתוני ממשלה משולבים</a:t>
            </a: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, בנוגע לשאלות עסקיות ותחומי עיסוק שבליבת עבודת הרשויות וברזולוציה הנדרשת להן. </a:t>
            </a:r>
            <a:br>
              <a:rPr lang="en-US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</a:b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באמצעות יצירת תמונת </a:t>
            </a:r>
            <a:r>
              <a:rPr lang="he-IL" sz="1867" kern="0" dirty="0" err="1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רשותית</a:t>
            </a:r>
            <a:r>
              <a:rPr lang="he-IL" sz="1867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 בתחומים שונים, אנחנו שואפים:</a:t>
            </a:r>
            <a:endParaRPr lang="he-IL" sz="2000" kern="0" dirty="0">
              <a:solidFill>
                <a:srgbClr val="002E6E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  <p:sp>
        <p:nvSpPr>
          <p:cNvPr id="19" name="Google Shape;181;p39">
            <a:extLst>
              <a:ext uri="{FF2B5EF4-FFF2-40B4-BE49-F238E27FC236}">
                <a16:creationId xmlns:a16="http://schemas.microsoft.com/office/drawing/2014/main" id="{C9E3D0A9-C967-4AF9-8BC2-E0E3D7AF6E72}"/>
              </a:ext>
            </a:extLst>
          </p:cNvPr>
          <p:cNvSpPr txBox="1">
            <a:spLocks/>
          </p:cNvSpPr>
          <p:nvPr/>
        </p:nvSpPr>
        <p:spPr>
          <a:xfrm>
            <a:off x="3388662" y="343128"/>
            <a:ext cx="7951964" cy="662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lnSpc>
                <a:spcPct val="80000"/>
              </a:lnSpc>
              <a:buClr>
                <a:srgbClr val="009EE2"/>
              </a:buClr>
              <a:buSzPts val="3300"/>
            </a:pPr>
            <a:r>
              <a:rPr lang="he-IL" sz="4400" b="1" kern="0" dirty="0" err="1">
                <a:solidFill>
                  <a:srgbClr val="009EE2"/>
                </a:solidFill>
                <a:latin typeface="Calibri"/>
                <a:ea typeface="Calibri"/>
                <a:cs typeface="Calibri"/>
                <a:sym typeface="Calibri"/>
              </a:rPr>
              <a:t>אמו"ן</a:t>
            </a:r>
            <a:r>
              <a:rPr lang="he-IL" sz="4400" b="1" kern="0" dirty="0">
                <a:solidFill>
                  <a:srgbClr val="009EE2"/>
                </a:solidFill>
                <a:latin typeface="Calibri"/>
                <a:ea typeface="Calibri"/>
                <a:cs typeface="Calibri"/>
                <a:sym typeface="Calibri"/>
              </a:rPr>
              <a:t> מוניציפלי- "ברק בעיניים"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5886BF-6E0C-4C21-BCF4-9BE0F232C20D}"/>
              </a:ext>
            </a:extLst>
          </p:cNvPr>
          <p:cNvSpPr txBox="1"/>
          <p:nvPr/>
        </p:nvSpPr>
        <p:spPr>
          <a:xfrm>
            <a:off x="420055" y="2654267"/>
            <a:ext cx="5188672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1219170">
              <a:buClr>
                <a:srgbClr val="000000"/>
              </a:buClr>
            </a:pP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לייצר סטנדרטיזציה </a:t>
            </a:r>
          </a:p>
          <a:p>
            <a:pPr algn="r" defTabSz="1219170">
              <a:buClr>
                <a:srgbClr val="000000"/>
              </a:buClr>
            </a:pPr>
            <a:r>
              <a:rPr lang="he-IL" sz="1867" b="1" kern="0" dirty="0">
                <a:solidFill>
                  <a:srgbClr val="002E6E"/>
                </a:solidFill>
                <a:latin typeface="Calibri"/>
                <a:ea typeface="Calibri"/>
                <a:cs typeface="Calibri"/>
                <a:sym typeface="Arial"/>
              </a:rPr>
              <a:t>של הנתונים</a:t>
            </a:r>
            <a:endParaRPr lang="he-IL" sz="1867" b="1" kern="0" dirty="0">
              <a:solidFill>
                <a:srgbClr val="002E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קבוצה 14"/>
          <p:cNvGrpSpPr/>
          <p:nvPr/>
        </p:nvGrpSpPr>
        <p:grpSpPr>
          <a:xfrm>
            <a:off x="3511272" y="4821987"/>
            <a:ext cx="2999568" cy="619121"/>
            <a:chOff x="2724674" y="2555840"/>
            <a:chExt cx="7459843" cy="1675863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3A0091C9-DF1F-FE46-8877-B8EA895D3A57}"/>
                </a:ext>
              </a:extLst>
            </p:cNvPr>
            <p:cNvGrpSpPr/>
            <p:nvPr/>
          </p:nvGrpSpPr>
          <p:grpSpPr>
            <a:xfrm>
              <a:off x="2799867" y="2682338"/>
              <a:ext cx="4941996" cy="1493325"/>
              <a:chOff x="2754788" y="1857162"/>
              <a:chExt cx="4941996" cy="1493325"/>
            </a:xfrm>
          </p:grpSpPr>
          <p:pic>
            <p:nvPicPr>
              <p:cNvPr id="24" name="Picture 6">
                <a:extLst>
                  <a:ext uri="{FF2B5EF4-FFF2-40B4-BE49-F238E27FC236}">
                    <a16:creationId xmlns:a16="http://schemas.microsoft.com/office/drawing/2014/main" id="{1DFB5FFE-CF0B-A347-9C15-3D5FBCB1A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54788" y="1857162"/>
                <a:ext cx="4941996" cy="1064942"/>
              </a:xfrm>
              <a:prstGeom prst="rect">
                <a:avLst/>
              </a:prstGeom>
            </p:spPr>
          </p:pic>
          <p:pic>
            <p:nvPicPr>
              <p:cNvPr id="26" name="Picture 7">
                <a:extLst>
                  <a:ext uri="{FF2B5EF4-FFF2-40B4-BE49-F238E27FC236}">
                    <a16:creationId xmlns:a16="http://schemas.microsoft.com/office/drawing/2014/main" id="{1AB87DEB-A237-ED49-A436-C407C78FB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82349" y="2872124"/>
                <a:ext cx="4544452" cy="478363"/>
              </a:xfrm>
              <a:prstGeom prst="rect">
                <a:avLst/>
              </a:prstGeom>
            </p:spPr>
          </p:pic>
        </p:grpSp>
        <p:pic>
          <p:nvPicPr>
            <p:cNvPr id="20" name="Picture 9">
              <a:extLst>
                <a:ext uri="{FF2B5EF4-FFF2-40B4-BE49-F238E27FC236}">
                  <a16:creationId xmlns:a16="http://schemas.microsoft.com/office/drawing/2014/main" id="{717E066B-3BA1-8544-BEC1-D902140E7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724674" y="2589830"/>
              <a:ext cx="4991830" cy="1166159"/>
            </a:xfrm>
            <a:prstGeom prst="rect">
              <a:avLst/>
            </a:prstGeom>
          </p:spPr>
        </p:pic>
        <p:pic>
          <p:nvPicPr>
            <p:cNvPr id="21" name="Picture 11">
              <a:extLst>
                <a:ext uri="{FF2B5EF4-FFF2-40B4-BE49-F238E27FC236}">
                  <a16:creationId xmlns:a16="http://schemas.microsoft.com/office/drawing/2014/main" id="{D90BEAF5-F2AC-7140-BFD6-298C36417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19746" y="3518453"/>
              <a:ext cx="4771403" cy="713250"/>
            </a:xfrm>
            <a:prstGeom prst="rect">
              <a:avLst/>
            </a:prstGeom>
          </p:spPr>
        </p:pic>
        <p:pic>
          <p:nvPicPr>
            <p:cNvPr id="22" name="Picture 13">
              <a:extLst>
                <a:ext uri="{FF2B5EF4-FFF2-40B4-BE49-F238E27FC236}">
                  <a16:creationId xmlns:a16="http://schemas.microsoft.com/office/drawing/2014/main" id="{DAA931E5-466D-444D-A89F-7FF2A7BA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453037" y="2555840"/>
              <a:ext cx="1731480" cy="1267690"/>
            </a:xfrm>
            <a:prstGeom prst="rect">
              <a:avLst/>
            </a:prstGeom>
          </p:spPr>
        </p:pic>
      </p:grpSp>
      <p:pic>
        <p:nvPicPr>
          <p:cNvPr id="3" name="Picture 8" descr="השתדרגתי&quot; - יריד התעסוקה האזורי בית שאן - עמק המעיינות | מעברים מעיינות כנרת">
            <a:extLst>
              <a:ext uri="{FF2B5EF4-FFF2-40B4-BE49-F238E27FC236}">
                <a16:creationId xmlns:a16="http://schemas.microsoft.com/office/drawing/2014/main" id="{7AA7997B-816C-BBD4-AC3E-FD69E2640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367" y="6196066"/>
            <a:ext cx="1432858" cy="51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4">
            <a:extLst>
              <a:ext uri="{FF2B5EF4-FFF2-40B4-BE49-F238E27FC236}">
                <a16:creationId xmlns:a16="http://schemas.microsoft.com/office/drawing/2014/main" id="{EEC4FECA-695B-3EC4-B46A-0875EFE053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90660" y="6265369"/>
            <a:ext cx="855740" cy="312363"/>
          </a:xfrm>
          <a:prstGeom prst="rect">
            <a:avLst/>
          </a:prstGeom>
        </p:spPr>
      </p:pic>
      <p:pic>
        <p:nvPicPr>
          <p:cNvPr id="5" name="Picture 30">
            <a:extLst>
              <a:ext uri="{FF2B5EF4-FFF2-40B4-BE49-F238E27FC236}">
                <a16:creationId xmlns:a16="http://schemas.microsoft.com/office/drawing/2014/main" id="{48FDAA8A-F1E9-B5A9-0DF7-89755DD0C1E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66041" y="6055870"/>
            <a:ext cx="1269779" cy="748144"/>
          </a:xfrm>
          <a:prstGeom prst="rect">
            <a:avLst/>
          </a:prstGeom>
        </p:spPr>
      </p:pic>
      <p:pic>
        <p:nvPicPr>
          <p:cNvPr id="6" name="Picture 32">
            <a:extLst>
              <a:ext uri="{FF2B5EF4-FFF2-40B4-BE49-F238E27FC236}">
                <a16:creationId xmlns:a16="http://schemas.microsoft.com/office/drawing/2014/main" id="{BDD07B48-0D4F-DBBE-575E-297B49E591C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4759" y="6099740"/>
            <a:ext cx="1707936" cy="711528"/>
          </a:xfrm>
          <a:prstGeom prst="rect">
            <a:avLst/>
          </a:prstGeom>
        </p:spPr>
      </p:pic>
      <p:pic>
        <p:nvPicPr>
          <p:cNvPr id="7" name="Picture 34">
            <a:extLst>
              <a:ext uri="{FF2B5EF4-FFF2-40B4-BE49-F238E27FC236}">
                <a16:creationId xmlns:a16="http://schemas.microsoft.com/office/drawing/2014/main" id="{93C1038D-CE17-C9CC-E746-4C121394B8F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9882" y="6055870"/>
            <a:ext cx="999635" cy="749609"/>
          </a:xfrm>
          <a:prstGeom prst="rect">
            <a:avLst/>
          </a:prstGeom>
        </p:spPr>
      </p:pic>
      <p:pic>
        <p:nvPicPr>
          <p:cNvPr id="8" name="Picture 26">
            <a:extLst>
              <a:ext uri="{FF2B5EF4-FFF2-40B4-BE49-F238E27FC236}">
                <a16:creationId xmlns:a16="http://schemas.microsoft.com/office/drawing/2014/main" id="{2B7A5B04-B0AD-2E96-9DFF-F051D48A680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7783" y="6071328"/>
            <a:ext cx="1229784" cy="673347"/>
          </a:xfrm>
          <a:prstGeom prst="rect">
            <a:avLst/>
          </a:prstGeom>
          <a:ln>
            <a:noFill/>
          </a:ln>
        </p:spPr>
      </p:pic>
      <p:grpSp>
        <p:nvGrpSpPr>
          <p:cNvPr id="9" name="Group 1">
            <a:extLst>
              <a:ext uri="{FF2B5EF4-FFF2-40B4-BE49-F238E27FC236}">
                <a16:creationId xmlns:a16="http://schemas.microsoft.com/office/drawing/2014/main" id="{81FFF5CF-3EB9-DDCE-E52E-0F9808663EF1}"/>
              </a:ext>
            </a:extLst>
          </p:cNvPr>
          <p:cNvGrpSpPr/>
          <p:nvPr/>
        </p:nvGrpSpPr>
        <p:grpSpPr>
          <a:xfrm>
            <a:off x="682286" y="4821987"/>
            <a:ext cx="1578856" cy="481309"/>
            <a:chOff x="3486150" y="1080335"/>
            <a:chExt cx="3689448" cy="1108232"/>
          </a:xfrm>
        </p:grpSpPr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2030AE3D-16E2-F08C-8C58-4DFAED54A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86150" y="1807567"/>
              <a:ext cx="3619500" cy="381000"/>
            </a:xfrm>
            <a:prstGeom prst="rect">
              <a:avLst/>
            </a:prstGeom>
          </p:spPr>
        </p:pic>
        <p:pic>
          <p:nvPicPr>
            <p:cNvPr id="12" name="Picture 13">
              <a:extLst>
                <a:ext uri="{FF2B5EF4-FFF2-40B4-BE49-F238E27FC236}">
                  <a16:creationId xmlns:a16="http://schemas.microsoft.com/office/drawing/2014/main" id="{A8CD42ED-4277-1979-60AE-0C3998FF8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543398" y="1080335"/>
              <a:ext cx="3632200" cy="698500"/>
            </a:xfrm>
            <a:prstGeom prst="rect">
              <a:avLst/>
            </a:prstGeom>
          </p:spPr>
        </p:pic>
      </p:grpSp>
      <p:pic>
        <p:nvPicPr>
          <p:cNvPr id="11" name="Graphic 5">
            <a:extLst>
              <a:ext uri="{FF2B5EF4-FFF2-40B4-BE49-F238E27FC236}">
                <a16:creationId xmlns:a16="http://schemas.microsoft.com/office/drawing/2014/main" id="{6A1B0358-B7C5-8D61-01C1-D038FB477916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b="13884"/>
          <a:stretch/>
        </p:blipFill>
        <p:spPr>
          <a:xfrm rot="20683477">
            <a:off x="11395086" y="157842"/>
            <a:ext cx="702627" cy="7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45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27BB1AE-DDAD-4F11-BB13-0E58B97F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42453" y="0"/>
            <a:ext cx="11653689" cy="6858000"/>
          </a:xfrm>
          <a:prstGeom prst="rect">
            <a:avLst/>
          </a:prstGeom>
          <a:solidFill>
            <a:srgbClr val="F7F5FD"/>
          </a:solidFill>
        </p:spPr>
      </p:pic>
      <p:grpSp>
        <p:nvGrpSpPr>
          <p:cNvPr id="6" name="קבוצה 5"/>
          <p:cNvGrpSpPr/>
          <p:nvPr/>
        </p:nvGrpSpPr>
        <p:grpSpPr>
          <a:xfrm>
            <a:off x="444282" y="119933"/>
            <a:ext cx="1335958" cy="284468"/>
            <a:chOff x="2724674" y="2589830"/>
            <a:chExt cx="6667460" cy="1641873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3A0091C9-DF1F-FE46-8877-B8EA895D3A57}"/>
                </a:ext>
              </a:extLst>
            </p:cNvPr>
            <p:cNvGrpSpPr/>
            <p:nvPr/>
          </p:nvGrpSpPr>
          <p:grpSpPr>
            <a:xfrm>
              <a:off x="2799867" y="2682338"/>
              <a:ext cx="6592267" cy="1493325"/>
              <a:chOff x="2754788" y="1857162"/>
              <a:chExt cx="6592267" cy="1493325"/>
            </a:xfrm>
          </p:grpSpPr>
          <p:pic>
            <p:nvPicPr>
              <p:cNvPr id="11" name="Picture 5">
                <a:extLst>
                  <a:ext uri="{FF2B5EF4-FFF2-40B4-BE49-F238E27FC236}">
                    <a16:creationId xmlns:a16="http://schemas.microsoft.com/office/drawing/2014/main" id="{17587EAB-548F-F842-892C-761D75BE6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1853" y="2022843"/>
                <a:ext cx="1745202" cy="1305108"/>
              </a:xfrm>
              <a:prstGeom prst="rect">
                <a:avLst/>
              </a:prstGeom>
            </p:spPr>
          </p:pic>
          <p:pic>
            <p:nvPicPr>
              <p:cNvPr id="12" name="Picture 6">
                <a:extLst>
                  <a:ext uri="{FF2B5EF4-FFF2-40B4-BE49-F238E27FC236}">
                    <a16:creationId xmlns:a16="http://schemas.microsoft.com/office/drawing/2014/main" id="{1DFB5FFE-CF0B-A347-9C15-3D5FBCB1A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4788" y="1857162"/>
                <a:ext cx="4941996" cy="1064942"/>
              </a:xfrm>
              <a:prstGeom prst="rect">
                <a:avLst/>
              </a:prstGeom>
            </p:spPr>
          </p:pic>
          <p:pic>
            <p:nvPicPr>
              <p:cNvPr id="13" name="Picture 7">
                <a:extLst>
                  <a:ext uri="{FF2B5EF4-FFF2-40B4-BE49-F238E27FC236}">
                    <a16:creationId xmlns:a16="http://schemas.microsoft.com/office/drawing/2014/main" id="{1AB87DEB-A237-ED49-A436-C407C78FB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2349" y="2872124"/>
                <a:ext cx="4544452" cy="478363"/>
              </a:xfrm>
              <a:prstGeom prst="rect">
                <a:avLst/>
              </a:prstGeom>
            </p:spPr>
          </p:pic>
        </p:grpSp>
        <p:pic>
          <p:nvPicPr>
            <p:cNvPr id="8" name="Picture 9">
              <a:extLst>
                <a:ext uri="{FF2B5EF4-FFF2-40B4-BE49-F238E27FC236}">
                  <a16:creationId xmlns:a16="http://schemas.microsoft.com/office/drawing/2014/main" id="{717E066B-3BA1-8544-BEC1-D902140E7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24674" y="2589830"/>
              <a:ext cx="4991831" cy="1166159"/>
            </a:xfrm>
            <a:prstGeom prst="rect">
              <a:avLst/>
            </a:prstGeom>
          </p:spPr>
        </p:pic>
        <p:pic>
          <p:nvPicPr>
            <p:cNvPr id="9" name="Picture 11">
              <a:extLst>
                <a:ext uri="{FF2B5EF4-FFF2-40B4-BE49-F238E27FC236}">
                  <a16:creationId xmlns:a16="http://schemas.microsoft.com/office/drawing/2014/main" id="{D90BEAF5-F2AC-7140-BFD6-298C36417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19745" y="3518452"/>
              <a:ext cx="4771403" cy="713251"/>
            </a:xfrm>
            <a:prstGeom prst="rect">
              <a:avLst/>
            </a:prstGeom>
          </p:spPr>
        </p:pic>
        <p:pic>
          <p:nvPicPr>
            <p:cNvPr id="10" name="Picture 13">
              <a:extLst>
                <a:ext uri="{FF2B5EF4-FFF2-40B4-BE49-F238E27FC236}">
                  <a16:creationId xmlns:a16="http://schemas.microsoft.com/office/drawing/2014/main" id="{DAA931E5-466D-444D-A89F-7FF2A7BA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46932" y="2884606"/>
              <a:ext cx="1731480" cy="1267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670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27BB1AE-DDAD-4F11-BB13-0E58B97F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2192000" cy="69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729;p78">
            <a:extLst>
              <a:ext uri="{FF2B5EF4-FFF2-40B4-BE49-F238E27FC236}">
                <a16:creationId xmlns:a16="http://schemas.microsoft.com/office/drawing/2014/main" id="{3DCEAA3A-6140-4972-BF5B-3EC540D2735E}"/>
              </a:ext>
            </a:extLst>
          </p:cNvPr>
          <p:cNvSpPr txBox="1"/>
          <p:nvPr/>
        </p:nvSpPr>
        <p:spPr>
          <a:xfrm>
            <a:off x="8111613" y="46560"/>
            <a:ext cx="387648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r" defTabSz="1219170" rtl="1">
              <a:defRPr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מסך לדוגמא: </a:t>
            </a:r>
          </a:p>
          <a:p>
            <a:pPr algn="r" defTabSz="1219170" rtl="1">
              <a:defRPr/>
            </a:pPr>
            <a:r>
              <a:rPr lang="he-IL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שירותים חברתיים וקבוצות בסיכון</a:t>
            </a: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algn="r" defTabSz="1219170" rtl="1">
              <a:defRPr/>
            </a:pPr>
            <a:endParaRPr lang="he-IL" sz="2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קבוצה 5"/>
          <p:cNvGrpSpPr/>
          <p:nvPr/>
        </p:nvGrpSpPr>
        <p:grpSpPr>
          <a:xfrm>
            <a:off x="203905" y="46560"/>
            <a:ext cx="2216825" cy="491713"/>
            <a:chOff x="2724674" y="2589830"/>
            <a:chExt cx="6667460" cy="1641873"/>
          </a:xfrm>
        </p:grpSpPr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3A0091C9-DF1F-FE46-8877-B8EA895D3A57}"/>
                </a:ext>
              </a:extLst>
            </p:cNvPr>
            <p:cNvGrpSpPr/>
            <p:nvPr/>
          </p:nvGrpSpPr>
          <p:grpSpPr>
            <a:xfrm>
              <a:off x="2799867" y="2682338"/>
              <a:ext cx="6592267" cy="1493325"/>
              <a:chOff x="2754788" y="1857162"/>
              <a:chExt cx="6592267" cy="1493325"/>
            </a:xfrm>
          </p:grpSpPr>
          <p:pic>
            <p:nvPicPr>
              <p:cNvPr id="14" name="Picture 5">
                <a:extLst>
                  <a:ext uri="{FF2B5EF4-FFF2-40B4-BE49-F238E27FC236}">
                    <a16:creationId xmlns:a16="http://schemas.microsoft.com/office/drawing/2014/main" id="{17587EAB-548F-F842-892C-761D75BE6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1853" y="2022843"/>
                <a:ext cx="1745202" cy="1305108"/>
              </a:xfrm>
              <a:prstGeom prst="rect">
                <a:avLst/>
              </a:prstGeom>
            </p:spPr>
          </p:pic>
          <p:pic>
            <p:nvPicPr>
              <p:cNvPr id="15" name="Picture 6">
                <a:extLst>
                  <a:ext uri="{FF2B5EF4-FFF2-40B4-BE49-F238E27FC236}">
                    <a16:creationId xmlns:a16="http://schemas.microsoft.com/office/drawing/2014/main" id="{1DFB5FFE-CF0B-A347-9C15-3D5FBCB1A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4788" y="1857162"/>
                <a:ext cx="4941996" cy="1064942"/>
              </a:xfrm>
              <a:prstGeom prst="rect">
                <a:avLst/>
              </a:prstGeom>
            </p:spPr>
          </p:pic>
          <p:pic>
            <p:nvPicPr>
              <p:cNvPr id="16" name="Picture 7">
                <a:extLst>
                  <a:ext uri="{FF2B5EF4-FFF2-40B4-BE49-F238E27FC236}">
                    <a16:creationId xmlns:a16="http://schemas.microsoft.com/office/drawing/2014/main" id="{1AB87DEB-A237-ED49-A436-C407C78FB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2349" y="2872124"/>
                <a:ext cx="4544452" cy="478363"/>
              </a:xfrm>
              <a:prstGeom prst="rect">
                <a:avLst/>
              </a:prstGeom>
            </p:spPr>
          </p:pic>
        </p:grpSp>
        <p:pic>
          <p:nvPicPr>
            <p:cNvPr id="11" name="Picture 9">
              <a:extLst>
                <a:ext uri="{FF2B5EF4-FFF2-40B4-BE49-F238E27FC236}">
                  <a16:creationId xmlns:a16="http://schemas.microsoft.com/office/drawing/2014/main" id="{717E066B-3BA1-8544-BEC1-D902140E7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24674" y="2589830"/>
              <a:ext cx="4991831" cy="116615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0BEAF5-F2AC-7140-BFD6-298C36417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19745" y="3518452"/>
              <a:ext cx="4771403" cy="713251"/>
            </a:xfrm>
            <a:prstGeom prst="rect">
              <a:avLst/>
            </a:prstGeom>
          </p:spPr>
        </p:pic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DAA931E5-466D-444D-A89F-7FF2A7BA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46932" y="2884606"/>
              <a:ext cx="1731480" cy="1267691"/>
            </a:xfrm>
            <a:prstGeom prst="rect">
              <a:avLst/>
            </a:prstGeom>
          </p:spPr>
        </p:pic>
      </p:grpSp>
      <p:pic>
        <p:nvPicPr>
          <p:cNvPr id="17" name="Picture 8" descr="השתדרגתי&quot; - יריד התעסוקה האזורי בית שאן - עמק המעיינות | מעברים מעיינות כנרת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551" y="51918"/>
            <a:ext cx="1401881" cy="50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582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27BB1AE-DDAD-4F11-BB13-0E58B97F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-859386" y="156927"/>
            <a:ext cx="11616555" cy="654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728;p78">
            <a:extLst>
              <a:ext uri="{FF2B5EF4-FFF2-40B4-BE49-F238E27FC236}">
                <a16:creationId xmlns:a16="http://schemas.microsoft.com/office/drawing/2014/main" id="{0203BE27-8FF1-49FA-BCDE-B1A68F4EF0F5}"/>
              </a:ext>
            </a:extLst>
          </p:cNvPr>
          <p:cNvSpPr txBox="1"/>
          <p:nvPr/>
        </p:nvSpPr>
        <p:spPr>
          <a:xfrm>
            <a:off x="10672417" y="414648"/>
            <a:ext cx="13555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 rtl="1">
              <a:lnSpc>
                <a:spcPct val="80000"/>
              </a:lnSpc>
              <a:buClr>
                <a:srgbClr val="009EE2"/>
              </a:buClr>
              <a:buSzPts val="3300"/>
            </a:pPr>
            <a:endParaRPr sz="2400" b="1" dirty="0">
              <a:solidFill>
                <a:srgbClr val="009EE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729;p78">
            <a:extLst>
              <a:ext uri="{FF2B5EF4-FFF2-40B4-BE49-F238E27FC236}">
                <a16:creationId xmlns:a16="http://schemas.microsoft.com/office/drawing/2014/main" id="{775BE020-27C0-41EE-A394-68A97995251D}"/>
              </a:ext>
            </a:extLst>
          </p:cNvPr>
          <p:cNvSpPr txBox="1"/>
          <p:nvPr/>
        </p:nvSpPr>
        <p:spPr>
          <a:xfrm>
            <a:off x="10725357" y="33397"/>
            <a:ext cx="151118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just" defTabSz="1219170" rtl="1">
              <a:defRPr/>
            </a:pPr>
            <a:r>
              <a:rPr lang="he-IL" sz="2000" b="1" dirty="0">
                <a:solidFill>
                  <a:srgbClr val="002E6E"/>
                </a:solidFill>
                <a:latin typeface="Calibri"/>
                <a:ea typeface="Calibri"/>
                <a:cs typeface="Calibri"/>
              </a:rPr>
              <a:t>מסך לדוגמא: מידע בריאותי</a:t>
            </a:r>
            <a:endParaRPr lang="en-US" sz="2000" b="1" dirty="0">
              <a:solidFill>
                <a:srgbClr val="002E6E"/>
              </a:solidFill>
              <a:latin typeface="Calibri"/>
              <a:ea typeface="Calibri"/>
              <a:cs typeface="Calibri"/>
            </a:endParaRPr>
          </a:p>
          <a:p>
            <a:pPr algn="just" defTabSz="1219170" rtl="1">
              <a:defRPr/>
            </a:pPr>
            <a:endParaRPr lang="he-IL" sz="2000" b="1" dirty="0">
              <a:solidFill>
                <a:srgbClr val="000F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קבוצה 8"/>
          <p:cNvGrpSpPr/>
          <p:nvPr/>
        </p:nvGrpSpPr>
        <p:grpSpPr>
          <a:xfrm>
            <a:off x="-697243" y="190879"/>
            <a:ext cx="1907608" cy="447539"/>
            <a:chOff x="2724674" y="2589830"/>
            <a:chExt cx="6667460" cy="1641873"/>
          </a:xfrm>
        </p:grpSpPr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3A0091C9-DF1F-FE46-8877-B8EA895D3A57}"/>
                </a:ext>
              </a:extLst>
            </p:cNvPr>
            <p:cNvGrpSpPr/>
            <p:nvPr/>
          </p:nvGrpSpPr>
          <p:grpSpPr>
            <a:xfrm>
              <a:off x="2799867" y="2682338"/>
              <a:ext cx="6592267" cy="1493325"/>
              <a:chOff x="2754788" y="1857162"/>
              <a:chExt cx="6592267" cy="1493325"/>
            </a:xfrm>
          </p:grpSpPr>
          <p:pic>
            <p:nvPicPr>
              <p:cNvPr id="14" name="Picture 5">
                <a:extLst>
                  <a:ext uri="{FF2B5EF4-FFF2-40B4-BE49-F238E27FC236}">
                    <a16:creationId xmlns:a16="http://schemas.microsoft.com/office/drawing/2014/main" id="{17587EAB-548F-F842-892C-761D75BE6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01853" y="2022843"/>
                <a:ext cx="1745202" cy="1305108"/>
              </a:xfrm>
              <a:prstGeom prst="rect">
                <a:avLst/>
              </a:prstGeom>
            </p:spPr>
          </p:pic>
          <p:pic>
            <p:nvPicPr>
              <p:cNvPr id="15" name="Picture 6">
                <a:extLst>
                  <a:ext uri="{FF2B5EF4-FFF2-40B4-BE49-F238E27FC236}">
                    <a16:creationId xmlns:a16="http://schemas.microsoft.com/office/drawing/2014/main" id="{1DFB5FFE-CF0B-A347-9C15-3D5FBCB1A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4788" y="1857162"/>
                <a:ext cx="4941996" cy="1064942"/>
              </a:xfrm>
              <a:prstGeom prst="rect">
                <a:avLst/>
              </a:prstGeom>
            </p:spPr>
          </p:pic>
          <p:pic>
            <p:nvPicPr>
              <p:cNvPr id="16" name="Picture 7">
                <a:extLst>
                  <a:ext uri="{FF2B5EF4-FFF2-40B4-BE49-F238E27FC236}">
                    <a16:creationId xmlns:a16="http://schemas.microsoft.com/office/drawing/2014/main" id="{1AB87DEB-A237-ED49-A436-C407C78FB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2349" y="2872124"/>
                <a:ext cx="4544452" cy="478363"/>
              </a:xfrm>
              <a:prstGeom prst="rect">
                <a:avLst/>
              </a:prstGeom>
            </p:spPr>
          </p:pic>
        </p:grpSp>
        <p:pic>
          <p:nvPicPr>
            <p:cNvPr id="11" name="Picture 9">
              <a:extLst>
                <a:ext uri="{FF2B5EF4-FFF2-40B4-BE49-F238E27FC236}">
                  <a16:creationId xmlns:a16="http://schemas.microsoft.com/office/drawing/2014/main" id="{717E066B-3BA1-8544-BEC1-D902140E7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24674" y="2589830"/>
              <a:ext cx="4991831" cy="116615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0BEAF5-F2AC-7140-BFD6-298C36417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19745" y="3518452"/>
              <a:ext cx="4771403" cy="713251"/>
            </a:xfrm>
            <a:prstGeom prst="rect">
              <a:avLst/>
            </a:prstGeom>
          </p:spPr>
        </p:pic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DAA931E5-466D-444D-A89F-7FF2A7BA8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46932" y="2884606"/>
              <a:ext cx="1731480" cy="1267691"/>
            </a:xfrm>
            <a:prstGeom prst="rect">
              <a:avLst/>
            </a:prstGeom>
          </p:spPr>
        </p:pic>
      </p:grpSp>
      <p:pic>
        <p:nvPicPr>
          <p:cNvPr id="17" name="Picture 8" descr="השתדרגתי&quot; - יריד התעסוקה האזורי בית שאן - עמק המעיינות | מעברים מעיינות כנרת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059" y="190879"/>
            <a:ext cx="1270208" cy="45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807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3d cryptocurrency rendering design">
            <a:extLst>
              <a:ext uri="{FF2B5EF4-FFF2-40B4-BE49-F238E27FC236}">
                <a16:creationId xmlns:a16="http://schemas.microsoft.com/office/drawing/2014/main" id="{78495200-95AB-4974-B1A1-CF7A0ECEB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844758"/>
            <a:ext cx="12192000" cy="870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74E68A-77E3-4F2E-9FD8-9AA3D9A6715C}"/>
              </a:ext>
            </a:extLst>
          </p:cNvPr>
          <p:cNvSpPr/>
          <p:nvPr/>
        </p:nvSpPr>
        <p:spPr>
          <a:xfrm>
            <a:off x="258602" y="1233713"/>
            <a:ext cx="11643112" cy="5442857"/>
          </a:xfrm>
          <a:prstGeom prst="roundRect">
            <a:avLst/>
          </a:prstGeom>
          <a:gradFill>
            <a:gsLst>
              <a:gs pos="0">
                <a:schemeClr val="bg1">
                  <a:alpha val="75000"/>
                </a:schemeClr>
              </a:gs>
              <a:gs pos="50000">
                <a:schemeClr val="tx2">
                  <a:lumMod val="10000"/>
                  <a:lumOff val="90000"/>
                  <a:alpha val="87000"/>
                </a:schemeClr>
              </a:gs>
              <a:gs pos="100000">
                <a:schemeClr val="bg2">
                  <a:lumMod val="63000"/>
                  <a:lumOff val="37000"/>
                  <a:alpha val="77000"/>
                </a:schemeClr>
              </a:gs>
            </a:gsLst>
            <a:lin ang="0" scaled="1"/>
          </a:gradFill>
          <a:ln w="9525">
            <a:solidFill>
              <a:schemeClr val="bg1">
                <a:alpha val="92000"/>
              </a:schemeClr>
            </a:solidFill>
          </a:ln>
          <a:effectLst>
            <a:outerShdw blurRad="482600" dist="50800" dir="5400000" algn="ctr" rotWithShape="0">
              <a:schemeClr val="bg2">
                <a:lumMod val="2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6D651-B8F3-47C5-B308-8722382CC4FE}"/>
              </a:ext>
            </a:extLst>
          </p:cNvPr>
          <p:cNvSpPr txBox="1"/>
          <p:nvPr/>
        </p:nvSpPr>
        <p:spPr>
          <a:xfrm>
            <a:off x="6063201" y="1637230"/>
            <a:ext cx="5229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נק' הפתיחה: </a:t>
            </a: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המידע הפיננסי על לקוח, נמצא בשליטת בנקים וגופים פיננסים גדולים ומייצר להם יתרונות תחרותיים </a:t>
            </a:r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משמעותיים החוסמים את השוק</a:t>
            </a:r>
            <a:endParaRPr lang="en-IL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B5804-267E-4D3C-BADB-99BCB30816AB}"/>
              </a:ext>
            </a:extLst>
          </p:cNvPr>
          <p:cNvSpPr txBox="1"/>
          <p:nvPr/>
        </p:nvSpPr>
        <p:spPr>
          <a:xfrm>
            <a:off x="6939721" y="355204"/>
            <a:ext cx="4583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3200" b="1" dirty="0">
                <a:solidFill>
                  <a:schemeClr val="bg2">
                    <a:lumMod val="25000"/>
                  </a:schemeClr>
                </a:solidFill>
                <a:latin typeface="Assistant" pitchFamily="2" charset="-79"/>
                <a:cs typeface="Assistant" pitchFamily="2" charset="-79"/>
              </a:rPr>
              <a:t>מקרה בוחן - בנקאות פתוחה</a:t>
            </a:r>
            <a:endParaRPr lang="en-IL" sz="3200" b="1" dirty="0">
              <a:solidFill>
                <a:schemeClr val="bg2">
                  <a:lumMod val="2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0C5A3-0DEB-4238-A846-A2ABFC7022FD}"/>
              </a:ext>
            </a:extLst>
          </p:cNvPr>
          <p:cNvSpPr txBox="1"/>
          <p:nvPr/>
        </p:nvSpPr>
        <p:spPr>
          <a:xfrm>
            <a:off x="6507339" y="2832580"/>
            <a:ext cx="4785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הרפורמה</a:t>
            </a: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: חוק ותשתית המחייבים ומאפשרים לבנקים וגופים פיננסים אחרים לחשוף מידע פיננסי של לקוחות (באישורם) לשחקני צד שלישי, ולמעשה מעביר את המידע לבעלות הלקוח</a:t>
            </a:r>
            <a:endParaRPr lang="en-IL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A3C16-61F9-4D50-B83B-2708D4EEB885}"/>
              </a:ext>
            </a:extLst>
          </p:cNvPr>
          <p:cNvSpPr txBox="1"/>
          <p:nvPr/>
        </p:nvSpPr>
        <p:spPr>
          <a:xfrm>
            <a:off x="5269269" y="4236740"/>
            <a:ext cx="6023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היישום – מהלכים מרכזיים</a:t>
            </a: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בניית מסגרת משפטית ורגולטורית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גיבוש תקן וסטנדרט להחלפת נתונים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(הסטנדרט הבינלאומי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NextGenPSD2</a:t>
            </a: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פיתוח ממשקים טכנולוגיים בין הגופים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תהליך משתף ומעמיק עם כלל בעלי העניין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265F2-6AAD-43E2-993F-31A1280ECF39}"/>
              </a:ext>
            </a:extLst>
          </p:cNvPr>
          <p:cNvSpPr txBox="1"/>
          <p:nvPr/>
        </p:nvSpPr>
        <p:spPr>
          <a:xfrm>
            <a:off x="1204001" y="1596205"/>
            <a:ext cx="42506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הערכים הנוצרים: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כניסה של שירותי </a:t>
            </a:r>
            <a:r>
              <a:rPr lang="he-IL" dirty="0" err="1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פינטק</a:t>
            </a: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 לשוק</a:t>
            </a:r>
            <a:endParaRPr lang="en-IL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שיפור התחרות במגוון תחומים פיננסיים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התאמה של השירותים ושיפור חווית הלקוח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עידוד חדשנות במערכת הבנקאית והפיננסית</a:t>
            </a:r>
          </a:p>
        </p:txBody>
      </p:sp>
      <p:pic>
        <p:nvPicPr>
          <p:cNvPr id="1026" name="Picture 2" descr="EcoBill אקוביל">
            <a:extLst>
              <a:ext uri="{FF2B5EF4-FFF2-40B4-BE49-F238E27FC236}">
                <a16:creationId xmlns:a16="http://schemas.microsoft.com/office/drawing/2014/main" id="{2540C56C-7D39-48AC-9371-5D72F7CDB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8333" y="4759105"/>
            <a:ext cx="1216971" cy="121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iseUp - Proactive Financial Service Empowering Customers | Startup Nation  Finder">
            <a:extLst>
              <a:ext uri="{FF2B5EF4-FFF2-40B4-BE49-F238E27FC236}">
                <a16:creationId xmlns:a16="http://schemas.microsoft.com/office/drawing/2014/main" id="{711E44F8-27B3-4783-96A6-9CD9A56B3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4369" y="4759106"/>
            <a:ext cx="1216971" cy="121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yBox - אפליקציית התשלומים - YouTube">
            <a:extLst>
              <a:ext uri="{FF2B5EF4-FFF2-40B4-BE49-F238E27FC236}">
                <a16:creationId xmlns:a16="http://schemas.microsoft.com/office/drawing/2014/main" id="{FAF638FB-6F75-46D2-84DD-8EF73C45F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2297" y="4759105"/>
            <a:ext cx="1216972" cy="121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866C6A-C7D5-4261-81FF-D7C0C2A287BB}"/>
              </a:ext>
            </a:extLst>
          </p:cNvPr>
          <p:cNvSpPr txBox="1"/>
          <p:nvPr/>
        </p:nvSpPr>
        <p:spPr>
          <a:xfrm>
            <a:off x="704550" y="3869582"/>
            <a:ext cx="4750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solidFill>
                  <a:schemeClr val="bg2">
                    <a:lumMod val="25000"/>
                  </a:schemeClr>
                </a:solidFill>
                <a:latin typeface="Assistant" pitchFamily="2" charset="-79"/>
                <a:cs typeface="Assistant" pitchFamily="2" charset="-79"/>
              </a:rPr>
              <a:t>בנקאות פתוחה הובילה לחיבורים והנגשה של מוצרים חדשניים ללקוחות הבנקים, דיסקונט כדוגמא: </a:t>
            </a:r>
            <a:endParaRPr lang="en-IL" dirty="0">
              <a:solidFill>
                <a:schemeClr val="bg2">
                  <a:lumMod val="25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1527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8478D797-7E09-4D3E-ABD7-3F1C67E37AA1}"/>
              </a:ext>
            </a:extLst>
          </p:cNvPr>
          <p:cNvSpPr/>
          <p:nvPr/>
        </p:nvSpPr>
        <p:spPr>
          <a:xfrm>
            <a:off x="-782584" y="2690991"/>
            <a:ext cx="4945294" cy="4687038"/>
          </a:xfrm>
          <a:prstGeom prst="cloud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47B9C-22E3-4D2F-8FB8-349030DC9DDD}"/>
              </a:ext>
            </a:extLst>
          </p:cNvPr>
          <p:cNvSpPr txBox="1"/>
          <p:nvPr/>
        </p:nvSpPr>
        <p:spPr>
          <a:xfrm>
            <a:off x="2644403" y="462760"/>
            <a:ext cx="8929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זמן עתיד- כיצד מהלך </a:t>
            </a:r>
            <a:r>
              <a:rPr lang="he-IL" sz="32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הדיגיטל</a:t>
            </a:r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יכול לסייע לפנינה ובכלל: </a:t>
            </a:r>
            <a:endParaRPr lang="en-IL" sz="32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4049C-1285-4456-8FE3-1A90461E4FB1}"/>
              </a:ext>
            </a:extLst>
          </p:cNvPr>
          <p:cNvSpPr txBox="1"/>
          <p:nvPr/>
        </p:nvSpPr>
        <p:spPr>
          <a:xfrm>
            <a:off x="7628231" y="2778980"/>
            <a:ext cx="42599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סל </a:t>
            </a:r>
            <a:r>
              <a:rPr lang="he-IL" sz="2000" b="1" dirty="0">
                <a:latin typeface="Assistant" pitchFamily="2" charset="-79"/>
                <a:cs typeface="Assistant" pitchFamily="2" charset="-79"/>
              </a:rPr>
              <a:t>מותאם</a:t>
            </a:r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אישית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AGI</a:t>
            </a:r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</a:p>
          <a:p>
            <a:pPr algn="r" rtl="1"/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קבלת מידע </a:t>
            </a:r>
            <a:r>
              <a:rPr lang="he-IL" sz="1600" dirty="0" err="1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למרקטפלייס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והתאמה אישית של שירותים על בסיס מספר צירים: </a:t>
            </a:r>
            <a:r>
              <a:rPr lang="he-IL" sz="1600" u="sng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מיקום, מצב ופרופיל אישי ותפקודי, העדפות אישיות, שירותים </a:t>
            </a:r>
            <a:r>
              <a:rPr lang="he-IL" sz="1600" u="sng" dirty="0" err="1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שצטרכו</a:t>
            </a:r>
            <a:r>
              <a:rPr lang="he-IL" sz="1600" u="sng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בעבר, ביקורות, תוצאות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ועוד</a:t>
            </a:r>
            <a:endParaRPr lang="en-IL" sz="2000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1240B-3BB5-4371-AD5A-78C13C225ED7}"/>
              </a:ext>
            </a:extLst>
          </p:cNvPr>
          <p:cNvSpPr txBox="1"/>
          <p:nvPr/>
        </p:nvSpPr>
        <p:spPr>
          <a:xfrm>
            <a:off x="8200102" y="5129085"/>
            <a:ext cx="36880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עוזר וירטואלי אישי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AGI</a:t>
            </a:r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  <a:b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מבוסס על מערכות בינה מלאכותית, שמסייעת לאזרח הוותיק ומשפחתו </a:t>
            </a:r>
            <a:r>
              <a:rPr lang="he-IL" sz="1600" u="sng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במענה לצרכיהם ובנגישות לשירותים ובזכויות</a:t>
            </a:r>
            <a:endParaRPr lang="en-IL" sz="1600" u="sng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278E4-C572-4876-B8EE-4974A71DFCE5}"/>
              </a:ext>
            </a:extLst>
          </p:cNvPr>
          <p:cNvSpPr txBox="1"/>
          <p:nvPr/>
        </p:nvSpPr>
        <p:spPr>
          <a:xfrm>
            <a:off x="3729898" y="2773519"/>
            <a:ext cx="37753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איתור ומיצוי זכויות פרואקטיבי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AGI</a:t>
            </a:r>
            <a:r>
              <a:rPr lang="he-IL" sz="20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התבססות על אירועים ונתונים מספקי שירות המאפשרים לבינה מלאכותית לזהות </a:t>
            </a:r>
            <a:r>
              <a:rPr lang="he-IL" sz="1600" u="sng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פוטנציאל זכאות לשירותים, כולל הגשת מסמכים וליווי 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בתהליכי הבחינה מול הגופים</a:t>
            </a:r>
            <a:endParaRPr lang="en-IL" sz="1600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7403A-1CB4-4C64-B754-A38BF4917C71}"/>
              </a:ext>
            </a:extLst>
          </p:cNvPr>
          <p:cNvSpPr txBox="1"/>
          <p:nvPr/>
        </p:nvSpPr>
        <p:spPr>
          <a:xfrm>
            <a:off x="3379808" y="5129085"/>
            <a:ext cx="412547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מודלים לאיתור מצוקות וקבוצות סיכון </a:t>
            </a:r>
          </a:p>
          <a:p>
            <a:pPr algn="r" rtl="1"/>
            <a:r>
              <a:rPr lang="he-IL" sz="1600" u="sng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זיהוי קבוצות הנמצאות בסיכון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, זיהוי סיכונים ומצוקות (</a:t>
            </a:r>
            <a:r>
              <a:rPr lang="he-IL" sz="1600" dirty="0" err="1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צמ"מ</a:t>
            </a:r>
            <a:r>
              <a:rPr lang="he-IL" sz="1600" dirty="0">
                <a:solidFill>
                  <a:schemeClr val="tx2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דאטה) והפנייה לרשתות תמיכה רלוונטיות</a:t>
            </a:r>
            <a:endParaRPr lang="en-IL" sz="1600" dirty="0">
              <a:solidFill>
                <a:schemeClr val="tx2">
                  <a:lumMod val="5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3DBA3CF-E06F-4D13-936C-2CDA075F0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8212" y="4472317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888663-60B5-474E-8E1C-C007110E3E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380" y="3315363"/>
            <a:ext cx="2415365" cy="331463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B6BEEBA-526E-45C4-8170-48989E4DD00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5370"/>
          <a:stretch/>
        </p:blipFill>
        <p:spPr>
          <a:xfrm>
            <a:off x="11050623" y="1992213"/>
            <a:ext cx="837521" cy="7813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78C13D-17DB-41D8-A59C-12C79577E1D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b="21014"/>
          <a:stretch/>
        </p:blipFill>
        <p:spPr>
          <a:xfrm>
            <a:off x="10931318" y="4235531"/>
            <a:ext cx="1047750" cy="101566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173DF19-5DD2-4C7A-8B5E-AD24E038774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30" t="1" r="-1" b="13939"/>
          <a:stretch/>
        </p:blipFill>
        <p:spPr>
          <a:xfrm>
            <a:off x="6723937" y="1992213"/>
            <a:ext cx="704275" cy="78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796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loud 33">
            <a:extLst>
              <a:ext uri="{FF2B5EF4-FFF2-40B4-BE49-F238E27FC236}">
                <a16:creationId xmlns:a16="http://schemas.microsoft.com/office/drawing/2014/main" id="{0A14A62A-F2E7-42CC-8A1D-4B53A8BE3B9A}"/>
              </a:ext>
            </a:extLst>
          </p:cNvPr>
          <p:cNvSpPr/>
          <p:nvPr/>
        </p:nvSpPr>
        <p:spPr>
          <a:xfrm>
            <a:off x="2230750" y="1136784"/>
            <a:ext cx="8079319" cy="5895071"/>
          </a:xfrm>
          <a:prstGeom prst="cloud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47B9C-22E3-4D2F-8FB8-349030DC9DDD}"/>
              </a:ext>
            </a:extLst>
          </p:cNvPr>
          <p:cNvSpPr txBox="1"/>
          <p:nvPr/>
        </p:nvSpPr>
        <p:spPr>
          <a:xfrm>
            <a:off x="2522671" y="153528"/>
            <a:ext cx="90941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400" u="sng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תמונת עתיד</a:t>
            </a:r>
          </a:p>
          <a:p>
            <a:pPr algn="r" rtl="1"/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כיצד מהלך </a:t>
            </a:r>
            <a:r>
              <a:rPr lang="he-IL" sz="3200" b="1" dirty="0" err="1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הדיגיטל</a:t>
            </a:r>
            <a:r>
              <a:rPr lang="he-IL" sz="3200" b="1" dirty="0">
                <a:solidFill>
                  <a:schemeClr val="accent1"/>
                </a:solidFill>
                <a:latin typeface="Assistant" pitchFamily="2" charset="-79"/>
                <a:cs typeface="Assistant" pitchFamily="2" charset="-79"/>
              </a:rPr>
              <a:t> יאפשר לפנינה ולנו הזדקנות מטיבה: </a:t>
            </a:r>
            <a:endParaRPr lang="en-IL" sz="3200" b="1" dirty="0">
              <a:solidFill>
                <a:schemeClr val="accent1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47C4B-0D73-41A4-9720-09491410C774}"/>
              </a:ext>
            </a:extLst>
          </p:cNvPr>
          <p:cNvSpPr txBox="1"/>
          <p:nvPr/>
        </p:nvSpPr>
        <p:spPr>
          <a:xfrm>
            <a:off x="340430" y="1783269"/>
            <a:ext cx="365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איתור ומיצוי זכויות פרו-אקטיבי </a:t>
            </a:r>
          </a:p>
          <a:p>
            <a:pPr algn="r" rtl="1"/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D08210-1AF2-492A-B0F3-C99601D30EE7}"/>
              </a:ext>
            </a:extLst>
          </p:cNvPr>
          <p:cNvSpPr txBox="1"/>
          <p:nvPr/>
        </p:nvSpPr>
        <p:spPr>
          <a:xfrm>
            <a:off x="7504351" y="1489528"/>
            <a:ext cx="3506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סל מותאם אישית </a:t>
            </a:r>
          </a:p>
          <a:p>
            <a:pPr algn="r" rtl="1"/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EEE035-8ED5-4AE0-9E00-3B02C679AF8B}"/>
              </a:ext>
            </a:extLst>
          </p:cNvPr>
          <p:cNvSpPr txBox="1"/>
          <p:nvPr/>
        </p:nvSpPr>
        <p:spPr>
          <a:xfrm>
            <a:off x="8785051" y="3250130"/>
            <a:ext cx="3298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המלצות אישיות להתנהלות בריאה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C584DE-7702-4EEC-B9C8-28F78E650BF9}"/>
              </a:ext>
            </a:extLst>
          </p:cNvPr>
          <p:cNvSpPr txBox="1"/>
          <p:nvPr/>
        </p:nvSpPr>
        <p:spPr>
          <a:xfrm>
            <a:off x="-64096" y="5422129"/>
            <a:ext cx="410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עוזר אישי וירטואלי </a:t>
            </a:r>
            <a:r>
              <a:rPr lang="en-US" b="1" dirty="0">
                <a:solidFill>
                  <a:schemeClr val="accent1"/>
                </a:solidFill>
              </a:rPr>
              <a:t>AGI </a:t>
            </a:r>
            <a:r>
              <a:rPr lang="he-IL" b="1" dirty="0">
                <a:solidFill>
                  <a:schemeClr val="accent1"/>
                </a:solidFill>
              </a:rPr>
              <a:t>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המלצה על תזונה בריאה והזמנה של המזון בסופר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סיוע בניהול תקציב והוצאות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מעקב אחר לוח זמנים ותזכורות חשובות </a:t>
            </a:r>
            <a:endParaRPr lang="he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C4864F-215D-40A6-90DB-4992E4E6548D}"/>
              </a:ext>
            </a:extLst>
          </p:cNvPr>
          <p:cNvSpPr txBox="1"/>
          <p:nvPr/>
        </p:nvSpPr>
        <p:spPr>
          <a:xfrm>
            <a:off x="8473102" y="5045070"/>
            <a:ext cx="32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 err="1">
                <a:solidFill>
                  <a:schemeClr val="accent1"/>
                </a:solidFill>
              </a:rPr>
              <a:t>וואצאפ</a:t>
            </a:r>
            <a:r>
              <a:rPr lang="he-IL" b="1" dirty="0">
                <a:solidFill>
                  <a:schemeClr val="accent1"/>
                </a:solidFill>
              </a:rPr>
              <a:t> הזמנה מחברה לסיבוב בעיר</a:t>
            </a:r>
            <a:endParaRPr lang="en-I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8CB370-A8D3-4296-B853-2583A21DEE63}"/>
              </a:ext>
            </a:extLst>
          </p:cNvPr>
          <p:cNvSpPr txBox="1"/>
          <p:nvPr/>
        </p:nvSpPr>
        <p:spPr>
          <a:xfrm>
            <a:off x="457365" y="3380389"/>
            <a:ext cx="34041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chemeClr val="accent1"/>
                </a:solidFill>
              </a:rPr>
              <a:t>נכנסת לפורטל הזקנה הלאומית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להבין טוב יותר כיצד להתמודד עם הסכרת ולחץ דם גבוה שעימם מתמודדת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פורומים ומרחבי שיתוף עם אזרחים ותיקים עם סכרת ולחץ דם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גישה למידע מקיף על שירותים ותוכניות רלוונטיות.</a:t>
            </a:r>
            <a:endParaRPr lang="en-IL" sz="1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D1B41B-F39B-48B0-BDE3-80D8D506956D}"/>
              </a:ext>
            </a:extLst>
          </p:cNvPr>
          <p:cNvGrpSpPr/>
          <p:nvPr/>
        </p:nvGrpSpPr>
        <p:grpSpPr>
          <a:xfrm>
            <a:off x="3811458" y="1860734"/>
            <a:ext cx="4680000" cy="4680000"/>
            <a:chOff x="3811458" y="1860734"/>
            <a:chExt cx="4680000" cy="4680000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54CA57A5-AC50-4E8D-9CA5-F50F3AEFEF34}"/>
                </a:ext>
              </a:extLst>
            </p:cNvPr>
            <p:cNvSpPr/>
            <p:nvPr/>
          </p:nvSpPr>
          <p:spPr>
            <a:xfrm>
              <a:off x="3811458" y="1860734"/>
              <a:ext cx="4680000" cy="4680000"/>
            </a:xfrm>
            <a:prstGeom prst="arc">
              <a:avLst>
                <a:gd name="adj1" fmla="val 13514619"/>
                <a:gd name="adj2" fmla="val 8250238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698E2793-854C-467D-9A5B-31DAD6319B29}"/>
                </a:ext>
              </a:extLst>
            </p:cNvPr>
            <p:cNvSpPr/>
            <p:nvPr/>
          </p:nvSpPr>
          <p:spPr>
            <a:xfrm>
              <a:off x="4099458" y="2148734"/>
              <a:ext cx="4104000" cy="4104000"/>
            </a:xfrm>
            <a:prstGeom prst="arc">
              <a:avLst>
                <a:gd name="adj1" fmla="val 10875905"/>
                <a:gd name="adj2" fmla="val 236232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87C61CAC-6124-42FD-890C-FA916A892642}"/>
                </a:ext>
              </a:extLst>
            </p:cNvPr>
            <p:cNvSpPr/>
            <p:nvPr/>
          </p:nvSpPr>
          <p:spPr>
            <a:xfrm>
              <a:off x="4351458" y="2400734"/>
              <a:ext cx="3600000" cy="3600000"/>
            </a:xfrm>
            <a:prstGeom prst="arc">
              <a:avLst>
                <a:gd name="adj1" fmla="val 2103026"/>
                <a:gd name="adj2" fmla="val 18530114"/>
              </a:avLst>
            </a:prstGeom>
            <a:ln w="6350">
              <a:solidFill>
                <a:schemeClr val="bg1">
                  <a:lumMod val="50000"/>
                </a:schemeClr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BF3426A7-F7B0-456E-9C3D-79B614720C02}"/>
              </a:ext>
            </a:extLst>
          </p:cNvPr>
          <p:cNvSpPr/>
          <p:nvPr/>
        </p:nvSpPr>
        <p:spPr>
          <a:xfrm>
            <a:off x="4034659" y="4084320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96311D5-357D-434A-8BF1-8D790F24C186}"/>
              </a:ext>
            </a:extLst>
          </p:cNvPr>
          <p:cNvSpPr/>
          <p:nvPr/>
        </p:nvSpPr>
        <p:spPr>
          <a:xfrm>
            <a:off x="7553236" y="5154759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80625DE-A519-46BA-A246-F9A0D2681B72}"/>
              </a:ext>
            </a:extLst>
          </p:cNvPr>
          <p:cNvSpPr/>
          <p:nvPr/>
        </p:nvSpPr>
        <p:spPr>
          <a:xfrm>
            <a:off x="8127648" y="427142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8003FFE-68DD-438B-8FBB-073AF96C50B0}"/>
              </a:ext>
            </a:extLst>
          </p:cNvPr>
          <p:cNvSpPr/>
          <p:nvPr/>
        </p:nvSpPr>
        <p:spPr>
          <a:xfrm>
            <a:off x="7208657" y="2725239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F889635-ACC4-4DC1-A893-6403272C5119}"/>
              </a:ext>
            </a:extLst>
          </p:cNvPr>
          <p:cNvSpPr/>
          <p:nvPr/>
        </p:nvSpPr>
        <p:spPr>
          <a:xfrm>
            <a:off x="4434977" y="2471239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C5659D1-F916-426C-AE20-2864B58F05EE}"/>
              </a:ext>
            </a:extLst>
          </p:cNvPr>
          <p:cNvSpPr/>
          <p:nvPr/>
        </p:nvSpPr>
        <p:spPr>
          <a:xfrm>
            <a:off x="4359900" y="5706344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129FDA-E7E6-4E05-B31B-9CC98B7B38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8789" y="2626339"/>
            <a:ext cx="1795868" cy="246449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4A8FA1C-1BDF-B8DE-D2CA-D33A63D0EC85}"/>
              </a:ext>
            </a:extLst>
          </p:cNvPr>
          <p:cNvSpPr txBox="1"/>
          <p:nvPr/>
        </p:nvSpPr>
        <p:spPr>
          <a:xfrm>
            <a:off x="5150233" y="5077796"/>
            <a:ext cx="20024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2000" b="1" dirty="0">
                <a:solidFill>
                  <a:schemeClr val="accent1"/>
                </a:solidFill>
              </a:rPr>
              <a:t>מודל פנינה להזדקנות מיטבית</a:t>
            </a:r>
            <a:endParaRPr lang="he-IL" sz="2000" dirty="0"/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5305A44C-AC65-7BA4-BD1D-762A2A6C85C0}"/>
              </a:ext>
            </a:extLst>
          </p:cNvPr>
          <p:cNvSpPr txBox="1"/>
          <p:nvPr/>
        </p:nvSpPr>
        <p:spPr>
          <a:xfrm>
            <a:off x="5832124" y="350684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תוכנית תזונה מותאמת אישית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תוכנית פעילות גופנית מותאמת ליכולותיה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תזכורות לבדיקות רפואיות תקופתיות</a:t>
            </a:r>
            <a:endParaRPr lang="en-IL" sz="1600" dirty="0"/>
          </a:p>
        </p:txBody>
      </p:sp>
      <p:sp>
        <p:nvSpPr>
          <p:cNvPr id="32" name="תיבת טקסט 31">
            <a:extLst>
              <a:ext uri="{FF2B5EF4-FFF2-40B4-BE49-F238E27FC236}">
                <a16:creationId xmlns:a16="http://schemas.microsoft.com/office/drawing/2014/main" id="{B4D9DE5F-9175-283B-E995-FFA85FC72A96}"/>
              </a:ext>
            </a:extLst>
          </p:cNvPr>
          <p:cNvSpPr txBox="1"/>
          <p:nvPr/>
        </p:nvSpPr>
        <p:spPr>
          <a:xfrm>
            <a:off x="7438050" y="1805463"/>
            <a:ext cx="3638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600" dirty="0"/>
              <a:t>• שירותי בריאות ורווחה מותאמים אישית</a:t>
            </a:r>
          </a:p>
          <a:p>
            <a:pPr algn="r"/>
            <a:r>
              <a:rPr lang="he-IL" sz="1600" dirty="0"/>
              <a:t> • אפשרויות לפעילויות פנאי והעשרה </a:t>
            </a:r>
          </a:p>
          <a:p>
            <a:pPr algn="r"/>
            <a:r>
              <a:rPr lang="he-IL" sz="1600" dirty="0"/>
              <a:t>• שירותי תמיכה נפשית וחברתית </a:t>
            </a:r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5CEBB09F-88CA-9957-A84F-E4F94450450B}"/>
              </a:ext>
            </a:extLst>
          </p:cNvPr>
          <p:cNvSpPr txBox="1"/>
          <p:nvPr/>
        </p:nvSpPr>
        <p:spPr>
          <a:xfrm>
            <a:off x="8124257" y="5368472"/>
            <a:ext cx="35221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600" dirty="0"/>
              <a:t> </a:t>
            </a:r>
            <a:r>
              <a:rPr lang="he-IL" sz="1600" b="1" dirty="0"/>
              <a:t>בזמן ובמקום שמתאים לפנינה</a:t>
            </a:r>
            <a:r>
              <a:rPr lang="he-IL" sz="1600" dirty="0"/>
              <a:t>: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עדכונים על פעילויות קהילתיות מתאימות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הצעות לטיולים ומסלולים נגישים בסביבה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600" dirty="0"/>
              <a:t>קישור לקבוצות תמיכה וחברה מקומיות</a:t>
            </a:r>
          </a:p>
        </p:txBody>
      </p: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1168D584-8B85-8309-C37D-833D83C3F1C3}"/>
              </a:ext>
            </a:extLst>
          </p:cNvPr>
          <p:cNvSpPr txBox="1"/>
          <p:nvPr/>
        </p:nvSpPr>
        <p:spPr>
          <a:xfrm>
            <a:off x="626100" y="6163906"/>
            <a:ext cx="373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800" dirty="0"/>
          </a:p>
        </p:txBody>
      </p:sp>
      <p:sp>
        <p:nvSpPr>
          <p:cNvPr id="46" name="תיבת טקסט 45">
            <a:extLst>
              <a:ext uri="{FF2B5EF4-FFF2-40B4-BE49-F238E27FC236}">
                <a16:creationId xmlns:a16="http://schemas.microsoft.com/office/drawing/2014/main" id="{DBB30A74-5C0F-ED85-1A12-32F43F857A38}"/>
              </a:ext>
            </a:extLst>
          </p:cNvPr>
          <p:cNvSpPr txBox="1"/>
          <p:nvPr/>
        </p:nvSpPr>
        <p:spPr>
          <a:xfrm>
            <a:off x="468491" y="2095161"/>
            <a:ext cx="3509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sz="1600" dirty="0"/>
              <a:t>• סריקה ועדכון אוטומטי של זכאויות חדשות</a:t>
            </a:r>
          </a:p>
          <a:p>
            <a:pPr marR="0" lvl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sz="1600" dirty="0"/>
              <a:t>• הודעות יזומות על שינויים בזכאויות</a:t>
            </a:r>
          </a:p>
          <a:p>
            <a:pPr marR="0" lvl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he-IL" sz="1600" dirty="0"/>
              <a:t>• סיוע בהגשת בקשות למימוש זכויות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235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930D2F-8091-4655-9DA9-8EC4B711E1D8}"/>
              </a:ext>
            </a:extLst>
          </p:cNvPr>
          <p:cNvSpPr txBox="1"/>
          <p:nvPr/>
        </p:nvSpPr>
        <p:spPr>
          <a:xfrm>
            <a:off x="2284953" y="1577540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המטרה היא </a:t>
            </a:r>
            <a:r>
              <a:rPr kumimoji="0" lang="he-IL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להנגיש</a:t>
            </a:r>
            <a:r>
              <a:rPr kumimoji="0" lang="he-IL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את</a:t>
            </a:r>
            <a:endParaRPr kumimoji="0" lang="en-IL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04E1A-5CFA-4C07-BEEC-0DA690F3FBB4}"/>
              </a:ext>
            </a:extLst>
          </p:cNvPr>
          <p:cNvSpPr txBox="1"/>
          <p:nvPr/>
        </p:nvSpPr>
        <p:spPr>
          <a:xfrm>
            <a:off x="75674" y="1971285"/>
            <a:ext cx="4429759" cy="276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השירות הנכון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לאדם הנכון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בזמן הנכון		</a:t>
            </a:r>
            <a:endParaRPr kumimoji="0" lang="en-IL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3C58CD-9D1C-4295-BC1C-BB82E5535C9A}"/>
              </a:ext>
            </a:extLst>
          </p:cNvPr>
          <p:cNvGrpSpPr/>
          <p:nvPr/>
        </p:nvGrpSpPr>
        <p:grpSpPr>
          <a:xfrm>
            <a:off x="6298273" y="676278"/>
            <a:ext cx="5588929" cy="5505444"/>
            <a:chOff x="232753" y="860944"/>
            <a:chExt cx="5588929" cy="550544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75FA15E-01B1-4CEE-B096-247E7DD162D4}"/>
                </a:ext>
              </a:extLst>
            </p:cNvPr>
            <p:cNvSpPr/>
            <p:nvPr/>
          </p:nvSpPr>
          <p:spPr>
            <a:xfrm>
              <a:off x="893887" y="1677056"/>
              <a:ext cx="4320000" cy="4320000"/>
            </a:xfrm>
            <a:prstGeom prst="ellipse">
              <a:avLst/>
            </a:prstGeom>
            <a:noFill/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63223BC-3437-487A-961B-094F19743AE4}"/>
                </a:ext>
              </a:extLst>
            </p:cNvPr>
            <p:cNvGrpSpPr/>
            <p:nvPr/>
          </p:nvGrpSpPr>
          <p:grpSpPr>
            <a:xfrm>
              <a:off x="232753" y="860944"/>
              <a:ext cx="5588929" cy="4527916"/>
              <a:chOff x="1237123" y="1354505"/>
              <a:chExt cx="4511824" cy="4527916"/>
            </a:xfrm>
            <a:solidFill>
              <a:schemeClr val="accent3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B471D60-5F43-4880-86CB-5D213AB65396}"/>
                  </a:ext>
                </a:extLst>
              </p:cNvPr>
              <p:cNvSpPr/>
              <p:nvPr/>
            </p:nvSpPr>
            <p:spPr>
              <a:xfrm>
                <a:off x="2360466" y="1354505"/>
                <a:ext cx="2258987" cy="2258987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0" y="2258987"/>
                    </a:moveTo>
                    <a:lnTo>
                      <a:pt x="1129494" y="0"/>
                    </a:lnTo>
                    <a:lnTo>
                      <a:pt x="2258987" y="2258987"/>
                    </a:lnTo>
                    <a:lnTo>
                      <a:pt x="0" y="22589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247604" rIns="682857" bIns="118110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3F7D78D-3F03-4E7E-A130-7B8ED18677CE}"/>
                  </a:ext>
                </a:extLst>
              </p:cNvPr>
              <p:cNvSpPr/>
              <p:nvPr/>
            </p:nvSpPr>
            <p:spPr>
              <a:xfrm>
                <a:off x="2370243" y="3623433"/>
                <a:ext cx="2258987" cy="2258988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2258987" y="0"/>
                    </a:moveTo>
                    <a:lnTo>
                      <a:pt x="1129493" y="2258987"/>
                    </a:lnTo>
                    <a:lnTo>
                      <a:pt x="0" y="0"/>
                    </a:lnTo>
                    <a:lnTo>
                      <a:pt x="225898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18111" rIns="682857" bIns="1247604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33E53F7-AB8D-4D54-8645-8944F0810027}"/>
                  </a:ext>
                </a:extLst>
              </p:cNvPr>
              <p:cNvSpPr/>
              <p:nvPr/>
            </p:nvSpPr>
            <p:spPr>
              <a:xfrm>
                <a:off x="3489960" y="3613492"/>
                <a:ext cx="2258987" cy="2258987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0" y="2258987"/>
                    </a:moveTo>
                    <a:lnTo>
                      <a:pt x="1129494" y="0"/>
                    </a:lnTo>
                    <a:lnTo>
                      <a:pt x="2258987" y="2258987"/>
                    </a:lnTo>
                    <a:lnTo>
                      <a:pt x="0" y="22589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247604" rIns="682857" bIns="118110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38E5488-D02F-4920-8981-C8022C00F6DC}"/>
                  </a:ext>
                </a:extLst>
              </p:cNvPr>
              <p:cNvSpPr/>
              <p:nvPr/>
            </p:nvSpPr>
            <p:spPr>
              <a:xfrm>
                <a:off x="1237123" y="3605872"/>
                <a:ext cx="2258987" cy="2258987"/>
              </a:xfrm>
              <a:custGeom>
                <a:avLst/>
                <a:gdLst>
                  <a:gd name="connsiteX0" fmla="*/ 0 w 2258987"/>
                  <a:gd name="connsiteY0" fmla="*/ 2258987 h 2258987"/>
                  <a:gd name="connsiteX1" fmla="*/ 1129494 w 2258987"/>
                  <a:gd name="connsiteY1" fmla="*/ 0 h 2258987"/>
                  <a:gd name="connsiteX2" fmla="*/ 2258987 w 2258987"/>
                  <a:gd name="connsiteY2" fmla="*/ 2258987 h 2258987"/>
                  <a:gd name="connsiteX3" fmla="*/ 0 w 2258987"/>
                  <a:gd name="connsiteY3" fmla="*/ 2258987 h 2258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8987" h="2258987">
                    <a:moveTo>
                      <a:pt x="0" y="2258987"/>
                    </a:moveTo>
                    <a:lnTo>
                      <a:pt x="1129494" y="0"/>
                    </a:lnTo>
                    <a:lnTo>
                      <a:pt x="2258987" y="2258987"/>
                    </a:lnTo>
                    <a:lnTo>
                      <a:pt x="0" y="22589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82857" tIns="1247604" rIns="682857" bIns="118110" numCol="1" spcCol="1270" anchor="ctr" anchorCtr="0">
                <a:noAutofit/>
              </a:bodyPr>
              <a:lstStyle/>
              <a:p>
                <a:pPr marL="0" marR="0" lvl="0" indent="0" algn="ctr" defTabSz="1377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3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AA9A8F-BD94-4D1A-8301-A0CCD0673CF5}"/>
                </a:ext>
              </a:extLst>
            </p:cNvPr>
            <p:cNvGrpSpPr/>
            <p:nvPr/>
          </p:nvGrpSpPr>
          <p:grpSpPr>
            <a:xfrm>
              <a:off x="1624269" y="3119930"/>
              <a:ext cx="2798276" cy="2251368"/>
              <a:chOff x="1624269" y="3119930"/>
              <a:chExt cx="2798276" cy="2251368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71A2604F-0CC8-4E51-A4B0-5CBFBFDF2FBE}"/>
                  </a:ext>
                </a:extLst>
              </p:cNvPr>
              <p:cNvCxnSpPr>
                <a:endCxn id="47" idx="1"/>
              </p:cNvCxnSpPr>
              <p:nvPr/>
            </p:nvCxnSpPr>
            <p:spPr>
              <a:xfrm>
                <a:off x="1624269" y="3119930"/>
                <a:ext cx="2798276" cy="1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7141198-7625-43AC-9852-769924368A52}"/>
                  </a:ext>
                </a:extLst>
              </p:cNvPr>
              <p:cNvCxnSpPr>
                <a:cxnSpLocks/>
                <a:stCxn id="48" idx="2"/>
                <a:endCxn id="46" idx="1"/>
              </p:cNvCxnSpPr>
              <p:nvPr/>
            </p:nvCxnSpPr>
            <p:spPr>
              <a:xfrm flipV="1">
                <a:off x="3031027" y="3129872"/>
                <a:ext cx="4493" cy="2241426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494DD75-D162-45A9-A5AA-2154EB3484DE}"/>
                </a:ext>
              </a:extLst>
            </p:cNvPr>
            <p:cNvSpPr/>
            <p:nvPr/>
          </p:nvSpPr>
          <p:spPr>
            <a:xfrm>
              <a:off x="1937886" y="2629656"/>
              <a:ext cx="2232000" cy="223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A672CD-283D-4BD2-9546-B95CA39D8536}"/>
                </a:ext>
              </a:extLst>
            </p:cNvPr>
            <p:cNvSpPr txBox="1"/>
            <p:nvPr/>
          </p:nvSpPr>
          <p:spPr>
            <a:xfrm>
              <a:off x="2597649" y="1819232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ממשלה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3710617-6A42-40BE-8DF2-73F6A946EBAE}"/>
                </a:ext>
              </a:extLst>
            </p:cNvPr>
            <p:cNvSpPr txBox="1"/>
            <p:nvPr/>
          </p:nvSpPr>
          <p:spPr>
            <a:xfrm>
              <a:off x="4251382" y="4547013"/>
              <a:ext cx="9012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רשויות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מקומיות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FE632B9-BEFB-4137-8590-42DE27B3AE4B}"/>
                </a:ext>
              </a:extLst>
            </p:cNvPr>
            <p:cNvSpPr txBox="1"/>
            <p:nvPr/>
          </p:nvSpPr>
          <p:spPr>
            <a:xfrm>
              <a:off x="1069534" y="4522532"/>
              <a:ext cx="10342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ספקי 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השירותים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53CD91-4E6C-4325-BF69-33C6BE63F0E1}"/>
                </a:ext>
              </a:extLst>
            </p:cNvPr>
            <p:cNvSpPr txBox="1"/>
            <p:nvPr/>
          </p:nvSpPr>
          <p:spPr>
            <a:xfrm>
              <a:off x="2279438" y="4065808"/>
              <a:ext cx="156324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האזרח הוותיק </a:t>
              </a:r>
              <a:b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במרכז</a:t>
              </a:r>
              <a:endParaRPr kumimoji="0" lang="en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C48B2C-5519-4DD7-91B1-A3C9EC5274A1}"/>
                </a:ext>
              </a:extLst>
            </p:cNvPr>
            <p:cNvSpPr txBox="1"/>
            <p:nvPr/>
          </p:nvSpPr>
          <p:spPr>
            <a:xfrm>
              <a:off x="2171272" y="5997056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דאטה וטכנולוגיה</a:t>
              </a:r>
              <a:endParaRPr kumimoji="0" lang="en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pic>
        <p:nvPicPr>
          <p:cNvPr id="50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473BA2BE-788A-4268-8700-59016893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07858" y="253557"/>
            <a:ext cx="1742734" cy="47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EA6D7B2B-F9CA-473F-B360-C0BC9C9AE259}"/>
              </a:ext>
            </a:extLst>
          </p:cNvPr>
          <p:cNvSpPr/>
          <p:nvPr/>
        </p:nvSpPr>
        <p:spPr>
          <a:xfrm>
            <a:off x="75674" y="101600"/>
            <a:ext cx="2230646" cy="7416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מלבן 25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 rot="16200000">
            <a:off x="-685275" y="625772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סל מותאם אישית</a:t>
            </a:r>
          </a:p>
        </p:txBody>
      </p:sp>
      <p:pic>
        <p:nvPicPr>
          <p:cNvPr id="66" name="תמונה 65">
            <a:extLst>
              <a:ext uri="{FF2B5EF4-FFF2-40B4-BE49-F238E27FC236}">
                <a16:creationId xmlns:a16="http://schemas.microsoft.com/office/drawing/2014/main" id="{CEF87F6E-70F3-AAFD-2A3A-116043169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313" y="2866520"/>
            <a:ext cx="1004478" cy="10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19620"/>
      </p:ext>
    </p:extLst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72DE7AE9-0BF3-D973-E87C-EB41E8709D13}"/>
              </a:ext>
            </a:extLst>
          </p:cNvPr>
          <p:cNvSpPr/>
          <p:nvPr/>
        </p:nvSpPr>
        <p:spPr>
          <a:xfrm>
            <a:off x="1431250" y="1737244"/>
            <a:ext cx="3588173" cy="3293937"/>
          </a:xfrm>
          <a:prstGeom prst="roundRect">
            <a:avLst/>
          </a:prstGeom>
          <a:solidFill>
            <a:schemeClr val="bg1"/>
          </a:solidFill>
          <a:ln>
            <a:solidFill>
              <a:srgbClr val="E7525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97F194-2F02-BC07-F02B-84F0400E16BE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7" name="Rounded Rectangle 111">
              <a:extLst>
                <a:ext uri="{FF2B5EF4-FFF2-40B4-BE49-F238E27FC236}">
                  <a16:creationId xmlns:a16="http://schemas.microsoft.com/office/drawing/2014/main" id="{2E6CBCBE-5B82-5329-43F6-B8A4C66C514F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21BBCE-79AE-02B8-ACF4-5F92C767733E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11" name="Rounded Rectangle 103">
                <a:extLst>
                  <a:ext uri="{FF2B5EF4-FFF2-40B4-BE49-F238E27FC236}">
                    <a16:creationId xmlns:a16="http://schemas.microsoft.com/office/drawing/2014/main" id="{4258F36B-39C2-D56D-69BF-1E5B5B20877C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BA3AF-17A3-63DD-2D71-6C4B91532AAB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EDF4C60-0A63-7DCD-5ADF-93D5C43828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CBBA451-A168-4B32-BD4E-95EB9A24A5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D0C106-4B6B-050F-081F-38A453418D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8470C0-E016-4358-548E-D7C5B5209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9053" y="2174550"/>
            <a:ext cx="3543457" cy="3446073"/>
          </a:xfrm>
        </p:spPr>
        <p:txBody>
          <a:bodyPr>
            <a:normAutofit fontScale="25000" lnSpcReduction="20000"/>
          </a:bodyPr>
          <a:lstStyle/>
          <a:p>
            <a:pPr algn="r" rtl="1"/>
            <a:r>
              <a:rPr lang="he-IL" sz="6400" b="1" dirty="0"/>
              <a:t>מנחם, בן 81, נ+1. אבחנות רפואיות:</a:t>
            </a:r>
          </a:p>
          <a:p>
            <a:pPr algn="r" rtl="1"/>
            <a:r>
              <a:rPr lang="he-IL" sz="6400" dirty="0"/>
              <a:t>* סוכרת מטופל באינסולין</a:t>
            </a:r>
          </a:p>
          <a:p>
            <a:pPr algn="r" rtl="1"/>
            <a:r>
              <a:rPr lang="he-IL" sz="6400" dirty="0"/>
              <a:t>* יתר לחץ דם</a:t>
            </a:r>
          </a:p>
          <a:p>
            <a:pPr algn="r" rtl="1"/>
            <a:r>
              <a:rPr lang="he-IL" sz="6400" dirty="0"/>
              <a:t>* </a:t>
            </a:r>
            <a:r>
              <a:rPr lang="he-IL" sz="6400" dirty="0" err="1"/>
              <a:t>אוסטאוטריטיס</a:t>
            </a:r>
            <a:r>
              <a:rPr lang="he-IL" sz="6400" dirty="0"/>
              <a:t>– דלקת מפרקים ניוונית</a:t>
            </a:r>
          </a:p>
          <a:p>
            <a:pPr algn="r" rtl="1"/>
            <a:r>
              <a:rPr lang="he-IL" sz="6400" dirty="0"/>
              <a:t>* אי שליטה על סוגרים ודחיפות במתן שתן</a:t>
            </a:r>
          </a:p>
          <a:p>
            <a:pPr algn="r" rtl="1"/>
            <a:r>
              <a:rPr lang="he-IL" sz="6400" dirty="0"/>
              <a:t>* נפילות חוזרות</a:t>
            </a:r>
          </a:p>
          <a:p>
            <a:pPr algn="r" rtl="1"/>
            <a:r>
              <a:rPr lang="he-IL" sz="6400" dirty="0"/>
              <a:t>* אי יציבות  בהליכה</a:t>
            </a:r>
          </a:p>
          <a:p>
            <a:pPr algn="r" rtl="1">
              <a:lnSpc>
                <a:spcPct val="120000"/>
              </a:lnSpc>
            </a:pPr>
            <a:r>
              <a:rPr lang="he-IL" sz="6400" dirty="0"/>
              <a:t>מנחם במקצועו מהנדס מכונות, בעל יכולות ביצועיות, חובב מוזיקה מושבע, אוסף מכוניות עתיקות, עם מערכת משפחתית תומכת. בשנים האחרונות, מאז שהחל ליפול ממעט לצאת מביתו.</a:t>
            </a:r>
          </a:p>
          <a:p>
            <a:pPr algn="r" rtl="1"/>
            <a:endParaRPr lang="he-IL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1142277" y="1953202"/>
            <a:ext cx="3788135" cy="281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1252 ₪- גמלה בכסף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11 שעות מטפלת שבועיות הכוללות: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בניידות בבית ומחוץ לבית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בבישול והגשת מזון 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באחזקת הבית וניקיון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שמירה על סביבה בטוחה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השגחה או עזרה חלקית ברחצה והלבשה</a:t>
            </a:r>
          </a:p>
          <a:p>
            <a:pPr marL="742950" marR="0" lvl="1" indent="-28575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ליווי לשירותים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49271A-345A-5122-3EC4-B8002397612C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" name="Chevron 9">
            <a:extLst>
              <a:ext uri="{FF2B5EF4-FFF2-40B4-BE49-F238E27FC236}">
                <a16:creationId xmlns:a16="http://schemas.microsoft.com/office/drawing/2014/main" id="{16ADEEB6-1E30-6D38-D568-DAADF160E382}"/>
              </a:ext>
            </a:extLst>
          </p:cNvPr>
          <p:cNvSpPr/>
          <p:nvPr/>
        </p:nvSpPr>
        <p:spPr>
          <a:xfrm rot="10800000">
            <a:off x="5436991" y="3285000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D1170E-6314-7E2A-7D50-BDA53F122E7D}"/>
              </a:ext>
            </a:extLst>
          </p:cNvPr>
          <p:cNvSpPr>
            <a:spLocks noChangeAspect="1"/>
          </p:cNvSpPr>
          <p:nvPr/>
        </p:nvSpPr>
        <p:spPr>
          <a:xfrm>
            <a:off x="6142176" y="3384213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4062" y="256266"/>
            <a:ext cx="2573140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המצב והשיטה היום</a:t>
            </a:r>
          </a:p>
        </p:txBody>
      </p:sp>
      <p:sp>
        <p:nvSpPr>
          <p:cNvPr id="19" name="מלבן 18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סל מותאם אישית</a:t>
            </a:r>
          </a:p>
        </p:txBody>
      </p:sp>
      <p:sp>
        <p:nvSpPr>
          <p:cNvPr id="21" name="אליפסה 20"/>
          <p:cNvSpPr/>
          <p:nvPr/>
        </p:nvSpPr>
        <p:spPr>
          <a:xfrm>
            <a:off x="10678046" y="30951"/>
            <a:ext cx="1449299" cy="1239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רמה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17 שעות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5899" y="1833986"/>
            <a:ext cx="12602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הסל הקיים:</a:t>
            </a:r>
          </a:p>
        </p:txBody>
      </p:sp>
    </p:spTree>
    <p:extLst>
      <p:ext uri="{BB962C8B-B14F-4D97-AF65-F5344CB8AC3E}">
        <p14:creationId xmlns:p14="http://schemas.microsoft.com/office/powerpoint/2010/main" val="491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D0B4EA7B-34D5-1A23-EEE1-3B26FC65248B}"/>
              </a:ext>
            </a:extLst>
          </p:cNvPr>
          <p:cNvSpPr/>
          <p:nvPr/>
        </p:nvSpPr>
        <p:spPr>
          <a:xfrm>
            <a:off x="356691" y="588475"/>
            <a:ext cx="5449569" cy="5894061"/>
          </a:xfrm>
          <a:prstGeom prst="roundRect">
            <a:avLst/>
          </a:prstGeom>
          <a:solidFill>
            <a:srgbClr val="5EC5C5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A88E2F-5EF4-789E-4EC1-FECE0F60DDB1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5" name="Rounded Rectangle 111">
              <a:extLst>
                <a:ext uri="{FF2B5EF4-FFF2-40B4-BE49-F238E27FC236}">
                  <a16:creationId xmlns:a16="http://schemas.microsoft.com/office/drawing/2014/main" id="{621A4DD8-C551-84E3-8B7C-F54D08EBF65B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0DC4F-3B2E-7161-90A3-10058A300945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9" name="Rounded Rectangle 103">
                <a:extLst>
                  <a:ext uri="{FF2B5EF4-FFF2-40B4-BE49-F238E27FC236}">
                    <a16:creationId xmlns:a16="http://schemas.microsoft.com/office/drawing/2014/main" id="{152D9103-54F9-A90C-CB51-ABE857EDC729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ADDB74-0E15-742D-DCB9-DF4B1ADAD329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926696-7AD8-C99A-5C5A-1619DFF240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0B44494-FC7C-999B-CD19-01A9DADC86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A2A50CB-0FA1-F4DF-39D2-36E73B7A6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1AAC09-5FEA-10F6-D909-5CE48748B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5F48573E-28D5-B8FD-4B49-EAC00579D7D1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1369" y="2178994"/>
            <a:ext cx="3586386" cy="3723931"/>
          </a:xfrm>
        </p:spPr>
        <p:txBody>
          <a:bodyPr>
            <a:normAutofit fontScale="55000" lnSpcReduction="20000"/>
          </a:bodyPr>
          <a:lstStyle/>
          <a:p>
            <a:pPr algn="r" rtl="1"/>
            <a:r>
              <a:rPr lang="he-IL" dirty="0"/>
              <a:t>מנחם, בן 81, נ+1. פרופיל תפקודי:</a:t>
            </a:r>
          </a:p>
          <a:p>
            <a:pPr algn="r" rtl="1"/>
            <a:r>
              <a:rPr lang="he-IL" dirty="0"/>
              <a:t>* עייפות, ירידה ברמות האנרגיה </a:t>
            </a:r>
          </a:p>
          <a:p>
            <a:pPr algn="r" rtl="1"/>
            <a:r>
              <a:rPr lang="he-IL" dirty="0"/>
              <a:t>* בעיות שינה </a:t>
            </a:r>
          </a:p>
          <a:p>
            <a:pPr algn="r" rtl="1"/>
            <a:r>
              <a:rPr lang="he-IL" dirty="0"/>
              <a:t>* קשיים בקשב וזיכרון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רגישות לכאב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בעיות שמיעה</a:t>
            </a:r>
          </a:p>
          <a:p>
            <a:pPr algn="r" rtl="1"/>
            <a:r>
              <a:rPr lang="he-IL" dirty="0"/>
              <a:t>* שליטה חלקית על מתן שתן </a:t>
            </a:r>
          </a:p>
          <a:p>
            <a:pPr algn="r" rtl="1"/>
            <a:r>
              <a:rPr lang="he-IL" dirty="0"/>
              <a:t>* הליכה לא יציבה ונטייה לנפילות </a:t>
            </a:r>
          </a:p>
          <a:p>
            <a:pPr algn="r" rtl="1"/>
            <a:r>
              <a:rPr lang="he-IL" dirty="0"/>
              <a:t>* נוקשות וכאב בתנועתיות ברכיים </a:t>
            </a:r>
          </a:p>
          <a:p>
            <a:pPr algn="r" rtl="1">
              <a:lnSpc>
                <a:spcPct val="170000"/>
              </a:lnSpc>
            </a:pPr>
            <a:r>
              <a:rPr lang="he-IL" dirty="0"/>
              <a:t>מנחם במקצועו מהנדס מכונות, בעל יכולות ביצועיות, חובב מוזיקה מושבע, אוסף מכוניות עתיקות, בעל מערכת משפחתית תומכת. בשנים האחרונות, מאז שהחל נופל ממעט לצאת מביתו.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393318" y="944291"/>
            <a:ext cx="5178131" cy="5361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1000</a:t>
            </a:r>
            <a:r>
              <a:rPr kumimoji="0" lang="he-IL" sz="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₪</a:t>
            </a: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גמלה בכסף ולצריכת שירותים מותאמים אישית </a:t>
            </a: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(5 ש)</a:t>
            </a: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8 שעות מטפלת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שבועיות הכוללות: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בניידות בבית ומחוץ לבית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בבישול והגשת מזון 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סיוע באחזקת הבית ושמירה על סביבה בטוחה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השגחה או עזרה חלקית ברחצה והלבשה</a:t>
            </a:r>
          </a:p>
          <a:p>
            <a:pPr marL="800100" marR="0" lvl="1" indent="-342900" algn="r" defTabSz="914400" rtl="1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ליווי לשירותים</a:t>
            </a:r>
          </a:p>
          <a:p>
            <a:pPr marL="342900" marR="0" lvl="0" indent="-34290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2 ש' צבוע + 2 ש' בבחירה (1,118 ₪)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לקהילה ולרכישת שירותים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ומוצרים מותאמים לפרופיל האישי כגון: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1.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קהילה מקדמת שייכות, בריאות וחוסן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(פעילות, קשר, תיקונים,   תיווך וסיוע)- 209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2.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קורס מוזיקה מקוון בקתדרה למוזיקה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– 350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מאפשר עיסוק קוגניטיבי בתחום העניין, לצד התחשבות בקשיים המוטוריים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והקשביים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3.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שיעורי דמיון מודרך ומדיטציה במתנ"ס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- 250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(מהווה כלי מסייע בניהול כאבים, בעיות שינה, מטפלת מסיעה ומלווה, מתנ"ס מונגש)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4.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בריכה והידרותרפיה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– 250 ₪ 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(מתייחס לכלל הקשיים, דגש על נוקשות בתנועתיות, סביבת המים, וההחזקה, נותנת מענה לחשש מנפילות)</a:t>
            </a: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5.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רכישת מכשיר שמיעה מסובסד-300 </a:t>
            </a: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(קריטי במניעת הדרדרות ותפקוד)</a:t>
            </a:r>
            <a:endParaRPr kumimoji="0" lang="he-IL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6. </a:t>
            </a: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התנדבות </a:t>
            </a:r>
            <a:r>
              <a:rPr kumimoji="0" lang="he-IL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דו חודשית בבית הספר "אורט" מגמת מכונאות בסיוע לתלמידים</a:t>
            </a:r>
            <a:r>
              <a:rPr kumimoji="0" lang="he-IL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סה"כ 1409 ₪ מתוכם 1,118 ₪ במימון מדינה 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Chevron 9">
            <a:extLst>
              <a:ext uri="{FF2B5EF4-FFF2-40B4-BE49-F238E27FC236}">
                <a16:creationId xmlns:a16="http://schemas.microsoft.com/office/drawing/2014/main" id="{53CB9F4D-0FB1-3D16-6D13-CEF08E76D144}"/>
              </a:ext>
            </a:extLst>
          </p:cNvPr>
          <p:cNvSpPr/>
          <p:nvPr/>
        </p:nvSpPr>
        <p:spPr>
          <a:xfrm rot="10800000">
            <a:off x="6097256" y="3295511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549171-80AC-AFAF-C88B-947BC5215AD1}"/>
              </a:ext>
            </a:extLst>
          </p:cNvPr>
          <p:cNvSpPr>
            <a:spLocks noChangeAspect="1"/>
          </p:cNvSpPr>
          <p:nvPr/>
        </p:nvSpPr>
        <p:spPr>
          <a:xfrm>
            <a:off x="7164023" y="3388674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40697" y="65255"/>
            <a:ext cx="2642070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ההזדמנות לשינוי</a:t>
            </a:r>
          </a:p>
        </p:txBody>
      </p:sp>
      <p:sp>
        <p:nvSpPr>
          <p:cNvPr id="21" name="אליפסה 20"/>
          <p:cNvSpPr/>
          <p:nvPr/>
        </p:nvSpPr>
        <p:spPr>
          <a:xfrm>
            <a:off x="10723105" y="40478"/>
            <a:ext cx="1449299" cy="132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פרופיל וסל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תפקוד אישי מותאם</a:t>
            </a:r>
          </a:p>
        </p:txBody>
      </p:sp>
      <p:sp>
        <p:nvSpPr>
          <p:cNvPr id="23" name="מלבן 22"/>
          <p:cNvSpPr/>
          <p:nvPr/>
        </p:nvSpPr>
        <p:spPr>
          <a:xfrm>
            <a:off x="994130" y="187332"/>
            <a:ext cx="4030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הסל החדש: מותאם, מתמרץ ודוחק תלות: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2EB0216-DF15-0ADF-1446-3B696A77CA6A}"/>
              </a:ext>
            </a:extLst>
          </p:cNvPr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3D44079-AB70-B511-15B2-3CF42217CADE}"/>
              </a:ext>
            </a:extLst>
          </p:cNvPr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סל מותאם אישית</a:t>
            </a:r>
          </a:p>
        </p:txBody>
      </p:sp>
    </p:spTree>
    <p:extLst>
      <p:ext uri="{BB962C8B-B14F-4D97-AF65-F5344CB8AC3E}">
        <p14:creationId xmlns:p14="http://schemas.microsoft.com/office/powerpoint/2010/main" val="3875835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ife Journey | Earth">
            <a:extLst>
              <a:ext uri="{FF2B5EF4-FFF2-40B4-BE49-F238E27FC236}">
                <a16:creationId xmlns:a16="http://schemas.microsoft.com/office/drawing/2014/main" id="{5BCE3670-8D26-16C2-5FE8-FB030C641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F397B621-E894-042F-CD5F-60CA6A1A54B7}"/>
              </a:ext>
            </a:extLst>
          </p:cNvPr>
          <p:cNvSpPr txBox="1"/>
          <p:nvPr/>
        </p:nvSpPr>
        <p:spPr>
          <a:xfrm>
            <a:off x="2498484" y="167223"/>
            <a:ext cx="6904454" cy="1261884"/>
          </a:xfrm>
          <a:prstGeom prst="rect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pPr algn="ctr" rtl="1"/>
            <a:r>
              <a:rPr lang="he-IL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מהלך </a:t>
            </a:r>
            <a:r>
              <a:rPr lang="he-IL" sz="4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הדיגיטל</a:t>
            </a:r>
            <a:r>
              <a:rPr lang="he-IL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להזדקנות מיטבית</a:t>
            </a:r>
          </a:p>
          <a:p>
            <a:pPr algn="ctr" rtl="1"/>
            <a:r>
              <a:rPr lang="he-IL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בונים יחד את המחר של כולנו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E0BED49-2911-89CB-A529-BF62D9CA140F}"/>
              </a:ext>
            </a:extLst>
          </p:cNvPr>
          <p:cNvSpPr/>
          <p:nvPr/>
        </p:nvSpPr>
        <p:spPr>
          <a:xfrm>
            <a:off x="2700953" y="5203049"/>
            <a:ext cx="6340619" cy="1054786"/>
          </a:xfrm>
          <a:prstGeom prst="rect">
            <a:avLst/>
          </a:prstGeom>
          <a:solidFill>
            <a:schemeClr val="dk1">
              <a:alpha val="3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28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8A39273-8FD7-E592-C9C6-8BED67EBCC7E}"/>
              </a:ext>
            </a:extLst>
          </p:cNvPr>
          <p:cNvSpPr txBox="1"/>
          <p:nvPr/>
        </p:nvSpPr>
        <p:spPr>
          <a:xfrm>
            <a:off x="2694958" y="5268777"/>
            <a:ext cx="6144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1800" b="1" dirty="0">
                <a:solidFill>
                  <a:srgbClr val="F3F8F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הטכנולוגיה נותנת לנו הזדמנות היסטורית לעצב מחדש את הזקנה, ישראל מעצמה טכנולוגית, אין סיבה שלא נוביל יחד את המסע להזדקנות מיטבית.</a:t>
            </a:r>
            <a:endParaRPr lang="he-IL" dirty="0">
              <a:solidFill>
                <a:srgbClr val="F3F8FD"/>
              </a:solidFill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EDD7C5B-B198-4252-F86D-B7B1AB6DC872}"/>
              </a:ext>
            </a:extLst>
          </p:cNvPr>
          <p:cNvSpPr txBox="1"/>
          <p:nvPr/>
        </p:nvSpPr>
        <p:spPr>
          <a:xfrm>
            <a:off x="-1045173" y="5934670"/>
            <a:ext cx="2047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רבה</a:t>
            </a:r>
          </a:p>
          <a:p>
            <a:pPr algn="r" rtl="1"/>
            <a:r>
              <a:rPr lang="he-IL" sz="1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לשותפים</a:t>
            </a:r>
          </a:p>
          <a:p>
            <a:pPr algn="r" rtl="1"/>
            <a:r>
              <a:rPr lang="he-IL" sz="1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למסע!</a:t>
            </a:r>
          </a:p>
        </p:txBody>
      </p:sp>
    </p:spTree>
    <p:extLst>
      <p:ext uri="{BB962C8B-B14F-4D97-AF65-F5344CB8AC3E}">
        <p14:creationId xmlns:p14="http://schemas.microsoft.com/office/powerpoint/2010/main" val="1536541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הרצל זקן דיגיטלי לשקף 16:9  למצגת להקמת מערך הדיגיטל להזדקנות מיטבית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764"/>
          <a:stretch/>
        </p:blipFill>
        <p:spPr bwMode="auto">
          <a:xfrm>
            <a:off x="-84570" y="-1"/>
            <a:ext cx="12276570" cy="690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gradFill>
            <a:gsLst>
              <a:gs pos="49000">
                <a:schemeClr val="tx1">
                  <a:alpha val="0"/>
                </a:schemeClr>
              </a:gs>
              <a:gs pos="100000">
                <a:schemeClr val="tx1">
                  <a:alpha val="85000"/>
                </a:schemeClr>
              </a:gs>
            </a:gsLst>
            <a:lin ang="10800000"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he-IL" sz="32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308" y="1422817"/>
            <a:ext cx="6904454" cy="1261884"/>
          </a:xfrm>
          <a:prstGeom prst="rect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pPr algn="ctr" rtl="1"/>
            <a:r>
              <a:rPr lang="he-IL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מהלך </a:t>
            </a:r>
            <a:r>
              <a:rPr lang="he-IL" sz="4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הדיגיטל</a:t>
            </a:r>
            <a:r>
              <a:rPr lang="he-IL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להזדקנות מיטבית</a:t>
            </a:r>
            <a:endParaRPr lang="he-IL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1"/>
            <a:r>
              <a:rPr lang="he-IL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בונים יחד את המחר של כולנו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FB7EF94A-3FD9-6B0A-8C75-9BE0A0596882}"/>
              </a:ext>
            </a:extLst>
          </p:cNvPr>
          <p:cNvSpPr/>
          <p:nvPr/>
        </p:nvSpPr>
        <p:spPr>
          <a:xfrm>
            <a:off x="232956" y="5646265"/>
            <a:ext cx="2142329" cy="1054786"/>
          </a:xfrm>
          <a:prstGeom prst="rect">
            <a:avLst/>
          </a:prstGeom>
          <a:solidFill>
            <a:schemeClr val="dk1">
              <a:alpha val="3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360 עד 120 </a:t>
            </a:r>
          </a:p>
          <a:p>
            <a:pPr algn="ctr" rtl="1"/>
            <a:r>
              <a:rPr lang="he-IL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רבה!</a:t>
            </a:r>
          </a:p>
        </p:txBody>
      </p:sp>
    </p:spTree>
    <p:extLst>
      <p:ext uri="{BB962C8B-B14F-4D97-AF65-F5344CB8AC3E}">
        <p14:creationId xmlns:p14="http://schemas.microsoft.com/office/powerpoint/2010/main" val="6273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4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r" rtl="1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כחול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r" rtl="1">
          <a:defRPr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ערכת נושא Office">
  <a:themeElements>
    <a:clrScheme name="כחול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r" rtl="1">
          <a:defRPr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201587</TotalTime>
  <Words>3346</Words>
  <Application>Microsoft Office PowerPoint</Application>
  <PresentationFormat>מסך רחב</PresentationFormat>
  <Paragraphs>535</Paragraphs>
  <Slides>46</Slides>
  <Notes>21</Notes>
  <HiddenSlides>11</HiddenSlides>
  <MMClips>0</MMClips>
  <ScaleCrop>false</ScaleCrop>
  <HeadingPairs>
    <vt:vector size="6" baseType="variant">
      <vt:variant>
        <vt:lpstr>גופנים בשימוש</vt:lpstr>
      </vt:variant>
      <vt:variant>
        <vt:i4>16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46</vt:i4>
      </vt:variant>
    </vt:vector>
  </HeadingPairs>
  <TitlesOfParts>
    <vt:vector size="66" baseType="lpstr">
      <vt:lpstr>Aptos</vt:lpstr>
      <vt:lpstr>Aptos Display</vt:lpstr>
      <vt:lpstr>Arial</vt:lpstr>
      <vt:lpstr>Arial Rounded MT Bold</vt:lpstr>
      <vt:lpstr>ArialMT</vt:lpstr>
      <vt:lpstr>Assistant</vt:lpstr>
      <vt:lpstr>Assistant ExtraBold</vt:lpstr>
      <vt:lpstr>Assistant SemiBold</vt:lpstr>
      <vt:lpstr>Calibri</vt:lpstr>
      <vt:lpstr>Calibri-Bold</vt:lpstr>
      <vt:lpstr>Courier New</vt:lpstr>
      <vt:lpstr>Heebo Black</vt:lpstr>
      <vt:lpstr>Open Sans</vt:lpstr>
      <vt:lpstr>Rubik</vt:lpstr>
      <vt:lpstr>Symbol</vt:lpstr>
      <vt:lpstr>Wingdings</vt:lpstr>
      <vt:lpstr>Office Theme</vt:lpstr>
      <vt:lpstr>ערכת נושא Office</vt:lpstr>
      <vt:lpstr>2_ערכת נושא Office</vt:lpstr>
      <vt:lpstr>1_Office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Ofer Tabach</dc:creator>
  <cp:lastModifiedBy>אביעד יצחק</cp:lastModifiedBy>
  <cp:revision>439</cp:revision>
  <dcterms:created xsi:type="dcterms:W3CDTF">2023-09-26T02:51:36Z</dcterms:created>
  <dcterms:modified xsi:type="dcterms:W3CDTF">2024-12-10T15:39:08Z</dcterms:modified>
</cp:coreProperties>
</file>