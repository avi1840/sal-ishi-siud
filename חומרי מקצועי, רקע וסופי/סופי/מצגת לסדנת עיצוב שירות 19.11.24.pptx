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692" r:id="rId3"/>
    <p:sldMasterId id="2147483708" r:id="rId4"/>
    <p:sldMasterId id="2147483719" r:id="rId5"/>
    <p:sldMasterId id="2147483731" r:id="rId6"/>
  </p:sldMasterIdLst>
  <p:notesMasterIdLst>
    <p:notesMasterId r:id="rId42"/>
  </p:notesMasterIdLst>
  <p:sldIdLst>
    <p:sldId id="2145707194" r:id="rId7"/>
    <p:sldId id="2145707246" r:id="rId8"/>
    <p:sldId id="2145707258" r:id="rId9"/>
    <p:sldId id="2145707259" r:id="rId10"/>
    <p:sldId id="2145707113" r:id="rId11"/>
    <p:sldId id="2145707189" r:id="rId12"/>
    <p:sldId id="275" r:id="rId13"/>
    <p:sldId id="257" r:id="rId14"/>
    <p:sldId id="2145707280" r:id="rId15"/>
    <p:sldId id="2145707223" r:id="rId16"/>
    <p:sldId id="2145707282" r:id="rId17"/>
    <p:sldId id="2145707298" r:id="rId18"/>
    <p:sldId id="2145707245" r:id="rId19"/>
    <p:sldId id="2145707267" r:id="rId20"/>
    <p:sldId id="2145707244" r:id="rId21"/>
    <p:sldId id="2145707299" r:id="rId22"/>
    <p:sldId id="2145706441" r:id="rId23"/>
    <p:sldId id="2145707238" r:id="rId24"/>
    <p:sldId id="2145706440" r:id="rId25"/>
    <p:sldId id="2145707140" r:id="rId26"/>
    <p:sldId id="2145707293" r:id="rId27"/>
    <p:sldId id="2145707191" r:id="rId28"/>
    <p:sldId id="2145707275" r:id="rId29"/>
    <p:sldId id="2145707300" r:id="rId30"/>
    <p:sldId id="2145707294" r:id="rId31"/>
    <p:sldId id="2145707295" r:id="rId32"/>
    <p:sldId id="2145707290" r:id="rId33"/>
    <p:sldId id="2145707242" r:id="rId34"/>
    <p:sldId id="2145707292" r:id="rId35"/>
    <p:sldId id="2145707254" r:id="rId36"/>
    <p:sldId id="2145706336" r:id="rId37"/>
    <p:sldId id="2145707103" r:id="rId38"/>
    <p:sldId id="2145707101" r:id="rId39"/>
    <p:sldId id="2145707102" r:id="rId40"/>
    <p:sldId id="362" r:id="rId4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3" autoAdjust="0"/>
    <p:restoredTop sz="94660"/>
  </p:normalViewPr>
  <p:slideViewPr>
    <p:cSldViewPr snapToGrid="0">
      <p:cViewPr varScale="1">
        <p:scale>
          <a:sx n="104" d="100"/>
          <a:sy n="104" d="100"/>
        </p:scale>
        <p:origin x="73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ableStyles" Target="tableStyles.xml"/><Relationship Id="rId20" Type="http://schemas.openxmlformats.org/officeDocument/2006/relationships/slide" Target="slides/slide1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9.6311576535027615E-2"/>
          <c:y val="0.22825530531457483"/>
          <c:w val="0.86731553369038539"/>
          <c:h val="0.64362569468409281"/>
        </c:manualLayout>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2">
                  <c:v>2024</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76-4589-82B0-FA9F3DFA69E9}"/>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76-4589-82B0-FA9F3DFA69E9}"/>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76-4589-82B0-FA9F3DFA69E9}"/>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976-4589-82B0-FA9F3DFA69E9}"/>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76-4589-82B0-FA9F3DFA69E9}"/>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76-4589-82B0-FA9F3DFA69E9}"/>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י"ח/חשון/תשפ"ה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מבוא- ברכות</a:t>
            </a:r>
          </a:p>
          <a:p>
            <a:r>
              <a:rPr lang="he-IL" dirty="0"/>
              <a:t>המטרה להוביל שינוי יחד</a:t>
            </a:r>
          </a:p>
          <a:p>
            <a:r>
              <a:rPr lang="he-IL" dirty="0"/>
              <a:t>חלום משותף של הרבה אנשים</a:t>
            </a:r>
          </a:p>
          <a:p>
            <a:r>
              <a:rPr lang="he-IL" dirty="0"/>
              <a:t>מה רוצים לשנות</a:t>
            </a:r>
          </a:p>
          <a:p>
            <a:r>
              <a:rPr lang="he-IL" dirty="0"/>
              <a:t>נתונים </a:t>
            </a:r>
            <a:r>
              <a:rPr lang="he-IL" dirty="0" err="1"/>
              <a:t>לישור</a:t>
            </a:r>
            <a:r>
              <a:rPr lang="he-IL" dirty="0"/>
              <a:t> קו</a:t>
            </a:r>
          </a:p>
          <a:p>
            <a:r>
              <a:rPr lang="he-IL" dirty="0"/>
              <a:t>ממצאי המחקר,</a:t>
            </a:r>
          </a:p>
          <a:p>
            <a:r>
              <a:rPr lang="he-IL" dirty="0"/>
              <a:t>לאן הולכים</a:t>
            </a:r>
          </a:p>
          <a:p>
            <a:r>
              <a:rPr lang="he-IL" dirty="0"/>
              <a:t>מטרות היום ותוצרים</a:t>
            </a:r>
          </a:p>
          <a:p>
            <a:r>
              <a:rPr lang="he-IL" dirty="0"/>
              <a:t>ו</a:t>
            </a:r>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3027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45945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במסגרת עבודת הפורום מופו 20 יעדי מפתח, נעשה סקר התכנסו ל- 7 אשר מתוכם נבחרו 3 למיקוד </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r>
              <a:rPr lang="he-IL" dirty="0"/>
              <a:t>אביעד: כדאי אולי שקף על המובילים שכולל מוביל בכל משרד ואותך וחיים (ואז זה מקדים ומנהל את הצוות פעולה השונים).</a:t>
            </a:r>
          </a:p>
          <a:p>
            <a:r>
              <a:rPr lang="he-IL" dirty="0"/>
              <a:t>הצעתי שבכל פעם יהיה צבעוני </a:t>
            </a:r>
            <a:r>
              <a:rPr lang="he-IL" dirty="0" err="1"/>
              <a:t>ההחלק</a:t>
            </a:r>
            <a:r>
              <a:rPr lang="he-IL" dirty="0"/>
              <a:t> הרלוונטי בשלישייה</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EEF8C23-862A-4E90-8E18-A70B6FCB1DF9}" type="slidenum">
              <a:rPr kumimoji="0" lang="he-IL"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156943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חלק ממהלך שמתחיל לקרות- אנשים הכי רלוונטיים להובלת השינוי</a:t>
            </a:r>
          </a:p>
          <a:p>
            <a:pPr algn="r" rtl="1"/>
            <a:endParaRPr lang="he-IL" dirty="0"/>
          </a:p>
        </p:txBody>
      </p:sp>
      <p:sp>
        <p:nvSpPr>
          <p:cNvPr id="4" name="Slide Number Placeholder 3"/>
          <p:cNvSpPr>
            <a:spLocks noGrp="1"/>
          </p:cNvSpPr>
          <p:nvPr>
            <p:ph type="sldNum" sz="quarter" idx="5"/>
          </p:nvPr>
        </p:nvSpPr>
        <p:spPr/>
        <p:txBody>
          <a:bodyPr/>
          <a:lstStyle/>
          <a:p>
            <a:fld id="{EEEF8C23-862A-4E90-8E18-A70B6FCB1DF9}" type="slidenum">
              <a:rPr lang="he-IL" smtClean="0"/>
              <a:t>9</a:t>
            </a:fld>
            <a:endParaRPr lang="he-IL"/>
          </a:p>
        </p:txBody>
      </p:sp>
    </p:spTree>
    <p:extLst>
      <p:ext uri="{BB962C8B-B14F-4D97-AF65-F5344CB8AC3E}">
        <p14:creationId xmlns:p14="http://schemas.microsoft.com/office/powerpoint/2010/main" val="2107861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לבקש   הערות לדיוקים ותוספות.</a:t>
            </a:r>
          </a:p>
          <a:p>
            <a:pPr algn="r" rtl="1"/>
            <a:r>
              <a:rPr lang="he-IL" dirty="0"/>
              <a:t>למשל להגדיר מי זה אפס בקהל היעד.</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800" kern="100" dirty="0">
                <a:effectLst/>
                <a:latin typeface="Calibri" panose="020F0502020204030204" pitchFamily="34" charset="0"/>
                <a:ea typeface="Calibri" panose="020F0502020204030204" pitchFamily="34" charset="0"/>
                <a:cs typeface="Calibri" panose="020F0502020204030204" pitchFamily="34" charset="0"/>
              </a:rPr>
              <a:t>**לציין שתהליך גיבוש התפיסה היא בתהליך בנייה מתמשך- לדיוקים ובעיקר לתוספות</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431698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584539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F4AD9-BA9B-7474-37A0-0CE8B07F869F}"/>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AC3657B9-12D2-FB50-B269-7CA9C9C7388E}"/>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45B008F-7980-7B0E-E70D-288AE09A6073}"/>
              </a:ext>
            </a:extLst>
          </p:cNvPr>
          <p:cNvSpPr>
            <a:spLocks noGrp="1"/>
          </p:cNvSpPr>
          <p:nvPr>
            <p:ph type="body" idx="1"/>
          </p:nvPr>
        </p:nvSpPr>
        <p:spPr/>
        <p:txBody>
          <a:bodyPr/>
          <a:lstStyle/>
          <a:p>
            <a:pPr marL="342900" lvl="0" indent="-342900" algn="r" rtl="1">
              <a:lnSpc>
                <a:spcPct val="107000"/>
              </a:lnSpc>
              <a:buFont typeface="Symbol" panose="05050102010706020507" pitchFamily="18" charset="2"/>
              <a:buChar char=""/>
            </a:pPr>
            <a:r>
              <a:rPr lang="he-IL" sz="1800" b="1" dirty="0">
                <a:effectLst/>
                <a:latin typeface="Calibri" panose="020F0502020204030204" pitchFamily="34" charset="0"/>
                <a:ea typeface="Calibri" panose="020F0502020204030204" pitchFamily="34" charset="0"/>
                <a:cs typeface="Arial" panose="020B0604020202020204" pitchFamily="34" charset="0"/>
              </a:rPr>
              <a:t>מושקע תקציב עתק- תוצאות לא טובות ולא במקרה: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457200" algn="r" rtl="1">
              <a:lnSpc>
                <a:spcPct val="107000"/>
              </a:lnSpc>
              <a:spcAft>
                <a:spcPts val="800"/>
              </a:spcAft>
            </a:pPr>
            <a:r>
              <a:rPr lang="he-IL" sz="1800" dirty="0">
                <a:effectLst/>
                <a:latin typeface="Calibri" panose="020F0502020204030204" pitchFamily="34" charset="0"/>
                <a:ea typeface="Calibri" panose="020F0502020204030204" pitchFamily="34" charset="0"/>
                <a:cs typeface="Arial" panose="020B0604020202020204" pitchFamily="34" charset="0"/>
              </a:rPr>
              <a:t>פנינה מקבלת כביסה, טיטולים/מטפלת/מרכז יום-</a:t>
            </a:r>
            <a:r>
              <a:rPr lang="he-IL" sz="1800" b="1" dirty="0">
                <a:effectLst/>
                <a:latin typeface="Calibri" panose="020F0502020204030204" pitchFamily="34" charset="0"/>
                <a:ea typeface="Calibri" panose="020F0502020204030204" pitchFamily="34" charset="0"/>
                <a:cs typeface="Arial" panose="020B0604020202020204" pitchFamily="34" charset="0"/>
              </a:rPr>
              <a:t> כל מה שהיא לא צריכה..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he-IL" dirty="0"/>
          </a:p>
        </p:txBody>
      </p:sp>
      <p:sp>
        <p:nvSpPr>
          <p:cNvPr id="4" name="מציין מיקום של מספר שקופית 3">
            <a:extLst>
              <a:ext uri="{FF2B5EF4-FFF2-40B4-BE49-F238E27FC236}">
                <a16:creationId xmlns:a16="http://schemas.microsoft.com/office/drawing/2014/main" id="{F54F41B5-CDF6-765F-C0B5-F483DC7CD2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3869888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חצי מתקציב יושקע ברשויות שמצליחות למנוע</a:t>
            </a:r>
          </a:p>
        </p:txBody>
      </p:sp>
      <p:sp>
        <p:nvSpPr>
          <p:cNvPr id="4" name="מציין מיקום של מספר שקופית 3"/>
          <p:cNvSpPr>
            <a:spLocks noGrp="1"/>
          </p:cNvSpPr>
          <p:nvPr>
            <p:ph type="sldNum" sz="quarter" idx="5"/>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12936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dirty="0"/>
              <a:t>ישבנו יחד כל המשרדים לאפיין את המודל החדש לאור המחקר והמנגנונים- מיליארד ₪+</a:t>
            </a:r>
          </a:p>
          <a:p>
            <a:endParaRPr lang="he-IL" dirty="0"/>
          </a:p>
        </p:txBody>
      </p:sp>
      <p:sp>
        <p:nvSpPr>
          <p:cNvPr id="4" name="מציין מיקום של מספר שקופית 3"/>
          <p:cNvSpPr>
            <a:spLocks noGrp="1"/>
          </p:cNvSpPr>
          <p:nvPr>
            <p:ph type="sldNum" sz="quarter" idx="5"/>
          </p:nvPr>
        </p:nvSpPr>
        <p:spPr/>
        <p:txBody>
          <a:bodyPr/>
          <a:lstStyle/>
          <a:p>
            <a:fld id="{D96DD67B-BCCD-4CCF-8847-28FEBF3D9E76}" type="slidenum">
              <a:rPr lang="he-IL" smtClean="0"/>
              <a:t>21</a:t>
            </a:fld>
            <a:endParaRPr lang="he-IL"/>
          </a:p>
        </p:txBody>
      </p:sp>
    </p:spTree>
    <p:extLst>
      <p:ext uri="{BB962C8B-B14F-4D97-AF65-F5344CB8AC3E}">
        <p14:creationId xmlns:p14="http://schemas.microsoft.com/office/powerpoint/2010/main" val="3173637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800" b="1" dirty="0">
                <a:effectLst/>
                <a:latin typeface="Calibri" panose="020F0502020204030204" pitchFamily="34" charset="0"/>
                <a:ea typeface="Calibri" panose="020F0502020204030204" pitchFamily="34" charset="0"/>
                <a:cs typeface="Arial" panose="020B0604020202020204" pitchFamily="34" charset="0"/>
              </a:rPr>
              <a:t>אנו בונים יחד </a:t>
            </a:r>
            <a:r>
              <a:rPr lang="he-IL" sz="2400" b="1" dirty="0">
                <a:effectLst/>
                <a:latin typeface="Calibri" panose="020F0502020204030204" pitchFamily="34" charset="0"/>
                <a:ea typeface="Calibri" panose="020F0502020204030204" pitchFamily="34" charset="0"/>
                <a:cs typeface="Arial" panose="020B0604020202020204" pitchFamily="34" charset="0"/>
              </a:rPr>
              <a:t>מערכת הפעלה חדשה לזקנה- </a:t>
            </a:r>
            <a:r>
              <a:rPr lang="en-US" sz="1800" dirty="0">
                <a:effectLst/>
                <a:latin typeface="Calibri" panose="020F0502020204030204" pitchFamily="34" charset="0"/>
                <a:ea typeface="Calibri" panose="020F0502020204030204" pitchFamily="34" charset="0"/>
                <a:cs typeface="Arial" panose="020B0604020202020204" pitchFamily="34" charset="0"/>
              </a:rPr>
              <a:t>)</a:t>
            </a:r>
            <a:r>
              <a:rPr lang="he-IL" sz="1800" dirty="0">
                <a:effectLst/>
                <a:latin typeface="Calibri" panose="020F0502020204030204" pitchFamily="34" charset="0"/>
                <a:ea typeface="Calibri" panose="020F0502020204030204" pitchFamily="34" charset="0"/>
                <a:cs typeface="Arial" panose="020B0604020202020204" pitchFamily="34" charset="0"/>
              </a:rPr>
              <a:t>לספר את פנינה מול הפתרונות)- פנינה מקבלת סל אישי, המלצות להתנהלות בריאה, </a:t>
            </a:r>
            <a:r>
              <a:rPr lang="he-IL" sz="1800" dirty="0" err="1">
                <a:effectLst/>
                <a:latin typeface="Calibri" panose="020F0502020204030204" pitchFamily="34" charset="0"/>
                <a:ea typeface="Calibri" panose="020F0502020204030204" pitchFamily="34" charset="0"/>
                <a:cs typeface="Arial" panose="020B0604020202020204" pitchFamily="34" charset="0"/>
              </a:rPr>
              <a:t>וואץאפ</a:t>
            </a:r>
            <a:r>
              <a:rPr lang="he-IL" sz="1800" dirty="0">
                <a:effectLst/>
                <a:latin typeface="Calibri" panose="020F0502020204030204" pitchFamily="34" charset="0"/>
                <a:ea typeface="Calibri" panose="020F0502020204030204" pitchFamily="34" charset="0"/>
                <a:cs typeface="Arial" panose="020B0604020202020204" pitchFamily="34" charset="0"/>
              </a:rPr>
              <a:t> מחברה שרוצה לצאת איתה לסיבוב בעיר, מיצוי זכויות פרואקטיבי על אוטומט, נכנסת לפורטל כדי להבין יותר את המחלה ואיך מומלץ להתמודד, העוזר האישי </a:t>
            </a:r>
            <a:r>
              <a:rPr lang="he-IL" sz="1800" dirty="0" err="1">
                <a:effectLst/>
                <a:latin typeface="Calibri" panose="020F0502020204030204" pitchFamily="34" charset="0"/>
                <a:ea typeface="Calibri" panose="020F0502020204030204" pitchFamily="34" charset="0"/>
                <a:cs typeface="Arial" panose="020B0604020202020204" pitchFamily="34" charset="0"/>
              </a:rPr>
              <a:t>הוירטואלי</a:t>
            </a:r>
            <a:r>
              <a:rPr lang="he-IL" sz="1800" dirty="0">
                <a:effectLst/>
                <a:latin typeface="Calibri" panose="020F0502020204030204" pitchFamily="34" charset="0"/>
                <a:ea typeface="Calibri" panose="020F0502020204030204" pitchFamily="34" charset="0"/>
                <a:cs typeface="Arial" panose="020B0604020202020204" pitchFamily="34" charset="0"/>
              </a:rPr>
              <a:t> ממליץ על תזונה ועושה הזמנה לצרכיה- ממש מודל פנינה להזדקנות מיטבית.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t>המלצות אישיות להתנהלות בריאה וחכמה: • תוכנית תזונה מותאמת אישית • תוכנית פעילות גופנית מותאמת ליכולות • תזכורות לבדיקות רפואיות תקופתיות סל אישי מותאם: • שירותי בריאות ורווחה מותאמים אישית • אפשרויות לפעילויות פנאי והעשרה • שירותי תמיכה נפשית וחברתית </a:t>
            </a:r>
            <a:r>
              <a:rPr lang="he-IL" sz="2800" dirty="0" err="1"/>
              <a:t>וואטסאפ</a:t>
            </a:r>
            <a:r>
              <a:rPr lang="he-IL" sz="2800" dirty="0"/>
              <a:t> חכמה מחוברת לסיבוב בעיר: • עדכונים על פעילויות קהילתיות מתאימות • הצעות לטיולים ומסלולים נגישים בסביבה • קישור לקבוצות תמיכה וחברה מקומיות עוזר אישי וירטואלי </a:t>
            </a:r>
            <a:r>
              <a:rPr lang="en-US" sz="2800" dirty="0"/>
              <a:t>AGI: • </a:t>
            </a:r>
            <a:r>
              <a:rPr lang="he-IL" sz="2800" dirty="0"/>
              <a:t>מעקב אחר לוח זמנים ותזכורות חשובות • סיוע בניהול תקציב והוצאות • מתן מידע מותאם אישית על זכויות ושירותים נכנסת לפורטל הזקנה הלאומי: • גישה למידע מקיף על שירותים ותוכניות • אפשרות להגשת בקשות ומילוי טפסים באופן מקוון • פורומים ומרחבי שיתוף עם אזרחים ותיקים אחרים איתור ומיצוי זכויות פרו-אקטיבי: • סריקה אוטומטית של זכאויות חדשות • הודעות יזומות על שינויים בזכאויות • סיוע בהגשת בקשות למימוש זכויות</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31044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57244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35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29995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19/11/2024</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452696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924783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893031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5171991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4580484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732772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5407983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127413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7303478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1021769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17336006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272097606"/>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841568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9529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83297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65806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92339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52882998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899258591"/>
      </p:ext>
    </p:extLst>
  </p:cSld>
  <p:clrMapOvr>
    <a:masterClrMapping/>
  </p:clrMapOvr>
  <p:transition spd="slow">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414653328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569586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75608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י"ח/חשון/תשפ"ה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5265471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292032"/>
      </p:ext>
    </p:extLst>
  </p:cSld>
  <p:clrMapOvr>
    <a:masterClrMapping/>
  </p:clrMapOvr>
  <p:transition>
    <p:fade/>
  </p:transition>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8883673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771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theme" Target="../theme/theme3.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19/11/2024</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י"ח/חשון/תשפ"ה</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4702540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11/19/2024</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824831"/>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4.xml"/><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4.xml"/><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22.png"/><Relationship Id="rId2" Type="http://schemas.openxmlformats.org/officeDocument/2006/relationships/notesSlide" Target="../notesSlides/notesSlide6.xml"/><Relationship Id="rId16" Type="http://schemas.openxmlformats.org/officeDocument/2006/relationships/image" Target="../media/image21.png"/><Relationship Id="rId1" Type="http://schemas.openxmlformats.org/officeDocument/2006/relationships/slideLayout" Target="../slideLayouts/slideLayout5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2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6.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54.xml"/><Relationship Id="rId6" Type="http://schemas.openxmlformats.org/officeDocument/2006/relationships/image" Target="../media/image20.png"/><Relationship Id="rId5" Type="http://schemas.openxmlformats.org/officeDocument/2006/relationships/image" Target="../media/image49.png"/><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1.png"/><Relationship Id="rId1" Type="http://schemas.openxmlformats.org/officeDocument/2006/relationships/slideLayout" Target="../slideLayouts/slideLayout54.xml"/><Relationship Id="rId5" Type="http://schemas.openxmlformats.org/officeDocument/2006/relationships/image" Target="../media/image52.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60.xml"/><Relationship Id="rId5" Type="http://schemas.openxmlformats.org/officeDocument/2006/relationships/image" Target="../media/image33.png"/><Relationship Id="rId4" Type="http://schemas.openxmlformats.org/officeDocument/2006/relationships/image" Target="../media/image54.svg"/></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5.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62.png"/><Relationship Id="rId4" Type="http://schemas.openxmlformats.org/officeDocument/2006/relationships/image" Target="../media/image61.svg"/></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3" Type="http://schemas.openxmlformats.org/officeDocument/2006/relationships/image" Target="../media/image19.png"/><Relationship Id="rId7" Type="http://schemas.openxmlformats.org/officeDocument/2006/relationships/image" Target="../media/image70.svg"/><Relationship Id="rId12" Type="http://schemas.openxmlformats.org/officeDocument/2006/relationships/image" Target="../media/image75.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9.png"/><Relationship Id="rId11" Type="http://schemas.openxmlformats.org/officeDocument/2006/relationships/image" Target="../media/image74.svg"/><Relationship Id="rId5" Type="http://schemas.openxmlformats.org/officeDocument/2006/relationships/image" Target="../media/image68.sv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 Id="rId14" Type="http://schemas.openxmlformats.org/officeDocument/2006/relationships/image" Target="../media/image65.png"/></Relationships>
</file>

<file path=ppt/slides/_rels/slide23.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svg"/><Relationship Id="rId3" Type="http://schemas.openxmlformats.org/officeDocument/2006/relationships/image" Target="../media/image19.png"/><Relationship Id="rId7" Type="http://schemas.openxmlformats.org/officeDocument/2006/relationships/image" Target="../media/image80.svg"/><Relationship Id="rId12" Type="http://schemas.openxmlformats.org/officeDocument/2006/relationships/image" Target="../media/image85.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image" Target="../media/image84.svg"/><Relationship Id="rId5" Type="http://schemas.openxmlformats.org/officeDocument/2006/relationships/image" Target="../media/image78.svg"/><Relationship Id="rId10" Type="http://schemas.openxmlformats.org/officeDocument/2006/relationships/image" Target="../media/image83.png"/><Relationship Id="rId4" Type="http://schemas.openxmlformats.org/officeDocument/2006/relationships/image" Target="../media/image77.png"/><Relationship Id="rId9" Type="http://schemas.openxmlformats.org/officeDocument/2006/relationships/image" Target="../media/image82.svg"/><Relationship Id="rId14" Type="http://schemas.openxmlformats.org/officeDocument/2006/relationships/image" Target="../media/image65.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65.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33.png"/><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notesSlide" Target="../notesSlides/notesSlide17.xml"/><Relationship Id="rId1" Type="http://schemas.openxmlformats.org/officeDocument/2006/relationships/slideLayout" Target="../slideLayouts/slideLayout30.xml"/><Relationship Id="rId4" Type="http://schemas.openxmlformats.org/officeDocument/2006/relationships/image" Target="../media/image95.jpg"/></Relationships>
</file>

<file path=ppt/slides/_rels/slide31.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8.xml"/><Relationship Id="rId1" Type="http://schemas.openxmlformats.org/officeDocument/2006/relationships/slideLayout" Target="../slideLayouts/slideLayout29.xml"/><Relationship Id="rId5" Type="http://schemas.openxmlformats.org/officeDocument/2006/relationships/image" Target="../media/image98.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9.xml"/><Relationship Id="rId1" Type="http://schemas.openxmlformats.org/officeDocument/2006/relationships/slideLayout" Target="../slideLayouts/slideLayout30.xml"/><Relationship Id="rId4" Type="http://schemas.openxmlformats.org/officeDocument/2006/relationships/image" Target="../media/image100.png"/></Relationships>
</file>

<file path=ppt/slides/_rels/slide3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10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061903" y="3246795"/>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סדנת עיצוב שירות</a:t>
            </a:r>
          </a:p>
          <a:p>
            <a:pPr marL="0" marR="0" lvl="0" indent="0" algn="ctr" defTabSz="914400" rtl="1" eaLnBrk="1" fontAlgn="auto" latinLnBrk="0" hangingPunct="1">
              <a:lnSpc>
                <a:spcPct val="100000"/>
              </a:lnSpc>
              <a:spcBef>
                <a:spcPts val="0"/>
              </a:spcBef>
              <a:spcAft>
                <a:spcPts val="0"/>
              </a:spcAft>
              <a:buClrTx/>
              <a:buSzTx/>
              <a:buFontTx/>
              <a:buNone/>
              <a:tabLst/>
              <a:defRPr/>
            </a:pPr>
            <a:r>
              <a:rPr lang="he-IL" sz="3900" b="1" dirty="0">
                <a:solidFill>
                  <a:srgbClr val="3E6BB4"/>
                </a:solidFill>
                <a:latin typeface="Assistant" pitchFamily="2" charset="-79"/>
                <a:cs typeface="Assistant" pitchFamily="2" charset="-79"/>
              </a:rPr>
              <a:t>סל מותאם אישית</a:t>
            </a:r>
            <a:endPar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73476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920352" y="3844680"/>
            <a:ext cx="1274325" cy="1263785"/>
          </a:xfrm>
          <a:prstGeom prst="ellipse">
            <a:avLst/>
          </a:prstGeom>
          <a:ln w="19050">
            <a:solidFill>
              <a:srgbClr val="0000FF"/>
            </a:solidFill>
            <a:prstDash val="sysDash"/>
          </a:ln>
        </p:spPr>
        <p:style>
          <a:lnRef idx="2">
            <a:schemeClr val="dk1"/>
          </a:lnRef>
          <a:fillRef idx="1">
            <a:schemeClr val="lt1"/>
          </a:fillRef>
          <a:effectRef idx="0">
            <a:schemeClr val="dk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3" name="אליפסה 2"/>
          <p:cNvSpPr/>
          <p:nvPr/>
        </p:nvSpPr>
        <p:spPr>
          <a:xfrm>
            <a:off x="10574448" y="1819373"/>
            <a:ext cx="1548422" cy="2254687"/>
          </a:xfrm>
          <a:prstGeom prst="ellipse">
            <a:avLst/>
          </a:prstGeom>
          <a:ln>
            <a:solidFill>
              <a:srgbClr val="0000FF"/>
            </a:solidFill>
            <a:prstDash val="sysDash"/>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nvGraphicFramePr>
        <p:xfrm>
          <a:off x="1116019" y="1859210"/>
          <a:ext cx="4984894" cy="3752605"/>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7426065" y="5414584"/>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ירחון סטטיסטי, ביטוח לאומי, אוקטובר</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572792" y="5457926"/>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dirty="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dirty="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70C0"/>
                </a:solidFill>
                <a:effectLst/>
                <a:uLnTx/>
                <a:uFillTx/>
                <a:latin typeface="Calibri" panose="020F0502020204030204" pitchFamily="34" charset="0"/>
                <a:ea typeface="+mn-ea"/>
                <a:cs typeface="Calibri" panose="020F0502020204030204" pitchFamily="34" charset="0"/>
              </a:rPr>
              <a:t>האתגר בסיעוד 2024</a:t>
            </a:r>
            <a:endParaRPr kumimoji="0" lang="he-IL" sz="32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cxnSp>
        <p:nvCxnSpPr>
          <p:cNvPr id="5" name="מחבר חץ ישר 4">
            <a:extLst>
              <a:ext uri="{FF2B5EF4-FFF2-40B4-BE49-F238E27FC236}">
                <a16:creationId xmlns:a16="http://schemas.microsoft.com/office/drawing/2014/main" id="{EE893103-C970-3E47-DB9E-429F03BFFA41}"/>
              </a:ext>
            </a:extLst>
          </p:cNvPr>
          <p:cNvCxnSpPr/>
          <p:nvPr/>
        </p:nvCxnSpPr>
        <p:spPr>
          <a:xfrm flipV="1">
            <a:off x="11515379" y="1428889"/>
            <a:ext cx="318976" cy="8606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מחבר חץ ישר 5">
            <a:extLst>
              <a:ext uri="{FF2B5EF4-FFF2-40B4-BE49-F238E27FC236}">
                <a16:creationId xmlns:a16="http://schemas.microsoft.com/office/drawing/2014/main" id="{8F7A5E9C-AA30-328A-CAB6-4B54BB937DB0}"/>
              </a:ext>
            </a:extLst>
          </p:cNvPr>
          <p:cNvCxnSpPr>
            <a:cxnSpLocks/>
          </p:cNvCxnSpPr>
          <p:nvPr/>
        </p:nvCxnSpPr>
        <p:spPr>
          <a:xfrm flipV="1">
            <a:off x="5832068" y="4074060"/>
            <a:ext cx="403773" cy="3448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4">
            <a:extLst>
              <a:ext uri="{FF2B5EF4-FFF2-40B4-BE49-F238E27FC236}">
                <a16:creationId xmlns:a16="http://schemas.microsoft.com/office/drawing/2014/main" id="{82219C1B-3739-A080-BD87-9CCE3BF9B0A5}"/>
              </a:ext>
            </a:extLst>
          </p:cNvPr>
          <p:cNvSpPr txBox="1"/>
          <p:nvPr/>
        </p:nvSpPr>
        <p:spPr>
          <a:xfrm rot="16200000">
            <a:off x="-544190" y="724559"/>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1898499227"/>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3271685" y="362535"/>
            <a:ext cx="5674950" cy="46166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a:ea typeface="+mn-ea"/>
                <a:cs typeface="Calibri"/>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תיבת טקסט 6">
            <a:extLst>
              <a:ext uri="{FF2B5EF4-FFF2-40B4-BE49-F238E27FC236}">
                <a16:creationId xmlns:a16="http://schemas.microsoft.com/office/drawing/2014/main" id="{443B8AC8-0D01-3B4C-448C-1F7EF0AD8A75}"/>
              </a:ext>
            </a:extLst>
          </p:cNvPr>
          <p:cNvSpPr txBox="1"/>
          <p:nvPr/>
        </p:nvSpPr>
        <p:spPr>
          <a:xfrm>
            <a:off x="5964583" y="371374"/>
            <a:ext cx="5303482" cy="52322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a:ea typeface="+mn-ea"/>
                <a:cs typeface="Calibri"/>
              </a:rPr>
              <a:t>ההשלכות והמשבר בסיעוד:</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8761904" y="362535"/>
            <a:ext cx="184731" cy="46166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2400" b="1" i="0" u="none" strike="noStrike" kern="1200" cap="none" spc="0" normalizeH="0" baseline="0" noProof="0" dirty="0">
              <a:ln>
                <a:noFill/>
              </a:ln>
              <a:solidFill>
                <a:prstClr val="black"/>
              </a:solidFill>
              <a:effectLst/>
              <a:uLnTx/>
              <a:uFillTx/>
              <a:latin typeface="Calibri"/>
              <a:ea typeface="+mn-ea"/>
              <a:cs typeface="Calibri"/>
            </a:endParaRPr>
          </a:p>
        </p:txBody>
      </p:sp>
      <p:pic>
        <p:nvPicPr>
          <p:cNvPr id="9" name="תמונה 8">
            <a:extLst>
              <a:ext uri="{FF2B5EF4-FFF2-40B4-BE49-F238E27FC236}">
                <a16:creationId xmlns:a16="http://schemas.microsoft.com/office/drawing/2014/main" id="{6A75C04C-C1E3-C38D-8EF1-452AE6E225C8}"/>
              </a:ext>
            </a:extLst>
          </p:cNvPr>
          <p:cNvPicPr>
            <a:picLocks noChangeAspect="1"/>
          </p:cNvPicPr>
          <p:nvPr/>
        </p:nvPicPr>
        <p:blipFill>
          <a:blip r:embed="rId3"/>
          <a:stretch>
            <a:fillRect/>
          </a:stretch>
        </p:blipFill>
        <p:spPr>
          <a:xfrm>
            <a:off x="7557080" y="2779725"/>
            <a:ext cx="3710985" cy="16405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6" name="קבוצה 15">
            <a:extLst>
              <a:ext uri="{FF2B5EF4-FFF2-40B4-BE49-F238E27FC236}">
                <a16:creationId xmlns:a16="http://schemas.microsoft.com/office/drawing/2014/main" id="{831C9107-37E4-0695-1F69-CDB251DBA90B}"/>
              </a:ext>
            </a:extLst>
          </p:cNvPr>
          <p:cNvGrpSpPr/>
          <p:nvPr/>
        </p:nvGrpSpPr>
        <p:grpSpPr>
          <a:xfrm>
            <a:off x="6439616" y="4952415"/>
            <a:ext cx="4828449" cy="1543050"/>
            <a:chOff x="678390" y="4414047"/>
            <a:chExt cx="6102798" cy="2081418"/>
          </a:xfrm>
        </p:grpSpPr>
        <p:pic>
          <p:nvPicPr>
            <p:cNvPr id="14" name="תמונה 13">
              <a:extLst>
                <a:ext uri="{FF2B5EF4-FFF2-40B4-BE49-F238E27FC236}">
                  <a16:creationId xmlns:a16="http://schemas.microsoft.com/office/drawing/2014/main" id="{9E757220-BCCD-633C-39F8-1B1F28DD4F08}"/>
                </a:ext>
              </a:extLst>
            </p:cNvPr>
            <p:cNvPicPr>
              <a:picLocks noChangeAspect="1"/>
            </p:cNvPicPr>
            <p:nvPr/>
          </p:nvPicPr>
          <p:blipFill>
            <a:blip r:embed="rId4"/>
            <a:stretch>
              <a:fillRect/>
            </a:stretch>
          </p:blipFill>
          <p:spPr>
            <a:xfrm>
              <a:off x="678390" y="4414047"/>
              <a:ext cx="6102798" cy="20814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5" name="מלבן 14">
              <a:extLst>
                <a:ext uri="{FF2B5EF4-FFF2-40B4-BE49-F238E27FC236}">
                  <a16:creationId xmlns:a16="http://schemas.microsoft.com/office/drawing/2014/main" id="{F574DF96-36F7-8451-852E-178E8F364E73}"/>
                </a:ext>
              </a:extLst>
            </p:cNvPr>
            <p:cNvSpPr/>
            <p:nvPr/>
          </p:nvSpPr>
          <p:spPr>
            <a:xfrm>
              <a:off x="678390" y="5657850"/>
              <a:ext cx="2162175" cy="82867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pic>
        <p:nvPicPr>
          <p:cNvPr id="24" name="תמונה 23">
            <a:extLst>
              <a:ext uri="{FF2B5EF4-FFF2-40B4-BE49-F238E27FC236}">
                <a16:creationId xmlns:a16="http://schemas.microsoft.com/office/drawing/2014/main" id="{70E773B1-3679-1E8C-F6A8-EF8C6A74C0E8}"/>
              </a:ext>
            </a:extLst>
          </p:cNvPr>
          <p:cNvPicPr>
            <a:picLocks noChangeAspect="1"/>
          </p:cNvPicPr>
          <p:nvPr/>
        </p:nvPicPr>
        <p:blipFill>
          <a:blip r:embed="rId5"/>
          <a:srcRect l="1835" t="1250" r="1939" b="1666"/>
          <a:stretch/>
        </p:blipFill>
        <p:spPr>
          <a:xfrm>
            <a:off x="1112565" y="880495"/>
            <a:ext cx="4501341" cy="56149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3" name="קבוצה 12">
            <a:extLst>
              <a:ext uri="{FF2B5EF4-FFF2-40B4-BE49-F238E27FC236}">
                <a16:creationId xmlns:a16="http://schemas.microsoft.com/office/drawing/2014/main" id="{D6FD1EE2-072A-471B-0E4C-31B92BDAEC45}"/>
              </a:ext>
            </a:extLst>
          </p:cNvPr>
          <p:cNvGrpSpPr/>
          <p:nvPr/>
        </p:nvGrpSpPr>
        <p:grpSpPr>
          <a:xfrm>
            <a:off x="7182063" y="1209343"/>
            <a:ext cx="4086003" cy="1038275"/>
            <a:chOff x="1509929" y="3990093"/>
            <a:chExt cx="4133816" cy="1338243"/>
          </a:xfrm>
        </p:grpSpPr>
        <p:pic>
          <p:nvPicPr>
            <p:cNvPr id="18" name="תמונה 17">
              <a:extLst>
                <a:ext uri="{FF2B5EF4-FFF2-40B4-BE49-F238E27FC236}">
                  <a16:creationId xmlns:a16="http://schemas.microsoft.com/office/drawing/2014/main" id="{A919B19F-485B-5C13-E766-E4088CF7C5B4}"/>
                </a:ext>
              </a:extLst>
            </p:cNvPr>
            <p:cNvPicPr>
              <a:picLocks noChangeAspect="1"/>
            </p:cNvPicPr>
            <p:nvPr/>
          </p:nvPicPr>
          <p:blipFill>
            <a:blip r:embed="rId6"/>
            <a:srcRect l="16248" t="92269"/>
            <a:stretch/>
          </p:blipFill>
          <p:spPr>
            <a:xfrm>
              <a:off x="1509929" y="5128296"/>
              <a:ext cx="4133816" cy="200040"/>
            </a:xfrm>
            <a:prstGeom prst="rect">
              <a:avLst/>
            </a:prstGeom>
            <a:ln w="38100" cap="sq">
              <a:noFill/>
              <a:prstDash val="solid"/>
              <a:miter lim="800000"/>
            </a:ln>
            <a:effectLst/>
          </p:spPr>
        </p:pic>
        <p:pic>
          <p:nvPicPr>
            <p:cNvPr id="6" name="תמונה 5">
              <a:extLst>
                <a:ext uri="{FF2B5EF4-FFF2-40B4-BE49-F238E27FC236}">
                  <a16:creationId xmlns:a16="http://schemas.microsoft.com/office/drawing/2014/main" id="{E9F39D5A-98C7-E8C3-F4A4-56B7FDD30500}"/>
                </a:ext>
              </a:extLst>
            </p:cNvPr>
            <p:cNvPicPr>
              <a:picLocks noChangeAspect="1"/>
            </p:cNvPicPr>
            <p:nvPr/>
          </p:nvPicPr>
          <p:blipFill>
            <a:blip r:embed="rId6"/>
            <a:srcRect l="16248" b="56011"/>
            <a:stretch/>
          </p:blipFill>
          <p:spPr>
            <a:xfrm>
              <a:off x="1509929" y="3990093"/>
              <a:ext cx="4133815" cy="1138203"/>
            </a:xfrm>
            <a:prstGeom prst="rect">
              <a:avLst/>
            </a:prstGeom>
            <a:ln w="38100" cap="sq">
              <a:noFill/>
              <a:prstDash val="solid"/>
              <a:miter lim="800000"/>
            </a:ln>
            <a:effectLst/>
          </p:spPr>
        </p:pic>
      </p:grpSp>
      <p:sp>
        <p:nvSpPr>
          <p:cNvPr id="17" name="TextBox 14">
            <a:extLst>
              <a:ext uri="{FF2B5EF4-FFF2-40B4-BE49-F238E27FC236}">
                <a16:creationId xmlns:a16="http://schemas.microsoft.com/office/drawing/2014/main" id="{FB306515-BD4C-959F-39D7-E0B4D36A9116}"/>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71252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9" name="תמונה 8"/>
          <p:cNvPicPr>
            <a:picLocks noChangeAspect="1"/>
          </p:cNvPicPr>
          <p:nvPr/>
        </p:nvPicPr>
        <p:blipFill>
          <a:blip r:embed="rId3"/>
          <a:stretch>
            <a:fillRect/>
          </a:stretch>
        </p:blipFill>
        <p:spPr>
          <a:xfrm>
            <a:off x="2064374" y="1166129"/>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רקע </a:t>
            </a:r>
            <a:r>
              <a:rPr kumimoji="0" lang="he-IL" sz="1600" b="1" i="0" u="none" strike="noStrike" kern="1200" cap="none" spc="0" normalizeH="0" baseline="0" noProof="0" dirty="0" err="1">
                <a:ln>
                  <a:noFill/>
                </a:ln>
                <a:solidFill>
                  <a:prstClr val="white"/>
                </a:solidFill>
                <a:effectLst/>
                <a:uLnTx/>
                <a:uFillTx/>
                <a:latin typeface="Calibri" panose="020F0502020204030204"/>
                <a:ea typeface="+mn-ea"/>
                <a:cs typeface="Calibri"/>
              </a:rPr>
              <a:t>ןתמונת</a:t>
            </a:r>
            <a:r>
              <a:rPr kumimoji="0" lang="he-IL" sz="1600" b="1" i="0" u="none" strike="noStrike" kern="1200" cap="none" spc="0" normalizeH="0" baseline="0" noProof="0" dirty="0">
                <a:ln>
                  <a:noFill/>
                </a:ln>
                <a:solidFill>
                  <a:prstClr val="white"/>
                </a:solidFill>
                <a:effectLst/>
                <a:uLnTx/>
                <a:uFillTx/>
                <a:latin typeface="Calibri" panose="020F0502020204030204"/>
                <a:ea typeface="+mn-ea"/>
                <a:cs typeface="Calibri"/>
              </a:rPr>
              <a:t> מצב</a:t>
            </a:r>
          </a:p>
        </p:txBody>
      </p:sp>
    </p:spTree>
    <p:extLst>
      <p:ext uri="{BB962C8B-B14F-4D97-AF65-F5344CB8AC3E}">
        <p14:creationId xmlns:p14="http://schemas.microsoft.com/office/powerpoint/2010/main" val="20910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97066" y="167702"/>
            <a:ext cx="5871983" cy="606384"/>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אתגרים</a:t>
            </a: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latin typeface="Rubik" pitchFamily="2" charset="-79"/>
              <a:ea typeface="+mn-ea"/>
              <a:cs typeface="Rubik" pitchFamily="2" charset="-79"/>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האתגרים המרכזיים: </a:t>
            </a:r>
            <a:endPar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35323" y="3419619"/>
            <a:ext cx="894797" cy="369332"/>
          </a:xfrm>
          <a:prstGeom prst="rect">
            <a:avLst/>
          </a:prstGeom>
          <a:noFill/>
        </p:spPr>
        <p:txBody>
          <a:bodyPr wrap="none" rtlCol="1">
            <a:spAutoFit/>
          </a:bodyPr>
          <a:lstStyle/>
          <a:p>
            <a:r>
              <a:rPr lang="he-IL" dirty="0"/>
              <a:t>סל אישי</a:t>
            </a:r>
          </a:p>
        </p:txBody>
      </p:sp>
    </p:spTree>
    <p:extLst>
      <p:ext uri="{BB962C8B-B14F-4D97-AF65-F5344CB8AC3E}">
        <p14:creationId xmlns:p14="http://schemas.microsoft.com/office/powerpoint/2010/main" val="48041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7150608" y="3283673"/>
            <a:ext cx="4400217" cy="109273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ברק בגישה </a:t>
            </a:r>
          </a:p>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צופה פני עתיד</a:t>
            </a:r>
            <a:endPar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7" name="Picture 6">
            <a:extLst>
              <a:ext uri="{FF2B5EF4-FFF2-40B4-BE49-F238E27FC236}">
                <a16:creationId xmlns:a16="http://schemas.microsoft.com/office/drawing/2014/main" id="{6CD4C552-3967-9B4B-B90F-C6B0E312B319}"/>
              </a:ext>
            </a:extLst>
          </p:cNvPr>
          <p:cNvPicPr>
            <a:picLocks noChangeAspect="1"/>
          </p:cNvPicPr>
          <p:nvPr/>
        </p:nvPicPr>
        <p:blipFill>
          <a:blip r:embed="rId3"/>
          <a:stretch>
            <a:fillRect/>
          </a:stretch>
        </p:blipFill>
        <p:spPr>
          <a:xfrm>
            <a:off x="2276856" y="3357796"/>
            <a:ext cx="4232577" cy="210903"/>
          </a:xfrm>
          <a:prstGeom prst="rect">
            <a:avLst/>
          </a:prstGeom>
        </p:spPr>
      </p:pic>
      <p:sp>
        <p:nvSpPr>
          <p:cNvPr id="9" name="TextBox 8">
            <a:extLst>
              <a:ext uri="{FF2B5EF4-FFF2-40B4-BE49-F238E27FC236}">
                <a16:creationId xmlns:a16="http://schemas.microsoft.com/office/drawing/2014/main" id="{43E00941-94AB-A24F-B7ED-5C3731404897}"/>
              </a:ext>
            </a:extLst>
          </p:cNvPr>
          <p:cNvSpPr txBox="1"/>
          <p:nvPr/>
        </p:nvSpPr>
        <p:spPr>
          <a:xfrm>
            <a:off x="7297955" y="4414985"/>
            <a:ext cx="4268138"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הפורום כ</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תשתית אסטרטגית</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לעבודה רב מערכתית  שתוביל ל</a:t>
            </a: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היערכות משותפת להזדקנות מיטבית של האוכלוסייה בישראל </a:t>
            </a:r>
            <a:endParaRPr kumimoji="0" lang="en-US"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9E0A9E3-5301-5C45-9BD1-965498D82BBA}"/>
              </a:ext>
            </a:extLst>
          </p:cNvPr>
          <p:cNvSpPr txBox="1"/>
          <p:nvPr/>
        </p:nvSpPr>
        <p:spPr>
          <a:xfrm>
            <a:off x="1229193" y="3875716"/>
            <a:ext cx="5165155" cy="1913985"/>
          </a:xfrm>
          <a:prstGeom prst="rect">
            <a:avLst/>
          </a:prstGeom>
          <a:noFill/>
        </p:spPr>
        <p:txBody>
          <a:bodyPr wrap="square" rtlCol="0">
            <a:spAutoFit/>
          </a:bodyPr>
          <a:lstStyle/>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תמונת מצב, אתגרים והמלצות </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אסטרטגית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ניירות מדיניות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משותפים על נושאי מפתח</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תכנית עבודה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שנתית משותפת</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הובלת מהלכים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רב מערכתיים למענה לאתגרים</a:t>
            </a:r>
          </a:p>
          <a:p>
            <a:pPr marL="0" marR="0" lvl="0" indent="0" algn="r" defTabSz="914400" rtl="1" eaLnBrk="1" fontAlgn="auto" latinLnBrk="0" hangingPunct="1">
              <a:lnSpc>
                <a:spcPts val="24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חיבור בין המערכות </a:t>
            </a:r>
            <a:r>
              <a:rPr kumimoji="0" lang="he-IL" sz="16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שמביא לשיפור המענה והשירותים לאזרח</a:t>
            </a:r>
          </a:p>
        </p:txBody>
      </p:sp>
      <p:pic>
        <p:nvPicPr>
          <p:cNvPr id="23" name="Picture 22">
            <a:extLst>
              <a:ext uri="{FF2B5EF4-FFF2-40B4-BE49-F238E27FC236}">
                <a16:creationId xmlns:a16="http://schemas.microsoft.com/office/drawing/2014/main" id="{B2199669-4517-AD46-A790-E6356CC98178}"/>
              </a:ext>
            </a:extLst>
          </p:cNvPr>
          <p:cNvPicPr>
            <a:picLocks noChangeAspect="1"/>
          </p:cNvPicPr>
          <p:nvPr/>
        </p:nvPicPr>
        <p:blipFill>
          <a:blip r:embed="rId3"/>
          <a:stretch>
            <a:fillRect/>
          </a:stretch>
        </p:blipFill>
        <p:spPr>
          <a:xfrm>
            <a:off x="4302177" y="3622972"/>
            <a:ext cx="2207256" cy="210903"/>
          </a:xfrm>
          <a:prstGeom prst="rect">
            <a:avLst/>
          </a:prstGeom>
        </p:spPr>
      </p:pic>
      <p:sp>
        <p:nvSpPr>
          <p:cNvPr id="8" name="TextBox 7">
            <a:extLst>
              <a:ext uri="{FF2B5EF4-FFF2-40B4-BE49-F238E27FC236}">
                <a16:creationId xmlns:a16="http://schemas.microsoft.com/office/drawing/2014/main" id="{6A485C0B-5271-194F-8D26-7A55D03AB6B9}"/>
              </a:ext>
            </a:extLst>
          </p:cNvPr>
          <p:cNvSpPr txBox="1"/>
          <p:nvPr/>
        </p:nvSpPr>
        <p:spPr>
          <a:xfrm>
            <a:off x="-2572785" y="3271968"/>
            <a:ext cx="9153144" cy="639727"/>
          </a:xfrm>
          <a:prstGeom prst="rect">
            <a:avLst/>
          </a:prstGeom>
          <a:noFill/>
        </p:spPr>
        <p:txBody>
          <a:bodyPr wrap="square" rtlCol="0">
            <a:spAutoFit/>
          </a:bodyPr>
          <a:lstStyle/>
          <a:p>
            <a:pPr marL="0" marR="0" lvl="0" indent="0" algn="r" defTabSz="914400" rtl="1" eaLnBrk="1" fontAlgn="auto" latinLnBrk="0" hangingPunct="1">
              <a:lnSpc>
                <a:spcPts val="216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במסגרת זו צוותי הפעולה של הפורום יהיו שותפים </a:t>
            </a:r>
            <a:br>
              <a:rPr kumimoji="0" lang="en-US"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br>
            <a:r>
              <a:rPr kumimoji="0" lang="he-IL" sz="16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ומעורבים בתכנון וגיבוש:</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427035B-152B-6C41-97E2-62C7C44969E1}"/>
              </a:ext>
            </a:extLst>
          </p:cNvPr>
          <p:cNvPicPr>
            <a:picLocks noChangeAspect="1"/>
          </p:cNvPicPr>
          <p:nvPr/>
        </p:nvPicPr>
        <p:blipFill>
          <a:blip r:embed="rId4"/>
          <a:stretch>
            <a:fillRect/>
          </a:stretch>
        </p:blipFill>
        <p:spPr>
          <a:xfrm>
            <a:off x="6334977" y="3991568"/>
            <a:ext cx="179481" cy="179481"/>
          </a:xfrm>
          <a:prstGeom prst="rect">
            <a:avLst/>
          </a:prstGeom>
        </p:spPr>
      </p:pic>
      <p:pic>
        <p:nvPicPr>
          <p:cNvPr id="27" name="Picture 26">
            <a:extLst>
              <a:ext uri="{FF2B5EF4-FFF2-40B4-BE49-F238E27FC236}">
                <a16:creationId xmlns:a16="http://schemas.microsoft.com/office/drawing/2014/main" id="{B732BAC8-6C32-7442-B3E9-CBB1E1F2E6EE}"/>
              </a:ext>
            </a:extLst>
          </p:cNvPr>
          <p:cNvPicPr>
            <a:picLocks noChangeAspect="1"/>
          </p:cNvPicPr>
          <p:nvPr/>
        </p:nvPicPr>
        <p:blipFill>
          <a:blip r:embed="rId4"/>
          <a:stretch>
            <a:fillRect/>
          </a:stretch>
        </p:blipFill>
        <p:spPr>
          <a:xfrm>
            <a:off x="6334977" y="4293018"/>
            <a:ext cx="179481" cy="179481"/>
          </a:xfrm>
          <a:prstGeom prst="rect">
            <a:avLst/>
          </a:prstGeom>
        </p:spPr>
      </p:pic>
      <p:pic>
        <p:nvPicPr>
          <p:cNvPr id="32" name="Picture 31">
            <a:extLst>
              <a:ext uri="{FF2B5EF4-FFF2-40B4-BE49-F238E27FC236}">
                <a16:creationId xmlns:a16="http://schemas.microsoft.com/office/drawing/2014/main" id="{C4C7AAD0-31AC-C042-A60F-475BB2A4E26B}"/>
              </a:ext>
            </a:extLst>
          </p:cNvPr>
          <p:cNvPicPr>
            <a:picLocks noChangeAspect="1"/>
          </p:cNvPicPr>
          <p:nvPr/>
        </p:nvPicPr>
        <p:blipFill>
          <a:blip r:embed="rId4"/>
          <a:stretch>
            <a:fillRect/>
          </a:stretch>
        </p:blipFill>
        <p:spPr>
          <a:xfrm>
            <a:off x="6334977" y="4609542"/>
            <a:ext cx="179481" cy="179481"/>
          </a:xfrm>
          <a:prstGeom prst="rect">
            <a:avLst/>
          </a:prstGeom>
        </p:spPr>
      </p:pic>
      <p:pic>
        <p:nvPicPr>
          <p:cNvPr id="34" name="Picture 33">
            <a:extLst>
              <a:ext uri="{FF2B5EF4-FFF2-40B4-BE49-F238E27FC236}">
                <a16:creationId xmlns:a16="http://schemas.microsoft.com/office/drawing/2014/main" id="{DE6F33E1-3E25-F448-B7D3-FC12F8B61BF4}"/>
              </a:ext>
            </a:extLst>
          </p:cNvPr>
          <p:cNvPicPr>
            <a:picLocks noChangeAspect="1"/>
          </p:cNvPicPr>
          <p:nvPr/>
        </p:nvPicPr>
        <p:blipFill>
          <a:blip r:embed="rId4"/>
          <a:stretch>
            <a:fillRect/>
          </a:stretch>
        </p:blipFill>
        <p:spPr>
          <a:xfrm>
            <a:off x="6334977" y="4910992"/>
            <a:ext cx="179481" cy="179481"/>
          </a:xfrm>
          <a:prstGeom prst="rect">
            <a:avLst/>
          </a:prstGeom>
        </p:spPr>
      </p:pic>
      <p:pic>
        <p:nvPicPr>
          <p:cNvPr id="35" name="Picture 34">
            <a:extLst>
              <a:ext uri="{FF2B5EF4-FFF2-40B4-BE49-F238E27FC236}">
                <a16:creationId xmlns:a16="http://schemas.microsoft.com/office/drawing/2014/main" id="{FDD40669-0663-6642-BE11-14D02192EB62}"/>
              </a:ext>
            </a:extLst>
          </p:cNvPr>
          <p:cNvPicPr>
            <a:picLocks noChangeAspect="1"/>
          </p:cNvPicPr>
          <p:nvPr/>
        </p:nvPicPr>
        <p:blipFill>
          <a:blip r:embed="rId4"/>
          <a:stretch>
            <a:fillRect/>
          </a:stretch>
        </p:blipFill>
        <p:spPr>
          <a:xfrm>
            <a:off x="6334977" y="5217467"/>
            <a:ext cx="179481" cy="179481"/>
          </a:xfrm>
          <a:prstGeom prst="rect">
            <a:avLst/>
          </a:prstGeom>
        </p:spPr>
      </p:pic>
      <p:pic>
        <p:nvPicPr>
          <p:cNvPr id="36" name="Picture 35">
            <a:extLst>
              <a:ext uri="{FF2B5EF4-FFF2-40B4-BE49-F238E27FC236}">
                <a16:creationId xmlns:a16="http://schemas.microsoft.com/office/drawing/2014/main" id="{A5A59733-B515-174F-96A1-FB3CCEAECAE1}"/>
              </a:ext>
            </a:extLst>
          </p:cNvPr>
          <p:cNvPicPr>
            <a:picLocks noChangeAspect="1"/>
          </p:cNvPicPr>
          <p:nvPr/>
        </p:nvPicPr>
        <p:blipFill>
          <a:blip r:embed="rId4"/>
          <a:stretch>
            <a:fillRect/>
          </a:stretch>
        </p:blipFill>
        <p:spPr>
          <a:xfrm>
            <a:off x="6334977" y="5518917"/>
            <a:ext cx="179481" cy="179481"/>
          </a:xfrm>
          <a:prstGeom prst="rect">
            <a:avLst/>
          </a:prstGeom>
        </p:spPr>
      </p:pic>
      <p:pic>
        <p:nvPicPr>
          <p:cNvPr id="13" name="Picture 12">
            <a:extLst>
              <a:ext uri="{FF2B5EF4-FFF2-40B4-BE49-F238E27FC236}">
                <a16:creationId xmlns:a16="http://schemas.microsoft.com/office/drawing/2014/main" id="{FA30683F-3F11-6C41-9FC7-C87E0A284AD2}"/>
              </a:ext>
            </a:extLst>
          </p:cNvPr>
          <p:cNvPicPr>
            <a:picLocks noChangeAspect="1"/>
          </p:cNvPicPr>
          <p:nvPr/>
        </p:nvPicPr>
        <p:blipFill>
          <a:blip r:embed="rId5"/>
          <a:stretch>
            <a:fillRect/>
          </a:stretch>
        </p:blipFill>
        <p:spPr>
          <a:xfrm>
            <a:off x="-35560" y="-120670"/>
            <a:ext cx="12263120" cy="3151204"/>
          </a:xfrm>
          <a:prstGeom prst="rect">
            <a:avLst/>
          </a:prstGeom>
        </p:spPr>
      </p:pic>
    </p:spTree>
    <p:extLst>
      <p:ext uri="{BB962C8B-B14F-4D97-AF65-F5344CB8AC3E}">
        <p14:creationId xmlns:p14="http://schemas.microsoft.com/office/powerpoint/2010/main" val="899326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7394713" y="546652"/>
            <a:ext cx="4144618" cy="104644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Rubik" pitchFamily="2" charset="-79"/>
                <a:ea typeface="+mn-ea"/>
                <a:cs typeface="Rubik" pitchFamily="2" charset="-79"/>
              </a:rPr>
              <a:t>מבנה ארגוני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92B1388-D45C-5049-88F0-305BD0375B8E}"/>
              </a:ext>
            </a:extLst>
          </p:cNvPr>
          <p:cNvSpPr txBox="1"/>
          <p:nvPr/>
        </p:nvSpPr>
        <p:spPr>
          <a:xfrm>
            <a:off x="8390964"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a:t>
            </a:r>
            <a:br>
              <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הדרדרות</a:t>
            </a:r>
            <a:endParaRPr kumimoji="0" lang="en-US" sz="23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27595D22-C6AC-4840-8E4E-0D4CD30BFE16}"/>
              </a:ext>
            </a:extLst>
          </p:cNvPr>
          <p:cNvSpPr txBox="1"/>
          <p:nvPr/>
        </p:nvSpPr>
        <p:spPr>
          <a:xfrm>
            <a:off x="6016997" y="4289612"/>
            <a:ext cx="1640542" cy="80021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rPr>
              <a:t>דאטה-</a:t>
            </a:r>
            <a:r>
              <a:rPr kumimoji="0" lang="he-IL" sz="2300" b="0" i="0" u="none" strike="noStrike" kern="1200" cap="none" spc="0" normalizeH="0" baseline="0" noProof="0" dirty="0" err="1">
                <a:ln>
                  <a:noFill/>
                </a:ln>
                <a:solidFill>
                  <a:srgbClr val="5AA6C5"/>
                </a:solidFill>
                <a:effectLst/>
                <a:uLnTx/>
                <a:uFillTx/>
                <a:latin typeface="Assistant" pitchFamily="2" charset="-79"/>
                <a:ea typeface="+mn-ea"/>
                <a:cs typeface="Assistant" pitchFamily="2" charset="-79"/>
              </a:rPr>
              <a:t>דיגיטל</a:t>
            </a:r>
            <a:endParaRPr kumimoji="0" lang="en-US" sz="2300" b="0" i="0" u="none" strike="noStrike" kern="1200" cap="none" spc="0" normalizeH="0" baseline="0" noProof="0" dirty="0">
              <a:ln>
                <a:noFill/>
              </a:ln>
              <a:solidFill>
                <a:srgbClr val="5AA6C5"/>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6BE63A48-A735-954D-A201-C6AC937E289C}"/>
              </a:ext>
            </a:extLst>
          </p:cNvPr>
          <p:cNvSpPr txBox="1"/>
          <p:nvPr/>
        </p:nvSpPr>
        <p:spPr>
          <a:xfrm>
            <a:off x="3213846"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רשויות</a:t>
            </a:r>
            <a:br>
              <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rPr>
              <a:t>מקומיות</a:t>
            </a:r>
            <a:endParaRPr kumimoji="0" lang="en-US" sz="2300" b="0" i="0" u="none" strike="noStrike" kern="1200" cap="none" spc="0" normalizeH="0" baseline="0" noProof="0" dirty="0">
              <a:ln>
                <a:noFill/>
              </a:ln>
              <a:solidFill>
                <a:srgbClr val="519E45"/>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8FDA7BE1-6951-744E-9E85-FB0F0A55C63D}"/>
              </a:ext>
            </a:extLst>
          </p:cNvPr>
          <p:cNvSpPr txBox="1"/>
          <p:nvPr/>
        </p:nvSpPr>
        <p:spPr>
          <a:xfrm>
            <a:off x="551328" y="4289612"/>
            <a:ext cx="1640542" cy="115416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מערכי</a:t>
            </a:r>
            <a:br>
              <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br>
            <a:r>
              <a:rPr kumimoji="0" lang="he-IL"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דיור</a:t>
            </a:r>
            <a:endParaRPr kumimoji="0" lang="en-US" sz="23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2" name="TextBox 21">
            <a:extLst>
              <a:ext uri="{FF2B5EF4-FFF2-40B4-BE49-F238E27FC236}">
                <a16:creationId xmlns:a16="http://schemas.microsoft.com/office/drawing/2014/main" id="{A2D30010-94CD-2648-998A-21D590167AE6}"/>
              </a:ext>
            </a:extLst>
          </p:cNvPr>
          <p:cNvSpPr txBox="1"/>
          <p:nvPr/>
        </p:nvSpPr>
        <p:spPr>
          <a:xfrm>
            <a:off x="1021973" y="5366739"/>
            <a:ext cx="2218766" cy="261610"/>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100" b="0" i="0" u="none" strike="noStrike" kern="1200" cap="none" spc="0" normalizeH="0" baseline="0" noProof="0" dirty="0">
                <a:ln>
                  <a:noFill/>
                </a:ln>
                <a:solidFill>
                  <a:srgbClr val="6E1530"/>
                </a:solidFill>
                <a:effectLst/>
                <a:uLnTx/>
                <a:uFillTx/>
                <a:latin typeface="Rubik" pitchFamily="2" charset="-79"/>
                <a:ea typeface="+mn-ea"/>
                <a:cs typeface="Rubik" pitchFamily="2" charset="-79"/>
              </a:rPr>
              <a:t>*</a:t>
            </a:r>
            <a:r>
              <a:rPr kumimoji="0" lang="he-IL"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rPr>
              <a:t>צוות מערכי דיור- בבדיקה להקמה</a:t>
            </a:r>
            <a:endParaRPr kumimoji="0" lang="en-US" sz="1100" b="0" i="0" u="none" strike="noStrike" kern="1200" cap="none" spc="0" normalizeH="0" baseline="0" noProof="0" dirty="0">
              <a:ln>
                <a:noFill/>
              </a:ln>
              <a:solidFill>
                <a:srgbClr val="6E1530"/>
              </a:solidFill>
              <a:effectLst/>
              <a:uLnTx/>
              <a:uFillTx/>
              <a:latin typeface="Assistant" pitchFamily="2" charset="-79"/>
              <a:ea typeface="+mn-ea"/>
              <a:cs typeface="Assistant" pitchFamily="2" charset="-79"/>
            </a:endParaRPr>
          </a:p>
        </p:txBody>
      </p:sp>
      <p:sp>
        <p:nvSpPr>
          <p:cNvPr id="23" name="TextBox 22">
            <a:extLst>
              <a:ext uri="{FF2B5EF4-FFF2-40B4-BE49-F238E27FC236}">
                <a16:creationId xmlns:a16="http://schemas.microsoft.com/office/drawing/2014/main" id="{37AE5042-6D4D-134D-A4AA-B7ADB01C1C20}"/>
              </a:ext>
            </a:extLst>
          </p:cNvPr>
          <p:cNvSpPr txBox="1"/>
          <p:nvPr/>
        </p:nvSpPr>
        <p:spPr>
          <a:xfrm>
            <a:off x="4477869" y="1173710"/>
            <a:ext cx="2138083"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פורום מנכ״לים</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4" name="TextBox 23">
            <a:extLst>
              <a:ext uri="{FF2B5EF4-FFF2-40B4-BE49-F238E27FC236}">
                <a16:creationId xmlns:a16="http://schemas.microsoft.com/office/drawing/2014/main" id="{24761C7A-B604-1140-8283-C93104EA926C}"/>
              </a:ext>
            </a:extLst>
          </p:cNvPr>
          <p:cNvSpPr txBox="1"/>
          <p:nvPr/>
        </p:nvSpPr>
        <p:spPr>
          <a:xfrm>
            <a:off x="4161443" y="2026275"/>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מובילי פורום </a:t>
            </a:r>
            <a:r>
              <a:rPr kumimoji="0" lang="he-IL" sz="2300" b="0"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בר״ק</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E1F76233-6FC9-FB40-8DA4-5F56D50CA2EE}"/>
              </a:ext>
            </a:extLst>
          </p:cNvPr>
          <p:cNvSpPr txBox="1"/>
          <p:nvPr/>
        </p:nvSpPr>
        <p:spPr>
          <a:xfrm>
            <a:off x="3953436" y="2857247"/>
            <a:ext cx="2420470" cy="44627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4 צוותי עבודה</a:t>
            </a:r>
            <a:endParaRPr kumimoji="0" lang="en-US" sz="23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cxnSp>
        <p:nvCxnSpPr>
          <p:cNvPr id="8" name="Straight Connector 7">
            <a:extLst>
              <a:ext uri="{FF2B5EF4-FFF2-40B4-BE49-F238E27FC236}">
                <a16:creationId xmlns:a16="http://schemas.microsoft.com/office/drawing/2014/main" id="{909BFC37-894C-6A4C-8EA1-652F8FA45264}"/>
              </a:ext>
            </a:extLst>
          </p:cNvPr>
          <p:cNvCxnSpPr/>
          <p:nvPr/>
        </p:nvCxnSpPr>
        <p:spPr>
          <a:xfrm>
            <a:off x="8525435"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DB04BB-CBDE-6940-8584-7A8F9E76A7E6}"/>
              </a:ext>
            </a:extLst>
          </p:cNvPr>
          <p:cNvCxnSpPr/>
          <p:nvPr/>
        </p:nvCxnSpPr>
        <p:spPr>
          <a:xfrm>
            <a:off x="6037730"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5D3871A-F3FB-4E4F-9175-A73F95A7B75A}"/>
              </a:ext>
            </a:extLst>
          </p:cNvPr>
          <p:cNvCxnSpPr/>
          <p:nvPr/>
        </p:nvCxnSpPr>
        <p:spPr>
          <a:xfrm>
            <a:off x="3375212" y="4383741"/>
            <a:ext cx="0" cy="1113803"/>
          </a:xfrm>
          <a:prstGeom prst="line">
            <a:avLst/>
          </a:prstGeom>
          <a:ln w="28575">
            <a:solidFill>
              <a:srgbClr val="3E6BB4"/>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4E4592BD-0364-914D-96BD-43CBDB833E81}"/>
              </a:ext>
            </a:extLst>
          </p:cNvPr>
          <p:cNvPicPr>
            <a:picLocks noChangeAspect="1"/>
          </p:cNvPicPr>
          <p:nvPr/>
        </p:nvPicPr>
        <p:blipFill>
          <a:blip r:embed="rId3"/>
          <a:stretch>
            <a:fillRect/>
          </a:stretch>
        </p:blipFill>
        <p:spPr>
          <a:xfrm>
            <a:off x="6373906" y="2864638"/>
            <a:ext cx="1143000" cy="431800"/>
          </a:xfrm>
          <a:prstGeom prst="rect">
            <a:avLst/>
          </a:prstGeom>
        </p:spPr>
      </p:pic>
      <p:pic>
        <p:nvPicPr>
          <p:cNvPr id="28" name="Picture 27">
            <a:extLst>
              <a:ext uri="{FF2B5EF4-FFF2-40B4-BE49-F238E27FC236}">
                <a16:creationId xmlns:a16="http://schemas.microsoft.com/office/drawing/2014/main" id="{50AB78E7-C13B-8043-A4FD-70F878985075}"/>
              </a:ext>
            </a:extLst>
          </p:cNvPr>
          <p:cNvPicPr>
            <a:picLocks noChangeAspect="1"/>
          </p:cNvPicPr>
          <p:nvPr/>
        </p:nvPicPr>
        <p:blipFill>
          <a:blip r:embed="rId4"/>
          <a:stretch>
            <a:fillRect/>
          </a:stretch>
        </p:blipFill>
        <p:spPr>
          <a:xfrm>
            <a:off x="6581913" y="1972457"/>
            <a:ext cx="812800" cy="596900"/>
          </a:xfrm>
          <a:prstGeom prst="rect">
            <a:avLst/>
          </a:prstGeom>
        </p:spPr>
      </p:pic>
      <p:pic>
        <p:nvPicPr>
          <p:cNvPr id="30" name="Picture 29">
            <a:extLst>
              <a:ext uri="{FF2B5EF4-FFF2-40B4-BE49-F238E27FC236}">
                <a16:creationId xmlns:a16="http://schemas.microsoft.com/office/drawing/2014/main" id="{2BC0AE7E-CAEC-3149-B7BE-BE6FC9E19DE5}"/>
              </a:ext>
            </a:extLst>
          </p:cNvPr>
          <p:cNvPicPr>
            <a:picLocks noChangeAspect="1"/>
          </p:cNvPicPr>
          <p:nvPr/>
        </p:nvPicPr>
        <p:blipFill>
          <a:blip r:embed="rId5"/>
          <a:stretch>
            <a:fillRect/>
          </a:stretch>
        </p:blipFill>
        <p:spPr>
          <a:xfrm>
            <a:off x="6646160" y="895420"/>
            <a:ext cx="685800" cy="660400"/>
          </a:xfrm>
          <a:prstGeom prst="rect">
            <a:avLst/>
          </a:prstGeom>
        </p:spPr>
      </p:pic>
      <p:pic>
        <p:nvPicPr>
          <p:cNvPr id="32" name="Picture 31">
            <a:extLst>
              <a:ext uri="{FF2B5EF4-FFF2-40B4-BE49-F238E27FC236}">
                <a16:creationId xmlns:a16="http://schemas.microsoft.com/office/drawing/2014/main" id="{22806738-8254-444C-935E-8834B1F9BE87}"/>
              </a:ext>
            </a:extLst>
          </p:cNvPr>
          <p:cNvPicPr>
            <a:picLocks noChangeAspect="1"/>
          </p:cNvPicPr>
          <p:nvPr/>
        </p:nvPicPr>
        <p:blipFill>
          <a:blip r:embed="rId6"/>
          <a:stretch>
            <a:fillRect/>
          </a:stretch>
        </p:blipFill>
        <p:spPr>
          <a:xfrm>
            <a:off x="7928535" y="3448321"/>
            <a:ext cx="1282700" cy="863600"/>
          </a:xfrm>
          <a:prstGeom prst="rect">
            <a:avLst/>
          </a:prstGeom>
        </p:spPr>
      </p:pic>
      <p:pic>
        <p:nvPicPr>
          <p:cNvPr id="34" name="Picture 33">
            <a:extLst>
              <a:ext uri="{FF2B5EF4-FFF2-40B4-BE49-F238E27FC236}">
                <a16:creationId xmlns:a16="http://schemas.microsoft.com/office/drawing/2014/main" id="{0F89ABF7-207A-784E-8223-1549E4E503A1}"/>
              </a:ext>
            </a:extLst>
          </p:cNvPr>
          <p:cNvPicPr>
            <a:picLocks noChangeAspect="1"/>
          </p:cNvPicPr>
          <p:nvPr/>
        </p:nvPicPr>
        <p:blipFill>
          <a:blip r:embed="rId7"/>
          <a:stretch>
            <a:fillRect/>
          </a:stretch>
        </p:blipFill>
        <p:spPr>
          <a:xfrm>
            <a:off x="6373906" y="3409887"/>
            <a:ext cx="736600" cy="850900"/>
          </a:xfrm>
          <a:prstGeom prst="rect">
            <a:avLst/>
          </a:prstGeom>
        </p:spPr>
      </p:pic>
      <p:pic>
        <p:nvPicPr>
          <p:cNvPr id="36" name="Picture 35">
            <a:extLst>
              <a:ext uri="{FF2B5EF4-FFF2-40B4-BE49-F238E27FC236}">
                <a16:creationId xmlns:a16="http://schemas.microsoft.com/office/drawing/2014/main" id="{88B6B2C1-BFF4-DD4D-A7FB-5DCD9DA515B5}"/>
              </a:ext>
            </a:extLst>
          </p:cNvPr>
          <p:cNvPicPr>
            <a:picLocks noChangeAspect="1"/>
          </p:cNvPicPr>
          <p:nvPr/>
        </p:nvPicPr>
        <p:blipFill>
          <a:blip r:embed="rId8"/>
          <a:stretch>
            <a:fillRect/>
          </a:stretch>
        </p:blipFill>
        <p:spPr>
          <a:xfrm>
            <a:off x="2765985" y="3381628"/>
            <a:ext cx="1371600" cy="927100"/>
          </a:xfrm>
          <a:prstGeom prst="rect">
            <a:avLst/>
          </a:prstGeom>
        </p:spPr>
      </p:pic>
      <p:pic>
        <p:nvPicPr>
          <p:cNvPr id="38" name="Picture 37">
            <a:extLst>
              <a:ext uri="{FF2B5EF4-FFF2-40B4-BE49-F238E27FC236}">
                <a16:creationId xmlns:a16="http://schemas.microsoft.com/office/drawing/2014/main" id="{A631C691-6F79-004F-A6B6-AA4C66B2F430}"/>
              </a:ext>
            </a:extLst>
          </p:cNvPr>
          <p:cNvPicPr>
            <a:picLocks noChangeAspect="1"/>
          </p:cNvPicPr>
          <p:nvPr/>
        </p:nvPicPr>
        <p:blipFill>
          <a:blip r:embed="rId9"/>
          <a:stretch>
            <a:fillRect/>
          </a:stretch>
        </p:blipFill>
        <p:spPr>
          <a:xfrm>
            <a:off x="4542117" y="3397642"/>
            <a:ext cx="723900" cy="838200"/>
          </a:xfrm>
          <a:prstGeom prst="rect">
            <a:avLst/>
          </a:prstGeom>
        </p:spPr>
      </p:pic>
      <p:pic>
        <p:nvPicPr>
          <p:cNvPr id="40" name="Picture 39">
            <a:extLst>
              <a:ext uri="{FF2B5EF4-FFF2-40B4-BE49-F238E27FC236}">
                <a16:creationId xmlns:a16="http://schemas.microsoft.com/office/drawing/2014/main" id="{314751F4-C583-8C48-B6F4-19898A2D577B}"/>
              </a:ext>
            </a:extLst>
          </p:cNvPr>
          <p:cNvPicPr>
            <a:picLocks noChangeAspect="1"/>
          </p:cNvPicPr>
          <p:nvPr/>
        </p:nvPicPr>
        <p:blipFill>
          <a:blip r:embed="rId10"/>
          <a:stretch>
            <a:fillRect/>
          </a:stretch>
        </p:blipFill>
        <p:spPr>
          <a:xfrm>
            <a:off x="7604684" y="4484219"/>
            <a:ext cx="825500" cy="825500"/>
          </a:xfrm>
          <a:prstGeom prst="rect">
            <a:avLst/>
          </a:prstGeom>
        </p:spPr>
      </p:pic>
      <p:pic>
        <p:nvPicPr>
          <p:cNvPr id="42" name="Picture 41">
            <a:extLst>
              <a:ext uri="{FF2B5EF4-FFF2-40B4-BE49-F238E27FC236}">
                <a16:creationId xmlns:a16="http://schemas.microsoft.com/office/drawing/2014/main" id="{79DC0235-9626-AE4C-87B3-ECA679BF5A64}"/>
              </a:ext>
            </a:extLst>
          </p:cNvPr>
          <p:cNvPicPr>
            <a:picLocks noChangeAspect="1"/>
          </p:cNvPicPr>
          <p:nvPr/>
        </p:nvPicPr>
        <p:blipFill>
          <a:blip r:embed="rId11"/>
          <a:stretch>
            <a:fillRect/>
          </a:stretch>
        </p:blipFill>
        <p:spPr>
          <a:xfrm>
            <a:off x="10148793" y="4438301"/>
            <a:ext cx="825500" cy="825500"/>
          </a:xfrm>
          <a:prstGeom prst="rect">
            <a:avLst/>
          </a:prstGeom>
        </p:spPr>
      </p:pic>
      <p:pic>
        <p:nvPicPr>
          <p:cNvPr id="44" name="Picture 43">
            <a:extLst>
              <a:ext uri="{FF2B5EF4-FFF2-40B4-BE49-F238E27FC236}">
                <a16:creationId xmlns:a16="http://schemas.microsoft.com/office/drawing/2014/main" id="{748682A7-DFFE-FB49-AD39-36BCE1A86B87}"/>
              </a:ext>
            </a:extLst>
          </p:cNvPr>
          <p:cNvPicPr>
            <a:picLocks noChangeAspect="1"/>
          </p:cNvPicPr>
          <p:nvPr/>
        </p:nvPicPr>
        <p:blipFill>
          <a:blip r:embed="rId12"/>
          <a:stretch>
            <a:fillRect/>
          </a:stretch>
        </p:blipFill>
        <p:spPr>
          <a:xfrm>
            <a:off x="2279649" y="4454485"/>
            <a:ext cx="825500" cy="825500"/>
          </a:xfrm>
          <a:prstGeom prst="rect">
            <a:avLst/>
          </a:prstGeom>
        </p:spPr>
      </p:pic>
      <p:pic>
        <p:nvPicPr>
          <p:cNvPr id="46" name="Picture 45">
            <a:extLst>
              <a:ext uri="{FF2B5EF4-FFF2-40B4-BE49-F238E27FC236}">
                <a16:creationId xmlns:a16="http://schemas.microsoft.com/office/drawing/2014/main" id="{56CA5A5F-88BC-3E43-85DE-1E06B78F31B3}"/>
              </a:ext>
            </a:extLst>
          </p:cNvPr>
          <p:cNvPicPr>
            <a:picLocks noChangeAspect="1"/>
          </p:cNvPicPr>
          <p:nvPr/>
        </p:nvPicPr>
        <p:blipFill>
          <a:blip r:embed="rId13"/>
          <a:stretch>
            <a:fillRect/>
          </a:stretch>
        </p:blipFill>
        <p:spPr>
          <a:xfrm>
            <a:off x="4942167" y="4453943"/>
            <a:ext cx="825500" cy="825500"/>
          </a:xfrm>
          <a:prstGeom prst="rect">
            <a:avLst/>
          </a:prstGeom>
        </p:spPr>
      </p:pic>
      <p:pic>
        <p:nvPicPr>
          <p:cNvPr id="2" name="Picture 1">
            <a:extLst>
              <a:ext uri="{FF2B5EF4-FFF2-40B4-BE49-F238E27FC236}">
                <a16:creationId xmlns:a16="http://schemas.microsoft.com/office/drawing/2014/main" id="{F4FF9B8E-2191-8E82-B4D8-11122B9C32AC}"/>
              </a:ext>
            </a:extLst>
          </p:cNvPr>
          <p:cNvPicPr>
            <a:picLocks noChangeAspect="1"/>
          </p:cNvPicPr>
          <p:nvPr/>
        </p:nvPicPr>
        <p:blipFill>
          <a:blip r:embed="rId14"/>
          <a:stretch>
            <a:fillRect/>
          </a:stretch>
        </p:blipFill>
        <p:spPr>
          <a:xfrm>
            <a:off x="0" y="5966248"/>
            <a:ext cx="12192000" cy="910606"/>
          </a:xfrm>
          <a:prstGeom prst="rect">
            <a:avLst/>
          </a:prstGeom>
        </p:spPr>
      </p:pic>
      <p:grpSp>
        <p:nvGrpSpPr>
          <p:cNvPr id="3" name="Group 2">
            <a:extLst>
              <a:ext uri="{FF2B5EF4-FFF2-40B4-BE49-F238E27FC236}">
                <a16:creationId xmlns:a16="http://schemas.microsoft.com/office/drawing/2014/main" id="{B4CFD23F-B14A-23D0-FD3F-E1F2E172B7EA}"/>
              </a:ext>
            </a:extLst>
          </p:cNvPr>
          <p:cNvGrpSpPr/>
          <p:nvPr/>
        </p:nvGrpSpPr>
        <p:grpSpPr>
          <a:xfrm>
            <a:off x="311158" y="6156883"/>
            <a:ext cx="2347678" cy="516168"/>
            <a:chOff x="3486150" y="1040904"/>
            <a:chExt cx="5219896" cy="1147663"/>
          </a:xfrm>
        </p:grpSpPr>
        <p:pic>
          <p:nvPicPr>
            <p:cNvPr id="6" name="Picture 5">
              <a:extLst>
                <a:ext uri="{FF2B5EF4-FFF2-40B4-BE49-F238E27FC236}">
                  <a16:creationId xmlns:a16="http://schemas.microsoft.com/office/drawing/2014/main" id="{59A8C503-7538-CEA2-025E-7ADBDAE65990}"/>
                </a:ext>
              </a:extLst>
            </p:cNvPr>
            <p:cNvPicPr>
              <a:picLocks noChangeAspect="1"/>
            </p:cNvPicPr>
            <p:nvPr/>
          </p:nvPicPr>
          <p:blipFill>
            <a:blip r:embed="rId15"/>
            <a:stretch>
              <a:fillRect/>
            </a:stretch>
          </p:blipFill>
          <p:spPr>
            <a:xfrm>
              <a:off x="3486150" y="1807567"/>
              <a:ext cx="3619500" cy="381000"/>
            </a:xfrm>
            <a:prstGeom prst="rect">
              <a:avLst/>
            </a:prstGeom>
          </p:spPr>
        </p:pic>
        <p:pic>
          <p:nvPicPr>
            <p:cNvPr id="7" name="Picture 6">
              <a:extLst>
                <a:ext uri="{FF2B5EF4-FFF2-40B4-BE49-F238E27FC236}">
                  <a16:creationId xmlns:a16="http://schemas.microsoft.com/office/drawing/2014/main" id="{755777C8-7F31-A94A-E9E9-5317B848FB73}"/>
                </a:ext>
              </a:extLst>
            </p:cNvPr>
            <p:cNvPicPr>
              <a:picLocks noChangeAspect="1"/>
            </p:cNvPicPr>
            <p:nvPr/>
          </p:nvPicPr>
          <p:blipFill>
            <a:blip r:embed="rId16"/>
            <a:stretch>
              <a:fillRect/>
            </a:stretch>
          </p:blipFill>
          <p:spPr>
            <a:xfrm>
              <a:off x="7245546" y="1040904"/>
              <a:ext cx="1460500" cy="1092200"/>
            </a:xfrm>
            <a:prstGeom prst="rect">
              <a:avLst/>
            </a:prstGeom>
          </p:spPr>
        </p:pic>
        <p:pic>
          <p:nvPicPr>
            <p:cNvPr id="9" name="Picture 8">
              <a:extLst>
                <a:ext uri="{FF2B5EF4-FFF2-40B4-BE49-F238E27FC236}">
                  <a16:creationId xmlns:a16="http://schemas.microsoft.com/office/drawing/2014/main" id="{C121EA43-B3B7-C6D3-B510-10592B51CF7E}"/>
                </a:ext>
              </a:extLst>
            </p:cNvPr>
            <p:cNvPicPr>
              <a:picLocks noChangeAspect="1"/>
            </p:cNvPicPr>
            <p:nvPr/>
          </p:nvPicPr>
          <p:blipFill>
            <a:blip r:embed="rId17"/>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610626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02CC494-06CA-0B47-A2EE-D071559AB564}"/>
              </a:ext>
            </a:extLst>
          </p:cNvPr>
          <p:cNvSpPr txBox="1"/>
          <p:nvPr/>
        </p:nvSpPr>
        <p:spPr>
          <a:xfrm>
            <a:off x="6570041" y="536492"/>
            <a:ext cx="4144618" cy="1343958"/>
          </a:xfrm>
          <a:prstGeom prst="rect">
            <a:avLst/>
          </a:prstGeom>
          <a:noFill/>
        </p:spPr>
        <p:txBody>
          <a:bodyPr wrap="square" rtlCol="0">
            <a:spAutoFit/>
          </a:bodyPr>
          <a:lstStyle/>
          <a:p>
            <a:pPr algn="r" rtl="1">
              <a:lnSpc>
                <a:spcPts val="3780"/>
              </a:lnSpc>
            </a:pPr>
            <a:r>
              <a:rPr lang="he-IL" sz="4400" b="1" dirty="0">
                <a:solidFill>
                  <a:srgbClr val="9F52A3"/>
                </a:solidFill>
                <a:latin typeface="Assistant" pitchFamily="2" charset="-79"/>
                <a:cs typeface="Assistant" pitchFamily="2" charset="-79"/>
              </a:rPr>
              <a:t>צוות מניעת</a:t>
            </a:r>
            <a:br>
              <a:rPr lang="en-US" sz="4400" b="1" dirty="0">
                <a:solidFill>
                  <a:srgbClr val="9F52A3"/>
                </a:solidFill>
                <a:latin typeface="Assistant" pitchFamily="2" charset="-79"/>
                <a:cs typeface="Assistant" pitchFamily="2" charset="-79"/>
              </a:rPr>
            </a:br>
            <a:r>
              <a:rPr lang="he-IL" sz="4400" b="1" dirty="0">
                <a:solidFill>
                  <a:srgbClr val="9F52A3"/>
                </a:solidFill>
                <a:latin typeface="Assistant" pitchFamily="2" charset="-79"/>
                <a:cs typeface="Assistant" pitchFamily="2" charset="-79"/>
              </a:rPr>
              <a:t>הדרדרות </a:t>
            </a:r>
            <a:r>
              <a:rPr lang="he-IL" sz="4400" dirty="0">
                <a:solidFill>
                  <a:srgbClr val="9F52A3"/>
                </a:solidFill>
                <a:latin typeface="Assistant" pitchFamily="2" charset="-79"/>
                <a:cs typeface="Assistant" pitchFamily="2" charset="-79"/>
              </a:rPr>
              <a:t>מטרות</a:t>
            </a:r>
          </a:p>
          <a:p>
            <a:pPr marL="0" algn="r" defTabSz="914400" rtl="1" eaLnBrk="1" latinLnBrk="0" hangingPunct="1"/>
            <a:endParaRPr lang="en-US" dirty="0"/>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3"/>
          <a:stretch>
            <a:fillRect/>
          </a:stretch>
        </p:blipFill>
        <p:spPr>
          <a:xfrm>
            <a:off x="10714659" y="455211"/>
            <a:ext cx="898221" cy="898221"/>
          </a:xfrm>
          <a:prstGeom prst="rect">
            <a:avLst/>
          </a:prstGeom>
        </p:spPr>
      </p:pic>
      <p:cxnSp>
        <p:nvCxnSpPr>
          <p:cNvPr id="11" name="Straight Connector 10">
            <a:extLst>
              <a:ext uri="{FF2B5EF4-FFF2-40B4-BE49-F238E27FC236}">
                <a16:creationId xmlns:a16="http://schemas.microsoft.com/office/drawing/2014/main" id="{B6D8CE75-17A1-8F48-A7FF-5AB7F9CF8CE5}"/>
              </a:ext>
            </a:extLst>
          </p:cNvPr>
          <p:cNvCxnSpPr/>
          <p:nvPr/>
        </p:nvCxnSpPr>
        <p:spPr>
          <a:xfrm>
            <a:off x="8768080" y="2062480"/>
            <a:ext cx="0" cy="1747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8768080" y="4236720"/>
            <a:ext cx="0" cy="98552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A8BB43B-5B82-2041-B651-4C6389A00A3C}"/>
              </a:ext>
            </a:extLst>
          </p:cNvPr>
          <p:cNvCxnSpPr>
            <a:cxnSpLocks/>
          </p:cNvCxnSpPr>
          <p:nvPr/>
        </p:nvCxnSpPr>
        <p:spPr>
          <a:xfrm flipH="1">
            <a:off x="595376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ADBAE75-2EED-6B4F-86AB-51CF2F39B618}"/>
              </a:ext>
            </a:extLst>
          </p:cNvPr>
          <p:cNvCxnSpPr>
            <a:cxnSpLocks/>
          </p:cNvCxnSpPr>
          <p:nvPr/>
        </p:nvCxnSpPr>
        <p:spPr>
          <a:xfrm flipH="1">
            <a:off x="9083040" y="3992880"/>
            <a:ext cx="2611120" cy="0"/>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CFA96DF-7B40-2948-B8D4-EDF7E0AB793D}"/>
              </a:ext>
            </a:extLst>
          </p:cNvPr>
          <p:cNvSpPr txBox="1"/>
          <p:nvPr/>
        </p:nvSpPr>
        <p:spPr>
          <a:xfrm>
            <a:off x="9281160" y="1952115"/>
            <a:ext cx="2214880" cy="1200329"/>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לייצר </a:t>
            </a:r>
            <a:r>
              <a:rPr lang="he-IL" b="1" dirty="0">
                <a:solidFill>
                  <a:schemeClr val="accent1">
                    <a:lumMod val="75000"/>
                  </a:schemeClr>
                </a:solidFill>
                <a:latin typeface="Assistant" pitchFamily="2" charset="-79"/>
                <a:cs typeface="Assistant" pitchFamily="2" charset="-79"/>
              </a:rPr>
              <a:t>תפיסה</a:t>
            </a:r>
            <a:r>
              <a:rPr lang="he-IL" dirty="0">
                <a:solidFill>
                  <a:schemeClr val="accent1">
                    <a:lumMod val="75000"/>
                  </a:schemeClr>
                </a:solidFill>
                <a:latin typeface="Assistant" pitchFamily="2" charset="-79"/>
                <a:cs typeface="Assistant" pitchFamily="2" charset="-79"/>
              </a:rPr>
              <a:t> רב מערכתית </a:t>
            </a:r>
            <a:r>
              <a:rPr lang="he-IL" b="1" dirty="0">
                <a:solidFill>
                  <a:schemeClr val="accent1">
                    <a:lumMod val="75000"/>
                  </a:schemeClr>
                </a:solidFill>
                <a:latin typeface="Assistant" pitchFamily="2" charset="-79"/>
                <a:cs typeface="Assistant" pitchFamily="2" charset="-79"/>
              </a:rPr>
              <a:t>משותפת</a:t>
            </a:r>
            <a:r>
              <a:rPr lang="he-IL" dirty="0">
                <a:solidFill>
                  <a:schemeClr val="accent1">
                    <a:lumMod val="75000"/>
                  </a:schemeClr>
                </a:solidFill>
                <a:latin typeface="Assistant" pitchFamily="2" charset="-79"/>
                <a:cs typeface="Assistant" pitchFamily="2" charset="-79"/>
              </a:rPr>
              <a:t> </a:t>
            </a:r>
            <a:r>
              <a:rPr lang="he-IL" b="1" dirty="0">
                <a:solidFill>
                  <a:schemeClr val="accent1">
                    <a:lumMod val="75000"/>
                  </a:schemeClr>
                </a:solidFill>
                <a:latin typeface="Assistant" pitchFamily="2" charset="-79"/>
                <a:cs typeface="Assistant" pitchFamily="2" charset="-79"/>
              </a:rPr>
              <a:t>לשימור תפקוד ומניעת הדרדרות</a:t>
            </a:r>
            <a:endParaRPr lang="en-US" b="1" dirty="0">
              <a:solidFill>
                <a:schemeClr val="accent1">
                  <a:lumMod val="75000"/>
                </a:schemeClr>
              </a:solidFill>
              <a:latin typeface="Assistant" pitchFamily="2" charset="-79"/>
              <a:cs typeface="Assistant" pitchFamily="2" charset="-79"/>
            </a:endParaRPr>
          </a:p>
        </p:txBody>
      </p:sp>
      <p:sp>
        <p:nvSpPr>
          <p:cNvPr id="27" name="TextBox 26">
            <a:extLst>
              <a:ext uri="{FF2B5EF4-FFF2-40B4-BE49-F238E27FC236}">
                <a16:creationId xmlns:a16="http://schemas.microsoft.com/office/drawing/2014/main" id="{41E3B1BD-26C8-FB4D-BD83-545959E4F316}"/>
              </a:ext>
            </a:extLst>
          </p:cNvPr>
          <p:cNvSpPr txBox="1"/>
          <p:nvPr/>
        </p:nvSpPr>
        <p:spPr>
          <a:xfrm>
            <a:off x="5763259" y="1952115"/>
            <a:ext cx="2730501" cy="1772986"/>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לקדם יישום והתאמות של התפיסה במערכות השונות תוך יצירת </a:t>
            </a:r>
            <a:r>
              <a:rPr lang="he-IL" b="1" dirty="0">
                <a:solidFill>
                  <a:schemeClr val="accent1">
                    <a:lumMod val="75000"/>
                  </a:schemeClr>
                </a:solidFill>
                <a:latin typeface="Assistant" pitchFamily="2" charset="-79"/>
                <a:cs typeface="Assistant" pitchFamily="2" charset="-79"/>
              </a:rPr>
              <a:t>ממשקי עבודה </a:t>
            </a:r>
          </a:p>
          <a:p>
            <a:pPr algn="r" rtl="1">
              <a:lnSpc>
                <a:spcPts val="2230"/>
              </a:lnSpc>
            </a:pPr>
            <a:r>
              <a:rPr lang="he-IL" b="1" dirty="0">
                <a:solidFill>
                  <a:schemeClr val="accent1">
                    <a:lumMod val="75000"/>
                  </a:schemeClr>
                </a:solidFill>
                <a:latin typeface="Assistant" pitchFamily="2" charset="-79"/>
                <a:cs typeface="Assistant" pitchFamily="2" charset="-79"/>
              </a:rPr>
              <a:t>ושיתופי פעולה בין מערכתיים </a:t>
            </a:r>
            <a:r>
              <a:rPr lang="he-IL" dirty="0">
                <a:solidFill>
                  <a:schemeClr val="accent1">
                    <a:lumMod val="75000"/>
                  </a:schemeClr>
                </a:solidFill>
                <a:latin typeface="Assistant" pitchFamily="2" charset="-79"/>
                <a:cs typeface="Assistant" pitchFamily="2" charset="-79"/>
              </a:rPr>
              <a:t>בנושאי הליבה למניעת התדרדרות</a:t>
            </a:r>
            <a:endParaRPr lang="en-US" dirty="0">
              <a:solidFill>
                <a:schemeClr val="accent1">
                  <a:lumMod val="75000"/>
                </a:schemeClr>
              </a:solidFill>
              <a:latin typeface="Assistant" pitchFamily="2" charset="-79"/>
              <a:cs typeface="Assistant" pitchFamily="2" charset="-79"/>
            </a:endParaRPr>
          </a:p>
        </p:txBody>
      </p:sp>
      <p:sp>
        <p:nvSpPr>
          <p:cNvPr id="28" name="TextBox 27">
            <a:extLst>
              <a:ext uri="{FF2B5EF4-FFF2-40B4-BE49-F238E27FC236}">
                <a16:creationId xmlns:a16="http://schemas.microsoft.com/office/drawing/2014/main" id="{7AF2F6B5-D981-AD47-A677-3101F24EFE7E}"/>
              </a:ext>
            </a:extLst>
          </p:cNvPr>
          <p:cNvSpPr txBox="1"/>
          <p:nvPr/>
        </p:nvSpPr>
        <p:spPr>
          <a:xfrm>
            <a:off x="8768081" y="4166995"/>
            <a:ext cx="2865120" cy="928972"/>
          </a:xfrm>
          <a:prstGeom prst="rect">
            <a:avLst/>
          </a:prstGeom>
          <a:noFill/>
        </p:spPr>
        <p:txBody>
          <a:bodyPr wrap="square" rtlCol="0">
            <a:spAutoFit/>
          </a:bodyPr>
          <a:lstStyle/>
          <a:p>
            <a:pPr algn="r" rtl="1">
              <a:lnSpc>
                <a:spcPts val="2230"/>
              </a:lnSpc>
            </a:pPr>
            <a:r>
              <a:rPr lang="he-IL" b="1" dirty="0">
                <a:solidFill>
                  <a:schemeClr val="accent1">
                    <a:lumMod val="75000"/>
                  </a:schemeClr>
                </a:solidFill>
                <a:latin typeface="Assistant" pitchFamily="2" charset="-79"/>
                <a:cs typeface="Assistant" pitchFamily="2" charset="-79"/>
              </a:rPr>
              <a:t>להוביל</a:t>
            </a:r>
            <a:r>
              <a:rPr lang="he-IL" dirty="0">
                <a:solidFill>
                  <a:schemeClr val="accent1">
                    <a:lumMod val="75000"/>
                  </a:schemeClr>
                </a:solidFill>
                <a:latin typeface="Assistant" pitchFamily="2" charset="-79"/>
                <a:cs typeface="Assistant" pitchFamily="2" charset="-79"/>
              </a:rPr>
              <a:t> יחד </a:t>
            </a:r>
            <a:r>
              <a:rPr lang="he-IL" b="1" dirty="0">
                <a:solidFill>
                  <a:schemeClr val="accent1">
                    <a:lumMod val="75000"/>
                  </a:schemeClr>
                </a:solidFill>
                <a:latin typeface="Assistant" pitchFamily="2" charset="-79"/>
                <a:cs typeface="Assistant" pitchFamily="2" charset="-79"/>
              </a:rPr>
              <a:t>שינוי במדיניות</a:t>
            </a:r>
            <a:r>
              <a:rPr lang="he-IL" dirty="0">
                <a:solidFill>
                  <a:schemeClr val="accent1">
                    <a:lumMod val="75000"/>
                  </a:schemeClr>
                </a:solidFill>
                <a:latin typeface="Assistant" pitchFamily="2" charset="-79"/>
                <a:cs typeface="Assistant" pitchFamily="2" charset="-79"/>
              </a:rPr>
              <a:t>, במערכות ובמנגנון לטובת מניעת הדרדרות והזדקנות מיטבית</a:t>
            </a:r>
          </a:p>
        </p:txBody>
      </p:sp>
      <p:sp>
        <p:nvSpPr>
          <p:cNvPr id="32" name="TextBox 31">
            <a:extLst>
              <a:ext uri="{FF2B5EF4-FFF2-40B4-BE49-F238E27FC236}">
                <a16:creationId xmlns:a16="http://schemas.microsoft.com/office/drawing/2014/main" id="{BA977E22-D0B8-9141-963D-143ECEC75593}"/>
              </a:ext>
            </a:extLst>
          </p:cNvPr>
          <p:cNvSpPr txBox="1"/>
          <p:nvPr/>
        </p:nvSpPr>
        <p:spPr>
          <a:xfrm>
            <a:off x="5648961" y="4166995"/>
            <a:ext cx="2865120" cy="926600"/>
          </a:xfrm>
          <a:prstGeom prst="rect">
            <a:avLst/>
          </a:prstGeom>
          <a:noFill/>
        </p:spPr>
        <p:txBody>
          <a:bodyPr wrap="square" rtlCol="0">
            <a:spAutoFit/>
          </a:bodyPr>
          <a:lstStyle/>
          <a:p>
            <a:pPr algn="r" rtl="1">
              <a:lnSpc>
                <a:spcPts val="2230"/>
              </a:lnSpc>
            </a:pPr>
            <a:r>
              <a:rPr lang="he-IL" dirty="0">
                <a:solidFill>
                  <a:schemeClr val="accent1">
                    <a:lumMod val="75000"/>
                  </a:schemeClr>
                </a:solidFill>
                <a:latin typeface="Assistant" pitchFamily="2" charset="-79"/>
                <a:cs typeface="Assistant" pitchFamily="2" charset="-79"/>
              </a:rPr>
              <a:t>לפעול </a:t>
            </a:r>
            <a:r>
              <a:rPr lang="he-IL" b="1" dirty="0">
                <a:solidFill>
                  <a:schemeClr val="accent1">
                    <a:lumMod val="75000"/>
                  </a:schemeClr>
                </a:solidFill>
                <a:latin typeface="Assistant" pitchFamily="2" charset="-79"/>
                <a:cs typeface="Assistant" pitchFamily="2" charset="-79"/>
              </a:rPr>
              <a:t>לפיתוח כלי מדידה </a:t>
            </a:r>
          </a:p>
          <a:p>
            <a:pPr algn="r" rtl="1">
              <a:lnSpc>
                <a:spcPts val="2230"/>
              </a:lnSpc>
            </a:pPr>
            <a:r>
              <a:rPr lang="he-IL" b="1" dirty="0">
                <a:solidFill>
                  <a:schemeClr val="accent1">
                    <a:lumMod val="75000"/>
                  </a:schemeClr>
                </a:solidFill>
                <a:latin typeface="Assistant" pitchFamily="2" charset="-79"/>
                <a:cs typeface="Assistant" pitchFamily="2" charset="-79"/>
              </a:rPr>
              <a:t>ותמריצים </a:t>
            </a:r>
            <a:r>
              <a:rPr lang="he-IL" dirty="0">
                <a:solidFill>
                  <a:schemeClr val="accent1">
                    <a:lumMod val="75000"/>
                  </a:schemeClr>
                </a:solidFill>
                <a:latin typeface="Assistant" pitchFamily="2" charset="-79"/>
                <a:cs typeface="Assistant" pitchFamily="2" charset="-79"/>
              </a:rPr>
              <a:t>שיובילו למניעת </a:t>
            </a:r>
          </a:p>
          <a:p>
            <a:pPr algn="r" rtl="1">
              <a:lnSpc>
                <a:spcPts val="2230"/>
              </a:lnSpc>
            </a:pPr>
            <a:r>
              <a:rPr lang="he-IL" dirty="0">
                <a:solidFill>
                  <a:schemeClr val="accent1">
                    <a:lumMod val="75000"/>
                  </a:schemeClr>
                </a:solidFill>
                <a:latin typeface="Assistant" pitchFamily="2" charset="-79"/>
                <a:cs typeface="Assistant" pitchFamily="2" charset="-79"/>
              </a:rPr>
              <a:t>הדרדרות</a:t>
            </a:r>
          </a:p>
        </p:txBody>
      </p:sp>
      <p:pic>
        <p:nvPicPr>
          <p:cNvPr id="2" name="Picture 1">
            <a:extLst>
              <a:ext uri="{FF2B5EF4-FFF2-40B4-BE49-F238E27FC236}">
                <a16:creationId xmlns:a16="http://schemas.microsoft.com/office/drawing/2014/main" id="{16156166-DD95-1F29-9271-9719870DD948}"/>
              </a:ext>
            </a:extLst>
          </p:cNvPr>
          <p:cNvPicPr>
            <a:picLocks noChangeAspect="1"/>
          </p:cNvPicPr>
          <p:nvPr/>
        </p:nvPicPr>
        <p:blipFill>
          <a:blip r:embed="rId4"/>
          <a:srcRect b="18669"/>
          <a:stretch/>
        </p:blipFill>
        <p:spPr>
          <a:xfrm flipH="1">
            <a:off x="178129" y="2062480"/>
            <a:ext cx="5561795" cy="28967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40E66BD4-83AE-1DA8-6D2E-EAB035A2E557}"/>
              </a:ext>
            </a:extLst>
          </p:cNvPr>
          <p:cNvPicPr>
            <a:picLocks noChangeAspect="1"/>
          </p:cNvPicPr>
          <p:nvPr/>
        </p:nvPicPr>
        <p:blipFill>
          <a:blip r:embed="rId5"/>
          <a:stretch>
            <a:fillRect/>
          </a:stretch>
        </p:blipFill>
        <p:spPr>
          <a:xfrm>
            <a:off x="0" y="5951291"/>
            <a:ext cx="12192000" cy="910606"/>
          </a:xfrm>
          <a:prstGeom prst="rect">
            <a:avLst/>
          </a:prstGeom>
        </p:spPr>
      </p:pic>
      <p:grpSp>
        <p:nvGrpSpPr>
          <p:cNvPr id="3" name="Group 2">
            <a:extLst>
              <a:ext uri="{FF2B5EF4-FFF2-40B4-BE49-F238E27FC236}">
                <a16:creationId xmlns:a16="http://schemas.microsoft.com/office/drawing/2014/main" id="{E5DB1C75-3E94-65B4-ADD8-8FD62335EFBA}"/>
              </a:ext>
            </a:extLst>
          </p:cNvPr>
          <p:cNvGrpSpPr/>
          <p:nvPr/>
        </p:nvGrpSpPr>
        <p:grpSpPr>
          <a:xfrm>
            <a:off x="348955" y="6123565"/>
            <a:ext cx="2347678" cy="516168"/>
            <a:chOff x="3486150" y="1040904"/>
            <a:chExt cx="5219896" cy="1147663"/>
          </a:xfrm>
        </p:grpSpPr>
        <p:pic>
          <p:nvPicPr>
            <p:cNvPr id="4" name="Picture 3">
              <a:extLst>
                <a:ext uri="{FF2B5EF4-FFF2-40B4-BE49-F238E27FC236}">
                  <a16:creationId xmlns:a16="http://schemas.microsoft.com/office/drawing/2014/main" id="{169119FA-2017-5C2E-4333-9FBEE5E6AAD2}"/>
                </a:ext>
              </a:extLst>
            </p:cNvPr>
            <p:cNvPicPr>
              <a:picLocks noChangeAspect="1"/>
            </p:cNvPicPr>
            <p:nvPr/>
          </p:nvPicPr>
          <p:blipFill>
            <a:blip r:embed="rId6"/>
            <a:stretch>
              <a:fillRect/>
            </a:stretch>
          </p:blipFill>
          <p:spPr>
            <a:xfrm>
              <a:off x="3486150" y="1807567"/>
              <a:ext cx="3619500" cy="381000"/>
            </a:xfrm>
            <a:prstGeom prst="rect">
              <a:avLst/>
            </a:prstGeom>
          </p:spPr>
        </p:pic>
        <p:pic>
          <p:nvPicPr>
            <p:cNvPr id="6" name="Picture 5">
              <a:extLst>
                <a:ext uri="{FF2B5EF4-FFF2-40B4-BE49-F238E27FC236}">
                  <a16:creationId xmlns:a16="http://schemas.microsoft.com/office/drawing/2014/main" id="{0B44BD4C-AF63-C51D-570B-FFE7FB6C4D9A}"/>
                </a:ext>
              </a:extLst>
            </p:cNvPr>
            <p:cNvPicPr>
              <a:picLocks noChangeAspect="1"/>
            </p:cNvPicPr>
            <p:nvPr/>
          </p:nvPicPr>
          <p:blipFill>
            <a:blip r:embed="rId7"/>
            <a:stretch>
              <a:fillRect/>
            </a:stretch>
          </p:blipFill>
          <p:spPr>
            <a:xfrm>
              <a:off x="7245546" y="1040904"/>
              <a:ext cx="1460500" cy="1092200"/>
            </a:xfrm>
            <a:prstGeom prst="rect">
              <a:avLst/>
            </a:prstGeom>
          </p:spPr>
        </p:pic>
        <p:pic>
          <p:nvPicPr>
            <p:cNvPr id="7" name="Picture 6">
              <a:extLst>
                <a:ext uri="{FF2B5EF4-FFF2-40B4-BE49-F238E27FC236}">
                  <a16:creationId xmlns:a16="http://schemas.microsoft.com/office/drawing/2014/main" id="{7CCCBBAB-8D00-B55C-DF72-2F2D758DD897}"/>
                </a:ext>
              </a:extLst>
            </p:cNvPr>
            <p:cNvPicPr>
              <a:picLocks noChangeAspect="1"/>
            </p:cNvPicPr>
            <p:nvPr/>
          </p:nvPicPr>
          <p:blipFill>
            <a:blip r:embed="rId8"/>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114602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4331AFB2-6514-7233-B565-6BC88F0C0899}"/>
              </a:ext>
            </a:extLst>
          </p:cNvPr>
          <p:cNvPicPr>
            <a:picLocks noChangeAspect="1"/>
          </p:cNvPicPr>
          <p:nvPr/>
        </p:nvPicPr>
        <p:blipFill>
          <a:blip r:embed="rId2"/>
          <a:stretch>
            <a:fillRect/>
          </a:stretch>
        </p:blipFill>
        <p:spPr>
          <a:xfrm>
            <a:off x="4482506" y="4104736"/>
            <a:ext cx="1079598" cy="2794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4338320" y="650973"/>
            <a:ext cx="6376339" cy="856645"/>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מניעת הדרדרות </a:t>
            </a:r>
            <a:r>
              <a:rPr kumimoji="0" lang="he-IL" sz="4400" b="0" i="0" u="none" strike="noStrike" kern="1200" cap="none" spc="0" normalizeH="0" baseline="0" noProof="0" dirty="0">
                <a:ln>
                  <a:noFill/>
                </a:ln>
                <a:solidFill>
                  <a:srgbClr val="9F52A3"/>
                </a:solidFill>
                <a:effectLst/>
                <a:uLnTx/>
                <a:uFillTx/>
                <a:latin typeface="Assistant" pitchFamily="2" charset="-79"/>
                <a:ea typeface="+mn-ea"/>
                <a:cs typeface="Assistant" pitchFamily="2" charset="-79"/>
              </a:rPr>
              <a:t>הצוות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6006FD5C-CF2D-ED47-B9AD-42526CE84955}"/>
              </a:ext>
            </a:extLst>
          </p:cNvPr>
          <p:cNvPicPr>
            <a:picLocks noChangeAspect="1"/>
          </p:cNvPicPr>
          <p:nvPr/>
        </p:nvPicPr>
        <p:blipFill>
          <a:blip r:embed="rId4"/>
          <a:stretch>
            <a:fillRect/>
          </a:stretch>
        </p:blipFill>
        <p:spPr>
          <a:xfrm>
            <a:off x="10714659" y="455211"/>
            <a:ext cx="898221" cy="898221"/>
          </a:xfrm>
          <a:prstGeom prst="rect">
            <a:avLst/>
          </a:prstGeom>
        </p:spPr>
      </p:pic>
      <p:cxnSp>
        <p:nvCxnSpPr>
          <p:cNvPr id="18" name="Straight Connector 17">
            <a:extLst>
              <a:ext uri="{FF2B5EF4-FFF2-40B4-BE49-F238E27FC236}">
                <a16:creationId xmlns:a16="http://schemas.microsoft.com/office/drawing/2014/main" id="{D6EA720D-9A23-7F49-84AA-D043285CAE05}"/>
              </a:ext>
            </a:extLst>
          </p:cNvPr>
          <p:cNvCxnSpPr>
            <a:cxnSpLocks/>
          </p:cNvCxnSpPr>
          <p:nvPr/>
        </p:nvCxnSpPr>
        <p:spPr>
          <a:xfrm>
            <a:off x="9168503" y="1709989"/>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AF2F6B5-D981-AD47-A677-3101F24EFE7E}"/>
              </a:ext>
            </a:extLst>
          </p:cNvPr>
          <p:cNvSpPr txBox="1"/>
          <p:nvPr/>
        </p:nvSpPr>
        <p:spPr>
          <a:xfrm>
            <a:off x="9179858" y="2207231"/>
            <a:ext cx="2589646" cy="26217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25 משתתפים ממגוון גופים: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משרד הבריאות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הביטוח הלאומי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כל קופות החולים-כללית, מכבי, מאוחדת ולאומית</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עיריית תל אביב</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עיריית ירושלים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sp>
        <p:nvSpPr>
          <p:cNvPr id="32" name="TextBox 31">
            <a:extLst>
              <a:ext uri="{FF2B5EF4-FFF2-40B4-BE49-F238E27FC236}">
                <a16:creationId xmlns:a16="http://schemas.microsoft.com/office/drawing/2014/main" id="{BA977E22-D0B8-9141-963D-143ECEC75593}"/>
              </a:ext>
            </a:extLst>
          </p:cNvPr>
          <p:cNvSpPr txBox="1"/>
          <p:nvPr/>
        </p:nvSpPr>
        <p:spPr>
          <a:xfrm>
            <a:off x="-298681" y="2179269"/>
            <a:ext cx="2865120"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הדס ברזילי-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p:txBody>
      </p:sp>
      <p:cxnSp>
        <p:nvCxnSpPr>
          <p:cNvPr id="17" name="Straight Connector 16">
            <a:extLst>
              <a:ext uri="{FF2B5EF4-FFF2-40B4-BE49-F238E27FC236}">
                <a16:creationId xmlns:a16="http://schemas.microsoft.com/office/drawing/2014/main" id="{B6AA4E61-B9F6-5940-A159-1B63C5FBC18C}"/>
              </a:ext>
            </a:extLst>
          </p:cNvPr>
          <p:cNvCxnSpPr>
            <a:cxnSpLocks/>
          </p:cNvCxnSpPr>
          <p:nvPr/>
        </p:nvCxnSpPr>
        <p:spPr>
          <a:xfrm>
            <a:off x="2566439" y="1776863"/>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CBD65D2-4724-C447-B769-99F9D8113D49}"/>
              </a:ext>
            </a:extLst>
          </p:cNvPr>
          <p:cNvSpPr txBox="1"/>
          <p:nvPr/>
        </p:nvSpPr>
        <p:spPr>
          <a:xfrm>
            <a:off x="-298681" y="3497551"/>
            <a:ext cx="2865120" cy="646844"/>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חיים פרג-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endPar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
        <p:nvSpPr>
          <p:cNvPr id="21" name="TextBox 20">
            <a:extLst>
              <a:ext uri="{FF2B5EF4-FFF2-40B4-BE49-F238E27FC236}">
                <a16:creationId xmlns:a16="http://schemas.microsoft.com/office/drawing/2014/main" id="{6BBE41F2-35DE-4B44-AC31-3345C0A17D08}"/>
              </a:ext>
            </a:extLst>
          </p:cNvPr>
          <p:cNvSpPr txBox="1"/>
          <p:nvPr/>
        </p:nvSpPr>
        <p:spPr>
          <a:xfrm>
            <a:off x="5394615" y="2139206"/>
            <a:ext cx="3332480" cy="644472"/>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נטלי גבאי -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אגף סיעוד, הביטוח הלאומי</a:t>
            </a:r>
          </a:p>
        </p:txBody>
      </p:sp>
      <p:sp>
        <p:nvSpPr>
          <p:cNvPr id="23" name="TextBox 22">
            <a:extLst>
              <a:ext uri="{FF2B5EF4-FFF2-40B4-BE49-F238E27FC236}">
                <a16:creationId xmlns:a16="http://schemas.microsoft.com/office/drawing/2014/main" id="{6B4375C9-4EE1-FF4E-B103-F145901B862A}"/>
              </a:ext>
            </a:extLst>
          </p:cNvPr>
          <p:cNvSpPr txBox="1"/>
          <p:nvPr/>
        </p:nvSpPr>
        <p:spPr>
          <a:xfrm>
            <a:off x="5394615" y="2850406"/>
            <a:ext cx="3332480" cy="926600"/>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אפרת גיל- </a:t>
            </a:r>
            <a:br>
              <a:rPr kumimoji="0" lang="en-US"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מנהלת המחלקה לשירותי קהילה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אגף גריאטריה, משרד הבריאות </a:t>
            </a:r>
          </a:p>
        </p:txBody>
      </p:sp>
      <p:sp>
        <p:nvSpPr>
          <p:cNvPr id="24" name="TextBox 23">
            <a:extLst>
              <a:ext uri="{FF2B5EF4-FFF2-40B4-BE49-F238E27FC236}">
                <a16:creationId xmlns:a16="http://schemas.microsoft.com/office/drawing/2014/main" id="{303030E7-D073-E748-B5A8-97067DB4FD91}"/>
              </a:ext>
            </a:extLst>
          </p:cNvPr>
          <p:cNvSpPr txBox="1"/>
          <p:nvPr/>
        </p:nvSpPr>
        <p:spPr>
          <a:xfrm>
            <a:off x="5599959" y="3876566"/>
            <a:ext cx="3127135" cy="1208729"/>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אביעד יצחקי - </a:t>
            </a:r>
          </a:p>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ראש אגף תכנון מדיניות הזדקנות האוכלוסייה, משרד הרווחה </a:t>
            </a:r>
            <a:br>
              <a:rPr kumimoji="0" lang="en-US"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והביטחון החברתי </a:t>
            </a:r>
          </a:p>
        </p:txBody>
      </p:sp>
      <p:pic>
        <p:nvPicPr>
          <p:cNvPr id="8" name="Picture 7">
            <a:extLst>
              <a:ext uri="{FF2B5EF4-FFF2-40B4-BE49-F238E27FC236}">
                <a16:creationId xmlns:a16="http://schemas.microsoft.com/office/drawing/2014/main" id="{B6FAB919-8027-3D42-A230-5A08414FB44D}"/>
              </a:ext>
            </a:extLst>
          </p:cNvPr>
          <p:cNvPicPr>
            <a:picLocks noChangeAspect="1"/>
          </p:cNvPicPr>
          <p:nvPr/>
        </p:nvPicPr>
        <p:blipFill>
          <a:blip r:embed="rId5"/>
          <a:stretch>
            <a:fillRect/>
          </a:stretch>
        </p:blipFill>
        <p:spPr>
          <a:xfrm>
            <a:off x="8860549" y="2281451"/>
            <a:ext cx="127000" cy="127000"/>
          </a:xfrm>
          <a:prstGeom prst="rect">
            <a:avLst/>
          </a:prstGeom>
        </p:spPr>
      </p:pic>
      <p:pic>
        <p:nvPicPr>
          <p:cNvPr id="26" name="Picture 25">
            <a:extLst>
              <a:ext uri="{FF2B5EF4-FFF2-40B4-BE49-F238E27FC236}">
                <a16:creationId xmlns:a16="http://schemas.microsoft.com/office/drawing/2014/main" id="{4EBAF1ED-98D9-7844-8442-7DB6251F8237}"/>
              </a:ext>
            </a:extLst>
          </p:cNvPr>
          <p:cNvPicPr>
            <a:picLocks noChangeAspect="1"/>
          </p:cNvPicPr>
          <p:nvPr/>
        </p:nvPicPr>
        <p:blipFill>
          <a:blip r:embed="rId5"/>
          <a:stretch>
            <a:fillRect/>
          </a:stretch>
        </p:blipFill>
        <p:spPr>
          <a:xfrm>
            <a:off x="8859661" y="2951301"/>
            <a:ext cx="127000" cy="127000"/>
          </a:xfrm>
          <a:prstGeom prst="rect">
            <a:avLst/>
          </a:prstGeom>
        </p:spPr>
      </p:pic>
      <p:pic>
        <p:nvPicPr>
          <p:cNvPr id="29" name="Picture 28">
            <a:extLst>
              <a:ext uri="{FF2B5EF4-FFF2-40B4-BE49-F238E27FC236}">
                <a16:creationId xmlns:a16="http://schemas.microsoft.com/office/drawing/2014/main" id="{22FE1571-44CE-6A4A-BDD2-B0A88C15F7BA}"/>
              </a:ext>
            </a:extLst>
          </p:cNvPr>
          <p:cNvPicPr>
            <a:picLocks noChangeAspect="1"/>
          </p:cNvPicPr>
          <p:nvPr/>
        </p:nvPicPr>
        <p:blipFill>
          <a:blip r:embed="rId5"/>
          <a:stretch>
            <a:fillRect/>
          </a:stretch>
        </p:blipFill>
        <p:spPr>
          <a:xfrm>
            <a:off x="8863146" y="3962328"/>
            <a:ext cx="127000" cy="127000"/>
          </a:xfrm>
          <a:prstGeom prst="rect">
            <a:avLst/>
          </a:prstGeom>
        </p:spPr>
      </p:pic>
      <p:pic>
        <p:nvPicPr>
          <p:cNvPr id="12" name="Picture 11">
            <a:extLst>
              <a:ext uri="{FF2B5EF4-FFF2-40B4-BE49-F238E27FC236}">
                <a16:creationId xmlns:a16="http://schemas.microsoft.com/office/drawing/2014/main" id="{7F3F9D7F-9379-8A4C-BF8F-76477A823933}"/>
              </a:ext>
            </a:extLst>
          </p:cNvPr>
          <p:cNvPicPr>
            <a:picLocks noChangeAspect="1"/>
          </p:cNvPicPr>
          <p:nvPr/>
        </p:nvPicPr>
        <p:blipFill>
          <a:blip r:embed="rId2"/>
          <a:stretch>
            <a:fillRect/>
          </a:stretch>
        </p:blipFill>
        <p:spPr>
          <a:xfrm>
            <a:off x="7266839" y="1797764"/>
            <a:ext cx="1738337" cy="279400"/>
          </a:xfrm>
          <a:prstGeom prst="rect">
            <a:avLst/>
          </a:prstGeom>
        </p:spPr>
      </p:pic>
      <p:pic>
        <p:nvPicPr>
          <p:cNvPr id="30" name="Picture 29">
            <a:extLst>
              <a:ext uri="{FF2B5EF4-FFF2-40B4-BE49-F238E27FC236}">
                <a16:creationId xmlns:a16="http://schemas.microsoft.com/office/drawing/2014/main" id="{CF2E2E5D-66CB-FD44-9E9F-A4D2201826ED}"/>
              </a:ext>
            </a:extLst>
          </p:cNvPr>
          <p:cNvPicPr>
            <a:picLocks noChangeAspect="1"/>
          </p:cNvPicPr>
          <p:nvPr/>
        </p:nvPicPr>
        <p:blipFill>
          <a:blip r:embed="rId2"/>
          <a:stretch>
            <a:fillRect/>
          </a:stretch>
        </p:blipFill>
        <p:spPr>
          <a:xfrm>
            <a:off x="10003536" y="1814673"/>
            <a:ext cx="1482304" cy="279400"/>
          </a:xfrm>
          <a:prstGeom prst="rect">
            <a:avLst/>
          </a:prstGeom>
        </p:spPr>
      </p:pic>
      <p:pic>
        <p:nvPicPr>
          <p:cNvPr id="31" name="Picture 30">
            <a:extLst>
              <a:ext uri="{FF2B5EF4-FFF2-40B4-BE49-F238E27FC236}">
                <a16:creationId xmlns:a16="http://schemas.microsoft.com/office/drawing/2014/main" id="{D2BBFFB3-878F-294E-98C4-9638BB7885F9}"/>
              </a:ext>
            </a:extLst>
          </p:cNvPr>
          <p:cNvPicPr>
            <a:picLocks noChangeAspect="1"/>
          </p:cNvPicPr>
          <p:nvPr/>
        </p:nvPicPr>
        <p:blipFill>
          <a:blip r:embed="rId2"/>
          <a:stretch>
            <a:fillRect/>
          </a:stretch>
        </p:blipFill>
        <p:spPr>
          <a:xfrm>
            <a:off x="868631" y="1832328"/>
            <a:ext cx="1628608" cy="279400"/>
          </a:xfrm>
          <a:prstGeom prst="rect">
            <a:avLst/>
          </a:prstGeom>
        </p:spPr>
      </p:pic>
      <p:pic>
        <p:nvPicPr>
          <p:cNvPr id="33" name="Picture 32">
            <a:extLst>
              <a:ext uri="{FF2B5EF4-FFF2-40B4-BE49-F238E27FC236}">
                <a16:creationId xmlns:a16="http://schemas.microsoft.com/office/drawing/2014/main" id="{C172C75D-299A-DB47-8645-BA88B9285CAD}"/>
              </a:ext>
            </a:extLst>
          </p:cNvPr>
          <p:cNvPicPr>
            <a:picLocks noChangeAspect="1"/>
          </p:cNvPicPr>
          <p:nvPr/>
        </p:nvPicPr>
        <p:blipFill>
          <a:blip r:embed="rId2"/>
          <a:stretch>
            <a:fillRect/>
          </a:stretch>
        </p:blipFill>
        <p:spPr>
          <a:xfrm>
            <a:off x="1156977" y="3177423"/>
            <a:ext cx="1333967" cy="279400"/>
          </a:xfrm>
          <a:prstGeom prst="rect">
            <a:avLst/>
          </a:prstGeom>
        </p:spPr>
      </p:pic>
      <p:sp>
        <p:nvSpPr>
          <p:cNvPr id="34" name="TextBox 33">
            <a:extLst>
              <a:ext uri="{FF2B5EF4-FFF2-40B4-BE49-F238E27FC236}">
                <a16:creationId xmlns:a16="http://schemas.microsoft.com/office/drawing/2014/main" id="{306E2FC3-9D81-344A-B127-781A9E1D3DD5}"/>
              </a:ext>
            </a:extLst>
          </p:cNvPr>
          <p:cNvSpPr txBox="1"/>
          <p:nvPr/>
        </p:nvSpPr>
        <p:spPr>
          <a:xfrm>
            <a:off x="9777496" y="1764057"/>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הרכב הצוות: </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5" name="TextBox 34">
            <a:extLst>
              <a:ext uri="{FF2B5EF4-FFF2-40B4-BE49-F238E27FC236}">
                <a16:creationId xmlns:a16="http://schemas.microsoft.com/office/drawing/2014/main" id="{4ED89E95-E24E-4346-A5C9-F898120FF507}"/>
              </a:ext>
            </a:extLst>
          </p:cNvPr>
          <p:cNvSpPr txBox="1"/>
          <p:nvPr/>
        </p:nvSpPr>
        <p:spPr>
          <a:xfrm>
            <a:off x="7205575" y="1776863"/>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err="1">
                <a:ln>
                  <a:noFill/>
                </a:ln>
                <a:solidFill>
                  <a:prstClr val="white"/>
                </a:solidFill>
                <a:effectLst/>
                <a:uLnTx/>
                <a:uFillTx/>
                <a:latin typeface="Rubik" pitchFamily="2" charset="-79"/>
                <a:ea typeface="+mn-ea"/>
                <a:cs typeface="Rubik" pitchFamily="2" charset="-79"/>
              </a:rPr>
              <a:t>מנהל.ות</a:t>
            </a: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 הצוות:</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6" name="TextBox 35">
            <a:extLst>
              <a:ext uri="{FF2B5EF4-FFF2-40B4-BE49-F238E27FC236}">
                <a16:creationId xmlns:a16="http://schemas.microsoft.com/office/drawing/2014/main" id="{1B531E76-132D-A54B-A846-4CC83B009D6D}"/>
              </a:ext>
            </a:extLst>
          </p:cNvPr>
          <p:cNvSpPr txBox="1"/>
          <p:nvPr/>
        </p:nvSpPr>
        <p:spPr>
          <a:xfrm>
            <a:off x="673219" y="1797764"/>
            <a:ext cx="1721348" cy="356508"/>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מלוות התהליך:</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sp>
        <p:nvSpPr>
          <p:cNvPr id="37" name="TextBox 36">
            <a:extLst>
              <a:ext uri="{FF2B5EF4-FFF2-40B4-BE49-F238E27FC236}">
                <a16:creationId xmlns:a16="http://schemas.microsoft.com/office/drawing/2014/main" id="{953C3461-7FA1-4442-A7E0-7BC5C82593C1}"/>
              </a:ext>
            </a:extLst>
          </p:cNvPr>
          <p:cNvSpPr txBox="1"/>
          <p:nvPr/>
        </p:nvSpPr>
        <p:spPr>
          <a:xfrm>
            <a:off x="792075" y="3136694"/>
            <a:ext cx="1739392" cy="362343"/>
          </a:xfrm>
          <a:prstGeom prst="rect">
            <a:avLst/>
          </a:prstGeom>
          <a:noFill/>
        </p:spPr>
        <p:txBody>
          <a:bodyPr wrap="square" rtlCol="0">
            <a:spAutoFit/>
          </a:bodyPr>
          <a:lstStyle/>
          <a:p>
            <a:pPr marL="0" marR="0" lvl="0" indent="0" algn="r" defTabSz="914400" rtl="1" eaLnBrk="1" fontAlgn="auto" latinLnBrk="0" hangingPunct="1">
              <a:lnSpc>
                <a:spcPts val="223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Rubik" pitchFamily="2" charset="-79"/>
                <a:ea typeface="+mn-ea"/>
                <a:cs typeface="Rubik" pitchFamily="2" charset="-79"/>
              </a:rPr>
              <a:t>רכז הפורום:</a:t>
            </a:r>
            <a:endParaRPr kumimoji="0" lang="he-IL" sz="1800" b="0" i="0" u="none" strike="noStrike" kern="1200" cap="none" spc="0" normalizeH="0" baseline="0" noProof="0" dirty="0">
              <a:ln>
                <a:noFill/>
              </a:ln>
              <a:solidFill>
                <a:prstClr val="white"/>
              </a:solidFill>
              <a:effectLst/>
              <a:uLnTx/>
              <a:uFillTx/>
              <a:latin typeface="Rubik" pitchFamily="2" charset="-79"/>
              <a:ea typeface="+mn-ea"/>
              <a:cs typeface="Rubik" pitchFamily="2" charset="-79"/>
            </a:endParaRPr>
          </a:p>
        </p:txBody>
      </p:sp>
      <p:cxnSp>
        <p:nvCxnSpPr>
          <p:cNvPr id="2" name="Straight Connector 1">
            <a:extLst>
              <a:ext uri="{FF2B5EF4-FFF2-40B4-BE49-F238E27FC236}">
                <a16:creationId xmlns:a16="http://schemas.microsoft.com/office/drawing/2014/main" id="{B46018E9-F0F4-F7A5-3B6D-CF38BAAD8455}"/>
              </a:ext>
            </a:extLst>
          </p:cNvPr>
          <p:cNvCxnSpPr>
            <a:cxnSpLocks/>
          </p:cNvCxnSpPr>
          <p:nvPr/>
        </p:nvCxnSpPr>
        <p:spPr>
          <a:xfrm>
            <a:off x="5729593" y="1782315"/>
            <a:ext cx="0" cy="3274089"/>
          </a:xfrm>
          <a:prstGeom prst="line">
            <a:avLst/>
          </a:prstGeom>
          <a:ln w="28575">
            <a:solidFill>
              <a:srgbClr val="9F52A3"/>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1C6223C-A462-2E40-3B3E-9BE2F8E4CC1C}"/>
              </a:ext>
            </a:extLst>
          </p:cNvPr>
          <p:cNvPicPr>
            <a:picLocks noChangeAspect="1"/>
          </p:cNvPicPr>
          <p:nvPr/>
        </p:nvPicPr>
        <p:blipFill>
          <a:blip r:embed="rId2"/>
          <a:stretch>
            <a:fillRect/>
          </a:stretch>
        </p:blipFill>
        <p:spPr>
          <a:xfrm>
            <a:off x="3440083" y="1847000"/>
            <a:ext cx="1876539" cy="279400"/>
          </a:xfrm>
          <a:prstGeom prst="rect">
            <a:avLst/>
          </a:prstGeom>
        </p:spPr>
      </p:pic>
      <p:sp>
        <p:nvSpPr>
          <p:cNvPr id="11" name="TextBox 10">
            <a:extLst>
              <a:ext uri="{FF2B5EF4-FFF2-40B4-BE49-F238E27FC236}">
                <a16:creationId xmlns:a16="http://schemas.microsoft.com/office/drawing/2014/main" id="{B5A4CC0F-C8D2-8A7C-B5B3-AA83E67B6203}"/>
              </a:ext>
            </a:extLst>
          </p:cNvPr>
          <p:cNvSpPr txBox="1"/>
          <p:nvPr/>
        </p:nvSpPr>
        <p:spPr>
          <a:xfrm>
            <a:off x="3362391" y="1782315"/>
            <a:ext cx="1972015" cy="369332"/>
          </a:xfrm>
          <a:prstGeom prst="rect">
            <a:avLst/>
          </a:prstGeom>
          <a:noFill/>
        </p:spPr>
        <p:txBody>
          <a:bodyPr wrap="squar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Calibri" panose="020F0502020204030204"/>
                <a:ea typeface="+mn-ea"/>
                <a:cs typeface="Rubik" pitchFamily="2" charset="-79"/>
              </a:rPr>
              <a:t>מובילי צוות מדדים:</a:t>
            </a:r>
          </a:p>
        </p:txBody>
      </p:sp>
      <p:sp>
        <p:nvSpPr>
          <p:cNvPr id="14" name="TextBox 13">
            <a:extLst>
              <a:ext uri="{FF2B5EF4-FFF2-40B4-BE49-F238E27FC236}">
                <a16:creationId xmlns:a16="http://schemas.microsoft.com/office/drawing/2014/main" id="{20AC7CF7-FA5F-4D3A-13C1-78704866A6C7}"/>
              </a:ext>
            </a:extLst>
          </p:cNvPr>
          <p:cNvSpPr txBox="1"/>
          <p:nvPr/>
        </p:nvSpPr>
        <p:spPr>
          <a:xfrm>
            <a:off x="2572924" y="2152939"/>
            <a:ext cx="3067491" cy="2846933"/>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רות </a:t>
            </a:r>
            <a:r>
              <a:rPr kumimoji="0" lang="he-IL" sz="17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מייטליס</a:t>
            </a:r>
            <a:r>
              <a:rPr kumimoji="0" lang="he-IL" sz="17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7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הרווחה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אסנת שמיר -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משרד הבריאות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גלעד הדס-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הג'וינט</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זוריאן</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רדומיסלסקי</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מכבי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ישי קום-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מאוחדת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ד"ר שי בריל-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קופ"ח כללית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יו"ר אקדמי: </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פרופ' רביע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cs typeface="Assistant" pitchFamily="2" charset="-79"/>
              </a:rPr>
              <a:t>ח'לאילה</a:t>
            </a:r>
            <a:r>
              <a:rPr kumimoji="0" lang="he-IL" sz="18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 סגן נשיא מכללת צפת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spTree>
    <p:extLst>
      <p:ext uri="{BB962C8B-B14F-4D97-AF65-F5344CB8AC3E}">
        <p14:creationId xmlns:p14="http://schemas.microsoft.com/office/powerpoint/2010/main" val="3939822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35311" y="2561087"/>
            <a:ext cx="1596280"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56494" y="4100721"/>
            <a:ext cx="1585958"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29847" y="4648167"/>
            <a:ext cx="1585958" cy="48828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697855"/>
            <a:ext cx="1596280" cy="732363"/>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35365" y="2762057"/>
            <a:ext cx="2448344" cy="2960811"/>
            <a:chOff x="-658330" y="2484953"/>
            <a:chExt cx="2524769" cy="3573280"/>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62945" y="3144729"/>
              <a:ext cx="2206667" cy="2913504"/>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35311" y="2010739"/>
            <a:ext cx="1596280" cy="419479"/>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הביטוח הלאומי</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895172" y="238612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838746" y="392445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838538" y="5258699"/>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60608" y="2696024"/>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720227" y="4023733"/>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60591" y="3548420"/>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פעילות גופנית סדירה</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היעזרות באמצעים תומכים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3" y="316487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2" y="451164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46546" y="5745539"/>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615553"/>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1"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0729" y="995194"/>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7718869" y="173450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494183" y="1682750"/>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259021" y="1697099"/>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05392" y="5295477"/>
            <a:ext cx="1585958" cy="46276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47530" y="5918628"/>
            <a:ext cx="1564652" cy="469697"/>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 הממשלה הרלוונטיים</a:t>
            </a:r>
          </a:p>
        </p:txBody>
      </p:sp>
      <p:sp>
        <p:nvSpPr>
          <p:cNvPr id="48" name="Rectangle: Rounded Corners 47">
            <a:extLst>
              <a:ext uri="{FF2B5EF4-FFF2-40B4-BE49-F238E27FC236}">
                <a16:creationId xmlns:a16="http://schemas.microsoft.com/office/drawing/2014/main" id="{44E007AC-0C9E-D7B0-0306-384B9E4DA56D}"/>
              </a:ext>
            </a:extLst>
          </p:cNvPr>
          <p:cNvSpPr/>
          <p:nvPr/>
        </p:nvSpPr>
        <p:spPr>
          <a:xfrm>
            <a:off x="6636877" y="3596314"/>
            <a:ext cx="1585959"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חברות סיעוד</a:t>
            </a:r>
          </a:p>
        </p:txBody>
      </p:sp>
      <p:sp>
        <p:nvSpPr>
          <p:cNvPr id="52" name="Rectangle: Rounded Corners 51">
            <a:extLst>
              <a:ext uri="{FF2B5EF4-FFF2-40B4-BE49-F238E27FC236}">
                <a16:creationId xmlns:a16="http://schemas.microsoft.com/office/drawing/2014/main" id="{E4EF5CCF-D9AC-FABE-E4EA-5722ED3E3BCD}"/>
              </a:ext>
            </a:extLst>
          </p:cNvPr>
          <p:cNvSpPr/>
          <p:nvPr/>
        </p:nvSpPr>
        <p:spPr>
          <a:xfrm>
            <a:off x="6656494" y="3050112"/>
            <a:ext cx="1578594" cy="38842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המטפלות</a:t>
            </a:r>
          </a:p>
        </p:txBody>
      </p:sp>
      <p:pic>
        <p:nvPicPr>
          <p:cNvPr id="11" name="Picture 10">
            <a:extLst>
              <a:ext uri="{FF2B5EF4-FFF2-40B4-BE49-F238E27FC236}">
                <a16:creationId xmlns:a16="http://schemas.microsoft.com/office/drawing/2014/main" id="{CC81804E-05FA-7B35-A72D-A1B8B7C88DD5}"/>
              </a:ext>
            </a:extLst>
          </p:cNvPr>
          <p:cNvPicPr>
            <a:picLocks noChangeAspect="1"/>
          </p:cNvPicPr>
          <p:nvPr/>
        </p:nvPicPr>
        <p:blipFill>
          <a:blip r:embed="rId5"/>
          <a:stretch>
            <a:fillRect/>
          </a:stretch>
        </p:blipFill>
        <p:spPr>
          <a:xfrm>
            <a:off x="3611" y="-5684"/>
            <a:ext cx="12192000" cy="744061"/>
          </a:xfrm>
          <a:prstGeom prst="rect">
            <a:avLst/>
          </a:prstGeom>
        </p:spPr>
      </p:pic>
      <p:sp>
        <p:nvSpPr>
          <p:cNvPr id="28" name="TextBox 27">
            <a:extLst>
              <a:ext uri="{FF2B5EF4-FFF2-40B4-BE49-F238E27FC236}">
                <a16:creationId xmlns:a16="http://schemas.microsoft.com/office/drawing/2014/main" id="{78880B34-4B12-577F-4FD3-4E54051AFB6D}"/>
              </a:ext>
            </a:extLst>
          </p:cNvPr>
          <p:cNvSpPr txBox="1"/>
          <p:nvPr/>
        </p:nvSpPr>
        <p:spPr>
          <a:xfrm>
            <a:off x="1606782" y="52413"/>
            <a:ext cx="10219200" cy="584775"/>
          </a:xfrm>
          <a:prstGeom prst="rect">
            <a:avLst/>
          </a:prstGeom>
          <a:noFill/>
        </p:spPr>
        <p:txBody>
          <a:bodyPr wrap="square">
            <a:spAutoFit/>
          </a:bodyPr>
          <a:lstStyle/>
          <a:p>
            <a:pPr algn="r" rtl="1"/>
            <a:r>
              <a:rPr lang="he-IL" sz="3200" b="1" dirty="0">
                <a:solidFill>
                  <a:schemeClr val="bg1"/>
                </a:solidFill>
                <a:latin typeface="Assistant" pitchFamily="2" charset="-79"/>
                <a:cs typeface="Assistant" pitchFamily="2" charset="-79"/>
              </a:rPr>
              <a:t>תפיסה רב מערכתית לשימור תפקוד ומניעת הדרדרות</a:t>
            </a:r>
          </a:p>
        </p:txBody>
      </p:sp>
    </p:spTree>
    <p:extLst>
      <p:ext uri="{BB962C8B-B14F-4D97-AF65-F5344CB8AC3E}">
        <p14:creationId xmlns:p14="http://schemas.microsoft.com/office/powerpoint/2010/main" val="418928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P spid="48" grpId="0" animBg="1"/>
      <p:bldP spid="5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4418616" y="22406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פנינה לוי, </a:t>
            </a: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26736"/>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בדידות: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תלות בבן: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18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5888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מטפלת?</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טיטולים?</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כסף?</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שירותי כביסה?</a:t>
            </a:r>
            <a:endParaRPr kumimoji="0" lang="en-US"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537739" y="152061"/>
            <a:ext cx="6096000" cy="800219"/>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Calibri"/>
                <a:ea typeface="+mn-ea"/>
                <a:cs typeface="Calibri"/>
              </a:rPr>
              <a:t>מקרה בוחן -</a:t>
            </a:r>
            <a:br>
              <a:rPr kumimoji="0" lang="en-US" sz="1800" b="0" i="0" u="none" strike="noStrike" kern="1200" cap="none" spc="0" normalizeH="0" baseline="0" noProof="0" dirty="0">
                <a:ln>
                  <a:noFill/>
                </a:ln>
                <a:solidFill>
                  <a:prstClr val="black"/>
                </a:solidFill>
                <a:effectLst/>
                <a:uLnTx/>
                <a:uFillTx/>
                <a:latin typeface="Calibri"/>
                <a:ea typeface="+mn-ea"/>
                <a:cs typeface="Calibri"/>
              </a:rPr>
            </a:b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Calibri"/>
                <a:ea typeface="+mn-ea"/>
                <a:cs typeface="Calibri"/>
              </a:rPr>
              <a:t>מבוסס על סיפור אמיתי </a:t>
            </a:r>
            <a:br>
              <a:rPr kumimoji="0" lang="en-US" sz="1800" b="0" i="0" u="none" strike="noStrike" kern="1200" cap="none" spc="0" normalizeH="0" baseline="0" noProof="0" dirty="0">
                <a:ln>
                  <a:noFill/>
                </a:ln>
                <a:solidFill>
                  <a:srgbClr val="002060"/>
                </a:solidFill>
                <a:effectLst/>
                <a:uLnTx/>
                <a:uFillTx/>
                <a:latin typeface="Calibri"/>
                <a:ea typeface="+mn-ea"/>
                <a:cs typeface="Calibri"/>
              </a:rPr>
            </a:br>
            <a:r>
              <a:rPr kumimoji="0" lang="he-IL" sz="1400" b="0" i="0" u="none" strike="noStrike" kern="1200" cap="none" spc="0" normalizeH="0" baseline="0" noProof="0" dirty="0">
                <a:ln>
                  <a:noFill/>
                </a:ln>
                <a:solidFill>
                  <a:srgbClr val="002060"/>
                </a:solidFill>
                <a:effectLst/>
                <a:uLnTx/>
                <a:uFillTx/>
                <a:latin typeface="Calibri"/>
                <a:ea typeface="+mn-ea"/>
                <a:cs typeface="Calibri"/>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192377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297851" y="2695729"/>
            <a:ext cx="2415365" cy="3314633"/>
          </a:xfrm>
          <a:prstGeom prst="rect">
            <a:avLst/>
          </a:prstGeom>
        </p:spPr>
      </p:pic>
      <p:pic>
        <p:nvPicPr>
          <p:cNvPr id="7" name="תמונה 6">
            <a:extLst>
              <a:ext uri="{FF2B5EF4-FFF2-40B4-BE49-F238E27FC236}">
                <a16:creationId xmlns:a16="http://schemas.microsoft.com/office/drawing/2014/main" id="{EC3E2A61-AA9E-1343-5B2C-12C2BFFDABAA}"/>
              </a:ext>
            </a:extLst>
          </p:cNvPr>
          <p:cNvPicPr>
            <a:picLocks noChangeAspect="1"/>
          </p:cNvPicPr>
          <p:nvPr/>
        </p:nvPicPr>
        <p:blipFill>
          <a:blip r:embed="rId4">
            <a:extLst>
              <a:ext uri="{28A0092B-C50C-407E-A947-70E740481C1C}">
                <a14:useLocalDpi xmlns:a14="http://schemas.microsoft.com/office/drawing/2010/main" val="0"/>
              </a:ext>
            </a:extLst>
          </a:blip>
          <a:srcRect t="28199"/>
          <a:stretch/>
        </p:blipFill>
        <p:spPr>
          <a:xfrm>
            <a:off x="9303873" y="3653985"/>
            <a:ext cx="2590276" cy="2851965"/>
          </a:xfrm>
          <a:prstGeom prst="rect">
            <a:avLst/>
          </a:prstGeom>
        </p:spPr>
      </p:pic>
      <p:pic>
        <p:nvPicPr>
          <p:cNvPr id="9" name="תמונה 8">
            <a:extLst>
              <a:ext uri="{FF2B5EF4-FFF2-40B4-BE49-F238E27FC236}">
                <a16:creationId xmlns:a16="http://schemas.microsoft.com/office/drawing/2014/main" id="{7905EA4F-6971-34E1-1578-BD9BE9091A2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8127" y="1212361"/>
            <a:ext cx="3026133" cy="5293589"/>
          </a:xfrm>
          <a:prstGeom prst="rect">
            <a:avLst/>
          </a:prstGeom>
        </p:spPr>
      </p:pic>
      <p:pic>
        <p:nvPicPr>
          <p:cNvPr id="11" name="תמונה 10">
            <a:extLst>
              <a:ext uri="{FF2B5EF4-FFF2-40B4-BE49-F238E27FC236}">
                <a16:creationId xmlns:a16="http://schemas.microsoft.com/office/drawing/2014/main" id="{584D1AD9-E626-89CA-EB20-DE493D833AB3}"/>
              </a:ext>
            </a:extLst>
          </p:cNvPr>
          <p:cNvPicPr>
            <a:picLocks noChangeAspect="1"/>
          </p:cNvPicPr>
          <p:nvPr/>
        </p:nvPicPr>
        <p:blipFill>
          <a:blip r:embed="rId6">
            <a:extLst>
              <a:ext uri="{28A0092B-C50C-407E-A947-70E740481C1C}">
                <a14:useLocalDpi xmlns:a14="http://schemas.microsoft.com/office/drawing/2010/main" val="0"/>
              </a:ext>
            </a:extLst>
          </a:blip>
          <a:srcRect t="35105"/>
          <a:stretch/>
        </p:blipFill>
        <p:spPr>
          <a:xfrm>
            <a:off x="5920274" y="2695729"/>
            <a:ext cx="3383599" cy="3810221"/>
          </a:xfrm>
          <a:prstGeom prst="rect">
            <a:avLst/>
          </a:prstGeom>
        </p:spPr>
      </p:pic>
      <p:sp>
        <p:nvSpPr>
          <p:cNvPr id="13" name="תיבת טקסט 12">
            <a:extLst>
              <a:ext uri="{FF2B5EF4-FFF2-40B4-BE49-F238E27FC236}">
                <a16:creationId xmlns:a16="http://schemas.microsoft.com/office/drawing/2014/main" id="{DD7EFE8D-D0ED-B25F-F23C-174ADF3C1321}"/>
              </a:ext>
            </a:extLst>
          </p:cNvPr>
          <p:cNvSpPr txBox="1"/>
          <p:nvPr/>
        </p:nvSpPr>
        <p:spPr>
          <a:xfrm>
            <a:off x="6580776" y="627586"/>
            <a:ext cx="5089856" cy="584775"/>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a:ea typeface="+mn-ea"/>
                <a:cs typeface="Calibri"/>
              </a:rPr>
              <a:t>חווית המשתמש של פנינה 2024</a:t>
            </a:r>
          </a:p>
        </p:txBody>
      </p:sp>
      <p:sp>
        <p:nvSpPr>
          <p:cNvPr id="14" name="מלבן 13">
            <a:extLst>
              <a:ext uri="{FF2B5EF4-FFF2-40B4-BE49-F238E27FC236}">
                <a16:creationId xmlns:a16="http://schemas.microsoft.com/office/drawing/2014/main" id="{EB3B24D3-9B0F-DB32-6500-72DFA19A4B6C}"/>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5" name="TextBox 26">
            <a:extLst>
              <a:ext uri="{FF2B5EF4-FFF2-40B4-BE49-F238E27FC236}">
                <a16:creationId xmlns:a16="http://schemas.microsoft.com/office/drawing/2014/main" id="{9514FFD6-8567-4AE9-DCC7-51E3D91B1A96}"/>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3477481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1362073" y="456416"/>
            <a:ext cx="9286870" cy="283154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Calibri"/>
                <a:ea typeface="+mn-ea"/>
                <a:cs typeface="Calibri"/>
              </a:rPr>
              <a:t>פנינה לוי, אישה בת 71, רמת סיעוד 2 </a:t>
            </a:r>
            <a:r>
              <a:rPr kumimoji="0" lang="he-IL" sz="1600" b="1" i="0" u="none" strike="noStrike" kern="1200" cap="none" spc="0" normalizeH="0" baseline="0" noProof="0" dirty="0">
                <a:ln>
                  <a:noFill/>
                </a:ln>
                <a:solidFill>
                  <a:prstClr val="black"/>
                </a:solidFill>
                <a:effectLst/>
                <a:uLnTx/>
                <a:uFillTx/>
                <a:latin typeface="Calibri"/>
                <a:ea typeface="+mn-ea"/>
                <a:cs typeface="Calibri"/>
              </a:rPr>
              <a:t>(מייצגת 15% מהזקנים בישראל ברמות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
              <a:ea typeface="+mn-ea"/>
              <a:cs typeface="Calibri"/>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המלצות לסל מותאם לפנינה מצ'אט </a:t>
            </a:r>
            <a:r>
              <a:rPr kumimoji="0" lang="en-US" sz="16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GPT</a:t>
            </a: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חיבור חברתי: פעילויות חברתיות בקהילה, מפגשים עם חברים, קבוצות תמיכה, פעילויות פנאי</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פיזיותרפיה: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טיפולים לחיזוק השרירים, שיפור שיווי המשקל והתנועתיות, והפחתת הסיכון לנפילות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טיפול רגשי: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סיוע להתמודדות עם קשיים רגשיים, בדידות, דיכאון, וחששות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he-IL" sz="16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וייעוץ: </a:t>
            </a:r>
            <a:r>
              <a:rPr kumimoji="0" lang="he-IL" sz="16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הדרכה לבני המשפחה בנוגע לטיפול נכון בפנינה, ייעוץ בנוגע לזכויותיה והטבות המגיעות לה</a:t>
            </a:r>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056964" y="5214421"/>
            <a:ext cx="7583577" cy="1200329"/>
          </a:xfrm>
          <a:prstGeom prst="rect">
            <a:avLst/>
          </a:prstGeom>
          <a:solidFill>
            <a:schemeClr val="accent1">
              <a:lumMod val="20000"/>
              <a:lumOff val="80000"/>
            </a:schemeClr>
          </a:solidFill>
          <a:ln>
            <a:noFill/>
          </a:ln>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דגשים חשובים:</a:t>
            </a:r>
            <a:endParaRPr kumimoji="0" lang="he-IL" sz="1800" b="0" i="0" u="none" strike="noStrike" kern="1200" cap="none" spc="0" normalizeH="0" baseline="0" noProof="0" dirty="0">
              <a:ln>
                <a:noFill/>
              </a:ln>
              <a:solidFill>
                <a:srgbClr val="0F6FC6"/>
              </a:solidFill>
              <a:effectLst/>
              <a:uLnTx/>
              <a:uFillTx/>
              <a:latin typeface="Calibri"/>
              <a:ea typeface="+mn-ea"/>
              <a:cs typeface="Calibri"/>
            </a:endParaRP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סל השירותים המומלץ צריך להיות מותאם אישית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לצרכיה הייחודיים של פנינה.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1" i="0" u="none" strike="noStrike" kern="1200" cap="none" spc="0" normalizeH="0" baseline="0" noProof="0" dirty="0">
                <a:ln>
                  <a:noFill/>
                </a:ln>
                <a:solidFill>
                  <a:prstClr val="black"/>
                </a:solidFill>
                <a:effectLst/>
                <a:uLnTx/>
                <a:uFillTx/>
                <a:latin typeface="Calibri"/>
                <a:ea typeface="+mn-ea"/>
                <a:cs typeface="Calibri"/>
              </a:rPr>
              <a:t>רצוי שפנינה תהיה מעורבת בתהליך קבלת ההחלטות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בנוגע לסל השירותים שיוענק לה.</a:t>
            </a:r>
          </a:p>
          <a:p>
            <a:pPr marL="285750" marR="0" lvl="0" indent="-285750" algn="r" defTabSz="914400" rtl="1"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he-IL" sz="1800" b="0" i="0" u="none" strike="noStrike" kern="1200" cap="none" spc="0" normalizeH="0" baseline="0" noProof="0" dirty="0">
                <a:ln>
                  <a:noFill/>
                </a:ln>
                <a:solidFill>
                  <a:prstClr val="black"/>
                </a:solidFill>
                <a:effectLst/>
                <a:uLnTx/>
                <a:uFillTx/>
                <a:latin typeface="Calibri"/>
                <a:ea typeface="+mn-ea"/>
                <a:cs typeface="Calibri"/>
              </a:rPr>
              <a:t>חשוב</a:t>
            </a:r>
            <a:r>
              <a:rPr kumimoji="0" lang="he-IL" sz="1800" b="1" i="0" u="none" strike="noStrike" kern="1200" cap="none" spc="0" normalizeH="0" baseline="0" noProof="0" dirty="0">
                <a:ln>
                  <a:noFill/>
                </a:ln>
                <a:solidFill>
                  <a:prstClr val="black"/>
                </a:solidFill>
                <a:effectLst/>
                <a:uLnTx/>
                <a:uFillTx/>
                <a:latin typeface="Calibri"/>
                <a:ea typeface="+mn-ea"/>
                <a:cs typeface="Calibri"/>
              </a:rPr>
              <a:t> לתעד ולמדוד את התקדמותה של פנינה ולעדכן את סל השירותים </a:t>
            </a:r>
            <a:r>
              <a:rPr kumimoji="0" lang="he-IL" sz="1800" b="0" i="0" u="none" strike="noStrike" kern="1200" cap="none" spc="0" normalizeH="0" baseline="0" noProof="0" dirty="0">
                <a:ln>
                  <a:noFill/>
                </a:ln>
                <a:solidFill>
                  <a:prstClr val="black"/>
                </a:solidFill>
                <a:effectLst/>
                <a:uLnTx/>
                <a:uFillTx/>
                <a:latin typeface="Calibri"/>
                <a:ea typeface="+mn-ea"/>
                <a:cs typeface="Calibri"/>
              </a:rPr>
              <a:t>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621958" y="3047289"/>
            <a:ext cx="8018584" cy="190064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מטרת סל השירותים:</a:t>
            </a:r>
            <a:endParaRPr kumimoji="0" lang="he-IL"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לשפר את איכות חייה של פנינה ולעזור לה לשמור על עצמאותה.</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להפחית את תחושת הבדידות והתלות בבן.</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לחזק את בריאותה הנפשית והפיזית.</a:t>
            </a:r>
          </a:p>
          <a:p>
            <a:pPr marL="285750" marR="0" lvl="0" indent="-285750" algn="r" defTabSz="914400" rtl="1"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he-IL" sz="16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לאפשר לה ליהנות מחיים מלאים ומשמעותיים.</a:t>
            </a:r>
          </a:p>
        </p:txBody>
      </p:sp>
      <p:pic>
        <p:nvPicPr>
          <p:cNvPr id="2" name="Picture 18">
            <a:extLst>
              <a:ext uri="{FF2B5EF4-FFF2-40B4-BE49-F238E27FC236}">
                <a16:creationId xmlns:a16="http://schemas.microsoft.com/office/drawing/2014/main" id="{B5FB7129-FE9E-CD89-BD53-4490FEB7F7CB}"/>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p:blipFill>
        <p:spPr>
          <a:xfrm>
            <a:off x="393290" y="2925967"/>
            <a:ext cx="2415365" cy="3314633"/>
          </a:xfrm>
          <a:prstGeom prst="rect">
            <a:avLst/>
          </a:prstGeom>
        </p:spPr>
      </p:pic>
      <p:pic>
        <p:nvPicPr>
          <p:cNvPr id="4" name="תמונה 3">
            <a:extLst>
              <a:ext uri="{FF2B5EF4-FFF2-40B4-BE49-F238E27FC236}">
                <a16:creationId xmlns:a16="http://schemas.microsoft.com/office/drawing/2014/main" id="{320C65D6-6AD9-8513-5DB0-F6B86BC191A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640542" y="364082"/>
            <a:ext cx="2143444" cy="1200329"/>
          </a:xfrm>
          <a:prstGeom prst="rect">
            <a:avLst/>
          </a:prstGeom>
        </p:spPr>
      </p:pic>
    </p:spTree>
    <p:extLst>
      <p:ext uri="{BB962C8B-B14F-4D97-AF65-F5344CB8AC3E}">
        <p14:creationId xmlns:p14="http://schemas.microsoft.com/office/powerpoint/2010/main" val="3564675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3A0C206E-7DD4-1B80-43C4-3673D3D46718}"/>
              </a:ext>
            </a:extLst>
          </p:cNvPr>
          <p:cNvSpPr txBox="1"/>
          <p:nvPr/>
        </p:nvSpPr>
        <p:spPr>
          <a:xfrm>
            <a:off x="1468581" y="381666"/>
            <a:ext cx="10132291" cy="6266844"/>
          </a:xfrm>
          <a:prstGeom prst="rect">
            <a:avLst/>
          </a:prstGeom>
          <a:noFill/>
        </p:spPr>
        <p:txBody>
          <a:bodyPr wrap="square">
            <a:spAutoFit/>
          </a:bodyPr>
          <a:lstStyle/>
          <a:p>
            <a:pPr algn="just" rtl="1"/>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ממצאי מחקר השטח עם </a:t>
            </a:r>
            <a:r>
              <a:rPr lang="en-US" sz="1600" b="1" dirty="0">
                <a:effectLst/>
                <a:latin typeface="Times New Roman" panose="02020603050405020304" pitchFamily="18" charset="0"/>
                <a:ea typeface="Times New Roman" panose="02020603050405020304" pitchFamily="18" charset="0"/>
                <a:cs typeface="Arial" panose="020B0604020202020204" pitchFamily="34" charset="0"/>
              </a:rPr>
              <a:t>EY</a:t>
            </a: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 תקציר עיקרי</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חוסר מודעות לשירותים וזכויות</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אזרחים ותיקים רבים אינם מודעים לשירותים הזמינים או מתקשים להבין כיצד להפיק מהם תועלת. המידע אינו נגיש בצורה ידידותית</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יש צורך בשיפור הסברה והנגשת מידע על אפשרויות השירותים, כדי להבטיח שכל אזרח יקבל את המידע הדרוש לו</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מנגנוני הנגשה וייזום פרואקטיביים</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השירותים אינם מגיעים בצורה יזומה לאוכלוסיות היעד, במיוחד באזורים עם פערים טכנולוגיים. יש לפתח מנגנונים יזומים שיוצרים קשר עם האזרחים במקום להמתין לפנייתם</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צורך בשיפור תהליכי </a:t>
            </a:r>
            <a:r>
              <a:rPr lang="he-IL" sz="1600" dirty="0" err="1">
                <a:effectLst/>
                <a:latin typeface="Calibri" panose="020F0502020204030204" pitchFamily="34" charset="0"/>
                <a:ea typeface="Times New Roman" panose="02020603050405020304" pitchFamily="18" charset="0"/>
                <a:cs typeface="Times New Roman" panose="02020603050405020304" pitchFamily="18" charset="0"/>
              </a:rPr>
              <a:t>היישוג</a:t>
            </a: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 כדי להקל על אזרחים ותיקים לגשת לשירותים</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תמיכה מותאמת אישית</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האזרחים זקוקים לליווי ותמיכה אישית מתמשכת, כולל מתאמות שירות שיסייעו להם בהכוונה לצריכת שירותים מותאמים ובהתאמות שוטפות</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התמיכה האישית חייבת לכלול מענה דינמי ועדכון שירותים בהתאם לצרכים המשתנים</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שירותים מותאמים תרבותית ומגדרית</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שירותים מותאמים צריכים לכבד את התרבות והמנהגים של אוכלוסיות שונות, כמו החברה החרדית והערבית. יש גם להתייחס להבדלים מגדריים בשימוש בשירותים</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התאמות אלו יסייעו לשילוב טוב יותר של כלל האזרחים במערך השירותים</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תמיכה טכנולוגית</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שירותים דיגיטליים יכולים לשפר את איכות החיים של אזרחים ותיקים, אך יש לגשר על הפערים הטכנולוגיים ולהעניק הדרכה מתאימה</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חשוב לשלב טכנולוגיות מתקדמות בצורה פשוטה ונגישה, כך שכל אזרח ותיק יוכל להפיק מהן תועלת</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rtl="1">
              <a:lnSpc>
                <a:spcPct val="115000"/>
              </a:lnSpc>
              <a:buFont typeface="+mj-lt"/>
              <a:buAutoNum type="arabicPeriod"/>
              <a:tabLst>
                <a:tab pos="457200" algn="l"/>
              </a:tabLst>
            </a:pPr>
            <a:r>
              <a:rPr lang="he-IL" sz="1600" b="1" dirty="0">
                <a:effectLst/>
                <a:latin typeface="Calibri" panose="020F0502020204030204" pitchFamily="34" charset="0"/>
                <a:ea typeface="Times New Roman" panose="02020603050405020304" pitchFamily="18" charset="0"/>
                <a:cs typeface="Times New Roman" panose="02020603050405020304" pitchFamily="18" charset="0"/>
              </a:rPr>
              <a:t>סיוע לנזקקים וזיהוי דגלים אדומים</a:t>
            </a:r>
            <a:r>
              <a:rPr lang="en-US" sz="1600" dirty="0">
                <a:effectLst/>
                <a:latin typeface="Times New Roman" panose="02020603050405020304" pitchFamily="18" charset="0"/>
                <a:ea typeface="Times New Roman" panose="02020603050405020304" pitchFamily="18"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a:p>
            <a:pPr marL="742950" lvl="1" indent="-285750" algn="just" rtl="1">
              <a:lnSpc>
                <a:spcPct val="115000"/>
              </a:lnSpc>
              <a:buSzPts val="1000"/>
              <a:buFont typeface="Courier New" panose="02070309020205020404" pitchFamily="49" charset="0"/>
              <a:buChar char="o"/>
              <a:tabLst>
                <a:tab pos="914400" algn="l"/>
              </a:tabLst>
            </a:pPr>
            <a:r>
              <a:rPr lang="he-IL" sz="1600" dirty="0">
                <a:effectLst/>
                <a:latin typeface="Calibri" panose="020F0502020204030204" pitchFamily="34" charset="0"/>
                <a:ea typeface="Times New Roman" panose="02020603050405020304" pitchFamily="18" charset="0"/>
                <a:cs typeface="Times New Roman" panose="02020603050405020304" pitchFamily="18" charset="0"/>
              </a:rPr>
              <a:t>יש צורך במערכות לניטור וזיהוי מוקדם של מצבים כמו בדידות, הידרדרות בריאותית, וסיכונים אחרים, כדי להבטיח התערבות מהירה ויעילה</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9880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37563-65D7-448F-8EA0-F1C472EFA26B}"/>
            </a:ext>
          </a:extLst>
        </p:cNvPr>
        <p:cNvGrpSpPr/>
        <p:nvPr/>
      </p:nvGrpSpPr>
      <p:grpSpPr>
        <a:xfrm>
          <a:off x="0" y="0"/>
          <a:ext cx="0" cy="0"/>
          <a:chOff x="0" y="0"/>
          <a:chExt cx="0" cy="0"/>
        </a:xfrm>
      </p:grpSpPr>
      <p:sp>
        <p:nvSpPr>
          <p:cNvPr id="5" name="Rectangle 3">
            <a:extLst>
              <a:ext uri="{FF2B5EF4-FFF2-40B4-BE49-F238E27FC236}">
                <a16:creationId xmlns:a16="http://schemas.microsoft.com/office/drawing/2014/main" id="{0F431C51-6E18-45F1-F133-BDF1B93D2851}"/>
              </a:ext>
            </a:extLst>
          </p:cNvPr>
          <p:cNvSpPr>
            <a:spLocks noChangeArrowheads="1"/>
          </p:cNvSpPr>
          <p:nvPr/>
        </p:nvSpPr>
        <p:spPr bwMode="auto">
          <a:xfrm>
            <a:off x="563418" y="879001"/>
            <a:ext cx="10008899"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1" eaLnBrk="0" fontAlgn="base" latinLnBrk="0" hangingPunct="0">
              <a:lnSpc>
                <a:spcPct val="100000"/>
              </a:lnSpc>
              <a:spcBef>
                <a:spcPct val="0"/>
              </a:spcBef>
              <a:spcAft>
                <a:spcPct val="0"/>
              </a:spcAft>
              <a:buClrTx/>
              <a:buSzTx/>
              <a:buFontTx/>
              <a:buNone/>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עקרונות המודל החדש</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1" eaLnBrk="0" fontAlgn="base" latinLnBrk="0" hangingPunct="0">
              <a:lnSpc>
                <a:spcPct val="100000"/>
              </a:lnSpc>
              <a:spcBef>
                <a:spcPct val="0"/>
              </a:spcBef>
              <a:spcAft>
                <a:spcPct val="0"/>
              </a:spcAft>
              <a:buClrTx/>
              <a:buSzTx/>
              <a:buFontTx/>
              <a:buAutoNum type="arabicPeriod"/>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גישה מוכוונת אדם</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יצירת סל שירותים גמיש ומותאם אישית לכל אזרח ותיק, שמשלב תמיכה פיזית, חברתית וקוגניטיבית. הדגש הוא על מניעה ושימור תפקוד, עם אפשרות בחירה רחבה</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1" eaLnBrk="0" fontAlgn="base" latinLnBrk="0" hangingPunct="0">
              <a:lnSpc>
                <a:spcPct val="100000"/>
              </a:lnSpc>
              <a:spcBef>
                <a:spcPct val="0"/>
              </a:spcBef>
              <a:spcAft>
                <a:spcPct val="0"/>
              </a:spcAft>
              <a:buClrTx/>
              <a:buSzTx/>
              <a:buFontTx/>
              <a:buAutoNum type="arabicPeriod"/>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שירות קהילתי בסיסי לכל אזרח ותיק</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שירותים חיוניים שכוללים פעילויות חברתיות, תיקונים בבית, מענה בטיחותי, ושירותי תחבורה בסיסיים</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מתאמות שירות יובילו את תהליך התמיכה ויזמו פתרונות לפי הצרכים הקהילתיים</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1" eaLnBrk="0" fontAlgn="base" latinLnBrk="0" hangingPunct="0">
              <a:lnSpc>
                <a:spcPct val="100000"/>
              </a:lnSpc>
              <a:spcBef>
                <a:spcPct val="0"/>
              </a:spcBef>
              <a:spcAft>
                <a:spcPct val="0"/>
              </a:spcAft>
              <a:buClrTx/>
              <a:buSzTx/>
              <a:buFontTx/>
              <a:buAutoNum type="arabicPeriod"/>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סל שירותים מותאם אישית</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סל שירותים מגוון לבחירה, הכולל: ליווי אישי, ייעוץ תזונתי, פעילות גופנית, קורסי אוריינות דיגיטלית, ותמיכה טכנולוגית</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פלטפורמה דיגיטלית תעזור לנהל את הסל האישי, לעקוב אחר מדדים בריאותיים, ולהציע התאמות לפי הצרכים המשתנים</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1" eaLnBrk="0" fontAlgn="base" latinLnBrk="0" hangingPunct="0">
              <a:lnSpc>
                <a:spcPct val="100000"/>
              </a:lnSpc>
              <a:spcBef>
                <a:spcPct val="0"/>
              </a:spcBef>
              <a:spcAft>
                <a:spcPct val="0"/>
              </a:spcAft>
              <a:buClrTx/>
              <a:buSzTx/>
              <a:buFontTx/>
              <a:buAutoNum type="arabicPeriod"/>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שימוש בטכנולוגיות מתקדמות</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פלטפורמה חכמה לניהול שירותים ומעקב, המאפשרת לזהות שינויים במצב בריאותי ולספק שירותים מניעתיים</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שילוב</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AI </a:t>
            </a: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לזיהוי מוקדם של הידרדרות ומתן התראות למתאמות השירות</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1" eaLnBrk="0" fontAlgn="base" latinLnBrk="0" hangingPunct="0">
              <a:lnSpc>
                <a:spcPct val="100000"/>
              </a:lnSpc>
              <a:spcBef>
                <a:spcPct val="0"/>
              </a:spcBef>
              <a:spcAft>
                <a:spcPct val="0"/>
              </a:spcAft>
              <a:buClrTx/>
              <a:buSzTx/>
              <a:buFontTx/>
              <a:buAutoNum type="arabicPeriod"/>
              <a:tabLst/>
            </a:pPr>
            <a:r>
              <a:rPr kumimoji="0" lang="he-IL" altLang="he-IL"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שיתוף פעולה בין-משרדי</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תיאום בין משרדי ממשלה, רשויות מקומיות, וקופות חולים ליצירת רשת שירותים רציפה</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457200" marR="0" lvl="1" indent="0" defTabSz="914400" rtl="1" eaLnBrk="0" fontAlgn="base" latinLnBrk="0" hangingPunct="0">
              <a:lnSpc>
                <a:spcPct val="100000"/>
              </a:lnSpc>
              <a:spcBef>
                <a:spcPct val="0"/>
              </a:spcBef>
              <a:spcAft>
                <a:spcPct val="0"/>
              </a:spcAft>
              <a:buClrTx/>
              <a:buSzTx/>
              <a:buFontTx/>
              <a:buChar char="•"/>
              <a:tabLst/>
            </a:pPr>
            <a:r>
              <a:rPr kumimoji="0" lang="he-IL"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מעורבות של ארגוני מגזר שלישי לתמיכה ושיפור החיבור הקהילתי</a:t>
            </a:r>
            <a:r>
              <a:rPr kumimoji="0" lang="en-US" altLang="he-IL"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altLang="he-IL" sz="1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he-IL"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6785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702162"/>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התאמה אישית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ארנק דיגיטלי</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פתיחת השוק והתחרות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MT"/>
              <a:ea typeface="+mn-ea"/>
              <a:cs typeface="Assistant" pitchFamily="2"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Bold"/>
                <a:ea typeface="+mn-ea"/>
                <a:cs typeface="Assistant" pitchFamily="2" charset="-79"/>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5671038" y="288622"/>
            <a:ext cx="5541807" cy="83099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האדם במרכז</a:t>
            </a:r>
            <a:br>
              <a:rPr kumimoji="0" lang="en-US" sz="1600" b="0"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b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מותאם אישית </a:t>
            </a:r>
            <a:r>
              <a:rPr kumimoji="0" lang="en-US" sz="3200" b="1" i="0" u="none" strike="noStrike" kern="1200" cap="none" spc="0" normalizeH="0" baseline="0" noProof="0" dirty="0">
                <a:ln>
                  <a:noFill/>
                </a:ln>
                <a:solidFill>
                  <a:srgbClr val="0F6FC6"/>
                </a:solidFill>
                <a:effectLst/>
                <a:uLnTx/>
                <a:uFillTx/>
                <a:latin typeface="Arial" panose="020B0604020202020204" pitchFamily="34" charset="0"/>
                <a:ea typeface="+mn-ea"/>
                <a:cs typeface="Arial" panose="020B0604020202020204" pitchFamily="34" charset="0"/>
              </a:rPr>
              <a:t>AI</a:t>
            </a: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2291885"/>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rPr>
              <a:t>באמצעות</a:t>
            </a:r>
            <a:endParaRPr kumimoji="0" lang="en-IL" sz="1800" b="1" i="0" u="sng"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977116" y="1065806"/>
            <a:ext cx="5235729" cy="646331"/>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שירותים </a:t>
            </a: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ותוכן לאזרח הוותיק באמצעות גמלת סיעוד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 </a:t>
            </a: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12845" y="536003"/>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br>
            <a:r>
              <a:rPr kumimoji="0" lang="he-IL" sz="2400" b="1"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ssistant" pitchFamily="2" charset="-79"/>
              <a:ea typeface="+mn-ea"/>
              <a:cs typeface="Assistant" pitchFamily="2" charset="-79"/>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604268"/>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ssistant" pitchFamily="2" charset="-79"/>
                <a:ea typeface="+mn-ea"/>
                <a:cs typeface="Assistant" pitchFamily="2" charset="-79"/>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86013"/>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ssistant" pitchFamily="2" charset="-79"/>
              <a:ea typeface="+mn-ea"/>
              <a:cs typeface="Assistant" pitchFamily="2" charset="-79"/>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Tree>
    <p:extLst>
      <p:ext uri="{BB962C8B-B14F-4D97-AF65-F5344CB8AC3E}">
        <p14:creationId xmlns:p14="http://schemas.microsoft.com/office/powerpoint/2010/main" val="2276989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80492" y="286707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ea typeface="+mj-ea"/>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ssistant" pitchFamily="2" charset="-79"/>
                <a:ea typeface="+mj-ea"/>
                <a:cs typeface="Assistant" pitchFamily="2" charset="-79"/>
              </a:rPr>
              <a:t>סל מותאם אישית </a:t>
            </a:r>
            <a:br>
              <a:rPr kumimoji="0" lang="he-IL" sz="32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מבוסס נתונים</a:t>
            </a:r>
            <a:b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br>
            <a:r>
              <a:rPr kumimoji="0" lang="he-IL" sz="1800" b="0" i="0" u="none" strike="noStrike" kern="1200" cap="none" spc="0" normalizeH="0" baseline="0" noProof="0" dirty="0">
                <a:ln>
                  <a:noFill/>
                </a:ln>
                <a:solidFill>
                  <a:prstClr val="black"/>
                </a:solidFill>
                <a:effectLst/>
                <a:uLnTx/>
                <a:uFillTx/>
                <a:latin typeface="Assistant" pitchFamily="2" charset="-79"/>
                <a:ea typeface="+mj-ea"/>
                <a:cs typeface="Assistant" pitchFamily="2" charset="-79"/>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4049321" y="376431"/>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6740290" y="469748"/>
            <a:ext cx="4796418" cy="76944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מה יוצא לנו מזה</a:t>
            </a:r>
            <a:r>
              <a:rPr kumimoji="0" lang="en-US" sz="4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rPr>
              <a:t>?</a:t>
            </a:r>
            <a:endParaRPr kumimoji="0" lang="en-IL" sz="4400" b="0"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Assistant" pitchFamily="2" charset="-79"/>
              <a:ea typeface="+mn-ea"/>
              <a:cs typeface="Assistant" pitchFamily="2" charset="-79"/>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הזדקנות מיטבית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262552" y="2792914"/>
            <a:ext cx="170271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ניהול ואסטרטגיה</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63364" y="2776824"/>
            <a:ext cx="117692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אפקטיביות</a:t>
            </a:r>
            <a:endParaRPr kumimoji="0" lang="en-IL" sz="18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ssistant" pitchFamily="2" charset="-79"/>
                <a:ea typeface="+mn-ea"/>
                <a:cs typeface="Assistant" pitchFamily="2" charset="-79"/>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ssistant" pitchFamily="2" charset="-79"/>
                <a:ea typeface="Heebo Black"/>
                <a:cs typeface="Assistant" pitchFamily="2" charset="-79"/>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ssistant" pitchFamily="2" charset="-79"/>
                <a:ea typeface="Heebo Black"/>
                <a:cs typeface="Assistant" pitchFamily="2" charset="-79"/>
                <a:sym typeface="Heebo Black"/>
              </a:rPr>
              <a:t>הרחבת</a:t>
            </a:r>
            <a:r>
              <a:rPr lang="he-IL" b="1" dirty="0">
                <a:solidFill>
                  <a:srgbClr val="DBEFF9">
                    <a:lumMod val="10000"/>
                  </a:srgbClr>
                </a:solidFill>
                <a:latin typeface="Assistant" pitchFamily="2" charset="-79"/>
                <a:ea typeface="Heebo Black"/>
                <a:cs typeface="Assistant" pitchFamily="2" charset="-79"/>
                <a:sym typeface="Heebo Black"/>
              </a:rPr>
              <a:t> עצמאות ובחירה, השתתפות, </a:t>
            </a:r>
            <a:r>
              <a:rPr lang="he-IL" dirty="0">
                <a:solidFill>
                  <a:srgbClr val="DBEFF9">
                    <a:lumMod val="10000"/>
                  </a:srgbClr>
                </a:solidFill>
                <a:latin typeface="Assistant" pitchFamily="2" charset="-79"/>
                <a:ea typeface="Heebo Black"/>
                <a:cs typeface="Assistant" pitchFamily="2" charset="-79"/>
                <a:sym typeface="Heebo Black"/>
              </a:rPr>
              <a:t>וקידום </a:t>
            </a:r>
            <a:r>
              <a:rPr lang="he-IL" b="1" dirty="0">
                <a:solidFill>
                  <a:srgbClr val="DBEFF9">
                    <a:lumMod val="10000"/>
                  </a:srgbClr>
                </a:solidFill>
                <a:latin typeface="Assistant" pitchFamily="2" charset="-79"/>
                <a:ea typeface="Heebo Black"/>
                <a:cs typeface="Assistant" pitchFamily="2" charset="-79"/>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ssistant" pitchFamily="2" charset="-79"/>
              <a:ea typeface="Heebo Black"/>
              <a:cs typeface="Assistant" pitchFamily="2" charset="-79"/>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47579" y="186742"/>
            <a:ext cx="10515600" cy="1325563"/>
          </a:xfrm>
        </p:spPr>
        <p:txBody>
          <a:bodyPr/>
          <a:lstStyle/>
          <a:p>
            <a:r>
              <a:rPr lang="he-IL" b="1" dirty="0">
                <a:cs typeface="+mn-cs"/>
              </a:rPr>
              <a:t>רפורמה עם חסכון תקציבי?!</a:t>
            </a:r>
          </a:p>
        </p:txBody>
      </p:sp>
      <p:graphicFrame>
        <p:nvGraphicFramePr>
          <p:cNvPr id="4" name="תרשים 3"/>
          <p:cNvGraphicFramePr>
            <a:graphicFrameLocks/>
          </p:cNvGraphicFramePr>
          <p:nvPr/>
        </p:nvGraphicFramePr>
        <p:xfrm>
          <a:off x="5208562" y="2213015"/>
          <a:ext cx="6354617" cy="4257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תיבת טקסט 2">
            <a:extLst>
              <a:ext uri="{FF2B5EF4-FFF2-40B4-BE49-F238E27FC236}">
                <a16:creationId xmlns:a16="http://schemas.microsoft.com/office/drawing/2014/main" id="{3B33886D-43D7-7532-8930-664FA863EE26}"/>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תיבת טקסט 4">
            <a:extLst>
              <a:ext uri="{FF2B5EF4-FFF2-40B4-BE49-F238E27FC236}">
                <a16:creationId xmlns:a16="http://schemas.microsoft.com/office/drawing/2014/main" id="{96CBDD3D-1070-1287-49C6-F777884BA92D}"/>
              </a:ext>
            </a:extLst>
          </p:cNvPr>
          <p:cNvSpPr txBox="1"/>
          <p:nvPr/>
        </p:nvSpPr>
        <p:spPr>
          <a:xfrm>
            <a:off x="215050" y="6151448"/>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2991427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50EB3-A918-6D41-3180-CF8000ADC84E}"/>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D17FCB8E-31BA-4F02-83F0-D0D5146E67B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459848" y="6374118"/>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91341308-80B2-4ADB-9E3E-778DB25DADEE}"/>
              </a:ext>
            </a:extLst>
          </p:cNvPr>
          <p:cNvPicPr>
            <a:picLocks noChangeAspect="1"/>
          </p:cNvPicPr>
          <p:nvPr/>
        </p:nvPicPr>
        <p:blipFill>
          <a:blip r:embed="rId4"/>
          <a:stretch>
            <a:fillRect/>
          </a:stretch>
        </p:blipFill>
        <p:spPr>
          <a:xfrm>
            <a:off x="9237260" y="6214415"/>
            <a:ext cx="1118350" cy="612431"/>
          </a:xfrm>
          <a:prstGeom prst="rect">
            <a:avLst/>
          </a:prstGeom>
          <a:ln>
            <a:noFill/>
          </a:ln>
        </p:spPr>
      </p:pic>
      <p:sp>
        <p:nvSpPr>
          <p:cNvPr id="88" name="TextBox 1">
            <a:extLst>
              <a:ext uri="{FF2B5EF4-FFF2-40B4-BE49-F238E27FC236}">
                <a16:creationId xmlns:a16="http://schemas.microsoft.com/office/drawing/2014/main" id="{F2C447F8-B132-094A-B744-AF986B0B850E}"/>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E100163-D089-754B-A41A-B06775471DAB}"/>
              </a:ext>
            </a:extLst>
          </p:cNvPr>
          <p:cNvPicPr preferRelativeResize="0">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121181" y="6271007"/>
            <a:ext cx="836350" cy="555839"/>
          </a:xfrm>
          <a:prstGeom prst="rect">
            <a:avLst/>
          </a:prstGeom>
        </p:spPr>
      </p:pic>
      <p:pic>
        <p:nvPicPr>
          <p:cNvPr id="5" name="תמונה 4">
            <a:extLst>
              <a:ext uri="{FF2B5EF4-FFF2-40B4-BE49-F238E27FC236}">
                <a16:creationId xmlns:a16="http://schemas.microsoft.com/office/drawing/2014/main" id="{3C8171C3-FDD8-F7E0-97F7-350CBC7B45C1}"/>
              </a:ext>
            </a:extLst>
          </p:cNvPr>
          <p:cNvPicPr>
            <a:picLocks noChangeAspect="1"/>
          </p:cNvPicPr>
          <p:nvPr/>
        </p:nvPicPr>
        <p:blipFill>
          <a:blip r:embed="rId6"/>
          <a:stretch>
            <a:fillRect/>
          </a:stretch>
        </p:blipFill>
        <p:spPr>
          <a:xfrm>
            <a:off x="94412" y="137881"/>
            <a:ext cx="12003175" cy="5982535"/>
          </a:xfrm>
          <a:prstGeom prst="rect">
            <a:avLst/>
          </a:prstGeom>
        </p:spPr>
      </p:pic>
    </p:spTree>
    <p:extLst>
      <p:ext uri="{BB962C8B-B14F-4D97-AF65-F5344CB8AC3E}">
        <p14:creationId xmlns:p14="http://schemas.microsoft.com/office/powerpoint/2010/main" val="6933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50496" y="6222773"/>
            <a:ext cx="1118350" cy="612431"/>
          </a:xfrm>
          <a:prstGeom prst="rect">
            <a:avLst/>
          </a:prstGeom>
          <a:ln>
            <a:noFill/>
          </a:ln>
        </p:spPr>
      </p:pic>
      <p:sp>
        <p:nvSpPr>
          <p:cNvPr id="5" name="Rectangle: Rounded Corners 13">
            <a:extLst>
              <a:ext uri="{FF2B5EF4-FFF2-40B4-BE49-F238E27FC236}">
                <a16:creationId xmlns:a16="http://schemas.microsoft.com/office/drawing/2014/main" id="{75A492B0-17B1-5B9A-9754-88498FDA8F1E}"/>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 name="TextBox 14">
            <a:extLst>
              <a:ext uri="{FF2B5EF4-FFF2-40B4-BE49-F238E27FC236}">
                <a16:creationId xmlns:a16="http://schemas.microsoft.com/office/drawing/2014/main" id="{9E72535F-AC6F-A94D-0307-9A8306339A75}"/>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7" name="TextBox 41">
            <a:extLst>
              <a:ext uri="{FF2B5EF4-FFF2-40B4-BE49-F238E27FC236}">
                <a16:creationId xmlns:a16="http://schemas.microsoft.com/office/drawing/2014/main" id="{C5861D9E-A05C-54E7-8D60-054EAF471B8B}"/>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8" name="Group 30">
            <a:extLst>
              <a:ext uri="{FF2B5EF4-FFF2-40B4-BE49-F238E27FC236}">
                <a16:creationId xmlns:a16="http://schemas.microsoft.com/office/drawing/2014/main" id="{F6F30F5C-E09E-4502-73EC-C683108E5E90}"/>
              </a:ext>
            </a:extLst>
          </p:cNvPr>
          <p:cNvGrpSpPr/>
          <p:nvPr/>
        </p:nvGrpSpPr>
        <p:grpSpPr>
          <a:xfrm>
            <a:off x="8906529" y="2456359"/>
            <a:ext cx="2380552" cy="2557455"/>
            <a:chOff x="9433660" y="2436894"/>
            <a:chExt cx="2380552" cy="2557455"/>
          </a:xfrm>
        </p:grpSpPr>
        <p:grpSp>
          <p:nvGrpSpPr>
            <p:cNvPr id="11" name="Group 8">
              <a:extLst>
                <a:ext uri="{FF2B5EF4-FFF2-40B4-BE49-F238E27FC236}">
                  <a16:creationId xmlns:a16="http://schemas.microsoft.com/office/drawing/2014/main" id="{FA9B6734-1BAE-6E7D-00BD-5A9116CE375A}"/>
                </a:ext>
              </a:extLst>
            </p:cNvPr>
            <p:cNvGrpSpPr/>
            <p:nvPr/>
          </p:nvGrpSpPr>
          <p:grpSpPr>
            <a:xfrm>
              <a:off x="9433660" y="2958540"/>
              <a:ext cx="2380552" cy="2035809"/>
              <a:chOff x="8797687" y="1676389"/>
              <a:chExt cx="2380552" cy="2035809"/>
            </a:xfrm>
          </p:grpSpPr>
          <p:sp>
            <p:nvSpPr>
              <p:cNvPr id="16" name="Rectangle: Rounded Corners 9">
                <a:extLst>
                  <a:ext uri="{FF2B5EF4-FFF2-40B4-BE49-F238E27FC236}">
                    <a16:creationId xmlns:a16="http://schemas.microsoft.com/office/drawing/2014/main" id="{AF6C7EB5-7F24-6B35-3386-406E2F8D4F7E}"/>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0">
                <a:extLst>
                  <a:ext uri="{FF2B5EF4-FFF2-40B4-BE49-F238E27FC236}">
                    <a16:creationId xmlns:a16="http://schemas.microsoft.com/office/drawing/2014/main" id="{F4F072FB-B048-A8F9-453B-AA081A46CDC7}"/>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18" name="TextBox 36">
                <a:extLst>
                  <a:ext uri="{FF2B5EF4-FFF2-40B4-BE49-F238E27FC236}">
                    <a16:creationId xmlns:a16="http://schemas.microsoft.com/office/drawing/2014/main" id="{2A229727-C54D-8162-65EE-E99E02CD5718}"/>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12" name="Group 60">
              <a:extLst>
                <a:ext uri="{FF2B5EF4-FFF2-40B4-BE49-F238E27FC236}">
                  <a16:creationId xmlns:a16="http://schemas.microsoft.com/office/drawing/2014/main" id="{7CAD67F0-9888-4CAD-E4F8-4E01B3F98944}"/>
                </a:ext>
              </a:extLst>
            </p:cNvPr>
            <p:cNvGrpSpPr/>
            <p:nvPr/>
          </p:nvGrpSpPr>
          <p:grpSpPr>
            <a:xfrm>
              <a:off x="10216506" y="2436894"/>
              <a:ext cx="829557" cy="829557"/>
              <a:chOff x="9961982" y="1296250"/>
              <a:chExt cx="829557" cy="829557"/>
            </a:xfrm>
          </p:grpSpPr>
          <p:sp>
            <p:nvSpPr>
              <p:cNvPr id="13" name="Oval 59">
                <a:extLst>
                  <a:ext uri="{FF2B5EF4-FFF2-40B4-BE49-F238E27FC236}">
                    <a16:creationId xmlns:a16="http://schemas.microsoft.com/office/drawing/2014/main" id="{C1623A54-1E6C-6254-D08E-8BE18B6C8EA4}"/>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5" name="Graphic 25" descr="Neighborhood outline">
                <a:extLst>
                  <a:ext uri="{FF2B5EF4-FFF2-40B4-BE49-F238E27FC236}">
                    <a16:creationId xmlns:a16="http://schemas.microsoft.com/office/drawing/2014/main" id="{6CE6C2C1-000D-1291-57EC-D0629D3616B0}"/>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8" y="1395624"/>
                <a:ext cx="697543" cy="697543"/>
              </a:xfrm>
              <a:prstGeom prst="rect">
                <a:avLst/>
              </a:prstGeom>
            </p:spPr>
          </p:pic>
        </p:grpSp>
      </p:grpSp>
      <p:grpSp>
        <p:nvGrpSpPr>
          <p:cNvPr id="19" name="Group 75">
            <a:extLst>
              <a:ext uri="{FF2B5EF4-FFF2-40B4-BE49-F238E27FC236}">
                <a16:creationId xmlns:a16="http://schemas.microsoft.com/office/drawing/2014/main" id="{4FA8C154-8734-C2B0-1BE9-76E3B8F14CDA}"/>
              </a:ext>
            </a:extLst>
          </p:cNvPr>
          <p:cNvGrpSpPr/>
          <p:nvPr/>
        </p:nvGrpSpPr>
        <p:grpSpPr>
          <a:xfrm>
            <a:off x="5733515" y="298153"/>
            <a:ext cx="1188000" cy="1188000"/>
            <a:chOff x="8611183" y="3971799"/>
            <a:chExt cx="829557" cy="829557"/>
          </a:xfrm>
        </p:grpSpPr>
        <p:sp>
          <p:nvSpPr>
            <p:cNvPr id="20" name="Oval 67">
              <a:extLst>
                <a:ext uri="{FF2B5EF4-FFF2-40B4-BE49-F238E27FC236}">
                  <a16:creationId xmlns:a16="http://schemas.microsoft.com/office/drawing/2014/main" id="{45CCE98E-894C-DA8C-B8B2-EC4869058352}"/>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54" descr="Shopping basket outline">
              <a:extLst>
                <a:ext uri="{FF2B5EF4-FFF2-40B4-BE49-F238E27FC236}">
                  <a16:creationId xmlns:a16="http://schemas.microsoft.com/office/drawing/2014/main" id="{5AB1C829-6134-01E0-B38F-5B9583DC106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8696363" y="4055067"/>
              <a:ext cx="659196" cy="659196"/>
            </a:xfrm>
            <a:prstGeom prst="rect">
              <a:avLst/>
            </a:prstGeom>
          </p:spPr>
        </p:pic>
      </p:grpSp>
      <p:grpSp>
        <p:nvGrpSpPr>
          <p:cNvPr id="22" name="Group 2">
            <a:extLst>
              <a:ext uri="{FF2B5EF4-FFF2-40B4-BE49-F238E27FC236}">
                <a16:creationId xmlns:a16="http://schemas.microsoft.com/office/drawing/2014/main" id="{A983883A-684A-D258-A429-B19FCCFDE48A}"/>
              </a:ext>
            </a:extLst>
          </p:cNvPr>
          <p:cNvGrpSpPr/>
          <p:nvPr/>
        </p:nvGrpSpPr>
        <p:grpSpPr>
          <a:xfrm>
            <a:off x="6327515" y="2449255"/>
            <a:ext cx="2419365" cy="2545755"/>
            <a:chOff x="6082548" y="2436894"/>
            <a:chExt cx="2419365" cy="2545755"/>
          </a:xfrm>
        </p:grpSpPr>
        <p:grpSp>
          <p:nvGrpSpPr>
            <p:cNvPr id="23" name="Group 1">
              <a:extLst>
                <a:ext uri="{FF2B5EF4-FFF2-40B4-BE49-F238E27FC236}">
                  <a16:creationId xmlns:a16="http://schemas.microsoft.com/office/drawing/2014/main" id="{0E9C9FA1-FFF3-27D6-A3B0-E42AB2F51C0F}"/>
                </a:ext>
              </a:extLst>
            </p:cNvPr>
            <p:cNvGrpSpPr/>
            <p:nvPr/>
          </p:nvGrpSpPr>
          <p:grpSpPr>
            <a:xfrm>
              <a:off x="6082548" y="2958540"/>
              <a:ext cx="2419365" cy="2024109"/>
              <a:chOff x="8812386" y="1676389"/>
              <a:chExt cx="2419365" cy="2024109"/>
            </a:xfrm>
          </p:grpSpPr>
          <p:sp>
            <p:nvSpPr>
              <p:cNvPr id="27" name="Rectangle: Rounded Corners 12">
                <a:extLst>
                  <a:ext uri="{FF2B5EF4-FFF2-40B4-BE49-F238E27FC236}">
                    <a16:creationId xmlns:a16="http://schemas.microsoft.com/office/drawing/2014/main" id="{46BB482A-8CB4-3630-62AA-BBC0B07EF004}"/>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8" name="TextBox 19">
                <a:extLst>
                  <a:ext uri="{FF2B5EF4-FFF2-40B4-BE49-F238E27FC236}">
                    <a16:creationId xmlns:a16="http://schemas.microsoft.com/office/drawing/2014/main" id="{A980DE17-7881-E8D0-8D52-83E635FB6A8C}"/>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9" name="TextBox 22">
                <a:extLst>
                  <a:ext uri="{FF2B5EF4-FFF2-40B4-BE49-F238E27FC236}">
                    <a16:creationId xmlns:a16="http://schemas.microsoft.com/office/drawing/2014/main" id="{5CA35052-D2A3-B0AE-4EBC-F06F1D38723B}"/>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נוספים שניתן לצרוך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דרך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שמרחיבים את שירות הבסיס, מותאמים לצרכי הקהילה ולאזור בה היא פועלת</a:t>
                </a:r>
              </a:p>
            </p:txBody>
          </p:sp>
        </p:grpSp>
        <p:grpSp>
          <p:nvGrpSpPr>
            <p:cNvPr id="24" name="Group 27">
              <a:extLst>
                <a:ext uri="{FF2B5EF4-FFF2-40B4-BE49-F238E27FC236}">
                  <a16:creationId xmlns:a16="http://schemas.microsoft.com/office/drawing/2014/main" id="{826084D9-E42D-7447-D9E1-1EA4079CF970}"/>
                </a:ext>
              </a:extLst>
            </p:cNvPr>
            <p:cNvGrpSpPr/>
            <p:nvPr/>
          </p:nvGrpSpPr>
          <p:grpSpPr>
            <a:xfrm>
              <a:off x="6850695" y="2436894"/>
              <a:ext cx="829557" cy="829557"/>
              <a:chOff x="9961982" y="1296250"/>
              <a:chExt cx="829557" cy="829557"/>
            </a:xfrm>
          </p:grpSpPr>
          <p:sp>
            <p:nvSpPr>
              <p:cNvPr id="25" name="Oval 32">
                <a:extLst>
                  <a:ext uri="{FF2B5EF4-FFF2-40B4-BE49-F238E27FC236}">
                    <a16:creationId xmlns:a16="http://schemas.microsoft.com/office/drawing/2014/main" id="{2BA4D31E-A4F2-C229-F657-A989539E3B7D}"/>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38" descr="Neighborhood outline">
                <a:extLst>
                  <a:ext uri="{FF2B5EF4-FFF2-40B4-BE49-F238E27FC236}">
                    <a16:creationId xmlns:a16="http://schemas.microsoft.com/office/drawing/2014/main" id="{AC7FE731-9BD7-31BF-71C8-451BEC252924}"/>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6" y="1303243"/>
                <a:ext cx="697543" cy="697543"/>
              </a:xfrm>
              <a:prstGeom prst="rect">
                <a:avLst/>
              </a:prstGeom>
            </p:spPr>
          </p:pic>
        </p:grpSp>
      </p:grpSp>
      <p:grpSp>
        <p:nvGrpSpPr>
          <p:cNvPr id="30" name="Group 4">
            <a:extLst>
              <a:ext uri="{FF2B5EF4-FFF2-40B4-BE49-F238E27FC236}">
                <a16:creationId xmlns:a16="http://schemas.microsoft.com/office/drawing/2014/main" id="{D2D2C58C-F12F-5B20-9563-D67B83C144C1}"/>
              </a:ext>
            </a:extLst>
          </p:cNvPr>
          <p:cNvGrpSpPr/>
          <p:nvPr/>
        </p:nvGrpSpPr>
        <p:grpSpPr>
          <a:xfrm>
            <a:off x="3731428" y="2441276"/>
            <a:ext cx="2419365" cy="2597659"/>
            <a:chOff x="6082548" y="2436894"/>
            <a:chExt cx="2419365" cy="2597659"/>
          </a:xfrm>
        </p:grpSpPr>
        <p:grpSp>
          <p:nvGrpSpPr>
            <p:cNvPr id="31" name="Group 5">
              <a:extLst>
                <a:ext uri="{FF2B5EF4-FFF2-40B4-BE49-F238E27FC236}">
                  <a16:creationId xmlns:a16="http://schemas.microsoft.com/office/drawing/2014/main" id="{8ED13C69-2D1B-8D79-B5EB-9F2EFDD1DF16}"/>
                </a:ext>
              </a:extLst>
            </p:cNvPr>
            <p:cNvGrpSpPr/>
            <p:nvPr/>
          </p:nvGrpSpPr>
          <p:grpSpPr>
            <a:xfrm>
              <a:off x="6082548" y="2958540"/>
              <a:ext cx="2419365" cy="2076013"/>
              <a:chOff x="8812386" y="1676389"/>
              <a:chExt cx="2419365" cy="2076013"/>
            </a:xfrm>
          </p:grpSpPr>
          <p:sp>
            <p:nvSpPr>
              <p:cNvPr id="35" name="Rectangle: Rounded Corners 15">
                <a:extLst>
                  <a:ext uri="{FF2B5EF4-FFF2-40B4-BE49-F238E27FC236}">
                    <a16:creationId xmlns:a16="http://schemas.microsoft.com/office/drawing/2014/main" id="{EFD57E87-B510-1271-B662-134FC436740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36" name="TextBox 16">
                <a:extLst>
                  <a:ext uri="{FF2B5EF4-FFF2-40B4-BE49-F238E27FC236}">
                    <a16:creationId xmlns:a16="http://schemas.microsoft.com/office/drawing/2014/main" id="{7A417C16-0406-F996-222C-3E38E556924B}"/>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37" name="TextBox 17">
                <a:extLst>
                  <a:ext uri="{FF2B5EF4-FFF2-40B4-BE49-F238E27FC236}">
                    <a16:creationId xmlns:a16="http://schemas.microsoft.com/office/drawing/2014/main" id="{E349C06E-8301-57E2-3AF4-7631FBA8D664}"/>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השירות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32" name="Group 6">
              <a:extLst>
                <a:ext uri="{FF2B5EF4-FFF2-40B4-BE49-F238E27FC236}">
                  <a16:creationId xmlns:a16="http://schemas.microsoft.com/office/drawing/2014/main" id="{9C06B6B0-BEA3-1A2D-8C40-6EE6E636A36C}"/>
                </a:ext>
              </a:extLst>
            </p:cNvPr>
            <p:cNvGrpSpPr/>
            <p:nvPr/>
          </p:nvGrpSpPr>
          <p:grpSpPr>
            <a:xfrm>
              <a:off x="6850695" y="2436894"/>
              <a:ext cx="829557" cy="829557"/>
              <a:chOff x="9961982" y="1296250"/>
              <a:chExt cx="829557" cy="829557"/>
            </a:xfrm>
          </p:grpSpPr>
          <p:sp>
            <p:nvSpPr>
              <p:cNvPr id="33" name="Oval 7">
                <a:extLst>
                  <a:ext uri="{FF2B5EF4-FFF2-40B4-BE49-F238E27FC236}">
                    <a16:creationId xmlns:a16="http://schemas.microsoft.com/office/drawing/2014/main" id="{CE1DCE81-2663-822E-40B9-68E57655867F}"/>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4" name="Graphic 11" descr="Alterations &amp; Tailoring outline">
                <a:extLst>
                  <a:ext uri="{FF2B5EF4-FFF2-40B4-BE49-F238E27FC236}">
                    <a16:creationId xmlns:a16="http://schemas.microsoft.com/office/drawing/2014/main" id="{507546DD-E869-C52E-4AA0-B096AC45B65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27988" y="1395624"/>
                <a:ext cx="697543" cy="697543"/>
              </a:xfrm>
              <a:prstGeom prst="rect">
                <a:avLst/>
              </a:prstGeom>
            </p:spPr>
          </p:pic>
        </p:grpSp>
      </p:grpSp>
      <p:grpSp>
        <p:nvGrpSpPr>
          <p:cNvPr id="38" name="Group 18">
            <a:extLst>
              <a:ext uri="{FF2B5EF4-FFF2-40B4-BE49-F238E27FC236}">
                <a16:creationId xmlns:a16="http://schemas.microsoft.com/office/drawing/2014/main" id="{5B971B8A-6E9C-DE56-215A-7CE2E643FAA1}"/>
              </a:ext>
            </a:extLst>
          </p:cNvPr>
          <p:cNvGrpSpPr/>
          <p:nvPr/>
        </p:nvGrpSpPr>
        <p:grpSpPr>
          <a:xfrm>
            <a:off x="1155394" y="2456248"/>
            <a:ext cx="2419365" cy="2545755"/>
            <a:chOff x="6082548" y="2436894"/>
            <a:chExt cx="2419365" cy="2545755"/>
          </a:xfrm>
        </p:grpSpPr>
        <p:grpSp>
          <p:nvGrpSpPr>
            <p:cNvPr id="39" name="Group 20">
              <a:extLst>
                <a:ext uri="{FF2B5EF4-FFF2-40B4-BE49-F238E27FC236}">
                  <a16:creationId xmlns:a16="http://schemas.microsoft.com/office/drawing/2014/main" id="{DF84F0BC-4AA3-47AA-BA55-583E3BDCD0BC}"/>
                </a:ext>
              </a:extLst>
            </p:cNvPr>
            <p:cNvGrpSpPr/>
            <p:nvPr/>
          </p:nvGrpSpPr>
          <p:grpSpPr>
            <a:xfrm>
              <a:off x="6082548" y="2958540"/>
              <a:ext cx="2419365" cy="2024109"/>
              <a:chOff x="8812386" y="1676389"/>
              <a:chExt cx="2419365" cy="2024109"/>
            </a:xfrm>
          </p:grpSpPr>
          <p:sp>
            <p:nvSpPr>
              <p:cNvPr id="43" name="Rectangle: Rounded Corners 26">
                <a:extLst>
                  <a:ext uri="{FF2B5EF4-FFF2-40B4-BE49-F238E27FC236}">
                    <a16:creationId xmlns:a16="http://schemas.microsoft.com/office/drawing/2014/main" id="{22CC70B0-4128-2CF5-1158-6C5381AC106A}"/>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44" name="TextBox 28">
                <a:extLst>
                  <a:ext uri="{FF2B5EF4-FFF2-40B4-BE49-F238E27FC236}">
                    <a16:creationId xmlns:a16="http://schemas.microsoft.com/office/drawing/2014/main" id="{D922AE11-EE6D-A552-6050-978E18A0BFD5}"/>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45" name="TextBox 29">
                <a:extLst>
                  <a:ext uri="{FF2B5EF4-FFF2-40B4-BE49-F238E27FC236}">
                    <a16:creationId xmlns:a16="http://schemas.microsoft.com/office/drawing/2014/main" id="{E5D0E77F-383D-DA76-C65D-8220294D13E0}"/>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40" name="Group 21">
              <a:extLst>
                <a:ext uri="{FF2B5EF4-FFF2-40B4-BE49-F238E27FC236}">
                  <a16:creationId xmlns:a16="http://schemas.microsoft.com/office/drawing/2014/main" id="{AB34958B-A0E6-70C8-0941-B77ACD6B0C87}"/>
                </a:ext>
              </a:extLst>
            </p:cNvPr>
            <p:cNvGrpSpPr/>
            <p:nvPr/>
          </p:nvGrpSpPr>
          <p:grpSpPr>
            <a:xfrm>
              <a:off x="6850695" y="2436894"/>
              <a:ext cx="829557" cy="829557"/>
              <a:chOff x="9961982" y="1296250"/>
              <a:chExt cx="829557" cy="829557"/>
            </a:xfrm>
          </p:grpSpPr>
          <p:sp>
            <p:nvSpPr>
              <p:cNvPr id="41" name="Oval 23">
                <a:extLst>
                  <a:ext uri="{FF2B5EF4-FFF2-40B4-BE49-F238E27FC236}">
                    <a16:creationId xmlns:a16="http://schemas.microsoft.com/office/drawing/2014/main" id="{E5EFB3D8-1651-B57F-D66C-0E23F658E466}"/>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2" name="Graphic 24" descr="Heart with pulse outline">
                <a:extLst>
                  <a:ext uri="{FF2B5EF4-FFF2-40B4-BE49-F238E27FC236}">
                    <a16:creationId xmlns:a16="http://schemas.microsoft.com/office/drawing/2014/main" id="{08D961D7-B921-D149-47CD-0EA453A74A7D}"/>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10027988" y="1395624"/>
                <a:ext cx="697543" cy="697543"/>
              </a:xfrm>
              <a:prstGeom prst="rect">
                <a:avLst/>
              </a:prstGeom>
            </p:spPr>
          </p:pic>
        </p:grpSp>
      </p:grpSp>
      <p:sp>
        <p:nvSpPr>
          <p:cNvPr id="46" name="TextBox 3">
            <a:extLst>
              <a:ext uri="{FF2B5EF4-FFF2-40B4-BE49-F238E27FC236}">
                <a16:creationId xmlns:a16="http://schemas.microsoft.com/office/drawing/2014/main" id="{851D1DA4-0D2D-953A-2620-A2D3E6F94DCA}"/>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800" b="1" dirty="0">
                <a:solidFill>
                  <a:srgbClr val="282828"/>
                </a:solidFill>
                <a:latin typeface="Calibri"/>
                <a:cs typeface="Calibri"/>
              </a:rPr>
              <a:t>היצע סל השירותים- בסיסי ומורחב</a:t>
            </a:r>
            <a:endParaRPr kumimoji="0" lang="he-IL" sz="2800" b="1" i="0" u="none" strike="noStrike" kern="1200" cap="none" spc="0" normalizeH="0" baseline="0" noProof="0" dirty="0">
              <a:ln>
                <a:noFill/>
              </a:ln>
              <a:solidFill>
                <a:srgbClr val="282828"/>
              </a:solidFill>
              <a:effectLst/>
              <a:uLnTx/>
              <a:uFillTx/>
              <a:latin typeface="Calibri"/>
              <a:ea typeface="+mn-ea"/>
              <a:cs typeface="Calibri"/>
            </a:endParaRPr>
          </a:p>
        </p:txBody>
      </p:sp>
      <p:pic>
        <p:nvPicPr>
          <p:cNvPr id="47" name="Picture 5" descr="Logo&#10;&#10;Description automatically generated">
            <a:extLst>
              <a:ext uri="{FF2B5EF4-FFF2-40B4-BE49-F238E27FC236}">
                <a16:creationId xmlns:a16="http://schemas.microsoft.com/office/drawing/2014/main" id="{C29741BB-C8CE-C32B-4416-46ACE7171E94}"/>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spTree>
    <p:extLst>
      <p:ext uri="{BB962C8B-B14F-4D97-AF65-F5344CB8AC3E}">
        <p14:creationId xmlns:p14="http://schemas.microsoft.com/office/powerpoint/2010/main" val="2160939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2BA23FAF-F69F-86A8-8CB3-ADB8AA566E8E}"/>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1BADA18F-C193-2D8B-28FF-D3AA6B2C1084}"/>
              </a:ext>
            </a:extLst>
          </p:cNvPr>
          <p:cNvPicPr>
            <a:picLocks noChangeAspect="1"/>
          </p:cNvPicPr>
          <p:nvPr/>
        </p:nvPicPr>
        <p:blipFill>
          <a:blip r:embed="rId3"/>
          <a:stretch>
            <a:fillRect/>
          </a:stretch>
        </p:blipFill>
        <p:spPr>
          <a:xfrm>
            <a:off x="9515880" y="6214415"/>
            <a:ext cx="1118350" cy="612431"/>
          </a:xfrm>
          <a:prstGeom prst="rect">
            <a:avLst/>
          </a:prstGeom>
          <a:ln>
            <a:noFill/>
          </a:ln>
        </p:spPr>
      </p:pic>
      <p:sp>
        <p:nvSpPr>
          <p:cNvPr id="43" name="Rectangle: Rounded Corners 50">
            <a:extLst>
              <a:ext uri="{FF2B5EF4-FFF2-40B4-BE49-F238E27FC236}">
                <a16:creationId xmlns:a16="http://schemas.microsoft.com/office/drawing/2014/main" id="{68CBBEA7-6B33-6C2F-62B4-CADCE809613A}"/>
              </a:ext>
            </a:extLst>
          </p:cNvPr>
          <p:cNvSpPr/>
          <p:nvPr/>
        </p:nvSpPr>
        <p:spPr>
          <a:xfrm>
            <a:off x="1202853" y="519066"/>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44" name="Group 94">
            <a:extLst>
              <a:ext uri="{FF2B5EF4-FFF2-40B4-BE49-F238E27FC236}">
                <a16:creationId xmlns:a16="http://schemas.microsoft.com/office/drawing/2014/main" id="{F2070C4D-9621-0668-AAC1-C4EAB45B900F}"/>
              </a:ext>
            </a:extLst>
          </p:cNvPr>
          <p:cNvGrpSpPr/>
          <p:nvPr/>
        </p:nvGrpSpPr>
        <p:grpSpPr>
          <a:xfrm>
            <a:off x="9246905" y="1947164"/>
            <a:ext cx="2430720" cy="2550986"/>
            <a:chOff x="9159632" y="1250589"/>
            <a:chExt cx="2430720" cy="2550986"/>
          </a:xfrm>
        </p:grpSpPr>
        <p:grpSp>
          <p:nvGrpSpPr>
            <p:cNvPr id="45" name="Group 4">
              <a:extLst>
                <a:ext uri="{FF2B5EF4-FFF2-40B4-BE49-F238E27FC236}">
                  <a16:creationId xmlns:a16="http://schemas.microsoft.com/office/drawing/2014/main" id="{F86FBE37-9C27-773D-E4D3-CE8017BDB9CC}"/>
                </a:ext>
              </a:extLst>
            </p:cNvPr>
            <p:cNvGrpSpPr/>
            <p:nvPr/>
          </p:nvGrpSpPr>
          <p:grpSpPr>
            <a:xfrm>
              <a:off x="9159632" y="1777466"/>
              <a:ext cx="2430720" cy="2024109"/>
              <a:chOff x="5725181" y="1676389"/>
              <a:chExt cx="2430720" cy="2024109"/>
            </a:xfrm>
          </p:grpSpPr>
          <p:sp>
            <p:nvSpPr>
              <p:cNvPr id="53" name="Rectangle: Rounded Corners 5">
                <a:extLst>
                  <a:ext uri="{FF2B5EF4-FFF2-40B4-BE49-F238E27FC236}">
                    <a16:creationId xmlns:a16="http://schemas.microsoft.com/office/drawing/2014/main" id="{CD283285-EB28-380F-091B-7D0966DBC87C}"/>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4" name="TextBox 6">
                <a:extLst>
                  <a:ext uri="{FF2B5EF4-FFF2-40B4-BE49-F238E27FC236}">
                    <a16:creationId xmlns:a16="http://schemas.microsoft.com/office/drawing/2014/main" id="{22255545-BCDD-BBAC-3947-3CA2B51B58B0}"/>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פנינה אזרחית ותיקה</a:t>
                </a:r>
              </a:p>
            </p:txBody>
          </p:sp>
        </p:grpSp>
        <p:sp>
          <p:nvSpPr>
            <p:cNvPr id="46" name="TextBox 37">
              <a:extLst>
                <a:ext uri="{FF2B5EF4-FFF2-40B4-BE49-F238E27FC236}">
                  <a16:creationId xmlns:a16="http://schemas.microsoft.com/office/drawing/2014/main" id="{3E97A43F-9386-CD1D-6942-DD80A5196FB7}"/>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47" name="Group 7">
              <a:extLst>
                <a:ext uri="{FF2B5EF4-FFF2-40B4-BE49-F238E27FC236}">
                  <a16:creationId xmlns:a16="http://schemas.microsoft.com/office/drawing/2014/main" id="{9017FF65-0288-1317-D1C5-C8C6BAAF67EF}"/>
                </a:ext>
              </a:extLst>
            </p:cNvPr>
            <p:cNvGrpSpPr/>
            <p:nvPr/>
          </p:nvGrpSpPr>
          <p:grpSpPr>
            <a:xfrm>
              <a:off x="9941468" y="1250589"/>
              <a:ext cx="829557" cy="858453"/>
              <a:chOff x="7013479" y="1291019"/>
              <a:chExt cx="829557" cy="858453"/>
            </a:xfrm>
          </p:grpSpPr>
          <p:sp>
            <p:nvSpPr>
              <p:cNvPr id="51" name="Oval 62">
                <a:extLst>
                  <a:ext uri="{FF2B5EF4-FFF2-40B4-BE49-F238E27FC236}">
                    <a16:creationId xmlns:a16="http://schemas.microsoft.com/office/drawing/2014/main" id="{52C1B7C1-1472-501B-68EC-4500478FDEF4}"/>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2" name="Graphic 20" descr="Old woman with white hair">
                <a:extLst>
                  <a:ext uri="{FF2B5EF4-FFF2-40B4-BE49-F238E27FC236}">
                    <a16:creationId xmlns:a16="http://schemas.microsoft.com/office/drawing/2014/main" id="{9B20B290-A310-9362-0D6B-F1925B540F89}"/>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61855"/>
              <a:stretch/>
            </p:blipFill>
            <p:spPr>
              <a:xfrm>
                <a:off x="7052553" y="1291019"/>
                <a:ext cx="683449" cy="858453"/>
              </a:xfrm>
              <a:prstGeom prst="rect">
                <a:avLst/>
              </a:prstGeom>
            </p:spPr>
          </p:pic>
        </p:grpSp>
      </p:grpSp>
      <p:grpSp>
        <p:nvGrpSpPr>
          <p:cNvPr id="55" name="Group 64">
            <a:extLst>
              <a:ext uri="{FF2B5EF4-FFF2-40B4-BE49-F238E27FC236}">
                <a16:creationId xmlns:a16="http://schemas.microsoft.com/office/drawing/2014/main" id="{7570C9B1-7113-6614-D1DF-89446FFEDE6D}"/>
              </a:ext>
            </a:extLst>
          </p:cNvPr>
          <p:cNvGrpSpPr/>
          <p:nvPr/>
        </p:nvGrpSpPr>
        <p:grpSpPr>
          <a:xfrm>
            <a:off x="5031239" y="1429563"/>
            <a:ext cx="2365853" cy="2525979"/>
            <a:chOff x="4833452" y="1822375"/>
            <a:chExt cx="2365853" cy="2525979"/>
          </a:xfrm>
        </p:grpSpPr>
        <p:grpSp>
          <p:nvGrpSpPr>
            <p:cNvPr id="56" name="Group 31">
              <a:extLst>
                <a:ext uri="{FF2B5EF4-FFF2-40B4-BE49-F238E27FC236}">
                  <a16:creationId xmlns:a16="http://schemas.microsoft.com/office/drawing/2014/main" id="{6EC519A6-F802-1259-4B3F-5A3C41AE1821}"/>
                </a:ext>
              </a:extLst>
            </p:cNvPr>
            <p:cNvGrpSpPr/>
            <p:nvPr/>
          </p:nvGrpSpPr>
          <p:grpSpPr>
            <a:xfrm>
              <a:off x="4833452" y="2324245"/>
              <a:ext cx="2365853" cy="2024109"/>
              <a:chOff x="2151419" y="1676389"/>
              <a:chExt cx="2365853" cy="2024109"/>
            </a:xfrm>
          </p:grpSpPr>
          <p:sp>
            <p:nvSpPr>
              <p:cNvPr id="62" name="Rectangle: Rounded Corners 33">
                <a:extLst>
                  <a:ext uri="{FF2B5EF4-FFF2-40B4-BE49-F238E27FC236}">
                    <a16:creationId xmlns:a16="http://schemas.microsoft.com/office/drawing/2014/main" id="{E09C1CD9-BFE8-B029-0420-E091FF5E981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65" name="TextBox 34">
                <a:extLst>
                  <a:ext uri="{FF2B5EF4-FFF2-40B4-BE49-F238E27FC236}">
                    <a16:creationId xmlns:a16="http://schemas.microsoft.com/office/drawing/2014/main" id="{6C39A937-BC3E-0A03-674B-8F6AC9C7F456}"/>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עדי מתאמת שירות</a:t>
                </a:r>
              </a:p>
            </p:txBody>
          </p:sp>
        </p:grpSp>
        <p:grpSp>
          <p:nvGrpSpPr>
            <p:cNvPr id="59" name="Group 61">
              <a:extLst>
                <a:ext uri="{FF2B5EF4-FFF2-40B4-BE49-F238E27FC236}">
                  <a16:creationId xmlns:a16="http://schemas.microsoft.com/office/drawing/2014/main" id="{8E355A1D-C372-9CFB-1C8E-0C27ED9C1D7F}"/>
                </a:ext>
              </a:extLst>
            </p:cNvPr>
            <p:cNvGrpSpPr/>
            <p:nvPr/>
          </p:nvGrpSpPr>
          <p:grpSpPr>
            <a:xfrm>
              <a:off x="5681221" y="1822375"/>
              <a:ext cx="829557" cy="899319"/>
              <a:chOff x="9766001" y="3238294"/>
              <a:chExt cx="829557" cy="899319"/>
            </a:xfrm>
          </p:grpSpPr>
          <p:sp>
            <p:nvSpPr>
              <p:cNvPr id="60" name="Oval 63">
                <a:extLst>
                  <a:ext uri="{FF2B5EF4-FFF2-40B4-BE49-F238E27FC236}">
                    <a16:creationId xmlns:a16="http://schemas.microsoft.com/office/drawing/2014/main" id="{5EEC0CFF-9162-171A-7E1B-DBA806A4195D}"/>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1" name="Graphic 11" descr="Woman with polka dots shirt">
                <a:extLst>
                  <a:ext uri="{FF2B5EF4-FFF2-40B4-BE49-F238E27FC236}">
                    <a16:creationId xmlns:a16="http://schemas.microsoft.com/office/drawing/2014/main" id="{07C53C88-7E32-B34C-C382-E154329E8B75}"/>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l="-2771" r="2771" b="61096"/>
              <a:stretch/>
            </p:blipFill>
            <p:spPr>
              <a:xfrm>
                <a:off x="9839469" y="3279160"/>
                <a:ext cx="683449" cy="858453"/>
              </a:xfrm>
              <a:prstGeom prst="rect">
                <a:avLst/>
              </a:prstGeom>
            </p:spPr>
          </p:pic>
        </p:grpSp>
      </p:grpSp>
      <p:grpSp>
        <p:nvGrpSpPr>
          <p:cNvPr id="66" name="Group 44">
            <a:extLst>
              <a:ext uri="{FF2B5EF4-FFF2-40B4-BE49-F238E27FC236}">
                <a16:creationId xmlns:a16="http://schemas.microsoft.com/office/drawing/2014/main" id="{B3E63C78-D88F-254E-FB9C-3AFE738B26EB}"/>
              </a:ext>
            </a:extLst>
          </p:cNvPr>
          <p:cNvGrpSpPr/>
          <p:nvPr/>
        </p:nvGrpSpPr>
        <p:grpSpPr>
          <a:xfrm>
            <a:off x="2151442" y="1277843"/>
            <a:ext cx="2697972" cy="2786162"/>
            <a:chOff x="3690152" y="0"/>
            <a:chExt cx="2697972" cy="2786162"/>
          </a:xfrm>
        </p:grpSpPr>
        <p:grpSp>
          <p:nvGrpSpPr>
            <p:cNvPr id="67" name="Group 26">
              <a:extLst>
                <a:ext uri="{FF2B5EF4-FFF2-40B4-BE49-F238E27FC236}">
                  <a16:creationId xmlns:a16="http://schemas.microsoft.com/office/drawing/2014/main" id="{B2774744-DA8C-59BE-AAD3-88A11442F66B}"/>
                </a:ext>
              </a:extLst>
            </p:cNvPr>
            <p:cNvGrpSpPr/>
            <p:nvPr/>
          </p:nvGrpSpPr>
          <p:grpSpPr>
            <a:xfrm>
              <a:off x="3845758" y="669321"/>
              <a:ext cx="2365853" cy="2024109"/>
              <a:chOff x="2151419" y="1676389"/>
              <a:chExt cx="2365853" cy="2024109"/>
            </a:xfrm>
          </p:grpSpPr>
          <p:sp>
            <p:nvSpPr>
              <p:cNvPr id="75" name="Rectangle: Rounded Corners 28">
                <a:extLst>
                  <a:ext uri="{FF2B5EF4-FFF2-40B4-BE49-F238E27FC236}">
                    <a16:creationId xmlns:a16="http://schemas.microsoft.com/office/drawing/2014/main" id="{17128CA6-E0E3-8B0C-F4D6-7A85174400CE}"/>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76" name="TextBox 29">
                <a:extLst>
                  <a:ext uri="{FF2B5EF4-FFF2-40B4-BE49-F238E27FC236}">
                    <a16:creationId xmlns:a16="http://schemas.microsoft.com/office/drawing/2014/main" id="{8AC5FCC5-79C5-9070-59D9-6A2524A95543}"/>
                  </a:ext>
                </a:extLst>
              </p:cNvPr>
              <p:cNvSpPr txBox="1"/>
              <p:nvPr/>
            </p:nvSpPr>
            <p:spPr>
              <a:xfrm>
                <a:off x="2262387" y="2107424"/>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יעל עו"ס מנהלת קהילות</a:t>
                </a:r>
              </a:p>
            </p:txBody>
          </p:sp>
        </p:grpSp>
        <p:sp>
          <p:nvSpPr>
            <p:cNvPr id="72" name="TextBox 40">
              <a:extLst>
                <a:ext uri="{FF2B5EF4-FFF2-40B4-BE49-F238E27FC236}">
                  <a16:creationId xmlns:a16="http://schemas.microsoft.com/office/drawing/2014/main" id="{C5099F42-7EEC-BDCC-6C66-80EA2A55F194}"/>
                </a:ext>
              </a:extLst>
            </p:cNvPr>
            <p:cNvSpPr txBox="1"/>
            <p:nvPr/>
          </p:nvSpPr>
          <p:spPr>
            <a:xfrm>
              <a:off x="3690152" y="1401167"/>
              <a:ext cx="2697972" cy="1384995"/>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lang="he-IL" sz="1400" dirty="0">
                  <a:solidFill>
                    <a:srgbClr val="3A3A49"/>
                  </a:solidFill>
                </a:rPr>
                <a:t> </a:t>
              </a:r>
            </a:p>
            <a:p>
              <a:pPr>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מנחה ומדריכה את מתאמות השירות </a:t>
              </a:r>
              <a:r>
                <a:rPr lang="he-IL" sz="1400" dirty="0">
                  <a:solidFill>
                    <a:srgbClr val="3A3A49"/>
                  </a:solidFill>
                </a:rPr>
                <a:t>מסייעת בבניית התוכנית הקהילתית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מטפלת ו</a:t>
              </a:r>
              <a:r>
                <a:rPr lang="he-IL" sz="1400" dirty="0">
                  <a:solidFill>
                    <a:srgbClr val="3A3A49"/>
                  </a:solidFill>
                </a:rPr>
                <a:t>מסייעת בקביעת תכנית </a:t>
              </a:r>
            </a:p>
            <a:p>
              <a:pPr>
                <a:defRPr/>
              </a:pPr>
              <a:r>
                <a:rPr lang="he-IL" sz="1400" dirty="0">
                  <a:solidFill>
                    <a:srgbClr val="3A3A49"/>
                  </a:solidFill>
                </a:rPr>
                <a:t>טיפול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במקרים מורכבים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a:t>
              </a:r>
            </a:p>
          </p:txBody>
        </p:sp>
        <p:sp>
          <p:nvSpPr>
            <p:cNvPr id="73" name="Oval 66">
              <a:extLst>
                <a:ext uri="{FF2B5EF4-FFF2-40B4-BE49-F238E27FC236}">
                  <a16:creationId xmlns:a16="http://schemas.microsoft.com/office/drawing/2014/main" id="{7B018A75-A7D7-B7E0-0ADE-B6DEB0C1E3B8}"/>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74" name="Graphic 15" descr="Woman with ribbon on hair">
              <a:extLst>
                <a:ext uri="{FF2B5EF4-FFF2-40B4-BE49-F238E27FC236}">
                  <a16:creationId xmlns:a16="http://schemas.microsoft.com/office/drawing/2014/main" id="{144D271D-75A1-A1C3-A7BB-89CD1A796FCA}"/>
                </a:ext>
              </a:extLst>
            </p:cNvPr>
            <p:cNvPicPr preferRelativeResize="0">
              <a:picLocks noChangeAspect="1"/>
            </p:cNvPicPr>
            <p:nvPr/>
          </p:nvPicPr>
          <p:blipFill rotWithShape="1">
            <a:blip r:embed="rId8">
              <a:extLst>
                <a:ext uri="{96DAC541-7B7A-43D3-8B79-37D633B846F1}">
                  <asvg:svgBlip xmlns:asvg="http://schemas.microsoft.com/office/drawing/2016/SVG/main" r:embed="rId9"/>
                </a:ext>
              </a:extLst>
            </a:blip>
            <a:srcRect l="844" t="-5019" r="-8547" b="63927"/>
            <a:stretch/>
          </p:blipFill>
          <p:spPr>
            <a:xfrm>
              <a:off x="4535703" y="0"/>
              <a:ext cx="1344301" cy="972000"/>
            </a:xfrm>
            <a:prstGeom prst="rect">
              <a:avLst/>
            </a:prstGeom>
          </p:spPr>
        </p:pic>
      </p:grpSp>
      <p:sp>
        <p:nvSpPr>
          <p:cNvPr id="77" name="TextBox 51">
            <a:extLst>
              <a:ext uri="{FF2B5EF4-FFF2-40B4-BE49-F238E27FC236}">
                <a16:creationId xmlns:a16="http://schemas.microsoft.com/office/drawing/2014/main" id="{7531CD0E-4609-FEF4-54EA-54BFED0A9D97}"/>
              </a:ext>
            </a:extLst>
          </p:cNvPr>
          <p:cNvSpPr txBox="1"/>
          <p:nvPr/>
        </p:nvSpPr>
        <p:spPr>
          <a:xfrm>
            <a:off x="3773005" y="783673"/>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78" name="TextBox 47">
            <a:extLst>
              <a:ext uri="{FF2B5EF4-FFF2-40B4-BE49-F238E27FC236}">
                <a16:creationId xmlns:a16="http://schemas.microsoft.com/office/drawing/2014/main" id="{82DD389A-38A8-9957-73EF-86E434D5E07D}"/>
              </a:ext>
            </a:extLst>
          </p:cNvPr>
          <p:cNvSpPr txBox="1"/>
          <p:nvPr/>
        </p:nvSpPr>
        <p:spPr>
          <a:xfrm>
            <a:off x="1851701" y="1100691"/>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79" name="Oval 48">
            <a:extLst>
              <a:ext uri="{FF2B5EF4-FFF2-40B4-BE49-F238E27FC236}">
                <a16:creationId xmlns:a16="http://schemas.microsoft.com/office/drawing/2014/main" id="{5A366353-C5E9-6BF7-D896-AD547E16B32D}"/>
              </a:ext>
            </a:extLst>
          </p:cNvPr>
          <p:cNvSpPr/>
          <p:nvPr/>
        </p:nvSpPr>
        <p:spPr>
          <a:xfrm>
            <a:off x="4505484" y="0"/>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0" name="Graphic 53" descr="Hierarchy outline">
            <a:extLst>
              <a:ext uri="{FF2B5EF4-FFF2-40B4-BE49-F238E27FC236}">
                <a16:creationId xmlns:a16="http://schemas.microsoft.com/office/drawing/2014/main" id="{6D31F282-A791-8D91-428E-94C1861EEE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33856" y="88505"/>
            <a:ext cx="572811" cy="572811"/>
          </a:xfrm>
          <a:prstGeom prst="rect">
            <a:avLst/>
          </a:prstGeom>
        </p:spPr>
      </p:pic>
      <p:sp>
        <p:nvSpPr>
          <p:cNvPr id="81" name="TextBox 39">
            <a:extLst>
              <a:ext uri="{FF2B5EF4-FFF2-40B4-BE49-F238E27FC236}">
                <a16:creationId xmlns:a16="http://schemas.microsoft.com/office/drawing/2014/main" id="{00AF2302-5305-0F01-1D61-0E809603199F}"/>
              </a:ext>
            </a:extLst>
          </p:cNvPr>
          <p:cNvSpPr txBox="1"/>
          <p:nvPr/>
        </p:nvSpPr>
        <p:spPr>
          <a:xfrm>
            <a:off x="4896882" y="2729757"/>
            <a:ext cx="2590220"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3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דואגת לצרכי החברים בקהילה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שומרת על קשר ומקיימת ביקורי בית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מארגנת פעילויות חברתיות וחוגים,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 מזהה פערים וצרכים ועוד</a:t>
            </a:r>
          </a:p>
        </p:txBody>
      </p:sp>
      <p:sp>
        <p:nvSpPr>
          <p:cNvPr id="82" name="Rectangle: Rounded Corners 65">
            <a:extLst>
              <a:ext uri="{FF2B5EF4-FFF2-40B4-BE49-F238E27FC236}">
                <a16:creationId xmlns:a16="http://schemas.microsoft.com/office/drawing/2014/main" id="{AE210871-56A5-D57C-0CD3-59DDB6FB5395}"/>
              </a:ext>
            </a:extLst>
          </p:cNvPr>
          <p:cNvSpPr/>
          <p:nvPr/>
        </p:nvSpPr>
        <p:spPr>
          <a:xfrm>
            <a:off x="1179672" y="4803475"/>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3" name="TextBox 87">
            <a:extLst>
              <a:ext uri="{FF2B5EF4-FFF2-40B4-BE49-F238E27FC236}">
                <a16:creationId xmlns:a16="http://schemas.microsoft.com/office/drawing/2014/main" id="{B13E5371-6D7C-55B2-86C7-8DEC55A7129C}"/>
              </a:ext>
            </a:extLst>
          </p:cNvPr>
          <p:cNvSpPr txBox="1"/>
          <p:nvPr/>
        </p:nvSpPr>
        <p:spPr>
          <a:xfrm>
            <a:off x="3668294" y="513237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4" name="TextBox 88">
            <a:extLst>
              <a:ext uri="{FF2B5EF4-FFF2-40B4-BE49-F238E27FC236}">
                <a16:creationId xmlns:a16="http://schemas.microsoft.com/office/drawing/2014/main" id="{CEA8E688-AD45-F537-936F-886DCFBDC97E}"/>
              </a:ext>
            </a:extLst>
          </p:cNvPr>
          <p:cNvSpPr txBox="1"/>
          <p:nvPr/>
        </p:nvSpPr>
        <p:spPr>
          <a:xfrm>
            <a:off x="1179672" y="5491070"/>
            <a:ext cx="6566089"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1" i="0" u="none" strike="noStrike" kern="1200" cap="none" spc="0" normalizeH="0" baseline="0" noProof="0" dirty="0">
                <a:ln>
                  <a:noFill/>
                </a:ln>
                <a:solidFill>
                  <a:srgbClr val="3A3A49"/>
                </a:solidFill>
                <a:effectLst/>
                <a:uLnTx/>
                <a:uFillTx/>
                <a:latin typeface="Calibri"/>
                <a:ea typeface="+mn-ea"/>
                <a:cs typeface="Calibri"/>
              </a:rPr>
              <a:t>"</a:t>
            </a:r>
            <a:r>
              <a:rPr kumimoji="0" lang="he-IL" sz="14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1" i="0" u="none" strike="noStrike" kern="1200" cap="none" spc="0" normalizeH="0" baseline="0" noProof="0" dirty="0">
                <a:ln>
                  <a:noFill/>
                </a:ln>
                <a:solidFill>
                  <a:srgbClr val="3A3A49"/>
                </a:solidFill>
                <a:effectLst/>
                <a:uLnTx/>
                <a:uFillTx/>
                <a:latin typeface="Calibri"/>
                <a:ea typeface="+mn-ea"/>
                <a:cs typeface="Calibri"/>
              </a:rPr>
              <a:t>"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אליו יכולה האזרחית הוותיקה להיכנס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ולבחור שירותים מתוך סל שירותי הזדקנות מיטבית רחב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לרצונותיה, כאשר השירותים המוצגים לה לבחירה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הותאמו לצרכיה הייחודיים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ניתן סיוע לפי צורך ע"י מוקד שירות ומתאמת שירות.</a:t>
            </a:r>
          </a:p>
        </p:txBody>
      </p:sp>
      <p:grpSp>
        <p:nvGrpSpPr>
          <p:cNvPr id="85" name="Group 92">
            <a:extLst>
              <a:ext uri="{FF2B5EF4-FFF2-40B4-BE49-F238E27FC236}">
                <a16:creationId xmlns:a16="http://schemas.microsoft.com/office/drawing/2014/main" id="{9FC67262-C9A0-843A-2AB8-E733CBA029D5}"/>
              </a:ext>
            </a:extLst>
          </p:cNvPr>
          <p:cNvGrpSpPr/>
          <p:nvPr/>
        </p:nvGrpSpPr>
        <p:grpSpPr>
          <a:xfrm>
            <a:off x="4347647" y="4378712"/>
            <a:ext cx="829557" cy="829557"/>
            <a:chOff x="4149860" y="4521155"/>
            <a:chExt cx="829557" cy="829557"/>
          </a:xfrm>
        </p:grpSpPr>
        <p:sp>
          <p:nvSpPr>
            <p:cNvPr id="86" name="Oval 89">
              <a:extLst>
                <a:ext uri="{FF2B5EF4-FFF2-40B4-BE49-F238E27FC236}">
                  <a16:creationId xmlns:a16="http://schemas.microsoft.com/office/drawing/2014/main" id="{35EFCF4A-5A94-1416-0C84-EC96F736D10C}"/>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90" descr="Ecommerce outline">
              <a:extLst>
                <a:ext uri="{FF2B5EF4-FFF2-40B4-BE49-F238E27FC236}">
                  <a16:creationId xmlns:a16="http://schemas.microsoft.com/office/drawing/2014/main" id="{34736CB8-1A3F-7E3F-52B6-22F6EF7883A7}"/>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4278232" y="4632896"/>
              <a:ext cx="572811" cy="572811"/>
            </a:xfrm>
            <a:prstGeom prst="rect">
              <a:avLst/>
            </a:prstGeom>
          </p:spPr>
        </p:pic>
      </p:grpSp>
      <p:sp>
        <p:nvSpPr>
          <p:cNvPr id="88" name="TextBox 1">
            <a:extLst>
              <a:ext uri="{FF2B5EF4-FFF2-40B4-BE49-F238E27FC236}">
                <a16:creationId xmlns:a16="http://schemas.microsoft.com/office/drawing/2014/main" id="{2295C515-6A11-03AA-123A-74C2BBC338E0}"/>
              </a:ext>
            </a:extLst>
          </p:cNvPr>
          <p:cNvSpPr txBox="1"/>
          <p:nvPr/>
        </p:nvSpPr>
        <p:spPr>
          <a:xfrm>
            <a:off x="7436787" y="59449"/>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pic>
        <p:nvPicPr>
          <p:cNvPr id="89" name="Picture 5" descr="Logo&#10;&#10;Description automatically generated">
            <a:extLst>
              <a:ext uri="{FF2B5EF4-FFF2-40B4-BE49-F238E27FC236}">
                <a16:creationId xmlns:a16="http://schemas.microsoft.com/office/drawing/2014/main" id="{F0E14E79-A252-A446-10B6-0881092A0682}"/>
              </a:ext>
            </a:extLst>
          </p:cNvPr>
          <p:cNvPicPr preferRelativeResize="0">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spTree>
    <p:extLst>
      <p:ext uri="{BB962C8B-B14F-4D97-AF65-F5344CB8AC3E}">
        <p14:creationId xmlns:p14="http://schemas.microsoft.com/office/powerpoint/2010/main" val="3128164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DC90D-E36D-EBD6-D5A6-E186D74DBE3D}"/>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E3BAE926-FFCE-38BB-74E7-D93CDFCE751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0635339" y="6402413"/>
            <a:ext cx="1556661" cy="42443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90BD0D1A-D83C-E29C-AEE4-5E134122A700}"/>
              </a:ext>
            </a:extLst>
          </p:cNvPr>
          <p:cNvPicPr>
            <a:picLocks noChangeAspect="1"/>
          </p:cNvPicPr>
          <p:nvPr/>
        </p:nvPicPr>
        <p:blipFill>
          <a:blip r:embed="rId3"/>
          <a:stretch>
            <a:fillRect/>
          </a:stretch>
        </p:blipFill>
        <p:spPr>
          <a:xfrm>
            <a:off x="9515880" y="6214415"/>
            <a:ext cx="1118350" cy="612431"/>
          </a:xfrm>
          <a:prstGeom prst="rect">
            <a:avLst/>
          </a:prstGeom>
          <a:ln>
            <a:noFill/>
          </a:ln>
        </p:spPr>
      </p:pic>
      <p:pic>
        <p:nvPicPr>
          <p:cNvPr id="89" name="Picture 5" descr="Logo&#10;&#10;Description automatically generated">
            <a:extLst>
              <a:ext uri="{FF2B5EF4-FFF2-40B4-BE49-F238E27FC236}">
                <a16:creationId xmlns:a16="http://schemas.microsoft.com/office/drawing/2014/main" id="{4D958D53-6B41-9720-C28E-2307D6D33D3D}"/>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82999" y="6271007"/>
            <a:ext cx="836350" cy="555839"/>
          </a:xfrm>
          <a:prstGeom prst="rect">
            <a:avLst/>
          </a:prstGeom>
        </p:spPr>
      </p:pic>
      <p:pic>
        <p:nvPicPr>
          <p:cNvPr id="5" name="תמונה 4">
            <a:extLst>
              <a:ext uri="{FF2B5EF4-FFF2-40B4-BE49-F238E27FC236}">
                <a16:creationId xmlns:a16="http://schemas.microsoft.com/office/drawing/2014/main" id="{C856AE3A-CC0A-2987-3D36-DF95C27159D5}"/>
              </a:ext>
            </a:extLst>
          </p:cNvPr>
          <p:cNvPicPr>
            <a:picLocks noChangeAspect="1"/>
          </p:cNvPicPr>
          <p:nvPr/>
        </p:nvPicPr>
        <p:blipFill>
          <a:blip r:embed="rId5"/>
          <a:stretch>
            <a:fillRect/>
          </a:stretch>
        </p:blipFill>
        <p:spPr>
          <a:xfrm>
            <a:off x="38574" y="59449"/>
            <a:ext cx="12150334" cy="6767397"/>
          </a:xfrm>
          <a:prstGeom prst="rect">
            <a:avLst/>
          </a:prstGeom>
        </p:spPr>
      </p:pic>
      <p:pic>
        <p:nvPicPr>
          <p:cNvPr id="9" name="תמונה 8">
            <a:extLst>
              <a:ext uri="{FF2B5EF4-FFF2-40B4-BE49-F238E27FC236}">
                <a16:creationId xmlns:a16="http://schemas.microsoft.com/office/drawing/2014/main" id="{25DD960A-D01B-EA4E-769C-BE673C2EAAB2}"/>
              </a:ext>
            </a:extLst>
          </p:cNvPr>
          <p:cNvPicPr>
            <a:picLocks noChangeAspect="1"/>
          </p:cNvPicPr>
          <p:nvPr/>
        </p:nvPicPr>
        <p:blipFill>
          <a:blip r:embed="rId6"/>
          <a:stretch>
            <a:fillRect/>
          </a:stretch>
        </p:blipFill>
        <p:spPr>
          <a:xfrm>
            <a:off x="7287492" y="138545"/>
            <a:ext cx="4671144" cy="444123"/>
          </a:xfrm>
          <a:prstGeom prst="rect">
            <a:avLst/>
          </a:prstGeom>
        </p:spPr>
      </p:pic>
      <p:sp>
        <p:nvSpPr>
          <p:cNvPr id="7" name="תיבת טקסט 6">
            <a:extLst>
              <a:ext uri="{FF2B5EF4-FFF2-40B4-BE49-F238E27FC236}">
                <a16:creationId xmlns:a16="http://schemas.microsoft.com/office/drawing/2014/main" id="{63AA204F-A462-CF0C-6CF1-9B1BE322334A}"/>
              </a:ext>
            </a:extLst>
          </p:cNvPr>
          <p:cNvSpPr txBox="1"/>
          <p:nvPr/>
        </p:nvSpPr>
        <p:spPr>
          <a:xfrm>
            <a:off x="6243808" y="87349"/>
            <a:ext cx="6351081"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err="1">
                <a:ln>
                  <a:noFill/>
                </a:ln>
                <a:solidFill>
                  <a:srgbClr val="282828"/>
                </a:solidFill>
                <a:effectLst/>
                <a:uLnTx/>
                <a:uFillTx/>
                <a:latin typeface="Calibri"/>
                <a:ea typeface="+mn-ea"/>
                <a:cs typeface="Calibri"/>
              </a:rPr>
              <a:t>איפיון</a:t>
            </a:r>
            <a:r>
              <a:rPr kumimoji="0" lang="he-IL" sz="2400" b="1" i="0" u="none" strike="noStrike" kern="1200" cap="none" spc="0" normalizeH="0" baseline="0" noProof="0" dirty="0">
                <a:ln>
                  <a:noFill/>
                </a:ln>
                <a:solidFill>
                  <a:srgbClr val="282828"/>
                </a:solidFill>
                <a:effectLst/>
                <a:uLnTx/>
                <a:uFillTx/>
                <a:latin typeface="Calibri"/>
                <a:ea typeface="+mn-ea"/>
                <a:cs typeface="Calibri"/>
              </a:rPr>
              <a:t> נותני השירותים, תהליכי עבודה וממשקים</a:t>
            </a:r>
          </a:p>
        </p:txBody>
      </p:sp>
    </p:spTree>
    <p:extLst>
      <p:ext uri="{BB962C8B-B14F-4D97-AF65-F5344CB8AC3E}">
        <p14:creationId xmlns:p14="http://schemas.microsoft.com/office/powerpoint/2010/main" val="615663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7E9F-9F5B-85C9-1938-FE7E14FBB932}"/>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FB761555-FC2F-B2DF-BCDF-2225D20D9491}"/>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E48ADB12-D7B2-F5DC-00E0-576833724BD1}"/>
              </a:ext>
            </a:extLst>
          </p:cNvPr>
          <p:cNvPicPr>
            <a:picLocks noChangeAspect="1"/>
          </p:cNvPicPr>
          <p:nvPr/>
        </p:nvPicPr>
        <p:blipFill>
          <a:blip r:embed="rId3"/>
          <a:stretch>
            <a:fillRect/>
          </a:stretch>
        </p:blipFill>
        <p:spPr>
          <a:xfrm>
            <a:off x="50496" y="6222773"/>
            <a:ext cx="1118350" cy="612431"/>
          </a:xfrm>
          <a:prstGeom prst="rect">
            <a:avLst/>
          </a:prstGeom>
          <a:ln>
            <a:noFill/>
          </a:ln>
        </p:spPr>
      </p:pic>
      <p:pic>
        <p:nvPicPr>
          <p:cNvPr id="47" name="Picture 5" descr="Logo&#10;&#10;Description automatically generated">
            <a:extLst>
              <a:ext uri="{FF2B5EF4-FFF2-40B4-BE49-F238E27FC236}">
                <a16:creationId xmlns:a16="http://schemas.microsoft.com/office/drawing/2014/main" id="{892C8B3D-3FC7-1200-4020-E1B453701C20}"/>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pic>
        <p:nvPicPr>
          <p:cNvPr id="9" name="תמונה 8">
            <a:extLst>
              <a:ext uri="{FF2B5EF4-FFF2-40B4-BE49-F238E27FC236}">
                <a16:creationId xmlns:a16="http://schemas.microsoft.com/office/drawing/2014/main" id="{2D69ABF7-2726-4CAA-FD69-BF93C5F19CCD}"/>
              </a:ext>
            </a:extLst>
          </p:cNvPr>
          <p:cNvPicPr>
            <a:picLocks noChangeAspect="1"/>
          </p:cNvPicPr>
          <p:nvPr/>
        </p:nvPicPr>
        <p:blipFill>
          <a:blip r:embed="rId5"/>
          <a:stretch>
            <a:fillRect/>
          </a:stretch>
        </p:blipFill>
        <p:spPr>
          <a:xfrm>
            <a:off x="242071" y="0"/>
            <a:ext cx="11707859" cy="5982535"/>
          </a:xfrm>
          <a:prstGeom prst="rect">
            <a:avLst/>
          </a:prstGeom>
        </p:spPr>
      </p:pic>
      <p:pic>
        <p:nvPicPr>
          <p:cNvPr id="48" name="תמונה 47">
            <a:extLst>
              <a:ext uri="{FF2B5EF4-FFF2-40B4-BE49-F238E27FC236}">
                <a16:creationId xmlns:a16="http://schemas.microsoft.com/office/drawing/2014/main" id="{05ECEAF0-1BE0-B47B-EDEC-74F127F794E7}"/>
              </a:ext>
            </a:extLst>
          </p:cNvPr>
          <p:cNvPicPr>
            <a:picLocks noChangeAspect="1"/>
          </p:cNvPicPr>
          <p:nvPr/>
        </p:nvPicPr>
        <p:blipFill>
          <a:blip r:embed="rId6"/>
          <a:stretch>
            <a:fillRect/>
          </a:stretch>
        </p:blipFill>
        <p:spPr>
          <a:xfrm>
            <a:off x="6462763" y="24514"/>
            <a:ext cx="5487166" cy="650743"/>
          </a:xfrm>
          <a:prstGeom prst="rect">
            <a:avLst/>
          </a:prstGeom>
        </p:spPr>
      </p:pic>
      <p:sp>
        <p:nvSpPr>
          <p:cNvPr id="10" name="TextBox 3">
            <a:extLst>
              <a:ext uri="{FF2B5EF4-FFF2-40B4-BE49-F238E27FC236}">
                <a16:creationId xmlns:a16="http://schemas.microsoft.com/office/drawing/2014/main" id="{7FBDFC24-B878-A73D-CB17-E39079DFA0CB}"/>
              </a:ext>
            </a:extLst>
          </p:cNvPr>
          <p:cNvSpPr txBox="1"/>
          <p:nvPr/>
        </p:nvSpPr>
        <p:spPr>
          <a:xfrm>
            <a:off x="6326909" y="152037"/>
            <a:ext cx="56230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err="1">
                <a:ln>
                  <a:noFill/>
                </a:ln>
                <a:solidFill>
                  <a:srgbClr val="282828"/>
                </a:solidFill>
                <a:effectLst/>
                <a:uLnTx/>
                <a:uFillTx/>
                <a:latin typeface="Calibri"/>
                <a:ea typeface="+mn-ea"/>
                <a:cs typeface="Calibri"/>
              </a:rPr>
              <a:t>איפיון</a:t>
            </a:r>
            <a:r>
              <a:rPr kumimoji="0" lang="he-IL" sz="2800" b="1" i="0" u="none" strike="noStrike" kern="1200" cap="none" spc="0" normalizeH="0" baseline="0" noProof="0" dirty="0">
                <a:ln>
                  <a:noFill/>
                </a:ln>
                <a:solidFill>
                  <a:srgbClr val="282828"/>
                </a:solidFill>
                <a:effectLst/>
                <a:uLnTx/>
                <a:uFillTx/>
                <a:latin typeface="Calibri"/>
                <a:ea typeface="+mn-ea"/>
                <a:cs typeface="Calibri"/>
              </a:rPr>
              <a:t> נותני ומקבלי השירותים (פרסונות)</a:t>
            </a:r>
          </a:p>
        </p:txBody>
      </p:sp>
    </p:spTree>
    <p:extLst>
      <p:ext uri="{BB962C8B-B14F-4D97-AF65-F5344CB8AC3E}">
        <p14:creationId xmlns:p14="http://schemas.microsoft.com/office/powerpoint/2010/main" val="2602456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D7BA-A4A4-4D5A-80D5-78BDEC133583}"/>
            </a:ext>
          </a:extLst>
        </p:cNvPr>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F93061D4-91AC-AEC0-9827-48BC90626F1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4073" y="6364292"/>
            <a:ext cx="1550947" cy="4228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6">
            <a:extLst>
              <a:ext uri="{FF2B5EF4-FFF2-40B4-BE49-F238E27FC236}">
                <a16:creationId xmlns:a16="http://schemas.microsoft.com/office/drawing/2014/main" id="{8C664374-FE81-594B-1330-E8309DD45EBE}"/>
              </a:ext>
            </a:extLst>
          </p:cNvPr>
          <p:cNvPicPr>
            <a:picLocks noChangeAspect="1"/>
          </p:cNvPicPr>
          <p:nvPr/>
        </p:nvPicPr>
        <p:blipFill>
          <a:blip r:embed="rId3"/>
          <a:stretch>
            <a:fillRect/>
          </a:stretch>
        </p:blipFill>
        <p:spPr>
          <a:xfrm>
            <a:off x="50496" y="6222773"/>
            <a:ext cx="1118350" cy="612431"/>
          </a:xfrm>
          <a:prstGeom prst="rect">
            <a:avLst/>
          </a:prstGeom>
          <a:ln>
            <a:noFill/>
          </a:ln>
        </p:spPr>
      </p:pic>
      <p:pic>
        <p:nvPicPr>
          <p:cNvPr id="47" name="Picture 5" descr="Logo&#10;&#10;Description automatically generated">
            <a:extLst>
              <a:ext uri="{FF2B5EF4-FFF2-40B4-BE49-F238E27FC236}">
                <a16:creationId xmlns:a16="http://schemas.microsoft.com/office/drawing/2014/main" id="{503D3E0D-84A0-E21F-A461-310E3ABB08B2}"/>
              </a:ext>
            </a:extLst>
          </p:cNvPr>
          <p:cNvPicPr preferRelativeResize="0">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114198" y="6272986"/>
            <a:ext cx="914227" cy="607596"/>
          </a:xfrm>
          <a:prstGeom prst="rect">
            <a:avLst/>
          </a:prstGeom>
        </p:spPr>
      </p:pic>
      <p:pic>
        <p:nvPicPr>
          <p:cNvPr id="5" name="תמונה 4">
            <a:extLst>
              <a:ext uri="{FF2B5EF4-FFF2-40B4-BE49-F238E27FC236}">
                <a16:creationId xmlns:a16="http://schemas.microsoft.com/office/drawing/2014/main" id="{44B3182A-1A31-CD54-B906-95127AB5D896}"/>
              </a:ext>
            </a:extLst>
          </p:cNvPr>
          <p:cNvPicPr>
            <a:picLocks noChangeAspect="1"/>
          </p:cNvPicPr>
          <p:nvPr/>
        </p:nvPicPr>
        <p:blipFill>
          <a:blip r:embed="rId5"/>
          <a:stretch>
            <a:fillRect/>
          </a:stretch>
        </p:blipFill>
        <p:spPr>
          <a:xfrm>
            <a:off x="0" y="22796"/>
            <a:ext cx="12135838" cy="6812408"/>
          </a:xfrm>
          <a:prstGeom prst="rect">
            <a:avLst/>
          </a:prstGeom>
        </p:spPr>
      </p:pic>
      <p:grpSp>
        <p:nvGrpSpPr>
          <p:cNvPr id="9" name="קבוצה 8">
            <a:extLst>
              <a:ext uri="{FF2B5EF4-FFF2-40B4-BE49-F238E27FC236}">
                <a16:creationId xmlns:a16="http://schemas.microsoft.com/office/drawing/2014/main" id="{6CF565EA-CE33-C6F1-BC5D-0F020D9BC6FA}"/>
              </a:ext>
            </a:extLst>
          </p:cNvPr>
          <p:cNvGrpSpPr/>
          <p:nvPr/>
        </p:nvGrpSpPr>
        <p:grpSpPr>
          <a:xfrm>
            <a:off x="6357300" y="256254"/>
            <a:ext cx="5410955" cy="628738"/>
            <a:chOff x="6357300" y="256254"/>
            <a:chExt cx="5410955" cy="628738"/>
          </a:xfrm>
        </p:grpSpPr>
        <p:pic>
          <p:nvPicPr>
            <p:cNvPr id="8" name="תמונה 7">
              <a:extLst>
                <a:ext uri="{FF2B5EF4-FFF2-40B4-BE49-F238E27FC236}">
                  <a16:creationId xmlns:a16="http://schemas.microsoft.com/office/drawing/2014/main" id="{25D8CBB8-BABA-179A-96A1-C1867383575B}"/>
                </a:ext>
              </a:extLst>
            </p:cNvPr>
            <p:cNvPicPr>
              <a:picLocks noChangeAspect="1"/>
            </p:cNvPicPr>
            <p:nvPr/>
          </p:nvPicPr>
          <p:blipFill>
            <a:blip r:embed="rId6"/>
            <a:stretch>
              <a:fillRect/>
            </a:stretch>
          </p:blipFill>
          <p:spPr>
            <a:xfrm>
              <a:off x="6357300" y="256254"/>
              <a:ext cx="5410955" cy="628738"/>
            </a:xfrm>
            <a:prstGeom prst="rect">
              <a:avLst/>
            </a:prstGeom>
          </p:spPr>
        </p:pic>
        <p:sp>
          <p:nvSpPr>
            <p:cNvPr id="6" name="TextBox 3">
              <a:extLst>
                <a:ext uri="{FF2B5EF4-FFF2-40B4-BE49-F238E27FC236}">
                  <a16:creationId xmlns:a16="http://schemas.microsoft.com/office/drawing/2014/main" id="{4B7F8F84-1870-E7D6-5216-3BE0A47E9B8F}"/>
                </a:ext>
              </a:extLst>
            </p:cNvPr>
            <p:cNvSpPr txBox="1"/>
            <p:nvPr/>
          </p:nvSpPr>
          <p:spPr>
            <a:xfrm>
              <a:off x="7016135" y="256254"/>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מסע הלקוח החדש</a:t>
              </a:r>
            </a:p>
          </p:txBody>
        </p:sp>
      </p:grpSp>
    </p:spTree>
    <p:extLst>
      <p:ext uri="{BB962C8B-B14F-4D97-AF65-F5344CB8AC3E}">
        <p14:creationId xmlns:p14="http://schemas.microsoft.com/office/powerpoint/2010/main" val="3838211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2"/>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1116420" y="51231"/>
            <a:ext cx="9696771" cy="212365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סוגיות בחשיבה</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סל אישי מותאם לאזרח הוותיק</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44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endParaRPr>
          </a:p>
        </p:txBody>
      </p:sp>
      <p:pic>
        <p:nvPicPr>
          <p:cNvPr id="3" name="Picture 2">
            <a:extLst>
              <a:ext uri="{FF2B5EF4-FFF2-40B4-BE49-F238E27FC236}">
                <a16:creationId xmlns:a16="http://schemas.microsoft.com/office/drawing/2014/main" id="{9B46C4ED-33DC-4230-0642-91A23B87572D}"/>
              </a:ext>
            </a:extLst>
          </p:cNvPr>
          <p:cNvPicPr>
            <a:picLocks noChangeAspect="1"/>
          </p:cNvPicPr>
          <p:nvPr/>
        </p:nvPicPr>
        <p:blipFill>
          <a:blip r:embed="rId3"/>
          <a:stretch>
            <a:fillRect/>
          </a:stretch>
        </p:blipFill>
        <p:spPr>
          <a:xfrm>
            <a:off x="7758222" y="160768"/>
            <a:ext cx="814228" cy="596132"/>
          </a:xfrm>
          <a:prstGeom prst="rect">
            <a:avLst/>
          </a:prstGeom>
        </p:spPr>
      </p:pic>
      <p:sp>
        <p:nvSpPr>
          <p:cNvPr id="2" name="TextBox 3">
            <a:extLst>
              <a:ext uri="{FF2B5EF4-FFF2-40B4-BE49-F238E27FC236}">
                <a16:creationId xmlns:a16="http://schemas.microsoft.com/office/drawing/2014/main" id="{1B2D77AF-4E09-7D47-B435-A21266B4499F}"/>
              </a:ext>
            </a:extLst>
          </p:cNvPr>
          <p:cNvSpPr txBox="1"/>
          <p:nvPr/>
        </p:nvSpPr>
        <p:spPr>
          <a:xfrm>
            <a:off x="580505" y="1547633"/>
            <a:ext cx="11030989" cy="4611519"/>
          </a:xfrm>
          <a:prstGeom prst="rect">
            <a:avLst/>
          </a:prstGeom>
          <a:noFill/>
        </p:spPr>
        <p:txBody>
          <a:bodyPr wrap="square">
            <a:spAutoFit/>
          </a:bodyPr>
          <a:lstStyle/>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איזה שירותים מכניסים לסל ומה לא מכניסים? גבולות גזרה מרחיבים או צרים?</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איזה תיעדוף נותנים באלגוריתם? </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שומרים מניצול לרעה?</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מנגישים ללקוח הלא דיגיטלי? מי הגורם שנמצא מולו ומחבר אותו לשירותים?</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מיפוי מקורות המידע לשירותים בקהילה, לצרכי הלקוח ולרצונותיו?</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r>
              <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 איך מודדים את איכות השירות?</a:t>
            </a: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891" marR="0" lvl="0" indent="-342891" algn="r" defTabSz="914400" rtl="1" eaLnBrk="1" fontAlgn="auto" latinLnBrk="0" hangingPunct="1">
              <a:lnSpc>
                <a:spcPct val="150000"/>
              </a:lnSpc>
              <a:spcBef>
                <a:spcPts val="0"/>
              </a:spcBef>
              <a:spcAft>
                <a:spcPts val="0"/>
              </a:spcAft>
              <a:buClrTx/>
              <a:buSzTx/>
              <a:buFont typeface="+mj-lt"/>
              <a:buAutoNum type="arabicPeriod"/>
              <a:tabLst/>
              <a:defRPr/>
            </a:pPr>
            <a:endParaRPr kumimoji="0" lang="he-IL"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6" name="מלבן 5">
            <a:extLst>
              <a:ext uri="{FF2B5EF4-FFF2-40B4-BE49-F238E27FC236}">
                <a16:creationId xmlns:a16="http://schemas.microsoft.com/office/drawing/2014/main" id="{F1B0F612-C44B-5A0B-BA78-6C2096B20817}"/>
              </a:ext>
            </a:extLst>
          </p:cNvPr>
          <p:cNvSpPr/>
          <p:nvPr/>
        </p:nvSpPr>
        <p:spPr>
          <a:xfrm>
            <a:off x="3093" y="1"/>
            <a:ext cx="230823" cy="5943629"/>
          </a:xfrm>
          <a:prstGeom prst="rect">
            <a:avLst/>
          </a:prstGeom>
          <a:solidFill>
            <a:srgbClr val="C55A11"/>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7" name="TextBox 26">
            <a:extLst>
              <a:ext uri="{FF2B5EF4-FFF2-40B4-BE49-F238E27FC236}">
                <a16:creationId xmlns:a16="http://schemas.microsoft.com/office/drawing/2014/main" id="{F005FC8F-1610-F585-376D-18AAE31F4BF7}"/>
              </a:ext>
            </a:extLst>
          </p:cNvPr>
          <p:cNvSpPr txBox="1"/>
          <p:nvPr/>
        </p:nvSpPr>
        <p:spPr>
          <a:xfrm rot="16200000">
            <a:off x="-1191695" y="1136079"/>
            <a:ext cx="2577980" cy="338554"/>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מהלכים וכיוונים להמשך</a:t>
            </a:r>
          </a:p>
        </p:txBody>
      </p:sp>
      <p:sp>
        <p:nvSpPr>
          <p:cNvPr id="11" name="מלבן 10">
            <a:extLst>
              <a:ext uri="{FF2B5EF4-FFF2-40B4-BE49-F238E27FC236}">
                <a16:creationId xmlns:a16="http://schemas.microsoft.com/office/drawing/2014/main" id="{D8C29C72-BAE9-CF2A-D3C5-4FADE5AA4311}"/>
              </a:ext>
            </a:extLst>
          </p:cNvPr>
          <p:cNvSpPr/>
          <p:nvPr/>
        </p:nvSpPr>
        <p:spPr>
          <a:xfrm>
            <a:off x="16817" y="1"/>
            <a:ext cx="230823" cy="5943630"/>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2" name="TextBox 26">
            <a:extLst>
              <a:ext uri="{FF2B5EF4-FFF2-40B4-BE49-F238E27FC236}">
                <a16:creationId xmlns:a16="http://schemas.microsoft.com/office/drawing/2014/main" id="{6000A3EA-B8B8-8395-6159-5B2757B569D5}"/>
              </a:ext>
            </a:extLst>
          </p:cNvPr>
          <p:cNvSpPr txBox="1"/>
          <p:nvPr/>
        </p:nvSpPr>
        <p:spPr>
          <a:xfrm rot="16200000">
            <a:off x="-676456" y="625772"/>
            <a:ext cx="1598516"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הרפורמה בסיעוד</a:t>
            </a:r>
          </a:p>
        </p:txBody>
      </p:sp>
    </p:spTree>
    <p:extLst>
      <p:ext uri="{BB962C8B-B14F-4D97-AF65-F5344CB8AC3E}">
        <p14:creationId xmlns:p14="http://schemas.microsoft.com/office/powerpoint/2010/main" val="1683577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ssistant" pitchFamily="2" charset="-79"/>
                <a:ea typeface="+mn-ea"/>
                <a:cs typeface="Assistant" pitchFamily="2" charset="-79"/>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042B1-2F3A-36DD-4E68-4021C85BAD0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26A385-8A0F-437B-6552-AA0D7F517859}"/>
              </a:ext>
            </a:extLst>
          </p:cNvPr>
          <p:cNvPicPr>
            <a:picLocks noChangeAspect="1"/>
          </p:cNvPicPr>
          <p:nvPr/>
        </p:nvPicPr>
        <p:blipFill>
          <a:blip r:embed="rId2"/>
          <a:stretch>
            <a:fillRect/>
          </a:stretch>
        </p:blipFill>
        <p:spPr>
          <a:xfrm>
            <a:off x="16817" y="6154933"/>
            <a:ext cx="12192000" cy="734291"/>
          </a:xfrm>
          <a:prstGeom prst="rect">
            <a:avLst/>
          </a:prstGeom>
        </p:spPr>
      </p:pic>
      <p:pic>
        <p:nvPicPr>
          <p:cNvPr id="3" name="Picture 2">
            <a:extLst>
              <a:ext uri="{FF2B5EF4-FFF2-40B4-BE49-F238E27FC236}">
                <a16:creationId xmlns:a16="http://schemas.microsoft.com/office/drawing/2014/main" id="{4BAA99C9-4812-24B5-A4BF-8E13D48611A8}"/>
              </a:ext>
            </a:extLst>
          </p:cNvPr>
          <p:cNvPicPr>
            <a:picLocks noChangeAspect="1"/>
          </p:cNvPicPr>
          <p:nvPr/>
        </p:nvPicPr>
        <p:blipFill>
          <a:blip r:embed="rId3"/>
          <a:stretch>
            <a:fillRect/>
          </a:stretch>
        </p:blipFill>
        <p:spPr>
          <a:xfrm>
            <a:off x="10253868" y="2321463"/>
            <a:ext cx="280102" cy="205075"/>
          </a:xfrm>
          <a:prstGeom prst="rect">
            <a:avLst/>
          </a:prstGeom>
        </p:spPr>
      </p:pic>
      <p:sp>
        <p:nvSpPr>
          <p:cNvPr id="8" name="תיבת טקסט 7">
            <a:extLst>
              <a:ext uri="{FF2B5EF4-FFF2-40B4-BE49-F238E27FC236}">
                <a16:creationId xmlns:a16="http://schemas.microsoft.com/office/drawing/2014/main" id="{F0207B48-9CB4-18AF-3B2B-5FFE5ECE5CF7}"/>
              </a:ext>
            </a:extLst>
          </p:cNvPr>
          <p:cNvSpPr txBox="1"/>
          <p:nvPr/>
        </p:nvSpPr>
        <p:spPr>
          <a:xfrm>
            <a:off x="6556958" y="1691938"/>
            <a:ext cx="3696909" cy="1754326"/>
          </a:xfrm>
          <a:prstGeom prst="rect">
            <a:avLst/>
          </a:prstGeom>
          <a:noFill/>
        </p:spPr>
        <p:txBody>
          <a:bodyPr wrap="none" rtlCol="1">
            <a:spAutoFit/>
          </a:bodyPr>
          <a:lstStyle/>
          <a:p>
            <a:r>
              <a:rPr lang="he-IL" b="1" dirty="0"/>
              <a:t>חלק א':</a:t>
            </a:r>
          </a:p>
          <a:p>
            <a:r>
              <a:rPr lang="he-IL" dirty="0"/>
              <a:t>עיצוב </a:t>
            </a:r>
            <a:r>
              <a:rPr lang="he-IL" dirty="0" err="1"/>
              <a:t>ואיפיון</a:t>
            </a:r>
            <a:r>
              <a:rPr lang="he-IL" dirty="0"/>
              <a:t> שירות וסל השירותים</a:t>
            </a:r>
          </a:p>
          <a:p>
            <a:r>
              <a:rPr lang="he-IL" dirty="0"/>
              <a:t>עיצוב תהליכי עבודה וממשקים</a:t>
            </a:r>
          </a:p>
          <a:p>
            <a:r>
              <a:rPr lang="he-IL" dirty="0"/>
              <a:t>הגדרת פרסונות נותני ומקבלי השירותים</a:t>
            </a:r>
          </a:p>
          <a:p>
            <a:endParaRPr lang="he-IL" dirty="0"/>
          </a:p>
          <a:p>
            <a:endParaRPr lang="he-IL" dirty="0"/>
          </a:p>
        </p:txBody>
      </p:sp>
      <p:sp>
        <p:nvSpPr>
          <p:cNvPr id="9" name="חץ: למטה 8">
            <a:extLst>
              <a:ext uri="{FF2B5EF4-FFF2-40B4-BE49-F238E27FC236}">
                <a16:creationId xmlns:a16="http://schemas.microsoft.com/office/drawing/2014/main" id="{7FCAE860-E9DE-E271-66FB-B9347BD5B3B0}"/>
              </a:ext>
            </a:extLst>
          </p:cNvPr>
          <p:cNvSpPr/>
          <p:nvPr/>
        </p:nvSpPr>
        <p:spPr>
          <a:xfrm>
            <a:off x="9390215" y="2873974"/>
            <a:ext cx="489527" cy="11100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2">
            <a:extLst>
              <a:ext uri="{FF2B5EF4-FFF2-40B4-BE49-F238E27FC236}">
                <a16:creationId xmlns:a16="http://schemas.microsoft.com/office/drawing/2014/main" id="{FE0D688A-42A8-B018-CA40-203764450916}"/>
              </a:ext>
            </a:extLst>
          </p:cNvPr>
          <p:cNvPicPr>
            <a:picLocks noChangeAspect="1"/>
          </p:cNvPicPr>
          <p:nvPr/>
        </p:nvPicPr>
        <p:blipFill>
          <a:blip r:embed="rId3"/>
          <a:stretch>
            <a:fillRect/>
          </a:stretch>
        </p:blipFill>
        <p:spPr>
          <a:xfrm>
            <a:off x="10253869" y="2044207"/>
            <a:ext cx="280102" cy="205075"/>
          </a:xfrm>
          <a:prstGeom prst="rect">
            <a:avLst/>
          </a:prstGeom>
        </p:spPr>
      </p:pic>
      <p:pic>
        <p:nvPicPr>
          <p:cNvPr id="12" name="Picture 2">
            <a:extLst>
              <a:ext uri="{FF2B5EF4-FFF2-40B4-BE49-F238E27FC236}">
                <a16:creationId xmlns:a16="http://schemas.microsoft.com/office/drawing/2014/main" id="{F8D57498-B27C-3BF5-114C-B0A96FC9E5D3}"/>
              </a:ext>
            </a:extLst>
          </p:cNvPr>
          <p:cNvPicPr>
            <a:picLocks noChangeAspect="1"/>
          </p:cNvPicPr>
          <p:nvPr/>
        </p:nvPicPr>
        <p:blipFill>
          <a:blip r:embed="rId3"/>
          <a:stretch>
            <a:fillRect/>
          </a:stretch>
        </p:blipFill>
        <p:spPr>
          <a:xfrm>
            <a:off x="10253867" y="2613235"/>
            <a:ext cx="280102" cy="205075"/>
          </a:xfrm>
          <a:prstGeom prst="rect">
            <a:avLst/>
          </a:prstGeom>
        </p:spPr>
      </p:pic>
      <p:sp>
        <p:nvSpPr>
          <p:cNvPr id="15" name="תיבת טקסט 14">
            <a:extLst>
              <a:ext uri="{FF2B5EF4-FFF2-40B4-BE49-F238E27FC236}">
                <a16:creationId xmlns:a16="http://schemas.microsoft.com/office/drawing/2014/main" id="{CFD472E9-3089-5B06-043B-8287FE7E6C5F}"/>
              </a:ext>
            </a:extLst>
          </p:cNvPr>
          <p:cNvSpPr txBox="1"/>
          <p:nvPr/>
        </p:nvSpPr>
        <p:spPr>
          <a:xfrm>
            <a:off x="1117498" y="1379863"/>
            <a:ext cx="4322017" cy="2308324"/>
          </a:xfrm>
          <a:prstGeom prst="rect">
            <a:avLst/>
          </a:prstGeom>
          <a:noFill/>
        </p:spPr>
        <p:txBody>
          <a:bodyPr wrap="none" rtlCol="1">
            <a:spAutoFit/>
          </a:bodyPr>
          <a:lstStyle/>
          <a:p>
            <a:r>
              <a:rPr lang="he-IL" b="1" dirty="0"/>
              <a:t>במה לא נעסוק: </a:t>
            </a:r>
          </a:p>
          <a:p>
            <a:pPr marL="285750" indent="-285750">
              <a:buFont typeface="Arial" panose="020B0604020202020204" pitchFamily="34" charset="0"/>
              <a:buChar char="•"/>
            </a:pPr>
            <a:r>
              <a:rPr lang="he-IL" dirty="0"/>
              <a:t>מי המשרד </a:t>
            </a:r>
            <a:r>
              <a:rPr lang="he-IL" dirty="0" err="1"/>
              <a:t>המתכלל</a:t>
            </a:r>
            <a:r>
              <a:rPr lang="he-IL" dirty="0"/>
              <a:t>/של מי המודל- של כולנו</a:t>
            </a:r>
          </a:p>
          <a:p>
            <a:pPr marL="285750" indent="-285750">
              <a:buFont typeface="Arial" panose="020B0604020202020204" pitchFamily="34" charset="0"/>
              <a:buChar char="•"/>
            </a:pPr>
            <a:r>
              <a:rPr lang="he-IL" dirty="0"/>
              <a:t>יעדים ומדדים- צוות מדיניות וצוות מדדים</a:t>
            </a:r>
          </a:p>
          <a:p>
            <a:pPr marL="285750" indent="-285750">
              <a:buFont typeface="Arial" panose="020B0604020202020204" pitchFamily="34" charset="0"/>
              <a:buChar char="•"/>
            </a:pPr>
            <a:r>
              <a:rPr lang="he-IL" dirty="0"/>
              <a:t>תמריצים- בעבודה עם </a:t>
            </a:r>
            <a:r>
              <a:rPr lang="en-US" dirty="0"/>
              <a:t>EY</a:t>
            </a:r>
            <a:endParaRPr lang="he-IL" dirty="0"/>
          </a:p>
          <a:p>
            <a:pPr marL="285750" indent="-285750">
              <a:buFont typeface="Arial" panose="020B0604020202020204" pitchFamily="34" charset="0"/>
              <a:buChar char="•"/>
            </a:pPr>
            <a:r>
              <a:rPr lang="he-IL" dirty="0"/>
              <a:t>העברות מידע בין מערכות- </a:t>
            </a:r>
            <a:r>
              <a:rPr lang="he-IL" dirty="0" err="1"/>
              <a:t>דיגידאטה</a:t>
            </a:r>
            <a:endParaRPr lang="he-IL" dirty="0"/>
          </a:p>
          <a:p>
            <a:pPr marL="285750" indent="-285750">
              <a:buFont typeface="Arial" panose="020B0604020202020204" pitchFamily="34" charset="0"/>
              <a:buChar char="•"/>
            </a:pPr>
            <a:r>
              <a:rPr lang="he-IL" dirty="0"/>
              <a:t>בניית תשתית טכנולוגית- </a:t>
            </a:r>
            <a:r>
              <a:rPr lang="he-IL" dirty="0" err="1"/>
              <a:t>דיגידאטה</a:t>
            </a:r>
            <a:endParaRPr lang="he-IL" dirty="0"/>
          </a:p>
          <a:p>
            <a:pPr marL="285750" indent="-285750">
              <a:buFont typeface="Arial" panose="020B0604020202020204" pitchFamily="34" charset="0"/>
              <a:buChar char="•"/>
            </a:pPr>
            <a:r>
              <a:rPr lang="he-IL" dirty="0"/>
              <a:t>תקציבים ורגולציה</a:t>
            </a:r>
          </a:p>
          <a:p>
            <a:pPr marL="285750" indent="-285750">
              <a:buFont typeface="Arial" panose="020B0604020202020204" pitchFamily="34" charset="0"/>
              <a:buChar char="•"/>
            </a:pPr>
            <a:r>
              <a:rPr lang="he-IL" sz="1800" dirty="0">
                <a:effectLst/>
                <a:latin typeface="Calibri" panose="020F0502020204030204" pitchFamily="34" charset="0"/>
                <a:ea typeface="Calibri" panose="020F0502020204030204" pitchFamily="34" charset="0"/>
                <a:cs typeface="Arial" panose="020B0604020202020204" pitchFamily="34" charset="0"/>
              </a:rPr>
              <a:t>שיתוף ציבור</a:t>
            </a:r>
            <a:endParaRPr lang="he-IL" dirty="0"/>
          </a:p>
        </p:txBody>
      </p:sp>
      <p:sp>
        <p:nvSpPr>
          <p:cNvPr id="16" name="תיבת טקסט 15">
            <a:extLst>
              <a:ext uri="{FF2B5EF4-FFF2-40B4-BE49-F238E27FC236}">
                <a16:creationId xmlns:a16="http://schemas.microsoft.com/office/drawing/2014/main" id="{DEC1D145-EB7B-8B07-A025-BB3BB221CCF6}"/>
              </a:ext>
            </a:extLst>
          </p:cNvPr>
          <p:cNvSpPr txBox="1"/>
          <p:nvPr/>
        </p:nvSpPr>
        <p:spPr>
          <a:xfrm>
            <a:off x="8414838" y="4079127"/>
            <a:ext cx="1839029" cy="1754326"/>
          </a:xfrm>
          <a:prstGeom prst="rect">
            <a:avLst/>
          </a:prstGeom>
          <a:noFill/>
        </p:spPr>
        <p:txBody>
          <a:bodyPr wrap="none" rtlCol="1">
            <a:spAutoFit/>
          </a:bodyPr>
          <a:lstStyle/>
          <a:p>
            <a:r>
              <a:rPr lang="he-IL" b="1" dirty="0"/>
              <a:t>חלק ב': </a:t>
            </a:r>
          </a:p>
          <a:p>
            <a:r>
              <a:rPr lang="he-IL" dirty="0"/>
              <a:t>מסע לקוח חדש</a:t>
            </a:r>
          </a:p>
          <a:p>
            <a:r>
              <a:rPr lang="he-IL" dirty="0"/>
              <a:t>עקרונות </a:t>
            </a:r>
            <a:r>
              <a:rPr lang="he-IL" dirty="0" err="1"/>
              <a:t>הפיילוטים</a:t>
            </a:r>
            <a:endParaRPr lang="he-IL" dirty="0"/>
          </a:p>
          <a:p>
            <a:pPr marL="285750" indent="-285750">
              <a:buFont typeface="Arial" panose="020B0604020202020204" pitchFamily="34" charset="0"/>
              <a:buChar char="•"/>
            </a:pPr>
            <a:endParaRPr lang="he-IL" dirty="0"/>
          </a:p>
          <a:p>
            <a:endParaRPr lang="he-IL" dirty="0"/>
          </a:p>
          <a:p>
            <a:endParaRPr lang="he-IL" dirty="0"/>
          </a:p>
        </p:txBody>
      </p:sp>
      <p:sp>
        <p:nvSpPr>
          <p:cNvPr id="17" name="חץ: למטה 16">
            <a:extLst>
              <a:ext uri="{FF2B5EF4-FFF2-40B4-BE49-F238E27FC236}">
                <a16:creationId xmlns:a16="http://schemas.microsoft.com/office/drawing/2014/main" id="{439CB648-6544-32B9-699D-BAC56E531985}"/>
              </a:ext>
            </a:extLst>
          </p:cNvPr>
          <p:cNvSpPr/>
          <p:nvPr/>
        </p:nvSpPr>
        <p:spPr>
          <a:xfrm rot="5400000">
            <a:off x="6453155" y="4121771"/>
            <a:ext cx="489527" cy="11100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0" name="תיבת טקסט 19">
            <a:extLst>
              <a:ext uri="{FF2B5EF4-FFF2-40B4-BE49-F238E27FC236}">
                <a16:creationId xmlns:a16="http://schemas.microsoft.com/office/drawing/2014/main" id="{B93F60A4-07B3-FEDB-049A-CB4F5BBB1DAB}"/>
              </a:ext>
            </a:extLst>
          </p:cNvPr>
          <p:cNvSpPr txBox="1"/>
          <p:nvPr/>
        </p:nvSpPr>
        <p:spPr>
          <a:xfrm>
            <a:off x="2399093" y="4093144"/>
            <a:ext cx="2685414" cy="1754326"/>
          </a:xfrm>
          <a:prstGeom prst="rect">
            <a:avLst/>
          </a:prstGeom>
          <a:noFill/>
        </p:spPr>
        <p:txBody>
          <a:bodyPr wrap="none" rtlCol="1">
            <a:spAutoFit/>
          </a:bodyPr>
          <a:lstStyle/>
          <a:p>
            <a:r>
              <a:rPr lang="he-IL" b="1" dirty="0"/>
              <a:t>תוצרים מצופים</a:t>
            </a:r>
          </a:p>
          <a:p>
            <a:r>
              <a:rPr lang="he-IL" dirty="0"/>
              <a:t>תיקוף המודל</a:t>
            </a:r>
          </a:p>
          <a:p>
            <a:r>
              <a:rPr lang="he-IL" dirty="0"/>
              <a:t>קידום </a:t>
            </a:r>
            <a:r>
              <a:rPr lang="he-IL" dirty="0" err="1"/>
              <a:t>פיילוטים</a:t>
            </a:r>
            <a:r>
              <a:rPr lang="he-IL" dirty="0"/>
              <a:t> </a:t>
            </a:r>
          </a:p>
          <a:p>
            <a:r>
              <a:rPr lang="he-IL" dirty="0"/>
              <a:t>המשך עבודה בצוותי פעולה</a:t>
            </a:r>
          </a:p>
          <a:p>
            <a:endParaRPr lang="he-IL" dirty="0"/>
          </a:p>
          <a:p>
            <a:endParaRPr lang="he-IL" dirty="0"/>
          </a:p>
        </p:txBody>
      </p:sp>
      <p:sp>
        <p:nvSpPr>
          <p:cNvPr id="22" name="תיבת טקסט 21">
            <a:extLst>
              <a:ext uri="{FF2B5EF4-FFF2-40B4-BE49-F238E27FC236}">
                <a16:creationId xmlns:a16="http://schemas.microsoft.com/office/drawing/2014/main" id="{518A8F9C-CFA3-0243-CD92-BD50E4C8BFE4}"/>
              </a:ext>
            </a:extLst>
          </p:cNvPr>
          <p:cNvSpPr txBox="1"/>
          <p:nvPr/>
        </p:nvSpPr>
        <p:spPr>
          <a:xfrm>
            <a:off x="4382551" y="1325508"/>
            <a:ext cx="6151418" cy="369332"/>
          </a:xfrm>
          <a:prstGeom prst="rect">
            <a:avLst/>
          </a:prstGeom>
          <a:noFill/>
        </p:spPr>
        <p:txBody>
          <a:bodyPr wrap="square">
            <a:spAutoFit/>
          </a:bodyPr>
          <a:lstStyle/>
          <a:p>
            <a:r>
              <a:rPr lang="he-IL" b="1" dirty="0"/>
              <a:t>במה נעסוק: </a:t>
            </a:r>
          </a:p>
        </p:txBody>
      </p:sp>
      <p:pic>
        <p:nvPicPr>
          <p:cNvPr id="23" name="Picture 2">
            <a:extLst>
              <a:ext uri="{FF2B5EF4-FFF2-40B4-BE49-F238E27FC236}">
                <a16:creationId xmlns:a16="http://schemas.microsoft.com/office/drawing/2014/main" id="{CBFA3E77-E7FE-7AF3-1E6D-BA49D5256D79}"/>
              </a:ext>
            </a:extLst>
          </p:cNvPr>
          <p:cNvPicPr>
            <a:picLocks noChangeAspect="1"/>
          </p:cNvPicPr>
          <p:nvPr/>
        </p:nvPicPr>
        <p:blipFill>
          <a:blip r:embed="rId3"/>
          <a:stretch>
            <a:fillRect/>
          </a:stretch>
        </p:blipFill>
        <p:spPr>
          <a:xfrm>
            <a:off x="10258381" y="4753635"/>
            <a:ext cx="280102" cy="205075"/>
          </a:xfrm>
          <a:prstGeom prst="rect">
            <a:avLst/>
          </a:prstGeom>
        </p:spPr>
      </p:pic>
      <p:pic>
        <p:nvPicPr>
          <p:cNvPr id="24" name="Picture 2">
            <a:extLst>
              <a:ext uri="{FF2B5EF4-FFF2-40B4-BE49-F238E27FC236}">
                <a16:creationId xmlns:a16="http://schemas.microsoft.com/office/drawing/2014/main" id="{07425408-6480-6319-C90C-17213F1C03A1}"/>
              </a:ext>
            </a:extLst>
          </p:cNvPr>
          <p:cNvPicPr>
            <a:picLocks noChangeAspect="1"/>
          </p:cNvPicPr>
          <p:nvPr/>
        </p:nvPicPr>
        <p:blipFill>
          <a:blip r:embed="rId3"/>
          <a:stretch>
            <a:fillRect/>
          </a:stretch>
        </p:blipFill>
        <p:spPr>
          <a:xfrm>
            <a:off x="10253867" y="4445318"/>
            <a:ext cx="280102" cy="205075"/>
          </a:xfrm>
          <a:prstGeom prst="rect">
            <a:avLst/>
          </a:prstGeom>
        </p:spPr>
      </p:pic>
      <p:pic>
        <p:nvPicPr>
          <p:cNvPr id="26" name="Picture 2">
            <a:extLst>
              <a:ext uri="{FF2B5EF4-FFF2-40B4-BE49-F238E27FC236}">
                <a16:creationId xmlns:a16="http://schemas.microsoft.com/office/drawing/2014/main" id="{3A24FAFD-B95B-6555-DD0E-41117EE2EB92}"/>
              </a:ext>
            </a:extLst>
          </p:cNvPr>
          <p:cNvPicPr>
            <a:picLocks noChangeAspect="1"/>
          </p:cNvPicPr>
          <p:nvPr/>
        </p:nvPicPr>
        <p:blipFill>
          <a:blip r:embed="rId3"/>
          <a:stretch>
            <a:fillRect/>
          </a:stretch>
        </p:blipFill>
        <p:spPr>
          <a:xfrm>
            <a:off x="5150324" y="4705265"/>
            <a:ext cx="280102" cy="242225"/>
          </a:xfrm>
          <a:prstGeom prst="rect">
            <a:avLst/>
          </a:prstGeom>
        </p:spPr>
      </p:pic>
      <p:pic>
        <p:nvPicPr>
          <p:cNvPr id="27" name="Picture 2">
            <a:extLst>
              <a:ext uri="{FF2B5EF4-FFF2-40B4-BE49-F238E27FC236}">
                <a16:creationId xmlns:a16="http://schemas.microsoft.com/office/drawing/2014/main" id="{69AB3B47-333C-7FD6-3B7D-0088856DBC78}"/>
              </a:ext>
            </a:extLst>
          </p:cNvPr>
          <p:cNvPicPr>
            <a:picLocks noChangeAspect="1"/>
          </p:cNvPicPr>
          <p:nvPr/>
        </p:nvPicPr>
        <p:blipFill>
          <a:blip r:embed="rId3"/>
          <a:stretch>
            <a:fillRect/>
          </a:stretch>
        </p:blipFill>
        <p:spPr>
          <a:xfrm>
            <a:off x="5150325" y="4428009"/>
            <a:ext cx="280102" cy="242225"/>
          </a:xfrm>
          <a:prstGeom prst="rect">
            <a:avLst/>
          </a:prstGeom>
        </p:spPr>
      </p:pic>
      <p:pic>
        <p:nvPicPr>
          <p:cNvPr id="28" name="Picture 2">
            <a:extLst>
              <a:ext uri="{FF2B5EF4-FFF2-40B4-BE49-F238E27FC236}">
                <a16:creationId xmlns:a16="http://schemas.microsoft.com/office/drawing/2014/main" id="{8C520250-2C49-7BCC-561F-464E8A6DFE50}"/>
              </a:ext>
            </a:extLst>
          </p:cNvPr>
          <p:cNvPicPr>
            <a:picLocks noChangeAspect="1"/>
          </p:cNvPicPr>
          <p:nvPr/>
        </p:nvPicPr>
        <p:blipFill>
          <a:blip r:embed="rId3"/>
          <a:stretch>
            <a:fillRect/>
          </a:stretch>
        </p:blipFill>
        <p:spPr>
          <a:xfrm>
            <a:off x="5150323" y="4997037"/>
            <a:ext cx="280102" cy="242225"/>
          </a:xfrm>
          <a:prstGeom prst="rect">
            <a:avLst/>
          </a:prstGeom>
        </p:spPr>
      </p:pic>
    </p:spTree>
    <p:extLst>
      <p:ext uri="{BB962C8B-B14F-4D97-AF65-F5344CB8AC3E}">
        <p14:creationId xmlns:p14="http://schemas.microsoft.com/office/powerpoint/2010/main" val="1002176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567872" y="5495635"/>
            <a:ext cx="9515764"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b="1" dirty="0"/>
              <a:t>ועדה בין משרדית: </a:t>
            </a:r>
            <a:r>
              <a:rPr lang="he-IL" sz="2400" dirty="0"/>
              <a:t>"הרחבת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5" name="TextBox 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8" name="מלבן 7">
            <a:extLst>
              <a:ext uri="{FF2B5EF4-FFF2-40B4-BE49-F238E27FC236}">
                <a16:creationId xmlns:a16="http://schemas.microsoft.com/office/drawing/2014/main" id="{7CC48B59-5592-02FC-30A6-4F5812141FE3}"/>
              </a:ext>
            </a:extLst>
          </p:cNvPr>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6">
            <a:extLst>
              <a:ext uri="{FF2B5EF4-FFF2-40B4-BE49-F238E27FC236}">
                <a16:creationId xmlns:a16="http://schemas.microsoft.com/office/drawing/2014/main" id="{60492076-6A8C-3E05-4F11-7DB2E5C83BF6}"/>
              </a:ext>
            </a:extLst>
          </p:cNvPr>
          <p:cNvSpPr txBox="1"/>
          <p:nvPr/>
        </p:nvSpPr>
        <p:spPr>
          <a:xfrm rot="16200000">
            <a:off x="-1023138" y="774604"/>
            <a:ext cx="2064989"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2" name="מלבן 11">
            <a:extLst>
              <a:ext uri="{FF2B5EF4-FFF2-40B4-BE49-F238E27FC236}">
                <a16:creationId xmlns:a16="http://schemas.microsoft.com/office/drawing/2014/main" id="{570C0960-BE37-5CF4-1A3F-84197A2D5B6A}"/>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4">
            <a:extLst>
              <a:ext uri="{FF2B5EF4-FFF2-40B4-BE49-F238E27FC236}">
                <a16:creationId xmlns:a16="http://schemas.microsoft.com/office/drawing/2014/main" id="{145151D2-3E01-87E1-D591-6ECE55AF8E82}"/>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
        <p:nvSpPr>
          <p:cNvPr id="14" name="מלבן 13">
            <a:extLst>
              <a:ext uri="{FF2B5EF4-FFF2-40B4-BE49-F238E27FC236}">
                <a16:creationId xmlns:a16="http://schemas.microsoft.com/office/drawing/2014/main" id="{E5AEA537-42B2-0EA1-CC12-83C2647E8C06}"/>
              </a:ext>
            </a:extLst>
          </p:cNvPr>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0">
            <a:extLst>
              <a:ext uri="{FF2B5EF4-FFF2-40B4-BE49-F238E27FC236}">
                <a16:creationId xmlns:a16="http://schemas.microsoft.com/office/drawing/2014/main" id="{19F513FA-89DC-89EE-3353-DDFC976E47FB}"/>
              </a:ext>
            </a:extLst>
          </p:cNvPr>
          <p:cNvSpPr txBox="1"/>
          <p:nvPr/>
        </p:nvSpPr>
        <p:spPr>
          <a:xfrm rot="16200000">
            <a:off x="-719909" y="462018"/>
            <a:ext cx="1439818" cy="515782"/>
          </a:xfrm>
          <a:prstGeom prst="rect">
            <a:avLst/>
          </a:prstGeom>
          <a:noFill/>
        </p:spPr>
        <p:txBody>
          <a:bodyPr wrap="none" rtlCol="1">
            <a:spAutoFit/>
          </a:bodyPr>
          <a:lstStyle/>
          <a:p>
            <a:pPr marL="0" marR="0" lvl="0" indent="0" algn="r" defTabSz="914400" rtl="1" eaLnBrk="1" fontAlgn="auto" latinLnBrk="0" hangingPunct="1">
              <a:lnSpc>
                <a:spcPct val="2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panose="020F0502020204030204" pitchFamily="34" charset="0"/>
                <a:ea typeface="Open Sans" panose="020B0606030504020204" pitchFamily="34" charset="0"/>
                <a:cs typeface="Calibri" panose="020F0502020204030204" pitchFamily="34" charset="0"/>
              </a:rPr>
              <a:t>מה נעשה עד כה</a:t>
            </a:r>
          </a:p>
        </p:txBody>
      </p:sp>
    </p:spTree>
    <p:extLst>
      <p:ext uri="{BB962C8B-B14F-4D97-AF65-F5344CB8AC3E}">
        <p14:creationId xmlns:p14="http://schemas.microsoft.com/office/powerpoint/2010/main" val="3109938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3720773" y="167223"/>
            <a:ext cx="4459875"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4400" b="1" dirty="0">
                <a:solidFill>
                  <a:prstClr val="white"/>
                </a:solidFill>
                <a:latin typeface="Calibri" panose="020F0502020204030204" pitchFamily="34" charset="0"/>
                <a:cs typeface="Calibri" panose="020F0502020204030204" pitchFamily="34" charset="0"/>
              </a:rPr>
              <a:t>רפורמת סל אישי</a:t>
            </a:r>
            <a:endParaRPr kumimoji="0" lang="he-IL" sz="4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Calibri"/>
                <a:ea typeface="+mn-ea"/>
                <a:cs typeface="Calibri"/>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1045173"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 למסע!</a:t>
            </a:r>
          </a:p>
        </p:txBody>
      </p:sp>
    </p:spTree>
    <p:extLst>
      <p:ext uri="{BB962C8B-B14F-4D97-AF65-F5344CB8AC3E}">
        <p14:creationId xmlns:p14="http://schemas.microsoft.com/office/powerpoint/2010/main" val="1536541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מנהל</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אזרחים</a:t>
                </a:r>
              </a:p>
              <a:p>
                <a:pPr marL="0" marR="0" lvl="0" indent="0" algn="l" defTabSz="914400" rtl="1" eaLnBrk="1" fontAlgn="auto" latinLnBrk="0" hangingPunct="1">
                  <a:lnSpc>
                    <a:spcPts val="844"/>
                  </a:lnSpc>
                  <a:spcBef>
                    <a:spcPts val="0"/>
                  </a:spcBef>
                  <a:spcAft>
                    <a:spcPts val="0"/>
                  </a:spcAft>
                  <a:buClrTx/>
                  <a:buSzTx/>
                  <a:buFontTx/>
                  <a:buNone/>
                  <a:tabLst/>
                  <a:defRPr/>
                </a:pPr>
                <a:r>
                  <a:rPr kumimoji="0" lang="he-IL" sz="984" b="0" i="0" u="none" strike="noStrike" kern="1200" cap="none" spc="0" normalizeH="0" baseline="0" noProof="0" dirty="0">
                    <a:ln>
                      <a:noFill/>
                    </a:ln>
                    <a:solidFill>
                      <a:prstClr val="black"/>
                    </a:solidFill>
                    <a:effectLst/>
                    <a:uLnTx/>
                    <a:uFillTx/>
                    <a:latin typeface="Guttman Kav" panose="02010401010101010101" pitchFamily="2" charset="-79"/>
                    <a:ea typeface="+mn-ea"/>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marL="0" marR="0" lvl="0" indent="0" algn="r" defTabSz="410751" rtl="0" eaLnBrk="1" fontAlgn="auto" latinLnBrk="0" hangingPunct="0">
              <a:lnSpc>
                <a:spcPct val="100000"/>
              </a:lnSpc>
              <a:spcBef>
                <a:spcPts val="0"/>
              </a:spcBef>
              <a:spcAft>
                <a:spcPts val="0"/>
              </a:spcAft>
              <a:buClrTx/>
              <a:buSzTx/>
              <a:buFontTx/>
              <a:buNone/>
              <a:tabLst/>
              <a:defRPr/>
            </a:pPr>
            <a:r>
              <a:rPr kumimoji="0" lang="he-IL" sz="2601" b="0" i="0" u="none" strike="noStrike" kern="1200" cap="none" spc="0" normalizeH="0" baseline="0" noProof="0" dirty="0">
                <a:ln>
                  <a:noFill/>
                </a:ln>
                <a:solidFill>
                  <a:prstClr val="black"/>
                </a:solidFill>
                <a:effectLst/>
                <a:uLnTx/>
                <a:uFillTx/>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marL="0" marR="0" lvl="0" indent="0" algn="r" defTabSz="914400" rtl="1" eaLnBrk="1" fontAlgn="auto" latinLnBrk="0" hangingPunct="1">
              <a:lnSpc>
                <a:spcPct val="100000"/>
              </a:lnSpc>
              <a:spcBef>
                <a:spcPts val="0"/>
              </a:spcBef>
              <a:spcAft>
                <a:spcPts val="0"/>
              </a:spcAft>
              <a:buClrTx/>
              <a:buSzTx/>
              <a:buFontTx/>
              <a:buNone/>
              <a:tabLst/>
              <a:defRPr sz="2200" b="0">
                <a:solidFill>
                  <a:srgbClr val="FFFFFF"/>
                </a:solidFill>
                <a:latin typeface="+mn-lt"/>
                <a:ea typeface="+mn-ea"/>
                <a:cs typeface="+mn-cs"/>
                <a:sym typeface="Helvetica Neue Medium"/>
              </a:defRPr>
            </a:pPr>
            <a:endParaRPr kumimoji="0" sz="1547" b="0" i="0" u="none" strike="noStrike" kern="1200" cap="none" spc="0" normalizeH="0" baseline="0" noProof="0">
              <a:ln>
                <a:noFill/>
              </a:ln>
              <a:solidFill>
                <a:srgbClr val="FFFFFF"/>
              </a:solidFill>
              <a:effectLst/>
              <a:uLnTx/>
              <a:uFillTx/>
              <a:latin typeface="Calibri" panose="020F0502020204030204"/>
              <a:ea typeface="+mn-ea"/>
              <a:cs typeface="+mn-cs"/>
              <a:sym typeface="Helvetica Neue Medium"/>
            </a:endParaRPr>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5" name="TextBox 14"/>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8334667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ea typeface="+mn-ea"/>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1" name="TextBox 30"/>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9" name="TextBox 8"/>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TextBox 11"/>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3093929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החסרונות:</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מאבדים שליטה על השירות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מסכים)</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הצפה של זכאים, האם הם קהל היעד, מי כן? </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תפקיד המחלקה ואיפה האחריות והחיבור של </a:t>
            </a:r>
            <a:r>
              <a:rPr kumimoji="0" lang="he-IL" sz="2400" b="1"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בטל"א</a:t>
            </a: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וקופ"ח</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נדרש תשלום על המעטפת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(נדרוש)</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מה עם פריפריה?</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יפסיקו להגיע רווחה </a:t>
            </a: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נכון)</a:t>
            </a:r>
          </a:p>
          <a:p>
            <a:pPr marL="228600" marR="0" lvl="0" indent="-228600" algn="r" defTabSz="914400" rtl="1"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6" name="TextBox 5"/>
          <p:cNvSpPr txBox="1"/>
          <p:nvPr/>
        </p:nvSpPr>
        <p:spPr>
          <a:xfrm rot="16200000">
            <a:off x="-503973"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8" name="TextBox 7"/>
          <p:cNvSpPr txBox="1"/>
          <p:nvPr/>
        </p:nvSpPr>
        <p:spPr>
          <a:xfrm rot="16200000">
            <a:off x="-498612" y="563419"/>
            <a:ext cx="1258678"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קהילה לכולם</a:t>
            </a:r>
          </a:p>
        </p:txBody>
      </p:sp>
    </p:spTree>
    <p:extLst>
      <p:ext uri="{BB962C8B-B14F-4D97-AF65-F5344CB8AC3E}">
        <p14:creationId xmlns:p14="http://schemas.microsoft.com/office/powerpoint/2010/main" val="2976506942"/>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1748</TotalTime>
  <Words>3000</Words>
  <Application>Microsoft Office PowerPoint</Application>
  <PresentationFormat>מסך רחב</PresentationFormat>
  <Paragraphs>468</Paragraphs>
  <Slides>35</Slides>
  <Notes>21</Notes>
  <HiddenSlides>9</HiddenSlides>
  <MMClips>0</MMClips>
  <ScaleCrop>false</ScaleCrop>
  <HeadingPairs>
    <vt:vector size="6" baseType="variant">
      <vt:variant>
        <vt:lpstr>גופנים בשימוש</vt:lpstr>
      </vt:variant>
      <vt:variant>
        <vt:i4>19</vt:i4>
      </vt:variant>
      <vt:variant>
        <vt:lpstr>ערכת נושא</vt:lpstr>
      </vt:variant>
      <vt:variant>
        <vt:i4>6</vt:i4>
      </vt:variant>
      <vt:variant>
        <vt:lpstr>כותרות שקופיות</vt:lpstr>
      </vt:variant>
      <vt:variant>
        <vt:i4>35</vt:i4>
      </vt:variant>
    </vt:vector>
  </HeadingPairs>
  <TitlesOfParts>
    <vt:vector size="60" baseType="lpstr">
      <vt:lpstr>Aptos</vt:lpstr>
      <vt:lpstr>Arial</vt:lpstr>
      <vt:lpstr>ArialMT</vt:lpstr>
      <vt:lpstr>Assistant</vt:lpstr>
      <vt:lpstr>Assistant Light</vt:lpstr>
      <vt:lpstr>Assistant SemiBold</vt:lpstr>
      <vt:lpstr>Calibri</vt:lpstr>
      <vt:lpstr>Calibri Light</vt:lpstr>
      <vt:lpstr>Calibri-Bold</vt:lpstr>
      <vt:lpstr>Courier New</vt:lpstr>
      <vt:lpstr>EYInterstate Light</vt:lpstr>
      <vt:lpstr>Guttman Kav</vt:lpstr>
      <vt:lpstr>Heebo Black</vt:lpstr>
      <vt:lpstr>Rubik</vt:lpstr>
      <vt:lpstr>Segoe UI Semilight</vt:lpstr>
      <vt:lpstr>Symbol</vt:lpstr>
      <vt:lpstr>Tahoma</vt:lpstr>
      <vt:lpstr>Times New Roman</vt:lpstr>
      <vt:lpstr>Wingdings</vt:lpstr>
      <vt:lpstr>Office Theme</vt:lpstr>
      <vt:lpstr>2_ערכת נושא Office</vt:lpstr>
      <vt:lpstr>1_ערכת נושא Office</vt:lpstr>
      <vt:lpstr>קו בצד עם שם המצגת</vt:lpstr>
      <vt:lpstr>1_Office Theme</vt:lpstr>
      <vt:lpstr>3_ערכת נושא Office</vt:lpstr>
      <vt:lpstr>מצגת של PowerPoint‏</vt:lpstr>
      <vt:lpstr>מספר ושיעור זכאי גמלת סיעוד לפי שנים </vt:lpstr>
      <vt:lpstr>מצגת של PowerPoint‏</vt:lpstr>
      <vt:lpstr>מצגת של PowerPoint‏</vt:lpstr>
      <vt:lpstr>הפיצול בסיעוד</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רפורמה עם חסכון תקציבי?!</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lpstr>מצגת של PowerPoint‏</vt:lpstr>
      <vt:lpstr>נתונים- קהילה תומכת היום:</vt:lpstr>
      <vt:lpstr>מצגת של PowerPoint‏</vt:lpstr>
      <vt:lpstr>קהילה תומכת כשירות בסיס לכולם (MVP ברמה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אביעד יצחק</dc:creator>
  <cp:lastModifiedBy>אביעד יצחק</cp:lastModifiedBy>
  <cp:revision>5</cp:revision>
  <dcterms:created xsi:type="dcterms:W3CDTF">2024-09-29T19:32:29Z</dcterms:created>
  <dcterms:modified xsi:type="dcterms:W3CDTF">2024-11-19T21:24:06Z</dcterms:modified>
</cp:coreProperties>
</file>