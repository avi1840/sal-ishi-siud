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6.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692" r:id="rId3"/>
    <p:sldMasterId id="2147483708" r:id="rId4"/>
    <p:sldMasterId id="2147483719" r:id="rId5"/>
    <p:sldMasterId id="2147483744" r:id="rId6"/>
    <p:sldMasterId id="2147483764" r:id="rId7"/>
  </p:sldMasterIdLst>
  <p:notesMasterIdLst>
    <p:notesMasterId r:id="rId27"/>
  </p:notesMasterIdLst>
  <p:sldIdLst>
    <p:sldId id="2145706334" r:id="rId8"/>
    <p:sldId id="2145707318" r:id="rId9"/>
    <p:sldId id="1927" r:id="rId10"/>
    <p:sldId id="2145707258" r:id="rId11"/>
    <p:sldId id="2145707317" r:id="rId12"/>
    <p:sldId id="2145707221" r:id="rId13"/>
    <p:sldId id="2145707302" r:id="rId14"/>
    <p:sldId id="2145707189" r:id="rId15"/>
    <p:sldId id="2145707298" r:id="rId16"/>
    <p:sldId id="2145707238" r:id="rId17"/>
    <p:sldId id="2145706441" r:id="rId18"/>
    <p:sldId id="2145707324" r:id="rId19"/>
    <p:sldId id="257" r:id="rId20"/>
    <p:sldId id="256" r:id="rId21"/>
    <p:sldId id="2145706440" r:id="rId22"/>
    <p:sldId id="2145707140" r:id="rId23"/>
    <p:sldId id="2145707242" r:id="rId24"/>
    <p:sldId id="2145707320" r:id="rId25"/>
    <p:sldId id="2145706336" r:id="rId2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13" autoAdjust="0"/>
    <p:restoredTop sz="94660"/>
  </p:normalViewPr>
  <p:slideViewPr>
    <p:cSldViewPr snapToGrid="0">
      <p:cViewPr varScale="1">
        <p:scale>
          <a:sx n="98" d="100"/>
          <a:sy n="98"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38000"/>
                </a:schemeClr>
              </a:solidFill>
              <a:ln w="19050">
                <a:solidFill>
                  <a:schemeClr val="lt1"/>
                </a:solidFill>
              </a:ln>
              <a:effectLst/>
            </c:spPr>
            <c:extLst>
              <c:ext xmlns:c16="http://schemas.microsoft.com/office/drawing/2014/chart" uri="{C3380CC4-5D6E-409C-BE32-E72D297353CC}">
                <c16:uniqueId val="{00000001-804D-4F03-A1DE-3865F7456A06}"/>
              </c:ext>
            </c:extLst>
          </c:dPt>
          <c:dPt>
            <c:idx val="1"/>
            <c:bubble3D val="0"/>
            <c:spPr>
              <a:solidFill>
                <a:schemeClr val="accent1">
                  <a:shade val="47000"/>
                </a:schemeClr>
              </a:solidFill>
              <a:ln w="19050">
                <a:solidFill>
                  <a:schemeClr val="lt1"/>
                </a:solidFill>
              </a:ln>
              <a:effectLst/>
            </c:spPr>
            <c:extLst>
              <c:ext xmlns:c16="http://schemas.microsoft.com/office/drawing/2014/chart" uri="{C3380CC4-5D6E-409C-BE32-E72D297353CC}">
                <c16:uniqueId val="{00000003-804D-4F03-A1DE-3865F7456A06}"/>
              </c:ext>
            </c:extLst>
          </c:dPt>
          <c:dPt>
            <c:idx val="2"/>
            <c:bubble3D val="0"/>
            <c:spPr>
              <a:solidFill>
                <a:schemeClr val="accent1">
                  <a:shade val="56000"/>
                </a:schemeClr>
              </a:solidFill>
              <a:ln w="19050">
                <a:solidFill>
                  <a:schemeClr val="lt1"/>
                </a:solidFill>
              </a:ln>
              <a:effectLst/>
            </c:spPr>
            <c:extLst>
              <c:ext xmlns:c16="http://schemas.microsoft.com/office/drawing/2014/chart" uri="{C3380CC4-5D6E-409C-BE32-E72D297353CC}">
                <c16:uniqueId val="{00000005-804D-4F03-A1DE-3865F7456A06}"/>
              </c:ext>
            </c:extLst>
          </c:dPt>
          <c:dPt>
            <c:idx val="3"/>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7-804D-4F03-A1DE-3865F7456A06}"/>
              </c:ext>
            </c:extLst>
          </c:dPt>
          <c:dPt>
            <c:idx val="4"/>
            <c:bubble3D val="0"/>
            <c:spPr>
              <a:solidFill>
                <a:schemeClr val="accent1">
                  <a:shade val="73000"/>
                </a:schemeClr>
              </a:solidFill>
              <a:ln w="19050">
                <a:solidFill>
                  <a:schemeClr val="lt1"/>
                </a:solidFill>
              </a:ln>
              <a:effectLst/>
            </c:spPr>
            <c:extLst>
              <c:ext xmlns:c16="http://schemas.microsoft.com/office/drawing/2014/chart" uri="{C3380CC4-5D6E-409C-BE32-E72D297353CC}">
                <c16:uniqueId val="{00000009-804D-4F03-A1DE-3865F7456A06}"/>
              </c:ext>
            </c:extLst>
          </c:dPt>
          <c:dPt>
            <c:idx val="5"/>
            <c:bubble3D val="0"/>
            <c:spPr>
              <a:solidFill>
                <a:schemeClr val="accent1">
                  <a:shade val="82000"/>
                </a:schemeClr>
              </a:solidFill>
              <a:ln w="19050">
                <a:solidFill>
                  <a:schemeClr val="lt1"/>
                </a:solidFill>
              </a:ln>
              <a:effectLst/>
            </c:spPr>
            <c:extLst>
              <c:ext xmlns:c16="http://schemas.microsoft.com/office/drawing/2014/chart" uri="{C3380CC4-5D6E-409C-BE32-E72D297353CC}">
                <c16:uniqueId val="{0000000B-804D-4F03-A1DE-3865F7456A06}"/>
              </c:ext>
            </c:extLst>
          </c:dPt>
          <c:dPt>
            <c:idx val="6"/>
            <c:bubble3D val="0"/>
            <c:spPr>
              <a:solidFill>
                <a:schemeClr val="accent1">
                  <a:shade val="91000"/>
                </a:schemeClr>
              </a:solidFill>
              <a:ln w="19050">
                <a:solidFill>
                  <a:schemeClr val="lt1"/>
                </a:solidFill>
              </a:ln>
              <a:effectLst/>
            </c:spPr>
            <c:extLst>
              <c:ext xmlns:c16="http://schemas.microsoft.com/office/drawing/2014/chart" uri="{C3380CC4-5D6E-409C-BE32-E72D297353CC}">
                <c16:uniqueId val="{0000000D-804D-4F03-A1DE-3865F7456A06}"/>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804D-4F03-A1DE-3865F7456A06}"/>
              </c:ext>
            </c:extLst>
          </c:dPt>
          <c:dPt>
            <c:idx val="8"/>
            <c:bubble3D val="0"/>
            <c:spPr>
              <a:solidFill>
                <a:schemeClr val="accent1">
                  <a:tint val="92000"/>
                </a:schemeClr>
              </a:solidFill>
              <a:ln w="19050">
                <a:solidFill>
                  <a:schemeClr val="lt1"/>
                </a:solidFill>
              </a:ln>
              <a:effectLst/>
            </c:spPr>
            <c:extLst>
              <c:ext xmlns:c16="http://schemas.microsoft.com/office/drawing/2014/chart" uri="{C3380CC4-5D6E-409C-BE32-E72D297353CC}">
                <c16:uniqueId val="{00000011-804D-4F03-A1DE-3865F7456A06}"/>
              </c:ext>
            </c:extLst>
          </c:dPt>
          <c:dPt>
            <c:idx val="9"/>
            <c:bubble3D val="0"/>
            <c:spPr>
              <a:solidFill>
                <a:schemeClr val="accent1">
                  <a:tint val="83000"/>
                </a:schemeClr>
              </a:solidFill>
              <a:ln w="19050">
                <a:solidFill>
                  <a:schemeClr val="lt1"/>
                </a:solidFill>
              </a:ln>
              <a:effectLst/>
            </c:spPr>
            <c:extLst>
              <c:ext xmlns:c16="http://schemas.microsoft.com/office/drawing/2014/chart" uri="{C3380CC4-5D6E-409C-BE32-E72D297353CC}">
                <c16:uniqueId val="{00000013-804D-4F03-A1DE-3865F7456A06}"/>
              </c:ext>
            </c:extLst>
          </c:dPt>
          <c:dPt>
            <c:idx val="10"/>
            <c:bubble3D val="0"/>
            <c:spPr>
              <a:solidFill>
                <a:schemeClr val="accent1">
                  <a:tint val="74000"/>
                </a:schemeClr>
              </a:solidFill>
              <a:ln w="19050">
                <a:solidFill>
                  <a:schemeClr val="lt1"/>
                </a:solidFill>
              </a:ln>
              <a:effectLst/>
            </c:spPr>
            <c:extLst>
              <c:ext xmlns:c16="http://schemas.microsoft.com/office/drawing/2014/chart" uri="{C3380CC4-5D6E-409C-BE32-E72D297353CC}">
                <c16:uniqueId val="{00000015-804D-4F03-A1DE-3865F7456A06}"/>
              </c:ext>
            </c:extLst>
          </c:dPt>
          <c:dPt>
            <c:idx val="11"/>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17-804D-4F03-A1DE-3865F7456A06}"/>
              </c:ext>
            </c:extLst>
          </c:dPt>
          <c:dPt>
            <c:idx val="12"/>
            <c:bubble3D val="0"/>
            <c:spPr>
              <a:solidFill>
                <a:schemeClr val="accent1">
                  <a:tint val="57000"/>
                </a:schemeClr>
              </a:solidFill>
              <a:ln w="19050">
                <a:solidFill>
                  <a:schemeClr val="lt1"/>
                </a:solidFill>
              </a:ln>
              <a:effectLst/>
            </c:spPr>
            <c:extLst>
              <c:ext xmlns:c16="http://schemas.microsoft.com/office/drawing/2014/chart" uri="{C3380CC4-5D6E-409C-BE32-E72D297353CC}">
                <c16:uniqueId val="{00000019-804D-4F03-A1DE-3865F7456A06}"/>
              </c:ext>
            </c:extLst>
          </c:dPt>
          <c:dPt>
            <c:idx val="13"/>
            <c:bubble3D val="0"/>
            <c:spPr>
              <a:solidFill>
                <a:schemeClr val="accent1">
                  <a:tint val="48000"/>
                </a:schemeClr>
              </a:solidFill>
              <a:ln w="19050">
                <a:solidFill>
                  <a:schemeClr val="lt1"/>
                </a:solidFill>
              </a:ln>
              <a:effectLst/>
            </c:spPr>
            <c:extLst>
              <c:ext xmlns:c16="http://schemas.microsoft.com/office/drawing/2014/chart" uri="{C3380CC4-5D6E-409C-BE32-E72D297353CC}">
                <c16:uniqueId val="{0000001B-804D-4F03-A1DE-3865F7456A06}"/>
              </c:ext>
            </c:extLst>
          </c:dPt>
          <c:dPt>
            <c:idx val="14"/>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D-804D-4F03-A1DE-3865F7456A06}"/>
              </c:ext>
            </c:extLst>
          </c:dPt>
          <c:dPt>
            <c:idx val="15"/>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F-804D-4F03-A1DE-3865F7456A06}"/>
              </c:ext>
            </c:extLst>
          </c:dPt>
          <c:dLbls>
            <c:dLbl>
              <c:idx val="0"/>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01-804D-4F03-A1DE-3865F7456A06}"/>
                </c:ext>
              </c:extLst>
            </c:dLbl>
            <c:dLbl>
              <c:idx val="1"/>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32E26173-42DE-4F16-BC6F-D1EA84ED6762}" type="CATEGORYNAME">
                      <a:rPr lang="he-IL" sz="1100"/>
                      <a:pPr>
                        <a:defRPr sz="1100">
                          <a:solidFill>
                            <a:schemeClr val="bg1">
                              <a:lumMod val="75000"/>
                            </a:schemeClr>
                          </a:solidFill>
                        </a:defRPr>
                      </a:pPr>
                      <a:t>[שם קטגוריה]</a:t>
                    </a:fld>
                    <a:r>
                      <a:rPr lang="he-IL" sz="1100" baseline="0"/>
                      <a:t>, </a:t>
                    </a:r>
                    <a:fld id="{5323395A-D5B4-471D-B3DD-E8DD1A3506ED}" type="VALUE">
                      <a:rPr lang="he-IL" sz="1100" baseline="0" smtClean="0"/>
                      <a:pPr>
                        <a:defRPr sz="1100">
                          <a:solidFill>
                            <a:schemeClr val="bg1">
                              <a:lumMod val="75000"/>
                            </a:schemeClr>
                          </a:solidFill>
                        </a:defRPr>
                      </a:pPr>
                      <a:t>[ערך]</a:t>
                    </a:fld>
                    <a:r>
                      <a:rPr lang="he-IL" sz="1100" baseline="0"/>
                      <a:t>/9.5</a:t>
                    </a:r>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04D-4F03-A1DE-3865F7456A06}"/>
                </c:ext>
              </c:extLst>
            </c:dLbl>
            <c:dLbl>
              <c:idx val="3"/>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185CD460-8D22-4B38-83E1-CCA1803CBE79}" type="CATEGORYNAME">
                      <a:rPr lang="he-IL" sz="1100" smtClean="0"/>
                      <a:pPr>
                        <a:defRPr sz="1100">
                          <a:solidFill>
                            <a:schemeClr val="bg1">
                              <a:lumMod val="75000"/>
                            </a:schemeClr>
                          </a:solidFill>
                        </a:defRPr>
                      </a:pPr>
                      <a:t>[שם קטגוריה]</a:t>
                    </a:fld>
                    <a:r>
                      <a:rPr lang="he-IL" sz="1100" baseline="0" dirty="0"/>
                      <a:t> </a:t>
                    </a:r>
                    <a:fld id="{095DCECD-DB69-4EB5-9444-F1F6AD412F4D}" type="VALUE">
                      <a:rPr lang="he-IL" sz="1100" baseline="0" dirty="0"/>
                      <a:pPr>
                        <a:defRPr sz="1100">
                          <a:solidFill>
                            <a:schemeClr val="bg1">
                              <a:lumMod val="75000"/>
                            </a:schemeClr>
                          </a:solidFill>
                        </a:defRPr>
                      </a:pPr>
                      <a:t>[ערך]</a:t>
                    </a:fld>
                    <a:endParaRPr lang="he-IL" sz="1100" baseline="0" dirty="0"/>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04D-4F03-A1DE-3865F7456A06}"/>
                </c:ext>
              </c:extLst>
            </c:dLbl>
            <c:dLbl>
              <c:idx val="7"/>
              <c:layout>
                <c:manualLayout>
                  <c:x val="-6.2571259838280269E-2"/>
                  <c:y val="-9.6888657643725163E-4"/>
                </c:manualLayout>
              </c:layout>
              <c:tx>
                <c:rich>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r>
                      <a:rPr lang="he-IL" sz="1100" b="1" dirty="0" err="1"/>
                      <a:t>מינהל</a:t>
                    </a:r>
                    <a:r>
                      <a:rPr lang="he-IL" sz="1100" b="1" dirty="0"/>
                      <a:t> אזרחים ותיקים ברווחה</a:t>
                    </a:r>
                    <a:r>
                      <a:rPr lang="he-IL" sz="1100" baseline="0" dirty="0"/>
                      <a:t> </a:t>
                    </a:r>
                    <a:fld id="{70634F7F-49C0-43A3-B9DD-21273F20D5E0}" type="VALUE">
                      <a:rPr lang="he-IL" sz="1100" b="1" baseline="0"/>
                      <a:pPr>
                        <a:defRPr sz="1100"/>
                      </a:pPr>
                      <a:t>[ערך]</a:t>
                    </a:fld>
                    <a:endParaRPr lang="he-IL" sz="1100" baseline="0" dirty="0"/>
                  </a:p>
                </c:rich>
              </c:tx>
              <c:spPr>
                <a:solidFill>
                  <a:schemeClr val="accent1">
                    <a:lumMod val="40000"/>
                    <a:lumOff val="60000"/>
                  </a:schemeClr>
                </a:solid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layout>
                    <c:manualLayout>
                      <c:w val="0.17474391208663351"/>
                      <c:h val="8.6268898708049047E-2"/>
                    </c:manualLayout>
                  </c15:layout>
                  <c15:dlblFieldTable/>
                  <c15:showDataLabelsRange val="0"/>
                </c:ext>
                <c:ext xmlns:c16="http://schemas.microsoft.com/office/drawing/2014/chart" uri="{C3380CC4-5D6E-409C-BE32-E72D297353CC}">
                  <c16:uniqueId val="{0000000F-804D-4F03-A1DE-3865F7456A06}"/>
                </c:ext>
              </c:extLst>
            </c:dLbl>
            <c:dLbl>
              <c:idx val="8"/>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1-804D-4F03-A1DE-3865F7456A06}"/>
                </c:ext>
              </c:extLst>
            </c:dLbl>
            <c:dLbl>
              <c:idx val="12"/>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9-804D-4F03-A1DE-3865F7456A06}"/>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B-804D-4F03-A1DE-3865F7456A06}"/>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D-804D-4F03-A1DE-3865F7456A06}"/>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804D-4F03-A1DE-3865F7456A06}"/>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50">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76-4589-82B0-FA9F3DFA69E9}"/>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76-4589-82B0-FA9F3DFA69E9}"/>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76-4589-82B0-FA9F3DFA69E9}"/>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976-4589-82B0-FA9F3DFA69E9}"/>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76-4589-82B0-FA9F3DFA69E9}"/>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76-4589-82B0-FA9F3DFA69E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11.png"/></Relationships>
</file>

<file path=ppt/drawings/drawing1.xml><?xml version="1.0" encoding="utf-8"?>
<c:userShapes xmlns:c="http://schemas.openxmlformats.org/drawingml/2006/chart">
  <cdr:relSizeAnchor xmlns:cdr="http://schemas.openxmlformats.org/drawingml/2006/chartDrawing">
    <cdr:from>
      <cdr:x>0.31799</cdr:x>
      <cdr:y>0</cdr:y>
    </cdr:from>
    <cdr:to>
      <cdr:x>0.63723</cdr:x>
      <cdr:y>0.12712</cdr:y>
    </cdr:to>
    <cdr:pic>
      <cdr:nvPicPr>
        <cdr:cNvPr id="2" name="chart">
          <a:extLst xmlns:a="http://schemas.openxmlformats.org/drawingml/2006/main">
            <a:ext uri="{FF2B5EF4-FFF2-40B4-BE49-F238E27FC236}">
              <a16:creationId xmlns:a16="http://schemas.microsoft.com/office/drawing/2014/main" id="{A4DBDC49-BA03-79C4-09B7-93FAD678043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507985" y="0"/>
          <a:ext cx="2517870" cy="682772"/>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י'/כסלו/תשפ"ה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759183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29DB-8381-9CF7-90FB-3D989D266C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00A369-9145-8B65-4E35-5D030A6C9F5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D392F7-18A9-CEAD-9AE0-C079F2FB15FC}"/>
              </a:ext>
            </a:extLst>
          </p:cNvPr>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a:extLst>
              <a:ext uri="{FF2B5EF4-FFF2-40B4-BE49-F238E27FC236}">
                <a16:creationId xmlns:a16="http://schemas.microsoft.com/office/drawing/2014/main" id="{D7277E3B-5857-96ED-03A1-E3AC24CFE0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812063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חצי מתקציב יושקע ברשויות שמצליחות למנוע. מה יוצא לאוצר מזה?)</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br>
              <a:rPr lang="en-US" sz="1800" dirty="0">
                <a:effectLst/>
                <a:latin typeface="Calibri" panose="020F0502020204030204" pitchFamily="34" charset="0"/>
                <a:ea typeface="Calibri" panose="020F0502020204030204" pitchFamily="34" charset="0"/>
                <a:cs typeface="Arial" panose="020B0604020202020204" pitchFamily="34" charset="0"/>
              </a:rPr>
            </a:br>
            <a:r>
              <a:rPr lang="he-IL" sz="1800" dirty="0">
                <a:effectLst/>
                <a:latin typeface="Calibri" panose="020F0502020204030204" pitchFamily="34" charset="0"/>
                <a:ea typeface="Calibri" panose="020F0502020204030204" pitchFamily="34" charset="0"/>
                <a:cs typeface="Arial" panose="020B0604020202020204" pitchFamily="34" charset="0"/>
              </a:rPr>
              <a:t>זה ההזדמנויות שאנחנו זיהינו- מה ההזדמנויות שאתם מזהים?</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75C2F-520B-3680-56B8-74DE5A043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AF92B-637F-2BD6-A4B2-2B13D1625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15F8D-7D7B-8ECB-71CD-F5DD826AA62D}"/>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a:extLst>
              <a:ext uri="{FF2B5EF4-FFF2-40B4-BE49-F238E27FC236}">
                <a16:creationId xmlns:a16="http://schemas.microsoft.com/office/drawing/2014/main" id="{E2F68608-9682-906D-C7E4-0AA17E1BCD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909738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0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753227541"/>
      </p:ext>
    </p:extLst>
  </p:cSld>
  <p:clrMapOvr>
    <a:masterClrMapping/>
  </p:clrMapOvr>
  <p:transition spd="slow">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י'/כסלו/תשפ"ה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י'/כסלו/תשפ"ה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י'/כסלו/תשפ"ה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452696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92478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893031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5171991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4580484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27720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5407983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127413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7303478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021769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י'/כסלו/תשפ"ה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733600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841568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529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3297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12/11/2024</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0920810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1443038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4750422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371955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2887192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80008639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6226474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6674706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379914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735743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11/12/2024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2146981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88083957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1185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2933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364457571"/>
      </p:ext>
    </p:extLst>
  </p:cSld>
  <p:clrMapOvr>
    <a:masterClrMapping/>
  </p:clrMapOvr>
  <p:transition spd="slow">
    <p:wipe dir="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7236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96517949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267528575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564607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96315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833176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7995573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605588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0413012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682023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65018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7233825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5337122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8270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3.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slideLayout" Target="../slideLayouts/slideLayout8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10" Type="http://schemas.openxmlformats.org/officeDocument/2006/relationships/slideLayout" Target="../slideLayouts/slideLayout74.xml"/><Relationship Id="rId19" Type="http://schemas.openxmlformats.org/officeDocument/2006/relationships/theme" Target="../theme/theme6.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0.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theme" Target="../theme/theme7.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11/12/2024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 id="2147483763"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י'/כסלו/תשפ"ה</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47025403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5" r:id="rId12"/>
    <p:sldLayoutId id="2147483706" r:id="rId13"/>
    <p:sldLayoutId id="2147483707" r:id="rId14"/>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12/11/2024</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11/12/2024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63127441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12/12/2024</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77220858"/>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7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5.png"/><Relationship Id="rId18" Type="http://schemas.openxmlformats.org/officeDocument/2006/relationships/image" Target="../media/image10.png"/><Relationship Id="rId3" Type="http://schemas.openxmlformats.org/officeDocument/2006/relationships/image" Target="../media/image27.png"/><Relationship Id="rId21" Type="http://schemas.openxmlformats.org/officeDocument/2006/relationships/image" Target="../media/image42.png"/><Relationship Id="rId7" Type="http://schemas.openxmlformats.org/officeDocument/2006/relationships/image" Target="../media/image8.png"/><Relationship Id="rId12" Type="http://schemas.openxmlformats.org/officeDocument/2006/relationships/image" Target="../media/image34.png"/><Relationship Id="rId17" Type="http://schemas.openxmlformats.org/officeDocument/2006/relationships/image" Target="../media/image39.png"/><Relationship Id="rId2" Type="http://schemas.openxmlformats.org/officeDocument/2006/relationships/notesSlide" Target="../notesSlides/notesSlide3.xml"/><Relationship Id="rId16" Type="http://schemas.openxmlformats.org/officeDocument/2006/relationships/image" Target="../media/image38.png"/><Relationship Id="rId20" Type="http://schemas.openxmlformats.org/officeDocument/2006/relationships/image" Target="../media/image41.png"/><Relationship Id="rId1" Type="http://schemas.openxmlformats.org/officeDocument/2006/relationships/slideLayout" Target="../slideLayouts/slideLayout54.xml"/><Relationship Id="rId6" Type="http://schemas.openxmlformats.org/officeDocument/2006/relationships/image" Target="../media/image30.png"/><Relationship Id="rId11" Type="http://schemas.openxmlformats.org/officeDocument/2006/relationships/image" Target="../media/image33.png"/><Relationship Id="rId5" Type="http://schemas.openxmlformats.org/officeDocument/2006/relationships/image" Target="../media/image29.png"/><Relationship Id="rId15" Type="http://schemas.openxmlformats.org/officeDocument/2006/relationships/image" Target="../media/image37.png"/><Relationship Id="rId10" Type="http://schemas.openxmlformats.org/officeDocument/2006/relationships/image" Target="../media/image32.png"/><Relationship Id="rId19" Type="http://schemas.openxmlformats.org/officeDocument/2006/relationships/image" Target="../media/image40.png"/><Relationship Id="rId4" Type="http://schemas.openxmlformats.org/officeDocument/2006/relationships/image" Target="../media/image28.png"/><Relationship Id="rId9" Type="http://schemas.openxmlformats.org/officeDocument/2006/relationships/image" Target="../media/image9.png"/><Relationship Id="rId1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4.xml"/><Relationship Id="rId5" Type="http://schemas.openxmlformats.org/officeDocument/2006/relationships/image" Target="../media/image46.png"/><Relationship Id="rId4" Type="http://schemas.openxmlformats.org/officeDocument/2006/relationships/image" Target="../media/image45.png"/></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22.sv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49.pn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13" Type="http://schemas.openxmlformats.org/officeDocument/2006/relationships/image" Target="../media/image61.svg"/><Relationship Id="rId18" Type="http://schemas.openxmlformats.org/officeDocument/2006/relationships/image" Target="../media/image66.png"/><Relationship Id="rId26" Type="http://schemas.openxmlformats.org/officeDocument/2006/relationships/image" Target="../media/image74.png"/><Relationship Id="rId39" Type="http://schemas.openxmlformats.org/officeDocument/2006/relationships/image" Target="../media/image87.svg"/><Relationship Id="rId21" Type="http://schemas.openxmlformats.org/officeDocument/2006/relationships/image" Target="../media/image69.svg"/><Relationship Id="rId34" Type="http://schemas.openxmlformats.org/officeDocument/2006/relationships/image" Target="../media/image82.png"/><Relationship Id="rId42" Type="http://schemas.openxmlformats.org/officeDocument/2006/relationships/image" Target="../media/image90.svg"/><Relationship Id="rId7" Type="http://schemas.openxmlformats.org/officeDocument/2006/relationships/image" Target="../media/image55.svg"/><Relationship Id="rId2" Type="http://schemas.openxmlformats.org/officeDocument/2006/relationships/image" Target="../media/image50.png"/><Relationship Id="rId16" Type="http://schemas.openxmlformats.org/officeDocument/2006/relationships/image" Target="../media/image64.png"/><Relationship Id="rId20" Type="http://schemas.openxmlformats.org/officeDocument/2006/relationships/image" Target="../media/image68.png"/><Relationship Id="rId29" Type="http://schemas.openxmlformats.org/officeDocument/2006/relationships/image" Target="../media/image77.svg"/><Relationship Id="rId41" Type="http://schemas.openxmlformats.org/officeDocument/2006/relationships/image" Target="../media/image89.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9.svg"/><Relationship Id="rId24" Type="http://schemas.openxmlformats.org/officeDocument/2006/relationships/image" Target="../media/image72.png"/><Relationship Id="rId32" Type="http://schemas.openxmlformats.org/officeDocument/2006/relationships/image" Target="../media/image80.png"/><Relationship Id="rId37" Type="http://schemas.openxmlformats.org/officeDocument/2006/relationships/image" Target="../media/image85.svg"/><Relationship Id="rId40" Type="http://schemas.openxmlformats.org/officeDocument/2006/relationships/image" Target="../media/image88.png"/><Relationship Id="rId5" Type="http://schemas.openxmlformats.org/officeDocument/2006/relationships/image" Target="../media/image53.svg"/><Relationship Id="rId15" Type="http://schemas.openxmlformats.org/officeDocument/2006/relationships/image" Target="../media/image63.svg"/><Relationship Id="rId23" Type="http://schemas.openxmlformats.org/officeDocument/2006/relationships/image" Target="../media/image71.svg"/><Relationship Id="rId28" Type="http://schemas.openxmlformats.org/officeDocument/2006/relationships/image" Target="../media/image76.png"/><Relationship Id="rId36" Type="http://schemas.openxmlformats.org/officeDocument/2006/relationships/image" Target="../media/image84.png"/><Relationship Id="rId10" Type="http://schemas.openxmlformats.org/officeDocument/2006/relationships/image" Target="../media/image58.png"/><Relationship Id="rId19" Type="http://schemas.openxmlformats.org/officeDocument/2006/relationships/image" Target="../media/image67.svg"/><Relationship Id="rId31" Type="http://schemas.openxmlformats.org/officeDocument/2006/relationships/image" Target="../media/image79.svg"/><Relationship Id="rId4" Type="http://schemas.openxmlformats.org/officeDocument/2006/relationships/image" Target="../media/image52.png"/><Relationship Id="rId9" Type="http://schemas.openxmlformats.org/officeDocument/2006/relationships/image" Target="../media/image57.svg"/><Relationship Id="rId14" Type="http://schemas.openxmlformats.org/officeDocument/2006/relationships/image" Target="../media/image62.png"/><Relationship Id="rId22" Type="http://schemas.openxmlformats.org/officeDocument/2006/relationships/image" Target="../media/image70.png"/><Relationship Id="rId27" Type="http://schemas.openxmlformats.org/officeDocument/2006/relationships/image" Target="../media/image75.svg"/><Relationship Id="rId30" Type="http://schemas.openxmlformats.org/officeDocument/2006/relationships/image" Target="../media/image78.png"/><Relationship Id="rId35" Type="http://schemas.openxmlformats.org/officeDocument/2006/relationships/image" Target="../media/image83.svg"/><Relationship Id="rId8" Type="http://schemas.openxmlformats.org/officeDocument/2006/relationships/image" Target="../media/image56.png"/><Relationship Id="rId3" Type="http://schemas.openxmlformats.org/officeDocument/2006/relationships/image" Target="../media/image51.svg"/><Relationship Id="rId12" Type="http://schemas.openxmlformats.org/officeDocument/2006/relationships/image" Target="../media/image60.png"/><Relationship Id="rId17" Type="http://schemas.openxmlformats.org/officeDocument/2006/relationships/image" Target="../media/image65.svg"/><Relationship Id="rId25" Type="http://schemas.openxmlformats.org/officeDocument/2006/relationships/image" Target="../media/image73.svg"/><Relationship Id="rId33" Type="http://schemas.openxmlformats.org/officeDocument/2006/relationships/image" Target="../media/image81.svg"/><Relationship Id="rId38" Type="http://schemas.openxmlformats.org/officeDocument/2006/relationships/image" Target="../media/image86.png"/></Relationships>
</file>

<file path=ppt/slides/_rels/slide13.xml.rels><?xml version="1.0" encoding="UTF-8" standalone="yes"?>
<Relationships xmlns="http://schemas.openxmlformats.org/package/2006/relationships"><Relationship Id="rId13" Type="http://schemas.openxmlformats.org/officeDocument/2006/relationships/image" Target="../media/image61.svg"/><Relationship Id="rId18" Type="http://schemas.openxmlformats.org/officeDocument/2006/relationships/image" Target="../media/image66.png"/><Relationship Id="rId26" Type="http://schemas.openxmlformats.org/officeDocument/2006/relationships/image" Target="../media/image74.png"/><Relationship Id="rId39" Type="http://schemas.openxmlformats.org/officeDocument/2006/relationships/image" Target="../media/image87.svg"/><Relationship Id="rId21" Type="http://schemas.openxmlformats.org/officeDocument/2006/relationships/image" Target="../media/image69.svg"/><Relationship Id="rId34" Type="http://schemas.openxmlformats.org/officeDocument/2006/relationships/image" Target="../media/image82.png"/><Relationship Id="rId42" Type="http://schemas.openxmlformats.org/officeDocument/2006/relationships/image" Target="../media/image90.svg"/><Relationship Id="rId47" Type="http://schemas.openxmlformats.org/officeDocument/2006/relationships/hyperlink" Target="../Desktop/&#1505;&#1500;%20&#1488;&#1497;&#1513;&#1497;%201.10/&#1504;&#1497;&#1497;&#1512;%20&#1502;&#1491;&#1497;&#1504;&#1497;&#1493;&#1514;%20&#1505;&#1500;%20&#1514;&#1508;&#1511;&#1493;&#1491;%20&#1488;&#1497;&#1513;&#1497;%20&#1493;&#1492;&#1488;&#1494;&#1512;&#1495;%20&#1492;&#1493;&#1493;&#1514;&#1497;&#1511;%20&#1489;&#1502;&#1512;&#1499;&#1494;%20100.2024.pdf" TargetMode="External"/><Relationship Id="rId7" Type="http://schemas.openxmlformats.org/officeDocument/2006/relationships/image" Target="../media/image55.svg"/><Relationship Id="rId2" Type="http://schemas.openxmlformats.org/officeDocument/2006/relationships/image" Target="../media/image50.png"/><Relationship Id="rId16" Type="http://schemas.openxmlformats.org/officeDocument/2006/relationships/image" Target="../media/image64.png"/><Relationship Id="rId29" Type="http://schemas.openxmlformats.org/officeDocument/2006/relationships/image" Target="../media/image77.svg"/><Relationship Id="rId1" Type="http://schemas.openxmlformats.org/officeDocument/2006/relationships/slideLayout" Target="../slideLayouts/slideLayout36.xml"/><Relationship Id="rId6" Type="http://schemas.openxmlformats.org/officeDocument/2006/relationships/image" Target="../media/image54.png"/><Relationship Id="rId11" Type="http://schemas.openxmlformats.org/officeDocument/2006/relationships/image" Target="../media/image59.svg"/><Relationship Id="rId24" Type="http://schemas.openxmlformats.org/officeDocument/2006/relationships/image" Target="../media/image72.png"/><Relationship Id="rId32" Type="http://schemas.openxmlformats.org/officeDocument/2006/relationships/image" Target="../media/image80.png"/><Relationship Id="rId37" Type="http://schemas.openxmlformats.org/officeDocument/2006/relationships/image" Target="../media/image85.svg"/><Relationship Id="rId40" Type="http://schemas.openxmlformats.org/officeDocument/2006/relationships/image" Target="../media/image88.png"/><Relationship Id="rId45" Type="http://schemas.openxmlformats.org/officeDocument/2006/relationships/hyperlink" Target="../Desktop/&#1505;&#1500;%20&#1488;&#1497;&#1513;&#1497;%201.10/&#1505;&#1491;&#1504;&#1488;%20&#1505;&#1500;%20&#1488;&#1497;&#1513;&#1497;/&#1502;&#1510;&#1490;&#1514;%20&#1505;&#1497;&#1499;&#1493;&#1501;%20&#1505;&#1491;&#1504;&#1514;%20&#1506;&#1497;&#1510;&#1493;&#1489;%20&#1513;&#1497;&#1512;&#1493;&#1514;%20&#1489;&#1505;&#1497;&#1506;&#1493;&#1491;%20&#1505;&#1500;%20&#1488;&#1497;&#1513;&#1497;.pdf" TargetMode="External"/><Relationship Id="rId5" Type="http://schemas.openxmlformats.org/officeDocument/2006/relationships/image" Target="../media/image53.svg"/><Relationship Id="rId15" Type="http://schemas.openxmlformats.org/officeDocument/2006/relationships/image" Target="../media/image63.svg"/><Relationship Id="rId23" Type="http://schemas.openxmlformats.org/officeDocument/2006/relationships/image" Target="../media/image71.svg"/><Relationship Id="rId28" Type="http://schemas.openxmlformats.org/officeDocument/2006/relationships/image" Target="../media/image76.png"/><Relationship Id="rId36" Type="http://schemas.openxmlformats.org/officeDocument/2006/relationships/image" Target="../media/image84.png"/><Relationship Id="rId10" Type="http://schemas.openxmlformats.org/officeDocument/2006/relationships/image" Target="../media/image58.png"/><Relationship Id="rId19" Type="http://schemas.openxmlformats.org/officeDocument/2006/relationships/image" Target="../media/image67.svg"/><Relationship Id="rId31" Type="http://schemas.openxmlformats.org/officeDocument/2006/relationships/image" Target="../media/image79.svg"/><Relationship Id="rId44" Type="http://schemas.openxmlformats.org/officeDocument/2006/relationships/hyperlink" Target="&#1493;&#1506;&#1491;&#1492;%20&#1489;&#1497;&#1503;%20&#1502;&#1513;&#1512;&#1491;&#1497;&#1514;%20&#1493;&#1495;&#1493;&#1511;%20&#1492;&#1492;&#1505;&#1491;&#1512;&#1497;&#1501;.pdf" TargetMode="External"/><Relationship Id="rId4" Type="http://schemas.openxmlformats.org/officeDocument/2006/relationships/image" Target="../media/image52.png"/><Relationship Id="rId9" Type="http://schemas.openxmlformats.org/officeDocument/2006/relationships/image" Target="../media/image57.svg"/><Relationship Id="rId14" Type="http://schemas.openxmlformats.org/officeDocument/2006/relationships/image" Target="../media/image62.png"/><Relationship Id="rId22" Type="http://schemas.openxmlformats.org/officeDocument/2006/relationships/image" Target="../media/image70.png"/><Relationship Id="rId27" Type="http://schemas.openxmlformats.org/officeDocument/2006/relationships/image" Target="../media/image75.svg"/><Relationship Id="rId30" Type="http://schemas.openxmlformats.org/officeDocument/2006/relationships/image" Target="../media/image78.png"/><Relationship Id="rId35" Type="http://schemas.openxmlformats.org/officeDocument/2006/relationships/image" Target="../media/image83.svg"/><Relationship Id="rId43" Type="http://schemas.openxmlformats.org/officeDocument/2006/relationships/hyperlink" Target="../Desktop/&#1505;&#1500;%20&#1488;&#1497;&#1513;&#1497;%201.10/&#1492;&#1488;&#1514;&#1490;&#1512;&#1497;&#1501;%20&#1489;&#1505;&#1497;&#1506;&#1493;&#1491;%20&#1493;&#1492;&#1494;&#1491;&#1502;&#1504;&#1493;&#1514;%20&#1500;&#1513;&#1497;&#1504;&#1493;&#1497;%20&#1508;&#1493;&#1512;&#1493;&#1501;%20&#1489;&#1512;&#1511;%2011.2024.pdf" TargetMode="External"/><Relationship Id="rId48" Type="http://schemas.openxmlformats.org/officeDocument/2006/relationships/hyperlink" Target="../Desktop/&#1505;&#1500;%20&#1488;&#1497;&#1513;&#1497;%201.10/&#1496;&#1497;&#1493;&#1496;&#1514;%20&#1502;&#1497;&#1508;&#1493;&#1497;%20&#1502;&#1493;&#1491;&#1500;&#1497;&#1501;%20&#1511;&#1497;&#1497;&#1502;&#1497;&#1501;-%20&#1505;&#1511;&#1497;&#1512;&#1514;%20&#1513;&#1493;&#1511;%20&#1490;&#1512;&#1505;&#1488;%203.pdf" TargetMode="External"/><Relationship Id="rId8" Type="http://schemas.openxmlformats.org/officeDocument/2006/relationships/image" Target="../media/image56.png"/><Relationship Id="rId3" Type="http://schemas.openxmlformats.org/officeDocument/2006/relationships/image" Target="../media/image51.svg"/><Relationship Id="rId12" Type="http://schemas.openxmlformats.org/officeDocument/2006/relationships/image" Target="../media/image60.png"/><Relationship Id="rId17" Type="http://schemas.openxmlformats.org/officeDocument/2006/relationships/image" Target="../media/image65.svg"/><Relationship Id="rId25" Type="http://schemas.openxmlformats.org/officeDocument/2006/relationships/image" Target="../media/image73.svg"/><Relationship Id="rId33" Type="http://schemas.openxmlformats.org/officeDocument/2006/relationships/image" Target="../media/image81.svg"/><Relationship Id="rId38" Type="http://schemas.openxmlformats.org/officeDocument/2006/relationships/image" Target="../media/image86.png"/><Relationship Id="rId46" Type="http://schemas.openxmlformats.org/officeDocument/2006/relationships/hyperlink" Target="../Desktop/&#1505;&#1500;%20&#1488;&#1497;&#1513;&#1497;%201.10/&#1502;&#1495;&#1511;&#1512;,%20&#1502;&#1504;&#1490;&#1504;&#1493;&#1503;%20&#1493;&#1514;&#1502;&#1512;&#1493;&#1510;&#1497;&#1501;%20&#1505;&#1500;%20&#1488;&#1497;&#1513;&#1497;%20&#1506;&#1489;&#1493;&#1491;&#1492;%20&#1506;&#1501;%20EY.pdf" TargetMode="External"/><Relationship Id="rId20" Type="http://schemas.openxmlformats.org/officeDocument/2006/relationships/image" Target="../media/image68.png"/><Relationship Id="rId41" Type="http://schemas.openxmlformats.org/officeDocument/2006/relationships/image" Target="../media/image89.png"/></Relationships>
</file>

<file path=ppt/slides/_rels/slide14.xml.rels><?xml version="1.0" encoding="UTF-8" standalone="yes"?>
<Relationships xmlns="http://schemas.openxmlformats.org/package/2006/relationships"><Relationship Id="rId13" Type="http://schemas.openxmlformats.org/officeDocument/2006/relationships/image" Target="../media/image61.svg"/><Relationship Id="rId18" Type="http://schemas.openxmlformats.org/officeDocument/2006/relationships/image" Target="../media/image66.png"/><Relationship Id="rId26" Type="http://schemas.openxmlformats.org/officeDocument/2006/relationships/image" Target="../media/image74.png"/><Relationship Id="rId39" Type="http://schemas.openxmlformats.org/officeDocument/2006/relationships/image" Target="../media/image87.svg"/><Relationship Id="rId21" Type="http://schemas.openxmlformats.org/officeDocument/2006/relationships/image" Target="../media/image69.svg"/><Relationship Id="rId34" Type="http://schemas.openxmlformats.org/officeDocument/2006/relationships/image" Target="../media/image82.png"/><Relationship Id="rId42" Type="http://schemas.openxmlformats.org/officeDocument/2006/relationships/image" Target="../media/image90.svg"/><Relationship Id="rId7" Type="http://schemas.openxmlformats.org/officeDocument/2006/relationships/image" Target="../media/image55.svg"/><Relationship Id="rId2" Type="http://schemas.openxmlformats.org/officeDocument/2006/relationships/image" Target="../media/image50.png"/><Relationship Id="rId16" Type="http://schemas.openxmlformats.org/officeDocument/2006/relationships/image" Target="../media/image64.png"/><Relationship Id="rId20" Type="http://schemas.openxmlformats.org/officeDocument/2006/relationships/image" Target="../media/image68.png"/><Relationship Id="rId29" Type="http://schemas.openxmlformats.org/officeDocument/2006/relationships/image" Target="../media/image77.svg"/><Relationship Id="rId41" Type="http://schemas.openxmlformats.org/officeDocument/2006/relationships/image" Target="../media/image89.png"/><Relationship Id="rId1" Type="http://schemas.openxmlformats.org/officeDocument/2006/relationships/slideLayout" Target="../slideLayouts/slideLayout89.xml"/><Relationship Id="rId6" Type="http://schemas.openxmlformats.org/officeDocument/2006/relationships/image" Target="../media/image54.png"/><Relationship Id="rId11" Type="http://schemas.openxmlformats.org/officeDocument/2006/relationships/image" Target="../media/image59.svg"/><Relationship Id="rId24" Type="http://schemas.openxmlformats.org/officeDocument/2006/relationships/image" Target="../media/image72.png"/><Relationship Id="rId32" Type="http://schemas.openxmlformats.org/officeDocument/2006/relationships/image" Target="../media/image80.png"/><Relationship Id="rId37" Type="http://schemas.openxmlformats.org/officeDocument/2006/relationships/image" Target="../media/image85.svg"/><Relationship Id="rId40" Type="http://schemas.openxmlformats.org/officeDocument/2006/relationships/image" Target="../media/image88.png"/><Relationship Id="rId5" Type="http://schemas.openxmlformats.org/officeDocument/2006/relationships/image" Target="../media/image53.svg"/><Relationship Id="rId15" Type="http://schemas.openxmlformats.org/officeDocument/2006/relationships/image" Target="../media/image63.svg"/><Relationship Id="rId23" Type="http://schemas.openxmlformats.org/officeDocument/2006/relationships/image" Target="../media/image71.svg"/><Relationship Id="rId28" Type="http://schemas.openxmlformats.org/officeDocument/2006/relationships/image" Target="../media/image76.png"/><Relationship Id="rId36" Type="http://schemas.openxmlformats.org/officeDocument/2006/relationships/image" Target="../media/image84.png"/><Relationship Id="rId10" Type="http://schemas.openxmlformats.org/officeDocument/2006/relationships/image" Target="../media/image58.png"/><Relationship Id="rId19" Type="http://schemas.openxmlformats.org/officeDocument/2006/relationships/image" Target="../media/image67.svg"/><Relationship Id="rId31" Type="http://schemas.openxmlformats.org/officeDocument/2006/relationships/image" Target="../media/image79.svg"/><Relationship Id="rId4" Type="http://schemas.openxmlformats.org/officeDocument/2006/relationships/image" Target="../media/image52.png"/><Relationship Id="rId9" Type="http://schemas.openxmlformats.org/officeDocument/2006/relationships/image" Target="../media/image57.svg"/><Relationship Id="rId14" Type="http://schemas.openxmlformats.org/officeDocument/2006/relationships/image" Target="../media/image62.png"/><Relationship Id="rId22" Type="http://schemas.openxmlformats.org/officeDocument/2006/relationships/image" Target="../media/image70.png"/><Relationship Id="rId27" Type="http://schemas.openxmlformats.org/officeDocument/2006/relationships/image" Target="../media/image75.svg"/><Relationship Id="rId30" Type="http://schemas.openxmlformats.org/officeDocument/2006/relationships/image" Target="../media/image78.png"/><Relationship Id="rId35" Type="http://schemas.openxmlformats.org/officeDocument/2006/relationships/image" Target="../media/image83.svg"/><Relationship Id="rId8" Type="http://schemas.openxmlformats.org/officeDocument/2006/relationships/image" Target="../media/image56.png"/><Relationship Id="rId3" Type="http://schemas.openxmlformats.org/officeDocument/2006/relationships/image" Target="../media/image51.svg"/><Relationship Id="rId12" Type="http://schemas.openxmlformats.org/officeDocument/2006/relationships/image" Target="../media/image60.png"/><Relationship Id="rId17" Type="http://schemas.openxmlformats.org/officeDocument/2006/relationships/image" Target="../media/image65.svg"/><Relationship Id="rId25" Type="http://schemas.openxmlformats.org/officeDocument/2006/relationships/image" Target="../media/image73.svg"/><Relationship Id="rId33" Type="http://schemas.openxmlformats.org/officeDocument/2006/relationships/image" Target="../media/image81.svg"/><Relationship Id="rId38" Type="http://schemas.openxmlformats.org/officeDocument/2006/relationships/image" Target="../media/image86.png"/></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srgbClr val="1A295D"/>
                </a:solidFill>
                <a:effectLst/>
                <a:uLnTx/>
                <a:uFillTx/>
                <a:latin typeface="Open Sans" panose="020B0606030504020204" pitchFamily="34" charset="0"/>
                <a:ea typeface="+mn-ea"/>
                <a:cs typeface="Calibri"/>
              </a:rPr>
              <a:t>                                                                                       </a:t>
            </a:r>
            <a:endPar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09086" y="6288499"/>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138532" y="6304520"/>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2949814"/>
            <a:ext cx="12052699" cy="2523768"/>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kumimoji="0" lang="he-IL" sz="4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מובילים יחד הזדקנות מיטבית–</a:t>
            </a:r>
          </a:p>
          <a:p>
            <a:pPr marL="0" marR="0" lvl="0" indent="0" algn="r" defTabSz="914400" rtl="1" eaLnBrk="1" fontAlgn="auto" latinLnBrk="0" hangingPunct="1">
              <a:lnSpc>
                <a:spcPct val="100000"/>
              </a:lnSpc>
              <a:spcBef>
                <a:spcPts val="0"/>
              </a:spcBef>
              <a:spcAft>
                <a:spcPts val="1200"/>
              </a:spcAft>
              <a:buClrTx/>
              <a:buSzTx/>
              <a:buFontTx/>
              <a:buNone/>
              <a:tabLst/>
              <a:defRPr/>
            </a:pPr>
            <a:r>
              <a:rPr kumimoji="0" lang="he-IL" sz="4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מהפכת הסל האישי </a:t>
            </a:r>
            <a:r>
              <a:rPr kumimoji="0" lang="en-US" sz="4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Ai </a:t>
            </a:r>
            <a:endParaRPr kumimoji="0" lang="he-IL" sz="4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endParaRPr>
          </a:p>
          <a:p>
            <a:pPr marL="0" marR="0" lvl="0" indent="0" algn="r" defTabSz="914400" rtl="1" eaLnBrk="1" fontAlgn="auto" latinLnBrk="0" hangingPunct="1">
              <a:lnSpc>
                <a:spcPct val="100000"/>
              </a:lnSpc>
              <a:spcBef>
                <a:spcPts val="0"/>
              </a:spcBef>
              <a:spcAft>
                <a:spcPts val="1200"/>
              </a:spcAft>
              <a:buClrTx/>
              <a:buSzTx/>
              <a:buFontTx/>
              <a:buNone/>
              <a:tabLst/>
              <a:defRPr/>
            </a:pPr>
            <a:r>
              <a:rPr kumimoji="0" lang="he-IL" sz="4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כמנוע לחדשנות והובלת שינוי</a:t>
            </a:r>
            <a:endParaRPr kumimoji="0" lang="he-IL" sz="46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677144" y="6268086"/>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7221744" y="6127814"/>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8875525" y="6127814"/>
            <a:ext cx="1179780" cy="646071"/>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239565" y="6360796"/>
            <a:ext cx="1271567"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דצמבר 2024</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98068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תיבת טקסט 10">
            <a:extLst>
              <a:ext uri="{FF2B5EF4-FFF2-40B4-BE49-F238E27FC236}">
                <a16:creationId xmlns:a16="http://schemas.microsoft.com/office/drawing/2014/main" id="{B8FC2436-82C0-076A-1BB3-BF64AFB83C5E}"/>
              </a:ext>
            </a:extLst>
          </p:cNvPr>
          <p:cNvSpPr txBox="1"/>
          <p:nvPr/>
        </p:nvSpPr>
        <p:spPr>
          <a:xfrm>
            <a:off x="2115127" y="681037"/>
            <a:ext cx="9116291" cy="5355312"/>
          </a:xfrm>
          <a:prstGeom prst="rect">
            <a:avLst/>
          </a:prstGeom>
          <a:noFill/>
        </p:spPr>
        <p:txBody>
          <a:bodyPr wrap="square">
            <a:spAutoFit/>
          </a:bodyPr>
          <a:lstStyle/>
          <a:p>
            <a:pPr algn="just"/>
            <a:r>
              <a:rPr lang="he-IL" b="1" dirty="0"/>
              <a:t>מובילים יחד הזדקנות מיטבית </a:t>
            </a:r>
            <a:r>
              <a:rPr lang="he-IL" dirty="0"/>
              <a:t>– </a:t>
            </a:r>
          </a:p>
          <a:p>
            <a:pPr algn="just"/>
            <a:r>
              <a:rPr lang="he-IL" b="1" dirty="0"/>
              <a:t>מהפכת סל אישי </a:t>
            </a:r>
            <a:r>
              <a:rPr lang="he-IL" b="1" dirty="0" err="1"/>
              <a:t>Ai</a:t>
            </a:r>
            <a:r>
              <a:rPr lang="he-IL" b="1" dirty="0"/>
              <a:t> כמנוע לחדשנות והובלת שינוי</a:t>
            </a:r>
          </a:p>
          <a:p>
            <a:pPr algn="just"/>
            <a:r>
              <a:rPr lang="he-IL" dirty="0"/>
              <a:t>**1. </a:t>
            </a:r>
            <a:r>
              <a:rPr lang="he-IL" b="1" dirty="0"/>
              <a:t>הבעיה </a:t>
            </a:r>
            <a:r>
              <a:rPr lang="he-IL" dirty="0"/>
              <a:t>(4 דק')*- אתגר הזדקנות האוכלוסייה והשלכותיו:  * צרכים מורכבים וגדלים  * </a:t>
            </a:r>
            <a:r>
              <a:rPr lang="he-IL" dirty="0" err="1"/>
              <a:t>פיצוליות</a:t>
            </a:r>
            <a:r>
              <a:rPr lang="he-IL" dirty="0"/>
              <a:t> ובירוקרטיה  * משאבים מוגבלים  * קושי בהתאמה אישית</a:t>
            </a:r>
          </a:p>
          <a:p>
            <a:pPr algn="just"/>
            <a:r>
              <a:rPr lang="he-IL" dirty="0"/>
              <a:t>*2. </a:t>
            </a:r>
            <a:r>
              <a:rPr lang="he-IL" b="1" dirty="0"/>
              <a:t>המענה</a:t>
            </a:r>
            <a:r>
              <a:rPr lang="he-IL" dirty="0"/>
              <a:t> (5 דק')*- פורום </a:t>
            </a:r>
            <a:r>
              <a:rPr lang="he-IL" dirty="0" err="1"/>
              <a:t>בר"ק</a:t>
            </a:r>
            <a:r>
              <a:rPr lang="he-IL" dirty="0"/>
              <a:t>: הובלה משותפת לשינוי  * מיפוי אתגרים מעמיק  * 4 צוותי פעולה ממוקדים- 3 עקרונות מובילים:  * </a:t>
            </a:r>
            <a:r>
              <a:rPr lang="he-IL" dirty="0" err="1"/>
              <a:t>בר"ק</a:t>
            </a:r>
            <a:r>
              <a:rPr lang="he-IL" dirty="0"/>
              <a:t> - חיבור כלל המערכות  * ביזור - העצמת השטח  * האדם במרכז - המפתח למענה טוב יותר</a:t>
            </a:r>
          </a:p>
          <a:p>
            <a:pPr algn="just"/>
            <a:r>
              <a:rPr lang="he-IL" dirty="0"/>
              <a:t>*3. </a:t>
            </a:r>
            <a:r>
              <a:rPr lang="he-IL" b="1" dirty="0"/>
              <a:t>המהפכה בשירות </a:t>
            </a:r>
            <a:r>
              <a:rPr lang="he-IL" dirty="0"/>
              <a:t>(3 דק')*- שינוי מערכת ההפעלה הממשלתית:  * </a:t>
            </a:r>
            <a:r>
              <a:rPr lang="he-IL" dirty="0" err="1"/>
              <a:t>מפיצוליות</a:t>
            </a:r>
            <a:r>
              <a:rPr lang="he-IL" dirty="0"/>
              <a:t> למיקוד באזרח  * מאספקת שירותים להתאמה אישית  * ממשלה: מכוונת, מאפשרת, מגינה- היתרון היחסי של יזמים:  * מומחיות בהתאמה אישית  * חדשנות טכנולוגית  * פתרונות לאתגרי השטח</a:t>
            </a:r>
          </a:p>
          <a:p>
            <a:pPr algn="just"/>
            <a:r>
              <a:rPr lang="he-IL" dirty="0"/>
              <a:t>*4. </a:t>
            </a:r>
            <a:r>
              <a:rPr lang="he-IL" b="1" dirty="0"/>
              <a:t>מקרה בוחן </a:t>
            </a:r>
            <a:r>
              <a:rPr lang="he-IL" dirty="0"/>
              <a:t>- מורן </a:t>
            </a:r>
            <a:r>
              <a:rPr lang="he-IL" dirty="0" err="1"/>
              <a:t>אדוויזר</a:t>
            </a:r>
            <a:r>
              <a:rPr lang="he-IL" dirty="0"/>
              <a:t> (2 דק')*- טכנולוגיה פורצת דרך:  * התאמה אישית חכמה  * שיפור משמעותי בתוצאות  * ROI מוכח- הדגמה למודל העתידי:  * שילוב טכנולוגיה ואנושיות  * מענה מדויק לצרכים  * </a:t>
            </a:r>
            <a:r>
              <a:rPr lang="he-IL" dirty="0" err="1"/>
              <a:t>סקיילביליות</a:t>
            </a:r>
            <a:endParaRPr lang="he-IL" dirty="0"/>
          </a:p>
          <a:p>
            <a:pPr algn="just"/>
            <a:r>
              <a:rPr lang="he-IL" dirty="0"/>
              <a:t>*5. </a:t>
            </a:r>
            <a:r>
              <a:rPr lang="he-IL" b="1" dirty="0"/>
              <a:t>ההזדמנות</a:t>
            </a:r>
            <a:r>
              <a:rPr lang="he-IL" dirty="0"/>
              <a:t> (1 דק')*- להוביל חדשנות עולמית:  * פתרונות לאתגר גלובלי  * מודל חדש לשירות ציבורי  * תוצאות טובות יותר במשאבים קיימים- שותפות אמיתית:  * חיבור ממשלה-יזמות  * חדשנות עם אימפקט  * הובלת שינוי </a:t>
            </a:r>
            <a:r>
              <a:rPr lang="he-IL" dirty="0" err="1"/>
              <a:t>עולמימהלך</a:t>
            </a:r>
            <a:r>
              <a:rPr lang="he-IL" dirty="0"/>
              <a:t> </a:t>
            </a:r>
            <a:r>
              <a:rPr lang="he-IL" dirty="0" err="1"/>
              <a:t>הדיגיטל</a:t>
            </a:r>
            <a:r>
              <a:rPr lang="he-IL" dirty="0"/>
              <a:t> להזדקנות מיטבית ומודל פנינה להזדקנות מיטבית. </a:t>
            </a:r>
            <a:r>
              <a:rPr lang="he-IL" b="1" dirty="0"/>
              <a:t>מסר מסכם: </a:t>
            </a:r>
            <a:r>
              <a:rPr lang="he-IL" dirty="0"/>
              <a:t>"אנחנו בנקודת מפנה - הזדמנות להוביל שינוי היסטורי בשירותי הזקנה. דרך שותפות אמיתית בין ממשלה ליזמות, נייצר פתרונות חדשניים שיהפכו את ישראל למובילה עולמית בהזדקנות מיטבית."</a:t>
            </a:r>
          </a:p>
        </p:txBody>
      </p:sp>
    </p:spTree>
    <p:extLst>
      <p:ext uri="{BB962C8B-B14F-4D97-AF65-F5344CB8AC3E}">
        <p14:creationId xmlns:p14="http://schemas.microsoft.com/office/powerpoint/2010/main" val="2597990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11" name="תרשים 10">
            <a:extLst>
              <a:ext uri="{FF2B5EF4-FFF2-40B4-BE49-F238E27FC236}">
                <a16:creationId xmlns:a16="http://schemas.microsoft.com/office/drawing/2014/main" id="{302946A4-0737-4970-A78C-64C0DD6F3545}"/>
              </a:ext>
            </a:extLst>
          </p:cNvPr>
          <p:cNvGraphicFramePr>
            <a:graphicFrameLocks/>
          </p:cNvGraphicFramePr>
          <p:nvPr>
            <p:extLst>
              <p:ext uri="{D42A27DB-BD31-4B8C-83A1-F6EECF244321}">
                <p14:modId xmlns:p14="http://schemas.microsoft.com/office/powerpoint/2010/main" val="3132909232"/>
              </p:ext>
            </p:extLst>
          </p:nvPr>
        </p:nvGraphicFramePr>
        <p:xfrm>
          <a:off x="725362" y="1077911"/>
          <a:ext cx="7887076" cy="5371078"/>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955963" y="172203"/>
            <a:ext cx="10979454" cy="1354217"/>
          </a:xfrm>
          <a:prstGeom prst="rect">
            <a:avLst/>
          </a:prstGeom>
        </p:spPr>
        <p:txBody>
          <a:bodyPr wrap="square">
            <a:spAutoFit/>
          </a:bodyPr>
          <a:lstStyle/>
          <a:p>
            <a:pPr lvl="0">
              <a:defRPr/>
            </a:pPr>
            <a:r>
              <a:rPr lang="he-IL" sz="3200" b="1" dirty="0">
                <a:solidFill>
                  <a:srgbClr val="002060"/>
                </a:solidFill>
                <a:latin typeface="Calibri" panose="020F0502020204030204" pitchFamily="34" charset="0"/>
                <a:cs typeface="Calibri" panose="020F0502020204030204" pitchFamily="34" charset="0"/>
              </a:rPr>
              <a:t>תקציב המדינה על אזרחים ותיקים ופרישה (2019)</a:t>
            </a:r>
          </a:p>
          <a:p>
            <a:pPr lvl="0">
              <a:defRPr/>
            </a:pPr>
            <a:endParaRPr lang="he-IL" sz="3200" b="1" dirty="0">
              <a:solidFill>
                <a:srgbClr val="0070C0"/>
              </a:solidFill>
              <a:latin typeface="Calibri" panose="020F0502020204030204" pitchFamily="34" charset="0"/>
              <a:cs typeface="Calibri" panose="020F0502020204030204" pitchFamily="34" charset="0"/>
            </a:endParaRPr>
          </a:p>
          <a:p>
            <a:pPr lvl="0">
              <a:defRPr/>
            </a:pPr>
            <a:r>
              <a:rPr lang="he-IL" b="1" dirty="0">
                <a:effectLst>
                  <a:outerShdw blurRad="38100" dist="38100" dir="2700000" algn="tl">
                    <a:srgbClr val="000000">
                      <a:alpha val="43137"/>
                    </a:srgbClr>
                  </a:outerShdw>
                </a:effectLst>
                <a:latin typeface="Calibri" panose="020F0502020204030204" pitchFamily="34" charset="0"/>
              </a:rPr>
              <a:t>                                   </a:t>
            </a:r>
          </a:p>
        </p:txBody>
      </p:sp>
      <p:sp>
        <p:nvSpPr>
          <p:cNvPr id="4" name="TextBox 3"/>
          <p:cNvSpPr txBox="1"/>
          <p:nvPr/>
        </p:nvSpPr>
        <p:spPr>
          <a:xfrm>
            <a:off x="7700521" y="2212220"/>
            <a:ext cx="3766117" cy="830997"/>
          </a:xfrm>
          <a:prstGeom prst="rect">
            <a:avLst/>
          </a:prstGeom>
          <a:noFill/>
        </p:spPr>
        <p:txBody>
          <a:bodyPr wrap="square" rtlCol="1">
            <a:spAutoFit/>
          </a:bodyPr>
          <a:lstStyle/>
          <a:p>
            <a:r>
              <a:rPr lang="he-IL" sz="2800" b="1" dirty="0">
                <a:solidFill>
                  <a:srgbClr val="00206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השקעה מועטה </a:t>
            </a:r>
            <a:r>
              <a:rPr lang="he-IL" sz="2800" b="1" u="sng" dirty="0">
                <a:solidFill>
                  <a:srgbClr val="00206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במניעה</a:t>
            </a:r>
            <a:r>
              <a:rPr lang="he-IL" sz="2800" b="1" dirty="0">
                <a:solidFill>
                  <a:srgbClr val="00206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a:t>
            </a:r>
          </a:p>
          <a:p>
            <a:endParaRPr lang="he-IL" sz="2000" dirty="0"/>
          </a:p>
        </p:txBody>
      </p:sp>
      <p:sp>
        <p:nvSpPr>
          <p:cNvPr id="12" name="מלבן 11"/>
          <p:cNvSpPr/>
          <p:nvPr/>
        </p:nvSpPr>
        <p:spPr>
          <a:xfrm>
            <a:off x="0" y="7045"/>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 name="Picture 3" descr="קובץ:Ministry of Labor, Social Affairs and Social Services ...">
            <a:extLst>
              <a:ext uri="{FF2B5EF4-FFF2-40B4-BE49-F238E27FC236}">
                <a16:creationId xmlns:a16="http://schemas.microsoft.com/office/drawing/2014/main" id="{555C8EFB-8F28-D092-5127-9889A5C46C6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1456" y="6062687"/>
            <a:ext cx="1713961" cy="467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753154"/>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pic>
        <p:nvPicPr>
          <p:cNvPr id="5" name="תמונה 4">
            <a:extLst>
              <a:ext uri="{FF2B5EF4-FFF2-40B4-BE49-F238E27FC236}">
                <a16:creationId xmlns:a16="http://schemas.microsoft.com/office/drawing/2014/main" id="{71402ACB-05EA-48A7-6789-132B540DDCA6}"/>
              </a:ext>
            </a:extLst>
          </p:cNvPr>
          <p:cNvPicPr>
            <a:picLocks noChangeAspect="1"/>
          </p:cNvPicPr>
          <p:nvPr/>
        </p:nvPicPr>
        <p:blipFill>
          <a:blip r:embed="rId3">
            <a:extLst>
              <a:ext uri="{28A0092B-C50C-407E-A947-70E740481C1C}">
                <a14:useLocalDpi xmlns:a14="http://schemas.microsoft.com/office/drawing/2010/main" val="0"/>
              </a:ext>
            </a:extLst>
          </a:blip>
          <a:srcRect t="20022"/>
          <a:stretch/>
        </p:blipFill>
        <p:spPr>
          <a:xfrm>
            <a:off x="6260310" y="1787800"/>
            <a:ext cx="5606022" cy="3372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50" b="1" i="0" u="none" strike="noStrike" kern="1200" cap="none" spc="0" normalizeH="0" baseline="0" noProof="0" dirty="0">
                <a:ln>
                  <a:noFill/>
                </a:ln>
                <a:solidFill>
                  <a:prstClr val="black"/>
                </a:solidFill>
                <a:effectLst/>
                <a:uLnTx/>
                <a:uFillTx/>
                <a:latin typeface="Calibri"/>
                <a:ea typeface="+mn-ea"/>
                <a:cs typeface="Calibri"/>
              </a:rPr>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4">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20374" y="2181225"/>
              <a:ext cx="133351" cy="161925"/>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קצב גידול מקבלי גמלת סיעוד, ביטוח סיעודי וקצבת אזרח ותיק 2017-2022</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3271685" y="362535"/>
            <a:ext cx="5674950" cy="461665"/>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a:ea typeface="+mn-ea"/>
                <a:cs typeface="Calibri"/>
              </a:rPr>
              <a:t>השוואה בין הגמלאות לזקנה והשוואה בינלאומית </a:t>
            </a:r>
          </a:p>
        </p:txBody>
      </p:sp>
      <p:sp>
        <p:nvSpPr>
          <p:cNvPr id="9" name="TextBox 14">
            <a:extLst>
              <a:ext uri="{FF2B5EF4-FFF2-40B4-BE49-F238E27FC236}">
                <a16:creationId xmlns:a16="http://schemas.microsoft.com/office/drawing/2014/main" id="{A9BF7933-D989-EADB-0667-5FEE9512F3D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2059835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1D09-A6F3-E00A-D77F-10AF82DF07C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CC5C12D-41C0-C81E-68AB-2B97AA4843A2}"/>
              </a:ext>
            </a:extLst>
          </p:cNvPr>
          <p:cNvSpPr txBox="1"/>
          <p:nvPr/>
        </p:nvSpPr>
        <p:spPr>
          <a:xfrm>
            <a:off x="3524082" y="254808"/>
            <a:ext cx="6104740" cy="552331"/>
          </a:xfrm>
          <a:prstGeom prst="rect">
            <a:avLst/>
          </a:prstGeom>
          <a:noFill/>
        </p:spPr>
        <p:txBody>
          <a:bodyPr wrap="square" rtlCol="0">
            <a:spAutoFit/>
          </a:bodyPr>
          <a:lstStyle/>
          <a:p>
            <a:pPr marL="0" marR="0" lvl="0" indent="0" algn="ctr" defTabSz="914400" rtl="1" eaLnBrk="1" fontAlgn="auto" latinLnBrk="0" hangingPunct="1">
              <a:lnSpc>
                <a:spcPts val="378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פרגמנטציה בין גופים שונים</a:t>
            </a:r>
          </a:p>
        </p:txBody>
      </p:sp>
      <p:grpSp>
        <p:nvGrpSpPr>
          <p:cNvPr id="3" name="קבוצה 2">
            <a:extLst>
              <a:ext uri="{FF2B5EF4-FFF2-40B4-BE49-F238E27FC236}">
                <a16:creationId xmlns:a16="http://schemas.microsoft.com/office/drawing/2014/main" id="{4F13153D-02BF-ED1C-ECDD-45804F828E0B}"/>
              </a:ext>
            </a:extLst>
          </p:cNvPr>
          <p:cNvGrpSpPr/>
          <p:nvPr/>
        </p:nvGrpSpPr>
        <p:grpSpPr>
          <a:xfrm>
            <a:off x="658627" y="254808"/>
            <a:ext cx="10874746" cy="6079535"/>
            <a:chOff x="-1645970" y="-44828"/>
            <a:chExt cx="12281546" cy="6577485"/>
          </a:xfrm>
        </p:grpSpPr>
        <p:grpSp>
          <p:nvGrpSpPr>
            <p:cNvPr id="7" name="קבוצה 6">
              <a:extLst>
                <a:ext uri="{FF2B5EF4-FFF2-40B4-BE49-F238E27FC236}">
                  <a16:creationId xmlns:a16="http://schemas.microsoft.com/office/drawing/2014/main" id="{B201840E-D999-BE87-8301-ACAFB253C837}"/>
                </a:ext>
              </a:extLst>
            </p:cNvPr>
            <p:cNvGrpSpPr/>
            <p:nvPr/>
          </p:nvGrpSpPr>
          <p:grpSpPr>
            <a:xfrm>
              <a:off x="-1645970" y="790196"/>
              <a:ext cx="11319761" cy="5742461"/>
              <a:chOff x="-1645970" y="790196"/>
              <a:chExt cx="11319761" cy="5742461"/>
            </a:xfrm>
          </p:grpSpPr>
          <p:pic>
            <p:nvPicPr>
              <p:cNvPr id="17" name="תמונה 16">
                <a:extLst>
                  <a:ext uri="{FF2B5EF4-FFF2-40B4-BE49-F238E27FC236}">
                    <a16:creationId xmlns:a16="http://schemas.microsoft.com/office/drawing/2014/main" id="{6CA69DF7-8B01-5EA3-159E-A542F4DBE61C}"/>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19" name="TextBox 6">
                <a:extLst>
                  <a:ext uri="{FF2B5EF4-FFF2-40B4-BE49-F238E27FC236}">
                    <a16:creationId xmlns:a16="http://schemas.microsoft.com/office/drawing/2014/main" id="{EF3F2BC7-1229-D860-E240-A7760038A7DC}"/>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20" name="אליפסה 19">
                <a:extLst>
                  <a:ext uri="{FF2B5EF4-FFF2-40B4-BE49-F238E27FC236}">
                    <a16:creationId xmlns:a16="http://schemas.microsoft.com/office/drawing/2014/main" id="{949F45B3-84AC-09D6-4568-7C5D32CA72B6}"/>
                  </a:ext>
                </a:extLst>
              </p:cNvPr>
              <p:cNvSpPr/>
              <p:nvPr/>
            </p:nvSpPr>
            <p:spPr>
              <a:xfrm>
                <a:off x="4628080" y="2641603"/>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21" name="מלבן 20">
                <a:extLst>
                  <a:ext uri="{FF2B5EF4-FFF2-40B4-BE49-F238E27FC236}">
                    <a16:creationId xmlns:a16="http://schemas.microsoft.com/office/drawing/2014/main" id="{E419C417-BD8D-59A2-3E8B-7A7BE02C2A05}"/>
                  </a:ext>
                </a:extLst>
              </p:cNvPr>
              <p:cNvSpPr/>
              <p:nvPr/>
            </p:nvSpPr>
            <p:spPr>
              <a:xfrm>
                <a:off x="4720248" y="3826330"/>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22" name="Graphic 4" descr="Man with cane outline">
                <a:extLst>
                  <a:ext uri="{FF2B5EF4-FFF2-40B4-BE49-F238E27FC236}">
                    <a16:creationId xmlns:a16="http://schemas.microsoft.com/office/drawing/2014/main" id="{3AFEFADB-2164-790E-D1BD-2E4E3A2FD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144302" y="3006785"/>
                <a:ext cx="731042" cy="819545"/>
              </a:xfrm>
              <a:prstGeom prst="rect">
                <a:avLst/>
              </a:prstGeom>
            </p:spPr>
          </p:pic>
        </p:grpSp>
        <p:sp>
          <p:nvSpPr>
            <p:cNvPr id="15" name="Text 3">
              <a:extLst>
                <a:ext uri="{FF2B5EF4-FFF2-40B4-BE49-F238E27FC236}">
                  <a16:creationId xmlns:a16="http://schemas.microsoft.com/office/drawing/2014/main" id="{8A633AD2-F731-F526-7AA5-9DBD5658FD3F}"/>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24" name="Picture 10">
            <a:extLst>
              <a:ext uri="{FF2B5EF4-FFF2-40B4-BE49-F238E27FC236}">
                <a16:creationId xmlns:a16="http://schemas.microsoft.com/office/drawing/2014/main" id="{CB15E977-19FB-FAD0-0067-E5716BCBF114}"/>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264309" y="4563396"/>
            <a:ext cx="2231823" cy="793243"/>
          </a:xfrm>
          <a:prstGeom prst="rect">
            <a:avLst/>
          </a:prstGeom>
        </p:spPr>
      </p:pic>
    </p:spTree>
    <p:extLst>
      <p:ext uri="{BB962C8B-B14F-4D97-AF65-F5344CB8AC3E}">
        <p14:creationId xmlns:p14="http://schemas.microsoft.com/office/powerpoint/2010/main" val="3569968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6089251" y="5221561"/>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3689847" y="5647606"/>
            <a:ext cx="4812305"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ושיתוף נתונים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61357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59306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593065"/>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3460977" y="494245"/>
            <a:ext cx="6580735" cy="1316832"/>
          </a:xfrm>
          <a:prstGeom prst="rect">
            <a:avLst/>
          </a:prstGeom>
          <a:noFill/>
          <a:ln/>
        </p:spPr>
        <p:txBody>
          <a:bodyPr wrap="none" rtlCol="0" anchor="t"/>
          <a:lstStyle/>
          <a:p>
            <a:pPr marL="0" marR="0" lvl="0" indent="0" algn="r" defTabSz="914400" rtl="1" eaLnBrk="1" fontAlgn="auto" latinLnBrk="0" hangingPunct="1">
              <a:lnSpc>
                <a:spcPts val="4765"/>
              </a:lnSpc>
              <a:spcBef>
                <a:spcPts val="0"/>
              </a:spcBef>
              <a:spcAft>
                <a:spcPts val="0"/>
              </a:spcAft>
              <a:buClrTx/>
              <a:buSzTx/>
              <a:buFontTx/>
              <a:buNone/>
              <a:tabLst/>
              <a:defRPr/>
            </a:pPr>
            <a:r>
              <a:rPr kumimoji="0" lang="he-IL"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שינוי המצב מושתת</a:t>
            </a:r>
            <a:r>
              <a:rPr kumimoji="0" lang="en-US"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br>
              <a:rPr kumimoji="0" lang="en-US"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br>
            <a:r>
              <a:rPr kumimoji="0" lang="he-IL"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על קידום ארבע תפיסות מרכזיות</a:t>
            </a:r>
            <a:endParaRPr kumimoji="0" lang="en-US" sz="3812"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84675" y="494245"/>
            <a:ext cx="1677714" cy="1452162"/>
          </a:xfrm>
          <a:prstGeom prst="rect">
            <a:avLst/>
          </a:prstGeom>
        </p:spPr>
      </p:pic>
      <p:sp>
        <p:nvSpPr>
          <p:cNvPr id="10" name="Text 4">
            <a:extLst>
              <a:ext uri="{FF2B5EF4-FFF2-40B4-BE49-F238E27FC236}">
                <a16:creationId xmlns:a16="http://schemas.microsoft.com/office/drawing/2014/main" id="{40CF4436-037A-E56B-836F-2EB08F88209B}"/>
              </a:ext>
            </a:extLst>
          </p:cNvPr>
          <p:cNvSpPr/>
          <p:nvPr/>
        </p:nvSpPr>
        <p:spPr>
          <a:xfrm>
            <a:off x="7677955" y="3981469"/>
            <a:ext cx="2412901" cy="1316832"/>
          </a:xfrm>
          <a:prstGeom prst="rect">
            <a:avLst/>
          </a:prstGeom>
          <a:noFill/>
          <a:ln/>
        </p:spPr>
        <p:txBody>
          <a:bodyPr wrap="square" rtlCol="0" anchor="t"/>
          <a:lstStyle/>
          <a:p>
            <a:pPr marL="0" marR="0" lvl="0" indent="0" algn="l" defTabSz="914400" rtl="1" eaLnBrk="1" fontAlgn="auto" latinLnBrk="0" hangingPunct="1">
              <a:lnSpc>
                <a:spcPts val="2592"/>
              </a:lnSpc>
              <a:spcBef>
                <a:spcPts val="0"/>
              </a:spcBef>
              <a:spcAft>
                <a:spcPts val="0"/>
              </a:spcAft>
              <a:buClrTx/>
              <a:buSzTx/>
              <a:buFontTx/>
              <a:buNone/>
              <a:tabLst/>
              <a:defRPr/>
            </a:pPr>
            <a:endParaRPr kumimoji="0" lang="en-US" sz="1620" b="0" i="0" u="none" strike="noStrike" kern="0" cap="none" spc="0" normalizeH="0" baseline="0" noProof="0" dirty="0">
              <a:ln>
                <a:noFill/>
              </a:ln>
              <a:solidFill>
                <a:prstClr val="black"/>
              </a:solidFill>
              <a:effectLst/>
              <a:uLnTx/>
              <a:uFillTx/>
              <a:latin typeface="Calibri"/>
              <a:ea typeface="+mn-ea"/>
              <a:cs typeface="Calibri"/>
            </a:endParaRPr>
          </a:p>
        </p:txBody>
      </p:sp>
      <p:cxnSp>
        <p:nvCxnSpPr>
          <p:cNvPr id="21" name="Straight Connector 20">
            <a:extLst>
              <a:ext uri="{FF2B5EF4-FFF2-40B4-BE49-F238E27FC236}">
                <a16:creationId xmlns:a16="http://schemas.microsoft.com/office/drawing/2014/main" id="{9C8E24A4-26D8-445C-AF8C-FF4C2AD06359}"/>
              </a:ext>
            </a:extLst>
          </p:cNvPr>
          <p:cNvCxnSpPr/>
          <p:nvPr/>
        </p:nvCxnSpPr>
        <p:spPr>
          <a:xfrm>
            <a:off x="487680" y="4968240"/>
            <a:ext cx="1121664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2568927"/>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2568927"/>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8544901" y="5082213"/>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9892977" y="5011288"/>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Graphic 27">
            <a:extLst>
              <a:ext uri="{FF2B5EF4-FFF2-40B4-BE49-F238E27FC236}">
                <a16:creationId xmlns:a16="http://schemas.microsoft.com/office/drawing/2014/main" id="{D87D0DE3-BED5-FC26-BD2C-33725A04B47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2815"/>
          <a:stretch/>
        </p:blipFill>
        <p:spPr>
          <a:xfrm>
            <a:off x="11021436" y="2533506"/>
            <a:ext cx="677673" cy="653833"/>
          </a:xfrm>
          <a:prstGeom prst="rect">
            <a:avLst/>
          </a:prstGeom>
        </p:spPr>
      </p:pic>
      <p:sp>
        <p:nvSpPr>
          <p:cNvPr id="7" name="Text 8">
            <a:extLst>
              <a:ext uri="{FF2B5EF4-FFF2-40B4-BE49-F238E27FC236}">
                <a16:creationId xmlns:a16="http://schemas.microsoft.com/office/drawing/2014/main" id="{AD8791E5-3B62-6015-2B57-6BEA2A4AD8D4}"/>
              </a:ext>
            </a:extLst>
          </p:cNvPr>
          <p:cNvSpPr/>
          <p:nvPr/>
        </p:nvSpPr>
        <p:spPr>
          <a:xfrm>
            <a:off x="4371310" y="2981594"/>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 6">
            <a:extLst>
              <a:ext uri="{FF2B5EF4-FFF2-40B4-BE49-F238E27FC236}">
                <a16:creationId xmlns:a16="http://schemas.microsoft.com/office/drawing/2014/main" id="{206EB73B-FBB5-58AA-4045-F9DCB9EE7020}"/>
              </a:ext>
            </a:extLst>
          </p:cNvPr>
          <p:cNvSpPr/>
          <p:nvPr/>
        </p:nvSpPr>
        <p:spPr>
          <a:xfrm>
            <a:off x="8214081" y="2984766"/>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7" name="Text 10">
            <a:extLst>
              <a:ext uri="{FF2B5EF4-FFF2-40B4-BE49-F238E27FC236}">
                <a16:creationId xmlns:a16="http://schemas.microsoft.com/office/drawing/2014/main" id="{C700567B-609B-3C12-395E-2D1772823B59}"/>
              </a:ext>
            </a:extLst>
          </p:cNvPr>
          <p:cNvSpPr/>
          <p:nvPr/>
        </p:nvSpPr>
        <p:spPr>
          <a:xfrm>
            <a:off x="597025" y="2981594"/>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Tree>
    <p:extLst>
      <p:ext uri="{BB962C8B-B14F-4D97-AF65-F5344CB8AC3E}">
        <p14:creationId xmlns:p14="http://schemas.microsoft.com/office/powerpoint/2010/main" val="2366899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126434" y="3209170"/>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2808499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97066" y="167702"/>
            <a:ext cx="5871983" cy="606384"/>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אתגרים</a:t>
            </a: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latin typeface="Rubik" pitchFamily="2" charset="-79"/>
              <a:ea typeface="+mn-ea"/>
              <a:cs typeface="Rubik" pitchFamily="2" charset="-79"/>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האתגרים המרכזיים: </a:t>
            </a:r>
            <a:endPar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
        <p:nvSpPr>
          <p:cNvPr id="3" name="תיבת טקסט 2">
            <a:extLst>
              <a:ext uri="{FF2B5EF4-FFF2-40B4-BE49-F238E27FC236}">
                <a16:creationId xmlns:a16="http://schemas.microsoft.com/office/drawing/2014/main" id="{4EA33235-A3CC-6A53-DEE7-76FA84515971}"/>
              </a:ext>
            </a:extLst>
          </p:cNvPr>
          <p:cNvSpPr txBox="1"/>
          <p:nvPr/>
        </p:nvSpPr>
        <p:spPr>
          <a:xfrm>
            <a:off x="9135323" y="3419619"/>
            <a:ext cx="894797" cy="369332"/>
          </a:xfrm>
          <a:prstGeom prst="rect">
            <a:avLst/>
          </a:prstGeom>
          <a:noFill/>
        </p:spPr>
        <p:txBody>
          <a:bodyPr wrap="none" rtlCol="1">
            <a:spAutoFit/>
          </a:bodyPr>
          <a:lstStyle/>
          <a:p>
            <a:r>
              <a:rPr lang="he-IL" dirty="0"/>
              <a:t>סל אישי</a:t>
            </a:r>
          </a:p>
        </p:txBody>
      </p:sp>
    </p:spTree>
    <p:extLst>
      <p:ext uri="{BB962C8B-B14F-4D97-AF65-F5344CB8AC3E}">
        <p14:creationId xmlns:p14="http://schemas.microsoft.com/office/powerpoint/2010/main" val="480413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7635-862C-9128-8550-48A638D4A0F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3B28452-6565-4184-E0F7-B4E8FED5ACC1}"/>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7149C1F4-72D4-0E6B-3D51-75B58659E23B}"/>
              </a:ext>
            </a:extLst>
          </p:cNvPr>
          <p:cNvSpPr txBox="1"/>
          <p:nvPr/>
        </p:nvSpPr>
        <p:spPr>
          <a:xfrm>
            <a:off x="4418616" y="22406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כ-15%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72238A1F-6AB0-9DDA-672B-F238A890607D}"/>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BC395DB2-61DD-9279-4A12-2E3C6BD7194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3A1C7284-FDC0-DBDF-6BAC-2140903E8B10}"/>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ED2B6747-C022-DA7A-4FFE-1644F33829C0}"/>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2BFB1840-F23D-8180-586F-C4B7E69EA31D}"/>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EFFBADD8-0A8F-1005-C581-00CF0929DCD6}"/>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7A60AB0-04D6-0803-B58E-F3AC852B69C2}"/>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3BDC9337-90BC-BE14-8E80-6133004BD11F}"/>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474AA4B8-F7F5-1520-411B-CAA19425D6F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A90DEE30-1439-4E29-F79C-98E2B2615FD2}"/>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3070C358-963B-58A9-6774-1D5EFE318228}"/>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C1055E3F-B4A3-C926-0634-9DA88AF1625F}"/>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82C94991-57DF-DA31-0E53-49B6F2461796}"/>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5AA29A80-24F7-1C56-9258-6072289D74D5}"/>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923771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049321" y="376431"/>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5671038" y="288622"/>
            <a:ext cx="5541807"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
        <p:nvSpPr>
          <p:cNvPr id="2" name="Rectangle 1">
            <a:extLst>
              <a:ext uri="{FF2B5EF4-FFF2-40B4-BE49-F238E27FC236}">
                <a16:creationId xmlns:a16="http://schemas.microsoft.com/office/drawing/2014/main" id="{EBFDAA68-0B68-BA89-A7E3-71514CA52C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Tree>
    <p:extLst>
      <p:ext uri="{BB962C8B-B14F-4D97-AF65-F5344CB8AC3E}">
        <p14:creationId xmlns:p14="http://schemas.microsoft.com/office/powerpoint/2010/main" val="2276989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26378" y="4859813"/>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223324" y="-1801252"/>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85800" y="3240311"/>
            <a:ext cx="10820400" cy="1393127"/>
          </a:xfrm>
          <a:custGeom>
            <a:avLst/>
            <a:gdLst/>
            <a:ahLst/>
            <a:cxnLst/>
            <a:rect l="l" t="t" r="r" b="b"/>
            <a:pathLst>
              <a:path w="16230600" h="2089690">
                <a:moveTo>
                  <a:pt x="0" y="0"/>
                </a:moveTo>
                <a:lnTo>
                  <a:pt x="16230600" y="0"/>
                </a:lnTo>
                <a:lnTo>
                  <a:pt x="16230600" y="2089690"/>
                </a:lnTo>
                <a:lnTo>
                  <a:pt x="0" y="20896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1369586" y="2660048"/>
            <a:ext cx="1726521" cy="1726521"/>
          </a:xfrm>
          <a:custGeom>
            <a:avLst/>
            <a:gdLst/>
            <a:ahLst/>
            <a:cxnLst/>
            <a:rect l="l" t="t" r="r" b="b"/>
            <a:pathLst>
              <a:path w="2589782" h="2589782">
                <a:moveTo>
                  <a:pt x="0" y="0"/>
                </a:moveTo>
                <a:lnTo>
                  <a:pt x="2589782" y="0"/>
                </a:lnTo>
                <a:lnTo>
                  <a:pt x="2589782" y="2589782"/>
                </a:lnTo>
                <a:lnTo>
                  <a:pt x="0" y="2589782"/>
                </a:lnTo>
                <a:lnTo>
                  <a:pt x="0" y="0"/>
                </a:lnTo>
                <a:close/>
              </a:path>
            </a:pathLst>
          </a:custGeom>
          <a:blipFill>
            <a:blip r:embed="rId6">
              <a:alphaModFix amt="16000"/>
              <a:extLst>
                <a:ext uri="{96DAC541-7B7A-43D3-8B79-37D633B846F1}">
                  <asvg:svgBlip xmlns:asvg="http://schemas.microsoft.com/office/drawing/2016/SVG/main" r:embed="rId7"/>
                </a:ext>
              </a:extLst>
            </a:blip>
            <a:stretch>
              <a:fillRect/>
            </a:stretch>
          </a:blipFill>
        </p:spPr>
      </p:sp>
      <p:sp>
        <p:nvSpPr>
          <p:cNvPr id="6" name="Freeform 6"/>
          <p:cNvSpPr/>
          <p:nvPr/>
        </p:nvSpPr>
        <p:spPr>
          <a:xfrm>
            <a:off x="2918624" y="3523286"/>
            <a:ext cx="1726565" cy="1726565"/>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8">
              <a:alphaModFix amt="16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a:off x="6007878" y="3523330"/>
            <a:ext cx="1726565" cy="1726565"/>
          </a:xfrm>
          <a:custGeom>
            <a:avLst/>
            <a:gdLst/>
            <a:ahLst/>
            <a:cxnLst/>
            <a:rect l="l" t="t" r="r" b="b"/>
            <a:pathLst>
              <a:path w="2589847" h="2589847">
                <a:moveTo>
                  <a:pt x="0" y="0"/>
                </a:moveTo>
                <a:lnTo>
                  <a:pt x="2589847" y="0"/>
                </a:lnTo>
                <a:lnTo>
                  <a:pt x="2589847"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9103373" y="3523330"/>
            <a:ext cx="1726565" cy="1726565"/>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sp>
      <p:sp>
        <p:nvSpPr>
          <p:cNvPr id="9" name="Freeform 9"/>
          <p:cNvSpPr/>
          <p:nvPr/>
        </p:nvSpPr>
        <p:spPr>
          <a:xfrm>
            <a:off x="4458818" y="2660048"/>
            <a:ext cx="1726565" cy="1726565"/>
          </a:xfrm>
          <a:custGeom>
            <a:avLst/>
            <a:gdLst/>
            <a:ahLst/>
            <a:cxnLst/>
            <a:rect l="l" t="t" r="r" b="b"/>
            <a:pathLst>
              <a:path w="2589847" h="2589848">
                <a:moveTo>
                  <a:pt x="0" y="0"/>
                </a:moveTo>
                <a:lnTo>
                  <a:pt x="2589847" y="0"/>
                </a:lnTo>
                <a:lnTo>
                  <a:pt x="2589847"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sp>
      <p:sp>
        <p:nvSpPr>
          <p:cNvPr id="10" name="Freeform 10"/>
          <p:cNvSpPr/>
          <p:nvPr/>
        </p:nvSpPr>
        <p:spPr>
          <a:xfrm>
            <a:off x="7554312" y="2660048"/>
            <a:ext cx="1726565" cy="1726565"/>
          </a:xfrm>
          <a:custGeom>
            <a:avLst/>
            <a:gdLst/>
            <a:ahLst/>
            <a:cxnLst/>
            <a:rect l="l" t="t" r="r" b="b"/>
            <a:pathLst>
              <a:path w="2589848" h="2589848">
                <a:moveTo>
                  <a:pt x="0" y="0"/>
                </a:moveTo>
                <a:lnTo>
                  <a:pt x="2589848" y="0"/>
                </a:lnTo>
                <a:lnTo>
                  <a:pt x="2589848"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sp>
      <p:grpSp>
        <p:nvGrpSpPr>
          <p:cNvPr id="11" name="Group 11"/>
          <p:cNvGrpSpPr/>
          <p:nvPr/>
        </p:nvGrpSpPr>
        <p:grpSpPr>
          <a:xfrm>
            <a:off x="1733844" y="3024306"/>
            <a:ext cx="998004" cy="99800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BD7D"/>
            </a:solidFill>
            <a:ln cap="sq">
              <a:noFill/>
              <a:prstDash val="solid"/>
              <a:miter/>
            </a:ln>
          </p:spPr>
        </p:sp>
        <p:sp>
          <p:nvSpPr>
            <p:cNvPr id="13" name="TextBox 13"/>
            <p:cNvSpPr txBox="1"/>
            <p:nvPr/>
          </p:nvSpPr>
          <p:spPr>
            <a:xfrm>
              <a:off x="76200" y="38100"/>
              <a:ext cx="660400" cy="698500"/>
            </a:xfrm>
            <a:prstGeom prst="rect">
              <a:avLst/>
            </a:prstGeom>
          </p:spPr>
          <p:txBody>
            <a:bodyPr lIns="33867" tIns="33867" rIns="33867" bIns="33867" rtlCol="0" anchor="ctr"/>
            <a:lstStyle/>
            <a:p>
              <a:pPr algn="ctr">
                <a:lnSpc>
                  <a:spcPts val="2239"/>
                </a:lnSpc>
                <a:spcBef>
                  <a:spcPct val="0"/>
                </a:spcBef>
              </a:pPr>
              <a:endParaRPr sz="1200">
                <a:latin typeface="Calibri" panose="020F0502020204030204" pitchFamily="34" charset="0"/>
                <a:ea typeface="Calibri" panose="020F0502020204030204" pitchFamily="34" charset="0"/>
                <a:cs typeface="Calibri" panose="020F0502020204030204" pitchFamily="34" charset="0"/>
              </a:endParaRPr>
            </a:p>
          </p:txBody>
        </p:sp>
      </p:grpSp>
      <p:grpSp>
        <p:nvGrpSpPr>
          <p:cNvPr id="14" name="Group 14"/>
          <p:cNvGrpSpPr/>
          <p:nvPr/>
        </p:nvGrpSpPr>
        <p:grpSpPr>
          <a:xfrm>
            <a:off x="3282905" y="3861809"/>
            <a:ext cx="998004" cy="99800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882"/>
            </a:solidFill>
            <a:ln cap="sq">
              <a:noFill/>
              <a:prstDash val="solid"/>
              <a:miter/>
            </a:ln>
          </p:spPr>
        </p:sp>
        <p:sp>
          <p:nvSpPr>
            <p:cNvPr id="16" name="TextBox 16"/>
            <p:cNvSpPr txBox="1"/>
            <p:nvPr/>
          </p:nvSpPr>
          <p:spPr>
            <a:xfrm>
              <a:off x="76200" y="38100"/>
              <a:ext cx="660400" cy="698500"/>
            </a:xfrm>
            <a:prstGeom prst="rect">
              <a:avLst/>
            </a:prstGeom>
          </p:spPr>
          <p:txBody>
            <a:bodyPr lIns="33867" tIns="33867" rIns="33867" bIns="33867" rtlCol="0" anchor="ctr"/>
            <a:lstStyle/>
            <a:p>
              <a:pPr algn="ctr">
                <a:lnSpc>
                  <a:spcPts val="2239"/>
                </a:lnSpc>
                <a:spcBef>
                  <a:spcPct val="0"/>
                </a:spcBef>
              </a:pPr>
              <a:endParaRPr sz="1200">
                <a:latin typeface="Calibri" panose="020F0502020204030204" pitchFamily="34" charset="0"/>
                <a:ea typeface="Calibri" panose="020F0502020204030204" pitchFamily="34" charset="0"/>
                <a:cs typeface="Calibri" panose="020F0502020204030204" pitchFamily="34" charset="0"/>
              </a:endParaRPr>
            </a:p>
          </p:txBody>
        </p:sp>
      </p:grpSp>
      <p:grpSp>
        <p:nvGrpSpPr>
          <p:cNvPr id="17" name="Group 17"/>
          <p:cNvGrpSpPr/>
          <p:nvPr/>
        </p:nvGrpSpPr>
        <p:grpSpPr>
          <a:xfrm>
            <a:off x="4823097" y="3024306"/>
            <a:ext cx="998004" cy="99800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A986"/>
            </a:solidFill>
            <a:ln cap="sq">
              <a:noFill/>
              <a:prstDash val="solid"/>
              <a:miter/>
            </a:ln>
          </p:spPr>
        </p:sp>
        <p:sp>
          <p:nvSpPr>
            <p:cNvPr id="19" name="TextBox 19"/>
            <p:cNvSpPr txBox="1"/>
            <p:nvPr/>
          </p:nvSpPr>
          <p:spPr>
            <a:xfrm>
              <a:off x="76200" y="38100"/>
              <a:ext cx="660400" cy="698500"/>
            </a:xfrm>
            <a:prstGeom prst="rect">
              <a:avLst/>
            </a:prstGeom>
          </p:spPr>
          <p:txBody>
            <a:bodyPr lIns="33867" tIns="33867" rIns="33867" bIns="33867" rtlCol="0" anchor="ctr"/>
            <a:lstStyle/>
            <a:p>
              <a:pPr algn="ctr">
                <a:lnSpc>
                  <a:spcPts val="2239"/>
                </a:lnSpc>
                <a:spcBef>
                  <a:spcPct val="0"/>
                </a:spcBef>
              </a:pPr>
              <a:endParaRPr sz="1200">
                <a:latin typeface="Calibri" panose="020F0502020204030204" pitchFamily="34" charset="0"/>
                <a:ea typeface="Calibri" panose="020F0502020204030204" pitchFamily="34" charset="0"/>
                <a:cs typeface="Calibri" panose="020F0502020204030204" pitchFamily="34" charset="0"/>
              </a:endParaRPr>
            </a:p>
          </p:txBody>
        </p:sp>
      </p:grpSp>
      <p:grpSp>
        <p:nvGrpSpPr>
          <p:cNvPr id="20" name="Group 20"/>
          <p:cNvGrpSpPr/>
          <p:nvPr/>
        </p:nvGrpSpPr>
        <p:grpSpPr>
          <a:xfrm>
            <a:off x="6372158" y="3861809"/>
            <a:ext cx="998004" cy="998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6071"/>
            </a:solidFill>
            <a:ln cap="sq">
              <a:noFill/>
              <a:prstDash val="solid"/>
              <a:miter/>
            </a:ln>
          </p:spPr>
        </p:sp>
        <p:sp>
          <p:nvSpPr>
            <p:cNvPr id="22" name="TextBox 22"/>
            <p:cNvSpPr txBox="1"/>
            <p:nvPr/>
          </p:nvSpPr>
          <p:spPr>
            <a:xfrm>
              <a:off x="76200" y="38100"/>
              <a:ext cx="660400" cy="698500"/>
            </a:xfrm>
            <a:prstGeom prst="rect">
              <a:avLst/>
            </a:prstGeom>
          </p:spPr>
          <p:txBody>
            <a:bodyPr lIns="33867" tIns="33867" rIns="33867" bIns="33867" rtlCol="0" anchor="ctr"/>
            <a:lstStyle/>
            <a:p>
              <a:pPr algn="ctr">
                <a:lnSpc>
                  <a:spcPts val="2239"/>
                </a:lnSpc>
                <a:spcBef>
                  <a:spcPct val="0"/>
                </a:spcBef>
              </a:pPr>
              <a:endParaRPr sz="1200">
                <a:latin typeface="Calibri" panose="020F0502020204030204" pitchFamily="34" charset="0"/>
                <a:ea typeface="Calibri" panose="020F0502020204030204" pitchFamily="34" charset="0"/>
                <a:cs typeface="Calibri" panose="020F0502020204030204" pitchFamily="34" charset="0"/>
              </a:endParaRPr>
            </a:p>
          </p:txBody>
        </p:sp>
      </p:grpSp>
      <p:grpSp>
        <p:nvGrpSpPr>
          <p:cNvPr id="23" name="Group 23"/>
          <p:cNvGrpSpPr/>
          <p:nvPr/>
        </p:nvGrpSpPr>
        <p:grpSpPr>
          <a:xfrm>
            <a:off x="7912351" y="3024306"/>
            <a:ext cx="998004" cy="99800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189"/>
            </a:solidFill>
            <a:ln cap="sq">
              <a:noFill/>
              <a:prstDash val="solid"/>
              <a:miter/>
            </a:ln>
          </p:spPr>
        </p:sp>
        <p:sp>
          <p:nvSpPr>
            <p:cNvPr id="25" name="TextBox 25"/>
            <p:cNvSpPr txBox="1"/>
            <p:nvPr/>
          </p:nvSpPr>
          <p:spPr>
            <a:xfrm>
              <a:off x="76200" y="38100"/>
              <a:ext cx="660400" cy="698500"/>
            </a:xfrm>
            <a:prstGeom prst="rect">
              <a:avLst/>
            </a:prstGeom>
          </p:spPr>
          <p:txBody>
            <a:bodyPr lIns="33867" tIns="33867" rIns="33867" bIns="33867" rtlCol="0" anchor="ctr"/>
            <a:lstStyle/>
            <a:p>
              <a:pPr algn="ctr">
                <a:lnSpc>
                  <a:spcPts val="2239"/>
                </a:lnSpc>
                <a:spcBef>
                  <a:spcPct val="0"/>
                </a:spcBef>
              </a:pPr>
              <a:endParaRPr sz="1200">
                <a:latin typeface="Calibri" panose="020F0502020204030204" pitchFamily="34" charset="0"/>
                <a:ea typeface="Calibri" panose="020F0502020204030204" pitchFamily="34" charset="0"/>
                <a:cs typeface="Calibri" panose="020F0502020204030204" pitchFamily="34" charset="0"/>
              </a:endParaRPr>
            </a:p>
          </p:txBody>
        </p:sp>
      </p:grpSp>
      <p:grpSp>
        <p:nvGrpSpPr>
          <p:cNvPr id="26" name="Group 26"/>
          <p:cNvGrpSpPr/>
          <p:nvPr/>
        </p:nvGrpSpPr>
        <p:grpSpPr>
          <a:xfrm>
            <a:off x="9461412" y="3861809"/>
            <a:ext cx="998004" cy="99800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858"/>
            </a:solidFill>
            <a:ln cap="sq">
              <a:noFill/>
              <a:prstDash val="solid"/>
              <a:miter/>
            </a:ln>
          </p:spPr>
        </p:sp>
        <p:sp>
          <p:nvSpPr>
            <p:cNvPr id="28" name="TextBox 28"/>
            <p:cNvSpPr txBox="1"/>
            <p:nvPr/>
          </p:nvSpPr>
          <p:spPr>
            <a:xfrm>
              <a:off x="76200" y="38100"/>
              <a:ext cx="660400" cy="698500"/>
            </a:xfrm>
            <a:prstGeom prst="rect">
              <a:avLst/>
            </a:prstGeom>
          </p:spPr>
          <p:txBody>
            <a:bodyPr lIns="33867" tIns="33867" rIns="33867" bIns="33867" rtlCol="0" anchor="ctr"/>
            <a:lstStyle/>
            <a:p>
              <a:pPr algn="ctr">
                <a:lnSpc>
                  <a:spcPts val="2239"/>
                </a:lnSpc>
                <a:spcBef>
                  <a:spcPct val="0"/>
                </a:spcBef>
              </a:pPr>
              <a:endParaRPr sz="1200">
                <a:latin typeface="Calibri" panose="020F0502020204030204" pitchFamily="34" charset="0"/>
                <a:ea typeface="Calibri" panose="020F0502020204030204" pitchFamily="34" charset="0"/>
                <a:cs typeface="Calibri" panose="020F0502020204030204" pitchFamily="34" charset="0"/>
              </a:endParaRPr>
            </a:p>
          </p:txBody>
        </p:sp>
      </p:grpSp>
      <p:sp>
        <p:nvSpPr>
          <p:cNvPr id="29" name="Freeform 29"/>
          <p:cNvSpPr/>
          <p:nvPr/>
        </p:nvSpPr>
        <p:spPr>
          <a:xfrm>
            <a:off x="1956462" y="3221661"/>
            <a:ext cx="552768" cy="603294"/>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0" name="Freeform 30"/>
          <p:cNvSpPr/>
          <p:nvPr/>
        </p:nvSpPr>
        <p:spPr>
          <a:xfrm>
            <a:off x="5080601" y="3257560"/>
            <a:ext cx="482996" cy="531495"/>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1" name="Freeform 31"/>
          <p:cNvSpPr/>
          <p:nvPr/>
        </p:nvSpPr>
        <p:spPr>
          <a:xfrm>
            <a:off x="6605413" y="4113665"/>
            <a:ext cx="531495" cy="494291"/>
          </a:xfrm>
          <a:custGeom>
            <a:avLst/>
            <a:gdLst/>
            <a:ahLst/>
            <a:cxnLst/>
            <a:rect l="l" t="t" r="r" b="b"/>
            <a:pathLst>
              <a:path w="797242" h="741436">
                <a:moveTo>
                  <a:pt x="0" y="0"/>
                </a:moveTo>
                <a:lnTo>
                  <a:pt x="797243" y="0"/>
                </a:lnTo>
                <a:lnTo>
                  <a:pt x="797243" y="741436"/>
                </a:lnTo>
                <a:lnTo>
                  <a:pt x="0" y="74143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32" name="Freeform 32"/>
          <p:cNvSpPr/>
          <p:nvPr/>
        </p:nvSpPr>
        <p:spPr>
          <a:xfrm>
            <a:off x="8145606" y="3274834"/>
            <a:ext cx="531495" cy="496948"/>
          </a:xfrm>
          <a:custGeom>
            <a:avLst/>
            <a:gdLst/>
            <a:ahLst/>
            <a:cxnLst/>
            <a:rect l="l" t="t" r="r" b="b"/>
            <a:pathLst>
              <a:path w="797242" h="745422">
                <a:moveTo>
                  <a:pt x="0" y="0"/>
                </a:moveTo>
                <a:lnTo>
                  <a:pt x="797242" y="0"/>
                </a:lnTo>
                <a:lnTo>
                  <a:pt x="797242" y="745422"/>
                </a:lnTo>
                <a:lnTo>
                  <a:pt x="0" y="7454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33" name="Freeform 33"/>
          <p:cNvSpPr/>
          <p:nvPr/>
        </p:nvSpPr>
        <p:spPr>
          <a:xfrm>
            <a:off x="3518382" y="4099921"/>
            <a:ext cx="527050" cy="521779"/>
          </a:xfrm>
          <a:custGeom>
            <a:avLst/>
            <a:gdLst/>
            <a:ahLst/>
            <a:cxnLst/>
            <a:rect l="l" t="t" r="r" b="b"/>
            <a:pathLst>
              <a:path w="790575" h="782669">
                <a:moveTo>
                  <a:pt x="0" y="0"/>
                </a:moveTo>
                <a:lnTo>
                  <a:pt x="790575" y="0"/>
                </a:lnTo>
                <a:lnTo>
                  <a:pt x="790575" y="782670"/>
                </a:lnTo>
                <a:lnTo>
                  <a:pt x="0" y="78267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34" name="Freeform 34"/>
          <p:cNvSpPr/>
          <p:nvPr/>
        </p:nvSpPr>
        <p:spPr>
          <a:xfrm>
            <a:off x="207914" y="193361"/>
            <a:ext cx="893513" cy="830967"/>
          </a:xfrm>
          <a:custGeom>
            <a:avLst/>
            <a:gdLst/>
            <a:ahLst/>
            <a:cxnLst/>
            <a:rect l="l" t="t" r="r" b="b"/>
            <a:pathLst>
              <a:path w="1340270" h="1246451">
                <a:moveTo>
                  <a:pt x="0" y="0"/>
                </a:moveTo>
                <a:lnTo>
                  <a:pt x="1340269" y="0"/>
                </a:lnTo>
                <a:lnTo>
                  <a:pt x="1340269" y="1246451"/>
                </a:lnTo>
                <a:lnTo>
                  <a:pt x="0" y="124645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35" name="Freeform 35"/>
          <p:cNvSpPr/>
          <p:nvPr/>
        </p:nvSpPr>
        <p:spPr>
          <a:xfrm>
            <a:off x="10555969" y="6121620"/>
            <a:ext cx="2970135" cy="1317997"/>
          </a:xfrm>
          <a:custGeom>
            <a:avLst/>
            <a:gdLst/>
            <a:ahLst/>
            <a:cxnLst/>
            <a:rect l="l" t="t" r="r" b="b"/>
            <a:pathLst>
              <a:path w="4455202" h="1976996">
                <a:moveTo>
                  <a:pt x="0" y="0"/>
                </a:moveTo>
                <a:lnTo>
                  <a:pt x="4455202" y="0"/>
                </a:lnTo>
                <a:lnTo>
                  <a:pt x="4455202" y="1976996"/>
                </a:lnTo>
                <a:lnTo>
                  <a:pt x="0" y="197699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36" name="Freeform 36"/>
          <p:cNvSpPr/>
          <p:nvPr/>
        </p:nvSpPr>
        <p:spPr>
          <a:xfrm>
            <a:off x="10732515" y="-136201"/>
            <a:ext cx="1547371" cy="1160529"/>
          </a:xfrm>
          <a:custGeom>
            <a:avLst/>
            <a:gdLst/>
            <a:ahLst/>
            <a:cxnLst/>
            <a:rect l="l" t="t" r="r" b="b"/>
            <a:pathLst>
              <a:path w="2321057" h="1740793">
                <a:moveTo>
                  <a:pt x="0" y="0"/>
                </a:moveTo>
                <a:lnTo>
                  <a:pt x="2321056" y="0"/>
                </a:lnTo>
                <a:lnTo>
                  <a:pt x="2321056" y="1740793"/>
                </a:lnTo>
                <a:lnTo>
                  <a:pt x="0" y="174079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37" name="Freeform 37"/>
          <p:cNvSpPr/>
          <p:nvPr/>
        </p:nvSpPr>
        <p:spPr>
          <a:xfrm flipH="1">
            <a:off x="-195911" y="5791993"/>
            <a:ext cx="1701164" cy="1456621"/>
          </a:xfrm>
          <a:custGeom>
            <a:avLst/>
            <a:gdLst/>
            <a:ahLst/>
            <a:cxnLst/>
            <a:rect l="l" t="t" r="r" b="b"/>
            <a:pathLst>
              <a:path w="2551746" h="2184932">
                <a:moveTo>
                  <a:pt x="2551745" y="0"/>
                </a:moveTo>
                <a:lnTo>
                  <a:pt x="0" y="0"/>
                </a:lnTo>
                <a:lnTo>
                  <a:pt x="0" y="2184932"/>
                </a:lnTo>
                <a:lnTo>
                  <a:pt x="2551745" y="2184932"/>
                </a:lnTo>
                <a:lnTo>
                  <a:pt x="2551745"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38" name="Freeform 38"/>
          <p:cNvSpPr/>
          <p:nvPr/>
        </p:nvSpPr>
        <p:spPr>
          <a:xfrm flipV="1">
            <a:off x="2232846" y="4464697"/>
            <a:ext cx="662336" cy="469431"/>
          </a:xfrm>
          <a:custGeom>
            <a:avLst/>
            <a:gdLst/>
            <a:ahLst/>
            <a:cxnLst/>
            <a:rect l="l" t="t" r="r" b="b"/>
            <a:pathLst>
              <a:path w="993504" h="704146">
                <a:moveTo>
                  <a:pt x="0" y="704145"/>
                </a:moveTo>
                <a:lnTo>
                  <a:pt x="993503" y="704145"/>
                </a:lnTo>
                <a:lnTo>
                  <a:pt x="993503"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39" name="Freeform 39"/>
          <p:cNvSpPr/>
          <p:nvPr/>
        </p:nvSpPr>
        <p:spPr>
          <a:xfrm flipV="1">
            <a:off x="5322099"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0" name="Freeform 40"/>
          <p:cNvSpPr/>
          <p:nvPr/>
        </p:nvSpPr>
        <p:spPr>
          <a:xfrm>
            <a:off x="3781907" y="2986945"/>
            <a:ext cx="662336" cy="469431"/>
          </a:xfrm>
          <a:custGeom>
            <a:avLst/>
            <a:gdLst/>
            <a:ahLst/>
            <a:cxnLst/>
            <a:rect l="l" t="t" r="r" b="b"/>
            <a:pathLst>
              <a:path w="993504" h="704146">
                <a:moveTo>
                  <a:pt x="0" y="0"/>
                </a:moveTo>
                <a:lnTo>
                  <a:pt x="993503" y="0"/>
                </a:lnTo>
                <a:lnTo>
                  <a:pt x="993503" y="704146"/>
                </a:lnTo>
                <a:lnTo>
                  <a:pt x="0" y="704146"/>
                </a:lnTo>
                <a:lnTo>
                  <a:pt x="0" y="0"/>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1" name="Freeform 41"/>
          <p:cNvSpPr/>
          <p:nvPr/>
        </p:nvSpPr>
        <p:spPr>
          <a:xfrm>
            <a:off x="6917566" y="2837879"/>
            <a:ext cx="923626" cy="654620"/>
          </a:xfrm>
          <a:custGeom>
            <a:avLst/>
            <a:gdLst/>
            <a:ahLst/>
            <a:cxnLst/>
            <a:rect l="l" t="t" r="r" b="b"/>
            <a:pathLst>
              <a:path w="1385439" h="981930">
                <a:moveTo>
                  <a:pt x="0" y="0"/>
                </a:moveTo>
                <a:lnTo>
                  <a:pt x="1385439" y="0"/>
                </a:lnTo>
                <a:lnTo>
                  <a:pt x="1385439" y="981930"/>
                </a:lnTo>
                <a:lnTo>
                  <a:pt x="0" y="981930"/>
                </a:lnTo>
                <a:lnTo>
                  <a:pt x="0" y="0"/>
                </a:lnTo>
                <a:close/>
              </a:path>
            </a:pathLst>
          </a:custGeom>
          <a:blipFill>
            <a:blip r:embed="rId34">
              <a:extLst>
                <a:ext uri="{96DAC541-7B7A-43D3-8B79-37D633B846F1}">
                  <asvg:svgBlip xmlns:asvg="http://schemas.microsoft.com/office/drawing/2016/SVG/main" r:embed="rId35"/>
                </a:ext>
              </a:extLst>
            </a:blip>
            <a:stretch>
              <a:fillRect/>
            </a:stretch>
          </a:blipFill>
          <a:ln cap="sq">
            <a:noFill/>
            <a:prstDash val="solid"/>
            <a:miter/>
          </a:ln>
        </p:spPr>
      </p:sp>
      <p:sp>
        <p:nvSpPr>
          <p:cNvPr id="42" name="Freeform 42"/>
          <p:cNvSpPr/>
          <p:nvPr/>
        </p:nvSpPr>
        <p:spPr>
          <a:xfrm flipV="1">
            <a:off x="8395511"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3" name="Freeform 43"/>
          <p:cNvSpPr/>
          <p:nvPr/>
        </p:nvSpPr>
        <p:spPr>
          <a:xfrm>
            <a:off x="11506200" y="6112001"/>
            <a:ext cx="534837" cy="324022"/>
          </a:xfrm>
          <a:custGeom>
            <a:avLst/>
            <a:gdLst/>
            <a:ahLst/>
            <a:cxnLst/>
            <a:rect l="l" t="t" r="r" b="b"/>
            <a:pathLst>
              <a:path w="802255" h="486033">
                <a:moveTo>
                  <a:pt x="0" y="0"/>
                </a:moveTo>
                <a:lnTo>
                  <a:pt x="802255" y="0"/>
                </a:lnTo>
                <a:lnTo>
                  <a:pt x="802255" y="486033"/>
                </a:lnTo>
                <a:lnTo>
                  <a:pt x="0" y="486033"/>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sp>
      <p:sp>
        <p:nvSpPr>
          <p:cNvPr id="44" name="Freeform 44"/>
          <p:cNvSpPr/>
          <p:nvPr/>
        </p:nvSpPr>
        <p:spPr>
          <a:xfrm>
            <a:off x="9598099" y="3992255"/>
            <a:ext cx="737112" cy="737112"/>
          </a:xfrm>
          <a:custGeom>
            <a:avLst/>
            <a:gdLst/>
            <a:ahLst/>
            <a:cxnLst/>
            <a:rect l="l" t="t" r="r" b="b"/>
            <a:pathLst>
              <a:path w="1105668" h="1105668">
                <a:moveTo>
                  <a:pt x="0" y="0"/>
                </a:moveTo>
                <a:lnTo>
                  <a:pt x="1105668" y="0"/>
                </a:lnTo>
                <a:lnTo>
                  <a:pt x="1105668" y="1105668"/>
                </a:lnTo>
                <a:lnTo>
                  <a:pt x="0" y="11056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45" name="Freeform 45"/>
          <p:cNvSpPr/>
          <p:nvPr/>
        </p:nvSpPr>
        <p:spPr>
          <a:xfrm>
            <a:off x="6509331" y="2400500"/>
            <a:ext cx="637485" cy="1055877"/>
          </a:xfrm>
          <a:custGeom>
            <a:avLst/>
            <a:gdLst/>
            <a:ahLst/>
            <a:cxnLst/>
            <a:rect l="l" t="t" r="r" b="b"/>
            <a:pathLst>
              <a:path w="956228" h="1583815">
                <a:moveTo>
                  <a:pt x="0" y="0"/>
                </a:moveTo>
                <a:lnTo>
                  <a:pt x="956228" y="0"/>
                </a:lnTo>
                <a:lnTo>
                  <a:pt x="956228" y="1583815"/>
                </a:lnTo>
                <a:lnTo>
                  <a:pt x="0" y="1583815"/>
                </a:lnTo>
                <a:lnTo>
                  <a:pt x="0" y="0"/>
                </a:lnTo>
                <a:close/>
              </a:path>
            </a:pathLst>
          </a:custGeom>
          <a:blipFill>
            <a:blip r:embed="rId40"/>
            <a:stretch>
              <a:fillRect/>
            </a:stretch>
          </a:blipFill>
        </p:spPr>
      </p:sp>
      <p:sp>
        <p:nvSpPr>
          <p:cNvPr id="46" name="Freeform 46"/>
          <p:cNvSpPr/>
          <p:nvPr/>
        </p:nvSpPr>
        <p:spPr>
          <a:xfrm>
            <a:off x="11274438" y="3551012"/>
            <a:ext cx="642144" cy="942597"/>
          </a:xfrm>
          <a:custGeom>
            <a:avLst/>
            <a:gdLst/>
            <a:ahLst/>
            <a:cxnLst/>
            <a:rect l="l" t="t" r="r" b="b"/>
            <a:pathLst>
              <a:path w="963216" h="1413895">
                <a:moveTo>
                  <a:pt x="0" y="0"/>
                </a:moveTo>
                <a:lnTo>
                  <a:pt x="963216" y="0"/>
                </a:lnTo>
                <a:lnTo>
                  <a:pt x="963216" y="1413895"/>
                </a:lnTo>
                <a:lnTo>
                  <a:pt x="0" y="141389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47" name="TextBox 47"/>
          <p:cNvSpPr txBox="1"/>
          <p:nvPr/>
        </p:nvSpPr>
        <p:spPr>
          <a:xfrm>
            <a:off x="3781907" y="216909"/>
            <a:ext cx="4320531" cy="607218"/>
          </a:xfrm>
          <a:prstGeom prst="rect">
            <a:avLst/>
          </a:prstGeom>
        </p:spPr>
        <p:txBody>
          <a:bodyPr wrap="square" lIns="0" tIns="0" rIns="0" bIns="0" rtlCol="0" anchor="t">
            <a:spAutoFit/>
          </a:bodyPr>
          <a:lstStyle/>
          <a:p>
            <a:pPr algn="ctr">
              <a:lnSpc>
                <a:spcPts val="4946"/>
              </a:lnSpc>
            </a:pPr>
            <a:r>
              <a:rPr lang="he-IL" sz="3533" b="1" dirty="0">
                <a:solidFill>
                  <a:srgbClr val="151857"/>
                </a:solidFill>
                <a:latin typeface="Calibri" panose="020F0502020204030204" pitchFamily="34" charset="0"/>
                <a:ea typeface="Calibri" panose="020F0502020204030204" pitchFamily="34" charset="0"/>
                <a:cs typeface="Calibri" panose="020F0502020204030204" pitchFamily="34" charset="0"/>
                <a:sym typeface="Heebo Bold"/>
                <a:rtl/>
              </a:rPr>
              <a:t>המסע לסל האישי </a:t>
            </a:r>
            <a:r>
              <a:rPr lang="en-US" sz="3533" b="1" dirty="0">
                <a:solidFill>
                  <a:srgbClr val="151857"/>
                </a:solidFill>
                <a:latin typeface="Calibri" panose="020F0502020204030204" pitchFamily="34" charset="0"/>
                <a:ea typeface="Calibri" panose="020F0502020204030204" pitchFamily="34" charset="0"/>
                <a:cs typeface="Calibri" panose="020F0502020204030204" pitchFamily="34" charset="0"/>
                <a:sym typeface="Heebo Bold"/>
              </a:rPr>
              <a:t>AI</a:t>
            </a:r>
          </a:p>
        </p:txBody>
      </p:sp>
      <p:grpSp>
        <p:nvGrpSpPr>
          <p:cNvPr id="48" name="Group 48"/>
          <p:cNvGrpSpPr/>
          <p:nvPr/>
        </p:nvGrpSpPr>
        <p:grpSpPr>
          <a:xfrm>
            <a:off x="136723" y="1773535"/>
            <a:ext cx="3478816" cy="1172438"/>
            <a:chOff x="0" y="-57151"/>
            <a:chExt cx="6957632" cy="2344877"/>
          </a:xfrm>
        </p:grpSpPr>
        <p:sp>
          <p:nvSpPr>
            <p:cNvPr id="49" name="TextBox 49"/>
            <p:cNvSpPr txBox="1"/>
            <p:nvPr/>
          </p:nvSpPr>
          <p:spPr>
            <a:xfrm>
              <a:off x="658654" y="-57151"/>
              <a:ext cx="5640328" cy="531428"/>
            </a:xfrm>
            <a:prstGeom prst="rect">
              <a:avLst/>
            </a:prstGeom>
          </p:spPr>
          <p:txBody>
            <a:bodyPr lIns="0" tIns="0" rIns="0" bIns="0" rtlCol="0" anchor="t">
              <a:spAutoFit/>
            </a:bodyPr>
            <a:lstStyle/>
            <a:p>
              <a:pPr algn="ctr">
                <a:lnSpc>
                  <a:spcPts val="2239"/>
                </a:lnSpc>
              </a:pPr>
              <a:r>
                <a:rPr lang="he-IL" sz="1600"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tl/>
                </a:rPr>
                <a:t>גיבוש הרפורמה</a:t>
              </a:r>
            </a:p>
          </p:txBody>
        </p:sp>
        <p:sp>
          <p:nvSpPr>
            <p:cNvPr id="50" name="TextBox 50"/>
            <p:cNvSpPr txBox="1"/>
            <p:nvPr/>
          </p:nvSpPr>
          <p:spPr>
            <a:xfrm>
              <a:off x="0" y="717039"/>
              <a:ext cx="6957632" cy="1570687"/>
            </a:xfrm>
            <a:prstGeom prst="rect">
              <a:avLst/>
            </a:prstGeom>
          </p:spPr>
          <p:txBody>
            <a:bodyPr lIns="0" tIns="0" rIns="0" bIns="0" rtlCol="0" anchor="t">
              <a:spAutoFit/>
            </a:bodyPr>
            <a:lstStyle/>
            <a:p>
              <a:pPr marL="331061" lvl="1" indent="-165531">
                <a:lnSpc>
                  <a:spcPts val="2146"/>
                </a:lnSpc>
                <a:buFont typeface="Arial"/>
                <a:buChar char="•"/>
              </a:pPr>
              <a:r>
                <a:rPr lang="he-IL" sz="1533" b="1">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rPr>
                <a:t>גיבוש הצעה לשינוי בשותפות </a:t>
              </a:r>
            </a:p>
            <a:p>
              <a:pPr marL="331061" lvl="1" indent="-165531">
                <a:lnSpc>
                  <a:spcPts val="2146"/>
                </a:lnSpc>
                <a:buFont typeface="Arial"/>
                <a:buChar char="•"/>
              </a:pPr>
              <a:r>
                <a:rPr lang="he-IL" sz="1533" b="1">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rPr>
                <a:t>המלצות הוועדה הבין משרדית</a:t>
              </a:r>
            </a:p>
            <a:p>
              <a:pPr marL="331061" lvl="1" indent="-165531">
                <a:lnSpc>
                  <a:spcPts val="2146"/>
                </a:lnSpc>
                <a:buFont typeface="Arial"/>
                <a:buChar char="•"/>
              </a:pPr>
              <a:r>
                <a:rPr lang="he-IL" sz="1533" b="1">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rPr>
                <a:t>חוק ההסדרים </a:t>
              </a:r>
              <a:r>
                <a:rPr lang="en-US" sz="1533" b="1">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Pr>
                <a:t>2023</a:t>
              </a:r>
            </a:p>
          </p:txBody>
        </p:sp>
      </p:grpSp>
      <p:sp>
        <p:nvSpPr>
          <p:cNvPr id="51" name="TextBox 51"/>
          <p:cNvSpPr txBox="1"/>
          <p:nvPr/>
        </p:nvSpPr>
        <p:spPr>
          <a:xfrm>
            <a:off x="2482411" y="4896027"/>
            <a:ext cx="2505929" cy="265714"/>
          </a:xfrm>
          <a:prstGeom prst="rect">
            <a:avLst/>
          </a:prstGeom>
        </p:spPr>
        <p:txBody>
          <a:bodyPr lIns="0" tIns="0" rIns="0" bIns="0" rtlCol="0" anchor="t">
            <a:spAutoFit/>
          </a:bodyPr>
          <a:lstStyle/>
          <a:p>
            <a:pPr algn="ctr">
              <a:lnSpc>
                <a:spcPts val="2239"/>
              </a:lnSpc>
            </a:pPr>
            <a:r>
              <a:rPr lang="he-IL" sz="1600"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tl/>
              </a:rPr>
              <a:t>מחקר, ביסוס ולמידה</a:t>
            </a:r>
          </a:p>
        </p:txBody>
      </p:sp>
      <p:sp>
        <p:nvSpPr>
          <p:cNvPr id="52" name="TextBox 52"/>
          <p:cNvSpPr txBox="1"/>
          <p:nvPr/>
        </p:nvSpPr>
        <p:spPr>
          <a:xfrm>
            <a:off x="4014401" y="1301795"/>
            <a:ext cx="2468541" cy="265714"/>
          </a:xfrm>
          <a:prstGeom prst="rect">
            <a:avLst/>
          </a:prstGeom>
        </p:spPr>
        <p:txBody>
          <a:bodyPr lIns="0" tIns="0" rIns="0" bIns="0" rtlCol="0" anchor="t">
            <a:spAutoFit/>
          </a:bodyPr>
          <a:lstStyle/>
          <a:p>
            <a:pPr algn="ctr">
              <a:lnSpc>
                <a:spcPts val="2239"/>
              </a:lnSpc>
            </a:pPr>
            <a:r>
              <a:rPr lang="he-IL" sz="1600"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tl/>
              </a:rPr>
              <a:t>עיצוב ותיקוף מודל השירות</a:t>
            </a:r>
          </a:p>
        </p:txBody>
      </p:sp>
      <p:sp>
        <p:nvSpPr>
          <p:cNvPr id="53" name="TextBox 53"/>
          <p:cNvSpPr txBox="1"/>
          <p:nvPr/>
        </p:nvSpPr>
        <p:spPr>
          <a:xfrm>
            <a:off x="5679913" y="5092415"/>
            <a:ext cx="2920480" cy="264047"/>
          </a:xfrm>
          <a:prstGeom prst="rect">
            <a:avLst/>
          </a:prstGeom>
        </p:spPr>
        <p:txBody>
          <a:bodyPr lIns="0" tIns="0" rIns="0" bIns="0" rtlCol="0" anchor="t">
            <a:spAutoFit/>
          </a:bodyPr>
          <a:lstStyle/>
          <a:p>
            <a:pPr algn="ctr">
              <a:lnSpc>
                <a:spcPts val="2239"/>
              </a:lnSpc>
            </a:pPr>
            <a:r>
              <a:rPr lang="he-IL" sz="1600"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tl/>
              </a:rPr>
              <a:t>תהליכים מקבילים ומשלימים-</a:t>
            </a:r>
            <a:r>
              <a:rPr lang="en-US" sz="1600"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Pr>
              <a:t>Q1</a:t>
            </a:r>
            <a:r>
              <a:rPr lang="ar-EG" sz="1600"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tl/>
              </a:rPr>
              <a:t> </a:t>
            </a:r>
          </a:p>
        </p:txBody>
      </p:sp>
      <p:sp>
        <p:nvSpPr>
          <p:cNvPr id="54" name="TextBox 54"/>
          <p:cNvSpPr txBox="1"/>
          <p:nvPr/>
        </p:nvSpPr>
        <p:spPr>
          <a:xfrm>
            <a:off x="7475568" y="1849026"/>
            <a:ext cx="2403065" cy="289503"/>
          </a:xfrm>
          <a:prstGeom prst="rect">
            <a:avLst/>
          </a:prstGeom>
        </p:spPr>
        <p:txBody>
          <a:bodyPr lIns="0" tIns="0" rIns="0" bIns="0" rtlCol="0" anchor="t">
            <a:spAutoFit/>
          </a:bodyPr>
          <a:lstStyle/>
          <a:p>
            <a:pPr algn="ctr">
              <a:lnSpc>
                <a:spcPts val="2426"/>
              </a:lnSpc>
            </a:pPr>
            <a:r>
              <a:rPr lang="he-IL" sz="1733"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tl/>
              </a:rPr>
              <a:t>צעדים להמשך</a:t>
            </a:r>
          </a:p>
        </p:txBody>
      </p:sp>
      <p:grpSp>
        <p:nvGrpSpPr>
          <p:cNvPr id="55" name="Group 55"/>
          <p:cNvGrpSpPr/>
          <p:nvPr/>
        </p:nvGrpSpPr>
        <p:grpSpPr>
          <a:xfrm>
            <a:off x="8820259" y="4816290"/>
            <a:ext cx="2403065" cy="1993222"/>
            <a:chOff x="0" y="-57149"/>
            <a:chExt cx="4806131" cy="3986443"/>
          </a:xfrm>
        </p:grpSpPr>
        <p:sp>
          <p:nvSpPr>
            <p:cNvPr id="56" name="TextBox 56"/>
            <p:cNvSpPr txBox="1"/>
            <p:nvPr/>
          </p:nvSpPr>
          <p:spPr>
            <a:xfrm>
              <a:off x="700568" y="-57149"/>
              <a:ext cx="3404995" cy="1092350"/>
            </a:xfrm>
            <a:prstGeom prst="rect">
              <a:avLst/>
            </a:prstGeom>
          </p:spPr>
          <p:txBody>
            <a:bodyPr lIns="0" tIns="0" rIns="0" bIns="0" rtlCol="0" anchor="t">
              <a:spAutoFit/>
            </a:bodyPr>
            <a:lstStyle/>
            <a:p>
              <a:pPr algn="ctr">
                <a:lnSpc>
                  <a:spcPts val="2239"/>
                </a:lnSpc>
              </a:pPr>
              <a:r>
                <a:rPr lang="he-IL" sz="1600"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tl/>
                </a:rPr>
                <a:t>סל תפקוד מותאם אישית </a:t>
              </a:r>
              <a:r>
                <a:rPr lang="en-US" sz="1600" b="1">
                  <a:solidFill>
                    <a:srgbClr val="151857"/>
                  </a:solidFill>
                  <a:latin typeface="Calibri" panose="020F0502020204030204" pitchFamily="34" charset="0"/>
                  <a:ea typeface="Calibri" panose="020F0502020204030204" pitchFamily="34" charset="0"/>
                  <a:cs typeface="Calibri" panose="020F0502020204030204" pitchFamily="34" charset="0"/>
                  <a:sym typeface="Liberation Sans Bold"/>
                </a:rPr>
                <a:t>AI</a:t>
              </a:r>
            </a:p>
          </p:txBody>
        </p:sp>
        <p:sp>
          <p:nvSpPr>
            <p:cNvPr id="57" name="TextBox 57"/>
            <p:cNvSpPr txBox="1"/>
            <p:nvPr/>
          </p:nvSpPr>
          <p:spPr>
            <a:xfrm>
              <a:off x="0" y="1285365"/>
              <a:ext cx="4806131" cy="2643929"/>
            </a:xfrm>
            <a:prstGeom prst="rect">
              <a:avLst/>
            </a:prstGeom>
          </p:spPr>
          <p:txBody>
            <a:bodyPr lIns="0" tIns="0" rIns="0" bIns="0" rtlCol="0" anchor="t">
              <a:spAutoFit/>
            </a:bodyPr>
            <a:lstStyle/>
            <a:p>
              <a:pPr algn="ctr">
                <a:lnSpc>
                  <a:spcPts val="2053"/>
                </a:lnSpc>
              </a:pPr>
              <a:r>
                <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rPr>
                <a:t>האדם במרכז- ולא המערכות</a:t>
              </a:r>
            </a:p>
            <a:p>
              <a:pPr algn="ctr">
                <a:lnSpc>
                  <a:spcPts val="2053"/>
                </a:lnSpc>
              </a:pPr>
              <a:r>
                <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rPr>
                <a:t>הזדקנות מיטבית</a:t>
              </a:r>
            </a:p>
            <a:p>
              <a:pPr algn="ctr">
                <a:lnSpc>
                  <a:spcPts val="2053"/>
                </a:lnSpc>
              </a:pPr>
              <a:r>
                <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rPr>
                <a:t>מניעת הדרדרות</a:t>
              </a:r>
            </a:p>
            <a:p>
              <a:pPr algn="ctr">
                <a:lnSpc>
                  <a:spcPts val="2053"/>
                </a:lnSpc>
              </a:pPr>
              <a:r>
                <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rPr>
                <a:t>בחירה אישית במרקט פלייס</a:t>
              </a:r>
            </a:p>
            <a:p>
              <a:pPr algn="ctr">
                <a:lnSpc>
                  <a:spcPts val="2053"/>
                </a:lnSpc>
              </a:pPr>
              <a:endPar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endParaRPr>
            </a:p>
          </p:txBody>
        </p:sp>
      </p:grpSp>
      <p:sp>
        <p:nvSpPr>
          <p:cNvPr id="58" name="TextBox 58"/>
          <p:cNvSpPr txBox="1"/>
          <p:nvPr/>
        </p:nvSpPr>
        <p:spPr>
          <a:xfrm>
            <a:off x="4321307" y="1802036"/>
            <a:ext cx="2050851" cy="1112099"/>
          </a:xfrm>
          <a:prstGeom prst="rect">
            <a:avLst/>
          </a:prstGeom>
        </p:spPr>
        <p:txBody>
          <a:bodyPr lIns="0" tIns="0" rIns="0" bIns="0" rtlCol="0" anchor="t">
            <a:spAutoFit/>
          </a:bodyPr>
          <a:lstStyle/>
          <a:p>
            <a:pPr algn="ctr">
              <a:lnSpc>
                <a:spcPts val="2239"/>
              </a:lnSpc>
            </a:pPr>
            <a:r>
              <a:rPr lang="he-IL" sz="1600" b="1">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סדנת עיצוב שירות</a:t>
            </a:r>
          </a:p>
          <a:p>
            <a:pPr>
              <a:lnSpc>
                <a:spcPts val="2239"/>
              </a:lnSpc>
            </a:pPr>
            <a:r>
              <a:rPr lang="ar-EG" sz="1600" b="1">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       </a:t>
            </a:r>
            <a:r>
              <a:rPr lang="he-IL" sz="1600" b="1">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מה? איך? ולמי?</a:t>
            </a:r>
          </a:p>
          <a:p>
            <a:pPr marL="345457" lvl="1" indent="-172729">
              <a:lnSpc>
                <a:spcPts val="2239"/>
              </a:lnSpc>
              <a:buFont typeface="Arial"/>
              <a:buChar char="•"/>
            </a:pPr>
            <a:r>
              <a:rPr lang="he-IL" sz="1600" b="1">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מסע לקוח מחודש </a:t>
            </a:r>
          </a:p>
          <a:p>
            <a:pPr marL="345457" lvl="1" indent="-172729">
              <a:lnSpc>
                <a:spcPts val="2239"/>
              </a:lnSpc>
              <a:buFont typeface="Arial"/>
              <a:buChar char="•"/>
            </a:pPr>
            <a:r>
              <a:rPr lang="he-IL" sz="1600" b="1">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עקרונות הפיילוטים</a:t>
            </a:r>
          </a:p>
        </p:txBody>
      </p:sp>
      <p:sp>
        <p:nvSpPr>
          <p:cNvPr id="59" name="TextBox 59"/>
          <p:cNvSpPr txBox="1"/>
          <p:nvPr/>
        </p:nvSpPr>
        <p:spPr>
          <a:xfrm>
            <a:off x="5457155" y="5439125"/>
            <a:ext cx="3219946" cy="783420"/>
          </a:xfrm>
          <a:prstGeom prst="rect">
            <a:avLst/>
          </a:prstGeom>
        </p:spPr>
        <p:txBody>
          <a:bodyPr lIns="0" tIns="0" rIns="0" bIns="0" rtlCol="0" anchor="t">
            <a:spAutoFit/>
          </a:bodyPr>
          <a:lstStyle/>
          <a:p>
            <a:pPr marL="316677" lvl="1" indent="-158339">
              <a:lnSpc>
                <a:spcPts val="2053"/>
              </a:lnSpc>
              <a:buFont typeface="Arial"/>
              <a:buChar char="•"/>
            </a:pPr>
            <a:r>
              <a:rPr lang="he-IL" sz="1467"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המלצות צוות המדדים  </a:t>
            </a:r>
          </a:p>
          <a:p>
            <a:pPr marL="316677" lvl="1" indent="-158339">
              <a:lnSpc>
                <a:spcPts val="2053"/>
              </a:lnSpc>
              <a:buFont typeface="Arial"/>
              <a:buChar char="•"/>
            </a:pPr>
            <a:r>
              <a:rPr lang="he-IL" sz="1467"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פיתוח פלטפורמה דיגיטלית תומכת.</a:t>
            </a:r>
          </a:p>
          <a:p>
            <a:pPr marL="316677" lvl="1" indent="-158339">
              <a:lnSpc>
                <a:spcPts val="2053"/>
              </a:lnSpc>
              <a:buFont typeface="Arial"/>
              <a:buChar char="•"/>
            </a:pPr>
            <a:r>
              <a:rPr lang="he-IL" sz="1467"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גיבוש מודל תמריצים</a:t>
            </a:r>
          </a:p>
        </p:txBody>
      </p:sp>
      <p:sp>
        <p:nvSpPr>
          <p:cNvPr id="60" name="TextBox 60"/>
          <p:cNvSpPr txBox="1"/>
          <p:nvPr/>
        </p:nvSpPr>
        <p:spPr>
          <a:xfrm>
            <a:off x="7197617" y="2205049"/>
            <a:ext cx="2404467" cy="783356"/>
          </a:xfrm>
          <a:prstGeom prst="rect">
            <a:avLst/>
          </a:prstGeom>
        </p:spPr>
        <p:txBody>
          <a:bodyPr lIns="0" tIns="0" rIns="0" bIns="0" rtlCol="0" anchor="t">
            <a:spAutoFit/>
          </a:bodyPr>
          <a:lstStyle/>
          <a:p>
            <a:pPr marL="316668" lvl="1" indent="-158335">
              <a:lnSpc>
                <a:spcPts val="2053"/>
              </a:lnSpc>
              <a:buAutoNum type="arabicPeriod"/>
            </a:pPr>
            <a:r>
              <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גיבוש והרחבת </a:t>
            </a:r>
            <a:r>
              <a:rPr lang="he-IL" sz="1466" b="1"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הפיילוטים</a:t>
            </a:r>
            <a:endPar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endParaRPr>
          </a:p>
          <a:p>
            <a:pPr marL="316668" lvl="1" indent="-158335">
              <a:lnSpc>
                <a:spcPts val="2053"/>
              </a:lnSpc>
              <a:buAutoNum type="arabicPeriod"/>
            </a:pPr>
            <a:r>
              <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מדידה והערכה</a:t>
            </a:r>
          </a:p>
          <a:p>
            <a:pPr marL="316668" lvl="1" indent="-158335">
              <a:lnSpc>
                <a:spcPts val="2053"/>
              </a:lnSpc>
              <a:buAutoNum type="arabicPeriod"/>
            </a:pPr>
            <a:r>
              <a:rPr lang="he-IL" sz="1466" b="1"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סקיילינג</a:t>
            </a:r>
            <a:r>
              <a:rPr lang="he-IL" sz="1466"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 ארצי</a:t>
            </a:r>
          </a:p>
        </p:txBody>
      </p:sp>
      <p:sp>
        <p:nvSpPr>
          <p:cNvPr id="61" name="TextBox 61"/>
          <p:cNvSpPr txBox="1"/>
          <p:nvPr/>
        </p:nvSpPr>
        <p:spPr>
          <a:xfrm>
            <a:off x="8758882" y="5964140"/>
            <a:ext cx="2403065" cy="265714"/>
          </a:xfrm>
          <a:prstGeom prst="rect">
            <a:avLst/>
          </a:prstGeom>
        </p:spPr>
        <p:txBody>
          <a:bodyPr lIns="0" tIns="0" rIns="0" bIns="0" rtlCol="0" anchor="t">
            <a:spAutoFit/>
          </a:bodyPr>
          <a:lstStyle/>
          <a:p>
            <a:pPr algn="ctr">
              <a:lnSpc>
                <a:spcPts val="2239"/>
              </a:lnSpc>
              <a:spcBef>
                <a:spcPct val="0"/>
              </a:spcBef>
            </a:pPr>
            <a:r>
              <a:rPr lang="he-IL" sz="1600" b="1">
                <a:solidFill>
                  <a:srgbClr val="000000"/>
                </a:solidFill>
                <a:latin typeface="Calibri" panose="020F0502020204030204" pitchFamily="34" charset="0"/>
                <a:ea typeface="Calibri" panose="020F0502020204030204" pitchFamily="34" charset="0"/>
                <a:cs typeface="Calibri" panose="020F0502020204030204" pitchFamily="34" charset="0"/>
                <a:sym typeface="Liberation Sans Bold"/>
                <a:rtl/>
              </a:rPr>
              <a:t>י</a:t>
            </a:r>
          </a:p>
        </p:txBody>
      </p:sp>
      <p:sp>
        <p:nvSpPr>
          <p:cNvPr id="62" name="TextBox 62"/>
          <p:cNvSpPr txBox="1"/>
          <p:nvPr/>
        </p:nvSpPr>
        <p:spPr>
          <a:xfrm>
            <a:off x="757166" y="5243502"/>
            <a:ext cx="4471194" cy="785343"/>
          </a:xfrm>
          <a:prstGeom prst="rect">
            <a:avLst/>
          </a:prstGeom>
        </p:spPr>
        <p:txBody>
          <a:bodyPr lIns="0" tIns="0" rIns="0" bIns="0" rtlCol="0" anchor="t">
            <a:spAutoFit/>
          </a:bodyPr>
          <a:lstStyle/>
          <a:p>
            <a:pPr marL="331064" lvl="1" indent="-165532">
              <a:lnSpc>
                <a:spcPts val="2147"/>
              </a:lnSpc>
              <a:buFont typeface="Arial"/>
              <a:buChar char="•"/>
            </a:pPr>
            <a:r>
              <a:rPr lang="he-IL" sz="1533"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מחקר שטח עם נותני ומקבלי השירותים</a:t>
            </a:r>
          </a:p>
          <a:p>
            <a:pPr marL="331064" lvl="1" indent="-165532">
              <a:lnSpc>
                <a:spcPts val="2147"/>
              </a:lnSpc>
              <a:buFont typeface="Arial"/>
              <a:buChar char="•"/>
            </a:pPr>
            <a:r>
              <a:rPr lang="he-IL" sz="1533"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גיבוש מנגנון הפעלה משותף</a:t>
            </a:r>
          </a:p>
          <a:p>
            <a:pPr marL="331064" lvl="1" indent="-165532">
              <a:lnSpc>
                <a:spcPts val="2147"/>
              </a:lnSpc>
              <a:buFont typeface="Arial"/>
              <a:buChar char="•"/>
            </a:pPr>
            <a:r>
              <a:rPr lang="en-US" sz="1533"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Pr>
              <a:t>2</a:t>
            </a:r>
            <a:r>
              <a:rPr lang="he-IL" sz="1533"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 </a:t>
            </a:r>
            <a:r>
              <a:rPr lang="he-IL" sz="1533" b="1"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פיילוטים</a:t>
            </a:r>
            <a:r>
              <a:rPr lang="he-IL" sz="1533" b="1" dirty="0">
                <a:solidFill>
                  <a:srgbClr val="000000"/>
                </a:solidFill>
                <a:latin typeface="Calibri" panose="020F0502020204030204" pitchFamily="34" charset="0"/>
                <a:ea typeface="Calibri" panose="020F0502020204030204" pitchFamily="34" charset="0"/>
                <a:cs typeface="Calibri" panose="020F0502020204030204" pitchFamily="34" charset="0"/>
                <a:sym typeface="Arimo Bold"/>
                <a:rtl/>
              </a:rPr>
              <a:t> פעילים עם למידה מתמשכת מהשטח</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3026378" y="4859813"/>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223324" y="-1801252"/>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85800" y="3240311"/>
            <a:ext cx="10820400" cy="1393127"/>
          </a:xfrm>
          <a:custGeom>
            <a:avLst/>
            <a:gdLst/>
            <a:ahLst/>
            <a:cxnLst/>
            <a:rect l="l" t="t" r="r" b="b"/>
            <a:pathLst>
              <a:path w="16230600" h="2089690">
                <a:moveTo>
                  <a:pt x="0" y="0"/>
                </a:moveTo>
                <a:lnTo>
                  <a:pt x="16230600" y="0"/>
                </a:lnTo>
                <a:lnTo>
                  <a:pt x="16230600" y="2089690"/>
                </a:lnTo>
                <a:lnTo>
                  <a:pt x="0" y="20896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1369586" y="2660048"/>
            <a:ext cx="1726521" cy="1726521"/>
          </a:xfrm>
          <a:custGeom>
            <a:avLst/>
            <a:gdLst/>
            <a:ahLst/>
            <a:cxnLst/>
            <a:rect l="l" t="t" r="r" b="b"/>
            <a:pathLst>
              <a:path w="2589782" h="2589782">
                <a:moveTo>
                  <a:pt x="0" y="0"/>
                </a:moveTo>
                <a:lnTo>
                  <a:pt x="2589782" y="0"/>
                </a:lnTo>
                <a:lnTo>
                  <a:pt x="2589782" y="2589782"/>
                </a:lnTo>
                <a:lnTo>
                  <a:pt x="0" y="2589782"/>
                </a:lnTo>
                <a:lnTo>
                  <a:pt x="0" y="0"/>
                </a:lnTo>
                <a:close/>
              </a:path>
            </a:pathLst>
          </a:custGeom>
          <a:blipFill>
            <a:blip r:embed="rId6">
              <a:alphaModFix amt="16000"/>
              <a:extLst>
                <a:ext uri="{96DAC541-7B7A-43D3-8B79-37D633B846F1}">
                  <asvg:svgBlip xmlns:asvg="http://schemas.microsoft.com/office/drawing/2016/SVG/main" r:embed="rId7"/>
                </a:ext>
              </a:extLst>
            </a:blip>
            <a:stretch>
              <a:fillRect/>
            </a:stretch>
          </a:blipFill>
        </p:spPr>
      </p:sp>
      <p:sp>
        <p:nvSpPr>
          <p:cNvPr id="6" name="Freeform 6"/>
          <p:cNvSpPr/>
          <p:nvPr/>
        </p:nvSpPr>
        <p:spPr>
          <a:xfrm>
            <a:off x="2918624" y="3523286"/>
            <a:ext cx="1726565" cy="1726565"/>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8">
              <a:alphaModFix amt="16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a:off x="6007878" y="3523330"/>
            <a:ext cx="1726565" cy="1726565"/>
          </a:xfrm>
          <a:custGeom>
            <a:avLst/>
            <a:gdLst/>
            <a:ahLst/>
            <a:cxnLst/>
            <a:rect l="l" t="t" r="r" b="b"/>
            <a:pathLst>
              <a:path w="2589847" h="2589847">
                <a:moveTo>
                  <a:pt x="0" y="0"/>
                </a:moveTo>
                <a:lnTo>
                  <a:pt x="2589847" y="0"/>
                </a:lnTo>
                <a:lnTo>
                  <a:pt x="2589847"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9103373" y="3523330"/>
            <a:ext cx="1726565" cy="1726565"/>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sp>
      <p:sp>
        <p:nvSpPr>
          <p:cNvPr id="9" name="Freeform 9"/>
          <p:cNvSpPr/>
          <p:nvPr/>
        </p:nvSpPr>
        <p:spPr>
          <a:xfrm>
            <a:off x="4458818" y="2660048"/>
            <a:ext cx="1726565" cy="1726565"/>
          </a:xfrm>
          <a:custGeom>
            <a:avLst/>
            <a:gdLst/>
            <a:ahLst/>
            <a:cxnLst/>
            <a:rect l="l" t="t" r="r" b="b"/>
            <a:pathLst>
              <a:path w="2589847" h="2589848">
                <a:moveTo>
                  <a:pt x="0" y="0"/>
                </a:moveTo>
                <a:lnTo>
                  <a:pt x="2589847" y="0"/>
                </a:lnTo>
                <a:lnTo>
                  <a:pt x="2589847"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sp>
      <p:sp>
        <p:nvSpPr>
          <p:cNvPr id="10" name="Freeform 10"/>
          <p:cNvSpPr/>
          <p:nvPr/>
        </p:nvSpPr>
        <p:spPr>
          <a:xfrm>
            <a:off x="7554312" y="2660048"/>
            <a:ext cx="1726565" cy="1726565"/>
          </a:xfrm>
          <a:custGeom>
            <a:avLst/>
            <a:gdLst/>
            <a:ahLst/>
            <a:cxnLst/>
            <a:rect l="l" t="t" r="r" b="b"/>
            <a:pathLst>
              <a:path w="2589848" h="2589848">
                <a:moveTo>
                  <a:pt x="0" y="0"/>
                </a:moveTo>
                <a:lnTo>
                  <a:pt x="2589848" y="0"/>
                </a:lnTo>
                <a:lnTo>
                  <a:pt x="2589848"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sp>
      <p:grpSp>
        <p:nvGrpSpPr>
          <p:cNvPr id="11" name="Group 11"/>
          <p:cNvGrpSpPr/>
          <p:nvPr/>
        </p:nvGrpSpPr>
        <p:grpSpPr>
          <a:xfrm>
            <a:off x="1733844" y="3024306"/>
            <a:ext cx="998004" cy="99800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BD7D"/>
            </a:solidFill>
            <a:ln cap="sq">
              <a:noFill/>
              <a:prstDash val="solid"/>
              <a:miter/>
            </a:ln>
          </p:spPr>
        </p:sp>
        <p:sp>
          <p:nvSpPr>
            <p:cNvPr id="13" name="TextBox 13"/>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4" name="Group 14"/>
          <p:cNvGrpSpPr/>
          <p:nvPr/>
        </p:nvGrpSpPr>
        <p:grpSpPr>
          <a:xfrm>
            <a:off x="3282905" y="3861809"/>
            <a:ext cx="998004" cy="99800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882"/>
            </a:solidFill>
            <a:ln cap="sq">
              <a:noFill/>
              <a:prstDash val="solid"/>
              <a:miter/>
            </a:ln>
          </p:spPr>
        </p:sp>
        <p:sp>
          <p:nvSpPr>
            <p:cNvPr id="16" name="TextBox 16"/>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7" name="Group 17"/>
          <p:cNvGrpSpPr/>
          <p:nvPr/>
        </p:nvGrpSpPr>
        <p:grpSpPr>
          <a:xfrm>
            <a:off x="4823097" y="3024306"/>
            <a:ext cx="998004" cy="99800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A986"/>
            </a:solidFill>
            <a:ln cap="sq">
              <a:noFill/>
              <a:prstDash val="solid"/>
              <a:miter/>
            </a:ln>
          </p:spPr>
        </p:sp>
        <p:sp>
          <p:nvSpPr>
            <p:cNvPr id="19" name="TextBox 19"/>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0" name="Group 20"/>
          <p:cNvGrpSpPr/>
          <p:nvPr/>
        </p:nvGrpSpPr>
        <p:grpSpPr>
          <a:xfrm>
            <a:off x="6372158" y="3861809"/>
            <a:ext cx="998004" cy="998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6071"/>
            </a:solidFill>
            <a:ln cap="sq">
              <a:noFill/>
              <a:prstDash val="solid"/>
              <a:miter/>
            </a:ln>
          </p:spPr>
        </p:sp>
        <p:sp>
          <p:nvSpPr>
            <p:cNvPr id="22" name="TextBox 22"/>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3" name="Group 23"/>
          <p:cNvGrpSpPr/>
          <p:nvPr/>
        </p:nvGrpSpPr>
        <p:grpSpPr>
          <a:xfrm>
            <a:off x="7912351" y="3024306"/>
            <a:ext cx="998004" cy="99800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189"/>
            </a:solidFill>
            <a:ln cap="sq">
              <a:noFill/>
              <a:prstDash val="solid"/>
              <a:miter/>
            </a:ln>
          </p:spPr>
        </p:sp>
        <p:sp>
          <p:nvSpPr>
            <p:cNvPr id="25" name="TextBox 25"/>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6" name="Group 26"/>
          <p:cNvGrpSpPr/>
          <p:nvPr/>
        </p:nvGrpSpPr>
        <p:grpSpPr>
          <a:xfrm>
            <a:off x="9461412" y="3861809"/>
            <a:ext cx="998004" cy="99800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858"/>
            </a:solidFill>
            <a:ln cap="sq">
              <a:noFill/>
              <a:prstDash val="solid"/>
              <a:miter/>
            </a:ln>
          </p:spPr>
        </p:sp>
        <p:sp>
          <p:nvSpPr>
            <p:cNvPr id="28" name="TextBox 28"/>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sp>
        <p:nvSpPr>
          <p:cNvPr id="29" name="Freeform 29"/>
          <p:cNvSpPr/>
          <p:nvPr/>
        </p:nvSpPr>
        <p:spPr>
          <a:xfrm>
            <a:off x="1956462" y="3221661"/>
            <a:ext cx="552768" cy="603294"/>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0" name="Freeform 30"/>
          <p:cNvSpPr/>
          <p:nvPr/>
        </p:nvSpPr>
        <p:spPr>
          <a:xfrm>
            <a:off x="5080601" y="3257560"/>
            <a:ext cx="482996" cy="531495"/>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1" name="Freeform 31"/>
          <p:cNvSpPr/>
          <p:nvPr/>
        </p:nvSpPr>
        <p:spPr>
          <a:xfrm>
            <a:off x="6605413" y="4113665"/>
            <a:ext cx="531495" cy="494291"/>
          </a:xfrm>
          <a:custGeom>
            <a:avLst/>
            <a:gdLst/>
            <a:ahLst/>
            <a:cxnLst/>
            <a:rect l="l" t="t" r="r" b="b"/>
            <a:pathLst>
              <a:path w="797242" h="741436">
                <a:moveTo>
                  <a:pt x="0" y="0"/>
                </a:moveTo>
                <a:lnTo>
                  <a:pt x="797243" y="0"/>
                </a:lnTo>
                <a:lnTo>
                  <a:pt x="797243" y="741436"/>
                </a:lnTo>
                <a:lnTo>
                  <a:pt x="0" y="74143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32" name="Freeform 32"/>
          <p:cNvSpPr/>
          <p:nvPr/>
        </p:nvSpPr>
        <p:spPr>
          <a:xfrm>
            <a:off x="8145606" y="3274834"/>
            <a:ext cx="531495" cy="496948"/>
          </a:xfrm>
          <a:custGeom>
            <a:avLst/>
            <a:gdLst/>
            <a:ahLst/>
            <a:cxnLst/>
            <a:rect l="l" t="t" r="r" b="b"/>
            <a:pathLst>
              <a:path w="797242" h="745422">
                <a:moveTo>
                  <a:pt x="0" y="0"/>
                </a:moveTo>
                <a:lnTo>
                  <a:pt x="797242" y="0"/>
                </a:lnTo>
                <a:lnTo>
                  <a:pt x="797242" y="745422"/>
                </a:lnTo>
                <a:lnTo>
                  <a:pt x="0" y="7454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33" name="Freeform 33"/>
          <p:cNvSpPr/>
          <p:nvPr/>
        </p:nvSpPr>
        <p:spPr>
          <a:xfrm>
            <a:off x="3518382" y="4099921"/>
            <a:ext cx="527050" cy="521779"/>
          </a:xfrm>
          <a:custGeom>
            <a:avLst/>
            <a:gdLst/>
            <a:ahLst/>
            <a:cxnLst/>
            <a:rect l="l" t="t" r="r" b="b"/>
            <a:pathLst>
              <a:path w="790575" h="782669">
                <a:moveTo>
                  <a:pt x="0" y="0"/>
                </a:moveTo>
                <a:lnTo>
                  <a:pt x="790575" y="0"/>
                </a:lnTo>
                <a:lnTo>
                  <a:pt x="790575" y="782670"/>
                </a:lnTo>
                <a:lnTo>
                  <a:pt x="0" y="78267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34" name="Freeform 34"/>
          <p:cNvSpPr/>
          <p:nvPr/>
        </p:nvSpPr>
        <p:spPr>
          <a:xfrm>
            <a:off x="207914" y="193361"/>
            <a:ext cx="893513" cy="830967"/>
          </a:xfrm>
          <a:custGeom>
            <a:avLst/>
            <a:gdLst/>
            <a:ahLst/>
            <a:cxnLst/>
            <a:rect l="l" t="t" r="r" b="b"/>
            <a:pathLst>
              <a:path w="1340270" h="1246451">
                <a:moveTo>
                  <a:pt x="0" y="0"/>
                </a:moveTo>
                <a:lnTo>
                  <a:pt x="1340269" y="0"/>
                </a:lnTo>
                <a:lnTo>
                  <a:pt x="1340269" y="1246451"/>
                </a:lnTo>
                <a:lnTo>
                  <a:pt x="0" y="124645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35" name="Freeform 35"/>
          <p:cNvSpPr/>
          <p:nvPr/>
        </p:nvSpPr>
        <p:spPr>
          <a:xfrm>
            <a:off x="10555969" y="6121620"/>
            <a:ext cx="2970135" cy="1317997"/>
          </a:xfrm>
          <a:custGeom>
            <a:avLst/>
            <a:gdLst/>
            <a:ahLst/>
            <a:cxnLst/>
            <a:rect l="l" t="t" r="r" b="b"/>
            <a:pathLst>
              <a:path w="4455202" h="1976996">
                <a:moveTo>
                  <a:pt x="0" y="0"/>
                </a:moveTo>
                <a:lnTo>
                  <a:pt x="4455202" y="0"/>
                </a:lnTo>
                <a:lnTo>
                  <a:pt x="4455202" y="1976996"/>
                </a:lnTo>
                <a:lnTo>
                  <a:pt x="0" y="197699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36" name="Freeform 36"/>
          <p:cNvSpPr/>
          <p:nvPr/>
        </p:nvSpPr>
        <p:spPr>
          <a:xfrm>
            <a:off x="10732515" y="-136201"/>
            <a:ext cx="1547371" cy="1160529"/>
          </a:xfrm>
          <a:custGeom>
            <a:avLst/>
            <a:gdLst/>
            <a:ahLst/>
            <a:cxnLst/>
            <a:rect l="l" t="t" r="r" b="b"/>
            <a:pathLst>
              <a:path w="2321057" h="1740793">
                <a:moveTo>
                  <a:pt x="0" y="0"/>
                </a:moveTo>
                <a:lnTo>
                  <a:pt x="2321056" y="0"/>
                </a:lnTo>
                <a:lnTo>
                  <a:pt x="2321056" y="1740793"/>
                </a:lnTo>
                <a:lnTo>
                  <a:pt x="0" y="174079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37" name="Freeform 37"/>
          <p:cNvSpPr/>
          <p:nvPr/>
        </p:nvSpPr>
        <p:spPr>
          <a:xfrm flipH="1">
            <a:off x="-195911" y="5791993"/>
            <a:ext cx="1701164" cy="1456621"/>
          </a:xfrm>
          <a:custGeom>
            <a:avLst/>
            <a:gdLst/>
            <a:ahLst/>
            <a:cxnLst/>
            <a:rect l="l" t="t" r="r" b="b"/>
            <a:pathLst>
              <a:path w="2551746" h="2184932">
                <a:moveTo>
                  <a:pt x="2551745" y="0"/>
                </a:moveTo>
                <a:lnTo>
                  <a:pt x="0" y="0"/>
                </a:lnTo>
                <a:lnTo>
                  <a:pt x="0" y="2184932"/>
                </a:lnTo>
                <a:lnTo>
                  <a:pt x="2551745" y="2184932"/>
                </a:lnTo>
                <a:lnTo>
                  <a:pt x="2551745"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38" name="Freeform 38"/>
          <p:cNvSpPr/>
          <p:nvPr/>
        </p:nvSpPr>
        <p:spPr>
          <a:xfrm flipV="1">
            <a:off x="2232846" y="4464697"/>
            <a:ext cx="662336" cy="469431"/>
          </a:xfrm>
          <a:custGeom>
            <a:avLst/>
            <a:gdLst/>
            <a:ahLst/>
            <a:cxnLst/>
            <a:rect l="l" t="t" r="r" b="b"/>
            <a:pathLst>
              <a:path w="993504" h="704146">
                <a:moveTo>
                  <a:pt x="0" y="704145"/>
                </a:moveTo>
                <a:lnTo>
                  <a:pt x="993503" y="704145"/>
                </a:lnTo>
                <a:lnTo>
                  <a:pt x="993503"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39" name="Freeform 39"/>
          <p:cNvSpPr/>
          <p:nvPr/>
        </p:nvSpPr>
        <p:spPr>
          <a:xfrm flipV="1">
            <a:off x="5322099"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0" name="Freeform 40"/>
          <p:cNvSpPr/>
          <p:nvPr/>
        </p:nvSpPr>
        <p:spPr>
          <a:xfrm>
            <a:off x="3781907" y="2986945"/>
            <a:ext cx="662336" cy="469431"/>
          </a:xfrm>
          <a:custGeom>
            <a:avLst/>
            <a:gdLst/>
            <a:ahLst/>
            <a:cxnLst/>
            <a:rect l="l" t="t" r="r" b="b"/>
            <a:pathLst>
              <a:path w="993504" h="704146">
                <a:moveTo>
                  <a:pt x="0" y="0"/>
                </a:moveTo>
                <a:lnTo>
                  <a:pt x="993503" y="0"/>
                </a:lnTo>
                <a:lnTo>
                  <a:pt x="993503" y="704146"/>
                </a:lnTo>
                <a:lnTo>
                  <a:pt x="0" y="704146"/>
                </a:lnTo>
                <a:lnTo>
                  <a:pt x="0" y="0"/>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1" name="Freeform 41"/>
          <p:cNvSpPr/>
          <p:nvPr/>
        </p:nvSpPr>
        <p:spPr>
          <a:xfrm>
            <a:off x="6917566" y="2837879"/>
            <a:ext cx="923626" cy="654620"/>
          </a:xfrm>
          <a:custGeom>
            <a:avLst/>
            <a:gdLst/>
            <a:ahLst/>
            <a:cxnLst/>
            <a:rect l="l" t="t" r="r" b="b"/>
            <a:pathLst>
              <a:path w="1385439" h="981930">
                <a:moveTo>
                  <a:pt x="0" y="0"/>
                </a:moveTo>
                <a:lnTo>
                  <a:pt x="1385439" y="0"/>
                </a:lnTo>
                <a:lnTo>
                  <a:pt x="1385439" y="981930"/>
                </a:lnTo>
                <a:lnTo>
                  <a:pt x="0" y="981930"/>
                </a:lnTo>
                <a:lnTo>
                  <a:pt x="0" y="0"/>
                </a:lnTo>
                <a:close/>
              </a:path>
            </a:pathLst>
          </a:custGeom>
          <a:blipFill>
            <a:blip r:embed="rId34">
              <a:extLst>
                <a:ext uri="{96DAC541-7B7A-43D3-8B79-37D633B846F1}">
                  <asvg:svgBlip xmlns:asvg="http://schemas.microsoft.com/office/drawing/2016/SVG/main" r:embed="rId35"/>
                </a:ext>
              </a:extLst>
            </a:blip>
            <a:stretch>
              <a:fillRect/>
            </a:stretch>
          </a:blipFill>
          <a:ln cap="sq">
            <a:noFill/>
            <a:prstDash val="solid"/>
            <a:miter/>
          </a:ln>
        </p:spPr>
      </p:sp>
      <p:sp>
        <p:nvSpPr>
          <p:cNvPr id="42" name="Freeform 42"/>
          <p:cNvSpPr/>
          <p:nvPr/>
        </p:nvSpPr>
        <p:spPr>
          <a:xfrm flipV="1">
            <a:off x="8395511"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3" name="Freeform 43"/>
          <p:cNvSpPr/>
          <p:nvPr/>
        </p:nvSpPr>
        <p:spPr>
          <a:xfrm>
            <a:off x="11506200" y="6112001"/>
            <a:ext cx="534837" cy="324022"/>
          </a:xfrm>
          <a:custGeom>
            <a:avLst/>
            <a:gdLst/>
            <a:ahLst/>
            <a:cxnLst/>
            <a:rect l="l" t="t" r="r" b="b"/>
            <a:pathLst>
              <a:path w="802255" h="486033">
                <a:moveTo>
                  <a:pt x="0" y="0"/>
                </a:moveTo>
                <a:lnTo>
                  <a:pt x="802255" y="0"/>
                </a:lnTo>
                <a:lnTo>
                  <a:pt x="802255" y="486033"/>
                </a:lnTo>
                <a:lnTo>
                  <a:pt x="0" y="486033"/>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sp>
      <p:sp>
        <p:nvSpPr>
          <p:cNvPr id="44" name="Freeform 44"/>
          <p:cNvSpPr/>
          <p:nvPr/>
        </p:nvSpPr>
        <p:spPr>
          <a:xfrm>
            <a:off x="9598099" y="3992255"/>
            <a:ext cx="737112" cy="737112"/>
          </a:xfrm>
          <a:custGeom>
            <a:avLst/>
            <a:gdLst/>
            <a:ahLst/>
            <a:cxnLst/>
            <a:rect l="l" t="t" r="r" b="b"/>
            <a:pathLst>
              <a:path w="1105668" h="1105668">
                <a:moveTo>
                  <a:pt x="0" y="0"/>
                </a:moveTo>
                <a:lnTo>
                  <a:pt x="1105668" y="0"/>
                </a:lnTo>
                <a:lnTo>
                  <a:pt x="1105668" y="1105668"/>
                </a:lnTo>
                <a:lnTo>
                  <a:pt x="0" y="11056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45" name="Freeform 45"/>
          <p:cNvSpPr/>
          <p:nvPr/>
        </p:nvSpPr>
        <p:spPr>
          <a:xfrm>
            <a:off x="6509331" y="2400500"/>
            <a:ext cx="637485" cy="1055877"/>
          </a:xfrm>
          <a:custGeom>
            <a:avLst/>
            <a:gdLst/>
            <a:ahLst/>
            <a:cxnLst/>
            <a:rect l="l" t="t" r="r" b="b"/>
            <a:pathLst>
              <a:path w="956228" h="1583815">
                <a:moveTo>
                  <a:pt x="0" y="0"/>
                </a:moveTo>
                <a:lnTo>
                  <a:pt x="956228" y="0"/>
                </a:lnTo>
                <a:lnTo>
                  <a:pt x="956228" y="1583815"/>
                </a:lnTo>
                <a:lnTo>
                  <a:pt x="0" y="1583815"/>
                </a:lnTo>
                <a:lnTo>
                  <a:pt x="0" y="0"/>
                </a:lnTo>
                <a:close/>
              </a:path>
            </a:pathLst>
          </a:custGeom>
          <a:blipFill>
            <a:blip r:embed="rId40"/>
            <a:stretch>
              <a:fillRect/>
            </a:stretch>
          </a:blipFill>
        </p:spPr>
      </p:sp>
      <p:sp>
        <p:nvSpPr>
          <p:cNvPr id="46" name="Freeform 46"/>
          <p:cNvSpPr/>
          <p:nvPr/>
        </p:nvSpPr>
        <p:spPr>
          <a:xfrm>
            <a:off x="11274438" y="3551012"/>
            <a:ext cx="642144" cy="942597"/>
          </a:xfrm>
          <a:custGeom>
            <a:avLst/>
            <a:gdLst/>
            <a:ahLst/>
            <a:cxnLst/>
            <a:rect l="l" t="t" r="r" b="b"/>
            <a:pathLst>
              <a:path w="963216" h="1413895">
                <a:moveTo>
                  <a:pt x="0" y="0"/>
                </a:moveTo>
                <a:lnTo>
                  <a:pt x="963216" y="0"/>
                </a:lnTo>
                <a:lnTo>
                  <a:pt x="963216" y="1413895"/>
                </a:lnTo>
                <a:lnTo>
                  <a:pt x="0" y="141389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47" name="TextBox 47"/>
          <p:cNvSpPr txBox="1"/>
          <p:nvPr/>
        </p:nvSpPr>
        <p:spPr>
          <a:xfrm>
            <a:off x="3781907" y="216909"/>
            <a:ext cx="4320531" cy="607218"/>
          </a:xfrm>
          <a:prstGeom prst="rect">
            <a:avLst/>
          </a:prstGeom>
        </p:spPr>
        <p:txBody>
          <a:bodyPr wrap="square" lIns="0" tIns="0" rIns="0" bIns="0" rtlCol="0" anchor="t">
            <a:spAutoFit/>
          </a:bodyPr>
          <a:lstStyle/>
          <a:p>
            <a:pPr marL="0" marR="0" lvl="0" indent="0" algn="ctr" defTabSz="609630" rtl="1" eaLnBrk="1" fontAlgn="auto" latinLnBrk="0" hangingPunct="1">
              <a:lnSpc>
                <a:spcPts val="4946"/>
              </a:lnSpc>
              <a:spcBef>
                <a:spcPts val="0"/>
              </a:spcBef>
              <a:spcAft>
                <a:spcPts val="0"/>
              </a:spcAft>
              <a:buClrTx/>
              <a:buSzTx/>
              <a:buFontTx/>
              <a:buNone/>
              <a:tabLst/>
              <a:defRPr/>
            </a:pPr>
            <a:r>
              <a:rPr kumimoji="0" lang="he-IL" sz="3533" b="1" i="0" u="none" strike="noStrike" kern="1200" cap="none" spc="0" normalizeH="0" baseline="0" noProof="0" dirty="0">
                <a:ln>
                  <a:noFill/>
                </a:ln>
                <a:solidFill>
                  <a:srgbClr val="151857"/>
                </a:solidFill>
                <a:effectLst/>
                <a:uLnTx/>
                <a:uFillTx/>
                <a:latin typeface="Calibri Light" panose="020F0302020204030204"/>
                <a:ea typeface="Heebo Bold"/>
                <a:cs typeface="Arial" panose="020B0604020202020204" pitchFamily="34" charset="0"/>
                <a:sym typeface="Heebo Bold"/>
                <a:rtl/>
              </a:rPr>
              <a:t>המסע לסל האישי </a:t>
            </a:r>
            <a:r>
              <a:rPr kumimoji="0" lang="en-US" sz="3533" b="1" i="0" u="none" strike="noStrike" kern="1200" cap="none" spc="0" normalizeH="0" baseline="0" noProof="0" dirty="0">
                <a:ln>
                  <a:noFill/>
                </a:ln>
                <a:solidFill>
                  <a:srgbClr val="151857"/>
                </a:solidFill>
                <a:effectLst/>
                <a:uLnTx/>
                <a:uFillTx/>
                <a:latin typeface="Calibri Light" panose="020F0302020204030204"/>
                <a:ea typeface="Heebo Bold"/>
                <a:cs typeface="+mn-cs"/>
                <a:sym typeface="Heebo Bold"/>
              </a:rPr>
              <a:t>AI</a:t>
            </a:r>
          </a:p>
        </p:txBody>
      </p:sp>
      <p:grpSp>
        <p:nvGrpSpPr>
          <p:cNvPr id="48" name="Group 48"/>
          <p:cNvGrpSpPr/>
          <p:nvPr/>
        </p:nvGrpSpPr>
        <p:grpSpPr>
          <a:xfrm>
            <a:off x="136723" y="1859832"/>
            <a:ext cx="3687979" cy="1093900"/>
            <a:chOff x="0" y="115443"/>
            <a:chExt cx="7375958" cy="2187801"/>
          </a:xfrm>
        </p:grpSpPr>
        <p:sp>
          <p:nvSpPr>
            <p:cNvPr id="49" name="TextBox 49"/>
            <p:cNvSpPr txBox="1"/>
            <p:nvPr/>
          </p:nvSpPr>
          <p:spPr>
            <a:xfrm>
              <a:off x="1735630" y="115443"/>
              <a:ext cx="5640328" cy="516552"/>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גיבוש הרפורמה</a:t>
              </a:r>
            </a:p>
          </p:txBody>
        </p:sp>
        <p:sp>
          <p:nvSpPr>
            <p:cNvPr id="50" name="TextBox 50"/>
            <p:cNvSpPr txBox="1"/>
            <p:nvPr/>
          </p:nvSpPr>
          <p:spPr>
            <a:xfrm>
              <a:off x="0" y="717039"/>
              <a:ext cx="6957632" cy="1586205"/>
            </a:xfrm>
            <a:prstGeom prst="rect">
              <a:avLst/>
            </a:prstGeom>
          </p:spPr>
          <p:txBody>
            <a:bodyPr lIns="0" tIns="0" rIns="0" bIns="0" rtlCol="0" anchor="t">
              <a:spAutoFit/>
            </a:bodyPr>
            <a:lstStyle/>
            <a:p>
              <a:pPr marL="331061" marR="0" lvl="1" indent="-165531" algn="r" defTabSz="609630" rtl="1" eaLnBrk="1" fontAlgn="auto" latinLnBrk="0" hangingPunct="1">
                <a:lnSpc>
                  <a:spcPts val="2146"/>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hlinkClick r:id="rId43" action="ppaction://hlinkfile"/>
                  <a:rtl/>
                </a:rPr>
                <a:t>גיבוש הצעה לשינוי בשותפות </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endParaRPr>
            </a:p>
            <a:p>
              <a:pPr marL="331061" marR="0" lvl="1" indent="-165531" algn="r" defTabSz="609630" rtl="1" eaLnBrk="1" fontAlgn="auto" latinLnBrk="0" hangingPunct="1">
                <a:lnSpc>
                  <a:spcPts val="2146"/>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hlinkClick r:id="rId44" action="ppaction://hlinkfile"/>
                  <a:rtl/>
                </a:rPr>
                <a:t>המלצות הוועדה הבין משרדית</a:t>
              </a:r>
            </a:p>
            <a:p>
              <a:pPr marL="331061" marR="0" lvl="1" indent="-165531" algn="r" defTabSz="609630" rtl="1" eaLnBrk="1" fontAlgn="auto" latinLnBrk="0" hangingPunct="1">
                <a:lnSpc>
                  <a:spcPts val="2146"/>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hlinkClick r:id="rId44" action="ppaction://hlinkfile"/>
                  <a:rtl/>
                </a:rPr>
                <a:t>חוק ההסדרים </a:t>
              </a:r>
              <a:r>
                <a:rPr kumimoji="0" lang="en-US"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mn-cs"/>
                  <a:sym typeface="Liberation Sans Bold"/>
                  <a:hlinkClick r:id="rId44" action="ppaction://hlinkfile"/>
                </a:rPr>
                <a:t>2023</a:t>
              </a:r>
              <a:endParaRPr kumimoji="0" lang="en-US"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mn-cs"/>
                <a:sym typeface="Liberation Sans Bold"/>
              </a:endParaRPr>
            </a:p>
          </p:txBody>
        </p:sp>
      </p:grpSp>
      <p:sp>
        <p:nvSpPr>
          <p:cNvPr id="51" name="TextBox 51"/>
          <p:cNvSpPr txBox="1"/>
          <p:nvPr/>
        </p:nvSpPr>
        <p:spPr>
          <a:xfrm>
            <a:off x="2482411" y="4896027"/>
            <a:ext cx="2505929"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מחקר, ביסוס ולמידה</a:t>
            </a:r>
          </a:p>
        </p:txBody>
      </p:sp>
      <p:sp>
        <p:nvSpPr>
          <p:cNvPr id="52" name="TextBox 52"/>
          <p:cNvSpPr txBox="1"/>
          <p:nvPr/>
        </p:nvSpPr>
        <p:spPr>
          <a:xfrm>
            <a:off x="4017695" y="1515259"/>
            <a:ext cx="2468541"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עיצוב ותיקוף מודל השירות</a:t>
            </a:r>
          </a:p>
        </p:txBody>
      </p:sp>
      <p:sp>
        <p:nvSpPr>
          <p:cNvPr id="53" name="TextBox 53"/>
          <p:cNvSpPr txBox="1"/>
          <p:nvPr/>
        </p:nvSpPr>
        <p:spPr>
          <a:xfrm>
            <a:off x="5679913" y="5092415"/>
            <a:ext cx="2920480" cy="264111"/>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תהליכים מקבילים ומשלימים-</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Q1</a:t>
            </a:r>
            <a:r>
              <a:rPr kumimoji="0" lang="ar-EG"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 </a:t>
            </a:r>
          </a:p>
        </p:txBody>
      </p:sp>
      <p:sp>
        <p:nvSpPr>
          <p:cNvPr id="54" name="TextBox 54"/>
          <p:cNvSpPr txBox="1"/>
          <p:nvPr/>
        </p:nvSpPr>
        <p:spPr>
          <a:xfrm>
            <a:off x="7475568" y="1849026"/>
            <a:ext cx="2403065" cy="281359"/>
          </a:xfrm>
          <a:prstGeom prst="rect">
            <a:avLst/>
          </a:prstGeom>
        </p:spPr>
        <p:txBody>
          <a:bodyPr lIns="0" tIns="0" rIns="0" bIns="0" rtlCol="0" anchor="t">
            <a:spAutoFit/>
          </a:bodyPr>
          <a:lstStyle/>
          <a:p>
            <a:pPr marL="0" marR="0" lvl="0" indent="0" algn="ctr" defTabSz="609630" rtl="1" eaLnBrk="1" fontAlgn="auto" latinLnBrk="0" hangingPunct="1">
              <a:lnSpc>
                <a:spcPts val="2426"/>
              </a:lnSpc>
              <a:spcBef>
                <a:spcPts val="0"/>
              </a:spcBef>
              <a:spcAft>
                <a:spcPts val="0"/>
              </a:spcAft>
              <a:buClrTx/>
              <a:buSzTx/>
              <a:buFontTx/>
              <a:buNone/>
              <a:tabLst/>
              <a:defRPr/>
            </a:pPr>
            <a:r>
              <a:rPr kumimoji="0" lang="he-IL" sz="1733"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צעדים להמשך</a:t>
            </a:r>
          </a:p>
        </p:txBody>
      </p:sp>
      <p:grpSp>
        <p:nvGrpSpPr>
          <p:cNvPr id="55" name="Group 55"/>
          <p:cNvGrpSpPr/>
          <p:nvPr/>
        </p:nvGrpSpPr>
        <p:grpSpPr>
          <a:xfrm>
            <a:off x="8820259" y="4816290"/>
            <a:ext cx="2403065" cy="1993222"/>
            <a:chOff x="0" y="-57149"/>
            <a:chExt cx="4806131" cy="3986443"/>
          </a:xfrm>
        </p:grpSpPr>
        <p:sp>
          <p:nvSpPr>
            <p:cNvPr id="56" name="TextBox 56"/>
            <p:cNvSpPr txBox="1"/>
            <p:nvPr/>
          </p:nvSpPr>
          <p:spPr>
            <a:xfrm>
              <a:off x="700568" y="-57149"/>
              <a:ext cx="3404995" cy="1092480"/>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סל תפקוד מותאם אישית </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AI</a:t>
              </a:r>
            </a:p>
          </p:txBody>
        </p:sp>
        <p:sp>
          <p:nvSpPr>
            <p:cNvPr id="57" name="TextBox 57"/>
            <p:cNvSpPr txBox="1"/>
            <p:nvPr/>
          </p:nvSpPr>
          <p:spPr>
            <a:xfrm>
              <a:off x="0" y="1285365"/>
              <a:ext cx="4806131" cy="2643929"/>
            </a:xfrm>
            <a:prstGeom prst="rect">
              <a:avLst/>
            </a:prstGeom>
          </p:spPr>
          <p:txBody>
            <a:bodyPr lIns="0" tIns="0" rIns="0" bIns="0" rtlCol="0" anchor="t">
              <a:spAutoFit/>
            </a:bodyPr>
            <a:lstStyle/>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האדם במרכז- ולא המערכות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הזדקנות מיטבית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מניעת הדרדרות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בחירה אישית במרקט פלייס</a:t>
              </a:r>
            </a:p>
            <a:p>
              <a:pPr marL="0" marR="0" lvl="0" indent="0" algn="ctr" defTabSz="609630" rtl="1" eaLnBrk="1" fontAlgn="auto" latinLnBrk="0" hangingPunct="1">
                <a:lnSpc>
                  <a:spcPts val="2053"/>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endParaRPr>
            </a:p>
          </p:txBody>
        </p:sp>
      </p:grpSp>
      <p:sp>
        <p:nvSpPr>
          <p:cNvPr id="58" name="TextBox 58"/>
          <p:cNvSpPr txBox="1"/>
          <p:nvPr/>
        </p:nvSpPr>
        <p:spPr>
          <a:xfrm>
            <a:off x="4321307" y="1802036"/>
            <a:ext cx="2050851" cy="1104661"/>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hlinkClick r:id="rId45" action="ppaction://hlinkfile"/>
                <a:rtl/>
              </a:rPr>
              <a:t>סדנת עיצוב שירות</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0" marR="0" lvl="0" indent="0" algn="r" defTabSz="609630" rtl="1" eaLnBrk="1" fontAlgn="auto" latinLnBrk="0" hangingPunct="1">
              <a:lnSpc>
                <a:spcPts val="2239"/>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מה? איך? ולמי?</a:t>
            </a:r>
          </a:p>
          <a:p>
            <a:pPr marL="345457" marR="0" lvl="1" indent="-172729" algn="r" defTabSz="609630" rtl="1" eaLnBrk="1" fontAlgn="auto" latinLnBrk="0" hangingPunct="1">
              <a:lnSpc>
                <a:spcPts val="2239"/>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מסע לקוח מחודש </a:t>
            </a:r>
          </a:p>
          <a:p>
            <a:pPr marL="345457" marR="0" lvl="1" indent="-172729" algn="r" defTabSz="609630" rtl="1" eaLnBrk="1" fontAlgn="auto" latinLnBrk="0" hangingPunct="1">
              <a:lnSpc>
                <a:spcPts val="2239"/>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עקרונות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p:txBody>
      </p:sp>
      <p:sp>
        <p:nvSpPr>
          <p:cNvPr id="59" name="TextBox 59"/>
          <p:cNvSpPr txBox="1"/>
          <p:nvPr/>
        </p:nvSpPr>
        <p:spPr>
          <a:xfrm>
            <a:off x="5457155" y="5439125"/>
            <a:ext cx="3219946" cy="1077218"/>
          </a:xfrm>
          <a:prstGeom prst="rect">
            <a:avLst/>
          </a:prstGeom>
        </p:spPr>
        <p:txBody>
          <a:bodyPr lIns="0" tIns="0" rIns="0" bIns="0" rtlCol="0" anchor="t">
            <a:spAutoFit/>
          </a:bodyPr>
          <a:lstStyle/>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המלצות צוות המדדים  </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פיתוח פלטפורמה דיגיטלית תומכת.</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מודל תמריצים</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תובנות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מהפיילוטים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p:txBody>
      </p:sp>
      <p:sp>
        <p:nvSpPr>
          <p:cNvPr id="60" name="TextBox 60"/>
          <p:cNvSpPr txBox="1"/>
          <p:nvPr/>
        </p:nvSpPr>
        <p:spPr>
          <a:xfrm>
            <a:off x="7197617" y="2205049"/>
            <a:ext cx="2404467" cy="783356"/>
          </a:xfrm>
          <a:prstGeom prst="rect">
            <a:avLst/>
          </a:prstGeom>
        </p:spPr>
        <p:txBody>
          <a:bodyPr lIns="0" tIns="0" rIns="0" bIns="0" rtlCol="0" anchor="t">
            <a:spAutoFit/>
          </a:bodyPr>
          <a:lstStyle/>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והרחבת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מדידה והערכה</a:t>
            </a: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סקיילינג</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ארצי</a:t>
            </a:r>
          </a:p>
        </p:txBody>
      </p:sp>
      <p:sp>
        <p:nvSpPr>
          <p:cNvPr id="61" name="TextBox 61"/>
          <p:cNvSpPr txBox="1"/>
          <p:nvPr/>
        </p:nvSpPr>
        <p:spPr>
          <a:xfrm>
            <a:off x="8758882" y="5964140"/>
            <a:ext cx="2403065"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ct val="0"/>
              </a:spcBef>
              <a:spcAft>
                <a:spcPts val="0"/>
              </a:spcAft>
              <a:buClrTx/>
              <a:buSzTx/>
              <a:buFontTx/>
              <a:buNone/>
              <a:tabLst/>
              <a:defRPr/>
            </a:pPr>
            <a:r>
              <a:rPr kumimoji="0" lang="he-IL" sz="1600" b="1" i="0" u="none" strike="noStrike" kern="1200" cap="none" spc="0" normalizeH="0" baseline="0" noProof="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י</a:t>
            </a:r>
          </a:p>
        </p:txBody>
      </p:sp>
      <p:sp>
        <p:nvSpPr>
          <p:cNvPr id="62" name="TextBox 62"/>
          <p:cNvSpPr txBox="1"/>
          <p:nvPr/>
        </p:nvSpPr>
        <p:spPr>
          <a:xfrm>
            <a:off x="757166" y="5243502"/>
            <a:ext cx="4471194" cy="1346522"/>
          </a:xfrm>
          <a:prstGeom prst="rect">
            <a:avLst/>
          </a:prstGeom>
        </p:spPr>
        <p:txBody>
          <a:bodyPr lIns="0" tIns="0" rIns="0" bIns="0" rtlCol="0" anchor="t">
            <a:spAutoFit/>
          </a:bodyPr>
          <a:lstStyle/>
          <a:p>
            <a:pPr marL="331064" marR="0" lvl="1" indent="-165532" algn="r" defTabSz="609630" rtl="1" eaLnBrk="1" fontAlgn="auto" latinLnBrk="0" hangingPunct="1">
              <a:lnSpc>
                <a:spcPts val="2147"/>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hlinkClick r:id="rId46" action="ppaction://hlinkfile"/>
                <a:rtl/>
              </a:rPr>
              <a:t>מחקר שטח עם נותני ומקבלי השירותים</a:t>
            </a:r>
          </a:p>
          <a:p>
            <a:pPr marL="331064" marR="0" lvl="1" indent="-165532" algn="r" defTabSz="609630" rtl="1" eaLnBrk="1" fontAlgn="auto" latinLnBrk="0" hangingPunct="1">
              <a:lnSpc>
                <a:spcPts val="2147"/>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hlinkClick r:id="rId46" action="ppaction://hlinkfile"/>
                <a:rtl/>
              </a:rPr>
              <a:t>גיבוש מנגנון הפעלה משותף</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31064" marR="0" lvl="1" indent="-165532" algn="r" defTabSz="609630" rtl="1" eaLnBrk="1" fontAlgn="auto" latinLnBrk="0" hangingPunct="1">
              <a:lnSpc>
                <a:spcPts val="2147"/>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hlinkClick r:id="rId47" action="ppaction://hlinkfile"/>
                <a:rtl/>
              </a:rPr>
              <a:t>נייר מדיניות משותף בפורום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hlinkClick r:id="rId47" action="ppaction://hlinkfile"/>
                <a:rtl/>
              </a:rPr>
              <a:t>בר"ק</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31064" marR="0" lvl="1" indent="-165532" algn="r" defTabSz="609630" rtl="1" eaLnBrk="1" fontAlgn="auto" latinLnBrk="0" hangingPunct="1">
              <a:lnSpc>
                <a:spcPts val="2147"/>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hlinkClick r:id="rId48" action="ppaction://hlinkfile"/>
                <a:rtl/>
              </a:rPr>
              <a:t>סקירת שוק מקיפה על פלטפורמות תומכות</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31064" marR="0" lvl="1" indent="-165532" algn="r" defTabSz="609630" rtl="1" eaLnBrk="1" fontAlgn="auto" latinLnBrk="0" hangingPunct="1">
              <a:lnSpc>
                <a:spcPts val="2147"/>
              </a:lnSpc>
              <a:spcBef>
                <a:spcPts val="0"/>
              </a:spcBef>
              <a:spcAft>
                <a:spcPts val="0"/>
              </a:spcAft>
              <a:buClrTx/>
              <a:buSzTx/>
              <a:buFont typeface="Arial"/>
              <a:buChar char="•"/>
              <a:tabLst/>
              <a:defRPr/>
            </a:pP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פיילוטים</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פעילים עם למידה מתמשכת מהשטח</a:t>
            </a:r>
          </a:p>
        </p:txBody>
      </p:sp>
      <p:sp>
        <p:nvSpPr>
          <p:cNvPr id="64" name="חץ ימינה 63"/>
          <p:cNvSpPr/>
          <p:nvPr/>
        </p:nvSpPr>
        <p:spPr>
          <a:xfrm>
            <a:off x="7071909" y="2830142"/>
            <a:ext cx="877069" cy="361361"/>
          </a:xfrm>
          <a:prstGeom prst="rightArrow">
            <a:avLst/>
          </a:prstGeom>
          <a:solidFill>
            <a:srgbClr val="009189"/>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178690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AFAFA"/>
        </a:solidFill>
        <a:effectLst/>
      </p:bgPr>
    </p:bg>
    <p:spTree>
      <p:nvGrpSpPr>
        <p:cNvPr id="1" name=""/>
        <p:cNvGrpSpPr/>
        <p:nvPr/>
      </p:nvGrpSpPr>
      <p:grpSpPr>
        <a:xfrm>
          <a:off x="0" y="0"/>
          <a:ext cx="0" cy="0"/>
          <a:chOff x="0" y="0"/>
          <a:chExt cx="0" cy="0"/>
        </a:xfrm>
      </p:grpSpPr>
      <p:sp>
        <p:nvSpPr>
          <p:cNvPr id="2" name="Freeform 2"/>
          <p:cNvSpPr/>
          <p:nvPr/>
        </p:nvSpPr>
        <p:spPr>
          <a:xfrm>
            <a:off x="-3026378" y="4859813"/>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223324" y="-1801252"/>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85800" y="3240311"/>
            <a:ext cx="10820400" cy="1393127"/>
          </a:xfrm>
          <a:custGeom>
            <a:avLst/>
            <a:gdLst/>
            <a:ahLst/>
            <a:cxnLst/>
            <a:rect l="l" t="t" r="r" b="b"/>
            <a:pathLst>
              <a:path w="16230600" h="2089690">
                <a:moveTo>
                  <a:pt x="0" y="0"/>
                </a:moveTo>
                <a:lnTo>
                  <a:pt x="16230600" y="0"/>
                </a:lnTo>
                <a:lnTo>
                  <a:pt x="16230600" y="2089690"/>
                </a:lnTo>
                <a:lnTo>
                  <a:pt x="0" y="20896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1369586" y="2660048"/>
            <a:ext cx="1726521" cy="1726521"/>
          </a:xfrm>
          <a:custGeom>
            <a:avLst/>
            <a:gdLst/>
            <a:ahLst/>
            <a:cxnLst/>
            <a:rect l="l" t="t" r="r" b="b"/>
            <a:pathLst>
              <a:path w="2589782" h="2589782">
                <a:moveTo>
                  <a:pt x="0" y="0"/>
                </a:moveTo>
                <a:lnTo>
                  <a:pt x="2589782" y="0"/>
                </a:lnTo>
                <a:lnTo>
                  <a:pt x="2589782" y="2589782"/>
                </a:lnTo>
                <a:lnTo>
                  <a:pt x="0" y="2589782"/>
                </a:lnTo>
                <a:lnTo>
                  <a:pt x="0" y="0"/>
                </a:lnTo>
                <a:close/>
              </a:path>
            </a:pathLst>
          </a:custGeom>
          <a:blipFill>
            <a:blip r:embed="rId6">
              <a:alphaModFix amt="16000"/>
              <a:extLst>
                <a:ext uri="{96DAC541-7B7A-43D3-8B79-37D633B846F1}">
                  <asvg:svgBlip xmlns:asvg="http://schemas.microsoft.com/office/drawing/2016/SVG/main" r:embed="rId7"/>
                </a:ext>
              </a:extLst>
            </a:blip>
            <a:stretch>
              <a:fillRect/>
            </a:stretch>
          </a:blipFill>
        </p:spPr>
      </p:sp>
      <p:sp>
        <p:nvSpPr>
          <p:cNvPr id="6" name="Freeform 6"/>
          <p:cNvSpPr/>
          <p:nvPr/>
        </p:nvSpPr>
        <p:spPr>
          <a:xfrm>
            <a:off x="2918624" y="3523286"/>
            <a:ext cx="1726565" cy="1726565"/>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8">
              <a:alphaModFix amt="16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a:off x="6007878" y="3523330"/>
            <a:ext cx="1726565" cy="1726565"/>
          </a:xfrm>
          <a:custGeom>
            <a:avLst/>
            <a:gdLst/>
            <a:ahLst/>
            <a:cxnLst/>
            <a:rect l="l" t="t" r="r" b="b"/>
            <a:pathLst>
              <a:path w="2589847" h="2589847">
                <a:moveTo>
                  <a:pt x="0" y="0"/>
                </a:moveTo>
                <a:lnTo>
                  <a:pt x="2589847" y="0"/>
                </a:lnTo>
                <a:lnTo>
                  <a:pt x="2589847"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9103373" y="3523330"/>
            <a:ext cx="1726565" cy="1726565"/>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sp>
      <p:sp>
        <p:nvSpPr>
          <p:cNvPr id="9" name="Freeform 9"/>
          <p:cNvSpPr/>
          <p:nvPr/>
        </p:nvSpPr>
        <p:spPr>
          <a:xfrm>
            <a:off x="4458818" y="2660048"/>
            <a:ext cx="1726565" cy="1726565"/>
          </a:xfrm>
          <a:custGeom>
            <a:avLst/>
            <a:gdLst/>
            <a:ahLst/>
            <a:cxnLst/>
            <a:rect l="l" t="t" r="r" b="b"/>
            <a:pathLst>
              <a:path w="2589847" h="2589848">
                <a:moveTo>
                  <a:pt x="0" y="0"/>
                </a:moveTo>
                <a:lnTo>
                  <a:pt x="2589847" y="0"/>
                </a:lnTo>
                <a:lnTo>
                  <a:pt x="2589847"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sp>
      <p:sp>
        <p:nvSpPr>
          <p:cNvPr id="10" name="Freeform 10"/>
          <p:cNvSpPr/>
          <p:nvPr/>
        </p:nvSpPr>
        <p:spPr>
          <a:xfrm>
            <a:off x="7554312" y="2660048"/>
            <a:ext cx="1726565" cy="1726565"/>
          </a:xfrm>
          <a:custGeom>
            <a:avLst/>
            <a:gdLst/>
            <a:ahLst/>
            <a:cxnLst/>
            <a:rect l="l" t="t" r="r" b="b"/>
            <a:pathLst>
              <a:path w="2589848" h="2589848">
                <a:moveTo>
                  <a:pt x="0" y="0"/>
                </a:moveTo>
                <a:lnTo>
                  <a:pt x="2589848" y="0"/>
                </a:lnTo>
                <a:lnTo>
                  <a:pt x="2589848"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sp>
      <p:grpSp>
        <p:nvGrpSpPr>
          <p:cNvPr id="11" name="Group 11"/>
          <p:cNvGrpSpPr/>
          <p:nvPr/>
        </p:nvGrpSpPr>
        <p:grpSpPr>
          <a:xfrm>
            <a:off x="1733844" y="3024306"/>
            <a:ext cx="998004" cy="99800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BD7D"/>
            </a:solidFill>
            <a:ln cap="sq">
              <a:noFill/>
              <a:prstDash val="solid"/>
              <a:miter/>
            </a:ln>
          </p:spPr>
        </p:sp>
        <p:sp>
          <p:nvSpPr>
            <p:cNvPr id="13" name="TextBox 13"/>
            <p:cNvSpPr txBox="1"/>
            <p:nvPr/>
          </p:nvSpPr>
          <p:spPr>
            <a:xfrm>
              <a:off x="76200" y="38100"/>
              <a:ext cx="660400" cy="698500"/>
            </a:xfrm>
            <a:prstGeom prst="rect">
              <a:avLst/>
            </a:prstGeom>
          </p:spPr>
          <p:txBody>
            <a:bodyPr lIns="33867" tIns="33867" rIns="33867" bIns="33867" rtlCol="0" anchor="ctr"/>
            <a:lstStyle/>
            <a:p>
              <a:pPr algn="ctr" defTabSz="609630" rtl="0">
                <a:lnSpc>
                  <a:spcPts val="2239"/>
                </a:lnSpc>
                <a:spcBef>
                  <a:spcPct val="0"/>
                </a:spcBef>
              </a:pPr>
              <a:endParaRPr sz="1200">
                <a:solidFill>
                  <a:prstClr val="black"/>
                </a:solidFill>
                <a:latin typeface="+mj-lt"/>
              </a:endParaRPr>
            </a:p>
          </p:txBody>
        </p:sp>
      </p:grpSp>
      <p:grpSp>
        <p:nvGrpSpPr>
          <p:cNvPr id="14" name="Group 14"/>
          <p:cNvGrpSpPr/>
          <p:nvPr/>
        </p:nvGrpSpPr>
        <p:grpSpPr>
          <a:xfrm>
            <a:off x="3282905" y="3861809"/>
            <a:ext cx="998004" cy="99800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882"/>
            </a:solidFill>
            <a:ln cap="sq">
              <a:noFill/>
              <a:prstDash val="solid"/>
              <a:miter/>
            </a:ln>
          </p:spPr>
        </p:sp>
        <p:sp>
          <p:nvSpPr>
            <p:cNvPr id="16" name="TextBox 16"/>
            <p:cNvSpPr txBox="1"/>
            <p:nvPr/>
          </p:nvSpPr>
          <p:spPr>
            <a:xfrm>
              <a:off x="76200" y="38100"/>
              <a:ext cx="660400" cy="698500"/>
            </a:xfrm>
            <a:prstGeom prst="rect">
              <a:avLst/>
            </a:prstGeom>
          </p:spPr>
          <p:txBody>
            <a:bodyPr lIns="33867" tIns="33867" rIns="33867" bIns="33867" rtlCol="0" anchor="ctr"/>
            <a:lstStyle/>
            <a:p>
              <a:pPr algn="ctr" defTabSz="609630" rtl="0">
                <a:lnSpc>
                  <a:spcPts val="2239"/>
                </a:lnSpc>
                <a:spcBef>
                  <a:spcPct val="0"/>
                </a:spcBef>
              </a:pPr>
              <a:endParaRPr sz="1200">
                <a:solidFill>
                  <a:prstClr val="black"/>
                </a:solidFill>
                <a:latin typeface="+mj-lt"/>
              </a:endParaRPr>
            </a:p>
          </p:txBody>
        </p:sp>
      </p:grpSp>
      <p:grpSp>
        <p:nvGrpSpPr>
          <p:cNvPr id="17" name="Group 17"/>
          <p:cNvGrpSpPr/>
          <p:nvPr/>
        </p:nvGrpSpPr>
        <p:grpSpPr>
          <a:xfrm>
            <a:off x="4823097" y="3024306"/>
            <a:ext cx="998004" cy="99800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A986"/>
            </a:solidFill>
            <a:ln cap="sq">
              <a:noFill/>
              <a:prstDash val="solid"/>
              <a:miter/>
            </a:ln>
          </p:spPr>
        </p:sp>
        <p:sp>
          <p:nvSpPr>
            <p:cNvPr id="19" name="TextBox 19"/>
            <p:cNvSpPr txBox="1"/>
            <p:nvPr/>
          </p:nvSpPr>
          <p:spPr>
            <a:xfrm>
              <a:off x="76200" y="38100"/>
              <a:ext cx="660400" cy="698500"/>
            </a:xfrm>
            <a:prstGeom prst="rect">
              <a:avLst/>
            </a:prstGeom>
          </p:spPr>
          <p:txBody>
            <a:bodyPr lIns="33867" tIns="33867" rIns="33867" bIns="33867" rtlCol="0" anchor="ctr"/>
            <a:lstStyle/>
            <a:p>
              <a:pPr algn="ctr" defTabSz="609630" rtl="0">
                <a:lnSpc>
                  <a:spcPts val="2239"/>
                </a:lnSpc>
                <a:spcBef>
                  <a:spcPct val="0"/>
                </a:spcBef>
              </a:pPr>
              <a:endParaRPr sz="1200">
                <a:solidFill>
                  <a:prstClr val="black"/>
                </a:solidFill>
                <a:latin typeface="+mj-lt"/>
              </a:endParaRPr>
            </a:p>
          </p:txBody>
        </p:sp>
      </p:grpSp>
      <p:grpSp>
        <p:nvGrpSpPr>
          <p:cNvPr id="20" name="Group 20"/>
          <p:cNvGrpSpPr/>
          <p:nvPr/>
        </p:nvGrpSpPr>
        <p:grpSpPr>
          <a:xfrm>
            <a:off x="6372158" y="3861809"/>
            <a:ext cx="998004" cy="998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6071"/>
            </a:solidFill>
            <a:ln cap="sq">
              <a:noFill/>
              <a:prstDash val="solid"/>
              <a:miter/>
            </a:ln>
          </p:spPr>
        </p:sp>
        <p:sp>
          <p:nvSpPr>
            <p:cNvPr id="22" name="TextBox 22"/>
            <p:cNvSpPr txBox="1"/>
            <p:nvPr/>
          </p:nvSpPr>
          <p:spPr>
            <a:xfrm>
              <a:off x="76200" y="38100"/>
              <a:ext cx="660400" cy="698500"/>
            </a:xfrm>
            <a:prstGeom prst="rect">
              <a:avLst/>
            </a:prstGeom>
          </p:spPr>
          <p:txBody>
            <a:bodyPr lIns="33867" tIns="33867" rIns="33867" bIns="33867" rtlCol="0" anchor="ctr"/>
            <a:lstStyle/>
            <a:p>
              <a:pPr algn="ctr" defTabSz="609630" rtl="0">
                <a:lnSpc>
                  <a:spcPts val="2239"/>
                </a:lnSpc>
                <a:spcBef>
                  <a:spcPct val="0"/>
                </a:spcBef>
              </a:pPr>
              <a:endParaRPr sz="1200">
                <a:solidFill>
                  <a:prstClr val="black"/>
                </a:solidFill>
                <a:latin typeface="+mj-lt"/>
              </a:endParaRPr>
            </a:p>
          </p:txBody>
        </p:sp>
      </p:grpSp>
      <p:grpSp>
        <p:nvGrpSpPr>
          <p:cNvPr id="23" name="Group 23"/>
          <p:cNvGrpSpPr/>
          <p:nvPr/>
        </p:nvGrpSpPr>
        <p:grpSpPr>
          <a:xfrm>
            <a:off x="7912351" y="3024306"/>
            <a:ext cx="998004" cy="99800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189"/>
            </a:solidFill>
            <a:ln cap="sq">
              <a:noFill/>
              <a:prstDash val="solid"/>
              <a:miter/>
            </a:ln>
          </p:spPr>
        </p:sp>
        <p:sp>
          <p:nvSpPr>
            <p:cNvPr id="25" name="TextBox 25"/>
            <p:cNvSpPr txBox="1"/>
            <p:nvPr/>
          </p:nvSpPr>
          <p:spPr>
            <a:xfrm>
              <a:off x="76200" y="38100"/>
              <a:ext cx="660400" cy="698500"/>
            </a:xfrm>
            <a:prstGeom prst="rect">
              <a:avLst/>
            </a:prstGeom>
          </p:spPr>
          <p:txBody>
            <a:bodyPr lIns="33867" tIns="33867" rIns="33867" bIns="33867" rtlCol="0" anchor="ctr"/>
            <a:lstStyle/>
            <a:p>
              <a:pPr algn="ctr" defTabSz="609630" rtl="0">
                <a:lnSpc>
                  <a:spcPts val="2239"/>
                </a:lnSpc>
                <a:spcBef>
                  <a:spcPct val="0"/>
                </a:spcBef>
              </a:pPr>
              <a:endParaRPr sz="1200">
                <a:solidFill>
                  <a:prstClr val="black"/>
                </a:solidFill>
                <a:latin typeface="+mj-lt"/>
              </a:endParaRPr>
            </a:p>
          </p:txBody>
        </p:sp>
      </p:grpSp>
      <p:grpSp>
        <p:nvGrpSpPr>
          <p:cNvPr id="26" name="Group 26"/>
          <p:cNvGrpSpPr/>
          <p:nvPr/>
        </p:nvGrpSpPr>
        <p:grpSpPr>
          <a:xfrm>
            <a:off x="9461412" y="3861809"/>
            <a:ext cx="998004" cy="99800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858"/>
            </a:solidFill>
            <a:ln cap="sq">
              <a:noFill/>
              <a:prstDash val="solid"/>
              <a:miter/>
            </a:ln>
          </p:spPr>
        </p:sp>
        <p:sp>
          <p:nvSpPr>
            <p:cNvPr id="28" name="TextBox 28"/>
            <p:cNvSpPr txBox="1"/>
            <p:nvPr/>
          </p:nvSpPr>
          <p:spPr>
            <a:xfrm>
              <a:off x="76200" y="38100"/>
              <a:ext cx="660400" cy="698500"/>
            </a:xfrm>
            <a:prstGeom prst="rect">
              <a:avLst/>
            </a:prstGeom>
          </p:spPr>
          <p:txBody>
            <a:bodyPr lIns="33867" tIns="33867" rIns="33867" bIns="33867" rtlCol="0" anchor="ctr"/>
            <a:lstStyle/>
            <a:p>
              <a:pPr algn="ctr" defTabSz="609630" rtl="0">
                <a:lnSpc>
                  <a:spcPts val="2239"/>
                </a:lnSpc>
                <a:spcBef>
                  <a:spcPct val="0"/>
                </a:spcBef>
              </a:pPr>
              <a:endParaRPr sz="1200">
                <a:solidFill>
                  <a:prstClr val="black"/>
                </a:solidFill>
                <a:latin typeface="+mj-lt"/>
              </a:endParaRPr>
            </a:p>
          </p:txBody>
        </p:sp>
      </p:grpSp>
      <p:sp>
        <p:nvSpPr>
          <p:cNvPr id="29" name="Freeform 29"/>
          <p:cNvSpPr/>
          <p:nvPr/>
        </p:nvSpPr>
        <p:spPr>
          <a:xfrm>
            <a:off x="1956462" y="3221661"/>
            <a:ext cx="552768" cy="603294"/>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0" name="Freeform 30"/>
          <p:cNvSpPr/>
          <p:nvPr/>
        </p:nvSpPr>
        <p:spPr>
          <a:xfrm>
            <a:off x="5080601" y="3257560"/>
            <a:ext cx="482996" cy="531495"/>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1" name="Freeform 31"/>
          <p:cNvSpPr/>
          <p:nvPr/>
        </p:nvSpPr>
        <p:spPr>
          <a:xfrm>
            <a:off x="6605413" y="4113665"/>
            <a:ext cx="531495" cy="494291"/>
          </a:xfrm>
          <a:custGeom>
            <a:avLst/>
            <a:gdLst/>
            <a:ahLst/>
            <a:cxnLst/>
            <a:rect l="l" t="t" r="r" b="b"/>
            <a:pathLst>
              <a:path w="797242" h="741436">
                <a:moveTo>
                  <a:pt x="0" y="0"/>
                </a:moveTo>
                <a:lnTo>
                  <a:pt x="797243" y="0"/>
                </a:lnTo>
                <a:lnTo>
                  <a:pt x="797243" y="741436"/>
                </a:lnTo>
                <a:lnTo>
                  <a:pt x="0" y="74143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32" name="Freeform 32"/>
          <p:cNvSpPr/>
          <p:nvPr/>
        </p:nvSpPr>
        <p:spPr>
          <a:xfrm>
            <a:off x="8145606" y="3274834"/>
            <a:ext cx="531495" cy="496948"/>
          </a:xfrm>
          <a:custGeom>
            <a:avLst/>
            <a:gdLst/>
            <a:ahLst/>
            <a:cxnLst/>
            <a:rect l="l" t="t" r="r" b="b"/>
            <a:pathLst>
              <a:path w="797242" h="745422">
                <a:moveTo>
                  <a:pt x="0" y="0"/>
                </a:moveTo>
                <a:lnTo>
                  <a:pt x="797242" y="0"/>
                </a:lnTo>
                <a:lnTo>
                  <a:pt x="797242" y="745422"/>
                </a:lnTo>
                <a:lnTo>
                  <a:pt x="0" y="7454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33" name="Freeform 33"/>
          <p:cNvSpPr/>
          <p:nvPr/>
        </p:nvSpPr>
        <p:spPr>
          <a:xfrm>
            <a:off x="3518382" y="4099921"/>
            <a:ext cx="527050" cy="521779"/>
          </a:xfrm>
          <a:custGeom>
            <a:avLst/>
            <a:gdLst/>
            <a:ahLst/>
            <a:cxnLst/>
            <a:rect l="l" t="t" r="r" b="b"/>
            <a:pathLst>
              <a:path w="790575" h="782669">
                <a:moveTo>
                  <a:pt x="0" y="0"/>
                </a:moveTo>
                <a:lnTo>
                  <a:pt x="790575" y="0"/>
                </a:lnTo>
                <a:lnTo>
                  <a:pt x="790575" y="782670"/>
                </a:lnTo>
                <a:lnTo>
                  <a:pt x="0" y="78267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34" name="Freeform 34"/>
          <p:cNvSpPr/>
          <p:nvPr/>
        </p:nvSpPr>
        <p:spPr>
          <a:xfrm>
            <a:off x="207914" y="193361"/>
            <a:ext cx="893513" cy="830967"/>
          </a:xfrm>
          <a:custGeom>
            <a:avLst/>
            <a:gdLst/>
            <a:ahLst/>
            <a:cxnLst/>
            <a:rect l="l" t="t" r="r" b="b"/>
            <a:pathLst>
              <a:path w="1340270" h="1246451">
                <a:moveTo>
                  <a:pt x="0" y="0"/>
                </a:moveTo>
                <a:lnTo>
                  <a:pt x="1340269" y="0"/>
                </a:lnTo>
                <a:lnTo>
                  <a:pt x="1340269" y="1246451"/>
                </a:lnTo>
                <a:lnTo>
                  <a:pt x="0" y="124645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35" name="Freeform 35"/>
          <p:cNvSpPr/>
          <p:nvPr/>
        </p:nvSpPr>
        <p:spPr>
          <a:xfrm>
            <a:off x="10555969" y="6121620"/>
            <a:ext cx="2970135" cy="1317997"/>
          </a:xfrm>
          <a:custGeom>
            <a:avLst/>
            <a:gdLst/>
            <a:ahLst/>
            <a:cxnLst/>
            <a:rect l="l" t="t" r="r" b="b"/>
            <a:pathLst>
              <a:path w="4455202" h="1976996">
                <a:moveTo>
                  <a:pt x="0" y="0"/>
                </a:moveTo>
                <a:lnTo>
                  <a:pt x="4455202" y="0"/>
                </a:lnTo>
                <a:lnTo>
                  <a:pt x="4455202" y="1976996"/>
                </a:lnTo>
                <a:lnTo>
                  <a:pt x="0" y="197699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36" name="Freeform 36"/>
          <p:cNvSpPr/>
          <p:nvPr/>
        </p:nvSpPr>
        <p:spPr>
          <a:xfrm>
            <a:off x="10732515" y="-136201"/>
            <a:ext cx="1547371" cy="1160529"/>
          </a:xfrm>
          <a:custGeom>
            <a:avLst/>
            <a:gdLst/>
            <a:ahLst/>
            <a:cxnLst/>
            <a:rect l="l" t="t" r="r" b="b"/>
            <a:pathLst>
              <a:path w="2321057" h="1740793">
                <a:moveTo>
                  <a:pt x="0" y="0"/>
                </a:moveTo>
                <a:lnTo>
                  <a:pt x="2321056" y="0"/>
                </a:lnTo>
                <a:lnTo>
                  <a:pt x="2321056" y="1740793"/>
                </a:lnTo>
                <a:lnTo>
                  <a:pt x="0" y="174079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37" name="Freeform 37"/>
          <p:cNvSpPr/>
          <p:nvPr/>
        </p:nvSpPr>
        <p:spPr>
          <a:xfrm flipH="1">
            <a:off x="-195911" y="5791993"/>
            <a:ext cx="1701164" cy="1456621"/>
          </a:xfrm>
          <a:custGeom>
            <a:avLst/>
            <a:gdLst/>
            <a:ahLst/>
            <a:cxnLst/>
            <a:rect l="l" t="t" r="r" b="b"/>
            <a:pathLst>
              <a:path w="2551746" h="2184932">
                <a:moveTo>
                  <a:pt x="2551745" y="0"/>
                </a:moveTo>
                <a:lnTo>
                  <a:pt x="0" y="0"/>
                </a:lnTo>
                <a:lnTo>
                  <a:pt x="0" y="2184932"/>
                </a:lnTo>
                <a:lnTo>
                  <a:pt x="2551745" y="2184932"/>
                </a:lnTo>
                <a:lnTo>
                  <a:pt x="2551745"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38" name="Freeform 38"/>
          <p:cNvSpPr/>
          <p:nvPr/>
        </p:nvSpPr>
        <p:spPr>
          <a:xfrm flipV="1">
            <a:off x="2232846" y="4464697"/>
            <a:ext cx="662336" cy="469431"/>
          </a:xfrm>
          <a:custGeom>
            <a:avLst/>
            <a:gdLst/>
            <a:ahLst/>
            <a:cxnLst/>
            <a:rect l="l" t="t" r="r" b="b"/>
            <a:pathLst>
              <a:path w="993504" h="704146">
                <a:moveTo>
                  <a:pt x="0" y="704145"/>
                </a:moveTo>
                <a:lnTo>
                  <a:pt x="993503" y="704145"/>
                </a:lnTo>
                <a:lnTo>
                  <a:pt x="993503"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39" name="Freeform 39"/>
          <p:cNvSpPr/>
          <p:nvPr/>
        </p:nvSpPr>
        <p:spPr>
          <a:xfrm flipV="1">
            <a:off x="5322099"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0" name="Freeform 40"/>
          <p:cNvSpPr/>
          <p:nvPr/>
        </p:nvSpPr>
        <p:spPr>
          <a:xfrm>
            <a:off x="3781907" y="2986945"/>
            <a:ext cx="662336" cy="469431"/>
          </a:xfrm>
          <a:custGeom>
            <a:avLst/>
            <a:gdLst/>
            <a:ahLst/>
            <a:cxnLst/>
            <a:rect l="l" t="t" r="r" b="b"/>
            <a:pathLst>
              <a:path w="993504" h="704146">
                <a:moveTo>
                  <a:pt x="0" y="0"/>
                </a:moveTo>
                <a:lnTo>
                  <a:pt x="993503" y="0"/>
                </a:lnTo>
                <a:lnTo>
                  <a:pt x="993503" y="704146"/>
                </a:lnTo>
                <a:lnTo>
                  <a:pt x="0" y="704146"/>
                </a:lnTo>
                <a:lnTo>
                  <a:pt x="0" y="0"/>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1" name="Freeform 41"/>
          <p:cNvSpPr/>
          <p:nvPr/>
        </p:nvSpPr>
        <p:spPr>
          <a:xfrm>
            <a:off x="6917566" y="2837879"/>
            <a:ext cx="923626" cy="654620"/>
          </a:xfrm>
          <a:custGeom>
            <a:avLst/>
            <a:gdLst/>
            <a:ahLst/>
            <a:cxnLst/>
            <a:rect l="l" t="t" r="r" b="b"/>
            <a:pathLst>
              <a:path w="1385439" h="981930">
                <a:moveTo>
                  <a:pt x="0" y="0"/>
                </a:moveTo>
                <a:lnTo>
                  <a:pt x="1385439" y="0"/>
                </a:lnTo>
                <a:lnTo>
                  <a:pt x="1385439" y="981930"/>
                </a:lnTo>
                <a:lnTo>
                  <a:pt x="0" y="981930"/>
                </a:lnTo>
                <a:lnTo>
                  <a:pt x="0" y="0"/>
                </a:lnTo>
                <a:close/>
              </a:path>
            </a:pathLst>
          </a:custGeom>
          <a:blipFill>
            <a:blip r:embed="rId34">
              <a:extLst>
                <a:ext uri="{96DAC541-7B7A-43D3-8B79-37D633B846F1}">
                  <asvg:svgBlip xmlns:asvg="http://schemas.microsoft.com/office/drawing/2016/SVG/main" r:embed="rId35"/>
                </a:ext>
              </a:extLst>
            </a:blip>
            <a:stretch>
              <a:fillRect/>
            </a:stretch>
          </a:blipFill>
          <a:ln cap="sq">
            <a:noFill/>
            <a:prstDash val="solid"/>
            <a:miter/>
          </a:ln>
        </p:spPr>
      </p:sp>
      <p:sp>
        <p:nvSpPr>
          <p:cNvPr id="42" name="Freeform 42"/>
          <p:cNvSpPr/>
          <p:nvPr/>
        </p:nvSpPr>
        <p:spPr>
          <a:xfrm flipV="1">
            <a:off x="8395511"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sp>
      <p:sp>
        <p:nvSpPr>
          <p:cNvPr id="43" name="Freeform 43"/>
          <p:cNvSpPr/>
          <p:nvPr/>
        </p:nvSpPr>
        <p:spPr>
          <a:xfrm>
            <a:off x="11506200" y="6112001"/>
            <a:ext cx="534837" cy="324022"/>
          </a:xfrm>
          <a:custGeom>
            <a:avLst/>
            <a:gdLst/>
            <a:ahLst/>
            <a:cxnLst/>
            <a:rect l="l" t="t" r="r" b="b"/>
            <a:pathLst>
              <a:path w="802255" h="486033">
                <a:moveTo>
                  <a:pt x="0" y="0"/>
                </a:moveTo>
                <a:lnTo>
                  <a:pt x="802255" y="0"/>
                </a:lnTo>
                <a:lnTo>
                  <a:pt x="802255" y="486033"/>
                </a:lnTo>
                <a:lnTo>
                  <a:pt x="0" y="486033"/>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sp>
      <p:sp>
        <p:nvSpPr>
          <p:cNvPr id="44" name="Freeform 44"/>
          <p:cNvSpPr/>
          <p:nvPr/>
        </p:nvSpPr>
        <p:spPr>
          <a:xfrm>
            <a:off x="9598099" y="3992255"/>
            <a:ext cx="737112" cy="737112"/>
          </a:xfrm>
          <a:custGeom>
            <a:avLst/>
            <a:gdLst/>
            <a:ahLst/>
            <a:cxnLst/>
            <a:rect l="l" t="t" r="r" b="b"/>
            <a:pathLst>
              <a:path w="1105668" h="1105668">
                <a:moveTo>
                  <a:pt x="0" y="0"/>
                </a:moveTo>
                <a:lnTo>
                  <a:pt x="1105668" y="0"/>
                </a:lnTo>
                <a:lnTo>
                  <a:pt x="1105668" y="1105668"/>
                </a:lnTo>
                <a:lnTo>
                  <a:pt x="0" y="11056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45" name="Freeform 45"/>
          <p:cNvSpPr/>
          <p:nvPr/>
        </p:nvSpPr>
        <p:spPr>
          <a:xfrm>
            <a:off x="6509331" y="2400500"/>
            <a:ext cx="637485" cy="1055877"/>
          </a:xfrm>
          <a:custGeom>
            <a:avLst/>
            <a:gdLst/>
            <a:ahLst/>
            <a:cxnLst/>
            <a:rect l="l" t="t" r="r" b="b"/>
            <a:pathLst>
              <a:path w="956228" h="1583815">
                <a:moveTo>
                  <a:pt x="0" y="0"/>
                </a:moveTo>
                <a:lnTo>
                  <a:pt x="956228" y="0"/>
                </a:lnTo>
                <a:lnTo>
                  <a:pt x="956228" y="1583815"/>
                </a:lnTo>
                <a:lnTo>
                  <a:pt x="0" y="1583815"/>
                </a:lnTo>
                <a:lnTo>
                  <a:pt x="0" y="0"/>
                </a:lnTo>
                <a:close/>
              </a:path>
            </a:pathLst>
          </a:custGeom>
          <a:blipFill>
            <a:blip r:embed="rId40"/>
            <a:stretch>
              <a:fillRect/>
            </a:stretch>
          </a:blipFill>
        </p:spPr>
      </p:sp>
      <p:sp>
        <p:nvSpPr>
          <p:cNvPr id="46" name="Freeform 46"/>
          <p:cNvSpPr/>
          <p:nvPr/>
        </p:nvSpPr>
        <p:spPr>
          <a:xfrm>
            <a:off x="11274438" y="3551012"/>
            <a:ext cx="642144" cy="942597"/>
          </a:xfrm>
          <a:custGeom>
            <a:avLst/>
            <a:gdLst/>
            <a:ahLst/>
            <a:cxnLst/>
            <a:rect l="l" t="t" r="r" b="b"/>
            <a:pathLst>
              <a:path w="963216" h="1413895">
                <a:moveTo>
                  <a:pt x="0" y="0"/>
                </a:moveTo>
                <a:lnTo>
                  <a:pt x="963216" y="0"/>
                </a:lnTo>
                <a:lnTo>
                  <a:pt x="963216" y="1413895"/>
                </a:lnTo>
                <a:lnTo>
                  <a:pt x="0" y="141389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47" name="TextBox 47"/>
          <p:cNvSpPr txBox="1"/>
          <p:nvPr/>
        </p:nvSpPr>
        <p:spPr>
          <a:xfrm>
            <a:off x="3781907" y="216909"/>
            <a:ext cx="4320531" cy="607218"/>
          </a:xfrm>
          <a:prstGeom prst="rect">
            <a:avLst/>
          </a:prstGeom>
        </p:spPr>
        <p:txBody>
          <a:bodyPr wrap="square" lIns="0" tIns="0" rIns="0" bIns="0" rtlCol="0" anchor="t">
            <a:spAutoFit/>
          </a:bodyPr>
          <a:lstStyle/>
          <a:p>
            <a:pPr algn="ctr" defTabSz="609630">
              <a:lnSpc>
                <a:spcPts val="4946"/>
              </a:lnSpc>
            </a:pPr>
            <a:r>
              <a:rPr lang="he-IL" sz="3533" b="1" dirty="0">
                <a:solidFill>
                  <a:srgbClr val="151857"/>
                </a:solidFill>
                <a:latin typeface="+mj-lt"/>
                <a:ea typeface="Heebo Bold"/>
                <a:sym typeface="Heebo Bold"/>
                <a:rtl/>
              </a:rPr>
              <a:t>המסע לסל האישי </a:t>
            </a:r>
            <a:r>
              <a:rPr lang="en-US" sz="3533" b="1" dirty="0">
                <a:solidFill>
                  <a:srgbClr val="151857"/>
                </a:solidFill>
                <a:latin typeface="+mj-lt"/>
                <a:ea typeface="Heebo Bold"/>
                <a:sym typeface="Heebo Bold"/>
              </a:rPr>
              <a:t>AI</a:t>
            </a:r>
          </a:p>
        </p:txBody>
      </p:sp>
      <p:grpSp>
        <p:nvGrpSpPr>
          <p:cNvPr id="48" name="Group 48"/>
          <p:cNvGrpSpPr/>
          <p:nvPr/>
        </p:nvGrpSpPr>
        <p:grpSpPr>
          <a:xfrm>
            <a:off x="136723" y="1773535"/>
            <a:ext cx="3478816" cy="1180197"/>
            <a:chOff x="0" y="-57151"/>
            <a:chExt cx="6957632" cy="2360395"/>
          </a:xfrm>
        </p:grpSpPr>
        <p:sp>
          <p:nvSpPr>
            <p:cNvPr id="49" name="TextBox 49"/>
            <p:cNvSpPr txBox="1"/>
            <p:nvPr/>
          </p:nvSpPr>
          <p:spPr>
            <a:xfrm>
              <a:off x="658654" y="-57151"/>
              <a:ext cx="5640328" cy="516552"/>
            </a:xfrm>
            <a:prstGeom prst="rect">
              <a:avLst/>
            </a:prstGeom>
          </p:spPr>
          <p:txBody>
            <a:bodyPr lIns="0" tIns="0" rIns="0" bIns="0" rtlCol="0" anchor="t">
              <a:spAutoFit/>
            </a:bodyPr>
            <a:lstStyle/>
            <a:p>
              <a:pPr algn="ctr" defTabSz="609630">
                <a:lnSpc>
                  <a:spcPts val="2239"/>
                </a:lnSpc>
              </a:pPr>
              <a:r>
                <a:rPr lang="he-IL" sz="1600" b="1">
                  <a:solidFill>
                    <a:srgbClr val="151857"/>
                  </a:solidFill>
                  <a:latin typeface="+mj-lt"/>
                  <a:ea typeface="Liberation Sans Bold"/>
                  <a:sym typeface="Liberation Sans Bold"/>
                  <a:rtl/>
                </a:rPr>
                <a:t>גיבוש הרפורמה</a:t>
              </a:r>
            </a:p>
          </p:txBody>
        </p:sp>
        <p:sp>
          <p:nvSpPr>
            <p:cNvPr id="50" name="TextBox 50"/>
            <p:cNvSpPr txBox="1"/>
            <p:nvPr/>
          </p:nvSpPr>
          <p:spPr>
            <a:xfrm>
              <a:off x="0" y="717039"/>
              <a:ext cx="6957632" cy="1586205"/>
            </a:xfrm>
            <a:prstGeom prst="rect">
              <a:avLst/>
            </a:prstGeom>
          </p:spPr>
          <p:txBody>
            <a:bodyPr lIns="0" tIns="0" rIns="0" bIns="0" rtlCol="0" anchor="t">
              <a:spAutoFit/>
            </a:bodyPr>
            <a:lstStyle/>
            <a:p>
              <a:pPr marL="331061" lvl="1" indent="-165531" defTabSz="609630">
                <a:lnSpc>
                  <a:spcPts val="2146"/>
                </a:lnSpc>
                <a:buFont typeface="Arial"/>
                <a:buChar char="•"/>
              </a:pPr>
              <a:r>
                <a:rPr lang="he-IL" sz="1600" b="1" dirty="0">
                  <a:solidFill>
                    <a:srgbClr val="000000"/>
                  </a:solidFill>
                  <a:latin typeface="+mj-lt"/>
                  <a:ea typeface="Liberation Sans Bold"/>
                  <a:sym typeface="Liberation Sans Bold"/>
                  <a:rtl/>
                </a:rPr>
                <a:t>גיבוש הצעה לשינוי בשותפות </a:t>
              </a:r>
            </a:p>
            <a:p>
              <a:pPr marL="331061" lvl="1" indent="-165531" defTabSz="609630">
                <a:lnSpc>
                  <a:spcPts val="2146"/>
                </a:lnSpc>
                <a:buFont typeface="Arial"/>
                <a:buChar char="•"/>
              </a:pPr>
              <a:r>
                <a:rPr lang="he-IL" sz="1600" b="1" dirty="0">
                  <a:solidFill>
                    <a:srgbClr val="000000"/>
                  </a:solidFill>
                  <a:latin typeface="+mj-lt"/>
                  <a:ea typeface="Liberation Sans Bold"/>
                  <a:sym typeface="Liberation Sans Bold"/>
                  <a:rtl/>
                </a:rPr>
                <a:t>המלצות הוועדה הבין משרדית</a:t>
              </a:r>
            </a:p>
            <a:p>
              <a:pPr marL="331061" lvl="1" indent="-165531" defTabSz="609630">
                <a:lnSpc>
                  <a:spcPts val="2146"/>
                </a:lnSpc>
                <a:buFont typeface="Arial"/>
                <a:buChar char="•"/>
              </a:pPr>
              <a:r>
                <a:rPr lang="he-IL" sz="1600" b="1" dirty="0">
                  <a:solidFill>
                    <a:srgbClr val="000000"/>
                  </a:solidFill>
                  <a:latin typeface="+mj-lt"/>
                  <a:ea typeface="Liberation Sans Bold"/>
                  <a:sym typeface="Liberation Sans Bold"/>
                  <a:rtl/>
                </a:rPr>
                <a:t>חוק ההסדרים </a:t>
              </a:r>
              <a:r>
                <a:rPr lang="en-US" sz="1600" b="1" dirty="0">
                  <a:solidFill>
                    <a:srgbClr val="000000"/>
                  </a:solidFill>
                  <a:latin typeface="+mj-lt"/>
                  <a:ea typeface="Liberation Sans Bold"/>
                  <a:sym typeface="Liberation Sans Bold"/>
                </a:rPr>
                <a:t>2023</a:t>
              </a:r>
            </a:p>
          </p:txBody>
        </p:sp>
      </p:grpSp>
      <p:sp>
        <p:nvSpPr>
          <p:cNvPr id="51" name="TextBox 51"/>
          <p:cNvSpPr txBox="1"/>
          <p:nvPr/>
        </p:nvSpPr>
        <p:spPr>
          <a:xfrm>
            <a:off x="2482411" y="4896027"/>
            <a:ext cx="2505929" cy="258276"/>
          </a:xfrm>
          <a:prstGeom prst="rect">
            <a:avLst/>
          </a:prstGeom>
        </p:spPr>
        <p:txBody>
          <a:bodyPr lIns="0" tIns="0" rIns="0" bIns="0" rtlCol="0" anchor="t">
            <a:spAutoFit/>
          </a:bodyPr>
          <a:lstStyle/>
          <a:p>
            <a:pPr algn="ctr" defTabSz="609630">
              <a:lnSpc>
                <a:spcPts val="2239"/>
              </a:lnSpc>
            </a:pPr>
            <a:r>
              <a:rPr lang="he-IL" sz="1600" b="1">
                <a:solidFill>
                  <a:srgbClr val="151857"/>
                </a:solidFill>
                <a:latin typeface="+mj-lt"/>
                <a:ea typeface="Liberation Sans Bold"/>
                <a:sym typeface="Liberation Sans Bold"/>
                <a:rtl/>
              </a:rPr>
              <a:t>מחקר, ביסוס ולמידה</a:t>
            </a:r>
          </a:p>
        </p:txBody>
      </p:sp>
      <p:sp>
        <p:nvSpPr>
          <p:cNvPr id="52" name="TextBox 52"/>
          <p:cNvSpPr txBox="1"/>
          <p:nvPr/>
        </p:nvSpPr>
        <p:spPr>
          <a:xfrm>
            <a:off x="4017695" y="1515259"/>
            <a:ext cx="2468541" cy="258276"/>
          </a:xfrm>
          <a:prstGeom prst="rect">
            <a:avLst/>
          </a:prstGeom>
        </p:spPr>
        <p:txBody>
          <a:bodyPr lIns="0" tIns="0" rIns="0" bIns="0" rtlCol="0" anchor="t">
            <a:spAutoFit/>
          </a:bodyPr>
          <a:lstStyle/>
          <a:p>
            <a:pPr algn="ctr" defTabSz="609630">
              <a:lnSpc>
                <a:spcPts val="2239"/>
              </a:lnSpc>
            </a:pPr>
            <a:r>
              <a:rPr lang="he-IL" sz="1600" b="1" dirty="0">
                <a:solidFill>
                  <a:srgbClr val="151857"/>
                </a:solidFill>
                <a:latin typeface="+mj-lt"/>
                <a:ea typeface="Liberation Sans Bold"/>
                <a:sym typeface="Liberation Sans Bold"/>
                <a:rtl/>
              </a:rPr>
              <a:t>עיצוב ותיקוף מודל השירות</a:t>
            </a:r>
          </a:p>
        </p:txBody>
      </p:sp>
      <p:sp>
        <p:nvSpPr>
          <p:cNvPr id="53" name="TextBox 53"/>
          <p:cNvSpPr txBox="1"/>
          <p:nvPr/>
        </p:nvSpPr>
        <p:spPr>
          <a:xfrm>
            <a:off x="5679913" y="5092415"/>
            <a:ext cx="2920480" cy="264111"/>
          </a:xfrm>
          <a:prstGeom prst="rect">
            <a:avLst/>
          </a:prstGeom>
        </p:spPr>
        <p:txBody>
          <a:bodyPr lIns="0" tIns="0" rIns="0" bIns="0" rtlCol="0" anchor="t">
            <a:spAutoFit/>
          </a:bodyPr>
          <a:lstStyle/>
          <a:p>
            <a:pPr algn="ctr" defTabSz="609630">
              <a:lnSpc>
                <a:spcPts val="2239"/>
              </a:lnSpc>
            </a:pPr>
            <a:r>
              <a:rPr lang="he-IL" sz="1600" b="1">
                <a:solidFill>
                  <a:srgbClr val="151857"/>
                </a:solidFill>
                <a:latin typeface="+mj-lt"/>
                <a:ea typeface="Liberation Sans Bold"/>
                <a:sym typeface="Liberation Sans Bold"/>
                <a:rtl/>
              </a:rPr>
              <a:t>תהליכים מקבילים ומשלימים-</a:t>
            </a:r>
            <a:r>
              <a:rPr lang="en-US" sz="1600" b="1">
                <a:solidFill>
                  <a:srgbClr val="151857"/>
                </a:solidFill>
                <a:latin typeface="+mj-lt"/>
                <a:ea typeface="Liberation Sans Bold"/>
                <a:sym typeface="Liberation Sans Bold"/>
              </a:rPr>
              <a:t>Q1</a:t>
            </a:r>
            <a:r>
              <a:rPr lang="ar-EG" sz="1600" b="1">
                <a:solidFill>
                  <a:srgbClr val="151857"/>
                </a:solidFill>
                <a:latin typeface="+mj-lt"/>
                <a:ea typeface="Liberation Sans Bold"/>
                <a:sym typeface="Liberation Sans Bold"/>
                <a:rtl/>
              </a:rPr>
              <a:t> </a:t>
            </a:r>
          </a:p>
        </p:txBody>
      </p:sp>
      <p:sp>
        <p:nvSpPr>
          <p:cNvPr id="54" name="TextBox 54"/>
          <p:cNvSpPr txBox="1"/>
          <p:nvPr/>
        </p:nvSpPr>
        <p:spPr>
          <a:xfrm>
            <a:off x="7475568" y="1849026"/>
            <a:ext cx="2403065" cy="281359"/>
          </a:xfrm>
          <a:prstGeom prst="rect">
            <a:avLst/>
          </a:prstGeom>
        </p:spPr>
        <p:txBody>
          <a:bodyPr lIns="0" tIns="0" rIns="0" bIns="0" rtlCol="0" anchor="t">
            <a:spAutoFit/>
          </a:bodyPr>
          <a:lstStyle/>
          <a:p>
            <a:pPr algn="ctr" defTabSz="609630">
              <a:lnSpc>
                <a:spcPts val="2426"/>
              </a:lnSpc>
            </a:pPr>
            <a:r>
              <a:rPr lang="he-IL" sz="1733" b="1">
                <a:solidFill>
                  <a:srgbClr val="151857"/>
                </a:solidFill>
                <a:latin typeface="+mj-lt"/>
                <a:ea typeface="Liberation Sans Bold"/>
                <a:sym typeface="Liberation Sans Bold"/>
                <a:rtl/>
              </a:rPr>
              <a:t>צעדים להמשך</a:t>
            </a:r>
          </a:p>
        </p:txBody>
      </p:sp>
      <p:grpSp>
        <p:nvGrpSpPr>
          <p:cNvPr id="55" name="Group 55"/>
          <p:cNvGrpSpPr/>
          <p:nvPr/>
        </p:nvGrpSpPr>
        <p:grpSpPr>
          <a:xfrm>
            <a:off x="8820259" y="4816290"/>
            <a:ext cx="2403065" cy="1993222"/>
            <a:chOff x="0" y="-57149"/>
            <a:chExt cx="4806131" cy="3986443"/>
          </a:xfrm>
        </p:grpSpPr>
        <p:sp>
          <p:nvSpPr>
            <p:cNvPr id="56" name="TextBox 56"/>
            <p:cNvSpPr txBox="1"/>
            <p:nvPr/>
          </p:nvSpPr>
          <p:spPr>
            <a:xfrm>
              <a:off x="700568" y="-57149"/>
              <a:ext cx="3404995" cy="1092480"/>
            </a:xfrm>
            <a:prstGeom prst="rect">
              <a:avLst/>
            </a:prstGeom>
          </p:spPr>
          <p:txBody>
            <a:bodyPr lIns="0" tIns="0" rIns="0" bIns="0" rtlCol="0" anchor="t">
              <a:spAutoFit/>
            </a:bodyPr>
            <a:lstStyle/>
            <a:p>
              <a:pPr algn="ctr" defTabSz="609630">
                <a:lnSpc>
                  <a:spcPts val="2239"/>
                </a:lnSpc>
              </a:pPr>
              <a:r>
                <a:rPr lang="he-IL" sz="1600" b="1" dirty="0">
                  <a:solidFill>
                    <a:srgbClr val="151857"/>
                  </a:solidFill>
                  <a:latin typeface="+mj-lt"/>
                  <a:ea typeface="Liberation Sans Bold"/>
                  <a:sym typeface="Liberation Sans Bold"/>
                  <a:rtl/>
                </a:rPr>
                <a:t>סל תפקוד מותאם אישית </a:t>
              </a:r>
              <a:r>
                <a:rPr lang="en-US" sz="1600" b="1" dirty="0">
                  <a:solidFill>
                    <a:srgbClr val="151857"/>
                  </a:solidFill>
                  <a:latin typeface="+mj-lt"/>
                  <a:ea typeface="Liberation Sans Bold"/>
                  <a:sym typeface="Liberation Sans Bold"/>
                </a:rPr>
                <a:t>AI</a:t>
              </a:r>
            </a:p>
          </p:txBody>
        </p:sp>
        <p:sp>
          <p:nvSpPr>
            <p:cNvPr id="57" name="TextBox 57"/>
            <p:cNvSpPr txBox="1"/>
            <p:nvPr/>
          </p:nvSpPr>
          <p:spPr>
            <a:xfrm>
              <a:off x="0" y="1285365"/>
              <a:ext cx="4806131" cy="2643929"/>
            </a:xfrm>
            <a:prstGeom prst="rect">
              <a:avLst/>
            </a:prstGeom>
          </p:spPr>
          <p:txBody>
            <a:bodyPr lIns="0" tIns="0" rIns="0" bIns="0" rtlCol="0" anchor="t">
              <a:spAutoFit/>
            </a:bodyPr>
            <a:lstStyle/>
            <a:p>
              <a:pPr algn="ctr" defTabSz="609630">
                <a:lnSpc>
                  <a:spcPts val="2053"/>
                </a:lnSpc>
              </a:pPr>
              <a:r>
                <a:rPr lang="he-IL" sz="1600" b="1" dirty="0">
                  <a:solidFill>
                    <a:srgbClr val="000000"/>
                  </a:solidFill>
                  <a:latin typeface="+mj-lt"/>
                  <a:ea typeface="Liberation Sans Bold"/>
                  <a:sym typeface="Liberation Sans Bold"/>
                  <a:rtl/>
                </a:rPr>
                <a:t>האדם במרכז- ולא המערכות</a:t>
              </a:r>
            </a:p>
            <a:p>
              <a:pPr algn="ctr" defTabSz="609630">
                <a:lnSpc>
                  <a:spcPts val="2053"/>
                </a:lnSpc>
              </a:pPr>
              <a:r>
                <a:rPr lang="he-IL" sz="1600" b="1" dirty="0">
                  <a:solidFill>
                    <a:srgbClr val="000000"/>
                  </a:solidFill>
                  <a:latin typeface="+mj-lt"/>
                  <a:ea typeface="Liberation Sans Bold"/>
                  <a:sym typeface="Liberation Sans Bold"/>
                  <a:rtl/>
                </a:rPr>
                <a:t>הזדקנות מיטבית</a:t>
              </a:r>
            </a:p>
            <a:p>
              <a:pPr algn="ctr" defTabSz="609630">
                <a:lnSpc>
                  <a:spcPts val="2053"/>
                </a:lnSpc>
              </a:pPr>
              <a:r>
                <a:rPr lang="he-IL" sz="1600" b="1" dirty="0">
                  <a:solidFill>
                    <a:srgbClr val="000000"/>
                  </a:solidFill>
                  <a:latin typeface="+mj-lt"/>
                  <a:ea typeface="Liberation Sans Bold"/>
                  <a:sym typeface="Liberation Sans Bold"/>
                  <a:rtl/>
                </a:rPr>
                <a:t>מניעת הדרדרות</a:t>
              </a:r>
            </a:p>
            <a:p>
              <a:pPr algn="ctr" defTabSz="609630">
                <a:lnSpc>
                  <a:spcPts val="2053"/>
                </a:lnSpc>
              </a:pPr>
              <a:r>
                <a:rPr lang="he-IL" sz="1600" b="1" dirty="0">
                  <a:solidFill>
                    <a:srgbClr val="000000"/>
                  </a:solidFill>
                  <a:latin typeface="+mj-lt"/>
                  <a:ea typeface="Liberation Sans Bold"/>
                  <a:sym typeface="Liberation Sans Bold"/>
                  <a:rtl/>
                </a:rPr>
                <a:t>בחירה אישית במרקט פלייס</a:t>
              </a:r>
            </a:p>
            <a:p>
              <a:pPr algn="ctr" defTabSz="609630">
                <a:lnSpc>
                  <a:spcPts val="2053"/>
                </a:lnSpc>
              </a:pPr>
              <a:endParaRPr lang="he-IL" sz="1600" b="1" dirty="0">
                <a:solidFill>
                  <a:srgbClr val="000000"/>
                </a:solidFill>
                <a:latin typeface="+mj-lt"/>
                <a:ea typeface="Liberation Sans Bold"/>
                <a:sym typeface="Liberation Sans Bold"/>
                <a:rtl/>
              </a:endParaRPr>
            </a:p>
          </p:txBody>
        </p:sp>
      </p:grpSp>
      <p:sp>
        <p:nvSpPr>
          <p:cNvPr id="58" name="TextBox 58"/>
          <p:cNvSpPr txBox="1"/>
          <p:nvPr/>
        </p:nvSpPr>
        <p:spPr>
          <a:xfrm>
            <a:off x="4321307" y="1802036"/>
            <a:ext cx="2050851" cy="1104661"/>
          </a:xfrm>
          <a:prstGeom prst="rect">
            <a:avLst/>
          </a:prstGeom>
        </p:spPr>
        <p:txBody>
          <a:bodyPr lIns="0" tIns="0" rIns="0" bIns="0" rtlCol="0" anchor="t">
            <a:spAutoFit/>
          </a:bodyPr>
          <a:lstStyle/>
          <a:p>
            <a:pPr algn="ctr" defTabSz="609630">
              <a:lnSpc>
                <a:spcPts val="2239"/>
              </a:lnSpc>
            </a:pPr>
            <a:r>
              <a:rPr lang="he-IL" sz="1600" b="1" dirty="0">
                <a:solidFill>
                  <a:srgbClr val="000000"/>
                </a:solidFill>
                <a:latin typeface="+mj-lt"/>
                <a:ea typeface="Arimo Bold"/>
                <a:sym typeface="Arimo Bold"/>
                <a:rtl/>
              </a:rPr>
              <a:t>סדנת עיצוב שירות</a:t>
            </a:r>
          </a:p>
          <a:p>
            <a:pPr defTabSz="609630">
              <a:lnSpc>
                <a:spcPts val="2239"/>
              </a:lnSpc>
            </a:pPr>
            <a:r>
              <a:rPr lang="ar-EG" sz="1600" b="1" dirty="0">
                <a:solidFill>
                  <a:srgbClr val="000000"/>
                </a:solidFill>
                <a:latin typeface="+mj-lt"/>
                <a:ea typeface="Arimo Bold"/>
                <a:sym typeface="Arimo Bold"/>
                <a:rtl/>
              </a:rPr>
              <a:t>       </a:t>
            </a:r>
            <a:r>
              <a:rPr lang="he-IL" sz="1600" b="1" dirty="0">
                <a:solidFill>
                  <a:srgbClr val="000000"/>
                </a:solidFill>
                <a:latin typeface="+mj-lt"/>
                <a:ea typeface="Arimo Bold"/>
                <a:sym typeface="Arimo Bold"/>
                <a:rtl/>
              </a:rPr>
              <a:t>מה? איך? ולמי?</a:t>
            </a:r>
          </a:p>
          <a:p>
            <a:pPr marL="345457" lvl="1" indent="-172729" defTabSz="609630">
              <a:lnSpc>
                <a:spcPts val="2239"/>
              </a:lnSpc>
              <a:buFont typeface="Arial"/>
              <a:buChar char="•"/>
            </a:pPr>
            <a:r>
              <a:rPr lang="he-IL" sz="1600" b="1" dirty="0">
                <a:solidFill>
                  <a:srgbClr val="000000"/>
                </a:solidFill>
                <a:latin typeface="+mj-lt"/>
                <a:ea typeface="Arimo Bold"/>
                <a:sym typeface="Arimo Bold"/>
                <a:rtl/>
              </a:rPr>
              <a:t>מסע לקוח מחודש </a:t>
            </a:r>
          </a:p>
          <a:p>
            <a:pPr marL="345457" lvl="1" indent="-172729" defTabSz="609630">
              <a:lnSpc>
                <a:spcPts val="2239"/>
              </a:lnSpc>
              <a:buFont typeface="Arial"/>
              <a:buChar char="•"/>
            </a:pPr>
            <a:r>
              <a:rPr lang="he-IL" sz="1600" b="1" dirty="0">
                <a:solidFill>
                  <a:srgbClr val="000000"/>
                </a:solidFill>
                <a:latin typeface="+mj-lt"/>
                <a:ea typeface="Arimo Bold"/>
                <a:sym typeface="Arimo Bold"/>
                <a:rtl/>
              </a:rPr>
              <a:t>עקרונות </a:t>
            </a:r>
            <a:r>
              <a:rPr lang="he-IL" sz="1600" b="1" dirty="0" err="1">
                <a:solidFill>
                  <a:srgbClr val="000000"/>
                </a:solidFill>
                <a:latin typeface="+mj-lt"/>
                <a:ea typeface="Arimo Bold"/>
                <a:sym typeface="Arimo Bold"/>
                <a:rtl/>
              </a:rPr>
              <a:t>הפיילוטים</a:t>
            </a:r>
            <a:endParaRPr lang="he-IL" sz="1600" b="1" dirty="0">
              <a:solidFill>
                <a:srgbClr val="000000"/>
              </a:solidFill>
              <a:latin typeface="+mj-lt"/>
              <a:ea typeface="Arimo Bold"/>
              <a:sym typeface="Arimo Bold"/>
              <a:rtl/>
            </a:endParaRPr>
          </a:p>
        </p:txBody>
      </p:sp>
      <p:sp>
        <p:nvSpPr>
          <p:cNvPr id="59" name="TextBox 59"/>
          <p:cNvSpPr txBox="1"/>
          <p:nvPr/>
        </p:nvSpPr>
        <p:spPr>
          <a:xfrm>
            <a:off x="5457155" y="5439125"/>
            <a:ext cx="3219946" cy="783420"/>
          </a:xfrm>
          <a:prstGeom prst="rect">
            <a:avLst/>
          </a:prstGeom>
        </p:spPr>
        <p:txBody>
          <a:bodyPr lIns="0" tIns="0" rIns="0" bIns="0" rtlCol="0" anchor="t">
            <a:spAutoFit/>
          </a:bodyPr>
          <a:lstStyle/>
          <a:p>
            <a:pPr marL="316677" lvl="1" indent="-158339" defTabSz="609630">
              <a:lnSpc>
                <a:spcPts val="2053"/>
              </a:lnSpc>
              <a:buFont typeface="Arial"/>
              <a:buChar char="•"/>
            </a:pPr>
            <a:r>
              <a:rPr lang="he-IL" sz="1600" b="1" dirty="0">
                <a:solidFill>
                  <a:srgbClr val="000000"/>
                </a:solidFill>
                <a:latin typeface="+mj-lt"/>
                <a:ea typeface="Arimo Bold"/>
                <a:sym typeface="Arimo Bold"/>
                <a:rtl/>
              </a:rPr>
              <a:t>המלצות צוות המדדים  </a:t>
            </a:r>
          </a:p>
          <a:p>
            <a:pPr marL="316677" lvl="1" indent="-158339" defTabSz="609630">
              <a:lnSpc>
                <a:spcPts val="2053"/>
              </a:lnSpc>
              <a:buFont typeface="Arial"/>
              <a:buChar char="•"/>
            </a:pPr>
            <a:r>
              <a:rPr lang="he-IL" sz="1600" b="1" dirty="0">
                <a:solidFill>
                  <a:srgbClr val="000000"/>
                </a:solidFill>
                <a:latin typeface="+mj-lt"/>
                <a:ea typeface="Arimo Bold"/>
                <a:sym typeface="Arimo Bold"/>
                <a:rtl/>
              </a:rPr>
              <a:t>פיתוח פלטפורמה דיגיטלית תומכת.</a:t>
            </a:r>
          </a:p>
          <a:p>
            <a:pPr marL="316677" lvl="1" indent="-158339" defTabSz="609630">
              <a:lnSpc>
                <a:spcPts val="2053"/>
              </a:lnSpc>
              <a:buFont typeface="Arial"/>
              <a:buChar char="•"/>
            </a:pPr>
            <a:r>
              <a:rPr lang="he-IL" sz="1600" b="1" dirty="0">
                <a:solidFill>
                  <a:srgbClr val="000000"/>
                </a:solidFill>
                <a:latin typeface="+mj-lt"/>
                <a:ea typeface="Arimo Bold"/>
                <a:sym typeface="Arimo Bold"/>
                <a:rtl/>
              </a:rPr>
              <a:t>גיבוש מודל תמריצים</a:t>
            </a:r>
          </a:p>
        </p:txBody>
      </p:sp>
      <p:sp>
        <p:nvSpPr>
          <p:cNvPr id="60" name="TextBox 60"/>
          <p:cNvSpPr txBox="1"/>
          <p:nvPr/>
        </p:nvSpPr>
        <p:spPr>
          <a:xfrm>
            <a:off x="7197617" y="2205049"/>
            <a:ext cx="2404467" cy="783356"/>
          </a:xfrm>
          <a:prstGeom prst="rect">
            <a:avLst/>
          </a:prstGeom>
        </p:spPr>
        <p:txBody>
          <a:bodyPr lIns="0" tIns="0" rIns="0" bIns="0" rtlCol="0" anchor="t">
            <a:spAutoFit/>
          </a:bodyPr>
          <a:lstStyle/>
          <a:p>
            <a:pPr marL="316668" lvl="1" indent="-158335" defTabSz="609630">
              <a:lnSpc>
                <a:spcPts val="2053"/>
              </a:lnSpc>
              <a:buFontTx/>
              <a:buAutoNum type="arabicPeriod"/>
            </a:pPr>
            <a:r>
              <a:rPr lang="he-IL" sz="1600" b="1" dirty="0">
                <a:solidFill>
                  <a:srgbClr val="000000"/>
                </a:solidFill>
                <a:latin typeface="+mj-lt"/>
                <a:ea typeface="Arimo Bold"/>
                <a:sym typeface="Arimo Bold"/>
                <a:rtl/>
              </a:rPr>
              <a:t>גיבוש והרחבת </a:t>
            </a:r>
            <a:r>
              <a:rPr lang="he-IL" sz="1600" b="1" dirty="0" err="1">
                <a:solidFill>
                  <a:srgbClr val="000000"/>
                </a:solidFill>
                <a:latin typeface="+mj-lt"/>
                <a:ea typeface="Arimo Bold"/>
                <a:sym typeface="Arimo Bold"/>
                <a:rtl/>
              </a:rPr>
              <a:t>הפיילוטים</a:t>
            </a:r>
            <a:endParaRPr lang="he-IL" sz="1600" b="1" dirty="0">
              <a:solidFill>
                <a:srgbClr val="000000"/>
              </a:solidFill>
              <a:latin typeface="+mj-lt"/>
              <a:ea typeface="Arimo Bold"/>
              <a:sym typeface="Arimo Bold"/>
              <a:rtl/>
            </a:endParaRPr>
          </a:p>
          <a:p>
            <a:pPr marL="316668" lvl="1" indent="-158335" defTabSz="609630">
              <a:lnSpc>
                <a:spcPts val="2053"/>
              </a:lnSpc>
              <a:buFontTx/>
              <a:buAutoNum type="arabicPeriod"/>
            </a:pPr>
            <a:r>
              <a:rPr lang="he-IL" sz="1600" b="1" dirty="0">
                <a:solidFill>
                  <a:srgbClr val="000000"/>
                </a:solidFill>
                <a:latin typeface="+mj-lt"/>
                <a:ea typeface="Arimo Bold"/>
                <a:sym typeface="Arimo Bold"/>
                <a:rtl/>
              </a:rPr>
              <a:t>מדידה והערכה</a:t>
            </a:r>
          </a:p>
          <a:p>
            <a:pPr marL="316668" lvl="1" indent="-158335" defTabSz="609630">
              <a:lnSpc>
                <a:spcPts val="2053"/>
              </a:lnSpc>
              <a:buFontTx/>
              <a:buAutoNum type="arabicPeriod"/>
            </a:pPr>
            <a:r>
              <a:rPr lang="he-IL" sz="1600" b="1" dirty="0" err="1">
                <a:solidFill>
                  <a:srgbClr val="000000"/>
                </a:solidFill>
                <a:latin typeface="+mj-lt"/>
                <a:ea typeface="Arimo Bold"/>
                <a:sym typeface="Arimo Bold"/>
                <a:rtl/>
              </a:rPr>
              <a:t>סקיילינג</a:t>
            </a:r>
            <a:r>
              <a:rPr lang="he-IL" sz="1600" b="1" dirty="0">
                <a:solidFill>
                  <a:srgbClr val="000000"/>
                </a:solidFill>
                <a:latin typeface="+mj-lt"/>
                <a:ea typeface="Arimo Bold"/>
                <a:sym typeface="Arimo Bold"/>
                <a:rtl/>
              </a:rPr>
              <a:t> ארצי</a:t>
            </a:r>
          </a:p>
        </p:txBody>
      </p:sp>
      <p:sp>
        <p:nvSpPr>
          <p:cNvPr id="61" name="TextBox 61"/>
          <p:cNvSpPr txBox="1"/>
          <p:nvPr/>
        </p:nvSpPr>
        <p:spPr>
          <a:xfrm>
            <a:off x="8758882" y="5964140"/>
            <a:ext cx="2403065" cy="258276"/>
          </a:xfrm>
          <a:prstGeom prst="rect">
            <a:avLst/>
          </a:prstGeom>
        </p:spPr>
        <p:txBody>
          <a:bodyPr lIns="0" tIns="0" rIns="0" bIns="0" rtlCol="0" anchor="t">
            <a:spAutoFit/>
          </a:bodyPr>
          <a:lstStyle/>
          <a:p>
            <a:pPr algn="ctr" defTabSz="609630">
              <a:lnSpc>
                <a:spcPts val="2239"/>
              </a:lnSpc>
              <a:spcBef>
                <a:spcPct val="0"/>
              </a:spcBef>
            </a:pPr>
            <a:r>
              <a:rPr lang="he-IL" sz="1600" b="1">
                <a:solidFill>
                  <a:srgbClr val="000000"/>
                </a:solidFill>
                <a:latin typeface="+mj-lt"/>
                <a:ea typeface="Liberation Sans Bold"/>
                <a:sym typeface="Liberation Sans Bold"/>
                <a:rtl/>
              </a:rPr>
              <a:t>י</a:t>
            </a:r>
          </a:p>
        </p:txBody>
      </p:sp>
      <p:sp>
        <p:nvSpPr>
          <p:cNvPr id="62" name="TextBox 62"/>
          <p:cNvSpPr txBox="1"/>
          <p:nvPr/>
        </p:nvSpPr>
        <p:spPr>
          <a:xfrm>
            <a:off x="757166" y="5243502"/>
            <a:ext cx="4471194" cy="793102"/>
          </a:xfrm>
          <a:prstGeom prst="rect">
            <a:avLst/>
          </a:prstGeom>
        </p:spPr>
        <p:txBody>
          <a:bodyPr lIns="0" tIns="0" rIns="0" bIns="0" rtlCol="0" anchor="t">
            <a:spAutoFit/>
          </a:bodyPr>
          <a:lstStyle/>
          <a:p>
            <a:pPr marL="331064" lvl="1" indent="-165532" defTabSz="609630">
              <a:lnSpc>
                <a:spcPts val="2147"/>
              </a:lnSpc>
              <a:buFont typeface="Arial"/>
              <a:buChar char="•"/>
            </a:pPr>
            <a:r>
              <a:rPr lang="he-IL" sz="1600" b="1" dirty="0">
                <a:solidFill>
                  <a:srgbClr val="000000"/>
                </a:solidFill>
                <a:latin typeface="+mj-lt"/>
                <a:ea typeface="Arimo Bold"/>
                <a:sym typeface="Arimo Bold"/>
                <a:rtl/>
              </a:rPr>
              <a:t>מחקר שטח עם נותני ומקבלי השירותים</a:t>
            </a:r>
          </a:p>
          <a:p>
            <a:pPr marL="331064" lvl="1" indent="-165532" defTabSz="609630">
              <a:lnSpc>
                <a:spcPts val="2147"/>
              </a:lnSpc>
              <a:buFont typeface="Arial"/>
              <a:buChar char="•"/>
            </a:pPr>
            <a:r>
              <a:rPr lang="he-IL" sz="1600" b="1" dirty="0">
                <a:solidFill>
                  <a:srgbClr val="000000"/>
                </a:solidFill>
                <a:latin typeface="+mj-lt"/>
                <a:ea typeface="Arimo Bold"/>
                <a:sym typeface="Arimo Bold"/>
                <a:rtl/>
              </a:rPr>
              <a:t>גיבוש מנגנון הפעלה משותף</a:t>
            </a:r>
          </a:p>
          <a:p>
            <a:pPr marL="331064" lvl="1" indent="-165532" defTabSz="609630">
              <a:lnSpc>
                <a:spcPts val="2147"/>
              </a:lnSpc>
              <a:buFont typeface="Arial"/>
              <a:buChar char="•"/>
            </a:pPr>
            <a:r>
              <a:rPr lang="en-US" sz="1600" b="1" dirty="0">
                <a:solidFill>
                  <a:srgbClr val="000000"/>
                </a:solidFill>
                <a:latin typeface="+mj-lt"/>
                <a:ea typeface="Arimo Bold"/>
                <a:sym typeface="Arimo Bold"/>
              </a:rPr>
              <a:t>2</a:t>
            </a:r>
            <a:r>
              <a:rPr lang="he-IL" sz="1600" b="1" dirty="0">
                <a:solidFill>
                  <a:srgbClr val="000000"/>
                </a:solidFill>
                <a:latin typeface="+mj-lt"/>
                <a:ea typeface="Arimo Bold"/>
                <a:sym typeface="Arimo Bold"/>
                <a:rtl/>
              </a:rPr>
              <a:t> </a:t>
            </a:r>
            <a:r>
              <a:rPr lang="he-IL" sz="1600" b="1" dirty="0" err="1">
                <a:solidFill>
                  <a:srgbClr val="000000"/>
                </a:solidFill>
                <a:latin typeface="+mj-lt"/>
                <a:ea typeface="Arimo Bold"/>
                <a:sym typeface="Arimo Bold"/>
                <a:rtl/>
              </a:rPr>
              <a:t>פיילוטים</a:t>
            </a:r>
            <a:r>
              <a:rPr lang="he-IL" sz="1600" b="1" dirty="0">
                <a:solidFill>
                  <a:srgbClr val="000000"/>
                </a:solidFill>
                <a:latin typeface="+mj-lt"/>
                <a:ea typeface="Arimo Bold"/>
                <a:sym typeface="Arimo Bold"/>
                <a:rtl/>
              </a:rPr>
              <a:t> פעילים עם למידה מתמשכת מהשטח</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6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6740290" y="469748"/>
            <a:ext cx="4796418" cy="76944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מה יוצא לנו מזה</a:t>
            </a:r>
            <a:r>
              <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a:t>
            </a:r>
            <a:endParaRPr kumimoji="0" lang="en-IL"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447792"/>
            <a:ext cx="2528239"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הזדקנות מיטבית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262552" y="2792914"/>
            <a:ext cx="170271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ניהול ואסטרטגיה</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63364" y="2776824"/>
            <a:ext cx="117692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אפקטיביות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ssistant" pitchFamily="2" charset="-79"/>
                <a:ea typeface="Heebo Black"/>
                <a:cs typeface="Assistant" pitchFamily="2" charset="-79"/>
                <a:sym typeface="Heebo Black"/>
              </a:rPr>
              <a:t>הרחבת</a:t>
            </a:r>
            <a:r>
              <a:rPr lang="he-IL" b="1" dirty="0">
                <a:solidFill>
                  <a:srgbClr val="DBEFF9">
                    <a:lumMod val="10000"/>
                  </a:srgbClr>
                </a:solidFill>
                <a:latin typeface="Assistant" pitchFamily="2" charset="-79"/>
                <a:ea typeface="Heebo Black"/>
                <a:cs typeface="Assistant" pitchFamily="2" charset="-79"/>
                <a:sym typeface="Heebo Black"/>
              </a:rPr>
              <a:t> עצמאות ובחירה, השתתפות, </a:t>
            </a:r>
            <a:r>
              <a:rPr lang="he-IL" dirty="0">
                <a:solidFill>
                  <a:srgbClr val="DBEFF9">
                    <a:lumMod val="10000"/>
                  </a:srgbClr>
                </a:solidFill>
                <a:latin typeface="Assistant" pitchFamily="2" charset="-79"/>
                <a:ea typeface="Heebo Black"/>
                <a:cs typeface="Assistant" pitchFamily="2" charset="-79"/>
                <a:sym typeface="Heebo Black"/>
              </a:rPr>
              <a:t>וקידום </a:t>
            </a:r>
            <a:r>
              <a:rPr lang="he-IL" b="1" dirty="0">
                <a:solidFill>
                  <a:srgbClr val="DBEFF9">
                    <a:lumMod val="10000"/>
                  </a:srgbClr>
                </a:solidFill>
                <a:latin typeface="Assistant" pitchFamily="2" charset="-79"/>
                <a:ea typeface="Heebo Black"/>
                <a:cs typeface="Assistant" pitchFamily="2" charset="-79"/>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47579" y="186742"/>
            <a:ext cx="10515600" cy="1325563"/>
          </a:xfrm>
        </p:spPr>
        <p:txBody>
          <a:bodyPr/>
          <a:lstStyle/>
          <a:p>
            <a:r>
              <a:rPr lang="he-IL" b="1" dirty="0">
                <a:cs typeface="+mn-cs"/>
              </a:rPr>
              <a:t>רפורמה עם חסכון תקציבי?!</a:t>
            </a:r>
          </a:p>
        </p:txBody>
      </p:sp>
      <p:graphicFrame>
        <p:nvGraphicFramePr>
          <p:cNvPr id="4" name="תרשים 3"/>
          <p:cNvGraphicFramePr>
            <a:graphicFrameLocks/>
          </p:cNvGraphicFramePr>
          <p:nvPr/>
        </p:nvGraphicFramePr>
        <p:xfrm>
          <a:off x="5208562" y="2213015"/>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3810832" cy="2123658"/>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חסכון למשק לשנה</a:t>
            </a: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*מבוסס על עלויות הגמלה ועלויות בריאות בקופ"ח מאוחדת</a:t>
            </a:r>
          </a:p>
        </p:txBody>
      </p:sp>
    </p:spTree>
    <p:extLst>
      <p:ext uri="{BB962C8B-B14F-4D97-AF65-F5344CB8AC3E}">
        <p14:creationId xmlns:p14="http://schemas.microsoft.com/office/powerpoint/2010/main" val="2991427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מלבן 4">
            <a:extLst>
              <a:ext uri="{FF2B5EF4-FFF2-40B4-BE49-F238E27FC236}">
                <a16:creationId xmlns:a16="http://schemas.microsoft.com/office/drawing/2014/main" id="{7D3AF4E4-B6D2-33C7-F181-606B4823A50E}"/>
              </a:ext>
            </a:extLst>
          </p:cNvPr>
          <p:cNvSpPr/>
          <p:nvPr/>
        </p:nvSpPr>
        <p:spPr>
          <a:xfrm>
            <a:off x="45634" y="5339220"/>
            <a:ext cx="4020673"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295F2-6D23-757B-2745-9116D2110AC0}"/>
            </a:ext>
          </a:extLst>
        </p:cNvPr>
        <p:cNvGrpSpPr/>
        <p:nvPr/>
      </p:nvGrpSpPr>
      <p:grpSpPr>
        <a:xfrm>
          <a:off x="0" y="0"/>
          <a:ext cx="0" cy="0"/>
          <a:chOff x="0" y="0"/>
          <a:chExt cx="0" cy="0"/>
        </a:xfrm>
      </p:grpSpPr>
      <p:sp>
        <p:nvSpPr>
          <p:cNvPr id="9" name="תיבת טקסט 8">
            <a:extLst>
              <a:ext uri="{FF2B5EF4-FFF2-40B4-BE49-F238E27FC236}">
                <a16:creationId xmlns:a16="http://schemas.microsoft.com/office/drawing/2014/main" id="{CE688FAA-7C06-C1D8-E6C6-0D3951C1B5A5}"/>
              </a:ext>
            </a:extLst>
          </p:cNvPr>
          <p:cNvSpPr txBox="1"/>
          <p:nvPr/>
        </p:nvSpPr>
        <p:spPr>
          <a:xfrm>
            <a:off x="-1015999" y="341745"/>
            <a:ext cx="12736944" cy="9787295"/>
          </a:xfrm>
          <a:prstGeom prst="rect">
            <a:avLst/>
          </a:prstGeom>
          <a:noFill/>
        </p:spPr>
        <p:txBody>
          <a:bodyPr wrap="square">
            <a:spAutoFit/>
          </a:bodyPr>
          <a:lstStyle/>
          <a:p>
            <a:pPr algn="r" rtl="1"/>
            <a:r>
              <a:rPr lang="he-IL" b="1" dirty="0">
                <a:effectLst/>
              </a:rPr>
              <a:t>עקרונות המרכזיים לשיתוף פעולה מיטבי בין משרדי ממשלה ויזמים בתחום הזקנה:</a:t>
            </a:r>
          </a:p>
          <a:p>
            <a:pPr>
              <a:buFont typeface="+mj-lt"/>
              <a:buAutoNum type="arabicPeriod"/>
            </a:pPr>
            <a:r>
              <a:rPr lang="he-IL" dirty="0"/>
              <a:t>יצירת תשתית ארגונית תומכת:</a:t>
            </a:r>
          </a:p>
          <a:p>
            <a:pPr>
              <a:buFont typeface="Arial" panose="020B0604020202020204" pitchFamily="34" charset="0"/>
              <a:buChar char="•"/>
            </a:pPr>
            <a:r>
              <a:rPr lang="he-IL" dirty="0"/>
              <a:t>מינוי גורם </a:t>
            </a:r>
            <a:r>
              <a:rPr lang="he-IL" dirty="0" err="1"/>
              <a:t>מתכלל</a:t>
            </a:r>
            <a:r>
              <a:rPr lang="he-IL" dirty="0"/>
              <a:t> ייעודי במשרד הממשלתי שיהיה אחראי על הקשר עם היזמים</a:t>
            </a:r>
          </a:p>
          <a:p>
            <a:pPr>
              <a:buFont typeface="Arial" panose="020B0604020202020204" pitchFamily="34" charset="0"/>
              <a:buChar char="•"/>
            </a:pPr>
            <a:r>
              <a:rPr lang="he-IL" dirty="0"/>
              <a:t>הגדרת תהליכי עבודה ברורים ופשוטים עבור היזמים</a:t>
            </a:r>
          </a:p>
          <a:p>
            <a:pPr>
              <a:buFont typeface="Arial" panose="020B0604020202020204" pitchFamily="34" charset="0"/>
              <a:buChar char="•"/>
            </a:pPr>
            <a:r>
              <a:rPr lang="he-IL" dirty="0"/>
              <a:t>בניית מנגנוני תקשורת קבועים בין הצדדים</a:t>
            </a:r>
          </a:p>
          <a:p>
            <a:pPr>
              <a:buFont typeface="+mj-lt"/>
              <a:buAutoNum type="arabicPeriod" startAt="2"/>
            </a:pPr>
            <a:r>
              <a:rPr lang="he-IL" dirty="0"/>
              <a:t>הבנת הצרכים והאתגרים:</a:t>
            </a:r>
          </a:p>
          <a:p>
            <a:pPr>
              <a:buFont typeface="Arial" panose="020B0604020202020204" pitchFamily="34" charset="0"/>
              <a:buChar char="•"/>
            </a:pPr>
            <a:r>
              <a:rPr lang="he-IL" dirty="0"/>
              <a:t>ביצוע מיפוי מעמיק של צרכי האוכלוסייה המבוגרת</a:t>
            </a:r>
          </a:p>
          <a:p>
            <a:pPr>
              <a:buFont typeface="Arial" panose="020B0604020202020204" pitchFamily="34" charset="0"/>
              <a:buChar char="•"/>
            </a:pPr>
            <a:r>
              <a:rPr lang="he-IL" dirty="0"/>
              <a:t>זיהוי פערים וחסמים במערכת הקיימת</a:t>
            </a:r>
          </a:p>
          <a:p>
            <a:pPr>
              <a:buFont typeface="Arial" panose="020B0604020202020204" pitchFamily="34" charset="0"/>
              <a:buChar char="•"/>
            </a:pPr>
            <a:r>
              <a:rPr lang="he-IL" dirty="0"/>
              <a:t>הגדרת תחומי העדיפות לפיתוח פתרונות חדשניים</a:t>
            </a:r>
          </a:p>
          <a:p>
            <a:pPr>
              <a:buFont typeface="+mj-lt"/>
              <a:buAutoNum type="arabicPeriod" startAt="3"/>
            </a:pPr>
            <a:r>
              <a:rPr lang="he-IL" dirty="0"/>
              <a:t>בניית מודל עסקי בר-קיימא:</a:t>
            </a:r>
          </a:p>
          <a:p>
            <a:pPr>
              <a:buFont typeface="Arial" panose="020B0604020202020204" pitchFamily="34" charset="0"/>
              <a:buChar char="•"/>
            </a:pPr>
            <a:r>
              <a:rPr lang="he-IL" dirty="0"/>
              <a:t>יצירת מנגנוני מימון ותמריצים כלכליים ליזמים</a:t>
            </a:r>
          </a:p>
          <a:p>
            <a:pPr>
              <a:buFont typeface="Arial" panose="020B0604020202020204" pitchFamily="34" charset="0"/>
              <a:buChar char="•"/>
            </a:pPr>
            <a:r>
              <a:rPr lang="he-IL" dirty="0"/>
              <a:t>הגדרת מדדי הצלחה ברורים</a:t>
            </a:r>
          </a:p>
          <a:p>
            <a:pPr>
              <a:buFont typeface="Arial" panose="020B0604020202020204" pitchFamily="34" charset="0"/>
              <a:buChar char="•"/>
            </a:pPr>
            <a:r>
              <a:rPr lang="he-IL" dirty="0"/>
              <a:t>בחינת אפשרויות לסבסוד או רכש ממשלתי של הפתרונות</a:t>
            </a:r>
          </a:p>
          <a:p>
            <a:pPr>
              <a:buFont typeface="+mj-lt"/>
              <a:buAutoNum type="arabicPeriod" startAt="4"/>
            </a:pPr>
            <a:r>
              <a:rPr lang="he-IL" dirty="0"/>
              <a:t>גמישות רגולטורית:</a:t>
            </a:r>
          </a:p>
          <a:p>
            <a:pPr>
              <a:buFont typeface="Arial" panose="020B0604020202020204" pitchFamily="34" charset="0"/>
              <a:buChar char="•"/>
            </a:pPr>
            <a:r>
              <a:rPr lang="he-IL" dirty="0"/>
              <a:t>התאמת הרגולציה לעידוד חדשנות</a:t>
            </a:r>
          </a:p>
          <a:p>
            <a:pPr>
              <a:buFont typeface="Arial" panose="020B0604020202020204" pitchFamily="34" charset="0"/>
              <a:buChar char="•"/>
            </a:pPr>
            <a:r>
              <a:rPr lang="he-IL" dirty="0"/>
              <a:t>יצירת "ארגז חול רגולטורי" </a:t>
            </a:r>
            <a:r>
              <a:rPr lang="he-IL" dirty="0" err="1"/>
              <a:t>לפיילוטים</a:t>
            </a:r>
            <a:endParaRPr lang="he-IL" dirty="0"/>
          </a:p>
          <a:p>
            <a:pPr>
              <a:buFont typeface="Arial" panose="020B0604020202020204" pitchFamily="34" charset="0"/>
              <a:buChar char="•"/>
            </a:pPr>
            <a:r>
              <a:rPr lang="he-IL" dirty="0"/>
              <a:t>מתן ליווי והכוונה ליזמים בנושאי רגולציה</a:t>
            </a:r>
          </a:p>
          <a:p>
            <a:pPr>
              <a:buFont typeface="+mj-lt"/>
              <a:buAutoNum type="arabicPeriod" startAt="5"/>
            </a:pPr>
            <a:r>
              <a:rPr lang="he-IL" dirty="0"/>
              <a:t>מדידה והערכה:</a:t>
            </a:r>
          </a:p>
          <a:p>
            <a:pPr>
              <a:buFont typeface="Arial" panose="020B0604020202020204" pitchFamily="34" charset="0"/>
              <a:buChar char="•"/>
            </a:pPr>
            <a:r>
              <a:rPr lang="he-IL" dirty="0"/>
              <a:t>הגדרת מדדים להצלחת שיתופי הפעולה</a:t>
            </a:r>
          </a:p>
          <a:p>
            <a:pPr>
              <a:buFont typeface="Arial" panose="020B0604020202020204" pitchFamily="34" charset="0"/>
              <a:buChar char="•"/>
            </a:pPr>
            <a:r>
              <a:rPr lang="he-IL" dirty="0"/>
              <a:t>ביצוע הערכה שוטפת של התוצאות</a:t>
            </a:r>
          </a:p>
          <a:p>
            <a:pPr>
              <a:buFont typeface="Arial" panose="020B0604020202020204" pitchFamily="34" charset="0"/>
              <a:buChar char="•"/>
            </a:pPr>
            <a:r>
              <a:rPr lang="he-IL" dirty="0"/>
              <a:t>הפקת לקחים ושיפור מתמיד של המודל</a:t>
            </a:r>
          </a:p>
          <a:p>
            <a:pPr>
              <a:buFont typeface="+mj-lt"/>
              <a:buAutoNum type="arabicPeriod" startAt="6"/>
            </a:pPr>
            <a:r>
              <a:rPr lang="he-IL" dirty="0"/>
              <a:t>בניית אמון:</a:t>
            </a:r>
          </a:p>
          <a:p>
            <a:pPr>
              <a:buFont typeface="Arial" panose="020B0604020202020204" pitchFamily="34" charset="0"/>
              <a:buChar char="•"/>
            </a:pPr>
            <a:r>
              <a:rPr lang="he-IL" dirty="0"/>
              <a:t>שקיפות בתהליכי העבודה</a:t>
            </a:r>
          </a:p>
          <a:p>
            <a:pPr>
              <a:buFont typeface="Arial" panose="020B0604020202020204" pitchFamily="34" charset="0"/>
              <a:buChar char="•"/>
            </a:pPr>
            <a:r>
              <a:rPr lang="he-IL" dirty="0"/>
              <a:t>עמידה בהתחייבויות</a:t>
            </a:r>
          </a:p>
          <a:p>
            <a:pPr>
              <a:buFont typeface="Arial" panose="020B0604020202020204" pitchFamily="34" charset="0"/>
              <a:buChar char="•"/>
            </a:pPr>
            <a:r>
              <a:rPr lang="he-IL" dirty="0"/>
              <a:t>תקשורת פתוחה וישירה בין הצדדים</a:t>
            </a:r>
          </a:p>
          <a:p>
            <a:pPr>
              <a:buFont typeface="+mj-lt"/>
              <a:buAutoNum type="arabicPeriod" startAt="7"/>
            </a:pPr>
            <a:r>
              <a:rPr lang="he-IL" dirty="0"/>
              <a:t>העברת ידע והדדיות:</a:t>
            </a:r>
          </a:p>
          <a:p>
            <a:pPr>
              <a:buFont typeface="Arial" panose="020B0604020202020204" pitchFamily="34" charset="0"/>
              <a:buChar char="•"/>
            </a:pPr>
            <a:r>
              <a:rPr lang="he-IL" dirty="0"/>
              <a:t>שיתוף בידע ומומחיות מקצועית</a:t>
            </a:r>
          </a:p>
          <a:p>
            <a:pPr>
              <a:buFont typeface="Arial" panose="020B0604020202020204" pitchFamily="34" charset="0"/>
              <a:buChar char="•"/>
            </a:pPr>
            <a:r>
              <a:rPr lang="he-IL" dirty="0"/>
              <a:t>למידה הדדית מהניסיון המצטבר</a:t>
            </a:r>
          </a:p>
          <a:p>
            <a:pPr>
              <a:buFont typeface="Arial" panose="020B0604020202020204" pitchFamily="34" charset="0"/>
              <a:buChar char="•"/>
            </a:pPr>
            <a:r>
              <a:rPr lang="he-IL" dirty="0"/>
              <a:t>יצירת פלטפורמות לשיתוף ידע</a:t>
            </a:r>
          </a:p>
          <a:p>
            <a:pPr>
              <a:buFont typeface="+mj-lt"/>
              <a:buAutoNum type="arabicPeriod" startAt="8"/>
            </a:pPr>
            <a:r>
              <a:rPr lang="he-IL" dirty="0"/>
              <a:t>מיקוד בערך למשתמש:</a:t>
            </a:r>
          </a:p>
          <a:p>
            <a:pPr>
              <a:buFont typeface="Arial" panose="020B0604020202020204" pitchFamily="34" charset="0"/>
              <a:buChar char="•"/>
            </a:pPr>
            <a:r>
              <a:rPr lang="he-IL" dirty="0"/>
              <a:t>שמירה על האינטרסים של האוכלוסייה המבוגרת</a:t>
            </a:r>
          </a:p>
          <a:p>
            <a:pPr>
              <a:buFont typeface="Arial" panose="020B0604020202020204" pitchFamily="34" charset="0"/>
              <a:buChar char="•"/>
            </a:pPr>
            <a:r>
              <a:rPr lang="he-IL" dirty="0"/>
              <a:t>בחינת השפעת הפתרונות על איכות החיים</a:t>
            </a:r>
          </a:p>
          <a:p>
            <a:pPr>
              <a:buFont typeface="Arial" panose="020B0604020202020204" pitchFamily="34" charset="0"/>
              <a:buChar char="•"/>
            </a:pPr>
            <a:r>
              <a:rPr lang="he-IL" dirty="0"/>
              <a:t>קבלת משוב מהמשתמשים</a:t>
            </a:r>
          </a:p>
          <a:p>
            <a:pPr algn="r" rtl="1"/>
            <a:r>
              <a:rPr lang="he-IL" dirty="0">
                <a:effectLst/>
              </a:rPr>
              <a:t>יישום עקרונות אלו יכול לסייע ביצירת </a:t>
            </a:r>
            <a:r>
              <a:rPr lang="he-IL" dirty="0" err="1">
                <a:effectLst/>
              </a:rPr>
              <a:t>אקוסיסטם</a:t>
            </a:r>
            <a:r>
              <a:rPr lang="he-IL" dirty="0">
                <a:effectLst/>
              </a:rPr>
              <a:t> חדשני ואפקטיבי בתחום הזקנה, תוך איזון בין האינטרסים של כל הצדדים המעורבים.</a:t>
            </a:r>
          </a:p>
        </p:txBody>
      </p:sp>
    </p:spTree>
    <p:extLst>
      <p:ext uri="{BB962C8B-B14F-4D97-AF65-F5344CB8AC3E}">
        <p14:creationId xmlns:p14="http://schemas.microsoft.com/office/powerpoint/2010/main" val="4215538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3720773" y="167223"/>
            <a:ext cx="4459875"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4400" b="1" dirty="0">
                <a:solidFill>
                  <a:prstClr val="white"/>
                </a:solidFill>
                <a:latin typeface="Calibri" panose="020F0502020204030204" pitchFamily="34" charset="0"/>
                <a:cs typeface="Calibri" panose="020F0502020204030204" pitchFamily="34" charset="0"/>
              </a:rPr>
              <a:t>רפורמת סל אישי</a:t>
            </a:r>
            <a:endPar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200" b="0" i="0" u="none" strike="noStrike" kern="1200" cap="none" spc="0" normalizeH="0" baseline="0" noProof="0" dirty="0">
                <a:ln>
                  <a:noFill/>
                </a:ln>
                <a:solidFill>
                  <a:srgbClr val="FFFFFF"/>
                </a:solidFill>
                <a:effectLst/>
                <a:uLnTx/>
                <a:uFillTx/>
                <a:latin typeface="Calibri"/>
                <a:ea typeface="+mn-ea"/>
                <a:cs typeface="Calibri"/>
              </a:rPr>
              <a:t>"יחד, נוכל להפוך את מערכת הסיעוד בישראל למודל של חדשנות, יעילות ואיכות חיים - לא רק עבור הדור הנוכחי, אלא גם עבור הדורות הבאים."</a:t>
            </a: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5212</TotalTime>
  <Words>2106</Words>
  <Application>Microsoft Office PowerPoint</Application>
  <PresentationFormat>מסך רחב</PresentationFormat>
  <Paragraphs>306</Paragraphs>
  <Slides>19</Slides>
  <Notes>9</Notes>
  <HiddenSlides>4</HiddenSlides>
  <MMClips>0</MMClips>
  <ScaleCrop>false</ScaleCrop>
  <HeadingPairs>
    <vt:vector size="6" baseType="variant">
      <vt:variant>
        <vt:lpstr>גופנים בשימוש</vt:lpstr>
      </vt:variant>
      <vt:variant>
        <vt:i4>13</vt:i4>
      </vt:variant>
      <vt:variant>
        <vt:lpstr>ערכת נושא</vt:lpstr>
      </vt:variant>
      <vt:variant>
        <vt:i4>7</vt:i4>
      </vt:variant>
      <vt:variant>
        <vt:lpstr>כותרות שקופיות</vt:lpstr>
      </vt:variant>
      <vt:variant>
        <vt:i4>19</vt:i4>
      </vt:variant>
    </vt:vector>
  </HeadingPairs>
  <TitlesOfParts>
    <vt:vector size="39" baseType="lpstr">
      <vt:lpstr>Arial</vt:lpstr>
      <vt:lpstr>ArialMT</vt:lpstr>
      <vt:lpstr>Assistant</vt:lpstr>
      <vt:lpstr>Assistant ExtraBold</vt:lpstr>
      <vt:lpstr>Assistant SemiBold</vt:lpstr>
      <vt:lpstr>Calibri</vt:lpstr>
      <vt:lpstr>Calibri Light</vt:lpstr>
      <vt:lpstr>Calibri-Bold</vt:lpstr>
      <vt:lpstr>EYInterstate Light</vt:lpstr>
      <vt:lpstr>Heebo Black</vt:lpstr>
      <vt:lpstr>Open Sans</vt:lpstr>
      <vt:lpstr>Rubik</vt:lpstr>
      <vt:lpstr>Symbol</vt:lpstr>
      <vt:lpstr>Office Theme</vt:lpstr>
      <vt:lpstr>2_ערכת נושא Office</vt:lpstr>
      <vt:lpstr>1_ערכת נושא Office</vt:lpstr>
      <vt:lpstr>קו בצד עם שם המצגת</vt:lpstr>
      <vt:lpstr>1_Office Theme</vt:lpstr>
      <vt:lpstr>2_Office Theme</vt:lpstr>
      <vt:lpstr>3_Office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רפורמה עם חסכון תקציבי?!</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9</cp:revision>
  <dcterms:created xsi:type="dcterms:W3CDTF">2024-09-29T19:32:29Z</dcterms:created>
  <dcterms:modified xsi:type="dcterms:W3CDTF">2024-12-12T22:25:36Z</dcterms:modified>
</cp:coreProperties>
</file>