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692" r:id="rId3"/>
    <p:sldMasterId id="2147483708" r:id="rId4"/>
    <p:sldMasterId id="2147483719" r:id="rId5"/>
  </p:sldMasterIdLst>
  <p:notesMasterIdLst>
    <p:notesMasterId r:id="rId29"/>
  </p:notesMasterIdLst>
  <p:sldIdLst>
    <p:sldId id="2145707194" r:id="rId6"/>
    <p:sldId id="2145707189" r:id="rId7"/>
    <p:sldId id="2145707221" r:id="rId8"/>
    <p:sldId id="260" r:id="rId9"/>
    <p:sldId id="275" r:id="rId10"/>
    <p:sldId id="257" r:id="rId11"/>
    <p:sldId id="258" r:id="rId12"/>
    <p:sldId id="2145707187" r:id="rId13"/>
    <p:sldId id="262" r:id="rId14"/>
    <p:sldId id="2145707223" r:id="rId15"/>
    <p:sldId id="264" r:id="rId16"/>
    <p:sldId id="2145707181" r:id="rId17"/>
    <p:sldId id="2145707244" r:id="rId18"/>
    <p:sldId id="2145707267" r:id="rId19"/>
    <p:sldId id="2145706441" r:id="rId20"/>
    <p:sldId id="2145707238" r:id="rId21"/>
    <p:sldId id="2145706440" r:id="rId22"/>
    <p:sldId id="2145707191" r:id="rId23"/>
    <p:sldId id="2145707275" r:id="rId24"/>
    <p:sldId id="2145707277" r:id="rId25"/>
    <p:sldId id="2145707140" r:id="rId26"/>
    <p:sldId id="2145707242" r:id="rId27"/>
    <p:sldId id="2145706336" r:id="rId2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013" autoAdjust="0"/>
    <p:restoredTop sz="94660"/>
  </p:normalViewPr>
  <p:slideViewPr>
    <p:cSldViewPr snapToGrid="0">
      <p:cViewPr varScale="1">
        <p:scale>
          <a:sx n="100" d="100"/>
          <a:sy n="100" d="100"/>
        </p:scale>
        <p:origin x="85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76-4589-82B0-FA9F3DFA69E9}"/>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76-4589-82B0-FA9F3DFA69E9}"/>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76-4589-82B0-FA9F3DFA69E9}"/>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976-4589-82B0-FA9F3DFA69E9}"/>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76-4589-82B0-FA9F3DFA69E9}"/>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76-4589-82B0-FA9F3DFA69E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כ"ו/אלול/תשפ"ד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3547319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במסגרת עבודת הפורום מופו 20 יעדי מפתח, נעשה סקר התכנסו ל- 7 אשר מתוכם נבחרו 3 למיקוד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r>
              <a:rPr lang="he-IL" dirty="0"/>
              <a:t>אביעד: כדאי אולי שקף על המובילים שכולל מוביל בכל משרד ואותך וחיים (ואז זה מקדים ומנהל את הצוות פעולה השונים).</a:t>
            </a:r>
          </a:p>
          <a:p>
            <a:r>
              <a:rPr lang="he-IL" dirty="0"/>
              <a:t>הצעתי שבכל פעם יהיה צבעוני </a:t>
            </a:r>
            <a:r>
              <a:rPr lang="he-IL" dirty="0" err="1"/>
              <a:t>ההחלק</a:t>
            </a:r>
            <a:r>
              <a:rPr lang="he-IL" dirty="0"/>
              <a:t> הרלוונטי בשלישייה</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156943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אביעד: התמונה של </a:t>
            </a:r>
            <a:r>
              <a:rPr lang="he-IL" dirty="0" err="1"/>
              <a:t>דיגיטל</a:t>
            </a:r>
            <a:r>
              <a:rPr lang="he-IL" dirty="0"/>
              <a:t>, יש תמונות טובות מהצוות הזה</a:t>
            </a: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107861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לבקש   הערות לדיוקים ותוספות.</a:t>
            </a:r>
          </a:p>
          <a:p>
            <a:pPr algn="r" rtl="1"/>
            <a:r>
              <a:rPr lang="he-IL" dirty="0"/>
              <a:t>למשל להגדיר מי זה אפס בקהל היעד.</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800" kern="100" dirty="0">
                <a:effectLst/>
                <a:latin typeface="Calibri" panose="020F0502020204030204" pitchFamily="34" charset="0"/>
                <a:ea typeface="Calibri" panose="020F0502020204030204" pitchFamily="34" charset="0"/>
                <a:cs typeface="Calibri" panose="020F0502020204030204" pitchFamily="34" charset="0"/>
              </a:rPr>
              <a:t>**לציין שתהליך גיבוש התפיסה היא בתהליך בנייה מתמשך- לדיוקים ובעיקר לתוספות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431698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58453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חצי מתקציב יושקע ברשויות שמצליחות למנוע</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0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452696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92478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893031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5171991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4580484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27720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5407983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127413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7303478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021769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733600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272097606"/>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841568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529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3297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29/09/2024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47025403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5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4.xml"/><Relationship Id="rId5" Type="http://schemas.openxmlformats.org/officeDocument/2006/relationships/image" Target="../media/image26.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5.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22.png"/><Relationship Id="rId2" Type="http://schemas.openxmlformats.org/officeDocument/2006/relationships/image" Target="../media/image27.png"/><Relationship Id="rId1" Type="http://schemas.openxmlformats.org/officeDocument/2006/relationships/slideLayout" Target="../slideLayouts/slideLayout55.xml"/><Relationship Id="rId6" Type="http://schemas.openxmlformats.org/officeDocument/2006/relationships/image" Target="../media/image31.svg"/><Relationship Id="rId11" Type="http://schemas.openxmlformats.org/officeDocument/2006/relationships/image" Target="../media/image21.png"/><Relationship Id="rId5" Type="http://schemas.openxmlformats.org/officeDocument/2006/relationships/image" Target="../media/image30.png"/><Relationship Id="rId10" Type="http://schemas.openxmlformats.org/officeDocument/2006/relationships/image" Target="../media/image20.pn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6.sv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54.xml"/><Relationship Id="rId6" Type="http://schemas.openxmlformats.org/officeDocument/2006/relationships/image" Target="../media/image39.png"/><Relationship Id="rId11" Type="http://schemas.openxmlformats.org/officeDocument/2006/relationships/image" Target="../media/image22.png"/><Relationship Id="rId5" Type="http://schemas.openxmlformats.org/officeDocument/2006/relationships/image" Target="../media/image38.png"/><Relationship Id="rId10" Type="http://schemas.openxmlformats.org/officeDocument/2006/relationships/image" Target="../media/image21.png"/><Relationship Id="rId4" Type="http://schemas.microsoft.com/office/2007/relationships/hdphoto" Target="../media/hdphoto1.wdp"/><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4.xml"/><Relationship Id="rId5" Type="http://schemas.openxmlformats.org/officeDocument/2006/relationships/image" Target="../media/image42.png"/><Relationship Id="rId4" Type="http://schemas.openxmlformats.org/officeDocument/2006/relationships/image" Target="../media/image41.png"/></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22.png"/><Relationship Id="rId2" Type="http://schemas.openxmlformats.org/officeDocument/2006/relationships/notesSlide" Target="../notesSlides/notesSlide3.xml"/><Relationship Id="rId16" Type="http://schemas.openxmlformats.org/officeDocument/2006/relationships/image" Target="../media/image21.png"/><Relationship Id="rId1" Type="http://schemas.openxmlformats.org/officeDocument/2006/relationships/slideLayout" Target="../slideLayouts/slideLayout54.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20.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57.png"/><Relationship Id="rId2" Type="http://schemas.openxmlformats.org/officeDocument/2006/relationships/image" Target="../media/image24.png"/><Relationship Id="rId1" Type="http://schemas.openxmlformats.org/officeDocument/2006/relationships/slideLayout" Target="../slideLayouts/slideLayout5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1.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54.xml"/><Relationship Id="rId6" Type="http://schemas.openxmlformats.org/officeDocument/2006/relationships/image" Target="../media/image20.png"/><Relationship Id="rId5" Type="http://schemas.openxmlformats.org/officeDocument/2006/relationships/image" Target="../media/image34.png"/><Relationship Id="rId4" Type="http://schemas.openxmlformats.org/officeDocument/2006/relationships/image" Target="../media/image59.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0.png"/><Relationship Id="rId1" Type="http://schemas.openxmlformats.org/officeDocument/2006/relationships/slideLayout" Target="../slideLayouts/slideLayout54.xml"/><Relationship Id="rId5" Type="http://schemas.openxmlformats.org/officeDocument/2006/relationships/image" Target="../media/image61.png"/><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4.png"/><Relationship Id="rId1" Type="http://schemas.openxmlformats.org/officeDocument/2006/relationships/slideLayout" Target="../slideLayouts/slideLayout5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xml"/><Relationship Id="rId1" Type="http://schemas.openxmlformats.org/officeDocument/2006/relationships/slideLayout" Target="../slideLayouts/slideLayout60.xml"/><Relationship Id="rId5" Type="http://schemas.openxmlformats.org/officeDocument/2006/relationships/image" Target="../media/image24.png"/><Relationship Id="rId4" Type="http://schemas.openxmlformats.org/officeDocument/2006/relationships/image" Target="../media/image65.svg"/></Relationships>
</file>

<file path=ppt/slides/_rels/slide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6.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6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68.png"/><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31.sv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svg"/><Relationship Id="rId3" Type="http://schemas.openxmlformats.org/officeDocument/2006/relationships/image" Target="../media/image19.png"/><Relationship Id="rId7" Type="http://schemas.openxmlformats.org/officeDocument/2006/relationships/image" Target="../media/image74.svg"/><Relationship Id="rId12" Type="http://schemas.openxmlformats.org/officeDocument/2006/relationships/image" Target="../media/image7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sv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svg"/><Relationship Id="rId14" Type="http://schemas.openxmlformats.org/officeDocument/2006/relationships/image" Target="../media/image81.png"/></Relationships>
</file>

<file path=ppt/slides/_rels/slide19.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svg"/><Relationship Id="rId3" Type="http://schemas.openxmlformats.org/officeDocument/2006/relationships/image" Target="../media/image19.png"/><Relationship Id="rId7" Type="http://schemas.openxmlformats.org/officeDocument/2006/relationships/image" Target="../media/image85.svg"/><Relationship Id="rId12" Type="http://schemas.openxmlformats.org/officeDocument/2006/relationships/image" Target="../media/image90.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89.svg"/><Relationship Id="rId5" Type="http://schemas.openxmlformats.org/officeDocument/2006/relationships/image" Target="../media/image83.sv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svg"/><Relationship Id="rId14" Type="http://schemas.openxmlformats.org/officeDocument/2006/relationships/image" Target="../media/image81.png"/></Relationships>
</file>

<file path=ppt/slides/_rels/slide2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68.png"/></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126434" y="3209170"/>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73476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97066" y="167702"/>
            <a:ext cx="5871983" cy="606384"/>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אתגרים</a:t>
            </a: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latin typeface="Rubik" pitchFamily="2" charset="-79"/>
              <a:ea typeface="+mn-ea"/>
              <a:cs typeface="Rubik" pitchFamily="2" charset="-79"/>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האתגרים המרכזיים: </a:t>
            </a:r>
            <a:endPar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Tree>
    <p:extLst>
      <p:ext uri="{BB962C8B-B14F-4D97-AF65-F5344CB8AC3E}">
        <p14:creationId xmlns:p14="http://schemas.microsoft.com/office/powerpoint/2010/main" val="480413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5052816" y="4830078"/>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2873455" y="5163366"/>
            <a:ext cx="4593473"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ושיתוף נתונים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61357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9" name="Text 6">
            <a:extLst>
              <a:ext uri="{FF2B5EF4-FFF2-40B4-BE49-F238E27FC236}">
                <a16:creationId xmlns:a16="http://schemas.microsoft.com/office/drawing/2014/main" id="{8EF5A412-C4FD-4D19-B02D-969DE8FCB7C2}"/>
              </a:ext>
            </a:extLst>
          </p:cNvPr>
          <p:cNvSpPr/>
          <p:nvPr/>
        </p:nvSpPr>
        <p:spPr>
          <a:xfrm>
            <a:off x="8270496" y="2994258"/>
            <a:ext cx="283739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endParaRPr kumimoji="0" lang="en-US" sz="155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59306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12" name="Text 8">
            <a:extLst>
              <a:ext uri="{FF2B5EF4-FFF2-40B4-BE49-F238E27FC236}">
                <a16:creationId xmlns:a16="http://schemas.microsoft.com/office/drawing/2014/main" id="{F2817678-8447-4AEE-AD4C-888257D0A851}"/>
              </a:ext>
            </a:extLst>
          </p:cNvPr>
          <p:cNvSpPr/>
          <p:nvPr/>
        </p:nvSpPr>
        <p:spPr>
          <a:xfrm>
            <a:off x="4338369" y="2973748"/>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593065"/>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3460977" y="494245"/>
            <a:ext cx="6580735" cy="1316832"/>
          </a:xfrm>
          <a:prstGeom prst="rect">
            <a:avLst/>
          </a:prstGeom>
          <a:noFill/>
          <a:ln/>
        </p:spPr>
        <p:txBody>
          <a:bodyPr wrap="none" rtlCol="0" anchor="t"/>
          <a:lstStyle/>
          <a:p>
            <a:pPr marL="0" marR="0" lvl="0" indent="0" algn="r" defTabSz="914400" rtl="1" eaLnBrk="1" fontAlgn="auto" latinLnBrk="0" hangingPunct="1">
              <a:lnSpc>
                <a:spcPts val="4765"/>
              </a:lnSpc>
              <a:spcBef>
                <a:spcPts val="0"/>
              </a:spcBef>
              <a:spcAft>
                <a:spcPts val="0"/>
              </a:spcAft>
              <a:buClrTx/>
              <a:buSzTx/>
              <a:buFontTx/>
              <a:buNone/>
              <a:tabLst/>
              <a:defRPr/>
            </a:pPr>
            <a:r>
              <a:rPr kumimoji="0" lang="he-IL"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שינוי המצב מושתת</a:t>
            </a:r>
            <a:r>
              <a:rPr kumimoji="0" lang="en-US"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a:t>
            </a:r>
            <a:br>
              <a:rPr kumimoji="0" lang="en-US"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br>
            <a:r>
              <a:rPr kumimoji="0" lang="he-IL"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על קידום ארבע תפיסות מרכזיות</a:t>
            </a:r>
            <a:endParaRPr kumimoji="0" lang="en-US" sz="3812"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84675" y="494245"/>
            <a:ext cx="1677714" cy="1452162"/>
          </a:xfrm>
          <a:prstGeom prst="rect">
            <a:avLst/>
          </a:prstGeom>
        </p:spPr>
      </p:pic>
      <p:sp>
        <p:nvSpPr>
          <p:cNvPr id="10" name="Text 4">
            <a:extLst>
              <a:ext uri="{FF2B5EF4-FFF2-40B4-BE49-F238E27FC236}">
                <a16:creationId xmlns:a16="http://schemas.microsoft.com/office/drawing/2014/main" id="{40CF4436-037A-E56B-836F-2EB08F88209B}"/>
              </a:ext>
            </a:extLst>
          </p:cNvPr>
          <p:cNvSpPr/>
          <p:nvPr/>
        </p:nvSpPr>
        <p:spPr>
          <a:xfrm>
            <a:off x="7677955" y="3981469"/>
            <a:ext cx="2412901" cy="1316832"/>
          </a:xfrm>
          <a:prstGeom prst="rect">
            <a:avLst/>
          </a:prstGeom>
          <a:noFill/>
          <a:ln/>
        </p:spPr>
        <p:txBody>
          <a:bodyPr wrap="square" rtlCol="0" anchor="t"/>
          <a:lstStyle/>
          <a:p>
            <a:pPr marL="0" marR="0" lvl="0" indent="0" algn="l" defTabSz="914400" rtl="1" eaLnBrk="1" fontAlgn="auto" latinLnBrk="0" hangingPunct="1">
              <a:lnSpc>
                <a:spcPts val="2592"/>
              </a:lnSpc>
              <a:spcBef>
                <a:spcPts val="0"/>
              </a:spcBef>
              <a:spcAft>
                <a:spcPts val="0"/>
              </a:spcAft>
              <a:buClrTx/>
              <a:buSzTx/>
              <a:buFontTx/>
              <a:buNone/>
              <a:tabLst/>
              <a:defRPr/>
            </a:pPr>
            <a:endParaRPr kumimoji="0" lang="en-US" sz="162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9C8E24A4-26D8-445C-AF8C-FF4C2AD06359}"/>
              </a:ext>
            </a:extLst>
          </p:cNvPr>
          <p:cNvCxnSpPr>
            <a:cxnSpLocks/>
          </p:cNvCxnSpPr>
          <p:nvPr/>
        </p:nvCxnSpPr>
        <p:spPr>
          <a:xfrm>
            <a:off x="0" y="4756073"/>
            <a:ext cx="1219200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2568927"/>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2568927"/>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7463508" y="4662527"/>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8413667" y="4816897"/>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מלבן 1">
            <a:extLst>
              <a:ext uri="{FF2B5EF4-FFF2-40B4-BE49-F238E27FC236}">
                <a16:creationId xmlns:a16="http://schemas.microsoft.com/office/drawing/2014/main" id="{D4ABE2AE-889D-F9FD-2F6F-1FDD1123AE54}"/>
              </a:ext>
            </a:extLst>
          </p:cNvPr>
          <p:cNvSpPr/>
          <p:nvPr/>
        </p:nvSpPr>
        <p:spPr>
          <a:xfrm>
            <a:off x="8441920" y="2479024"/>
            <a:ext cx="3374340" cy="20281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3" name="Picture 1">
            <a:extLst>
              <a:ext uri="{FF2B5EF4-FFF2-40B4-BE49-F238E27FC236}">
                <a16:creationId xmlns:a16="http://schemas.microsoft.com/office/drawing/2014/main" id="{5D8CA068-78AE-EB58-F492-0A3110C74E43}"/>
              </a:ext>
            </a:extLst>
          </p:cNvPr>
          <p:cNvPicPr>
            <a:picLocks noChangeAspect="1"/>
          </p:cNvPicPr>
          <p:nvPr/>
        </p:nvPicPr>
        <p:blipFill>
          <a:blip r:embed="rId9"/>
          <a:stretch>
            <a:fillRect/>
          </a:stretch>
        </p:blipFill>
        <p:spPr>
          <a:xfrm>
            <a:off x="0" y="5966248"/>
            <a:ext cx="12192000" cy="910606"/>
          </a:xfrm>
          <a:prstGeom prst="rect">
            <a:avLst/>
          </a:prstGeom>
        </p:spPr>
      </p:pic>
      <p:grpSp>
        <p:nvGrpSpPr>
          <p:cNvPr id="4" name="Group 5">
            <a:extLst>
              <a:ext uri="{FF2B5EF4-FFF2-40B4-BE49-F238E27FC236}">
                <a16:creationId xmlns:a16="http://schemas.microsoft.com/office/drawing/2014/main" id="{23BF4949-7F12-6C1A-262B-E535E802A7BF}"/>
              </a:ext>
            </a:extLst>
          </p:cNvPr>
          <p:cNvGrpSpPr/>
          <p:nvPr/>
        </p:nvGrpSpPr>
        <p:grpSpPr>
          <a:xfrm>
            <a:off x="311158" y="6156883"/>
            <a:ext cx="2347678" cy="516168"/>
            <a:chOff x="3486150" y="1040904"/>
            <a:chExt cx="5219896" cy="1147663"/>
          </a:xfrm>
        </p:grpSpPr>
        <p:pic>
          <p:nvPicPr>
            <p:cNvPr id="7" name="Picture 6">
              <a:extLst>
                <a:ext uri="{FF2B5EF4-FFF2-40B4-BE49-F238E27FC236}">
                  <a16:creationId xmlns:a16="http://schemas.microsoft.com/office/drawing/2014/main" id="{C7488F31-7885-006D-49A4-BCD2B1041D63}"/>
                </a:ext>
              </a:extLst>
            </p:cNvPr>
            <p:cNvPicPr>
              <a:picLocks noChangeAspect="1"/>
            </p:cNvPicPr>
            <p:nvPr/>
          </p:nvPicPr>
          <p:blipFill>
            <a:blip r:embed="rId10"/>
            <a:stretch>
              <a:fillRect/>
            </a:stretch>
          </p:blipFill>
          <p:spPr>
            <a:xfrm>
              <a:off x="3486150" y="1807567"/>
              <a:ext cx="3619500" cy="381000"/>
            </a:xfrm>
            <a:prstGeom prst="rect">
              <a:avLst/>
            </a:prstGeom>
          </p:spPr>
        </p:pic>
        <p:pic>
          <p:nvPicPr>
            <p:cNvPr id="13" name="Picture 8">
              <a:extLst>
                <a:ext uri="{FF2B5EF4-FFF2-40B4-BE49-F238E27FC236}">
                  <a16:creationId xmlns:a16="http://schemas.microsoft.com/office/drawing/2014/main" id="{DF148547-46CE-0B99-B545-D9DC91BC82E7}"/>
                </a:ext>
              </a:extLst>
            </p:cNvPr>
            <p:cNvPicPr>
              <a:picLocks noChangeAspect="1"/>
            </p:cNvPicPr>
            <p:nvPr/>
          </p:nvPicPr>
          <p:blipFill>
            <a:blip r:embed="rId11"/>
            <a:stretch>
              <a:fillRect/>
            </a:stretch>
          </p:blipFill>
          <p:spPr>
            <a:xfrm>
              <a:off x="7245546" y="1040904"/>
              <a:ext cx="1460500" cy="1092200"/>
            </a:xfrm>
            <a:prstGeom prst="rect">
              <a:avLst/>
            </a:prstGeom>
          </p:spPr>
        </p:pic>
        <p:pic>
          <p:nvPicPr>
            <p:cNvPr id="17" name="Picture 9">
              <a:extLst>
                <a:ext uri="{FF2B5EF4-FFF2-40B4-BE49-F238E27FC236}">
                  <a16:creationId xmlns:a16="http://schemas.microsoft.com/office/drawing/2014/main" id="{72773167-B09B-C8B5-A435-1476DB6B28A6}"/>
                </a:ext>
              </a:extLst>
            </p:cNvPr>
            <p:cNvPicPr>
              <a:picLocks noChangeAspect="1"/>
            </p:cNvPicPr>
            <p:nvPr/>
          </p:nvPicPr>
          <p:blipFill>
            <a:blip r:embed="rId12"/>
            <a:stretch>
              <a:fillRect/>
            </a:stretch>
          </p:blipFill>
          <p:spPr>
            <a:xfrm>
              <a:off x="3543398" y="1080335"/>
              <a:ext cx="3632200" cy="698500"/>
            </a:xfrm>
            <a:prstGeom prst="rect">
              <a:avLst/>
            </a:prstGeom>
          </p:spPr>
        </p:pic>
      </p:grpSp>
      <p:sp>
        <p:nvSpPr>
          <p:cNvPr id="22" name="Text 6">
            <a:extLst>
              <a:ext uri="{FF2B5EF4-FFF2-40B4-BE49-F238E27FC236}">
                <a16:creationId xmlns:a16="http://schemas.microsoft.com/office/drawing/2014/main" id="{E5498A62-37A5-3FDE-8517-537635BFD3DC}"/>
              </a:ext>
            </a:extLst>
          </p:cNvPr>
          <p:cNvSpPr/>
          <p:nvPr/>
        </p:nvSpPr>
        <p:spPr>
          <a:xfrm>
            <a:off x="8441920" y="2994258"/>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25" name="Text 10">
            <a:extLst>
              <a:ext uri="{FF2B5EF4-FFF2-40B4-BE49-F238E27FC236}">
                <a16:creationId xmlns:a16="http://schemas.microsoft.com/office/drawing/2014/main" id="{0A416CE3-40B6-9274-7A28-B980BBA23916}"/>
              </a:ext>
            </a:extLst>
          </p:cNvPr>
          <p:cNvSpPr/>
          <p:nvPr/>
        </p:nvSpPr>
        <p:spPr>
          <a:xfrm>
            <a:off x="671646" y="2991086"/>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pic>
        <p:nvPicPr>
          <p:cNvPr id="29" name="Graphic 27">
            <a:extLst>
              <a:ext uri="{FF2B5EF4-FFF2-40B4-BE49-F238E27FC236}">
                <a16:creationId xmlns:a16="http://schemas.microsoft.com/office/drawing/2014/main" id="{BAAE08BC-128D-4513-F210-27CC8210089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b="22815"/>
          <a:stretch/>
        </p:blipFill>
        <p:spPr>
          <a:xfrm>
            <a:off x="11048079" y="2552717"/>
            <a:ext cx="677673" cy="653833"/>
          </a:xfrm>
          <a:prstGeom prst="rect">
            <a:avLst/>
          </a:prstGeom>
        </p:spPr>
      </p:pic>
      <p:sp>
        <p:nvSpPr>
          <p:cNvPr id="15" name="מלבן 14">
            <a:extLst>
              <a:ext uri="{FF2B5EF4-FFF2-40B4-BE49-F238E27FC236}">
                <a16:creationId xmlns:a16="http://schemas.microsoft.com/office/drawing/2014/main" id="{ED2C9F49-CC1E-F7CA-3192-B112575072F8}"/>
              </a:ext>
            </a:extLst>
          </p:cNvPr>
          <p:cNvSpPr/>
          <p:nvPr/>
        </p:nvSpPr>
        <p:spPr>
          <a:xfrm>
            <a:off x="751438" y="2479023"/>
            <a:ext cx="3445543" cy="20281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6689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D647DA-F558-BB41-80B4-1A0ECCDF85DC}"/>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19878"/>
            <a:ext cx="5067300" cy="6134100"/>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מטרות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09420172-4CCA-4A4B-BA1B-C7E542C13B4D}"/>
              </a:ext>
            </a:extLst>
          </p:cNvPr>
          <p:cNvPicPr>
            <a:picLocks noChangeAspect="1"/>
          </p:cNvPicPr>
          <p:nvPr/>
        </p:nvPicPr>
        <p:blipFill>
          <a:blip r:embed="rId5"/>
          <a:stretch>
            <a:fillRect/>
          </a:stretch>
        </p:blipFill>
        <p:spPr>
          <a:xfrm>
            <a:off x="10548731" y="4265544"/>
            <a:ext cx="990600" cy="990600"/>
          </a:xfrm>
          <a:prstGeom prst="rect">
            <a:avLst/>
          </a:prstGeom>
        </p:spPr>
      </p:pic>
      <p:pic>
        <p:nvPicPr>
          <p:cNvPr id="14" name="Picture 13">
            <a:extLst>
              <a:ext uri="{FF2B5EF4-FFF2-40B4-BE49-F238E27FC236}">
                <a16:creationId xmlns:a16="http://schemas.microsoft.com/office/drawing/2014/main" id="{29932A2F-4775-5A4D-BE2D-6E3A6F5DD60F}"/>
              </a:ext>
            </a:extLst>
          </p:cNvPr>
          <p:cNvPicPr>
            <a:picLocks noChangeAspect="1"/>
          </p:cNvPicPr>
          <p:nvPr/>
        </p:nvPicPr>
        <p:blipFill>
          <a:blip r:embed="rId6"/>
          <a:stretch>
            <a:fillRect/>
          </a:stretch>
        </p:blipFill>
        <p:spPr>
          <a:xfrm>
            <a:off x="10536031" y="1612970"/>
            <a:ext cx="1003300" cy="1003300"/>
          </a:xfrm>
          <a:prstGeom prst="rect">
            <a:avLst/>
          </a:prstGeom>
        </p:spPr>
      </p:pic>
      <p:pic>
        <p:nvPicPr>
          <p:cNvPr id="16" name="Picture 15">
            <a:extLst>
              <a:ext uri="{FF2B5EF4-FFF2-40B4-BE49-F238E27FC236}">
                <a16:creationId xmlns:a16="http://schemas.microsoft.com/office/drawing/2014/main" id="{37284496-1BF5-A34E-BD9C-04592822FAA8}"/>
              </a:ext>
            </a:extLst>
          </p:cNvPr>
          <p:cNvPicPr>
            <a:picLocks noChangeAspect="1"/>
          </p:cNvPicPr>
          <p:nvPr/>
        </p:nvPicPr>
        <p:blipFill>
          <a:blip r:embed="rId7"/>
          <a:stretch>
            <a:fillRect/>
          </a:stretch>
        </p:blipFill>
        <p:spPr>
          <a:xfrm>
            <a:off x="10536031" y="2987537"/>
            <a:ext cx="1003300" cy="1003300"/>
          </a:xfrm>
          <a:prstGeom prst="rect">
            <a:avLst/>
          </a:prstGeom>
        </p:spPr>
      </p:pic>
      <p:sp>
        <p:nvSpPr>
          <p:cNvPr id="17" name="TextBox 16">
            <a:extLst>
              <a:ext uri="{FF2B5EF4-FFF2-40B4-BE49-F238E27FC236}">
                <a16:creationId xmlns:a16="http://schemas.microsoft.com/office/drawing/2014/main" id="{B91F91CB-8A2E-A743-8EE3-AD633C542F50}"/>
              </a:ext>
            </a:extLst>
          </p:cNvPr>
          <p:cNvSpPr txBox="1"/>
          <p:nvPr/>
        </p:nvSpPr>
        <p:spPr>
          <a:xfrm>
            <a:off x="5496339" y="1588702"/>
            <a:ext cx="4919869"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פיתוח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תפיסה משותפת</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תכנית פעולה ומענה רחב בהסתכלות אסטרטגית רב-מקצועית ורב-מערכתית לאתגרי ההזדקנות. </a:t>
            </a:r>
            <a:endPar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18" name="TextBox 17">
            <a:extLst>
              <a:ext uri="{FF2B5EF4-FFF2-40B4-BE49-F238E27FC236}">
                <a16:creationId xmlns:a16="http://schemas.microsoft.com/office/drawing/2014/main" id="{A0484D80-44DF-7D42-8C8A-DD951CFB861A}"/>
              </a:ext>
            </a:extLst>
          </p:cNvPr>
          <p:cNvSpPr txBox="1"/>
          <p:nvPr/>
        </p:nvSpPr>
        <p:spPr>
          <a:xfrm>
            <a:off x="5496338" y="2967335"/>
            <a:ext cx="4919869"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גיבוש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מפת אתגרים, חסמי הליבה והזדמנויות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כבסיס לפיתוח תכניות עבודה משותפות המכוונות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להתמודדות עימם.</a:t>
            </a:r>
            <a:endPar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19" name="TextBox 18">
            <a:extLst>
              <a:ext uri="{FF2B5EF4-FFF2-40B4-BE49-F238E27FC236}">
                <a16:creationId xmlns:a16="http://schemas.microsoft.com/office/drawing/2014/main" id="{CBFDB667-2B7C-E142-BCA5-3216516F1868}"/>
              </a:ext>
            </a:extLst>
          </p:cNvPr>
          <p:cNvSpPr txBox="1"/>
          <p:nvPr/>
        </p:nvSpPr>
        <p:spPr>
          <a:xfrm>
            <a:off x="5506277" y="4160679"/>
            <a:ext cx="4919869" cy="120032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קידום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אקוסיסטם</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הפועל יחד (במשותף)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באופן מתואם ומתוכנן, להובלת תהליכים בשדה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לטובת שיפור המענים לזקן בשגרה ובחירום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ותוך מיצוי אפקטיבי של המשאבים.</a:t>
            </a:r>
          </a:p>
        </p:txBody>
      </p:sp>
      <p:pic>
        <p:nvPicPr>
          <p:cNvPr id="2" name="Picture 1">
            <a:extLst>
              <a:ext uri="{FF2B5EF4-FFF2-40B4-BE49-F238E27FC236}">
                <a16:creationId xmlns:a16="http://schemas.microsoft.com/office/drawing/2014/main" id="{4BEF5564-4296-01F2-9F9F-870EED86A5D1}"/>
              </a:ext>
            </a:extLst>
          </p:cNvPr>
          <p:cNvPicPr>
            <a:picLocks noChangeAspect="1"/>
          </p:cNvPicPr>
          <p:nvPr/>
        </p:nvPicPr>
        <p:blipFill>
          <a:blip r:embed="rId8"/>
          <a:stretch>
            <a:fillRect/>
          </a:stretch>
        </p:blipFill>
        <p:spPr>
          <a:xfrm>
            <a:off x="0" y="5966248"/>
            <a:ext cx="12192000" cy="910606"/>
          </a:xfrm>
          <a:prstGeom prst="rect">
            <a:avLst/>
          </a:prstGeom>
        </p:spPr>
      </p:pic>
      <p:grpSp>
        <p:nvGrpSpPr>
          <p:cNvPr id="3" name="Group 2">
            <a:extLst>
              <a:ext uri="{FF2B5EF4-FFF2-40B4-BE49-F238E27FC236}">
                <a16:creationId xmlns:a16="http://schemas.microsoft.com/office/drawing/2014/main" id="{579C7AB3-5DB3-6FF0-695A-3AF4DFCBDDDA}"/>
              </a:ext>
            </a:extLst>
          </p:cNvPr>
          <p:cNvGrpSpPr/>
          <p:nvPr/>
        </p:nvGrpSpPr>
        <p:grpSpPr>
          <a:xfrm>
            <a:off x="311158" y="6156883"/>
            <a:ext cx="2347678" cy="516168"/>
            <a:chOff x="3486150" y="1040904"/>
            <a:chExt cx="5219896" cy="1147663"/>
          </a:xfrm>
        </p:grpSpPr>
        <p:pic>
          <p:nvPicPr>
            <p:cNvPr id="4" name="Picture 3">
              <a:extLst>
                <a:ext uri="{FF2B5EF4-FFF2-40B4-BE49-F238E27FC236}">
                  <a16:creationId xmlns:a16="http://schemas.microsoft.com/office/drawing/2014/main" id="{0D4E7927-D035-F222-5546-455553C79B11}"/>
                </a:ext>
              </a:extLst>
            </p:cNvPr>
            <p:cNvPicPr>
              <a:picLocks noChangeAspect="1"/>
            </p:cNvPicPr>
            <p:nvPr/>
          </p:nvPicPr>
          <p:blipFill>
            <a:blip r:embed="rId9"/>
            <a:stretch>
              <a:fillRect/>
            </a:stretch>
          </p:blipFill>
          <p:spPr>
            <a:xfrm>
              <a:off x="3486150" y="1807567"/>
              <a:ext cx="3619500" cy="381000"/>
            </a:xfrm>
            <a:prstGeom prst="rect">
              <a:avLst/>
            </a:prstGeom>
          </p:spPr>
        </p:pic>
        <p:pic>
          <p:nvPicPr>
            <p:cNvPr id="6" name="Picture 5">
              <a:extLst>
                <a:ext uri="{FF2B5EF4-FFF2-40B4-BE49-F238E27FC236}">
                  <a16:creationId xmlns:a16="http://schemas.microsoft.com/office/drawing/2014/main" id="{615019C3-88F1-0C81-6087-0030CEBAA687}"/>
                </a:ext>
              </a:extLst>
            </p:cNvPr>
            <p:cNvPicPr>
              <a:picLocks noChangeAspect="1"/>
            </p:cNvPicPr>
            <p:nvPr/>
          </p:nvPicPr>
          <p:blipFill>
            <a:blip r:embed="rId10"/>
            <a:stretch>
              <a:fillRect/>
            </a:stretch>
          </p:blipFill>
          <p:spPr>
            <a:xfrm>
              <a:off x="7245546" y="1040904"/>
              <a:ext cx="1460500" cy="1092200"/>
            </a:xfrm>
            <a:prstGeom prst="rect">
              <a:avLst/>
            </a:prstGeom>
          </p:spPr>
        </p:pic>
        <p:pic>
          <p:nvPicPr>
            <p:cNvPr id="8" name="Picture 7">
              <a:extLst>
                <a:ext uri="{FF2B5EF4-FFF2-40B4-BE49-F238E27FC236}">
                  <a16:creationId xmlns:a16="http://schemas.microsoft.com/office/drawing/2014/main" id="{C4CAC932-E817-97C8-F573-123C903A0E1B}"/>
                </a:ext>
              </a:extLst>
            </p:cNvPr>
            <p:cNvPicPr>
              <a:picLocks noChangeAspect="1"/>
            </p:cNvPicPr>
            <p:nvPr/>
          </p:nvPicPr>
          <p:blipFill>
            <a:blip r:embed="rId1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2251981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7150608" y="3283673"/>
            <a:ext cx="4400217" cy="109273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בגישה </a:t>
            </a:r>
          </a:p>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צופה פני עתיד</a:t>
            </a:r>
            <a:endPar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pic>
        <p:nvPicPr>
          <p:cNvPr id="7" name="Picture 6">
            <a:extLst>
              <a:ext uri="{FF2B5EF4-FFF2-40B4-BE49-F238E27FC236}">
                <a16:creationId xmlns:a16="http://schemas.microsoft.com/office/drawing/2014/main" id="{6CD4C552-3967-9B4B-B90F-C6B0E312B319}"/>
              </a:ext>
            </a:extLst>
          </p:cNvPr>
          <p:cNvPicPr>
            <a:picLocks noChangeAspect="1"/>
          </p:cNvPicPr>
          <p:nvPr/>
        </p:nvPicPr>
        <p:blipFill>
          <a:blip r:embed="rId3"/>
          <a:stretch>
            <a:fillRect/>
          </a:stretch>
        </p:blipFill>
        <p:spPr>
          <a:xfrm>
            <a:off x="2276856" y="3357796"/>
            <a:ext cx="4232577" cy="210903"/>
          </a:xfrm>
          <a:prstGeom prst="rect">
            <a:avLst/>
          </a:prstGeom>
        </p:spPr>
      </p:pic>
      <p:sp>
        <p:nvSpPr>
          <p:cNvPr id="9" name="TextBox 8">
            <a:extLst>
              <a:ext uri="{FF2B5EF4-FFF2-40B4-BE49-F238E27FC236}">
                <a16:creationId xmlns:a16="http://schemas.microsoft.com/office/drawing/2014/main" id="{43E00941-94AB-A24F-B7ED-5C3731404897}"/>
              </a:ext>
            </a:extLst>
          </p:cNvPr>
          <p:cNvSpPr txBox="1"/>
          <p:nvPr/>
        </p:nvSpPr>
        <p:spPr>
          <a:xfrm>
            <a:off x="7297955" y="4414985"/>
            <a:ext cx="4268138"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הפורום כ</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תשתית אסטרטגית</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לעבודה רב מערכתית  שתוביל ל</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היערכות משותפת להזדקנות מיטבית של האוכלוסייה בישראל </a:t>
            </a:r>
            <a:endParaRPr kumimoji="0" lang="en-US"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9E0A9E3-5301-5C45-9BD1-965498D82BBA}"/>
              </a:ext>
            </a:extLst>
          </p:cNvPr>
          <p:cNvSpPr txBox="1"/>
          <p:nvPr/>
        </p:nvSpPr>
        <p:spPr>
          <a:xfrm>
            <a:off x="1229193" y="3875716"/>
            <a:ext cx="5165155" cy="1913985"/>
          </a:xfrm>
          <a:prstGeom prst="rect">
            <a:avLst/>
          </a:prstGeom>
          <a:noFill/>
        </p:spPr>
        <p:txBody>
          <a:bodyPr wrap="square" rtlCol="0">
            <a:spAutoFit/>
          </a:bodyPr>
          <a:lstStyle/>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תמונת מצב, אתגרים והמלצות </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אסטרטגית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ניירות מדיניות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משותפים על נושאי מפתח</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עבודה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שנתית 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הובלת מהלכים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מערכתיים למענה לאתגרים</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חיבור בין המערכות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שמביא לשיפור המענה והשירותים לאזרח</a:t>
            </a:r>
          </a:p>
        </p:txBody>
      </p:sp>
      <p:pic>
        <p:nvPicPr>
          <p:cNvPr id="23" name="Picture 22">
            <a:extLst>
              <a:ext uri="{FF2B5EF4-FFF2-40B4-BE49-F238E27FC236}">
                <a16:creationId xmlns:a16="http://schemas.microsoft.com/office/drawing/2014/main" id="{B2199669-4517-AD46-A790-E6356CC98178}"/>
              </a:ext>
            </a:extLst>
          </p:cNvPr>
          <p:cNvPicPr>
            <a:picLocks noChangeAspect="1"/>
          </p:cNvPicPr>
          <p:nvPr/>
        </p:nvPicPr>
        <p:blipFill>
          <a:blip r:embed="rId3"/>
          <a:stretch>
            <a:fillRect/>
          </a:stretch>
        </p:blipFill>
        <p:spPr>
          <a:xfrm>
            <a:off x="4302177" y="3622972"/>
            <a:ext cx="2207256" cy="210903"/>
          </a:xfrm>
          <a:prstGeom prst="rect">
            <a:avLst/>
          </a:prstGeom>
        </p:spPr>
      </p:pic>
      <p:sp>
        <p:nvSpPr>
          <p:cNvPr id="8" name="TextBox 7">
            <a:extLst>
              <a:ext uri="{FF2B5EF4-FFF2-40B4-BE49-F238E27FC236}">
                <a16:creationId xmlns:a16="http://schemas.microsoft.com/office/drawing/2014/main" id="{6A485C0B-5271-194F-8D26-7A55D03AB6B9}"/>
              </a:ext>
            </a:extLst>
          </p:cNvPr>
          <p:cNvSpPr txBox="1"/>
          <p:nvPr/>
        </p:nvSpPr>
        <p:spPr>
          <a:xfrm>
            <a:off x="-2572785" y="3271968"/>
            <a:ext cx="9153144" cy="639727"/>
          </a:xfrm>
          <a:prstGeom prst="rect">
            <a:avLst/>
          </a:prstGeom>
          <a:noFill/>
        </p:spPr>
        <p:txBody>
          <a:bodyPr wrap="square" rtlCol="0">
            <a:spAutoFit/>
          </a:bodyPr>
          <a:lstStyle/>
          <a:p>
            <a:pPr marL="0" marR="0" lvl="0" indent="0" algn="r" defTabSz="914400" rtl="1" eaLnBrk="1" fontAlgn="auto" latinLnBrk="0" hangingPunct="1">
              <a:lnSpc>
                <a:spcPts val="216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במסגרת זו צוותי הפעולה של הפורום יהיו שותפים </a:t>
            </a:r>
            <a:br>
              <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b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ומעורבים בתכנון וגיבוש:</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427035B-152B-6C41-97E2-62C7C44969E1}"/>
              </a:ext>
            </a:extLst>
          </p:cNvPr>
          <p:cNvPicPr>
            <a:picLocks noChangeAspect="1"/>
          </p:cNvPicPr>
          <p:nvPr/>
        </p:nvPicPr>
        <p:blipFill>
          <a:blip r:embed="rId4"/>
          <a:stretch>
            <a:fillRect/>
          </a:stretch>
        </p:blipFill>
        <p:spPr>
          <a:xfrm>
            <a:off x="6334977" y="3991568"/>
            <a:ext cx="179481" cy="179481"/>
          </a:xfrm>
          <a:prstGeom prst="rect">
            <a:avLst/>
          </a:prstGeom>
        </p:spPr>
      </p:pic>
      <p:pic>
        <p:nvPicPr>
          <p:cNvPr id="27" name="Picture 26">
            <a:extLst>
              <a:ext uri="{FF2B5EF4-FFF2-40B4-BE49-F238E27FC236}">
                <a16:creationId xmlns:a16="http://schemas.microsoft.com/office/drawing/2014/main" id="{B732BAC8-6C32-7442-B3E9-CBB1E1F2E6EE}"/>
              </a:ext>
            </a:extLst>
          </p:cNvPr>
          <p:cNvPicPr>
            <a:picLocks noChangeAspect="1"/>
          </p:cNvPicPr>
          <p:nvPr/>
        </p:nvPicPr>
        <p:blipFill>
          <a:blip r:embed="rId4"/>
          <a:stretch>
            <a:fillRect/>
          </a:stretch>
        </p:blipFill>
        <p:spPr>
          <a:xfrm>
            <a:off x="6334977" y="4293018"/>
            <a:ext cx="179481" cy="179481"/>
          </a:xfrm>
          <a:prstGeom prst="rect">
            <a:avLst/>
          </a:prstGeom>
        </p:spPr>
      </p:pic>
      <p:pic>
        <p:nvPicPr>
          <p:cNvPr id="32" name="Picture 31">
            <a:extLst>
              <a:ext uri="{FF2B5EF4-FFF2-40B4-BE49-F238E27FC236}">
                <a16:creationId xmlns:a16="http://schemas.microsoft.com/office/drawing/2014/main" id="{C4C7AAD0-31AC-C042-A60F-475BB2A4E26B}"/>
              </a:ext>
            </a:extLst>
          </p:cNvPr>
          <p:cNvPicPr>
            <a:picLocks noChangeAspect="1"/>
          </p:cNvPicPr>
          <p:nvPr/>
        </p:nvPicPr>
        <p:blipFill>
          <a:blip r:embed="rId4"/>
          <a:stretch>
            <a:fillRect/>
          </a:stretch>
        </p:blipFill>
        <p:spPr>
          <a:xfrm>
            <a:off x="6334977" y="4609542"/>
            <a:ext cx="179481" cy="179481"/>
          </a:xfrm>
          <a:prstGeom prst="rect">
            <a:avLst/>
          </a:prstGeom>
        </p:spPr>
      </p:pic>
      <p:pic>
        <p:nvPicPr>
          <p:cNvPr id="34" name="Picture 33">
            <a:extLst>
              <a:ext uri="{FF2B5EF4-FFF2-40B4-BE49-F238E27FC236}">
                <a16:creationId xmlns:a16="http://schemas.microsoft.com/office/drawing/2014/main" id="{DE6F33E1-3E25-F448-B7D3-FC12F8B61BF4}"/>
              </a:ext>
            </a:extLst>
          </p:cNvPr>
          <p:cNvPicPr>
            <a:picLocks noChangeAspect="1"/>
          </p:cNvPicPr>
          <p:nvPr/>
        </p:nvPicPr>
        <p:blipFill>
          <a:blip r:embed="rId4"/>
          <a:stretch>
            <a:fillRect/>
          </a:stretch>
        </p:blipFill>
        <p:spPr>
          <a:xfrm>
            <a:off x="6334977" y="4910992"/>
            <a:ext cx="179481" cy="179481"/>
          </a:xfrm>
          <a:prstGeom prst="rect">
            <a:avLst/>
          </a:prstGeom>
        </p:spPr>
      </p:pic>
      <p:pic>
        <p:nvPicPr>
          <p:cNvPr id="35" name="Picture 34">
            <a:extLst>
              <a:ext uri="{FF2B5EF4-FFF2-40B4-BE49-F238E27FC236}">
                <a16:creationId xmlns:a16="http://schemas.microsoft.com/office/drawing/2014/main" id="{FDD40669-0663-6642-BE11-14D02192EB62}"/>
              </a:ext>
            </a:extLst>
          </p:cNvPr>
          <p:cNvPicPr>
            <a:picLocks noChangeAspect="1"/>
          </p:cNvPicPr>
          <p:nvPr/>
        </p:nvPicPr>
        <p:blipFill>
          <a:blip r:embed="rId4"/>
          <a:stretch>
            <a:fillRect/>
          </a:stretch>
        </p:blipFill>
        <p:spPr>
          <a:xfrm>
            <a:off x="6334977" y="5217467"/>
            <a:ext cx="179481" cy="179481"/>
          </a:xfrm>
          <a:prstGeom prst="rect">
            <a:avLst/>
          </a:prstGeom>
        </p:spPr>
      </p:pic>
      <p:pic>
        <p:nvPicPr>
          <p:cNvPr id="36" name="Picture 35">
            <a:extLst>
              <a:ext uri="{FF2B5EF4-FFF2-40B4-BE49-F238E27FC236}">
                <a16:creationId xmlns:a16="http://schemas.microsoft.com/office/drawing/2014/main" id="{A5A59733-B515-174F-96A1-FB3CCEAECAE1}"/>
              </a:ext>
            </a:extLst>
          </p:cNvPr>
          <p:cNvPicPr>
            <a:picLocks noChangeAspect="1"/>
          </p:cNvPicPr>
          <p:nvPr/>
        </p:nvPicPr>
        <p:blipFill>
          <a:blip r:embed="rId4"/>
          <a:stretch>
            <a:fillRect/>
          </a:stretch>
        </p:blipFill>
        <p:spPr>
          <a:xfrm>
            <a:off x="6334977" y="5518917"/>
            <a:ext cx="179481" cy="179481"/>
          </a:xfrm>
          <a:prstGeom prst="rect">
            <a:avLst/>
          </a:prstGeom>
        </p:spPr>
      </p:pic>
      <p:pic>
        <p:nvPicPr>
          <p:cNvPr id="13" name="Picture 12">
            <a:extLst>
              <a:ext uri="{FF2B5EF4-FFF2-40B4-BE49-F238E27FC236}">
                <a16:creationId xmlns:a16="http://schemas.microsoft.com/office/drawing/2014/main" id="{FA30683F-3F11-6C41-9FC7-C87E0A284AD2}"/>
              </a:ext>
            </a:extLst>
          </p:cNvPr>
          <p:cNvPicPr>
            <a:picLocks noChangeAspect="1"/>
          </p:cNvPicPr>
          <p:nvPr/>
        </p:nvPicPr>
        <p:blipFill>
          <a:blip r:embed="rId5"/>
          <a:stretch>
            <a:fillRect/>
          </a:stretch>
        </p:blipFill>
        <p:spPr>
          <a:xfrm>
            <a:off x="-35560" y="-120670"/>
            <a:ext cx="12263120" cy="3151204"/>
          </a:xfrm>
          <a:prstGeom prst="rect">
            <a:avLst/>
          </a:prstGeom>
        </p:spPr>
      </p:pic>
    </p:spTree>
    <p:extLst>
      <p:ext uri="{BB962C8B-B14F-4D97-AF65-F5344CB8AC3E}">
        <p14:creationId xmlns:p14="http://schemas.microsoft.com/office/powerpoint/2010/main" val="899326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Rubik" pitchFamily="2" charset="-79"/>
                <a:ea typeface="+mn-ea"/>
                <a:cs typeface="Rubik" pitchFamily="2" charset="-79"/>
              </a:rPr>
              <a:t>מבנה ארגוני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92B1388-D45C-5049-88F0-305BD0375B8E}"/>
              </a:ext>
            </a:extLst>
          </p:cNvPr>
          <p:cNvSpPr txBox="1"/>
          <p:nvPr/>
        </p:nvSpPr>
        <p:spPr>
          <a:xfrm>
            <a:off x="8390964"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הדרדרות</a:t>
            </a:r>
            <a:endPar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27595D22-C6AC-4840-8E4E-0D4CD30BFE16}"/>
              </a:ext>
            </a:extLst>
          </p:cNvPr>
          <p:cNvSpPr txBox="1"/>
          <p:nvPr/>
        </p:nvSpPr>
        <p:spPr>
          <a:xfrm>
            <a:off x="6016997" y="4289612"/>
            <a:ext cx="1640542" cy="80021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דאטה-</a:t>
            </a:r>
            <a:r>
              <a:rPr kumimoji="0" lang="he-IL" sz="2300" b="0" i="0" u="none" strike="noStrike" kern="1200" cap="none" spc="0" normalizeH="0" baseline="0" noProof="0" dirty="0" err="1">
                <a:ln>
                  <a:noFill/>
                </a:ln>
                <a:solidFill>
                  <a:srgbClr val="5AA6C5"/>
                </a:solidFill>
                <a:effectLst/>
                <a:uLnTx/>
                <a:uFillTx/>
                <a:latin typeface="Assistant" pitchFamily="2" charset="-79"/>
                <a:ea typeface="+mn-ea"/>
                <a:cs typeface="Assistant" pitchFamily="2" charset="-79"/>
              </a:rPr>
              <a:t>דיגיטל</a:t>
            </a:r>
            <a:endPar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6BE63A48-A735-954D-A201-C6AC937E289C}"/>
              </a:ext>
            </a:extLst>
          </p:cNvPr>
          <p:cNvSpPr txBox="1"/>
          <p:nvPr/>
        </p:nvSpPr>
        <p:spPr>
          <a:xfrm>
            <a:off x="3213846"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רשויות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מקומיות</a:t>
            </a:r>
            <a:endPar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8FDA7BE1-6951-744E-9E85-FB0F0A55C63D}"/>
              </a:ext>
            </a:extLst>
          </p:cNvPr>
          <p:cNvSpPr txBox="1"/>
          <p:nvPr/>
        </p:nvSpPr>
        <p:spPr>
          <a:xfrm>
            <a:off x="551328"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מערכי</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דיור</a:t>
            </a:r>
            <a:endPar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2" name="TextBox 21">
            <a:extLst>
              <a:ext uri="{FF2B5EF4-FFF2-40B4-BE49-F238E27FC236}">
                <a16:creationId xmlns:a16="http://schemas.microsoft.com/office/drawing/2014/main" id="{A2D30010-94CD-2648-998A-21D590167AE6}"/>
              </a:ext>
            </a:extLst>
          </p:cNvPr>
          <p:cNvSpPr txBox="1"/>
          <p:nvPr/>
        </p:nvSpPr>
        <p:spPr>
          <a:xfrm>
            <a:off x="1021973" y="5366739"/>
            <a:ext cx="2218766"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6E1530"/>
                </a:solidFill>
                <a:effectLst/>
                <a:uLnTx/>
                <a:uFillTx/>
                <a:latin typeface="Rubik" pitchFamily="2" charset="-79"/>
                <a:ea typeface="+mn-ea"/>
                <a:cs typeface="Rubik" pitchFamily="2" charset="-79"/>
              </a:rPr>
              <a:t>*</a:t>
            </a:r>
            <a:r>
              <a:rPr kumimoji="0" lang="he-IL"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 מערכי דיור- בבדיקה להקמה</a:t>
            </a:r>
            <a:endParaRPr kumimoji="0" lang="en-US"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3" name="TextBox 22">
            <a:extLst>
              <a:ext uri="{FF2B5EF4-FFF2-40B4-BE49-F238E27FC236}">
                <a16:creationId xmlns:a16="http://schemas.microsoft.com/office/drawing/2014/main" id="{37AE5042-6D4D-134D-A4AA-B7ADB01C1C20}"/>
              </a:ext>
            </a:extLst>
          </p:cNvPr>
          <p:cNvSpPr txBox="1"/>
          <p:nvPr/>
        </p:nvSpPr>
        <p:spPr>
          <a:xfrm>
            <a:off x="4477869" y="1173710"/>
            <a:ext cx="2138083"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מנכ״לים</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4761C7A-B604-1140-8283-C93104EA926C}"/>
              </a:ext>
            </a:extLst>
          </p:cNvPr>
          <p:cNvSpPr txBox="1"/>
          <p:nvPr/>
        </p:nvSpPr>
        <p:spPr>
          <a:xfrm>
            <a:off x="4161443" y="2026275"/>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מובילי פורום </a:t>
            </a:r>
            <a:r>
              <a:rPr kumimoji="0" lang="he-IL" sz="23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E1F76233-6FC9-FB40-8DA4-5F56D50CA2EE}"/>
              </a:ext>
            </a:extLst>
          </p:cNvPr>
          <p:cNvSpPr txBox="1"/>
          <p:nvPr/>
        </p:nvSpPr>
        <p:spPr>
          <a:xfrm>
            <a:off x="3953436" y="2857247"/>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4 צוותי עבודה</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cxnSp>
        <p:nvCxnSpPr>
          <p:cNvPr id="8" name="Straight Connector 7">
            <a:extLst>
              <a:ext uri="{FF2B5EF4-FFF2-40B4-BE49-F238E27FC236}">
                <a16:creationId xmlns:a16="http://schemas.microsoft.com/office/drawing/2014/main" id="{909BFC37-894C-6A4C-8EA1-652F8FA45264}"/>
              </a:ext>
            </a:extLst>
          </p:cNvPr>
          <p:cNvCxnSpPr/>
          <p:nvPr/>
        </p:nvCxnSpPr>
        <p:spPr>
          <a:xfrm>
            <a:off x="8525435"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5DB04BB-CBDE-6940-8584-7A8F9E76A7E6}"/>
              </a:ext>
            </a:extLst>
          </p:cNvPr>
          <p:cNvCxnSpPr/>
          <p:nvPr/>
        </p:nvCxnSpPr>
        <p:spPr>
          <a:xfrm>
            <a:off x="6037730"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5D3871A-F3FB-4E4F-9175-A73F95A7B75A}"/>
              </a:ext>
            </a:extLst>
          </p:cNvPr>
          <p:cNvCxnSpPr/>
          <p:nvPr/>
        </p:nvCxnSpPr>
        <p:spPr>
          <a:xfrm>
            <a:off x="3375212"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E4592BD-0364-914D-96BD-43CBDB833E81}"/>
              </a:ext>
            </a:extLst>
          </p:cNvPr>
          <p:cNvPicPr>
            <a:picLocks noChangeAspect="1"/>
          </p:cNvPicPr>
          <p:nvPr/>
        </p:nvPicPr>
        <p:blipFill>
          <a:blip r:embed="rId3"/>
          <a:stretch>
            <a:fillRect/>
          </a:stretch>
        </p:blipFill>
        <p:spPr>
          <a:xfrm>
            <a:off x="6373906" y="2864638"/>
            <a:ext cx="1143000" cy="431800"/>
          </a:xfrm>
          <a:prstGeom prst="rect">
            <a:avLst/>
          </a:prstGeom>
        </p:spPr>
      </p:pic>
      <p:pic>
        <p:nvPicPr>
          <p:cNvPr id="28" name="Picture 27">
            <a:extLst>
              <a:ext uri="{FF2B5EF4-FFF2-40B4-BE49-F238E27FC236}">
                <a16:creationId xmlns:a16="http://schemas.microsoft.com/office/drawing/2014/main" id="{50AB78E7-C13B-8043-A4FD-70F878985075}"/>
              </a:ext>
            </a:extLst>
          </p:cNvPr>
          <p:cNvPicPr>
            <a:picLocks noChangeAspect="1"/>
          </p:cNvPicPr>
          <p:nvPr/>
        </p:nvPicPr>
        <p:blipFill>
          <a:blip r:embed="rId4"/>
          <a:stretch>
            <a:fillRect/>
          </a:stretch>
        </p:blipFill>
        <p:spPr>
          <a:xfrm>
            <a:off x="6581913" y="1972457"/>
            <a:ext cx="812800" cy="596900"/>
          </a:xfrm>
          <a:prstGeom prst="rect">
            <a:avLst/>
          </a:prstGeom>
        </p:spPr>
      </p:pic>
      <p:pic>
        <p:nvPicPr>
          <p:cNvPr id="30" name="Picture 29">
            <a:extLst>
              <a:ext uri="{FF2B5EF4-FFF2-40B4-BE49-F238E27FC236}">
                <a16:creationId xmlns:a16="http://schemas.microsoft.com/office/drawing/2014/main" id="{2BC0AE7E-CAEC-3149-B7BE-BE6FC9E19DE5}"/>
              </a:ext>
            </a:extLst>
          </p:cNvPr>
          <p:cNvPicPr>
            <a:picLocks noChangeAspect="1"/>
          </p:cNvPicPr>
          <p:nvPr/>
        </p:nvPicPr>
        <p:blipFill>
          <a:blip r:embed="rId5"/>
          <a:stretch>
            <a:fillRect/>
          </a:stretch>
        </p:blipFill>
        <p:spPr>
          <a:xfrm>
            <a:off x="6646160" y="895420"/>
            <a:ext cx="685800" cy="660400"/>
          </a:xfrm>
          <a:prstGeom prst="rect">
            <a:avLst/>
          </a:prstGeom>
        </p:spPr>
      </p:pic>
      <p:pic>
        <p:nvPicPr>
          <p:cNvPr id="32" name="Picture 31">
            <a:extLst>
              <a:ext uri="{FF2B5EF4-FFF2-40B4-BE49-F238E27FC236}">
                <a16:creationId xmlns:a16="http://schemas.microsoft.com/office/drawing/2014/main" id="{22806738-8254-444C-935E-8834B1F9BE87}"/>
              </a:ext>
            </a:extLst>
          </p:cNvPr>
          <p:cNvPicPr>
            <a:picLocks noChangeAspect="1"/>
          </p:cNvPicPr>
          <p:nvPr/>
        </p:nvPicPr>
        <p:blipFill>
          <a:blip r:embed="rId6"/>
          <a:stretch>
            <a:fillRect/>
          </a:stretch>
        </p:blipFill>
        <p:spPr>
          <a:xfrm>
            <a:off x="7928535" y="3448321"/>
            <a:ext cx="1282700" cy="863600"/>
          </a:xfrm>
          <a:prstGeom prst="rect">
            <a:avLst/>
          </a:prstGeom>
        </p:spPr>
      </p:pic>
      <p:pic>
        <p:nvPicPr>
          <p:cNvPr id="34" name="Picture 33">
            <a:extLst>
              <a:ext uri="{FF2B5EF4-FFF2-40B4-BE49-F238E27FC236}">
                <a16:creationId xmlns:a16="http://schemas.microsoft.com/office/drawing/2014/main" id="{0F89ABF7-207A-784E-8223-1549E4E503A1}"/>
              </a:ext>
            </a:extLst>
          </p:cNvPr>
          <p:cNvPicPr>
            <a:picLocks noChangeAspect="1"/>
          </p:cNvPicPr>
          <p:nvPr/>
        </p:nvPicPr>
        <p:blipFill>
          <a:blip r:embed="rId7"/>
          <a:stretch>
            <a:fillRect/>
          </a:stretch>
        </p:blipFill>
        <p:spPr>
          <a:xfrm>
            <a:off x="6373906" y="3409887"/>
            <a:ext cx="736600" cy="850900"/>
          </a:xfrm>
          <a:prstGeom prst="rect">
            <a:avLst/>
          </a:prstGeom>
        </p:spPr>
      </p:pic>
      <p:pic>
        <p:nvPicPr>
          <p:cNvPr id="36" name="Picture 35">
            <a:extLst>
              <a:ext uri="{FF2B5EF4-FFF2-40B4-BE49-F238E27FC236}">
                <a16:creationId xmlns:a16="http://schemas.microsoft.com/office/drawing/2014/main" id="{88B6B2C1-BFF4-DD4D-A7FB-5DCD9DA515B5}"/>
              </a:ext>
            </a:extLst>
          </p:cNvPr>
          <p:cNvPicPr>
            <a:picLocks noChangeAspect="1"/>
          </p:cNvPicPr>
          <p:nvPr/>
        </p:nvPicPr>
        <p:blipFill>
          <a:blip r:embed="rId8"/>
          <a:stretch>
            <a:fillRect/>
          </a:stretch>
        </p:blipFill>
        <p:spPr>
          <a:xfrm>
            <a:off x="2765985" y="3381628"/>
            <a:ext cx="1371600" cy="927100"/>
          </a:xfrm>
          <a:prstGeom prst="rect">
            <a:avLst/>
          </a:prstGeom>
        </p:spPr>
      </p:pic>
      <p:pic>
        <p:nvPicPr>
          <p:cNvPr id="38" name="Picture 37">
            <a:extLst>
              <a:ext uri="{FF2B5EF4-FFF2-40B4-BE49-F238E27FC236}">
                <a16:creationId xmlns:a16="http://schemas.microsoft.com/office/drawing/2014/main" id="{A631C691-6F79-004F-A6B6-AA4C66B2F430}"/>
              </a:ext>
            </a:extLst>
          </p:cNvPr>
          <p:cNvPicPr>
            <a:picLocks noChangeAspect="1"/>
          </p:cNvPicPr>
          <p:nvPr/>
        </p:nvPicPr>
        <p:blipFill>
          <a:blip r:embed="rId9"/>
          <a:stretch>
            <a:fillRect/>
          </a:stretch>
        </p:blipFill>
        <p:spPr>
          <a:xfrm>
            <a:off x="4542117" y="3397642"/>
            <a:ext cx="723900" cy="838200"/>
          </a:xfrm>
          <a:prstGeom prst="rect">
            <a:avLst/>
          </a:prstGeom>
        </p:spPr>
      </p:pic>
      <p:pic>
        <p:nvPicPr>
          <p:cNvPr id="40" name="Picture 39">
            <a:extLst>
              <a:ext uri="{FF2B5EF4-FFF2-40B4-BE49-F238E27FC236}">
                <a16:creationId xmlns:a16="http://schemas.microsoft.com/office/drawing/2014/main" id="{314751F4-C583-8C48-B6F4-19898A2D577B}"/>
              </a:ext>
            </a:extLst>
          </p:cNvPr>
          <p:cNvPicPr>
            <a:picLocks noChangeAspect="1"/>
          </p:cNvPicPr>
          <p:nvPr/>
        </p:nvPicPr>
        <p:blipFill>
          <a:blip r:embed="rId10"/>
          <a:stretch>
            <a:fillRect/>
          </a:stretch>
        </p:blipFill>
        <p:spPr>
          <a:xfrm>
            <a:off x="7604684" y="4484219"/>
            <a:ext cx="825500" cy="825500"/>
          </a:xfrm>
          <a:prstGeom prst="rect">
            <a:avLst/>
          </a:prstGeom>
        </p:spPr>
      </p:pic>
      <p:pic>
        <p:nvPicPr>
          <p:cNvPr id="42" name="Picture 41">
            <a:extLst>
              <a:ext uri="{FF2B5EF4-FFF2-40B4-BE49-F238E27FC236}">
                <a16:creationId xmlns:a16="http://schemas.microsoft.com/office/drawing/2014/main" id="{79DC0235-9626-AE4C-87B3-ECA679BF5A64}"/>
              </a:ext>
            </a:extLst>
          </p:cNvPr>
          <p:cNvPicPr>
            <a:picLocks noChangeAspect="1"/>
          </p:cNvPicPr>
          <p:nvPr/>
        </p:nvPicPr>
        <p:blipFill>
          <a:blip r:embed="rId11"/>
          <a:stretch>
            <a:fillRect/>
          </a:stretch>
        </p:blipFill>
        <p:spPr>
          <a:xfrm>
            <a:off x="10148793" y="4438301"/>
            <a:ext cx="825500" cy="825500"/>
          </a:xfrm>
          <a:prstGeom prst="rect">
            <a:avLst/>
          </a:prstGeom>
        </p:spPr>
      </p:pic>
      <p:pic>
        <p:nvPicPr>
          <p:cNvPr id="44" name="Picture 43">
            <a:extLst>
              <a:ext uri="{FF2B5EF4-FFF2-40B4-BE49-F238E27FC236}">
                <a16:creationId xmlns:a16="http://schemas.microsoft.com/office/drawing/2014/main" id="{748682A7-DFFE-FB49-AD39-36BCE1A86B87}"/>
              </a:ext>
            </a:extLst>
          </p:cNvPr>
          <p:cNvPicPr>
            <a:picLocks noChangeAspect="1"/>
          </p:cNvPicPr>
          <p:nvPr/>
        </p:nvPicPr>
        <p:blipFill>
          <a:blip r:embed="rId12"/>
          <a:stretch>
            <a:fillRect/>
          </a:stretch>
        </p:blipFill>
        <p:spPr>
          <a:xfrm>
            <a:off x="2279649" y="4454485"/>
            <a:ext cx="825500" cy="825500"/>
          </a:xfrm>
          <a:prstGeom prst="rect">
            <a:avLst/>
          </a:prstGeom>
        </p:spPr>
      </p:pic>
      <p:pic>
        <p:nvPicPr>
          <p:cNvPr id="46" name="Picture 45">
            <a:extLst>
              <a:ext uri="{FF2B5EF4-FFF2-40B4-BE49-F238E27FC236}">
                <a16:creationId xmlns:a16="http://schemas.microsoft.com/office/drawing/2014/main" id="{56CA5A5F-88BC-3E43-85DE-1E06B78F31B3}"/>
              </a:ext>
            </a:extLst>
          </p:cNvPr>
          <p:cNvPicPr>
            <a:picLocks noChangeAspect="1"/>
          </p:cNvPicPr>
          <p:nvPr/>
        </p:nvPicPr>
        <p:blipFill>
          <a:blip r:embed="rId13"/>
          <a:stretch>
            <a:fillRect/>
          </a:stretch>
        </p:blipFill>
        <p:spPr>
          <a:xfrm>
            <a:off x="4942167" y="4453943"/>
            <a:ext cx="825500" cy="825500"/>
          </a:xfrm>
          <a:prstGeom prst="rect">
            <a:avLst/>
          </a:prstGeom>
        </p:spPr>
      </p:pic>
      <p:pic>
        <p:nvPicPr>
          <p:cNvPr id="2" name="Picture 1">
            <a:extLst>
              <a:ext uri="{FF2B5EF4-FFF2-40B4-BE49-F238E27FC236}">
                <a16:creationId xmlns:a16="http://schemas.microsoft.com/office/drawing/2014/main" id="{F4FF9B8E-2191-8E82-B4D8-11122B9C32AC}"/>
              </a:ext>
            </a:extLst>
          </p:cNvPr>
          <p:cNvPicPr>
            <a:picLocks noChangeAspect="1"/>
          </p:cNvPicPr>
          <p:nvPr/>
        </p:nvPicPr>
        <p:blipFill>
          <a:blip r:embed="rId14"/>
          <a:stretch>
            <a:fillRect/>
          </a:stretch>
        </p:blipFill>
        <p:spPr>
          <a:xfrm>
            <a:off x="0" y="5966248"/>
            <a:ext cx="12192000" cy="910606"/>
          </a:xfrm>
          <a:prstGeom prst="rect">
            <a:avLst/>
          </a:prstGeom>
        </p:spPr>
      </p:pic>
      <p:grpSp>
        <p:nvGrpSpPr>
          <p:cNvPr id="3" name="Group 2">
            <a:extLst>
              <a:ext uri="{FF2B5EF4-FFF2-40B4-BE49-F238E27FC236}">
                <a16:creationId xmlns:a16="http://schemas.microsoft.com/office/drawing/2014/main" id="{B4CFD23F-B14A-23D0-FD3F-E1F2E172B7EA}"/>
              </a:ext>
            </a:extLst>
          </p:cNvPr>
          <p:cNvGrpSpPr/>
          <p:nvPr/>
        </p:nvGrpSpPr>
        <p:grpSpPr>
          <a:xfrm>
            <a:off x="311158" y="6156883"/>
            <a:ext cx="2347678" cy="516168"/>
            <a:chOff x="3486150" y="1040904"/>
            <a:chExt cx="5219896" cy="1147663"/>
          </a:xfrm>
        </p:grpSpPr>
        <p:pic>
          <p:nvPicPr>
            <p:cNvPr id="6" name="Picture 5">
              <a:extLst>
                <a:ext uri="{FF2B5EF4-FFF2-40B4-BE49-F238E27FC236}">
                  <a16:creationId xmlns:a16="http://schemas.microsoft.com/office/drawing/2014/main" id="{59A8C503-7538-CEA2-025E-7ADBDAE65990}"/>
                </a:ext>
              </a:extLst>
            </p:cNvPr>
            <p:cNvPicPr>
              <a:picLocks noChangeAspect="1"/>
            </p:cNvPicPr>
            <p:nvPr/>
          </p:nvPicPr>
          <p:blipFill>
            <a:blip r:embed="rId15"/>
            <a:stretch>
              <a:fillRect/>
            </a:stretch>
          </p:blipFill>
          <p:spPr>
            <a:xfrm>
              <a:off x="3486150" y="1807567"/>
              <a:ext cx="3619500" cy="381000"/>
            </a:xfrm>
            <a:prstGeom prst="rect">
              <a:avLst/>
            </a:prstGeom>
          </p:spPr>
        </p:pic>
        <p:pic>
          <p:nvPicPr>
            <p:cNvPr id="7" name="Picture 6">
              <a:extLst>
                <a:ext uri="{FF2B5EF4-FFF2-40B4-BE49-F238E27FC236}">
                  <a16:creationId xmlns:a16="http://schemas.microsoft.com/office/drawing/2014/main" id="{755777C8-7F31-A94A-E9E9-5317B848FB73}"/>
                </a:ext>
              </a:extLst>
            </p:cNvPr>
            <p:cNvPicPr>
              <a:picLocks noChangeAspect="1"/>
            </p:cNvPicPr>
            <p:nvPr/>
          </p:nvPicPr>
          <p:blipFill>
            <a:blip r:embed="rId16"/>
            <a:stretch>
              <a:fillRect/>
            </a:stretch>
          </p:blipFill>
          <p:spPr>
            <a:xfrm>
              <a:off x="7245546" y="1040904"/>
              <a:ext cx="1460500" cy="1092200"/>
            </a:xfrm>
            <a:prstGeom prst="rect">
              <a:avLst/>
            </a:prstGeom>
          </p:spPr>
        </p:pic>
        <p:pic>
          <p:nvPicPr>
            <p:cNvPr id="9" name="Picture 8">
              <a:extLst>
                <a:ext uri="{FF2B5EF4-FFF2-40B4-BE49-F238E27FC236}">
                  <a16:creationId xmlns:a16="http://schemas.microsoft.com/office/drawing/2014/main" id="{C121EA43-B3B7-C6D3-B510-10592B51CF7E}"/>
                </a:ext>
              </a:extLst>
            </p:cNvPr>
            <p:cNvPicPr>
              <a:picLocks noChangeAspect="1"/>
            </p:cNvPicPr>
            <p:nvPr/>
          </p:nvPicPr>
          <p:blipFill>
            <a:blip r:embed="rId17"/>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610626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65902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מנכ״לים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 name="Picture 29">
            <a:extLst>
              <a:ext uri="{FF2B5EF4-FFF2-40B4-BE49-F238E27FC236}">
                <a16:creationId xmlns:a16="http://schemas.microsoft.com/office/drawing/2014/main" id="{2BC0AE7E-CAEC-3149-B7BE-BE6FC9E19DE5}"/>
              </a:ext>
            </a:extLst>
          </p:cNvPr>
          <p:cNvPicPr>
            <a:picLocks noChangeAspect="1"/>
          </p:cNvPicPr>
          <p:nvPr/>
        </p:nvPicPr>
        <p:blipFill>
          <a:blip r:embed="rId3"/>
          <a:stretch>
            <a:fillRect/>
          </a:stretch>
        </p:blipFill>
        <p:spPr>
          <a:xfrm>
            <a:off x="10813190" y="573546"/>
            <a:ext cx="685800" cy="660400"/>
          </a:xfrm>
          <a:prstGeom prst="rect">
            <a:avLst/>
          </a:prstGeom>
        </p:spPr>
      </p:pic>
      <p:sp>
        <p:nvSpPr>
          <p:cNvPr id="6" name="TextBox 5">
            <a:extLst>
              <a:ext uri="{FF2B5EF4-FFF2-40B4-BE49-F238E27FC236}">
                <a16:creationId xmlns:a16="http://schemas.microsoft.com/office/drawing/2014/main" id="{D11C3581-FBF2-564B-9E5F-94C4D30FA62F}"/>
              </a:ext>
            </a:extLst>
          </p:cNvPr>
          <p:cNvSpPr txBox="1"/>
          <p:nvPr/>
        </p:nvSpPr>
        <p:spPr>
          <a:xfrm>
            <a:off x="7074323" y="1593092"/>
            <a:ext cx="4255410" cy="332398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מטרתו: </a:t>
            </a:r>
          </a:p>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יצירת פלטפורמה ל</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חיזוק התיאום ושיתופי הפעולה בין המשרדים המרכזיים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החיוניים להיערכות להזדקנות האוכלוסייה וקידום הזדקנות מיטבית באמצעות פעילות פורום </a:t>
            </a:r>
            <a:r>
              <a:rPr kumimoji="0" lang="he-IL" sz="18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במסגרת זו מתווה מדיניות מכוונת ומאפשרת, מייעץ ונותן גיבוי למהלכי הפורום, מספק מנדט וכלים לניהול והצלחת הפורום, מגדיר מינויים פורמאליים, דואג להקצאות תקציב, </a:t>
            </a:r>
            <a:r>
              <a:rPr kumimoji="0" lang="he-IL" sz="18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לתעדוף</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פעולות במשרד שיאפשרו לפורום להוביל תהליכים וכד'.</a:t>
            </a:r>
          </a:p>
          <a:p>
            <a:pPr marL="0" marR="0" lvl="0" indent="0" algn="r" defTabSz="914400" rtl="1" eaLnBrk="1" fontAlgn="auto" latinLnBrk="0" hangingPunct="1">
              <a:lnSpc>
                <a:spcPts val="23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FD92DEB0-060A-5B41-8A4E-66BEDE5C6F8D}"/>
              </a:ext>
            </a:extLst>
          </p:cNvPr>
          <p:cNvSpPr txBox="1"/>
          <p:nvPr/>
        </p:nvSpPr>
        <p:spPr>
          <a:xfrm>
            <a:off x="3765176" y="1658996"/>
            <a:ext cx="3148984" cy="235256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הרכב: </a:t>
            </a:r>
          </a:p>
          <a:p>
            <a:pPr marL="0" marR="0" lvl="0" indent="0" algn="just"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מנכ"ל משרד הרווחה והבטחון החברתי, מנכ"ל משרד הבריאות, מנכ"ל הביטוח הלאומי, </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משרדי רוה"מ ואוצר</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סמנכ"לי קופ"ח</a:t>
            </a:r>
          </a:p>
          <a:p>
            <a:pPr marL="0" marR="0" lvl="0" indent="0" algn="r" defTabSz="914400" rtl="1" eaLnBrk="1" fontAlgn="auto" latinLnBrk="0" hangingPunct="1">
              <a:lnSpc>
                <a:spcPts val="2200"/>
              </a:lnSpc>
              <a:spcBef>
                <a:spcPts val="0"/>
              </a:spcBef>
              <a:spcAft>
                <a:spcPts val="0"/>
              </a:spcAft>
              <a:buClrTx/>
              <a:buSzTx/>
              <a:buFontTx/>
              <a:buNone/>
              <a:tabLst/>
              <a:defRPr/>
            </a:pPr>
            <a:br>
              <a:rPr kumimoji="0" lang="en-US" sz="1800" b="0" i="0" u="none" strike="noStrike" kern="1200" cap="none" spc="0" normalizeH="0" baseline="0" noProof="0" dirty="0">
                <a:ln>
                  <a:noFill/>
                </a:ln>
                <a:solidFill>
                  <a:srgbClr val="FF0000"/>
                </a:solidFill>
                <a:effectLst/>
                <a:uLnTx/>
                <a:uFillTx/>
                <a:latin typeface="Assistant" pitchFamily="2" charset="-79"/>
                <a:ea typeface="+mn-ea"/>
                <a:cs typeface="Assistant" pitchFamily="2" charset="-79"/>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27BD82DF-0711-3948-8359-74E25D66E3BB}"/>
              </a:ext>
            </a:extLst>
          </p:cNvPr>
          <p:cNvSpPr txBox="1"/>
          <p:nvPr/>
        </p:nvSpPr>
        <p:spPr>
          <a:xfrm>
            <a:off x="625969" y="1658996"/>
            <a:ext cx="2765125" cy="208005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אופן פעולתו: </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התכנסות אחת ל-4 חודשים לקבלת עדכון על התקדמות פעילות הפורום, להכוונה ודיוק העשייה המשותפת ולהסרת חסמים. </a:t>
            </a:r>
          </a:p>
          <a:p>
            <a:pPr marL="0" marR="0" lvl="0" indent="0" algn="r" defTabSz="914400" rtl="1" eaLnBrk="1" fontAlgn="auto" latinLnBrk="0" hangingPunct="1">
              <a:lnSpc>
                <a:spcPts val="23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B14732FC-33A7-244C-AEA6-A361EE87B319}"/>
              </a:ext>
            </a:extLst>
          </p:cNvPr>
          <p:cNvPicPr>
            <a:picLocks noChangeAspect="1"/>
          </p:cNvPicPr>
          <p:nvPr/>
        </p:nvPicPr>
        <p:blipFill>
          <a:blip r:embed="rId4"/>
          <a:stretch>
            <a:fillRect/>
          </a:stretch>
        </p:blipFill>
        <p:spPr>
          <a:xfrm>
            <a:off x="11329732" y="1658996"/>
            <a:ext cx="76200" cy="3124200"/>
          </a:xfrm>
          <a:prstGeom prst="rect">
            <a:avLst/>
          </a:prstGeom>
        </p:spPr>
      </p:pic>
      <p:pic>
        <p:nvPicPr>
          <p:cNvPr id="13" name="Picture 12">
            <a:extLst>
              <a:ext uri="{FF2B5EF4-FFF2-40B4-BE49-F238E27FC236}">
                <a16:creationId xmlns:a16="http://schemas.microsoft.com/office/drawing/2014/main" id="{E0DD45DE-2057-5247-B70E-2B2A5BA09B43}"/>
              </a:ext>
            </a:extLst>
          </p:cNvPr>
          <p:cNvPicPr>
            <a:picLocks noChangeAspect="1"/>
          </p:cNvPicPr>
          <p:nvPr/>
        </p:nvPicPr>
        <p:blipFill>
          <a:blip r:embed="rId5"/>
          <a:stretch>
            <a:fillRect/>
          </a:stretch>
        </p:blipFill>
        <p:spPr>
          <a:xfrm>
            <a:off x="7010823" y="1658996"/>
            <a:ext cx="63500" cy="2362200"/>
          </a:xfrm>
          <a:prstGeom prst="rect">
            <a:avLst/>
          </a:prstGeom>
        </p:spPr>
      </p:pic>
      <p:pic>
        <p:nvPicPr>
          <p:cNvPr id="16" name="Picture 15">
            <a:extLst>
              <a:ext uri="{FF2B5EF4-FFF2-40B4-BE49-F238E27FC236}">
                <a16:creationId xmlns:a16="http://schemas.microsoft.com/office/drawing/2014/main" id="{8DACCDA3-2C82-414C-9965-A7696C6E6EAA}"/>
              </a:ext>
            </a:extLst>
          </p:cNvPr>
          <p:cNvPicPr>
            <a:picLocks noChangeAspect="1"/>
          </p:cNvPicPr>
          <p:nvPr/>
        </p:nvPicPr>
        <p:blipFill>
          <a:blip r:embed="rId6"/>
          <a:stretch>
            <a:fillRect/>
          </a:stretch>
        </p:blipFill>
        <p:spPr>
          <a:xfrm>
            <a:off x="3462000" y="1658996"/>
            <a:ext cx="63500" cy="1816100"/>
          </a:xfrm>
          <a:prstGeom prst="rect">
            <a:avLst/>
          </a:prstGeom>
        </p:spPr>
      </p:pic>
      <p:pic>
        <p:nvPicPr>
          <p:cNvPr id="2" name="Picture 2">
            <a:extLst>
              <a:ext uri="{FF2B5EF4-FFF2-40B4-BE49-F238E27FC236}">
                <a16:creationId xmlns:a16="http://schemas.microsoft.com/office/drawing/2014/main" id="{387A150D-1924-6374-BA1C-8D82F4253CC4}"/>
              </a:ext>
            </a:extLst>
          </p:cNvPr>
          <p:cNvPicPr>
            <a:picLocks noChangeAspect="1"/>
          </p:cNvPicPr>
          <p:nvPr/>
        </p:nvPicPr>
        <p:blipFill>
          <a:blip r:embed="rId7"/>
          <a:stretch>
            <a:fillRect/>
          </a:stretch>
        </p:blipFill>
        <p:spPr>
          <a:xfrm>
            <a:off x="10803641" y="477130"/>
            <a:ext cx="743054" cy="704948"/>
          </a:xfrm>
          <a:prstGeom prst="rect">
            <a:avLst/>
          </a:prstGeom>
        </p:spPr>
      </p:pic>
      <p:sp>
        <p:nvSpPr>
          <p:cNvPr id="3" name="Rectangle: Rounded Corners 2">
            <a:extLst>
              <a:ext uri="{FF2B5EF4-FFF2-40B4-BE49-F238E27FC236}">
                <a16:creationId xmlns:a16="http://schemas.microsoft.com/office/drawing/2014/main" id="{9C88316E-7229-070E-EFEB-043FA49C0A5F}"/>
              </a:ext>
            </a:extLst>
          </p:cNvPr>
          <p:cNvSpPr/>
          <p:nvPr/>
        </p:nvSpPr>
        <p:spPr>
          <a:xfrm rot="19859929">
            <a:off x="309703" y="681463"/>
            <a:ext cx="2294600" cy="4572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4" name="TextBox 1">
            <a:extLst>
              <a:ext uri="{FF2B5EF4-FFF2-40B4-BE49-F238E27FC236}">
                <a16:creationId xmlns:a16="http://schemas.microsoft.com/office/drawing/2014/main" id="{1ECE3A6A-C4A7-7B81-D787-8CAB9A2FD41D}"/>
              </a:ext>
            </a:extLst>
          </p:cNvPr>
          <p:cNvSpPr txBox="1"/>
          <p:nvPr/>
        </p:nvSpPr>
        <p:spPr>
          <a:xfrm rot="19844692">
            <a:off x="389652" y="719657"/>
            <a:ext cx="2111475" cy="369332"/>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בתהליכי חשיבה ופיתוח</a:t>
            </a:r>
          </a:p>
        </p:txBody>
      </p:sp>
    </p:spTree>
    <p:extLst>
      <p:ext uri="{BB962C8B-B14F-4D97-AF65-F5344CB8AC3E}">
        <p14:creationId xmlns:p14="http://schemas.microsoft.com/office/powerpoint/2010/main" val="3578551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668572" y="414953"/>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מובילי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CBFDB667-2B7C-E142-BCA5-3216516F1868}"/>
              </a:ext>
            </a:extLst>
          </p:cNvPr>
          <p:cNvSpPr txBox="1"/>
          <p:nvPr/>
        </p:nvSpPr>
        <p:spPr>
          <a:xfrm>
            <a:off x="1066800" y="1587814"/>
            <a:ext cx="10560618" cy="369331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ברמת אסטרטגיה: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יריב מן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סמנכ"ל בכיר ראש מנהל אזרחים ותיקים, משרד הרווחה והבטחון החברתי</a:t>
            </a:r>
          </a:p>
          <a:p>
            <a:pPr lvl="0"/>
            <a:r>
              <a:rPr lang="he-IL" b="1" dirty="0" err="1">
                <a:solidFill>
                  <a:srgbClr val="4472C4">
                    <a:lumMod val="75000"/>
                  </a:srgbClr>
                </a:solidFill>
                <a:latin typeface="Assistant" pitchFamily="2" charset="-79"/>
                <a:cs typeface="Assistant" pitchFamily="2" charset="-79"/>
              </a:rPr>
              <a:t>ירונה</a:t>
            </a:r>
            <a:r>
              <a:rPr lang="he-IL" b="1" dirty="0">
                <a:solidFill>
                  <a:srgbClr val="4472C4">
                    <a:lumMod val="75000"/>
                  </a:srgbClr>
                </a:solidFill>
                <a:latin typeface="Assistant" pitchFamily="2" charset="-79"/>
                <a:cs typeface="Assistant" pitchFamily="2" charset="-79"/>
              </a:rPr>
              <a:t> שלום-</a:t>
            </a:r>
            <a:r>
              <a:rPr lang="he-IL" dirty="0">
                <a:solidFill>
                  <a:srgbClr val="4472C4">
                    <a:lumMod val="75000"/>
                  </a:srgbClr>
                </a:solidFill>
                <a:latin typeface="Assistant" pitchFamily="2" charset="-79"/>
                <a:cs typeface="Assistant" pitchFamily="2" charset="-79"/>
              </a:rPr>
              <a:t> סמנכ"ל גמלאות הביטוח הלאומי</a:t>
            </a:r>
          </a:p>
          <a:p>
            <a:pPr lvl="0"/>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איילת גרינבאום </a:t>
            </a:r>
            <a:r>
              <a:rPr kumimoji="0" lang="he-IL" sz="1800" b="1"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אריזון</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סמנכ"ל אסטרטגיה, משרד הבריאות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ברמת ניהול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אביעד יצחקי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ראש אגף תכנון מדיניות הזדקנות האוכלוסייה, משרד הרווחה והבטחון החברתי (</a:t>
            </a:r>
            <a:r>
              <a:rPr kumimoji="0" lang="he-IL" sz="1800" b="0"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מתכלל</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פעילות הפורום)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נטלי גבאי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מנהלת אגף סיעוד, הביטוח הלאומי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רויטל גרוס-נבו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מנהלת המחלקה לשירותי קהילה אגף גריאטריה, משרד הבריאות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Rubik" pitchFamily="2" charset="-79"/>
                <a:ea typeface="+mn-ea"/>
                <a:cs typeface="Rubik" pitchFamily="2" charset="-79"/>
              </a:rPr>
              <a:t> </a:t>
            </a: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10813191" y="516928"/>
            <a:ext cx="814228" cy="596132"/>
          </a:xfrm>
          <a:prstGeom prst="rect">
            <a:avLst/>
          </a:prstGeom>
        </p:spPr>
      </p:pic>
    </p:spTree>
    <p:extLst>
      <p:ext uri="{BB962C8B-B14F-4D97-AF65-F5344CB8AC3E}">
        <p14:creationId xmlns:p14="http://schemas.microsoft.com/office/powerpoint/2010/main" val="1726105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6570041" y="536492"/>
            <a:ext cx="4144618" cy="1343958"/>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 מניעת</a:t>
            </a:r>
            <a:br>
              <a:rPr kumimoji="0" lang="en-US"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מטרות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3"/>
          <a:stretch>
            <a:fillRect/>
          </a:stretch>
        </p:blipFill>
        <p:spPr>
          <a:xfrm>
            <a:off x="10714659" y="455211"/>
            <a:ext cx="898221" cy="898221"/>
          </a:xfrm>
          <a:prstGeom prst="rect">
            <a:avLst/>
          </a:prstGeom>
        </p:spPr>
      </p:pic>
      <p:cxnSp>
        <p:nvCxnSpPr>
          <p:cNvPr id="11" name="Straight Connector 10">
            <a:extLst>
              <a:ext uri="{FF2B5EF4-FFF2-40B4-BE49-F238E27FC236}">
                <a16:creationId xmlns:a16="http://schemas.microsoft.com/office/drawing/2014/main" id="{B6D8CE75-17A1-8F48-A7FF-5AB7F9CF8CE5}"/>
              </a:ext>
            </a:extLst>
          </p:cNvPr>
          <p:cNvCxnSpPr/>
          <p:nvPr/>
        </p:nvCxnSpPr>
        <p:spPr>
          <a:xfrm>
            <a:off x="8768080" y="2062480"/>
            <a:ext cx="0" cy="1747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8768080" y="4236720"/>
            <a:ext cx="0" cy="985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A8BB43B-5B82-2041-B651-4C6389A00A3C}"/>
              </a:ext>
            </a:extLst>
          </p:cNvPr>
          <p:cNvCxnSpPr>
            <a:cxnSpLocks/>
          </p:cNvCxnSpPr>
          <p:nvPr/>
        </p:nvCxnSpPr>
        <p:spPr>
          <a:xfrm flipH="1">
            <a:off x="595376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ADBAE75-2EED-6B4F-86AB-51CF2F39B618}"/>
              </a:ext>
            </a:extLst>
          </p:cNvPr>
          <p:cNvCxnSpPr>
            <a:cxnSpLocks/>
          </p:cNvCxnSpPr>
          <p:nvPr/>
        </p:nvCxnSpPr>
        <p:spPr>
          <a:xfrm flipH="1">
            <a:off x="908304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CFA96DF-7B40-2948-B8D4-EDF7E0AB793D}"/>
              </a:ext>
            </a:extLst>
          </p:cNvPr>
          <p:cNvSpPr txBox="1"/>
          <p:nvPr/>
        </p:nvSpPr>
        <p:spPr>
          <a:xfrm>
            <a:off x="9281160" y="1952115"/>
            <a:ext cx="2214880" cy="1200329"/>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לייצר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תפיסה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רב מערכתית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משותפת</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לשימור תפקוד ומניעת הדרדרות</a:t>
            </a:r>
            <a:endParaRPr kumimoji="0" lang="en-US"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p:txBody>
      </p:sp>
      <p:sp>
        <p:nvSpPr>
          <p:cNvPr id="27" name="TextBox 26">
            <a:extLst>
              <a:ext uri="{FF2B5EF4-FFF2-40B4-BE49-F238E27FC236}">
                <a16:creationId xmlns:a16="http://schemas.microsoft.com/office/drawing/2014/main" id="{41E3B1BD-26C8-FB4D-BD83-545959E4F316}"/>
              </a:ext>
            </a:extLst>
          </p:cNvPr>
          <p:cNvSpPr txBox="1"/>
          <p:nvPr/>
        </p:nvSpPr>
        <p:spPr>
          <a:xfrm>
            <a:off x="5763259" y="1952115"/>
            <a:ext cx="2730501" cy="1772986"/>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לקדם יישום והתאמות של התפיסה במערכות השונות תוך יצירת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ממשקי עבודה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ושיתופי פעולה בין מערכתיים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בנושאי הליבה למניעת התדרדרות</a:t>
            </a:r>
            <a:endParaRPr kumimoji="0" lang="en-US"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p:txBody>
      </p:sp>
      <p:sp>
        <p:nvSpPr>
          <p:cNvPr id="28" name="TextBox 27">
            <a:extLst>
              <a:ext uri="{FF2B5EF4-FFF2-40B4-BE49-F238E27FC236}">
                <a16:creationId xmlns:a16="http://schemas.microsoft.com/office/drawing/2014/main" id="{7AF2F6B5-D981-AD47-A677-3101F24EFE7E}"/>
              </a:ext>
            </a:extLst>
          </p:cNvPr>
          <p:cNvSpPr txBox="1"/>
          <p:nvPr/>
        </p:nvSpPr>
        <p:spPr>
          <a:xfrm>
            <a:off x="8768081" y="4166995"/>
            <a:ext cx="2865120" cy="9289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להוביל</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יחד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שינוי במדיניות</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במערכות ובמנגנון לטובת מניעת הדרדרות והזדקנות מיטבית</a:t>
            </a:r>
          </a:p>
        </p:txBody>
      </p:sp>
      <p:sp>
        <p:nvSpPr>
          <p:cNvPr id="32" name="TextBox 31">
            <a:extLst>
              <a:ext uri="{FF2B5EF4-FFF2-40B4-BE49-F238E27FC236}">
                <a16:creationId xmlns:a16="http://schemas.microsoft.com/office/drawing/2014/main" id="{BA977E22-D0B8-9141-963D-143ECEC75593}"/>
              </a:ext>
            </a:extLst>
          </p:cNvPr>
          <p:cNvSpPr txBox="1"/>
          <p:nvPr/>
        </p:nvSpPr>
        <p:spPr>
          <a:xfrm>
            <a:off x="5648961" y="4166995"/>
            <a:ext cx="2865120" cy="926600"/>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לפעול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לפיתוח כלי מדידה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ותמריצים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שיובילו למניעת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הדרדרות</a:t>
            </a:r>
          </a:p>
        </p:txBody>
      </p:sp>
      <p:pic>
        <p:nvPicPr>
          <p:cNvPr id="2" name="Picture 1">
            <a:extLst>
              <a:ext uri="{FF2B5EF4-FFF2-40B4-BE49-F238E27FC236}">
                <a16:creationId xmlns:a16="http://schemas.microsoft.com/office/drawing/2014/main" id="{16156166-DD95-1F29-9271-9719870DD948}"/>
              </a:ext>
            </a:extLst>
          </p:cNvPr>
          <p:cNvPicPr>
            <a:picLocks noChangeAspect="1"/>
          </p:cNvPicPr>
          <p:nvPr/>
        </p:nvPicPr>
        <p:blipFill>
          <a:blip r:embed="rId4"/>
          <a:srcRect b="18669"/>
          <a:stretch/>
        </p:blipFill>
        <p:spPr>
          <a:xfrm flipH="1">
            <a:off x="178129" y="2062480"/>
            <a:ext cx="5561795" cy="2896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0E66BD4-83AE-1DA8-6D2E-EAB035A2E557}"/>
              </a:ext>
            </a:extLst>
          </p:cNvPr>
          <p:cNvPicPr>
            <a:picLocks noChangeAspect="1"/>
          </p:cNvPicPr>
          <p:nvPr/>
        </p:nvPicPr>
        <p:blipFill>
          <a:blip r:embed="rId5"/>
          <a:stretch>
            <a:fillRect/>
          </a:stretch>
        </p:blipFill>
        <p:spPr>
          <a:xfrm>
            <a:off x="0" y="5951291"/>
            <a:ext cx="12192000" cy="910606"/>
          </a:xfrm>
          <a:prstGeom prst="rect">
            <a:avLst/>
          </a:prstGeom>
        </p:spPr>
      </p:pic>
      <p:grpSp>
        <p:nvGrpSpPr>
          <p:cNvPr id="3" name="Group 2">
            <a:extLst>
              <a:ext uri="{FF2B5EF4-FFF2-40B4-BE49-F238E27FC236}">
                <a16:creationId xmlns:a16="http://schemas.microsoft.com/office/drawing/2014/main" id="{E5DB1C75-3E94-65B4-ADD8-8FD62335EFBA}"/>
              </a:ext>
            </a:extLst>
          </p:cNvPr>
          <p:cNvGrpSpPr/>
          <p:nvPr/>
        </p:nvGrpSpPr>
        <p:grpSpPr>
          <a:xfrm>
            <a:off x="348955" y="6123565"/>
            <a:ext cx="2347678" cy="516168"/>
            <a:chOff x="3486150" y="1040904"/>
            <a:chExt cx="5219896" cy="1147663"/>
          </a:xfrm>
        </p:grpSpPr>
        <p:pic>
          <p:nvPicPr>
            <p:cNvPr id="4" name="Picture 3">
              <a:extLst>
                <a:ext uri="{FF2B5EF4-FFF2-40B4-BE49-F238E27FC236}">
                  <a16:creationId xmlns:a16="http://schemas.microsoft.com/office/drawing/2014/main" id="{169119FA-2017-5C2E-4333-9FBEE5E6AAD2}"/>
                </a:ext>
              </a:extLst>
            </p:cNvPr>
            <p:cNvPicPr>
              <a:picLocks noChangeAspect="1"/>
            </p:cNvPicPr>
            <p:nvPr/>
          </p:nvPicPr>
          <p:blipFill>
            <a:blip r:embed="rId6"/>
            <a:stretch>
              <a:fillRect/>
            </a:stretch>
          </p:blipFill>
          <p:spPr>
            <a:xfrm>
              <a:off x="3486150" y="1807567"/>
              <a:ext cx="3619500" cy="381000"/>
            </a:xfrm>
            <a:prstGeom prst="rect">
              <a:avLst/>
            </a:prstGeom>
          </p:spPr>
        </p:pic>
        <p:pic>
          <p:nvPicPr>
            <p:cNvPr id="6" name="Picture 5">
              <a:extLst>
                <a:ext uri="{FF2B5EF4-FFF2-40B4-BE49-F238E27FC236}">
                  <a16:creationId xmlns:a16="http://schemas.microsoft.com/office/drawing/2014/main" id="{0B44BD4C-AF63-C51D-570B-FFE7FB6C4D9A}"/>
                </a:ext>
              </a:extLst>
            </p:cNvPr>
            <p:cNvPicPr>
              <a:picLocks noChangeAspect="1"/>
            </p:cNvPicPr>
            <p:nvPr/>
          </p:nvPicPr>
          <p:blipFill>
            <a:blip r:embed="rId7"/>
            <a:stretch>
              <a:fillRect/>
            </a:stretch>
          </p:blipFill>
          <p:spPr>
            <a:xfrm>
              <a:off x="7245546" y="1040904"/>
              <a:ext cx="1460500" cy="1092200"/>
            </a:xfrm>
            <a:prstGeom prst="rect">
              <a:avLst/>
            </a:prstGeom>
          </p:spPr>
        </p:pic>
        <p:pic>
          <p:nvPicPr>
            <p:cNvPr id="7" name="Picture 6">
              <a:extLst>
                <a:ext uri="{FF2B5EF4-FFF2-40B4-BE49-F238E27FC236}">
                  <a16:creationId xmlns:a16="http://schemas.microsoft.com/office/drawing/2014/main" id="{7CCCBBAB-8D00-B55C-DF72-2F2D758DD897}"/>
                </a:ext>
              </a:extLst>
            </p:cNvPr>
            <p:cNvPicPr>
              <a:picLocks noChangeAspect="1"/>
            </p:cNvPicPr>
            <p:nvPr/>
          </p:nvPicPr>
          <p:blipFill>
            <a:blip r:embed="rId8"/>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3399291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4331AFB2-6514-7233-B565-6BC88F0C0899}"/>
              </a:ext>
            </a:extLst>
          </p:cNvPr>
          <p:cNvPicPr>
            <a:picLocks noChangeAspect="1"/>
          </p:cNvPicPr>
          <p:nvPr/>
        </p:nvPicPr>
        <p:blipFill>
          <a:blip r:embed="rId2"/>
          <a:stretch>
            <a:fillRect/>
          </a:stretch>
        </p:blipFill>
        <p:spPr>
          <a:xfrm>
            <a:off x="4482506" y="4104736"/>
            <a:ext cx="1079598" cy="2794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338320" y="650973"/>
            <a:ext cx="6376339" cy="85664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 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הצוות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4"/>
          <a:stretch>
            <a:fillRect/>
          </a:stretch>
        </p:blipFill>
        <p:spPr>
          <a:xfrm>
            <a:off x="10714659" y="455211"/>
            <a:ext cx="898221" cy="898221"/>
          </a:xfrm>
          <a:prstGeom prst="rect">
            <a:avLst/>
          </a:prstGeom>
        </p:spPr>
      </p:pic>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9168503" y="1709989"/>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AF2F6B5-D981-AD47-A677-3101F24EFE7E}"/>
              </a:ext>
            </a:extLst>
          </p:cNvPr>
          <p:cNvSpPr txBox="1"/>
          <p:nvPr/>
        </p:nvSpPr>
        <p:spPr>
          <a:xfrm>
            <a:off x="9179858" y="2207231"/>
            <a:ext cx="2589646" cy="26217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25 משתתפים ממגוון גופים: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משרד הבריאות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הביטוח הלאומי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כל קופות החולים-כללית, מכבי, מאוחדת ולאומית</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עיריית תל אביב</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עיריית ירושלים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sp>
        <p:nvSpPr>
          <p:cNvPr id="32" name="TextBox 31">
            <a:extLst>
              <a:ext uri="{FF2B5EF4-FFF2-40B4-BE49-F238E27FC236}">
                <a16:creationId xmlns:a16="http://schemas.microsoft.com/office/drawing/2014/main" id="{BA977E22-D0B8-9141-963D-143ECEC75593}"/>
              </a:ext>
            </a:extLst>
          </p:cNvPr>
          <p:cNvSpPr txBox="1"/>
          <p:nvPr/>
        </p:nvSpPr>
        <p:spPr>
          <a:xfrm>
            <a:off x="-298681" y="2179269"/>
            <a:ext cx="2865120"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הדס ברזילי-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cxnSp>
        <p:nvCxnSpPr>
          <p:cNvPr id="17" name="Straight Connector 16">
            <a:extLst>
              <a:ext uri="{FF2B5EF4-FFF2-40B4-BE49-F238E27FC236}">
                <a16:creationId xmlns:a16="http://schemas.microsoft.com/office/drawing/2014/main" id="{B6AA4E61-B9F6-5940-A159-1B63C5FBC18C}"/>
              </a:ext>
            </a:extLst>
          </p:cNvPr>
          <p:cNvCxnSpPr>
            <a:cxnSpLocks/>
          </p:cNvCxnSpPr>
          <p:nvPr/>
        </p:nvCxnSpPr>
        <p:spPr>
          <a:xfrm>
            <a:off x="2691204" y="1776862"/>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CBD65D2-4724-C447-B769-99F9D8113D49}"/>
              </a:ext>
            </a:extLst>
          </p:cNvPr>
          <p:cNvSpPr txBox="1"/>
          <p:nvPr/>
        </p:nvSpPr>
        <p:spPr>
          <a:xfrm>
            <a:off x="-298681" y="3497551"/>
            <a:ext cx="2865120" cy="646844"/>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חיים פרג-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endPar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6BBE41F2-35DE-4B44-AC31-3345C0A17D08}"/>
              </a:ext>
            </a:extLst>
          </p:cNvPr>
          <p:cNvSpPr txBox="1"/>
          <p:nvPr/>
        </p:nvSpPr>
        <p:spPr>
          <a:xfrm>
            <a:off x="5394615" y="2139206"/>
            <a:ext cx="3332480"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נטלי גבאי -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אגף סיעוד, הביטוח הלאומי</a:t>
            </a:r>
          </a:p>
        </p:txBody>
      </p:sp>
      <p:sp>
        <p:nvSpPr>
          <p:cNvPr id="23" name="TextBox 22">
            <a:extLst>
              <a:ext uri="{FF2B5EF4-FFF2-40B4-BE49-F238E27FC236}">
                <a16:creationId xmlns:a16="http://schemas.microsoft.com/office/drawing/2014/main" id="{6B4375C9-4EE1-FF4E-B103-F145901B862A}"/>
              </a:ext>
            </a:extLst>
          </p:cNvPr>
          <p:cNvSpPr txBox="1"/>
          <p:nvPr/>
        </p:nvSpPr>
        <p:spPr>
          <a:xfrm>
            <a:off x="5394615" y="2850406"/>
            <a:ext cx="3332480" cy="926600"/>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רויטל גרוס-נבו - </a:t>
            </a:r>
            <a:br>
              <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המחלקה לשירותי קהילה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אגף גריאטריה, משרד הבריאות </a:t>
            </a:r>
          </a:p>
        </p:txBody>
      </p:sp>
      <p:sp>
        <p:nvSpPr>
          <p:cNvPr id="24" name="TextBox 23">
            <a:extLst>
              <a:ext uri="{FF2B5EF4-FFF2-40B4-BE49-F238E27FC236}">
                <a16:creationId xmlns:a16="http://schemas.microsoft.com/office/drawing/2014/main" id="{303030E7-D073-E748-B5A8-97067DB4FD91}"/>
              </a:ext>
            </a:extLst>
          </p:cNvPr>
          <p:cNvSpPr txBox="1"/>
          <p:nvPr/>
        </p:nvSpPr>
        <p:spPr>
          <a:xfrm>
            <a:off x="5599959" y="3876566"/>
            <a:ext cx="3127135" cy="1208729"/>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אביעד יצחקי -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ראש אגף תכנון מדיניות הזדקנות האוכלוסייה, 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p>
        </p:txBody>
      </p:sp>
      <p:pic>
        <p:nvPicPr>
          <p:cNvPr id="8" name="Picture 7">
            <a:extLst>
              <a:ext uri="{FF2B5EF4-FFF2-40B4-BE49-F238E27FC236}">
                <a16:creationId xmlns:a16="http://schemas.microsoft.com/office/drawing/2014/main" id="{B6FAB919-8027-3D42-A230-5A08414FB44D}"/>
              </a:ext>
            </a:extLst>
          </p:cNvPr>
          <p:cNvPicPr>
            <a:picLocks noChangeAspect="1"/>
          </p:cNvPicPr>
          <p:nvPr/>
        </p:nvPicPr>
        <p:blipFill>
          <a:blip r:embed="rId5"/>
          <a:stretch>
            <a:fillRect/>
          </a:stretch>
        </p:blipFill>
        <p:spPr>
          <a:xfrm>
            <a:off x="8860549" y="2281451"/>
            <a:ext cx="127000" cy="127000"/>
          </a:xfrm>
          <a:prstGeom prst="rect">
            <a:avLst/>
          </a:prstGeom>
        </p:spPr>
      </p:pic>
      <p:pic>
        <p:nvPicPr>
          <p:cNvPr id="26" name="Picture 25">
            <a:extLst>
              <a:ext uri="{FF2B5EF4-FFF2-40B4-BE49-F238E27FC236}">
                <a16:creationId xmlns:a16="http://schemas.microsoft.com/office/drawing/2014/main" id="{4EBAF1ED-98D9-7844-8442-7DB6251F8237}"/>
              </a:ext>
            </a:extLst>
          </p:cNvPr>
          <p:cNvPicPr>
            <a:picLocks noChangeAspect="1"/>
          </p:cNvPicPr>
          <p:nvPr/>
        </p:nvPicPr>
        <p:blipFill>
          <a:blip r:embed="rId5"/>
          <a:stretch>
            <a:fillRect/>
          </a:stretch>
        </p:blipFill>
        <p:spPr>
          <a:xfrm>
            <a:off x="8859661" y="2951301"/>
            <a:ext cx="127000" cy="127000"/>
          </a:xfrm>
          <a:prstGeom prst="rect">
            <a:avLst/>
          </a:prstGeom>
        </p:spPr>
      </p:pic>
      <p:pic>
        <p:nvPicPr>
          <p:cNvPr id="29" name="Picture 28">
            <a:extLst>
              <a:ext uri="{FF2B5EF4-FFF2-40B4-BE49-F238E27FC236}">
                <a16:creationId xmlns:a16="http://schemas.microsoft.com/office/drawing/2014/main" id="{22FE1571-44CE-6A4A-BDD2-B0A88C15F7BA}"/>
              </a:ext>
            </a:extLst>
          </p:cNvPr>
          <p:cNvPicPr>
            <a:picLocks noChangeAspect="1"/>
          </p:cNvPicPr>
          <p:nvPr/>
        </p:nvPicPr>
        <p:blipFill>
          <a:blip r:embed="rId5"/>
          <a:stretch>
            <a:fillRect/>
          </a:stretch>
        </p:blipFill>
        <p:spPr>
          <a:xfrm>
            <a:off x="8863146" y="3962328"/>
            <a:ext cx="127000" cy="127000"/>
          </a:xfrm>
          <a:prstGeom prst="rect">
            <a:avLst/>
          </a:prstGeom>
        </p:spPr>
      </p:pic>
      <p:pic>
        <p:nvPicPr>
          <p:cNvPr id="12" name="Picture 11">
            <a:extLst>
              <a:ext uri="{FF2B5EF4-FFF2-40B4-BE49-F238E27FC236}">
                <a16:creationId xmlns:a16="http://schemas.microsoft.com/office/drawing/2014/main" id="{7F3F9D7F-9379-8A4C-BF8F-76477A823933}"/>
              </a:ext>
            </a:extLst>
          </p:cNvPr>
          <p:cNvPicPr>
            <a:picLocks noChangeAspect="1"/>
          </p:cNvPicPr>
          <p:nvPr/>
        </p:nvPicPr>
        <p:blipFill>
          <a:blip r:embed="rId2"/>
          <a:stretch>
            <a:fillRect/>
          </a:stretch>
        </p:blipFill>
        <p:spPr>
          <a:xfrm>
            <a:off x="7266839" y="1797764"/>
            <a:ext cx="1738337" cy="279400"/>
          </a:xfrm>
          <a:prstGeom prst="rect">
            <a:avLst/>
          </a:prstGeom>
        </p:spPr>
      </p:pic>
      <p:pic>
        <p:nvPicPr>
          <p:cNvPr id="30" name="Picture 29">
            <a:extLst>
              <a:ext uri="{FF2B5EF4-FFF2-40B4-BE49-F238E27FC236}">
                <a16:creationId xmlns:a16="http://schemas.microsoft.com/office/drawing/2014/main" id="{CF2E2E5D-66CB-FD44-9E9F-A4D2201826ED}"/>
              </a:ext>
            </a:extLst>
          </p:cNvPr>
          <p:cNvPicPr>
            <a:picLocks noChangeAspect="1"/>
          </p:cNvPicPr>
          <p:nvPr/>
        </p:nvPicPr>
        <p:blipFill>
          <a:blip r:embed="rId2"/>
          <a:stretch>
            <a:fillRect/>
          </a:stretch>
        </p:blipFill>
        <p:spPr>
          <a:xfrm>
            <a:off x="10003536" y="1814673"/>
            <a:ext cx="1482304" cy="279400"/>
          </a:xfrm>
          <a:prstGeom prst="rect">
            <a:avLst/>
          </a:prstGeom>
        </p:spPr>
      </p:pic>
      <p:pic>
        <p:nvPicPr>
          <p:cNvPr id="31" name="Picture 30">
            <a:extLst>
              <a:ext uri="{FF2B5EF4-FFF2-40B4-BE49-F238E27FC236}">
                <a16:creationId xmlns:a16="http://schemas.microsoft.com/office/drawing/2014/main" id="{D2BBFFB3-878F-294E-98C4-9638BB7885F9}"/>
              </a:ext>
            </a:extLst>
          </p:cNvPr>
          <p:cNvPicPr>
            <a:picLocks noChangeAspect="1"/>
          </p:cNvPicPr>
          <p:nvPr/>
        </p:nvPicPr>
        <p:blipFill>
          <a:blip r:embed="rId2"/>
          <a:stretch>
            <a:fillRect/>
          </a:stretch>
        </p:blipFill>
        <p:spPr>
          <a:xfrm>
            <a:off x="868631" y="1832328"/>
            <a:ext cx="1628608" cy="279400"/>
          </a:xfrm>
          <a:prstGeom prst="rect">
            <a:avLst/>
          </a:prstGeom>
        </p:spPr>
      </p:pic>
      <p:pic>
        <p:nvPicPr>
          <p:cNvPr id="33" name="Picture 32">
            <a:extLst>
              <a:ext uri="{FF2B5EF4-FFF2-40B4-BE49-F238E27FC236}">
                <a16:creationId xmlns:a16="http://schemas.microsoft.com/office/drawing/2014/main" id="{C172C75D-299A-DB47-8645-BA88B9285CAD}"/>
              </a:ext>
            </a:extLst>
          </p:cNvPr>
          <p:cNvPicPr>
            <a:picLocks noChangeAspect="1"/>
          </p:cNvPicPr>
          <p:nvPr/>
        </p:nvPicPr>
        <p:blipFill>
          <a:blip r:embed="rId2"/>
          <a:stretch>
            <a:fillRect/>
          </a:stretch>
        </p:blipFill>
        <p:spPr>
          <a:xfrm>
            <a:off x="1156977" y="3177423"/>
            <a:ext cx="1333967" cy="279400"/>
          </a:xfrm>
          <a:prstGeom prst="rect">
            <a:avLst/>
          </a:prstGeom>
        </p:spPr>
      </p:pic>
      <p:sp>
        <p:nvSpPr>
          <p:cNvPr id="34" name="TextBox 33">
            <a:extLst>
              <a:ext uri="{FF2B5EF4-FFF2-40B4-BE49-F238E27FC236}">
                <a16:creationId xmlns:a16="http://schemas.microsoft.com/office/drawing/2014/main" id="{306E2FC3-9D81-344A-B127-781A9E1D3DD5}"/>
              </a:ext>
            </a:extLst>
          </p:cNvPr>
          <p:cNvSpPr txBox="1"/>
          <p:nvPr/>
        </p:nvSpPr>
        <p:spPr>
          <a:xfrm>
            <a:off x="9777496" y="1764057"/>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הרכב הצוות: </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5" name="TextBox 34">
            <a:extLst>
              <a:ext uri="{FF2B5EF4-FFF2-40B4-BE49-F238E27FC236}">
                <a16:creationId xmlns:a16="http://schemas.microsoft.com/office/drawing/2014/main" id="{4ED89E95-E24E-4346-A5C9-F898120FF507}"/>
              </a:ext>
            </a:extLst>
          </p:cNvPr>
          <p:cNvSpPr txBox="1"/>
          <p:nvPr/>
        </p:nvSpPr>
        <p:spPr>
          <a:xfrm>
            <a:off x="7205575" y="1776863"/>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err="1">
                <a:ln>
                  <a:noFill/>
                </a:ln>
                <a:solidFill>
                  <a:prstClr val="white"/>
                </a:solidFill>
                <a:effectLst/>
                <a:uLnTx/>
                <a:uFillTx/>
                <a:latin typeface="Rubik" pitchFamily="2" charset="-79"/>
                <a:ea typeface="+mn-ea"/>
                <a:cs typeface="Rubik" pitchFamily="2" charset="-79"/>
              </a:rPr>
              <a:t>מנהל.ות</a:t>
            </a: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 הצוות:</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6" name="TextBox 35">
            <a:extLst>
              <a:ext uri="{FF2B5EF4-FFF2-40B4-BE49-F238E27FC236}">
                <a16:creationId xmlns:a16="http://schemas.microsoft.com/office/drawing/2014/main" id="{1B531E76-132D-A54B-A846-4CC83B009D6D}"/>
              </a:ext>
            </a:extLst>
          </p:cNvPr>
          <p:cNvSpPr txBox="1"/>
          <p:nvPr/>
        </p:nvSpPr>
        <p:spPr>
          <a:xfrm>
            <a:off x="673219" y="1797764"/>
            <a:ext cx="1721348" cy="356508"/>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מלוות התהליך:</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7" name="TextBox 36">
            <a:extLst>
              <a:ext uri="{FF2B5EF4-FFF2-40B4-BE49-F238E27FC236}">
                <a16:creationId xmlns:a16="http://schemas.microsoft.com/office/drawing/2014/main" id="{953C3461-7FA1-4442-A7E0-7BC5C82593C1}"/>
              </a:ext>
            </a:extLst>
          </p:cNvPr>
          <p:cNvSpPr txBox="1"/>
          <p:nvPr/>
        </p:nvSpPr>
        <p:spPr>
          <a:xfrm>
            <a:off x="792075" y="3136694"/>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רכז הפורום:</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cxnSp>
        <p:nvCxnSpPr>
          <p:cNvPr id="2" name="Straight Connector 1">
            <a:extLst>
              <a:ext uri="{FF2B5EF4-FFF2-40B4-BE49-F238E27FC236}">
                <a16:creationId xmlns:a16="http://schemas.microsoft.com/office/drawing/2014/main" id="{B46018E9-F0F4-F7A5-3B6D-CF38BAAD8455}"/>
              </a:ext>
            </a:extLst>
          </p:cNvPr>
          <p:cNvCxnSpPr>
            <a:cxnSpLocks/>
          </p:cNvCxnSpPr>
          <p:nvPr/>
        </p:nvCxnSpPr>
        <p:spPr>
          <a:xfrm>
            <a:off x="5729593" y="1782315"/>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1C6223C-A462-2E40-3B3E-9BE2F8E4CC1C}"/>
              </a:ext>
            </a:extLst>
          </p:cNvPr>
          <p:cNvPicPr>
            <a:picLocks noChangeAspect="1"/>
          </p:cNvPicPr>
          <p:nvPr/>
        </p:nvPicPr>
        <p:blipFill>
          <a:blip r:embed="rId2"/>
          <a:stretch>
            <a:fillRect/>
          </a:stretch>
        </p:blipFill>
        <p:spPr>
          <a:xfrm>
            <a:off x="3440083" y="1847000"/>
            <a:ext cx="1876539" cy="279400"/>
          </a:xfrm>
          <a:prstGeom prst="rect">
            <a:avLst/>
          </a:prstGeom>
        </p:spPr>
      </p:pic>
      <p:sp>
        <p:nvSpPr>
          <p:cNvPr id="11" name="TextBox 10">
            <a:extLst>
              <a:ext uri="{FF2B5EF4-FFF2-40B4-BE49-F238E27FC236}">
                <a16:creationId xmlns:a16="http://schemas.microsoft.com/office/drawing/2014/main" id="{B5A4CC0F-C8D2-8A7C-B5B3-AA83E67B6203}"/>
              </a:ext>
            </a:extLst>
          </p:cNvPr>
          <p:cNvSpPr txBox="1"/>
          <p:nvPr/>
        </p:nvSpPr>
        <p:spPr>
          <a:xfrm>
            <a:off x="3362391" y="1782315"/>
            <a:ext cx="1972015"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Calibri" panose="020F0502020204030204"/>
                <a:ea typeface="+mn-ea"/>
                <a:cs typeface="Rubik" pitchFamily="2" charset="-79"/>
              </a:rPr>
              <a:t>מובילי צוות מדדים:</a:t>
            </a:r>
          </a:p>
        </p:txBody>
      </p:sp>
      <p:sp>
        <p:nvSpPr>
          <p:cNvPr id="14" name="TextBox 13">
            <a:extLst>
              <a:ext uri="{FF2B5EF4-FFF2-40B4-BE49-F238E27FC236}">
                <a16:creationId xmlns:a16="http://schemas.microsoft.com/office/drawing/2014/main" id="{20AC7CF7-FA5F-4D3A-13C1-78704866A6C7}"/>
              </a:ext>
            </a:extLst>
          </p:cNvPr>
          <p:cNvSpPr txBox="1"/>
          <p:nvPr/>
        </p:nvSpPr>
        <p:spPr>
          <a:xfrm>
            <a:off x="2729060" y="2152939"/>
            <a:ext cx="2911355" cy="284693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רות </a:t>
            </a:r>
            <a:r>
              <a:rPr kumimoji="0" lang="he-IL" sz="17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מייטליס</a:t>
            </a: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7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אסנת שמיר -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הבריאות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גלעד הדס-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זוריאן</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רדומיסלסקי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מכבי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ישי קום-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מאוחדת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שי בריל-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כללית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יו"ר אקדמי: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פרופ' רביע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ח'לאילה</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סגן נשיא מכללת צפת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3939822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426464" y="650973"/>
            <a:ext cx="9288195" cy="605422"/>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 מניעת 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מעיקרי הפעילות</a:t>
            </a:r>
            <a:endPar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3"/>
          <a:stretch>
            <a:fillRect/>
          </a:stretch>
        </p:blipFill>
        <p:spPr>
          <a:xfrm>
            <a:off x="10714659" y="455211"/>
            <a:ext cx="898221" cy="898221"/>
          </a:xfrm>
          <a:prstGeom prst="rect">
            <a:avLst/>
          </a:prstGeom>
        </p:spPr>
      </p:pic>
      <p:sp>
        <p:nvSpPr>
          <p:cNvPr id="28" name="TextBox 27">
            <a:extLst>
              <a:ext uri="{FF2B5EF4-FFF2-40B4-BE49-F238E27FC236}">
                <a16:creationId xmlns:a16="http://schemas.microsoft.com/office/drawing/2014/main" id="{7AF2F6B5-D981-AD47-A677-3101F24EFE7E}"/>
              </a:ext>
            </a:extLst>
          </p:cNvPr>
          <p:cNvSpPr txBox="1"/>
          <p:nvPr/>
        </p:nvSpPr>
        <p:spPr>
          <a:xfrm>
            <a:off x="1956816" y="3495471"/>
            <a:ext cx="8719781"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התוצר המצופה: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לייצר מודל הפעלה בין ארגוני יישומי המגדיר סל שירותים רחב ומגוון לדחיקת תלות ושינוי שיטת ומנגנון ההפעלה- כבסיס ליישום והרחבה.</a:t>
            </a:r>
          </a:p>
        </p:txBody>
      </p:sp>
      <p:pic>
        <p:nvPicPr>
          <p:cNvPr id="38" name="Picture 37">
            <a:extLst>
              <a:ext uri="{FF2B5EF4-FFF2-40B4-BE49-F238E27FC236}">
                <a16:creationId xmlns:a16="http://schemas.microsoft.com/office/drawing/2014/main" id="{6EC920B1-53F3-6B4C-8875-6D97EF1453C6}"/>
              </a:ext>
            </a:extLst>
          </p:cNvPr>
          <p:cNvPicPr>
            <a:picLocks noChangeAspect="1"/>
          </p:cNvPicPr>
          <p:nvPr/>
        </p:nvPicPr>
        <p:blipFill>
          <a:blip r:embed="rId4"/>
          <a:stretch>
            <a:fillRect/>
          </a:stretch>
        </p:blipFill>
        <p:spPr>
          <a:xfrm>
            <a:off x="2152488" y="4523096"/>
            <a:ext cx="8562171" cy="560968"/>
          </a:xfrm>
          <a:prstGeom prst="rect">
            <a:avLst/>
          </a:prstGeom>
        </p:spPr>
      </p:pic>
      <p:sp>
        <p:nvSpPr>
          <p:cNvPr id="39" name="TextBox 38">
            <a:extLst>
              <a:ext uri="{FF2B5EF4-FFF2-40B4-BE49-F238E27FC236}">
                <a16:creationId xmlns:a16="http://schemas.microsoft.com/office/drawing/2014/main" id="{9EF84A30-2B66-014A-B8BE-8C6181D241EE}"/>
              </a:ext>
            </a:extLst>
          </p:cNvPr>
          <p:cNvSpPr txBox="1"/>
          <p:nvPr/>
        </p:nvSpPr>
        <p:spPr>
          <a:xfrm>
            <a:off x="2516085" y="1502686"/>
            <a:ext cx="8160512" cy="913776"/>
          </a:xfrm>
          <a:prstGeom prst="rect">
            <a:avLst/>
          </a:prstGeom>
          <a:noFill/>
        </p:spPr>
        <p:txBody>
          <a:bodyPr wrap="square" rtlCol="0">
            <a:spAutoFit/>
          </a:bodyPr>
          <a:lstStyle/>
          <a:p>
            <a:pPr marL="0" marR="0" lvl="0" indent="0" algn="r" defTabSz="914400" rtl="1" eaLnBrk="1" fontAlgn="auto" latinLnBrk="0" hangingPunct="1">
              <a:lnSpc>
                <a:spcPts val="34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תוקפה </a:t>
            </a:r>
            <a:r>
              <a:rPr kumimoji="0" lang="he-IL" sz="1800" b="0"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ודוייקה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תפיסה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רב מערכתית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משותפת לשימור תפקוד ומניעת הדרדרות</a:t>
            </a:r>
          </a:p>
          <a:p>
            <a:pPr marL="0" marR="0" lvl="0" indent="0" algn="r" defTabSz="914400" rtl="1" eaLnBrk="1" fontAlgn="auto" latinLnBrk="0" hangingPunct="1">
              <a:lnSpc>
                <a:spcPts val="34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כנגזרת של התפיסה הרב מערכתית המשותפת, הוגדרו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מיקודי הפעולה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a:t>
            </a:r>
          </a:p>
        </p:txBody>
      </p:sp>
      <p:sp>
        <p:nvSpPr>
          <p:cNvPr id="42" name="TextBox 41">
            <a:extLst>
              <a:ext uri="{FF2B5EF4-FFF2-40B4-BE49-F238E27FC236}">
                <a16:creationId xmlns:a16="http://schemas.microsoft.com/office/drawing/2014/main" id="{ADF44866-0AF0-E04A-866D-F43D85406863}"/>
              </a:ext>
            </a:extLst>
          </p:cNvPr>
          <p:cNvSpPr txBox="1"/>
          <p:nvPr/>
        </p:nvSpPr>
        <p:spPr>
          <a:xfrm>
            <a:off x="10934234" y="2849640"/>
            <a:ext cx="270725"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9F52A3"/>
                </a:solidFill>
                <a:effectLst/>
                <a:uLnTx/>
                <a:uFillTx/>
                <a:latin typeface="Rubik" pitchFamily="2" charset="-79"/>
                <a:ea typeface="+mn-ea"/>
                <a:cs typeface="Rubik" pitchFamily="2" charset="-79"/>
              </a:rPr>
              <a:t>1</a:t>
            </a:r>
            <a:endParaRPr kumimoji="0" lang="he-IL" sz="1800" b="0" i="0" u="none" strike="noStrike" kern="1200" cap="none" spc="0" normalizeH="0" baseline="0" noProof="0" dirty="0">
              <a:ln>
                <a:noFill/>
              </a:ln>
              <a:solidFill>
                <a:srgbClr val="9F52A3"/>
              </a:solidFill>
              <a:effectLst/>
              <a:uLnTx/>
              <a:uFillTx/>
              <a:latin typeface="Rubik" pitchFamily="2" charset="-79"/>
              <a:ea typeface="+mn-ea"/>
              <a:cs typeface="Rubik" pitchFamily="2" charset="-79"/>
            </a:endParaRPr>
          </a:p>
        </p:txBody>
      </p:sp>
      <p:sp>
        <p:nvSpPr>
          <p:cNvPr id="43" name="TextBox 42">
            <a:extLst>
              <a:ext uri="{FF2B5EF4-FFF2-40B4-BE49-F238E27FC236}">
                <a16:creationId xmlns:a16="http://schemas.microsoft.com/office/drawing/2014/main" id="{B0026104-BDE0-6D43-B3D6-5B5FF7D7580F}"/>
              </a:ext>
            </a:extLst>
          </p:cNvPr>
          <p:cNvSpPr txBox="1"/>
          <p:nvPr/>
        </p:nvSpPr>
        <p:spPr>
          <a:xfrm>
            <a:off x="10934234" y="4629013"/>
            <a:ext cx="270725"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9F52A3"/>
                </a:solidFill>
                <a:effectLst/>
                <a:uLnTx/>
                <a:uFillTx/>
                <a:latin typeface="Rubik" pitchFamily="2" charset="-79"/>
                <a:ea typeface="+mn-ea"/>
                <a:cs typeface="Rubik" pitchFamily="2" charset="-79"/>
              </a:rPr>
              <a:t>2</a:t>
            </a:r>
            <a:endParaRPr kumimoji="0" lang="he-IL" sz="1800" b="0" i="0" u="none" strike="noStrike" kern="1200" cap="none" spc="0" normalizeH="0" baseline="0" noProof="0" dirty="0">
              <a:ln>
                <a:noFill/>
              </a:ln>
              <a:solidFill>
                <a:srgbClr val="9F52A3"/>
              </a:solidFill>
              <a:effectLst/>
              <a:uLnTx/>
              <a:uFillTx/>
              <a:latin typeface="Rubik" pitchFamily="2" charset="-79"/>
              <a:ea typeface="+mn-ea"/>
              <a:cs typeface="Rubik" pitchFamily="2" charset="-79"/>
            </a:endParaRPr>
          </a:p>
        </p:txBody>
      </p:sp>
      <p:pic>
        <p:nvPicPr>
          <p:cNvPr id="6" name="Picture 5">
            <a:extLst>
              <a:ext uri="{FF2B5EF4-FFF2-40B4-BE49-F238E27FC236}">
                <a16:creationId xmlns:a16="http://schemas.microsoft.com/office/drawing/2014/main" id="{EA5875F3-552C-EF41-BCA1-823BEF99439C}"/>
              </a:ext>
            </a:extLst>
          </p:cNvPr>
          <p:cNvPicPr>
            <a:picLocks noChangeAspect="1"/>
          </p:cNvPicPr>
          <p:nvPr/>
        </p:nvPicPr>
        <p:blipFill>
          <a:blip r:embed="rId5"/>
          <a:stretch>
            <a:fillRect/>
          </a:stretch>
        </p:blipFill>
        <p:spPr>
          <a:xfrm>
            <a:off x="10689969" y="1624771"/>
            <a:ext cx="330200" cy="330200"/>
          </a:xfrm>
          <a:prstGeom prst="rect">
            <a:avLst/>
          </a:prstGeom>
        </p:spPr>
      </p:pic>
      <p:pic>
        <p:nvPicPr>
          <p:cNvPr id="44" name="Picture 43">
            <a:extLst>
              <a:ext uri="{FF2B5EF4-FFF2-40B4-BE49-F238E27FC236}">
                <a16:creationId xmlns:a16="http://schemas.microsoft.com/office/drawing/2014/main" id="{ED11842D-441C-C24D-89BD-933414F987A9}"/>
              </a:ext>
            </a:extLst>
          </p:cNvPr>
          <p:cNvPicPr>
            <a:picLocks noChangeAspect="1"/>
          </p:cNvPicPr>
          <p:nvPr/>
        </p:nvPicPr>
        <p:blipFill>
          <a:blip r:embed="rId5"/>
          <a:stretch>
            <a:fillRect/>
          </a:stretch>
        </p:blipFill>
        <p:spPr>
          <a:xfrm>
            <a:off x="10689969" y="2069615"/>
            <a:ext cx="330200" cy="330200"/>
          </a:xfrm>
          <a:prstGeom prst="rect">
            <a:avLst/>
          </a:prstGeom>
        </p:spPr>
      </p:pic>
      <p:pic>
        <p:nvPicPr>
          <p:cNvPr id="9" name="Picture 8">
            <a:extLst>
              <a:ext uri="{FF2B5EF4-FFF2-40B4-BE49-F238E27FC236}">
                <a16:creationId xmlns:a16="http://schemas.microsoft.com/office/drawing/2014/main" id="{898D7A6E-B0AD-F042-81B6-078ABE590694}"/>
              </a:ext>
            </a:extLst>
          </p:cNvPr>
          <p:cNvPicPr>
            <a:picLocks noChangeAspect="1"/>
          </p:cNvPicPr>
          <p:nvPr/>
        </p:nvPicPr>
        <p:blipFill>
          <a:blip r:embed="rId6"/>
          <a:stretch>
            <a:fillRect/>
          </a:stretch>
        </p:blipFill>
        <p:spPr>
          <a:xfrm>
            <a:off x="10832758" y="2802211"/>
            <a:ext cx="457200" cy="457200"/>
          </a:xfrm>
          <a:prstGeom prst="rect">
            <a:avLst/>
          </a:prstGeom>
        </p:spPr>
      </p:pic>
      <p:pic>
        <p:nvPicPr>
          <p:cNvPr id="45" name="Picture 44">
            <a:extLst>
              <a:ext uri="{FF2B5EF4-FFF2-40B4-BE49-F238E27FC236}">
                <a16:creationId xmlns:a16="http://schemas.microsoft.com/office/drawing/2014/main" id="{D609B876-26FC-BB4C-99E3-2AC4A00AAB77}"/>
              </a:ext>
            </a:extLst>
          </p:cNvPr>
          <p:cNvPicPr>
            <a:picLocks noChangeAspect="1"/>
          </p:cNvPicPr>
          <p:nvPr/>
        </p:nvPicPr>
        <p:blipFill>
          <a:blip r:embed="rId6"/>
          <a:stretch>
            <a:fillRect/>
          </a:stretch>
        </p:blipFill>
        <p:spPr>
          <a:xfrm>
            <a:off x="10832758" y="4565109"/>
            <a:ext cx="457200" cy="457200"/>
          </a:xfrm>
          <a:prstGeom prst="rect">
            <a:avLst/>
          </a:prstGeom>
        </p:spPr>
      </p:pic>
      <p:sp>
        <p:nvSpPr>
          <p:cNvPr id="3" name="TextBox 2">
            <a:extLst>
              <a:ext uri="{FF2B5EF4-FFF2-40B4-BE49-F238E27FC236}">
                <a16:creationId xmlns:a16="http://schemas.microsoft.com/office/drawing/2014/main" id="{3F5B0371-E07C-4C78-A9FD-19CA9E84416A}"/>
              </a:ext>
            </a:extLst>
          </p:cNvPr>
          <p:cNvSpPr txBox="1"/>
          <p:nvPr/>
        </p:nvSpPr>
        <p:spPr>
          <a:xfrm>
            <a:off x="2027585" y="4487948"/>
            <a:ext cx="8719781"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פיתוח מדדי תוצאה לפרט ולמערכת למדידת השינוי הרצוי </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(הגברת התפקוד והקטנת ההידרדרות התפקודית) והסכמה על מדדי מניעה במערכות השונות (כדוגמת שבריריות)</a:t>
            </a:r>
          </a:p>
        </p:txBody>
      </p:sp>
      <p:pic>
        <p:nvPicPr>
          <p:cNvPr id="4" name="Picture 3">
            <a:extLst>
              <a:ext uri="{FF2B5EF4-FFF2-40B4-BE49-F238E27FC236}">
                <a16:creationId xmlns:a16="http://schemas.microsoft.com/office/drawing/2014/main" id="{7FB46002-8D4A-B488-BADF-B2A2B7C4C261}"/>
              </a:ext>
            </a:extLst>
          </p:cNvPr>
          <p:cNvPicPr>
            <a:picLocks noChangeAspect="1"/>
          </p:cNvPicPr>
          <p:nvPr/>
        </p:nvPicPr>
        <p:blipFill>
          <a:blip r:embed="rId4"/>
          <a:stretch>
            <a:fillRect/>
          </a:stretch>
        </p:blipFill>
        <p:spPr>
          <a:xfrm>
            <a:off x="2137080" y="2725411"/>
            <a:ext cx="8552889" cy="560968"/>
          </a:xfrm>
          <a:prstGeom prst="rect">
            <a:avLst/>
          </a:prstGeom>
        </p:spPr>
      </p:pic>
      <p:sp>
        <p:nvSpPr>
          <p:cNvPr id="40" name="TextBox 39">
            <a:extLst>
              <a:ext uri="{FF2B5EF4-FFF2-40B4-BE49-F238E27FC236}">
                <a16:creationId xmlns:a16="http://schemas.microsoft.com/office/drawing/2014/main" id="{35B0A821-5CCE-C343-94A1-6A87CB1326E9}"/>
              </a:ext>
            </a:extLst>
          </p:cNvPr>
          <p:cNvSpPr txBox="1"/>
          <p:nvPr/>
        </p:nvSpPr>
        <p:spPr>
          <a:xfrm>
            <a:off x="2060294" y="2705871"/>
            <a:ext cx="8654365" cy="646844"/>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הרחבת סל השירותים בחוק סיעוד וצביעת חלק מהגמלה לטובת שירותים מותאמים אישית לקידום תפקוד, משמעות, בריאות וחוסן כלכלי ואישי </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(ופחות כסף ביד)</a:t>
            </a:r>
          </a:p>
        </p:txBody>
      </p:sp>
    </p:spTree>
    <p:extLst>
      <p:ext uri="{BB962C8B-B14F-4D97-AF65-F5344CB8AC3E}">
        <p14:creationId xmlns:p14="http://schemas.microsoft.com/office/powerpoint/2010/main" val="4107608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35311" y="2561087"/>
            <a:ext cx="1596280"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56494" y="4100721"/>
            <a:ext cx="1585958"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29847" y="4648167"/>
            <a:ext cx="1585958" cy="48828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697855"/>
            <a:ext cx="1596280" cy="732363"/>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35365" y="2762057"/>
            <a:ext cx="2448344" cy="2960811"/>
            <a:chOff x="-658330" y="2484953"/>
            <a:chExt cx="2524769" cy="3573280"/>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62945" y="3144729"/>
              <a:ext cx="2206667" cy="2913504"/>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35311" y="2010739"/>
            <a:ext cx="1596280" cy="419479"/>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הביטוח הלאומי</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895172" y="238612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838746" y="392445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838538" y="525869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60608" y="2696024"/>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720227" y="4023733"/>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60591" y="3548420"/>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פעילות גופנית סדירה</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היעזרות באמצעים תומכים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3" y="316487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2" y="451164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46546" y="5745539"/>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615553"/>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0729" y="995194"/>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7718869" y="173450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494183" y="1682750"/>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259021" y="1697099"/>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7" name="Rectangle: Rounded Corners 6">
            <a:extLst>
              <a:ext uri="{FF2B5EF4-FFF2-40B4-BE49-F238E27FC236}">
                <a16:creationId xmlns:a16="http://schemas.microsoft.com/office/drawing/2014/main" id="{4BB345F4-B676-0126-2A98-9D9D5C9603D2}"/>
              </a:ext>
            </a:extLst>
          </p:cNvPr>
          <p:cNvSpPr/>
          <p:nvPr/>
        </p:nvSpPr>
        <p:spPr>
          <a:xfrm>
            <a:off x="6605392" y="5295477"/>
            <a:ext cx="1585958" cy="46276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47530" y="5918628"/>
            <a:ext cx="1564652" cy="469697"/>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 הממשלה הרלוונטיים</a:t>
            </a:r>
          </a:p>
        </p:txBody>
      </p:sp>
      <p:sp>
        <p:nvSpPr>
          <p:cNvPr id="48" name="Rectangle: Rounded Corners 47">
            <a:extLst>
              <a:ext uri="{FF2B5EF4-FFF2-40B4-BE49-F238E27FC236}">
                <a16:creationId xmlns:a16="http://schemas.microsoft.com/office/drawing/2014/main" id="{44E007AC-0C9E-D7B0-0306-384B9E4DA56D}"/>
              </a:ext>
            </a:extLst>
          </p:cNvPr>
          <p:cNvSpPr/>
          <p:nvPr/>
        </p:nvSpPr>
        <p:spPr>
          <a:xfrm>
            <a:off x="6636877" y="3596314"/>
            <a:ext cx="1585959"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חברות סיעוד</a:t>
            </a:r>
          </a:p>
        </p:txBody>
      </p:sp>
      <p:sp>
        <p:nvSpPr>
          <p:cNvPr id="52" name="Rectangle: Rounded Corners 51">
            <a:extLst>
              <a:ext uri="{FF2B5EF4-FFF2-40B4-BE49-F238E27FC236}">
                <a16:creationId xmlns:a16="http://schemas.microsoft.com/office/drawing/2014/main" id="{E4EF5CCF-D9AC-FABE-E4EA-5722ED3E3BCD}"/>
              </a:ext>
            </a:extLst>
          </p:cNvPr>
          <p:cNvSpPr/>
          <p:nvPr/>
        </p:nvSpPr>
        <p:spPr>
          <a:xfrm>
            <a:off x="6656494" y="3050112"/>
            <a:ext cx="1578594"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המטפלות</a:t>
            </a:r>
          </a:p>
        </p:txBody>
      </p:sp>
      <p:pic>
        <p:nvPicPr>
          <p:cNvPr id="11" name="Picture 10">
            <a:extLst>
              <a:ext uri="{FF2B5EF4-FFF2-40B4-BE49-F238E27FC236}">
                <a16:creationId xmlns:a16="http://schemas.microsoft.com/office/drawing/2014/main" id="{CC81804E-05FA-7B35-A72D-A1B8B7C88DD5}"/>
              </a:ext>
            </a:extLst>
          </p:cNvPr>
          <p:cNvPicPr>
            <a:picLocks noChangeAspect="1"/>
          </p:cNvPicPr>
          <p:nvPr/>
        </p:nvPicPr>
        <p:blipFill>
          <a:blip r:embed="rId5"/>
          <a:stretch>
            <a:fillRect/>
          </a:stretch>
        </p:blipFill>
        <p:spPr>
          <a:xfrm>
            <a:off x="3611" y="-5684"/>
            <a:ext cx="12192000" cy="744061"/>
          </a:xfrm>
          <a:prstGeom prst="rect">
            <a:avLst/>
          </a:prstGeom>
        </p:spPr>
      </p:pic>
      <p:sp>
        <p:nvSpPr>
          <p:cNvPr id="28" name="TextBox 27">
            <a:extLst>
              <a:ext uri="{FF2B5EF4-FFF2-40B4-BE49-F238E27FC236}">
                <a16:creationId xmlns:a16="http://schemas.microsoft.com/office/drawing/2014/main" id="{78880B34-4B12-577F-4FD3-4E54051AFB6D}"/>
              </a:ext>
            </a:extLst>
          </p:cNvPr>
          <p:cNvSpPr txBox="1"/>
          <p:nvPr/>
        </p:nvSpPr>
        <p:spPr>
          <a:xfrm>
            <a:off x="1606782" y="52413"/>
            <a:ext cx="10219200" cy="58477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תפיסה רב מערכתית לשימור תפקוד ומניעת הדרדרות</a:t>
            </a:r>
          </a:p>
        </p:txBody>
      </p:sp>
    </p:spTree>
    <p:extLst>
      <p:ext uri="{BB962C8B-B14F-4D97-AF65-F5344CB8AC3E}">
        <p14:creationId xmlns:p14="http://schemas.microsoft.com/office/powerpoint/2010/main" val="30287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P spid="48" grpId="0" animBg="1"/>
      <p:bldP spid="5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C5C9E383-1D00-411F-BD3B-B067D716193C}"/>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C3F1E569-6A48-4E32-9380-64C2E34EA53B}"/>
              </a:ext>
            </a:extLst>
          </p:cNvPr>
          <p:cNvSpPr txBox="1"/>
          <p:nvPr/>
        </p:nvSpPr>
        <p:spPr>
          <a:xfrm>
            <a:off x="4418616" y="22406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כ-15%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27291A11-BE90-4BE3-A04D-E8DC9C14A245}"/>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0749F052-554F-4F10-8C2A-4DAF457FDE1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28396BA2-6E09-4B7A-BD20-D26C6C3D608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0B489560-F7D7-4336-8787-BB476E6F04E6}"/>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3F24F495-547A-4155-9CFB-AC93F104C14C}"/>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444C3F03-C278-4DB9-BD46-81228A265B5F}"/>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CAA22FC-42A8-4CBD-907E-4F889265FBD6}"/>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40C15470-1A3A-4772-A122-7AE6DCFE87BB}"/>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5A80DECE-8E00-4E3F-8C57-49C736C83A4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D3FFBADB-CA58-49C7-80E5-086E551EE241}"/>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76DAA703-1792-4CF3-A118-69DD7F1B212F}"/>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FD995344-6A98-4276-86D6-B8D342C39203}"/>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A1ED770A-724F-497F-9FB1-8EE584298A7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B77ED6D1-62A5-E57E-9593-D46D96DF720B}"/>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259880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1362073" y="456416"/>
            <a:ext cx="9286870" cy="283154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Calibri"/>
                <a:ea typeface="+mn-ea"/>
                <a:cs typeface="Calibri"/>
              </a:rPr>
              <a:t>פנינה לוי, אישה בת 71, רמת סיעוד 2 </a:t>
            </a:r>
            <a:r>
              <a:rPr kumimoji="0" lang="he-IL" sz="1600" b="1" i="0" u="none" strike="noStrike" kern="1200" cap="none" spc="0" normalizeH="0" baseline="0" noProof="0" dirty="0">
                <a:ln>
                  <a:noFill/>
                </a:ln>
                <a:solidFill>
                  <a:prstClr val="black"/>
                </a:solidFill>
                <a:effectLst/>
                <a:uLnTx/>
                <a:uFillTx/>
                <a:latin typeface="Calibri"/>
                <a:ea typeface="+mn-ea"/>
                <a:cs typeface="Calibri"/>
              </a:rPr>
              <a:t>(מייצגת 15%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המלצות לסל מותאם לפנינה מצ'אט </a:t>
            </a:r>
            <a:r>
              <a:rPr kumimoji="0" lang="en-US" sz="16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GPT</a:t>
            </a: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חיבור חברתי: פעילויות חברתיות בקהילה, מפגשים עם חברים, קבוצות תמיכה, פעילויות פנאי</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פיזיותרפיה: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טיפולים לחיזוק השרירים, שיפור שיווי המשקל והתנועתיות, והפחתת הסיכון לנפילות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 רגשי: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סיוע להתמודדות עם קשיים רגשיים, בדידות, דיכאון, וחששות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וייעוץ: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לבני המשפחה בנוגע לטיפול נכון בפנינה, ייעוץ בנוגע לזכויותיה והטבות המגיעות לה</a:t>
            </a:r>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056964" y="5214421"/>
            <a:ext cx="7583577" cy="1200329"/>
          </a:xfrm>
          <a:prstGeom prst="rect">
            <a:avLst/>
          </a:prstGeom>
          <a:solidFill>
            <a:schemeClr val="accent1">
              <a:lumMod val="20000"/>
              <a:lumOff val="80000"/>
            </a:schemeClr>
          </a:solidFill>
          <a:ln>
            <a:noFill/>
          </a:ln>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דגשים חשובים:</a:t>
            </a:r>
            <a:endParaRPr kumimoji="0" lang="he-IL" sz="1800" b="0" i="0" u="none" strike="noStrike" kern="1200" cap="none" spc="0" normalizeH="0" baseline="0" noProof="0" dirty="0">
              <a:ln>
                <a:noFill/>
              </a:ln>
              <a:solidFill>
                <a:srgbClr val="0F6FC6"/>
              </a:solidFill>
              <a:effectLst/>
              <a:uLnTx/>
              <a:uFillTx/>
              <a:latin typeface="Calibri"/>
              <a:ea typeface="+mn-ea"/>
              <a:cs typeface="Calibri"/>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סל השירותים המומלץ צריך להיות מותאם אישית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לצרכיה הייחודיים של פנינה.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רצוי שפנינה תהיה מעורבת בתהליך קבלת ההחלטות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בנוגע לסל השירותים שיוענק לה.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0" i="0" u="none" strike="noStrike" kern="1200" cap="none" spc="0" normalizeH="0" baseline="0" noProof="0" dirty="0">
                <a:ln>
                  <a:noFill/>
                </a:ln>
                <a:solidFill>
                  <a:prstClr val="black"/>
                </a:solidFill>
                <a:effectLst/>
                <a:uLnTx/>
                <a:uFillTx/>
                <a:latin typeface="Calibri"/>
                <a:ea typeface="+mn-ea"/>
                <a:cs typeface="Calibri"/>
              </a:rPr>
              <a:t>חשוב</a:t>
            </a:r>
            <a:r>
              <a:rPr kumimoji="0" lang="he-IL" sz="1800" b="1" i="0" u="none" strike="noStrike" kern="1200" cap="none" spc="0" normalizeH="0" baseline="0" noProof="0" dirty="0">
                <a:ln>
                  <a:noFill/>
                </a:ln>
                <a:solidFill>
                  <a:prstClr val="black"/>
                </a:solidFill>
                <a:effectLst/>
                <a:uLnTx/>
                <a:uFillTx/>
                <a:latin typeface="Calibri"/>
                <a:ea typeface="+mn-ea"/>
                <a:cs typeface="Calibri"/>
              </a:rPr>
              <a:t> לתעד ולמדוד את התקדמותה של פנינה ולעדכן את סל השירותים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621958" y="3047289"/>
            <a:ext cx="8018584" cy="190064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מטרת סל השירותים:</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לשפר את איכות חייה של פנינה ולעזור לה לשמור על עצמאותה.</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להפחית את תחושת הבדידות והתלות בבן.</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לחזק את בריאותה הנפשית והפיזית.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לאפשר לה ליהנות מחיים מלאים ומשמעותיים.</a:t>
            </a:r>
          </a:p>
        </p:txBody>
      </p:sp>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393290" y="2925967"/>
            <a:ext cx="2415365" cy="3314633"/>
          </a:xfrm>
          <a:prstGeom prst="rect">
            <a:avLst/>
          </a:prstGeom>
        </p:spPr>
      </p:pic>
      <p:pic>
        <p:nvPicPr>
          <p:cNvPr id="4" name="תמונה 3">
            <a:extLst>
              <a:ext uri="{FF2B5EF4-FFF2-40B4-BE49-F238E27FC236}">
                <a16:creationId xmlns:a16="http://schemas.microsoft.com/office/drawing/2014/main" id="{320C65D6-6AD9-8513-5DB0-F6B86BC191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640542" y="364082"/>
            <a:ext cx="2143444" cy="1200329"/>
          </a:xfrm>
          <a:prstGeom prst="rect">
            <a:avLst/>
          </a:prstGeom>
        </p:spPr>
      </p:pic>
    </p:spTree>
    <p:extLst>
      <p:ext uri="{BB962C8B-B14F-4D97-AF65-F5344CB8AC3E}">
        <p14:creationId xmlns:p14="http://schemas.microsoft.com/office/powerpoint/2010/main" val="356467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5671038" y="288622"/>
            <a:ext cx="5541807"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Tree>
    <p:extLst>
      <p:ext uri="{BB962C8B-B14F-4D97-AF65-F5344CB8AC3E}">
        <p14:creationId xmlns:p14="http://schemas.microsoft.com/office/powerpoint/2010/main" val="227698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049321" y="376431"/>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6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6740290" y="469748"/>
            <a:ext cx="4796418" cy="76944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מה יוצא לנו מזה</a:t>
            </a:r>
            <a:r>
              <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a:t>
            </a:r>
            <a:endParaRPr kumimoji="0" lang="en-IL"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447792"/>
            <a:ext cx="2528239"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הזדקנות מיטבית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262552" y="2792914"/>
            <a:ext cx="170271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ניהול ואסטרטגיה</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63364" y="2776824"/>
            <a:ext cx="117692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אפקטיביות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ssistant" pitchFamily="2" charset="-79"/>
                <a:ea typeface="Heebo Black"/>
                <a:cs typeface="Assistant" pitchFamily="2" charset="-79"/>
                <a:sym typeface="Heebo Black"/>
              </a:rPr>
              <a:t>הרחבת</a:t>
            </a:r>
            <a:r>
              <a:rPr lang="he-IL" b="1" dirty="0">
                <a:solidFill>
                  <a:srgbClr val="DBEFF9">
                    <a:lumMod val="10000"/>
                  </a:srgbClr>
                </a:solidFill>
                <a:latin typeface="Assistant" pitchFamily="2" charset="-79"/>
                <a:ea typeface="Heebo Black"/>
                <a:cs typeface="Assistant" pitchFamily="2" charset="-79"/>
                <a:sym typeface="Heebo Black"/>
              </a:rPr>
              <a:t> עצמאות ובחירה, השתתפות, </a:t>
            </a:r>
            <a:r>
              <a:rPr lang="he-IL" dirty="0">
                <a:solidFill>
                  <a:srgbClr val="DBEFF9">
                    <a:lumMod val="10000"/>
                  </a:srgbClr>
                </a:solidFill>
                <a:latin typeface="Assistant" pitchFamily="2" charset="-79"/>
                <a:ea typeface="Heebo Black"/>
                <a:cs typeface="Assistant" pitchFamily="2" charset="-79"/>
                <a:sym typeface="Heebo Black"/>
              </a:rPr>
              <a:t>וקידום </a:t>
            </a:r>
            <a:r>
              <a:rPr lang="he-IL" b="1" dirty="0">
                <a:solidFill>
                  <a:srgbClr val="DBEFF9">
                    <a:lumMod val="10000"/>
                  </a:srgbClr>
                </a:solidFill>
                <a:latin typeface="Assistant" pitchFamily="2" charset="-79"/>
                <a:ea typeface="Heebo Black"/>
                <a:cs typeface="Assistant" pitchFamily="2" charset="-79"/>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50496" y="6222773"/>
            <a:ext cx="1118350" cy="612431"/>
          </a:xfrm>
          <a:prstGeom prst="rect">
            <a:avLst/>
          </a:prstGeom>
          <a:ln>
            <a:noFill/>
          </a:ln>
        </p:spPr>
      </p:pic>
      <p:sp>
        <p:nvSpPr>
          <p:cNvPr id="5" name="Rectangle: Rounded Corners 13">
            <a:extLst>
              <a:ext uri="{FF2B5EF4-FFF2-40B4-BE49-F238E27FC236}">
                <a16:creationId xmlns:a16="http://schemas.microsoft.com/office/drawing/2014/main" id="{75A492B0-17B1-5B9A-9754-88498FDA8F1E}"/>
              </a:ext>
            </a:extLst>
          </p:cNvPr>
          <p:cNvSpPr/>
          <p:nvPr/>
        </p:nvSpPr>
        <p:spPr>
          <a:xfrm>
            <a:off x="282777" y="1076580"/>
            <a:ext cx="11736032" cy="494613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 name="TextBox 14">
            <a:extLst>
              <a:ext uri="{FF2B5EF4-FFF2-40B4-BE49-F238E27FC236}">
                <a16:creationId xmlns:a16="http://schemas.microsoft.com/office/drawing/2014/main" id="{9E72535F-AC6F-A94D-0307-9A8306339A75}"/>
              </a:ext>
            </a:extLst>
          </p:cNvPr>
          <p:cNvSpPr txBox="1"/>
          <p:nvPr/>
        </p:nvSpPr>
        <p:spPr>
          <a:xfrm>
            <a:off x="4012378" y="1425441"/>
            <a:ext cx="4640997"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5260C6">
                    <a:lumMod val="75000"/>
                  </a:srgbClr>
                </a:solidFill>
                <a:effectLst/>
                <a:uLnTx/>
                <a:uFillTx/>
                <a:latin typeface="Calibri"/>
                <a:ea typeface="+mn-ea"/>
                <a:cs typeface="Calibri"/>
              </a:rPr>
              <a:t>סל שירותי הזדקנות מיטבית</a:t>
            </a:r>
          </a:p>
        </p:txBody>
      </p:sp>
      <p:sp>
        <p:nvSpPr>
          <p:cNvPr id="7" name="TextBox 41">
            <a:extLst>
              <a:ext uri="{FF2B5EF4-FFF2-40B4-BE49-F238E27FC236}">
                <a16:creationId xmlns:a16="http://schemas.microsoft.com/office/drawing/2014/main" id="{C5861D9E-A05C-54E7-8D60-054EAF471B8B}"/>
              </a:ext>
            </a:extLst>
          </p:cNvPr>
          <p:cNvSpPr txBox="1"/>
          <p:nvPr/>
        </p:nvSpPr>
        <p:spPr>
          <a:xfrm>
            <a:off x="2643153" y="1817312"/>
            <a:ext cx="6814729" cy="30777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הסל מורכב משירותי הקהילה המקומית ועוד מבחר של שירותים בהתאמה אישית לצרכי מקבל השירות</a:t>
            </a:r>
          </a:p>
        </p:txBody>
      </p:sp>
      <p:grpSp>
        <p:nvGrpSpPr>
          <p:cNvPr id="8" name="Group 30">
            <a:extLst>
              <a:ext uri="{FF2B5EF4-FFF2-40B4-BE49-F238E27FC236}">
                <a16:creationId xmlns:a16="http://schemas.microsoft.com/office/drawing/2014/main" id="{F6F30F5C-E09E-4502-73EC-C683108E5E90}"/>
              </a:ext>
            </a:extLst>
          </p:cNvPr>
          <p:cNvGrpSpPr/>
          <p:nvPr/>
        </p:nvGrpSpPr>
        <p:grpSpPr>
          <a:xfrm>
            <a:off x="8906529" y="2456359"/>
            <a:ext cx="2380552" cy="2557455"/>
            <a:chOff x="9433660" y="2436894"/>
            <a:chExt cx="2380552" cy="2557455"/>
          </a:xfrm>
        </p:grpSpPr>
        <p:grpSp>
          <p:nvGrpSpPr>
            <p:cNvPr id="11" name="Group 8">
              <a:extLst>
                <a:ext uri="{FF2B5EF4-FFF2-40B4-BE49-F238E27FC236}">
                  <a16:creationId xmlns:a16="http://schemas.microsoft.com/office/drawing/2014/main" id="{FA9B6734-1BAE-6E7D-00BD-5A9116CE375A}"/>
                </a:ext>
              </a:extLst>
            </p:cNvPr>
            <p:cNvGrpSpPr/>
            <p:nvPr/>
          </p:nvGrpSpPr>
          <p:grpSpPr>
            <a:xfrm>
              <a:off x="9433660" y="2958540"/>
              <a:ext cx="2380552" cy="2035809"/>
              <a:chOff x="8797687" y="1676389"/>
              <a:chExt cx="2380552" cy="2035809"/>
            </a:xfrm>
          </p:grpSpPr>
          <p:sp>
            <p:nvSpPr>
              <p:cNvPr id="16" name="Rectangle: Rounded Corners 9">
                <a:extLst>
                  <a:ext uri="{FF2B5EF4-FFF2-40B4-BE49-F238E27FC236}">
                    <a16:creationId xmlns:a16="http://schemas.microsoft.com/office/drawing/2014/main" id="{AF6C7EB5-7F24-6B35-3386-406E2F8D4F7E}"/>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0">
                <a:extLst>
                  <a:ext uri="{FF2B5EF4-FFF2-40B4-BE49-F238E27FC236}">
                    <a16:creationId xmlns:a16="http://schemas.microsoft.com/office/drawing/2014/main" id="{F4F072FB-B048-A8F9-453B-AA081A46CDC7}"/>
                  </a:ext>
                </a:extLst>
              </p:cNvPr>
              <p:cNvSpPr txBox="1"/>
              <p:nvPr/>
            </p:nvSpPr>
            <p:spPr>
              <a:xfrm>
                <a:off x="8797687" y="1980307"/>
                <a:ext cx="227233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 קהילה מקומית</a:t>
                </a:r>
              </a:p>
            </p:txBody>
          </p:sp>
          <p:sp>
            <p:nvSpPr>
              <p:cNvPr id="18" name="TextBox 36">
                <a:extLst>
                  <a:ext uri="{FF2B5EF4-FFF2-40B4-BE49-F238E27FC236}">
                    <a16:creationId xmlns:a16="http://schemas.microsoft.com/office/drawing/2014/main" id="{2A229727-C54D-8162-65EE-E99E02CD5718}"/>
                  </a:ext>
                </a:extLst>
              </p:cNvPr>
              <p:cNvSpPr txBox="1"/>
              <p:nvPr/>
            </p:nvSpPr>
            <p:spPr>
              <a:xfrm>
                <a:off x="8859143" y="2327203"/>
                <a:ext cx="2272333"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קהילה בת 150 חברים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המתגוררים בסמיכות זה לזו אשר מנוהלת על ידי מתאמת שירות ומספקת לחבריה שירותי בסיס דוגמת פעילויות חברתיות, ביקורי בית וכו'</a:t>
                </a:r>
              </a:p>
            </p:txBody>
          </p:sp>
        </p:grpSp>
        <p:grpSp>
          <p:nvGrpSpPr>
            <p:cNvPr id="12" name="Group 60">
              <a:extLst>
                <a:ext uri="{FF2B5EF4-FFF2-40B4-BE49-F238E27FC236}">
                  <a16:creationId xmlns:a16="http://schemas.microsoft.com/office/drawing/2014/main" id="{7CAD67F0-9888-4CAD-E4F8-4E01B3F98944}"/>
                </a:ext>
              </a:extLst>
            </p:cNvPr>
            <p:cNvGrpSpPr/>
            <p:nvPr/>
          </p:nvGrpSpPr>
          <p:grpSpPr>
            <a:xfrm>
              <a:off x="10216506" y="2436894"/>
              <a:ext cx="829557" cy="829557"/>
              <a:chOff x="9961982" y="1296250"/>
              <a:chExt cx="829557" cy="829557"/>
            </a:xfrm>
          </p:grpSpPr>
          <p:sp>
            <p:nvSpPr>
              <p:cNvPr id="13" name="Oval 59">
                <a:extLst>
                  <a:ext uri="{FF2B5EF4-FFF2-40B4-BE49-F238E27FC236}">
                    <a16:creationId xmlns:a16="http://schemas.microsoft.com/office/drawing/2014/main" id="{C1623A54-1E6C-6254-D08E-8BE18B6C8EA4}"/>
                  </a:ext>
                </a:extLst>
              </p:cNvPr>
              <p:cNvSpPr/>
              <p:nvPr/>
            </p:nvSpPr>
            <p:spPr>
              <a:xfrm>
                <a:off x="9961982" y="1296250"/>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5" name="Graphic 25" descr="Neighborhood outline">
                <a:extLst>
                  <a:ext uri="{FF2B5EF4-FFF2-40B4-BE49-F238E27FC236}">
                    <a16:creationId xmlns:a16="http://schemas.microsoft.com/office/drawing/2014/main" id="{6CE6C2C1-000D-1291-57EC-D0629D3616B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8" y="1395624"/>
                <a:ext cx="697543" cy="697543"/>
              </a:xfrm>
              <a:prstGeom prst="rect">
                <a:avLst/>
              </a:prstGeom>
            </p:spPr>
          </p:pic>
        </p:grpSp>
      </p:grpSp>
      <p:grpSp>
        <p:nvGrpSpPr>
          <p:cNvPr id="19" name="Group 75">
            <a:extLst>
              <a:ext uri="{FF2B5EF4-FFF2-40B4-BE49-F238E27FC236}">
                <a16:creationId xmlns:a16="http://schemas.microsoft.com/office/drawing/2014/main" id="{4FA8C154-8734-C2B0-1BE9-76E3B8F14CDA}"/>
              </a:ext>
            </a:extLst>
          </p:cNvPr>
          <p:cNvGrpSpPr/>
          <p:nvPr/>
        </p:nvGrpSpPr>
        <p:grpSpPr>
          <a:xfrm>
            <a:off x="5733515" y="298153"/>
            <a:ext cx="1188000" cy="1188000"/>
            <a:chOff x="8611183" y="3971799"/>
            <a:chExt cx="829557" cy="829557"/>
          </a:xfrm>
        </p:grpSpPr>
        <p:sp>
          <p:nvSpPr>
            <p:cNvPr id="20" name="Oval 67">
              <a:extLst>
                <a:ext uri="{FF2B5EF4-FFF2-40B4-BE49-F238E27FC236}">
                  <a16:creationId xmlns:a16="http://schemas.microsoft.com/office/drawing/2014/main" id="{45CCE98E-894C-DA8C-B8B2-EC4869058352}"/>
                </a:ext>
              </a:extLst>
            </p:cNvPr>
            <p:cNvSpPr/>
            <p:nvPr/>
          </p:nvSpPr>
          <p:spPr>
            <a:xfrm>
              <a:off x="8611183" y="3971799"/>
              <a:ext cx="829557" cy="829557"/>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54" descr="Shopping basket outline">
              <a:extLst>
                <a:ext uri="{FF2B5EF4-FFF2-40B4-BE49-F238E27FC236}">
                  <a16:creationId xmlns:a16="http://schemas.microsoft.com/office/drawing/2014/main" id="{5AB1C829-6134-01E0-B38F-5B9583DC106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696363" y="4055067"/>
              <a:ext cx="659196" cy="659196"/>
            </a:xfrm>
            <a:prstGeom prst="rect">
              <a:avLst/>
            </a:prstGeom>
          </p:spPr>
        </p:pic>
      </p:grpSp>
      <p:grpSp>
        <p:nvGrpSpPr>
          <p:cNvPr id="22" name="Group 2">
            <a:extLst>
              <a:ext uri="{FF2B5EF4-FFF2-40B4-BE49-F238E27FC236}">
                <a16:creationId xmlns:a16="http://schemas.microsoft.com/office/drawing/2014/main" id="{A983883A-684A-D258-A429-B19FCCFDE48A}"/>
              </a:ext>
            </a:extLst>
          </p:cNvPr>
          <p:cNvGrpSpPr/>
          <p:nvPr/>
        </p:nvGrpSpPr>
        <p:grpSpPr>
          <a:xfrm>
            <a:off x="6327515" y="2449255"/>
            <a:ext cx="2419365" cy="2545755"/>
            <a:chOff x="6082548" y="2436894"/>
            <a:chExt cx="2419365" cy="2545755"/>
          </a:xfrm>
        </p:grpSpPr>
        <p:grpSp>
          <p:nvGrpSpPr>
            <p:cNvPr id="23" name="Group 1">
              <a:extLst>
                <a:ext uri="{FF2B5EF4-FFF2-40B4-BE49-F238E27FC236}">
                  <a16:creationId xmlns:a16="http://schemas.microsoft.com/office/drawing/2014/main" id="{0E9C9FA1-FFF3-27D6-A3B0-E42AB2F51C0F}"/>
                </a:ext>
              </a:extLst>
            </p:cNvPr>
            <p:cNvGrpSpPr/>
            <p:nvPr/>
          </p:nvGrpSpPr>
          <p:grpSpPr>
            <a:xfrm>
              <a:off x="6082548" y="2958540"/>
              <a:ext cx="2419365" cy="2024109"/>
              <a:chOff x="8812386" y="1676389"/>
              <a:chExt cx="2419365" cy="2024109"/>
            </a:xfrm>
          </p:grpSpPr>
          <p:sp>
            <p:nvSpPr>
              <p:cNvPr id="27" name="Rectangle: Rounded Corners 12">
                <a:extLst>
                  <a:ext uri="{FF2B5EF4-FFF2-40B4-BE49-F238E27FC236}">
                    <a16:creationId xmlns:a16="http://schemas.microsoft.com/office/drawing/2014/main" id="{46BB482A-8CB4-3630-62AA-BBC0B07EF004}"/>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8" name="TextBox 19">
                <a:extLst>
                  <a:ext uri="{FF2B5EF4-FFF2-40B4-BE49-F238E27FC236}">
                    <a16:creationId xmlns:a16="http://schemas.microsoft.com/office/drawing/2014/main" id="{A980DE17-7881-E8D0-8D52-83E635FB6A8C}"/>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קהילה מורחבים</a:t>
                </a:r>
              </a:p>
            </p:txBody>
          </p:sp>
          <p:sp>
            <p:nvSpPr>
              <p:cNvPr id="29" name="TextBox 22">
                <a:extLst>
                  <a:ext uri="{FF2B5EF4-FFF2-40B4-BE49-F238E27FC236}">
                    <a16:creationId xmlns:a16="http://schemas.microsoft.com/office/drawing/2014/main" id="{5CA35052-D2A3-B0AE-4EBC-F06F1D38723B}"/>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נוספים שניתן לצרוך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דרך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שמרחיבים את שירות הבסיס, מותאמים לצרכי הקהילה ולאזור בה היא פועלת</a:t>
                </a:r>
              </a:p>
            </p:txBody>
          </p:sp>
        </p:grpSp>
        <p:grpSp>
          <p:nvGrpSpPr>
            <p:cNvPr id="24" name="Group 27">
              <a:extLst>
                <a:ext uri="{FF2B5EF4-FFF2-40B4-BE49-F238E27FC236}">
                  <a16:creationId xmlns:a16="http://schemas.microsoft.com/office/drawing/2014/main" id="{826084D9-E42D-7447-D9E1-1EA4079CF970}"/>
                </a:ext>
              </a:extLst>
            </p:cNvPr>
            <p:cNvGrpSpPr/>
            <p:nvPr/>
          </p:nvGrpSpPr>
          <p:grpSpPr>
            <a:xfrm>
              <a:off x="6850695" y="2436894"/>
              <a:ext cx="829557" cy="829557"/>
              <a:chOff x="9961982" y="1296250"/>
              <a:chExt cx="829557" cy="829557"/>
            </a:xfrm>
          </p:grpSpPr>
          <p:sp>
            <p:nvSpPr>
              <p:cNvPr id="25" name="Oval 32">
                <a:extLst>
                  <a:ext uri="{FF2B5EF4-FFF2-40B4-BE49-F238E27FC236}">
                    <a16:creationId xmlns:a16="http://schemas.microsoft.com/office/drawing/2014/main" id="{2BA4D31E-A4F2-C229-F657-A989539E3B7D}"/>
                  </a:ext>
                </a:extLst>
              </p:cNvPr>
              <p:cNvSpPr/>
              <p:nvPr/>
            </p:nvSpPr>
            <p:spPr>
              <a:xfrm>
                <a:off x="9961982" y="1296250"/>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6" name="Graphic 38" descr="Neighborhood outline">
                <a:extLst>
                  <a:ext uri="{FF2B5EF4-FFF2-40B4-BE49-F238E27FC236}">
                    <a16:creationId xmlns:a16="http://schemas.microsoft.com/office/drawing/2014/main" id="{AC7FE731-9BD7-31BF-71C8-451BEC25292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6" y="1303243"/>
                <a:ext cx="697543" cy="697543"/>
              </a:xfrm>
              <a:prstGeom prst="rect">
                <a:avLst/>
              </a:prstGeom>
            </p:spPr>
          </p:pic>
        </p:grpSp>
      </p:grpSp>
      <p:grpSp>
        <p:nvGrpSpPr>
          <p:cNvPr id="30" name="Group 4">
            <a:extLst>
              <a:ext uri="{FF2B5EF4-FFF2-40B4-BE49-F238E27FC236}">
                <a16:creationId xmlns:a16="http://schemas.microsoft.com/office/drawing/2014/main" id="{D2D2C58C-F12F-5B20-9563-D67B83C144C1}"/>
              </a:ext>
            </a:extLst>
          </p:cNvPr>
          <p:cNvGrpSpPr/>
          <p:nvPr/>
        </p:nvGrpSpPr>
        <p:grpSpPr>
          <a:xfrm>
            <a:off x="3731428" y="2441276"/>
            <a:ext cx="2419365" cy="2597659"/>
            <a:chOff x="6082548" y="2436894"/>
            <a:chExt cx="2419365" cy="2597659"/>
          </a:xfrm>
        </p:grpSpPr>
        <p:grpSp>
          <p:nvGrpSpPr>
            <p:cNvPr id="31" name="Group 5">
              <a:extLst>
                <a:ext uri="{FF2B5EF4-FFF2-40B4-BE49-F238E27FC236}">
                  <a16:creationId xmlns:a16="http://schemas.microsoft.com/office/drawing/2014/main" id="{8ED13C69-2D1B-8D79-B5EB-9F2EFDD1DF16}"/>
                </a:ext>
              </a:extLst>
            </p:cNvPr>
            <p:cNvGrpSpPr/>
            <p:nvPr/>
          </p:nvGrpSpPr>
          <p:grpSpPr>
            <a:xfrm>
              <a:off x="6082548" y="2958540"/>
              <a:ext cx="2419365" cy="2076013"/>
              <a:chOff x="8812386" y="1676389"/>
              <a:chExt cx="2419365" cy="2076013"/>
            </a:xfrm>
          </p:grpSpPr>
          <p:sp>
            <p:nvSpPr>
              <p:cNvPr id="35" name="Rectangle: Rounded Corners 15">
                <a:extLst>
                  <a:ext uri="{FF2B5EF4-FFF2-40B4-BE49-F238E27FC236}">
                    <a16:creationId xmlns:a16="http://schemas.microsoft.com/office/drawing/2014/main" id="{EFD57E87-B510-1271-B662-134FC4367409}"/>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36" name="TextBox 16">
                <a:extLst>
                  <a:ext uri="{FF2B5EF4-FFF2-40B4-BE49-F238E27FC236}">
                    <a16:creationId xmlns:a16="http://schemas.microsoft.com/office/drawing/2014/main" id="{7A417C16-0406-F996-222C-3E38E556924B}"/>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שירותים מותאמים אישית</a:t>
                </a:r>
              </a:p>
            </p:txBody>
          </p:sp>
          <p:sp>
            <p:nvSpPr>
              <p:cNvPr id="37" name="TextBox 17">
                <a:extLst>
                  <a:ext uri="{FF2B5EF4-FFF2-40B4-BE49-F238E27FC236}">
                    <a16:creationId xmlns:a16="http://schemas.microsoft.com/office/drawing/2014/main" id="{E349C06E-8301-57E2-3AF4-7631FBA8D664}"/>
                  </a:ext>
                </a:extLst>
              </p:cNvPr>
              <p:cNvSpPr txBox="1"/>
              <p:nvPr/>
            </p:nvSpPr>
            <p:spPr>
              <a:xfrm>
                <a:off x="8859143" y="2367407"/>
                <a:ext cx="2319096"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מגוון רחב של שירותים מותאמים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לצרכי מקבל השירות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כמו: חדר כושר, הרצאות בתחומי דעת שונים, עזרים טכנולוגיים, קורסי אוריינות דיגיטלית, טיולים מודרכים, טיפוח ועוד</a:t>
                </a:r>
              </a:p>
            </p:txBody>
          </p:sp>
        </p:grpSp>
        <p:grpSp>
          <p:nvGrpSpPr>
            <p:cNvPr id="32" name="Group 6">
              <a:extLst>
                <a:ext uri="{FF2B5EF4-FFF2-40B4-BE49-F238E27FC236}">
                  <a16:creationId xmlns:a16="http://schemas.microsoft.com/office/drawing/2014/main" id="{9C06B6B0-BEA3-1A2D-8C40-6EE6E636A36C}"/>
                </a:ext>
              </a:extLst>
            </p:cNvPr>
            <p:cNvGrpSpPr/>
            <p:nvPr/>
          </p:nvGrpSpPr>
          <p:grpSpPr>
            <a:xfrm>
              <a:off x="6850695" y="2436894"/>
              <a:ext cx="829557" cy="829557"/>
              <a:chOff x="9961982" y="1296250"/>
              <a:chExt cx="829557" cy="829557"/>
            </a:xfrm>
          </p:grpSpPr>
          <p:sp>
            <p:nvSpPr>
              <p:cNvPr id="33" name="Oval 7">
                <a:extLst>
                  <a:ext uri="{FF2B5EF4-FFF2-40B4-BE49-F238E27FC236}">
                    <a16:creationId xmlns:a16="http://schemas.microsoft.com/office/drawing/2014/main" id="{CE1DCE81-2663-822E-40B9-68E57655867F}"/>
                  </a:ext>
                </a:extLst>
              </p:cNvPr>
              <p:cNvSpPr/>
              <p:nvPr/>
            </p:nvSpPr>
            <p:spPr>
              <a:xfrm>
                <a:off x="9961982" y="1296250"/>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4" name="Graphic 11" descr="Alterations &amp; Tailoring outline">
                <a:extLst>
                  <a:ext uri="{FF2B5EF4-FFF2-40B4-BE49-F238E27FC236}">
                    <a16:creationId xmlns:a16="http://schemas.microsoft.com/office/drawing/2014/main" id="{507546DD-E869-C52E-4AA0-B096AC45B65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0027988" y="1395624"/>
                <a:ext cx="697543" cy="697543"/>
              </a:xfrm>
              <a:prstGeom prst="rect">
                <a:avLst/>
              </a:prstGeom>
            </p:spPr>
          </p:pic>
        </p:grpSp>
      </p:grpSp>
      <p:grpSp>
        <p:nvGrpSpPr>
          <p:cNvPr id="38" name="Group 18">
            <a:extLst>
              <a:ext uri="{FF2B5EF4-FFF2-40B4-BE49-F238E27FC236}">
                <a16:creationId xmlns:a16="http://schemas.microsoft.com/office/drawing/2014/main" id="{5B971B8A-6E9C-DE56-215A-7CE2E643FAA1}"/>
              </a:ext>
            </a:extLst>
          </p:cNvPr>
          <p:cNvGrpSpPr/>
          <p:nvPr/>
        </p:nvGrpSpPr>
        <p:grpSpPr>
          <a:xfrm>
            <a:off x="1155394" y="2456248"/>
            <a:ext cx="2419365" cy="2545755"/>
            <a:chOff x="6082548" y="2436894"/>
            <a:chExt cx="2419365" cy="2545755"/>
          </a:xfrm>
        </p:grpSpPr>
        <p:grpSp>
          <p:nvGrpSpPr>
            <p:cNvPr id="39" name="Group 20">
              <a:extLst>
                <a:ext uri="{FF2B5EF4-FFF2-40B4-BE49-F238E27FC236}">
                  <a16:creationId xmlns:a16="http://schemas.microsoft.com/office/drawing/2014/main" id="{DF84F0BC-4AA3-47AA-BA55-583E3BDCD0BC}"/>
                </a:ext>
              </a:extLst>
            </p:cNvPr>
            <p:cNvGrpSpPr/>
            <p:nvPr/>
          </p:nvGrpSpPr>
          <p:grpSpPr>
            <a:xfrm>
              <a:off x="6082548" y="2958540"/>
              <a:ext cx="2419365" cy="2024109"/>
              <a:chOff x="8812386" y="1676389"/>
              <a:chExt cx="2419365" cy="2024109"/>
            </a:xfrm>
          </p:grpSpPr>
          <p:sp>
            <p:nvSpPr>
              <p:cNvPr id="43" name="Rectangle: Rounded Corners 26">
                <a:extLst>
                  <a:ext uri="{FF2B5EF4-FFF2-40B4-BE49-F238E27FC236}">
                    <a16:creationId xmlns:a16="http://schemas.microsoft.com/office/drawing/2014/main" id="{22CC70B0-4128-2CF5-1158-6C5381AC106A}"/>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44" name="TextBox 28">
                <a:extLst>
                  <a:ext uri="{FF2B5EF4-FFF2-40B4-BE49-F238E27FC236}">
                    <a16:creationId xmlns:a16="http://schemas.microsoft.com/office/drawing/2014/main" id="{D922AE11-EE6D-A552-6050-978E18A0BFD5}"/>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מש"ח וקופ"ח</a:t>
                </a:r>
              </a:p>
            </p:txBody>
          </p:sp>
          <p:sp>
            <p:nvSpPr>
              <p:cNvPr id="45" name="TextBox 29">
                <a:extLst>
                  <a:ext uri="{FF2B5EF4-FFF2-40B4-BE49-F238E27FC236}">
                    <a16:creationId xmlns:a16="http://schemas.microsoft.com/office/drawing/2014/main" id="{E5D0E77F-383D-DA76-C65D-8220294D13E0}"/>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 שמציעות המחלקה לשירותים חברתיים וקופ"ח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באזור מגוריו של מקבל השירות המתאימים לצרכיו של מקבל השירות</a:t>
                </a:r>
              </a:p>
            </p:txBody>
          </p:sp>
        </p:grpSp>
        <p:grpSp>
          <p:nvGrpSpPr>
            <p:cNvPr id="40" name="Group 21">
              <a:extLst>
                <a:ext uri="{FF2B5EF4-FFF2-40B4-BE49-F238E27FC236}">
                  <a16:creationId xmlns:a16="http://schemas.microsoft.com/office/drawing/2014/main" id="{AB34958B-A0E6-70C8-0941-B77ACD6B0C87}"/>
                </a:ext>
              </a:extLst>
            </p:cNvPr>
            <p:cNvGrpSpPr/>
            <p:nvPr/>
          </p:nvGrpSpPr>
          <p:grpSpPr>
            <a:xfrm>
              <a:off x="6850695" y="2436894"/>
              <a:ext cx="829557" cy="829557"/>
              <a:chOff x="9961982" y="1296250"/>
              <a:chExt cx="829557" cy="829557"/>
            </a:xfrm>
          </p:grpSpPr>
          <p:sp>
            <p:nvSpPr>
              <p:cNvPr id="41" name="Oval 23">
                <a:extLst>
                  <a:ext uri="{FF2B5EF4-FFF2-40B4-BE49-F238E27FC236}">
                    <a16:creationId xmlns:a16="http://schemas.microsoft.com/office/drawing/2014/main" id="{E5EFB3D8-1651-B57F-D66C-0E23F658E466}"/>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2" name="Graphic 24" descr="Heart with pulse outline">
                <a:extLst>
                  <a:ext uri="{FF2B5EF4-FFF2-40B4-BE49-F238E27FC236}">
                    <a16:creationId xmlns:a16="http://schemas.microsoft.com/office/drawing/2014/main" id="{08D961D7-B921-D149-47CD-0EA453A74A7D}"/>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10027988" y="1395624"/>
                <a:ext cx="697543" cy="697543"/>
              </a:xfrm>
              <a:prstGeom prst="rect">
                <a:avLst/>
              </a:prstGeom>
            </p:spPr>
          </p:pic>
        </p:grpSp>
      </p:grpSp>
      <p:sp>
        <p:nvSpPr>
          <p:cNvPr id="46" name="TextBox 3">
            <a:extLst>
              <a:ext uri="{FF2B5EF4-FFF2-40B4-BE49-F238E27FC236}">
                <a16:creationId xmlns:a16="http://schemas.microsoft.com/office/drawing/2014/main" id="{851D1DA4-0D2D-953A-2620-A2D3E6F94DCA}"/>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הרכב סל השירותים במודל המוצע</a:t>
            </a:r>
          </a:p>
        </p:txBody>
      </p:sp>
      <p:pic>
        <p:nvPicPr>
          <p:cNvPr id="47" name="Picture 5" descr="Logo&#10;&#10;Description automatically generated">
            <a:extLst>
              <a:ext uri="{FF2B5EF4-FFF2-40B4-BE49-F238E27FC236}">
                <a16:creationId xmlns:a16="http://schemas.microsoft.com/office/drawing/2014/main" id="{C29741BB-C8CE-C32B-4416-46ACE7171E94}"/>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spTree>
    <p:extLst>
      <p:ext uri="{BB962C8B-B14F-4D97-AF65-F5344CB8AC3E}">
        <p14:creationId xmlns:p14="http://schemas.microsoft.com/office/powerpoint/2010/main" val="2160939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35339" y="6402413"/>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9515880" y="6214415"/>
            <a:ext cx="1118350" cy="612431"/>
          </a:xfrm>
          <a:prstGeom prst="rect">
            <a:avLst/>
          </a:prstGeom>
          <a:ln>
            <a:noFill/>
          </a:ln>
        </p:spPr>
      </p:pic>
      <p:sp>
        <p:nvSpPr>
          <p:cNvPr id="43" name="Rectangle: Rounded Corners 50">
            <a:extLst>
              <a:ext uri="{FF2B5EF4-FFF2-40B4-BE49-F238E27FC236}">
                <a16:creationId xmlns:a16="http://schemas.microsoft.com/office/drawing/2014/main" id="{68CBBEA7-6B33-6C2F-62B4-CADCE809613A}"/>
              </a:ext>
            </a:extLst>
          </p:cNvPr>
          <p:cNvSpPr/>
          <p:nvPr/>
        </p:nvSpPr>
        <p:spPr>
          <a:xfrm>
            <a:off x="1202853" y="519066"/>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44" name="Group 94">
            <a:extLst>
              <a:ext uri="{FF2B5EF4-FFF2-40B4-BE49-F238E27FC236}">
                <a16:creationId xmlns:a16="http://schemas.microsoft.com/office/drawing/2014/main" id="{F2070C4D-9621-0668-AAC1-C4EAB45B900F}"/>
              </a:ext>
            </a:extLst>
          </p:cNvPr>
          <p:cNvGrpSpPr/>
          <p:nvPr/>
        </p:nvGrpSpPr>
        <p:grpSpPr>
          <a:xfrm>
            <a:off x="9246905" y="1947164"/>
            <a:ext cx="2430720" cy="2550986"/>
            <a:chOff x="9159632" y="1250589"/>
            <a:chExt cx="2430720" cy="2550986"/>
          </a:xfrm>
        </p:grpSpPr>
        <p:grpSp>
          <p:nvGrpSpPr>
            <p:cNvPr id="45" name="Group 4">
              <a:extLst>
                <a:ext uri="{FF2B5EF4-FFF2-40B4-BE49-F238E27FC236}">
                  <a16:creationId xmlns:a16="http://schemas.microsoft.com/office/drawing/2014/main" id="{F86FBE37-9C27-773D-E4D3-CE8017BDB9CC}"/>
                </a:ext>
              </a:extLst>
            </p:cNvPr>
            <p:cNvGrpSpPr/>
            <p:nvPr/>
          </p:nvGrpSpPr>
          <p:grpSpPr>
            <a:xfrm>
              <a:off x="9159632" y="1777466"/>
              <a:ext cx="2430720" cy="2024109"/>
              <a:chOff x="5725181" y="1676389"/>
              <a:chExt cx="2430720" cy="2024109"/>
            </a:xfrm>
          </p:grpSpPr>
          <p:sp>
            <p:nvSpPr>
              <p:cNvPr id="53" name="Rectangle: Rounded Corners 5">
                <a:extLst>
                  <a:ext uri="{FF2B5EF4-FFF2-40B4-BE49-F238E27FC236}">
                    <a16:creationId xmlns:a16="http://schemas.microsoft.com/office/drawing/2014/main" id="{CD283285-EB28-380F-091B-7D0966DBC87C}"/>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54" name="TextBox 6">
                <a:extLst>
                  <a:ext uri="{FF2B5EF4-FFF2-40B4-BE49-F238E27FC236}">
                    <a16:creationId xmlns:a16="http://schemas.microsoft.com/office/drawing/2014/main" id="{22255545-BCDD-BBAC-3947-3CA2B51B58B0}"/>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פנינה אזרחית ותיקה</a:t>
                </a:r>
              </a:p>
            </p:txBody>
          </p:sp>
        </p:grpSp>
        <p:sp>
          <p:nvSpPr>
            <p:cNvPr id="46" name="TextBox 37">
              <a:extLst>
                <a:ext uri="{FF2B5EF4-FFF2-40B4-BE49-F238E27FC236}">
                  <a16:creationId xmlns:a16="http://schemas.microsoft.com/office/drawing/2014/main" id="{3E97A43F-9386-CD1D-6942-DD80A5196FB7}"/>
                </a:ext>
              </a:extLst>
            </p:cNvPr>
            <p:cNvSpPr txBox="1"/>
            <p:nvPr/>
          </p:nvSpPr>
          <p:spPr>
            <a:xfrm>
              <a:off x="9382254" y="2598479"/>
              <a:ext cx="2050342"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זכאית לגמלת סיעוד בדרגות 1-2 וצורכת דרך הגמלה שירותי הזדקנות מיטבית</a:t>
              </a:r>
            </a:p>
          </p:txBody>
        </p:sp>
        <p:grpSp>
          <p:nvGrpSpPr>
            <p:cNvPr id="47" name="Group 7">
              <a:extLst>
                <a:ext uri="{FF2B5EF4-FFF2-40B4-BE49-F238E27FC236}">
                  <a16:creationId xmlns:a16="http://schemas.microsoft.com/office/drawing/2014/main" id="{9017FF65-0288-1317-D1C5-C8C6BAAF67EF}"/>
                </a:ext>
              </a:extLst>
            </p:cNvPr>
            <p:cNvGrpSpPr/>
            <p:nvPr/>
          </p:nvGrpSpPr>
          <p:grpSpPr>
            <a:xfrm>
              <a:off x="9941468" y="1250589"/>
              <a:ext cx="829557" cy="858453"/>
              <a:chOff x="7013479" y="1291019"/>
              <a:chExt cx="829557" cy="858453"/>
            </a:xfrm>
          </p:grpSpPr>
          <p:sp>
            <p:nvSpPr>
              <p:cNvPr id="51" name="Oval 62">
                <a:extLst>
                  <a:ext uri="{FF2B5EF4-FFF2-40B4-BE49-F238E27FC236}">
                    <a16:creationId xmlns:a16="http://schemas.microsoft.com/office/drawing/2014/main" id="{52C1B7C1-1472-501B-68EC-4500478FDEF4}"/>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2" name="Graphic 20" descr="Old woman with white hair">
                <a:extLst>
                  <a:ext uri="{FF2B5EF4-FFF2-40B4-BE49-F238E27FC236}">
                    <a16:creationId xmlns:a16="http://schemas.microsoft.com/office/drawing/2014/main" id="{9B20B290-A310-9362-0D6B-F1925B540F89}"/>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b="61855"/>
              <a:stretch/>
            </p:blipFill>
            <p:spPr>
              <a:xfrm>
                <a:off x="7052553" y="1291019"/>
                <a:ext cx="683449" cy="858453"/>
              </a:xfrm>
              <a:prstGeom prst="rect">
                <a:avLst/>
              </a:prstGeom>
            </p:spPr>
          </p:pic>
        </p:grpSp>
      </p:grpSp>
      <p:grpSp>
        <p:nvGrpSpPr>
          <p:cNvPr id="55" name="Group 64">
            <a:extLst>
              <a:ext uri="{FF2B5EF4-FFF2-40B4-BE49-F238E27FC236}">
                <a16:creationId xmlns:a16="http://schemas.microsoft.com/office/drawing/2014/main" id="{7570C9B1-7113-6614-D1DF-89446FFEDE6D}"/>
              </a:ext>
            </a:extLst>
          </p:cNvPr>
          <p:cNvGrpSpPr/>
          <p:nvPr/>
        </p:nvGrpSpPr>
        <p:grpSpPr>
          <a:xfrm>
            <a:off x="5031239" y="1429563"/>
            <a:ext cx="2365853" cy="2525979"/>
            <a:chOff x="4833452" y="1822375"/>
            <a:chExt cx="2365853" cy="2525979"/>
          </a:xfrm>
        </p:grpSpPr>
        <p:grpSp>
          <p:nvGrpSpPr>
            <p:cNvPr id="56" name="Group 31">
              <a:extLst>
                <a:ext uri="{FF2B5EF4-FFF2-40B4-BE49-F238E27FC236}">
                  <a16:creationId xmlns:a16="http://schemas.microsoft.com/office/drawing/2014/main" id="{6EC519A6-F802-1259-4B3F-5A3C41AE1821}"/>
                </a:ext>
              </a:extLst>
            </p:cNvPr>
            <p:cNvGrpSpPr/>
            <p:nvPr/>
          </p:nvGrpSpPr>
          <p:grpSpPr>
            <a:xfrm>
              <a:off x="4833452" y="2324245"/>
              <a:ext cx="2365853" cy="2024109"/>
              <a:chOff x="2151419" y="1676389"/>
              <a:chExt cx="2365853" cy="2024109"/>
            </a:xfrm>
          </p:grpSpPr>
          <p:sp>
            <p:nvSpPr>
              <p:cNvPr id="62" name="Rectangle: Rounded Corners 33">
                <a:extLst>
                  <a:ext uri="{FF2B5EF4-FFF2-40B4-BE49-F238E27FC236}">
                    <a16:creationId xmlns:a16="http://schemas.microsoft.com/office/drawing/2014/main" id="{E09C1CD9-BFE8-B029-0420-E091FF5E981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5" name="TextBox 34">
                <a:extLst>
                  <a:ext uri="{FF2B5EF4-FFF2-40B4-BE49-F238E27FC236}">
                    <a16:creationId xmlns:a16="http://schemas.microsoft.com/office/drawing/2014/main" id="{6C39A937-BC3E-0A03-674B-8F6AC9C7F456}"/>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עדי מתאמת שירות</a:t>
                </a:r>
              </a:p>
            </p:txBody>
          </p:sp>
        </p:grpSp>
        <p:grpSp>
          <p:nvGrpSpPr>
            <p:cNvPr id="59" name="Group 61">
              <a:extLst>
                <a:ext uri="{FF2B5EF4-FFF2-40B4-BE49-F238E27FC236}">
                  <a16:creationId xmlns:a16="http://schemas.microsoft.com/office/drawing/2014/main" id="{8E355A1D-C372-9CFB-1C8E-0C27ED9C1D7F}"/>
                </a:ext>
              </a:extLst>
            </p:cNvPr>
            <p:cNvGrpSpPr/>
            <p:nvPr/>
          </p:nvGrpSpPr>
          <p:grpSpPr>
            <a:xfrm>
              <a:off x="5681221" y="1822375"/>
              <a:ext cx="829557" cy="899319"/>
              <a:chOff x="9766001" y="3238294"/>
              <a:chExt cx="829557" cy="899319"/>
            </a:xfrm>
          </p:grpSpPr>
          <p:sp>
            <p:nvSpPr>
              <p:cNvPr id="60" name="Oval 63">
                <a:extLst>
                  <a:ext uri="{FF2B5EF4-FFF2-40B4-BE49-F238E27FC236}">
                    <a16:creationId xmlns:a16="http://schemas.microsoft.com/office/drawing/2014/main" id="{5EEC0CFF-9162-171A-7E1B-DBA806A4195D}"/>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1" name="Graphic 11" descr="Woman with polka dots shirt">
                <a:extLst>
                  <a:ext uri="{FF2B5EF4-FFF2-40B4-BE49-F238E27FC236}">
                    <a16:creationId xmlns:a16="http://schemas.microsoft.com/office/drawing/2014/main" id="{07C53C88-7E32-B34C-C382-E154329E8B75}"/>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771" r="2771" b="61096"/>
              <a:stretch/>
            </p:blipFill>
            <p:spPr>
              <a:xfrm>
                <a:off x="9839469" y="3279160"/>
                <a:ext cx="683449" cy="858453"/>
              </a:xfrm>
              <a:prstGeom prst="rect">
                <a:avLst/>
              </a:prstGeom>
            </p:spPr>
          </p:pic>
        </p:grpSp>
      </p:grpSp>
      <p:grpSp>
        <p:nvGrpSpPr>
          <p:cNvPr id="66" name="Group 44">
            <a:extLst>
              <a:ext uri="{FF2B5EF4-FFF2-40B4-BE49-F238E27FC236}">
                <a16:creationId xmlns:a16="http://schemas.microsoft.com/office/drawing/2014/main" id="{B3E63C78-D88F-254E-FB9C-3AFE738B26EB}"/>
              </a:ext>
            </a:extLst>
          </p:cNvPr>
          <p:cNvGrpSpPr/>
          <p:nvPr/>
        </p:nvGrpSpPr>
        <p:grpSpPr>
          <a:xfrm>
            <a:off x="2151442" y="1277843"/>
            <a:ext cx="2697972" cy="2786162"/>
            <a:chOff x="3690152" y="0"/>
            <a:chExt cx="2697972" cy="2786162"/>
          </a:xfrm>
        </p:grpSpPr>
        <p:grpSp>
          <p:nvGrpSpPr>
            <p:cNvPr id="67" name="Group 26">
              <a:extLst>
                <a:ext uri="{FF2B5EF4-FFF2-40B4-BE49-F238E27FC236}">
                  <a16:creationId xmlns:a16="http://schemas.microsoft.com/office/drawing/2014/main" id="{B2774744-DA8C-59BE-AAD3-88A11442F66B}"/>
                </a:ext>
              </a:extLst>
            </p:cNvPr>
            <p:cNvGrpSpPr/>
            <p:nvPr/>
          </p:nvGrpSpPr>
          <p:grpSpPr>
            <a:xfrm>
              <a:off x="3845758" y="669321"/>
              <a:ext cx="2365853" cy="2024109"/>
              <a:chOff x="2151419" y="1676389"/>
              <a:chExt cx="2365853" cy="2024109"/>
            </a:xfrm>
          </p:grpSpPr>
          <p:sp>
            <p:nvSpPr>
              <p:cNvPr id="75" name="Rectangle: Rounded Corners 28">
                <a:extLst>
                  <a:ext uri="{FF2B5EF4-FFF2-40B4-BE49-F238E27FC236}">
                    <a16:creationId xmlns:a16="http://schemas.microsoft.com/office/drawing/2014/main" id="{17128CA6-E0E3-8B0C-F4D6-7A85174400CE}"/>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76" name="TextBox 29">
                <a:extLst>
                  <a:ext uri="{FF2B5EF4-FFF2-40B4-BE49-F238E27FC236}">
                    <a16:creationId xmlns:a16="http://schemas.microsoft.com/office/drawing/2014/main" id="{8AC5FCC5-79C5-9070-59D9-6A2524A95543}"/>
                  </a:ext>
                </a:extLst>
              </p:cNvPr>
              <p:cNvSpPr txBox="1"/>
              <p:nvPr/>
            </p:nvSpPr>
            <p:spPr>
              <a:xfrm>
                <a:off x="2262387" y="2107424"/>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יעל עו"ס מנהלת קהילות</a:t>
                </a:r>
              </a:p>
            </p:txBody>
          </p:sp>
        </p:grpSp>
        <p:sp>
          <p:nvSpPr>
            <p:cNvPr id="72" name="TextBox 40">
              <a:extLst>
                <a:ext uri="{FF2B5EF4-FFF2-40B4-BE49-F238E27FC236}">
                  <a16:creationId xmlns:a16="http://schemas.microsoft.com/office/drawing/2014/main" id="{C5099F42-7EEC-BDCC-6C66-80EA2A55F194}"/>
                </a:ext>
              </a:extLst>
            </p:cNvPr>
            <p:cNvSpPr txBox="1"/>
            <p:nvPr/>
          </p:nvSpPr>
          <p:spPr>
            <a:xfrm>
              <a:off x="3690152" y="1401167"/>
              <a:ext cx="2697972" cy="1384995"/>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מנהלת 10 קהילות מקומיות</a:t>
              </a:r>
              <a:r>
                <a:rPr lang="he-IL" sz="1400" dirty="0">
                  <a:solidFill>
                    <a:srgbClr val="3A3A49"/>
                  </a:solidFill>
                </a:rPr>
                <a:t> </a:t>
              </a:r>
            </a:p>
            <a:p>
              <a:pPr>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מנחה ומדריכה את מתאמות השירות </a:t>
              </a:r>
              <a:r>
                <a:rPr lang="he-IL" sz="1400" dirty="0">
                  <a:solidFill>
                    <a:srgbClr val="3A3A49"/>
                  </a:solidFill>
                </a:rPr>
                <a:t>מסייעת בבניית התוכנית הקהילתית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מטפלת ו</a:t>
              </a:r>
              <a:r>
                <a:rPr lang="he-IL" sz="1400" dirty="0">
                  <a:solidFill>
                    <a:srgbClr val="3A3A49"/>
                  </a:solidFill>
                </a:rPr>
                <a:t>מסייעת בקביעת תכנית </a:t>
              </a:r>
            </a:p>
            <a:p>
              <a:pPr>
                <a:defRPr/>
              </a:pPr>
              <a:r>
                <a:rPr lang="he-IL" sz="1400" dirty="0">
                  <a:solidFill>
                    <a:srgbClr val="3A3A49"/>
                  </a:solidFill>
                </a:rPr>
                <a:t>טיפול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במקרים מורכבים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 </a:t>
              </a:r>
            </a:p>
          </p:txBody>
        </p:sp>
        <p:sp>
          <p:nvSpPr>
            <p:cNvPr id="73" name="Oval 66">
              <a:extLst>
                <a:ext uri="{FF2B5EF4-FFF2-40B4-BE49-F238E27FC236}">
                  <a16:creationId xmlns:a16="http://schemas.microsoft.com/office/drawing/2014/main" id="{7B018A75-A7D7-B7E0-0ADE-B6DEB0C1E3B8}"/>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74" name="Graphic 15" descr="Woman with ribbon on hair">
              <a:extLst>
                <a:ext uri="{FF2B5EF4-FFF2-40B4-BE49-F238E27FC236}">
                  <a16:creationId xmlns:a16="http://schemas.microsoft.com/office/drawing/2014/main" id="{144D271D-75A1-A1C3-A7BB-89CD1A796FCA}"/>
                </a:ext>
              </a:extLst>
            </p:cNvPr>
            <p:cNvPicPr preferRelativeResize="0">
              <a:picLocks noChangeAspect="1"/>
            </p:cNvPicPr>
            <p:nvPr/>
          </p:nvPicPr>
          <p:blipFill rotWithShape="1">
            <a:blip r:embed="rId8">
              <a:extLst>
                <a:ext uri="{96DAC541-7B7A-43D3-8B79-37D633B846F1}">
                  <asvg:svgBlip xmlns:asvg="http://schemas.microsoft.com/office/drawing/2016/SVG/main" r:embed="rId9"/>
                </a:ext>
              </a:extLst>
            </a:blip>
            <a:srcRect l="844" t="-5019" r="-8547" b="63927"/>
            <a:stretch/>
          </p:blipFill>
          <p:spPr>
            <a:xfrm>
              <a:off x="4535703" y="0"/>
              <a:ext cx="1344301" cy="972000"/>
            </a:xfrm>
            <a:prstGeom prst="rect">
              <a:avLst/>
            </a:prstGeom>
          </p:spPr>
        </p:pic>
      </p:grpSp>
      <p:sp>
        <p:nvSpPr>
          <p:cNvPr id="77" name="TextBox 51">
            <a:extLst>
              <a:ext uri="{FF2B5EF4-FFF2-40B4-BE49-F238E27FC236}">
                <a16:creationId xmlns:a16="http://schemas.microsoft.com/office/drawing/2014/main" id="{7531CD0E-4609-FEF4-54EA-54BFED0A9D97}"/>
              </a:ext>
            </a:extLst>
          </p:cNvPr>
          <p:cNvSpPr txBox="1"/>
          <p:nvPr/>
        </p:nvSpPr>
        <p:spPr>
          <a:xfrm>
            <a:off x="3773005" y="783673"/>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78" name="TextBox 47">
            <a:extLst>
              <a:ext uri="{FF2B5EF4-FFF2-40B4-BE49-F238E27FC236}">
                <a16:creationId xmlns:a16="http://schemas.microsoft.com/office/drawing/2014/main" id="{82DD389A-38A8-9957-73EF-86E434D5E07D}"/>
              </a:ext>
            </a:extLst>
          </p:cNvPr>
          <p:cNvSpPr txBox="1"/>
          <p:nvPr/>
        </p:nvSpPr>
        <p:spPr>
          <a:xfrm>
            <a:off x="1851701" y="1100691"/>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79" name="Oval 48">
            <a:extLst>
              <a:ext uri="{FF2B5EF4-FFF2-40B4-BE49-F238E27FC236}">
                <a16:creationId xmlns:a16="http://schemas.microsoft.com/office/drawing/2014/main" id="{5A366353-C5E9-6BF7-D896-AD547E16B32D}"/>
              </a:ext>
            </a:extLst>
          </p:cNvPr>
          <p:cNvSpPr/>
          <p:nvPr/>
        </p:nvSpPr>
        <p:spPr>
          <a:xfrm>
            <a:off x="4505484" y="0"/>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0" name="Graphic 53" descr="Hierarchy outline">
            <a:extLst>
              <a:ext uri="{FF2B5EF4-FFF2-40B4-BE49-F238E27FC236}">
                <a16:creationId xmlns:a16="http://schemas.microsoft.com/office/drawing/2014/main" id="{6D31F282-A791-8D91-428E-94C1861EEE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33856" y="88505"/>
            <a:ext cx="572811" cy="572811"/>
          </a:xfrm>
          <a:prstGeom prst="rect">
            <a:avLst/>
          </a:prstGeom>
        </p:spPr>
      </p:pic>
      <p:sp>
        <p:nvSpPr>
          <p:cNvPr id="81" name="TextBox 39">
            <a:extLst>
              <a:ext uri="{FF2B5EF4-FFF2-40B4-BE49-F238E27FC236}">
                <a16:creationId xmlns:a16="http://schemas.microsoft.com/office/drawing/2014/main" id="{00AF2302-5305-0F01-1D61-0E809603199F}"/>
              </a:ext>
            </a:extLst>
          </p:cNvPr>
          <p:cNvSpPr txBox="1"/>
          <p:nvPr/>
        </p:nvSpPr>
        <p:spPr>
          <a:xfrm>
            <a:off x="4896882" y="2729757"/>
            <a:ext cx="2590220"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300" b="1"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דואגת לצרכי החברים בקהילה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שומרת על קשר ומקיימת ביקורי 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מארגנת פעילויות חברתיות וחוגים,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 מזהה פערים וצרכים ועוד</a:t>
            </a:r>
          </a:p>
        </p:txBody>
      </p:sp>
      <p:sp>
        <p:nvSpPr>
          <p:cNvPr id="82" name="Rectangle: Rounded Corners 65">
            <a:extLst>
              <a:ext uri="{FF2B5EF4-FFF2-40B4-BE49-F238E27FC236}">
                <a16:creationId xmlns:a16="http://schemas.microsoft.com/office/drawing/2014/main" id="{AE210871-56A5-D57C-0CD3-59DDB6FB5395}"/>
              </a:ext>
            </a:extLst>
          </p:cNvPr>
          <p:cNvSpPr/>
          <p:nvPr/>
        </p:nvSpPr>
        <p:spPr>
          <a:xfrm>
            <a:off x="1179672" y="4803475"/>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3" name="TextBox 87">
            <a:extLst>
              <a:ext uri="{FF2B5EF4-FFF2-40B4-BE49-F238E27FC236}">
                <a16:creationId xmlns:a16="http://schemas.microsoft.com/office/drawing/2014/main" id="{B13E5371-6D7C-55B2-86C7-8DEC55A7129C}"/>
              </a:ext>
            </a:extLst>
          </p:cNvPr>
          <p:cNvSpPr txBox="1"/>
          <p:nvPr/>
        </p:nvSpPr>
        <p:spPr>
          <a:xfrm>
            <a:off x="3668294" y="513237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4" name="TextBox 88">
            <a:extLst>
              <a:ext uri="{FF2B5EF4-FFF2-40B4-BE49-F238E27FC236}">
                <a16:creationId xmlns:a16="http://schemas.microsoft.com/office/drawing/2014/main" id="{CEA8E688-AD45-F537-936F-886DCFBDC97E}"/>
              </a:ext>
            </a:extLst>
          </p:cNvPr>
          <p:cNvSpPr txBox="1"/>
          <p:nvPr/>
        </p:nvSpPr>
        <p:spPr>
          <a:xfrm>
            <a:off x="1179672" y="5491070"/>
            <a:ext cx="6566089" cy="73866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הפלטפורמה המקוונת מהווה בעצם סוג של </a:t>
            </a:r>
            <a:r>
              <a:rPr kumimoji="0" lang="he-IL" sz="1400" b="1" i="0" u="none" strike="noStrike" kern="1200" cap="none" spc="0" normalizeH="0" baseline="0" noProof="0" dirty="0">
                <a:ln>
                  <a:noFill/>
                </a:ln>
                <a:solidFill>
                  <a:srgbClr val="3A3A49"/>
                </a:solidFill>
                <a:effectLst/>
                <a:uLnTx/>
                <a:uFillTx/>
                <a:latin typeface="Calibri"/>
                <a:ea typeface="+mn-ea"/>
                <a:cs typeface="Calibri"/>
              </a:rPr>
              <a:t>"</a:t>
            </a:r>
            <a:r>
              <a:rPr kumimoji="0" lang="he-IL" sz="1400" b="1"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400" b="1" i="0" u="none" strike="noStrike" kern="1200" cap="none" spc="0" normalizeH="0" baseline="0" noProof="0" dirty="0">
                <a:ln>
                  <a:noFill/>
                </a:ln>
                <a:solidFill>
                  <a:srgbClr val="3A3A49"/>
                </a:solidFill>
                <a:effectLst/>
                <a:uLnTx/>
                <a:uFillTx/>
                <a:latin typeface="Calibri"/>
                <a:ea typeface="+mn-ea"/>
                <a:cs typeface="Calibri"/>
              </a:rPr>
              <a:t>"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אליו יכולה האזרחית הוותיקה להיכנס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ולבחור שירותים מתוך סל שירותי הזדקנות מיטבית רחב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לרצונותיה, כאשר השירותים המוצגים לה לבחירה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הותאמו לצרכיה הייחודיים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ניתן סיוע לפי צורך ע"י מוקד שירות ומתאמת שירות.</a:t>
            </a:r>
          </a:p>
        </p:txBody>
      </p:sp>
      <p:grpSp>
        <p:nvGrpSpPr>
          <p:cNvPr id="85" name="Group 92">
            <a:extLst>
              <a:ext uri="{FF2B5EF4-FFF2-40B4-BE49-F238E27FC236}">
                <a16:creationId xmlns:a16="http://schemas.microsoft.com/office/drawing/2014/main" id="{9FC67262-C9A0-843A-2AB8-E733CBA029D5}"/>
              </a:ext>
            </a:extLst>
          </p:cNvPr>
          <p:cNvGrpSpPr/>
          <p:nvPr/>
        </p:nvGrpSpPr>
        <p:grpSpPr>
          <a:xfrm>
            <a:off x="4347647" y="4378712"/>
            <a:ext cx="829557" cy="829557"/>
            <a:chOff x="4149860" y="4521155"/>
            <a:chExt cx="829557" cy="829557"/>
          </a:xfrm>
        </p:grpSpPr>
        <p:sp>
          <p:nvSpPr>
            <p:cNvPr id="86" name="Oval 89">
              <a:extLst>
                <a:ext uri="{FF2B5EF4-FFF2-40B4-BE49-F238E27FC236}">
                  <a16:creationId xmlns:a16="http://schemas.microsoft.com/office/drawing/2014/main" id="{35EFCF4A-5A94-1416-0C84-EC96F736D10C}"/>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90" descr="Ecommerce outline">
              <a:extLst>
                <a:ext uri="{FF2B5EF4-FFF2-40B4-BE49-F238E27FC236}">
                  <a16:creationId xmlns:a16="http://schemas.microsoft.com/office/drawing/2014/main" id="{34736CB8-1A3F-7E3F-52B6-22F6EF7883A7}"/>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4278232" y="4632896"/>
              <a:ext cx="572811" cy="572811"/>
            </a:xfrm>
            <a:prstGeom prst="rect">
              <a:avLst/>
            </a:prstGeom>
          </p:spPr>
        </p:pic>
      </p:grpSp>
      <p:sp>
        <p:nvSpPr>
          <p:cNvPr id="88" name="TextBox 1">
            <a:extLst>
              <a:ext uri="{FF2B5EF4-FFF2-40B4-BE49-F238E27FC236}">
                <a16:creationId xmlns:a16="http://schemas.microsoft.com/office/drawing/2014/main" id="{2295C515-6A11-03AA-123A-74C2BBC338E0}"/>
              </a:ext>
            </a:extLst>
          </p:cNvPr>
          <p:cNvSpPr txBox="1"/>
          <p:nvPr/>
        </p:nvSpPr>
        <p:spPr>
          <a:xfrm>
            <a:off x="7436787" y="59449"/>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pic>
        <p:nvPicPr>
          <p:cNvPr id="89" name="Picture 5" descr="Logo&#10;&#10;Description automatically generated">
            <a:extLst>
              <a:ext uri="{FF2B5EF4-FFF2-40B4-BE49-F238E27FC236}">
                <a16:creationId xmlns:a16="http://schemas.microsoft.com/office/drawing/2014/main" id="{F0E14E79-A252-A446-10B6-0881092A0682}"/>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82999" y="6271007"/>
            <a:ext cx="836350" cy="555839"/>
          </a:xfrm>
          <a:prstGeom prst="rect">
            <a:avLst/>
          </a:prstGeom>
        </p:spPr>
      </p:pic>
    </p:spTree>
    <p:extLst>
      <p:ext uri="{BB962C8B-B14F-4D97-AF65-F5344CB8AC3E}">
        <p14:creationId xmlns:p14="http://schemas.microsoft.com/office/powerpoint/2010/main" val="3128164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685678F4-47CE-4125-83E4-D46D4C34AF93}"/>
              </a:ext>
            </a:extLst>
          </p:cNvPr>
          <p:cNvSpPr txBox="1"/>
          <p:nvPr/>
        </p:nvSpPr>
        <p:spPr>
          <a:xfrm>
            <a:off x="2136846" y="3608660"/>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מדדים ומחקר מלווה</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9" name="TextBox 48">
            <a:extLst>
              <a:ext uri="{FF2B5EF4-FFF2-40B4-BE49-F238E27FC236}">
                <a16:creationId xmlns:a16="http://schemas.microsoft.com/office/drawing/2014/main" id="{8E5F55E6-362B-4276-A430-7B96942F9019}"/>
              </a:ext>
            </a:extLst>
          </p:cNvPr>
          <p:cNvSpPr txBox="1"/>
          <p:nvPr/>
        </p:nvSpPr>
        <p:spPr>
          <a:xfrm>
            <a:off x="2136846" y="4116941"/>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פיתוח</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טכנולוגי ודאטה</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0" name="TextBox 49">
            <a:extLst>
              <a:ext uri="{FF2B5EF4-FFF2-40B4-BE49-F238E27FC236}">
                <a16:creationId xmlns:a16="http://schemas.microsoft.com/office/drawing/2014/main" id="{AEBB95BA-D351-4272-919E-669B78D9E53B}"/>
              </a:ext>
            </a:extLst>
          </p:cNvPr>
          <p:cNvSpPr txBox="1"/>
          <p:nvPr/>
        </p:nvSpPr>
        <p:spPr>
          <a:xfrm>
            <a:off x="2136846" y="2440358"/>
            <a:ext cx="8110256"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עיצוב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מדיניות ומבנה תמריצים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7" name="TextBox 56">
            <a:extLst>
              <a:ext uri="{FF2B5EF4-FFF2-40B4-BE49-F238E27FC236}">
                <a16:creationId xmlns:a16="http://schemas.microsoft.com/office/drawing/2014/main" id="{46AEBD07-2F09-4148-B492-77871EB5C3C9}"/>
              </a:ext>
            </a:extLst>
          </p:cNvPr>
          <p:cNvSpPr txBox="1"/>
          <p:nvPr/>
        </p:nvSpPr>
        <p:spPr>
          <a:xfrm>
            <a:off x="9044892" y="1902458"/>
            <a:ext cx="187747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צוותי פיתוח:</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8" name="TextBox 57">
            <a:extLst>
              <a:ext uri="{FF2B5EF4-FFF2-40B4-BE49-F238E27FC236}">
                <a16:creationId xmlns:a16="http://schemas.microsoft.com/office/drawing/2014/main" id="{10360EE5-8DC6-4301-B9E8-37FCF90E9F20}"/>
              </a:ext>
            </a:extLst>
          </p:cNvPr>
          <p:cNvSpPr txBox="1"/>
          <p:nvPr/>
        </p:nvSpPr>
        <p:spPr>
          <a:xfrm>
            <a:off x="114742" y="657921"/>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פיתוח 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0389177" y="2592919"/>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0389177" y="317707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0377938" y="3761221"/>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594755" y="657921"/>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
        <p:nvSpPr>
          <p:cNvPr id="10" name="תיבת טקסט 9">
            <a:extLst>
              <a:ext uri="{FF2B5EF4-FFF2-40B4-BE49-F238E27FC236}">
                <a16:creationId xmlns:a16="http://schemas.microsoft.com/office/drawing/2014/main" id="{7EC41CB5-9324-525D-4DDA-DD7AB091AF9B}"/>
              </a:ext>
            </a:extLst>
          </p:cNvPr>
          <p:cNvSpPr txBox="1"/>
          <p:nvPr/>
        </p:nvSpPr>
        <p:spPr>
          <a:xfrm>
            <a:off x="4151102" y="3040522"/>
            <a:ext cx="6096000" cy="46166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גיבוש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רגולציה תומכת ומאפשרת</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11" name="Arrow: Right 63">
            <a:extLst>
              <a:ext uri="{FF2B5EF4-FFF2-40B4-BE49-F238E27FC236}">
                <a16:creationId xmlns:a16="http://schemas.microsoft.com/office/drawing/2014/main" id="{2FC9F82F-B25D-A003-7396-A079FAEE6194}"/>
              </a:ext>
            </a:extLst>
          </p:cNvPr>
          <p:cNvSpPr/>
          <p:nvPr/>
        </p:nvSpPr>
        <p:spPr>
          <a:xfrm flipH="1">
            <a:off x="10377937" y="426710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12" name="Arrow: Right 63">
            <a:extLst>
              <a:ext uri="{FF2B5EF4-FFF2-40B4-BE49-F238E27FC236}">
                <a16:creationId xmlns:a16="http://schemas.microsoft.com/office/drawing/2014/main" id="{E71286FC-2B59-AC27-BCD2-60B49ECFDC8D}"/>
              </a:ext>
            </a:extLst>
          </p:cNvPr>
          <p:cNvSpPr/>
          <p:nvPr/>
        </p:nvSpPr>
        <p:spPr>
          <a:xfrm flipH="1">
            <a:off x="10368851" y="4772979"/>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17" name="תיבת טקסט 16">
            <a:extLst>
              <a:ext uri="{FF2B5EF4-FFF2-40B4-BE49-F238E27FC236}">
                <a16:creationId xmlns:a16="http://schemas.microsoft.com/office/drawing/2014/main" id="{E53642A1-2B0B-B28E-9BCF-191CA9BC0456}"/>
              </a:ext>
            </a:extLst>
          </p:cNvPr>
          <p:cNvSpPr txBox="1"/>
          <p:nvPr/>
        </p:nvSpPr>
        <p:spPr>
          <a:xfrm>
            <a:off x="4151102" y="4641181"/>
            <a:ext cx="6096000" cy="46166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קידום ולמידה </a:t>
            </a:r>
            <a:r>
              <a:rPr kumimoji="0" lang="he-IL" sz="2400" i="0" u="none" strike="noStrike" kern="1200" cap="none" spc="0" normalizeH="0" baseline="0" noProof="0" dirty="0" err="1">
                <a:ln>
                  <a:noFill/>
                </a:ln>
                <a:solidFill>
                  <a:srgbClr val="17406D">
                    <a:lumMod val="50000"/>
                  </a:srgbClr>
                </a:solidFill>
                <a:effectLst/>
                <a:uLnTx/>
                <a:uFillTx/>
                <a:latin typeface="Assistant" pitchFamily="2" charset="-79"/>
                <a:ea typeface="+mn-ea"/>
                <a:cs typeface="Assistant" pitchFamily="2" charset="-79"/>
              </a:rPr>
              <a:t>מ</a:t>
            </a:r>
            <a:r>
              <a:rPr kumimoji="0" lang="he-IL" sz="2400" b="1" i="0" u="none" strike="noStrike" kern="1200" cap="none" spc="0" normalizeH="0" baseline="0" noProof="0" dirty="0" err="1">
                <a:ln>
                  <a:noFill/>
                </a:ln>
                <a:solidFill>
                  <a:srgbClr val="17406D">
                    <a:lumMod val="50000"/>
                  </a:srgbClr>
                </a:solidFill>
                <a:effectLst/>
                <a:uLnTx/>
                <a:uFillTx/>
                <a:latin typeface="Assistant" pitchFamily="2" charset="-79"/>
                <a:ea typeface="+mn-ea"/>
                <a:cs typeface="Assistant" pitchFamily="2" charset="-79"/>
              </a:rPr>
              <a:t>פיילוטים</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בשטח</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590367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47579" y="186742"/>
            <a:ext cx="10515600" cy="1325563"/>
          </a:xfrm>
        </p:spPr>
        <p:txBody>
          <a:bodyPr/>
          <a:lstStyle/>
          <a:p>
            <a:r>
              <a:rPr lang="he-IL" b="1" dirty="0">
                <a:cs typeface="+mn-cs"/>
              </a:rPr>
              <a:t>רפורמה עם חסכון תקציבי?!</a:t>
            </a:r>
          </a:p>
        </p:txBody>
      </p:sp>
      <p:graphicFrame>
        <p:nvGraphicFramePr>
          <p:cNvPr id="4" name="תרשים 3"/>
          <p:cNvGraphicFramePr>
            <a:graphicFrameLocks/>
          </p:cNvGraphicFramePr>
          <p:nvPr/>
        </p:nvGraphicFramePr>
        <p:xfrm>
          <a:off x="5208562" y="2213015"/>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3810832" cy="2123658"/>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חסכון למשק לשנה</a:t>
            </a: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*מבוסס על עלויות הגמלה ועלויות בריאות בקופ"ח מאוחדת</a:t>
            </a:r>
          </a:p>
        </p:txBody>
      </p:sp>
    </p:spTree>
    <p:extLst>
      <p:ext uri="{BB962C8B-B14F-4D97-AF65-F5344CB8AC3E}">
        <p14:creationId xmlns:p14="http://schemas.microsoft.com/office/powerpoint/2010/main" val="299142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2498484" y="167223"/>
            <a:ext cx="6904454"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מהלך </a:t>
            </a:r>
            <a:r>
              <a:rPr kumimoji="0" lang="he-IL" sz="4400" b="1"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הדיגיטל</a:t>
            </a: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להזדקנות מיטבית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200" b="0" i="0" u="none" strike="noStrike" kern="1200" cap="none" spc="0" normalizeH="0" baseline="0" noProof="0" dirty="0">
                <a:ln>
                  <a:noFill/>
                </a:ln>
                <a:solidFill>
                  <a:srgbClr val="FFFFFF"/>
                </a:solidFill>
                <a:effectLst/>
                <a:uLnTx/>
                <a:uFillTx/>
                <a:latin typeface="Calibri"/>
                <a:ea typeface="+mn-ea"/>
                <a:cs typeface="Calibri"/>
              </a:rPr>
              <a:t>"יחד, נוכל להפוך את מערכת הסיעוד בישראל למודל של חדשנות, יעילות ואיכות חיים - לא רק עבור הדור הנוכחי, אלא גם עבור הדורות הבאים."</a:t>
            </a: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1557</TotalTime>
  <Words>2349</Words>
  <Application>Microsoft Office PowerPoint</Application>
  <PresentationFormat>מסך רחב</PresentationFormat>
  <Paragraphs>342</Paragraphs>
  <Slides>23</Slides>
  <Notes>10</Notes>
  <HiddenSlides>0</HiddenSlides>
  <MMClips>0</MMClips>
  <ScaleCrop>false</ScaleCrop>
  <HeadingPairs>
    <vt:vector size="6" baseType="variant">
      <vt:variant>
        <vt:lpstr>גופנים בשימוש</vt:lpstr>
      </vt:variant>
      <vt:variant>
        <vt:i4>14</vt:i4>
      </vt:variant>
      <vt:variant>
        <vt:lpstr>ערכת נושא</vt:lpstr>
      </vt:variant>
      <vt:variant>
        <vt:i4>5</vt:i4>
      </vt:variant>
      <vt:variant>
        <vt:lpstr>כותרות שקופיות</vt:lpstr>
      </vt:variant>
      <vt:variant>
        <vt:i4>23</vt:i4>
      </vt:variant>
    </vt:vector>
  </HeadingPairs>
  <TitlesOfParts>
    <vt:vector size="42" baseType="lpstr">
      <vt:lpstr>Aptos</vt:lpstr>
      <vt:lpstr>Arial</vt:lpstr>
      <vt:lpstr>ArialMT</vt:lpstr>
      <vt:lpstr>Assistant</vt:lpstr>
      <vt:lpstr>Assistant Light</vt:lpstr>
      <vt:lpstr>Calibri</vt:lpstr>
      <vt:lpstr>Calibri Light</vt:lpstr>
      <vt:lpstr>Calibri-Bold</vt:lpstr>
      <vt:lpstr>EYInterstate Light</vt:lpstr>
      <vt:lpstr>Heebo Black</vt:lpstr>
      <vt:lpstr>Rubik</vt:lpstr>
      <vt:lpstr>Segoe UI Semilight</vt:lpstr>
      <vt:lpstr>Symbol</vt:lpstr>
      <vt:lpstr>Wingdings</vt:lpstr>
      <vt:lpstr>Office Theme</vt:lpstr>
      <vt:lpstr>2_ערכת נושא Office</vt:lpstr>
      <vt:lpstr>1_ערכת נושא Office</vt:lpstr>
      <vt:lpstr>קו בצד עם שם המצגת</vt:lpstr>
      <vt:lpstr>1_Office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רפורמה עם חסכון תקציבי?!</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4</cp:revision>
  <dcterms:created xsi:type="dcterms:W3CDTF">2024-09-29T19:32:29Z</dcterms:created>
  <dcterms:modified xsi:type="dcterms:W3CDTF">2024-09-30T21:29:43Z</dcterms:modified>
</cp:coreProperties>
</file>