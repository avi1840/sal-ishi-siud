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692" r:id="rId3"/>
    <p:sldMasterId id="2147483708" r:id="rId4"/>
    <p:sldMasterId id="2147483719" r:id="rId5"/>
  </p:sldMasterIdLst>
  <p:notesMasterIdLst>
    <p:notesMasterId r:id="rId35"/>
  </p:notesMasterIdLst>
  <p:sldIdLst>
    <p:sldId id="2145707194" r:id="rId6"/>
    <p:sldId id="2145707196" r:id="rId7"/>
    <p:sldId id="2145707189" r:id="rId8"/>
    <p:sldId id="2145707221" r:id="rId9"/>
    <p:sldId id="260" r:id="rId10"/>
    <p:sldId id="275" r:id="rId11"/>
    <p:sldId id="257" r:id="rId12"/>
    <p:sldId id="258" r:id="rId13"/>
    <p:sldId id="2145707187" r:id="rId14"/>
    <p:sldId id="262" r:id="rId15"/>
    <p:sldId id="2145707223" r:id="rId16"/>
    <p:sldId id="264" r:id="rId17"/>
    <p:sldId id="2145707181" r:id="rId18"/>
    <p:sldId id="2145707244" r:id="rId19"/>
    <p:sldId id="2145706334" r:id="rId20"/>
    <p:sldId id="2145707267" r:id="rId21"/>
    <p:sldId id="2145707255" r:id="rId22"/>
    <p:sldId id="2145706441" r:id="rId23"/>
    <p:sldId id="2145707238" r:id="rId24"/>
    <p:sldId id="2145707269" r:id="rId25"/>
    <p:sldId id="2145706440" r:id="rId26"/>
    <p:sldId id="2145707273" r:id="rId27"/>
    <p:sldId id="2145707274" r:id="rId28"/>
    <p:sldId id="2145707191" r:id="rId29"/>
    <p:sldId id="2145707275" r:id="rId30"/>
    <p:sldId id="2145707276" r:id="rId31"/>
    <p:sldId id="2145707140" r:id="rId32"/>
    <p:sldId id="2145707242" r:id="rId33"/>
    <p:sldId id="2145706336" r:id="rId3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3" autoAdjust="0"/>
    <p:restoredTop sz="94660"/>
  </p:normalViewPr>
  <p:slideViewPr>
    <p:cSldViewPr snapToGrid="0">
      <p:cViewPr varScale="1">
        <p:scale>
          <a:sx n="100" d="100"/>
          <a:sy n="100" d="100"/>
        </p:scale>
        <p:origin x="1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8EEB4B-E0C4-418F-9BD0-25DE806D6811}" type="doc">
      <dgm:prSet loTypeId="urn:microsoft.com/office/officeart/2005/8/layout/cycle1" loCatId="cycle" qsTypeId="urn:microsoft.com/office/officeart/2005/8/quickstyle/simple1" qsCatId="simple" csTypeId="urn:microsoft.com/office/officeart/2005/8/colors/colorful1" csCatId="colorful" phldr="1"/>
      <dgm:spPr/>
      <dgm:t>
        <a:bodyPr/>
        <a:lstStyle/>
        <a:p>
          <a:pPr rtl="1"/>
          <a:endParaRPr lang="he-IL"/>
        </a:p>
      </dgm:t>
    </dgm:pt>
    <dgm:pt modelId="{E0208170-BA3F-455D-BAF5-ABAC22D88DFC}">
      <dgm:prSet phldrT="[טקסט]" custT="1"/>
      <dgm:spPr/>
      <dgm:t>
        <a:bodyPr/>
        <a:lstStyle/>
        <a:p>
          <a:pPr rtl="1">
            <a:buSzPts val="1000"/>
            <a:buFont typeface="Symbol" panose="05050102010706020507" pitchFamily="18" charset="2"/>
            <a:buChar char=""/>
          </a:pPr>
          <a:r>
            <a:rPr lang="he-IL" sz="2000" dirty="0">
              <a:effectLst/>
              <a:latin typeface="Calibri" panose="020F0502020204030204" pitchFamily="34" charset="0"/>
              <a:ea typeface="Calibri" panose="020F0502020204030204" pitchFamily="34" charset="0"/>
              <a:cs typeface="Arial" panose="020B0604020202020204" pitchFamily="34" charset="0"/>
            </a:rPr>
            <a:t>שימוש ב</a:t>
          </a:r>
          <a:r>
            <a:rPr lang="en-US" sz="2000" dirty="0">
              <a:effectLst/>
              <a:latin typeface="Calibri" panose="020F0502020204030204" pitchFamily="34" charset="0"/>
              <a:ea typeface="Calibri" panose="020F0502020204030204" pitchFamily="34" charset="0"/>
              <a:cs typeface="Arial" panose="020B0604020202020204" pitchFamily="34" charset="0"/>
            </a:rPr>
            <a:t>-AI </a:t>
          </a:r>
          <a:r>
            <a:rPr lang="he-IL" sz="2000" dirty="0">
              <a:effectLst/>
              <a:latin typeface="Calibri" panose="020F0502020204030204" pitchFamily="34" charset="0"/>
              <a:ea typeface="Calibri" panose="020F0502020204030204" pitchFamily="34" charset="0"/>
              <a:cs typeface="Arial" panose="020B0604020202020204" pitchFamily="34" charset="0"/>
            </a:rPr>
            <a:t>להתאמה אישית של שירותים</a:t>
          </a:r>
          <a:endParaRPr lang="he-IL" sz="2000" dirty="0"/>
        </a:p>
      </dgm:t>
    </dgm:pt>
    <dgm:pt modelId="{5E74FC53-E298-4FD6-96C9-2FE72F6FC25D}" type="parTrans" cxnId="{CCA7B024-E129-4D73-BB61-76AC265A1B4B}">
      <dgm:prSet/>
      <dgm:spPr/>
      <dgm:t>
        <a:bodyPr/>
        <a:lstStyle/>
        <a:p>
          <a:pPr rtl="1"/>
          <a:endParaRPr lang="he-IL"/>
        </a:p>
      </dgm:t>
    </dgm:pt>
    <dgm:pt modelId="{5AD7D0E9-4B5A-4C3E-8256-3070D3B7C000}" type="sibTrans" cxnId="{CCA7B024-E129-4D73-BB61-76AC265A1B4B}">
      <dgm:prSet/>
      <dgm:spPr/>
      <dgm:t>
        <a:bodyPr/>
        <a:lstStyle/>
        <a:p>
          <a:pPr rtl="1"/>
          <a:endParaRPr lang="he-IL"/>
        </a:p>
      </dgm:t>
    </dgm:pt>
    <dgm:pt modelId="{9E0550B1-03E9-4001-9CB2-9D7B3B850C9A}">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ניתוח מתקדם של נתוני משתמש בזמן אמת</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3D0DA03C-580E-41F3-8BF9-39BED338E03E}" type="parTrans" cxnId="{09C0093F-9071-49CE-917F-8B85EFF9EDA4}">
      <dgm:prSet/>
      <dgm:spPr/>
      <dgm:t>
        <a:bodyPr/>
        <a:lstStyle/>
        <a:p>
          <a:pPr rtl="1"/>
          <a:endParaRPr lang="he-IL"/>
        </a:p>
      </dgm:t>
    </dgm:pt>
    <dgm:pt modelId="{9B2C21BC-873E-48DC-8D6E-8DE1EA1FD2A5}" type="sibTrans" cxnId="{09C0093F-9071-49CE-917F-8B85EFF9EDA4}">
      <dgm:prSet/>
      <dgm:spPr/>
      <dgm:t>
        <a:bodyPr/>
        <a:lstStyle/>
        <a:p>
          <a:pPr rtl="1"/>
          <a:endParaRPr lang="he-IL"/>
        </a:p>
      </dgm:t>
    </dgm:pt>
    <dgm:pt modelId="{5733F75E-86C6-4436-ABC1-13D62347A5EB}">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למידת מכונה לשיפור מתמיד של המלצות</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181FF4D2-035A-4547-A8D3-37A54AA686D0}" type="parTrans" cxnId="{C00519AD-618D-4BBE-AF2E-A84390EB7174}">
      <dgm:prSet/>
      <dgm:spPr/>
      <dgm:t>
        <a:bodyPr/>
        <a:lstStyle/>
        <a:p>
          <a:pPr rtl="1"/>
          <a:endParaRPr lang="he-IL"/>
        </a:p>
      </dgm:t>
    </dgm:pt>
    <dgm:pt modelId="{05805C4B-3524-436B-8350-016289C02332}" type="sibTrans" cxnId="{C00519AD-618D-4BBE-AF2E-A84390EB7174}">
      <dgm:prSet/>
      <dgm:spPr/>
      <dgm:t>
        <a:bodyPr/>
        <a:lstStyle/>
        <a:p>
          <a:pPr rtl="1"/>
          <a:endParaRPr lang="he-IL"/>
        </a:p>
      </dgm:t>
    </dgm:pt>
    <dgm:pt modelId="{A52FB853-1F02-4E0E-87B9-2711821EEDC6}">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יכולות חיזוי לזיהוי מוקדם של סיכונים</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28AC2662-D2F1-4C2D-9C6D-4D9742963727}" type="parTrans" cxnId="{B26755D6-E7F4-4065-9CA1-09F4B822CE41}">
      <dgm:prSet/>
      <dgm:spPr/>
      <dgm:t>
        <a:bodyPr/>
        <a:lstStyle/>
        <a:p>
          <a:pPr rtl="1"/>
          <a:endParaRPr lang="he-IL"/>
        </a:p>
      </dgm:t>
    </dgm:pt>
    <dgm:pt modelId="{F6855182-DD19-4ABC-ABB6-992A5696DC2E}" type="sibTrans" cxnId="{B26755D6-E7F4-4065-9CA1-09F4B822CE41}">
      <dgm:prSet/>
      <dgm:spPr/>
      <dgm:t>
        <a:bodyPr/>
        <a:lstStyle/>
        <a:p>
          <a:pPr rtl="1"/>
          <a:endParaRPr lang="he-IL"/>
        </a:p>
      </dgm:t>
    </dgm:pt>
    <dgm:pt modelId="{08DC71E0-2C91-4E02-BEC1-836D39D480E3}" type="pres">
      <dgm:prSet presAssocID="{D58EEB4B-E0C4-418F-9BD0-25DE806D6811}" presName="cycle" presStyleCnt="0">
        <dgm:presLayoutVars>
          <dgm:dir/>
          <dgm:resizeHandles val="exact"/>
        </dgm:presLayoutVars>
      </dgm:prSet>
      <dgm:spPr/>
    </dgm:pt>
    <dgm:pt modelId="{8B574FAD-07C1-4425-85F8-D4257017E474}" type="pres">
      <dgm:prSet presAssocID="{E0208170-BA3F-455D-BAF5-ABAC22D88DFC}" presName="dummy" presStyleCnt="0"/>
      <dgm:spPr/>
    </dgm:pt>
    <dgm:pt modelId="{1F96D366-0EC0-436D-9D57-849E41B2D715}" type="pres">
      <dgm:prSet presAssocID="{E0208170-BA3F-455D-BAF5-ABAC22D88DFC}" presName="node" presStyleLbl="revTx" presStyleIdx="0" presStyleCnt="4">
        <dgm:presLayoutVars>
          <dgm:bulletEnabled val="1"/>
        </dgm:presLayoutVars>
      </dgm:prSet>
      <dgm:spPr/>
    </dgm:pt>
    <dgm:pt modelId="{6DFFAECD-9523-4B56-BCB4-09A92B29E46E}" type="pres">
      <dgm:prSet presAssocID="{5AD7D0E9-4B5A-4C3E-8256-3070D3B7C000}" presName="sibTrans" presStyleLbl="node1" presStyleIdx="0" presStyleCnt="4"/>
      <dgm:spPr/>
    </dgm:pt>
    <dgm:pt modelId="{0500E23D-09E5-4567-B7BB-28AD06EF5F1B}" type="pres">
      <dgm:prSet presAssocID="{9E0550B1-03E9-4001-9CB2-9D7B3B850C9A}" presName="dummy" presStyleCnt="0"/>
      <dgm:spPr/>
    </dgm:pt>
    <dgm:pt modelId="{82736CAD-DE8C-4C19-BD20-31AF954BC33E}" type="pres">
      <dgm:prSet presAssocID="{9E0550B1-03E9-4001-9CB2-9D7B3B850C9A}" presName="node" presStyleLbl="revTx" presStyleIdx="1" presStyleCnt="4">
        <dgm:presLayoutVars>
          <dgm:bulletEnabled val="1"/>
        </dgm:presLayoutVars>
      </dgm:prSet>
      <dgm:spPr/>
    </dgm:pt>
    <dgm:pt modelId="{69EEECB8-D979-4E4A-AEF4-99988352B88C}" type="pres">
      <dgm:prSet presAssocID="{9B2C21BC-873E-48DC-8D6E-8DE1EA1FD2A5}" presName="sibTrans" presStyleLbl="node1" presStyleIdx="1" presStyleCnt="4"/>
      <dgm:spPr/>
    </dgm:pt>
    <dgm:pt modelId="{4C78ED96-10DB-44E9-A6A9-4E738470CC3A}" type="pres">
      <dgm:prSet presAssocID="{5733F75E-86C6-4436-ABC1-13D62347A5EB}" presName="dummy" presStyleCnt="0"/>
      <dgm:spPr/>
    </dgm:pt>
    <dgm:pt modelId="{F4BD634B-C425-4433-BD89-CD82332FBD17}" type="pres">
      <dgm:prSet presAssocID="{5733F75E-86C6-4436-ABC1-13D62347A5EB}" presName="node" presStyleLbl="revTx" presStyleIdx="2" presStyleCnt="4">
        <dgm:presLayoutVars>
          <dgm:bulletEnabled val="1"/>
        </dgm:presLayoutVars>
      </dgm:prSet>
      <dgm:spPr/>
    </dgm:pt>
    <dgm:pt modelId="{B2877389-AB48-4103-8CEB-C2911FDA4155}" type="pres">
      <dgm:prSet presAssocID="{05805C4B-3524-436B-8350-016289C02332}" presName="sibTrans" presStyleLbl="node1" presStyleIdx="2" presStyleCnt="4"/>
      <dgm:spPr/>
    </dgm:pt>
    <dgm:pt modelId="{33940C59-8801-43D6-BDBE-AA53902BD557}" type="pres">
      <dgm:prSet presAssocID="{A52FB853-1F02-4E0E-87B9-2711821EEDC6}" presName="dummy" presStyleCnt="0"/>
      <dgm:spPr/>
    </dgm:pt>
    <dgm:pt modelId="{27736104-542B-4BC3-B6FF-503BFE4AFB30}" type="pres">
      <dgm:prSet presAssocID="{A52FB853-1F02-4E0E-87B9-2711821EEDC6}" presName="node" presStyleLbl="revTx" presStyleIdx="3" presStyleCnt="4">
        <dgm:presLayoutVars>
          <dgm:bulletEnabled val="1"/>
        </dgm:presLayoutVars>
      </dgm:prSet>
      <dgm:spPr/>
    </dgm:pt>
    <dgm:pt modelId="{0F34D06B-6FCE-4492-B262-8C84D6FADAA5}" type="pres">
      <dgm:prSet presAssocID="{F6855182-DD19-4ABC-ABB6-992A5696DC2E}" presName="sibTrans" presStyleLbl="node1" presStyleIdx="3" presStyleCnt="4"/>
      <dgm:spPr/>
    </dgm:pt>
  </dgm:ptLst>
  <dgm:cxnLst>
    <dgm:cxn modelId="{E2703517-4909-4CBF-B890-2644132DF21D}" type="presOf" srcId="{9B2C21BC-873E-48DC-8D6E-8DE1EA1FD2A5}" destId="{69EEECB8-D979-4E4A-AEF4-99988352B88C}" srcOrd="0" destOrd="0" presId="urn:microsoft.com/office/officeart/2005/8/layout/cycle1"/>
    <dgm:cxn modelId="{CCA7B024-E129-4D73-BB61-76AC265A1B4B}" srcId="{D58EEB4B-E0C4-418F-9BD0-25DE806D6811}" destId="{E0208170-BA3F-455D-BAF5-ABAC22D88DFC}" srcOrd="0" destOrd="0" parTransId="{5E74FC53-E298-4FD6-96C9-2FE72F6FC25D}" sibTransId="{5AD7D0E9-4B5A-4C3E-8256-3070D3B7C000}"/>
    <dgm:cxn modelId="{14453C2C-AD18-4D14-97FF-244E315A2E4C}" type="presOf" srcId="{9E0550B1-03E9-4001-9CB2-9D7B3B850C9A}" destId="{82736CAD-DE8C-4C19-BD20-31AF954BC33E}" srcOrd="0" destOrd="0" presId="urn:microsoft.com/office/officeart/2005/8/layout/cycle1"/>
    <dgm:cxn modelId="{09C0093F-9071-49CE-917F-8B85EFF9EDA4}" srcId="{D58EEB4B-E0C4-418F-9BD0-25DE806D6811}" destId="{9E0550B1-03E9-4001-9CB2-9D7B3B850C9A}" srcOrd="1" destOrd="0" parTransId="{3D0DA03C-580E-41F3-8BF9-39BED338E03E}" sibTransId="{9B2C21BC-873E-48DC-8D6E-8DE1EA1FD2A5}"/>
    <dgm:cxn modelId="{1CEC1352-4D5A-4713-8D75-E8F52738137C}" type="presOf" srcId="{5733F75E-86C6-4436-ABC1-13D62347A5EB}" destId="{F4BD634B-C425-4433-BD89-CD82332FBD17}" srcOrd="0" destOrd="0" presId="urn:microsoft.com/office/officeart/2005/8/layout/cycle1"/>
    <dgm:cxn modelId="{C36A2554-F912-4F7A-AB22-05B10E532F35}" type="presOf" srcId="{E0208170-BA3F-455D-BAF5-ABAC22D88DFC}" destId="{1F96D366-0EC0-436D-9D57-849E41B2D715}" srcOrd="0" destOrd="0" presId="urn:microsoft.com/office/officeart/2005/8/layout/cycle1"/>
    <dgm:cxn modelId="{A0EAEF7C-5E3D-44BD-B181-C39E2507199B}" type="presOf" srcId="{5AD7D0E9-4B5A-4C3E-8256-3070D3B7C000}" destId="{6DFFAECD-9523-4B56-BCB4-09A92B29E46E}" srcOrd="0" destOrd="0" presId="urn:microsoft.com/office/officeart/2005/8/layout/cycle1"/>
    <dgm:cxn modelId="{A7596484-D037-40A7-90DF-9039C1033CDD}" type="presOf" srcId="{A52FB853-1F02-4E0E-87B9-2711821EEDC6}" destId="{27736104-542B-4BC3-B6FF-503BFE4AFB30}" srcOrd="0" destOrd="0" presId="urn:microsoft.com/office/officeart/2005/8/layout/cycle1"/>
    <dgm:cxn modelId="{144CDEA6-0214-4128-AC62-729605E982C8}" type="presOf" srcId="{05805C4B-3524-436B-8350-016289C02332}" destId="{B2877389-AB48-4103-8CEB-C2911FDA4155}" srcOrd="0" destOrd="0" presId="urn:microsoft.com/office/officeart/2005/8/layout/cycle1"/>
    <dgm:cxn modelId="{C00519AD-618D-4BBE-AF2E-A84390EB7174}" srcId="{D58EEB4B-E0C4-418F-9BD0-25DE806D6811}" destId="{5733F75E-86C6-4436-ABC1-13D62347A5EB}" srcOrd="2" destOrd="0" parTransId="{181FF4D2-035A-4547-A8D3-37A54AA686D0}" sibTransId="{05805C4B-3524-436B-8350-016289C02332}"/>
    <dgm:cxn modelId="{F7900CB8-FA4A-492A-962F-04F442F0D82B}" type="presOf" srcId="{D58EEB4B-E0C4-418F-9BD0-25DE806D6811}" destId="{08DC71E0-2C91-4E02-BEC1-836D39D480E3}" srcOrd="0" destOrd="0" presId="urn:microsoft.com/office/officeart/2005/8/layout/cycle1"/>
    <dgm:cxn modelId="{B26755D6-E7F4-4065-9CA1-09F4B822CE41}" srcId="{D58EEB4B-E0C4-418F-9BD0-25DE806D6811}" destId="{A52FB853-1F02-4E0E-87B9-2711821EEDC6}" srcOrd="3" destOrd="0" parTransId="{28AC2662-D2F1-4C2D-9C6D-4D9742963727}" sibTransId="{F6855182-DD19-4ABC-ABB6-992A5696DC2E}"/>
    <dgm:cxn modelId="{5D0DD1E4-2324-4536-8AE0-F731CECAB522}" type="presOf" srcId="{F6855182-DD19-4ABC-ABB6-992A5696DC2E}" destId="{0F34D06B-6FCE-4492-B262-8C84D6FADAA5}" srcOrd="0" destOrd="0" presId="urn:microsoft.com/office/officeart/2005/8/layout/cycle1"/>
    <dgm:cxn modelId="{907A15B6-9CE5-4A78-93A1-21EDEE0FEE43}" type="presParOf" srcId="{08DC71E0-2C91-4E02-BEC1-836D39D480E3}" destId="{8B574FAD-07C1-4425-85F8-D4257017E474}" srcOrd="0" destOrd="0" presId="urn:microsoft.com/office/officeart/2005/8/layout/cycle1"/>
    <dgm:cxn modelId="{11128419-31F7-4AFB-9955-EC9EA071B5F8}" type="presParOf" srcId="{08DC71E0-2C91-4E02-BEC1-836D39D480E3}" destId="{1F96D366-0EC0-436D-9D57-849E41B2D715}" srcOrd="1" destOrd="0" presId="urn:microsoft.com/office/officeart/2005/8/layout/cycle1"/>
    <dgm:cxn modelId="{81A50E73-C0F1-4BD0-8726-0163BADEDB84}" type="presParOf" srcId="{08DC71E0-2C91-4E02-BEC1-836D39D480E3}" destId="{6DFFAECD-9523-4B56-BCB4-09A92B29E46E}" srcOrd="2" destOrd="0" presId="urn:microsoft.com/office/officeart/2005/8/layout/cycle1"/>
    <dgm:cxn modelId="{6E7B2A62-A59F-4207-9861-BECB5F5CFA5A}" type="presParOf" srcId="{08DC71E0-2C91-4E02-BEC1-836D39D480E3}" destId="{0500E23D-09E5-4567-B7BB-28AD06EF5F1B}" srcOrd="3" destOrd="0" presId="urn:microsoft.com/office/officeart/2005/8/layout/cycle1"/>
    <dgm:cxn modelId="{9373FF20-37CF-4D83-80B6-A44DF62A6E8E}" type="presParOf" srcId="{08DC71E0-2C91-4E02-BEC1-836D39D480E3}" destId="{82736CAD-DE8C-4C19-BD20-31AF954BC33E}" srcOrd="4" destOrd="0" presId="urn:microsoft.com/office/officeart/2005/8/layout/cycle1"/>
    <dgm:cxn modelId="{293378B6-E2ED-4D41-82DC-429CEAC45051}" type="presParOf" srcId="{08DC71E0-2C91-4E02-BEC1-836D39D480E3}" destId="{69EEECB8-D979-4E4A-AEF4-99988352B88C}" srcOrd="5" destOrd="0" presId="urn:microsoft.com/office/officeart/2005/8/layout/cycle1"/>
    <dgm:cxn modelId="{1A1ABCC0-3D03-4C52-8270-4C5AF0B4C991}" type="presParOf" srcId="{08DC71E0-2C91-4E02-BEC1-836D39D480E3}" destId="{4C78ED96-10DB-44E9-A6A9-4E738470CC3A}" srcOrd="6" destOrd="0" presId="urn:microsoft.com/office/officeart/2005/8/layout/cycle1"/>
    <dgm:cxn modelId="{761A98CC-5756-48B9-89F7-82F410DCBDC9}" type="presParOf" srcId="{08DC71E0-2C91-4E02-BEC1-836D39D480E3}" destId="{F4BD634B-C425-4433-BD89-CD82332FBD17}" srcOrd="7" destOrd="0" presId="urn:microsoft.com/office/officeart/2005/8/layout/cycle1"/>
    <dgm:cxn modelId="{7AC20370-2299-4B2F-B550-8048DDBD05AE}" type="presParOf" srcId="{08DC71E0-2C91-4E02-BEC1-836D39D480E3}" destId="{B2877389-AB48-4103-8CEB-C2911FDA4155}" srcOrd="8" destOrd="0" presId="urn:microsoft.com/office/officeart/2005/8/layout/cycle1"/>
    <dgm:cxn modelId="{AFFA5F78-75EE-4D35-8A28-068DC8C1B3CD}" type="presParOf" srcId="{08DC71E0-2C91-4E02-BEC1-836D39D480E3}" destId="{33940C59-8801-43D6-BDBE-AA53902BD557}" srcOrd="9" destOrd="0" presId="urn:microsoft.com/office/officeart/2005/8/layout/cycle1"/>
    <dgm:cxn modelId="{9C6A3148-711E-47FF-814D-2DCD99A7269D}" type="presParOf" srcId="{08DC71E0-2C91-4E02-BEC1-836D39D480E3}" destId="{27736104-542B-4BC3-B6FF-503BFE4AFB30}" srcOrd="10" destOrd="0" presId="urn:microsoft.com/office/officeart/2005/8/layout/cycle1"/>
    <dgm:cxn modelId="{E7A08867-7A6A-47AE-92E1-4EC31F0F382C}" type="presParOf" srcId="{08DC71E0-2C91-4E02-BEC1-836D39D480E3}" destId="{0F34D06B-6FCE-4492-B262-8C84D6FADAA5}" srcOrd="11" destOrd="0" presId="urn:microsoft.com/office/officeart/2005/8/layout/cycle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6D366-0EC0-436D-9D57-849E41B2D715}">
      <dsp:nvSpPr>
        <dsp:cNvPr id="0" name=""/>
        <dsp:cNvSpPr/>
      </dsp:nvSpPr>
      <dsp:spPr>
        <a:xfrm>
          <a:off x="4410613" y="114467"/>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SzPts val="1000"/>
            <a:buFont typeface="Symbol" panose="05050102010706020507" pitchFamily="18" charset="2"/>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שימוש ב</a:t>
          </a:r>
          <a:r>
            <a:rPr lang="en-US" sz="2000" kern="1200" dirty="0">
              <a:effectLst/>
              <a:latin typeface="Calibri" panose="020F0502020204030204" pitchFamily="34" charset="0"/>
              <a:ea typeface="Calibri" panose="020F0502020204030204" pitchFamily="34" charset="0"/>
              <a:cs typeface="Arial" panose="020B0604020202020204" pitchFamily="34" charset="0"/>
            </a:rPr>
            <a:t>-AI </a:t>
          </a:r>
          <a:r>
            <a:rPr lang="he-IL" sz="2000" kern="1200" dirty="0">
              <a:effectLst/>
              <a:latin typeface="Calibri" panose="020F0502020204030204" pitchFamily="34" charset="0"/>
              <a:ea typeface="Calibri" panose="020F0502020204030204" pitchFamily="34" charset="0"/>
              <a:cs typeface="Arial" panose="020B0604020202020204" pitchFamily="34" charset="0"/>
            </a:rPr>
            <a:t>להתאמה אישית של שירותים</a:t>
          </a:r>
          <a:endParaRPr lang="he-IL" sz="2000" kern="1200" dirty="0"/>
        </a:p>
      </dsp:txBody>
      <dsp:txXfrm>
        <a:off x="4410613" y="114467"/>
        <a:ext cx="1826974" cy="1826974"/>
      </dsp:txXfrm>
    </dsp:sp>
    <dsp:sp modelId="{6DFFAECD-9523-4B56-BCB4-09A92B29E46E}">
      <dsp:nvSpPr>
        <dsp:cNvPr id="0" name=""/>
        <dsp:cNvSpPr/>
      </dsp:nvSpPr>
      <dsp:spPr>
        <a:xfrm>
          <a:off x="1190612" y="-969"/>
          <a:ext cx="5162412" cy="5162412"/>
        </a:xfrm>
        <a:prstGeom prst="circularArrow">
          <a:avLst>
            <a:gd name="adj1" fmla="val 6901"/>
            <a:gd name="adj2" fmla="val 465271"/>
            <a:gd name="adj3" fmla="val 549757"/>
            <a:gd name="adj4" fmla="val 20584972"/>
            <a:gd name="adj5" fmla="val 8051"/>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736CAD-DE8C-4C19-BD20-31AF954BC33E}">
      <dsp:nvSpPr>
        <dsp:cNvPr id="0" name=""/>
        <dsp:cNvSpPr/>
      </dsp:nvSpPr>
      <dsp:spPr>
        <a:xfrm>
          <a:off x="4410613" y="3219031"/>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ניתוח מתקדם של נתוני משתמש בזמן אמת</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4410613" y="3219031"/>
        <a:ext cx="1826974" cy="1826974"/>
      </dsp:txXfrm>
    </dsp:sp>
    <dsp:sp modelId="{69EEECB8-D979-4E4A-AEF4-99988352B88C}">
      <dsp:nvSpPr>
        <dsp:cNvPr id="0" name=""/>
        <dsp:cNvSpPr/>
      </dsp:nvSpPr>
      <dsp:spPr>
        <a:xfrm>
          <a:off x="1190612" y="-969"/>
          <a:ext cx="5162412" cy="5162412"/>
        </a:xfrm>
        <a:prstGeom prst="circularArrow">
          <a:avLst>
            <a:gd name="adj1" fmla="val 6901"/>
            <a:gd name="adj2" fmla="val 465271"/>
            <a:gd name="adj3" fmla="val 5949757"/>
            <a:gd name="adj4" fmla="val 4384972"/>
            <a:gd name="adj5" fmla="val 8051"/>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BD634B-C425-4433-BD89-CD82332FBD17}">
      <dsp:nvSpPr>
        <dsp:cNvPr id="0" name=""/>
        <dsp:cNvSpPr/>
      </dsp:nvSpPr>
      <dsp:spPr>
        <a:xfrm>
          <a:off x="1306049" y="3219031"/>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למידת מכונה לשיפור מתמיד של המלצות</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1306049" y="3219031"/>
        <a:ext cx="1826974" cy="1826974"/>
      </dsp:txXfrm>
    </dsp:sp>
    <dsp:sp modelId="{B2877389-AB48-4103-8CEB-C2911FDA4155}">
      <dsp:nvSpPr>
        <dsp:cNvPr id="0" name=""/>
        <dsp:cNvSpPr/>
      </dsp:nvSpPr>
      <dsp:spPr>
        <a:xfrm>
          <a:off x="1190612" y="-969"/>
          <a:ext cx="5162412" cy="5162412"/>
        </a:xfrm>
        <a:prstGeom prst="circularArrow">
          <a:avLst>
            <a:gd name="adj1" fmla="val 6901"/>
            <a:gd name="adj2" fmla="val 465271"/>
            <a:gd name="adj3" fmla="val 11349757"/>
            <a:gd name="adj4" fmla="val 9784972"/>
            <a:gd name="adj5" fmla="val 8051"/>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736104-542B-4BC3-B6FF-503BFE4AFB30}">
      <dsp:nvSpPr>
        <dsp:cNvPr id="0" name=""/>
        <dsp:cNvSpPr/>
      </dsp:nvSpPr>
      <dsp:spPr>
        <a:xfrm>
          <a:off x="1306049" y="114467"/>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יכולות חיזוי לזיהוי מוקדם של סיכונים</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1306049" y="114467"/>
        <a:ext cx="1826974" cy="1826974"/>
      </dsp:txXfrm>
    </dsp:sp>
    <dsp:sp modelId="{0F34D06B-6FCE-4492-B262-8C84D6FADAA5}">
      <dsp:nvSpPr>
        <dsp:cNvPr id="0" name=""/>
        <dsp:cNvSpPr/>
      </dsp:nvSpPr>
      <dsp:spPr>
        <a:xfrm>
          <a:off x="1190612" y="-969"/>
          <a:ext cx="5162412" cy="5162412"/>
        </a:xfrm>
        <a:prstGeom prst="circularArrow">
          <a:avLst>
            <a:gd name="adj1" fmla="val 6901"/>
            <a:gd name="adj2" fmla="val 465271"/>
            <a:gd name="adj3" fmla="val 16749757"/>
            <a:gd name="adj4" fmla="val 15184972"/>
            <a:gd name="adj5" fmla="val 8051"/>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כ"ו/אלול/תשפ"ד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547319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במסגרת עבודת הפורום מופו 20 יעדי מפתח, נעשה סקר התכנסו ל- 7 אשר מתוכם נבחרו 3 למיקוד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r>
              <a:rPr lang="he-IL" dirty="0"/>
              <a:t>אביעד: כדאי אולי שקף על המובילים שכולל מוביל בכל משרד ואותך וחיים (ואז זה מקדים ומנהל את הצוות פעולה השונים).</a:t>
            </a:r>
          </a:p>
          <a:p>
            <a:r>
              <a:rPr lang="he-IL" dirty="0"/>
              <a:t>הצעתי שבכל פעם יהיה צבעוני </a:t>
            </a:r>
            <a:r>
              <a:rPr lang="he-IL" dirty="0" err="1"/>
              <a:t>ההחלק</a:t>
            </a:r>
            <a:r>
              <a:rPr lang="he-IL" dirty="0"/>
              <a:t> הרלוונטי בשלישייה</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56943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אביעד: התמונה של </a:t>
            </a:r>
            <a:r>
              <a:rPr lang="he-IL" dirty="0" err="1"/>
              <a:t>דיגיטל</a:t>
            </a:r>
            <a:r>
              <a:rPr lang="he-IL" dirty="0"/>
              <a:t>, יש תמונות טובות מהצוות הזה</a:t>
            </a: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07861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31698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29/09/2024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6298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577146247"/>
      </p:ext>
    </p:extLst>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כ"ו/אלול/תשפ"ד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452696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924783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893031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5171991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4580484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27720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5407983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127413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7303478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021769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733600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272097606"/>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8415689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5291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297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theme" Target="../theme/theme4.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5.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29/09/2024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כ"ו/אלול/תשפ"ד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4702540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9/29/2024</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5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5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6.xml"/><Relationship Id="rId5" Type="http://schemas.openxmlformats.org/officeDocument/2006/relationships/image" Target="../media/image30.pn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38.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23.png"/><Relationship Id="rId2" Type="http://schemas.openxmlformats.org/officeDocument/2006/relationships/image" Target="../media/image31.png"/><Relationship Id="rId1" Type="http://schemas.openxmlformats.org/officeDocument/2006/relationships/slideLayout" Target="../slideLayouts/slideLayout57.xml"/><Relationship Id="rId6" Type="http://schemas.openxmlformats.org/officeDocument/2006/relationships/image" Target="../media/image35.svg"/><Relationship Id="rId11" Type="http://schemas.openxmlformats.org/officeDocument/2006/relationships/image" Target="../media/image22.png"/><Relationship Id="rId5" Type="http://schemas.openxmlformats.org/officeDocument/2006/relationships/image" Target="../media/image34.png"/><Relationship Id="rId10" Type="http://schemas.openxmlformats.org/officeDocument/2006/relationships/image" Target="../media/image21.png"/><Relationship Id="rId4" Type="http://schemas.openxmlformats.org/officeDocument/2006/relationships/image" Target="../media/image33.svg"/><Relationship Id="rId9" Type="http://schemas.openxmlformats.org/officeDocument/2006/relationships/image" Target="../media/image26.png"/><Relationship Id="rId14" Type="http://schemas.openxmlformats.org/officeDocument/2006/relationships/image" Target="../media/image39.sv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56.xml"/><Relationship Id="rId6" Type="http://schemas.openxmlformats.org/officeDocument/2006/relationships/image" Target="../media/image42.png"/><Relationship Id="rId11" Type="http://schemas.openxmlformats.org/officeDocument/2006/relationships/image" Target="../media/image23.png"/><Relationship Id="rId5" Type="http://schemas.openxmlformats.org/officeDocument/2006/relationships/image" Target="../media/image41.png"/><Relationship Id="rId10" Type="http://schemas.openxmlformats.org/officeDocument/2006/relationships/image" Target="../media/image22.png"/><Relationship Id="rId4" Type="http://schemas.microsoft.com/office/2007/relationships/hdphoto" Target="../media/hdphoto1.wdp"/><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6.xml"/><Relationship Id="rId5" Type="http://schemas.openxmlformats.org/officeDocument/2006/relationships/image" Target="../media/image45.png"/><Relationship Id="rId4" Type="http://schemas.openxmlformats.org/officeDocument/2006/relationships/image" Target="../media/image44.png"/></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23.png"/><Relationship Id="rId2" Type="http://schemas.openxmlformats.org/officeDocument/2006/relationships/notesSlide" Target="../notesSlides/notesSlide3.xml"/><Relationship Id="rId16" Type="http://schemas.openxmlformats.org/officeDocument/2006/relationships/image" Target="../media/image22.png"/><Relationship Id="rId1" Type="http://schemas.openxmlformats.org/officeDocument/2006/relationships/slideLayout" Target="../slideLayouts/slideLayout56.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21.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60.png"/><Relationship Id="rId2" Type="http://schemas.openxmlformats.org/officeDocument/2006/relationships/image" Target="../media/image28.png"/><Relationship Id="rId1" Type="http://schemas.openxmlformats.org/officeDocument/2006/relationships/slideLayout" Target="../slideLayouts/slideLayout5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4.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56.xml"/><Relationship Id="rId6" Type="http://schemas.openxmlformats.org/officeDocument/2006/relationships/image" Target="../media/image21.png"/><Relationship Id="rId5" Type="http://schemas.openxmlformats.org/officeDocument/2006/relationships/image" Target="../media/image26.png"/><Relationship Id="rId4" Type="http://schemas.openxmlformats.org/officeDocument/2006/relationships/image" Target="../media/image61.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2.png"/><Relationship Id="rId1" Type="http://schemas.openxmlformats.org/officeDocument/2006/relationships/slideLayout" Target="../slideLayouts/slideLayout56.xml"/><Relationship Id="rId5" Type="http://schemas.openxmlformats.org/officeDocument/2006/relationships/image" Target="../media/image63.pn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8.png"/><Relationship Id="rId1" Type="http://schemas.openxmlformats.org/officeDocument/2006/relationships/slideLayout" Target="../slideLayouts/slideLayout56.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2.png"/></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62.xml"/><Relationship Id="rId5" Type="http://schemas.openxmlformats.org/officeDocument/2006/relationships/image" Target="../media/image28.png"/><Relationship Id="rId4" Type="http://schemas.openxmlformats.org/officeDocument/2006/relationships/image" Target="../media/image67.sv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70.png"/><Relationship Id="rId7" Type="http://schemas.openxmlformats.org/officeDocument/2006/relationships/image" Target="../media/image20.png"/><Relationship Id="rId2" Type="http://schemas.openxmlformats.org/officeDocument/2006/relationships/image" Target="../media/image69.jpeg"/><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8.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73.png"/></Relationships>
</file>

<file path=ppt/slides/_rels/slide1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xml"/><Relationship Id="rId1" Type="http://schemas.openxmlformats.org/officeDocument/2006/relationships/slideLayout" Target="../slideLayouts/slideLayout21.xml"/><Relationship Id="rId5" Type="http://schemas.openxmlformats.org/officeDocument/2006/relationships/image" Target="../media/image20.png"/><Relationship Id="rId4" Type="http://schemas.openxmlformats.org/officeDocument/2006/relationships/image" Target="../media/image75.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74.png"/><Relationship Id="rId4" Type="http://schemas.openxmlformats.org/officeDocument/2006/relationships/image" Target="../media/image35.svg"/></Relationships>
</file>

<file path=ppt/slides/_rels/slide19.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35.sv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35.svg"/><Relationship Id="rId7" Type="http://schemas.openxmlformats.org/officeDocument/2006/relationships/diagramLayout" Target="../diagrams/layout1.xml"/><Relationship Id="rId12" Type="http://schemas.microsoft.com/office/2007/relationships/hdphoto" Target="../media/hdphoto2.wdp"/><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68.png"/><Relationship Id="rId5" Type="http://schemas.openxmlformats.org/officeDocument/2006/relationships/image" Target="../media/image20.png"/><Relationship Id="rId10" Type="http://schemas.microsoft.com/office/2007/relationships/diagramDrawing" Target="../diagrams/drawing1.xml"/><Relationship Id="rId4" Type="http://schemas.openxmlformats.org/officeDocument/2006/relationships/image" Target="../media/image74.png"/><Relationship Id="rId9" Type="http://schemas.openxmlformats.org/officeDocument/2006/relationships/diagramColors" Target="../diagrams/colors1.xml"/></Relationships>
</file>

<file path=ppt/slides/_rels/slide2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image" Target="../media/image78.png"/><Relationship Id="rId1" Type="http://schemas.openxmlformats.org/officeDocument/2006/relationships/slideLayout" Target="../slideLayouts/slideLayout52.xml"/><Relationship Id="rId6" Type="http://schemas.openxmlformats.org/officeDocument/2006/relationships/image" Target="../media/image82.png"/><Relationship Id="rId11" Type="http://schemas.openxmlformats.org/officeDocument/2006/relationships/image" Target="../media/image87.svg"/><Relationship Id="rId5" Type="http://schemas.openxmlformats.org/officeDocument/2006/relationships/image" Target="../media/image81.sv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svg"/></Relationships>
</file>

<file path=ppt/slides/_rels/slide23.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svg"/><Relationship Id="rId7" Type="http://schemas.openxmlformats.org/officeDocument/2006/relationships/image" Target="../media/image93.svg"/><Relationship Id="rId2" Type="http://schemas.openxmlformats.org/officeDocument/2006/relationships/image" Target="../media/image88.png"/><Relationship Id="rId1" Type="http://schemas.openxmlformats.org/officeDocument/2006/relationships/slideLayout" Target="../slideLayouts/slideLayout52.xml"/><Relationship Id="rId6" Type="http://schemas.openxmlformats.org/officeDocument/2006/relationships/image" Target="../media/image92.png"/><Relationship Id="rId11" Type="http://schemas.openxmlformats.org/officeDocument/2006/relationships/image" Target="../media/image97.svg"/><Relationship Id="rId5" Type="http://schemas.openxmlformats.org/officeDocument/2006/relationships/image" Target="../media/image91.sv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svg"/></Relationships>
</file>

<file path=ppt/slides/_rels/slide2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svg"/><Relationship Id="rId3" Type="http://schemas.openxmlformats.org/officeDocument/2006/relationships/image" Target="../media/image20.png"/><Relationship Id="rId7" Type="http://schemas.openxmlformats.org/officeDocument/2006/relationships/image" Target="../media/image81.svg"/><Relationship Id="rId12" Type="http://schemas.openxmlformats.org/officeDocument/2006/relationships/image" Target="../media/image86.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svg"/><Relationship Id="rId5" Type="http://schemas.openxmlformats.org/officeDocument/2006/relationships/image" Target="../media/image79.sv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svg"/><Relationship Id="rId14" Type="http://schemas.openxmlformats.org/officeDocument/2006/relationships/image" Target="../media/image72.png"/></Relationships>
</file>

<file path=ppt/slides/_rels/slide25.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svg"/><Relationship Id="rId3" Type="http://schemas.openxmlformats.org/officeDocument/2006/relationships/image" Target="../media/image20.png"/><Relationship Id="rId7" Type="http://schemas.openxmlformats.org/officeDocument/2006/relationships/image" Target="../media/image91.svg"/><Relationship Id="rId12" Type="http://schemas.openxmlformats.org/officeDocument/2006/relationships/image" Target="../media/image96.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95.svg"/><Relationship Id="rId5" Type="http://schemas.openxmlformats.org/officeDocument/2006/relationships/image" Target="../media/image89.svg"/><Relationship Id="rId10" Type="http://schemas.openxmlformats.org/officeDocument/2006/relationships/image" Target="../media/image94.png"/><Relationship Id="rId4" Type="http://schemas.openxmlformats.org/officeDocument/2006/relationships/image" Target="../media/image88.png"/><Relationship Id="rId9" Type="http://schemas.openxmlformats.org/officeDocument/2006/relationships/image" Target="../media/image93.svg"/><Relationship Id="rId14" Type="http://schemas.openxmlformats.org/officeDocument/2006/relationships/image" Target="../media/image72.png"/></Relationships>
</file>

<file path=ppt/slides/_rels/slide2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74.png"/></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794D7F3-EB0E-B943-A136-7AD3BF41DA25}"/>
              </a:ext>
            </a:extLst>
          </p:cNvPr>
          <p:cNvSpPr/>
          <p:nvPr/>
        </p:nvSpPr>
        <p:spPr>
          <a:xfrm>
            <a:off x="645459" y="2733267"/>
            <a:ext cx="10893872" cy="629966"/>
          </a:xfrm>
          <a:prstGeom prst="rect">
            <a:avLst/>
          </a:prstGeom>
          <a:solidFill>
            <a:schemeClr val="bg1"/>
          </a:solidFill>
          <a:ln w="19050">
            <a:solidFill>
              <a:srgbClr val="3E6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505A07D7-A48C-4046-96E1-4AAB2FBF3887}"/>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רקע</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44B2D5A0-A603-054F-A020-261623C59266}"/>
              </a:ext>
            </a:extLst>
          </p:cNvPr>
          <p:cNvSpPr txBox="1"/>
          <p:nvPr/>
        </p:nvSpPr>
        <p:spPr>
          <a:xfrm>
            <a:off x="1062318" y="1397672"/>
            <a:ext cx="10349948" cy="560153"/>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לעידן של 100 שנות חיים היא </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אחד מששת אתגרי המאקרו של ישראל </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a:t>
            </a:r>
            <a:r>
              <a:rPr kumimoji="0" lang="he-IL" sz="152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מל"ל</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ואחד האתגרים האסטרטגיים של מדינת ישראל לעשורים הקרובים. </a:t>
            </a:r>
            <a:endParaRPr kumimoji="0" lang="en-US"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273249DB-87C0-2147-A417-B8F2AE9C5983}"/>
              </a:ext>
            </a:extLst>
          </p:cNvPr>
          <p:cNvSpPr txBox="1"/>
          <p:nvPr/>
        </p:nvSpPr>
        <p:spPr>
          <a:xfrm>
            <a:off x="1062318" y="2231390"/>
            <a:ext cx="10349948" cy="326243"/>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החלטות ממשלה 150 ו-127 נועדו לקדם </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ומענה להזדקנות האוכלוסייה בישראל </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וההשלכות החברתיות והכלכליות הנגזרות ממנה.  </a:t>
            </a:r>
            <a:endParaRPr kumimoji="0" lang="en-US"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2" name="TextBox 21">
            <a:extLst>
              <a:ext uri="{FF2B5EF4-FFF2-40B4-BE49-F238E27FC236}">
                <a16:creationId xmlns:a16="http://schemas.microsoft.com/office/drawing/2014/main" id="{8747A520-5FDD-444B-A83D-9A5E9F2A5769}"/>
              </a:ext>
            </a:extLst>
          </p:cNvPr>
          <p:cNvSpPr txBox="1"/>
          <p:nvPr/>
        </p:nvSpPr>
        <p:spPr>
          <a:xfrm>
            <a:off x="599855" y="2800691"/>
            <a:ext cx="10894068"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תחום הזקנה מאופיין </a:t>
            </a:r>
            <a:r>
              <a:rPr kumimoji="0" lang="he-IL" sz="16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בפיצוליות</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רבה בין הגופים השונים, הגורמת להיעדר מדיניות אחידה, לחוסר תיאום וסנכרון ולחוסר יעילות ואפקטיביות, הללו גורמים לנטל בירוקרטי ולחוסר בהתאמת השירותים לאזרח.</a:t>
            </a:r>
          </a:p>
        </p:txBody>
      </p:sp>
      <p:sp>
        <p:nvSpPr>
          <p:cNvPr id="23" name="TextBox 22">
            <a:extLst>
              <a:ext uri="{FF2B5EF4-FFF2-40B4-BE49-F238E27FC236}">
                <a16:creationId xmlns:a16="http://schemas.microsoft.com/office/drawing/2014/main" id="{0F07D410-A74E-6945-B776-17B1E6339D1E}"/>
              </a:ext>
            </a:extLst>
          </p:cNvPr>
          <p:cNvSpPr txBox="1"/>
          <p:nvPr/>
        </p:nvSpPr>
        <p:spPr>
          <a:xfrm>
            <a:off x="562633" y="3656778"/>
            <a:ext cx="10968513" cy="326243"/>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מיטבית מחייבת </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שת"פ רב מערכתי אל מול אתגרי המערכת</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למענה הוליסטי לאדם ומשפחתו ולהשלכות הצפויות על המשק והחברה.</a:t>
            </a:r>
            <a:endParaRPr kumimoji="0" lang="en-US"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B3CE68DD-A943-0846-88C7-47B6055E0B69}"/>
              </a:ext>
            </a:extLst>
          </p:cNvPr>
          <p:cNvSpPr txBox="1"/>
          <p:nvPr/>
        </p:nvSpPr>
        <p:spPr>
          <a:xfrm>
            <a:off x="161365" y="4288790"/>
            <a:ext cx="11250901" cy="560153"/>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לשם כך הוקם פורום </a:t>
            </a:r>
            <a:r>
              <a:rPr kumimoji="0" lang="he-IL" sz="152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המייצר פלטפורמה רב מערכתית </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לעבודה משותפת, המשלבת ידע, מומחיות, ניסיון ומשאבים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לקידום מענים משותפים לאתגרי המערכת ו</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ליצירת</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שיתופי פעולה ברמה הארצית והמקומית </a:t>
            </a:r>
            <a:r>
              <a:rPr kumimoji="0" lang="he-IL"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לטובת קידום הזדקנות מיטבית בגישה צופה פני עתיד .</a:t>
            </a:r>
            <a:endParaRPr kumimoji="0" lang="en-US" sz="152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A3E4A34D-01BC-2143-84C2-3B3D4A6AC8FA}"/>
              </a:ext>
            </a:extLst>
          </p:cNvPr>
          <p:cNvSpPr txBox="1"/>
          <p:nvPr/>
        </p:nvSpPr>
        <p:spPr>
          <a:xfrm>
            <a:off x="-470647" y="5149402"/>
            <a:ext cx="11250901" cy="560153"/>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הפורום מורכב מנציגי מפתח בכירים של משרד הרווחה והביטחון החברתי, משרד הבריאות, המשרד לשוויון חברתי, </a:t>
            </a:r>
            <a:br>
              <a:rPr kumimoji="0" lang="en-US"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מערך </a:t>
            </a:r>
            <a:r>
              <a:rPr kumimoji="0" lang="he-IL" sz="152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הדיגיטל</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הלאומי, הביטוח הלאומי, רשויות מקומיות, קופות החולים, </a:t>
            </a:r>
            <a:r>
              <a:rPr kumimoji="0" lang="he-IL" sz="152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הלמ"ס</a:t>
            </a:r>
            <a:r>
              <a:rPr kumimoji="0" lang="he-IL"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והג'וינט.</a:t>
            </a:r>
            <a:endParaRPr kumimoji="0" lang="en-US" sz="152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4" name="Rectangle 3">
            <a:extLst>
              <a:ext uri="{FF2B5EF4-FFF2-40B4-BE49-F238E27FC236}">
                <a16:creationId xmlns:a16="http://schemas.microsoft.com/office/drawing/2014/main" id="{22B975B0-50AF-4146-8BF4-27AAB8F345A5}"/>
              </a:ext>
            </a:extLst>
          </p:cNvPr>
          <p:cNvSpPr/>
          <p:nvPr/>
        </p:nvSpPr>
        <p:spPr>
          <a:xfrm>
            <a:off x="645459" y="1344294"/>
            <a:ext cx="10893872" cy="666907"/>
          </a:xfrm>
          <a:prstGeom prst="rect">
            <a:avLst/>
          </a:prstGeom>
          <a:noFill/>
          <a:ln w="19050">
            <a:solidFill>
              <a:srgbClr val="3E6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998D2FF6-0258-DB45-875C-091F287E1266}"/>
              </a:ext>
            </a:extLst>
          </p:cNvPr>
          <p:cNvSpPr/>
          <p:nvPr/>
        </p:nvSpPr>
        <p:spPr>
          <a:xfrm>
            <a:off x="645459" y="2167255"/>
            <a:ext cx="10893872" cy="431414"/>
          </a:xfrm>
          <a:prstGeom prst="rect">
            <a:avLst/>
          </a:prstGeom>
          <a:noFill/>
          <a:ln w="19050">
            <a:solidFill>
              <a:srgbClr val="3E6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D3224C8-7E2B-724D-8A67-A90D5E4A11FC}"/>
              </a:ext>
            </a:extLst>
          </p:cNvPr>
          <p:cNvSpPr/>
          <p:nvPr/>
        </p:nvSpPr>
        <p:spPr>
          <a:xfrm>
            <a:off x="645459" y="3609974"/>
            <a:ext cx="10893872" cy="440977"/>
          </a:xfrm>
          <a:prstGeom prst="rect">
            <a:avLst/>
          </a:prstGeom>
          <a:noFill/>
          <a:ln w="19050">
            <a:solidFill>
              <a:srgbClr val="3E6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DAE22053-244D-4642-8537-9A13BBF9E3FB}"/>
              </a:ext>
            </a:extLst>
          </p:cNvPr>
          <p:cNvSpPr/>
          <p:nvPr/>
        </p:nvSpPr>
        <p:spPr>
          <a:xfrm>
            <a:off x="645459" y="4239894"/>
            <a:ext cx="10893872" cy="619209"/>
          </a:xfrm>
          <a:prstGeom prst="rect">
            <a:avLst/>
          </a:prstGeom>
          <a:noFill/>
          <a:ln w="19050">
            <a:solidFill>
              <a:srgbClr val="3E6B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E78B5DEA-CFFA-D94F-A926-9AFAE8B559CC}"/>
              </a:ext>
            </a:extLst>
          </p:cNvPr>
          <p:cNvPicPr>
            <a:picLocks noChangeAspect="1"/>
          </p:cNvPicPr>
          <p:nvPr/>
        </p:nvPicPr>
        <p:blipFill>
          <a:blip r:embed="rId2"/>
          <a:stretch>
            <a:fillRect/>
          </a:stretch>
        </p:blipFill>
        <p:spPr>
          <a:xfrm>
            <a:off x="291353" y="1428339"/>
            <a:ext cx="304800" cy="800100"/>
          </a:xfrm>
          <a:prstGeom prst="rect">
            <a:avLst/>
          </a:prstGeom>
        </p:spPr>
      </p:pic>
      <p:pic>
        <p:nvPicPr>
          <p:cNvPr id="30" name="Picture 29">
            <a:extLst>
              <a:ext uri="{FF2B5EF4-FFF2-40B4-BE49-F238E27FC236}">
                <a16:creationId xmlns:a16="http://schemas.microsoft.com/office/drawing/2014/main" id="{E55E23F2-65E0-144E-A5F7-08E6A29A8ADF}"/>
              </a:ext>
            </a:extLst>
          </p:cNvPr>
          <p:cNvPicPr>
            <a:picLocks noChangeAspect="1"/>
          </p:cNvPicPr>
          <p:nvPr/>
        </p:nvPicPr>
        <p:blipFill>
          <a:blip r:embed="rId2"/>
          <a:stretch>
            <a:fillRect/>
          </a:stretch>
        </p:blipFill>
        <p:spPr>
          <a:xfrm>
            <a:off x="291353" y="2302099"/>
            <a:ext cx="304800" cy="800100"/>
          </a:xfrm>
          <a:prstGeom prst="rect">
            <a:avLst/>
          </a:prstGeom>
        </p:spPr>
      </p:pic>
      <p:pic>
        <p:nvPicPr>
          <p:cNvPr id="31" name="Picture 30">
            <a:extLst>
              <a:ext uri="{FF2B5EF4-FFF2-40B4-BE49-F238E27FC236}">
                <a16:creationId xmlns:a16="http://schemas.microsoft.com/office/drawing/2014/main" id="{ABF91E23-68AD-5845-849F-D6CB2D132670}"/>
              </a:ext>
            </a:extLst>
          </p:cNvPr>
          <p:cNvPicPr>
            <a:picLocks noChangeAspect="1"/>
          </p:cNvPicPr>
          <p:nvPr/>
        </p:nvPicPr>
        <p:blipFill>
          <a:blip r:embed="rId2"/>
          <a:stretch>
            <a:fillRect/>
          </a:stretch>
        </p:blipFill>
        <p:spPr>
          <a:xfrm>
            <a:off x="291353" y="3094579"/>
            <a:ext cx="304800" cy="800100"/>
          </a:xfrm>
          <a:prstGeom prst="rect">
            <a:avLst/>
          </a:prstGeom>
        </p:spPr>
      </p:pic>
      <p:pic>
        <p:nvPicPr>
          <p:cNvPr id="32" name="Picture 31">
            <a:extLst>
              <a:ext uri="{FF2B5EF4-FFF2-40B4-BE49-F238E27FC236}">
                <a16:creationId xmlns:a16="http://schemas.microsoft.com/office/drawing/2014/main" id="{3780A56E-E49D-BD41-8C7A-237D0B0D0975}"/>
              </a:ext>
            </a:extLst>
          </p:cNvPr>
          <p:cNvPicPr>
            <a:picLocks noChangeAspect="1"/>
          </p:cNvPicPr>
          <p:nvPr/>
        </p:nvPicPr>
        <p:blipFill>
          <a:blip r:embed="rId2"/>
          <a:stretch>
            <a:fillRect/>
          </a:stretch>
        </p:blipFill>
        <p:spPr>
          <a:xfrm>
            <a:off x="291353" y="3948019"/>
            <a:ext cx="304800" cy="800100"/>
          </a:xfrm>
          <a:prstGeom prst="rect">
            <a:avLst/>
          </a:prstGeom>
        </p:spPr>
      </p:pic>
      <p:pic>
        <p:nvPicPr>
          <p:cNvPr id="13" name="Picture 12">
            <a:extLst>
              <a:ext uri="{FF2B5EF4-FFF2-40B4-BE49-F238E27FC236}">
                <a16:creationId xmlns:a16="http://schemas.microsoft.com/office/drawing/2014/main" id="{A69A2285-8382-5A4F-9202-CFE0183B9EE3}"/>
              </a:ext>
            </a:extLst>
          </p:cNvPr>
          <p:cNvPicPr>
            <a:picLocks noChangeAspect="1"/>
          </p:cNvPicPr>
          <p:nvPr/>
        </p:nvPicPr>
        <p:blipFill>
          <a:blip r:embed="rId3"/>
          <a:stretch>
            <a:fillRect/>
          </a:stretch>
        </p:blipFill>
        <p:spPr>
          <a:xfrm>
            <a:off x="10819946" y="5169612"/>
            <a:ext cx="711200" cy="520700"/>
          </a:xfrm>
          <a:prstGeom prst="rect">
            <a:avLst/>
          </a:prstGeom>
        </p:spPr>
      </p:pic>
      <p:pic>
        <p:nvPicPr>
          <p:cNvPr id="2" name="Picture 1">
            <a:extLst>
              <a:ext uri="{FF2B5EF4-FFF2-40B4-BE49-F238E27FC236}">
                <a16:creationId xmlns:a16="http://schemas.microsoft.com/office/drawing/2014/main" id="{584E156D-7D7F-C791-0DF1-8FFFD04E8360}"/>
              </a:ext>
            </a:extLst>
          </p:cNvPr>
          <p:cNvPicPr>
            <a:picLocks noChangeAspect="1"/>
          </p:cNvPicPr>
          <p:nvPr/>
        </p:nvPicPr>
        <p:blipFill>
          <a:blip r:embed="rId4"/>
          <a:stretch>
            <a:fillRect/>
          </a:stretch>
        </p:blipFill>
        <p:spPr>
          <a:xfrm>
            <a:off x="0" y="5966248"/>
            <a:ext cx="12192000" cy="910606"/>
          </a:xfrm>
          <a:prstGeom prst="rect">
            <a:avLst/>
          </a:prstGeom>
        </p:spPr>
      </p:pic>
      <p:grpSp>
        <p:nvGrpSpPr>
          <p:cNvPr id="6" name="Group 5">
            <a:extLst>
              <a:ext uri="{FF2B5EF4-FFF2-40B4-BE49-F238E27FC236}">
                <a16:creationId xmlns:a16="http://schemas.microsoft.com/office/drawing/2014/main" id="{3A00FF39-81DC-7B42-DF8B-FE1B1F163686}"/>
              </a:ext>
            </a:extLst>
          </p:cNvPr>
          <p:cNvGrpSpPr/>
          <p:nvPr/>
        </p:nvGrpSpPr>
        <p:grpSpPr>
          <a:xfrm>
            <a:off x="311158" y="6156883"/>
            <a:ext cx="2347678" cy="516168"/>
            <a:chOff x="3486150" y="1040904"/>
            <a:chExt cx="5219896" cy="1147663"/>
          </a:xfrm>
        </p:grpSpPr>
        <p:pic>
          <p:nvPicPr>
            <p:cNvPr id="7" name="Picture 6">
              <a:extLst>
                <a:ext uri="{FF2B5EF4-FFF2-40B4-BE49-F238E27FC236}">
                  <a16:creationId xmlns:a16="http://schemas.microsoft.com/office/drawing/2014/main" id="{5E436D07-9CA1-9BC8-C360-0E6A42F77F9B}"/>
                </a:ext>
              </a:extLst>
            </p:cNvPr>
            <p:cNvPicPr>
              <a:picLocks noChangeAspect="1"/>
            </p:cNvPicPr>
            <p:nvPr/>
          </p:nvPicPr>
          <p:blipFill>
            <a:blip r:embed="rId5"/>
            <a:stretch>
              <a:fillRect/>
            </a:stretch>
          </p:blipFill>
          <p:spPr>
            <a:xfrm>
              <a:off x="3486150" y="1807567"/>
              <a:ext cx="3619500" cy="381000"/>
            </a:xfrm>
            <a:prstGeom prst="rect">
              <a:avLst/>
            </a:prstGeom>
          </p:spPr>
        </p:pic>
        <p:pic>
          <p:nvPicPr>
            <p:cNvPr id="9" name="Picture 8">
              <a:extLst>
                <a:ext uri="{FF2B5EF4-FFF2-40B4-BE49-F238E27FC236}">
                  <a16:creationId xmlns:a16="http://schemas.microsoft.com/office/drawing/2014/main" id="{72D872F1-5B91-5662-E520-066EF3E06F25}"/>
                </a:ext>
              </a:extLst>
            </p:cNvPr>
            <p:cNvPicPr>
              <a:picLocks noChangeAspect="1"/>
            </p:cNvPicPr>
            <p:nvPr/>
          </p:nvPicPr>
          <p:blipFill>
            <a:blip r:embed="rId6"/>
            <a:stretch>
              <a:fillRect/>
            </a:stretch>
          </p:blipFill>
          <p:spPr>
            <a:xfrm>
              <a:off x="7245546" y="1040904"/>
              <a:ext cx="1460500" cy="1092200"/>
            </a:xfrm>
            <a:prstGeom prst="rect">
              <a:avLst/>
            </a:prstGeom>
          </p:spPr>
        </p:pic>
        <p:pic>
          <p:nvPicPr>
            <p:cNvPr id="10" name="Picture 9">
              <a:extLst>
                <a:ext uri="{FF2B5EF4-FFF2-40B4-BE49-F238E27FC236}">
                  <a16:creationId xmlns:a16="http://schemas.microsoft.com/office/drawing/2014/main" id="{B03A8489-5E1B-9D5E-8EF4-31364C0E4479}"/>
                </a:ext>
              </a:extLst>
            </p:cNvPr>
            <p:cNvPicPr>
              <a:picLocks noChangeAspect="1"/>
            </p:cNvPicPr>
            <p:nvPr/>
          </p:nvPicPr>
          <p:blipFill>
            <a:blip r:embed="rId7"/>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3729604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97066" y="167702"/>
            <a:ext cx="5871983" cy="606384"/>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אתגרים</a:t>
            </a: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latin typeface="Rubik" pitchFamily="2" charset="-79"/>
              <a:ea typeface="+mn-ea"/>
              <a:cs typeface="Rubik" pitchFamily="2" charset="-79"/>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האתגרים המרכזיים: </a:t>
            </a:r>
            <a:endPar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56790" y="3241703"/>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59069" y="3909758"/>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1991" y="2518877"/>
            <a:ext cx="6458060" cy="2323199"/>
            <a:chOff x="-225587" y="2279619"/>
            <a:chExt cx="6458060"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3194" y="3989752"/>
              <a:ext cx="127000" cy="127000"/>
            </a:xfrm>
            <a:prstGeom prst="rect">
              <a:avLst/>
            </a:prstGeom>
          </p:spPr>
        </p:pic>
      </p:grpSp>
    </p:spTree>
    <p:extLst>
      <p:ext uri="{BB962C8B-B14F-4D97-AF65-F5344CB8AC3E}">
        <p14:creationId xmlns:p14="http://schemas.microsoft.com/office/powerpoint/2010/main" val="480413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5052816" y="4830078"/>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2873455" y="5163366"/>
            <a:ext cx="4593473"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9" name="Text 6">
            <a:extLst>
              <a:ext uri="{FF2B5EF4-FFF2-40B4-BE49-F238E27FC236}">
                <a16:creationId xmlns:a16="http://schemas.microsoft.com/office/drawing/2014/main" id="{8EF5A412-C4FD-4D19-B02D-969DE8FCB7C2}"/>
              </a:ext>
            </a:extLst>
          </p:cNvPr>
          <p:cNvSpPr/>
          <p:nvPr/>
        </p:nvSpPr>
        <p:spPr>
          <a:xfrm>
            <a:off x="8270496" y="2994258"/>
            <a:ext cx="283739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endParaRPr kumimoji="0" lang="en-US" sz="155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12" name="Text 8">
            <a:extLst>
              <a:ext uri="{FF2B5EF4-FFF2-40B4-BE49-F238E27FC236}">
                <a16:creationId xmlns:a16="http://schemas.microsoft.com/office/drawing/2014/main" id="{F2817678-8447-4AEE-AD4C-888257D0A851}"/>
              </a:ext>
            </a:extLst>
          </p:cNvPr>
          <p:cNvSpPr/>
          <p:nvPr/>
        </p:nvSpPr>
        <p:spPr>
          <a:xfrm>
            <a:off x="4338369" y="2973748"/>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4472C4"/>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9C8E24A4-26D8-445C-AF8C-FF4C2AD06359}"/>
              </a:ext>
            </a:extLst>
          </p:cNvPr>
          <p:cNvCxnSpPr>
            <a:cxnSpLocks/>
          </p:cNvCxnSpPr>
          <p:nvPr/>
        </p:nvCxnSpPr>
        <p:spPr>
          <a:xfrm>
            <a:off x="0" y="4756073"/>
            <a:ext cx="12192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7463508" y="4662527"/>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8413667" y="4816897"/>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472C4"/>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מלבן 1">
            <a:extLst>
              <a:ext uri="{FF2B5EF4-FFF2-40B4-BE49-F238E27FC236}">
                <a16:creationId xmlns:a16="http://schemas.microsoft.com/office/drawing/2014/main" id="{D4ABE2AE-889D-F9FD-2F6F-1FDD1123AE54}"/>
              </a:ext>
            </a:extLst>
          </p:cNvPr>
          <p:cNvSpPr/>
          <p:nvPr/>
        </p:nvSpPr>
        <p:spPr>
          <a:xfrm>
            <a:off x="8441920" y="2479024"/>
            <a:ext cx="3374340"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3" name="Picture 1">
            <a:extLst>
              <a:ext uri="{FF2B5EF4-FFF2-40B4-BE49-F238E27FC236}">
                <a16:creationId xmlns:a16="http://schemas.microsoft.com/office/drawing/2014/main" id="{5D8CA068-78AE-EB58-F492-0A3110C74E43}"/>
              </a:ext>
            </a:extLst>
          </p:cNvPr>
          <p:cNvPicPr>
            <a:picLocks noChangeAspect="1"/>
          </p:cNvPicPr>
          <p:nvPr/>
        </p:nvPicPr>
        <p:blipFill>
          <a:blip r:embed="rId9"/>
          <a:stretch>
            <a:fillRect/>
          </a:stretch>
        </p:blipFill>
        <p:spPr>
          <a:xfrm>
            <a:off x="0" y="5966248"/>
            <a:ext cx="12192000" cy="910606"/>
          </a:xfrm>
          <a:prstGeom prst="rect">
            <a:avLst/>
          </a:prstGeom>
        </p:spPr>
      </p:pic>
      <p:grpSp>
        <p:nvGrpSpPr>
          <p:cNvPr id="4" name="Group 5">
            <a:extLst>
              <a:ext uri="{FF2B5EF4-FFF2-40B4-BE49-F238E27FC236}">
                <a16:creationId xmlns:a16="http://schemas.microsoft.com/office/drawing/2014/main" id="{23BF4949-7F12-6C1A-262B-E535E802A7BF}"/>
              </a:ext>
            </a:extLst>
          </p:cNvPr>
          <p:cNvGrpSpPr/>
          <p:nvPr/>
        </p:nvGrpSpPr>
        <p:grpSpPr>
          <a:xfrm>
            <a:off x="311158" y="6156883"/>
            <a:ext cx="2347678" cy="516168"/>
            <a:chOff x="3486150" y="1040904"/>
            <a:chExt cx="5219896" cy="1147663"/>
          </a:xfrm>
        </p:grpSpPr>
        <p:pic>
          <p:nvPicPr>
            <p:cNvPr id="7" name="Picture 6">
              <a:extLst>
                <a:ext uri="{FF2B5EF4-FFF2-40B4-BE49-F238E27FC236}">
                  <a16:creationId xmlns:a16="http://schemas.microsoft.com/office/drawing/2014/main" id="{C7488F31-7885-006D-49A4-BCD2B1041D63}"/>
                </a:ext>
              </a:extLst>
            </p:cNvPr>
            <p:cNvPicPr>
              <a:picLocks noChangeAspect="1"/>
            </p:cNvPicPr>
            <p:nvPr/>
          </p:nvPicPr>
          <p:blipFill>
            <a:blip r:embed="rId10"/>
            <a:stretch>
              <a:fillRect/>
            </a:stretch>
          </p:blipFill>
          <p:spPr>
            <a:xfrm>
              <a:off x="3486150" y="1807567"/>
              <a:ext cx="3619500" cy="381000"/>
            </a:xfrm>
            <a:prstGeom prst="rect">
              <a:avLst/>
            </a:prstGeom>
          </p:spPr>
        </p:pic>
        <p:pic>
          <p:nvPicPr>
            <p:cNvPr id="13" name="Picture 8">
              <a:extLst>
                <a:ext uri="{FF2B5EF4-FFF2-40B4-BE49-F238E27FC236}">
                  <a16:creationId xmlns:a16="http://schemas.microsoft.com/office/drawing/2014/main" id="{DF148547-46CE-0B99-B545-D9DC91BC82E7}"/>
                </a:ext>
              </a:extLst>
            </p:cNvPr>
            <p:cNvPicPr>
              <a:picLocks noChangeAspect="1"/>
            </p:cNvPicPr>
            <p:nvPr/>
          </p:nvPicPr>
          <p:blipFill>
            <a:blip r:embed="rId11"/>
            <a:stretch>
              <a:fillRect/>
            </a:stretch>
          </p:blipFill>
          <p:spPr>
            <a:xfrm>
              <a:off x="7245546" y="1040904"/>
              <a:ext cx="1460500" cy="1092200"/>
            </a:xfrm>
            <a:prstGeom prst="rect">
              <a:avLst/>
            </a:prstGeom>
          </p:spPr>
        </p:pic>
        <p:pic>
          <p:nvPicPr>
            <p:cNvPr id="17" name="Picture 9">
              <a:extLst>
                <a:ext uri="{FF2B5EF4-FFF2-40B4-BE49-F238E27FC236}">
                  <a16:creationId xmlns:a16="http://schemas.microsoft.com/office/drawing/2014/main" id="{72773167-B09B-C8B5-A435-1476DB6B28A6}"/>
                </a:ext>
              </a:extLst>
            </p:cNvPr>
            <p:cNvPicPr>
              <a:picLocks noChangeAspect="1"/>
            </p:cNvPicPr>
            <p:nvPr/>
          </p:nvPicPr>
          <p:blipFill>
            <a:blip r:embed="rId12"/>
            <a:stretch>
              <a:fillRect/>
            </a:stretch>
          </p:blipFill>
          <p:spPr>
            <a:xfrm>
              <a:off x="3543398" y="1080335"/>
              <a:ext cx="3632200" cy="698500"/>
            </a:xfrm>
            <a:prstGeom prst="rect">
              <a:avLst/>
            </a:prstGeom>
          </p:spPr>
        </p:pic>
      </p:grpSp>
      <p:sp>
        <p:nvSpPr>
          <p:cNvPr id="22" name="Text 6">
            <a:extLst>
              <a:ext uri="{FF2B5EF4-FFF2-40B4-BE49-F238E27FC236}">
                <a16:creationId xmlns:a16="http://schemas.microsoft.com/office/drawing/2014/main" id="{E5498A62-37A5-3FDE-8517-537635BFD3DC}"/>
              </a:ext>
            </a:extLst>
          </p:cNvPr>
          <p:cNvSpPr/>
          <p:nvPr/>
        </p:nvSpPr>
        <p:spPr>
          <a:xfrm>
            <a:off x="8441920" y="2994258"/>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25" name="Text 10">
            <a:extLst>
              <a:ext uri="{FF2B5EF4-FFF2-40B4-BE49-F238E27FC236}">
                <a16:creationId xmlns:a16="http://schemas.microsoft.com/office/drawing/2014/main" id="{0A416CE3-40B6-9274-7A28-B980BBA23916}"/>
              </a:ext>
            </a:extLst>
          </p:cNvPr>
          <p:cNvSpPr/>
          <p:nvPr/>
        </p:nvSpPr>
        <p:spPr>
          <a:xfrm>
            <a:off x="671646" y="2991086"/>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pic>
        <p:nvPicPr>
          <p:cNvPr id="29" name="Graphic 27">
            <a:extLst>
              <a:ext uri="{FF2B5EF4-FFF2-40B4-BE49-F238E27FC236}">
                <a16:creationId xmlns:a16="http://schemas.microsoft.com/office/drawing/2014/main" id="{BAAE08BC-128D-4513-F210-27CC8210089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b="22815"/>
          <a:stretch/>
        </p:blipFill>
        <p:spPr>
          <a:xfrm>
            <a:off x="11048079" y="2552717"/>
            <a:ext cx="677673" cy="653833"/>
          </a:xfrm>
          <a:prstGeom prst="rect">
            <a:avLst/>
          </a:prstGeom>
        </p:spPr>
      </p:pic>
      <p:sp>
        <p:nvSpPr>
          <p:cNvPr id="15" name="מלבן 14">
            <a:extLst>
              <a:ext uri="{FF2B5EF4-FFF2-40B4-BE49-F238E27FC236}">
                <a16:creationId xmlns:a16="http://schemas.microsoft.com/office/drawing/2014/main" id="{ED2C9F49-CC1E-F7CA-3192-B112575072F8}"/>
              </a:ext>
            </a:extLst>
          </p:cNvPr>
          <p:cNvSpPr/>
          <p:nvPr/>
        </p:nvSpPr>
        <p:spPr>
          <a:xfrm>
            <a:off x="751438" y="2479023"/>
            <a:ext cx="3445543"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689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D647DA-F558-BB41-80B4-1A0ECCDF85DC}"/>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Lst>
          </a:blip>
          <a:stretch>
            <a:fillRect/>
          </a:stretch>
        </p:blipFill>
        <p:spPr>
          <a:xfrm>
            <a:off x="0" y="-19878"/>
            <a:ext cx="5067300" cy="6134100"/>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מטרות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09420172-4CCA-4A4B-BA1B-C7E542C13B4D}"/>
              </a:ext>
            </a:extLst>
          </p:cNvPr>
          <p:cNvPicPr>
            <a:picLocks noChangeAspect="1"/>
          </p:cNvPicPr>
          <p:nvPr/>
        </p:nvPicPr>
        <p:blipFill>
          <a:blip r:embed="rId5"/>
          <a:stretch>
            <a:fillRect/>
          </a:stretch>
        </p:blipFill>
        <p:spPr>
          <a:xfrm>
            <a:off x="10548731" y="4265544"/>
            <a:ext cx="990600" cy="990600"/>
          </a:xfrm>
          <a:prstGeom prst="rect">
            <a:avLst/>
          </a:prstGeom>
        </p:spPr>
      </p:pic>
      <p:pic>
        <p:nvPicPr>
          <p:cNvPr id="14" name="Picture 13">
            <a:extLst>
              <a:ext uri="{FF2B5EF4-FFF2-40B4-BE49-F238E27FC236}">
                <a16:creationId xmlns:a16="http://schemas.microsoft.com/office/drawing/2014/main" id="{29932A2F-4775-5A4D-BE2D-6E3A6F5DD60F}"/>
              </a:ext>
            </a:extLst>
          </p:cNvPr>
          <p:cNvPicPr>
            <a:picLocks noChangeAspect="1"/>
          </p:cNvPicPr>
          <p:nvPr/>
        </p:nvPicPr>
        <p:blipFill>
          <a:blip r:embed="rId6"/>
          <a:stretch>
            <a:fillRect/>
          </a:stretch>
        </p:blipFill>
        <p:spPr>
          <a:xfrm>
            <a:off x="10536031" y="1612970"/>
            <a:ext cx="1003300" cy="1003300"/>
          </a:xfrm>
          <a:prstGeom prst="rect">
            <a:avLst/>
          </a:prstGeom>
        </p:spPr>
      </p:pic>
      <p:pic>
        <p:nvPicPr>
          <p:cNvPr id="16" name="Picture 15">
            <a:extLst>
              <a:ext uri="{FF2B5EF4-FFF2-40B4-BE49-F238E27FC236}">
                <a16:creationId xmlns:a16="http://schemas.microsoft.com/office/drawing/2014/main" id="{37284496-1BF5-A34E-BD9C-04592822FAA8}"/>
              </a:ext>
            </a:extLst>
          </p:cNvPr>
          <p:cNvPicPr>
            <a:picLocks noChangeAspect="1"/>
          </p:cNvPicPr>
          <p:nvPr/>
        </p:nvPicPr>
        <p:blipFill>
          <a:blip r:embed="rId7"/>
          <a:stretch>
            <a:fillRect/>
          </a:stretch>
        </p:blipFill>
        <p:spPr>
          <a:xfrm>
            <a:off x="10536031" y="2987537"/>
            <a:ext cx="1003300" cy="1003300"/>
          </a:xfrm>
          <a:prstGeom prst="rect">
            <a:avLst/>
          </a:prstGeom>
        </p:spPr>
      </p:pic>
      <p:sp>
        <p:nvSpPr>
          <p:cNvPr id="17" name="TextBox 16">
            <a:extLst>
              <a:ext uri="{FF2B5EF4-FFF2-40B4-BE49-F238E27FC236}">
                <a16:creationId xmlns:a16="http://schemas.microsoft.com/office/drawing/2014/main" id="{B91F91CB-8A2E-A743-8EE3-AD633C542F50}"/>
              </a:ext>
            </a:extLst>
          </p:cNvPr>
          <p:cNvSpPr txBox="1"/>
          <p:nvPr/>
        </p:nvSpPr>
        <p:spPr>
          <a:xfrm>
            <a:off x="5496339" y="1588702"/>
            <a:ext cx="4919869"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פיתוח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תפיסה משותפת</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תכנית פעולה ומענה רחב בהסתכלות אסטרטגית רב-מקצועית ורב-מערכתית לאתגרי ההזדקנות. </a:t>
            </a:r>
            <a:endPar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18" name="TextBox 17">
            <a:extLst>
              <a:ext uri="{FF2B5EF4-FFF2-40B4-BE49-F238E27FC236}">
                <a16:creationId xmlns:a16="http://schemas.microsoft.com/office/drawing/2014/main" id="{A0484D80-44DF-7D42-8C8A-DD951CFB861A}"/>
              </a:ext>
            </a:extLst>
          </p:cNvPr>
          <p:cNvSpPr txBox="1"/>
          <p:nvPr/>
        </p:nvSpPr>
        <p:spPr>
          <a:xfrm>
            <a:off x="5496338" y="2967335"/>
            <a:ext cx="4919869"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גיבוש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מפת אתגרים, חסמי הליבה והזדמנויות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כבסיס לפיתוח תכניות עבודה משותפות המכוונות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להתמודדות עימם.</a:t>
            </a:r>
            <a:endPar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19" name="TextBox 18">
            <a:extLst>
              <a:ext uri="{FF2B5EF4-FFF2-40B4-BE49-F238E27FC236}">
                <a16:creationId xmlns:a16="http://schemas.microsoft.com/office/drawing/2014/main" id="{CBFDB667-2B7C-E142-BCA5-3216516F1868}"/>
              </a:ext>
            </a:extLst>
          </p:cNvPr>
          <p:cNvSpPr txBox="1"/>
          <p:nvPr/>
        </p:nvSpPr>
        <p:spPr>
          <a:xfrm>
            <a:off x="5506277" y="4160679"/>
            <a:ext cx="4919869" cy="120032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קידום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אקוסיסטם</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הפועל יחד (במשותף)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באופן מתואם ומתוכנן, להובלת תהליכים בשדה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לטובת שיפור המענים לזקן בשגרה ובחירום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ותוך מיצוי אפקטיבי של המשאבים.</a:t>
            </a:r>
          </a:p>
        </p:txBody>
      </p:sp>
      <p:pic>
        <p:nvPicPr>
          <p:cNvPr id="2" name="Picture 1">
            <a:extLst>
              <a:ext uri="{FF2B5EF4-FFF2-40B4-BE49-F238E27FC236}">
                <a16:creationId xmlns:a16="http://schemas.microsoft.com/office/drawing/2014/main" id="{4BEF5564-4296-01F2-9F9F-870EED86A5D1}"/>
              </a:ext>
            </a:extLst>
          </p:cNvPr>
          <p:cNvPicPr>
            <a:picLocks noChangeAspect="1"/>
          </p:cNvPicPr>
          <p:nvPr/>
        </p:nvPicPr>
        <p:blipFill>
          <a:blip r:embed="rId8"/>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579C7AB3-5DB3-6FF0-695A-3AF4DFCBDDDA}"/>
              </a:ext>
            </a:extLst>
          </p:cNvPr>
          <p:cNvGrpSpPr/>
          <p:nvPr/>
        </p:nvGrpSpPr>
        <p:grpSpPr>
          <a:xfrm>
            <a:off x="311158" y="6156883"/>
            <a:ext cx="2347678" cy="516168"/>
            <a:chOff x="3486150" y="1040904"/>
            <a:chExt cx="5219896" cy="1147663"/>
          </a:xfrm>
        </p:grpSpPr>
        <p:pic>
          <p:nvPicPr>
            <p:cNvPr id="4" name="Picture 3">
              <a:extLst>
                <a:ext uri="{FF2B5EF4-FFF2-40B4-BE49-F238E27FC236}">
                  <a16:creationId xmlns:a16="http://schemas.microsoft.com/office/drawing/2014/main" id="{0D4E7927-D035-F222-5546-455553C79B11}"/>
                </a:ext>
              </a:extLst>
            </p:cNvPr>
            <p:cNvPicPr>
              <a:picLocks noChangeAspect="1"/>
            </p:cNvPicPr>
            <p:nvPr/>
          </p:nvPicPr>
          <p:blipFill>
            <a:blip r:embed="rId9"/>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615019C3-88F1-0C81-6087-0030CEBAA687}"/>
                </a:ext>
              </a:extLst>
            </p:cNvPr>
            <p:cNvPicPr>
              <a:picLocks noChangeAspect="1"/>
            </p:cNvPicPr>
            <p:nvPr/>
          </p:nvPicPr>
          <p:blipFill>
            <a:blip r:embed="rId10"/>
            <a:stretch>
              <a:fillRect/>
            </a:stretch>
          </p:blipFill>
          <p:spPr>
            <a:xfrm>
              <a:off x="7245546" y="1040904"/>
              <a:ext cx="1460500" cy="1092200"/>
            </a:xfrm>
            <a:prstGeom prst="rect">
              <a:avLst/>
            </a:prstGeom>
          </p:spPr>
        </p:pic>
        <p:pic>
          <p:nvPicPr>
            <p:cNvPr id="8" name="Picture 7">
              <a:extLst>
                <a:ext uri="{FF2B5EF4-FFF2-40B4-BE49-F238E27FC236}">
                  <a16:creationId xmlns:a16="http://schemas.microsoft.com/office/drawing/2014/main" id="{C4CAC932-E817-97C8-F573-123C903A0E1B}"/>
                </a:ext>
              </a:extLst>
            </p:cNvPr>
            <p:cNvPicPr>
              <a:picLocks noChangeAspect="1"/>
            </p:cNvPicPr>
            <p:nvPr/>
          </p:nvPicPr>
          <p:blipFill>
            <a:blip r:embed="rId1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251981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150608" y="3283673"/>
            <a:ext cx="4400217" cy="109273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בגישה </a:t>
            </a:r>
          </a:p>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צופה פני עתיד</a:t>
            </a:r>
            <a:endPar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7" name="Picture 6">
            <a:extLst>
              <a:ext uri="{FF2B5EF4-FFF2-40B4-BE49-F238E27FC236}">
                <a16:creationId xmlns:a16="http://schemas.microsoft.com/office/drawing/2014/main" id="{6CD4C552-3967-9B4B-B90F-C6B0E312B319}"/>
              </a:ext>
            </a:extLst>
          </p:cNvPr>
          <p:cNvPicPr>
            <a:picLocks noChangeAspect="1"/>
          </p:cNvPicPr>
          <p:nvPr/>
        </p:nvPicPr>
        <p:blipFill>
          <a:blip r:embed="rId3"/>
          <a:stretch>
            <a:fillRect/>
          </a:stretch>
        </p:blipFill>
        <p:spPr>
          <a:xfrm>
            <a:off x="2276856" y="3357796"/>
            <a:ext cx="4232577" cy="210903"/>
          </a:xfrm>
          <a:prstGeom prst="rect">
            <a:avLst/>
          </a:prstGeom>
        </p:spPr>
      </p:pic>
      <p:sp>
        <p:nvSpPr>
          <p:cNvPr id="9" name="TextBox 8">
            <a:extLst>
              <a:ext uri="{FF2B5EF4-FFF2-40B4-BE49-F238E27FC236}">
                <a16:creationId xmlns:a16="http://schemas.microsoft.com/office/drawing/2014/main" id="{43E00941-94AB-A24F-B7ED-5C3731404897}"/>
              </a:ext>
            </a:extLst>
          </p:cNvPr>
          <p:cNvSpPr txBox="1"/>
          <p:nvPr/>
        </p:nvSpPr>
        <p:spPr>
          <a:xfrm>
            <a:off x="7297955" y="4414985"/>
            <a:ext cx="4268138"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הפורום כ</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תשתית אסטרטגית</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לעבודה רב מערכתית  שתוביל ל</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משותפת להזדקנות מיטבית של האוכלוסייה בישראל </a:t>
            </a:r>
            <a:endParaRPr kumimoji="0" lang="en-US"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9E0A9E3-5301-5C45-9BD1-965498D82BBA}"/>
              </a:ext>
            </a:extLst>
          </p:cNvPr>
          <p:cNvSpPr txBox="1"/>
          <p:nvPr/>
        </p:nvSpPr>
        <p:spPr>
          <a:xfrm>
            <a:off x="1229193" y="3875716"/>
            <a:ext cx="5165155" cy="1913985"/>
          </a:xfrm>
          <a:prstGeom prst="rect">
            <a:avLst/>
          </a:prstGeom>
          <a:noFill/>
        </p:spPr>
        <p:txBody>
          <a:bodyPr wrap="square" rtlCol="0">
            <a:spAutoFit/>
          </a:bodyPr>
          <a:lstStyle/>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תמונת מצב, אתגרים והמלצות </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אסטרטגית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ניירות מדיניות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משותפים על נושאי מפתח</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עבודה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שנתית 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הובלת מהלכים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מערכתיים למענה לאתגרים</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חיבור בין המערכות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שמביא לשיפור המענה והשירותים לאזרח</a:t>
            </a:r>
          </a:p>
        </p:txBody>
      </p:sp>
      <p:pic>
        <p:nvPicPr>
          <p:cNvPr id="23" name="Picture 22">
            <a:extLst>
              <a:ext uri="{FF2B5EF4-FFF2-40B4-BE49-F238E27FC236}">
                <a16:creationId xmlns:a16="http://schemas.microsoft.com/office/drawing/2014/main" id="{B2199669-4517-AD46-A790-E6356CC98178}"/>
              </a:ext>
            </a:extLst>
          </p:cNvPr>
          <p:cNvPicPr>
            <a:picLocks noChangeAspect="1"/>
          </p:cNvPicPr>
          <p:nvPr/>
        </p:nvPicPr>
        <p:blipFill>
          <a:blip r:embed="rId3"/>
          <a:stretch>
            <a:fillRect/>
          </a:stretch>
        </p:blipFill>
        <p:spPr>
          <a:xfrm>
            <a:off x="4302177" y="3622972"/>
            <a:ext cx="2207256" cy="210903"/>
          </a:xfrm>
          <a:prstGeom prst="rect">
            <a:avLst/>
          </a:prstGeom>
        </p:spPr>
      </p:pic>
      <p:sp>
        <p:nvSpPr>
          <p:cNvPr id="8" name="TextBox 7">
            <a:extLst>
              <a:ext uri="{FF2B5EF4-FFF2-40B4-BE49-F238E27FC236}">
                <a16:creationId xmlns:a16="http://schemas.microsoft.com/office/drawing/2014/main" id="{6A485C0B-5271-194F-8D26-7A55D03AB6B9}"/>
              </a:ext>
            </a:extLst>
          </p:cNvPr>
          <p:cNvSpPr txBox="1"/>
          <p:nvPr/>
        </p:nvSpPr>
        <p:spPr>
          <a:xfrm>
            <a:off x="-2572785" y="3271968"/>
            <a:ext cx="9153144" cy="639727"/>
          </a:xfrm>
          <a:prstGeom prst="rect">
            <a:avLst/>
          </a:prstGeom>
          <a:noFill/>
        </p:spPr>
        <p:txBody>
          <a:bodyPr wrap="square" rtlCol="0">
            <a:spAutoFit/>
          </a:bodyPr>
          <a:lstStyle/>
          <a:p>
            <a:pPr marL="0" marR="0" lvl="0" indent="0" algn="r" defTabSz="914400" rtl="1" eaLnBrk="1" fontAlgn="auto" latinLnBrk="0" hangingPunct="1">
              <a:lnSpc>
                <a:spcPts val="216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במסגרת זו צוותי הפעולה של הפורום יהיו שותפים </a:t>
            </a:r>
            <a:br>
              <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b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ומעורבים בתכנון וגיבוש:</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427035B-152B-6C41-97E2-62C7C44969E1}"/>
              </a:ext>
            </a:extLst>
          </p:cNvPr>
          <p:cNvPicPr>
            <a:picLocks noChangeAspect="1"/>
          </p:cNvPicPr>
          <p:nvPr/>
        </p:nvPicPr>
        <p:blipFill>
          <a:blip r:embed="rId4"/>
          <a:stretch>
            <a:fillRect/>
          </a:stretch>
        </p:blipFill>
        <p:spPr>
          <a:xfrm>
            <a:off x="6334977" y="3991568"/>
            <a:ext cx="179481" cy="179481"/>
          </a:xfrm>
          <a:prstGeom prst="rect">
            <a:avLst/>
          </a:prstGeom>
        </p:spPr>
      </p:pic>
      <p:pic>
        <p:nvPicPr>
          <p:cNvPr id="27" name="Picture 26">
            <a:extLst>
              <a:ext uri="{FF2B5EF4-FFF2-40B4-BE49-F238E27FC236}">
                <a16:creationId xmlns:a16="http://schemas.microsoft.com/office/drawing/2014/main" id="{B732BAC8-6C32-7442-B3E9-CBB1E1F2E6EE}"/>
              </a:ext>
            </a:extLst>
          </p:cNvPr>
          <p:cNvPicPr>
            <a:picLocks noChangeAspect="1"/>
          </p:cNvPicPr>
          <p:nvPr/>
        </p:nvPicPr>
        <p:blipFill>
          <a:blip r:embed="rId4"/>
          <a:stretch>
            <a:fillRect/>
          </a:stretch>
        </p:blipFill>
        <p:spPr>
          <a:xfrm>
            <a:off x="6334977" y="4293018"/>
            <a:ext cx="179481" cy="179481"/>
          </a:xfrm>
          <a:prstGeom prst="rect">
            <a:avLst/>
          </a:prstGeom>
        </p:spPr>
      </p:pic>
      <p:pic>
        <p:nvPicPr>
          <p:cNvPr id="32" name="Picture 31">
            <a:extLst>
              <a:ext uri="{FF2B5EF4-FFF2-40B4-BE49-F238E27FC236}">
                <a16:creationId xmlns:a16="http://schemas.microsoft.com/office/drawing/2014/main" id="{C4C7AAD0-31AC-C042-A60F-475BB2A4E26B}"/>
              </a:ext>
            </a:extLst>
          </p:cNvPr>
          <p:cNvPicPr>
            <a:picLocks noChangeAspect="1"/>
          </p:cNvPicPr>
          <p:nvPr/>
        </p:nvPicPr>
        <p:blipFill>
          <a:blip r:embed="rId4"/>
          <a:stretch>
            <a:fillRect/>
          </a:stretch>
        </p:blipFill>
        <p:spPr>
          <a:xfrm>
            <a:off x="6334977" y="4609542"/>
            <a:ext cx="179481" cy="179481"/>
          </a:xfrm>
          <a:prstGeom prst="rect">
            <a:avLst/>
          </a:prstGeom>
        </p:spPr>
      </p:pic>
      <p:pic>
        <p:nvPicPr>
          <p:cNvPr id="34" name="Picture 33">
            <a:extLst>
              <a:ext uri="{FF2B5EF4-FFF2-40B4-BE49-F238E27FC236}">
                <a16:creationId xmlns:a16="http://schemas.microsoft.com/office/drawing/2014/main" id="{DE6F33E1-3E25-F448-B7D3-FC12F8B61BF4}"/>
              </a:ext>
            </a:extLst>
          </p:cNvPr>
          <p:cNvPicPr>
            <a:picLocks noChangeAspect="1"/>
          </p:cNvPicPr>
          <p:nvPr/>
        </p:nvPicPr>
        <p:blipFill>
          <a:blip r:embed="rId4"/>
          <a:stretch>
            <a:fillRect/>
          </a:stretch>
        </p:blipFill>
        <p:spPr>
          <a:xfrm>
            <a:off x="6334977" y="4910992"/>
            <a:ext cx="179481" cy="179481"/>
          </a:xfrm>
          <a:prstGeom prst="rect">
            <a:avLst/>
          </a:prstGeom>
        </p:spPr>
      </p:pic>
      <p:pic>
        <p:nvPicPr>
          <p:cNvPr id="35" name="Picture 34">
            <a:extLst>
              <a:ext uri="{FF2B5EF4-FFF2-40B4-BE49-F238E27FC236}">
                <a16:creationId xmlns:a16="http://schemas.microsoft.com/office/drawing/2014/main" id="{FDD40669-0663-6642-BE11-14D02192EB62}"/>
              </a:ext>
            </a:extLst>
          </p:cNvPr>
          <p:cNvPicPr>
            <a:picLocks noChangeAspect="1"/>
          </p:cNvPicPr>
          <p:nvPr/>
        </p:nvPicPr>
        <p:blipFill>
          <a:blip r:embed="rId4"/>
          <a:stretch>
            <a:fillRect/>
          </a:stretch>
        </p:blipFill>
        <p:spPr>
          <a:xfrm>
            <a:off x="6334977" y="5217467"/>
            <a:ext cx="179481" cy="179481"/>
          </a:xfrm>
          <a:prstGeom prst="rect">
            <a:avLst/>
          </a:prstGeom>
        </p:spPr>
      </p:pic>
      <p:pic>
        <p:nvPicPr>
          <p:cNvPr id="36" name="Picture 35">
            <a:extLst>
              <a:ext uri="{FF2B5EF4-FFF2-40B4-BE49-F238E27FC236}">
                <a16:creationId xmlns:a16="http://schemas.microsoft.com/office/drawing/2014/main" id="{A5A59733-B515-174F-96A1-FB3CCEAECAE1}"/>
              </a:ext>
            </a:extLst>
          </p:cNvPr>
          <p:cNvPicPr>
            <a:picLocks noChangeAspect="1"/>
          </p:cNvPicPr>
          <p:nvPr/>
        </p:nvPicPr>
        <p:blipFill>
          <a:blip r:embed="rId4"/>
          <a:stretch>
            <a:fillRect/>
          </a:stretch>
        </p:blipFill>
        <p:spPr>
          <a:xfrm>
            <a:off x="6334977" y="5518917"/>
            <a:ext cx="179481" cy="179481"/>
          </a:xfrm>
          <a:prstGeom prst="rect">
            <a:avLst/>
          </a:prstGeom>
        </p:spPr>
      </p:pic>
      <p:pic>
        <p:nvPicPr>
          <p:cNvPr id="13" name="Picture 12">
            <a:extLst>
              <a:ext uri="{FF2B5EF4-FFF2-40B4-BE49-F238E27FC236}">
                <a16:creationId xmlns:a16="http://schemas.microsoft.com/office/drawing/2014/main" id="{FA30683F-3F11-6C41-9FC7-C87E0A284AD2}"/>
              </a:ext>
            </a:extLst>
          </p:cNvPr>
          <p:cNvPicPr>
            <a:picLocks noChangeAspect="1"/>
          </p:cNvPicPr>
          <p:nvPr/>
        </p:nvPicPr>
        <p:blipFill>
          <a:blip r:embed="rId5"/>
          <a:stretch>
            <a:fillRect/>
          </a:stretch>
        </p:blipFill>
        <p:spPr>
          <a:xfrm>
            <a:off x="-35560" y="-120670"/>
            <a:ext cx="12263120" cy="3151204"/>
          </a:xfrm>
          <a:prstGeom prst="rect">
            <a:avLst/>
          </a:prstGeom>
        </p:spPr>
      </p:pic>
    </p:spTree>
    <p:extLst>
      <p:ext uri="{BB962C8B-B14F-4D97-AF65-F5344CB8AC3E}">
        <p14:creationId xmlns:p14="http://schemas.microsoft.com/office/powerpoint/2010/main" val="899326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Rubik" pitchFamily="2" charset="-79"/>
                <a:ea typeface="+mn-ea"/>
                <a:cs typeface="Rubik" pitchFamily="2" charset="-79"/>
              </a:rPr>
              <a:t>מבנה ארגוני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92B1388-D45C-5049-88F0-305BD0375B8E}"/>
              </a:ext>
            </a:extLst>
          </p:cNvPr>
          <p:cNvSpPr txBox="1"/>
          <p:nvPr/>
        </p:nvSpPr>
        <p:spPr>
          <a:xfrm>
            <a:off x="8390964"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a:t>
            </a:r>
            <a:endPar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27595D22-C6AC-4840-8E4E-0D4CD30BFE16}"/>
              </a:ext>
            </a:extLst>
          </p:cNvPr>
          <p:cNvSpPr txBox="1"/>
          <p:nvPr/>
        </p:nvSpPr>
        <p:spPr>
          <a:xfrm>
            <a:off x="6016997" y="4289612"/>
            <a:ext cx="1640542" cy="8002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דאטה-</a:t>
            </a:r>
            <a:r>
              <a:rPr kumimoji="0" lang="he-IL" sz="2300" b="0" i="0" u="none" strike="noStrike" kern="1200" cap="none" spc="0" normalizeH="0" baseline="0" noProof="0" dirty="0" err="1">
                <a:ln>
                  <a:noFill/>
                </a:ln>
                <a:solidFill>
                  <a:srgbClr val="5AA6C5"/>
                </a:solidFill>
                <a:effectLst/>
                <a:uLnTx/>
                <a:uFillTx/>
                <a:latin typeface="Assistant" pitchFamily="2" charset="-79"/>
                <a:ea typeface="+mn-ea"/>
                <a:cs typeface="Assistant" pitchFamily="2" charset="-79"/>
              </a:rPr>
              <a:t>דיגיטל</a:t>
            </a:r>
            <a:endPar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6BE63A48-A735-954D-A201-C6AC937E289C}"/>
              </a:ext>
            </a:extLst>
          </p:cNvPr>
          <p:cNvSpPr txBox="1"/>
          <p:nvPr/>
        </p:nvSpPr>
        <p:spPr>
          <a:xfrm>
            <a:off x="3213846"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רשויות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מקומיות</a:t>
            </a:r>
            <a:endPar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8FDA7BE1-6951-744E-9E85-FB0F0A55C63D}"/>
              </a:ext>
            </a:extLst>
          </p:cNvPr>
          <p:cNvSpPr txBox="1"/>
          <p:nvPr/>
        </p:nvSpPr>
        <p:spPr>
          <a:xfrm>
            <a:off x="551328"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מערכי</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דיור</a:t>
            </a:r>
            <a:endPar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2" name="TextBox 21">
            <a:extLst>
              <a:ext uri="{FF2B5EF4-FFF2-40B4-BE49-F238E27FC236}">
                <a16:creationId xmlns:a16="http://schemas.microsoft.com/office/drawing/2014/main" id="{A2D30010-94CD-2648-998A-21D590167AE6}"/>
              </a:ext>
            </a:extLst>
          </p:cNvPr>
          <p:cNvSpPr txBox="1"/>
          <p:nvPr/>
        </p:nvSpPr>
        <p:spPr>
          <a:xfrm>
            <a:off x="1021973" y="5366739"/>
            <a:ext cx="2218766"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6E1530"/>
                </a:solidFill>
                <a:effectLst/>
                <a:uLnTx/>
                <a:uFillTx/>
                <a:latin typeface="Rubik" pitchFamily="2" charset="-79"/>
                <a:ea typeface="+mn-ea"/>
                <a:cs typeface="Rubik" pitchFamily="2" charset="-79"/>
              </a:rPr>
              <a:t>*</a:t>
            </a:r>
            <a:r>
              <a:rPr kumimoji="0" lang="he-IL"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 מערכי דיור- בבדיקה להקמה</a:t>
            </a:r>
            <a:endParaRPr kumimoji="0" lang="en-US"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3" name="TextBox 22">
            <a:extLst>
              <a:ext uri="{FF2B5EF4-FFF2-40B4-BE49-F238E27FC236}">
                <a16:creationId xmlns:a16="http://schemas.microsoft.com/office/drawing/2014/main" id="{37AE5042-6D4D-134D-A4AA-B7ADB01C1C20}"/>
              </a:ext>
            </a:extLst>
          </p:cNvPr>
          <p:cNvSpPr txBox="1"/>
          <p:nvPr/>
        </p:nvSpPr>
        <p:spPr>
          <a:xfrm>
            <a:off x="4477869" y="1173710"/>
            <a:ext cx="2138083"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4761C7A-B604-1140-8283-C93104EA926C}"/>
              </a:ext>
            </a:extLst>
          </p:cNvPr>
          <p:cNvSpPr txBox="1"/>
          <p:nvPr/>
        </p:nvSpPr>
        <p:spPr>
          <a:xfrm>
            <a:off x="4161443" y="2026275"/>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פורום </a:t>
            </a:r>
            <a:r>
              <a:rPr kumimoji="0" lang="he-IL" sz="23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E1F76233-6FC9-FB40-8DA4-5F56D50CA2EE}"/>
              </a:ext>
            </a:extLst>
          </p:cNvPr>
          <p:cNvSpPr txBox="1"/>
          <p:nvPr/>
        </p:nvSpPr>
        <p:spPr>
          <a:xfrm>
            <a:off x="3953436" y="2857247"/>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4 צוותי עבודה</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cxnSp>
        <p:nvCxnSpPr>
          <p:cNvPr id="8" name="Straight Connector 7">
            <a:extLst>
              <a:ext uri="{FF2B5EF4-FFF2-40B4-BE49-F238E27FC236}">
                <a16:creationId xmlns:a16="http://schemas.microsoft.com/office/drawing/2014/main" id="{909BFC37-894C-6A4C-8EA1-652F8FA45264}"/>
              </a:ext>
            </a:extLst>
          </p:cNvPr>
          <p:cNvCxnSpPr/>
          <p:nvPr/>
        </p:nvCxnSpPr>
        <p:spPr>
          <a:xfrm>
            <a:off x="8525435"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5DB04BB-CBDE-6940-8584-7A8F9E76A7E6}"/>
              </a:ext>
            </a:extLst>
          </p:cNvPr>
          <p:cNvCxnSpPr/>
          <p:nvPr/>
        </p:nvCxnSpPr>
        <p:spPr>
          <a:xfrm>
            <a:off x="6037730"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5D3871A-F3FB-4E4F-9175-A73F95A7B75A}"/>
              </a:ext>
            </a:extLst>
          </p:cNvPr>
          <p:cNvCxnSpPr/>
          <p:nvPr/>
        </p:nvCxnSpPr>
        <p:spPr>
          <a:xfrm>
            <a:off x="3375212"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E4592BD-0364-914D-96BD-43CBDB833E81}"/>
              </a:ext>
            </a:extLst>
          </p:cNvPr>
          <p:cNvPicPr>
            <a:picLocks noChangeAspect="1"/>
          </p:cNvPicPr>
          <p:nvPr/>
        </p:nvPicPr>
        <p:blipFill>
          <a:blip r:embed="rId3"/>
          <a:stretch>
            <a:fillRect/>
          </a:stretch>
        </p:blipFill>
        <p:spPr>
          <a:xfrm>
            <a:off x="6373906" y="2864638"/>
            <a:ext cx="1143000" cy="431800"/>
          </a:xfrm>
          <a:prstGeom prst="rect">
            <a:avLst/>
          </a:prstGeom>
        </p:spPr>
      </p:pic>
      <p:pic>
        <p:nvPicPr>
          <p:cNvPr id="28" name="Picture 27">
            <a:extLst>
              <a:ext uri="{FF2B5EF4-FFF2-40B4-BE49-F238E27FC236}">
                <a16:creationId xmlns:a16="http://schemas.microsoft.com/office/drawing/2014/main" id="{50AB78E7-C13B-8043-A4FD-70F878985075}"/>
              </a:ext>
            </a:extLst>
          </p:cNvPr>
          <p:cNvPicPr>
            <a:picLocks noChangeAspect="1"/>
          </p:cNvPicPr>
          <p:nvPr/>
        </p:nvPicPr>
        <p:blipFill>
          <a:blip r:embed="rId4"/>
          <a:stretch>
            <a:fillRect/>
          </a:stretch>
        </p:blipFill>
        <p:spPr>
          <a:xfrm>
            <a:off x="6581913" y="1972457"/>
            <a:ext cx="812800" cy="596900"/>
          </a:xfrm>
          <a:prstGeom prst="rect">
            <a:avLst/>
          </a:prstGeom>
        </p:spPr>
      </p:pic>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5"/>
          <a:stretch>
            <a:fillRect/>
          </a:stretch>
        </p:blipFill>
        <p:spPr>
          <a:xfrm>
            <a:off x="6646160" y="895420"/>
            <a:ext cx="685800" cy="660400"/>
          </a:xfrm>
          <a:prstGeom prst="rect">
            <a:avLst/>
          </a:prstGeom>
        </p:spPr>
      </p:pic>
      <p:pic>
        <p:nvPicPr>
          <p:cNvPr id="32" name="Picture 31">
            <a:extLst>
              <a:ext uri="{FF2B5EF4-FFF2-40B4-BE49-F238E27FC236}">
                <a16:creationId xmlns:a16="http://schemas.microsoft.com/office/drawing/2014/main" id="{22806738-8254-444C-935E-8834B1F9BE87}"/>
              </a:ext>
            </a:extLst>
          </p:cNvPr>
          <p:cNvPicPr>
            <a:picLocks noChangeAspect="1"/>
          </p:cNvPicPr>
          <p:nvPr/>
        </p:nvPicPr>
        <p:blipFill>
          <a:blip r:embed="rId6"/>
          <a:stretch>
            <a:fillRect/>
          </a:stretch>
        </p:blipFill>
        <p:spPr>
          <a:xfrm>
            <a:off x="7928535" y="3448321"/>
            <a:ext cx="1282700" cy="863600"/>
          </a:xfrm>
          <a:prstGeom prst="rect">
            <a:avLst/>
          </a:prstGeom>
        </p:spPr>
      </p:pic>
      <p:pic>
        <p:nvPicPr>
          <p:cNvPr id="34" name="Picture 33">
            <a:extLst>
              <a:ext uri="{FF2B5EF4-FFF2-40B4-BE49-F238E27FC236}">
                <a16:creationId xmlns:a16="http://schemas.microsoft.com/office/drawing/2014/main" id="{0F89ABF7-207A-784E-8223-1549E4E503A1}"/>
              </a:ext>
            </a:extLst>
          </p:cNvPr>
          <p:cNvPicPr>
            <a:picLocks noChangeAspect="1"/>
          </p:cNvPicPr>
          <p:nvPr/>
        </p:nvPicPr>
        <p:blipFill>
          <a:blip r:embed="rId7"/>
          <a:stretch>
            <a:fillRect/>
          </a:stretch>
        </p:blipFill>
        <p:spPr>
          <a:xfrm>
            <a:off x="6373906" y="3409887"/>
            <a:ext cx="736600" cy="850900"/>
          </a:xfrm>
          <a:prstGeom prst="rect">
            <a:avLst/>
          </a:prstGeom>
        </p:spPr>
      </p:pic>
      <p:pic>
        <p:nvPicPr>
          <p:cNvPr id="36" name="Picture 35">
            <a:extLst>
              <a:ext uri="{FF2B5EF4-FFF2-40B4-BE49-F238E27FC236}">
                <a16:creationId xmlns:a16="http://schemas.microsoft.com/office/drawing/2014/main" id="{88B6B2C1-BFF4-DD4D-A7FB-5DCD9DA515B5}"/>
              </a:ext>
            </a:extLst>
          </p:cNvPr>
          <p:cNvPicPr>
            <a:picLocks noChangeAspect="1"/>
          </p:cNvPicPr>
          <p:nvPr/>
        </p:nvPicPr>
        <p:blipFill>
          <a:blip r:embed="rId8"/>
          <a:stretch>
            <a:fillRect/>
          </a:stretch>
        </p:blipFill>
        <p:spPr>
          <a:xfrm>
            <a:off x="2765985" y="3381628"/>
            <a:ext cx="1371600" cy="927100"/>
          </a:xfrm>
          <a:prstGeom prst="rect">
            <a:avLst/>
          </a:prstGeom>
        </p:spPr>
      </p:pic>
      <p:pic>
        <p:nvPicPr>
          <p:cNvPr id="38" name="Picture 37">
            <a:extLst>
              <a:ext uri="{FF2B5EF4-FFF2-40B4-BE49-F238E27FC236}">
                <a16:creationId xmlns:a16="http://schemas.microsoft.com/office/drawing/2014/main" id="{A631C691-6F79-004F-A6B6-AA4C66B2F430}"/>
              </a:ext>
            </a:extLst>
          </p:cNvPr>
          <p:cNvPicPr>
            <a:picLocks noChangeAspect="1"/>
          </p:cNvPicPr>
          <p:nvPr/>
        </p:nvPicPr>
        <p:blipFill>
          <a:blip r:embed="rId9"/>
          <a:stretch>
            <a:fillRect/>
          </a:stretch>
        </p:blipFill>
        <p:spPr>
          <a:xfrm>
            <a:off x="4542117" y="3397642"/>
            <a:ext cx="723900" cy="838200"/>
          </a:xfrm>
          <a:prstGeom prst="rect">
            <a:avLst/>
          </a:prstGeom>
        </p:spPr>
      </p:pic>
      <p:pic>
        <p:nvPicPr>
          <p:cNvPr id="40" name="Picture 39">
            <a:extLst>
              <a:ext uri="{FF2B5EF4-FFF2-40B4-BE49-F238E27FC236}">
                <a16:creationId xmlns:a16="http://schemas.microsoft.com/office/drawing/2014/main" id="{314751F4-C583-8C48-B6F4-19898A2D577B}"/>
              </a:ext>
            </a:extLst>
          </p:cNvPr>
          <p:cNvPicPr>
            <a:picLocks noChangeAspect="1"/>
          </p:cNvPicPr>
          <p:nvPr/>
        </p:nvPicPr>
        <p:blipFill>
          <a:blip r:embed="rId10"/>
          <a:stretch>
            <a:fillRect/>
          </a:stretch>
        </p:blipFill>
        <p:spPr>
          <a:xfrm>
            <a:off x="7604684" y="4484219"/>
            <a:ext cx="825500" cy="825500"/>
          </a:xfrm>
          <a:prstGeom prst="rect">
            <a:avLst/>
          </a:prstGeom>
        </p:spPr>
      </p:pic>
      <p:pic>
        <p:nvPicPr>
          <p:cNvPr id="42" name="Picture 41">
            <a:extLst>
              <a:ext uri="{FF2B5EF4-FFF2-40B4-BE49-F238E27FC236}">
                <a16:creationId xmlns:a16="http://schemas.microsoft.com/office/drawing/2014/main" id="{79DC0235-9626-AE4C-87B3-ECA679BF5A64}"/>
              </a:ext>
            </a:extLst>
          </p:cNvPr>
          <p:cNvPicPr>
            <a:picLocks noChangeAspect="1"/>
          </p:cNvPicPr>
          <p:nvPr/>
        </p:nvPicPr>
        <p:blipFill>
          <a:blip r:embed="rId11"/>
          <a:stretch>
            <a:fillRect/>
          </a:stretch>
        </p:blipFill>
        <p:spPr>
          <a:xfrm>
            <a:off x="10148793" y="4438301"/>
            <a:ext cx="825500" cy="825500"/>
          </a:xfrm>
          <a:prstGeom prst="rect">
            <a:avLst/>
          </a:prstGeom>
        </p:spPr>
      </p:pic>
      <p:pic>
        <p:nvPicPr>
          <p:cNvPr id="44" name="Picture 43">
            <a:extLst>
              <a:ext uri="{FF2B5EF4-FFF2-40B4-BE49-F238E27FC236}">
                <a16:creationId xmlns:a16="http://schemas.microsoft.com/office/drawing/2014/main" id="{748682A7-DFFE-FB49-AD39-36BCE1A86B87}"/>
              </a:ext>
            </a:extLst>
          </p:cNvPr>
          <p:cNvPicPr>
            <a:picLocks noChangeAspect="1"/>
          </p:cNvPicPr>
          <p:nvPr/>
        </p:nvPicPr>
        <p:blipFill>
          <a:blip r:embed="rId12"/>
          <a:stretch>
            <a:fillRect/>
          </a:stretch>
        </p:blipFill>
        <p:spPr>
          <a:xfrm>
            <a:off x="2279649" y="4454485"/>
            <a:ext cx="825500" cy="825500"/>
          </a:xfrm>
          <a:prstGeom prst="rect">
            <a:avLst/>
          </a:prstGeom>
        </p:spPr>
      </p:pic>
      <p:pic>
        <p:nvPicPr>
          <p:cNvPr id="46" name="Picture 45">
            <a:extLst>
              <a:ext uri="{FF2B5EF4-FFF2-40B4-BE49-F238E27FC236}">
                <a16:creationId xmlns:a16="http://schemas.microsoft.com/office/drawing/2014/main" id="{56CA5A5F-88BC-3E43-85DE-1E06B78F31B3}"/>
              </a:ext>
            </a:extLst>
          </p:cNvPr>
          <p:cNvPicPr>
            <a:picLocks noChangeAspect="1"/>
          </p:cNvPicPr>
          <p:nvPr/>
        </p:nvPicPr>
        <p:blipFill>
          <a:blip r:embed="rId13"/>
          <a:stretch>
            <a:fillRect/>
          </a:stretch>
        </p:blipFill>
        <p:spPr>
          <a:xfrm>
            <a:off x="4942167" y="4453943"/>
            <a:ext cx="825500" cy="825500"/>
          </a:xfrm>
          <a:prstGeom prst="rect">
            <a:avLst/>
          </a:prstGeom>
        </p:spPr>
      </p:pic>
      <p:pic>
        <p:nvPicPr>
          <p:cNvPr id="2" name="Picture 1">
            <a:extLst>
              <a:ext uri="{FF2B5EF4-FFF2-40B4-BE49-F238E27FC236}">
                <a16:creationId xmlns:a16="http://schemas.microsoft.com/office/drawing/2014/main" id="{F4FF9B8E-2191-8E82-B4D8-11122B9C32AC}"/>
              </a:ext>
            </a:extLst>
          </p:cNvPr>
          <p:cNvPicPr>
            <a:picLocks noChangeAspect="1"/>
          </p:cNvPicPr>
          <p:nvPr/>
        </p:nvPicPr>
        <p:blipFill>
          <a:blip r:embed="rId14"/>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B4CFD23F-B14A-23D0-FD3F-E1F2E172B7EA}"/>
              </a:ext>
            </a:extLst>
          </p:cNvPr>
          <p:cNvGrpSpPr/>
          <p:nvPr/>
        </p:nvGrpSpPr>
        <p:grpSpPr>
          <a:xfrm>
            <a:off x="311158" y="6156883"/>
            <a:ext cx="2347678" cy="516168"/>
            <a:chOff x="3486150" y="1040904"/>
            <a:chExt cx="5219896" cy="1147663"/>
          </a:xfrm>
        </p:grpSpPr>
        <p:pic>
          <p:nvPicPr>
            <p:cNvPr id="6" name="Picture 5">
              <a:extLst>
                <a:ext uri="{FF2B5EF4-FFF2-40B4-BE49-F238E27FC236}">
                  <a16:creationId xmlns:a16="http://schemas.microsoft.com/office/drawing/2014/main" id="{59A8C503-7538-CEA2-025E-7ADBDAE65990}"/>
                </a:ext>
              </a:extLst>
            </p:cNvPr>
            <p:cNvPicPr>
              <a:picLocks noChangeAspect="1"/>
            </p:cNvPicPr>
            <p:nvPr/>
          </p:nvPicPr>
          <p:blipFill>
            <a:blip r:embed="rId15"/>
            <a:stretch>
              <a:fillRect/>
            </a:stretch>
          </p:blipFill>
          <p:spPr>
            <a:xfrm>
              <a:off x="3486150" y="1807567"/>
              <a:ext cx="3619500" cy="381000"/>
            </a:xfrm>
            <a:prstGeom prst="rect">
              <a:avLst/>
            </a:prstGeom>
          </p:spPr>
        </p:pic>
        <p:pic>
          <p:nvPicPr>
            <p:cNvPr id="7" name="Picture 6">
              <a:extLst>
                <a:ext uri="{FF2B5EF4-FFF2-40B4-BE49-F238E27FC236}">
                  <a16:creationId xmlns:a16="http://schemas.microsoft.com/office/drawing/2014/main" id="{755777C8-7F31-A94A-E9E9-5317B848FB73}"/>
                </a:ext>
              </a:extLst>
            </p:cNvPr>
            <p:cNvPicPr>
              <a:picLocks noChangeAspect="1"/>
            </p:cNvPicPr>
            <p:nvPr/>
          </p:nvPicPr>
          <p:blipFill>
            <a:blip r:embed="rId16"/>
            <a:stretch>
              <a:fillRect/>
            </a:stretch>
          </p:blipFill>
          <p:spPr>
            <a:xfrm>
              <a:off x="7245546" y="1040904"/>
              <a:ext cx="1460500" cy="1092200"/>
            </a:xfrm>
            <a:prstGeom prst="rect">
              <a:avLst/>
            </a:prstGeom>
          </p:spPr>
        </p:pic>
        <p:pic>
          <p:nvPicPr>
            <p:cNvPr id="9" name="Picture 8">
              <a:extLst>
                <a:ext uri="{FF2B5EF4-FFF2-40B4-BE49-F238E27FC236}">
                  <a16:creationId xmlns:a16="http://schemas.microsoft.com/office/drawing/2014/main" id="{C121EA43-B3B7-C6D3-B510-10592B51CF7E}"/>
                </a:ext>
              </a:extLst>
            </p:cNvPr>
            <p:cNvPicPr>
              <a:picLocks noChangeAspect="1"/>
            </p:cNvPicPr>
            <p:nvPr/>
          </p:nvPicPr>
          <p:blipFill>
            <a:blip r:embed="rId17"/>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610626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65902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3"/>
          <a:stretch>
            <a:fillRect/>
          </a:stretch>
        </p:blipFill>
        <p:spPr>
          <a:xfrm>
            <a:off x="10813190" y="573546"/>
            <a:ext cx="685800" cy="660400"/>
          </a:xfrm>
          <a:prstGeom prst="rect">
            <a:avLst/>
          </a:prstGeom>
        </p:spPr>
      </p:pic>
      <p:sp>
        <p:nvSpPr>
          <p:cNvPr id="6" name="TextBox 5">
            <a:extLst>
              <a:ext uri="{FF2B5EF4-FFF2-40B4-BE49-F238E27FC236}">
                <a16:creationId xmlns:a16="http://schemas.microsoft.com/office/drawing/2014/main" id="{D11C3581-FBF2-564B-9E5F-94C4D30FA62F}"/>
              </a:ext>
            </a:extLst>
          </p:cNvPr>
          <p:cNvSpPr txBox="1"/>
          <p:nvPr/>
        </p:nvSpPr>
        <p:spPr>
          <a:xfrm>
            <a:off x="7074323" y="1593092"/>
            <a:ext cx="4255410" cy="332398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מטרתו: </a:t>
            </a:r>
          </a:p>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יצירת פלטפורמה ל</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חיזוק התיאום ושיתופי הפעולה בין המשרדים המרכזיים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החיוניים להיערכות להזדקנות האוכלוסייה וקידום הזדקנות מיטבית באמצעות פעילות פורום </a:t>
            </a:r>
            <a:r>
              <a:rPr kumimoji="0" lang="he-IL" sz="18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במסגרת זו מתווה מדיניות מכוונת ומאפשרת, מייעץ ונותן גיבוי למהלכי הפורום, מספק מנדט וכלים לניהול והצלחת הפורום, מגדיר מינויים פורמאליים, דואג להקצאות תקציב, </a:t>
            </a:r>
            <a:r>
              <a:rPr kumimoji="0" lang="he-IL" sz="18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לתעדוף</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פעולות במשרד שיאפשרו לפורום להוביל תהליכים וכד'.</a:t>
            </a:r>
          </a:p>
          <a:p>
            <a:pPr marL="0" marR="0" lvl="0" indent="0" algn="r" defTabSz="914400" rtl="1" eaLnBrk="1" fontAlgn="auto" latinLnBrk="0" hangingPunct="1">
              <a:lnSpc>
                <a:spcPts val="23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FD92DEB0-060A-5B41-8A4E-66BEDE5C6F8D}"/>
              </a:ext>
            </a:extLst>
          </p:cNvPr>
          <p:cNvSpPr txBox="1"/>
          <p:nvPr/>
        </p:nvSpPr>
        <p:spPr>
          <a:xfrm>
            <a:off x="3765176" y="1658996"/>
            <a:ext cx="3148984" cy="235256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הרכב: </a:t>
            </a:r>
          </a:p>
          <a:p>
            <a:pPr marL="0" marR="0" lvl="0" indent="0" algn="just"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מנכ"ל משרד הרווחה והבטחון החברתי, מנכ"ל משרד הבריאות, מנכ"ל הביטוח הלאומי, </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משרדי רוה"מ ואוצר</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סמנכ"לי קופ"ח</a:t>
            </a:r>
          </a:p>
          <a:p>
            <a:pPr marL="0" marR="0" lvl="0" indent="0" algn="r" defTabSz="914400" rtl="1" eaLnBrk="1" fontAlgn="auto" latinLnBrk="0" hangingPunct="1">
              <a:lnSpc>
                <a:spcPts val="22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FF0000"/>
                </a:solidFill>
                <a:effectLst/>
                <a:uLnTx/>
                <a:uFillTx/>
                <a:latin typeface="Assistant" pitchFamily="2" charset="-79"/>
                <a:ea typeface="+mn-ea"/>
                <a:cs typeface="Assistant" pitchFamily="2" charset="-79"/>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27BD82DF-0711-3948-8359-74E25D66E3BB}"/>
              </a:ext>
            </a:extLst>
          </p:cNvPr>
          <p:cNvSpPr txBox="1"/>
          <p:nvPr/>
        </p:nvSpPr>
        <p:spPr>
          <a:xfrm>
            <a:off x="625969" y="1658996"/>
            <a:ext cx="2765125" cy="2080057"/>
          </a:xfrm>
          <a:prstGeom prst="rect">
            <a:avLst/>
          </a:prstGeom>
          <a:noFill/>
        </p:spPr>
        <p:txBody>
          <a:bodyPr wrap="square" rtlCol="0">
            <a:spAutoFit/>
          </a:bodyPr>
          <a:lstStyle/>
          <a:p>
            <a:pPr marL="0" marR="0" lvl="0" indent="0" algn="r" defTabSz="914400" rtl="1" eaLnBrk="1" fontAlgn="auto" latinLnBrk="0" hangingPunct="1">
              <a:lnSpc>
                <a:spcPts val="23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אופן פעולתו: </a:t>
            </a:r>
          </a:p>
          <a:p>
            <a:pPr marL="0" marR="0" lvl="0" indent="0" algn="r" defTabSz="914400" rtl="1" eaLnBrk="1" fontAlgn="auto" latinLnBrk="0" hangingPunct="1">
              <a:lnSpc>
                <a:spcPts val="22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התכנסות אחת ל-4 חודשים לקבלת עדכון על התקדמות פעילות הפורום, להכוונה ודיוק העשייה המשותפת ולהסרת חסמים. </a:t>
            </a:r>
          </a:p>
          <a:p>
            <a:pPr marL="0" marR="0" lvl="0" indent="0" algn="r" defTabSz="914400" rtl="1" eaLnBrk="1" fontAlgn="auto" latinLnBrk="0" hangingPunct="1">
              <a:lnSpc>
                <a:spcPts val="23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B14732FC-33A7-244C-AEA6-A361EE87B319}"/>
              </a:ext>
            </a:extLst>
          </p:cNvPr>
          <p:cNvPicPr>
            <a:picLocks noChangeAspect="1"/>
          </p:cNvPicPr>
          <p:nvPr/>
        </p:nvPicPr>
        <p:blipFill>
          <a:blip r:embed="rId4"/>
          <a:stretch>
            <a:fillRect/>
          </a:stretch>
        </p:blipFill>
        <p:spPr>
          <a:xfrm>
            <a:off x="11329732" y="1658996"/>
            <a:ext cx="76200" cy="3124200"/>
          </a:xfrm>
          <a:prstGeom prst="rect">
            <a:avLst/>
          </a:prstGeom>
        </p:spPr>
      </p:pic>
      <p:pic>
        <p:nvPicPr>
          <p:cNvPr id="13" name="Picture 12">
            <a:extLst>
              <a:ext uri="{FF2B5EF4-FFF2-40B4-BE49-F238E27FC236}">
                <a16:creationId xmlns:a16="http://schemas.microsoft.com/office/drawing/2014/main" id="{E0DD45DE-2057-5247-B70E-2B2A5BA09B43}"/>
              </a:ext>
            </a:extLst>
          </p:cNvPr>
          <p:cNvPicPr>
            <a:picLocks noChangeAspect="1"/>
          </p:cNvPicPr>
          <p:nvPr/>
        </p:nvPicPr>
        <p:blipFill>
          <a:blip r:embed="rId5"/>
          <a:stretch>
            <a:fillRect/>
          </a:stretch>
        </p:blipFill>
        <p:spPr>
          <a:xfrm>
            <a:off x="7010823" y="1658996"/>
            <a:ext cx="63500" cy="2362200"/>
          </a:xfrm>
          <a:prstGeom prst="rect">
            <a:avLst/>
          </a:prstGeom>
        </p:spPr>
      </p:pic>
      <p:pic>
        <p:nvPicPr>
          <p:cNvPr id="16" name="Picture 15">
            <a:extLst>
              <a:ext uri="{FF2B5EF4-FFF2-40B4-BE49-F238E27FC236}">
                <a16:creationId xmlns:a16="http://schemas.microsoft.com/office/drawing/2014/main" id="{8DACCDA3-2C82-414C-9965-A7696C6E6EAA}"/>
              </a:ext>
            </a:extLst>
          </p:cNvPr>
          <p:cNvPicPr>
            <a:picLocks noChangeAspect="1"/>
          </p:cNvPicPr>
          <p:nvPr/>
        </p:nvPicPr>
        <p:blipFill>
          <a:blip r:embed="rId6"/>
          <a:stretch>
            <a:fillRect/>
          </a:stretch>
        </p:blipFill>
        <p:spPr>
          <a:xfrm>
            <a:off x="3462000" y="1658996"/>
            <a:ext cx="63500" cy="1816100"/>
          </a:xfrm>
          <a:prstGeom prst="rect">
            <a:avLst/>
          </a:prstGeom>
        </p:spPr>
      </p:pic>
      <p:pic>
        <p:nvPicPr>
          <p:cNvPr id="2" name="Picture 2">
            <a:extLst>
              <a:ext uri="{FF2B5EF4-FFF2-40B4-BE49-F238E27FC236}">
                <a16:creationId xmlns:a16="http://schemas.microsoft.com/office/drawing/2014/main" id="{387A150D-1924-6374-BA1C-8D82F4253CC4}"/>
              </a:ext>
            </a:extLst>
          </p:cNvPr>
          <p:cNvPicPr>
            <a:picLocks noChangeAspect="1"/>
          </p:cNvPicPr>
          <p:nvPr/>
        </p:nvPicPr>
        <p:blipFill>
          <a:blip r:embed="rId7"/>
          <a:stretch>
            <a:fillRect/>
          </a:stretch>
        </p:blipFill>
        <p:spPr>
          <a:xfrm>
            <a:off x="10803641" y="477130"/>
            <a:ext cx="743054" cy="704948"/>
          </a:xfrm>
          <a:prstGeom prst="rect">
            <a:avLst/>
          </a:prstGeom>
        </p:spPr>
      </p:pic>
      <p:sp>
        <p:nvSpPr>
          <p:cNvPr id="3" name="Rectangle: Rounded Corners 2">
            <a:extLst>
              <a:ext uri="{FF2B5EF4-FFF2-40B4-BE49-F238E27FC236}">
                <a16:creationId xmlns:a16="http://schemas.microsoft.com/office/drawing/2014/main" id="{9C88316E-7229-070E-EFEB-043FA49C0A5F}"/>
              </a:ext>
            </a:extLst>
          </p:cNvPr>
          <p:cNvSpPr/>
          <p:nvPr/>
        </p:nvSpPr>
        <p:spPr>
          <a:xfrm rot="19859929">
            <a:off x="309703" y="681463"/>
            <a:ext cx="2294600" cy="457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 name="TextBox 1">
            <a:extLst>
              <a:ext uri="{FF2B5EF4-FFF2-40B4-BE49-F238E27FC236}">
                <a16:creationId xmlns:a16="http://schemas.microsoft.com/office/drawing/2014/main" id="{1ECE3A6A-C4A7-7B81-D787-8CAB9A2FD41D}"/>
              </a:ext>
            </a:extLst>
          </p:cNvPr>
          <p:cNvSpPr txBox="1"/>
          <p:nvPr/>
        </p:nvSpPr>
        <p:spPr>
          <a:xfrm rot="19844692">
            <a:off x="389652" y="719657"/>
            <a:ext cx="2111475" cy="369332"/>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בתהליכי חשיבה ופיתוח</a:t>
            </a:r>
          </a:p>
        </p:txBody>
      </p:sp>
    </p:spTree>
    <p:extLst>
      <p:ext uri="{BB962C8B-B14F-4D97-AF65-F5344CB8AC3E}">
        <p14:creationId xmlns:p14="http://schemas.microsoft.com/office/powerpoint/2010/main" val="357855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668572" y="414953"/>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CBFDB667-2B7C-E142-BCA5-3216516F1868}"/>
              </a:ext>
            </a:extLst>
          </p:cNvPr>
          <p:cNvSpPr txBox="1"/>
          <p:nvPr/>
        </p:nvSpPr>
        <p:spPr>
          <a:xfrm>
            <a:off x="1066800" y="1587814"/>
            <a:ext cx="10560618" cy="36933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ברמת אסטרטגיה:</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יריב מן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סמנכ"ל בכיר ראש מנהל אזרחים ותיקים, משרד הרווחה והבטחון החברתי</a:t>
            </a:r>
          </a:p>
          <a:p>
            <a:pPr lvl="0"/>
            <a:r>
              <a:rPr lang="he-IL" b="1" dirty="0" err="1">
                <a:solidFill>
                  <a:srgbClr val="4472C4">
                    <a:lumMod val="75000"/>
                  </a:srgbClr>
                </a:solidFill>
                <a:latin typeface="Assistant" pitchFamily="2" charset="-79"/>
                <a:cs typeface="Assistant" pitchFamily="2" charset="-79"/>
              </a:rPr>
              <a:t>ירונה</a:t>
            </a:r>
            <a:r>
              <a:rPr lang="he-IL" b="1" dirty="0">
                <a:solidFill>
                  <a:srgbClr val="4472C4">
                    <a:lumMod val="75000"/>
                  </a:srgbClr>
                </a:solidFill>
                <a:latin typeface="Assistant" pitchFamily="2" charset="-79"/>
                <a:cs typeface="Assistant" pitchFamily="2" charset="-79"/>
              </a:rPr>
              <a:t> שלום-</a:t>
            </a:r>
            <a:r>
              <a:rPr lang="he-IL" dirty="0">
                <a:solidFill>
                  <a:srgbClr val="4472C4">
                    <a:lumMod val="75000"/>
                  </a:srgbClr>
                </a:solidFill>
                <a:latin typeface="Assistant" pitchFamily="2" charset="-79"/>
                <a:cs typeface="Assistant" pitchFamily="2" charset="-79"/>
              </a:rPr>
              <a:t> סמנכ"ל גמלאות הביטוח הלאומי</a:t>
            </a:r>
          </a:p>
          <a:p>
            <a:pPr lvl="0"/>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איילת גרינבאום </a:t>
            </a:r>
            <a:r>
              <a:rPr kumimoji="0" lang="he-IL" sz="1800" b="1"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אריזון</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סמנכ"ל אסטרטגיה, משרד הבריאות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ברמת ניהול הפורום: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sng"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אביעד יצחקי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ראש אגף תכנון מדיניות הזדקנות האוכלוסייה, משרד הרווחה והבטחון החברתי (</a:t>
            </a:r>
            <a:r>
              <a:rPr kumimoji="0" lang="he-IL" sz="1800" b="0"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מתכלל</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פעילות הפורום)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נטלי גבאי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מנהלת אגף סיעוד, הביטוח הלאומי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רויטל גרוס-נבו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מנהלת המחלקה לשירותי קהילה אגף גריאטריה, משרד הבריאות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Rubik" pitchFamily="2" charset="-79"/>
                <a:ea typeface="+mn-ea"/>
                <a:cs typeface="Rubik" pitchFamily="2" charset="-79"/>
              </a:rPr>
              <a:t> </a:t>
            </a: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10813191" y="516928"/>
            <a:ext cx="814228" cy="596132"/>
          </a:xfrm>
          <a:prstGeom prst="rect">
            <a:avLst/>
          </a:prstGeom>
        </p:spPr>
      </p:pic>
    </p:spTree>
    <p:extLst>
      <p:ext uri="{BB962C8B-B14F-4D97-AF65-F5344CB8AC3E}">
        <p14:creationId xmlns:p14="http://schemas.microsoft.com/office/powerpoint/2010/main" val="1726105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6570041" y="536492"/>
            <a:ext cx="4144618" cy="1343958"/>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 מניעת</a:t>
            </a:r>
            <a:br>
              <a:rPr kumimoji="0" lang="en-US"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מטרות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cxnSp>
        <p:nvCxnSpPr>
          <p:cNvPr id="11" name="Straight Connector 10">
            <a:extLst>
              <a:ext uri="{FF2B5EF4-FFF2-40B4-BE49-F238E27FC236}">
                <a16:creationId xmlns:a16="http://schemas.microsoft.com/office/drawing/2014/main" id="{B6D8CE75-17A1-8F48-A7FF-5AB7F9CF8CE5}"/>
              </a:ext>
            </a:extLst>
          </p:cNvPr>
          <p:cNvCxnSpPr/>
          <p:nvPr/>
        </p:nvCxnSpPr>
        <p:spPr>
          <a:xfrm>
            <a:off x="8768080" y="2062480"/>
            <a:ext cx="0" cy="1747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8768080" y="4236720"/>
            <a:ext cx="0" cy="985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A8BB43B-5B82-2041-B651-4C6389A00A3C}"/>
              </a:ext>
            </a:extLst>
          </p:cNvPr>
          <p:cNvCxnSpPr>
            <a:cxnSpLocks/>
          </p:cNvCxnSpPr>
          <p:nvPr/>
        </p:nvCxnSpPr>
        <p:spPr>
          <a:xfrm flipH="1">
            <a:off x="595376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ADBAE75-2EED-6B4F-86AB-51CF2F39B618}"/>
              </a:ext>
            </a:extLst>
          </p:cNvPr>
          <p:cNvCxnSpPr>
            <a:cxnSpLocks/>
          </p:cNvCxnSpPr>
          <p:nvPr/>
        </p:nvCxnSpPr>
        <p:spPr>
          <a:xfrm flipH="1">
            <a:off x="908304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CFA96DF-7B40-2948-B8D4-EDF7E0AB793D}"/>
              </a:ext>
            </a:extLst>
          </p:cNvPr>
          <p:cNvSpPr txBox="1"/>
          <p:nvPr/>
        </p:nvSpPr>
        <p:spPr>
          <a:xfrm>
            <a:off x="9281160" y="1952115"/>
            <a:ext cx="2214880" cy="12003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לייצר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תפיסה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רב מערכתית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משותפת</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לשימור תפקוד ומניעת הדרדרות</a:t>
            </a:r>
            <a:endParaRPr kumimoji="0" lang="en-US"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p:txBody>
      </p:sp>
      <p:sp>
        <p:nvSpPr>
          <p:cNvPr id="27" name="TextBox 26">
            <a:extLst>
              <a:ext uri="{FF2B5EF4-FFF2-40B4-BE49-F238E27FC236}">
                <a16:creationId xmlns:a16="http://schemas.microsoft.com/office/drawing/2014/main" id="{41E3B1BD-26C8-FB4D-BD83-545959E4F316}"/>
              </a:ext>
            </a:extLst>
          </p:cNvPr>
          <p:cNvSpPr txBox="1"/>
          <p:nvPr/>
        </p:nvSpPr>
        <p:spPr>
          <a:xfrm>
            <a:off x="5763259" y="1952115"/>
            <a:ext cx="2730501" cy="1772986"/>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לקדם יישום והתאמות של התפיסה במערכות השונות תוך יצירת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ממשקי עבודה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ושיתופי פעולה בין מערכתיים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בנושאי הליבה למניעת התדרדרות</a:t>
            </a:r>
            <a:endParaRPr kumimoji="0" lang="en-US"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endParaRPr>
          </a:p>
        </p:txBody>
      </p:sp>
      <p:sp>
        <p:nvSpPr>
          <p:cNvPr id="28" name="TextBox 27">
            <a:extLst>
              <a:ext uri="{FF2B5EF4-FFF2-40B4-BE49-F238E27FC236}">
                <a16:creationId xmlns:a16="http://schemas.microsoft.com/office/drawing/2014/main" id="{7AF2F6B5-D981-AD47-A677-3101F24EFE7E}"/>
              </a:ext>
            </a:extLst>
          </p:cNvPr>
          <p:cNvSpPr txBox="1"/>
          <p:nvPr/>
        </p:nvSpPr>
        <p:spPr>
          <a:xfrm>
            <a:off x="8768081" y="4166995"/>
            <a:ext cx="2865120" cy="9289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להוביל</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יחד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שינוי במדיניות</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במערכות ובמנגנון לטובת מניעת הדרדרות והזדקנות מיטבית</a:t>
            </a:r>
          </a:p>
        </p:txBody>
      </p:sp>
      <p:sp>
        <p:nvSpPr>
          <p:cNvPr id="32" name="TextBox 31">
            <a:extLst>
              <a:ext uri="{FF2B5EF4-FFF2-40B4-BE49-F238E27FC236}">
                <a16:creationId xmlns:a16="http://schemas.microsoft.com/office/drawing/2014/main" id="{BA977E22-D0B8-9141-963D-143ECEC75593}"/>
              </a:ext>
            </a:extLst>
          </p:cNvPr>
          <p:cNvSpPr txBox="1"/>
          <p:nvPr/>
        </p:nvSpPr>
        <p:spPr>
          <a:xfrm>
            <a:off x="5648961" y="4166995"/>
            <a:ext cx="286512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לפעול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לפיתוח כלי מדידה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ותמריצים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שיובילו למניעת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הדרדרות</a:t>
            </a:r>
          </a:p>
        </p:txBody>
      </p:sp>
      <p:pic>
        <p:nvPicPr>
          <p:cNvPr id="2" name="Picture 1">
            <a:extLst>
              <a:ext uri="{FF2B5EF4-FFF2-40B4-BE49-F238E27FC236}">
                <a16:creationId xmlns:a16="http://schemas.microsoft.com/office/drawing/2014/main" id="{16156166-DD95-1F29-9271-9719870DD948}"/>
              </a:ext>
            </a:extLst>
          </p:cNvPr>
          <p:cNvPicPr>
            <a:picLocks noChangeAspect="1"/>
          </p:cNvPicPr>
          <p:nvPr/>
        </p:nvPicPr>
        <p:blipFill>
          <a:blip r:embed="rId4"/>
          <a:srcRect b="18669"/>
          <a:stretch/>
        </p:blipFill>
        <p:spPr>
          <a:xfrm flipH="1">
            <a:off x="178129" y="2062480"/>
            <a:ext cx="5561795" cy="2896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0E66BD4-83AE-1DA8-6D2E-EAB035A2E557}"/>
              </a:ext>
            </a:extLst>
          </p:cNvPr>
          <p:cNvPicPr>
            <a:picLocks noChangeAspect="1"/>
          </p:cNvPicPr>
          <p:nvPr/>
        </p:nvPicPr>
        <p:blipFill>
          <a:blip r:embed="rId5"/>
          <a:stretch>
            <a:fillRect/>
          </a:stretch>
        </p:blipFill>
        <p:spPr>
          <a:xfrm>
            <a:off x="0" y="5951291"/>
            <a:ext cx="12192000" cy="910606"/>
          </a:xfrm>
          <a:prstGeom prst="rect">
            <a:avLst/>
          </a:prstGeom>
        </p:spPr>
      </p:pic>
      <p:grpSp>
        <p:nvGrpSpPr>
          <p:cNvPr id="3" name="Group 2">
            <a:extLst>
              <a:ext uri="{FF2B5EF4-FFF2-40B4-BE49-F238E27FC236}">
                <a16:creationId xmlns:a16="http://schemas.microsoft.com/office/drawing/2014/main" id="{E5DB1C75-3E94-65B4-ADD8-8FD62335EFBA}"/>
              </a:ext>
            </a:extLst>
          </p:cNvPr>
          <p:cNvGrpSpPr/>
          <p:nvPr/>
        </p:nvGrpSpPr>
        <p:grpSpPr>
          <a:xfrm>
            <a:off x="348955" y="6123565"/>
            <a:ext cx="2347678" cy="516168"/>
            <a:chOff x="3486150" y="1040904"/>
            <a:chExt cx="5219896" cy="1147663"/>
          </a:xfrm>
        </p:grpSpPr>
        <p:pic>
          <p:nvPicPr>
            <p:cNvPr id="4" name="Picture 3">
              <a:extLst>
                <a:ext uri="{FF2B5EF4-FFF2-40B4-BE49-F238E27FC236}">
                  <a16:creationId xmlns:a16="http://schemas.microsoft.com/office/drawing/2014/main" id="{169119FA-2017-5C2E-4333-9FBEE5E6AAD2}"/>
                </a:ext>
              </a:extLst>
            </p:cNvPr>
            <p:cNvPicPr>
              <a:picLocks noChangeAspect="1"/>
            </p:cNvPicPr>
            <p:nvPr/>
          </p:nvPicPr>
          <p:blipFill>
            <a:blip r:embed="rId6"/>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0B44BD4C-AF63-C51D-570B-FFE7FB6C4D9A}"/>
                </a:ext>
              </a:extLst>
            </p:cNvPr>
            <p:cNvPicPr>
              <a:picLocks noChangeAspect="1"/>
            </p:cNvPicPr>
            <p:nvPr/>
          </p:nvPicPr>
          <p:blipFill>
            <a:blip r:embed="rId7"/>
            <a:stretch>
              <a:fillRect/>
            </a:stretch>
          </p:blipFill>
          <p:spPr>
            <a:xfrm>
              <a:off x="7245546" y="1040904"/>
              <a:ext cx="1460500" cy="1092200"/>
            </a:xfrm>
            <a:prstGeom prst="rect">
              <a:avLst/>
            </a:prstGeom>
          </p:spPr>
        </p:pic>
        <p:pic>
          <p:nvPicPr>
            <p:cNvPr id="7" name="Picture 6">
              <a:extLst>
                <a:ext uri="{FF2B5EF4-FFF2-40B4-BE49-F238E27FC236}">
                  <a16:creationId xmlns:a16="http://schemas.microsoft.com/office/drawing/2014/main" id="{7CCCBBAB-8D00-B55C-DF72-2F2D758DD897}"/>
                </a:ext>
              </a:extLst>
            </p:cNvPr>
            <p:cNvPicPr>
              <a:picLocks noChangeAspect="1"/>
            </p:cNvPicPr>
            <p:nvPr/>
          </p:nvPicPr>
          <p:blipFill>
            <a:blip r:embed="rId8"/>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3399291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4331AFB2-6514-7233-B565-6BC88F0C0899}"/>
              </a:ext>
            </a:extLst>
          </p:cNvPr>
          <p:cNvPicPr>
            <a:picLocks noChangeAspect="1"/>
          </p:cNvPicPr>
          <p:nvPr/>
        </p:nvPicPr>
        <p:blipFill>
          <a:blip r:embed="rId2"/>
          <a:stretch>
            <a:fillRect/>
          </a:stretch>
        </p:blipFill>
        <p:spPr>
          <a:xfrm>
            <a:off x="4482506" y="4104736"/>
            <a:ext cx="1079598" cy="2794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338320" y="650973"/>
            <a:ext cx="6376339" cy="85664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הצוות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4"/>
          <a:stretch>
            <a:fillRect/>
          </a:stretch>
        </p:blipFill>
        <p:spPr>
          <a:xfrm>
            <a:off x="10714659" y="455211"/>
            <a:ext cx="898221" cy="898221"/>
          </a:xfrm>
          <a:prstGeom prst="rect">
            <a:avLst/>
          </a:prstGeom>
        </p:spPr>
      </p:pic>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9168503" y="1709989"/>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AF2F6B5-D981-AD47-A677-3101F24EFE7E}"/>
              </a:ext>
            </a:extLst>
          </p:cNvPr>
          <p:cNvSpPr txBox="1"/>
          <p:nvPr/>
        </p:nvSpPr>
        <p:spPr>
          <a:xfrm>
            <a:off x="9179858" y="2207231"/>
            <a:ext cx="2589646" cy="26217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25 משתתפים ממגוון גופים: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משרד הבריאות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הביטוח הלאומי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כל קופות החולים-כללית, מכבי, מאוחדת ולאומית</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עיריית תל אביב</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עיריית ירושלים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sp>
        <p:nvSpPr>
          <p:cNvPr id="32" name="TextBox 31">
            <a:extLst>
              <a:ext uri="{FF2B5EF4-FFF2-40B4-BE49-F238E27FC236}">
                <a16:creationId xmlns:a16="http://schemas.microsoft.com/office/drawing/2014/main" id="{BA977E22-D0B8-9141-963D-143ECEC75593}"/>
              </a:ext>
            </a:extLst>
          </p:cNvPr>
          <p:cNvSpPr txBox="1"/>
          <p:nvPr/>
        </p:nvSpPr>
        <p:spPr>
          <a:xfrm>
            <a:off x="-298681" y="2179269"/>
            <a:ext cx="2865120"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הדס ברזילי-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cxnSp>
        <p:nvCxnSpPr>
          <p:cNvPr id="17" name="Straight Connector 16">
            <a:extLst>
              <a:ext uri="{FF2B5EF4-FFF2-40B4-BE49-F238E27FC236}">
                <a16:creationId xmlns:a16="http://schemas.microsoft.com/office/drawing/2014/main" id="{B6AA4E61-B9F6-5940-A159-1B63C5FBC18C}"/>
              </a:ext>
            </a:extLst>
          </p:cNvPr>
          <p:cNvCxnSpPr>
            <a:cxnSpLocks/>
          </p:cNvCxnSpPr>
          <p:nvPr/>
        </p:nvCxnSpPr>
        <p:spPr>
          <a:xfrm>
            <a:off x="2691204" y="1776862"/>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BD65D2-4724-C447-B769-99F9D8113D49}"/>
              </a:ext>
            </a:extLst>
          </p:cNvPr>
          <p:cNvSpPr txBox="1"/>
          <p:nvPr/>
        </p:nvSpPr>
        <p:spPr>
          <a:xfrm>
            <a:off x="-298681" y="3497551"/>
            <a:ext cx="2865120"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חיים פרג-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endPar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6BBE41F2-35DE-4B44-AC31-3345C0A17D08}"/>
              </a:ext>
            </a:extLst>
          </p:cNvPr>
          <p:cNvSpPr txBox="1"/>
          <p:nvPr/>
        </p:nvSpPr>
        <p:spPr>
          <a:xfrm>
            <a:off x="5394615" y="2139206"/>
            <a:ext cx="3332480"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נטלי גבאי -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אגף סיעוד, הביטוח הלאומי</a:t>
            </a:r>
          </a:p>
        </p:txBody>
      </p:sp>
      <p:sp>
        <p:nvSpPr>
          <p:cNvPr id="23" name="TextBox 22">
            <a:extLst>
              <a:ext uri="{FF2B5EF4-FFF2-40B4-BE49-F238E27FC236}">
                <a16:creationId xmlns:a16="http://schemas.microsoft.com/office/drawing/2014/main" id="{6B4375C9-4EE1-FF4E-B103-F145901B862A}"/>
              </a:ext>
            </a:extLst>
          </p:cNvPr>
          <p:cNvSpPr txBox="1"/>
          <p:nvPr/>
        </p:nvSpPr>
        <p:spPr>
          <a:xfrm>
            <a:off x="5394615" y="2850406"/>
            <a:ext cx="333248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רויטל גרוס-נבו - </a:t>
            </a:r>
            <a:br>
              <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המחלקה לשירותי קהילה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אגף גריאטריה, משרד הבריאות </a:t>
            </a:r>
          </a:p>
        </p:txBody>
      </p:sp>
      <p:sp>
        <p:nvSpPr>
          <p:cNvPr id="24" name="TextBox 23">
            <a:extLst>
              <a:ext uri="{FF2B5EF4-FFF2-40B4-BE49-F238E27FC236}">
                <a16:creationId xmlns:a16="http://schemas.microsoft.com/office/drawing/2014/main" id="{303030E7-D073-E748-B5A8-97067DB4FD91}"/>
              </a:ext>
            </a:extLst>
          </p:cNvPr>
          <p:cNvSpPr txBox="1"/>
          <p:nvPr/>
        </p:nvSpPr>
        <p:spPr>
          <a:xfrm>
            <a:off x="5599959" y="3876566"/>
            <a:ext cx="3127135" cy="12087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אביעד יצחקי -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ראש אגף תכנון מדיניות הזדקנות האוכלוסייה, 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p>
        </p:txBody>
      </p:sp>
      <p:pic>
        <p:nvPicPr>
          <p:cNvPr id="8" name="Picture 7">
            <a:extLst>
              <a:ext uri="{FF2B5EF4-FFF2-40B4-BE49-F238E27FC236}">
                <a16:creationId xmlns:a16="http://schemas.microsoft.com/office/drawing/2014/main" id="{B6FAB919-8027-3D42-A230-5A08414FB44D}"/>
              </a:ext>
            </a:extLst>
          </p:cNvPr>
          <p:cNvPicPr>
            <a:picLocks noChangeAspect="1"/>
          </p:cNvPicPr>
          <p:nvPr/>
        </p:nvPicPr>
        <p:blipFill>
          <a:blip r:embed="rId5"/>
          <a:stretch>
            <a:fillRect/>
          </a:stretch>
        </p:blipFill>
        <p:spPr>
          <a:xfrm>
            <a:off x="8860549" y="2281451"/>
            <a:ext cx="127000" cy="127000"/>
          </a:xfrm>
          <a:prstGeom prst="rect">
            <a:avLst/>
          </a:prstGeom>
        </p:spPr>
      </p:pic>
      <p:pic>
        <p:nvPicPr>
          <p:cNvPr id="26" name="Picture 25">
            <a:extLst>
              <a:ext uri="{FF2B5EF4-FFF2-40B4-BE49-F238E27FC236}">
                <a16:creationId xmlns:a16="http://schemas.microsoft.com/office/drawing/2014/main" id="{4EBAF1ED-98D9-7844-8442-7DB6251F8237}"/>
              </a:ext>
            </a:extLst>
          </p:cNvPr>
          <p:cNvPicPr>
            <a:picLocks noChangeAspect="1"/>
          </p:cNvPicPr>
          <p:nvPr/>
        </p:nvPicPr>
        <p:blipFill>
          <a:blip r:embed="rId5"/>
          <a:stretch>
            <a:fillRect/>
          </a:stretch>
        </p:blipFill>
        <p:spPr>
          <a:xfrm>
            <a:off x="8859661" y="2951301"/>
            <a:ext cx="127000" cy="127000"/>
          </a:xfrm>
          <a:prstGeom prst="rect">
            <a:avLst/>
          </a:prstGeom>
        </p:spPr>
      </p:pic>
      <p:pic>
        <p:nvPicPr>
          <p:cNvPr id="29" name="Picture 28">
            <a:extLst>
              <a:ext uri="{FF2B5EF4-FFF2-40B4-BE49-F238E27FC236}">
                <a16:creationId xmlns:a16="http://schemas.microsoft.com/office/drawing/2014/main" id="{22FE1571-44CE-6A4A-BDD2-B0A88C15F7BA}"/>
              </a:ext>
            </a:extLst>
          </p:cNvPr>
          <p:cNvPicPr>
            <a:picLocks noChangeAspect="1"/>
          </p:cNvPicPr>
          <p:nvPr/>
        </p:nvPicPr>
        <p:blipFill>
          <a:blip r:embed="rId5"/>
          <a:stretch>
            <a:fillRect/>
          </a:stretch>
        </p:blipFill>
        <p:spPr>
          <a:xfrm>
            <a:off x="8863146" y="3962328"/>
            <a:ext cx="127000" cy="127000"/>
          </a:xfrm>
          <a:prstGeom prst="rect">
            <a:avLst/>
          </a:prstGeom>
        </p:spPr>
      </p:pic>
      <p:pic>
        <p:nvPicPr>
          <p:cNvPr id="12" name="Picture 11">
            <a:extLst>
              <a:ext uri="{FF2B5EF4-FFF2-40B4-BE49-F238E27FC236}">
                <a16:creationId xmlns:a16="http://schemas.microsoft.com/office/drawing/2014/main" id="{7F3F9D7F-9379-8A4C-BF8F-76477A823933}"/>
              </a:ext>
            </a:extLst>
          </p:cNvPr>
          <p:cNvPicPr>
            <a:picLocks noChangeAspect="1"/>
          </p:cNvPicPr>
          <p:nvPr/>
        </p:nvPicPr>
        <p:blipFill>
          <a:blip r:embed="rId2"/>
          <a:stretch>
            <a:fillRect/>
          </a:stretch>
        </p:blipFill>
        <p:spPr>
          <a:xfrm>
            <a:off x="7266839" y="1797764"/>
            <a:ext cx="1738337" cy="279400"/>
          </a:xfrm>
          <a:prstGeom prst="rect">
            <a:avLst/>
          </a:prstGeom>
        </p:spPr>
      </p:pic>
      <p:pic>
        <p:nvPicPr>
          <p:cNvPr id="30" name="Picture 29">
            <a:extLst>
              <a:ext uri="{FF2B5EF4-FFF2-40B4-BE49-F238E27FC236}">
                <a16:creationId xmlns:a16="http://schemas.microsoft.com/office/drawing/2014/main" id="{CF2E2E5D-66CB-FD44-9E9F-A4D2201826ED}"/>
              </a:ext>
            </a:extLst>
          </p:cNvPr>
          <p:cNvPicPr>
            <a:picLocks noChangeAspect="1"/>
          </p:cNvPicPr>
          <p:nvPr/>
        </p:nvPicPr>
        <p:blipFill>
          <a:blip r:embed="rId2"/>
          <a:stretch>
            <a:fillRect/>
          </a:stretch>
        </p:blipFill>
        <p:spPr>
          <a:xfrm>
            <a:off x="10003536" y="1814673"/>
            <a:ext cx="1482304" cy="279400"/>
          </a:xfrm>
          <a:prstGeom prst="rect">
            <a:avLst/>
          </a:prstGeom>
        </p:spPr>
      </p:pic>
      <p:pic>
        <p:nvPicPr>
          <p:cNvPr id="31" name="Picture 30">
            <a:extLst>
              <a:ext uri="{FF2B5EF4-FFF2-40B4-BE49-F238E27FC236}">
                <a16:creationId xmlns:a16="http://schemas.microsoft.com/office/drawing/2014/main" id="{D2BBFFB3-878F-294E-98C4-9638BB7885F9}"/>
              </a:ext>
            </a:extLst>
          </p:cNvPr>
          <p:cNvPicPr>
            <a:picLocks noChangeAspect="1"/>
          </p:cNvPicPr>
          <p:nvPr/>
        </p:nvPicPr>
        <p:blipFill>
          <a:blip r:embed="rId2"/>
          <a:stretch>
            <a:fillRect/>
          </a:stretch>
        </p:blipFill>
        <p:spPr>
          <a:xfrm>
            <a:off x="868631" y="1832328"/>
            <a:ext cx="1628608" cy="279400"/>
          </a:xfrm>
          <a:prstGeom prst="rect">
            <a:avLst/>
          </a:prstGeom>
        </p:spPr>
      </p:pic>
      <p:pic>
        <p:nvPicPr>
          <p:cNvPr id="33" name="Picture 32">
            <a:extLst>
              <a:ext uri="{FF2B5EF4-FFF2-40B4-BE49-F238E27FC236}">
                <a16:creationId xmlns:a16="http://schemas.microsoft.com/office/drawing/2014/main" id="{C172C75D-299A-DB47-8645-BA88B9285CAD}"/>
              </a:ext>
            </a:extLst>
          </p:cNvPr>
          <p:cNvPicPr>
            <a:picLocks noChangeAspect="1"/>
          </p:cNvPicPr>
          <p:nvPr/>
        </p:nvPicPr>
        <p:blipFill>
          <a:blip r:embed="rId2"/>
          <a:stretch>
            <a:fillRect/>
          </a:stretch>
        </p:blipFill>
        <p:spPr>
          <a:xfrm>
            <a:off x="1156977" y="3177423"/>
            <a:ext cx="1333967" cy="279400"/>
          </a:xfrm>
          <a:prstGeom prst="rect">
            <a:avLst/>
          </a:prstGeom>
        </p:spPr>
      </p:pic>
      <p:sp>
        <p:nvSpPr>
          <p:cNvPr id="34" name="TextBox 33">
            <a:extLst>
              <a:ext uri="{FF2B5EF4-FFF2-40B4-BE49-F238E27FC236}">
                <a16:creationId xmlns:a16="http://schemas.microsoft.com/office/drawing/2014/main" id="{306E2FC3-9D81-344A-B127-781A9E1D3DD5}"/>
              </a:ext>
            </a:extLst>
          </p:cNvPr>
          <p:cNvSpPr txBox="1"/>
          <p:nvPr/>
        </p:nvSpPr>
        <p:spPr>
          <a:xfrm>
            <a:off x="9777496" y="1764057"/>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הרכב הצוות: </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5" name="TextBox 34">
            <a:extLst>
              <a:ext uri="{FF2B5EF4-FFF2-40B4-BE49-F238E27FC236}">
                <a16:creationId xmlns:a16="http://schemas.microsoft.com/office/drawing/2014/main" id="{4ED89E95-E24E-4346-A5C9-F898120FF507}"/>
              </a:ext>
            </a:extLst>
          </p:cNvPr>
          <p:cNvSpPr txBox="1"/>
          <p:nvPr/>
        </p:nvSpPr>
        <p:spPr>
          <a:xfrm>
            <a:off x="7205575" y="1776863"/>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err="1">
                <a:ln>
                  <a:noFill/>
                </a:ln>
                <a:solidFill>
                  <a:prstClr val="white"/>
                </a:solidFill>
                <a:effectLst/>
                <a:uLnTx/>
                <a:uFillTx/>
                <a:latin typeface="Rubik" pitchFamily="2" charset="-79"/>
                <a:ea typeface="+mn-ea"/>
                <a:cs typeface="Rubik" pitchFamily="2" charset="-79"/>
              </a:rPr>
              <a:t>מנהל.ות</a:t>
            </a: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 הצוות:</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6" name="TextBox 35">
            <a:extLst>
              <a:ext uri="{FF2B5EF4-FFF2-40B4-BE49-F238E27FC236}">
                <a16:creationId xmlns:a16="http://schemas.microsoft.com/office/drawing/2014/main" id="{1B531E76-132D-A54B-A846-4CC83B009D6D}"/>
              </a:ext>
            </a:extLst>
          </p:cNvPr>
          <p:cNvSpPr txBox="1"/>
          <p:nvPr/>
        </p:nvSpPr>
        <p:spPr>
          <a:xfrm>
            <a:off x="673219" y="1797764"/>
            <a:ext cx="1721348" cy="356508"/>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מלוות התהליך:</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7" name="TextBox 36">
            <a:extLst>
              <a:ext uri="{FF2B5EF4-FFF2-40B4-BE49-F238E27FC236}">
                <a16:creationId xmlns:a16="http://schemas.microsoft.com/office/drawing/2014/main" id="{953C3461-7FA1-4442-A7E0-7BC5C82593C1}"/>
              </a:ext>
            </a:extLst>
          </p:cNvPr>
          <p:cNvSpPr txBox="1"/>
          <p:nvPr/>
        </p:nvSpPr>
        <p:spPr>
          <a:xfrm>
            <a:off x="792075" y="3136694"/>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רכז הפורום:</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cxnSp>
        <p:nvCxnSpPr>
          <p:cNvPr id="2" name="Straight Connector 1">
            <a:extLst>
              <a:ext uri="{FF2B5EF4-FFF2-40B4-BE49-F238E27FC236}">
                <a16:creationId xmlns:a16="http://schemas.microsoft.com/office/drawing/2014/main" id="{B46018E9-F0F4-F7A5-3B6D-CF38BAAD8455}"/>
              </a:ext>
            </a:extLst>
          </p:cNvPr>
          <p:cNvCxnSpPr>
            <a:cxnSpLocks/>
          </p:cNvCxnSpPr>
          <p:nvPr/>
        </p:nvCxnSpPr>
        <p:spPr>
          <a:xfrm>
            <a:off x="5729593" y="1782315"/>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1C6223C-A462-2E40-3B3E-9BE2F8E4CC1C}"/>
              </a:ext>
            </a:extLst>
          </p:cNvPr>
          <p:cNvPicPr>
            <a:picLocks noChangeAspect="1"/>
          </p:cNvPicPr>
          <p:nvPr/>
        </p:nvPicPr>
        <p:blipFill>
          <a:blip r:embed="rId2"/>
          <a:stretch>
            <a:fillRect/>
          </a:stretch>
        </p:blipFill>
        <p:spPr>
          <a:xfrm>
            <a:off x="3440083" y="1847000"/>
            <a:ext cx="1876539" cy="279400"/>
          </a:xfrm>
          <a:prstGeom prst="rect">
            <a:avLst/>
          </a:prstGeom>
        </p:spPr>
      </p:pic>
      <p:sp>
        <p:nvSpPr>
          <p:cNvPr id="11" name="TextBox 10">
            <a:extLst>
              <a:ext uri="{FF2B5EF4-FFF2-40B4-BE49-F238E27FC236}">
                <a16:creationId xmlns:a16="http://schemas.microsoft.com/office/drawing/2014/main" id="{B5A4CC0F-C8D2-8A7C-B5B3-AA83E67B6203}"/>
              </a:ext>
            </a:extLst>
          </p:cNvPr>
          <p:cNvSpPr txBox="1"/>
          <p:nvPr/>
        </p:nvSpPr>
        <p:spPr>
          <a:xfrm>
            <a:off x="3362391" y="1782315"/>
            <a:ext cx="1972015"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Calibri" panose="020F0502020204030204"/>
                <a:ea typeface="+mn-ea"/>
                <a:cs typeface="Rubik" pitchFamily="2" charset="-79"/>
              </a:rPr>
              <a:t>מובילי צוות מדדים:</a:t>
            </a:r>
          </a:p>
        </p:txBody>
      </p:sp>
      <p:sp>
        <p:nvSpPr>
          <p:cNvPr id="14" name="TextBox 13">
            <a:extLst>
              <a:ext uri="{FF2B5EF4-FFF2-40B4-BE49-F238E27FC236}">
                <a16:creationId xmlns:a16="http://schemas.microsoft.com/office/drawing/2014/main" id="{20AC7CF7-FA5F-4D3A-13C1-78704866A6C7}"/>
              </a:ext>
            </a:extLst>
          </p:cNvPr>
          <p:cNvSpPr txBox="1"/>
          <p:nvPr/>
        </p:nvSpPr>
        <p:spPr>
          <a:xfrm>
            <a:off x="2729060" y="2152939"/>
            <a:ext cx="2911355" cy="284693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רות </a:t>
            </a:r>
            <a:r>
              <a:rPr kumimoji="0" lang="he-IL" sz="17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מייטליס</a:t>
            </a: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7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אסנת שמיר -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הבריאות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גלעד הדס-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זוריאן</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רדומיסלסקי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מכבי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ישי קום-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מאוחדת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שי בריל-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כללית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יו"ר אקדמי: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פרופ' רביע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ח'לאילה</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סגן נשיא מכללת צפת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3939822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426464" y="650973"/>
            <a:ext cx="9288195" cy="605422"/>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 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מעיקרי הפעילות</a:t>
            </a:r>
            <a:endPar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sp>
        <p:nvSpPr>
          <p:cNvPr id="28" name="TextBox 27">
            <a:extLst>
              <a:ext uri="{FF2B5EF4-FFF2-40B4-BE49-F238E27FC236}">
                <a16:creationId xmlns:a16="http://schemas.microsoft.com/office/drawing/2014/main" id="{7AF2F6B5-D981-AD47-A677-3101F24EFE7E}"/>
              </a:ext>
            </a:extLst>
          </p:cNvPr>
          <p:cNvSpPr txBox="1"/>
          <p:nvPr/>
        </p:nvSpPr>
        <p:spPr>
          <a:xfrm>
            <a:off x="1956816" y="3495471"/>
            <a:ext cx="8719781"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התוצר המצופה: </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לייצר מודל הפעלה בין ארגוני יישומי המגדיר סל שירותים רחב ומגוון לדחיקת תלות ושינוי שיטת ומנגנון ההפעלה- כבסיס ליישום והרחבה.</a:t>
            </a:r>
          </a:p>
        </p:txBody>
      </p:sp>
      <p:pic>
        <p:nvPicPr>
          <p:cNvPr id="38" name="Picture 37">
            <a:extLst>
              <a:ext uri="{FF2B5EF4-FFF2-40B4-BE49-F238E27FC236}">
                <a16:creationId xmlns:a16="http://schemas.microsoft.com/office/drawing/2014/main" id="{6EC920B1-53F3-6B4C-8875-6D97EF1453C6}"/>
              </a:ext>
            </a:extLst>
          </p:cNvPr>
          <p:cNvPicPr>
            <a:picLocks noChangeAspect="1"/>
          </p:cNvPicPr>
          <p:nvPr/>
        </p:nvPicPr>
        <p:blipFill>
          <a:blip r:embed="rId4"/>
          <a:stretch>
            <a:fillRect/>
          </a:stretch>
        </p:blipFill>
        <p:spPr>
          <a:xfrm>
            <a:off x="2152488" y="4523096"/>
            <a:ext cx="8562171" cy="560968"/>
          </a:xfrm>
          <a:prstGeom prst="rect">
            <a:avLst/>
          </a:prstGeom>
        </p:spPr>
      </p:pic>
      <p:sp>
        <p:nvSpPr>
          <p:cNvPr id="39" name="TextBox 38">
            <a:extLst>
              <a:ext uri="{FF2B5EF4-FFF2-40B4-BE49-F238E27FC236}">
                <a16:creationId xmlns:a16="http://schemas.microsoft.com/office/drawing/2014/main" id="{9EF84A30-2B66-014A-B8BE-8C6181D241EE}"/>
              </a:ext>
            </a:extLst>
          </p:cNvPr>
          <p:cNvSpPr txBox="1"/>
          <p:nvPr/>
        </p:nvSpPr>
        <p:spPr>
          <a:xfrm>
            <a:off x="2516085" y="1502686"/>
            <a:ext cx="8160512" cy="913776"/>
          </a:xfrm>
          <a:prstGeom prst="rect">
            <a:avLst/>
          </a:prstGeom>
          <a:noFill/>
        </p:spPr>
        <p:txBody>
          <a:bodyPr wrap="square" rtlCol="0">
            <a:spAutoFit/>
          </a:bodyPr>
          <a:lstStyle/>
          <a:p>
            <a:pPr marL="0" marR="0" lvl="0" indent="0" algn="r" defTabSz="914400" rtl="1" eaLnBrk="1" fontAlgn="auto" latinLnBrk="0" hangingPunct="1">
              <a:lnSpc>
                <a:spcPts val="34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תוקפה </a:t>
            </a:r>
            <a:r>
              <a:rPr kumimoji="0" lang="he-IL" sz="1800" b="0" i="0" u="none" strike="noStrike" kern="1200" cap="none" spc="0" normalizeH="0" baseline="0" noProof="0" dirty="0" err="1">
                <a:ln>
                  <a:noFill/>
                </a:ln>
                <a:solidFill>
                  <a:srgbClr val="4472C4">
                    <a:lumMod val="75000"/>
                  </a:srgbClr>
                </a:solidFill>
                <a:effectLst/>
                <a:uLnTx/>
                <a:uFillTx/>
                <a:latin typeface="Assistant" pitchFamily="2" charset="-79"/>
                <a:ea typeface="+mn-ea"/>
                <a:cs typeface="Assistant" pitchFamily="2" charset="-79"/>
              </a:rPr>
              <a:t>ודוייקה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תפיסה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 רב מערכתית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משותפת לשימור תפקוד ומניעת הדרדרות</a:t>
            </a:r>
          </a:p>
          <a:p>
            <a:pPr marL="0" marR="0" lvl="0" indent="0" algn="r" defTabSz="914400" rtl="1" eaLnBrk="1" fontAlgn="auto" latinLnBrk="0" hangingPunct="1">
              <a:lnSpc>
                <a:spcPts val="34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כנגזרת של התפיסה הרב מערכתית המשותפת, הוגדרו </a:t>
            </a:r>
            <a:r>
              <a:rPr kumimoji="0" lang="he-IL" sz="1800" b="1"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מיקודי הפעולה</a:t>
            </a:r>
            <a:r>
              <a:rPr kumimoji="0" lang="he-IL" sz="1800" b="0" i="0" u="none" strike="noStrike" kern="1200" cap="none" spc="0" normalizeH="0" baseline="0" noProof="0" dirty="0">
                <a:ln>
                  <a:noFill/>
                </a:ln>
                <a:solidFill>
                  <a:srgbClr val="4472C4">
                    <a:lumMod val="75000"/>
                  </a:srgbClr>
                </a:solidFill>
                <a:effectLst/>
                <a:uLnTx/>
                <a:uFillTx/>
                <a:latin typeface="Assistant" pitchFamily="2" charset="-79"/>
                <a:ea typeface="+mn-ea"/>
                <a:cs typeface="Assistant" pitchFamily="2" charset="-79"/>
              </a:rPr>
              <a:t>:</a:t>
            </a:r>
          </a:p>
        </p:txBody>
      </p:sp>
      <p:sp>
        <p:nvSpPr>
          <p:cNvPr id="42" name="TextBox 41">
            <a:extLst>
              <a:ext uri="{FF2B5EF4-FFF2-40B4-BE49-F238E27FC236}">
                <a16:creationId xmlns:a16="http://schemas.microsoft.com/office/drawing/2014/main" id="{ADF44866-0AF0-E04A-866D-F43D85406863}"/>
              </a:ext>
            </a:extLst>
          </p:cNvPr>
          <p:cNvSpPr txBox="1"/>
          <p:nvPr/>
        </p:nvSpPr>
        <p:spPr>
          <a:xfrm>
            <a:off x="10934234" y="2849640"/>
            <a:ext cx="270725"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9F52A3"/>
                </a:solidFill>
                <a:effectLst/>
                <a:uLnTx/>
                <a:uFillTx/>
                <a:latin typeface="Rubik" pitchFamily="2" charset="-79"/>
                <a:ea typeface="+mn-ea"/>
                <a:cs typeface="Rubik" pitchFamily="2" charset="-79"/>
              </a:rPr>
              <a:t>1</a:t>
            </a:r>
            <a:endParaRPr kumimoji="0" lang="he-IL" sz="1800" b="0" i="0" u="none" strike="noStrike" kern="1200" cap="none" spc="0" normalizeH="0" baseline="0" noProof="0" dirty="0">
              <a:ln>
                <a:noFill/>
              </a:ln>
              <a:solidFill>
                <a:srgbClr val="9F52A3"/>
              </a:solidFill>
              <a:effectLst/>
              <a:uLnTx/>
              <a:uFillTx/>
              <a:latin typeface="Rubik" pitchFamily="2" charset="-79"/>
              <a:ea typeface="+mn-ea"/>
              <a:cs typeface="Rubik" pitchFamily="2" charset="-79"/>
            </a:endParaRPr>
          </a:p>
        </p:txBody>
      </p:sp>
      <p:sp>
        <p:nvSpPr>
          <p:cNvPr id="43" name="TextBox 42">
            <a:extLst>
              <a:ext uri="{FF2B5EF4-FFF2-40B4-BE49-F238E27FC236}">
                <a16:creationId xmlns:a16="http://schemas.microsoft.com/office/drawing/2014/main" id="{B0026104-BDE0-6D43-B3D6-5B5FF7D7580F}"/>
              </a:ext>
            </a:extLst>
          </p:cNvPr>
          <p:cNvSpPr txBox="1"/>
          <p:nvPr/>
        </p:nvSpPr>
        <p:spPr>
          <a:xfrm>
            <a:off x="10934234" y="4629013"/>
            <a:ext cx="270725"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9F52A3"/>
                </a:solidFill>
                <a:effectLst/>
                <a:uLnTx/>
                <a:uFillTx/>
                <a:latin typeface="Rubik" pitchFamily="2" charset="-79"/>
                <a:ea typeface="+mn-ea"/>
                <a:cs typeface="Rubik" pitchFamily="2" charset="-79"/>
              </a:rPr>
              <a:t>2</a:t>
            </a:r>
            <a:endParaRPr kumimoji="0" lang="he-IL" sz="1800" b="0" i="0" u="none" strike="noStrike" kern="1200" cap="none" spc="0" normalizeH="0" baseline="0" noProof="0" dirty="0">
              <a:ln>
                <a:noFill/>
              </a:ln>
              <a:solidFill>
                <a:srgbClr val="9F52A3"/>
              </a:solidFill>
              <a:effectLst/>
              <a:uLnTx/>
              <a:uFillTx/>
              <a:latin typeface="Rubik" pitchFamily="2" charset="-79"/>
              <a:ea typeface="+mn-ea"/>
              <a:cs typeface="Rubik" pitchFamily="2" charset="-79"/>
            </a:endParaRPr>
          </a:p>
        </p:txBody>
      </p:sp>
      <p:pic>
        <p:nvPicPr>
          <p:cNvPr id="6" name="Picture 5">
            <a:extLst>
              <a:ext uri="{FF2B5EF4-FFF2-40B4-BE49-F238E27FC236}">
                <a16:creationId xmlns:a16="http://schemas.microsoft.com/office/drawing/2014/main" id="{EA5875F3-552C-EF41-BCA1-823BEF99439C}"/>
              </a:ext>
            </a:extLst>
          </p:cNvPr>
          <p:cNvPicPr>
            <a:picLocks noChangeAspect="1"/>
          </p:cNvPicPr>
          <p:nvPr/>
        </p:nvPicPr>
        <p:blipFill>
          <a:blip r:embed="rId5"/>
          <a:stretch>
            <a:fillRect/>
          </a:stretch>
        </p:blipFill>
        <p:spPr>
          <a:xfrm>
            <a:off x="10689969" y="1624771"/>
            <a:ext cx="330200" cy="330200"/>
          </a:xfrm>
          <a:prstGeom prst="rect">
            <a:avLst/>
          </a:prstGeom>
        </p:spPr>
      </p:pic>
      <p:pic>
        <p:nvPicPr>
          <p:cNvPr id="44" name="Picture 43">
            <a:extLst>
              <a:ext uri="{FF2B5EF4-FFF2-40B4-BE49-F238E27FC236}">
                <a16:creationId xmlns:a16="http://schemas.microsoft.com/office/drawing/2014/main" id="{ED11842D-441C-C24D-89BD-933414F987A9}"/>
              </a:ext>
            </a:extLst>
          </p:cNvPr>
          <p:cNvPicPr>
            <a:picLocks noChangeAspect="1"/>
          </p:cNvPicPr>
          <p:nvPr/>
        </p:nvPicPr>
        <p:blipFill>
          <a:blip r:embed="rId5"/>
          <a:stretch>
            <a:fillRect/>
          </a:stretch>
        </p:blipFill>
        <p:spPr>
          <a:xfrm>
            <a:off x="10689969" y="2069615"/>
            <a:ext cx="330200" cy="330200"/>
          </a:xfrm>
          <a:prstGeom prst="rect">
            <a:avLst/>
          </a:prstGeom>
        </p:spPr>
      </p:pic>
      <p:pic>
        <p:nvPicPr>
          <p:cNvPr id="9" name="Picture 8">
            <a:extLst>
              <a:ext uri="{FF2B5EF4-FFF2-40B4-BE49-F238E27FC236}">
                <a16:creationId xmlns:a16="http://schemas.microsoft.com/office/drawing/2014/main" id="{898D7A6E-B0AD-F042-81B6-078ABE590694}"/>
              </a:ext>
            </a:extLst>
          </p:cNvPr>
          <p:cNvPicPr>
            <a:picLocks noChangeAspect="1"/>
          </p:cNvPicPr>
          <p:nvPr/>
        </p:nvPicPr>
        <p:blipFill>
          <a:blip r:embed="rId6"/>
          <a:stretch>
            <a:fillRect/>
          </a:stretch>
        </p:blipFill>
        <p:spPr>
          <a:xfrm>
            <a:off x="10832758" y="2802211"/>
            <a:ext cx="457200" cy="457200"/>
          </a:xfrm>
          <a:prstGeom prst="rect">
            <a:avLst/>
          </a:prstGeom>
        </p:spPr>
      </p:pic>
      <p:pic>
        <p:nvPicPr>
          <p:cNvPr id="45" name="Picture 44">
            <a:extLst>
              <a:ext uri="{FF2B5EF4-FFF2-40B4-BE49-F238E27FC236}">
                <a16:creationId xmlns:a16="http://schemas.microsoft.com/office/drawing/2014/main" id="{D609B876-26FC-BB4C-99E3-2AC4A00AAB77}"/>
              </a:ext>
            </a:extLst>
          </p:cNvPr>
          <p:cNvPicPr>
            <a:picLocks noChangeAspect="1"/>
          </p:cNvPicPr>
          <p:nvPr/>
        </p:nvPicPr>
        <p:blipFill>
          <a:blip r:embed="rId6"/>
          <a:stretch>
            <a:fillRect/>
          </a:stretch>
        </p:blipFill>
        <p:spPr>
          <a:xfrm>
            <a:off x="10832758" y="4565109"/>
            <a:ext cx="457200" cy="457200"/>
          </a:xfrm>
          <a:prstGeom prst="rect">
            <a:avLst/>
          </a:prstGeom>
        </p:spPr>
      </p:pic>
      <p:sp>
        <p:nvSpPr>
          <p:cNvPr id="3" name="TextBox 2">
            <a:extLst>
              <a:ext uri="{FF2B5EF4-FFF2-40B4-BE49-F238E27FC236}">
                <a16:creationId xmlns:a16="http://schemas.microsoft.com/office/drawing/2014/main" id="{3F5B0371-E07C-4C78-A9FD-19CA9E84416A}"/>
              </a:ext>
            </a:extLst>
          </p:cNvPr>
          <p:cNvSpPr txBox="1"/>
          <p:nvPr/>
        </p:nvSpPr>
        <p:spPr>
          <a:xfrm>
            <a:off x="2027585" y="4487948"/>
            <a:ext cx="8719781"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פיתוח מדדי תוצאה לפרט ולמערכת למדידת השינוי הרצוי </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(הגברת התפקוד והקטנת ההידרדרות התפקודית) והסכמה על מדדי מניעה במערכות השונות (כדוגמת שבריריות)</a:t>
            </a:r>
          </a:p>
        </p:txBody>
      </p:sp>
      <p:pic>
        <p:nvPicPr>
          <p:cNvPr id="4" name="Picture 3">
            <a:extLst>
              <a:ext uri="{FF2B5EF4-FFF2-40B4-BE49-F238E27FC236}">
                <a16:creationId xmlns:a16="http://schemas.microsoft.com/office/drawing/2014/main" id="{7FB46002-8D4A-B488-BADF-B2A2B7C4C261}"/>
              </a:ext>
            </a:extLst>
          </p:cNvPr>
          <p:cNvPicPr>
            <a:picLocks noChangeAspect="1"/>
          </p:cNvPicPr>
          <p:nvPr/>
        </p:nvPicPr>
        <p:blipFill>
          <a:blip r:embed="rId4"/>
          <a:stretch>
            <a:fillRect/>
          </a:stretch>
        </p:blipFill>
        <p:spPr>
          <a:xfrm>
            <a:off x="2137080" y="2725411"/>
            <a:ext cx="8552889" cy="560968"/>
          </a:xfrm>
          <a:prstGeom prst="rect">
            <a:avLst/>
          </a:prstGeom>
        </p:spPr>
      </p:pic>
      <p:sp>
        <p:nvSpPr>
          <p:cNvPr id="40" name="TextBox 39">
            <a:extLst>
              <a:ext uri="{FF2B5EF4-FFF2-40B4-BE49-F238E27FC236}">
                <a16:creationId xmlns:a16="http://schemas.microsoft.com/office/drawing/2014/main" id="{35B0A821-5CCE-C343-94A1-6A87CB1326E9}"/>
              </a:ext>
            </a:extLst>
          </p:cNvPr>
          <p:cNvSpPr txBox="1"/>
          <p:nvPr/>
        </p:nvSpPr>
        <p:spPr>
          <a:xfrm>
            <a:off x="2060294" y="2705871"/>
            <a:ext cx="8654365"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הרחבת סל השירותים בחוק סיעוד וצביעת חלק מהגמלה לטובת שירותים מותאמים אישית לקידום תפקוד, משמעות, בריאות וחוסן כלכלי ואישי </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(ופחות כסף ביד)</a:t>
            </a:r>
          </a:p>
        </p:txBody>
      </p:sp>
    </p:spTree>
    <p:extLst>
      <p:ext uri="{BB962C8B-B14F-4D97-AF65-F5344CB8AC3E}">
        <p14:creationId xmlns:p14="http://schemas.microsoft.com/office/powerpoint/2010/main" val="410760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35311" y="2561087"/>
            <a:ext cx="1596280"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56494" y="4100721"/>
            <a:ext cx="1585958"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29847" y="4648167"/>
            <a:ext cx="1585958" cy="48828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697855"/>
            <a:ext cx="1596280" cy="732363"/>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35365" y="2762057"/>
            <a:ext cx="2448344" cy="2960811"/>
            <a:chOff x="-658330" y="2484953"/>
            <a:chExt cx="2524769" cy="3573280"/>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62945" y="3144729"/>
              <a:ext cx="2206667" cy="2913504"/>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35311" y="2010739"/>
            <a:ext cx="1596280" cy="419479"/>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הביטוח הלאומי</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895172" y="238612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838746" y="392445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838538" y="525869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60608" y="2696024"/>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720227" y="4023733"/>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60591" y="3548420"/>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פעילות גופנית סדירה</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היעזרות באמצעים תומכים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3" y="316487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2" y="451164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46546" y="5745539"/>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615553"/>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0729" y="995194"/>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7718869" y="173450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494183" y="1682750"/>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259021" y="1697099"/>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05392" y="5295477"/>
            <a:ext cx="1585958" cy="46276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47530" y="5918628"/>
            <a:ext cx="1564652" cy="469697"/>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Rectangle: Rounded Corners 47">
            <a:extLst>
              <a:ext uri="{FF2B5EF4-FFF2-40B4-BE49-F238E27FC236}">
                <a16:creationId xmlns:a16="http://schemas.microsoft.com/office/drawing/2014/main" id="{44E007AC-0C9E-D7B0-0306-384B9E4DA56D}"/>
              </a:ext>
            </a:extLst>
          </p:cNvPr>
          <p:cNvSpPr/>
          <p:nvPr/>
        </p:nvSpPr>
        <p:spPr>
          <a:xfrm>
            <a:off x="6636877" y="3596314"/>
            <a:ext cx="1585959"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חברות סיעוד</a:t>
            </a:r>
          </a:p>
        </p:txBody>
      </p:sp>
      <p:sp>
        <p:nvSpPr>
          <p:cNvPr id="52" name="Rectangle: Rounded Corners 51">
            <a:extLst>
              <a:ext uri="{FF2B5EF4-FFF2-40B4-BE49-F238E27FC236}">
                <a16:creationId xmlns:a16="http://schemas.microsoft.com/office/drawing/2014/main" id="{E4EF5CCF-D9AC-FABE-E4EA-5722ED3E3BCD}"/>
              </a:ext>
            </a:extLst>
          </p:cNvPr>
          <p:cNvSpPr/>
          <p:nvPr/>
        </p:nvSpPr>
        <p:spPr>
          <a:xfrm>
            <a:off x="6656494" y="3050112"/>
            <a:ext cx="1578594"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המטפלות</a:t>
            </a:r>
          </a:p>
        </p:txBody>
      </p:sp>
      <p:pic>
        <p:nvPicPr>
          <p:cNvPr id="11" name="Picture 10">
            <a:extLst>
              <a:ext uri="{FF2B5EF4-FFF2-40B4-BE49-F238E27FC236}">
                <a16:creationId xmlns:a16="http://schemas.microsoft.com/office/drawing/2014/main" id="{CC81804E-05FA-7B35-A72D-A1B8B7C88DD5}"/>
              </a:ext>
            </a:extLst>
          </p:cNvPr>
          <p:cNvPicPr>
            <a:picLocks noChangeAspect="1"/>
          </p:cNvPicPr>
          <p:nvPr/>
        </p:nvPicPr>
        <p:blipFill>
          <a:blip r:embed="rId5"/>
          <a:stretch>
            <a:fillRect/>
          </a:stretch>
        </p:blipFill>
        <p:spPr>
          <a:xfrm>
            <a:off x="3611" y="-5684"/>
            <a:ext cx="12192000" cy="744061"/>
          </a:xfrm>
          <a:prstGeom prst="rect">
            <a:avLst/>
          </a:prstGeom>
        </p:spPr>
      </p:pic>
      <p:sp>
        <p:nvSpPr>
          <p:cNvPr id="28" name="TextBox 27">
            <a:extLst>
              <a:ext uri="{FF2B5EF4-FFF2-40B4-BE49-F238E27FC236}">
                <a16:creationId xmlns:a16="http://schemas.microsoft.com/office/drawing/2014/main" id="{78880B34-4B12-577F-4FD3-4E54051AFB6D}"/>
              </a:ext>
            </a:extLst>
          </p:cNvPr>
          <p:cNvSpPr txBox="1"/>
          <p:nvPr/>
        </p:nvSpPr>
        <p:spPr>
          <a:xfrm>
            <a:off x="1606782" y="52413"/>
            <a:ext cx="10219200"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תפיסה רב מערכתית לשימור תפקוד ומניעת הדרדרות</a:t>
            </a:r>
          </a:p>
        </p:txBody>
      </p:sp>
    </p:spTree>
    <p:extLst>
      <p:ext uri="{BB962C8B-B14F-4D97-AF65-F5344CB8AC3E}">
        <p14:creationId xmlns:p14="http://schemas.microsoft.com/office/powerpoint/2010/main" val="30287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P spid="48" grpId="0" animBg="1"/>
      <p:bldP spid="5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5C9E383-1D00-411F-BD3B-B067D716193C}"/>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C3F1E569-6A48-4E32-9380-64C2E34EA53B}"/>
              </a:ext>
            </a:extLst>
          </p:cNvPr>
          <p:cNvSpPr txBox="1"/>
          <p:nvPr/>
        </p:nvSpPr>
        <p:spPr>
          <a:xfrm>
            <a:off x="4418616" y="22406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27291A11-BE90-4BE3-A04D-E8DC9C14A245}"/>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0749F052-554F-4F10-8C2A-4DAF457FDE1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28396BA2-6E09-4B7A-BD20-D26C6C3D608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0B489560-F7D7-4336-8787-BB476E6F04E6}"/>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3F24F495-547A-4155-9CFB-AC93F104C14C}"/>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444C3F03-C278-4DB9-BD46-81228A265B5F}"/>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CAA22FC-42A8-4CBD-907E-4F889265FBD6}"/>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40C15470-1A3A-4772-A122-7AE6DCFE87BB}"/>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5A80DECE-8E00-4E3F-8C57-49C736C83A4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D3FFBADB-CA58-49C7-80E5-086E551EE241}"/>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76DAA703-1792-4CF3-A118-69DD7F1B212F}"/>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FD995344-6A98-4276-86D6-B8D342C39203}"/>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A1ED770A-724F-497F-9FB1-8EE584298A7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B77ED6D1-62A5-E57E-9593-D46D96DF720B}"/>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259880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br>
              <a:rPr kumimoji="0" lang="he-IL" sz="5400" b="1" i="0" u="sng"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b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1A295D"/>
                </a:solidFill>
                <a:effectLst/>
                <a:uLnTx/>
                <a:uFillTx/>
                <a:latin typeface="Open Sans" panose="020B0606030504020204" pitchFamily="34" charset="0"/>
                <a:ea typeface="+mn-ea"/>
                <a:cs typeface="Calibri"/>
              </a:rPr>
              <a:t>                                                                                       </a:t>
            </a: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32575" y="6325891"/>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66473" y="6320543"/>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502443"/>
            <a:ext cx="12052699" cy="1723549"/>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8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רפורמת סל תפקוד </a:t>
            </a:r>
            <a:r>
              <a:rPr lang="he-IL" sz="4800" b="1"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אישי </a:t>
            </a:r>
            <a:r>
              <a:rPr lang="en-US" sz="4800" b="1"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AI</a:t>
            </a:r>
            <a:endParaRPr lang="he-IL" sz="4800" b="1"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endParaRPr>
          </a:p>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מהלך </a:t>
            </a:r>
            <a:r>
              <a:rPr kumimoji="0" lang="he-IL" sz="4800" b="0" i="0" u="none" strike="noStrike" kern="1200" cap="none" spc="0" normalizeH="0" baseline="0" noProof="0" dirty="0" err="1">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הדיגיטל</a:t>
            </a: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endPar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853026" y="6227261"/>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3810968" y="6125988"/>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8759719" y="6137367"/>
            <a:ext cx="1190944" cy="652185"/>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69647" y="6360796"/>
            <a:ext cx="1441485"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ספטמבר 2024</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8" name="Picture 5" descr="Logo&#10;&#10;Description automatically generated">
            <a:extLst>
              <a:ext uri="{FF2B5EF4-FFF2-40B4-BE49-F238E27FC236}">
                <a16:creationId xmlns:a16="http://schemas.microsoft.com/office/drawing/2014/main" id="{B3A6107C-FA07-C282-A299-502C6E7D5C22}"/>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543471" y="6181956"/>
            <a:ext cx="914227" cy="607596"/>
          </a:xfrm>
          <a:prstGeom prst="rect">
            <a:avLst/>
          </a:prstGeom>
        </p:spPr>
      </p:pic>
    </p:spTree>
    <p:extLst>
      <p:ext uri="{BB962C8B-B14F-4D97-AF65-F5344CB8AC3E}">
        <p14:creationId xmlns:p14="http://schemas.microsoft.com/office/powerpoint/2010/main" val="198068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83154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56467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3806"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69720" y="2966542"/>
            <a:ext cx="899371" cy="945221"/>
          </a:xfrm>
          <a:prstGeom prst="rect">
            <a:avLst/>
          </a:prstGeom>
        </p:spPr>
      </p:pic>
      <p:pic>
        <p:nvPicPr>
          <p:cNvPr id="2" name="Picture 26">
            <a:extLst>
              <a:ext uri="{FF2B5EF4-FFF2-40B4-BE49-F238E27FC236}">
                <a16:creationId xmlns:a16="http://schemas.microsoft.com/office/drawing/2014/main" id="{2A234E56-D452-572C-2656-F1C61F287E0D}"/>
              </a:ext>
            </a:extLst>
          </p:cNvPr>
          <p:cNvPicPr>
            <a:picLocks noChangeAspect="1"/>
          </p:cNvPicPr>
          <p:nvPr/>
        </p:nvPicPr>
        <p:blipFill>
          <a:blip r:embed="rId5"/>
          <a:stretch>
            <a:fillRect/>
          </a:stretch>
        </p:blipFill>
        <p:spPr>
          <a:xfrm>
            <a:off x="371548" y="6181722"/>
            <a:ext cx="1118350" cy="612431"/>
          </a:xfrm>
          <a:prstGeom prst="rect">
            <a:avLst/>
          </a:prstGeom>
          <a:ln>
            <a:noFill/>
          </a:ln>
        </p:spPr>
      </p:pic>
    </p:spTree>
    <p:extLst>
      <p:ext uri="{BB962C8B-B14F-4D97-AF65-F5344CB8AC3E}">
        <p14:creationId xmlns:p14="http://schemas.microsoft.com/office/powerpoint/2010/main" val="2243344793"/>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5671038" y="288622"/>
            <a:ext cx="5541807"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Tree>
    <p:extLst>
      <p:ext uri="{BB962C8B-B14F-4D97-AF65-F5344CB8AC3E}">
        <p14:creationId xmlns:p14="http://schemas.microsoft.com/office/powerpoint/2010/main" val="2276989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049321" y="376431"/>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10360EE5-8DC6-4301-B9E8-37FCF90E9F20}"/>
              </a:ext>
            </a:extLst>
          </p:cNvPr>
          <p:cNvSpPr txBox="1"/>
          <p:nvPr/>
        </p:nvSpPr>
        <p:spPr>
          <a:xfrm>
            <a:off x="425618" y="228432"/>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 (</a:t>
            </a:r>
            <a: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a:t>
            </a: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3168472" y="267714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3168472" y="3036888"/>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3168472" y="3439804"/>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955161" y="296974"/>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6" name="TextBox 10">
            <a:extLst>
              <a:ext uri="{FF2B5EF4-FFF2-40B4-BE49-F238E27FC236}">
                <a16:creationId xmlns:a16="http://schemas.microsoft.com/office/drawing/2014/main" id="{9CBB1340-D6E1-C867-8024-E50C5F69FC9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graphicFrame>
        <p:nvGraphicFramePr>
          <p:cNvPr id="9" name="טבלה 8">
            <a:extLst>
              <a:ext uri="{FF2B5EF4-FFF2-40B4-BE49-F238E27FC236}">
                <a16:creationId xmlns:a16="http://schemas.microsoft.com/office/drawing/2014/main" id="{1287A630-2018-D8E2-FE62-87F854CEBED7}"/>
              </a:ext>
            </a:extLst>
          </p:cNvPr>
          <p:cNvGraphicFramePr>
            <a:graphicFrameLocks noGrp="1"/>
          </p:cNvGraphicFramePr>
          <p:nvPr/>
        </p:nvGraphicFramePr>
        <p:xfrm>
          <a:off x="-4415968" y="7212052"/>
          <a:ext cx="4315327" cy="1870075"/>
        </p:xfrm>
        <a:graphic>
          <a:graphicData uri="http://schemas.openxmlformats.org/drawingml/2006/table">
            <a:tbl>
              <a:tblPr firstRow="1" firstCol="1" bandRow="1">
                <a:tableStyleId>{72833802-FEF1-4C79-8D5D-14CF1EAF98D9}</a:tableStyleId>
              </a:tblPr>
              <a:tblGrid>
                <a:gridCol w="2081463">
                  <a:extLst>
                    <a:ext uri="{9D8B030D-6E8A-4147-A177-3AD203B41FA5}">
                      <a16:colId xmlns:a16="http://schemas.microsoft.com/office/drawing/2014/main" val="2671734242"/>
                    </a:ext>
                  </a:extLst>
                </a:gridCol>
                <a:gridCol w="2233864">
                  <a:extLst>
                    <a:ext uri="{9D8B030D-6E8A-4147-A177-3AD203B41FA5}">
                      <a16:colId xmlns:a16="http://schemas.microsoft.com/office/drawing/2014/main" val="837711101"/>
                    </a:ext>
                  </a:extLst>
                </a:gridCol>
              </a:tblGrid>
              <a:tr h="164802">
                <a:tc>
                  <a:txBody>
                    <a:bodyPr/>
                    <a:lstStyle/>
                    <a:p>
                      <a:pPr algn="r" rtl="1">
                        <a:lnSpc>
                          <a:spcPct val="107000"/>
                        </a:lnSpc>
                        <a:spcAft>
                          <a:spcPts val="800"/>
                        </a:spcAft>
                      </a:pPr>
                      <a:r>
                        <a:rPr lang="he-IL" sz="2400" dirty="0">
                          <a:effectLst/>
                        </a:rPr>
                        <a:t>גישה נוכחית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dirty="0">
                          <a:effectLst/>
                        </a:rPr>
                        <a:t>גישה חדשה</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73791818"/>
                  </a:ext>
                </a:extLst>
              </a:tr>
              <a:tr h="164802">
                <a:tc>
                  <a:txBody>
                    <a:bodyPr/>
                    <a:lstStyle/>
                    <a:p>
                      <a:pPr algn="r" rtl="1">
                        <a:lnSpc>
                          <a:spcPct val="107000"/>
                        </a:lnSpc>
                        <a:spcAft>
                          <a:spcPts val="800"/>
                        </a:spcAft>
                      </a:pPr>
                      <a:r>
                        <a:rPr lang="he-IL" sz="2400" b="0">
                          <a:effectLst/>
                        </a:rPr>
                        <a:t>מיקוד בטיפול</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a:effectLst/>
                        </a:rPr>
                        <a:t>דגש על מניעה</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24532159"/>
                  </a:ext>
                </a:extLst>
              </a:tr>
              <a:tr h="164802">
                <a:tc>
                  <a:txBody>
                    <a:bodyPr/>
                    <a:lstStyle/>
                    <a:p>
                      <a:pPr algn="r" rtl="1">
                        <a:lnSpc>
                          <a:spcPct val="107000"/>
                        </a:lnSpc>
                        <a:spcAft>
                          <a:spcPts val="800"/>
                        </a:spcAft>
                      </a:pPr>
                      <a:r>
                        <a:rPr lang="he-IL" sz="2400" b="0">
                          <a:effectLst/>
                        </a:rPr>
                        <a:t>סל קבוע</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a:effectLst/>
                        </a:rPr>
                        <a:t>סל דינמי ומותאם</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3171363"/>
                  </a:ext>
                </a:extLst>
              </a:tr>
              <a:tr h="164802">
                <a:tc>
                  <a:txBody>
                    <a:bodyPr/>
                    <a:lstStyle/>
                    <a:p>
                      <a:pPr algn="r" rtl="1">
                        <a:lnSpc>
                          <a:spcPct val="107000"/>
                        </a:lnSpc>
                        <a:spcAft>
                          <a:spcPts val="800"/>
                        </a:spcAft>
                      </a:pPr>
                      <a:r>
                        <a:rPr lang="he-IL" sz="2400" b="0" dirty="0">
                          <a:effectLst/>
                        </a:rPr>
                        <a:t>מענה להידרדרות</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dirty="0">
                          <a:effectLst/>
                        </a:rPr>
                        <a:t>שימור תפקוד</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06274231"/>
                  </a:ext>
                </a:extLst>
              </a:tr>
              <a:tr h="164802">
                <a:tc>
                  <a:txBody>
                    <a:bodyPr/>
                    <a:lstStyle/>
                    <a:p>
                      <a:pPr algn="r" rtl="1">
                        <a:lnSpc>
                          <a:spcPct val="107000"/>
                        </a:lnSpc>
                        <a:spcAft>
                          <a:spcPts val="800"/>
                        </a:spcAft>
                      </a:pPr>
                      <a:r>
                        <a:rPr lang="he-IL" sz="2400" b="0" dirty="0">
                          <a:effectLst/>
                        </a:rPr>
                        <a:t>ניהול מרכזי</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dirty="0">
                          <a:effectLst/>
                        </a:rPr>
                        <a:t>העצמת המשתמש</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89882114"/>
                  </a:ext>
                </a:extLst>
              </a:tr>
            </a:tbl>
          </a:graphicData>
        </a:graphic>
      </p:graphicFrame>
      <p:sp>
        <p:nvSpPr>
          <p:cNvPr id="10" name="Arrow: Right 63">
            <a:extLst>
              <a:ext uri="{FF2B5EF4-FFF2-40B4-BE49-F238E27FC236}">
                <a16:creationId xmlns:a16="http://schemas.microsoft.com/office/drawing/2014/main" id="{1B114301-8D15-3DE8-E5C7-2E9297F964FA}"/>
              </a:ext>
            </a:extLst>
          </p:cNvPr>
          <p:cNvSpPr/>
          <p:nvPr/>
        </p:nvSpPr>
        <p:spPr>
          <a:xfrm flipH="1">
            <a:off x="13168472" y="3764448"/>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graphicFrame>
        <p:nvGraphicFramePr>
          <p:cNvPr id="13" name="דיאגרמה 12">
            <a:extLst>
              <a:ext uri="{FF2B5EF4-FFF2-40B4-BE49-F238E27FC236}">
                <a16:creationId xmlns:a16="http://schemas.microsoft.com/office/drawing/2014/main" id="{0AC04ADD-3E9D-A388-4DB0-833D4DE2EFC4}"/>
              </a:ext>
            </a:extLst>
          </p:cNvPr>
          <p:cNvGraphicFramePr/>
          <p:nvPr/>
        </p:nvGraphicFramePr>
        <p:xfrm>
          <a:off x="2435234" y="1376699"/>
          <a:ext cx="7543638" cy="516047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 name="תיבת טקסט 15">
            <a:extLst>
              <a:ext uri="{FF2B5EF4-FFF2-40B4-BE49-F238E27FC236}">
                <a16:creationId xmlns:a16="http://schemas.microsoft.com/office/drawing/2014/main" id="{AE5168FF-85E3-9A19-9F4D-CC7B29BEA903}"/>
              </a:ext>
            </a:extLst>
          </p:cNvPr>
          <p:cNvSpPr txBox="1"/>
          <p:nvPr/>
        </p:nvSpPr>
        <p:spPr>
          <a:xfrm>
            <a:off x="5216703" y="4359666"/>
            <a:ext cx="1980698" cy="77271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8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מהפכת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AI</a:t>
            </a:r>
            <a:endPar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ctr" defTabSz="914400" rtl="1" eaLnBrk="1" fontAlgn="auto" latinLnBrk="0" hangingPunct="1">
              <a:lnSpc>
                <a:spcPct val="100000"/>
              </a:lnSpc>
              <a:spcBef>
                <a:spcPts val="0"/>
              </a:spcBef>
              <a:spcAft>
                <a:spcPts val="8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בשירותים לאזרח</a:t>
            </a:r>
            <a:endPar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17" name="Picture 18">
            <a:extLst>
              <a:ext uri="{FF2B5EF4-FFF2-40B4-BE49-F238E27FC236}">
                <a16:creationId xmlns:a16="http://schemas.microsoft.com/office/drawing/2014/main" id="{EE46BBEC-E1A6-F7F0-3A5B-AC8740E12B80}"/>
              </a:ext>
            </a:extLst>
          </p:cNvPr>
          <p:cNvPicPr>
            <a:picLocks noChangeAspect="1"/>
          </p:cNvPicPr>
          <p:nvPr/>
        </p:nvPicPr>
        <p:blipFill rotWithShape="1">
          <a:blip r:embed="rId11" cstate="email">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a:ext>
            </a:extLst>
          </a:blip>
          <a:srcRect/>
          <a:stretch/>
        </p:blipFill>
        <p:spPr>
          <a:xfrm>
            <a:off x="5594026" y="2677140"/>
            <a:ext cx="1226052" cy="1682526"/>
          </a:xfrm>
          <a:prstGeom prst="rect">
            <a:avLst/>
          </a:prstGeom>
        </p:spPr>
      </p:pic>
      <p:sp>
        <p:nvSpPr>
          <p:cNvPr id="18" name="מלבן 17">
            <a:extLst>
              <a:ext uri="{FF2B5EF4-FFF2-40B4-BE49-F238E27FC236}">
                <a16:creationId xmlns:a16="http://schemas.microsoft.com/office/drawing/2014/main" id="{A5CF759D-0533-24C5-92FA-083EE51A1004}"/>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26">
            <a:extLst>
              <a:ext uri="{FF2B5EF4-FFF2-40B4-BE49-F238E27FC236}">
                <a16:creationId xmlns:a16="http://schemas.microsoft.com/office/drawing/2014/main" id="{9CC0EF4D-53A3-EFEF-30A1-712FA2CF546A}"/>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4290143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6740290" y="469748"/>
            <a:ext cx="4796418"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ssistant" pitchFamily="2" charset="-79"/>
                <a:ea typeface="Heebo Black"/>
                <a:cs typeface="Assistant" pitchFamily="2" charset="-79"/>
                <a:sym typeface="Heebo Black"/>
              </a:rPr>
              <a:t>הרחבת</a:t>
            </a:r>
            <a:r>
              <a:rPr lang="he-IL" b="1" dirty="0">
                <a:solidFill>
                  <a:srgbClr val="DBEFF9">
                    <a:lumMod val="10000"/>
                  </a:srgbClr>
                </a:solidFill>
                <a:latin typeface="Assistant" pitchFamily="2" charset="-79"/>
                <a:ea typeface="Heebo Black"/>
                <a:cs typeface="Assistant" pitchFamily="2" charset="-79"/>
                <a:sym typeface="Heebo Black"/>
              </a:rPr>
              <a:t> עצמאות ובחירה, השתתפות, </a:t>
            </a:r>
            <a:r>
              <a:rPr lang="he-IL" dirty="0">
                <a:solidFill>
                  <a:srgbClr val="DBEFF9">
                    <a:lumMod val="10000"/>
                  </a:srgbClr>
                </a:solidFill>
                <a:latin typeface="Assistant" pitchFamily="2" charset="-79"/>
                <a:ea typeface="Heebo Black"/>
                <a:cs typeface="Assistant" pitchFamily="2" charset="-79"/>
                <a:sym typeface="Heebo Black"/>
              </a:rPr>
              <a:t>וקידום </a:t>
            </a:r>
            <a:r>
              <a:rPr lang="he-IL" b="1" dirty="0">
                <a:solidFill>
                  <a:srgbClr val="DBEFF9">
                    <a:lumMod val="10000"/>
                  </a:srgbClr>
                </a:solidFill>
                <a:latin typeface="Assistant" pitchFamily="2" charset="-79"/>
                <a:ea typeface="Heebo Black"/>
                <a:cs typeface="Assistant" pitchFamily="2" charset="-79"/>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D0778AC5-99ED-7B7C-F0A6-0CB62CEAD4BC}"/>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5F45E710-7ABD-589F-4E20-EEE26127625E}"/>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42" name="TextBox 41">
            <a:extLst>
              <a:ext uri="{FF2B5EF4-FFF2-40B4-BE49-F238E27FC236}">
                <a16:creationId xmlns:a16="http://schemas.microsoft.com/office/drawing/2014/main" id="{547A441B-C6A6-E095-4ECE-DD28A2A0299E}"/>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31" name="Group 30">
            <a:extLst>
              <a:ext uri="{FF2B5EF4-FFF2-40B4-BE49-F238E27FC236}">
                <a16:creationId xmlns:a16="http://schemas.microsoft.com/office/drawing/2014/main" id="{E2E7FD07-95F5-66B9-CD6A-99BB4F7A1173}"/>
              </a:ext>
            </a:extLst>
          </p:cNvPr>
          <p:cNvGrpSpPr/>
          <p:nvPr/>
        </p:nvGrpSpPr>
        <p:grpSpPr>
          <a:xfrm>
            <a:off x="8906529" y="2456359"/>
            <a:ext cx="2380552" cy="2557455"/>
            <a:chOff x="9433660" y="2436894"/>
            <a:chExt cx="2380552" cy="2557455"/>
          </a:xfrm>
        </p:grpSpPr>
        <p:grpSp>
          <p:nvGrpSpPr>
            <p:cNvPr id="9" name="Group 8">
              <a:extLst>
                <a:ext uri="{FF2B5EF4-FFF2-40B4-BE49-F238E27FC236}">
                  <a16:creationId xmlns:a16="http://schemas.microsoft.com/office/drawing/2014/main" id="{B66FEEFC-E79C-C946-83C6-C08629B0DDEC}"/>
                </a:ext>
              </a:extLst>
            </p:cNvPr>
            <p:cNvGrpSpPr/>
            <p:nvPr/>
          </p:nvGrpSpPr>
          <p:grpSpPr>
            <a:xfrm>
              <a:off x="9433660" y="2958540"/>
              <a:ext cx="2380552" cy="2035809"/>
              <a:chOff x="8797687" y="1676389"/>
              <a:chExt cx="2380552" cy="2035809"/>
            </a:xfrm>
          </p:grpSpPr>
          <p:sp>
            <p:nvSpPr>
              <p:cNvPr id="10" name="Rectangle: Rounded Corners 9">
                <a:extLst>
                  <a:ext uri="{FF2B5EF4-FFF2-40B4-BE49-F238E27FC236}">
                    <a16:creationId xmlns:a16="http://schemas.microsoft.com/office/drawing/2014/main" id="{2BA8D033-0C9B-4337-DD5A-A2B774A771C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1" name="TextBox 10">
                <a:extLst>
                  <a:ext uri="{FF2B5EF4-FFF2-40B4-BE49-F238E27FC236}">
                    <a16:creationId xmlns:a16="http://schemas.microsoft.com/office/drawing/2014/main" id="{D6737E21-608F-2B7B-D3E0-C4A37610F49A}"/>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37" name="TextBox 36">
                <a:extLst>
                  <a:ext uri="{FF2B5EF4-FFF2-40B4-BE49-F238E27FC236}">
                    <a16:creationId xmlns:a16="http://schemas.microsoft.com/office/drawing/2014/main" id="{A73A1826-A5CB-3D72-CA01-5B486B284A41}"/>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61" name="Group 60">
              <a:extLst>
                <a:ext uri="{FF2B5EF4-FFF2-40B4-BE49-F238E27FC236}">
                  <a16:creationId xmlns:a16="http://schemas.microsoft.com/office/drawing/2014/main" id="{A99C43DA-F8D9-7C33-4AC7-A2E74E869045}"/>
                </a:ext>
              </a:extLst>
            </p:cNvPr>
            <p:cNvGrpSpPr/>
            <p:nvPr/>
          </p:nvGrpSpPr>
          <p:grpSpPr>
            <a:xfrm>
              <a:off x="10216506" y="2436894"/>
              <a:ext cx="829557" cy="829557"/>
              <a:chOff x="9961982" y="1296250"/>
              <a:chExt cx="829557" cy="829557"/>
            </a:xfrm>
          </p:grpSpPr>
          <p:sp>
            <p:nvSpPr>
              <p:cNvPr id="60" name="Oval 59">
                <a:extLst>
                  <a:ext uri="{FF2B5EF4-FFF2-40B4-BE49-F238E27FC236}">
                    <a16:creationId xmlns:a16="http://schemas.microsoft.com/office/drawing/2014/main" id="{ED75BA28-3149-5F18-2E29-01A14AD382A2}"/>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25" descr="Neighborhood outline">
                <a:extLst>
                  <a:ext uri="{FF2B5EF4-FFF2-40B4-BE49-F238E27FC236}">
                    <a16:creationId xmlns:a16="http://schemas.microsoft.com/office/drawing/2014/main" id="{A71A92FB-535A-62F0-1A68-3B533C365F5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0027988" y="1395624"/>
                <a:ext cx="697543" cy="697543"/>
              </a:xfrm>
              <a:prstGeom prst="rect">
                <a:avLst/>
              </a:prstGeom>
            </p:spPr>
          </p:pic>
        </p:grpSp>
      </p:grpSp>
      <p:grpSp>
        <p:nvGrpSpPr>
          <p:cNvPr id="76" name="Group 75">
            <a:extLst>
              <a:ext uri="{FF2B5EF4-FFF2-40B4-BE49-F238E27FC236}">
                <a16:creationId xmlns:a16="http://schemas.microsoft.com/office/drawing/2014/main" id="{BBF0D669-6256-3324-EE64-63BB2E80D4F2}"/>
              </a:ext>
            </a:extLst>
          </p:cNvPr>
          <p:cNvGrpSpPr/>
          <p:nvPr/>
        </p:nvGrpSpPr>
        <p:grpSpPr>
          <a:xfrm>
            <a:off x="5733515" y="298153"/>
            <a:ext cx="1188000" cy="1188000"/>
            <a:chOff x="8611183" y="3971799"/>
            <a:chExt cx="829557" cy="829557"/>
          </a:xfrm>
        </p:grpSpPr>
        <p:sp>
          <p:nvSpPr>
            <p:cNvPr id="68" name="Oval 67">
              <a:extLst>
                <a:ext uri="{FF2B5EF4-FFF2-40B4-BE49-F238E27FC236}">
                  <a16:creationId xmlns:a16="http://schemas.microsoft.com/office/drawing/2014/main" id="{CD95486B-B51D-1836-F5D6-ED89148D5D3B}"/>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Shopping basket outline">
              <a:extLst>
                <a:ext uri="{FF2B5EF4-FFF2-40B4-BE49-F238E27FC236}">
                  <a16:creationId xmlns:a16="http://schemas.microsoft.com/office/drawing/2014/main" id="{21201990-9833-909C-0AFC-300C6E6DB189}"/>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696363" y="4055067"/>
              <a:ext cx="659196" cy="659196"/>
            </a:xfrm>
            <a:prstGeom prst="rect">
              <a:avLst/>
            </a:prstGeom>
          </p:spPr>
        </p:pic>
      </p:grpSp>
      <p:grpSp>
        <p:nvGrpSpPr>
          <p:cNvPr id="3" name="Group 2">
            <a:extLst>
              <a:ext uri="{FF2B5EF4-FFF2-40B4-BE49-F238E27FC236}">
                <a16:creationId xmlns:a16="http://schemas.microsoft.com/office/drawing/2014/main" id="{12DA03CE-D0D0-DE78-52CF-48DCC420E420}"/>
              </a:ext>
            </a:extLst>
          </p:cNvPr>
          <p:cNvGrpSpPr/>
          <p:nvPr/>
        </p:nvGrpSpPr>
        <p:grpSpPr>
          <a:xfrm>
            <a:off x="6327515" y="2449255"/>
            <a:ext cx="2419365" cy="2545755"/>
            <a:chOff x="6082548" y="2436894"/>
            <a:chExt cx="2419365" cy="2545755"/>
          </a:xfrm>
        </p:grpSpPr>
        <p:grpSp>
          <p:nvGrpSpPr>
            <p:cNvPr id="2" name="Group 1">
              <a:extLst>
                <a:ext uri="{FF2B5EF4-FFF2-40B4-BE49-F238E27FC236}">
                  <a16:creationId xmlns:a16="http://schemas.microsoft.com/office/drawing/2014/main" id="{8FD659D9-9A4F-CB5B-D678-5F061FABE795}"/>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184CA8C1-FDB1-6A83-C929-0322AAC1616C}"/>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FA7D55B0-0BA8-98E2-9317-E56063D1194E}"/>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3" name="TextBox 22">
                <a:extLst>
                  <a:ext uri="{FF2B5EF4-FFF2-40B4-BE49-F238E27FC236}">
                    <a16:creationId xmlns:a16="http://schemas.microsoft.com/office/drawing/2014/main" id="{065AB6C3-5140-4A8D-AA5A-36E26C7A33FC}"/>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שירותים נוספים שניתן לצרוך דרך הקהילה המקומית שמרחיבים את שירות הבסיס, מותאמים לצרכי הקהילה ולאזור בה היא פועלת</a:t>
                </a:r>
              </a:p>
            </p:txBody>
          </p:sp>
        </p:grpSp>
        <p:grpSp>
          <p:nvGrpSpPr>
            <p:cNvPr id="28" name="Group 27">
              <a:extLst>
                <a:ext uri="{FF2B5EF4-FFF2-40B4-BE49-F238E27FC236}">
                  <a16:creationId xmlns:a16="http://schemas.microsoft.com/office/drawing/2014/main" id="{84BCD753-2BD4-7863-DE63-99C374C3581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4239ECF4-77D8-DD8C-02F8-109E7901E88E}"/>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Neighborhood outline">
                <a:extLst>
                  <a:ext uri="{FF2B5EF4-FFF2-40B4-BE49-F238E27FC236}">
                    <a16:creationId xmlns:a16="http://schemas.microsoft.com/office/drawing/2014/main" id="{C95FB267-2684-DD0C-E496-3C5B376C107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7B97CDD3-4098-1877-F2E7-AB02A4EBDDE0}"/>
              </a:ext>
            </a:extLst>
          </p:cNvPr>
          <p:cNvGrpSpPr/>
          <p:nvPr/>
        </p:nvGrpSpPr>
        <p:grpSpPr>
          <a:xfrm>
            <a:off x="3731428" y="2441276"/>
            <a:ext cx="2419365" cy="2597659"/>
            <a:chOff x="6082548" y="2436894"/>
            <a:chExt cx="2419365" cy="2597659"/>
          </a:xfrm>
        </p:grpSpPr>
        <p:grpSp>
          <p:nvGrpSpPr>
            <p:cNvPr id="6" name="Group 5">
              <a:extLst>
                <a:ext uri="{FF2B5EF4-FFF2-40B4-BE49-F238E27FC236}">
                  <a16:creationId xmlns:a16="http://schemas.microsoft.com/office/drawing/2014/main" id="{202B513B-7D49-2AC0-F4B1-9DD4D656FFCE}"/>
                </a:ext>
              </a:extLst>
            </p:cNvPr>
            <p:cNvGrpSpPr/>
            <p:nvPr/>
          </p:nvGrpSpPr>
          <p:grpSpPr>
            <a:xfrm>
              <a:off x="6082548" y="2958540"/>
              <a:ext cx="2419365" cy="2076013"/>
              <a:chOff x="8812386" y="1676389"/>
              <a:chExt cx="2419365" cy="2076013"/>
            </a:xfrm>
          </p:grpSpPr>
          <p:sp>
            <p:nvSpPr>
              <p:cNvPr id="16" name="Rectangle: Rounded Corners 15">
                <a:extLst>
                  <a:ext uri="{FF2B5EF4-FFF2-40B4-BE49-F238E27FC236}">
                    <a16:creationId xmlns:a16="http://schemas.microsoft.com/office/drawing/2014/main" id="{F06B31B7-EF39-2C8F-7373-19A676B1922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5BD17333-886E-05D8-3A5A-4067620C3572}"/>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18" name="TextBox 17">
                <a:extLst>
                  <a:ext uri="{FF2B5EF4-FFF2-40B4-BE49-F238E27FC236}">
                    <a16:creationId xmlns:a16="http://schemas.microsoft.com/office/drawing/2014/main" id="{4C8D340A-04DA-FCF2-E28E-0625A0B556C9}"/>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השירות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7" name="Group 6">
              <a:extLst>
                <a:ext uri="{FF2B5EF4-FFF2-40B4-BE49-F238E27FC236}">
                  <a16:creationId xmlns:a16="http://schemas.microsoft.com/office/drawing/2014/main" id="{87F0DDE5-B62F-0976-128C-2FE74E7FCB66}"/>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75C48B6D-8CC4-CC1E-7D43-B44EF2558913}"/>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Alterations &amp; Tailoring outline">
                <a:extLst>
                  <a:ext uri="{FF2B5EF4-FFF2-40B4-BE49-F238E27FC236}">
                    <a16:creationId xmlns:a16="http://schemas.microsoft.com/office/drawing/2014/main" id="{76E9FDC6-76A9-7A81-551F-E426D835A76E}"/>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4D92678C-DECE-73F1-8264-4D897C9BD54C}"/>
              </a:ext>
            </a:extLst>
          </p:cNvPr>
          <p:cNvGrpSpPr/>
          <p:nvPr/>
        </p:nvGrpSpPr>
        <p:grpSpPr>
          <a:xfrm>
            <a:off x="1155394" y="2456248"/>
            <a:ext cx="2419365" cy="2545755"/>
            <a:chOff x="6082548" y="2436894"/>
            <a:chExt cx="2419365" cy="2545755"/>
          </a:xfrm>
        </p:grpSpPr>
        <p:grpSp>
          <p:nvGrpSpPr>
            <p:cNvPr id="21" name="Group 20">
              <a:extLst>
                <a:ext uri="{FF2B5EF4-FFF2-40B4-BE49-F238E27FC236}">
                  <a16:creationId xmlns:a16="http://schemas.microsoft.com/office/drawing/2014/main" id="{ECF7EACB-606B-58E3-C0CF-AA183960A85E}"/>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DC11F204-8F93-CDB1-8D23-4ECF4398E622}"/>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AE31FDBE-0755-6ACE-2A85-6F5917278F0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30" name="TextBox 29">
                <a:extLst>
                  <a:ext uri="{FF2B5EF4-FFF2-40B4-BE49-F238E27FC236}">
                    <a16:creationId xmlns:a16="http://schemas.microsoft.com/office/drawing/2014/main" id="{C138F5E9-F9AB-F7FC-0B3F-FE64B389019D}"/>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22" name="Group 21">
              <a:extLst>
                <a:ext uri="{FF2B5EF4-FFF2-40B4-BE49-F238E27FC236}">
                  <a16:creationId xmlns:a16="http://schemas.microsoft.com/office/drawing/2014/main" id="{7C93A32E-48B2-782B-36F0-02CFF3642961}"/>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BEB256FF-FAE2-C7B9-C49B-B5752BAD5432}"/>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Heart with pulse outline">
                <a:extLst>
                  <a:ext uri="{FF2B5EF4-FFF2-40B4-BE49-F238E27FC236}">
                    <a16:creationId xmlns:a16="http://schemas.microsoft.com/office/drawing/2014/main" id="{D4E0D78C-752E-0469-C04C-5E01A02C33E0}"/>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27988" y="1395624"/>
                <a:ext cx="697543" cy="697543"/>
              </a:xfrm>
              <a:prstGeom prst="rect">
                <a:avLst/>
              </a:prstGeom>
            </p:spPr>
          </p:pic>
        </p:grpSp>
      </p:grpSp>
      <p:sp>
        <p:nvSpPr>
          <p:cNvPr id="4" name="TextBox 3">
            <a:extLst>
              <a:ext uri="{FF2B5EF4-FFF2-40B4-BE49-F238E27FC236}">
                <a16:creationId xmlns:a16="http://schemas.microsoft.com/office/drawing/2014/main" id="{DB3E5EFF-EF7E-27E0-72D7-9E1E9D0E7F8B}"/>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הרכב סל השירותים במודל המוצע</a:t>
            </a:r>
          </a:p>
        </p:txBody>
      </p:sp>
    </p:spTree>
    <p:extLst>
      <p:ext uri="{BB962C8B-B14F-4D97-AF65-F5344CB8AC3E}">
        <p14:creationId xmlns:p14="http://schemas.microsoft.com/office/powerpoint/2010/main" val="2483037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25B19526-40FB-4474-37A6-EDEECD2AFA7E}"/>
              </a:ext>
            </a:extLst>
          </p:cNvPr>
          <p:cNvSpPr/>
          <p:nvPr/>
        </p:nvSpPr>
        <p:spPr>
          <a:xfrm>
            <a:off x="1005066" y="661509"/>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95" name="Group 94">
            <a:extLst>
              <a:ext uri="{FF2B5EF4-FFF2-40B4-BE49-F238E27FC236}">
                <a16:creationId xmlns:a16="http://schemas.microsoft.com/office/drawing/2014/main" id="{C86A509A-6F9A-B264-DB35-E5FFAB15811C}"/>
              </a:ext>
            </a:extLst>
          </p:cNvPr>
          <p:cNvGrpSpPr/>
          <p:nvPr/>
        </p:nvGrpSpPr>
        <p:grpSpPr>
          <a:xfrm>
            <a:off x="9049118" y="2089607"/>
            <a:ext cx="2430720" cy="2550986"/>
            <a:chOff x="9159632" y="1250589"/>
            <a:chExt cx="2430720" cy="2550986"/>
          </a:xfrm>
        </p:grpSpPr>
        <p:grpSp>
          <p:nvGrpSpPr>
            <p:cNvPr id="5"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6"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7" name="TextBox 6">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אזרחית ותיקה</a:t>
                </a:r>
              </a:p>
            </p:txBody>
          </p:sp>
        </p:grpSp>
        <p:sp>
          <p:nvSpPr>
            <p:cNvPr id="38" name="TextBox 37">
              <a:extLst>
                <a:ext uri="{FF2B5EF4-FFF2-40B4-BE49-F238E27FC236}">
                  <a16:creationId xmlns:a16="http://schemas.microsoft.com/office/drawing/2014/main" id="{C6861981-1435-339F-B9F4-134A8064152C}"/>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8" name="Group 7">
              <a:extLst>
                <a:ext uri="{FF2B5EF4-FFF2-40B4-BE49-F238E27FC236}">
                  <a16:creationId xmlns:a16="http://schemas.microsoft.com/office/drawing/2014/main" id="{212A6BFE-A171-C957-AD97-B2A730C39BD7}"/>
                </a:ext>
              </a:extLst>
            </p:cNvPr>
            <p:cNvGrpSpPr/>
            <p:nvPr/>
          </p:nvGrpSpPr>
          <p:grpSpPr>
            <a:xfrm>
              <a:off x="9941468" y="1250589"/>
              <a:ext cx="829557" cy="858453"/>
              <a:chOff x="7013479" y="1291019"/>
              <a:chExt cx="829557" cy="858453"/>
            </a:xfrm>
          </p:grpSpPr>
          <p:sp>
            <p:nvSpPr>
              <p:cNvPr id="63" name="Oval 62">
                <a:extLst>
                  <a:ext uri="{FF2B5EF4-FFF2-40B4-BE49-F238E27FC236}">
                    <a16:creationId xmlns:a16="http://schemas.microsoft.com/office/drawing/2014/main" id="{94353670-67C7-ECC5-7FFB-E04600503459}"/>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Old woman with white hair">
                <a:extLst>
                  <a:ext uri="{FF2B5EF4-FFF2-40B4-BE49-F238E27FC236}">
                    <a16:creationId xmlns:a16="http://schemas.microsoft.com/office/drawing/2014/main" id="{8490F924-F156-57A1-CF71-37C1218D9C7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65" name="Group 64">
            <a:extLst>
              <a:ext uri="{FF2B5EF4-FFF2-40B4-BE49-F238E27FC236}">
                <a16:creationId xmlns:a16="http://schemas.microsoft.com/office/drawing/2014/main" id="{C086053C-243D-5D4E-2FC0-92226E385C1D}"/>
              </a:ext>
            </a:extLst>
          </p:cNvPr>
          <p:cNvGrpSpPr/>
          <p:nvPr/>
        </p:nvGrpSpPr>
        <p:grpSpPr>
          <a:xfrm>
            <a:off x="4833452" y="1572006"/>
            <a:ext cx="2365853" cy="2525979"/>
            <a:chOff x="4833452" y="1822375"/>
            <a:chExt cx="2365853" cy="2525979"/>
          </a:xfrm>
        </p:grpSpPr>
        <p:grpSp>
          <p:nvGrpSpPr>
            <p:cNvPr id="32" name="Group 31">
              <a:extLst>
                <a:ext uri="{FF2B5EF4-FFF2-40B4-BE49-F238E27FC236}">
                  <a16:creationId xmlns:a16="http://schemas.microsoft.com/office/drawing/2014/main" id="{BBBBAE82-5EFD-81CE-9485-F141EFBE6B36}"/>
                </a:ext>
              </a:extLst>
            </p:cNvPr>
            <p:cNvGrpSpPr/>
            <p:nvPr/>
          </p:nvGrpSpPr>
          <p:grpSpPr>
            <a:xfrm>
              <a:off x="4833452" y="2324245"/>
              <a:ext cx="2365853" cy="2024109"/>
              <a:chOff x="2151419" y="1676389"/>
              <a:chExt cx="2365853" cy="2024109"/>
            </a:xfrm>
          </p:grpSpPr>
          <p:sp>
            <p:nvSpPr>
              <p:cNvPr id="34" name="Rectangle: Rounded Corners 33">
                <a:extLst>
                  <a:ext uri="{FF2B5EF4-FFF2-40B4-BE49-F238E27FC236}">
                    <a16:creationId xmlns:a16="http://schemas.microsoft.com/office/drawing/2014/main" id="{931720D9-D730-DEBB-C8AF-5EED62C648E0}"/>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5" name="TextBox 34">
                <a:extLst>
                  <a:ext uri="{FF2B5EF4-FFF2-40B4-BE49-F238E27FC236}">
                    <a16:creationId xmlns:a16="http://schemas.microsoft.com/office/drawing/2014/main" id="{5C17D8C2-CAC2-795E-5914-0F4836D5B893}"/>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מתאמת שירות</a:t>
                </a:r>
              </a:p>
            </p:txBody>
          </p:sp>
        </p:grpSp>
        <p:grpSp>
          <p:nvGrpSpPr>
            <p:cNvPr id="62" name="Group 61">
              <a:extLst>
                <a:ext uri="{FF2B5EF4-FFF2-40B4-BE49-F238E27FC236}">
                  <a16:creationId xmlns:a16="http://schemas.microsoft.com/office/drawing/2014/main" id="{6CE73CF3-19F9-3E08-2CE0-1BE4C6193676}"/>
                </a:ext>
              </a:extLst>
            </p:cNvPr>
            <p:cNvGrpSpPr/>
            <p:nvPr/>
          </p:nvGrpSpPr>
          <p:grpSpPr>
            <a:xfrm>
              <a:off x="5681221" y="1822375"/>
              <a:ext cx="829557" cy="899319"/>
              <a:chOff x="9766001" y="3238294"/>
              <a:chExt cx="829557" cy="899319"/>
            </a:xfrm>
          </p:grpSpPr>
          <p:sp>
            <p:nvSpPr>
              <p:cNvPr id="64" name="Oval 63">
                <a:extLst>
                  <a:ext uri="{FF2B5EF4-FFF2-40B4-BE49-F238E27FC236}">
                    <a16:creationId xmlns:a16="http://schemas.microsoft.com/office/drawing/2014/main" id="{797104DF-5A16-B26E-9E3B-DFAE2EE516F3}"/>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Woman with polka dots shirt">
                <a:extLst>
                  <a:ext uri="{FF2B5EF4-FFF2-40B4-BE49-F238E27FC236}">
                    <a16:creationId xmlns:a16="http://schemas.microsoft.com/office/drawing/2014/main" id="{F14EAB84-AA18-84C5-E153-42A174D8D06C}"/>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9839469" y="3279160"/>
                <a:ext cx="683449" cy="858453"/>
              </a:xfrm>
              <a:prstGeom prst="rect">
                <a:avLst/>
              </a:prstGeom>
            </p:spPr>
          </p:pic>
        </p:grpSp>
      </p:grpSp>
      <p:grpSp>
        <p:nvGrpSpPr>
          <p:cNvPr id="45" name="Group 44">
            <a:extLst>
              <a:ext uri="{FF2B5EF4-FFF2-40B4-BE49-F238E27FC236}">
                <a16:creationId xmlns:a16="http://schemas.microsoft.com/office/drawing/2014/main" id="{CD4F383A-FA0A-F6A7-0A40-235B5FCA73E1}"/>
              </a:ext>
            </a:extLst>
          </p:cNvPr>
          <p:cNvGrpSpPr/>
          <p:nvPr/>
        </p:nvGrpSpPr>
        <p:grpSpPr>
          <a:xfrm>
            <a:off x="2109261" y="1420286"/>
            <a:ext cx="2365853" cy="2693430"/>
            <a:chOff x="3845758" y="0"/>
            <a:chExt cx="2365853" cy="2693430"/>
          </a:xfrm>
        </p:grpSpPr>
        <p:grpSp>
          <p:nvGrpSpPr>
            <p:cNvPr id="27" name="Group 26">
              <a:extLst>
                <a:ext uri="{FF2B5EF4-FFF2-40B4-BE49-F238E27FC236}">
                  <a16:creationId xmlns:a16="http://schemas.microsoft.com/office/drawing/2014/main" id="{BFB76223-0988-D546-04C5-96A9B3020163}"/>
                </a:ext>
              </a:extLst>
            </p:cNvPr>
            <p:cNvGrpSpPr/>
            <p:nvPr/>
          </p:nvGrpSpPr>
          <p:grpSpPr>
            <a:xfrm>
              <a:off x="3845758" y="669321"/>
              <a:ext cx="2365853" cy="2024109"/>
              <a:chOff x="2151419" y="1676389"/>
              <a:chExt cx="2365853" cy="2024109"/>
            </a:xfrm>
          </p:grpSpPr>
          <p:sp>
            <p:nvSpPr>
              <p:cNvPr id="29" name="Rectangle: Rounded Corners 28">
                <a:extLst>
                  <a:ext uri="{FF2B5EF4-FFF2-40B4-BE49-F238E27FC236}">
                    <a16:creationId xmlns:a16="http://schemas.microsoft.com/office/drawing/2014/main" id="{E8367E58-ED4B-CE0D-6283-87DEF0E762A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5F67FDC7-BB7F-360C-742C-5C7EC2E2B04A}"/>
                  </a:ext>
                </a:extLst>
              </p:cNvPr>
              <p:cNvSpPr txBox="1"/>
              <p:nvPr/>
            </p:nvSpPr>
            <p:spPr>
              <a:xfrm>
                <a:off x="2244673" y="2141665"/>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עו"ס מנהלת קהילות</a:t>
                </a:r>
              </a:p>
            </p:txBody>
          </p:sp>
        </p:grpSp>
        <p:sp>
          <p:nvSpPr>
            <p:cNvPr id="41" name="TextBox 40">
              <a:extLst>
                <a:ext uri="{FF2B5EF4-FFF2-40B4-BE49-F238E27FC236}">
                  <a16:creationId xmlns:a16="http://schemas.microsoft.com/office/drawing/2014/main" id="{9684D8F2-316C-C829-2835-B299D4DC0D5F}"/>
                </a:ext>
              </a:extLst>
            </p:cNvPr>
            <p:cNvSpPr txBox="1"/>
            <p:nvPr/>
          </p:nvSpPr>
          <p:spPr>
            <a:xfrm>
              <a:off x="3880137" y="1507709"/>
              <a:ext cx="2247139"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מנהלת 10 קהילות מקומיות, מנחה ומדריכה את מתאמות השירות, מטפלת במקרים מורכבים, מסייעת בבניית התוכנית הקהילתית</a:t>
              </a:r>
            </a:p>
          </p:txBody>
        </p:sp>
        <p:sp>
          <p:nvSpPr>
            <p:cNvPr id="67" name="Oval 66">
              <a:extLst>
                <a:ext uri="{FF2B5EF4-FFF2-40B4-BE49-F238E27FC236}">
                  <a16:creationId xmlns:a16="http://schemas.microsoft.com/office/drawing/2014/main" id="{E2BEBCC9-2786-5125-3F60-6DF4A64E7977}"/>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6" name="Graphic 15" descr="Woman with ribbon on hair">
              <a:extLst>
                <a:ext uri="{FF2B5EF4-FFF2-40B4-BE49-F238E27FC236}">
                  <a16:creationId xmlns:a16="http://schemas.microsoft.com/office/drawing/2014/main" id="{90F5E610-EB98-2E56-2332-DF175EBC2778}"/>
                </a:ext>
              </a:extLst>
            </p:cNvPr>
            <p:cNvPicPr preferRelativeResize="0">
              <a:picLocks noChangeAspect="1"/>
            </p:cNvPicPr>
            <p:nvPr/>
          </p:nvPicPr>
          <p:blipFill rotWithShape="1">
            <a:blip r:embed="rId6">
              <a:extLst>
                <a:ext uri="{96DAC541-7B7A-43D3-8B79-37D633B846F1}">
                  <asvg:svgBlip xmlns:asvg="http://schemas.microsoft.com/office/drawing/2016/SVG/main" r:embed="rId7"/>
                </a:ext>
              </a:extLst>
            </a:blip>
            <a:srcRect l="844" t="-5019" r="-8547" b="63927"/>
            <a:stretch/>
          </p:blipFill>
          <p:spPr>
            <a:xfrm>
              <a:off x="4535703" y="0"/>
              <a:ext cx="1344301" cy="972000"/>
            </a:xfrm>
            <a:prstGeom prst="rect">
              <a:avLst/>
            </a:prstGeom>
          </p:spPr>
        </p:pic>
      </p:grpSp>
      <p:sp>
        <p:nvSpPr>
          <p:cNvPr id="52" name="TextBox 51">
            <a:extLst>
              <a:ext uri="{FF2B5EF4-FFF2-40B4-BE49-F238E27FC236}">
                <a16:creationId xmlns:a16="http://schemas.microsoft.com/office/drawing/2014/main" id="{DBAE5C9A-E34F-3FFE-82F2-7EA1FF626959}"/>
              </a:ext>
            </a:extLst>
          </p:cNvPr>
          <p:cNvSpPr txBox="1"/>
          <p:nvPr/>
        </p:nvSpPr>
        <p:spPr>
          <a:xfrm>
            <a:off x="3575218" y="92611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48" name="TextBox 47">
            <a:extLst>
              <a:ext uri="{FF2B5EF4-FFF2-40B4-BE49-F238E27FC236}">
                <a16:creationId xmlns:a16="http://schemas.microsoft.com/office/drawing/2014/main" id="{D591EC5E-85BF-ED76-F078-E40C4FC41B27}"/>
              </a:ext>
            </a:extLst>
          </p:cNvPr>
          <p:cNvSpPr txBox="1"/>
          <p:nvPr/>
        </p:nvSpPr>
        <p:spPr>
          <a:xfrm>
            <a:off x="1653914" y="1243134"/>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49" name="Oval 48">
            <a:extLst>
              <a:ext uri="{FF2B5EF4-FFF2-40B4-BE49-F238E27FC236}">
                <a16:creationId xmlns:a16="http://schemas.microsoft.com/office/drawing/2014/main" id="{CA07287B-8D7D-CFBF-B33E-79F2EA9F3CE3}"/>
              </a:ext>
            </a:extLst>
          </p:cNvPr>
          <p:cNvSpPr/>
          <p:nvPr/>
        </p:nvSpPr>
        <p:spPr>
          <a:xfrm>
            <a:off x="4307697" y="142443"/>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4" name="Graphic 53" descr="Hierarchy outline">
            <a:extLst>
              <a:ext uri="{FF2B5EF4-FFF2-40B4-BE49-F238E27FC236}">
                <a16:creationId xmlns:a16="http://schemas.microsoft.com/office/drawing/2014/main" id="{7AE429BB-22D6-FF7B-A013-CA0E85DEB1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36069" y="230948"/>
            <a:ext cx="572811" cy="572811"/>
          </a:xfrm>
          <a:prstGeom prst="rect">
            <a:avLst/>
          </a:prstGeom>
        </p:spPr>
      </p:pic>
      <p:sp>
        <p:nvSpPr>
          <p:cNvPr id="40" name="TextBox 39">
            <a:extLst>
              <a:ext uri="{FF2B5EF4-FFF2-40B4-BE49-F238E27FC236}">
                <a16:creationId xmlns:a16="http://schemas.microsoft.com/office/drawing/2014/main" id="{680039A8-35AA-729A-C51A-E78322D54EDB}"/>
              </a:ext>
            </a:extLst>
          </p:cNvPr>
          <p:cNvSpPr txBox="1"/>
          <p:nvPr/>
        </p:nvSpPr>
        <p:spPr>
          <a:xfrm>
            <a:off x="5079288" y="2874149"/>
            <a:ext cx="1874173"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דואגת לצרכי החברים בקהילה, מקיימת ביקורי בית, מארגנת פעילויות ועוד</a:t>
            </a:r>
          </a:p>
        </p:txBody>
      </p:sp>
      <p:sp>
        <p:nvSpPr>
          <p:cNvPr id="66" name="Rectangle: Rounded Corners 65">
            <a:extLst>
              <a:ext uri="{FF2B5EF4-FFF2-40B4-BE49-F238E27FC236}">
                <a16:creationId xmlns:a16="http://schemas.microsoft.com/office/drawing/2014/main" id="{BACD3F1D-B976-92DD-728F-7DD047F65A98}"/>
              </a:ext>
            </a:extLst>
          </p:cNvPr>
          <p:cNvSpPr/>
          <p:nvPr/>
        </p:nvSpPr>
        <p:spPr>
          <a:xfrm>
            <a:off x="981885" y="4945918"/>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8" name="TextBox 87">
            <a:extLst>
              <a:ext uri="{FF2B5EF4-FFF2-40B4-BE49-F238E27FC236}">
                <a16:creationId xmlns:a16="http://schemas.microsoft.com/office/drawing/2014/main" id="{127D8124-CEC5-7489-AE8D-9579D7EF2784}"/>
              </a:ext>
            </a:extLst>
          </p:cNvPr>
          <p:cNvSpPr txBox="1"/>
          <p:nvPr/>
        </p:nvSpPr>
        <p:spPr>
          <a:xfrm>
            <a:off x="3470507" y="5274819"/>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9" name="TextBox 88">
            <a:extLst>
              <a:ext uri="{FF2B5EF4-FFF2-40B4-BE49-F238E27FC236}">
                <a16:creationId xmlns:a16="http://schemas.microsoft.com/office/drawing/2014/main" id="{7C6EB2BA-02DD-6F2B-E33B-F7DC8C6E285F}"/>
              </a:ext>
            </a:extLst>
          </p:cNvPr>
          <p:cNvSpPr txBox="1"/>
          <p:nvPr/>
        </p:nvSpPr>
        <p:spPr>
          <a:xfrm>
            <a:off x="981885" y="5633513"/>
            <a:ext cx="6566089"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0"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אליו יכולה האזרחית הוותיקה להיכנס ולבחור שירותים מתוך סל שירותי הזדקנות מיטבית בהתאם לרצונותיה, כאשר השירותים המוצגים לה לבחירה הותאמו לצרכיה הייחודיים. ניתן סיוע לפי צורך ע"י מוקד שירות ומתאמת שירות.</a:t>
            </a:r>
          </a:p>
        </p:txBody>
      </p:sp>
      <p:grpSp>
        <p:nvGrpSpPr>
          <p:cNvPr id="93" name="Group 92">
            <a:extLst>
              <a:ext uri="{FF2B5EF4-FFF2-40B4-BE49-F238E27FC236}">
                <a16:creationId xmlns:a16="http://schemas.microsoft.com/office/drawing/2014/main" id="{87A481ED-C792-022B-3139-443D5897FFB2}"/>
              </a:ext>
            </a:extLst>
          </p:cNvPr>
          <p:cNvGrpSpPr/>
          <p:nvPr/>
        </p:nvGrpSpPr>
        <p:grpSpPr>
          <a:xfrm>
            <a:off x="4149860" y="4521155"/>
            <a:ext cx="829557" cy="829557"/>
            <a:chOff x="4149860" y="4521155"/>
            <a:chExt cx="829557" cy="829557"/>
          </a:xfrm>
        </p:grpSpPr>
        <p:sp>
          <p:nvSpPr>
            <p:cNvPr id="90" name="Oval 89">
              <a:extLst>
                <a:ext uri="{FF2B5EF4-FFF2-40B4-BE49-F238E27FC236}">
                  <a16:creationId xmlns:a16="http://schemas.microsoft.com/office/drawing/2014/main" id="{5FA96A02-3F80-D650-F82F-4CEF18379790}"/>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1" name="Graphic 90" descr="Ecommerce outline">
              <a:extLst>
                <a:ext uri="{FF2B5EF4-FFF2-40B4-BE49-F238E27FC236}">
                  <a16:creationId xmlns:a16="http://schemas.microsoft.com/office/drawing/2014/main" id="{254A015D-824D-8EA4-7A96-4BC544FB81F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278232" y="4632896"/>
              <a:ext cx="572811" cy="572811"/>
            </a:xfrm>
            <a:prstGeom prst="rect">
              <a:avLst/>
            </a:prstGeom>
          </p:spPr>
        </p:pic>
      </p:grpSp>
      <p:sp>
        <p:nvSpPr>
          <p:cNvPr id="2" name="TextBox 1">
            <a:extLst>
              <a:ext uri="{FF2B5EF4-FFF2-40B4-BE49-F238E27FC236}">
                <a16:creationId xmlns:a16="http://schemas.microsoft.com/office/drawing/2014/main" id="{40A905D7-7215-8D9D-3890-D16249A09FD5}"/>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spTree>
    <p:extLst>
      <p:ext uri="{BB962C8B-B14F-4D97-AF65-F5344CB8AC3E}">
        <p14:creationId xmlns:p14="http://schemas.microsoft.com/office/powerpoint/2010/main" val="2675025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50496" y="6222773"/>
            <a:ext cx="1118350" cy="612431"/>
          </a:xfrm>
          <a:prstGeom prst="rect">
            <a:avLst/>
          </a:prstGeom>
          <a:ln>
            <a:noFill/>
          </a:ln>
        </p:spPr>
      </p:pic>
      <p:sp>
        <p:nvSpPr>
          <p:cNvPr id="5" name="Rectangle: Rounded Corners 13">
            <a:extLst>
              <a:ext uri="{FF2B5EF4-FFF2-40B4-BE49-F238E27FC236}">
                <a16:creationId xmlns:a16="http://schemas.microsoft.com/office/drawing/2014/main" id="{75A492B0-17B1-5B9A-9754-88498FDA8F1E}"/>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 name="TextBox 14">
            <a:extLst>
              <a:ext uri="{FF2B5EF4-FFF2-40B4-BE49-F238E27FC236}">
                <a16:creationId xmlns:a16="http://schemas.microsoft.com/office/drawing/2014/main" id="{9E72535F-AC6F-A94D-0307-9A8306339A75}"/>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7" name="TextBox 41">
            <a:extLst>
              <a:ext uri="{FF2B5EF4-FFF2-40B4-BE49-F238E27FC236}">
                <a16:creationId xmlns:a16="http://schemas.microsoft.com/office/drawing/2014/main" id="{C5861D9E-A05C-54E7-8D60-054EAF471B8B}"/>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8" name="Group 30">
            <a:extLst>
              <a:ext uri="{FF2B5EF4-FFF2-40B4-BE49-F238E27FC236}">
                <a16:creationId xmlns:a16="http://schemas.microsoft.com/office/drawing/2014/main" id="{F6F30F5C-E09E-4502-73EC-C683108E5E90}"/>
              </a:ext>
            </a:extLst>
          </p:cNvPr>
          <p:cNvGrpSpPr/>
          <p:nvPr/>
        </p:nvGrpSpPr>
        <p:grpSpPr>
          <a:xfrm>
            <a:off x="8906529" y="2456359"/>
            <a:ext cx="2380552" cy="2557455"/>
            <a:chOff x="9433660" y="2436894"/>
            <a:chExt cx="2380552" cy="2557455"/>
          </a:xfrm>
        </p:grpSpPr>
        <p:grpSp>
          <p:nvGrpSpPr>
            <p:cNvPr id="11" name="Group 8">
              <a:extLst>
                <a:ext uri="{FF2B5EF4-FFF2-40B4-BE49-F238E27FC236}">
                  <a16:creationId xmlns:a16="http://schemas.microsoft.com/office/drawing/2014/main" id="{FA9B6734-1BAE-6E7D-00BD-5A9116CE375A}"/>
                </a:ext>
              </a:extLst>
            </p:cNvPr>
            <p:cNvGrpSpPr/>
            <p:nvPr/>
          </p:nvGrpSpPr>
          <p:grpSpPr>
            <a:xfrm>
              <a:off x="9433660" y="2958540"/>
              <a:ext cx="2380552" cy="2035809"/>
              <a:chOff x="8797687" y="1676389"/>
              <a:chExt cx="2380552" cy="2035809"/>
            </a:xfrm>
          </p:grpSpPr>
          <p:sp>
            <p:nvSpPr>
              <p:cNvPr id="16" name="Rectangle: Rounded Corners 9">
                <a:extLst>
                  <a:ext uri="{FF2B5EF4-FFF2-40B4-BE49-F238E27FC236}">
                    <a16:creationId xmlns:a16="http://schemas.microsoft.com/office/drawing/2014/main" id="{AF6C7EB5-7F24-6B35-3386-406E2F8D4F7E}"/>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0">
                <a:extLst>
                  <a:ext uri="{FF2B5EF4-FFF2-40B4-BE49-F238E27FC236}">
                    <a16:creationId xmlns:a16="http://schemas.microsoft.com/office/drawing/2014/main" id="{F4F072FB-B048-A8F9-453B-AA081A46CDC7}"/>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18" name="TextBox 36">
                <a:extLst>
                  <a:ext uri="{FF2B5EF4-FFF2-40B4-BE49-F238E27FC236}">
                    <a16:creationId xmlns:a16="http://schemas.microsoft.com/office/drawing/2014/main" id="{2A229727-C54D-8162-65EE-E99E02CD5718}"/>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12" name="Group 60">
              <a:extLst>
                <a:ext uri="{FF2B5EF4-FFF2-40B4-BE49-F238E27FC236}">
                  <a16:creationId xmlns:a16="http://schemas.microsoft.com/office/drawing/2014/main" id="{7CAD67F0-9888-4CAD-E4F8-4E01B3F98944}"/>
                </a:ext>
              </a:extLst>
            </p:cNvPr>
            <p:cNvGrpSpPr/>
            <p:nvPr/>
          </p:nvGrpSpPr>
          <p:grpSpPr>
            <a:xfrm>
              <a:off x="10216506" y="2436894"/>
              <a:ext cx="829557" cy="829557"/>
              <a:chOff x="9961982" y="1296250"/>
              <a:chExt cx="829557" cy="829557"/>
            </a:xfrm>
          </p:grpSpPr>
          <p:sp>
            <p:nvSpPr>
              <p:cNvPr id="13" name="Oval 59">
                <a:extLst>
                  <a:ext uri="{FF2B5EF4-FFF2-40B4-BE49-F238E27FC236}">
                    <a16:creationId xmlns:a16="http://schemas.microsoft.com/office/drawing/2014/main" id="{C1623A54-1E6C-6254-D08E-8BE18B6C8EA4}"/>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5" name="Graphic 25" descr="Neighborhood outline">
                <a:extLst>
                  <a:ext uri="{FF2B5EF4-FFF2-40B4-BE49-F238E27FC236}">
                    <a16:creationId xmlns:a16="http://schemas.microsoft.com/office/drawing/2014/main" id="{6CE6C2C1-000D-1291-57EC-D0629D3616B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8" y="1395624"/>
                <a:ext cx="697543" cy="697543"/>
              </a:xfrm>
              <a:prstGeom prst="rect">
                <a:avLst/>
              </a:prstGeom>
            </p:spPr>
          </p:pic>
        </p:grpSp>
      </p:grpSp>
      <p:grpSp>
        <p:nvGrpSpPr>
          <p:cNvPr id="19" name="Group 75">
            <a:extLst>
              <a:ext uri="{FF2B5EF4-FFF2-40B4-BE49-F238E27FC236}">
                <a16:creationId xmlns:a16="http://schemas.microsoft.com/office/drawing/2014/main" id="{4FA8C154-8734-C2B0-1BE9-76E3B8F14CDA}"/>
              </a:ext>
            </a:extLst>
          </p:cNvPr>
          <p:cNvGrpSpPr/>
          <p:nvPr/>
        </p:nvGrpSpPr>
        <p:grpSpPr>
          <a:xfrm>
            <a:off x="5733515" y="298153"/>
            <a:ext cx="1188000" cy="1188000"/>
            <a:chOff x="8611183" y="3971799"/>
            <a:chExt cx="829557" cy="829557"/>
          </a:xfrm>
        </p:grpSpPr>
        <p:sp>
          <p:nvSpPr>
            <p:cNvPr id="20" name="Oval 67">
              <a:extLst>
                <a:ext uri="{FF2B5EF4-FFF2-40B4-BE49-F238E27FC236}">
                  <a16:creationId xmlns:a16="http://schemas.microsoft.com/office/drawing/2014/main" id="{45CCE98E-894C-DA8C-B8B2-EC4869058352}"/>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54" descr="Shopping basket outline">
              <a:extLst>
                <a:ext uri="{FF2B5EF4-FFF2-40B4-BE49-F238E27FC236}">
                  <a16:creationId xmlns:a16="http://schemas.microsoft.com/office/drawing/2014/main" id="{5AB1C829-6134-01E0-B38F-5B9583DC106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696363" y="4055067"/>
              <a:ext cx="659196" cy="659196"/>
            </a:xfrm>
            <a:prstGeom prst="rect">
              <a:avLst/>
            </a:prstGeom>
          </p:spPr>
        </p:pic>
      </p:grpSp>
      <p:grpSp>
        <p:nvGrpSpPr>
          <p:cNvPr id="22" name="Group 2">
            <a:extLst>
              <a:ext uri="{FF2B5EF4-FFF2-40B4-BE49-F238E27FC236}">
                <a16:creationId xmlns:a16="http://schemas.microsoft.com/office/drawing/2014/main" id="{A983883A-684A-D258-A429-B19FCCFDE48A}"/>
              </a:ext>
            </a:extLst>
          </p:cNvPr>
          <p:cNvGrpSpPr/>
          <p:nvPr/>
        </p:nvGrpSpPr>
        <p:grpSpPr>
          <a:xfrm>
            <a:off x="6327515" y="2449255"/>
            <a:ext cx="2419365" cy="2545755"/>
            <a:chOff x="6082548" y="2436894"/>
            <a:chExt cx="2419365" cy="2545755"/>
          </a:xfrm>
        </p:grpSpPr>
        <p:grpSp>
          <p:nvGrpSpPr>
            <p:cNvPr id="23" name="Group 1">
              <a:extLst>
                <a:ext uri="{FF2B5EF4-FFF2-40B4-BE49-F238E27FC236}">
                  <a16:creationId xmlns:a16="http://schemas.microsoft.com/office/drawing/2014/main" id="{0E9C9FA1-FFF3-27D6-A3B0-E42AB2F51C0F}"/>
                </a:ext>
              </a:extLst>
            </p:cNvPr>
            <p:cNvGrpSpPr/>
            <p:nvPr/>
          </p:nvGrpSpPr>
          <p:grpSpPr>
            <a:xfrm>
              <a:off x="6082548" y="2958540"/>
              <a:ext cx="2419365" cy="2024109"/>
              <a:chOff x="8812386" y="1676389"/>
              <a:chExt cx="2419365" cy="2024109"/>
            </a:xfrm>
          </p:grpSpPr>
          <p:sp>
            <p:nvSpPr>
              <p:cNvPr id="27" name="Rectangle: Rounded Corners 12">
                <a:extLst>
                  <a:ext uri="{FF2B5EF4-FFF2-40B4-BE49-F238E27FC236}">
                    <a16:creationId xmlns:a16="http://schemas.microsoft.com/office/drawing/2014/main" id="{46BB482A-8CB4-3630-62AA-BBC0B07EF004}"/>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8" name="TextBox 19">
                <a:extLst>
                  <a:ext uri="{FF2B5EF4-FFF2-40B4-BE49-F238E27FC236}">
                    <a16:creationId xmlns:a16="http://schemas.microsoft.com/office/drawing/2014/main" id="{A980DE17-7881-E8D0-8D52-83E635FB6A8C}"/>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9" name="TextBox 22">
                <a:extLst>
                  <a:ext uri="{FF2B5EF4-FFF2-40B4-BE49-F238E27FC236}">
                    <a16:creationId xmlns:a16="http://schemas.microsoft.com/office/drawing/2014/main" id="{5CA35052-D2A3-B0AE-4EBC-F06F1D38723B}"/>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נוספים שניתן לצרוך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דרך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שמרחיבים את שירות הבסיס, מותאמים לצרכי הקהילה ולאזור בה היא פועלת</a:t>
                </a:r>
              </a:p>
            </p:txBody>
          </p:sp>
        </p:grpSp>
        <p:grpSp>
          <p:nvGrpSpPr>
            <p:cNvPr id="24" name="Group 27">
              <a:extLst>
                <a:ext uri="{FF2B5EF4-FFF2-40B4-BE49-F238E27FC236}">
                  <a16:creationId xmlns:a16="http://schemas.microsoft.com/office/drawing/2014/main" id="{826084D9-E42D-7447-D9E1-1EA4079CF970}"/>
                </a:ext>
              </a:extLst>
            </p:cNvPr>
            <p:cNvGrpSpPr/>
            <p:nvPr/>
          </p:nvGrpSpPr>
          <p:grpSpPr>
            <a:xfrm>
              <a:off x="6850695" y="2436894"/>
              <a:ext cx="829557" cy="829557"/>
              <a:chOff x="9961982" y="1296250"/>
              <a:chExt cx="829557" cy="829557"/>
            </a:xfrm>
          </p:grpSpPr>
          <p:sp>
            <p:nvSpPr>
              <p:cNvPr id="25" name="Oval 32">
                <a:extLst>
                  <a:ext uri="{FF2B5EF4-FFF2-40B4-BE49-F238E27FC236}">
                    <a16:creationId xmlns:a16="http://schemas.microsoft.com/office/drawing/2014/main" id="{2BA4D31E-A4F2-C229-F657-A989539E3B7D}"/>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38" descr="Neighborhood outline">
                <a:extLst>
                  <a:ext uri="{FF2B5EF4-FFF2-40B4-BE49-F238E27FC236}">
                    <a16:creationId xmlns:a16="http://schemas.microsoft.com/office/drawing/2014/main" id="{AC7FE731-9BD7-31BF-71C8-451BEC2529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6" y="1303243"/>
                <a:ext cx="697543" cy="697543"/>
              </a:xfrm>
              <a:prstGeom prst="rect">
                <a:avLst/>
              </a:prstGeom>
            </p:spPr>
          </p:pic>
        </p:grpSp>
      </p:grpSp>
      <p:grpSp>
        <p:nvGrpSpPr>
          <p:cNvPr id="30" name="Group 4">
            <a:extLst>
              <a:ext uri="{FF2B5EF4-FFF2-40B4-BE49-F238E27FC236}">
                <a16:creationId xmlns:a16="http://schemas.microsoft.com/office/drawing/2014/main" id="{D2D2C58C-F12F-5B20-9563-D67B83C144C1}"/>
              </a:ext>
            </a:extLst>
          </p:cNvPr>
          <p:cNvGrpSpPr/>
          <p:nvPr/>
        </p:nvGrpSpPr>
        <p:grpSpPr>
          <a:xfrm>
            <a:off x="3731428" y="2441276"/>
            <a:ext cx="2419365" cy="2597659"/>
            <a:chOff x="6082548" y="2436894"/>
            <a:chExt cx="2419365" cy="2597659"/>
          </a:xfrm>
        </p:grpSpPr>
        <p:grpSp>
          <p:nvGrpSpPr>
            <p:cNvPr id="31" name="Group 5">
              <a:extLst>
                <a:ext uri="{FF2B5EF4-FFF2-40B4-BE49-F238E27FC236}">
                  <a16:creationId xmlns:a16="http://schemas.microsoft.com/office/drawing/2014/main" id="{8ED13C69-2D1B-8D79-B5EB-9F2EFDD1DF16}"/>
                </a:ext>
              </a:extLst>
            </p:cNvPr>
            <p:cNvGrpSpPr/>
            <p:nvPr/>
          </p:nvGrpSpPr>
          <p:grpSpPr>
            <a:xfrm>
              <a:off x="6082548" y="2958540"/>
              <a:ext cx="2419365" cy="2076013"/>
              <a:chOff x="8812386" y="1676389"/>
              <a:chExt cx="2419365" cy="2076013"/>
            </a:xfrm>
          </p:grpSpPr>
          <p:sp>
            <p:nvSpPr>
              <p:cNvPr id="35" name="Rectangle: Rounded Corners 15">
                <a:extLst>
                  <a:ext uri="{FF2B5EF4-FFF2-40B4-BE49-F238E27FC236}">
                    <a16:creationId xmlns:a16="http://schemas.microsoft.com/office/drawing/2014/main" id="{EFD57E87-B510-1271-B662-134FC436740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36" name="TextBox 16">
                <a:extLst>
                  <a:ext uri="{FF2B5EF4-FFF2-40B4-BE49-F238E27FC236}">
                    <a16:creationId xmlns:a16="http://schemas.microsoft.com/office/drawing/2014/main" id="{7A417C16-0406-F996-222C-3E38E556924B}"/>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37" name="TextBox 17">
                <a:extLst>
                  <a:ext uri="{FF2B5EF4-FFF2-40B4-BE49-F238E27FC236}">
                    <a16:creationId xmlns:a16="http://schemas.microsoft.com/office/drawing/2014/main" id="{E349C06E-8301-57E2-3AF4-7631FBA8D664}"/>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השירות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32" name="Group 6">
              <a:extLst>
                <a:ext uri="{FF2B5EF4-FFF2-40B4-BE49-F238E27FC236}">
                  <a16:creationId xmlns:a16="http://schemas.microsoft.com/office/drawing/2014/main" id="{9C06B6B0-BEA3-1A2D-8C40-6EE6E636A36C}"/>
                </a:ext>
              </a:extLst>
            </p:cNvPr>
            <p:cNvGrpSpPr/>
            <p:nvPr/>
          </p:nvGrpSpPr>
          <p:grpSpPr>
            <a:xfrm>
              <a:off x="6850695" y="2436894"/>
              <a:ext cx="829557" cy="829557"/>
              <a:chOff x="9961982" y="1296250"/>
              <a:chExt cx="829557" cy="829557"/>
            </a:xfrm>
          </p:grpSpPr>
          <p:sp>
            <p:nvSpPr>
              <p:cNvPr id="33" name="Oval 7">
                <a:extLst>
                  <a:ext uri="{FF2B5EF4-FFF2-40B4-BE49-F238E27FC236}">
                    <a16:creationId xmlns:a16="http://schemas.microsoft.com/office/drawing/2014/main" id="{CE1DCE81-2663-822E-40B9-68E57655867F}"/>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4" name="Graphic 11" descr="Alterations &amp; Tailoring outline">
                <a:extLst>
                  <a:ext uri="{FF2B5EF4-FFF2-40B4-BE49-F238E27FC236}">
                    <a16:creationId xmlns:a16="http://schemas.microsoft.com/office/drawing/2014/main" id="{507546DD-E869-C52E-4AA0-B096AC45B65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27988" y="1395624"/>
                <a:ext cx="697543" cy="697543"/>
              </a:xfrm>
              <a:prstGeom prst="rect">
                <a:avLst/>
              </a:prstGeom>
            </p:spPr>
          </p:pic>
        </p:grpSp>
      </p:grpSp>
      <p:grpSp>
        <p:nvGrpSpPr>
          <p:cNvPr id="38" name="Group 18">
            <a:extLst>
              <a:ext uri="{FF2B5EF4-FFF2-40B4-BE49-F238E27FC236}">
                <a16:creationId xmlns:a16="http://schemas.microsoft.com/office/drawing/2014/main" id="{5B971B8A-6E9C-DE56-215A-7CE2E643FAA1}"/>
              </a:ext>
            </a:extLst>
          </p:cNvPr>
          <p:cNvGrpSpPr/>
          <p:nvPr/>
        </p:nvGrpSpPr>
        <p:grpSpPr>
          <a:xfrm>
            <a:off x="1155394" y="2456248"/>
            <a:ext cx="2419365" cy="2545755"/>
            <a:chOff x="6082548" y="2436894"/>
            <a:chExt cx="2419365" cy="2545755"/>
          </a:xfrm>
        </p:grpSpPr>
        <p:grpSp>
          <p:nvGrpSpPr>
            <p:cNvPr id="39" name="Group 20">
              <a:extLst>
                <a:ext uri="{FF2B5EF4-FFF2-40B4-BE49-F238E27FC236}">
                  <a16:creationId xmlns:a16="http://schemas.microsoft.com/office/drawing/2014/main" id="{DF84F0BC-4AA3-47AA-BA55-583E3BDCD0BC}"/>
                </a:ext>
              </a:extLst>
            </p:cNvPr>
            <p:cNvGrpSpPr/>
            <p:nvPr/>
          </p:nvGrpSpPr>
          <p:grpSpPr>
            <a:xfrm>
              <a:off x="6082548" y="2958540"/>
              <a:ext cx="2419365" cy="2024109"/>
              <a:chOff x="8812386" y="1676389"/>
              <a:chExt cx="2419365" cy="2024109"/>
            </a:xfrm>
          </p:grpSpPr>
          <p:sp>
            <p:nvSpPr>
              <p:cNvPr id="43" name="Rectangle: Rounded Corners 26">
                <a:extLst>
                  <a:ext uri="{FF2B5EF4-FFF2-40B4-BE49-F238E27FC236}">
                    <a16:creationId xmlns:a16="http://schemas.microsoft.com/office/drawing/2014/main" id="{22CC70B0-4128-2CF5-1158-6C5381AC106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44" name="TextBox 28">
                <a:extLst>
                  <a:ext uri="{FF2B5EF4-FFF2-40B4-BE49-F238E27FC236}">
                    <a16:creationId xmlns:a16="http://schemas.microsoft.com/office/drawing/2014/main" id="{D922AE11-EE6D-A552-6050-978E18A0BFD5}"/>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45" name="TextBox 29">
                <a:extLst>
                  <a:ext uri="{FF2B5EF4-FFF2-40B4-BE49-F238E27FC236}">
                    <a16:creationId xmlns:a16="http://schemas.microsoft.com/office/drawing/2014/main" id="{E5D0E77F-383D-DA76-C65D-8220294D13E0}"/>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40" name="Group 21">
              <a:extLst>
                <a:ext uri="{FF2B5EF4-FFF2-40B4-BE49-F238E27FC236}">
                  <a16:creationId xmlns:a16="http://schemas.microsoft.com/office/drawing/2014/main" id="{AB34958B-A0E6-70C8-0941-B77ACD6B0C87}"/>
                </a:ext>
              </a:extLst>
            </p:cNvPr>
            <p:cNvGrpSpPr/>
            <p:nvPr/>
          </p:nvGrpSpPr>
          <p:grpSpPr>
            <a:xfrm>
              <a:off x="6850695" y="2436894"/>
              <a:ext cx="829557" cy="829557"/>
              <a:chOff x="9961982" y="1296250"/>
              <a:chExt cx="829557" cy="829557"/>
            </a:xfrm>
          </p:grpSpPr>
          <p:sp>
            <p:nvSpPr>
              <p:cNvPr id="41" name="Oval 23">
                <a:extLst>
                  <a:ext uri="{FF2B5EF4-FFF2-40B4-BE49-F238E27FC236}">
                    <a16:creationId xmlns:a16="http://schemas.microsoft.com/office/drawing/2014/main" id="{E5EFB3D8-1651-B57F-D66C-0E23F658E466}"/>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2" name="Graphic 24" descr="Heart with pulse outline">
                <a:extLst>
                  <a:ext uri="{FF2B5EF4-FFF2-40B4-BE49-F238E27FC236}">
                    <a16:creationId xmlns:a16="http://schemas.microsoft.com/office/drawing/2014/main" id="{08D961D7-B921-D149-47CD-0EA453A74A7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0027988" y="1395624"/>
                <a:ext cx="697543" cy="697543"/>
              </a:xfrm>
              <a:prstGeom prst="rect">
                <a:avLst/>
              </a:prstGeom>
            </p:spPr>
          </p:pic>
        </p:grpSp>
      </p:grpSp>
      <p:sp>
        <p:nvSpPr>
          <p:cNvPr id="46" name="TextBox 3">
            <a:extLst>
              <a:ext uri="{FF2B5EF4-FFF2-40B4-BE49-F238E27FC236}">
                <a16:creationId xmlns:a16="http://schemas.microsoft.com/office/drawing/2014/main" id="{851D1DA4-0D2D-953A-2620-A2D3E6F94DCA}"/>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הרכב סל השירותים במודל המוצע</a:t>
            </a:r>
          </a:p>
        </p:txBody>
      </p:sp>
      <p:pic>
        <p:nvPicPr>
          <p:cNvPr id="47" name="Picture 5" descr="Logo&#10;&#10;Description automatically generated">
            <a:extLst>
              <a:ext uri="{FF2B5EF4-FFF2-40B4-BE49-F238E27FC236}">
                <a16:creationId xmlns:a16="http://schemas.microsoft.com/office/drawing/2014/main" id="{C29741BB-C8CE-C32B-4416-46ACE7171E94}"/>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spTree>
    <p:extLst>
      <p:ext uri="{BB962C8B-B14F-4D97-AF65-F5344CB8AC3E}">
        <p14:creationId xmlns:p14="http://schemas.microsoft.com/office/powerpoint/2010/main" val="2160939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2246" y="6342056"/>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9515880" y="6214415"/>
            <a:ext cx="1118350" cy="612431"/>
          </a:xfrm>
          <a:prstGeom prst="rect">
            <a:avLst/>
          </a:prstGeom>
          <a:ln>
            <a:noFill/>
          </a:ln>
        </p:spPr>
      </p:pic>
      <p:sp>
        <p:nvSpPr>
          <p:cNvPr id="43" name="Rectangle: Rounded Corners 50">
            <a:extLst>
              <a:ext uri="{FF2B5EF4-FFF2-40B4-BE49-F238E27FC236}">
                <a16:creationId xmlns:a16="http://schemas.microsoft.com/office/drawing/2014/main" id="{68CBBEA7-6B33-6C2F-62B4-CADCE809613A}"/>
              </a:ext>
            </a:extLst>
          </p:cNvPr>
          <p:cNvSpPr/>
          <p:nvPr/>
        </p:nvSpPr>
        <p:spPr>
          <a:xfrm>
            <a:off x="1202853" y="519066"/>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44" name="Group 94">
            <a:extLst>
              <a:ext uri="{FF2B5EF4-FFF2-40B4-BE49-F238E27FC236}">
                <a16:creationId xmlns:a16="http://schemas.microsoft.com/office/drawing/2014/main" id="{F2070C4D-9621-0668-AAC1-C4EAB45B900F}"/>
              </a:ext>
            </a:extLst>
          </p:cNvPr>
          <p:cNvGrpSpPr/>
          <p:nvPr/>
        </p:nvGrpSpPr>
        <p:grpSpPr>
          <a:xfrm>
            <a:off x="9246905" y="1947164"/>
            <a:ext cx="2430720" cy="2550986"/>
            <a:chOff x="9159632" y="1250589"/>
            <a:chExt cx="2430720" cy="2550986"/>
          </a:xfrm>
        </p:grpSpPr>
        <p:grpSp>
          <p:nvGrpSpPr>
            <p:cNvPr id="45" name="Group 4">
              <a:extLst>
                <a:ext uri="{FF2B5EF4-FFF2-40B4-BE49-F238E27FC236}">
                  <a16:creationId xmlns:a16="http://schemas.microsoft.com/office/drawing/2014/main" id="{F86FBE37-9C27-773D-E4D3-CE8017BDB9CC}"/>
                </a:ext>
              </a:extLst>
            </p:cNvPr>
            <p:cNvGrpSpPr/>
            <p:nvPr/>
          </p:nvGrpSpPr>
          <p:grpSpPr>
            <a:xfrm>
              <a:off x="9159632" y="1777466"/>
              <a:ext cx="2430720" cy="2024109"/>
              <a:chOff x="5725181" y="1676389"/>
              <a:chExt cx="2430720" cy="2024109"/>
            </a:xfrm>
          </p:grpSpPr>
          <p:sp>
            <p:nvSpPr>
              <p:cNvPr id="53" name="Rectangle: Rounded Corners 5">
                <a:extLst>
                  <a:ext uri="{FF2B5EF4-FFF2-40B4-BE49-F238E27FC236}">
                    <a16:creationId xmlns:a16="http://schemas.microsoft.com/office/drawing/2014/main" id="{CD283285-EB28-380F-091B-7D0966DBC87C}"/>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4" name="TextBox 6">
                <a:extLst>
                  <a:ext uri="{FF2B5EF4-FFF2-40B4-BE49-F238E27FC236}">
                    <a16:creationId xmlns:a16="http://schemas.microsoft.com/office/drawing/2014/main" id="{22255545-BCDD-BBAC-3947-3CA2B51B58B0}"/>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אזרחית ותיקה</a:t>
                </a:r>
              </a:p>
            </p:txBody>
          </p:sp>
        </p:grpSp>
        <p:sp>
          <p:nvSpPr>
            <p:cNvPr id="46" name="TextBox 37">
              <a:extLst>
                <a:ext uri="{FF2B5EF4-FFF2-40B4-BE49-F238E27FC236}">
                  <a16:creationId xmlns:a16="http://schemas.microsoft.com/office/drawing/2014/main" id="{3E97A43F-9386-CD1D-6942-DD80A5196FB7}"/>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47" name="Group 7">
              <a:extLst>
                <a:ext uri="{FF2B5EF4-FFF2-40B4-BE49-F238E27FC236}">
                  <a16:creationId xmlns:a16="http://schemas.microsoft.com/office/drawing/2014/main" id="{9017FF65-0288-1317-D1C5-C8C6BAAF67EF}"/>
                </a:ext>
              </a:extLst>
            </p:cNvPr>
            <p:cNvGrpSpPr/>
            <p:nvPr/>
          </p:nvGrpSpPr>
          <p:grpSpPr>
            <a:xfrm>
              <a:off x="9941468" y="1250589"/>
              <a:ext cx="829557" cy="858453"/>
              <a:chOff x="7013479" y="1291019"/>
              <a:chExt cx="829557" cy="858453"/>
            </a:xfrm>
          </p:grpSpPr>
          <p:sp>
            <p:nvSpPr>
              <p:cNvPr id="51" name="Oval 62">
                <a:extLst>
                  <a:ext uri="{FF2B5EF4-FFF2-40B4-BE49-F238E27FC236}">
                    <a16:creationId xmlns:a16="http://schemas.microsoft.com/office/drawing/2014/main" id="{52C1B7C1-1472-501B-68EC-4500478FDEF4}"/>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2" name="Graphic 20" descr="Old woman with white hair">
                <a:extLst>
                  <a:ext uri="{FF2B5EF4-FFF2-40B4-BE49-F238E27FC236}">
                    <a16:creationId xmlns:a16="http://schemas.microsoft.com/office/drawing/2014/main" id="{9B20B290-A310-9362-0D6B-F1925B540F89}"/>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61855"/>
              <a:stretch/>
            </p:blipFill>
            <p:spPr>
              <a:xfrm>
                <a:off x="7052553" y="1291019"/>
                <a:ext cx="683449" cy="858453"/>
              </a:xfrm>
              <a:prstGeom prst="rect">
                <a:avLst/>
              </a:prstGeom>
            </p:spPr>
          </p:pic>
        </p:grpSp>
      </p:grpSp>
      <p:grpSp>
        <p:nvGrpSpPr>
          <p:cNvPr id="55" name="Group 64">
            <a:extLst>
              <a:ext uri="{FF2B5EF4-FFF2-40B4-BE49-F238E27FC236}">
                <a16:creationId xmlns:a16="http://schemas.microsoft.com/office/drawing/2014/main" id="{7570C9B1-7113-6614-D1DF-89446FFEDE6D}"/>
              </a:ext>
            </a:extLst>
          </p:cNvPr>
          <p:cNvGrpSpPr/>
          <p:nvPr/>
        </p:nvGrpSpPr>
        <p:grpSpPr>
          <a:xfrm>
            <a:off x="5031239" y="1429563"/>
            <a:ext cx="2365853" cy="2525979"/>
            <a:chOff x="4833452" y="1822375"/>
            <a:chExt cx="2365853" cy="2525979"/>
          </a:xfrm>
        </p:grpSpPr>
        <p:grpSp>
          <p:nvGrpSpPr>
            <p:cNvPr id="56" name="Group 31">
              <a:extLst>
                <a:ext uri="{FF2B5EF4-FFF2-40B4-BE49-F238E27FC236}">
                  <a16:creationId xmlns:a16="http://schemas.microsoft.com/office/drawing/2014/main" id="{6EC519A6-F802-1259-4B3F-5A3C41AE1821}"/>
                </a:ext>
              </a:extLst>
            </p:cNvPr>
            <p:cNvGrpSpPr/>
            <p:nvPr/>
          </p:nvGrpSpPr>
          <p:grpSpPr>
            <a:xfrm>
              <a:off x="4833452" y="2324245"/>
              <a:ext cx="2365853" cy="2024109"/>
              <a:chOff x="2151419" y="1676389"/>
              <a:chExt cx="2365853" cy="2024109"/>
            </a:xfrm>
          </p:grpSpPr>
          <p:sp>
            <p:nvSpPr>
              <p:cNvPr id="62" name="Rectangle: Rounded Corners 33">
                <a:extLst>
                  <a:ext uri="{FF2B5EF4-FFF2-40B4-BE49-F238E27FC236}">
                    <a16:creationId xmlns:a16="http://schemas.microsoft.com/office/drawing/2014/main" id="{E09C1CD9-BFE8-B029-0420-E091FF5E981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5" name="TextBox 34">
                <a:extLst>
                  <a:ext uri="{FF2B5EF4-FFF2-40B4-BE49-F238E27FC236}">
                    <a16:creationId xmlns:a16="http://schemas.microsoft.com/office/drawing/2014/main" id="{6C39A937-BC3E-0A03-674B-8F6AC9C7F456}"/>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מתאמת שירות</a:t>
                </a:r>
              </a:p>
            </p:txBody>
          </p:sp>
        </p:grpSp>
        <p:grpSp>
          <p:nvGrpSpPr>
            <p:cNvPr id="59" name="Group 61">
              <a:extLst>
                <a:ext uri="{FF2B5EF4-FFF2-40B4-BE49-F238E27FC236}">
                  <a16:creationId xmlns:a16="http://schemas.microsoft.com/office/drawing/2014/main" id="{8E355A1D-C372-9CFB-1C8E-0C27ED9C1D7F}"/>
                </a:ext>
              </a:extLst>
            </p:cNvPr>
            <p:cNvGrpSpPr/>
            <p:nvPr/>
          </p:nvGrpSpPr>
          <p:grpSpPr>
            <a:xfrm>
              <a:off x="5681221" y="1822375"/>
              <a:ext cx="829557" cy="899319"/>
              <a:chOff x="9766001" y="3238294"/>
              <a:chExt cx="829557" cy="899319"/>
            </a:xfrm>
          </p:grpSpPr>
          <p:sp>
            <p:nvSpPr>
              <p:cNvPr id="60" name="Oval 63">
                <a:extLst>
                  <a:ext uri="{FF2B5EF4-FFF2-40B4-BE49-F238E27FC236}">
                    <a16:creationId xmlns:a16="http://schemas.microsoft.com/office/drawing/2014/main" id="{5EEC0CFF-9162-171A-7E1B-DBA806A4195D}"/>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1" name="Graphic 11" descr="Woman with polka dots shirt">
                <a:extLst>
                  <a:ext uri="{FF2B5EF4-FFF2-40B4-BE49-F238E27FC236}">
                    <a16:creationId xmlns:a16="http://schemas.microsoft.com/office/drawing/2014/main" id="{07C53C88-7E32-B34C-C382-E154329E8B75}"/>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71" r="2771" b="61096"/>
              <a:stretch/>
            </p:blipFill>
            <p:spPr>
              <a:xfrm>
                <a:off x="9839469" y="3279160"/>
                <a:ext cx="683449" cy="858453"/>
              </a:xfrm>
              <a:prstGeom prst="rect">
                <a:avLst/>
              </a:prstGeom>
            </p:spPr>
          </p:pic>
        </p:grpSp>
      </p:grpSp>
      <p:grpSp>
        <p:nvGrpSpPr>
          <p:cNvPr id="66" name="Group 44">
            <a:extLst>
              <a:ext uri="{FF2B5EF4-FFF2-40B4-BE49-F238E27FC236}">
                <a16:creationId xmlns:a16="http://schemas.microsoft.com/office/drawing/2014/main" id="{B3E63C78-D88F-254E-FB9C-3AFE738B26EB}"/>
              </a:ext>
            </a:extLst>
          </p:cNvPr>
          <p:cNvGrpSpPr/>
          <p:nvPr/>
        </p:nvGrpSpPr>
        <p:grpSpPr>
          <a:xfrm>
            <a:off x="2307048" y="1277843"/>
            <a:ext cx="2365853" cy="2693430"/>
            <a:chOff x="3845758" y="0"/>
            <a:chExt cx="2365853" cy="2693430"/>
          </a:xfrm>
        </p:grpSpPr>
        <p:grpSp>
          <p:nvGrpSpPr>
            <p:cNvPr id="67" name="Group 26">
              <a:extLst>
                <a:ext uri="{FF2B5EF4-FFF2-40B4-BE49-F238E27FC236}">
                  <a16:creationId xmlns:a16="http://schemas.microsoft.com/office/drawing/2014/main" id="{B2774744-DA8C-59BE-AAD3-88A11442F66B}"/>
                </a:ext>
              </a:extLst>
            </p:cNvPr>
            <p:cNvGrpSpPr/>
            <p:nvPr/>
          </p:nvGrpSpPr>
          <p:grpSpPr>
            <a:xfrm>
              <a:off x="3845758" y="669321"/>
              <a:ext cx="2365853" cy="2024109"/>
              <a:chOff x="2151419" y="1676389"/>
              <a:chExt cx="2365853" cy="2024109"/>
            </a:xfrm>
          </p:grpSpPr>
          <p:sp>
            <p:nvSpPr>
              <p:cNvPr id="75" name="Rectangle: Rounded Corners 28">
                <a:extLst>
                  <a:ext uri="{FF2B5EF4-FFF2-40B4-BE49-F238E27FC236}">
                    <a16:creationId xmlns:a16="http://schemas.microsoft.com/office/drawing/2014/main" id="{17128CA6-E0E3-8B0C-F4D6-7A85174400CE}"/>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76" name="TextBox 29">
                <a:extLst>
                  <a:ext uri="{FF2B5EF4-FFF2-40B4-BE49-F238E27FC236}">
                    <a16:creationId xmlns:a16="http://schemas.microsoft.com/office/drawing/2014/main" id="{8AC5FCC5-79C5-9070-59D9-6A2524A95543}"/>
                  </a:ext>
                </a:extLst>
              </p:cNvPr>
              <p:cNvSpPr txBox="1"/>
              <p:nvPr/>
            </p:nvSpPr>
            <p:spPr>
              <a:xfrm>
                <a:off x="2244673" y="2141665"/>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עו"ס מנהלת קהילות</a:t>
                </a:r>
              </a:p>
            </p:txBody>
          </p:sp>
        </p:grpSp>
        <p:sp>
          <p:nvSpPr>
            <p:cNvPr id="72" name="TextBox 40">
              <a:extLst>
                <a:ext uri="{FF2B5EF4-FFF2-40B4-BE49-F238E27FC236}">
                  <a16:creationId xmlns:a16="http://schemas.microsoft.com/office/drawing/2014/main" id="{C5099F42-7EEC-BDCC-6C66-80EA2A55F194}"/>
                </a:ext>
              </a:extLst>
            </p:cNvPr>
            <p:cNvSpPr txBox="1"/>
            <p:nvPr/>
          </p:nvSpPr>
          <p:spPr>
            <a:xfrm>
              <a:off x="3880137" y="1507709"/>
              <a:ext cx="2247139"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מנהלת 10 קהילות מקומיות, מנחה ומדריכה את מתאמות השירות, מטפלת במקרים מורכבים, מסייעת בבניית התוכנית הקהילתית</a:t>
              </a:r>
            </a:p>
          </p:txBody>
        </p:sp>
        <p:sp>
          <p:nvSpPr>
            <p:cNvPr id="73" name="Oval 66">
              <a:extLst>
                <a:ext uri="{FF2B5EF4-FFF2-40B4-BE49-F238E27FC236}">
                  <a16:creationId xmlns:a16="http://schemas.microsoft.com/office/drawing/2014/main" id="{7B018A75-A7D7-B7E0-0ADE-B6DEB0C1E3B8}"/>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74" name="Graphic 15" descr="Woman with ribbon on hair">
              <a:extLst>
                <a:ext uri="{FF2B5EF4-FFF2-40B4-BE49-F238E27FC236}">
                  <a16:creationId xmlns:a16="http://schemas.microsoft.com/office/drawing/2014/main" id="{144D271D-75A1-A1C3-A7BB-89CD1A796FCA}"/>
                </a:ext>
              </a:extLst>
            </p:cNvPr>
            <p:cNvPicPr preferRelativeResize="0">
              <a:picLocks noChangeAspect="1"/>
            </p:cNvPicPr>
            <p:nvPr/>
          </p:nvPicPr>
          <p:blipFill rotWithShape="1">
            <a:blip r:embed="rId8">
              <a:extLst>
                <a:ext uri="{96DAC541-7B7A-43D3-8B79-37D633B846F1}">
                  <asvg:svgBlip xmlns:asvg="http://schemas.microsoft.com/office/drawing/2016/SVG/main" r:embed="rId9"/>
                </a:ext>
              </a:extLst>
            </a:blip>
            <a:srcRect l="844" t="-5019" r="-8547" b="63927"/>
            <a:stretch/>
          </p:blipFill>
          <p:spPr>
            <a:xfrm>
              <a:off x="4535703" y="0"/>
              <a:ext cx="1344301" cy="972000"/>
            </a:xfrm>
            <a:prstGeom prst="rect">
              <a:avLst/>
            </a:prstGeom>
          </p:spPr>
        </p:pic>
      </p:grpSp>
      <p:sp>
        <p:nvSpPr>
          <p:cNvPr id="77" name="TextBox 51">
            <a:extLst>
              <a:ext uri="{FF2B5EF4-FFF2-40B4-BE49-F238E27FC236}">
                <a16:creationId xmlns:a16="http://schemas.microsoft.com/office/drawing/2014/main" id="{7531CD0E-4609-FEF4-54EA-54BFED0A9D97}"/>
              </a:ext>
            </a:extLst>
          </p:cNvPr>
          <p:cNvSpPr txBox="1"/>
          <p:nvPr/>
        </p:nvSpPr>
        <p:spPr>
          <a:xfrm>
            <a:off x="3773005" y="78367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78" name="TextBox 47">
            <a:extLst>
              <a:ext uri="{FF2B5EF4-FFF2-40B4-BE49-F238E27FC236}">
                <a16:creationId xmlns:a16="http://schemas.microsoft.com/office/drawing/2014/main" id="{82DD389A-38A8-9957-73EF-86E434D5E07D}"/>
              </a:ext>
            </a:extLst>
          </p:cNvPr>
          <p:cNvSpPr txBox="1"/>
          <p:nvPr/>
        </p:nvSpPr>
        <p:spPr>
          <a:xfrm>
            <a:off x="1851701" y="1100691"/>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79" name="Oval 48">
            <a:extLst>
              <a:ext uri="{FF2B5EF4-FFF2-40B4-BE49-F238E27FC236}">
                <a16:creationId xmlns:a16="http://schemas.microsoft.com/office/drawing/2014/main" id="{5A366353-C5E9-6BF7-D896-AD547E16B32D}"/>
              </a:ext>
            </a:extLst>
          </p:cNvPr>
          <p:cNvSpPr/>
          <p:nvPr/>
        </p:nvSpPr>
        <p:spPr>
          <a:xfrm>
            <a:off x="4505484" y="0"/>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0" name="Graphic 53" descr="Hierarchy outline">
            <a:extLst>
              <a:ext uri="{FF2B5EF4-FFF2-40B4-BE49-F238E27FC236}">
                <a16:creationId xmlns:a16="http://schemas.microsoft.com/office/drawing/2014/main" id="{6D31F282-A791-8D91-428E-94C1861EEE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33856" y="88505"/>
            <a:ext cx="572811" cy="572811"/>
          </a:xfrm>
          <a:prstGeom prst="rect">
            <a:avLst/>
          </a:prstGeom>
        </p:spPr>
      </p:pic>
      <p:sp>
        <p:nvSpPr>
          <p:cNvPr id="81" name="TextBox 39">
            <a:extLst>
              <a:ext uri="{FF2B5EF4-FFF2-40B4-BE49-F238E27FC236}">
                <a16:creationId xmlns:a16="http://schemas.microsoft.com/office/drawing/2014/main" id="{00AF2302-5305-0F01-1D61-0E809603199F}"/>
              </a:ext>
            </a:extLst>
          </p:cNvPr>
          <p:cNvSpPr txBox="1"/>
          <p:nvPr/>
        </p:nvSpPr>
        <p:spPr>
          <a:xfrm>
            <a:off x="5277075" y="2731706"/>
            <a:ext cx="1874173"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דואגת לצרכי החברים בקהילה, מקיימת ביקורי בית, מארגנת פעילויות ועוד</a:t>
            </a:r>
          </a:p>
        </p:txBody>
      </p:sp>
      <p:sp>
        <p:nvSpPr>
          <p:cNvPr id="82" name="Rectangle: Rounded Corners 65">
            <a:extLst>
              <a:ext uri="{FF2B5EF4-FFF2-40B4-BE49-F238E27FC236}">
                <a16:creationId xmlns:a16="http://schemas.microsoft.com/office/drawing/2014/main" id="{AE210871-56A5-D57C-0CD3-59DDB6FB5395}"/>
              </a:ext>
            </a:extLst>
          </p:cNvPr>
          <p:cNvSpPr/>
          <p:nvPr/>
        </p:nvSpPr>
        <p:spPr>
          <a:xfrm>
            <a:off x="1179672" y="4803475"/>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3" name="TextBox 87">
            <a:extLst>
              <a:ext uri="{FF2B5EF4-FFF2-40B4-BE49-F238E27FC236}">
                <a16:creationId xmlns:a16="http://schemas.microsoft.com/office/drawing/2014/main" id="{B13E5371-6D7C-55B2-86C7-8DEC55A7129C}"/>
              </a:ext>
            </a:extLst>
          </p:cNvPr>
          <p:cNvSpPr txBox="1"/>
          <p:nvPr/>
        </p:nvSpPr>
        <p:spPr>
          <a:xfrm>
            <a:off x="3668294" y="513237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4" name="TextBox 88">
            <a:extLst>
              <a:ext uri="{FF2B5EF4-FFF2-40B4-BE49-F238E27FC236}">
                <a16:creationId xmlns:a16="http://schemas.microsoft.com/office/drawing/2014/main" id="{CEA8E688-AD45-F537-936F-886DCFBDC97E}"/>
              </a:ext>
            </a:extLst>
          </p:cNvPr>
          <p:cNvSpPr txBox="1"/>
          <p:nvPr/>
        </p:nvSpPr>
        <p:spPr>
          <a:xfrm>
            <a:off x="1179672" y="5491070"/>
            <a:ext cx="6566089"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0"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אליו יכולה האזרחית הוותיקה להיכנס ולבחור שירותים מתוך סל שירותי הזדקנות מיטבית בהתאם לרצונותיה, כאשר השירותים המוצגים לה לבחירה הותאמו לצרכיה הייחודיים. ניתן סיוע לפי צורך ע"י מוקד שירות ומתאמת שירות.</a:t>
            </a:r>
          </a:p>
        </p:txBody>
      </p:sp>
      <p:grpSp>
        <p:nvGrpSpPr>
          <p:cNvPr id="85" name="Group 92">
            <a:extLst>
              <a:ext uri="{FF2B5EF4-FFF2-40B4-BE49-F238E27FC236}">
                <a16:creationId xmlns:a16="http://schemas.microsoft.com/office/drawing/2014/main" id="{9FC67262-C9A0-843A-2AB8-E733CBA029D5}"/>
              </a:ext>
            </a:extLst>
          </p:cNvPr>
          <p:cNvGrpSpPr/>
          <p:nvPr/>
        </p:nvGrpSpPr>
        <p:grpSpPr>
          <a:xfrm>
            <a:off x="4347647" y="4378712"/>
            <a:ext cx="829557" cy="829557"/>
            <a:chOff x="4149860" y="4521155"/>
            <a:chExt cx="829557" cy="829557"/>
          </a:xfrm>
        </p:grpSpPr>
        <p:sp>
          <p:nvSpPr>
            <p:cNvPr id="86" name="Oval 89">
              <a:extLst>
                <a:ext uri="{FF2B5EF4-FFF2-40B4-BE49-F238E27FC236}">
                  <a16:creationId xmlns:a16="http://schemas.microsoft.com/office/drawing/2014/main" id="{35EFCF4A-5A94-1416-0C84-EC96F736D10C}"/>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90" descr="Ecommerce outline">
              <a:extLst>
                <a:ext uri="{FF2B5EF4-FFF2-40B4-BE49-F238E27FC236}">
                  <a16:creationId xmlns:a16="http://schemas.microsoft.com/office/drawing/2014/main" id="{34736CB8-1A3F-7E3F-52B6-22F6EF7883A7}"/>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4278232" y="4632896"/>
              <a:ext cx="572811" cy="572811"/>
            </a:xfrm>
            <a:prstGeom prst="rect">
              <a:avLst/>
            </a:prstGeom>
          </p:spPr>
        </p:pic>
      </p:grpSp>
      <p:sp>
        <p:nvSpPr>
          <p:cNvPr id="88" name="TextBox 1">
            <a:extLst>
              <a:ext uri="{FF2B5EF4-FFF2-40B4-BE49-F238E27FC236}">
                <a16:creationId xmlns:a16="http://schemas.microsoft.com/office/drawing/2014/main" id="{2295C515-6A11-03AA-123A-74C2BBC338E0}"/>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0E14E79-A252-A446-10B6-0881092A0682}"/>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spTree>
    <p:extLst>
      <p:ext uri="{BB962C8B-B14F-4D97-AF65-F5344CB8AC3E}">
        <p14:creationId xmlns:p14="http://schemas.microsoft.com/office/powerpoint/2010/main" val="3128164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685678F4-47CE-4125-83E4-D46D4C34AF93}"/>
              </a:ext>
            </a:extLst>
          </p:cNvPr>
          <p:cNvSpPr txBox="1"/>
          <p:nvPr/>
        </p:nvSpPr>
        <p:spPr>
          <a:xfrm>
            <a:off x="2136846" y="3608660"/>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פיתוח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מנגנון גמיש לאישור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המוצרים והשירותים </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9" name="TextBox 48">
            <a:extLst>
              <a:ext uri="{FF2B5EF4-FFF2-40B4-BE49-F238E27FC236}">
                <a16:creationId xmlns:a16="http://schemas.microsoft.com/office/drawing/2014/main" id="{8E5F55E6-362B-4276-A430-7B96942F9019}"/>
              </a:ext>
            </a:extLst>
          </p:cNvPr>
          <p:cNvSpPr txBox="1"/>
          <p:nvPr/>
        </p:nvSpPr>
        <p:spPr>
          <a:xfrm>
            <a:off x="2136846" y="3024509"/>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מערכת להצגה והנגשה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של השירותים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ותשלום בארנק דיגיטלי</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0" name="TextBox 49">
            <a:extLst>
              <a:ext uri="{FF2B5EF4-FFF2-40B4-BE49-F238E27FC236}">
                <a16:creationId xmlns:a16="http://schemas.microsoft.com/office/drawing/2014/main" id="{AEBB95BA-D351-4272-919E-669B78D9E53B}"/>
              </a:ext>
            </a:extLst>
          </p:cNvPr>
          <p:cNvSpPr txBox="1"/>
          <p:nvPr/>
        </p:nvSpPr>
        <p:spPr>
          <a:xfrm>
            <a:off x="2136846" y="2440358"/>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גיבוש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רגולציה תומכת</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7" name="TextBox 56">
            <a:extLst>
              <a:ext uri="{FF2B5EF4-FFF2-40B4-BE49-F238E27FC236}">
                <a16:creationId xmlns:a16="http://schemas.microsoft.com/office/drawing/2014/main" id="{46AEBD07-2F09-4148-B492-77871EB5C3C9}"/>
              </a:ext>
            </a:extLst>
          </p:cNvPr>
          <p:cNvSpPr txBox="1"/>
          <p:nvPr/>
        </p:nvSpPr>
        <p:spPr>
          <a:xfrm>
            <a:off x="9044892" y="1902458"/>
            <a:ext cx="187747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מה נדרש:</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8" name="TextBox 57">
            <a:extLst>
              <a:ext uri="{FF2B5EF4-FFF2-40B4-BE49-F238E27FC236}">
                <a16:creationId xmlns:a16="http://schemas.microsoft.com/office/drawing/2014/main" id="{10360EE5-8DC6-4301-B9E8-37FCF90E9F20}"/>
              </a:ext>
            </a:extLst>
          </p:cNvPr>
          <p:cNvSpPr txBox="1"/>
          <p:nvPr/>
        </p:nvSpPr>
        <p:spPr>
          <a:xfrm>
            <a:off x="114742" y="657921"/>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פיתוח 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0389177" y="259291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0389177" y="317707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0377938" y="3761221"/>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8" name="TextBox 67">
            <a:extLst>
              <a:ext uri="{FF2B5EF4-FFF2-40B4-BE49-F238E27FC236}">
                <a16:creationId xmlns:a16="http://schemas.microsoft.com/office/drawing/2014/main" id="{C8F318CF-806B-4B04-AFAA-1E7E248729C7}"/>
              </a:ext>
            </a:extLst>
          </p:cNvPr>
          <p:cNvSpPr txBox="1"/>
          <p:nvPr/>
        </p:nvSpPr>
        <p:spPr>
          <a:xfrm flipH="1">
            <a:off x="8564898" y="5165422"/>
            <a:ext cx="1418732"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69" name="TextBox 68">
            <a:extLst>
              <a:ext uri="{FF2B5EF4-FFF2-40B4-BE49-F238E27FC236}">
                <a16:creationId xmlns:a16="http://schemas.microsoft.com/office/drawing/2014/main" id="{CE8D518F-92C4-4D7C-BBA0-1A592D02CA0E}"/>
              </a:ext>
            </a:extLst>
          </p:cNvPr>
          <p:cNvSpPr txBox="1"/>
          <p:nvPr/>
        </p:nvSpPr>
        <p:spPr>
          <a:xfrm flipH="1">
            <a:off x="6445138" y="5165422"/>
            <a:ext cx="1630680" cy="646986"/>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70" name="TextBox 69">
            <a:extLst>
              <a:ext uri="{FF2B5EF4-FFF2-40B4-BE49-F238E27FC236}">
                <a16:creationId xmlns:a16="http://schemas.microsoft.com/office/drawing/2014/main" id="{4F8519BF-DBE8-4079-866F-257E09B43ADA}"/>
              </a:ext>
            </a:extLst>
          </p:cNvPr>
          <p:cNvSpPr txBox="1"/>
          <p:nvPr/>
        </p:nvSpPr>
        <p:spPr>
          <a:xfrm flipH="1">
            <a:off x="4315918" y="5165424"/>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71" name="TextBox 70">
            <a:extLst>
              <a:ext uri="{FF2B5EF4-FFF2-40B4-BE49-F238E27FC236}">
                <a16:creationId xmlns:a16="http://schemas.microsoft.com/office/drawing/2014/main" id="{90219D2D-A485-4573-9D7A-CE795D1C51CF}"/>
              </a:ext>
            </a:extLst>
          </p:cNvPr>
          <p:cNvSpPr txBox="1"/>
          <p:nvPr/>
        </p:nvSpPr>
        <p:spPr>
          <a:xfrm flipH="1">
            <a:off x="2196158" y="5165423"/>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594755" y="657921"/>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Tree>
    <p:extLst>
      <p:ext uri="{BB962C8B-B14F-4D97-AF65-F5344CB8AC3E}">
        <p14:creationId xmlns:p14="http://schemas.microsoft.com/office/powerpoint/2010/main" val="1385168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1908215"/>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2498484" y="167223"/>
            <a:ext cx="6904454"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מהלך </a:t>
            </a:r>
            <a:r>
              <a:rPr kumimoji="0" lang="he-IL" sz="4400" b="1"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הדיגיטל</a:t>
            </a: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להזדקנות מיטבית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Calibri"/>
                <a:ea typeface="+mn-ea"/>
                <a:cs typeface="Calibri"/>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2865</Words>
  <Application>Microsoft Office PowerPoint</Application>
  <PresentationFormat>מסך רחב</PresentationFormat>
  <Paragraphs>408</Paragraphs>
  <Slides>29</Slides>
  <Notes>11</Notes>
  <HiddenSlides>5</HiddenSlides>
  <MMClips>0</MMClips>
  <ScaleCrop>false</ScaleCrop>
  <HeadingPairs>
    <vt:vector size="6" baseType="variant">
      <vt:variant>
        <vt:lpstr>גופנים בשימוש</vt:lpstr>
      </vt:variant>
      <vt:variant>
        <vt:i4>17</vt:i4>
      </vt:variant>
      <vt:variant>
        <vt:lpstr>ערכת נושא</vt:lpstr>
      </vt:variant>
      <vt:variant>
        <vt:i4>5</vt:i4>
      </vt:variant>
      <vt:variant>
        <vt:lpstr>כותרות שקופיות</vt:lpstr>
      </vt:variant>
      <vt:variant>
        <vt:i4>29</vt:i4>
      </vt:variant>
    </vt:vector>
  </HeadingPairs>
  <TitlesOfParts>
    <vt:vector size="51" baseType="lpstr">
      <vt:lpstr>Aptos</vt:lpstr>
      <vt:lpstr>Arial</vt:lpstr>
      <vt:lpstr>ArialMT</vt:lpstr>
      <vt:lpstr>Assistant</vt:lpstr>
      <vt:lpstr>Assistant ExtraBold</vt:lpstr>
      <vt:lpstr>Assistant Light</vt:lpstr>
      <vt:lpstr>Assistant SemiBold</vt:lpstr>
      <vt:lpstr>Calibri</vt:lpstr>
      <vt:lpstr>Calibri Light</vt:lpstr>
      <vt:lpstr>Calibri-Bold</vt:lpstr>
      <vt:lpstr>EYInterstate Light</vt:lpstr>
      <vt:lpstr>Heebo Black</vt:lpstr>
      <vt:lpstr>Open Sans</vt:lpstr>
      <vt:lpstr>Rubik</vt:lpstr>
      <vt:lpstr>Segoe UI Semilight</vt:lpstr>
      <vt:lpstr>Symbol</vt:lpstr>
      <vt:lpstr>Wingdings</vt:lpstr>
      <vt:lpstr>Office Theme</vt:lpstr>
      <vt:lpstr>2_ערכת נושא Office</vt:lpstr>
      <vt:lpstr>1_ערכת נושא Office</vt:lpstr>
      <vt:lpstr>קו בצד עם שם המצגת</vt:lpstr>
      <vt:lpstr>1_Office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1</cp:revision>
  <dcterms:created xsi:type="dcterms:W3CDTF">2024-09-29T19:32:29Z</dcterms:created>
  <dcterms:modified xsi:type="dcterms:W3CDTF">2024-09-29T20:32:04Z</dcterms:modified>
</cp:coreProperties>
</file>