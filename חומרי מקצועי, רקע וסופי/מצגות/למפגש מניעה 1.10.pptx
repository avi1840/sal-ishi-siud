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2"/>
  </p:notesMasterIdLst>
  <p:sldIdLst>
    <p:sldId id="2145707194" r:id="rId6"/>
    <p:sldId id="2145707196" r:id="rId7"/>
    <p:sldId id="2145707221" r:id="rId8"/>
    <p:sldId id="260" r:id="rId9"/>
    <p:sldId id="2145707189" r:id="rId10"/>
    <p:sldId id="257" r:id="rId11"/>
    <p:sldId id="258" r:id="rId12"/>
    <p:sldId id="2145707187" r:id="rId13"/>
    <p:sldId id="2145707191" r:id="rId14"/>
    <p:sldId id="262" r:id="rId15"/>
    <p:sldId id="2145707223" r:id="rId16"/>
    <p:sldId id="264" r:id="rId17"/>
    <p:sldId id="2145707181" r:id="rId18"/>
    <p:sldId id="274" r:id="rId19"/>
    <p:sldId id="275" r:id="rId20"/>
    <p:sldId id="214570720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אביעד יצחק" initials="אי" lastIdx="1" clrIdx="0">
    <p:extLst>
      <p:ext uri="{19B8F6BF-5375-455C-9EA6-DF929625EA0E}">
        <p15:presenceInfo xmlns:p15="http://schemas.microsoft.com/office/powerpoint/2012/main" userId="dfdfd6e216b3e1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D"/>
    <a:srgbClr val="4197B9"/>
    <a:srgbClr val="FFFFFF"/>
    <a:srgbClr val="347994"/>
    <a:srgbClr val="3983A1"/>
    <a:srgbClr val="9F52A3"/>
    <a:srgbClr val="3E6BB4"/>
    <a:srgbClr val="6E1530"/>
    <a:srgbClr val="519E45"/>
    <a:srgbClr val="5AA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6599"/>
  </p:normalViewPr>
  <p:slideViewPr>
    <p:cSldViewPr snapToGrid="0" snapToObjects="1">
      <p:cViewPr varScale="1">
        <p:scale>
          <a:sx n="106" d="100"/>
          <a:sy n="106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E0BAD735-58CA-40DF-9DB6-18C7F4FED3C7}" type="datetimeFigureOut">
              <a:rPr lang="he-IL" smtClean="0"/>
              <a:t>י"ט/אלול/תשפ"ד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EEF8C23-862A-4E90-8E18-A70B6FCB1D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327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8BD78C-6517-4499-90A1-33D3D1D63F85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87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F8C23-862A-4E90-8E18-A70B6FCB1DF9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7319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במסגרת עבודת הפורום מופו 20 יעדי מפתח, נעשה סקר התכנסו ל- 7 אשר מתוכם נבחרו 3 למיקוד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/>
          </a:p>
          <a:p>
            <a:pPr algn="r" rtl="1"/>
            <a:r>
              <a:rPr lang="he-IL" dirty="0"/>
              <a:t>אביעד: כדאי אולי שקף על המובילים שכולל מוביל בכל משרד ואותך וחיים (ואז זה מקדים ומנהל את הצוות פעולה השונים).</a:t>
            </a:r>
          </a:p>
          <a:p>
            <a:r>
              <a:rPr lang="he-IL" dirty="0"/>
              <a:t>הצעתי שבכל פעם יהיה צבעוני </a:t>
            </a:r>
            <a:r>
              <a:rPr lang="he-IL" dirty="0" err="1"/>
              <a:t>ההחלק</a:t>
            </a:r>
            <a:r>
              <a:rPr lang="he-IL" dirty="0"/>
              <a:t> הרלוונטי בשלישייה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/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F8C23-862A-4E90-8E18-A70B6FCB1DF9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694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אביעד: התמונה של </a:t>
            </a:r>
            <a:r>
              <a:rPr lang="he-IL" dirty="0" err="1"/>
              <a:t>דיגיטל</a:t>
            </a:r>
            <a:r>
              <a:rPr lang="he-IL" dirty="0"/>
              <a:t>, יש תמונות טובות מהצוות הזה</a:t>
            </a: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F8C23-862A-4E90-8E18-A70B6FCB1DF9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7861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לבקש   הערות לדיוקים ותוספות.</a:t>
            </a:r>
          </a:p>
          <a:p>
            <a:pPr algn="r" rtl="1"/>
            <a:r>
              <a:rPr lang="he-IL" dirty="0"/>
              <a:t>למשל להגדיר מי זה אפס בקהל היעד.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**לציין שתהליך גיבוש התפיסה היא בתהליך בנייה מתמשך- לדיוקים ובעיקר לתוספות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16BF82-8EEB-4F35-9480-BAD7C861D47C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698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להזכיר את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F8C23-862A-4E90-8E18-A70B6FCB1DF9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7326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 יריב לפעמים שואל אותי איך העסק הזה מצליח?, מדובר באנשים הכי עסוקים שיש ובתקופה הכי עמוסה, אומרים שאם תרצה שמשימה תתבצע תיתן אותה </a:t>
            </a:r>
            <a:r>
              <a:rPr lang="he-IL" dirty="0" err="1"/>
              <a:t>להאדם</a:t>
            </a:r>
            <a:r>
              <a:rPr lang="he-IL" dirty="0"/>
              <a:t> הכי עסוק בחדר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EF8C23-862A-4E90-8E18-A70B6FCB1DF9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72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F246-B13E-F44B-9216-5BE9752EA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B67B1-7A81-1643-9124-7F66AE91D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197E8-8302-8F43-8422-D2068DAB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24016-53E3-EB4C-BEFE-6D4D50EE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A156D-1E0F-5E46-AAD1-D9E87039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73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6422-A307-D442-BEC2-F22846E3F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F8159-9388-4245-9218-200D3546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CDD00-DFCD-3D45-884E-43E8126C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3A1FF-2023-9247-9FC2-6D8A6B85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09010-BFF0-6B40-8B30-F196E50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9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AAB7-50F3-A34A-866A-5966B324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C2FBC-6686-1B41-A4C8-AF4222484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99AEF-2DF0-514D-AA3E-D1871D42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FF354-EF2B-6B47-AA90-9FE7D23F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E6BB-E8B8-1F45-BA11-80C46BE8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0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1D17-E30E-A44F-B979-BD51715D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407C0-13F6-EE42-9E98-8F7F55361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85338-3D9A-7544-A663-8879FF7F2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33B68-6F23-394B-AB2F-C97B1462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B7904-9D2C-7F42-99C8-48CD2900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0D40A-661D-B445-A9FE-7E2D6F9A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4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8634-1008-8F4F-8BAE-44029796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AACF4-ED01-614D-AC3C-1E79A12D5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1F505-5059-444B-9050-BEF38F7DE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26B42-06A3-4C4A-A22D-A5CA49EED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FB7F8-9FB7-9A40-8E81-FF532D07F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6765A-94CC-564A-821A-A5BA7578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A973FF-F5B1-BB43-B2A6-2A1E0791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1B270-2353-8B42-B782-3269376A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B3C2-4738-F84A-8AF8-84F5736E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DC9C7-44FA-5649-804C-05DD7B7FC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8F36D-63CC-614B-B8FF-B21C6CDD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091AC-C70D-F149-AB59-6BBDC780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0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04EED5-70B6-9744-8C12-72AAC4B4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8B786-DC53-CD41-AB23-BC738133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BA792-5831-7F4A-A148-289C6126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65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2BA9-6B4F-D742-9B1E-B927DC61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64A4E-8E5C-7B49-A481-C42BA49B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E038B-11C4-E748-9BC0-3A996D6D7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C2652-CA7D-3349-9AEB-4A33C92A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DAE52-DD60-ED44-8CCC-BCB4E72E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39173-CF67-C540-89E0-549FEECE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1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15F5-F5AC-DF4B-9516-2AA36FB3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6899F1-ECB9-D840-8729-9C3DFB495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155FF-7111-694E-806B-41D138261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8428C-1747-6549-B91E-449DBEE0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49A33-A649-9E40-91BD-7F2C8DF2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0575D-FA2B-1841-817F-3DC8B061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4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7BF2-7D35-8E4F-9A15-555EF9B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1C5F9-E1F8-4E42-83D3-07C713E3F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E15D7-A4FB-944E-BC9D-A924A1C6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6530-36CB-8741-877A-E3CFEF4C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E37B1-8133-BE4F-A4D3-59900E25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16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050274-2F14-ED44-B5C7-CE86ACB86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542F9-A55B-124C-AD5F-EF714541A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C9E72-CD62-1A4C-95C7-9E07920E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EBF42-F98A-944B-8C5D-7AB61070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CBF3-CEFE-C244-B164-C67BF280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7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6EA07A-A4D0-7144-B16D-86A603E6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8C5E9-4215-C743-8862-D6BCC9FB8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0B1C7-C40B-0041-B5DE-EE296733C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F34DE-F91B-CF4A-81E7-66A722908E95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DAFE0-DD1E-DB4A-B70C-20EC95F75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F2F6A-56D2-AD43-838F-83D9327D8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1F09A-D1C8-9E44-820B-9326B7F17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9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18.png"/><Relationship Id="rId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25.svg"/><Relationship Id="rId9" Type="http://schemas.openxmlformats.org/officeDocument/2006/relationships/image" Target="../media/image22.png"/><Relationship Id="rId14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19.png"/><Relationship Id="rId5" Type="http://schemas.openxmlformats.org/officeDocument/2006/relationships/image" Target="../media/image33.png"/><Relationship Id="rId10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17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5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6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7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22.png"/><Relationship Id="rId21" Type="http://schemas.openxmlformats.org/officeDocument/2006/relationships/image" Target="../media/image73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7.png"/><Relationship Id="rId5" Type="http://schemas.openxmlformats.org/officeDocument/2006/relationships/image" Target="../media/image18.png"/><Relationship Id="rId15" Type="http://schemas.openxmlformats.org/officeDocument/2006/relationships/image" Target="../media/image11.png"/><Relationship Id="rId23" Type="http://schemas.openxmlformats.org/officeDocument/2006/relationships/image" Target="../media/image74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5BD81F46-0B7A-C74F-8D89-5A2E8801C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5"/>
            <a:ext cx="12192000" cy="685489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3A950DD9-8ABF-A04B-A56F-7B5DA86D80DC}"/>
              </a:ext>
            </a:extLst>
          </p:cNvPr>
          <p:cNvSpPr/>
          <p:nvPr/>
        </p:nvSpPr>
        <p:spPr>
          <a:xfrm>
            <a:off x="6350" y="6133353"/>
            <a:ext cx="12185650" cy="615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FF762009-BA44-4544-A34C-D6674A8F3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2928823"/>
            <a:ext cx="11480800" cy="18415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92E52786-9B5C-1A46-980C-D58A67BF4BC1}"/>
              </a:ext>
            </a:extLst>
          </p:cNvPr>
          <p:cNvSpPr txBox="1"/>
          <p:nvPr/>
        </p:nvSpPr>
        <p:spPr>
          <a:xfrm>
            <a:off x="2160308" y="2404736"/>
            <a:ext cx="64766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  <a:t>בריאות, ביטוח לאומי, רווחה, רשויות, קופות החולים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6DC035-DE58-4748-857D-79F08BC8EC4C}"/>
              </a:ext>
            </a:extLst>
          </p:cNvPr>
          <p:cNvSpPr txBox="1"/>
          <p:nvPr/>
        </p:nvSpPr>
        <p:spPr>
          <a:xfrm>
            <a:off x="1126434" y="3209170"/>
            <a:ext cx="993913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900" b="1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  <a:t>שיתוף פעולה רב מערכתי למענה רוחבי</a:t>
            </a:r>
            <a:b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</a:br>
            <a:r>
              <a:rPr kumimoji="0" lang="he-IL" sz="3900" b="1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  <a:t>לאתגרי הזדקנות האוכלוסייה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srgbClr val="3E6BB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856679-88E6-B7F2-0FE3-411CB6528DE5}"/>
              </a:ext>
            </a:extLst>
          </p:cNvPr>
          <p:cNvGrpSpPr/>
          <p:nvPr/>
        </p:nvGrpSpPr>
        <p:grpSpPr>
          <a:xfrm>
            <a:off x="226243" y="6199685"/>
            <a:ext cx="11610157" cy="549240"/>
            <a:chOff x="375065" y="6199685"/>
            <a:chExt cx="10855271" cy="513610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2B9B283-60D3-1B4E-9DEB-59534071D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55636" y="6289528"/>
              <a:ext cx="774700" cy="2540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F8D665-4E5D-EF27-955E-1F2AEFF3A522}"/>
                </a:ext>
              </a:extLst>
            </p:cNvPr>
            <p:cNvGrpSpPr/>
            <p:nvPr/>
          </p:nvGrpSpPr>
          <p:grpSpPr>
            <a:xfrm>
              <a:off x="375065" y="6199685"/>
              <a:ext cx="10074221" cy="513610"/>
              <a:chOff x="375065" y="6199685"/>
              <a:chExt cx="10074221" cy="51361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51DB092-8077-B04A-9552-C71713B68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5344" y="6222253"/>
                <a:ext cx="996896" cy="418053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65E5819-D790-7542-A28A-372F3A4661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49186" y="6241303"/>
                <a:ext cx="800100" cy="292100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2051D34-C093-BD4F-B9D7-CE3AF3318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65299" y="6232209"/>
                <a:ext cx="774080" cy="456154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DF302E7-5279-4544-93E6-320702454F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06279" y="6200619"/>
                <a:ext cx="1003327" cy="418053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AC305FE5-0725-C04D-AE72-ED093994D8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5956" y="6200620"/>
                <a:ext cx="558800" cy="419100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28CABE90-56B1-E549-BCB2-EEF4364E0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2649" y="6310106"/>
                <a:ext cx="685800" cy="330200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312D92BE-58A5-EA4E-A364-C027ED133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57565" y="6365720"/>
                <a:ext cx="800100" cy="254000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AB7E1971-B675-4A40-802D-2EC69C1D0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98831" y="6350214"/>
                <a:ext cx="723900" cy="241300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1FB31FA5-DE9C-9549-A6B0-99B7A6CA8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38588" y="6316134"/>
                <a:ext cx="558800" cy="266700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4CAD3B60-7FF9-E448-93A2-29410BC06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5065" y="6243395"/>
                <a:ext cx="787400" cy="469900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8A6C42FD-B448-EF46-9F69-FE64B31DE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80400" y="6219670"/>
                <a:ext cx="673100" cy="381000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3A15B2AB-E3B8-CA4A-AC07-7ECBA1745F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59850" y="6199685"/>
                <a:ext cx="787400" cy="508000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860A994-DE9D-D943-AA2B-C53AFA060D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65017" y="6282916"/>
                <a:ext cx="613119" cy="335756"/>
              </a:xfrm>
              <a:prstGeom prst="rect">
                <a:avLst/>
              </a:prstGeom>
              <a:ln>
                <a:noFill/>
              </a:ln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4122FD9-453E-27D6-0AC4-C38F8B22A2E6}"/>
              </a:ext>
            </a:extLst>
          </p:cNvPr>
          <p:cNvGrpSpPr/>
          <p:nvPr/>
        </p:nvGrpSpPr>
        <p:grpSpPr>
          <a:xfrm>
            <a:off x="3486150" y="1040904"/>
            <a:ext cx="5219896" cy="1147663"/>
            <a:chOff x="3486150" y="1040904"/>
            <a:chExt cx="5219896" cy="11476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9C728B9-A789-DB49-D185-09BDA8E06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CE16FD7-F0AE-1103-8ADD-18CD2871D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230DBF-106C-D31B-AFB7-2549836C9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476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794D7F3-EB0E-B943-A136-7AD3BF41DA25}"/>
              </a:ext>
            </a:extLst>
          </p:cNvPr>
          <p:cNvSpPr/>
          <p:nvPr/>
        </p:nvSpPr>
        <p:spPr>
          <a:xfrm>
            <a:off x="645459" y="2733267"/>
            <a:ext cx="10893872" cy="629966"/>
          </a:xfrm>
          <a:prstGeom prst="rect">
            <a:avLst/>
          </a:prstGeom>
          <a:solidFill>
            <a:schemeClr val="bg1"/>
          </a:solidFill>
          <a:ln w="19050">
            <a:solidFill>
              <a:srgbClr val="3E6B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A07D7-A48C-4046-96E1-4AAB2FBF3887}"/>
              </a:ext>
            </a:extLst>
          </p:cNvPr>
          <p:cNvSpPr txBox="1"/>
          <p:nvPr/>
        </p:nvSpPr>
        <p:spPr>
          <a:xfrm>
            <a:off x="7394713" y="546652"/>
            <a:ext cx="41446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44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רקע</a:t>
            </a:r>
          </a:p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B2D5A0-A603-054F-A020-261623C59266}"/>
              </a:ext>
            </a:extLst>
          </p:cNvPr>
          <p:cNvSpPr txBox="1"/>
          <p:nvPr/>
        </p:nvSpPr>
        <p:spPr>
          <a:xfrm>
            <a:off x="1062318" y="1397672"/>
            <a:ext cx="10349948" cy="56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היערכות לעידן של 100 שנות חיים היא 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אחד מששת אתגרי המאקרו של ישראל </a:t>
            </a:r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(</a:t>
            </a:r>
            <a:r>
              <a:rPr lang="he-IL" sz="1520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מל"ל</a:t>
            </a:r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) ואחד האתגרים האסטרטגיים של מדינת ישראל לעשורים הקרובים. </a:t>
            </a:r>
            <a:endParaRPr lang="en-US" sz="152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3249DB-87C0-2147-A417-B8F2AE9C5983}"/>
              </a:ext>
            </a:extLst>
          </p:cNvPr>
          <p:cNvSpPr txBox="1"/>
          <p:nvPr/>
        </p:nvSpPr>
        <p:spPr>
          <a:xfrm>
            <a:off x="1062318" y="2231390"/>
            <a:ext cx="10349948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החלטות ממשלה 150 ו-127 נועדו לקדם 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היערכות ומענה להזדקנות האוכלוסייה בישראל </a:t>
            </a:r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וההשלכות החברתיות והכלכליות הנגזרות ממנה.  </a:t>
            </a:r>
            <a:endParaRPr lang="en-US" sz="152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47A520-5FDD-444B-A83D-9A5E9F2A5769}"/>
              </a:ext>
            </a:extLst>
          </p:cNvPr>
          <p:cNvSpPr txBox="1"/>
          <p:nvPr/>
        </p:nvSpPr>
        <p:spPr>
          <a:xfrm>
            <a:off x="599855" y="2800691"/>
            <a:ext cx="10894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תחום הזקנה מאופיין </a:t>
            </a:r>
            <a:r>
              <a:rPr lang="he-IL" sz="1600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בפיצוליות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רבה בין הגופים השונים, הגורמת להיעדר מדיניות אחידה, לחוסר תיאום וסנכרון ולחוסר יעילות ואפקטיביות, הללו גורמים לנטל בירוקרטי ולחוסר בהתאמת השירותים לאזרח.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07D410-A74E-6945-B776-17B1E6339D1E}"/>
              </a:ext>
            </a:extLst>
          </p:cNvPr>
          <p:cNvSpPr txBox="1"/>
          <p:nvPr/>
        </p:nvSpPr>
        <p:spPr>
          <a:xfrm>
            <a:off x="562633" y="3656778"/>
            <a:ext cx="10968513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היערכות מיטבית מחייבת 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שת"פ רב מערכתי אל מול אתגרי המערכת</a:t>
            </a:r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למענה הוליסטי לאדם ומשפחתו ולהשלכות הצפויות על המשק והחברה.</a:t>
            </a:r>
            <a:endParaRPr lang="en-US" sz="152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CE68DD-A943-0846-88C7-47B6055E0B69}"/>
              </a:ext>
            </a:extLst>
          </p:cNvPr>
          <p:cNvSpPr txBox="1"/>
          <p:nvPr/>
        </p:nvSpPr>
        <p:spPr>
          <a:xfrm>
            <a:off x="161365" y="4288790"/>
            <a:ext cx="11250901" cy="56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לשם כך הוקם פורום </a:t>
            </a:r>
            <a:r>
              <a:rPr lang="he-IL" sz="1520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בר"ק</a:t>
            </a:r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, המייצר פלטפורמה רב מערכתית 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לעבודה משותפת, המשלבת ידע, מומחיות, ניסיון ומשאבים </a:t>
            </a:r>
          </a:p>
          <a:p>
            <a:pPr algn="r" rtl="1"/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לקידום מענים משותפים לאתגרי המערכת ו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ליצירת</a:t>
            </a:r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שיתופי פעולה ברמה הארצית והמקומית </a:t>
            </a:r>
            <a:r>
              <a:rPr lang="he-IL" sz="152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לטובת קידום הזדקנות מיטבית בגישה צופה פני עתיד .</a:t>
            </a:r>
            <a:endParaRPr lang="en-US" sz="152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E4A34D-01BC-2143-84C2-3B3D4A6AC8FA}"/>
              </a:ext>
            </a:extLst>
          </p:cNvPr>
          <p:cNvSpPr txBox="1"/>
          <p:nvPr/>
        </p:nvSpPr>
        <p:spPr>
          <a:xfrm>
            <a:off x="-470647" y="5149402"/>
            <a:ext cx="11250901" cy="56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הפורום מורכב מנציגי מפתח בכירים של משרד הרווחה והביטחון החברתי, משרד הבריאות, המשרד לשוויון חברתי, </a:t>
            </a:r>
            <a:br>
              <a:rPr lang="en-US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מערך </a:t>
            </a:r>
            <a:r>
              <a:rPr lang="he-IL" sz="1520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הדיגיטל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הלאומי, הביטוח הלאומי, רשויות מקומיות, קופות החולים, </a:t>
            </a:r>
            <a:r>
              <a:rPr lang="he-IL" sz="1520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הלמ"ס</a:t>
            </a:r>
            <a:r>
              <a:rPr lang="he-IL" sz="152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והג'וינט.</a:t>
            </a:r>
            <a:endParaRPr lang="en-US" sz="1520" b="1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B975B0-50AF-4146-8BF4-27AAB8F345A5}"/>
              </a:ext>
            </a:extLst>
          </p:cNvPr>
          <p:cNvSpPr/>
          <p:nvPr/>
        </p:nvSpPr>
        <p:spPr>
          <a:xfrm>
            <a:off x="645459" y="1344294"/>
            <a:ext cx="10893872" cy="666907"/>
          </a:xfrm>
          <a:prstGeom prst="rect">
            <a:avLst/>
          </a:prstGeom>
          <a:noFill/>
          <a:ln w="19050">
            <a:solidFill>
              <a:srgbClr val="3E6B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8D2FF6-0258-DB45-875C-091F287E1266}"/>
              </a:ext>
            </a:extLst>
          </p:cNvPr>
          <p:cNvSpPr/>
          <p:nvPr/>
        </p:nvSpPr>
        <p:spPr>
          <a:xfrm>
            <a:off x="645459" y="2167255"/>
            <a:ext cx="10893872" cy="431414"/>
          </a:xfrm>
          <a:prstGeom prst="rect">
            <a:avLst/>
          </a:prstGeom>
          <a:noFill/>
          <a:ln w="19050">
            <a:solidFill>
              <a:srgbClr val="3E6B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3224C8-7E2B-724D-8A67-A90D5E4A11FC}"/>
              </a:ext>
            </a:extLst>
          </p:cNvPr>
          <p:cNvSpPr/>
          <p:nvPr/>
        </p:nvSpPr>
        <p:spPr>
          <a:xfrm>
            <a:off x="645459" y="3609974"/>
            <a:ext cx="10893872" cy="440977"/>
          </a:xfrm>
          <a:prstGeom prst="rect">
            <a:avLst/>
          </a:prstGeom>
          <a:noFill/>
          <a:ln w="19050">
            <a:solidFill>
              <a:srgbClr val="3E6B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E22053-244D-4642-8537-9A13BBF9E3FB}"/>
              </a:ext>
            </a:extLst>
          </p:cNvPr>
          <p:cNvSpPr/>
          <p:nvPr/>
        </p:nvSpPr>
        <p:spPr>
          <a:xfrm>
            <a:off x="645459" y="4239894"/>
            <a:ext cx="10893872" cy="619209"/>
          </a:xfrm>
          <a:prstGeom prst="rect">
            <a:avLst/>
          </a:prstGeom>
          <a:noFill/>
          <a:ln w="19050">
            <a:solidFill>
              <a:srgbClr val="3E6B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8B5DEA-CFFA-D94F-A926-9AFAE8B55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53" y="1428339"/>
            <a:ext cx="304800" cy="8001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55E23F2-65E0-144E-A5F7-08E6A29A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53" y="2302099"/>
            <a:ext cx="304800" cy="8001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BF91E23-68AD-5845-849F-D6CB2D132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53" y="3094579"/>
            <a:ext cx="304800" cy="8001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780A56E-E49D-BD41-8C7A-237D0B0D0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53" y="3948019"/>
            <a:ext cx="304800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9A2285-8382-5A4F-9202-CFE0183B9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9946" y="5169612"/>
            <a:ext cx="711200" cy="520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4E156D-7D7F-C791-0DF1-8FFFD04E8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66248"/>
            <a:ext cx="12192000" cy="91060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A00FF39-81DC-7B42-DF8B-FE1B1F163686}"/>
              </a:ext>
            </a:extLst>
          </p:cNvPr>
          <p:cNvGrpSpPr/>
          <p:nvPr/>
        </p:nvGrpSpPr>
        <p:grpSpPr>
          <a:xfrm>
            <a:off x="311158" y="6156883"/>
            <a:ext cx="2347678" cy="516168"/>
            <a:chOff x="3486150" y="1040904"/>
            <a:chExt cx="5219896" cy="11476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E436D07-9CA1-9BC8-C360-0E6A42F77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D872F1-5B91-5662-E520-066EF3E06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03A8489-5E1B-9D5E-8EF4-31364C0E4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960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5BDC36F2-0B8D-4241-A254-A3A765B32305}"/>
              </a:ext>
            </a:extLst>
          </p:cNvPr>
          <p:cNvSpPr/>
          <p:nvPr/>
        </p:nvSpPr>
        <p:spPr>
          <a:xfrm>
            <a:off x="5052816" y="4830078"/>
            <a:ext cx="2412901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שיתוף נתונים</a:t>
            </a: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03B928-EE33-401E-AA7B-E630A0D0EAD6}"/>
              </a:ext>
            </a:extLst>
          </p:cNvPr>
          <p:cNvSpPr/>
          <p:nvPr/>
        </p:nvSpPr>
        <p:spPr>
          <a:xfrm>
            <a:off x="2873455" y="5163366"/>
            <a:ext cx="4593473" cy="879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r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פריצת החומות ושיתוף נתונים </a:t>
            </a:r>
            <a:r>
              <a:rPr kumimoji="0" lang="he-IL" sz="162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באקוסיסטם</a:t>
            </a: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כבסיס לגיבוש תמונת מצב </a:t>
            </a:r>
            <a:r>
              <a:rPr kumimoji="0" lang="he-IL" sz="162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מדוייקת</a:t>
            </a: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, שיפור השירותים והתאמתם לאזרח </a:t>
            </a:r>
            <a:endParaRPr kumimoji="0" lang="en-US" sz="162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ED60C49-9490-40D5-AFD6-41B0164250D1}"/>
              </a:ext>
            </a:extLst>
          </p:cNvPr>
          <p:cNvSpPr/>
          <p:nvPr/>
        </p:nvSpPr>
        <p:spPr>
          <a:xfrm>
            <a:off x="8610631" y="2613575"/>
            <a:ext cx="2412901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שת"פ</a:t>
            </a: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בין-משרדי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EF5A412-C4FD-4D19-B02D-969DE8FCB7C2}"/>
              </a:ext>
            </a:extLst>
          </p:cNvPr>
          <p:cNvSpPr/>
          <p:nvPr/>
        </p:nvSpPr>
        <p:spPr>
          <a:xfrm>
            <a:off x="8270496" y="2994258"/>
            <a:ext cx="2837391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r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5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FD7B525-E798-4FA9-AE46-582875A36993}"/>
              </a:ext>
            </a:extLst>
          </p:cNvPr>
          <p:cNvSpPr/>
          <p:nvPr/>
        </p:nvSpPr>
        <p:spPr>
          <a:xfrm>
            <a:off x="5029054" y="2593065"/>
            <a:ext cx="2412901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ביזור סמכויות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2817678-8447-4AEE-AD4C-888257D0A851}"/>
              </a:ext>
            </a:extLst>
          </p:cNvPr>
          <p:cNvSpPr/>
          <p:nvPr/>
        </p:nvSpPr>
        <p:spPr>
          <a:xfrm>
            <a:off x="4338369" y="2973748"/>
            <a:ext cx="3095211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מתן </a:t>
            </a:r>
            <a:r>
              <a:rPr kumimoji="0" lang="he-IL" sz="16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סמכויות לרשויות המקומיות 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ל</a:t>
            </a: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ניהול ותכנון השירותים לאזרח, מתוך הבנה שהרשות קרובה לאזרח 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ויכולה לתת לו מענה טוב ומותאם יותר.</a:t>
            </a:r>
            <a:endParaRPr kumimoji="0" lang="en-US" sz="16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0732936-C6AD-43F2-ABB3-B76CD8C8862E}"/>
              </a:ext>
            </a:extLst>
          </p:cNvPr>
          <p:cNvSpPr/>
          <p:nvPr/>
        </p:nvSpPr>
        <p:spPr>
          <a:xfrm>
            <a:off x="1161404" y="2593065"/>
            <a:ext cx="2413000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האדם במרכז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B1FB7BD-8D2A-4BF1-A8C8-B4DE96749BB3}"/>
              </a:ext>
            </a:extLst>
          </p:cNvPr>
          <p:cNvSpPr/>
          <p:nvPr/>
        </p:nvSpPr>
        <p:spPr>
          <a:xfrm>
            <a:off x="3460977" y="494245"/>
            <a:ext cx="6580735" cy="13168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47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שינוי המצב מושתת</a:t>
            </a:r>
            <a:r>
              <a:rPr kumimoji="0" lang="en-US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br>
              <a:rPr kumimoji="0" lang="en-US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</a:br>
            <a:r>
              <a:rPr kumimoji="0" lang="he-IL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על קידום ארבע </a:t>
            </a:r>
            <a:r>
              <a:rPr lang="he-IL" sz="3812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תפיסות מרכזיות</a:t>
            </a:r>
            <a:endParaRPr kumimoji="0" lang="en-US" sz="3812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CB1A339-EE6E-437F-8041-0816F89A83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84675" y="494245"/>
            <a:ext cx="1677714" cy="1452162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40CF4436-037A-E56B-836F-2EB08F88209B}"/>
              </a:ext>
            </a:extLst>
          </p:cNvPr>
          <p:cNvSpPr/>
          <p:nvPr/>
        </p:nvSpPr>
        <p:spPr>
          <a:xfrm>
            <a:off x="7677955" y="3981469"/>
            <a:ext cx="2412901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8E24A4-26D8-445C-AF8C-FF4C2AD06359}"/>
              </a:ext>
            </a:extLst>
          </p:cNvPr>
          <p:cNvCxnSpPr>
            <a:cxnSpLocks/>
          </p:cNvCxnSpPr>
          <p:nvPr/>
        </p:nvCxnSpPr>
        <p:spPr>
          <a:xfrm>
            <a:off x="0" y="4756073"/>
            <a:ext cx="1219200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2B808CA6-E0DF-401A-B2E6-D75088051C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918"/>
          <a:stretch/>
        </p:blipFill>
        <p:spPr>
          <a:xfrm>
            <a:off x="7466806" y="2568927"/>
            <a:ext cx="594671" cy="59527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88306B5-7E8F-4C19-8FD9-2945E69044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918"/>
          <a:stretch/>
        </p:blipFill>
        <p:spPr>
          <a:xfrm>
            <a:off x="3573339" y="2568927"/>
            <a:ext cx="594671" cy="595278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69A1E6F-18DB-49F4-96E0-3DF00158EDA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3884"/>
          <a:stretch/>
        </p:blipFill>
        <p:spPr>
          <a:xfrm rot="20683477">
            <a:off x="7463508" y="4662527"/>
            <a:ext cx="847178" cy="8953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906659-C38B-4A25-930E-F2728E79F09E}"/>
              </a:ext>
            </a:extLst>
          </p:cNvPr>
          <p:cNvSpPr txBox="1"/>
          <p:nvPr/>
        </p:nvSpPr>
        <p:spPr>
          <a:xfrm>
            <a:off x="8413667" y="4816897"/>
            <a:ext cx="1467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תשתית מאפשרת</a:t>
            </a:r>
            <a:endParaRPr lang="en-IL" sz="1400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D4ABE2AE-889D-F9FD-2F6F-1FDD1123AE54}"/>
              </a:ext>
            </a:extLst>
          </p:cNvPr>
          <p:cNvSpPr/>
          <p:nvPr/>
        </p:nvSpPr>
        <p:spPr>
          <a:xfrm>
            <a:off x="8441920" y="2479024"/>
            <a:ext cx="3374340" cy="202817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D8CA068-78AE-EB58-F492-0A3110C74E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966248"/>
            <a:ext cx="12192000" cy="910606"/>
          </a:xfrm>
          <a:prstGeom prst="rect">
            <a:avLst/>
          </a:prstGeom>
        </p:spPr>
      </p:pic>
      <p:grpSp>
        <p:nvGrpSpPr>
          <p:cNvPr id="4" name="Group 5">
            <a:extLst>
              <a:ext uri="{FF2B5EF4-FFF2-40B4-BE49-F238E27FC236}">
                <a16:creationId xmlns:a16="http://schemas.microsoft.com/office/drawing/2014/main" id="{23BF4949-7F12-6C1A-262B-E535E802A7BF}"/>
              </a:ext>
            </a:extLst>
          </p:cNvPr>
          <p:cNvGrpSpPr/>
          <p:nvPr/>
        </p:nvGrpSpPr>
        <p:grpSpPr>
          <a:xfrm>
            <a:off x="311158" y="6156883"/>
            <a:ext cx="2347678" cy="516168"/>
            <a:chOff x="3486150" y="1040904"/>
            <a:chExt cx="5219896" cy="11476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488F31-7885-006D-49A4-BCD2B1041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DF148547-46CE-0B99-B545-D9DC91BC8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17" name="Picture 9">
              <a:extLst>
                <a:ext uri="{FF2B5EF4-FFF2-40B4-BE49-F238E27FC236}">
                  <a16:creationId xmlns:a16="http://schemas.microsoft.com/office/drawing/2014/main" id="{72773167-B09B-C8B5-A435-1476DB6B2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  <p:sp>
        <p:nvSpPr>
          <p:cNvPr id="22" name="Text 6">
            <a:extLst>
              <a:ext uri="{FF2B5EF4-FFF2-40B4-BE49-F238E27FC236}">
                <a16:creationId xmlns:a16="http://schemas.microsoft.com/office/drawing/2014/main" id="{E5498A62-37A5-3FDE-8517-537635BFD3DC}"/>
              </a:ext>
            </a:extLst>
          </p:cNvPr>
          <p:cNvSpPr/>
          <p:nvPr/>
        </p:nvSpPr>
        <p:spPr>
          <a:xfrm>
            <a:off x="8441920" y="2994258"/>
            <a:ext cx="2807355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620" b="1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פורום עבודה משותף רב משרדי ומערכתי לגיבוש </a:t>
            </a:r>
            <a:r>
              <a:rPr kumimoji="0" lang="he-IL" sz="16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מדיניות </a:t>
            </a:r>
            <a:r>
              <a:rPr kumimoji="0" lang="he-IL" sz="162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ושולחן עבודה  משותף </a:t>
            </a:r>
            <a:r>
              <a:rPr kumimoji="0" lang="he-IL" sz="162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להובל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ת שינוי </a:t>
            </a:r>
            <a:r>
              <a:rPr kumimoji="0" lang="he-IL" sz="162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ומענה לאתגרי ההזדקנות בישראל</a:t>
            </a:r>
            <a:endParaRPr kumimoji="0" lang="en-US" sz="162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A416CE3-40B6-9274-7A28-B980BBA23916}"/>
              </a:ext>
            </a:extLst>
          </p:cNvPr>
          <p:cNvSpPr/>
          <p:nvPr/>
        </p:nvSpPr>
        <p:spPr>
          <a:xfrm>
            <a:off x="671646" y="2991086"/>
            <a:ext cx="3028944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lnSpc>
                <a:spcPts val="2592"/>
              </a:lnSpc>
              <a:defRPr/>
            </a:pPr>
            <a:r>
              <a:rPr lang="he-IL" sz="1620" dirty="0">
                <a:solidFill>
                  <a:prstClr val="black"/>
                </a:solidFill>
                <a:latin typeface="Assistant" pitchFamily="2" charset="-79"/>
                <a:cs typeface="Assistant" pitchFamily="2" charset="-79"/>
              </a:rPr>
              <a:t>תפיסה הוליסטית מבוססת דאטה לטובת </a:t>
            </a:r>
            <a:r>
              <a:rPr lang="he-IL" sz="1620" b="1" dirty="0">
                <a:solidFill>
                  <a:prstClr val="black"/>
                </a:solidFill>
                <a:latin typeface="Assistant" pitchFamily="2" charset="-79"/>
                <a:cs typeface="Assistant" pitchFamily="2" charset="-79"/>
              </a:rPr>
              <a:t>התאמת המערכת והשירותים לצרכי האדם 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cs typeface="Assistant" pitchFamily="2" charset="-79"/>
              </a:rPr>
              <a:t>(ולא להפך)</a:t>
            </a:r>
          </a:p>
          <a:p>
            <a:pPr algn="r" rtl="1">
              <a:lnSpc>
                <a:spcPts val="2592"/>
              </a:lnSpc>
              <a:defRPr/>
            </a:pPr>
            <a:endParaRPr lang="he-IL" sz="1620" dirty="0">
              <a:solidFill>
                <a:prstClr val="black"/>
              </a:solidFill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592"/>
              </a:lnSpc>
              <a:defRPr/>
            </a:pPr>
            <a:endParaRPr lang="he-IL" sz="1620" dirty="0">
              <a:solidFill>
                <a:prstClr val="black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pic>
        <p:nvPicPr>
          <p:cNvPr id="29" name="Graphic 27">
            <a:extLst>
              <a:ext uri="{FF2B5EF4-FFF2-40B4-BE49-F238E27FC236}">
                <a16:creationId xmlns:a16="http://schemas.microsoft.com/office/drawing/2014/main" id="{BAAE08BC-128D-4513-F210-27CC821008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b="22815"/>
          <a:stretch/>
        </p:blipFill>
        <p:spPr>
          <a:xfrm>
            <a:off x="11048079" y="2552717"/>
            <a:ext cx="677673" cy="653833"/>
          </a:xfrm>
          <a:prstGeom prst="rect">
            <a:avLst/>
          </a:prstGeom>
        </p:spPr>
      </p:pic>
      <p:sp>
        <p:nvSpPr>
          <p:cNvPr id="15" name="מלבן 14">
            <a:extLst>
              <a:ext uri="{FF2B5EF4-FFF2-40B4-BE49-F238E27FC236}">
                <a16:creationId xmlns:a16="http://schemas.microsoft.com/office/drawing/2014/main" id="{ED2C9F49-CC1E-F7CA-3192-B112575072F8}"/>
              </a:ext>
            </a:extLst>
          </p:cNvPr>
          <p:cNvSpPr/>
          <p:nvPr/>
        </p:nvSpPr>
        <p:spPr>
          <a:xfrm>
            <a:off x="751438" y="2479023"/>
            <a:ext cx="3445543" cy="202817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8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D647DA-F558-BB41-80B4-1A0ECCDF8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9878"/>
            <a:ext cx="5067300" cy="613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7394713" y="546652"/>
            <a:ext cx="41446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44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מטרות הפורום</a:t>
            </a:r>
          </a:p>
          <a:p>
            <a:pPr marL="0" algn="r" defTabSz="914400" rtl="1" eaLnBrk="1" latinLnBrk="0" hangingPunct="1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420172-4CCA-4A4B-BA1B-C7E542C13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8731" y="4265544"/>
            <a:ext cx="990600" cy="990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932A2F-4775-5A4D-BE2D-6E3A6F5DD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6031" y="1612970"/>
            <a:ext cx="1003300" cy="1003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284496-1BF5-A34E-BD9C-04592822FA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6031" y="2987537"/>
            <a:ext cx="1003300" cy="1003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1F91CB-8A2E-A743-8EE3-AD633C542F50}"/>
              </a:ext>
            </a:extLst>
          </p:cNvPr>
          <p:cNvSpPr txBox="1"/>
          <p:nvPr/>
        </p:nvSpPr>
        <p:spPr>
          <a:xfrm>
            <a:off x="5496339" y="1588702"/>
            <a:ext cx="4919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פיתוח </a:t>
            </a: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תפיסה משותפת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, תכנית פעולה ומענה רחב בהסתכלות אסטרטגית רב-מקצועית ורב-מערכתית לאתגרי ההזדקנות. </a:t>
            </a:r>
            <a:endParaRPr lang="en-US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84D80-44DF-7D42-8C8A-DD951CFB861A}"/>
              </a:ext>
            </a:extLst>
          </p:cNvPr>
          <p:cNvSpPr txBox="1"/>
          <p:nvPr/>
        </p:nvSpPr>
        <p:spPr>
          <a:xfrm>
            <a:off x="5496338" y="2967335"/>
            <a:ext cx="4919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גיבוש </a:t>
            </a: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מפת אתגרים, חסמי הליבה והזדמנויות </a:t>
            </a:r>
          </a:p>
          <a:p>
            <a:pPr algn="r" rtl="1"/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כבסיס לפיתוח תכניות עבודה משותפות המכוונות </a:t>
            </a:r>
          </a:p>
          <a:p>
            <a:pPr algn="r" rtl="1"/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להתמודדות עימם.</a:t>
            </a:r>
            <a:endParaRPr lang="en-US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FDB667-2B7C-E142-BCA5-3216516F1868}"/>
              </a:ext>
            </a:extLst>
          </p:cNvPr>
          <p:cNvSpPr txBox="1"/>
          <p:nvPr/>
        </p:nvSpPr>
        <p:spPr>
          <a:xfrm>
            <a:off x="5506277" y="4160679"/>
            <a:ext cx="4919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קידום </a:t>
            </a:r>
            <a:r>
              <a:rPr lang="he-IL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אקוסיסטם</a:t>
            </a: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הפועל יחד (במשותף) </a:t>
            </a:r>
          </a:p>
          <a:p>
            <a:pPr algn="r" rtl="1"/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באופן מתואם ומתוכנן, להובלת תהליכים בשדה </a:t>
            </a:r>
          </a:p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לטובת שיפור המענים לזקן בשגרה ובחירום </a:t>
            </a:r>
          </a:p>
          <a:p>
            <a:pPr algn="r" rtl="1"/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ותוך מיצוי אפקטיבי של המשאבים.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EF5564-4296-01F2-9F9F-870EED86A5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66248"/>
            <a:ext cx="12192000" cy="91060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79C7AB3-5DB3-6FF0-695A-3AF4DFCBDDDA}"/>
              </a:ext>
            </a:extLst>
          </p:cNvPr>
          <p:cNvGrpSpPr/>
          <p:nvPr/>
        </p:nvGrpSpPr>
        <p:grpSpPr>
          <a:xfrm>
            <a:off x="311158" y="6156883"/>
            <a:ext cx="2347678" cy="516168"/>
            <a:chOff x="3486150" y="1040904"/>
            <a:chExt cx="5219896" cy="114766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4E7927-D035-F222-5546-455553C79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15019C3-88F1-0C81-6087-0030CEBAA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CAC932-E817-97C8-F573-123C903A0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198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21CC2B8-E438-114C-9B36-85FEB5AC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100" y="-186063"/>
            <a:ext cx="6019800" cy="619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497066" y="167702"/>
            <a:ext cx="5871983" cy="606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אתגרים</a:t>
            </a:r>
            <a:r>
              <a:rPr lang="he-IL" sz="44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בשדה ההזדקנות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00941-94AB-A24F-B7ED-5C3731404897}"/>
              </a:ext>
            </a:extLst>
          </p:cNvPr>
          <p:cNvSpPr txBox="1"/>
          <p:nvPr/>
        </p:nvSpPr>
        <p:spPr>
          <a:xfrm>
            <a:off x="62753" y="853987"/>
            <a:ext cx="6442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פורום ברק הינו תולדה של ההבנה שקיימים בשדה אתגרי רוחב מערכתיים רבים שהתמודדות עימם מחייבת שיתופי פעולה בין ארגוניים. </a:t>
            </a:r>
          </a:p>
          <a:p>
            <a:pPr algn="r" rtl="1"/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תוחלת החיים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מגדילה את כמות הזקנים הנזקקים והמערכת לא ערוכה </a:t>
            </a:r>
          </a:p>
          <a:p>
            <a:pPr algn="r" rtl="1"/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להיקפים ולהשלכות.</a:t>
            </a:r>
          </a:p>
          <a:p>
            <a:pPr algn="r" rtl="1"/>
            <a:endParaRPr lang="en-US" sz="1600" b="1" dirty="0">
              <a:solidFill>
                <a:srgbClr val="3E6BB4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6FA014-86CD-1443-9D5B-5622C0D23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611" y="2150338"/>
            <a:ext cx="2210591" cy="2303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76FDC89-C829-0B4C-8EC5-10AAB2BD73D3}"/>
              </a:ext>
            </a:extLst>
          </p:cNvPr>
          <p:cNvSpPr txBox="1"/>
          <p:nvPr/>
        </p:nvSpPr>
        <p:spPr>
          <a:xfrm>
            <a:off x="3951030" y="2094593"/>
            <a:ext cx="2303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האתגרים המרכזיים: </a:t>
            </a:r>
            <a:endParaRPr lang="en-US" sz="16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E83F2E3-A6E7-7847-9B4A-4D251D83A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790" y="3241703"/>
            <a:ext cx="127000" cy="127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6EF39F9-DEEE-F54A-ADE9-E5C7D517E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069" y="3909758"/>
            <a:ext cx="127000" cy="127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6F24423-C6A0-80A2-25B3-756137DC8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047" y="4577415"/>
            <a:ext cx="127000" cy="127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64B432E-0883-E622-F344-58A1FAF83B34}"/>
              </a:ext>
            </a:extLst>
          </p:cNvPr>
          <p:cNvGrpSpPr/>
          <p:nvPr/>
        </p:nvGrpSpPr>
        <p:grpSpPr>
          <a:xfrm>
            <a:off x="-271991" y="2518877"/>
            <a:ext cx="6458060" cy="2323199"/>
            <a:chOff x="-225587" y="2279619"/>
            <a:chExt cx="6458060" cy="232319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E50E861-0FD2-9244-9047-C5254D792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2400326"/>
              <a:ext cx="127000" cy="1270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B3AEF25-9667-094B-BA6F-7C3B904CC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2708767"/>
              <a:ext cx="127000" cy="127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96C2B8-6A1C-D746-B1E4-092C7B62003C}"/>
                </a:ext>
              </a:extLst>
            </p:cNvPr>
            <p:cNvSpPr txBox="1"/>
            <p:nvPr/>
          </p:nvSpPr>
          <p:spPr>
            <a:xfrm>
              <a:off x="930652" y="2279619"/>
              <a:ext cx="5165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פרגמנטציה 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של שירותים ומשרדים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AC12740-4745-E546-8101-A58CD9F9C931}"/>
                </a:ext>
              </a:extLst>
            </p:cNvPr>
            <p:cNvSpPr txBox="1"/>
            <p:nvPr/>
          </p:nvSpPr>
          <p:spPr>
            <a:xfrm>
              <a:off x="938147" y="2913398"/>
              <a:ext cx="5165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צורך </a:t>
              </a:r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ברצף טיפולי 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בין המערכות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D01ED6-3BA0-4141-9F5B-E6E4B0754551}"/>
                </a:ext>
              </a:extLst>
            </p:cNvPr>
            <p:cNvSpPr txBox="1"/>
            <p:nvPr/>
          </p:nvSpPr>
          <p:spPr>
            <a:xfrm>
              <a:off x="938147" y="3535490"/>
              <a:ext cx="5165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חסמים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 </a:t>
              </a:r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בשיתוף מידע 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בין המערכות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0C97DAB-E553-B545-83CB-46F5CD9E1261}"/>
                </a:ext>
              </a:extLst>
            </p:cNvPr>
            <p:cNvSpPr txBox="1"/>
            <p:nvPr/>
          </p:nvSpPr>
          <p:spPr>
            <a:xfrm>
              <a:off x="690808" y="3847414"/>
              <a:ext cx="54051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מחסור </a:t>
              </a:r>
              <a:r>
                <a:rPr lang="he-IL" b="1" dirty="0" err="1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בכח</a:t>
              </a:r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 אדם 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מקצועי</a:t>
              </a:r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 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וטיפולי בשטח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0B41E47-6753-3C49-BBE7-029C9359D132}"/>
                </a:ext>
              </a:extLst>
            </p:cNvPr>
            <p:cNvSpPr txBox="1"/>
            <p:nvPr/>
          </p:nvSpPr>
          <p:spPr>
            <a:xfrm>
              <a:off x="690808" y="4233486"/>
              <a:ext cx="5412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מחסור בתהליכי מדידה 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מוכווני תוצאות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7BA02B-D527-575E-BC77-CC68A5786A6E}"/>
                </a:ext>
              </a:extLst>
            </p:cNvPr>
            <p:cNvSpPr txBox="1"/>
            <p:nvPr/>
          </p:nvSpPr>
          <p:spPr>
            <a:xfrm>
              <a:off x="1902011" y="2604957"/>
              <a:ext cx="4191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היעדר השקעה מספקת </a:t>
              </a:r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במניעה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5865AD-AEF4-2C02-F925-06959E780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5473" y="3328362"/>
              <a:ext cx="127000" cy="127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25BAFC-547D-9D80-D843-A31CC36B968C}"/>
                </a:ext>
              </a:extLst>
            </p:cNvPr>
            <p:cNvSpPr txBox="1"/>
            <p:nvPr/>
          </p:nvSpPr>
          <p:spPr>
            <a:xfrm>
              <a:off x="-225587" y="3187085"/>
              <a:ext cx="63290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he-IL" b="1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התאמה והנגשה </a:t>
              </a:r>
              <a:r>
                <a:rPr lang="he-IL" dirty="0">
                  <a:solidFill>
                    <a:srgbClr val="3E6BB4"/>
                  </a:solidFill>
                  <a:latin typeface="Assistant" pitchFamily="2" charset="-79"/>
                  <a:cs typeface="Assistant" pitchFamily="2" charset="-79"/>
                </a:rPr>
                <a:t>של שירותים לצרכי האזרח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D974C8E-B135-8E6E-2516-991A62667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3194" y="3989752"/>
              <a:ext cx="127000" cy="12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0413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7394713" y="546652"/>
            <a:ext cx="41446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4400" b="1" dirty="0">
                <a:solidFill>
                  <a:srgbClr val="3E6BB4"/>
                </a:solidFill>
                <a:latin typeface="Rubik" pitchFamily="2" charset="-79"/>
                <a:cs typeface="Rubik" pitchFamily="2" charset="-79"/>
              </a:rPr>
              <a:t>מבנה ארגוני</a:t>
            </a:r>
          </a:p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B1388-D45C-5049-88F0-305BD0375B8E}"/>
              </a:ext>
            </a:extLst>
          </p:cNvPr>
          <p:cNvSpPr txBox="1"/>
          <p:nvPr/>
        </p:nvSpPr>
        <p:spPr>
          <a:xfrm>
            <a:off x="8390964" y="4289612"/>
            <a:ext cx="164054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sz="23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צוות</a:t>
            </a:r>
            <a:br>
              <a:rPr lang="en-US" sz="23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3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מניעת</a:t>
            </a:r>
            <a:br>
              <a:rPr lang="en-US" sz="23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3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הדרדרות</a:t>
            </a:r>
            <a:endParaRPr lang="en-US" sz="2300" dirty="0">
              <a:solidFill>
                <a:srgbClr val="9F52A3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595D22-C6AC-4840-8E4E-0D4CD30BFE16}"/>
              </a:ext>
            </a:extLst>
          </p:cNvPr>
          <p:cNvSpPr txBox="1"/>
          <p:nvPr/>
        </p:nvSpPr>
        <p:spPr>
          <a:xfrm>
            <a:off x="6016997" y="4289612"/>
            <a:ext cx="16405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300" dirty="0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  <a:t>צוות</a:t>
            </a:r>
            <a:br>
              <a:rPr lang="en-US" sz="2300" dirty="0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300" dirty="0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  <a:t>דאטה-</a:t>
            </a:r>
            <a:r>
              <a:rPr lang="he-IL" sz="2300" dirty="0" err="1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  <a:t>דיגיטל</a:t>
            </a:r>
            <a:endParaRPr lang="en-US" sz="2300" dirty="0">
              <a:solidFill>
                <a:srgbClr val="5AA6C5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E63A48-A735-954D-A201-C6AC937E289C}"/>
              </a:ext>
            </a:extLst>
          </p:cNvPr>
          <p:cNvSpPr txBox="1"/>
          <p:nvPr/>
        </p:nvSpPr>
        <p:spPr>
          <a:xfrm>
            <a:off x="3213846" y="4289612"/>
            <a:ext cx="164054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300" dirty="0">
                <a:solidFill>
                  <a:srgbClr val="519E45"/>
                </a:solidFill>
                <a:latin typeface="Assistant" pitchFamily="2" charset="-79"/>
                <a:cs typeface="Assistant" pitchFamily="2" charset="-79"/>
              </a:rPr>
              <a:t>צוות</a:t>
            </a:r>
            <a:br>
              <a:rPr lang="en-US" sz="2300" dirty="0">
                <a:solidFill>
                  <a:srgbClr val="519E45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300" dirty="0">
                <a:solidFill>
                  <a:srgbClr val="519E45"/>
                </a:solidFill>
                <a:latin typeface="Assistant" pitchFamily="2" charset="-79"/>
                <a:cs typeface="Assistant" pitchFamily="2" charset="-79"/>
              </a:rPr>
              <a:t>רשויות</a:t>
            </a:r>
            <a:br>
              <a:rPr lang="en-US" sz="2300" dirty="0">
                <a:solidFill>
                  <a:srgbClr val="519E45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300" dirty="0">
                <a:solidFill>
                  <a:srgbClr val="519E45"/>
                </a:solidFill>
                <a:latin typeface="Assistant" pitchFamily="2" charset="-79"/>
                <a:cs typeface="Assistant" pitchFamily="2" charset="-79"/>
              </a:rPr>
              <a:t>מקומיות</a:t>
            </a:r>
            <a:endParaRPr lang="en-US" sz="2300" dirty="0">
              <a:solidFill>
                <a:srgbClr val="519E45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DA7BE1-6951-744E-9E85-FB0F0A55C63D}"/>
              </a:ext>
            </a:extLst>
          </p:cNvPr>
          <p:cNvSpPr txBox="1"/>
          <p:nvPr/>
        </p:nvSpPr>
        <p:spPr>
          <a:xfrm>
            <a:off x="551328" y="4289612"/>
            <a:ext cx="164054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300" dirty="0">
                <a:solidFill>
                  <a:srgbClr val="6E1530"/>
                </a:solidFill>
                <a:latin typeface="Assistant" pitchFamily="2" charset="-79"/>
                <a:cs typeface="Assistant" pitchFamily="2" charset="-79"/>
              </a:rPr>
              <a:t>צוות</a:t>
            </a:r>
            <a:br>
              <a:rPr lang="en-US" sz="2300" dirty="0">
                <a:solidFill>
                  <a:srgbClr val="6E153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300" dirty="0">
                <a:solidFill>
                  <a:srgbClr val="6E1530"/>
                </a:solidFill>
                <a:latin typeface="Assistant" pitchFamily="2" charset="-79"/>
                <a:cs typeface="Assistant" pitchFamily="2" charset="-79"/>
              </a:rPr>
              <a:t>מערכי</a:t>
            </a:r>
            <a:br>
              <a:rPr lang="en-US" sz="2300" dirty="0">
                <a:solidFill>
                  <a:srgbClr val="6E153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300" dirty="0">
                <a:solidFill>
                  <a:srgbClr val="6E1530"/>
                </a:solidFill>
                <a:latin typeface="Assistant" pitchFamily="2" charset="-79"/>
                <a:cs typeface="Assistant" pitchFamily="2" charset="-79"/>
              </a:rPr>
              <a:t>דיור</a:t>
            </a:r>
            <a:endParaRPr lang="en-US" sz="2300" dirty="0">
              <a:solidFill>
                <a:srgbClr val="6E1530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30010-94CD-2648-998A-21D590167AE6}"/>
              </a:ext>
            </a:extLst>
          </p:cNvPr>
          <p:cNvSpPr txBox="1"/>
          <p:nvPr/>
        </p:nvSpPr>
        <p:spPr>
          <a:xfrm>
            <a:off x="1021973" y="5366739"/>
            <a:ext cx="22187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100" dirty="0">
                <a:solidFill>
                  <a:srgbClr val="6E1530"/>
                </a:solidFill>
                <a:latin typeface="Rubik" pitchFamily="2" charset="-79"/>
                <a:cs typeface="Rubik" pitchFamily="2" charset="-79"/>
              </a:rPr>
              <a:t>*</a:t>
            </a:r>
            <a:r>
              <a:rPr lang="he-IL" sz="1100" dirty="0">
                <a:solidFill>
                  <a:srgbClr val="6E1530"/>
                </a:solidFill>
                <a:latin typeface="Assistant" pitchFamily="2" charset="-79"/>
                <a:cs typeface="Assistant" pitchFamily="2" charset="-79"/>
              </a:rPr>
              <a:t>צוות מערכי דיור- בבדיקה להקמה</a:t>
            </a:r>
            <a:endParaRPr lang="en-US" sz="1100" dirty="0">
              <a:solidFill>
                <a:srgbClr val="6E1530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AE5042-6D4D-134D-A4AA-B7ADB01C1C20}"/>
              </a:ext>
            </a:extLst>
          </p:cNvPr>
          <p:cNvSpPr txBox="1"/>
          <p:nvPr/>
        </p:nvSpPr>
        <p:spPr>
          <a:xfrm>
            <a:off x="4477869" y="1173710"/>
            <a:ext cx="213808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sz="23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פורום מנכ״לים</a:t>
            </a:r>
            <a:endParaRPr lang="en-US" sz="23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761C7A-B604-1140-8283-C93104EA926C}"/>
              </a:ext>
            </a:extLst>
          </p:cNvPr>
          <p:cNvSpPr txBox="1"/>
          <p:nvPr/>
        </p:nvSpPr>
        <p:spPr>
          <a:xfrm>
            <a:off x="4161443" y="2026275"/>
            <a:ext cx="242047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sz="23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מובילי פורום </a:t>
            </a:r>
            <a:r>
              <a:rPr lang="he-IL" sz="2300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בר״ק</a:t>
            </a:r>
            <a:endParaRPr lang="en-US" sz="23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F76233-6FC9-FB40-8DA4-5F56D50CA2EE}"/>
              </a:ext>
            </a:extLst>
          </p:cNvPr>
          <p:cNvSpPr txBox="1"/>
          <p:nvPr/>
        </p:nvSpPr>
        <p:spPr>
          <a:xfrm>
            <a:off x="3953436" y="2857247"/>
            <a:ext cx="242047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sz="23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4 צוותי עבודה</a:t>
            </a:r>
            <a:endParaRPr lang="en-US" sz="23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9BFC37-894C-6A4C-8EA1-652F8FA45264}"/>
              </a:ext>
            </a:extLst>
          </p:cNvPr>
          <p:cNvCxnSpPr/>
          <p:nvPr/>
        </p:nvCxnSpPr>
        <p:spPr>
          <a:xfrm>
            <a:off x="8525435" y="4383741"/>
            <a:ext cx="0" cy="1113803"/>
          </a:xfrm>
          <a:prstGeom prst="line">
            <a:avLst/>
          </a:prstGeom>
          <a:ln w="28575">
            <a:solidFill>
              <a:srgbClr val="3E6B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DB04BB-CBDE-6940-8584-7A8F9E76A7E6}"/>
              </a:ext>
            </a:extLst>
          </p:cNvPr>
          <p:cNvCxnSpPr/>
          <p:nvPr/>
        </p:nvCxnSpPr>
        <p:spPr>
          <a:xfrm>
            <a:off x="6037730" y="4383741"/>
            <a:ext cx="0" cy="1113803"/>
          </a:xfrm>
          <a:prstGeom prst="line">
            <a:avLst/>
          </a:prstGeom>
          <a:ln w="28575">
            <a:solidFill>
              <a:srgbClr val="3E6B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D3871A-F3FB-4E4F-9175-A73F95A7B75A}"/>
              </a:ext>
            </a:extLst>
          </p:cNvPr>
          <p:cNvCxnSpPr/>
          <p:nvPr/>
        </p:nvCxnSpPr>
        <p:spPr>
          <a:xfrm>
            <a:off x="3375212" y="4383741"/>
            <a:ext cx="0" cy="1113803"/>
          </a:xfrm>
          <a:prstGeom prst="line">
            <a:avLst/>
          </a:prstGeom>
          <a:ln w="28575">
            <a:solidFill>
              <a:srgbClr val="3E6B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E4592BD-0364-914D-96BD-43CBDB833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906" y="2864638"/>
            <a:ext cx="1143000" cy="431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AB78E7-C13B-8043-A4FD-70F878985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913" y="1972457"/>
            <a:ext cx="812800" cy="596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BC0AE7E-CAEC-3149-B7BE-BE6FC9E19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160" y="895420"/>
            <a:ext cx="685800" cy="660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806738-8254-444C-935E-8834B1F9B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535" y="3448321"/>
            <a:ext cx="1282700" cy="863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F89ABF7-207A-784E-8223-1549E4E503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906" y="3409887"/>
            <a:ext cx="736600" cy="8509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8B6B2C1-BFF4-DD4D-A7FB-5DCD9DA515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5985" y="3381628"/>
            <a:ext cx="1371600" cy="9271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631C691-6F79-004F-A6B6-AA4C66B2F4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2117" y="3397642"/>
            <a:ext cx="723900" cy="8382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14751F4-C583-8C48-B6F4-19898A2D57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684" y="4484219"/>
            <a:ext cx="825500" cy="8255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9DC0235-9626-AE4C-87B3-ECA679BF5A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8793" y="4438301"/>
            <a:ext cx="825500" cy="8255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48682A7-DFFE-FB49-AD39-36BCE1A86B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9649" y="4454485"/>
            <a:ext cx="825500" cy="8255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6CA5A5F-88BC-3E43-85DE-1E06B78F31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42167" y="4453943"/>
            <a:ext cx="825500" cy="825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FF9B8E-2191-8E82-B4D8-11122B9C32A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5966248"/>
            <a:ext cx="12192000" cy="91060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4CFD23F-B14A-23D0-FD3F-E1F2E172B7EA}"/>
              </a:ext>
            </a:extLst>
          </p:cNvPr>
          <p:cNvGrpSpPr/>
          <p:nvPr/>
        </p:nvGrpSpPr>
        <p:grpSpPr>
          <a:xfrm>
            <a:off x="311158" y="6156883"/>
            <a:ext cx="2347678" cy="516168"/>
            <a:chOff x="3486150" y="1040904"/>
            <a:chExt cx="5219896" cy="11476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A8C503-7538-CEA2-025E-7ADBDAE65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5777C8-7F31-A94A-E9E9-5317B848F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21EA43-B3B7-C6D3-B510-10592B51C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062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6659023" y="546652"/>
            <a:ext cx="41446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44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פורום מנכ״לים</a:t>
            </a:r>
          </a:p>
          <a:p>
            <a:pPr marL="0" algn="r" defTabSz="914400" rtl="1" eaLnBrk="1" latinLnBrk="0" hangingPunct="1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BC0AE7E-CAEC-3149-B7BE-BE6FC9E19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190" y="573546"/>
            <a:ext cx="685800" cy="66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1C3581-FBF2-564B-9E5F-94C4D30FA62F}"/>
              </a:ext>
            </a:extLst>
          </p:cNvPr>
          <p:cNvSpPr txBox="1"/>
          <p:nvPr/>
        </p:nvSpPr>
        <p:spPr>
          <a:xfrm>
            <a:off x="7074323" y="1593092"/>
            <a:ext cx="42554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30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מטרתו: </a:t>
            </a:r>
          </a:p>
          <a:p>
            <a:pPr algn="r" rtl="1">
              <a:lnSpc>
                <a:spcPts val="230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יצירת פלטפורמה ל</a:t>
            </a: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חיזוק התיאום ושיתופי הפעולה בין המשרדים המרכזיים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החיוניים להיערכות להזדקנות האוכלוסייה וקידום הזדקנות מיטבית באמצעות פעילות פורום </a:t>
            </a:r>
            <a:r>
              <a:rPr lang="he-IL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בר"ק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. במסגרת זו מתווה מדיניות מכוונת ומאפשרת, מייעץ ונותן גיבוי למהלכי הפורום, מספק מנדט וכלים לניהול והצלחת הפורום, מגדיר מינויים פורמאליים, דואג להקצאות תקציב, </a:t>
            </a:r>
            <a:r>
              <a:rPr lang="he-IL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לתעדוף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פעולות במשרד שיאפשרו לפורום להוביל תהליכים וכד'.</a:t>
            </a:r>
          </a:p>
          <a:p>
            <a:pPr marL="0" algn="r" defTabSz="914400" rtl="1" eaLnBrk="1" latinLnBrk="0" hangingPunct="1">
              <a:lnSpc>
                <a:spcPts val="2300"/>
              </a:lnSpc>
            </a:pP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92DEB0-060A-5B41-8A4E-66BEDE5C6F8D}"/>
              </a:ext>
            </a:extLst>
          </p:cNvPr>
          <p:cNvSpPr txBox="1"/>
          <p:nvPr/>
        </p:nvSpPr>
        <p:spPr>
          <a:xfrm>
            <a:off x="3765176" y="1658996"/>
            <a:ext cx="3148984" cy="235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30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הרכב: </a:t>
            </a:r>
          </a:p>
          <a:p>
            <a:pPr algn="just" rtl="1">
              <a:lnSpc>
                <a:spcPts val="220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מנכ"ל משרד הרווחה והבטחון החברתי, מנכ"ל משרד הבריאות, מנכ"ל הביטוח הלאומי, </a:t>
            </a:r>
          </a:p>
          <a:p>
            <a:pPr algn="r" rtl="1">
              <a:lnSpc>
                <a:spcPts val="220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משרדי רוה"מ ואוצר</a:t>
            </a:r>
          </a:p>
          <a:p>
            <a:pPr algn="r" rtl="1">
              <a:lnSpc>
                <a:spcPts val="220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סמנכ"לי קופ"ח</a:t>
            </a:r>
          </a:p>
          <a:p>
            <a:pPr algn="r" rtl="1">
              <a:lnSpc>
                <a:spcPts val="2200"/>
              </a:lnSpc>
            </a:pPr>
            <a:br>
              <a:rPr lang="en-US" dirty="0"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</a:b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BD82DF-0711-3948-8359-74E25D66E3BB}"/>
              </a:ext>
            </a:extLst>
          </p:cNvPr>
          <p:cNvSpPr txBox="1"/>
          <p:nvPr/>
        </p:nvSpPr>
        <p:spPr>
          <a:xfrm>
            <a:off x="625969" y="1658996"/>
            <a:ext cx="2765125" cy="208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30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אופן פעולתו: </a:t>
            </a:r>
          </a:p>
          <a:p>
            <a:pPr algn="r" rtl="1">
              <a:lnSpc>
                <a:spcPts val="220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התכנסות אחת ל-4 חודשים לקבלת עדכון על התקדמות פעילות הפורום, להכוונה ודיוק העשייה המשותפת ולהסרת חסמים. </a:t>
            </a:r>
          </a:p>
          <a:p>
            <a:pPr marL="0" algn="r" defTabSz="914400" rtl="1" eaLnBrk="1" latinLnBrk="0" hangingPunct="1">
              <a:lnSpc>
                <a:spcPts val="2300"/>
              </a:lnSpc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4732FC-33A7-244C-AEA6-A361EE87B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732" y="1658996"/>
            <a:ext cx="76200" cy="3124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DD45DE-2057-5247-B70E-2B2A5BA09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823" y="1658996"/>
            <a:ext cx="63500" cy="2362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ACCDA3-2C82-414C-9965-A7696C6E6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2000" y="1658996"/>
            <a:ext cx="63500" cy="18161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87A150D-1924-6374-BA1C-8D82F4253C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3641" y="477130"/>
            <a:ext cx="743054" cy="70494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88316E-7229-070E-EFEB-043FA49C0A5F}"/>
              </a:ext>
            </a:extLst>
          </p:cNvPr>
          <p:cNvSpPr/>
          <p:nvPr/>
        </p:nvSpPr>
        <p:spPr>
          <a:xfrm rot="19859929">
            <a:off x="309703" y="681463"/>
            <a:ext cx="2294600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1ECE3A6A-C4A7-7B81-D787-8CAB9A2FD41D}"/>
              </a:ext>
            </a:extLst>
          </p:cNvPr>
          <p:cNvSpPr txBox="1"/>
          <p:nvPr/>
        </p:nvSpPr>
        <p:spPr>
          <a:xfrm rot="19844692">
            <a:off x="389652" y="719657"/>
            <a:ext cx="211147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>
                <a:solidFill>
                  <a:srgbClr val="002060"/>
                </a:solidFill>
                <a:latin typeface="Assistant" pitchFamily="2" charset="-79"/>
                <a:cs typeface="Assistant" pitchFamily="2" charset="-79"/>
              </a:rPr>
              <a:t>בתהליכי חשיבה ופיתוח</a:t>
            </a:r>
          </a:p>
        </p:txBody>
      </p:sp>
    </p:spTree>
    <p:extLst>
      <p:ext uri="{BB962C8B-B14F-4D97-AF65-F5344CB8AC3E}">
        <p14:creationId xmlns:p14="http://schemas.microsoft.com/office/powerpoint/2010/main" val="357855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6668572" y="414953"/>
            <a:ext cx="41446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44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מובילי הפורום</a:t>
            </a:r>
          </a:p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FDB667-2B7C-E142-BCA5-3216516F1868}"/>
              </a:ext>
            </a:extLst>
          </p:cNvPr>
          <p:cNvSpPr txBox="1"/>
          <p:nvPr/>
        </p:nvSpPr>
        <p:spPr>
          <a:xfrm>
            <a:off x="1066800" y="1587814"/>
            <a:ext cx="105606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u="sng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ברמת אסטרטגיה:</a:t>
            </a:r>
          </a:p>
          <a:p>
            <a:pPr algn="r" rtl="1"/>
            <a:endParaRPr lang="he-IL" dirty="0">
              <a:solidFill>
                <a:schemeClr val="accent1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יריב מן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- סמנכ"ל בכיר ראש מנהל אזרחים ותיקים, משרד הרווחה והבטחון החברתי</a:t>
            </a:r>
          </a:p>
          <a:p>
            <a:pPr algn="r" rtl="1"/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איילת גרינבאום </a:t>
            </a:r>
            <a:r>
              <a:rPr lang="he-IL" b="1" dirty="0" err="1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אריזון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-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סמנכ"ל אסטרטגיה, משרד הבריאות </a:t>
            </a:r>
          </a:p>
          <a:p>
            <a:pPr algn="r" rtl="1"/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b="1" dirty="0" err="1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ירונה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שלום-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סמנכ"ל גמלאות הביטוח הלאומי</a:t>
            </a:r>
          </a:p>
          <a:p>
            <a:pPr algn="r" rtl="1"/>
            <a:endParaRPr lang="he-IL" dirty="0">
              <a:solidFill>
                <a:schemeClr val="accent1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u="sng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ברמת ניהול הפורום:</a:t>
            </a:r>
          </a:p>
          <a:p>
            <a:pPr algn="r" rtl="1"/>
            <a:endParaRPr lang="he-IL" u="sng" dirty="0">
              <a:solidFill>
                <a:schemeClr val="accent1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אביעד יצחקי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- ראש אגף תכנון מדיניות הזדקנות האוכלוסייה, משרד הרווחה והבטחון החברתי (</a:t>
            </a:r>
            <a:r>
              <a:rPr lang="he-IL" dirty="0" err="1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מתכלל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פעילות הפורום)</a:t>
            </a:r>
          </a:p>
          <a:p>
            <a:pPr algn="r" rtl="1"/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נטלי גבאי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- מנהלת אגף סיעוד, הביטוח הלאומי</a:t>
            </a:r>
          </a:p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ד"ר רויטל גרוס-נבו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- מנהלת המחלקה לשירותי קהילה אגף גריאטריה, משרד הבריאות </a:t>
            </a:r>
          </a:p>
          <a:p>
            <a:pPr algn="r" rtl="1"/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Rubik" pitchFamily="2" charset="-79"/>
                <a:cs typeface="Rubik" pitchFamily="2" charset="-79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46C4ED-33DC-4230-0642-91A23B875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191" y="516928"/>
            <a:ext cx="814228" cy="59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0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F3A981-CBE3-1847-A8D6-2ED8D43B0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"/>
            <a:ext cx="12192000" cy="68548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0A4A3-1D2C-574C-86EB-47A5B33C8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272938"/>
            <a:ext cx="11925300" cy="5435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D6769E-993B-5A43-B9BB-FC9064CC08C0}"/>
              </a:ext>
            </a:extLst>
          </p:cNvPr>
          <p:cNvSpPr/>
          <p:nvPr/>
        </p:nvSpPr>
        <p:spPr>
          <a:xfrm>
            <a:off x="0" y="5979921"/>
            <a:ext cx="12192000" cy="878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1928388" y="2298241"/>
            <a:ext cx="6297759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צוות מניעת הדרדרות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E572C7-CEFE-854D-8F4A-DB11CBBD9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858" y="2142358"/>
            <a:ext cx="2696307" cy="13716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180732-B659-07C7-4215-34603C74A8A7}"/>
              </a:ext>
            </a:extLst>
          </p:cNvPr>
          <p:cNvGrpSpPr/>
          <p:nvPr/>
        </p:nvGrpSpPr>
        <p:grpSpPr>
          <a:xfrm>
            <a:off x="304171" y="6108306"/>
            <a:ext cx="2542153" cy="560355"/>
            <a:chOff x="304171" y="6108306"/>
            <a:chExt cx="2542153" cy="5603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0DD3E8A-53B5-E4F4-382B-8AD507735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4171" y="6490861"/>
              <a:ext cx="1790700" cy="1778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315852-84FC-2A6E-3433-3C8522F6A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35124" y="6126849"/>
              <a:ext cx="711200" cy="520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F01781-837C-46EA-CC54-64BEDFB35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4171" y="6108306"/>
              <a:ext cx="1803400" cy="38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300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6570041" y="536492"/>
            <a:ext cx="4144618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צוות מניעת</a:t>
            </a:r>
            <a:br>
              <a:rPr lang="en-US" sz="44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44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הדרדרות </a:t>
            </a:r>
            <a:r>
              <a:rPr lang="he-IL" sz="44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מטרות</a:t>
            </a:r>
          </a:p>
          <a:p>
            <a:pPr marL="0" algn="r" defTabSz="914400" rtl="1" eaLnBrk="1" latinLnBrk="0" hangingPunct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06FD5C-CF2D-ED47-B9AD-42526CE8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659" y="455211"/>
            <a:ext cx="898221" cy="8982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D8CE75-17A1-8F48-A7FF-5AB7F9CF8CE5}"/>
              </a:ext>
            </a:extLst>
          </p:cNvPr>
          <p:cNvCxnSpPr/>
          <p:nvPr/>
        </p:nvCxnSpPr>
        <p:spPr>
          <a:xfrm>
            <a:off x="8768080" y="2062480"/>
            <a:ext cx="0" cy="1747520"/>
          </a:xfrm>
          <a:prstGeom prst="line">
            <a:avLst/>
          </a:prstGeom>
          <a:ln w="28575">
            <a:solidFill>
              <a:srgbClr val="9F5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EA720D-9A23-7F49-84AA-D043285CAE05}"/>
              </a:ext>
            </a:extLst>
          </p:cNvPr>
          <p:cNvCxnSpPr>
            <a:cxnSpLocks/>
          </p:cNvCxnSpPr>
          <p:nvPr/>
        </p:nvCxnSpPr>
        <p:spPr>
          <a:xfrm>
            <a:off x="8768080" y="4236720"/>
            <a:ext cx="0" cy="985520"/>
          </a:xfrm>
          <a:prstGeom prst="line">
            <a:avLst/>
          </a:prstGeom>
          <a:ln w="28575">
            <a:solidFill>
              <a:srgbClr val="9F5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8BB43B-5B82-2041-B651-4C6389A00A3C}"/>
              </a:ext>
            </a:extLst>
          </p:cNvPr>
          <p:cNvCxnSpPr>
            <a:cxnSpLocks/>
          </p:cNvCxnSpPr>
          <p:nvPr/>
        </p:nvCxnSpPr>
        <p:spPr>
          <a:xfrm flipH="1">
            <a:off x="5953760" y="3992880"/>
            <a:ext cx="2611120" cy="0"/>
          </a:xfrm>
          <a:prstGeom prst="line">
            <a:avLst/>
          </a:prstGeom>
          <a:ln w="28575">
            <a:solidFill>
              <a:srgbClr val="9F5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DBAE75-2EED-6B4F-86AB-51CF2F39B618}"/>
              </a:ext>
            </a:extLst>
          </p:cNvPr>
          <p:cNvCxnSpPr>
            <a:cxnSpLocks/>
          </p:cNvCxnSpPr>
          <p:nvPr/>
        </p:nvCxnSpPr>
        <p:spPr>
          <a:xfrm flipH="1">
            <a:off x="9083040" y="3992880"/>
            <a:ext cx="2611120" cy="0"/>
          </a:xfrm>
          <a:prstGeom prst="line">
            <a:avLst/>
          </a:prstGeom>
          <a:ln w="28575">
            <a:solidFill>
              <a:srgbClr val="9F5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FA96DF-7B40-2948-B8D4-EDF7E0AB793D}"/>
              </a:ext>
            </a:extLst>
          </p:cNvPr>
          <p:cNvSpPr txBox="1"/>
          <p:nvPr/>
        </p:nvSpPr>
        <p:spPr>
          <a:xfrm>
            <a:off x="9281160" y="1952115"/>
            <a:ext cx="2214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לייצר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תפיסה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רב מערכתית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משותפת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לשימור תפקוד ומניעת הדרדרות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E3B1BD-26C8-FB4D-BD83-545959E4F316}"/>
              </a:ext>
            </a:extLst>
          </p:cNvPr>
          <p:cNvSpPr txBox="1"/>
          <p:nvPr/>
        </p:nvSpPr>
        <p:spPr>
          <a:xfrm>
            <a:off x="5763259" y="1952115"/>
            <a:ext cx="2730501" cy="1772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לקדם יישום והתאמות של התפיסה במערכות השונות תוך יצירת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ממשקי עבודה </a:t>
            </a:r>
          </a:p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ושיתופי פעולה בין מערכתיים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בנושאי הליבה למניעת התדרדרות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F2F6B5-D981-AD47-A677-3101F24EFE7E}"/>
              </a:ext>
            </a:extLst>
          </p:cNvPr>
          <p:cNvSpPr txBox="1"/>
          <p:nvPr/>
        </p:nvSpPr>
        <p:spPr>
          <a:xfrm>
            <a:off x="8768081" y="4166995"/>
            <a:ext cx="2865120" cy="928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להוביל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יחד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שינוי במדיניות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, במערכות ובמנגנון לטובת מניעת הדרדרות והזדקנות מיטבית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77E22-D0B8-9141-963D-143ECEC75593}"/>
              </a:ext>
            </a:extLst>
          </p:cNvPr>
          <p:cNvSpPr txBox="1"/>
          <p:nvPr/>
        </p:nvSpPr>
        <p:spPr>
          <a:xfrm>
            <a:off x="5648961" y="4166995"/>
            <a:ext cx="2865120" cy="92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לפעול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לפיתוח כלי מדידה </a:t>
            </a:r>
          </a:p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ותמריצים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שיובילו למניעת 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הדרדרות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156166-DD95-1F29-9271-9719870DD9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669"/>
          <a:stretch/>
        </p:blipFill>
        <p:spPr>
          <a:xfrm flipH="1">
            <a:off x="178129" y="2062480"/>
            <a:ext cx="5561795" cy="2896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E66BD4-83AE-1DA8-6D2E-EAB035A2E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51291"/>
            <a:ext cx="12192000" cy="91060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5DB1C75-3E94-65B4-ADD8-8FD62335EFBA}"/>
              </a:ext>
            </a:extLst>
          </p:cNvPr>
          <p:cNvGrpSpPr/>
          <p:nvPr/>
        </p:nvGrpSpPr>
        <p:grpSpPr>
          <a:xfrm>
            <a:off x="348955" y="6123565"/>
            <a:ext cx="2347678" cy="516168"/>
            <a:chOff x="3486150" y="1040904"/>
            <a:chExt cx="5219896" cy="114766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9119FA-2017-5C2E-4333-9FBEE5E6A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44BD4C-AF63-C51D-570B-FFE7FB6C4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CCBBAB-8D00-B55C-DF72-2F2D758DD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929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4331AFB2-6514-7233-B565-6BC88F0C0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506" y="4104736"/>
            <a:ext cx="1079598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4338320" y="650973"/>
            <a:ext cx="6376339" cy="856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מניעת הדרדרות </a:t>
            </a:r>
            <a:r>
              <a:rPr lang="he-IL" sz="44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הצוות</a:t>
            </a:r>
          </a:p>
          <a:p>
            <a:pPr marL="0" algn="r" defTabSz="914400" rtl="1" eaLnBrk="1" latinLnBrk="0" hangingPunct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06FD5C-CF2D-ED47-B9AD-42526CE84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4659" y="455211"/>
            <a:ext cx="898221" cy="89822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EA720D-9A23-7F49-84AA-D043285CAE05}"/>
              </a:ext>
            </a:extLst>
          </p:cNvPr>
          <p:cNvCxnSpPr>
            <a:cxnSpLocks/>
          </p:cNvCxnSpPr>
          <p:nvPr/>
        </p:nvCxnSpPr>
        <p:spPr>
          <a:xfrm>
            <a:off x="9168503" y="1709989"/>
            <a:ext cx="0" cy="3274089"/>
          </a:xfrm>
          <a:prstGeom prst="line">
            <a:avLst/>
          </a:prstGeom>
          <a:ln w="28575">
            <a:solidFill>
              <a:srgbClr val="9F5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AF2F6B5-D981-AD47-A677-3101F24EFE7E}"/>
              </a:ext>
            </a:extLst>
          </p:cNvPr>
          <p:cNvSpPr txBox="1"/>
          <p:nvPr/>
        </p:nvSpPr>
        <p:spPr>
          <a:xfrm>
            <a:off x="9179858" y="2207231"/>
            <a:ext cx="2589646" cy="2621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25 משתתפים ממגוון גופים: </a:t>
            </a:r>
            <a:br>
              <a:rPr lang="en-US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משרד הרווחה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משרד הבריאות </a:t>
            </a:r>
            <a:br>
              <a:rPr lang="en-US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הביטוח הלאומי 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כל קופות החולים-כללית, מכבי, מאוחדת ולאומית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עיריית תל אביב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עיריית ירושלים 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הג'וינט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77E22-D0B8-9141-963D-143ECEC75593}"/>
              </a:ext>
            </a:extLst>
          </p:cNvPr>
          <p:cNvSpPr txBox="1"/>
          <p:nvPr/>
        </p:nvSpPr>
        <p:spPr>
          <a:xfrm>
            <a:off x="-298681" y="2179269"/>
            <a:ext cx="2865120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הדס ברזילי,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הג'וינט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AA4E61-B9F6-5940-A159-1B63C5FBC18C}"/>
              </a:ext>
            </a:extLst>
          </p:cNvPr>
          <p:cNvCxnSpPr>
            <a:cxnSpLocks/>
          </p:cNvCxnSpPr>
          <p:nvPr/>
        </p:nvCxnSpPr>
        <p:spPr>
          <a:xfrm>
            <a:off x="2691204" y="1776862"/>
            <a:ext cx="0" cy="3274089"/>
          </a:xfrm>
          <a:prstGeom prst="line">
            <a:avLst/>
          </a:prstGeom>
          <a:ln w="28575">
            <a:solidFill>
              <a:srgbClr val="9F5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BD65D2-4724-C447-B769-99F9D8113D49}"/>
              </a:ext>
            </a:extLst>
          </p:cNvPr>
          <p:cNvSpPr txBox="1"/>
          <p:nvPr/>
        </p:nvSpPr>
        <p:spPr>
          <a:xfrm>
            <a:off x="-298681" y="3497551"/>
            <a:ext cx="2865120" cy="646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חיים פרג,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משרד הרווחה </a:t>
            </a:r>
            <a:br>
              <a:rPr lang="en-US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והביטחון החברתי </a:t>
            </a:r>
            <a:endParaRPr lang="he-IL" b="1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BE41F2-35DE-4B44-AC31-3345C0A17D08}"/>
              </a:ext>
            </a:extLst>
          </p:cNvPr>
          <p:cNvSpPr txBox="1"/>
          <p:nvPr/>
        </p:nvSpPr>
        <p:spPr>
          <a:xfrm>
            <a:off x="5394615" y="2139206"/>
            <a:ext cx="3332480" cy="64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נטלי גבאי - </a:t>
            </a:r>
            <a:br>
              <a:rPr lang="en-US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מנהלת אגף סיעוד, הביטוח הלאומי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4375C9-4EE1-FF4E-B103-F145901B862A}"/>
              </a:ext>
            </a:extLst>
          </p:cNvPr>
          <p:cNvSpPr txBox="1"/>
          <p:nvPr/>
        </p:nvSpPr>
        <p:spPr>
          <a:xfrm>
            <a:off x="5394615" y="2850406"/>
            <a:ext cx="3332480" cy="92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ד"ר רויטל גרוס-נבו - </a:t>
            </a:r>
            <a:br>
              <a:rPr lang="en-US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מנהלת המחלקה לשירותי קהילה 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אגף גריאטריה, משרד הבריאות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030E7-D073-E748-B5A8-97067DB4FD91}"/>
              </a:ext>
            </a:extLst>
          </p:cNvPr>
          <p:cNvSpPr txBox="1"/>
          <p:nvPr/>
        </p:nvSpPr>
        <p:spPr>
          <a:xfrm>
            <a:off x="5599959" y="3876566"/>
            <a:ext cx="3127135" cy="120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אביעד יצחקי - 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ראש אגף תכנון מדיניות הזדקנות האוכלוסייה, משרד הרווחה </a:t>
            </a:r>
            <a:br>
              <a:rPr lang="en-US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והביטחון החברתי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FAB919-8027-3D42-A230-5A08414FB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49" y="2281451"/>
            <a:ext cx="127000" cy="127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BAF1ED-98D9-7844-8442-7DB6251F8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661" y="2951301"/>
            <a:ext cx="127000" cy="127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2FE1571-44CE-6A4A-BDD2-B0A88C15F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3146" y="3962328"/>
            <a:ext cx="127000" cy="127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3F9D7F-9379-8A4C-BF8F-76477A823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839" y="1797764"/>
            <a:ext cx="1738337" cy="279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F2E2E5D-66CB-FD44-9E9F-A4D22018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36" y="1814673"/>
            <a:ext cx="1482304" cy="279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2BBFFB3-878F-294E-98C4-9638BB78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31" y="1832328"/>
            <a:ext cx="1628608" cy="279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172C75D-299A-DB47-8645-BA88B9285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65" y="3055433"/>
            <a:ext cx="1333967" cy="279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06E2FC3-9D81-344A-B127-781A9E1D3DD5}"/>
              </a:ext>
            </a:extLst>
          </p:cNvPr>
          <p:cNvSpPr txBox="1"/>
          <p:nvPr/>
        </p:nvSpPr>
        <p:spPr>
          <a:xfrm>
            <a:off x="9777496" y="1764057"/>
            <a:ext cx="1739392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הרכב הצוות: </a:t>
            </a:r>
            <a:endParaRPr lang="he-IL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D89E95-E24E-4346-A5C9-F898120FF507}"/>
              </a:ext>
            </a:extLst>
          </p:cNvPr>
          <p:cNvSpPr txBox="1"/>
          <p:nvPr/>
        </p:nvSpPr>
        <p:spPr>
          <a:xfrm>
            <a:off x="7205575" y="1776863"/>
            <a:ext cx="1739392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 err="1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מנהל.ות</a:t>
            </a:r>
            <a:r>
              <a:rPr lang="he-IL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 הצוות:</a:t>
            </a:r>
            <a:endParaRPr lang="he-IL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531E76-132D-A54B-A846-4CC83B009D6D}"/>
              </a:ext>
            </a:extLst>
          </p:cNvPr>
          <p:cNvSpPr txBox="1"/>
          <p:nvPr/>
        </p:nvSpPr>
        <p:spPr>
          <a:xfrm>
            <a:off x="673219" y="1797764"/>
            <a:ext cx="1721348" cy="35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מלוות התהליך:</a:t>
            </a:r>
            <a:endParaRPr lang="he-IL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3C3461-7FA1-4442-A7E0-7BC5C82593C1}"/>
              </a:ext>
            </a:extLst>
          </p:cNvPr>
          <p:cNvSpPr txBox="1"/>
          <p:nvPr/>
        </p:nvSpPr>
        <p:spPr>
          <a:xfrm>
            <a:off x="795880" y="3031961"/>
            <a:ext cx="1739392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רכז הפורום:</a:t>
            </a:r>
            <a:endParaRPr lang="he-IL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6018E9-F0F4-F7A5-3B6D-CF38BAAD8455}"/>
              </a:ext>
            </a:extLst>
          </p:cNvPr>
          <p:cNvCxnSpPr>
            <a:cxnSpLocks/>
          </p:cNvCxnSpPr>
          <p:nvPr/>
        </p:nvCxnSpPr>
        <p:spPr>
          <a:xfrm>
            <a:off x="5729593" y="1782315"/>
            <a:ext cx="0" cy="3274089"/>
          </a:xfrm>
          <a:prstGeom prst="line">
            <a:avLst/>
          </a:prstGeom>
          <a:ln w="28575">
            <a:solidFill>
              <a:srgbClr val="9F5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1C6223C-A462-2E40-3B3E-9BE2F8E4C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083" y="1847000"/>
            <a:ext cx="1876539" cy="279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A4CC0F-C8D2-8A7C-B5B3-AA83E67B6203}"/>
              </a:ext>
            </a:extLst>
          </p:cNvPr>
          <p:cNvSpPr txBox="1"/>
          <p:nvPr/>
        </p:nvSpPr>
        <p:spPr>
          <a:xfrm>
            <a:off x="3362391" y="1782315"/>
            <a:ext cx="19720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solidFill>
                  <a:schemeClr val="bg1"/>
                </a:solidFill>
                <a:cs typeface="Rubik" pitchFamily="2" charset="-79"/>
              </a:rPr>
              <a:t>מובילי צוות מדדים: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AC7CF7-FA5F-4D3A-13C1-78704866A6C7}"/>
              </a:ext>
            </a:extLst>
          </p:cNvPr>
          <p:cNvSpPr txBox="1"/>
          <p:nvPr/>
        </p:nvSpPr>
        <p:spPr>
          <a:xfrm>
            <a:off x="2729060" y="2152939"/>
            <a:ext cx="291135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7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ד"ר רות </a:t>
            </a:r>
            <a:r>
              <a:rPr lang="he-IL" sz="1700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מייטליס</a:t>
            </a:r>
            <a:r>
              <a:rPr lang="he-IL" sz="17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- </a:t>
            </a:r>
            <a:r>
              <a:rPr lang="he-IL" sz="17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משרד הרווחה</a:t>
            </a:r>
          </a:p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אסנת שמיר -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משרד הבריאות</a:t>
            </a:r>
          </a:p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גלעד הדס-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הג'וינט</a:t>
            </a:r>
          </a:p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ד"ר </a:t>
            </a:r>
            <a:r>
              <a:rPr lang="he-IL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זוריאן</a:t>
            </a: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רדומיסלסקי</a:t>
            </a: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-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קופ"ח מכבי</a:t>
            </a:r>
          </a:p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ישי קום- 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קופ"ח מאוחדת</a:t>
            </a:r>
          </a:p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ד"ר שי בריל- 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קופ"ח כללית</a:t>
            </a:r>
          </a:p>
          <a:p>
            <a:pPr algn="r" rtl="1"/>
            <a:r>
              <a:rPr lang="he-IL" b="1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יו"ר אקדמי: </a:t>
            </a:r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פרופ' רביע </a:t>
            </a:r>
            <a:r>
              <a:rPr lang="he-IL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ח'לאילה</a:t>
            </a:r>
            <a:r>
              <a:rPr lang="he-IL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– סגן נשיא מכללת צפת</a:t>
            </a:r>
          </a:p>
          <a:p>
            <a:pPr algn="r" rtl="1"/>
            <a:endParaRPr lang="he-IL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39822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1426464" y="650973"/>
            <a:ext cx="9288195" cy="60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צוות מניעת הדרדרות </a:t>
            </a:r>
            <a:r>
              <a:rPr lang="he-IL" sz="4400" dirty="0">
                <a:solidFill>
                  <a:srgbClr val="9F52A3"/>
                </a:solidFill>
                <a:latin typeface="Assistant" pitchFamily="2" charset="-79"/>
                <a:cs typeface="Assistant" pitchFamily="2" charset="-79"/>
              </a:rPr>
              <a:t>מעיקרי הפעילות</a:t>
            </a:r>
            <a:endParaRPr lang="en-US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06FD5C-CF2D-ED47-B9AD-42526CE8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659" y="455211"/>
            <a:ext cx="898221" cy="8982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AF2F6B5-D981-AD47-A677-3101F24EFE7E}"/>
              </a:ext>
            </a:extLst>
          </p:cNvPr>
          <p:cNvSpPr txBox="1"/>
          <p:nvPr/>
        </p:nvSpPr>
        <p:spPr>
          <a:xfrm>
            <a:off x="1956816" y="3495471"/>
            <a:ext cx="8719781" cy="64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התוצר המצופה: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לייצר מודל הפעלה בין ארגוני יישומי המגדיר סל שירותים רחב ומגוון לדחיקת תלות ושינוי שיטת ומנגנון ההפעלה- כבסיס ליישום והרחבה.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EC920B1-53F3-6B4C-8875-6D97EF145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488" y="4523096"/>
            <a:ext cx="8562171" cy="560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F84A30-2B66-014A-B8BE-8C6181D241EE}"/>
              </a:ext>
            </a:extLst>
          </p:cNvPr>
          <p:cNvSpPr txBox="1"/>
          <p:nvPr/>
        </p:nvSpPr>
        <p:spPr>
          <a:xfrm>
            <a:off x="2516085" y="1502686"/>
            <a:ext cx="8160512" cy="91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430"/>
              </a:lnSpc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תוקפה </a:t>
            </a:r>
            <a:r>
              <a:rPr lang="he-IL" dirty="0" err="1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ודוייקה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תפיסה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רב מערכתית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משותפת לשימור תפקוד ומניעת הדרדרות</a:t>
            </a:r>
          </a:p>
          <a:p>
            <a:pPr algn="r" rtl="1">
              <a:lnSpc>
                <a:spcPts val="3430"/>
              </a:lnSpc>
            </a:pP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כנגזרת של התפיסה הרב מערכתית המשותפת, הוגדרו 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מיקודי הפעולה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F44866-0AF0-E04A-866D-F43D85406863}"/>
              </a:ext>
            </a:extLst>
          </p:cNvPr>
          <p:cNvSpPr txBox="1"/>
          <p:nvPr/>
        </p:nvSpPr>
        <p:spPr>
          <a:xfrm>
            <a:off x="10934234" y="2849640"/>
            <a:ext cx="270725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9F52A3"/>
                </a:solidFill>
                <a:latin typeface="Rubik" pitchFamily="2" charset="-79"/>
                <a:cs typeface="Rubik" pitchFamily="2" charset="-79"/>
              </a:rPr>
              <a:t>1</a:t>
            </a:r>
            <a:endParaRPr lang="he-IL" dirty="0">
              <a:solidFill>
                <a:srgbClr val="9F52A3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026104-BDE0-6D43-B3D6-5B5FF7D7580F}"/>
              </a:ext>
            </a:extLst>
          </p:cNvPr>
          <p:cNvSpPr txBox="1"/>
          <p:nvPr/>
        </p:nvSpPr>
        <p:spPr>
          <a:xfrm>
            <a:off x="10934234" y="4629013"/>
            <a:ext cx="270725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rgbClr val="9F52A3"/>
                </a:solidFill>
                <a:latin typeface="Rubik" pitchFamily="2" charset="-79"/>
                <a:cs typeface="Rubik" pitchFamily="2" charset="-79"/>
              </a:rPr>
              <a:t>2</a:t>
            </a:r>
            <a:endParaRPr lang="he-IL" dirty="0">
              <a:solidFill>
                <a:srgbClr val="9F52A3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875F3-552C-EF41-BCA1-823BEF994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969" y="1624771"/>
            <a:ext cx="330200" cy="330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D11842D-441C-C24D-89BD-933414F98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969" y="2069615"/>
            <a:ext cx="3302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8D7A6E-B0AD-F042-81B6-078ABE590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2758" y="2802211"/>
            <a:ext cx="457200" cy="457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609B876-26FC-BB4C-99E3-2AC4A00AA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2758" y="4565109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5B0371-E07C-4C78-A9FD-19CA9E84416A}"/>
              </a:ext>
            </a:extLst>
          </p:cNvPr>
          <p:cNvSpPr txBox="1"/>
          <p:nvPr/>
        </p:nvSpPr>
        <p:spPr>
          <a:xfrm>
            <a:off x="2027585" y="4487948"/>
            <a:ext cx="8719781" cy="64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פיתוח מדדי תוצאה לפרט ולמערכת למדידת השינוי הרצוי </a:t>
            </a:r>
            <a:r>
              <a:rPr lang="he-IL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(הגברת התפקוד והקטנת ההידרדרות התפקודית) והסכמה על מדדי מניעה במערכות השונות (כדוגמת שבריריות)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46002-8D4A-B488-BADF-B2A2B7C4C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080" y="2725411"/>
            <a:ext cx="8552889" cy="56096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5B0A821-5CCE-C343-94A1-6A87CB1326E9}"/>
              </a:ext>
            </a:extLst>
          </p:cNvPr>
          <p:cNvSpPr txBox="1"/>
          <p:nvPr/>
        </p:nvSpPr>
        <p:spPr>
          <a:xfrm>
            <a:off x="2060294" y="2705871"/>
            <a:ext cx="8654365" cy="646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הרחבת סל השירותים בחוק סיעוד וצביעת חלק מהגמלה לטובת שירותים מותאמים אישית לקידום תפקוד, משמעות, בריאות וחוסן כלכלי ואישי </a:t>
            </a:r>
            <a:r>
              <a:rPr lang="he-IL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(ופחות כסף ביד)</a:t>
            </a:r>
          </a:p>
        </p:txBody>
      </p:sp>
    </p:spTree>
    <p:extLst>
      <p:ext uri="{BB962C8B-B14F-4D97-AF65-F5344CB8AC3E}">
        <p14:creationId xmlns:p14="http://schemas.microsoft.com/office/powerpoint/2010/main" val="410760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 descr="Map with pin outline">
            <a:extLst>
              <a:ext uri="{FF2B5EF4-FFF2-40B4-BE49-F238E27FC236}">
                <a16:creationId xmlns:a16="http://schemas.microsoft.com/office/drawing/2014/main" id="{83597447-773F-B41C-096D-8303AC0E6FD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9050" y="-10156"/>
            <a:ext cx="968235" cy="790179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8D51AD-84E3-7842-35E5-52DBF65923EF}"/>
              </a:ext>
            </a:extLst>
          </p:cNvPr>
          <p:cNvSpPr/>
          <p:nvPr/>
        </p:nvSpPr>
        <p:spPr>
          <a:xfrm>
            <a:off x="6635311" y="2561087"/>
            <a:ext cx="1596280" cy="388424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בני משפחה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592261-F62A-BFAC-94DE-FD25CC4D998F}"/>
              </a:ext>
            </a:extLst>
          </p:cNvPr>
          <p:cNvSpPr/>
          <p:nvPr/>
        </p:nvSpPr>
        <p:spPr>
          <a:xfrm>
            <a:off x="6656494" y="4100721"/>
            <a:ext cx="1585958" cy="388424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קופות חולים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91B92E1-9E97-1A83-E775-ED270668EAD5}"/>
              </a:ext>
            </a:extLst>
          </p:cNvPr>
          <p:cNvSpPr/>
          <p:nvPr/>
        </p:nvSpPr>
        <p:spPr>
          <a:xfrm>
            <a:off x="6629847" y="4648167"/>
            <a:ext cx="1585958" cy="488288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מסגרות קהילתיות </a:t>
            </a: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מתנ"ס, בתי תפילה..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7794A2-CE28-0FBB-F1C9-E9E0410327B9}"/>
              </a:ext>
            </a:extLst>
          </p:cNvPr>
          <p:cNvSpPr/>
          <p:nvPr/>
        </p:nvSpPr>
        <p:spPr>
          <a:xfrm>
            <a:off x="9439275" y="1697855"/>
            <a:ext cx="1596280" cy="732363"/>
          </a:xfrm>
          <a:prstGeom prst="roundRect">
            <a:avLst/>
          </a:prstGeom>
          <a:solidFill>
            <a:srgbClr val="EF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קידום מודעות ורגולציה תומכת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CD4C579-F3CA-308E-C532-67046B43C04C}"/>
              </a:ext>
            </a:extLst>
          </p:cNvPr>
          <p:cNvSpPr/>
          <p:nvPr/>
        </p:nvSpPr>
        <p:spPr>
          <a:xfrm>
            <a:off x="9439275" y="3487793"/>
            <a:ext cx="1596280" cy="699481"/>
          </a:xfrm>
          <a:prstGeom prst="roundRect">
            <a:avLst/>
          </a:prstGeom>
          <a:solidFill>
            <a:srgbClr val="EF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שיתוף מידע בין המערכות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AC9D29-75E8-5A9B-1FE5-56F6433F1398}"/>
              </a:ext>
            </a:extLst>
          </p:cNvPr>
          <p:cNvSpPr/>
          <p:nvPr/>
        </p:nvSpPr>
        <p:spPr>
          <a:xfrm>
            <a:off x="9439275" y="5244849"/>
            <a:ext cx="1596280" cy="699481"/>
          </a:xfrm>
          <a:prstGeom prst="roundRect">
            <a:avLst/>
          </a:prstGeom>
          <a:solidFill>
            <a:srgbClr val="EF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הנגשת הפעילויות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7BD3DB3-4996-9BE0-047C-E9381BD20474}"/>
              </a:ext>
            </a:extLst>
          </p:cNvPr>
          <p:cNvGrpSpPr/>
          <p:nvPr/>
        </p:nvGrpSpPr>
        <p:grpSpPr>
          <a:xfrm>
            <a:off x="35365" y="2762057"/>
            <a:ext cx="2448344" cy="2960811"/>
            <a:chOff x="-658330" y="2484953"/>
            <a:chExt cx="2524769" cy="357328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7B8E613-1127-E760-C7B5-5380CACEACAB}"/>
                </a:ext>
              </a:extLst>
            </p:cNvPr>
            <p:cNvSpPr/>
            <p:nvPr/>
          </p:nvSpPr>
          <p:spPr>
            <a:xfrm>
              <a:off x="-658330" y="2484953"/>
              <a:ext cx="2524769" cy="3128499"/>
            </a:xfrm>
            <a:prstGeom prst="ellipse">
              <a:avLst/>
            </a:prstGeom>
            <a:solidFill>
              <a:srgbClr val="308C8B">
                <a:alpha val="7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AD33308-EE36-FFFF-C867-1B1978B68C49}"/>
                </a:ext>
              </a:extLst>
            </p:cNvPr>
            <p:cNvSpPr txBox="1"/>
            <p:nvPr/>
          </p:nvSpPr>
          <p:spPr>
            <a:xfrm>
              <a:off x="-562945" y="3144729"/>
              <a:ext cx="2206667" cy="291350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ssistant" pitchFamily="2" charset="-79"/>
                  <a:ea typeface="+mn-ea"/>
                  <a:cs typeface="Assistant" pitchFamily="2" charset="-79"/>
                </a:rPr>
                <a:t>האטת קצב ההידרדרות ושמירת תפקוד לאורך זמן בקרב אוכלוסיית סיעוד 0-2</a:t>
              </a: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2D22BDC-0219-67D3-6513-AFCA0C87F664}"/>
              </a:ext>
            </a:extLst>
          </p:cNvPr>
          <p:cNvSpPr/>
          <p:nvPr/>
        </p:nvSpPr>
        <p:spPr>
          <a:xfrm>
            <a:off x="9439275" y="4366321"/>
            <a:ext cx="1596280" cy="699481"/>
          </a:xfrm>
          <a:prstGeom prst="roundRect">
            <a:avLst/>
          </a:prstGeom>
          <a:solidFill>
            <a:srgbClr val="EF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פרקטיקות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 מיטביות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713D9C-A08D-D06D-FBFE-90B0767A9701}"/>
              </a:ext>
            </a:extLst>
          </p:cNvPr>
          <p:cNvSpPr/>
          <p:nvPr/>
        </p:nvSpPr>
        <p:spPr>
          <a:xfrm>
            <a:off x="6635311" y="2010739"/>
            <a:ext cx="1596280" cy="419479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הביטוח הלאומי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19D164-C3C9-7ED5-AFF8-FAD1E7552E3E}"/>
              </a:ext>
            </a:extLst>
          </p:cNvPr>
          <p:cNvSpPr/>
          <p:nvPr/>
        </p:nvSpPr>
        <p:spPr>
          <a:xfrm>
            <a:off x="9413871" y="6073304"/>
            <a:ext cx="1596280" cy="699481"/>
          </a:xfrm>
          <a:prstGeom prst="roundRect">
            <a:avLst/>
          </a:prstGeom>
          <a:solidFill>
            <a:srgbClr val="EF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קידום מודעות והנעה לפעולה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105825-CE9D-F919-E7D6-7D704AC323F4}"/>
              </a:ext>
            </a:extLst>
          </p:cNvPr>
          <p:cNvSpPr/>
          <p:nvPr/>
        </p:nvSpPr>
        <p:spPr>
          <a:xfrm>
            <a:off x="9439275" y="2609265"/>
            <a:ext cx="1596280" cy="699481"/>
          </a:xfrm>
          <a:prstGeom prst="roundRect">
            <a:avLst/>
          </a:prstGeom>
          <a:solidFill>
            <a:srgbClr val="EF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הכשרות אנשי מקצוע ומטפלים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26EAF91-0FB0-8438-1A41-6491EAA8434E}"/>
              </a:ext>
            </a:extLst>
          </p:cNvPr>
          <p:cNvSpPr/>
          <p:nvPr/>
        </p:nvSpPr>
        <p:spPr>
          <a:xfrm rot="5400000">
            <a:off x="5895172" y="2386121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C05633B-14B8-BF75-0B55-DC9047125232}"/>
              </a:ext>
            </a:extLst>
          </p:cNvPr>
          <p:cNvSpPr/>
          <p:nvPr/>
        </p:nvSpPr>
        <p:spPr>
          <a:xfrm rot="5400000">
            <a:off x="5838746" y="3924459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D76F23B-E84C-5197-EBE7-790ADA34DA16}"/>
              </a:ext>
            </a:extLst>
          </p:cNvPr>
          <p:cNvSpPr/>
          <p:nvPr/>
        </p:nvSpPr>
        <p:spPr>
          <a:xfrm rot="5400000">
            <a:off x="5838538" y="5258699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CFEDB01B-7A7E-E94B-1562-07F2594F9E05}"/>
              </a:ext>
            </a:extLst>
          </p:cNvPr>
          <p:cNvSpPr/>
          <p:nvPr/>
        </p:nvSpPr>
        <p:spPr>
          <a:xfrm rot="4140000">
            <a:off x="2660608" y="2696024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253C5EF-9257-28A4-C420-7ADF29270905}"/>
              </a:ext>
            </a:extLst>
          </p:cNvPr>
          <p:cNvSpPr/>
          <p:nvPr/>
        </p:nvSpPr>
        <p:spPr>
          <a:xfrm rot="5400000">
            <a:off x="2720227" y="4023733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22809A2-627D-2FC1-BEB7-C43720EF5977}"/>
              </a:ext>
            </a:extLst>
          </p:cNvPr>
          <p:cNvSpPr/>
          <p:nvPr/>
        </p:nvSpPr>
        <p:spPr>
          <a:xfrm>
            <a:off x="3460591" y="3548420"/>
            <a:ext cx="2126758" cy="1606158"/>
          </a:xfrm>
          <a:prstGeom prst="roundRect">
            <a:avLst/>
          </a:prstGeom>
          <a:solidFill>
            <a:srgbClr val="405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מדדי  תפקוד קוגניטיבי</a:t>
            </a:r>
            <a:r>
              <a:rPr kumimoji="0" lang="he-I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 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למידה לאורך החיים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 עיסוק יצרני משמעותי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 אוריינות דיגיטלית ושימוש </a:t>
            </a:r>
            <a:r>
              <a:rPr kumimoji="0" lang="he-IL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בדיגיטל</a:t>
            </a: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 </a:t>
            </a:r>
            <a:endParaRPr kumimoji="0" lang="he-IL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92117C2-670D-FE6C-6FE2-A67CB3310003}"/>
              </a:ext>
            </a:extLst>
          </p:cNvPr>
          <p:cNvSpPr/>
          <p:nvPr/>
        </p:nvSpPr>
        <p:spPr>
          <a:xfrm>
            <a:off x="3463372" y="1881636"/>
            <a:ext cx="2126758" cy="1606158"/>
          </a:xfrm>
          <a:prstGeom prst="roundRect">
            <a:avLst/>
          </a:prstGeom>
          <a:solidFill>
            <a:srgbClr val="405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מדדי תפקוד פיזי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</a:b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יציאה למרחב הציבורי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 פעילות גופנית סדירה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 היעזרות באמצעים תומכים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 סביבה ביתית מותאמת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 </a:t>
            </a:r>
            <a:endParaRPr kumimoji="0" lang="he-IL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2424D714-A7C4-F8AF-F482-73D972236206}"/>
              </a:ext>
            </a:extLst>
          </p:cNvPr>
          <p:cNvSpPr/>
          <p:nvPr/>
        </p:nvSpPr>
        <p:spPr>
          <a:xfrm rot="5400000">
            <a:off x="8672144" y="1889665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773BE917-A46F-8F5C-2166-DBA2052CE8E5}"/>
              </a:ext>
            </a:extLst>
          </p:cNvPr>
          <p:cNvSpPr/>
          <p:nvPr/>
        </p:nvSpPr>
        <p:spPr>
          <a:xfrm rot="5400000">
            <a:off x="8672143" y="3164875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618F3245-4AC5-B4F3-63B0-769106F49E7C}"/>
              </a:ext>
            </a:extLst>
          </p:cNvPr>
          <p:cNvSpPr/>
          <p:nvPr/>
        </p:nvSpPr>
        <p:spPr>
          <a:xfrm rot="5400000">
            <a:off x="8672142" y="4511645"/>
            <a:ext cx="452783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B19F3B8F-B9B7-4B30-77D1-E4AB3D677969}"/>
              </a:ext>
            </a:extLst>
          </p:cNvPr>
          <p:cNvSpPr/>
          <p:nvPr/>
        </p:nvSpPr>
        <p:spPr>
          <a:xfrm rot="5400000">
            <a:off x="8646546" y="5745539"/>
            <a:ext cx="452782" cy="655531"/>
          </a:xfrm>
          <a:prstGeom prst="downArrow">
            <a:avLst/>
          </a:prstGeom>
          <a:solidFill>
            <a:srgbClr val="CFF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050" b="0" i="0" u="none" strike="noStrike" kern="1200" cap="none" spc="0" normalizeH="0" baseline="0" noProof="0">
              <a:ln>
                <a:noFill/>
              </a:ln>
              <a:solidFill>
                <a:srgbClr val="171717">
                  <a:lumMod val="75000"/>
                  <a:lumOff val="25000"/>
                </a:srgb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B4CEC-9890-254E-4AE1-59D8C678D6E9}"/>
              </a:ext>
            </a:extLst>
          </p:cNvPr>
          <p:cNvSpPr txBox="1"/>
          <p:nvPr/>
        </p:nvSpPr>
        <p:spPr>
          <a:xfrm>
            <a:off x="11245846" y="5138595"/>
            <a:ext cx="96793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 Light" pitchFamily="2" charset="-79"/>
                <a:ea typeface="+mn-ea"/>
                <a:cs typeface="Assistant Light" pitchFamily="2" charset="-79"/>
              </a:rPr>
              <a:t>אל מול פרט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EF427-0A0A-22DB-9673-22CC8DCEED78}"/>
              </a:ext>
            </a:extLst>
          </p:cNvPr>
          <p:cNvSpPr txBox="1"/>
          <p:nvPr/>
        </p:nvSpPr>
        <p:spPr>
          <a:xfrm>
            <a:off x="11342017" y="2635839"/>
            <a:ext cx="967931" cy="61555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 Light" pitchFamily="2" charset="-79"/>
                <a:ea typeface="+mn-ea"/>
                <a:cs typeface="Assistant Light" pitchFamily="2" charset="-79"/>
              </a:rPr>
              <a:t>אל מול המערכת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012D1E0-0375-0D7A-2015-EDF5F6FCC659}"/>
              </a:ext>
            </a:extLst>
          </p:cNvPr>
          <p:cNvSpPr/>
          <p:nvPr/>
        </p:nvSpPr>
        <p:spPr>
          <a:xfrm>
            <a:off x="11144074" y="1730737"/>
            <a:ext cx="349587" cy="23502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E4287DA-CAEC-2AA4-8833-9A3BFA7864A9}"/>
              </a:ext>
            </a:extLst>
          </p:cNvPr>
          <p:cNvSpPr/>
          <p:nvPr/>
        </p:nvSpPr>
        <p:spPr>
          <a:xfrm>
            <a:off x="11167224" y="4390904"/>
            <a:ext cx="349587" cy="23502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7A5C8-E2D8-3FDA-504E-E7FE56049152}"/>
              </a:ext>
            </a:extLst>
          </p:cNvPr>
          <p:cNvSpPr txBox="1"/>
          <p:nvPr/>
        </p:nvSpPr>
        <p:spPr>
          <a:xfrm>
            <a:off x="-10729" y="995194"/>
            <a:ext cx="28322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08C8B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השינוי הרצוי וקהל היעד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8C8B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</a:b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308C8B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הבעיה שנרצה לפתור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120F89-67F8-A02B-357C-5C251D1B1178}"/>
              </a:ext>
            </a:extLst>
          </p:cNvPr>
          <p:cNvSpPr txBox="1"/>
          <p:nvPr/>
        </p:nvSpPr>
        <p:spPr>
          <a:xfrm>
            <a:off x="6440910" y="1043473"/>
            <a:ext cx="373244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08C8B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יצירת השינוי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308C8B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מנופי שינוי,  סוכני הובלת שינוי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F45792-6BC7-A9DD-E8DC-49BA551D05AA}"/>
              </a:ext>
            </a:extLst>
          </p:cNvPr>
          <p:cNvSpPr txBox="1"/>
          <p:nvPr/>
        </p:nvSpPr>
        <p:spPr>
          <a:xfrm>
            <a:off x="3064766" y="968547"/>
            <a:ext cx="292396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308C8B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מדדי תוצאה  ברמת הפרט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308C8B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איך נראית הצלחה ברמת האדם</a:t>
            </a:r>
          </a:p>
        </p:txBody>
      </p:sp>
      <p:sp>
        <p:nvSpPr>
          <p:cNvPr id="36" name="Right Bracket 35">
            <a:extLst>
              <a:ext uri="{FF2B5EF4-FFF2-40B4-BE49-F238E27FC236}">
                <a16:creationId xmlns:a16="http://schemas.microsoft.com/office/drawing/2014/main" id="{54C8AF9F-A7C2-04F0-0A4F-949650C305AF}"/>
              </a:ext>
            </a:extLst>
          </p:cNvPr>
          <p:cNvSpPr/>
          <p:nvPr/>
        </p:nvSpPr>
        <p:spPr>
          <a:xfrm rot="5400000" flipH="1" flipV="1">
            <a:off x="1479450" y="25931"/>
            <a:ext cx="45719" cy="1984245"/>
          </a:xfrm>
          <a:prstGeom prst="rightBracket">
            <a:avLst/>
          </a:prstGeom>
          <a:ln>
            <a:solidFill>
              <a:srgbClr val="84D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0" name="Right Bracket 39">
            <a:extLst>
              <a:ext uri="{FF2B5EF4-FFF2-40B4-BE49-F238E27FC236}">
                <a16:creationId xmlns:a16="http://schemas.microsoft.com/office/drawing/2014/main" id="{17C0170A-C6F4-170D-9E1A-339A7455FE18}"/>
              </a:ext>
            </a:extLst>
          </p:cNvPr>
          <p:cNvSpPr/>
          <p:nvPr/>
        </p:nvSpPr>
        <p:spPr>
          <a:xfrm rot="5400000" flipH="1" flipV="1">
            <a:off x="4542790" y="-347955"/>
            <a:ext cx="45721" cy="2737135"/>
          </a:xfrm>
          <a:prstGeom prst="rightBracket">
            <a:avLst/>
          </a:prstGeom>
          <a:ln>
            <a:solidFill>
              <a:srgbClr val="84D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1" name="Right Bracket 40">
            <a:extLst>
              <a:ext uri="{FF2B5EF4-FFF2-40B4-BE49-F238E27FC236}">
                <a16:creationId xmlns:a16="http://schemas.microsoft.com/office/drawing/2014/main" id="{588A9D92-7E7F-A8A0-95C0-FF421CE91D12}"/>
              </a:ext>
            </a:extLst>
          </p:cNvPr>
          <p:cNvSpPr/>
          <p:nvPr/>
        </p:nvSpPr>
        <p:spPr>
          <a:xfrm rot="5400000" flipH="1" flipV="1">
            <a:off x="8284273" y="66159"/>
            <a:ext cx="45719" cy="1984245"/>
          </a:xfrm>
          <a:prstGeom prst="rightBracket">
            <a:avLst/>
          </a:prstGeom>
          <a:ln>
            <a:solidFill>
              <a:srgbClr val="84D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B116D322-6432-FBD1-BE2B-FC5695C8A49A}"/>
              </a:ext>
            </a:extLst>
          </p:cNvPr>
          <p:cNvSpPr/>
          <p:nvPr/>
        </p:nvSpPr>
        <p:spPr>
          <a:xfrm rot="3551160">
            <a:off x="8806797" y="1724741"/>
            <a:ext cx="196746" cy="95975"/>
          </a:xfrm>
          <a:prstGeom prst="rightArrow">
            <a:avLst/>
          </a:prstGeom>
          <a:solidFill>
            <a:srgbClr val="84D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D592624B-FC8F-5174-35C1-A12923A32CF4}"/>
              </a:ext>
            </a:extLst>
          </p:cNvPr>
          <p:cNvSpPr/>
          <p:nvPr/>
        </p:nvSpPr>
        <p:spPr>
          <a:xfrm rot="7354731">
            <a:off x="7718869" y="1734504"/>
            <a:ext cx="196746" cy="95975"/>
          </a:xfrm>
          <a:prstGeom prst="rightArrow">
            <a:avLst/>
          </a:prstGeom>
          <a:solidFill>
            <a:srgbClr val="84D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E08E3148-BC92-2A7F-21F3-9FB7C6EA54D6}"/>
              </a:ext>
            </a:extLst>
          </p:cNvPr>
          <p:cNvSpPr/>
          <p:nvPr/>
        </p:nvSpPr>
        <p:spPr>
          <a:xfrm rot="5400000">
            <a:off x="4494183" y="1682750"/>
            <a:ext cx="196746" cy="95975"/>
          </a:xfrm>
          <a:prstGeom prst="rightArrow">
            <a:avLst/>
          </a:prstGeom>
          <a:solidFill>
            <a:srgbClr val="84D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F42F62B-2D93-2F3E-9576-F629BE88B957}"/>
              </a:ext>
            </a:extLst>
          </p:cNvPr>
          <p:cNvSpPr/>
          <p:nvPr/>
        </p:nvSpPr>
        <p:spPr>
          <a:xfrm rot="5400000">
            <a:off x="1259021" y="1697099"/>
            <a:ext cx="196746" cy="95975"/>
          </a:xfrm>
          <a:prstGeom prst="rightArrow">
            <a:avLst/>
          </a:prstGeom>
          <a:solidFill>
            <a:srgbClr val="84D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0F9CAE-1958-E90F-9A09-D44B290F4F49}"/>
              </a:ext>
            </a:extLst>
          </p:cNvPr>
          <p:cNvSpPr/>
          <p:nvPr/>
        </p:nvSpPr>
        <p:spPr>
          <a:xfrm>
            <a:off x="3463372" y="5244850"/>
            <a:ext cx="2126758" cy="1356600"/>
          </a:xfrm>
          <a:prstGeom prst="roundRect">
            <a:avLst/>
          </a:prstGeom>
          <a:solidFill>
            <a:srgbClr val="405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מדדי  תפקוד חברתי</a:t>
            </a:r>
            <a:endParaRPr kumimoji="0" lang="he-I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השתתפות חברתית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קיום רשת תמיכה פונקציונאלית</a:t>
            </a:r>
          </a:p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שייכות למקום הגאוגרפי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 </a:t>
            </a:r>
            <a:endParaRPr kumimoji="0" lang="he-IL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B345F4-B676-0126-2A98-9D9D5C9603D2}"/>
              </a:ext>
            </a:extLst>
          </p:cNvPr>
          <p:cNvSpPr/>
          <p:nvPr/>
        </p:nvSpPr>
        <p:spPr>
          <a:xfrm>
            <a:off x="6605392" y="5295477"/>
            <a:ext cx="1585958" cy="462766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שירותים חברתיים</a:t>
            </a:r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66FA85F-8BCF-AABF-5D29-6CC03B545BC5}"/>
              </a:ext>
            </a:extLst>
          </p:cNvPr>
          <p:cNvSpPr/>
          <p:nvPr/>
        </p:nvSpPr>
        <p:spPr>
          <a:xfrm>
            <a:off x="6647530" y="5918628"/>
            <a:ext cx="1564652" cy="469697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משרדי הממשלה הרלוונטיים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4E007AC-0C9E-D7B0-0306-384B9E4DA56D}"/>
              </a:ext>
            </a:extLst>
          </p:cNvPr>
          <p:cNvSpPr/>
          <p:nvPr/>
        </p:nvSpPr>
        <p:spPr>
          <a:xfrm>
            <a:off x="6636877" y="3596314"/>
            <a:ext cx="1585959" cy="388424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חברות סיעוד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4EF5CCF-D9AC-FABE-E4EA-5722ED3E3BCD}"/>
              </a:ext>
            </a:extLst>
          </p:cNvPr>
          <p:cNvSpPr/>
          <p:nvPr/>
        </p:nvSpPr>
        <p:spPr>
          <a:xfrm>
            <a:off x="6656494" y="3050112"/>
            <a:ext cx="1578594" cy="388424"/>
          </a:xfrm>
          <a:prstGeom prst="roundRect">
            <a:avLst/>
          </a:prstGeom>
          <a:solidFill>
            <a:srgbClr val="FCA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המטפלות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81804E-05FA-7B35-A72D-A1B8B7C8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" y="-5684"/>
            <a:ext cx="12192000" cy="74406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8880B34-4B12-577F-4FD3-4E54051AFB6D}"/>
              </a:ext>
            </a:extLst>
          </p:cNvPr>
          <p:cNvSpPr txBox="1"/>
          <p:nvPr/>
        </p:nvSpPr>
        <p:spPr>
          <a:xfrm>
            <a:off x="1606782" y="52413"/>
            <a:ext cx="1021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תפיסה רב מערכתית לשימור תפקוד ומניעת הדרדרות</a:t>
            </a:r>
          </a:p>
        </p:txBody>
      </p:sp>
    </p:spTree>
    <p:extLst>
      <p:ext uri="{BB962C8B-B14F-4D97-AF65-F5344CB8AC3E}">
        <p14:creationId xmlns:p14="http://schemas.microsoft.com/office/powerpoint/2010/main" val="30287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9" grpId="0" animBg="1"/>
      <p:bldP spid="20" grpId="0" animBg="1"/>
      <p:bldP spid="25" grpId="0" animBg="1"/>
      <p:bldP spid="33" grpId="0" animBg="1"/>
      <p:bldP spid="2" grpId="0" animBg="1"/>
      <p:bldP spid="9" grpId="0" animBg="1"/>
      <p:bldP spid="10" grpId="0" animBg="1"/>
      <p:bldP spid="18" grpId="0" animBg="1"/>
      <p:bldP spid="21" grpId="0" animBg="1"/>
      <p:bldP spid="22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51" grpId="0" animBg="1"/>
      <p:bldP spid="3" grpId="0"/>
      <p:bldP spid="4" grpId="0"/>
      <p:bldP spid="5" grpId="0" animBg="1"/>
      <p:bldP spid="8" grpId="0" animBg="1"/>
      <p:bldP spid="12" grpId="0" animBg="1"/>
      <p:bldP spid="7" grpId="0" animBg="1"/>
      <p:bldP spid="23" grpId="0" animBg="1"/>
      <p:bldP spid="48" grpId="0" animBg="1"/>
      <p:bldP spid="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2231136" y="687549"/>
            <a:ext cx="9288195" cy="60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מעיקרי פעילות הפורום </a:t>
            </a:r>
            <a:r>
              <a:rPr lang="he-IL" sz="44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בעת החירום</a:t>
            </a:r>
            <a:endParaRPr lang="en-US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4C552-3967-9B4B-B90F-C6B0E312B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647" y="1292971"/>
            <a:ext cx="9128683" cy="279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06FA4E-A5D9-9641-9C29-CF8CB9E1A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3158347"/>
            <a:ext cx="3847514" cy="279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5C71CA-26BF-8C4D-968E-F5D53346B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4539091"/>
            <a:ext cx="3463466" cy="27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485C0B-5271-194F-8D26-7A55D03AB6B9}"/>
              </a:ext>
            </a:extLst>
          </p:cNvPr>
          <p:cNvSpPr txBox="1"/>
          <p:nvPr/>
        </p:nvSpPr>
        <p:spPr>
          <a:xfrm>
            <a:off x="2381502" y="1264594"/>
            <a:ext cx="91531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במהלך מלחמת "חרבות ברזל" השולחן המשותף של הפורום סייע בהתמודדות עם אתגרי החירום באמצעות: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00941-94AB-A24F-B7ED-5C3731404897}"/>
              </a:ext>
            </a:extLst>
          </p:cNvPr>
          <p:cNvSpPr txBox="1"/>
          <p:nvPr/>
        </p:nvSpPr>
        <p:spPr>
          <a:xfrm>
            <a:off x="7973568" y="1707544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סינכרון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בין הגורמים הממשלתיים והציבוריים העוסקים בטיפול בזקנים בחירום.</a:t>
            </a:r>
            <a:endParaRPr lang="en-US" sz="16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436D48-0B2F-D647-ADF5-314FB2F5446D}"/>
              </a:ext>
            </a:extLst>
          </p:cNvPr>
          <p:cNvSpPr txBox="1"/>
          <p:nvPr/>
        </p:nvSpPr>
        <p:spPr>
          <a:xfrm>
            <a:off x="4506937" y="1688249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מתן סקירות משותפות על העשייה בשטח וקידום 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שיתופי פעולה בין </a:t>
            </a:r>
          </a:p>
          <a:p>
            <a:pPr algn="r" rtl="1"/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ארגוניים ברמה הארצית והמקומית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.</a:t>
            </a:r>
            <a:endParaRPr lang="en-US" sz="16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E0A9E3-5301-5C45-9BD1-965498D82BBA}"/>
              </a:ext>
            </a:extLst>
          </p:cNvPr>
          <p:cNvSpPr txBox="1"/>
          <p:nvPr/>
        </p:nvSpPr>
        <p:spPr>
          <a:xfrm>
            <a:off x="931633" y="1688249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הצפת חסמים מערכתיים </a:t>
            </a:r>
          </a:p>
          <a:p>
            <a:pPr algn="r" rtl="1"/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למציאת פתרונות רוחב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לסוגיות </a:t>
            </a:r>
          </a:p>
          <a:p>
            <a:pPr algn="r" rtl="1"/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טיפול שונות בזקנים בחירום.</a:t>
            </a:r>
            <a:endParaRPr lang="en-US" sz="16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E31C5-71CC-924F-82CE-469EF9850D48}"/>
              </a:ext>
            </a:extLst>
          </p:cNvPr>
          <p:cNvSpPr txBox="1"/>
          <p:nvPr/>
        </p:nvSpPr>
        <p:spPr>
          <a:xfrm>
            <a:off x="2935224" y="2794673"/>
            <a:ext cx="4990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הנושאים המרכזיים אשר קודמו בפורום כמענה לחירום:</a:t>
            </a:r>
            <a:endParaRPr lang="en-US" sz="1600" b="1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E68BC-07AA-BE45-A47F-4159F3295BCB}"/>
              </a:ext>
            </a:extLst>
          </p:cNvPr>
          <p:cNvSpPr txBox="1"/>
          <p:nvPr/>
        </p:nvSpPr>
        <p:spPr>
          <a:xfrm>
            <a:off x="1225296" y="3467926"/>
            <a:ext cx="6700442" cy="920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20"/>
              </a:lnSpc>
            </a:pP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קידום 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מיפוי אוכלוסיית הזקנים במלונות. הסדרת העברת מידע בין ארגונים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בעזרת </a:t>
            </a:r>
          </a:p>
          <a:p>
            <a:pPr algn="r" rtl="1">
              <a:lnSpc>
                <a:spcPts val="2220"/>
              </a:lnSpc>
            </a:pP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אפליקציית "ביחד". 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תכלול שיתופי פעולה במלונות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לשימור תפקוד, דחיקת תלות והפעלות להגברת שייכות ומשמעות.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78E2C4-9769-3A4F-8B40-1A31336FB1F5}"/>
              </a:ext>
            </a:extLst>
          </p:cNvPr>
          <p:cNvSpPr txBox="1"/>
          <p:nvPr/>
        </p:nvSpPr>
        <p:spPr>
          <a:xfrm>
            <a:off x="931633" y="4848670"/>
            <a:ext cx="6994105" cy="640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20"/>
              </a:lnSpc>
            </a:pP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טיפול במרותקי בית, זקנים בעוני, בודדים. 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היערכות לפינוי מואץ של אוכלוסייה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למקרה של הסלמה בצפון. 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פיתוח מענים משולבים </a:t>
            </a:r>
            <a:r>
              <a:rPr lang="he-IL" sz="1600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למרותקי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בית ע"י הקופות הרווחה והביטוח לאומי.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4000B1-30B9-2C49-9A63-A9057A92C7BA}"/>
              </a:ext>
            </a:extLst>
          </p:cNvPr>
          <p:cNvSpPr txBox="1"/>
          <p:nvPr/>
        </p:nvSpPr>
        <p:spPr>
          <a:xfrm>
            <a:off x="2945423" y="3114513"/>
            <a:ext cx="4990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טיפול מערכתי באוכלוסיות המפונים למלונות</a:t>
            </a:r>
            <a:endParaRPr lang="en-US" sz="16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890F56-E482-9640-B4F6-BDAF40A78817}"/>
              </a:ext>
            </a:extLst>
          </p:cNvPr>
          <p:cNvSpPr txBox="1"/>
          <p:nvPr/>
        </p:nvSpPr>
        <p:spPr>
          <a:xfrm>
            <a:off x="2945423" y="4495257"/>
            <a:ext cx="4990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טיפול באוכלוסיית זקנים בסיכון בקהילה</a:t>
            </a:r>
            <a:endParaRPr lang="en-US" sz="16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C4A1F5-29D6-F84D-AC70-A69509D66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146" y="2870661"/>
            <a:ext cx="3365500" cy="2806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7CD9C7-31C2-7F47-A677-9E3E1F665F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936" y="1704715"/>
            <a:ext cx="558800" cy="55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43DEBA6-2434-224D-9C4A-766635DFD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0917" y="1704715"/>
            <a:ext cx="558800" cy="5588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9A43B48-5B94-B646-91A1-F1D816D0A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2183" y="1722975"/>
            <a:ext cx="5461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05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7150608" y="3283673"/>
            <a:ext cx="4400217" cy="109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פורום ברק בגישה </a:t>
            </a:r>
          </a:p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צופה פני עתיד</a:t>
            </a:r>
            <a:endParaRPr lang="en-US" b="1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4C552-3967-9B4B-B90F-C6B0E312B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3357796"/>
            <a:ext cx="4232577" cy="2109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E00941-94AB-A24F-B7ED-5C3731404897}"/>
              </a:ext>
            </a:extLst>
          </p:cNvPr>
          <p:cNvSpPr txBox="1"/>
          <p:nvPr/>
        </p:nvSpPr>
        <p:spPr>
          <a:xfrm>
            <a:off x="7297955" y="4414985"/>
            <a:ext cx="4268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הפורום כ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תשתית אסטרטגית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 לעבודה רב מערכתית  שתוביל ל</a:t>
            </a: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היערכות משותפת להזדקנות מיטבית של האוכלוסייה בישראל </a:t>
            </a:r>
            <a:endParaRPr lang="en-US" sz="1600" b="1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E0A9E3-5301-5C45-9BD1-965498D82BBA}"/>
              </a:ext>
            </a:extLst>
          </p:cNvPr>
          <p:cNvSpPr txBox="1"/>
          <p:nvPr/>
        </p:nvSpPr>
        <p:spPr>
          <a:xfrm>
            <a:off x="1229193" y="3875716"/>
            <a:ext cx="5165155" cy="1913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תמונת מצב, אתגרים והמלצות </a:t>
            </a:r>
          </a:p>
          <a:p>
            <a:pPr algn="r" rtl="1">
              <a:lnSpc>
                <a:spcPts val="2400"/>
              </a:lnSpc>
            </a:pP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תכנית אסטרטגית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משותפת</a:t>
            </a:r>
          </a:p>
          <a:p>
            <a:pPr algn="r" rtl="1">
              <a:lnSpc>
                <a:spcPts val="2400"/>
              </a:lnSpc>
            </a:pP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ניירות מדיניות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משותפים על נושאי מפתח</a:t>
            </a:r>
          </a:p>
          <a:p>
            <a:pPr algn="r" rtl="1">
              <a:lnSpc>
                <a:spcPts val="2400"/>
              </a:lnSpc>
            </a:pP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תכנית עבודה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רב שנתית משותפת</a:t>
            </a:r>
          </a:p>
          <a:p>
            <a:pPr algn="r" rtl="1">
              <a:lnSpc>
                <a:spcPts val="2400"/>
              </a:lnSpc>
            </a:pP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הובלת מהלכים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רב מערכתיים למענה לאתגרים</a:t>
            </a:r>
          </a:p>
          <a:p>
            <a:pPr algn="r" rtl="1">
              <a:lnSpc>
                <a:spcPts val="2400"/>
              </a:lnSpc>
            </a:pPr>
            <a:r>
              <a:rPr lang="he-IL" sz="1600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חיבור בין המערכות </a:t>
            </a:r>
            <a:r>
              <a:rPr lang="he-IL" sz="16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שמביא לשיפור המענה והשירותים לאזרח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2199669-4517-AD46-A790-E6356CC98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77" y="3622972"/>
            <a:ext cx="2207256" cy="2109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485C0B-5271-194F-8D26-7A55D03AB6B9}"/>
              </a:ext>
            </a:extLst>
          </p:cNvPr>
          <p:cNvSpPr txBox="1"/>
          <p:nvPr/>
        </p:nvSpPr>
        <p:spPr>
          <a:xfrm>
            <a:off x="-2572785" y="3271968"/>
            <a:ext cx="9153144" cy="639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he-IL" sz="16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במסגרת זו צוותי הפעולה של הפורום יהיו שותפים </a:t>
            </a:r>
            <a:br>
              <a:rPr lang="en-US" sz="16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</a:br>
            <a:r>
              <a:rPr lang="he-IL" sz="16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ומעורבים בתכנון וגיבוש: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7035B-152B-6C41-97E2-62C7C4496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77" y="3991568"/>
            <a:ext cx="179481" cy="1794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732BAC8-6C32-7442-B3E9-CBB1E1F2E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77" y="4293018"/>
            <a:ext cx="179481" cy="1794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4C7AAD0-31AC-C042-A60F-475BB2A4E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77" y="4609542"/>
            <a:ext cx="179481" cy="1794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E6F33E1-3E25-F448-B7D3-FC12F8B61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77" y="4910992"/>
            <a:ext cx="179481" cy="17948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DD40669-0663-6642-BE11-14D02192E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77" y="5217467"/>
            <a:ext cx="179481" cy="17948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5A59733-B515-174F-96A1-FB3CCEAEC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77" y="5518917"/>
            <a:ext cx="179481" cy="179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30683F-3F11-6C41-9FC7-C87E0A284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560" y="-120670"/>
            <a:ext cx="12263120" cy="315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26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7897A02-47AB-6CAA-04CE-49354E405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6248"/>
            <a:ext cx="12192000" cy="91060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3A3CDBE-887D-1E26-D466-A9BB3CF38843}"/>
              </a:ext>
            </a:extLst>
          </p:cNvPr>
          <p:cNvGrpSpPr/>
          <p:nvPr/>
        </p:nvGrpSpPr>
        <p:grpSpPr>
          <a:xfrm>
            <a:off x="305330" y="6167701"/>
            <a:ext cx="2347678" cy="516168"/>
            <a:chOff x="3486150" y="1040904"/>
            <a:chExt cx="5219896" cy="11476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4CAE06-02CF-5449-BBCB-DA9868472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B49E43-8B93-A62D-66FD-6451AC79F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5546" y="1040904"/>
              <a:ext cx="1460500" cy="10922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4B0AAA8-E8B3-DCA3-51DB-DC6736621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EBAD31F-2FBA-C44D-14AB-BED2947C2411}"/>
              </a:ext>
            </a:extLst>
          </p:cNvPr>
          <p:cNvSpPr txBox="1"/>
          <p:nvPr/>
        </p:nvSpPr>
        <p:spPr>
          <a:xfrm>
            <a:off x="7001622" y="1560491"/>
            <a:ext cx="4566536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400" b="1" i="0" u="none" strike="noStrike" kern="1200" cap="none" spc="0" normalizeH="0" baseline="0" noProof="0" dirty="0">
                <a:ln>
                  <a:noFill/>
                </a:ln>
                <a:solidFill>
                  <a:srgbClr val="3E6BB4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תודה רבה על ה: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16157FC5-0786-C6ED-5C1E-4FB25C6803C4}"/>
              </a:ext>
            </a:extLst>
          </p:cNvPr>
          <p:cNvGrpSpPr/>
          <p:nvPr/>
        </p:nvGrpSpPr>
        <p:grpSpPr>
          <a:xfrm>
            <a:off x="962739" y="117542"/>
            <a:ext cx="10266521" cy="541894"/>
            <a:chOff x="375065" y="6199685"/>
            <a:chExt cx="10855271" cy="513610"/>
          </a:xfrm>
        </p:grpSpPr>
        <p:pic>
          <p:nvPicPr>
            <p:cNvPr id="7" name="Picture 28">
              <a:extLst>
                <a:ext uri="{FF2B5EF4-FFF2-40B4-BE49-F238E27FC236}">
                  <a16:creationId xmlns:a16="http://schemas.microsoft.com/office/drawing/2014/main" id="{21A0347C-54D0-03B5-4964-1C36AB35D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55636" y="6289528"/>
              <a:ext cx="774700" cy="254000"/>
            </a:xfrm>
            <a:prstGeom prst="rect">
              <a:avLst/>
            </a:prstGeom>
          </p:spPr>
        </p:pic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7E0D1CDD-E995-F72B-26E8-ADCFEBE59A85}"/>
                </a:ext>
              </a:extLst>
            </p:cNvPr>
            <p:cNvGrpSpPr/>
            <p:nvPr/>
          </p:nvGrpSpPr>
          <p:grpSpPr>
            <a:xfrm>
              <a:off x="375065" y="6199685"/>
              <a:ext cx="10074221" cy="513610"/>
              <a:chOff x="375065" y="6199685"/>
              <a:chExt cx="10074221" cy="513610"/>
            </a:xfrm>
          </p:grpSpPr>
          <p:pic>
            <p:nvPicPr>
              <p:cNvPr id="9" name="Picture 22">
                <a:extLst>
                  <a:ext uri="{FF2B5EF4-FFF2-40B4-BE49-F238E27FC236}">
                    <a16:creationId xmlns:a16="http://schemas.microsoft.com/office/drawing/2014/main" id="{1F37ADB6-09EB-8E3F-D657-E757A3BF5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59610" y="6222253"/>
                <a:ext cx="1023134" cy="429056"/>
              </a:xfrm>
              <a:prstGeom prst="rect">
                <a:avLst/>
              </a:prstGeom>
            </p:spPr>
          </p:pic>
          <p:pic>
            <p:nvPicPr>
              <p:cNvPr id="10" name="Picture 24">
                <a:extLst>
                  <a:ext uri="{FF2B5EF4-FFF2-40B4-BE49-F238E27FC236}">
                    <a16:creationId xmlns:a16="http://schemas.microsoft.com/office/drawing/2014/main" id="{D251DB76-1D86-BB94-DF33-D04ED73E1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49186" y="6241303"/>
                <a:ext cx="800100" cy="292100"/>
              </a:xfrm>
              <a:prstGeom prst="rect">
                <a:avLst/>
              </a:prstGeom>
            </p:spPr>
          </p:pic>
          <p:pic>
            <p:nvPicPr>
              <p:cNvPr id="11" name="Picture 30">
                <a:extLst>
                  <a:ext uri="{FF2B5EF4-FFF2-40B4-BE49-F238E27FC236}">
                    <a16:creationId xmlns:a16="http://schemas.microsoft.com/office/drawing/2014/main" id="{04930655-C19C-A214-194A-6AF2396D47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65299" y="6232209"/>
                <a:ext cx="711200" cy="419100"/>
              </a:xfrm>
              <a:prstGeom prst="rect">
                <a:avLst/>
              </a:prstGeom>
            </p:spPr>
          </p:pic>
          <p:pic>
            <p:nvPicPr>
              <p:cNvPr id="12" name="Picture 32">
                <a:extLst>
                  <a:ext uri="{FF2B5EF4-FFF2-40B4-BE49-F238E27FC236}">
                    <a16:creationId xmlns:a16="http://schemas.microsoft.com/office/drawing/2014/main" id="{C86464AF-9E32-FB79-BA58-40E5CEA47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71195" y="6200620"/>
                <a:ext cx="960120" cy="400050"/>
              </a:xfrm>
              <a:prstGeom prst="rect">
                <a:avLst/>
              </a:prstGeom>
            </p:spPr>
          </p:pic>
          <p:pic>
            <p:nvPicPr>
              <p:cNvPr id="15" name="Picture 34">
                <a:extLst>
                  <a:ext uri="{FF2B5EF4-FFF2-40B4-BE49-F238E27FC236}">
                    <a16:creationId xmlns:a16="http://schemas.microsoft.com/office/drawing/2014/main" id="{8FDCBEAD-F12C-A662-8A0A-D22F4097D5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15956" y="6200620"/>
                <a:ext cx="558800" cy="419100"/>
              </a:xfrm>
              <a:prstGeom prst="rect">
                <a:avLst/>
              </a:prstGeom>
            </p:spPr>
          </p:pic>
          <p:pic>
            <p:nvPicPr>
              <p:cNvPr id="16" name="Picture 38">
                <a:extLst>
                  <a:ext uri="{FF2B5EF4-FFF2-40B4-BE49-F238E27FC236}">
                    <a16:creationId xmlns:a16="http://schemas.microsoft.com/office/drawing/2014/main" id="{31F18A4F-8B58-D6FC-EACF-28A379188A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82649" y="6310106"/>
                <a:ext cx="685800" cy="330200"/>
              </a:xfrm>
              <a:prstGeom prst="rect">
                <a:avLst/>
              </a:prstGeom>
            </p:spPr>
          </p:pic>
          <p:pic>
            <p:nvPicPr>
              <p:cNvPr id="18" name="Picture 40">
                <a:extLst>
                  <a:ext uri="{FF2B5EF4-FFF2-40B4-BE49-F238E27FC236}">
                    <a16:creationId xmlns:a16="http://schemas.microsoft.com/office/drawing/2014/main" id="{E1901128-A776-3103-BDC5-F98ED13D93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57565" y="6365720"/>
                <a:ext cx="800100" cy="254000"/>
              </a:xfrm>
              <a:prstGeom prst="rect">
                <a:avLst/>
              </a:prstGeom>
            </p:spPr>
          </p:pic>
          <p:pic>
            <p:nvPicPr>
              <p:cNvPr id="19" name="Picture 42">
                <a:extLst>
                  <a:ext uri="{FF2B5EF4-FFF2-40B4-BE49-F238E27FC236}">
                    <a16:creationId xmlns:a16="http://schemas.microsoft.com/office/drawing/2014/main" id="{905AA0BF-4159-B240-7BC2-A5DA253D7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98831" y="6350214"/>
                <a:ext cx="723900" cy="241300"/>
              </a:xfrm>
              <a:prstGeom prst="rect">
                <a:avLst/>
              </a:prstGeom>
            </p:spPr>
          </p:pic>
          <p:pic>
            <p:nvPicPr>
              <p:cNvPr id="20" name="Picture 44">
                <a:extLst>
                  <a:ext uri="{FF2B5EF4-FFF2-40B4-BE49-F238E27FC236}">
                    <a16:creationId xmlns:a16="http://schemas.microsoft.com/office/drawing/2014/main" id="{52BD555D-5626-5192-E70D-743C7E29E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17852" y="6316134"/>
                <a:ext cx="558800" cy="266700"/>
              </a:xfrm>
              <a:prstGeom prst="rect">
                <a:avLst/>
              </a:prstGeom>
            </p:spPr>
          </p:pic>
          <p:pic>
            <p:nvPicPr>
              <p:cNvPr id="21" name="Picture 46">
                <a:extLst>
                  <a:ext uri="{FF2B5EF4-FFF2-40B4-BE49-F238E27FC236}">
                    <a16:creationId xmlns:a16="http://schemas.microsoft.com/office/drawing/2014/main" id="{B014209C-7920-2D6E-85C4-B564F66EDA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5065" y="6243395"/>
                <a:ext cx="787400" cy="469900"/>
              </a:xfrm>
              <a:prstGeom prst="rect">
                <a:avLst/>
              </a:prstGeom>
            </p:spPr>
          </p:pic>
          <p:pic>
            <p:nvPicPr>
              <p:cNvPr id="22" name="Picture 48">
                <a:extLst>
                  <a:ext uri="{FF2B5EF4-FFF2-40B4-BE49-F238E27FC236}">
                    <a16:creationId xmlns:a16="http://schemas.microsoft.com/office/drawing/2014/main" id="{C8DC3E0E-A254-87ED-189C-50FBC3112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80400" y="6219670"/>
                <a:ext cx="673100" cy="381000"/>
              </a:xfrm>
              <a:prstGeom prst="rect">
                <a:avLst/>
              </a:prstGeom>
            </p:spPr>
          </p:pic>
          <p:pic>
            <p:nvPicPr>
              <p:cNvPr id="23" name="Picture 50">
                <a:extLst>
                  <a:ext uri="{FF2B5EF4-FFF2-40B4-BE49-F238E27FC236}">
                    <a16:creationId xmlns:a16="http://schemas.microsoft.com/office/drawing/2014/main" id="{98A04D11-B907-CE17-460A-4EF9231A06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59850" y="6199685"/>
                <a:ext cx="787400" cy="508000"/>
              </a:xfrm>
              <a:prstGeom prst="rect">
                <a:avLst/>
              </a:prstGeom>
            </p:spPr>
          </p:pic>
          <p:pic>
            <p:nvPicPr>
              <p:cNvPr id="24" name="Picture 26">
                <a:extLst>
                  <a:ext uri="{FF2B5EF4-FFF2-40B4-BE49-F238E27FC236}">
                    <a16:creationId xmlns:a16="http://schemas.microsoft.com/office/drawing/2014/main" id="{65D8CFC2-D20F-1859-D8CF-22E6C6A10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07433" y="6260352"/>
                <a:ext cx="657411" cy="360011"/>
              </a:xfrm>
              <a:prstGeom prst="rect">
                <a:avLst/>
              </a:prstGeom>
              <a:ln>
                <a:noFill/>
              </a:ln>
            </p:spPr>
          </p:pic>
        </p:grp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30954E82-5AE6-4742-AFAA-892378B994B0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010" y="721860"/>
            <a:ext cx="5137763" cy="5137763"/>
          </a:xfrm>
          <a:prstGeom prst="roundRect">
            <a:avLst>
              <a:gd name="adj" fmla="val 20331"/>
            </a:avLst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D3DFFC5F-53B3-6745-89E0-66F9FB5254F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48350" y="2329932"/>
            <a:ext cx="3414568" cy="325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6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JDCI Default Content Type" ma:contentTypeID="0x0101005E132F7B706C9D47B10A46F70A77D2DB00F723A1EBC73B9E41A50BE73F1F4B2B5F" ma:contentTypeVersion="1443" ma:contentTypeDescription="A content type to serve default crosscutting columns (each division can add their own, as needed)" ma:contentTypeScope="" ma:versionID="9f6b78216ee0d2a80156e67dc2313190">
  <xsd:schema xmlns:xsd="http://www.w3.org/2001/XMLSchema" xmlns:xs="http://www.w3.org/2001/XMLSchema" xmlns:p="http://schemas.microsoft.com/office/2006/metadata/properties" xmlns:ns2="40865a11-04aa-4758-90f9-30fb78dc0abd" xmlns:ns3="104f4da5-538f-405d-bd44-332577b9ce93" xmlns:ns4="2fd1333a-4445-4d97-8712-034155bc4bb2" targetNamespace="http://schemas.microsoft.com/office/2006/metadata/properties" ma:root="true" ma:fieldsID="a3d1296c2cbbe02ffb70859a623ffe72" ns2:_="" ns3:_="" ns4:_="">
    <xsd:import namespace="40865a11-04aa-4758-90f9-30fb78dc0abd"/>
    <xsd:import namespace="104f4da5-538f-405d-bd44-332577b9ce93"/>
    <xsd:import namespace="2fd1333a-4445-4d97-8712-034155bc4bb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865a11-04aa-4758-90f9-30fb78dc0ab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6" nillable="true" ma:displayName="Taxonomy Catch All Column" ma:hidden="true" ma:list="{fd017d89-e13c-46b2-b39a-a5261efa44c4}" ma:internalName="TaxCatchAll" ma:showField="CatchAllData" ma:web="40865a11-04aa-4758-90f9-30fb78dc0a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f4da5-538f-405d-bd44-332577b9ce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3b052595-e0a3-4aa6-8855-c090d5a7a2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1333a-4445-4d97-8712-034155bc4bb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0865a11-04aa-4758-90f9-30fb78dc0abd">E7RFMTJKPR4V-1699577259-322651</_dlc_DocId>
    <_dlc_DocIdUrl xmlns="40865a11-04aa-4758-90f9-30fb78dc0abd">
      <Url>https://jdcil.sharepoint.com/sites/jdci/JELKA/_layouts/15/DocIdRedir.aspx?ID=E7RFMTJKPR4V-1699577259-322651</Url>
      <Description>E7RFMTJKPR4V-1699577259-322651</Description>
    </_dlc_DocIdUrl>
    <TaxCatchAll xmlns="40865a11-04aa-4758-90f9-30fb78dc0abd" xsi:nil="true"/>
    <lcf76f155ced4ddcb4097134ff3c332f xmlns="104f4da5-538f-405d-bd44-332577b9ce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A8FAE7-C871-4FE3-933D-E3B658F93A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865a11-04aa-4758-90f9-30fb78dc0abd"/>
    <ds:schemaRef ds:uri="104f4da5-538f-405d-bd44-332577b9ce93"/>
    <ds:schemaRef ds:uri="2fd1333a-4445-4d97-8712-034155bc4b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374378-06B3-4E35-BE52-2C1DEF592B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13019A-BBAF-4739-B538-D6A1C4952C1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EA4EEED7-740C-47A8-A4AA-CFDB5DD9873A}">
  <ds:schemaRefs>
    <ds:schemaRef ds:uri="http://schemas.microsoft.com/office/2006/metadata/properties"/>
    <ds:schemaRef ds:uri="http://schemas.microsoft.com/office/infopath/2007/PartnerControls"/>
    <ds:schemaRef ds:uri="40865a11-04aa-4758-90f9-30fb78dc0abd"/>
    <ds:schemaRef ds:uri="104f4da5-538f-405d-bd44-332577b9ce9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30218</TotalTime>
  <Words>1407</Words>
  <Application>Microsoft Office PowerPoint</Application>
  <PresentationFormat>מסך רחב</PresentationFormat>
  <Paragraphs>197</Paragraphs>
  <Slides>16</Slides>
  <Notes>7</Notes>
  <HiddenSlides>3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5" baseType="lpstr">
      <vt:lpstr>Aptos</vt:lpstr>
      <vt:lpstr>Arial</vt:lpstr>
      <vt:lpstr>Assistant</vt:lpstr>
      <vt:lpstr>Assistant Light</vt:lpstr>
      <vt:lpstr>Calibri</vt:lpstr>
      <vt:lpstr>Calibri Light</vt:lpstr>
      <vt:lpstr>Rubik</vt:lpstr>
      <vt:lpstr>Segoe UI Semilight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אביעד יצחק</cp:lastModifiedBy>
  <cp:revision>44</cp:revision>
  <dcterms:created xsi:type="dcterms:W3CDTF">2024-08-20T09:44:06Z</dcterms:created>
  <dcterms:modified xsi:type="dcterms:W3CDTF">2024-09-23T18:34:29Z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97582b51-4f5a-415d-a7f2-2427c26e41c9</vt:lpwstr>
  </property>
  <property fmtid="{D5CDD505-2E9C-101B-9397-08002B2CF9AE}" pid="3" name="ContentTypeId">
    <vt:lpwstr>0x0101005E132F7B706C9D47B10A46F70A77D2DB00F723A1EBC73B9E41A50BE73F1F4B2B5F</vt:lpwstr>
  </property>
  <property fmtid="{D5CDD505-2E9C-101B-9397-08002B2CF9AE}" pid="4" name="MediaServiceImageTags">
    <vt:lpwstr/>
  </property>
</Properties>
</file>