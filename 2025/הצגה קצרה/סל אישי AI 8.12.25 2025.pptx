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7.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8.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9.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708" r:id="rId3"/>
    <p:sldMasterId id="2147483719" r:id="rId4"/>
    <p:sldMasterId id="2147483744" r:id="rId5"/>
    <p:sldMasterId id="2147483792" r:id="rId6"/>
    <p:sldMasterId id="2147483804" r:id="rId7"/>
    <p:sldMasterId id="2147483824" r:id="rId8"/>
    <p:sldMasterId id="2147483838" r:id="rId9"/>
    <p:sldMasterId id="2147483873" r:id="rId10"/>
  </p:sldMasterIdLst>
  <p:notesMasterIdLst>
    <p:notesMasterId r:id="rId45"/>
  </p:notesMasterIdLst>
  <p:sldIdLst>
    <p:sldId id="2145707331" r:id="rId11"/>
    <p:sldId id="2145707340" r:id="rId12"/>
    <p:sldId id="1927" r:id="rId13"/>
    <p:sldId id="2145707333" r:id="rId14"/>
    <p:sldId id="2145707258" r:id="rId15"/>
    <p:sldId id="2145707317" r:id="rId16"/>
    <p:sldId id="2145707221" r:id="rId17"/>
    <p:sldId id="2145707302" r:id="rId18"/>
    <p:sldId id="2145707189" r:id="rId19"/>
    <p:sldId id="2145707335" r:id="rId20"/>
    <p:sldId id="2145707298" r:id="rId21"/>
    <p:sldId id="2145707238" r:id="rId22"/>
    <p:sldId id="2145707341" r:id="rId23"/>
    <p:sldId id="2147471329" r:id="rId24"/>
    <p:sldId id="2145706441" r:id="rId25"/>
    <p:sldId id="2145706440" r:id="rId26"/>
    <p:sldId id="2147471315" r:id="rId27"/>
    <p:sldId id="2147471345" r:id="rId28"/>
    <p:sldId id="2147471316" r:id="rId29"/>
    <p:sldId id="2147471317" r:id="rId30"/>
    <p:sldId id="2145707342" r:id="rId31"/>
    <p:sldId id="2147471344" r:id="rId32"/>
    <p:sldId id="2147471334" r:id="rId33"/>
    <p:sldId id="2145707347" r:id="rId34"/>
    <p:sldId id="2147471325" r:id="rId35"/>
    <p:sldId id="2147471342" r:id="rId36"/>
    <p:sldId id="2147471335" r:id="rId37"/>
    <p:sldId id="2147471336" r:id="rId38"/>
    <p:sldId id="2147471303" r:id="rId39"/>
    <p:sldId id="2147471323" r:id="rId40"/>
    <p:sldId id="2145707332" r:id="rId41"/>
    <p:sldId id="2145707242" r:id="rId42"/>
    <p:sldId id="2145707334" r:id="rId43"/>
    <p:sldId id="2145707339" r:id="rId44"/>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BE0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415" autoAdjust="0"/>
    <p:restoredTop sz="95033" autoAdjust="0"/>
  </p:normalViewPr>
  <p:slideViewPr>
    <p:cSldViewPr snapToGrid="0">
      <p:cViewPr varScale="1">
        <p:scale>
          <a:sx n="55" d="100"/>
          <a:sy n="55" d="100"/>
        </p:scale>
        <p:origin x="88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slide" Target="slides/slide3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presProps" Target="presProps.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04D-4F03-A1DE-3865F7456A06}"/>
                </c:ext>
              </c:extLst>
            </c:dLbl>
            <c:dLbl>
              <c:idx val="3"/>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a:t>מינהל</a:t>
                    </a:r>
                    <a:r>
                      <a:rPr lang="he-IL" sz="1100" b="1" dirty="0"/>
                      <a:t> אזרחים ותיקים ברווחה</a:t>
                    </a:r>
                    <a:r>
                      <a:rPr lang="he-IL" sz="1100" baseline="0" dirty="0"/>
                      <a:t> </a:t>
                    </a:r>
                    <a:fld id="{70634F7F-49C0-43A3-B9DD-21273F20D5E0}" type="VALUE">
                      <a:rPr lang="he-IL" sz="1100" b="1" baseline="0"/>
                      <a:pPr>
                        <a:defRPr sz="1100"/>
                      </a:pPr>
                      <a:t>[ערך]</a:t>
                    </a:fld>
                    <a:endParaRPr lang="he-IL" sz="1100" baseline="0" dirty="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385,000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schemeClr val="tx1"/>
                </a:solidFill>
                <a:latin typeface="Assistant" pitchFamily="2" charset="-79"/>
                <a:cs typeface="Assistant" pitchFamily="2" charset="-79"/>
              </a:rPr>
              <a:t>ROI</a:t>
            </a:r>
            <a:r>
              <a:rPr lang="he-IL" sz="2400" b="1" i="0" u="none" strike="noStrike" kern="1200" baseline="0" dirty="0">
                <a:solidFill>
                  <a:schemeClr val="tx1"/>
                </a:solidFill>
                <a:latin typeface="Assistant" pitchFamily="2" charset="-79"/>
                <a:cs typeface="Assistant" pitchFamily="2" charset="-79"/>
              </a:rPr>
              <a:t> במניעה לשנה לפי רמות סיעוד</a:t>
            </a:r>
            <a:endParaRPr lang="he-IL" sz="4000" dirty="0">
              <a:solidFill>
                <a:schemeClr val="tx1"/>
              </a:solidFill>
              <a:latin typeface="Assistant" pitchFamily="2" charset="-79"/>
              <a:cs typeface="Assistant" pitchFamily="2" charset="-79"/>
            </a:endParaRPr>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45F-48C4-ABE1-41C8E46A4540}"/>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F-48C4-ABE1-41C8E46A4540}"/>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45F-48C4-ABE1-41C8E46A4540}"/>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F-48C4-ABE1-41C8E46A4540}"/>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45F-48C4-ABE1-41C8E46A4540}"/>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F-48C4-ABE1-41C8E46A454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6-345F-48C4-ABE1-41C8E46A4540}"/>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81A827-DC1E-4245-A244-3D5F9DEE2444}" type="doc">
      <dgm:prSet loTypeId="urn:microsoft.com/office/officeart/2005/8/layout/radial5" loCatId="cycle" qsTypeId="urn:microsoft.com/office/officeart/2005/8/quickstyle/simple5" qsCatId="simple" csTypeId="urn:microsoft.com/office/officeart/2005/8/colors/colorful2" csCatId="colorful" phldr="1"/>
      <dgm:spPr/>
      <dgm:t>
        <a:bodyPr/>
        <a:lstStyle/>
        <a:p>
          <a:pPr rtl="1"/>
          <a:endParaRPr lang="he-IL"/>
        </a:p>
      </dgm:t>
    </dgm:pt>
    <dgm:pt modelId="{16AE826C-5E46-4C1B-99A5-B8072BF9FF22}">
      <dgm:prSet phldrT="[טקסט]"/>
      <dgm:spPr/>
      <dgm:t>
        <a:bodyPr/>
        <a:lstStyle/>
        <a:p>
          <a:pPr rtl="1"/>
          <a:r>
            <a:rPr lang="he-IL" dirty="0">
              <a:latin typeface="Assistant" pitchFamily="2" charset="-79"/>
              <a:cs typeface="Assistant" pitchFamily="2" charset="-79"/>
            </a:rPr>
            <a:t>סל שירות מותאם </a:t>
          </a:r>
          <a:r>
            <a:rPr lang="en-US" dirty="0">
              <a:latin typeface="Assistant" pitchFamily="2" charset="-79"/>
              <a:cs typeface="Assistant" pitchFamily="2" charset="-79"/>
            </a:rPr>
            <a:t>AI</a:t>
          </a:r>
          <a:endParaRPr lang="he-IL" dirty="0">
            <a:latin typeface="Assistant" pitchFamily="2" charset="-79"/>
            <a:cs typeface="Assistant" pitchFamily="2" charset="-79"/>
          </a:endParaRPr>
        </a:p>
      </dgm:t>
    </dgm:pt>
    <dgm:pt modelId="{CA81B478-341A-4D08-8F17-3EE31D5B28B2}" type="parTrans" cxnId="{2C93B2B6-A1B3-4097-8D41-C91C4D71F98F}">
      <dgm:prSet/>
      <dgm:spPr/>
      <dgm:t>
        <a:bodyPr/>
        <a:lstStyle/>
        <a:p>
          <a:pPr rtl="1"/>
          <a:endParaRPr lang="he-IL"/>
        </a:p>
      </dgm:t>
    </dgm:pt>
    <dgm:pt modelId="{FE53712C-9E08-486D-A3A8-BCB5D6559530}" type="sibTrans" cxnId="{2C93B2B6-A1B3-4097-8D41-C91C4D71F98F}">
      <dgm:prSet/>
      <dgm:spPr/>
      <dgm:t>
        <a:bodyPr/>
        <a:lstStyle/>
        <a:p>
          <a:pPr rtl="1"/>
          <a:endParaRPr lang="he-IL"/>
        </a:p>
      </dgm:t>
    </dgm:pt>
    <dgm:pt modelId="{DC025660-1161-4074-B97A-045431EC9AD0}">
      <dgm:prSet phldrT="[טקסט]"/>
      <dgm:spPr/>
      <dgm:t>
        <a:bodyPr/>
        <a:lstStyle/>
        <a:p>
          <a:pPr rtl="1"/>
          <a:r>
            <a:rPr lang="he-IL" dirty="0">
              <a:latin typeface="Assistant" pitchFamily="2" charset="-79"/>
              <a:cs typeface="Assistant" pitchFamily="2" charset="-79"/>
            </a:rPr>
            <a:t>אבחנה וזכאות</a:t>
          </a:r>
        </a:p>
      </dgm:t>
    </dgm:pt>
    <dgm:pt modelId="{73A0667A-CB56-411D-BD0F-BFA30F920D6B}" type="parTrans" cxnId="{B574F7E9-4FD2-46F2-8CCB-75E6ED8D122E}">
      <dgm:prSet/>
      <dgm:spPr/>
      <dgm:t>
        <a:bodyPr/>
        <a:lstStyle/>
        <a:p>
          <a:pPr rtl="1"/>
          <a:endParaRPr lang="he-IL"/>
        </a:p>
      </dgm:t>
    </dgm:pt>
    <dgm:pt modelId="{85532C7D-2E42-41AD-95C8-3E55DBA27900}" type="sibTrans" cxnId="{B574F7E9-4FD2-46F2-8CCB-75E6ED8D122E}">
      <dgm:prSet/>
      <dgm:spPr/>
      <dgm:t>
        <a:bodyPr/>
        <a:lstStyle/>
        <a:p>
          <a:pPr rtl="1"/>
          <a:endParaRPr lang="he-IL"/>
        </a:p>
      </dgm:t>
    </dgm:pt>
    <dgm:pt modelId="{E312A6B3-7A9B-485C-9D05-0E9861555A37}">
      <dgm:prSet phldrT="[טקסט]"/>
      <dgm:spPr/>
      <dgm:t>
        <a:bodyPr/>
        <a:lstStyle/>
        <a:p>
          <a:pPr rtl="1"/>
          <a:r>
            <a:rPr lang="he-IL" dirty="0">
              <a:latin typeface="Assistant" pitchFamily="2" charset="-79"/>
              <a:cs typeface="Assistant" pitchFamily="2" charset="-79"/>
            </a:rPr>
            <a:t>צורך וקושי</a:t>
          </a:r>
        </a:p>
      </dgm:t>
    </dgm:pt>
    <dgm:pt modelId="{DFB2BB99-C323-4526-BC9A-CE4CF8720F11}" type="parTrans" cxnId="{10C9AE35-307B-4737-AF6D-5F2BD3C5204A}">
      <dgm:prSet/>
      <dgm:spPr/>
      <dgm:t>
        <a:bodyPr/>
        <a:lstStyle/>
        <a:p>
          <a:pPr rtl="1"/>
          <a:endParaRPr lang="he-IL"/>
        </a:p>
      </dgm:t>
    </dgm:pt>
    <dgm:pt modelId="{F98FCC69-4A15-4BDE-8EEE-92C525054D8C}" type="sibTrans" cxnId="{10C9AE35-307B-4737-AF6D-5F2BD3C5204A}">
      <dgm:prSet/>
      <dgm:spPr/>
      <dgm:t>
        <a:bodyPr/>
        <a:lstStyle/>
        <a:p>
          <a:pPr rtl="1"/>
          <a:endParaRPr lang="he-IL"/>
        </a:p>
      </dgm:t>
    </dgm:pt>
    <dgm:pt modelId="{377E7FAB-DBB5-4891-9B0B-FF6E84378E56}">
      <dgm:prSet phldrT="[טקסט]"/>
      <dgm:spPr/>
      <dgm:t>
        <a:bodyPr/>
        <a:lstStyle/>
        <a:p>
          <a:pPr rtl="1"/>
          <a:r>
            <a:rPr lang="he-IL" dirty="0">
              <a:latin typeface="Assistant" pitchFamily="2" charset="-79"/>
              <a:cs typeface="Assistant" pitchFamily="2" charset="-79"/>
            </a:rPr>
            <a:t>רצון ובחירה</a:t>
          </a:r>
        </a:p>
      </dgm:t>
    </dgm:pt>
    <dgm:pt modelId="{B924F057-3D13-4296-AAC2-69E9A712D06B}" type="parTrans" cxnId="{A283EDE2-13C5-4782-9C34-C5B2B0997711}">
      <dgm:prSet/>
      <dgm:spPr/>
      <dgm:t>
        <a:bodyPr/>
        <a:lstStyle/>
        <a:p>
          <a:pPr rtl="1"/>
          <a:endParaRPr lang="he-IL"/>
        </a:p>
      </dgm:t>
    </dgm:pt>
    <dgm:pt modelId="{880D5BD9-6AAA-4AB4-95A9-16EFC46A7A59}" type="sibTrans" cxnId="{A283EDE2-13C5-4782-9C34-C5B2B0997711}">
      <dgm:prSet/>
      <dgm:spPr/>
      <dgm:t>
        <a:bodyPr/>
        <a:lstStyle/>
        <a:p>
          <a:pPr rtl="1"/>
          <a:endParaRPr lang="he-IL"/>
        </a:p>
      </dgm:t>
    </dgm:pt>
    <dgm:pt modelId="{F901F14F-AFF0-42CE-9D0C-99E42DE6C3E8}">
      <dgm:prSet phldrT="[טקסט]"/>
      <dgm:spPr/>
      <dgm:t>
        <a:bodyPr/>
        <a:lstStyle/>
        <a:p>
          <a:pPr rtl="1"/>
          <a:r>
            <a:rPr lang="he-IL" dirty="0">
              <a:latin typeface="Assistant" pitchFamily="2" charset="-79"/>
              <a:cs typeface="Assistant" pitchFamily="2" charset="-79"/>
            </a:rPr>
            <a:t>מדידת תוצאות</a:t>
          </a:r>
        </a:p>
      </dgm:t>
    </dgm:pt>
    <dgm:pt modelId="{D48AA609-DAE6-4224-A097-D0915C03FBE4}" type="parTrans" cxnId="{EA1651CB-F4B2-42E1-A6FA-3843F9ED7444}">
      <dgm:prSet/>
      <dgm:spPr/>
      <dgm:t>
        <a:bodyPr/>
        <a:lstStyle/>
        <a:p>
          <a:pPr rtl="1"/>
          <a:endParaRPr lang="he-IL"/>
        </a:p>
      </dgm:t>
    </dgm:pt>
    <dgm:pt modelId="{3A081368-0895-4995-8DBA-7D5D420029FE}" type="sibTrans" cxnId="{EA1651CB-F4B2-42E1-A6FA-3843F9ED7444}">
      <dgm:prSet/>
      <dgm:spPr/>
      <dgm:t>
        <a:bodyPr/>
        <a:lstStyle/>
        <a:p>
          <a:pPr rtl="1"/>
          <a:endParaRPr lang="he-IL"/>
        </a:p>
      </dgm:t>
    </dgm:pt>
    <dgm:pt modelId="{DA6693D8-3CF8-48BF-B808-491282225BB8}">
      <dgm:prSet phldrT="[טקסט]"/>
      <dgm:spPr/>
      <dgm:t>
        <a:bodyPr/>
        <a:lstStyle/>
        <a:p>
          <a:pPr rtl="1"/>
          <a:r>
            <a:rPr lang="he-IL" dirty="0">
              <a:latin typeface="Assistant" pitchFamily="2" charset="-79"/>
              <a:cs typeface="Assistant" pitchFamily="2" charset="-79"/>
            </a:rPr>
            <a:t>מה רצו והמליצו החברים</a:t>
          </a:r>
        </a:p>
      </dgm:t>
    </dgm:pt>
    <dgm:pt modelId="{47EC0008-F749-4658-BFBD-54A8CF36AD05}" type="parTrans" cxnId="{918B6EC6-FDEC-4A1D-8429-90AF1327D7D5}">
      <dgm:prSet/>
      <dgm:spPr/>
      <dgm:t>
        <a:bodyPr/>
        <a:lstStyle/>
        <a:p>
          <a:pPr rtl="1"/>
          <a:endParaRPr lang="he-IL"/>
        </a:p>
      </dgm:t>
    </dgm:pt>
    <dgm:pt modelId="{6FCBFF29-E235-406B-8A41-896766F25080}" type="sibTrans" cxnId="{918B6EC6-FDEC-4A1D-8429-90AF1327D7D5}">
      <dgm:prSet/>
      <dgm:spPr/>
      <dgm:t>
        <a:bodyPr/>
        <a:lstStyle/>
        <a:p>
          <a:pPr rtl="1"/>
          <a:endParaRPr lang="he-IL"/>
        </a:p>
      </dgm:t>
    </dgm:pt>
    <dgm:pt modelId="{2582B0B8-F012-4DEF-9CE5-9A6B76A4AC68}">
      <dgm:prSet phldrT="[טקסט]"/>
      <dgm:spPr/>
      <dgm:t>
        <a:bodyPr/>
        <a:lstStyle/>
        <a:p>
          <a:pPr rtl="1"/>
          <a:r>
            <a:rPr lang="he-IL" dirty="0">
              <a:latin typeface="Assistant" pitchFamily="2" charset="-79"/>
              <a:cs typeface="Assistant" pitchFamily="2" charset="-79"/>
            </a:rPr>
            <a:t>המלצת מתאמת השירות</a:t>
          </a:r>
        </a:p>
      </dgm:t>
    </dgm:pt>
    <dgm:pt modelId="{3589CF35-18BE-4868-8FAF-DCFA7C2E70B3}" type="parTrans" cxnId="{80CC89E7-E47C-4F41-BC65-8AE808A93F2F}">
      <dgm:prSet/>
      <dgm:spPr/>
      <dgm:t>
        <a:bodyPr/>
        <a:lstStyle/>
        <a:p>
          <a:pPr rtl="1"/>
          <a:endParaRPr lang="he-IL"/>
        </a:p>
      </dgm:t>
    </dgm:pt>
    <dgm:pt modelId="{A1693A9C-DCA5-49E2-884A-91C8BAE90C80}" type="sibTrans" cxnId="{80CC89E7-E47C-4F41-BC65-8AE808A93F2F}">
      <dgm:prSet/>
      <dgm:spPr/>
      <dgm:t>
        <a:bodyPr/>
        <a:lstStyle/>
        <a:p>
          <a:pPr rtl="1"/>
          <a:endParaRPr lang="he-IL"/>
        </a:p>
      </dgm:t>
    </dgm:pt>
    <dgm:pt modelId="{9208AC68-2DB2-4978-A389-CCEF7869C019}" type="pres">
      <dgm:prSet presAssocID="{F681A827-DC1E-4245-A244-3D5F9DEE2444}" presName="Name0" presStyleCnt="0">
        <dgm:presLayoutVars>
          <dgm:chMax val="1"/>
          <dgm:dir val="rev"/>
          <dgm:animLvl val="ctr"/>
          <dgm:resizeHandles val="exact"/>
        </dgm:presLayoutVars>
      </dgm:prSet>
      <dgm:spPr/>
    </dgm:pt>
    <dgm:pt modelId="{70A9D626-0C2C-4A2C-81E5-DA0202441B46}" type="pres">
      <dgm:prSet presAssocID="{16AE826C-5E46-4C1B-99A5-B8072BF9FF22}" presName="centerShape" presStyleLbl="node0" presStyleIdx="0" presStyleCnt="1" custScaleX="135937" custScaleY="133575" custLinFactNeighborX="43853" custLinFactNeighborY="-31104"/>
      <dgm:spPr/>
    </dgm:pt>
    <dgm:pt modelId="{5F75DE46-7AC7-4A19-9A3A-2B84C8AE6727}" type="pres">
      <dgm:prSet presAssocID="{73A0667A-CB56-411D-BD0F-BFA30F920D6B}" presName="parTrans" presStyleLbl="sibTrans2D1" presStyleIdx="0" presStyleCnt="6" custAng="10800000" custScaleX="185498"/>
      <dgm:spPr/>
    </dgm:pt>
    <dgm:pt modelId="{AE8F6DD2-2DCB-4B8A-8DE0-E7038B09C45E}" type="pres">
      <dgm:prSet presAssocID="{73A0667A-CB56-411D-BD0F-BFA30F920D6B}" presName="connectorText" presStyleLbl="sibTrans2D1" presStyleIdx="0" presStyleCnt="6"/>
      <dgm:spPr/>
    </dgm:pt>
    <dgm:pt modelId="{B5F65EAA-761E-431B-916B-B52DC6E1E43B}" type="pres">
      <dgm:prSet presAssocID="{DC025660-1161-4074-B97A-045431EC9AD0}" presName="node" presStyleLbl="node1" presStyleIdx="0" presStyleCnt="6" custRadScaleRad="109473" custRadScaleInc="-70365">
        <dgm:presLayoutVars>
          <dgm:bulletEnabled val="1"/>
        </dgm:presLayoutVars>
      </dgm:prSet>
      <dgm:spPr/>
    </dgm:pt>
    <dgm:pt modelId="{C6F1091A-97F9-47EA-9923-960E8A780A77}" type="pres">
      <dgm:prSet presAssocID="{DFB2BB99-C323-4526-BC9A-CE4CF8720F11}" presName="parTrans" presStyleLbl="sibTrans2D1" presStyleIdx="1" presStyleCnt="6" custAng="10800000" custScaleX="161927"/>
      <dgm:spPr/>
    </dgm:pt>
    <dgm:pt modelId="{CB979A1E-F895-45C0-B9B5-C938A3CC6E78}" type="pres">
      <dgm:prSet presAssocID="{DFB2BB99-C323-4526-BC9A-CE4CF8720F11}" presName="connectorText" presStyleLbl="sibTrans2D1" presStyleIdx="1" presStyleCnt="6"/>
      <dgm:spPr/>
    </dgm:pt>
    <dgm:pt modelId="{9C5708D8-9B1D-472C-8760-ABE2FC4C6209}" type="pres">
      <dgm:prSet presAssocID="{E312A6B3-7A9B-485C-9D05-0E9861555A37}" presName="node" presStyleLbl="node1" presStyleIdx="1" presStyleCnt="6" custRadScaleRad="70273" custRadScaleInc="8126">
        <dgm:presLayoutVars>
          <dgm:bulletEnabled val="1"/>
        </dgm:presLayoutVars>
      </dgm:prSet>
      <dgm:spPr/>
    </dgm:pt>
    <dgm:pt modelId="{7ECFC297-559D-4220-8ACA-92EDDAF2806F}" type="pres">
      <dgm:prSet presAssocID="{B924F057-3D13-4296-AAC2-69E9A712D06B}" presName="parTrans" presStyleLbl="sibTrans2D1" presStyleIdx="2" presStyleCnt="6" custAng="10800000" custScaleX="163684"/>
      <dgm:spPr/>
    </dgm:pt>
    <dgm:pt modelId="{8B3EC95A-0A56-4149-BB84-F49335633731}" type="pres">
      <dgm:prSet presAssocID="{B924F057-3D13-4296-AAC2-69E9A712D06B}" presName="connectorText" presStyleLbl="sibTrans2D1" presStyleIdx="2" presStyleCnt="6"/>
      <dgm:spPr/>
    </dgm:pt>
    <dgm:pt modelId="{ED8C7B97-B940-4D3E-81B0-375C2F2C13BD}" type="pres">
      <dgm:prSet presAssocID="{377E7FAB-DBB5-4891-9B0B-FF6E84378E56}" presName="node" presStyleLbl="node1" presStyleIdx="2" presStyleCnt="6" custRadScaleRad="69964" custRadScaleInc="21303">
        <dgm:presLayoutVars>
          <dgm:bulletEnabled val="1"/>
        </dgm:presLayoutVars>
      </dgm:prSet>
      <dgm:spPr/>
    </dgm:pt>
    <dgm:pt modelId="{E5467E56-7720-4159-9120-7D2A9A8A913D}" type="pres">
      <dgm:prSet presAssocID="{D48AA609-DAE6-4224-A097-D0915C03FBE4}" presName="parTrans" presStyleLbl="sibTrans2D1" presStyleIdx="3" presStyleCnt="6" custAng="10800000" custScaleX="143668"/>
      <dgm:spPr/>
    </dgm:pt>
    <dgm:pt modelId="{320FA693-67D5-43CD-A383-3AF21D5BE7F7}" type="pres">
      <dgm:prSet presAssocID="{D48AA609-DAE6-4224-A097-D0915C03FBE4}" presName="connectorText" presStyleLbl="sibTrans2D1" presStyleIdx="3" presStyleCnt="6"/>
      <dgm:spPr/>
    </dgm:pt>
    <dgm:pt modelId="{64761C26-1BE9-477F-A4F9-EAE7CA10C9CE}" type="pres">
      <dgm:prSet presAssocID="{F901F14F-AFF0-42CE-9D0C-99E42DE6C3E8}" presName="node" presStyleLbl="node1" presStyleIdx="3" presStyleCnt="6" custRadScaleRad="144144" custRadScaleInc="70745">
        <dgm:presLayoutVars>
          <dgm:bulletEnabled val="1"/>
        </dgm:presLayoutVars>
      </dgm:prSet>
      <dgm:spPr/>
    </dgm:pt>
    <dgm:pt modelId="{3539630D-444B-4D86-86C8-F0A4D2FAF3F4}" type="pres">
      <dgm:prSet presAssocID="{47EC0008-F749-4658-BFBD-54A8CF36AD05}" presName="parTrans" presStyleLbl="sibTrans2D1" presStyleIdx="4" presStyleCnt="6" custAng="11682994" custScaleX="165421" custScaleY="98953"/>
      <dgm:spPr/>
    </dgm:pt>
    <dgm:pt modelId="{A0036107-19A2-4D60-AB8F-0AC204F3914D}" type="pres">
      <dgm:prSet presAssocID="{47EC0008-F749-4658-BFBD-54A8CF36AD05}" presName="connectorText" presStyleLbl="sibTrans2D1" presStyleIdx="4" presStyleCnt="6"/>
      <dgm:spPr/>
    </dgm:pt>
    <dgm:pt modelId="{55A8B158-69A5-4998-A26B-7AD5D1FF4AE6}" type="pres">
      <dgm:prSet presAssocID="{DA6693D8-3CF8-48BF-B808-491282225BB8}" presName="node" presStyleLbl="node1" presStyleIdx="4" presStyleCnt="6" custRadScaleRad="141860" custRadScaleInc="164169">
        <dgm:presLayoutVars>
          <dgm:bulletEnabled val="1"/>
        </dgm:presLayoutVars>
      </dgm:prSet>
      <dgm:spPr/>
    </dgm:pt>
    <dgm:pt modelId="{915495F3-F5C6-42CB-BA3F-658EA2CA9D6E}" type="pres">
      <dgm:prSet presAssocID="{3589CF35-18BE-4868-8FAF-DCFA7C2E70B3}" presName="parTrans" presStyleLbl="sibTrans2D1" presStyleIdx="5" presStyleCnt="6" custAng="11073225" custScaleX="164550" custScaleY="104103" custLinFactNeighborX="11281" custLinFactNeighborY="6776"/>
      <dgm:spPr/>
    </dgm:pt>
    <dgm:pt modelId="{821884BE-A8E8-4995-A3BF-6357EDFCFD3F}" type="pres">
      <dgm:prSet presAssocID="{3589CF35-18BE-4868-8FAF-DCFA7C2E70B3}" presName="connectorText" presStyleLbl="sibTrans2D1" presStyleIdx="5" presStyleCnt="6"/>
      <dgm:spPr/>
    </dgm:pt>
    <dgm:pt modelId="{AE2D2C29-9B14-445B-8949-773A012D5167}" type="pres">
      <dgm:prSet presAssocID="{2582B0B8-F012-4DEF-9CE5-9A6B76A4AC68}" presName="node" presStyleLbl="node1" presStyleIdx="5" presStyleCnt="6" custRadScaleRad="141429" custRadScaleInc="247772">
        <dgm:presLayoutVars>
          <dgm:bulletEnabled val="1"/>
        </dgm:presLayoutVars>
      </dgm:prSet>
      <dgm:spPr/>
    </dgm:pt>
  </dgm:ptLst>
  <dgm:cxnLst>
    <dgm:cxn modelId="{F42E131F-0802-4279-9DC1-99D7358CBC7C}" type="presOf" srcId="{73A0667A-CB56-411D-BD0F-BFA30F920D6B}" destId="{AE8F6DD2-2DCB-4B8A-8DE0-E7038B09C45E}" srcOrd="1" destOrd="0" presId="urn:microsoft.com/office/officeart/2005/8/layout/radial5"/>
    <dgm:cxn modelId="{97C6D029-469B-4DB8-ACBB-7654C813AD59}" type="presOf" srcId="{47EC0008-F749-4658-BFBD-54A8CF36AD05}" destId="{3539630D-444B-4D86-86C8-F0A4D2FAF3F4}" srcOrd="0" destOrd="0" presId="urn:microsoft.com/office/officeart/2005/8/layout/radial5"/>
    <dgm:cxn modelId="{10C9AE35-307B-4737-AF6D-5F2BD3C5204A}" srcId="{16AE826C-5E46-4C1B-99A5-B8072BF9FF22}" destId="{E312A6B3-7A9B-485C-9D05-0E9861555A37}" srcOrd="1" destOrd="0" parTransId="{DFB2BB99-C323-4526-BC9A-CE4CF8720F11}" sibTransId="{F98FCC69-4A15-4BDE-8EEE-92C525054D8C}"/>
    <dgm:cxn modelId="{B1A4B444-1BBA-4FCA-8B26-21BCEA63F688}" type="presOf" srcId="{DFB2BB99-C323-4526-BC9A-CE4CF8720F11}" destId="{C6F1091A-97F9-47EA-9923-960E8A780A77}" srcOrd="0" destOrd="0" presId="urn:microsoft.com/office/officeart/2005/8/layout/radial5"/>
    <dgm:cxn modelId="{21289F4D-F2B9-4518-B4B1-982865D982A3}" type="presOf" srcId="{B924F057-3D13-4296-AAC2-69E9A712D06B}" destId="{8B3EC95A-0A56-4149-BB84-F49335633731}" srcOrd="1" destOrd="0" presId="urn:microsoft.com/office/officeart/2005/8/layout/radial5"/>
    <dgm:cxn modelId="{714FCE50-FA32-4938-A6ED-5F3C2BA6A802}" type="presOf" srcId="{F681A827-DC1E-4245-A244-3D5F9DEE2444}" destId="{9208AC68-2DB2-4978-A389-CCEF7869C019}" srcOrd="0" destOrd="0" presId="urn:microsoft.com/office/officeart/2005/8/layout/radial5"/>
    <dgm:cxn modelId="{CA94BC7F-3D0D-49A1-85FA-290699F0EF7A}" type="presOf" srcId="{47EC0008-F749-4658-BFBD-54A8CF36AD05}" destId="{A0036107-19A2-4D60-AB8F-0AC204F3914D}" srcOrd="1" destOrd="0" presId="urn:microsoft.com/office/officeart/2005/8/layout/radial5"/>
    <dgm:cxn modelId="{BC75BE82-934A-45C5-8E45-BBE08C97FE6C}" type="presOf" srcId="{E312A6B3-7A9B-485C-9D05-0E9861555A37}" destId="{9C5708D8-9B1D-472C-8760-ABE2FC4C6209}" srcOrd="0" destOrd="0" presId="urn:microsoft.com/office/officeart/2005/8/layout/radial5"/>
    <dgm:cxn modelId="{9C4B7685-DA1A-46CD-8D83-BFD61BC0D671}" type="presOf" srcId="{D48AA609-DAE6-4224-A097-D0915C03FBE4}" destId="{320FA693-67D5-43CD-A383-3AF21D5BE7F7}" srcOrd="1" destOrd="0" presId="urn:microsoft.com/office/officeart/2005/8/layout/radial5"/>
    <dgm:cxn modelId="{55C51992-0BFC-4391-8FDD-552B5F014DDD}" type="presOf" srcId="{D48AA609-DAE6-4224-A097-D0915C03FBE4}" destId="{E5467E56-7720-4159-9120-7D2A9A8A913D}" srcOrd="0" destOrd="0" presId="urn:microsoft.com/office/officeart/2005/8/layout/radial5"/>
    <dgm:cxn modelId="{F95042A8-64F9-4E06-98BC-153A8F7DDB9B}" type="presOf" srcId="{3589CF35-18BE-4868-8FAF-DCFA7C2E70B3}" destId="{821884BE-A8E8-4995-A3BF-6357EDFCFD3F}" srcOrd="1" destOrd="0" presId="urn:microsoft.com/office/officeart/2005/8/layout/radial5"/>
    <dgm:cxn modelId="{903FF1A9-996D-437A-96D4-B78F5B8CD3B4}" type="presOf" srcId="{73A0667A-CB56-411D-BD0F-BFA30F920D6B}" destId="{5F75DE46-7AC7-4A19-9A3A-2B84C8AE6727}" srcOrd="0" destOrd="0" presId="urn:microsoft.com/office/officeart/2005/8/layout/radial5"/>
    <dgm:cxn modelId="{31211AAC-F980-4F09-8858-15FDC21C1D97}" type="presOf" srcId="{16AE826C-5E46-4C1B-99A5-B8072BF9FF22}" destId="{70A9D626-0C2C-4A2C-81E5-DA0202441B46}" srcOrd="0" destOrd="0" presId="urn:microsoft.com/office/officeart/2005/8/layout/radial5"/>
    <dgm:cxn modelId="{2C93B2B6-A1B3-4097-8D41-C91C4D71F98F}" srcId="{F681A827-DC1E-4245-A244-3D5F9DEE2444}" destId="{16AE826C-5E46-4C1B-99A5-B8072BF9FF22}" srcOrd="0" destOrd="0" parTransId="{CA81B478-341A-4D08-8F17-3EE31D5B28B2}" sibTransId="{FE53712C-9E08-486D-A3A8-BCB5D6559530}"/>
    <dgm:cxn modelId="{294724B9-10DC-4036-B1BB-05507C0179ED}" type="presOf" srcId="{DA6693D8-3CF8-48BF-B808-491282225BB8}" destId="{55A8B158-69A5-4998-A26B-7AD5D1FF4AE6}" srcOrd="0" destOrd="0" presId="urn:microsoft.com/office/officeart/2005/8/layout/radial5"/>
    <dgm:cxn modelId="{549DA8B9-6DFB-4E1E-A906-7B8E44E1EC52}" type="presOf" srcId="{F901F14F-AFF0-42CE-9D0C-99E42DE6C3E8}" destId="{64761C26-1BE9-477F-A4F9-EAE7CA10C9CE}" srcOrd="0" destOrd="0" presId="urn:microsoft.com/office/officeart/2005/8/layout/radial5"/>
    <dgm:cxn modelId="{1D4C48C2-2AA6-41BE-8A01-3F0015468C63}" type="presOf" srcId="{B924F057-3D13-4296-AAC2-69E9A712D06B}" destId="{7ECFC297-559D-4220-8ACA-92EDDAF2806F}" srcOrd="0" destOrd="0" presId="urn:microsoft.com/office/officeart/2005/8/layout/radial5"/>
    <dgm:cxn modelId="{918B6EC6-FDEC-4A1D-8429-90AF1327D7D5}" srcId="{16AE826C-5E46-4C1B-99A5-B8072BF9FF22}" destId="{DA6693D8-3CF8-48BF-B808-491282225BB8}" srcOrd="4" destOrd="0" parTransId="{47EC0008-F749-4658-BFBD-54A8CF36AD05}" sibTransId="{6FCBFF29-E235-406B-8A41-896766F25080}"/>
    <dgm:cxn modelId="{F5CBFBC9-CD66-4EEB-BB37-C6F6DED3588D}" type="presOf" srcId="{DC025660-1161-4074-B97A-045431EC9AD0}" destId="{B5F65EAA-761E-431B-916B-B52DC6E1E43B}" srcOrd="0" destOrd="0" presId="urn:microsoft.com/office/officeart/2005/8/layout/radial5"/>
    <dgm:cxn modelId="{326010CB-4EF7-49A9-8551-1BC430373687}" type="presOf" srcId="{DFB2BB99-C323-4526-BC9A-CE4CF8720F11}" destId="{CB979A1E-F895-45C0-B9B5-C938A3CC6E78}" srcOrd="1" destOrd="0" presId="urn:microsoft.com/office/officeart/2005/8/layout/radial5"/>
    <dgm:cxn modelId="{EA1651CB-F4B2-42E1-A6FA-3843F9ED7444}" srcId="{16AE826C-5E46-4C1B-99A5-B8072BF9FF22}" destId="{F901F14F-AFF0-42CE-9D0C-99E42DE6C3E8}" srcOrd="3" destOrd="0" parTransId="{D48AA609-DAE6-4224-A097-D0915C03FBE4}" sibTransId="{3A081368-0895-4995-8DBA-7D5D420029FE}"/>
    <dgm:cxn modelId="{A283EDE2-13C5-4782-9C34-C5B2B0997711}" srcId="{16AE826C-5E46-4C1B-99A5-B8072BF9FF22}" destId="{377E7FAB-DBB5-4891-9B0B-FF6E84378E56}" srcOrd="2" destOrd="0" parTransId="{B924F057-3D13-4296-AAC2-69E9A712D06B}" sibTransId="{880D5BD9-6AAA-4AB4-95A9-16EFC46A7A59}"/>
    <dgm:cxn modelId="{E2CEF5E3-5465-4CD3-BB35-3794369AE90B}" type="presOf" srcId="{377E7FAB-DBB5-4891-9B0B-FF6E84378E56}" destId="{ED8C7B97-B940-4D3E-81B0-375C2F2C13BD}" srcOrd="0" destOrd="0" presId="urn:microsoft.com/office/officeart/2005/8/layout/radial5"/>
    <dgm:cxn modelId="{80CC89E7-E47C-4F41-BC65-8AE808A93F2F}" srcId="{16AE826C-5E46-4C1B-99A5-B8072BF9FF22}" destId="{2582B0B8-F012-4DEF-9CE5-9A6B76A4AC68}" srcOrd="5" destOrd="0" parTransId="{3589CF35-18BE-4868-8FAF-DCFA7C2E70B3}" sibTransId="{A1693A9C-DCA5-49E2-884A-91C8BAE90C80}"/>
    <dgm:cxn modelId="{B574F7E9-4FD2-46F2-8CCB-75E6ED8D122E}" srcId="{16AE826C-5E46-4C1B-99A5-B8072BF9FF22}" destId="{DC025660-1161-4074-B97A-045431EC9AD0}" srcOrd="0" destOrd="0" parTransId="{73A0667A-CB56-411D-BD0F-BFA30F920D6B}" sibTransId="{85532C7D-2E42-41AD-95C8-3E55DBA27900}"/>
    <dgm:cxn modelId="{C23F70F0-F056-4BC5-9C27-5F25ECF22CEA}" type="presOf" srcId="{3589CF35-18BE-4868-8FAF-DCFA7C2E70B3}" destId="{915495F3-F5C6-42CB-BA3F-658EA2CA9D6E}" srcOrd="0" destOrd="0" presId="urn:microsoft.com/office/officeart/2005/8/layout/radial5"/>
    <dgm:cxn modelId="{B360C3FF-C81E-4121-8D3B-F316DAEB7566}" type="presOf" srcId="{2582B0B8-F012-4DEF-9CE5-9A6B76A4AC68}" destId="{AE2D2C29-9B14-445B-8949-773A012D5167}" srcOrd="0" destOrd="0" presId="urn:microsoft.com/office/officeart/2005/8/layout/radial5"/>
    <dgm:cxn modelId="{41BE4945-C46A-4D6C-8F3F-94268819360A}" type="presParOf" srcId="{9208AC68-2DB2-4978-A389-CCEF7869C019}" destId="{70A9D626-0C2C-4A2C-81E5-DA0202441B46}" srcOrd="0" destOrd="0" presId="urn:microsoft.com/office/officeart/2005/8/layout/radial5"/>
    <dgm:cxn modelId="{7C0EBBAD-CF62-4A1E-A10A-355F36A1911F}" type="presParOf" srcId="{9208AC68-2DB2-4978-A389-CCEF7869C019}" destId="{5F75DE46-7AC7-4A19-9A3A-2B84C8AE6727}" srcOrd="1" destOrd="0" presId="urn:microsoft.com/office/officeart/2005/8/layout/radial5"/>
    <dgm:cxn modelId="{48318282-E6CB-42C6-BF37-3930BB3E788F}" type="presParOf" srcId="{5F75DE46-7AC7-4A19-9A3A-2B84C8AE6727}" destId="{AE8F6DD2-2DCB-4B8A-8DE0-E7038B09C45E}" srcOrd="0" destOrd="0" presId="urn:microsoft.com/office/officeart/2005/8/layout/radial5"/>
    <dgm:cxn modelId="{79B6D5AE-D5EA-4E74-BAFC-C35DEBC2D520}" type="presParOf" srcId="{9208AC68-2DB2-4978-A389-CCEF7869C019}" destId="{B5F65EAA-761E-431B-916B-B52DC6E1E43B}" srcOrd="2" destOrd="0" presId="urn:microsoft.com/office/officeart/2005/8/layout/radial5"/>
    <dgm:cxn modelId="{814448DC-95F4-49D0-B620-AA9DF364D07C}" type="presParOf" srcId="{9208AC68-2DB2-4978-A389-CCEF7869C019}" destId="{C6F1091A-97F9-47EA-9923-960E8A780A77}" srcOrd="3" destOrd="0" presId="urn:microsoft.com/office/officeart/2005/8/layout/radial5"/>
    <dgm:cxn modelId="{D7A15F68-1FB9-46E9-B6E7-5993E437D376}" type="presParOf" srcId="{C6F1091A-97F9-47EA-9923-960E8A780A77}" destId="{CB979A1E-F895-45C0-B9B5-C938A3CC6E78}" srcOrd="0" destOrd="0" presId="urn:microsoft.com/office/officeart/2005/8/layout/radial5"/>
    <dgm:cxn modelId="{74C298A5-EEA4-4F70-8E6F-3C0BFC7AFAD8}" type="presParOf" srcId="{9208AC68-2DB2-4978-A389-CCEF7869C019}" destId="{9C5708D8-9B1D-472C-8760-ABE2FC4C6209}" srcOrd="4" destOrd="0" presId="urn:microsoft.com/office/officeart/2005/8/layout/radial5"/>
    <dgm:cxn modelId="{BF5570BC-A6D5-4342-A24F-E7BD43FB40C5}" type="presParOf" srcId="{9208AC68-2DB2-4978-A389-CCEF7869C019}" destId="{7ECFC297-559D-4220-8ACA-92EDDAF2806F}" srcOrd="5" destOrd="0" presId="urn:microsoft.com/office/officeart/2005/8/layout/radial5"/>
    <dgm:cxn modelId="{46FBFD1C-7AB7-4F51-A6F9-12FA4FF3B738}" type="presParOf" srcId="{7ECFC297-559D-4220-8ACA-92EDDAF2806F}" destId="{8B3EC95A-0A56-4149-BB84-F49335633731}" srcOrd="0" destOrd="0" presId="urn:microsoft.com/office/officeart/2005/8/layout/radial5"/>
    <dgm:cxn modelId="{A014C568-C05F-42EC-9A22-CFE2224A4CE8}" type="presParOf" srcId="{9208AC68-2DB2-4978-A389-CCEF7869C019}" destId="{ED8C7B97-B940-4D3E-81B0-375C2F2C13BD}" srcOrd="6" destOrd="0" presId="urn:microsoft.com/office/officeart/2005/8/layout/radial5"/>
    <dgm:cxn modelId="{5D458B2C-06EA-45D9-9734-D104CFD8C73B}" type="presParOf" srcId="{9208AC68-2DB2-4978-A389-CCEF7869C019}" destId="{E5467E56-7720-4159-9120-7D2A9A8A913D}" srcOrd="7" destOrd="0" presId="urn:microsoft.com/office/officeart/2005/8/layout/radial5"/>
    <dgm:cxn modelId="{7CD6CA92-4BA5-4549-8BB9-ED996C9B98D1}" type="presParOf" srcId="{E5467E56-7720-4159-9120-7D2A9A8A913D}" destId="{320FA693-67D5-43CD-A383-3AF21D5BE7F7}" srcOrd="0" destOrd="0" presId="urn:microsoft.com/office/officeart/2005/8/layout/radial5"/>
    <dgm:cxn modelId="{3BA99685-C5B5-48DA-8EF8-FB69FDA636AC}" type="presParOf" srcId="{9208AC68-2DB2-4978-A389-CCEF7869C019}" destId="{64761C26-1BE9-477F-A4F9-EAE7CA10C9CE}" srcOrd="8" destOrd="0" presId="urn:microsoft.com/office/officeart/2005/8/layout/radial5"/>
    <dgm:cxn modelId="{637B5E41-9393-4AE4-8EF1-40359B5CEF56}" type="presParOf" srcId="{9208AC68-2DB2-4978-A389-CCEF7869C019}" destId="{3539630D-444B-4D86-86C8-F0A4D2FAF3F4}" srcOrd="9" destOrd="0" presId="urn:microsoft.com/office/officeart/2005/8/layout/radial5"/>
    <dgm:cxn modelId="{54E2FE4F-BB7B-4920-89A5-4BCFC9F52E34}" type="presParOf" srcId="{3539630D-444B-4D86-86C8-F0A4D2FAF3F4}" destId="{A0036107-19A2-4D60-AB8F-0AC204F3914D}" srcOrd="0" destOrd="0" presId="urn:microsoft.com/office/officeart/2005/8/layout/radial5"/>
    <dgm:cxn modelId="{D7D2850E-76C9-4BB6-AD42-F53E08F2145D}" type="presParOf" srcId="{9208AC68-2DB2-4978-A389-CCEF7869C019}" destId="{55A8B158-69A5-4998-A26B-7AD5D1FF4AE6}" srcOrd="10" destOrd="0" presId="urn:microsoft.com/office/officeart/2005/8/layout/radial5"/>
    <dgm:cxn modelId="{DAC698BB-5200-437C-B683-C1BC9E00EF31}" type="presParOf" srcId="{9208AC68-2DB2-4978-A389-CCEF7869C019}" destId="{915495F3-F5C6-42CB-BA3F-658EA2CA9D6E}" srcOrd="11" destOrd="0" presId="urn:microsoft.com/office/officeart/2005/8/layout/radial5"/>
    <dgm:cxn modelId="{18EBEAE6-9391-4243-865B-27EBB56AF028}" type="presParOf" srcId="{915495F3-F5C6-42CB-BA3F-658EA2CA9D6E}" destId="{821884BE-A8E8-4995-A3BF-6357EDFCFD3F}" srcOrd="0" destOrd="0" presId="urn:microsoft.com/office/officeart/2005/8/layout/radial5"/>
    <dgm:cxn modelId="{0B4ACF2A-EA73-4BC3-8BDD-4B0B9CCCEC81}" type="presParOf" srcId="{9208AC68-2DB2-4978-A389-CCEF7869C019}" destId="{AE2D2C29-9B14-445B-8949-773A012D5167}" srcOrd="12" destOrd="0" presId="urn:microsoft.com/office/officeart/2005/8/layout/radial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9D626-0C2C-4A2C-81E5-DA0202441B46}">
      <dsp:nvSpPr>
        <dsp:cNvPr id="0" name=""/>
        <dsp:cNvSpPr/>
      </dsp:nvSpPr>
      <dsp:spPr>
        <a:xfrm>
          <a:off x="2707027" y="514295"/>
          <a:ext cx="1237734" cy="121622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סל שירות מותאם </a:t>
          </a:r>
          <a:r>
            <a:rPr lang="en-US" sz="1600" kern="1200" dirty="0">
              <a:latin typeface="Assistant" pitchFamily="2" charset="-79"/>
              <a:cs typeface="Assistant" pitchFamily="2" charset="-79"/>
            </a:rPr>
            <a:t>AI</a:t>
          </a:r>
          <a:endParaRPr lang="he-IL" sz="1600" kern="1200" dirty="0">
            <a:latin typeface="Assistant" pitchFamily="2" charset="-79"/>
            <a:cs typeface="Assistant" pitchFamily="2" charset="-79"/>
          </a:endParaRPr>
        </a:p>
      </dsp:txBody>
      <dsp:txXfrm>
        <a:off x="2888289" y="692407"/>
        <a:ext cx="875210" cy="860003"/>
      </dsp:txXfrm>
    </dsp:sp>
    <dsp:sp modelId="{5F75DE46-7AC7-4A19-9A3A-2B84C8AE6727}">
      <dsp:nvSpPr>
        <dsp:cNvPr id="0" name=""/>
        <dsp:cNvSpPr/>
      </dsp:nvSpPr>
      <dsp:spPr>
        <a:xfrm rot="1002841">
          <a:off x="2014214" y="684883"/>
          <a:ext cx="740204" cy="309576"/>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016176" y="733443"/>
        <a:ext cx="647331" cy="185746"/>
      </dsp:txXfrm>
    </dsp:sp>
    <dsp:sp modelId="{B5F65EAA-761E-431B-916B-B52DC6E1E43B}">
      <dsp:nvSpPr>
        <dsp:cNvPr id="0" name=""/>
        <dsp:cNvSpPr/>
      </dsp:nvSpPr>
      <dsp:spPr>
        <a:xfrm>
          <a:off x="905809" y="0"/>
          <a:ext cx="1131037" cy="113103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אבחנה וזכאות</a:t>
          </a:r>
        </a:p>
      </dsp:txBody>
      <dsp:txXfrm>
        <a:off x="1071446" y="165637"/>
        <a:ext cx="799763" cy="799763"/>
      </dsp:txXfrm>
    </dsp:sp>
    <dsp:sp modelId="{C6F1091A-97F9-47EA-9923-960E8A780A77}">
      <dsp:nvSpPr>
        <dsp:cNvPr id="0" name=""/>
        <dsp:cNvSpPr/>
      </dsp:nvSpPr>
      <dsp:spPr>
        <a:xfrm rot="21031981">
          <a:off x="1817217" y="1148346"/>
          <a:ext cx="849731" cy="309576"/>
        </a:xfrm>
        <a:prstGeom prst="rightArrow">
          <a:avLst>
            <a:gd name="adj1" fmla="val 60000"/>
            <a:gd name="adj2" fmla="val 50000"/>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817849" y="1217899"/>
        <a:ext cx="756858" cy="185746"/>
      </dsp:txXfrm>
    </dsp:sp>
    <dsp:sp modelId="{9C5708D8-9B1D-472C-8760-ABE2FC4C6209}">
      <dsp:nvSpPr>
        <dsp:cNvPr id="0" name=""/>
        <dsp:cNvSpPr/>
      </dsp:nvSpPr>
      <dsp:spPr>
        <a:xfrm>
          <a:off x="615782" y="914502"/>
          <a:ext cx="1131037" cy="1131037"/>
        </a:xfrm>
        <a:prstGeom prst="ellipse">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צורך וקושי</a:t>
          </a:r>
        </a:p>
      </dsp:txBody>
      <dsp:txXfrm>
        <a:off x="781419" y="1080139"/>
        <a:ext cx="799763" cy="799763"/>
      </dsp:txXfrm>
    </dsp:sp>
    <dsp:sp modelId="{7ECFC297-559D-4220-8ACA-92EDDAF2806F}">
      <dsp:nvSpPr>
        <dsp:cNvPr id="0" name=""/>
        <dsp:cNvSpPr/>
      </dsp:nvSpPr>
      <dsp:spPr>
        <a:xfrm rot="19756533">
          <a:off x="1609910" y="1627936"/>
          <a:ext cx="1209930" cy="309576"/>
        </a:xfrm>
        <a:prstGeom prst="rightArrow">
          <a:avLst>
            <a:gd name="adj1" fmla="val 60000"/>
            <a:gd name="adj2" fmla="val 50000"/>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616428" y="1713576"/>
        <a:ext cx="1117057" cy="185746"/>
      </dsp:txXfrm>
    </dsp:sp>
    <dsp:sp modelId="{ED8C7B97-B940-4D3E-81B0-375C2F2C13BD}">
      <dsp:nvSpPr>
        <dsp:cNvPr id="0" name=""/>
        <dsp:cNvSpPr/>
      </dsp:nvSpPr>
      <dsp:spPr>
        <a:xfrm>
          <a:off x="545771" y="1873105"/>
          <a:ext cx="1131037" cy="1131037"/>
        </a:xfrm>
        <a:prstGeom prst="ellipse">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רצון ובחירה</a:t>
          </a:r>
        </a:p>
      </dsp:txBody>
      <dsp:txXfrm>
        <a:off x="711408" y="2038742"/>
        <a:ext cx="799763" cy="799763"/>
      </dsp:txXfrm>
    </dsp:sp>
    <dsp:sp modelId="{E5467E56-7720-4159-9120-7D2A9A8A913D}">
      <dsp:nvSpPr>
        <dsp:cNvPr id="0" name=""/>
        <dsp:cNvSpPr/>
      </dsp:nvSpPr>
      <dsp:spPr>
        <a:xfrm rot="18642441">
          <a:off x="1566634" y="2149204"/>
          <a:ext cx="1485348" cy="309576"/>
        </a:xfrm>
        <a:prstGeom prst="rightArrow">
          <a:avLst>
            <a:gd name="adj1" fmla="val 60000"/>
            <a:gd name="adj2" fmla="val 50000"/>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582785" y="2246320"/>
        <a:ext cx="1392475" cy="185746"/>
      </dsp:txXfrm>
    </dsp:sp>
    <dsp:sp modelId="{64761C26-1BE9-477F-A4F9-EAE7CA10C9CE}">
      <dsp:nvSpPr>
        <dsp:cNvPr id="0" name=""/>
        <dsp:cNvSpPr/>
      </dsp:nvSpPr>
      <dsp:spPr>
        <a:xfrm>
          <a:off x="719755" y="2928714"/>
          <a:ext cx="1131037" cy="1131037"/>
        </a:xfrm>
        <a:prstGeom prst="ellipse">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מדידת תוצאות</a:t>
          </a:r>
        </a:p>
      </dsp:txBody>
      <dsp:txXfrm>
        <a:off x="885392" y="3094351"/>
        <a:ext cx="799763" cy="799763"/>
      </dsp:txXfrm>
    </dsp:sp>
    <dsp:sp modelId="{3539630D-444B-4D86-86C8-F0A4D2FAF3F4}">
      <dsp:nvSpPr>
        <dsp:cNvPr id="0" name=""/>
        <dsp:cNvSpPr/>
      </dsp:nvSpPr>
      <dsp:spPr>
        <a:xfrm rot="18321462">
          <a:off x="2282622" y="2156610"/>
          <a:ext cx="1191990" cy="306335"/>
        </a:xfrm>
        <a:prstGeom prst="rightArrow">
          <a:avLst>
            <a:gd name="adj1" fmla="val 60000"/>
            <a:gd name="adj2" fmla="val 50000"/>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301982" y="2255352"/>
        <a:ext cx="1100090" cy="183801"/>
      </dsp:txXfrm>
    </dsp:sp>
    <dsp:sp modelId="{55A8B158-69A5-4998-A26B-7AD5D1FF4AE6}">
      <dsp:nvSpPr>
        <dsp:cNvPr id="0" name=""/>
        <dsp:cNvSpPr/>
      </dsp:nvSpPr>
      <dsp:spPr>
        <a:xfrm>
          <a:off x="1866921" y="2928714"/>
          <a:ext cx="1131037" cy="1131037"/>
        </a:xfrm>
        <a:prstGeom prst="ellipse">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מה רצו והמליצו החברים</a:t>
          </a:r>
        </a:p>
      </dsp:txBody>
      <dsp:txXfrm>
        <a:off x="2032558" y="3094351"/>
        <a:ext cx="799763" cy="799763"/>
      </dsp:txXfrm>
    </dsp:sp>
    <dsp:sp modelId="{915495F3-F5C6-42CB-BA3F-658EA2CA9D6E}">
      <dsp:nvSpPr>
        <dsp:cNvPr id="0" name=""/>
        <dsp:cNvSpPr/>
      </dsp:nvSpPr>
      <dsp:spPr>
        <a:xfrm rot="16186575">
          <a:off x="2978981" y="2160408"/>
          <a:ext cx="1032300" cy="322278"/>
        </a:xfrm>
        <a:prstGeom prst="rightArrow">
          <a:avLst>
            <a:gd name="adj1" fmla="val 60000"/>
            <a:gd name="adj2" fmla="val 50000"/>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a:off x="3027511" y="2273205"/>
        <a:ext cx="935617" cy="193366"/>
      </dsp:txXfrm>
    </dsp:sp>
    <dsp:sp modelId="{AE2D2C29-9B14-445B-8949-773A012D5167}">
      <dsp:nvSpPr>
        <dsp:cNvPr id="0" name=""/>
        <dsp:cNvSpPr/>
      </dsp:nvSpPr>
      <dsp:spPr>
        <a:xfrm>
          <a:off x="2956713" y="2906080"/>
          <a:ext cx="1131037" cy="1131037"/>
        </a:xfrm>
        <a:prstGeom prst="ellipse">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המלצת מתאמת השירות</a:t>
          </a:r>
        </a:p>
      </dsp:txBody>
      <dsp:txXfrm>
        <a:off x="3122350" y="3071717"/>
        <a:ext cx="799763" cy="79976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6.png"/></Relationships>
</file>

<file path=ppt/drawings/drawing1.xml><?xml version="1.0" encoding="utf-8"?>
<c:userShapes xmlns:c="http://schemas.openxmlformats.org/drawingml/2006/chart">
  <cdr:relSizeAnchor xmlns:cdr="http://schemas.openxmlformats.org/drawingml/2006/chartDrawing">
    <cdr:from>
      <cdr:x>0.31799</cdr:x>
      <cdr:y>0</cdr:y>
    </cdr:from>
    <cdr:to>
      <cdr:x>0.63723</cdr:x>
      <cdr:y>0.12712</cdr:y>
    </cdr:to>
    <cdr:pic>
      <cdr:nvPicPr>
        <cdr:cNvPr id="2" name="chart">
          <a:extLst xmlns:a="http://schemas.openxmlformats.org/drawingml/2006/main">
            <a:ext uri="{FF2B5EF4-FFF2-40B4-BE49-F238E27FC236}">
              <a16:creationId xmlns:a16="http://schemas.microsoft.com/office/drawing/2014/main" id="{A4DBDC49-BA03-79C4-09B7-93FAD678043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507985" y="0"/>
          <a:ext cx="2517870" cy="68277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כ'/כסלו/תשפ"ו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96DD67B-BCCD-4CCF-8847-28FEBF3D9E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39321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59183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4073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9877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1428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802D-481F-E10B-53E5-3A37E908FD9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8F270B1-72F6-93A0-11ED-78DD2C1DBD9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89101B3-FEAB-2FA8-E768-EB12E58F8B71}"/>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1DA117CF-2347-B059-9DDC-901F860788AF}"/>
              </a:ext>
            </a:extLst>
          </p:cNvPr>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2794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81848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6A13-D5E5-CBA7-7503-1EA288561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46C61-7195-58E2-967C-C4FA06B8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0437-D72C-8DFC-1212-21E5E16BCB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BA4D01-BFC7-F148-BE4E-64BC0B696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429411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23</a:t>
            </a:fld>
            <a:endParaRPr lang="he-IL"/>
          </a:p>
        </p:txBody>
      </p:sp>
    </p:spTree>
    <p:extLst>
      <p:ext uri="{BB962C8B-B14F-4D97-AF65-F5344CB8AC3E}">
        <p14:creationId xmlns:p14="http://schemas.microsoft.com/office/powerpoint/2010/main" val="3985732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3812-0BB5-8F29-B79C-0F261D31F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CC086-E8F3-965A-8156-E7D51366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BBA03-16B5-E8EF-33C7-AD898746438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8794295A-4EDE-4846-B456-0C5028055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82243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27</a:t>
            </a:fld>
            <a:endParaRPr lang="he-IL"/>
          </a:p>
        </p:txBody>
      </p:sp>
    </p:spTree>
    <p:extLst>
      <p:ext uri="{BB962C8B-B14F-4D97-AF65-F5344CB8AC3E}">
        <p14:creationId xmlns:p14="http://schemas.microsoft.com/office/powerpoint/2010/main" val="1701131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5D40B-C157-474C-2A11-EEF3AE91CB3B}"/>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6280368B-C85C-A2D1-2032-0F741EEA2624}"/>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47D686-3C77-E351-C544-47A650C8B7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03173B5A-8C48-3AF1-8010-2E41F4060439}"/>
              </a:ext>
            </a:extLst>
          </p:cNvPr>
          <p:cNvSpPr>
            <a:spLocks noGrp="1"/>
          </p:cNvSpPr>
          <p:nvPr>
            <p:ph type="sldNum" sz="quarter" idx="5"/>
          </p:nvPr>
        </p:nvSpPr>
        <p:spPr/>
        <p:txBody>
          <a:bodyPr/>
          <a:lstStyle/>
          <a:p>
            <a:fld id="{D96DD67B-BCCD-4CCF-8847-28FEBF3D9E76}" type="slidenum">
              <a:rPr lang="he-IL" smtClean="0"/>
              <a:t>30</a:t>
            </a:fld>
            <a:endParaRPr lang="he-IL"/>
          </a:p>
        </p:txBody>
      </p:sp>
    </p:spTree>
    <p:extLst>
      <p:ext uri="{BB962C8B-B14F-4D97-AF65-F5344CB8AC3E}">
        <p14:creationId xmlns:p14="http://schemas.microsoft.com/office/powerpoint/2010/main" val="1999223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120958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עקרון להסתכל על אתגרים הזקנה מול מגמות הטכנולוגיה ולחבר כמענה מותאם לצרכים</a:t>
            </a:r>
          </a:p>
        </p:txBody>
      </p:sp>
      <p:sp>
        <p:nvSpPr>
          <p:cNvPr id="4" name="Slide Number Placeholder 3"/>
          <p:cNvSpPr>
            <a:spLocks noGrp="1"/>
          </p:cNvSpPr>
          <p:nvPr>
            <p:ph type="sldNum" sz="quarter" idx="5"/>
          </p:nvPr>
        </p:nvSpPr>
        <p:spPr/>
        <p:txBody>
          <a:bodyPr/>
          <a:lstStyle/>
          <a:p>
            <a:fld id="{EF290769-FC4B-4518-8E82-10D24D0B70E5}" type="slidenum">
              <a:rPr lang="en-IL" smtClean="0"/>
              <a:pPr/>
              <a:t>34</a:t>
            </a:fld>
            <a:endParaRPr lang="en-IL" dirty="0"/>
          </a:p>
        </p:txBody>
      </p:sp>
    </p:spTree>
    <p:extLst>
      <p:ext uri="{BB962C8B-B14F-4D97-AF65-F5344CB8AC3E}">
        <p14:creationId xmlns:p14="http://schemas.microsoft.com/office/powerpoint/2010/main" val="628054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753227541"/>
      </p:ext>
    </p:extLst>
  </p:cSld>
  <p:clrMapOvr>
    <a:masterClrMapping/>
  </p:clrMapOvr>
  <p:transition spd="slow">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5885150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238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כ'/כסלו/תשפ"ו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כ'/כסלו/תשפ"ו</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כ'/כסלו/תשפ"ו</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כ'/כסלו/תשפ"ו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920810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144303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475042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371955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288719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000863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6226474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6674706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37991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735743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214698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8395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185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93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364457571"/>
      </p:ext>
    </p:extLst>
  </p:cSld>
  <p:clrMapOvr>
    <a:masterClrMapping/>
  </p:clrMapOvr>
  <p:transition spd="slow">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236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965179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6752857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4825580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36991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53495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116682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744743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0961524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963309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7588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52847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081493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324705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27839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16920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6387514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7257184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7473871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4856274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521035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0529109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106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0777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79862460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607479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338384"/>
      </p:ext>
    </p:extLst>
  </p:cSld>
  <p:clrMapOvr>
    <a:masterClrMapping/>
  </p:clrMapOvr>
  <p:transition spd="slow">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6031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648410"/>
      </p:ext>
    </p:extLst>
  </p:cSld>
  <p:clrMapOvr>
    <a:masterClrMapping/>
  </p:clrMapOvr>
  <p:transition spd="slow">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26355455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6288204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45771688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98054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78200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9831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448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7328881"/>
      </p:ext>
    </p:extLst>
  </p:cSld>
  <p:clrMapOvr>
    <a:masterClrMapping/>
  </p:clrMapOvr>
  <p:transition spd="slow">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5139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192075"/>
      </p:ext>
    </p:extLst>
  </p:cSld>
  <p:clrMapOvr>
    <a:masterClrMapping/>
  </p:clrMapOvr>
  <p:transition spd="slow">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419861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70846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07834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8049222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234548"/>
      </p:ext>
    </p:extLst>
  </p:cSld>
  <p:clrMapOvr>
    <a:masterClrMapping/>
  </p:clrMapOvr>
  <p:transition>
    <p:fade/>
  </p:transition>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68680331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217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8178630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4373726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8327097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2498759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8632863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86091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1993335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408232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887919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7072012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12/10/2025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644351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8160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65458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795623664"/>
      </p:ext>
    </p:extLst>
  </p:cSld>
  <p:clrMapOvr>
    <a:masterClrMapping/>
  </p:clrMapOvr>
  <p:transition spd="slow">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48333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211328417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393420941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6675497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22221371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765010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50693663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24821211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226360761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306506316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דיסקליימר">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02045560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146790468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5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8644767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3.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theme" Target="../theme/theme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theme" Target="../theme/theme7.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heme" Target="../theme/theme8.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theme" Target="../theme/theme9.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7.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theme" Target="../theme/theme1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12/10/2025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7" r:id="rId15"/>
    <p:sldLayoutId id="2147483678" r:id="rId16"/>
    <p:sldLayoutId id="2147483763" r:id="rId17"/>
    <p:sldLayoutId id="2147483884" r:id="rId18"/>
    <p:sldLayoutId id="2147483885" r:id="rId19"/>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12/10/2025</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12/10/2025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63127441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400635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37"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כ'/כסלו/תשפ"ו</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259642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237317"/>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12/10/2025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364203523"/>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3" r:id="rId14"/>
    <p:sldLayoutId id="2147483854" r:id="rId15"/>
    <p:sldLayoutId id="2147483855" r:id="rId16"/>
    <p:sldLayoutId id="2147483856"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67996081"/>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6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jp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5.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0.png"/><Relationship Id="rId7" Type="http://schemas.openxmlformats.org/officeDocument/2006/relationships/image" Target="../media/image1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4.png"/><Relationship Id="rId3" Type="http://schemas.openxmlformats.org/officeDocument/2006/relationships/image" Target="../media/image24.png"/><Relationship Id="rId7" Type="http://schemas.openxmlformats.org/officeDocument/2006/relationships/image" Target="../media/image28.svg"/><Relationship Id="rId12"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8.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18" Type="http://schemas.openxmlformats.org/officeDocument/2006/relationships/image" Target="../media/image11.png"/><Relationship Id="rId3" Type="http://schemas.openxmlformats.org/officeDocument/2006/relationships/image" Target="../media/image33.png"/><Relationship Id="rId21" Type="http://schemas.openxmlformats.org/officeDocument/2006/relationships/image" Target="../media/image48.png"/><Relationship Id="rId7" Type="http://schemas.openxmlformats.org/officeDocument/2006/relationships/image" Target="../media/image9.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5.xml"/><Relationship Id="rId16" Type="http://schemas.openxmlformats.org/officeDocument/2006/relationships/image" Target="../media/image44.png"/><Relationship Id="rId20" Type="http://schemas.openxmlformats.org/officeDocument/2006/relationships/image" Target="../media/image47.png"/><Relationship Id="rId1" Type="http://schemas.openxmlformats.org/officeDocument/2006/relationships/slideLayout" Target="../slideLayouts/slideLayout41.xml"/><Relationship Id="rId6" Type="http://schemas.openxmlformats.org/officeDocument/2006/relationships/image" Target="../media/image36.png"/><Relationship Id="rId11" Type="http://schemas.openxmlformats.org/officeDocument/2006/relationships/image" Target="../media/image39.png"/><Relationship Id="rId5" Type="http://schemas.openxmlformats.org/officeDocument/2006/relationships/image" Target="../media/image35.png"/><Relationship Id="rId15" Type="http://schemas.openxmlformats.org/officeDocument/2006/relationships/image" Target="../media/image43.png"/><Relationship Id="rId10" Type="http://schemas.openxmlformats.org/officeDocument/2006/relationships/image" Target="../media/image38.png"/><Relationship Id="rId19" Type="http://schemas.openxmlformats.org/officeDocument/2006/relationships/image" Target="../media/image46.png"/><Relationship Id="rId4" Type="http://schemas.openxmlformats.org/officeDocument/2006/relationships/image" Target="../media/image34.png"/><Relationship Id="rId9" Type="http://schemas.openxmlformats.org/officeDocument/2006/relationships/image" Target="../media/image10.png"/><Relationship Id="rId1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1.xml"/><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xml"/><Relationship Id="rId1" Type="http://schemas.openxmlformats.org/officeDocument/2006/relationships/slideLayout" Target="../slideLayouts/slideLayout103.xml"/><Relationship Id="rId4" Type="http://schemas.openxmlformats.org/officeDocument/2006/relationships/image" Target="../media/image54.png"/></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7.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14.png"/><Relationship Id="rId3" Type="http://schemas.openxmlformats.org/officeDocument/2006/relationships/image" Target="../media/image56.png"/><Relationship Id="rId7" Type="http://schemas.openxmlformats.org/officeDocument/2006/relationships/diagramLayout" Target="../diagrams/layout1.xml"/><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11.png"/><Relationship Id="rId5" Type="http://schemas.openxmlformats.org/officeDocument/2006/relationships/image" Target="../media/image28.svg"/><Relationship Id="rId10" Type="http://schemas.microsoft.com/office/2007/relationships/diagramDrawing" Target="../diagrams/drawing1.xml"/><Relationship Id="rId4" Type="http://schemas.openxmlformats.org/officeDocument/2006/relationships/image" Target="../media/image27.png"/><Relationship Id="rId9" Type="http://schemas.openxmlformats.org/officeDocument/2006/relationships/diagramColors" Target="../diagrams/colors1.xml"/><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53.png"/><Relationship Id="rId4" Type="http://schemas.openxmlformats.org/officeDocument/2006/relationships/image" Target="../media/image28.sv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60.png"/><Relationship Id="rId2" Type="http://schemas.openxmlformats.org/officeDocument/2006/relationships/image" Target="../media/image13.png"/><Relationship Id="rId1" Type="http://schemas.openxmlformats.org/officeDocument/2006/relationships/slideLayout" Target="../slideLayouts/slideLayout18.xml"/><Relationship Id="rId6" Type="http://schemas.openxmlformats.org/officeDocument/2006/relationships/image" Target="../media/image59.png"/><Relationship Id="rId5" Type="http://schemas.openxmlformats.org/officeDocument/2006/relationships/image" Target="../media/image53.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53.png"/><Relationship Id="rId3" Type="http://schemas.openxmlformats.org/officeDocument/2006/relationships/image" Target="../media/image62.svg"/><Relationship Id="rId7" Type="http://schemas.openxmlformats.org/officeDocument/2006/relationships/image" Target="../media/image66.svg"/><Relationship Id="rId12" Type="http://schemas.openxmlformats.org/officeDocument/2006/relationships/image" Target="../media/image15.png"/><Relationship Id="rId2" Type="http://schemas.openxmlformats.org/officeDocument/2006/relationships/image" Target="../media/image61.png"/><Relationship Id="rId1" Type="http://schemas.openxmlformats.org/officeDocument/2006/relationships/slideLayout" Target="../slideLayouts/slideLayout18.xml"/><Relationship Id="rId6" Type="http://schemas.openxmlformats.org/officeDocument/2006/relationships/image" Target="../media/image65.png"/><Relationship Id="rId11" Type="http://schemas.openxmlformats.org/officeDocument/2006/relationships/image" Target="../media/image14.png"/><Relationship Id="rId5" Type="http://schemas.openxmlformats.org/officeDocument/2006/relationships/image" Target="../media/image64.svg"/><Relationship Id="rId10" Type="http://schemas.openxmlformats.org/officeDocument/2006/relationships/image" Target="../media/image13.png"/><Relationship Id="rId4" Type="http://schemas.openxmlformats.org/officeDocument/2006/relationships/image" Target="../media/image63.png"/><Relationship Id="rId9" Type="http://schemas.openxmlformats.org/officeDocument/2006/relationships/image" Target="../media/image68.svg"/><Relationship Id="rId14" Type="http://schemas.openxmlformats.org/officeDocument/2006/relationships/image" Target="../media/image59.png"/></Relationships>
</file>

<file path=ppt/slides/_rels/slide1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13.pn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79.png"/><Relationship Id="rId17" Type="http://schemas.openxmlformats.org/officeDocument/2006/relationships/image" Target="../media/image59.png"/><Relationship Id="rId2" Type="http://schemas.openxmlformats.org/officeDocument/2006/relationships/image" Target="../media/image69.png"/><Relationship Id="rId16" Type="http://schemas.openxmlformats.org/officeDocument/2006/relationships/image" Target="../media/image53.png"/><Relationship Id="rId1" Type="http://schemas.openxmlformats.org/officeDocument/2006/relationships/slideLayout" Target="../slideLayouts/slideLayout18.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5" Type="http://schemas.openxmlformats.org/officeDocument/2006/relationships/image" Target="../media/image15.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 Id="rId1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5.svg"/><Relationship Id="rId18" Type="http://schemas.openxmlformats.org/officeDocument/2006/relationships/image" Target="../media/image15.png"/><Relationship Id="rId3" Type="http://schemas.openxmlformats.org/officeDocument/2006/relationships/image" Target="../media/image70.svg"/><Relationship Id="rId7" Type="http://schemas.openxmlformats.org/officeDocument/2006/relationships/image" Target="../media/image81.svg"/><Relationship Id="rId12" Type="http://schemas.openxmlformats.org/officeDocument/2006/relationships/image" Target="../media/image84.png"/><Relationship Id="rId17" Type="http://schemas.openxmlformats.org/officeDocument/2006/relationships/image" Target="../media/image14.png"/><Relationship Id="rId2" Type="http://schemas.openxmlformats.org/officeDocument/2006/relationships/image" Target="../media/image69.png"/><Relationship Id="rId16" Type="http://schemas.openxmlformats.org/officeDocument/2006/relationships/image" Target="../media/image13.png"/><Relationship Id="rId20" Type="http://schemas.openxmlformats.org/officeDocument/2006/relationships/image" Target="../media/image59.png"/><Relationship Id="rId1" Type="http://schemas.openxmlformats.org/officeDocument/2006/relationships/slideLayout" Target="../slideLayouts/slideLayout18.xml"/><Relationship Id="rId6" Type="http://schemas.openxmlformats.org/officeDocument/2006/relationships/image" Target="../media/image80.png"/><Relationship Id="rId11" Type="http://schemas.openxmlformats.org/officeDocument/2006/relationships/image" Target="../media/image83.svg"/><Relationship Id="rId5" Type="http://schemas.openxmlformats.org/officeDocument/2006/relationships/image" Target="../media/image72.svg"/><Relationship Id="rId15" Type="http://schemas.openxmlformats.org/officeDocument/2006/relationships/image" Target="../media/image87.svg"/><Relationship Id="rId10" Type="http://schemas.openxmlformats.org/officeDocument/2006/relationships/image" Target="../media/image82.png"/><Relationship Id="rId19" Type="http://schemas.openxmlformats.org/officeDocument/2006/relationships/image" Target="../media/image53.png"/><Relationship Id="rId4" Type="http://schemas.openxmlformats.org/officeDocument/2006/relationships/image" Target="../media/image71.png"/><Relationship Id="rId9" Type="http://schemas.openxmlformats.org/officeDocument/2006/relationships/image" Target="../media/image78.svg"/><Relationship Id="rId14" Type="http://schemas.openxmlformats.org/officeDocument/2006/relationships/image" Target="../media/image86.png"/></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8.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90.svg"/><Relationship Id="rId4" Type="http://schemas.openxmlformats.org/officeDocument/2006/relationships/image" Target="../media/image89.svg"/><Relationship Id="rId9"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91.jpe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 Id="rId9" Type="http://schemas.openxmlformats.org/officeDocument/2006/relationships/image" Target="../media/image93.png"/></Relationships>
</file>

<file path=ppt/slides/_rels/slide2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4.png"/><Relationship Id="rId7" Type="http://schemas.openxmlformats.org/officeDocument/2006/relationships/image" Target="../media/image14.png"/><Relationship Id="rId2" Type="http://schemas.openxmlformats.org/officeDocument/2006/relationships/image" Target="../media/image92.png"/><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3.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15.png"/><Relationship Id="rId2" Type="http://schemas.openxmlformats.org/officeDocument/2006/relationships/image" Target="../media/image92.png"/><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2.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95.jpg"/><Relationship Id="rId4" Type="http://schemas.openxmlformats.org/officeDocument/2006/relationships/image" Target="../media/image93.png"/><Relationship Id="rId9"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2.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96.png"/><Relationship Id="rId7" Type="http://schemas.openxmlformats.org/officeDocument/2006/relationships/image" Target="../media/image14.png"/><Relationship Id="rId2" Type="http://schemas.openxmlformats.org/officeDocument/2006/relationships/image" Target="../media/image93.png"/><Relationship Id="rId1" Type="http://schemas.openxmlformats.org/officeDocument/2006/relationships/slideLayout" Target="../slideLayouts/slideLayout19.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53.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00.svg"/><Relationship Id="rId11" Type="http://schemas.openxmlformats.org/officeDocument/2006/relationships/image" Target="../media/image15.png"/><Relationship Id="rId5" Type="http://schemas.openxmlformats.org/officeDocument/2006/relationships/image" Target="../media/image99.png"/><Relationship Id="rId10" Type="http://schemas.openxmlformats.org/officeDocument/2006/relationships/image" Target="../media/image14.png"/><Relationship Id="rId4" Type="http://schemas.openxmlformats.org/officeDocument/2006/relationships/image" Target="../media/image98.svg"/><Relationship Id="rId9"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2.jpe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3" Type="http://schemas.openxmlformats.org/officeDocument/2006/relationships/image" Target="../media/image114.svg"/><Relationship Id="rId18" Type="http://schemas.openxmlformats.org/officeDocument/2006/relationships/image" Target="../media/image119.png"/><Relationship Id="rId26" Type="http://schemas.openxmlformats.org/officeDocument/2006/relationships/image" Target="../media/image127.png"/><Relationship Id="rId39" Type="http://schemas.openxmlformats.org/officeDocument/2006/relationships/image" Target="../media/image140.svg"/><Relationship Id="rId21" Type="http://schemas.openxmlformats.org/officeDocument/2006/relationships/image" Target="../media/image122.svg"/><Relationship Id="rId34" Type="http://schemas.openxmlformats.org/officeDocument/2006/relationships/image" Target="../media/image135.png"/><Relationship Id="rId42" Type="http://schemas.openxmlformats.org/officeDocument/2006/relationships/image" Target="../media/image143.svg"/><Relationship Id="rId7" Type="http://schemas.openxmlformats.org/officeDocument/2006/relationships/image" Target="../media/image108.svg"/><Relationship Id="rId2" Type="http://schemas.openxmlformats.org/officeDocument/2006/relationships/image" Target="../media/image103.png"/><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svg"/><Relationship Id="rId41" Type="http://schemas.openxmlformats.org/officeDocument/2006/relationships/image" Target="../media/image142.png"/><Relationship Id="rId1" Type="http://schemas.openxmlformats.org/officeDocument/2006/relationships/slideLayout" Target="../slideLayouts/slideLayout76.xml"/><Relationship Id="rId6" Type="http://schemas.openxmlformats.org/officeDocument/2006/relationships/image" Target="../media/image107.png"/><Relationship Id="rId11" Type="http://schemas.openxmlformats.org/officeDocument/2006/relationships/image" Target="../media/image112.svg"/><Relationship Id="rId24" Type="http://schemas.openxmlformats.org/officeDocument/2006/relationships/image" Target="../media/image125.png"/><Relationship Id="rId32" Type="http://schemas.openxmlformats.org/officeDocument/2006/relationships/image" Target="../media/image133.png"/><Relationship Id="rId37" Type="http://schemas.openxmlformats.org/officeDocument/2006/relationships/image" Target="../media/image138.svg"/><Relationship Id="rId40" Type="http://schemas.openxmlformats.org/officeDocument/2006/relationships/image" Target="../media/image141.png"/><Relationship Id="rId5" Type="http://schemas.openxmlformats.org/officeDocument/2006/relationships/image" Target="../media/image106.svg"/><Relationship Id="rId15" Type="http://schemas.openxmlformats.org/officeDocument/2006/relationships/image" Target="../media/image116.svg"/><Relationship Id="rId23" Type="http://schemas.openxmlformats.org/officeDocument/2006/relationships/image" Target="../media/image124.svg"/><Relationship Id="rId28" Type="http://schemas.openxmlformats.org/officeDocument/2006/relationships/image" Target="../media/image129.png"/><Relationship Id="rId36" Type="http://schemas.openxmlformats.org/officeDocument/2006/relationships/image" Target="../media/image137.png"/><Relationship Id="rId10" Type="http://schemas.openxmlformats.org/officeDocument/2006/relationships/image" Target="../media/image111.png"/><Relationship Id="rId19" Type="http://schemas.openxmlformats.org/officeDocument/2006/relationships/image" Target="../media/image120.svg"/><Relationship Id="rId31" Type="http://schemas.openxmlformats.org/officeDocument/2006/relationships/image" Target="../media/image132.svg"/><Relationship Id="rId4" Type="http://schemas.openxmlformats.org/officeDocument/2006/relationships/image" Target="../media/image105.png"/><Relationship Id="rId9" Type="http://schemas.openxmlformats.org/officeDocument/2006/relationships/image" Target="../media/image110.sv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svg"/><Relationship Id="rId30" Type="http://schemas.openxmlformats.org/officeDocument/2006/relationships/image" Target="../media/image131.png"/><Relationship Id="rId35" Type="http://schemas.openxmlformats.org/officeDocument/2006/relationships/image" Target="../media/image136.svg"/><Relationship Id="rId8" Type="http://schemas.openxmlformats.org/officeDocument/2006/relationships/image" Target="../media/image109.png"/><Relationship Id="rId3" Type="http://schemas.openxmlformats.org/officeDocument/2006/relationships/image" Target="../media/image104.svg"/><Relationship Id="rId12" Type="http://schemas.openxmlformats.org/officeDocument/2006/relationships/image" Target="../media/image113.png"/><Relationship Id="rId17" Type="http://schemas.openxmlformats.org/officeDocument/2006/relationships/image" Target="../media/image118.svg"/><Relationship Id="rId25" Type="http://schemas.openxmlformats.org/officeDocument/2006/relationships/image" Target="../media/image126.svg"/><Relationship Id="rId33" Type="http://schemas.openxmlformats.org/officeDocument/2006/relationships/image" Target="../media/image134.svg"/><Relationship Id="rId38" Type="http://schemas.openxmlformats.org/officeDocument/2006/relationships/image" Target="../media/image139.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44.jpg"/><Relationship Id="rId2" Type="http://schemas.openxmlformats.org/officeDocument/2006/relationships/notesSlide" Target="../notesSlides/notesSlide19.xml"/><Relationship Id="rId1" Type="http://schemas.openxmlformats.org/officeDocument/2006/relationships/slideLayout" Target="../slideLayouts/slideLayout83.xml"/><Relationship Id="rId4" Type="http://schemas.openxmlformats.org/officeDocument/2006/relationships/image" Target="../media/image145.jpg"/></Relationships>
</file>

<file path=ppt/slides/_rels/slide34.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46.png"/><Relationship Id="rId7" Type="http://schemas.openxmlformats.org/officeDocument/2006/relationships/image" Target="../media/image149.svg"/><Relationship Id="rId2" Type="http://schemas.openxmlformats.org/officeDocument/2006/relationships/notesSlide" Target="../notesSlides/notesSlide20.xml"/><Relationship Id="rId1" Type="http://schemas.openxmlformats.org/officeDocument/2006/relationships/slideLayout" Target="../slideLayouts/slideLayout81.xml"/><Relationship Id="rId6" Type="http://schemas.openxmlformats.org/officeDocument/2006/relationships/image" Target="../media/image148.png"/><Relationship Id="rId11" Type="http://schemas.openxmlformats.org/officeDocument/2006/relationships/image" Target="../media/image153.svg"/><Relationship Id="rId5" Type="http://schemas.openxmlformats.org/officeDocument/2006/relationships/image" Target="../media/image56.png"/><Relationship Id="rId10" Type="http://schemas.openxmlformats.org/officeDocument/2006/relationships/image" Target="../media/image152.png"/><Relationship Id="rId4" Type="http://schemas.openxmlformats.org/officeDocument/2006/relationships/image" Target="../media/image147.svg"/><Relationship Id="rId9" Type="http://schemas.openxmlformats.org/officeDocument/2006/relationships/image" Target="../media/image151.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r" rtl="1"/>
            <a:r>
              <a:rPr lang="he-IL" b="1" i="0" strike="noStrike">
                <a:solidFill>
                  <a:srgbClr val="1A295D"/>
                </a:solidFill>
                <a:effectLst/>
                <a:latin typeface="Open Sans" panose="020B0606030504020204" pitchFamily="34" charset="0"/>
              </a:rPr>
              <a:t>                                                                                       </a:t>
            </a:r>
            <a:endParaRPr lang="he-IL" dirty="0">
              <a:latin typeface="Assistant" pitchFamily="2" charset="-79"/>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09086" y="6288499"/>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55309" y="6288499"/>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071557"/>
            <a:ext cx="12052699" cy="221599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lang="he-IL" sz="8000" b="1"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רפורמת סל אישי</a:t>
            </a:r>
          </a:p>
          <a:p>
            <a:pPr marL="0" marR="0" lvl="0" indent="0" algn="r" defTabSz="914400" rtl="1" eaLnBrk="1" fontAlgn="auto" latinLnBrk="0" hangingPunct="1">
              <a:lnSpc>
                <a:spcPct val="100000"/>
              </a:lnSpc>
              <a:spcBef>
                <a:spcPts val="0"/>
              </a:spcBef>
              <a:spcAft>
                <a:spcPts val="1200"/>
              </a:spcAft>
              <a:buClrTx/>
              <a:buSzTx/>
              <a:buFontTx/>
              <a:buNone/>
              <a:tabLst/>
              <a:defRPr/>
            </a:pP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"מהלך </a:t>
            </a:r>
            <a:r>
              <a:rPr lang="he-IL" sz="4800" dirty="0" err="1">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הדיגיטל</a:t>
            </a: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923330"/>
          </a:xfrm>
          <a:prstGeom prst="rect">
            <a:avLst/>
          </a:prstGeom>
          <a:noFill/>
        </p:spPr>
        <p:txBody>
          <a:bodyPr wrap="none" rtlCol="1">
            <a:spAutoFit/>
          </a:bodyPr>
          <a:lstStyle/>
          <a:p>
            <a:pPr algn="r" rtl="1"/>
            <a:endParaRPr lang="he-IL" dirty="0">
              <a:solidFill>
                <a:srgbClr val="002060"/>
              </a:solidFill>
              <a:latin typeface="Open Sans" panose="020B0606030504020204" pitchFamily="34" charset="0"/>
            </a:endParaRPr>
          </a:p>
          <a:p>
            <a:pPr algn="r" rtl="1"/>
            <a:r>
              <a:rPr lang="he-IL" sz="1600" b="0" i="0" u="none" strike="noStrike" dirty="0">
                <a:solidFill>
                  <a:srgbClr val="002060"/>
                </a:solidFill>
                <a:effectLst/>
                <a:latin typeface="Open Sans" panose="020B0606030504020204" pitchFamily="34" charset="0"/>
              </a:rPr>
              <a:t>                    </a:t>
            </a:r>
            <a:r>
              <a:rPr lang="he-IL" b="0" i="0" u="none" strike="noStrike" dirty="0">
                <a:solidFill>
                  <a:srgbClr val="002060"/>
                </a:solidFill>
                <a:effectLst/>
                <a:latin typeface="Open Sans" panose="020B0606030504020204" pitchFamily="34" charset="0"/>
              </a:rPr>
              <a:t>          </a:t>
            </a:r>
            <a:endParaRPr lang="he-IL" dirty="0">
              <a:solidFill>
                <a:srgbClr val="002060"/>
              </a:solidFill>
              <a:latin typeface="Assistant" pitchFamily="2" charset="-79"/>
              <a:cs typeface="Assistant" pitchFamily="2" charset="-79"/>
            </a:endParaRPr>
          </a:p>
          <a:p>
            <a:pPr algn="r" rtl="1"/>
            <a:endParaRPr lang="he-IL" dirty="0">
              <a:solidFill>
                <a:srgbClr val="002060"/>
              </a:solidFill>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677144" y="6268086"/>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8328431" y="6157999"/>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7206293" y="6152875"/>
            <a:ext cx="1179780" cy="64607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185063" y="6360796"/>
            <a:ext cx="1326069" cy="646331"/>
          </a:xfrm>
          <a:prstGeom prst="rect">
            <a:avLst/>
          </a:prstGeom>
          <a:noFill/>
        </p:spPr>
        <p:txBody>
          <a:bodyPr wrap="none" rtlCol="1">
            <a:spAutoFit/>
          </a:bodyPr>
          <a:lstStyle/>
          <a:p>
            <a:pPr algn="r" rtl="1"/>
            <a:r>
              <a:rPr lang="he-IL" sz="1800" b="0" i="0" u="none" strike="noStrike" dirty="0">
                <a:solidFill>
                  <a:srgbClr val="002060"/>
                </a:solidFill>
                <a:effectLst/>
                <a:latin typeface="Open Sans" panose="020B0606030504020204" pitchFamily="34" charset="0"/>
              </a:rPr>
              <a:t>פברואר 2025</a:t>
            </a:r>
            <a:endParaRPr lang="he-IL" b="0" i="0" u="none" strike="noStrike" dirty="0">
              <a:solidFill>
                <a:srgbClr val="002060"/>
              </a:solidFill>
              <a:effectLst/>
              <a:latin typeface="Open Sans" panose="020B0606030504020204" pitchFamily="34" charset="0"/>
            </a:endParaRPr>
          </a:p>
          <a:p>
            <a:pPr algn="r" rtl="1"/>
            <a:endParaRPr lang="he-IL" dirty="0">
              <a:solidFill>
                <a:srgbClr val="002060"/>
              </a:solidFill>
            </a:endParaRPr>
          </a:p>
        </p:txBody>
      </p:sp>
    </p:spTree>
    <p:extLst>
      <p:ext uri="{BB962C8B-B14F-4D97-AF65-F5344CB8AC3E}">
        <p14:creationId xmlns:p14="http://schemas.microsoft.com/office/powerpoint/2010/main" val="382321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0DC"/>
        </a:solidFill>
        <a:effectLst/>
      </p:bgPr>
    </p:bg>
    <p:spTree>
      <p:nvGrpSpPr>
        <p:cNvPr id="1" name=""/>
        <p:cNvGrpSpPr/>
        <p:nvPr/>
      </p:nvGrpSpPr>
      <p:grpSpPr>
        <a:xfrm>
          <a:off x="0" y="0"/>
          <a:ext cx="0" cy="0"/>
          <a:chOff x="0" y="0"/>
          <a:chExt cx="0" cy="0"/>
        </a:xfrm>
      </p:grpSpPr>
      <p:pic>
        <p:nvPicPr>
          <p:cNvPr id="4" name="תמונה 3" descr="תמונה שמכילה אדם, פני אדם, משקפיים, לבוש&#10;&#10;תוכן שנוצר על-ידי בינה מלאכותית עשוי להיות שגוי.">
            <a:extLst>
              <a:ext uri="{FF2B5EF4-FFF2-40B4-BE49-F238E27FC236}">
                <a16:creationId xmlns:a16="http://schemas.microsoft.com/office/drawing/2014/main" id="{10AAC1C9-019C-83AB-CFCF-4FB82BB1E51E}"/>
              </a:ext>
            </a:extLst>
          </p:cNvPr>
          <p:cNvPicPr>
            <a:picLocks noChangeAspect="1"/>
          </p:cNvPicPr>
          <p:nvPr/>
        </p:nvPicPr>
        <p:blipFill>
          <a:blip r:embed="rId3">
            <a:extLst>
              <a:ext uri="{28A0092B-C50C-407E-A947-70E740481C1C}">
                <a14:useLocalDpi xmlns:a14="http://schemas.microsoft.com/office/drawing/2010/main" val="0"/>
              </a:ext>
            </a:extLst>
          </a:blip>
          <a:srcRect l="16231" t="10150" r="16269" b="13467"/>
          <a:stretch/>
        </p:blipFill>
        <p:spPr>
          <a:xfrm>
            <a:off x="-733626" y="0"/>
            <a:ext cx="10774052" cy="6858000"/>
          </a:xfrm>
          <a:prstGeom prst="rect">
            <a:avLst/>
          </a:prstGeom>
          <a:solidFill>
            <a:srgbClr val="DBE0DC"/>
          </a:solidFill>
        </p:spPr>
      </p:pic>
      <p:sp>
        <p:nvSpPr>
          <p:cNvPr id="14" name="TextBox 13">
            <a:extLst>
              <a:ext uri="{FF2B5EF4-FFF2-40B4-BE49-F238E27FC236}">
                <a16:creationId xmlns:a16="http://schemas.microsoft.com/office/drawing/2014/main" id="{D97B8A50-8755-45B7-A2E0-8358F1AD4FC0}"/>
              </a:ext>
            </a:extLst>
          </p:cNvPr>
          <p:cNvSpPr txBox="1"/>
          <p:nvPr/>
        </p:nvSpPr>
        <p:spPr>
          <a:xfrm>
            <a:off x="7373372" y="1104226"/>
            <a:ext cx="4679327" cy="366254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6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מגמלה לצמיחה</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האדם במרכז</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בעידן הדיגיטלי</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8379978" y="4314149"/>
            <a:ext cx="2666115" cy="1631216"/>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אביעד יצחקי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מוביל פיתוח, שותפויות ו</a:t>
            </a:r>
            <a:r>
              <a:rPr kumimoji="0" lang="en-US"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AI-</a:t>
            </a:r>
            <a:endPar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 המוסד לביטוח לאומי</a:t>
            </a:r>
          </a:p>
        </p:txBody>
      </p:sp>
      <p:sp>
        <p:nvSpPr>
          <p:cNvPr id="9" name="תיבת טקסט 8">
            <a:extLst>
              <a:ext uri="{FF2B5EF4-FFF2-40B4-BE49-F238E27FC236}">
                <a16:creationId xmlns:a16="http://schemas.microsoft.com/office/drawing/2014/main" id="{FC94119B-D148-B85C-139F-E5B27FCE8925}"/>
              </a:ext>
            </a:extLst>
          </p:cNvPr>
          <p:cNvSpPr txBox="1"/>
          <p:nvPr/>
        </p:nvSpPr>
        <p:spPr>
          <a:xfrm>
            <a:off x="0" y="74314"/>
            <a:ext cx="963789"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יולי 2025</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pic>
        <p:nvPicPr>
          <p:cNvPr id="3" name="Picture 3" descr="קובץ:Ministry of Labor, Social Affairs and Social Services ...">
            <a:extLst>
              <a:ext uri="{FF2B5EF4-FFF2-40B4-BE49-F238E27FC236}">
                <a16:creationId xmlns:a16="http://schemas.microsoft.com/office/drawing/2014/main" id="{8C53F6C6-3A88-6F04-413F-41D36726FFF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605785" y="210198"/>
            <a:ext cx="1446914" cy="3945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4">
            <a:extLst>
              <a:ext uri="{FF2B5EF4-FFF2-40B4-BE49-F238E27FC236}">
                <a16:creationId xmlns:a16="http://schemas.microsoft.com/office/drawing/2014/main" id="{54374D55-9CE1-9AA5-19F0-CF5CFF926A38}"/>
              </a:ext>
            </a:extLst>
          </p:cNvPr>
          <p:cNvPicPr>
            <a:picLocks noChangeAspect="1"/>
          </p:cNvPicPr>
          <p:nvPr/>
        </p:nvPicPr>
        <p:blipFill>
          <a:blip r:embed="rId5"/>
          <a:stretch>
            <a:fillRect/>
          </a:stretch>
        </p:blipFill>
        <p:spPr>
          <a:xfrm>
            <a:off x="6289682" y="137329"/>
            <a:ext cx="1280212" cy="467379"/>
          </a:xfrm>
          <a:prstGeom prst="rect">
            <a:avLst/>
          </a:prstGeom>
        </p:spPr>
      </p:pic>
      <p:pic>
        <p:nvPicPr>
          <p:cNvPr id="6" name="Picture 32">
            <a:extLst>
              <a:ext uri="{FF2B5EF4-FFF2-40B4-BE49-F238E27FC236}">
                <a16:creationId xmlns:a16="http://schemas.microsoft.com/office/drawing/2014/main" id="{1142E1AE-8B06-377C-8831-0EFF9F103E64}"/>
              </a:ext>
            </a:extLst>
          </p:cNvPr>
          <p:cNvPicPr>
            <a:picLocks noChangeAspect="1"/>
          </p:cNvPicPr>
          <p:nvPr/>
        </p:nvPicPr>
        <p:blipFill>
          <a:blip r:embed="rId6"/>
          <a:stretch>
            <a:fillRect/>
          </a:stretch>
        </p:blipFill>
        <p:spPr>
          <a:xfrm>
            <a:off x="8878907" y="79698"/>
            <a:ext cx="1726877" cy="719532"/>
          </a:xfrm>
          <a:prstGeom prst="rect">
            <a:avLst/>
          </a:prstGeom>
        </p:spPr>
      </p:pic>
      <p:pic>
        <p:nvPicPr>
          <p:cNvPr id="8" name="Picture 26">
            <a:extLst>
              <a:ext uri="{FF2B5EF4-FFF2-40B4-BE49-F238E27FC236}">
                <a16:creationId xmlns:a16="http://schemas.microsoft.com/office/drawing/2014/main" id="{4549E25A-CEF9-643B-94BE-5A7ACA0F1EEC}"/>
              </a:ext>
            </a:extLst>
          </p:cNvPr>
          <p:cNvPicPr>
            <a:picLocks noChangeAspect="1"/>
          </p:cNvPicPr>
          <p:nvPr/>
        </p:nvPicPr>
        <p:blipFill>
          <a:blip r:embed="rId7"/>
          <a:stretch>
            <a:fillRect/>
          </a:stretch>
        </p:blipFill>
        <p:spPr>
          <a:xfrm>
            <a:off x="7756769" y="74574"/>
            <a:ext cx="1179780" cy="646071"/>
          </a:xfrm>
          <a:prstGeom prst="rect">
            <a:avLst/>
          </a:prstGeom>
          <a:ln>
            <a:noFill/>
          </a:ln>
        </p:spPr>
      </p:pic>
      <p:grpSp>
        <p:nvGrpSpPr>
          <p:cNvPr id="15" name="Group 1">
            <a:extLst>
              <a:ext uri="{FF2B5EF4-FFF2-40B4-BE49-F238E27FC236}">
                <a16:creationId xmlns:a16="http://schemas.microsoft.com/office/drawing/2014/main" id="{E18901A3-B203-1A9F-3F13-9D692F411187}"/>
              </a:ext>
            </a:extLst>
          </p:cNvPr>
          <p:cNvGrpSpPr>
            <a:grpSpLocks/>
          </p:cNvGrpSpPr>
          <p:nvPr/>
        </p:nvGrpSpPr>
        <p:grpSpPr>
          <a:xfrm>
            <a:off x="8697226" y="6075047"/>
            <a:ext cx="2090238" cy="446951"/>
            <a:chOff x="0" y="0"/>
            <a:chExt cx="2540000" cy="562197"/>
          </a:xfrm>
        </p:grpSpPr>
        <p:pic>
          <p:nvPicPr>
            <p:cNvPr id="16" name="Picture 7">
              <a:extLst>
                <a:ext uri="{FF2B5EF4-FFF2-40B4-BE49-F238E27FC236}">
                  <a16:creationId xmlns:a16="http://schemas.microsoft.com/office/drawing/2014/main" id="{A3BDED80-2B28-D446-E4D2-2536B46E3612}"/>
                </a:ext>
              </a:extLst>
            </p:cNvPr>
            <p:cNvPicPr>
              <a:picLocks noChangeAspect="1"/>
            </p:cNvPicPr>
            <p:nvPr/>
          </p:nvPicPr>
          <p:blipFill>
            <a:blip r:embed="rId8"/>
            <a:stretch>
              <a:fillRect/>
            </a:stretch>
          </p:blipFill>
          <p:spPr>
            <a:xfrm>
              <a:off x="0" y="384397"/>
              <a:ext cx="1790700" cy="177800"/>
            </a:xfrm>
            <a:prstGeom prst="rect">
              <a:avLst/>
            </a:prstGeom>
          </p:spPr>
        </p:pic>
        <p:pic>
          <p:nvPicPr>
            <p:cNvPr id="17" name="Picture 8">
              <a:extLst>
                <a:ext uri="{FF2B5EF4-FFF2-40B4-BE49-F238E27FC236}">
                  <a16:creationId xmlns:a16="http://schemas.microsoft.com/office/drawing/2014/main" id="{73DA91A2-8575-7951-72BF-BDCD82A1FAA9}"/>
                </a:ext>
              </a:extLst>
            </p:cNvPr>
            <p:cNvPicPr>
              <a:picLocks noChangeAspect="1"/>
            </p:cNvPicPr>
            <p:nvPr/>
          </p:nvPicPr>
          <p:blipFill>
            <a:blip r:embed="rId9"/>
            <a:stretch>
              <a:fillRect/>
            </a:stretch>
          </p:blipFill>
          <p:spPr>
            <a:xfrm>
              <a:off x="1828800" y="17473"/>
              <a:ext cx="711200" cy="520700"/>
            </a:xfrm>
            <a:prstGeom prst="rect">
              <a:avLst/>
            </a:prstGeom>
          </p:spPr>
        </p:pic>
        <p:pic>
          <p:nvPicPr>
            <p:cNvPr id="18" name="Picture 9">
              <a:extLst>
                <a:ext uri="{FF2B5EF4-FFF2-40B4-BE49-F238E27FC236}">
                  <a16:creationId xmlns:a16="http://schemas.microsoft.com/office/drawing/2014/main" id="{E516D927-206D-7009-124C-0BAFABFA4F22}"/>
                </a:ext>
              </a:extLst>
            </p:cNvPr>
            <p:cNvPicPr>
              <a:picLocks noChangeAspect="1"/>
            </p:cNvPicPr>
            <p:nvPr/>
          </p:nvPicPr>
          <p:blipFill>
            <a:blip r:embed="rId10"/>
            <a:stretch>
              <a:fillRect/>
            </a:stretch>
          </p:blipFill>
          <p:spPr>
            <a:xfrm>
              <a:off x="0" y="0"/>
              <a:ext cx="1803400" cy="381000"/>
            </a:xfrm>
            <a:prstGeom prst="rect">
              <a:avLst/>
            </a:prstGeom>
          </p:spPr>
        </p:pic>
      </p:grpSp>
    </p:spTree>
    <p:extLst>
      <p:ext uri="{BB962C8B-B14F-4D97-AF65-F5344CB8AC3E}">
        <p14:creationId xmlns:p14="http://schemas.microsoft.com/office/powerpoint/2010/main" val="392921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ext uri="{D42A27DB-BD31-4B8C-83A1-F6EECF244321}">
                <p14:modId xmlns:p14="http://schemas.microsoft.com/office/powerpoint/2010/main" val="3132909232"/>
              </p:ext>
            </p:extLst>
          </p:nvPr>
        </p:nvGraphicFramePr>
        <p:xfrm>
          <a:off x="725362" y="1077911"/>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955963" y="172203"/>
            <a:ext cx="10979454" cy="861774"/>
          </a:xfrm>
          <a:prstGeom prst="rect">
            <a:avLst/>
          </a:prstGeom>
        </p:spPr>
        <p:txBody>
          <a:bodyPr wrap="square">
            <a:spAutoFit/>
          </a:bodyPr>
          <a:lstStyle/>
          <a:p>
            <a:pPr lvl="0">
              <a:defRPr/>
            </a:pPr>
            <a:r>
              <a:rPr lang="he-IL" sz="3200" b="1" dirty="0">
                <a:solidFill>
                  <a:srgbClr val="002060"/>
                </a:solidFill>
                <a:latin typeface="Arial" panose="020B0604020202020204" pitchFamily="34" charset="0"/>
                <a:cs typeface="Arial" panose="020B0604020202020204" pitchFamily="34" charset="0"/>
              </a:rPr>
              <a:t>תקציב המדינה על אזרחים ותיקים ופרישה (2019)</a:t>
            </a:r>
            <a:endParaRPr lang="he-IL" sz="3200" b="1" dirty="0">
              <a:solidFill>
                <a:srgbClr val="0070C0"/>
              </a:solidFill>
              <a:latin typeface="Arial" panose="020B0604020202020204" pitchFamily="34" charset="0"/>
              <a:cs typeface="Arial" panose="020B0604020202020204" pitchFamily="34" charset="0"/>
            </a:endParaRPr>
          </a:p>
          <a:p>
            <a:pPr lvl="0">
              <a:defRPr/>
            </a:pPr>
            <a:r>
              <a:rPr lang="he-IL"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p:txBody>
      </p:sp>
      <p:sp>
        <p:nvSpPr>
          <p:cNvPr id="4" name="TextBox 3"/>
          <p:cNvSpPr txBox="1"/>
          <p:nvPr/>
        </p:nvSpPr>
        <p:spPr>
          <a:xfrm>
            <a:off x="7700521" y="2301836"/>
            <a:ext cx="4151955" cy="954107"/>
          </a:xfrm>
          <a:prstGeom prst="rect">
            <a:avLst/>
          </a:prstGeom>
          <a:noFill/>
        </p:spPr>
        <p:txBody>
          <a:bodyPr wrap="square" rtlCol="1">
            <a:spAutoFit/>
          </a:bodyPr>
          <a:lstStyle/>
          <a:p>
            <a:r>
              <a:rPr lang="he-IL" sz="32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השקעה מועטה </a:t>
            </a:r>
            <a:r>
              <a:rPr lang="he-IL" sz="3200" b="1" u="sng"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במניעה</a:t>
            </a:r>
            <a:r>
              <a:rPr lang="he-IL" sz="32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endParaRPr lang="he-IL" sz="2400" dirty="0">
              <a:latin typeface="Arial" panose="020B0604020202020204" pitchFamily="34" charset="0"/>
              <a:cs typeface="Arial" panose="020B0604020202020204" pitchFamily="34" charset="0"/>
            </a:endParaRPr>
          </a:p>
        </p:txBody>
      </p:sp>
      <p:sp>
        <p:nvSpPr>
          <p:cNvPr id="12" name="מלבן 11"/>
          <p:cNvSpPr/>
          <p:nvPr/>
        </p:nvSpPr>
        <p:spPr>
          <a:xfrm>
            <a:off x="0" y="7045"/>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3" name="Group 1">
            <a:extLst>
              <a:ext uri="{FF2B5EF4-FFF2-40B4-BE49-F238E27FC236}">
                <a16:creationId xmlns:a16="http://schemas.microsoft.com/office/drawing/2014/main" id="{0466745C-72EF-6F6B-69C5-198CCA3E735C}"/>
              </a:ext>
            </a:extLst>
          </p:cNvPr>
          <p:cNvGrpSpPr>
            <a:grpSpLocks/>
          </p:cNvGrpSpPr>
          <p:nvPr/>
        </p:nvGrpSpPr>
        <p:grpSpPr>
          <a:xfrm>
            <a:off x="10270513" y="6448989"/>
            <a:ext cx="1771016" cy="391796"/>
            <a:chOff x="0" y="0"/>
            <a:chExt cx="2540000" cy="562197"/>
          </a:xfrm>
        </p:grpSpPr>
        <p:pic>
          <p:nvPicPr>
            <p:cNvPr id="5" name="Picture 7">
              <a:extLst>
                <a:ext uri="{FF2B5EF4-FFF2-40B4-BE49-F238E27FC236}">
                  <a16:creationId xmlns:a16="http://schemas.microsoft.com/office/drawing/2014/main" id="{61FC4F94-A505-EA6B-EFF5-E002B29BA0F1}"/>
                </a:ext>
              </a:extLst>
            </p:cNvPr>
            <p:cNvPicPr>
              <a:picLocks noChangeAspect="1"/>
            </p:cNvPicPr>
            <p:nvPr/>
          </p:nvPicPr>
          <p:blipFill>
            <a:blip r:embed="rId4"/>
            <a:stretch>
              <a:fillRect/>
            </a:stretch>
          </p:blipFill>
          <p:spPr>
            <a:xfrm>
              <a:off x="0" y="384397"/>
              <a:ext cx="1790700" cy="177800"/>
            </a:xfrm>
            <a:prstGeom prst="rect">
              <a:avLst/>
            </a:prstGeom>
          </p:spPr>
        </p:pic>
        <p:pic>
          <p:nvPicPr>
            <p:cNvPr id="7" name="Picture 8">
              <a:extLst>
                <a:ext uri="{FF2B5EF4-FFF2-40B4-BE49-F238E27FC236}">
                  <a16:creationId xmlns:a16="http://schemas.microsoft.com/office/drawing/2014/main" id="{07BD49C7-2BF2-06AA-B1B5-29281B730220}"/>
                </a:ext>
              </a:extLst>
            </p:cNvPr>
            <p:cNvPicPr>
              <a:picLocks noChangeAspect="1"/>
            </p:cNvPicPr>
            <p:nvPr/>
          </p:nvPicPr>
          <p:blipFill>
            <a:blip r:embed="rId5"/>
            <a:stretch>
              <a:fillRect/>
            </a:stretch>
          </p:blipFill>
          <p:spPr>
            <a:xfrm>
              <a:off x="1828800" y="17473"/>
              <a:ext cx="711200" cy="520700"/>
            </a:xfrm>
            <a:prstGeom prst="rect">
              <a:avLst/>
            </a:prstGeom>
          </p:spPr>
        </p:pic>
        <p:pic>
          <p:nvPicPr>
            <p:cNvPr id="8" name="Picture 9">
              <a:extLst>
                <a:ext uri="{FF2B5EF4-FFF2-40B4-BE49-F238E27FC236}">
                  <a16:creationId xmlns:a16="http://schemas.microsoft.com/office/drawing/2014/main" id="{F4C58778-8776-0287-63BF-C8BAEC91919B}"/>
                </a:ext>
              </a:extLst>
            </p:cNvPr>
            <p:cNvPicPr>
              <a:picLocks noChangeAspect="1"/>
            </p:cNvPicPr>
            <p:nvPr/>
          </p:nvPicPr>
          <p:blipFill>
            <a:blip r:embed="rId6"/>
            <a:stretch>
              <a:fillRect/>
            </a:stretch>
          </p:blipFill>
          <p:spPr>
            <a:xfrm>
              <a:off x="0" y="0"/>
              <a:ext cx="1803400" cy="381000"/>
            </a:xfrm>
            <a:prstGeom prst="rect">
              <a:avLst/>
            </a:prstGeom>
          </p:spPr>
        </p:pic>
      </p:grpSp>
    </p:spTree>
    <p:extLst>
      <p:ext uri="{BB962C8B-B14F-4D97-AF65-F5344CB8AC3E}">
        <p14:creationId xmlns:p14="http://schemas.microsoft.com/office/powerpoint/2010/main" val="155475315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661743444"/>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72084831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2025</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grpSp>
        <p:nvGrpSpPr>
          <p:cNvPr id="4" name="Group 1">
            <a:extLst>
              <a:ext uri="{FF2B5EF4-FFF2-40B4-BE49-F238E27FC236}">
                <a16:creationId xmlns:a16="http://schemas.microsoft.com/office/drawing/2014/main" id="{F7470EC1-14BA-01F3-339B-094B5C36F291}"/>
              </a:ext>
            </a:extLst>
          </p:cNvPr>
          <p:cNvGrpSpPr>
            <a:grpSpLocks/>
          </p:cNvGrpSpPr>
          <p:nvPr/>
        </p:nvGrpSpPr>
        <p:grpSpPr>
          <a:xfrm>
            <a:off x="10351854" y="6381334"/>
            <a:ext cx="1771016" cy="391796"/>
            <a:chOff x="0" y="0"/>
            <a:chExt cx="2540000" cy="562197"/>
          </a:xfrm>
        </p:grpSpPr>
        <p:pic>
          <p:nvPicPr>
            <p:cNvPr id="5" name="Picture 7">
              <a:extLst>
                <a:ext uri="{FF2B5EF4-FFF2-40B4-BE49-F238E27FC236}">
                  <a16:creationId xmlns:a16="http://schemas.microsoft.com/office/drawing/2014/main" id="{2BCC1459-337C-B4AC-09D3-4BE897416702}"/>
                </a:ext>
              </a:extLst>
            </p:cNvPr>
            <p:cNvPicPr>
              <a:picLocks noChangeAspect="1"/>
            </p:cNvPicPr>
            <p:nvPr/>
          </p:nvPicPr>
          <p:blipFill>
            <a:blip r:embed="rId5"/>
            <a:stretch>
              <a:fillRect/>
            </a:stretch>
          </p:blipFill>
          <p:spPr>
            <a:xfrm>
              <a:off x="0" y="384397"/>
              <a:ext cx="1790700" cy="177800"/>
            </a:xfrm>
            <a:prstGeom prst="rect">
              <a:avLst/>
            </a:prstGeom>
          </p:spPr>
        </p:pic>
        <p:pic>
          <p:nvPicPr>
            <p:cNvPr id="6" name="Picture 8">
              <a:extLst>
                <a:ext uri="{FF2B5EF4-FFF2-40B4-BE49-F238E27FC236}">
                  <a16:creationId xmlns:a16="http://schemas.microsoft.com/office/drawing/2014/main" id="{F0892DD4-8121-A7D1-E65F-A5A90C37C7F1}"/>
                </a:ext>
              </a:extLst>
            </p:cNvPr>
            <p:cNvPicPr>
              <a:picLocks noChangeAspect="1"/>
            </p:cNvPicPr>
            <p:nvPr/>
          </p:nvPicPr>
          <p:blipFill>
            <a:blip r:embed="rId6"/>
            <a:stretch>
              <a:fillRect/>
            </a:stretch>
          </p:blipFill>
          <p:spPr>
            <a:xfrm>
              <a:off x="1828800" y="17473"/>
              <a:ext cx="711200" cy="520700"/>
            </a:xfrm>
            <a:prstGeom prst="rect">
              <a:avLst/>
            </a:prstGeom>
          </p:spPr>
        </p:pic>
        <p:pic>
          <p:nvPicPr>
            <p:cNvPr id="7" name="Picture 9">
              <a:extLst>
                <a:ext uri="{FF2B5EF4-FFF2-40B4-BE49-F238E27FC236}">
                  <a16:creationId xmlns:a16="http://schemas.microsoft.com/office/drawing/2014/main" id="{46BFFF1B-39C9-8CD9-718C-E177C5F41FCA}"/>
                </a:ext>
              </a:extLst>
            </p:cNvPr>
            <p:cNvPicPr>
              <a:picLocks noChangeAspect="1"/>
            </p:cNvPicPr>
            <p:nvPr/>
          </p:nvPicPr>
          <p:blipFill>
            <a:blip r:embed="rId7"/>
            <a:stretch>
              <a:fillRect/>
            </a:stretch>
          </p:blipFill>
          <p:spPr>
            <a:xfrm>
              <a:off x="0" y="0"/>
              <a:ext cx="1803400" cy="381000"/>
            </a:xfrm>
            <a:prstGeom prst="rect">
              <a:avLst/>
            </a:prstGeom>
          </p:spPr>
        </p:pic>
      </p:grpSp>
    </p:spTree>
    <p:extLst>
      <p:ext uri="{BB962C8B-B14F-4D97-AF65-F5344CB8AC3E}">
        <p14:creationId xmlns:p14="http://schemas.microsoft.com/office/powerpoint/2010/main" val="1020356013"/>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3">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09128" y="2078008"/>
              <a:ext cx="145592" cy="265142"/>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2012-2024</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4110213" y="190404"/>
            <a:ext cx="7813357" cy="584775"/>
          </a:xfrm>
          <a:prstGeom prst="rect">
            <a:avLst/>
          </a:prstGeom>
          <a:noFill/>
        </p:spPr>
        <p:txBody>
          <a:bodyPr wrap="none" rtlCol="1">
            <a:spAutoFit/>
          </a:bodyPr>
          <a:lstStyle/>
          <a:p>
            <a:pPr marR="0" indent="0" fontAlgn="auto">
              <a:lnSpc>
                <a:spcPct val="100000"/>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grpSp>
        <p:nvGrpSpPr>
          <p:cNvPr id="4" name="Group 1">
            <a:extLst>
              <a:ext uri="{FF2B5EF4-FFF2-40B4-BE49-F238E27FC236}">
                <a16:creationId xmlns:a16="http://schemas.microsoft.com/office/drawing/2014/main" id="{D5EA2EAC-CC18-67AE-6383-173E98A24699}"/>
              </a:ext>
            </a:extLst>
          </p:cNvPr>
          <p:cNvGrpSpPr>
            <a:grpSpLocks/>
          </p:cNvGrpSpPr>
          <p:nvPr/>
        </p:nvGrpSpPr>
        <p:grpSpPr>
          <a:xfrm>
            <a:off x="10417891" y="6466203"/>
            <a:ext cx="1771016" cy="391796"/>
            <a:chOff x="0" y="0"/>
            <a:chExt cx="2540000" cy="562197"/>
          </a:xfrm>
        </p:grpSpPr>
        <p:pic>
          <p:nvPicPr>
            <p:cNvPr id="13" name="Picture 7">
              <a:extLst>
                <a:ext uri="{FF2B5EF4-FFF2-40B4-BE49-F238E27FC236}">
                  <a16:creationId xmlns:a16="http://schemas.microsoft.com/office/drawing/2014/main" id="{64DCDB50-C9A9-9B1D-DEA6-F66B1145068C}"/>
                </a:ext>
              </a:extLst>
            </p:cNvPr>
            <p:cNvPicPr>
              <a:picLocks noChangeAspect="1"/>
            </p:cNvPicPr>
            <p:nvPr/>
          </p:nvPicPr>
          <p:blipFill>
            <a:blip r:embed="rId4"/>
            <a:stretch>
              <a:fillRect/>
            </a:stretch>
          </p:blipFill>
          <p:spPr>
            <a:xfrm>
              <a:off x="0" y="384397"/>
              <a:ext cx="1790700" cy="177800"/>
            </a:xfrm>
            <a:prstGeom prst="rect">
              <a:avLst/>
            </a:prstGeom>
          </p:spPr>
        </p:pic>
        <p:pic>
          <p:nvPicPr>
            <p:cNvPr id="14" name="Picture 8">
              <a:extLst>
                <a:ext uri="{FF2B5EF4-FFF2-40B4-BE49-F238E27FC236}">
                  <a16:creationId xmlns:a16="http://schemas.microsoft.com/office/drawing/2014/main" id="{3992DC97-2958-BA3F-2B40-71836BF1ECC1}"/>
                </a:ext>
              </a:extLst>
            </p:cNvPr>
            <p:cNvPicPr>
              <a:picLocks noChangeAspect="1"/>
            </p:cNvPicPr>
            <p:nvPr/>
          </p:nvPicPr>
          <p:blipFill>
            <a:blip r:embed="rId5"/>
            <a:stretch>
              <a:fillRect/>
            </a:stretch>
          </p:blipFill>
          <p:spPr>
            <a:xfrm>
              <a:off x="1828800" y="17473"/>
              <a:ext cx="711200" cy="520700"/>
            </a:xfrm>
            <a:prstGeom prst="rect">
              <a:avLst/>
            </a:prstGeom>
          </p:spPr>
        </p:pic>
        <p:pic>
          <p:nvPicPr>
            <p:cNvPr id="15" name="Picture 9">
              <a:extLst>
                <a:ext uri="{FF2B5EF4-FFF2-40B4-BE49-F238E27FC236}">
                  <a16:creationId xmlns:a16="http://schemas.microsoft.com/office/drawing/2014/main" id="{A8DF45CD-3A6D-1D69-29C9-451273BB0E0C}"/>
                </a:ext>
              </a:extLst>
            </p:cNvPr>
            <p:cNvPicPr>
              <a:picLocks noChangeAspect="1"/>
            </p:cNvPicPr>
            <p:nvPr/>
          </p:nvPicPr>
          <p:blipFill>
            <a:blip r:embed="rId6"/>
            <a:stretch>
              <a:fillRect/>
            </a:stretch>
          </p:blipFill>
          <p:spPr>
            <a:xfrm>
              <a:off x="0" y="0"/>
              <a:ext cx="1803400" cy="381000"/>
            </a:xfrm>
            <a:prstGeom prst="rect">
              <a:avLst/>
            </a:prstGeom>
          </p:spPr>
        </p:pic>
      </p:grpSp>
      <p:pic>
        <p:nvPicPr>
          <p:cNvPr id="17" name="תמונה 16">
            <a:extLst>
              <a:ext uri="{FF2B5EF4-FFF2-40B4-BE49-F238E27FC236}">
                <a16:creationId xmlns:a16="http://schemas.microsoft.com/office/drawing/2014/main" id="{9CA9739D-B7F2-3746-B8E2-1DF74098B17D}"/>
              </a:ext>
            </a:extLst>
          </p:cNvPr>
          <p:cNvPicPr>
            <a:picLocks noChangeAspect="1"/>
          </p:cNvPicPr>
          <p:nvPr/>
        </p:nvPicPr>
        <p:blipFill>
          <a:blip r:embed="rId7"/>
          <a:stretch>
            <a:fillRect/>
          </a:stretch>
        </p:blipFill>
        <p:spPr>
          <a:xfrm>
            <a:off x="6260312" y="1718041"/>
            <a:ext cx="5663260" cy="42592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5983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5670191" y="162532"/>
            <a:ext cx="6104740" cy="584775"/>
          </a:xfrm>
          <a:prstGeom prst="rect">
            <a:avLst/>
          </a:prstGeom>
          <a:noFill/>
        </p:spPr>
        <p:txBody>
          <a:bodyPr wrap="square" rtlCol="0">
            <a:spAutoFit/>
          </a:bodyPr>
          <a:lstStyle/>
          <a:p>
            <a:pPr lvl="0">
              <a:defRPr/>
            </a:pPr>
            <a:r>
              <a:rPr lang="he-IL" sz="3200" b="1" dirty="0">
                <a:solidFill>
                  <a:srgbClr val="002060"/>
                </a:solidFill>
                <a:latin typeface="Assistant" pitchFamily="2" charset="-79"/>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1203767" y="266217"/>
            <a:ext cx="11227442" cy="6429251"/>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552338" y="2644261"/>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779122"/>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115926" y="5011627"/>
            <a:ext cx="2231823" cy="793243"/>
          </a:xfrm>
          <a:prstGeom prst="rect">
            <a:avLst/>
          </a:prstGeom>
        </p:spPr>
      </p:pic>
      <p:grpSp>
        <p:nvGrpSpPr>
          <p:cNvPr id="2" name="Group 1">
            <a:extLst>
              <a:ext uri="{FF2B5EF4-FFF2-40B4-BE49-F238E27FC236}">
                <a16:creationId xmlns:a16="http://schemas.microsoft.com/office/drawing/2014/main" id="{AE0687DD-EB1F-928C-8B8E-E26B037433CC}"/>
              </a:ext>
            </a:extLst>
          </p:cNvPr>
          <p:cNvGrpSpPr>
            <a:grpSpLocks/>
          </p:cNvGrpSpPr>
          <p:nvPr/>
        </p:nvGrpSpPr>
        <p:grpSpPr>
          <a:xfrm>
            <a:off x="10420984" y="6449832"/>
            <a:ext cx="1771016" cy="391796"/>
            <a:chOff x="0" y="0"/>
            <a:chExt cx="2540000" cy="562197"/>
          </a:xfrm>
        </p:grpSpPr>
        <p:pic>
          <p:nvPicPr>
            <p:cNvPr id="4" name="Picture 7">
              <a:extLst>
                <a:ext uri="{FF2B5EF4-FFF2-40B4-BE49-F238E27FC236}">
                  <a16:creationId xmlns:a16="http://schemas.microsoft.com/office/drawing/2014/main" id="{2B563943-5D96-60C0-44F1-7369C5618904}"/>
                </a:ext>
              </a:extLst>
            </p:cNvPr>
            <p:cNvPicPr>
              <a:picLocks noChangeAspect="1"/>
            </p:cNvPicPr>
            <p:nvPr/>
          </p:nvPicPr>
          <p:blipFill>
            <a:blip r:embed="rId6"/>
            <a:stretch>
              <a:fillRect/>
            </a:stretch>
          </p:blipFill>
          <p:spPr>
            <a:xfrm>
              <a:off x="0" y="384397"/>
              <a:ext cx="1790700" cy="177800"/>
            </a:xfrm>
            <a:prstGeom prst="rect">
              <a:avLst/>
            </a:prstGeom>
          </p:spPr>
        </p:pic>
        <p:pic>
          <p:nvPicPr>
            <p:cNvPr id="5" name="Picture 8">
              <a:extLst>
                <a:ext uri="{FF2B5EF4-FFF2-40B4-BE49-F238E27FC236}">
                  <a16:creationId xmlns:a16="http://schemas.microsoft.com/office/drawing/2014/main" id="{EBAC807B-2FC4-8684-15C9-952B78A5DBDB}"/>
                </a:ext>
              </a:extLst>
            </p:cNvPr>
            <p:cNvPicPr>
              <a:picLocks noChangeAspect="1"/>
            </p:cNvPicPr>
            <p:nvPr/>
          </p:nvPicPr>
          <p:blipFill>
            <a:blip r:embed="rId7"/>
            <a:stretch>
              <a:fillRect/>
            </a:stretch>
          </p:blipFill>
          <p:spPr>
            <a:xfrm>
              <a:off x="1828800" y="17473"/>
              <a:ext cx="711200" cy="520700"/>
            </a:xfrm>
            <a:prstGeom prst="rect">
              <a:avLst/>
            </a:prstGeom>
          </p:spPr>
        </p:pic>
        <p:pic>
          <p:nvPicPr>
            <p:cNvPr id="6" name="Picture 9">
              <a:extLst>
                <a:ext uri="{FF2B5EF4-FFF2-40B4-BE49-F238E27FC236}">
                  <a16:creationId xmlns:a16="http://schemas.microsoft.com/office/drawing/2014/main" id="{FEB3EEAA-7A6D-F778-F487-6B8AFF9942DD}"/>
                </a:ext>
              </a:extLst>
            </p:cNvPr>
            <p:cNvPicPr>
              <a:picLocks noChangeAspect="1"/>
            </p:cNvPicPr>
            <p:nvPr/>
          </p:nvPicPr>
          <p:blipFill>
            <a:blip r:embed="rId8"/>
            <a:stretch>
              <a:fillRect/>
            </a:stretch>
          </p:blipFill>
          <p:spPr>
            <a:xfrm>
              <a:off x="0" y="0"/>
              <a:ext cx="1803400" cy="381000"/>
            </a:xfrm>
            <a:prstGeom prst="rect">
              <a:avLst/>
            </a:prstGeom>
          </p:spPr>
        </p:pic>
      </p:grpSp>
    </p:spTree>
    <p:extLst>
      <p:ext uri="{BB962C8B-B14F-4D97-AF65-F5344CB8AC3E}">
        <p14:creationId xmlns:p14="http://schemas.microsoft.com/office/powerpoint/2010/main" val="356996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56">
            <a:extLst>
              <a:ext uri="{FF2B5EF4-FFF2-40B4-BE49-F238E27FC236}">
                <a16:creationId xmlns:a16="http://schemas.microsoft.com/office/drawing/2014/main" id="{2FFE90E0-6886-85BC-2EEE-BA2696D73385}"/>
              </a:ext>
            </a:extLst>
          </p:cNvPr>
          <p:cNvPicPr>
            <a:picLocks noChangeAspect="1"/>
          </p:cNvPicPr>
          <p:nvPr/>
        </p:nvPicPr>
        <p:blipFill>
          <a:blip r:embed="rId2">
            <a:alphaModFix/>
            <a:duotone>
              <a:prstClr val="black"/>
              <a:srgbClr val="002060">
                <a:tint val="45000"/>
                <a:satMod val="400000"/>
              </a:srgbClr>
            </a:duotone>
          </a:blip>
          <a:stretch>
            <a:fillRect/>
          </a:stretch>
        </p:blipFill>
        <p:spPr>
          <a:xfrm>
            <a:off x="-379706" y="184941"/>
            <a:ext cx="11704320" cy="79115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xt 3">
            <a:extLst>
              <a:ext uri="{FF2B5EF4-FFF2-40B4-BE49-F238E27FC236}">
                <a16:creationId xmlns:a16="http://schemas.microsoft.com/office/drawing/2014/main" id="{5BDC36F2-0B8D-4241-A254-A3A765B32305}"/>
              </a:ext>
            </a:extLst>
          </p:cNvPr>
          <p:cNvSpPr/>
          <p:nvPr/>
        </p:nvSpPr>
        <p:spPr>
          <a:xfrm>
            <a:off x="6089251" y="4651289"/>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437681" y="5077334"/>
            <a:ext cx="5064471"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a:t>
            </a:r>
            <a:r>
              <a:rPr kumimoji="0" lang="he-IL"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שיתוף נתונים </a:t>
            </a:r>
            <a:r>
              <a:rPr kumimoji="0" lang="he-IL" b="1"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כבסיס לגיבוש תמונת מצב </a:t>
            </a:r>
            <a:r>
              <a:rPr kumimoji="0" lang="he-IL"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04330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02279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022793"/>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2000" b="1" i="0" u="none" strike="noStrike" kern="1200" cap="none" spc="0" normalizeH="0" baseline="0" noProof="0" dirty="0">
              <a:ln>
                <a:noFill/>
              </a:ln>
              <a:solidFill>
                <a:srgbClr val="0F6FC6"/>
              </a:solidFill>
              <a:effectLst/>
              <a:uLnTx/>
              <a:uFillTx/>
              <a:latin typeface="Assistant" pitchFamily="2" charset="-79"/>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671534" y="186443"/>
            <a:ext cx="8423344" cy="1316832"/>
          </a:xfrm>
          <a:prstGeom prst="rect">
            <a:avLst/>
          </a:prstGeom>
          <a:noFill/>
          <a:ln/>
        </p:spPr>
        <p:txBody>
          <a:bodyPr wrap="none" rtlCol="0" anchor="t"/>
          <a:lstStyle/>
          <a:p>
            <a:pPr marR="0" indent="0" fontAlgn="auto">
              <a:lnSpc>
                <a:spcPts val="4765"/>
              </a:lnSpc>
              <a:spcBef>
                <a:spcPts val="0"/>
              </a:spcBef>
              <a:spcAft>
                <a:spcPts val="0"/>
              </a:spcAft>
              <a:buClrTx/>
              <a:buSzTx/>
              <a:buFontTx/>
              <a:buNone/>
              <a:tabLst/>
              <a:defRPr/>
            </a:pPr>
            <a:r>
              <a:rPr lang="he-IL" sz="3600" b="1" dirty="0">
                <a:solidFill>
                  <a:srgbClr val="002060"/>
                </a:solidFill>
                <a:latin typeface="Assistant" pitchFamily="2" charset="-79"/>
                <a:cs typeface="Assistant" pitchFamily="2" charset="-79"/>
              </a:rPr>
              <a:t>שינוי המצב מושתת</a:t>
            </a:r>
            <a:r>
              <a:rPr lang="en-US" sz="3600" b="1" dirty="0">
                <a:solidFill>
                  <a:srgbClr val="002060"/>
                </a:solidFill>
                <a:latin typeface="Assistant" pitchFamily="2" charset="-79"/>
                <a:cs typeface="Assistant" pitchFamily="2" charset="-79"/>
              </a:rPr>
              <a:t> </a:t>
            </a:r>
            <a:r>
              <a:rPr lang="he-IL" sz="3600" b="1" dirty="0">
                <a:solidFill>
                  <a:srgbClr val="002060"/>
                </a:solidFill>
                <a:latin typeface="Assistant" pitchFamily="2" charset="-79"/>
                <a:cs typeface="Assistant" pitchFamily="2" charset="-79"/>
              </a:rPr>
              <a:t>על שלושה מהלכים</a:t>
            </a:r>
            <a:endParaRPr lang="en-US" sz="3600" b="1" dirty="0">
              <a:solidFill>
                <a:srgbClr val="002060"/>
              </a:solidFill>
              <a:latin typeface="Assistant" pitchFamily="2" charset="-79"/>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0932395" y="58005"/>
            <a:ext cx="1176476" cy="1018311"/>
          </a:xfrm>
          <a:prstGeom prst="rect">
            <a:avLst/>
          </a:prstGeom>
        </p:spPr>
      </p:pic>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397968"/>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7466806" y="1998655"/>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19918"/>
          <a:stretch/>
        </p:blipFill>
        <p:spPr>
          <a:xfrm>
            <a:off x="3573339" y="1998655"/>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13884"/>
          <a:stretch/>
        </p:blipFill>
        <p:spPr>
          <a:xfrm rot="20683477">
            <a:off x="8544901" y="4511941"/>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4441016"/>
            <a:ext cx="1467333"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600" b="1" i="0" u="none" strike="noStrike" kern="1200" cap="none" spc="0" normalizeH="0" baseline="0" noProof="0" dirty="0">
              <a:ln>
                <a:noFill/>
              </a:ln>
              <a:solidFill>
                <a:prstClr val="black"/>
              </a:solidFill>
              <a:effectLst/>
              <a:uLnTx/>
              <a:uFillTx/>
              <a:latin typeface="Calibri"/>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10" cstate="hq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b="22815"/>
          <a:stretch/>
        </p:blipFill>
        <p:spPr>
          <a:xfrm>
            <a:off x="11021436" y="1963234"/>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37571" y="2411322"/>
            <a:ext cx="32985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7824487" y="2414494"/>
            <a:ext cx="3196950"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317042" y="2411322"/>
            <a:ext cx="337681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rPr>
              <a:t>תפיסה הוליסטית מבוססת דאטה לטובת </a:t>
            </a:r>
            <a:r>
              <a:rPr kumimoji="0" lang="he-IL" b="1" i="0" u="none" strike="noStrike" kern="1200" cap="none" spc="0" normalizeH="0" baseline="0" noProof="0" dirty="0">
                <a:ln>
                  <a:noFill/>
                </a:ln>
                <a:solidFill>
                  <a:prstClr val="black"/>
                </a:solidFill>
                <a:effectLst/>
                <a:uLnTx/>
                <a:uFillTx/>
                <a:latin typeface="Assistant" pitchFamily="2" charset="-79"/>
                <a:cs typeface="Assistant" pitchFamily="2" charset="-79"/>
              </a:rPr>
              <a:t>התאמת המערכת והשירותים לצרכי האדם </a:t>
            </a:r>
            <a:r>
              <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b="0" i="0" u="none" strike="noStrike" kern="1200" cap="none" spc="0" normalizeH="0" baseline="0" noProof="0" dirty="0">
              <a:ln>
                <a:noFill/>
              </a:ln>
              <a:solidFill>
                <a:prstClr val="black"/>
              </a:solidFill>
              <a:effectLst/>
              <a:uLnTx/>
              <a:uFillTx/>
              <a:latin typeface="Assistant" pitchFamily="2" charset="-79"/>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 name="מלבן: פינות מעוגלות 1">
            <a:extLst>
              <a:ext uri="{FF2B5EF4-FFF2-40B4-BE49-F238E27FC236}">
                <a16:creationId xmlns:a16="http://schemas.microsoft.com/office/drawing/2014/main" id="{CB2DC418-C6BE-1B20-81B9-B2AF1D7272AE}"/>
              </a:ext>
            </a:extLst>
          </p:cNvPr>
          <p:cNvSpPr/>
          <p:nvPr/>
        </p:nvSpPr>
        <p:spPr>
          <a:xfrm>
            <a:off x="437559" y="1860138"/>
            <a:ext cx="3832101" cy="2170374"/>
          </a:xfrm>
          <a:prstGeom prst="round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sz="2000"/>
          </a:p>
        </p:txBody>
      </p:sp>
      <p:grpSp>
        <p:nvGrpSpPr>
          <p:cNvPr id="3" name="Group 1">
            <a:extLst>
              <a:ext uri="{FF2B5EF4-FFF2-40B4-BE49-F238E27FC236}">
                <a16:creationId xmlns:a16="http://schemas.microsoft.com/office/drawing/2014/main" id="{61376A21-938D-FF66-7759-8DC7D4006DDD}"/>
              </a:ext>
            </a:extLst>
          </p:cNvPr>
          <p:cNvGrpSpPr>
            <a:grpSpLocks/>
          </p:cNvGrpSpPr>
          <p:nvPr/>
        </p:nvGrpSpPr>
        <p:grpSpPr>
          <a:xfrm>
            <a:off x="10420984" y="6466204"/>
            <a:ext cx="1771016" cy="391796"/>
            <a:chOff x="0" y="0"/>
            <a:chExt cx="2540000" cy="562197"/>
          </a:xfrm>
        </p:grpSpPr>
        <p:pic>
          <p:nvPicPr>
            <p:cNvPr id="9" name="Picture 7">
              <a:extLst>
                <a:ext uri="{FF2B5EF4-FFF2-40B4-BE49-F238E27FC236}">
                  <a16:creationId xmlns:a16="http://schemas.microsoft.com/office/drawing/2014/main" id="{641AF389-4D3B-9079-9392-0ED5B4DE61CC}"/>
                </a:ext>
              </a:extLst>
            </p:cNvPr>
            <p:cNvPicPr>
              <a:picLocks noChangeAspect="1"/>
            </p:cNvPicPr>
            <p:nvPr/>
          </p:nvPicPr>
          <p:blipFill>
            <a:blip r:embed="rId12"/>
            <a:stretch>
              <a:fillRect/>
            </a:stretch>
          </p:blipFill>
          <p:spPr>
            <a:xfrm>
              <a:off x="0" y="384397"/>
              <a:ext cx="1790700" cy="177800"/>
            </a:xfrm>
            <a:prstGeom prst="rect">
              <a:avLst/>
            </a:prstGeom>
          </p:spPr>
        </p:pic>
        <p:pic>
          <p:nvPicPr>
            <p:cNvPr id="10" name="Picture 8">
              <a:extLst>
                <a:ext uri="{FF2B5EF4-FFF2-40B4-BE49-F238E27FC236}">
                  <a16:creationId xmlns:a16="http://schemas.microsoft.com/office/drawing/2014/main" id="{8EC74344-84C9-ADE7-546F-1E88BECF2FE8}"/>
                </a:ext>
              </a:extLst>
            </p:cNvPr>
            <p:cNvPicPr>
              <a:picLocks noChangeAspect="1"/>
            </p:cNvPicPr>
            <p:nvPr/>
          </p:nvPicPr>
          <p:blipFill>
            <a:blip r:embed="rId13"/>
            <a:stretch>
              <a:fillRect/>
            </a:stretch>
          </p:blipFill>
          <p:spPr>
            <a:xfrm>
              <a:off x="1828800" y="17473"/>
              <a:ext cx="711200" cy="520700"/>
            </a:xfrm>
            <a:prstGeom prst="rect">
              <a:avLst/>
            </a:prstGeom>
          </p:spPr>
        </p:pic>
        <p:pic>
          <p:nvPicPr>
            <p:cNvPr id="12" name="Picture 9">
              <a:extLst>
                <a:ext uri="{FF2B5EF4-FFF2-40B4-BE49-F238E27FC236}">
                  <a16:creationId xmlns:a16="http://schemas.microsoft.com/office/drawing/2014/main" id="{86C13ACF-46FD-F192-F759-AD19465FD864}"/>
                </a:ext>
              </a:extLst>
            </p:cNvPr>
            <p:cNvPicPr>
              <a:picLocks noChangeAspect="1"/>
            </p:cNvPicPr>
            <p:nvPr/>
          </p:nvPicPr>
          <p:blipFill>
            <a:blip r:embed="rId14"/>
            <a:stretch>
              <a:fillRect/>
            </a:stretch>
          </p:blipFill>
          <p:spPr>
            <a:xfrm>
              <a:off x="0" y="0"/>
              <a:ext cx="1803400" cy="381000"/>
            </a:xfrm>
            <a:prstGeom prst="rect">
              <a:avLst/>
            </a:prstGeom>
          </p:spPr>
        </p:pic>
      </p:grpSp>
      <p:pic>
        <p:nvPicPr>
          <p:cNvPr id="15" name="Picture 3" descr="קובץ:Ministry of Labor, Social Affairs and Social Services ...">
            <a:extLst>
              <a:ext uri="{FF2B5EF4-FFF2-40B4-BE49-F238E27FC236}">
                <a16:creationId xmlns:a16="http://schemas.microsoft.com/office/drawing/2014/main" id="{2C9F4257-B162-2717-B320-DF90C0554D16}"/>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153847" y="6401709"/>
            <a:ext cx="1446914" cy="394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689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80849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42125" y="167943"/>
            <a:ext cx="5871983" cy="579646"/>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rPr>
              <a:t>אתגרים</a:t>
            </a:r>
            <a:r>
              <a:rPr kumimoji="0" lang="he-IL" sz="3200" b="0" i="0" u="none" strike="noStrike" kern="1200" cap="none" spc="0" normalizeH="0" baseline="0" noProof="0" dirty="0">
                <a:ln>
                  <a:noFill/>
                </a:ln>
                <a:solidFill>
                  <a:srgbClr val="002060"/>
                </a:solidFill>
                <a:effectLst/>
                <a:uLnTx/>
                <a:uFillTx/>
                <a:latin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ea typeface="+mn-ea"/>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ea typeface="+mn-ea"/>
              </a:rPr>
              <a:t>האתגרים המרכזיים: </a:t>
            </a:r>
            <a:endParaRPr kumimoji="0" lang="en-US" sz="1600" b="1" i="0" u="none" strike="noStrike" kern="1200" cap="none" spc="0" normalizeH="0" baseline="0" noProof="0" dirty="0">
              <a:ln>
                <a:noFill/>
              </a:ln>
              <a:solidFill>
                <a:prstClr val="white"/>
              </a:solidFill>
              <a:effectLst/>
              <a:uLnTx/>
              <a:uFillTx/>
              <a:ea typeface="+mn-ea"/>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01661" y="3419619"/>
            <a:ext cx="928459" cy="369332"/>
          </a:xfrm>
          <a:prstGeom prst="rect">
            <a:avLst/>
          </a:prstGeom>
          <a:noFill/>
        </p:spPr>
        <p:txBody>
          <a:bodyPr wrap="none" rtlCol="1">
            <a:spAutoFit/>
          </a:bodyPr>
          <a:lstStyle/>
          <a:p>
            <a:r>
              <a:rPr lang="he-IL" b="1" dirty="0"/>
              <a:t>סל אישי</a:t>
            </a:r>
          </a:p>
        </p:txBody>
      </p:sp>
    </p:spTree>
    <p:extLst>
      <p:ext uri="{BB962C8B-B14F-4D97-AF65-F5344CB8AC3E}">
        <p14:creationId xmlns:p14="http://schemas.microsoft.com/office/powerpoint/2010/main" val="480413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369913" y="1577540"/>
            <a:ext cx="213552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674" y="6281233"/>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3877320739"/>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2891969" y="117353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פנינה לוי, </a:t>
            </a: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(מייצגת כ-20%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69825"/>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בדידות: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תלות בבן: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778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האם הסל שפנינה צריכה לקבל זהה לכ200,000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מטפלת?</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טיטולים?</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כסף?</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שירותי כביסה?</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754115" y="106225"/>
            <a:ext cx="6096000" cy="156966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מקרה בוחן </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endParaRPr kumimoji="0" lang="en-IL"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מבוסס על סיפור אמיתי </a:t>
            </a:r>
            <a:br>
              <a:rPr kumimoji="0" lang="en-US"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r>
              <a:rPr kumimoji="0" lang="he-IL" sz="14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771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cs typeface="Arial" panose="020B060402020202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1015663"/>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תעסוקה</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83848"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התנדבות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ניקיון</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בריכה/</a:t>
            </a:r>
            <a:r>
              <a:rPr kumimoji="0" lang="he-IL" sz="1800" b="1" i="0" u="none" strike="noStrike" kern="1200" cap="none" spc="0" normalizeH="0" baseline="0" noProof="0" dirty="0" err="1">
                <a:ln>
                  <a:noFill/>
                </a:ln>
                <a:solidFill>
                  <a:srgbClr val="1176BC"/>
                </a:solidFill>
                <a:effectLst/>
                <a:uLnTx/>
                <a:uFillTx/>
                <a:latin typeface="Arial" panose="020B0604020202020204" pitchFamily="34" charset="0"/>
                <a:cs typeface="Arial" panose="020B0604020202020204" pitchFamily="34" charset="0"/>
              </a:rPr>
              <a:t>חד"כ</a:t>
            </a:r>
            <a:endPar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סל מותאם אישית </a:t>
            </a:r>
            <a:br>
              <a:rPr kumimoji="0" lang="he-IL" sz="3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מבוסס נתונים</a:t>
            </a:r>
            <a:b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3914798" y="190187"/>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ea typeface="Calibri" panose="020F0502020204030204" pitchFamily="34" charset="0"/>
                <a:cs typeface="Arial" panose="020B0604020202020204" pitchFamily="34" charset="0"/>
              </a:rPr>
              <a:t>סל שירותים אישי </a:t>
            </a:r>
            <a:r>
              <a:rPr kumimoji="0" lang="he-IL"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קבוצה 6">
            <a:extLst>
              <a:ext uri="{FF2B5EF4-FFF2-40B4-BE49-F238E27FC236}">
                <a16:creationId xmlns:a16="http://schemas.microsoft.com/office/drawing/2014/main" id="{205AC1E1-9241-7631-B247-525587F56497}"/>
              </a:ext>
            </a:extLst>
          </p:cNvPr>
          <p:cNvGrpSpPr/>
          <p:nvPr/>
        </p:nvGrpSpPr>
        <p:grpSpPr>
          <a:xfrm>
            <a:off x="3631520" y="1843236"/>
            <a:ext cx="4719759" cy="4484662"/>
            <a:chOff x="3296538" y="2278633"/>
            <a:chExt cx="4719759" cy="4484662"/>
          </a:xfrm>
        </p:grpSpPr>
        <p:sp>
          <p:nvSpPr>
            <p:cNvPr id="9" name="אליפסה 8">
              <a:extLst>
                <a:ext uri="{FF2B5EF4-FFF2-40B4-BE49-F238E27FC236}">
                  <a16:creationId xmlns:a16="http://schemas.microsoft.com/office/drawing/2014/main" id="{C71533EF-6755-7268-6CA5-79C13828B470}"/>
                </a:ext>
              </a:extLst>
            </p:cNvPr>
            <p:cNvSpPr/>
            <p:nvPr/>
          </p:nvSpPr>
          <p:spPr>
            <a:xfrm>
              <a:off x="3296538" y="2278633"/>
              <a:ext cx="4636454" cy="4484662"/>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grpSp>
          <p:nvGrpSpPr>
            <p:cNvPr id="5" name="קבוצה 4">
              <a:extLst>
                <a:ext uri="{FF2B5EF4-FFF2-40B4-BE49-F238E27FC236}">
                  <a16:creationId xmlns:a16="http://schemas.microsoft.com/office/drawing/2014/main" id="{19599156-C12E-F359-7A91-16E801C4A8D3}"/>
                </a:ext>
              </a:extLst>
            </p:cNvPr>
            <p:cNvGrpSpPr/>
            <p:nvPr/>
          </p:nvGrpSpPr>
          <p:grpSpPr>
            <a:xfrm>
              <a:off x="3465203" y="2383736"/>
              <a:ext cx="4551094" cy="4186983"/>
              <a:chOff x="3465203" y="1770667"/>
              <a:chExt cx="4551094" cy="4186983"/>
            </a:xfrm>
          </p:grpSpPr>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מועדון חברתי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רווחה מרחוק</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טכנולוגית עזר</a:t>
                </a: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משפחתי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התעמלות בפארק</a:t>
                </a: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תזונה ובריאות</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תעסוקה</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38472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9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התנדבות</a:t>
                </a: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פיננסי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ניקיון</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בריכה/</a:t>
                </a:r>
                <a:r>
                  <a:rPr kumimoji="0" lang="he-IL" sz="1800" b="1" i="0" u="none" strike="noStrike" kern="1200" cap="none" spc="0" normalizeH="0" baseline="0" noProof="0" dirty="0" err="1">
                    <a:ln>
                      <a:noFill/>
                    </a:ln>
                    <a:solidFill>
                      <a:srgbClr val="1176BC"/>
                    </a:solidFill>
                    <a:effectLst/>
                    <a:uLnTx/>
                    <a:uFillTx/>
                    <a:latin typeface="Assistant" pitchFamily="2" charset="-79"/>
                    <a:ea typeface="+mn-ea"/>
                    <a:cs typeface="Assistant" pitchFamily="2" charset="-79"/>
                  </a:rPr>
                  <a:t>חד"כ</a:t>
                </a:r>
                <a:endPar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a:ext>
                </a:extLst>
              </a:blip>
              <a:srcRect/>
              <a:stretch/>
            </p:blipFill>
            <p:spPr>
              <a:xfrm>
                <a:off x="5118605" y="3182475"/>
                <a:ext cx="948286" cy="1301344"/>
              </a:xfrm>
              <a:prstGeom prst="rect">
                <a:avLst/>
              </a:prstGeom>
            </p:spPr>
          </p:pic>
        </p:grpSp>
      </p:grpSp>
      <p:sp>
        <p:nvSpPr>
          <p:cNvPr id="47" name="צורה חופשית: צורה 26">
            <a:extLst>
              <a:ext uri="{FF2B5EF4-FFF2-40B4-BE49-F238E27FC236}">
                <a16:creationId xmlns:a16="http://schemas.microsoft.com/office/drawing/2014/main" id="{FC9996F3-9B6D-F6D5-51F8-8D581C3E4D72}"/>
              </a:ext>
            </a:extLst>
          </p:cNvPr>
          <p:cNvSpPr/>
          <p:nvPr/>
        </p:nvSpPr>
        <p:spPr>
          <a:xfrm>
            <a:off x="0" y="915344"/>
            <a:ext cx="12192000" cy="67449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מבוססת נתונים ומותאמת אישית לבחירת האזרח הוותיק</a:t>
            </a:r>
          </a:p>
        </p:txBody>
      </p:sp>
      <p:sp>
        <p:nvSpPr>
          <p:cNvPr id="49" name="מלבן 48"/>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מלבן 7">
            <a:extLst>
              <a:ext uri="{FF2B5EF4-FFF2-40B4-BE49-F238E27FC236}">
                <a16:creationId xmlns:a16="http://schemas.microsoft.com/office/drawing/2014/main" id="{EFD8658B-C82C-9686-9481-F47ED4BE88DF}"/>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הפתרון והשינוי – האדם במרכז</a:t>
            </a:r>
            <a:endParaRPr kumimoji="0" lang="en-IL" sz="35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 name="Picture 26">
            <a:extLst>
              <a:ext uri="{FF2B5EF4-FFF2-40B4-BE49-F238E27FC236}">
                <a16:creationId xmlns:a16="http://schemas.microsoft.com/office/drawing/2014/main" id="{866B9D71-0940-FA7B-440A-7F94E52E11AC}"/>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4" name="Group 1">
            <a:extLst>
              <a:ext uri="{FF2B5EF4-FFF2-40B4-BE49-F238E27FC236}">
                <a16:creationId xmlns:a16="http://schemas.microsoft.com/office/drawing/2014/main" id="{A96DB17D-E054-0D6C-6254-BEDC4DD19232}"/>
              </a:ext>
            </a:extLst>
          </p:cNvPr>
          <p:cNvGrpSpPr/>
          <p:nvPr/>
        </p:nvGrpSpPr>
        <p:grpSpPr>
          <a:xfrm>
            <a:off x="240146" y="6459128"/>
            <a:ext cx="1523237" cy="323730"/>
            <a:chOff x="304171" y="6108306"/>
            <a:chExt cx="2542153" cy="560355"/>
          </a:xfrm>
        </p:grpSpPr>
        <p:pic>
          <p:nvPicPr>
            <p:cNvPr id="36" name="Picture 3">
              <a:extLst>
                <a:ext uri="{FF2B5EF4-FFF2-40B4-BE49-F238E27FC236}">
                  <a16:creationId xmlns:a16="http://schemas.microsoft.com/office/drawing/2014/main" id="{1B63FC3C-B6E7-39CD-DE37-221CF61D4ED9}"/>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37" name="Picture 4">
              <a:extLst>
                <a:ext uri="{FF2B5EF4-FFF2-40B4-BE49-F238E27FC236}">
                  <a16:creationId xmlns:a16="http://schemas.microsoft.com/office/drawing/2014/main" id="{FA5C8959-6BE3-4526-BC06-347D483F8442}"/>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38" name="Picture 5">
              <a:extLst>
                <a:ext uri="{FF2B5EF4-FFF2-40B4-BE49-F238E27FC236}">
                  <a16:creationId xmlns:a16="http://schemas.microsoft.com/office/drawing/2014/main" id="{3E6CB641-CF34-5C08-7803-330EFBCF1DAB}"/>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953164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B065D-8C1E-CE78-106A-031D09DC419B}"/>
            </a:ext>
          </a:extLst>
        </p:cNvPr>
        <p:cNvGrpSpPr/>
        <p:nvPr/>
      </p:nvGrpSpPr>
      <p:grpSpPr>
        <a:xfrm>
          <a:off x="0" y="0"/>
          <a:ext cx="0" cy="0"/>
          <a:chOff x="0" y="0"/>
          <a:chExt cx="0" cy="0"/>
        </a:xfrm>
      </p:grpSpPr>
      <p:sp>
        <p:nvSpPr>
          <p:cNvPr id="9" name="אליפסה 8">
            <a:extLst>
              <a:ext uri="{FF2B5EF4-FFF2-40B4-BE49-F238E27FC236}">
                <a16:creationId xmlns:a16="http://schemas.microsoft.com/office/drawing/2014/main" id="{FEDCA828-BE84-9320-85D3-69422A676380}"/>
              </a:ext>
            </a:extLst>
          </p:cNvPr>
          <p:cNvSpPr/>
          <p:nvPr/>
        </p:nvSpPr>
        <p:spPr>
          <a:xfrm>
            <a:off x="1894235" y="1177589"/>
            <a:ext cx="5183025" cy="509315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pic>
        <p:nvPicPr>
          <p:cNvPr id="35" name="Picture 28">
            <a:extLst>
              <a:ext uri="{FF2B5EF4-FFF2-40B4-BE49-F238E27FC236}">
                <a16:creationId xmlns:a16="http://schemas.microsoft.com/office/drawing/2014/main" id="{DED1D23F-541C-99DA-89D1-0A201099214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24296" y="1583304"/>
            <a:ext cx="2024938" cy="2778847"/>
          </a:xfrm>
          <a:prstGeom prst="rect">
            <a:avLst/>
          </a:prstGeom>
        </p:spPr>
      </p:pic>
      <p:pic>
        <p:nvPicPr>
          <p:cNvPr id="36" name="Graphic 18">
            <a:extLst>
              <a:ext uri="{FF2B5EF4-FFF2-40B4-BE49-F238E27FC236}">
                <a16:creationId xmlns:a16="http://schemas.microsoft.com/office/drawing/2014/main" id="{957CD6FA-44C5-C098-2FF4-90B7E82E68AE}"/>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46" name="כותרת 2">
            <a:extLst>
              <a:ext uri="{FF2B5EF4-FFF2-40B4-BE49-F238E27FC236}">
                <a16:creationId xmlns:a16="http://schemas.microsoft.com/office/drawing/2014/main" id="{D0E47EC1-7439-FDA5-D05D-106F78F717DC}"/>
              </a:ext>
            </a:extLst>
          </p:cNvPr>
          <p:cNvSpPr txBox="1">
            <a:spLocks/>
          </p:cNvSpPr>
          <p:nvPr/>
        </p:nvSpPr>
        <p:spPr>
          <a:xfrm>
            <a:off x="7438335" y="1562397"/>
            <a:ext cx="4462580"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srgbClr val="0F6FC6"/>
                </a:solidFill>
                <a:effectLst/>
                <a:uLnTx/>
                <a:uFillTx/>
              </a:rPr>
              <a:t>האלגוריתם מקדם</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הזדקנות מיטבית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מניעת הדרדרות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התאמה אישית לצרכים ורצונות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3200" b="1" i="0" u="none" strike="noStrike" kern="1200" cap="none" spc="0" normalizeH="0" baseline="0" noProof="0" dirty="0">
                <a:ln>
                  <a:noFill/>
                </a:ln>
                <a:solidFill>
                  <a:prstClr val="black"/>
                </a:solidFill>
                <a:effectLst/>
                <a:uLnTx/>
                <a:uFillTx/>
              </a:rPr>
              <a:t>מה שיעשה טוב לפנינה</a:t>
            </a:r>
          </a:p>
        </p:txBody>
      </p:sp>
      <p:sp>
        <p:nvSpPr>
          <p:cNvPr id="47" name="צורה חופשית: צורה 26">
            <a:extLst>
              <a:ext uri="{FF2B5EF4-FFF2-40B4-BE49-F238E27FC236}">
                <a16:creationId xmlns:a16="http://schemas.microsoft.com/office/drawing/2014/main" id="{64EAC63C-76E5-062C-EDD4-C6C45BBF9319}"/>
              </a:ext>
            </a:extLst>
          </p:cNvPr>
          <p:cNvSpPr/>
          <p:nvPr/>
        </p:nvSpPr>
        <p:spPr>
          <a:xfrm>
            <a:off x="4038561" y="29350"/>
            <a:ext cx="3399774"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ea typeface="Calibri" panose="020F0502020204030204" pitchFamily="34" charset="0"/>
                <a:cs typeface="Assistant" pitchFamily="2" charset="-79"/>
              </a:rPr>
              <a:t>סל שירותים חכם </a:t>
            </a: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מעטפת שירותים לבחירת </a:t>
            </a:r>
          </a:p>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האזרח הוותיק</a:t>
            </a:r>
          </a:p>
        </p:txBody>
      </p:sp>
      <p:sp>
        <p:nvSpPr>
          <p:cNvPr id="48" name="מלבן 47">
            <a:extLst>
              <a:ext uri="{FF2B5EF4-FFF2-40B4-BE49-F238E27FC236}">
                <a16:creationId xmlns:a16="http://schemas.microsoft.com/office/drawing/2014/main" id="{B8274EDD-0DAC-58B9-A828-73E284956EDE}"/>
              </a:ext>
            </a:extLst>
          </p:cNvPr>
          <p:cNvSpPr/>
          <p:nvPr/>
        </p:nvSpPr>
        <p:spPr>
          <a:xfrm>
            <a:off x="0" y="0"/>
            <a:ext cx="195943" cy="6850955"/>
          </a:xfrm>
          <a:prstGeom prst="rect">
            <a:avLst/>
          </a:prstGeom>
          <a:solidFill>
            <a:srgbClr val="0067AF"/>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מלבן 48">
            <a:extLst>
              <a:ext uri="{FF2B5EF4-FFF2-40B4-BE49-F238E27FC236}">
                <a16:creationId xmlns:a16="http://schemas.microsoft.com/office/drawing/2014/main" id="{F631B60F-452B-A2CF-717F-908535C28F52}"/>
              </a:ext>
            </a:extLst>
          </p:cNvPr>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graphicFrame>
        <p:nvGraphicFramePr>
          <p:cNvPr id="4" name="דיאגרמה 3">
            <a:extLst>
              <a:ext uri="{FF2B5EF4-FFF2-40B4-BE49-F238E27FC236}">
                <a16:creationId xmlns:a16="http://schemas.microsoft.com/office/drawing/2014/main" id="{C21AF06C-B85C-2381-9E32-5B53BA9BEC53}"/>
              </a:ext>
            </a:extLst>
          </p:cNvPr>
          <p:cNvGraphicFramePr/>
          <p:nvPr/>
        </p:nvGraphicFramePr>
        <p:xfrm>
          <a:off x="-96675" y="2144879"/>
          <a:ext cx="4092945" cy="405975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 name="Picture 26">
            <a:extLst>
              <a:ext uri="{FF2B5EF4-FFF2-40B4-BE49-F238E27FC236}">
                <a16:creationId xmlns:a16="http://schemas.microsoft.com/office/drawing/2014/main" id="{22CF6102-4589-B676-8DA5-8A96F181A6FD}"/>
              </a:ext>
            </a:extLst>
          </p:cNvPr>
          <p:cNvPicPr>
            <a:picLocks noChangeAspect="1"/>
          </p:cNvPicPr>
          <p:nvPr/>
        </p:nvPicPr>
        <p:blipFill>
          <a:blip r:embed="rId11"/>
          <a:stretch>
            <a:fillRect/>
          </a:stretch>
        </p:blipFill>
        <p:spPr>
          <a:xfrm>
            <a:off x="10999758" y="6239877"/>
            <a:ext cx="1118350" cy="612431"/>
          </a:xfrm>
          <a:prstGeom prst="rect">
            <a:avLst/>
          </a:prstGeom>
          <a:ln>
            <a:noFill/>
          </a:ln>
        </p:spPr>
      </p:pic>
      <p:grpSp>
        <p:nvGrpSpPr>
          <p:cNvPr id="3" name="Group 1">
            <a:extLst>
              <a:ext uri="{FF2B5EF4-FFF2-40B4-BE49-F238E27FC236}">
                <a16:creationId xmlns:a16="http://schemas.microsoft.com/office/drawing/2014/main" id="{7017AB10-689E-389B-86FF-F9B543ADD447}"/>
              </a:ext>
            </a:extLst>
          </p:cNvPr>
          <p:cNvGrpSpPr/>
          <p:nvPr/>
        </p:nvGrpSpPr>
        <p:grpSpPr>
          <a:xfrm>
            <a:off x="240146" y="6459128"/>
            <a:ext cx="1523237" cy="323730"/>
            <a:chOff x="304171" y="6108306"/>
            <a:chExt cx="2542153" cy="560355"/>
          </a:xfrm>
        </p:grpSpPr>
        <p:pic>
          <p:nvPicPr>
            <p:cNvPr id="5" name="Picture 3">
              <a:extLst>
                <a:ext uri="{FF2B5EF4-FFF2-40B4-BE49-F238E27FC236}">
                  <a16:creationId xmlns:a16="http://schemas.microsoft.com/office/drawing/2014/main" id="{F7E72634-2F78-FA65-D95D-A8644081F660}"/>
                </a:ext>
              </a:extLst>
            </p:cNvPr>
            <p:cNvPicPr>
              <a:picLocks noChangeAspect="1"/>
            </p:cNvPicPr>
            <p:nvPr/>
          </p:nvPicPr>
          <p:blipFill>
            <a:blip r:embed="rId12"/>
            <a:stretch>
              <a:fillRect/>
            </a:stretch>
          </p:blipFill>
          <p:spPr>
            <a:xfrm>
              <a:off x="304171" y="6490861"/>
              <a:ext cx="1790700" cy="177800"/>
            </a:xfrm>
            <a:prstGeom prst="rect">
              <a:avLst/>
            </a:prstGeom>
          </p:spPr>
        </p:pic>
        <p:pic>
          <p:nvPicPr>
            <p:cNvPr id="7" name="Picture 4">
              <a:extLst>
                <a:ext uri="{FF2B5EF4-FFF2-40B4-BE49-F238E27FC236}">
                  <a16:creationId xmlns:a16="http://schemas.microsoft.com/office/drawing/2014/main" id="{4409BD23-FF9A-FAD0-12DF-4157556B0DEC}"/>
                </a:ext>
              </a:extLst>
            </p:cNvPr>
            <p:cNvPicPr>
              <a:picLocks noChangeAspect="1"/>
            </p:cNvPicPr>
            <p:nvPr/>
          </p:nvPicPr>
          <p:blipFill>
            <a:blip r:embed="rId13"/>
            <a:stretch>
              <a:fillRect/>
            </a:stretch>
          </p:blipFill>
          <p:spPr>
            <a:xfrm>
              <a:off x="2135124" y="6126849"/>
              <a:ext cx="711200" cy="520700"/>
            </a:xfrm>
            <a:prstGeom prst="rect">
              <a:avLst/>
            </a:prstGeom>
          </p:spPr>
        </p:pic>
        <p:pic>
          <p:nvPicPr>
            <p:cNvPr id="8" name="Picture 5">
              <a:extLst>
                <a:ext uri="{FF2B5EF4-FFF2-40B4-BE49-F238E27FC236}">
                  <a16:creationId xmlns:a16="http://schemas.microsoft.com/office/drawing/2014/main" id="{B88C2FD9-8319-97DA-CC6B-E0916054A259}"/>
                </a:ext>
              </a:extLst>
            </p:cNvPr>
            <p:cNvPicPr>
              <a:picLocks noChangeAspect="1"/>
            </p:cNvPicPr>
            <p:nvPr/>
          </p:nvPicPr>
          <p:blipFill>
            <a:blip r:embed="rId14"/>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947738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072896"/>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התאמה אישית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ארנק דיגיטלי</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פתיחת השוק והתחרות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2655278" y="246111"/>
            <a:ext cx="8557568"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האדם במרכז – סל שירותים מותאם אישית </a:t>
            </a:r>
            <a:r>
              <a:rPr kumimoji="0" lang="en-US"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AI</a:t>
            </a: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t>
            </a:r>
            <a:endParaRPr kumimoji="0" lang="en-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1662619"/>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באמצעות</a:t>
            </a:r>
            <a:endParaRPr kumimoji="0" lang="en-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143500" y="816823"/>
            <a:ext cx="608166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התאמת שירותים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ותוכן לאזרח הוותיק באמצעות גמלת סיעוד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21207" y="177479"/>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594436"/>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76181"/>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EBFDAA68-0B68-BA89-A7E3-71514CA52CC6}"/>
              </a:ext>
            </a:extLst>
          </p:cNvPr>
          <p:cNvSpPr>
            <a:spLocks noChangeArrowheads="1"/>
          </p:cNvSpPr>
          <p:nvPr/>
        </p:nvSpPr>
        <p:spPr bwMode="auto">
          <a:xfrm>
            <a:off x="12007269"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latin typeface="Arial" panose="020B0604020202020204" pitchFamily="34" charset="0"/>
              <a:cs typeface="Arial" panose="020B0604020202020204" pitchFamily="34" charset="0"/>
            </a:endParaRPr>
          </a:p>
        </p:txBody>
      </p:sp>
      <p:grpSp>
        <p:nvGrpSpPr>
          <p:cNvPr id="6" name="Group 1">
            <a:extLst>
              <a:ext uri="{FF2B5EF4-FFF2-40B4-BE49-F238E27FC236}">
                <a16:creationId xmlns:a16="http://schemas.microsoft.com/office/drawing/2014/main" id="{7D312846-8CCC-4D66-7942-FE203A3ACAAC}"/>
              </a:ext>
            </a:extLst>
          </p:cNvPr>
          <p:cNvGrpSpPr/>
          <p:nvPr/>
        </p:nvGrpSpPr>
        <p:grpSpPr>
          <a:xfrm>
            <a:off x="10484032" y="6394306"/>
            <a:ext cx="1523237" cy="323730"/>
            <a:chOff x="304171" y="6108306"/>
            <a:chExt cx="2542153" cy="560355"/>
          </a:xfrm>
        </p:grpSpPr>
        <p:pic>
          <p:nvPicPr>
            <p:cNvPr id="9" name="Picture 3">
              <a:extLst>
                <a:ext uri="{FF2B5EF4-FFF2-40B4-BE49-F238E27FC236}">
                  <a16:creationId xmlns:a16="http://schemas.microsoft.com/office/drawing/2014/main" id="{471A758D-1254-BE6D-0C76-7FAEB32ED1E8}"/>
                </a:ext>
              </a:extLst>
            </p:cNvPr>
            <p:cNvPicPr>
              <a:picLocks noChangeAspect="1"/>
            </p:cNvPicPr>
            <p:nvPr/>
          </p:nvPicPr>
          <p:blipFill>
            <a:blip r:embed="rId7"/>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0942976F-3EB4-6514-972D-BC78AE7A27C7}"/>
                </a:ext>
              </a:extLst>
            </p:cNvPr>
            <p:cNvPicPr>
              <a:picLocks noChangeAspect="1"/>
            </p:cNvPicPr>
            <p:nvPr/>
          </p:nvPicPr>
          <p:blipFill>
            <a:blip r:embed="rId8"/>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AF950ED0-4F1B-91E9-1633-D64C86EDE1A2}"/>
                </a:ext>
              </a:extLst>
            </p:cNvPr>
            <p:cNvPicPr>
              <a:picLocks noChangeAspect="1"/>
            </p:cNvPicPr>
            <p:nvPr/>
          </p:nvPicPr>
          <p:blipFill>
            <a:blip r:embed="rId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27698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Heebo Black"/>
              </a:rPr>
              <a:t>הסל מותאם אישית יקדם:</a:t>
            </a:r>
            <a:endParaRPr kumimoji="0" sz="20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121823" y="212733"/>
            <a:ext cx="4796418"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מה יוצא לנו מזה</a:t>
            </a:r>
            <a:r>
              <a:rPr kumimoji="0" lang="en-US"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a:t>
            </a:r>
            <a:endParaRPr kumimoji="0" lang="en-IL" sz="32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8767767" y="4447792"/>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40011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הזדקנות מיטבית</a:t>
            </a:r>
            <a:endParaRPr kumimoji="0" lang="en-IL" sz="20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190416" y="2792914"/>
            <a:ext cx="1774846"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ניהול ואסטרטגיה</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גיבוש תמונת מצב לאומית</a:t>
            </a:r>
            <a:endParaRPr kumimoji="0"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497341" y="4193876"/>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32907" y="2776824"/>
            <a:ext cx="120738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אפקטיביות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הרחבת</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 עצמאות ובחירה, השתתפות, </a:t>
            </a: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וקידום </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6315FC-C7A6-703B-9E64-403AF6E7F34C}"/>
              </a:ext>
            </a:extLst>
          </p:cNvPr>
          <p:cNvSpPr txBox="1"/>
          <p:nvPr/>
        </p:nvSpPr>
        <p:spPr>
          <a:xfrm>
            <a:off x="7672355" y="116298"/>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ממצאי מחקר השטח</a:t>
            </a:r>
          </a:p>
        </p:txBody>
      </p:sp>
      <p:grpSp>
        <p:nvGrpSpPr>
          <p:cNvPr id="36" name="Group 1">
            <a:extLst>
              <a:ext uri="{FF2B5EF4-FFF2-40B4-BE49-F238E27FC236}">
                <a16:creationId xmlns:a16="http://schemas.microsoft.com/office/drawing/2014/main" id="{BCE5F16B-B7A3-ADCC-D327-463382FCA1AF}"/>
              </a:ext>
            </a:extLst>
          </p:cNvPr>
          <p:cNvGrpSpPr/>
          <p:nvPr/>
        </p:nvGrpSpPr>
        <p:grpSpPr>
          <a:xfrm>
            <a:off x="192799" y="6408440"/>
            <a:ext cx="1523237" cy="323730"/>
            <a:chOff x="304171" y="6108306"/>
            <a:chExt cx="2542153" cy="560355"/>
          </a:xfrm>
        </p:grpSpPr>
        <p:pic>
          <p:nvPicPr>
            <p:cNvPr id="37" name="Picture 3">
              <a:extLst>
                <a:ext uri="{FF2B5EF4-FFF2-40B4-BE49-F238E27FC236}">
                  <a16:creationId xmlns:a16="http://schemas.microsoft.com/office/drawing/2014/main" id="{7BB29782-B9AA-C091-4D8B-5FBA18063375}"/>
                </a:ext>
              </a:extLst>
            </p:cNvPr>
            <p:cNvPicPr>
              <a:picLocks noChangeAspect="1"/>
            </p:cNvPicPr>
            <p:nvPr/>
          </p:nvPicPr>
          <p:blipFill>
            <a:blip r:embed="rId2"/>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BBE1FA9A-A647-D22D-E534-D5AAD988A7E2}"/>
                </a:ext>
              </a:extLst>
            </p:cNvPr>
            <p:cNvPicPr>
              <a:picLocks noChangeAspect="1"/>
            </p:cNvPicPr>
            <p:nvPr/>
          </p:nvPicPr>
          <p:blipFill>
            <a:blip r:embed="rId3"/>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0F82B0FA-5811-8EC6-AF9F-156BB365E52C}"/>
                </a:ext>
              </a:extLst>
            </p:cNvPr>
            <p:cNvPicPr>
              <a:picLocks noChangeAspect="1"/>
            </p:cNvPicPr>
            <p:nvPr/>
          </p:nvPicPr>
          <p:blipFill>
            <a:blip r:embed="rId4"/>
            <a:stretch>
              <a:fillRect/>
            </a:stretch>
          </p:blipFill>
          <p:spPr>
            <a:xfrm>
              <a:off x="304171" y="6108306"/>
              <a:ext cx="1803400" cy="381000"/>
            </a:xfrm>
            <a:prstGeom prst="rect">
              <a:avLst/>
            </a:prstGeom>
          </p:spPr>
        </p:pic>
      </p:grpSp>
      <p:pic>
        <p:nvPicPr>
          <p:cNvPr id="11" name="Picture 3" descr="קובץ:Ministry of Labor, Social Affairs and Social Services ...">
            <a:extLst>
              <a:ext uri="{FF2B5EF4-FFF2-40B4-BE49-F238E27FC236}">
                <a16:creationId xmlns:a16="http://schemas.microsoft.com/office/drawing/2014/main" id="{CD869E3E-DD48-A952-B1CD-031E02B447D2}"/>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68334" y="6328364"/>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Y ישראל - ארנסט אנד יאנג - פירמת ייעוץ וראיית חשבון">
            <a:extLst>
              <a:ext uri="{FF2B5EF4-FFF2-40B4-BE49-F238E27FC236}">
                <a16:creationId xmlns:a16="http://schemas.microsoft.com/office/drawing/2014/main" id="{C3A273DB-CAD6-7D1A-F9AA-3DE656F021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799" y="36319"/>
            <a:ext cx="594279" cy="594279"/>
          </a:xfrm>
          <a:prstGeom prst="rect">
            <a:avLst/>
          </a:prstGeom>
          <a:noFill/>
          <a:extLst>
            <a:ext uri="{909E8E84-426E-40DD-AFC4-6F175D3DCCD1}">
              <a14:hiddenFill xmlns:a14="http://schemas.microsoft.com/office/drawing/2010/main">
                <a:solidFill>
                  <a:srgbClr val="FFFFFF"/>
                </a:solidFill>
              </a14:hiddenFill>
            </a:ext>
          </a:extLst>
        </p:spPr>
      </p:pic>
      <p:pic>
        <p:nvPicPr>
          <p:cNvPr id="31" name="תמונה 30">
            <a:extLst>
              <a:ext uri="{FF2B5EF4-FFF2-40B4-BE49-F238E27FC236}">
                <a16:creationId xmlns:a16="http://schemas.microsoft.com/office/drawing/2014/main" id="{61F1FB36-A58E-1299-4C51-C08F1566589C}"/>
              </a:ext>
            </a:extLst>
          </p:cNvPr>
          <p:cNvPicPr>
            <a:picLocks noChangeAspect="1"/>
          </p:cNvPicPr>
          <p:nvPr/>
        </p:nvPicPr>
        <p:blipFill>
          <a:blip r:embed="rId7"/>
          <a:stretch>
            <a:fillRect/>
          </a:stretch>
        </p:blipFill>
        <p:spPr>
          <a:xfrm>
            <a:off x="192799" y="905418"/>
            <a:ext cx="11818269" cy="5324861"/>
          </a:xfrm>
          <a:prstGeom prst="rect">
            <a:avLst/>
          </a:prstGeom>
          <a:solidFill>
            <a:srgbClr val="FFFFFF"/>
          </a:solidFill>
        </p:spPr>
      </p:pic>
      <p:sp>
        <p:nvSpPr>
          <p:cNvPr id="32" name="מלבן 31">
            <a:extLst>
              <a:ext uri="{FF2B5EF4-FFF2-40B4-BE49-F238E27FC236}">
                <a16:creationId xmlns:a16="http://schemas.microsoft.com/office/drawing/2014/main" id="{1B46C1F7-C346-3C7B-F7A3-8CDDF4979CB2}"/>
              </a:ext>
            </a:extLst>
          </p:cNvPr>
          <p:cNvSpPr/>
          <p:nvPr/>
        </p:nvSpPr>
        <p:spPr>
          <a:xfrm>
            <a:off x="6863787" y="1018572"/>
            <a:ext cx="231494" cy="40511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34" name="מלבן 33">
            <a:extLst>
              <a:ext uri="{FF2B5EF4-FFF2-40B4-BE49-F238E27FC236}">
                <a16:creationId xmlns:a16="http://schemas.microsoft.com/office/drawing/2014/main" id="{EE840458-2FF4-3A2B-03BA-17F716C05748}"/>
              </a:ext>
            </a:extLst>
          </p:cNvPr>
          <p:cNvSpPr/>
          <p:nvPr/>
        </p:nvSpPr>
        <p:spPr>
          <a:xfrm>
            <a:off x="258444" y="1018572"/>
            <a:ext cx="231494" cy="405114"/>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Tree>
    <p:extLst>
      <p:ext uri="{BB962C8B-B14F-4D97-AF65-F5344CB8AC3E}">
        <p14:creationId xmlns:p14="http://schemas.microsoft.com/office/powerpoint/2010/main" val="270642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6D943-CEC2-8382-ABEB-40B9FD01B1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FA67D9-EE56-EBEC-6A49-3B5CDFC99EF1}"/>
              </a:ext>
            </a:extLst>
          </p:cNvPr>
          <p:cNvSpPr txBox="1"/>
          <p:nvPr/>
        </p:nvSpPr>
        <p:spPr>
          <a:xfrm>
            <a:off x="7892274" y="94234"/>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מודל הפעלה</a:t>
            </a:r>
          </a:p>
        </p:txBody>
      </p:sp>
      <p:grpSp>
        <p:nvGrpSpPr>
          <p:cNvPr id="10" name="קבוצה 9">
            <a:extLst>
              <a:ext uri="{FF2B5EF4-FFF2-40B4-BE49-F238E27FC236}">
                <a16:creationId xmlns:a16="http://schemas.microsoft.com/office/drawing/2014/main" id="{91265680-9035-BCB0-E37E-C20EBA737EC6}"/>
              </a:ext>
            </a:extLst>
          </p:cNvPr>
          <p:cNvGrpSpPr/>
          <p:nvPr/>
        </p:nvGrpSpPr>
        <p:grpSpPr>
          <a:xfrm>
            <a:off x="192799" y="298153"/>
            <a:ext cx="11736032" cy="6439445"/>
            <a:chOff x="192799" y="298153"/>
            <a:chExt cx="11736032" cy="6439445"/>
          </a:xfrm>
        </p:grpSpPr>
        <p:sp>
          <p:nvSpPr>
            <p:cNvPr id="14" name="Rectangle: Rounded Corners 13">
              <a:extLst>
                <a:ext uri="{FF2B5EF4-FFF2-40B4-BE49-F238E27FC236}">
                  <a16:creationId xmlns:a16="http://schemas.microsoft.com/office/drawing/2014/main" id="{D3B6C2F4-668D-E7EA-2DF2-277180D05ADC}"/>
                </a:ext>
              </a:extLst>
            </p:cNvPr>
            <p:cNvSpPr/>
            <p:nvPr/>
          </p:nvSpPr>
          <p:spPr>
            <a:xfrm>
              <a:off x="192799" y="1076580"/>
              <a:ext cx="11736032" cy="4946139"/>
            </a:xfrm>
            <a:prstGeom prst="roundRect">
              <a:avLst/>
            </a:prstGeom>
            <a:solidFill>
              <a:schemeClr val="bg1">
                <a:alpha val="91000"/>
              </a:schemeClr>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C675509E-0E14-AD5B-51D6-0E6DFD5C19E5}"/>
                </a:ext>
              </a:extLst>
            </p:cNvPr>
            <p:cNvSpPr txBox="1"/>
            <p:nvPr/>
          </p:nvSpPr>
          <p:spPr>
            <a:xfrm>
              <a:off x="3968830" y="1425441"/>
              <a:ext cx="4640997" cy="52322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srgbClr val="5260C6">
                      <a:lumMod val="75000"/>
                    </a:srgbClr>
                  </a:solidFill>
                  <a:effectLst/>
                  <a:uLnTx/>
                  <a:uFillTx/>
                  <a:latin typeface="Calibri"/>
                  <a:ea typeface="+mn-ea"/>
                  <a:cs typeface="Calibri"/>
                </a:rPr>
                <a:t>רכיבי גמלת הסיעוד</a:t>
              </a:r>
            </a:p>
          </p:txBody>
        </p:sp>
        <p:sp>
          <p:nvSpPr>
            <p:cNvPr id="42" name="TextBox 41">
              <a:extLst>
                <a:ext uri="{FF2B5EF4-FFF2-40B4-BE49-F238E27FC236}">
                  <a16:creationId xmlns:a16="http://schemas.microsoft.com/office/drawing/2014/main" id="{B9C52112-AF97-8345-E453-446D4D6349C8}"/>
                </a:ext>
              </a:extLst>
            </p:cNvPr>
            <p:cNvSpPr txBox="1"/>
            <p:nvPr/>
          </p:nvSpPr>
          <p:spPr>
            <a:xfrm>
              <a:off x="2937062" y="1851472"/>
              <a:ext cx="6814729"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אלו הרכיבים השונים שמהם יוכלו הזכאים לבנות את תמהיל הגמלה</a:t>
              </a:r>
            </a:p>
          </p:txBody>
        </p:sp>
        <p:sp>
          <p:nvSpPr>
            <p:cNvPr id="68" name="Oval 67">
              <a:extLst>
                <a:ext uri="{FF2B5EF4-FFF2-40B4-BE49-F238E27FC236}">
                  <a16:creationId xmlns:a16="http://schemas.microsoft.com/office/drawing/2014/main" id="{9F61CBED-C62E-E87F-D586-225380E173E8}"/>
                </a:ext>
              </a:extLst>
            </p:cNvPr>
            <p:cNvSpPr/>
            <p:nvPr/>
          </p:nvSpPr>
          <p:spPr>
            <a:xfrm>
              <a:off x="5689967" y="298153"/>
              <a:ext cx="1188000" cy="1188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Care outline">
              <a:extLst>
                <a:ext uri="{FF2B5EF4-FFF2-40B4-BE49-F238E27FC236}">
                  <a16:creationId xmlns:a16="http://schemas.microsoft.com/office/drawing/2014/main" id="{AF6AFE3E-BFE4-553D-B16F-7A8446D539F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811952" y="417400"/>
              <a:ext cx="944028" cy="944028"/>
            </a:xfrm>
            <a:prstGeom prst="rect">
              <a:avLst/>
            </a:prstGeom>
          </p:spPr>
        </p:pic>
        <p:grpSp>
          <p:nvGrpSpPr>
            <p:cNvPr id="3" name="Group 2">
              <a:extLst>
                <a:ext uri="{FF2B5EF4-FFF2-40B4-BE49-F238E27FC236}">
                  <a16:creationId xmlns:a16="http://schemas.microsoft.com/office/drawing/2014/main" id="{86589CA7-C19E-7158-104F-7832326A407B}"/>
                </a:ext>
              </a:extLst>
            </p:cNvPr>
            <p:cNvGrpSpPr/>
            <p:nvPr/>
          </p:nvGrpSpPr>
          <p:grpSpPr>
            <a:xfrm>
              <a:off x="7606640" y="2424547"/>
              <a:ext cx="2419365" cy="2545755"/>
              <a:chOff x="6082548" y="2436894"/>
              <a:chExt cx="2419365" cy="2545755"/>
            </a:xfrm>
          </p:grpSpPr>
          <p:grpSp>
            <p:nvGrpSpPr>
              <p:cNvPr id="2" name="Group 1">
                <a:extLst>
                  <a:ext uri="{FF2B5EF4-FFF2-40B4-BE49-F238E27FC236}">
                    <a16:creationId xmlns:a16="http://schemas.microsoft.com/office/drawing/2014/main" id="{A8274C80-C4D5-410B-F862-A7A673F1375B}"/>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BF0E80EC-99C3-ED65-59AB-6E0A6EE8D3A0}"/>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1D93EBA0-B844-931D-C0FF-359AF4DC3FC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הזדקנות מיטבית</a:t>
                  </a:r>
                </a:p>
              </p:txBody>
            </p:sp>
            <p:sp>
              <p:nvSpPr>
                <p:cNvPr id="23" name="TextBox 22">
                  <a:extLst>
                    <a:ext uri="{FF2B5EF4-FFF2-40B4-BE49-F238E27FC236}">
                      <a16:creationId xmlns:a16="http://schemas.microsoft.com/office/drawing/2014/main" id="{8963677A-A9C7-70FA-9271-FE6DAF9F1FBC}"/>
                    </a:ext>
                  </a:extLst>
                </p:cNvPr>
                <p:cNvSpPr txBox="1"/>
                <p:nvPr/>
              </p:nvSpPr>
              <p:spPr>
                <a:xfrm>
                  <a:off x="8859143" y="2367407"/>
                  <a:ext cx="2272333" cy="86177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יוקדשו לפחות 2 יחידות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מהגמלה לשירותי הזדקנות מיטבית</a:t>
                  </a:r>
                </a:p>
              </p:txBody>
            </p:sp>
          </p:grpSp>
          <p:grpSp>
            <p:nvGrpSpPr>
              <p:cNvPr id="28" name="Group 27">
                <a:extLst>
                  <a:ext uri="{FF2B5EF4-FFF2-40B4-BE49-F238E27FC236}">
                    <a16:creationId xmlns:a16="http://schemas.microsoft.com/office/drawing/2014/main" id="{444A5E88-2532-25B4-4779-69D16BB4593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55AD0CA8-95A5-54D2-266C-E1760C3EB0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Man with cane outline">
                  <a:extLst>
                    <a:ext uri="{FF2B5EF4-FFF2-40B4-BE49-F238E27FC236}">
                      <a16:creationId xmlns:a16="http://schemas.microsoft.com/office/drawing/2014/main" id="{8AAFC576-DD34-75ED-5D12-3B86289D6D7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1050AAA6-D18F-B17D-A0C9-A41691AF5E85}"/>
                </a:ext>
              </a:extLst>
            </p:cNvPr>
            <p:cNvGrpSpPr/>
            <p:nvPr/>
          </p:nvGrpSpPr>
          <p:grpSpPr>
            <a:xfrm>
              <a:off x="5010553" y="2416568"/>
              <a:ext cx="2419365" cy="2566881"/>
              <a:chOff x="6082548" y="2436894"/>
              <a:chExt cx="2419365" cy="2566881"/>
            </a:xfrm>
          </p:grpSpPr>
          <p:grpSp>
            <p:nvGrpSpPr>
              <p:cNvPr id="6" name="Group 5">
                <a:extLst>
                  <a:ext uri="{FF2B5EF4-FFF2-40B4-BE49-F238E27FC236}">
                    <a16:creationId xmlns:a16="http://schemas.microsoft.com/office/drawing/2014/main" id="{98C3C254-5EBE-D0ED-CAC4-D1C86BBB6DEA}"/>
                  </a:ext>
                </a:extLst>
              </p:cNvPr>
              <p:cNvGrpSpPr/>
              <p:nvPr/>
            </p:nvGrpSpPr>
            <p:grpSpPr>
              <a:xfrm>
                <a:off x="6082548" y="2958540"/>
                <a:ext cx="2419365" cy="2045235"/>
                <a:chOff x="8812386" y="1676389"/>
                <a:chExt cx="2419365" cy="2045235"/>
              </a:xfrm>
            </p:grpSpPr>
            <p:sp>
              <p:nvSpPr>
                <p:cNvPr id="16" name="Rectangle: Rounded Corners 15">
                  <a:extLst>
                    <a:ext uri="{FF2B5EF4-FFF2-40B4-BE49-F238E27FC236}">
                      <a16:creationId xmlns:a16="http://schemas.microsoft.com/office/drawing/2014/main" id="{C25B85F1-A40D-3F81-DD97-205B647A1B8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8D0FCA05-7B0E-6B67-4EDA-D589CB58B174}"/>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שירותי סיעוד</a:t>
                  </a:r>
                </a:p>
              </p:txBody>
            </p:sp>
            <p:sp>
              <p:nvSpPr>
                <p:cNvPr id="18" name="TextBox 17">
                  <a:extLst>
                    <a:ext uri="{FF2B5EF4-FFF2-40B4-BE49-F238E27FC236}">
                      <a16:creationId xmlns:a16="http://schemas.microsoft.com/office/drawing/2014/main" id="{2FF1A1C4-AA0F-B208-2A38-ED07CD4BC15C}"/>
                    </a:ext>
                  </a:extLst>
                </p:cNvPr>
                <p:cNvSpPr txBox="1"/>
                <p:nvPr/>
              </p:nvSpPr>
              <p:spPr>
                <a:xfrm>
                  <a:off x="8859143" y="2367407"/>
                  <a:ext cx="2272333" cy="135421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השירותים הקיימים כיום</a:t>
                  </a:r>
                  <a:r>
                    <a:rPr kumimoji="0" lang="he-IL" sz="1600" b="0" i="0" u="none" strike="noStrike" kern="1200" cap="none" spc="0" normalizeH="0" baseline="0" noProof="0" dirty="0">
                      <a:ln>
                        <a:noFill/>
                      </a:ln>
                      <a:solidFill>
                        <a:srgbClr val="3A3A49"/>
                      </a:solidFill>
                      <a:effectLst/>
                      <a:uLnTx/>
                      <a:uFillTx/>
                      <a:latin typeface="Calibri"/>
                      <a:ea typeface="+mn-ea"/>
                      <a:cs typeface="Calibri"/>
                    </a:rPr>
                    <a:t>, כולל שעות טיפול בבית, ולצידם תוספת של שירותי ליווי/תמיכה בניידות </a:t>
                  </a:r>
                  <a:r>
                    <a:rPr kumimoji="0" lang="he-IL" sz="1600" b="1" i="0" u="none" strike="noStrike" kern="1200" cap="none" spc="0" normalizeH="0" baseline="0" noProof="0" dirty="0">
                      <a:ln>
                        <a:noFill/>
                      </a:ln>
                      <a:solidFill>
                        <a:srgbClr val="3A3A49"/>
                      </a:solidFill>
                      <a:effectLst/>
                      <a:uLnTx/>
                      <a:uFillTx/>
                      <a:latin typeface="Calibri"/>
                      <a:ea typeface="+mn-ea"/>
                      <a:cs typeface="Calibri"/>
                    </a:rPr>
                    <a:t>מחוץ לבית</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grpSp>
            <p:nvGrpSpPr>
              <p:cNvPr id="7" name="Group 6">
                <a:extLst>
                  <a:ext uri="{FF2B5EF4-FFF2-40B4-BE49-F238E27FC236}">
                    <a16:creationId xmlns:a16="http://schemas.microsoft.com/office/drawing/2014/main" id="{48F8FE63-9E5C-C356-5103-1F5ADBA0CCB3}"/>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21B51C6F-9BA2-A260-4F64-0A263097715A}"/>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Medical outline">
                  <a:extLst>
                    <a:ext uri="{FF2B5EF4-FFF2-40B4-BE49-F238E27FC236}">
                      <a16:creationId xmlns:a16="http://schemas.microsoft.com/office/drawing/2014/main" id="{9CE4C2EC-0B9E-0D94-4491-F86FDE3DB6A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B7FBF65B-B137-0435-8BC7-86ADFA6F03D1}"/>
                </a:ext>
              </a:extLst>
            </p:cNvPr>
            <p:cNvGrpSpPr/>
            <p:nvPr/>
          </p:nvGrpSpPr>
          <p:grpSpPr>
            <a:xfrm>
              <a:off x="2434519" y="2431540"/>
              <a:ext cx="2419365" cy="2545755"/>
              <a:chOff x="6082548" y="2436894"/>
              <a:chExt cx="2419365" cy="2545755"/>
            </a:xfrm>
          </p:grpSpPr>
          <p:grpSp>
            <p:nvGrpSpPr>
              <p:cNvPr id="21" name="Group 20">
                <a:extLst>
                  <a:ext uri="{FF2B5EF4-FFF2-40B4-BE49-F238E27FC236}">
                    <a16:creationId xmlns:a16="http://schemas.microsoft.com/office/drawing/2014/main" id="{A1BD0D5A-568C-74E0-8597-7C393FD25CB7}"/>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C7E2FB4D-DB18-8518-C7FA-F83B17C2199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4C97630E-AC14-2C59-2E44-1335B197D6BF}"/>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4419E"/>
                      </a:solidFill>
                      <a:effectLst/>
                      <a:uLnTx/>
                      <a:uFillTx/>
                      <a:latin typeface="Calibri"/>
                      <a:ea typeface="+mn-ea"/>
                      <a:cs typeface="Calibri"/>
                    </a:rPr>
                    <a:t>קצבה בכסף</a:t>
                  </a:r>
                </a:p>
              </p:txBody>
            </p:sp>
          </p:grpSp>
          <p:grpSp>
            <p:nvGrpSpPr>
              <p:cNvPr id="22" name="Group 21">
                <a:extLst>
                  <a:ext uri="{FF2B5EF4-FFF2-40B4-BE49-F238E27FC236}">
                    <a16:creationId xmlns:a16="http://schemas.microsoft.com/office/drawing/2014/main" id="{405F23A4-D83F-0DA1-5092-F787E4A62848}"/>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A218E666-F1C2-D03D-D706-3EB60ACBEA7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Coins outline">
                  <a:extLst>
                    <a:ext uri="{FF2B5EF4-FFF2-40B4-BE49-F238E27FC236}">
                      <a16:creationId xmlns:a16="http://schemas.microsoft.com/office/drawing/2014/main" id="{4DF48380-8989-C1EC-A090-A689A1F6229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8" y="1395624"/>
                  <a:ext cx="697543" cy="697543"/>
                </a:xfrm>
                <a:prstGeom prst="rect">
                  <a:avLst/>
                </a:prstGeom>
              </p:spPr>
            </p:pic>
          </p:grpSp>
        </p:grpSp>
        <p:sp>
          <p:nvSpPr>
            <p:cNvPr id="9" name="מלבן 8">
              <a:extLst>
                <a:ext uri="{FF2B5EF4-FFF2-40B4-BE49-F238E27FC236}">
                  <a16:creationId xmlns:a16="http://schemas.microsoft.com/office/drawing/2014/main" id="{826C6C4F-8550-2DFD-D922-3078C3F2CD63}"/>
                </a:ext>
              </a:extLst>
            </p:cNvPr>
            <p:cNvSpPr/>
            <p:nvPr/>
          </p:nvSpPr>
          <p:spPr>
            <a:xfrm>
              <a:off x="2627651" y="3581723"/>
              <a:ext cx="214193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panose="020F0502020204030204"/>
                  <a:ea typeface="+mn-ea"/>
                  <a:cs typeface="Calibri"/>
                </a:rPr>
                <a:t>עד שליש- כמקובל כיום</a:t>
              </a:r>
              <a:endParaRPr kumimoji="0" lang="he-IL" b="0" i="0" u="none" strike="noStrike" kern="1200" cap="none" spc="0" normalizeH="0" baseline="0" noProof="0" dirty="0">
                <a:ln>
                  <a:noFill/>
                </a:ln>
                <a:solidFill>
                  <a:srgbClr val="3A3A49"/>
                </a:solidFill>
                <a:effectLst/>
                <a:uLnTx/>
                <a:uFillTx/>
                <a:latin typeface="Calibri" panose="020F0502020204030204"/>
                <a:ea typeface="+mn-ea"/>
                <a:cs typeface="Arial" panose="020B0604020202020204" pitchFamily="34" charset="0"/>
              </a:endParaRPr>
            </a:p>
          </p:txBody>
        </p:sp>
        <p:sp>
          <p:nvSpPr>
            <p:cNvPr id="26" name="מלבן 25">
              <a:extLst>
                <a:ext uri="{FF2B5EF4-FFF2-40B4-BE49-F238E27FC236}">
                  <a16:creationId xmlns:a16="http://schemas.microsoft.com/office/drawing/2014/main" id="{42C847B0-FD6E-4C31-A0AF-2B0BBEBBB6A0}"/>
                </a:ext>
              </a:extLst>
            </p:cNvPr>
            <p:cNvSpPr/>
            <p:nvPr/>
          </p:nvSpPr>
          <p:spPr>
            <a:xfrm>
              <a:off x="2118617" y="6029712"/>
              <a:ext cx="8149717"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יצירת </a:t>
              </a:r>
              <a:r>
                <a:rPr kumimoji="0" lang="he-IL" sz="2000" b="1"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סל שירותי הזדקנות מיטיבה </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שיסייעו בדחיקת תלות וחיזוק תחושת השייכות עבור אזרחים ותיקים, שיסופקו באמצעות </a:t>
              </a:r>
              <a:r>
                <a:rPr kumimoji="0" lang="he-IL" sz="20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מנגון</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גמלת הסיעוד</a:t>
              </a:r>
            </a:p>
          </p:txBody>
        </p:sp>
      </p:grpSp>
      <p:grpSp>
        <p:nvGrpSpPr>
          <p:cNvPr id="36" name="Group 1">
            <a:extLst>
              <a:ext uri="{FF2B5EF4-FFF2-40B4-BE49-F238E27FC236}">
                <a16:creationId xmlns:a16="http://schemas.microsoft.com/office/drawing/2014/main" id="{1C520392-F5AE-4E88-BBE7-69C46BD33E9E}"/>
              </a:ext>
            </a:extLst>
          </p:cNvPr>
          <p:cNvGrpSpPr/>
          <p:nvPr/>
        </p:nvGrpSpPr>
        <p:grpSpPr>
          <a:xfrm>
            <a:off x="240146" y="6459128"/>
            <a:ext cx="1523237" cy="323730"/>
            <a:chOff x="304171" y="6108306"/>
            <a:chExt cx="2542153" cy="560355"/>
          </a:xfrm>
        </p:grpSpPr>
        <p:pic>
          <p:nvPicPr>
            <p:cNvPr id="37" name="Picture 3">
              <a:extLst>
                <a:ext uri="{FF2B5EF4-FFF2-40B4-BE49-F238E27FC236}">
                  <a16:creationId xmlns:a16="http://schemas.microsoft.com/office/drawing/2014/main" id="{28429F46-D058-8797-BAF6-9167D36AB272}"/>
                </a:ext>
              </a:extLst>
            </p:cNvPr>
            <p:cNvPicPr>
              <a:picLocks noChangeAspect="1"/>
            </p:cNvPicPr>
            <p:nvPr/>
          </p:nvPicPr>
          <p:blipFill>
            <a:blip r:embed="rId10"/>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13B3FD83-0E11-C04A-9638-ACAB439E7575}"/>
                </a:ext>
              </a:extLst>
            </p:cNvPr>
            <p:cNvPicPr>
              <a:picLocks noChangeAspect="1"/>
            </p:cNvPicPr>
            <p:nvPr/>
          </p:nvPicPr>
          <p:blipFill>
            <a:blip r:embed="rId11"/>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C9EC8D70-8095-51FC-A3EB-D4511B48F227}"/>
                </a:ext>
              </a:extLst>
            </p:cNvPr>
            <p:cNvPicPr>
              <a:picLocks noChangeAspect="1"/>
            </p:cNvPicPr>
            <p:nvPr/>
          </p:nvPicPr>
          <p:blipFill>
            <a:blip r:embed="rId12"/>
            <a:stretch>
              <a:fillRect/>
            </a:stretch>
          </p:blipFill>
          <p:spPr>
            <a:xfrm>
              <a:off x="304171" y="6108306"/>
              <a:ext cx="1803400" cy="381000"/>
            </a:xfrm>
            <a:prstGeom prst="rect">
              <a:avLst/>
            </a:prstGeom>
          </p:spPr>
        </p:pic>
      </p:grpSp>
      <p:pic>
        <p:nvPicPr>
          <p:cNvPr id="11" name="Picture 3" descr="קובץ:Ministry of Labor, Social Affairs and Social Services ...">
            <a:extLst>
              <a:ext uri="{FF2B5EF4-FFF2-40B4-BE49-F238E27FC236}">
                <a16:creationId xmlns:a16="http://schemas.microsoft.com/office/drawing/2014/main" id="{D7B56359-BA70-C0CD-7360-3A953EB244DC}"/>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0268334" y="6328364"/>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Y ישראל - ארנסט אנד יאנג - פירמת ייעוץ וראיית חשבון">
            <a:extLst>
              <a:ext uri="{FF2B5EF4-FFF2-40B4-BE49-F238E27FC236}">
                <a16:creationId xmlns:a16="http://schemas.microsoft.com/office/drawing/2014/main" id="{410BD27E-F5DC-6794-1D4D-F6A626CA22A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2799" y="36319"/>
            <a:ext cx="734616" cy="734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257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25B19526-40FB-4474-37A6-EDEECD2AFA7E}"/>
              </a:ext>
            </a:extLst>
          </p:cNvPr>
          <p:cNvSpPr/>
          <p:nvPr/>
        </p:nvSpPr>
        <p:spPr>
          <a:xfrm>
            <a:off x="1005066" y="661509"/>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95" name="Group 94">
            <a:extLst>
              <a:ext uri="{FF2B5EF4-FFF2-40B4-BE49-F238E27FC236}">
                <a16:creationId xmlns:a16="http://schemas.microsoft.com/office/drawing/2014/main" id="{C86A509A-6F9A-B264-DB35-E5FFAB15811C}"/>
              </a:ext>
            </a:extLst>
          </p:cNvPr>
          <p:cNvGrpSpPr/>
          <p:nvPr/>
        </p:nvGrpSpPr>
        <p:grpSpPr>
          <a:xfrm>
            <a:off x="8745498" y="1279390"/>
            <a:ext cx="2430720" cy="2550986"/>
            <a:chOff x="9159632" y="1250589"/>
            <a:chExt cx="2430720" cy="2550986"/>
          </a:xfrm>
        </p:grpSpPr>
        <p:grpSp>
          <p:nvGrpSpPr>
            <p:cNvPr id="5"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6"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7" name="TextBox 6">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פנינה</a:t>
                </a:r>
              </a:p>
            </p:txBody>
          </p:sp>
        </p:grpSp>
        <p:sp>
          <p:nvSpPr>
            <p:cNvPr id="38" name="TextBox 37">
              <a:extLst>
                <a:ext uri="{FF2B5EF4-FFF2-40B4-BE49-F238E27FC236}">
                  <a16:creationId xmlns:a16="http://schemas.microsoft.com/office/drawing/2014/main" id="{C6861981-1435-339F-B9F4-134A8064152C}"/>
                </a:ext>
              </a:extLst>
            </p:cNvPr>
            <p:cNvSpPr txBox="1"/>
            <p:nvPr/>
          </p:nvSpPr>
          <p:spPr>
            <a:xfrm>
              <a:off x="9382254" y="2457113"/>
              <a:ext cx="2050342" cy="98488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זכאית לגמלת סיעוד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בדרגות 1-2 וצורכת דרך הגמלה שירותי הזדקנות מיטבית</a:t>
              </a:r>
            </a:p>
          </p:txBody>
        </p:sp>
        <p:grpSp>
          <p:nvGrpSpPr>
            <p:cNvPr id="8" name="Group 7">
              <a:extLst>
                <a:ext uri="{FF2B5EF4-FFF2-40B4-BE49-F238E27FC236}">
                  <a16:creationId xmlns:a16="http://schemas.microsoft.com/office/drawing/2014/main" id="{212A6BFE-A171-C957-AD97-B2A730C39BD7}"/>
                </a:ext>
              </a:extLst>
            </p:cNvPr>
            <p:cNvGrpSpPr/>
            <p:nvPr/>
          </p:nvGrpSpPr>
          <p:grpSpPr>
            <a:xfrm>
              <a:off x="9941468" y="1250589"/>
              <a:ext cx="829557" cy="858453"/>
              <a:chOff x="7013479" y="1291019"/>
              <a:chExt cx="829557" cy="858453"/>
            </a:xfrm>
          </p:grpSpPr>
          <p:sp>
            <p:nvSpPr>
              <p:cNvPr id="63" name="Oval 62">
                <a:extLst>
                  <a:ext uri="{FF2B5EF4-FFF2-40B4-BE49-F238E27FC236}">
                    <a16:creationId xmlns:a16="http://schemas.microsoft.com/office/drawing/2014/main" id="{94353670-67C7-ECC5-7FFB-E04600503459}"/>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Old woman with white hair">
                <a:extLst>
                  <a:ext uri="{FF2B5EF4-FFF2-40B4-BE49-F238E27FC236}">
                    <a16:creationId xmlns:a16="http://schemas.microsoft.com/office/drawing/2014/main" id="{8490F924-F156-57A1-CF71-37C1218D9C7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65" name="Group 64">
            <a:extLst>
              <a:ext uri="{FF2B5EF4-FFF2-40B4-BE49-F238E27FC236}">
                <a16:creationId xmlns:a16="http://schemas.microsoft.com/office/drawing/2014/main" id="{C086053C-243D-5D4E-2FC0-92226E385C1D}"/>
              </a:ext>
            </a:extLst>
          </p:cNvPr>
          <p:cNvGrpSpPr/>
          <p:nvPr/>
        </p:nvGrpSpPr>
        <p:grpSpPr>
          <a:xfrm>
            <a:off x="4833452" y="1572006"/>
            <a:ext cx="2365853" cy="2525979"/>
            <a:chOff x="4833452" y="1822375"/>
            <a:chExt cx="2365853" cy="2525979"/>
          </a:xfrm>
        </p:grpSpPr>
        <p:grpSp>
          <p:nvGrpSpPr>
            <p:cNvPr id="32" name="Group 31">
              <a:extLst>
                <a:ext uri="{FF2B5EF4-FFF2-40B4-BE49-F238E27FC236}">
                  <a16:creationId xmlns:a16="http://schemas.microsoft.com/office/drawing/2014/main" id="{BBBBAE82-5EFD-81CE-9485-F141EFBE6B36}"/>
                </a:ext>
              </a:extLst>
            </p:cNvPr>
            <p:cNvGrpSpPr/>
            <p:nvPr/>
          </p:nvGrpSpPr>
          <p:grpSpPr>
            <a:xfrm>
              <a:off x="4833452" y="2324245"/>
              <a:ext cx="2365853" cy="2024109"/>
              <a:chOff x="2151419" y="1676389"/>
              <a:chExt cx="2365853" cy="2024109"/>
            </a:xfrm>
          </p:grpSpPr>
          <p:sp>
            <p:nvSpPr>
              <p:cNvPr id="34" name="Rectangle: Rounded Corners 33">
                <a:extLst>
                  <a:ext uri="{FF2B5EF4-FFF2-40B4-BE49-F238E27FC236}">
                    <a16:creationId xmlns:a16="http://schemas.microsoft.com/office/drawing/2014/main" id="{931720D9-D730-DEBB-C8AF-5EED62C648E0}"/>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5" name="TextBox 34">
                <a:extLst>
                  <a:ext uri="{FF2B5EF4-FFF2-40B4-BE49-F238E27FC236}">
                    <a16:creationId xmlns:a16="http://schemas.microsoft.com/office/drawing/2014/main" id="{5C17D8C2-CAC2-795E-5914-0F4836D5B893}"/>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נעה- מתאמת שירות</a:t>
                </a:r>
              </a:p>
            </p:txBody>
          </p:sp>
        </p:grpSp>
        <p:grpSp>
          <p:nvGrpSpPr>
            <p:cNvPr id="62" name="Group 61">
              <a:extLst>
                <a:ext uri="{FF2B5EF4-FFF2-40B4-BE49-F238E27FC236}">
                  <a16:creationId xmlns:a16="http://schemas.microsoft.com/office/drawing/2014/main" id="{6CE73CF3-19F9-3E08-2CE0-1BE4C6193676}"/>
                </a:ext>
              </a:extLst>
            </p:cNvPr>
            <p:cNvGrpSpPr/>
            <p:nvPr/>
          </p:nvGrpSpPr>
          <p:grpSpPr>
            <a:xfrm>
              <a:off x="5681221" y="1822375"/>
              <a:ext cx="829557" cy="899319"/>
              <a:chOff x="9766001" y="3238294"/>
              <a:chExt cx="829557" cy="899319"/>
            </a:xfrm>
          </p:grpSpPr>
          <p:sp>
            <p:nvSpPr>
              <p:cNvPr id="64" name="Oval 63">
                <a:extLst>
                  <a:ext uri="{FF2B5EF4-FFF2-40B4-BE49-F238E27FC236}">
                    <a16:creationId xmlns:a16="http://schemas.microsoft.com/office/drawing/2014/main" id="{797104DF-5A16-B26E-9E3B-DFAE2EE516F3}"/>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Woman with polka dots shirt">
                <a:extLst>
                  <a:ext uri="{FF2B5EF4-FFF2-40B4-BE49-F238E27FC236}">
                    <a16:creationId xmlns:a16="http://schemas.microsoft.com/office/drawing/2014/main" id="{F14EAB84-AA18-84C5-E153-42A174D8D06C}"/>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9839469" y="3279160"/>
                <a:ext cx="683449" cy="858453"/>
              </a:xfrm>
              <a:prstGeom prst="rect">
                <a:avLst/>
              </a:prstGeom>
            </p:spPr>
          </p:pic>
        </p:grpSp>
      </p:grpSp>
      <p:grpSp>
        <p:nvGrpSpPr>
          <p:cNvPr id="45" name="Group 44">
            <a:extLst>
              <a:ext uri="{FF2B5EF4-FFF2-40B4-BE49-F238E27FC236}">
                <a16:creationId xmlns:a16="http://schemas.microsoft.com/office/drawing/2014/main" id="{CD4F383A-FA0A-F6A7-0A40-235B5FCA73E1}"/>
              </a:ext>
            </a:extLst>
          </p:cNvPr>
          <p:cNvGrpSpPr/>
          <p:nvPr/>
        </p:nvGrpSpPr>
        <p:grpSpPr>
          <a:xfrm>
            <a:off x="2109261" y="1420286"/>
            <a:ext cx="2365853" cy="2693430"/>
            <a:chOff x="3845758" y="0"/>
            <a:chExt cx="2365853" cy="2693430"/>
          </a:xfrm>
        </p:grpSpPr>
        <p:grpSp>
          <p:nvGrpSpPr>
            <p:cNvPr id="27" name="Group 26">
              <a:extLst>
                <a:ext uri="{FF2B5EF4-FFF2-40B4-BE49-F238E27FC236}">
                  <a16:creationId xmlns:a16="http://schemas.microsoft.com/office/drawing/2014/main" id="{BFB76223-0988-D546-04C5-96A9B3020163}"/>
                </a:ext>
              </a:extLst>
            </p:cNvPr>
            <p:cNvGrpSpPr/>
            <p:nvPr/>
          </p:nvGrpSpPr>
          <p:grpSpPr>
            <a:xfrm>
              <a:off x="3845758" y="669321"/>
              <a:ext cx="2365853" cy="2024109"/>
              <a:chOff x="2151419" y="1676389"/>
              <a:chExt cx="2365853" cy="2024109"/>
            </a:xfrm>
          </p:grpSpPr>
          <p:sp>
            <p:nvSpPr>
              <p:cNvPr id="29" name="Rectangle: Rounded Corners 28">
                <a:extLst>
                  <a:ext uri="{FF2B5EF4-FFF2-40B4-BE49-F238E27FC236}">
                    <a16:creationId xmlns:a16="http://schemas.microsoft.com/office/drawing/2014/main" id="{E8367E58-ED4B-CE0D-6283-87DEF0E762A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5F67FDC7-BB7F-360C-742C-5C7EC2E2B04A}"/>
                  </a:ext>
                </a:extLst>
              </p:cNvPr>
              <p:cNvSpPr txBox="1"/>
              <p:nvPr/>
            </p:nvSpPr>
            <p:spPr>
              <a:xfrm>
                <a:off x="2244673" y="2141665"/>
                <a:ext cx="2188264" cy="35394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5260C6">
                        <a:lumMod val="75000"/>
                      </a:srgbClr>
                    </a:solidFill>
                    <a:effectLst/>
                    <a:uLnTx/>
                    <a:uFillTx/>
                    <a:latin typeface="Calibri"/>
                    <a:ea typeface="+mn-ea"/>
                    <a:cs typeface="Calibri"/>
                  </a:rPr>
                  <a:t>חן- עו"ס מנהלת קהילות</a:t>
                </a:r>
              </a:p>
            </p:txBody>
          </p:sp>
        </p:grpSp>
        <p:sp>
          <p:nvSpPr>
            <p:cNvPr id="41" name="TextBox 40">
              <a:extLst>
                <a:ext uri="{FF2B5EF4-FFF2-40B4-BE49-F238E27FC236}">
                  <a16:creationId xmlns:a16="http://schemas.microsoft.com/office/drawing/2014/main" id="{9684D8F2-316C-C829-2835-B299D4DC0D5F}"/>
                </a:ext>
              </a:extLst>
            </p:cNvPr>
            <p:cNvSpPr txBox="1"/>
            <p:nvPr/>
          </p:nvSpPr>
          <p:spPr>
            <a:xfrm>
              <a:off x="3891048" y="1444159"/>
              <a:ext cx="2281518"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מנחה ומדריכה את מתאמות השירות, מטפלת במקרים מורכבים, מסייעת בבניית התוכנית הקהילתית</a:t>
              </a:r>
            </a:p>
          </p:txBody>
        </p:sp>
        <p:sp>
          <p:nvSpPr>
            <p:cNvPr id="67" name="Oval 66">
              <a:extLst>
                <a:ext uri="{FF2B5EF4-FFF2-40B4-BE49-F238E27FC236}">
                  <a16:creationId xmlns:a16="http://schemas.microsoft.com/office/drawing/2014/main" id="{E2BEBCC9-2786-5125-3F60-6DF4A64E7977}"/>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6" name="Graphic 15" descr="Woman with ribbon on hair">
              <a:extLst>
                <a:ext uri="{FF2B5EF4-FFF2-40B4-BE49-F238E27FC236}">
                  <a16:creationId xmlns:a16="http://schemas.microsoft.com/office/drawing/2014/main" id="{90F5E610-EB98-2E56-2332-DF175EBC2778}"/>
                </a:ext>
              </a:extLst>
            </p:cNvPr>
            <p:cNvPicPr preferRelativeResize="0">
              <a:picLocks noChangeAspect="1"/>
            </p:cNvPicPr>
            <p:nvPr/>
          </p:nvPicPr>
          <p:blipFill rotWithShape="1">
            <a:blip r:embed="rId6">
              <a:extLst>
                <a:ext uri="{96DAC541-7B7A-43D3-8B79-37D633B846F1}">
                  <asvg:svgBlip xmlns:asvg="http://schemas.microsoft.com/office/drawing/2016/SVG/main" r:embed="rId7"/>
                </a:ext>
              </a:extLst>
            </a:blip>
            <a:srcRect l="844" t="-5019" r="-8547" b="63927"/>
            <a:stretch/>
          </p:blipFill>
          <p:spPr>
            <a:xfrm>
              <a:off x="4535703" y="0"/>
              <a:ext cx="1344301" cy="972000"/>
            </a:xfrm>
            <a:prstGeom prst="rect">
              <a:avLst/>
            </a:prstGeom>
          </p:spPr>
        </p:pic>
      </p:grpSp>
      <p:sp>
        <p:nvSpPr>
          <p:cNvPr id="52" name="TextBox 51">
            <a:extLst>
              <a:ext uri="{FF2B5EF4-FFF2-40B4-BE49-F238E27FC236}">
                <a16:creationId xmlns:a16="http://schemas.microsoft.com/office/drawing/2014/main" id="{DBAE5C9A-E34F-3FFE-82F2-7EA1FF626959}"/>
              </a:ext>
            </a:extLst>
          </p:cNvPr>
          <p:cNvSpPr txBox="1"/>
          <p:nvPr/>
        </p:nvSpPr>
        <p:spPr>
          <a:xfrm>
            <a:off x="3575218" y="92611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48" name="TextBox 47">
            <a:extLst>
              <a:ext uri="{FF2B5EF4-FFF2-40B4-BE49-F238E27FC236}">
                <a16:creationId xmlns:a16="http://schemas.microsoft.com/office/drawing/2014/main" id="{D591EC5E-85BF-ED76-F078-E40C4FC41B27}"/>
              </a:ext>
            </a:extLst>
          </p:cNvPr>
          <p:cNvSpPr txBox="1"/>
          <p:nvPr/>
        </p:nvSpPr>
        <p:spPr>
          <a:xfrm>
            <a:off x="1653914" y="1243134"/>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49" name="Oval 48">
            <a:extLst>
              <a:ext uri="{FF2B5EF4-FFF2-40B4-BE49-F238E27FC236}">
                <a16:creationId xmlns:a16="http://schemas.microsoft.com/office/drawing/2014/main" id="{CA07287B-8D7D-CFBF-B33E-79F2EA9F3CE3}"/>
              </a:ext>
            </a:extLst>
          </p:cNvPr>
          <p:cNvSpPr/>
          <p:nvPr/>
        </p:nvSpPr>
        <p:spPr>
          <a:xfrm>
            <a:off x="4307697" y="142443"/>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4" name="Graphic 53" descr="Hierarchy outline">
            <a:extLst>
              <a:ext uri="{FF2B5EF4-FFF2-40B4-BE49-F238E27FC236}">
                <a16:creationId xmlns:a16="http://schemas.microsoft.com/office/drawing/2014/main" id="{7AE429BB-22D6-FF7B-A013-CA0E85DEB1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36069" y="230948"/>
            <a:ext cx="572811" cy="572811"/>
          </a:xfrm>
          <a:prstGeom prst="rect">
            <a:avLst/>
          </a:prstGeom>
        </p:spPr>
      </p:pic>
      <p:sp>
        <p:nvSpPr>
          <p:cNvPr id="40" name="TextBox 39">
            <a:extLst>
              <a:ext uri="{FF2B5EF4-FFF2-40B4-BE49-F238E27FC236}">
                <a16:creationId xmlns:a16="http://schemas.microsoft.com/office/drawing/2014/main" id="{680039A8-35AA-729A-C51A-E78322D54EDB}"/>
              </a:ext>
            </a:extLst>
          </p:cNvPr>
          <p:cNvSpPr txBox="1"/>
          <p:nvPr/>
        </p:nvSpPr>
        <p:spPr>
          <a:xfrm>
            <a:off x="5072657" y="2877310"/>
            <a:ext cx="1974044"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דואגת לצרכי החברים בקהילה, מקיימת ביקורי בית, מארגנת פעילויות ועוד</a:t>
            </a:r>
          </a:p>
        </p:txBody>
      </p:sp>
      <p:sp>
        <p:nvSpPr>
          <p:cNvPr id="66" name="Rectangle: Rounded Corners 65">
            <a:extLst>
              <a:ext uri="{FF2B5EF4-FFF2-40B4-BE49-F238E27FC236}">
                <a16:creationId xmlns:a16="http://schemas.microsoft.com/office/drawing/2014/main" id="{BACD3F1D-B976-92DD-728F-7DD047F65A98}"/>
              </a:ext>
            </a:extLst>
          </p:cNvPr>
          <p:cNvSpPr/>
          <p:nvPr/>
        </p:nvSpPr>
        <p:spPr>
          <a:xfrm>
            <a:off x="973041" y="4573796"/>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8" name="TextBox 87">
            <a:extLst>
              <a:ext uri="{FF2B5EF4-FFF2-40B4-BE49-F238E27FC236}">
                <a16:creationId xmlns:a16="http://schemas.microsoft.com/office/drawing/2014/main" id="{127D8124-CEC5-7489-AE8D-9579D7EF2784}"/>
              </a:ext>
            </a:extLst>
          </p:cNvPr>
          <p:cNvSpPr txBox="1"/>
          <p:nvPr/>
        </p:nvSpPr>
        <p:spPr>
          <a:xfrm>
            <a:off x="3380982" y="497694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9" name="TextBox 88">
            <a:extLst>
              <a:ext uri="{FF2B5EF4-FFF2-40B4-BE49-F238E27FC236}">
                <a16:creationId xmlns:a16="http://schemas.microsoft.com/office/drawing/2014/main" id="{7C6EB2BA-02DD-6F2B-E33B-F7DC8C6E285F}"/>
              </a:ext>
            </a:extLst>
          </p:cNvPr>
          <p:cNvSpPr txBox="1"/>
          <p:nvPr/>
        </p:nvSpPr>
        <p:spPr>
          <a:xfrm>
            <a:off x="1300983" y="5415316"/>
            <a:ext cx="6270172" cy="86177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A3A49"/>
                </a:solidFill>
                <a:effectLst/>
                <a:uLnTx/>
                <a:uFillTx/>
                <a:latin typeface="Calibri"/>
                <a:ea typeface="+mn-ea"/>
                <a:cs typeface="Calibri"/>
              </a:rPr>
              <a:t>הפלטפורמה מקוונת עם </a:t>
            </a:r>
            <a:r>
              <a:rPr kumimoji="0" lang="he-IL" sz="1800" b="1" i="0" u="none" strike="noStrike" kern="1200" cap="none" spc="0" normalizeH="0" baseline="0" noProof="0" dirty="0">
                <a:ln>
                  <a:noFill/>
                </a:ln>
                <a:solidFill>
                  <a:srgbClr val="3A3A49"/>
                </a:solidFill>
                <a:effectLst/>
                <a:uLnTx/>
                <a:uFillTx/>
                <a:latin typeface="Calibri"/>
                <a:ea typeface="+mn-ea"/>
                <a:cs typeface="Calibri"/>
              </a:rPr>
              <a:t>"</a:t>
            </a:r>
            <a:r>
              <a:rPr kumimoji="0" lang="he-IL" sz="18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800" b="1" i="0" u="none" strike="noStrike" kern="1200" cap="none" spc="0" normalizeH="0" baseline="0" noProof="0" dirty="0">
                <a:ln>
                  <a:noFill/>
                </a:ln>
                <a:solidFill>
                  <a:srgbClr val="3A3A49"/>
                </a:solidFill>
                <a:effectLst/>
                <a:uLnTx/>
                <a:uFillTx/>
                <a:latin typeface="Calibri"/>
                <a:ea typeface="+mn-ea"/>
                <a:cs typeface="Calibri"/>
              </a:rPr>
              <a:t>" וארנק דיגיטלי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אליו יכולה פנינה להיכנס ולבחור שירותים מתוך סל שירותי הזדקנות מיטבית בהתאם לרצונותיה, כאשר השירותים המוצגים לה לבחירה הותאמו לצרכיה הייחודיים</a:t>
            </a:r>
          </a:p>
        </p:txBody>
      </p:sp>
      <p:grpSp>
        <p:nvGrpSpPr>
          <p:cNvPr id="93" name="Group 92">
            <a:extLst>
              <a:ext uri="{FF2B5EF4-FFF2-40B4-BE49-F238E27FC236}">
                <a16:creationId xmlns:a16="http://schemas.microsoft.com/office/drawing/2014/main" id="{87A481ED-C792-022B-3139-443D5897FFB2}"/>
              </a:ext>
            </a:extLst>
          </p:cNvPr>
          <p:cNvGrpSpPr/>
          <p:nvPr/>
        </p:nvGrpSpPr>
        <p:grpSpPr>
          <a:xfrm>
            <a:off x="4149860" y="4200775"/>
            <a:ext cx="829557" cy="829557"/>
            <a:chOff x="4149860" y="4521155"/>
            <a:chExt cx="829557" cy="829557"/>
          </a:xfrm>
        </p:grpSpPr>
        <p:sp>
          <p:nvSpPr>
            <p:cNvPr id="90" name="Oval 89">
              <a:extLst>
                <a:ext uri="{FF2B5EF4-FFF2-40B4-BE49-F238E27FC236}">
                  <a16:creationId xmlns:a16="http://schemas.microsoft.com/office/drawing/2014/main" id="{5FA96A02-3F80-D650-F82F-4CEF18379790}"/>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1" name="Graphic 90" descr="Ecommerce outline">
              <a:extLst>
                <a:ext uri="{FF2B5EF4-FFF2-40B4-BE49-F238E27FC236}">
                  <a16:creationId xmlns:a16="http://schemas.microsoft.com/office/drawing/2014/main" id="{254A015D-824D-8EA4-7A96-4BC544FB81F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278232" y="4632896"/>
              <a:ext cx="572811" cy="572811"/>
            </a:xfrm>
            <a:prstGeom prst="rect">
              <a:avLst/>
            </a:prstGeom>
          </p:spPr>
        </p:pic>
      </p:grpSp>
      <p:sp>
        <p:nvSpPr>
          <p:cNvPr id="2" name="TextBox 1">
            <a:extLst>
              <a:ext uri="{FF2B5EF4-FFF2-40B4-BE49-F238E27FC236}">
                <a16:creationId xmlns:a16="http://schemas.microsoft.com/office/drawing/2014/main" id="{40A905D7-7215-8D9D-3890-D16249A09FD5}"/>
              </a:ext>
            </a:extLst>
          </p:cNvPr>
          <p:cNvSpPr txBox="1"/>
          <p:nvPr/>
        </p:nvSpPr>
        <p:spPr>
          <a:xfrm>
            <a:off x="7761514" y="230948"/>
            <a:ext cx="4752120" cy="954107"/>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בעלי עניין מרכזיים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 במודל החדש</a:t>
            </a:r>
          </a:p>
        </p:txBody>
      </p:sp>
      <p:grpSp>
        <p:nvGrpSpPr>
          <p:cNvPr id="39" name="Group 94">
            <a:extLst>
              <a:ext uri="{FF2B5EF4-FFF2-40B4-BE49-F238E27FC236}">
                <a16:creationId xmlns:a16="http://schemas.microsoft.com/office/drawing/2014/main" id="{C86A509A-6F9A-B264-DB35-E5FFAB15811C}"/>
              </a:ext>
            </a:extLst>
          </p:cNvPr>
          <p:cNvGrpSpPr/>
          <p:nvPr/>
        </p:nvGrpSpPr>
        <p:grpSpPr>
          <a:xfrm>
            <a:off x="8788239" y="3841665"/>
            <a:ext cx="2430720" cy="2550986"/>
            <a:chOff x="9159632" y="1250589"/>
            <a:chExt cx="2430720" cy="2550986"/>
          </a:xfrm>
        </p:grpSpPr>
        <p:grpSp>
          <p:nvGrpSpPr>
            <p:cNvPr id="42"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50"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נותני השירותים</a:t>
                </a:r>
              </a:p>
            </p:txBody>
          </p:sp>
        </p:grpSp>
        <p:sp>
          <p:nvSpPr>
            <p:cNvPr id="43" name="TextBox 42">
              <a:extLst>
                <a:ext uri="{FF2B5EF4-FFF2-40B4-BE49-F238E27FC236}">
                  <a16:creationId xmlns:a16="http://schemas.microsoft.com/office/drawing/2014/main" id="{C6861981-1435-339F-B9F4-134A8064152C}"/>
                </a:ext>
              </a:extLst>
            </p:cNvPr>
            <p:cNvSpPr txBox="1"/>
            <p:nvPr/>
          </p:nvSpPr>
          <p:spPr>
            <a:xfrm>
              <a:off x="9382254" y="2457113"/>
              <a:ext cx="205034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ספקים מאושרים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למתן שירותי הזדקנות מיטבית ונמדדים בתועלת ושביעות הרצון</a:t>
              </a:r>
            </a:p>
          </p:txBody>
        </p:sp>
        <p:sp>
          <p:nvSpPr>
            <p:cNvPr id="46" name="Oval 62">
              <a:extLst>
                <a:ext uri="{FF2B5EF4-FFF2-40B4-BE49-F238E27FC236}">
                  <a16:creationId xmlns:a16="http://schemas.microsoft.com/office/drawing/2014/main" id="{94353670-67C7-ECC5-7FFB-E04600503459}"/>
                </a:ext>
              </a:extLst>
            </p:cNvPr>
            <p:cNvSpPr/>
            <p:nvPr/>
          </p:nvSpPr>
          <p:spPr>
            <a:xfrm>
              <a:off x="9941468" y="1250589"/>
              <a:ext cx="829557" cy="829557"/>
            </a:xfrm>
            <a:prstGeom prst="ellipse">
              <a:avLst/>
            </a:prstGeom>
            <a:solidFill>
              <a:srgbClr val="35C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sp>
        <p:nvSpPr>
          <p:cNvPr id="9"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0"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1" name="Rectangle 3"/>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3" name="Rectangle 4"/>
          <p:cNvSpPr>
            <a:spLocks noChangeArrowheads="1"/>
          </p:cNvSpPr>
          <p:nvPr/>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4" name="Rectangle 5"/>
          <p:cNvSpPr>
            <a:spLocks noChangeArrowheads="1"/>
          </p:cNvSpPr>
          <p:nvPr/>
        </p:nvSpPr>
        <p:spPr bwMode="auto">
          <a:xfrm>
            <a:off x="6096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5" name="Rectangle 6"/>
          <p:cNvSpPr>
            <a:spLocks noChangeArrowheads="1"/>
          </p:cNvSpPr>
          <p:nvPr/>
        </p:nvSpPr>
        <p:spPr bwMode="auto">
          <a:xfrm>
            <a:off x="762000" y="76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55" name="Freeform 2"/>
          <p:cNvSpPr/>
          <p:nvPr/>
        </p:nvSpPr>
        <p:spPr>
          <a:xfrm>
            <a:off x="9639149" y="3911836"/>
            <a:ext cx="677873" cy="1061057"/>
          </a:xfrm>
          <a:custGeom>
            <a:avLst/>
            <a:gdLst/>
            <a:ahLst/>
            <a:cxnLst/>
            <a:rect l="l" t="t" r="r" b="b"/>
            <a:pathLst>
              <a:path w="2756861" h="5008298">
                <a:moveTo>
                  <a:pt x="0" y="0"/>
                </a:moveTo>
                <a:lnTo>
                  <a:pt x="2756862" y="0"/>
                </a:lnTo>
                <a:lnTo>
                  <a:pt x="2756862" y="5008298"/>
                </a:lnTo>
                <a:lnTo>
                  <a:pt x="0" y="5008298"/>
                </a:lnTo>
                <a:lnTo>
                  <a:pt x="0" y="0"/>
                </a:lnTo>
                <a:close/>
              </a:path>
            </a:pathLst>
          </a:custGeom>
          <a:blipFill>
            <a:blip r:embed="rId12"/>
            <a:stretch>
              <a:fillRect/>
            </a:stretch>
          </a:blipFill>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3A3A49"/>
              </a:solidFill>
              <a:effectLst/>
              <a:uLnTx/>
              <a:uFillTx/>
              <a:latin typeface="Calibri" panose="020F0502020204030204"/>
              <a:ea typeface="+mn-ea"/>
              <a:cs typeface="+mn-cs"/>
            </a:endParaRPr>
          </a:p>
        </p:txBody>
      </p:sp>
      <p:grpSp>
        <p:nvGrpSpPr>
          <p:cNvPr id="22" name="Group 1">
            <a:extLst>
              <a:ext uri="{FF2B5EF4-FFF2-40B4-BE49-F238E27FC236}">
                <a16:creationId xmlns:a16="http://schemas.microsoft.com/office/drawing/2014/main" id="{67549F08-A1C4-C368-2E0E-53BA6E40DEFC}"/>
              </a:ext>
            </a:extLst>
          </p:cNvPr>
          <p:cNvGrpSpPr/>
          <p:nvPr/>
        </p:nvGrpSpPr>
        <p:grpSpPr>
          <a:xfrm>
            <a:off x="240146" y="6459128"/>
            <a:ext cx="1523237" cy="323730"/>
            <a:chOff x="304171" y="6108306"/>
            <a:chExt cx="2542153" cy="560355"/>
          </a:xfrm>
        </p:grpSpPr>
        <p:pic>
          <p:nvPicPr>
            <p:cNvPr id="23" name="Picture 3">
              <a:extLst>
                <a:ext uri="{FF2B5EF4-FFF2-40B4-BE49-F238E27FC236}">
                  <a16:creationId xmlns:a16="http://schemas.microsoft.com/office/drawing/2014/main" id="{6D6B9EB3-16D8-2612-F963-8DFF0F011EB0}"/>
                </a:ext>
              </a:extLst>
            </p:cNvPr>
            <p:cNvPicPr>
              <a:picLocks noChangeAspect="1"/>
            </p:cNvPicPr>
            <p:nvPr/>
          </p:nvPicPr>
          <p:blipFill>
            <a:blip r:embed="rId13"/>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CE512E57-F53A-DB3A-407A-04F60D9B782F}"/>
                </a:ext>
              </a:extLst>
            </p:cNvPr>
            <p:cNvPicPr>
              <a:picLocks noChangeAspect="1"/>
            </p:cNvPicPr>
            <p:nvPr/>
          </p:nvPicPr>
          <p:blipFill>
            <a:blip r:embed="rId14"/>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EF507DE9-4DAC-08AF-BEA5-CF5554118E37}"/>
                </a:ext>
              </a:extLst>
            </p:cNvPr>
            <p:cNvPicPr>
              <a:picLocks noChangeAspect="1"/>
            </p:cNvPicPr>
            <p:nvPr/>
          </p:nvPicPr>
          <p:blipFill>
            <a:blip r:embed="rId15"/>
            <a:stretch>
              <a:fillRect/>
            </a:stretch>
          </p:blipFill>
          <p:spPr>
            <a:xfrm>
              <a:off x="304171" y="6108306"/>
              <a:ext cx="1803400" cy="381000"/>
            </a:xfrm>
            <a:prstGeom prst="rect">
              <a:avLst/>
            </a:prstGeom>
          </p:spPr>
        </p:pic>
      </p:grpSp>
      <p:pic>
        <p:nvPicPr>
          <p:cNvPr id="3" name="Picture 3" descr="קובץ:Ministry of Labor, Social Affairs and Social Services ...">
            <a:extLst>
              <a:ext uri="{FF2B5EF4-FFF2-40B4-BE49-F238E27FC236}">
                <a16:creationId xmlns:a16="http://schemas.microsoft.com/office/drawing/2014/main" id="{FD8A160D-DA73-62DF-39AF-C902FC6455AA}"/>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0356891" y="6377183"/>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Y ישראל - ארנסט אנד יאנג - פירמת ייעוץ וראיית חשבון">
            <a:extLst>
              <a:ext uri="{FF2B5EF4-FFF2-40B4-BE49-F238E27FC236}">
                <a16:creationId xmlns:a16="http://schemas.microsoft.com/office/drawing/2014/main" id="{F88BE642-AA90-9703-1FDA-56BCE76155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5345" y="-51928"/>
            <a:ext cx="696956" cy="696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600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A1691B0-03F4-6C15-0270-08169773E77E}"/>
              </a:ext>
            </a:extLst>
          </p:cNvPr>
          <p:cNvGrpSpPr/>
          <p:nvPr/>
        </p:nvGrpSpPr>
        <p:grpSpPr>
          <a:xfrm>
            <a:off x="9707168" y="1414694"/>
            <a:ext cx="2050342" cy="1924048"/>
            <a:chOff x="9382254" y="1250589"/>
            <a:chExt cx="2050342" cy="1924048"/>
          </a:xfrm>
        </p:grpSpPr>
        <p:sp>
          <p:nvSpPr>
            <p:cNvPr id="6" name="TextBox 5">
              <a:extLst>
                <a:ext uri="{FF2B5EF4-FFF2-40B4-BE49-F238E27FC236}">
                  <a16:creationId xmlns:a16="http://schemas.microsoft.com/office/drawing/2014/main" id="{A9C7F2F5-8694-699E-33BF-6F6765CAFE46}"/>
                </a:ext>
              </a:extLst>
            </p:cNvPr>
            <p:cNvSpPr txBox="1"/>
            <p:nvPr/>
          </p:nvSpPr>
          <p:spPr>
            <a:xfrm>
              <a:off x="9382254" y="2282085"/>
              <a:ext cx="2050342"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מקבלת הכרה בביטוח הלאומי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כזכאית לגמלת סיעוד</a:t>
              </a:r>
            </a:p>
          </p:txBody>
        </p:sp>
        <p:grpSp>
          <p:nvGrpSpPr>
            <p:cNvPr id="7" name="Group 6">
              <a:extLst>
                <a:ext uri="{FF2B5EF4-FFF2-40B4-BE49-F238E27FC236}">
                  <a16:creationId xmlns:a16="http://schemas.microsoft.com/office/drawing/2014/main" id="{D1C9A465-F90B-E03D-1EF6-3ED8BD98EDC2}"/>
                </a:ext>
              </a:extLst>
            </p:cNvPr>
            <p:cNvGrpSpPr/>
            <p:nvPr/>
          </p:nvGrpSpPr>
          <p:grpSpPr>
            <a:xfrm>
              <a:off x="9941468" y="1250589"/>
              <a:ext cx="829557" cy="858453"/>
              <a:chOff x="7013479" y="1291019"/>
              <a:chExt cx="829557" cy="858453"/>
            </a:xfrm>
          </p:grpSpPr>
          <p:sp>
            <p:nvSpPr>
              <p:cNvPr id="8" name="Oval 7">
                <a:extLst>
                  <a:ext uri="{FF2B5EF4-FFF2-40B4-BE49-F238E27FC236}">
                    <a16:creationId xmlns:a16="http://schemas.microsoft.com/office/drawing/2014/main" id="{57588E9D-C712-17FA-2BC8-95402259E3D8}"/>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9" name="Graphic 8" descr="Old woman with white hair">
                <a:extLst>
                  <a:ext uri="{FF2B5EF4-FFF2-40B4-BE49-F238E27FC236}">
                    <a16:creationId xmlns:a16="http://schemas.microsoft.com/office/drawing/2014/main" id="{B5DBE3DE-32AE-24BC-43F5-58BD14A9E5D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12" name="Group 11">
            <a:extLst>
              <a:ext uri="{FF2B5EF4-FFF2-40B4-BE49-F238E27FC236}">
                <a16:creationId xmlns:a16="http://schemas.microsoft.com/office/drawing/2014/main" id="{6C26D86D-EBD3-3D2F-14DB-1ADCF8A29C5A}"/>
              </a:ext>
            </a:extLst>
          </p:cNvPr>
          <p:cNvGrpSpPr/>
          <p:nvPr/>
        </p:nvGrpSpPr>
        <p:grpSpPr>
          <a:xfrm>
            <a:off x="6434322" y="1414693"/>
            <a:ext cx="2698792" cy="2139493"/>
            <a:chOff x="8833745" y="1252905"/>
            <a:chExt cx="2698792" cy="2139493"/>
          </a:xfrm>
        </p:grpSpPr>
        <p:sp>
          <p:nvSpPr>
            <p:cNvPr id="14" name="TextBox 13">
              <a:extLst>
                <a:ext uri="{FF2B5EF4-FFF2-40B4-BE49-F238E27FC236}">
                  <a16:creationId xmlns:a16="http://schemas.microsoft.com/office/drawing/2014/main" id="{D0885D83-F192-5BAA-F7C3-5F8D80E48FEA}"/>
                </a:ext>
              </a:extLst>
            </p:cNvPr>
            <p:cNvSpPr txBox="1"/>
            <p:nvPr/>
          </p:nvSpPr>
          <p:spPr>
            <a:xfrm>
              <a:off x="8833745" y="2284402"/>
              <a:ext cx="2698792" cy="110799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שיוך לקהילה המקומית-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מתאמת השירות שלה יוצרת איתה קשר לשיחת היכרות, מתן מידע על סל השירותים ובירור צרכים</a:t>
              </a:r>
            </a:p>
          </p:txBody>
        </p:sp>
        <p:grpSp>
          <p:nvGrpSpPr>
            <p:cNvPr id="15" name="Group 14">
              <a:extLst>
                <a:ext uri="{FF2B5EF4-FFF2-40B4-BE49-F238E27FC236}">
                  <a16:creationId xmlns:a16="http://schemas.microsoft.com/office/drawing/2014/main" id="{77B98591-45A3-E245-1F56-B2B1576890F5}"/>
                </a:ext>
              </a:extLst>
            </p:cNvPr>
            <p:cNvGrpSpPr/>
            <p:nvPr/>
          </p:nvGrpSpPr>
          <p:grpSpPr>
            <a:xfrm>
              <a:off x="10607696" y="1252905"/>
              <a:ext cx="829557" cy="858453"/>
              <a:chOff x="7679707" y="1293335"/>
              <a:chExt cx="829557" cy="858453"/>
            </a:xfrm>
          </p:grpSpPr>
          <p:sp>
            <p:nvSpPr>
              <p:cNvPr id="16" name="Oval 15">
                <a:extLst>
                  <a:ext uri="{FF2B5EF4-FFF2-40B4-BE49-F238E27FC236}">
                    <a16:creationId xmlns:a16="http://schemas.microsoft.com/office/drawing/2014/main" id="{8FF94094-630F-C496-2F8D-927FFAA09556}"/>
                  </a:ext>
                </a:extLst>
              </p:cNvPr>
              <p:cNvSpPr/>
              <p:nvPr/>
            </p:nvSpPr>
            <p:spPr>
              <a:xfrm>
                <a:off x="7679707" y="129333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7" name="Graphic 16" descr="Old woman with white hair">
                <a:extLst>
                  <a:ext uri="{FF2B5EF4-FFF2-40B4-BE49-F238E27FC236}">
                    <a16:creationId xmlns:a16="http://schemas.microsoft.com/office/drawing/2014/main" id="{D3C797CA-105F-D61F-A0E0-22EF2B9CF289}"/>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718781" y="1293335"/>
                <a:ext cx="683449" cy="858453"/>
              </a:xfrm>
              <a:prstGeom prst="rect">
                <a:avLst/>
              </a:prstGeom>
            </p:spPr>
          </p:pic>
        </p:grpSp>
      </p:grpSp>
      <p:sp>
        <p:nvSpPr>
          <p:cNvPr id="20" name="Oval 19">
            <a:extLst>
              <a:ext uri="{FF2B5EF4-FFF2-40B4-BE49-F238E27FC236}">
                <a16:creationId xmlns:a16="http://schemas.microsoft.com/office/drawing/2014/main" id="{1214F6EF-5956-EF38-4545-613F408EAA02}"/>
              </a:ext>
            </a:extLst>
          </p:cNvPr>
          <p:cNvSpPr/>
          <p:nvPr/>
        </p:nvSpPr>
        <p:spPr>
          <a:xfrm>
            <a:off x="7315183" y="1414693"/>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Woman with polka dots shirt">
            <a:extLst>
              <a:ext uri="{FF2B5EF4-FFF2-40B4-BE49-F238E27FC236}">
                <a16:creationId xmlns:a16="http://schemas.microsoft.com/office/drawing/2014/main" id="{C199BABC-2EE3-CCC5-1E51-45B76104B2A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388651" y="1455559"/>
            <a:ext cx="683449" cy="858453"/>
          </a:xfrm>
          <a:prstGeom prst="rect">
            <a:avLst/>
          </a:prstGeom>
        </p:spPr>
      </p:pic>
      <p:grpSp>
        <p:nvGrpSpPr>
          <p:cNvPr id="25" name="Group 24">
            <a:extLst>
              <a:ext uri="{FF2B5EF4-FFF2-40B4-BE49-F238E27FC236}">
                <a16:creationId xmlns:a16="http://schemas.microsoft.com/office/drawing/2014/main" id="{AF9D4922-E96A-16BE-49A1-DE429652EBA3}"/>
              </a:ext>
            </a:extLst>
          </p:cNvPr>
          <p:cNvGrpSpPr/>
          <p:nvPr/>
        </p:nvGrpSpPr>
        <p:grpSpPr>
          <a:xfrm>
            <a:off x="6434322" y="1443589"/>
            <a:ext cx="829557" cy="829557"/>
            <a:chOff x="6706929" y="-1033693"/>
            <a:chExt cx="829557" cy="829557"/>
          </a:xfrm>
        </p:grpSpPr>
        <p:sp>
          <p:nvSpPr>
            <p:cNvPr id="26" name="Oval 25">
              <a:extLst>
                <a:ext uri="{FF2B5EF4-FFF2-40B4-BE49-F238E27FC236}">
                  <a16:creationId xmlns:a16="http://schemas.microsoft.com/office/drawing/2014/main" id="{3D4F8B0F-AEEB-2BD4-3A74-A0DF2CBD0BD7}"/>
                </a:ext>
              </a:extLst>
            </p:cNvPr>
            <p:cNvSpPr/>
            <p:nvPr/>
          </p:nvSpPr>
          <p:spPr>
            <a:xfrm>
              <a:off x="6706929" y="-1033693"/>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7" name="Graphic 26" descr="Neighborhood outline">
              <a:extLst>
                <a:ext uri="{FF2B5EF4-FFF2-40B4-BE49-F238E27FC236}">
                  <a16:creationId xmlns:a16="http://schemas.microsoft.com/office/drawing/2014/main" id="{AF79B8DF-6B38-D73E-FE67-2AF60E089F7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740740" y="-941269"/>
              <a:ext cx="697543" cy="697543"/>
            </a:xfrm>
            <a:prstGeom prst="rect">
              <a:avLst/>
            </a:prstGeom>
          </p:spPr>
        </p:pic>
      </p:grpSp>
      <p:grpSp>
        <p:nvGrpSpPr>
          <p:cNvPr id="31" name="Group 30">
            <a:extLst>
              <a:ext uri="{FF2B5EF4-FFF2-40B4-BE49-F238E27FC236}">
                <a16:creationId xmlns:a16="http://schemas.microsoft.com/office/drawing/2014/main" id="{8128A0FA-38A9-B5C4-4769-84203E549829}"/>
              </a:ext>
            </a:extLst>
          </p:cNvPr>
          <p:cNvGrpSpPr/>
          <p:nvPr/>
        </p:nvGrpSpPr>
        <p:grpSpPr>
          <a:xfrm>
            <a:off x="3680404" y="1375103"/>
            <a:ext cx="2415596" cy="1715101"/>
            <a:chOff x="9200885" y="1213315"/>
            <a:chExt cx="2415596" cy="1715101"/>
          </a:xfrm>
        </p:grpSpPr>
        <p:sp>
          <p:nvSpPr>
            <p:cNvPr id="33" name="TextBox 32">
              <a:extLst>
                <a:ext uri="{FF2B5EF4-FFF2-40B4-BE49-F238E27FC236}">
                  <a16:creationId xmlns:a16="http://schemas.microsoft.com/office/drawing/2014/main" id="{B822103C-78D6-FEFD-EABD-4B9D775FF7BC}"/>
                </a:ext>
              </a:extLst>
            </p:cNvPr>
            <p:cNvSpPr txBox="1"/>
            <p:nvPr/>
          </p:nvSpPr>
          <p:spPr>
            <a:xfrm>
              <a:off x="9200885" y="2282085"/>
              <a:ext cx="2415596"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a:t>
              </a:r>
              <a:r>
                <a:rPr kumimoji="0" lang="he-IL" b="0" i="0" u="none" strike="noStrike" kern="1200" cap="none" spc="0" normalizeH="0" baseline="0" noProof="0" dirty="0">
                  <a:ln>
                    <a:noFill/>
                  </a:ln>
                  <a:solidFill>
                    <a:srgbClr val="3A3A49"/>
                  </a:solidFill>
                  <a:effectLst/>
                  <a:uLnTx/>
                  <a:uFillTx/>
                  <a:latin typeface="Calibri"/>
                  <a:ea typeface="+mn-ea"/>
                  <a:cs typeface="Calibri"/>
                </a:rPr>
                <a:t> </a:t>
              </a:r>
              <a:r>
                <a:rPr kumimoji="0" lang="he-IL" b="1" i="0" u="none" strike="noStrike" kern="1200" cap="none" spc="0" normalizeH="0" baseline="0" noProof="0" dirty="0">
                  <a:ln>
                    <a:noFill/>
                  </a:ln>
                  <a:solidFill>
                    <a:srgbClr val="3A3A49"/>
                  </a:solidFill>
                  <a:effectLst/>
                  <a:uLnTx/>
                  <a:uFillTx/>
                  <a:latin typeface="Calibri"/>
                  <a:ea typeface="+mn-ea"/>
                  <a:cs typeface="Calibri"/>
                </a:rPr>
                <a:t>נכנסת לפלטפורמה המקוונת</a:t>
              </a:r>
            </a:p>
          </p:txBody>
        </p:sp>
        <p:grpSp>
          <p:nvGrpSpPr>
            <p:cNvPr id="34" name="Group 33">
              <a:extLst>
                <a:ext uri="{FF2B5EF4-FFF2-40B4-BE49-F238E27FC236}">
                  <a16:creationId xmlns:a16="http://schemas.microsoft.com/office/drawing/2014/main" id="{EA546DEF-24BB-D273-1ADC-648A3B977FE8}"/>
                </a:ext>
              </a:extLst>
            </p:cNvPr>
            <p:cNvGrpSpPr/>
            <p:nvPr/>
          </p:nvGrpSpPr>
          <p:grpSpPr>
            <a:xfrm>
              <a:off x="10439480" y="1213315"/>
              <a:ext cx="829557" cy="858453"/>
              <a:chOff x="7511491" y="1253745"/>
              <a:chExt cx="829557" cy="858453"/>
            </a:xfrm>
          </p:grpSpPr>
          <p:sp>
            <p:nvSpPr>
              <p:cNvPr id="35" name="Oval 34">
                <a:extLst>
                  <a:ext uri="{FF2B5EF4-FFF2-40B4-BE49-F238E27FC236}">
                    <a16:creationId xmlns:a16="http://schemas.microsoft.com/office/drawing/2014/main" id="{F49086CD-372F-6A6A-936D-338B73ED0389}"/>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6" name="Graphic 35" descr="Old woman with white hair">
                <a:extLst>
                  <a:ext uri="{FF2B5EF4-FFF2-40B4-BE49-F238E27FC236}">
                    <a16:creationId xmlns:a16="http://schemas.microsoft.com/office/drawing/2014/main" id="{F4D6CD4B-E2D4-DAC7-3613-0DA3485CA9D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0" name="Group 39">
            <a:extLst>
              <a:ext uri="{FF2B5EF4-FFF2-40B4-BE49-F238E27FC236}">
                <a16:creationId xmlns:a16="http://schemas.microsoft.com/office/drawing/2014/main" id="{D29B03EE-16A5-3801-29E5-F2313E89DC1C}"/>
              </a:ext>
            </a:extLst>
          </p:cNvPr>
          <p:cNvGrpSpPr/>
          <p:nvPr/>
        </p:nvGrpSpPr>
        <p:grpSpPr>
          <a:xfrm>
            <a:off x="3964670" y="1414693"/>
            <a:ext cx="829557" cy="829557"/>
            <a:chOff x="4149860" y="4521155"/>
            <a:chExt cx="829557" cy="829557"/>
          </a:xfrm>
        </p:grpSpPr>
        <p:sp>
          <p:nvSpPr>
            <p:cNvPr id="37" name="Oval 36">
              <a:extLst>
                <a:ext uri="{FF2B5EF4-FFF2-40B4-BE49-F238E27FC236}">
                  <a16:creationId xmlns:a16="http://schemas.microsoft.com/office/drawing/2014/main" id="{3F1CC582-7FAF-084A-6120-234A9629D191}"/>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Ecommerce outline">
              <a:extLst>
                <a:ext uri="{FF2B5EF4-FFF2-40B4-BE49-F238E27FC236}">
                  <a16:creationId xmlns:a16="http://schemas.microsoft.com/office/drawing/2014/main" id="{C9C1DC3A-DF76-D979-2055-ECDAB67B96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41" name="Group 40">
            <a:extLst>
              <a:ext uri="{FF2B5EF4-FFF2-40B4-BE49-F238E27FC236}">
                <a16:creationId xmlns:a16="http://schemas.microsoft.com/office/drawing/2014/main" id="{8145C514-9216-6C5A-A55F-BE18C9ED3C92}"/>
              </a:ext>
            </a:extLst>
          </p:cNvPr>
          <p:cNvGrpSpPr/>
          <p:nvPr/>
        </p:nvGrpSpPr>
        <p:grpSpPr>
          <a:xfrm>
            <a:off x="783772" y="1380954"/>
            <a:ext cx="2558310" cy="1715101"/>
            <a:chOff x="9181689" y="1213315"/>
            <a:chExt cx="2558310" cy="1715101"/>
          </a:xfrm>
        </p:grpSpPr>
        <p:sp>
          <p:nvSpPr>
            <p:cNvPr id="43" name="TextBox 42">
              <a:extLst>
                <a:ext uri="{FF2B5EF4-FFF2-40B4-BE49-F238E27FC236}">
                  <a16:creationId xmlns:a16="http://schemas.microsoft.com/office/drawing/2014/main" id="{7DE91288-1E02-913B-6A0D-26A8D7FCB692}"/>
                </a:ext>
              </a:extLst>
            </p:cNvPr>
            <p:cNvSpPr txBox="1"/>
            <p:nvPr/>
          </p:nvSpPr>
          <p:spPr>
            <a:xfrm>
              <a:off x="9181689" y="2282085"/>
              <a:ext cx="2558310" cy="64633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עונה על שאלון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בירור צרכים</a:t>
              </a:r>
              <a:endParaRPr kumimoji="0" lang="he-IL" sz="1600" b="0"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44" name="Group 43">
              <a:extLst>
                <a:ext uri="{FF2B5EF4-FFF2-40B4-BE49-F238E27FC236}">
                  <a16:creationId xmlns:a16="http://schemas.microsoft.com/office/drawing/2014/main" id="{E3062F52-B6C2-45AF-FB6A-ED362708E9BB}"/>
                </a:ext>
              </a:extLst>
            </p:cNvPr>
            <p:cNvGrpSpPr/>
            <p:nvPr/>
          </p:nvGrpSpPr>
          <p:grpSpPr>
            <a:xfrm>
              <a:off x="10439480" y="1213315"/>
              <a:ext cx="829557" cy="858453"/>
              <a:chOff x="7511491" y="1253745"/>
              <a:chExt cx="829557" cy="858453"/>
            </a:xfrm>
          </p:grpSpPr>
          <p:sp>
            <p:nvSpPr>
              <p:cNvPr id="45" name="Oval 44">
                <a:extLst>
                  <a:ext uri="{FF2B5EF4-FFF2-40B4-BE49-F238E27FC236}">
                    <a16:creationId xmlns:a16="http://schemas.microsoft.com/office/drawing/2014/main" id="{E60110EA-0EE0-DAA4-2844-DC4387D8668D}"/>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46" name="Graphic 45" descr="Old woman with white hair">
                <a:extLst>
                  <a:ext uri="{FF2B5EF4-FFF2-40B4-BE49-F238E27FC236}">
                    <a16:creationId xmlns:a16="http://schemas.microsoft.com/office/drawing/2014/main" id="{C3CA0F48-44C7-4D38-29A1-D8EB0B52B5C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7" name="Group 46">
            <a:extLst>
              <a:ext uri="{FF2B5EF4-FFF2-40B4-BE49-F238E27FC236}">
                <a16:creationId xmlns:a16="http://schemas.microsoft.com/office/drawing/2014/main" id="{3332A7DA-4A21-8CF5-E2BA-7C3E734F5B5C}"/>
              </a:ext>
            </a:extLst>
          </p:cNvPr>
          <p:cNvGrpSpPr/>
          <p:nvPr/>
        </p:nvGrpSpPr>
        <p:grpSpPr>
          <a:xfrm>
            <a:off x="1087234" y="1420544"/>
            <a:ext cx="829557" cy="829557"/>
            <a:chOff x="4149860" y="4521155"/>
            <a:chExt cx="829557" cy="829557"/>
          </a:xfrm>
        </p:grpSpPr>
        <p:sp>
          <p:nvSpPr>
            <p:cNvPr id="48" name="Oval 47">
              <a:extLst>
                <a:ext uri="{FF2B5EF4-FFF2-40B4-BE49-F238E27FC236}">
                  <a16:creationId xmlns:a16="http://schemas.microsoft.com/office/drawing/2014/main" id="{F7D0E19F-F955-9DEA-C056-48DA71F9E757}"/>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9" name="Graphic 48" descr="Ecommerce outline">
              <a:extLst>
                <a:ext uri="{FF2B5EF4-FFF2-40B4-BE49-F238E27FC236}">
                  <a16:creationId xmlns:a16="http://schemas.microsoft.com/office/drawing/2014/main" id="{73266DE4-90E4-F754-3F2A-D61E2A7CE2B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sp>
        <p:nvSpPr>
          <p:cNvPr id="52" name="TextBox 51">
            <a:extLst>
              <a:ext uri="{FF2B5EF4-FFF2-40B4-BE49-F238E27FC236}">
                <a16:creationId xmlns:a16="http://schemas.microsoft.com/office/drawing/2014/main" id="{9BC42695-35DB-DDC2-23E8-72D605281A8F}"/>
              </a:ext>
            </a:extLst>
          </p:cNvPr>
          <p:cNvSpPr txBox="1"/>
          <p:nvPr/>
        </p:nvSpPr>
        <p:spPr>
          <a:xfrm>
            <a:off x="9133114" y="5327606"/>
            <a:ext cx="325491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panose="020F0502020204030204"/>
                <a:ea typeface="+mn-ea"/>
                <a:cs typeface="Calibri"/>
              </a:rPr>
              <a:t>המערכת מייצרת עבורה סל שירותי הזדקנות מיטבית מותאם אישית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למידע בשאלון ולמידע שקיים במערכת מהביטוח הלאומי וקופ"ח, </a:t>
            </a:r>
            <a:endParaRPr kumimoji="0" lang="he-IL" sz="1600" b="1"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56" name="Group 55">
            <a:extLst>
              <a:ext uri="{FF2B5EF4-FFF2-40B4-BE49-F238E27FC236}">
                <a16:creationId xmlns:a16="http://schemas.microsoft.com/office/drawing/2014/main" id="{66239C71-594D-2A78-6223-4A0C15B10D29}"/>
              </a:ext>
            </a:extLst>
          </p:cNvPr>
          <p:cNvGrpSpPr/>
          <p:nvPr/>
        </p:nvGrpSpPr>
        <p:grpSpPr>
          <a:xfrm>
            <a:off x="10305456" y="4384711"/>
            <a:ext cx="829557" cy="829557"/>
            <a:chOff x="4149860" y="4521155"/>
            <a:chExt cx="829557" cy="829557"/>
          </a:xfrm>
        </p:grpSpPr>
        <p:sp>
          <p:nvSpPr>
            <p:cNvPr id="57" name="Oval 56">
              <a:extLst>
                <a:ext uri="{FF2B5EF4-FFF2-40B4-BE49-F238E27FC236}">
                  <a16:creationId xmlns:a16="http://schemas.microsoft.com/office/drawing/2014/main" id="{4D367F3F-1B78-05AA-0C59-FCF88FE91B59}"/>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8" name="Graphic 57" descr="Ecommerce outline">
              <a:extLst>
                <a:ext uri="{FF2B5EF4-FFF2-40B4-BE49-F238E27FC236}">
                  <a16:creationId xmlns:a16="http://schemas.microsoft.com/office/drawing/2014/main" id="{7B22C2FF-542A-9159-6CA3-9FC523D2E06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59" name="Group 58">
            <a:extLst>
              <a:ext uri="{FF2B5EF4-FFF2-40B4-BE49-F238E27FC236}">
                <a16:creationId xmlns:a16="http://schemas.microsoft.com/office/drawing/2014/main" id="{FFECA77F-543D-E648-0D35-F05D9ADDF416}"/>
              </a:ext>
            </a:extLst>
          </p:cNvPr>
          <p:cNvGrpSpPr/>
          <p:nvPr/>
        </p:nvGrpSpPr>
        <p:grpSpPr>
          <a:xfrm>
            <a:off x="5214329" y="4346910"/>
            <a:ext cx="3896934" cy="1934804"/>
            <a:chOff x="7829206" y="1206117"/>
            <a:chExt cx="3896934" cy="1934804"/>
          </a:xfrm>
        </p:grpSpPr>
        <p:sp>
          <p:nvSpPr>
            <p:cNvPr id="61" name="TextBox 60">
              <a:extLst>
                <a:ext uri="{FF2B5EF4-FFF2-40B4-BE49-F238E27FC236}">
                  <a16:creationId xmlns:a16="http://schemas.microsoft.com/office/drawing/2014/main" id="{58555CAD-040F-85C2-1554-9E539BC692EC}"/>
                </a:ext>
              </a:extLst>
            </p:cNvPr>
            <p:cNvSpPr txBox="1"/>
            <p:nvPr/>
          </p:nvSpPr>
          <p:spPr>
            <a:xfrm>
              <a:off x="7829206" y="2248369"/>
              <a:ext cx="3896934"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פנינה בוחרת את השירותים שבהם היא מעוניינת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(בהתאם לכמות היחידות שבחרה להמיר לסל שירותי הזדקנות מיטבית)</a:t>
              </a:r>
            </a:p>
          </p:txBody>
        </p:sp>
        <p:grpSp>
          <p:nvGrpSpPr>
            <p:cNvPr id="62" name="Group 61">
              <a:extLst>
                <a:ext uri="{FF2B5EF4-FFF2-40B4-BE49-F238E27FC236}">
                  <a16:creationId xmlns:a16="http://schemas.microsoft.com/office/drawing/2014/main" id="{A7BEFF38-340E-1038-93DD-51A6121D6460}"/>
                </a:ext>
              </a:extLst>
            </p:cNvPr>
            <p:cNvGrpSpPr/>
            <p:nvPr/>
          </p:nvGrpSpPr>
          <p:grpSpPr>
            <a:xfrm>
              <a:off x="10896582" y="1206117"/>
              <a:ext cx="829557" cy="858453"/>
              <a:chOff x="7968593" y="1246547"/>
              <a:chExt cx="829557" cy="858453"/>
            </a:xfrm>
          </p:grpSpPr>
          <p:sp>
            <p:nvSpPr>
              <p:cNvPr id="63" name="Oval 62">
                <a:extLst>
                  <a:ext uri="{FF2B5EF4-FFF2-40B4-BE49-F238E27FC236}">
                    <a16:creationId xmlns:a16="http://schemas.microsoft.com/office/drawing/2014/main" id="{D082D347-AC61-E2F8-1712-9BCE5AD14828}"/>
                  </a:ext>
                </a:extLst>
              </p:cNvPr>
              <p:cNvSpPr/>
              <p:nvPr/>
            </p:nvSpPr>
            <p:spPr>
              <a:xfrm>
                <a:off x="7968593" y="1246547"/>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4" name="Graphic 63" descr="Old woman with white hair">
                <a:extLst>
                  <a:ext uri="{FF2B5EF4-FFF2-40B4-BE49-F238E27FC236}">
                    <a16:creationId xmlns:a16="http://schemas.microsoft.com/office/drawing/2014/main" id="{815B2C98-534B-D3F9-84AD-6DC10A6838B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8007667" y="1246547"/>
                <a:ext cx="683449" cy="858453"/>
              </a:xfrm>
              <a:prstGeom prst="rect">
                <a:avLst/>
              </a:prstGeom>
            </p:spPr>
          </p:pic>
        </p:grpSp>
      </p:grpSp>
      <p:grpSp>
        <p:nvGrpSpPr>
          <p:cNvPr id="65" name="Group 64">
            <a:extLst>
              <a:ext uri="{FF2B5EF4-FFF2-40B4-BE49-F238E27FC236}">
                <a16:creationId xmlns:a16="http://schemas.microsoft.com/office/drawing/2014/main" id="{6D206F1E-C721-F7BD-C8F0-20EFD267C952}"/>
              </a:ext>
            </a:extLst>
          </p:cNvPr>
          <p:cNvGrpSpPr/>
          <p:nvPr/>
        </p:nvGrpSpPr>
        <p:grpSpPr>
          <a:xfrm>
            <a:off x="7471685" y="4371302"/>
            <a:ext cx="829557" cy="829557"/>
            <a:chOff x="4149860" y="4521155"/>
            <a:chExt cx="829557" cy="829557"/>
          </a:xfrm>
        </p:grpSpPr>
        <p:sp>
          <p:nvSpPr>
            <p:cNvPr id="66" name="Oval 65">
              <a:extLst>
                <a:ext uri="{FF2B5EF4-FFF2-40B4-BE49-F238E27FC236}">
                  <a16:creationId xmlns:a16="http://schemas.microsoft.com/office/drawing/2014/main" id="{7F157C04-1E46-1CD7-48B6-A4C77928B923}"/>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67" name="Graphic 66" descr="Ecommerce outline">
              <a:extLst>
                <a:ext uri="{FF2B5EF4-FFF2-40B4-BE49-F238E27FC236}">
                  <a16:creationId xmlns:a16="http://schemas.microsoft.com/office/drawing/2014/main" id="{DB54D456-EEDD-0749-1084-5908704500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79" name="Group 78">
            <a:extLst>
              <a:ext uri="{FF2B5EF4-FFF2-40B4-BE49-F238E27FC236}">
                <a16:creationId xmlns:a16="http://schemas.microsoft.com/office/drawing/2014/main" id="{1A30EB94-43E3-7888-0226-7B3B21EB3D85}"/>
              </a:ext>
            </a:extLst>
          </p:cNvPr>
          <p:cNvGrpSpPr/>
          <p:nvPr/>
        </p:nvGrpSpPr>
        <p:grpSpPr>
          <a:xfrm>
            <a:off x="6658778" y="4358135"/>
            <a:ext cx="829557" cy="829557"/>
            <a:chOff x="7095662" y="2449255"/>
            <a:chExt cx="829557" cy="829557"/>
          </a:xfrm>
        </p:grpSpPr>
        <p:sp>
          <p:nvSpPr>
            <p:cNvPr id="77" name="Oval 76">
              <a:extLst>
                <a:ext uri="{FF2B5EF4-FFF2-40B4-BE49-F238E27FC236}">
                  <a16:creationId xmlns:a16="http://schemas.microsoft.com/office/drawing/2014/main" id="{E9306E60-FC36-74F2-F9C8-3F4C77702821}"/>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78" name="Graphic 77" descr="Neighborhood outline">
              <a:extLst>
                <a:ext uri="{FF2B5EF4-FFF2-40B4-BE49-F238E27FC236}">
                  <a16:creationId xmlns:a16="http://schemas.microsoft.com/office/drawing/2014/main" id="{095BED38-2C46-7556-B842-36A86089759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80" name="Oval 79">
            <a:extLst>
              <a:ext uri="{FF2B5EF4-FFF2-40B4-BE49-F238E27FC236}">
                <a16:creationId xmlns:a16="http://schemas.microsoft.com/office/drawing/2014/main" id="{E56C1F54-5702-15FD-AB5A-34A11F98EA62}"/>
              </a:ext>
            </a:extLst>
          </p:cNvPr>
          <p:cNvSpPr/>
          <p:nvPr/>
        </p:nvSpPr>
        <p:spPr>
          <a:xfrm>
            <a:off x="5953767" y="4384065"/>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1" name="Graphic 80" descr="Alterations &amp; Tailoring outline">
            <a:extLst>
              <a:ext uri="{FF2B5EF4-FFF2-40B4-BE49-F238E27FC236}">
                <a16:creationId xmlns:a16="http://schemas.microsoft.com/office/drawing/2014/main" id="{B4BF8D0A-8C17-8DC5-1DA1-E92A929F821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6027239" y="4450071"/>
            <a:ext cx="697543" cy="697543"/>
          </a:xfrm>
          <a:prstGeom prst="rect">
            <a:avLst/>
          </a:prstGeom>
        </p:spPr>
      </p:pic>
      <p:grpSp>
        <p:nvGrpSpPr>
          <p:cNvPr id="85" name="Group 84">
            <a:extLst>
              <a:ext uri="{FF2B5EF4-FFF2-40B4-BE49-F238E27FC236}">
                <a16:creationId xmlns:a16="http://schemas.microsoft.com/office/drawing/2014/main" id="{1FCCB6BF-D091-F6AD-104D-6E9C9FF8C765}"/>
              </a:ext>
            </a:extLst>
          </p:cNvPr>
          <p:cNvGrpSpPr/>
          <p:nvPr/>
        </p:nvGrpSpPr>
        <p:grpSpPr>
          <a:xfrm>
            <a:off x="5148322" y="4409995"/>
            <a:ext cx="829557" cy="829557"/>
            <a:chOff x="9961982" y="1296250"/>
            <a:chExt cx="829557" cy="829557"/>
          </a:xfrm>
        </p:grpSpPr>
        <p:sp>
          <p:nvSpPr>
            <p:cNvPr id="86" name="Oval 85">
              <a:extLst>
                <a:ext uri="{FF2B5EF4-FFF2-40B4-BE49-F238E27FC236}">
                  <a16:creationId xmlns:a16="http://schemas.microsoft.com/office/drawing/2014/main" id="{A5FB0136-803F-1802-DCAB-78875198D06D}"/>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86" descr="Heart with pulse outline">
              <a:extLst>
                <a:ext uri="{FF2B5EF4-FFF2-40B4-BE49-F238E27FC236}">
                  <a16:creationId xmlns:a16="http://schemas.microsoft.com/office/drawing/2014/main" id="{7BC8F03C-B1F9-9EDC-4FCA-DC4C647B23B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93" name="TextBox 92">
            <a:extLst>
              <a:ext uri="{FF2B5EF4-FFF2-40B4-BE49-F238E27FC236}">
                <a16:creationId xmlns:a16="http://schemas.microsoft.com/office/drawing/2014/main" id="{02ECE29A-5B4B-2433-5E85-8D8BA5572DFB}"/>
              </a:ext>
            </a:extLst>
          </p:cNvPr>
          <p:cNvSpPr txBox="1"/>
          <p:nvPr/>
        </p:nvSpPr>
        <p:spPr>
          <a:xfrm>
            <a:off x="783771" y="5418049"/>
            <a:ext cx="3878863" cy="89255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b="1" i="0" u="none" strike="noStrike" kern="1200" cap="none" spc="0" normalizeH="0" baseline="0" noProof="0" dirty="0">
                <a:ln>
                  <a:noFill/>
                </a:ln>
                <a:solidFill>
                  <a:srgbClr val="3A3A49"/>
                </a:solidFill>
                <a:effectLst/>
                <a:uLnTx/>
                <a:uFillTx/>
                <a:latin typeface="Calibri"/>
                <a:ea typeface="+mn-ea"/>
                <a:cs typeface="Calibri"/>
              </a:rPr>
              <a:t>הבחירות נשלחות לספקי השירות השונים ולמתאמת השירות </a:t>
            </a:r>
            <a:r>
              <a:rPr kumimoji="0" lang="he-IL" sz="1600" b="0" i="0" u="none" strike="noStrike" kern="1200" cap="none" spc="0" normalizeH="0" baseline="0" noProof="0" dirty="0">
                <a:ln>
                  <a:noFill/>
                </a:ln>
                <a:solidFill>
                  <a:srgbClr val="3A3A49"/>
                </a:solidFill>
                <a:effectLst/>
                <a:uLnTx/>
                <a:uFillTx/>
                <a:latin typeface="Calibri"/>
                <a:ea typeface="+mn-ea"/>
                <a:cs typeface="Calibri"/>
              </a:rPr>
              <a:t>שתבצע מעקב אחרי יישום התוכנית, הצלחתה והתאמתה לצרכיה</a:t>
            </a:r>
          </a:p>
        </p:txBody>
      </p:sp>
      <p:grpSp>
        <p:nvGrpSpPr>
          <p:cNvPr id="97" name="Group 96">
            <a:extLst>
              <a:ext uri="{FF2B5EF4-FFF2-40B4-BE49-F238E27FC236}">
                <a16:creationId xmlns:a16="http://schemas.microsoft.com/office/drawing/2014/main" id="{61F5553C-A924-7948-6531-C9D5D3E6AAD7}"/>
              </a:ext>
            </a:extLst>
          </p:cNvPr>
          <p:cNvGrpSpPr/>
          <p:nvPr/>
        </p:nvGrpSpPr>
        <p:grpSpPr>
          <a:xfrm>
            <a:off x="3833078" y="4407811"/>
            <a:ext cx="829557" cy="829557"/>
            <a:chOff x="4149860" y="4521155"/>
            <a:chExt cx="829557" cy="829557"/>
          </a:xfrm>
        </p:grpSpPr>
        <p:sp>
          <p:nvSpPr>
            <p:cNvPr id="98" name="Oval 97">
              <a:extLst>
                <a:ext uri="{FF2B5EF4-FFF2-40B4-BE49-F238E27FC236}">
                  <a16:creationId xmlns:a16="http://schemas.microsoft.com/office/drawing/2014/main" id="{924B2C75-4E3F-A472-C652-856DF52B93DB}"/>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9" name="Graphic 98" descr="Ecommerce outline">
              <a:extLst>
                <a:ext uri="{FF2B5EF4-FFF2-40B4-BE49-F238E27FC236}">
                  <a16:creationId xmlns:a16="http://schemas.microsoft.com/office/drawing/2014/main" id="{FAB5C19B-1547-F1EA-3790-E7A927BA7B1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100" name="Group 99">
            <a:extLst>
              <a:ext uri="{FF2B5EF4-FFF2-40B4-BE49-F238E27FC236}">
                <a16:creationId xmlns:a16="http://schemas.microsoft.com/office/drawing/2014/main" id="{A77EF8BA-7D56-EA0A-74C4-C328E0F50FF1}"/>
              </a:ext>
            </a:extLst>
          </p:cNvPr>
          <p:cNvGrpSpPr/>
          <p:nvPr/>
        </p:nvGrpSpPr>
        <p:grpSpPr>
          <a:xfrm>
            <a:off x="3020171" y="4394644"/>
            <a:ext cx="829557" cy="829557"/>
            <a:chOff x="7095662" y="2449255"/>
            <a:chExt cx="829557" cy="829557"/>
          </a:xfrm>
        </p:grpSpPr>
        <p:sp>
          <p:nvSpPr>
            <p:cNvPr id="101" name="Oval 100">
              <a:extLst>
                <a:ext uri="{FF2B5EF4-FFF2-40B4-BE49-F238E27FC236}">
                  <a16:creationId xmlns:a16="http://schemas.microsoft.com/office/drawing/2014/main" id="{A2AF8F1A-92F2-9FF9-2355-8BA39E3CB438}"/>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2" name="Graphic 101" descr="Neighborhood outline">
              <a:extLst>
                <a:ext uri="{FF2B5EF4-FFF2-40B4-BE49-F238E27FC236}">
                  <a16:creationId xmlns:a16="http://schemas.microsoft.com/office/drawing/2014/main" id="{F2E7EB0C-4C0D-0519-80D3-6284E8549D5A}"/>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103" name="Oval 102">
            <a:extLst>
              <a:ext uri="{FF2B5EF4-FFF2-40B4-BE49-F238E27FC236}">
                <a16:creationId xmlns:a16="http://schemas.microsoft.com/office/drawing/2014/main" id="{2267B626-CACD-9F14-1BBB-FBE3AA7A2564}"/>
              </a:ext>
            </a:extLst>
          </p:cNvPr>
          <p:cNvSpPr/>
          <p:nvPr/>
        </p:nvSpPr>
        <p:spPr>
          <a:xfrm>
            <a:off x="2315160" y="4420574"/>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4" name="Graphic 103" descr="Alterations &amp; Tailoring outline">
            <a:extLst>
              <a:ext uri="{FF2B5EF4-FFF2-40B4-BE49-F238E27FC236}">
                <a16:creationId xmlns:a16="http://schemas.microsoft.com/office/drawing/2014/main" id="{25033D01-E62B-C3B6-8F42-D948DA31A62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2388632" y="4486580"/>
            <a:ext cx="697543" cy="697543"/>
          </a:xfrm>
          <a:prstGeom prst="rect">
            <a:avLst/>
          </a:prstGeom>
        </p:spPr>
      </p:pic>
      <p:grpSp>
        <p:nvGrpSpPr>
          <p:cNvPr id="105" name="Group 104">
            <a:extLst>
              <a:ext uri="{FF2B5EF4-FFF2-40B4-BE49-F238E27FC236}">
                <a16:creationId xmlns:a16="http://schemas.microsoft.com/office/drawing/2014/main" id="{945832B5-94B3-571C-4AAD-6E01323BF421}"/>
              </a:ext>
            </a:extLst>
          </p:cNvPr>
          <p:cNvGrpSpPr/>
          <p:nvPr/>
        </p:nvGrpSpPr>
        <p:grpSpPr>
          <a:xfrm>
            <a:off x="1509715" y="4446504"/>
            <a:ext cx="829557" cy="829557"/>
            <a:chOff x="9961982" y="1296250"/>
            <a:chExt cx="829557" cy="829557"/>
          </a:xfrm>
        </p:grpSpPr>
        <p:sp>
          <p:nvSpPr>
            <p:cNvPr id="106" name="Oval 105">
              <a:extLst>
                <a:ext uri="{FF2B5EF4-FFF2-40B4-BE49-F238E27FC236}">
                  <a16:creationId xmlns:a16="http://schemas.microsoft.com/office/drawing/2014/main" id="{4EF03AAB-9DD1-6F52-8CB2-31925AC2064A}"/>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7" name="Graphic 106" descr="Heart with pulse outline">
              <a:extLst>
                <a:ext uri="{FF2B5EF4-FFF2-40B4-BE49-F238E27FC236}">
                  <a16:creationId xmlns:a16="http://schemas.microsoft.com/office/drawing/2014/main" id="{A85D2259-95BC-92C4-F68A-2737A161139F}"/>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108" name="Oval 107">
            <a:extLst>
              <a:ext uri="{FF2B5EF4-FFF2-40B4-BE49-F238E27FC236}">
                <a16:creationId xmlns:a16="http://schemas.microsoft.com/office/drawing/2014/main" id="{4263F8A5-0A7B-F87F-CCC7-C6EEFBD89CD6}"/>
              </a:ext>
            </a:extLst>
          </p:cNvPr>
          <p:cNvSpPr/>
          <p:nvPr/>
        </p:nvSpPr>
        <p:spPr>
          <a:xfrm>
            <a:off x="690418" y="4420846"/>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9" name="Graphic 108" descr="Woman with polka dots shirt">
            <a:extLst>
              <a:ext uri="{FF2B5EF4-FFF2-40B4-BE49-F238E27FC236}">
                <a16:creationId xmlns:a16="http://schemas.microsoft.com/office/drawing/2014/main" id="{ADD784AC-0730-8247-4BC0-6515933AB45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63886" y="4461712"/>
            <a:ext cx="683449" cy="858453"/>
          </a:xfrm>
          <a:prstGeom prst="rect">
            <a:avLst/>
          </a:prstGeom>
        </p:spPr>
      </p:pic>
      <p:cxnSp>
        <p:nvCxnSpPr>
          <p:cNvPr id="113" name="Straight Arrow Connector 112">
            <a:extLst>
              <a:ext uri="{FF2B5EF4-FFF2-40B4-BE49-F238E27FC236}">
                <a16:creationId xmlns:a16="http://schemas.microsoft.com/office/drawing/2014/main" id="{4B735A76-03D4-D587-E7F8-2771F618D587}"/>
              </a:ext>
            </a:extLst>
          </p:cNvPr>
          <p:cNvCxnSpPr/>
          <p:nvPr/>
        </p:nvCxnSpPr>
        <p:spPr>
          <a:xfrm flipH="1" flipV="1">
            <a:off x="9083912" y="2741015"/>
            <a:ext cx="669338" cy="9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E063BD-D005-F672-B1BB-DE4A952996B5}"/>
              </a:ext>
            </a:extLst>
          </p:cNvPr>
          <p:cNvCxnSpPr/>
          <p:nvPr/>
        </p:nvCxnSpPr>
        <p:spPr>
          <a:xfrm flipH="1" flipV="1">
            <a:off x="5911871"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229336C-4A72-5006-54B1-77AC081B52E0}"/>
              </a:ext>
            </a:extLst>
          </p:cNvPr>
          <p:cNvCxnSpPr/>
          <p:nvPr/>
        </p:nvCxnSpPr>
        <p:spPr>
          <a:xfrm flipH="1" flipV="1">
            <a:off x="3086175"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078D6B7-D8C8-8B09-BF7D-68F3663CE8E6}"/>
              </a:ext>
            </a:extLst>
          </p:cNvPr>
          <p:cNvCxnSpPr/>
          <p:nvPr/>
        </p:nvCxnSpPr>
        <p:spPr>
          <a:xfrm flipH="1" flipV="1">
            <a:off x="8930796" y="5769428"/>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47F0E44-5CF7-D1C4-BDE1-1B525F0D8C8A}"/>
              </a:ext>
            </a:extLst>
          </p:cNvPr>
          <p:cNvCxnSpPr/>
          <p:nvPr/>
        </p:nvCxnSpPr>
        <p:spPr>
          <a:xfrm flipH="1" flipV="1">
            <a:off x="4584330" y="5671456"/>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54C55C8F-6A9E-1B43-D86F-B6C13F670A7F}"/>
              </a:ext>
            </a:extLst>
          </p:cNvPr>
          <p:cNvCxnSpPr>
            <a:stCxn id="43" idx="2"/>
            <a:endCxn id="57" idx="0"/>
          </p:cNvCxnSpPr>
          <p:nvPr/>
        </p:nvCxnSpPr>
        <p:spPr>
          <a:xfrm rot="16200000" flipH="1">
            <a:off x="5747253" y="-588271"/>
            <a:ext cx="1288656" cy="86573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A881B20-4577-84C1-CAA8-67D3459AC595}"/>
              </a:ext>
            </a:extLst>
          </p:cNvPr>
          <p:cNvSpPr txBox="1"/>
          <p:nvPr/>
        </p:nvSpPr>
        <p:spPr>
          <a:xfrm>
            <a:off x="7929396" y="239981"/>
            <a:ext cx="4752120"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6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מסע פנינה החדש</a:t>
            </a:r>
          </a:p>
        </p:txBody>
      </p:sp>
      <p:grpSp>
        <p:nvGrpSpPr>
          <p:cNvPr id="18" name="Group 1">
            <a:extLst>
              <a:ext uri="{FF2B5EF4-FFF2-40B4-BE49-F238E27FC236}">
                <a16:creationId xmlns:a16="http://schemas.microsoft.com/office/drawing/2014/main" id="{36329978-844D-1001-7719-C46A8273CAF2}"/>
              </a:ext>
            </a:extLst>
          </p:cNvPr>
          <p:cNvGrpSpPr/>
          <p:nvPr/>
        </p:nvGrpSpPr>
        <p:grpSpPr>
          <a:xfrm>
            <a:off x="240146" y="6459128"/>
            <a:ext cx="1523237" cy="323730"/>
            <a:chOff x="304171" y="6108306"/>
            <a:chExt cx="2542153" cy="560355"/>
          </a:xfrm>
        </p:grpSpPr>
        <p:pic>
          <p:nvPicPr>
            <p:cNvPr id="19" name="Picture 3">
              <a:extLst>
                <a:ext uri="{FF2B5EF4-FFF2-40B4-BE49-F238E27FC236}">
                  <a16:creationId xmlns:a16="http://schemas.microsoft.com/office/drawing/2014/main" id="{0638FF61-85A8-CCBE-C6C7-F78A16909EC3}"/>
                </a:ext>
              </a:extLst>
            </p:cNvPr>
            <p:cNvPicPr>
              <a:picLocks noChangeAspect="1"/>
            </p:cNvPicPr>
            <p:nvPr/>
          </p:nvPicPr>
          <p:blipFill>
            <a:blip r:embed="rId16"/>
            <a:stretch>
              <a:fillRect/>
            </a:stretch>
          </p:blipFill>
          <p:spPr>
            <a:xfrm>
              <a:off x="304171" y="6490861"/>
              <a:ext cx="1790700" cy="177800"/>
            </a:xfrm>
            <a:prstGeom prst="rect">
              <a:avLst/>
            </a:prstGeom>
          </p:spPr>
        </p:pic>
        <p:pic>
          <p:nvPicPr>
            <p:cNvPr id="22" name="Picture 4">
              <a:extLst>
                <a:ext uri="{FF2B5EF4-FFF2-40B4-BE49-F238E27FC236}">
                  <a16:creationId xmlns:a16="http://schemas.microsoft.com/office/drawing/2014/main" id="{5E92ADE0-0200-B97A-312A-1F63DF0301BB}"/>
                </a:ext>
              </a:extLst>
            </p:cNvPr>
            <p:cNvPicPr>
              <a:picLocks noChangeAspect="1"/>
            </p:cNvPicPr>
            <p:nvPr/>
          </p:nvPicPr>
          <p:blipFill>
            <a:blip r:embed="rId17"/>
            <a:stretch>
              <a:fillRect/>
            </a:stretch>
          </p:blipFill>
          <p:spPr>
            <a:xfrm>
              <a:off x="2135124" y="6126849"/>
              <a:ext cx="711200" cy="520700"/>
            </a:xfrm>
            <a:prstGeom prst="rect">
              <a:avLst/>
            </a:prstGeom>
          </p:spPr>
        </p:pic>
        <p:pic>
          <p:nvPicPr>
            <p:cNvPr id="23" name="Picture 5">
              <a:extLst>
                <a:ext uri="{FF2B5EF4-FFF2-40B4-BE49-F238E27FC236}">
                  <a16:creationId xmlns:a16="http://schemas.microsoft.com/office/drawing/2014/main" id="{A99BE5D7-2B38-4630-5F93-EA523FEDB9CF}"/>
                </a:ext>
              </a:extLst>
            </p:cNvPr>
            <p:cNvPicPr>
              <a:picLocks noChangeAspect="1"/>
            </p:cNvPicPr>
            <p:nvPr/>
          </p:nvPicPr>
          <p:blipFill>
            <a:blip r:embed="rId18"/>
            <a:stretch>
              <a:fillRect/>
            </a:stretch>
          </p:blipFill>
          <p:spPr>
            <a:xfrm>
              <a:off x="304171" y="6108306"/>
              <a:ext cx="1803400" cy="381000"/>
            </a:xfrm>
            <a:prstGeom prst="rect">
              <a:avLst/>
            </a:prstGeom>
          </p:spPr>
        </p:pic>
      </p:grpSp>
      <p:pic>
        <p:nvPicPr>
          <p:cNvPr id="3" name="Picture 3" descr="קובץ:Ministry of Labor, Social Affairs and Social Services ...">
            <a:extLst>
              <a:ext uri="{FF2B5EF4-FFF2-40B4-BE49-F238E27FC236}">
                <a16:creationId xmlns:a16="http://schemas.microsoft.com/office/drawing/2014/main" id="{28A8A237-EBB6-372B-6793-6B9CD8829B85}"/>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10521386" y="6397360"/>
            <a:ext cx="1489681" cy="40617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EY ישראל - ארנסט אנד יאנג - פירמת ייעוץ וראיית חשבון">
            <a:extLst>
              <a:ext uri="{FF2B5EF4-FFF2-40B4-BE49-F238E27FC236}">
                <a16:creationId xmlns:a16="http://schemas.microsoft.com/office/drawing/2014/main" id="{E1380BDB-49AD-6BC9-CBE2-DEAA91A8E31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632" y="0"/>
            <a:ext cx="675687" cy="675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555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mn-cs"/>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57C8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618672"/>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mn-cs"/>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mn-cs"/>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50557" y="3560261"/>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קוגניטיבי</a:t>
            </a:r>
            <a:r>
              <a:rPr kumimoji="0" lang="he-IL" sz="1200" b="1"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אוריינות דיגיטלית ושימוש </a:t>
            </a:r>
            <a:r>
              <a:rPr kumimoji="0" lang="he-IL" sz="1200" b="0" i="0" u="none" strike="noStrike" kern="1200" cap="none" spc="0" normalizeH="0" baseline="0" noProof="0" dirty="0" err="1">
                <a:ln>
                  <a:noFill/>
                </a:ln>
                <a:solidFill>
                  <a:prstClr val="black"/>
                </a:solidFill>
                <a:effectLst/>
                <a:uLnTx/>
                <a:uFillTx/>
                <a:latin typeface="Segoe UI Semilight"/>
                <a:ea typeface="+mn-ea"/>
                <a:cs typeface="+mn-cs"/>
              </a:rPr>
              <a:t>בדיגיטל</a:t>
            </a: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פיזי</a:t>
            </a:r>
            <a:b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mn-cs"/>
              </a:rPr>
            </a:b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342017" y="5171466"/>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mn-cs"/>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חברתי</a:t>
            </a:r>
            <a:endParaRPr kumimoji="0" lang="he-IL" sz="1200" b="1" i="0" u="none" strike="noStrike" kern="1200" cap="none" spc="0" normalizeH="0" baseline="0" noProof="0" dirty="0">
              <a:ln>
                <a:noFill/>
              </a:ln>
              <a:solidFill>
                <a:prstClr val="black"/>
              </a:solidFill>
              <a:effectLst/>
              <a:uLnTx/>
              <a:uFillTx/>
              <a:latin typeface="Segoe UI Semilight"/>
              <a:ea typeface="+mn-ea"/>
              <a:cs typeface="+mn-cs"/>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משרדי הממשלה הרלוונטיים</a:t>
            </a:r>
          </a:p>
        </p:txBody>
      </p:sp>
      <p:sp>
        <p:nvSpPr>
          <p:cNvPr id="58" name="מלבן 57">
            <a:extLst>
              <a:ext uri="{FF2B5EF4-FFF2-40B4-BE49-F238E27FC236}">
                <a16:creationId xmlns:a16="http://schemas.microsoft.com/office/drawing/2014/main" id="{60DA6AF6-63DD-EFAC-A709-3975D326BA7C}"/>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1" indent="0" algn="ctr" defTabSz="914400" rtl="1" eaLnBrk="1" fontAlgn="auto" latinLnBrk="0" hangingPunct="1">
              <a:lnSpc>
                <a:spcPct val="90000"/>
              </a:lnSpc>
              <a:spcBef>
                <a:spcPct val="0"/>
              </a:spcBef>
              <a:spcAft>
                <a:spcPts val="601"/>
              </a:spcAft>
              <a:buClrTx/>
              <a:buSzTx/>
              <a:buFontTx/>
              <a:buNone/>
              <a:tabLst/>
              <a:defRPr/>
            </a:pPr>
            <a:r>
              <a:rPr kumimoji="0" lang="he-IL" sz="4000" b="1" i="0" u="none" strike="noStrike" kern="0" cap="none" spc="0" normalizeH="0" baseline="0" noProof="0" dirty="0">
                <a:ln>
                  <a:noFill/>
                </a:ln>
                <a:solidFill>
                  <a:prstClr val="black"/>
                </a:solidFill>
                <a:effectLst/>
                <a:uLnTx/>
                <a:uFillTx/>
                <a:latin typeface="Assistant" pitchFamily="2" charset="-79"/>
                <a:ea typeface="+mn-ea"/>
              </a:rPr>
              <a:t>תפיסת מניעה רב מערכתית</a:t>
            </a:r>
          </a:p>
        </p:txBody>
      </p:sp>
      <p:grpSp>
        <p:nvGrpSpPr>
          <p:cNvPr id="11" name="Group 1">
            <a:extLst>
              <a:ext uri="{FF2B5EF4-FFF2-40B4-BE49-F238E27FC236}">
                <a16:creationId xmlns:a16="http://schemas.microsoft.com/office/drawing/2014/main" id="{4E049E60-B6CB-398D-D4DF-757B007C22A0}"/>
              </a:ext>
            </a:extLst>
          </p:cNvPr>
          <p:cNvGrpSpPr/>
          <p:nvPr/>
        </p:nvGrpSpPr>
        <p:grpSpPr>
          <a:xfrm>
            <a:off x="178026" y="282294"/>
            <a:ext cx="1523237" cy="323730"/>
            <a:chOff x="304171" y="6108306"/>
            <a:chExt cx="2542153" cy="560355"/>
          </a:xfrm>
        </p:grpSpPr>
        <p:pic>
          <p:nvPicPr>
            <p:cNvPr id="26" name="Picture 3">
              <a:extLst>
                <a:ext uri="{FF2B5EF4-FFF2-40B4-BE49-F238E27FC236}">
                  <a16:creationId xmlns:a16="http://schemas.microsoft.com/office/drawing/2014/main" id="{A7E4771F-E908-7BCC-FA15-6B1C59F8E85D}"/>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48" name="Picture 4">
              <a:extLst>
                <a:ext uri="{FF2B5EF4-FFF2-40B4-BE49-F238E27FC236}">
                  <a16:creationId xmlns:a16="http://schemas.microsoft.com/office/drawing/2014/main" id="{1098634C-7731-2D31-E546-A80895173A14}"/>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52" name="Picture 5">
              <a:extLst>
                <a:ext uri="{FF2B5EF4-FFF2-40B4-BE49-F238E27FC236}">
                  <a16:creationId xmlns:a16="http://schemas.microsoft.com/office/drawing/2014/main" id="{18D07E26-E3BF-2D84-6961-4969C2AE7DFB}"/>
                </a:ext>
              </a:extLst>
            </p:cNvPr>
            <p:cNvPicPr>
              <a:picLocks noChangeAspect="1"/>
            </p:cNvPicPr>
            <p:nvPr/>
          </p:nvPicPr>
          <p:blipFill>
            <a:blip r:embed="rId8"/>
            <a:stretch>
              <a:fillRect/>
            </a:stretch>
          </p:blipFill>
          <p:spPr>
            <a:xfrm>
              <a:off x="304171" y="6108306"/>
              <a:ext cx="1803400" cy="381000"/>
            </a:xfrm>
            <a:prstGeom prst="rect">
              <a:avLst/>
            </a:prstGeom>
          </p:spPr>
        </p:pic>
      </p:grpSp>
      <p:pic>
        <p:nvPicPr>
          <p:cNvPr id="15" name="Picture 3" descr="קובץ:Ministry of Labor, Social Affairs and Social Services ...">
            <a:extLst>
              <a:ext uri="{FF2B5EF4-FFF2-40B4-BE49-F238E27FC236}">
                <a16:creationId xmlns:a16="http://schemas.microsoft.com/office/drawing/2014/main" id="{C4CEF1D5-2183-DDB4-C9C1-E5A5BBD7A284}"/>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78026" y="6265963"/>
            <a:ext cx="1742734" cy="475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1628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738-B40D-E6A2-9278-2096AEB03ADD}"/>
            </a:ext>
          </a:extLst>
        </p:cNvPr>
        <p:cNvGrpSpPr/>
        <p:nvPr/>
      </p:nvGrpSpPr>
      <p:grpSpPr>
        <a:xfrm>
          <a:off x="0" y="0"/>
          <a:ext cx="0" cy="0"/>
          <a:chOff x="0" y="0"/>
          <a:chExt cx="0" cy="0"/>
        </a:xfrm>
      </p:grpSpPr>
      <p:sp>
        <p:nvSpPr>
          <p:cNvPr id="3" name="מלבן 2">
            <a:extLst>
              <a:ext uri="{FF2B5EF4-FFF2-40B4-BE49-F238E27FC236}">
                <a16:creationId xmlns:a16="http://schemas.microsoft.com/office/drawing/2014/main" id="{ED865402-C463-F84F-3994-279597476145}"/>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L" sz="3500" b="1" dirty="0">
              <a:latin typeface="Assistant" pitchFamily="2" charset="-79"/>
              <a:cs typeface="Assistant" pitchFamily="2" charset="-79"/>
            </a:endParaRPr>
          </a:p>
        </p:txBody>
      </p:sp>
      <p:sp>
        <p:nvSpPr>
          <p:cNvPr id="2" name="Rectangle 1">
            <a:extLst>
              <a:ext uri="{FF2B5EF4-FFF2-40B4-BE49-F238E27FC236}">
                <a16:creationId xmlns:a16="http://schemas.microsoft.com/office/drawing/2014/main" id="{9F82E449-138F-F083-1B4B-2E3EEF887D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6" name="כותרת 1">
            <a:extLst>
              <a:ext uri="{FF2B5EF4-FFF2-40B4-BE49-F238E27FC236}">
                <a16:creationId xmlns:a16="http://schemas.microsoft.com/office/drawing/2014/main" id="{85E20E37-4F27-81CF-686B-39E176678710}"/>
              </a:ext>
            </a:extLst>
          </p:cNvPr>
          <p:cNvSpPr txBox="1">
            <a:spLocks/>
          </p:cNvSpPr>
          <p:nvPr/>
        </p:nvSpPr>
        <p:spPr>
          <a:xfrm>
            <a:off x="12536" y="5692"/>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algn="ctr" rtl="1"/>
            <a:r>
              <a:rPr lang="he-IL" sz="4000" b="1" dirty="0">
                <a:solidFill>
                  <a:srgbClr val="002060"/>
                </a:solidFill>
                <a:effectLst>
                  <a:outerShdw blurRad="38100" dist="38100" dir="2700000" algn="tl">
                    <a:srgbClr val="000000">
                      <a:alpha val="43137"/>
                    </a:srgbClr>
                  </a:outerShdw>
                </a:effectLst>
                <a:ea typeface="+mn-ea"/>
              </a:rPr>
              <a:t>רפורמה עם חסכון תקציבי?!</a:t>
            </a:r>
          </a:p>
        </p:txBody>
      </p:sp>
      <p:sp>
        <p:nvSpPr>
          <p:cNvPr id="9" name="תיבת טקסט 8">
            <a:extLst>
              <a:ext uri="{FF2B5EF4-FFF2-40B4-BE49-F238E27FC236}">
                <a16:creationId xmlns:a16="http://schemas.microsoft.com/office/drawing/2014/main" id="{256E6DB2-2556-CD46-5E4C-FE3FFAA7027D}"/>
              </a:ext>
            </a:extLst>
          </p:cNvPr>
          <p:cNvSpPr txBox="1"/>
          <p:nvPr/>
        </p:nvSpPr>
        <p:spPr>
          <a:xfrm>
            <a:off x="632367" y="2827003"/>
            <a:ext cx="3810832" cy="2123658"/>
          </a:xfrm>
          <a:prstGeom prst="rect">
            <a:avLst/>
          </a:prstGeom>
          <a:solidFill>
            <a:srgbClr val="F5F9FD"/>
          </a:solidFill>
          <a:ln w="25400" cap="rnd">
            <a:round/>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cs typeface="Assistant" pitchFamily="2" charset="-79"/>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Assistant" pitchFamily="2" charset="-79"/>
                <a:cs typeface="Assistant" pitchFamily="2" charset="-79"/>
              </a:rPr>
              <a:t>חסכון למשק לשנה</a:t>
            </a:r>
            <a:r>
              <a:rPr kumimoji="0" lang="he-IL" sz="2800" b="1" i="0" u="none" strike="noStrike" kern="1200" cap="none" spc="0" normalizeH="0" baseline="0" noProof="0" dirty="0">
                <a:ln>
                  <a:noFill/>
                </a:ln>
                <a:solidFill>
                  <a:prstClr val="black"/>
                </a:solidFill>
                <a:effectLst/>
                <a:uLnTx/>
                <a:uFillTx/>
                <a:latin typeface="Assistant" pitchFamily="2" charset="-79"/>
                <a:cs typeface="Assistant" pitchFamily="2" charset="-79"/>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cs typeface="Assistant" pitchFamily="2" charset="-79"/>
              </a:rPr>
              <a:t>  </a:t>
            </a:r>
            <a:r>
              <a:rPr kumimoji="0" lang="he-IL" sz="1400" b="0" i="0" u="none" strike="noStrike" kern="1200" cap="none" spc="0" normalizeH="0" baseline="0" noProof="0" dirty="0">
                <a:ln>
                  <a:noFill/>
                </a:ln>
                <a:solidFill>
                  <a:prstClr val="black"/>
                </a:solidFill>
                <a:effectLst/>
                <a:uLnTx/>
                <a:uFillTx/>
                <a:latin typeface="Assistant" pitchFamily="2" charset="-79"/>
                <a:cs typeface="Assistant" pitchFamily="2" charset="-79"/>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cs typeface="Assistant" pitchFamily="2" charset="-79"/>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endParaRPr>
          </a:p>
        </p:txBody>
      </p:sp>
      <p:graphicFrame>
        <p:nvGraphicFramePr>
          <p:cNvPr id="10" name="תרשים 9">
            <a:extLst>
              <a:ext uri="{FF2B5EF4-FFF2-40B4-BE49-F238E27FC236}">
                <a16:creationId xmlns:a16="http://schemas.microsoft.com/office/drawing/2014/main" id="{44E8D2AE-2BBF-C972-7588-215A931ADAAA}"/>
              </a:ext>
            </a:extLst>
          </p:cNvPr>
          <p:cNvGraphicFramePr>
            <a:graphicFrameLocks/>
          </p:cNvGraphicFramePr>
          <p:nvPr/>
        </p:nvGraphicFramePr>
        <p:xfrm>
          <a:off x="5356046" y="1713167"/>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11" name="תיבת טקסט 10">
            <a:extLst>
              <a:ext uri="{FF2B5EF4-FFF2-40B4-BE49-F238E27FC236}">
                <a16:creationId xmlns:a16="http://schemas.microsoft.com/office/drawing/2014/main" id="{3392F381-E91F-9856-3D51-352F240316A6}"/>
              </a:ext>
            </a:extLst>
          </p:cNvPr>
          <p:cNvSpPr txBox="1"/>
          <p:nvPr/>
        </p:nvSpPr>
        <p:spPr>
          <a:xfrm>
            <a:off x="712377" y="5225352"/>
            <a:ext cx="3810832"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cs typeface="Assistant" pitchFamily="2" charset="-79"/>
              </a:rPr>
              <a:t>*מבוסס על עלויות הגמלה ועלויות בריאות בקופ"ח מאוחדת</a:t>
            </a:r>
          </a:p>
        </p:txBody>
      </p:sp>
      <p:pic>
        <p:nvPicPr>
          <p:cNvPr id="24" name="Picture 26">
            <a:extLst>
              <a:ext uri="{FF2B5EF4-FFF2-40B4-BE49-F238E27FC236}">
                <a16:creationId xmlns:a16="http://schemas.microsoft.com/office/drawing/2014/main" id="{5BBB323F-3B83-CAD0-DE39-DFCDD3A8FC8F}"/>
              </a:ext>
            </a:extLst>
          </p:cNvPr>
          <p:cNvPicPr>
            <a:picLocks noChangeAspect="1"/>
          </p:cNvPicPr>
          <p:nvPr/>
        </p:nvPicPr>
        <p:blipFill>
          <a:blip r:embed="rId4"/>
          <a:stretch>
            <a:fillRect/>
          </a:stretch>
        </p:blipFill>
        <p:spPr>
          <a:xfrm>
            <a:off x="10999758" y="6239877"/>
            <a:ext cx="1118350" cy="612431"/>
          </a:xfrm>
          <a:prstGeom prst="rect">
            <a:avLst/>
          </a:prstGeom>
          <a:ln>
            <a:noFill/>
          </a:ln>
        </p:spPr>
      </p:pic>
      <p:grpSp>
        <p:nvGrpSpPr>
          <p:cNvPr id="25" name="Group 1">
            <a:extLst>
              <a:ext uri="{FF2B5EF4-FFF2-40B4-BE49-F238E27FC236}">
                <a16:creationId xmlns:a16="http://schemas.microsoft.com/office/drawing/2014/main" id="{D30AA246-678A-C0F8-0525-8AD6CBE65CBF}"/>
              </a:ext>
            </a:extLst>
          </p:cNvPr>
          <p:cNvGrpSpPr/>
          <p:nvPr/>
        </p:nvGrpSpPr>
        <p:grpSpPr>
          <a:xfrm>
            <a:off x="240146" y="6459128"/>
            <a:ext cx="1523237" cy="323730"/>
            <a:chOff x="304171" y="6108306"/>
            <a:chExt cx="2542153" cy="560355"/>
          </a:xfrm>
        </p:grpSpPr>
        <p:pic>
          <p:nvPicPr>
            <p:cNvPr id="26" name="Picture 3">
              <a:extLst>
                <a:ext uri="{FF2B5EF4-FFF2-40B4-BE49-F238E27FC236}">
                  <a16:creationId xmlns:a16="http://schemas.microsoft.com/office/drawing/2014/main" id="{6AB93E74-3C00-8F24-21D1-2E3D5EDFB43B}"/>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27" name="Picture 4">
              <a:extLst>
                <a:ext uri="{FF2B5EF4-FFF2-40B4-BE49-F238E27FC236}">
                  <a16:creationId xmlns:a16="http://schemas.microsoft.com/office/drawing/2014/main" id="{0FC2F9F0-2435-8E4E-E3F2-78D5A9F21671}"/>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28" name="Picture 5">
              <a:extLst>
                <a:ext uri="{FF2B5EF4-FFF2-40B4-BE49-F238E27FC236}">
                  <a16:creationId xmlns:a16="http://schemas.microsoft.com/office/drawing/2014/main" id="{01E5B61D-60B8-2A95-9C30-79255942303B}"/>
                </a:ext>
              </a:extLst>
            </p:cNvPr>
            <p:cNvPicPr>
              <a:picLocks noChangeAspect="1"/>
            </p:cNvPicPr>
            <p:nvPr/>
          </p:nvPicPr>
          <p:blipFill>
            <a:blip r:embed="rId7"/>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23172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56F53-24DF-0BB2-9D59-1C08C24137DA}"/>
            </a:ext>
          </a:extLst>
        </p:cNvPr>
        <p:cNvGrpSpPr/>
        <p:nvPr/>
      </p:nvGrpSpPr>
      <p:grpSpPr>
        <a:xfrm>
          <a:off x="0" y="0"/>
          <a:ext cx="0" cy="0"/>
          <a:chOff x="0" y="0"/>
          <a:chExt cx="0" cy="0"/>
        </a:xfrm>
      </p:grpSpPr>
      <p:pic>
        <p:nvPicPr>
          <p:cNvPr id="6" name="תמונה 5" descr="אבא ובן ערובות">
            <a:extLst>
              <a:ext uri="{FF2B5EF4-FFF2-40B4-BE49-F238E27FC236}">
                <a16:creationId xmlns:a16="http://schemas.microsoft.com/office/drawing/2014/main" id="{1ADF6DAC-F19A-FC6E-20D7-97CC30D26520}"/>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b="10367"/>
          <a:stretch/>
        </p:blipFill>
        <p:spPr>
          <a:xfrm>
            <a:off x="12536" y="-1004809"/>
            <a:ext cx="13130510" cy="7845391"/>
          </a:xfrm>
          <a:prstGeom prst="rect">
            <a:avLst/>
          </a:prstGeom>
        </p:spPr>
      </p:pic>
      <p:sp>
        <p:nvSpPr>
          <p:cNvPr id="5" name="מלבן 4">
            <a:extLst>
              <a:ext uri="{FF2B5EF4-FFF2-40B4-BE49-F238E27FC236}">
                <a16:creationId xmlns:a16="http://schemas.microsoft.com/office/drawing/2014/main" id="{0F31EDC6-E6F8-E835-AC10-1E4AFE94B47E}"/>
              </a:ext>
            </a:extLst>
          </p:cNvPr>
          <p:cNvSpPr/>
          <p:nvPr/>
        </p:nvSpPr>
        <p:spPr>
          <a:xfrm>
            <a:off x="-12536" y="17418"/>
            <a:ext cx="12204536" cy="923663"/>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rPr>
              <a:t>פיילוט "עכשיו אני"</a:t>
            </a:r>
            <a:endParaRPr lang="en-IL" sz="3500" b="1" dirty="0">
              <a:latin typeface="Assistant" pitchFamily="2" charset="-79"/>
              <a:cs typeface="Assistant" pitchFamily="2" charset="-79"/>
            </a:endParaRPr>
          </a:p>
        </p:txBody>
      </p:sp>
      <p:pic>
        <p:nvPicPr>
          <p:cNvPr id="18" name="Picture 26">
            <a:extLst>
              <a:ext uri="{FF2B5EF4-FFF2-40B4-BE49-F238E27FC236}">
                <a16:creationId xmlns:a16="http://schemas.microsoft.com/office/drawing/2014/main" id="{8B7D5FD5-524D-D430-8830-ED9F68B2DC89}"/>
              </a:ext>
            </a:extLst>
          </p:cNvPr>
          <p:cNvPicPr>
            <a:picLocks noChangeAspect="1"/>
          </p:cNvPicPr>
          <p:nvPr/>
        </p:nvPicPr>
        <p:blipFill>
          <a:blip r:embed="rId4"/>
          <a:stretch>
            <a:fillRect/>
          </a:stretch>
        </p:blipFill>
        <p:spPr>
          <a:xfrm>
            <a:off x="11008569" y="6170427"/>
            <a:ext cx="1118350" cy="612431"/>
          </a:xfrm>
          <a:prstGeom prst="rect">
            <a:avLst/>
          </a:prstGeom>
          <a:ln>
            <a:noFill/>
          </a:ln>
        </p:spPr>
      </p:pic>
      <p:grpSp>
        <p:nvGrpSpPr>
          <p:cNvPr id="19" name="Group 1">
            <a:extLst>
              <a:ext uri="{FF2B5EF4-FFF2-40B4-BE49-F238E27FC236}">
                <a16:creationId xmlns:a16="http://schemas.microsoft.com/office/drawing/2014/main" id="{C6519445-A91B-665C-0719-A90A26496339}"/>
              </a:ext>
            </a:extLst>
          </p:cNvPr>
          <p:cNvGrpSpPr/>
          <p:nvPr/>
        </p:nvGrpSpPr>
        <p:grpSpPr>
          <a:xfrm>
            <a:off x="68832" y="6314777"/>
            <a:ext cx="1523237" cy="323730"/>
            <a:chOff x="304171" y="6108306"/>
            <a:chExt cx="2542153" cy="560355"/>
          </a:xfrm>
        </p:grpSpPr>
        <p:pic>
          <p:nvPicPr>
            <p:cNvPr id="20" name="Picture 3">
              <a:extLst>
                <a:ext uri="{FF2B5EF4-FFF2-40B4-BE49-F238E27FC236}">
                  <a16:creationId xmlns:a16="http://schemas.microsoft.com/office/drawing/2014/main" id="{61101FB5-4309-7EB1-B84B-EF92D9400E6B}"/>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21" name="Picture 4">
              <a:extLst>
                <a:ext uri="{FF2B5EF4-FFF2-40B4-BE49-F238E27FC236}">
                  <a16:creationId xmlns:a16="http://schemas.microsoft.com/office/drawing/2014/main" id="{569C98C1-6FA5-2C38-3F79-58ECCC0FA875}"/>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22" name="Picture 5">
              <a:extLst>
                <a:ext uri="{FF2B5EF4-FFF2-40B4-BE49-F238E27FC236}">
                  <a16:creationId xmlns:a16="http://schemas.microsoft.com/office/drawing/2014/main" id="{37EF6763-85E1-0A65-83F7-38C7223A0D35}"/>
                </a:ext>
              </a:extLst>
            </p:cNvPr>
            <p:cNvPicPr>
              <a:picLocks noChangeAspect="1"/>
            </p:cNvPicPr>
            <p:nvPr/>
          </p:nvPicPr>
          <p:blipFill>
            <a:blip r:embed="rId7"/>
            <a:stretch>
              <a:fillRect/>
            </a:stretch>
          </p:blipFill>
          <p:spPr>
            <a:xfrm>
              <a:off x="304171" y="6108306"/>
              <a:ext cx="1803400" cy="381000"/>
            </a:xfrm>
            <a:prstGeom prst="rect">
              <a:avLst/>
            </a:prstGeom>
          </p:spPr>
        </p:pic>
      </p:grpSp>
      <p:pic>
        <p:nvPicPr>
          <p:cNvPr id="1026" name="Picture 2" descr="top_logo jerusalem - Y.D.YardenAlon">
            <a:extLst>
              <a:ext uri="{FF2B5EF4-FFF2-40B4-BE49-F238E27FC236}">
                <a16:creationId xmlns:a16="http://schemas.microsoft.com/office/drawing/2014/main" id="{CBBA47CE-068D-BE14-20E5-8BC4DA25C4C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C3D5076F-4CB5-711B-7E97-E28E1B8EF733}"/>
              </a:ext>
            </a:extLst>
          </p:cNvPr>
          <p:cNvSpPr/>
          <p:nvPr/>
        </p:nvSpPr>
        <p:spPr>
          <a:xfrm>
            <a:off x="9302007" y="-59777"/>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9"/>
            <a:stretch>
              <a:fillRect/>
            </a:stretch>
          </a:blipFill>
        </p:spPr>
        <p:txBody>
          <a:bodyPr/>
          <a:lstStyle/>
          <a:p>
            <a:endParaRPr lang="en-IL"/>
          </a:p>
        </p:txBody>
      </p:sp>
      <p:sp>
        <p:nvSpPr>
          <p:cNvPr id="3" name="כותרת 1">
            <a:extLst>
              <a:ext uri="{FF2B5EF4-FFF2-40B4-BE49-F238E27FC236}">
                <a16:creationId xmlns:a16="http://schemas.microsoft.com/office/drawing/2014/main" id="{D155594A-FF45-59CC-D689-034008732E4F}"/>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sp>
        <p:nvSpPr>
          <p:cNvPr id="7" name="תיבת טקסט 6">
            <a:extLst>
              <a:ext uri="{FF2B5EF4-FFF2-40B4-BE49-F238E27FC236}">
                <a16:creationId xmlns:a16="http://schemas.microsoft.com/office/drawing/2014/main" id="{1AA5F948-7C3A-5EB8-990C-FC7BE7405794}"/>
              </a:ext>
            </a:extLst>
          </p:cNvPr>
          <p:cNvSpPr txBox="1"/>
          <p:nvPr/>
        </p:nvSpPr>
        <p:spPr>
          <a:xfrm>
            <a:off x="2587337" y="2279703"/>
            <a:ext cx="8756688" cy="3358868"/>
          </a:xfrm>
          <a:prstGeom prst="rect">
            <a:avLst/>
          </a:prstGeom>
          <a:noFill/>
        </p:spPr>
        <p:txBody>
          <a:bodyPr wrap="square">
            <a:spAutoFit/>
          </a:bodyPr>
          <a:lstStyle/>
          <a:p>
            <a:pPr algn="r">
              <a:lnSpc>
                <a:spcPct val="150000"/>
              </a:lnSpc>
            </a:pPr>
            <a:r>
              <a:rPr kumimoji="0" lang="he-IL" altLang="he-IL" sz="2400" b="1" i="0" u="sng" strike="noStrike" cap="none" normalizeH="0" baseline="0" dirty="0">
                <a:ln>
                  <a:noFill/>
                </a:ln>
                <a:solidFill>
                  <a:schemeClr val="tx1"/>
                </a:solidFill>
                <a:effectLst/>
                <a:latin typeface="Assistant" pitchFamily="2" charset="-79"/>
                <a:cs typeface="Assistant" pitchFamily="2" charset="-79"/>
              </a:rPr>
              <a:t>תובנות עיקריות מהשטח</a:t>
            </a:r>
            <a:r>
              <a:rPr kumimoji="0" lang="he-IL" altLang="he-IL" sz="2400" b="1" i="0" u="none" strike="noStrike" cap="none" normalizeH="0" baseline="0" dirty="0">
                <a:ln>
                  <a:noFill/>
                </a:ln>
                <a:solidFill>
                  <a:schemeClr val="tx1"/>
                </a:solidFill>
                <a:effectLst/>
                <a:latin typeface="Assistant" pitchFamily="2" charset="-79"/>
                <a:cs typeface="Assistant" pitchFamily="2" charset="-79"/>
              </a:rPr>
              <a:t>:</a:t>
            </a:r>
          </a:p>
          <a:p>
            <a:pPr algn="r">
              <a:lnSpc>
                <a:spcPct val="150000"/>
              </a:lnSpc>
            </a:pPr>
            <a:endParaRPr kumimoji="0" lang="he-IL" altLang="he-IL" sz="2400" b="1" i="0" u="none" strike="noStrike" cap="none" normalizeH="0" baseline="0" dirty="0">
              <a:ln>
                <a:noFill/>
              </a:ln>
              <a:solidFill>
                <a:schemeClr val="tx1"/>
              </a:solidFill>
              <a:effectLst/>
              <a:latin typeface="Assistant" pitchFamily="2" charset="-79"/>
              <a:cs typeface="Assistant" pitchFamily="2" charset="-79"/>
            </a:endParaRPr>
          </a:p>
          <a:p>
            <a:pPr marL="342900" indent="-342900" algn="r">
              <a:lnSpc>
                <a:spcPct val="150000"/>
              </a:lnSpc>
              <a:buClr>
                <a:schemeClr val="accent3">
                  <a:lumMod val="60000"/>
                  <a:lumOff val="40000"/>
                </a:schemeClr>
              </a:buClr>
              <a:buFont typeface="Wingdings" panose="05000000000000000000" pitchFamily="2" charset="2"/>
              <a:buChar char="§"/>
            </a:pPr>
            <a:r>
              <a:rPr kumimoji="0" lang="he-IL" altLang="he-IL" sz="2400" b="1" i="0" u="none" strike="noStrike" cap="none" normalizeH="0" baseline="0" dirty="0">
                <a:ln>
                  <a:noFill/>
                </a:ln>
                <a:solidFill>
                  <a:schemeClr val="tx1"/>
                </a:solidFill>
                <a:effectLst/>
                <a:latin typeface="Assistant" pitchFamily="2" charset="-79"/>
                <a:cs typeface="Assistant" pitchFamily="2" charset="-79"/>
              </a:rPr>
              <a:t>חשיבות עצמאות ובחירה</a:t>
            </a:r>
            <a:r>
              <a:rPr kumimoji="0" lang="he-IL" altLang="he-IL" sz="2400" b="0" i="0" u="none" strike="noStrike" cap="none" normalizeH="0" baseline="0" dirty="0">
                <a:ln>
                  <a:noFill/>
                </a:ln>
                <a:solidFill>
                  <a:schemeClr val="tx1"/>
                </a:solidFill>
                <a:effectLst/>
                <a:latin typeface="Assistant" pitchFamily="2" charset="-79"/>
                <a:cs typeface="Assistant" pitchFamily="2" charset="-79"/>
              </a:rPr>
              <a:t> - פיתוח "שריר" קבלת ההחלטות והיוזמה </a:t>
            </a:r>
          </a:p>
          <a:p>
            <a:pPr marL="342900" indent="-342900">
              <a:lnSpc>
                <a:spcPct val="150000"/>
              </a:lnSpc>
              <a:buClr>
                <a:schemeClr val="accent3">
                  <a:lumMod val="60000"/>
                  <a:lumOff val="40000"/>
                </a:schemeClr>
              </a:buClr>
              <a:buFont typeface="Wingdings" panose="05000000000000000000" pitchFamily="2" charset="2"/>
              <a:buChar char="§"/>
            </a:pPr>
            <a:r>
              <a:rPr lang="he-IL" sz="2400" b="1" dirty="0">
                <a:effectLst/>
                <a:latin typeface="Assistant" pitchFamily="2" charset="-79"/>
                <a:cs typeface="Assistant" pitchFamily="2" charset="-79"/>
              </a:rPr>
              <a:t>חשיבות תחושת שייכות</a:t>
            </a:r>
            <a:r>
              <a:rPr lang="he-IL" sz="2400" dirty="0">
                <a:effectLst/>
                <a:latin typeface="Assistant" pitchFamily="2" charset="-79"/>
                <a:cs typeface="Assistant" pitchFamily="2" charset="-79"/>
              </a:rPr>
              <a:t> - בקהילה ובקבוצת השווים</a:t>
            </a:r>
            <a:endParaRPr kumimoji="0" lang="he-IL" altLang="he-IL" sz="2400" b="0" i="0" u="none" strike="noStrike" cap="none" normalizeH="0" baseline="0" dirty="0">
              <a:ln>
                <a:noFill/>
              </a:ln>
              <a:solidFill>
                <a:schemeClr val="tx1"/>
              </a:solidFill>
              <a:effectLst/>
              <a:latin typeface="Assistant" pitchFamily="2" charset="-79"/>
              <a:cs typeface="Assistant" pitchFamily="2" charset="-79"/>
            </a:endParaRPr>
          </a:p>
          <a:p>
            <a:pPr marL="342900" indent="-342900" algn="r">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בני משפחה </a:t>
            </a:r>
            <a:r>
              <a:rPr lang="he-IL" sz="2400" dirty="0">
                <a:effectLst/>
                <a:latin typeface="Assistant" pitchFamily="2" charset="-79"/>
                <a:cs typeface="Assistant" pitchFamily="2" charset="-79"/>
              </a:rPr>
              <a:t>הם גורם הכרחי בתהליך - ליווי נדרש גם למשפחה</a:t>
            </a:r>
          </a:p>
          <a:p>
            <a:pPr marL="342900" indent="-342900" algn="r">
              <a:lnSpc>
                <a:spcPct val="150000"/>
              </a:lnSpc>
              <a:buClr>
                <a:schemeClr val="accent3">
                  <a:lumMod val="60000"/>
                  <a:lumOff val="40000"/>
                </a:schemeClr>
              </a:buClr>
              <a:buFont typeface="Wingdings" panose="05000000000000000000" pitchFamily="2" charset="2"/>
              <a:buChar char="§"/>
            </a:pPr>
            <a:r>
              <a:rPr kumimoji="0" lang="he-IL" altLang="he-IL" sz="2400" b="1" i="0" u="none" strike="noStrike" cap="none" normalizeH="0" baseline="0" dirty="0">
                <a:ln>
                  <a:noFill/>
                </a:ln>
                <a:solidFill>
                  <a:schemeClr val="tx1"/>
                </a:solidFill>
                <a:effectLst/>
                <a:latin typeface="Assistant" pitchFamily="2" charset="-79"/>
                <a:cs typeface="Assistant" pitchFamily="2" charset="-79"/>
              </a:rPr>
              <a:t>תמריץ כלכלי</a:t>
            </a:r>
            <a:r>
              <a:rPr kumimoji="0" lang="he-IL" altLang="he-IL" sz="2400" b="0" i="0" u="none" strike="noStrike" cap="none" normalizeH="0" baseline="0" dirty="0">
                <a:ln>
                  <a:noFill/>
                </a:ln>
                <a:solidFill>
                  <a:schemeClr val="tx1"/>
                </a:solidFill>
                <a:effectLst/>
                <a:latin typeface="Assistant" pitchFamily="2" charset="-79"/>
                <a:cs typeface="Assistant" pitchFamily="2" charset="-79"/>
              </a:rPr>
              <a:t> - מפחית חששות ומגביר מחויבות, אך אינו המניע העיקרי </a:t>
            </a:r>
          </a:p>
        </p:txBody>
      </p:sp>
    </p:spTree>
    <p:extLst>
      <p:ext uri="{BB962C8B-B14F-4D97-AF65-F5344CB8AC3E}">
        <p14:creationId xmlns:p14="http://schemas.microsoft.com/office/powerpoint/2010/main" val="223711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D86B31-4F06-4554-C847-1A7AD7D882C9}"/>
            </a:ext>
          </a:extLst>
        </p:cNvPr>
        <p:cNvGrpSpPr/>
        <p:nvPr/>
      </p:nvGrpSpPr>
      <p:grpSpPr>
        <a:xfrm>
          <a:off x="0" y="0"/>
          <a:ext cx="0" cy="0"/>
          <a:chOff x="0" y="0"/>
          <a:chExt cx="0" cy="0"/>
        </a:xfrm>
      </p:grpSpPr>
      <p:sp>
        <p:nvSpPr>
          <p:cNvPr id="23" name="תיבת טקסט 22">
            <a:extLst>
              <a:ext uri="{FF2B5EF4-FFF2-40B4-BE49-F238E27FC236}">
                <a16:creationId xmlns:a16="http://schemas.microsoft.com/office/drawing/2014/main" id="{56BD6345-010C-3FD4-13AF-85F15F404B37}"/>
              </a:ext>
            </a:extLst>
          </p:cNvPr>
          <p:cNvSpPr txBox="1"/>
          <p:nvPr/>
        </p:nvSpPr>
        <p:spPr>
          <a:xfrm>
            <a:off x="68833" y="137172"/>
            <a:ext cx="1639990" cy="646545"/>
          </a:xfrm>
          <a:prstGeom prst="rect">
            <a:avLst/>
          </a:prstGeom>
          <a:solidFill>
            <a:srgbClr val="E2EFF9"/>
          </a:solidFill>
          <a:ln>
            <a:noFill/>
          </a:ln>
        </p:spPr>
        <p:style>
          <a:lnRef idx="2">
            <a:schemeClr val="accent2"/>
          </a:lnRef>
          <a:fillRef idx="1">
            <a:schemeClr val="lt1"/>
          </a:fillRef>
          <a:effectRef idx="0">
            <a:schemeClr val="accent2"/>
          </a:effectRef>
          <a:fontRef idx="minor">
            <a:schemeClr val="dk1"/>
          </a:fontRef>
        </p:style>
        <p:txBody>
          <a:bodyPr wrap="square" rtlCol="1">
            <a:spAutoFit/>
          </a:bodyPr>
          <a:lstStyle/>
          <a:p>
            <a:pPr algn="r" rtl="1"/>
            <a:endParaRPr lang="he-IL" dirty="0"/>
          </a:p>
        </p:txBody>
      </p:sp>
      <p:sp>
        <p:nvSpPr>
          <p:cNvPr id="4" name="תיבת טקסט 3">
            <a:extLst>
              <a:ext uri="{FF2B5EF4-FFF2-40B4-BE49-F238E27FC236}">
                <a16:creationId xmlns:a16="http://schemas.microsoft.com/office/drawing/2014/main" id="{03573A5A-20F7-1A08-120B-A1670EF663E2}"/>
              </a:ext>
            </a:extLst>
          </p:cNvPr>
          <p:cNvSpPr txBox="1"/>
          <p:nvPr/>
        </p:nvSpPr>
        <p:spPr>
          <a:xfrm>
            <a:off x="378825" y="2291149"/>
            <a:ext cx="11434349" cy="923330"/>
          </a:xfrm>
          <a:prstGeom prst="rect">
            <a:avLst/>
          </a:prstGeom>
          <a:solidFill>
            <a:srgbClr val="0F6FC6">
              <a:alpha val="85000"/>
            </a:srgb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rtl="1"/>
            <a:r>
              <a:rPr lang="he-IL" b="1" dirty="0">
                <a:effectLst/>
                <a:latin typeface="Assistant" pitchFamily="2" charset="-79"/>
                <a:cs typeface="Assistant" pitchFamily="2" charset="-79"/>
              </a:rPr>
              <a:t>מטרת הפרויקט</a:t>
            </a:r>
            <a:r>
              <a:rPr lang="he-IL" dirty="0">
                <a:effectLst/>
                <a:latin typeface="Assistant" pitchFamily="2" charset="-79"/>
                <a:cs typeface="Assistant" pitchFamily="2" charset="-79"/>
              </a:rPr>
              <a:t>: תהליך מהיר להנעת בני ובנות 60+ </a:t>
            </a:r>
            <a:r>
              <a:rPr lang="he-IL" u="sng" dirty="0">
                <a:effectLst/>
                <a:latin typeface="Assistant" pitchFamily="2" charset="-79"/>
                <a:cs typeface="Assistant" pitchFamily="2" charset="-79"/>
              </a:rPr>
              <a:t>לאורח חיים בריא פעיל ועצמאי</a:t>
            </a:r>
            <a:r>
              <a:rPr lang="he-IL" dirty="0">
                <a:effectLst/>
                <a:latin typeface="Assistant" pitchFamily="2" charset="-79"/>
                <a:cs typeface="Assistant" pitchFamily="2" charset="-79"/>
              </a:rPr>
              <a:t>, ולשימורו לאורך זמן - על-ידי חיזוק ה-</a:t>
            </a:r>
            <a:r>
              <a:rPr lang="en-US" dirty="0">
                <a:effectLst/>
                <a:latin typeface="Assistant" pitchFamily="2" charset="-79"/>
                <a:cs typeface="Assistant" pitchFamily="2" charset="-79"/>
              </a:rPr>
              <a:t> Agency </a:t>
            </a:r>
            <a:r>
              <a:rPr lang="he-IL" dirty="0">
                <a:effectLst/>
                <a:latin typeface="Assistant" pitchFamily="2" charset="-79"/>
                <a:cs typeface="Assistant" pitchFamily="2" charset="-79"/>
              </a:rPr>
              <a:t>האישי</a:t>
            </a:r>
          </a:p>
          <a:p>
            <a:pPr rtl="1"/>
            <a:r>
              <a:rPr lang="he-IL" b="1" dirty="0">
                <a:effectLst/>
                <a:latin typeface="Assistant" pitchFamily="2" charset="-79"/>
                <a:cs typeface="Assistant" pitchFamily="2" charset="-79"/>
              </a:rPr>
              <a:t>תוצאות מדידות</a:t>
            </a:r>
            <a:r>
              <a:rPr lang="he-IL" dirty="0">
                <a:effectLst/>
                <a:latin typeface="Assistant" pitchFamily="2" charset="-79"/>
                <a:cs typeface="Assistant" pitchFamily="2" charset="-79"/>
              </a:rPr>
              <a:t>: הפחתת תלות בשירותי סיעוד, </a:t>
            </a:r>
            <a:r>
              <a:rPr lang="he-IL" u="sng" dirty="0">
                <a:effectLst/>
                <a:latin typeface="Assistant" pitchFamily="2" charset="-79"/>
                <a:cs typeface="Assistant" pitchFamily="2" charset="-79"/>
              </a:rPr>
              <a:t>שיפור עצמאות תפקודית</a:t>
            </a:r>
            <a:r>
              <a:rPr lang="he-IL" dirty="0">
                <a:effectLst/>
                <a:latin typeface="Assistant" pitchFamily="2" charset="-79"/>
                <a:cs typeface="Assistant" pitchFamily="2" charset="-79"/>
              </a:rPr>
              <a:t>, והגדלת רווחה אישית</a:t>
            </a:r>
          </a:p>
          <a:p>
            <a:pPr rtl="1"/>
            <a:r>
              <a:rPr lang="he-IL" b="1" dirty="0">
                <a:effectLst/>
                <a:latin typeface="Assistant" pitchFamily="2" charset="-79"/>
                <a:cs typeface="Assistant" pitchFamily="2" charset="-79"/>
              </a:rPr>
              <a:t>חיסכון למערכת</a:t>
            </a:r>
            <a:r>
              <a:rPr lang="he-IL" dirty="0">
                <a:effectLst/>
                <a:latin typeface="Assistant" pitchFamily="2" charset="-79"/>
                <a:cs typeface="Assistant" pitchFamily="2" charset="-79"/>
              </a:rPr>
              <a:t>: </a:t>
            </a:r>
            <a:r>
              <a:rPr lang="he-IL" u="sng" dirty="0">
                <a:effectLst/>
                <a:latin typeface="Assistant" pitchFamily="2" charset="-79"/>
                <a:cs typeface="Assistant" pitchFamily="2" charset="-79"/>
              </a:rPr>
              <a:t>הפחתת הוצאות </a:t>
            </a:r>
            <a:r>
              <a:rPr lang="he-IL" dirty="0">
                <a:effectLst/>
                <a:latin typeface="Assistant" pitchFamily="2" charset="-79"/>
                <a:cs typeface="Assistant" pitchFamily="2" charset="-79"/>
              </a:rPr>
              <a:t>על גמלאות סיעוד לאורך זמן באמצעות השקעה </a:t>
            </a:r>
            <a:r>
              <a:rPr lang="he-IL" u="sng" dirty="0">
                <a:effectLst/>
                <a:latin typeface="Assistant" pitchFamily="2" charset="-79"/>
                <a:cs typeface="Assistant" pitchFamily="2" charset="-79"/>
              </a:rPr>
              <a:t>במניעה</a:t>
            </a:r>
          </a:p>
        </p:txBody>
      </p:sp>
      <p:sp>
        <p:nvSpPr>
          <p:cNvPr id="10" name="תיבת טקסט 9">
            <a:extLst>
              <a:ext uri="{FF2B5EF4-FFF2-40B4-BE49-F238E27FC236}">
                <a16:creationId xmlns:a16="http://schemas.microsoft.com/office/drawing/2014/main" id="{7BFCECA0-3D7A-638E-D268-0DDF7889ED87}"/>
              </a:ext>
            </a:extLst>
          </p:cNvPr>
          <p:cNvSpPr txBox="1"/>
          <p:nvPr/>
        </p:nvSpPr>
        <p:spPr>
          <a:xfrm>
            <a:off x="-226143" y="3459219"/>
            <a:ext cx="6094428" cy="1477328"/>
          </a:xfrm>
          <a:prstGeom prst="rect">
            <a:avLst/>
          </a:prstGeom>
          <a:noFill/>
        </p:spPr>
        <p:txBody>
          <a:bodyPr wrap="square">
            <a:spAutoFit/>
          </a:bodyPr>
          <a:lstStyle/>
          <a:p>
            <a:pPr rtl="1"/>
            <a:r>
              <a:rPr lang="he-IL" b="1" dirty="0">
                <a:effectLst/>
                <a:latin typeface="Assistant" pitchFamily="2" charset="-79"/>
                <a:cs typeface="Assistant" pitchFamily="2" charset="-79"/>
              </a:rPr>
              <a:t>הניווט החברתי</a:t>
            </a:r>
            <a:r>
              <a:rPr lang="he-IL" dirty="0">
                <a:effectLst/>
                <a:latin typeface="Assistant" pitchFamily="2" charset="-79"/>
                <a:cs typeface="Assistant" pitchFamily="2" charset="-79"/>
              </a:rPr>
              <a:t>: </a:t>
            </a:r>
          </a:p>
          <a:p>
            <a:pPr rtl="1"/>
            <a:r>
              <a:rPr lang="he-IL" dirty="0">
                <a:effectLst/>
                <a:latin typeface="Assistant" pitchFamily="2" charset="-79"/>
                <a:cs typeface="Assistant" pitchFamily="2" charset="-79"/>
              </a:rPr>
              <a:t>תכנית מותאמת אישית המקדמת עצמאות תפקודית ואיכות חיים: </a:t>
            </a:r>
          </a:p>
          <a:p>
            <a:pPr marL="742950" lvl="1" indent="-285750" rtl="1">
              <a:buFont typeface="Arial" panose="020B0604020202020204" pitchFamily="34" charset="0"/>
              <a:buChar char="•"/>
            </a:pPr>
            <a:r>
              <a:rPr lang="he-IL" b="1" dirty="0">
                <a:effectLst/>
                <a:latin typeface="Assistant" pitchFamily="2" charset="-79"/>
                <a:cs typeface="Assistant" pitchFamily="2" charset="-79"/>
              </a:rPr>
              <a:t>ראייה הוליסטית </a:t>
            </a:r>
            <a:r>
              <a:rPr lang="he-IL" dirty="0">
                <a:effectLst/>
                <a:latin typeface="Assistant" pitchFamily="2" charset="-79"/>
                <a:cs typeface="Assistant" pitchFamily="2" charset="-79"/>
              </a:rPr>
              <a:t>של צרכי התושב</a:t>
            </a:r>
          </a:p>
          <a:p>
            <a:pPr marL="742950" lvl="1" indent="-285750" rtl="1">
              <a:buFont typeface="Arial" panose="020B0604020202020204" pitchFamily="34" charset="0"/>
              <a:buChar char="•"/>
            </a:pPr>
            <a:r>
              <a:rPr lang="he-IL" dirty="0">
                <a:effectLst/>
                <a:latin typeface="Assistant" pitchFamily="2" charset="-79"/>
                <a:cs typeface="Assistant" pitchFamily="2" charset="-79"/>
              </a:rPr>
              <a:t>ליווי בהסרת חסמים ומציאת </a:t>
            </a:r>
            <a:r>
              <a:rPr lang="he-IL" b="1" dirty="0">
                <a:effectLst/>
                <a:latin typeface="Assistant" pitchFamily="2" charset="-79"/>
                <a:cs typeface="Assistant" pitchFamily="2" charset="-79"/>
              </a:rPr>
              <a:t>מוטיבציות אישיות</a:t>
            </a:r>
          </a:p>
          <a:p>
            <a:pPr marL="742950" lvl="1" indent="-285750" rtl="1">
              <a:buFont typeface="Arial" panose="020B0604020202020204" pitchFamily="34" charset="0"/>
              <a:buChar char="•"/>
            </a:pPr>
            <a:r>
              <a:rPr lang="he-IL" b="1" dirty="0">
                <a:effectLst/>
                <a:latin typeface="Assistant" pitchFamily="2" charset="-79"/>
                <a:cs typeface="Assistant" pitchFamily="2" charset="-79"/>
              </a:rPr>
              <a:t>מתן כלים לניהול עצמי </a:t>
            </a:r>
            <a:r>
              <a:rPr lang="he-IL" dirty="0">
                <a:effectLst/>
                <a:latin typeface="Assistant" pitchFamily="2" charset="-79"/>
                <a:cs typeface="Assistant" pitchFamily="2" charset="-79"/>
              </a:rPr>
              <a:t>וניווט עצמאי לאורך זמן</a:t>
            </a:r>
          </a:p>
        </p:txBody>
      </p:sp>
      <p:pic>
        <p:nvPicPr>
          <p:cNvPr id="1026" name="Picture 2" descr="top_logo jerusalem - Y.D.YardenAlon">
            <a:extLst>
              <a:ext uri="{FF2B5EF4-FFF2-40B4-BE49-F238E27FC236}">
                <a16:creationId xmlns:a16="http://schemas.microsoft.com/office/drawing/2014/main" id="{5FA5E47A-6D4A-19A8-6C32-3C478A731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2" name="מלבן 1"/>
          <p:cNvSpPr/>
          <p:nvPr/>
        </p:nvSpPr>
        <p:spPr>
          <a:xfrm>
            <a:off x="5717174" y="3460118"/>
            <a:ext cx="6096000" cy="1477328"/>
          </a:xfrm>
          <a:prstGeom prst="rect">
            <a:avLst/>
          </a:prstGeom>
        </p:spPr>
        <p:txBody>
          <a:bodyPr>
            <a:spAutoFit/>
          </a:bodyPr>
          <a:lstStyle/>
          <a:p>
            <a:r>
              <a:rPr lang="he-IL" b="1" dirty="0">
                <a:latin typeface="Assistant" pitchFamily="2" charset="-79"/>
                <a:cs typeface="Assistant" pitchFamily="2" charset="-79"/>
              </a:rPr>
              <a:t>מודל המלווה החברתית</a:t>
            </a:r>
            <a:r>
              <a:rPr lang="he-IL" dirty="0">
                <a:latin typeface="Assistant" pitchFamily="2" charset="-79"/>
                <a:cs typeface="Assistant" pitchFamily="2" charset="-79"/>
              </a:rPr>
              <a:t>: שילוב של 4 מרכיבים עיקריים: </a:t>
            </a:r>
          </a:p>
          <a:p>
            <a:pPr marL="742950" lvl="1" indent="-285750">
              <a:buFont typeface="Arial" panose="020B0604020202020204" pitchFamily="34" charset="0"/>
              <a:buChar char="•"/>
            </a:pPr>
            <a:r>
              <a:rPr lang="he-IL" b="1" dirty="0">
                <a:latin typeface="Assistant" pitchFamily="2" charset="-79"/>
                <a:cs typeface="Assistant" pitchFamily="2" charset="-79"/>
              </a:rPr>
              <a:t>גורם אנושי </a:t>
            </a:r>
            <a:r>
              <a:rPr lang="he-IL" dirty="0">
                <a:latin typeface="Assistant" pitchFamily="2" charset="-79"/>
                <a:cs typeface="Assistant" pitchFamily="2" charset="-79"/>
              </a:rPr>
              <a:t>מבסס אמון ויחסי קרבה</a:t>
            </a:r>
          </a:p>
          <a:p>
            <a:pPr marL="742950" lvl="1" indent="-285750">
              <a:buFont typeface="Arial" panose="020B0604020202020204" pitchFamily="34" charset="0"/>
              <a:buChar char="•"/>
            </a:pPr>
            <a:r>
              <a:rPr lang="he-IL" b="1" dirty="0">
                <a:latin typeface="Assistant" pitchFamily="2" charset="-79"/>
                <a:cs typeface="Assistant" pitchFamily="2" charset="-79"/>
              </a:rPr>
              <a:t>מקור ידע </a:t>
            </a:r>
            <a:r>
              <a:rPr lang="he-IL" dirty="0">
                <a:latin typeface="Assistant" pitchFamily="2" charset="-79"/>
                <a:cs typeface="Assistant" pitchFamily="2" charset="-79"/>
              </a:rPr>
              <a:t>נגיש לשירותים ופעילויות</a:t>
            </a:r>
          </a:p>
          <a:p>
            <a:pPr marL="742950" lvl="1" indent="-285750">
              <a:buFont typeface="Arial" panose="020B0604020202020204" pitchFamily="34" charset="0"/>
              <a:buChar char="•"/>
            </a:pPr>
            <a:r>
              <a:rPr lang="he-IL" dirty="0">
                <a:latin typeface="Assistant" pitchFamily="2" charset="-79"/>
                <a:cs typeface="Assistant" pitchFamily="2" charset="-79"/>
              </a:rPr>
              <a:t>גורם </a:t>
            </a:r>
            <a:r>
              <a:rPr lang="he-IL" dirty="0" err="1">
                <a:latin typeface="Assistant" pitchFamily="2" charset="-79"/>
                <a:cs typeface="Assistant" pitchFamily="2" charset="-79"/>
              </a:rPr>
              <a:t>מתכלל</a:t>
            </a:r>
            <a:r>
              <a:rPr lang="he-IL" dirty="0">
                <a:latin typeface="Assistant" pitchFamily="2" charset="-79"/>
                <a:cs typeface="Assistant" pitchFamily="2" charset="-79"/>
              </a:rPr>
              <a:t> ויצירתי </a:t>
            </a:r>
            <a:r>
              <a:rPr lang="he-IL" b="1" dirty="0">
                <a:latin typeface="Assistant" pitchFamily="2" charset="-79"/>
                <a:cs typeface="Assistant" pitchFamily="2" charset="-79"/>
              </a:rPr>
              <a:t>להתאמה אישית</a:t>
            </a:r>
          </a:p>
          <a:p>
            <a:pPr marL="742950" lvl="1" indent="-285750">
              <a:buFont typeface="Arial" panose="020B0604020202020204" pitchFamily="34" charset="0"/>
              <a:buChar char="•"/>
            </a:pPr>
            <a:r>
              <a:rPr lang="he-IL" b="1" dirty="0">
                <a:latin typeface="Assistant" pitchFamily="2" charset="-79"/>
                <a:cs typeface="Assistant" pitchFamily="2" charset="-79"/>
              </a:rPr>
              <a:t>גורם מעצים </a:t>
            </a:r>
            <a:r>
              <a:rPr lang="he-IL" dirty="0">
                <a:latin typeface="Assistant" pitchFamily="2" charset="-79"/>
                <a:cs typeface="Assistant" pitchFamily="2" charset="-79"/>
              </a:rPr>
              <a:t>המחזק תחושת מסוגלות</a:t>
            </a:r>
          </a:p>
        </p:txBody>
      </p:sp>
      <p:sp>
        <p:nvSpPr>
          <p:cNvPr id="15" name="Freeform 10"/>
          <p:cNvSpPr/>
          <p:nvPr/>
        </p:nvSpPr>
        <p:spPr>
          <a:xfrm>
            <a:off x="5018138" y="4799106"/>
            <a:ext cx="3035914" cy="2058894"/>
          </a:xfrm>
          <a:custGeom>
            <a:avLst/>
            <a:gdLst/>
            <a:ahLst/>
            <a:cxnLst/>
            <a:rect l="l" t="t" r="r" b="b"/>
            <a:pathLst>
              <a:path w="12352120" h="8229600">
                <a:moveTo>
                  <a:pt x="0" y="0"/>
                </a:moveTo>
                <a:lnTo>
                  <a:pt x="12352120" y="0"/>
                </a:lnTo>
                <a:lnTo>
                  <a:pt x="12352120" y="8229600"/>
                </a:lnTo>
                <a:lnTo>
                  <a:pt x="0" y="8229600"/>
                </a:lnTo>
                <a:lnTo>
                  <a:pt x="0" y="0"/>
                </a:lnTo>
                <a:close/>
              </a:path>
            </a:pathLst>
          </a:custGeom>
          <a:blipFill>
            <a:blip r:embed="rId3"/>
            <a:stretch>
              <a:fillRect/>
            </a:stretch>
          </a:blipFill>
        </p:spPr>
        <p:txBody>
          <a:bodyPr/>
          <a:lstStyle/>
          <a:p>
            <a:endParaRPr lang="en-IL"/>
          </a:p>
        </p:txBody>
      </p:sp>
      <p:sp>
        <p:nvSpPr>
          <p:cNvPr id="3" name="כותרת 1">
            <a:extLst>
              <a:ext uri="{FF2B5EF4-FFF2-40B4-BE49-F238E27FC236}">
                <a16:creationId xmlns:a16="http://schemas.microsoft.com/office/drawing/2014/main" id="{833CAEF4-ABBF-6D05-B5C4-CE6D0013B426}"/>
              </a:ext>
            </a:extLst>
          </p:cNvPr>
          <p:cNvSpPr txBox="1">
            <a:spLocks/>
          </p:cNvSpPr>
          <p:nvPr/>
        </p:nvSpPr>
        <p:spPr>
          <a:xfrm>
            <a:off x="68833" y="847521"/>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 הפחתת תלות בגמלאות באמצעות העצמה אישית</a:t>
            </a:r>
          </a:p>
        </p:txBody>
      </p:sp>
      <p:sp>
        <p:nvSpPr>
          <p:cNvPr id="5" name="מלבן 4">
            <a:extLst>
              <a:ext uri="{FF2B5EF4-FFF2-40B4-BE49-F238E27FC236}">
                <a16:creationId xmlns:a16="http://schemas.microsoft.com/office/drawing/2014/main" id="{564BA524-646F-400D-C2FD-D2A223F25D3B}"/>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האדם במרכז – מודל העבודה בשטח</a:t>
            </a:r>
            <a:endParaRPr lang="en-IL" sz="3500" b="1" dirty="0">
              <a:latin typeface="Assistant" pitchFamily="2" charset="-79"/>
              <a:cs typeface="Assistant" pitchFamily="2" charset="-79"/>
            </a:endParaRPr>
          </a:p>
        </p:txBody>
      </p:sp>
      <p:sp>
        <p:nvSpPr>
          <p:cNvPr id="13" name="Freeform 3"/>
          <p:cNvSpPr/>
          <p:nvPr/>
        </p:nvSpPr>
        <p:spPr>
          <a:xfrm>
            <a:off x="4572234" y="1255845"/>
            <a:ext cx="3047530" cy="923663"/>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pic>
        <p:nvPicPr>
          <p:cNvPr id="6" name="Picture 26">
            <a:extLst>
              <a:ext uri="{FF2B5EF4-FFF2-40B4-BE49-F238E27FC236}">
                <a16:creationId xmlns:a16="http://schemas.microsoft.com/office/drawing/2014/main" id="{ED24F99A-B5F8-AF02-5462-43B4667AEFD6}"/>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7" name="Group 1">
            <a:extLst>
              <a:ext uri="{FF2B5EF4-FFF2-40B4-BE49-F238E27FC236}">
                <a16:creationId xmlns:a16="http://schemas.microsoft.com/office/drawing/2014/main" id="{B0151FC9-5CC6-3C9F-C554-E126DDDAE31E}"/>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5599BC34-C690-BF8E-4564-BE8CD421CCC2}"/>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9" name="Picture 4">
              <a:extLst>
                <a:ext uri="{FF2B5EF4-FFF2-40B4-BE49-F238E27FC236}">
                  <a16:creationId xmlns:a16="http://schemas.microsoft.com/office/drawing/2014/main" id="{38F878BD-1FBE-291C-BE9D-4B2F6DBF9CBB}"/>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4627768B-2ABC-EA05-EA32-23989DB2DB2B}"/>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779781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7BBFC9-DF14-7439-37ED-0BC86DF948A7}"/>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1DB7A6D3-3F3F-3D36-042B-A6C3F09845C8}"/>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דוגמאות מהשדה</a:t>
            </a:r>
            <a:endParaRPr lang="en-IL" sz="3500" b="1" dirty="0">
              <a:latin typeface="Assistant" pitchFamily="2" charset="-79"/>
              <a:cs typeface="Assistant" pitchFamily="2" charset="-79"/>
            </a:endParaRPr>
          </a:p>
        </p:txBody>
      </p:sp>
      <p:pic>
        <p:nvPicPr>
          <p:cNvPr id="1026" name="Picture 2" descr="top_logo jerusalem - Y.D.YardenAlon">
            <a:extLst>
              <a:ext uri="{FF2B5EF4-FFF2-40B4-BE49-F238E27FC236}">
                <a16:creationId xmlns:a16="http://schemas.microsoft.com/office/drawing/2014/main" id="{8DCF8885-1B05-87D6-0515-8162BE139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49958D7A-FA57-BE2B-00FC-722821B66952}"/>
              </a:ext>
            </a:extLst>
          </p:cNvPr>
          <p:cNvSpPr/>
          <p:nvPr/>
        </p:nvSpPr>
        <p:spPr>
          <a:xfrm>
            <a:off x="68832" y="8446"/>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3"/>
            <a:stretch>
              <a:fillRect/>
            </a:stretch>
          </a:blipFill>
        </p:spPr>
        <p:txBody>
          <a:bodyPr/>
          <a:lstStyle/>
          <a:p>
            <a:endParaRPr lang="en-IL"/>
          </a:p>
        </p:txBody>
      </p:sp>
      <p:sp>
        <p:nvSpPr>
          <p:cNvPr id="3" name="כותרת 1">
            <a:extLst>
              <a:ext uri="{FF2B5EF4-FFF2-40B4-BE49-F238E27FC236}">
                <a16:creationId xmlns:a16="http://schemas.microsoft.com/office/drawing/2014/main" id="{560B0126-C03C-47E6-5C0B-BEE6435CC007}"/>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"עכשיו אני" - הפחתת תלות בגמלאות באמצעות העצמה אישית</a:t>
            </a:r>
          </a:p>
        </p:txBody>
      </p:sp>
      <p:sp>
        <p:nvSpPr>
          <p:cNvPr id="27" name="תיבת טקסט 26">
            <a:extLst>
              <a:ext uri="{FF2B5EF4-FFF2-40B4-BE49-F238E27FC236}">
                <a16:creationId xmlns:a16="http://schemas.microsoft.com/office/drawing/2014/main" id="{EA84C4BC-DBDB-ACBD-3896-742BCB98ECA4}"/>
              </a:ext>
            </a:extLst>
          </p:cNvPr>
          <p:cNvSpPr txBox="1"/>
          <p:nvPr/>
        </p:nvSpPr>
        <p:spPr>
          <a:xfrm>
            <a:off x="6083464" y="1770198"/>
            <a:ext cx="5093906" cy="4247317"/>
          </a:xfrm>
          <a:prstGeom prst="rect">
            <a:avLst/>
          </a:prstGeom>
          <a:noFill/>
        </p:spPr>
        <p:txBody>
          <a:bodyPr wrap="square">
            <a:spAutoFit/>
          </a:bodyPr>
          <a:lstStyle/>
          <a:p>
            <a:r>
              <a:rPr lang="he-IL" sz="2000" b="1" dirty="0">
                <a:effectLst/>
                <a:latin typeface="Assistant" pitchFamily="2" charset="-79"/>
                <a:cs typeface="Assistant" pitchFamily="2" charset="-79"/>
              </a:rPr>
              <a:t>מרכיבי השינוי בחיי המבוטח</a:t>
            </a:r>
            <a:endParaRPr lang="he-IL" sz="2000" dirty="0">
              <a:effectLst/>
              <a:latin typeface="Assistant" pitchFamily="2" charset="-79"/>
              <a:cs typeface="Assistant" pitchFamily="2" charset="-79"/>
            </a:endParaRPr>
          </a:p>
          <a:p>
            <a:pPr rtl="1"/>
            <a:endParaRPr lang="en-US" sz="2000" b="1" dirty="0">
              <a:latin typeface="Assistant" pitchFamily="2" charset="-79"/>
              <a:cs typeface="Assistant" pitchFamily="2" charset="-79"/>
            </a:endParaRP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אמון מהיר והכרות מדויקת</a:t>
            </a:r>
            <a:r>
              <a:rPr lang="he-IL" sz="2000" dirty="0">
                <a:effectLst/>
                <a:latin typeface="Assistant" pitchFamily="2" charset="-79"/>
                <a:cs typeface="Assistant" pitchFamily="2" charset="-79"/>
              </a:rPr>
              <a:t> עם המבוטח</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הבנת חסמים ומוטיבציות</a:t>
            </a:r>
            <a:r>
              <a:rPr lang="he-IL" sz="2000" dirty="0">
                <a:effectLst/>
                <a:latin typeface="Assistant" pitchFamily="2" charset="-79"/>
                <a:cs typeface="Assistant" pitchFamily="2" charset="-79"/>
              </a:rPr>
              <a:t> לשינוי והפעלת המוטיבציות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ניווט לפעילות חדשה</a:t>
            </a:r>
            <a:r>
              <a:rPr lang="he-IL" sz="2000" dirty="0">
                <a:effectLst/>
                <a:latin typeface="Assistant" pitchFamily="2" charset="-79"/>
                <a:cs typeface="Assistant" pitchFamily="2" charset="-79"/>
              </a:rPr>
              <a:t> - מיפוי וחשיפה לאפשרויות, התנסות ומשוב</a:t>
            </a:r>
          </a:p>
          <a:p>
            <a:pPr marL="342900" indent="-342900" rtl="1">
              <a:lnSpc>
                <a:spcPct val="150000"/>
              </a:lnSpc>
              <a:buClr>
                <a:schemeClr val="accent3">
                  <a:lumMod val="60000"/>
                  <a:lumOff val="40000"/>
                </a:schemeClr>
              </a:buClr>
              <a:buFont typeface="Wingdings" panose="05000000000000000000" pitchFamily="2" charset="2"/>
              <a:buChar char="§"/>
            </a:pPr>
            <a:r>
              <a:rPr lang="en-US" sz="2000" b="1" dirty="0">
                <a:effectLst/>
                <a:latin typeface="Assistant" pitchFamily="2" charset="-79"/>
                <a:cs typeface="Assistant" pitchFamily="2" charset="-79"/>
              </a:rPr>
              <a:t>Agency</a:t>
            </a:r>
            <a:r>
              <a:rPr lang="he-IL" sz="2000" b="1" dirty="0">
                <a:effectLst/>
                <a:latin typeface="Assistant" pitchFamily="2" charset="-79"/>
                <a:cs typeface="Assistant" pitchFamily="2" charset="-79"/>
              </a:rPr>
              <a:t> של המבוטח</a:t>
            </a:r>
            <a:r>
              <a:rPr lang="he-IL" sz="2000" dirty="0">
                <a:effectLst/>
                <a:latin typeface="Assistant" pitchFamily="2" charset="-79"/>
                <a:cs typeface="Assistant" pitchFamily="2" charset="-79"/>
              </a:rPr>
              <a:t> - </a:t>
            </a:r>
            <a:r>
              <a:rPr lang="he-IL" sz="2000" b="1" dirty="0">
                <a:effectLst/>
                <a:latin typeface="Assistant" pitchFamily="2" charset="-79"/>
                <a:cs typeface="Assistant" pitchFamily="2" charset="-79"/>
              </a:rPr>
              <a:t>העצמת המבוטח</a:t>
            </a:r>
            <a:r>
              <a:rPr lang="he-IL" sz="2000" dirty="0">
                <a:effectLst/>
                <a:latin typeface="Assistant" pitchFamily="2" charset="-79"/>
                <a:cs typeface="Assistant" pitchFamily="2" charset="-79"/>
              </a:rPr>
              <a:t>, פיתוח תחושת המסוגלות לצד לקיחת אחריות אישית</a:t>
            </a:r>
          </a:p>
          <a:p>
            <a:pPr rtl="1"/>
            <a:endParaRPr lang="he-IL" sz="2000" dirty="0">
              <a:latin typeface="Assistant" pitchFamily="2" charset="-79"/>
              <a:cs typeface="Assistant" pitchFamily="2" charset="-79"/>
            </a:endParaRPr>
          </a:p>
        </p:txBody>
      </p:sp>
      <p:sp>
        <p:nvSpPr>
          <p:cNvPr id="6" name="מלבן: מסגרת משופעת 5">
            <a:extLst>
              <a:ext uri="{FF2B5EF4-FFF2-40B4-BE49-F238E27FC236}">
                <a16:creationId xmlns:a16="http://schemas.microsoft.com/office/drawing/2014/main" id="{BEF5245D-4305-3B8E-5601-7C0435F0ABE2}"/>
              </a:ext>
            </a:extLst>
          </p:cNvPr>
          <p:cNvSpPr/>
          <p:nvPr/>
        </p:nvSpPr>
        <p:spPr>
          <a:xfrm>
            <a:off x="1276066" y="2103628"/>
            <a:ext cx="4140886" cy="3556413"/>
          </a:xfrm>
          <a:prstGeom prst="bevel">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endParaRPr lang="he-IL" sz="2200" b="1" dirty="0">
              <a:effectLst/>
              <a:latin typeface="Assistant" pitchFamily="2" charset="-79"/>
              <a:cs typeface="Assistant" pitchFamily="2" charset="-79"/>
            </a:endParaRPr>
          </a:p>
          <a:p>
            <a:pPr algn="ctr" rtl="1"/>
            <a:r>
              <a:rPr lang="he-IL" sz="2200" b="1" dirty="0">
                <a:effectLst/>
                <a:latin typeface="Assistant" pitchFamily="2" charset="-79"/>
                <a:cs typeface="Assistant" pitchFamily="2" charset="-79"/>
              </a:rPr>
              <a:t>מוטיבציות עיקריות שזוהו בשטח:</a:t>
            </a:r>
            <a:endParaRPr lang="he-IL" sz="2200" dirty="0">
              <a:effectLst/>
              <a:latin typeface="Assistant" pitchFamily="2" charset="-79"/>
              <a:cs typeface="Assistant" pitchFamily="2" charset="-79"/>
            </a:endParaRPr>
          </a:p>
          <a:p>
            <a:pPr algn="ctr" rtl="1"/>
            <a:endParaRPr lang="he-IL" dirty="0">
              <a:effectLst/>
              <a:latin typeface="Assistant" pitchFamily="2" charset="-79"/>
              <a:cs typeface="Assistant" pitchFamily="2" charset="-79"/>
            </a:endParaRPr>
          </a:p>
          <a:p>
            <a:pPr algn="ctr" rtl="1"/>
            <a:r>
              <a:rPr lang="he-IL" sz="2000" b="1" dirty="0">
                <a:effectLst/>
                <a:latin typeface="Assistant" pitchFamily="2" charset="-79"/>
                <a:cs typeface="Assistant" pitchFamily="2" charset="-79"/>
              </a:rPr>
              <a:t>שייכות חברתית</a:t>
            </a:r>
          </a:p>
          <a:p>
            <a:pPr algn="ctr" rtl="1"/>
            <a:r>
              <a:rPr lang="he-IL" sz="2000" b="1" dirty="0">
                <a:effectLst/>
                <a:latin typeface="Assistant" pitchFamily="2" charset="-79"/>
                <a:cs typeface="Assistant" pitchFamily="2" charset="-79"/>
              </a:rPr>
              <a:t>שגרות אישיות</a:t>
            </a:r>
          </a:p>
          <a:p>
            <a:pPr algn="ctr" rtl="1"/>
            <a:r>
              <a:rPr lang="he-IL" sz="2000" b="1" dirty="0">
                <a:effectLst/>
                <a:latin typeface="Assistant" pitchFamily="2" charset="-79"/>
                <a:cs typeface="Assistant" pitchFamily="2" charset="-79"/>
              </a:rPr>
              <a:t>הערכה והוקרה</a:t>
            </a:r>
          </a:p>
          <a:p>
            <a:pPr algn="ctr" rtl="1"/>
            <a:r>
              <a:rPr lang="he-IL" sz="2000" b="1" dirty="0">
                <a:effectLst/>
                <a:latin typeface="Assistant" pitchFamily="2" charset="-79"/>
                <a:cs typeface="Assistant" pitchFamily="2" charset="-79"/>
              </a:rPr>
              <a:t>עצמאות ובחירה</a:t>
            </a:r>
          </a:p>
          <a:p>
            <a:pPr algn="ctr" rtl="1"/>
            <a:r>
              <a:rPr lang="he-IL" sz="2000" b="1" dirty="0">
                <a:effectLst/>
                <a:latin typeface="Assistant" pitchFamily="2" charset="-79"/>
                <a:cs typeface="Assistant" pitchFamily="2" charset="-79"/>
              </a:rPr>
              <a:t>סקרנות ולמידה</a:t>
            </a:r>
          </a:p>
          <a:p>
            <a:pPr algn="ctr"/>
            <a:endParaRPr lang="en-IL" dirty="0">
              <a:latin typeface="Assistant" pitchFamily="2" charset="-79"/>
              <a:cs typeface="Assistant" pitchFamily="2" charset="-79"/>
            </a:endParaRPr>
          </a:p>
          <a:p>
            <a:pPr algn="ctr"/>
            <a:endParaRPr lang="en-IL" dirty="0"/>
          </a:p>
        </p:txBody>
      </p:sp>
      <p:pic>
        <p:nvPicPr>
          <p:cNvPr id="7" name="Picture 26">
            <a:extLst>
              <a:ext uri="{FF2B5EF4-FFF2-40B4-BE49-F238E27FC236}">
                <a16:creationId xmlns:a16="http://schemas.microsoft.com/office/drawing/2014/main" id="{7B0E4599-0E7F-0074-3D78-EC646C4068D7}"/>
              </a:ext>
            </a:extLst>
          </p:cNvPr>
          <p:cNvPicPr>
            <a:picLocks noChangeAspect="1"/>
          </p:cNvPicPr>
          <p:nvPr/>
        </p:nvPicPr>
        <p:blipFill>
          <a:blip r:embed="rId4"/>
          <a:stretch>
            <a:fillRect/>
          </a:stretch>
        </p:blipFill>
        <p:spPr>
          <a:xfrm>
            <a:off x="10999758" y="6239877"/>
            <a:ext cx="1118350" cy="612431"/>
          </a:xfrm>
          <a:prstGeom prst="rect">
            <a:avLst/>
          </a:prstGeom>
          <a:ln>
            <a:noFill/>
          </a:ln>
        </p:spPr>
      </p:pic>
      <p:grpSp>
        <p:nvGrpSpPr>
          <p:cNvPr id="8" name="Group 1">
            <a:extLst>
              <a:ext uri="{FF2B5EF4-FFF2-40B4-BE49-F238E27FC236}">
                <a16:creationId xmlns:a16="http://schemas.microsoft.com/office/drawing/2014/main" id="{D879E693-989C-0FF6-9A67-F70823FFBA95}"/>
              </a:ext>
            </a:extLst>
          </p:cNvPr>
          <p:cNvGrpSpPr/>
          <p:nvPr/>
        </p:nvGrpSpPr>
        <p:grpSpPr>
          <a:xfrm>
            <a:off x="240146" y="6459128"/>
            <a:ext cx="1523237" cy="323730"/>
            <a:chOff x="304171" y="6108306"/>
            <a:chExt cx="2542153" cy="560355"/>
          </a:xfrm>
        </p:grpSpPr>
        <p:pic>
          <p:nvPicPr>
            <p:cNvPr id="9" name="Picture 3">
              <a:extLst>
                <a:ext uri="{FF2B5EF4-FFF2-40B4-BE49-F238E27FC236}">
                  <a16:creationId xmlns:a16="http://schemas.microsoft.com/office/drawing/2014/main" id="{BCE67D65-6BA8-1E1C-40C3-20DC1CD305A5}"/>
                </a:ext>
              </a:extLst>
            </p:cNvPr>
            <p:cNvPicPr>
              <a:picLocks noChangeAspect="1"/>
            </p:cNvPicPr>
            <p:nvPr/>
          </p:nvPicPr>
          <p:blipFill>
            <a:blip r:embed="rId5"/>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E0934447-E746-E5D2-FF6E-3770C4591F32}"/>
                </a:ext>
              </a:extLst>
            </p:cNvPr>
            <p:cNvPicPr>
              <a:picLocks noChangeAspect="1"/>
            </p:cNvPicPr>
            <p:nvPr/>
          </p:nvPicPr>
          <p:blipFill>
            <a:blip r:embed="rId6"/>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A5302FC6-C2E2-179D-6E06-6B32AA20C119}"/>
                </a:ext>
              </a:extLst>
            </p:cNvPr>
            <p:cNvPicPr>
              <a:picLocks noChangeAspect="1"/>
            </p:cNvPicPr>
            <p:nvPr/>
          </p:nvPicPr>
          <p:blipFill>
            <a:blip r:embed="rId7"/>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829069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B154DF-3AB9-A040-8CE7-0D5F0AD6E99B}"/>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AEC18264-0E19-5283-9AEB-5CC0B2ECC1E3}"/>
              </a:ext>
            </a:extLst>
          </p:cNvPr>
          <p:cNvSpPr/>
          <p:nvPr/>
        </p:nvSpPr>
        <p:spPr>
          <a:xfrm>
            <a:off x="-12536" y="17418"/>
            <a:ext cx="12204536" cy="923663"/>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דוגמאות מהשדה</a:t>
            </a:r>
            <a:endParaRPr lang="en-IL" sz="3500" b="1" dirty="0">
              <a:latin typeface="Assistant" pitchFamily="2" charset="-79"/>
              <a:cs typeface="Assistant" pitchFamily="2" charset="-79"/>
            </a:endParaRPr>
          </a:p>
        </p:txBody>
      </p:sp>
      <p:pic>
        <p:nvPicPr>
          <p:cNvPr id="8" name="Picture 2" descr="top_logo jerusalem - Y.D.YardenAlon">
            <a:extLst>
              <a:ext uri="{FF2B5EF4-FFF2-40B4-BE49-F238E27FC236}">
                <a16:creationId xmlns:a16="http://schemas.microsoft.com/office/drawing/2014/main" id="{F7EC29EA-B1B4-A801-CF83-1A72E73ADF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7621" y="6074283"/>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3">
            <a:extLst>
              <a:ext uri="{FF2B5EF4-FFF2-40B4-BE49-F238E27FC236}">
                <a16:creationId xmlns:a16="http://schemas.microsoft.com/office/drawing/2014/main" id="{6B5E2D19-F08A-824C-8062-D1DCC0E536D0}"/>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sp>
        <p:nvSpPr>
          <p:cNvPr id="10" name="כותרת 1">
            <a:extLst>
              <a:ext uri="{FF2B5EF4-FFF2-40B4-BE49-F238E27FC236}">
                <a16:creationId xmlns:a16="http://schemas.microsoft.com/office/drawing/2014/main" id="{FECDB970-C2AB-F3BE-A997-83EB270A2FAC}"/>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פיילוט "עכשיו אני" - הפחתת תלות בגמלאות באמצעות העצמה אישית</a:t>
            </a:r>
          </a:p>
        </p:txBody>
      </p:sp>
      <p:sp>
        <p:nvSpPr>
          <p:cNvPr id="11" name="תיבת טקסט 10">
            <a:extLst>
              <a:ext uri="{FF2B5EF4-FFF2-40B4-BE49-F238E27FC236}">
                <a16:creationId xmlns:a16="http://schemas.microsoft.com/office/drawing/2014/main" id="{A53BF432-F4BD-F73E-254F-9B3C571DA253}"/>
              </a:ext>
            </a:extLst>
          </p:cNvPr>
          <p:cNvSpPr txBox="1"/>
          <p:nvPr/>
        </p:nvSpPr>
        <p:spPr>
          <a:xfrm>
            <a:off x="809015" y="1790608"/>
            <a:ext cx="10573969" cy="3276090"/>
          </a:xfrm>
          <a:prstGeom prst="rect">
            <a:avLst/>
          </a:prstGeom>
          <a:noFill/>
        </p:spPr>
        <p:txBody>
          <a:bodyPr wrap="square">
            <a:spAutoFit/>
          </a:bodyPr>
          <a:lstStyle/>
          <a:p>
            <a:pPr>
              <a:lnSpc>
                <a:spcPct val="150000"/>
              </a:lnSpc>
            </a:pPr>
            <a:r>
              <a:rPr lang="he-IL" sz="2000" b="1" dirty="0">
                <a:effectLst/>
                <a:latin typeface="Assistant" pitchFamily="2" charset="-79"/>
                <a:cs typeface="Assistant" pitchFamily="2" charset="-79"/>
              </a:rPr>
              <a:t>"מישהו לרוץ </a:t>
            </a:r>
            <a:r>
              <a:rPr lang="he-IL" sz="2000" b="1" dirty="0" err="1">
                <a:effectLst/>
                <a:latin typeface="Assistant" pitchFamily="2" charset="-79"/>
                <a:cs typeface="Assistant" pitchFamily="2" charset="-79"/>
              </a:rPr>
              <a:t>איתו</a:t>
            </a:r>
            <a:r>
              <a:rPr lang="he-IL" sz="2000" b="1" dirty="0">
                <a:effectLst/>
                <a:latin typeface="Assistant" pitchFamily="2" charset="-79"/>
                <a:cs typeface="Assistant" pitchFamily="2" charset="-79"/>
              </a:rPr>
              <a:t>"... </a:t>
            </a:r>
          </a:p>
          <a:p>
            <a:pPr>
              <a:lnSpc>
                <a:spcPct val="150000"/>
              </a:lnSpc>
            </a:pPr>
            <a:r>
              <a:rPr lang="he-IL" sz="2000" b="1" dirty="0">
                <a:effectLst/>
                <a:latin typeface="Assistant" pitchFamily="2" charset="-79"/>
                <a:cs typeface="Assistant" pitchFamily="2" charset="-79"/>
              </a:rPr>
              <a:t>תפקיד המלווה:</a:t>
            </a:r>
            <a:r>
              <a:rPr lang="he-IL" sz="2000" dirty="0">
                <a:effectLst/>
                <a:latin typeface="Assistant" pitchFamily="2" charset="-79"/>
                <a:cs typeface="Assistant" pitchFamily="2" charset="-79"/>
              </a:rPr>
              <a:t> המלווה מסייעת בפיתוח עצמאות ואחריות של המבוטח כדי שהוא יתמיד ויבצע את הפעולות באופן עצמאי בהמשך, ולא כתלות במלווה.</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אנושי מבסס אמון וקשר אישי</a:t>
            </a:r>
            <a:r>
              <a:rPr lang="he-IL" sz="2000" dirty="0">
                <a:effectLst/>
                <a:latin typeface="Assistant" pitchFamily="2" charset="-79"/>
                <a:cs typeface="Assistant" pitchFamily="2" charset="-79"/>
              </a:rPr>
              <a:t> - היכרות מקיפה המבוססת על הקשבה ואמון</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מקור ידע לניווט</a:t>
            </a:r>
            <a:r>
              <a:rPr lang="he-IL" sz="2000" dirty="0">
                <a:effectLst/>
                <a:latin typeface="Assistant" pitchFamily="2" charset="-79"/>
                <a:cs typeface="Assistant" pitchFamily="2" charset="-79"/>
              </a:rPr>
              <a:t> - בעלת הידע המעשי לשירותים, מנגישה אותו בהתאמה אישית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a:t>
            </a:r>
            <a:r>
              <a:rPr lang="he-IL" sz="2000" b="1" dirty="0" err="1">
                <a:effectLst/>
                <a:latin typeface="Assistant" pitchFamily="2" charset="-79"/>
                <a:cs typeface="Assistant" pitchFamily="2" charset="-79"/>
              </a:rPr>
              <a:t>מתכלל</a:t>
            </a:r>
            <a:r>
              <a:rPr lang="he-IL" sz="2000" b="1" dirty="0">
                <a:effectLst/>
                <a:latin typeface="Assistant" pitchFamily="2" charset="-79"/>
                <a:cs typeface="Assistant" pitchFamily="2" charset="-79"/>
              </a:rPr>
              <a:t> ויצירתי</a:t>
            </a:r>
            <a:r>
              <a:rPr lang="he-IL" sz="2000" dirty="0">
                <a:effectLst/>
                <a:latin typeface="Assistant" pitchFamily="2" charset="-79"/>
                <a:cs typeface="Assistant" pitchFamily="2" charset="-79"/>
              </a:rPr>
              <a:t> - מתאימה אישית את הצעת הניווט בהתאם לתמונת המבוטח ההוליסטית</a:t>
            </a:r>
          </a:p>
          <a:p>
            <a:pPr marL="342900" indent="-342900" rtl="1">
              <a:lnSpc>
                <a:spcPct val="150000"/>
              </a:lnSpc>
              <a:buClr>
                <a:schemeClr val="accent3">
                  <a:lumMod val="60000"/>
                  <a:lumOff val="40000"/>
                </a:schemeClr>
              </a:buClr>
              <a:buFont typeface="Wingdings" panose="05000000000000000000" pitchFamily="2" charset="2"/>
              <a:buChar char="§"/>
            </a:pPr>
            <a:r>
              <a:rPr lang="he-IL" sz="2000" b="1" dirty="0">
                <a:effectLst/>
                <a:latin typeface="Assistant" pitchFamily="2" charset="-79"/>
                <a:cs typeface="Assistant" pitchFamily="2" charset="-79"/>
              </a:rPr>
              <a:t>גורם מעצים</a:t>
            </a:r>
            <a:r>
              <a:rPr lang="he-IL" sz="2000" dirty="0">
                <a:effectLst/>
                <a:latin typeface="Assistant" pitchFamily="2" charset="-79"/>
                <a:cs typeface="Assistant" pitchFamily="2" charset="-79"/>
              </a:rPr>
              <a:t> - משקפת למבוטח את הערך העצמי שלו ומחזקת את תחושת המסוגלות</a:t>
            </a:r>
          </a:p>
        </p:txBody>
      </p:sp>
      <p:sp>
        <p:nvSpPr>
          <p:cNvPr id="12" name="תיבת טקסט 11">
            <a:extLst>
              <a:ext uri="{FF2B5EF4-FFF2-40B4-BE49-F238E27FC236}">
                <a16:creationId xmlns:a16="http://schemas.microsoft.com/office/drawing/2014/main" id="{A6AAFDF4-63B6-EE6E-8DC2-8BE284C3E8B9}"/>
              </a:ext>
            </a:extLst>
          </p:cNvPr>
          <p:cNvSpPr txBox="1"/>
          <p:nvPr/>
        </p:nvSpPr>
        <p:spPr>
          <a:xfrm>
            <a:off x="2946289" y="5655639"/>
            <a:ext cx="6099858" cy="461665"/>
          </a:xfrm>
          <a:prstGeom prst="rect">
            <a:avLst/>
          </a:prstGeom>
          <a:noFill/>
        </p:spPr>
        <p:txBody>
          <a:bodyPr wrap="square">
            <a:spAutoFit/>
          </a:bodyPr>
          <a:lstStyle/>
          <a:p>
            <a:pPr algn="r" rtl="1"/>
            <a:r>
              <a:rPr lang="he-IL" sz="2400" b="1" dirty="0">
                <a:effectLst/>
              </a:rPr>
              <a:t>ציטוט ממבוטחת:</a:t>
            </a:r>
            <a:r>
              <a:rPr lang="he-IL" sz="2400" dirty="0">
                <a:effectLst/>
              </a:rPr>
              <a:t> </a:t>
            </a:r>
            <a:r>
              <a:rPr lang="he-IL" sz="2400" b="1" dirty="0">
                <a:effectLst/>
              </a:rPr>
              <a:t>"</a:t>
            </a:r>
            <a:r>
              <a:rPr lang="he-IL" sz="2400" b="1" i="1" dirty="0">
                <a:effectLst/>
              </a:rPr>
              <a:t>גרמת לי להאמין בעצמי."</a:t>
            </a:r>
          </a:p>
        </p:txBody>
      </p:sp>
      <p:pic>
        <p:nvPicPr>
          <p:cNvPr id="14" name="תמונה 13" descr="זוג מחזיק מקש">
            <a:extLst>
              <a:ext uri="{FF2B5EF4-FFF2-40B4-BE49-F238E27FC236}">
                <a16:creationId xmlns:a16="http://schemas.microsoft.com/office/drawing/2014/main" id="{51FDF00C-14DB-6BD2-99D5-0DC6730BD0A5}"/>
              </a:ext>
            </a:extLst>
          </p:cNvPr>
          <p:cNvPicPr>
            <a:picLocks noChangeAspect="1"/>
          </p:cNvPicPr>
          <p:nvPr/>
        </p:nvPicPr>
        <p:blipFill>
          <a:blip r:embed="rId5">
            <a:alphaModFix amt="5000"/>
            <a:extLst>
              <a:ext uri="{28A0092B-C50C-407E-A947-70E740481C1C}">
                <a14:useLocalDpi xmlns:a14="http://schemas.microsoft.com/office/drawing/2010/main" val="0"/>
              </a:ext>
            </a:extLst>
          </a:blip>
          <a:stretch>
            <a:fillRect/>
          </a:stretch>
        </p:blipFill>
        <p:spPr>
          <a:xfrm>
            <a:off x="81368" y="0"/>
            <a:ext cx="12192000" cy="8124825"/>
          </a:xfrm>
          <a:prstGeom prst="rect">
            <a:avLst/>
          </a:prstGeom>
        </p:spPr>
      </p:pic>
      <p:pic>
        <p:nvPicPr>
          <p:cNvPr id="15" name="Picture 26">
            <a:extLst>
              <a:ext uri="{FF2B5EF4-FFF2-40B4-BE49-F238E27FC236}">
                <a16:creationId xmlns:a16="http://schemas.microsoft.com/office/drawing/2014/main" id="{D1D7204B-3F02-3403-4457-DAD1800ABF1D}"/>
              </a:ext>
            </a:extLst>
          </p:cNvPr>
          <p:cNvPicPr>
            <a:picLocks noChangeAspect="1"/>
          </p:cNvPicPr>
          <p:nvPr/>
        </p:nvPicPr>
        <p:blipFill>
          <a:blip r:embed="rId6"/>
          <a:stretch>
            <a:fillRect/>
          </a:stretch>
        </p:blipFill>
        <p:spPr>
          <a:xfrm>
            <a:off x="10999758" y="6239877"/>
            <a:ext cx="1118350" cy="612431"/>
          </a:xfrm>
          <a:prstGeom prst="rect">
            <a:avLst/>
          </a:prstGeom>
          <a:ln>
            <a:noFill/>
          </a:ln>
        </p:spPr>
      </p:pic>
      <p:grpSp>
        <p:nvGrpSpPr>
          <p:cNvPr id="16" name="Group 1">
            <a:extLst>
              <a:ext uri="{FF2B5EF4-FFF2-40B4-BE49-F238E27FC236}">
                <a16:creationId xmlns:a16="http://schemas.microsoft.com/office/drawing/2014/main" id="{DB2273D7-1C62-536B-E6A2-AA7F1092B723}"/>
              </a:ext>
            </a:extLst>
          </p:cNvPr>
          <p:cNvGrpSpPr/>
          <p:nvPr/>
        </p:nvGrpSpPr>
        <p:grpSpPr>
          <a:xfrm>
            <a:off x="240146" y="6459128"/>
            <a:ext cx="1523237" cy="323730"/>
            <a:chOff x="304171" y="6108306"/>
            <a:chExt cx="2542153" cy="560355"/>
          </a:xfrm>
        </p:grpSpPr>
        <p:pic>
          <p:nvPicPr>
            <p:cNvPr id="17" name="Picture 3">
              <a:extLst>
                <a:ext uri="{FF2B5EF4-FFF2-40B4-BE49-F238E27FC236}">
                  <a16:creationId xmlns:a16="http://schemas.microsoft.com/office/drawing/2014/main" id="{4DE0EB41-4A21-94AF-F0C1-02B6EF642395}"/>
                </a:ext>
              </a:extLst>
            </p:cNvPr>
            <p:cNvPicPr>
              <a:picLocks noChangeAspect="1"/>
            </p:cNvPicPr>
            <p:nvPr/>
          </p:nvPicPr>
          <p:blipFill>
            <a:blip r:embed="rId7"/>
            <a:stretch>
              <a:fillRect/>
            </a:stretch>
          </p:blipFill>
          <p:spPr>
            <a:xfrm>
              <a:off x="304171" y="6490861"/>
              <a:ext cx="1790700" cy="177800"/>
            </a:xfrm>
            <a:prstGeom prst="rect">
              <a:avLst/>
            </a:prstGeom>
          </p:spPr>
        </p:pic>
        <p:pic>
          <p:nvPicPr>
            <p:cNvPr id="18" name="Picture 4">
              <a:extLst>
                <a:ext uri="{FF2B5EF4-FFF2-40B4-BE49-F238E27FC236}">
                  <a16:creationId xmlns:a16="http://schemas.microsoft.com/office/drawing/2014/main" id="{B0F73CD6-EE78-34F5-1196-96A6B99FC37F}"/>
                </a:ext>
              </a:extLst>
            </p:cNvPr>
            <p:cNvPicPr>
              <a:picLocks noChangeAspect="1"/>
            </p:cNvPicPr>
            <p:nvPr/>
          </p:nvPicPr>
          <p:blipFill>
            <a:blip r:embed="rId8"/>
            <a:stretch>
              <a:fillRect/>
            </a:stretch>
          </p:blipFill>
          <p:spPr>
            <a:xfrm>
              <a:off x="2135124" y="6126849"/>
              <a:ext cx="711200" cy="520700"/>
            </a:xfrm>
            <a:prstGeom prst="rect">
              <a:avLst/>
            </a:prstGeom>
          </p:spPr>
        </p:pic>
        <p:pic>
          <p:nvPicPr>
            <p:cNvPr id="24" name="Picture 5">
              <a:extLst>
                <a:ext uri="{FF2B5EF4-FFF2-40B4-BE49-F238E27FC236}">
                  <a16:creationId xmlns:a16="http://schemas.microsoft.com/office/drawing/2014/main" id="{BAA20244-A611-585F-0A4C-0C8D2E0463A2}"/>
                </a:ext>
              </a:extLst>
            </p:cNvPr>
            <p:cNvPicPr>
              <a:picLocks noChangeAspect="1"/>
            </p:cNvPicPr>
            <p:nvPr/>
          </p:nvPicPr>
          <p:blipFill>
            <a:blip r:embed="rId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706519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5D45D8-E856-6148-5AB9-2766C4843476}"/>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53304E43-CDFA-22A7-9D3A-F92382CF5B4D}"/>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he-IL" sz="4000" b="1" dirty="0">
              <a:latin typeface="Assistant" pitchFamily="2" charset="-79"/>
              <a:cs typeface="Assistant" pitchFamily="2" charset="-79"/>
            </a:endParaRPr>
          </a:p>
          <a:p>
            <a:pPr algn="ctr"/>
            <a:r>
              <a:rPr lang="he-IL" sz="4000" b="1" dirty="0">
                <a:latin typeface="Assistant" pitchFamily="2" charset="-79"/>
                <a:cs typeface="Assistant" pitchFamily="2" charset="-79"/>
              </a:rPr>
              <a:t>סיפורי הצלחה מהשטח</a:t>
            </a:r>
          </a:p>
          <a:p>
            <a:pPr algn="ctr"/>
            <a:endParaRPr lang="he-IL" sz="4000" b="1" dirty="0">
              <a:latin typeface="Assistant" pitchFamily="2" charset="-79"/>
              <a:cs typeface="Assistant" pitchFamily="2" charset="-79"/>
            </a:endParaRPr>
          </a:p>
        </p:txBody>
      </p:sp>
      <p:pic>
        <p:nvPicPr>
          <p:cNvPr id="1026" name="Picture 2" descr="top_logo jerusalem - Y.D.YardenAlon">
            <a:extLst>
              <a:ext uri="{FF2B5EF4-FFF2-40B4-BE49-F238E27FC236}">
                <a16:creationId xmlns:a16="http://schemas.microsoft.com/office/drawing/2014/main" id="{3699134D-721B-916B-8B79-71E8D2067E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208" y="74854"/>
            <a:ext cx="1319432" cy="80391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3">
            <a:extLst>
              <a:ext uri="{FF2B5EF4-FFF2-40B4-BE49-F238E27FC236}">
                <a16:creationId xmlns:a16="http://schemas.microsoft.com/office/drawing/2014/main" id="{D5436CC8-3430-BD66-77B6-4DC9ECFB9906}"/>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4"/>
            <a:stretch>
              <a:fillRect/>
            </a:stretch>
          </a:blipFill>
        </p:spPr>
        <p:txBody>
          <a:bodyPr/>
          <a:lstStyle/>
          <a:p>
            <a:endParaRPr lang="en-IL"/>
          </a:p>
        </p:txBody>
      </p:sp>
      <p:sp>
        <p:nvSpPr>
          <p:cNvPr id="3" name="כותרת 1">
            <a:extLst>
              <a:ext uri="{FF2B5EF4-FFF2-40B4-BE49-F238E27FC236}">
                <a16:creationId xmlns:a16="http://schemas.microsoft.com/office/drawing/2014/main" id="{D53F0D61-788D-1464-5A6C-9FBB1CD466AF}"/>
              </a:ext>
            </a:extLst>
          </p:cNvPr>
          <p:cNvSpPr txBox="1">
            <a:spLocks/>
          </p:cNvSpPr>
          <p:nvPr/>
        </p:nvSpPr>
        <p:spPr>
          <a:xfrm>
            <a:off x="0" y="1000254"/>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sp>
        <p:nvSpPr>
          <p:cNvPr id="7" name="תיבת טקסט 6">
            <a:extLst>
              <a:ext uri="{FF2B5EF4-FFF2-40B4-BE49-F238E27FC236}">
                <a16:creationId xmlns:a16="http://schemas.microsoft.com/office/drawing/2014/main" id="{0CAF2CF0-D239-E1D8-BC6E-014B7431D58F}"/>
              </a:ext>
            </a:extLst>
          </p:cNvPr>
          <p:cNvSpPr txBox="1"/>
          <p:nvPr/>
        </p:nvSpPr>
        <p:spPr>
          <a:xfrm>
            <a:off x="240146" y="4296993"/>
            <a:ext cx="8054308" cy="1323439"/>
          </a:xfrm>
          <a:prstGeom prst="rect">
            <a:avLst/>
          </a:prstGeom>
          <a:effectLst>
            <a:softEdge rad="12700"/>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he-IL" sz="2000" b="1" dirty="0">
                <a:effectLst/>
              </a:rPr>
              <a:t>רוזה, 73 - "עכשיו אני דואגת לעצמי"</a:t>
            </a:r>
            <a:endParaRPr lang="he-IL" sz="2000" dirty="0">
              <a:effectLst/>
            </a:endParaRPr>
          </a:p>
          <a:p>
            <a:pPr rtl="1"/>
            <a:r>
              <a:rPr lang="he-IL" sz="2000" b="1" dirty="0">
                <a:effectLst/>
              </a:rPr>
              <a:t>לפני:</a:t>
            </a:r>
            <a:r>
              <a:rPr lang="he-IL" sz="2000" dirty="0">
                <a:effectLst/>
              </a:rPr>
              <a:t> בדידות וחוסר תקשורת עם בעלה, חרדה מהמלחמה</a:t>
            </a:r>
          </a:p>
          <a:p>
            <a:pPr rtl="1"/>
            <a:r>
              <a:rPr lang="he-IL" sz="2000" b="1" dirty="0">
                <a:effectLst/>
              </a:rPr>
              <a:t>שינוי:</a:t>
            </a:r>
            <a:r>
              <a:rPr lang="he-IL" sz="2000" dirty="0">
                <a:effectLst/>
              </a:rPr>
              <a:t> פיתחה יוזמה אישית, חזרה לעסוק בתפירה, יצרה קשרים חברתיים חדשים</a:t>
            </a:r>
          </a:p>
          <a:p>
            <a:pPr rtl="1"/>
            <a:r>
              <a:rPr lang="he-IL" sz="2000" b="1" dirty="0">
                <a:effectLst/>
              </a:rPr>
              <a:t>תוצאה:</a:t>
            </a:r>
            <a:r>
              <a:rPr lang="he-IL" sz="2000" dirty="0">
                <a:effectLst/>
              </a:rPr>
              <a:t> "עכשיו אני דואגת לעצמי" - לקיחת אחריות על שגרת היום</a:t>
            </a:r>
          </a:p>
        </p:txBody>
      </p:sp>
      <p:sp>
        <p:nvSpPr>
          <p:cNvPr id="9" name="תיבת טקסט 8">
            <a:extLst>
              <a:ext uri="{FF2B5EF4-FFF2-40B4-BE49-F238E27FC236}">
                <a16:creationId xmlns:a16="http://schemas.microsoft.com/office/drawing/2014/main" id="{EF7164B3-45E7-CE67-4C7B-A10C6453B830}"/>
              </a:ext>
            </a:extLst>
          </p:cNvPr>
          <p:cNvSpPr txBox="1"/>
          <p:nvPr/>
        </p:nvSpPr>
        <p:spPr>
          <a:xfrm>
            <a:off x="4202870" y="2512090"/>
            <a:ext cx="7359329" cy="1323439"/>
          </a:xfrm>
          <a:prstGeom prst="rect">
            <a:avLst/>
          </a:prstGeom>
          <a:gradFill>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effectLst>
            <a:softEdge rad="12700"/>
          </a:effectLst>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he-IL" sz="2000" b="1" dirty="0">
                <a:effectLst/>
                <a:latin typeface="Assistant" pitchFamily="2" charset="-79"/>
                <a:cs typeface="Assistant" pitchFamily="2" charset="-79"/>
              </a:rPr>
              <a:t>אירה, 74 - שינוי הרגלי פעילות גופנית</a:t>
            </a:r>
            <a:endParaRPr lang="he-IL" sz="2000" dirty="0">
              <a:effectLst/>
              <a:latin typeface="Assistant" pitchFamily="2" charset="-79"/>
              <a:cs typeface="Assistant" pitchFamily="2" charset="-79"/>
            </a:endParaRPr>
          </a:p>
          <a:p>
            <a:pPr rtl="1"/>
            <a:r>
              <a:rPr lang="he-IL" sz="2000" b="1" dirty="0">
                <a:effectLst/>
                <a:latin typeface="Assistant" pitchFamily="2" charset="-79"/>
                <a:cs typeface="Assistant" pitchFamily="2" charset="-79"/>
              </a:rPr>
              <a:t>לפני:</a:t>
            </a:r>
            <a:r>
              <a:rPr lang="he-IL" sz="2000" dirty="0">
                <a:effectLst/>
                <a:latin typeface="Assistant" pitchFamily="2" charset="-79"/>
                <a:cs typeface="Assistant" pitchFamily="2" charset="-79"/>
              </a:rPr>
              <a:t> הגדירה עצמה "זאב בודד", חששה לצאת מהבית</a:t>
            </a:r>
          </a:p>
          <a:p>
            <a:pPr rtl="1"/>
            <a:r>
              <a:rPr lang="he-IL" sz="2000" b="1" dirty="0">
                <a:effectLst/>
                <a:latin typeface="Assistant" pitchFamily="2" charset="-79"/>
                <a:cs typeface="Assistant" pitchFamily="2" charset="-79"/>
              </a:rPr>
              <a:t>שינוי:</a:t>
            </a:r>
            <a:r>
              <a:rPr lang="he-IL" sz="2000" dirty="0">
                <a:effectLst/>
                <a:latin typeface="Assistant" pitchFamily="2" charset="-79"/>
                <a:cs typeface="Assistant" pitchFamily="2" charset="-79"/>
              </a:rPr>
              <a:t> החלה ללכת לבריכה ולחדר כושר, שינוי תפיסה מ"בדידות" ל"עצמאות"</a:t>
            </a:r>
          </a:p>
          <a:p>
            <a:pPr rtl="1"/>
            <a:r>
              <a:rPr lang="he-IL" sz="2000" b="1" dirty="0">
                <a:effectLst/>
                <a:latin typeface="Assistant" pitchFamily="2" charset="-79"/>
                <a:cs typeface="Assistant" pitchFamily="2" charset="-79"/>
              </a:rPr>
              <a:t>תוצאה:</a:t>
            </a:r>
            <a:r>
              <a:rPr lang="he-IL" sz="2000" dirty="0">
                <a:effectLst/>
                <a:latin typeface="Assistant" pitchFamily="2" charset="-79"/>
                <a:cs typeface="Assistant" pitchFamily="2" charset="-79"/>
              </a:rPr>
              <a:t> הולכת לבריכה אחת לשבוע עם חברה, מגיעה עצמאית באוטובוס</a:t>
            </a:r>
          </a:p>
        </p:txBody>
      </p:sp>
      <p:pic>
        <p:nvPicPr>
          <p:cNvPr id="2" name="Picture 26">
            <a:extLst>
              <a:ext uri="{FF2B5EF4-FFF2-40B4-BE49-F238E27FC236}">
                <a16:creationId xmlns:a16="http://schemas.microsoft.com/office/drawing/2014/main" id="{AF9D4EFC-B039-47D8-5E9B-7E48C583266E}"/>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6" name="Group 1">
            <a:extLst>
              <a:ext uri="{FF2B5EF4-FFF2-40B4-BE49-F238E27FC236}">
                <a16:creationId xmlns:a16="http://schemas.microsoft.com/office/drawing/2014/main" id="{DDBC31D2-206E-27C2-CA52-AFBF549E8FE6}"/>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A1C1665D-E641-C3C1-2916-57DC6590A87F}"/>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10" name="Picture 4">
              <a:extLst>
                <a:ext uri="{FF2B5EF4-FFF2-40B4-BE49-F238E27FC236}">
                  <a16:creationId xmlns:a16="http://schemas.microsoft.com/office/drawing/2014/main" id="{2A8C9F85-0BE4-74E4-551D-F6BDCB82B55F}"/>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1" name="Picture 5">
              <a:extLst>
                <a:ext uri="{FF2B5EF4-FFF2-40B4-BE49-F238E27FC236}">
                  <a16:creationId xmlns:a16="http://schemas.microsoft.com/office/drawing/2014/main" id="{B5EFFF64-D3D4-D8EA-0BA3-FF7BE707883E}"/>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118838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D3BD1-D434-4603-B917-401DB6859F44}"/>
            </a:ext>
          </a:extLst>
        </p:cNvPr>
        <p:cNvGrpSpPr/>
        <p:nvPr/>
      </p:nvGrpSpPr>
      <p:grpSpPr>
        <a:xfrm>
          <a:off x="0" y="0"/>
          <a:ext cx="0" cy="0"/>
          <a:chOff x="0" y="0"/>
          <a:chExt cx="0" cy="0"/>
        </a:xfrm>
      </p:grpSpPr>
      <p:sp>
        <p:nvSpPr>
          <p:cNvPr id="5" name="מלבן 4">
            <a:extLst>
              <a:ext uri="{FF2B5EF4-FFF2-40B4-BE49-F238E27FC236}">
                <a16:creationId xmlns:a16="http://schemas.microsoft.com/office/drawing/2014/main" id="{60E69331-9050-DD57-3B52-9736E7C5FF16}"/>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מדדים ותוצאות</a:t>
            </a:r>
            <a:endParaRPr lang="en-IL" sz="3500" b="1" dirty="0">
              <a:latin typeface="Assistant" pitchFamily="2" charset="-79"/>
              <a:cs typeface="Assistant" pitchFamily="2" charset="-79"/>
            </a:endParaRPr>
          </a:p>
        </p:txBody>
      </p:sp>
      <p:sp>
        <p:nvSpPr>
          <p:cNvPr id="13" name="Freeform 3">
            <a:extLst>
              <a:ext uri="{FF2B5EF4-FFF2-40B4-BE49-F238E27FC236}">
                <a16:creationId xmlns:a16="http://schemas.microsoft.com/office/drawing/2014/main" id="{E514AAB2-CABD-F64A-2158-83207570B470}"/>
              </a:ext>
            </a:extLst>
          </p:cNvPr>
          <p:cNvSpPr/>
          <p:nvPr/>
        </p:nvSpPr>
        <p:spPr>
          <a:xfrm>
            <a:off x="68832" y="79728"/>
            <a:ext cx="2877457" cy="799042"/>
          </a:xfrm>
          <a:custGeom>
            <a:avLst/>
            <a:gdLst/>
            <a:ahLst/>
            <a:cxnLst/>
            <a:rect l="l" t="t" r="r" b="b"/>
            <a:pathLst>
              <a:path w="10276155" h="2323653">
                <a:moveTo>
                  <a:pt x="0" y="0"/>
                </a:moveTo>
                <a:lnTo>
                  <a:pt x="10276155" y="0"/>
                </a:lnTo>
                <a:lnTo>
                  <a:pt x="10276155" y="2323653"/>
                </a:lnTo>
                <a:lnTo>
                  <a:pt x="0" y="2323653"/>
                </a:lnTo>
                <a:lnTo>
                  <a:pt x="0" y="0"/>
                </a:lnTo>
                <a:close/>
              </a:path>
            </a:pathLst>
          </a:custGeom>
          <a:blipFill>
            <a:blip r:embed="rId2"/>
            <a:stretch>
              <a:fillRect/>
            </a:stretch>
          </a:blipFill>
        </p:spPr>
        <p:txBody>
          <a:bodyPr/>
          <a:lstStyle/>
          <a:p>
            <a:endParaRPr lang="en-IL"/>
          </a:p>
        </p:txBody>
      </p:sp>
      <p:sp>
        <p:nvSpPr>
          <p:cNvPr id="3" name="כותרת 1">
            <a:extLst>
              <a:ext uri="{FF2B5EF4-FFF2-40B4-BE49-F238E27FC236}">
                <a16:creationId xmlns:a16="http://schemas.microsoft.com/office/drawing/2014/main" id="{3BEE7CCB-60EF-B4C4-B65D-55B4CD3EFAC6}"/>
              </a:ext>
            </a:extLst>
          </p:cNvPr>
          <p:cNvSpPr txBox="1">
            <a:spLocks/>
          </p:cNvSpPr>
          <p:nvPr/>
        </p:nvSpPr>
        <p:spPr>
          <a:xfrm>
            <a:off x="-12536" y="810510"/>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הפחתת תלות בגמלאות באמצעות העצמה אישית</a:t>
            </a:r>
          </a:p>
        </p:txBody>
      </p:sp>
      <p:pic>
        <p:nvPicPr>
          <p:cNvPr id="4" name="תמונה 3">
            <a:extLst>
              <a:ext uri="{FF2B5EF4-FFF2-40B4-BE49-F238E27FC236}">
                <a16:creationId xmlns:a16="http://schemas.microsoft.com/office/drawing/2014/main" id="{2EA954B3-784D-5D71-CE95-238588FDAF4E}"/>
              </a:ext>
            </a:extLst>
          </p:cNvPr>
          <p:cNvPicPr>
            <a:picLocks noChangeAspect="1"/>
          </p:cNvPicPr>
          <p:nvPr/>
        </p:nvPicPr>
        <p:blipFill>
          <a:blip r:embed="rId3"/>
          <a:stretch>
            <a:fillRect/>
          </a:stretch>
        </p:blipFill>
        <p:spPr>
          <a:xfrm>
            <a:off x="1488894" y="1345949"/>
            <a:ext cx="9214211" cy="5020916"/>
          </a:xfrm>
          <a:prstGeom prst="rect">
            <a:avLst/>
          </a:prstGeom>
        </p:spPr>
      </p:pic>
      <p:pic>
        <p:nvPicPr>
          <p:cNvPr id="1026" name="Picture 2" descr="top_logo jerusalem - Y.D.YardenAlon">
            <a:extLst>
              <a:ext uri="{FF2B5EF4-FFF2-40B4-BE49-F238E27FC236}">
                <a16:creationId xmlns:a16="http://schemas.microsoft.com/office/drawing/2014/main" id="{7680F74E-EC0D-107E-763C-89638A261E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8634" y="43161"/>
            <a:ext cx="1319432" cy="80391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6">
            <a:extLst>
              <a:ext uri="{FF2B5EF4-FFF2-40B4-BE49-F238E27FC236}">
                <a16:creationId xmlns:a16="http://schemas.microsoft.com/office/drawing/2014/main" id="{284EBE00-7066-FCA5-6E00-F69BEAB3DF4D}"/>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7" name="Group 1">
            <a:extLst>
              <a:ext uri="{FF2B5EF4-FFF2-40B4-BE49-F238E27FC236}">
                <a16:creationId xmlns:a16="http://schemas.microsoft.com/office/drawing/2014/main" id="{B3E8B13D-992C-F597-0B94-148391ADDDC0}"/>
              </a:ext>
            </a:extLst>
          </p:cNvPr>
          <p:cNvGrpSpPr/>
          <p:nvPr/>
        </p:nvGrpSpPr>
        <p:grpSpPr>
          <a:xfrm>
            <a:off x="240146" y="6459128"/>
            <a:ext cx="1523237" cy="323730"/>
            <a:chOff x="304171" y="6108306"/>
            <a:chExt cx="2542153" cy="560355"/>
          </a:xfrm>
        </p:grpSpPr>
        <p:pic>
          <p:nvPicPr>
            <p:cNvPr id="8" name="Picture 3">
              <a:extLst>
                <a:ext uri="{FF2B5EF4-FFF2-40B4-BE49-F238E27FC236}">
                  <a16:creationId xmlns:a16="http://schemas.microsoft.com/office/drawing/2014/main" id="{10123526-88E4-EDDD-2E55-7C3FC2AAB226}"/>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9" name="Picture 4">
              <a:extLst>
                <a:ext uri="{FF2B5EF4-FFF2-40B4-BE49-F238E27FC236}">
                  <a16:creationId xmlns:a16="http://schemas.microsoft.com/office/drawing/2014/main" id="{D42E49FE-F219-9A82-933E-67F6B7E98357}"/>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10" name="Picture 5">
              <a:extLst>
                <a:ext uri="{FF2B5EF4-FFF2-40B4-BE49-F238E27FC236}">
                  <a16:creationId xmlns:a16="http://schemas.microsoft.com/office/drawing/2014/main" id="{B9CF9666-2A09-9A7D-9713-3DAF044D35AF}"/>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19552451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41A6-D8D3-9DEC-545B-FE69AD801DD9}"/>
            </a:ext>
          </a:extLst>
        </p:cNvPr>
        <p:cNvGrpSpPr/>
        <p:nvPr/>
      </p:nvGrpSpPr>
      <p:grpSpPr>
        <a:xfrm>
          <a:off x="0" y="0"/>
          <a:ext cx="0" cy="0"/>
          <a:chOff x="0" y="0"/>
          <a:chExt cx="0" cy="0"/>
        </a:xfrm>
      </p:grpSpPr>
      <p:sp>
        <p:nvSpPr>
          <p:cNvPr id="13" name="מלבן 12">
            <a:extLst>
              <a:ext uri="{FF2B5EF4-FFF2-40B4-BE49-F238E27FC236}">
                <a16:creationId xmlns:a16="http://schemas.microsoft.com/office/drawing/2014/main" id="{5DF0AEF3-657B-5D1E-D4DC-879528F6778B}"/>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L" sz="3500" b="1" dirty="0">
              <a:latin typeface="Assistant" pitchFamily="2" charset="-79"/>
              <a:cs typeface="Assistant" pitchFamily="2" charset="-79"/>
            </a:endParaRPr>
          </a:p>
        </p:txBody>
      </p:sp>
      <p:pic>
        <p:nvPicPr>
          <p:cNvPr id="4" name="Picture 56">
            <a:extLst>
              <a:ext uri="{FF2B5EF4-FFF2-40B4-BE49-F238E27FC236}">
                <a16:creationId xmlns:a16="http://schemas.microsoft.com/office/drawing/2014/main" id="{352B1EB0-1E83-28F8-067C-C3559F7CCD05}"/>
              </a:ext>
            </a:extLst>
          </p:cNvPr>
          <p:cNvPicPr>
            <a:picLocks noChangeAspect="1"/>
          </p:cNvPicPr>
          <p:nvPr/>
        </p:nvPicPr>
        <p:blipFill>
          <a:blip r:embed="rId2">
            <a:alphaModFix/>
            <a:duotone>
              <a:prstClr val="black"/>
              <a:srgbClr val="002060">
                <a:tint val="45000"/>
                <a:satMod val="400000"/>
              </a:srgbClr>
            </a:duotone>
          </a:blip>
          <a:stretch>
            <a:fillRect/>
          </a:stretch>
        </p:blipFill>
        <p:spPr>
          <a:xfrm>
            <a:off x="3960647" y="1370499"/>
            <a:ext cx="4320661" cy="54384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תיבת טקסט 5">
            <a:extLst>
              <a:ext uri="{FF2B5EF4-FFF2-40B4-BE49-F238E27FC236}">
                <a16:creationId xmlns:a16="http://schemas.microsoft.com/office/drawing/2014/main" id="{F6C4D207-1B88-BDAC-64C9-6CE66B264550}"/>
              </a:ext>
            </a:extLst>
          </p:cNvPr>
          <p:cNvSpPr txBox="1"/>
          <p:nvPr/>
        </p:nvSpPr>
        <p:spPr>
          <a:xfrm rot="27087">
            <a:off x="4454380" y="1366060"/>
            <a:ext cx="3333192" cy="523220"/>
          </a:xfrm>
          <a:prstGeom prst="rect">
            <a:avLst/>
          </a:prstGeom>
          <a:noFill/>
        </p:spPr>
        <p:txBody>
          <a:bodyPr wrap="square">
            <a:spAutoFit/>
          </a:bodyPr>
          <a:lstStyle/>
          <a:p>
            <a:pPr algn="ctr"/>
            <a:r>
              <a:rPr lang="he-IL" sz="2800" b="1" dirty="0">
                <a:solidFill>
                  <a:srgbClr val="0067AF"/>
                </a:solidFill>
                <a:effectLst>
                  <a:outerShdw blurRad="38100" dist="38100" dir="2700000" algn="tl">
                    <a:srgbClr val="000000">
                      <a:alpha val="43137"/>
                    </a:srgbClr>
                  </a:outerShdw>
                </a:effectLst>
                <a:latin typeface="Assistant" pitchFamily="2" charset="-79"/>
                <a:cs typeface="Assistant" pitchFamily="2" charset="-79"/>
              </a:rPr>
              <a:t>עוברים לביצוע!</a:t>
            </a:r>
            <a:endParaRPr lang="he-IL" sz="2000" b="1" dirty="0">
              <a:solidFill>
                <a:srgbClr val="0067AF"/>
              </a:solidFill>
              <a:effectLst>
                <a:outerShdw blurRad="38100" dist="38100" dir="2700000" algn="tl">
                  <a:srgbClr val="000000">
                    <a:alpha val="43137"/>
                  </a:srgbClr>
                </a:outerShdw>
              </a:effectLst>
            </a:endParaRPr>
          </a:p>
        </p:txBody>
      </p:sp>
      <p:grpSp>
        <p:nvGrpSpPr>
          <p:cNvPr id="14" name="קבוצה 13">
            <a:extLst>
              <a:ext uri="{FF2B5EF4-FFF2-40B4-BE49-F238E27FC236}">
                <a16:creationId xmlns:a16="http://schemas.microsoft.com/office/drawing/2014/main" id="{758A6AA7-810D-637C-C018-EB341DA242AB}"/>
              </a:ext>
            </a:extLst>
          </p:cNvPr>
          <p:cNvGrpSpPr/>
          <p:nvPr/>
        </p:nvGrpSpPr>
        <p:grpSpPr>
          <a:xfrm>
            <a:off x="612922" y="2833936"/>
            <a:ext cx="10521086" cy="4255354"/>
            <a:chOff x="456682" y="2846364"/>
            <a:chExt cx="10794883" cy="4255354"/>
          </a:xfrm>
        </p:grpSpPr>
        <p:sp>
          <p:nvSpPr>
            <p:cNvPr id="20" name="Rectangle 25">
              <a:extLst>
                <a:ext uri="{FF2B5EF4-FFF2-40B4-BE49-F238E27FC236}">
                  <a16:creationId xmlns:a16="http://schemas.microsoft.com/office/drawing/2014/main" id="{23957255-C734-B1DC-B8CE-ED1EB68F2188}"/>
                </a:ext>
              </a:extLst>
            </p:cNvPr>
            <p:cNvSpPr>
              <a:spLocks/>
            </p:cNvSpPr>
            <p:nvPr/>
          </p:nvSpPr>
          <p:spPr>
            <a:xfrm>
              <a:off x="6538821" y="2860056"/>
              <a:ext cx="4712744" cy="3520685"/>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L">
                <a:latin typeface="Arial" panose="020B0604020202020204" pitchFamily="34" charset="0"/>
                <a:cs typeface="Arial" panose="020B0604020202020204" pitchFamily="34" charset="0"/>
              </a:endParaRPr>
            </a:p>
          </p:txBody>
        </p:sp>
        <p:sp>
          <p:nvSpPr>
            <p:cNvPr id="23" name="TextBox 14">
              <a:extLst>
                <a:ext uri="{FF2B5EF4-FFF2-40B4-BE49-F238E27FC236}">
                  <a16:creationId xmlns:a16="http://schemas.microsoft.com/office/drawing/2014/main" id="{E33BAC8C-DACE-CB59-909F-7252E78B016F}"/>
                </a:ext>
              </a:extLst>
            </p:cNvPr>
            <p:cNvSpPr txBox="1">
              <a:spLocks/>
            </p:cNvSpPr>
            <p:nvPr/>
          </p:nvSpPr>
          <p:spPr>
            <a:xfrm>
              <a:off x="6299886" y="2960969"/>
              <a:ext cx="4443274" cy="4140749"/>
            </a:xfrm>
            <a:prstGeom prst="rect">
              <a:avLst/>
            </a:prstGeom>
            <a:noFill/>
          </p:spPr>
          <p:txBody>
            <a:bodyPr wrap="square" anchor="b">
              <a:spAutoFit/>
            </a:bodyPr>
            <a:lstStyle/>
            <a:p>
              <a:pPr algn="r" rtl="1">
                <a:spcAft>
                  <a:spcPts val="800"/>
                </a:spcAft>
              </a:pPr>
              <a:r>
                <a:rPr lang="he-IL" kern="100" dirty="0">
                  <a:solidFill>
                    <a:schemeClr val="bg1"/>
                  </a:solidFill>
                  <a:latin typeface="Assistant" pitchFamily="2" charset="-79"/>
                  <a:ea typeface="Aptos" panose="020B0004020202020204" pitchFamily="34" charset="0"/>
                  <a:cs typeface="Assistant" pitchFamily="2" charset="-79"/>
                </a:rPr>
                <a:t>המלצות ועדה בין משרדית </a:t>
              </a:r>
              <a:r>
                <a:rPr lang="he-IL" b="1" kern="100" dirty="0">
                  <a:solidFill>
                    <a:schemeClr val="bg1"/>
                  </a:solidFill>
                  <a:latin typeface="Assistant" pitchFamily="2" charset="-79"/>
                  <a:ea typeface="Aptos" panose="020B0004020202020204" pitchFamily="34" charset="0"/>
                  <a:cs typeface="Assistant" pitchFamily="2" charset="-79"/>
                </a:rPr>
                <a:t>וחוק ההסדרים</a:t>
              </a:r>
            </a:p>
            <a:p>
              <a:pPr algn="r" rtl="1">
                <a:lnSpc>
                  <a:spcPct val="115000"/>
                </a:lnSpc>
                <a:spcAft>
                  <a:spcPts val="800"/>
                </a:spcAft>
              </a:pPr>
              <a:r>
                <a:rPr lang="he-IL" b="1" kern="100" dirty="0">
                  <a:solidFill>
                    <a:schemeClr val="bg1"/>
                  </a:solidFill>
                  <a:latin typeface="Assistant" pitchFamily="2" charset="-79"/>
                  <a:cs typeface="Assistant" pitchFamily="2" charset="-79"/>
                </a:rPr>
                <a:t>מחקר שטח </a:t>
              </a:r>
              <a:r>
                <a:rPr lang="he-IL" kern="100" dirty="0">
                  <a:solidFill>
                    <a:schemeClr val="bg1"/>
                  </a:solidFill>
                  <a:latin typeface="Assistant" pitchFamily="2" charset="-79"/>
                  <a:cs typeface="Assistant" pitchFamily="2" charset="-79"/>
                </a:rPr>
                <a:t>עם נותני ומקבלי השירותים</a:t>
              </a:r>
            </a:p>
            <a:p>
              <a:pPr>
                <a:lnSpc>
                  <a:spcPct val="115000"/>
                </a:lnSpc>
                <a:spcAft>
                  <a:spcPts val="800"/>
                </a:spcAft>
              </a:pPr>
              <a:r>
                <a:rPr lang="he-IL" kern="100" dirty="0">
                  <a:solidFill>
                    <a:schemeClr val="bg1"/>
                  </a:solidFill>
                  <a:latin typeface="Assistant" pitchFamily="2" charset="-79"/>
                  <a:ea typeface="Aptos" panose="020B0004020202020204" pitchFamily="34" charset="0"/>
                  <a:cs typeface="Assistant" pitchFamily="2" charset="-79"/>
                </a:rPr>
                <a:t>גובש ותוקף </a:t>
              </a:r>
              <a:r>
                <a:rPr lang="he-IL" b="1" kern="100" dirty="0">
                  <a:solidFill>
                    <a:schemeClr val="bg1"/>
                  </a:solidFill>
                  <a:latin typeface="Assistant" pitchFamily="2" charset="-79"/>
                  <a:ea typeface="Aptos" panose="020B0004020202020204" pitchFamily="34" charset="0"/>
                  <a:cs typeface="Assistant" pitchFamily="2" charset="-79"/>
                </a:rPr>
                <a:t>מודל הפעלה משותף </a:t>
              </a:r>
            </a:p>
            <a:p>
              <a:pPr algn="r" rtl="1">
                <a:lnSpc>
                  <a:spcPct val="115000"/>
                </a:lnSpc>
                <a:spcAft>
                  <a:spcPts val="800"/>
                </a:spcAft>
              </a:pPr>
              <a:r>
                <a:rPr lang="he-IL" b="1" kern="100" dirty="0">
                  <a:solidFill>
                    <a:schemeClr val="bg1"/>
                  </a:solidFill>
                  <a:effectLst/>
                  <a:latin typeface="Assistant" pitchFamily="2" charset="-79"/>
                  <a:ea typeface="Aptos" panose="020B0004020202020204" pitchFamily="34" charset="0"/>
                  <a:cs typeface="Assistant" pitchFamily="2" charset="-79"/>
                </a:rPr>
                <a:t>מודל עדכניות המידע </a:t>
              </a:r>
              <a:r>
                <a:rPr lang="he-IL" kern="100" dirty="0">
                  <a:solidFill>
                    <a:schemeClr val="bg1"/>
                  </a:solidFill>
                  <a:effectLst/>
                  <a:latin typeface="Assistant" pitchFamily="2" charset="-79"/>
                  <a:ea typeface="Aptos" panose="020B0004020202020204" pitchFamily="34" charset="0"/>
                  <a:cs typeface="Assistant" pitchFamily="2" charset="-79"/>
                </a:rPr>
                <a:t>ובחינת פלטפורמות</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 </a:t>
              </a:r>
              <a:r>
                <a:rPr lang="he-IL" b="1" kern="100" dirty="0">
                  <a:solidFill>
                    <a:schemeClr val="bg1"/>
                  </a:solidFill>
                  <a:effectLst/>
                  <a:latin typeface="Assistant" pitchFamily="2" charset="-79"/>
                  <a:ea typeface="Aptos" panose="020B0004020202020204" pitchFamily="34" charset="0"/>
                  <a:cs typeface="Assistant" pitchFamily="2" charset="-79"/>
                </a:rPr>
                <a:t>הפעלת פרה פיילוט </a:t>
              </a:r>
              <a:r>
                <a:rPr lang="he-IL" kern="100" dirty="0">
                  <a:solidFill>
                    <a:schemeClr val="bg1"/>
                  </a:solidFill>
                  <a:effectLst/>
                  <a:latin typeface="Assistant" pitchFamily="2" charset="-79"/>
                  <a:ea typeface="Aptos" panose="020B0004020202020204" pitchFamily="34" charset="0"/>
                  <a:cs typeface="Assistant" pitchFamily="2" charset="-79"/>
                </a:rPr>
                <a:t>ולמידה מהשטח</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 </a:t>
              </a:r>
              <a:r>
                <a:rPr lang="he-IL" b="1" kern="100" dirty="0">
                  <a:solidFill>
                    <a:schemeClr val="bg1"/>
                  </a:solidFill>
                  <a:effectLst/>
                  <a:latin typeface="Assistant" pitchFamily="2" charset="-79"/>
                  <a:ea typeface="Aptos" panose="020B0004020202020204" pitchFamily="34" charset="0"/>
                  <a:cs typeface="Assistant" pitchFamily="2" charset="-79"/>
                </a:rPr>
                <a:t>גיבוש מודל תמריצים</a:t>
              </a:r>
              <a:r>
                <a:rPr lang="he-IL" kern="100" dirty="0">
                  <a:solidFill>
                    <a:schemeClr val="bg1"/>
                  </a:solidFill>
                  <a:effectLst/>
                  <a:latin typeface="Assistant" pitchFamily="2" charset="-79"/>
                  <a:ea typeface="Aptos" panose="020B0004020202020204" pitchFamily="34" charset="0"/>
                  <a:cs typeface="Assistant" pitchFamily="2" charset="-79"/>
                </a:rPr>
                <a:t> לאזרח הוותיק ולספקים</a:t>
              </a:r>
              <a:endParaRPr lang="he-IL" b="1" kern="100" dirty="0">
                <a:solidFill>
                  <a:schemeClr val="bg1"/>
                </a:solidFill>
                <a:effectLst/>
                <a:latin typeface="Assistant" pitchFamily="2" charset="-79"/>
                <a:ea typeface="Aptos" panose="020B0004020202020204" pitchFamily="34" charset="0"/>
                <a:cs typeface="Assistant" pitchFamily="2" charset="-79"/>
              </a:endParaRPr>
            </a:p>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גיבוש מדדי תוצאה </a:t>
              </a:r>
              <a:r>
                <a:rPr lang="he-IL" kern="100" dirty="0">
                  <a:solidFill>
                    <a:schemeClr val="bg1"/>
                  </a:solidFill>
                  <a:latin typeface="Assistant" pitchFamily="2" charset="-79"/>
                  <a:ea typeface="Aptos" panose="020B0004020202020204" pitchFamily="34" charset="0"/>
                  <a:cs typeface="Assistant" pitchFamily="2" charset="-79"/>
                </a:rPr>
                <a:t>למדידת השינוי הרצוי</a:t>
              </a:r>
            </a:p>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חילוץ תובנות </a:t>
              </a:r>
              <a:r>
                <a:rPr lang="he-IL" kern="100" dirty="0">
                  <a:solidFill>
                    <a:schemeClr val="bg1"/>
                  </a:solidFill>
                  <a:latin typeface="Assistant" pitchFamily="2" charset="-79"/>
                  <a:ea typeface="Aptos" panose="020B0004020202020204" pitchFamily="34" charset="0"/>
                  <a:cs typeface="Assistant" pitchFamily="2" charset="-79"/>
                </a:rPr>
                <a:t>מפרה </a:t>
              </a:r>
              <a:r>
                <a:rPr lang="he-IL" kern="100" dirty="0" err="1">
                  <a:solidFill>
                    <a:schemeClr val="bg1"/>
                  </a:solidFill>
                  <a:latin typeface="Assistant" pitchFamily="2" charset="-79"/>
                  <a:ea typeface="Aptos" panose="020B0004020202020204" pitchFamily="34" charset="0"/>
                  <a:cs typeface="Assistant" pitchFamily="2" charset="-79"/>
                </a:rPr>
                <a:t>הפיילוטים</a:t>
              </a:r>
              <a:r>
                <a:rPr lang="he-IL" kern="100" dirty="0">
                  <a:solidFill>
                    <a:schemeClr val="bg1"/>
                  </a:solidFill>
                  <a:latin typeface="Assistant" pitchFamily="2" charset="-79"/>
                  <a:ea typeface="Aptos" panose="020B0004020202020204" pitchFamily="34" charset="0"/>
                  <a:cs typeface="Assistant" pitchFamily="2" charset="-79"/>
                </a:rPr>
                <a:t> ודיוק המודל </a:t>
              </a:r>
            </a:p>
            <a:p>
              <a:pPr>
                <a:lnSpc>
                  <a:spcPct val="115000"/>
                </a:lnSpc>
                <a:spcAft>
                  <a:spcPts val="800"/>
                </a:spcAft>
              </a:pPr>
              <a:endParaRPr lang="he-IL" kern="100" dirty="0">
                <a:solidFill>
                  <a:schemeClr val="bg1"/>
                </a:solidFill>
                <a:latin typeface="Assistant" pitchFamily="2" charset="-79"/>
                <a:ea typeface="Aptos" panose="020B0004020202020204" pitchFamily="34" charset="0"/>
                <a:cs typeface="Assistant" pitchFamily="2" charset="-79"/>
              </a:endParaRPr>
            </a:p>
            <a:p>
              <a:pPr algn="r" rtl="1">
                <a:lnSpc>
                  <a:spcPct val="115000"/>
                </a:lnSpc>
                <a:spcAft>
                  <a:spcPts val="800"/>
                </a:spcAft>
              </a:pPr>
              <a:endParaRPr lang="en-US" kern="100" dirty="0">
                <a:solidFill>
                  <a:schemeClr val="bg1"/>
                </a:solidFill>
                <a:effectLst/>
                <a:latin typeface="Assistant" pitchFamily="2" charset="-79"/>
                <a:ea typeface="Aptos" panose="020B0004020202020204" pitchFamily="34" charset="0"/>
                <a:cs typeface="Assistant" pitchFamily="2" charset="-79"/>
              </a:endParaRPr>
            </a:p>
          </p:txBody>
        </p:sp>
        <p:pic>
          <p:nvPicPr>
            <p:cNvPr id="30" name="גרפיקה 29" descr="סימן ביקורת עם מילוי מלא">
              <a:extLst>
                <a:ext uri="{FF2B5EF4-FFF2-40B4-BE49-F238E27FC236}">
                  <a16:creationId xmlns:a16="http://schemas.microsoft.com/office/drawing/2014/main" id="{E6DD6181-ABDE-714B-26A5-8F39CF57EE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79411" y="2966726"/>
              <a:ext cx="360000" cy="360000"/>
            </a:xfrm>
            <a:prstGeom prst="rect">
              <a:avLst/>
            </a:prstGeom>
            <a:effectLst>
              <a:glow rad="25400">
                <a:schemeClr val="bg1">
                  <a:alpha val="60000"/>
                </a:schemeClr>
              </a:glow>
            </a:effectLst>
          </p:spPr>
        </p:pic>
        <p:pic>
          <p:nvPicPr>
            <p:cNvPr id="32" name="גרפיקה 31" descr="סימן ביקורת עם מילוי מלא">
              <a:extLst>
                <a:ext uri="{FF2B5EF4-FFF2-40B4-BE49-F238E27FC236}">
                  <a16:creationId xmlns:a16="http://schemas.microsoft.com/office/drawing/2014/main" id="{E03C00E9-771E-2162-8CEF-586CA708E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395573"/>
              <a:ext cx="360000" cy="360000"/>
            </a:xfrm>
            <a:prstGeom prst="rect">
              <a:avLst/>
            </a:prstGeom>
            <a:effectLst>
              <a:glow rad="25400">
                <a:schemeClr val="bg1">
                  <a:alpha val="60000"/>
                </a:schemeClr>
              </a:glow>
            </a:effectLst>
          </p:spPr>
        </p:pic>
        <p:pic>
          <p:nvPicPr>
            <p:cNvPr id="33" name="גרפיקה 32" descr="סימן ביקורת עם מילוי מלא">
              <a:extLst>
                <a:ext uri="{FF2B5EF4-FFF2-40B4-BE49-F238E27FC236}">
                  <a16:creationId xmlns:a16="http://schemas.microsoft.com/office/drawing/2014/main" id="{1A145551-AAC7-B7A3-F64C-588A98187D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43161" y="3787757"/>
              <a:ext cx="360000" cy="360000"/>
            </a:xfrm>
            <a:prstGeom prst="rect">
              <a:avLst/>
            </a:prstGeom>
            <a:effectLst>
              <a:glow rad="25400">
                <a:schemeClr val="bg1">
                  <a:alpha val="60000"/>
                </a:schemeClr>
              </a:glow>
            </a:effectLst>
          </p:spPr>
        </p:pic>
        <p:pic>
          <p:nvPicPr>
            <p:cNvPr id="34"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223811"/>
              <a:ext cx="360000" cy="360000"/>
            </a:xfrm>
            <a:prstGeom prst="rect">
              <a:avLst/>
            </a:prstGeom>
            <a:effectLst>
              <a:glow rad="25400">
                <a:schemeClr val="bg1">
                  <a:alpha val="60000"/>
                </a:schemeClr>
              </a:glow>
            </a:effectLst>
          </p:spPr>
        </p:pic>
        <p:cxnSp>
          <p:nvCxnSpPr>
            <p:cNvPr id="35" name="Straight Connector 28">
              <a:extLst>
                <a:ext uri="{FF2B5EF4-FFF2-40B4-BE49-F238E27FC236}">
                  <a16:creationId xmlns:a16="http://schemas.microsoft.com/office/drawing/2014/main" id="{326853E8-A405-5CA9-69E0-98ECF044A696}"/>
                </a:ext>
              </a:extLst>
            </p:cNvPr>
            <p:cNvCxnSpPr>
              <a:cxnSpLocks/>
            </p:cNvCxnSpPr>
            <p:nvPr/>
          </p:nvCxnSpPr>
          <p:spPr>
            <a:xfrm>
              <a:off x="6603907" y="3377051"/>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6" name="Straight Connector 28">
              <a:extLst>
                <a:ext uri="{FF2B5EF4-FFF2-40B4-BE49-F238E27FC236}">
                  <a16:creationId xmlns:a16="http://schemas.microsoft.com/office/drawing/2014/main" id="{A87D55BC-114F-FAA6-D282-C8BAB09A7083}"/>
                </a:ext>
              </a:extLst>
            </p:cNvPr>
            <p:cNvCxnSpPr>
              <a:cxnSpLocks/>
            </p:cNvCxnSpPr>
            <p:nvPr/>
          </p:nvCxnSpPr>
          <p:spPr>
            <a:xfrm>
              <a:off x="6596406" y="3758066"/>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37" name="Straight Connector 28">
              <a:extLst>
                <a:ext uri="{FF2B5EF4-FFF2-40B4-BE49-F238E27FC236}">
                  <a16:creationId xmlns:a16="http://schemas.microsoft.com/office/drawing/2014/main" id="{0B492079-7136-C990-176B-F30343079538}"/>
                </a:ext>
              </a:extLst>
            </p:cNvPr>
            <p:cNvCxnSpPr>
              <a:cxnSpLocks/>
            </p:cNvCxnSpPr>
            <p:nvPr/>
          </p:nvCxnSpPr>
          <p:spPr>
            <a:xfrm>
              <a:off x="6613800" y="4192733"/>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sp>
          <p:nvSpPr>
            <p:cNvPr id="38" name="Rectangle 25">
              <a:extLst>
                <a:ext uri="{FF2B5EF4-FFF2-40B4-BE49-F238E27FC236}">
                  <a16:creationId xmlns:a16="http://schemas.microsoft.com/office/drawing/2014/main" id="{805EF265-A0AB-9921-5AA3-C53FE0977383}"/>
                </a:ext>
              </a:extLst>
            </p:cNvPr>
            <p:cNvSpPr>
              <a:spLocks/>
            </p:cNvSpPr>
            <p:nvPr/>
          </p:nvSpPr>
          <p:spPr>
            <a:xfrm>
              <a:off x="895979" y="2846364"/>
              <a:ext cx="4712744" cy="1346369"/>
            </a:xfrm>
            <a:prstGeom prst="rect">
              <a:avLst/>
            </a:prstGeom>
            <a:solidFill>
              <a:srgbClr val="0067AF">
                <a:alpha val="82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L" dirty="0">
                <a:latin typeface="Arial" panose="020B0604020202020204" pitchFamily="34" charset="0"/>
                <a:cs typeface="Arial" panose="020B0604020202020204" pitchFamily="34" charset="0"/>
              </a:endParaRPr>
            </a:p>
          </p:txBody>
        </p:sp>
        <p:sp>
          <p:nvSpPr>
            <p:cNvPr id="39" name="TextBox 14">
              <a:extLst>
                <a:ext uri="{FF2B5EF4-FFF2-40B4-BE49-F238E27FC236}">
                  <a16:creationId xmlns:a16="http://schemas.microsoft.com/office/drawing/2014/main" id="{C2D5D2BF-4F7E-AF12-8073-3C91C0E35E88}"/>
                </a:ext>
              </a:extLst>
            </p:cNvPr>
            <p:cNvSpPr txBox="1"/>
            <p:nvPr/>
          </p:nvSpPr>
          <p:spPr>
            <a:xfrm>
              <a:off x="456682" y="3305890"/>
              <a:ext cx="4657130" cy="813171"/>
            </a:xfrm>
            <a:prstGeom prst="rect">
              <a:avLst/>
            </a:prstGeom>
            <a:noFill/>
          </p:spPr>
          <p:txBody>
            <a:bodyPr wrap="square" anchor="b">
              <a:spAutoFit/>
            </a:bodyPr>
            <a:lstStyle/>
            <a:p>
              <a:pPr algn="r" rtl="1">
                <a:lnSpc>
                  <a:spcPct val="115000"/>
                </a:lnSpc>
                <a:spcAft>
                  <a:spcPts val="800"/>
                </a:spcAft>
              </a:pPr>
              <a:r>
                <a:rPr lang="he-IL" b="1" kern="100" dirty="0">
                  <a:solidFill>
                    <a:schemeClr val="bg1"/>
                  </a:solidFill>
                  <a:effectLst/>
                  <a:latin typeface="Assistant" pitchFamily="2" charset="-79"/>
                  <a:ea typeface="Aptos" panose="020B0004020202020204" pitchFamily="34" charset="0"/>
                  <a:cs typeface="Assistant" pitchFamily="2" charset="-79"/>
                </a:rPr>
                <a:t>פיתוח פלטפורמה </a:t>
              </a:r>
              <a:r>
                <a:rPr lang="he-IL" kern="100" dirty="0">
                  <a:solidFill>
                    <a:schemeClr val="bg1"/>
                  </a:solidFill>
                  <a:effectLst/>
                  <a:latin typeface="Assistant" pitchFamily="2" charset="-79"/>
                  <a:ea typeface="Aptos" panose="020B0004020202020204" pitchFamily="34" charset="0"/>
                  <a:cs typeface="Assistant" pitchFamily="2" charset="-79"/>
                </a:rPr>
                <a:t>דיגיטלית תומכת</a:t>
              </a:r>
            </a:p>
            <a:p>
              <a:pPr algn="r" rtl="1">
                <a:lnSpc>
                  <a:spcPct val="115000"/>
                </a:lnSpc>
                <a:spcAft>
                  <a:spcPts val="800"/>
                </a:spcAft>
              </a:pPr>
              <a:r>
                <a:rPr lang="he-IL" kern="100" dirty="0">
                  <a:solidFill>
                    <a:schemeClr val="bg1"/>
                  </a:solidFill>
                  <a:effectLst/>
                  <a:latin typeface="Assistant" pitchFamily="2" charset="-79"/>
                  <a:ea typeface="Aptos" panose="020B0004020202020204" pitchFamily="34" charset="0"/>
                  <a:cs typeface="Assistant" pitchFamily="2" charset="-79"/>
                </a:rPr>
                <a:t>הכנסת </a:t>
              </a:r>
              <a:r>
                <a:rPr lang="he-IL" kern="100" dirty="0">
                  <a:solidFill>
                    <a:schemeClr val="bg1"/>
                  </a:solidFill>
                  <a:latin typeface="Assistant" pitchFamily="2" charset="-79"/>
                  <a:cs typeface="Assistant" pitchFamily="2" charset="-79"/>
                </a:rPr>
                <a:t>השירות המותאם כפיילוט </a:t>
              </a:r>
              <a:r>
                <a:rPr lang="he-IL" b="1" kern="100" dirty="0">
                  <a:solidFill>
                    <a:schemeClr val="bg1"/>
                  </a:solidFill>
                  <a:effectLst/>
                  <a:latin typeface="Assistant" pitchFamily="2" charset="-79"/>
                  <a:ea typeface="Aptos" panose="020B0004020202020204" pitchFamily="34" charset="0"/>
                  <a:cs typeface="Assistant" pitchFamily="2" charset="-79"/>
                </a:rPr>
                <a:t>ללוח ח'-2</a:t>
              </a:r>
              <a:endParaRPr lang="he-IL" b="1" kern="100" dirty="0">
                <a:solidFill>
                  <a:srgbClr val="FF0000"/>
                </a:solidFill>
                <a:effectLst/>
                <a:latin typeface="Assistant" pitchFamily="2" charset="-79"/>
                <a:ea typeface="Aptos" panose="020B0004020202020204" pitchFamily="34" charset="0"/>
                <a:cs typeface="Assistant" pitchFamily="2" charset="-79"/>
              </a:endParaRPr>
            </a:p>
          </p:txBody>
        </p:sp>
        <p:cxnSp>
          <p:nvCxnSpPr>
            <p:cNvPr id="48" name="Straight Connector 28">
              <a:extLst>
                <a:ext uri="{FF2B5EF4-FFF2-40B4-BE49-F238E27FC236}">
                  <a16:creationId xmlns:a16="http://schemas.microsoft.com/office/drawing/2014/main" id="{EED6D260-9D86-9B0B-34A5-803D5D04CB97}"/>
                </a:ext>
              </a:extLst>
            </p:cNvPr>
            <p:cNvCxnSpPr>
              <a:cxnSpLocks/>
            </p:cNvCxnSpPr>
            <p:nvPr/>
          </p:nvCxnSpPr>
          <p:spPr>
            <a:xfrm>
              <a:off x="955958" y="3723577"/>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49" name="Straight Connector 28">
              <a:extLst>
                <a:ext uri="{FF2B5EF4-FFF2-40B4-BE49-F238E27FC236}">
                  <a16:creationId xmlns:a16="http://schemas.microsoft.com/office/drawing/2014/main" id="{AB1DFD5A-6529-4A40-043E-33140BB9E15A}"/>
                </a:ext>
              </a:extLst>
            </p:cNvPr>
            <p:cNvCxnSpPr>
              <a:cxnSpLocks/>
            </p:cNvCxnSpPr>
            <p:nvPr/>
          </p:nvCxnSpPr>
          <p:spPr>
            <a:xfrm>
              <a:off x="955958" y="4152494"/>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52"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382405"/>
              <a:ext cx="360000" cy="360000"/>
            </a:xfrm>
            <a:prstGeom prst="rect">
              <a:avLst/>
            </a:prstGeom>
          </p:spPr>
        </p:pic>
        <p:pic>
          <p:nvPicPr>
            <p:cNvPr id="53" name="גרפיקה 52" descr="יעד קו מיתאר">
              <a:extLst>
                <a:ext uri="{FF2B5EF4-FFF2-40B4-BE49-F238E27FC236}">
                  <a16:creationId xmlns:a16="http://schemas.microsoft.com/office/drawing/2014/main" id="{67F0F8A0-5537-B264-EB3D-2DE02F59BC4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3787569"/>
              <a:ext cx="360000" cy="360000"/>
            </a:xfrm>
            <a:prstGeom prst="rect">
              <a:avLst/>
            </a:prstGeom>
          </p:spPr>
        </p:pic>
        <p:pic>
          <p:nvPicPr>
            <p:cNvPr id="54" name="גרפיקה 53" descr="יעד קו מיתאר">
              <a:extLst>
                <a:ext uri="{FF2B5EF4-FFF2-40B4-BE49-F238E27FC236}">
                  <a16:creationId xmlns:a16="http://schemas.microsoft.com/office/drawing/2014/main" id="{4A6504DD-0930-012D-0716-0593121D0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60884" y="4192733"/>
              <a:ext cx="360000" cy="360000"/>
            </a:xfrm>
            <a:prstGeom prst="rect">
              <a:avLst/>
            </a:prstGeom>
          </p:spPr>
        </p:pic>
        <p:cxnSp>
          <p:nvCxnSpPr>
            <p:cNvPr id="41" name="Straight Connector 28">
              <a:extLst>
                <a:ext uri="{FF2B5EF4-FFF2-40B4-BE49-F238E27FC236}">
                  <a16:creationId xmlns:a16="http://schemas.microsoft.com/office/drawing/2014/main" id="{0B492079-7136-C990-176B-F30343079538}"/>
                </a:ext>
              </a:extLst>
            </p:cNvPr>
            <p:cNvCxnSpPr>
              <a:cxnSpLocks/>
            </p:cNvCxnSpPr>
            <p:nvPr/>
          </p:nvCxnSpPr>
          <p:spPr>
            <a:xfrm>
              <a:off x="6538821" y="4612270"/>
              <a:ext cx="4146755"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42" name="גרפיקה 33" descr="סימן ביקורת עם מילוי מלא">
              <a:extLst>
                <a:ext uri="{FF2B5EF4-FFF2-40B4-BE49-F238E27FC236}">
                  <a16:creationId xmlns:a16="http://schemas.microsoft.com/office/drawing/2014/main" id="{BA69D815-ED11-33EE-E0B8-A046D99C4F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60932" y="4612270"/>
              <a:ext cx="360000" cy="360000"/>
            </a:xfrm>
            <a:prstGeom prst="rect">
              <a:avLst/>
            </a:prstGeom>
            <a:effectLst>
              <a:glow rad="25400">
                <a:schemeClr val="bg1">
                  <a:alpha val="60000"/>
                </a:schemeClr>
              </a:glow>
            </a:effectLst>
          </p:spPr>
        </p:pic>
        <p:pic>
          <p:nvPicPr>
            <p:cNvPr id="43" name="גרפיקה 51" descr="יעד קו מיתאר">
              <a:extLst>
                <a:ext uri="{FF2B5EF4-FFF2-40B4-BE49-F238E27FC236}">
                  <a16:creationId xmlns:a16="http://schemas.microsoft.com/office/drawing/2014/main" id="{E6E6A05E-9E93-472B-DF08-79C49725A79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42897" y="3003406"/>
              <a:ext cx="360000" cy="360000"/>
            </a:xfrm>
            <a:prstGeom prst="rect">
              <a:avLst/>
            </a:prstGeom>
          </p:spPr>
        </p:pic>
        <p:sp>
          <p:nvSpPr>
            <p:cNvPr id="5" name="מלבן 4"/>
            <p:cNvSpPr/>
            <p:nvPr/>
          </p:nvSpPr>
          <p:spPr>
            <a:xfrm>
              <a:off x="1508672" y="2923184"/>
              <a:ext cx="3594041" cy="392030"/>
            </a:xfrm>
            <a:prstGeom prst="rect">
              <a:avLst/>
            </a:prstGeom>
          </p:spPr>
          <p:txBody>
            <a:bodyPr wrap="none">
              <a:spAutoFit/>
            </a:bodyPr>
            <a:lstStyle/>
            <a:p>
              <a:pPr>
                <a:lnSpc>
                  <a:spcPct val="115000"/>
                </a:lnSpc>
                <a:spcAft>
                  <a:spcPts val="800"/>
                </a:spcAft>
              </a:pPr>
              <a:r>
                <a:rPr lang="he-IL" b="1" kern="100" dirty="0">
                  <a:solidFill>
                    <a:schemeClr val="bg1"/>
                  </a:solidFill>
                  <a:latin typeface="Assistant" pitchFamily="2" charset="-79"/>
                  <a:ea typeface="Aptos" panose="020B0004020202020204" pitchFamily="34" charset="0"/>
                  <a:cs typeface="Assistant" pitchFamily="2" charset="-79"/>
                </a:rPr>
                <a:t>הרחבת הפיילוטים בשטח </a:t>
              </a:r>
              <a:r>
                <a:rPr lang="he-IL" kern="100" dirty="0">
                  <a:solidFill>
                    <a:schemeClr val="bg1"/>
                  </a:solidFill>
                  <a:latin typeface="Assistant" pitchFamily="2" charset="-79"/>
                  <a:ea typeface="Aptos" panose="020B0004020202020204" pitchFamily="34" charset="0"/>
                  <a:cs typeface="Assistant" pitchFamily="2" charset="-79"/>
                </a:rPr>
                <a:t>ומחקר מלווה</a:t>
              </a:r>
              <a:endParaRPr lang="he-IL" kern="100" dirty="0">
                <a:solidFill>
                  <a:srgbClr val="FF0000"/>
                </a:solidFill>
                <a:latin typeface="Assistant" pitchFamily="2" charset="-79"/>
                <a:ea typeface="Aptos" panose="020B0004020202020204" pitchFamily="34" charset="0"/>
                <a:cs typeface="Assistant" pitchFamily="2" charset="-79"/>
              </a:endParaRPr>
            </a:p>
          </p:txBody>
        </p:sp>
      </p:grpSp>
      <p:sp>
        <p:nvSpPr>
          <p:cNvPr id="11" name="כותרת 1">
            <a:extLst>
              <a:ext uri="{FF2B5EF4-FFF2-40B4-BE49-F238E27FC236}">
                <a16:creationId xmlns:a16="http://schemas.microsoft.com/office/drawing/2014/main" id="{1131F795-0716-78F3-2074-17A4B99FFDF2}"/>
              </a:ext>
            </a:extLst>
          </p:cNvPr>
          <p:cNvSpPr txBox="1">
            <a:spLocks/>
          </p:cNvSpPr>
          <p:nvPr/>
        </p:nvSpPr>
        <p:spPr>
          <a:xfrm>
            <a:off x="0" y="91963"/>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4000" b="1" dirty="0">
                <a:solidFill>
                  <a:srgbClr val="002060"/>
                </a:solidFill>
                <a:effectLst>
                  <a:outerShdw blurRad="38100" dist="38100" dir="2700000" algn="tl">
                    <a:srgbClr val="000000">
                      <a:alpha val="43137"/>
                    </a:srgbClr>
                  </a:outerShdw>
                </a:effectLst>
                <a:ea typeface="+mn-ea"/>
              </a:rPr>
              <a:t>רפורמת סל אישי להזדקנות מיטבית</a:t>
            </a:r>
          </a:p>
        </p:txBody>
      </p:sp>
      <p:sp>
        <p:nvSpPr>
          <p:cNvPr id="16" name="כותרת 1">
            <a:extLst>
              <a:ext uri="{FF2B5EF4-FFF2-40B4-BE49-F238E27FC236}">
                <a16:creationId xmlns:a16="http://schemas.microsoft.com/office/drawing/2014/main" id="{D7857799-1987-667B-8875-921C3F774254}"/>
              </a:ext>
            </a:extLst>
          </p:cNvPr>
          <p:cNvSpPr txBox="1">
            <a:spLocks/>
          </p:cNvSpPr>
          <p:nvPr/>
        </p:nvSpPr>
        <p:spPr>
          <a:xfrm>
            <a:off x="6540796" y="2274906"/>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2400" b="1" dirty="0">
                <a:solidFill>
                  <a:srgbClr val="002060"/>
                </a:solidFill>
                <a:effectLst>
                  <a:outerShdw blurRad="38100" dist="38100" dir="2700000" algn="tl">
                    <a:srgbClr val="000000">
                      <a:alpha val="43137"/>
                    </a:srgbClr>
                  </a:outerShdw>
                </a:effectLst>
                <a:ea typeface="+mn-ea"/>
              </a:rPr>
              <a:t>מה נעשה עד כה?</a:t>
            </a:r>
          </a:p>
        </p:txBody>
      </p:sp>
      <p:sp>
        <p:nvSpPr>
          <p:cNvPr id="17" name="כותרת 1">
            <a:extLst>
              <a:ext uri="{FF2B5EF4-FFF2-40B4-BE49-F238E27FC236}">
                <a16:creationId xmlns:a16="http://schemas.microsoft.com/office/drawing/2014/main" id="{CC51E3D6-B95C-A304-9BCE-197FE0D9B84C}"/>
              </a:ext>
            </a:extLst>
          </p:cNvPr>
          <p:cNvSpPr txBox="1">
            <a:spLocks/>
          </p:cNvSpPr>
          <p:nvPr/>
        </p:nvSpPr>
        <p:spPr>
          <a:xfrm>
            <a:off x="917847" y="2262123"/>
            <a:ext cx="4593213" cy="5049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2400" b="1" dirty="0">
                <a:solidFill>
                  <a:srgbClr val="002060"/>
                </a:solidFill>
                <a:effectLst>
                  <a:outerShdw blurRad="38100" dist="38100" dir="2700000" algn="tl">
                    <a:srgbClr val="000000">
                      <a:alpha val="43137"/>
                    </a:srgbClr>
                  </a:outerShdw>
                </a:effectLst>
                <a:ea typeface="+mn-ea"/>
              </a:rPr>
              <a:t>תוכנית עבודה 2026</a:t>
            </a:r>
          </a:p>
        </p:txBody>
      </p:sp>
      <p:pic>
        <p:nvPicPr>
          <p:cNvPr id="10" name="גרפיקה 33" descr="סימן ביקורת עם מילוי מלא">
            <a:extLst>
              <a:ext uri="{FF2B5EF4-FFF2-40B4-BE49-F238E27FC236}">
                <a16:creationId xmlns:a16="http://schemas.microsoft.com/office/drawing/2014/main" id="{FFF76CAE-2DCF-F5CF-5275-45DF80B6AB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5200" y="4961613"/>
            <a:ext cx="350869" cy="360000"/>
          </a:xfrm>
          <a:prstGeom prst="rect">
            <a:avLst/>
          </a:prstGeom>
          <a:effectLst>
            <a:glow rad="25400">
              <a:schemeClr val="bg1">
                <a:alpha val="60000"/>
              </a:schemeClr>
            </a:glow>
          </a:effectLst>
        </p:spPr>
      </p:pic>
      <p:cxnSp>
        <p:nvCxnSpPr>
          <p:cNvPr id="12" name="Straight Connector 28">
            <a:extLst>
              <a:ext uri="{FF2B5EF4-FFF2-40B4-BE49-F238E27FC236}">
                <a16:creationId xmlns:a16="http://schemas.microsoft.com/office/drawing/2014/main" id="{B034B67A-DBD9-6455-AF56-243BBE5C6AA1}"/>
              </a:ext>
            </a:extLst>
          </p:cNvPr>
          <p:cNvCxnSpPr>
            <a:cxnSpLocks/>
          </p:cNvCxnSpPr>
          <p:nvPr/>
        </p:nvCxnSpPr>
        <p:spPr>
          <a:xfrm>
            <a:off x="6540796" y="5018915"/>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18" name="Picture 14">
            <a:extLst>
              <a:ext uri="{FF2B5EF4-FFF2-40B4-BE49-F238E27FC236}">
                <a16:creationId xmlns:a16="http://schemas.microsoft.com/office/drawing/2014/main" id="{80554526-59C5-AEF8-8F93-DD1AE1DCC1D4}"/>
              </a:ext>
            </a:extLst>
          </p:cNvPr>
          <p:cNvPicPr>
            <a:picLocks noChangeAspect="1"/>
          </p:cNvPicPr>
          <p:nvPr/>
        </p:nvPicPr>
        <p:blipFill>
          <a:blip r:embed="rId7">
            <a:duotone>
              <a:schemeClr val="accent2">
                <a:shade val="45000"/>
                <a:satMod val="135000"/>
              </a:schemeClr>
              <a:prstClr val="white"/>
            </a:duotone>
          </a:blip>
          <a:stretch>
            <a:fillRect/>
          </a:stretch>
        </p:blipFill>
        <p:spPr>
          <a:xfrm>
            <a:off x="5656912" y="3912661"/>
            <a:ext cx="875439" cy="898221"/>
          </a:xfrm>
          <a:prstGeom prst="rect">
            <a:avLst/>
          </a:prstGeom>
        </p:spPr>
      </p:pic>
      <p:pic>
        <p:nvPicPr>
          <p:cNvPr id="19" name="Picture 26">
            <a:extLst>
              <a:ext uri="{FF2B5EF4-FFF2-40B4-BE49-F238E27FC236}">
                <a16:creationId xmlns:a16="http://schemas.microsoft.com/office/drawing/2014/main" id="{EC27FEB3-4B17-311B-EC6B-59D54B044F18}"/>
              </a:ext>
            </a:extLst>
          </p:cNvPr>
          <p:cNvPicPr>
            <a:picLocks noChangeAspect="1"/>
          </p:cNvPicPr>
          <p:nvPr/>
        </p:nvPicPr>
        <p:blipFill>
          <a:blip r:embed="rId8"/>
          <a:stretch>
            <a:fillRect/>
          </a:stretch>
        </p:blipFill>
        <p:spPr>
          <a:xfrm>
            <a:off x="40200" y="6133462"/>
            <a:ext cx="1237201" cy="677516"/>
          </a:xfrm>
          <a:prstGeom prst="rect">
            <a:avLst/>
          </a:prstGeom>
          <a:ln>
            <a:noFill/>
          </a:ln>
        </p:spPr>
      </p:pic>
      <p:grpSp>
        <p:nvGrpSpPr>
          <p:cNvPr id="21" name="Group 1">
            <a:extLst>
              <a:ext uri="{FF2B5EF4-FFF2-40B4-BE49-F238E27FC236}">
                <a16:creationId xmlns:a16="http://schemas.microsoft.com/office/drawing/2014/main" id="{A9566BE7-363E-1672-DDD1-2F748CF1499B}"/>
              </a:ext>
            </a:extLst>
          </p:cNvPr>
          <p:cNvGrpSpPr/>
          <p:nvPr/>
        </p:nvGrpSpPr>
        <p:grpSpPr>
          <a:xfrm>
            <a:off x="279458" y="297788"/>
            <a:ext cx="1523237" cy="323730"/>
            <a:chOff x="304171" y="6108306"/>
            <a:chExt cx="2542153" cy="560355"/>
          </a:xfrm>
        </p:grpSpPr>
        <p:pic>
          <p:nvPicPr>
            <p:cNvPr id="22" name="Picture 3">
              <a:extLst>
                <a:ext uri="{FF2B5EF4-FFF2-40B4-BE49-F238E27FC236}">
                  <a16:creationId xmlns:a16="http://schemas.microsoft.com/office/drawing/2014/main" id="{2B576CC1-17C9-9616-AC15-F4DE177FFB88}"/>
                </a:ext>
              </a:extLst>
            </p:cNvPr>
            <p:cNvPicPr>
              <a:picLocks noChangeAspect="1"/>
            </p:cNvPicPr>
            <p:nvPr/>
          </p:nvPicPr>
          <p:blipFill>
            <a:blip r:embed="rId9"/>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D39DA068-CFE4-E064-D965-EF66098BFAEA}"/>
                </a:ext>
              </a:extLst>
            </p:cNvPr>
            <p:cNvPicPr>
              <a:picLocks noChangeAspect="1"/>
            </p:cNvPicPr>
            <p:nvPr/>
          </p:nvPicPr>
          <p:blipFill>
            <a:blip r:embed="rId10"/>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046E56C8-C9BE-A6DA-BF8D-5DB7E705ECD0}"/>
                </a:ext>
              </a:extLst>
            </p:cNvPr>
            <p:cNvPicPr>
              <a:picLocks noChangeAspect="1"/>
            </p:cNvPicPr>
            <p:nvPr/>
          </p:nvPicPr>
          <p:blipFill>
            <a:blip r:embed="rId11"/>
            <a:stretch>
              <a:fillRect/>
            </a:stretch>
          </p:blipFill>
          <p:spPr>
            <a:xfrm>
              <a:off x="304171" y="6108306"/>
              <a:ext cx="1803400" cy="381000"/>
            </a:xfrm>
            <a:prstGeom prst="rect">
              <a:avLst/>
            </a:prstGeom>
          </p:spPr>
        </p:pic>
      </p:grpSp>
      <p:cxnSp>
        <p:nvCxnSpPr>
          <p:cNvPr id="2" name="Straight Connector 28">
            <a:extLst>
              <a:ext uri="{FF2B5EF4-FFF2-40B4-BE49-F238E27FC236}">
                <a16:creationId xmlns:a16="http://schemas.microsoft.com/office/drawing/2014/main" id="{0CA817F9-10F2-C645-D5B1-A1457B38997E}"/>
              </a:ext>
            </a:extLst>
          </p:cNvPr>
          <p:cNvCxnSpPr>
            <a:cxnSpLocks/>
          </p:cNvCxnSpPr>
          <p:nvPr/>
        </p:nvCxnSpPr>
        <p:spPr>
          <a:xfrm>
            <a:off x="1084352" y="3352706"/>
            <a:ext cx="4041578"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3" name="גרפיקה 33" descr="סימן ביקורת עם מילוי מלא">
            <a:extLst>
              <a:ext uri="{FF2B5EF4-FFF2-40B4-BE49-F238E27FC236}">
                <a16:creationId xmlns:a16="http://schemas.microsoft.com/office/drawing/2014/main" id="{D7AC0E49-653B-E637-D064-383974DCB8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5451" y="5412070"/>
            <a:ext cx="350869" cy="360000"/>
          </a:xfrm>
          <a:prstGeom prst="rect">
            <a:avLst/>
          </a:prstGeom>
          <a:effectLst>
            <a:glow rad="25400">
              <a:schemeClr val="bg1">
                <a:alpha val="60000"/>
              </a:schemeClr>
            </a:glow>
          </a:effectLst>
        </p:spPr>
      </p:pic>
      <p:pic>
        <p:nvPicPr>
          <p:cNvPr id="7" name="גרפיקה 33" descr="סימן ביקורת עם מילוי מלא">
            <a:extLst>
              <a:ext uri="{FF2B5EF4-FFF2-40B4-BE49-F238E27FC236}">
                <a16:creationId xmlns:a16="http://schemas.microsoft.com/office/drawing/2014/main" id="{F7888FE1-B250-3D03-0CBC-ECFCADBE5A7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7335" y="5811197"/>
            <a:ext cx="350869" cy="360000"/>
          </a:xfrm>
          <a:prstGeom prst="rect">
            <a:avLst/>
          </a:prstGeom>
          <a:effectLst>
            <a:glow rad="25400">
              <a:schemeClr val="bg1">
                <a:alpha val="60000"/>
              </a:schemeClr>
            </a:glow>
          </a:effectLst>
        </p:spPr>
      </p:pic>
      <p:cxnSp>
        <p:nvCxnSpPr>
          <p:cNvPr id="8" name="Straight Connector 28">
            <a:extLst>
              <a:ext uri="{FF2B5EF4-FFF2-40B4-BE49-F238E27FC236}">
                <a16:creationId xmlns:a16="http://schemas.microsoft.com/office/drawing/2014/main" id="{37714D57-51B1-FA97-A064-29B14C90F35F}"/>
              </a:ext>
            </a:extLst>
          </p:cNvPr>
          <p:cNvCxnSpPr>
            <a:cxnSpLocks/>
          </p:cNvCxnSpPr>
          <p:nvPr/>
        </p:nvCxnSpPr>
        <p:spPr>
          <a:xfrm>
            <a:off x="6604230" y="5443154"/>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28">
            <a:extLst>
              <a:ext uri="{FF2B5EF4-FFF2-40B4-BE49-F238E27FC236}">
                <a16:creationId xmlns:a16="http://schemas.microsoft.com/office/drawing/2014/main" id="{9CE4D5D6-5462-F2B3-E9E6-A162F7746058}"/>
              </a:ext>
            </a:extLst>
          </p:cNvPr>
          <p:cNvCxnSpPr>
            <a:cxnSpLocks/>
          </p:cNvCxnSpPr>
          <p:nvPr/>
        </p:nvCxnSpPr>
        <p:spPr>
          <a:xfrm>
            <a:off x="6596919" y="5841981"/>
            <a:ext cx="4041579" cy="0"/>
          </a:xfrm>
          <a:prstGeom prst="line">
            <a:avLst/>
          </a:prstGeom>
          <a:ln>
            <a:solidFill>
              <a:schemeClr val="bg1">
                <a:lumMod val="95000"/>
              </a:schemeClr>
            </a:solidFill>
          </a:ln>
        </p:spPr>
        <p:style>
          <a:lnRef idx="1">
            <a:schemeClr val="accent5"/>
          </a:lnRef>
          <a:fillRef idx="0">
            <a:schemeClr val="accent5"/>
          </a:fillRef>
          <a:effectRef idx="0">
            <a:schemeClr val="accent5"/>
          </a:effectRef>
          <a:fontRef idx="minor">
            <a:schemeClr val="tx1"/>
          </a:fontRef>
        </p:style>
      </p:cxnSp>
      <p:pic>
        <p:nvPicPr>
          <p:cNvPr id="15" name="Picture 3" descr="קובץ:Ministry of Labor, Social Affairs and Social Services ...">
            <a:extLst>
              <a:ext uri="{FF2B5EF4-FFF2-40B4-BE49-F238E27FC236}">
                <a16:creationId xmlns:a16="http://schemas.microsoft.com/office/drawing/2014/main" id="{C18F2293-AB85-7E59-CA55-668B804F50B9}"/>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0502243" y="6391237"/>
            <a:ext cx="1574527" cy="429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641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C94A-C476-EA47-A305-FD151CAA3E07}"/>
            </a:ext>
          </a:extLst>
        </p:cNvPr>
        <p:cNvGrpSpPr/>
        <p:nvPr/>
      </p:nvGrpSpPr>
      <p:grpSpPr>
        <a:xfrm>
          <a:off x="0" y="0"/>
          <a:ext cx="0" cy="0"/>
          <a:chOff x="0" y="0"/>
          <a:chExt cx="0" cy="0"/>
        </a:xfrm>
      </p:grpSpPr>
      <p:pic>
        <p:nvPicPr>
          <p:cNvPr id="18" name="Picture 26">
            <a:extLst>
              <a:ext uri="{FF2B5EF4-FFF2-40B4-BE49-F238E27FC236}">
                <a16:creationId xmlns:a16="http://schemas.microsoft.com/office/drawing/2014/main" id="{D628C7A3-101B-0F8F-6A62-2AD2BFE1CFA3}"/>
              </a:ext>
            </a:extLst>
          </p:cNvPr>
          <p:cNvPicPr>
            <a:picLocks noChangeAspect="1"/>
          </p:cNvPicPr>
          <p:nvPr/>
        </p:nvPicPr>
        <p:blipFill>
          <a:blip r:embed="rId3"/>
          <a:stretch>
            <a:fillRect/>
          </a:stretch>
        </p:blipFill>
        <p:spPr>
          <a:xfrm>
            <a:off x="11073650" y="6187191"/>
            <a:ext cx="1118350" cy="612431"/>
          </a:xfrm>
          <a:prstGeom prst="rect">
            <a:avLst/>
          </a:prstGeom>
          <a:ln>
            <a:noFill/>
          </a:ln>
        </p:spPr>
      </p:pic>
      <p:grpSp>
        <p:nvGrpSpPr>
          <p:cNvPr id="19" name="Group 1">
            <a:extLst>
              <a:ext uri="{FF2B5EF4-FFF2-40B4-BE49-F238E27FC236}">
                <a16:creationId xmlns:a16="http://schemas.microsoft.com/office/drawing/2014/main" id="{C08CFC89-F67F-6B5C-D477-4EE1AB1A2842}"/>
              </a:ext>
            </a:extLst>
          </p:cNvPr>
          <p:cNvGrpSpPr/>
          <p:nvPr/>
        </p:nvGrpSpPr>
        <p:grpSpPr>
          <a:xfrm>
            <a:off x="275691" y="6459128"/>
            <a:ext cx="1523237" cy="323730"/>
            <a:chOff x="304171" y="6108306"/>
            <a:chExt cx="2542153" cy="560355"/>
          </a:xfrm>
        </p:grpSpPr>
        <p:pic>
          <p:nvPicPr>
            <p:cNvPr id="20" name="Picture 3">
              <a:extLst>
                <a:ext uri="{FF2B5EF4-FFF2-40B4-BE49-F238E27FC236}">
                  <a16:creationId xmlns:a16="http://schemas.microsoft.com/office/drawing/2014/main" id="{F8D3B11E-9F56-73FD-38F6-1BCE4CBFF9F1}"/>
                </a:ext>
              </a:extLst>
            </p:cNvPr>
            <p:cNvPicPr>
              <a:picLocks noChangeAspect="1"/>
            </p:cNvPicPr>
            <p:nvPr/>
          </p:nvPicPr>
          <p:blipFill>
            <a:blip r:embed="rId4"/>
            <a:stretch>
              <a:fillRect/>
            </a:stretch>
          </p:blipFill>
          <p:spPr>
            <a:xfrm>
              <a:off x="304171" y="6490861"/>
              <a:ext cx="1790700" cy="177800"/>
            </a:xfrm>
            <a:prstGeom prst="rect">
              <a:avLst/>
            </a:prstGeom>
          </p:spPr>
        </p:pic>
        <p:pic>
          <p:nvPicPr>
            <p:cNvPr id="21" name="Picture 4">
              <a:extLst>
                <a:ext uri="{FF2B5EF4-FFF2-40B4-BE49-F238E27FC236}">
                  <a16:creationId xmlns:a16="http://schemas.microsoft.com/office/drawing/2014/main" id="{A11F1446-FF34-0106-2591-033C27E2761C}"/>
                </a:ext>
              </a:extLst>
            </p:cNvPr>
            <p:cNvPicPr>
              <a:picLocks noChangeAspect="1"/>
            </p:cNvPicPr>
            <p:nvPr/>
          </p:nvPicPr>
          <p:blipFill>
            <a:blip r:embed="rId5"/>
            <a:stretch>
              <a:fillRect/>
            </a:stretch>
          </p:blipFill>
          <p:spPr>
            <a:xfrm>
              <a:off x="2135124" y="6126849"/>
              <a:ext cx="711200" cy="520700"/>
            </a:xfrm>
            <a:prstGeom prst="rect">
              <a:avLst/>
            </a:prstGeom>
          </p:spPr>
        </p:pic>
        <p:pic>
          <p:nvPicPr>
            <p:cNvPr id="22" name="Picture 5">
              <a:extLst>
                <a:ext uri="{FF2B5EF4-FFF2-40B4-BE49-F238E27FC236}">
                  <a16:creationId xmlns:a16="http://schemas.microsoft.com/office/drawing/2014/main" id="{78208F5E-D519-E31B-4B38-4F9CDAB46F6A}"/>
                </a:ext>
              </a:extLst>
            </p:cNvPr>
            <p:cNvPicPr>
              <a:picLocks noChangeAspect="1"/>
            </p:cNvPicPr>
            <p:nvPr/>
          </p:nvPicPr>
          <p:blipFill>
            <a:blip r:embed="rId6"/>
            <a:stretch>
              <a:fillRect/>
            </a:stretch>
          </p:blipFill>
          <p:spPr>
            <a:xfrm>
              <a:off x="304171" y="6108306"/>
              <a:ext cx="1803400" cy="381000"/>
            </a:xfrm>
            <a:prstGeom prst="rect">
              <a:avLst/>
            </a:prstGeom>
          </p:spPr>
        </p:pic>
      </p:grpSp>
      <p:sp>
        <p:nvSpPr>
          <p:cNvPr id="23" name="תיבת טקסט 22">
            <a:extLst>
              <a:ext uri="{FF2B5EF4-FFF2-40B4-BE49-F238E27FC236}">
                <a16:creationId xmlns:a16="http://schemas.microsoft.com/office/drawing/2014/main" id="{9A7C5430-D029-46CC-FDE2-481A2799BE83}"/>
              </a:ext>
            </a:extLst>
          </p:cNvPr>
          <p:cNvSpPr txBox="1"/>
          <p:nvPr/>
        </p:nvSpPr>
        <p:spPr>
          <a:xfrm>
            <a:off x="240146" y="0"/>
            <a:ext cx="1459345" cy="64654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1">
            <a:spAutoFit/>
          </a:bodyPr>
          <a:lstStyle/>
          <a:p>
            <a:pPr algn="r" rtl="1"/>
            <a:endParaRPr lang="he-IL" dirty="0"/>
          </a:p>
        </p:txBody>
      </p:sp>
      <p:sp>
        <p:nvSpPr>
          <p:cNvPr id="3" name="מלבן 2">
            <a:extLst>
              <a:ext uri="{FF2B5EF4-FFF2-40B4-BE49-F238E27FC236}">
                <a16:creationId xmlns:a16="http://schemas.microsoft.com/office/drawing/2014/main" id="{662636A2-7A98-2C42-B308-34EDF5D9894F}"/>
              </a:ext>
            </a:extLst>
          </p:cNvPr>
          <p:cNvSpPr/>
          <p:nvPr/>
        </p:nvSpPr>
        <p:spPr>
          <a:xfrm>
            <a:off x="1488831" y="1882436"/>
            <a:ext cx="9584820" cy="4559197"/>
          </a:xfrm>
          <a:prstGeom prst="rect">
            <a:avLst/>
          </a:prstGeom>
        </p:spPr>
        <p:txBody>
          <a:bodyPr wrap="square">
            <a:spAutoFit/>
          </a:bodyPr>
          <a:lstStyle/>
          <a:p>
            <a:pPr marL="800100" lvl="1" indent="-342900">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שדרוג מערכת הפעלה </a:t>
            </a:r>
            <a:r>
              <a:rPr lang="he-IL" sz="2400" dirty="0">
                <a:latin typeface="Assistant" pitchFamily="2" charset="-79"/>
                <a:cs typeface="Assistant" pitchFamily="2" charset="-79"/>
              </a:rPr>
              <a:t>של הממשלה לשירות מכוון ל</a:t>
            </a:r>
            <a:r>
              <a:rPr lang="he-IL" sz="2400" b="1" dirty="0">
                <a:latin typeface="Assistant" pitchFamily="2" charset="-79"/>
                <a:cs typeface="Assistant" pitchFamily="2" charset="-79"/>
              </a:rPr>
              <a:t>אדם במרכז</a:t>
            </a:r>
          </a:p>
          <a:p>
            <a:pPr marL="800100" lvl="1" indent="-342900">
              <a:lnSpc>
                <a:spcPct val="150000"/>
              </a:lnSpc>
              <a:buClr>
                <a:schemeClr val="accent3">
                  <a:lumMod val="60000"/>
                  <a:lumOff val="40000"/>
                </a:schemeClr>
              </a:buClr>
              <a:buFont typeface="Wingdings" panose="05000000000000000000" pitchFamily="2" charset="2"/>
              <a:buChar char="§"/>
            </a:pPr>
            <a:r>
              <a:rPr lang="he-IL" sz="2400" dirty="0">
                <a:latin typeface="Assistant" pitchFamily="2" charset="-79"/>
                <a:cs typeface="Assistant" pitchFamily="2" charset="-79"/>
              </a:rPr>
              <a:t> </a:t>
            </a:r>
            <a:r>
              <a:rPr lang="he-IL" sz="2400" b="1" dirty="0">
                <a:latin typeface="Assistant" pitchFamily="2" charset="-79"/>
                <a:cs typeface="Assistant" pitchFamily="2" charset="-79"/>
              </a:rPr>
              <a:t>מענה ישיר</a:t>
            </a:r>
            <a:r>
              <a:rPr lang="he-IL" sz="2400" dirty="0">
                <a:latin typeface="Assistant" pitchFamily="2" charset="-79"/>
                <a:cs typeface="Assistant" pitchFamily="2" charset="-79"/>
              </a:rPr>
              <a:t> מול האזרח נרצה לתת לאזרח יותר ערך</a:t>
            </a:r>
          </a:p>
          <a:p>
            <a:pPr marL="800100" lvl="1" indent="-342900">
              <a:lnSpc>
                <a:spcPct val="150000"/>
              </a:lnSpc>
              <a:buClr>
                <a:schemeClr val="accent3">
                  <a:lumMod val="60000"/>
                  <a:lumOff val="40000"/>
                </a:schemeClr>
              </a:buClr>
              <a:buFont typeface="Wingdings" panose="05000000000000000000" pitchFamily="2" charset="2"/>
              <a:buChar char="§"/>
            </a:pPr>
            <a:r>
              <a:rPr lang="en-US" sz="2400" b="1" dirty="0">
                <a:latin typeface="Assistant" pitchFamily="2" charset="-79"/>
                <a:cs typeface="Assistant" pitchFamily="2" charset="-79"/>
              </a:rPr>
              <a:t>MVP</a:t>
            </a:r>
            <a:r>
              <a:rPr lang="he-IL" sz="2400" b="1" dirty="0">
                <a:latin typeface="Assistant" pitchFamily="2" charset="-79"/>
                <a:cs typeface="Assistant" pitchFamily="2" charset="-79"/>
              </a:rPr>
              <a:t> בסיעוד- </a:t>
            </a:r>
            <a:r>
              <a:rPr lang="he-IL" sz="2400" dirty="0">
                <a:latin typeface="Assistant" pitchFamily="2" charset="-79"/>
                <a:cs typeface="Assistant" pitchFamily="2" charset="-79"/>
              </a:rPr>
              <a:t>המנגנון היום עובד בשיטה הנכונה אך דורש התאמה ומינוף</a:t>
            </a:r>
          </a:p>
          <a:p>
            <a:pPr marL="800100" lvl="1" indent="-342900">
              <a:lnSpc>
                <a:spcPct val="150000"/>
              </a:lnSpc>
              <a:buClr>
                <a:schemeClr val="accent3">
                  <a:lumMod val="60000"/>
                  <a:lumOff val="40000"/>
                </a:schemeClr>
              </a:buClr>
              <a:buFont typeface="Wingdings" panose="05000000000000000000" pitchFamily="2" charset="2"/>
              <a:buChar char="§"/>
            </a:pPr>
            <a:r>
              <a:rPr lang="he-IL" sz="2400" b="1" dirty="0">
                <a:latin typeface="Assistant" pitchFamily="2" charset="-79"/>
                <a:cs typeface="Assistant" pitchFamily="2" charset="-79"/>
              </a:rPr>
              <a:t>ניתן להרחיב לשיקום, אבטלה, מוגבלויות, זקנה ועוד..</a:t>
            </a:r>
          </a:p>
          <a:p>
            <a:pPr lvl="1">
              <a:lnSpc>
                <a:spcPct val="150000"/>
              </a:lnSpc>
              <a:buClr>
                <a:schemeClr val="accent3">
                  <a:lumMod val="60000"/>
                  <a:lumOff val="40000"/>
                </a:schemeClr>
              </a:buClr>
            </a:pPr>
            <a:endParaRPr lang="he-IL" sz="2400" dirty="0">
              <a:latin typeface="Assistant" pitchFamily="2" charset="-79"/>
              <a:cs typeface="Assistant" pitchFamily="2" charset="-79"/>
            </a:endParaRPr>
          </a:p>
          <a:p>
            <a:pPr lvl="1">
              <a:lnSpc>
                <a:spcPct val="150000"/>
              </a:lnSpc>
              <a:buClr>
                <a:schemeClr val="accent3">
                  <a:lumMod val="60000"/>
                  <a:lumOff val="40000"/>
                </a:schemeClr>
              </a:buClr>
            </a:pPr>
            <a:endParaRPr lang="he-IL" sz="2400" dirty="0">
              <a:latin typeface="Assistant" pitchFamily="2" charset="-79"/>
              <a:cs typeface="Assistant" pitchFamily="2" charset="-79"/>
            </a:endParaRPr>
          </a:p>
          <a:p>
            <a:pPr lvl="1" algn="ctr">
              <a:lnSpc>
                <a:spcPct val="150000"/>
              </a:lnSpc>
              <a:buClr>
                <a:schemeClr val="accent3">
                  <a:lumMod val="60000"/>
                  <a:lumOff val="40000"/>
                </a:schemeClr>
              </a:buClr>
            </a:pPr>
            <a:r>
              <a:rPr lang="he-IL" sz="2800" b="1" dirty="0">
                <a:latin typeface="Assistant" pitchFamily="2" charset="-79"/>
                <a:cs typeface="Assistant" pitchFamily="2" charset="-79"/>
              </a:rPr>
              <a:t>    לתת יותר לאזרח תוך התייעלות תקציבית ושיפור השירות</a:t>
            </a:r>
          </a:p>
          <a:p>
            <a:pPr marL="800100" lvl="1" indent="-342900">
              <a:lnSpc>
                <a:spcPct val="150000"/>
              </a:lnSpc>
              <a:buClr>
                <a:schemeClr val="accent3">
                  <a:lumMod val="60000"/>
                  <a:lumOff val="40000"/>
                </a:schemeClr>
              </a:buClr>
              <a:buFont typeface="Wingdings" panose="05000000000000000000" pitchFamily="2" charset="2"/>
              <a:buChar char="§"/>
            </a:pPr>
            <a:endParaRPr lang="he-IL" sz="2400" dirty="0">
              <a:latin typeface="Assistant" pitchFamily="2" charset="-79"/>
              <a:cs typeface="Assistant" pitchFamily="2" charset="-79"/>
            </a:endParaRPr>
          </a:p>
        </p:txBody>
      </p:sp>
      <p:sp>
        <p:nvSpPr>
          <p:cNvPr id="2" name="מלבן 1">
            <a:extLst>
              <a:ext uri="{FF2B5EF4-FFF2-40B4-BE49-F238E27FC236}">
                <a16:creationId xmlns:a16="http://schemas.microsoft.com/office/drawing/2014/main" id="{68AA32C4-4197-0A01-2CE8-52E7E5E07A11}"/>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he-IL" sz="4000" b="1" dirty="0">
                <a:solidFill>
                  <a:srgbClr val="002060"/>
                </a:solidFill>
                <a:effectLst>
                  <a:outerShdw blurRad="38100" dist="38100" dir="2700000" algn="tl">
                    <a:srgbClr val="000000">
                      <a:alpha val="43137"/>
                    </a:srgbClr>
                  </a:outerShdw>
                </a:effectLst>
                <a:latin typeface="Assistant" pitchFamily="2" charset="-79"/>
                <a:cs typeface="Assistant" pitchFamily="2" charset="-79"/>
              </a:rPr>
              <a:t>שינוי פרדיגמה</a:t>
            </a:r>
            <a:endParaRPr lang="en-IL" sz="3500" b="1" dirty="0">
              <a:latin typeface="Assistant" pitchFamily="2" charset="-79"/>
              <a:cs typeface="Assistant" pitchFamily="2" charset="-79"/>
            </a:endParaRPr>
          </a:p>
        </p:txBody>
      </p:sp>
      <p:sp>
        <p:nvSpPr>
          <p:cNvPr id="5" name="כותרת 1">
            <a:extLst>
              <a:ext uri="{FF2B5EF4-FFF2-40B4-BE49-F238E27FC236}">
                <a16:creationId xmlns:a16="http://schemas.microsoft.com/office/drawing/2014/main" id="{049C7179-83A1-FDF7-EC27-38AA4CA54F30}"/>
              </a:ext>
            </a:extLst>
          </p:cNvPr>
          <p:cNvSpPr txBox="1">
            <a:spLocks/>
          </p:cNvSpPr>
          <p:nvPr/>
        </p:nvSpPr>
        <p:spPr>
          <a:xfrm>
            <a:off x="0" y="929823"/>
            <a:ext cx="12192000" cy="66242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R="0" lvl="0" indent="0" algn="ctr" rtl="1" fontAlgn="auto">
              <a:lnSpc>
                <a:spcPct val="100000"/>
              </a:lnSpc>
              <a:spcBef>
                <a:spcPts val="0"/>
              </a:spcBef>
              <a:spcAft>
                <a:spcPts val="0"/>
              </a:spcAft>
              <a:buClrTx/>
              <a:buSzTx/>
              <a:buFontTx/>
              <a:buNone/>
              <a:tabLst/>
              <a:defRPr/>
            </a:pPr>
            <a:r>
              <a:rPr lang="he-IL" sz="3200" b="1" dirty="0">
                <a:solidFill>
                  <a:srgbClr val="002060"/>
                </a:solidFill>
                <a:effectLst>
                  <a:outerShdw blurRad="38100" dist="38100" dir="2700000" algn="tl">
                    <a:srgbClr val="000000">
                      <a:alpha val="43137"/>
                    </a:srgbClr>
                  </a:outerShdw>
                </a:effectLst>
                <a:ea typeface="+mn-ea"/>
              </a:rPr>
              <a:t>בשירות הציבורי לאזרח</a:t>
            </a:r>
          </a:p>
        </p:txBody>
      </p:sp>
      <p:pic>
        <p:nvPicPr>
          <p:cNvPr id="10" name="Picture 2" descr="Life Journey | Earth">
            <a:extLst>
              <a:ext uri="{FF2B5EF4-FFF2-40B4-BE49-F238E27FC236}">
                <a16:creationId xmlns:a16="http://schemas.microsoft.com/office/drawing/2014/main" id="{DCBF585A-DFB9-CE18-CB7B-84673083A904}"/>
              </a:ext>
            </a:extLst>
          </p:cNvPr>
          <p:cNvPicPr>
            <a:picLocks noChangeAspect="1" noChangeArrowheads="1"/>
          </p:cNvPicPr>
          <p:nvPr/>
        </p:nvPicPr>
        <p:blipFill>
          <a:blip r:embed="rId7">
            <a:alphaModFix amt="20000"/>
            <a:extLst>
              <a:ext uri="{28A0092B-C50C-407E-A947-70E740481C1C}">
                <a14:useLocalDpi xmlns:a14="http://schemas.microsoft.com/office/drawing/2010/main" val="0"/>
              </a:ext>
            </a:extLst>
          </a:blip>
          <a:srcRect/>
          <a:stretch>
            <a:fillRect/>
          </a:stretch>
        </p:blipFill>
        <p:spPr bwMode="auto">
          <a:xfrm>
            <a:off x="12536" y="0"/>
            <a:ext cx="12192000" cy="6858000"/>
          </a:xfrm>
          <a:prstGeom prst="rect">
            <a:avLst/>
          </a:prstGeom>
          <a:solidFill>
            <a:schemeClr val="tx1">
              <a:alpha val="20000"/>
            </a:schemeClr>
          </a:solidFill>
        </p:spPr>
      </p:pic>
    </p:spTree>
    <p:extLst>
      <p:ext uri="{BB962C8B-B14F-4D97-AF65-F5344CB8AC3E}">
        <p14:creationId xmlns:p14="http://schemas.microsoft.com/office/powerpoint/2010/main" val="2985539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L"/>
          </a:p>
        </p:txBody>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txBody>
          <a:bodyPr/>
          <a:lstStyle/>
          <a:p>
            <a:endParaRPr lang="en-IL"/>
          </a:p>
        </p:txBody>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L"/>
          </a:p>
        </p:txBody>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txBody>
            <a:bodyPr/>
            <a:lstStyle/>
            <a:p>
              <a:endParaRPr lang="en-IL"/>
            </a:p>
          </p:txBody>
        </p:sp>
        <p:sp>
          <p:nvSpPr>
            <p:cNvPr id="13" name="TextBox 13"/>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txBody>
            <a:bodyPr/>
            <a:lstStyle/>
            <a:p>
              <a:endParaRPr lang="en-IL"/>
            </a:p>
          </p:txBody>
        </p:sp>
        <p:sp>
          <p:nvSpPr>
            <p:cNvPr id="16" name="TextBox 16"/>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txBody>
            <a:bodyPr/>
            <a:lstStyle/>
            <a:p>
              <a:endParaRPr lang="en-IL"/>
            </a:p>
          </p:txBody>
        </p:sp>
        <p:sp>
          <p:nvSpPr>
            <p:cNvPr id="19" name="TextBox 19"/>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txBody>
            <a:bodyPr/>
            <a:lstStyle/>
            <a:p>
              <a:endParaRPr lang="en-IL"/>
            </a:p>
          </p:txBody>
        </p:sp>
        <p:sp>
          <p:nvSpPr>
            <p:cNvPr id="22" name="TextBox 22"/>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txBody>
            <a:bodyPr/>
            <a:lstStyle/>
            <a:p>
              <a:endParaRPr lang="en-IL"/>
            </a:p>
          </p:txBody>
        </p:sp>
        <p:sp>
          <p:nvSpPr>
            <p:cNvPr id="25" name="TextBox 25"/>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txBody>
            <a:bodyPr/>
            <a:lstStyle/>
            <a:p>
              <a:endParaRPr lang="en-IL"/>
            </a:p>
          </p:txBody>
        </p:sp>
        <p:sp>
          <p:nvSpPr>
            <p:cNvPr id="28" name="TextBox 28"/>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L"/>
          </a:p>
        </p:txBody>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L"/>
          </a:p>
        </p:txBody>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L"/>
          </a:p>
        </p:txBody>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IL"/>
          </a:p>
        </p:txBody>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IL"/>
          </a:p>
        </p:txBody>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IL"/>
          </a:p>
        </p:txBody>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IL"/>
          </a:p>
        </p:txBody>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IL"/>
          </a:p>
        </p:txBody>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L"/>
          </a:p>
        </p:txBody>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txBody>
          <a:bodyPr/>
          <a:lstStyle/>
          <a:p>
            <a:endParaRPr lang="en-IL"/>
          </a:p>
        </p:txBody>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L"/>
          </a:p>
        </p:txBody>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L"/>
          </a:p>
        </p:txBody>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txBody>
          <a:bodyPr/>
          <a:lstStyle/>
          <a:p>
            <a:endParaRPr lang="en-IL"/>
          </a:p>
        </p:txBody>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IL"/>
          </a:p>
        </p:txBody>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marL="0" marR="0" lvl="0" indent="0" algn="ctr" defTabSz="609630" rtl="1" eaLnBrk="1" fontAlgn="auto" latinLnBrk="0" hangingPunct="1">
              <a:lnSpc>
                <a:spcPts val="4946"/>
              </a:lnSpc>
              <a:spcBef>
                <a:spcPts val="0"/>
              </a:spcBef>
              <a:spcAft>
                <a:spcPts val="0"/>
              </a:spcAft>
              <a:buClrTx/>
              <a:buSzTx/>
              <a:buFontTx/>
              <a:buNone/>
              <a:tabLst/>
              <a:defRPr/>
            </a:pPr>
            <a:r>
              <a:rPr kumimoji="0" lang="he-IL" sz="3533" b="1" i="0" u="none" strike="noStrike" kern="1200" cap="none" spc="0" normalizeH="0" baseline="0" noProof="0" dirty="0">
                <a:ln>
                  <a:noFill/>
                </a:ln>
                <a:solidFill>
                  <a:srgbClr val="151857"/>
                </a:solidFill>
                <a:effectLst/>
                <a:uLnTx/>
                <a:uFillTx/>
                <a:latin typeface="Calibri Light" panose="020F0302020204030204"/>
                <a:ea typeface="Heebo Bold"/>
                <a:cs typeface="Arial" panose="020B0604020202020204" pitchFamily="34" charset="0"/>
                <a:sym typeface="Heebo Bold"/>
                <a:rtl/>
              </a:rPr>
              <a:t>המסע לסל האישי </a:t>
            </a:r>
            <a:r>
              <a:rPr kumimoji="0" lang="en-US" sz="3533" b="1" i="0" u="none" strike="noStrike" kern="1200" cap="none" spc="0" normalizeH="0" baseline="0" noProof="0" dirty="0">
                <a:ln>
                  <a:noFill/>
                </a:ln>
                <a:solidFill>
                  <a:srgbClr val="151857"/>
                </a:solidFill>
                <a:effectLst/>
                <a:uLnTx/>
                <a:uFillTx/>
                <a:latin typeface="Calibri Light" panose="020F0302020204030204"/>
                <a:ea typeface="Heebo Bold"/>
                <a:cs typeface="+mn-cs"/>
                <a:sym typeface="Heebo Bold"/>
              </a:rPr>
              <a:t>AI</a:t>
            </a:r>
          </a:p>
        </p:txBody>
      </p:sp>
      <p:grpSp>
        <p:nvGrpSpPr>
          <p:cNvPr id="48" name="Group 48"/>
          <p:cNvGrpSpPr/>
          <p:nvPr/>
        </p:nvGrpSpPr>
        <p:grpSpPr>
          <a:xfrm>
            <a:off x="136723" y="1859832"/>
            <a:ext cx="3687979" cy="1093900"/>
            <a:chOff x="0" y="115443"/>
            <a:chExt cx="7375958" cy="2187801"/>
          </a:xfrm>
        </p:grpSpPr>
        <p:sp>
          <p:nvSpPr>
            <p:cNvPr id="49" name="TextBox 49"/>
            <p:cNvSpPr txBox="1"/>
            <p:nvPr/>
          </p:nvSpPr>
          <p:spPr>
            <a:xfrm>
              <a:off x="1735630" y="115443"/>
              <a:ext cx="5640328" cy="516552"/>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גיבוש הצעה לשינוי בשותפות </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המלצות הוועדה הבין משרדית</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חוק ההסדרים </a:t>
              </a:r>
              <a:r>
                <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rPr>
                <a:t>2023</a:t>
              </a: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תהליכים מקבילים ומשלימים-</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Q3</a:t>
            </a:r>
            <a:r>
              <a:rPr kumimoji="0" lang="ar-EG"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marL="0" marR="0" lvl="0" indent="0" algn="ctr" defTabSz="609630" rtl="1" eaLnBrk="1" fontAlgn="auto" latinLnBrk="0" hangingPunct="1">
              <a:lnSpc>
                <a:spcPts val="2426"/>
              </a:lnSpc>
              <a:spcBef>
                <a:spcPts val="0"/>
              </a:spcBef>
              <a:spcAft>
                <a:spcPts val="0"/>
              </a:spcAft>
              <a:buClrTx/>
              <a:buSzTx/>
              <a:buFontTx/>
              <a:buNone/>
              <a:tabLst/>
              <a:defRPr/>
            </a:pPr>
            <a:r>
              <a:rPr kumimoji="0" lang="he-IL" sz="1733"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סל תפקוד מותאם אישית </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האדם במרכז- ולא המערכות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הזדקנות מיטבית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מניעת הדרדרות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בחירה אישית במרקט פלייס</a:t>
              </a:r>
            </a:p>
            <a:p>
              <a:pPr marL="0" marR="0" lvl="0" indent="0" algn="ctr" defTabSz="609630" rtl="1" eaLnBrk="1" fontAlgn="auto" latinLnBrk="0" hangingPunct="1">
                <a:lnSpc>
                  <a:spcPts val="2053"/>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marL="285750" marR="0" lvl="0" indent="-285750" algn="ct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סדנת עיצוב שירות</a:t>
            </a:r>
          </a:p>
          <a:p>
            <a:pPr marL="0" marR="0" lvl="0" indent="0" algn="r" defTabSz="609630" rtl="1" eaLnBrk="1" fontAlgn="auto" latinLnBrk="0" hangingPunct="1">
              <a:lnSpc>
                <a:spcPts val="2239"/>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מה? איך? ולמי?</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מסע לקוח מחודש </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עקרונות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59" name="TextBox 59"/>
          <p:cNvSpPr txBox="1"/>
          <p:nvPr/>
        </p:nvSpPr>
        <p:spPr>
          <a:xfrm>
            <a:off x="5457155" y="5439125"/>
            <a:ext cx="3219946" cy="1346522"/>
          </a:xfrm>
          <a:prstGeom prst="rect">
            <a:avLst/>
          </a:prstGeom>
          <a:solidFill>
            <a:schemeClr val="accent5">
              <a:lumMod val="20000"/>
              <a:lumOff val="80000"/>
            </a:schemeClr>
          </a:solidFill>
        </p:spPr>
        <p:txBody>
          <a:bodyPr lIns="0" tIns="0" rIns="0" bIns="0" rtlCol="0" anchor="t">
            <a:spAutoFit/>
          </a:bodyPr>
          <a:lstStyle/>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המלצות צוות המדדים  </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פיתוח פלטפורמה דיגיטלית תומכת.</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מודל תמריצים</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תובנות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מהפיילוטים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הכנסה ללוח ח'-2 </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והרחבת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מדידה והערכה</a:t>
            </a: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סקיילינג</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ct val="0"/>
              </a:spcBef>
              <a:spcAft>
                <a:spcPts val="0"/>
              </a:spcAft>
              <a:buClrTx/>
              <a:buSzTx/>
              <a:buFontTx/>
              <a:buNone/>
              <a:tabLst/>
              <a:defRPr/>
            </a:pPr>
            <a:r>
              <a:rPr kumimoji="0" lang="he-IL" sz="1600" b="1" i="0" u="none" strike="noStrike" kern="1200" cap="none" spc="0" normalizeH="0" baseline="0" noProof="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י</a:t>
            </a:r>
          </a:p>
        </p:txBody>
      </p:sp>
      <p:sp>
        <p:nvSpPr>
          <p:cNvPr id="62" name="TextBox 62"/>
          <p:cNvSpPr txBox="1"/>
          <p:nvPr/>
        </p:nvSpPr>
        <p:spPr>
          <a:xfrm>
            <a:off x="757166" y="5243502"/>
            <a:ext cx="4471194" cy="1346522"/>
          </a:xfrm>
          <a:prstGeom prst="rect">
            <a:avLst/>
          </a:prstGeom>
        </p:spPr>
        <p:txBody>
          <a:bodyPr lIns="0" tIns="0" rIns="0" bIns="0" rtlCol="0" anchor="t">
            <a:spAutoFit/>
          </a:bodyPr>
          <a:lstStyle/>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מחקר שטח עם נותני ומקבלי השירותים</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מנגנון הפעלה משותף</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en-US" sz="1600" b="1" i="0" u="none" strike="noStrike" kern="1200" cap="none" spc="0" normalizeH="0" baseline="0" noProof="0" dirty="0">
                <a:ln>
                  <a:noFill/>
                </a:ln>
                <a:solidFill>
                  <a:srgbClr val="000000"/>
                </a:solidFill>
                <a:effectLst/>
                <a:uLnTx/>
                <a:uFillTx/>
                <a:latin typeface="Calibri Light" panose="020F0302020204030204"/>
                <a:ea typeface="Arimo Bold"/>
                <a:cs typeface="+mn-cs"/>
                <a:sym typeface="Arimo Bold"/>
              </a:rPr>
              <a:t>2</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נייר מדיניות משותף בפורום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בר"ק</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סקירת שוק מקיפה על פלטפורמות תומכות</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פיילוטים</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פעילים עם למידה מתמשכת מהשטח</a:t>
            </a:r>
          </a:p>
        </p:txBody>
      </p:sp>
    </p:spTree>
    <p:extLst>
      <p:ext uri="{BB962C8B-B14F-4D97-AF65-F5344CB8AC3E}">
        <p14:creationId xmlns:p14="http://schemas.microsoft.com/office/powerpoint/2010/main" val="4169679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מלבן 4">
            <a:extLst>
              <a:ext uri="{FF2B5EF4-FFF2-40B4-BE49-F238E27FC236}">
                <a16:creationId xmlns:a16="http://schemas.microsoft.com/office/drawing/2014/main" id="{7D3AF4E4-B6D2-33C7-F181-606B4823A50E}"/>
              </a:ext>
            </a:extLst>
          </p:cNvPr>
          <p:cNvSpPr/>
          <p:nvPr/>
        </p:nvSpPr>
        <p:spPr>
          <a:xfrm>
            <a:off x="45634" y="5339220"/>
            <a:ext cx="4020673"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744215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8478D797-7E09-4D3E-ABD7-3F1C67E37AA1}"/>
              </a:ext>
            </a:extLst>
          </p:cNvPr>
          <p:cNvSpPr/>
          <p:nvPr/>
        </p:nvSpPr>
        <p:spPr>
          <a:xfrm>
            <a:off x="-782584" y="2690991"/>
            <a:ext cx="4945294" cy="4687038"/>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1">
            <a:extLst>
              <a:ext uri="{FF2B5EF4-FFF2-40B4-BE49-F238E27FC236}">
                <a16:creationId xmlns:a16="http://schemas.microsoft.com/office/drawing/2014/main" id="{0AF47B9C-22E3-4D2F-8FB8-349030DC9DDD}"/>
              </a:ext>
            </a:extLst>
          </p:cNvPr>
          <p:cNvSpPr txBox="1"/>
          <p:nvPr/>
        </p:nvSpPr>
        <p:spPr>
          <a:xfrm>
            <a:off x="2072131" y="462760"/>
            <a:ext cx="9501319" cy="584775"/>
          </a:xfrm>
          <a:prstGeom prst="rect">
            <a:avLst/>
          </a:prstGeom>
          <a:noFill/>
        </p:spPr>
        <p:txBody>
          <a:bodyPr wrap="none" rtlCol="0">
            <a:spAutoFit/>
          </a:bodyPr>
          <a:lstStyle/>
          <a:p>
            <a:pPr algn="r" rtl="1"/>
            <a:r>
              <a:rPr lang="he-IL" sz="3200" b="1" dirty="0">
                <a:solidFill>
                  <a:schemeClr val="accent1"/>
                </a:solidFill>
              </a:rPr>
              <a:t>זמן עתיד- כיצד מהלך </a:t>
            </a:r>
            <a:r>
              <a:rPr lang="he-IL" sz="3200" b="1" dirty="0" err="1">
                <a:solidFill>
                  <a:schemeClr val="accent1"/>
                </a:solidFill>
              </a:rPr>
              <a:t>הדיגיטל</a:t>
            </a:r>
            <a:r>
              <a:rPr lang="he-IL" sz="3200" b="1" dirty="0">
                <a:solidFill>
                  <a:schemeClr val="accent1"/>
                </a:solidFill>
              </a:rPr>
              <a:t> יכול לסייע לפנינה ובכלל: </a:t>
            </a:r>
            <a:endParaRPr lang="en-IL" sz="3200" b="1" dirty="0">
              <a:solidFill>
                <a:schemeClr val="accent1"/>
              </a:solidFill>
            </a:endParaRPr>
          </a:p>
        </p:txBody>
      </p:sp>
      <p:sp>
        <p:nvSpPr>
          <p:cNvPr id="3" name="TextBox 2">
            <a:extLst>
              <a:ext uri="{FF2B5EF4-FFF2-40B4-BE49-F238E27FC236}">
                <a16:creationId xmlns:a16="http://schemas.microsoft.com/office/drawing/2014/main" id="{DB04049C-1285-4456-8FE3-1A90461E4FB1}"/>
              </a:ext>
            </a:extLst>
          </p:cNvPr>
          <p:cNvSpPr txBox="1"/>
          <p:nvPr/>
        </p:nvSpPr>
        <p:spPr>
          <a:xfrm>
            <a:off x="7628231" y="2778980"/>
            <a:ext cx="4259913" cy="1384995"/>
          </a:xfrm>
          <a:prstGeom prst="rect">
            <a:avLst/>
          </a:prstGeom>
          <a:noFill/>
        </p:spPr>
        <p:txBody>
          <a:bodyPr wrap="square" rtlCol="0">
            <a:spAutoFit/>
          </a:bodyPr>
          <a:lstStyle/>
          <a:p>
            <a:pPr algn="r" rtl="1"/>
            <a:r>
              <a:rPr lang="he-IL" sz="2000" b="1" dirty="0">
                <a:solidFill>
                  <a:schemeClr val="tx2">
                    <a:lumMod val="50000"/>
                  </a:schemeClr>
                </a:solidFill>
              </a:rPr>
              <a:t>סל </a:t>
            </a:r>
            <a:r>
              <a:rPr lang="he-IL" sz="2000" b="1" dirty="0"/>
              <a:t>מותאם</a:t>
            </a:r>
            <a:r>
              <a:rPr lang="he-IL" sz="2000" b="1" dirty="0">
                <a:solidFill>
                  <a:schemeClr val="tx2">
                    <a:lumMod val="50000"/>
                  </a:schemeClr>
                </a:solidFill>
              </a:rPr>
              <a:t> אישית  </a:t>
            </a:r>
            <a:r>
              <a:rPr lang="en-US" sz="2000" b="1" dirty="0">
                <a:solidFill>
                  <a:schemeClr val="tx2">
                    <a:lumMod val="50000"/>
                  </a:schemeClr>
                </a:solidFill>
              </a:rPr>
              <a:t>AI</a:t>
            </a:r>
            <a:endParaRPr lang="he-IL" sz="2000" b="1" dirty="0">
              <a:solidFill>
                <a:schemeClr val="tx2">
                  <a:lumMod val="50000"/>
                </a:schemeClr>
              </a:solidFill>
            </a:endParaRPr>
          </a:p>
          <a:p>
            <a:pPr algn="r" rtl="1"/>
            <a:r>
              <a:rPr lang="he-IL" sz="1600" dirty="0">
                <a:solidFill>
                  <a:schemeClr val="tx2">
                    <a:lumMod val="50000"/>
                  </a:schemeClr>
                </a:solidFill>
              </a:rPr>
              <a:t>קבלת מידע </a:t>
            </a:r>
            <a:r>
              <a:rPr lang="he-IL" sz="1600" dirty="0" err="1">
                <a:solidFill>
                  <a:schemeClr val="tx2">
                    <a:lumMod val="50000"/>
                  </a:schemeClr>
                </a:solidFill>
              </a:rPr>
              <a:t>למרקטפלייס</a:t>
            </a:r>
            <a:r>
              <a:rPr lang="he-IL" sz="1600" dirty="0">
                <a:solidFill>
                  <a:schemeClr val="tx2">
                    <a:lumMod val="50000"/>
                  </a:schemeClr>
                </a:solidFill>
              </a:rPr>
              <a:t> והתאמה אישית של שירותים על בסיס מספר צירים: </a:t>
            </a:r>
            <a:r>
              <a:rPr lang="he-IL" sz="1600" u="sng" dirty="0">
                <a:solidFill>
                  <a:schemeClr val="tx2">
                    <a:lumMod val="50000"/>
                  </a:schemeClr>
                </a:solidFill>
              </a:rPr>
              <a:t>מיקום, מצב ופרופיל אישי ותפקודי, העדפות אישיות, שירותים שצרכו בעבר, ביקורות, תוצאות</a:t>
            </a:r>
            <a:r>
              <a:rPr lang="he-IL" sz="1600" dirty="0">
                <a:solidFill>
                  <a:schemeClr val="tx2">
                    <a:lumMod val="50000"/>
                  </a:schemeClr>
                </a:solidFill>
              </a:rPr>
              <a:t> ועוד</a:t>
            </a:r>
            <a:endParaRPr lang="en-IL" sz="2000" dirty="0">
              <a:solidFill>
                <a:schemeClr val="tx2">
                  <a:lumMod val="50000"/>
                </a:schemeClr>
              </a:solidFill>
            </a:endParaRPr>
          </a:p>
        </p:txBody>
      </p:sp>
      <p:sp>
        <p:nvSpPr>
          <p:cNvPr id="4" name="TextBox 3">
            <a:extLst>
              <a:ext uri="{FF2B5EF4-FFF2-40B4-BE49-F238E27FC236}">
                <a16:creationId xmlns:a16="http://schemas.microsoft.com/office/drawing/2014/main" id="{7021240B-3BB5-4371-AD5A-78C13C225ED7}"/>
              </a:ext>
            </a:extLst>
          </p:cNvPr>
          <p:cNvSpPr txBox="1"/>
          <p:nvPr/>
        </p:nvSpPr>
        <p:spPr>
          <a:xfrm>
            <a:off x="8200102" y="5129085"/>
            <a:ext cx="3688042" cy="1138773"/>
          </a:xfrm>
          <a:prstGeom prst="rect">
            <a:avLst/>
          </a:prstGeom>
          <a:noFill/>
        </p:spPr>
        <p:txBody>
          <a:bodyPr wrap="square" rtlCol="0">
            <a:spAutoFit/>
          </a:bodyPr>
          <a:lstStyle/>
          <a:p>
            <a:pPr algn="r" rtl="1"/>
            <a:r>
              <a:rPr lang="he-IL" sz="2000" b="1" dirty="0">
                <a:solidFill>
                  <a:schemeClr val="tx2">
                    <a:lumMod val="50000"/>
                  </a:schemeClr>
                </a:solidFill>
              </a:rPr>
              <a:t>עוזר וירטואלי אישי </a:t>
            </a:r>
            <a:r>
              <a:rPr lang="en-US" sz="2000" b="1" dirty="0">
                <a:solidFill>
                  <a:schemeClr val="tx2">
                    <a:lumMod val="50000"/>
                  </a:schemeClr>
                </a:solidFill>
              </a:rPr>
              <a:t>AGI</a:t>
            </a:r>
            <a:r>
              <a:rPr lang="he-IL" sz="2000" b="1" dirty="0">
                <a:solidFill>
                  <a:schemeClr val="tx2">
                    <a:lumMod val="50000"/>
                  </a:schemeClr>
                </a:solidFill>
              </a:rPr>
              <a:t> </a:t>
            </a:r>
            <a:br>
              <a:rPr lang="en-US" sz="2000" b="1" dirty="0">
                <a:solidFill>
                  <a:schemeClr val="tx2">
                    <a:lumMod val="50000"/>
                  </a:schemeClr>
                </a:solidFill>
              </a:rPr>
            </a:br>
            <a:r>
              <a:rPr lang="he-IL" sz="1600" dirty="0">
                <a:solidFill>
                  <a:schemeClr val="tx2">
                    <a:lumMod val="50000"/>
                  </a:schemeClr>
                </a:solidFill>
              </a:rPr>
              <a:t>מבוסס על מערכות בינה מלאכותית, שמסייעת לאזרח הוותיק ומשפחתו </a:t>
            </a:r>
            <a:r>
              <a:rPr lang="he-IL" sz="1600" u="sng" dirty="0">
                <a:solidFill>
                  <a:schemeClr val="tx2">
                    <a:lumMod val="50000"/>
                  </a:schemeClr>
                </a:solidFill>
              </a:rPr>
              <a:t>במענה לצרכיהם ובנגישות לשירותים ובזכויות</a:t>
            </a:r>
            <a:endParaRPr lang="en-IL" sz="1600" u="sng" dirty="0">
              <a:solidFill>
                <a:schemeClr val="tx2">
                  <a:lumMod val="50000"/>
                </a:schemeClr>
              </a:solidFill>
            </a:endParaRPr>
          </a:p>
        </p:txBody>
      </p:sp>
      <p:sp>
        <p:nvSpPr>
          <p:cNvPr id="8" name="TextBox 7">
            <a:extLst>
              <a:ext uri="{FF2B5EF4-FFF2-40B4-BE49-F238E27FC236}">
                <a16:creationId xmlns:a16="http://schemas.microsoft.com/office/drawing/2014/main" id="{E0D278E4-C572-4876-B8EE-4974A71DFCE5}"/>
              </a:ext>
            </a:extLst>
          </p:cNvPr>
          <p:cNvSpPr txBox="1"/>
          <p:nvPr/>
        </p:nvSpPr>
        <p:spPr>
          <a:xfrm>
            <a:off x="3729898" y="2773519"/>
            <a:ext cx="3775381" cy="1384995"/>
          </a:xfrm>
          <a:prstGeom prst="rect">
            <a:avLst/>
          </a:prstGeom>
          <a:noFill/>
        </p:spPr>
        <p:txBody>
          <a:bodyPr wrap="square" rtlCol="0">
            <a:spAutoFit/>
          </a:bodyPr>
          <a:lstStyle/>
          <a:p>
            <a:pPr algn="r" rtl="1"/>
            <a:r>
              <a:rPr lang="he-IL" sz="2000" b="1" dirty="0">
                <a:solidFill>
                  <a:schemeClr val="tx2">
                    <a:lumMod val="50000"/>
                  </a:schemeClr>
                </a:solidFill>
              </a:rPr>
              <a:t>איתור ומיצוי זכויות פרואקטיבי </a:t>
            </a:r>
            <a:r>
              <a:rPr lang="en-US" sz="2000" b="1" dirty="0">
                <a:solidFill>
                  <a:schemeClr val="tx2">
                    <a:lumMod val="50000"/>
                  </a:schemeClr>
                </a:solidFill>
              </a:rPr>
              <a:t>AGI</a:t>
            </a:r>
            <a:r>
              <a:rPr lang="he-IL" sz="2000" dirty="0">
                <a:solidFill>
                  <a:schemeClr val="tx2">
                    <a:lumMod val="50000"/>
                  </a:schemeClr>
                </a:solidFill>
              </a:rPr>
              <a:t> </a:t>
            </a:r>
            <a:r>
              <a:rPr lang="he-IL" sz="1600" dirty="0">
                <a:solidFill>
                  <a:schemeClr val="tx2">
                    <a:lumMod val="50000"/>
                  </a:schemeClr>
                </a:solidFill>
              </a:rPr>
              <a:t>התבססות על אירועים ונתונים מספקי שירות המאפשרים לבינה מלאכותית לזהות </a:t>
            </a:r>
            <a:r>
              <a:rPr lang="he-IL" sz="1600" u="sng" dirty="0">
                <a:solidFill>
                  <a:schemeClr val="tx2">
                    <a:lumMod val="50000"/>
                  </a:schemeClr>
                </a:solidFill>
              </a:rPr>
              <a:t>פוטנציאל זכאות לשירותים, כולל הגשת מסמכים וליווי </a:t>
            </a:r>
            <a:r>
              <a:rPr lang="he-IL" sz="1600" dirty="0">
                <a:solidFill>
                  <a:schemeClr val="tx2">
                    <a:lumMod val="50000"/>
                  </a:schemeClr>
                </a:solidFill>
              </a:rPr>
              <a:t>בתהליכי הבחינה מול הגופים</a:t>
            </a:r>
            <a:endParaRPr lang="en-IL" sz="1600" dirty="0">
              <a:solidFill>
                <a:schemeClr val="tx2">
                  <a:lumMod val="50000"/>
                </a:schemeClr>
              </a:solidFill>
            </a:endParaRPr>
          </a:p>
        </p:txBody>
      </p:sp>
      <p:sp>
        <p:nvSpPr>
          <p:cNvPr id="10" name="TextBox 9">
            <a:extLst>
              <a:ext uri="{FF2B5EF4-FFF2-40B4-BE49-F238E27FC236}">
                <a16:creationId xmlns:a16="http://schemas.microsoft.com/office/drawing/2014/main" id="{F327403A-1CB4-4C64-B754-A38BF4917C71}"/>
              </a:ext>
            </a:extLst>
          </p:cNvPr>
          <p:cNvSpPr txBox="1"/>
          <p:nvPr/>
        </p:nvSpPr>
        <p:spPr>
          <a:xfrm>
            <a:off x="3379808" y="5129085"/>
            <a:ext cx="4125471" cy="1138773"/>
          </a:xfrm>
          <a:prstGeom prst="rect">
            <a:avLst/>
          </a:prstGeom>
          <a:noFill/>
        </p:spPr>
        <p:txBody>
          <a:bodyPr wrap="square" rtlCol="0">
            <a:spAutoFit/>
          </a:bodyPr>
          <a:lstStyle/>
          <a:p>
            <a:pPr algn="r" rtl="1"/>
            <a:r>
              <a:rPr lang="he-IL" sz="2000" b="1" dirty="0">
                <a:solidFill>
                  <a:schemeClr val="tx2">
                    <a:lumMod val="50000"/>
                  </a:schemeClr>
                </a:solidFill>
              </a:rPr>
              <a:t>מודלים לאיתור מצוקות וקבוצות סיכון </a:t>
            </a:r>
          </a:p>
          <a:p>
            <a:pPr algn="r" rtl="1"/>
            <a:r>
              <a:rPr lang="he-IL" sz="1600" u="sng" dirty="0">
                <a:solidFill>
                  <a:schemeClr val="tx2">
                    <a:lumMod val="50000"/>
                  </a:schemeClr>
                </a:solidFill>
              </a:rPr>
              <a:t>זיהוי קבוצות הנמצאות בסיכון</a:t>
            </a:r>
            <a:r>
              <a:rPr lang="he-IL" sz="1600" dirty="0">
                <a:solidFill>
                  <a:schemeClr val="tx2">
                    <a:lumMod val="50000"/>
                  </a:schemeClr>
                </a:solidFill>
              </a:rPr>
              <a:t>, זיהוי סיכונים ומצוקות (</a:t>
            </a:r>
            <a:r>
              <a:rPr lang="he-IL" sz="1600" dirty="0" err="1">
                <a:solidFill>
                  <a:schemeClr val="tx2">
                    <a:lumMod val="50000"/>
                  </a:schemeClr>
                </a:solidFill>
              </a:rPr>
              <a:t>צמ"מ</a:t>
            </a:r>
            <a:r>
              <a:rPr lang="he-IL" sz="1600" dirty="0">
                <a:solidFill>
                  <a:schemeClr val="tx2">
                    <a:lumMod val="50000"/>
                  </a:schemeClr>
                </a:solidFill>
              </a:rPr>
              <a:t> דאטה) והפנייה לרשתות תמיכה רלוונטיות</a:t>
            </a:r>
            <a:endParaRPr lang="en-IL" sz="1600" dirty="0">
              <a:solidFill>
                <a:schemeClr val="tx2">
                  <a:lumMod val="50000"/>
                </a:schemeClr>
              </a:solidFill>
            </a:endParaRPr>
          </a:p>
        </p:txBody>
      </p:sp>
      <p:pic>
        <p:nvPicPr>
          <p:cNvPr id="15" name="Graphic 14">
            <a:extLst>
              <a:ext uri="{FF2B5EF4-FFF2-40B4-BE49-F238E27FC236}">
                <a16:creationId xmlns:a16="http://schemas.microsoft.com/office/drawing/2014/main" id="{C3DBA3CF-E06F-4D13-936C-2CDA075F0D8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8212" y="4472317"/>
            <a:ext cx="720000" cy="720000"/>
          </a:xfrm>
          <a:prstGeom prst="rect">
            <a:avLst/>
          </a:prstGeom>
        </p:spPr>
      </p:pic>
      <p:pic>
        <p:nvPicPr>
          <p:cNvPr id="14" name="Picture 13">
            <a:extLst>
              <a:ext uri="{FF2B5EF4-FFF2-40B4-BE49-F238E27FC236}">
                <a16:creationId xmlns:a16="http://schemas.microsoft.com/office/drawing/2014/main" id="{0E888663-60B5-474E-8E1C-C007110E3E5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82380" y="3315363"/>
            <a:ext cx="2415365" cy="3314633"/>
          </a:xfrm>
          <a:prstGeom prst="rect">
            <a:avLst/>
          </a:prstGeom>
        </p:spPr>
      </p:pic>
      <p:pic>
        <p:nvPicPr>
          <p:cNvPr id="16" name="Graphic 15">
            <a:extLst>
              <a:ext uri="{FF2B5EF4-FFF2-40B4-BE49-F238E27FC236}">
                <a16:creationId xmlns:a16="http://schemas.microsoft.com/office/drawing/2014/main" id="{DB6BEEBA-526E-45C4-8170-48989E4DD00B}"/>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25370"/>
          <a:stretch/>
        </p:blipFill>
        <p:spPr>
          <a:xfrm>
            <a:off x="11050623" y="1992213"/>
            <a:ext cx="837521" cy="781306"/>
          </a:xfrm>
          <a:prstGeom prst="rect">
            <a:avLst/>
          </a:prstGeom>
        </p:spPr>
      </p:pic>
      <p:pic>
        <p:nvPicPr>
          <p:cNvPr id="18" name="Graphic 17">
            <a:extLst>
              <a:ext uri="{FF2B5EF4-FFF2-40B4-BE49-F238E27FC236}">
                <a16:creationId xmlns:a16="http://schemas.microsoft.com/office/drawing/2014/main" id="{A878C13D-17DB-41D8-A59C-12C79577E1D6}"/>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21014"/>
          <a:stretch/>
        </p:blipFill>
        <p:spPr>
          <a:xfrm>
            <a:off x="10931318" y="4235531"/>
            <a:ext cx="1047750" cy="1015664"/>
          </a:xfrm>
          <a:prstGeom prst="rect">
            <a:avLst/>
          </a:prstGeom>
        </p:spPr>
      </p:pic>
      <p:pic>
        <p:nvPicPr>
          <p:cNvPr id="20" name="Graphic 19">
            <a:extLst>
              <a:ext uri="{FF2B5EF4-FFF2-40B4-BE49-F238E27FC236}">
                <a16:creationId xmlns:a16="http://schemas.microsoft.com/office/drawing/2014/main" id="{F173DF19-5DD2-4C7A-8B5E-AD24E038774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30" t="1" r="-1" b="13939"/>
          <a:stretch/>
        </p:blipFill>
        <p:spPr>
          <a:xfrm>
            <a:off x="6723937" y="1992213"/>
            <a:ext cx="704275" cy="781306"/>
          </a:xfrm>
          <a:prstGeom prst="rect">
            <a:avLst/>
          </a:prstGeom>
        </p:spPr>
      </p:pic>
    </p:spTree>
    <p:extLst>
      <p:ext uri="{BB962C8B-B14F-4D97-AF65-F5344CB8AC3E}">
        <p14:creationId xmlns:p14="http://schemas.microsoft.com/office/powerpoint/2010/main" val="1157688061"/>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1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21779</TotalTime>
  <Words>2399</Words>
  <Application>Microsoft Office PowerPoint</Application>
  <PresentationFormat>מסך רחב</PresentationFormat>
  <Paragraphs>445</Paragraphs>
  <Slides>34</Slides>
  <Notes>20</Notes>
  <HiddenSlides>12</HiddenSlides>
  <MMClips>0</MMClips>
  <ScaleCrop>false</ScaleCrop>
  <HeadingPairs>
    <vt:vector size="6" baseType="variant">
      <vt:variant>
        <vt:lpstr>גופנים בשימוש</vt:lpstr>
      </vt:variant>
      <vt:variant>
        <vt:i4>12</vt:i4>
      </vt:variant>
      <vt:variant>
        <vt:lpstr>ערכת נושא</vt:lpstr>
      </vt:variant>
      <vt:variant>
        <vt:i4>10</vt:i4>
      </vt:variant>
      <vt:variant>
        <vt:lpstr>כותרות שקופיות</vt:lpstr>
      </vt:variant>
      <vt:variant>
        <vt:i4>34</vt:i4>
      </vt:variant>
    </vt:vector>
  </HeadingPairs>
  <TitlesOfParts>
    <vt:vector size="56" baseType="lpstr">
      <vt:lpstr>Arial</vt:lpstr>
      <vt:lpstr>Assistant</vt:lpstr>
      <vt:lpstr>Assistant ExtraBold</vt:lpstr>
      <vt:lpstr>Assistant Light</vt:lpstr>
      <vt:lpstr>Assistant SemiBold</vt:lpstr>
      <vt:lpstr>Calibri</vt:lpstr>
      <vt:lpstr>Calibri Light</vt:lpstr>
      <vt:lpstr>EYInterstate Light</vt:lpstr>
      <vt:lpstr>Heebo Black</vt:lpstr>
      <vt:lpstr>Open Sans</vt:lpstr>
      <vt:lpstr>Segoe UI Semilight</vt:lpstr>
      <vt:lpstr>Wingdings</vt:lpstr>
      <vt:lpstr>Office Theme</vt:lpstr>
      <vt:lpstr>2_ערכת נושא Office</vt:lpstr>
      <vt:lpstr>קו בצד עם שם המצגת</vt:lpstr>
      <vt:lpstr>1_Office Theme</vt:lpstr>
      <vt:lpstr>2_Office Theme</vt:lpstr>
      <vt:lpstr>ערכת נושא Office</vt:lpstr>
      <vt:lpstr>1_ערכת נושא Office</vt:lpstr>
      <vt:lpstr>3_ערכת נושא Office</vt:lpstr>
      <vt:lpstr>3_Office Theme</vt:lpstr>
      <vt:lpstr>1_קו בצד עם שם המצגת</vt:lpstr>
      <vt:lpstr>מצגת של PowerPoint‏</vt:lpstr>
      <vt:lpstr>מצגת של PowerPoint‏</vt:lpstr>
      <vt:lpstr>מצגת של PowerPoint‏</vt:lpstr>
      <vt:lpstr>מספר ושיעור זכאי גמלת סיעוד לפי שנים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dc:creator>
  <cp:lastModifiedBy>אביעד יצחקי</cp:lastModifiedBy>
  <cp:revision>56</cp:revision>
  <dcterms:created xsi:type="dcterms:W3CDTF">2024-09-29T19:32:29Z</dcterms:created>
  <dcterms:modified xsi:type="dcterms:W3CDTF">2025-12-10T07:38:20Z</dcterms:modified>
</cp:coreProperties>
</file>